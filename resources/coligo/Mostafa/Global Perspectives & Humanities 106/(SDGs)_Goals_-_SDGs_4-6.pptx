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81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EAF17-783F-3086-9498-25BCDFAC9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809E7-51EE-4D85-B463-A27542B0F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8A82E-254C-AECC-044F-6DFB9BC0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CE13D-3685-E7A7-B1F4-22F578AF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BB320-DC0D-31FF-39B0-0D35016A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E38C-3EBB-A97A-5195-D43FB20C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3B11-E369-AB69-24FC-25CF5CE3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7874-7005-9728-DB77-6B57C888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54DF3-B282-00F1-0136-DEA6F34A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C9087-207A-D00A-D119-A649F767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9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3CB9-6C6F-1904-4605-A35AD3C4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59373-8B35-6E5E-E848-75C3AA3E0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61BA3-EF22-A3BE-50FA-A791B660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C982A-38C1-2B13-2050-1FAF8518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C786D-8A85-1349-32D8-ECAE93EA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4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5E97-E52C-B812-547C-E2FD1E84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98F4-2CFB-479B-B126-6F95FF46C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FD2E4-CE0B-36B0-43D2-7AC3388F9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9D062-355D-63E9-28F6-8EC0EA58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742BF-3C04-DB77-7BC9-EFD8B2CF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826E5-088C-BF58-28B7-F8DA7D9D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1747-2BB9-3503-FCC0-7CCF9F97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556DE-AE27-14F1-EC12-0BAE270B0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8DE2A-18D4-D61B-00FD-259DDC1BB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60192-9EC7-2A0C-0113-A8BB9EA35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9CA03-90BF-4FA3-C4E3-AC5D904DF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1CDBE-EC47-8423-DE55-C9C86361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32EBE-31DC-6693-5A51-B8BD64D3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5D59C-7316-349E-55A6-A7D84E99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7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73E6-82B2-CFB1-9702-BBF3917D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42654-6C12-5CE5-AB63-E1E1B670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C5713-B008-DD35-3529-2503D223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75030-7C93-0E54-3B12-7BB9DD11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1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B88C9-35B8-6702-00F5-058C6247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785C9-7C0F-9CDD-E7FF-EFABE5AF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E6E29-6425-F6C7-1FD8-F871DDB6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70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A6D32-B3B1-7705-0CA8-E7F91769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60547-3206-6AE8-F0B9-E7EDB2CEB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B7E58-C363-F939-F07D-67603CD41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FA28-99E6-46D3-FCF0-334C75A7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48B5C-5D0D-00B6-BB75-F2C5C2FA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49EEC-9D4E-5DF8-343B-3C94E96A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8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A4E2-DEAB-743E-733E-DBDCE197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709DBB-F4F5-2BAE-B965-F8A00BDC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36D96-245D-6ACE-2FC0-3F463C99A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A918C-04F6-EE25-0127-8F778686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24772-25C3-019A-06D2-32B6C026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F3553-1600-D305-8ACD-278A136E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4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16B04-491E-76ED-3B09-397F233F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BACE9-835D-C19F-7A0E-E1E9396CE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791FE-6FC4-668F-EED2-0F6562AF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CED6A-038D-B0EC-88F7-D14A4337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F4FEA-55C2-DED1-95F7-5BD29C41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7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5CD580-7CF0-DE07-F236-DDD79480E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20120-FA46-2248-4508-302F8C9C6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88DB6-C6A8-05C9-4F8E-DBE8D54E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80A3B-5980-7B30-456D-27EB412D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4853A-998C-D558-6B44-01361560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6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48BDD-632F-1271-9042-16B4EC0D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FC46A-3F49-E98A-F88A-644AC52D4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8226D-94C0-88E9-E791-9164B6E31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08423-990B-40C3-A486-A2783CADA6D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BE79E-25F3-B434-4966-1A6800CB6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C2007-74AE-76B0-D8E9-75A57D1CB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28595-8694-4CC5-92E6-C9A9343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7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B4F0-42E3-9EF5-5E0E-81817FE99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6600" dirty="0"/>
              <a:t>🌍 </a:t>
            </a:r>
            <a:r>
              <a:rPr lang="en-US" sz="8000" b="1" dirty="0"/>
              <a:t>SDGs 4–6: Teaching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E631E-EF23-7408-0901-913D0BA14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76199"/>
            <a:ext cx="9144000" cy="1655762"/>
          </a:xfrm>
        </p:spPr>
        <p:txBody>
          <a:bodyPr/>
          <a:lstStyle/>
          <a:p>
            <a:r>
              <a:rPr lang="en-US" sz="4800" b="1"/>
              <a:t>MEIS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5286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F1F411-9E48-DD14-215A-808DF5571AE8}"/>
              </a:ext>
            </a:extLst>
          </p:cNvPr>
          <p:cNvSpPr txBox="1"/>
          <p:nvPr/>
        </p:nvSpPr>
        <p:spPr>
          <a:xfrm>
            <a:off x="520995" y="358266"/>
            <a:ext cx="1115355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SDG 4 — Quality Education</a:t>
            </a:r>
          </a:p>
          <a:p>
            <a:r>
              <a:rPr lang="en-US" sz="3200" b="1" dirty="0"/>
              <a:t>Official Goal:</a:t>
            </a:r>
            <a:r>
              <a:rPr lang="en-US" sz="3200" dirty="0"/>
              <a:t> </a:t>
            </a:r>
            <a:r>
              <a:rPr lang="en-US" sz="3200" i="1" dirty="0"/>
              <a:t>Ensure inclusive and equitable quality education and promote lifelong learning opportunities for all.</a:t>
            </a:r>
            <a:endParaRPr lang="en-US" sz="3200" dirty="0"/>
          </a:p>
          <a:p>
            <a:r>
              <a:rPr lang="en-US" sz="3200" b="1" dirty="0"/>
              <a:t>What does Quality Education mean?</a:t>
            </a:r>
          </a:p>
          <a:p>
            <a:r>
              <a:rPr lang="en-US" sz="3200" dirty="0"/>
              <a:t>Quality education means that </a:t>
            </a:r>
            <a:r>
              <a:rPr lang="en-US" sz="3200" b="1" dirty="0"/>
              <a:t>everyone should have the opportunity to receive a good education</a:t>
            </a:r>
            <a:r>
              <a:rPr lang="en-US" sz="3200" dirty="0"/>
              <a:t> and develop the knowledge and skills they need for life.</a:t>
            </a:r>
          </a:p>
          <a:p>
            <a:r>
              <a:rPr lang="en-US" sz="2400" b="1" dirty="0"/>
              <a:t>It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Access to school and learning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Safe and supportive learning environments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Good-quality teaching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Equal opportunities for students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Developing useful skills and knowledge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Learning throughout life</a:t>
            </a:r>
          </a:p>
        </p:txBody>
      </p:sp>
    </p:spTree>
    <p:extLst>
      <p:ext uri="{BB962C8B-B14F-4D97-AF65-F5344CB8AC3E}">
        <p14:creationId xmlns:p14="http://schemas.microsoft.com/office/powerpoint/2010/main" val="310549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8B197-0A87-9086-8198-86D1EF3AA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02DE6-5700-61D5-F7BF-70FD909C47FD}"/>
              </a:ext>
            </a:extLst>
          </p:cNvPr>
          <p:cNvSpPr txBox="1"/>
          <p:nvPr/>
        </p:nvSpPr>
        <p:spPr>
          <a:xfrm>
            <a:off x="520995" y="772944"/>
            <a:ext cx="1115355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Why is education important?</a:t>
            </a:r>
          </a:p>
          <a:p>
            <a:r>
              <a:rPr lang="en-US" sz="2400" b="1" u="sng" dirty="0"/>
              <a:t>Education can help people:</a:t>
            </a:r>
            <a:endParaRPr lang="en-US" sz="32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Develop knowledge and skills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Find opportunities for employment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Make informed decisions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Solve problems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Understand different perspectives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Participate positively in their communities </a:t>
            </a:r>
          </a:p>
          <a:p>
            <a:r>
              <a:rPr lang="en-US" sz="3200" b="1" dirty="0"/>
              <a:t>Important message for students:</a:t>
            </a:r>
            <a:endParaRPr lang="en-US" sz="3200" dirty="0"/>
          </a:p>
          <a:p>
            <a:r>
              <a:rPr lang="en-US" sz="3200" dirty="0"/>
              <a:t>Education is not only about passing exams. It helps us understand the world and develop the skills we need for the future.</a:t>
            </a:r>
          </a:p>
        </p:txBody>
      </p:sp>
    </p:spTree>
    <p:extLst>
      <p:ext uri="{BB962C8B-B14F-4D97-AF65-F5344CB8AC3E}">
        <p14:creationId xmlns:p14="http://schemas.microsoft.com/office/powerpoint/2010/main" val="2071955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89DD2-AF90-D6DF-CCDC-CA1F5A1B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53820-B80B-20A7-38BC-44FB6EBC1BB5}"/>
              </a:ext>
            </a:extLst>
          </p:cNvPr>
          <p:cNvSpPr txBox="1"/>
          <p:nvPr/>
        </p:nvSpPr>
        <p:spPr>
          <a:xfrm>
            <a:off x="520995" y="1155721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👧 Years 4–5: Simple discussion</a:t>
            </a:r>
          </a:p>
          <a:p>
            <a:endParaRPr lang="en-US" sz="2800" dirty="0"/>
          </a:p>
          <a:p>
            <a:r>
              <a:rPr lang="en-US" sz="2800" b="1" u="sng" dirty="0"/>
              <a:t>Ask students: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do we go to school?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makes a good classroom?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skills do we learn at school?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would happen if children could not go to school?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we help everyone feel included in learning?</a:t>
            </a:r>
          </a:p>
        </p:txBody>
      </p:sp>
    </p:spTree>
    <p:extLst>
      <p:ext uri="{BB962C8B-B14F-4D97-AF65-F5344CB8AC3E}">
        <p14:creationId xmlns:p14="http://schemas.microsoft.com/office/powerpoint/2010/main" val="398222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A1C85-362A-D7DE-4866-A5F37A45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4DB3CE-D2F1-B7F7-AE03-1302D70379D1}"/>
              </a:ext>
            </a:extLst>
          </p:cNvPr>
          <p:cNvSpPr txBox="1"/>
          <p:nvPr/>
        </p:nvSpPr>
        <p:spPr>
          <a:xfrm>
            <a:off x="520995" y="1155716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🧑 Years 6–8: Deeper discussion</a:t>
            </a:r>
          </a:p>
          <a:p>
            <a:endParaRPr lang="en-US" sz="2800" dirty="0"/>
          </a:p>
          <a:p>
            <a:r>
              <a:rPr lang="en-US" sz="2800" b="1" u="sng" dirty="0"/>
              <a:t>Answer the following: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might some children have less access to education than others?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makes education "high quality"?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technology support learning?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Should education focus only on academic subjects?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skills will students need in the future?</a:t>
            </a:r>
          </a:p>
        </p:txBody>
      </p:sp>
    </p:spTree>
    <p:extLst>
      <p:ext uri="{BB962C8B-B14F-4D97-AF65-F5344CB8AC3E}">
        <p14:creationId xmlns:p14="http://schemas.microsoft.com/office/powerpoint/2010/main" val="1548659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7A985-16CB-4D3E-6848-2F75A7DC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2DF459-DD6D-7085-315D-9C007D4586F3}"/>
              </a:ext>
            </a:extLst>
          </p:cNvPr>
          <p:cNvSpPr txBox="1"/>
          <p:nvPr/>
        </p:nvSpPr>
        <p:spPr>
          <a:xfrm>
            <a:off x="520995" y="1038753"/>
            <a:ext cx="1115355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💡 Classroom activity: Design the Ideal School</a:t>
            </a:r>
          </a:p>
          <a:p>
            <a:endParaRPr lang="en-US" sz="2800" dirty="0"/>
          </a:p>
          <a:p>
            <a:r>
              <a:rPr lang="en-US" sz="2800" dirty="0"/>
              <a:t>In groups, students design their </a:t>
            </a:r>
            <a:r>
              <a:rPr lang="en-US" sz="2800" b="1" dirty="0"/>
              <a:t>ideal school</a:t>
            </a:r>
            <a:r>
              <a:rPr lang="en-US" sz="2800" dirty="0"/>
              <a:t>.</a:t>
            </a:r>
          </a:p>
          <a:p>
            <a:r>
              <a:rPr lang="en-US" sz="2800" b="1" u="sng" dirty="0"/>
              <a:t>They decide: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What subjects would students study?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What would the classrooms look like?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What technology would be used?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How would students be supported?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How would the school make sure everyone could participate? </a:t>
            </a:r>
          </a:p>
          <a:p>
            <a:endParaRPr lang="en-US" sz="2800" dirty="0"/>
          </a:p>
          <a:p>
            <a:r>
              <a:rPr lang="en-US" sz="2000" dirty="0"/>
              <a:t>Students then </a:t>
            </a:r>
            <a:r>
              <a:rPr lang="en-US" sz="2000" b="1" dirty="0"/>
              <a:t>present their school to the class</a:t>
            </a:r>
            <a:r>
              <a:rPr lang="en-US" sz="2000" dirty="0"/>
              <a:t> and explain their choices.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385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3D1DA-9951-CFE4-7167-08C96E0AA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F88C3A-5DD8-2CA8-9D28-B12140875AA6}"/>
              </a:ext>
            </a:extLst>
          </p:cNvPr>
          <p:cNvSpPr txBox="1"/>
          <p:nvPr/>
        </p:nvSpPr>
        <p:spPr>
          <a:xfrm>
            <a:off x="520995" y="188150"/>
            <a:ext cx="1115355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SDG 5 — Gender Equality</a:t>
            </a:r>
          </a:p>
          <a:p>
            <a:r>
              <a:rPr lang="en-US" sz="3200" b="1" dirty="0"/>
              <a:t>Official Goal:</a:t>
            </a:r>
            <a:r>
              <a:rPr lang="en-US" sz="3200" dirty="0"/>
              <a:t> </a:t>
            </a:r>
            <a:r>
              <a:rPr lang="en-US" sz="3200" i="1" dirty="0"/>
              <a:t>Achieve gender equality and empower all women and girls.</a:t>
            </a:r>
            <a:endParaRPr lang="en-US" sz="3200" dirty="0"/>
          </a:p>
          <a:p>
            <a:r>
              <a:rPr lang="en-US" sz="3200" b="1" dirty="0"/>
              <a:t>What does Gender Equality mean?</a:t>
            </a:r>
          </a:p>
          <a:p>
            <a:r>
              <a:rPr lang="en-US" sz="3200" dirty="0"/>
              <a:t>Gender equality means that </a:t>
            </a:r>
            <a:r>
              <a:rPr lang="en-US" sz="3200" b="1" dirty="0"/>
              <a:t>people should have equal rights, opportunities, and respect regardless of their gender</a:t>
            </a:r>
            <a:r>
              <a:rPr lang="en-US" sz="3200" dirty="0"/>
              <a:t>.</a:t>
            </a:r>
          </a:p>
          <a:p>
            <a:r>
              <a:rPr lang="en-US" sz="3200" b="1" u="sng" dirty="0"/>
              <a:t>It includes: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Equal access to education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Equal opportunities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Equal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Freedom from discrimination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Respect and safety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The ability to make decisions about one's own future</a:t>
            </a:r>
          </a:p>
        </p:txBody>
      </p:sp>
    </p:spTree>
    <p:extLst>
      <p:ext uri="{BB962C8B-B14F-4D97-AF65-F5344CB8AC3E}">
        <p14:creationId xmlns:p14="http://schemas.microsoft.com/office/powerpoint/2010/main" val="3608200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9EEB-50CA-6150-43FE-E44C78C6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AF759-BD15-4D48-47CF-4F5B93452069}"/>
              </a:ext>
            </a:extLst>
          </p:cNvPr>
          <p:cNvSpPr txBox="1"/>
          <p:nvPr/>
        </p:nvSpPr>
        <p:spPr>
          <a:xfrm>
            <a:off x="520995" y="1017483"/>
            <a:ext cx="1115355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Why is gender equality important?</a:t>
            </a:r>
          </a:p>
          <a:p>
            <a:endParaRPr lang="en-US" sz="2800" dirty="0"/>
          </a:p>
          <a:p>
            <a:r>
              <a:rPr lang="en-US" sz="2000" u="sng" dirty="0"/>
              <a:t>When people have equal opportunities, they can:</a:t>
            </a:r>
            <a:endParaRPr lang="en-US" sz="2800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 their talents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Participate in education and 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Contribute to their communities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Make choices about their futures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Learn from and work with people of different backgrounds </a:t>
            </a:r>
          </a:p>
          <a:p>
            <a:r>
              <a:rPr lang="en-US" sz="2800" b="1" dirty="0"/>
              <a:t>Important message for students:</a:t>
            </a:r>
            <a:endParaRPr lang="en-US" sz="2800" dirty="0"/>
          </a:p>
          <a:p>
            <a:r>
              <a:rPr lang="en-US" sz="2800" dirty="0"/>
              <a:t>Equality does not mean that everyone is the same. It means that everyone deserves the same rights, respect, and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34095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900C-4DFD-F8C6-A581-41FAC8DB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92FD38-D3DB-048A-212F-A8FF075874D9}"/>
              </a:ext>
            </a:extLst>
          </p:cNvPr>
          <p:cNvSpPr txBox="1"/>
          <p:nvPr/>
        </p:nvSpPr>
        <p:spPr>
          <a:xfrm>
            <a:off x="520995" y="1176983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👧 Years 4–5: Simple discussion</a:t>
            </a:r>
          </a:p>
          <a:p>
            <a:endParaRPr lang="en-US" sz="2800" dirty="0"/>
          </a:p>
          <a:p>
            <a:r>
              <a:rPr lang="en-US" sz="2800" b="1" u="sng" dirty="0"/>
              <a:t>Answer the following: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Should boys and girls have the same opportunities to learn?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Can both boys and girls become scientists, teachers, engineers, artists, or athletes?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is it important to treat everyone with respect?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does "equal opportunity" mean?</a:t>
            </a:r>
          </a:p>
        </p:txBody>
      </p:sp>
    </p:spTree>
    <p:extLst>
      <p:ext uri="{BB962C8B-B14F-4D97-AF65-F5344CB8AC3E}">
        <p14:creationId xmlns:p14="http://schemas.microsoft.com/office/powerpoint/2010/main" val="563249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830D-1C05-CBBF-DFC2-C862CF18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F31768-683A-D1BC-5730-7CD85F775F8E}"/>
              </a:ext>
            </a:extLst>
          </p:cNvPr>
          <p:cNvSpPr txBox="1"/>
          <p:nvPr/>
        </p:nvSpPr>
        <p:spPr>
          <a:xfrm>
            <a:off x="520995" y="1155719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🧑 Years 6–8: Deeper discussion</a:t>
            </a:r>
          </a:p>
          <a:p>
            <a:endParaRPr lang="en-US" sz="2800" dirty="0"/>
          </a:p>
          <a:p>
            <a:r>
              <a:rPr lang="en-US" sz="2800" b="1" u="sng" dirty="0"/>
              <a:t>Answer the following: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is the difference between equality and inequality?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stereotypes affect people's choices?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is equal access to education important?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schools promote respect and equal opportunities?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we challenge stereotypes respectfully?</a:t>
            </a:r>
          </a:p>
        </p:txBody>
      </p:sp>
    </p:spTree>
    <p:extLst>
      <p:ext uri="{BB962C8B-B14F-4D97-AF65-F5344CB8AC3E}">
        <p14:creationId xmlns:p14="http://schemas.microsoft.com/office/powerpoint/2010/main" val="1328185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6F79-C5F5-8B40-9098-D37500BC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BDEF4A-D8DE-CE99-7A81-F2A08A7882AC}"/>
              </a:ext>
            </a:extLst>
          </p:cNvPr>
          <p:cNvSpPr txBox="1"/>
          <p:nvPr/>
        </p:nvSpPr>
        <p:spPr>
          <a:xfrm>
            <a:off x="520995" y="996224"/>
            <a:ext cx="1115355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💡 Classroom activity: Break the Stereotype</a:t>
            </a:r>
          </a:p>
          <a:p>
            <a:endParaRPr lang="en-US" sz="2800" dirty="0"/>
          </a:p>
          <a:p>
            <a:r>
              <a:rPr lang="en-US" sz="2000" u="sng" dirty="0"/>
              <a:t>Give students examples of statements such as:</a:t>
            </a:r>
            <a:endParaRPr lang="en-US" sz="2800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"Only boys are good at science."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"Girls cannot be leaders."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"Boys should not show emotions."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"Some careers are only for men or only for women." </a:t>
            </a:r>
          </a:p>
          <a:p>
            <a:r>
              <a:rPr lang="en-US" sz="2800" b="1" u="sng" dirty="0"/>
              <a:t>Students discuss:</a:t>
            </a:r>
          </a:p>
          <a:p>
            <a:r>
              <a:rPr lang="en-US" sz="2800" b="1" dirty="0"/>
              <a:t>Is this a fact or a stereotype? Why?</a:t>
            </a:r>
            <a:endParaRPr lang="en-US" sz="2800" dirty="0"/>
          </a:p>
          <a:p>
            <a:r>
              <a:rPr lang="en-US" sz="2800" dirty="0"/>
              <a:t>Then they rewrite each statement to show an </a:t>
            </a:r>
            <a:r>
              <a:rPr lang="en-US" sz="2800" b="1" dirty="0"/>
              <a:t>inclusive and respectful perspective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6635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DD055-1E7B-FA42-4CAB-E051536F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FA6E4C-72AF-6FE0-C31D-768B1C75971A}"/>
              </a:ext>
            </a:extLst>
          </p:cNvPr>
          <p:cNvSpPr txBox="1"/>
          <p:nvPr/>
        </p:nvSpPr>
        <p:spPr>
          <a:xfrm>
            <a:off x="520995" y="262575"/>
            <a:ext cx="1115355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💧 SDG 6 — Clean Water and Sanitation</a:t>
            </a:r>
          </a:p>
          <a:p>
            <a:endParaRPr lang="en-US" sz="2800" b="1" dirty="0"/>
          </a:p>
          <a:p>
            <a:r>
              <a:rPr lang="en-US" sz="2800" b="1" dirty="0"/>
              <a:t>Official Goal:</a:t>
            </a:r>
            <a:r>
              <a:rPr lang="en-US" sz="2800" dirty="0"/>
              <a:t> </a:t>
            </a:r>
            <a:r>
              <a:rPr lang="en-US" sz="2800" i="1" dirty="0"/>
              <a:t>Ensure availability and sustainable management of water and sanitation for all.</a:t>
            </a:r>
            <a:endParaRPr lang="en-US" sz="2800" dirty="0"/>
          </a:p>
          <a:p>
            <a:r>
              <a:rPr lang="en-US" sz="2800" b="1" dirty="0"/>
              <a:t>What does Clean Water and Sanitation mean?</a:t>
            </a:r>
          </a:p>
          <a:p>
            <a:r>
              <a:rPr lang="en-US" sz="2800" dirty="0"/>
              <a:t>SDG 6 focuses on making sure that people have access to </a:t>
            </a:r>
            <a:r>
              <a:rPr lang="en-US" sz="2800" b="1" dirty="0"/>
              <a:t>safe water, sanitation, and good hygiene</a:t>
            </a:r>
            <a:r>
              <a:rPr lang="en-US" sz="2800" dirty="0"/>
              <a:t>.</a:t>
            </a:r>
          </a:p>
          <a:p>
            <a:r>
              <a:rPr lang="en-US" sz="2800" b="1" u="sng" dirty="0"/>
              <a:t>This includes: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Safe drinking water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Clean toilets and sanitation systems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Good hygiene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Protecting rivers, lakes, and groundwater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Using water responsibly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Preventing water pollution</a:t>
            </a:r>
          </a:p>
        </p:txBody>
      </p:sp>
    </p:spTree>
    <p:extLst>
      <p:ext uri="{BB962C8B-B14F-4D97-AF65-F5344CB8AC3E}">
        <p14:creationId xmlns:p14="http://schemas.microsoft.com/office/powerpoint/2010/main" val="562980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D7E6-61C2-EEBA-E3B3-CC76AB1E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8F7DD-B5BE-0147-1A0E-A1028B6E45CD}"/>
              </a:ext>
            </a:extLst>
          </p:cNvPr>
          <p:cNvSpPr txBox="1"/>
          <p:nvPr/>
        </p:nvSpPr>
        <p:spPr>
          <a:xfrm>
            <a:off x="520995" y="177507"/>
            <a:ext cx="1115355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Why is clean water important?</a:t>
            </a:r>
          </a:p>
          <a:p>
            <a:endParaRPr lang="en-US" sz="2800" dirty="0"/>
          </a:p>
          <a:p>
            <a:r>
              <a:rPr lang="en-US" sz="2000" b="1" u="sng" dirty="0"/>
              <a:t>Water is essential for:</a:t>
            </a:r>
            <a:endParaRPr lang="en-US" sz="28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Drinking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Cooking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Washing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Growing food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Animals and plants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Schools and hospitals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Communities and businesses </a:t>
            </a:r>
          </a:p>
          <a:p>
            <a:r>
              <a:rPr lang="en-US" sz="2800" dirty="0"/>
              <a:t>When water is polluted or unavailable, it can affect </a:t>
            </a:r>
            <a:r>
              <a:rPr lang="en-US" sz="2800" b="1" dirty="0"/>
              <a:t>health, education, food production, and people's daily lives</a:t>
            </a:r>
            <a:r>
              <a:rPr lang="en-US" sz="2800" dirty="0"/>
              <a:t>.</a:t>
            </a:r>
          </a:p>
          <a:p>
            <a:r>
              <a:rPr lang="en-US" sz="2800" b="1" u="sng" dirty="0"/>
              <a:t>Important message for students:</a:t>
            </a:r>
            <a:endParaRPr lang="en-US" sz="2800" u="sng" dirty="0"/>
          </a:p>
          <a:p>
            <a:r>
              <a:rPr lang="en-US" sz="2800" dirty="0"/>
              <a:t>Water is a limited and valuable resource, so we need to protect it and use it responsibly.</a:t>
            </a:r>
          </a:p>
        </p:txBody>
      </p:sp>
    </p:spTree>
    <p:extLst>
      <p:ext uri="{BB962C8B-B14F-4D97-AF65-F5344CB8AC3E}">
        <p14:creationId xmlns:p14="http://schemas.microsoft.com/office/powerpoint/2010/main" val="2516676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97A5A-A9C7-D017-6C57-731B0CE9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8F5548-BDC4-0988-06F8-D031DBF4E7B6}"/>
              </a:ext>
            </a:extLst>
          </p:cNvPr>
          <p:cNvSpPr txBox="1"/>
          <p:nvPr/>
        </p:nvSpPr>
        <p:spPr>
          <a:xfrm>
            <a:off x="520995" y="1166345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👧 Years 4–5: Simple discussion</a:t>
            </a:r>
          </a:p>
          <a:p>
            <a:endParaRPr lang="en-US" sz="2800" dirty="0"/>
          </a:p>
          <a:p>
            <a:r>
              <a:rPr lang="en-US" sz="2800" b="1" u="sng" dirty="0"/>
              <a:t>Answer the following: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do we use water for every day?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do we need clean drinking water?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we save water at home and at school?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happens when water becomes polluted?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do we need clean toilets?</a:t>
            </a:r>
          </a:p>
        </p:txBody>
      </p:sp>
    </p:spTree>
    <p:extLst>
      <p:ext uri="{BB962C8B-B14F-4D97-AF65-F5344CB8AC3E}">
        <p14:creationId xmlns:p14="http://schemas.microsoft.com/office/powerpoint/2010/main" val="1508427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5D03-AEA7-A161-0E9F-362598E31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23BE82-2F64-4DEC-AACC-C134EF198E49}"/>
              </a:ext>
            </a:extLst>
          </p:cNvPr>
          <p:cNvSpPr txBox="1"/>
          <p:nvPr/>
        </p:nvSpPr>
        <p:spPr>
          <a:xfrm>
            <a:off x="520995" y="1155711"/>
            <a:ext cx="1115355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🧑 Years 6–8: Deeper discussion</a:t>
            </a:r>
          </a:p>
          <a:p>
            <a:endParaRPr lang="en-US" sz="2800" dirty="0"/>
          </a:p>
          <a:p>
            <a:r>
              <a:rPr lang="en-US" sz="2800" b="1" u="sng" dirty="0"/>
              <a:t>Answer the following: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Where does the water in our homes come from?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can cause water pollution?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Why do some communities have less access to clean water?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How can climate and human activities affect water supplies?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What can governments and communities do to protect water?</a:t>
            </a:r>
          </a:p>
        </p:txBody>
      </p:sp>
    </p:spTree>
    <p:extLst>
      <p:ext uri="{BB962C8B-B14F-4D97-AF65-F5344CB8AC3E}">
        <p14:creationId xmlns:p14="http://schemas.microsoft.com/office/powerpoint/2010/main" val="3089816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34B3-98ED-798F-99BA-870AA5A3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2B024-9F84-A243-5C72-DCF8048B7E60}"/>
              </a:ext>
            </a:extLst>
          </p:cNvPr>
          <p:cNvSpPr txBox="1"/>
          <p:nvPr/>
        </p:nvSpPr>
        <p:spPr>
          <a:xfrm>
            <a:off x="520995" y="209416"/>
            <a:ext cx="11153554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💡 Classroom activity: Water Detectives</a:t>
            </a:r>
          </a:p>
          <a:p>
            <a:endParaRPr lang="en-US" sz="2800" dirty="0"/>
          </a:p>
          <a:p>
            <a:r>
              <a:rPr lang="en-US" sz="2800" dirty="0"/>
              <a:t>Ask students to investigate </a:t>
            </a:r>
            <a:r>
              <a:rPr lang="en-US" sz="2800" b="1" dirty="0"/>
              <a:t>how much water their school uses</a:t>
            </a:r>
            <a:r>
              <a:rPr lang="en-US" sz="2800" dirty="0"/>
              <a:t>.</a:t>
            </a:r>
          </a:p>
          <a:p>
            <a:r>
              <a:rPr lang="en-US" sz="2800" b="1" u="sng" dirty="0"/>
              <a:t>They can look for: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Taps that are left running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Leaking pipes or taps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Water used for cleaning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Water used in gardens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Ways students could reduce unnecessary water use </a:t>
            </a:r>
          </a:p>
          <a:p>
            <a:endParaRPr lang="en-US" sz="2800" b="1" dirty="0"/>
          </a:p>
          <a:p>
            <a:r>
              <a:rPr lang="en-US" sz="2800" b="1" dirty="0"/>
              <a:t>Groups then create a: </a:t>
            </a:r>
            <a:r>
              <a:rPr lang="en-US" sz="2800" b="1" dirty="0">
                <a:solidFill>
                  <a:srgbClr val="002060"/>
                </a:solidFill>
              </a:rPr>
              <a:t>"Save Our Water"</a:t>
            </a:r>
            <a:r>
              <a:rPr lang="en-US" sz="2800" dirty="0"/>
              <a:t> </a:t>
            </a:r>
            <a:r>
              <a:rPr lang="en-US" sz="2800" b="1" dirty="0"/>
              <a:t>Campaign</a:t>
            </a:r>
          </a:p>
          <a:p>
            <a:r>
              <a:rPr lang="en-US" sz="2000" b="1" u="sng" dirty="0"/>
              <a:t>They can produce:</a:t>
            </a:r>
            <a:endParaRPr lang="en-US" sz="2800" b="1" u="sng" dirty="0"/>
          </a:p>
          <a:p>
            <a:r>
              <a:rPr lang="en-US" sz="2800" b="1" dirty="0">
                <a:solidFill>
                  <a:srgbClr val="0000FF"/>
                </a:solidFill>
              </a:rPr>
              <a:t>Posters 						Slogans 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Presentations 					Short announcements 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A school water-saving plan</a:t>
            </a:r>
          </a:p>
        </p:txBody>
      </p:sp>
    </p:spTree>
    <p:extLst>
      <p:ext uri="{BB962C8B-B14F-4D97-AF65-F5344CB8AC3E}">
        <p14:creationId xmlns:p14="http://schemas.microsoft.com/office/powerpoint/2010/main" val="1917144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8B79-061C-811D-B723-A2153ABB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C55796-9DAB-6E9D-AB25-4CAF07EEA82E}"/>
              </a:ext>
            </a:extLst>
          </p:cNvPr>
          <p:cNvSpPr txBox="1"/>
          <p:nvPr/>
        </p:nvSpPr>
        <p:spPr>
          <a:xfrm>
            <a:off x="520995" y="432691"/>
            <a:ext cx="1115355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🔗 Connecting SDGs 4–6</a:t>
            </a:r>
          </a:p>
          <a:p>
            <a:r>
              <a:rPr lang="en-US" sz="2400" dirty="0"/>
              <a:t>Help students understand that the goals are </a:t>
            </a:r>
            <a:r>
              <a:rPr lang="en-US" sz="2400" b="1" dirty="0"/>
              <a:t>connected</a:t>
            </a:r>
            <a:r>
              <a:rPr lang="en-US" sz="2400" dirty="0"/>
              <a:t>.</a:t>
            </a:r>
          </a:p>
          <a:p>
            <a:r>
              <a:rPr lang="en-US" sz="2400" b="1" dirty="0"/>
              <a:t>📚 SDG 4 — Quality Education</a:t>
            </a:r>
          </a:p>
          <a:p>
            <a:r>
              <a:rPr lang="en-US" sz="2400" dirty="0"/>
              <a:t>Education gives people knowledge and skills.</a:t>
            </a:r>
          </a:p>
          <a:p>
            <a:r>
              <a:rPr lang="en-US" sz="2400" dirty="0"/>
              <a:t>⬇️</a:t>
            </a:r>
          </a:p>
          <a:p>
            <a:r>
              <a:rPr lang="en-US" sz="2400" b="1" dirty="0"/>
              <a:t>⚖️ SDG 5 — Gender Equality</a:t>
            </a:r>
          </a:p>
          <a:p>
            <a:r>
              <a:rPr lang="en-US" sz="2400" dirty="0"/>
              <a:t>Everyone should have equal opportunities to learn and participate.</a:t>
            </a:r>
          </a:p>
          <a:p>
            <a:r>
              <a:rPr lang="en-US" sz="2400" dirty="0"/>
              <a:t>⬇️</a:t>
            </a:r>
          </a:p>
          <a:p>
            <a:r>
              <a:rPr lang="en-US" sz="2400" b="1" dirty="0"/>
              <a:t>💧 SDG 6 — Clean Water and Sanitation</a:t>
            </a:r>
          </a:p>
          <a:p>
            <a:r>
              <a:rPr lang="en-US" sz="2400" dirty="0"/>
              <a:t>Access to clean water and sanitation helps create healthier environments where people can learn and live.</a:t>
            </a:r>
          </a:p>
          <a:p>
            <a:r>
              <a:rPr lang="en-US" sz="2400" b="1" dirty="0"/>
              <a:t>🌍 Global Perspectives Question</a:t>
            </a:r>
          </a:p>
          <a:p>
            <a:r>
              <a:rPr lang="en-US" sz="2400" dirty="0"/>
              <a:t>Ask students:</a:t>
            </a:r>
          </a:p>
          <a:p>
            <a:r>
              <a:rPr lang="en-US" sz="2400" b="1" dirty="0"/>
              <a:t>"How are education, equality, and access to clean water connected?"</a:t>
            </a:r>
            <a:endParaRPr lang="en-US" sz="2400" dirty="0"/>
          </a:p>
          <a:p>
            <a:r>
              <a:rPr lang="en-US" sz="2400" dirty="0"/>
              <a:t>This can lead to excellent discussions about how </a:t>
            </a:r>
            <a:r>
              <a:rPr lang="en-US" sz="2400" b="1" dirty="0"/>
              <a:t>one global issue can affect many others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520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2433</TotalTime>
  <Words>1081</Words>
  <Application>Microsoft Office PowerPoint</Application>
  <PresentationFormat>Widescreen</PresentationFormat>
  <Paragraphs>166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🌍 SDGs 4–6: Teaching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Hatem Mohamed Hassan</dc:creator>
  <cp:lastModifiedBy>Hatem Mohamed Hassan</cp:lastModifiedBy>
  <cp:revision>85</cp:revision>
  <dcterms:created xsi:type="dcterms:W3CDTF">2026-09-10T08:43:43Z</dcterms:created>
  <dcterms:modified xsi:type="dcterms:W3CDTF">2026-09-29T11:51:38Z</dcterms:modified>
</cp:coreProperties>
</file>