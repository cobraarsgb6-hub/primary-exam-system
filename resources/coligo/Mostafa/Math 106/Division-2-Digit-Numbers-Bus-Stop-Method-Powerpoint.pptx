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76" r:id="rId2"/>
    <p:sldId id="264" r:id="rId3"/>
    <p:sldId id="269" r:id="rId4"/>
    <p:sldId id="270" r:id="rId5"/>
    <p:sldId id="271" r:id="rId6"/>
    <p:sldId id="272" r:id="rId7"/>
    <p:sldId id="273" r:id="rId8"/>
  </p:sldIdLst>
  <p:sldSz cx="9144000" cy="6858000" type="screen4x3"/>
  <p:notesSz cx="6858000" cy="9144000"/>
  <p:embeddedFontLst>
    <p:embeddedFont>
      <p:font typeface="Sassoon Infant Md" panose="02000603050000020003" charset="0"/>
      <p:regular r:id="rId11"/>
    </p:embeddedFont>
    <p:embeddedFont>
      <p:font typeface="Sassoon Infant Rg" panose="02000503030000020003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17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  <p15:guide id="6" pos="5443" userDrawn="1">
          <p15:clr>
            <a:srgbClr val="A4A3A4"/>
          </p15:clr>
        </p15:guide>
        <p15:guide id="7" orient="horz" pos="323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59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C1EB"/>
    <a:srgbClr val="ACDDFC"/>
    <a:srgbClr val="21A6F9"/>
    <a:srgbClr val="1C1C1C"/>
    <a:srgbClr val="2898A8"/>
    <a:srgbClr val="FEFBDA"/>
    <a:srgbClr val="FFFFE1"/>
    <a:srgbClr val="FDFDFD"/>
    <a:srgbClr val="AD8CC0"/>
    <a:srgbClr val="990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6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1277" y="48"/>
      </p:cViewPr>
      <p:guideLst>
        <p:guide orient="horz" pos="2160"/>
        <p:guide pos="2880"/>
        <p:guide pos="317"/>
        <p:guide orient="horz" pos="3997"/>
        <p:guide pos="5443"/>
        <p:guide orient="horz" pos="323"/>
        <p:guide pos="476"/>
        <p:guide orient="horz" pos="459"/>
        <p:guide orient="horz" pos="3838"/>
        <p:guide pos="52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292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13945"/>
            <a:ext cx="8220075" cy="4882093"/>
          </a:xfrm>
          <a:prstGeom prst="roundRect">
            <a:avLst>
              <a:gd name="adj" fmla="val 1874"/>
            </a:avLst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55650" y="1513944"/>
            <a:ext cx="7632700" cy="457888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002736" y="1721798"/>
            <a:ext cx="4189074" cy="4163173"/>
            <a:chOff x="4002736" y="1701428"/>
            <a:chExt cx="4189074" cy="4163173"/>
          </a:xfrm>
        </p:grpSpPr>
        <p:sp>
          <p:nvSpPr>
            <p:cNvPr id="9" name="Oval 8"/>
            <p:cNvSpPr/>
            <p:nvPr userDrawn="1"/>
          </p:nvSpPr>
          <p:spPr bwMode="auto">
            <a:xfrm>
              <a:off x="4002736" y="1735515"/>
              <a:ext cx="1998662" cy="1997075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chemeClr val="tx1"/>
                  </a:solidFill>
                </a:rPr>
                <a:t>Insert text or illustrations here.</a:t>
              </a:r>
            </a:p>
          </p:txBody>
        </p:sp>
        <p:sp>
          <p:nvSpPr>
            <p:cNvPr id="11" name="Oval 10"/>
            <p:cNvSpPr/>
            <p:nvPr userDrawn="1"/>
          </p:nvSpPr>
          <p:spPr bwMode="auto">
            <a:xfrm>
              <a:off x="6193147" y="1701428"/>
              <a:ext cx="1998663" cy="1997075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chemeClr val="tx1"/>
                  </a:solidFill>
                </a:rPr>
                <a:t>Insert text or illustrations here.</a:t>
              </a:r>
            </a:p>
          </p:txBody>
        </p:sp>
        <p:sp>
          <p:nvSpPr>
            <p:cNvPr id="12" name="Oval 11"/>
            <p:cNvSpPr/>
            <p:nvPr userDrawn="1"/>
          </p:nvSpPr>
          <p:spPr bwMode="auto">
            <a:xfrm>
              <a:off x="6193147" y="3860054"/>
              <a:ext cx="1997075" cy="1998662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chemeClr val="tx1"/>
                  </a:solidFill>
                </a:rPr>
                <a:t>Insert text or illustrations here.</a:t>
              </a:r>
            </a:p>
          </p:txBody>
        </p:sp>
        <p:sp>
          <p:nvSpPr>
            <p:cNvPr id="13" name="Oval 12"/>
            <p:cNvSpPr/>
            <p:nvPr userDrawn="1"/>
          </p:nvSpPr>
          <p:spPr bwMode="auto">
            <a:xfrm>
              <a:off x="4002736" y="3865939"/>
              <a:ext cx="1998663" cy="1998662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chemeClr val="tx1"/>
                  </a:solidFill>
                </a:rPr>
                <a:t>Insert text or illustrations here.</a:t>
              </a:r>
            </a:p>
          </p:txBody>
        </p:sp>
      </p:grpSp>
      <p:sp>
        <p:nvSpPr>
          <p:cNvPr id="14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755650" y="1513944"/>
            <a:ext cx="3048958" cy="4578882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Insert text or illustrations here.</a:t>
            </a:r>
          </a:p>
        </p:txBody>
      </p:sp>
    </p:spTree>
    <p:extLst>
      <p:ext uri="{BB962C8B-B14F-4D97-AF65-F5344CB8AC3E}">
        <p14:creationId xmlns:p14="http://schemas.microsoft.com/office/powerpoint/2010/main" val="26875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660233" y="1513945"/>
            <a:ext cx="3691606" cy="4578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750885" y="1513945"/>
            <a:ext cx="3821115" cy="1086016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750885" y="2678233"/>
            <a:ext cx="3821115" cy="1086016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750885" y="3842521"/>
            <a:ext cx="3821115" cy="1086016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750885" y="5006809"/>
            <a:ext cx="3821115" cy="1086016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18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895600" y="1513944"/>
            <a:ext cx="5492750" cy="28793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755650" y="4481513"/>
            <a:ext cx="7632700" cy="16113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755650" y="1513944"/>
            <a:ext cx="2036763" cy="28793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567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755650" y="1513945"/>
            <a:ext cx="2852738" cy="4578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683001" y="4614279"/>
            <a:ext cx="4705350" cy="147854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683001" y="1519198"/>
            <a:ext cx="4705350" cy="147854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683001" y="3066739"/>
            <a:ext cx="4705350" cy="147854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62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612104" y="1513946"/>
            <a:ext cx="3776245" cy="28158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755650" y="4418013"/>
            <a:ext cx="7632700" cy="1674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755650" y="1513945"/>
            <a:ext cx="1835150" cy="281583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2683877" y="1513945"/>
            <a:ext cx="1835150" cy="281583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</a:t>
            </a:r>
            <a:r>
              <a:rPr lang="en-GB" baseline="0" dirty="0">
                <a:solidFill>
                  <a:schemeClr val="tx1"/>
                </a:solidFill>
              </a:rPr>
              <a:t> text or illustrations here.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48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198" y="1503759"/>
            <a:ext cx="8220075" cy="94694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Insert text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503238" y="2481263"/>
            <a:ext cx="8137525" cy="2587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Insert text or illustrations</a:t>
            </a:r>
            <a:r>
              <a:rPr lang="en-GB" baseline="0" dirty="0">
                <a:solidFill>
                  <a:schemeClr val="tx1"/>
                </a:solidFill>
              </a:rPr>
              <a:t> here.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0" hasCustomPrompt="1"/>
          </p:nvPr>
        </p:nvSpPr>
        <p:spPr>
          <a:xfrm>
            <a:off x="461962" y="5099446"/>
            <a:ext cx="8220075" cy="94694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Insert text here.</a:t>
            </a:r>
          </a:p>
        </p:txBody>
      </p:sp>
    </p:spTree>
    <p:extLst>
      <p:ext uri="{BB962C8B-B14F-4D97-AF65-F5344CB8AC3E}">
        <p14:creationId xmlns:p14="http://schemas.microsoft.com/office/powerpoint/2010/main" val="240360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18" name="Rounded Rectangle 17"/>
          <p:cNvSpPr/>
          <p:nvPr userDrawn="1"/>
        </p:nvSpPr>
        <p:spPr>
          <a:xfrm>
            <a:off x="760416" y="4340225"/>
            <a:ext cx="246889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Insert text or illustrations here.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3337553" y="4340225"/>
            <a:ext cx="246889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 text or illustrations here.</a:t>
            </a:r>
          </a:p>
        </p:txBody>
      </p:sp>
      <p:sp>
        <p:nvSpPr>
          <p:cNvPr id="20" name="Rounded Rectangle 19"/>
          <p:cNvSpPr/>
          <p:nvPr userDrawn="1"/>
        </p:nvSpPr>
        <p:spPr>
          <a:xfrm>
            <a:off x="5914690" y="4340225"/>
            <a:ext cx="246889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 text or illustrations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6" name="Rounded Rectangle 5"/>
          <p:cNvSpPr/>
          <p:nvPr userDrawn="1"/>
        </p:nvSpPr>
        <p:spPr>
          <a:xfrm>
            <a:off x="755650" y="2494138"/>
            <a:ext cx="246889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Insert text or illustrations here.</a:t>
            </a:r>
          </a:p>
        </p:txBody>
      </p:sp>
      <p:sp>
        <p:nvSpPr>
          <p:cNvPr id="9" name="Rounded Rectangle 8"/>
          <p:cNvSpPr/>
          <p:nvPr userDrawn="1"/>
        </p:nvSpPr>
        <p:spPr>
          <a:xfrm>
            <a:off x="3332787" y="2494138"/>
            <a:ext cx="246889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 text or illustrations here.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5909924" y="2494138"/>
            <a:ext cx="246889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tx1"/>
                </a:solidFill>
              </a:rPr>
              <a:t>Insert text or illustrations here.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198" y="1500011"/>
            <a:ext cx="8220075" cy="967318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Insert text here.</a:t>
            </a:r>
          </a:p>
        </p:txBody>
      </p:sp>
    </p:spTree>
    <p:extLst>
      <p:ext uri="{BB962C8B-B14F-4D97-AF65-F5344CB8AC3E}">
        <p14:creationId xmlns:p14="http://schemas.microsoft.com/office/powerpoint/2010/main" val="411149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199" y="1513946"/>
            <a:ext cx="3295652" cy="4882092"/>
          </a:xfrm>
          <a:prstGeom prst="roundRect">
            <a:avLst>
              <a:gd name="adj" fmla="val 1874"/>
            </a:avLst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Insert text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3752850" y="4616560"/>
            <a:ext cx="2275417" cy="14667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3752850" y="3066910"/>
            <a:ext cx="2275417" cy="1460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752850" y="1513945"/>
            <a:ext cx="2275417" cy="14634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6119282" y="4616560"/>
            <a:ext cx="2275417" cy="14667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6119282" y="3066910"/>
            <a:ext cx="2275417" cy="146011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6119282" y="1513945"/>
            <a:ext cx="2275417" cy="14634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88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503239" y="2930434"/>
            <a:ext cx="8137524" cy="341480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8" name="Rounded Rectangle 7"/>
          <p:cNvSpPr/>
          <p:nvPr userDrawn="1"/>
        </p:nvSpPr>
        <p:spPr bwMode="auto">
          <a:xfrm>
            <a:off x="503239" y="512763"/>
            <a:ext cx="8137524" cy="2193019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/>
              <a:t> 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071286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Success Criteria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28648" y="734785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Aim</a:t>
            </a:r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1127760"/>
            <a:ext cx="7886700" cy="14097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Statement 1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  <a:p>
            <a:r>
              <a:rPr lang="en-GB" dirty="0"/>
              <a:t>Statement 2</a:t>
            </a:r>
          </a:p>
          <a:p>
            <a:pPr lvl="1"/>
            <a:r>
              <a:rPr lang="en-GB" dirty="0"/>
              <a:t>Sub statement</a:t>
            </a:r>
          </a:p>
        </p:txBody>
      </p:sp>
      <p:sp>
        <p:nvSpPr>
          <p:cNvPr id="12" name="Content Placeholder 15"/>
          <p:cNvSpPr txBox="1">
            <a:spLocks/>
          </p:cNvSpPr>
          <p:nvPr userDrawn="1"/>
        </p:nvSpPr>
        <p:spPr>
          <a:xfrm>
            <a:off x="628650" y="3466803"/>
            <a:ext cx="7886700" cy="1409700"/>
          </a:xfrm>
          <a:prstGeom prst="rect">
            <a:avLst/>
          </a:prstGeom>
          <a:noFill/>
          <a:ln w="25400">
            <a:noFill/>
          </a:ln>
        </p:spPr>
        <p:txBody>
          <a:bodyPr vert="horz" lIns="180000" tIns="252000" rIns="252000" bIns="18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Statement 1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  <a:p>
            <a:r>
              <a:rPr lang="en-GB" dirty="0"/>
              <a:t>Statement 2</a:t>
            </a:r>
          </a:p>
          <a:p>
            <a:pPr lvl="1"/>
            <a:r>
              <a:rPr lang="en-GB" dirty="0"/>
              <a:t>Sub statement</a:t>
            </a:r>
          </a:p>
        </p:txBody>
      </p:sp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C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1" r:id="rId4"/>
    <p:sldLayoutId id="2147483667" r:id="rId5"/>
    <p:sldLayoutId id="2147483668" r:id="rId6"/>
    <p:sldLayoutId id="2147483669" r:id="rId7"/>
    <p:sldLayoutId id="2147483670" r:id="rId8"/>
    <p:sldLayoutId id="2147483673" r:id="rId9"/>
    <p:sldLayoutId id="2147483674" r:id="rId10"/>
    <p:sldLayoutId id="2147483663" r:id="rId11"/>
    <p:sldLayoutId id="21474836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C1C1C"/>
          </a:solidFill>
          <a:latin typeface="Sassoon Infant Md" panose="02000603050000020003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87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White box"/>
          <p:cNvSpPr/>
          <p:nvPr/>
        </p:nvSpPr>
        <p:spPr>
          <a:xfrm>
            <a:off x="4478811" y="2960938"/>
            <a:ext cx="351693" cy="3516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Final Answer"/>
          <p:cNvSpPr txBox="1"/>
          <p:nvPr/>
        </p:nvSpPr>
        <p:spPr>
          <a:xfrm>
            <a:off x="5327852" y="917970"/>
            <a:ext cx="779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24</a:t>
            </a:r>
          </a:p>
        </p:txBody>
      </p:sp>
      <p:sp>
        <p:nvSpPr>
          <p:cNvPr id="30" name="Great!"/>
          <p:cNvSpPr txBox="1"/>
          <p:nvPr/>
        </p:nvSpPr>
        <p:spPr>
          <a:xfrm>
            <a:off x="893713" y="6444001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Great!</a:t>
            </a:r>
          </a:p>
        </p:txBody>
      </p:sp>
      <p:sp>
        <p:nvSpPr>
          <p:cNvPr id="2" name="3rd Q"/>
          <p:cNvSpPr txBox="1"/>
          <p:nvPr/>
        </p:nvSpPr>
        <p:spPr>
          <a:xfrm>
            <a:off x="751287" y="5636338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2’s are there in 8?</a:t>
            </a:r>
          </a:p>
        </p:txBody>
      </p:sp>
      <p:sp>
        <p:nvSpPr>
          <p:cNvPr id="26" name="How many are left over?"/>
          <p:cNvSpPr txBox="1"/>
          <p:nvPr/>
        </p:nvSpPr>
        <p:spPr>
          <a:xfrm>
            <a:off x="740431" y="5080941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are left over?</a:t>
            </a:r>
          </a:p>
        </p:txBody>
      </p:sp>
      <p:sp>
        <p:nvSpPr>
          <p:cNvPr id="28" name="1st Q"/>
          <p:cNvSpPr txBox="1"/>
          <p:nvPr/>
        </p:nvSpPr>
        <p:spPr>
          <a:xfrm>
            <a:off x="662461" y="4525545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2s are there in 4?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660930" y="1900763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4" name="2nd answer blue box"/>
          <p:cNvSpPr txBox="1"/>
          <p:nvPr/>
        </p:nvSpPr>
        <p:spPr>
          <a:xfrm>
            <a:off x="4722626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4</a:t>
            </a:r>
          </a:p>
        </p:txBody>
      </p:sp>
      <p:sp>
        <p:nvSpPr>
          <p:cNvPr id="20" name="1st Answer box"/>
          <p:cNvSpPr/>
          <p:nvPr/>
        </p:nvSpPr>
        <p:spPr>
          <a:xfrm>
            <a:off x="3675852" y="1900762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3" name="First answer"/>
          <p:cNvSpPr txBox="1"/>
          <p:nvPr/>
        </p:nvSpPr>
        <p:spPr>
          <a:xfrm>
            <a:off x="3748269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2</a:t>
            </a:r>
          </a:p>
        </p:txBody>
      </p:sp>
      <p:sp>
        <p:nvSpPr>
          <p:cNvPr id="17" name="2nd Division box"/>
          <p:cNvSpPr txBox="1"/>
          <p:nvPr/>
        </p:nvSpPr>
        <p:spPr>
          <a:xfrm>
            <a:off x="4710063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8</a:t>
            </a:r>
          </a:p>
        </p:txBody>
      </p:sp>
      <p:sp>
        <p:nvSpPr>
          <p:cNvPr id="13" name="1st Division box"/>
          <p:cNvSpPr txBox="1"/>
          <p:nvPr/>
        </p:nvSpPr>
        <p:spPr>
          <a:xfrm>
            <a:off x="3715641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4</a:t>
            </a:r>
          </a:p>
        </p:txBody>
      </p:sp>
      <p:sp>
        <p:nvSpPr>
          <p:cNvPr id="18" name="First number"/>
          <p:cNvSpPr txBox="1"/>
          <p:nvPr/>
        </p:nvSpPr>
        <p:spPr>
          <a:xfrm>
            <a:off x="2665472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2</a:t>
            </a:r>
          </a:p>
        </p:txBody>
      </p:sp>
      <p:grpSp>
        <p:nvGrpSpPr>
          <p:cNvPr id="31" name="Division Lines"/>
          <p:cNvGrpSpPr/>
          <p:nvPr/>
        </p:nvGrpSpPr>
        <p:grpSpPr>
          <a:xfrm>
            <a:off x="3555010" y="2846754"/>
            <a:ext cx="2025254" cy="1164492"/>
            <a:chOff x="3555010" y="2846754"/>
            <a:chExt cx="2025254" cy="1164492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76337" y="2846754"/>
              <a:ext cx="0" cy="116449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443"/>
              <a:ext cx="2025254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op Question"/>
          <p:cNvSpPr txBox="1"/>
          <p:nvPr/>
        </p:nvSpPr>
        <p:spPr>
          <a:xfrm>
            <a:off x="503238" y="922215"/>
            <a:ext cx="763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48 ÷ 2 =  </a:t>
            </a:r>
          </a:p>
        </p:txBody>
      </p:sp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9" grpId="0"/>
      <p:bldP spid="30" grpId="0"/>
      <p:bldP spid="2" grpId="0"/>
      <p:bldP spid="2" grpId="1"/>
      <p:bldP spid="26" grpId="0"/>
      <p:bldP spid="26" grpId="1"/>
      <p:bldP spid="28" grpId="0"/>
      <p:bldP spid="28" grpId="1"/>
      <p:bldP spid="21" grpId="0" animBg="1"/>
      <p:bldP spid="34" grpId="0"/>
      <p:bldP spid="20" grpId="0" animBg="1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White box"/>
          <p:cNvSpPr/>
          <p:nvPr/>
        </p:nvSpPr>
        <p:spPr>
          <a:xfrm>
            <a:off x="4478811" y="2960938"/>
            <a:ext cx="351693" cy="3516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Great!"/>
          <p:cNvSpPr txBox="1"/>
          <p:nvPr/>
        </p:nvSpPr>
        <p:spPr>
          <a:xfrm>
            <a:off x="893713" y="6469635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Great!</a:t>
            </a:r>
          </a:p>
        </p:txBody>
      </p:sp>
      <p:sp>
        <p:nvSpPr>
          <p:cNvPr id="2" name="3rd Q"/>
          <p:cNvSpPr txBox="1"/>
          <p:nvPr/>
        </p:nvSpPr>
        <p:spPr>
          <a:xfrm>
            <a:off x="751287" y="5586323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2’s are there in 16?</a:t>
            </a:r>
          </a:p>
        </p:txBody>
      </p:sp>
      <p:sp>
        <p:nvSpPr>
          <p:cNvPr id="26" name="How many are left over?"/>
          <p:cNvSpPr txBox="1"/>
          <p:nvPr/>
        </p:nvSpPr>
        <p:spPr>
          <a:xfrm>
            <a:off x="751287" y="5051533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are left over?</a:t>
            </a:r>
          </a:p>
        </p:txBody>
      </p:sp>
      <p:sp>
        <p:nvSpPr>
          <p:cNvPr id="28" name="1st Q"/>
          <p:cNvSpPr txBox="1"/>
          <p:nvPr/>
        </p:nvSpPr>
        <p:spPr>
          <a:xfrm>
            <a:off x="751287" y="4445521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2s are there in 7?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660930" y="1900763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4" name="2nd answer blue box"/>
          <p:cNvSpPr txBox="1"/>
          <p:nvPr/>
        </p:nvSpPr>
        <p:spPr>
          <a:xfrm>
            <a:off x="4722626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8</a:t>
            </a:r>
          </a:p>
        </p:txBody>
      </p:sp>
      <p:sp>
        <p:nvSpPr>
          <p:cNvPr id="20" name="1st Answer box"/>
          <p:cNvSpPr/>
          <p:nvPr/>
        </p:nvSpPr>
        <p:spPr>
          <a:xfrm>
            <a:off x="3675852" y="1900762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3" name="First answer"/>
          <p:cNvSpPr txBox="1"/>
          <p:nvPr/>
        </p:nvSpPr>
        <p:spPr>
          <a:xfrm>
            <a:off x="3748269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3</a:t>
            </a:r>
          </a:p>
        </p:txBody>
      </p:sp>
      <p:sp>
        <p:nvSpPr>
          <p:cNvPr id="32" name="Left over Number"/>
          <p:cNvSpPr txBox="1"/>
          <p:nvPr/>
        </p:nvSpPr>
        <p:spPr>
          <a:xfrm>
            <a:off x="4511439" y="2973861"/>
            <a:ext cx="28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2nd Division box"/>
          <p:cNvSpPr txBox="1"/>
          <p:nvPr/>
        </p:nvSpPr>
        <p:spPr>
          <a:xfrm>
            <a:off x="4710063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6</a:t>
            </a:r>
          </a:p>
        </p:txBody>
      </p:sp>
      <p:sp>
        <p:nvSpPr>
          <p:cNvPr id="13" name="1st Division box"/>
          <p:cNvSpPr txBox="1"/>
          <p:nvPr/>
        </p:nvSpPr>
        <p:spPr>
          <a:xfrm>
            <a:off x="3715641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7</a:t>
            </a:r>
          </a:p>
        </p:txBody>
      </p:sp>
      <p:sp>
        <p:nvSpPr>
          <p:cNvPr id="18" name="First number"/>
          <p:cNvSpPr txBox="1"/>
          <p:nvPr/>
        </p:nvSpPr>
        <p:spPr>
          <a:xfrm>
            <a:off x="2665472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2</a:t>
            </a:r>
          </a:p>
        </p:txBody>
      </p:sp>
      <p:grpSp>
        <p:nvGrpSpPr>
          <p:cNvPr id="31" name="Division Lines"/>
          <p:cNvGrpSpPr/>
          <p:nvPr/>
        </p:nvGrpSpPr>
        <p:grpSpPr>
          <a:xfrm>
            <a:off x="3555010" y="2846754"/>
            <a:ext cx="2025254" cy="1164492"/>
            <a:chOff x="3555010" y="2846754"/>
            <a:chExt cx="2025254" cy="1164492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76337" y="2846754"/>
              <a:ext cx="0" cy="116449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443"/>
              <a:ext cx="2025254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op Question"/>
          <p:cNvSpPr txBox="1"/>
          <p:nvPr/>
        </p:nvSpPr>
        <p:spPr>
          <a:xfrm>
            <a:off x="503238" y="922215"/>
            <a:ext cx="763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76 ÷ 2 =  </a:t>
            </a:r>
          </a:p>
        </p:txBody>
      </p:sp>
      <p:sp>
        <p:nvSpPr>
          <p:cNvPr id="29" name="Final Answer"/>
          <p:cNvSpPr txBox="1"/>
          <p:nvPr/>
        </p:nvSpPr>
        <p:spPr>
          <a:xfrm>
            <a:off x="5327852" y="917970"/>
            <a:ext cx="779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422639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/>
      <p:bldP spid="2" grpId="0"/>
      <p:bldP spid="2" grpId="1"/>
      <p:bldP spid="26" grpId="0"/>
      <p:bldP spid="26" grpId="1"/>
      <p:bldP spid="28" grpId="0"/>
      <p:bldP spid="28" grpId="1"/>
      <p:bldP spid="21" grpId="0" animBg="1"/>
      <p:bldP spid="34" grpId="0"/>
      <p:bldP spid="20" grpId="0" animBg="1"/>
      <p:bldP spid="33" grpId="0"/>
      <p:bldP spid="32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White box"/>
          <p:cNvSpPr/>
          <p:nvPr/>
        </p:nvSpPr>
        <p:spPr>
          <a:xfrm>
            <a:off x="4478811" y="2960938"/>
            <a:ext cx="351693" cy="3516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Great!"/>
          <p:cNvSpPr txBox="1"/>
          <p:nvPr/>
        </p:nvSpPr>
        <p:spPr>
          <a:xfrm>
            <a:off x="906276" y="6399633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Great!</a:t>
            </a:r>
          </a:p>
        </p:txBody>
      </p:sp>
      <p:sp>
        <p:nvSpPr>
          <p:cNvPr id="2" name="3rd Q"/>
          <p:cNvSpPr txBox="1"/>
          <p:nvPr/>
        </p:nvSpPr>
        <p:spPr>
          <a:xfrm>
            <a:off x="739833" y="5431622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5’s are there in 15?</a:t>
            </a:r>
          </a:p>
        </p:txBody>
      </p:sp>
      <p:sp>
        <p:nvSpPr>
          <p:cNvPr id="26" name="How many are left over?"/>
          <p:cNvSpPr txBox="1"/>
          <p:nvPr/>
        </p:nvSpPr>
        <p:spPr>
          <a:xfrm>
            <a:off x="695089" y="4917158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are left over?</a:t>
            </a:r>
          </a:p>
        </p:txBody>
      </p:sp>
      <p:sp>
        <p:nvSpPr>
          <p:cNvPr id="28" name="1st Q"/>
          <p:cNvSpPr txBox="1"/>
          <p:nvPr/>
        </p:nvSpPr>
        <p:spPr>
          <a:xfrm>
            <a:off x="753015" y="4604279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5s are there in 6?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660930" y="1900763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4" name="2nd answer blue box"/>
          <p:cNvSpPr txBox="1"/>
          <p:nvPr/>
        </p:nvSpPr>
        <p:spPr>
          <a:xfrm>
            <a:off x="4722626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3</a:t>
            </a:r>
          </a:p>
        </p:txBody>
      </p:sp>
      <p:sp>
        <p:nvSpPr>
          <p:cNvPr id="20" name="1st Answer box"/>
          <p:cNvSpPr/>
          <p:nvPr/>
        </p:nvSpPr>
        <p:spPr>
          <a:xfrm>
            <a:off x="3675852" y="1900762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3" name="First answer"/>
          <p:cNvSpPr txBox="1"/>
          <p:nvPr/>
        </p:nvSpPr>
        <p:spPr>
          <a:xfrm>
            <a:off x="3748269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1</a:t>
            </a:r>
          </a:p>
        </p:txBody>
      </p:sp>
      <p:sp>
        <p:nvSpPr>
          <p:cNvPr id="32" name="Left over Number"/>
          <p:cNvSpPr txBox="1"/>
          <p:nvPr/>
        </p:nvSpPr>
        <p:spPr>
          <a:xfrm>
            <a:off x="4511439" y="2973861"/>
            <a:ext cx="28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2nd Division box"/>
          <p:cNvSpPr txBox="1"/>
          <p:nvPr/>
        </p:nvSpPr>
        <p:spPr>
          <a:xfrm>
            <a:off x="4710063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5</a:t>
            </a:r>
          </a:p>
        </p:txBody>
      </p:sp>
      <p:sp>
        <p:nvSpPr>
          <p:cNvPr id="13" name="1st Division box"/>
          <p:cNvSpPr txBox="1"/>
          <p:nvPr/>
        </p:nvSpPr>
        <p:spPr>
          <a:xfrm>
            <a:off x="3715641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6</a:t>
            </a:r>
          </a:p>
        </p:txBody>
      </p:sp>
      <p:sp>
        <p:nvSpPr>
          <p:cNvPr id="18" name="First number"/>
          <p:cNvSpPr txBox="1"/>
          <p:nvPr/>
        </p:nvSpPr>
        <p:spPr>
          <a:xfrm>
            <a:off x="2665472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5</a:t>
            </a:r>
          </a:p>
        </p:txBody>
      </p:sp>
      <p:grpSp>
        <p:nvGrpSpPr>
          <p:cNvPr id="31" name="Division Lines"/>
          <p:cNvGrpSpPr/>
          <p:nvPr/>
        </p:nvGrpSpPr>
        <p:grpSpPr>
          <a:xfrm>
            <a:off x="3555010" y="2846754"/>
            <a:ext cx="2025254" cy="1164492"/>
            <a:chOff x="3555010" y="2846754"/>
            <a:chExt cx="2025254" cy="1164492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76337" y="2846754"/>
              <a:ext cx="0" cy="116449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443"/>
              <a:ext cx="2025254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op Question"/>
          <p:cNvSpPr txBox="1"/>
          <p:nvPr/>
        </p:nvSpPr>
        <p:spPr>
          <a:xfrm>
            <a:off x="503238" y="922215"/>
            <a:ext cx="763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65 ÷ 5 =  </a:t>
            </a:r>
          </a:p>
        </p:txBody>
      </p:sp>
      <p:sp>
        <p:nvSpPr>
          <p:cNvPr id="29" name="Final Answer"/>
          <p:cNvSpPr txBox="1"/>
          <p:nvPr/>
        </p:nvSpPr>
        <p:spPr>
          <a:xfrm>
            <a:off x="5327852" y="917970"/>
            <a:ext cx="779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64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/>
      <p:bldP spid="2" grpId="0"/>
      <p:bldP spid="2" grpId="1"/>
      <p:bldP spid="26" grpId="0"/>
      <p:bldP spid="26" grpId="1"/>
      <p:bldP spid="28" grpId="0"/>
      <p:bldP spid="28" grpId="1"/>
      <p:bldP spid="21" grpId="0" animBg="1"/>
      <p:bldP spid="34" grpId="0"/>
      <p:bldP spid="20" grpId="0" animBg="1"/>
      <p:bldP spid="33" grpId="0"/>
      <p:bldP spid="32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White box"/>
          <p:cNvSpPr/>
          <p:nvPr/>
        </p:nvSpPr>
        <p:spPr>
          <a:xfrm>
            <a:off x="4478811" y="2960938"/>
            <a:ext cx="351693" cy="3516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Great!"/>
          <p:cNvSpPr txBox="1"/>
          <p:nvPr/>
        </p:nvSpPr>
        <p:spPr>
          <a:xfrm>
            <a:off x="906276" y="6457890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Great!</a:t>
            </a:r>
          </a:p>
        </p:txBody>
      </p:sp>
      <p:sp>
        <p:nvSpPr>
          <p:cNvPr id="2" name="3rd Q"/>
          <p:cNvSpPr txBox="1"/>
          <p:nvPr/>
        </p:nvSpPr>
        <p:spPr>
          <a:xfrm>
            <a:off x="695089" y="5542812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5’s are there in 40?</a:t>
            </a:r>
          </a:p>
        </p:txBody>
      </p:sp>
      <p:sp>
        <p:nvSpPr>
          <p:cNvPr id="26" name="How many are left over?"/>
          <p:cNvSpPr txBox="1"/>
          <p:nvPr/>
        </p:nvSpPr>
        <p:spPr>
          <a:xfrm>
            <a:off x="755650" y="5027844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are left over?</a:t>
            </a:r>
          </a:p>
        </p:txBody>
      </p:sp>
      <p:sp>
        <p:nvSpPr>
          <p:cNvPr id="28" name="1st Q"/>
          <p:cNvSpPr txBox="1"/>
          <p:nvPr/>
        </p:nvSpPr>
        <p:spPr>
          <a:xfrm>
            <a:off x="755650" y="4446850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5s are there in 9?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660930" y="1900763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4" name="2nd answer blue box"/>
          <p:cNvSpPr txBox="1"/>
          <p:nvPr/>
        </p:nvSpPr>
        <p:spPr>
          <a:xfrm>
            <a:off x="4722626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8</a:t>
            </a:r>
          </a:p>
        </p:txBody>
      </p:sp>
      <p:sp>
        <p:nvSpPr>
          <p:cNvPr id="20" name="1st Answer box"/>
          <p:cNvSpPr/>
          <p:nvPr/>
        </p:nvSpPr>
        <p:spPr>
          <a:xfrm>
            <a:off x="3675852" y="1900762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3" name="First answer"/>
          <p:cNvSpPr txBox="1"/>
          <p:nvPr/>
        </p:nvSpPr>
        <p:spPr>
          <a:xfrm>
            <a:off x="3748269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1</a:t>
            </a:r>
          </a:p>
        </p:txBody>
      </p:sp>
      <p:sp>
        <p:nvSpPr>
          <p:cNvPr id="32" name="Left over Number"/>
          <p:cNvSpPr txBox="1"/>
          <p:nvPr/>
        </p:nvSpPr>
        <p:spPr>
          <a:xfrm>
            <a:off x="4511439" y="2973861"/>
            <a:ext cx="28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7" name="2nd Division box"/>
          <p:cNvSpPr txBox="1"/>
          <p:nvPr/>
        </p:nvSpPr>
        <p:spPr>
          <a:xfrm>
            <a:off x="4710063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0</a:t>
            </a:r>
          </a:p>
        </p:txBody>
      </p:sp>
      <p:sp>
        <p:nvSpPr>
          <p:cNvPr id="13" name="1st Division box"/>
          <p:cNvSpPr txBox="1"/>
          <p:nvPr/>
        </p:nvSpPr>
        <p:spPr>
          <a:xfrm>
            <a:off x="3715641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9</a:t>
            </a:r>
          </a:p>
        </p:txBody>
      </p:sp>
      <p:sp>
        <p:nvSpPr>
          <p:cNvPr id="18" name="First number"/>
          <p:cNvSpPr txBox="1"/>
          <p:nvPr/>
        </p:nvSpPr>
        <p:spPr>
          <a:xfrm>
            <a:off x="2665472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5</a:t>
            </a:r>
          </a:p>
        </p:txBody>
      </p:sp>
      <p:grpSp>
        <p:nvGrpSpPr>
          <p:cNvPr id="31" name="Division Lines"/>
          <p:cNvGrpSpPr/>
          <p:nvPr/>
        </p:nvGrpSpPr>
        <p:grpSpPr>
          <a:xfrm>
            <a:off x="3555010" y="2846754"/>
            <a:ext cx="2025254" cy="1164492"/>
            <a:chOff x="3555010" y="2846754"/>
            <a:chExt cx="2025254" cy="1164492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76337" y="2846754"/>
              <a:ext cx="0" cy="116449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443"/>
              <a:ext cx="2025254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op Question"/>
          <p:cNvSpPr txBox="1"/>
          <p:nvPr/>
        </p:nvSpPr>
        <p:spPr>
          <a:xfrm>
            <a:off x="503238" y="922215"/>
            <a:ext cx="763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90 ÷ 5 =  </a:t>
            </a:r>
          </a:p>
        </p:txBody>
      </p:sp>
      <p:sp>
        <p:nvSpPr>
          <p:cNvPr id="29" name="Final Answer"/>
          <p:cNvSpPr txBox="1"/>
          <p:nvPr/>
        </p:nvSpPr>
        <p:spPr>
          <a:xfrm>
            <a:off x="5327852" y="917970"/>
            <a:ext cx="779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67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/>
      <p:bldP spid="2" grpId="0"/>
      <p:bldP spid="2" grpId="1"/>
      <p:bldP spid="26" grpId="0"/>
      <p:bldP spid="26" grpId="1"/>
      <p:bldP spid="28" grpId="0"/>
      <p:bldP spid="28" grpId="1"/>
      <p:bldP spid="21" grpId="0" animBg="1"/>
      <p:bldP spid="34" grpId="0"/>
      <p:bldP spid="20" grpId="0" animBg="1"/>
      <p:bldP spid="33" grpId="0"/>
      <p:bldP spid="32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White box"/>
          <p:cNvSpPr/>
          <p:nvPr/>
        </p:nvSpPr>
        <p:spPr>
          <a:xfrm>
            <a:off x="4478811" y="2960938"/>
            <a:ext cx="351693" cy="3516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Great!"/>
          <p:cNvSpPr txBox="1"/>
          <p:nvPr/>
        </p:nvSpPr>
        <p:spPr>
          <a:xfrm>
            <a:off x="893713" y="6400232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Great!</a:t>
            </a:r>
          </a:p>
        </p:txBody>
      </p:sp>
      <p:sp>
        <p:nvSpPr>
          <p:cNvPr id="2" name="3rd Q"/>
          <p:cNvSpPr txBox="1"/>
          <p:nvPr/>
        </p:nvSpPr>
        <p:spPr>
          <a:xfrm>
            <a:off x="751287" y="5813639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3’s are there in 6?</a:t>
            </a:r>
          </a:p>
        </p:txBody>
      </p:sp>
      <p:sp>
        <p:nvSpPr>
          <p:cNvPr id="26" name="How many are left over?"/>
          <p:cNvSpPr txBox="1"/>
          <p:nvPr/>
        </p:nvSpPr>
        <p:spPr>
          <a:xfrm>
            <a:off x="662461" y="5211468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are left over?</a:t>
            </a:r>
          </a:p>
        </p:txBody>
      </p:sp>
      <p:sp>
        <p:nvSpPr>
          <p:cNvPr id="28" name="1st Q"/>
          <p:cNvSpPr txBox="1"/>
          <p:nvPr/>
        </p:nvSpPr>
        <p:spPr>
          <a:xfrm>
            <a:off x="751287" y="4655049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3s are there in 3?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660930" y="1900763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4" name="2nd answer blue box"/>
          <p:cNvSpPr txBox="1"/>
          <p:nvPr/>
        </p:nvSpPr>
        <p:spPr>
          <a:xfrm>
            <a:off x="4722626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2</a:t>
            </a:r>
          </a:p>
        </p:txBody>
      </p:sp>
      <p:sp>
        <p:nvSpPr>
          <p:cNvPr id="20" name="1st Answer box"/>
          <p:cNvSpPr/>
          <p:nvPr/>
        </p:nvSpPr>
        <p:spPr>
          <a:xfrm>
            <a:off x="3675852" y="1900762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3" name="First answer"/>
          <p:cNvSpPr txBox="1"/>
          <p:nvPr/>
        </p:nvSpPr>
        <p:spPr>
          <a:xfrm>
            <a:off x="3748269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1</a:t>
            </a:r>
          </a:p>
        </p:txBody>
      </p:sp>
      <p:sp>
        <p:nvSpPr>
          <p:cNvPr id="17" name="2nd Division box"/>
          <p:cNvSpPr txBox="1"/>
          <p:nvPr/>
        </p:nvSpPr>
        <p:spPr>
          <a:xfrm>
            <a:off x="4710063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6</a:t>
            </a:r>
          </a:p>
        </p:txBody>
      </p:sp>
      <p:sp>
        <p:nvSpPr>
          <p:cNvPr id="13" name="1st Division box"/>
          <p:cNvSpPr txBox="1"/>
          <p:nvPr/>
        </p:nvSpPr>
        <p:spPr>
          <a:xfrm>
            <a:off x="3715641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3</a:t>
            </a:r>
          </a:p>
        </p:txBody>
      </p:sp>
      <p:sp>
        <p:nvSpPr>
          <p:cNvPr id="18" name="First number"/>
          <p:cNvSpPr txBox="1"/>
          <p:nvPr/>
        </p:nvSpPr>
        <p:spPr>
          <a:xfrm>
            <a:off x="2665472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3</a:t>
            </a:r>
          </a:p>
        </p:txBody>
      </p:sp>
      <p:grpSp>
        <p:nvGrpSpPr>
          <p:cNvPr id="31" name="Division Lines"/>
          <p:cNvGrpSpPr/>
          <p:nvPr/>
        </p:nvGrpSpPr>
        <p:grpSpPr>
          <a:xfrm>
            <a:off x="3555010" y="2846754"/>
            <a:ext cx="2025254" cy="1164492"/>
            <a:chOff x="3555010" y="2846754"/>
            <a:chExt cx="2025254" cy="1164492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76337" y="2846754"/>
              <a:ext cx="0" cy="116449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443"/>
              <a:ext cx="2025254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op Question"/>
          <p:cNvSpPr txBox="1"/>
          <p:nvPr/>
        </p:nvSpPr>
        <p:spPr>
          <a:xfrm>
            <a:off x="503238" y="922215"/>
            <a:ext cx="763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36 ÷ 3 =  </a:t>
            </a:r>
          </a:p>
        </p:txBody>
      </p:sp>
      <p:sp>
        <p:nvSpPr>
          <p:cNvPr id="29" name="Final Answer"/>
          <p:cNvSpPr txBox="1"/>
          <p:nvPr/>
        </p:nvSpPr>
        <p:spPr>
          <a:xfrm>
            <a:off x="5327852" y="917970"/>
            <a:ext cx="779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884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30" grpId="0"/>
      <p:bldP spid="2" grpId="0"/>
      <p:bldP spid="2" grpId="1"/>
      <p:bldP spid="26" grpId="0"/>
      <p:bldP spid="26" grpId="1"/>
      <p:bldP spid="28" grpId="0"/>
      <p:bldP spid="28" grpId="1"/>
      <p:bldP spid="21" grpId="0" animBg="1"/>
      <p:bldP spid="34" grpId="0"/>
      <p:bldP spid="20" grpId="0" animBg="1"/>
      <p:bldP spid="33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White box"/>
          <p:cNvSpPr/>
          <p:nvPr/>
        </p:nvSpPr>
        <p:spPr>
          <a:xfrm>
            <a:off x="4478811" y="2960938"/>
            <a:ext cx="351693" cy="3516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Great!"/>
          <p:cNvSpPr txBox="1"/>
          <p:nvPr/>
        </p:nvSpPr>
        <p:spPr>
          <a:xfrm>
            <a:off x="906276" y="6468853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Great!</a:t>
            </a:r>
          </a:p>
        </p:txBody>
      </p:sp>
      <p:sp>
        <p:nvSpPr>
          <p:cNvPr id="2" name="3rd Q"/>
          <p:cNvSpPr txBox="1"/>
          <p:nvPr/>
        </p:nvSpPr>
        <p:spPr>
          <a:xfrm>
            <a:off x="739833" y="5735730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4’s are there in 12?</a:t>
            </a:r>
          </a:p>
        </p:txBody>
      </p:sp>
      <p:sp>
        <p:nvSpPr>
          <p:cNvPr id="26" name="How many are left over?"/>
          <p:cNvSpPr txBox="1"/>
          <p:nvPr/>
        </p:nvSpPr>
        <p:spPr>
          <a:xfrm>
            <a:off x="739833" y="5227899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are left over?</a:t>
            </a:r>
          </a:p>
        </p:txBody>
      </p:sp>
      <p:sp>
        <p:nvSpPr>
          <p:cNvPr id="28" name="1st Q"/>
          <p:cNvSpPr txBox="1"/>
          <p:nvPr/>
        </p:nvSpPr>
        <p:spPr>
          <a:xfrm>
            <a:off x="838307" y="4720471"/>
            <a:ext cx="763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+mj-lt"/>
              </a:rPr>
              <a:t>How many 4s are there in 9?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660930" y="1900763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4" name="2nd answer blue box"/>
          <p:cNvSpPr txBox="1"/>
          <p:nvPr/>
        </p:nvSpPr>
        <p:spPr>
          <a:xfrm>
            <a:off x="4722626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3</a:t>
            </a:r>
          </a:p>
        </p:txBody>
      </p:sp>
      <p:sp>
        <p:nvSpPr>
          <p:cNvPr id="20" name="1st Answer box"/>
          <p:cNvSpPr/>
          <p:nvPr/>
        </p:nvSpPr>
        <p:spPr>
          <a:xfrm>
            <a:off x="3675852" y="1900762"/>
            <a:ext cx="880331" cy="880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3" name="First answer"/>
          <p:cNvSpPr txBox="1"/>
          <p:nvPr/>
        </p:nvSpPr>
        <p:spPr>
          <a:xfrm>
            <a:off x="3748269" y="1863321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2</a:t>
            </a:r>
          </a:p>
        </p:txBody>
      </p:sp>
      <p:sp>
        <p:nvSpPr>
          <p:cNvPr id="32" name="Left over Number"/>
          <p:cNvSpPr txBox="1"/>
          <p:nvPr/>
        </p:nvSpPr>
        <p:spPr>
          <a:xfrm>
            <a:off x="4511439" y="2973861"/>
            <a:ext cx="28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2nd Division box"/>
          <p:cNvSpPr txBox="1"/>
          <p:nvPr/>
        </p:nvSpPr>
        <p:spPr>
          <a:xfrm>
            <a:off x="4710063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2</a:t>
            </a:r>
          </a:p>
        </p:txBody>
      </p:sp>
      <p:sp>
        <p:nvSpPr>
          <p:cNvPr id="13" name="1st Division box"/>
          <p:cNvSpPr txBox="1"/>
          <p:nvPr/>
        </p:nvSpPr>
        <p:spPr>
          <a:xfrm>
            <a:off x="3715641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9</a:t>
            </a:r>
          </a:p>
        </p:txBody>
      </p:sp>
      <p:sp>
        <p:nvSpPr>
          <p:cNvPr id="18" name="First number"/>
          <p:cNvSpPr txBox="1"/>
          <p:nvPr/>
        </p:nvSpPr>
        <p:spPr>
          <a:xfrm>
            <a:off x="2665472" y="2952063"/>
            <a:ext cx="763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4</a:t>
            </a:r>
          </a:p>
        </p:txBody>
      </p:sp>
      <p:grpSp>
        <p:nvGrpSpPr>
          <p:cNvPr id="31" name="Division Lines"/>
          <p:cNvGrpSpPr/>
          <p:nvPr/>
        </p:nvGrpSpPr>
        <p:grpSpPr>
          <a:xfrm>
            <a:off x="3555010" y="2846754"/>
            <a:ext cx="2025254" cy="1164492"/>
            <a:chOff x="3555010" y="2846754"/>
            <a:chExt cx="2025254" cy="1164492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76337" y="2846754"/>
              <a:ext cx="0" cy="116449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443"/>
              <a:ext cx="2025254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op Question"/>
          <p:cNvSpPr txBox="1"/>
          <p:nvPr/>
        </p:nvSpPr>
        <p:spPr>
          <a:xfrm>
            <a:off x="503238" y="922215"/>
            <a:ext cx="763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92 ÷ 4 =  </a:t>
            </a:r>
          </a:p>
        </p:txBody>
      </p:sp>
      <p:sp>
        <p:nvSpPr>
          <p:cNvPr id="29" name="Final Answer"/>
          <p:cNvSpPr txBox="1"/>
          <p:nvPr/>
        </p:nvSpPr>
        <p:spPr>
          <a:xfrm>
            <a:off x="5327852" y="917970"/>
            <a:ext cx="779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19703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/>
      <p:bldP spid="2" grpId="0"/>
      <p:bldP spid="2" grpId="1"/>
      <p:bldP spid="26" grpId="0"/>
      <p:bldP spid="26" grpId="1"/>
      <p:bldP spid="28" grpId="0"/>
      <p:bldP spid="28" grpId="1"/>
      <p:bldP spid="21" grpId="0" animBg="1"/>
      <p:bldP spid="34" grpId="0"/>
      <p:bldP spid="20" grpId="0" animBg="1"/>
      <p:bldP spid="33" grpId="0"/>
      <p:bldP spid="32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Twinkl Planit">
      <a:majorFont>
        <a:latin typeface="Sassoon Infant Md"/>
        <a:ea typeface=""/>
        <a:cs typeface=""/>
      </a:majorFont>
      <a:minorFont>
        <a:latin typeface="Sassoon Infant Rg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</TotalTime>
  <Words>208</Words>
  <Application>Microsoft Office PowerPoint</Application>
  <PresentationFormat>On-screen Show (4:3)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Sassoon Infant Md</vt:lpstr>
      <vt:lpstr>Calibri</vt:lpstr>
      <vt:lpstr>Sassoon Infant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Geography</dc:title>
  <dc:creator>Twinkl</dc:creator>
  <cp:lastModifiedBy>Lamis Adel</cp:lastModifiedBy>
  <cp:revision>112</cp:revision>
  <dcterms:created xsi:type="dcterms:W3CDTF">2014-10-01T16:09:27Z</dcterms:created>
  <dcterms:modified xsi:type="dcterms:W3CDTF">2026-10-17T09:09:25Z</dcterms:modified>
</cp:coreProperties>
</file>