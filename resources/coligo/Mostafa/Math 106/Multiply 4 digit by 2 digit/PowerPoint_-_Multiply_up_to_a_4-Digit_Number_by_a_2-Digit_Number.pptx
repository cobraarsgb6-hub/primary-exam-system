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handoutMasterIdLst>
    <p:handoutMasterId r:id="rId16"/>
  </p:handoutMasterIdLst>
  <p:sldIdLst>
    <p:sldId id="275" r:id="rId3"/>
    <p:sldId id="276" r:id="rId4"/>
    <p:sldId id="278" r:id="rId5"/>
    <p:sldId id="279" r:id="rId6"/>
    <p:sldId id="290" r:id="rId7"/>
    <p:sldId id="292" r:id="rId8"/>
    <p:sldId id="282" r:id="rId9"/>
    <p:sldId id="291" r:id="rId10"/>
    <p:sldId id="284" r:id="rId11"/>
    <p:sldId id="288" r:id="rId12"/>
    <p:sldId id="277" r:id="rId13"/>
    <p:sldId id="286" r:id="rId14"/>
  </p:sldIdLst>
  <p:sldSz cx="9144000" cy="6858000" type="screen4x3"/>
  <p:notesSz cx="6858000" cy="9144000"/>
  <p:embeddedFontLst>
    <p:embeddedFont>
      <p:font typeface="Twinkl" pitchFamily="50" charset="0"/>
      <p:regular r:id="rId20"/>
      <p:bold r:id="rId21"/>
    </p:embeddedFont>
    <p:embeddedFont>
      <p:font typeface="Roboto" panose="02000000000000000000" pitchFamily="2" charset="0"/>
      <p:regular r:id="rId22"/>
      <p:bold r:id="rId23"/>
      <p:italic r:id="rId24"/>
      <p:boldItalic r:id="rId25"/>
    </p:embeddedFont>
    <p:embeddedFont>
      <p:font typeface="Twinkl"/>
      <p:regular r:id="rId26"/>
      <p:bold r:id="rId27"/>
    </p:embeddedFont>
    <p:embeddedFont>
      <p:font typeface="Microsoft YaHei" panose="020B0503020204020204" charset="-122"/>
      <p:regular r:id="rId28"/>
      <p:bold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75" userDrawn="1">
          <p15:clr>
            <a:srgbClr val="A4A3A4"/>
          </p15:clr>
        </p15:guide>
        <p15:guide id="5" orient="horz" pos="3952" userDrawn="1">
          <p15:clr>
            <a:srgbClr val="A4A3A4"/>
          </p15:clr>
        </p15:guide>
        <p15:guide id="6" pos="5420" userDrawn="1">
          <p15:clr>
            <a:srgbClr val="A4A3A4"/>
          </p15:clr>
        </p15:guide>
        <p15:guide id="7" orient="horz" pos="384" userDrawn="1">
          <p15:clr>
            <a:srgbClr val="A4A3A4"/>
          </p15:clr>
        </p15:guide>
        <p15:guide id="8" pos="476" userDrawn="1">
          <p15:clr>
            <a:srgbClr val="A4A3A4"/>
          </p15:clr>
        </p15:guide>
        <p15:guide id="9" orient="horz" pos="504" userDrawn="1">
          <p15:clr>
            <a:srgbClr val="A4A3A4"/>
          </p15:clr>
        </p15:guide>
        <p15:guide id="10" orient="horz" pos="3838" userDrawn="1">
          <p15:clr>
            <a:srgbClr val="A4A3A4"/>
          </p15:clr>
        </p15:guide>
        <p15:guide id="11" pos="52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9429"/>
    <a:srgbClr val="D9EAD3"/>
    <a:srgbClr val="0079C3"/>
    <a:srgbClr val="AFDEF9"/>
    <a:srgbClr val="11743A"/>
    <a:srgbClr val="009640"/>
    <a:srgbClr val="87BD31"/>
    <a:srgbClr val="FFE76D"/>
    <a:srgbClr val="072F54"/>
    <a:srgbClr val="0034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33" autoAdjust="0"/>
    <p:restoredTop sz="94660"/>
  </p:normalViewPr>
  <p:slideViewPr>
    <p:cSldViewPr snapToGrid="0" showGuides="1">
      <p:cViewPr varScale="1">
        <p:scale>
          <a:sx n="82" d="100"/>
          <a:sy n="82" d="100"/>
        </p:scale>
        <p:origin x="926" y="72"/>
      </p:cViewPr>
      <p:guideLst>
        <p:guide orient="horz" pos="2160"/>
        <p:guide pos="2880"/>
        <p:guide pos="375"/>
        <p:guide orient="horz" pos="3952"/>
        <p:guide pos="5420"/>
        <p:guide orient="horz" pos="384"/>
        <p:guide pos="476"/>
        <p:guide orient="horz" pos="504"/>
        <p:guide orient="horz" pos="3838"/>
        <p:guide pos="5284"/>
      </p:guideLst>
    </p:cSldViewPr>
  </p:slideViewPr>
  <p:notesTextViewPr>
    <p:cViewPr>
      <p:scale>
        <a:sx n="3" d="2"/>
        <a:sy n="3" d="2"/>
      </p:scale>
      <p:origin x="0" y="0"/>
    </p:cViewPr>
  </p:notesTextViewPr>
  <p:notesViewPr>
    <p:cSldViewPr snapToGrid="0">
      <p:cViewPr varScale="1">
        <p:scale>
          <a:sx n="77" d="100"/>
          <a:sy n="77" d="100"/>
        </p:scale>
        <p:origin x="2646"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4.fntdata"/><Relationship Id="rId32" Type="http://schemas.openxmlformats.org/officeDocument/2006/relationships/font" Target="fonts/font13.fntdata"/><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gr/resources/white-rose-maths-resources/year-6-white-rose-maths-resources-key-stage-1-year-1-year-2/autumn-block-2-addition-subtraction-multiplication-and-division-year-6-white-rose-maths-resources-key-stage-1-year-1-year-2"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twinkl.gr/resources/white-rose-maths-resources/year-6-white-rose-maths-resources-key-stage-1-year-1-year-2/autumn-block-2-addition-subtraction-multiplication-and-division-year-6-white-rose-maths-resources-key-stage-1-year-1-year-2" TargetMode="External"/><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106266" y="5978121"/>
            <a:ext cx="1189133"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hlinkClick r:id="rId3"/>
          </p:cNvPr>
          <p:cNvSpPr/>
          <p:nvPr userDrawn="1"/>
        </p:nvSpPr>
        <p:spPr>
          <a:xfrm>
            <a:off x="8460509" y="5978121"/>
            <a:ext cx="574963"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endParaRPr lang="en-GB" sz="1350" dirty="0">
              <a:latin typeface="Twinkl" pitchFamily="50" charset="0"/>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endParaRPr lang="en-GB" sz="1350" dirty="0">
              <a:latin typeface="Twinkl" pitchFamily="50" charset="0"/>
            </a:endParaRPr>
          </a:p>
        </p:txBody>
      </p:sp>
      <p:sp>
        <p:nvSpPr>
          <p:cNvPr id="8" name="Title 5"/>
          <p:cNvSpPr>
            <a:spLocks noGrp="1"/>
          </p:cNvSpPr>
          <p:nvPr>
            <p:ph type="title"/>
          </p:nvPr>
        </p:nvSpPr>
        <p:spPr>
          <a:xfrm>
            <a:off x="457198" y="478895"/>
            <a:ext cx="8220075" cy="994306"/>
          </a:xfrm>
        </p:spPr>
        <p:txBody>
          <a:bodyPr>
            <a:noAutofit/>
          </a:bodyPr>
          <a:lstStyle>
            <a:lvl1pPr>
              <a:defRPr>
                <a:latin typeface="Twinkl" pitchFamily="50" charset="0"/>
              </a:defRPr>
            </a:lvl1pPr>
          </a:lstStyle>
          <a:p>
            <a:r>
              <a:rPr lang="en-US"/>
              <a:t>Click to edit Master title style</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106266" y="5978121"/>
            <a:ext cx="1189133"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hlinkClick r:id="rId3"/>
          </p:cNvPr>
          <p:cNvSpPr/>
          <p:nvPr userDrawn="1"/>
        </p:nvSpPr>
        <p:spPr>
          <a:xfrm>
            <a:off x="8432800" y="5978121"/>
            <a:ext cx="639617"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19.png"/><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22.jpeg"/><Relationship Id="rId5" Type="http://schemas.openxmlformats.org/officeDocument/2006/relationships/hyperlink" Target="https://www.twinkl.co.uk/resource/tp2-m-5718-planit-y6-addition-subtraction-multiplication-and-division-lesson-pack-long-multiplication-3" TargetMode="External"/><Relationship Id="rId4" Type="http://schemas.openxmlformats.org/officeDocument/2006/relationships/image" Target="../media/image21.jpeg"/><Relationship Id="rId3" Type="http://schemas.openxmlformats.org/officeDocument/2006/relationships/hyperlink" Target="https://www.twinkl.co.uk/resource/tp2-m-5717-planit-y6-addition-subtraction-multiplication-and-division-lesson-pack-long-multiplication-2" TargetMode="External"/><Relationship Id="rId2" Type="http://schemas.openxmlformats.org/officeDocument/2006/relationships/image" Target="../media/image20.png"/><Relationship Id="rId1" Type="http://schemas.openxmlformats.org/officeDocument/2006/relationships/hyperlink" Target="https://www.twinkl.gr/resources/planit-maths-primary-teaching-resources/planit-maths-primary-teaching-resources-year-6/planit-maths-primary-teaching-resources-year-6-number---addition-subtraction-multiplication-and-divis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461962" y="762000"/>
            <a:ext cx="8220075" cy="652318"/>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4000" b="1" kern="1200">
                <a:solidFill>
                  <a:srgbClr val="1C1C1C"/>
                </a:solidFill>
                <a:latin typeface="Twinkl SemiBold" pitchFamily="2"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GB" altLang="en-US" sz="2800" b="1" i="0" u="none" strike="noStrike" kern="1200" cap="none" spc="0" normalizeH="0" baseline="0" noProof="0" dirty="0">
                <a:ln>
                  <a:noFill/>
                </a:ln>
                <a:solidFill>
                  <a:srgbClr val="014482"/>
                </a:solidFill>
                <a:effectLst/>
                <a:uLnTx/>
                <a:uFillTx/>
                <a:latin typeface="Roboto" panose="02000000000000000000" pitchFamily="2" charset="0"/>
                <a:ea typeface="Roboto" panose="02000000000000000000" pitchFamily="2" charset="0"/>
                <a:cs typeface="Arial" panose="020B0604020202020204" pitchFamily="34" charset="0"/>
              </a:rPr>
              <a:t>Diving into Mastery Guidance for Educators</a:t>
            </a:r>
            <a:endParaRPr kumimoji="0" lang="en-GB" altLang="en-US" sz="2800" b="1" i="0" u="none" strike="noStrike" kern="1200" cap="none" spc="0" normalizeH="0" baseline="0" noProof="0" dirty="0">
              <a:ln>
                <a:noFill/>
              </a:ln>
              <a:solidFill>
                <a:srgbClr val="014482"/>
              </a:solidFill>
              <a:effectLst/>
              <a:uLnTx/>
              <a:uFillTx/>
              <a:latin typeface="Roboto" panose="02000000000000000000" pitchFamily="2" charset="0"/>
              <a:ea typeface="Roboto" panose="02000000000000000000" pitchFamily="2" charset="0"/>
              <a:cs typeface="Arial" panose="020B0604020202020204" pitchFamily="34" charset="0"/>
            </a:endParaRPr>
          </a:p>
        </p:txBody>
      </p:sp>
      <p:sp>
        <p:nvSpPr>
          <p:cNvPr id="4" name="Rectangle 3"/>
          <p:cNvSpPr/>
          <p:nvPr/>
        </p:nvSpPr>
        <p:spPr>
          <a:xfrm>
            <a:off x="761153" y="1994284"/>
            <a:ext cx="3196589" cy="3795053"/>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dirty="0">
              <a:ln>
                <a:noFill/>
              </a:ln>
              <a:solidFill>
                <a:sysClr val="windowText" lastClr="000000"/>
              </a:solidFill>
              <a:effectLst/>
              <a:uLnTx/>
              <a:uFillTx/>
              <a:latin typeface="Twinkl" pitchFamily="50" charset="0"/>
            </a:endParaRPr>
          </a:p>
        </p:txBody>
      </p:sp>
      <p:sp>
        <p:nvSpPr>
          <p:cNvPr id="5" name="Rectangle 4"/>
          <p:cNvSpPr/>
          <p:nvPr/>
        </p:nvSpPr>
        <p:spPr>
          <a:xfrm>
            <a:off x="769943" y="1341966"/>
            <a:ext cx="7623169" cy="584775"/>
          </a:xfrm>
          <a:prstGeom prst="rect">
            <a:avLst/>
          </a:prstGeom>
        </p:spPr>
        <p:txBody>
          <a:bodyPr wrap="square">
            <a:spAutoFit/>
          </a:bodyPr>
          <a:lstStyle/>
          <a:p>
            <a:pPr algn="just"/>
            <a:r>
              <a:rPr lang="en-GB" sz="1600" dirty="0">
                <a:latin typeface="Roboto" panose="02000000000000000000" pitchFamily="2" charset="0"/>
                <a:ea typeface="Roboto" panose="02000000000000000000" pitchFamily="2" charset="0"/>
              </a:rPr>
              <a:t>Each activity sheet is split into three sections, diving, deeper and deepest, which are represented by the following icons:</a:t>
            </a:r>
            <a:endParaRPr lang="en-GB" sz="1600" dirty="0">
              <a:latin typeface="Roboto" panose="02000000000000000000" pitchFamily="2" charset="0"/>
              <a:ea typeface="Roboto" panose="02000000000000000000" pitchFamily="2" charset="0"/>
            </a:endParaRPr>
          </a:p>
        </p:txBody>
      </p:sp>
      <p:sp>
        <p:nvSpPr>
          <p:cNvPr id="6" name="Rectangle 5"/>
          <p:cNvSpPr/>
          <p:nvPr/>
        </p:nvSpPr>
        <p:spPr>
          <a:xfrm>
            <a:off x="4184822" y="1936618"/>
            <a:ext cx="4208289" cy="3046988"/>
          </a:xfrm>
          <a:prstGeom prst="rect">
            <a:avLst/>
          </a:prstGeom>
        </p:spPr>
        <p:txBody>
          <a:bodyPr wrap="square" lIns="0" tIns="0" rIns="0" bIns="0">
            <a:spAutoFit/>
          </a:bodyPr>
          <a:lstStyle/>
          <a:p>
            <a:pPr algn="just"/>
            <a:r>
              <a:rPr lang="en-GB" sz="1600" dirty="0">
                <a:latin typeface="Roboto" panose="02000000000000000000" pitchFamily="2" charset="0"/>
                <a:ea typeface="Roboto" panose="02000000000000000000" pitchFamily="2" charset="0"/>
              </a:rPr>
              <a:t>These carefully designed activities take your children through a learning journey, initially ensuring they are fluent with the key concept being taught; then applying this to a range of reasoning and problem-solving activities. </a:t>
            </a:r>
            <a:endParaRPr lang="en-GB" sz="1600" dirty="0">
              <a:latin typeface="Roboto" panose="02000000000000000000" pitchFamily="2" charset="0"/>
              <a:ea typeface="Roboto" panose="02000000000000000000" pitchFamily="2" charset="0"/>
            </a:endParaRPr>
          </a:p>
          <a:p>
            <a:pPr algn="just"/>
            <a:endParaRPr lang="en-GB" sz="1600" dirty="0">
              <a:latin typeface="Roboto" panose="02000000000000000000" pitchFamily="2" charset="0"/>
              <a:ea typeface="Roboto" panose="02000000000000000000" pitchFamily="2" charset="0"/>
            </a:endParaRPr>
          </a:p>
          <a:p>
            <a:pPr algn="just"/>
            <a:r>
              <a:rPr lang="en-GB" sz="1600" dirty="0">
                <a:latin typeface="Roboto" panose="02000000000000000000" pitchFamily="2" charset="0"/>
                <a:ea typeface="Roboto" panose="02000000000000000000" pitchFamily="2" charset="0"/>
              </a:rPr>
              <a:t>These sheets might not necessarily be used in a linear way. Some children might begin at the ‘Deeper’ section and in fact, others may ‘dive straight in’ to the ‘Deepest’ section if they have already mastered the skill and are applying this to show their depth of understanding. </a:t>
            </a:r>
            <a:endParaRPr lang="en-GB" sz="1600" dirty="0">
              <a:latin typeface="Roboto" panose="02000000000000000000" pitchFamily="2" charset="0"/>
              <a:ea typeface="Roboto" panose="02000000000000000000" pitchFamily="2" charset="0"/>
            </a:endParaRPr>
          </a:p>
        </p:txBody>
      </p:sp>
      <p:grpSp>
        <p:nvGrpSpPr>
          <p:cNvPr id="7" name="Group 6"/>
          <p:cNvGrpSpPr/>
          <p:nvPr/>
        </p:nvGrpSpPr>
        <p:grpSpPr>
          <a:xfrm>
            <a:off x="1213030" y="2423057"/>
            <a:ext cx="2292835" cy="2937506"/>
            <a:chOff x="1213030" y="2423057"/>
            <a:chExt cx="2292835" cy="2937506"/>
          </a:xfrm>
        </p:grpSpPr>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13030" y="2423057"/>
              <a:ext cx="868680" cy="868680"/>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030" y="3457470"/>
              <a:ext cx="868680" cy="86868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3030" y="4491883"/>
              <a:ext cx="868680" cy="868680"/>
            </a:xfrm>
            <a:prstGeom prst="rect">
              <a:avLst/>
            </a:prstGeom>
          </p:spPr>
        </p:pic>
        <p:sp>
          <p:nvSpPr>
            <p:cNvPr id="11" name="Arrow: Pentagon 11"/>
            <p:cNvSpPr/>
            <p:nvPr/>
          </p:nvSpPr>
          <p:spPr>
            <a:xfrm flipH="1">
              <a:off x="2180298" y="2674517"/>
              <a:ext cx="1325567" cy="365760"/>
            </a:xfrm>
            <a:prstGeom prst="homePlate">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Diving</a:t>
              </a:r>
              <a:endParaRPr lang="en-US" b="1" dirty="0">
                <a:solidFill>
                  <a:schemeClr val="bg1"/>
                </a:solidFill>
              </a:endParaRPr>
            </a:p>
          </p:txBody>
        </p:sp>
        <p:sp>
          <p:nvSpPr>
            <p:cNvPr id="12" name="Arrow: Pentagon 12"/>
            <p:cNvSpPr/>
            <p:nvPr/>
          </p:nvSpPr>
          <p:spPr>
            <a:xfrm flipH="1">
              <a:off x="2180298" y="3708930"/>
              <a:ext cx="1325567" cy="365760"/>
            </a:xfrm>
            <a:prstGeom prst="homePlate">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Deeper</a:t>
              </a:r>
              <a:endParaRPr lang="en-US" b="1" dirty="0">
                <a:solidFill>
                  <a:schemeClr val="bg1"/>
                </a:solidFill>
              </a:endParaRPr>
            </a:p>
          </p:txBody>
        </p:sp>
        <p:sp>
          <p:nvSpPr>
            <p:cNvPr id="13" name="Arrow: Pentagon 13"/>
            <p:cNvSpPr/>
            <p:nvPr/>
          </p:nvSpPr>
          <p:spPr>
            <a:xfrm flipH="1">
              <a:off x="2180298" y="4743343"/>
              <a:ext cx="1325567" cy="365760"/>
            </a:xfrm>
            <a:prstGeom prst="homePlate">
              <a:avLst/>
            </a:prstGeom>
            <a:solidFill>
              <a:srgbClr val="00529C"/>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Deepest</a:t>
              </a:r>
              <a:endParaRPr lang="en-US" b="1" dirty="0">
                <a:solidFill>
                  <a:schemeClr val="bg1"/>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endParaRPr lang="en-GB" sz="1350" dirty="0">
              <a:latin typeface="Twinkl" pitchFamily="50" charset="0"/>
            </a:endParaRPr>
          </a:p>
        </p:txBody>
      </p:sp>
      <p:sp>
        <p:nvSpPr>
          <p:cNvPr id="13" name="Title 1"/>
          <p:cNvSpPr txBox="1"/>
          <p:nvPr/>
        </p:nvSpPr>
        <p:spPr>
          <a:xfrm>
            <a:off x="628648" y="734785"/>
            <a:ext cx="7886700" cy="540000"/>
          </a:xfrm>
          <a:prstGeom prst="rect">
            <a:avLst/>
          </a:prstGeom>
        </p:spPr>
        <p:txBody>
          <a:bodyPr lIns="0" tIns="0" rIns="0" bIns="0" anchor="ctr" anchorCtr="1">
            <a:noAutofit/>
          </a:bodyPr>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r>
              <a:rPr lang="en-GB" sz="3600" i="0" dirty="0">
                <a:solidFill>
                  <a:srgbClr val="202124"/>
                </a:solidFill>
                <a:effectLst/>
                <a:latin typeface="+mn-lt"/>
              </a:rPr>
              <a:t>National Curriculum Aim</a:t>
            </a:r>
            <a:endParaRPr lang="en-US" sz="3600" dirty="0">
              <a:latin typeface="+mn-lt"/>
            </a:endParaRPr>
          </a:p>
        </p:txBody>
      </p:sp>
      <p:sp>
        <p:nvSpPr>
          <p:cNvPr id="14" name="Content Placeholder 15"/>
          <p:cNvSpPr txBox="1"/>
          <p:nvPr/>
        </p:nvSpPr>
        <p:spPr>
          <a:xfrm>
            <a:off x="628650" y="1127760"/>
            <a:ext cx="7886700" cy="1409700"/>
          </a:xfrm>
          <a:prstGeom prst="roundRect">
            <a:avLst>
              <a:gd name="adj" fmla="val 2585"/>
            </a:avLst>
          </a:prstGeom>
          <a:noFill/>
          <a:ln w="25400">
            <a:noFill/>
          </a:ln>
        </p:spPr>
        <p:txBody>
          <a:bodyPr vert="horz" lIns="252000" tIns="252000" rIns="252000" bIns="25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dirty="0">
                <a:solidFill>
                  <a:srgbClr val="000000"/>
                </a:solidFill>
              </a:rPr>
              <a:t>Multiply multi-digit numbers up to 4 digits by a two-digit whole number using the formal written method of long multiplication</a:t>
            </a:r>
            <a:endParaRPr lang="en-US"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p:cNvSpPr/>
          <p:nvPr/>
        </p:nvSpPr>
        <p:spPr>
          <a:xfrm>
            <a:off x="445574" y="684687"/>
            <a:ext cx="5339406"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sp>
        <p:nvSpPr>
          <p:cNvPr id="97" name="Rectangle 96"/>
          <p:cNvSpPr/>
          <p:nvPr/>
        </p:nvSpPr>
        <p:spPr>
          <a:xfrm>
            <a:off x="5784980" y="684687"/>
            <a:ext cx="976684" cy="391628"/>
          </a:xfrm>
          <a:prstGeom prst="rect">
            <a:avLst/>
          </a:prstGeom>
          <a:solidFill>
            <a:srgbClr val="4EB2E5"/>
          </a:solidFill>
        </p:spPr>
        <p:txBody>
          <a:bodyPr wrap="square" lIns="180000" tIns="72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cxnSp>
        <p:nvCxnSpPr>
          <p:cNvPr id="103" name="Straight Connector 102"/>
          <p:cNvCxnSpPr/>
          <p:nvPr/>
        </p:nvCxnSpPr>
        <p:spPr>
          <a:xfrm>
            <a:off x="5762872" y="609600"/>
            <a:ext cx="0" cy="5312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55650" y="1232955"/>
            <a:ext cx="7632700" cy="276999"/>
          </a:xfrm>
          <a:prstGeom prst="rect">
            <a:avLst/>
          </a:prstGeom>
          <a:noFill/>
        </p:spPr>
        <p:txBody>
          <a:bodyPr wrap="square" lIns="0" tIns="0" rIns="0" bIns="0" rtlCol="0">
            <a:spAutoFit/>
          </a:bodyPr>
          <a:lstStyle/>
          <a:p>
            <a:pPr marL="0" lvl="0" indent="0" algn="l" rtl="0">
              <a:spcBef>
                <a:spcPts val="0"/>
              </a:spcBef>
              <a:spcAft>
                <a:spcPts val="0"/>
              </a:spcAft>
              <a:buClr>
                <a:schemeClr val="dk1"/>
              </a:buClr>
              <a:buSzPts val="1400"/>
              <a:buFont typeface="Arial" panose="020B0604020202020204"/>
              <a:buNone/>
            </a:pPr>
            <a:r>
              <a:rPr lang="en-US" sz="1800" dirty="0">
                <a:solidFill>
                  <a:schemeClr val="dk1"/>
                </a:solidFill>
                <a:latin typeface="Twinkl"/>
                <a:ea typeface="Twinkl"/>
                <a:cs typeface="Twinkl"/>
                <a:sym typeface="Twinkl"/>
              </a:rPr>
              <a:t>Use long multiplication to complete each calculation.</a:t>
            </a:r>
            <a:endParaRPr lang="en-US" sz="1800" dirty="0"/>
          </a:p>
        </p:txBody>
      </p:sp>
      <p:graphicFrame>
        <p:nvGraphicFramePr>
          <p:cNvPr id="4" name="Google Shape;65;p10"/>
          <p:cNvGraphicFramePr/>
          <p:nvPr/>
        </p:nvGraphicFramePr>
        <p:xfrm>
          <a:off x="4858921" y="2618406"/>
          <a:ext cx="2671500" cy="2923980"/>
        </p:xfrm>
        <a:graphic>
          <a:graphicData uri="http://schemas.openxmlformats.org/drawingml/2006/table">
            <a:tbl>
              <a:tblPr>
                <a:noFill/>
              </a:tblPr>
              <a:tblGrid>
                <a:gridCol w="445250"/>
                <a:gridCol w="445250"/>
                <a:gridCol w="445250"/>
                <a:gridCol w="445250"/>
                <a:gridCol w="445250"/>
                <a:gridCol w="445250"/>
              </a:tblGrid>
              <a:tr h="487330">
                <a:tc>
                  <a:txBody>
                    <a:bodyPr/>
                    <a:lstStyle/>
                    <a:p>
                      <a:pPr marL="0" lvl="0" indent="0" algn="ctr" rtl="0">
                        <a:spcBef>
                          <a:spcPts val="0"/>
                        </a:spcBef>
                        <a:spcAft>
                          <a:spcPts val="0"/>
                        </a:spcAft>
                        <a:buNone/>
                      </a:pP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3</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8</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4</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t>2</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t>9</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5</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7</a:t>
                      </a:r>
                      <a:r>
                        <a:rPr lang="en-GB" sz="1800" b="1" baseline="-25000" dirty="0">
                          <a:solidFill>
                            <a:schemeClr val="tx1"/>
                          </a:solidFill>
                        </a:rPr>
                        <a:t>3</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4</a:t>
                      </a:r>
                      <a:r>
                        <a:rPr lang="en-GB" sz="1800" b="1" baseline="-25000" dirty="0">
                          <a:solidFill>
                            <a:schemeClr val="tx1"/>
                          </a:solidFill>
                        </a:rPr>
                        <a:t>7</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5</a:t>
                      </a:r>
                      <a:r>
                        <a:rPr lang="en-GB" sz="1800" b="1" baseline="-25000" dirty="0">
                          <a:solidFill>
                            <a:schemeClr val="tx1"/>
                          </a:solidFill>
                        </a:rPr>
                        <a:t>3</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6</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r>
                        <a:rPr lang="en-GB" sz="1800" b="1" dirty="0">
                          <a:solidFill>
                            <a:schemeClr val="tx1"/>
                          </a:solidFill>
                        </a:rPr>
                        <a:t>1</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2</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7</a:t>
                      </a:r>
                      <a:r>
                        <a:rPr lang="en-GB" sz="1800" b="1" baseline="-25000" dirty="0">
                          <a:solidFill>
                            <a:schemeClr val="tx1"/>
                          </a:solidFill>
                        </a:rPr>
                        <a:t>1</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6</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8</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0</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r>
                        <a:rPr lang="en-GB" sz="1800" b="1">
                          <a:solidFill>
                            <a:schemeClr val="tx1"/>
                          </a:solidFill>
                        </a:rPr>
                        <a:t>1</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tx1"/>
                          </a:solidFill>
                        </a:rPr>
                        <a:t>8</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tx1"/>
                          </a:solidFill>
                        </a:rPr>
                        <a:t>5</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tx1"/>
                          </a:solidFill>
                        </a:rPr>
                        <a:t>1</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tx1"/>
                          </a:solidFill>
                        </a:rPr>
                        <a:t>3</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6</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endParaRPr sz="180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400" b="1">
                          <a:solidFill>
                            <a:schemeClr val="tx1"/>
                          </a:solidFill>
                        </a:rPr>
                        <a:t>1</a:t>
                      </a:r>
                      <a:endParaRPr sz="1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400" b="1">
                          <a:solidFill>
                            <a:schemeClr val="tx1"/>
                          </a:solidFill>
                        </a:rPr>
                        <a:t>1</a:t>
                      </a:r>
                      <a:endParaRPr sz="1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400" b="1" dirty="0">
                          <a:solidFill>
                            <a:schemeClr val="tx1"/>
                          </a:solidFill>
                        </a:rPr>
                        <a:t>1</a:t>
                      </a:r>
                      <a:endParaRPr sz="1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6" name="Google Shape;76;p10"/>
          <p:cNvSpPr/>
          <p:nvPr/>
        </p:nvSpPr>
        <p:spPr>
          <a:xfrm>
            <a:off x="846400" y="1685919"/>
            <a:ext cx="2671500" cy="638700"/>
          </a:xfrm>
          <a:prstGeom prst="rect">
            <a:avLst/>
          </a:prstGeom>
          <a:solidFill>
            <a:srgbClr val="AFDEF9"/>
          </a:solidFill>
          <a:ln w="28575" cap="flat" cmpd="sng">
            <a:solidFill>
              <a:srgbClr val="0079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latin typeface="Twinkl"/>
                <a:ea typeface="Twinkl"/>
                <a:cs typeface="Twinkl"/>
                <a:sym typeface="Twinkl"/>
              </a:rPr>
              <a:t>5604 × 37</a:t>
            </a:r>
            <a:endParaRPr dirty="0"/>
          </a:p>
        </p:txBody>
      </p:sp>
      <p:sp>
        <p:nvSpPr>
          <p:cNvPr id="7" name="Google Shape;77;p10"/>
          <p:cNvSpPr/>
          <p:nvPr/>
        </p:nvSpPr>
        <p:spPr>
          <a:xfrm>
            <a:off x="4858921" y="1685256"/>
            <a:ext cx="2671500" cy="638700"/>
          </a:xfrm>
          <a:prstGeom prst="rect">
            <a:avLst/>
          </a:prstGeom>
          <a:solidFill>
            <a:srgbClr val="AFDEF9"/>
          </a:solidFill>
          <a:ln w="28575" cap="flat" cmpd="sng">
            <a:solidFill>
              <a:srgbClr val="0079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Twinkl"/>
                <a:ea typeface="Twinkl"/>
                <a:cs typeface="Twinkl"/>
                <a:sym typeface="Twinkl"/>
              </a:rPr>
              <a:t>6384 × 29</a:t>
            </a:r>
            <a:endParaRPr lang="en-GB">
              <a:latin typeface="Twinkl"/>
              <a:ea typeface="Twinkl"/>
              <a:cs typeface="Twinkl"/>
              <a:sym typeface="Twinkl"/>
            </a:endParaRPr>
          </a:p>
        </p:txBody>
      </p:sp>
      <p:sp>
        <p:nvSpPr>
          <p:cNvPr id="11" name="Google Shape;66;p10"/>
          <p:cNvSpPr txBox="1"/>
          <p:nvPr/>
        </p:nvSpPr>
        <p:spPr>
          <a:xfrm>
            <a:off x="7490900" y="4117720"/>
            <a:ext cx="179490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(6384 × 20)</a:t>
            </a:r>
            <a:endParaRPr sz="1600" dirty="0">
              <a:solidFill>
                <a:schemeClr val="dk1"/>
              </a:solidFill>
            </a:endParaRPr>
          </a:p>
        </p:txBody>
      </p:sp>
      <p:sp>
        <p:nvSpPr>
          <p:cNvPr id="14" name="Google Shape;69;p10"/>
          <p:cNvSpPr txBox="1"/>
          <p:nvPr/>
        </p:nvSpPr>
        <p:spPr>
          <a:xfrm>
            <a:off x="7490843" y="3656527"/>
            <a:ext cx="152070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(6384 × 9)</a:t>
            </a:r>
            <a:endParaRPr sz="1600" dirty="0">
              <a:solidFill>
                <a:schemeClr val="dk1"/>
              </a:solidFill>
            </a:endParaRPr>
          </a:p>
        </p:txBody>
      </p:sp>
      <p:cxnSp>
        <p:nvCxnSpPr>
          <p:cNvPr id="17" name="Google Shape;70;p10"/>
          <p:cNvCxnSpPr/>
          <p:nvPr/>
        </p:nvCxnSpPr>
        <p:spPr>
          <a:xfrm>
            <a:off x="5320640" y="3578715"/>
            <a:ext cx="2209423" cy="0"/>
          </a:xfrm>
          <a:prstGeom prst="straightConnector1">
            <a:avLst/>
          </a:prstGeom>
          <a:noFill/>
          <a:ln w="38100" cap="flat" cmpd="sng">
            <a:solidFill>
              <a:schemeClr val="dk2"/>
            </a:solidFill>
            <a:prstDash val="solid"/>
            <a:round/>
            <a:headEnd type="none" w="med" len="med"/>
            <a:tailEnd type="none" w="med" len="med"/>
          </a:ln>
        </p:spPr>
      </p:cxnSp>
      <p:grpSp>
        <p:nvGrpSpPr>
          <p:cNvPr id="79" name="Group 78"/>
          <p:cNvGrpSpPr/>
          <p:nvPr/>
        </p:nvGrpSpPr>
        <p:grpSpPr>
          <a:xfrm>
            <a:off x="840218" y="2599744"/>
            <a:ext cx="4117369" cy="2923980"/>
            <a:chOff x="840218" y="2599744"/>
            <a:chExt cx="4117369" cy="2923980"/>
          </a:xfrm>
        </p:grpSpPr>
        <p:graphicFrame>
          <p:nvGraphicFramePr>
            <p:cNvPr id="3" name="Google Shape;64;p10"/>
            <p:cNvGraphicFramePr/>
            <p:nvPr/>
          </p:nvGraphicFramePr>
          <p:xfrm>
            <a:off x="846400" y="2599744"/>
            <a:ext cx="2671500" cy="2923980"/>
          </p:xfrm>
          <a:graphic>
            <a:graphicData uri="http://schemas.openxmlformats.org/drawingml/2006/table">
              <a:tbl>
                <a:tblPr>
                  <a:noFill/>
                </a:tblPr>
                <a:tblGrid>
                  <a:gridCol w="445250"/>
                  <a:gridCol w="445250"/>
                  <a:gridCol w="445250"/>
                  <a:gridCol w="445250"/>
                  <a:gridCol w="445250"/>
                  <a:gridCol w="445250"/>
                </a:tblGrid>
                <a:tr h="487330">
                  <a:tc>
                    <a:txBody>
                      <a:bodyPr/>
                      <a:lstStyle/>
                      <a:p>
                        <a:pPr marL="0" lvl="0" indent="0" algn="ctr" rtl="0">
                          <a:spcBef>
                            <a:spcPts val="0"/>
                          </a:spcBef>
                          <a:spcAft>
                            <a:spcPts val="0"/>
                          </a:spcAft>
                          <a:buNone/>
                        </a:pP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5</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6</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0</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4</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t>3</a:t>
                        </a:r>
                        <a:endParaRPr sz="18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dirty="0"/>
                          <a:t>7</a:t>
                        </a:r>
                        <a:endParaRPr sz="18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endParaRPr sz="1800" dirty="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3</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9</a:t>
                        </a:r>
                        <a:r>
                          <a:rPr lang="en-GB" sz="1800" b="1" baseline="-25000" dirty="0">
                            <a:solidFill>
                              <a:schemeClr val="tx1"/>
                            </a:solidFill>
                          </a:rPr>
                          <a:t>4</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2</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2</a:t>
                        </a:r>
                        <a:r>
                          <a:rPr lang="en-GB" sz="1800" b="1" baseline="-25000" dirty="0">
                            <a:solidFill>
                              <a:schemeClr val="tx1"/>
                            </a:solidFill>
                          </a:rPr>
                          <a:t>2</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8</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r>
                          <a:rPr lang="en-GB" sz="1800" b="1" dirty="0">
                            <a:solidFill>
                              <a:schemeClr val="tx1"/>
                            </a:solidFill>
                          </a:rPr>
                          <a:t>1</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6</a:t>
                        </a:r>
                        <a:r>
                          <a:rPr lang="en-GB" sz="1800" b="1" baseline="-25000" dirty="0">
                            <a:solidFill>
                              <a:schemeClr val="tx1"/>
                            </a:solidFill>
                          </a:rPr>
                          <a:t>1</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8</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1</a:t>
                        </a:r>
                        <a:r>
                          <a:rPr lang="en-GB" sz="1800" b="1" baseline="-25000" dirty="0">
                            <a:solidFill>
                              <a:schemeClr val="tx1"/>
                            </a:solidFill>
                          </a:rPr>
                          <a:t>1</a:t>
                        </a:r>
                        <a:endParaRPr sz="18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2</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0</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None/>
                        </a:pPr>
                        <a:r>
                          <a:rPr lang="en-GB" sz="1800" b="1" dirty="0">
                            <a:solidFill>
                              <a:schemeClr val="tx1"/>
                            </a:solidFill>
                          </a:rPr>
                          <a:t>2</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0</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7</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3</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4</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tx1"/>
                            </a:solidFill>
                          </a:rPr>
                          <a:t>8</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87330">
                  <a:tc>
                    <a:txBody>
                      <a:bodyPr/>
                      <a:lstStyle/>
                      <a:p>
                        <a:pPr marL="0" lvl="0" indent="0" algn="ctr" rtl="0">
                          <a:spcBef>
                            <a:spcPts val="0"/>
                          </a:spcBef>
                          <a:spcAft>
                            <a:spcPts val="0"/>
                          </a:spcAft>
                          <a:buClr>
                            <a:schemeClr val="dk1"/>
                          </a:buClr>
                          <a:buSzPts val="1100"/>
                          <a:buFont typeface="Arial" panose="020B0604020202020204"/>
                          <a:buNone/>
                        </a:pPr>
                        <a:r>
                          <a:rPr lang="en-GB" sz="1400" b="1" dirty="0">
                            <a:solidFill>
                              <a:schemeClr val="tx1"/>
                            </a:solidFill>
                          </a:rPr>
                          <a:t>1</a:t>
                        </a:r>
                        <a:endParaRPr sz="1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400" b="1" dirty="0">
                            <a:solidFill>
                              <a:schemeClr val="tx1"/>
                            </a:solidFill>
                          </a:rPr>
                          <a:t>1</a:t>
                        </a:r>
                        <a:endParaRPr sz="1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accent4"/>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12" name="Google Shape;67;p10"/>
            <p:cNvSpPr txBox="1"/>
            <p:nvPr/>
          </p:nvSpPr>
          <p:spPr>
            <a:xfrm>
              <a:off x="3473143" y="4124638"/>
              <a:ext cx="1484444"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(5604 × 30)</a:t>
              </a:r>
              <a:endParaRPr sz="1600" dirty="0">
                <a:solidFill>
                  <a:schemeClr val="dk1"/>
                </a:solidFill>
              </a:endParaRPr>
            </a:p>
          </p:txBody>
        </p:sp>
        <p:sp>
          <p:nvSpPr>
            <p:cNvPr id="13" name="Google Shape;68;p10"/>
            <p:cNvSpPr txBox="1"/>
            <p:nvPr/>
          </p:nvSpPr>
          <p:spPr>
            <a:xfrm>
              <a:off x="3457899" y="3600034"/>
              <a:ext cx="1179545"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(5604 × 7)</a:t>
              </a:r>
              <a:endParaRPr sz="1600" dirty="0">
                <a:solidFill>
                  <a:schemeClr val="dk1"/>
                </a:solidFill>
              </a:endParaRPr>
            </a:p>
          </p:txBody>
        </p:sp>
        <p:cxnSp>
          <p:nvCxnSpPr>
            <p:cNvPr id="15" name="Google Shape;70;p10"/>
            <p:cNvCxnSpPr/>
            <p:nvPr/>
          </p:nvCxnSpPr>
          <p:spPr>
            <a:xfrm>
              <a:off x="1292973" y="3578715"/>
              <a:ext cx="2224927" cy="0"/>
            </a:xfrm>
            <a:prstGeom prst="straightConnector1">
              <a:avLst/>
            </a:prstGeom>
            <a:noFill/>
            <a:ln w="38100" cap="flat" cmpd="sng">
              <a:solidFill>
                <a:schemeClr val="dk2"/>
              </a:solidFill>
              <a:prstDash val="solid"/>
              <a:round/>
              <a:headEnd type="none" w="med" len="med"/>
              <a:tailEnd type="none" w="med" len="med"/>
            </a:ln>
          </p:spPr>
        </p:cxnSp>
        <p:cxnSp>
          <p:nvCxnSpPr>
            <p:cNvPr id="18" name="Google Shape;70;p10"/>
            <p:cNvCxnSpPr/>
            <p:nvPr/>
          </p:nvCxnSpPr>
          <p:spPr>
            <a:xfrm flipV="1">
              <a:off x="840218" y="4539768"/>
              <a:ext cx="2677682" cy="15726"/>
            </a:xfrm>
            <a:prstGeom prst="straightConnector1">
              <a:avLst/>
            </a:prstGeom>
            <a:noFill/>
            <a:ln w="38100" cap="flat" cmpd="sng">
              <a:solidFill>
                <a:schemeClr val="dk2"/>
              </a:solidFill>
              <a:prstDash val="solid"/>
              <a:round/>
              <a:headEnd type="none" w="med" len="med"/>
              <a:tailEnd type="none" w="med" len="med"/>
            </a:ln>
          </p:spPr>
        </p:cxnSp>
        <p:cxnSp>
          <p:nvCxnSpPr>
            <p:cNvPr id="19" name="Google Shape;70;p10"/>
            <p:cNvCxnSpPr/>
            <p:nvPr/>
          </p:nvCxnSpPr>
          <p:spPr>
            <a:xfrm>
              <a:off x="840218" y="5043622"/>
              <a:ext cx="2677682" cy="0"/>
            </a:xfrm>
            <a:prstGeom prst="straightConnector1">
              <a:avLst/>
            </a:prstGeom>
            <a:noFill/>
            <a:ln w="38100" cap="flat" cmpd="sng">
              <a:solidFill>
                <a:schemeClr val="dk2"/>
              </a:solidFill>
              <a:prstDash val="solid"/>
              <a:round/>
              <a:headEnd type="none" w="med" len="med"/>
              <a:tailEnd type="none" w="med" len="med"/>
            </a:ln>
          </p:spPr>
        </p:cxnSp>
      </p:grpSp>
      <p:cxnSp>
        <p:nvCxnSpPr>
          <p:cNvPr id="20" name="Google Shape;70;p10"/>
          <p:cNvCxnSpPr/>
          <p:nvPr/>
        </p:nvCxnSpPr>
        <p:spPr>
          <a:xfrm>
            <a:off x="4864246" y="4555494"/>
            <a:ext cx="2659993" cy="1746"/>
          </a:xfrm>
          <a:prstGeom prst="straightConnector1">
            <a:avLst/>
          </a:prstGeom>
          <a:noFill/>
          <a:ln w="38100" cap="flat" cmpd="sng">
            <a:solidFill>
              <a:schemeClr val="dk2"/>
            </a:solidFill>
            <a:prstDash val="solid"/>
            <a:round/>
            <a:headEnd type="none" w="med" len="med"/>
            <a:tailEnd type="none" w="med" len="med"/>
          </a:ln>
        </p:spPr>
      </p:cxnSp>
      <p:cxnSp>
        <p:nvCxnSpPr>
          <p:cNvPr id="21" name="Google Shape;70;p10"/>
          <p:cNvCxnSpPr/>
          <p:nvPr/>
        </p:nvCxnSpPr>
        <p:spPr>
          <a:xfrm>
            <a:off x="4843365" y="5043622"/>
            <a:ext cx="2680874" cy="5824"/>
          </a:xfrm>
          <a:prstGeom prst="straightConnector1">
            <a:avLst/>
          </a:prstGeom>
          <a:noFill/>
          <a:ln w="38100" cap="flat" cmpd="sng">
            <a:solidFill>
              <a:schemeClr val="dk2"/>
            </a:solidFill>
            <a:prstDash val="solid"/>
            <a:round/>
            <a:headEnd type="none" w="med" len="med"/>
            <a:tailEnd type="none" w="med" len="med"/>
          </a:ln>
        </p:spPr>
      </p:cxnSp>
      <p:grpSp>
        <p:nvGrpSpPr>
          <p:cNvPr id="27" name="Group 26"/>
          <p:cNvGrpSpPr/>
          <p:nvPr/>
        </p:nvGrpSpPr>
        <p:grpSpPr>
          <a:xfrm>
            <a:off x="1322754" y="3645820"/>
            <a:ext cx="2150389" cy="337309"/>
            <a:chOff x="1352938" y="3656527"/>
            <a:chExt cx="2150389" cy="337309"/>
          </a:xfrm>
        </p:grpSpPr>
        <p:sp>
          <p:nvSpPr>
            <p:cNvPr id="22" name="Rectangle 21"/>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 name="Rectangle 23"/>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tangle 24"/>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 name="Rectangle 25"/>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 name="Group 27"/>
          <p:cNvGrpSpPr/>
          <p:nvPr/>
        </p:nvGrpSpPr>
        <p:grpSpPr>
          <a:xfrm>
            <a:off x="876566" y="5115634"/>
            <a:ext cx="2595662" cy="337309"/>
            <a:chOff x="907665" y="3656527"/>
            <a:chExt cx="2595662" cy="337309"/>
          </a:xfrm>
        </p:grpSpPr>
        <p:sp>
          <p:nvSpPr>
            <p:cNvPr id="29" name="Rectangle 28"/>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29"/>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 name="Rectangle 30"/>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 name="Rectangle 31"/>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3" name="Rectangle 32"/>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4" name="Rectangle 33"/>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35" name="Group 34"/>
          <p:cNvGrpSpPr/>
          <p:nvPr/>
        </p:nvGrpSpPr>
        <p:grpSpPr>
          <a:xfrm>
            <a:off x="890287" y="4117864"/>
            <a:ext cx="2595662" cy="337309"/>
            <a:chOff x="907665" y="3656527"/>
            <a:chExt cx="2595662" cy="337309"/>
          </a:xfrm>
        </p:grpSpPr>
        <p:sp>
          <p:nvSpPr>
            <p:cNvPr id="36" name="Rectangle 35"/>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Rectangle 36"/>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8" name="Rectangle 37"/>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9" name="Rectangle 38"/>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0" name="Rectangle 39"/>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Rectangle 40"/>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42" name="Group 41"/>
          <p:cNvGrpSpPr/>
          <p:nvPr/>
        </p:nvGrpSpPr>
        <p:grpSpPr>
          <a:xfrm>
            <a:off x="884319" y="4616306"/>
            <a:ext cx="2595662" cy="337309"/>
            <a:chOff x="907665" y="3656527"/>
            <a:chExt cx="2595662" cy="337309"/>
          </a:xfrm>
        </p:grpSpPr>
        <p:sp>
          <p:nvSpPr>
            <p:cNvPr id="43" name="Rectangle 42"/>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4" name="Rectangle 43"/>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5" name="Rectangle 44"/>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6" name="Rectangle 45"/>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7" name="Rectangle 46"/>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8" name="Rectangle 47"/>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49" name="Group 48"/>
          <p:cNvGrpSpPr/>
          <p:nvPr/>
        </p:nvGrpSpPr>
        <p:grpSpPr>
          <a:xfrm>
            <a:off x="5340454" y="3664540"/>
            <a:ext cx="2150389" cy="337309"/>
            <a:chOff x="1352938" y="3656527"/>
            <a:chExt cx="2150389" cy="337309"/>
          </a:xfrm>
        </p:grpSpPr>
        <p:sp>
          <p:nvSpPr>
            <p:cNvPr id="50" name="Rectangle 49"/>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Rectangle 50"/>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ectangle 52"/>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4" name="Rectangle 53"/>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5" name="Group 54"/>
          <p:cNvGrpSpPr/>
          <p:nvPr/>
        </p:nvGrpSpPr>
        <p:grpSpPr>
          <a:xfrm>
            <a:off x="4896840" y="4148654"/>
            <a:ext cx="2595662" cy="337309"/>
            <a:chOff x="907665" y="3656527"/>
            <a:chExt cx="2595662" cy="337309"/>
          </a:xfrm>
        </p:grpSpPr>
        <p:sp>
          <p:nvSpPr>
            <p:cNvPr id="56" name="Rectangle 55"/>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7" name="Rectangle 56"/>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 name="Rectangle 57"/>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9" name="Rectangle 58"/>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0" name="Rectangle 59"/>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1" name="Rectangle 60"/>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62" name="Group 61"/>
          <p:cNvGrpSpPr/>
          <p:nvPr/>
        </p:nvGrpSpPr>
        <p:grpSpPr>
          <a:xfrm>
            <a:off x="4900589" y="4638205"/>
            <a:ext cx="2595662" cy="337309"/>
            <a:chOff x="907665" y="3656527"/>
            <a:chExt cx="2595662" cy="337309"/>
          </a:xfrm>
        </p:grpSpPr>
        <p:sp>
          <p:nvSpPr>
            <p:cNvPr id="63" name="Rectangle 62"/>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4" name="Rectangle 63"/>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 name="Rectangle 64"/>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6" name="Rectangle 65"/>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Rectangle 66"/>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8" name="Rectangle 67"/>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nvGrpSpPr>
          <p:cNvPr id="69" name="Group 68"/>
          <p:cNvGrpSpPr/>
          <p:nvPr/>
        </p:nvGrpSpPr>
        <p:grpSpPr>
          <a:xfrm>
            <a:off x="4864246" y="5125433"/>
            <a:ext cx="2595662" cy="337309"/>
            <a:chOff x="907665" y="3656527"/>
            <a:chExt cx="2595662" cy="337309"/>
          </a:xfrm>
        </p:grpSpPr>
        <p:sp>
          <p:nvSpPr>
            <p:cNvPr id="70" name="Rectangle 69"/>
            <p:cNvSpPr/>
            <p:nvPr/>
          </p:nvSpPr>
          <p:spPr>
            <a:xfrm>
              <a:off x="1352938"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1" name="Rectangle 70"/>
            <p:cNvSpPr/>
            <p:nvPr/>
          </p:nvSpPr>
          <p:spPr>
            <a:xfrm>
              <a:off x="181013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2" name="Rectangle 71"/>
            <p:cNvSpPr/>
            <p:nvPr/>
          </p:nvSpPr>
          <p:spPr>
            <a:xfrm>
              <a:off x="2258007"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3" name="Rectangle 72"/>
            <p:cNvSpPr/>
            <p:nvPr/>
          </p:nvSpPr>
          <p:spPr>
            <a:xfrm>
              <a:off x="268721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4" name="Rectangle 73"/>
            <p:cNvSpPr/>
            <p:nvPr/>
          </p:nvSpPr>
          <p:spPr>
            <a:xfrm>
              <a:off x="3163076"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5" name="Rectangle 74"/>
            <p:cNvSpPr/>
            <p:nvPr/>
          </p:nvSpPr>
          <p:spPr>
            <a:xfrm>
              <a:off x="907665" y="3656527"/>
              <a:ext cx="340251" cy="337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84" name="Rectangle 83"/>
          <p:cNvSpPr/>
          <p:nvPr/>
        </p:nvSpPr>
        <p:spPr>
          <a:xfrm>
            <a:off x="846400" y="2599744"/>
            <a:ext cx="2671500" cy="2942642"/>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4843365" y="2599744"/>
            <a:ext cx="2671500" cy="2942642"/>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7"/>
                                        </p:tgtEl>
                                      </p:cBhvr>
                                    </p:animEffect>
                                    <p:set>
                                      <p:cBhvr>
                                        <p:cTn id="12" dur="1" fill="hold">
                                          <p:stCondLst>
                                            <p:cond delay="499"/>
                                          </p:stCondLst>
                                        </p:cTn>
                                        <p:tgtEl>
                                          <p:spTgt spid="27"/>
                                        </p:tgtEl>
                                        <p:attrNameLst>
                                          <p:attrName>style.visibility</p:attrName>
                                        </p:attrNameLst>
                                      </p:cBhvr>
                                      <p:to>
                                        <p:strVal val="hidden"/>
                                      </p:to>
                                    </p:set>
                                  </p:childTnLst>
                                </p:cTn>
                              </p:par>
                            </p:childTnLst>
                          </p:cTn>
                        </p:par>
                        <p:par>
                          <p:cTn id="13" fill="hold">
                            <p:stCondLst>
                              <p:cond delay="500"/>
                            </p:stCondLst>
                            <p:childTnLst>
                              <p:par>
                                <p:cTn id="14" presetID="10" presetClass="exit" presetSubtype="0" fill="hold" nodeType="afterEffect">
                                  <p:stCondLst>
                                    <p:cond delay="0"/>
                                  </p:stCondLst>
                                  <p:childTnLst>
                                    <p:animEffect transition="out" filter="fade">
                                      <p:cBhvr>
                                        <p:cTn id="15" dur="500"/>
                                        <p:tgtEl>
                                          <p:spTgt spid="35"/>
                                        </p:tgtEl>
                                      </p:cBhvr>
                                    </p:animEffect>
                                    <p:set>
                                      <p:cBhvr>
                                        <p:cTn id="16" dur="1" fill="hold">
                                          <p:stCondLst>
                                            <p:cond delay="499"/>
                                          </p:stCondLst>
                                        </p:cTn>
                                        <p:tgtEl>
                                          <p:spTgt spid="35"/>
                                        </p:tgtEl>
                                        <p:attrNameLst>
                                          <p:attrName>style.visibility</p:attrName>
                                        </p:attrNameLst>
                                      </p:cBhvr>
                                      <p:to>
                                        <p:strVal val="hidden"/>
                                      </p:to>
                                    </p:set>
                                  </p:childTnLst>
                                </p:cTn>
                              </p:par>
                            </p:childTnLst>
                          </p:cTn>
                        </p:par>
                        <p:par>
                          <p:cTn id="17" fill="hold">
                            <p:stCondLst>
                              <p:cond delay="1000"/>
                            </p:stCondLst>
                            <p:childTnLst>
                              <p:par>
                                <p:cTn id="18" presetID="10" presetClass="exit" presetSubtype="0" fill="hold" nodeType="afterEffect">
                                  <p:stCondLst>
                                    <p:cond delay="0"/>
                                  </p:stCondLst>
                                  <p:childTnLst>
                                    <p:animEffect transition="out" filter="fade">
                                      <p:cBhvr>
                                        <p:cTn id="19" dur="500"/>
                                        <p:tgtEl>
                                          <p:spTgt spid="42"/>
                                        </p:tgtEl>
                                      </p:cBhvr>
                                    </p:animEffect>
                                    <p:set>
                                      <p:cBhvr>
                                        <p:cTn id="20" dur="1" fill="hold">
                                          <p:stCondLst>
                                            <p:cond delay="499"/>
                                          </p:stCondLst>
                                        </p:cTn>
                                        <p:tgtEl>
                                          <p:spTgt spid="42"/>
                                        </p:tgtEl>
                                        <p:attrNameLst>
                                          <p:attrName>style.visibility</p:attrName>
                                        </p:attrNameLst>
                                      </p:cBhvr>
                                      <p:to>
                                        <p:strVal val="hidden"/>
                                      </p:to>
                                    </p:set>
                                  </p:childTnLst>
                                </p:cTn>
                              </p:par>
                            </p:childTnLst>
                          </p:cTn>
                        </p:par>
                        <p:par>
                          <p:cTn id="21" fill="hold">
                            <p:stCondLst>
                              <p:cond delay="1500"/>
                            </p:stCondLst>
                            <p:childTnLst>
                              <p:par>
                                <p:cTn id="22" presetID="10" presetClass="exit" presetSubtype="0" fill="hold" nodeType="afterEffect">
                                  <p:stCondLst>
                                    <p:cond delay="0"/>
                                  </p:stCondLst>
                                  <p:childTnLst>
                                    <p:animEffect transition="out" filter="fade">
                                      <p:cBhvr>
                                        <p:cTn id="23" dur="500"/>
                                        <p:tgtEl>
                                          <p:spTgt spid="28"/>
                                        </p:tgtEl>
                                      </p:cBhvr>
                                    </p:animEffect>
                                    <p:set>
                                      <p:cBhvr>
                                        <p:cTn id="24" dur="1" fill="hold">
                                          <p:stCondLst>
                                            <p:cond delay="499"/>
                                          </p:stCondLst>
                                        </p:cTn>
                                        <p:tgtEl>
                                          <p:spTgt spid="2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fade">
                                      <p:cBhvr>
                                        <p:cTn id="29" dur="500"/>
                                        <p:tgtEl>
                                          <p:spTgt spid="8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49"/>
                                        </p:tgtEl>
                                      </p:cBhvr>
                                    </p:animEffect>
                                    <p:set>
                                      <p:cBhvr>
                                        <p:cTn id="34" dur="1" fill="hold">
                                          <p:stCondLst>
                                            <p:cond delay="499"/>
                                          </p:stCondLst>
                                        </p:cTn>
                                        <p:tgtEl>
                                          <p:spTgt spid="49"/>
                                        </p:tgtEl>
                                        <p:attrNameLst>
                                          <p:attrName>style.visibility</p:attrName>
                                        </p:attrNameLst>
                                      </p:cBhvr>
                                      <p:to>
                                        <p:strVal val="hidden"/>
                                      </p:to>
                                    </p:set>
                                  </p:childTnLst>
                                </p:cTn>
                              </p:par>
                            </p:childTnLst>
                          </p:cTn>
                        </p:par>
                        <p:par>
                          <p:cTn id="35" fill="hold">
                            <p:stCondLst>
                              <p:cond delay="500"/>
                            </p:stCondLst>
                            <p:childTnLst>
                              <p:par>
                                <p:cTn id="36" presetID="10" presetClass="exit" presetSubtype="0" fill="hold" nodeType="afterEffect">
                                  <p:stCondLst>
                                    <p:cond delay="0"/>
                                  </p:stCondLst>
                                  <p:childTnLst>
                                    <p:animEffect transition="out" filter="fade">
                                      <p:cBhvr>
                                        <p:cTn id="37" dur="500"/>
                                        <p:tgtEl>
                                          <p:spTgt spid="55"/>
                                        </p:tgtEl>
                                      </p:cBhvr>
                                    </p:animEffect>
                                    <p:set>
                                      <p:cBhvr>
                                        <p:cTn id="38" dur="1" fill="hold">
                                          <p:stCondLst>
                                            <p:cond delay="499"/>
                                          </p:stCondLst>
                                        </p:cTn>
                                        <p:tgtEl>
                                          <p:spTgt spid="55"/>
                                        </p:tgtEl>
                                        <p:attrNameLst>
                                          <p:attrName>style.visibility</p:attrName>
                                        </p:attrNameLst>
                                      </p:cBhvr>
                                      <p:to>
                                        <p:strVal val="hidden"/>
                                      </p:to>
                                    </p:set>
                                  </p:childTnLst>
                                </p:cTn>
                              </p:par>
                            </p:childTnLst>
                          </p:cTn>
                        </p:par>
                        <p:par>
                          <p:cTn id="39" fill="hold">
                            <p:stCondLst>
                              <p:cond delay="1000"/>
                            </p:stCondLst>
                            <p:childTnLst>
                              <p:par>
                                <p:cTn id="40" presetID="10" presetClass="exit" presetSubtype="0" fill="hold" nodeType="afterEffect">
                                  <p:stCondLst>
                                    <p:cond delay="0"/>
                                  </p:stCondLst>
                                  <p:childTnLst>
                                    <p:animEffect transition="out" filter="fade">
                                      <p:cBhvr>
                                        <p:cTn id="41" dur="500"/>
                                        <p:tgtEl>
                                          <p:spTgt spid="62"/>
                                        </p:tgtEl>
                                      </p:cBhvr>
                                    </p:animEffect>
                                    <p:set>
                                      <p:cBhvr>
                                        <p:cTn id="42" dur="1" fill="hold">
                                          <p:stCondLst>
                                            <p:cond delay="499"/>
                                          </p:stCondLst>
                                        </p:cTn>
                                        <p:tgtEl>
                                          <p:spTgt spid="62"/>
                                        </p:tgtEl>
                                        <p:attrNameLst>
                                          <p:attrName>style.visibility</p:attrName>
                                        </p:attrNameLst>
                                      </p:cBhvr>
                                      <p:to>
                                        <p:strVal val="hidden"/>
                                      </p:to>
                                    </p:set>
                                  </p:childTnLst>
                                </p:cTn>
                              </p:par>
                            </p:childTnLst>
                          </p:cTn>
                        </p:par>
                        <p:par>
                          <p:cTn id="43" fill="hold">
                            <p:stCondLst>
                              <p:cond delay="1500"/>
                            </p:stCondLst>
                            <p:childTnLst>
                              <p:par>
                                <p:cTn id="44" presetID="10" presetClass="exit" presetSubtype="0" fill="hold" nodeType="afterEffect">
                                  <p:stCondLst>
                                    <p:cond delay="0"/>
                                  </p:stCondLst>
                                  <p:childTnLst>
                                    <p:animEffect transition="out" filter="fade">
                                      <p:cBhvr>
                                        <p:cTn id="45" dur="500"/>
                                        <p:tgtEl>
                                          <p:spTgt spid="69"/>
                                        </p:tgtEl>
                                      </p:cBhvr>
                                    </p:animEffect>
                                    <p:set>
                                      <p:cBhvr>
                                        <p:cTn id="46" dur="1" fill="hold">
                                          <p:stCondLst>
                                            <p:cond delay="499"/>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4216030" y="2776326"/>
            <a:ext cx="2855550" cy="3377250"/>
            <a:chOff x="4216030" y="2776326"/>
            <a:chExt cx="2855550" cy="3377250"/>
          </a:xfrm>
        </p:grpSpPr>
        <p:graphicFrame>
          <p:nvGraphicFramePr>
            <p:cNvPr id="3" name="Google Shape;90;p11"/>
            <p:cNvGraphicFramePr/>
            <p:nvPr/>
          </p:nvGraphicFramePr>
          <p:xfrm>
            <a:off x="4218580" y="2776326"/>
            <a:ext cx="2853000" cy="3377250"/>
          </p:xfrm>
          <a:graphic>
            <a:graphicData uri="http://schemas.openxmlformats.org/drawingml/2006/table">
              <a:tbl>
                <a:tblPr>
                  <a:noFill/>
                </a:tblPr>
                <a:tblGrid>
                  <a:gridCol w="570600"/>
                  <a:gridCol w="570600"/>
                  <a:gridCol w="570600"/>
                  <a:gridCol w="570600"/>
                  <a:gridCol w="570600"/>
                </a:tblGrid>
                <a:tr h="562875">
                  <a:tc>
                    <a:txBody>
                      <a:bodyPr/>
                      <a:lstStyle/>
                      <a:p>
                        <a:pPr marL="0" lvl="0" indent="0" algn="ctr" rtl="0">
                          <a:spcBef>
                            <a:spcPts val="0"/>
                          </a:spcBef>
                          <a:spcAft>
                            <a:spcPts val="0"/>
                          </a:spcAft>
                          <a:buNone/>
                        </a:pPr>
                        <a:endParaRPr sz="23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dirty="0">
                            <a:solidFill>
                              <a:schemeClr val="tx1"/>
                            </a:solidFill>
                          </a:rPr>
                          <a:t>1</a:t>
                        </a:r>
                        <a:endParaRPr sz="2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2</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7</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dirty="0">
                            <a:solidFill>
                              <a:schemeClr val="tx1"/>
                            </a:solidFill>
                          </a:rPr>
                          <a:t>3</a:t>
                        </a:r>
                        <a:endParaRPr sz="2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Clr>
                            <a:schemeClr val="dk1"/>
                          </a:buClr>
                          <a:buSzPts val="1100"/>
                          <a:buFont typeface="Arial" panose="020B0604020202020204"/>
                          <a:buNone/>
                        </a:pPr>
                        <a:r>
                          <a:rPr lang="en-GB" sz="2400" b="1">
                            <a:solidFill>
                              <a:schemeClr val="tx1"/>
                            </a:solidFill>
                          </a:rPr>
                          <a:t>×</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300" b="1">
                            <a:solidFill>
                              <a:schemeClr val="tx1"/>
                            </a:solidFill>
                          </a:rPr>
                          <a:t>2</a:t>
                        </a: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300" b="1" dirty="0">
                            <a:solidFill>
                              <a:schemeClr val="tx1"/>
                            </a:solidFill>
                          </a:rPr>
                          <a:t>6</a:t>
                        </a:r>
                        <a:endParaRPr sz="23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7</a:t>
                        </a:r>
                        <a:r>
                          <a:rPr lang="en-GB" sz="2300" b="1" baseline="-25000">
                            <a:solidFill>
                              <a:schemeClr val="tx1"/>
                            </a:solidFill>
                          </a:rPr>
                          <a:t>1</a:t>
                        </a:r>
                        <a:endParaRPr sz="2300" b="1" baseline="-2500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6</a:t>
                        </a:r>
                        <a:r>
                          <a:rPr lang="en-GB" sz="2400" b="1" baseline="-25000">
                            <a:solidFill>
                              <a:schemeClr val="tx1"/>
                            </a:solidFill>
                          </a:rPr>
                          <a:t>4</a:t>
                        </a:r>
                        <a:endParaRPr sz="2400" b="1" baseline="-2500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dirty="0">
                            <a:solidFill>
                              <a:schemeClr val="tx1"/>
                            </a:solidFill>
                          </a:rPr>
                          <a:t>3</a:t>
                        </a:r>
                        <a:r>
                          <a:rPr lang="en-GB" sz="2300" b="1" baseline="-25000" dirty="0">
                            <a:solidFill>
                              <a:schemeClr val="tx1"/>
                            </a:solidFill>
                          </a:rPr>
                          <a:t>1</a:t>
                        </a:r>
                        <a:endParaRPr sz="2300" b="1" baseline="-25000"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8</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r>
                          <a:rPr lang="en-GB" sz="2400" b="1" dirty="0">
                            <a:solidFill>
                              <a:schemeClr val="tx1"/>
                            </a:solidFill>
                          </a:rPr>
                          <a:t>2</a:t>
                        </a:r>
                        <a:endParaRPr sz="2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5</a:t>
                        </a:r>
                        <a:r>
                          <a:rPr lang="en-GB" sz="2400" b="1" baseline="-25000">
                            <a:solidFill>
                              <a:schemeClr val="tx1"/>
                            </a:solidFill>
                          </a:rPr>
                          <a:t>1</a:t>
                        </a:r>
                        <a:endParaRPr sz="2400" b="1" baseline="-2500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4</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6</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dirty="0">
                            <a:solidFill>
                              <a:schemeClr val="tx1"/>
                            </a:solidFill>
                          </a:rPr>
                          <a:t>0</a:t>
                        </a:r>
                        <a:endParaRPr sz="2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r>
                          <a:rPr lang="en-GB" sz="2400" b="1">
                            <a:solidFill>
                              <a:schemeClr val="tx1"/>
                            </a:solidFill>
                          </a:rPr>
                          <a:t>3</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3</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0</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tx1"/>
                            </a:solidFill>
                          </a:rPr>
                          <a:t>9</a:t>
                        </a:r>
                        <a:endParaRPr sz="24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2400" b="1" dirty="0">
                            <a:solidFill>
                              <a:schemeClr val="tx1"/>
                            </a:solidFill>
                          </a:rPr>
                          <a:t>8</a:t>
                        </a:r>
                        <a:endParaRPr sz="2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r>
                          <a:rPr lang="en-GB" b="1">
                            <a:solidFill>
                              <a:schemeClr val="tx1"/>
                            </a:solidFill>
                          </a:rPr>
                          <a:t>1</a:t>
                        </a:r>
                        <a:endParaRPr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b="1">
                            <a:solidFill>
                              <a:schemeClr val="tx1"/>
                            </a:solidFill>
                          </a:rPr>
                          <a:t>1</a:t>
                        </a:r>
                        <a:endParaRPr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23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23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cxnSp>
          <p:nvCxnSpPr>
            <p:cNvPr id="10" name="Straight Connector 9"/>
            <p:cNvCxnSpPr/>
            <p:nvPr/>
          </p:nvCxnSpPr>
          <p:spPr>
            <a:xfrm>
              <a:off x="4785710" y="3910109"/>
              <a:ext cx="2282728"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a:off x="4216030" y="5033056"/>
              <a:ext cx="2852408"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4216030" y="5596665"/>
              <a:ext cx="2852408"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96" name="Rectangle 95"/>
          <p:cNvSpPr/>
          <p:nvPr/>
        </p:nvSpPr>
        <p:spPr>
          <a:xfrm>
            <a:off x="445574" y="684687"/>
            <a:ext cx="5339406"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sp>
        <p:nvSpPr>
          <p:cNvPr id="97" name="Rectangle 96"/>
          <p:cNvSpPr/>
          <p:nvPr/>
        </p:nvSpPr>
        <p:spPr>
          <a:xfrm>
            <a:off x="5784980" y="684687"/>
            <a:ext cx="976684" cy="391628"/>
          </a:xfrm>
          <a:prstGeom prst="rect">
            <a:avLst/>
          </a:prstGeom>
          <a:solidFill>
            <a:srgbClr val="4EB2E5"/>
          </a:solidFill>
        </p:spPr>
        <p:txBody>
          <a:bodyPr wrap="square" lIns="180000" tIns="72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cxnSp>
        <p:nvCxnSpPr>
          <p:cNvPr id="103" name="Straight Connector 102"/>
          <p:cNvCxnSpPr/>
          <p:nvPr/>
        </p:nvCxnSpPr>
        <p:spPr>
          <a:xfrm>
            <a:off x="5762872" y="609600"/>
            <a:ext cx="0" cy="5312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Google Shape;91;p11"/>
          <p:cNvSpPr txBox="1"/>
          <p:nvPr/>
        </p:nvSpPr>
        <p:spPr>
          <a:xfrm>
            <a:off x="7071580" y="3926151"/>
            <a:ext cx="15297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dirty="0"/>
              <a:t>(1273 × 6)</a:t>
            </a:r>
            <a:endParaRPr b="1" dirty="0"/>
          </a:p>
        </p:txBody>
      </p:sp>
      <p:sp>
        <p:nvSpPr>
          <p:cNvPr id="6" name="Google Shape;92;p11"/>
          <p:cNvSpPr txBox="1"/>
          <p:nvPr/>
        </p:nvSpPr>
        <p:spPr>
          <a:xfrm>
            <a:off x="7084480" y="4489026"/>
            <a:ext cx="17949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dirty="0"/>
              <a:t>(1273 × 20)</a:t>
            </a:r>
            <a:endParaRPr b="1" dirty="0"/>
          </a:p>
        </p:txBody>
      </p:sp>
      <p:pic>
        <p:nvPicPr>
          <p:cNvPr id="7" name="Google Shape;93;p11"/>
          <p:cNvPicPr preferRelativeResize="0"/>
          <p:nvPr/>
        </p:nvPicPr>
        <p:blipFill>
          <a:blip r:embed="rId2"/>
          <a:stretch>
            <a:fillRect/>
          </a:stretch>
        </p:blipFill>
        <p:spPr>
          <a:xfrm>
            <a:off x="445574" y="3580390"/>
            <a:ext cx="2853000" cy="2836284"/>
          </a:xfrm>
          <a:prstGeom prst="rect">
            <a:avLst/>
          </a:prstGeom>
          <a:noFill/>
          <a:ln>
            <a:noFill/>
          </a:ln>
        </p:spPr>
      </p:pic>
      <p:sp>
        <p:nvSpPr>
          <p:cNvPr id="9" name="Google Shape;104;p11"/>
          <p:cNvSpPr txBox="1"/>
          <p:nvPr/>
        </p:nvSpPr>
        <p:spPr>
          <a:xfrm>
            <a:off x="569694" y="1076195"/>
            <a:ext cx="8128732"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panose="020B0604020202020204"/>
              <a:buNone/>
            </a:pPr>
            <a:r>
              <a:rPr lang="en-US" sz="1800" dirty="0">
                <a:effectLst/>
              </a:rPr>
              <a:t>A large group of people are going on a trip to a theme park. There are 42 groups with 29 children in each group. 39 grandparents and 16 parents are also going.</a:t>
            </a:r>
            <a:endParaRPr dirty="0"/>
          </a:p>
        </p:txBody>
      </p:sp>
      <p:sp>
        <p:nvSpPr>
          <p:cNvPr id="11" name="Google Shape;105;p11"/>
          <p:cNvSpPr txBox="1"/>
          <p:nvPr/>
        </p:nvSpPr>
        <p:spPr>
          <a:xfrm>
            <a:off x="593240" y="1905525"/>
            <a:ext cx="3196800"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panose="020B0604020202020204"/>
              <a:buNone/>
            </a:pPr>
            <a:r>
              <a:rPr lang="en-GB" dirty="0">
                <a:solidFill>
                  <a:schemeClr val="dk1"/>
                </a:solidFill>
              </a:rPr>
              <a:t>If each ticket costs £26, how much will all </a:t>
            </a:r>
            <a:endParaRPr dirty="0">
              <a:solidFill>
                <a:schemeClr val="dk1"/>
              </a:solidFill>
            </a:endParaRPr>
          </a:p>
          <a:p>
            <a:pPr marL="0" lvl="0" indent="0" algn="l" rtl="0">
              <a:spcBef>
                <a:spcPts val="0"/>
              </a:spcBef>
              <a:spcAft>
                <a:spcPts val="0"/>
              </a:spcAft>
              <a:buClr>
                <a:schemeClr val="dk1"/>
              </a:buClr>
              <a:buSzPts val="1400"/>
              <a:buFont typeface="Arial" panose="020B0604020202020204"/>
              <a:buNone/>
            </a:pPr>
            <a:r>
              <a:rPr lang="en-GB" dirty="0">
                <a:solidFill>
                  <a:schemeClr val="dk1"/>
                </a:solidFill>
              </a:rPr>
              <a:t>the tickets cost?</a:t>
            </a:r>
            <a:endParaRPr dirty="0">
              <a:solidFill>
                <a:schemeClr val="dk1"/>
              </a:solidFill>
            </a:endParaRPr>
          </a:p>
        </p:txBody>
      </p:sp>
      <p:sp>
        <p:nvSpPr>
          <p:cNvPr id="12" name="Google Shape;106;p11"/>
          <p:cNvSpPr/>
          <p:nvPr/>
        </p:nvSpPr>
        <p:spPr>
          <a:xfrm>
            <a:off x="4216030" y="2004966"/>
            <a:ext cx="3620400" cy="6192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42 × 29 = 1218, 1218 + 55 = 1273</a:t>
            </a:r>
            <a:endParaRPr b="1" dirty="0">
              <a:solidFill>
                <a:schemeClr val="dk1"/>
              </a:solidFill>
            </a:endParaRPr>
          </a:p>
        </p:txBody>
      </p:sp>
      <p:sp>
        <p:nvSpPr>
          <p:cNvPr id="13" name="Google Shape;107;p11"/>
          <p:cNvSpPr/>
          <p:nvPr/>
        </p:nvSpPr>
        <p:spPr>
          <a:xfrm>
            <a:off x="593240" y="2890297"/>
            <a:ext cx="2642292" cy="6192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1273 × £26 = £33 098</a:t>
            </a:r>
            <a:endParaRPr b="1" dirty="0">
              <a:solidFill>
                <a:schemeClr val="dk1"/>
              </a:solidFill>
            </a:endParaRPr>
          </a:p>
        </p:txBody>
      </p:sp>
      <p:grpSp>
        <p:nvGrpSpPr>
          <p:cNvPr id="49" name="Group 48"/>
          <p:cNvGrpSpPr/>
          <p:nvPr/>
        </p:nvGrpSpPr>
        <p:grpSpPr>
          <a:xfrm>
            <a:off x="4271859" y="2823461"/>
            <a:ext cx="2695488" cy="1057979"/>
            <a:chOff x="4309608" y="2814305"/>
            <a:chExt cx="2695488" cy="1057979"/>
          </a:xfrm>
        </p:grpSpPr>
        <p:grpSp>
          <p:nvGrpSpPr>
            <p:cNvPr id="18" name="Group 17"/>
            <p:cNvGrpSpPr/>
            <p:nvPr/>
          </p:nvGrpSpPr>
          <p:grpSpPr>
            <a:xfrm>
              <a:off x="4858246" y="2814305"/>
              <a:ext cx="2146850" cy="501389"/>
              <a:chOff x="4858246" y="2814305"/>
              <a:chExt cx="2146850" cy="501389"/>
            </a:xfrm>
          </p:grpSpPr>
          <p:sp>
            <p:nvSpPr>
              <p:cNvPr id="14" name="Rectangle 13"/>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4309608" y="3370895"/>
              <a:ext cx="2695488" cy="501389"/>
              <a:chOff x="4309608" y="2814305"/>
              <a:chExt cx="2695488" cy="501389"/>
            </a:xfrm>
          </p:grpSpPr>
          <p:sp>
            <p:nvSpPr>
              <p:cNvPr id="20" name="Rectangle 19"/>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4309608"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5" name="Group 24"/>
          <p:cNvGrpSpPr/>
          <p:nvPr/>
        </p:nvGrpSpPr>
        <p:grpSpPr>
          <a:xfrm>
            <a:off x="4271859" y="3927215"/>
            <a:ext cx="2695488" cy="501389"/>
            <a:chOff x="4309608" y="2814305"/>
            <a:chExt cx="2695488" cy="501389"/>
          </a:xfrm>
        </p:grpSpPr>
        <p:sp>
          <p:nvSpPr>
            <p:cNvPr id="26" name="Rectangle 25"/>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4309608"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p:cNvGrpSpPr/>
          <p:nvPr/>
        </p:nvGrpSpPr>
        <p:grpSpPr>
          <a:xfrm>
            <a:off x="4281286" y="4501185"/>
            <a:ext cx="2695488" cy="501389"/>
            <a:chOff x="4309608" y="2814305"/>
            <a:chExt cx="2695488" cy="501389"/>
          </a:xfrm>
        </p:grpSpPr>
        <p:sp>
          <p:nvSpPr>
            <p:cNvPr id="32" name="Rectangle 31"/>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4309608"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7" name="Group 36"/>
          <p:cNvGrpSpPr/>
          <p:nvPr/>
        </p:nvGrpSpPr>
        <p:grpSpPr>
          <a:xfrm>
            <a:off x="4271859" y="5041873"/>
            <a:ext cx="2695488" cy="501389"/>
            <a:chOff x="4309608" y="2814305"/>
            <a:chExt cx="2695488" cy="501389"/>
          </a:xfrm>
        </p:grpSpPr>
        <p:sp>
          <p:nvSpPr>
            <p:cNvPr id="38" name="Rectangle 37"/>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4309608"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p:cNvGrpSpPr/>
          <p:nvPr/>
        </p:nvGrpSpPr>
        <p:grpSpPr>
          <a:xfrm>
            <a:off x="4281286" y="5646172"/>
            <a:ext cx="2695488" cy="501389"/>
            <a:chOff x="4309608" y="2814305"/>
            <a:chExt cx="2695488" cy="501389"/>
          </a:xfrm>
        </p:grpSpPr>
        <p:sp>
          <p:nvSpPr>
            <p:cNvPr id="44" name="Rectangle 43"/>
            <p:cNvSpPr/>
            <p:nvPr/>
          </p:nvSpPr>
          <p:spPr>
            <a:xfrm>
              <a:off x="4858246"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5454593"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979379"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567775"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4309608" y="2814305"/>
              <a:ext cx="437321" cy="501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Rectangle 1"/>
          <p:cNvSpPr/>
          <p:nvPr/>
        </p:nvSpPr>
        <p:spPr>
          <a:xfrm>
            <a:off x="4216030" y="2757472"/>
            <a:ext cx="4220960" cy="3396987"/>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49"/>
                                        </p:tgtEl>
                                      </p:cBhvr>
                                    </p:animEffect>
                                    <p:set>
                                      <p:cBhvr>
                                        <p:cTn id="22" dur="1" fill="hold">
                                          <p:stCondLst>
                                            <p:cond delay="499"/>
                                          </p:stCondLst>
                                        </p:cTn>
                                        <p:tgtEl>
                                          <p:spTgt spid="4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5"/>
                                        </p:tgtEl>
                                      </p:cBhvr>
                                    </p:animEffect>
                                    <p:set>
                                      <p:cBhvr>
                                        <p:cTn id="27" dur="1" fill="hold">
                                          <p:stCondLst>
                                            <p:cond delay="499"/>
                                          </p:stCondLst>
                                        </p:cTn>
                                        <p:tgtEl>
                                          <p:spTgt spid="25"/>
                                        </p:tgtEl>
                                        <p:attrNameLst>
                                          <p:attrName>style.visibility</p:attrName>
                                        </p:attrNameLst>
                                      </p:cBhvr>
                                      <p:to>
                                        <p:strVal val="hidden"/>
                                      </p:to>
                                    </p:se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31"/>
                                        </p:tgtEl>
                                      </p:cBhvr>
                                    </p:animEffect>
                                    <p:set>
                                      <p:cBhvr>
                                        <p:cTn id="36" dur="1" fill="hold">
                                          <p:stCondLst>
                                            <p:cond delay="499"/>
                                          </p:stCondLst>
                                        </p:cTn>
                                        <p:tgtEl>
                                          <p:spTgt spid="31"/>
                                        </p:tgtEl>
                                        <p:attrNameLst>
                                          <p:attrName>style.visibility</p:attrName>
                                        </p:attrNameLst>
                                      </p:cBhvr>
                                      <p:to>
                                        <p:strVal val="hidden"/>
                                      </p:to>
                                    </p:se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animEffect transition="in" filter="fade">
                                      <p:cBhvr>
                                        <p:cTn id="40" dur="500"/>
                                        <p:tgtEl>
                                          <p:spTgt spid="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37"/>
                                        </p:tgtEl>
                                      </p:cBhvr>
                                    </p:animEffect>
                                    <p:set>
                                      <p:cBhvr>
                                        <p:cTn id="45" dur="1" fill="hold">
                                          <p:stCondLst>
                                            <p:cond delay="499"/>
                                          </p:stCondLst>
                                        </p:cTn>
                                        <p:tgtEl>
                                          <p:spTgt spid="37"/>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43"/>
                                        </p:tgtEl>
                                      </p:cBhvr>
                                    </p:animEffect>
                                    <p:set>
                                      <p:cBhvr>
                                        <p:cTn id="48" dur="1" fill="hold">
                                          <p:stCondLst>
                                            <p:cond delay="499"/>
                                          </p:stCondLst>
                                        </p:cTn>
                                        <p:tgtEl>
                                          <p:spTgt spid="4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P spid="13"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 name="Rectangle 95"/>
          <p:cNvSpPr/>
          <p:nvPr/>
        </p:nvSpPr>
        <p:spPr>
          <a:xfrm>
            <a:off x="445574" y="684687"/>
            <a:ext cx="5339406"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sp>
        <p:nvSpPr>
          <p:cNvPr id="97" name="Rectangle 96"/>
          <p:cNvSpPr/>
          <p:nvPr/>
        </p:nvSpPr>
        <p:spPr>
          <a:xfrm>
            <a:off x="5784980" y="684687"/>
            <a:ext cx="976684" cy="391628"/>
          </a:xfrm>
          <a:prstGeom prst="rect">
            <a:avLst/>
          </a:prstGeom>
          <a:solidFill>
            <a:srgbClr val="4EB2E5"/>
          </a:solidFill>
        </p:spPr>
        <p:txBody>
          <a:bodyPr wrap="square" lIns="180000" tIns="72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cxnSp>
        <p:nvCxnSpPr>
          <p:cNvPr id="103" name="Straight Connector 102"/>
          <p:cNvCxnSpPr/>
          <p:nvPr/>
        </p:nvCxnSpPr>
        <p:spPr>
          <a:xfrm>
            <a:off x="5762872" y="609600"/>
            <a:ext cx="0" cy="5312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106;p11"/>
          <p:cNvSpPr/>
          <p:nvPr/>
        </p:nvSpPr>
        <p:spPr>
          <a:xfrm>
            <a:off x="595895" y="1385841"/>
            <a:ext cx="3620400" cy="6192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42 × 29 = 1218, 1218 + 55 = 1273</a:t>
            </a:r>
            <a:endParaRPr b="1" dirty="0">
              <a:solidFill>
                <a:schemeClr val="dk1"/>
              </a:solidFill>
            </a:endParaRPr>
          </a:p>
        </p:txBody>
      </p:sp>
      <p:graphicFrame>
        <p:nvGraphicFramePr>
          <p:cNvPr id="3" name="Table 2"/>
          <p:cNvGraphicFramePr/>
          <p:nvPr/>
        </p:nvGraphicFramePr>
        <p:xfrm>
          <a:off x="1371600" y="2918460"/>
          <a:ext cx="6400800" cy="762000"/>
        </p:xfrm>
        <a:graphic>
          <a:graphicData uri="http://schemas.openxmlformats.org/drawingml/2006/table">
            <a:tbl>
              <a:tblPr firstRow="1" bandRow="1">
                <a:tableStyleId>{22838BEF-8BB2-4498-84A7-C5851F593DF1}</a:tableStyleId>
              </a:tblPr>
              <a:tblGrid>
                <a:gridCol w="1600200"/>
                <a:gridCol w="1600200"/>
                <a:gridCol w="1600200"/>
                <a:gridCol w="1600200"/>
              </a:tblGrid>
              <a:tr h="381000">
                <a:tc>
                  <a:txBody>
                    <a:bodyPr/>
                    <a:p>
                      <a:pPr>
                        <a:buNone/>
                      </a:pPr>
                      <a:r>
                        <a:rPr lang="en-US"/>
                        <a:t>20 000</a:t>
                      </a:r>
                      <a:endParaRPr lang="en-US"/>
                    </a:p>
                  </a:txBody>
                  <a:tcPr/>
                </a:tc>
                <a:tc>
                  <a:txBody>
                    <a:bodyPr/>
                    <a:p>
                      <a:pPr>
                        <a:buNone/>
                      </a:pPr>
                      <a:r>
                        <a:rPr lang="en-US"/>
                        <a:t>4 000</a:t>
                      </a:r>
                      <a:endParaRPr lang="en-US"/>
                    </a:p>
                  </a:txBody>
                  <a:tcPr/>
                </a:tc>
                <a:tc>
                  <a:txBody>
                    <a:bodyPr/>
                    <a:p>
                      <a:pPr>
                        <a:buNone/>
                      </a:pPr>
                      <a:r>
                        <a:rPr lang="en-US"/>
                        <a:t>1400</a:t>
                      </a:r>
                      <a:endParaRPr lang="en-US"/>
                    </a:p>
                  </a:txBody>
                  <a:tcPr/>
                </a:tc>
                <a:tc>
                  <a:txBody>
                    <a:bodyPr/>
                    <a:p>
                      <a:pPr>
                        <a:buNone/>
                      </a:pPr>
                      <a:r>
                        <a:rPr lang="en-US"/>
                        <a:t>60</a:t>
                      </a:r>
                      <a:endParaRPr lang="en-US"/>
                    </a:p>
                  </a:txBody>
                  <a:tcPr/>
                </a:tc>
              </a:tr>
              <a:tr h="381000">
                <a:tc>
                  <a:txBody>
                    <a:bodyPr/>
                    <a:p>
                      <a:pPr>
                        <a:buNone/>
                      </a:pPr>
                      <a:r>
                        <a:rPr lang="en-US"/>
                        <a:t>6000</a:t>
                      </a:r>
                      <a:endParaRPr lang="en-US"/>
                    </a:p>
                  </a:txBody>
                  <a:tcPr/>
                </a:tc>
                <a:tc>
                  <a:txBody>
                    <a:bodyPr/>
                    <a:p>
                      <a:pPr>
                        <a:buNone/>
                      </a:pPr>
                      <a:r>
                        <a:rPr lang="en-US"/>
                        <a:t>1200 </a:t>
                      </a:r>
                      <a:endParaRPr lang="en-US"/>
                    </a:p>
                  </a:txBody>
                  <a:tcPr/>
                </a:tc>
                <a:tc>
                  <a:txBody>
                    <a:bodyPr/>
                    <a:p>
                      <a:pPr>
                        <a:buNone/>
                      </a:pPr>
                      <a:r>
                        <a:rPr lang="en-US"/>
                        <a:t>420</a:t>
                      </a:r>
                      <a:endParaRPr lang="en-US"/>
                    </a:p>
                  </a:txBody>
                  <a:tcPr/>
                </a:tc>
                <a:tc>
                  <a:txBody>
                    <a:bodyPr/>
                    <a:p>
                      <a:pPr>
                        <a:buNone/>
                      </a:pPr>
                      <a:r>
                        <a:rPr lang="en-US"/>
                        <a:t> 18 </a:t>
                      </a:r>
                      <a:endParaRPr lang="en-US"/>
                    </a:p>
                  </a:txBody>
                  <a:tcPr/>
                </a:tc>
              </a:tr>
            </a:tbl>
          </a:graphicData>
        </a:graphic>
      </p:graphicFrame>
      <p:sp>
        <p:nvSpPr>
          <p:cNvPr id="4" name="Text Box 3"/>
          <p:cNvSpPr txBox="1"/>
          <p:nvPr/>
        </p:nvSpPr>
        <p:spPr>
          <a:xfrm>
            <a:off x="1604010" y="2475230"/>
            <a:ext cx="1097915"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1000</a:t>
            </a:r>
            <a:endParaRPr lang="en-US" sz="2000">
              <a:latin typeface="Arial" panose="020B0604020202020204" pitchFamily="34" charset="0"/>
              <a:ea typeface="Microsoft YaHei" panose="020B0503020204020204" charset="-122"/>
            </a:endParaRPr>
          </a:p>
        </p:txBody>
      </p:sp>
      <p:sp>
        <p:nvSpPr>
          <p:cNvPr id="6" name="Text Box 5"/>
          <p:cNvSpPr txBox="1"/>
          <p:nvPr/>
        </p:nvSpPr>
        <p:spPr>
          <a:xfrm>
            <a:off x="3315970" y="2475230"/>
            <a:ext cx="1097915"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200</a:t>
            </a:r>
            <a:endParaRPr lang="en-US" sz="2000">
              <a:latin typeface="Arial" panose="020B0604020202020204" pitchFamily="34" charset="0"/>
              <a:ea typeface="Microsoft YaHei" panose="020B0503020204020204" charset="-122"/>
            </a:endParaRPr>
          </a:p>
        </p:txBody>
      </p:sp>
      <p:sp>
        <p:nvSpPr>
          <p:cNvPr id="7" name="Text Box 6"/>
          <p:cNvSpPr txBox="1"/>
          <p:nvPr/>
        </p:nvSpPr>
        <p:spPr>
          <a:xfrm>
            <a:off x="4852670" y="2475230"/>
            <a:ext cx="1097915"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70</a:t>
            </a:r>
            <a:endParaRPr lang="en-US" sz="2000">
              <a:latin typeface="Arial" panose="020B0604020202020204" pitchFamily="34" charset="0"/>
              <a:ea typeface="Microsoft YaHei" panose="020B0503020204020204" charset="-122"/>
            </a:endParaRPr>
          </a:p>
        </p:txBody>
      </p:sp>
      <p:sp>
        <p:nvSpPr>
          <p:cNvPr id="8" name="Text Box 7"/>
          <p:cNvSpPr txBox="1"/>
          <p:nvPr/>
        </p:nvSpPr>
        <p:spPr>
          <a:xfrm>
            <a:off x="6389370" y="2475230"/>
            <a:ext cx="1097915"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3</a:t>
            </a:r>
            <a:endParaRPr lang="en-US" sz="2000">
              <a:latin typeface="Arial" panose="020B0604020202020204" pitchFamily="34" charset="0"/>
              <a:ea typeface="Microsoft YaHei" panose="020B0503020204020204" charset="-122"/>
            </a:endParaRPr>
          </a:p>
        </p:txBody>
      </p:sp>
      <p:sp>
        <p:nvSpPr>
          <p:cNvPr id="9" name="Text Box 8"/>
          <p:cNvSpPr txBox="1"/>
          <p:nvPr/>
        </p:nvSpPr>
        <p:spPr>
          <a:xfrm>
            <a:off x="713105" y="2918460"/>
            <a:ext cx="627380"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20</a:t>
            </a:r>
            <a:endParaRPr lang="en-US" sz="2000">
              <a:latin typeface="Arial" panose="020B0604020202020204" pitchFamily="34" charset="0"/>
              <a:ea typeface="Microsoft YaHei" panose="020B0503020204020204" charset="-122"/>
            </a:endParaRPr>
          </a:p>
        </p:txBody>
      </p:sp>
      <p:sp>
        <p:nvSpPr>
          <p:cNvPr id="10" name="Text Box 9"/>
          <p:cNvSpPr txBox="1"/>
          <p:nvPr/>
        </p:nvSpPr>
        <p:spPr>
          <a:xfrm>
            <a:off x="713105" y="3361690"/>
            <a:ext cx="627380" cy="443230"/>
          </a:xfrm>
          <a:prstGeom prst="rect">
            <a:avLst/>
          </a:prstGeom>
        </p:spPr>
        <p:txBody>
          <a:bodyPr>
            <a:noAutofit/>
            <a:extLst>
              <a:ext uri="{4A0BC546-FE56-4ADE-93B0-CB8AF2F6F144}">
                <wpsdc:textFrameExt xmlns:wpsdc="http://www.wps.cn/officeDocument/2022/drawingmlCustomData" type="text"/>
              </a:ext>
            </a:extLst>
          </a:bodyPr>
          <a:p>
            <a:pPr algn="l"/>
            <a:r>
              <a:rPr lang="en-US" sz="2000">
                <a:latin typeface="Arial" panose="020B0604020202020204" pitchFamily="34" charset="0"/>
                <a:ea typeface="Microsoft YaHei" panose="020B0503020204020204" charset="-122"/>
              </a:rPr>
              <a:t>6</a:t>
            </a:r>
            <a:endParaRPr lang="en-US" sz="2000">
              <a:latin typeface="Arial" panose="020B0604020202020204" pitchFamily="34" charset="0"/>
              <a:ea typeface="Microsoft YaHei" panose="020B0503020204020204" charset="-122"/>
            </a:endParaRPr>
          </a:p>
        </p:txBody>
      </p:sp>
      <p:sp>
        <p:nvSpPr>
          <p:cNvPr id="11" name="Google Shape;106;p11"/>
          <p:cNvSpPr/>
          <p:nvPr/>
        </p:nvSpPr>
        <p:spPr>
          <a:xfrm>
            <a:off x="713740" y="4318000"/>
            <a:ext cx="7890510" cy="619125"/>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US" altLang="en-GB" b="1" dirty="0">
                <a:solidFill>
                  <a:schemeClr val="dk1"/>
                </a:solidFill>
              </a:rPr>
              <a:t>20 000</a:t>
            </a:r>
            <a:r>
              <a:rPr lang="en-GB" b="1" dirty="0">
                <a:solidFill>
                  <a:schemeClr val="dk1"/>
                </a:solidFill>
              </a:rPr>
              <a:t> + </a:t>
            </a:r>
            <a:r>
              <a:rPr lang="en-US" altLang="en-GB" b="1" dirty="0">
                <a:solidFill>
                  <a:schemeClr val="dk1"/>
                </a:solidFill>
              </a:rPr>
              <a:t>6000 + 4000 +1200</a:t>
            </a:r>
            <a:r>
              <a:rPr lang="en-GB" b="1" dirty="0">
                <a:solidFill>
                  <a:schemeClr val="dk1"/>
                </a:solidFill>
              </a:rPr>
              <a:t> </a:t>
            </a:r>
            <a:r>
              <a:rPr lang="en-US" altLang="en-GB" b="1" dirty="0">
                <a:solidFill>
                  <a:schemeClr val="dk1"/>
                </a:solidFill>
              </a:rPr>
              <a:t>+ 1400 + 420 +60 +18 </a:t>
            </a:r>
            <a:r>
              <a:rPr lang="en-GB" b="1" dirty="0">
                <a:solidFill>
                  <a:schemeClr val="dk1"/>
                </a:solidFill>
              </a:rPr>
              <a:t>= </a:t>
            </a:r>
            <a:r>
              <a:rPr lang="en-GB" b="1" dirty="0">
                <a:solidFill>
                  <a:schemeClr val="dk1"/>
                </a:solidFill>
                <a:sym typeface="+mn-ea"/>
              </a:rPr>
              <a:t>£33 098</a:t>
            </a:r>
            <a:endParaRPr b="1"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45574" y="702863"/>
            <a:ext cx="2956653"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Insert White Rose Aim Here</a:t>
            </a:r>
            <a:endParaRPr lang="en-GB" sz="1600" b="1" dirty="0">
              <a:solidFill>
                <a:schemeClr val="bg1"/>
              </a:solidFill>
            </a:endParaRPr>
          </a:p>
        </p:txBody>
      </p:sp>
      <p:pic>
        <p:nvPicPr>
          <p:cNvPr id="66" name="Picture 6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8" name="Rectangle 7"/>
          <p:cNvSpPr/>
          <p:nvPr/>
        </p:nvSpPr>
        <p:spPr>
          <a:xfrm>
            <a:off x="445574" y="684687"/>
            <a:ext cx="5367397"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sp>
        <p:nvSpPr>
          <p:cNvPr id="10" name="Rectangle 9"/>
          <p:cNvSpPr/>
          <p:nvPr/>
        </p:nvSpPr>
        <p:spPr>
          <a:xfrm>
            <a:off x="5741775" y="684687"/>
            <a:ext cx="1063301" cy="391628"/>
          </a:xfrm>
          <a:prstGeom prst="rect">
            <a:avLst/>
          </a:prstGeom>
          <a:solidFill>
            <a:srgbClr val="007AC3"/>
          </a:solidFill>
        </p:spPr>
        <p:txBody>
          <a:bodyPr wrap="square" lIns="180000" tIns="72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5741775" y="618309"/>
            <a:ext cx="0" cy="53122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Google Shape;114;p12"/>
          <p:cNvSpPr txBox="1"/>
          <p:nvPr/>
        </p:nvSpPr>
        <p:spPr>
          <a:xfrm>
            <a:off x="553475" y="1134028"/>
            <a:ext cx="82677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panose="020B0604020202020204"/>
              <a:buNone/>
            </a:pPr>
            <a:r>
              <a:rPr lang="en-GB" dirty="0">
                <a:solidFill>
                  <a:schemeClr val="dk1"/>
                </a:solidFill>
              </a:rPr>
              <a:t>Joseph has </a:t>
            </a:r>
            <a:r>
              <a:rPr lang="en-GB" dirty="0">
                <a:solidFill>
                  <a:schemeClr val="dk1"/>
                </a:solidFill>
                <a:latin typeface="Twinkl"/>
                <a:ea typeface="Twinkl"/>
                <a:cs typeface="Twinkl"/>
                <a:sym typeface="Twinkl"/>
              </a:rPr>
              <a:t>completed this long multiplication calculation but has made some mistakes. Explain each mistake and calculate the correct answer.</a:t>
            </a:r>
            <a:endParaRPr dirty="0"/>
          </a:p>
        </p:txBody>
      </p:sp>
      <p:graphicFrame>
        <p:nvGraphicFramePr>
          <p:cNvPr id="3" name="Google Shape;115;p12"/>
          <p:cNvGraphicFramePr/>
          <p:nvPr/>
        </p:nvGraphicFramePr>
        <p:xfrm>
          <a:off x="613250" y="2026653"/>
          <a:ext cx="3224700" cy="3377250"/>
        </p:xfrm>
        <a:graphic>
          <a:graphicData uri="http://schemas.openxmlformats.org/drawingml/2006/table">
            <a:tbl>
              <a:tblPr>
                <a:noFill/>
              </a:tblPr>
              <a:tblGrid>
                <a:gridCol w="537450"/>
                <a:gridCol w="537450"/>
                <a:gridCol w="537450"/>
                <a:gridCol w="537450"/>
                <a:gridCol w="537450"/>
                <a:gridCol w="537450"/>
              </a:tblGrid>
              <a:tr h="562875">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8</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4</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800">
                          <a:solidFill>
                            <a:schemeClr val="dk1"/>
                          </a:solidFill>
                        </a:rPr>
                        <a:t>×</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1</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8</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dirty="0">
                          <a:solidFill>
                            <a:schemeClr val="dk1"/>
                          </a:solidFill>
                        </a:rPr>
                        <a:t>4</a:t>
                      </a:r>
                      <a:r>
                        <a:rPr lang="en-GB" sz="1800" baseline="-25000" dirty="0">
                          <a:solidFill>
                            <a:schemeClr val="dk1"/>
                          </a:solidFill>
                        </a:rPr>
                        <a:t>2</a:t>
                      </a:r>
                      <a:endParaRPr sz="1800" baseline="-250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5</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0</a:t>
                      </a:r>
                      <a:r>
                        <a:rPr lang="en-GB" sz="1800" baseline="-25000">
                          <a:solidFill>
                            <a:schemeClr val="dk1"/>
                          </a:solidFill>
                        </a:rPr>
                        <a:t>2</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4</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dirty="0">
                          <a:solidFill>
                            <a:schemeClr val="dk1"/>
                          </a:solidFill>
                        </a:rPr>
                        <a:t>9</a:t>
                      </a:r>
                      <a:r>
                        <a:rPr lang="en-GB" sz="1800" baseline="-25000" dirty="0">
                          <a:solidFill>
                            <a:schemeClr val="dk1"/>
                          </a:solidFill>
                        </a:rPr>
                        <a:t>3</a:t>
                      </a:r>
                      <a:endParaRPr sz="1800" baseline="-250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7</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3</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dirty="0">
                          <a:solidFill>
                            <a:schemeClr val="dk1"/>
                          </a:solidFill>
                        </a:rPr>
                        <a:t>3</a:t>
                      </a: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dirty="0">
                          <a:solidFill>
                            <a:schemeClr val="dk1"/>
                          </a:solidFill>
                        </a:rPr>
                        <a:t>7</a:t>
                      </a: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200">
                          <a:solidFill>
                            <a:schemeClr val="dk1"/>
                          </a:solidFill>
                        </a:rPr>
                        <a:t>1</a:t>
                      </a:r>
                      <a:endParaRPr sz="12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en-GB" sz="1200" dirty="0">
                          <a:solidFill>
                            <a:schemeClr val="dk1"/>
                          </a:solidFill>
                        </a:rPr>
                        <a:t>1</a:t>
                      </a:r>
                      <a:endParaRPr sz="12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4" name="Google Shape;119;p12"/>
          <p:cNvSpPr txBox="1"/>
          <p:nvPr/>
        </p:nvSpPr>
        <p:spPr>
          <a:xfrm>
            <a:off x="3789835" y="3190111"/>
            <a:ext cx="21309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solidFill>
                  <a:schemeClr val="dk1"/>
                </a:solidFill>
              </a:rPr>
              <a:t>(8416 × 2)</a:t>
            </a:r>
            <a:endParaRPr dirty="0">
              <a:solidFill>
                <a:schemeClr val="dk1"/>
              </a:solidFill>
            </a:endParaRPr>
          </a:p>
        </p:txBody>
      </p:sp>
      <p:sp>
        <p:nvSpPr>
          <p:cNvPr id="5" name="Google Shape;120;p12"/>
          <p:cNvSpPr txBox="1"/>
          <p:nvPr/>
        </p:nvSpPr>
        <p:spPr>
          <a:xfrm>
            <a:off x="3789835" y="3766849"/>
            <a:ext cx="21309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solidFill>
                  <a:schemeClr val="dk1"/>
                </a:solidFill>
              </a:rPr>
              <a:t>(8416 × 60)</a:t>
            </a:r>
            <a:endParaRPr dirty="0">
              <a:solidFill>
                <a:schemeClr val="dk1"/>
              </a:solidFill>
            </a:endParaRPr>
          </a:p>
        </p:txBody>
      </p:sp>
      <p:sp>
        <p:nvSpPr>
          <p:cNvPr id="7" name="Google Shape;122;p12"/>
          <p:cNvSpPr/>
          <p:nvPr/>
        </p:nvSpPr>
        <p:spPr>
          <a:xfrm>
            <a:off x="5179026" y="1836028"/>
            <a:ext cx="3386478" cy="45024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When multiplying by the ones digit, Joseph has incorrectly regrouped. </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2 × 6 = 12 (1 ten and 2 ones) but he has written this as 2 tens and 1 one. </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8416 × 2 = 16 832</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When multiplying by the tens digit, he has not included a zero placeholder. </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8416 × 60 = 504 960</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The correct answer is </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521 792.</a:t>
            </a:r>
            <a:endParaRPr b="1" dirty="0">
              <a:solidFill>
                <a:schemeClr val="dk1"/>
              </a:solidFill>
            </a:endParaRPr>
          </a:p>
        </p:txBody>
      </p:sp>
      <p:cxnSp>
        <p:nvCxnSpPr>
          <p:cNvPr id="9" name="Google Shape;131;p13"/>
          <p:cNvCxnSpPr/>
          <p:nvPr/>
        </p:nvCxnSpPr>
        <p:spPr>
          <a:xfrm rot="10800000" flipH="1">
            <a:off x="603093" y="4265617"/>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12" name="Google Shape;132;p13"/>
          <p:cNvCxnSpPr/>
          <p:nvPr/>
        </p:nvCxnSpPr>
        <p:spPr>
          <a:xfrm rot="10800000" flipH="1">
            <a:off x="605643" y="4828492"/>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13" name="Google Shape;133;p13"/>
          <p:cNvCxnSpPr/>
          <p:nvPr/>
        </p:nvCxnSpPr>
        <p:spPr>
          <a:xfrm>
            <a:off x="1140542" y="3143454"/>
            <a:ext cx="2684851" cy="0"/>
          </a:xfrm>
          <a:prstGeom prst="straightConnector1">
            <a:avLst/>
          </a:prstGeom>
          <a:noFill/>
          <a:ln w="38100"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45574" y="702863"/>
            <a:ext cx="2956653"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Insert White Rose Aim Here</a:t>
            </a:r>
            <a:endParaRPr lang="en-GB" sz="1600" b="1" dirty="0">
              <a:solidFill>
                <a:schemeClr val="bg1"/>
              </a:solidFill>
            </a:endParaRPr>
          </a:p>
        </p:txBody>
      </p:sp>
      <p:pic>
        <p:nvPicPr>
          <p:cNvPr id="66" name="Picture 6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8" name="Rectangle 7"/>
          <p:cNvSpPr/>
          <p:nvPr/>
        </p:nvSpPr>
        <p:spPr>
          <a:xfrm>
            <a:off x="445574" y="684687"/>
            <a:ext cx="5367397"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sp>
        <p:nvSpPr>
          <p:cNvPr id="10" name="Rectangle 9"/>
          <p:cNvSpPr/>
          <p:nvPr/>
        </p:nvSpPr>
        <p:spPr>
          <a:xfrm>
            <a:off x="5741775" y="684687"/>
            <a:ext cx="1063301" cy="391628"/>
          </a:xfrm>
          <a:prstGeom prst="rect">
            <a:avLst/>
          </a:prstGeom>
          <a:solidFill>
            <a:srgbClr val="007AC3"/>
          </a:solidFill>
        </p:spPr>
        <p:txBody>
          <a:bodyPr wrap="square" lIns="180000" tIns="72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5741775" y="618309"/>
            <a:ext cx="0" cy="53122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Google Shape;129;p13"/>
          <p:cNvSpPr txBox="1"/>
          <p:nvPr/>
        </p:nvSpPr>
        <p:spPr>
          <a:xfrm>
            <a:off x="539750" y="1124349"/>
            <a:ext cx="79629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panose="020B0604020202020204"/>
              <a:buNone/>
            </a:pPr>
            <a:r>
              <a:rPr lang="en-GB" dirty="0">
                <a:solidFill>
                  <a:schemeClr val="dk1"/>
                </a:solidFill>
              </a:rPr>
              <a:t>Identify the missing digits shown by the letters and explain</a:t>
            </a:r>
            <a:r>
              <a:rPr lang="en-GB" dirty="0">
                <a:solidFill>
                  <a:schemeClr val="dk1"/>
                </a:solidFill>
                <a:highlight>
                  <a:schemeClr val="lt1"/>
                </a:highlight>
              </a:rPr>
              <a:t> which is the odd one out. </a:t>
            </a:r>
            <a:r>
              <a:rPr lang="en-GB" dirty="0">
                <a:solidFill>
                  <a:schemeClr val="dk1"/>
                </a:solidFill>
              </a:rPr>
              <a:t>Calculate the answer to the calculation. </a:t>
            </a:r>
            <a:endParaRPr dirty="0"/>
          </a:p>
        </p:txBody>
      </p:sp>
      <p:graphicFrame>
        <p:nvGraphicFramePr>
          <p:cNvPr id="3" name="Google Shape;130;p13"/>
          <p:cNvGraphicFramePr/>
          <p:nvPr/>
        </p:nvGraphicFramePr>
        <p:xfrm>
          <a:off x="849537" y="1910420"/>
          <a:ext cx="3224700" cy="3377250"/>
        </p:xfrm>
        <a:graphic>
          <a:graphicData uri="http://schemas.openxmlformats.org/drawingml/2006/table">
            <a:tbl>
              <a:tblPr>
                <a:noFill/>
              </a:tblPr>
              <a:tblGrid>
                <a:gridCol w="537450"/>
                <a:gridCol w="537450"/>
                <a:gridCol w="537450"/>
                <a:gridCol w="537450"/>
                <a:gridCol w="537450"/>
                <a:gridCol w="537450"/>
              </a:tblGrid>
              <a:tr h="562875">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dk1"/>
                          </a:solidFill>
                        </a:rPr>
                        <a:t>A</a:t>
                      </a:r>
                      <a:endParaRPr sz="18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0</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3</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a:solidFill>
                            <a:schemeClr val="dk1"/>
                          </a:solidFill>
                        </a:rPr>
                        <a:t>B</a:t>
                      </a:r>
                      <a:endParaRPr sz="18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8</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0</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dk1"/>
                          </a:solidFill>
                        </a:rPr>
                        <a:t>C</a:t>
                      </a:r>
                      <a:endParaRPr sz="1800" b="1" baseline="-250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1</a:t>
                      </a:r>
                      <a:r>
                        <a:rPr lang="en-GB" sz="1800" baseline="-25000">
                          <a:solidFill>
                            <a:schemeClr val="dk1"/>
                          </a:solidFill>
                        </a:rPr>
                        <a:t>1</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b="1" dirty="0">
                          <a:solidFill>
                            <a:schemeClr val="dk1"/>
                          </a:solidFill>
                        </a:rPr>
                        <a:t>D</a:t>
                      </a:r>
                      <a:endParaRPr sz="1800" b="1" baseline="-250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800">
                          <a:solidFill>
                            <a:schemeClr val="dk1"/>
                          </a:solidFill>
                        </a:rPr>
                        <a:t>0</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62875">
                <a:tc>
                  <a:txBody>
                    <a:bodyPr/>
                    <a:lstStyle/>
                    <a:p>
                      <a:pPr marL="0" lvl="0" indent="0" algn="ctr" rtl="0">
                        <a:spcBef>
                          <a:spcPts val="0"/>
                        </a:spcBef>
                        <a:spcAft>
                          <a:spcPts val="0"/>
                        </a:spcAft>
                        <a:buClr>
                          <a:schemeClr val="dk1"/>
                        </a:buClr>
                        <a:buSzPts val="1100"/>
                        <a:buFont typeface="Arial" panose="020B0604020202020204"/>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cxnSp>
        <p:nvCxnSpPr>
          <p:cNvPr id="4" name="Google Shape;131;p13"/>
          <p:cNvCxnSpPr/>
          <p:nvPr/>
        </p:nvCxnSpPr>
        <p:spPr>
          <a:xfrm rot="10800000" flipH="1">
            <a:off x="848187" y="4161920"/>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5" name="Google Shape;132;p13"/>
          <p:cNvCxnSpPr/>
          <p:nvPr/>
        </p:nvCxnSpPr>
        <p:spPr>
          <a:xfrm rot="10800000" flipH="1">
            <a:off x="850737" y="4724795"/>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7" name="Google Shape;133;p13"/>
          <p:cNvCxnSpPr/>
          <p:nvPr/>
        </p:nvCxnSpPr>
        <p:spPr>
          <a:xfrm>
            <a:off x="853287" y="3036157"/>
            <a:ext cx="3217200" cy="3600"/>
          </a:xfrm>
          <a:prstGeom prst="straightConnector1">
            <a:avLst/>
          </a:prstGeom>
          <a:noFill/>
          <a:ln w="38100" cap="flat" cmpd="sng">
            <a:solidFill>
              <a:schemeClr val="dk2"/>
            </a:solidFill>
            <a:prstDash val="solid"/>
            <a:round/>
            <a:headEnd type="none" w="med" len="med"/>
            <a:tailEnd type="none" w="med" len="med"/>
          </a:ln>
        </p:spPr>
      </p:cxnSp>
      <p:graphicFrame>
        <p:nvGraphicFramePr>
          <p:cNvPr id="9" name="Google Shape;134;p13"/>
          <p:cNvGraphicFramePr/>
          <p:nvPr/>
        </p:nvGraphicFramePr>
        <p:xfrm>
          <a:off x="4850787" y="1910420"/>
          <a:ext cx="3224700" cy="3377250"/>
        </p:xfrm>
        <a:graphic>
          <a:graphicData uri="http://schemas.openxmlformats.org/drawingml/2006/table">
            <a:tbl>
              <a:tblPr>
                <a:noFill/>
              </a:tblPr>
              <a:tblGrid>
                <a:gridCol w="537450"/>
                <a:gridCol w="537450"/>
                <a:gridCol w="537450"/>
                <a:gridCol w="537450"/>
                <a:gridCol w="537450"/>
                <a:gridCol w="537450"/>
              </a:tblGrid>
              <a:tr h="562875">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Clr>
                          <a:schemeClr val="dk1"/>
                        </a:buClr>
                        <a:buSzPts val="1100"/>
                        <a:buFont typeface="Arial" panose="020B0604020202020204"/>
                        <a:buNone/>
                      </a:pPr>
                      <a:r>
                        <a:rPr lang="en-GB" sz="1800" b="1" dirty="0">
                          <a:solidFill>
                            <a:schemeClr val="dk1"/>
                          </a:solidFill>
                        </a:rPr>
                        <a:t>4</a:t>
                      </a:r>
                      <a:endParaRPr sz="1800" dirty="0">
                        <a:solidFill>
                          <a:srgbClr val="70AD47"/>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0</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3</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r h="562875">
                <a:tc>
                  <a:txBody>
                    <a:bodyPr/>
                    <a:lstStyle/>
                    <a:p>
                      <a:pPr marL="0" lvl="0" indent="0" algn="ctr" rtl="0">
                        <a:spcBef>
                          <a:spcPts val="0"/>
                        </a:spcBef>
                        <a:spcAft>
                          <a:spcPts val="0"/>
                        </a:spcAft>
                        <a:buNone/>
                      </a:pP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dirty="0">
                          <a:solidFill>
                            <a:schemeClr val="dk1"/>
                          </a:solidFill>
                        </a:rPr>
                        <a:t>×</a:t>
                      </a: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Clr>
                          <a:schemeClr val="dk1"/>
                        </a:buClr>
                        <a:buSzPts val="1100"/>
                        <a:buFont typeface="Arial" panose="020B0604020202020204"/>
                        <a:buNone/>
                      </a:pPr>
                      <a:r>
                        <a:rPr lang="en-GB" sz="1800" b="1" dirty="0">
                          <a:solidFill>
                            <a:schemeClr val="dk1"/>
                          </a:solidFill>
                        </a:rPr>
                        <a:t>4</a:t>
                      </a:r>
                      <a:endParaRPr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r h="562875">
                <a:tc>
                  <a:txBody>
                    <a:bodyPr/>
                    <a:lstStyle/>
                    <a:p>
                      <a:pPr marL="0" lvl="0" indent="0" algn="ctr" rtl="0">
                        <a:spcBef>
                          <a:spcPts val="0"/>
                        </a:spcBef>
                        <a:spcAft>
                          <a:spcPts val="0"/>
                        </a:spcAft>
                        <a:buNone/>
                      </a:pP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dirty="0">
                          <a:solidFill>
                            <a:schemeClr val="dk1"/>
                          </a:solidFill>
                        </a:rPr>
                        <a:t>8</a:t>
                      </a:r>
                      <a:endParaRPr sz="1800" baseline="-250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0</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panose="020B0604020202020204"/>
                        <a:buNone/>
                        <a:defRPr/>
                      </a:pPr>
                      <a:r>
                        <a:rPr lang="en-GB" sz="1800" b="1" dirty="0">
                          <a:solidFill>
                            <a:schemeClr val="dk1"/>
                          </a:solidFill>
                        </a:rPr>
                        <a:t>6</a:t>
                      </a:r>
                      <a:endParaRPr lang="en-GB"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r h="562875">
                <a:tc>
                  <a:txBody>
                    <a:bodyPr/>
                    <a:lstStyle/>
                    <a:p>
                      <a:pPr marL="0" lvl="0" indent="0" algn="ctr" rtl="0">
                        <a:spcBef>
                          <a:spcPts val="0"/>
                        </a:spcBef>
                        <a:spcAft>
                          <a:spcPts val="0"/>
                        </a:spcAft>
                        <a:buNone/>
                      </a:pPr>
                      <a:r>
                        <a:rPr lang="en-GB" sz="1800">
                          <a:solidFill>
                            <a:schemeClr val="dk1"/>
                          </a:solidFill>
                        </a:rPr>
                        <a:t>1</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6</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1</a:t>
                      </a:r>
                      <a:r>
                        <a:rPr lang="en-GB" sz="1800" baseline="-25000">
                          <a:solidFill>
                            <a:schemeClr val="dk1"/>
                          </a:solidFill>
                        </a:rPr>
                        <a:t>1</a:t>
                      </a:r>
                      <a:endParaRPr sz="1800" baseline="-250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2</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panose="020B0604020202020204"/>
                        <a:buNone/>
                        <a:defRPr/>
                      </a:pPr>
                      <a:r>
                        <a:rPr lang="en-GB" sz="1800" b="1" dirty="0">
                          <a:solidFill>
                            <a:schemeClr val="dk1"/>
                          </a:solidFill>
                        </a:rPr>
                        <a:t>4</a:t>
                      </a:r>
                      <a:endParaRPr lang="en-GB" sz="1800" dirty="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a:solidFill>
                            <a:schemeClr val="dk1"/>
                          </a:solidFill>
                        </a:rPr>
                        <a:t>0</a:t>
                      </a:r>
                      <a:endParaRPr sz="18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r h="562875">
                <a:tc>
                  <a:txBody>
                    <a:bodyPr/>
                    <a:lstStyle/>
                    <a:p>
                      <a:pPr marL="0" lvl="0" indent="0" algn="ctr" rtl="0">
                        <a:spcBef>
                          <a:spcPts val="0"/>
                        </a:spcBef>
                        <a:spcAft>
                          <a:spcPts val="0"/>
                        </a:spcAft>
                        <a:buNone/>
                      </a:pPr>
                      <a:r>
                        <a:rPr lang="en-GB" sz="1800" b="1" dirty="0">
                          <a:solidFill>
                            <a:schemeClr val="tx1"/>
                          </a:solidFill>
                        </a:rPr>
                        <a:t>1</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b="1" dirty="0">
                          <a:solidFill>
                            <a:schemeClr val="tx1"/>
                          </a:solidFill>
                        </a:rPr>
                        <a:t>6</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b="1">
                          <a:solidFill>
                            <a:schemeClr val="tx1"/>
                          </a:solidFill>
                        </a:rPr>
                        <a:t>9</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b="1" dirty="0">
                          <a:solidFill>
                            <a:schemeClr val="tx1"/>
                          </a:solidFill>
                        </a:rPr>
                        <a:t>3</a:t>
                      </a: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b="1">
                          <a:solidFill>
                            <a:schemeClr val="tx1"/>
                          </a:solidFill>
                        </a:rPr>
                        <a:t>0</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800" b="1">
                          <a:solidFill>
                            <a:schemeClr val="tx1"/>
                          </a:solidFill>
                        </a:rPr>
                        <a:t>2</a:t>
                      </a: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r h="562875">
                <a:tc>
                  <a:txBody>
                    <a:bodyPr/>
                    <a:lstStyle/>
                    <a:p>
                      <a:pPr marL="0" lvl="0" indent="0" algn="ctr" rtl="0">
                        <a:spcBef>
                          <a:spcPts val="0"/>
                        </a:spcBef>
                        <a:spcAft>
                          <a:spcPts val="0"/>
                        </a:spcAft>
                        <a:buNone/>
                      </a:pP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b="1">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GB" sz="1400" b="1" dirty="0">
                          <a:solidFill>
                            <a:schemeClr val="tx1"/>
                          </a:solidFill>
                        </a:rPr>
                        <a:t>1</a:t>
                      </a:r>
                      <a:endParaRPr sz="14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endParaRPr sz="1800" b="1" dirty="0">
                        <a:solidFill>
                          <a:schemeClr val="tx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r>
            </a:tbl>
          </a:graphicData>
        </a:graphic>
      </p:graphicFrame>
      <p:cxnSp>
        <p:nvCxnSpPr>
          <p:cNvPr id="13" name="Google Shape;136;p13"/>
          <p:cNvCxnSpPr/>
          <p:nvPr/>
        </p:nvCxnSpPr>
        <p:spPr>
          <a:xfrm rot="10800000" flipH="1">
            <a:off x="4853862" y="3025995"/>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14" name="Google Shape;137;p13"/>
          <p:cNvCxnSpPr/>
          <p:nvPr/>
        </p:nvCxnSpPr>
        <p:spPr>
          <a:xfrm rot="10800000" flipH="1">
            <a:off x="4853862" y="4161920"/>
            <a:ext cx="3222300" cy="13800"/>
          </a:xfrm>
          <a:prstGeom prst="straightConnector1">
            <a:avLst/>
          </a:prstGeom>
          <a:noFill/>
          <a:ln w="38100" cap="flat" cmpd="sng">
            <a:solidFill>
              <a:schemeClr val="dk2"/>
            </a:solidFill>
            <a:prstDash val="solid"/>
            <a:round/>
            <a:headEnd type="none" w="med" len="med"/>
            <a:tailEnd type="none" w="med" len="med"/>
          </a:ln>
        </p:spPr>
      </p:cxnSp>
      <p:cxnSp>
        <p:nvCxnSpPr>
          <p:cNvPr id="15" name="Google Shape;138;p13"/>
          <p:cNvCxnSpPr/>
          <p:nvPr/>
        </p:nvCxnSpPr>
        <p:spPr>
          <a:xfrm rot="10800000" flipH="1">
            <a:off x="4853262" y="4724795"/>
            <a:ext cx="3222300" cy="13800"/>
          </a:xfrm>
          <a:prstGeom prst="straightConnector1">
            <a:avLst/>
          </a:prstGeom>
          <a:noFill/>
          <a:ln w="38100" cap="flat" cmpd="sng">
            <a:solidFill>
              <a:schemeClr val="dk2"/>
            </a:solidFill>
            <a:prstDash val="solid"/>
            <a:round/>
            <a:headEnd type="none" w="med" len="med"/>
            <a:tailEnd type="none" w="med" len="med"/>
          </a:ln>
        </p:spPr>
      </p:cxnSp>
      <p:sp>
        <p:nvSpPr>
          <p:cNvPr id="16" name="Google Shape;141;p13"/>
          <p:cNvSpPr/>
          <p:nvPr/>
        </p:nvSpPr>
        <p:spPr>
          <a:xfrm>
            <a:off x="1677311" y="5449560"/>
            <a:ext cx="5687777" cy="842114"/>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200"/>
              <a:buFont typeface="Arial" panose="020B0604020202020204"/>
              <a:buNone/>
            </a:pPr>
            <a:r>
              <a:rPr lang="en-GB" b="1" dirty="0">
                <a:solidFill>
                  <a:schemeClr val="dk1"/>
                </a:solidFill>
                <a:highlight>
                  <a:schemeClr val="lt1"/>
                </a:highlight>
              </a:rPr>
              <a:t>A = 4, B = 4, C = 6 and D = 4 so </a:t>
            </a:r>
            <a:r>
              <a:rPr lang="en-GB" b="1" dirty="0">
                <a:solidFill>
                  <a:schemeClr val="dk1"/>
                </a:solidFill>
              </a:rPr>
              <a:t>C is the odd one out as this is the only digit that is not a 4.</a:t>
            </a:r>
            <a:r>
              <a:rPr lang="en-GB" b="1" dirty="0">
                <a:solidFill>
                  <a:srgbClr val="70AD47"/>
                </a:solidFill>
              </a:rPr>
              <a:t> </a:t>
            </a:r>
            <a:endParaRPr b="1" dirty="0"/>
          </a:p>
        </p:txBody>
      </p:sp>
      <p:grpSp>
        <p:nvGrpSpPr>
          <p:cNvPr id="29" name="Group 28"/>
          <p:cNvGrpSpPr/>
          <p:nvPr/>
        </p:nvGrpSpPr>
        <p:grpSpPr>
          <a:xfrm>
            <a:off x="4898652" y="4196325"/>
            <a:ext cx="3108960" cy="1065880"/>
            <a:chOff x="4917440" y="4196420"/>
            <a:chExt cx="3108960" cy="1080757"/>
          </a:xfrm>
          <a:solidFill>
            <a:schemeClr val="bg1"/>
          </a:solidFill>
        </p:grpSpPr>
        <p:sp>
          <p:nvSpPr>
            <p:cNvPr id="21" name="Rectangle 20"/>
            <p:cNvSpPr/>
            <p:nvPr/>
          </p:nvSpPr>
          <p:spPr>
            <a:xfrm>
              <a:off x="5974080" y="421674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2" name="Rectangle 21"/>
            <p:cNvSpPr/>
            <p:nvPr/>
          </p:nvSpPr>
          <p:spPr>
            <a:xfrm>
              <a:off x="5476240" y="421674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3" name="Rectangle 22"/>
            <p:cNvSpPr/>
            <p:nvPr/>
          </p:nvSpPr>
          <p:spPr>
            <a:xfrm>
              <a:off x="4917440" y="421674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4" name="Rectangle 23"/>
            <p:cNvSpPr/>
            <p:nvPr/>
          </p:nvSpPr>
          <p:spPr>
            <a:xfrm>
              <a:off x="6512560" y="420658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5" name="Rectangle 24"/>
            <p:cNvSpPr/>
            <p:nvPr/>
          </p:nvSpPr>
          <p:spPr>
            <a:xfrm>
              <a:off x="7051040" y="420658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6" name="Rectangle 25"/>
            <p:cNvSpPr/>
            <p:nvPr/>
          </p:nvSpPr>
          <p:spPr>
            <a:xfrm>
              <a:off x="7589520" y="419642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28" name="Rectangle 27"/>
            <p:cNvSpPr/>
            <p:nvPr/>
          </p:nvSpPr>
          <p:spPr>
            <a:xfrm>
              <a:off x="6522720" y="4775540"/>
              <a:ext cx="436880" cy="50163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grpSp>
      <p:sp>
        <p:nvSpPr>
          <p:cNvPr id="30" name="Rectangle 29"/>
          <p:cNvSpPr/>
          <p:nvPr/>
        </p:nvSpPr>
        <p:spPr>
          <a:xfrm>
            <a:off x="4821653" y="1860495"/>
            <a:ext cx="3469060" cy="3491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850114" y="1910420"/>
            <a:ext cx="3224699" cy="3377250"/>
          </a:xfrm>
          <a:prstGeom prst="rect">
            <a:avLst/>
          </a:prstGeom>
          <a:no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29"/>
                                        </p:tgtEl>
                                      </p:cBhvr>
                                    </p:animEffect>
                                    <p:set>
                                      <p:cBhvr>
                                        <p:cTn id="15" dur="1" fill="hold">
                                          <p:stCondLst>
                                            <p:cond delay="499"/>
                                          </p:stCondLst>
                                        </p:cTn>
                                        <p:tgtEl>
                                          <p:spTgt spid="2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45574" y="684687"/>
            <a:ext cx="5376728"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pic>
        <p:nvPicPr>
          <p:cNvPr id="74" name="Picture 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75" name="Rectangle 74"/>
          <p:cNvSpPr/>
          <p:nvPr/>
        </p:nvSpPr>
        <p:spPr>
          <a:xfrm>
            <a:off x="5720858" y="684687"/>
            <a:ext cx="1141417" cy="391628"/>
          </a:xfrm>
          <a:prstGeom prst="rect">
            <a:avLst/>
          </a:prstGeom>
          <a:solidFill>
            <a:srgbClr val="00529C"/>
          </a:solidFill>
        </p:spPr>
        <p:txBody>
          <a:bodyPr wrap="square" lIns="180000" tIns="72000" rIns="180000" bIns="72000" anchor="ctr">
            <a:spAutoFit/>
          </a:bodyPr>
          <a:lstStyle/>
          <a:p>
            <a:pPr algn="ctr"/>
            <a:r>
              <a:rPr lang="en-GB" altLang="en-US" sz="1600" b="1" dirty="0">
                <a:solidFill>
                  <a:schemeClr val="bg1"/>
                </a:solidFill>
              </a:rPr>
              <a:t>Deepest</a:t>
            </a:r>
            <a:endParaRPr lang="en-GB" sz="1600" b="1" dirty="0">
              <a:solidFill>
                <a:schemeClr val="bg1"/>
              </a:solidFill>
            </a:endParaRPr>
          </a:p>
        </p:txBody>
      </p:sp>
      <p:cxnSp>
        <p:nvCxnSpPr>
          <p:cNvPr id="8" name="Straight Connector 7"/>
          <p:cNvCxnSpPr/>
          <p:nvPr/>
        </p:nvCxnSpPr>
        <p:spPr>
          <a:xfrm>
            <a:off x="5720858" y="609600"/>
            <a:ext cx="0" cy="62519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Google Shape;150;p14"/>
          <p:cNvSpPr/>
          <p:nvPr/>
        </p:nvSpPr>
        <p:spPr>
          <a:xfrm>
            <a:off x="4572000" y="2110259"/>
            <a:ext cx="3594875" cy="14439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6413 × 72p = £4617.36</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5896 × 95p = £5601.20</a:t>
            </a:r>
            <a:endParaRPr b="1"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£5601.20 − £4617.36 = £983.84</a:t>
            </a:r>
            <a:endParaRPr b="1" dirty="0">
              <a:solidFill>
                <a:schemeClr val="dk1"/>
              </a:solidFill>
            </a:endParaRPr>
          </a:p>
        </p:txBody>
      </p:sp>
      <p:sp>
        <p:nvSpPr>
          <p:cNvPr id="3" name="Google Shape;151;p14"/>
          <p:cNvSpPr/>
          <p:nvPr/>
        </p:nvSpPr>
        <p:spPr>
          <a:xfrm>
            <a:off x="616475" y="5007575"/>
            <a:ext cx="3787574" cy="789000"/>
          </a:xfrm>
          <a:prstGeom prst="rect">
            <a:avLst/>
          </a:prstGeom>
          <a:noFill/>
          <a:ln w="28575" cap="flat" cmpd="sng">
            <a:solidFill>
              <a:srgbClr val="68942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b="1" dirty="0">
                <a:solidFill>
                  <a:schemeClr val="dk1"/>
                </a:solidFill>
              </a:rPr>
              <a:t>£5601.20 + £4617.36 = £10 218.56</a:t>
            </a:r>
            <a:endParaRPr b="1" dirty="0">
              <a:solidFill>
                <a:schemeClr val="dk1"/>
              </a:solidFill>
            </a:endParaRPr>
          </a:p>
        </p:txBody>
      </p:sp>
      <p:sp>
        <p:nvSpPr>
          <p:cNvPr id="4" name="Google Shape;152;p14"/>
          <p:cNvSpPr txBox="1"/>
          <p:nvPr/>
        </p:nvSpPr>
        <p:spPr>
          <a:xfrm>
            <a:off x="553475" y="1234338"/>
            <a:ext cx="76155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GB" dirty="0">
                <a:solidFill>
                  <a:schemeClr val="dk1"/>
                </a:solidFill>
              </a:rPr>
              <a:t>At a rugby stadium, 6413 spectators bought a snack costing 72p each. 5896 bought a drink costing 95p each. </a:t>
            </a:r>
            <a:endParaRPr dirty="0"/>
          </a:p>
        </p:txBody>
      </p:sp>
      <p:sp>
        <p:nvSpPr>
          <p:cNvPr id="5" name="Google Shape;153;p14"/>
          <p:cNvSpPr txBox="1"/>
          <p:nvPr/>
        </p:nvSpPr>
        <p:spPr>
          <a:xfrm>
            <a:off x="553475" y="2324393"/>
            <a:ext cx="3753900"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GB" dirty="0">
                <a:solidFill>
                  <a:schemeClr val="dk1"/>
                </a:solidFill>
              </a:rPr>
              <a:t>How much more money did they take selling drinks than selling snacks?</a:t>
            </a:r>
            <a:endParaRPr dirty="0"/>
          </a:p>
        </p:txBody>
      </p:sp>
      <p:sp>
        <p:nvSpPr>
          <p:cNvPr id="7" name="Google Shape;154;p14"/>
          <p:cNvSpPr txBox="1"/>
          <p:nvPr/>
        </p:nvSpPr>
        <p:spPr>
          <a:xfrm>
            <a:off x="553475" y="4382100"/>
            <a:ext cx="77955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400"/>
              <a:buFont typeface="Arial" panose="020B0604020202020204"/>
              <a:buNone/>
            </a:pPr>
            <a:r>
              <a:rPr lang="en-GB">
                <a:solidFill>
                  <a:schemeClr val="dk1"/>
                </a:solidFill>
              </a:rPr>
              <a:t>How much money did they take altogether?</a:t>
            </a:r>
            <a:endParaRPr lang="en-GB">
              <a:solidFill>
                <a:schemeClr val="dk1"/>
              </a:solidFill>
            </a:endParaRPr>
          </a:p>
        </p:txBody>
      </p:sp>
      <p:pic>
        <p:nvPicPr>
          <p:cNvPr id="10" name="Picture 9" descr="A white and blue rugby ball&#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84260" y="3922081"/>
            <a:ext cx="1982615" cy="21709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63663" y="1819414"/>
            <a:ext cx="3824688" cy="4273409"/>
          </a:xfrm>
          <a:prstGeom prst="rect">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755650" y="1822827"/>
            <a:ext cx="3816349" cy="4269997"/>
          </a:xfrm>
          <a:prstGeom prst="rect">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755649" y="1364071"/>
            <a:ext cx="7632701" cy="458757"/>
          </a:xfrm>
          <a:prstGeom prst="rect">
            <a:avLst/>
          </a:prstGeom>
          <a:solidFill>
            <a:srgbClr val="C7E8FD"/>
          </a:solidFill>
        </p:spPr>
        <p:txBody>
          <a:bodyPr wrap="square" lIns="72000" tIns="72000" rIns="72000" bIns="108000" anchor="ctr" anchorCtr="0">
            <a:spAutoFit/>
          </a:bodyPr>
          <a:lstStyle/>
          <a:p>
            <a:pPr algn="ctr"/>
            <a:r>
              <a:rPr lang="en-GB" dirty="0"/>
              <a:t>Dive in by completing your own activity!</a:t>
            </a:r>
            <a:endParaRPr lang="en-GB" dirty="0"/>
          </a:p>
        </p:txBody>
      </p:sp>
      <p:pic>
        <p:nvPicPr>
          <p:cNvPr id="6" name="Picture 5"/>
          <p:cNvPicPr>
            <a:picLocks noChangeAspect="1"/>
          </p:cNvPicPr>
          <p:nvPr/>
        </p:nvPicPr>
        <p:blipFill rotWithShape="1">
          <a:blip r:embed="rId1" cstate="print">
            <a:extLst>
              <a:ext uri="{28A0092B-C50C-407E-A947-70E740481C1C}">
                <a14:useLocalDpi xmlns:a14="http://schemas.microsoft.com/office/drawing/2010/main" val="0"/>
              </a:ext>
            </a:extLst>
          </a:blip>
          <a:srcRect l="15355" t="500" r="27421" b="1"/>
          <a:stretch>
            <a:fillRect/>
          </a:stretch>
        </p:blipFill>
        <p:spPr>
          <a:xfrm>
            <a:off x="755650" y="1819415"/>
            <a:ext cx="3818059" cy="4273409"/>
          </a:xfrm>
          <a:prstGeom prst="rect">
            <a:avLst/>
          </a:prstGeom>
        </p:spPr>
      </p:pic>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682123" y="2030899"/>
            <a:ext cx="2722088" cy="3850438"/>
          </a:xfrm>
          <a:prstGeom prst="rect">
            <a:avLst/>
          </a:prstGeom>
          <a:effectLst>
            <a:outerShdw blurRad="63500" sx="102000" sy="102000" algn="ctr" rotWithShape="0">
              <a:prstClr val="black">
                <a:alpha val="20000"/>
              </a:prstClr>
            </a:outerShdw>
          </a:effectLst>
        </p:spPr>
      </p:pic>
      <p:pic>
        <p:nvPicPr>
          <p:cNvPr id="19" name="Picture 18"/>
          <p:cNvPicPr>
            <a:picLocks noChangeAspect="1"/>
          </p:cNvPicPr>
          <p:nvPr/>
        </p:nvPicPr>
        <p:blipFill rotWithShape="1">
          <a:blip r:embed="rId3" cstate="print">
            <a:extLst>
              <a:ext uri="{28A0092B-C50C-407E-A947-70E740481C1C}">
                <a14:useLocalDpi xmlns:a14="http://schemas.microsoft.com/office/drawing/2010/main" val="0"/>
              </a:ext>
            </a:extLst>
          </a:blip>
          <a:srcRect l="49981" t="-73" r="2265" b="73"/>
          <a:stretch>
            <a:fillRect/>
          </a:stretch>
        </p:blipFill>
        <p:spPr>
          <a:xfrm rot="1560000">
            <a:off x="2562201" y="2850129"/>
            <a:ext cx="720000" cy="2132392"/>
          </a:xfrm>
          <a:prstGeom prst="rect">
            <a:avLst/>
          </a:prstGeom>
          <a:effectLst/>
        </p:spPr>
      </p:pic>
      <p:sp>
        <p:nvSpPr>
          <p:cNvPr id="14" name="Rectangle 13"/>
          <p:cNvSpPr/>
          <p:nvPr/>
        </p:nvSpPr>
        <p:spPr>
          <a:xfrm>
            <a:off x="445574" y="684687"/>
            <a:ext cx="5365946" cy="391628"/>
          </a:xfrm>
          <a:prstGeom prst="rect">
            <a:avLst/>
          </a:prstGeom>
          <a:solidFill>
            <a:srgbClr val="072F54"/>
          </a:solidFill>
        </p:spPr>
        <p:txBody>
          <a:bodyPr wrap="square" lIns="180000" tIns="72000" rIns="180000" bIns="72000" anchor="ctr">
            <a:spAutoFit/>
          </a:bodyPr>
          <a:lstStyle/>
          <a:p>
            <a:r>
              <a:rPr lang="en-US" sz="1600" b="1" dirty="0">
                <a:solidFill>
                  <a:schemeClr val="bg1"/>
                </a:solidFill>
              </a:rPr>
              <a:t>Multiply up to a 4-Digit Number by a 2-Digit Number</a:t>
            </a:r>
            <a:endParaRPr lang="en-US" sz="1600" b="1" dirty="0">
              <a:solidFill>
                <a:schemeClr val="bg1"/>
              </a:solidFill>
            </a:endParaRP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5118275" y="2030899"/>
            <a:ext cx="2722088" cy="3850438"/>
          </a:xfrm>
          <a:prstGeom prst="rect">
            <a:avLst/>
          </a:prstGeom>
          <a:effectLst>
            <a:outerShdw blurRad="63500" sx="102000" sy="102000" algn="ctr" rotWithShape="0">
              <a:prstClr val="black">
                <a:alpha val="20000"/>
              </a:prstClr>
            </a:outerShdw>
          </a:effectLst>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5554426" y="2030899"/>
            <a:ext cx="2722088" cy="3850438"/>
          </a:xfrm>
          <a:prstGeom prst="rect">
            <a:avLst/>
          </a:prstGeom>
          <a:effectLst>
            <a:outerShdw blurRad="63500" sx="102000" sy="102000" algn="ctr" rotWithShape="0">
              <a:prstClr val="black">
                <a:alpha val="20000"/>
              </a:prstClr>
            </a:outerShdw>
          </a:effectLst>
        </p:spPr>
      </p:pic>
      <p:pic>
        <p:nvPicPr>
          <p:cNvPr id="3" name="Picture 2"/>
          <p:cNvPicPr>
            <a:picLocks noChangeAspect="1"/>
          </p:cNvPicPr>
          <p:nvPr/>
        </p:nvPicPr>
        <p:blipFill rotWithShape="1">
          <a:blip r:embed="rId6" cstate="print">
            <a:extLst>
              <a:ext uri="{28A0092B-C50C-407E-A947-70E740481C1C}">
                <a14:useLocalDpi xmlns:a14="http://schemas.microsoft.com/office/drawing/2010/main" val="0"/>
              </a:ext>
            </a:extLst>
          </a:blip>
          <a:srcRect l="48346" t="-672" r="2986" b="672"/>
          <a:stretch>
            <a:fillRect/>
          </a:stretch>
        </p:blipFill>
        <p:spPr>
          <a:xfrm rot="1479848">
            <a:off x="1196267" y="2166421"/>
            <a:ext cx="733800" cy="2132392"/>
          </a:xfrm>
          <a:prstGeom prst="rect">
            <a:avLst/>
          </a:prstGeom>
          <a:effectLst/>
        </p:spPr>
      </p:pic>
      <p:pic>
        <p:nvPicPr>
          <p:cNvPr id="22" name="Boy Writing"/>
          <p:cNvPicPr>
            <a:picLocks noChangeAspect="1"/>
          </p:cNvPicPr>
          <p:nvPr/>
        </p:nvPicPr>
        <p:blipFill rotWithShape="1">
          <a:blip r:embed="rId7" cstate="print">
            <a:extLst>
              <a:ext uri="{28A0092B-C50C-407E-A947-70E740481C1C}">
                <a14:useLocalDpi xmlns:a14="http://schemas.microsoft.com/office/drawing/2010/main" val="0"/>
              </a:ext>
            </a:extLst>
          </a:blip>
          <a:srcRect l="176" t="622" r="32362"/>
          <a:stretch>
            <a:fillRect/>
          </a:stretch>
        </p:blipFill>
        <p:spPr>
          <a:xfrm>
            <a:off x="755649" y="1928693"/>
            <a:ext cx="4038155" cy="41641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p:cNvSpPr/>
          <p:nvPr/>
        </p:nvSpPr>
        <p:spPr bwMode="auto">
          <a:xfrm>
            <a:off x="457198" y="438151"/>
            <a:ext cx="8220075" cy="5957887"/>
          </a:xfrm>
          <a:prstGeom prst="roundRect">
            <a:avLst>
              <a:gd name="adj" fmla="val 2649"/>
            </a:avLst>
          </a:prstGeom>
          <a:solidFill>
            <a:srgbClr val="002060">
              <a:alpha val="90000"/>
            </a:srgb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600" b="1" dirty="0">
                <a:latin typeface="Twinkl" pitchFamily="50" charset="0"/>
              </a:rPr>
              <a:t> </a:t>
            </a:r>
            <a:endParaRPr lang="en-GB" sz="1600" b="1" dirty="0">
              <a:latin typeface="Twinkl" pitchFamily="50" charset="0"/>
            </a:endParaRPr>
          </a:p>
        </p:txBody>
      </p:sp>
      <p:sp>
        <p:nvSpPr>
          <p:cNvPr id="16" name="Rectangle 15"/>
          <p:cNvSpPr/>
          <p:nvPr/>
        </p:nvSpPr>
        <p:spPr>
          <a:xfrm>
            <a:off x="755650" y="2696325"/>
            <a:ext cx="7632700" cy="400110"/>
          </a:xfrm>
          <a:prstGeom prst="rect">
            <a:avLst/>
          </a:prstGeom>
        </p:spPr>
        <p:txBody>
          <a:bodyPr wrap="square">
            <a:spAutoFit/>
          </a:bodyPr>
          <a:lstStyle/>
          <a:p>
            <a:pPr algn="ctr"/>
            <a:r>
              <a:rPr lang="en-GB" sz="2000" dirty="0">
                <a:solidFill>
                  <a:schemeClr val="bg1"/>
                </a:solidFill>
                <a:latin typeface="Roboto" panose="02000000000000000000" pitchFamily="2" charset="0"/>
                <a:ea typeface="Roboto" panose="02000000000000000000" pitchFamily="2" charset="0"/>
              </a:rPr>
              <a:t>For more planning resources to support this aim, </a:t>
            </a:r>
            <a:r>
              <a:rPr lang="en-GB" sz="2000" b="1" dirty="0">
                <a:solidFill>
                  <a:srgbClr val="18A0DB"/>
                </a:solidFill>
                <a:latin typeface="Roboto" panose="02000000000000000000" pitchFamily="2" charset="0"/>
                <a:ea typeface="Roboto" panose="02000000000000000000" pitchFamily="2" charset="0"/>
                <a:hlinkClick r:id="rId1"/>
              </a:rPr>
              <a:t>click here</a:t>
            </a:r>
            <a:r>
              <a:rPr lang="en-GB" sz="2000" dirty="0">
                <a:solidFill>
                  <a:schemeClr val="bg1"/>
                </a:solidFill>
                <a:latin typeface="Roboto" panose="02000000000000000000" pitchFamily="2" charset="0"/>
                <a:ea typeface="Roboto" panose="02000000000000000000" pitchFamily="2" charset="0"/>
              </a:rPr>
              <a:t>.</a:t>
            </a:r>
            <a:endParaRPr lang="en-GB" sz="2000" dirty="0">
              <a:solidFill>
                <a:schemeClr val="bg1"/>
              </a:solidFill>
              <a:latin typeface="Roboto" panose="02000000000000000000" pitchFamily="2" charset="0"/>
              <a:ea typeface="Roboto" panose="02000000000000000000" pitchFamily="2" charset="0"/>
            </a:endParaRPr>
          </a:p>
        </p:txBody>
      </p:sp>
      <p:sp>
        <p:nvSpPr>
          <p:cNvPr id="17" name="Rectangle 16"/>
          <p:cNvSpPr/>
          <p:nvPr/>
        </p:nvSpPr>
        <p:spPr>
          <a:xfrm>
            <a:off x="766722" y="5385322"/>
            <a:ext cx="6103310" cy="615553"/>
          </a:xfrm>
          <a:prstGeom prst="rect">
            <a:avLst/>
          </a:prstGeom>
        </p:spPr>
        <p:txBody>
          <a:bodyPr wrap="square" lIns="0" tIns="0" rIns="0" bIns="0">
            <a:spAutoFit/>
          </a:bodyPr>
          <a:lstStyle/>
          <a:p>
            <a:r>
              <a:rPr lang="en-GB" sz="2000" dirty="0" err="1">
                <a:solidFill>
                  <a:schemeClr val="bg1"/>
                </a:solidFill>
                <a:latin typeface="Roboto" panose="02000000000000000000" pitchFamily="2" charset="0"/>
                <a:ea typeface="Roboto" panose="02000000000000000000" pitchFamily="2" charset="0"/>
              </a:rPr>
              <a:t>Twinkl</a:t>
            </a:r>
            <a:r>
              <a:rPr lang="en-GB" sz="2000" dirty="0">
                <a:solidFill>
                  <a:schemeClr val="bg1"/>
                </a:solidFill>
                <a:latin typeface="Roboto" panose="02000000000000000000" pitchFamily="2" charset="0"/>
                <a:ea typeface="Roboto" panose="02000000000000000000" pitchFamily="2" charset="0"/>
              </a:rPr>
              <a:t> </a:t>
            </a:r>
            <a:r>
              <a:rPr lang="en-GB" sz="2000" dirty="0" err="1">
                <a:solidFill>
                  <a:schemeClr val="bg1"/>
                </a:solidFill>
                <a:latin typeface="Roboto" panose="02000000000000000000" pitchFamily="2" charset="0"/>
                <a:ea typeface="Roboto" panose="02000000000000000000" pitchFamily="2" charset="0"/>
              </a:rPr>
              <a:t>PlanIt</a:t>
            </a:r>
            <a:r>
              <a:rPr lang="en-GB" sz="2000" dirty="0">
                <a:solidFill>
                  <a:schemeClr val="bg1"/>
                </a:solidFill>
                <a:latin typeface="Roboto" panose="02000000000000000000" pitchFamily="2" charset="0"/>
                <a:ea typeface="Roboto" panose="02000000000000000000" pitchFamily="2" charset="0"/>
              </a:rPr>
              <a:t> is our award-winning scheme of work </a:t>
            </a:r>
            <a:br>
              <a:rPr lang="en-GB" sz="2000" dirty="0">
                <a:solidFill>
                  <a:schemeClr val="bg1"/>
                </a:solidFill>
                <a:latin typeface="Roboto" panose="02000000000000000000" pitchFamily="2" charset="0"/>
                <a:ea typeface="Roboto" panose="02000000000000000000" pitchFamily="2" charset="0"/>
              </a:rPr>
            </a:br>
            <a:r>
              <a:rPr lang="en-GB" sz="2000" dirty="0">
                <a:solidFill>
                  <a:schemeClr val="bg1"/>
                </a:solidFill>
                <a:latin typeface="Roboto" panose="02000000000000000000" pitchFamily="2" charset="0"/>
                <a:ea typeface="Roboto" panose="02000000000000000000" pitchFamily="2" charset="0"/>
              </a:rPr>
              <a:t>with over 4000 resources.</a:t>
            </a:r>
            <a:endParaRPr lang="en-GB" sz="2000" dirty="0">
              <a:solidFill>
                <a:schemeClr val="bg1"/>
              </a:solidFill>
              <a:latin typeface="Roboto" panose="02000000000000000000" pitchFamily="2" charset="0"/>
              <a:ea typeface="Roboto" panose="02000000000000000000" pitchFamily="2" charset="0"/>
            </a:endParaRPr>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24745" y="5223878"/>
            <a:ext cx="1406637" cy="933495"/>
          </a:xfrm>
          <a:prstGeom prst="rect">
            <a:avLst/>
          </a:prstGeom>
        </p:spPr>
      </p:pic>
      <p:sp>
        <p:nvSpPr>
          <p:cNvPr id="22" name="Rectangle 21"/>
          <p:cNvSpPr/>
          <p:nvPr/>
        </p:nvSpPr>
        <p:spPr>
          <a:xfrm>
            <a:off x="594362" y="765175"/>
            <a:ext cx="7952222" cy="553998"/>
          </a:xfrm>
          <a:prstGeom prst="rect">
            <a:avLst/>
          </a:prstGeom>
        </p:spPr>
        <p:txBody>
          <a:bodyPr wrap="square">
            <a:spAutoFit/>
          </a:bodyPr>
          <a:lstStyle/>
          <a:p>
            <a:pPr algn="ctr"/>
            <a:r>
              <a:rPr lang="en-GB" sz="2900" b="1" dirty="0">
                <a:solidFill>
                  <a:schemeClr val="bg1"/>
                </a:solidFill>
                <a:latin typeface="Roboto" panose="02000000000000000000" pitchFamily="2" charset="0"/>
                <a:ea typeface="Roboto" panose="02000000000000000000" pitchFamily="2" charset="0"/>
              </a:rPr>
              <a:t>Need Planning to Complement this Resource?</a:t>
            </a:r>
            <a:endParaRPr lang="en-GB" sz="2900" b="1" dirty="0">
              <a:solidFill>
                <a:schemeClr val="bg1"/>
              </a:solidFill>
              <a:latin typeface="Roboto" panose="02000000000000000000" pitchFamily="2" charset="0"/>
              <a:ea typeface="Roboto" panose="02000000000000000000" pitchFamily="2" charset="0"/>
            </a:endParaRPr>
          </a:p>
        </p:txBody>
      </p:sp>
      <p:sp>
        <p:nvSpPr>
          <p:cNvPr id="23" name="Rectangle 22"/>
          <p:cNvSpPr/>
          <p:nvPr/>
        </p:nvSpPr>
        <p:spPr>
          <a:xfrm>
            <a:off x="755650" y="1789800"/>
            <a:ext cx="7564566" cy="748923"/>
          </a:xfrm>
          <a:prstGeom prst="rect">
            <a:avLst/>
          </a:prstGeom>
          <a:solidFill>
            <a:schemeClr val="bg1"/>
          </a:solidFill>
        </p:spPr>
        <p:txBody>
          <a:bodyPr wrap="square">
            <a:spAutoFit/>
          </a:bodyPr>
          <a:lstStyle/>
          <a:p>
            <a:pPr lvl="0" algn="ctr">
              <a:lnSpc>
                <a:spcPct val="110000"/>
              </a:lnSpc>
            </a:pPr>
            <a:r>
              <a:rPr lang="en-US" sz="2000" b="1" dirty="0">
                <a:solidFill>
                  <a:srgbClr val="014482"/>
                </a:solidFill>
                <a:latin typeface="Roboto" panose="02000000000000000000" pitchFamily="2" charset="0"/>
                <a:ea typeface="Roboto" panose="02000000000000000000" pitchFamily="2" charset="0"/>
              </a:rPr>
              <a:t>Solve problems involving addition, subtraction, multiplication and division</a:t>
            </a:r>
            <a:endParaRPr lang="en-US" sz="2000" b="1" dirty="0">
              <a:solidFill>
                <a:srgbClr val="014482"/>
              </a:solidFill>
              <a:latin typeface="Roboto" panose="02000000000000000000" pitchFamily="2" charset="0"/>
              <a:ea typeface="Roboto" panose="02000000000000000000" pitchFamily="2" charset="0"/>
            </a:endParaRPr>
          </a:p>
        </p:txBody>
      </p:sp>
      <p:sp>
        <p:nvSpPr>
          <p:cNvPr id="24" name="Rectangle 23"/>
          <p:cNvSpPr/>
          <p:nvPr/>
        </p:nvSpPr>
        <p:spPr>
          <a:xfrm>
            <a:off x="3169113" y="1376229"/>
            <a:ext cx="2997937" cy="400110"/>
          </a:xfrm>
          <a:prstGeom prst="rect">
            <a:avLst/>
          </a:prstGeom>
        </p:spPr>
        <p:txBody>
          <a:bodyPr wrap="none">
            <a:spAutoFit/>
          </a:bodyPr>
          <a:lstStyle/>
          <a:p>
            <a:r>
              <a:rPr lang="en-GB" sz="2000" b="1" dirty="0">
                <a:solidFill>
                  <a:schemeClr val="bg1"/>
                </a:solidFill>
                <a:latin typeface="Roboto" panose="02000000000000000000" pitchFamily="2" charset="0"/>
                <a:ea typeface="Roboto" panose="02000000000000000000" pitchFamily="2" charset="0"/>
              </a:rPr>
              <a:t>National Curriculum Aim</a:t>
            </a:r>
            <a:endParaRPr lang="en-GB" sz="2000" b="1" dirty="0">
              <a:solidFill>
                <a:schemeClr val="bg1"/>
              </a:solidFill>
              <a:latin typeface="Roboto" panose="02000000000000000000" pitchFamily="2" charset="0"/>
              <a:ea typeface="Roboto" panose="02000000000000000000" pitchFamily="2" charset="0"/>
            </a:endParaRPr>
          </a:p>
        </p:txBody>
      </p:sp>
      <p:pic>
        <p:nvPicPr>
          <p:cNvPr id="25" name="Picture 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104" y="3226660"/>
            <a:ext cx="3706766" cy="185338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6416" y="3225825"/>
            <a:ext cx="3721934" cy="1860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Mastery PowerPoint Template</Template>
  <TotalTime>0</TotalTime>
  <Words>3294</Words>
  <Application>WPS Presentation</Application>
  <PresentationFormat>On-screen Show (4:3)</PresentationFormat>
  <Paragraphs>437</Paragraphs>
  <Slides>12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Twinkl</vt:lpstr>
      <vt:lpstr>Roboto</vt:lpstr>
      <vt:lpstr>Twinkl SemiBold</vt:lpstr>
      <vt:lpstr>AMGDT</vt:lpstr>
      <vt:lpstr>Sassoon Infant Md</vt:lpstr>
      <vt:lpstr>Segoe Print</vt:lpstr>
      <vt:lpstr>Arial</vt:lpstr>
      <vt:lpstr>Twinkl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Sherwen</dc:creator>
  <cp:lastModifiedBy>Lamis Adel</cp:lastModifiedBy>
  <cp:revision>39</cp:revision>
  <dcterms:created xsi:type="dcterms:W3CDTF">2023-02-02T13:04:00Z</dcterms:created>
  <dcterms:modified xsi:type="dcterms:W3CDTF">2026-10-12T18:58:41Z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B6A0D91409C543EBA6AB67832B06922B_13</vt:lpwstr>
  </property>
</Properties>
</file>