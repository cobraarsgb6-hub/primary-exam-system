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84" r:id="rId2"/>
    <p:sldId id="277" r:id="rId3"/>
    <p:sldId id="264" r:id="rId4"/>
    <p:sldId id="278" r:id="rId5"/>
    <p:sldId id="279" r:id="rId6"/>
    <p:sldId id="280" r:id="rId7"/>
    <p:sldId id="281" r:id="rId8"/>
    <p:sldId id="282" r:id="rId9"/>
    <p:sldId id="283" r:id="rId10"/>
  </p:sldIdLst>
  <p:sldSz cx="9144000" cy="6858000" type="screen4x3"/>
  <p:notesSz cx="6858000" cy="9144000"/>
  <p:embeddedFontLst>
    <p:embeddedFont>
      <p:font typeface="Sassoon Infant Md" panose="02000603050000020003" charset="0"/>
      <p:regular r:id="rId13"/>
    </p:embeddedFont>
    <p:embeddedFont>
      <p:font typeface="Sassoon Infant Rg" panose="02000503030000020003" charset="0"/>
      <p:regular r:id="rId14"/>
      <p:bold r:id="rId15"/>
    </p:embeddedFont>
    <p:embeddedFont>
      <p:font typeface="Twinkl" panose="020B0604020202020204" charset="0"/>
      <p:regular r:id="rId16"/>
      <p:bold r:id="rId17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assoon Infant Rg" panose="02000503030000020003" pitchFamily="5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7">
          <p15:clr>
            <a:srgbClr val="A4A3A4"/>
          </p15:clr>
        </p15:guide>
        <p15:guide id="4" orient="horz" pos="3997">
          <p15:clr>
            <a:srgbClr val="A4A3A4"/>
          </p15:clr>
        </p15:guide>
        <p15:guide id="5" pos="5443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pos="476">
          <p15:clr>
            <a:srgbClr val="A4A3A4"/>
          </p15:clr>
        </p15:guide>
        <p15:guide id="8" orient="horz" pos="459">
          <p15:clr>
            <a:srgbClr val="A4A3A4"/>
          </p15:clr>
        </p15:guide>
        <p15:guide id="9" orient="horz" pos="3838">
          <p15:clr>
            <a:srgbClr val="A4A3A4"/>
          </p15:clr>
        </p15:guide>
        <p15:guide id="10" pos="52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FF8500"/>
    <a:srgbClr val="F53333"/>
    <a:srgbClr val="4EBA19"/>
    <a:srgbClr val="5D9532"/>
    <a:srgbClr val="92CE32"/>
    <a:srgbClr val="2898A8"/>
    <a:srgbClr val="80C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2" autoAdjust="0"/>
    <p:restoredTop sz="94660"/>
  </p:normalViewPr>
  <p:slideViewPr>
    <p:cSldViewPr snapToGrid="0">
      <p:cViewPr varScale="1">
        <p:scale>
          <a:sx n="63" d="100"/>
          <a:sy n="63" d="100"/>
        </p:scale>
        <p:origin x="58" y="533"/>
      </p:cViewPr>
      <p:guideLst>
        <p:guide orient="horz" pos="2160"/>
        <p:guide pos="2880"/>
        <p:guide pos="317"/>
        <p:guide orient="horz" pos="3997"/>
        <p:guide pos="5443"/>
        <p:guide orient="horz" pos="1071"/>
        <p:guide pos="476"/>
        <p:guide orient="horz" pos="459"/>
        <p:guide orient="horz" pos="3838"/>
        <p:guide pos="52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01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 dirty="0">
              <a:latin typeface="Twinkl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2BC99B0E-49B7-4C5C-9748-6318ADE1E1F4}" type="datetimeFigureOut">
              <a:rPr lang="en-GB">
                <a:latin typeface="Twinkl" pitchFamily="2" charset="0"/>
              </a:rPr>
              <a:pPr>
                <a:defRPr/>
              </a:pPr>
              <a:t>17/10/2026</a:t>
            </a:fld>
            <a:endParaRPr lang="en-GB" dirty="0">
              <a:latin typeface="Twinkl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 dirty="0">
              <a:latin typeface="Twinkl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050F5F7-C037-45B3-BAFF-2F15D320005D}" type="slidenum">
              <a:rPr lang="en-GB">
                <a:latin typeface="Twinkl" pitchFamily="2" charset="0"/>
              </a:rPr>
              <a:pPr>
                <a:defRPr/>
              </a:pPr>
              <a:t>‹#›</a:t>
            </a:fld>
            <a:endParaRPr lang="en-GB" dirty="0">
              <a:latin typeface="Twink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winkl" pitchFamily="2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Twinkl" pitchFamily="2" charset="0"/>
              </a:defRPr>
            </a:lvl1pPr>
          </a:lstStyle>
          <a:p>
            <a:pPr>
              <a:defRPr/>
            </a:pPr>
            <a:fld id="{31F049FF-CC97-4C96-BDD4-B5D3D8D47442}" type="datetimeFigureOut">
              <a:rPr lang="en-GB" smtClean="0"/>
              <a:pPr>
                <a:defRPr/>
              </a:pPr>
              <a:t>17/10/2026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winkl" pitchFamily="2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Twinkl" pitchFamily="2" charset="0"/>
              </a:defRPr>
            </a:lvl1pPr>
          </a:lstStyle>
          <a:p>
            <a:pPr>
              <a:defRPr/>
            </a:pPr>
            <a:fld id="{C29F2BB6-028E-4202-9245-2909814FA44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inkl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inkl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inkl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inkl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inkl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01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13945"/>
            <a:ext cx="8220075" cy="4882093"/>
          </a:xfrm>
          <a:prstGeom prst="roundRect">
            <a:avLst>
              <a:gd name="adj" fmla="val 1874"/>
            </a:avLst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Twinkl" pitchFamily="2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682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55650" y="1514475"/>
            <a:ext cx="7632700" cy="45783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srgbClr val="FFFFFF"/>
              </a:solidFill>
              <a:latin typeface="Twinkl" pitchFamily="2" charset="0"/>
            </a:endParaRPr>
          </a:p>
        </p:txBody>
      </p:sp>
      <p:grpSp>
        <p:nvGrpSpPr>
          <p:cNvPr id="6" name="Group 5"/>
          <p:cNvGrpSpPr>
            <a:grpSpLocks/>
          </p:cNvGrpSpPr>
          <p:nvPr userDrawn="1"/>
        </p:nvGrpSpPr>
        <p:grpSpPr bwMode="auto">
          <a:xfrm>
            <a:off x="4002088" y="1722438"/>
            <a:ext cx="4189412" cy="4162425"/>
            <a:chOff x="4002736" y="1701428"/>
            <a:chExt cx="4189074" cy="4163173"/>
          </a:xfrm>
        </p:grpSpPr>
        <p:sp>
          <p:nvSpPr>
            <p:cNvPr id="7" name="Oval 6"/>
            <p:cNvSpPr/>
            <p:nvPr userDrawn="1"/>
          </p:nvSpPr>
          <p:spPr bwMode="auto">
            <a:xfrm>
              <a:off x="4002736" y="1734771"/>
              <a:ext cx="1998501" cy="1997434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latin typeface="Twinkl" pitchFamily="2" charset="0"/>
                </a:rPr>
                <a:t>Insert text or illustrations here.</a:t>
              </a:r>
            </a:p>
          </p:txBody>
        </p:sp>
        <p:sp>
          <p:nvSpPr>
            <p:cNvPr id="9" name="Oval 8"/>
            <p:cNvSpPr/>
            <p:nvPr userDrawn="1"/>
          </p:nvSpPr>
          <p:spPr bwMode="auto">
            <a:xfrm>
              <a:off x="6193309" y="1701428"/>
              <a:ext cx="1998501" cy="1997434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latin typeface="Twinkl" pitchFamily="2" charset="0"/>
                </a:rPr>
                <a:t>Insert text or illustrations here.</a:t>
              </a:r>
            </a:p>
          </p:txBody>
        </p:sp>
        <p:sp>
          <p:nvSpPr>
            <p:cNvPr id="10" name="Oval 9"/>
            <p:cNvSpPr/>
            <p:nvPr userDrawn="1"/>
          </p:nvSpPr>
          <p:spPr bwMode="auto">
            <a:xfrm>
              <a:off x="6193309" y="3860816"/>
              <a:ext cx="1996914" cy="1997434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latin typeface="Twinkl" pitchFamily="2" charset="0"/>
                </a:rPr>
                <a:t>Insert text or illustrations here.</a:t>
              </a:r>
            </a:p>
          </p:txBody>
        </p:sp>
        <p:sp>
          <p:nvSpPr>
            <p:cNvPr id="11" name="Oval 10"/>
            <p:cNvSpPr/>
            <p:nvPr userDrawn="1"/>
          </p:nvSpPr>
          <p:spPr bwMode="auto">
            <a:xfrm>
              <a:off x="4002736" y="3865579"/>
              <a:ext cx="1998501" cy="1999022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  <a:latin typeface="Twinkl" pitchFamily="2" charset="0"/>
                </a:rPr>
                <a:t>Insert text or illustrations here.</a:t>
              </a:r>
            </a:p>
          </p:txBody>
        </p:sp>
      </p:grp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55650" y="1513944"/>
            <a:ext cx="3048958" cy="4578882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latin typeface="Twinkl" pitchFamily="2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482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60900" y="1514475"/>
            <a:ext cx="3690938" cy="45783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750888" y="1514475"/>
            <a:ext cx="3821112" cy="1085850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750888" y="2678113"/>
            <a:ext cx="3821112" cy="1085850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750888" y="3841750"/>
            <a:ext cx="3821112" cy="1087438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750888" y="5006975"/>
            <a:ext cx="3821112" cy="1085850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382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2895600" y="1514475"/>
            <a:ext cx="5492750" cy="28781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55650" y="4481513"/>
            <a:ext cx="7632700" cy="16113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55650" y="1514475"/>
            <a:ext cx="2036763" cy="28781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228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755650" y="1514475"/>
            <a:ext cx="2852738" cy="45783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3683000" y="4614863"/>
            <a:ext cx="4705350" cy="14779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683000" y="1519238"/>
            <a:ext cx="4705350" cy="14779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3683000" y="3067050"/>
            <a:ext cx="4705350" cy="1477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330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11688" y="1514475"/>
            <a:ext cx="3776662" cy="28146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55650" y="4418013"/>
            <a:ext cx="7632700" cy="1674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55650" y="1514475"/>
            <a:ext cx="1835150" cy="28146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684463" y="1514475"/>
            <a:ext cx="1835150" cy="28146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009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03238" y="2481263"/>
            <a:ext cx="8137525" cy="2587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8" y="1503759"/>
            <a:ext cx="8220075" cy="94694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>
                <a:latin typeface="Twinkl" pitchFamily="2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461962" y="5099446"/>
            <a:ext cx="8220075" cy="94694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>
                <a:latin typeface="Twinkl" pitchFamily="2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21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5" name="Rounded Rectangle 4"/>
          <p:cNvSpPr/>
          <p:nvPr userDrawn="1"/>
        </p:nvSpPr>
        <p:spPr>
          <a:xfrm>
            <a:off x="760413" y="4340225"/>
            <a:ext cx="2468562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6" name="Rounded Rectangle 5"/>
          <p:cNvSpPr/>
          <p:nvPr userDrawn="1"/>
        </p:nvSpPr>
        <p:spPr>
          <a:xfrm>
            <a:off x="3336925" y="4340225"/>
            <a:ext cx="2470150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7" name="Rounded Rectangle 6"/>
          <p:cNvSpPr/>
          <p:nvPr userDrawn="1"/>
        </p:nvSpPr>
        <p:spPr>
          <a:xfrm>
            <a:off x="5915025" y="4340225"/>
            <a:ext cx="246856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9" name="Rounded Rectangle 8"/>
          <p:cNvSpPr/>
          <p:nvPr userDrawn="1"/>
        </p:nvSpPr>
        <p:spPr>
          <a:xfrm>
            <a:off x="755650" y="2493963"/>
            <a:ext cx="2468563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10" name="Rounded Rectangle 9"/>
          <p:cNvSpPr/>
          <p:nvPr userDrawn="1"/>
        </p:nvSpPr>
        <p:spPr>
          <a:xfrm>
            <a:off x="3332163" y="2493963"/>
            <a:ext cx="2470150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5910263" y="2493963"/>
            <a:ext cx="2468562" cy="17526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  <a:latin typeface="Twinkl" pitchFamily="2" charset="0"/>
              </a:rPr>
              <a:t>Insert text or illustrations here.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198" y="1500011"/>
            <a:ext cx="8220075" cy="967318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>
                <a:latin typeface="Twinkl" pitchFamily="2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005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200" y="438150"/>
            <a:ext cx="8220075" cy="5957888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3752850" y="4616450"/>
            <a:ext cx="2274888" cy="146685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FFFFFF"/>
              </a:solidFill>
              <a:latin typeface="Twinkl" pitchFamily="2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752850" y="3067050"/>
            <a:ext cx="2274888" cy="14605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FFFFFF"/>
              </a:solidFill>
              <a:latin typeface="Twinkl" pitchFamily="2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752850" y="1514475"/>
            <a:ext cx="2274888" cy="14636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FFFFFF"/>
              </a:solidFill>
              <a:latin typeface="Twinkl" pitchFamily="2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6119813" y="4616450"/>
            <a:ext cx="2274887" cy="14668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FFFFFF"/>
              </a:solidFill>
              <a:latin typeface="Twinkl" pitchFamily="2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119813" y="3067050"/>
            <a:ext cx="2274887" cy="1460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FFFFFF"/>
              </a:solidFill>
              <a:latin typeface="Twinkl" pitchFamily="2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119813" y="1514475"/>
            <a:ext cx="2274887" cy="14636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rgbClr val="FFFFFF"/>
              </a:solidFill>
              <a:latin typeface="Twinkl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13946"/>
            <a:ext cx="3295652" cy="4882092"/>
          </a:xfrm>
          <a:prstGeom prst="roundRect">
            <a:avLst>
              <a:gd name="adj" fmla="val 1874"/>
            </a:avLst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Twinkl" pitchFamily="2" charset="0"/>
                <a:ea typeface="Sassoon Infant Rg" panose="02000503030000020003" pitchFamily="50" charset="0"/>
              </a:defRPr>
            </a:lvl1pPr>
            <a:lvl2pPr>
              <a:defRPr sz="16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40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47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 bwMode="auto">
          <a:xfrm>
            <a:off x="503238" y="2930525"/>
            <a:ext cx="8137525" cy="341471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4" name="Rounded Rectangle 3"/>
          <p:cNvSpPr/>
          <p:nvPr userDrawn="1"/>
        </p:nvSpPr>
        <p:spPr bwMode="auto">
          <a:xfrm>
            <a:off x="503238" y="512763"/>
            <a:ext cx="8137525" cy="2192337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350" dirty="0">
                <a:latin typeface="Twinkl" pitchFamily="2" charset="0"/>
              </a:rPr>
              <a:t> </a:t>
            </a:r>
          </a:p>
        </p:txBody>
      </p:sp>
      <p:sp>
        <p:nvSpPr>
          <p:cNvPr id="5" name="Title 1"/>
          <p:cNvSpPr txBox="1">
            <a:spLocks/>
          </p:cNvSpPr>
          <p:nvPr userDrawn="1"/>
        </p:nvSpPr>
        <p:spPr>
          <a:xfrm>
            <a:off x="628650" y="3071813"/>
            <a:ext cx="7886700" cy="539750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Twinkl" pitchFamily="2" charset="0"/>
              </a:rPr>
              <a:t>Success Criteria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628650" y="735013"/>
            <a:ext cx="7886700" cy="539750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Twinkl" pitchFamily="2" charset="0"/>
              </a:rPr>
              <a:t>Aim</a:t>
            </a:r>
          </a:p>
        </p:txBody>
      </p:sp>
      <p:sp>
        <p:nvSpPr>
          <p:cNvPr id="7" name="Content Placeholder 15"/>
          <p:cNvSpPr txBox="1">
            <a:spLocks/>
          </p:cNvSpPr>
          <p:nvPr userDrawn="1"/>
        </p:nvSpPr>
        <p:spPr>
          <a:xfrm>
            <a:off x="628650" y="3467100"/>
            <a:ext cx="7886700" cy="1409700"/>
          </a:xfrm>
          <a:prstGeom prst="rect">
            <a:avLst/>
          </a:prstGeom>
          <a:noFill/>
          <a:ln w="25400">
            <a:noFill/>
          </a:ln>
        </p:spPr>
        <p:txBody>
          <a:bodyPr lIns="180000" tIns="252000" rIns="252000" bIns="18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GB" dirty="0">
                <a:latin typeface="Twinkl" pitchFamily="2" charset="0"/>
              </a:rPr>
              <a:t>Statement 1 Lorem ipsum </a:t>
            </a:r>
            <a:r>
              <a:rPr lang="en-GB" dirty="0" err="1">
                <a:latin typeface="Twinkl" pitchFamily="2" charset="0"/>
              </a:rPr>
              <a:t>dolor</a:t>
            </a:r>
            <a:r>
              <a:rPr lang="en-GB" dirty="0">
                <a:latin typeface="Twinkl" pitchFamily="2" charset="0"/>
              </a:rPr>
              <a:t> sit </a:t>
            </a:r>
            <a:r>
              <a:rPr lang="en-GB" dirty="0" err="1">
                <a:latin typeface="Twinkl" pitchFamily="2" charset="0"/>
              </a:rPr>
              <a:t>amet</a:t>
            </a:r>
            <a:r>
              <a:rPr lang="en-GB" dirty="0">
                <a:latin typeface="Twinkl" pitchFamily="2" charset="0"/>
              </a:rPr>
              <a:t>, </a:t>
            </a:r>
            <a:r>
              <a:rPr lang="en-GB" dirty="0" err="1">
                <a:latin typeface="Twinkl" pitchFamily="2" charset="0"/>
              </a:rPr>
              <a:t>consectetur</a:t>
            </a:r>
            <a:r>
              <a:rPr lang="en-GB" dirty="0">
                <a:latin typeface="Twinkl" pitchFamily="2" charset="0"/>
              </a:rPr>
              <a:t> </a:t>
            </a:r>
            <a:r>
              <a:rPr lang="en-GB" dirty="0" err="1">
                <a:latin typeface="Twinkl" pitchFamily="2" charset="0"/>
              </a:rPr>
              <a:t>adipiscing</a:t>
            </a:r>
            <a:r>
              <a:rPr lang="en-GB" dirty="0">
                <a:latin typeface="Twinkl" pitchFamily="2" charset="0"/>
              </a:rPr>
              <a:t> </a:t>
            </a:r>
            <a:r>
              <a:rPr lang="en-GB" dirty="0" err="1">
                <a:latin typeface="Twinkl" pitchFamily="2" charset="0"/>
              </a:rPr>
              <a:t>elit</a:t>
            </a:r>
            <a:r>
              <a:rPr lang="en-GB" dirty="0">
                <a:latin typeface="Twinkl" pitchFamily="2" charset="0"/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dirty="0">
                <a:latin typeface="Twinkl" pitchFamily="2" charset="0"/>
              </a:rPr>
              <a:t>Statement 2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dirty="0">
                <a:latin typeface="Twinkl" pitchFamily="2" charset="0"/>
              </a:rPr>
              <a:t>Sub statement</a:t>
            </a:r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1127760"/>
            <a:ext cx="7886700" cy="1409700"/>
          </a:xfrm>
        </p:spPr>
        <p:txBody>
          <a:bodyPr>
            <a:normAutofit fontScale="92500" lnSpcReduction="10000"/>
          </a:bodyPr>
          <a:lstStyle>
            <a:lvl1pPr>
              <a:defRPr/>
            </a:lvl1pPr>
            <a:lvl2pPr>
              <a:defRPr/>
            </a:lvl2pPr>
          </a:lstStyle>
          <a:p>
            <a:r>
              <a:rPr lang="en-GB" dirty="0"/>
              <a:t>Statement 1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  <a:p>
            <a:r>
              <a:rPr lang="en-GB" dirty="0"/>
              <a:t>Statement 2</a:t>
            </a:r>
          </a:p>
          <a:p>
            <a:pPr lvl="1"/>
            <a:r>
              <a:rPr lang="en-GB" dirty="0"/>
              <a:t>Sub statement</a:t>
            </a:r>
          </a:p>
        </p:txBody>
      </p:sp>
    </p:spTree>
    <p:extLst>
      <p:ext uri="{BB962C8B-B14F-4D97-AF65-F5344CB8AC3E}">
        <p14:creationId xmlns:p14="http://schemas.microsoft.com/office/powerpoint/2010/main" val="3954867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77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0538" y="695325"/>
            <a:ext cx="8162925" cy="1150938"/>
          </a:xfrm>
          <a:prstGeom prst="roundRect">
            <a:avLst>
              <a:gd name="adj" fmla="val 963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0538" y="1957388"/>
            <a:ext cx="8162925" cy="4387850"/>
          </a:xfrm>
          <a:prstGeom prst="roundRect">
            <a:avLst>
              <a:gd name="adj" fmla="val 258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1C1C1C"/>
          </a:solidFill>
          <a:latin typeface="Twinkl" pitchFamily="2" charset="0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C1C1C"/>
          </a:solidFill>
          <a:latin typeface="Sassoon Infant Md" panose="02000603050000020003" pitchFamily="50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1C1C1C"/>
          </a:solidFill>
          <a:latin typeface="Twinkl" pitchFamily="2" charset="0"/>
          <a:ea typeface="Sassoon Infant Rg" panose="02000503030000020003" pitchFamily="50" charset="0"/>
          <a:cs typeface="Twinkl" pitchFamily="2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2" charset="0"/>
          <a:ea typeface="Sassoon Infant Rg" panose="02000503030000020003" pitchFamily="50" charset="0"/>
          <a:cs typeface="Twinkl" pitchFamily="2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2" charset="0"/>
          <a:ea typeface="Sassoon Infant Rg" panose="02000503030000020003" pitchFamily="50" charset="0"/>
          <a:cs typeface="Twinkl" pitchFamily="2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2" charset="0"/>
          <a:ea typeface="Sassoon Infant Rg" panose="02000503030000020003" pitchFamily="50" charset="0"/>
          <a:cs typeface="Twinkl" pitchFamily="2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2" charset="0"/>
          <a:ea typeface="Sassoon Infant Rg" panose="02000503030000020003" pitchFamily="50" charset="0"/>
          <a:cs typeface="Twinkl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FB5BF862-73E6-E4E5-2597-F856800AA76D}"/>
              </a:ext>
            </a:extLst>
          </p:cNvPr>
          <p:cNvSpPr/>
          <p:nvPr/>
        </p:nvSpPr>
        <p:spPr>
          <a:xfrm>
            <a:off x="3711389" y="5307106"/>
            <a:ext cx="1730188" cy="1120587"/>
          </a:xfrm>
          <a:prstGeom prst="cloud">
            <a:avLst/>
          </a:prstGeom>
          <a:solidFill>
            <a:srgbClr val="31B7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YEAR 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16387" name="Top Question"/>
          <p:cNvSpPr txBox="1">
            <a:spLocks noChangeArrowheads="1"/>
          </p:cNvSpPr>
          <p:nvPr/>
        </p:nvSpPr>
        <p:spPr bwMode="auto">
          <a:xfrm>
            <a:off x="755650" y="2767013"/>
            <a:ext cx="76374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8000" b="1" dirty="0">
                <a:latin typeface="Twinkl" pitchFamily="2" charset="0"/>
              </a:rPr>
              <a:t>2544 ÷ 12</a:t>
            </a:r>
          </a:p>
        </p:txBody>
      </p:sp>
      <p:sp>
        <p:nvSpPr>
          <p:cNvPr id="55" name="Top Question"/>
          <p:cNvSpPr txBox="1"/>
          <p:nvPr/>
        </p:nvSpPr>
        <p:spPr>
          <a:xfrm>
            <a:off x="755650" y="728663"/>
            <a:ext cx="763746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Complete the following calculation:</a:t>
            </a:r>
          </a:p>
        </p:txBody>
      </p:sp>
      <p:sp>
        <p:nvSpPr>
          <p:cNvPr id="6" name="Top Question"/>
          <p:cNvSpPr txBox="1"/>
          <p:nvPr/>
        </p:nvSpPr>
        <p:spPr>
          <a:xfrm>
            <a:off x="671513" y="5667375"/>
            <a:ext cx="780415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Go onto the next slide to see the division process for this calculation.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68" name="Fifth Statement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2 above the 4 and there is your final answer!</a:t>
            </a:r>
          </a:p>
        </p:txBody>
      </p:sp>
      <p:sp>
        <p:nvSpPr>
          <p:cNvPr id="67" name="Fifth Q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12s are there in 24?</a:t>
            </a:r>
          </a:p>
        </p:txBody>
      </p:sp>
      <p:sp>
        <p:nvSpPr>
          <p:cNvPr id="63" name="Fourth Statement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4.</a:t>
            </a:r>
          </a:p>
        </p:txBody>
      </p:sp>
      <p:sp>
        <p:nvSpPr>
          <p:cNvPr id="62" name="Fourth Q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14 minus 12?</a:t>
            </a:r>
          </a:p>
        </p:txBody>
      </p:sp>
      <p:sp>
        <p:nvSpPr>
          <p:cNvPr id="61" name="Third Statement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1 above the 4 and 12 below the 14.</a:t>
            </a:r>
          </a:p>
        </p:txBody>
      </p:sp>
      <p:sp>
        <p:nvSpPr>
          <p:cNvPr id="60" name="Third Q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12s are there in 14?</a:t>
            </a:r>
          </a:p>
        </p:txBody>
      </p:sp>
      <p:sp>
        <p:nvSpPr>
          <p:cNvPr id="59" name="Second Statement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4.</a:t>
            </a:r>
          </a:p>
        </p:txBody>
      </p:sp>
      <p:sp>
        <p:nvSpPr>
          <p:cNvPr id="58" name="Second Q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25 minus 24?</a:t>
            </a:r>
          </a:p>
        </p:txBody>
      </p:sp>
      <p:sp>
        <p:nvSpPr>
          <p:cNvPr id="42" name="1st Division box"/>
          <p:cNvSpPr txBox="1"/>
          <p:nvPr/>
        </p:nvSpPr>
        <p:spPr>
          <a:xfrm>
            <a:off x="3559175" y="1765300"/>
            <a:ext cx="13684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000" dirty="0">
                <a:latin typeface="Twinkl" pitchFamily="2" charset="0"/>
              </a:rPr>
              <a:t>24</a:t>
            </a:r>
          </a:p>
        </p:txBody>
      </p:sp>
      <p:sp>
        <p:nvSpPr>
          <p:cNvPr id="57" name="First Statement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2 above the 5 and write 24 below the 25.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3246438" y="2119313"/>
            <a:ext cx="26511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irst Q"/>
          <p:cNvSpPr txBox="1"/>
          <p:nvPr/>
        </p:nvSpPr>
        <p:spPr>
          <a:xfrm>
            <a:off x="750888" y="54800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12s are there in 25?</a:t>
            </a:r>
          </a:p>
        </p:txBody>
      </p:sp>
      <p:sp>
        <p:nvSpPr>
          <p:cNvPr id="38" name="Opening"/>
          <p:cNvSpPr txBox="1"/>
          <p:nvPr/>
        </p:nvSpPr>
        <p:spPr>
          <a:xfrm>
            <a:off x="750888" y="5481638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Let’s start by dividing 25 by 12 as they are both a 2 digit number.</a:t>
            </a:r>
          </a:p>
        </p:txBody>
      </p:sp>
      <p:sp>
        <p:nvSpPr>
          <p:cNvPr id="17424" name="2nd Division box"/>
          <p:cNvSpPr txBox="1">
            <a:spLocks noChangeArrowheads="1"/>
          </p:cNvSpPr>
          <p:nvPr/>
        </p:nvSpPr>
        <p:spPr bwMode="auto">
          <a:xfrm>
            <a:off x="4179888" y="1223963"/>
            <a:ext cx="4397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5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15131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34" name="2nd answer blue box"/>
          <p:cNvSpPr txBox="1">
            <a:spLocks noChangeArrowheads="1"/>
          </p:cNvSpPr>
          <p:nvPr/>
        </p:nvSpPr>
        <p:spPr bwMode="auto">
          <a:xfrm>
            <a:off x="4208463" y="552450"/>
            <a:ext cx="376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2</a:t>
            </a:r>
          </a:p>
        </p:txBody>
      </p:sp>
      <p:sp>
        <p:nvSpPr>
          <p:cNvPr id="17427" name="1st Division box"/>
          <p:cNvSpPr txBox="1">
            <a:spLocks noChangeArrowheads="1"/>
          </p:cNvSpPr>
          <p:nvPr/>
        </p:nvSpPr>
        <p:spPr bwMode="auto">
          <a:xfrm>
            <a:off x="3681413" y="1223963"/>
            <a:ext cx="339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2</a:t>
            </a:r>
          </a:p>
        </p:txBody>
      </p:sp>
      <p:sp>
        <p:nvSpPr>
          <p:cNvPr id="17428" name="1st Division box"/>
          <p:cNvSpPr txBox="1">
            <a:spLocks noChangeArrowheads="1"/>
          </p:cNvSpPr>
          <p:nvPr/>
        </p:nvSpPr>
        <p:spPr bwMode="auto">
          <a:xfrm>
            <a:off x="4800600" y="1223963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4</a:t>
            </a:r>
          </a:p>
        </p:txBody>
      </p:sp>
      <p:sp>
        <p:nvSpPr>
          <p:cNvPr id="23" name="2nd Answer box"/>
          <p:cNvSpPr/>
          <p:nvPr/>
        </p:nvSpPr>
        <p:spPr>
          <a:xfrm>
            <a:off x="470376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24" name="2nd answer blue box"/>
          <p:cNvSpPr txBox="1">
            <a:spLocks noChangeArrowheads="1"/>
          </p:cNvSpPr>
          <p:nvPr/>
        </p:nvSpPr>
        <p:spPr bwMode="auto">
          <a:xfrm>
            <a:off x="4800600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597275" y="2438400"/>
            <a:ext cx="10541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2" name="1st Division box"/>
          <p:cNvSpPr txBox="1">
            <a:spLocks noChangeArrowheads="1"/>
          </p:cNvSpPr>
          <p:nvPr/>
        </p:nvSpPr>
        <p:spPr bwMode="auto">
          <a:xfrm>
            <a:off x="5348288" y="1223963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4</a:t>
            </a:r>
          </a:p>
        </p:txBody>
      </p:sp>
      <p:sp>
        <p:nvSpPr>
          <p:cNvPr id="44" name="2nd Answer box"/>
          <p:cNvSpPr/>
          <p:nvPr/>
        </p:nvSpPr>
        <p:spPr>
          <a:xfrm>
            <a:off x="5256213" y="619125"/>
            <a:ext cx="500062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45" name="2nd answer blue box"/>
          <p:cNvSpPr txBox="1">
            <a:spLocks noChangeArrowheads="1"/>
          </p:cNvSpPr>
          <p:nvPr/>
        </p:nvSpPr>
        <p:spPr bwMode="auto">
          <a:xfrm>
            <a:off x="5348288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2</a:t>
            </a:r>
          </a:p>
        </p:txBody>
      </p:sp>
      <p:sp>
        <p:nvSpPr>
          <p:cNvPr id="47" name="1st Division box"/>
          <p:cNvSpPr txBox="1">
            <a:spLocks noChangeArrowheads="1"/>
          </p:cNvSpPr>
          <p:nvPr/>
        </p:nvSpPr>
        <p:spPr bwMode="auto">
          <a:xfrm>
            <a:off x="4246563" y="2433638"/>
            <a:ext cx="339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</a:t>
            </a:r>
          </a:p>
        </p:txBody>
      </p:sp>
      <p:sp>
        <p:nvSpPr>
          <p:cNvPr id="48" name="1st Division box"/>
          <p:cNvSpPr txBox="1">
            <a:spLocks noChangeArrowheads="1"/>
          </p:cNvSpPr>
          <p:nvPr/>
        </p:nvSpPr>
        <p:spPr bwMode="auto">
          <a:xfrm>
            <a:off x="4784725" y="1223963"/>
            <a:ext cx="3381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4</a:t>
            </a:r>
          </a:p>
        </p:txBody>
      </p:sp>
      <p:sp>
        <p:nvSpPr>
          <p:cNvPr id="49" name="1st Division box"/>
          <p:cNvSpPr txBox="1"/>
          <p:nvPr/>
        </p:nvSpPr>
        <p:spPr>
          <a:xfrm>
            <a:off x="4000500" y="2974975"/>
            <a:ext cx="1627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000" dirty="0">
                <a:latin typeface="Twinkl" pitchFamily="2" charset="0"/>
              </a:rPr>
              <a:t>12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4241800" y="3598863"/>
            <a:ext cx="906463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1st Division box"/>
          <p:cNvSpPr txBox="1">
            <a:spLocks noChangeArrowheads="1"/>
          </p:cNvSpPr>
          <p:nvPr/>
        </p:nvSpPr>
        <p:spPr bwMode="auto">
          <a:xfrm>
            <a:off x="4767263" y="3595688"/>
            <a:ext cx="3397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2</a:t>
            </a:r>
          </a:p>
        </p:txBody>
      </p:sp>
      <p:sp>
        <p:nvSpPr>
          <p:cNvPr id="53" name="1st Division box"/>
          <p:cNvSpPr txBox="1">
            <a:spLocks noChangeArrowheads="1"/>
          </p:cNvSpPr>
          <p:nvPr/>
        </p:nvSpPr>
        <p:spPr bwMode="auto">
          <a:xfrm>
            <a:off x="5348288" y="121920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4</a:t>
            </a:r>
          </a:p>
        </p:txBody>
      </p:sp>
      <p:sp>
        <p:nvSpPr>
          <p:cNvPr id="54" name="1st Division box"/>
          <p:cNvSpPr txBox="1"/>
          <p:nvPr/>
        </p:nvSpPr>
        <p:spPr>
          <a:xfrm>
            <a:off x="4694238" y="4129088"/>
            <a:ext cx="13208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24</a:t>
            </a:r>
          </a:p>
        </p:txBody>
      </p:sp>
      <p:grpSp>
        <p:nvGrpSpPr>
          <p:cNvPr id="17442" name="Division Lines"/>
          <p:cNvGrpSpPr>
            <a:grpSpLocks/>
          </p:cNvGrpSpPr>
          <p:nvPr/>
        </p:nvGrpSpPr>
        <p:grpSpPr bwMode="auto">
          <a:xfrm>
            <a:off x="3511550" y="1173163"/>
            <a:ext cx="2430463" cy="669925"/>
            <a:chOff x="3555010" y="2839072"/>
            <a:chExt cx="2613782" cy="1026827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80619" y="2839072"/>
              <a:ext cx="0" cy="1026827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703"/>
              <a:ext cx="26137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43" name="1st Division box"/>
          <p:cNvSpPr txBox="1">
            <a:spLocks noChangeArrowheads="1"/>
          </p:cNvSpPr>
          <p:nvPr/>
        </p:nvSpPr>
        <p:spPr bwMode="auto">
          <a:xfrm>
            <a:off x="2668588" y="1223963"/>
            <a:ext cx="765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3914775" y="3328988"/>
            <a:ext cx="265113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974B604-96C0-5E68-1290-E99392A67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5" y="58319"/>
            <a:ext cx="2321327" cy="16216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9B05CDF-CB7C-115F-C8B0-50E95B0C1F92}"/>
              </a:ext>
            </a:extLst>
          </p:cNvPr>
          <p:cNvGrpSpPr/>
          <p:nvPr/>
        </p:nvGrpSpPr>
        <p:grpSpPr>
          <a:xfrm>
            <a:off x="7551100" y="565617"/>
            <a:ext cx="1135247" cy="4247317"/>
            <a:chOff x="7551100" y="565617"/>
            <a:chExt cx="1135247" cy="42473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7E4C37-D51E-D579-592A-29FC932D0558}"/>
                </a:ext>
              </a:extLst>
            </p:cNvPr>
            <p:cNvSpPr/>
            <p:nvPr/>
          </p:nvSpPr>
          <p:spPr>
            <a:xfrm>
              <a:off x="7551100" y="565617"/>
              <a:ext cx="1135247" cy="424731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D÷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M×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S–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534F828-1266-2BE9-0FAA-66EEC781EEA0}"/>
                </a:ext>
              </a:extLst>
            </p:cNvPr>
            <p:cNvCxnSpPr/>
            <p:nvPr/>
          </p:nvCxnSpPr>
          <p:spPr>
            <a:xfrm>
              <a:off x="8432800" y="3071765"/>
              <a:ext cx="0" cy="72483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Arrow: Curved Down 6">
              <a:extLst>
                <a:ext uri="{FF2B5EF4-FFF2-40B4-BE49-F238E27FC236}">
                  <a16:creationId xmlns:a16="http://schemas.microsoft.com/office/drawing/2014/main" id="{C2127BB7-2F55-226C-6E20-C8A19D71EBC4}"/>
                </a:ext>
              </a:extLst>
            </p:cNvPr>
            <p:cNvSpPr/>
            <p:nvPr/>
          </p:nvSpPr>
          <p:spPr>
            <a:xfrm rot="5400000">
              <a:off x="8263410" y="4202856"/>
              <a:ext cx="478772" cy="331240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3.33333E-6 0.1763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1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-2.5E-6 0.3460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292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7" grpId="0"/>
      <p:bldP spid="67" grpId="1"/>
      <p:bldP spid="63" grpId="0"/>
      <p:bldP spid="63" grpId="1"/>
      <p:bldP spid="62" grpId="0"/>
      <p:bldP spid="62" grpId="1"/>
      <p:bldP spid="61" grpId="0"/>
      <p:bldP spid="61" grpId="1"/>
      <p:bldP spid="60" grpId="0"/>
      <p:bldP spid="60" grpId="1"/>
      <p:bldP spid="59" grpId="0"/>
      <p:bldP spid="59" grpId="1"/>
      <p:bldP spid="58" grpId="0"/>
      <p:bldP spid="58" grpId="1"/>
      <p:bldP spid="42" grpId="0"/>
      <p:bldP spid="57" grpId="0"/>
      <p:bldP spid="57" grpId="1"/>
      <p:bldP spid="56" grpId="0"/>
      <p:bldP spid="56" grpId="1"/>
      <p:bldP spid="38" grpId="0"/>
      <p:bldP spid="38" grpId="1"/>
      <p:bldP spid="21" grpId="0" animBg="1"/>
      <p:bldP spid="34" grpId="0"/>
      <p:bldP spid="23" grpId="0" animBg="1"/>
      <p:bldP spid="24" grpId="0"/>
      <p:bldP spid="44" grpId="0" animBg="1"/>
      <p:bldP spid="45" grpId="0"/>
      <p:bldP spid="47" grpId="0"/>
      <p:bldP spid="48" grpId="0"/>
      <p:bldP spid="49" grpId="0"/>
      <p:bldP spid="52" grpId="0"/>
      <p:bldP spid="53" grpId="0"/>
      <p:bldP spid="5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18435" name="Top Question"/>
          <p:cNvSpPr txBox="1">
            <a:spLocks noChangeArrowheads="1"/>
          </p:cNvSpPr>
          <p:nvPr/>
        </p:nvSpPr>
        <p:spPr bwMode="auto">
          <a:xfrm>
            <a:off x="755650" y="2767013"/>
            <a:ext cx="76374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8000" b="1" dirty="0">
                <a:latin typeface="Twinkl" pitchFamily="2" charset="0"/>
              </a:rPr>
              <a:t>7397 ÷ 13</a:t>
            </a:r>
          </a:p>
        </p:txBody>
      </p:sp>
      <p:sp>
        <p:nvSpPr>
          <p:cNvPr id="55" name="Top Question"/>
          <p:cNvSpPr txBox="1"/>
          <p:nvPr/>
        </p:nvSpPr>
        <p:spPr>
          <a:xfrm>
            <a:off x="755650" y="728663"/>
            <a:ext cx="763746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Complete the following calculation:</a:t>
            </a:r>
          </a:p>
        </p:txBody>
      </p:sp>
      <p:sp>
        <p:nvSpPr>
          <p:cNvPr id="6" name="Top Question"/>
          <p:cNvSpPr txBox="1"/>
          <p:nvPr/>
        </p:nvSpPr>
        <p:spPr>
          <a:xfrm>
            <a:off x="671513" y="5667375"/>
            <a:ext cx="780415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Go onto the next slide to see the division process for this calculation.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1st Division box"/>
          <p:cNvSpPr txBox="1">
            <a:spLocks noChangeArrowheads="1"/>
          </p:cNvSpPr>
          <p:nvPr/>
        </p:nvSpPr>
        <p:spPr bwMode="auto">
          <a:xfrm>
            <a:off x="5348288" y="121920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7</a:t>
            </a:r>
          </a:p>
        </p:txBody>
      </p:sp>
      <p:sp>
        <p:nvSpPr>
          <p:cNvPr id="48" name="1st Division box"/>
          <p:cNvSpPr txBox="1">
            <a:spLocks noChangeArrowheads="1"/>
          </p:cNvSpPr>
          <p:nvPr/>
        </p:nvSpPr>
        <p:spPr bwMode="auto">
          <a:xfrm>
            <a:off x="4784725" y="1223963"/>
            <a:ext cx="3381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9</a:t>
            </a:r>
          </a:p>
        </p:txBody>
      </p:sp>
      <p:sp>
        <p:nvSpPr>
          <p:cNvPr id="19460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68" name="Fifth Statement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9 above the 7 and there is your final answer!</a:t>
            </a:r>
          </a:p>
        </p:txBody>
      </p:sp>
      <p:sp>
        <p:nvSpPr>
          <p:cNvPr id="67" name="Fifth Q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13s are there in 117?</a:t>
            </a:r>
          </a:p>
        </p:txBody>
      </p:sp>
      <p:sp>
        <p:nvSpPr>
          <p:cNvPr id="63" name="Fourth Statement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7.</a:t>
            </a:r>
          </a:p>
        </p:txBody>
      </p:sp>
      <p:sp>
        <p:nvSpPr>
          <p:cNvPr id="62" name="Fourth Q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89 minus 78?</a:t>
            </a:r>
          </a:p>
        </p:txBody>
      </p:sp>
      <p:sp>
        <p:nvSpPr>
          <p:cNvPr id="61" name="Third Statement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6 above the 9 and 78 below the 89.</a:t>
            </a:r>
          </a:p>
        </p:txBody>
      </p:sp>
      <p:sp>
        <p:nvSpPr>
          <p:cNvPr id="60" name="Third Q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13s are there in 89?</a:t>
            </a:r>
          </a:p>
        </p:txBody>
      </p:sp>
      <p:sp>
        <p:nvSpPr>
          <p:cNvPr id="59" name="Second Statement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9.</a:t>
            </a:r>
          </a:p>
        </p:txBody>
      </p:sp>
      <p:sp>
        <p:nvSpPr>
          <p:cNvPr id="58" name="Second Q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73 minus 65?</a:t>
            </a:r>
          </a:p>
        </p:txBody>
      </p:sp>
      <p:sp>
        <p:nvSpPr>
          <p:cNvPr id="42" name="1st Division box"/>
          <p:cNvSpPr txBox="1"/>
          <p:nvPr/>
        </p:nvSpPr>
        <p:spPr>
          <a:xfrm>
            <a:off x="3559175" y="1765300"/>
            <a:ext cx="13684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000" dirty="0">
                <a:latin typeface="Twinkl" pitchFamily="2" charset="0"/>
              </a:rPr>
              <a:t>65</a:t>
            </a:r>
          </a:p>
        </p:txBody>
      </p:sp>
      <p:sp>
        <p:nvSpPr>
          <p:cNvPr id="57" name="First Statement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5 above the 3 and write 65 below the 73.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3246438" y="2119313"/>
            <a:ext cx="26511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irst Q"/>
          <p:cNvSpPr txBox="1"/>
          <p:nvPr/>
        </p:nvSpPr>
        <p:spPr>
          <a:xfrm>
            <a:off x="750888" y="547052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13s are there in 73?</a:t>
            </a:r>
          </a:p>
        </p:txBody>
      </p:sp>
      <p:sp>
        <p:nvSpPr>
          <p:cNvPr id="38" name="Opening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Let’s start by dividing 73 by 13 as they are both a 2 digit number.</a:t>
            </a:r>
          </a:p>
        </p:txBody>
      </p:sp>
      <p:sp>
        <p:nvSpPr>
          <p:cNvPr id="19474" name="2nd Division box"/>
          <p:cNvSpPr txBox="1">
            <a:spLocks noChangeArrowheads="1"/>
          </p:cNvSpPr>
          <p:nvPr/>
        </p:nvSpPr>
        <p:spPr bwMode="auto">
          <a:xfrm>
            <a:off x="4179888" y="1223963"/>
            <a:ext cx="4397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3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15131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34" name="2nd answer blue box"/>
          <p:cNvSpPr txBox="1">
            <a:spLocks noChangeArrowheads="1"/>
          </p:cNvSpPr>
          <p:nvPr/>
        </p:nvSpPr>
        <p:spPr bwMode="auto">
          <a:xfrm>
            <a:off x="4208463" y="552450"/>
            <a:ext cx="376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5</a:t>
            </a:r>
          </a:p>
        </p:txBody>
      </p:sp>
      <p:sp>
        <p:nvSpPr>
          <p:cNvPr id="19477" name="1st Division box"/>
          <p:cNvSpPr txBox="1">
            <a:spLocks noChangeArrowheads="1"/>
          </p:cNvSpPr>
          <p:nvPr/>
        </p:nvSpPr>
        <p:spPr bwMode="auto">
          <a:xfrm>
            <a:off x="3681413" y="1223963"/>
            <a:ext cx="339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7</a:t>
            </a:r>
          </a:p>
        </p:txBody>
      </p:sp>
      <p:sp>
        <p:nvSpPr>
          <p:cNvPr id="19478" name="1st Division box"/>
          <p:cNvSpPr txBox="1">
            <a:spLocks noChangeArrowheads="1"/>
          </p:cNvSpPr>
          <p:nvPr/>
        </p:nvSpPr>
        <p:spPr bwMode="auto">
          <a:xfrm>
            <a:off x="4800600" y="1223963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9</a:t>
            </a:r>
          </a:p>
        </p:txBody>
      </p:sp>
      <p:sp>
        <p:nvSpPr>
          <p:cNvPr id="23" name="2nd Answer box"/>
          <p:cNvSpPr/>
          <p:nvPr/>
        </p:nvSpPr>
        <p:spPr>
          <a:xfrm>
            <a:off x="470376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24" name="2nd answer blue box"/>
          <p:cNvSpPr txBox="1">
            <a:spLocks noChangeArrowheads="1"/>
          </p:cNvSpPr>
          <p:nvPr/>
        </p:nvSpPr>
        <p:spPr bwMode="auto">
          <a:xfrm>
            <a:off x="4800600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6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597275" y="2438400"/>
            <a:ext cx="10541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82" name="1st Division box"/>
          <p:cNvSpPr txBox="1">
            <a:spLocks noChangeArrowheads="1"/>
          </p:cNvSpPr>
          <p:nvPr/>
        </p:nvSpPr>
        <p:spPr bwMode="auto">
          <a:xfrm>
            <a:off x="5348288" y="1223963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7</a:t>
            </a:r>
          </a:p>
        </p:txBody>
      </p:sp>
      <p:sp>
        <p:nvSpPr>
          <p:cNvPr id="44" name="2nd Answer box"/>
          <p:cNvSpPr/>
          <p:nvPr/>
        </p:nvSpPr>
        <p:spPr>
          <a:xfrm>
            <a:off x="5256213" y="619125"/>
            <a:ext cx="500062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45" name="2nd answer blue box"/>
          <p:cNvSpPr txBox="1">
            <a:spLocks noChangeArrowheads="1"/>
          </p:cNvSpPr>
          <p:nvPr/>
        </p:nvSpPr>
        <p:spPr bwMode="auto">
          <a:xfrm>
            <a:off x="5348288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9</a:t>
            </a:r>
          </a:p>
        </p:txBody>
      </p:sp>
      <p:sp>
        <p:nvSpPr>
          <p:cNvPr id="47" name="1st Division box"/>
          <p:cNvSpPr txBox="1">
            <a:spLocks noChangeArrowheads="1"/>
          </p:cNvSpPr>
          <p:nvPr/>
        </p:nvSpPr>
        <p:spPr bwMode="auto">
          <a:xfrm>
            <a:off x="4246563" y="2433638"/>
            <a:ext cx="339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8</a:t>
            </a:r>
          </a:p>
        </p:txBody>
      </p:sp>
      <p:sp>
        <p:nvSpPr>
          <p:cNvPr id="49" name="1st Division box"/>
          <p:cNvSpPr txBox="1"/>
          <p:nvPr/>
        </p:nvSpPr>
        <p:spPr>
          <a:xfrm>
            <a:off x="4000500" y="2974975"/>
            <a:ext cx="1627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000" dirty="0">
                <a:latin typeface="Twinkl" pitchFamily="2" charset="0"/>
              </a:rPr>
              <a:t>78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4241800" y="3598863"/>
            <a:ext cx="906463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1st Division box"/>
          <p:cNvSpPr txBox="1"/>
          <p:nvPr/>
        </p:nvSpPr>
        <p:spPr>
          <a:xfrm>
            <a:off x="4124325" y="3595688"/>
            <a:ext cx="1387475" cy="706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11</a:t>
            </a:r>
          </a:p>
        </p:txBody>
      </p:sp>
      <p:sp>
        <p:nvSpPr>
          <p:cNvPr id="54" name="1st Division box"/>
          <p:cNvSpPr txBox="1"/>
          <p:nvPr/>
        </p:nvSpPr>
        <p:spPr>
          <a:xfrm>
            <a:off x="4159250" y="4129088"/>
            <a:ext cx="18891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117</a:t>
            </a:r>
          </a:p>
        </p:txBody>
      </p:sp>
      <p:grpSp>
        <p:nvGrpSpPr>
          <p:cNvPr id="19490" name="Division Lines"/>
          <p:cNvGrpSpPr>
            <a:grpSpLocks/>
          </p:cNvGrpSpPr>
          <p:nvPr/>
        </p:nvGrpSpPr>
        <p:grpSpPr bwMode="auto">
          <a:xfrm>
            <a:off x="3511550" y="1173163"/>
            <a:ext cx="2430463" cy="669925"/>
            <a:chOff x="3555010" y="2839072"/>
            <a:chExt cx="2613782" cy="1026827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80619" y="2839072"/>
              <a:ext cx="0" cy="1026827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703"/>
              <a:ext cx="26137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91" name="1st Division box"/>
          <p:cNvSpPr txBox="1">
            <a:spLocks noChangeArrowheads="1"/>
          </p:cNvSpPr>
          <p:nvPr/>
        </p:nvSpPr>
        <p:spPr bwMode="auto">
          <a:xfrm>
            <a:off x="2668588" y="1223963"/>
            <a:ext cx="765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13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3914775" y="3328988"/>
            <a:ext cx="265113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D938BFA-736F-CDC8-C8D5-5A333FA50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5" y="58319"/>
            <a:ext cx="2321327" cy="16216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E65B9A7-6095-76A5-2C19-64848DD0AB8B}"/>
              </a:ext>
            </a:extLst>
          </p:cNvPr>
          <p:cNvGrpSpPr/>
          <p:nvPr/>
        </p:nvGrpSpPr>
        <p:grpSpPr>
          <a:xfrm>
            <a:off x="7551100" y="565617"/>
            <a:ext cx="1135247" cy="4247317"/>
            <a:chOff x="7551100" y="565617"/>
            <a:chExt cx="1135247" cy="42473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E93867-28BB-9EB9-0501-33ECE57EF208}"/>
                </a:ext>
              </a:extLst>
            </p:cNvPr>
            <p:cNvSpPr/>
            <p:nvPr/>
          </p:nvSpPr>
          <p:spPr>
            <a:xfrm>
              <a:off x="7551100" y="565617"/>
              <a:ext cx="1135247" cy="424731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D÷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M×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S–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8F6DCE6-3DA2-524F-931D-DD7F209CF709}"/>
                </a:ext>
              </a:extLst>
            </p:cNvPr>
            <p:cNvCxnSpPr/>
            <p:nvPr/>
          </p:nvCxnSpPr>
          <p:spPr>
            <a:xfrm>
              <a:off x="8432800" y="3071765"/>
              <a:ext cx="0" cy="72483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Arrow: Curved Down 6">
              <a:extLst>
                <a:ext uri="{FF2B5EF4-FFF2-40B4-BE49-F238E27FC236}">
                  <a16:creationId xmlns:a16="http://schemas.microsoft.com/office/drawing/2014/main" id="{407A9CAA-43E0-F2CD-677C-E2BD0FE31ED1}"/>
                </a:ext>
              </a:extLst>
            </p:cNvPr>
            <p:cNvSpPr/>
            <p:nvPr/>
          </p:nvSpPr>
          <p:spPr>
            <a:xfrm rot="5400000">
              <a:off x="8263410" y="4202856"/>
              <a:ext cx="478772" cy="331240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3.33333E-6 0.1763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1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-2.5E-6 0.3460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292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48" grpId="0"/>
      <p:bldP spid="68" grpId="0"/>
      <p:bldP spid="67" grpId="0"/>
      <p:bldP spid="67" grpId="1"/>
      <p:bldP spid="63" grpId="0"/>
      <p:bldP spid="63" grpId="1"/>
      <p:bldP spid="62" grpId="0"/>
      <p:bldP spid="62" grpId="1"/>
      <p:bldP spid="61" grpId="0"/>
      <p:bldP spid="61" grpId="1"/>
      <p:bldP spid="60" grpId="0"/>
      <p:bldP spid="60" grpId="1"/>
      <p:bldP spid="59" grpId="0"/>
      <p:bldP spid="59" grpId="1"/>
      <p:bldP spid="58" grpId="0"/>
      <p:bldP spid="58" grpId="1"/>
      <p:bldP spid="42" grpId="0"/>
      <p:bldP spid="57" grpId="0"/>
      <p:bldP spid="57" grpId="1"/>
      <p:bldP spid="56" grpId="0"/>
      <p:bldP spid="56" grpId="1"/>
      <p:bldP spid="38" grpId="0"/>
      <p:bldP spid="38" grpId="1"/>
      <p:bldP spid="21" grpId="0" animBg="1"/>
      <p:bldP spid="34" grpId="0"/>
      <p:bldP spid="23" grpId="0" animBg="1"/>
      <p:bldP spid="24" grpId="0"/>
      <p:bldP spid="44" grpId="0" animBg="1"/>
      <p:bldP spid="45" grpId="0"/>
      <p:bldP spid="47" grpId="0"/>
      <p:bldP spid="49" grpId="0"/>
      <p:bldP spid="52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20483" name="Top Question"/>
          <p:cNvSpPr txBox="1">
            <a:spLocks noChangeArrowheads="1"/>
          </p:cNvSpPr>
          <p:nvPr/>
        </p:nvSpPr>
        <p:spPr bwMode="auto">
          <a:xfrm>
            <a:off x="755650" y="2767013"/>
            <a:ext cx="76374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8000" b="1" dirty="0">
                <a:latin typeface="Twinkl" pitchFamily="2" charset="0"/>
              </a:rPr>
              <a:t>4712 ÷ 31</a:t>
            </a:r>
          </a:p>
        </p:txBody>
      </p:sp>
      <p:sp>
        <p:nvSpPr>
          <p:cNvPr id="55" name="Top Question"/>
          <p:cNvSpPr txBox="1"/>
          <p:nvPr/>
        </p:nvSpPr>
        <p:spPr>
          <a:xfrm>
            <a:off x="755650" y="728663"/>
            <a:ext cx="763746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Complete the following calculation:</a:t>
            </a:r>
          </a:p>
        </p:txBody>
      </p:sp>
      <p:sp>
        <p:nvSpPr>
          <p:cNvPr id="6" name="Top Question"/>
          <p:cNvSpPr txBox="1"/>
          <p:nvPr/>
        </p:nvSpPr>
        <p:spPr>
          <a:xfrm>
            <a:off x="671513" y="5667375"/>
            <a:ext cx="780415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Go onto the next slide to see the division process for this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1st Division box"/>
          <p:cNvSpPr txBox="1">
            <a:spLocks noChangeArrowheads="1"/>
          </p:cNvSpPr>
          <p:nvPr/>
        </p:nvSpPr>
        <p:spPr bwMode="auto">
          <a:xfrm>
            <a:off x="5348288" y="121920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2</a:t>
            </a:r>
          </a:p>
        </p:txBody>
      </p:sp>
      <p:sp>
        <p:nvSpPr>
          <p:cNvPr id="48" name="1st Division box"/>
          <p:cNvSpPr txBox="1">
            <a:spLocks noChangeArrowheads="1"/>
          </p:cNvSpPr>
          <p:nvPr/>
        </p:nvSpPr>
        <p:spPr bwMode="auto">
          <a:xfrm>
            <a:off x="4784725" y="1223963"/>
            <a:ext cx="3381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</a:t>
            </a:r>
          </a:p>
        </p:txBody>
      </p:sp>
      <p:sp>
        <p:nvSpPr>
          <p:cNvPr id="21508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68" name="Fifth Statement"/>
          <p:cNvSpPr txBox="1"/>
          <p:nvPr/>
        </p:nvSpPr>
        <p:spPr>
          <a:xfrm>
            <a:off x="750888" y="54530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2 above the 2 and there is your final answer!</a:t>
            </a:r>
          </a:p>
        </p:txBody>
      </p:sp>
      <p:sp>
        <p:nvSpPr>
          <p:cNvPr id="67" name="Fifth Q"/>
          <p:cNvSpPr txBox="1"/>
          <p:nvPr/>
        </p:nvSpPr>
        <p:spPr>
          <a:xfrm>
            <a:off x="750888" y="5468938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31s are there in 62?</a:t>
            </a:r>
          </a:p>
        </p:txBody>
      </p:sp>
      <p:sp>
        <p:nvSpPr>
          <p:cNvPr id="63" name="Fourth Statement"/>
          <p:cNvSpPr txBox="1"/>
          <p:nvPr/>
        </p:nvSpPr>
        <p:spPr>
          <a:xfrm>
            <a:off x="750888" y="547687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2.</a:t>
            </a:r>
          </a:p>
        </p:txBody>
      </p:sp>
      <p:sp>
        <p:nvSpPr>
          <p:cNvPr id="62" name="Fourth Q"/>
          <p:cNvSpPr txBox="1"/>
          <p:nvPr/>
        </p:nvSpPr>
        <p:spPr>
          <a:xfrm>
            <a:off x="750888" y="54784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161 minus 155?</a:t>
            </a:r>
          </a:p>
        </p:txBody>
      </p:sp>
      <p:sp>
        <p:nvSpPr>
          <p:cNvPr id="61" name="Third Statement"/>
          <p:cNvSpPr txBox="1"/>
          <p:nvPr/>
        </p:nvSpPr>
        <p:spPr>
          <a:xfrm>
            <a:off x="750888" y="5475288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5 above the 1 and 155 below the 161.</a:t>
            </a:r>
          </a:p>
        </p:txBody>
      </p:sp>
      <p:sp>
        <p:nvSpPr>
          <p:cNvPr id="60" name="Third Q"/>
          <p:cNvSpPr txBox="1"/>
          <p:nvPr/>
        </p:nvSpPr>
        <p:spPr>
          <a:xfrm>
            <a:off x="750888" y="54673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31s are there in 161?</a:t>
            </a:r>
          </a:p>
        </p:txBody>
      </p:sp>
      <p:sp>
        <p:nvSpPr>
          <p:cNvPr id="59" name="Second Statement"/>
          <p:cNvSpPr txBox="1"/>
          <p:nvPr/>
        </p:nvSpPr>
        <p:spPr>
          <a:xfrm>
            <a:off x="750888" y="545941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1.</a:t>
            </a:r>
          </a:p>
        </p:txBody>
      </p:sp>
      <p:sp>
        <p:nvSpPr>
          <p:cNvPr id="58" name="Second Q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47 minus 31?</a:t>
            </a:r>
          </a:p>
        </p:txBody>
      </p:sp>
      <p:sp>
        <p:nvSpPr>
          <p:cNvPr id="42" name="1st Division box"/>
          <p:cNvSpPr txBox="1"/>
          <p:nvPr/>
        </p:nvSpPr>
        <p:spPr>
          <a:xfrm>
            <a:off x="3559175" y="1765300"/>
            <a:ext cx="13684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000" dirty="0">
                <a:latin typeface="Twinkl" pitchFamily="2" charset="0"/>
              </a:rPr>
              <a:t>31</a:t>
            </a:r>
          </a:p>
        </p:txBody>
      </p:sp>
      <p:sp>
        <p:nvSpPr>
          <p:cNvPr id="57" name="First Statement"/>
          <p:cNvSpPr txBox="1"/>
          <p:nvPr/>
        </p:nvSpPr>
        <p:spPr>
          <a:xfrm>
            <a:off x="750888" y="5467350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1 above the 7 and write 31 below the 47.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3246438" y="2119313"/>
            <a:ext cx="26511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irst Q"/>
          <p:cNvSpPr txBox="1"/>
          <p:nvPr/>
        </p:nvSpPr>
        <p:spPr>
          <a:xfrm>
            <a:off x="750888" y="5476875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31s are there in 47?</a:t>
            </a:r>
          </a:p>
        </p:txBody>
      </p:sp>
      <p:sp>
        <p:nvSpPr>
          <p:cNvPr id="38" name="Opening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Let’s start by dividing 47 by 31 as they are both a 2 digit number.</a:t>
            </a:r>
          </a:p>
        </p:txBody>
      </p:sp>
      <p:sp>
        <p:nvSpPr>
          <p:cNvPr id="21522" name="2nd Division box"/>
          <p:cNvSpPr txBox="1">
            <a:spLocks noChangeArrowheads="1"/>
          </p:cNvSpPr>
          <p:nvPr/>
        </p:nvSpPr>
        <p:spPr bwMode="auto">
          <a:xfrm>
            <a:off x="4179888" y="1223963"/>
            <a:ext cx="4397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7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15131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34" name="2nd answer blue box"/>
          <p:cNvSpPr txBox="1">
            <a:spLocks noChangeArrowheads="1"/>
          </p:cNvSpPr>
          <p:nvPr/>
        </p:nvSpPr>
        <p:spPr bwMode="auto">
          <a:xfrm>
            <a:off x="4208463" y="552450"/>
            <a:ext cx="376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</a:t>
            </a:r>
          </a:p>
        </p:txBody>
      </p:sp>
      <p:sp>
        <p:nvSpPr>
          <p:cNvPr id="21525" name="1st Division box"/>
          <p:cNvSpPr txBox="1">
            <a:spLocks noChangeArrowheads="1"/>
          </p:cNvSpPr>
          <p:nvPr/>
        </p:nvSpPr>
        <p:spPr bwMode="auto">
          <a:xfrm>
            <a:off x="3681413" y="1223963"/>
            <a:ext cx="339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4</a:t>
            </a:r>
          </a:p>
        </p:txBody>
      </p:sp>
      <p:sp>
        <p:nvSpPr>
          <p:cNvPr id="21526" name="1st Division box"/>
          <p:cNvSpPr txBox="1">
            <a:spLocks noChangeArrowheads="1"/>
          </p:cNvSpPr>
          <p:nvPr/>
        </p:nvSpPr>
        <p:spPr bwMode="auto">
          <a:xfrm>
            <a:off x="4799013" y="1222375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</a:t>
            </a:r>
          </a:p>
        </p:txBody>
      </p:sp>
      <p:sp>
        <p:nvSpPr>
          <p:cNvPr id="23" name="2nd Answer box"/>
          <p:cNvSpPr/>
          <p:nvPr/>
        </p:nvSpPr>
        <p:spPr>
          <a:xfrm>
            <a:off x="470376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24" name="2nd answer blue box"/>
          <p:cNvSpPr txBox="1">
            <a:spLocks noChangeArrowheads="1"/>
          </p:cNvSpPr>
          <p:nvPr/>
        </p:nvSpPr>
        <p:spPr bwMode="auto">
          <a:xfrm>
            <a:off x="4800600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5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597275" y="2438400"/>
            <a:ext cx="10541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30" name="1st Division box"/>
          <p:cNvSpPr txBox="1">
            <a:spLocks noChangeArrowheads="1"/>
          </p:cNvSpPr>
          <p:nvPr/>
        </p:nvSpPr>
        <p:spPr bwMode="auto">
          <a:xfrm>
            <a:off x="5348288" y="1223963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2</a:t>
            </a:r>
          </a:p>
        </p:txBody>
      </p:sp>
      <p:sp>
        <p:nvSpPr>
          <p:cNvPr id="44" name="2nd Answer box"/>
          <p:cNvSpPr/>
          <p:nvPr/>
        </p:nvSpPr>
        <p:spPr>
          <a:xfrm>
            <a:off x="5256213" y="619125"/>
            <a:ext cx="500062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45" name="2nd answer blue box"/>
          <p:cNvSpPr txBox="1">
            <a:spLocks noChangeArrowheads="1"/>
          </p:cNvSpPr>
          <p:nvPr/>
        </p:nvSpPr>
        <p:spPr bwMode="auto">
          <a:xfrm>
            <a:off x="5348288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2</a:t>
            </a:r>
          </a:p>
        </p:txBody>
      </p:sp>
      <p:sp>
        <p:nvSpPr>
          <p:cNvPr id="47" name="1st Division box"/>
          <p:cNvSpPr txBox="1"/>
          <p:nvPr/>
        </p:nvSpPr>
        <p:spPr>
          <a:xfrm>
            <a:off x="3576638" y="2433638"/>
            <a:ext cx="13303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16</a:t>
            </a:r>
          </a:p>
        </p:txBody>
      </p:sp>
      <p:sp>
        <p:nvSpPr>
          <p:cNvPr id="49" name="1st Division box"/>
          <p:cNvSpPr txBox="1"/>
          <p:nvPr/>
        </p:nvSpPr>
        <p:spPr>
          <a:xfrm>
            <a:off x="3460750" y="2974975"/>
            <a:ext cx="205105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000" dirty="0">
                <a:latin typeface="Twinkl" pitchFamily="2" charset="0"/>
              </a:rPr>
              <a:t>155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3597275" y="3598863"/>
            <a:ext cx="155098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1st Division box"/>
          <p:cNvSpPr txBox="1"/>
          <p:nvPr/>
        </p:nvSpPr>
        <p:spPr>
          <a:xfrm>
            <a:off x="4757738" y="3595688"/>
            <a:ext cx="571500" cy="706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6</a:t>
            </a:r>
          </a:p>
        </p:txBody>
      </p:sp>
      <p:sp>
        <p:nvSpPr>
          <p:cNvPr id="54" name="1st Division box"/>
          <p:cNvSpPr txBox="1"/>
          <p:nvPr/>
        </p:nvSpPr>
        <p:spPr>
          <a:xfrm>
            <a:off x="4384675" y="4129088"/>
            <a:ext cx="18891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62</a:t>
            </a:r>
          </a:p>
        </p:txBody>
      </p:sp>
      <p:grpSp>
        <p:nvGrpSpPr>
          <p:cNvPr id="21538" name="Division Lines"/>
          <p:cNvGrpSpPr>
            <a:grpSpLocks/>
          </p:cNvGrpSpPr>
          <p:nvPr/>
        </p:nvGrpSpPr>
        <p:grpSpPr bwMode="auto">
          <a:xfrm>
            <a:off x="3511550" y="1173163"/>
            <a:ext cx="2430463" cy="669925"/>
            <a:chOff x="3555010" y="2839072"/>
            <a:chExt cx="2613782" cy="1026827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80619" y="2839072"/>
              <a:ext cx="0" cy="1026827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703"/>
              <a:ext cx="26137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39" name="1st Division box"/>
          <p:cNvSpPr txBox="1">
            <a:spLocks noChangeArrowheads="1"/>
          </p:cNvSpPr>
          <p:nvPr/>
        </p:nvSpPr>
        <p:spPr bwMode="auto">
          <a:xfrm>
            <a:off x="2668588" y="1223963"/>
            <a:ext cx="765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31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3246438" y="3328988"/>
            <a:ext cx="26511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388B86B-E762-8425-147D-0B852D590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5" y="58319"/>
            <a:ext cx="2321327" cy="16216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B7212A8-18F4-E99E-4388-0A53ABA198A5}"/>
              </a:ext>
            </a:extLst>
          </p:cNvPr>
          <p:cNvGrpSpPr/>
          <p:nvPr/>
        </p:nvGrpSpPr>
        <p:grpSpPr>
          <a:xfrm>
            <a:off x="7551100" y="565617"/>
            <a:ext cx="1135247" cy="4247317"/>
            <a:chOff x="7551100" y="565617"/>
            <a:chExt cx="1135247" cy="42473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81A4F2-B333-A02A-33D5-ED42B9B002F4}"/>
                </a:ext>
              </a:extLst>
            </p:cNvPr>
            <p:cNvSpPr/>
            <p:nvPr/>
          </p:nvSpPr>
          <p:spPr>
            <a:xfrm>
              <a:off x="7551100" y="565617"/>
              <a:ext cx="1135247" cy="424731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D÷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M×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S–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5F96653-D589-3D41-CB52-0D687C679D2F}"/>
                </a:ext>
              </a:extLst>
            </p:cNvPr>
            <p:cNvCxnSpPr/>
            <p:nvPr/>
          </p:nvCxnSpPr>
          <p:spPr>
            <a:xfrm>
              <a:off x="8432800" y="3071765"/>
              <a:ext cx="0" cy="72483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Arrow: Curved Down 6">
              <a:extLst>
                <a:ext uri="{FF2B5EF4-FFF2-40B4-BE49-F238E27FC236}">
                  <a16:creationId xmlns:a16="http://schemas.microsoft.com/office/drawing/2014/main" id="{A246FDAF-C481-742D-D1FA-6C58324170A5}"/>
                </a:ext>
              </a:extLst>
            </p:cNvPr>
            <p:cNvSpPr/>
            <p:nvPr/>
          </p:nvSpPr>
          <p:spPr>
            <a:xfrm rot="5400000">
              <a:off x="8263410" y="4202856"/>
              <a:ext cx="478772" cy="331240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3.33333E-6 0.1763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1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-2.5E-6 0.3460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292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48" grpId="0"/>
      <p:bldP spid="68" grpId="0"/>
      <p:bldP spid="67" grpId="0"/>
      <p:bldP spid="67" grpId="1"/>
      <p:bldP spid="63" grpId="0"/>
      <p:bldP spid="63" grpId="1"/>
      <p:bldP spid="62" grpId="0"/>
      <p:bldP spid="62" grpId="1"/>
      <p:bldP spid="61" grpId="0"/>
      <p:bldP spid="61" grpId="1"/>
      <p:bldP spid="60" grpId="0"/>
      <p:bldP spid="60" grpId="1"/>
      <p:bldP spid="59" grpId="0"/>
      <p:bldP spid="59" grpId="1"/>
      <p:bldP spid="58" grpId="0"/>
      <p:bldP spid="58" grpId="1"/>
      <p:bldP spid="42" grpId="0"/>
      <p:bldP spid="57" grpId="0"/>
      <p:bldP spid="57" grpId="1"/>
      <p:bldP spid="56" grpId="0"/>
      <p:bldP spid="56" grpId="1"/>
      <p:bldP spid="38" grpId="0"/>
      <p:bldP spid="38" grpId="1"/>
      <p:bldP spid="21" grpId="0" animBg="1"/>
      <p:bldP spid="34" grpId="0"/>
      <p:bldP spid="23" grpId="0" animBg="1"/>
      <p:bldP spid="24" grpId="0"/>
      <p:bldP spid="44" grpId="0" animBg="1"/>
      <p:bldP spid="45" grpId="0"/>
      <p:bldP spid="47" grpId="0"/>
      <p:bldP spid="49" grpId="0"/>
      <p:bldP spid="52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22531" name="Top Question"/>
          <p:cNvSpPr txBox="1">
            <a:spLocks noChangeArrowheads="1"/>
          </p:cNvSpPr>
          <p:nvPr/>
        </p:nvSpPr>
        <p:spPr bwMode="auto">
          <a:xfrm>
            <a:off x="755650" y="2767013"/>
            <a:ext cx="76374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8000" b="1" dirty="0">
                <a:latin typeface="Twinkl" pitchFamily="2" charset="0"/>
              </a:rPr>
              <a:t>4005 ÷ 89</a:t>
            </a:r>
          </a:p>
        </p:txBody>
      </p:sp>
      <p:sp>
        <p:nvSpPr>
          <p:cNvPr id="50" name="Top Question"/>
          <p:cNvSpPr txBox="1"/>
          <p:nvPr/>
        </p:nvSpPr>
        <p:spPr>
          <a:xfrm>
            <a:off x="671513" y="5667375"/>
            <a:ext cx="780415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Go onto the next slide to see the division process for this calculation.</a:t>
            </a:r>
          </a:p>
        </p:txBody>
      </p:sp>
      <p:sp>
        <p:nvSpPr>
          <p:cNvPr id="55" name="Top Question"/>
          <p:cNvSpPr txBox="1"/>
          <p:nvPr/>
        </p:nvSpPr>
        <p:spPr>
          <a:xfrm>
            <a:off x="755650" y="728663"/>
            <a:ext cx="763746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Complete the following calculation: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1st Division box"/>
          <p:cNvSpPr txBox="1">
            <a:spLocks noChangeArrowheads="1"/>
          </p:cNvSpPr>
          <p:nvPr/>
        </p:nvSpPr>
        <p:spPr bwMode="auto">
          <a:xfrm>
            <a:off x="5348288" y="121920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5</a:t>
            </a:r>
          </a:p>
        </p:txBody>
      </p:sp>
      <p:sp>
        <p:nvSpPr>
          <p:cNvPr id="48" name="1st Division box"/>
          <p:cNvSpPr txBox="1">
            <a:spLocks noChangeArrowheads="1"/>
          </p:cNvSpPr>
          <p:nvPr/>
        </p:nvSpPr>
        <p:spPr bwMode="auto">
          <a:xfrm>
            <a:off x="4784725" y="1223963"/>
            <a:ext cx="3381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0</a:t>
            </a:r>
          </a:p>
        </p:txBody>
      </p:sp>
      <p:sp>
        <p:nvSpPr>
          <p:cNvPr id="23556" name="First number" hidden="1"/>
          <p:cNvSpPr txBox="1">
            <a:spLocks noChangeArrowheads="1"/>
          </p:cNvSpPr>
          <p:nvPr/>
        </p:nvSpPr>
        <p:spPr bwMode="auto">
          <a:xfrm>
            <a:off x="2722563" y="1214438"/>
            <a:ext cx="76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12</a:t>
            </a:r>
          </a:p>
        </p:txBody>
      </p:sp>
      <p:sp>
        <p:nvSpPr>
          <p:cNvPr id="68" name="Fifth Statement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5 above the 5 and there is your final answer!</a:t>
            </a:r>
          </a:p>
        </p:txBody>
      </p:sp>
      <p:sp>
        <p:nvSpPr>
          <p:cNvPr id="67" name="Fifth Q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89s are there in 445?</a:t>
            </a:r>
          </a:p>
        </p:txBody>
      </p:sp>
      <p:sp>
        <p:nvSpPr>
          <p:cNvPr id="63" name="Fourth Statement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5.</a:t>
            </a:r>
          </a:p>
        </p:txBody>
      </p:sp>
      <p:sp>
        <p:nvSpPr>
          <p:cNvPr id="62" name="Fourth Q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400 minus 356?</a:t>
            </a:r>
          </a:p>
        </p:txBody>
      </p:sp>
      <p:sp>
        <p:nvSpPr>
          <p:cNvPr id="61" name="Third Statement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4 above the 0 and 356 below the 400.</a:t>
            </a:r>
          </a:p>
        </p:txBody>
      </p:sp>
      <p:sp>
        <p:nvSpPr>
          <p:cNvPr id="60" name="Third Q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89s are there in 400?</a:t>
            </a:r>
          </a:p>
        </p:txBody>
      </p:sp>
      <p:sp>
        <p:nvSpPr>
          <p:cNvPr id="59" name="Second Statement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Now drop down the 0.</a:t>
            </a:r>
          </a:p>
        </p:txBody>
      </p:sp>
      <p:sp>
        <p:nvSpPr>
          <p:cNvPr id="58" name="Second Q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What is 40 minus 0?</a:t>
            </a:r>
          </a:p>
        </p:txBody>
      </p:sp>
      <p:sp>
        <p:nvSpPr>
          <p:cNvPr id="42" name="1st Division box"/>
          <p:cNvSpPr txBox="1"/>
          <p:nvPr/>
        </p:nvSpPr>
        <p:spPr>
          <a:xfrm>
            <a:off x="3835400" y="1765300"/>
            <a:ext cx="1368425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000" dirty="0">
                <a:latin typeface="Twinkl" pitchFamily="2" charset="0"/>
              </a:rPr>
              <a:t>0</a:t>
            </a:r>
          </a:p>
        </p:txBody>
      </p:sp>
      <p:sp>
        <p:nvSpPr>
          <p:cNvPr id="57" name="First Statement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Write 0 above the 0 and write 0 below the 40.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3246438" y="2119313"/>
            <a:ext cx="26511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irst Q"/>
          <p:cNvSpPr txBox="1"/>
          <p:nvPr/>
        </p:nvSpPr>
        <p:spPr>
          <a:xfrm>
            <a:off x="750888" y="5465763"/>
            <a:ext cx="763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How many 89s are there in 40?</a:t>
            </a:r>
          </a:p>
        </p:txBody>
      </p:sp>
      <p:sp>
        <p:nvSpPr>
          <p:cNvPr id="38" name="Opening"/>
          <p:cNvSpPr txBox="1"/>
          <p:nvPr/>
        </p:nvSpPr>
        <p:spPr>
          <a:xfrm>
            <a:off x="750888" y="5465763"/>
            <a:ext cx="76327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latin typeface="Twinkl" pitchFamily="2" charset="0"/>
              </a:rPr>
              <a:t>Let’s start by dividing 40 by 89 as they are both a 2 digit number.</a:t>
            </a:r>
          </a:p>
        </p:txBody>
      </p:sp>
      <p:sp>
        <p:nvSpPr>
          <p:cNvPr id="23570" name="2nd Division box"/>
          <p:cNvSpPr txBox="1">
            <a:spLocks noChangeArrowheads="1"/>
          </p:cNvSpPr>
          <p:nvPr/>
        </p:nvSpPr>
        <p:spPr bwMode="auto">
          <a:xfrm>
            <a:off x="4179888" y="1223963"/>
            <a:ext cx="4397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0</a:t>
            </a:r>
          </a:p>
        </p:txBody>
      </p:sp>
      <p:sp>
        <p:nvSpPr>
          <p:cNvPr id="21" name="2nd Answer box"/>
          <p:cNvSpPr/>
          <p:nvPr/>
        </p:nvSpPr>
        <p:spPr>
          <a:xfrm>
            <a:off x="415131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34" name="2nd answer blue box"/>
          <p:cNvSpPr txBox="1">
            <a:spLocks noChangeArrowheads="1"/>
          </p:cNvSpPr>
          <p:nvPr/>
        </p:nvSpPr>
        <p:spPr bwMode="auto">
          <a:xfrm>
            <a:off x="4208463" y="552450"/>
            <a:ext cx="376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0</a:t>
            </a:r>
          </a:p>
        </p:txBody>
      </p:sp>
      <p:sp>
        <p:nvSpPr>
          <p:cNvPr id="23573" name="1st Division box"/>
          <p:cNvSpPr txBox="1">
            <a:spLocks noChangeArrowheads="1"/>
          </p:cNvSpPr>
          <p:nvPr/>
        </p:nvSpPr>
        <p:spPr bwMode="auto">
          <a:xfrm>
            <a:off x="3681413" y="1223963"/>
            <a:ext cx="339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4</a:t>
            </a:r>
          </a:p>
        </p:txBody>
      </p:sp>
      <p:sp>
        <p:nvSpPr>
          <p:cNvPr id="23574" name="1st Division box"/>
          <p:cNvSpPr txBox="1">
            <a:spLocks noChangeArrowheads="1"/>
          </p:cNvSpPr>
          <p:nvPr/>
        </p:nvSpPr>
        <p:spPr bwMode="auto">
          <a:xfrm>
            <a:off x="4800600" y="1230313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0</a:t>
            </a:r>
          </a:p>
        </p:txBody>
      </p:sp>
      <p:sp>
        <p:nvSpPr>
          <p:cNvPr id="23" name="2nd Answer box"/>
          <p:cNvSpPr/>
          <p:nvPr/>
        </p:nvSpPr>
        <p:spPr>
          <a:xfrm>
            <a:off x="4703763" y="619125"/>
            <a:ext cx="498475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24" name="2nd answer blue box"/>
          <p:cNvSpPr txBox="1">
            <a:spLocks noChangeArrowheads="1"/>
          </p:cNvSpPr>
          <p:nvPr/>
        </p:nvSpPr>
        <p:spPr bwMode="auto">
          <a:xfrm>
            <a:off x="4800600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4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597275" y="2438400"/>
            <a:ext cx="10541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78" name="1st Division box"/>
          <p:cNvSpPr txBox="1">
            <a:spLocks noChangeArrowheads="1"/>
          </p:cNvSpPr>
          <p:nvPr/>
        </p:nvSpPr>
        <p:spPr bwMode="auto">
          <a:xfrm>
            <a:off x="5348288" y="1220788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5</a:t>
            </a:r>
          </a:p>
        </p:txBody>
      </p:sp>
      <p:sp>
        <p:nvSpPr>
          <p:cNvPr id="44" name="2nd Answer box"/>
          <p:cNvSpPr/>
          <p:nvPr/>
        </p:nvSpPr>
        <p:spPr>
          <a:xfrm>
            <a:off x="5256213" y="619125"/>
            <a:ext cx="500062" cy="5000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6000" b="1" dirty="0">
              <a:solidFill>
                <a:schemeClr val="tx1"/>
              </a:solidFill>
              <a:latin typeface="Twinkl" pitchFamily="2" charset="0"/>
            </a:endParaRPr>
          </a:p>
        </p:txBody>
      </p:sp>
      <p:sp>
        <p:nvSpPr>
          <p:cNvPr id="45" name="2nd answer blue box"/>
          <p:cNvSpPr txBox="1">
            <a:spLocks noChangeArrowheads="1"/>
          </p:cNvSpPr>
          <p:nvPr/>
        </p:nvSpPr>
        <p:spPr bwMode="auto">
          <a:xfrm>
            <a:off x="5348288" y="552450"/>
            <a:ext cx="30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5</a:t>
            </a:r>
          </a:p>
        </p:txBody>
      </p:sp>
      <p:sp>
        <p:nvSpPr>
          <p:cNvPr id="47" name="1st Division box"/>
          <p:cNvSpPr txBox="1"/>
          <p:nvPr/>
        </p:nvSpPr>
        <p:spPr>
          <a:xfrm>
            <a:off x="3576638" y="2433638"/>
            <a:ext cx="1368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40</a:t>
            </a:r>
          </a:p>
        </p:txBody>
      </p:sp>
      <p:sp>
        <p:nvSpPr>
          <p:cNvPr id="49" name="1st Division box"/>
          <p:cNvSpPr txBox="1"/>
          <p:nvPr/>
        </p:nvSpPr>
        <p:spPr>
          <a:xfrm>
            <a:off x="3183912" y="3042087"/>
            <a:ext cx="2688671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35</a:t>
            </a:r>
            <a:r>
              <a:rPr lang="en-GB" sz="4000" b="1" spc="2000" dirty="0">
                <a:latin typeface="Twinkl" pitchFamily="2" charset="0"/>
              </a:rPr>
              <a:t>6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3597275" y="3674364"/>
            <a:ext cx="155098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1st Division box"/>
          <p:cNvSpPr txBox="1"/>
          <p:nvPr/>
        </p:nvSpPr>
        <p:spPr>
          <a:xfrm>
            <a:off x="4114800" y="3595688"/>
            <a:ext cx="1368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200" dirty="0">
                <a:latin typeface="Twinkl" pitchFamily="2" charset="0"/>
              </a:rPr>
              <a:t>44</a:t>
            </a:r>
          </a:p>
        </p:txBody>
      </p:sp>
      <p:sp>
        <p:nvSpPr>
          <p:cNvPr id="54" name="1st Division box"/>
          <p:cNvSpPr txBox="1"/>
          <p:nvPr/>
        </p:nvSpPr>
        <p:spPr>
          <a:xfrm>
            <a:off x="3712128" y="4179422"/>
            <a:ext cx="2688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spc="2300" dirty="0">
                <a:latin typeface="Twinkl" pitchFamily="2" charset="0"/>
              </a:rPr>
              <a:t>44</a:t>
            </a:r>
            <a:r>
              <a:rPr lang="en-GB" sz="4000" b="1" spc="2200" dirty="0">
                <a:latin typeface="Twinkl" pitchFamily="2" charset="0"/>
              </a:rPr>
              <a:t>5</a:t>
            </a:r>
          </a:p>
        </p:txBody>
      </p:sp>
      <p:grpSp>
        <p:nvGrpSpPr>
          <p:cNvPr id="23586" name="Division Lines"/>
          <p:cNvGrpSpPr>
            <a:grpSpLocks/>
          </p:cNvGrpSpPr>
          <p:nvPr/>
        </p:nvGrpSpPr>
        <p:grpSpPr bwMode="auto">
          <a:xfrm>
            <a:off x="3511550" y="1173163"/>
            <a:ext cx="2430463" cy="669925"/>
            <a:chOff x="3555010" y="2839072"/>
            <a:chExt cx="2613782" cy="1026827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3580619" y="2839072"/>
              <a:ext cx="0" cy="1026827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555010" y="2870703"/>
              <a:ext cx="26137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87" name="1st Division box"/>
          <p:cNvSpPr txBox="1">
            <a:spLocks noChangeArrowheads="1"/>
          </p:cNvSpPr>
          <p:nvPr/>
        </p:nvSpPr>
        <p:spPr bwMode="auto">
          <a:xfrm>
            <a:off x="2569752" y="1223963"/>
            <a:ext cx="8640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anose="02000503030000020003" pitchFamily="50" charset="0"/>
              </a:defRPr>
            </a:lvl9pPr>
          </a:lstStyle>
          <a:p>
            <a:pPr algn="ctr" eaLnBrk="1" hangingPunct="1"/>
            <a:r>
              <a:rPr lang="en-GB" altLang="en-US" sz="4000" b="1" dirty="0">
                <a:latin typeface="Twinkl" pitchFamily="2" charset="0"/>
              </a:rPr>
              <a:t>89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3246438" y="3328988"/>
            <a:ext cx="265112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E987CEB-E0C6-98E5-E9E0-08D274629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5" y="58319"/>
            <a:ext cx="2321327" cy="16216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236E4C-D968-615A-E56E-ADB161D7ECC2}"/>
              </a:ext>
            </a:extLst>
          </p:cNvPr>
          <p:cNvGrpSpPr/>
          <p:nvPr/>
        </p:nvGrpSpPr>
        <p:grpSpPr>
          <a:xfrm>
            <a:off x="7551100" y="565617"/>
            <a:ext cx="1135247" cy="4247317"/>
            <a:chOff x="7551100" y="565617"/>
            <a:chExt cx="1135247" cy="42473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1B573E-09BD-C572-3706-6FDA15192218}"/>
                </a:ext>
              </a:extLst>
            </p:cNvPr>
            <p:cNvSpPr/>
            <p:nvPr/>
          </p:nvSpPr>
          <p:spPr>
            <a:xfrm>
              <a:off x="7551100" y="565617"/>
              <a:ext cx="1135247" cy="424731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D÷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M×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S–</a:t>
              </a:r>
            </a:p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</a:p>
            <a:p>
              <a:pPr algn="ctr"/>
              <a:r>
                <a:rPr lang="en-US" sz="5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6A6CACE-8C28-FCB6-61B5-5E4B33F713B8}"/>
                </a:ext>
              </a:extLst>
            </p:cNvPr>
            <p:cNvCxnSpPr/>
            <p:nvPr/>
          </p:nvCxnSpPr>
          <p:spPr>
            <a:xfrm>
              <a:off x="8432800" y="3071765"/>
              <a:ext cx="0" cy="72483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Arrow: Curved Down 6">
              <a:extLst>
                <a:ext uri="{FF2B5EF4-FFF2-40B4-BE49-F238E27FC236}">
                  <a16:creationId xmlns:a16="http://schemas.microsoft.com/office/drawing/2014/main" id="{F675BCBA-DBE5-23A7-F7E5-9D023BE746B0}"/>
                </a:ext>
              </a:extLst>
            </p:cNvPr>
            <p:cNvSpPr/>
            <p:nvPr/>
          </p:nvSpPr>
          <p:spPr>
            <a:xfrm rot="5400000">
              <a:off x="8263410" y="4202856"/>
              <a:ext cx="478772" cy="331240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3.33333E-6 0.1763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1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-2.5E-6 0.34606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292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48" grpId="0"/>
      <p:bldP spid="68" grpId="0"/>
      <p:bldP spid="67" grpId="0"/>
      <p:bldP spid="67" grpId="1"/>
      <p:bldP spid="63" grpId="0"/>
      <p:bldP spid="63" grpId="1"/>
      <p:bldP spid="62" grpId="0"/>
      <p:bldP spid="62" grpId="1"/>
      <p:bldP spid="61" grpId="0"/>
      <p:bldP spid="61" grpId="1"/>
      <p:bldP spid="60" grpId="0"/>
      <p:bldP spid="60" grpId="1"/>
      <p:bldP spid="59" grpId="0"/>
      <p:bldP spid="59" grpId="1"/>
      <p:bldP spid="58" grpId="0"/>
      <p:bldP spid="58" grpId="1"/>
      <p:bldP spid="42" grpId="0"/>
      <p:bldP spid="57" grpId="0"/>
      <p:bldP spid="57" grpId="1"/>
      <p:bldP spid="56" grpId="0"/>
      <p:bldP spid="56" grpId="1"/>
      <p:bldP spid="38" grpId="0"/>
      <p:bldP spid="38" grpId="1"/>
      <p:bldP spid="21" grpId="0" animBg="1"/>
      <p:bldP spid="34" grpId="0"/>
      <p:bldP spid="23" grpId="0" animBg="1"/>
      <p:bldP spid="24" grpId="0"/>
      <p:bldP spid="44" grpId="0" animBg="1"/>
      <p:bldP spid="45" grpId="0"/>
      <p:bldP spid="47" grpId="0"/>
      <p:bldP spid="49" grpId="0"/>
      <p:bldP spid="52" grpId="0"/>
      <p:bldP spid="54" grpId="0"/>
    </p:bldLst>
  </p:timing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Twinkl Planit">
      <a:majorFont>
        <a:latin typeface="Sassoon Infant Md"/>
        <a:ea typeface=""/>
        <a:cs typeface=""/>
      </a:majorFont>
      <a:minorFont>
        <a:latin typeface="Sassoon Infant Rg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1531</TotalTime>
  <Words>586</Words>
  <Application>Microsoft Office PowerPoint</Application>
  <PresentationFormat>On-screen Show (4:3)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Sassoon Infant Md</vt:lpstr>
      <vt:lpstr>Twinkl</vt:lpstr>
      <vt:lpstr>Sassoon Infant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Geography</dc:title>
  <dc:creator>Twinkl</dc:creator>
  <cp:lastModifiedBy>Lamis Adel</cp:lastModifiedBy>
  <cp:revision>158</cp:revision>
  <dcterms:created xsi:type="dcterms:W3CDTF">2014-10-01T16:09:27Z</dcterms:created>
  <dcterms:modified xsi:type="dcterms:W3CDTF">2026-10-17T11:04:09Z</dcterms:modified>
</cp:coreProperties>
</file>