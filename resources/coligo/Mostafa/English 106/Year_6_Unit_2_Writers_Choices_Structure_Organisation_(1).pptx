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YEAR 6 • UNIT 2</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29191"/>
                </a:solidFill>
                <a:latin typeface="Aptos"/>
              </a:rPr>
              <a:t>TWO RUNNING SESSIONS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LANGUAGE DETECTIVE → 🗺️ TEXT ARCHITECT</a:t>
            </a:r>
          </a:p>
        </p:txBody>
      </p:sp>
      <p:sp>
        <p:nvSpPr>
          <p:cNvPr id="6" name="TextBox 5"/>
          <p:cNvSpPr txBox="1"/>
          <p:nvPr/>
        </p:nvSpPr>
        <p:spPr>
          <a:xfrm>
            <a:off x="621792" y="1417320"/>
            <a:ext cx="10789920" cy="548640"/>
          </a:xfrm>
          <a:prstGeom prst="rect">
            <a:avLst/>
          </a:prstGeom>
          <a:noFill/>
        </p:spPr>
        <p:txBody>
          <a:bodyPr wrap="none">
            <a:spAutoFit/>
          </a:bodyPr>
          <a:lstStyle/>
          <a:p>
            <a:r>
              <a:rPr sz="1700">
                <a:solidFill>
                  <a:srgbClr val="5C6774"/>
                </a:solidFill>
                <a:latin typeface="Aptos"/>
              </a:rPr>
              <a:t>WRITER'S CHOICES + EFFECT  •  STRUCTURE &amp; ORGANISATION</a:t>
            </a:r>
          </a:p>
        </p:txBody>
      </p:sp>
      <p:sp>
        <p:nvSpPr>
          <p:cNvPr id="7" name="TextBox 6"/>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1</a:t>
            </a:r>
          </a:p>
        </p:txBody>
      </p:sp>
      <p:sp>
        <p:nvSpPr>
          <p:cNvPr id="8" name="Rounded Rectangle 7"/>
          <p:cNvSpPr/>
          <p:nvPr/>
        </p:nvSpPr>
        <p:spPr>
          <a:xfrm>
            <a:off x="731520" y="2286000"/>
            <a:ext cx="5120640" cy="2377440"/>
          </a:xfrm>
          <a:prstGeom prst="roundRect">
            <a:avLst/>
          </a:prstGeom>
          <a:solidFill>
            <a:srgbClr val="E5EDF8"/>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95728"/>
            <a:ext cx="4791455" cy="411480"/>
          </a:xfrm>
          <a:prstGeom prst="rect">
            <a:avLst/>
          </a:prstGeom>
          <a:noFill/>
        </p:spPr>
        <p:txBody>
          <a:bodyPr wrap="none">
            <a:spAutoFit/>
          </a:bodyPr>
          <a:lstStyle/>
          <a:p>
            <a:r>
              <a:rPr sz="1800" b="1">
                <a:solidFill>
                  <a:srgbClr val="3F69AA"/>
                </a:solidFill>
                <a:latin typeface="Aptos Display"/>
              </a:rPr>
              <a:t>SESSION 1</a:t>
            </a:r>
          </a:p>
        </p:txBody>
      </p:sp>
      <p:sp>
        <p:nvSpPr>
          <p:cNvPr id="10" name="TextBox 9"/>
          <p:cNvSpPr txBox="1"/>
          <p:nvPr/>
        </p:nvSpPr>
        <p:spPr>
          <a:xfrm>
            <a:off x="896112" y="2852928"/>
            <a:ext cx="4791455" cy="1664208"/>
          </a:xfrm>
          <a:prstGeom prst="rect">
            <a:avLst/>
          </a:prstGeom>
          <a:noFill/>
        </p:spPr>
        <p:txBody>
          <a:bodyPr wrap="square">
            <a:spAutoFit/>
          </a:bodyPr>
          <a:lstStyle/>
          <a:p>
            <a:r>
              <a:rPr sz="2100">
                <a:solidFill>
                  <a:srgbClr val="242B34"/>
                </a:solidFill>
                <a:latin typeface="Aptos"/>
              </a:rPr>
              <a:t>Zoom in:
Why did the writer choose THIS word or phrase?
Choice → Effect → Reader</a:t>
            </a:r>
          </a:p>
        </p:txBody>
      </p:sp>
      <p:sp>
        <p:nvSpPr>
          <p:cNvPr id="11" name="Rounded Rectangle 10"/>
          <p:cNvSpPr/>
          <p:nvPr/>
        </p:nvSpPr>
        <p:spPr>
          <a:xfrm>
            <a:off x="6309360" y="2286000"/>
            <a:ext cx="5120640" cy="2377440"/>
          </a:xfrm>
          <a:prstGeom prst="roundRect">
            <a:avLst/>
          </a:prstGeom>
          <a:solidFill>
            <a:srgbClr val="E2F2F0"/>
          </a:solidFill>
          <a:ln w="19050">
            <a:solidFill>
              <a:srgbClr val="32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395728"/>
            <a:ext cx="4791455" cy="411480"/>
          </a:xfrm>
          <a:prstGeom prst="rect">
            <a:avLst/>
          </a:prstGeom>
          <a:noFill/>
        </p:spPr>
        <p:txBody>
          <a:bodyPr wrap="none">
            <a:spAutoFit/>
          </a:bodyPr>
          <a:lstStyle/>
          <a:p>
            <a:r>
              <a:rPr sz="1800" b="1">
                <a:solidFill>
                  <a:srgbClr val="329191"/>
                </a:solidFill>
                <a:latin typeface="Aptos Display"/>
              </a:rPr>
              <a:t>SESSION 2</a:t>
            </a:r>
          </a:p>
        </p:txBody>
      </p:sp>
      <p:sp>
        <p:nvSpPr>
          <p:cNvPr id="13" name="TextBox 12"/>
          <p:cNvSpPr txBox="1"/>
          <p:nvPr/>
        </p:nvSpPr>
        <p:spPr>
          <a:xfrm>
            <a:off x="6473952" y="2852928"/>
            <a:ext cx="4791455" cy="1664208"/>
          </a:xfrm>
          <a:prstGeom prst="rect">
            <a:avLst/>
          </a:prstGeom>
          <a:noFill/>
        </p:spPr>
        <p:txBody>
          <a:bodyPr wrap="square">
            <a:spAutoFit/>
          </a:bodyPr>
          <a:lstStyle/>
          <a:p>
            <a:r>
              <a:rPr sz="2100">
                <a:solidFill>
                  <a:srgbClr val="242B34"/>
                </a:solidFill>
                <a:latin typeface="Aptos"/>
              </a:rPr>
              <a:t>Zoom out:
Why did the writer organise the ideas THIS way?
Order → Purpose → Reader</a:t>
            </a:r>
          </a:p>
        </p:txBody>
      </p:sp>
      <p:sp>
        <p:nvSpPr>
          <p:cNvPr id="14" name="Rectangle 13"/>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TODAY'S LEARNING MISSION</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TWO RUNNING SESSIONS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TODAY'S LEARNING MISSION</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2</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2100">
                <a:solidFill>
                  <a:srgbClr val="242B34"/>
                </a:solidFill>
                <a:latin typeface="Aptos"/>
              </a:rPr>
              <a:t>By the end of the two sessions, you will be able to:</a:t>
            </a:r>
          </a:p>
          <a:p>
            <a:pPr algn="l">
              <a:spcAft>
                <a:spcPts val="800"/>
              </a:spcAft>
            </a:pPr>
            <a:r>
              <a:rPr sz="2100">
                <a:solidFill>
                  <a:srgbClr val="242B34"/>
                </a:solidFill>
                <a:latin typeface="Aptos"/>
              </a:rPr>
              <a:t/>
            </a:r>
          </a:p>
          <a:p>
            <a:pPr algn="l">
              <a:spcAft>
                <a:spcPts val="800"/>
              </a:spcAft>
            </a:pPr>
            <a:r>
              <a:rPr sz="2100">
                <a:solidFill>
                  <a:srgbClr val="242B34"/>
                </a:solidFill>
                <a:latin typeface="Aptos"/>
              </a:rPr>
              <a:t>🔍 identify deliberate words and phrases chosen by the writer</a:t>
            </a:r>
          </a:p>
          <a:p>
            <a:pPr algn="l">
              <a:spcAft>
                <a:spcPts val="800"/>
              </a:spcAft>
            </a:pPr>
            <a:r>
              <a:rPr sz="2100">
                <a:solidFill>
                  <a:srgbClr val="242B34"/>
                </a:solidFill>
                <a:latin typeface="Aptos"/>
              </a:rPr>
              <a:t/>
            </a:r>
          </a:p>
          <a:p>
            <a:pPr algn="l">
              <a:spcAft>
                <a:spcPts val="800"/>
              </a:spcAft>
            </a:pPr>
            <a:r>
              <a:rPr sz="2100">
                <a:solidFill>
                  <a:srgbClr val="242B34"/>
                </a:solidFill>
                <a:latin typeface="Aptos"/>
              </a:rPr>
              <a:t>🧩 explain the effect of a writer's choice</a:t>
            </a:r>
          </a:p>
          <a:p>
            <a:pPr algn="l">
              <a:spcAft>
                <a:spcPts val="800"/>
              </a:spcAft>
            </a:pPr>
            <a:r>
              <a:rPr sz="2100">
                <a:solidFill>
                  <a:srgbClr val="242B34"/>
                </a:solidFill>
                <a:latin typeface="Aptos"/>
              </a:rPr>
              <a:t/>
            </a:r>
          </a:p>
          <a:p>
            <a:pPr algn="l">
              <a:spcAft>
                <a:spcPts val="800"/>
              </a:spcAft>
            </a:pPr>
            <a:r>
              <a:rPr sz="2100">
                <a:solidFill>
                  <a:srgbClr val="242B34"/>
                </a:solidFill>
                <a:latin typeface="Aptos"/>
              </a:rPr>
              <a:t>🗺️ identify how information is organised across a text</a:t>
            </a:r>
          </a:p>
          <a:p>
            <a:pPr algn="l">
              <a:spcAft>
                <a:spcPts val="800"/>
              </a:spcAft>
            </a:pPr>
            <a:r>
              <a:rPr sz="2100">
                <a:solidFill>
                  <a:srgbClr val="242B34"/>
                </a:solidFill>
                <a:latin typeface="Aptos"/>
              </a:rPr>
              <a:t/>
            </a:r>
          </a:p>
          <a:p>
            <a:pPr algn="l">
              <a:spcAft>
                <a:spcPts val="800"/>
              </a:spcAft>
            </a:pPr>
            <a:r>
              <a:rPr sz="2100">
                <a:solidFill>
                  <a:srgbClr val="242B34"/>
                </a:solidFill>
                <a:latin typeface="Aptos"/>
              </a:rPr>
              <a:t>🔗 explain why the writer puts ideas in a particular order</a:t>
            </a:r>
          </a:p>
          <a:p>
            <a:pPr algn="l">
              <a:spcAft>
                <a:spcPts val="800"/>
              </a:spcAft>
            </a:pPr>
            <a:r>
              <a:rPr sz="2100">
                <a:solidFill>
                  <a:srgbClr val="242B34"/>
                </a:solidFill>
                <a:latin typeface="Aptos"/>
              </a:rPr>
              <a:t/>
            </a:r>
          </a:p>
          <a:p>
            <a:pPr algn="l">
              <a:spcAft>
                <a:spcPts val="800"/>
              </a:spcAft>
            </a:pPr>
            <a:r>
              <a:rPr sz="2100">
                <a:solidFill>
                  <a:srgbClr val="242B34"/>
                </a:solidFill>
                <a:latin typeface="Aptos"/>
              </a:rPr>
              <a:t>🎯 explain how choices and structure help the reader understand the text</a:t>
            </a:r>
          </a:p>
        </p:txBody>
      </p:sp>
      <p:sp>
        <p:nvSpPr>
          <p:cNvPr id="8" name="Rectangle 7"/>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STARTER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STARTER — WHICH WRITER IS STRONGER?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3</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Writer A: “The rain moved quickly towards the street.”</a:t>
            </a:r>
          </a:p>
          <a:p>
            <a:pPr algn="l">
              <a:spcAft>
                <a:spcPts val="800"/>
              </a:spcAft>
            </a:pPr>
            <a:r>
              <a:rPr sz="2300">
                <a:solidFill>
                  <a:srgbClr val="242B34"/>
                </a:solidFill>
                <a:latin typeface="Aptos"/>
              </a:rPr>
              <a:t/>
            </a:r>
          </a:p>
          <a:p>
            <a:pPr algn="l">
              <a:spcAft>
                <a:spcPts val="800"/>
              </a:spcAft>
            </a:pPr>
            <a:r>
              <a:rPr sz="2300">
                <a:solidFill>
                  <a:srgbClr val="242B34"/>
                </a:solidFill>
                <a:latin typeface="Aptos"/>
              </a:rPr>
              <a:t>Writer B: “The rain rushed towards the street.”</a:t>
            </a:r>
          </a:p>
          <a:p>
            <a:pPr algn="l">
              <a:spcAft>
                <a:spcPts val="800"/>
              </a:spcAft>
            </a:pPr>
            <a:r>
              <a:rPr sz="2300">
                <a:solidFill>
                  <a:srgbClr val="242B34"/>
                </a:solidFill>
                <a:latin typeface="Aptos"/>
              </a:rPr>
              <a:t/>
            </a:r>
          </a:p>
          <a:p>
            <a:pPr algn="l">
              <a:spcAft>
                <a:spcPts val="800"/>
              </a:spcAft>
            </a:pPr>
            <a:r>
              <a:rPr sz="2300">
                <a:solidFill>
                  <a:srgbClr val="242B34"/>
                </a:solidFill>
                <a:latin typeface="Aptos"/>
              </a:rPr>
              <a:t>Which writer has made the stronger choice? Why?</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Writer A</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Writer B</a:t>
            </a:r>
          </a:p>
        </p:txBody>
      </p:sp>
      <p:sp>
        <p:nvSpPr>
          <p:cNvPr id="14" name="Rectangle 13"/>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STARTER — 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4</a:t>
            </a:r>
          </a:p>
        </p:txBody>
      </p:sp>
      <p:sp>
        <p:nvSpPr>
          <p:cNvPr id="7" name="Rounded Rectangle 6"/>
          <p:cNvSpPr/>
          <p:nvPr/>
        </p:nvSpPr>
        <p:spPr>
          <a:xfrm>
            <a:off x="914400" y="1828800"/>
            <a:ext cx="10241280" cy="338328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938528"/>
            <a:ext cx="9912096" cy="411480"/>
          </a:xfrm>
          <a:prstGeom prst="rect">
            <a:avLst/>
          </a:prstGeom>
          <a:noFill/>
        </p:spPr>
        <p:txBody>
          <a:bodyPr wrap="none">
            <a:spAutoFit/>
          </a:bodyPr>
          <a:lstStyle/>
          <a:p>
            <a:r>
              <a:rPr sz="1800" b="1">
                <a:solidFill>
                  <a:srgbClr val="46875C"/>
                </a:solidFill>
                <a:latin typeface="Aptos Display"/>
              </a:rPr>
              <a:t>WRITER B</a:t>
            </a:r>
          </a:p>
        </p:txBody>
      </p:sp>
      <p:sp>
        <p:nvSpPr>
          <p:cNvPr id="9" name="TextBox 8"/>
          <p:cNvSpPr txBox="1"/>
          <p:nvPr/>
        </p:nvSpPr>
        <p:spPr>
          <a:xfrm>
            <a:off x="1078992" y="2395728"/>
            <a:ext cx="9912096" cy="2670048"/>
          </a:xfrm>
          <a:prstGeom prst="rect">
            <a:avLst/>
          </a:prstGeom>
          <a:noFill/>
        </p:spPr>
        <p:txBody>
          <a:bodyPr wrap="square">
            <a:spAutoFit/>
          </a:bodyPr>
          <a:lstStyle/>
          <a:p>
            <a:r>
              <a:rPr sz="2100">
                <a:solidFill>
                  <a:srgbClr val="242B34"/>
                </a:solidFill>
                <a:latin typeface="Aptos"/>
              </a:rPr>
              <a:t>The verb “rushed” is stronger than “moved”.
It suggests that the water is fast, sudden and forceful.
The writer could have chosen “moved”. Instead, the writer deliberately chose “rushed”.
⭐ That is a writer's choice.</a:t>
            </a:r>
          </a:p>
        </p:txBody>
      </p:sp>
      <p:sp>
        <p:nvSpPr>
          <p:cNvPr id="10" name="Rectangle 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EXPLICIT TEACHING</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WHAT IS A WRITER'S CHOICE?</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5</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2100">
                <a:solidFill>
                  <a:srgbClr val="242B34"/>
                </a:solidFill>
                <a:latin typeface="Aptos"/>
              </a:rPr>
              <a:t>A writer does not choose every word randomly.</a:t>
            </a:r>
          </a:p>
          <a:p>
            <a:pPr algn="l">
              <a:spcAft>
                <a:spcPts val="800"/>
              </a:spcAft>
            </a:pPr>
            <a:r>
              <a:rPr sz="2100">
                <a:solidFill>
                  <a:srgbClr val="242B34"/>
                </a:solidFill>
                <a:latin typeface="Aptos"/>
              </a:rPr>
              <a:t/>
            </a:r>
          </a:p>
          <a:p>
            <a:pPr algn="l">
              <a:spcAft>
                <a:spcPts val="800"/>
              </a:spcAft>
            </a:pPr>
            <a:r>
              <a:rPr sz="2100">
                <a:solidFill>
                  <a:srgbClr val="242B34"/>
                </a:solidFill>
                <a:latin typeface="Aptos"/>
              </a:rPr>
              <a:t>Writers deliberately choose:</a:t>
            </a:r>
          </a:p>
          <a:p>
            <a:pPr algn="l">
              <a:spcAft>
                <a:spcPts val="800"/>
              </a:spcAft>
            </a:pPr>
            <a:r>
              <a:rPr sz="2100">
                <a:solidFill>
                  <a:srgbClr val="242B34"/>
                </a:solidFill>
                <a:latin typeface="Aptos"/>
              </a:rPr>
              <a:t>• verbs  • adjectives  • nouns  • phrases</a:t>
            </a:r>
          </a:p>
          <a:p>
            <a:pPr algn="l">
              <a:spcAft>
                <a:spcPts val="800"/>
              </a:spcAft>
            </a:pPr>
            <a:r>
              <a:rPr sz="2100">
                <a:solidFill>
                  <a:srgbClr val="242B34"/>
                </a:solidFill>
                <a:latin typeface="Aptos"/>
              </a:rPr>
              <a:t>• comparisons  • examples  • facts  • statistics  • descriptions</a:t>
            </a:r>
          </a:p>
          <a:p>
            <a:pPr algn="l">
              <a:spcAft>
                <a:spcPts val="800"/>
              </a:spcAft>
            </a:pPr>
            <a:r>
              <a:rPr sz="2100">
                <a:solidFill>
                  <a:srgbClr val="242B34"/>
                </a:solidFill>
                <a:latin typeface="Aptos"/>
              </a:rPr>
              <a:t/>
            </a:r>
          </a:p>
          <a:p>
            <a:pPr algn="l">
              <a:spcAft>
                <a:spcPts val="800"/>
              </a:spcAft>
            </a:pPr>
            <a:r>
              <a:rPr sz="2100">
                <a:solidFill>
                  <a:srgbClr val="242B34"/>
                </a:solidFill>
                <a:latin typeface="Aptos"/>
              </a:rPr>
              <a:t>Ask: WHY did the writer choose THIS word instead of another word?</a:t>
            </a:r>
          </a:p>
        </p:txBody>
      </p:sp>
      <p:sp>
        <p:nvSpPr>
          <p:cNvPr id="8" name="Rectangle 7"/>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EXPLICIT TEACHING</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WHY DO WRITERS MAKE CHOICES?</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6</a:t>
            </a:r>
          </a:p>
        </p:txBody>
      </p:sp>
      <p:sp>
        <p:nvSpPr>
          <p:cNvPr id="7" name="Rounded Rectangle 6"/>
          <p:cNvSpPr/>
          <p:nvPr/>
        </p:nvSpPr>
        <p:spPr>
          <a:xfrm>
            <a:off x="685800" y="1828800"/>
            <a:ext cx="3429000" cy="1417320"/>
          </a:xfrm>
          <a:prstGeom prst="roundRect">
            <a:avLst/>
          </a:prstGeom>
          <a:solidFill>
            <a:srgbClr val="E5EDF8"/>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938528"/>
            <a:ext cx="3099816" cy="411480"/>
          </a:xfrm>
          <a:prstGeom prst="rect">
            <a:avLst/>
          </a:prstGeom>
          <a:noFill/>
        </p:spPr>
        <p:txBody>
          <a:bodyPr wrap="none">
            <a:spAutoFit/>
          </a:bodyPr>
          <a:lstStyle/>
          <a:p>
            <a:r>
              <a:rPr sz="1800" b="1">
                <a:solidFill>
                  <a:srgbClr val="3F69AA"/>
                </a:solidFill>
                <a:latin typeface="Aptos Display"/>
              </a:rPr>
              <a:t>👀 CREATE AN IMAGE</a:t>
            </a:r>
          </a:p>
        </p:txBody>
      </p:sp>
      <p:sp>
        <p:nvSpPr>
          <p:cNvPr id="9" name="TextBox 8"/>
          <p:cNvSpPr txBox="1"/>
          <p:nvPr/>
        </p:nvSpPr>
        <p:spPr>
          <a:xfrm>
            <a:off x="850392" y="2395728"/>
            <a:ext cx="3099816" cy="704088"/>
          </a:xfrm>
          <a:prstGeom prst="rect">
            <a:avLst/>
          </a:prstGeom>
          <a:noFill/>
        </p:spPr>
        <p:txBody>
          <a:bodyPr wrap="square">
            <a:spAutoFit/>
          </a:bodyPr>
          <a:lstStyle/>
          <a:p>
            <a:r>
              <a:rPr sz="1600">
                <a:solidFill>
                  <a:srgbClr val="242B34"/>
                </a:solidFill>
                <a:latin typeface="Aptos"/>
              </a:rPr>
              <a:t>Help the reader imagine something.</a:t>
            </a:r>
          </a:p>
        </p:txBody>
      </p:sp>
      <p:sp>
        <p:nvSpPr>
          <p:cNvPr id="10" name="Rounded Rectangle 9"/>
          <p:cNvSpPr/>
          <p:nvPr/>
        </p:nvSpPr>
        <p:spPr>
          <a:xfrm>
            <a:off x="4389120" y="1828800"/>
            <a:ext cx="3429000" cy="1417320"/>
          </a:xfrm>
          <a:prstGeom prst="roundRect">
            <a:avLst/>
          </a:prstGeom>
          <a:solidFill>
            <a:srgbClr val="E2F2F0"/>
          </a:solidFill>
          <a:ln w="19050">
            <a:solidFill>
              <a:srgbClr val="32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938528"/>
            <a:ext cx="3099816" cy="411480"/>
          </a:xfrm>
          <a:prstGeom prst="rect">
            <a:avLst/>
          </a:prstGeom>
          <a:noFill/>
        </p:spPr>
        <p:txBody>
          <a:bodyPr wrap="none">
            <a:spAutoFit/>
          </a:bodyPr>
          <a:lstStyle/>
          <a:p>
            <a:r>
              <a:rPr sz="1800" b="1">
                <a:solidFill>
                  <a:srgbClr val="329191"/>
                </a:solidFill>
                <a:latin typeface="Aptos Display"/>
              </a:rPr>
              <a:t>💭 SUGGEST AN IDEA</a:t>
            </a:r>
          </a:p>
        </p:txBody>
      </p:sp>
      <p:sp>
        <p:nvSpPr>
          <p:cNvPr id="12" name="TextBox 11"/>
          <p:cNvSpPr txBox="1"/>
          <p:nvPr/>
        </p:nvSpPr>
        <p:spPr>
          <a:xfrm>
            <a:off x="4553712" y="2395728"/>
            <a:ext cx="3099816" cy="704088"/>
          </a:xfrm>
          <a:prstGeom prst="rect">
            <a:avLst/>
          </a:prstGeom>
          <a:noFill/>
        </p:spPr>
        <p:txBody>
          <a:bodyPr wrap="square">
            <a:spAutoFit/>
          </a:bodyPr>
          <a:lstStyle/>
          <a:p>
            <a:r>
              <a:rPr sz="1600">
                <a:solidFill>
                  <a:srgbClr val="242B34"/>
                </a:solidFill>
                <a:latin typeface="Aptos"/>
              </a:rPr>
              <a:t>Make the reader think about something.</a:t>
            </a:r>
          </a:p>
        </p:txBody>
      </p:sp>
      <p:sp>
        <p:nvSpPr>
          <p:cNvPr id="13" name="Rounded Rectangle 12"/>
          <p:cNvSpPr/>
          <p:nvPr/>
        </p:nvSpPr>
        <p:spPr>
          <a:xfrm>
            <a:off x="8092440" y="1828800"/>
            <a:ext cx="3429000" cy="1417320"/>
          </a:xfrm>
          <a:prstGeom prst="roundRect">
            <a:avLst/>
          </a:prstGeom>
          <a:solidFill>
            <a:srgbClr val="FAF1D6"/>
          </a:solidFill>
          <a:ln w="19050">
            <a:solidFill>
              <a:srgbClr val="E1A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1938528"/>
            <a:ext cx="3099816" cy="411480"/>
          </a:xfrm>
          <a:prstGeom prst="rect">
            <a:avLst/>
          </a:prstGeom>
          <a:noFill/>
        </p:spPr>
        <p:txBody>
          <a:bodyPr wrap="none">
            <a:spAutoFit/>
          </a:bodyPr>
          <a:lstStyle/>
          <a:p>
            <a:r>
              <a:rPr sz="1800" b="1">
                <a:solidFill>
                  <a:srgbClr val="E1AB41"/>
                </a:solidFill>
                <a:latin typeface="Aptos Display"/>
              </a:rPr>
              <a:t>❤️ CREATE A FEELING</a:t>
            </a:r>
          </a:p>
        </p:txBody>
      </p:sp>
      <p:sp>
        <p:nvSpPr>
          <p:cNvPr id="15" name="TextBox 14"/>
          <p:cNvSpPr txBox="1"/>
          <p:nvPr/>
        </p:nvSpPr>
        <p:spPr>
          <a:xfrm>
            <a:off x="8257031" y="2395728"/>
            <a:ext cx="3099816" cy="704088"/>
          </a:xfrm>
          <a:prstGeom prst="rect">
            <a:avLst/>
          </a:prstGeom>
          <a:noFill/>
        </p:spPr>
        <p:txBody>
          <a:bodyPr wrap="square">
            <a:spAutoFit/>
          </a:bodyPr>
          <a:lstStyle/>
          <a:p>
            <a:r>
              <a:rPr sz="1600">
                <a:solidFill>
                  <a:srgbClr val="242B34"/>
                </a:solidFill>
                <a:latin typeface="Aptos"/>
              </a:rPr>
              <a:t>Make the reader feel worried, excited, surprised or hopeful.</a:t>
            </a:r>
          </a:p>
        </p:txBody>
      </p:sp>
      <p:sp>
        <p:nvSpPr>
          <p:cNvPr id="16" name="Rounded Rectangle 15"/>
          <p:cNvSpPr/>
          <p:nvPr/>
        </p:nvSpPr>
        <p:spPr>
          <a:xfrm>
            <a:off x="2560320" y="3657600"/>
            <a:ext cx="3429000" cy="1417320"/>
          </a:xfrm>
          <a:prstGeom prst="roundRect">
            <a:avLst/>
          </a:prstGeom>
          <a:solidFill>
            <a:srgbClr val="E5EDF8"/>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24912" y="3767328"/>
            <a:ext cx="3099816" cy="411480"/>
          </a:xfrm>
          <a:prstGeom prst="rect">
            <a:avLst/>
          </a:prstGeom>
          <a:noFill/>
        </p:spPr>
        <p:txBody>
          <a:bodyPr wrap="none">
            <a:spAutoFit/>
          </a:bodyPr>
          <a:lstStyle/>
          <a:p>
            <a:r>
              <a:rPr sz="1800" b="1">
                <a:solidFill>
                  <a:srgbClr val="3F69AA"/>
                </a:solidFill>
                <a:latin typeface="Aptos Display"/>
              </a:rPr>
              <a:t>🎯 EMPHASISE</a:t>
            </a:r>
          </a:p>
        </p:txBody>
      </p:sp>
      <p:sp>
        <p:nvSpPr>
          <p:cNvPr id="18" name="TextBox 17"/>
          <p:cNvSpPr txBox="1"/>
          <p:nvPr/>
        </p:nvSpPr>
        <p:spPr>
          <a:xfrm>
            <a:off x="2724912" y="4224528"/>
            <a:ext cx="3099816" cy="704088"/>
          </a:xfrm>
          <a:prstGeom prst="rect">
            <a:avLst/>
          </a:prstGeom>
          <a:noFill/>
        </p:spPr>
        <p:txBody>
          <a:bodyPr wrap="square">
            <a:spAutoFit/>
          </a:bodyPr>
          <a:lstStyle/>
          <a:p>
            <a:r>
              <a:rPr sz="1600">
                <a:solidFill>
                  <a:srgbClr val="242B34"/>
                </a:solidFill>
                <a:latin typeface="Aptos"/>
              </a:rPr>
              <a:t>Make an important idea stand out.</a:t>
            </a:r>
          </a:p>
        </p:txBody>
      </p:sp>
      <p:sp>
        <p:nvSpPr>
          <p:cNvPr id="19" name="Rounded Rectangle 18"/>
          <p:cNvSpPr/>
          <p:nvPr/>
        </p:nvSpPr>
        <p:spPr>
          <a:xfrm>
            <a:off x="6263640" y="3657600"/>
            <a:ext cx="3429000" cy="1417320"/>
          </a:xfrm>
          <a:prstGeom prst="roundRect">
            <a:avLst/>
          </a:prstGeom>
          <a:solidFill>
            <a:srgbClr val="E2F2F0"/>
          </a:solidFill>
          <a:ln w="19050">
            <a:solidFill>
              <a:srgbClr val="32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1" y="3767328"/>
            <a:ext cx="3099816" cy="411480"/>
          </a:xfrm>
          <a:prstGeom prst="rect">
            <a:avLst/>
          </a:prstGeom>
          <a:noFill/>
        </p:spPr>
        <p:txBody>
          <a:bodyPr wrap="none">
            <a:spAutoFit/>
          </a:bodyPr>
          <a:lstStyle/>
          <a:p>
            <a:r>
              <a:rPr sz="1800" b="1">
                <a:solidFill>
                  <a:srgbClr val="329191"/>
                </a:solidFill>
                <a:latin typeface="Aptos Display"/>
              </a:rPr>
              <a:t>🧠 CLARIFY</a:t>
            </a:r>
          </a:p>
        </p:txBody>
      </p:sp>
      <p:sp>
        <p:nvSpPr>
          <p:cNvPr id="21" name="TextBox 20"/>
          <p:cNvSpPr txBox="1"/>
          <p:nvPr/>
        </p:nvSpPr>
        <p:spPr>
          <a:xfrm>
            <a:off x="6428231" y="4224528"/>
            <a:ext cx="3099816" cy="704088"/>
          </a:xfrm>
          <a:prstGeom prst="rect">
            <a:avLst/>
          </a:prstGeom>
          <a:noFill/>
        </p:spPr>
        <p:txBody>
          <a:bodyPr wrap="square">
            <a:spAutoFit/>
          </a:bodyPr>
          <a:lstStyle/>
          <a:p>
            <a:r>
              <a:rPr sz="1600">
                <a:solidFill>
                  <a:srgbClr val="242B34"/>
                </a:solidFill>
                <a:latin typeface="Aptos"/>
              </a:rPr>
              <a:t>Help the reader understand information.</a:t>
            </a:r>
          </a:p>
        </p:txBody>
      </p:sp>
      <p:sp>
        <p:nvSpPr>
          <p:cNvPr id="22" name="Rectangle 21"/>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THE WRITER'S CHOICE ROUTINE</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THE 4-STEP WRITER'S CHOICE ROUTINE</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7</a:t>
            </a:r>
          </a:p>
        </p:txBody>
      </p:sp>
      <p:sp>
        <p:nvSpPr>
          <p:cNvPr id="7" name="Rounded Rectangle 6"/>
          <p:cNvSpPr/>
          <p:nvPr/>
        </p:nvSpPr>
        <p:spPr>
          <a:xfrm>
            <a:off x="640080" y="1737360"/>
            <a:ext cx="5166360" cy="169164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1847088"/>
            <a:ext cx="4837176" cy="411480"/>
          </a:xfrm>
          <a:prstGeom prst="rect">
            <a:avLst/>
          </a:prstGeom>
          <a:noFill/>
        </p:spPr>
        <p:txBody>
          <a:bodyPr wrap="none">
            <a:spAutoFit/>
          </a:bodyPr>
          <a:lstStyle/>
          <a:p>
            <a:r>
              <a:rPr sz="1800" b="1">
                <a:solidFill>
                  <a:srgbClr val="3F69AA"/>
                </a:solidFill>
                <a:latin typeface="Aptos Display"/>
              </a:rPr>
              <a:t>① SPOT IT</a:t>
            </a:r>
          </a:p>
        </p:txBody>
      </p:sp>
      <p:sp>
        <p:nvSpPr>
          <p:cNvPr id="9" name="TextBox 8"/>
          <p:cNvSpPr txBox="1"/>
          <p:nvPr/>
        </p:nvSpPr>
        <p:spPr>
          <a:xfrm>
            <a:off x="804671" y="2304288"/>
            <a:ext cx="4837176" cy="978408"/>
          </a:xfrm>
          <a:prstGeom prst="rect">
            <a:avLst/>
          </a:prstGeom>
          <a:noFill/>
        </p:spPr>
        <p:txBody>
          <a:bodyPr wrap="square">
            <a:spAutoFit/>
          </a:bodyPr>
          <a:lstStyle/>
          <a:p>
            <a:r>
              <a:rPr sz="1800">
                <a:solidFill>
                  <a:srgbClr val="242B34"/>
                </a:solidFill>
                <a:latin typeface="Aptos"/>
              </a:rPr>
              <a:t>Find the exact word or phrase.</a:t>
            </a:r>
          </a:p>
        </p:txBody>
      </p:sp>
      <p:sp>
        <p:nvSpPr>
          <p:cNvPr id="10" name="Rounded Rectangle 9"/>
          <p:cNvSpPr/>
          <p:nvPr/>
        </p:nvSpPr>
        <p:spPr>
          <a:xfrm>
            <a:off x="6172200" y="1737360"/>
            <a:ext cx="5166360" cy="1691640"/>
          </a:xfrm>
          <a:prstGeom prst="roundRect">
            <a:avLst/>
          </a:prstGeom>
          <a:solidFill>
            <a:srgbClr val="FFFFFF"/>
          </a:solidFill>
          <a:ln w="19050">
            <a:solidFill>
              <a:srgbClr val="32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847088"/>
            <a:ext cx="4837176" cy="411480"/>
          </a:xfrm>
          <a:prstGeom prst="rect">
            <a:avLst/>
          </a:prstGeom>
          <a:noFill/>
        </p:spPr>
        <p:txBody>
          <a:bodyPr wrap="none">
            <a:spAutoFit/>
          </a:bodyPr>
          <a:lstStyle/>
          <a:p>
            <a:r>
              <a:rPr sz="1800" b="1">
                <a:solidFill>
                  <a:srgbClr val="329191"/>
                </a:solidFill>
                <a:latin typeface="Aptos Display"/>
              </a:rPr>
              <a:t>② IDENTIFY IT</a:t>
            </a:r>
          </a:p>
        </p:txBody>
      </p:sp>
      <p:sp>
        <p:nvSpPr>
          <p:cNvPr id="12" name="TextBox 11"/>
          <p:cNvSpPr txBox="1"/>
          <p:nvPr/>
        </p:nvSpPr>
        <p:spPr>
          <a:xfrm>
            <a:off x="6336792" y="2304288"/>
            <a:ext cx="4837176" cy="978408"/>
          </a:xfrm>
          <a:prstGeom prst="rect">
            <a:avLst/>
          </a:prstGeom>
          <a:noFill/>
        </p:spPr>
        <p:txBody>
          <a:bodyPr wrap="square">
            <a:spAutoFit/>
          </a:bodyPr>
          <a:lstStyle/>
          <a:p>
            <a:r>
              <a:rPr sz="1800">
                <a:solidFill>
                  <a:srgbClr val="242B34"/>
                </a:solidFill>
                <a:latin typeface="Aptos"/>
              </a:rPr>
              <a:t>What kind of choice is it?</a:t>
            </a:r>
          </a:p>
        </p:txBody>
      </p:sp>
      <p:sp>
        <p:nvSpPr>
          <p:cNvPr id="13" name="Rounded Rectangle 12"/>
          <p:cNvSpPr/>
          <p:nvPr/>
        </p:nvSpPr>
        <p:spPr>
          <a:xfrm>
            <a:off x="640080" y="3794760"/>
            <a:ext cx="5166360" cy="1691640"/>
          </a:xfrm>
          <a:prstGeom prst="roundRect">
            <a:avLst/>
          </a:prstGeom>
          <a:solidFill>
            <a:srgbClr val="FFFFFF"/>
          </a:solidFill>
          <a:ln w="19050">
            <a:solidFill>
              <a:srgbClr val="E1A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 y="3904488"/>
            <a:ext cx="4837176" cy="411480"/>
          </a:xfrm>
          <a:prstGeom prst="rect">
            <a:avLst/>
          </a:prstGeom>
          <a:noFill/>
        </p:spPr>
        <p:txBody>
          <a:bodyPr wrap="none">
            <a:spAutoFit/>
          </a:bodyPr>
          <a:lstStyle/>
          <a:p>
            <a:r>
              <a:rPr sz="1800" b="1">
                <a:solidFill>
                  <a:srgbClr val="E1AB41"/>
                </a:solidFill>
                <a:latin typeface="Aptos Display"/>
              </a:rPr>
              <a:t>③ EXPLAIN THE EFFECT</a:t>
            </a:r>
          </a:p>
        </p:txBody>
      </p:sp>
      <p:sp>
        <p:nvSpPr>
          <p:cNvPr id="15" name="TextBox 14"/>
          <p:cNvSpPr txBox="1"/>
          <p:nvPr/>
        </p:nvSpPr>
        <p:spPr>
          <a:xfrm>
            <a:off x="804671" y="4361688"/>
            <a:ext cx="4837176" cy="978408"/>
          </a:xfrm>
          <a:prstGeom prst="rect">
            <a:avLst/>
          </a:prstGeom>
          <a:noFill/>
        </p:spPr>
        <p:txBody>
          <a:bodyPr wrap="square">
            <a:spAutoFit/>
          </a:bodyPr>
          <a:lstStyle/>
          <a:p>
            <a:r>
              <a:rPr sz="1800">
                <a:solidFill>
                  <a:srgbClr val="242B34"/>
                </a:solidFill>
                <a:latin typeface="Aptos"/>
              </a:rPr>
              <a:t>What does it suggest, show or make the reader imagine?</a:t>
            </a:r>
          </a:p>
        </p:txBody>
      </p:sp>
      <p:sp>
        <p:nvSpPr>
          <p:cNvPr id="16" name="Rounded Rectangle 15"/>
          <p:cNvSpPr/>
          <p:nvPr/>
        </p:nvSpPr>
        <p:spPr>
          <a:xfrm>
            <a:off x="6172200" y="3794760"/>
            <a:ext cx="5166360" cy="1691640"/>
          </a:xfrm>
          <a:prstGeom prst="roundRect">
            <a:avLst/>
          </a:prstGeom>
          <a:solidFill>
            <a:srgbClr val="FFFFFF"/>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792" y="3904488"/>
            <a:ext cx="4837176" cy="411480"/>
          </a:xfrm>
          <a:prstGeom prst="rect">
            <a:avLst/>
          </a:prstGeom>
          <a:noFill/>
        </p:spPr>
        <p:txBody>
          <a:bodyPr wrap="none">
            <a:spAutoFit/>
          </a:bodyPr>
          <a:lstStyle/>
          <a:p>
            <a:r>
              <a:rPr sz="1800" b="1">
                <a:solidFill>
                  <a:srgbClr val="46875C"/>
                </a:solidFill>
                <a:latin typeface="Aptos Display"/>
              </a:rPr>
              <a:t>④ LINK IT</a:t>
            </a:r>
          </a:p>
        </p:txBody>
      </p:sp>
      <p:sp>
        <p:nvSpPr>
          <p:cNvPr id="18" name="TextBox 17"/>
          <p:cNvSpPr txBox="1"/>
          <p:nvPr/>
        </p:nvSpPr>
        <p:spPr>
          <a:xfrm>
            <a:off x="6336792" y="4361688"/>
            <a:ext cx="4837176" cy="978408"/>
          </a:xfrm>
          <a:prstGeom prst="rect">
            <a:avLst/>
          </a:prstGeom>
          <a:noFill/>
        </p:spPr>
        <p:txBody>
          <a:bodyPr wrap="square">
            <a:spAutoFit/>
          </a:bodyPr>
          <a:lstStyle/>
          <a:p>
            <a:r>
              <a:rPr sz="1800">
                <a:solidFill>
                  <a:srgbClr val="242B34"/>
                </a:solidFill>
                <a:latin typeface="Aptos"/>
              </a:rPr>
              <a:t>Why is this useful for the writer's purpose?</a:t>
            </a:r>
          </a:p>
        </p:txBody>
      </p:sp>
      <p:sp>
        <p:nvSpPr>
          <p:cNvPr id="19" name="Rectangle 18"/>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WHAT SHOULD I LOOK FOR?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WHAT SHOULD I LOOK FOR?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8</a:t>
            </a:r>
          </a:p>
        </p:txBody>
      </p:sp>
      <p:sp>
        <p:nvSpPr>
          <p:cNvPr id="7" name="Rounded Rectangle 6"/>
          <p:cNvSpPr/>
          <p:nvPr/>
        </p:nvSpPr>
        <p:spPr>
          <a:xfrm>
            <a:off x="731520" y="1737360"/>
            <a:ext cx="2514600" cy="3291840"/>
          </a:xfrm>
          <a:prstGeom prst="roundRect">
            <a:avLst/>
          </a:prstGeom>
          <a:solidFill>
            <a:srgbClr val="E5EDF8"/>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847088"/>
            <a:ext cx="2185416" cy="411480"/>
          </a:xfrm>
          <a:prstGeom prst="rect">
            <a:avLst/>
          </a:prstGeom>
          <a:noFill/>
        </p:spPr>
        <p:txBody>
          <a:bodyPr wrap="none">
            <a:spAutoFit/>
          </a:bodyPr>
          <a:lstStyle/>
          <a:p>
            <a:r>
              <a:rPr sz="1800" b="1">
                <a:solidFill>
                  <a:srgbClr val="3F69AA"/>
                </a:solidFill>
                <a:latin typeface="Aptos Display"/>
              </a:rPr>
              <a:t>POWERFUL VERBS</a:t>
            </a:r>
          </a:p>
        </p:txBody>
      </p:sp>
      <p:sp>
        <p:nvSpPr>
          <p:cNvPr id="9" name="TextBox 8"/>
          <p:cNvSpPr txBox="1"/>
          <p:nvPr/>
        </p:nvSpPr>
        <p:spPr>
          <a:xfrm>
            <a:off x="896112" y="2304288"/>
            <a:ext cx="2185416" cy="2578608"/>
          </a:xfrm>
          <a:prstGeom prst="rect">
            <a:avLst/>
          </a:prstGeom>
          <a:noFill/>
        </p:spPr>
        <p:txBody>
          <a:bodyPr wrap="square">
            <a:spAutoFit/>
          </a:bodyPr>
          <a:lstStyle/>
          <a:p>
            <a:r>
              <a:rPr sz="2000">
                <a:solidFill>
                  <a:srgbClr val="242B34"/>
                </a:solidFill>
                <a:latin typeface="Aptos"/>
              </a:rPr>
              <a:t>rushed
trapped
transformed</a:t>
            </a:r>
          </a:p>
        </p:txBody>
      </p:sp>
      <p:sp>
        <p:nvSpPr>
          <p:cNvPr id="10" name="Rounded Rectangle 9"/>
          <p:cNvSpPr/>
          <p:nvPr/>
        </p:nvSpPr>
        <p:spPr>
          <a:xfrm>
            <a:off x="3429000" y="1737360"/>
            <a:ext cx="2514600" cy="3291840"/>
          </a:xfrm>
          <a:prstGeom prst="roundRect">
            <a:avLst/>
          </a:prstGeom>
          <a:solidFill>
            <a:srgbClr val="E2F2F0"/>
          </a:solidFill>
          <a:ln w="19050">
            <a:solidFill>
              <a:srgbClr val="32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3592" y="1847088"/>
            <a:ext cx="2185416" cy="411480"/>
          </a:xfrm>
          <a:prstGeom prst="rect">
            <a:avLst/>
          </a:prstGeom>
          <a:noFill/>
        </p:spPr>
        <p:txBody>
          <a:bodyPr wrap="none">
            <a:spAutoFit/>
          </a:bodyPr>
          <a:lstStyle/>
          <a:p>
            <a:r>
              <a:rPr sz="1800" b="1">
                <a:solidFill>
                  <a:srgbClr val="329191"/>
                </a:solidFill>
                <a:latin typeface="Aptos Display"/>
              </a:rPr>
              <a:t>PRECISE ADJECTIVES</a:t>
            </a:r>
          </a:p>
        </p:txBody>
      </p:sp>
      <p:sp>
        <p:nvSpPr>
          <p:cNvPr id="12" name="TextBox 11"/>
          <p:cNvSpPr txBox="1"/>
          <p:nvPr/>
        </p:nvSpPr>
        <p:spPr>
          <a:xfrm>
            <a:off x="3593592" y="2304288"/>
            <a:ext cx="2185416" cy="2578608"/>
          </a:xfrm>
          <a:prstGeom prst="rect">
            <a:avLst/>
          </a:prstGeom>
          <a:noFill/>
        </p:spPr>
        <p:txBody>
          <a:bodyPr wrap="square">
            <a:spAutoFit/>
          </a:bodyPr>
          <a:lstStyle/>
          <a:p>
            <a:r>
              <a:rPr sz="2000">
                <a:solidFill>
                  <a:srgbClr val="242B34"/>
                </a:solidFill>
                <a:latin typeface="Aptos"/>
              </a:rPr>
              <a:t>enormous
fragile
unexpected</a:t>
            </a:r>
          </a:p>
        </p:txBody>
      </p:sp>
      <p:sp>
        <p:nvSpPr>
          <p:cNvPr id="13" name="Rounded Rectangle 12"/>
          <p:cNvSpPr/>
          <p:nvPr/>
        </p:nvSpPr>
        <p:spPr>
          <a:xfrm>
            <a:off x="6126480" y="1737360"/>
            <a:ext cx="2514600" cy="3291840"/>
          </a:xfrm>
          <a:prstGeom prst="roundRect">
            <a:avLst/>
          </a:prstGeom>
          <a:solidFill>
            <a:srgbClr val="FAF1D6"/>
          </a:solidFill>
          <a:ln w="19050">
            <a:solidFill>
              <a:srgbClr val="E1A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847088"/>
            <a:ext cx="2185416" cy="411480"/>
          </a:xfrm>
          <a:prstGeom prst="rect">
            <a:avLst/>
          </a:prstGeom>
          <a:noFill/>
        </p:spPr>
        <p:txBody>
          <a:bodyPr wrap="none">
            <a:spAutoFit/>
          </a:bodyPr>
          <a:lstStyle/>
          <a:p>
            <a:r>
              <a:rPr sz="1800" b="1">
                <a:solidFill>
                  <a:srgbClr val="E1AB41"/>
                </a:solidFill>
                <a:latin typeface="Aptos Display"/>
              </a:rPr>
              <a:t>COMPARISONS</a:t>
            </a:r>
          </a:p>
        </p:txBody>
      </p:sp>
      <p:sp>
        <p:nvSpPr>
          <p:cNvPr id="15" name="TextBox 14"/>
          <p:cNvSpPr txBox="1"/>
          <p:nvPr/>
        </p:nvSpPr>
        <p:spPr>
          <a:xfrm>
            <a:off x="6291072" y="2304288"/>
            <a:ext cx="2185416" cy="2578608"/>
          </a:xfrm>
          <a:prstGeom prst="rect">
            <a:avLst/>
          </a:prstGeom>
          <a:noFill/>
        </p:spPr>
        <p:txBody>
          <a:bodyPr wrap="square">
            <a:spAutoFit/>
          </a:bodyPr>
          <a:lstStyle/>
          <a:p>
            <a:r>
              <a:rPr sz="2000">
                <a:solidFill>
                  <a:srgbClr val="242B34"/>
                </a:solidFill>
                <a:latin typeface="Aptos"/>
              </a:rPr>
              <a:t>like a sponge
as...as...
seems like...</a:t>
            </a:r>
          </a:p>
        </p:txBody>
      </p:sp>
      <p:sp>
        <p:nvSpPr>
          <p:cNvPr id="16" name="Rounded Rectangle 15"/>
          <p:cNvSpPr/>
          <p:nvPr/>
        </p:nvSpPr>
        <p:spPr>
          <a:xfrm>
            <a:off x="8823960" y="1737360"/>
            <a:ext cx="2514600" cy="3291840"/>
          </a:xfrm>
          <a:prstGeom prst="roundRect">
            <a:avLst/>
          </a:prstGeom>
          <a:solidFill>
            <a:srgbClr val="FFFFFF"/>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88552" y="1847088"/>
            <a:ext cx="2185416" cy="411480"/>
          </a:xfrm>
          <a:prstGeom prst="rect">
            <a:avLst/>
          </a:prstGeom>
          <a:noFill/>
        </p:spPr>
        <p:txBody>
          <a:bodyPr wrap="none">
            <a:spAutoFit/>
          </a:bodyPr>
          <a:lstStyle/>
          <a:p>
            <a:r>
              <a:rPr sz="1800" b="1">
                <a:solidFill>
                  <a:srgbClr val="46875C"/>
                </a:solidFill>
                <a:latin typeface="Aptos Display"/>
              </a:rPr>
              <a:t>MEMORABLE PHRASES</a:t>
            </a:r>
          </a:p>
        </p:txBody>
      </p:sp>
      <p:sp>
        <p:nvSpPr>
          <p:cNvPr id="18" name="TextBox 17"/>
          <p:cNvSpPr txBox="1"/>
          <p:nvPr/>
        </p:nvSpPr>
        <p:spPr>
          <a:xfrm>
            <a:off x="8988552" y="2304288"/>
            <a:ext cx="2185416" cy="2578608"/>
          </a:xfrm>
          <a:prstGeom prst="rect">
            <a:avLst/>
          </a:prstGeom>
          <a:noFill/>
        </p:spPr>
        <p:txBody>
          <a:bodyPr wrap="square">
            <a:spAutoFit/>
          </a:bodyPr>
          <a:lstStyle/>
          <a:p>
            <a:r>
              <a:rPr sz="1800">
                <a:solidFill>
                  <a:srgbClr val="242B34"/>
                </a:solidFill>
                <a:latin typeface="Aptos"/>
              </a:rPr>
              <a:t>not simply...
not a magic switch
surprisingly busy</a:t>
            </a:r>
          </a:p>
        </p:txBody>
      </p:sp>
      <p:sp>
        <p:nvSpPr>
          <p:cNvPr id="19" name="TextBox 18"/>
          <p:cNvSpPr txBox="1"/>
          <p:nvPr/>
        </p:nvSpPr>
        <p:spPr>
          <a:xfrm>
            <a:off x="2834640" y="5257800"/>
            <a:ext cx="6583680" cy="457200"/>
          </a:xfrm>
          <a:prstGeom prst="rect">
            <a:avLst/>
          </a:prstGeom>
          <a:noFill/>
        </p:spPr>
        <p:txBody>
          <a:bodyPr wrap="square" lIns="45720" rIns="45720" anchor="t">
            <a:spAutoFit/>
          </a:bodyPr>
          <a:lstStyle/>
          <a:p>
            <a:pPr algn="ctr">
              <a:spcAft>
                <a:spcPts val="800"/>
              </a:spcAft>
            </a:pPr>
            <a:r>
              <a:rPr sz="2200">
                <a:solidFill>
                  <a:srgbClr val="1C273A"/>
                </a:solidFill>
                <a:latin typeface="Aptos"/>
              </a:rPr>
              <a:t>⭐ Ask: WHY THIS choice?</a:t>
            </a:r>
          </a:p>
        </p:txBody>
      </p:sp>
      <p:sp>
        <p:nvSpPr>
          <p:cNvPr id="20" name="Rectangle 1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TEACHER MODEL — THINK ALOUD</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TEACHER MODEL — THINK ALOUD</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9</a:t>
            </a:r>
          </a:p>
        </p:txBody>
      </p:sp>
      <p:sp>
        <p:nvSpPr>
          <p:cNvPr id="7" name="Rounded Rectangle 6"/>
          <p:cNvSpPr/>
          <p:nvPr/>
        </p:nvSpPr>
        <p:spPr>
          <a:xfrm>
            <a:off x="822960" y="1691640"/>
            <a:ext cx="10515600" cy="1051560"/>
          </a:xfrm>
          <a:prstGeom prst="roundRect">
            <a:avLst/>
          </a:prstGeom>
          <a:solidFill>
            <a:srgbClr val="E5EDF8"/>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01368"/>
            <a:ext cx="10186416" cy="411480"/>
          </a:xfrm>
          <a:prstGeom prst="rect">
            <a:avLst/>
          </a:prstGeom>
          <a:noFill/>
        </p:spPr>
        <p:txBody>
          <a:bodyPr wrap="none">
            <a:spAutoFit/>
          </a:bodyPr>
          <a:lstStyle/>
          <a:p>
            <a:r>
              <a:rPr sz="1800" b="1">
                <a:solidFill>
                  <a:srgbClr val="3F69AA"/>
                </a:solidFill>
                <a:latin typeface="Aptos Display"/>
              </a:rPr>
              <a:t>READ</a:t>
            </a:r>
          </a:p>
        </p:txBody>
      </p:sp>
      <p:sp>
        <p:nvSpPr>
          <p:cNvPr id="9" name="TextBox 8"/>
          <p:cNvSpPr txBox="1"/>
          <p:nvPr/>
        </p:nvSpPr>
        <p:spPr>
          <a:xfrm>
            <a:off x="987552" y="2258568"/>
            <a:ext cx="10186416" cy="338327"/>
          </a:xfrm>
          <a:prstGeom prst="rect">
            <a:avLst/>
          </a:prstGeom>
          <a:noFill/>
        </p:spPr>
        <p:txBody>
          <a:bodyPr wrap="square">
            <a:spAutoFit/>
          </a:bodyPr>
          <a:lstStyle/>
          <a:p>
            <a:r>
              <a:rPr sz="2200">
                <a:solidFill>
                  <a:srgbClr val="242B34"/>
                </a:solidFill>
                <a:latin typeface="Aptos"/>
              </a:rPr>
              <a:t>“The water began to rush towards the streets.”</a:t>
            </a:r>
          </a:p>
        </p:txBody>
      </p:sp>
      <p:sp>
        <p:nvSpPr>
          <p:cNvPr id="10" name="TextBox 9"/>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2000">
                <a:solidFill>
                  <a:srgbClr val="242B34"/>
                </a:solidFill>
                <a:latin typeface="Aptos"/>
              </a:rPr>
              <a:t>I could replace it with “move”, but “move” is weaker.</a:t>
            </a:r>
          </a:p>
          <a:p>
            <a:pPr algn="l">
              <a:spcAft>
                <a:spcPts val="800"/>
              </a:spcAft>
            </a:pPr>
            <a:r>
              <a:rPr sz="2000">
                <a:solidFill>
                  <a:srgbClr val="242B34"/>
                </a:solidFill>
                <a:latin typeface="Aptos"/>
              </a:rPr>
              <a:t/>
            </a:r>
          </a:p>
          <a:p>
            <a:pPr algn="l">
              <a:spcAft>
                <a:spcPts val="800"/>
              </a:spcAft>
            </a:pPr>
            <a:r>
              <a:rPr sz="2000">
                <a:solidFill>
                  <a:srgbClr val="242B34"/>
                </a:solidFill>
                <a:latin typeface="Aptos"/>
              </a:rPr>
              <a:t>“Rush” makes me imagine water moving quickly, suddenly and forcefully.</a:t>
            </a:r>
          </a:p>
          <a:p>
            <a:pPr algn="l">
              <a:spcAft>
                <a:spcPts val="800"/>
              </a:spcAft>
            </a:pPr>
            <a:r>
              <a:rPr sz="2000">
                <a:solidFill>
                  <a:srgbClr val="242B34"/>
                </a:solidFill>
                <a:latin typeface="Aptos"/>
              </a:rPr>
              <a:t/>
            </a:r>
          </a:p>
          <a:p>
            <a:pPr algn="l">
              <a:spcAft>
                <a:spcPts val="800"/>
              </a:spcAft>
            </a:pPr>
            <a:r>
              <a:rPr sz="2000">
                <a:solidFill>
                  <a:srgbClr val="242B34"/>
                </a:solidFill>
                <a:latin typeface="Aptos"/>
              </a:rPr>
              <a:t>So the writer wants me to picture the speed and power of the water.</a:t>
            </a:r>
          </a:p>
        </p:txBody>
      </p:sp>
      <p:sp>
        <p:nvSpPr>
          <p:cNvPr id="11" name="Rectangle 10"/>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TEACHER MODEL — 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MODEL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10</a:t>
            </a:r>
          </a:p>
        </p:txBody>
      </p:sp>
      <p:sp>
        <p:nvSpPr>
          <p:cNvPr id="7" name="Rounded Rectangle 6"/>
          <p:cNvSpPr/>
          <p:nvPr/>
        </p:nvSpPr>
        <p:spPr>
          <a:xfrm>
            <a:off x="914400" y="1645920"/>
            <a:ext cx="10241280" cy="356616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55648"/>
            <a:ext cx="9912096" cy="411480"/>
          </a:xfrm>
          <a:prstGeom prst="rect">
            <a:avLst/>
          </a:prstGeom>
          <a:noFill/>
        </p:spPr>
        <p:txBody>
          <a:bodyPr wrap="none">
            <a:spAutoFit/>
          </a:bodyPr>
          <a:lstStyle/>
          <a:p>
            <a:r>
              <a:rPr sz="1800" b="1">
                <a:solidFill>
                  <a:srgbClr val="46875C"/>
                </a:solidFill>
                <a:latin typeface="Aptos Display"/>
              </a:rPr>
              <a:t>STRONG ANALYSIS</a:t>
            </a:r>
          </a:p>
        </p:txBody>
      </p:sp>
      <p:sp>
        <p:nvSpPr>
          <p:cNvPr id="9" name="TextBox 8"/>
          <p:cNvSpPr txBox="1"/>
          <p:nvPr/>
        </p:nvSpPr>
        <p:spPr>
          <a:xfrm>
            <a:off x="1078992" y="2212848"/>
            <a:ext cx="9912096" cy="2852928"/>
          </a:xfrm>
          <a:prstGeom prst="rect">
            <a:avLst/>
          </a:prstGeom>
          <a:noFill/>
        </p:spPr>
        <p:txBody>
          <a:bodyPr wrap="square">
            <a:spAutoFit/>
          </a:bodyPr>
          <a:lstStyle/>
          <a:p>
            <a:r>
              <a:rPr sz="2000">
                <a:solidFill>
                  <a:srgbClr val="242B34"/>
                </a:solidFill>
                <a:latin typeface="Aptos"/>
              </a:rPr>
              <a:t>The writer chooses “rush” to create an image of water moving quickly and forcefully. This helps the reader understand why fast-moving rainwater can become a problem in cities.
CHOICE → “rush”
EFFECT → fast and forceful movement
READER → understands the problem</a:t>
            </a:r>
          </a:p>
        </p:txBody>
      </p:sp>
      <p:sp>
        <p:nvSpPr>
          <p:cNvPr id="10" name="Rectangle 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WE DO — TRY IT TOGETHER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WE DO — TRY IT TOGETHER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11</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“A wetland can act like a natural sponge, holding water after heavy rain.”</a:t>
            </a:r>
          </a:p>
          <a:p>
            <a:pPr algn="l">
              <a:spcAft>
                <a:spcPts val="800"/>
              </a:spcAft>
            </a:pPr>
            <a:r>
              <a:rPr sz="2300">
                <a:solidFill>
                  <a:srgbClr val="242B34"/>
                </a:solidFill>
                <a:latin typeface="Aptos"/>
              </a:rPr>
              <a:t/>
            </a:r>
          </a:p>
          <a:p>
            <a:pPr algn="l">
              <a:spcAft>
                <a:spcPts val="800"/>
              </a:spcAft>
            </a:pPr>
            <a:r>
              <a:rPr sz="2300">
                <a:solidFill>
                  <a:srgbClr val="242B34"/>
                </a:solidFill>
                <a:latin typeface="Aptos"/>
              </a:rPr>
              <a:t>Why is “natural sponge” an effective choice?</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It proves wetlands contain sponge material.</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It helps the reader imagine wetlands absorbing and holding water.</a:t>
            </a:r>
          </a:p>
        </p:txBody>
      </p:sp>
      <p:sp>
        <p:nvSpPr>
          <p:cNvPr id="14" name="Rounded Rectangle 13"/>
          <p:cNvSpPr/>
          <p:nvPr/>
        </p:nvSpPr>
        <p:spPr>
          <a:xfrm>
            <a:off x="86868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041648"/>
            <a:ext cx="4745736" cy="411480"/>
          </a:xfrm>
          <a:prstGeom prst="rect">
            <a:avLst/>
          </a:prstGeom>
          <a:noFill/>
        </p:spPr>
        <p:txBody>
          <a:bodyPr wrap="none">
            <a:spAutoFit/>
          </a:bodyPr>
          <a:lstStyle/>
          <a:p>
            <a:r>
              <a:rPr sz="1800" b="1">
                <a:solidFill>
                  <a:srgbClr val="3F69AA"/>
                </a:solidFill>
                <a:latin typeface="Aptos Display"/>
              </a:rPr>
              <a:t>C</a:t>
            </a:r>
          </a:p>
        </p:txBody>
      </p:sp>
      <p:sp>
        <p:nvSpPr>
          <p:cNvPr id="16" name="TextBox 15"/>
          <p:cNvSpPr txBox="1"/>
          <p:nvPr/>
        </p:nvSpPr>
        <p:spPr>
          <a:xfrm>
            <a:off x="1033271" y="4498848"/>
            <a:ext cx="4745736" cy="109728"/>
          </a:xfrm>
          <a:prstGeom prst="rect">
            <a:avLst/>
          </a:prstGeom>
          <a:noFill/>
        </p:spPr>
        <p:txBody>
          <a:bodyPr wrap="square">
            <a:spAutoFit/>
          </a:bodyPr>
          <a:lstStyle/>
          <a:p>
            <a:r>
              <a:rPr sz="1600">
                <a:solidFill>
                  <a:srgbClr val="242B34"/>
                </a:solidFill>
                <a:latin typeface="Aptos"/>
              </a:rPr>
              <a:t>It shows wetlands are soft.</a:t>
            </a:r>
          </a:p>
        </p:txBody>
      </p:sp>
      <p:sp>
        <p:nvSpPr>
          <p:cNvPr id="17" name="Rounded Rectangle 16"/>
          <p:cNvSpPr/>
          <p:nvPr/>
        </p:nvSpPr>
        <p:spPr>
          <a:xfrm>
            <a:off x="630936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41648"/>
            <a:ext cx="4745736" cy="411480"/>
          </a:xfrm>
          <a:prstGeom prst="rect">
            <a:avLst/>
          </a:prstGeom>
          <a:noFill/>
        </p:spPr>
        <p:txBody>
          <a:bodyPr wrap="none">
            <a:spAutoFit/>
          </a:bodyPr>
          <a:lstStyle/>
          <a:p>
            <a:r>
              <a:rPr sz="1800" b="1">
                <a:solidFill>
                  <a:srgbClr val="3F69AA"/>
                </a:solidFill>
                <a:latin typeface="Aptos Display"/>
              </a:rPr>
              <a:t>D</a:t>
            </a:r>
          </a:p>
        </p:txBody>
      </p:sp>
      <p:sp>
        <p:nvSpPr>
          <p:cNvPr id="19" name="TextBox 18"/>
          <p:cNvSpPr txBox="1"/>
          <p:nvPr/>
        </p:nvSpPr>
        <p:spPr>
          <a:xfrm>
            <a:off x="6473952" y="4498848"/>
            <a:ext cx="4745736" cy="109728"/>
          </a:xfrm>
          <a:prstGeom prst="rect">
            <a:avLst/>
          </a:prstGeom>
          <a:noFill/>
        </p:spPr>
        <p:txBody>
          <a:bodyPr wrap="square">
            <a:spAutoFit/>
          </a:bodyPr>
          <a:lstStyle/>
          <a:p>
            <a:r>
              <a:rPr sz="1600">
                <a:solidFill>
                  <a:srgbClr val="242B34"/>
                </a:solidFill>
                <a:latin typeface="Aptos"/>
              </a:rPr>
              <a:t>It makes the article humorous.</a:t>
            </a:r>
          </a:p>
        </p:txBody>
      </p:sp>
      <p:sp>
        <p:nvSpPr>
          <p:cNvPr id="20" name="Rectangle 1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WE DO — 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12</a:t>
            </a:r>
          </a:p>
        </p:txBody>
      </p:sp>
      <p:sp>
        <p:nvSpPr>
          <p:cNvPr id="7" name="Rounded Rectangle 6"/>
          <p:cNvSpPr/>
          <p:nvPr/>
        </p:nvSpPr>
        <p:spPr>
          <a:xfrm>
            <a:off x="914400" y="1828800"/>
            <a:ext cx="10241280" cy="320040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938528"/>
            <a:ext cx="9912096" cy="411480"/>
          </a:xfrm>
          <a:prstGeom prst="rect">
            <a:avLst/>
          </a:prstGeom>
          <a:noFill/>
        </p:spPr>
        <p:txBody>
          <a:bodyPr wrap="none">
            <a:spAutoFit/>
          </a:bodyPr>
          <a:lstStyle/>
          <a:p>
            <a:r>
              <a:rPr sz="1800" b="1">
                <a:solidFill>
                  <a:srgbClr val="46875C"/>
                </a:solidFill>
                <a:latin typeface="Aptos Display"/>
              </a:rPr>
              <a:t>B — CORRECT</a:t>
            </a:r>
          </a:p>
        </p:txBody>
      </p:sp>
      <p:sp>
        <p:nvSpPr>
          <p:cNvPr id="9" name="TextBox 8"/>
          <p:cNvSpPr txBox="1"/>
          <p:nvPr/>
        </p:nvSpPr>
        <p:spPr>
          <a:xfrm>
            <a:off x="1078992" y="2395728"/>
            <a:ext cx="9912096" cy="2487168"/>
          </a:xfrm>
          <a:prstGeom prst="rect">
            <a:avLst/>
          </a:prstGeom>
          <a:noFill/>
        </p:spPr>
        <p:txBody>
          <a:bodyPr wrap="square">
            <a:spAutoFit/>
          </a:bodyPr>
          <a:lstStyle/>
          <a:p>
            <a:r>
              <a:rPr sz="2200">
                <a:solidFill>
                  <a:srgbClr val="242B34"/>
                </a:solidFill>
                <a:latin typeface="Aptos"/>
              </a:rPr>
              <a:t>“Natural sponge” creates a clear comparison.
A sponge absorbs and holds water.
The comparison helps the reader visualise how wetlands manage water.</a:t>
            </a:r>
          </a:p>
        </p:txBody>
      </p:sp>
      <p:sp>
        <p:nvSpPr>
          <p:cNvPr id="10" name="Rectangle 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YOU DO — QUICK PRACTICE</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YOU DO — QUICK PRACTICE</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13</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“Wetlands are not magic switches that can solve every water problem.”</a:t>
            </a:r>
          </a:p>
          <a:p>
            <a:pPr algn="l">
              <a:spcAft>
                <a:spcPts val="800"/>
              </a:spcAft>
            </a:pPr>
            <a:r>
              <a:rPr sz="2300">
                <a:solidFill>
                  <a:srgbClr val="242B34"/>
                </a:solidFill>
                <a:latin typeface="Aptos"/>
              </a:rPr>
              <a:t/>
            </a:r>
          </a:p>
          <a:p>
            <a:pPr algn="l">
              <a:spcAft>
                <a:spcPts val="800"/>
              </a:spcAft>
            </a:pPr>
            <a:r>
              <a:rPr sz="2300">
                <a:solidFill>
                  <a:srgbClr val="242B34"/>
                </a:solidFill>
                <a:latin typeface="Aptos"/>
              </a:rPr>
              <a:t>Why is “magic switches” effective?</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It suggests wetlands are controlled by machines.</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It makes the article fictional.</a:t>
            </a:r>
          </a:p>
        </p:txBody>
      </p:sp>
      <p:sp>
        <p:nvSpPr>
          <p:cNvPr id="14" name="Rounded Rectangle 13"/>
          <p:cNvSpPr/>
          <p:nvPr/>
        </p:nvSpPr>
        <p:spPr>
          <a:xfrm>
            <a:off x="86868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041648"/>
            <a:ext cx="4745736" cy="411480"/>
          </a:xfrm>
          <a:prstGeom prst="rect">
            <a:avLst/>
          </a:prstGeom>
          <a:noFill/>
        </p:spPr>
        <p:txBody>
          <a:bodyPr wrap="none">
            <a:spAutoFit/>
          </a:bodyPr>
          <a:lstStyle/>
          <a:p>
            <a:r>
              <a:rPr sz="1800" b="1">
                <a:solidFill>
                  <a:srgbClr val="3F69AA"/>
                </a:solidFill>
                <a:latin typeface="Aptos Display"/>
              </a:rPr>
              <a:t>C</a:t>
            </a:r>
          </a:p>
        </p:txBody>
      </p:sp>
      <p:sp>
        <p:nvSpPr>
          <p:cNvPr id="16" name="TextBox 15"/>
          <p:cNvSpPr txBox="1"/>
          <p:nvPr/>
        </p:nvSpPr>
        <p:spPr>
          <a:xfrm>
            <a:off x="1033271" y="4498848"/>
            <a:ext cx="4745736" cy="109728"/>
          </a:xfrm>
          <a:prstGeom prst="rect">
            <a:avLst/>
          </a:prstGeom>
          <a:noFill/>
        </p:spPr>
        <p:txBody>
          <a:bodyPr wrap="square">
            <a:spAutoFit/>
          </a:bodyPr>
          <a:lstStyle/>
          <a:p>
            <a:r>
              <a:rPr sz="1600">
                <a:solidFill>
                  <a:srgbClr val="242B34"/>
                </a:solidFill>
                <a:latin typeface="Aptos"/>
              </a:rPr>
              <a:t>It emphasises that wetlands cannot solve every problem instantly.</a:t>
            </a:r>
          </a:p>
        </p:txBody>
      </p:sp>
      <p:sp>
        <p:nvSpPr>
          <p:cNvPr id="17" name="Rounded Rectangle 16"/>
          <p:cNvSpPr/>
          <p:nvPr/>
        </p:nvSpPr>
        <p:spPr>
          <a:xfrm>
            <a:off x="630936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41648"/>
            <a:ext cx="4745736" cy="411480"/>
          </a:xfrm>
          <a:prstGeom prst="rect">
            <a:avLst/>
          </a:prstGeom>
          <a:noFill/>
        </p:spPr>
        <p:txBody>
          <a:bodyPr wrap="none">
            <a:spAutoFit/>
          </a:bodyPr>
          <a:lstStyle/>
          <a:p>
            <a:r>
              <a:rPr sz="1800" b="1">
                <a:solidFill>
                  <a:srgbClr val="3F69AA"/>
                </a:solidFill>
                <a:latin typeface="Aptos Display"/>
              </a:rPr>
              <a:t>D</a:t>
            </a:r>
          </a:p>
        </p:txBody>
      </p:sp>
      <p:sp>
        <p:nvSpPr>
          <p:cNvPr id="19" name="TextBox 18"/>
          <p:cNvSpPr txBox="1"/>
          <p:nvPr/>
        </p:nvSpPr>
        <p:spPr>
          <a:xfrm>
            <a:off x="6473952" y="4498848"/>
            <a:ext cx="4745736" cy="109728"/>
          </a:xfrm>
          <a:prstGeom prst="rect">
            <a:avLst/>
          </a:prstGeom>
          <a:noFill/>
        </p:spPr>
        <p:txBody>
          <a:bodyPr wrap="square">
            <a:spAutoFit/>
          </a:bodyPr>
          <a:lstStyle/>
          <a:p>
            <a:r>
              <a:rPr sz="1600">
                <a:solidFill>
                  <a:srgbClr val="242B34"/>
                </a:solidFill>
                <a:latin typeface="Aptos"/>
              </a:rPr>
              <a:t>It proves wetlands are dangerous.</a:t>
            </a:r>
          </a:p>
        </p:txBody>
      </p:sp>
      <p:sp>
        <p:nvSpPr>
          <p:cNvPr id="20" name="Rectangle 1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YOU DO — 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14</a:t>
            </a:r>
          </a:p>
        </p:txBody>
      </p:sp>
      <p:sp>
        <p:nvSpPr>
          <p:cNvPr id="7" name="Rounded Rectangle 6"/>
          <p:cNvSpPr/>
          <p:nvPr/>
        </p:nvSpPr>
        <p:spPr>
          <a:xfrm>
            <a:off x="914400" y="1828800"/>
            <a:ext cx="10241280" cy="320040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938528"/>
            <a:ext cx="9912096" cy="411480"/>
          </a:xfrm>
          <a:prstGeom prst="rect">
            <a:avLst/>
          </a:prstGeom>
          <a:noFill/>
        </p:spPr>
        <p:txBody>
          <a:bodyPr wrap="none">
            <a:spAutoFit/>
          </a:bodyPr>
          <a:lstStyle/>
          <a:p>
            <a:r>
              <a:rPr sz="1800" b="1">
                <a:solidFill>
                  <a:srgbClr val="46875C"/>
                </a:solidFill>
                <a:latin typeface="Aptos Display"/>
              </a:rPr>
              <a:t>C — CORRECT</a:t>
            </a:r>
          </a:p>
        </p:txBody>
      </p:sp>
      <p:sp>
        <p:nvSpPr>
          <p:cNvPr id="9" name="TextBox 8"/>
          <p:cNvSpPr txBox="1"/>
          <p:nvPr/>
        </p:nvSpPr>
        <p:spPr>
          <a:xfrm>
            <a:off x="1078992" y="2395728"/>
            <a:ext cx="9912096" cy="2487168"/>
          </a:xfrm>
          <a:prstGeom prst="rect">
            <a:avLst/>
          </a:prstGeom>
          <a:noFill/>
        </p:spPr>
        <p:txBody>
          <a:bodyPr wrap="square">
            <a:spAutoFit/>
          </a:bodyPr>
          <a:lstStyle/>
          <a:p>
            <a:r>
              <a:rPr sz="2200">
                <a:solidFill>
                  <a:srgbClr val="242B34"/>
                </a:solidFill>
                <a:latin typeface="Aptos"/>
              </a:rPr>
              <a:t>“Magic switches” suggests an instant, effortless solution.
The writer uses it to emphasise that wetlands are useful, but they are not a complete or instant solution.</a:t>
            </a:r>
          </a:p>
        </p:txBody>
      </p:sp>
      <p:sp>
        <p:nvSpPr>
          <p:cNvPr id="10" name="Rectangle 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FULL-TEXT APPLICATION</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NOW WE APPLY THE ROUTINE TO A FULL ARTICLE</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15</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2200">
                <a:solidFill>
                  <a:srgbClr val="242B34"/>
                </a:solidFill>
                <a:latin typeface="Aptos"/>
              </a:rPr>
              <a:t>As you read:</a:t>
            </a:r>
          </a:p>
          <a:p>
            <a:pPr algn="l">
              <a:spcAft>
                <a:spcPts val="800"/>
              </a:spcAft>
            </a:pPr>
            <a:r>
              <a:rPr sz="2200">
                <a:solidFill>
                  <a:srgbClr val="242B34"/>
                </a:solidFill>
                <a:latin typeface="Aptos"/>
              </a:rPr>
              <a:t/>
            </a:r>
          </a:p>
          <a:p>
            <a:pPr algn="l">
              <a:spcAft>
                <a:spcPts val="800"/>
              </a:spcAft>
            </a:pPr>
            <a:r>
              <a:rPr sz="2200">
                <a:solidFill>
                  <a:srgbClr val="242B34"/>
                </a:solidFill>
                <a:latin typeface="Aptos"/>
              </a:rPr>
              <a:t>① Notice unusual or powerful words.</a:t>
            </a:r>
          </a:p>
          <a:p>
            <a:pPr algn="l">
              <a:spcAft>
                <a:spcPts val="800"/>
              </a:spcAft>
            </a:pPr>
            <a:r>
              <a:rPr sz="2200">
                <a:solidFill>
                  <a:srgbClr val="242B34"/>
                </a:solidFill>
                <a:latin typeface="Aptos"/>
              </a:rPr>
              <a:t/>
            </a:r>
          </a:p>
          <a:p>
            <a:pPr algn="l">
              <a:spcAft>
                <a:spcPts val="800"/>
              </a:spcAft>
            </a:pPr>
            <a:r>
              <a:rPr sz="2200">
                <a:solidFill>
                  <a:srgbClr val="242B34"/>
                </a:solidFill>
                <a:latin typeface="Aptos"/>
              </a:rPr>
              <a:t>② Underline phrases that seem deliberately chosen.</a:t>
            </a:r>
          </a:p>
          <a:p>
            <a:pPr algn="l">
              <a:spcAft>
                <a:spcPts val="800"/>
              </a:spcAft>
            </a:pPr>
            <a:r>
              <a:rPr sz="2200">
                <a:solidFill>
                  <a:srgbClr val="242B34"/>
                </a:solidFill>
                <a:latin typeface="Aptos"/>
              </a:rPr>
              <a:t/>
            </a:r>
          </a:p>
          <a:p>
            <a:pPr algn="l">
              <a:spcAft>
                <a:spcPts val="800"/>
              </a:spcAft>
            </a:pPr>
            <a:r>
              <a:rPr sz="2200">
                <a:solidFill>
                  <a:srgbClr val="242B34"/>
                </a:solidFill>
                <a:latin typeface="Aptos"/>
              </a:rPr>
              <a:t>③ Ask: WHY THIS word?</a:t>
            </a:r>
          </a:p>
          <a:p>
            <a:pPr algn="l">
              <a:spcAft>
                <a:spcPts val="800"/>
              </a:spcAft>
            </a:pPr>
            <a:r>
              <a:rPr sz="2200">
                <a:solidFill>
                  <a:srgbClr val="242B34"/>
                </a:solidFill>
                <a:latin typeface="Aptos"/>
              </a:rPr>
              <a:t/>
            </a:r>
          </a:p>
          <a:p>
            <a:pPr algn="l">
              <a:spcAft>
                <a:spcPts val="800"/>
              </a:spcAft>
            </a:pPr>
            <a:r>
              <a:rPr sz="2200">
                <a:solidFill>
                  <a:srgbClr val="242B34"/>
                </a:solidFill>
                <a:latin typeface="Aptos"/>
              </a:rPr>
              <a:t>④ Think about its effect on the reader.</a:t>
            </a:r>
          </a:p>
          <a:p>
            <a:pPr algn="l">
              <a:spcAft>
                <a:spcPts val="800"/>
              </a:spcAft>
            </a:pPr>
            <a:r>
              <a:rPr sz="2200">
                <a:solidFill>
                  <a:srgbClr val="242B34"/>
                </a:solidFill>
                <a:latin typeface="Aptos"/>
              </a:rPr>
              <a:t/>
            </a:r>
          </a:p>
          <a:p>
            <a:pPr algn="l">
              <a:spcAft>
                <a:spcPts val="800"/>
              </a:spcAft>
            </a:pPr>
            <a:r>
              <a:rPr sz="2200">
                <a:solidFill>
                  <a:srgbClr val="242B34"/>
                </a:solidFill>
                <a:latin typeface="Aptos"/>
              </a:rPr>
              <a:t>⑤ Keep reading and look for patterns.</a:t>
            </a:r>
          </a:p>
        </p:txBody>
      </p:sp>
      <p:sp>
        <p:nvSpPr>
          <p:cNvPr id="8" name="Rectangle 7"/>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MEET THE ARTICLE</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FULL ARTICLE</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WHEN A CITY MAKES ROOM FOR WATER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16</a:t>
            </a:r>
          </a:p>
        </p:txBody>
      </p:sp>
      <p:sp>
        <p:nvSpPr>
          <p:cNvPr id="7" name="TextBox 6"/>
          <p:cNvSpPr txBox="1"/>
          <p:nvPr/>
        </p:nvSpPr>
        <p:spPr>
          <a:xfrm>
            <a:off x="685800" y="1691640"/>
            <a:ext cx="10881360" cy="4480560"/>
          </a:xfrm>
          <a:prstGeom prst="rect">
            <a:avLst/>
          </a:prstGeom>
          <a:noFill/>
        </p:spPr>
        <p:txBody>
          <a:bodyPr wrap="square" lIns="45720" rIns="45720" anchor="t">
            <a:spAutoFit/>
          </a:bodyPr>
          <a:lstStyle/>
          <a:p>
            <a:pPr algn="l">
              <a:spcAft>
                <a:spcPts val="800"/>
              </a:spcAft>
            </a:pPr>
            <a:r>
              <a:rPr sz="1700">
                <a:solidFill>
                  <a:srgbClr val="242B34"/>
                </a:solidFill>
                <a:latin typeface="Aptos"/>
              </a:rPr>
              <a:t>When heavy rain falls on a city, the water has fewer places to go than it once did. Roads, car parks and buildings cover large areas of ground, so rainwater cannot easily soak into the soil. Instead, it can collect quickly and flow towards drains, rivers and low-lying streets.</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Yet some cities are beginning to look at an old feature of the landscape for a new solution: wetlands.</a:t>
            </a:r>
          </a:p>
        </p:txBody>
      </p:sp>
      <p:sp>
        <p:nvSpPr>
          <p:cNvPr id="8" name="Rounded Rectangle 7"/>
          <p:cNvSpPr/>
          <p:nvPr/>
        </p:nvSpPr>
        <p:spPr>
          <a:xfrm>
            <a:off x="8412480" y="5440680"/>
            <a:ext cx="2743200" cy="594360"/>
          </a:xfrm>
          <a:prstGeom prst="roundRect">
            <a:avLst/>
          </a:prstGeom>
          <a:solidFill>
            <a:srgbClr val="E2F2F0"/>
          </a:solidFill>
          <a:ln w="19050">
            <a:solidFill>
              <a:srgbClr val="32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5550408"/>
            <a:ext cx="2414016" cy="411480"/>
          </a:xfrm>
          <a:prstGeom prst="rect">
            <a:avLst/>
          </a:prstGeom>
          <a:noFill/>
        </p:spPr>
        <p:txBody>
          <a:bodyPr wrap="none">
            <a:spAutoFit/>
          </a:bodyPr>
          <a:lstStyle/>
          <a:p>
            <a:r>
              <a:rPr sz="1800" b="1">
                <a:solidFill>
                  <a:srgbClr val="329191"/>
                </a:solidFill>
                <a:latin typeface="Aptos Display"/>
              </a:rPr>
              <a:t>FOCUS</a:t>
            </a:r>
          </a:p>
        </p:txBody>
      </p:sp>
      <p:sp>
        <p:nvSpPr>
          <p:cNvPr id="10" name="TextBox 9"/>
          <p:cNvSpPr txBox="1"/>
          <p:nvPr/>
        </p:nvSpPr>
        <p:spPr>
          <a:xfrm>
            <a:off x="8577072" y="6007608"/>
            <a:ext cx="2414016" cy="-118872"/>
          </a:xfrm>
          <a:prstGeom prst="rect">
            <a:avLst/>
          </a:prstGeom>
          <a:noFill/>
        </p:spPr>
        <p:txBody>
          <a:bodyPr wrap="square">
            <a:spAutoFit/>
          </a:bodyPr>
          <a:lstStyle/>
          <a:p>
            <a:r>
              <a:rPr sz="1300">
                <a:solidFill>
                  <a:srgbClr val="242B34"/>
                </a:solidFill>
                <a:latin typeface="Aptos"/>
              </a:rPr>
              <a:t>Spot deliberate choices</a:t>
            </a:r>
          </a:p>
        </p:txBody>
      </p:sp>
      <p:sp>
        <p:nvSpPr>
          <p:cNvPr id="11" name="Rectangle 10"/>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PART 1</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29191"/>
                </a:solidFill>
                <a:latin typeface="Aptos"/>
              </a:rPr>
              <a:t>SESSION 1 • FULL ARTICLE</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WHAT IS A WETLAND?</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17</a:t>
            </a:r>
          </a:p>
        </p:txBody>
      </p:sp>
      <p:sp>
        <p:nvSpPr>
          <p:cNvPr id="7" name="TextBox 6"/>
          <p:cNvSpPr txBox="1"/>
          <p:nvPr/>
        </p:nvSpPr>
        <p:spPr>
          <a:xfrm>
            <a:off x="685800" y="1691640"/>
            <a:ext cx="10881360" cy="4480560"/>
          </a:xfrm>
          <a:prstGeom prst="rect">
            <a:avLst/>
          </a:prstGeom>
          <a:noFill/>
        </p:spPr>
        <p:txBody>
          <a:bodyPr wrap="square" lIns="45720" rIns="45720" anchor="t">
            <a:spAutoFit/>
          </a:bodyPr>
          <a:lstStyle/>
          <a:p>
            <a:pPr algn="l">
              <a:spcAft>
                <a:spcPts val="800"/>
              </a:spcAft>
            </a:pPr>
            <a:r>
              <a:rPr sz="1700">
                <a:solidFill>
                  <a:srgbClr val="242B34"/>
                </a:solidFill>
                <a:latin typeface="Aptos"/>
              </a:rPr>
              <a:t>A wetland is an area where water covers or saturates the soil for at least part of the year. Wetlands can take many forms, including marshes, swamps and shallow lakes. They are home to plants, insects, birds, fish and other animals.</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For centuries, people have changed wetlands to create farmland, roads and buildings. As cities expanded, even more wetland areas disappeared.</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Today, scientists and city planners are paying closer attention to what was lost. Wetlands are not simply muddy patches of land. They can perform several useful jobs at the same time.</a:t>
            </a:r>
          </a:p>
        </p:txBody>
      </p:sp>
      <p:sp>
        <p:nvSpPr>
          <p:cNvPr id="8" name="Rectangle 7"/>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PART 2</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29191"/>
                </a:solidFill>
                <a:latin typeface="Aptos"/>
              </a:rPr>
              <a:t>SESSION 1 • FULL ARTICLE</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NATURE'S SPONGES</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18</a:t>
            </a:r>
          </a:p>
        </p:txBody>
      </p:sp>
      <p:sp>
        <p:nvSpPr>
          <p:cNvPr id="7" name="TextBox 6"/>
          <p:cNvSpPr txBox="1"/>
          <p:nvPr/>
        </p:nvSpPr>
        <p:spPr>
          <a:xfrm>
            <a:off x="685800" y="1691640"/>
            <a:ext cx="10881360" cy="4480560"/>
          </a:xfrm>
          <a:prstGeom prst="rect">
            <a:avLst/>
          </a:prstGeom>
          <a:noFill/>
        </p:spPr>
        <p:txBody>
          <a:bodyPr wrap="square" lIns="45720" rIns="45720" anchor="t">
            <a:spAutoFit/>
          </a:bodyPr>
          <a:lstStyle/>
          <a:p>
            <a:pPr algn="l">
              <a:spcAft>
                <a:spcPts val="800"/>
              </a:spcAft>
            </a:pPr>
            <a:r>
              <a:rPr sz="1700">
                <a:solidFill>
                  <a:srgbClr val="242B34"/>
                </a:solidFill>
                <a:latin typeface="Aptos"/>
              </a:rPr>
              <a:t>One important job is managing water.</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When heavy rain arrives, a healthy wetland can slow the rush of water. Plants and soil absorb some of the water, while shallow pools can temporarily hold the rest. Instead of all the rain moving away at once, some of it remains in the wetland for longer.</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This does not mean that wetlands can prevent every flood. However, they can reduce the amount and speed of water moving into other areas.</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In this way, a wetland can work a little like a natural sponge.</a:t>
            </a:r>
          </a:p>
        </p:txBody>
      </p:sp>
      <p:sp>
        <p:nvSpPr>
          <p:cNvPr id="8" name="Rectangle 7"/>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PART 3</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29191"/>
                </a:solidFill>
                <a:latin typeface="Aptos"/>
              </a:rPr>
              <a:t>SESSION 1 • FULL ARTICLE</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MORE THAN FLOOD CONTROL</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19</a:t>
            </a:r>
          </a:p>
        </p:txBody>
      </p:sp>
      <p:sp>
        <p:nvSpPr>
          <p:cNvPr id="7" name="TextBox 6"/>
          <p:cNvSpPr txBox="1"/>
          <p:nvPr/>
        </p:nvSpPr>
        <p:spPr>
          <a:xfrm>
            <a:off x="685800" y="1691640"/>
            <a:ext cx="10881360" cy="4480560"/>
          </a:xfrm>
          <a:prstGeom prst="rect">
            <a:avLst/>
          </a:prstGeom>
          <a:noFill/>
        </p:spPr>
        <p:txBody>
          <a:bodyPr wrap="square" lIns="45720" rIns="45720" anchor="t">
            <a:spAutoFit/>
          </a:bodyPr>
          <a:lstStyle/>
          <a:p>
            <a:pPr algn="l">
              <a:spcAft>
                <a:spcPts val="800"/>
              </a:spcAft>
            </a:pPr>
            <a:r>
              <a:rPr sz="1700">
                <a:solidFill>
                  <a:srgbClr val="242B34"/>
                </a:solidFill>
                <a:latin typeface="Aptos"/>
              </a:rPr>
              <a:t>Water management is only one part of the story.</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Wetlands provide habitats for many living things. A shallow pool might give insects somewhere to reproduce, while reeds can provide shelter for birds. Plants growing in wet soil can also help create food and hiding places for small animals.</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Wetlands can even improve water quality. As water moves slowly through plants and soil, some pollutants and extra nutrients can be trapped or absorbed.</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These benefits are easy to overlook because they happen quietly. There may be no dramatic moment when a wetland announces that it is working. Its value often comes from many small processes happening together.</a:t>
            </a:r>
          </a:p>
        </p:txBody>
      </p:sp>
      <p:sp>
        <p:nvSpPr>
          <p:cNvPr id="8" name="Rectangle 7"/>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PART 4</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29191"/>
                </a:solidFill>
                <a:latin typeface="Aptos"/>
              </a:rPr>
              <a:t>SESSION 1 • FULL ARTICLE</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BRINGING WETLANDS BACK</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20</a:t>
            </a:r>
          </a:p>
        </p:txBody>
      </p:sp>
      <p:sp>
        <p:nvSpPr>
          <p:cNvPr id="7" name="TextBox 6"/>
          <p:cNvSpPr txBox="1"/>
          <p:nvPr/>
        </p:nvSpPr>
        <p:spPr>
          <a:xfrm>
            <a:off x="685800" y="1691640"/>
            <a:ext cx="10881360" cy="4480560"/>
          </a:xfrm>
          <a:prstGeom prst="rect">
            <a:avLst/>
          </a:prstGeom>
          <a:noFill/>
        </p:spPr>
        <p:txBody>
          <a:bodyPr wrap="square" lIns="45720" rIns="45720" anchor="t">
            <a:spAutoFit/>
          </a:bodyPr>
          <a:lstStyle/>
          <a:p>
            <a:pPr algn="l">
              <a:spcAft>
                <a:spcPts val="800"/>
              </a:spcAft>
            </a:pPr>
            <a:r>
              <a:rPr sz="1700">
                <a:solidFill>
                  <a:srgbClr val="242B34"/>
                </a:solidFill>
                <a:latin typeface="Aptos"/>
              </a:rPr>
              <a:t>Some cities are now restoring wetlands or creating new wetland areas where there is enough space.</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A restoration project might remove concrete, reshape the land and introduce native plants. Engineers may also create channels that allow water to move into and out of the area safely.</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However, restoring a wetland is not as simple as digging a large hole and filling it with water.</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The plants need suitable conditions. Water levels need to be monitored. In some places, polluted soil must be treated before the area can become a healthy habitat.</a:t>
            </a:r>
          </a:p>
        </p:txBody>
      </p:sp>
      <p:sp>
        <p:nvSpPr>
          <p:cNvPr id="8" name="Rectangle 7"/>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PART 5</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29191"/>
                </a:solidFill>
                <a:latin typeface="Aptos"/>
              </a:rPr>
              <a:t>SESSION 1 • FULL ARTICLE</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NOT A MAGIC SWITCH</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21</a:t>
            </a:r>
          </a:p>
        </p:txBody>
      </p:sp>
      <p:sp>
        <p:nvSpPr>
          <p:cNvPr id="7" name="TextBox 6"/>
          <p:cNvSpPr txBox="1"/>
          <p:nvPr/>
        </p:nvSpPr>
        <p:spPr>
          <a:xfrm>
            <a:off x="685800" y="1691640"/>
            <a:ext cx="10881360" cy="4480560"/>
          </a:xfrm>
          <a:prstGeom prst="rect">
            <a:avLst/>
          </a:prstGeom>
          <a:noFill/>
        </p:spPr>
        <p:txBody>
          <a:bodyPr wrap="square" lIns="45720" rIns="45720" anchor="t">
            <a:spAutoFit/>
          </a:bodyPr>
          <a:lstStyle/>
          <a:p>
            <a:pPr algn="l">
              <a:spcAft>
                <a:spcPts val="800"/>
              </a:spcAft>
            </a:pPr>
            <a:r>
              <a:rPr sz="1700">
                <a:solidFill>
                  <a:srgbClr val="242B34"/>
                </a:solidFill>
                <a:latin typeface="Aptos"/>
              </a:rPr>
              <a:t>Wetlands can be useful, but they are not a magic switch that solves every water problem.</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A city still needs well-maintained drains, sensible building plans and systems for dealing with extreme weather. A wetland also needs space, careful planning and regular monitoring.</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This is why planners often combine several approaches. A restored wetland might work alongside parks, rain gardens, permeable surfaces and improved drainage systems.</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The aim is not to make one solution do everything. It is to allow several solutions to work together.</a:t>
            </a:r>
          </a:p>
        </p:txBody>
      </p:sp>
      <p:sp>
        <p:nvSpPr>
          <p:cNvPr id="8" name="Rectangle 7"/>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PART 6</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29191"/>
                </a:solidFill>
                <a:latin typeface="Aptos"/>
              </a:rPr>
              <a:t>SESSION 1 • FULL ARTICLE</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 DIFFERENT WAY OF THINKING</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22</a:t>
            </a:r>
          </a:p>
        </p:txBody>
      </p:sp>
      <p:sp>
        <p:nvSpPr>
          <p:cNvPr id="7" name="TextBox 6"/>
          <p:cNvSpPr txBox="1"/>
          <p:nvPr/>
        </p:nvSpPr>
        <p:spPr>
          <a:xfrm>
            <a:off x="685800" y="1691640"/>
            <a:ext cx="10881360" cy="4480560"/>
          </a:xfrm>
          <a:prstGeom prst="rect">
            <a:avLst/>
          </a:prstGeom>
          <a:noFill/>
        </p:spPr>
        <p:txBody>
          <a:bodyPr wrap="square" lIns="45720" rIns="45720" anchor="t">
            <a:spAutoFit/>
          </a:bodyPr>
          <a:lstStyle/>
          <a:p>
            <a:pPr algn="l">
              <a:spcAft>
                <a:spcPts val="800"/>
              </a:spcAft>
            </a:pPr>
            <a:r>
              <a:rPr sz="1700">
                <a:solidFill>
                  <a:srgbClr val="242B34"/>
                </a:solidFill>
                <a:latin typeface="Aptos"/>
              </a:rPr>
              <a:t>Restoring wetlands represents a change in the way some cities think about water.</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Instead of seeing rain as something that must immediately be pushed away, planners can sometimes give water room to slow down, spread out and soak in.</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The idea is not to return every city to its natural state. Cities need homes, roads and public spaces. Instead, the challenge is to find places where natural systems can still do useful work.</a:t>
            </a:r>
          </a:p>
          <a:p>
            <a:pPr algn="l">
              <a:spcAft>
                <a:spcPts val="800"/>
              </a:spcAft>
            </a:pPr>
            <a:r>
              <a:rPr sz="1700">
                <a:solidFill>
                  <a:srgbClr val="242B34"/>
                </a:solidFill>
                <a:latin typeface="Aptos"/>
              </a:rPr>
              <a:t/>
            </a:r>
          </a:p>
          <a:p>
            <a:pPr algn="l">
              <a:spcAft>
                <a:spcPts val="800"/>
              </a:spcAft>
            </a:pPr>
            <a:r>
              <a:rPr sz="1700">
                <a:solidFill>
                  <a:srgbClr val="242B34"/>
                </a:solidFill>
                <a:latin typeface="Aptos"/>
              </a:rPr>
              <a:t>A wetland may look quiet from the outside. Its work, however, can be surprisingly busy.</a:t>
            </a:r>
          </a:p>
        </p:txBody>
      </p:sp>
      <p:sp>
        <p:nvSpPr>
          <p:cNvPr id="8" name="Rectangle 7"/>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CHECK YOUR UNDERSTANDING</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CHECK YOUR UNDERSTANDING</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23</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What is one reason cities are interested in wetlands?</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Wetlands make every city completely flood-proof.</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Wetlands can help manage rainwater.</a:t>
            </a:r>
          </a:p>
        </p:txBody>
      </p:sp>
      <p:sp>
        <p:nvSpPr>
          <p:cNvPr id="14" name="Rounded Rectangle 13"/>
          <p:cNvSpPr/>
          <p:nvPr/>
        </p:nvSpPr>
        <p:spPr>
          <a:xfrm>
            <a:off x="86868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041648"/>
            <a:ext cx="4745736" cy="411480"/>
          </a:xfrm>
          <a:prstGeom prst="rect">
            <a:avLst/>
          </a:prstGeom>
          <a:noFill/>
        </p:spPr>
        <p:txBody>
          <a:bodyPr wrap="none">
            <a:spAutoFit/>
          </a:bodyPr>
          <a:lstStyle/>
          <a:p>
            <a:r>
              <a:rPr sz="1800" b="1">
                <a:solidFill>
                  <a:srgbClr val="3F69AA"/>
                </a:solidFill>
                <a:latin typeface="Aptos Display"/>
              </a:rPr>
              <a:t>C</a:t>
            </a:r>
          </a:p>
        </p:txBody>
      </p:sp>
      <p:sp>
        <p:nvSpPr>
          <p:cNvPr id="16" name="TextBox 15"/>
          <p:cNvSpPr txBox="1"/>
          <p:nvPr/>
        </p:nvSpPr>
        <p:spPr>
          <a:xfrm>
            <a:off x="1033271" y="4498848"/>
            <a:ext cx="4745736" cy="109728"/>
          </a:xfrm>
          <a:prstGeom prst="rect">
            <a:avLst/>
          </a:prstGeom>
          <a:noFill/>
        </p:spPr>
        <p:txBody>
          <a:bodyPr wrap="square">
            <a:spAutoFit/>
          </a:bodyPr>
          <a:lstStyle/>
          <a:p>
            <a:r>
              <a:rPr sz="1600">
                <a:solidFill>
                  <a:srgbClr val="242B34"/>
                </a:solidFill>
                <a:latin typeface="Aptos"/>
              </a:rPr>
              <a:t>Wetlands remove the need for drains.</a:t>
            </a:r>
          </a:p>
        </p:txBody>
      </p:sp>
      <p:sp>
        <p:nvSpPr>
          <p:cNvPr id="17" name="Rounded Rectangle 16"/>
          <p:cNvSpPr/>
          <p:nvPr/>
        </p:nvSpPr>
        <p:spPr>
          <a:xfrm>
            <a:off x="630936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41648"/>
            <a:ext cx="4745736" cy="411480"/>
          </a:xfrm>
          <a:prstGeom prst="rect">
            <a:avLst/>
          </a:prstGeom>
          <a:noFill/>
        </p:spPr>
        <p:txBody>
          <a:bodyPr wrap="none">
            <a:spAutoFit/>
          </a:bodyPr>
          <a:lstStyle/>
          <a:p>
            <a:r>
              <a:rPr sz="1800" b="1">
                <a:solidFill>
                  <a:srgbClr val="3F69AA"/>
                </a:solidFill>
                <a:latin typeface="Aptos Display"/>
              </a:rPr>
              <a:t>D</a:t>
            </a:r>
          </a:p>
        </p:txBody>
      </p:sp>
      <p:sp>
        <p:nvSpPr>
          <p:cNvPr id="19" name="TextBox 18"/>
          <p:cNvSpPr txBox="1"/>
          <p:nvPr/>
        </p:nvSpPr>
        <p:spPr>
          <a:xfrm>
            <a:off x="6473952" y="4498848"/>
            <a:ext cx="4745736" cy="109728"/>
          </a:xfrm>
          <a:prstGeom prst="rect">
            <a:avLst/>
          </a:prstGeom>
          <a:noFill/>
        </p:spPr>
        <p:txBody>
          <a:bodyPr wrap="square">
            <a:spAutoFit/>
          </a:bodyPr>
          <a:lstStyle/>
          <a:p>
            <a:r>
              <a:rPr sz="1600">
                <a:solidFill>
                  <a:srgbClr val="242B34"/>
                </a:solidFill>
                <a:latin typeface="Aptos"/>
              </a:rPr>
              <a:t>Wetlands can replace every green space.</a:t>
            </a:r>
          </a:p>
        </p:txBody>
      </p:sp>
      <p:sp>
        <p:nvSpPr>
          <p:cNvPr id="20" name="Rectangle 1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CHECK YOUR UNDERSTANDING — 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24</a:t>
            </a:r>
          </a:p>
        </p:txBody>
      </p:sp>
      <p:sp>
        <p:nvSpPr>
          <p:cNvPr id="7" name="Rounded Rectangle 6"/>
          <p:cNvSpPr/>
          <p:nvPr/>
        </p:nvSpPr>
        <p:spPr>
          <a:xfrm>
            <a:off x="914400" y="1737360"/>
            <a:ext cx="10241280" cy="347472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9912096" cy="411480"/>
          </a:xfrm>
          <a:prstGeom prst="rect">
            <a:avLst/>
          </a:prstGeom>
          <a:noFill/>
        </p:spPr>
        <p:txBody>
          <a:bodyPr wrap="none">
            <a:spAutoFit/>
          </a:bodyPr>
          <a:lstStyle/>
          <a:p>
            <a:r>
              <a:rPr sz="1800" b="1">
                <a:solidFill>
                  <a:srgbClr val="46875C"/>
                </a:solidFill>
                <a:latin typeface="Aptos Display"/>
              </a:rPr>
              <a:t>B — CORRECT</a:t>
            </a:r>
          </a:p>
        </p:txBody>
      </p:sp>
      <p:sp>
        <p:nvSpPr>
          <p:cNvPr id="9" name="TextBox 8"/>
          <p:cNvSpPr txBox="1"/>
          <p:nvPr/>
        </p:nvSpPr>
        <p:spPr>
          <a:xfrm>
            <a:off x="1078992" y="2304288"/>
            <a:ext cx="9912096" cy="2761487"/>
          </a:xfrm>
          <a:prstGeom prst="rect">
            <a:avLst/>
          </a:prstGeom>
          <a:noFill/>
        </p:spPr>
        <p:txBody>
          <a:bodyPr wrap="square">
            <a:spAutoFit/>
          </a:bodyPr>
          <a:lstStyle/>
          <a:p>
            <a:r>
              <a:rPr sz="2000">
                <a:solidFill>
                  <a:srgbClr val="242B34"/>
                </a:solidFill>
                <a:latin typeface="Aptos"/>
              </a:rPr>
              <a:t>Wetlands can help slow water, hold water temporarily, and reduce the amount and speed of water moving elsewhere.
Important: the article does NOT claim that wetlands solve every flooding problem.</a:t>
            </a:r>
          </a:p>
        </p:txBody>
      </p:sp>
      <p:sp>
        <p:nvSpPr>
          <p:cNvPr id="10" name="Rectangle 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WRITER'S CHOICE — ARTICLE QUESTION</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ARTICLE QUESTION</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25</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The writer says: “muddy patches of land”. What is the effect of this phrase?</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It suggests wetlands are useless and dangerous.</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It shows wetlands contain no water.</a:t>
            </a:r>
          </a:p>
        </p:txBody>
      </p:sp>
      <p:sp>
        <p:nvSpPr>
          <p:cNvPr id="14" name="Rounded Rectangle 13"/>
          <p:cNvSpPr/>
          <p:nvPr/>
        </p:nvSpPr>
        <p:spPr>
          <a:xfrm>
            <a:off x="86868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041648"/>
            <a:ext cx="4745736" cy="411480"/>
          </a:xfrm>
          <a:prstGeom prst="rect">
            <a:avLst/>
          </a:prstGeom>
          <a:noFill/>
        </p:spPr>
        <p:txBody>
          <a:bodyPr wrap="none">
            <a:spAutoFit/>
          </a:bodyPr>
          <a:lstStyle/>
          <a:p>
            <a:r>
              <a:rPr sz="1800" b="1">
                <a:solidFill>
                  <a:srgbClr val="3F69AA"/>
                </a:solidFill>
                <a:latin typeface="Aptos Display"/>
              </a:rPr>
              <a:t>C</a:t>
            </a:r>
          </a:p>
        </p:txBody>
      </p:sp>
      <p:sp>
        <p:nvSpPr>
          <p:cNvPr id="16" name="TextBox 15"/>
          <p:cNvSpPr txBox="1"/>
          <p:nvPr/>
        </p:nvSpPr>
        <p:spPr>
          <a:xfrm>
            <a:off x="1033271" y="4498848"/>
            <a:ext cx="4745736" cy="109728"/>
          </a:xfrm>
          <a:prstGeom prst="rect">
            <a:avLst/>
          </a:prstGeom>
          <a:noFill/>
        </p:spPr>
        <p:txBody>
          <a:bodyPr wrap="square">
            <a:spAutoFit/>
          </a:bodyPr>
          <a:lstStyle/>
          <a:p>
            <a:r>
              <a:rPr sz="1600">
                <a:solidFill>
                  <a:srgbClr val="242B34"/>
                </a:solidFill>
                <a:latin typeface="Aptos"/>
              </a:rPr>
              <a:t>It challenges the idea that wetlands are merely unimportant areas of land.</a:t>
            </a:r>
          </a:p>
        </p:txBody>
      </p:sp>
      <p:sp>
        <p:nvSpPr>
          <p:cNvPr id="17" name="Rounded Rectangle 16"/>
          <p:cNvSpPr/>
          <p:nvPr/>
        </p:nvSpPr>
        <p:spPr>
          <a:xfrm>
            <a:off x="630936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41648"/>
            <a:ext cx="4745736" cy="411480"/>
          </a:xfrm>
          <a:prstGeom prst="rect">
            <a:avLst/>
          </a:prstGeom>
          <a:noFill/>
        </p:spPr>
        <p:txBody>
          <a:bodyPr wrap="none">
            <a:spAutoFit/>
          </a:bodyPr>
          <a:lstStyle/>
          <a:p>
            <a:r>
              <a:rPr sz="1800" b="1">
                <a:solidFill>
                  <a:srgbClr val="3F69AA"/>
                </a:solidFill>
                <a:latin typeface="Aptos Display"/>
              </a:rPr>
              <a:t>D</a:t>
            </a:r>
          </a:p>
        </p:txBody>
      </p:sp>
      <p:sp>
        <p:nvSpPr>
          <p:cNvPr id="19" name="TextBox 18"/>
          <p:cNvSpPr txBox="1"/>
          <p:nvPr/>
        </p:nvSpPr>
        <p:spPr>
          <a:xfrm>
            <a:off x="6473952" y="4498848"/>
            <a:ext cx="4745736" cy="109728"/>
          </a:xfrm>
          <a:prstGeom prst="rect">
            <a:avLst/>
          </a:prstGeom>
          <a:noFill/>
        </p:spPr>
        <p:txBody>
          <a:bodyPr wrap="square">
            <a:spAutoFit/>
          </a:bodyPr>
          <a:lstStyle/>
          <a:p>
            <a:r>
              <a:rPr sz="1600">
                <a:solidFill>
                  <a:srgbClr val="242B34"/>
                </a:solidFill>
                <a:latin typeface="Aptos"/>
              </a:rPr>
              <a:t>It proves wetlands should become farmland.</a:t>
            </a:r>
          </a:p>
        </p:txBody>
      </p:sp>
      <p:sp>
        <p:nvSpPr>
          <p:cNvPr id="20" name="Rectangle 1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26</a:t>
            </a:r>
          </a:p>
        </p:txBody>
      </p:sp>
      <p:sp>
        <p:nvSpPr>
          <p:cNvPr id="7" name="Rounded Rectangle 6"/>
          <p:cNvSpPr/>
          <p:nvPr/>
        </p:nvSpPr>
        <p:spPr>
          <a:xfrm>
            <a:off x="914400" y="1645920"/>
            <a:ext cx="10241280" cy="347472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55648"/>
            <a:ext cx="9912096" cy="411480"/>
          </a:xfrm>
          <a:prstGeom prst="rect">
            <a:avLst/>
          </a:prstGeom>
          <a:noFill/>
        </p:spPr>
        <p:txBody>
          <a:bodyPr wrap="none">
            <a:spAutoFit/>
          </a:bodyPr>
          <a:lstStyle/>
          <a:p>
            <a:r>
              <a:rPr sz="1800" b="1">
                <a:solidFill>
                  <a:srgbClr val="46875C"/>
                </a:solidFill>
                <a:latin typeface="Aptos Display"/>
              </a:rPr>
              <a:t>C — CORRECT</a:t>
            </a:r>
          </a:p>
        </p:txBody>
      </p:sp>
      <p:sp>
        <p:nvSpPr>
          <p:cNvPr id="9" name="TextBox 8"/>
          <p:cNvSpPr txBox="1"/>
          <p:nvPr/>
        </p:nvSpPr>
        <p:spPr>
          <a:xfrm>
            <a:off x="1078992" y="2212848"/>
            <a:ext cx="9912096" cy="2761487"/>
          </a:xfrm>
          <a:prstGeom prst="rect">
            <a:avLst/>
          </a:prstGeom>
          <a:noFill/>
        </p:spPr>
        <p:txBody>
          <a:bodyPr wrap="square">
            <a:spAutoFit/>
          </a:bodyPr>
          <a:lstStyle/>
          <a:p>
            <a:r>
              <a:rPr sz="2000">
                <a:solidFill>
                  <a:srgbClr val="242B34"/>
                </a:solidFill>
                <a:latin typeface="Aptos"/>
              </a:rPr>
              <a:t>The phrase represents a simple view of wetlands, which the writer then challenges by explaining their many useful functions.</a:t>
            </a:r>
          </a:p>
        </p:txBody>
      </p:sp>
      <p:sp>
        <p:nvSpPr>
          <p:cNvPr id="10" name="Rectangle 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WRITER'S CHOICE — ARTICLE QUESTION</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ARTICLE QUESTION</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27</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The writer says: “slow the rush of water”. Why is “rush” effective?</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It creates an image of water moving quickly and forcefully.</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It suggests the water is completely still.</a:t>
            </a:r>
          </a:p>
        </p:txBody>
      </p:sp>
      <p:sp>
        <p:nvSpPr>
          <p:cNvPr id="14" name="Rounded Rectangle 13"/>
          <p:cNvSpPr/>
          <p:nvPr/>
        </p:nvSpPr>
        <p:spPr>
          <a:xfrm>
            <a:off x="86868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041648"/>
            <a:ext cx="4745736" cy="411480"/>
          </a:xfrm>
          <a:prstGeom prst="rect">
            <a:avLst/>
          </a:prstGeom>
          <a:noFill/>
        </p:spPr>
        <p:txBody>
          <a:bodyPr wrap="none">
            <a:spAutoFit/>
          </a:bodyPr>
          <a:lstStyle/>
          <a:p>
            <a:r>
              <a:rPr sz="1800" b="1">
                <a:solidFill>
                  <a:srgbClr val="3F69AA"/>
                </a:solidFill>
                <a:latin typeface="Aptos Display"/>
              </a:rPr>
              <a:t>C</a:t>
            </a:r>
          </a:p>
        </p:txBody>
      </p:sp>
      <p:sp>
        <p:nvSpPr>
          <p:cNvPr id="16" name="TextBox 15"/>
          <p:cNvSpPr txBox="1"/>
          <p:nvPr/>
        </p:nvSpPr>
        <p:spPr>
          <a:xfrm>
            <a:off x="1033271" y="4498848"/>
            <a:ext cx="4745736" cy="109728"/>
          </a:xfrm>
          <a:prstGeom prst="rect">
            <a:avLst/>
          </a:prstGeom>
          <a:noFill/>
        </p:spPr>
        <p:txBody>
          <a:bodyPr wrap="square">
            <a:spAutoFit/>
          </a:bodyPr>
          <a:lstStyle/>
          <a:p>
            <a:r>
              <a:rPr sz="1600">
                <a:solidFill>
                  <a:srgbClr val="242B34"/>
                </a:solidFill>
                <a:latin typeface="Aptos"/>
              </a:rPr>
              <a:t>It makes the article humorous.</a:t>
            </a:r>
          </a:p>
        </p:txBody>
      </p:sp>
      <p:sp>
        <p:nvSpPr>
          <p:cNvPr id="17" name="Rounded Rectangle 16"/>
          <p:cNvSpPr/>
          <p:nvPr/>
        </p:nvSpPr>
        <p:spPr>
          <a:xfrm>
            <a:off x="630936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41648"/>
            <a:ext cx="4745736" cy="411480"/>
          </a:xfrm>
          <a:prstGeom prst="rect">
            <a:avLst/>
          </a:prstGeom>
          <a:noFill/>
        </p:spPr>
        <p:txBody>
          <a:bodyPr wrap="none">
            <a:spAutoFit/>
          </a:bodyPr>
          <a:lstStyle/>
          <a:p>
            <a:r>
              <a:rPr sz="1800" b="1">
                <a:solidFill>
                  <a:srgbClr val="3F69AA"/>
                </a:solidFill>
                <a:latin typeface="Aptos Display"/>
              </a:rPr>
              <a:t>D</a:t>
            </a:r>
          </a:p>
        </p:txBody>
      </p:sp>
      <p:sp>
        <p:nvSpPr>
          <p:cNvPr id="19" name="TextBox 18"/>
          <p:cNvSpPr txBox="1"/>
          <p:nvPr/>
        </p:nvSpPr>
        <p:spPr>
          <a:xfrm>
            <a:off x="6473952" y="4498848"/>
            <a:ext cx="4745736" cy="109728"/>
          </a:xfrm>
          <a:prstGeom prst="rect">
            <a:avLst/>
          </a:prstGeom>
          <a:noFill/>
        </p:spPr>
        <p:txBody>
          <a:bodyPr wrap="square">
            <a:spAutoFit/>
          </a:bodyPr>
          <a:lstStyle/>
          <a:p>
            <a:r>
              <a:rPr sz="1600">
                <a:solidFill>
                  <a:srgbClr val="242B34"/>
                </a:solidFill>
                <a:latin typeface="Aptos"/>
              </a:rPr>
              <a:t>It shows water is dangerous in every situation.</a:t>
            </a:r>
          </a:p>
        </p:txBody>
      </p:sp>
      <p:sp>
        <p:nvSpPr>
          <p:cNvPr id="20" name="Rectangle 1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28</a:t>
            </a:r>
          </a:p>
        </p:txBody>
      </p:sp>
      <p:sp>
        <p:nvSpPr>
          <p:cNvPr id="7" name="Rounded Rectangle 6"/>
          <p:cNvSpPr/>
          <p:nvPr/>
        </p:nvSpPr>
        <p:spPr>
          <a:xfrm>
            <a:off x="914400" y="1645920"/>
            <a:ext cx="10241280" cy="347472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55648"/>
            <a:ext cx="9912096" cy="411480"/>
          </a:xfrm>
          <a:prstGeom prst="rect">
            <a:avLst/>
          </a:prstGeom>
          <a:noFill/>
        </p:spPr>
        <p:txBody>
          <a:bodyPr wrap="none">
            <a:spAutoFit/>
          </a:bodyPr>
          <a:lstStyle/>
          <a:p>
            <a:r>
              <a:rPr sz="1800" b="1">
                <a:solidFill>
                  <a:srgbClr val="46875C"/>
                </a:solidFill>
                <a:latin typeface="Aptos Display"/>
              </a:rPr>
              <a:t>A — CORRECT</a:t>
            </a:r>
          </a:p>
        </p:txBody>
      </p:sp>
      <p:sp>
        <p:nvSpPr>
          <p:cNvPr id="9" name="TextBox 8"/>
          <p:cNvSpPr txBox="1"/>
          <p:nvPr/>
        </p:nvSpPr>
        <p:spPr>
          <a:xfrm>
            <a:off x="1078992" y="2212848"/>
            <a:ext cx="9912096" cy="2761487"/>
          </a:xfrm>
          <a:prstGeom prst="rect">
            <a:avLst/>
          </a:prstGeom>
          <a:noFill/>
        </p:spPr>
        <p:txBody>
          <a:bodyPr wrap="square">
            <a:spAutoFit/>
          </a:bodyPr>
          <a:lstStyle/>
          <a:p>
            <a:r>
              <a:rPr sz="2000">
                <a:solidFill>
                  <a:srgbClr val="242B34"/>
                </a:solidFill>
                <a:latin typeface="Aptos"/>
              </a:rPr>
              <a:t>“Rush” creates an image of water moving quickly, suddenly and forcefully.</a:t>
            </a:r>
          </a:p>
        </p:txBody>
      </p:sp>
      <p:sp>
        <p:nvSpPr>
          <p:cNvPr id="10" name="Rectangle 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WRITER'S CHOICE — ARTICLE QUESTION</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ARTICLE QUESTION</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29</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Why does the writer describe the benefits as happening “quietly”?</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To suggest wetlands are empty.</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To show that their benefits may happen gradually without being obvious.</a:t>
            </a:r>
          </a:p>
        </p:txBody>
      </p:sp>
      <p:sp>
        <p:nvSpPr>
          <p:cNvPr id="14" name="Rounded Rectangle 13"/>
          <p:cNvSpPr/>
          <p:nvPr/>
        </p:nvSpPr>
        <p:spPr>
          <a:xfrm>
            <a:off x="86868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041648"/>
            <a:ext cx="4745736" cy="411480"/>
          </a:xfrm>
          <a:prstGeom prst="rect">
            <a:avLst/>
          </a:prstGeom>
          <a:noFill/>
        </p:spPr>
        <p:txBody>
          <a:bodyPr wrap="none">
            <a:spAutoFit/>
          </a:bodyPr>
          <a:lstStyle/>
          <a:p>
            <a:r>
              <a:rPr sz="1800" b="1">
                <a:solidFill>
                  <a:srgbClr val="3F69AA"/>
                </a:solidFill>
                <a:latin typeface="Aptos Display"/>
              </a:rPr>
              <a:t>C</a:t>
            </a:r>
          </a:p>
        </p:txBody>
      </p:sp>
      <p:sp>
        <p:nvSpPr>
          <p:cNvPr id="16" name="TextBox 15"/>
          <p:cNvSpPr txBox="1"/>
          <p:nvPr/>
        </p:nvSpPr>
        <p:spPr>
          <a:xfrm>
            <a:off x="1033271" y="4498848"/>
            <a:ext cx="4745736" cy="109728"/>
          </a:xfrm>
          <a:prstGeom prst="rect">
            <a:avLst/>
          </a:prstGeom>
          <a:noFill/>
        </p:spPr>
        <p:txBody>
          <a:bodyPr wrap="square">
            <a:spAutoFit/>
          </a:bodyPr>
          <a:lstStyle/>
          <a:p>
            <a:r>
              <a:rPr sz="1600">
                <a:solidFill>
                  <a:srgbClr val="242B34"/>
                </a:solidFill>
                <a:latin typeface="Aptos"/>
              </a:rPr>
              <a:t>To prove wetlands make no difference.</a:t>
            </a:r>
          </a:p>
        </p:txBody>
      </p:sp>
      <p:sp>
        <p:nvSpPr>
          <p:cNvPr id="17" name="Rounded Rectangle 16"/>
          <p:cNvSpPr/>
          <p:nvPr/>
        </p:nvSpPr>
        <p:spPr>
          <a:xfrm>
            <a:off x="630936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41648"/>
            <a:ext cx="4745736" cy="411480"/>
          </a:xfrm>
          <a:prstGeom prst="rect">
            <a:avLst/>
          </a:prstGeom>
          <a:noFill/>
        </p:spPr>
        <p:txBody>
          <a:bodyPr wrap="none">
            <a:spAutoFit/>
          </a:bodyPr>
          <a:lstStyle/>
          <a:p>
            <a:r>
              <a:rPr sz="1800" b="1">
                <a:solidFill>
                  <a:srgbClr val="3F69AA"/>
                </a:solidFill>
                <a:latin typeface="Aptos Display"/>
              </a:rPr>
              <a:t>D</a:t>
            </a:r>
          </a:p>
        </p:txBody>
      </p:sp>
      <p:sp>
        <p:nvSpPr>
          <p:cNvPr id="19" name="TextBox 18"/>
          <p:cNvSpPr txBox="1"/>
          <p:nvPr/>
        </p:nvSpPr>
        <p:spPr>
          <a:xfrm>
            <a:off x="6473952" y="4498848"/>
            <a:ext cx="4745736" cy="109728"/>
          </a:xfrm>
          <a:prstGeom prst="rect">
            <a:avLst/>
          </a:prstGeom>
          <a:noFill/>
        </p:spPr>
        <p:txBody>
          <a:bodyPr wrap="square">
            <a:spAutoFit/>
          </a:bodyPr>
          <a:lstStyle/>
          <a:p>
            <a:r>
              <a:rPr sz="1600">
                <a:solidFill>
                  <a:srgbClr val="242B34"/>
                </a:solidFill>
                <a:latin typeface="Aptos"/>
              </a:rPr>
              <a:t>To show wetlands are always silent.</a:t>
            </a:r>
          </a:p>
        </p:txBody>
      </p:sp>
      <p:sp>
        <p:nvSpPr>
          <p:cNvPr id="20" name="Rectangle 1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30</a:t>
            </a:r>
          </a:p>
        </p:txBody>
      </p:sp>
      <p:sp>
        <p:nvSpPr>
          <p:cNvPr id="7" name="Rounded Rectangle 6"/>
          <p:cNvSpPr/>
          <p:nvPr/>
        </p:nvSpPr>
        <p:spPr>
          <a:xfrm>
            <a:off x="914400" y="1645920"/>
            <a:ext cx="10241280" cy="347472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55648"/>
            <a:ext cx="9912096" cy="411480"/>
          </a:xfrm>
          <a:prstGeom prst="rect">
            <a:avLst/>
          </a:prstGeom>
          <a:noFill/>
        </p:spPr>
        <p:txBody>
          <a:bodyPr wrap="none">
            <a:spAutoFit/>
          </a:bodyPr>
          <a:lstStyle/>
          <a:p>
            <a:r>
              <a:rPr sz="1800" b="1">
                <a:solidFill>
                  <a:srgbClr val="46875C"/>
                </a:solidFill>
                <a:latin typeface="Aptos Display"/>
              </a:rPr>
              <a:t>B — CORRECT</a:t>
            </a:r>
          </a:p>
        </p:txBody>
      </p:sp>
      <p:sp>
        <p:nvSpPr>
          <p:cNvPr id="9" name="TextBox 8"/>
          <p:cNvSpPr txBox="1"/>
          <p:nvPr/>
        </p:nvSpPr>
        <p:spPr>
          <a:xfrm>
            <a:off x="1078992" y="2212848"/>
            <a:ext cx="9912096" cy="2761487"/>
          </a:xfrm>
          <a:prstGeom prst="rect">
            <a:avLst/>
          </a:prstGeom>
          <a:noFill/>
        </p:spPr>
        <p:txBody>
          <a:bodyPr wrap="square">
            <a:spAutoFit/>
          </a:bodyPr>
          <a:lstStyle/>
          <a:p>
            <a:r>
              <a:rPr sz="2000">
                <a:solidFill>
                  <a:srgbClr val="242B34"/>
                </a:solidFill>
                <a:latin typeface="Aptos"/>
              </a:rPr>
              <a:t>“Quietly” suggests that the benefits are not dramatic or immediately visible.</a:t>
            </a:r>
          </a:p>
        </p:txBody>
      </p:sp>
      <p:sp>
        <p:nvSpPr>
          <p:cNvPr id="10" name="Rectangle 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WRITER'S CHOICE — ARTICLE QUESTION</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ARTICLE QUESTION</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31</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Why is “not a magic switch” an effective choice?</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It shows wetlands contain machines.</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It makes the article fictional.</a:t>
            </a:r>
          </a:p>
        </p:txBody>
      </p:sp>
      <p:sp>
        <p:nvSpPr>
          <p:cNvPr id="14" name="Rounded Rectangle 13"/>
          <p:cNvSpPr/>
          <p:nvPr/>
        </p:nvSpPr>
        <p:spPr>
          <a:xfrm>
            <a:off x="86868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041648"/>
            <a:ext cx="4745736" cy="411480"/>
          </a:xfrm>
          <a:prstGeom prst="rect">
            <a:avLst/>
          </a:prstGeom>
          <a:noFill/>
        </p:spPr>
        <p:txBody>
          <a:bodyPr wrap="none">
            <a:spAutoFit/>
          </a:bodyPr>
          <a:lstStyle/>
          <a:p>
            <a:r>
              <a:rPr sz="1800" b="1">
                <a:solidFill>
                  <a:srgbClr val="3F69AA"/>
                </a:solidFill>
                <a:latin typeface="Aptos Display"/>
              </a:rPr>
              <a:t>C</a:t>
            </a:r>
          </a:p>
        </p:txBody>
      </p:sp>
      <p:sp>
        <p:nvSpPr>
          <p:cNvPr id="16" name="TextBox 15"/>
          <p:cNvSpPr txBox="1"/>
          <p:nvPr/>
        </p:nvSpPr>
        <p:spPr>
          <a:xfrm>
            <a:off x="1033271" y="4498848"/>
            <a:ext cx="4745736" cy="109728"/>
          </a:xfrm>
          <a:prstGeom prst="rect">
            <a:avLst/>
          </a:prstGeom>
          <a:noFill/>
        </p:spPr>
        <p:txBody>
          <a:bodyPr wrap="square">
            <a:spAutoFit/>
          </a:bodyPr>
          <a:lstStyle/>
          <a:p>
            <a:r>
              <a:rPr sz="1600">
                <a:solidFill>
                  <a:srgbClr val="242B34"/>
                </a:solidFill>
                <a:latin typeface="Aptos"/>
              </a:rPr>
              <a:t>It suggests wetlands can solve every problem instantly.</a:t>
            </a:r>
          </a:p>
        </p:txBody>
      </p:sp>
      <p:sp>
        <p:nvSpPr>
          <p:cNvPr id="17" name="Rounded Rectangle 16"/>
          <p:cNvSpPr/>
          <p:nvPr/>
        </p:nvSpPr>
        <p:spPr>
          <a:xfrm>
            <a:off x="630936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41648"/>
            <a:ext cx="4745736" cy="411480"/>
          </a:xfrm>
          <a:prstGeom prst="rect">
            <a:avLst/>
          </a:prstGeom>
          <a:noFill/>
        </p:spPr>
        <p:txBody>
          <a:bodyPr wrap="none">
            <a:spAutoFit/>
          </a:bodyPr>
          <a:lstStyle/>
          <a:p>
            <a:r>
              <a:rPr sz="1800" b="1">
                <a:solidFill>
                  <a:srgbClr val="3F69AA"/>
                </a:solidFill>
                <a:latin typeface="Aptos Display"/>
              </a:rPr>
              <a:t>D</a:t>
            </a:r>
          </a:p>
        </p:txBody>
      </p:sp>
      <p:sp>
        <p:nvSpPr>
          <p:cNvPr id="19" name="TextBox 18"/>
          <p:cNvSpPr txBox="1"/>
          <p:nvPr/>
        </p:nvSpPr>
        <p:spPr>
          <a:xfrm>
            <a:off x="6473952" y="4498848"/>
            <a:ext cx="4745736" cy="109728"/>
          </a:xfrm>
          <a:prstGeom prst="rect">
            <a:avLst/>
          </a:prstGeom>
          <a:noFill/>
        </p:spPr>
        <p:txBody>
          <a:bodyPr wrap="square">
            <a:spAutoFit/>
          </a:bodyPr>
          <a:lstStyle/>
          <a:p>
            <a:r>
              <a:rPr sz="1600">
                <a:solidFill>
                  <a:srgbClr val="242B34"/>
                </a:solidFill>
                <a:latin typeface="Aptos"/>
              </a:rPr>
              <a:t>It emphasises that wetlands are useful but cannot solve every water problem alone.</a:t>
            </a:r>
          </a:p>
        </p:txBody>
      </p:sp>
      <p:sp>
        <p:nvSpPr>
          <p:cNvPr id="20" name="Rectangle 1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32</a:t>
            </a:r>
          </a:p>
        </p:txBody>
      </p:sp>
      <p:sp>
        <p:nvSpPr>
          <p:cNvPr id="7" name="Rounded Rectangle 6"/>
          <p:cNvSpPr/>
          <p:nvPr/>
        </p:nvSpPr>
        <p:spPr>
          <a:xfrm>
            <a:off x="914400" y="1645920"/>
            <a:ext cx="10241280" cy="347472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55648"/>
            <a:ext cx="9912096" cy="411480"/>
          </a:xfrm>
          <a:prstGeom prst="rect">
            <a:avLst/>
          </a:prstGeom>
          <a:noFill/>
        </p:spPr>
        <p:txBody>
          <a:bodyPr wrap="none">
            <a:spAutoFit/>
          </a:bodyPr>
          <a:lstStyle/>
          <a:p>
            <a:r>
              <a:rPr sz="1800" b="1">
                <a:solidFill>
                  <a:srgbClr val="46875C"/>
                </a:solidFill>
                <a:latin typeface="Aptos Display"/>
              </a:rPr>
              <a:t>D — CORRECT</a:t>
            </a:r>
          </a:p>
        </p:txBody>
      </p:sp>
      <p:sp>
        <p:nvSpPr>
          <p:cNvPr id="9" name="TextBox 8"/>
          <p:cNvSpPr txBox="1"/>
          <p:nvPr/>
        </p:nvSpPr>
        <p:spPr>
          <a:xfrm>
            <a:off x="1078992" y="2212848"/>
            <a:ext cx="9912096" cy="2761487"/>
          </a:xfrm>
          <a:prstGeom prst="rect">
            <a:avLst/>
          </a:prstGeom>
          <a:noFill/>
        </p:spPr>
        <p:txBody>
          <a:bodyPr wrap="square">
            <a:spAutoFit/>
          </a:bodyPr>
          <a:lstStyle/>
          <a:p>
            <a:r>
              <a:rPr sz="2000">
                <a:solidFill>
                  <a:srgbClr val="242B34"/>
                </a:solidFill>
                <a:latin typeface="Aptos"/>
              </a:rPr>
              <a:t>The phrase rejects the idea of an instant solution and prepares the reader for the need for several approaches.</a:t>
            </a:r>
          </a:p>
        </p:txBody>
      </p:sp>
      <p:sp>
        <p:nvSpPr>
          <p:cNvPr id="10" name="Rectangle 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YOU DO — INDEPENDENT PRACTICE</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YOU DO — WRITER'S CHOICE</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33</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2000">
                <a:solidFill>
                  <a:srgbClr val="242B34"/>
                </a:solidFill>
                <a:latin typeface="Aptos"/>
              </a:rPr>
              <a:t>Choose ONE:</a:t>
            </a:r>
          </a:p>
          <a:p>
            <a:pPr algn="l">
              <a:spcAft>
                <a:spcPts val="800"/>
              </a:spcAft>
            </a:pPr>
            <a:r>
              <a:rPr sz="2000">
                <a:solidFill>
                  <a:srgbClr val="242B34"/>
                </a:solidFill>
                <a:latin typeface="Aptos"/>
              </a:rPr>
              <a:t/>
            </a:r>
          </a:p>
          <a:p>
            <a:pPr algn="l">
              <a:spcAft>
                <a:spcPts val="800"/>
              </a:spcAft>
            </a:pPr>
            <a:r>
              <a:rPr sz="2000">
                <a:solidFill>
                  <a:srgbClr val="242B34"/>
                </a:solidFill>
                <a:latin typeface="Aptos"/>
              </a:rPr>
              <a:t>“natural sponge”   •   “quietly”   •   “not a magic switch”   •   “surprisingly busy”</a:t>
            </a:r>
          </a:p>
          <a:p>
            <a:pPr algn="l">
              <a:spcAft>
                <a:spcPts val="800"/>
              </a:spcAft>
            </a:pPr>
            <a:r>
              <a:rPr sz="2000">
                <a:solidFill>
                  <a:srgbClr val="242B34"/>
                </a:solidFill>
                <a:latin typeface="Aptos"/>
              </a:rPr>
              <a:t/>
            </a:r>
          </a:p>
          <a:p>
            <a:pPr algn="l">
              <a:spcAft>
                <a:spcPts val="800"/>
              </a:spcAft>
            </a:pPr>
            <a:r>
              <a:rPr sz="2000">
                <a:solidFill>
                  <a:srgbClr val="242B34"/>
                </a:solidFill>
                <a:latin typeface="Aptos"/>
              </a:rPr>
              <a:t>Explain: Why did the writer choose this phrase?</a:t>
            </a:r>
          </a:p>
          <a:p>
            <a:pPr algn="l">
              <a:spcAft>
                <a:spcPts val="800"/>
              </a:spcAft>
            </a:pPr>
            <a:r>
              <a:rPr sz="2000">
                <a:solidFill>
                  <a:srgbClr val="242B34"/>
                </a:solidFill>
                <a:latin typeface="Aptos"/>
              </a:rPr>
              <a:t/>
            </a:r>
          </a:p>
          <a:p>
            <a:pPr algn="l">
              <a:spcAft>
                <a:spcPts val="800"/>
              </a:spcAft>
            </a:pPr>
            <a:r>
              <a:rPr sz="2000">
                <a:solidFill>
                  <a:srgbClr val="242B34"/>
                </a:solidFill>
                <a:latin typeface="Aptos"/>
              </a:rPr>
              <a:t>Use:</a:t>
            </a:r>
          </a:p>
          <a:p>
            <a:pPr algn="l">
              <a:spcAft>
                <a:spcPts val="800"/>
              </a:spcAft>
            </a:pPr>
            <a:r>
              <a:rPr sz="2000">
                <a:solidFill>
                  <a:srgbClr val="242B34"/>
                </a:solidFill>
                <a:latin typeface="Aptos"/>
              </a:rPr>
              <a:t>The writer chooses “________”.</a:t>
            </a:r>
          </a:p>
          <a:p>
            <a:pPr algn="l">
              <a:spcAft>
                <a:spcPts val="800"/>
              </a:spcAft>
            </a:pPr>
            <a:r>
              <a:rPr sz="2000">
                <a:solidFill>
                  <a:srgbClr val="242B34"/>
                </a:solidFill>
                <a:latin typeface="Aptos"/>
              </a:rPr>
              <a:t>This suggests / creates ________.</a:t>
            </a:r>
          </a:p>
          <a:p>
            <a:pPr algn="l">
              <a:spcAft>
                <a:spcPts val="800"/>
              </a:spcAft>
            </a:pPr>
            <a:r>
              <a:rPr sz="2000">
                <a:solidFill>
                  <a:srgbClr val="242B34"/>
                </a:solidFill>
                <a:latin typeface="Aptos"/>
              </a:rPr>
              <a:t>This helps the reader ________.</a:t>
            </a:r>
          </a:p>
        </p:txBody>
      </p:sp>
      <p:sp>
        <p:nvSpPr>
          <p:cNvPr id="8" name="Rectangle 7"/>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MODEL 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MODEL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34</a:t>
            </a:r>
          </a:p>
        </p:txBody>
      </p:sp>
      <p:sp>
        <p:nvSpPr>
          <p:cNvPr id="7" name="Rounded Rectangle 6"/>
          <p:cNvSpPr/>
          <p:nvPr/>
        </p:nvSpPr>
        <p:spPr>
          <a:xfrm>
            <a:off x="914400" y="1645920"/>
            <a:ext cx="10241280" cy="365760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55648"/>
            <a:ext cx="9912096" cy="411480"/>
          </a:xfrm>
          <a:prstGeom prst="rect">
            <a:avLst/>
          </a:prstGeom>
          <a:noFill/>
        </p:spPr>
        <p:txBody>
          <a:bodyPr wrap="none">
            <a:spAutoFit/>
          </a:bodyPr>
          <a:lstStyle/>
          <a:p>
            <a:r>
              <a:rPr sz="1800" b="1">
                <a:solidFill>
                  <a:srgbClr val="46875C"/>
                </a:solidFill>
                <a:latin typeface="Aptos Display"/>
              </a:rPr>
              <a:t>“SURPRISINGLY BUSY”</a:t>
            </a:r>
          </a:p>
        </p:txBody>
      </p:sp>
      <p:sp>
        <p:nvSpPr>
          <p:cNvPr id="9" name="TextBox 8"/>
          <p:cNvSpPr txBox="1"/>
          <p:nvPr/>
        </p:nvSpPr>
        <p:spPr>
          <a:xfrm>
            <a:off x="1078992" y="2212848"/>
            <a:ext cx="9912096" cy="2944368"/>
          </a:xfrm>
          <a:prstGeom prst="rect">
            <a:avLst/>
          </a:prstGeom>
          <a:noFill/>
        </p:spPr>
        <p:txBody>
          <a:bodyPr wrap="square">
            <a:spAutoFit/>
          </a:bodyPr>
          <a:lstStyle/>
          <a:p>
            <a:r>
              <a:rPr sz="1900">
                <a:solidFill>
                  <a:srgbClr val="242B34"/>
                </a:solidFill>
                <a:latin typeface="Aptos"/>
              </a:rPr>
              <a:t>The writer describes the wetland's work as “surprisingly busy”. This creates a contrast between the quiet appearance of a wetland and the many processes happening inside it. This helps the reader understand that wetlands may look inactive while actually performing important environmental jobs.</a:t>
            </a:r>
          </a:p>
        </p:txBody>
      </p:sp>
      <p:sp>
        <p:nvSpPr>
          <p:cNvPr id="10" name="Rectangle 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EXIT TICKET</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SESSION 1 EXIT TICKET</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35</a:t>
            </a:r>
          </a:p>
        </p:txBody>
      </p:sp>
      <p:sp>
        <p:nvSpPr>
          <p:cNvPr id="7" name="Rounded Rectangle 6"/>
          <p:cNvSpPr/>
          <p:nvPr/>
        </p:nvSpPr>
        <p:spPr>
          <a:xfrm>
            <a:off x="822960" y="1600200"/>
            <a:ext cx="10515600" cy="1051560"/>
          </a:xfrm>
          <a:prstGeom prst="roundRect">
            <a:avLst/>
          </a:prstGeom>
          <a:solidFill>
            <a:srgbClr val="E5EDF8"/>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709928"/>
            <a:ext cx="10186416" cy="411480"/>
          </a:xfrm>
          <a:prstGeom prst="rect">
            <a:avLst/>
          </a:prstGeom>
          <a:noFill/>
        </p:spPr>
        <p:txBody>
          <a:bodyPr wrap="none">
            <a:spAutoFit/>
          </a:bodyPr>
          <a:lstStyle/>
          <a:p>
            <a:r>
              <a:rPr sz="1800" b="1">
                <a:solidFill>
                  <a:srgbClr val="3F69AA"/>
                </a:solidFill>
                <a:latin typeface="Aptos Display"/>
              </a:rPr>
              <a:t>READ</a:t>
            </a:r>
          </a:p>
        </p:txBody>
      </p:sp>
      <p:sp>
        <p:nvSpPr>
          <p:cNvPr id="9" name="TextBox 8"/>
          <p:cNvSpPr txBox="1"/>
          <p:nvPr/>
        </p:nvSpPr>
        <p:spPr>
          <a:xfrm>
            <a:off x="987552" y="2167128"/>
            <a:ext cx="10186416" cy="338327"/>
          </a:xfrm>
          <a:prstGeom prst="rect">
            <a:avLst/>
          </a:prstGeom>
          <a:noFill/>
        </p:spPr>
        <p:txBody>
          <a:bodyPr wrap="square">
            <a:spAutoFit/>
          </a:bodyPr>
          <a:lstStyle/>
          <a:p>
            <a:r>
              <a:rPr sz="2000">
                <a:solidFill>
                  <a:srgbClr val="242B34"/>
                </a:solidFill>
                <a:latin typeface="Aptos"/>
              </a:rPr>
              <a:t>“The wetland quietly absorbed the rain while the streets around it began to flood.”</a:t>
            </a:r>
          </a:p>
        </p:txBody>
      </p:sp>
      <p:sp>
        <p:nvSpPr>
          <p:cNvPr id="10" name="TextBox 9"/>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1900">
                <a:solidFill>
                  <a:srgbClr val="242B34"/>
                </a:solidFill>
                <a:latin typeface="Aptos"/>
              </a:rPr>
              <a:t>1. Why is “quietly” effective?</a:t>
            </a:r>
          </a:p>
          <a:p>
            <a:pPr algn="l">
              <a:spcAft>
                <a:spcPts val="800"/>
              </a:spcAft>
            </a:pPr>
            <a:r>
              <a:rPr sz="1900">
                <a:solidFill>
                  <a:srgbClr val="242B34"/>
                </a:solidFill>
                <a:latin typeface="Aptos"/>
              </a:rPr>
              <a:t/>
            </a:r>
          </a:p>
          <a:p>
            <a:pPr algn="l">
              <a:spcAft>
                <a:spcPts val="800"/>
              </a:spcAft>
            </a:pPr>
            <a:r>
              <a:rPr sz="1900">
                <a:solidFill>
                  <a:srgbClr val="242B34"/>
                </a:solidFill>
                <a:latin typeface="Aptos"/>
              </a:rPr>
              <a:t>2. What does it help the reader understand?</a:t>
            </a:r>
          </a:p>
          <a:p>
            <a:pPr algn="l">
              <a:spcAft>
                <a:spcPts val="800"/>
              </a:spcAft>
            </a:pPr>
            <a:r>
              <a:rPr sz="1900">
                <a:solidFill>
                  <a:srgbClr val="242B34"/>
                </a:solidFill>
                <a:latin typeface="Aptos"/>
              </a:rPr>
              <a:t/>
            </a:r>
          </a:p>
          <a:p>
            <a:pPr algn="l">
              <a:spcAft>
                <a:spcPts val="800"/>
              </a:spcAft>
            </a:pPr>
            <a:r>
              <a:rPr sz="1900">
                <a:solidFill>
                  <a:srgbClr val="242B34"/>
                </a:solidFill>
                <a:latin typeface="Aptos"/>
              </a:rPr>
              <a:t>Complete:</a:t>
            </a:r>
          </a:p>
          <a:p>
            <a:pPr algn="l">
              <a:spcAft>
                <a:spcPts val="800"/>
              </a:spcAft>
            </a:pPr>
            <a:r>
              <a:rPr sz="1900">
                <a:solidFill>
                  <a:srgbClr val="242B34"/>
                </a:solidFill>
                <a:latin typeface="Aptos"/>
              </a:rPr>
              <a:t>The writer chooses “quietly” to suggest __________. This helps the reader __________.</a:t>
            </a:r>
          </a:p>
        </p:txBody>
      </p:sp>
      <p:sp>
        <p:nvSpPr>
          <p:cNvPr id="11" name="Rectangle 10"/>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EXIT TICKET — 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1 • WRITER'S CHOICES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EXIT TICKET —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36</a:t>
            </a:r>
          </a:p>
        </p:txBody>
      </p:sp>
      <p:sp>
        <p:nvSpPr>
          <p:cNvPr id="7" name="Rounded Rectangle 6"/>
          <p:cNvSpPr/>
          <p:nvPr/>
        </p:nvSpPr>
        <p:spPr>
          <a:xfrm>
            <a:off x="914400" y="1737360"/>
            <a:ext cx="10241280" cy="320040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47088"/>
            <a:ext cx="9912096" cy="411480"/>
          </a:xfrm>
          <a:prstGeom prst="rect">
            <a:avLst/>
          </a:prstGeom>
          <a:noFill/>
        </p:spPr>
        <p:txBody>
          <a:bodyPr wrap="none">
            <a:spAutoFit/>
          </a:bodyPr>
          <a:lstStyle/>
          <a:p>
            <a:r>
              <a:rPr sz="1800" b="1">
                <a:solidFill>
                  <a:srgbClr val="46875C"/>
                </a:solidFill>
                <a:latin typeface="Aptos Display"/>
              </a:rPr>
              <a:t>POSSIBLE ANSWER</a:t>
            </a:r>
          </a:p>
        </p:txBody>
      </p:sp>
      <p:sp>
        <p:nvSpPr>
          <p:cNvPr id="9" name="TextBox 8"/>
          <p:cNvSpPr txBox="1"/>
          <p:nvPr/>
        </p:nvSpPr>
        <p:spPr>
          <a:xfrm>
            <a:off x="1078992" y="2304288"/>
            <a:ext cx="9912096" cy="2487168"/>
          </a:xfrm>
          <a:prstGeom prst="rect">
            <a:avLst/>
          </a:prstGeom>
          <a:noFill/>
        </p:spPr>
        <p:txBody>
          <a:bodyPr wrap="square">
            <a:spAutoFit/>
          </a:bodyPr>
          <a:lstStyle/>
          <a:p>
            <a:r>
              <a:rPr sz="2000">
                <a:solidFill>
                  <a:srgbClr val="242B34"/>
                </a:solidFill>
                <a:latin typeface="Aptos"/>
              </a:rPr>
              <a:t>The writer chooses “quietly” to suggest that the wetland is working without making a dramatic or obvious change. This helps the reader understand that important environmental processes can happen gradually and without being noticed.</a:t>
            </a:r>
          </a:p>
        </p:txBody>
      </p:sp>
      <p:sp>
        <p:nvSpPr>
          <p:cNvPr id="10" name="Rectangle 9"/>
          <p:cNvSpPr/>
          <p:nvPr/>
        </p:nvSpPr>
        <p:spPr>
          <a:xfrm>
            <a:off x="0" y="6784848"/>
            <a:ext cx="12191695" cy="73152"/>
          </a:xfrm>
          <a:prstGeom prst="rect">
            <a:avLst/>
          </a:prstGeom>
          <a:solidFill>
            <a:srgbClr val="3F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SESSION 2</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FROM WRITER'S CHOICES TO STRUCTURE</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37</a:t>
            </a:r>
          </a:p>
        </p:txBody>
      </p:sp>
      <p:sp>
        <p:nvSpPr>
          <p:cNvPr id="7" name="Rounded Rectangle 6"/>
          <p:cNvSpPr/>
          <p:nvPr/>
        </p:nvSpPr>
        <p:spPr>
          <a:xfrm>
            <a:off x="731520" y="1828800"/>
            <a:ext cx="5120640" cy="2560320"/>
          </a:xfrm>
          <a:prstGeom prst="roundRect">
            <a:avLst/>
          </a:prstGeom>
          <a:solidFill>
            <a:srgbClr val="E5EDF8"/>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38528"/>
            <a:ext cx="4791455" cy="411480"/>
          </a:xfrm>
          <a:prstGeom prst="rect">
            <a:avLst/>
          </a:prstGeom>
          <a:noFill/>
        </p:spPr>
        <p:txBody>
          <a:bodyPr wrap="none">
            <a:spAutoFit/>
          </a:bodyPr>
          <a:lstStyle/>
          <a:p>
            <a:r>
              <a:rPr sz="1800" b="1">
                <a:solidFill>
                  <a:srgbClr val="3F69AA"/>
                </a:solidFill>
                <a:latin typeface="Aptos Display"/>
              </a:rPr>
              <a:t>🔍 WRITER'S CHOICE</a:t>
            </a:r>
          </a:p>
        </p:txBody>
      </p:sp>
      <p:sp>
        <p:nvSpPr>
          <p:cNvPr id="9" name="TextBox 8"/>
          <p:cNvSpPr txBox="1"/>
          <p:nvPr/>
        </p:nvSpPr>
        <p:spPr>
          <a:xfrm>
            <a:off x="896112" y="2395728"/>
            <a:ext cx="4791455" cy="1847087"/>
          </a:xfrm>
          <a:prstGeom prst="rect">
            <a:avLst/>
          </a:prstGeom>
          <a:noFill/>
        </p:spPr>
        <p:txBody>
          <a:bodyPr wrap="square">
            <a:spAutoFit/>
          </a:bodyPr>
          <a:lstStyle/>
          <a:p>
            <a:r>
              <a:rPr sz="2300">
                <a:solidFill>
                  <a:srgbClr val="242B34"/>
                </a:solidFill>
                <a:latin typeface="Aptos"/>
              </a:rPr>
              <a:t>ZOOM IN
Why did the writer choose THIS word?</a:t>
            </a:r>
          </a:p>
        </p:txBody>
      </p:sp>
      <p:sp>
        <p:nvSpPr>
          <p:cNvPr id="10" name="Rounded Rectangle 9"/>
          <p:cNvSpPr/>
          <p:nvPr/>
        </p:nvSpPr>
        <p:spPr>
          <a:xfrm>
            <a:off x="6309360" y="1828800"/>
            <a:ext cx="5120640" cy="2560320"/>
          </a:xfrm>
          <a:prstGeom prst="roundRect">
            <a:avLst/>
          </a:prstGeom>
          <a:solidFill>
            <a:srgbClr val="E2F2F0"/>
          </a:solidFill>
          <a:ln w="19050">
            <a:solidFill>
              <a:srgbClr val="32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1938528"/>
            <a:ext cx="4791455" cy="411480"/>
          </a:xfrm>
          <a:prstGeom prst="rect">
            <a:avLst/>
          </a:prstGeom>
          <a:noFill/>
        </p:spPr>
        <p:txBody>
          <a:bodyPr wrap="none">
            <a:spAutoFit/>
          </a:bodyPr>
          <a:lstStyle/>
          <a:p>
            <a:r>
              <a:rPr sz="1800" b="1">
                <a:solidFill>
                  <a:srgbClr val="329191"/>
                </a:solidFill>
                <a:latin typeface="Aptos Display"/>
              </a:rPr>
              <a:t>🗺️ STRUCTURE</a:t>
            </a:r>
          </a:p>
        </p:txBody>
      </p:sp>
      <p:sp>
        <p:nvSpPr>
          <p:cNvPr id="12" name="TextBox 11"/>
          <p:cNvSpPr txBox="1"/>
          <p:nvPr/>
        </p:nvSpPr>
        <p:spPr>
          <a:xfrm>
            <a:off x="6473952" y="2395728"/>
            <a:ext cx="4791455" cy="1847087"/>
          </a:xfrm>
          <a:prstGeom prst="rect">
            <a:avLst/>
          </a:prstGeom>
          <a:noFill/>
        </p:spPr>
        <p:txBody>
          <a:bodyPr wrap="square">
            <a:spAutoFit/>
          </a:bodyPr>
          <a:lstStyle/>
          <a:p>
            <a:r>
              <a:rPr sz="2300">
                <a:solidFill>
                  <a:srgbClr val="242B34"/>
                </a:solidFill>
                <a:latin typeface="Aptos"/>
              </a:rPr>
              <a:t>ZOOM OUT
Why did the writer put THIS idea HERE?</a:t>
            </a:r>
          </a:p>
        </p:txBody>
      </p:sp>
      <p:sp>
        <p:nvSpPr>
          <p:cNvPr id="13" name="Rectangle 12"/>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EXPLICIT TEACHING</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WHAT IS STRUCTURE &amp; ORGANISATION?</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38</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2000">
                <a:solidFill>
                  <a:srgbClr val="242B34"/>
                </a:solidFill>
                <a:latin typeface="Aptos"/>
              </a:rPr>
              <a:t>Structure is the way the writer:</a:t>
            </a:r>
          </a:p>
          <a:p>
            <a:pPr algn="l">
              <a:spcAft>
                <a:spcPts val="800"/>
              </a:spcAft>
            </a:pPr>
            <a:r>
              <a:rPr sz="2000">
                <a:solidFill>
                  <a:srgbClr val="242B34"/>
                </a:solidFill>
                <a:latin typeface="Aptos"/>
              </a:rPr>
              <a:t/>
            </a:r>
          </a:p>
          <a:p>
            <a:pPr algn="l">
              <a:spcAft>
                <a:spcPts val="800"/>
              </a:spcAft>
            </a:pPr>
            <a:r>
              <a:rPr sz="2000">
                <a:solidFill>
                  <a:srgbClr val="242B34"/>
                </a:solidFill>
                <a:latin typeface="Aptos"/>
              </a:rPr>
              <a:t>• introduces the topic</a:t>
            </a:r>
          </a:p>
          <a:p>
            <a:pPr algn="l">
              <a:spcAft>
                <a:spcPts val="800"/>
              </a:spcAft>
            </a:pPr>
            <a:r>
              <a:rPr sz="2000">
                <a:solidFill>
                  <a:srgbClr val="242B34"/>
                </a:solidFill>
                <a:latin typeface="Aptos"/>
              </a:rPr>
              <a:t>• develops ideas</a:t>
            </a:r>
          </a:p>
          <a:p>
            <a:pPr algn="l">
              <a:spcAft>
                <a:spcPts val="800"/>
              </a:spcAft>
            </a:pPr>
            <a:r>
              <a:rPr sz="2000">
                <a:solidFill>
                  <a:srgbClr val="242B34"/>
                </a:solidFill>
                <a:latin typeface="Aptos"/>
              </a:rPr>
              <a:t>• changes direction</a:t>
            </a:r>
          </a:p>
          <a:p>
            <a:pPr algn="l">
              <a:spcAft>
                <a:spcPts val="800"/>
              </a:spcAft>
            </a:pPr>
            <a:r>
              <a:rPr sz="2000">
                <a:solidFill>
                  <a:srgbClr val="242B34"/>
                </a:solidFill>
                <a:latin typeface="Aptos"/>
              </a:rPr>
              <a:t>• presents problems</a:t>
            </a:r>
          </a:p>
          <a:p>
            <a:pPr algn="l">
              <a:spcAft>
                <a:spcPts val="800"/>
              </a:spcAft>
            </a:pPr>
            <a:r>
              <a:rPr sz="2000">
                <a:solidFill>
                  <a:srgbClr val="242B34"/>
                </a:solidFill>
                <a:latin typeface="Aptos"/>
              </a:rPr>
              <a:t>• gives examples</a:t>
            </a:r>
          </a:p>
          <a:p>
            <a:pPr algn="l">
              <a:spcAft>
                <a:spcPts val="800"/>
              </a:spcAft>
            </a:pPr>
            <a:r>
              <a:rPr sz="2000">
                <a:solidFill>
                  <a:srgbClr val="242B34"/>
                </a:solidFill>
                <a:latin typeface="Aptos"/>
              </a:rPr>
              <a:t>• introduces solutions</a:t>
            </a:r>
          </a:p>
          <a:p>
            <a:pPr algn="l">
              <a:spcAft>
                <a:spcPts val="800"/>
              </a:spcAft>
            </a:pPr>
            <a:r>
              <a:rPr sz="2000">
                <a:solidFill>
                  <a:srgbClr val="242B34"/>
                </a:solidFill>
                <a:latin typeface="Aptos"/>
              </a:rPr>
              <a:t>• ends the text</a:t>
            </a:r>
          </a:p>
          <a:p>
            <a:pPr algn="l">
              <a:spcAft>
                <a:spcPts val="800"/>
              </a:spcAft>
            </a:pPr>
            <a:r>
              <a:rPr sz="2000">
                <a:solidFill>
                  <a:srgbClr val="242B34"/>
                </a:solidFill>
                <a:latin typeface="Aptos"/>
              </a:rPr>
              <a:t/>
            </a:r>
          </a:p>
          <a:p>
            <a:pPr algn="l">
              <a:spcAft>
                <a:spcPts val="800"/>
              </a:spcAft>
            </a:pPr>
            <a:r>
              <a:rPr sz="2000">
                <a:solidFill>
                  <a:srgbClr val="242B34"/>
                </a:solidFill>
                <a:latin typeface="Aptos"/>
              </a:rPr>
              <a:t>Ask: WHY is this information HERE? WHY does it come before or after something else?</a:t>
            </a:r>
          </a:p>
        </p:txBody>
      </p:sp>
      <p:sp>
        <p:nvSpPr>
          <p:cNvPr id="8" name="Rectangle 7"/>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THE STRUCTURE ROUTINE</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THE STRUCTURE ROUTINE</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39</a:t>
            </a:r>
          </a:p>
        </p:txBody>
      </p:sp>
      <p:sp>
        <p:nvSpPr>
          <p:cNvPr id="7" name="Rounded Rectangle 6"/>
          <p:cNvSpPr/>
          <p:nvPr/>
        </p:nvSpPr>
        <p:spPr>
          <a:xfrm>
            <a:off x="502920" y="1691640"/>
            <a:ext cx="3566160" cy="178308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801368"/>
            <a:ext cx="3236976" cy="411480"/>
          </a:xfrm>
          <a:prstGeom prst="rect">
            <a:avLst/>
          </a:prstGeom>
          <a:noFill/>
        </p:spPr>
        <p:txBody>
          <a:bodyPr wrap="none">
            <a:spAutoFit/>
          </a:bodyPr>
          <a:lstStyle/>
          <a:p>
            <a:r>
              <a:rPr sz="1800" b="1">
                <a:solidFill>
                  <a:srgbClr val="3F69AA"/>
                </a:solidFill>
                <a:latin typeface="Aptos Display"/>
              </a:rPr>
              <a:t>① IDENTIFY</a:t>
            </a:r>
          </a:p>
        </p:txBody>
      </p:sp>
      <p:sp>
        <p:nvSpPr>
          <p:cNvPr id="9" name="TextBox 8"/>
          <p:cNvSpPr txBox="1"/>
          <p:nvPr/>
        </p:nvSpPr>
        <p:spPr>
          <a:xfrm>
            <a:off x="667512" y="2258568"/>
            <a:ext cx="3236976" cy="1069848"/>
          </a:xfrm>
          <a:prstGeom prst="rect">
            <a:avLst/>
          </a:prstGeom>
          <a:noFill/>
        </p:spPr>
        <p:txBody>
          <a:bodyPr wrap="square">
            <a:spAutoFit/>
          </a:bodyPr>
          <a:lstStyle/>
          <a:p>
            <a:r>
              <a:rPr sz="1600">
                <a:solidFill>
                  <a:srgbClr val="242B34"/>
                </a:solidFill>
                <a:latin typeface="Aptos"/>
              </a:rPr>
              <a:t>What does each paragraph/section do?</a:t>
            </a:r>
          </a:p>
        </p:txBody>
      </p:sp>
      <p:sp>
        <p:nvSpPr>
          <p:cNvPr id="10" name="Rounded Rectangle 9"/>
          <p:cNvSpPr/>
          <p:nvPr/>
        </p:nvSpPr>
        <p:spPr>
          <a:xfrm>
            <a:off x="4389120" y="1691640"/>
            <a:ext cx="3566160" cy="1783080"/>
          </a:xfrm>
          <a:prstGeom prst="roundRect">
            <a:avLst/>
          </a:prstGeom>
          <a:solidFill>
            <a:srgbClr val="FFFFFF"/>
          </a:solidFill>
          <a:ln w="19050">
            <a:solidFill>
              <a:srgbClr val="32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801368"/>
            <a:ext cx="3236976" cy="411480"/>
          </a:xfrm>
          <a:prstGeom prst="rect">
            <a:avLst/>
          </a:prstGeom>
          <a:noFill/>
        </p:spPr>
        <p:txBody>
          <a:bodyPr wrap="none">
            <a:spAutoFit/>
          </a:bodyPr>
          <a:lstStyle/>
          <a:p>
            <a:r>
              <a:rPr sz="1800" b="1">
                <a:solidFill>
                  <a:srgbClr val="329191"/>
                </a:solidFill>
                <a:latin typeface="Aptos Display"/>
              </a:rPr>
              <a:t>② TRACK</a:t>
            </a:r>
          </a:p>
        </p:txBody>
      </p:sp>
      <p:sp>
        <p:nvSpPr>
          <p:cNvPr id="12" name="TextBox 11"/>
          <p:cNvSpPr txBox="1"/>
          <p:nvPr/>
        </p:nvSpPr>
        <p:spPr>
          <a:xfrm>
            <a:off x="4553712" y="2258568"/>
            <a:ext cx="3236976" cy="1069848"/>
          </a:xfrm>
          <a:prstGeom prst="rect">
            <a:avLst/>
          </a:prstGeom>
          <a:noFill/>
        </p:spPr>
        <p:txBody>
          <a:bodyPr wrap="square">
            <a:spAutoFit/>
          </a:bodyPr>
          <a:lstStyle/>
          <a:p>
            <a:r>
              <a:rPr sz="1600">
                <a:solidFill>
                  <a:srgbClr val="242B34"/>
                </a:solidFill>
                <a:latin typeface="Aptos"/>
              </a:rPr>
              <a:t>What idea comes first? What comes next?</a:t>
            </a:r>
          </a:p>
        </p:txBody>
      </p:sp>
      <p:sp>
        <p:nvSpPr>
          <p:cNvPr id="13" name="Rounded Rectangle 12"/>
          <p:cNvSpPr/>
          <p:nvPr/>
        </p:nvSpPr>
        <p:spPr>
          <a:xfrm>
            <a:off x="8275320" y="1691640"/>
            <a:ext cx="3566160" cy="1783080"/>
          </a:xfrm>
          <a:prstGeom prst="roundRect">
            <a:avLst/>
          </a:prstGeom>
          <a:solidFill>
            <a:srgbClr val="FFFFFF"/>
          </a:solidFill>
          <a:ln w="19050">
            <a:solidFill>
              <a:srgbClr val="E1A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9912" y="1801368"/>
            <a:ext cx="3236976" cy="411480"/>
          </a:xfrm>
          <a:prstGeom prst="rect">
            <a:avLst/>
          </a:prstGeom>
          <a:noFill/>
        </p:spPr>
        <p:txBody>
          <a:bodyPr wrap="none">
            <a:spAutoFit/>
          </a:bodyPr>
          <a:lstStyle/>
          <a:p>
            <a:r>
              <a:rPr sz="1800" b="1">
                <a:solidFill>
                  <a:srgbClr val="E1AB41"/>
                </a:solidFill>
                <a:latin typeface="Aptos Display"/>
              </a:rPr>
              <a:t>③ CONNECT</a:t>
            </a:r>
          </a:p>
        </p:txBody>
      </p:sp>
      <p:sp>
        <p:nvSpPr>
          <p:cNvPr id="15" name="TextBox 14"/>
          <p:cNvSpPr txBox="1"/>
          <p:nvPr/>
        </p:nvSpPr>
        <p:spPr>
          <a:xfrm>
            <a:off x="8439912" y="2258568"/>
            <a:ext cx="3236976" cy="1069848"/>
          </a:xfrm>
          <a:prstGeom prst="rect">
            <a:avLst/>
          </a:prstGeom>
          <a:noFill/>
        </p:spPr>
        <p:txBody>
          <a:bodyPr wrap="square">
            <a:spAutoFit/>
          </a:bodyPr>
          <a:lstStyle/>
          <a:p>
            <a:r>
              <a:rPr sz="1600">
                <a:solidFill>
                  <a:srgbClr val="242B34"/>
                </a:solidFill>
                <a:latin typeface="Aptos"/>
              </a:rPr>
              <a:t>How does one idea lead to another?</a:t>
            </a:r>
          </a:p>
        </p:txBody>
      </p:sp>
      <p:sp>
        <p:nvSpPr>
          <p:cNvPr id="16" name="Rounded Rectangle 15"/>
          <p:cNvSpPr/>
          <p:nvPr/>
        </p:nvSpPr>
        <p:spPr>
          <a:xfrm>
            <a:off x="502920" y="3840480"/>
            <a:ext cx="3566160" cy="1783080"/>
          </a:xfrm>
          <a:prstGeom prst="roundRect">
            <a:avLst/>
          </a:prstGeom>
          <a:solidFill>
            <a:srgbClr val="FFFFFF"/>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950208"/>
            <a:ext cx="3236976" cy="411480"/>
          </a:xfrm>
          <a:prstGeom prst="rect">
            <a:avLst/>
          </a:prstGeom>
          <a:noFill/>
        </p:spPr>
        <p:txBody>
          <a:bodyPr wrap="none">
            <a:spAutoFit/>
          </a:bodyPr>
          <a:lstStyle/>
          <a:p>
            <a:r>
              <a:rPr sz="1800" b="1">
                <a:solidFill>
                  <a:srgbClr val="46875C"/>
                </a:solidFill>
                <a:latin typeface="Aptos Display"/>
              </a:rPr>
              <a:t>④ EXPLAIN</a:t>
            </a:r>
          </a:p>
        </p:txBody>
      </p:sp>
      <p:sp>
        <p:nvSpPr>
          <p:cNvPr id="18" name="TextBox 17"/>
          <p:cNvSpPr txBox="1"/>
          <p:nvPr/>
        </p:nvSpPr>
        <p:spPr>
          <a:xfrm>
            <a:off x="667512" y="4407408"/>
            <a:ext cx="3236976" cy="1069848"/>
          </a:xfrm>
          <a:prstGeom prst="rect">
            <a:avLst/>
          </a:prstGeom>
          <a:noFill/>
        </p:spPr>
        <p:txBody>
          <a:bodyPr wrap="square">
            <a:spAutoFit/>
          </a:bodyPr>
          <a:lstStyle/>
          <a:p>
            <a:r>
              <a:rPr sz="1600">
                <a:solidFill>
                  <a:srgbClr val="242B34"/>
                </a:solidFill>
                <a:latin typeface="Aptos"/>
              </a:rPr>
              <a:t>Why is this order useful?</a:t>
            </a:r>
          </a:p>
        </p:txBody>
      </p:sp>
      <p:sp>
        <p:nvSpPr>
          <p:cNvPr id="19" name="Rounded Rectangle 18"/>
          <p:cNvSpPr/>
          <p:nvPr/>
        </p:nvSpPr>
        <p:spPr>
          <a:xfrm>
            <a:off x="4389120" y="3840480"/>
            <a:ext cx="3566160" cy="178308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3950208"/>
            <a:ext cx="3236976" cy="411480"/>
          </a:xfrm>
          <a:prstGeom prst="rect">
            <a:avLst/>
          </a:prstGeom>
          <a:noFill/>
        </p:spPr>
        <p:txBody>
          <a:bodyPr wrap="none">
            <a:spAutoFit/>
          </a:bodyPr>
          <a:lstStyle/>
          <a:p>
            <a:r>
              <a:rPr sz="1800" b="1">
                <a:solidFill>
                  <a:srgbClr val="3F69AA"/>
                </a:solidFill>
                <a:latin typeface="Aptos Display"/>
              </a:rPr>
              <a:t>⑤ READER EFFECT</a:t>
            </a:r>
          </a:p>
        </p:txBody>
      </p:sp>
      <p:sp>
        <p:nvSpPr>
          <p:cNvPr id="21" name="TextBox 20"/>
          <p:cNvSpPr txBox="1"/>
          <p:nvPr/>
        </p:nvSpPr>
        <p:spPr>
          <a:xfrm>
            <a:off x="4553712" y="4407408"/>
            <a:ext cx="3236976" cy="1069848"/>
          </a:xfrm>
          <a:prstGeom prst="rect">
            <a:avLst/>
          </a:prstGeom>
          <a:noFill/>
        </p:spPr>
        <p:txBody>
          <a:bodyPr wrap="square">
            <a:spAutoFit/>
          </a:bodyPr>
          <a:lstStyle/>
          <a:p>
            <a:r>
              <a:rPr sz="1600">
                <a:solidFill>
                  <a:srgbClr val="242B34"/>
                </a:solidFill>
                <a:latin typeface="Aptos"/>
              </a:rPr>
              <a:t>How does the organisation help the reader?</a:t>
            </a:r>
          </a:p>
        </p:txBody>
      </p:sp>
      <p:sp>
        <p:nvSpPr>
          <p:cNvPr id="22" name="Rectangle 21"/>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WHAT SHOULD I LOOK FOR?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WHAT SHOULD I LOOK FOR?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40</a:t>
            </a:r>
          </a:p>
        </p:txBody>
      </p:sp>
      <p:sp>
        <p:nvSpPr>
          <p:cNvPr id="7" name="Rounded Rectangle 6"/>
          <p:cNvSpPr/>
          <p:nvPr/>
        </p:nvSpPr>
        <p:spPr>
          <a:xfrm>
            <a:off x="685800" y="1737360"/>
            <a:ext cx="3383280" cy="3383280"/>
          </a:xfrm>
          <a:prstGeom prst="roundRect">
            <a:avLst/>
          </a:prstGeom>
          <a:solidFill>
            <a:srgbClr val="E5EDF8"/>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847088"/>
            <a:ext cx="3054096" cy="411480"/>
          </a:xfrm>
          <a:prstGeom prst="rect">
            <a:avLst/>
          </a:prstGeom>
          <a:noFill/>
        </p:spPr>
        <p:txBody>
          <a:bodyPr wrap="none">
            <a:spAutoFit/>
          </a:bodyPr>
          <a:lstStyle/>
          <a:p>
            <a:r>
              <a:rPr sz="1800" b="1">
                <a:solidFill>
                  <a:srgbClr val="3F69AA"/>
                </a:solidFill>
                <a:latin typeface="Aptos Display"/>
              </a:rPr>
              <a:t>INTRODUCTION</a:t>
            </a:r>
          </a:p>
        </p:txBody>
      </p:sp>
      <p:sp>
        <p:nvSpPr>
          <p:cNvPr id="9" name="TextBox 8"/>
          <p:cNvSpPr txBox="1"/>
          <p:nvPr/>
        </p:nvSpPr>
        <p:spPr>
          <a:xfrm>
            <a:off x="850392" y="2304288"/>
            <a:ext cx="3054096" cy="2670048"/>
          </a:xfrm>
          <a:prstGeom prst="rect">
            <a:avLst/>
          </a:prstGeom>
          <a:noFill/>
        </p:spPr>
        <p:txBody>
          <a:bodyPr wrap="square">
            <a:spAutoFit/>
          </a:bodyPr>
          <a:lstStyle/>
          <a:p>
            <a:r>
              <a:rPr sz="2000">
                <a:solidFill>
                  <a:srgbClr val="242B34"/>
                </a:solidFill>
                <a:latin typeface="Aptos"/>
              </a:rPr>
              <a:t>What does the reader need to know first?</a:t>
            </a:r>
          </a:p>
        </p:txBody>
      </p:sp>
      <p:sp>
        <p:nvSpPr>
          <p:cNvPr id="10" name="Rounded Rectangle 9"/>
          <p:cNvSpPr/>
          <p:nvPr/>
        </p:nvSpPr>
        <p:spPr>
          <a:xfrm>
            <a:off x="4389120" y="1737360"/>
            <a:ext cx="3383280" cy="3383280"/>
          </a:xfrm>
          <a:prstGeom prst="roundRect">
            <a:avLst/>
          </a:prstGeom>
          <a:solidFill>
            <a:srgbClr val="E2F2F0"/>
          </a:solidFill>
          <a:ln w="19050">
            <a:solidFill>
              <a:srgbClr val="32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847088"/>
            <a:ext cx="3054096" cy="411480"/>
          </a:xfrm>
          <a:prstGeom prst="rect">
            <a:avLst/>
          </a:prstGeom>
          <a:noFill/>
        </p:spPr>
        <p:txBody>
          <a:bodyPr wrap="none">
            <a:spAutoFit/>
          </a:bodyPr>
          <a:lstStyle/>
          <a:p>
            <a:r>
              <a:rPr sz="1800" b="1">
                <a:solidFill>
                  <a:srgbClr val="329191"/>
                </a:solidFill>
                <a:latin typeface="Aptos Display"/>
              </a:rPr>
              <a:t>DEVELOPMENT</a:t>
            </a:r>
          </a:p>
        </p:txBody>
      </p:sp>
      <p:sp>
        <p:nvSpPr>
          <p:cNvPr id="12" name="TextBox 11"/>
          <p:cNvSpPr txBox="1"/>
          <p:nvPr/>
        </p:nvSpPr>
        <p:spPr>
          <a:xfrm>
            <a:off x="4553712" y="2304288"/>
            <a:ext cx="3054096" cy="2670048"/>
          </a:xfrm>
          <a:prstGeom prst="rect">
            <a:avLst/>
          </a:prstGeom>
          <a:noFill/>
        </p:spPr>
        <p:txBody>
          <a:bodyPr wrap="square">
            <a:spAutoFit/>
          </a:bodyPr>
          <a:lstStyle/>
          <a:p>
            <a:r>
              <a:rPr sz="2000">
                <a:solidFill>
                  <a:srgbClr val="242B34"/>
                </a:solidFill>
                <a:latin typeface="Aptos"/>
              </a:rPr>
              <a:t>What information is added? Does the idea become broader or more detailed?</a:t>
            </a:r>
          </a:p>
        </p:txBody>
      </p:sp>
      <p:sp>
        <p:nvSpPr>
          <p:cNvPr id="13" name="Rounded Rectangle 12"/>
          <p:cNvSpPr/>
          <p:nvPr/>
        </p:nvSpPr>
        <p:spPr>
          <a:xfrm>
            <a:off x="8092440" y="1737360"/>
            <a:ext cx="3383280" cy="3383280"/>
          </a:xfrm>
          <a:prstGeom prst="roundRect">
            <a:avLst/>
          </a:prstGeom>
          <a:solidFill>
            <a:srgbClr val="FAF1D6"/>
          </a:solidFill>
          <a:ln w="19050">
            <a:solidFill>
              <a:srgbClr val="E1A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1847088"/>
            <a:ext cx="3054096" cy="411480"/>
          </a:xfrm>
          <a:prstGeom prst="rect">
            <a:avLst/>
          </a:prstGeom>
          <a:noFill/>
        </p:spPr>
        <p:txBody>
          <a:bodyPr wrap="none">
            <a:spAutoFit/>
          </a:bodyPr>
          <a:lstStyle/>
          <a:p>
            <a:r>
              <a:rPr sz="1800" b="1">
                <a:solidFill>
                  <a:srgbClr val="E1AB41"/>
                </a:solidFill>
                <a:latin typeface="Aptos Display"/>
              </a:rPr>
              <a:t>SHIFT / ENDING</a:t>
            </a:r>
          </a:p>
        </p:txBody>
      </p:sp>
      <p:sp>
        <p:nvSpPr>
          <p:cNvPr id="15" name="TextBox 14"/>
          <p:cNvSpPr txBox="1"/>
          <p:nvPr/>
        </p:nvSpPr>
        <p:spPr>
          <a:xfrm>
            <a:off x="8257031" y="2304288"/>
            <a:ext cx="3054096" cy="2670048"/>
          </a:xfrm>
          <a:prstGeom prst="rect">
            <a:avLst/>
          </a:prstGeom>
          <a:noFill/>
        </p:spPr>
        <p:txBody>
          <a:bodyPr wrap="square">
            <a:spAutoFit/>
          </a:bodyPr>
          <a:lstStyle/>
          <a:p>
            <a:r>
              <a:rPr sz="1800">
                <a:solidFill>
                  <a:srgbClr val="242B34"/>
                </a:solidFill>
                <a:latin typeface="Aptos"/>
              </a:rPr>
              <a:t>Problem → solution?
General → specific?
Benefit → limitation?
What final message remains?</a:t>
            </a:r>
          </a:p>
        </p:txBody>
      </p:sp>
      <p:sp>
        <p:nvSpPr>
          <p:cNvPr id="16" name="Rectangle 15"/>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TEACHER MODEL — THINK ALOUD</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TEACHER MODEL — THINK ALOUD</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41</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2000">
                <a:solidFill>
                  <a:srgbClr val="242B34"/>
                </a:solidFill>
                <a:latin typeface="Aptos"/>
              </a:rPr>
              <a:t>At the beginning of our article:</a:t>
            </a:r>
          </a:p>
          <a:p>
            <a:pPr algn="l">
              <a:spcAft>
                <a:spcPts val="800"/>
              </a:spcAft>
            </a:pPr>
            <a:r>
              <a:rPr sz="2000">
                <a:solidFill>
                  <a:srgbClr val="242B34"/>
                </a:solidFill>
                <a:latin typeface="Aptos"/>
              </a:rPr>
              <a:t/>
            </a:r>
          </a:p>
          <a:p>
            <a:pPr algn="l">
              <a:spcAft>
                <a:spcPts val="800"/>
              </a:spcAft>
            </a:pPr>
            <a:r>
              <a:rPr sz="2000">
                <a:solidFill>
                  <a:srgbClr val="242B34"/>
                </a:solidFill>
                <a:latin typeface="Aptos"/>
              </a:rPr>
              <a:t>FIRST → Cities have a problem with rainwater.</a:t>
            </a:r>
          </a:p>
          <a:p>
            <a:pPr algn="l">
              <a:spcAft>
                <a:spcPts val="800"/>
              </a:spcAft>
            </a:pPr>
            <a:r>
              <a:rPr sz="2000">
                <a:solidFill>
                  <a:srgbClr val="242B34"/>
                </a:solidFill>
                <a:latin typeface="Aptos"/>
              </a:rPr>
              <a:t/>
            </a:r>
          </a:p>
          <a:p>
            <a:pPr algn="l">
              <a:spcAft>
                <a:spcPts val="800"/>
              </a:spcAft>
            </a:pPr>
            <a:r>
              <a:rPr sz="2000">
                <a:solidFill>
                  <a:srgbClr val="242B34"/>
                </a:solidFill>
                <a:latin typeface="Aptos"/>
              </a:rPr>
              <a:t>THEN → The writer introduces wetlands.</a:t>
            </a:r>
          </a:p>
          <a:p>
            <a:pPr algn="l">
              <a:spcAft>
                <a:spcPts val="800"/>
              </a:spcAft>
            </a:pPr>
            <a:r>
              <a:rPr sz="2000">
                <a:solidFill>
                  <a:srgbClr val="242B34"/>
                </a:solidFill>
                <a:latin typeface="Aptos"/>
              </a:rPr>
              <a:t/>
            </a:r>
          </a:p>
          <a:p>
            <a:pPr algn="l">
              <a:spcAft>
                <a:spcPts val="800"/>
              </a:spcAft>
            </a:pPr>
            <a:r>
              <a:rPr sz="2000">
                <a:solidFill>
                  <a:srgbClr val="242B34"/>
                </a:solidFill>
                <a:latin typeface="Aptos"/>
              </a:rPr>
              <a:t>THEN → The writer explains how wetlands manage water.</a:t>
            </a:r>
          </a:p>
          <a:p>
            <a:pPr algn="l">
              <a:spcAft>
                <a:spcPts val="800"/>
              </a:spcAft>
            </a:pPr>
            <a:r>
              <a:rPr sz="2000">
                <a:solidFill>
                  <a:srgbClr val="242B34"/>
                </a:solidFill>
                <a:latin typeface="Aptos"/>
              </a:rPr>
              <a:t/>
            </a:r>
          </a:p>
          <a:p>
            <a:pPr algn="l">
              <a:spcAft>
                <a:spcPts val="800"/>
              </a:spcAft>
            </a:pPr>
            <a:r>
              <a:rPr sz="2000">
                <a:solidFill>
                  <a:srgbClr val="242B34"/>
                </a:solidFill>
                <a:latin typeface="Aptos"/>
              </a:rPr>
              <a:t>Why not start with wetlands immediately?</a:t>
            </a:r>
          </a:p>
          <a:p>
            <a:pPr algn="l">
              <a:spcAft>
                <a:spcPts val="800"/>
              </a:spcAft>
            </a:pPr>
            <a:r>
              <a:rPr sz="2000">
                <a:solidFill>
                  <a:srgbClr val="242B34"/>
                </a:solidFill>
                <a:latin typeface="Aptos"/>
              </a:rPr>
              <a:t/>
            </a:r>
          </a:p>
          <a:p>
            <a:pPr algn="l">
              <a:spcAft>
                <a:spcPts val="800"/>
              </a:spcAft>
            </a:pPr>
            <a:r>
              <a:rPr sz="2000">
                <a:solidFill>
                  <a:srgbClr val="242B34"/>
                </a:solidFill>
                <a:latin typeface="Aptos"/>
              </a:rPr>
              <a:t>Because the reader first needs to understand WHY wetlands might be useful.</a:t>
            </a:r>
          </a:p>
          <a:p>
            <a:pPr algn="l">
              <a:spcAft>
                <a:spcPts val="800"/>
              </a:spcAft>
            </a:pPr>
            <a:r>
              <a:rPr sz="2000">
                <a:solidFill>
                  <a:srgbClr val="242B34"/>
                </a:solidFill>
                <a:latin typeface="Aptos"/>
              </a:rPr>
              <a:t/>
            </a:r>
          </a:p>
          <a:p>
            <a:pPr algn="l">
              <a:spcAft>
                <a:spcPts val="800"/>
              </a:spcAft>
            </a:pPr>
            <a:r>
              <a:rPr sz="2000">
                <a:solidFill>
                  <a:srgbClr val="242B34"/>
                </a:solidFill>
                <a:latin typeface="Aptos"/>
              </a:rPr>
              <a:t>STRUCTURE: PROBLEM → POSSIBLE SOLUTION</a:t>
            </a:r>
          </a:p>
        </p:txBody>
      </p:sp>
      <p:sp>
        <p:nvSpPr>
          <p:cNvPr id="8" name="Rectangle 7"/>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TEACHER MODEL — 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MODEL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42</a:t>
            </a:r>
          </a:p>
        </p:txBody>
      </p:sp>
      <p:sp>
        <p:nvSpPr>
          <p:cNvPr id="7" name="Rounded Rectangle 6"/>
          <p:cNvSpPr/>
          <p:nvPr/>
        </p:nvSpPr>
        <p:spPr>
          <a:xfrm>
            <a:off x="914400" y="1645920"/>
            <a:ext cx="10241280" cy="356616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55648"/>
            <a:ext cx="9912096" cy="411480"/>
          </a:xfrm>
          <a:prstGeom prst="rect">
            <a:avLst/>
          </a:prstGeom>
          <a:noFill/>
        </p:spPr>
        <p:txBody>
          <a:bodyPr wrap="none">
            <a:spAutoFit/>
          </a:bodyPr>
          <a:lstStyle/>
          <a:p>
            <a:r>
              <a:rPr sz="1800" b="1">
                <a:solidFill>
                  <a:srgbClr val="46875C"/>
                </a:solidFill>
                <a:latin typeface="Aptos Display"/>
              </a:rPr>
              <a:t>PROBLEM → POSSIBLE SOLUTION</a:t>
            </a:r>
          </a:p>
        </p:txBody>
      </p:sp>
      <p:sp>
        <p:nvSpPr>
          <p:cNvPr id="9" name="TextBox 8"/>
          <p:cNvSpPr txBox="1"/>
          <p:nvPr/>
        </p:nvSpPr>
        <p:spPr>
          <a:xfrm>
            <a:off x="1078992" y="2212848"/>
            <a:ext cx="9912096" cy="2852928"/>
          </a:xfrm>
          <a:prstGeom prst="rect">
            <a:avLst/>
          </a:prstGeom>
          <a:noFill/>
        </p:spPr>
        <p:txBody>
          <a:bodyPr wrap="square">
            <a:spAutoFit/>
          </a:bodyPr>
          <a:lstStyle/>
          <a:p>
            <a:r>
              <a:rPr sz="2000">
                <a:solidFill>
                  <a:srgbClr val="242B34"/>
                </a:solidFill>
                <a:latin typeface="Aptos"/>
              </a:rPr>
              <a:t>The writer explains the problem of urban rainwater before introducing wetlands. This is effective because the reader understands the problem first and then understands why wetlands could help.
⭐ The structure gives the solution a clear purpose.</a:t>
            </a:r>
          </a:p>
        </p:txBody>
      </p:sp>
      <p:sp>
        <p:nvSpPr>
          <p:cNvPr id="10" name="Rectangle 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WE DO — TRY IT TOGETHER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WE DO — TRY IT TOGETHER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43</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Look at Parts 2 and 3. Why does the writer add extra benefits after explaining water management?</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To show that wetlands have several useful functions.</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To suggest water management is unimportant.</a:t>
            </a:r>
          </a:p>
        </p:txBody>
      </p:sp>
      <p:sp>
        <p:nvSpPr>
          <p:cNvPr id="14" name="Rounded Rectangle 13"/>
          <p:cNvSpPr/>
          <p:nvPr/>
        </p:nvSpPr>
        <p:spPr>
          <a:xfrm>
            <a:off x="86868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041648"/>
            <a:ext cx="4745736" cy="411480"/>
          </a:xfrm>
          <a:prstGeom prst="rect">
            <a:avLst/>
          </a:prstGeom>
          <a:noFill/>
        </p:spPr>
        <p:txBody>
          <a:bodyPr wrap="none">
            <a:spAutoFit/>
          </a:bodyPr>
          <a:lstStyle/>
          <a:p>
            <a:r>
              <a:rPr sz="1800" b="1">
                <a:solidFill>
                  <a:srgbClr val="3F69AA"/>
                </a:solidFill>
                <a:latin typeface="Aptos Display"/>
              </a:rPr>
              <a:t>C</a:t>
            </a:r>
          </a:p>
        </p:txBody>
      </p:sp>
      <p:sp>
        <p:nvSpPr>
          <p:cNvPr id="16" name="TextBox 15"/>
          <p:cNvSpPr txBox="1"/>
          <p:nvPr/>
        </p:nvSpPr>
        <p:spPr>
          <a:xfrm>
            <a:off x="1033271" y="4498848"/>
            <a:ext cx="4745736" cy="109728"/>
          </a:xfrm>
          <a:prstGeom prst="rect">
            <a:avLst/>
          </a:prstGeom>
          <a:noFill/>
        </p:spPr>
        <p:txBody>
          <a:bodyPr wrap="square">
            <a:spAutoFit/>
          </a:bodyPr>
          <a:lstStyle/>
          <a:p>
            <a:r>
              <a:rPr sz="1600">
                <a:solidFill>
                  <a:srgbClr val="242B34"/>
                </a:solidFill>
                <a:latin typeface="Aptos"/>
              </a:rPr>
              <a:t>To change the topic completely.</a:t>
            </a:r>
          </a:p>
        </p:txBody>
      </p:sp>
      <p:sp>
        <p:nvSpPr>
          <p:cNvPr id="17" name="Rounded Rectangle 16"/>
          <p:cNvSpPr/>
          <p:nvPr/>
        </p:nvSpPr>
        <p:spPr>
          <a:xfrm>
            <a:off x="630936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41648"/>
            <a:ext cx="4745736" cy="411480"/>
          </a:xfrm>
          <a:prstGeom prst="rect">
            <a:avLst/>
          </a:prstGeom>
          <a:noFill/>
        </p:spPr>
        <p:txBody>
          <a:bodyPr wrap="none">
            <a:spAutoFit/>
          </a:bodyPr>
          <a:lstStyle/>
          <a:p>
            <a:r>
              <a:rPr sz="1800" b="1">
                <a:solidFill>
                  <a:srgbClr val="3F69AA"/>
                </a:solidFill>
                <a:latin typeface="Aptos Display"/>
              </a:rPr>
              <a:t>D</a:t>
            </a:r>
          </a:p>
        </p:txBody>
      </p:sp>
      <p:sp>
        <p:nvSpPr>
          <p:cNvPr id="19" name="TextBox 18"/>
          <p:cNvSpPr txBox="1"/>
          <p:nvPr/>
        </p:nvSpPr>
        <p:spPr>
          <a:xfrm>
            <a:off x="6473952" y="4498848"/>
            <a:ext cx="4745736" cy="109728"/>
          </a:xfrm>
          <a:prstGeom prst="rect">
            <a:avLst/>
          </a:prstGeom>
          <a:noFill/>
        </p:spPr>
        <p:txBody>
          <a:bodyPr wrap="square">
            <a:spAutoFit/>
          </a:bodyPr>
          <a:lstStyle/>
          <a:p>
            <a:r>
              <a:rPr sz="1600">
                <a:solidFill>
                  <a:srgbClr val="242B34"/>
                </a:solidFill>
                <a:latin typeface="Aptos"/>
              </a:rPr>
              <a:t>To repeat the same idea.</a:t>
            </a:r>
          </a:p>
        </p:txBody>
      </p:sp>
      <p:sp>
        <p:nvSpPr>
          <p:cNvPr id="20" name="Rectangle 1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WE DO — 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44</a:t>
            </a:r>
          </a:p>
        </p:txBody>
      </p:sp>
      <p:sp>
        <p:nvSpPr>
          <p:cNvPr id="7" name="Rounded Rectangle 6"/>
          <p:cNvSpPr/>
          <p:nvPr/>
        </p:nvSpPr>
        <p:spPr>
          <a:xfrm>
            <a:off x="914400" y="1828800"/>
            <a:ext cx="10241280" cy="329184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938528"/>
            <a:ext cx="9912096" cy="411480"/>
          </a:xfrm>
          <a:prstGeom prst="rect">
            <a:avLst/>
          </a:prstGeom>
          <a:noFill/>
        </p:spPr>
        <p:txBody>
          <a:bodyPr wrap="none">
            <a:spAutoFit/>
          </a:bodyPr>
          <a:lstStyle/>
          <a:p>
            <a:r>
              <a:rPr sz="1800" b="1">
                <a:solidFill>
                  <a:srgbClr val="46875C"/>
                </a:solidFill>
                <a:latin typeface="Aptos Display"/>
              </a:rPr>
              <a:t>A — CORRECT</a:t>
            </a:r>
          </a:p>
        </p:txBody>
      </p:sp>
      <p:sp>
        <p:nvSpPr>
          <p:cNvPr id="9" name="TextBox 8"/>
          <p:cNvSpPr txBox="1"/>
          <p:nvPr/>
        </p:nvSpPr>
        <p:spPr>
          <a:xfrm>
            <a:off x="1078992" y="2395728"/>
            <a:ext cx="9912096" cy="2578608"/>
          </a:xfrm>
          <a:prstGeom prst="rect">
            <a:avLst/>
          </a:prstGeom>
          <a:noFill/>
        </p:spPr>
        <p:txBody>
          <a:bodyPr wrap="square">
            <a:spAutoFit/>
          </a:bodyPr>
          <a:lstStyle/>
          <a:p>
            <a:r>
              <a:rPr sz="2100">
                <a:solidFill>
                  <a:srgbClr val="242B34"/>
                </a:solidFill>
                <a:latin typeface="Aptos"/>
              </a:rPr>
              <a:t>The structure develops the reader's understanding.
FIRST → Wetlands help manage water.
THEN → They have other benefits too.
This shows that wetlands are more valuable than one single function suggests.</a:t>
            </a:r>
          </a:p>
        </p:txBody>
      </p:sp>
      <p:sp>
        <p:nvSpPr>
          <p:cNvPr id="10" name="Rectangle 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YOU DO — QUICK PRACTICE</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YOU DO — QUICK PRACTICE</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45</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Why does the writer explain the difficulties of restoring wetlands in Part 4 before discussing the need for several solutions in Part 5?</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To make the article confusing.</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To show wetlands are useless.</a:t>
            </a:r>
          </a:p>
        </p:txBody>
      </p:sp>
      <p:sp>
        <p:nvSpPr>
          <p:cNvPr id="14" name="Rounded Rectangle 13"/>
          <p:cNvSpPr/>
          <p:nvPr/>
        </p:nvSpPr>
        <p:spPr>
          <a:xfrm>
            <a:off x="86868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041648"/>
            <a:ext cx="4745736" cy="411480"/>
          </a:xfrm>
          <a:prstGeom prst="rect">
            <a:avLst/>
          </a:prstGeom>
          <a:noFill/>
        </p:spPr>
        <p:txBody>
          <a:bodyPr wrap="none">
            <a:spAutoFit/>
          </a:bodyPr>
          <a:lstStyle/>
          <a:p>
            <a:r>
              <a:rPr sz="1800" b="1">
                <a:solidFill>
                  <a:srgbClr val="3F69AA"/>
                </a:solidFill>
                <a:latin typeface="Aptos Display"/>
              </a:rPr>
              <a:t>C</a:t>
            </a:r>
          </a:p>
        </p:txBody>
      </p:sp>
      <p:sp>
        <p:nvSpPr>
          <p:cNvPr id="16" name="TextBox 15"/>
          <p:cNvSpPr txBox="1"/>
          <p:nvPr/>
        </p:nvSpPr>
        <p:spPr>
          <a:xfrm>
            <a:off x="1033271" y="4498848"/>
            <a:ext cx="4745736" cy="109728"/>
          </a:xfrm>
          <a:prstGeom prst="rect">
            <a:avLst/>
          </a:prstGeom>
          <a:noFill/>
        </p:spPr>
        <p:txBody>
          <a:bodyPr wrap="square">
            <a:spAutoFit/>
          </a:bodyPr>
          <a:lstStyle/>
          <a:p>
            <a:r>
              <a:rPr sz="1600">
                <a:solidFill>
                  <a:srgbClr val="242B34"/>
                </a:solidFill>
                <a:latin typeface="Aptos"/>
              </a:rPr>
              <a:t>To introduce a challenge before explaining why several approaches are needed.</a:t>
            </a:r>
          </a:p>
        </p:txBody>
      </p:sp>
      <p:sp>
        <p:nvSpPr>
          <p:cNvPr id="17" name="Rounded Rectangle 16"/>
          <p:cNvSpPr/>
          <p:nvPr/>
        </p:nvSpPr>
        <p:spPr>
          <a:xfrm>
            <a:off x="630936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41648"/>
            <a:ext cx="4745736" cy="411480"/>
          </a:xfrm>
          <a:prstGeom prst="rect">
            <a:avLst/>
          </a:prstGeom>
          <a:noFill/>
        </p:spPr>
        <p:txBody>
          <a:bodyPr wrap="none">
            <a:spAutoFit/>
          </a:bodyPr>
          <a:lstStyle/>
          <a:p>
            <a:r>
              <a:rPr sz="1800" b="1">
                <a:solidFill>
                  <a:srgbClr val="3F69AA"/>
                </a:solidFill>
                <a:latin typeface="Aptos Display"/>
              </a:rPr>
              <a:t>D</a:t>
            </a:r>
          </a:p>
        </p:txBody>
      </p:sp>
      <p:sp>
        <p:nvSpPr>
          <p:cNvPr id="19" name="TextBox 18"/>
          <p:cNvSpPr txBox="1"/>
          <p:nvPr/>
        </p:nvSpPr>
        <p:spPr>
          <a:xfrm>
            <a:off x="6473952" y="4498848"/>
            <a:ext cx="4745736" cy="109728"/>
          </a:xfrm>
          <a:prstGeom prst="rect">
            <a:avLst/>
          </a:prstGeom>
          <a:noFill/>
        </p:spPr>
        <p:txBody>
          <a:bodyPr wrap="square">
            <a:spAutoFit/>
          </a:bodyPr>
          <a:lstStyle/>
          <a:p>
            <a:r>
              <a:rPr sz="1600">
                <a:solidFill>
                  <a:srgbClr val="242B34"/>
                </a:solidFill>
                <a:latin typeface="Aptos"/>
              </a:rPr>
              <a:t>To change the article into a fictional story.</a:t>
            </a:r>
          </a:p>
        </p:txBody>
      </p:sp>
      <p:sp>
        <p:nvSpPr>
          <p:cNvPr id="20" name="Rectangle 1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YOU DO — 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46</a:t>
            </a:r>
          </a:p>
        </p:txBody>
      </p:sp>
      <p:sp>
        <p:nvSpPr>
          <p:cNvPr id="7" name="Rounded Rectangle 6"/>
          <p:cNvSpPr/>
          <p:nvPr/>
        </p:nvSpPr>
        <p:spPr>
          <a:xfrm>
            <a:off x="914400" y="1828800"/>
            <a:ext cx="10241280" cy="329184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938528"/>
            <a:ext cx="9912096" cy="411480"/>
          </a:xfrm>
          <a:prstGeom prst="rect">
            <a:avLst/>
          </a:prstGeom>
          <a:noFill/>
        </p:spPr>
        <p:txBody>
          <a:bodyPr wrap="none">
            <a:spAutoFit/>
          </a:bodyPr>
          <a:lstStyle/>
          <a:p>
            <a:r>
              <a:rPr sz="1800" b="1">
                <a:solidFill>
                  <a:srgbClr val="46875C"/>
                </a:solidFill>
                <a:latin typeface="Aptos Display"/>
              </a:rPr>
              <a:t>C — CORRECT</a:t>
            </a:r>
          </a:p>
        </p:txBody>
      </p:sp>
      <p:sp>
        <p:nvSpPr>
          <p:cNvPr id="9" name="TextBox 8"/>
          <p:cNvSpPr txBox="1"/>
          <p:nvPr/>
        </p:nvSpPr>
        <p:spPr>
          <a:xfrm>
            <a:off x="1078992" y="2395728"/>
            <a:ext cx="9912096" cy="2578608"/>
          </a:xfrm>
          <a:prstGeom prst="rect">
            <a:avLst/>
          </a:prstGeom>
          <a:noFill/>
        </p:spPr>
        <p:txBody>
          <a:bodyPr wrap="square">
            <a:spAutoFit/>
          </a:bodyPr>
          <a:lstStyle/>
          <a:p>
            <a:r>
              <a:rPr sz="2100">
                <a:solidFill>
                  <a:srgbClr val="242B34"/>
                </a:solidFill>
                <a:latin typeface="Aptos"/>
              </a:rPr>
              <a:t>The structure moves:
RESTORATION → DIFFICULTIES → LIMITATIONS → NEED FOR SEVERAL APPROACHES
This helps the reader understand why one solution cannot do everything.</a:t>
            </a:r>
          </a:p>
        </p:txBody>
      </p:sp>
      <p:sp>
        <p:nvSpPr>
          <p:cNvPr id="10" name="Rectangle 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STRUCTURE — ARTICLE QUESTION</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ARTICLE QUESTION</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47</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Why does the writer begin by describing the problem of rainwater in cities?</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To introduce an unrelated topic.</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To create a fictional story.</a:t>
            </a:r>
          </a:p>
        </p:txBody>
      </p:sp>
      <p:sp>
        <p:nvSpPr>
          <p:cNvPr id="14" name="Rounded Rectangle 13"/>
          <p:cNvSpPr/>
          <p:nvPr/>
        </p:nvSpPr>
        <p:spPr>
          <a:xfrm>
            <a:off x="86868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041648"/>
            <a:ext cx="4745736" cy="411480"/>
          </a:xfrm>
          <a:prstGeom prst="rect">
            <a:avLst/>
          </a:prstGeom>
          <a:noFill/>
        </p:spPr>
        <p:txBody>
          <a:bodyPr wrap="none">
            <a:spAutoFit/>
          </a:bodyPr>
          <a:lstStyle/>
          <a:p>
            <a:r>
              <a:rPr sz="1800" b="1">
                <a:solidFill>
                  <a:srgbClr val="3F69AA"/>
                </a:solidFill>
                <a:latin typeface="Aptos Display"/>
              </a:rPr>
              <a:t>C</a:t>
            </a:r>
          </a:p>
        </p:txBody>
      </p:sp>
      <p:sp>
        <p:nvSpPr>
          <p:cNvPr id="16" name="TextBox 15"/>
          <p:cNvSpPr txBox="1"/>
          <p:nvPr/>
        </p:nvSpPr>
        <p:spPr>
          <a:xfrm>
            <a:off x="1033271" y="4498848"/>
            <a:ext cx="4745736" cy="109728"/>
          </a:xfrm>
          <a:prstGeom prst="rect">
            <a:avLst/>
          </a:prstGeom>
          <a:noFill/>
        </p:spPr>
        <p:txBody>
          <a:bodyPr wrap="square">
            <a:spAutoFit/>
          </a:bodyPr>
          <a:lstStyle/>
          <a:p>
            <a:r>
              <a:rPr sz="1600">
                <a:solidFill>
                  <a:srgbClr val="242B34"/>
                </a:solidFill>
                <a:latin typeface="Aptos"/>
              </a:rPr>
              <a:t>To explain why cities need to think about how they manage water.</a:t>
            </a:r>
          </a:p>
        </p:txBody>
      </p:sp>
      <p:sp>
        <p:nvSpPr>
          <p:cNvPr id="17" name="Rounded Rectangle 16"/>
          <p:cNvSpPr/>
          <p:nvPr/>
        </p:nvSpPr>
        <p:spPr>
          <a:xfrm>
            <a:off x="630936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41648"/>
            <a:ext cx="4745736" cy="411480"/>
          </a:xfrm>
          <a:prstGeom prst="rect">
            <a:avLst/>
          </a:prstGeom>
          <a:noFill/>
        </p:spPr>
        <p:txBody>
          <a:bodyPr wrap="none">
            <a:spAutoFit/>
          </a:bodyPr>
          <a:lstStyle/>
          <a:p>
            <a:r>
              <a:rPr sz="1800" b="1">
                <a:solidFill>
                  <a:srgbClr val="3F69AA"/>
                </a:solidFill>
                <a:latin typeface="Aptos Display"/>
              </a:rPr>
              <a:t>D</a:t>
            </a:r>
          </a:p>
        </p:txBody>
      </p:sp>
      <p:sp>
        <p:nvSpPr>
          <p:cNvPr id="19" name="TextBox 18"/>
          <p:cNvSpPr txBox="1"/>
          <p:nvPr/>
        </p:nvSpPr>
        <p:spPr>
          <a:xfrm>
            <a:off x="6473952" y="4498848"/>
            <a:ext cx="4745736" cy="109728"/>
          </a:xfrm>
          <a:prstGeom prst="rect">
            <a:avLst/>
          </a:prstGeom>
          <a:noFill/>
        </p:spPr>
        <p:txBody>
          <a:bodyPr wrap="square">
            <a:spAutoFit/>
          </a:bodyPr>
          <a:lstStyle/>
          <a:p>
            <a:r>
              <a:rPr sz="1600">
                <a:solidFill>
                  <a:srgbClr val="242B34"/>
                </a:solidFill>
                <a:latin typeface="Aptos"/>
              </a:rPr>
              <a:t>To prove cities should remove all roads.</a:t>
            </a:r>
          </a:p>
        </p:txBody>
      </p:sp>
      <p:sp>
        <p:nvSpPr>
          <p:cNvPr id="20" name="Rectangle 1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48</a:t>
            </a:r>
          </a:p>
        </p:txBody>
      </p:sp>
      <p:sp>
        <p:nvSpPr>
          <p:cNvPr id="7" name="Rounded Rectangle 6"/>
          <p:cNvSpPr/>
          <p:nvPr/>
        </p:nvSpPr>
        <p:spPr>
          <a:xfrm>
            <a:off x="914400" y="1645920"/>
            <a:ext cx="10241280" cy="347472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55648"/>
            <a:ext cx="9912096" cy="411480"/>
          </a:xfrm>
          <a:prstGeom prst="rect">
            <a:avLst/>
          </a:prstGeom>
          <a:noFill/>
        </p:spPr>
        <p:txBody>
          <a:bodyPr wrap="none">
            <a:spAutoFit/>
          </a:bodyPr>
          <a:lstStyle/>
          <a:p>
            <a:r>
              <a:rPr sz="1800" b="1">
                <a:solidFill>
                  <a:srgbClr val="46875C"/>
                </a:solidFill>
                <a:latin typeface="Aptos Display"/>
              </a:rPr>
              <a:t>C — CORRECT</a:t>
            </a:r>
          </a:p>
        </p:txBody>
      </p:sp>
      <p:sp>
        <p:nvSpPr>
          <p:cNvPr id="9" name="TextBox 8"/>
          <p:cNvSpPr txBox="1"/>
          <p:nvPr/>
        </p:nvSpPr>
        <p:spPr>
          <a:xfrm>
            <a:off x="1078992" y="2212848"/>
            <a:ext cx="9912096" cy="2761487"/>
          </a:xfrm>
          <a:prstGeom prst="rect">
            <a:avLst/>
          </a:prstGeom>
          <a:noFill/>
        </p:spPr>
        <p:txBody>
          <a:bodyPr wrap="square">
            <a:spAutoFit/>
          </a:bodyPr>
          <a:lstStyle/>
          <a:p>
            <a:r>
              <a:rPr sz="2000">
                <a:solidFill>
                  <a:srgbClr val="242B34"/>
                </a:solidFill>
                <a:latin typeface="Aptos"/>
              </a:rPr>
              <a:t>The introduction establishes the problem and prepares the reader to understand why wetlands might provide a useful response.</a:t>
            </a:r>
          </a:p>
        </p:txBody>
      </p:sp>
      <p:sp>
        <p:nvSpPr>
          <p:cNvPr id="10" name="Rectangle 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STRUCTURE — ARTICLE QUESTION</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ARTICLE QUESTION</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49</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Why does Part 3 come after the writer explains how wetlands manage water?</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To show that wetlands have several benefits beyond flood management.</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To repeat the introduction.</a:t>
            </a:r>
          </a:p>
        </p:txBody>
      </p:sp>
      <p:sp>
        <p:nvSpPr>
          <p:cNvPr id="14" name="Rounded Rectangle 13"/>
          <p:cNvSpPr/>
          <p:nvPr/>
        </p:nvSpPr>
        <p:spPr>
          <a:xfrm>
            <a:off x="86868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041648"/>
            <a:ext cx="4745736" cy="411480"/>
          </a:xfrm>
          <a:prstGeom prst="rect">
            <a:avLst/>
          </a:prstGeom>
          <a:noFill/>
        </p:spPr>
        <p:txBody>
          <a:bodyPr wrap="none">
            <a:spAutoFit/>
          </a:bodyPr>
          <a:lstStyle/>
          <a:p>
            <a:r>
              <a:rPr sz="1800" b="1">
                <a:solidFill>
                  <a:srgbClr val="3F69AA"/>
                </a:solidFill>
                <a:latin typeface="Aptos Display"/>
              </a:rPr>
              <a:t>C</a:t>
            </a:r>
          </a:p>
        </p:txBody>
      </p:sp>
      <p:sp>
        <p:nvSpPr>
          <p:cNvPr id="16" name="TextBox 15"/>
          <p:cNvSpPr txBox="1"/>
          <p:nvPr/>
        </p:nvSpPr>
        <p:spPr>
          <a:xfrm>
            <a:off x="1033271" y="4498848"/>
            <a:ext cx="4745736" cy="109728"/>
          </a:xfrm>
          <a:prstGeom prst="rect">
            <a:avLst/>
          </a:prstGeom>
          <a:noFill/>
        </p:spPr>
        <p:txBody>
          <a:bodyPr wrap="square">
            <a:spAutoFit/>
          </a:bodyPr>
          <a:lstStyle/>
          <a:p>
            <a:r>
              <a:rPr sz="1600">
                <a:solidFill>
                  <a:srgbClr val="242B34"/>
                </a:solidFill>
                <a:latin typeface="Aptos"/>
              </a:rPr>
              <a:t>To prove wildlife is the only purpose of wetlands.</a:t>
            </a:r>
          </a:p>
        </p:txBody>
      </p:sp>
      <p:sp>
        <p:nvSpPr>
          <p:cNvPr id="17" name="Rounded Rectangle 16"/>
          <p:cNvSpPr/>
          <p:nvPr/>
        </p:nvSpPr>
        <p:spPr>
          <a:xfrm>
            <a:off x="630936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41648"/>
            <a:ext cx="4745736" cy="411480"/>
          </a:xfrm>
          <a:prstGeom prst="rect">
            <a:avLst/>
          </a:prstGeom>
          <a:noFill/>
        </p:spPr>
        <p:txBody>
          <a:bodyPr wrap="none">
            <a:spAutoFit/>
          </a:bodyPr>
          <a:lstStyle/>
          <a:p>
            <a:r>
              <a:rPr sz="1800" b="1">
                <a:solidFill>
                  <a:srgbClr val="3F69AA"/>
                </a:solidFill>
                <a:latin typeface="Aptos Display"/>
              </a:rPr>
              <a:t>D</a:t>
            </a:r>
          </a:p>
        </p:txBody>
      </p:sp>
      <p:sp>
        <p:nvSpPr>
          <p:cNvPr id="19" name="TextBox 18"/>
          <p:cNvSpPr txBox="1"/>
          <p:nvPr/>
        </p:nvSpPr>
        <p:spPr>
          <a:xfrm>
            <a:off x="6473952" y="4498848"/>
            <a:ext cx="4745736" cy="109728"/>
          </a:xfrm>
          <a:prstGeom prst="rect">
            <a:avLst/>
          </a:prstGeom>
          <a:noFill/>
        </p:spPr>
        <p:txBody>
          <a:bodyPr wrap="square">
            <a:spAutoFit/>
          </a:bodyPr>
          <a:lstStyle/>
          <a:p>
            <a:r>
              <a:rPr sz="1600">
                <a:solidFill>
                  <a:srgbClr val="242B34"/>
                </a:solidFill>
                <a:latin typeface="Aptos"/>
              </a:rPr>
              <a:t>To introduce the final conclusion immediately.</a:t>
            </a:r>
          </a:p>
        </p:txBody>
      </p:sp>
      <p:sp>
        <p:nvSpPr>
          <p:cNvPr id="20" name="Rectangle 1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50</a:t>
            </a:r>
          </a:p>
        </p:txBody>
      </p:sp>
      <p:sp>
        <p:nvSpPr>
          <p:cNvPr id="7" name="Rounded Rectangle 6"/>
          <p:cNvSpPr/>
          <p:nvPr/>
        </p:nvSpPr>
        <p:spPr>
          <a:xfrm>
            <a:off x="914400" y="1645920"/>
            <a:ext cx="10241280" cy="347472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55648"/>
            <a:ext cx="9912096" cy="411480"/>
          </a:xfrm>
          <a:prstGeom prst="rect">
            <a:avLst/>
          </a:prstGeom>
          <a:noFill/>
        </p:spPr>
        <p:txBody>
          <a:bodyPr wrap="none">
            <a:spAutoFit/>
          </a:bodyPr>
          <a:lstStyle/>
          <a:p>
            <a:r>
              <a:rPr sz="1800" b="1">
                <a:solidFill>
                  <a:srgbClr val="46875C"/>
                </a:solidFill>
                <a:latin typeface="Aptos Display"/>
              </a:rPr>
              <a:t>A — CORRECT</a:t>
            </a:r>
          </a:p>
        </p:txBody>
      </p:sp>
      <p:sp>
        <p:nvSpPr>
          <p:cNvPr id="9" name="TextBox 8"/>
          <p:cNvSpPr txBox="1"/>
          <p:nvPr/>
        </p:nvSpPr>
        <p:spPr>
          <a:xfrm>
            <a:off x="1078992" y="2212848"/>
            <a:ext cx="9912096" cy="2761487"/>
          </a:xfrm>
          <a:prstGeom prst="rect">
            <a:avLst/>
          </a:prstGeom>
          <a:noFill/>
        </p:spPr>
        <p:txBody>
          <a:bodyPr wrap="square">
            <a:spAutoFit/>
          </a:bodyPr>
          <a:lstStyle/>
          <a:p>
            <a:r>
              <a:rPr sz="2000">
                <a:solidFill>
                  <a:srgbClr val="242B34"/>
                </a:solidFill>
                <a:latin typeface="Aptos"/>
              </a:rPr>
              <a:t>The writer develops the idea: first water management, then habitats and water quality. This broadens the reader's understanding.</a:t>
            </a:r>
          </a:p>
        </p:txBody>
      </p:sp>
      <p:sp>
        <p:nvSpPr>
          <p:cNvPr id="10" name="Rectangle 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STRUCTURE — ARTICLE QUESTION</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ARTICLE QUESTION</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51</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Why does the writer include Part 5, “Not a Magic Switch”?</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To say wetlands are useless.</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To acknowledge their limitations and show why several solutions may be needed.</a:t>
            </a:r>
          </a:p>
        </p:txBody>
      </p:sp>
      <p:sp>
        <p:nvSpPr>
          <p:cNvPr id="14" name="Rounded Rectangle 13"/>
          <p:cNvSpPr/>
          <p:nvPr/>
        </p:nvSpPr>
        <p:spPr>
          <a:xfrm>
            <a:off x="86868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041648"/>
            <a:ext cx="4745736" cy="411480"/>
          </a:xfrm>
          <a:prstGeom prst="rect">
            <a:avLst/>
          </a:prstGeom>
          <a:noFill/>
        </p:spPr>
        <p:txBody>
          <a:bodyPr wrap="none">
            <a:spAutoFit/>
          </a:bodyPr>
          <a:lstStyle/>
          <a:p>
            <a:r>
              <a:rPr sz="1800" b="1">
                <a:solidFill>
                  <a:srgbClr val="3F69AA"/>
                </a:solidFill>
                <a:latin typeface="Aptos Display"/>
              </a:rPr>
              <a:t>C</a:t>
            </a:r>
          </a:p>
        </p:txBody>
      </p:sp>
      <p:sp>
        <p:nvSpPr>
          <p:cNvPr id="16" name="TextBox 15"/>
          <p:cNvSpPr txBox="1"/>
          <p:nvPr/>
        </p:nvSpPr>
        <p:spPr>
          <a:xfrm>
            <a:off x="1033271" y="4498848"/>
            <a:ext cx="4745736" cy="109728"/>
          </a:xfrm>
          <a:prstGeom prst="rect">
            <a:avLst/>
          </a:prstGeom>
          <a:noFill/>
        </p:spPr>
        <p:txBody>
          <a:bodyPr wrap="square">
            <a:spAutoFit/>
          </a:bodyPr>
          <a:lstStyle/>
          <a:p>
            <a:r>
              <a:rPr sz="1600">
                <a:solidFill>
                  <a:srgbClr val="242B34"/>
                </a:solidFill>
                <a:latin typeface="Aptos"/>
              </a:rPr>
              <a:t>To repeat the definition of a wetland.</a:t>
            </a:r>
          </a:p>
        </p:txBody>
      </p:sp>
      <p:sp>
        <p:nvSpPr>
          <p:cNvPr id="17" name="Rounded Rectangle 16"/>
          <p:cNvSpPr/>
          <p:nvPr/>
        </p:nvSpPr>
        <p:spPr>
          <a:xfrm>
            <a:off x="630936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41648"/>
            <a:ext cx="4745736" cy="411480"/>
          </a:xfrm>
          <a:prstGeom prst="rect">
            <a:avLst/>
          </a:prstGeom>
          <a:noFill/>
        </p:spPr>
        <p:txBody>
          <a:bodyPr wrap="none">
            <a:spAutoFit/>
          </a:bodyPr>
          <a:lstStyle/>
          <a:p>
            <a:r>
              <a:rPr sz="1800" b="1">
                <a:solidFill>
                  <a:srgbClr val="3F69AA"/>
                </a:solidFill>
                <a:latin typeface="Aptos Display"/>
              </a:rPr>
              <a:t>D</a:t>
            </a:r>
          </a:p>
        </p:txBody>
      </p:sp>
      <p:sp>
        <p:nvSpPr>
          <p:cNvPr id="19" name="TextBox 18"/>
          <p:cNvSpPr txBox="1"/>
          <p:nvPr/>
        </p:nvSpPr>
        <p:spPr>
          <a:xfrm>
            <a:off x="6473952" y="4498848"/>
            <a:ext cx="4745736" cy="109728"/>
          </a:xfrm>
          <a:prstGeom prst="rect">
            <a:avLst/>
          </a:prstGeom>
          <a:noFill/>
        </p:spPr>
        <p:txBody>
          <a:bodyPr wrap="square">
            <a:spAutoFit/>
          </a:bodyPr>
          <a:lstStyle/>
          <a:p>
            <a:r>
              <a:rPr sz="1600">
                <a:solidFill>
                  <a:srgbClr val="242B34"/>
                </a:solidFill>
                <a:latin typeface="Aptos"/>
              </a:rPr>
              <a:t>To introduce a completely different topic.</a:t>
            </a:r>
          </a:p>
        </p:txBody>
      </p:sp>
      <p:sp>
        <p:nvSpPr>
          <p:cNvPr id="20" name="Rectangle 1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52</a:t>
            </a:r>
          </a:p>
        </p:txBody>
      </p:sp>
      <p:sp>
        <p:nvSpPr>
          <p:cNvPr id="7" name="Rounded Rectangle 6"/>
          <p:cNvSpPr/>
          <p:nvPr/>
        </p:nvSpPr>
        <p:spPr>
          <a:xfrm>
            <a:off x="914400" y="1645920"/>
            <a:ext cx="10241280" cy="347472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55648"/>
            <a:ext cx="9912096" cy="411480"/>
          </a:xfrm>
          <a:prstGeom prst="rect">
            <a:avLst/>
          </a:prstGeom>
          <a:noFill/>
        </p:spPr>
        <p:txBody>
          <a:bodyPr wrap="none">
            <a:spAutoFit/>
          </a:bodyPr>
          <a:lstStyle/>
          <a:p>
            <a:r>
              <a:rPr sz="1800" b="1">
                <a:solidFill>
                  <a:srgbClr val="46875C"/>
                </a:solidFill>
                <a:latin typeface="Aptos Display"/>
              </a:rPr>
              <a:t>B — CORRECT</a:t>
            </a:r>
          </a:p>
        </p:txBody>
      </p:sp>
      <p:sp>
        <p:nvSpPr>
          <p:cNvPr id="9" name="TextBox 8"/>
          <p:cNvSpPr txBox="1"/>
          <p:nvPr/>
        </p:nvSpPr>
        <p:spPr>
          <a:xfrm>
            <a:off x="1078992" y="2212848"/>
            <a:ext cx="9912096" cy="2761487"/>
          </a:xfrm>
          <a:prstGeom prst="rect">
            <a:avLst/>
          </a:prstGeom>
          <a:noFill/>
        </p:spPr>
        <p:txBody>
          <a:bodyPr wrap="square">
            <a:spAutoFit/>
          </a:bodyPr>
          <a:lstStyle/>
          <a:p>
            <a:r>
              <a:rPr sz="2000">
                <a:solidFill>
                  <a:srgbClr val="242B34"/>
                </a:solidFill>
                <a:latin typeface="Aptos"/>
              </a:rPr>
              <a:t>The writer includes a limitation after the benefits to create a balanced explanation and show why several solutions are needed.</a:t>
            </a:r>
          </a:p>
        </p:txBody>
      </p:sp>
      <p:sp>
        <p:nvSpPr>
          <p:cNvPr id="10" name="Rectangle 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STRUCTURE — ARTICLE QUESTION</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ARTICLE QUESTION</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53</a:t>
            </a:r>
          </a:p>
        </p:txBody>
      </p:sp>
      <p:sp>
        <p:nvSpPr>
          <p:cNvPr id="7" name="TextBox 6"/>
          <p:cNvSpPr txBox="1"/>
          <p:nvPr/>
        </p:nvSpPr>
        <p:spPr>
          <a:xfrm>
            <a:off x="822960" y="1600200"/>
            <a:ext cx="10515600" cy="1417320"/>
          </a:xfrm>
          <a:prstGeom prst="rect">
            <a:avLst/>
          </a:prstGeom>
          <a:noFill/>
        </p:spPr>
        <p:txBody>
          <a:bodyPr wrap="square" lIns="45720" rIns="45720" anchor="t">
            <a:spAutoFit/>
          </a:bodyPr>
          <a:lstStyle/>
          <a:p>
            <a:pPr algn="l">
              <a:spcAft>
                <a:spcPts val="800"/>
              </a:spcAft>
            </a:pPr>
            <a:r>
              <a:rPr sz="2300">
                <a:solidFill>
                  <a:srgbClr val="242B34"/>
                </a:solidFill>
                <a:latin typeface="Aptos"/>
              </a:rPr>
              <a:t>Why is the final section an effective ending?</a:t>
            </a:r>
          </a:p>
        </p:txBody>
      </p:sp>
      <p:sp>
        <p:nvSpPr>
          <p:cNvPr id="8" name="Rounded Rectangle 7"/>
          <p:cNvSpPr/>
          <p:nvPr/>
        </p:nvSpPr>
        <p:spPr>
          <a:xfrm>
            <a:off x="86868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990088"/>
            <a:ext cx="4745736" cy="411480"/>
          </a:xfrm>
          <a:prstGeom prst="rect">
            <a:avLst/>
          </a:prstGeom>
          <a:noFill/>
        </p:spPr>
        <p:txBody>
          <a:bodyPr wrap="none">
            <a:spAutoFit/>
          </a:bodyPr>
          <a:lstStyle/>
          <a:p>
            <a:r>
              <a:rPr sz="1800" b="1">
                <a:solidFill>
                  <a:srgbClr val="3F69AA"/>
                </a:solidFill>
                <a:latin typeface="Aptos Display"/>
              </a:rPr>
              <a:t>A</a:t>
            </a:r>
          </a:p>
        </p:txBody>
      </p:sp>
      <p:sp>
        <p:nvSpPr>
          <p:cNvPr id="10" name="TextBox 9"/>
          <p:cNvSpPr txBox="1"/>
          <p:nvPr/>
        </p:nvSpPr>
        <p:spPr>
          <a:xfrm>
            <a:off x="1033271" y="3447288"/>
            <a:ext cx="4745736" cy="109728"/>
          </a:xfrm>
          <a:prstGeom prst="rect">
            <a:avLst/>
          </a:prstGeom>
          <a:noFill/>
        </p:spPr>
        <p:txBody>
          <a:bodyPr wrap="square">
            <a:spAutoFit/>
          </a:bodyPr>
          <a:lstStyle/>
          <a:p>
            <a:r>
              <a:rPr sz="1600">
                <a:solidFill>
                  <a:srgbClr val="242B34"/>
                </a:solidFill>
                <a:latin typeface="Aptos"/>
              </a:rPr>
              <a:t>It introduces a new scientific experiment.</a:t>
            </a:r>
          </a:p>
        </p:txBody>
      </p:sp>
      <p:sp>
        <p:nvSpPr>
          <p:cNvPr id="11" name="Rounded Rectangle 10"/>
          <p:cNvSpPr/>
          <p:nvPr/>
        </p:nvSpPr>
        <p:spPr>
          <a:xfrm>
            <a:off x="6309360" y="288036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990088"/>
            <a:ext cx="4745736" cy="411480"/>
          </a:xfrm>
          <a:prstGeom prst="rect">
            <a:avLst/>
          </a:prstGeom>
          <a:noFill/>
        </p:spPr>
        <p:txBody>
          <a:bodyPr wrap="none">
            <a:spAutoFit/>
          </a:bodyPr>
          <a:lstStyle/>
          <a:p>
            <a:r>
              <a:rPr sz="1800" b="1">
                <a:solidFill>
                  <a:srgbClr val="3F69AA"/>
                </a:solidFill>
                <a:latin typeface="Aptos Display"/>
              </a:rPr>
              <a:t>B</a:t>
            </a:r>
          </a:p>
        </p:txBody>
      </p:sp>
      <p:sp>
        <p:nvSpPr>
          <p:cNvPr id="13" name="TextBox 12"/>
          <p:cNvSpPr txBox="1"/>
          <p:nvPr/>
        </p:nvSpPr>
        <p:spPr>
          <a:xfrm>
            <a:off x="6473952" y="3447288"/>
            <a:ext cx="4745736" cy="109728"/>
          </a:xfrm>
          <a:prstGeom prst="rect">
            <a:avLst/>
          </a:prstGeom>
          <a:noFill/>
        </p:spPr>
        <p:txBody>
          <a:bodyPr wrap="square">
            <a:spAutoFit/>
          </a:bodyPr>
          <a:lstStyle/>
          <a:p>
            <a:r>
              <a:rPr sz="1600">
                <a:solidFill>
                  <a:srgbClr val="242B34"/>
                </a:solidFill>
                <a:latin typeface="Aptos"/>
              </a:rPr>
              <a:t>It repeats all the facts from Part 1.</a:t>
            </a:r>
          </a:p>
        </p:txBody>
      </p:sp>
      <p:sp>
        <p:nvSpPr>
          <p:cNvPr id="14" name="Rounded Rectangle 13"/>
          <p:cNvSpPr/>
          <p:nvPr/>
        </p:nvSpPr>
        <p:spPr>
          <a:xfrm>
            <a:off x="86868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041648"/>
            <a:ext cx="4745736" cy="411480"/>
          </a:xfrm>
          <a:prstGeom prst="rect">
            <a:avLst/>
          </a:prstGeom>
          <a:noFill/>
        </p:spPr>
        <p:txBody>
          <a:bodyPr wrap="none">
            <a:spAutoFit/>
          </a:bodyPr>
          <a:lstStyle/>
          <a:p>
            <a:r>
              <a:rPr sz="1800" b="1">
                <a:solidFill>
                  <a:srgbClr val="3F69AA"/>
                </a:solidFill>
                <a:latin typeface="Aptos Display"/>
              </a:rPr>
              <a:t>C</a:t>
            </a:r>
          </a:p>
        </p:txBody>
      </p:sp>
      <p:sp>
        <p:nvSpPr>
          <p:cNvPr id="16" name="TextBox 15"/>
          <p:cNvSpPr txBox="1"/>
          <p:nvPr/>
        </p:nvSpPr>
        <p:spPr>
          <a:xfrm>
            <a:off x="1033271" y="4498848"/>
            <a:ext cx="4745736" cy="109728"/>
          </a:xfrm>
          <a:prstGeom prst="rect">
            <a:avLst/>
          </a:prstGeom>
          <a:noFill/>
        </p:spPr>
        <p:txBody>
          <a:bodyPr wrap="square">
            <a:spAutoFit/>
          </a:bodyPr>
          <a:lstStyle/>
          <a:p>
            <a:r>
              <a:rPr sz="1600">
                <a:solidFill>
                  <a:srgbClr val="242B34"/>
                </a:solidFill>
                <a:latin typeface="Aptos"/>
              </a:rPr>
              <a:t>It focuses only on wildlife.</a:t>
            </a:r>
          </a:p>
        </p:txBody>
      </p:sp>
      <p:sp>
        <p:nvSpPr>
          <p:cNvPr id="17" name="Rounded Rectangle 16"/>
          <p:cNvSpPr/>
          <p:nvPr/>
        </p:nvSpPr>
        <p:spPr>
          <a:xfrm>
            <a:off x="6309360" y="3931920"/>
            <a:ext cx="5074920" cy="822960"/>
          </a:xfrm>
          <a:prstGeom prst="roundRect">
            <a:avLst/>
          </a:prstGeom>
          <a:solidFill>
            <a:srgbClr val="FFFFFF"/>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4041648"/>
            <a:ext cx="4745736" cy="411480"/>
          </a:xfrm>
          <a:prstGeom prst="rect">
            <a:avLst/>
          </a:prstGeom>
          <a:noFill/>
        </p:spPr>
        <p:txBody>
          <a:bodyPr wrap="none">
            <a:spAutoFit/>
          </a:bodyPr>
          <a:lstStyle/>
          <a:p>
            <a:r>
              <a:rPr sz="1800" b="1">
                <a:solidFill>
                  <a:srgbClr val="3F69AA"/>
                </a:solidFill>
                <a:latin typeface="Aptos Display"/>
              </a:rPr>
              <a:t>D</a:t>
            </a:r>
          </a:p>
        </p:txBody>
      </p:sp>
      <p:sp>
        <p:nvSpPr>
          <p:cNvPr id="19" name="TextBox 18"/>
          <p:cNvSpPr txBox="1"/>
          <p:nvPr/>
        </p:nvSpPr>
        <p:spPr>
          <a:xfrm>
            <a:off x="6473952" y="4498848"/>
            <a:ext cx="4745736" cy="109728"/>
          </a:xfrm>
          <a:prstGeom prst="rect">
            <a:avLst/>
          </a:prstGeom>
          <a:noFill/>
        </p:spPr>
        <p:txBody>
          <a:bodyPr wrap="square">
            <a:spAutoFit/>
          </a:bodyPr>
          <a:lstStyle/>
          <a:p>
            <a:r>
              <a:rPr sz="1600">
                <a:solidFill>
                  <a:srgbClr val="242B34"/>
                </a:solidFill>
                <a:latin typeface="Aptos"/>
              </a:rPr>
              <a:t>It returns to the wider idea of how cities can work with natural systems.</a:t>
            </a:r>
          </a:p>
        </p:txBody>
      </p:sp>
      <p:sp>
        <p:nvSpPr>
          <p:cNvPr id="20" name="Rectangle 1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54</a:t>
            </a:r>
          </a:p>
        </p:txBody>
      </p:sp>
      <p:sp>
        <p:nvSpPr>
          <p:cNvPr id="7" name="Rounded Rectangle 6"/>
          <p:cNvSpPr/>
          <p:nvPr/>
        </p:nvSpPr>
        <p:spPr>
          <a:xfrm>
            <a:off x="914400" y="1645920"/>
            <a:ext cx="10241280" cy="347472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55648"/>
            <a:ext cx="9912096" cy="411480"/>
          </a:xfrm>
          <a:prstGeom prst="rect">
            <a:avLst/>
          </a:prstGeom>
          <a:noFill/>
        </p:spPr>
        <p:txBody>
          <a:bodyPr wrap="none">
            <a:spAutoFit/>
          </a:bodyPr>
          <a:lstStyle/>
          <a:p>
            <a:r>
              <a:rPr sz="1800" b="1">
                <a:solidFill>
                  <a:srgbClr val="46875C"/>
                </a:solidFill>
                <a:latin typeface="Aptos Display"/>
              </a:rPr>
              <a:t>D — CORRECT</a:t>
            </a:r>
          </a:p>
        </p:txBody>
      </p:sp>
      <p:sp>
        <p:nvSpPr>
          <p:cNvPr id="9" name="TextBox 8"/>
          <p:cNvSpPr txBox="1"/>
          <p:nvPr/>
        </p:nvSpPr>
        <p:spPr>
          <a:xfrm>
            <a:off x="1078992" y="2212848"/>
            <a:ext cx="9912096" cy="2761487"/>
          </a:xfrm>
          <a:prstGeom prst="rect">
            <a:avLst/>
          </a:prstGeom>
          <a:noFill/>
        </p:spPr>
        <p:txBody>
          <a:bodyPr wrap="square">
            <a:spAutoFit/>
          </a:bodyPr>
          <a:lstStyle/>
          <a:p>
            <a:r>
              <a:rPr sz="2000">
                <a:solidFill>
                  <a:srgbClr val="242B34"/>
                </a:solidFill>
                <a:latin typeface="Aptos"/>
              </a:rPr>
              <a:t>The ending moves from wetlands specifically to the wider idea that cities can work with natural systems.</a:t>
            </a:r>
          </a:p>
        </p:txBody>
      </p:sp>
      <p:sp>
        <p:nvSpPr>
          <p:cNvPr id="10" name="Rectangle 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WE DO — CONNECT THE TWO SKILLS</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WE DO — CONNECT THE TWO SKILLS</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55</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2100">
                <a:solidFill>
                  <a:srgbClr val="242B34"/>
                </a:solidFill>
                <a:latin typeface="Aptos"/>
              </a:rPr>
              <a:t>Complete the chain:</a:t>
            </a:r>
          </a:p>
          <a:p>
            <a:pPr algn="l">
              <a:spcAft>
                <a:spcPts val="800"/>
              </a:spcAft>
            </a:pPr>
            <a:r>
              <a:rPr sz="2100">
                <a:solidFill>
                  <a:srgbClr val="242B34"/>
                </a:solidFill>
                <a:latin typeface="Aptos"/>
              </a:rPr>
              <a:t/>
            </a:r>
          </a:p>
          <a:p>
            <a:pPr algn="l">
              <a:spcAft>
                <a:spcPts val="800"/>
              </a:spcAft>
            </a:pPr>
            <a:r>
              <a:rPr sz="2100">
                <a:solidFill>
                  <a:srgbClr val="242B34"/>
                </a:solidFill>
                <a:latin typeface="Aptos"/>
              </a:rPr>
              <a:t>The writer uses “not a magic switch”</a:t>
            </a:r>
          </a:p>
          <a:p>
            <a:pPr algn="l">
              <a:spcAft>
                <a:spcPts val="800"/>
              </a:spcAft>
            </a:pPr>
            <a:r>
              <a:rPr sz="2100">
                <a:solidFill>
                  <a:srgbClr val="242B34"/>
                </a:solidFill>
                <a:latin typeface="Aptos"/>
              </a:rPr>
              <a:t>↓</a:t>
            </a:r>
          </a:p>
          <a:p>
            <a:pPr algn="l">
              <a:spcAft>
                <a:spcPts val="800"/>
              </a:spcAft>
            </a:pPr>
            <a:r>
              <a:rPr sz="2100">
                <a:solidFill>
                  <a:srgbClr val="242B34"/>
                </a:solidFill>
                <a:latin typeface="Aptos"/>
              </a:rPr>
              <a:t>because __________________</a:t>
            </a:r>
          </a:p>
          <a:p>
            <a:pPr algn="l">
              <a:spcAft>
                <a:spcPts val="800"/>
              </a:spcAft>
            </a:pPr>
            <a:r>
              <a:rPr sz="2100">
                <a:solidFill>
                  <a:srgbClr val="242B34"/>
                </a:solidFill>
                <a:latin typeface="Aptos"/>
              </a:rPr>
              <a:t>↓</a:t>
            </a:r>
          </a:p>
          <a:p>
            <a:pPr algn="l">
              <a:spcAft>
                <a:spcPts val="800"/>
              </a:spcAft>
            </a:pPr>
            <a:r>
              <a:rPr sz="2100">
                <a:solidFill>
                  <a:srgbClr val="242B34"/>
                </a:solidFill>
                <a:latin typeface="Aptos"/>
              </a:rPr>
              <a:t>This helps the reader __________________</a:t>
            </a:r>
          </a:p>
          <a:p>
            <a:pPr algn="l">
              <a:spcAft>
                <a:spcPts val="800"/>
              </a:spcAft>
            </a:pPr>
            <a:r>
              <a:rPr sz="2100">
                <a:solidFill>
                  <a:srgbClr val="242B34"/>
                </a:solidFill>
                <a:latin typeface="Aptos"/>
              </a:rPr>
              <a:t>↓</a:t>
            </a:r>
          </a:p>
          <a:p>
            <a:pPr algn="l">
              <a:spcAft>
                <a:spcPts val="800"/>
              </a:spcAft>
            </a:pPr>
            <a:r>
              <a:rPr sz="2100">
                <a:solidFill>
                  <a:srgbClr val="242B34"/>
                </a:solidFill>
                <a:latin typeface="Aptos"/>
              </a:rPr>
              <a:t>The writer then places this idea before __________________</a:t>
            </a:r>
          </a:p>
          <a:p>
            <a:pPr algn="l">
              <a:spcAft>
                <a:spcPts val="800"/>
              </a:spcAft>
            </a:pPr>
            <a:r>
              <a:rPr sz="2100">
                <a:solidFill>
                  <a:srgbClr val="242B34"/>
                </a:solidFill>
                <a:latin typeface="Aptos"/>
              </a:rPr>
              <a:t>↓</a:t>
            </a:r>
          </a:p>
          <a:p>
            <a:pPr algn="l">
              <a:spcAft>
                <a:spcPts val="800"/>
              </a:spcAft>
            </a:pPr>
            <a:r>
              <a:rPr sz="2100">
                <a:solidFill>
                  <a:srgbClr val="242B34"/>
                </a:solidFill>
                <a:latin typeface="Aptos"/>
              </a:rPr>
              <a:t>so that __________________</a:t>
            </a:r>
          </a:p>
        </p:txBody>
      </p:sp>
      <p:sp>
        <p:nvSpPr>
          <p:cNvPr id="8" name="Rectangle 7"/>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WE DO — 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56</a:t>
            </a:r>
          </a:p>
        </p:txBody>
      </p:sp>
      <p:sp>
        <p:nvSpPr>
          <p:cNvPr id="7" name="Rounded Rectangle 6"/>
          <p:cNvSpPr/>
          <p:nvPr/>
        </p:nvSpPr>
        <p:spPr>
          <a:xfrm>
            <a:off x="914400" y="1645920"/>
            <a:ext cx="10241280" cy="3657600"/>
          </a:xfrm>
          <a:prstGeom prst="roundRect">
            <a:avLst/>
          </a:prstGeom>
          <a:solidFill>
            <a:srgbClr val="E2F2F0"/>
          </a:solidFill>
          <a:ln w="19050">
            <a:solidFill>
              <a:srgbClr val="468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55648"/>
            <a:ext cx="9912096" cy="411480"/>
          </a:xfrm>
          <a:prstGeom prst="rect">
            <a:avLst/>
          </a:prstGeom>
          <a:noFill/>
        </p:spPr>
        <p:txBody>
          <a:bodyPr wrap="none">
            <a:spAutoFit/>
          </a:bodyPr>
          <a:lstStyle/>
          <a:p>
            <a:r>
              <a:rPr sz="1800" b="1">
                <a:solidFill>
                  <a:srgbClr val="46875C"/>
                </a:solidFill>
                <a:latin typeface="Aptos Display"/>
              </a:rPr>
              <a:t>POSSIBLE ANSWER</a:t>
            </a:r>
          </a:p>
        </p:txBody>
      </p:sp>
      <p:sp>
        <p:nvSpPr>
          <p:cNvPr id="9" name="TextBox 8"/>
          <p:cNvSpPr txBox="1"/>
          <p:nvPr/>
        </p:nvSpPr>
        <p:spPr>
          <a:xfrm>
            <a:off x="1078992" y="2212848"/>
            <a:ext cx="9912096" cy="2944368"/>
          </a:xfrm>
          <a:prstGeom prst="rect">
            <a:avLst/>
          </a:prstGeom>
          <a:noFill/>
        </p:spPr>
        <p:txBody>
          <a:bodyPr wrap="square">
            <a:spAutoFit/>
          </a:bodyPr>
          <a:lstStyle/>
          <a:p>
            <a:r>
              <a:rPr sz="1900">
                <a:solidFill>
                  <a:srgbClr val="242B34"/>
                </a:solidFill>
                <a:latin typeface="Aptos"/>
              </a:rPr>
              <a:t>The writer uses “not a magic switch” because it emphasises that wetlands cannot solve every problem alone. This helps the reader understand their limitations. The writer then places this idea before the discussion of several approaches so that the reader understands why different solutions need to work together.</a:t>
            </a:r>
          </a:p>
        </p:txBody>
      </p:sp>
      <p:sp>
        <p:nvSpPr>
          <p:cNvPr id="10" name="Rectangle 9"/>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FINAL CHECKPOINT</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FINAL CHECKPOINT — MIXED APPLICATION</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57</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2100">
                <a:solidFill>
                  <a:srgbClr val="242B34"/>
                </a:solidFill>
                <a:latin typeface="Aptos"/>
              </a:rPr>
              <a:t>Answer all four:</a:t>
            </a:r>
          </a:p>
          <a:p>
            <a:pPr algn="l">
              <a:spcAft>
                <a:spcPts val="800"/>
              </a:spcAft>
            </a:pPr>
            <a:r>
              <a:rPr sz="2100">
                <a:solidFill>
                  <a:srgbClr val="242B34"/>
                </a:solidFill>
                <a:latin typeface="Aptos"/>
              </a:rPr>
              <a:t/>
            </a:r>
          </a:p>
          <a:p>
            <a:pPr algn="l">
              <a:spcAft>
                <a:spcPts val="800"/>
              </a:spcAft>
            </a:pPr>
            <a:r>
              <a:rPr sz="2100">
                <a:solidFill>
                  <a:srgbClr val="242B34"/>
                </a:solidFill>
                <a:latin typeface="Aptos"/>
              </a:rPr>
              <a:t>1. Why is “natural sponge” an effective comparison?</a:t>
            </a:r>
          </a:p>
          <a:p>
            <a:pPr algn="l">
              <a:spcAft>
                <a:spcPts val="800"/>
              </a:spcAft>
            </a:pPr>
            <a:r>
              <a:rPr sz="2100">
                <a:solidFill>
                  <a:srgbClr val="242B34"/>
                </a:solidFill>
                <a:latin typeface="Aptos"/>
              </a:rPr>
              <a:t/>
            </a:r>
          </a:p>
          <a:p>
            <a:pPr algn="l">
              <a:spcAft>
                <a:spcPts val="800"/>
              </a:spcAft>
            </a:pPr>
            <a:r>
              <a:rPr sz="2100">
                <a:solidFill>
                  <a:srgbClr val="242B34"/>
                </a:solidFill>
                <a:latin typeface="Aptos"/>
              </a:rPr>
              <a:t>2. What is the purpose of Part 3?</a:t>
            </a:r>
          </a:p>
          <a:p>
            <a:pPr algn="l">
              <a:spcAft>
                <a:spcPts val="800"/>
              </a:spcAft>
            </a:pPr>
            <a:r>
              <a:rPr sz="2100">
                <a:solidFill>
                  <a:srgbClr val="242B34"/>
                </a:solidFill>
                <a:latin typeface="Aptos"/>
              </a:rPr>
              <a:t/>
            </a:r>
          </a:p>
          <a:p>
            <a:pPr algn="l">
              <a:spcAft>
                <a:spcPts val="800"/>
              </a:spcAft>
            </a:pPr>
            <a:r>
              <a:rPr sz="2100">
                <a:solidFill>
                  <a:srgbClr val="242B34"/>
                </a:solidFill>
                <a:latin typeface="Aptos"/>
              </a:rPr>
              <a:t>3. Why does the writer discuss limitations before the final section?</a:t>
            </a:r>
          </a:p>
          <a:p>
            <a:pPr algn="l">
              <a:spcAft>
                <a:spcPts val="800"/>
              </a:spcAft>
            </a:pPr>
            <a:r>
              <a:rPr sz="2100">
                <a:solidFill>
                  <a:srgbClr val="242B34"/>
                </a:solidFill>
                <a:latin typeface="Aptos"/>
              </a:rPr>
              <a:t/>
            </a:r>
          </a:p>
          <a:p>
            <a:pPr algn="l">
              <a:spcAft>
                <a:spcPts val="800"/>
              </a:spcAft>
            </a:pPr>
            <a:r>
              <a:rPr sz="2100">
                <a:solidFill>
                  <a:srgbClr val="242B34"/>
                </a:solidFill>
                <a:latin typeface="Aptos"/>
              </a:rPr>
              <a:t>4. How does the final section widen the article's message?</a:t>
            </a:r>
          </a:p>
        </p:txBody>
      </p:sp>
      <p:sp>
        <p:nvSpPr>
          <p:cNvPr id="8" name="Rectangle 7"/>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FINAL CHECKPOINT — ANSWERS</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ANSWERS</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58</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1800">
                <a:solidFill>
                  <a:srgbClr val="242B34"/>
                </a:solidFill>
                <a:latin typeface="Aptos"/>
              </a:rPr>
              <a:t>1. “Natural sponge” helps readers visualise how wetlands absorb and hold water.</a:t>
            </a:r>
          </a:p>
          <a:p>
            <a:pPr algn="l">
              <a:spcAft>
                <a:spcPts val="800"/>
              </a:spcAft>
            </a:pPr>
            <a:r>
              <a:rPr sz="1800">
                <a:solidFill>
                  <a:srgbClr val="242B34"/>
                </a:solidFill>
                <a:latin typeface="Aptos"/>
              </a:rPr>
              <a:t/>
            </a:r>
          </a:p>
          <a:p>
            <a:pPr algn="l">
              <a:spcAft>
                <a:spcPts val="800"/>
              </a:spcAft>
            </a:pPr>
            <a:r>
              <a:rPr sz="1800">
                <a:solidFill>
                  <a:srgbClr val="242B34"/>
                </a:solidFill>
                <a:latin typeface="Aptos"/>
              </a:rPr>
              <a:t>2. Part 3 shows that wetlands have benefits beyond managing water, including supporting wildlife and improving water quality.</a:t>
            </a:r>
          </a:p>
          <a:p>
            <a:pPr algn="l">
              <a:spcAft>
                <a:spcPts val="800"/>
              </a:spcAft>
            </a:pPr>
            <a:r>
              <a:rPr sz="1800">
                <a:solidFill>
                  <a:srgbClr val="242B34"/>
                </a:solidFill>
                <a:latin typeface="Aptos"/>
              </a:rPr>
              <a:t/>
            </a:r>
          </a:p>
          <a:p>
            <a:pPr algn="l">
              <a:spcAft>
                <a:spcPts val="800"/>
              </a:spcAft>
            </a:pPr>
            <a:r>
              <a:rPr sz="1800">
                <a:solidFill>
                  <a:srgbClr val="242B34"/>
                </a:solidFill>
                <a:latin typeface="Aptos"/>
              </a:rPr>
              <a:t>3. The limitations create a balanced explanation and prepare the reader to understand why several solutions are needed.</a:t>
            </a:r>
          </a:p>
          <a:p>
            <a:pPr algn="l">
              <a:spcAft>
                <a:spcPts val="800"/>
              </a:spcAft>
            </a:pPr>
            <a:r>
              <a:rPr sz="1800">
                <a:solidFill>
                  <a:srgbClr val="242B34"/>
                </a:solidFill>
                <a:latin typeface="Aptos"/>
              </a:rPr>
              <a:t/>
            </a:r>
          </a:p>
          <a:p>
            <a:pPr algn="l">
              <a:spcAft>
                <a:spcPts val="800"/>
              </a:spcAft>
            </a:pPr>
            <a:r>
              <a:rPr sz="1800">
                <a:solidFill>
                  <a:srgbClr val="242B34"/>
                </a:solidFill>
                <a:latin typeface="Aptos"/>
              </a:rPr>
              <a:t>4. The final section moves from wetlands specifically to the wider idea that cities can work with natural systems.</a:t>
            </a:r>
          </a:p>
        </p:txBody>
      </p:sp>
      <p:sp>
        <p:nvSpPr>
          <p:cNvPr id="8" name="Rectangle 7"/>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INDEPENDENT CHALLENGE</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INDEPENDENT CHECKPOINT-STYLE WRITING</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59</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1900">
                <a:solidFill>
                  <a:srgbClr val="242B34"/>
                </a:solidFill>
                <a:latin typeface="Aptos"/>
              </a:rPr>
              <a:t>Explain how the writer organises the article to help the reader understand the role of wetlands in cities.</a:t>
            </a:r>
          </a:p>
          <a:p>
            <a:pPr algn="l">
              <a:spcAft>
                <a:spcPts val="800"/>
              </a:spcAft>
            </a:pPr>
            <a:r>
              <a:rPr sz="1900">
                <a:solidFill>
                  <a:srgbClr val="242B34"/>
                </a:solidFill>
                <a:latin typeface="Aptos"/>
              </a:rPr>
              <a:t/>
            </a:r>
          </a:p>
          <a:p>
            <a:pPr algn="l">
              <a:spcAft>
                <a:spcPts val="800"/>
              </a:spcAft>
            </a:pPr>
            <a:r>
              <a:rPr sz="1900">
                <a:solidFill>
                  <a:srgbClr val="242B34"/>
                </a:solidFill>
                <a:latin typeface="Aptos"/>
              </a:rPr>
              <a:t>Write 4–5 sentences.</a:t>
            </a:r>
          </a:p>
          <a:p>
            <a:pPr algn="l">
              <a:spcAft>
                <a:spcPts val="800"/>
              </a:spcAft>
            </a:pPr>
            <a:r>
              <a:rPr sz="1900">
                <a:solidFill>
                  <a:srgbClr val="242B34"/>
                </a:solidFill>
                <a:latin typeface="Aptos"/>
              </a:rPr>
              <a:t/>
            </a:r>
          </a:p>
          <a:p>
            <a:pPr algn="l">
              <a:spcAft>
                <a:spcPts val="800"/>
              </a:spcAft>
            </a:pPr>
            <a:r>
              <a:rPr sz="1900">
                <a:solidFill>
                  <a:srgbClr val="242B34"/>
                </a:solidFill>
                <a:latin typeface="Aptos"/>
              </a:rPr>
              <a:t>You should mention:</a:t>
            </a:r>
          </a:p>
          <a:p>
            <a:pPr algn="l">
              <a:spcAft>
                <a:spcPts val="800"/>
              </a:spcAft>
            </a:pPr>
            <a:r>
              <a:rPr sz="1900">
                <a:solidFill>
                  <a:srgbClr val="242B34"/>
                </a:solidFill>
                <a:latin typeface="Aptos"/>
              </a:rPr>
              <a:t>☐ how the article begins</a:t>
            </a:r>
          </a:p>
          <a:p>
            <a:pPr algn="l">
              <a:spcAft>
                <a:spcPts val="800"/>
              </a:spcAft>
            </a:pPr>
            <a:r>
              <a:rPr sz="1900">
                <a:solidFill>
                  <a:srgbClr val="242B34"/>
                </a:solidFill>
                <a:latin typeface="Aptos"/>
              </a:rPr>
              <a:t>☐ how the benefits are developed</a:t>
            </a:r>
          </a:p>
          <a:p>
            <a:pPr algn="l">
              <a:spcAft>
                <a:spcPts val="800"/>
              </a:spcAft>
            </a:pPr>
            <a:r>
              <a:rPr sz="1900">
                <a:solidFill>
                  <a:srgbClr val="242B34"/>
                </a:solidFill>
                <a:latin typeface="Aptos"/>
              </a:rPr>
              <a:t>☐ the shift to problems / limitations</a:t>
            </a:r>
          </a:p>
          <a:p>
            <a:pPr algn="l">
              <a:spcAft>
                <a:spcPts val="800"/>
              </a:spcAft>
            </a:pPr>
            <a:r>
              <a:rPr sz="1900">
                <a:solidFill>
                  <a:srgbClr val="242B34"/>
                </a:solidFill>
                <a:latin typeface="Aptos"/>
              </a:rPr>
              <a:t>☐ the final message</a:t>
            </a:r>
          </a:p>
          <a:p>
            <a:pPr algn="l">
              <a:spcAft>
                <a:spcPts val="800"/>
              </a:spcAft>
            </a:pPr>
            <a:r>
              <a:rPr sz="1900">
                <a:solidFill>
                  <a:srgbClr val="242B34"/>
                </a:solidFill>
                <a:latin typeface="Aptos"/>
              </a:rPr>
              <a:t>☐ why this structure helps the reader</a:t>
            </a:r>
          </a:p>
        </p:txBody>
      </p:sp>
      <p:sp>
        <p:nvSpPr>
          <p:cNvPr id="8" name="Rectangle 7"/>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INDEPENDENT CHALLENGE — MODEL</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MODEL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60</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1700">
                <a:solidFill>
                  <a:srgbClr val="242B34"/>
                </a:solidFill>
                <a:latin typeface="Aptos"/>
              </a:rPr>
              <a:t>The writer begins by explaining the problem of managing rainwater in cities before introducing wetlands as a possible response. The article then explains how wetlands manage water before developing the idea by describing their benefits for wildlife and water quality. The writer later introduces the difficulties and limitations of using wetlands, which creates a balanced explanation and leads to the idea that several solutions may be needed. Finally, the writer widens the discussion to show how cities can work with natural systems. This structure helps the reader follow the topic logically from problem → solution → wider benefits → limitations → wider message.</a:t>
            </a:r>
          </a:p>
        </p:txBody>
      </p:sp>
      <p:sp>
        <p:nvSpPr>
          <p:cNvPr id="8" name="Rectangle 7"/>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WHY IS THIS STRONG?</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WHY IS THIS A STRONG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61</a:t>
            </a:r>
          </a:p>
        </p:txBody>
      </p:sp>
      <p:sp>
        <p:nvSpPr>
          <p:cNvPr id="7" name="Rounded Rectangle 6"/>
          <p:cNvSpPr/>
          <p:nvPr/>
        </p:nvSpPr>
        <p:spPr>
          <a:xfrm>
            <a:off x="731520" y="1828800"/>
            <a:ext cx="3383280" cy="3108960"/>
          </a:xfrm>
          <a:prstGeom prst="roundRect">
            <a:avLst/>
          </a:prstGeom>
          <a:solidFill>
            <a:srgbClr val="E5EDF8"/>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38528"/>
            <a:ext cx="3054096" cy="411480"/>
          </a:xfrm>
          <a:prstGeom prst="rect">
            <a:avLst/>
          </a:prstGeom>
          <a:noFill/>
        </p:spPr>
        <p:txBody>
          <a:bodyPr wrap="none">
            <a:spAutoFit/>
          </a:bodyPr>
          <a:lstStyle/>
          <a:p>
            <a:r>
              <a:rPr sz="1800" b="1">
                <a:solidFill>
                  <a:srgbClr val="3F69AA"/>
                </a:solidFill>
                <a:latin typeface="Aptos Display"/>
              </a:rPr>
              <a:t>WHAT?</a:t>
            </a:r>
          </a:p>
        </p:txBody>
      </p:sp>
      <p:sp>
        <p:nvSpPr>
          <p:cNvPr id="9" name="TextBox 8"/>
          <p:cNvSpPr txBox="1"/>
          <p:nvPr/>
        </p:nvSpPr>
        <p:spPr>
          <a:xfrm>
            <a:off x="896112" y="2395728"/>
            <a:ext cx="3054096" cy="2395728"/>
          </a:xfrm>
          <a:prstGeom prst="rect">
            <a:avLst/>
          </a:prstGeom>
          <a:noFill/>
        </p:spPr>
        <p:txBody>
          <a:bodyPr wrap="square">
            <a:spAutoFit/>
          </a:bodyPr>
          <a:lstStyle/>
          <a:p>
            <a:r>
              <a:rPr sz="2200">
                <a:solidFill>
                  <a:srgbClr val="242B34"/>
                </a:solidFill>
                <a:latin typeface="Aptos"/>
              </a:rPr>
              <a:t>The order of ideas.</a:t>
            </a:r>
          </a:p>
        </p:txBody>
      </p:sp>
      <p:sp>
        <p:nvSpPr>
          <p:cNvPr id="10" name="Rounded Rectangle 9"/>
          <p:cNvSpPr/>
          <p:nvPr/>
        </p:nvSpPr>
        <p:spPr>
          <a:xfrm>
            <a:off x="4389120" y="1828800"/>
            <a:ext cx="3383280" cy="3108960"/>
          </a:xfrm>
          <a:prstGeom prst="roundRect">
            <a:avLst/>
          </a:prstGeom>
          <a:solidFill>
            <a:srgbClr val="E2F2F0"/>
          </a:solidFill>
          <a:ln w="19050">
            <a:solidFill>
              <a:srgbClr val="32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938528"/>
            <a:ext cx="3054096" cy="411480"/>
          </a:xfrm>
          <a:prstGeom prst="rect">
            <a:avLst/>
          </a:prstGeom>
          <a:noFill/>
        </p:spPr>
        <p:txBody>
          <a:bodyPr wrap="none">
            <a:spAutoFit/>
          </a:bodyPr>
          <a:lstStyle/>
          <a:p>
            <a:r>
              <a:rPr sz="1800" b="1">
                <a:solidFill>
                  <a:srgbClr val="329191"/>
                </a:solidFill>
                <a:latin typeface="Aptos Display"/>
              </a:rPr>
              <a:t>WHY?</a:t>
            </a:r>
          </a:p>
        </p:txBody>
      </p:sp>
      <p:sp>
        <p:nvSpPr>
          <p:cNvPr id="12" name="TextBox 11"/>
          <p:cNvSpPr txBox="1"/>
          <p:nvPr/>
        </p:nvSpPr>
        <p:spPr>
          <a:xfrm>
            <a:off x="4553712" y="2395728"/>
            <a:ext cx="3054096" cy="2395728"/>
          </a:xfrm>
          <a:prstGeom prst="rect">
            <a:avLst/>
          </a:prstGeom>
          <a:noFill/>
        </p:spPr>
        <p:txBody>
          <a:bodyPr wrap="square">
            <a:spAutoFit/>
          </a:bodyPr>
          <a:lstStyle/>
          <a:p>
            <a:r>
              <a:rPr sz="2200">
                <a:solidFill>
                  <a:srgbClr val="242B34"/>
                </a:solidFill>
                <a:latin typeface="Aptos"/>
              </a:rPr>
              <a:t>Why the writer chose that order.</a:t>
            </a:r>
          </a:p>
        </p:txBody>
      </p:sp>
      <p:sp>
        <p:nvSpPr>
          <p:cNvPr id="13" name="Rounded Rectangle 12"/>
          <p:cNvSpPr/>
          <p:nvPr/>
        </p:nvSpPr>
        <p:spPr>
          <a:xfrm>
            <a:off x="8046720" y="1828800"/>
            <a:ext cx="3383280" cy="3108960"/>
          </a:xfrm>
          <a:prstGeom prst="roundRect">
            <a:avLst/>
          </a:prstGeom>
          <a:solidFill>
            <a:srgbClr val="FAF1D6"/>
          </a:solidFill>
          <a:ln w="19050">
            <a:solidFill>
              <a:srgbClr val="E1A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1312" y="1938528"/>
            <a:ext cx="3054096" cy="411480"/>
          </a:xfrm>
          <a:prstGeom prst="rect">
            <a:avLst/>
          </a:prstGeom>
          <a:noFill/>
        </p:spPr>
        <p:txBody>
          <a:bodyPr wrap="none">
            <a:spAutoFit/>
          </a:bodyPr>
          <a:lstStyle/>
          <a:p>
            <a:r>
              <a:rPr sz="1800" b="1">
                <a:solidFill>
                  <a:srgbClr val="E1AB41"/>
                </a:solidFill>
                <a:latin typeface="Aptos Display"/>
              </a:rPr>
              <a:t>SO WHAT?</a:t>
            </a:r>
          </a:p>
        </p:txBody>
      </p:sp>
      <p:sp>
        <p:nvSpPr>
          <p:cNvPr id="15" name="TextBox 14"/>
          <p:cNvSpPr txBox="1"/>
          <p:nvPr/>
        </p:nvSpPr>
        <p:spPr>
          <a:xfrm>
            <a:off x="8211312" y="2395728"/>
            <a:ext cx="3054096" cy="2395728"/>
          </a:xfrm>
          <a:prstGeom prst="rect">
            <a:avLst/>
          </a:prstGeom>
          <a:noFill/>
        </p:spPr>
        <p:txBody>
          <a:bodyPr wrap="square">
            <a:spAutoFit/>
          </a:bodyPr>
          <a:lstStyle/>
          <a:p>
            <a:r>
              <a:rPr sz="2200">
                <a:solidFill>
                  <a:srgbClr val="242B34"/>
                </a:solidFill>
                <a:latin typeface="Aptos"/>
              </a:rPr>
              <a:t>How the structure helps the reader.</a:t>
            </a:r>
          </a:p>
        </p:txBody>
      </p:sp>
      <p:sp>
        <p:nvSpPr>
          <p:cNvPr id="16" name="TextBox 15"/>
          <p:cNvSpPr txBox="1"/>
          <p:nvPr/>
        </p:nvSpPr>
        <p:spPr>
          <a:xfrm>
            <a:off x="2011680" y="5257800"/>
            <a:ext cx="8138160" cy="457200"/>
          </a:xfrm>
          <a:prstGeom prst="rect">
            <a:avLst/>
          </a:prstGeom>
          <a:noFill/>
        </p:spPr>
        <p:txBody>
          <a:bodyPr wrap="square" lIns="45720" rIns="45720" anchor="t">
            <a:spAutoFit/>
          </a:bodyPr>
          <a:lstStyle/>
          <a:p>
            <a:pPr algn="ctr">
              <a:spcAft>
                <a:spcPts val="800"/>
              </a:spcAft>
            </a:pPr>
            <a:r>
              <a:rPr sz="2100">
                <a:solidFill>
                  <a:srgbClr val="1C273A"/>
                </a:solidFill>
                <a:latin typeface="Aptos"/>
              </a:rPr>
              <a:t>It does NOT simply retell the article.</a:t>
            </a:r>
          </a:p>
        </p:txBody>
      </p:sp>
      <p:sp>
        <p:nvSpPr>
          <p:cNvPr id="17" name="Rectangle 16"/>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EXIT TICKET</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SESSION 2 EXIT TICKET</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62</a:t>
            </a:r>
          </a:p>
        </p:txBody>
      </p:sp>
      <p:sp>
        <p:nvSpPr>
          <p:cNvPr id="7" name="Rounded Rectangle 6"/>
          <p:cNvSpPr/>
          <p:nvPr/>
        </p:nvSpPr>
        <p:spPr>
          <a:xfrm>
            <a:off x="777240" y="1600200"/>
            <a:ext cx="10607040" cy="1143000"/>
          </a:xfrm>
          <a:prstGeom prst="roundRect">
            <a:avLst/>
          </a:prstGeom>
          <a:solidFill>
            <a:srgbClr val="E5EDF8"/>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709928"/>
            <a:ext cx="10277856" cy="411480"/>
          </a:xfrm>
          <a:prstGeom prst="rect">
            <a:avLst/>
          </a:prstGeom>
          <a:noFill/>
        </p:spPr>
        <p:txBody>
          <a:bodyPr wrap="none">
            <a:spAutoFit/>
          </a:bodyPr>
          <a:lstStyle/>
          <a:p>
            <a:r>
              <a:rPr sz="1800" b="1">
                <a:solidFill>
                  <a:srgbClr val="3F69AA"/>
                </a:solidFill>
                <a:latin typeface="Aptos Display"/>
              </a:rPr>
              <a:t>1. WRITER'S CHOICE</a:t>
            </a:r>
          </a:p>
        </p:txBody>
      </p:sp>
      <p:sp>
        <p:nvSpPr>
          <p:cNvPr id="9" name="TextBox 8"/>
          <p:cNvSpPr txBox="1"/>
          <p:nvPr/>
        </p:nvSpPr>
        <p:spPr>
          <a:xfrm>
            <a:off x="941832" y="2167128"/>
            <a:ext cx="10277856" cy="429768"/>
          </a:xfrm>
          <a:prstGeom prst="rect">
            <a:avLst/>
          </a:prstGeom>
          <a:noFill/>
        </p:spPr>
        <p:txBody>
          <a:bodyPr wrap="square">
            <a:spAutoFit/>
          </a:bodyPr>
          <a:lstStyle/>
          <a:p>
            <a:r>
              <a:rPr sz="2000">
                <a:solidFill>
                  <a:srgbClr val="242B34"/>
                </a:solidFill>
                <a:latin typeface="Aptos"/>
              </a:rPr>
              <a:t>Why is “not a magic switch” effective?</a:t>
            </a:r>
          </a:p>
        </p:txBody>
      </p:sp>
      <p:sp>
        <p:nvSpPr>
          <p:cNvPr id="10" name="Rounded Rectangle 9"/>
          <p:cNvSpPr/>
          <p:nvPr/>
        </p:nvSpPr>
        <p:spPr>
          <a:xfrm>
            <a:off x="777240" y="2971800"/>
            <a:ext cx="10607040" cy="1143000"/>
          </a:xfrm>
          <a:prstGeom prst="roundRect">
            <a:avLst/>
          </a:prstGeom>
          <a:solidFill>
            <a:srgbClr val="E2F2F0"/>
          </a:solidFill>
          <a:ln w="19050">
            <a:solidFill>
              <a:srgbClr val="32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081528"/>
            <a:ext cx="10277856" cy="411480"/>
          </a:xfrm>
          <a:prstGeom prst="rect">
            <a:avLst/>
          </a:prstGeom>
          <a:noFill/>
        </p:spPr>
        <p:txBody>
          <a:bodyPr wrap="none">
            <a:spAutoFit/>
          </a:bodyPr>
          <a:lstStyle/>
          <a:p>
            <a:r>
              <a:rPr sz="1800" b="1">
                <a:solidFill>
                  <a:srgbClr val="329191"/>
                </a:solidFill>
                <a:latin typeface="Aptos Display"/>
              </a:rPr>
              <a:t>2. STRUCTURE</a:t>
            </a:r>
          </a:p>
        </p:txBody>
      </p:sp>
      <p:sp>
        <p:nvSpPr>
          <p:cNvPr id="12" name="TextBox 11"/>
          <p:cNvSpPr txBox="1"/>
          <p:nvPr/>
        </p:nvSpPr>
        <p:spPr>
          <a:xfrm>
            <a:off x="941832" y="3538728"/>
            <a:ext cx="10277856" cy="429768"/>
          </a:xfrm>
          <a:prstGeom prst="rect">
            <a:avLst/>
          </a:prstGeom>
          <a:noFill/>
        </p:spPr>
        <p:txBody>
          <a:bodyPr wrap="square">
            <a:spAutoFit/>
          </a:bodyPr>
          <a:lstStyle/>
          <a:p>
            <a:r>
              <a:rPr sz="2000">
                <a:solidFill>
                  <a:srgbClr val="242B34"/>
                </a:solidFill>
                <a:latin typeface="Aptos"/>
              </a:rPr>
              <a:t>Why does the writer explain the problem of urban rainwater before introducing wetlands?</a:t>
            </a:r>
          </a:p>
        </p:txBody>
      </p:sp>
      <p:sp>
        <p:nvSpPr>
          <p:cNvPr id="13" name="TextBox 12"/>
          <p:cNvSpPr txBox="1"/>
          <p:nvPr/>
        </p:nvSpPr>
        <p:spPr>
          <a:xfrm>
            <a:off x="914400" y="4572000"/>
            <a:ext cx="10241280" cy="914400"/>
          </a:xfrm>
          <a:prstGeom prst="rect">
            <a:avLst/>
          </a:prstGeom>
          <a:noFill/>
        </p:spPr>
        <p:txBody>
          <a:bodyPr wrap="square" lIns="45720" rIns="45720" anchor="t">
            <a:spAutoFit/>
          </a:bodyPr>
          <a:lstStyle/>
          <a:p>
            <a:pPr algn="l">
              <a:spcAft>
                <a:spcPts val="800"/>
              </a:spcAft>
            </a:pPr>
            <a:r>
              <a:rPr sz="2000">
                <a:solidFill>
                  <a:srgbClr val="242B34"/>
                </a:solidFill>
                <a:latin typeface="Aptos"/>
              </a:rPr>
              <a:t>CHALLENGE:</a:t>
            </a:r>
          </a:p>
          <a:p>
            <a:pPr algn="l">
              <a:spcAft>
                <a:spcPts val="800"/>
              </a:spcAft>
            </a:pPr>
            <a:r>
              <a:rPr sz="2000">
                <a:solidFill>
                  <a:srgbClr val="242B34"/>
                </a:solidFill>
                <a:latin typeface="Aptos"/>
              </a:rPr>
              <a:t>The writer first __________, then __________, so that the reader __________.</a:t>
            </a:r>
          </a:p>
        </p:txBody>
      </p:sp>
      <p:sp>
        <p:nvSpPr>
          <p:cNvPr id="14" name="Rectangle 13"/>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EXIT TICKET — ANSWER</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SESSION 2 • STRUCTURE &amp; ORGANISATION</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EXIT TICKET — ANSWER</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63</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1800">
                <a:solidFill>
                  <a:srgbClr val="242B34"/>
                </a:solidFill>
                <a:latin typeface="Aptos"/>
              </a:rPr>
              <a:t>1. “Not a magic switch” emphasises that wetlands cannot solve every water problem instantly or alone. It helps the reader understand that they are one part of a wider solution.</a:t>
            </a:r>
          </a:p>
          <a:p>
            <a:pPr algn="l">
              <a:spcAft>
                <a:spcPts val="800"/>
              </a:spcAft>
            </a:pPr>
            <a:r>
              <a:rPr sz="1800">
                <a:solidFill>
                  <a:srgbClr val="242B34"/>
                </a:solidFill>
                <a:latin typeface="Aptos"/>
              </a:rPr>
              <a:t/>
            </a:r>
          </a:p>
          <a:p>
            <a:pPr algn="l">
              <a:spcAft>
                <a:spcPts val="800"/>
              </a:spcAft>
            </a:pPr>
            <a:r>
              <a:rPr sz="1800">
                <a:solidFill>
                  <a:srgbClr val="242B34"/>
                </a:solidFill>
                <a:latin typeface="Aptos"/>
              </a:rPr>
              <a:t>2. The writer explains the problem first so that the reader understands why wetlands might be useful as a response.</a:t>
            </a:r>
          </a:p>
          <a:p>
            <a:pPr algn="l">
              <a:spcAft>
                <a:spcPts val="800"/>
              </a:spcAft>
            </a:pPr>
            <a:r>
              <a:rPr sz="1800">
                <a:solidFill>
                  <a:srgbClr val="242B34"/>
                </a:solidFill>
                <a:latin typeface="Aptos"/>
              </a:rPr>
              <a:t/>
            </a:r>
          </a:p>
          <a:p>
            <a:pPr algn="l">
              <a:spcAft>
                <a:spcPts val="800"/>
              </a:spcAft>
            </a:pPr>
            <a:r>
              <a:rPr sz="1800">
                <a:solidFill>
                  <a:srgbClr val="242B34"/>
                </a:solidFill>
                <a:latin typeface="Aptos"/>
              </a:rPr>
              <a:t>Challenge:</a:t>
            </a:r>
          </a:p>
          <a:p>
            <a:pPr algn="l">
              <a:spcAft>
                <a:spcPts val="800"/>
              </a:spcAft>
            </a:pPr>
            <a:r>
              <a:rPr sz="1800">
                <a:solidFill>
                  <a:srgbClr val="242B34"/>
                </a:solidFill>
                <a:latin typeface="Aptos"/>
              </a:rPr>
              <a:t>The writer first explains the problem of urban rainwater, then introduces wetlands as a possible response, so that the reader understands why the solution matters.</a:t>
            </a:r>
          </a:p>
        </p:txBody>
      </p:sp>
      <p:sp>
        <p:nvSpPr>
          <p:cNvPr id="8" name="Rectangle 7"/>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THE THINKING JOURNEY</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E1AB41"/>
                </a:solidFill>
                <a:latin typeface="Aptos"/>
              </a:rPr>
              <a:t>TWO RUNNING SESSIONS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THE THINKING JOURNEY</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64</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ctr">
              <a:spcAft>
                <a:spcPts val="800"/>
              </a:spcAft>
            </a:pPr>
            <a:r>
              <a:rPr sz="2300">
                <a:solidFill>
                  <a:srgbClr val="242B34"/>
                </a:solidFill>
                <a:latin typeface="Aptos"/>
              </a:rPr>
              <a:t>🔍 1. WHY DID THE WRITER CHOOSE THIS WORD?</a:t>
            </a:r>
          </a:p>
          <a:p>
            <a:pPr algn="ctr">
              <a:spcAft>
                <a:spcPts val="800"/>
              </a:spcAft>
            </a:pPr>
            <a:r>
              <a:rPr sz="2300">
                <a:solidFill>
                  <a:srgbClr val="242B34"/>
                </a:solidFill>
                <a:latin typeface="Aptos"/>
              </a:rPr>
              <a:t/>
            </a:r>
          </a:p>
          <a:p>
            <a:pPr algn="ctr">
              <a:spcAft>
                <a:spcPts val="800"/>
              </a:spcAft>
            </a:pPr>
            <a:r>
              <a:rPr sz="2300">
                <a:solidFill>
                  <a:srgbClr val="242B34"/>
                </a:solidFill>
                <a:latin typeface="Aptos"/>
              </a:rPr>
              <a:t>↓</a:t>
            </a:r>
          </a:p>
          <a:p>
            <a:pPr algn="ctr">
              <a:spcAft>
                <a:spcPts val="800"/>
              </a:spcAft>
            </a:pPr>
            <a:r>
              <a:rPr sz="2300">
                <a:solidFill>
                  <a:srgbClr val="242B34"/>
                </a:solidFill>
                <a:latin typeface="Aptos"/>
              </a:rPr>
              <a:t/>
            </a:r>
          </a:p>
          <a:p>
            <a:pPr algn="ctr">
              <a:spcAft>
                <a:spcPts val="800"/>
              </a:spcAft>
            </a:pPr>
            <a:r>
              <a:rPr sz="2300">
                <a:solidFill>
                  <a:srgbClr val="242B34"/>
                </a:solidFill>
                <a:latin typeface="Aptos"/>
              </a:rPr>
              <a:t>🧠 2. WHAT EFFECT DOES IT CREATE?</a:t>
            </a:r>
          </a:p>
          <a:p>
            <a:pPr algn="ctr">
              <a:spcAft>
                <a:spcPts val="800"/>
              </a:spcAft>
            </a:pPr>
            <a:r>
              <a:rPr sz="2300">
                <a:solidFill>
                  <a:srgbClr val="242B34"/>
                </a:solidFill>
                <a:latin typeface="Aptos"/>
              </a:rPr>
              <a:t/>
            </a:r>
          </a:p>
          <a:p>
            <a:pPr algn="ctr">
              <a:spcAft>
                <a:spcPts val="800"/>
              </a:spcAft>
            </a:pPr>
            <a:r>
              <a:rPr sz="2300">
                <a:solidFill>
                  <a:srgbClr val="242B34"/>
                </a:solidFill>
                <a:latin typeface="Aptos"/>
              </a:rPr>
              <a:t>↓</a:t>
            </a:r>
          </a:p>
          <a:p>
            <a:pPr algn="ctr">
              <a:spcAft>
                <a:spcPts val="800"/>
              </a:spcAft>
            </a:pPr>
            <a:r>
              <a:rPr sz="2300">
                <a:solidFill>
                  <a:srgbClr val="242B34"/>
                </a:solidFill>
                <a:latin typeface="Aptos"/>
              </a:rPr>
              <a:t/>
            </a:r>
          </a:p>
          <a:p>
            <a:pPr algn="ctr">
              <a:spcAft>
                <a:spcPts val="800"/>
              </a:spcAft>
            </a:pPr>
            <a:r>
              <a:rPr sz="2300">
                <a:solidFill>
                  <a:srgbClr val="242B34"/>
                </a:solidFill>
                <a:latin typeface="Aptos"/>
              </a:rPr>
              <a:t>🗺️ 3. WHY DID THE WRITER PUT THIS IDEA HERE?</a:t>
            </a:r>
          </a:p>
          <a:p>
            <a:pPr algn="ctr">
              <a:spcAft>
                <a:spcPts val="800"/>
              </a:spcAft>
            </a:pPr>
            <a:r>
              <a:rPr sz="2300">
                <a:solidFill>
                  <a:srgbClr val="242B34"/>
                </a:solidFill>
                <a:latin typeface="Aptos"/>
              </a:rPr>
              <a:t/>
            </a:r>
          </a:p>
          <a:p>
            <a:pPr algn="ctr">
              <a:spcAft>
                <a:spcPts val="800"/>
              </a:spcAft>
            </a:pPr>
            <a:r>
              <a:rPr sz="2300">
                <a:solidFill>
                  <a:srgbClr val="242B34"/>
                </a:solidFill>
                <a:latin typeface="Aptos"/>
              </a:rPr>
              <a:t>↓</a:t>
            </a:r>
          </a:p>
          <a:p>
            <a:pPr algn="ctr">
              <a:spcAft>
                <a:spcPts val="800"/>
              </a:spcAft>
            </a:pPr>
            <a:r>
              <a:rPr sz="2300">
                <a:solidFill>
                  <a:srgbClr val="242B34"/>
                </a:solidFill>
                <a:latin typeface="Aptos"/>
              </a:rPr>
              <a:t/>
            </a:r>
          </a:p>
          <a:p>
            <a:pPr algn="ctr">
              <a:spcAft>
                <a:spcPts val="800"/>
              </a:spcAft>
            </a:pPr>
            <a:r>
              <a:rPr sz="2300">
                <a:solidFill>
                  <a:srgbClr val="242B34"/>
                </a:solidFill>
                <a:latin typeface="Aptos"/>
              </a:rPr>
              <a:t>🔗 4. HOW DOES THE ORDER HELP THE READER?</a:t>
            </a:r>
          </a:p>
        </p:txBody>
      </p:sp>
      <p:sp>
        <p:nvSpPr>
          <p:cNvPr id="8" name="Rectangle 7"/>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FINAL STUDENT TAKEAWAY</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TWO RUNNING SESSIONS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FINAL STUDENT TAKEAWAY</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65</a:t>
            </a:r>
          </a:p>
        </p:txBody>
      </p:sp>
      <p:sp>
        <p:nvSpPr>
          <p:cNvPr id="7" name="Rounded Rectangle 6"/>
          <p:cNvSpPr/>
          <p:nvPr/>
        </p:nvSpPr>
        <p:spPr>
          <a:xfrm>
            <a:off x="731520" y="1737360"/>
            <a:ext cx="5212080" cy="3383280"/>
          </a:xfrm>
          <a:prstGeom prst="roundRect">
            <a:avLst/>
          </a:prstGeom>
          <a:solidFill>
            <a:srgbClr val="E5EDF8"/>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847088"/>
            <a:ext cx="4882896" cy="411480"/>
          </a:xfrm>
          <a:prstGeom prst="rect">
            <a:avLst/>
          </a:prstGeom>
          <a:noFill/>
        </p:spPr>
        <p:txBody>
          <a:bodyPr wrap="none">
            <a:spAutoFit/>
          </a:bodyPr>
          <a:lstStyle/>
          <a:p>
            <a:r>
              <a:rPr sz="1800" b="1">
                <a:solidFill>
                  <a:srgbClr val="3F69AA"/>
                </a:solidFill>
                <a:latin typeface="Aptos Display"/>
              </a:rPr>
              <a:t>🔍 ZOOM IN — WRITER'S CHOICES</a:t>
            </a:r>
          </a:p>
        </p:txBody>
      </p:sp>
      <p:sp>
        <p:nvSpPr>
          <p:cNvPr id="9" name="TextBox 8"/>
          <p:cNvSpPr txBox="1"/>
          <p:nvPr/>
        </p:nvSpPr>
        <p:spPr>
          <a:xfrm>
            <a:off x="896112" y="2304288"/>
            <a:ext cx="4882896" cy="2670048"/>
          </a:xfrm>
          <a:prstGeom prst="rect">
            <a:avLst/>
          </a:prstGeom>
          <a:noFill/>
        </p:spPr>
        <p:txBody>
          <a:bodyPr wrap="square">
            <a:spAutoFit/>
          </a:bodyPr>
          <a:lstStyle/>
          <a:p>
            <a:r>
              <a:rPr sz="2500">
                <a:solidFill>
                  <a:srgbClr val="242B34"/>
                </a:solidFill>
                <a:latin typeface="Aptos"/>
              </a:rPr>
              <a:t>WHY THIS WORD?
Choice → Effect → Reader</a:t>
            </a:r>
          </a:p>
        </p:txBody>
      </p:sp>
      <p:sp>
        <p:nvSpPr>
          <p:cNvPr id="10" name="Rounded Rectangle 9"/>
          <p:cNvSpPr/>
          <p:nvPr/>
        </p:nvSpPr>
        <p:spPr>
          <a:xfrm>
            <a:off x="6263640" y="1737360"/>
            <a:ext cx="5212080" cy="3383280"/>
          </a:xfrm>
          <a:prstGeom prst="roundRect">
            <a:avLst/>
          </a:prstGeom>
          <a:solidFill>
            <a:srgbClr val="E2F2F0"/>
          </a:solidFill>
          <a:ln w="19050">
            <a:solidFill>
              <a:srgbClr val="32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1847088"/>
            <a:ext cx="4882896" cy="411480"/>
          </a:xfrm>
          <a:prstGeom prst="rect">
            <a:avLst/>
          </a:prstGeom>
          <a:noFill/>
        </p:spPr>
        <p:txBody>
          <a:bodyPr wrap="none">
            <a:spAutoFit/>
          </a:bodyPr>
          <a:lstStyle/>
          <a:p>
            <a:r>
              <a:rPr sz="1800" b="1">
                <a:solidFill>
                  <a:srgbClr val="329191"/>
                </a:solidFill>
                <a:latin typeface="Aptos Display"/>
              </a:rPr>
              <a:t>🗺️ ZOOM OUT — STRUCTURE</a:t>
            </a:r>
          </a:p>
        </p:txBody>
      </p:sp>
      <p:sp>
        <p:nvSpPr>
          <p:cNvPr id="12" name="TextBox 11"/>
          <p:cNvSpPr txBox="1"/>
          <p:nvPr/>
        </p:nvSpPr>
        <p:spPr>
          <a:xfrm>
            <a:off x="6428231" y="2304288"/>
            <a:ext cx="4882896" cy="2670048"/>
          </a:xfrm>
          <a:prstGeom prst="rect">
            <a:avLst/>
          </a:prstGeom>
          <a:noFill/>
        </p:spPr>
        <p:txBody>
          <a:bodyPr wrap="square">
            <a:spAutoFit/>
          </a:bodyPr>
          <a:lstStyle/>
          <a:p>
            <a:r>
              <a:rPr sz="2500">
                <a:solidFill>
                  <a:srgbClr val="242B34"/>
                </a:solidFill>
                <a:latin typeface="Aptos"/>
              </a:rPr>
              <a:t>WHY THIS ORDER?
Order → Purpose → Reader</a:t>
            </a:r>
          </a:p>
        </p:txBody>
      </p:sp>
      <p:sp>
        <p:nvSpPr>
          <p:cNvPr id="13" name="Rectangle 12"/>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HOMEWORK</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TWO RUNNING SESSIONS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WRITER + STRUCTURE CHALLENGE</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66</a:t>
            </a:r>
          </a:p>
        </p:txBody>
      </p:sp>
      <p:sp>
        <p:nvSpPr>
          <p:cNvPr id="7" name="Rounded Rectangle 6"/>
          <p:cNvSpPr/>
          <p:nvPr/>
        </p:nvSpPr>
        <p:spPr>
          <a:xfrm>
            <a:off x="777240" y="1600200"/>
            <a:ext cx="10607040" cy="1325880"/>
          </a:xfrm>
          <a:prstGeom prst="roundRect">
            <a:avLst/>
          </a:prstGeom>
          <a:solidFill>
            <a:srgbClr val="E5EDF8"/>
          </a:solidFill>
          <a:ln w="19050">
            <a:solidFill>
              <a:srgbClr val="3F6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709928"/>
            <a:ext cx="10277856" cy="411480"/>
          </a:xfrm>
          <a:prstGeom prst="rect">
            <a:avLst/>
          </a:prstGeom>
          <a:noFill/>
        </p:spPr>
        <p:txBody>
          <a:bodyPr wrap="none">
            <a:spAutoFit/>
          </a:bodyPr>
          <a:lstStyle/>
          <a:p>
            <a:r>
              <a:rPr sz="1800" b="1">
                <a:solidFill>
                  <a:srgbClr val="3F69AA"/>
                </a:solidFill>
                <a:latin typeface="Aptos Display"/>
              </a:rPr>
              <a:t>READ</a:t>
            </a:r>
          </a:p>
        </p:txBody>
      </p:sp>
      <p:sp>
        <p:nvSpPr>
          <p:cNvPr id="9" name="TextBox 8"/>
          <p:cNvSpPr txBox="1"/>
          <p:nvPr/>
        </p:nvSpPr>
        <p:spPr>
          <a:xfrm>
            <a:off x="941832" y="2167128"/>
            <a:ext cx="10277856" cy="612647"/>
          </a:xfrm>
          <a:prstGeom prst="rect">
            <a:avLst/>
          </a:prstGeom>
          <a:noFill/>
        </p:spPr>
        <p:txBody>
          <a:bodyPr wrap="square">
            <a:spAutoFit/>
          </a:bodyPr>
          <a:lstStyle/>
          <a:p>
            <a:r>
              <a:rPr sz="1600">
                <a:solidFill>
                  <a:srgbClr val="242B34"/>
                </a:solidFill>
                <a:latin typeface="Aptos"/>
              </a:rPr>
              <a:t>Some cities are also creating rain gardens beside roads and buildings. These shallow planted areas collect rainwater for a short time, allowing some of it to soak into the ground. They are not designed to replace every drain or flood-control system. Instead, they are one small part of a wider approach to managing water.</a:t>
            </a:r>
          </a:p>
        </p:txBody>
      </p:sp>
      <p:sp>
        <p:nvSpPr>
          <p:cNvPr id="10" name="TextBox 9"/>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1800">
                <a:solidFill>
                  <a:srgbClr val="242B34"/>
                </a:solidFill>
                <a:latin typeface="Aptos"/>
              </a:rPr>
              <a:t>1. Writer’s Choice: Why is “one small part” effective?</a:t>
            </a:r>
          </a:p>
          <a:p>
            <a:pPr algn="l">
              <a:spcAft>
                <a:spcPts val="800"/>
              </a:spcAft>
            </a:pPr>
            <a:r>
              <a:rPr sz="1800">
                <a:solidFill>
                  <a:srgbClr val="242B34"/>
                </a:solidFill>
                <a:latin typeface="Aptos"/>
              </a:rPr>
              <a:t/>
            </a:r>
          </a:p>
          <a:p>
            <a:pPr algn="l">
              <a:spcAft>
                <a:spcPts val="800"/>
              </a:spcAft>
            </a:pPr>
            <a:r>
              <a:rPr sz="1800">
                <a:solidFill>
                  <a:srgbClr val="242B34"/>
                </a:solidFill>
                <a:latin typeface="Aptos"/>
              </a:rPr>
              <a:t>2. Structure: Why does the writer explain what rain gardens cannot replace before giving the final idea?</a:t>
            </a:r>
          </a:p>
          <a:p>
            <a:pPr algn="l">
              <a:spcAft>
                <a:spcPts val="800"/>
              </a:spcAft>
            </a:pPr>
            <a:r>
              <a:rPr sz="1800">
                <a:solidFill>
                  <a:srgbClr val="242B34"/>
                </a:solidFill>
                <a:latin typeface="Aptos"/>
              </a:rPr>
              <a:t/>
            </a:r>
          </a:p>
          <a:p>
            <a:pPr algn="l">
              <a:spcAft>
                <a:spcPts val="800"/>
              </a:spcAft>
            </a:pPr>
            <a:r>
              <a:rPr sz="1800">
                <a:solidFill>
                  <a:srgbClr val="242B34"/>
                </a:solidFill>
                <a:latin typeface="Aptos"/>
              </a:rPr>
              <a:t>3. Challenge: Write one sentence explaining the writer’s overall message.</a:t>
            </a:r>
          </a:p>
        </p:txBody>
      </p:sp>
      <p:sp>
        <p:nvSpPr>
          <p:cNvPr id="11" name="Rectangle 10"/>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HOMEWORK — ANSWERS</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3F69AA"/>
                </a:solidFill>
                <a:latin typeface="Aptos"/>
              </a:rPr>
              <a:t>TWO RUNNING SESSIONS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HOMEWORK — ANSWERS</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67</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l">
              <a:spcAft>
                <a:spcPts val="800"/>
              </a:spcAft>
            </a:pPr>
            <a:r>
              <a:rPr sz="1800">
                <a:solidFill>
                  <a:srgbClr val="242B34"/>
                </a:solidFill>
                <a:latin typeface="Aptos"/>
              </a:rPr>
              <a:t>1. “One small part” emphasises that rain gardens are useful but limited. It helps the reader understand that several solutions may need to work together.</a:t>
            </a:r>
          </a:p>
          <a:p>
            <a:pPr algn="l">
              <a:spcAft>
                <a:spcPts val="800"/>
              </a:spcAft>
            </a:pPr>
            <a:r>
              <a:rPr sz="1800">
                <a:solidFill>
                  <a:srgbClr val="242B34"/>
                </a:solidFill>
                <a:latin typeface="Aptos"/>
              </a:rPr>
              <a:t/>
            </a:r>
          </a:p>
          <a:p>
            <a:pPr algn="l">
              <a:spcAft>
                <a:spcPts val="800"/>
              </a:spcAft>
            </a:pPr>
            <a:r>
              <a:rPr sz="1800">
                <a:solidFill>
                  <a:srgbClr val="242B34"/>
                </a:solidFill>
                <a:latin typeface="Aptos"/>
              </a:rPr>
              <a:t>2. The limitation prepares the reader for the final idea that rain gardens are part of a wider approach.</a:t>
            </a:r>
          </a:p>
          <a:p>
            <a:pPr algn="l">
              <a:spcAft>
                <a:spcPts val="800"/>
              </a:spcAft>
            </a:pPr>
            <a:r>
              <a:rPr sz="1800">
                <a:solidFill>
                  <a:srgbClr val="242B34"/>
                </a:solidFill>
                <a:latin typeface="Aptos"/>
              </a:rPr>
              <a:t/>
            </a:r>
          </a:p>
          <a:p>
            <a:pPr algn="l">
              <a:spcAft>
                <a:spcPts val="800"/>
              </a:spcAft>
            </a:pPr>
            <a:r>
              <a:rPr sz="1800">
                <a:solidFill>
                  <a:srgbClr val="242B34"/>
                </a:solidFill>
                <a:latin typeface="Aptos"/>
              </a:rPr>
              <a:t>3. Possible answer: The writer’s message is that cities can use several natural and practical methods together to manage rainwater.</a:t>
            </a:r>
          </a:p>
        </p:txBody>
      </p:sp>
      <p:sp>
        <p:nvSpPr>
          <p:cNvPr id="8" name="Rectangle 7"/>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C2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4864"/>
            <a:ext cx="6858000" cy="246888"/>
          </a:xfrm>
          <a:prstGeom prst="rect">
            <a:avLst/>
          </a:prstGeom>
          <a:noFill/>
        </p:spPr>
        <p:txBody>
          <a:bodyPr wrap="none">
            <a:spAutoFit/>
          </a:bodyPr>
          <a:lstStyle/>
          <a:p>
            <a:r>
              <a:rPr sz="1200" b="1">
                <a:solidFill>
                  <a:srgbClr val="FFFFFF"/>
                </a:solidFill>
                <a:latin typeface="Aptos Display"/>
              </a:rPr>
              <a:t>FINAL MESSAGE</a:t>
            </a:r>
          </a:p>
        </p:txBody>
      </p:sp>
      <p:sp>
        <p:nvSpPr>
          <p:cNvPr id="4" name="TextBox 3"/>
          <p:cNvSpPr txBox="1"/>
          <p:nvPr/>
        </p:nvSpPr>
        <p:spPr>
          <a:xfrm>
            <a:off x="9144000" y="45720"/>
            <a:ext cx="2514600" cy="256032"/>
          </a:xfrm>
          <a:prstGeom prst="rect">
            <a:avLst/>
          </a:prstGeom>
          <a:noFill/>
        </p:spPr>
        <p:txBody>
          <a:bodyPr wrap="none">
            <a:spAutoFit/>
          </a:bodyPr>
          <a:lstStyle/>
          <a:p>
            <a:pPr algn="r"/>
            <a:r>
              <a:rPr sz="1100" b="1">
                <a:solidFill>
                  <a:srgbClr val="E1AB41"/>
                </a:solidFill>
                <a:latin typeface="Aptos"/>
              </a:rPr>
              <a:t>TWO RUNNING SESSIONS</a:t>
            </a:r>
          </a:p>
        </p:txBody>
      </p:sp>
      <p:sp>
        <p:nvSpPr>
          <p:cNvPr id="5" name="TextBox 4"/>
          <p:cNvSpPr txBox="1"/>
          <p:nvPr/>
        </p:nvSpPr>
        <p:spPr>
          <a:xfrm>
            <a:off x="594360" y="658368"/>
            <a:ext cx="10972800" cy="914400"/>
          </a:xfrm>
          <a:prstGeom prst="rect">
            <a:avLst/>
          </a:prstGeom>
          <a:noFill/>
        </p:spPr>
        <p:txBody>
          <a:bodyPr wrap="none">
            <a:spAutoFit/>
          </a:bodyPr>
          <a:lstStyle/>
          <a:p>
            <a:r>
              <a:rPr sz="3000" b="1">
                <a:solidFill>
                  <a:srgbClr val="1C273A"/>
                </a:solidFill>
                <a:latin typeface="Aptos Display"/>
              </a:rPr>
              <a:t>🌟 FINAL MESSAGE</a:t>
            </a:r>
          </a:p>
        </p:txBody>
      </p:sp>
      <p:sp>
        <p:nvSpPr>
          <p:cNvPr id="6" name="TextBox 5"/>
          <p:cNvSpPr txBox="1"/>
          <p:nvPr/>
        </p:nvSpPr>
        <p:spPr>
          <a:xfrm>
            <a:off x="10881360" y="6510528"/>
            <a:ext cx="731520" cy="182880"/>
          </a:xfrm>
          <a:prstGeom prst="rect">
            <a:avLst/>
          </a:prstGeom>
          <a:noFill/>
        </p:spPr>
        <p:txBody>
          <a:bodyPr wrap="none">
            <a:spAutoFit/>
          </a:bodyPr>
          <a:lstStyle/>
          <a:p>
            <a:pPr algn="r"/>
            <a:r>
              <a:rPr sz="900">
                <a:solidFill>
                  <a:srgbClr val="5C6774"/>
                </a:solidFill>
                <a:latin typeface="Aptos"/>
              </a:rPr>
              <a:t>68</a:t>
            </a:r>
          </a:p>
        </p:txBody>
      </p:sp>
      <p:sp>
        <p:nvSpPr>
          <p:cNvPr id="7" name="TextBox 6"/>
          <p:cNvSpPr txBox="1"/>
          <p:nvPr/>
        </p:nvSpPr>
        <p:spPr>
          <a:xfrm>
            <a:off x="731520" y="1600200"/>
            <a:ext cx="10698480" cy="4389120"/>
          </a:xfrm>
          <a:prstGeom prst="rect">
            <a:avLst/>
          </a:prstGeom>
          <a:noFill/>
        </p:spPr>
        <p:txBody>
          <a:bodyPr wrap="square" lIns="45720" rIns="45720" anchor="t">
            <a:spAutoFit/>
          </a:bodyPr>
          <a:lstStyle/>
          <a:p>
            <a:pPr algn="ctr">
              <a:spcAft>
                <a:spcPts val="800"/>
              </a:spcAft>
            </a:pPr>
            <a:r>
              <a:rPr sz="2400">
                <a:solidFill>
                  <a:srgbClr val="242B34"/>
                </a:solidFill>
                <a:latin typeface="Aptos"/>
              </a:rPr>
              <a:t>DON'T JUST ASK:</a:t>
            </a:r>
          </a:p>
          <a:p>
            <a:pPr algn="ctr">
              <a:spcAft>
                <a:spcPts val="800"/>
              </a:spcAft>
            </a:pPr>
            <a:r>
              <a:rPr sz="2400">
                <a:solidFill>
                  <a:srgbClr val="242B34"/>
                </a:solidFill>
                <a:latin typeface="Aptos"/>
              </a:rPr>
              <a:t/>
            </a:r>
          </a:p>
          <a:p>
            <a:pPr algn="ctr">
              <a:spcAft>
                <a:spcPts val="800"/>
              </a:spcAft>
            </a:pPr>
            <a:r>
              <a:rPr sz="2400">
                <a:solidFill>
                  <a:srgbClr val="242B34"/>
                </a:solidFill>
                <a:latin typeface="Aptos"/>
              </a:rPr>
              <a:t>“WHAT DOES THE TEXT SAY?”</a:t>
            </a:r>
          </a:p>
          <a:p>
            <a:pPr algn="ctr">
              <a:spcAft>
                <a:spcPts val="800"/>
              </a:spcAft>
            </a:pPr>
            <a:r>
              <a:rPr sz="2400">
                <a:solidFill>
                  <a:srgbClr val="242B34"/>
                </a:solidFill>
                <a:latin typeface="Aptos"/>
              </a:rPr>
              <a:t/>
            </a:r>
          </a:p>
          <a:p>
            <a:pPr algn="ctr">
              <a:spcAft>
                <a:spcPts val="800"/>
              </a:spcAft>
            </a:pPr>
            <a:r>
              <a:rPr sz="2400">
                <a:solidFill>
                  <a:srgbClr val="242B34"/>
                </a:solidFill>
                <a:latin typeface="Aptos"/>
              </a:rPr>
              <a:t>ASK:</a:t>
            </a:r>
          </a:p>
          <a:p>
            <a:pPr algn="ctr">
              <a:spcAft>
                <a:spcPts val="800"/>
              </a:spcAft>
            </a:pPr>
            <a:r>
              <a:rPr sz="2400">
                <a:solidFill>
                  <a:srgbClr val="242B34"/>
                </a:solidFill>
                <a:latin typeface="Aptos"/>
              </a:rPr>
              <a:t/>
            </a:r>
          </a:p>
          <a:p>
            <a:pPr algn="ctr">
              <a:spcAft>
                <a:spcPts val="800"/>
              </a:spcAft>
            </a:pPr>
            <a:r>
              <a:rPr sz="2400">
                <a:solidFill>
                  <a:srgbClr val="242B34"/>
                </a:solidFill>
                <a:latin typeface="Aptos"/>
              </a:rPr>
              <a:t>“WHY DID THE WRITER WRITE IT THIS WAY?”</a:t>
            </a:r>
          </a:p>
          <a:p>
            <a:pPr algn="ctr">
              <a:spcAft>
                <a:spcPts val="800"/>
              </a:spcAft>
            </a:pPr>
            <a:r>
              <a:rPr sz="2400">
                <a:solidFill>
                  <a:srgbClr val="242B34"/>
                </a:solidFill>
                <a:latin typeface="Aptos"/>
              </a:rPr>
              <a:t/>
            </a:r>
          </a:p>
          <a:p>
            <a:pPr algn="ctr">
              <a:spcAft>
                <a:spcPts val="800"/>
              </a:spcAft>
            </a:pPr>
            <a:r>
              <a:rPr sz="2400">
                <a:solidFill>
                  <a:srgbClr val="242B34"/>
                </a:solidFill>
                <a:latin typeface="Aptos"/>
              </a:rPr>
              <a:t>WRITER'S CHOICES → STRUCTURE → EFFECT</a:t>
            </a:r>
          </a:p>
          <a:p>
            <a:pPr algn="ctr">
              <a:spcAft>
                <a:spcPts val="800"/>
              </a:spcAft>
            </a:pPr>
            <a:r>
              <a:rPr sz="2400">
                <a:solidFill>
                  <a:srgbClr val="242B34"/>
                </a:solidFill>
                <a:latin typeface="Aptos"/>
              </a:rPr>
              <a:t/>
            </a:r>
          </a:p>
          <a:p>
            <a:pPr algn="ctr">
              <a:spcAft>
                <a:spcPts val="800"/>
              </a:spcAft>
            </a:pPr>
            <a:r>
              <a:rPr sz="2400">
                <a:solidFill>
                  <a:srgbClr val="242B34"/>
                </a:solidFill>
                <a:latin typeface="Aptos"/>
              </a:rPr>
              <a:t>⭐ This is how we move from understanding a text to analysing a text.</a:t>
            </a:r>
          </a:p>
        </p:txBody>
      </p:sp>
      <p:sp>
        <p:nvSpPr>
          <p:cNvPr id="8" name="Rectangle 7"/>
          <p:cNvSpPr/>
          <p:nvPr/>
        </p:nvSpPr>
        <p:spPr>
          <a:xfrm>
            <a:off x="0" y="6784848"/>
            <a:ext cx="12191695" cy="73152"/>
          </a:xfrm>
          <a:prstGeom prst="rect">
            <a:avLst/>
          </a:prstGeom>
          <a:solidFill>
            <a:srgbClr val="32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