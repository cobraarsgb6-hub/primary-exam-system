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unch" id="{41B50E10-7359-1B7A-592D-B19D78EA5ADB}">
          <p14:sldIdLst>
            <p14:sldId id="256"/>
            <p14:sldId id="257"/>
            <p14:sldId id="258"/>
            <p14:sldId id="259"/>
          </p14:sldIdLst>
        </p14:section>
        <p14:section name="Skim &amp; scan" id="{00D7B24C-6546-56F4-2CF9-91C47A8944A4}">
          <p14:sldIdLst>
            <p14:sldId id="260"/>
            <p14:sldId id="261"/>
            <p14:sldId id="262"/>
            <p14:sldId id="263"/>
            <p14:sldId id="264"/>
            <p14:sldId id="265"/>
            <p14:sldId id="266"/>
            <p14:sldId id="267"/>
          </p14:sldIdLst>
        </p14:section>
        <p14:section name="Relevant information" id="{0802DB60-003F-4A06-332D-DEFFB86E806D}">
          <p14:sldIdLst>
            <p14:sldId id="268"/>
            <p14:sldId id="269"/>
            <p14:sldId id="270"/>
            <p14:sldId id="271"/>
            <p14:sldId id="272"/>
            <p14:sldId id="273"/>
            <p14:sldId id="274"/>
          </p14:sldIdLst>
        </p14:section>
        <p14:section name="Making notes" id="{0AF8AD4D-42D6-2F6C-29CD-86B8CA730D2B}">
          <p14:sldIdLst>
            <p14:sldId id="275"/>
            <p14:sldId id="276"/>
            <p14:sldId id="277"/>
            <p14:sldId id="278"/>
            <p14:sldId id="279"/>
            <p14:sldId id="280"/>
            <p14:sldId id="281"/>
          </p14:sldIdLst>
        </p14:section>
        <p14:section name="Your research" id="{2815309C-74FF-458D-4C7F-BAD2BDF2BDB3}">
          <p14:sldIdLst>
            <p14:sldId id="282"/>
            <p14:sldId id="283"/>
            <p14:sldId id="284"/>
            <p14:sldId id="285"/>
            <p14:sldId id="286"/>
            <p14:sldId id="287"/>
          </p14:sldIdLst>
        </p14:section>
        <p14:section name="Wrap up" id="{CB7F4C6F-1A78-C88C-AD34-647E219BFA22}">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4610"/>
  </p:normalViewPr>
  <p:slideViewPr>
    <p:cSldViewPr snapToGrid="0" snapToObjects="1">
      <p:cViewPr varScale="1">
        <p:scale>
          <a:sx n="144" d="100"/>
          <a:sy n="144" d="100"/>
        </p:scale>
        <p:origin x="10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670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6 English | 80 min | Non-chronological report | Purpose: inform/explain. Main outcome: students select relevant information from a source and turn it into concise notes under appropriate report headings. Pearson 3.1 task, purpose, audience; 3.2 select, organise, sequence, group, prepare information before writing; 3.3 begin selecting vocabulary and grammar for factual writing.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AF7F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74320"/>
            <a:ext cx="7315200" cy="685800"/>
          </a:xfrm>
          <a:prstGeom prst="rect">
            <a:avLst/>
          </a:prstGeom>
          <a:noFill/>
          <a:ln/>
        </p:spPr>
        <p:txBody>
          <a:bodyPr wrap="square" rtlCol="0"/>
          <a:lstStyle>
            <a:lvl1pPr marL="0" indent="0">
              <a:buNone/>
              <a:defRPr lang="en-US" sz="2600" b="1" dirty="0">
                <a:solidFill>
                  <a:srgbClr val="0A3D4A"/>
                </a:solidFill>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3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74320"/>
            <a:ext cx="7315200" cy="685800"/>
          </a:xfrm>
          <a:prstGeom prst="rect">
            <a:avLst/>
          </a:prstGeom>
          <a:noFill/>
          <a:ln/>
        </p:spPr>
        <p:txBody>
          <a:bodyPr wrap="square" rtlCol="0"/>
          <a:lstStyle>
            <a:lvl1pPr marL="0" indent="0">
              <a:buNone/>
              <a:defRPr lang="en-US" sz="2600" b="1" dirty="0">
                <a:solidFill>
                  <a:srgbClr val="FFFFFF"/>
                </a:solidFill>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D3D8"/>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A3D4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691640"/>
            <a:ext cx="4206240" cy="1371600"/>
          </a:xfrm>
          <a:prstGeom prst="rect">
            <a:avLst/>
          </a:prstGeom>
          <a:noFill/>
          <a:ln/>
        </p:spPr>
        <p:txBody>
          <a:bodyPr wrap="square" rtlCol="0"/>
          <a:lstStyle>
            <a:lvl1pPr marL="0" indent="0">
              <a:buNone/>
              <a:defRPr lang="en-US" sz="4000" b="1" dirty="0">
                <a:solidFill>
                  <a:srgbClr val="FFC857"/>
                </a:solidFill>
              </a:defRPr>
            </a:lvl1pPr>
          </a:lstStyle>
          <a:p>
            <a:pPr marL="0" indent="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217920" y="-1280160"/>
            <a:ext cx="4389120" cy="4389120"/>
          </a:xfrm>
          <a:prstGeom prst="ellipse">
            <a:avLst/>
          </a:prstGeom>
          <a:solidFill>
            <a:srgbClr val="0E7C86">
              <a:alpha val="40000"/>
            </a:srgbClr>
          </a:solidFill>
          <a:ln/>
        </p:spPr>
      </p:sp>
      <p:sp>
        <p:nvSpPr>
          <p:cNvPr id="4" name="Shape 1"/>
          <p:cNvSpPr/>
          <p:nvPr/>
        </p:nvSpPr>
        <p:spPr>
          <a:xfrm>
            <a:off x="548640" y="457200"/>
            <a:ext cx="1097280" cy="1097280"/>
          </a:xfrm>
          <a:prstGeom prst="ellipse">
            <a:avLst/>
          </a:prstGeom>
          <a:solidFill>
            <a:srgbClr val="FF6B5E"/>
          </a:solidFill>
          <a:ln/>
        </p:spPr>
      </p:sp>
      <p:sp>
        <p:nvSpPr>
          <p:cNvPr id="5" name="Text 2"/>
          <p:cNvSpPr txBox="1"/>
          <p:nvPr/>
        </p:nvSpPr>
        <p:spPr>
          <a:xfrm>
            <a:off x="548640" y="457200"/>
            <a:ext cx="1097280" cy="1097280"/>
          </a:xfrm>
          <a:prstGeom prst="rect">
            <a:avLst/>
          </a:prstGeom>
          <a:noFill/>
          <a:ln/>
        </p:spPr>
        <p:txBody>
          <a:bodyPr wrap="square" lIns="0" tIns="0" rIns="0" bIns="0" rtlCol="0" anchor="ctr"/>
          <a:lstStyle/>
          <a:p>
            <a:pPr marL="0" indent="0" algn="ctr">
              <a:buNone/>
            </a:pPr>
            <a:r>
              <a:rPr lang="en-US" sz="4400" b="1" dirty="0">
                <a:solidFill>
                  <a:srgbClr val="FFFFFF"/>
                </a:solidFill>
              </a:rPr>
              <a:t>🔍</a:t>
            </a:r>
            <a:endParaRPr lang="en-US" sz="4400" dirty="0"/>
          </a:p>
        </p:txBody>
      </p:sp>
      <p:sp>
        <p:nvSpPr>
          <p:cNvPr id="6" name="Text 0"/>
          <p:cNvSpPr>
            <a:spLocks noGrp="1"/>
          </p:cNvSpPr>
          <p:nvPr>
            <p:ph type="title" idx="100" hasCustomPrompt="1"/>
          </p:nvPr>
        </p:nvSpPr>
        <p:spPr>
          <a:xfrm>
            <a:off x="548640" y="1691640"/>
            <a:ext cx="4206240" cy="1371600"/>
          </a:xfrm>
          <a:prstGeom prst="rect">
            <a:avLst/>
          </a:prstGeom>
          <a:noFill/>
          <a:ln/>
        </p:spPr>
        <p:txBody>
          <a:bodyPr wrap="square" rtlCol="0" anchor="t"/>
          <a:lstStyle/>
          <a:p>
            <a:pPr marL="0" indent="0">
              <a:buNone/>
            </a:pPr>
            <a:r>
              <a:rPr lang="en-US" sz="4000" b="1" dirty="0">
                <a:solidFill>
                  <a:srgbClr val="FFC857"/>
                </a:solidFill>
              </a:rPr>
              <a:t>RESEARCH DETECTIVES</a:t>
            </a:r>
            <a:endParaRPr lang="en-US" sz="4000" dirty="0"/>
          </a:p>
        </p:txBody>
      </p:sp>
      <p:sp>
        <p:nvSpPr>
          <p:cNvPr id="7" name="Text 4"/>
          <p:cNvSpPr txBox="1"/>
          <p:nvPr/>
        </p:nvSpPr>
        <p:spPr>
          <a:xfrm>
            <a:off x="548640" y="3108960"/>
            <a:ext cx="4206240" cy="457200"/>
          </a:xfrm>
          <a:prstGeom prst="rect">
            <a:avLst/>
          </a:prstGeom>
          <a:noFill/>
          <a:ln/>
        </p:spPr>
        <p:txBody>
          <a:bodyPr wrap="square" lIns="0" tIns="0" rIns="0" bIns="0" rtlCol="0" anchor="t"/>
          <a:lstStyle/>
          <a:p>
            <a:pPr marL="0" indent="0">
              <a:buNone/>
            </a:pPr>
            <a:r>
              <a:rPr lang="en-US" sz="2200" b="1" dirty="0">
                <a:solidFill>
                  <a:srgbClr val="FFFFFF"/>
                </a:solidFill>
              </a:rPr>
              <a:t>Skim • Scan • Select • Note</a:t>
            </a:r>
            <a:endParaRPr lang="en-US" sz="2200" dirty="0"/>
          </a:p>
        </p:txBody>
      </p:sp>
      <p:sp>
        <p:nvSpPr>
          <p:cNvPr id="8" name="Text 5"/>
          <p:cNvSpPr txBox="1"/>
          <p:nvPr/>
        </p:nvSpPr>
        <p:spPr>
          <a:xfrm>
            <a:off x="548640" y="3611880"/>
            <a:ext cx="4206240" cy="274320"/>
          </a:xfrm>
          <a:prstGeom prst="rect">
            <a:avLst/>
          </a:prstGeom>
          <a:noFill/>
          <a:ln/>
        </p:spPr>
        <p:txBody>
          <a:bodyPr wrap="square" lIns="0" tIns="0" rIns="0" bIns="0" rtlCol="0" anchor="t"/>
          <a:lstStyle/>
          <a:p>
            <a:pPr marL="0" indent="0">
              <a:buNone/>
            </a:pPr>
            <a:r>
              <a:rPr lang="en-US" sz="1300" dirty="0">
                <a:solidFill>
                  <a:srgbClr val="8FD3D8"/>
                </a:solidFill>
              </a:rPr>
              <a:t>Year 6 English · 80 minutes · Non-chronological report</a:t>
            </a:r>
            <a:endParaRPr lang="en-US" sz="1300" dirty="0"/>
          </a:p>
        </p:txBody>
      </p:sp>
      <p:sp>
        <p:nvSpPr>
          <p:cNvPr id="9" name="Shape 6"/>
          <p:cNvSpPr/>
          <p:nvPr/>
        </p:nvSpPr>
        <p:spPr>
          <a:xfrm>
            <a:off x="5029200" y="457200"/>
            <a:ext cx="3657600" cy="4297680"/>
          </a:xfrm>
          <a:prstGeom prst="roundRect">
            <a:avLst>
              <a:gd name="adj" fmla="val 3750"/>
            </a:avLst>
          </a:prstGeom>
          <a:solidFill>
            <a:srgbClr val="FFFFFF"/>
          </a:solidFill>
          <a:ln/>
          <a:effectLst>
            <a:outerShdw blurRad="76200" dist="25400" dir="5400000" algn="bl" rotWithShape="0">
              <a:srgbClr val="000000">
                <a:alpha val="15000"/>
              </a:srgbClr>
            </a:outerShdw>
          </a:effectLst>
        </p:spPr>
      </p:sp>
      <p:sp>
        <p:nvSpPr>
          <p:cNvPr id="10" name="Text 7"/>
          <p:cNvSpPr txBox="1"/>
          <p:nvPr/>
        </p:nvSpPr>
        <p:spPr>
          <a:xfrm>
            <a:off x="5257800" y="685800"/>
            <a:ext cx="3200400" cy="1280160"/>
          </a:xfrm>
          <a:prstGeom prst="rect">
            <a:avLst/>
          </a:prstGeom>
          <a:noFill/>
          <a:ln/>
        </p:spPr>
        <p:txBody>
          <a:bodyPr wrap="square" lIns="0" tIns="0" rIns="0" bIns="0" rtlCol="0" anchor="t"/>
          <a:lstStyle/>
          <a:p>
            <a:pPr marL="0" indent="0">
              <a:buNone/>
            </a:pPr>
            <a:r>
              <a:rPr lang="en-US" sz="1700" b="1" dirty="0">
                <a:solidFill>
                  <a:srgbClr val="0E7C86"/>
                </a:solidFill>
              </a:rPr>
              <a:t>Today we will learn how to find the information we actually need for a report.</a:t>
            </a:r>
            <a:endParaRPr lang="en-US" sz="1700" dirty="0"/>
          </a:p>
        </p:txBody>
      </p:sp>
      <p:sp>
        <p:nvSpPr>
          <p:cNvPr id="11" name="Shape 8"/>
          <p:cNvSpPr/>
          <p:nvPr/>
        </p:nvSpPr>
        <p:spPr>
          <a:xfrm>
            <a:off x="5257800" y="2194560"/>
            <a:ext cx="1508760" cy="1097280"/>
          </a:xfrm>
          <a:prstGeom prst="roundRect">
            <a:avLst>
              <a:gd name="adj" fmla="val 12500"/>
            </a:avLst>
          </a:prstGeom>
          <a:solidFill>
            <a:srgbClr val="FF6B5E"/>
          </a:solidFill>
          <a:ln/>
          <a:effectLst>
            <a:outerShdw blurRad="76200" dist="25400" dir="5400000" algn="bl" rotWithShape="0">
              <a:srgbClr val="000000">
                <a:alpha val="15000"/>
              </a:srgbClr>
            </a:outerShdw>
          </a:effectLst>
        </p:spPr>
      </p:sp>
      <p:sp>
        <p:nvSpPr>
          <p:cNvPr id="12" name="Text 9"/>
          <p:cNvSpPr txBox="1"/>
          <p:nvPr/>
        </p:nvSpPr>
        <p:spPr>
          <a:xfrm>
            <a:off x="5257800" y="2286000"/>
            <a:ext cx="1508760" cy="457200"/>
          </a:xfrm>
          <a:prstGeom prst="rect">
            <a:avLst/>
          </a:prstGeom>
          <a:noFill/>
          <a:ln/>
        </p:spPr>
        <p:txBody>
          <a:bodyPr wrap="square" lIns="0" tIns="0" rIns="0" bIns="0" rtlCol="0" anchor="t"/>
          <a:lstStyle/>
          <a:p>
            <a:pPr marL="0" indent="0" algn="ctr">
              <a:buNone/>
            </a:pPr>
            <a:r>
              <a:rPr lang="en-US" sz="2400" dirty="0">
                <a:solidFill>
                  <a:srgbClr val="0A3D4A"/>
                </a:solidFill>
              </a:rPr>
              <a:t>👀</a:t>
            </a:r>
            <a:endParaRPr lang="en-US" sz="2400" dirty="0"/>
          </a:p>
        </p:txBody>
      </p:sp>
      <p:sp>
        <p:nvSpPr>
          <p:cNvPr id="13" name="Text 10"/>
          <p:cNvSpPr txBox="1"/>
          <p:nvPr/>
        </p:nvSpPr>
        <p:spPr>
          <a:xfrm>
            <a:off x="5257800" y="2788920"/>
            <a:ext cx="1508760" cy="365760"/>
          </a:xfrm>
          <a:prstGeom prst="rect">
            <a:avLst/>
          </a:prstGeom>
          <a:noFill/>
          <a:ln/>
        </p:spPr>
        <p:txBody>
          <a:bodyPr wrap="square" lIns="0" tIns="0" rIns="0" bIns="0" rtlCol="0" anchor="t"/>
          <a:lstStyle/>
          <a:p>
            <a:pPr marL="0" indent="0" algn="ctr">
              <a:buNone/>
            </a:pPr>
            <a:r>
              <a:rPr lang="en-US" sz="1600" b="1" dirty="0">
                <a:solidFill>
                  <a:srgbClr val="FFFFFF"/>
                </a:solidFill>
              </a:rPr>
              <a:t>SKIM</a:t>
            </a:r>
            <a:endParaRPr lang="en-US" sz="1600" dirty="0"/>
          </a:p>
        </p:txBody>
      </p:sp>
      <p:sp>
        <p:nvSpPr>
          <p:cNvPr id="14" name="Shape 11"/>
          <p:cNvSpPr/>
          <p:nvPr/>
        </p:nvSpPr>
        <p:spPr>
          <a:xfrm>
            <a:off x="6903720" y="2194560"/>
            <a:ext cx="1508760" cy="1097280"/>
          </a:xfrm>
          <a:prstGeom prst="roundRect">
            <a:avLst>
              <a:gd name="adj" fmla="val 12500"/>
            </a:avLst>
          </a:prstGeom>
          <a:solidFill>
            <a:srgbClr val="0E7C86"/>
          </a:solidFill>
          <a:ln/>
          <a:effectLst>
            <a:outerShdw blurRad="76200" dist="25400" dir="5400000" algn="bl" rotWithShape="0">
              <a:srgbClr val="000000">
                <a:alpha val="15000"/>
              </a:srgbClr>
            </a:outerShdw>
          </a:effectLst>
        </p:spPr>
      </p:sp>
      <p:sp>
        <p:nvSpPr>
          <p:cNvPr id="15" name="Text 12"/>
          <p:cNvSpPr txBox="1"/>
          <p:nvPr/>
        </p:nvSpPr>
        <p:spPr>
          <a:xfrm>
            <a:off x="6903720" y="2286000"/>
            <a:ext cx="1508760" cy="457200"/>
          </a:xfrm>
          <a:prstGeom prst="rect">
            <a:avLst/>
          </a:prstGeom>
          <a:noFill/>
          <a:ln/>
        </p:spPr>
        <p:txBody>
          <a:bodyPr wrap="square" lIns="0" tIns="0" rIns="0" bIns="0" rtlCol="0" anchor="t"/>
          <a:lstStyle/>
          <a:p>
            <a:pPr marL="0" indent="0" algn="ctr">
              <a:buNone/>
            </a:pPr>
            <a:r>
              <a:rPr lang="en-US" sz="2400" dirty="0">
                <a:solidFill>
                  <a:srgbClr val="0A3D4A"/>
                </a:solidFill>
              </a:rPr>
              <a:t>🔎</a:t>
            </a:r>
            <a:endParaRPr lang="en-US" sz="2400" dirty="0"/>
          </a:p>
        </p:txBody>
      </p:sp>
      <p:sp>
        <p:nvSpPr>
          <p:cNvPr id="16" name="Text 13"/>
          <p:cNvSpPr txBox="1"/>
          <p:nvPr/>
        </p:nvSpPr>
        <p:spPr>
          <a:xfrm>
            <a:off x="6903720" y="2788920"/>
            <a:ext cx="1508760" cy="365760"/>
          </a:xfrm>
          <a:prstGeom prst="rect">
            <a:avLst/>
          </a:prstGeom>
          <a:noFill/>
          <a:ln/>
        </p:spPr>
        <p:txBody>
          <a:bodyPr wrap="square" lIns="0" tIns="0" rIns="0" bIns="0" rtlCol="0" anchor="t"/>
          <a:lstStyle/>
          <a:p>
            <a:pPr marL="0" indent="0" algn="ctr">
              <a:buNone/>
            </a:pPr>
            <a:r>
              <a:rPr lang="en-US" sz="1600" b="1" dirty="0">
                <a:solidFill>
                  <a:srgbClr val="FFFFFF"/>
                </a:solidFill>
              </a:rPr>
              <a:t>SCAN</a:t>
            </a:r>
            <a:endParaRPr lang="en-US" sz="1600" dirty="0"/>
          </a:p>
        </p:txBody>
      </p:sp>
      <p:sp>
        <p:nvSpPr>
          <p:cNvPr id="17" name="Shape 14"/>
          <p:cNvSpPr/>
          <p:nvPr/>
        </p:nvSpPr>
        <p:spPr>
          <a:xfrm>
            <a:off x="5257800" y="3429000"/>
            <a:ext cx="1508760" cy="1097280"/>
          </a:xfrm>
          <a:prstGeom prst="roundRect">
            <a:avLst>
              <a:gd name="adj" fmla="val 12500"/>
            </a:avLst>
          </a:prstGeom>
          <a:solidFill>
            <a:srgbClr val="3A86C8"/>
          </a:solidFill>
          <a:ln/>
          <a:effectLst>
            <a:outerShdw blurRad="76200" dist="25400" dir="5400000" algn="bl" rotWithShape="0">
              <a:srgbClr val="000000">
                <a:alpha val="15000"/>
              </a:srgbClr>
            </a:outerShdw>
          </a:effectLst>
        </p:spPr>
      </p:sp>
      <p:sp>
        <p:nvSpPr>
          <p:cNvPr id="18" name="Text 15"/>
          <p:cNvSpPr txBox="1"/>
          <p:nvPr/>
        </p:nvSpPr>
        <p:spPr>
          <a:xfrm>
            <a:off x="5257800" y="3520440"/>
            <a:ext cx="1508760" cy="457200"/>
          </a:xfrm>
          <a:prstGeom prst="rect">
            <a:avLst/>
          </a:prstGeom>
          <a:noFill/>
          <a:ln/>
        </p:spPr>
        <p:txBody>
          <a:bodyPr wrap="square" lIns="0" tIns="0" rIns="0" bIns="0" rtlCol="0" anchor="t"/>
          <a:lstStyle/>
          <a:p>
            <a:pPr marL="0" indent="0" algn="ctr">
              <a:buNone/>
            </a:pPr>
            <a:r>
              <a:rPr lang="en-US" sz="2400" dirty="0">
                <a:solidFill>
                  <a:srgbClr val="0A3D4A"/>
                </a:solidFill>
              </a:rPr>
              <a:t>🎯</a:t>
            </a:r>
            <a:endParaRPr lang="en-US" sz="2400" dirty="0"/>
          </a:p>
        </p:txBody>
      </p:sp>
      <p:sp>
        <p:nvSpPr>
          <p:cNvPr id="19" name="Text 16"/>
          <p:cNvSpPr txBox="1"/>
          <p:nvPr/>
        </p:nvSpPr>
        <p:spPr>
          <a:xfrm>
            <a:off x="5257800" y="4023360"/>
            <a:ext cx="1508760" cy="365760"/>
          </a:xfrm>
          <a:prstGeom prst="rect">
            <a:avLst/>
          </a:prstGeom>
          <a:noFill/>
          <a:ln/>
        </p:spPr>
        <p:txBody>
          <a:bodyPr wrap="square" lIns="0" tIns="0" rIns="0" bIns="0" rtlCol="0" anchor="t"/>
          <a:lstStyle/>
          <a:p>
            <a:pPr marL="0" indent="0" algn="ctr">
              <a:buNone/>
            </a:pPr>
            <a:r>
              <a:rPr lang="en-US" sz="1600" b="1" dirty="0">
                <a:solidFill>
                  <a:srgbClr val="FFFFFF"/>
                </a:solidFill>
              </a:rPr>
              <a:t>SELECT</a:t>
            </a:r>
            <a:endParaRPr lang="en-US" sz="1600" dirty="0"/>
          </a:p>
        </p:txBody>
      </p:sp>
      <p:sp>
        <p:nvSpPr>
          <p:cNvPr id="20" name="Shape 17"/>
          <p:cNvSpPr/>
          <p:nvPr/>
        </p:nvSpPr>
        <p:spPr>
          <a:xfrm>
            <a:off x="6903720" y="3429000"/>
            <a:ext cx="1508760" cy="1097280"/>
          </a:xfrm>
          <a:prstGeom prst="roundRect">
            <a:avLst>
              <a:gd name="adj" fmla="val 12500"/>
            </a:avLst>
          </a:prstGeom>
          <a:solidFill>
            <a:srgbClr val="7B5EA7"/>
          </a:solidFill>
          <a:ln/>
          <a:effectLst>
            <a:outerShdw blurRad="76200" dist="25400" dir="5400000" algn="bl" rotWithShape="0">
              <a:srgbClr val="000000">
                <a:alpha val="15000"/>
              </a:srgbClr>
            </a:outerShdw>
          </a:effectLst>
        </p:spPr>
      </p:sp>
      <p:sp>
        <p:nvSpPr>
          <p:cNvPr id="21" name="Text 18"/>
          <p:cNvSpPr txBox="1"/>
          <p:nvPr/>
        </p:nvSpPr>
        <p:spPr>
          <a:xfrm>
            <a:off x="6903720" y="3520440"/>
            <a:ext cx="1508760" cy="457200"/>
          </a:xfrm>
          <a:prstGeom prst="rect">
            <a:avLst/>
          </a:prstGeom>
          <a:noFill/>
          <a:ln/>
        </p:spPr>
        <p:txBody>
          <a:bodyPr wrap="square" lIns="0" tIns="0" rIns="0" bIns="0" rtlCol="0" anchor="t"/>
          <a:lstStyle/>
          <a:p>
            <a:pPr marL="0" indent="0" algn="ctr">
              <a:buNone/>
            </a:pPr>
            <a:r>
              <a:rPr lang="en-US" sz="2400" dirty="0">
                <a:solidFill>
                  <a:srgbClr val="0A3D4A"/>
                </a:solidFill>
              </a:rPr>
              <a:t>📝</a:t>
            </a:r>
            <a:endParaRPr lang="en-US" sz="2400" dirty="0"/>
          </a:p>
        </p:txBody>
      </p:sp>
      <p:sp>
        <p:nvSpPr>
          <p:cNvPr id="22" name="Text 19"/>
          <p:cNvSpPr txBox="1"/>
          <p:nvPr/>
        </p:nvSpPr>
        <p:spPr>
          <a:xfrm>
            <a:off x="6903720" y="4023360"/>
            <a:ext cx="1508760" cy="365760"/>
          </a:xfrm>
          <a:prstGeom prst="rect">
            <a:avLst/>
          </a:prstGeom>
          <a:noFill/>
          <a:ln/>
        </p:spPr>
        <p:txBody>
          <a:bodyPr wrap="square" lIns="0" tIns="0" rIns="0" bIns="0" rtlCol="0" anchor="t"/>
          <a:lstStyle/>
          <a:p>
            <a:pPr marL="0" indent="0" algn="ctr">
              <a:buNone/>
            </a:pPr>
            <a:r>
              <a:rPr lang="en-US" sz="1600" b="1" dirty="0">
                <a:solidFill>
                  <a:srgbClr val="FFFFFF"/>
                </a:solidFill>
              </a:rPr>
              <a:t>NOTE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WHAT DO YOU REMEMBER?</a:t>
            </a:r>
            <a:endParaRPr lang="en-US" sz="2600" dirty="0"/>
          </a:p>
        </p:txBody>
      </p:sp>
      <p:sp>
        <p:nvSpPr>
          <p:cNvPr id="7" name="Text 5"/>
          <p:cNvSpPr txBox="1"/>
          <p:nvPr/>
        </p:nvSpPr>
        <p:spPr>
          <a:xfrm>
            <a:off x="457200" y="1234440"/>
            <a:ext cx="8229600" cy="822960"/>
          </a:xfrm>
          <a:prstGeom prst="rect">
            <a:avLst/>
          </a:prstGeom>
          <a:noFill/>
          <a:ln/>
        </p:spPr>
        <p:txBody>
          <a:bodyPr wrap="square" lIns="0" tIns="0" rIns="0" bIns="0" rtlCol="0" anchor="t"/>
          <a:lstStyle/>
          <a:p>
            <a:pPr marL="0" indent="0">
              <a:buNone/>
            </a:pPr>
            <a:r>
              <a:rPr lang="en-US" sz="2200" b="1" dirty="0">
                <a:solidFill>
                  <a:srgbClr val="0A3D4A"/>
                </a:solidFill>
              </a:rPr>
              <a:t>What is a non-chronological report?</a:t>
            </a:r>
            <a:endParaRPr lang="en-US" sz="2200" dirty="0"/>
          </a:p>
        </p:txBody>
      </p:sp>
      <p:sp>
        <p:nvSpPr>
          <p:cNvPr id="8" name="Shape 6"/>
          <p:cNvSpPr/>
          <p:nvPr/>
        </p:nvSpPr>
        <p:spPr>
          <a:xfrm>
            <a:off x="45720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2491740"/>
            <a:ext cx="548640" cy="548640"/>
          </a:xfrm>
          <a:prstGeom prst="ellipse">
            <a:avLst/>
          </a:prstGeom>
          <a:solidFill>
            <a:srgbClr val="FF6B5E"/>
          </a:solidFill>
          <a:ln/>
        </p:spPr>
      </p:sp>
      <p:sp>
        <p:nvSpPr>
          <p:cNvPr id="10" name="Text 8"/>
          <p:cNvSpPr txBox="1"/>
          <p:nvPr/>
        </p:nvSpPr>
        <p:spPr>
          <a:xfrm>
            <a:off x="64008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A story about events in time order</a:t>
            </a:r>
            <a:endParaRPr lang="en-US" sz="1600" dirty="0"/>
          </a:p>
        </p:txBody>
      </p:sp>
      <p:sp>
        <p:nvSpPr>
          <p:cNvPr id="12" name="Shape 10"/>
          <p:cNvSpPr/>
          <p:nvPr/>
        </p:nvSpPr>
        <p:spPr>
          <a:xfrm>
            <a:off x="4663440" y="21488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4846320" y="2491740"/>
            <a:ext cx="548640" cy="548640"/>
          </a:xfrm>
          <a:prstGeom prst="ellipse">
            <a:avLst/>
          </a:prstGeom>
          <a:solidFill>
            <a:srgbClr val="0E7C86"/>
          </a:solidFill>
          <a:ln/>
        </p:spPr>
      </p:sp>
      <p:sp>
        <p:nvSpPr>
          <p:cNvPr id="14" name="Text 12"/>
          <p:cNvSpPr txBox="1"/>
          <p:nvPr/>
        </p:nvSpPr>
        <p:spPr>
          <a:xfrm>
            <a:off x="4846320" y="24917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2219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A text that gives factual information organised by topic</a:t>
            </a:r>
            <a:endParaRPr lang="en-US" sz="1600" dirty="0"/>
          </a:p>
        </p:txBody>
      </p:sp>
      <p:sp>
        <p:nvSpPr>
          <p:cNvPr id="16" name="Shape 14"/>
          <p:cNvSpPr/>
          <p:nvPr/>
        </p:nvSpPr>
        <p:spPr>
          <a:xfrm>
            <a:off x="45720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640080" y="3863340"/>
            <a:ext cx="548640" cy="548640"/>
          </a:xfrm>
          <a:prstGeom prst="ellipse">
            <a:avLst/>
          </a:prstGeom>
          <a:solidFill>
            <a:srgbClr val="3A86C8"/>
          </a:solidFill>
          <a:ln/>
        </p:spPr>
      </p:sp>
      <p:sp>
        <p:nvSpPr>
          <p:cNvPr id="18" name="Text 16"/>
          <p:cNvSpPr txBox="1"/>
          <p:nvPr/>
        </p:nvSpPr>
        <p:spPr>
          <a:xfrm>
            <a:off x="64008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A personal diary</a:t>
            </a:r>
            <a:endParaRPr lang="en-US" sz="1600" dirty="0"/>
          </a:p>
        </p:txBody>
      </p:sp>
      <p:sp>
        <p:nvSpPr>
          <p:cNvPr id="20" name="Shape 18"/>
          <p:cNvSpPr/>
          <p:nvPr/>
        </p:nvSpPr>
        <p:spPr>
          <a:xfrm>
            <a:off x="4663440" y="3520440"/>
            <a:ext cx="4023360" cy="1234440"/>
          </a:xfrm>
          <a:prstGeom prst="roundRect">
            <a:avLst>
              <a:gd name="adj" fmla="val 11111"/>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4846320" y="3863340"/>
            <a:ext cx="548640" cy="548640"/>
          </a:xfrm>
          <a:prstGeom prst="ellipse">
            <a:avLst/>
          </a:prstGeom>
          <a:solidFill>
            <a:srgbClr val="7B5EA7"/>
          </a:solidFill>
          <a:ln/>
        </p:spPr>
      </p:sp>
      <p:sp>
        <p:nvSpPr>
          <p:cNvPr id="22" name="Text 20"/>
          <p:cNvSpPr txBox="1"/>
          <p:nvPr/>
        </p:nvSpPr>
        <p:spPr>
          <a:xfrm>
            <a:off x="4846320" y="38633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93592"/>
            <a:ext cx="2971800" cy="1088136"/>
          </a:xfrm>
          <a:prstGeom prst="rect">
            <a:avLst/>
          </a:prstGeom>
          <a:noFill/>
          <a:ln/>
        </p:spPr>
        <p:txBody>
          <a:bodyPr wrap="square" lIns="0" tIns="0" rIns="0" bIns="0" rtlCol="0" anchor="ctr"/>
          <a:lstStyle/>
          <a:p>
            <a:pPr marL="0" indent="0">
              <a:buNone/>
            </a:pPr>
            <a:r>
              <a:rPr lang="en-US" sz="1600" dirty="0">
                <a:solidFill>
                  <a:srgbClr val="0A3D4A"/>
                </a:solidFill>
              </a:rPr>
              <a:t>A letter to a friend</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B</a:t>
            </a:r>
            <a:endParaRPr lang="en-US" sz="28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A text that gives factual information organised by topic</a:t>
            </a:r>
            <a:endParaRPr lang="en-US" sz="2000"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 </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1700" b="1" dirty="0">
                <a:solidFill>
                  <a:srgbClr val="FFC857"/>
                </a:solidFill>
              </a:rPr>
              <a:t>Remember: </a:t>
            </a:r>
            <a:r>
              <a:rPr lang="en-US" sz="1700" b="1" dirty="0">
                <a:solidFill>
                  <a:srgbClr val="FFFFFF"/>
                </a:solidFill>
              </a:rPr>
              <a:t>Report = facts organised by topic</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2359152" y="64008"/>
            <a:ext cx="658368" cy="658368"/>
          </a:xfrm>
          <a:prstGeom prst="ellipse">
            <a:avLst/>
          </a:prstGeom>
          <a:solidFill>
            <a:srgbClr val="FF6B5E"/>
          </a:solidFill>
          <a:ln/>
        </p:spPr>
        <p:txBody>
          <a:bodyPr/>
          <a:lstStyle/>
          <a:p>
            <a:endParaRPr lang="en-US" dirty="0"/>
          </a:p>
        </p:txBody>
      </p:sp>
      <p:sp>
        <p:nvSpPr>
          <p:cNvPr id="5" name="Text 3"/>
          <p:cNvSpPr txBox="1"/>
          <p:nvPr/>
        </p:nvSpPr>
        <p:spPr>
          <a:xfrm>
            <a:off x="1938528" y="109728"/>
            <a:ext cx="658368" cy="658368"/>
          </a:xfrm>
          <a:prstGeom prst="rect">
            <a:avLst/>
          </a:prstGeom>
          <a:noFill/>
          <a:ln/>
        </p:spPr>
        <p:txBody>
          <a:bodyPr wrap="square" lIns="0" tIns="0" rIns="0" bIns="0" rtlCol="0" anchor="ctr"/>
          <a:lstStyle/>
          <a:p>
            <a:pPr marL="0" indent="0" algn="ctr">
              <a:buNone/>
            </a:pP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OUR RESEARCH MISSION</a:t>
            </a:r>
            <a:endParaRPr lang="en-US" sz="2600" dirty="0"/>
          </a:p>
        </p:txBody>
      </p:sp>
      <p:sp>
        <p:nvSpPr>
          <p:cNvPr id="7" name="Text 5"/>
          <p:cNvSpPr txBox="1"/>
          <p:nvPr/>
        </p:nvSpPr>
        <p:spPr>
          <a:xfrm>
            <a:off x="457200" y="787312"/>
            <a:ext cx="8229600" cy="548640"/>
          </a:xfrm>
          <a:prstGeom prst="rect">
            <a:avLst/>
          </a:prstGeom>
          <a:noFill/>
          <a:ln/>
        </p:spPr>
        <p:txBody>
          <a:bodyPr wrap="square" lIns="0" tIns="0" rIns="0" bIns="0" rtlCol="0" anchor="t"/>
          <a:lstStyle/>
          <a:p>
            <a:pPr marL="0" indent="0">
              <a:buNone/>
            </a:pPr>
            <a:r>
              <a:rPr lang="en-US" sz="1400" dirty="0">
                <a:solidFill>
                  <a:srgbClr val="0A3D4A"/>
                </a:solidFill>
              </a:rPr>
              <a:t>Imagine you have been asked: </a:t>
            </a:r>
          </a:p>
          <a:p>
            <a:pPr marL="0" indent="0">
              <a:buNone/>
            </a:pPr>
            <a:r>
              <a:rPr lang="en-US" sz="1400" b="1" dirty="0">
                <a:solidFill>
                  <a:srgbClr val="0A3D4A"/>
                </a:solidFill>
              </a:rPr>
              <a:t>Write a report about a creature that is in danger.</a:t>
            </a:r>
          </a:p>
          <a:p>
            <a:pPr marL="0" indent="0">
              <a:buNone/>
            </a:pPr>
            <a:r>
              <a:rPr lang="en-US" sz="1400" dirty="0">
                <a:solidFill>
                  <a:srgbClr val="0A3D4A"/>
                </a:solidFill>
              </a:rPr>
              <a:t> Your report needs information about:</a:t>
            </a:r>
            <a:endParaRPr lang="en-US" sz="1400" dirty="0"/>
          </a:p>
        </p:txBody>
      </p:sp>
      <p:sp>
        <p:nvSpPr>
          <p:cNvPr id="8" name="Shape 6"/>
          <p:cNvSpPr/>
          <p:nvPr/>
        </p:nvSpPr>
        <p:spPr>
          <a:xfrm>
            <a:off x="457200" y="1554480"/>
            <a:ext cx="2560320" cy="219456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737360"/>
            <a:ext cx="566928" cy="566928"/>
          </a:xfrm>
          <a:prstGeom prst="ellipse">
            <a:avLst/>
          </a:prstGeom>
          <a:solidFill>
            <a:srgbClr val="FF6B5E"/>
          </a:solidFill>
          <a:ln/>
        </p:spPr>
      </p:sp>
      <p:sp>
        <p:nvSpPr>
          <p:cNvPr id="10" name="Text 8"/>
          <p:cNvSpPr txBox="1"/>
          <p:nvPr/>
        </p:nvSpPr>
        <p:spPr>
          <a:xfrm>
            <a:off x="64008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737360"/>
            <a:ext cx="1508760" cy="566928"/>
          </a:xfrm>
          <a:prstGeom prst="rect">
            <a:avLst/>
          </a:prstGeom>
          <a:noFill/>
          <a:ln/>
        </p:spPr>
        <p:txBody>
          <a:bodyPr wrap="square" lIns="0" tIns="0" rIns="0" bIns="0" rtlCol="0" anchor="ctr"/>
          <a:lstStyle/>
          <a:p>
            <a:pPr marL="0" indent="0">
              <a:buNone/>
            </a:pPr>
            <a:r>
              <a:rPr lang="en-US" sz="1400" b="1" dirty="0">
                <a:solidFill>
                  <a:srgbClr val="FF6B5E"/>
                </a:solidFill>
              </a:rPr>
              <a:t>1. THE CREATURE</a:t>
            </a:r>
            <a:endParaRPr lang="en-US" sz="1400" dirty="0"/>
          </a:p>
        </p:txBody>
      </p:sp>
      <p:sp>
        <p:nvSpPr>
          <p:cNvPr id="12" name="Text 10"/>
          <p:cNvSpPr txBox="1"/>
          <p:nvPr/>
        </p:nvSpPr>
        <p:spPr>
          <a:xfrm>
            <a:off x="640080" y="2514600"/>
            <a:ext cx="2194560" cy="1143000"/>
          </a:xfrm>
          <a:prstGeom prst="rect">
            <a:avLst/>
          </a:prstGeom>
          <a:noFill/>
          <a:ln/>
        </p:spPr>
        <p:txBody>
          <a:bodyPr wrap="square" lIns="0" tIns="0" rIns="0" bIns="0" rtlCol="0" anchor="t"/>
          <a:lstStyle/>
          <a:p>
            <a:pPr marL="0" indent="0">
              <a:buNone/>
            </a:pPr>
            <a:r>
              <a:rPr lang="en-US" sz="1800" b="1" dirty="0">
                <a:solidFill>
                  <a:srgbClr val="0A3D4A"/>
                </a:solidFill>
              </a:rPr>
              <a:t>What is it like?</a:t>
            </a:r>
            <a:endParaRPr lang="en-US" sz="1800" dirty="0"/>
          </a:p>
        </p:txBody>
      </p:sp>
      <p:sp>
        <p:nvSpPr>
          <p:cNvPr id="13" name="Shape 11"/>
          <p:cNvSpPr/>
          <p:nvPr/>
        </p:nvSpPr>
        <p:spPr>
          <a:xfrm>
            <a:off x="3291840" y="1554480"/>
            <a:ext cx="2560320" cy="219456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737360"/>
            <a:ext cx="566928" cy="566928"/>
          </a:xfrm>
          <a:prstGeom prst="ellipse">
            <a:avLst/>
          </a:prstGeom>
          <a:solidFill>
            <a:srgbClr val="0E7C86"/>
          </a:solidFill>
          <a:ln/>
        </p:spPr>
      </p:sp>
      <p:sp>
        <p:nvSpPr>
          <p:cNvPr id="15" name="Text 13"/>
          <p:cNvSpPr txBox="1"/>
          <p:nvPr/>
        </p:nvSpPr>
        <p:spPr>
          <a:xfrm>
            <a:off x="347472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737360"/>
            <a:ext cx="1508760" cy="566928"/>
          </a:xfrm>
          <a:prstGeom prst="rect">
            <a:avLst/>
          </a:prstGeom>
          <a:noFill/>
          <a:ln/>
        </p:spPr>
        <p:txBody>
          <a:bodyPr wrap="square" lIns="0" tIns="0" rIns="0" bIns="0" rtlCol="0" anchor="ctr"/>
          <a:lstStyle/>
          <a:p>
            <a:pPr marL="0" indent="0">
              <a:buNone/>
            </a:pPr>
            <a:r>
              <a:rPr lang="en-US" sz="1400" b="1" dirty="0">
                <a:solidFill>
                  <a:srgbClr val="0E7C86"/>
                </a:solidFill>
              </a:rPr>
              <a:t>2. THE THREATS</a:t>
            </a:r>
            <a:endParaRPr lang="en-US" sz="1400" dirty="0"/>
          </a:p>
        </p:txBody>
      </p:sp>
      <p:sp>
        <p:nvSpPr>
          <p:cNvPr id="17" name="Text 15"/>
          <p:cNvSpPr txBox="1"/>
          <p:nvPr/>
        </p:nvSpPr>
        <p:spPr>
          <a:xfrm>
            <a:off x="3474720" y="2514600"/>
            <a:ext cx="2194560" cy="1143000"/>
          </a:xfrm>
          <a:prstGeom prst="rect">
            <a:avLst/>
          </a:prstGeom>
          <a:noFill/>
          <a:ln/>
        </p:spPr>
        <p:txBody>
          <a:bodyPr wrap="square" lIns="0" tIns="0" rIns="0" bIns="0" rtlCol="0" anchor="t"/>
          <a:lstStyle/>
          <a:p>
            <a:pPr marL="0" indent="0">
              <a:buNone/>
            </a:pPr>
            <a:r>
              <a:rPr lang="en-US" sz="1800" b="1" dirty="0">
                <a:solidFill>
                  <a:srgbClr val="0A3D4A"/>
                </a:solidFill>
              </a:rPr>
              <a:t>What dangers does it face?</a:t>
            </a:r>
            <a:endParaRPr lang="en-US" sz="1800" dirty="0"/>
          </a:p>
        </p:txBody>
      </p:sp>
      <p:sp>
        <p:nvSpPr>
          <p:cNvPr id="18" name="Shape 16"/>
          <p:cNvSpPr/>
          <p:nvPr/>
        </p:nvSpPr>
        <p:spPr>
          <a:xfrm>
            <a:off x="6126480" y="1554480"/>
            <a:ext cx="2560320" cy="219456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737360"/>
            <a:ext cx="566928" cy="566928"/>
          </a:xfrm>
          <a:prstGeom prst="ellipse">
            <a:avLst/>
          </a:prstGeom>
          <a:solidFill>
            <a:srgbClr val="7B5EA7"/>
          </a:solidFill>
          <a:ln/>
        </p:spPr>
      </p:sp>
      <p:sp>
        <p:nvSpPr>
          <p:cNvPr id="20" name="Text 18"/>
          <p:cNvSpPr txBox="1"/>
          <p:nvPr/>
        </p:nvSpPr>
        <p:spPr>
          <a:xfrm>
            <a:off x="630936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7040880" y="1737360"/>
            <a:ext cx="1508760" cy="566928"/>
          </a:xfrm>
          <a:prstGeom prst="rect">
            <a:avLst/>
          </a:prstGeom>
          <a:noFill/>
          <a:ln/>
        </p:spPr>
        <p:txBody>
          <a:bodyPr wrap="square" lIns="0" tIns="0" rIns="0" bIns="0" rtlCol="0" anchor="ctr"/>
          <a:lstStyle/>
          <a:p>
            <a:pPr marL="0" indent="0">
              <a:buNone/>
            </a:pPr>
            <a:r>
              <a:rPr lang="en-US" sz="1400" b="1" dirty="0">
                <a:solidFill>
                  <a:srgbClr val="7B5EA7"/>
                </a:solidFill>
              </a:rPr>
              <a:t>3. PROTECTION</a:t>
            </a:r>
            <a:endParaRPr lang="en-US" sz="1400" dirty="0"/>
          </a:p>
        </p:txBody>
      </p:sp>
      <p:sp>
        <p:nvSpPr>
          <p:cNvPr id="22" name="Text 20"/>
          <p:cNvSpPr txBox="1"/>
          <p:nvPr/>
        </p:nvSpPr>
        <p:spPr>
          <a:xfrm>
            <a:off x="6309360" y="2514600"/>
            <a:ext cx="2194560" cy="1143000"/>
          </a:xfrm>
          <a:prstGeom prst="rect">
            <a:avLst/>
          </a:prstGeom>
          <a:noFill/>
          <a:ln/>
        </p:spPr>
        <p:txBody>
          <a:bodyPr wrap="square" lIns="0" tIns="0" rIns="0" bIns="0" rtlCol="0" anchor="t"/>
          <a:lstStyle/>
          <a:p>
            <a:pPr marL="0" indent="0">
              <a:buNone/>
            </a:pPr>
            <a:r>
              <a:rPr lang="en-US" sz="1800" b="1" dirty="0">
                <a:solidFill>
                  <a:srgbClr val="0A3D4A"/>
                </a:solidFill>
              </a:rPr>
              <a:t>What is being done to help it?</a:t>
            </a:r>
            <a:endParaRPr lang="en-US" sz="1800" dirty="0"/>
          </a:p>
        </p:txBody>
      </p:sp>
      <p:sp>
        <p:nvSpPr>
          <p:cNvPr id="23" name="Shape 21"/>
          <p:cNvSpPr/>
          <p:nvPr/>
        </p:nvSpPr>
        <p:spPr>
          <a:xfrm>
            <a:off x="457200" y="388620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731520" y="388620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BIG QUESTION </a:t>
            </a:r>
            <a:r>
              <a:rPr lang="en-US" sz="2000" b="1" dirty="0">
                <a:solidFill>
                  <a:srgbClr val="FFFFFF"/>
                </a:solidFill>
              </a:rPr>
              <a:t>How do we find only the information we need?</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DON'T COPY EVERYTHING!</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i="1" dirty="0">
                <a:solidFill>
                  <a:srgbClr val="4A6B73"/>
                </a:solidFill>
              </a:rPr>
              <a:t>Imagine you find this page:</a:t>
            </a:r>
            <a:endParaRPr lang="en-US" dirty="0"/>
          </a:p>
        </p:txBody>
      </p:sp>
      <p:sp>
        <p:nvSpPr>
          <p:cNvPr id="8" name="Shape 6"/>
          <p:cNvSpPr/>
          <p:nvPr/>
        </p:nvSpPr>
        <p:spPr>
          <a:xfrm>
            <a:off x="457200" y="1280160"/>
            <a:ext cx="8229600" cy="2331720"/>
          </a:xfrm>
          <a:prstGeom prst="roundRect">
            <a:avLst>
              <a:gd name="adj" fmla="val 5882"/>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731520" y="1371600"/>
            <a:ext cx="7680960" cy="2148840"/>
          </a:xfrm>
          <a:prstGeom prst="rect">
            <a:avLst/>
          </a:prstGeom>
          <a:noFill/>
          <a:ln/>
        </p:spPr>
        <p:txBody>
          <a:bodyPr wrap="square" lIns="0" tIns="0" rIns="0" bIns="0" rtlCol="0" anchor="ctr"/>
          <a:lstStyle/>
          <a:p>
            <a:pPr marL="0" indent="0">
              <a:buNone/>
            </a:pPr>
            <a:r>
              <a:rPr lang="en-US" sz="1500" i="1" dirty="0">
                <a:solidFill>
                  <a:srgbClr val="0A3D4A"/>
                </a:solidFill>
              </a:rPr>
              <a:t>Sea turtles are marine reptiles that have existed for millions of years. There are seven species of sea turtle. They live in oceans around the world. Most sea turtles eat jellyfish, seagrass, algae or small sea animals. Female sea turtles return to beaches to lay their eggs. Sea turtles can travel thousands of kilometres during their lives. They face many dangers, including plastic pollution, fishing equipment and the destruction of nesting beaches. Many organisations work to protect sea turtles by protecting nesting areas and reducing threats in the ocean.</a:t>
            </a:r>
            <a:endParaRPr lang="en-US" sz="1500" dirty="0"/>
          </a:p>
        </p:txBody>
      </p:sp>
      <p:sp>
        <p:nvSpPr>
          <p:cNvPr id="10" name="Shape 8"/>
          <p:cNvSpPr/>
          <p:nvPr/>
        </p:nvSpPr>
        <p:spPr>
          <a:xfrm>
            <a:off x="457200" y="3840480"/>
            <a:ext cx="8229600" cy="594360"/>
          </a:xfrm>
          <a:prstGeom prst="roundRect">
            <a:avLst>
              <a:gd name="adj" fmla="val 23077"/>
            </a:avLst>
          </a:prstGeom>
          <a:solidFill>
            <a:srgbClr val="FF6B5E"/>
          </a:solidFill>
          <a:ln/>
          <a:effectLst>
            <a:outerShdw blurRad="76200" dist="25400" dir="5400000" algn="bl" rotWithShape="0">
              <a:srgbClr val="000000">
                <a:alpha val="15000"/>
              </a:srgbClr>
            </a:outerShdw>
          </a:effectLst>
        </p:spPr>
      </p:sp>
      <p:sp>
        <p:nvSpPr>
          <p:cNvPr id="11" name="Text 9"/>
          <p:cNvSpPr txBox="1"/>
          <p:nvPr/>
        </p:nvSpPr>
        <p:spPr>
          <a:xfrm>
            <a:off x="731520" y="3840480"/>
            <a:ext cx="7680960" cy="594360"/>
          </a:xfrm>
          <a:prstGeom prst="rect">
            <a:avLst/>
          </a:prstGeom>
          <a:noFill/>
          <a:ln/>
        </p:spPr>
        <p:txBody>
          <a:bodyPr wrap="square" lIns="0" tIns="0" rIns="0" bIns="0" rtlCol="0" anchor="ctr"/>
          <a:lstStyle/>
          <a:p>
            <a:pPr marL="0" indent="0">
              <a:buNone/>
            </a:pPr>
            <a:r>
              <a:rPr lang="en-US" sz="2000" b="1" dirty="0">
                <a:highlight>
                  <a:srgbClr val="FFFF00"/>
                </a:highlight>
              </a:rPr>
              <a:t>QUESTION</a:t>
            </a:r>
            <a:r>
              <a:rPr lang="en-US" sz="2000" b="1" dirty="0">
                <a:solidFill>
                  <a:srgbClr val="FFC857"/>
                </a:solidFill>
              </a:rPr>
              <a:t> </a:t>
            </a:r>
            <a:r>
              <a:rPr lang="en-US" sz="2000" b="1" dirty="0">
                <a:solidFill>
                  <a:srgbClr val="FFFFFF"/>
                </a:solidFill>
              </a:rPr>
              <a:t>Do you need to copy every sentence?</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NO!</a:t>
            </a:r>
            <a:endParaRPr lang="en-US" sz="2600" dirty="0"/>
          </a:p>
        </p:txBody>
      </p:sp>
      <p:sp>
        <p:nvSpPr>
          <p:cNvPr id="7" name="Shape 5"/>
          <p:cNvSpPr/>
          <p:nvPr/>
        </p:nvSpPr>
        <p:spPr>
          <a:xfrm>
            <a:off x="457200" y="1188720"/>
            <a:ext cx="2560320" cy="3520440"/>
          </a:xfrm>
          <a:prstGeom prst="roundRect">
            <a:avLst>
              <a:gd name="adj" fmla="val 5357"/>
            </a:avLst>
          </a:prstGeom>
          <a:solidFill>
            <a:srgbClr val="FF6B5E"/>
          </a:solidFill>
          <a:ln/>
          <a:effectLst>
            <a:outerShdw blurRad="76200" dist="25400" dir="5400000" algn="bl" rotWithShape="0">
              <a:srgbClr val="000000">
                <a:alpha val="15000"/>
              </a:srgbClr>
            </a:outerShdw>
          </a:effectLst>
        </p:spPr>
      </p:sp>
      <p:sp>
        <p:nvSpPr>
          <p:cNvPr id="8" name="Text 6"/>
          <p:cNvSpPr txBox="1"/>
          <p:nvPr/>
        </p:nvSpPr>
        <p:spPr>
          <a:xfrm>
            <a:off x="457200" y="1554480"/>
            <a:ext cx="2560320" cy="1097280"/>
          </a:xfrm>
          <a:prstGeom prst="rect">
            <a:avLst/>
          </a:prstGeom>
          <a:noFill/>
          <a:ln/>
        </p:spPr>
        <p:txBody>
          <a:bodyPr wrap="square" lIns="0" tIns="0" rIns="0" bIns="0" rtlCol="0" anchor="t"/>
          <a:lstStyle/>
          <a:p>
            <a:pPr marL="0" indent="0" algn="ctr">
              <a:buNone/>
            </a:pPr>
            <a:r>
              <a:rPr lang="en-US" sz="6000" b="1" dirty="0">
                <a:solidFill>
                  <a:srgbClr val="FFFFFF"/>
                </a:solidFill>
              </a:rPr>
              <a:t>NO!</a:t>
            </a:r>
            <a:endParaRPr lang="en-US" sz="6000" dirty="0"/>
          </a:p>
        </p:txBody>
      </p:sp>
      <p:sp>
        <p:nvSpPr>
          <p:cNvPr id="9" name="Text 7"/>
          <p:cNvSpPr txBox="1"/>
          <p:nvPr/>
        </p:nvSpPr>
        <p:spPr>
          <a:xfrm>
            <a:off x="640080" y="2926080"/>
            <a:ext cx="2194560" cy="1188720"/>
          </a:xfrm>
          <a:prstGeom prst="rect">
            <a:avLst/>
          </a:prstGeom>
          <a:noFill/>
          <a:ln/>
        </p:spPr>
        <p:txBody>
          <a:bodyPr wrap="square" lIns="0" tIns="0" rIns="0" bIns="0" rtlCol="0" anchor="t"/>
          <a:lstStyle/>
          <a:p>
            <a:pPr marL="0" indent="0" algn="ctr">
              <a:buNone/>
            </a:pPr>
            <a:r>
              <a:rPr lang="en-US" sz="2200" b="1" dirty="0">
                <a:solidFill>
                  <a:srgbClr val="FFFFFF"/>
                </a:solidFill>
              </a:rPr>
              <a:t>Research ≠ copying</a:t>
            </a:r>
            <a:endParaRPr lang="en-US" sz="2200" dirty="0"/>
          </a:p>
        </p:txBody>
      </p:sp>
      <p:sp>
        <p:nvSpPr>
          <p:cNvPr id="10" name="Text 8"/>
          <p:cNvSpPr txBox="1"/>
          <p:nvPr/>
        </p:nvSpPr>
        <p:spPr>
          <a:xfrm>
            <a:off x="3200400" y="995901"/>
            <a:ext cx="5394960" cy="502920"/>
          </a:xfrm>
          <a:prstGeom prst="rect">
            <a:avLst/>
          </a:prstGeom>
          <a:noFill/>
          <a:ln/>
        </p:spPr>
        <p:txBody>
          <a:bodyPr wrap="square" lIns="0" tIns="0" rIns="0" bIns="0" rtlCol="0" anchor="t"/>
          <a:lstStyle/>
          <a:p>
            <a:pPr marL="0" indent="0">
              <a:buNone/>
            </a:pPr>
            <a:r>
              <a:rPr lang="en-US" dirty="0">
                <a:solidFill>
                  <a:srgbClr val="0A3D4A"/>
                </a:solidFill>
              </a:rPr>
              <a:t>A good researcher does </a:t>
            </a:r>
            <a:r>
              <a:rPr lang="en-US" b="1" dirty="0">
                <a:solidFill>
                  <a:srgbClr val="0A3D4A"/>
                </a:solidFill>
              </a:rPr>
              <a:t>not</a:t>
            </a:r>
            <a:r>
              <a:rPr lang="en-US" dirty="0">
                <a:solidFill>
                  <a:srgbClr val="0A3D4A"/>
                </a:solidFill>
              </a:rPr>
              <a:t> copy everything.</a:t>
            </a:r>
          </a:p>
          <a:p>
            <a:pPr marL="0" indent="0">
              <a:buNone/>
            </a:pPr>
            <a:r>
              <a:rPr lang="en-US" dirty="0">
                <a:solidFill>
                  <a:srgbClr val="0A3D4A"/>
                </a:solidFill>
              </a:rPr>
              <a:t>A good researcher:</a:t>
            </a:r>
            <a:endParaRPr lang="en-US" dirty="0"/>
          </a:p>
        </p:txBody>
      </p:sp>
      <p:sp>
        <p:nvSpPr>
          <p:cNvPr id="11" name="Shape 9"/>
          <p:cNvSpPr/>
          <p:nvPr/>
        </p:nvSpPr>
        <p:spPr>
          <a:xfrm>
            <a:off x="3291840" y="1783080"/>
            <a:ext cx="53949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2" name="Shape 10"/>
          <p:cNvSpPr/>
          <p:nvPr/>
        </p:nvSpPr>
        <p:spPr>
          <a:xfrm>
            <a:off x="3401568" y="1865376"/>
            <a:ext cx="338328" cy="338328"/>
          </a:xfrm>
          <a:prstGeom prst="ellipse">
            <a:avLst/>
          </a:prstGeom>
          <a:solidFill>
            <a:srgbClr val="FF6B5E"/>
          </a:solidFill>
          <a:ln/>
        </p:spPr>
      </p:sp>
      <p:sp>
        <p:nvSpPr>
          <p:cNvPr id="13" name="Text 11"/>
          <p:cNvSpPr txBox="1"/>
          <p:nvPr/>
        </p:nvSpPr>
        <p:spPr>
          <a:xfrm>
            <a:off x="3401568" y="1865376"/>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4" name="Text 12"/>
          <p:cNvSpPr txBox="1"/>
          <p:nvPr/>
        </p:nvSpPr>
        <p:spPr>
          <a:xfrm>
            <a:off x="3886200" y="1783080"/>
            <a:ext cx="4663440" cy="502920"/>
          </a:xfrm>
          <a:prstGeom prst="rect">
            <a:avLst/>
          </a:prstGeom>
          <a:noFill/>
          <a:ln/>
        </p:spPr>
        <p:txBody>
          <a:bodyPr wrap="square" lIns="0" tIns="0" rIns="0" bIns="0" rtlCol="0" anchor="ctr"/>
          <a:lstStyle/>
          <a:p>
            <a:pPr marL="0" indent="0">
              <a:buNone/>
            </a:pPr>
            <a:r>
              <a:rPr lang="en-US" b="1" dirty="0">
                <a:solidFill>
                  <a:srgbClr val="0A3D4A"/>
                </a:solidFill>
              </a:rPr>
              <a:t>Knows</a:t>
            </a:r>
            <a:r>
              <a:rPr lang="en-US" dirty="0">
                <a:solidFill>
                  <a:srgbClr val="0A3D4A"/>
                </a:solidFill>
              </a:rPr>
              <a:t> what information is needed.</a:t>
            </a:r>
            <a:endParaRPr lang="en-US" dirty="0"/>
          </a:p>
        </p:txBody>
      </p:sp>
      <p:sp>
        <p:nvSpPr>
          <p:cNvPr id="15" name="Shape 13"/>
          <p:cNvSpPr/>
          <p:nvPr/>
        </p:nvSpPr>
        <p:spPr>
          <a:xfrm>
            <a:off x="3291840" y="2368296"/>
            <a:ext cx="53949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16" name="Shape 14"/>
          <p:cNvSpPr/>
          <p:nvPr/>
        </p:nvSpPr>
        <p:spPr>
          <a:xfrm>
            <a:off x="3401568" y="2450592"/>
            <a:ext cx="338328" cy="338328"/>
          </a:xfrm>
          <a:prstGeom prst="ellipse">
            <a:avLst/>
          </a:prstGeom>
          <a:solidFill>
            <a:srgbClr val="0E7C86"/>
          </a:solidFill>
          <a:ln/>
        </p:spPr>
      </p:sp>
      <p:sp>
        <p:nvSpPr>
          <p:cNvPr id="17" name="Text 15"/>
          <p:cNvSpPr txBox="1"/>
          <p:nvPr/>
        </p:nvSpPr>
        <p:spPr>
          <a:xfrm>
            <a:off x="3401568" y="2450592"/>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8" name="Text 16"/>
          <p:cNvSpPr txBox="1"/>
          <p:nvPr/>
        </p:nvSpPr>
        <p:spPr>
          <a:xfrm>
            <a:off x="3886200" y="2368296"/>
            <a:ext cx="4663440" cy="502920"/>
          </a:xfrm>
          <a:prstGeom prst="rect">
            <a:avLst/>
          </a:prstGeom>
          <a:noFill/>
          <a:ln/>
        </p:spPr>
        <p:txBody>
          <a:bodyPr wrap="square" lIns="0" tIns="0" rIns="0" bIns="0" rtlCol="0" anchor="ctr"/>
          <a:lstStyle/>
          <a:p>
            <a:pPr marL="0" indent="0">
              <a:buNone/>
            </a:pPr>
            <a:r>
              <a:rPr lang="en-US" b="1" dirty="0">
                <a:solidFill>
                  <a:srgbClr val="0A3D4A"/>
                </a:solidFill>
              </a:rPr>
              <a:t>Finds</a:t>
            </a:r>
            <a:r>
              <a:rPr lang="en-US" dirty="0">
                <a:solidFill>
                  <a:srgbClr val="0A3D4A"/>
                </a:solidFill>
              </a:rPr>
              <a:t> relevant information.</a:t>
            </a:r>
            <a:endParaRPr lang="en-US" dirty="0"/>
          </a:p>
        </p:txBody>
      </p:sp>
      <p:sp>
        <p:nvSpPr>
          <p:cNvPr id="19" name="Shape 17"/>
          <p:cNvSpPr/>
          <p:nvPr/>
        </p:nvSpPr>
        <p:spPr>
          <a:xfrm>
            <a:off x="3291840" y="2953512"/>
            <a:ext cx="53949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20" name="Shape 18"/>
          <p:cNvSpPr/>
          <p:nvPr/>
        </p:nvSpPr>
        <p:spPr>
          <a:xfrm>
            <a:off x="3401568" y="3035808"/>
            <a:ext cx="338328" cy="338328"/>
          </a:xfrm>
          <a:prstGeom prst="ellipse">
            <a:avLst/>
          </a:prstGeom>
          <a:solidFill>
            <a:srgbClr val="3A86C8"/>
          </a:solidFill>
          <a:ln/>
        </p:spPr>
      </p:sp>
      <p:sp>
        <p:nvSpPr>
          <p:cNvPr id="21" name="Text 19"/>
          <p:cNvSpPr txBox="1"/>
          <p:nvPr/>
        </p:nvSpPr>
        <p:spPr>
          <a:xfrm>
            <a:off x="3401568" y="3035808"/>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2" name="Text 20"/>
          <p:cNvSpPr txBox="1"/>
          <p:nvPr/>
        </p:nvSpPr>
        <p:spPr>
          <a:xfrm>
            <a:off x="3886200" y="2953512"/>
            <a:ext cx="4663440" cy="502920"/>
          </a:xfrm>
          <a:prstGeom prst="rect">
            <a:avLst/>
          </a:prstGeom>
          <a:noFill/>
          <a:ln/>
        </p:spPr>
        <p:txBody>
          <a:bodyPr wrap="square" lIns="0" tIns="0" rIns="0" bIns="0" rtlCol="0" anchor="ctr"/>
          <a:lstStyle/>
          <a:p>
            <a:pPr marL="0" indent="0">
              <a:buNone/>
            </a:pPr>
            <a:r>
              <a:rPr lang="en-US" b="1" dirty="0">
                <a:solidFill>
                  <a:srgbClr val="0A3D4A"/>
                </a:solidFill>
              </a:rPr>
              <a:t>Records</a:t>
            </a:r>
            <a:r>
              <a:rPr lang="en-US" dirty="0">
                <a:solidFill>
                  <a:srgbClr val="0A3D4A"/>
                </a:solidFill>
              </a:rPr>
              <a:t> the important points.</a:t>
            </a:r>
            <a:endParaRPr lang="en-US" dirty="0"/>
          </a:p>
        </p:txBody>
      </p:sp>
      <p:sp>
        <p:nvSpPr>
          <p:cNvPr id="23" name="Shape 21"/>
          <p:cNvSpPr/>
          <p:nvPr/>
        </p:nvSpPr>
        <p:spPr>
          <a:xfrm>
            <a:off x="3291840" y="3538728"/>
            <a:ext cx="53949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24" name="Shape 22"/>
          <p:cNvSpPr/>
          <p:nvPr/>
        </p:nvSpPr>
        <p:spPr>
          <a:xfrm>
            <a:off x="3401568" y="3621024"/>
            <a:ext cx="338328" cy="338328"/>
          </a:xfrm>
          <a:prstGeom prst="ellipse">
            <a:avLst/>
          </a:prstGeom>
          <a:solidFill>
            <a:srgbClr val="7B5EA7"/>
          </a:solidFill>
          <a:ln/>
        </p:spPr>
      </p:sp>
      <p:sp>
        <p:nvSpPr>
          <p:cNvPr id="25" name="Text 23"/>
          <p:cNvSpPr txBox="1"/>
          <p:nvPr/>
        </p:nvSpPr>
        <p:spPr>
          <a:xfrm>
            <a:off x="3401568" y="3621024"/>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6" name="Text 24"/>
          <p:cNvSpPr txBox="1"/>
          <p:nvPr/>
        </p:nvSpPr>
        <p:spPr>
          <a:xfrm>
            <a:off x="3886200" y="3538728"/>
            <a:ext cx="4663440" cy="502920"/>
          </a:xfrm>
          <a:prstGeom prst="rect">
            <a:avLst/>
          </a:prstGeom>
          <a:noFill/>
          <a:ln/>
        </p:spPr>
        <p:txBody>
          <a:bodyPr wrap="square" lIns="0" tIns="0" rIns="0" bIns="0" rtlCol="0" anchor="ctr"/>
          <a:lstStyle/>
          <a:p>
            <a:pPr marL="0" indent="0">
              <a:buNone/>
            </a:pPr>
            <a:r>
              <a:rPr lang="en-US" b="1" dirty="0">
                <a:solidFill>
                  <a:srgbClr val="0A3D4A"/>
                </a:solidFill>
              </a:rPr>
              <a:t>Organises</a:t>
            </a:r>
            <a:r>
              <a:rPr lang="en-US" dirty="0">
                <a:solidFill>
                  <a:srgbClr val="0A3D4A"/>
                </a:solidFill>
              </a:rPr>
              <a:t> the notes.</a:t>
            </a:r>
            <a:endParaRPr lang="en-US" dirty="0"/>
          </a:p>
        </p:txBody>
      </p:sp>
      <p:sp>
        <p:nvSpPr>
          <p:cNvPr id="27" name="Shape 25"/>
          <p:cNvSpPr/>
          <p:nvPr/>
        </p:nvSpPr>
        <p:spPr>
          <a:xfrm>
            <a:off x="3291840" y="4123944"/>
            <a:ext cx="5394960" cy="502920"/>
          </a:xfrm>
          <a:prstGeom prst="roundRect">
            <a:avLst>
              <a:gd name="adj" fmla="val 27273"/>
            </a:avLst>
          </a:prstGeom>
          <a:solidFill>
            <a:srgbClr val="FFFFFF"/>
          </a:solidFill>
          <a:ln/>
          <a:effectLst>
            <a:outerShdw blurRad="76200" dist="25400" dir="5400000" algn="bl" rotWithShape="0">
              <a:srgbClr val="000000">
                <a:alpha val="15000"/>
              </a:srgbClr>
            </a:outerShdw>
          </a:effectLst>
        </p:spPr>
      </p:sp>
      <p:sp>
        <p:nvSpPr>
          <p:cNvPr id="28" name="Shape 26"/>
          <p:cNvSpPr/>
          <p:nvPr/>
        </p:nvSpPr>
        <p:spPr>
          <a:xfrm>
            <a:off x="3401568" y="4206240"/>
            <a:ext cx="338328" cy="338328"/>
          </a:xfrm>
          <a:prstGeom prst="ellipse">
            <a:avLst/>
          </a:prstGeom>
          <a:solidFill>
            <a:srgbClr val="2BB673"/>
          </a:solidFill>
          <a:ln/>
        </p:spPr>
      </p:sp>
      <p:sp>
        <p:nvSpPr>
          <p:cNvPr id="29" name="Text 27"/>
          <p:cNvSpPr txBox="1"/>
          <p:nvPr/>
        </p:nvSpPr>
        <p:spPr>
          <a:xfrm>
            <a:off x="3401568" y="420624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0" name="Text 28"/>
          <p:cNvSpPr txBox="1"/>
          <p:nvPr/>
        </p:nvSpPr>
        <p:spPr>
          <a:xfrm>
            <a:off x="3886200" y="4123944"/>
            <a:ext cx="4663440" cy="502920"/>
          </a:xfrm>
          <a:prstGeom prst="rect">
            <a:avLst/>
          </a:prstGeom>
          <a:noFill/>
          <a:ln/>
        </p:spPr>
        <p:txBody>
          <a:bodyPr wrap="square" lIns="0" tIns="0" rIns="0" bIns="0" rtlCol="0" anchor="ctr"/>
          <a:lstStyle/>
          <a:p>
            <a:pPr marL="0" indent="0">
              <a:buNone/>
            </a:pPr>
            <a:r>
              <a:rPr lang="en-US" sz="1600" b="1" dirty="0">
                <a:solidFill>
                  <a:srgbClr val="0A3D4A"/>
                </a:solidFill>
              </a:rPr>
              <a:t>Uses</a:t>
            </a:r>
            <a:r>
              <a:rPr lang="en-US" sz="1600" dirty="0">
                <a:solidFill>
                  <a:srgbClr val="0A3D4A"/>
                </a:solidFill>
              </a:rPr>
              <a:t> the notes later to write in their own words.</a:t>
            </a:r>
            <a:endParaRPr lang="en-US" sz="1600" dirty="0"/>
          </a:p>
        </p:txBody>
      </p:sp>
      <p:sp>
        <p:nvSpPr>
          <p:cNvPr id="31"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SKIM</a:t>
            </a:r>
            <a:endParaRPr lang="en-US" sz="2600" dirty="0"/>
          </a:p>
        </p:txBody>
      </p:sp>
      <p:sp>
        <p:nvSpPr>
          <p:cNvPr id="7" name="Text 5"/>
          <p:cNvSpPr txBox="1"/>
          <p:nvPr/>
        </p:nvSpPr>
        <p:spPr>
          <a:xfrm>
            <a:off x="457200" y="1143000"/>
            <a:ext cx="8229600" cy="411480"/>
          </a:xfrm>
          <a:prstGeom prst="rect">
            <a:avLst/>
          </a:prstGeom>
          <a:noFill/>
          <a:ln/>
        </p:spPr>
        <p:txBody>
          <a:bodyPr wrap="square" lIns="0" tIns="0" rIns="0" bIns="0" rtlCol="0" anchor="t"/>
          <a:lstStyle/>
          <a:p>
            <a:pPr marL="0" indent="0">
              <a:buNone/>
            </a:pPr>
            <a:r>
              <a:rPr lang="en-US" sz="2000" b="1" dirty="0">
                <a:solidFill>
                  <a:srgbClr val="0A3D4A"/>
                </a:solidFill>
              </a:rPr>
              <a:t>Skimming</a:t>
            </a:r>
            <a:r>
              <a:rPr lang="en-US" sz="2000" dirty="0">
                <a:solidFill>
                  <a:srgbClr val="0A3D4A"/>
                </a:solidFill>
              </a:rPr>
              <a:t> means reading quickly to get the </a:t>
            </a:r>
            <a:r>
              <a:rPr lang="en-US" sz="2000" b="1" dirty="0">
                <a:solidFill>
                  <a:srgbClr val="0A3D4A"/>
                </a:solidFill>
              </a:rPr>
              <a:t>main idea</a:t>
            </a:r>
            <a:r>
              <a:rPr lang="en-US" sz="2000" dirty="0">
                <a:solidFill>
                  <a:srgbClr val="0A3D4A"/>
                </a:solidFill>
              </a:rPr>
              <a:t>.</a:t>
            </a:r>
            <a:endParaRPr lang="en-US" sz="2000" dirty="0"/>
          </a:p>
        </p:txBody>
      </p:sp>
      <p:sp>
        <p:nvSpPr>
          <p:cNvPr id="8" name="Text 6"/>
          <p:cNvSpPr txBox="1"/>
          <p:nvPr/>
        </p:nvSpPr>
        <p:spPr>
          <a:xfrm>
            <a:off x="457200" y="1691640"/>
            <a:ext cx="8229600" cy="274320"/>
          </a:xfrm>
          <a:prstGeom prst="rect">
            <a:avLst/>
          </a:prstGeom>
          <a:noFill/>
          <a:ln/>
        </p:spPr>
        <p:txBody>
          <a:bodyPr wrap="square" lIns="0" tIns="0" rIns="0" bIns="0" rtlCol="0" anchor="t"/>
          <a:lstStyle/>
          <a:p>
            <a:pPr marL="0" indent="0">
              <a:buNone/>
            </a:pPr>
            <a:r>
              <a:rPr lang="en-US" sz="2000" i="1" dirty="0">
                <a:solidFill>
                  <a:srgbClr val="4A6B73"/>
                </a:solidFill>
              </a:rPr>
              <a:t>When skimming, look at:</a:t>
            </a:r>
            <a:endParaRPr lang="en-US" sz="2000" dirty="0"/>
          </a:p>
        </p:txBody>
      </p:sp>
      <p:sp>
        <p:nvSpPr>
          <p:cNvPr id="9" name="Shape 7"/>
          <p:cNvSpPr/>
          <p:nvPr/>
        </p:nvSpPr>
        <p:spPr>
          <a:xfrm>
            <a:off x="457200" y="205740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0" name="Text 8"/>
          <p:cNvSpPr txBox="1"/>
          <p:nvPr/>
        </p:nvSpPr>
        <p:spPr>
          <a:xfrm>
            <a:off x="548640" y="205740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title</a:t>
            </a:r>
            <a:endParaRPr lang="en-US" sz="1600" dirty="0"/>
          </a:p>
        </p:txBody>
      </p:sp>
      <p:sp>
        <p:nvSpPr>
          <p:cNvPr id="11" name="Shape 9"/>
          <p:cNvSpPr/>
          <p:nvPr/>
        </p:nvSpPr>
        <p:spPr>
          <a:xfrm>
            <a:off x="2548890" y="205740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2640330" y="205740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headings</a:t>
            </a:r>
            <a:endParaRPr lang="en-US" sz="1600" dirty="0"/>
          </a:p>
        </p:txBody>
      </p:sp>
      <p:sp>
        <p:nvSpPr>
          <p:cNvPr id="13" name="Shape 11"/>
          <p:cNvSpPr/>
          <p:nvPr/>
        </p:nvSpPr>
        <p:spPr>
          <a:xfrm>
            <a:off x="4640580" y="205740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4" name="Text 12"/>
          <p:cNvSpPr txBox="1"/>
          <p:nvPr/>
        </p:nvSpPr>
        <p:spPr>
          <a:xfrm>
            <a:off x="4732020" y="205740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subheadings</a:t>
            </a:r>
            <a:endParaRPr lang="en-US" sz="1600" dirty="0"/>
          </a:p>
        </p:txBody>
      </p:sp>
      <p:sp>
        <p:nvSpPr>
          <p:cNvPr id="15" name="Shape 13"/>
          <p:cNvSpPr/>
          <p:nvPr/>
        </p:nvSpPr>
        <p:spPr>
          <a:xfrm>
            <a:off x="6732270" y="205740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6" name="Text 14"/>
          <p:cNvSpPr txBox="1"/>
          <p:nvPr/>
        </p:nvSpPr>
        <p:spPr>
          <a:xfrm>
            <a:off x="6823710" y="205740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pictures</a:t>
            </a:r>
            <a:endParaRPr lang="en-US" sz="1600" dirty="0"/>
          </a:p>
        </p:txBody>
      </p:sp>
      <p:sp>
        <p:nvSpPr>
          <p:cNvPr id="17" name="Shape 15"/>
          <p:cNvSpPr/>
          <p:nvPr/>
        </p:nvSpPr>
        <p:spPr>
          <a:xfrm>
            <a:off x="457200" y="292608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548640" y="292608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captions</a:t>
            </a:r>
            <a:endParaRPr lang="en-US" sz="1600" dirty="0"/>
          </a:p>
        </p:txBody>
      </p:sp>
      <p:sp>
        <p:nvSpPr>
          <p:cNvPr id="19" name="Shape 17"/>
          <p:cNvSpPr/>
          <p:nvPr/>
        </p:nvSpPr>
        <p:spPr>
          <a:xfrm>
            <a:off x="2548890" y="292608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20" name="Text 18"/>
          <p:cNvSpPr txBox="1"/>
          <p:nvPr/>
        </p:nvSpPr>
        <p:spPr>
          <a:xfrm>
            <a:off x="2640330" y="292608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first sentences</a:t>
            </a:r>
            <a:endParaRPr lang="en-US" sz="1600" dirty="0"/>
          </a:p>
        </p:txBody>
      </p:sp>
      <p:sp>
        <p:nvSpPr>
          <p:cNvPr id="21" name="Shape 19"/>
          <p:cNvSpPr/>
          <p:nvPr/>
        </p:nvSpPr>
        <p:spPr>
          <a:xfrm>
            <a:off x="4640580" y="2926080"/>
            <a:ext cx="1954530" cy="731520"/>
          </a:xfrm>
          <a:prstGeom prst="roundRect">
            <a:avLst>
              <a:gd name="adj" fmla="val 18750"/>
            </a:avLst>
          </a:prstGeom>
          <a:solidFill>
            <a:srgbClr val="FFFFFF"/>
          </a:solidFill>
          <a:ln/>
          <a:effectLst>
            <a:outerShdw blurRad="76200" dist="25400" dir="5400000" algn="bl" rotWithShape="0">
              <a:srgbClr val="000000">
                <a:alpha val="15000"/>
              </a:srgbClr>
            </a:outerShdw>
          </a:effectLst>
        </p:spPr>
      </p:sp>
      <p:sp>
        <p:nvSpPr>
          <p:cNvPr id="22" name="Text 20"/>
          <p:cNvSpPr txBox="1"/>
          <p:nvPr/>
        </p:nvSpPr>
        <p:spPr>
          <a:xfrm>
            <a:off x="4732020" y="2926080"/>
            <a:ext cx="1771650" cy="731520"/>
          </a:xfrm>
          <a:prstGeom prst="rect">
            <a:avLst/>
          </a:prstGeom>
          <a:noFill/>
          <a:ln/>
        </p:spPr>
        <p:txBody>
          <a:bodyPr wrap="square" lIns="0" tIns="0" rIns="0" bIns="0" rtlCol="0" anchor="ctr"/>
          <a:lstStyle/>
          <a:p>
            <a:pPr marL="0" indent="0" algn="ctr">
              <a:buNone/>
            </a:pPr>
            <a:r>
              <a:rPr lang="en-US" sz="1600" b="1" dirty="0">
                <a:solidFill>
                  <a:srgbClr val="0A3D4A"/>
                </a:solidFill>
              </a:rPr>
              <a:t>key words</a:t>
            </a:r>
            <a:endParaRPr lang="en-US" sz="1600" dirty="0"/>
          </a:p>
        </p:txBody>
      </p:sp>
      <p:sp>
        <p:nvSpPr>
          <p:cNvPr id="23" name="Shape 21"/>
          <p:cNvSpPr/>
          <p:nvPr/>
        </p:nvSpPr>
        <p:spPr>
          <a:xfrm>
            <a:off x="457200" y="393192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731520" y="393192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Think: </a:t>
            </a:r>
            <a:r>
              <a:rPr lang="en-US" sz="2000" b="1" dirty="0">
                <a:solidFill>
                  <a:srgbClr val="FFFFFF"/>
                </a:solidFill>
              </a:rPr>
              <a:t>What is this text mainly about?</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SKIM THIS SOURCE</a:t>
            </a:r>
            <a:endParaRPr lang="en-US" sz="2600" dirty="0"/>
          </a:p>
        </p:txBody>
      </p:sp>
      <p:sp>
        <p:nvSpPr>
          <p:cNvPr id="7" name="Shape 5"/>
          <p:cNvSpPr/>
          <p:nvPr/>
        </p:nvSpPr>
        <p:spPr>
          <a:xfrm>
            <a:off x="457200" y="1188720"/>
            <a:ext cx="4572000" cy="3520440"/>
          </a:xfrm>
          <a:prstGeom prst="roundRect">
            <a:avLst>
              <a:gd name="adj" fmla="val 389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548640" y="1220724"/>
            <a:ext cx="4114800" cy="3291840"/>
          </a:xfrm>
          <a:prstGeom prst="rect">
            <a:avLst/>
          </a:prstGeom>
          <a:noFill/>
          <a:ln/>
        </p:spPr>
        <p:txBody>
          <a:bodyPr wrap="square" lIns="0" tIns="0" rIns="0" bIns="0" rtlCol="0" anchor="t"/>
          <a:lstStyle/>
          <a:p>
            <a:pPr marL="0" indent="0">
              <a:buNone/>
            </a:pPr>
            <a:r>
              <a:rPr lang="en-US" sz="1700" b="1" dirty="0">
                <a:solidFill>
                  <a:srgbClr val="FF6B5E"/>
                </a:solidFill>
              </a:rPr>
              <a:t>SEA TURTLES IN DANGER</a:t>
            </a:r>
            <a:endParaRPr lang="en-US" sz="1600" dirty="0"/>
          </a:p>
          <a:p>
            <a:pPr marL="0" indent="0">
              <a:buNone/>
            </a:pPr>
            <a:r>
              <a:rPr lang="en-US" sz="1400" b="1" dirty="0">
                <a:solidFill>
                  <a:srgbClr val="0E7C86"/>
                </a:solidFill>
              </a:rPr>
              <a:t>Life in the Ocean</a:t>
            </a:r>
            <a:endParaRPr lang="en-US" sz="1600" dirty="0"/>
          </a:p>
          <a:p>
            <a:pPr marL="0" indent="0">
              <a:spcAft>
                <a:spcPts val="600"/>
              </a:spcAft>
              <a:buNone/>
            </a:pPr>
            <a:r>
              <a:rPr lang="en-US" sz="1600" dirty="0">
                <a:solidFill>
                  <a:srgbClr val="4A6B73"/>
                </a:solidFill>
              </a:rPr>
              <a:t>Sea turtles live in oceans around the world...</a:t>
            </a:r>
            <a:endParaRPr lang="en-US" sz="2000" dirty="0"/>
          </a:p>
          <a:p>
            <a:pPr marL="0" indent="0">
              <a:buNone/>
            </a:pPr>
            <a:r>
              <a:rPr lang="en-US" sz="1400" b="1" dirty="0">
                <a:solidFill>
                  <a:srgbClr val="0E7C86"/>
                </a:solidFill>
              </a:rPr>
              <a:t>What Do They Eat?</a:t>
            </a:r>
            <a:endParaRPr lang="en-US" sz="1600" dirty="0"/>
          </a:p>
          <a:p>
            <a:pPr marL="0" indent="0">
              <a:spcAft>
                <a:spcPts val="600"/>
              </a:spcAft>
              <a:buNone/>
            </a:pPr>
            <a:r>
              <a:rPr lang="en-US" sz="1600" dirty="0">
                <a:solidFill>
                  <a:srgbClr val="4A6B73"/>
                </a:solidFill>
              </a:rPr>
              <a:t>Different species eat different foods...</a:t>
            </a:r>
            <a:endParaRPr lang="en-US" sz="2000" dirty="0"/>
          </a:p>
          <a:p>
            <a:pPr marL="0" indent="0">
              <a:buNone/>
            </a:pPr>
            <a:r>
              <a:rPr lang="en-US" sz="1400" b="1" dirty="0">
                <a:solidFill>
                  <a:srgbClr val="0E7C86"/>
                </a:solidFill>
              </a:rPr>
              <a:t>Growing Threats</a:t>
            </a:r>
            <a:endParaRPr lang="en-US" sz="1600" dirty="0"/>
          </a:p>
          <a:p>
            <a:pPr marL="0" indent="0">
              <a:spcAft>
                <a:spcPts val="600"/>
              </a:spcAft>
              <a:buNone/>
            </a:pPr>
            <a:r>
              <a:rPr lang="en-US" sz="1250" dirty="0">
                <a:solidFill>
                  <a:srgbClr val="4A6B73"/>
                </a:solidFill>
              </a:rPr>
              <a:t>Plastic pollution and fishing equipment can harm sea turtles...</a:t>
            </a:r>
            <a:endParaRPr lang="en-US" sz="1600" dirty="0"/>
          </a:p>
          <a:p>
            <a:pPr marL="0" indent="0">
              <a:buNone/>
            </a:pPr>
            <a:r>
              <a:rPr lang="en-US" sz="1400" b="1" dirty="0">
                <a:solidFill>
                  <a:srgbClr val="0E7C86"/>
                </a:solidFill>
              </a:rPr>
              <a:t>Protecting Sea Turtles</a:t>
            </a:r>
            <a:endParaRPr lang="en-US" sz="1600" dirty="0"/>
          </a:p>
          <a:p>
            <a:pPr marL="0" indent="0">
              <a:spcAft>
                <a:spcPts val="600"/>
              </a:spcAft>
              <a:buNone/>
            </a:pPr>
            <a:r>
              <a:rPr lang="en-US" sz="1600" dirty="0">
                <a:solidFill>
                  <a:srgbClr val="4A6B73"/>
                </a:solidFill>
              </a:rPr>
              <a:t>People are working to protect nesting beaches...</a:t>
            </a:r>
            <a:endParaRPr lang="en-US" sz="2000" dirty="0"/>
          </a:p>
        </p:txBody>
      </p:sp>
      <p:sp>
        <p:nvSpPr>
          <p:cNvPr id="9" name="Text 7"/>
          <p:cNvSpPr txBox="1"/>
          <p:nvPr/>
        </p:nvSpPr>
        <p:spPr>
          <a:xfrm>
            <a:off x="5212080" y="1188720"/>
            <a:ext cx="3474720" cy="1371600"/>
          </a:xfrm>
          <a:prstGeom prst="rect">
            <a:avLst/>
          </a:prstGeom>
          <a:noFill/>
          <a:ln/>
        </p:spPr>
        <p:txBody>
          <a:bodyPr wrap="square" lIns="0" tIns="0" rIns="0" bIns="0" rtlCol="0" anchor="t"/>
          <a:lstStyle/>
          <a:p>
            <a:pPr marL="0" indent="0">
              <a:buNone/>
            </a:pPr>
            <a:r>
              <a:rPr lang="en-US" sz="1600" b="1" dirty="0">
                <a:solidFill>
                  <a:srgbClr val="0A3D4A"/>
                </a:solidFill>
              </a:rPr>
              <a:t>Without reading every word, </a:t>
            </a:r>
          </a:p>
          <a:p>
            <a:pPr marL="0" indent="0">
              <a:buNone/>
            </a:pPr>
            <a:r>
              <a:rPr lang="en-US" sz="1600" b="1" dirty="0">
                <a:solidFill>
                  <a:srgbClr val="0A3D4A"/>
                </a:solidFill>
              </a:rPr>
              <a:t>which section would you read to find information about dangers?</a:t>
            </a:r>
            <a:endParaRPr lang="en-US" sz="1600" dirty="0"/>
          </a:p>
        </p:txBody>
      </p:sp>
      <p:sp>
        <p:nvSpPr>
          <p:cNvPr id="10" name="Shape 8"/>
          <p:cNvSpPr/>
          <p:nvPr/>
        </p:nvSpPr>
        <p:spPr>
          <a:xfrm>
            <a:off x="5212080" y="2651760"/>
            <a:ext cx="3474720" cy="429768"/>
          </a:xfrm>
          <a:prstGeom prst="roundRect">
            <a:avLst>
              <a:gd name="adj" fmla="val 31915"/>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5285232" y="2706624"/>
            <a:ext cx="320040" cy="320040"/>
          </a:xfrm>
          <a:prstGeom prst="ellipse">
            <a:avLst/>
          </a:prstGeom>
          <a:solidFill>
            <a:srgbClr val="FF6B5E"/>
          </a:solidFill>
          <a:ln/>
        </p:spPr>
      </p:sp>
      <p:sp>
        <p:nvSpPr>
          <p:cNvPr id="12" name="Text 10"/>
          <p:cNvSpPr txBox="1"/>
          <p:nvPr/>
        </p:nvSpPr>
        <p:spPr>
          <a:xfrm>
            <a:off x="5285232" y="270662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13" name="Text 11"/>
          <p:cNvSpPr txBox="1"/>
          <p:nvPr/>
        </p:nvSpPr>
        <p:spPr>
          <a:xfrm>
            <a:off x="5715000" y="2651760"/>
            <a:ext cx="2880360" cy="429768"/>
          </a:xfrm>
          <a:prstGeom prst="rect">
            <a:avLst/>
          </a:prstGeom>
          <a:noFill/>
          <a:ln/>
        </p:spPr>
        <p:txBody>
          <a:bodyPr wrap="square" lIns="0" tIns="0" rIns="0" bIns="0" rtlCol="0" anchor="ctr"/>
          <a:lstStyle/>
          <a:p>
            <a:pPr marL="0" indent="0">
              <a:buNone/>
            </a:pPr>
            <a:r>
              <a:rPr lang="en-US" sz="1300" dirty="0">
                <a:solidFill>
                  <a:srgbClr val="0A3D4A"/>
                </a:solidFill>
              </a:rPr>
              <a:t>Life in the Ocean</a:t>
            </a:r>
            <a:endParaRPr lang="en-US" sz="1300" dirty="0"/>
          </a:p>
        </p:txBody>
      </p:sp>
      <p:sp>
        <p:nvSpPr>
          <p:cNvPr id="14" name="Shape 12"/>
          <p:cNvSpPr/>
          <p:nvPr/>
        </p:nvSpPr>
        <p:spPr>
          <a:xfrm>
            <a:off x="5212080" y="3172968"/>
            <a:ext cx="3474720" cy="429768"/>
          </a:xfrm>
          <a:prstGeom prst="roundRect">
            <a:avLst>
              <a:gd name="adj" fmla="val 31915"/>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5285232" y="3227832"/>
            <a:ext cx="320040" cy="320040"/>
          </a:xfrm>
          <a:prstGeom prst="ellipse">
            <a:avLst/>
          </a:prstGeom>
          <a:solidFill>
            <a:srgbClr val="0E7C86"/>
          </a:solidFill>
          <a:ln/>
        </p:spPr>
      </p:sp>
      <p:sp>
        <p:nvSpPr>
          <p:cNvPr id="16" name="Text 14"/>
          <p:cNvSpPr txBox="1"/>
          <p:nvPr/>
        </p:nvSpPr>
        <p:spPr>
          <a:xfrm>
            <a:off x="5285232" y="322783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7" name="Text 15"/>
          <p:cNvSpPr txBox="1"/>
          <p:nvPr/>
        </p:nvSpPr>
        <p:spPr>
          <a:xfrm>
            <a:off x="5715000" y="3172968"/>
            <a:ext cx="2880360" cy="429768"/>
          </a:xfrm>
          <a:prstGeom prst="rect">
            <a:avLst/>
          </a:prstGeom>
          <a:noFill/>
          <a:ln/>
        </p:spPr>
        <p:txBody>
          <a:bodyPr wrap="square" lIns="0" tIns="0" rIns="0" bIns="0" rtlCol="0" anchor="ctr"/>
          <a:lstStyle/>
          <a:p>
            <a:pPr marL="0" indent="0">
              <a:buNone/>
            </a:pPr>
            <a:r>
              <a:rPr lang="en-US" sz="1300" dirty="0">
                <a:solidFill>
                  <a:srgbClr val="0A3D4A"/>
                </a:solidFill>
              </a:rPr>
              <a:t>What Do They Eat?</a:t>
            </a:r>
            <a:endParaRPr lang="en-US" sz="1300" dirty="0"/>
          </a:p>
        </p:txBody>
      </p:sp>
      <p:sp>
        <p:nvSpPr>
          <p:cNvPr id="18" name="Shape 16"/>
          <p:cNvSpPr/>
          <p:nvPr/>
        </p:nvSpPr>
        <p:spPr>
          <a:xfrm>
            <a:off x="5212080" y="3694176"/>
            <a:ext cx="3474720" cy="429768"/>
          </a:xfrm>
          <a:prstGeom prst="roundRect">
            <a:avLst>
              <a:gd name="adj" fmla="val 31915"/>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5285232" y="3749040"/>
            <a:ext cx="320040" cy="320040"/>
          </a:xfrm>
          <a:prstGeom prst="ellipse">
            <a:avLst/>
          </a:prstGeom>
          <a:solidFill>
            <a:srgbClr val="3A86C8"/>
          </a:solidFill>
          <a:ln/>
        </p:spPr>
      </p:sp>
      <p:sp>
        <p:nvSpPr>
          <p:cNvPr id="20" name="Text 18"/>
          <p:cNvSpPr txBox="1"/>
          <p:nvPr/>
        </p:nvSpPr>
        <p:spPr>
          <a:xfrm>
            <a:off x="5285232" y="374904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21" name="Text 19"/>
          <p:cNvSpPr txBox="1"/>
          <p:nvPr/>
        </p:nvSpPr>
        <p:spPr>
          <a:xfrm>
            <a:off x="5715000" y="3694176"/>
            <a:ext cx="2880360" cy="429768"/>
          </a:xfrm>
          <a:prstGeom prst="rect">
            <a:avLst/>
          </a:prstGeom>
          <a:noFill/>
          <a:ln/>
        </p:spPr>
        <p:txBody>
          <a:bodyPr wrap="square" lIns="0" tIns="0" rIns="0" bIns="0" rtlCol="0" anchor="ctr"/>
          <a:lstStyle/>
          <a:p>
            <a:pPr marL="0" indent="0">
              <a:buNone/>
            </a:pPr>
            <a:r>
              <a:rPr lang="en-US" sz="1300" dirty="0">
                <a:solidFill>
                  <a:srgbClr val="0A3D4A"/>
                </a:solidFill>
              </a:rPr>
              <a:t>Growing Threats</a:t>
            </a:r>
            <a:endParaRPr lang="en-US" sz="1300" dirty="0"/>
          </a:p>
        </p:txBody>
      </p:sp>
      <p:sp>
        <p:nvSpPr>
          <p:cNvPr id="22" name="Shape 20"/>
          <p:cNvSpPr/>
          <p:nvPr/>
        </p:nvSpPr>
        <p:spPr>
          <a:xfrm>
            <a:off x="5212080" y="4215384"/>
            <a:ext cx="3474720" cy="429768"/>
          </a:xfrm>
          <a:prstGeom prst="roundRect">
            <a:avLst>
              <a:gd name="adj" fmla="val 31915"/>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5285232" y="4270248"/>
            <a:ext cx="320040" cy="320040"/>
          </a:xfrm>
          <a:prstGeom prst="ellipse">
            <a:avLst/>
          </a:prstGeom>
          <a:solidFill>
            <a:srgbClr val="7B5EA7"/>
          </a:solidFill>
          <a:ln/>
        </p:spPr>
      </p:sp>
      <p:sp>
        <p:nvSpPr>
          <p:cNvPr id="24" name="Text 22"/>
          <p:cNvSpPr txBox="1"/>
          <p:nvPr/>
        </p:nvSpPr>
        <p:spPr>
          <a:xfrm>
            <a:off x="5285232" y="4270248"/>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25" name="Text 23"/>
          <p:cNvSpPr txBox="1"/>
          <p:nvPr/>
        </p:nvSpPr>
        <p:spPr>
          <a:xfrm>
            <a:off x="5715000" y="4215384"/>
            <a:ext cx="2880360" cy="429768"/>
          </a:xfrm>
          <a:prstGeom prst="rect">
            <a:avLst/>
          </a:prstGeom>
          <a:noFill/>
          <a:ln/>
        </p:spPr>
        <p:txBody>
          <a:bodyPr wrap="square" lIns="0" tIns="0" rIns="0" bIns="0" rtlCol="0" anchor="ctr"/>
          <a:lstStyle/>
          <a:p>
            <a:pPr marL="0" indent="0">
              <a:buNone/>
            </a:pPr>
            <a:r>
              <a:rPr lang="en-US" sz="1300" dirty="0">
                <a:solidFill>
                  <a:srgbClr val="0A3D4A"/>
                </a:solidFill>
              </a:rPr>
              <a:t>Protecting Sea Turtles</a:t>
            </a:r>
            <a:endParaRPr lang="en-US" sz="1300"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C</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Growing Threats</a:t>
            </a:r>
            <a:endParaRPr lang="en-US"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The heading tells us that this section is likely to contain information about dangers.</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b="1" dirty="0">
                <a:solidFill>
                  <a:srgbClr val="FFC857"/>
                </a:solidFill>
              </a:rPr>
              <a:t>That's skimming: </a:t>
            </a:r>
            <a:r>
              <a:rPr lang="en-US" b="1" dirty="0">
                <a:solidFill>
                  <a:srgbClr val="FFFFFF"/>
                </a:solidFill>
              </a:rPr>
              <a:t>Use the structure to find where the information is likely to be.</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SCAN</a:t>
            </a:r>
            <a:endParaRPr lang="en-US" sz="2600" dirty="0"/>
          </a:p>
        </p:txBody>
      </p:sp>
      <p:sp>
        <p:nvSpPr>
          <p:cNvPr id="7" name="Text 5"/>
          <p:cNvSpPr txBox="1"/>
          <p:nvPr/>
        </p:nvSpPr>
        <p:spPr>
          <a:xfrm>
            <a:off x="457200" y="937260"/>
            <a:ext cx="8229600" cy="640080"/>
          </a:xfrm>
          <a:prstGeom prst="rect">
            <a:avLst/>
          </a:prstGeom>
          <a:noFill/>
          <a:ln/>
        </p:spPr>
        <p:txBody>
          <a:bodyPr wrap="square" lIns="0" tIns="0" rIns="0" bIns="0" rtlCol="0" anchor="t"/>
          <a:lstStyle/>
          <a:p>
            <a:pPr marL="0" indent="0">
              <a:buNone/>
            </a:pPr>
            <a:r>
              <a:rPr lang="en-US" sz="1800" b="1" dirty="0">
                <a:solidFill>
                  <a:srgbClr val="0A3D4A"/>
                </a:solidFill>
              </a:rPr>
              <a:t>Scanning</a:t>
            </a:r>
            <a:r>
              <a:rPr lang="en-US" sz="1800" dirty="0">
                <a:solidFill>
                  <a:srgbClr val="0A3D4A"/>
                </a:solidFill>
              </a:rPr>
              <a:t> means looking quickly through a text to find </a:t>
            </a:r>
            <a:r>
              <a:rPr lang="en-US" sz="1800" b="1" dirty="0">
                <a:solidFill>
                  <a:srgbClr val="0A3D4A"/>
                </a:solidFill>
              </a:rPr>
              <a:t>specific information</a:t>
            </a:r>
            <a:r>
              <a:rPr lang="en-US" sz="1800" dirty="0">
                <a:solidFill>
                  <a:srgbClr val="0A3D4A"/>
                </a:solidFill>
              </a:rPr>
              <a:t>.</a:t>
            </a:r>
            <a:endParaRPr lang="en-US" sz="1800" dirty="0"/>
          </a:p>
        </p:txBody>
      </p:sp>
      <p:sp>
        <p:nvSpPr>
          <p:cNvPr id="8" name="Text 6"/>
          <p:cNvSpPr txBox="1"/>
          <p:nvPr/>
        </p:nvSpPr>
        <p:spPr>
          <a:xfrm>
            <a:off x="457200" y="1266245"/>
            <a:ext cx="8229600" cy="274320"/>
          </a:xfrm>
          <a:prstGeom prst="rect">
            <a:avLst/>
          </a:prstGeom>
          <a:noFill/>
          <a:ln/>
        </p:spPr>
        <p:txBody>
          <a:bodyPr wrap="square" lIns="0" tIns="0" rIns="0" bIns="0" rtlCol="0" anchor="t"/>
          <a:lstStyle/>
          <a:p>
            <a:pPr marL="0" indent="0">
              <a:buNone/>
            </a:pPr>
            <a:r>
              <a:rPr lang="en-US" i="1" dirty="0">
                <a:solidFill>
                  <a:srgbClr val="4A6B73"/>
                </a:solidFill>
              </a:rPr>
              <a:t>You do </a:t>
            </a:r>
            <a:r>
              <a:rPr lang="en-US" b="1" i="1" dirty="0">
                <a:solidFill>
                  <a:srgbClr val="4A6B73"/>
                </a:solidFill>
              </a:rPr>
              <a:t>NOT</a:t>
            </a:r>
            <a:r>
              <a:rPr lang="en-US" i="1" dirty="0">
                <a:solidFill>
                  <a:srgbClr val="4A6B73"/>
                </a:solidFill>
              </a:rPr>
              <a:t> read every sentence carefully. </a:t>
            </a:r>
          </a:p>
          <a:p>
            <a:pPr marL="0" indent="0">
              <a:buNone/>
            </a:pPr>
            <a:endParaRPr lang="en-US" i="1" dirty="0">
              <a:solidFill>
                <a:srgbClr val="4A6B73"/>
              </a:solidFill>
            </a:endParaRPr>
          </a:p>
          <a:p>
            <a:pPr marL="0" indent="0">
              <a:buNone/>
            </a:pPr>
            <a:r>
              <a:rPr lang="en-US" i="1" dirty="0">
                <a:solidFill>
                  <a:srgbClr val="4A6B73"/>
                </a:solidFill>
              </a:rPr>
              <a:t>Instead, look for:</a:t>
            </a:r>
            <a:endParaRPr lang="en-US" dirty="0"/>
          </a:p>
        </p:txBody>
      </p:sp>
      <p:sp>
        <p:nvSpPr>
          <p:cNvPr id="9" name="Shape 7"/>
          <p:cNvSpPr/>
          <p:nvPr/>
        </p:nvSpPr>
        <p:spPr>
          <a:xfrm>
            <a:off x="457200" y="2148840"/>
            <a:ext cx="1536192"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0" name="Text 8"/>
          <p:cNvSpPr txBox="1"/>
          <p:nvPr/>
        </p:nvSpPr>
        <p:spPr>
          <a:xfrm>
            <a:off x="548640" y="2148840"/>
            <a:ext cx="1353312" cy="685800"/>
          </a:xfrm>
          <a:prstGeom prst="rect">
            <a:avLst/>
          </a:prstGeom>
          <a:noFill/>
          <a:ln/>
        </p:spPr>
        <p:txBody>
          <a:bodyPr wrap="square" lIns="0" tIns="0" rIns="0" bIns="0" rtlCol="0" anchor="ctr"/>
          <a:lstStyle/>
          <a:p>
            <a:pPr marL="0" indent="0" algn="ctr">
              <a:buNone/>
            </a:pPr>
            <a:r>
              <a:rPr lang="en-US" sz="2000" b="1" dirty="0">
                <a:solidFill>
                  <a:srgbClr val="0A3D4A"/>
                </a:solidFill>
              </a:rPr>
              <a:t>key words</a:t>
            </a:r>
            <a:endParaRPr lang="en-US" sz="2000" dirty="0"/>
          </a:p>
        </p:txBody>
      </p:sp>
      <p:sp>
        <p:nvSpPr>
          <p:cNvPr id="11" name="Shape 9"/>
          <p:cNvSpPr/>
          <p:nvPr/>
        </p:nvSpPr>
        <p:spPr>
          <a:xfrm>
            <a:off x="2130552" y="2148840"/>
            <a:ext cx="1536192"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2221992" y="2148840"/>
            <a:ext cx="1353312" cy="685800"/>
          </a:xfrm>
          <a:prstGeom prst="rect">
            <a:avLst/>
          </a:prstGeom>
          <a:noFill/>
          <a:ln/>
        </p:spPr>
        <p:txBody>
          <a:bodyPr wrap="square" lIns="0" tIns="0" rIns="0" bIns="0" rtlCol="0" anchor="ctr"/>
          <a:lstStyle/>
          <a:p>
            <a:pPr marL="0" indent="0" algn="ctr">
              <a:buNone/>
            </a:pPr>
            <a:r>
              <a:rPr lang="en-US" sz="2400" b="1" dirty="0">
                <a:solidFill>
                  <a:srgbClr val="0A3D4A"/>
                </a:solidFill>
              </a:rPr>
              <a:t>names</a:t>
            </a:r>
            <a:endParaRPr lang="en-US" sz="2400" dirty="0"/>
          </a:p>
        </p:txBody>
      </p:sp>
      <p:sp>
        <p:nvSpPr>
          <p:cNvPr id="13" name="Shape 11"/>
          <p:cNvSpPr/>
          <p:nvPr/>
        </p:nvSpPr>
        <p:spPr>
          <a:xfrm>
            <a:off x="3803904" y="2148840"/>
            <a:ext cx="1536192"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4" name="Text 12"/>
          <p:cNvSpPr txBox="1"/>
          <p:nvPr/>
        </p:nvSpPr>
        <p:spPr>
          <a:xfrm>
            <a:off x="3895344" y="2148840"/>
            <a:ext cx="1353312" cy="685800"/>
          </a:xfrm>
          <a:prstGeom prst="rect">
            <a:avLst/>
          </a:prstGeom>
          <a:noFill/>
          <a:ln/>
        </p:spPr>
        <p:txBody>
          <a:bodyPr wrap="square" lIns="0" tIns="0" rIns="0" bIns="0" rtlCol="0" anchor="ctr"/>
          <a:lstStyle/>
          <a:p>
            <a:pPr marL="0" indent="0" algn="ctr">
              <a:buNone/>
            </a:pPr>
            <a:r>
              <a:rPr lang="en-US" sz="2000" b="1" dirty="0">
                <a:solidFill>
                  <a:srgbClr val="0A3D4A"/>
                </a:solidFill>
              </a:rPr>
              <a:t>numbers</a:t>
            </a:r>
            <a:endParaRPr lang="en-US" sz="2000" dirty="0"/>
          </a:p>
        </p:txBody>
      </p:sp>
      <p:sp>
        <p:nvSpPr>
          <p:cNvPr id="15" name="Shape 13"/>
          <p:cNvSpPr/>
          <p:nvPr/>
        </p:nvSpPr>
        <p:spPr>
          <a:xfrm>
            <a:off x="5477256" y="2148840"/>
            <a:ext cx="1536192"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6" name="Text 14"/>
          <p:cNvSpPr txBox="1"/>
          <p:nvPr/>
        </p:nvSpPr>
        <p:spPr>
          <a:xfrm>
            <a:off x="5568696" y="2148840"/>
            <a:ext cx="1353312" cy="685800"/>
          </a:xfrm>
          <a:prstGeom prst="rect">
            <a:avLst/>
          </a:prstGeom>
          <a:noFill/>
          <a:ln/>
        </p:spPr>
        <p:txBody>
          <a:bodyPr wrap="square" lIns="0" tIns="0" rIns="0" bIns="0" rtlCol="0" anchor="ctr"/>
          <a:lstStyle/>
          <a:p>
            <a:pPr marL="0" indent="0" algn="ctr">
              <a:buNone/>
            </a:pPr>
            <a:r>
              <a:rPr lang="en-US" sz="2400" b="1" dirty="0">
                <a:solidFill>
                  <a:srgbClr val="0A3D4A"/>
                </a:solidFill>
              </a:rPr>
              <a:t>places</a:t>
            </a:r>
            <a:endParaRPr lang="en-US" sz="2400" dirty="0"/>
          </a:p>
        </p:txBody>
      </p:sp>
      <p:sp>
        <p:nvSpPr>
          <p:cNvPr id="17" name="Shape 15"/>
          <p:cNvSpPr/>
          <p:nvPr/>
        </p:nvSpPr>
        <p:spPr>
          <a:xfrm>
            <a:off x="7150608" y="2148840"/>
            <a:ext cx="1536192"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7242048" y="2148840"/>
            <a:ext cx="1353312" cy="685800"/>
          </a:xfrm>
          <a:prstGeom prst="rect">
            <a:avLst/>
          </a:prstGeom>
          <a:noFill/>
          <a:ln/>
        </p:spPr>
        <p:txBody>
          <a:bodyPr wrap="square" lIns="0" tIns="0" rIns="0" bIns="0" rtlCol="0" anchor="ctr"/>
          <a:lstStyle/>
          <a:p>
            <a:pPr marL="0" indent="0" algn="ctr">
              <a:buNone/>
            </a:pPr>
            <a:r>
              <a:rPr lang="en-US" sz="2000" b="1" dirty="0">
                <a:solidFill>
                  <a:srgbClr val="0A3D4A"/>
                </a:solidFill>
              </a:rPr>
              <a:t>important terms</a:t>
            </a:r>
            <a:endParaRPr lang="en-US" sz="2000" dirty="0"/>
          </a:p>
        </p:txBody>
      </p:sp>
      <p:sp>
        <p:nvSpPr>
          <p:cNvPr id="19" name="Shape 17"/>
          <p:cNvSpPr/>
          <p:nvPr/>
        </p:nvSpPr>
        <p:spPr>
          <a:xfrm>
            <a:off x="457200" y="3108960"/>
            <a:ext cx="8229600" cy="1600200"/>
          </a:xfrm>
          <a:prstGeom prst="roundRect">
            <a:avLst>
              <a:gd name="adj" fmla="val 8571"/>
            </a:avLst>
          </a:prstGeom>
          <a:solidFill>
            <a:srgbClr val="0A3D4A"/>
          </a:solidFill>
          <a:ln/>
          <a:effectLst>
            <a:outerShdw blurRad="76200" dist="25400" dir="5400000" algn="bl" rotWithShape="0">
              <a:srgbClr val="000000">
                <a:alpha val="15000"/>
              </a:srgbClr>
            </a:outerShdw>
          </a:effectLst>
        </p:spPr>
      </p:sp>
      <p:sp>
        <p:nvSpPr>
          <p:cNvPr id="20" name="Text 18"/>
          <p:cNvSpPr txBox="1"/>
          <p:nvPr/>
        </p:nvSpPr>
        <p:spPr>
          <a:xfrm>
            <a:off x="731520" y="3108960"/>
            <a:ext cx="7680960" cy="1600200"/>
          </a:xfrm>
          <a:prstGeom prst="rect">
            <a:avLst/>
          </a:prstGeom>
          <a:noFill/>
          <a:ln/>
        </p:spPr>
        <p:txBody>
          <a:bodyPr wrap="square" lIns="0" tIns="0" rIns="0" bIns="0" rtlCol="0" anchor="ctr"/>
          <a:lstStyle/>
          <a:p>
            <a:pPr marL="0" indent="0">
              <a:buNone/>
            </a:pPr>
            <a:r>
              <a:rPr lang="en-US" sz="2400" b="1" dirty="0">
                <a:highlight>
                  <a:srgbClr val="FFFF00"/>
                </a:highlight>
              </a:rPr>
              <a:t>EXAMPLE</a:t>
            </a:r>
            <a:endParaRPr lang="en-US" sz="3200" dirty="0">
              <a:highlight>
                <a:srgbClr val="FFFF00"/>
              </a:highlight>
            </a:endParaRPr>
          </a:p>
          <a:p>
            <a:pPr marL="0" indent="0">
              <a:buNone/>
            </a:pPr>
            <a:r>
              <a:rPr lang="en-US" sz="2400" b="1" dirty="0">
                <a:solidFill>
                  <a:srgbClr val="FFFFFF"/>
                </a:solidFill>
              </a:rPr>
              <a:t>Question: How many species of sea turtle are there?</a:t>
            </a:r>
            <a:endParaRPr lang="en-US" sz="2400" dirty="0"/>
          </a:p>
          <a:p>
            <a:pPr marL="0" indent="0">
              <a:buNone/>
            </a:pPr>
            <a:r>
              <a:rPr lang="en-US" sz="2000" b="1" dirty="0">
                <a:solidFill>
                  <a:srgbClr val="FFC857"/>
                </a:solidFill>
              </a:rPr>
              <a:t>Scan for:  </a:t>
            </a:r>
            <a:r>
              <a:rPr lang="en-US" sz="3600" b="1" dirty="0">
                <a:solidFill>
                  <a:srgbClr val="FFFFFF"/>
                </a:solidFill>
              </a:rPr>
              <a:t>seven</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WHICH SKILL?</a:t>
            </a:r>
            <a:endParaRPr lang="en-US" sz="2600" dirty="0"/>
          </a:p>
        </p:txBody>
      </p:sp>
      <p:sp>
        <p:nvSpPr>
          <p:cNvPr id="7" name="Shape 5"/>
          <p:cNvSpPr/>
          <p:nvPr/>
        </p:nvSpPr>
        <p:spPr>
          <a:xfrm>
            <a:off x="457200" y="1188720"/>
            <a:ext cx="4023360" cy="960120"/>
          </a:xfrm>
          <a:prstGeom prst="roundRect">
            <a:avLst>
              <a:gd name="adj" fmla="val 1428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40080" y="1280160"/>
            <a:ext cx="3657600" cy="228600"/>
          </a:xfrm>
          <a:prstGeom prst="rect">
            <a:avLst/>
          </a:prstGeom>
          <a:noFill/>
          <a:ln/>
        </p:spPr>
        <p:txBody>
          <a:bodyPr wrap="square" lIns="0" tIns="0" rIns="0" bIns="0" rtlCol="0" anchor="t"/>
          <a:lstStyle/>
          <a:p>
            <a:pPr marL="0" indent="0">
              <a:buNone/>
            </a:pPr>
            <a:r>
              <a:rPr lang="en-US" sz="1200" b="1" dirty="0">
                <a:solidFill>
                  <a:srgbClr val="FF6B5E"/>
                </a:solidFill>
              </a:rPr>
              <a:t>QUESTION 1</a:t>
            </a:r>
            <a:endParaRPr lang="en-US" sz="1200" dirty="0"/>
          </a:p>
        </p:txBody>
      </p:sp>
      <p:sp>
        <p:nvSpPr>
          <p:cNvPr id="9" name="Text 7"/>
          <p:cNvSpPr txBox="1"/>
          <p:nvPr/>
        </p:nvSpPr>
        <p:spPr>
          <a:xfrm>
            <a:off x="640080" y="1554480"/>
            <a:ext cx="3657600" cy="502920"/>
          </a:xfrm>
          <a:prstGeom prst="rect">
            <a:avLst/>
          </a:prstGeom>
          <a:noFill/>
          <a:ln/>
        </p:spPr>
        <p:txBody>
          <a:bodyPr wrap="square" lIns="0" tIns="0" rIns="0" bIns="0" rtlCol="0" anchor="t"/>
          <a:lstStyle/>
          <a:p>
            <a:pPr marL="0" indent="0">
              <a:buNone/>
            </a:pPr>
            <a:r>
              <a:rPr lang="en-US" b="1" dirty="0">
                <a:solidFill>
                  <a:srgbClr val="0A3D4A"/>
                </a:solidFill>
              </a:rPr>
              <a:t>What is this article mainly about?</a:t>
            </a:r>
            <a:endParaRPr lang="en-US" dirty="0"/>
          </a:p>
        </p:txBody>
      </p:sp>
      <p:sp>
        <p:nvSpPr>
          <p:cNvPr id="10" name="Shape 8"/>
          <p:cNvSpPr/>
          <p:nvPr/>
        </p:nvSpPr>
        <p:spPr>
          <a:xfrm>
            <a:off x="4663440" y="1188720"/>
            <a:ext cx="4023360" cy="960120"/>
          </a:xfrm>
          <a:prstGeom prst="roundRect">
            <a:avLst>
              <a:gd name="adj" fmla="val 14286"/>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4846320" y="1280160"/>
            <a:ext cx="3657600" cy="228600"/>
          </a:xfrm>
          <a:prstGeom prst="rect">
            <a:avLst/>
          </a:prstGeom>
          <a:noFill/>
          <a:ln/>
        </p:spPr>
        <p:txBody>
          <a:bodyPr wrap="square" lIns="0" tIns="0" rIns="0" bIns="0" rtlCol="0" anchor="t"/>
          <a:lstStyle/>
          <a:p>
            <a:pPr marL="0" indent="0">
              <a:buNone/>
            </a:pPr>
            <a:r>
              <a:rPr lang="en-US" sz="1200" b="1" dirty="0">
                <a:solidFill>
                  <a:srgbClr val="0E7C86"/>
                </a:solidFill>
              </a:rPr>
              <a:t>QUESTION 2</a:t>
            </a:r>
            <a:endParaRPr lang="en-US" sz="1200" dirty="0"/>
          </a:p>
        </p:txBody>
      </p:sp>
      <p:sp>
        <p:nvSpPr>
          <p:cNvPr id="12" name="Text 10"/>
          <p:cNvSpPr txBox="1"/>
          <p:nvPr/>
        </p:nvSpPr>
        <p:spPr>
          <a:xfrm>
            <a:off x="4846320" y="1554480"/>
            <a:ext cx="3657600" cy="502920"/>
          </a:xfrm>
          <a:prstGeom prst="rect">
            <a:avLst/>
          </a:prstGeom>
          <a:noFill/>
          <a:ln/>
        </p:spPr>
        <p:txBody>
          <a:bodyPr wrap="square" lIns="0" tIns="0" rIns="0" bIns="0" rtlCol="0" anchor="t"/>
          <a:lstStyle/>
          <a:p>
            <a:pPr marL="0" indent="0">
              <a:buNone/>
            </a:pPr>
            <a:r>
              <a:rPr lang="en-US" sz="1600" b="1" dirty="0">
                <a:solidFill>
                  <a:srgbClr val="0A3D4A"/>
                </a:solidFill>
              </a:rPr>
              <a:t>How many species of sea turtle are there?</a:t>
            </a:r>
            <a:endParaRPr lang="en-US" sz="1600" dirty="0"/>
          </a:p>
        </p:txBody>
      </p:sp>
      <p:sp>
        <p:nvSpPr>
          <p:cNvPr id="13" name="Text 11"/>
          <p:cNvSpPr txBox="1"/>
          <p:nvPr/>
        </p:nvSpPr>
        <p:spPr>
          <a:xfrm>
            <a:off x="457200" y="2286000"/>
            <a:ext cx="8229600" cy="365760"/>
          </a:xfrm>
          <a:prstGeom prst="rect">
            <a:avLst/>
          </a:prstGeom>
          <a:noFill/>
          <a:ln/>
        </p:spPr>
        <p:txBody>
          <a:bodyPr wrap="square" lIns="0" tIns="0" rIns="0" bIns="0" rtlCol="0" anchor="t"/>
          <a:lstStyle/>
          <a:p>
            <a:pPr marL="0" indent="0">
              <a:buNone/>
            </a:pPr>
            <a:r>
              <a:rPr lang="en-US" sz="1800" b="1" dirty="0">
                <a:solidFill>
                  <a:srgbClr val="0A3D4A"/>
                </a:solidFill>
              </a:rPr>
              <a:t>Which skill would you use?</a:t>
            </a:r>
            <a:endParaRPr lang="en-US" sz="1800" dirty="0"/>
          </a:p>
        </p:txBody>
      </p:sp>
      <p:sp>
        <p:nvSpPr>
          <p:cNvPr id="14" name="Shape 12"/>
          <p:cNvSpPr/>
          <p:nvPr/>
        </p:nvSpPr>
        <p:spPr>
          <a:xfrm>
            <a:off x="457200" y="2743200"/>
            <a:ext cx="40233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640080" y="2944368"/>
            <a:ext cx="512064" cy="512064"/>
          </a:xfrm>
          <a:prstGeom prst="ellipse">
            <a:avLst/>
          </a:prstGeom>
          <a:solidFill>
            <a:srgbClr val="FF6B5E"/>
          </a:solidFill>
          <a:ln/>
        </p:spPr>
      </p:sp>
      <p:sp>
        <p:nvSpPr>
          <p:cNvPr id="16" name="Text 14"/>
          <p:cNvSpPr txBox="1"/>
          <p:nvPr/>
        </p:nvSpPr>
        <p:spPr>
          <a:xfrm>
            <a:off x="640080" y="29443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17" name="Text 15"/>
          <p:cNvSpPr txBox="1"/>
          <p:nvPr/>
        </p:nvSpPr>
        <p:spPr>
          <a:xfrm>
            <a:off x="1325880" y="2798064"/>
            <a:ext cx="3017520" cy="804672"/>
          </a:xfrm>
          <a:prstGeom prst="rect">
            <a:avLst/>
          </a:prstGeom>
          <a:noFill/>
          <a:ln/>
        </p:spPr>
        <p:txBody>
          <a:bodyPr wrap="square" lIns="0" tIns="0" rIns="0" bIns="0" rtlCol="0" anchor="ctr"/>
          <a:lstStyle/>
          <a:p>
            <a:pPr marL="0" indent="0">
              <a:buNone/>
            </a:pPr>
            <a:r>
              <a:rPr lang="en-US" dirty="0">
                <a:solidFill>
                  <a:srgbClr val="0A3D4A"/>
                </a:solidFill>
              </a:rPr>
              <a:t>Skimming for Question 1 and scanning for Question 2</a:t>
            </a:r>
            <a:endParaRPr lang="en-US" dirty="0"/>
          </a:p>
        </p:txBody>
      </p:sp>
      <p:sp>
        <p:nvSpPr>
          <p:cNvPr id="18" name="Shape 16"/>
          <p:cNvSpPr/>
          <p:nvPr/>
        </p:nvSpPr>
        <p:spPr>
          <a:xfrm>
            <a:off x="4663440" y="2743200"/>
            <a:ext cx="40233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4846320" y="2944368"/>
            <a:ext cx="512064" cy="512064"/>
          </a:xfrm>
          <a:prstGeom prst="ellipse">
            <a:avLst/>
          </a:prstGeom>
          <a:solidFill>
            <a:srgbClr val="0E7C86"/>
          </a:solidFill>
          <a:ln/>
        </p:spPr>
      </p:sp>
      <p:sp>
        <p:nvSpPr>
          <p:cNvPr id="20" name="Text 18"/>
          <p:cNvSpPr txBox="1"/>
          <p:nvPr/>
        </p:nvSpPr>
        <p:spPr>
          <a:xfrm>
            <a:off x="4846320" y="29443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21" name="Text 19"/>
          <p:cNvSpPr txBox="1"/>
          <p:nvPr/>
        </p:nvSpPr>
        <p:spPr>
          <a:xfrm>
            <a:off x="5532120" y="2798064"/>
            <a:ext cx="3017520" cy="804672"/>
          </a:xfrm>
          <a:prstGeom prst="rect">
            <a:avLst/>
          </a:prstGeom>
          <a:noFill/>
          <a:ln/>
        </p:spPr>
        <p:txBody>
          <a:bodyPr wrap="square" lIns="0" tIns="0" rIns="0" bIns="0" rtlCol="0" anchor="ctr"/>
          <a:lstStyle/>
          <a:p>
            <a:pPr marL="0" indent="0">
              <a:buNone/>
            </a:pPr>
            <a:r>
              <a:rPr lang="en-US" dirty="0">
                <a:solidFill>
                  <a:srgbClr val="0A3D4A"/>
                </a:solidFill>
              </a:rPr>
              <a:t>Scanning for Question 1 and skimming for Question 2</a:t>
            </a:r>
            <a:endParaRPr lang="en-US" dirty="0"/>
          </a:p>
        </p:txBody>
      </p:sp>
      <p:sp>
        <p:nvSpPr>
          <p:cNvPr id="22" name="Shape 20"/>
          <p:cNvSpPr/>
          <p:nvPr/>
        </p:nvSpPr>
        <p:spPr>
          <a:xfrm>
            <a:off x="457200" y="3767328"/>
            <a:ext cx="40233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640080" y="3968496"/>
            <a:ext cx="512064" cy="512064"/>
          </a:xfrm>
          <a:prstGeom prst="ellipse">
            <a:avLst/>
          </a:prstGeom>
          <a:solidFill>
            <a:srgbClr val="3A86C8"/>
          </a:solidFill>
          <a:ln/>
        </p:spPr>
      </p:sp>
      <p:sp>
        <p:nvSpPr>
          <p:cNvPr id="24" name="Text 22"/>
          <p:cNvSpPr txBox="1"/>
          <p:nvPr/>
        </p:nvSpPr>
        <p:spPr>
          <a:xfrm>
            <a:off x="640080" y="396849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
        <p:nvSpPr>
          <p:cNvPr id="25" name="Text 23"/>
          <p:cNvSpPr txBox="1"/>
          <p:nvPr/>
        </p:nvSpPr>
        <p:spPr>
          <a:xfrm>
            <a:off x="1325880" y="3822192"/>
            <a:ext cx="3017520" cy="804672"/>
          </a:xfrm>
          <a:prstGeom prst="rect">
            <a:avLst/>
          </a:prstGeom>
          <a:noFill/>
          <a:ln/>
        </p:spPr>
        <p:txBody>
          <a:bodyPr wrap="square" lIns="0" tIns="0" rIns="0" bIns="0" rtlCol="0" anchor="ctr"/>
          <a:lstStyle/>
          <a:p>
            <a:pPr marL="0" indent="0">
              <a:buNone/>
            </a:pPr>
            <a:r>
              <a:rPr lang="en-US" dirty="0">
                <a:solidFill>
                  <a:srgbClr val="0A3D4A"/>
                </a:solidFill>
              </a:rPr>
              <a:t>Both questions require scanning</a:t>
            </a:r>
            <a:endParaRPr lang="en-US" dirty="0"/>
          </a:p>
        </p:txBody>
      </p:sp>
      <p:sp>
        <p:nvSpPr>
          <p:cNvPr id="26" name="Shape 24"/>
          <p:cNvSpPr/>
          <p:nvPr/>
        </p:nvSpPr>
        <p:spPr>
          <a:xfrm>
            <a:off x="4663440" y="3767328"/>
            <a:ext cx="40233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27" name="Shape 25"/>
          <p:cNvSpPr/>
          <p:nvPr/>
        </p:nvSpPr>
        <p:spPr>
          <a:xfrm>
            <a:off x="4846320" y="3968496"/>
            <a:ext cx="512064" cy="512064"/>
          </a:xfrm>
          <a:prstGeom prst="ellipse">
            <a:avLst/>
          </a:prstGeom>
          <a:solidFill>
            <a:srgbClr val="7B5EA7"/>
          </a:solidFill>
          <a:ln/>
        </p:spPr>
      </p:sp>
      <p:sp>
        <p:nvSpPr>
          <p:cNvPr id="28" name="Text 26"/>
          <p:cNvSpPr txBox="1"/>
          <p:nvPr/>
        </p:nvSpPr>
        <p:spPr>
          <a:xfrm>
            <a:off x="4846320" y="396849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29" name="Text 27"/>
          <p:cNvSpPr txBox="1"/>
          <p:nvPr/>
        </p:nvSpPr>
        <p:spPr>
          <a:xfrm>
            <a:off x="5532120" y="3822192"/>
            <a:ext cx="3017520" cy="804672"/>
          </a:xfrm>
          <a:prstGeom prst="rect">
            <a:avLst/>
          </a:prstGeom>
          <a:noFill/>
          <a:ln/>
        </p:spPr>
        <p:txBody>
          <a:bodyPr wrap="square" lIns="0" tIns="0" rIns="0" bIns="0" rtlCol="0" anchor="ctr"/>
          <a:lstStyle/>
          <a:p>
            <a:pPr marL="0" indent="0">
              <a:buNone/>
            </a:pPr>
            <a:r>
              <a:rPr lang="en-US" sz="1600" dirty="0">
                <a:solidFill>
                  <a:srgbClr val="0A3D4A"/>
                </a:solidFill>
              </a:rPr>
              <a:t>Neither requires either skill</a:t>
            </a:r>
            <a:endParaRPr lang="en-US" sz="1600" dirty="0"/>
          </a:p>
        </p:txBody>
      </p:sp>
      <p:sp>
        <p:nvSpPr>
          <p:cNvPr id="30"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A</a:t>
            </a:r>
            <a:endParaRPr lang="en-US" sz="4000" dirty="0"/>
          </a:p>
        </p:txBody>
      </p:sp>
      <p:sp>
        <p:nvSpPr>
          <p:cNvPr id="10" name="Text 8"/>
          <p:cNvSpPr txBox="1"/>
          <p:nvPr/>
        </p:nvSpPr>
        <p:spPr>
          <a:xfrm>
            <a:off x="1709530" y="1234440"/>
            <a:ext cx="6794390" cy="1325880"/>
          </a:xfrm>
          <a:prstGeom prst="rect">
            <a:avLst/>
          </a:prstGeom>
          <a:noFill/>
          <a:ln/>
        </p:spPr>
        <p:txBody>
          <a:bodyPr wrap="square" lIns="0" tIns="0" rIns="0" bIns="0" rtlCol="0" anchor="ctr"/>
          <a:lstStyle/>
          <a:p>
            <a:pPr marL="0" indent="0">
              <a:buNone/>
            </a:pPr>
            <a:r>
              <a:rPr lang="en-US" sz="2000" b="1" dirty="0">
                <a:solidFill>
                  <a:srgbClr val="0A3D4A"/>
                </a:solidFill>
              </a:rPr>
              <a:t>Skimming for Question 1 and scanning for Question 2</a:t>
            </a:r>
            <a:endParaRPr lang="en-US" sz="2000"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b="1" dirty="0">
                <a:solidFill>
                  <a:srgbClr val="0A3D4A"/>
                </a:solidFill>
              </a:rPr>
              <a:t>Question 1 → Skimming:</a:t>
            </a:r>
            <a:r>
              <a:rPr lang="en-US" sz="1700" dirty="0">
                <a:solidFill>
                  <a:srgbClr val="0A3D4A"/>
                </a:solidFill>
              </a:rPr>
              <a:t> You want the </a:t>
            </a:r>
            <a:r>
              <a:rPr lang="en-US" sz="1700" b="1" dirty="0">
                <a:solidFill>
                  <a:srgbClr val="0A3D4A"/>
                </a:solidFill>
              </a:rPr>
              <a:t>main idea</a:t>
            </a:r>
            <a:r>
              <a:rPr lang="en-US" sz="1700" dirty="0">
                <a:solidFill>
                  <a:srgbClr val="0A3D4A"/>
                </a:solidFill>
              </a:rPr>
              <a:t>.
</a:t>
            </a:r>
          </a:p>
          <a:p>
            <a:pPr marL="0" indent="0">
              <a:spcAft>
                <a:spcPts val="300"/>
              </a:spcAft>
              <a:buNone/>
            </a:pPr>
            <a:r>
              <a:rPr lang="en-US" sz="1700" b="1" dirty="0">
                <a:solidFill>
                  <a:srgbClr val="0A3D4A"/>
                </a:solidFill>
              </a:rPr>
              <a:t>Question 2 → Scanning:</a:t>
            </a:r>
            <a:r>
              <a:rPr lang="en-US" sz="1700" dirty="0">
                <a:solidFill>
                  <a:srgbClr val="0A3D4A"/>
                </a:solidFill>
              </a:rPr>
              <a:t> You want </a:t>
            </a:r>
            <a:r>
              <a:rPr lang="en-US" sz="1700" b="1" dirty="0">
                <a:solidFill>
                  <a:srgbClr val="0A3D4A"/>
                </a:solidFill>
              </a:rPr>
              <a:t>specific information</a:t>
            </a:r>
            <a:r>
              <a:rPr lang="en-US" sz="1700" dirty="0">
                <a:solidFill>
                  <a:srgbClr val="0A3D4A"/>
                </a:solidFill>
              </a:rPr>
              <a:t>.</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2000" b="1" dirty="0">
                <a:highlight>
                  <a:srgbClr val="FFFF00"/>
                </a:highlight>
              </a:rPr>
              <a:t>Remember</a:t>
            </a:r>
            <a:r>
              <a:rPr lang="en-US" sz="2000" b="1" dirty="0">
                <a:solidFill>
                  <a:srgbClr val="FFC857"/>
                </a:solidFill>
              </a:rPr>
              <a:t>: </a:t>
            </a:r>
            <a:r>
              <a:rPr lang="en-US" sz="2000" b="1" dirty="0">
                <a:solidFill>
                  <a:srgbClr val="FFFFFF"/>
                </a:solidFill>
              </a:rPr>
              <a:t>SKIM = BIG PICTURE  |  SCAN = SPECIFIC INFORMATION</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SOURCE TEXT: SEA TURTLES</a:t>
            </a:r>
            <a:endParaRPr lang="en-US" sz="2600" dirty="0"/>
          </a:p>
        </p:txBody>
      </p:sp>
      <p:sp>
        <p:nvSpPr>
          <p:cNvPr id="7" name="Shape 5"/>
          <p:cNvSpPr/>
          <p:nvPr/>
        </p:nvSpPr>
        <p:spPr>
          <a:xfrm>
            <a:off x="457200" y="1188720"/>
            <a:ext cx="4023360" cy="1691640"/>
          </a:xfrm>
          <a:prstGeom prst="roundRect">
            <a:avLst>
              <a:gd name="adj" fmla="val 8108"/>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457200" y="1206743"/>
            <a:ext cx="3657600" cy="274320"/>
          </a:xfrm>
          <a:prstGeom prst="rect">
            <a:avLst/>
          </a:prstGeom>
          <a:noFill/>
          <a:ln/>
        </p:spPr>
        <p:txBody>
          <a:bodyPr wrap="square" lIns="0" tIns="0" rIns="0" bIns="0" rtlCol="0" anchor="t"/>
          <a:lstStyle/>
          <a:p>
            <a:pPr marL="0" indent="0">
              <a:buNone/>
            </a:pPr>
            <a:r>
              <a:rPr lang="en-US" sz="1300" b="1" dirty="0">
                <a:solidFill>
                  <a:srgbClr val="FF6B5E"/>
                </a:solidFill>
              </a:rPr>
              <a:t>LIFE AND APPEARANCE</a:t>
            </a:r>
            <a:endParaRPr lang="en-US" sz="1300" dirty="0"/>
          </a:p>
        </p:txBody>
      </p:sp>
      <p:sp>
        <p:nvSpPr>
          <p:cNvPr id="9" name="Text 7"/>
          <p:cNvSpPr txBox="1"/>
          <p:nvPr/>
        </p:nvSpPr>
        <p:spPr>
          <a:xfrm>
            <a:off x="457200" y="1417320"/>
            <a:ext cx="4023360" cy="1234440"/>
          </a:xfrm>
          <a:prstGeom prst="rect">
            <a:avLst/>
          </a:prstGeom>
          <a:noFill/>
          <a:ln/>
        </p:spPr>
        <p:txBody>
          <a:bodyPr wrap="square" lIns="0" tIns="0" rIns="0" bIns="0" rtlCol="0" anchor="t"/>
          <a:lstStyle/>
          <a:p>
            <a:pPr marL="0" indent="0">
              <a:buNone/>
            </a:pPr>
            <a:r>
              <a:rPr lang="en-US" sz="1600" dirty="0">
                <a:solidFill>
                  <a:srgbClr val="0A3D4A"/>
                </a:solidFill>
              </a:rPr>
              <a:t>Sea turtles are marine reptiles with large flippers and streamlined bodies. They live in warm and temperate oceans around the world. There are seven species of sea turtle. Although they spend most of their lives in water, females return to beaches to lay their eggs.</a:t>
            </a:r>
            <a:endParaRPr lang="en-US" sz="1600" dirty="0"/>
          </a:p>
        </p:txBody>
      </p:sp>
      <p:sp>
        <p:nvSpPr>
          <p:cNvPr id="10" name="Shape 8"/>
          <p:cNvSpPr/>
          <p:nvPr/>
        </p:nvSpPr>
        <p:spPr>
          <a:xfrm>
            <a:off x="4663440" y="1188720"/>
            <a:ext cx="4023360" cy="1691640"/>
          </a:xfrm>
          <a:prstGeom prst="roundRect">
            <a:avLst>
              <a:gd name="adj" fmla="val 8108"/>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4663440" y="1216152"/>
            <a:ext cx="3657600" cy="274320"/>
          </a:xfrm>
          <a:prstGeom prst="rect">
            <a:avLst/>
          </a:prstGeom>
          <a:noFill/>
          <a:ln/>
        </p:spPr>
        <p:txBody>
          <a:bodyPr wrap="square" lIns="0" tIns="0" rIns="0" bIns="0" rtlCol="0" anchor="t"/>
          <a:lstStyle/>
          <a:p>
            <a:pPr marL="0" indent="0">
              <a:buNone/>
            </a:pPr>
            <a:r>
              <a:rPr lang="en-US" sz="1300" b="1" dirty="0">
                <a:solidFill>
                  <a:srgbClr val="0E7C86"/>
                </a:solidFill>
              </a:rPr>
              <a:t>FOOD</a:t>
            </a:r>
            <a:endParaRPr lang="en-US" sz="1300" dirty="0"/>
          </a:p>
        </p:txBody>
      </p:sp>
      <p:sp>
        <p:nvSpPr>
          <p:cNvPr id="12" name="Text 10"/>
          <p:cNvSpPr txBox="1"/>
          <p:nvPr/>
        </p:nvSpPr>
        <p:spPr>
          <a:xfrm>
            <a:off x="4663440" y="1436867"/>
            <a:ext cx="3840480" cy="1234440"/>
          </a:xfrm>
          <a:prstGeom prst="rect">
            <a:avLst/>
          </a:prstGeom>
          <a:noFill/>
          <a:ln/>
        </p:spPr>
        <p:txBody>
          <a:bodyPr wrap="square" lIns="0" tIns="0" rIns="0" bIns="0" rtlCol="0" anchor="t"/>
          <a:lstStyle/>
          <a:p>
            <a:pPr marL="0" indent="0">
              <a:buNone/>
            </a:pPr>
            <a:r>
              <a:rPr lang="en-US" sz="1600" dirty="0">
                <a:solidFill>
                  <a:srgbClr val="0A3D4A"/>
                </a:solidFill>
              </a:rPr>
              <a:t>Different species eat different foods. Green sea turtles mainly eat seagrass and algae, while leatherback turtles often eat jellyfish.</a:t>
            </a:r>
            <a:endParaRPr lang="en-US" sz="1600" dirty="0"/>
          </a:p>
        </p:txBody>
      </p:sp>
      <p:sp>
        <p:nvSpPr>
          <p:cNvPr id="13" name="Shape 11"/>
          <p:cNvSpPr/>
          <p:nvPr/>
        </p:nvSpPr>
        <p:spPr>
          <a:xfrm>
            <a:off x="457200" y="2921772"/>
            <a:ext cx="4023360" cy="1787387"/>
          </a:xfrm>
          <a:prstGeom prst="roundRect">
            <a:avLst>
              <a:gd name="adj" fmla="val 8108"/>
            </a:avLst>
          </a:prstGeom>
          <a:solidFill>
            <a:srgbClr val="FFFFFF"/>
          </a:solidFill>
          <a:ln/>
          <a:effectLst>
            <a:outerShdw blurRad="76200" dist="25400" dir="5400000" algn="bl" rotWithShape="0">
              <a:srgbClr val="000000">
                <a:alpha val="15000"/>
              </a:srgbClr>
            </a:outerShdw>
          </a:effectLst>
        </p:spPr>
      </p:sp>
      <p:sp>
        <p:nvSpPr>
          <p:cNvPr id="14" name="Text 12"/>
          <p:cNvSpPr txBox="1"/>
          <p:nvPr/>
        </p:nvSpPr>
        <p:spPr>
          <a:xfrm>
            <a:off x="457200" y="2951093"/>
            <a:ext cx="3657600" cy="274320"/>
          </a:xfrm>
          <a:prstGeom prst="rect">
            <a:avLst/>
          </a:prstGeom>
          <a:noFill/>
          <a:ln/>
        </p:spPr>
        <p:txBody>
          <a:bodyPr wrap="square" lIns="0" tIns="0" rIns="0" bIns="0" rtlCol="0" anchor="t"/>
          <a:lstStyle/>
          <a:p>
            <a:pPr marL="0" indent="0">
              <a:buNone/>
            </a:pPr>
            <a:r>
              <a:rPr lang="en-US" sz="1300" b="1" dirty="0">
                <a:solidFill>
                  <a:srgbClr val="7B5EA7"/>
                </a:solidFill>
              </a:rPr>
              <a:t>THREATS</a:t>
            </a:r>
            <a:endParaRPr lang="en-US" sz="1300" dirty="0"/>
          </a:p>
        </p:txBody>
      </p:sp>
      <p:sp>
        <p:nvSpPr>
          <p:cNvPr id="15" name="Text 13"/>
          <p:cNvSpPr txBox="1"/>
          <p:nvPr/>
        </p:nvSpPr>
        <p:spPr>
          <a:xfrm>
            <a:off x="457200" y="3177408"/>
            <a:ext cx="3840480" cy="1234440"/>
          </a:xfrm>
          <a:prstGeom prst="rect">
            <a:avLst/>
          </a:prstGeom>
          <a:noFill/>
          <a:ln/>
        </p:spPr>
        <p:txBody>
          <a:bodyPr wrap="square" lIns="0" tIns="0" rIns="0" bIns="0" rtlCol="0" anchor="t"/>
          <a:lstStyle/>
          <a:p>
            <a:pPr marL="0" indent="0">
              <a:buNone/>
            </a:pPr>
            <a:r>
              <a:rPr lang="en-US" sz="1600" dirty="0">
                <a:solidFill>
                  <a:srgbClr val="0A3D4A"/>
                </a:solidFill>
              </a:rPr>
              <a:t>Sea turtles face several dangers. They may mistake plastic bags for food, which can make them seriously ill. They can also become trapped in fishing equipment. The destruction of nesting beaches makes it harder for some turtles to reproduce.</a:t>
            </a:r>
            <a:endParaRPr lang="en-US" sz="1600" dirty="0"/>
          </a:p>
        </p:txBody>
      </p:sp>
      <p:sp>
        <p:nvSpPr>
          <p:cNvPr id="16" name="Shape 14"/>
          <p:cNvSpPr/>
          <p:nvPr/>
        </p:nvSpPr>
        <p:spPr>
          <a:xfrm>
            <a:off x="4663440" y="2921773"/>
            <a:ext cx="4023360" cy="1787387"/>
          </a:xfrm>
          <a:prstGeom prst="roundRect">
            <a:avLst>
              <a:gd name="adj" fmla="val 8108"/>
            </a:avLst>
          </a:prstGeom>
          <a:solidFill>
            <a:srgbClr val="FFFFFF"/>
          </a:solidFill>
          <a:ln/>
          <a:effectLst>
            <a:outerShdw blurRad="76200" dist="25400" dir="5400000" algn="bl" rotWithShape="0">
              <a:srgbClr val="000000">
                <a:alpha val="15000"/>
              </a:srgbClr>
            </a:outerShdw>
          </a:effectLst>
        </p:spPr>
      </p:sp>
      <p:sp>
        <p:nvSpPr>
          <p:cNvPr id="17" name="Text 15"/>
          <p:cNvSpPr txBox="1"/>
          <p:nvPr/>
        </p:nvSpPr>
        <p:spPr>
          <a:xfrm>
            <a:off x="4663440" y="2971800"/>
            <a:ext cx="3657600" cy="274320"/>
          </a:xfrm>
          <a:prstGeom prst="rect">
            <a:avLst/>
          </a:prstGeom>
          <a:noFill/>
          <a:ln/>
        </p:spPr>
        <p:txBody>
          <a:bodyPr wrap="square" lIns="0" tIns="0" rIns="0" bIns="0" rtlCol="0" anchor="t"/>
          <a:lstStyle/>
          <a:p>
            <a:pPr marL="0" indent="0">
              <a:buNone/>
            </a:pPr>
            <a:r>
              <a:rPr lang="en-US" sz="1300" b="1" dirty="0">
                <a:solidFill>
                  <a:srgbClr val="3A86C8"/>
                </a:solidFill>
              </a:rPr>
              <a:t>PROTECTION</a:t>
            </a:r>
            <a:endParaRPr lang="en-US" sz="1300" dirty="0"/>
          </a:p>
        </p:txBody>
      </p:sp>
      <p:sp>
        <p:nvSpPr>
          <p:cNvPr id="18" name="Text 16"/>
          <p:cNvSpPr txBox="1"/>
          <p:nvPr/>
        </p:nvSpPr>
        <p:spPr>
          <a:xfrm>
            <a:off x="4663440" y="3169291"/>
            <a:ext cx="3840480" cy="1234440"/>
          </a:xfrm>
          <a:prstGeom prst="rect">
            <a:avLst/>
          </a:prstGeom>
          <a:noFill/>
          <a:ln/>
        </p:spPr>
        <p:txBody>
          <a:bodyPr wrap="square" lIns="0" tIns="0" rIns="0" bIns="0" rtlCol="0" anchor="t"/>
          <a:lstStyle/>
          <a:p>
            <a:pPr marL="0" indent="0">
              <a:buNone/>
            </a:pPr>
            <a:r>
              <a:rPr lang="en-US" sz="1600" dirty="0">
                <a:solidFill>
                  <a:srgbClr val="0A3D4A"/>
                </a:solidFill>
              </a:rPr>
              <a:t>Many organisations are working to protect sea turtles. Some beaches are protected during nesting season. People are also encouraged to reduce plastic waste, and some fishing equipment is being changed to reduce the number of turtles that become trapped.</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SCAN THE SOURCE</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b="1" i="1" dirty="0">
                <a:solidFill>
                  <a:srgbClr val="4A6B73"/>
                </a:solidFill>
              </a:rPr>
              <a:t>Find information for this report section:</a:t>
            </a:r>
            <a:endParaRPr lang="en-US" b="1" dirty="0"/>
          </a:p>
        </p:txBody>
      </p:sp>
      <p:sp>
        <p:nvSpPr>
          <p:cNvPr id="8" name="Shape 6"/>
          <p:cNvSpPr/>
          <p:nvPr/>
        </p:nvSpPr>
        <p:spPr>
          <a:xfrm>
            <a:off x="457200" y="1280160"/>
            <a:ext cx="8229600" cy="731520"/>
          </a:xfrm>
          <a:prstGeom prst="roundRect">
            <a:avLst>
              <a:gd name="adj" fmla="val 18750"/>
            </a:avLst>
          </a:prstGeom>
          <a:solidFill>
            <a:srgbClr val="0A3D4A"/>
          </a:solidFill>
          <a:ln/>
          <a:effectLst>
            <a:outerShdw blurRad="76200" dist="25400" dir="5400000" algn="bl" rotWithShape="0">
              <a:srgbClr val="000000">
                <a:alpha val="15000"/>
              </a:srgbClr>
            </a:outerShdw>
          </a:effectLst>
        </p:spPr>
      </p:sp>
      <p:sp>
        <p:nvSpPr>
          <p:cNvPr id="9" name="Text 7"/>
          <p:cNvSpPr txBox="1"/>
          <p:nvPr/>
        </p:nvSpPr>
        <p:spPr>
          <a:xfrm>
            <a:off x="731520" y="1280160"/>
            <a:ext cx="7680960" cy="731520"/>
          </a:xfrm>
          <a:prstGeom prst="rect">
            <a:avLst/>
          </a:prstGeom>
          <a:noFill/>
          <a:ln/>
        </p:spPr>
        <p:txBody>
          <a:bodyPr wrap="square" lIns="0" tIns="0" rIns="0" bIns="0" rtlCol="0" anchor="ctr"/>
          <a:lstStyle/>
          <a:p>
            <a:pPr marL="0" indent="0">
              <a:buNone/>
            </a:pPr>
            <a:r>
              <a:rPr lang="en-US" sz="2200" b="1" dirty="0">
                <a:solidFill>
                  <a:srgbClr val="FFC857"/>
                </a:solidFill>
              </a:rPr>
              <a:t>THREATS   </a:t>
            </a:r>
            <a:r>
              <a:rPr lang="en-US" sz="1800" b="1" dirty="0">
                <a:solidFill>
                  <a:srgbClr val="FFFFFF"/>
                </a:solidFill>
              </a:rPr>
              <a:t>Which TWO dangers are mentioned?</a:t>
            </a:r>
            <a:endParaRPr lang="en-US" sz="1600" dirty="0"/>
          </a:p>
        </p:txBody>
      </p:sp>
      <p:sp>
        <p:nvSpPr>
          <p:cNvPr id="10" name="Shape 8"/>
          <p:cNvSpPr/>
          <p:nvPr/>
        </p:nvSpPr>
        <p:spPr>
          <a:xfrm>
            <a:off x="457200" y="2194560"/>
            <a:ext cx="4023360" cy="1188720"/>
          </a:xfrm>
          <a:prstGeom prst="roundRect">
            <a:avLst>
              <a:gd name="adj" fmla="val 11538"/>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640080" y="2532888"/>
            <a:ext cx="512064" cy="512064"/>
          </a:xfrm>
          <a:prstGeom prst="ellipse">
            <a:avLst/>
          </a:prstGeom>
          <a:solidFill>
            <a:srgbClr val="FF6B5E"/>
          </a:solidFill>
          <a:ln/>
        </p:spPr>
      </p:sp>
      <p:sp>
        <p:nvSpPr>
          <p:cNvPr id="12" name="Text 10"/>
          <p:cNvSpPr txBox="1"/>
          <p:nvPr/>
        </p:nvSpPr>
        <p:spPr>
          <a:xfrm>
            <a:off x="640080" y="25328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13" name="Text 11"/>
          <p:cNvSpPr txBox="1"/>
          <p:nvPr/>
        </p:nvSpPr>
        <p:spPr>
          <a:xfrm>
            <a:off x="1325880" y="2249424"/>
            <a:ext cx="3017520" cy="1078992"/>
          </a:xfrm>
          <a:prstGeom prst="rect">
            <a:avLst/>
          </a:prstGeom>
          <a:noFill/>
          <a:ln/>
        </p:spPr>
        <p:txBody>
          <a:bodyPr wrap="square" lIns="0" tIns="0" rIns="0" bIns="0" rtlCol="0" anchor="ctr"/>
          <a:lstStyle/>
          <a:p>
            <a:pPr marL="0" indent="0">
              <a:buNone/>
            </a:pPr>
            <a:r>
              <a:rPr lang="en-US" sz="1600" dirty="0">
                <a:solidFill>
                  <a:srgbClr val="0A3D4A"/>
                </a:solidFill>
              </a:rPr>
              <a:t>Lack of food</a:t>
            </a:r>
            <a:endParaRPr lang="en-US" sz="1600" dirty="0"/>
          </a:p>
        </p:txBody>
      </p:sp>
      <p:sp>
        <p:nvSpPr>
          <p:cNvPr id="14" name="Shape 12"/>
          <p:cNvSpPr/>
          <p:nvPr/>
        </p:nvSpPr>
        <p:spPr>
          <a:xfrm>
            <a:off x="4663440" y="2194560"/>
            <a:ext cx="4023360" cy="1188720"/>
          </a:xfrm>
          <a:prstGeom prst="roundRect">
            <a:avLst>
              <a:gd name="adj" fmla="val 11538"/>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4846320" y="2532888"/>
            <a:ext cx="512064" cy="512064"/>
          </a:xfrm>
          <a:prstGeom prst="ellipse">
            <a:avLst/>
          </a:prstGeom>
          <a:solidFill>
            <a:srgbClr val="0E7C86"/>
          </a:solidFill>
          <a:ln/>
        </p:spPr>
      </p:sp>
      <p:sp>
        <p:nvSpPr>
          <p:cNvPr id="16" name="Text 14"/>
          <p:cNvSpPr txBox="1"/>
          <p:nvPr/>
        </p:nvSpPr>
        <p:spPr>
          <a:xfrm>
            <a:off x="4846320" y="25328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17" name="Text 15"/>
          <p:cNvSpPr txBox="1"/>
          <p:nvPr/>
        </p:nvSpPr>
        <p:spPr>
          <a:xfrm>
            <a:off x="5532120" y="2249424"/>
            <a:ext cx="3017520" cy="1078992"/>
          </a:xfrm>
          <a:prstGeom prst="rect">
            <a:avLst/>
          </a:prstGeom>
          <a:noFill/>
          <a:ln/>
        </p:spPr>
        <p:txBody>
          <a:bodyPr wrap="square" lIns="0" tIns="0" rIns="0" bIns="0" rtlCol="0" anchor="ctr"/>
          <a:lstStyle/>
          <a:p>
            <a:pPr marL="0" indent="0">
              <a:buNone/>
            </a:pPr>
            <a:r>
              <a:rPr lang="en-US" sz="1600" dirty="0">
                <a:solidFill>
                  <a:srgbClr val="0A3D4A"/>
                </a:solidFill>
              </a:rPr>
              <a:t>Plastic pollution</a:t>
            </a:r>
            <a:endParaRPr lang="en-US" sz="1600" dirty="0"/>
          </a:p>
        </p:txBody>
      </p:sp>
      <p:sp>
        <p:nvSpPr>
          <p:cNvPr id="18" name="Shape 16"/>
          <p:cNvSpPr/>
          <p:nvPr/>
        </p:nvSpPr>
        <p:spPr>
          <a:xfrm>
            <a:off x="457200" y="3493008"/>
            <a:ext cx="4023360" cy="1188720"/>
          </a:xfrm>
          <a:prstGeom prst="roundRect">
            <a:avLst>
              <a:gd name="adj" fmla="val 11538"/>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40080" y="3831336"/>
            <a:ext cx="512064" cy="512064"/>
          </a:xfrm>
          <a:prstGeom prst="ellipse">
            <a:avLst/>
          </a:prstGeom>
          <a:solidFill>
            <a:srgbClr val="3A86C8"/>
          </a:solidFill>
          <a:ln/>
        </p:spPr>
      </p:sp>
      <p:sp>
        <p:nvSpPr>
          <p:cNvPr id="20" name="Text 18"/>
          <p:cNvSpPr txBox="1"/>
          <p:nvPr/>
        </p:nvSpPr>
        <p:spPr>
          <a:xfrm>
            <a:off x="640080" y="3831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
        <p:nvSpPr>
          <p:cNvPr id="21" name="Text 19"/>
          <p:cNvSpPr txBox="1"/>
          <p:nvPr/>
        </p:nvSpPr>
        <p:spPr>
          <a:xfrm>
            <a:off x="1325880" y="3547872"/>
            <a:ext cx="3017520" cy="1078992"/>
          </a:xfrm>
          <a:prstGeom prst="rect">
            <a:avLst/>
          </a:prstGeom>
          <a:noFill/>
          <a:ln/>
        </p:spPr>
        <p:txBody>
          <a:bodyPr wrap="square" lIns="0" tIns="0" rIns="0" bIns="0" rtlCol="0" anchor="ctr"/>
          <a:lstStyle/>
          <a:p>
            <a:pPr marL="0" indent="0">
              <a:buNone/>
            </a:pPr>
            <a:r>
              <a:rPr lang="en-US" sz="1600" dirty="0">
                <a:solidFill>
                  <a:srgbClr val="0A3D4A"/>
                </a:solidFill>
              </a:rPr>
              <a:t>Fishing equipment</a:t>
            </a:r>
            <a:endParaRPr lang="en-US" sz="1600" dirty="0"/>
          </a:p>
        </p:txBody>
      </p:sp>
      <p:sp>
        <p:nvSpPr>
          <p:cNvPr id="22" name="Shape 20"/>
          <p:cNvSpPr/>
          <p:nvPr/>
        </p:nvSpPr>
        <p:spPr>
          <a:xfrm>
            <a:off x="4663440" y="3493008"/>
            <a:ext cx="4023360" cy="1188720"/>
          </a:xfrm>
          <a:prstGeom prst="roundRect">
            <a:avLst>
              <a:gd name="adj" fmla="val 11538"/>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4846320" y="3831336"/>
            <a:ext cx="512064" cy="512064"/>
          </a:xfrm>
          <a:prstGeom prst="ellipse">
            <a:avLst/>
          </a:prstGeom>
          <a:solidFill>
            <a:srgbClr val="7B5EA7"/>
          </a:solidFill>
          <a:ln/>
        </p:spPr>
      </p:sp>
      <p:sp>
        <p:nvSpPr>
          <p:cNvPr id="24" name="Text 22"/>
          <p:cNvSpPr txBox="1"/>
          <p:nvPr/>
        </p:nvSpPr>
        <p:spPr>
          <a:xfrm>
            <a:off x="4846320" y="3831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25" name="Text 23"/>
          <p:cNvSpPr txBox="1"/>
          <p:nvPr/>
        </p:nvSpPr>
        <p:spPr>
          <a:xfrm>
            <a:off x="5532120" y="3547872"/>
            <a:ext cx="3017520" cy="1078992"/>
          </a:xfrm>
          <a:prstGeom prst="rect">
            <a:avLst/>
          </a:prstGeom>
          <a:noFill/>
          <a:ln/>
        </p:spPr>
        <p:txBody>
          <a:bodyPr wrap="square" lIns="0" tIns="0" rIns="0" bIns="0" rtlCol="0" anchor="ctr"/>
          <a:lstStyle/>
          <a:p>
            <a:pPr marL="0" indent="0">
              <a:buNone/>
            </a:pPr>
            <a:r>
              <a:rPr lang="en-US" sz="1600" dirty="0">
                <a:solidFill>
                  <a:srgbClr val="0A3D4A"/>
                </a:solidFill>
              </a:rPr>
              <a:t>Loud music</a:t>
            </a:r>
            <a:endParaRPr lang="en-US" sz="1600"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rPr>
              <a:t>B+C</a:t>
            </a:r>
            <a:endParaRPr lang="en-US" sz="2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400" b="1" dirty="0">
                <a:solidFill>
                  <a:srgbClr val="0A3D4A"/>
                </a:solidFill>
              </a:rPr>
              <a:t>B — Plastic pollution</a:t>
            </a:r>
            <a:endParaRPr lang="en-US" sz="2400" dirty="0"/>
          </a:p>
          <a:p>
            <a:pPr marL="0" indent="0">
              <a:buNone/>
            </a:pPr>
            <a:r>
              <a:rPr lang="en-US" sz="2400" b="1" dirty="0">
                <a:solidFill>
                  <a:srgbClr val="0A3D4A"/>
                </a:solidFill>
              </a:rPr>
              <a:t>C — Fishing equipment</a:t>
            </a:r>
            <a:endParaRPr lang="en-US" sz="2400" dirty="0"/>
          </a:p>
        </p:txBody>
      </p:sp>
      <p:sp>
        <p:nvSpPr>
          <p:cNvPr id="11" name="Text 9"/>
          <p:cNvSpPr txBox="1"/>
          <p:nvPr/>
        </p:nvSpPr>
        <p:spPr>
          <a:xfrm>
            <a:off x="548640" y="2697480"/>
            <a:ext cx="8046720" cy="19202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The source also gives another threat: </a:t>
            </a:r>
          </a:p>
          <a:p>
            <a:pPr marL="0" indent="0">
              <a:spcAft>
                <a:spcPts val="300"/>
              </a:spcAft>
              <a:buNone/>
            </a:pPr>
            <a:r>
              <a:rPr lang="en-US" sz="1700" b="1" dirty="0">
                <a:solidFill>
                  <a:srgbClr val="0A3D4A"/>
                </a:solidFill>
              </a:rPr>
              <a:t>destruction of nesting beaches</a:t>
            </a:r>
            <a:r>
              <a:rPr lang="en-US" sz="1700" dirty="0">
                <a:solidFill>
                  <a:srgbClr val="0A3D4A"/>
                </a:solidFill>
              </a:rPr>
              <a:t>.
</a:t>
            </a:r>
            <a:r>
              <a:rPr lang="en-US" sz="1700" b="1" dirty="0">
                <a:solidFill>
                  <a:srgbClr val="0A3D4A"/>
                </a:solidFill>
              </a:rPr>
              <a:t>Researcher thinking:</a:t>
            </a:r>
            <a:r>
              <a:rPr lang="en-US" sz="1700" dirty="0">
                <a:solidFill>
                  <a:srgbClr val="0A3D4A"/>
                </a:solidFill>
              </a:rPr>
              <a:t> I don't need all the information in the article.</a:t>
            </a:r>
          </a:p>
          <a:p>
            <a:pPr marL="0" indent="0">
              <a:spcAft>
                <a:spcPts val="300"/>
              </a:spcAft>
              <a:buNone/>
            </a:pPr>
            <a:r>
              <a:rPr lang="en-US" sz="1700" dirty="0">
                <a:solidFill>
                  <a:srgbClr val="0A3D4A"/>
                </a:solidFill>
              </a:rPr>
              <a:t> I need information that answers my research question.</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DOES IT BELONG?</a:t>
            </a:r>
            <a:endParaRPr lang="en-US" sz="2600" dirty="0"/>
          </a:p>
        </p:txBody>
      </p:sp>
      <p:sp>
        <p:nvSpPr>
          <p:cNvPr id="7" name="Shape 5"/>
          <p:cNvSpPr/>
          <p:nvPr/>
        </p:nvSpPr>
        <p:spPr>
          <a:xfrm>
            <a:off x="457200" y="1188720"/>
            <a:ext cx="8229600" cy="640080"/>
          </a:xfrm>
          <a:prstGeom prst="roundRect">
            <a:avLst>
              <a:gd name="adj" fmla="val 21429"/>
            </a:avLst>
          </a:prstGeom>
          <a:solidFill>
            <a:srgbClr val="0A3D4A"/>
          </a:solidFill>
          <a:ln/>
          <a:effectLst>
            <a:outerShdw blurRad="76200" dist="25400" dir="5400000" algn="bl" rotWithShape="0">
              <a:srgbClr val="000000">
                <a:alpha val="15000"/>
              </a:srgbClr>
            </a:outerShdw>
          </a:effectLst>
        </p:spPr>
      </p:sp>
      <p:sp>
        <p:nvSpPr>
          <p:cNvPr id="8" name="Text 6"/>
          <p:cNvSpPr txBox="1"/>
          <p:nvPr/>
        </p:nvSpPr>
        <p:spPr>
          <a:xfrm>
            <a:off x="731520" y="1188720"/>
            <a:ext cx="7680960" cy="640080"/>
          </a:xfrm>
          <a:prstGeom prst="rect">
            <a:avLst/>
          </a:prstGeom>
          <a:noFill/>
          <a:ln/>
        </p:spPr>
        <p:txBody>
          <a:bodyPr wrap="square" lIns="0" tIns="0" rIns="0" bIns="0" rtlCol="0" anchor="ctr"/>
          <a:lstStyle/>
          <a:p>
            <a:pPr marL="0" indent="0">
              <a:buNone/>
            </a:pPr>
            <a:r>
              <a:rPr lang="en-US" sz="1800" b="1" dirty="0">
                <a:solidFill>
                  <a:srgbClr val="FFC857"/>
                </a:solidFill>
              </a:rPr>
              <a:t>You are researching:  </a:t>
            </a:r>
            <a:r>
              <a:rPr lang="en-US" sz="1800" b="1" dirty="0">
                <a:solidFill>
                  <a:srgbClr val="FFFFFF"/>
                </a:solidFill>
              </a:rPr>
              <a:t>THREATS TO SEA TURTLES</a:t>
            </a:r>
            <a:endParaRPr lang="en-US" sz="1800" dirty="0"/>
          </a:p>
        </p:txBody>
      </p:sp>
      <p:sp>
        <p:nvSpPr>
          <p:cNvPr id="9" name="Text 7"/>
          <p:cNvSpPr txBox="1"/>
          <p:nvPr/>
        </p:nvSpPr>
        <p:spPr>
          <a:xfrm>
            <a:off x="457200" y="1965960"/>
            <a:ext cx="8229600" cy="320040"/>
          </a:xfrm>
          <a:prstGeom prst="rect">
            <a:avLst/>
          </a:prstGeom>
          <a:noFill/>
          <a:ln/>
        </p:spPr>
        <p:txBody>
          <a:bodyPr wrap="square" lIns="0" tIns="0" rIns="0" bIns="0" rtlCol="0" anchor="t"/>
          <a:lstStyle/>
          <a:p>
            <a:pPr marL="0" indent="0">
              <a:buNone/>
            </a:pPr>
            <a:r>
              <a:rPr lang="en-US" sz="1600" b="1" dirty="0">
                <a:solidFill>
                  <a:srgbClr val="0A3D4A"/>
                </a:solidFill>
              </a:rPr>
              <a:t>Which information is relevant? Choose all the relevant information.</a:t>
            </a:r>
            <a:endParaRPr lang="en-US" sz="1600" dirty="0"/>
          </a:p>
        </p:txBody>
      </p:sp>
      <p:sp>
        <p:nvSpPr>
          <p:cNvPr id="10" name="Shape 8"/>
          <p:cNvSpPr/>
          <p:nvPr/>
        </p:nvSpPr>
        <p:spPr>
          <a:xfrm>
            <a:off x="457200" y="2423160"/>
            <a:ext cx="402336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640080" y="2715768"/>
            <a:ext cx="512064" cy="512064"/>
          </a:xfrm>
          <a:prstGeom prst="ellipse">
            <a:avLst/>
          </a:prstGeom>
          <a:solidFill>
            <a:srgbClr val="FF6B5E"/>
          </a:solidFill>
          <a:ln/>
        </p:spPr>
      </p:sp>
      <p:sp>
        <p:nvSpPr>
          <p:cNvPr id="12" name="Text 10"/>
          <p:cNvSpPr txBox="1"/>
          <p:nvPr/>
        </p:nvSpPr>
        <p:spPr>
          <a:xfrm>
            <a:off x="640080" y="27157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13" name="Text 11"/>
          <p:cNvSpPr txBox="1"/>
          <p:nvPr/>
        </p:nvSpPr>
        <p:spPr>
          <a:xfrm>
            <a:off x="1325880" y="2478024"/>
            <a:ext cx="3017520" cy="987552"/>
          </a:xfrm>
          <a:prstGeom prst="rect">
            <a:avLst/>
          </a:prstGeom>
          <a:noFill/>
          <a:ln/>
        </p:spPr>
        <p:txBody>
          <a:bodyPr wrap="square" lIns="0" tIns="0" rIns="0" bIns="0" rtlCol="0" anchor="ctr"/>
          <a:lstStyle/>
          <a:p>
            <a:pPr marL="0" indent="0">
              <a:buNone/>
            </a:pPr>
            <a:r>
              <a:rPr lang="en-US" sz="1500" dirty="0">
                <a:solidFill>
                  <a:srgbClr val="0A3D4A"/>
                </a:solidFill>
              </a:rPr>
              <a:t>There are seven species of sea turtle.</a:t>
            </a:r>
            <a:endParaRPr lang="en-US" sz="1500" dirty="0"/>
          </a:p>
        </p:txBody>
      </p:sp>
      <p:sp>
        <p:nvSpPr>
          <p:cNvPr id="14" name="Shape 12"/>
          <p:cNvSpPr/>
          <p:nvPr/>
        </p:nvSpPr>
        <p:spPr>
          <a:xfrm>
            <a:off x="4663440" y="2423160"/>
            <a:ext cx="402336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4846320" y="2715768"/>
            <a:ext cx="512064" cy="512064"/>
          </a:xfrm>
          <a:prstGeom prst="ellipse">
            <a:avLst/>
          </a:prstGeom>
          <a:solidFill>
            <a:srgbClr val="0E7C86"/>
          </a:solidFill>
          <a:ln/>
        </p:spPr>
      </p:sp>
      <p:sp>
        <p:nvSpPr>
          <p:cNvPr id="16" name="Text 14"/>
          <p:cNvSpPr txBox="1"/>
          <p:nvPr/>
        </p:nvSpPr>
        <p:spPr>
          <a:xfrm>
            <a:off x="4846320" y="27157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17" name="Text 15"/>
          <p:cNvSpPr txBox="1"/>
          <p:nvPr/>
        </p:nvSpPr>
        <p:spPr>
          <a:xfrm>
            <a:off x="5532120" y="2478024"/>
            <a:ext cx="3017520" cy="987552"/>
          </a:xfrm>
          <a:prstGeom prst="rect">
            <a:avLst/>
          </a:prstGeom>
          <a:noFill/>
          <a:ln/>
        </p:spPr>
        <p:txBody>
          <a:bodyPr wrap="square" lIns="0" tIns="0" rIns="0" bIns="0" rtlCol="0" anchor="ctr"/>
          <a:lstStyle/>
          <a:p>
            <a:pPr marL="0" indent="0">
              <a:buNone/>
            </a:pPr>
            <a:r>
              <a:rPr lang="en-US" sz="1500" dirty="0">
                <a:solidFill>
                  <a:srgbClr val="0A3D4A"/>
                </a:solidFill>
              </a:rPr>
              <a:t>Plastic bags can be mistaken for food.</a:t>
            </a:r>
            <a:endParaRPr lang="en-US" sz="1500" dirty="0"/>
          </a:p>
        </p:txBody>
      </p:sp>
      <p:sp>
        <p:nvSpPr>
          <p:cNvPr id="18" name="Shape 16"/>
          <p:cNvSpPr/>
          <p:nvPr/>
        </p:nvSpPr>
        <p:spPr>
          <a:xfrm>
            <a:off x="457200" y="3630168"/>
            <a:ext cx="402336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40080" y="3922776"/>
            <a:ext cx="512064" cy="512064"/>
          </a:xfrm>
          <a:prstGeom prst="ellipse">
            <a:avLst/>
          </a:prstGeom>
          <a:solidFill>
            <a:srgbClr val="3A86C8"/>
          </a:solidFill>
          <a:ln/>
        </p:spPr>
      </p:sp>
      <p:sp>
        <p:nvSpPr>
          <p:cNvPr id="20" name="Text 18"/>
          <p:cNvSpPr txBox="1"/>
          <p:nvPr/>
        </p:nvSpPr>
        <p:spPr>
          <a:xfrm>
            <a:off x="64008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
        <p:nvSpPr>
          <p:cNvPr id="21" name="Text 19"/>
          <p:cNvSpPr txBox="1"/>
          <p:nvPr/>
        </p:nvSpPr>
        <p:spPr>
          <a:xfrm>
            <a:off x="1325880" y="3685032"/>
            <a:ext cx="3017520" cy="987552"/>
          </a:xfrm>
          <a:prstGeom prst="rect">
            <a:avLst/>
          </a:prstGeom>
          <a:noFill/>
          <a:ln/>
        </p:spPr>
        <p:txBody>
          <a:bodyPr wrap="square" lIns="0" tIns="0" rIns="0" bIns="0" rtlCol="0" anchor="ctr"/>
          <a:lstStyle/>
          <a:p>
            <a:pPr marL="0" indent="0">
              <a:buNone/>
            </a:pPr>
            <a:r>
              <a:rPr lang="en-US" sz="1500" dirty="0">
                <a:solidFill>
                  <a:srgbClr val="0A3D4A"/>
                </a:solidFill>
              </a:rPr>
              <a:t>Green sea turtles mainly eat seagrass.</a:t>
            </a:r>
            <a:endParaRPr lang="en-US" sz="1500" dirty="0"/>
          </a:p>
        </p:txBody>
      </p:sp>
      <p:sp>
        <p:nvSpPr>
          <p:cNvPr id="22" name="Shape 20"/>
          <p:cNvSpPr/>
          <p:nvPr/>
        </p:nvSpPr>
        <p:spPr>
          <a:xfrm>
            <a:off x="4663440" y="3630168"/>
            <a:ext cx="4023360" cy="1097280"/>
          </a:xfrm>
          <a:prstGeom prst="roundRect">
            <a:avLst>
              <a:gd name="adj" fmla="val 12500"/>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4846320" y="3922776"/>
            <a:ext cx="512064" cy="512064"/>
          </a:xfrm>
          <a:prstGeom prst="ellipse">
            <a:avLst/>
          </a:prstGeom>
          <a:solidFill>
            <a:srgbClr val="7B5EA7"/>
          </a:solidFill>
          <a:ln/>
        </p:spPr>
      </p:sp>
      <p:sp>
        <p:nvSpPr>
          <p:cNvPr id="24" name="Text 22"/>
          <p:cNvSpPr txBox="1"/>
          <p:nvPr/>
        </p:nvSpPr>
        <p:spPr>
          <a:xfrm>
            <a:off x="484632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25" name="Text 23"/>
          <p:cNvSpPr txBox="1"/>
          <p:nvPr/>
        </p:nvSpPr>
        <p:spPr>
          <a:xfrm>
            <a:off x="5532120" y="3685032"/>
            <a:ext cx="3017520" cy="987552"/>
          </a:xfrm>
          <a:prstGeom prst="rect">
            <a:avLst/>
          </a:prstGeom>
          <a:noFill/>
          <a:ln/>
        </p:spPr>
        <p:txBody>
          <a:bodyPr wrap="square" lIns="0" tIns="0" rIns="0" bIns="0" rtlCol="0" anchor="ctr"/>
          <a:lstStyle/>
          <a:p>
            <a:pPr marL="0" indent="0">
              <a:buNone/>
            </a:pPr>
            <a:r>
              <a:rPr lang="en-US" sz="1500" dirty="0">
                <a:solidFill>
                  <a:srgbClr val="0A3D4A"/>
                </a:solidFill>
              </a:rPr>
              <a:t>Fishing equipment can trap turtles.</a:t>
            </a:r>
            <a:endParaRPr lang="en-US" sz="1500"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rPr>
              <a:t>B+D</a:t>
            </a:r>
            <a:endParaRPr lang="en-US" sz="2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B and D</a:t>
            </a:r>
            <a:endParaRPr lang="en-US"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Both give information about </a:t>
            </a:r>
            <a:r>
              <a:rPr lang="en-US" sz="1700" b="1" dirty="0">
                <a:solidFill>
                  <a:srgbClr val="0A3D4A"/>
                </a:solidFill>
              </a:rPr>
              <a:t>threats</a:t>
            </a:r>
            <a:r>
              <a:rPr lang="en-US" sz="1700" dirty="0">
                <a:solidFill>
                  <a:srgbClr val="0A3D4A"/>
                </a:solidFill>
              </a:rPr>
              <a:t>.
</a:t>
            </a:r>
            <a:r>
              <a:rPr lang="en-US" sz="1700" b="1" dirty="0">
                <a:solidFill>
                  <a:srgbClr val="0A3D4A"/>
                </a:solidFill>
              </a:rPr>
              <a:t>A</a:t>
            </a:r>
            <a:r>
              <a:rPr lang="en-US" sz="1700" dirty="0">
                <a:solidFill>
                  <a:srgbClr val="0A3D4A"/>
                </a:solidFill>
              </a:rPr>
              <a:t> is useful, but belongs under </a:t>
            </a:r>
            <a:r>
              <a:rPr lang="en-US" sz="1700" b="1" dirty="0">
                <a:solidFill>
                  <a:srgbClr val="0A3D4A"/>
                </a:solidFill>
              </a:rPr>
              <a:t>Facts about the creature</a:t>
            </a:r>
            <a:r>
              <a:rPr lang="en-US" sz="1700" dirty="0">
                <a:solidFill>
                  <a:srgbClr val="0A3D4A"/>
                </a:solidFill>
              </a:rPr>
              <a:t>.
</a:t>
            </a:r>
            <a:r>
              <a:rPr lang="en-US" sz="1700" b="1" dirty="0">
                <a:solidFill>
                  <a:srgbClr val="0A3D4A"/>
                </a:solidFill>
              </a:rPr>
              <a:t>C</a:t>
            </a:r>
            <a:r>
              <a:rPr lang="en-US" sz="1700" dirty="0">
                <a:solidFill>
                  <a:srgbClr val="0A3D4A"/>
                </a:solidFill>
              </a:rPr>
              <a:t> is useful, but belongs under </a:t>
            </a:r>
            <a:r>
              <a:rPr lang="en-US" sz="1700" b="1" dirty="0">
                <a:solidFill>
                  <a:srgbClr val="0A3D4A"/>
                </a:solidFill>
              </a:rPr>
              <a:t>Food</a:t>
            </a:r>
            <a:r>
              <a:rPr lang="en-US" sz="1700" dirty="0">
                <a:solidFill>
                  <a:srgbClr val="0A3D4A"/>
                </a:solidFill>
              </a:rPr>
              <a:t>.</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1700" b="1" dirty="0">
                <a:solidFill>
                  <a:srgbClr val="FFC857"/>
                </a:solidFill>
              </a:rPr>
              <a:t>Key idea: </a:t>
            </a:r>
            <a:r>
              <a:rPr lang="en-US" sz="1700" b="1" dirty="0">
                <a:solidFill>
                  <a:srgbClr val="FFFFFF"/>
                </a:solidFill>
              </a:rPr>
              <a:t>Relevant information depends on your research question.</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SORT THE INFORMATION</a:t>
            </a:r>
            <a:endParaRPr lang="en-US" sz="2600" dirty="0"/>
          </a:p>
        </p:txBody>
      </p:sp>
      <p:sp>
        <p:nvSpPr>
          <p:cNvPr id="7" name="Shape 5"/>
          <p:cNvSpPr/>
          <p:nvPr/>
        </p:nvSpPr>
        <p:spPr>
          <a:xfrm>
            <a:off x="457200" y="1188720"/>
            <a:ext cx="3383280" cy="3520440"/>
          </a:xfrm>
          <a:prstGeom prst="roundRect">
            <a:avLst>
              <a:gd name="adj" fmla="val 4054"/>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85800" y="1325880"/>
            <a:ext cx="3017520" cy="3291840"/>
          </a:xfrm>
          <a:prstGeom prst="rect">
            <a:avLst/>
          </a:prstGeom>
          <a:noFill/>
          <a:ln/>
        </p:spPr>
        <p:txBody>
          <a:bodyPr wrap="square" lIns="0" tIns="0" rIns="0" bIns="0" rtlCol="0" anchor="t"/>
          <a:lstStyle/>
          <a:p>
            <a:pPr marL="0" indent="0">
              <a:buNone/>
            </a:pPr>
            <a:r>
              <a:rPr lang="en-US" sz="1500" b="1" dirty="0">
                <a:solidFill>
                  <a:srgbClr val="0E7C86"/>
                </a:solidFill>
              </a:rPr>
              <a:t>We have found these facts:</a:t>
            </a:r>
          </a:p>
          <a:p>
            <a:pPr marL="0" indent="0">
              <a:buNone/>
            </a:pPr>
            <a:endParaRPr lang="en-US" sz="1600" dirty="0"/>
          </a:p>
          <a:p>
            <a:pPr marL="342900" indent="-342900">
              <a:spcAft>
                <a:spcPts val="600"/>
              </a:spcAft>
              <a:buSzPct val="100000"/>
              <a:buChar char="•"/>
            </a:pPr>
            <a:r>
              <a:rPr lang="en-US" sz="1500" dirty="0">
                <a:solidFill>
                  <a:srgbClr val="0A3D4A"/>
                </a:solidFill>
              </a:rPr>
              <a:t>Marine reptile</a:t>
            </a:r>
            <a:endParaRPr lang="en-US" sz="1600" dirty="0"/>
          </a:p>
          <a:p>
            <a:pPr marL="342900" indent="-342900">
              <a:spcAft>
                <a:spcPts val="600"/>
              </a:spcAft>
              <a:buSzPct val="100000"/>
              <a:buChar char="•"/>
            </a:pPr>
            <a:r>
              <a:rPr lang="en-US" sz="1500" dirty="0">
                <a:solidFill>
                  <a:srgbClr val="0A3D4A"/>
                </a:solidFill>
              </a:rPr>
              <a:t>Plastic pollution</a:t>
            </a:r>
            <a:endParaRPr lang="en-US" sz="1600" dirty="0"/>
          </a:p>
          <a:p>
            <a:pPr marL="342900" indent="-342900">
              <a:spcAft>
                <a:spcPts val="600"/>
              </a:spcAft>
              <a:buSzPct val="100000"/>
              <a:buChar char="•"/>
            </a:pPr>
            <a:r>
              <a:rPr lang="en-US" sz="1500" dirty="0">
                <a:solidFill>
                  <a:srgbClr val="0A3D4A"/>
                </a:solidFill>
              </a:rPr>
              <a:t>Lives in oceans</a:t>
            </a:r>
            <a:endParaRPr lang="en-US" sz="1600" dirty="0"/>
          </a:p>
          <a:p>
            <a:pPr marL="342900" indent="-342900">
              <a:spcAft>
                <a:spcPts val="600"/>
              </a:spcAft>
              <a:buSzPct val="100000"/>
              <a:buChar char="•"/>
            </a:pPr>
            <a:r>
              <a:rPr lang="en-US" sz="1500" dirty="0">
                <a:solidFill>
                  <a:srgbClr val="0A3D4A"/>
                </a:solidFill>
              </a:rPr>
              <a:t>Fishing equipment</a:t>
            </a:r>
            <a:endParaRPr lang="en-US" sz="1600" dirty="0"/>
          </a:p>
          <a:p>
            <a:pPr marL="342900" indent="-342900">
              <a:spcAft>
                <a:spcPts val="600"/>
              </a:spcAft>
              <a:buSzPct val="100000"/>
              <a:buChar char="•"/>
            </a:pPr>
            <a:r>
              <a:rPr lang="en-US" sz="1500" dirty="0">
                <a:solidFill>
                  <a:srgbClr val="0A3D4A"/>
                </a:solidFill>
              </a:rPr>
              <a:t>Seven species</a:t>
            </a:r>
            <a:endParaRPr lang="en-US" sz="1600" dirty="0"/>
          </a:p>
          <a:p>
            <a:pPr marL="342900" indent="-342900">
              <a:spcAft>
                <a:spcPts val="600"/>
              </a:spcAft>
              <a:buSzPct val="100000"/>
              <a:buChar char="•"/>
            </a:pPr>
            <a:r>
              <a:rPr lang="en-US" sz="1500" dirty="0">
                <a:solidFill>
                  <a:srgbClr val="0A3D4A"/>
                </a:solidFill>
              </a:rPr>
              <a:t>Protected nesting beaches</a:t>
            </a:r>
            <a:endParaRPr lang="en-US" sz="1600" dirty="0"/>
          </a:p>
          <a:p>
            <a:pPr marL="342900" indent="-342900">
              <a:spcAft>
                <a:spcPts val="600"/>
              </a:spcAft>
              <a:buSzPct val="100000"/>
              <a:buChar char="•"/>
            </a:pPr>
            <a:r>
              <a:rPr lang="en-US" sz="1500" dirty="0">
                <a:solidFill>
                  <a:srgbClr val="0A3D4A"/>
                </a:solidFill>
              </a:rPr>
              <a:t>Large flippers</a:t>
            </a:r>
            <a:endParaRPr lang="en-US" sz="1600" dirty="0"/>
          </a:p>
          <a:p>
            <a:pPr marL="342900" indent="-342900">
              <a:spcAft>
                <a:spcPts val="600"/>
              </a:spcAft>
              <a:buSzPct val="100000"/>
              <a:buChar char="•"/>
            </a:pPr>
            <a:r>
              <a:rPr lang="en-US" sz="1500" dirty="0">
                <a:solidFill>
                  <a:srgbClr val="0A3D4A"/>
                </a:solidFill>
              </a:rPr>
              <a:t>Reduce plastic waste</a:t>
            </a:r>
            <a:endParaRPr lang="en-US" sz="1600" dirty="0"/>
          </a:p>
        </p:txBody>
      </p:sp>
      <p:sp>
        <p:nvSpPr>
          <p:cNvPr id="9" name="Text 7"/>
          <p:cNvSpPr txBox="1"/>
          <p:nvPr/>
        </p:nvSpPr>
        <p:spPr>
          <a:xfrm>
            <a:off x="4114800" y="1188720"/>
            <a:ext cx="4572000" cy="274320"/>
          </a:xfrm>
          <a:prstGeom prst="rect">
            <a:avLst/>
          </a:prstGeom>
          <a:noFill/>
          <a:ln/>
        </p:spPr>
        <p:txBody>
          <a:bodyPr wrap="square" lIns="0" tIns="0" rIns="0" bIns="0" rtlCol="0" anchor="t"/>
          <a:lstStyle/>
          <a:p>
            <a:pPr marL="0" indent="0">
              <a:buNone/>
            </a:pPr>
            <a:r>
              <a:rPr lang="en-US" sz="1600" b="1" i="1" dirty="0">
                <a:solidFill>
                  <a:srgbClr val="4A6B73"/>
                </a:solidFill>
              </a:rPr>
              <a:t>Put them under the correct heading:</a:t>
            </a:r>
            <a:endParaRPr lang="en-US" sz="1600" b="1" dirty="0"/>
          </a:p>
        </p:txBody>
      </p:sp>
      <p:sp>
        <p:nvSpPr>
          <p:cNvPr id="10" name="Shape 8"/>
          <p:cNvSpPr/>
          <p:nvPr/>
        </p:nvSpPr>
        <p:spPr>
          <a:xfrm>
            <a:off x="4114800" y="1554480"/>
            <a:ext cx="1463040" cy="3154680"/>
          </a:xfrm>
          <a:prstGeom prst="roundRect">
            <a:avLst>
              <a:gd name="adj" fmla="val 9375"/>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4526280" y="1691640"/>
            <a:ext cx="640080" cy="640080"/>
          </a:xfrm>
          <a:prstGeom prst="ellipse">
            <a:avLst/>
          </a:prstGeom>
          <a:solidFill>
            <a:srgbClr val="FF6B5E"/>
          </a:solidFill>
          <a:ln/>
        </p:spPr>
      </p:sp>
      <p:sp>
        <p:nvSpPr>
          <p:cNvPr id="12" name="Text 10"/>
          <p:cNvSpPr txBox="1"/>
          <p:nvPr/>
        </p:nvSpPr>
        <p:spPr>
          <a:xfrm>
            <a:off x="452628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a:t>
            </a:r>
            <a:endParaRPr lang="en-US" sz="2400" dirty="0"/>
          </a:p>
        </p:txBody>
      </p:sp>
      <p:sp>
        <p:nvSpPr>
          <p:cNvPr id="13" name="Text 11"/>
          <p:cNvSpPr txBox="1"/>
          <p:nvPr/>
        </p:nvSpPr>
        <p:spPr>
          <a:xfrm>
            <a:off x="4206240" y="2468880"/>
            <a:ext cx="1280160" cy="640080"/>
          </a:xfrm>
          <a:prstGeom prst="rect">
            <a:avLst/>
          </a:prstGeom>
          <a:noFill/>
          <a:ln/>
        </p:spPr>
        <p:txBody>
          <a:bodyPr wrap="square" lIns="0" tIns="0" rIns="0" bIns="0" rtlCol="0" anchor="t"/>
          <a:lstStyle/>
          <a:p>
            <a:pPr marL="0" indent="0" algn="ctr">
              <a:buNone/>
            </a:pPr>
            <a:r>
              <a:rPr lang="en-US" sz="1200" b="1" dirty="0">
                <a:solidFill>
                  <a:srgbClr val="FF6B5E"/>
                </a:solidFill>
              </a:rPr>
              <a:t>ABOUT THE CREATURE</a:t>
            </a:r>
            <a:endParaRPr lang="en-US" sz="1200" dirty="0"/>
          </a:p>
        </p:txBody>
      </p:sp>
      <p:sp>
        <p:nvSpPr>
          <p:cNvPr id="14" name="Shape 12"/>
          <p:cNvSpPr/>
          <p:nvPr/>
        </p:nvSpPr>
        <p:spPr>
          <a:xfrm>
            <a:off x="5669280" y="1554480"/>
            <a:ext cx="1463040" cy="3154680"/>
          </a:xfrm>
          <a:prstGeom prst="roundRect">
            <a:avLst>
              <a:gd name="adj" fmla="val 9375"/>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6080760" y="1691640"/>
            <a:ext cx="640080" cy="640080"/>
          </a:xfrm>
          <a:prstGeom prst="ellipse">
            <a:avLst/>
          </a:prstGeom>
          <a:solidFill>
            <a:srgbClr val="0E7C86"/>
          </a:solidFill>
          <a:ln/>
        </p:spPr>
      </p:sp>
      <p:sp>
        <p:nvSpPr>
          <p:cNvPr id="16" name="Text 14"/>
          <p:cNvSpPr txBox="1"/>
          <p:nvPr/>
        </p:nvSpPr>
        <p:spPr>
          <a:xfrm>
            <a:off x="608076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a:t>
            </a:r>
            <a:endParaRPr lang="en-US" sz="2400" dirty="0"/>
          </a:p>
        </p:txBody>
      </p:sp>
      <p:sp>
        <p:nvSpPr>
          <p:cNvPr id="17" name="Text 15"/>
          <p:cNvSpPr txBox="1"/>
          <p:nvPr/>
        </p:nvSpPr>
        <p:spPr>
          <a:xfrm>
            <a:off x="5760720" y="2468880"/>
            <a:ext cx="1280160" cy="640080"/>
          </a:xfrm>
          <a:prstGeom prst="rect">
            <a:avLst/>
          </a:prstGeom>
          <a:noFill/>
          <a:ln/>
        </p:spPr>
        <p:txBody>
          <a:bodyPr wrap="square" lIns="0" tIns="0" rIns="0" bIns="0" rtlCol="0" anchor="t"/>
          <a:lstStyle/>
          <a:p>
            <a:pPr marL="0" indent="0" algn="ctr">
              <a:buNone/>
            </a:pPr>
            <a:r>
              <a:rPr lang="en-US" sz="1200" b="1" dirty="0">
                <a:solidFill>
                  <a:srgbClr val="0E7C86"/>
                </a:solidFill>
              </a:rPr>
              <a:t>THREATS</a:t>
            </a:r>
            <a:endParaRPr lang="en-US" sz="1200" dirty="0"/>
          </a:p>
        </p:txBody>
      </p:sp>
      <p:sp>
        <p:nvSpPr>
          <p:cNvPr id="18" name="Shape 16"/>
          <p:cNvSpPr/>
          <p:nvPr/>
        </p:nvSpPr>
        <p:spPr>
          <a:xfrm>
            <a:off x="7223760" y="1554480"/>
            <a:ext cx="1463040" cy="3154680"/>
          </a:xfrm>
          <a:prstGeom prst="roundRect">
            <a:avLst>
              <a:gd name="adj" fmla="val 9375"/>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7635240" y="1691640"/>
            <a:ext cx="640080" cy="640080"/>
          </a:xfrm>
          <a:prstGeom prst="ellipse">
            <a:avLst/>
          </a:prstGeom>
          <a:solidFill>
            <a:srgbClr val="7B5EA7"/>
          </a:solidFill>
          <a:ln/>
        </p:spPr>
      </p:sp>
      <p:sp>
        <p:nvSpPr>
          <p:cNvPr id="20" name="Text 18"/>
          <p:cNvSpPr txBox="1"/>
          <p:nvPr/>
        </p:nvSpPr>
        <p:spPr>
          <a:xfrm>
            <a:off x="7635240" y="16916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a:t>
            </a:r>
            <a:endParaRPr lang="en-US" sz="2400" dirty="0"/>
          </a:p>
        </p:txBody>
      </p:sp>
      <p:sp>
        <p:nvSpPr>
          <p:cNvPr id="21" name="Text 19"/>
          <p:cNvSpPr txBox="1"/>
          <p:nvPr/>
        </p:nvSpPr>
        <p:spPr>
          <a:xfrm>
            <a:off x="7315200" y="2468880"/>
            <a:ext cx="1280160" cy="640080"/>
          </a:xfrm>
          <a:prstGeom prst="rect">
            <a:avLst/>
          </a:prstGeom>
          <a:noFill/>
          <a:ln/>
        </p:spPr>
        <p:txBody>
          <a:bodyPr wrap="square" lIns="0" tIns="0" rIns="0" bIns="0" rtlCol="0" anchor="t"/>
          <a:lstStyle/>
          <a:p>
            <a:pPr marL="0" indent="0" algn="ctr">
              <a:buNone/>
            </a:pPr>
            <a:r>
              <a:rPr lang="en-US" sz="1200" b="1" dirty="0">
                <a:solidFill>
                  <a:srgbClr val="7B5EA7"/>
                </a:solidFill>
              </a:rPr>
              <a:t>PROTECTION</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SORTED NOTES</a:t>
            </a:r>
            <a:endParaRPr lang="en-US" sz="2600" dirty="0"/>
          </a:p>
        </p:txBody>
      </p:sp>
      <p:sp>
        <p:nvSpPr>
          <p:cNvPr id="7" name="Shape 5"/>
          <p:cNvSpPr/>
          <p:nvPr/>
        </p:nvSpPr>
        <p:spPr>
          <a:xfrm>
            <a:off x="45720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640080" y="1463040"/>
            <a:ext cx="566928" cy="566928"/>
          </a:xfrm>
          <a:prstGeom prst="ellipse">
            <a:avLst/>
          </a:prstGeom>
          <a:solidFill>
            <a:srgbClr val="FF6B5E"/>
          </a:solidFill>
          <a:ln/>
        </p:spPr>
      </p:sp>
      <p:sp>
        <p:nvSpPr>
          <p:cNvPr id="9" name="Text 7"/>
          <p:cNvSpPr txBox="1"/>
          <p:nvPr/>
        </p:nvSpPr>
        <p:spPr>
          <a:xfrm>
            <a:off x="64008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0" name="Text 8"/>
          <p:cNvSpPr txBox="1"/>
          <p:nvPr/>
        </p:nvSpPr>
        <p:spPr>
          <a:xfrm>
            <a:off x="1371600" y="1463040"/>
            <a:ext cx="1508760" cy="566928"/>
          </a:xfrm>
          <a:prstGeom prst="rect">
            <a:avLst/>
          </a:prstGeom>
          <a:noFill/>
          <a:ln/>
        </p:spPr>
        <p:txBody>
          <a:bodyPr wrap="square" lIns="0" tIns="0" rIns="0" bIns="0" rtlCol="0" anchor="ctr"/>
          <a:lstStyle/>
          <a:p>
            <a:pPr marL="0" indent="0">
              <a:buNone/>
            </a:pPr>
            <a:r>
              <a:rPr lang="en-US" sz="1300" b="1" dirty="0">
                <a:solidFill>
                  <a:srgbClr val="FF6B5E"/>
                </a:solidFill>
              </a:rPr>
              <a:t>ABOUT THE CREATURE</a:t>
            </a:r>
            <a:endParaRPr lang="en-US" sz="1300" dirty="0"/>
          </a:p>
        </p:txBody>
      </p:sp>
      <p:sp>
        <p:nvSpPr>
          <p:cNvPr id="11" name="Text 9"/>
          <p:cNvSpPr txBox="1"/>
          <p:nvPr/>
        </p:nvSpPr>
        <p:spPr>
          <a:xfrm>
            <a:off x="640080" y="2240280"/>
            <a:ext cx="2194560" cy="1645920"/>
          </a:xfrm>
          <a:prstGeom prst="rect">
            <a:avLst/>
          </a:prstGeom>
          <a:noFill/>
          <a:ln/>
        </p:spPr>
        <p:txBody>
          <a:bodyPr wrap="square" lIns="0" tIns="0" rIns="0" bIns="0" rtlCol="0" anchor="t"/>
          <a:lstStyle/>
          <a:p>
            <a:pPr marL="0" indent="0">
              <a:buNone/>
            </a:pPr>
            <a:r>
              <a:rPr lang="en-US" sz="1500" dirty="0">
                <a:solidFill>
                  <a:srgbClr val="0A3D4A"/>
                </a:solidFill>
              </a:rPr>
              <a:t>• marine reptile</a:t>
            </a:r>
            <a:endParaRPr lang="en-US" sz="1500" dirty="0"/>
          </a:p>
          <a:p>
            <a:pPr marL="0" indent="0">
              <a:buNone/>
            </a:pPr>
            <a:r>
              <a:rPr lang="en-US" sz="1500" dirty="0">
                <a:solidFill>
                  <a:srgbClr val="0A3D4A"/>
                </a:solidFill>
              </a:rPr>
              <a:t>• lives in oceans</a:t>
            </a:r>
            <a:endParaRPr lang="en-US" sz="1500" dirty="0"/>
          </a:p>
          <a:p>
            <a:pPr marL="0" indent="0">
              <a:buNone/>
            </a:pPr>
            <a:r>
              <a:rPr lang="en-US" sz="1500" dirty="0">
                <a:solidFill>
                  <a:srgbClr val="0A3D4A"/>
                </a:solidFill>
              </a:rPr>
              <a:t>• seven species</a:t>
            </a:r>
            <a:endParaRPr lang="en-US" sz="1500" dirty="0"/>
          </a:p>
          <a:p>
            <a:pPr marL="0" indent="0">
              <a:buNone/>
            </a:pPr>
            <a:r>
              <a:rPr lang="en-US" sz="1500" dirty="0">
                <a:solidFill>
                  <a:srgbClr val="0A3D4A"/>
                </a:solidFill>
              </a:rPr>
              <a:t>• large flippers</a:t>
            </a:r>
            <a:endParaRPr lang="en-US" sz="1500" dirty="0"/>
          </a:p>
        </p:txBody>
      </p:sp>
      <p:sp>
        <p:nvSpPr>
          <p:cNvPr id="12" name="Shape 10"/>
          <p:cNvSpPr/>
          <p:nvPr/>
        </p:nvSpPr>
        <p:spPr>
          <a:xfrm>
            <a:off x="329184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3474720" y="1463040"/>
            <a:ext cx="566928" cy="566928"/>
          </a:xfrm>
          <a:prstGeom prst="ellipse">
            <a:avLst/>
          </a:prstGeom>
          <a:solidFill>
            <a:srgbClr val="0E7C86"/>
          </a:solidFill>
          <a:ln/>
        </p:spPr>
      </p:sp>
      <p:sp>
        <p:nvSpPr>
          <p:cNvPr id="14" name="Text 12"/>
          <p:cNvSpPr txBox="1"/>
          <p:nvPr/>
        </p:nvSpPr>
        <p:spPr>
          <a:xfrm>
            <a:off x="347472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5" name="Text 13"/>
          <p:cNvSpPr txBox="1"/>
          <p:nvPr/>
        </p:nvSpPr>
        <p:spPr>
          <a:xfrm>
            <a:off x="4206240" y="146304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THREATS</a:t>
            </a:r>
            <a:endParaRPr lang="en-US" sz="1700" dirty="0"/>
          </a:p>
        </p:txBody>
      </p:sp>
      <p:sp>
        <p:nvSpPr>
          <p:cNvPr id="16" name="Text 14"/>
          <p:cNvSpPr txBox="1"/>
          <p:nvPr/>
        </p:nvSpPr>
        <p:spPr>
          <a:xfrm>
            <a:off x="3474720" y="2240280"/>
            <a:ext cx="2194560" cy="1645920"/>
          </a:xfrm>
          <a:prstGeom prst="rect">
            <a:avLst/>
          </a:prstGeom>
          <a:noFill/>
          <a:ln/>
        </p:spPr>
        <p:txBody>
          <a:bodyPr wrap="square" lIns="0" tIns="0" rIns="0" bIns="0" rtlCol="0" anchor="t"/>
          <a:lstStyle/>
          <a:p>
            <a:pPr marL="0" indent="0">
              <a:buNone/>
            </a:pPr>
            <a:r>
              <a:rPr lang="en-US" sz="1500" dirty="0">
                <a:solidFill>
                  <a:srgbClr val="0A3D4A"/>
                </a:solidFill>
              </a:rPr>
              <a:t>• plastic pollution</a:t>
            </a:r>
            <a:endParaRPr lang="en-US" sz="1500" dirty="0"/>
          </a:p>
          <a:p>
            <a:pPr marL="0" indent="0">
              <a:buNone/>
            </a:pPr>
            <a:r>
              <a:rPr lang="en-US" sz="1500" dirty="0">
                <a:solidFill>
                  <a:srgbClr val="0A3D4A"/>
                </a:solidFill>
              </a:rPr>
              <a:t>• fishing equipment</a:t>
            </a:r>
            <a:endParaRPr lang="en-US" sz="1500" dirty="0"/>
          </a:p>
        </p:txBody>
      </p:sp>
      <p:sp>
        <p:nvSpPr>
          <p:cNvPr id="17" name="Shape 15"/>
          <p:cNvSpPr/>
          <p:nvPr/>
        </p:nvSpPr>
        <p:spPr>
          <a:xfrm>
            <a:off x="6126480" y="1280160"/>
            <a:ext cx="2560320" cy="2697480"/>
          </a:xfrm>
          <a:prstGeom prst="roundRect">
            <a:avLst>
              <a:gd name="adj" fmla="val 5357"/>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6309360" y="1463040"/>
            <a:ext cx="566928" cy="566928"/>
          </a:xfrm>
          <a:prstGeom prst="ellipse">
            <a:avLst/>
          </a:prstGeom>
          <a:solidFill>
            <a:srgbClr val="7B5EA7"/>
          </a:solidFill>
          <a:ln/>
        </p:spPr>
      </p:sp>
      <p:sp>
        <p:nvSpPr>
          <p:cNvPr id="19" name="Text 17"/>
          <p:cNvSpPr txBox="1"/>
          <p:nvPr/>
        </p:nvSpPr>
        <p:spPr>
          <a:xfrm>
            <a:off x="6309360" y="1463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0" name="Text 18"/>
          <p:cNvSpPr txBox="1"/>
          <p:nvPr/>
        </p:nvSpPr>
        <p:spPr>
          <a:xfrm>
            <a:off x="7040880" y="146304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PROTECTION</a:t>
            </a:r>
            <a:endParaRPr lang="en-US" sz="1500" dirty="0"/>
          </a:p>
        </p:txBody>
      </p:sp>
      <p:sp>
        <p:nvSpPr>
          <p:cNvPr id="21" name="Text 19"/>
          <p:cNvSpPr txBox="1"/>
          <p:nvPr/>
        </p:nvSpPr>
        <p:spPr>
          <a:xfrm>
            <a:off x="6309360" y="2240280"/>
            <a:ext cx="2194560" cy="1645920"/>
          </a:xfrm>
          <a:prstGeom prst="rect">
            <a:avLst/>
          </a:prstGeom>
          <a:noFill/>
          <a:ln/>
        </p:spPr>
        <p:txBody>
          <a:bodyPr wrap="square" lIns="0" tIns="0" rIns="0" bIns="0" rtlCol="0" anchor="t"/>
          <a:lstStyle/>
          <a:p>
            <a:pPr marL="0" indent="0">
              <a:buNone/>
            </a:pPr>
            <a:r>
              <a:rPr lang="en-US" sz="1500" dirty="0">
                <a:solidFill>
                  <a:srgbClr val="0A3D4A"/>
                </a:solidFill>
              </a:rPr>
              <a:t>• protected nesting beaches</a:t>
            </a:r>
            <a:endParaRPr lang="en-US" sz="1500" dirty="0"/>
          </a:p>
          <a:p>
            <a:pPr marL="0" indent="0">
              <a:buNone/>
            </a:pPr>
            <a:r>
              <a:rPr lang="en-US" sz="1500" dirty="0">
                <a:solidFill>
                  <a:srgbClr val="0A3D4A"/>
                </a:solidFill>
              </a:rPr>
              <a:t>• reduce plastic waste</a:t>
            </a:r>
            <a:endParaRPr lang="en-US" sz="1500" dirty="0"/>
          </a:p>
        </p:txBody>
      </p:sp>
      <p:sp>
        <p:nvSpPr>
          <p:cNvPr id="22" name="Shape 20"/>
          <p:cNvSpPr/>
          <p:nvPr/>
        </p:nvSpPr>
        <p:spPr>
          <a:xfrm>
            <a:off x="457200" y="411480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3" name="Text 21"/>
          <p:cNvSpPr txBox="1"/>
          <p:nvPr/>
        </p:nvSpPr>
        <p:spPr>
          <a:xfrm>
            <a:off x="731520" y="4114800"/>
            <a:ext cx="7680960" cy="594360"/>
          </a:xfrm>
          <a:prstGeom prst="rect">
            <a:avLst/>
          </a:prstGeom>
          <a:noFill/>
          <a:ln/>
        </p:spPr>
        <p:txBody>
          <a:bodyPr wrap="square" lIns="0" tIns="0" rIns="0" bIns="0" rtlCol="0" anchor="ctr"/>
          <a:lstStyle/>
          <a:p>
            <a:pPr marL="0" indent="0">
              <a:buNone/>
            </a:pPr>
            <a:r>
              <a:rPr lang="en-US" b="1" dirty="0">
                <a:solidFill>
                  <a:srgbClr val="FFC857"/>
                </a:solidFill>
              </a:rPr>
              <a:t>Why organise notes? </a:t>
            </a:r>
            <a:r>
              <a:rPr lang="en-US" b="1" dirty="0">
                <a:solidFill>
                  <a:srgbClr val="FFFFFF"/>
                </a:solidFill>
              </a:rPr>
              <a:t>Organisation makes writing the final report much easier.</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MAKE IT SHORTER</a:t>
            </a:r>
            <a:endParaRPr lang="en-US" sz="2600" dirty="0"/>
          </a:p>
        </p:txBody>
      </p:sp>
      <p:sp>
        <p:nvSpPr>
          <p:cNvPr id="7" name="Shape 5"/>
          <p:cNvSpPr/>
          <p:nvPr/>
        </p:nvSpPr>
        <p:spPr>
          <a:xfrm>
            <a:off x="457200" y="1188720"/>
            <a:ext cx="8229600" cy="822960"/>
          </a:xfrm>
          <a:prstGeom prst="roundRect">
            <a:avLst>
              <a:gd name="adj" fmla="val 16667"/>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85800" y="1188720"/>
            <a:ext cx="7772400" cy="822960"/>
          </a:xfrm>
          <a:prstGeom prst="rect">
            <a:avLst/>
          </a:prstGeom>
          <a:noFill/>
          <a:ln/>
        </p:spPr>
        <p:txBody>
          <a:bodyPr wrap="square" lIns="0" tIns="0" rIns="0" bIns="0" rtlCol="0" anchor="ctr"/>
          <a:lstStyle/>
          <a:p>
            <a:pPr marL="0" indent="0">
              <a:buNone/>
            </a:pPr>
            <a:r>
              <a:rPr lang="en-US" sz="1600" b="1" dirty="0">
                <a:solidFill>
                  <a:srgbClr val="0E7C86"/>
                </a:solidFill>
              </a:rPr>
              <a:t>Source: </a:t>
            </a:r>
            <a:r>
              <a:rPr lang="en-US" sz="1600" i="1" dirty="0">
                <a:solidFill>
                  <a:srgbClr val="0A3D4A"/>
                </a:solidFill>
              </a:rPr>
              <a:t>Sea turtles may mistake plastic bags for food, which can make them seriously ill.</a:t>
            </a:r>
            <a:endParaRPr lang="en-US" sz="1600" dirty="0"/>
          </a:p>
        </p:txBody>
      </p:sp>
      <p:sp>
        <p:nvSpPr>
          <p:cNvPr id="9" name="Text 7"/>
          <p:cNvSpPr txBox="1"/>
          <p:nvPr/>
        </p:nvSpPr>
        <p:spPr>
          <a:xfrm>
            <a:off x="457200" y="2103120"/>
            <a:ext cx="8229600" cy="365760"/>
          </a:xfrm>
          <a:prstGeom prst="rect">
            <a:avLst/>
          </a:prstGeom>
          <a:noFill/>
          <a:ln/>
        </p:spPr>
        <p:txBody>
          <a:bodyPr wrap="square" lIns="0" tIns="0" rIns="0" bIns="0" rtlCol="0" anchor="t"/>
          <a:lstStyle/>
          <a:p>
            <a:pPr marL="0" indent="0">
              <a:buNone/>
            </a:pPr>
            <a:r>
              <a:rPr lang="en-US" sz="1800" b="1" dirty="0">
                <a:solidFill>
                  <a:srgbClr val="0A3D4A"/>
                </a:solidFill>
              </a:rPr>
              <a:t>Which is the best note?</a:t>
            </a:r>
            <a:endParaRPr lang="en-US" sz="1800" dirty="0"/>
          </a:p>
        </p:txBody>
      </p:sp>
      <p:sp>
        <p:nvSpPr>
          <p:cNvPr id="10" name="Shape 8"/>
          <p:cNvSpPr/>
          <p:nvPr/>
        </p:nvSpPr>
        <p:spPr>
          <a:xfrm>
            <a:off x="457200" y="256032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1" name="Shape 9"/>
          <p:cNvSpPr/>
          <p:nvPr/>
        </p:nvSpPr>
        <p:spPr>
          <a:xfrm>
            <a:off x="640080" y="2807208"/>
            <a:ext cx="512064" cy="512064"/>
          </a:xfrm>
          <a:prstGeom prst="ellipse">
            <a:avLst/>
          </a:prstGeom>
          <a:solidFill>
            <a:srgbClr val="FF6B5E"/>
          </a:solidFill>
          <a:ln/>
        </p:spPr>
      </p:sp>
      <p:sp>
        <p:nvSpPr>
          <p:cNvPr id="12" name="Text 10"/>
          <p:cNvSpPr txBox="1"/>
          <p:nvPr/>
        </p:nvSpPr>
        <p:spPr>
          <a:xfrm>
            <a:off x="640080" y="28072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13" name="Text 11"/>
          <p:cNvSpPr txBox="1"/>
          <p:nvPr/>
        </p:nvSpPr>
        <p:spPr>
          <a:xfrm>
            <a:off x="1325880" y="2615184"/>
            <a:ext cx="3017520" cy="896112"/>
          </a:xfrm>
          <a:prstGeom prst="rect">
            <a:avLst/>
          </a:prstGeom>
          <a:noFill/>
          <a:ln/>
        </p:spPr>
        <p:txBody>
          <a:bodyPr wrap="square" lIns="0" tIns="0" rIns="0" bIns="0" rtlCol="0" anchor="ctr"/>
          <a:lstStyle/>
          <a:p>
            <a:pPr marL="0" indent="0">
              <a:buNone/>
            </a:pPr>
            <a:r>
              <a:rPr lang="en-US" sz="1400" dirty="0">
                <a:solidFill>
                  <a:srgbClr val="0A3D4A"/>
                </a:solidFill>
              </a:rPr>
              <a:t>Sea turtles may mistake plastic bags for food, which can make them seriously ill.</a:t>
            </a:r>
            <a:endParaRPr lang="en-US" sz="1400" dirty="0"/>
          </a:p>
        </p:txBody>
      </p:sp>
      <p:sp>
        <p:nvSpPr>
          <p:cNvPr id="14" name="Shape 12"/>
          <p:cNvSpPr/>
          <p:nvPr/>
        </p:nvSpPr>
        <p:spPr>
          <a:xfrm>
            <a:off x="4663440" y="2560320"/>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4846320" y="2807208"/>
            <a:ext cx="512064" cy="512064"/>
          </a:xfrm>
          <a:prstGeom prst="ellipse">
            <a:avLst/>
          </a:prstGeom>
          <a:solidFill>
            <a:srgbClr val="0E7C86"/>
          </a:solidFill>
          <a:ln/>
        </p:spPr>
      </p:sp>
      <p:sp>
        <p:nvSpPr>
          <p:cNvPr id="16" name="Text 14"/>
          <p:cNvSpPr txBox="1"/>
          <p:nvPr/>
        </p:nvSpPr>
        <p:spPr>
          <a:xfrm>
            <a:off x="4846320" y="28072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17" name="Text 15"/>
          <p:cNvSpPr txBox="1"/>
          <p:nvPr/>
        </p:nvSpPr>
        <p:spPr>
          <a:xfrm>
            <a:off x="5532120" y="2615184"/>
            <a:ext cx="3017520" cy="896112"/>
          </a:xfrm>
          <a:prstGeom prst="rect">
            <a:avLst/>
          </a:prstGeom>
          <a:noFill/>
          <a:ln/>
        </p:spPr>
        <p:txBody>
          <a:bodyPr wrap="square" lIns="0" tIns="0" rIns="0" bIns="0" rtlCol="0" anchor="ctr"/>
          <a:lstStyle/>
          <a:p>
            <a:pPr marL="0" indent="0">
              <a:buNone/>
            </a:pPr>
            <a:r>
              <a:rPr lang="en-US" sz="1400" dirty="0">
                <a:solidFill>
                  <a:srgbClr val="0A3D4A"/>
                </a:solidFill>
              </a:rPr>
              <a:t>Plastic bags → mistaken for food → illness</a:t>
            </a:r>
            <a:endParaRPr lang="en-US" sz="1400" dirty="0"/>
          </a:p>
        </p:txBody>
      </p:sp>
      <p:sp>
        <p:nvSpPr>
          <p:cNvPr id="18" name="Shape 16"/>
          <p:cNvSpPr/>
          <p:nvPr/>
        </p:nvSpPr>
        <p:spPr>
          <a:xfrm>
            <a:off x="457200" y="3675888"/>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40080" y="3922776"/>
            <a:ext cx="512064" cy="512064"/>
          </a:xfrm>
          <a:prstGeom prst="ellipse">
            <a:avLst/>
          </a:prstGeom>
          <a:solidFill>
            <a:srgbClr val="3A86C8"/>
          </a:solidFill>
          <a:ln/>
        </p:spPr>
      </p:sp>
      <p:sp>
        <p:nvSpPr>
          <p:cNvPr id="20" name="Text 18"/>
          <p:cNvSpPr txBox="1"/>
          <p:nvPr/>
        </p:nvSpPr>
        <p:spPr>
          <a:xfrm>
            <a:off x="64008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
        <p:nvSpPr>
          <p:cNvPr id="21" name="Text 19"/>
          <p:cNvSpPr txBox="1"/>
          <p:nvPr/>
        </p:nvSpPr>
        <p:spPr>
          <a:xfrm>
            <a:off x="1325880" y="3730752"/>
            <a:ext cx="3017520" cy="896112"/>
          </a:xfrm>
          <a:prstGeom prst="rect">
            <a:avLst/>
          </a:prstGeom>
          <a:noFill/>
          <a:ln/>
        </p:spPr>
        <p:txBody>
          <a:bodyPr wrap="square" lIns="0" tIns="0" rIns="0" bIns="0" rtlCol="0" anchor="ctr"/>
          <a:lstStyle/>
          <a:p>
            <a:pPr marL="0" indent="0">
              <a:buNone/>
            </a:pPr>
            <a:r>
              <a:rPr lang="en-US" sz="1400" dirty="0">
                <a:solidFill>
                  <a:srgbClr val="0A3D4A"/>
                </a:solidFill>
              </a:rPr>
              <a:t>Sea turtles are very interesting animals.</a:t>
            </a:r>
            <a:endParaRPr lang="en-US" sz="1400" dirty="0"/>
          </a:p>
        </p:txBody>
      </p:sp>
      <p:sp>
        <p:nvSpPr>
          <p:cNvPr id="22" name="Shape 20"/>
          <p:cNvSpPr/>
          <p:nvPr/>
        </p:nvSpPr>
        <p:spPr>
          <a:xfrm>
            <a:off x="4663440" y="3675888"/>
            <a:ext cx="402336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23" name="Shape 21"/>
          <p:cNvSpPr/>
          <p:nvPr/>
        </p:nvSpPr>
        <p:spPr>
          <a:xfrm>
            <a:off x="4846320" y="3922776"/>
            <a:ext cx="512064" cy="512064"/>
          </a:xfrm>
          <a:prstGeom prst="ellipse">
            <a:avLst/>
          </a:prstGeom>
          <a:solidFill>
            <a:srgbClr val="7B5EA7"/>
          </a:solidFill>
          <a:ln/>
        </p:spPr>
      </p:sp>
      <p:sp>
        <p:nvSpPr>
          <p:cNvPr id="24" name="Text 22"/>
          <p:cNvSpPr txBox="1"/>
          <p:nvPr/>
        </p:nvSpPr>
        <p:spPr>
          <a:xfrm>
            <a:off x="484632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25" name="Text 23"/>
          <p:cNvSpPr txBox="1"/>
          <p:nvPr/>
        </p:nvSpPr>
        <p:spPr>
          <a:xfrm>
            <a:off x="5532120" y="3730752"/>
            <a:ext cx="3017520" cy="896112"/>
          </a:xfrm>
          <a:prstGeom prst="rect">
            <a:avLst/>
          </a:prstGeom>
          <a:noFill/>
          <a:ln/>
        </p:spPr>
        <p:txBody>
          <a:bodyPr wrap="square" lIns="0" tIns="0" rIns="0" bIns="0" rtlCol="0" anchor="ctr"/>
          <a:lstStyle/>
          <a:p>
            <a:pPr marL="0" indent="0">
              <a:buNone/>
            </a:pPr>
            <a:r>
              <a:rPr lang="en-US" sz="1400" dirty="0">
                <a:solidFill>
                  <a:srgbClr val="0A3D4A"/>
                </a:solidFill>
              </a:rPr>
              <a:t>Plastic bags are used by people.</a:t>
            </a:r>
            <a:endParaRPr lang="en-US" sz="1400"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B</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b="1" dirty="0">
                <a:solidFill>
                  <a:srgbClr val="0A3D4A"/>
                </a:solidFill>
              </a:rPr>
              <a:t>Plastic bags → mistaken for food → illness</a:t>
            </a:r>
            <a:endParaRPr lang="en-US" dirty="0"/>
          </a:p>
        </p:txBody>
      </p:sp>
      <p:sp>
        <p:nvSpPr>
          <p:cNvPr id="11" name="Text 9"/>
          <p:cNvSpPr txBox="1"/>
          <p:nvPr/>
        </p:nvSpPr>
        <p:spPr>
          <a:xfrm>
            <a:off x="548640" y="2697480"/>
            <a:ext cx="8046720" cy="1920240"/>
          </a:xfrm>
          <a:prstGeom prst="rect">
            <a:avLst/>
          </a:prstGeom>
          <a:noFill/>
          <a:ln/>
        </p:spPr>
        <p:txBody>
          <a:bodyPr wrap="square" lIns="0" tIns="0" rIns="0" bIns="0" rtlCol="0" anchor="t"/>
          <a:lstStyle/>
          <a:p>
            <a:pPr marL="0" indent="0">
              <a:spcAft>
                <a:spcPts val="300"/>
              </a:spcAft>
              <a:buNone/>
            </a:pPr>
            <a:r>
              <a:rPr lang="en-US" sz="1700" b="1" dirty="0">
                <a:solidFill>
                  <a:srgbClr val="0A3D4A"/>
                </a:solidFill>
              </a:rPr>
              <a:t>Why?</a:t>
            </a:r>
            <a:r>
              <a:rPr lang="en-US" sz="1700" dirty="0">
                <a:solidFill>
                  <a:srgbClr val="0A3D4A"/>
                </a:solidFill>
              </a:rPr>
              <a:t> It keeps the </a:t>
            </a:r>
            <a:r>
              <a:rPr lang="en-US" sz="1700" b="1" dirty="0">
                <a:solidFill>
                  <a:srgbClr val="0A3D4A"/>
                </a:solidFill>
              </a:rPr>
              <a:t>important information</a:t>
            </a:r>
            <a:r>
              <a:rPr lang="en-US" sz="1700" dirty="0">
                <a:solidFill>
                  <a:srgbClr val="0A3D4A"/>
                </a:solidFill>
              </a:rPr>
              <a:t> but removes unnecessary words.
</a:t>
            </a:r>
            <a:r>
              <a:rPr lang="en-US" sz="1700" b="1" dirty="0">
                <a:solidFill>
                  <a:srgbClr val="0A3D4A"/>
                </a:solidFill>
              </a:rPr>
              <a:t>Source:</a:t>
            </a:r>
            <a:r>
              <a:rPr lang="en-US" sz="1700" dirty="0">
                <a:solidFill>
                  <a:srgbClr val="0A3D4A"/>
                </a:solidFill>
              </a:rPr>
              <a:t> Sea turtles may mistake plastic bags for food, which can make them seriously ill.
</a:t>
            </a:r>
            <a:r>
              <a:rPr lang="en-US" sz="1700" b="1" dirty="0">
                <a:solidFill>
                  <a:srgbClr val="0A3D4A"/>
                </a:solidFill>
              </a:rPr>
              <a:t>Notes:</a:t>
            </a:r>
            <a:r>
              <a:rPr lang="en-US" sz="1700" dirty="0">
                <a:solidFill>
                  <a:srgbClr val="0A3D4A"/>
                </a:solidFill>
              </a:rPr>
              <a:t> Plastic bags → mistaken for food → illness</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IMPORTANT!</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b="1" i="1" dirty="0">
                <a:solidFill>
                  <a:srgbClr val="4A6B73"/>
                </a:solidFill>
              </a:rPr>
              <a:t>Notes do not need to be complete sentences.</a:t>
            </a:r>
            <a:endParaRPr lang="en-US" b="1" dirty="0"/>
          </a:p>
        </p:txBody>
      </p:sp>
      <p:sp>
        <p:nvSpPr>
          <p:cNvPr id="8" name="Shape 6"/>
          <p:cNvSpPr/>
          <p:nvPr/>
        </p:nvSpPr>
        <p:spPr>
          <a:xfrm>
            <a:off x="457200" y="1280160"/>
            <a:ext cx="4023360" cy="1097280"/>
          </a:xfrm>
          <a:prstGeom prst="roundRect">
            <a:avLst>
              <a:gd name="adj" fmla="val 12500"/>
            </a:avLst>
          </a:prstGeom>
          <a:solidFill>
            <a:srgbClr val="FFE9E6"/>
          </a:solidFill>
          <a:ln/>
          <a:effectLst>
            <a:outerShdw blurRad="76200" dist="25400" dir="5400000" algn="bl" rotWithShape="0">
              <a:srgbClr val="000000">
                <a:alpha val="15000"/>
              </a:srgbClr>
            </a:outerShdw>
          </a:effectLst>
        </p:spPr>
      </p:sp>
      <p:sp>
        <p:nvSpPr>
          <p:cNvPr id="9" name="Text 7"/>
          <p:cNvSpPr txBox="1"/>
          <p:nvPr/>
        </p:nvSpPr>
        <p:spPr>
          <a:xfrm>
            <a:off x="640080" y="1371600"/>
            <a:ext cx="3657600" cy="274320"/>
          </a:xfrm>
          <a:prstGeom prst="rect">
            <a:avLst/>
          </a:prstGeom>
          <a:noFill/>
          <a:ln/>
        </p:spPr>
        <p:txBody>
          <a:bodyPr wrap="square" lIns="0" tIns="0" rIns="0" bIns="0" rtlCol="0" anchor="t"/>
          <a:lstStyle/>
          <a:p>
            <a:pPr marL="0" indent="0">
              <a:buNone/>
            </a:pPr>
            <a:r>
              <a:rPr lang="en-US" sz="1300" b="1" dirty="0">
                <a:solidFill>
                  <a:srgbClr val="FF6B5E"/>
                </a:solidFill>
              </a:rPr>
              <a:t>❌ Too much:</a:t>
            </a:r>
            <a:endParaRPr lang="en-US" sz="1300" dirty="0"/>
          </a:p>
        </p:txBody>
      </p:sp>
      <p:sp>
        <p:nvSpPr>
          <p:cNvPr id="10" name="Text 8"/>
          <p:cNvSpPr txBox="1"/>
          <p:nvPr/>
        </p:nvSpPr>
        <p:spPr>
          <a:xfrm>
            <a:off x="640080" y="1691640"/>
            <a:ext cx="3657600" cy="640080"/>
          </a:xfrm>
          <a:prstGeom prst="rect">
            <a:avLst/>
          </a:prstGeom>
          <a:noFill/>
          <a:ln/>
        </p:spPr>
        <p:txBody>
          <a:bodyPr wrap="square" lIns="0" tIns="0" rIns="0" bIns="0" rtlCol="0" anchor="t"/>
          <a:lstStyle/>
          <a:p>
            <a:pPr marL="0" indent="0">
              <a:buNone/>
            </a:pPr>
            <a:r>
              <a:rPr lang="en-US" sz="1300" dirty="0">
                <a:solidFill>
                  <a:srgbClr val="0A3D4A"/>
                </a:solidFill>
              </a:rPr>
              <a:t>Sea turtles are marine reptiles that live in warm and temperate oceans around the world.</a:t>
            </a:r>
            <a:endParaRPr lang="en-US" sz="1300" dirty="0"/>
          </a:p>
        </p:txBody>
      </p:sp>
      <p:sp>
        <p:nvSpPr>
          <p:cNvPr id="11" name="Shape 9"/>
          <p:cNvSpPr/>
          <p:nvPr/>
        </p:nvSpPr>
        <p:spPr>
          <a:xfrm>
            <a:off x="4663440" y="1280160"/>
            <a:ext cx="4023360" cy="1097280"/>
          </a:xfrm>
          <a:prstGeom prst="roundRect">
            <a:avLst>
              <a:gd name="adj" fmla="val 12500"/>
            </a:avLst>
          </a:prstGeom>
          <a:solidFill>
            <a:srgbClr val="E3F6EC"/>
          </a:solidFill>
          <a:ln/>
          <a:effectLst>
            <a:outerShdw blurRad="76200" dist="25400" dir="5400000" algn="bl" rotWithShape="0">
              <a:srgbClr val="000000">
                <a:alpha val="15000"/>
              </a:srgbClr>
            </a:outerShdw>
          </a:effectLst>
        </p:spPr>
      </p:sp>
      <p:sp>
        <p:nvSpPr>
          <p:cNvPr id="12" name="Text 10"/>
          <p:cNvSpPr txBox="1"/>
          <p:nvPr/>
        </p:nvSpPr>
        <p:spPr>
          <a:xfrm>
            <a:off x="4846320" y="1371600"/>
            <a:ext cx="3657600" cy="274320"/>
          </a:xfrm>
          <a:prstGeom prst="rect">
            <a:avLst/>
          </a:prstGeom>
          <a:noFill/>
          <a:ln/>
        </p:spPr>
        <p:txBody>
          <a:bodyPr wrap="square" lIns="0" tIns="0" rIns="0" bIns="0" rtlCol="0" anchor="t"/>
          <a:lstStyle/>
          <a:p>
            <a:pPr marL="0" indent="0">
              <a:buNone/>
            </a:pPr>
            <a:r>
              <a:rPr lang="en-US" sz="1300" b="1" dirty="0">
                <a:solidFill>
                  <a:srgbClr val="2BB673"/>
                </a:solidFill>
              </a:rPr>
              <a:t>✅ Useful notes:</a:t>
            </a:r>
            <a:endParaRPr lang="en-US" sz="1300" dirty="0"/>
          </a:p>
        </p:txBody>
      </p:sp>
      <p:sp>
        <p:nvSpPr>
          <p:cNvPr id="13" name="Text 11"/>
          <p:cNvSpPr txBox="1"/>
          <p:nvPr/>
        </p:nvSpPr>
        <p:spPr>
          <a:xfrm>
            <a:off x="4846320" y="1691640"/>
            <a:ext cx="3657600" cy="640080"/>
          </a:xfrm>
          <a:prstGeom prst="rect">
            <a:avLst/>
          </a:prstGeom>
          <a:noFill/>
          <a:ln/>
        </p:spPr>
        <p:txBody>
          <a:bodyPr wrap="square" lIns="0" tIns="0" rIns="0" bIns="0" rtlCol="0" anchor="t"/>
          <a:lstStyle/>
          <a:p>
            <a:pPr marL="0" indent="0">
              <a:buNone/>
            </a:pPr>
            <a:r>
              <a:rPr lang="en-US" sz="1500" b="1" dirty="0">
                <a:solidFill>
                  <a:srgbClr val="0A3D4A"/>
                </a:solidFill>
              </a:rPr>
              <a:t>marine reptile</a:t>
            </a:r>
            <a:endParaRPr lang="en-US" sz="1500" dirty="0"/>
          </a:p>
          <a:p>
            <a:pPr marL="0" indent="0">
              <a:buNone/>
            </a:pPr>
            <a:r>
              <a:rPr lang="en-US" sz="1500" b="1" dirty="0">
                <a:solidFill>
                  <a:srgbClr val="0A3D4A"/>
                </a:solidFill>
              </a:rPr>
              <a:t>warm/temperate oceans</a:t>
            </a:r>
            <a:endParaRPr lang="en-US" sz="1500" dirty="0"/>
          </a:p>
        </p:txBody>
      </p:sp>
      <p:sp>
        <p:nvSpPr>
          <p:cNvPr id="14" name="Shape 12"/>
          <p:cNvSpPr/>
          <p:nvPr/>
        </p:nvSpPr>
        <p:spPr>
          <a:xfrm>
            <a:off x="457200" y="2468880"/>
            <a:ext cx="4023360" cy="1097280"/>
          </a:xfrm>
          <a:prstGeom prst="roundRect">
            <a:avLst>
              <a:gd name="adj" fmla="val 12500"/>
            </a:avLst>
          </a:prstGeom>
          <a:solidFill>
            <a:srgbClr val="FFE9E6"/>
          </a:solidFill>
          <a:ln/>
          <a:effectLst>
            <a:outerShdw blurRad="76200" dist="25400" dir="5400000" algn="bl" rotWithShape="0">
              <a:srgbClr val="000000">
                <a:alpha val="15000"/>
              </a:srgbClr>
            </a:outerShdw>
          </a:effectLst>
        </p:spPr>
      </p:sp>
      <p:sp>
        <p:nvSpPr>
          <p:cNvPr id="15" name="Text 13"/>
          <p:cNvSpPr txBox="1"/>
          <p:nvPr/>
        </p:nvSpPr>
        <p:spPr>
          <a:xfrm>
            <a:off x="640080" y="2560320"/>
            <a:ext cx="3657600" cy="274320"/>
          </a:xfrm>
          <a:prstGeom prst="rect">
            <a:avLst/>
          </a:prstGeom>
          <a:noFill/>
          <a:ln/>
        </p:spPr>
        <p:txBody>
          <a:bodyPr wrap="square" lIns="0" tIns="0" rIns="0" bIns="0" rtlCol="0" anchor="t"/>
          <a:lstStyle/>
          <a:p>
            <a:pPr marL="0" indent="0">
              <a:buNone/>
            </a:pPr>
            <a:r>
              <a:rPr lang="en-US" sz="1300" b="1" dirty="0">
                <a:solidFill>
                  <a:srgbClr val="FF6B5E"/>
                </a:solidFill>
              </a:rPr>
              <a:t>❌ Too much:</a:t>
            </a:r>
            <a:endParaRPr lang="en-US" sz="1300" dirty="0"/>
          </a:p>
        </p:txBody>
      </p:sp>
      <p:sp>
        <p:nvSpPr>
          <p:cNvPr id="16" name="Text 14"/>
          <p:cNvSpPr txBox="1"/>
          <p:nvPr/>
        </p:nvSpPr>
        <p:spPr>
          <a:xfrm>
            <a:off x="640080" y="2880360"/>
            <a:ext cx="3657600" cy="640080"/>
          </a:xfrm>
          <a:prstGeom prst="rect">
            <a:avLst/>
          </a:prstGeom>
          <a:noFill/>
          <a:ln/>
        </p:spPr>
        <p:txBody>
          <a:bodyPr wrap="square" lIns="0" tIns="0" rIns="0" bIns="0" rtlCol="0" anchor="t"/>
          <a:lstStyle/>
          <a:p>
            <a:pPr marL="0" indent="0">
              <a:buNone/>
            </a:pPr>
            <a:r>
              <a:rPr lang="en-US" sz="1300" dirty="0">
                <a:solidFill>
                  <a:srgbClr val="0A3D4A"/>
                </a:solidFill>
              </a:rPr>
              <a:t>Sea turtles can become trapped in fishing equipment, which can cause serious injuries.</a:t>
            </a:r>
            <a:endParaRPr lang="en-US" sz="1300" dirty="0"/>
          </a:p>
        </p:txBody>
      </p:sp>
      <p:sp>
        <p:nvSpPr>
          <p:cNvPr id="17" name="Shape 15"/>
          <p:cNvSpPr/>
          <p:nvPr/>
        </p:nvSpPr>
        <p:spPr>
          <a:xfrm>
            <a:off x="4663440" y="2468880"/>
            <a:ext cx="4023360" cy="1097280"/>
          </a:xfrm>
          <a:prstGeom prst="roundRect">
            <a:avLst>
              <a:gd name="adj" fmla="val 12500"/>
            </a:avLst>
          </a:prstGeom>
          <a:solidFill>
            <a:srgbClr val="E3F6EC"/>
          </a:solidFill>
          <a:ln/>
          <a:effectLst>
            <a:outerShdw blurRad="76200" dist="25400" dir="5400000" algn="bl" rotWithShape="0">
              <a:srgbClr val="000000">
                <a:alpha val="15000"/>
              </a:srgbClr>
            </a:outerShdw>
          </a:effectLst>
        </p:spPr>
      </p:sp>
      <p:sp>
        <p:nvSpPr>
          <p:cNvPr id="18" name="Text 16"/>
          <p:cNvSpPr txBox="1"/>
          <p:nvPr/>
        </p:nvSpPr>
        <p:spPr>
          <a:xfrm>
            <a:off x="4846320" y="2560320"/>
            <a:ext cx="3657600" cy="274320"/>
          </a:xfrm>
          <a:prstGeom prst="rect">
            <a:avLst/>
          </a:prstGeom>
          <a:noFill/>
          <a:ln/>
        </p:spPr>
        <p:txBody>
          <a:bodyPr wrap="square" lIns="0" tIns="0" rIns="0" bIns="0" rtlCol="0" anchor="t"/>
          <a:lstStyle/>
          <a:p>
            <a:pPr marL="0" indent="0">
              <a:buNone/>
            </a:pPr>
            <a:r>
              <a:rPr lang="en-US" sz="1300" b="1" dirty="0">
                <a:solidFill>
                  <a:srgbClr val="2BB673"/>
                </a:solidFill>
              </a:rPr>
              <a:t>✅ Useful notes:</a:t>
            </a:r>
            <a:endParaRPr lang="en-US" sz="1300" dirty="0"/>
          </a:p>
        </p:txBody>
      </p:sp>
      <p:sp>
        <p:nvSpPr>
          <p:cNvPr id="19" name="Text 17"/>
          <p:cNvSpPr txBox="1"/>
          <p:nvPr/>
        </p:nvSpPr>
        <p:spPr>
          <a:xfrm>
            <a:off x="4846320" y="2880360"/>
            <a:ext cx="3657600" cy="640080"/>
          </a:xfrm>
          <a:prstGeom prst="rect">
            <a:avLst/>
          </a:prstGeom>
          <a:noFill/>
          <a:ln/>
        </p:spPr>
        <p:txBody>
          <a:bodyPr wrap="square" lIns="0" tIns="0" rIns="0" bIns="0" rtlCol="0" anchor="t"/>
          <a:lstStyle/>
          <a:p>
            <a:pPr marL="0" indent="0">
              <a:buNone/>
            </a:pPr>
            <a:r>
              <a:rPr lang="en-US" sz="1500" b="1" dirty="0">
                <a:solidFill>
                  <a:srgbClr val="0A3D4A"/>
                </a:solidFill>
              </a:rPr>
              <a:t>fishing equipment → trapped → injuries</a:t>
            </a:r>
            <a:endParaRPr lang="en-US" sz="1500" dirty="0"/>
          </a:p>
        </p:txBody>
      </p:sp>
      <p:sp>
        <p:nvSpPr>
          <p:cNvPr id="20" name="Shape 18"/>
          <p:cNvSpPr/>
          <p:nvPr/>
        </p:nvSpPr>
        <p:spPr>
          <a:xfrm>
            <a:off x="457200" y="384048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1" name="Text 19"/>
          <p:cNvSpPr txBox="1"/>
          <p:nvPr/>
        </p:nvSpPr>
        <p:spPr>
          <a:xfrm>
            <a:off x="731520" y="384048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Good notes are: </a:t>
            </a:r>
            <a:r>
              <a:rPr lang="en-US" sz="2000" b="1" dirty="0">
                <a:solidFill>
                  <a:srgbClr val="FFFFFF"/>
                </a:solidFill>
              </a:rPr>
              <a:t>short + clear + useful</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COPY OR NOTE?</a:t>
            </a:r>
            <a:endParaRPr lang="en-US" sz="2600" dirty="0"/>
          </a:p>
        </p:txBody>
      </p:sp>
      <p:sp>
        <p:nvSpPr>
          <p:cNvPr id="7" name="Shape 5"/>
          <p:cNvSpPr/>
          <p:nvPr/>
        </p:nvSpPr>
        <p:spPr>
          <a:xfrm>
            <a:off x="457200" y="1188720"/>
            <a:ext cx="8229600" cy="822960"/>
          </a:xfrm>
          <a:prstGeom prst="roundRect">
            <a:avLst>
              <a:gd name="adj" fmla="val 16667"/>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85800" y="1188720"/>
            <a:ext cx="7772400" cy="822960"/>
          </a:xfrm>
          <a:prstGeom prst="rect">
            <a:avLst/>
          </a:prstGeom>
          <a:noFill/>
          <a:ln/>
        </p:spPr>
        <p:txBody>
          <a:bodyPr wrap="square" lIns="0" tIns="0" rIns="0" bIns="0" rtlCol="0" anchor="ctr"/>
          <a:lstStyle/>
          <a:p>
            <a:pPr marL="0" indent="0">
              <a:buNone/>
            </a:pPr>
            <a:r>
              <a:rPr lang="en-US" sz="2000" b="1" dirty="0">
                <a:solidFill>
                  <a:srgbClr val="0E7C86"/>
                </a:solidFill>
              </a:rPr>
              <a:t>Source: </a:t>
            </a:r>
            <a:r>
              <a:rPr lang="en-US" sz="2000" i="1" dirty="0">
                <a:solidFill>
                  <a:srgbClr val="0A3D4A"/>
                </a:solidFill>
              </a:rPr>
              <a:t>Many organisations are working to protect sea turtles. Some beaches are protected during nesting season.</a:t>
            </a:r>
            <a:endParaRPr lang="en-US" sz="2000" dirty="0"/>
          </a:p>
        </p:txBody>
      </p:sp>
      <p:sp>
        <p:nvSpPr>
          <p:cNvPr id="9" name="Text 7"/>
          <p:cNvSpPr txBox="1"/>
          <p:nvPr/>
        </p:nvSpPr>
        <p:spPr>
          <a:xfrm>
            <a:off x="457200" y="2103120"/>
            <a:ext cx="8229600" cy="365760"/>
          </a:xfrm>
          <a:prstGeom prst="rect">
            <a:avLst/>
          </a:prstGeom>
          <a:noFill/>
          <a:ln/>
        </p:spPr>
        <p:txBody>
          <a:bodyPr wrap="square" lIns="0" tIns="0" rIns="0" bIns="0" rtlCol="0" anchor="t"/>
          <a:lstStyle/>
          <a:p>
            <a:pPr marL="0" indent="0">
              <a:buNone/>
            </a:pPr>
            <a:r>
              <a:rPr lang="en-US" sz="2000" b="1" dirty="0">
                <a:solidFill>
                  <a:srgbClr val="0A3D4A"/>
                </a:solidFill>
              </a:rPr>
              <a:t>Which is the better note?</a:t>
            </a:r>
            <a:endParaRPr lang="en-US" sz="2000" dirty="0"/>
          </a:p>
        </p:txBody>
      </p:sp>
      <p:sp>
        <p:nvSpPr>
          <p:cNvPr id="11" name="Shape 9"/>
          <p:cNvSpPr/>
          <p:nvPr/>
        </p:nvSpPr>
        <p:spPr>
          <a:xfrm>
            <a:off x="640080" y="2807208"/>
            <a:ext cx="512064" cy="512064"/>
          </a:xfrm>
          <a:prstGeom prst="ellipse">
            <a:avLst/>
          </a:prstGeom>
          <a:solidFill>
            <a:srgbClr val="FF6B5E"/>
          </a:solidFill>
          <a:ln/>
        </p:spPr>
      </p:sp>
      <p:sp>
        <p:nvSpPr>
          <p:cNvPr id="12" name="Text 10"/>
          <p:cNvSpPr txBox="1"/>
          <p:nvPr/>
        </p:nvSpPr>
        <p:spPr>
          <a:xfrm>
            <a:off x="640080" y="28072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13" name="Text 11"/>
          <p:cNvSpPr txBox="1"/>
          <p:nvPr/>
        </p:nvSpPr>
        <p:spPr>
          <a:xfrm>
            <a:off x="1152144" y="2615184"/>
            <a:ext cx="3520440" cy="896112"/>
          </a:xfrm>
          <a:prstGeom prst="rect">
            <a:avLst/>
          </a:prstGeom>
          <a:noFill/>
          <a:ln/>
        </p:spPr>
        <p:txBody>
          <a:bodyPr wrap="square" lIns="0" tIns="0" rIns="0" bIns="0" rtlCol="0" anchor="ctr"/>
          <a:lstStyle/>
          <a:p>
            <a:pPr marL="0" indent="0">
              <a:buNone/>
            </a:pPr>
            <a:r>
              <a:rPr lang="en-US" dirty="0">
                <a:solidFill>
                  <a:srgbClr val="0A3D4A"/>
                </a:solidFill>
              </a:rPr>
              <a:t>Many organisations are working to protect sea turtles. Some beaches are protected during nesting season.</a:t>
            </a:r>
            <a:endParaRPr lang="en-US" dirty="0"/>
          </a:p>
        </p:txBody>
      </p:sp>
      <p:sp>
        <p:nvSpPr>
          <p:cNvPr id="15" name="Shape 13"/>
          <p:cNvSpPr/>
          <p:nvPr/>
        </p:nvSpPr>
        <p:spPr>
          <a:xfrm>
            <a:off x="4846320" y="2807208"/>
            <a:ext cx="512064" cy="512064"/>
          </a:xfrm>
          <a:prstGeom prst="ellipse">
            <a:avLst/>
          </a:prstGeom>
          <a:solidFill>
            <a:srgbClr val="0E7C86"/>
          </a:solidFill>
          <a:ln/>
        </p:spPr>
      </p:sp>
      <p:sp>
        <p:nvSpPr>
          <p:cNvPr id="16" name="Text 14"/>
          <p:cNvSpPr txBox="1"/>
          <p:nvPr/>
        </p:nvSpPr>
        <p:spPr>
          <a:xfrm>
            <a:off x="4846320" y="28072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17" name="Text 15"/>
          <p:cNvSpPr txBox="1"/>
          <p:nvPr/>
        </p:nvSpPr>
        <p:spPr>
          <a:xfrm>
            <a:off x="5486400" y="3735258"/>
            <a:ext cx="3017520" cy="896112"/>
          </a:xfrm>
          <a:prstGeom prst="rect">
            <a:avLst/>
          </a:prstGeom>
          <a:noFill/>
          <a:ln/>
        </p:spPr>
        <p:txBody>
          <a:bodyPr wrap="square" lIns="0" tIns="0" rIns="0" bIns="0" rtlCol="0" anchor="ctr"/>
          <a:lstStyle/>
          <a:p>
            <a:pPr marL="0" indent="0">
              <a:buNone/>
            </a:pPr>
            <a:r>
              <a:rPr lang="en-US" dirty="0">
                <a:solidFill>
                  <a:srgbClr val="0A3D4A"/>
                </a:solidFill>
              </a:rPr>
              <a:t>organisations → protect turtles; nesting beaches protected</a:t>
            </a:r>
            <a:endParaRPr lang="en-US" dirty="0"/>
          </a:p>
        </p:txBody>
      </p:sp>
      <p:sp>
        <p:nvSpPr>
          <p:cNvPr id="19" name="Shape 17"/>
          <p:cNvSpPr/>
          <p:nvPr/>
        </p:nvSpPr>
        <p:spPr>
          <a:xfrm>
            <a:off x="640080" y="3922776"/>
            <a:ext cx="512064" cy="512064"/>
          </a:xfrm>
          <a:prstGeom prst="ellipse">
            <a:avLst/>
          </a:prstGeom>
          <a:solidFill>
            <a:srgbClr val="3A86C8"/>
          </a:solidFill>
          <a:ln/>
        </p:spPr>
      </p:sp>
      <p:sp>
        <p:nvSpPr>
          <p:cNvPr id="20" name="Text 18"/>
          <p:cNvSpPr txBox="1"/>
          <p:nvPr/>
        </p:nvSpPr>
        <p:spPr>
          <a:xfrm>
            <a:off x="64008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
        <p:nvSpPr>
          <p:cNvPr id="21" name="Text 19"/>
          <p:cNvSpPr txBox="1"/>
          <p:nvPr/>
        </p:nvSpPr>
        <p:spPr>
          <a:xfrm>
            <a:off x="1325880" y="3730752"/>
            <a:ext cx="3017520" cy="896112"/>
          </a:xfrm>
          <a:prstGeom prst="rect">
            <a:avLst/>
          </a:prstGeom>
          <a:noFill/>
          <a:ln/>
        </p:spPr>
        <p:txBody>
          <a:bodyPr wrap="square" lIns="0" tIns="0" rIns="0" bIns="0" rtlCol="0" anchor="ctr"/>
          <a:lstStyle/>
          <a:p>
            <a:pPr marL="0" indent="0">
              <a:buNone/>
            </a:pPr>
            <a:r>
              <a:rPr lang="en-US" dirty="0">
                <a:solidFill>
                  <a:srgbClr val="0A3D4A"/>
                </a:solidFill>
              </a:rPr>
              <a:t>Sea turtles are reptiles.</a:t>
            </a:r>
            <a:endParaRPr lang="en-US" dirty="0"/>
          </a:p>
        </p:txBody>
      </p:sp>
      <p:sp>
        <p:nvSpPr>
          <p:cNvPr id="23" name="Shape 21"/>
          <p:cNvSpPr/>
          <p:nvPr/>
        </p:nvSpPr>
        <p:spPr>
          <a:xfrm>
            <a:off x="4846320" y="3922776"/>
            <a:ext cx="512064" cy="512064"/>
          </a:xfrm>
          <a:prstGeom prst="ellipse">
            <a:avLst/>
          </a:prstGeom>
          <a:solidFill>
            <a:srgbClr val="7B5EA7"/>
          </a:solidFill>
          <a:ln/>
        </p:spPr>
      </p:sp>
      <p:sp>
        <p:nvSpPr>
          <p:cNvPr id="24" name="Text 22"/>
          <p:cNvSpPr txBox="1"/>
          <p:nvPr/>
        </p:nvSpPr>
        <p:spPr>
          <a:xfrm>
            <a:off x="4846320" y="39227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25" name="Text 23"/>
          <p:cNvSpPr txBox="1"/>
          <p:nvPr/>
        </p:nvSpPr>
        <p:spPr>
          <a:xfrm>
            <a:off x="5532120" y="2569398"/>
            <a:ext cx="3017520" cy="896112"/>
          </a:xfrm>
          <a:prstGeom prst="rect">
            <a:avLst/>
          </a:prstGeom>
          <a:noFill/>
          <a:ln/>
        </p:spPr>
        <p:txBody>
          <a:bodyPr wrap="square" lIns="0" tIns="0" rIns="0" bIns="0" rtlCol="0" anchor="ctr"/>
          <a:lstStyle/>
          <a:p>
            <a:pPr marL="0" indent="0">
              <a:buNone/>
            </a:pPr>
            <a:r>
              <a:rPr lang="en-US" dirty="0">
                <a:solidFill>
                  <a:srgbClr val="0A3D4A"/>
                </a:solidFill>
              </a:rPr>
              <a:t>Beaches are beautiful places.</a:t>
            </a:r>
            <a:endParaRPr lang="en-US"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ANSWER</a:t>
            </a:r>
            <a:endParaRPr lang="en-US" sz="2600" dirty="0"/>
          </a:p>
        </p:txBody>
      </p:sp>
      <p:sp>
        <p:nvSpPr>
          <p:cNvPr id="7" name="Shape 5"/>
          <p:cNvSpPr/>
          <p:nvPr/>
        </p:nvSpPr>
        <p:spPr>
          <a:xfrm>
            <a:off x="457200" y="1234440"/>
            <a:ext cx="8229600" cy="1325880"/>
          </a:xfrm>
          <a:prstGeom prst="roundRect">
            <a:avLst>
              <a:gd name="adj" fmla="val 10345"/>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731520" y="1435608"/>
            <a:ext cx="914400" cy="914400"/>
          </a:xfrm>
          <a:prstGeom prst="ellipse">
            <a:avLst/>
          </a:prstGeom>
          <a:solidFill>
            <a:srgbClr val="2BB673"/>
          </a:solidFill>
          <a:ln/>
        </p:spPr>
      </p:sp>
      <p:sp>
        <p:nvSpPr>
          <p:cNvPr id="9" name="Text 7"/>
          <p:cNvSpPr txBox="1"/>
          <p:nvPr/>
        </p:nvSpPr>
        <p:spPr>
          <a:xfrm>
            <a:off x="731520" y="1435608"/>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D</a:t>
            </a:r>
            <a:endParaRPr lang="en-US" sz="4000" dirty="0"/>
          </a:p>
        </p:txBody>
      </p:sp>
      <p:sp>
        <p:nvSpPr>
          <p:cNvPr id="10" name="Text 8"/>
          <p:cNvSpPr txBox="1"/>
          <p:nvPr/>
        </p:nvSpPr>
        <p:spPr>
          <a:xfrm>
            <a:off x="1920240" y="1234440"/>
            <a:ext cx="6583680" cy="1325880"/>
          </a:xfrm>
          <a:prstGeom prst="rect">
            <a:avLst/>
          </a:prstGeom>
          <a:noFill/>
          <a:ln/>
        </p:spPr>
        <p:txBody>
          <a:bodyPr wrap="square" lIns="0" tIns="0" rIns="0" bIns="0" rtlCol="0" anchor="ctr"/>
          <a:lstStyle/>
          <a:p>
            <a:pPr marL="0" indent="0">
              <a:buNone/>
            </a:pPr>
            <a:r>
              <a:rPr lang="en-US" sz="2000" b="1" dirty="0">
                <a:solidFill>
                  <a:srgbClr val="0A3D4A"/>
                </a:solidFill>
              </a:rPr>
              <a:t>organisations → protect turtles; nesting beaches protected</a:t>
            </a:r>
            <a:endParaRPr lang="en-US" sz="2000" dirty="0"/>
          </a:p>
        </p:txBody>
      </p:sp>
      <p:sp>
        <p:nvSpPr>
          <p:cNvPr id="11" name="Text 9"/>
          <p:cNvSpPr txBox="1"/>
          <p:nvPr/>
        </p:nvSpPr>
        <p:spPr>
          <a:xfrm>
            <a:off x="548640" y="2697480"/>
            <a:ext cx="8046720" cy="1234440"/>
          </a:xfrm>
          <a:prstGeom prst="rect">
            <a:avLst/>
          </a:prstGeom>
          <a:noFill/>
          <a:ln/>
        </p:spPr>
        <p:txBody>
          <a:bodyPr wrap="square" lIns="0" tIns="0" rIns="0" bIns="0" rtlCol="0" anchor="t"/>
          <a:lstStyle/>
          <a:p>
            <a:pPr marL="0" indent="0">
              <a:spcAft>
                <a:spcPts val="300"/>
              </a:spcAft>
              <a:buNone/>
            </a:pPr>
            <a:r>
              <a:rPr lang="en-US" sz="1700" dirty="0">
                <a:solidFill>
                  <a:srgbClr val="0A3D4A"/>
                </a:solidFill>
              </a:rPr>
              <a:t>This is a note rather than copied sentences.</a:t>
            </a:r>
            <a:endParaRPr lang="en-US" sz="1700" dirty="0"/>
          </a:p>
        </p:txBody>
      </p:sp>
      <p:sp>
        <p:nvSpPr>
          <p:cNvPr id="12" name="Shape 10"/>
          <p:cNvSpPr/>
          <p:nvPr/>
        </p:nvSpPr>
        <p:spPr>
          <a:xfrm>
            <a:off x="457200" y="4023360"/>
            <a:ext cx="8229600" cy="685800"/>
          </a:xfrm>
          <a:prstGeom prst="roundRect">
            <a:avLst>
              <a:gd name="adj" fmla="val 20000"/>
            </a:avLst>
          </a:prstGeom>
          <a:solidFill>
            <a:srgbClr val="0A3D4A"/>
          </a:solidFill>
          <a:ln/>
          <a:effectLst>
            <a:outerShdw blurRad="76200" dist="25400" dir="5400000" algn="bl" rotWithShape="0">
              <a:srgbClr val="000000">
                <a:alpha val="15000"/>
              </a:srgbClr>
            </a:outerShdw>
          </a:effectLst>
        </p:spPr>
      </p:sp>
      <p:sp>
        <p:nvSpPr>
          <p:cNvPr id="13" name="Text 11"/>
          <p:cNvSpPr txBox="1"/>
          <p:nvPr/>
        </p:nvSpPr>
        <p:spPr>
          <a:xfrm>
            <a:off x="731520" y="4023360"/>
            <a:ext cx="7680960" cy="685800"/>
          </a:xfrm>
          <a:prstGeom prst="rect">
            <a:avLst/>
          </a:prstGeom>
          <a:noFill/>
          <a:ln/>
        </p:spPr>
        <p:txBody>
          <a:bodyPr wrap="square" lIns="0" tIns="0" rIns="0" bIns="0" rtlCol="0" anchor="ctr"/>
          <a:lstStyle/>
          <a:p>
            <a:pPr marL="0" indent="0">
              <a:buNone/>
            </a:pPr>
            <a:r>
              <a:rPr lang="en-US" sz="1700" b="1" dirty="0">
                <a:solidFill>
                  <a:srgbClr val="FFC857"/>
                </a:solidFill>
              </a:rPr>
              <a:t>Research rule: </a:t>
            </a:r>
            <a:r>
              <a:rPr lang="en-US" sz="1700" b="1" dirty="0">
                <a:solidFill>
                  <a:srgbClr val="FFFFFF"/>
                </a:solidFill>
              </a:rPr>
              <a:t>Read → Understand → Note → Write in your own words</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TURN THIS INTO NOTES</a:t>
            </a:r>
            <a:endParaRPr lang="en-US" sz="2600" dirty="0"/>
          </a:p>
        </p:txBody>
      </p:sp>
      <p:sp>
        <p:nvSpPr>
          <p:cNvPr id="7" name="Shape 5"/>
          <p:cNvSpPr/>
          <p:nvPr/>
        </p:nvSpPr>
        <p:spPr>
          <a:xfrm>
            <a:off x="457200" y="1188720"/>
            <a:ext cx="822960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685800" y="1188720"/>
            <a:ext cx="7772400" cy="1005840"/>
          </a:xfrm>
          <a:prstGeom prst="rect">
            <a:avLst/>
          </a:prstGeom>
          <a:noFill/>
          <a:ln/>
        </p:spPr>
        <p:txBody>
          <a:bodyPr wrap="square" lIns="0" tIns="0" rIns="0" bIns="0" rtlCol="0" anchor="ctr"/>
          <a:lstStyle/>
          <a:p>
            <a:pPr marL="0" indent="0">
              <a:buNone/>
            </a:pPr>
            <a:r>
              <a:rPr lang="en-US" sz="2000" b="1" dirty="0">
                <a:solidFill>
                  <a:srgbClr val="0E7C86"/>
                </a:solidFill>
              </a:rPr>
              <a:t>Source: </a:t>
            </a:r>
            <a:r>
              <a:rPr lang="en-US" sz="2000" i="1" dirty="0">
                <a:solidFill>
                  <a:srgbClr val="0A3D4A"/>
                </a:solidFill>
              </a:rPr>
              <a:t>Female sea turtles return to beaches to lay their eggs. They may travel thousands of kilometres before reaching a suitable nesting beach.</a:t>
            </a:r>
            <a:endParaRPr lang="en-US" sz="2000" dirty="0"/>
          </a:p>
        </p:txBody>
      </p:sp>
      <p:sp>
        <p:nvSpPr>
          <p:cNvPr id="9" name="Text 7"/>
          <p:cNvSpPr txBox="1"/>
          <p:nvPr/>
        </p:nvSpPr>
        <p:spPr>
          <a:xfrm>
            <a:off x="457200" y="2377440"/>
            <a:ext cx="8229600" cy="365760"/>
          </a:xfrm>
          <a:prstGeom prst="rect">
            <a:avLst/>
          </a:prstGeom>
          <a:noFill/>
          <a:ln/>
        </p:spPr>
        <p:txBody>
          <a:bodyPr wrap="square" lIns="0" tIns="0" rIns="0" bIns="0" rtlCol="0" anchor="t"/>
          <a:lstStyle/>
          <a:p>
            <a:pPr marL="0" indent="0">
              <a:buNone/>
            </a:pPr>
            <a:r>
              <a:rPr lang="en-US" sz="2400" b="1" dirty="0">
                <a:solidFill>
                  <a:srgbClr val="0A3D4A"/>
                </a:solidFill>
              </a:rPr>
              <a:t>Create short notes.</a:t>
            </a:r>
            <a:r>
              <a:rPr lang="en-US" sz="2400" dirty="0">
                <a:solidFill>
                  <a:srgbClr val="0A3D4A"/>
                </a:solidFill>
              </a:rPr>
              <a:t> Your notes should include:</a:t>
            </a:r>
            <a:endParaRPr lang="en-US" sz="2400" dirty="0"/>
          </a:p>
        </p:txBody>
      </p:sp>
      <p:sp>
        <p:nvSpPr>
          <p:cNvPr id="10" name="Shape 8"/>
          <p:cNvSpPr/>
          <p:nvPr/>
        </p:nvSpPr>
        <p:spPr>
          <a:xfrm>
            <a:off x="457200" y="2926080"/>
            <a:ext cx="2651760" cy="1371600"/>
          </a:xfrm>
          <a:prstGeom prst="roundRect">
            <a:avLst>
              <a:gd name="adj" fmla="val 10000"/>
            </a:avLst>
          </a:prstGeom>
          <a:solidFill>
            <a:srgbClr val="FFFFFF"/>
          </a:solidFill>
          <a:ln/>
          <a:effectLst>
            <a:outerShdw blurRad="76200" dist="25400" dir="5400000" algn="bl" rotWithShape="0">
              <a:srgbClr val="000000">
                <a:alpha val="15000"/>
              </a:srgbClr>
            </a:outerShdw>
          </a:effectLst>
        </p:spPr>
      </p:sp>
      <p:sp>
        <p:nvSpPr>
          <p:cNvPr id="11" name="Text 9"/>
          <p:cNvSpPr txBox="1"/>
          <p:nvPr/>
        </p:nvSpPr>
        <p:spPr>
          <a:xfrm>
            <a:off x="548640" y="2926080"/>
            <a:ext cx="2468880" cy="1371600"/>
          </a:xfrm>
          <a:prstGeom prst="rect">
            <a:avLst/>
          </a:prstGeom>
          <a:noFill/>
          <a:ln/>
        </p:spPr>
        <p:txBody>
          <a:bodyPr wrap="square" lIns="0" tIns="0" rIns="0" bIns="0" rtlCol="0" anchor="ctr"/>
          <a:lstStyle/>
          <a:p>
            <a:pPr marL="0" indent="0" algn="ctr">
              <a:buNone/>
            </a:pPr>
            <a:r>
              <a:rPr lang="en-US" sz="2600" b="1" dirty="0">
                <a:solidFill>
                  <a:srgbClr val="0A3D4A"/>
                </a:solidFill>
              </a:rPr>
              <a:t>who?</a:t>
            </a:r>
            <a:endParaRPr lang="en-US" sz="2600" dirty="0"/>
          </a:p>
        </p:txBody>
      </p:sp>
      <p:sp>
        <p:nvSpPr>
          <p:cNvPr id="12" name="Shape 10"/>
          <p:cNvSpPr/>
          <p:nvPr/>
        </p:nvSpPr>
        <p:spPr>
          <a:xfrm>
            <a:off x="3246120" y="2926080"/>
            <a:ext cx="2651760" cy="1371600"/>
          </a:xfrm>
          <a:prstGeom prst="roundRect">
            <a:avLst>
              <a:gd name="adj" fmla="val 10000"/>
            </a:avLst>
          </a:prstGeom>
          <a:solidFill>
            <a:srgbClr val="FFFFFF"/>
          </a:solidFill>
          <a:ln/>
          <a:effectLst>
            <a:outerShdw blurRad="76200" dist="25400" dir="5400000" algn="bl" rotWithShape="0">
              <a:srgbClr val="000000">
                <a:alpha val="15000"/>
              </a:srgbClr>
            </a:outerShdw>
          </a:effectLst>
        </p:spPr>
      </p:sp>
      <p:sp>
        <p:nvSpPr>
          <p:cNvPr id="13" name="Text 11"/>
          <p:cNvSpPr txBox="1"/>
          <p:nvPr/>
        </p:nvSpPr>
        <p:spPr>
          <a:xfrm>
            <a:off x="3337560" y="2926080"/>
            <a:ext cx="2468880" cy="1371600"/>
          </a:xfrm>
          <a:prstGeom prst="rect">
            <a:avLst/>
          </a:prstGeom>
          <a:noFill/>
          <a:ln/>
        </p:spPr>
        <p:txBody>
          <a:bodyPr wrap="square" lIns="0" tIns="0" rIns="0" bIns="0" rtlCol="0" anchor="ctr"/>
          <a:lstStyle/>
          <a:p>
            <a:pPr marL="0" indent="0" algn="ctr">
              <a:buNone/>
            </a:pPr>
            <a:r>
              <a:rPr lang="en-US" sz="2600" b="1" dirty="0">
                <a:solidFill>
                  <a:srgbClr val="0A3D4A"/>
                </a:solidFill>
              </a:rPr>
              <a:t>where?</a:t>
            </a:r>
            <a:endParaRPr lang="en-US" sz="2600" dirty="0"/>
          </a:p>
        </p:txBody>
      </p:sp>
      <p:sp>
        <p:nvSpPr>
          <p:cNvPr id="14" name="Shape 12"/>
          <p:cNvSpPr/>
          <p:nvPr/>
        </p:nvSpPr>
        <p:spPr>
          <a:xfrm>
            <a:off x="6035040" y="2926080"/>
            <a:ext cx="2651760" cy="1371600"/>
          </a:xfrm>
          <a:prstGeom prst="roundRect">
            <a:avLst>
              <a:gd name="adj" fmla="val 10000"/>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6126480" y="2926080"/>
            <a:ext cx="2468880" cy="1371600"/>
          </a:xfrm>
          <a:prstGeom prst="rect">
            <a:avLst/>
          </a:prstGeom>
          <a:noFill/>
          <a:ln/>
        </p:spPr>
        <p:txBody>
          <a:bodyPr wrap="square" lIns="0" tIns="0" rIns="0" bIns="0" rtlCol="0" anchor="ctr"/>
          <a:lstStyle/>
          <a:p>
            <a:pPr marL="0" indent="0" algn="ctr">
              <a:buNone/>
            </a:pPr>
            <a:r>
              <a:rPr lang="en-US" sz="2600" b="1" dirty="0">
                <a:solidFill>
                  <a:srgbClr val="0A3D4A"/>
                </a:solidFill>
              </a:rPr>
              <a:t>what?</a:t>
            </a:r>
            <a:endParaRPr lang="en-US" sz="2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POSSIBLE NOTES</a:t>
            </a:r>
            <a:endParaRPr lang="en-US" sz="2600" dirty="0"/>
          </a:p>
        </p:txBody>
      </p:sp>
      <p:sp>
        <p:nvSpPr>
          <p:cNvPr id="7" name="Shape 5"/>
          <p:cNvSpPr/>
          <p:nvPr/>
        </p:nvSpPr>
        <p:spPr>
          <a:xfrm>
            <a:off x="457200" y="1234440"/>
            <a:ext cx="8229600" cy="777240"/>
          </a:xfrm>
          <a:prstGeom prst="roundRect">
            <a:avLst>
              <a:gd name="adj" fmla="val 17647"/>
            </a:avLst>
          </a:prstGeom>
          <a:solidFill>
            <a:srgbClr val="FFFFFF"/>
          </a:solidFill>
          <a:ln/>
          <a:effectLst>
            <a:outerShdw blurRad="76200" dist="25400" dir="5400000" algn="bl" rotWithShape="0">
              <a:srgbClr val="000000">
                <a:alpha val="15000"/>
              </a:srgbClr>
            </a:outerShdw>
          </a:effectLst>
        </p:spPr>
      </p:sp>
      <p:sp>
        <p:nvSpPr>
          <p:cNvPr id="8" name="Text 6"/>
          <p:cNvSpPr txBox="1"/>
          <p:nvPr/>
        </p:nvSpPr>
        <p:spPr>
          <a:xfrm>
            <a:off x="731520" y="1234440"/>
            <a:ext cx="7680960" cy="777240"/>
          </a:xfrm>
          <a:prstGeom prst="rect">
            <a:avLst/>
          </a:prstGeom>
          <a:noFill/>
          <a:ln/>
        </p:spPr>
        <p:txBody>
          <a:bodyPr wrap="square" lIns="0" tIns="0" rIns="0" bIns="0" rtlCol="0" anchor="ctr"/>
          <a:lstStyle/>
          <a:p>
            <a:pPr marL="0" indent="0">
              <a:buNone/>
            </a:pPr>
            <a:r>
              <a:rPr lang="en-US" sz="2100" b="1" dirty="0">
                <a:solidFill>
                  <a:srgbClr val="0E7C86"/>
                </a:solidFill>
              </a:rPr>
              <a:t>Female turtles → return to beaches → lay eggs</a:t>
            </a:r>
            <a:endParaRPr lang="en-US" sz="2100" dirty="0"/>
          </a:p>
        </p:txBody>
      </p:sp>
      <p:sp>
        <p:nvSpPr>
          <p:cNvPr id="9" name="Shape 7"/>
          <p:cNvSpPr/>
          <p:nvPr/>
        </p:nvSpPr>
        <p:spPr>
          <a:xfrm>
            <a:off x="457200" y="2148840"/>
            <a:ext cx="8229600" cy="777240"/>
          </a:xfrm>
          <a:prstGeom prst="roundRect">
            <a:avLst>
              <a:gd name="adj" fmla="val 17647"/>
            </a:avLst>
          </a:prstGeom>
          <a:solidFill>
            <a:srgbClr val="FFFFFF"/>
          </a:solidFill>
          <a:ln/>
          <a:effectLst>
            <a:outerShdw blurRad="76200" dist="25400" dir="5400000" algn="bl" rotWithShape="0">
              <a:srgbClr val="000000">
                <a:alpha val="15000"/>
              </a:srgbClr>
            </a:outerShdw>
          </a:effectLst>
        </p:spPr>
      </p:sp>
      <p:sp>
        <p:nvSpPr>
          <p:cNvPr id="10" name="Text 8"/>
          <p:cNvSpPr txBox="1"/>
          <p:nvPr/>
        </p:nvSpPr>
        <p:spPr>
          <a:xfrm>
            <a:off x="731520" y="2148840"/>
            <a:ext cx="7680960" cy="777240"/>
          </a:xfrm>
          <a:prstGeom prst="rect">
            <a:avLst/>
          </a:prstGeom>
          <a:noFill/>
          <a:ln/>
        </p:spPr>
        <p:txBody>
          <a:bodyPr wrap="square" lIns="0" tIns="0" rIns="0" bIns="0" rtlCol="0" anchor="ctr"/>
          <a:lstStyle/>
          <a:p>
            <a:pPr marL="0" indent="0">
              <a:buNone/>
            </a:pPr>
            <a:r>
              <a:rPr lang="en-US" sz="2100" b="1" dirty="0">
                <a:solidFill>
                  <a:srgbClr val="0E7C86"/>
                </a:solidFill>
              </a:rPr>
              <a:t>travel thousands of kilometres → nesting beaches</a:t>
            </a:r>
            <a:endParaRPr lang="en-US" sz="2100" dirty="0"/>
          </a:p>
        </p:txBody>
      </p:sp>
      <p:sp>
        <p:nvSpPr>
          <p:cNvPr id="11" name="Shape 9"/>
          <p:cNvSpPr/>
          <p:nvPr/>
        </p:nvSpPr>
        <p:spPr>
          <a:xfrm>
            <a:off x="457200" y="3200400"/>
            <a:ext cx="8229600" cy="1463040"/>
          </a:xfrm>
          <a:prstGeom prst="roundRect">
            <a:avLst>
              <a:gd name="adj" fmla="val 9375"/>
            </a:avLst>
          </a:prstGeom>
          <a:solidFill>
            <a:srgbClr val="0A3D4A"/>
          </a:solidFill>
          <a:ln/>
          <a:effectLst>
            <a:outerShdw blurRad="76200" dist="25400" dir="5400000" algn="bl" rotWithShape="0">
              <a:srgbClr val="000000">
                <a:alpha val="15000"/>
              </a:srgbClr>
            </a:outerShdw>
          </a:effectLst>
        </p:spPr>
      </p:sp>
      <p:sp>
        <p:nvSpPr>
          <p:cNvPr id="12" name="Text 10"/>
          <p:cNvSpPr txBox="1"/>
          <p:nvPr/>
        </p:nvSpPr>
        <p:spPr>
          <a:xfrm>
            <a:off x="731520" y="3200400"/>
            <a:ext cx="7680960" cy="1463040"/>
          </a:xfrm>
          <a:prstGeom prst="rect">
            <a:avLst/>
          </a:prstGeom>
          <a:noFill/>
          <a:ln/>
        </p:spPr>
        <p:txBody>
          <a:bodyPr wrap="square" lIns="0" tIns="0" rIns="0" bIns="0" rtlCol="0" anchor="ctr"/>
          <a:lstStyle/>
          <a:p>
            <a:pPr marL="0" indent="0">
              <a:buNone/>
            </a:pPr>
            <a:r>
              <a:rPr lang="en-US" sz="2400" b="1" dirty="0">
                <a:highlight>
                  <a:srgbClr val="FFFF00"/>
                </a:highlight>
              </a:rPr>
              <a:t>NOTICE</a:t>
            </a:r>
            <a:endParaRPr lang="en-US" sz="1800" dirty="0">
              <a:highlight>
                <a:srgbClr val="FFFF00"/>
              </a:highlight>
            </a:endParaRPr>
          </a:p>
          <a:p>
            <a:pPr marL="0" indent="0">
              <a:buNone/>
            </a:pPr>
            <a:r>
              <a:rPr lang="en-US" sz="2400" b="1" dirty="0">
                <a:solidFill>
                  <a:srgbClr val="FFFFFF"/>
                </a:solidFill>
              </a:rPr>
              <a:t>We did not copy the complete sentences.</a:t>
            </a:r>
            <a:endParaRPr lang="en-US" sz="2400" dirty="0"/>
          </a:p>
          <a:p>
            <a:pPr marL="0" indent="0">
              <a:buNone/>
            </a:pPr>
            <a:r>
              <a:rPr lang="en-US" sz="2400" b="1" dirty="0">
                <a:solidFill>
                  <a:srgbClr val="FFFFFF"/>
                </a:solidFill>
              </a:rPr>
              <a:t>We selected the important information.</a:t>
            </a:r>
            <a:endParaRPr lang="en-US" sz="2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BEFORE YOU MOVE ON…</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sz="2000" b="1" i="1" dirty="0">
                <a:solidFill>
                  <a:srgbClr val="4A6B73"/>
                </a:solidFill>
              </a:rPr>
              <a:t>Ask yourself:</a:t>
            </a:r>
            <a:endParaRPr lang="en-US" sz="2000" b="1" dirty="0"/>
          </a:p>
        </p:txBody>
      </p:sp>
      <p:sp>
        <p:nvSpPr>
          <p:cNvPr id="8" name="Shape 6"/>
          <p:cNvSpPr/>
          <p:nvPr/>
        </p:nvSpPr>
        <p:spPr>
          <a:xfrm>
            <a:off x="457200" y="128016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485900"/>
            <a:ext cx="274320" cy="274320"/>
          </a:xfrm>
          <a:prstGeom prst="roundRect">
            <a:avLst>
              <a:gd name="adj" fmla="val 16667"/>
            </a:avLst>
          </a:prstGeom>
          <a:solidFill>
            <a:srgbClr val="FFFFFF"/>
          </a:solidFill>
          <a:ln w="25400">
            <a:solidFill>
              <a:srgbClr val="0E7C86"/>
            </a:solidFill>
            <a:prstDash val="solid"/>
          </a:ln>
        </p:spPr>
      </p:sp>
      <p:sp>
        <p:nvSpPr>
          <p:cNvPr id="10" name="Text 8"/>
          <p:cNvSpPr txBox="1"/>
          <p:nvPr/>
        </p:nvSpPr>
        <p:spPr>
          <a:xfrm>
            <a:off x="1097280" y="1280160"/>
            <a:ext cx="3302442" cy="685800"/>
          </a:xfrm>
          <a:prstGeom prst="rect">
            <a:avLst/>
          </a:prstGeom>
          <a:noFill/>
          <a:ln/>
        </p:spPr>
        <p:txBody>
          <a:bodyPr wrap="square" lIns="0" tIns="0" rIns="0" bIns="0" rtlCol="0" anchor="ctr"/>
          <a:lstStyle/>
          <a:p>
            <a:pPr marL="0" indent="0">
              <a:buNone/>
            </a:pPr>
            <a:r>
              <a:rPr lang="en-US" dirty="0">
                <a:solidFill>
                  <a:srgbClr val="0A3D4A"/>
                </a:solidFill>
              </a:rPr>
              <a:t>What information am I looking for?</a:t>
            </a:r>
            <a:endParaRPr lang="en-US" dirty="0"/>
          </a:p>
        </p:txBody>
      </p:sp>
      <p:sp>
        <p:nvSpPr>
          <p:cNvPr id="11" name="Shape 9"/>
          <p:cNvSpPr/>
          <p:nvPr/>
        </p:nvSpPr>
        <p:spPr>
          <a:xfrm>
            <a:off x="4663440" y="128016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2" name="Shape 10"/>
          <p:cNvSpPr/>
          <p:nvPr/>
        </p:nvSpPr>
        <p:spPr>
          <a:xfrm>
            <a:off x="4846320" y="1485900"/>
            <a:ext cx="274320" cy="274320"/>
          </a:xfrm>
          <a:prstGeom prst="roundRect">
            <a:avLst>
              <a:gd name="adj" fmla="val 16667"/>
            </a:avLst>
          </a:prstGeom>
          <a:solidFill>
            <a:srgbClr val="FFFFFF"/>
          </a:solidFill>
          <a:ln w="25400">
            <a:solidFill>
              <a:srgbClr val="0E7C86"/>
            </a:solidFill>
            <a:prstDash val="solid"/>
          </a:ln>
        </p:spPr>
      </p:sp>
      <p:sp>
        <p:nvSpPr>
          <p:cNvPr id="13" name="Text 11"/>
          <p:cNvSpPr txBox="1"/>
          <p:nvPr/>
        </p:nvSpPr>
        <p:spPr>
          <a:xfrm>
            <a:off x="5303520" y="1280160"/>
            <a:ext cx="3246120" cy="685800"/>
          </a:xfrm>
          <a:prstGeom prst="rect">
            <a:avLst/>
          </a:prstGeom>
          <a:noFill/>
          <a:ln/>
        </p:spPr>
        <p:txBody>
          <a:bodyPr wrap="square" lIns="0" tIns="0" rIns="0" bIns="0" rtlCol="0" anchor="ctr"/>
          <a:lstStyle/>
          <a:p>
            <a:pPr marL="0" indent="0">
              <a:buNone/>
            </a:pPr>
            <a:r>
              <a:rPr lang="en-US" dirty="0">
                <a:solidFill>
                  <a:srgbClr val="0A3D4A"/>
                </a:solidFill>
              </a:rPr>
              <a:t>Did I skim the source first?</a:t>
            </a:r>
            <a:endParaRPr lang="en-US" dirty="0"/>
          </a:p>
        </p:txBody>
      </p:sp>
      <p:sp>
        <p:nvSpPr>
          <p:cNvPr id="14" name="Shape 12"/>
          <p:cNvSpPr/>
          <p:nvPr/>
        </p:nvSpPr>
        <p:spPr>
          <a:xfrm>
            <a:off x="457200" y="210312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5" name="Shape 13"/>
          <p:cNvSpPr/>
          <p:nvPr/>
        </p:nvSpPr>
        <p:spPr>
          <a:xfrm>
            <a:off x="640080" y="2308860"/>
            <a:ext cx="274320" cy="274320"/>
          </a:xfrm>
          <a:prstGeom prst="roundRect">
            <a:avLst>
              <a:gd name="adj" fmla="val 16667"/>
            </a:avLst>
          </a:prstGeom>
          <a:solidFill>
            <a:srgbClr val="FFFFFF"/>
          </a:solidFill>
          <a:ln w="25400">
            <a:solidFill>
              <a:srgbClr val="0E7C86"/>
            </a:solidFill>
            <a:prstDash val="solid"/>
          </a:ln>
        </p:spPr>
      </p:sp>
      <p:sp>
        <p:nvSpPr>
          <p:cNvPr id="16" name="Text 14"/>
          <p:cNvSpPr txBox="1"/>
          <p:nvPr/>
        </p:nvSpPr>
        <p:spPr>
          <a:xfrm>
            <a:off x="1097280" y="2103120"/>
            <a:ext cx="3246120" cy="685800"/>
          </a:xfrm>
          <a:prstGeom prst="rect">
            <a:avLst/>
          </a:prstGeom>
          <a:noFill/>
          <a:ln/>
        </p:spPr>
        <p:txBody>
          <a:bodyPr wrap="square" lIns="0" tIns="0" rIns="0" bIns="0" rtlCol="0" anchor="ctr"/>
          <a:lstStyle/>
          <a:p>
            <a:pPr marL="0" indent="0">
              <a:buNone/>
            </a:pPr>
            <a:r>
              <a:rPr lang="en-US" dirty="0">
                <a:solidFill>
                  <a:srgbClr val="0A3D4A"/>
                </a:solidFill>
              </a:rPr>
              <a:t>Did I scan for key information?</a:t>
            </a:r>
            <a:endParaRPr lang="en-US" dirty="0"/>
          </a:p>
        </p:txBody>
      </p:sp>
      <p:sp>
        <p:nvSpPr>
          <p:cNvPr id="17" name="Shape 15"/>
          <p:cNvSpPr/>
          <p:nvPr/>
        </p:nvSpPr>
        <p:spPr>
          <a:xfrm>
            <a:off x="4663440" y="210312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18" name="Shape 16"/>
          <p:cNvSpPr/>
          <p:nvPr/>
        </p:nvSpPr>
        <p:spPr>
          <a:xfrm>
            <a:off x="4846320" y="2308860"/>
            <a:ext cx="274320" cy="274320"/>
          </a:xfrm>
          <a:prstGeom prst="roundRect">
            <a:avLst>
              <a:gd name="adj" fmla="val 16667"/>
            </a:avLst>
          </a:prstGeom>
          <a:solidFill>
            <a:srgbClr val="FFFFFF"/>
          </a:solidFill>
          <a:ln w="25400">
            <a:solidFill>
              <a:srgbClr val="0E7C86"/>
            </a:solidFill>
            <a:prstDash val="solid"/>
          </a:ln>
        </p:spPr>
      </p:sp>
      <p:sp>
        <p:nvSpPr>
          <p:cNvPr id="19" name="Text 17"/>
          <p:cNvSpPr txBox="1"/>
          <p:nvPr/>
        </p:nvSpPr>
        <p:spPr>
          <a:xfrm>
            <a:off x="5303520" y="2103120"/>
            <a:ext cx="3246120" cy="685800"/>
          </a:xfrm>
          <a:prstGeom prst="rect">
            <a:avLst/>
          </a:prstGeom>
          <a:noFill/>
          <a:ln/>
        </p:spPr>
        <p:txBody>
          <a:bodyPr wrap="square" lIns="0" tIns="0" rIns="0" bIns="0" rtlCol="0" anchor="ctr"/>
          <a:lstStyle/>
          <a:p>
            <a:pPr marL="0" indent="0">
              <a:buNone/>
            </a:pPr>
            <a:r>
              <a:rPr lang="en-US" dirty="0">
                <a:solidFill>
                  <a:srgbClr val="0A3D4A"/>
                </a:solidFill>
              </a:rPr>
              <a:t>Is my information relevant?</a:t>
            </a:r>
            <a:endParaRPr lang="en-US" dirty="0"/>
          </a:p>
        </p:txBody>
      </p:sp>
      <p:sp>
        <p:nvSpPr>
          <p:cNvPr id="20" name="Shape 18"/>
          <p:cNvSpPr/>
          <p:nvPr/>
        </p:nvSpPr>
        <p:spPr>
          <a:xfrm>
            <a:off x="457200" y="292608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640080" y="3131820"/>
            <a:ext cx="274320" cy="274320"/>
          </a:xfrm>
          <a:prstGeom prst="roundRect">
            <a:avLst>
              <a:gd name="adj" fmla="val 16667"/>
            </a:avLst>
          </a:prstGeom>
          <a:solidFill>
            <a:srgbClr val="FFFFFF"/>
          </a:solidFill>
          <a:ln w="25400">
            <a:solidFill>
              <a:srgbClr val="0E7C86"/>
            </a:solidFill>
            <a:prstDash val="solid"/>
          </a:ln>
        </p:spPr>
      </p:sp>
      <p:sp>
        <p:nvSpPr>
          <p:cNvPr id="22" name="Text 20"/>
          <p:cNvSpPr txBox="1"/>
          <p:nvPr/>
        </p:nvSpPr>
        <p:spPr>
          <a:xfrm>
            <a:off x="967409" y="2926080"/>
            <a:ext cx="3604591" cy="685800"/>
          </a:xfrm>
          <a:prstGeom prst="rect">
            <a:avLst/>
          </a:prstGeom>
          <a:noFill/>
          <a:ln/>
        </p:spPr>
        <p:txBody>
          <a:bodyPr wrap="square" lIns="0" tIns="0" rIns="0" bIns="0" rtlCol="0" anchor="ctr"/>
          <a:lstStyle/>
          <a:p>
            <a:pPr marL="0" indent="0">
              <a:buNone/>
            </a:pPr>
            <a:r>
              <a:rPr lang="en-US" sz="1600" dirty="0">
                <a:solidFill>
                  <a:srgbClr val="0A3D4A"/>
                </a:solidFill>
              </a:rPr>
              <a:t>Did I organise it under the correct heading?</a:t>
            </a:r>
            <a:endParaRPr lang="en-US" sz="1600" dirty="0"/>
          </a:p>
        </p:txBody>
      </p:sp>
      <p:sp>
        <p:nvSpPr>
          <p:cNvPr id="23" name="Shape 21"/>
          <p:cNvSpPr/>
          <p:nvPr/>
        </p:nvSpPr>
        <p:spPr>
          <a:xfrm>
            <a:off x="4663440" y="2926080"/>
            <a:ext cx="402336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24" name="Shape 22"/>
          <p:cNvSpPr/>
          <p:nvPr/>
        </p:nvSpPr>
        <p:spPr>
          <a:xfrm>
            <a:off x="4846320" y="3131820"/>
            <a:ext cx="274320" cy="274320"/>
          </a:xfrm>
          <a:prstGeom prst="roundRect">
            <a:avLst>
              <a:gd name="adj" fmla="val 16667"/>
            </a:avLst>
          </a:prstGeom>
          <a:solidFill>
            <a:srgbClr val="FFFFFF"/>
          </a:solidFill>
          <a:ln w="25400">
            <a:solidFill>
              <a:srgbClr val="0E7C86"/>
            </a:solidFill>
            <a:prstDash val="solid"/>
          </a:ln>
        </p:spPr>
      </p:sp>
      <p:sp>
        <p:nvSpPr>
          <p:cNvPr id="25" name="Text 23"/>
          <p:cNvSpPr txBox="1"/>
          <p:nvPr/>
        </p:nvSpPr>
        <p:spPr>
          <a:xfrm>
            <a:off x="5212080" y="2926080"/>
            <a:ext cx="3337560" cy="685800"/>
          </a:xfrm>
          <a:prstGeom prst="rect">
            <a:avLst/>
          </a:prstGeom>
          <a:noFill/>
          <a:ln/>
        </p:spPr>
        <p:txBody>
          <a:bodyPr wrap="square" lIns="0" tIns="0" rIns="0" bIns="0" rtlCol="0" anchor="ctr"/>
          <a:lstStyle/>
          <a:p>
            <a:pPr marL="0" indent="0">
              <a:buNone/>
            </a:pPr>
            <a:r>
              <a:rPr lang="en-US" dirty="0">
                <a:solidFill>
                  <a:srgbClr val="0A3D4A"/>
                </a:solidFill>
              </a:rPr>
              <a:t>Did I write notes rather than copy sentences?</a:t>
            </a:r>
            <a:endParaRPr lang="en-US" dirty="0"/>
          </a:p>
        </p:txBody>
      </p:sp>
      <p:sp>
        <p:nvSpPr>
          <p:cNvPr id="26" name="Shape 24"/>
          <p:cNvSpPr/>
          <p:nvPr/>
        </p:nvSpPr>
        <p:spPr>
          <a:xfrm>
            <a:off x="457200" y="3749040"/>
            <a:ext cx="8229600" cy="685800"/>
          </a:xfrm>
          <a:prstGeom prst="roundRect">
            <a:avLst>
              <a:gd name="adj" fmla="val 20000"/>
            </a:avLst>
          </a:prstGeom>
          <a:solidFill>
            <a:srgbClr val="FFFFFF"/>
          </a:solidFill>
          <a:ln/>
          <a:effectLst>
            <a:outerShdw blurRad="76200" dist="25400" dir="5400000" algn="bl" rotWithShape="0">
              <a:srgbClr val="000000">
                <a:alpha val="15000"/>
              </a:srgbClr>
            </a:outerShdw>
          </a:effectLst>
        </p:spPr>
      </p:sp>
      <p:sp>
        <p:nvSpPr>
          <p:cNvPr id="27" name="Shape 25"/>
          <p:cNvSpPr/>
          <p:nvPr/>
        </p:nvSpPr>
        <p:spPr>
          <a:xfrm>
            <a:off x="640080" y="3954780"/>
            <a:ext cx="274320" cy="274320"/>
          </a:xfrm>
          <a:prstGeom prst="roundRect">
            <a:avLst>
              <a:gd name="adj" fmla="val 16667"/>
            </a:avLst>
          </a:prstGeom>
          <a:solidFill>
            <a:srgbClr val="FFFFFF"/>
          </a:solidFill>
          <a:ln w="25400">
            <a:solidFill>
              <a:srgbClr val="0E7C86"/>
            </a:solidFill>
            <a:prstDash val="solid"/>
          </a:ln>
        </p:spPr>
      </p:sp>
      <p:sp>
        <p:nvSpPr>
          <p:cNvPr id="28" name="Text 26"/>
          <p:cNvSpPr txBox="1"/>
          <p:nvPr/>
        </p:nvSpPr>
        <p:spPr>
          <a:xfrm>
            <a:off x="1097280" y="3749040"/>
            <a:ext cx="7452360" cy="685800"/>
          </a:xfrm>
          <a:prstGeom prst="rect">
            <a:avLst/>
          </a:prstGeom>
          <a:noFill/>
          <a:ln/>
        </p:spPr>
        <p:txBody>
          <a:bodyPr wrap="square" lIns="0" tIns="0" rIns="0" bIns="0" rtlCol="0" anchor="ctr"/>
          <a:lstStyle/>
          <a:p>
            <a:pPr marL="0" indent="0">
              <a:buNone/>
            </a:pPr>
            <a:r>
              <a:rPr lang="en-US" dirty="0">
                <a:solidFill>
                  <a:srgbClr val="0A3D4A"/>
                </a:solidFill>
              </a:rPr>
              <a:t>Can I understand my notes later?</a:t>
            </a:r>
            <a:endParaRPr lang="en-US" dirty="0"/>
          </a:p>
        </p:txBody>
      </p:sp>
      <p:sp>
        <p:nvSpPr>
          <p:cNvPr id="29"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1234440" y="-6626"/>
            <a:ext cx="7315200" cy="685800"/>
          </a:xfrm>
          <a:prstGeom prst="rect">
            <a:avLst/>
          </a:prstGeom>
          <a:noFill/>
          <a:ln/>
        </p:spPr>
        <p:txBody>
          <a:bodyPr wrap="square" rtlCol="0" anchor="ctr"/>
          <a:lstStyle/>
          <a:p>
            <a:pPr marL="0" indent="0">
              <a:buNone/>
            </a:pPr>
            <a:r>
              <a:rPr lang="en-US" sz="2600" b="1" dirty="0">
                <a:solidFill>
                  <a:srgbClr val="0A3D4A"/>
                </a:solidFill>
              </a:rPr>
              <a:t>YOUR TURN</a:t>
            </a:r>
            <a:endParaRPr lang="en-US" sz="2600" dirty="0"/>
          </a:p>
        </p:txBody>
      </p:sp>
      <p:sp>
        <p:nvSpPr>
          <p:cNvPr id="7" name="Text 5"/>
          <p:cNvSpPr txBox="1"/>
          <p:nvPr/>
        </p:nvSpPr>
        <p:spPr>
          <a:xfrm>
            <a:off x="91440" y="451899"/>
            <a:ext cx="8229600" cy="548640"/>
          </a:xfrm>
          <a:prstGeom prst="rect">
            <a:avLst/>
          </a:prstGeom>
          <a:noFill/>
          <a:ln/>
        </p:spPr>
        <p:txBody>
          <a:bodyPr wrap="square" lIns="0" tIns="0" rIns="0" bIns="0" rtlCol="0" anchor="t"/>
          <a:lstStyle/>
          <a:p>
            <a:pPr marL="0" indent="0">
              <a:buNone/>
            </a:pPr>
            <a:r>
              <a:rPr lang="en-US" dirty="0">
                <a:solidFill>
                  <a:srgbClr val="0A3D4A"/>
                </a:solidFill>
              </a:rPr>
              <a:t>Choose a creature that is in danger. </a:t>
            </a:r>
          </a:p>
          <a:p>
            <a:pPr marL="0" indent="0">
              <a:buNone/>
            </a:pPr>
            <a:r>
              <a:rPr lang="en-US" dirty="0">
                <a:solidFill>
                  <a:srgbClr val="0A3D4A"/>
                </a:solidFill>
              </a:rPr>
              <a:t>Use a book, article or teacher-provided source. </a:t>
            </a:r>
          </a:p>
          <a:p>
            <a:pPr marL="0" indent="0">
              <a:buNone/>
            </a:pPr>
            <a:endParaRPr lang="en-US" b="1" dirty="0">
              <a:solidFill>
                <a:srgbClr val="0A3D4A"/>
              </a:solidFill>
            </a:endParaRPr>
          </a:p>
          <a:p>
            <a:pPr marL="0" indent="0">
              <a:buNone/>
            </a:pPr>
            <a:r>
              <a:rPr lang="en-US" b="1" dirty="0">
                <a:solidFill>
                  <a:srgbClr val="0A3D4A"/>
                </a:solidFill>
              </a:rPr>
              <a:t>Find:</a:t>
            </a:r>
            <a:endParaRPr lang="en-US" dirty="0"/>
          </a:p>
        </p:txBody>
      </p:sp>
      <p:sp>
        <p:nvSpPr>
          <p:cNvPr id="8" name="Shape 6"/>
          <p:cNvSpPr/>
          <p:nvPr/>
        </p:nvSpPr>
        <p:spPr>
          <a:xfrm>
            <a:off x="457200" y="1554480"/>
            <a:ext cx="2560320" cy="1920240"/>
          </a:xfrm>
          <a:prstGeom prst="roundRect">
            <a:avLst>
              <a:gd name="adj" fmla="val 7143"/>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737360"/>
            <a:ext cx="566928" cy="566928"/>
          </a:xfrm>
          <a:prstGeom prst="ellipse">
            <a:avLst/>
          </a:prstGeom>
          <a:solidFill>
            <a:srgbClr val="FF6B5E"/>
          </a:solidFill>
          <a:ln/>
        </p:spPr>
      </p:sp>
      <p:sp>
        <p:nvSpPr>
          <p:cNvPr id="10" name="Text 8"/>
          <p:cNvSpPr txBox="1"/>
          <p:nvPr/>
        </p:nvSpPr>
        <p:spPr>
          <a:xfrm>
            <a:off x="64008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73736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FACTS</a:t>
            </a:r>
            <a:endParaRPr lang="en-US" sz="1700" dirty="0"/>
          </a:p>
        </p:txBody>
      </p:sp>
      <p:sp>
        <p:nvSpPr>
          <p:cNvPr id="12" name="Text 10"/>
          <p:cNvSpPr txBox="1"/>
          <p:nvPr/>
        </p:nvSpPr>
        <p:spPr>
          <a:xfrm>
            <a:off x="479729" y="2504661"/>
            <a:ext cx="2560320" cy="868680"/>
          </a:xfrm>
          <a:prstGeom prst="rect">
            <a:avLst/>
          </a:prstGeom>
          <a:noFill/>
          <a:ln/>
        </p:spPr>
        <p:txBody>
          <a:bodyPr wrap="square" lIns="0" tIns="0" rIns="0" bIns="0" rtlCol="0" anchor="t"/>
          <a:lstStyle/>
          <a:p>
            <a:pPr marL="0" indent="0">
              <a:buNone/>
            </a:pPr>
            <a:r>
              <a:rPr lang="en-US" sz="1800" b="1" dirty="0">
                <a:solidFill>
                  <a:srgbClr val="0A3D4A"/>
                </a:solidFill>
              </a:rPr>
              <a:t>3 facts about the creature</a:t>
            </a:r>
            <a:endParaRPr lang="en-US" sz="1800" dirty="0"/>
          </a:p>
        </p:txBody>
      </p:sp>
      <p:sp>
        <p:nvSpPr>
          <p:cNvPr id="13" name="Shape 11"/>
          <p:cNvSpPr/>
          <p:nvPr/>
        </p:nvSpPr>
        <p:spPr>
          <a:xfrm>
            <a:off x="3291840" y="1554480"/>
            <a:ext cx="2560320" cy="1920240"/>
          </a:xfrm>
          <a:prstGeom prst="roundRect">
            <a:avLst>
              <a:gd name="adj" fmla="val 7143"/>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737360"/>
            <a:ext cx="566928" cy="566928"/>
          </a:xfrm>
          <a:prstGeom prst="ellipse">
            <a:avLst/>
          </a:prstGeom>
          <a:solidFill>
            <a:srgbClr val="0E7C86"/>
          </a:solidFill>
          <a:ln/>
        </p:spPr>
      </p:sp>
      <p:sp>
        <p:nvSpPr>
          <p:cNvPr id="15" name="Text 13"/>
          <p:cNvSpPr txBox="1"/>
          <p:nvPr/>
        </p:nvSpPr>
        <p:spPr>
          <a:xfrm>
            <a:off x="347472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73736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THREATS</a:t>
            </a:r>
            <a:endParaRPr lang="en-US" sz="1700" dirty="0"/>
          </a:p>
        </p:txBody>
      </p:sp>
      <p:sp>
        <p:nvSpPr>
          <p:cNvPr id="17" name="Text 15"/>
          <p:cNvSpPr txBox="1"/>
          <p:nvPr/>
        </p:nvSpPr>
        <p:spPr>
          <a:xfrm>
            <a:off x="3474720" y="2514600"/>
            <a:ext cx="2194560" cy="868680"/>
          </a:xfrm>
          <a:prstGeom prst="rect">
            <a:avLst/>
          </a:prstGeom>
          <a:noFill/>
          <a:ln/>
        </p:spPr>
        <p:txBody>
          <a:bodyPr wrap="square" lIns="0" tIns="0" rIns="0" bIns="0" rtlCol="0" anchor="t"/>
          <a:lstStyle/>
          <a:p>
            <a:pPr marL="0" indent="0">
              <a:buNone/>
            </a:pPr>
            <a:r>
              <a:rPr lang="en-US" sz="1800" b="1" dirty="0">
                <a:solidFill>
                  <a:srgbClr val="0A3D4A"/>
                </a:solidFill>
              </a:rPr>
              <a:t>2 threats</a:t>
            </a:r>
            <a:endParaRPr lang="en-US" sz="1800" dirty="0"/>
          </a:p>
        </p:txBody>
      </p:sp>
      <p:sp>
        <p:nvSpPr>
          <p:cNvPr id="18" name="Shape 16"/>
          <p:cNvSpPr/>
          <p:nvPr/>
        </p:nvSpPr>
        <p:spPr>
          <a:xfrm>
            <a:off x="6126480" y="1554480"/>
            <a:ext cx="2560320" cy="1920240"/>
          </a:xfrm>
          <a:prstGeom prst="roundRect">
            <a:avLst>
              <a:gd name="adj" fmla="val 7143"/>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737360"/>
            <a:ext cx="566928" cy="566928"/>
          </a:xfrm>
          <a:prstGeom prst="ellipse">
            <a:avLst/>
          </a:prstGeom>
          <a:solidFill>
            <a:srgbClr val="7B5EA7"/>
          </a:solidFill>
          <a:ln/>
        </p:spPr>
      </p:sp>
      <p:sp>
        <p:nvSpPr>
          <p:cNvPr id="20" name="Text 18"/>
          <p:cNvSpPr txBox="1"/>
          <p:nvPr/>
        </p:nvSpPr>
        <p:spPr>
          <a:xfrm>
            <a:off x="6309360" y="173736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7040880" y="173736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PROTECTION</a:t>
            </a:r>
            <a:endParaRPr lang="en-US" sz="1500" dirty="0"/>
          </a:p>
        </p:txBody>
      </p:sp>
      <p:sp>
        <p:nvSpPr>
          <p:cNvPr id="22" name="Text 20"/>
          <p:cNvSpPr txBox="1"/>
          <p:nvPr/>
        </p:nvSpPr>
        <p:spPr>
          <a:xfrm>
            <a:off x="6309360" y="2514600"/>
            <a:ext cx="2194560" cy="868680"/>
          </a:xfrm>
          <a:prstGeom prst="rect">
            <a:avLst/>
          </a:prstGeom>
          <a:noFill/>
          <a:ln/>
        </p:spPr>
        <p:txBody>
          <a:bodyPr wrap="square" lIns="0" tIns="0" rIns="0" bIns="0" rtlCol="0" anchor="t"/>
          <a:lstStyle/>
          <a:p>
            <a:pPr marL="0" indent="0">
              <a:buNone/>
            </a:pPr>
            <a:r>
              <a:rPr lang="en-US" sz="1800" b="1" dirty="0">
                <a:solidFill>
                  <a:srgbClr val="0A3D4A"/>
                </a:solidFill>
              </a:rPr>
              <a:t>1 protection method</a:t>
            </a:r>
            <a:endParaRPr lang="en-US" sz="1800" dirty="0"/>
          </a:p>
        </p:txBody>
      </p:sp>
      <p:sp>
        <p:nvSpPr>
          <p:cNvPr id="23" name="Shape 21"/>
          <p:cNvSpPr/>
          <p:nvPr/>
        </p:nvSpPr>
        <p:spPr>
          <a:xfrm>
            <a:off x="457200" y="361188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731520" y="3611880"/>
            <a:ext cx="7680960" cy="594360"/>
          </a:xfrm>
          <a:prstGeom prst="rect">
            <a:avLst/>
          </a:prstGeom>
          <a:noFill/>
          <a:ln/>
        </p:spPr>
        <p:txBody>
          <a:bodyPr wrap="square" lIns="0" tIns="0" rIns="0" bIns="0" rtlCol="0" anchor="ctr"/>
          <a:lstStyle/>
          <a:p>
            <a:pPr marL="0" indent="0">
              <a:buNone/>
            </a:pPr>
            <a:r>
              <a:rPr lang="en-US" sz="2000" b="1" dirty="0">
                <a:solidFill>
                  <a:srgbClr val="FFC857"/>
                </a:solidFill>
              </a:rPr>
              <a:t> </a:t>
            </a:r>
            <a:r>
              <a:rPr lang="en-US" sz="2000" b="1" dirty="0">
                <a:solidFill>
                  <a:srgbClr val="FFFFFF"/>
                </a:solidFill>
              </a:rPr>
              <a:t>Record them as NOTES.</a:t>
            </a:r>
            <a:endParaRPr lang="en-US" sz="2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SUPPORT</a:t>
            </a:r>
            <a:endParaRPr lang="en-US" sz="2600" dirty="0"/>
          </a:p>
        </p:txBody>
      </p:sp>
      <p:sp>
        <p:nvSpPr>
          <p:cNvPr id="7" name="Text 5"/>
          <p:cNvSpPr txBox="1"/>
          <p:nvPr/>
        </p:nvSpPr>
        <p:spPr>
          <a:xfrm>
            <a:off x="457200" y="914400"/>
            <a:ext cx="8229600" cy="274320"/>
          </a:xfrm>
          <a:prstGeom prst="rect">
            <a:avLst/>
          </a:prstGeom>
          <a:noFill/>
          <a:ln/>
        </p:spPr>
        <p:txBody>
          <a:bodyPr wrap="square" lIns="0" tIns="0" rIns="0" bIns="0" rtlCol="0" anchor="t"/>
          <a:lstStyle/>
          <a:p>
            <a:pPr marL="0" indent="0">
              <a:buNone/>
            </a:pPr>
            <a:r>
              <a:rPr lang="en-US" sz="2000" b="1" i="1" dirty="0">
                <a:solidFill>
                  <a:srgbClr val="4A6B73"/>
                </a:solidFill>
              </a:rPr>
              <a:t>Use these headings:</a:t>
            </a:r>
            <a:endParaRPr lang="en-US" sz="2000" b="1" dirty="0"/>
          </a:p>
        </p:txBody>
      </p:sp>
      <p:sp>
        <p:nvSpPr>
          <p:cNvPr id="8" name="Shape 6"/>
          <p:cNvSpPr/>
          <p:nvPr/>
        </p:nvSpPr>
        <p:spPr>
          <a:xfrm>
            <a:off x="45720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54480"/>
            <a:ext cx="566928" cy="566928"/>
          </a:xfrm>
          <a:prstGeom prst="ellipse">
            <a:avLst/>
          </a:prstGeom>
          <a:solidFill>
            <a:srgbClr val="FF6B5E"/>
          </a:solidFill>
          <a:ln/>
        </p:spPr>
      </p:sp>
      <p:sp>
        <p:nvSpPr>
          <p:cNvPr id="10" name="Text 8"/>
          <p:cNvSpPr txBox="1"/>
          <p:nvPr/>
        </p:nvSpPr>
        <p:spPr>
          <a:xfrm>
            <a:off x="64008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55448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FACTS</a:t>
            </a:r>
            <a:endParaRPr lang="en-US" sz="1700" dirty="0"/>
          </a:p>
        </p:txBody>
      </p:sp>
      <p:sp>
        <p:nvSpPr>
          <p:cNvPr id="12" name="Text 10"/>
          <p:cNvSpPr txBox="1"/>
          <p:nvPr/>
        </p:nvSpPr>
        <p:spPr>
          <a:xfrm>
            <a:off x="640080" y="2331720"/>
            <a:ext cx="2194560" cy="5029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13" name="Shape 11"/>
          <p:cNvSpPr/>
          <p:nvPr/>
        </p:nvSpPr>
        <p:spPr>
          <a:xfrm>
            <a:off x="329184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554480"/>
            <a:ext cx="566928" cy="566928"/>
          </a:xfrm>
          <a:prstGeom prst="ellipse">
            <a:avLst/>
          </a:prstGeom>
          <a:solidFill>
            <a:srgbClr val="0E7C86"/>
          </a:solidFill>
          <a:ln/>
        </p:spPr>
      </p:sp>
      <p:sp>
        <p:nvSpPr>
          <p:cNvPr id="15" name="Text 13"/>
          <p:cNvSpPr txBox="1"/>
          <p:nvPr/>
        </p:nvSpPr>
        <p:spPr>
          <a:xfrm>
            <a:off x="347472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55448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THREATS</a:t>
            </a:r>
            <a:endParaRPr lang="en-US" sz="1700" dirty="0"/>
          </a:p>
        </p:txBody>
      </p:sp>
      <p:sp>
        <p:nvSpPr>
          <p:cNvPr id="17" name="Text 15"/>
          <p:cNvSpPr txBox="1"/>
          <p:nvPr/>
        </p:nvSpPr>
        <p:spPr>
          <a:xfrm>
            <a:off x="3474720" y="2331720"/>
            <a:ext cx="2194560" cy="5029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18" name="Shape 16"/>
          <p:cNvSpPr/>
          <p:nvPr/>
        </p:nvSpPr>
        <p:spPr>
          <a:xfrm>
            <a:off x="612648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554480"/>
            <a:ext cx="566928" cy="566928"/>
          </a:xfrm>
          <a:prstGeom prst="ellipse">
            <a:avLst/>
          </a:prstGeom>
          <a:solidFill>
            <a:srgbClr val="7B5EA7"/>
          </a:solidFill>
          <a:ln/>
        </p:spPr>
      </p:sp>
      <p:sp>
        <p:nvSpPr>
          <p:cNvPr id="20" name="Text 18"/>
          <p:cNvSpPr txBox="1"/>
          <p:nvPr/>
        </p:nvSpPr>
        <p:spPr>
          <a:xfrm>
            <a:off x="630936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7040880" y="155448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PROTECTION</a:t>
            </a:r>
            <a:endParaRPr lang="en-US" sz="1500" dirty="0"/>
          </a:p>
        </p:txBody>
      </p:sp>
      <p:sp>
        <p:nvSpPr>
          <p:cNvPr id="22" name="Text 20"/>
          <p:cNvSpPr txBox="1"/>
          <p:nvPr/>
        </p:nvSpPr>
        <p:spPr>
          <a:xfrm>
            <a:off x="6309360" y="2331720"/>
            <a:ext cx="2194560" cy="502920"/>
          </a:xfrm>
          <a:prstGeom prst="rect">
            <a:avLst/>
          </a:prstGeom>
          <a:noFill/>
          <a:ln/>
        </p:spPr>
        <p:txBody>
          <a:bodyPr wrap="square" lIns="0" tIns="0" rIns="0" bIns="0" rtlCol="0" anchor="t"/>
          <a:lstStyle/>
          <a:p>
            <a:pPr marL="0" indent="0">
              <a:buNone/>
            </a:pPr>
            <a:r>
              <a:rPr lang="en-US" sz="1500" dirty="0">
                <a:solidFill>
                  <a:srgbClr val="0A3D4A"/>
                </a:solidFill>
              </a:rPr>
              <a:t> </a:t>
            </a:r>
            <a:endParaRPr lang="en-US" sz="1500" dirty="0"/>
          </a:p>
        </p:txBody>
      </p:sp>
      <p:sp>
        <p:nvSpPr>
          <p:cNvPr id="23" name="Shape 21"/>
          <p:cNvSpPr/>
          <p:nvPr/>
        </p:nvSpPr>
        <p:spPr>
          <a:xfrm>
            <a:off x="457200" y="306324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4" name="Text 22"/>
          <p:cNvSpPr txBox="1"/>
          <p:nvPr/>
        </p:nvSpPr>
        <p:spPr>
          <a:xfrm>
            <a:off x="731520" y="3063240"/>
            <a:ext cx="7680960" cy="594360"/>
          </a:xfrm>
          <a:prstGeom prst="rect">
            <a:avLst/>
          </a:prstGeom>
          <a:noFill/>
          <a:ln/>
        </p:spPr>
        <p:txBody>
          <a:bodyPr wrap="square" lIns="0" tIns="0" rIns="0" bIns="0" rtlCol="0" anchor="ctr"/>
          <a:lstStyle/>
          <a:p>
            <a:pPr marL="0" indent="0">
              <a:buNone/>
            </a:pPr>
            <a:r>
              <a:rPr lang="en-US" sz="1400" b="1" dirty="0">
                <a:solidFill>
                  <a:srgbClr val="FFC857"/>
                </a:solidFill>
              </a:rPr>
              <a:t>Helpful rule: </a:t>
            </a:r>
            <a:r>
              <a:rPr lang="en-US" sz="1400" b="1" dirty="0">
                <a:solidFill>
                  <a:srgbClr val="FFFFFF"/>
                </a:solidFill>
              </a:rPr>
              <a:t>Do not copy the whole sentence.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CORE</a:t>
            </a:r>
            <a:endParaRPr lang="en-US" sz="2600" dirty="0"/>
          </a:p>
        </p:txBody>
      </p:sp>
      <p:sp>
        <p:nvSpPr>
          <p:cNvPr id="7" name="Text 5"/>
          <p:cNvSpPr txBox="1"/>
          <p:nvPr/>
        </p:nvSpPr>
        <p:spPr>
          <a:xfrm>
            <a:off x="457200" y="914400"/>
            <a:ext cx="8229600" cy="365760"/>
          </a:xfrm>
          <a:prstGeom prst="rect">
            <a:avLst/>
          </a:prstGeom>
          <a:noFill/>
          <a:ln/>
        </p:spPr>
        <p:txBody>
          <a:bodyPr wrap="square" lIns="0" tIns="0" rIns="0" bIns="0" rtlCol="0" anchor="t"/>
          <a:lstStyle/>
          <a:p>
            <a:pPr marL="0" indent="0">
              <a:buNone/>
            </a:pPr>
            <a:r>
              <a:rPr lang="en-US" sz="1500" dirty="0">
                <a:solidFill>
                  <a:srgbClr val="0A3D4A"/>
                </a:solidFill>
              </a:rPr>
              <a:t>Research your chosen creature. </a:t>
            </a:r>
          </a:p>
          <a:p>
            <a:pPr marL="0" indent="0">
              <a:buNone/>
            </a:pPr>
            <a:r>
              <a:rPr lang="en-US" sz="1500" b="1" dirty="0">
                <a:solidFill>
                  <a:srgbClr val="0A3D4A"/>
                </a:solidFill>
              </a:rPr>
              <a:t>Find:</a:t>
            </a:r>
            <a:endParaRPr lang="en-US" sz="1500" dirty="0"/>
          </a:p>
        </p:txBody>
      </p:sp>
      <p:sp>
        <p:nvSpPr>
          <p:cNvPr id="8" name="Shape 6"/>
          <p:cNvSpPr/>
          <p:nvPr/>
        </p:nvSpPr>
        <p:spPr>
          <a:xfrm>
            <a:off x="45720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54480"/>
            <a:ext cx="566928" cy="566928"/>
          </a:xfrm>
          <a:prstGeom prst="ellipse">
            <a:avLst/>
          </a:prstGeom>
          <a:solidFill>
            <a:srgbClr val="FF6B5E"/>
          </a:solidFill>
          <a:ln/>
        </p:spPr>
      </p:sp>
      <p:sp>
        <p:nvSpPr>
          <p:cNvPr id="10" name="Text 8"/>
          <p:cNvSpPr txBox="1"/>
          <p:nvPr/>
        </p:nvSpPr>
        <p:spPr>
          <a:xfrm>
            <a:off x="64008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554480"/>
            <a:ext cx="1508760" cy="566928"/>
          </a:xfrm>
          <a:prstGeom prst="rect">
            <a:avLst/>
          </a:prstGeom>
          <a:noFill/>
          <a:ln/>
        </p:spPr>
        <p:txBody>
          <a:bodyPr wrap="square" lIns="0" tIns="0" rIns="0" bIns="0" rtlCol="0" anchor="ctr"/>
          <a:lstStyle/>
          <a:p>
            <a:pPr marL="0" indent="0">
              <a:buNone/>
            </a:pPr>
            <a:r>
              <a:rPr lang="en-US" sz="1700" b="1" dirty="0">
                <a:solidFill>
                  <a:srgbClr val="FF6B5E"/>
                </a:solidFill>
              </a:rPr>
              <a:t>FACTS</a:t>
            </a:r>
            <a:endParaRPr lang="en-US" sz="1700" dirty="0"/>
          </a:p>
        </p:txBody>
      </p:sp>
      <p:sp>
        <p:nvSpPr>
          <p:cNvPr id="12" name="Text 10"/>
          <p:cNvSpPr txBox="1"/>
          <p:nvPr/>
        </p:nvSpPr>
        <p:spPr>
          <a:xfrm>
            <a:off x="640080" y="2331720"/>
            <a:ext cx="2194560" cy="502920"/>
          </a:xfrm>
          <a:prstGeom prst="rect">
            <a:avLst/>
          </a:prstGeom>
          <a:noFill/>
          <a:ln/>
        </p:spPr>
        <p:txBody>
          <a:bodyPr wrap="square" lIns="0" tIns="0" rIns="0" bIns="0" rtlCol="0" anchor="t"/>
          <a:lstStyle/>
          <a:p>
            <a:pPr marL="0" indent="0">
              <a:buNone/>
            </a:pPr>
            <a:r>
              <a:rPr lang="en-US" sz="1800" b="1" dirty="0">
                <a:solidFill>
                  <a:srgbClr val="0A3D4A"/>
                </a:solidFill>
              </a:rPr>
              <a:t>5–8 facts</a:t>
            </a:r>
            <a:endParaRPr lang="en-US" sz="1800" dirty="0"/>
          </a:p>
        </p:txBody>
      </p:sp>
      <p:sp>
        <p:nvSpPr>
          <p:cNvPr id="13" name="Shape 11"/>
          <p:cNvSpPr/>
          <p:nvPr/>
        </p:nvSpPr>
        <p:spPr>
          <a:xfrm>
            <a:off x="329184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554480"/>
            <a:ext cx="566928" cy="566928"/>
          </a:xfrm>
          <a:prstGeom prst="ellipse">
            <a:avLst/>
          </a:prstGeom>
          <a:solidFill>
            <a:srgbClr val="0E7C86"/>
          </a:solidFill>
          <a:ln/>
        </p:spPr>
      </p:sp>
      <p:sp>
        <p:nvSpPr>
          <p:cNvPr id="15" name="Text 13"/>
          <p:cNvSpPr txBox="1"/>
          <p:nvPr/>
        </p:nvSpPr>
        <p:spPr>
          <a:xfrm>
            <a:off x="347472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55448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THREATS</a:t>
            </a:r>
            <a:endParaRPr lang="en-US" sz="1700" dirty="0"/>
          </a:p>
        </p:txBody>
      </p:sp>
      <p:sp>
        <p:nvSpPr>
          <p:cNvPr id="17" name="Text 15"/>
          <p:cNvSpPr txBox="1"/>
          <p:nvPr/>
        </p:nvSpPr>
        <p:spPr>
          <a:xfrm>
            <a:off x="3474720" y="2331720"/>
            <a:ext cx="2194560" cy="502920"/>
          </a:xfrm>
          <a:prstGeom prst="rect">
            <a:avLst/>
          </a:prstGeom>
          <a:noFill/>
          <a:ln/>
        </p:spPr>
        <p:txBody>
          <a:bodyPr wrap="square" lIns="0" tIns="0" rIns="0" bIns="0" rtlCol="0" anchor="t"/>
          <a:lstStyle/>
          <a:p>
            <a:pPr marL="0" indent="0">
              <a:buNone/>
            </a:pPr>
            <a:r>
              <a:rPr lang="en-US" sz="1800" b="1" dirty="0">
                <a:solidFill>
                  <a:srgbClr val="0A3D4A"/>
                </a:solidFill>
              </a:rPr>
              <a:t>2–3 threats</a:t>
            </a:r>
            <a:endParaRPr lang="en-US" sz="1800" dirty="0"/>
          </a:p>
        </p:txBody>
      </p:sp>
      <p:sp>
        <p:nvSpPr>
          <p:cNvPr id="18" name="Shape 16"/>
          <p:cNvSpPr/>
          <p:nvPr/>
        </p:nvSpPr>
        <p:spPr>
          <a:xfrm>
            <a:off x="6126480" y="1371600"/>
            <a:ext cx="256032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554480"/>
            <a:ext cx="566928" cy="566928"/>
          </a:xfrm>
          <a:prstGeom prst="ellipse">
            <a:avLst/>
          </a:prstGeom>
          <a:solidFill>
            <a:srgbClr val="7B5EA7"/>
          </a:solidFill>
          <a:ln/>
        </p:spPr>
      </p:sp>
      <p:sp>
        <p:nvSpPr>
          <p:cNvPr id="20" name="Text 18"/>
          <p:cNvSpPr txBox="1"/>
          <p:nvPr/>
        </p:nvSpPr>
        <p:spPr>
          <a:xfrm>
            <a:off x="630936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7040880" y="155448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PROTECTION</a:t>
            </a:r>
            <a:endParaRPr lang="en-US" sz="1500" dirty="0"/>
          </a:p>
        </p:txBody>
      </p:sp>
      <p:sp>
        <p:nvSpPr>
          <p:cNvPr id="22" name="Text 20"/>
          <p:cNvSpPr txBox="1"/>
          <p:nvPr/>
        </p:nvSpPr>
        <p:spPr>
          <a:xfrm>
            <a:off x="6309360" y="2331720"/>
            <a:ext cx="2194560" cy="502920"/>
          </a:xfrm>
          <a:prstGeom prst="rect">
            <a:avLst/>
          </a:prstGeom>
          <a:noFill/>
          <a:ln/>
        </p:spPr>
        <p:txBody>
          <a:bodyPr wrap="square" lIns="0" tIns="0" rIns="0" bIns="0" rtlCol="0" anchor="t"/>
          <a:lstStyle/>
          <a:p>
            <a:pPr marL="0" indent="0">
              <a:buNone/>
            </a:pPr>
            <a:r>
              <a:rPr lang="en-US" sz="1800" b="1" dirty="0">
                <a:solidFill>
                  <a:srgbClr val="0A3D4A"/>
                </a:solidFill>
              </a:rPr>
              <a:t>2 protection methods</a:t>
            </a:r>
            <a:endParaRPr lang="en-US" sz="1800" dirty="0"/>
          </a:p>
        </p:txBody>
      </p:sp>
      <p:sp>
        <p:nvSpPr>
          <p:cNvPr id="23" name="Text 21"/>
          <p:cNvSpPr txBox="1"/>
          <p:nvPr/>
        </p:nvSpPr>
        <p:spPr>
          <a:xfrm>
            <a:off x="457200" y="3108960"/>
            <a:ext cx="8229600" cy="365760"/>
          </a:xfrm>
          <a:prstGeom prst="rect">
            <a:avLst/>
          </a:prstGeom>
          <a:noFill/>
          <a:ln/>
        </p:spPr>
        <p:txBody>
          <a:bodyPr wrap="square" lIns="0" tIns="0" rIns="0" bIns="0" rtlCol="0" anchor="t"/>
          <a:lstStyle/>
          <a:p>
            <a:pPr marL="0" indent="0">
              <a:buNone/>
            </a:pPr>
            <a:r>
              <a:rPr lang="en-US" sz="1700" b="1" dirty="0">
                <a:solidFill>
                  <a:srgbClr val="0A3D4A"/>
                </a:solidFill>
              </a:rPr>
              <a:t>Organise your notes under clear headings.</a:t>
            </a:r>
            <a:endParaRPr lang="en-US" sz="1700" dirty="0"/>
          </a:p>
        </p:txBody>
      </p:sp>
      <p:sp>
        <p:nvSpPr>
          <p:cNvPr id="24" name="Shape 22"/>
          <p:cNvSpPr/>
          <p:nvPr/>
        </p:nvSpPr>
        <p:spPr>
          <a:xfrm>
            <a:off x="457200" y="365760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25" name="Text 23"/>
          <p:cNvSpPr txBox="1"/>
          <p:nvPr/>
        </p:nvSpPr>
        <p:spPr>
          <a:xfrm>
            <a:off x="731520" y="3657600"/>
            <a:ext cx="7680960" cy="594360"/>
          </a:xfrm>
          <a:prstGeom prst="rect">
            <a:avLst/>
          </a:prstGeom>
          <a:noFill/>
          <a:ln/>
        </p:spPr>
        <p:txBody>
          <a:bodyPr wrap="square" lIns="0" tIns="0" rIns="0" bIns="0" rtlCol="0" anchor="ctr"/>
          <a:lstStyle/>
          <a:p>
            <a:pPr marL="0" indent="0">
              <a:buNone/>
            </a:pPr>
            <a:r>
              <a:rPr lang="en-US" b="1" dirty="0">
                <a:solidFill>
                  <a:srgbClr val="FFC857"/>
                </a:solidFill>
              </a:rPr>
              <a:t>Challenge: </a:t>
            </a:r>
            <a:r>
              <a:rPr lang="en-US" b="1" dirty="0">
                <a:solidFill>
                  <a:srgbClr val="FFFFFF"/>
                </a:solidFill>
              </a:rPr>
              <a:t>Circle or underline the most important information in each section.</a:t>
            </a:r>
            <a:endParaRPr lang="en-US"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783204" y="12921"/>
            <a:ext cx="7315200" cy="685800"/>
          </a:xfrm>
          <a:prstGeom prst="rect">
            <a:avLst/>
          </a:prstGeom>
          <a:noFill/>
          <a:ln/>
        </p:spPr>
        <p:txBody>
          <a:bodyPr wrap="square" rtlCol="0" anchor="ctr"/>
          <a:lstStyle/>
          <a:p>
            <a:pPr marL="0" indent="0">
              <a:buNone/>
            </a:pPr>
            <a:r>
              <a:rPr lang="en-US" sz="2600" b="1" dirty="0">
                <a:solidFill>
                  <a:srgbClr val="0A3D4A"/>
                </a:solidFill>
              </a:rPr>
              <a:t>EXTEND</a:t>
            </a:r>
            <a:endParaRPr lang="en-US" sz="2600" dirty="0"/>
          </a:p>
        </p:txBody>
      </p:sp>
      <p:sp>
        <p:nvSpPr>
          <p:cNvPr id="7" name="Text 5"/>
          <p:cNvSpPr txBox="1"/>
          <p:nvPr/>
        </p:nvSpPr>
        <p:spPr>
          <a:xfrm>
            <a:off x="258417" y="545990"/>
            <a:ext cx="8229600" cy="365760"/>
          </a:xfrm>
          <a:prstGeom prst="rect">
            <a:avLst/>
          </a:prstGeom>
          <a:noFill/>
          <a:ln/>
        </p:spPr>
        <p:txBody>
          <a:bodyPr wrap="square" lIns="0" tIns="0" rIns="0" bIns="0" rtlCol="0" anchor="t"/>
          <a:lstStyle/>
          <a:p>
            <a:pPr marL="0" indent="0">
              <a:buNone/>
            </a:pPr>
            <a:r>
              <a:rPr lang="en-US" sz="1500" dirty="0">
                <a:solidFill>
                  <a:srgbClr val="0A3D4A"/>
                </a:solidFill>
              </a:rPr>
              <a:t>Research your creature independently. </a:t>
            </a:r>
          </a:p>
          <a:p>
            <a:pPr marL="0" indent="0">
              <a:buNone/>
            </a:pPr>
            <a:endParaRPr lang="en-US" sz="1500" b="1" dirty="0">
              <a:solidFill>
                <a:srgbClr val="0A3D4A"/>
              </a:solidFill>
            </a:endParaRPr>
          </a:p>
          <a:p>
            <a:pPr marL="0" indent="0">
              <a:buNone/>
            </a:pPr>
            <a:r>
              <a:rPr lang="en-US" sz="1500" b="1" dirty="0">
                <a:solidFill>
                  <a:srgbClr val="0A3D4A"/>
                </a:solidFill>
              </a:rPr>
              <a:t>Then decide:</a:t>
            </a:r>
            <a:endParaRPr lang="en-US" sz="1500" dirty="0"/>
          </a:p>
        </p:txBody>
      </p:sp>
      <p:sp>
        <p:nvSpPr>
          <p:cNvPr id="8" name="Shape 6"/>
          <p:cNvSpPr/>
          <p:nvPr/>
        </p:nvSpPr>
        <p:spPr>
          <a:xfrm>
            <a:off x="457200" y="1325880"/>
            <a:ext cx="8229600" cy="777240"/>
          </a:xfrm>
          <a:prstGeom prst="roundRect">
            <a:avLst>
              <a:gd name="adj" fmla="val 17647"/>
            </a:avLst>
          </a:prstGeom>
          <a:solidFill>
            <a:srgbClr val="0A3D4A"/>
          </a:solidFill>
          <a:ln/>
          <a:effectLst>
            <a:outerShdw blurRad="76200" dist="25400" dir="5400000" algn="bl" rotWithShape="0">
              <a:srgbClr val="000000">
                <a:alpha val="15000"/>
              </a:srgbClr>
            </a:outerShdw>
          </a:effectLst>
        </p:spPr>
      </p:sp>
      <p:sp>
        <p:nvSpPr>
          <p:cNvPr id="9" name="Text 7"/>
          <p:cNvSpPr txBox="1"/>
          <p:nvPr/>
        </p:nvSpPr>
        <p:spPr>
          <a:xfrm>
            <a:off x="731520" y="1325880"/>
            <a:ext cx="7680960" cy="777240"/>
          </a:xfrm>
          <a:prstGeom prst="rect">
            <a:avLst/>
          </a:prstGeom>
          <a:noFill/>
          <a:ln/>
        </p:spPr>
        <p:txBody>
          <a:bodyPr wrap="square" lIns="0" tIns="0" rIns="0" bIns="0" rtlCol="0" anchor="ctr"/>
          <a:lstStyle/>
          <a:p>
            <a:pPr marL="0" indent="0">
              <a:buNone/>
            </a:pPr>
            <a:r>
              <a:rPr lang="en-US" sz="2000" b="1" dirty="0">
                <a:solidFill>
                  <a:srgbClr val="FFC857"/>
                </a:solidFill>
              </a:rPr>
              <a:t>Which information is MOST important for your reader?</a:t>
            </a:r>
            <a:endParaRPr lang="en-US" sz="2000" dirty="0"/>
          </a:p>
        </p:txBody>
      </p:sp>
      <p:sp>
        <p:nvSpPr>
          <p:cNvPr id="10" name="Text 8"/>
          <p:cNvSpPr txBox="1"/>
          <p:nvPr/>
        </p:nvSpPr>
        <p:spPr>
          <a:xfrm>
            <a:off x="457200" y="2240280"/>
            <a:ext cx="8229600" cy="274320"/>
          </a:xfrm>
          <a:prstGeom prst="rect">
            <a:avLst/>
          </a:prstGeom>
          <a:noFill/>
          <a:ln/>
        </p:spPr>
        <p:txBody>
          <a:bodyPr wrap="square" lIns="0" tIns="0" rIns="0" bIns="0" rtlCol="0" anchor="t"/>
          <a:lstStyle/>
          <a:p>
            <a:pPr marL="0" indent="0">
              <a:buNone/>
            </a:pPr>
            <a:r>
              <a:rPr lang="en-US" sz="1500" b="1" dirty="0">
                <a:solidFill>
                  <a:srgbClr val="0A3D4A"/>
                </a:solidFill>
              </a:rPr>
              <a:t>Choose:</a:t>
            </a:r>
            <a:endParaRPr lang="en-US" sz="1500" dirty="0"/>
          </a:p>
        </p:txBody>
      </p:sp>
      <p:sp>
        <p:nvSpPr>
          <p:cNvPr id="11" name="Shape 9"/>
          <p:cNvSpPr/>
          <p:nvPr/>
        </p:nvSpPr>
        <p:spPr>
          <a:xfrm>
            <a:off x="457200" y="2560320"/>
            <a:ext cx="26517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548640" y="2560320"/>
            <a:ext cx="2468880" cy="914400"/>
          </a:xfrm>
          <a:prstGeom prst="rect">
            <a:avLst/>
          </a:prstGeom>
          <a:noFill/>
          <a:ln/>
        </p:spPr>
        <p:txBody>
          <a:bodyPr wrap="square" lIns="0" tIns="0" rIns="0" bIns="0" rtlCol="0" anchor="ctr"/>
          <a:lstStyle/>
          <a:p>
            <a:pPr marL="0" indent="0" algn="ctr">
              <a:buNone/>
            </a:pPr>
            <a:r>
              <a:rPr lang="en-US" sz="1500" b="1" dirty="0">
                <a:solidFill>
                  <a:srgbClr val="0A3D4A"/>
                </a:solidFill>
              </a:rPr>
              <a:t>the strongest facts</a:t>
            </a:r>
            <a:endParaRPr lang="en-US" sz="1500" dirty="0"/>
          </a:p>
        </p:txBody>
      </p:sp>
      <p:sp>
        <p:nvSpPr>
          <p:cNvPr id="13" name="Shape 11"/>
          <p:cNvSpPr/>
          <p:nvPr/>
        </p:nvSpPr>
        <p:spPr>
          <a:xfrm>
            <a:off x="3246120" y="2560320"/>
            <a:ext cx="26517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14" name="Text 12"/>
          <p:cNvSpPr txBox="1"/>
          <p:nvPr/>
        </p:nvSpPr>
        <p:spPr>
          <a:xfrm>
            <a:off x="3337560" y="2560320"/>
            <a:ext cx="2468880" cy="914400"/>
          </a:xfrm>
          <a:prstGeom prst="rect">
            <a:avLst/>
          </a:prstGeom>
          <a:noFill/>
          <a:ln/>
        </p:spPr>
        <p:txBody>
          <a:bodyPr wrap="square" lIns="0" tIns="0" rIns="0" bIns="0" rtlCol="0" anchor="ctr"/>
          <a:lstStyle/>
          <a:p>
            <a:pPr marL="0" indent="0" algn="ctr">
              <a:buNone/>
            </a:pPr>
            <a:r>
              <a:rPr lang="en-US" sz="1500" b="1" dirty="0">
                <a:solidFill>
                  <a:srgbClr val="0A3D4A"/>
                </a:solidFill>
              </a:rPr>
              <a:t>the most important threats</a:t>
            </a:r>
            <a:endParaRPr lang="en-US" sz="1500" dirty="0"/>
          </a:p>
        </p:txBody>
      </p:sp>
      <p:sp>
        <p:nvSpPr>
          <p:cNvPr id="15" name="Shape 13"/>
          <p:cNvSpPr/>
          <p:nvPr/>
        </p:nvSpPr>
        <p:spPr>
          <a:xfrm>
            <a:off x="6035040" y="2560320"/>
            <a:ext cx="2651760" cy="914400"/>
          </a:xfrm>
          <a:prstGeom prst="roundRect">
            <a:avLst>
              <a:gd name="adj" fmla="val 15000"/>
            </a:avLst>
          </a:prstGeom>
          <a:solidFill>
            <a:srgbClr val="FFFFFF"/>
          </a:solidFill>
          <a:ln/>
          <a:effectLst>
            <a:outerShdw blurRad="76200" dist="25400" dir="5400000" algn="bl" rotWithShape="0">
              <a:srgbClr val="000000">
                <a:alpha val="15000"/>
              </a:srgbClr>
            </a:outerShdw>
          </a:effectLst>
        </p:spPr>
      </p:sp>
      <p:sp>
        <p:nvSpPr>
          <p:cNvPr id="16" name="Text 14"/>
          <p:cNvSpPr txBox="1"/>
          <p:nvPr/>
        </p:nvSpPr>
        <p:spPr>
          <a:xfrm>
            <a:off x="6126480" y="2560320"/>
            <a:ext cx="2468880" cy="914400"/>
          </a:xfrm>
          <a:prstGeom prst="rect">
            <a:avLst/>
          </a:prstGeom>
          <a:noFill/>
          <a:ln/>
        </p:spPr>
        <p:txBody>
          <a:bodyPr wrap="square" lIns="0" tIns="0" rIns="0" bIns="0" rtlCol="0" anchor="ctr"/>
          <a:lstStyle/>
          <a:p>
            <a:pPr marL="0" indent="0" algn="ctr">
              <a:buNone/>
            </a:pPr>
            <a:r>
              <a:rPr lang="en-US" sz="1500" b="1" dirty="0">
                <a:solidFill>
                  <a:srgbClr val="0A3D4A"/>
                </a:solidFill>
              </a:rPr>
              <a:t>the most useful protection information</a:t>
            </a:r>
            <a:endParaRPr lang="en-US" sz="1500" dirty="0"/>
          </a:p>
        </p:txBody>
      </p:sp>
      <p:sp>
        <p:nvSpPr>
          <p:cNvPr id="17" name="Shape 15"/>
          <p:cNvSpPr/>
          <p:nvPr/>
        </p:nvSpPr>
        <p:spPr>
          <a:xfrm>
            <a:off x="457200" y="3749040"/>
            <a:ext cx="8229600" cy="594360"/>
          </a:xfrm>
          <a:prstGeom prst="roundRect">
            <a:avLst>
              <a:gd name="adj" fmla="val 23077"/>
            </a:avLst>
          </a:prstGeom>
          <a:solidFill>
            <a:srgbClr val="0A3D4A"/>
          </a:solidFill>
          <a:ln/>
          <a:effectLst>
            <a:outerShdw blurRad="76200" dist="25400" dir="5400000" algn="bl" rotWithShape="0">
              <a:srgbClr val="000000">
                <a:alpha val="15000"/>
              </a:srgbClr>
            </a:outerShdw>
          </a:effectLst>
        </p:spPr>
      </p:sp>
      <p:sp>
        <p:nvSpPr>
          <p:cNvPr id="18" name="Text 16"/>
          <p:cNvSpPr txBox="1"/>
          <p:nvPr/>
        </p:nvSpPr>
        <p:spPr>
          <a:xfrm>
            <a:off x="731520" y="3749040"/>
            <a:ext cx="7680960" cy="594360"/>
          </a:xfrm>
          <a:prstGeom prst="rect">
            <a:avLst/>
          </a:prstGeom>
          <a:noFill/>
          <a:ln/>
        </p:spPr>
        <p:txBody>
          <a:bodyPr wrap="square" lIns="0" tIns="0" rIns="0" bIns="0" rtlCol="0" anchor="ctr"/>
          <a:lstStyle/>
          <a:p>
            <a:pPr marL="0" indent="0">
              <a:buNone/>
            </a:pPr>
            <a:r>
              <a:rPr lang="en-US" b="1" dirty="0">
                <a:solidFill>
                  <a:srgbClr val="FFC857"/>
                </a:solidFill>
              </a:rPr>
              <a:t>Challenge: </a:t>
            </a:r>
            <a:r>
              <a:rPr lang="en-US" b="1" dirty="0">
                <a:solidFill>
                  <a:srgbClr val="FFFFFF"/>
                </a:solidFill>
              </a:rPr>
              <a:t>Add one question that your reader might still want answered.</a:t>
            </a: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6" name="Text 0"/>
          <p:cNvSpPr>
            <a:spLocks noGrp="1"/>
          </p:cNvSpPr>
          <p:nvPr>
            <p:ph type="title" idx="100" hasCustomPrompt="1"/>
          </p:nvPr>
        </p:nvSpPr>
        <p:spPr>
          <a:xfrm>
            <a:off x="914400" y="1723"/>
            <a:ext cx="7315200" cy="685800"/>
          </a:xfrm>
          <a:prstGeom prst="rect">
            <a:avLst/>
          </a:prstGeom>
          <a:noFill/>
          <a:ln/>
        </p:spPr>
        <p:txBody>
          <a:bodyPr wrap="square" rtlCol="0" anchor="ctr"/>
          <a:lstStyle/>
          <a:p>
            <a:pPr marL="0" indent="0">
              <a:buNone/>
            </a:pPr>
            <a:r>
              <a:rPr lang="en-US" sz="2600" b="1" dirty="0">
                <a:solidFill>
                  <a:srgbClr val="0A3D4A"/>
                </a:solidFill>
              </a:rPr>
              <a:t>RESEARCH PARTNERS</a:t>
            </a:r>
            <a:endParaRPr lang="en-US" sz="2600" dirty="0"/>
          </a:p>
        </p:txBody>
      </p:sp>
      <p:sp>
        <p:nvSpPr>
          <p:cNvPr id="7" name="Text 5"/>
          <p:cNvSpPr txBox="1"/>
          <p:nvPr/>
        </p:nvSpPr>
        <p:spPr>
          <a:xfrm>
            <a:off x="457200" y="590451"/>
            <a:ext cx="8229600" cy="274320"/>
          </a:xfrm>
          <a:prstGeom prst="rect">
            <a:avLst/>
          </a:prstGeom>
          <a:noFill/>
          <a:ln/>
        </p:spPr>
        <p:txBody>
          <a:bodyPr wrap="square" lIns="0" tIns="0" rIns="0" bIns="0" rtlCol="0" anchor="t"/>
          <a:lstStyle/>
          <a:p>
            <a:pPr marL="0" indent="0">
              <a:buNone/>
            </a:pPr>
            <a:r>
              <a:rPr lang="en-US" dirty="0">
                <a:solidFill>
                  <a:srgbClr val="0A3D4A"/>
                </a:solidFill>
              </a:rPr>
              <a:t>Swap your notes with a partner. </a:t>
            </a:r>
          </a:p>
          <a:p>
            <a:pPr marL="0" indent="0">
              <a:buNone/>
            </a:pPr>
            <a:r>
              <a:rPr lang="en-US" b="1" dirty="0">
                <a:solidFill>
                  <a:srgbClr val="0A3D4A"/>
                </a:solidFill>
              </a:rPr>
              <a:t>Your partner checks:</a:t>
            </a:r>
            <a:endParaRPr lang="en-US" dirty="0"/>
          </a:p>
        </p:txBody>
      </p:sp>
      <p:sp>
        <p:nvSpPr>
          <p:cNvPr id="8" name="Shape 6"/>
          <p:cNvSpPr/>
          <p:nvPr/>
        </p:nvSpPr>
        <p:spPr>
          <a:xfrm>
            <a:off x="457200" y="1234440"/>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594360" y="1325880"/>
            <a:ext cx="384048" cy="384048"/>
          </a:xfrm>
          <a:prstGeom prst="ellipse">
            <a:avLst/>
          </a:prstGeom>
          <a:solidFill>
            <a:srgbClr val="FF6B5E"/>
          </a:solidFill>
          <a:ln/>
        </p:spPr>
      </p:sp>
      <p:sp>
        <p:nvSpPr>
          <p:cNvPr id="10" name="Text 8"/>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1" name="Text 9"/>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sz="1600" dirty="0">
                <a:solidFill>
                  <a:srgbClr val="0A3D4A"/>
                </a:solidFill>
              </a:rPr>
              <a:t>Are the notes </a:t>
            </a:r>
            <a:r>
              <a:rPr lang="en-US" sz="1600" b="1" dirty="0">
                <a:solidFill>
                  <a:srgbClr val="0A3D4A"/>
                </a:solidFill>
              </a:rPr>
              <a:t>relevant</a:t>
            </a:r>
            <a:r>
              <a:rPr lang="en-US" sz="1600" dirty="0">
                <a:solidFill>
                  <a:srgbClr val="0A3D4A"/>
                </a:solidFill>
              </a:rPr>
              <a:t>?</a:t>
            </a:r>
            <a:endParaRPr lang="en-US" sz="1600" dirty="0"/>
          </a:p>
        </p:txBody>
      </p:sp>
      <p:sp>
        <p:nvSpPr>
          <p:cNvPr id="12" name="Shape 10"/>
          <p:cNvSpPr/>
          <p:nvPr/>
        </p:nvSpPr>
        <p:spPr>
          <a:xfrm>
            <a:off x="457200" y="1892808"/>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3" name="Shape 11"/>
          <p:cNvSpPr/>
          <p:nvPr/>
        </p:nvSpPr>
        <p:spPr>
          <a:xfrm>
            <a:off x="594360" y="1984248"/>
            <a:ext cx="384048" cy="384048"/>
          </a:xfrm>
          <a:prstGeom prst="ellipse">
            <a:avLst/>
          </a:prstGeom>
          <a:solidFill>
            <a:srgbClr val="0E7C86"/>
          </a:solidFill>
          <a:ln/>
        </p:spPr>
      </p:sp>
      <p:sp>
        <p:nvSpPr>
          <p:cNvPr id="14" name="Text 12"/>
          <p:cNvSpPr txBox="1"/>
          <p:nvPr/>
        </p:nvSpPr>
        <p:spPr>
          <a:xfrm>
            <a:off x="59436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5" name="Text 13"/>
          <p:cNvSpPr txBox="1"/>
          <p:nvPr/>
        </p:nvSpPr>
        <p:spPr>
          <a:xfrm>
            <a:off x="1188720" y="1892808"/>
            <a:ext cx="7315200" cy="566928"/>
          </a:xfrm>
          <a:prstGeom prst="rect">
            <a:avLst/>
          </a:prstGeom>
          <a:noFill/>
          <a:ln/>
        </p:spPr>
        <p:txBody>
          <a:bodyPr wrap="square" lIns="0" tIns="0" rIns="0" bIns="0" rtlCol="0" anchor="ctr"/>
          <a:lstStyle/>
          <a:p>
            <a:pPr marL="0" indent="0">
              <a:buNone/>
            </a:pPr>
            <a:r>
              <a:rPr lang="en-US" sz="1600" dirty="0">
                <a:solidFill>
                  <a:srgbClr val="0A3D4A"/>
                </a:solidFill>
              </a:rPr>
              <a:t>Are they </a:t>
            </a:r>
            <a:r>
              <a:rPr lang="en-US" sz="1600" b="1" dirty="0">
                <a:solidFill>
                  <a:srgbClr val="0A3D4A"/>
                </a:solidFill>
              </a:rPr>
              <a:t>organised</a:t>
            </a:r>
            <a:r>
              <a:rPr lang="en-US" sz="1600" dirty="0">
                <a:solidFill>
                  <a:srgbClr val="0A3D4A"/>
                </a:solidFill>
              </a:rPr>
              <a:t>?</a:t>
            </a:r>
            <a:endParaRPr lang="en-US" sz="1600" dirty="0"/>
          </a:p>
        </p:txBody>
      </p:sp>
      <p:sp>
        <p:nvSpPr>
          <p:cNvPr id="16" name="Shape 14"/>
          <p:cNvSpPr/>
          <p:nvPr/>
        </p:nvSpPr>
        <p:spPr>
          <a:xfrm>
            <a:off x="457200" y="2551176"/>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7" name="Shape 15"/>
          <p:cNvSpPr/>
          <p:nvPr/>
        </p:nvSpPr>
        <p:spPr>
          <a:xfrm>
            <a:off x="594360" y="2642616"/>
            <a:ext cx="384048" cy="384048"/>
          </a:xfrm>
          <a:prstGeom prst="ellipse">
            <a:avLst/>
          </a:prstGeom>
          <a:solidFill>
            <a:srgbClr val="3A86C8"/>
          </a:solidFill>
          <a:ln/>
        </p:spPr>
      </p:sp>
      <p:sp>
        <p:nvSpPr>
          <p:cNvPr id="18" name="Text 16"/>
          <p:cNvSpPr txBox="1"/>
          <p:nvPr/>
        </p:nvSpPr>
        <p:spPr>
          <a:xfrm>
            <a:off x="594360" y="26426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9" name="Text 17"/>
          <p:cNvSpPr txBox="1"/>
          <p:nvPr/>
        </p:nvSpPr>
        <p:spPr>
          <a:xfrm>
            <a:off x="1188720" y="2551176"/>
            <a:ext cx="7315200" cy="566928"/>
          </a:xfrm>
          <a:prstGeom prst="rect">
            <a:avLst/>
          </a:prstGeom>
          <a:noFill/>
          <a:ln/>
        </p:spPr>
        <p:txBody>
          <a:bodyPr wrap="square" lIns="0" tIns="0" rIns="0" bIns="0" rtlCol="0" anchor="ctr"/>
          <a:lstStyle/>
          <a:p>
            <a:pPr marL="0" indent="0">
              <a:buNone/>
            </a:pPr>
            <a:r>
              <a:rPr lang="en-US" sz="1600" dirty="0">
                <a:solidFill>
                  <a:srgbClr val="0A3D4A"/>
                </a:solidFill>
              </a:rPr>
              <a:t>Are they </a:t>
            </a:r>
            <a:r>
              <a:rPr lang="en-US" sz="1600" b="1" dirty="0">
                <a:solidFill>
                  <a:srgbClr val="0A3D4A"/>
                </a:solidFill>
              </a:rPr>
              <a:t>short enough</a:t>
            </a:r>
            <a:r>
              <a:rPr lang="en-US" sz="1600" dirty="0">
                <a:solidFill>
                  <a:srgbClr val="0A3D4A"/>
                </a:solidFill>
              </a:rPr>
              <a:t>?</a:t>
            </a:r>
            <a:endParaRPr lang="en-US" sz="1600" dirty="0"/>
          </a:p>
        </p:txBody>
      </p:sp>
      <p:sp>
        <p:nvSpPr>
          <p:cNvPr id="20" name="Shape 18"/>
          <p:cNvSpPr/>
          <p:nvPr/>
        </p:nvSpPr>
        <p:spPr>
          <a:xfrm>
            <a:off x="457200" y="3209544"/>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1" name="Shape 19"/>
          <p:cNvSpPr/>
          <p:nvPr/>
        </p:nvSpPr>
        <p:spPr>
          <a:xfrm>
            <a:off x="594360" y="3300984"/>
            <a:ext cx="384048" cy="384048"/>
          </a:xfrm>
          <a:prstGeom prst="ellipse">
            <a:avLst/>
          </a:prstGeom>
          <a:solidFill>
            <a:srgbClr val="7B5EA7"/>
          </a:solidFill>
          <a:ln/>
        </p:spPr>
      </p:sp>
      <p:sp>
        <p:nvSpPr>
          <p:cNvPr id="22" name="Text 20"/>
          <p:cNvSpPr txBox="1"/>
          <p:nvPr/>
        </p:nvSpPr>
        <p:spPr>
          <a:xfrm>
            <a:off x="594360" y="33009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3" name="Text 21"/>
          <p:cNvSpPr txBox="1"/>
          <p:nvPr/>
        </p:nvSpPr>
        <p:spPr>
          <a:xfrm>
            <a:off x="1188720" y="3209544"/>
            <a:ext cx="7315200" cy="566928"/>
          </a:xfrm>
          <a:prstGeom prst="rect">
            <a:avLst/>
          </a:prstGeom>
          <a:noFill/>
          <a:ln/>
        </p:spPr>
        <p:txBody>
          <a:bodyPr wrap="square" lIns="0" tIns="0" rIns="0" bIns="0" rtlCol="0" anchor="ctr"/>
          <a:lstStyle/>
          <a:p>
            <a:pPr marL="0" indent="0">
              <a:buNone/>
            </a:pPr>
            <a:r>
              <a:rPr lang="en-US" sz="1600" dirty="0">
                <a:solidFill>
                  <a:srgbClr val="0A3D4A"/>
                </a:solidFill>
              </a:rPr>
              <a:t>Did the writer avoid </a:t>
            </a:r>
            <a:r>
              <a:rPr lang="en-US" sz="1600" b="1" dirty="0">
                <a:solidFill>
                  <a:srgbClr val="0A3D4A"/>
                </a:solidFill>
              </a:rPr>
              <a:t>copying whole sentences</a:t>
            </a:r>
            <a:r>
              <a:rPr lang="en-US" sz="1600" dirty="0">
                <a:solidFill>
                  <a:srgbClr val="0A3D4A"/>
                </a:solidFill>
              </a:rPr>
              <a:t>?</a:t>
            </a:r>
            <a:endParaRPr lang="en-US" sz="1600" dirty="0"/>
          </a:p>
        </p:txBody>
      </p:sp>
      <p:sp>
        <p:nvSpPr>
          <p:cNvPr id="24" name="Shape 22"/>
          <p:cNvSpPr/>
          <p:nvPr/>
        </p:nvSpPr>
        <p:spPr>
          <a:xfrm>
            <a:off x="457200" y="3867912"/>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5" name="Shape 23"/>
          <p:cNvSpPr/>
          <p:nvPr/>
        </p:nvSpPr>
        <p:spPr>
          <a:xfrm>
            <a:off x="594360" y="3959352"/>
            <a:ext cx="384048" cy="384048"/>
          </a:xfrm>
          <a:prstGeom prst="ellipse">
            <a:avLst/>
          </a:prstGeom>
          <a:solidFill>
            <a:srgbClr val="2BB673"/>
          </a:solidFill>
          <a:ln/>
        </p:spPr>
      </p:sp>
      <p:sp>
        <p:nvSpPr>
          <p:cNvPr id="26" name="Text 24"/>
          <p:cNvSpPr txBox="1"/>
          <p:nvPr/>
        </p:nvSpPr>
        <p:spPr>
          <a:xfrm>
            <a:off x="594360" y="39593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7" name="Text 25"/>
          <p:cNvSpPr txBox="1"/>
          <p:nvPr/>
        </p:nvSpPr>
        <p:spPr>
          <a:xfrm>
            <a:off x="1188720" y="3867912"/>
            <a:ext cx="7315200" cy="566928"/>
          </a:xfrm>
          <a:prstGeom prst="rect">
            <a:avLst/>
          </a:prstGeom>
          <a:noFill/>
          <a:ln/>
        </p:spPr>
        <p:txBody>
          <a:bodyPr wrap="square" lIns="0" tIns="0" rIns="0" bIns="0" rtlCol="0" anchor="ctr"/>
          <a:lstStyle/>
          <a:p>
            <a:pPr marL="0" indent="0">
              <a:buNone/>
            </a:pPr>
            <a:r>
              <a:rPr lang="en-US" sz="1600" dirty="0">
                <a:solidFill>
                  <a:srgbClr val="0A3D4A"/>
                </a:solidFill>
              </a:rPr>
              <a:t>Could these notes be used to </a:t>
            </a:r>
            <a:r>
              <a:rPr lang="en-US" sz="1600" b="1" dirty="0">
                <a:solidFill>
                  <a:srgbClr val="0A3D4A"/>
                </a:solidFill>
              </a:rPr>
              <a:t>write a report</a:t>
            </a:r>
            <a:r>
              <a:rPr lang="en-US" sz="1600" dirty="0">
                <a:solidFill>
                  <a:srgbClr val="0A3D4A"/>
                </a:solidFill>
              </a:rPr>
              <a:t>?</a:t>
            </a:r>
            <a:endParaRPr lang="en-US" sz="1600" dirty="0"/>
          </a:p>
        </p:txBody>
      </p:sp>
      <p:sp>
        <p:nvSpPr>
          <p:cNvPr id="28"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EXIT TICKET</a:t>
            </a:r>
            <a:endParaRPr lang="en-US" sz="2600" dirty="0"/>
          </a:p>
        </p:txBody>
      </p:sp>
      <p:sp>
        <p:nvSpPr>
          <p:cNvPr id="7" name="Shape 5"/>
          <p:cNvSpPr/>
          <p:nvPr/>
        </p:nvSpPr>
        <p:spPr>
          <a:xfrm>
            <a:off x="457200" y="1234440"/>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594360" y="1325880"/>
            <a:ext cx="384048" cy="384048"/>
          </a:xfrm>
          <a:prstGeom prst="ellipse">
            <a:avLst/>
          </a:prstGeom>
          <a:solidFill>
            <a:srgbClr val="FF6B5E"/>
          </a:solidFill>
          <a:ln/>
        </p:spPr>
      </p:sp>
      <p:sp>
        <p:nvSpPr>
          <p:cNvPr id="9" name="Text 7"/>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0" name="Text 8"/>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dirty="0">
                <a:solidFill>
                  <a:srgbClr val="0A3D4A"/>
                </a:solidFill>
              </a:rPr>
              <a:t>What is </a:t>
            </a:r>
            <a:r>
              <a:rPr lang="en-US" b="1" dirty="0">
                <a:solidFill>
                  <a:srgbClr val="0A3D4A"/>
                </a:solidFill>
              </a:rPr>
              <a:t>skimming</a:t>
            </a:r>
            <a:r>
              <a:rPr lang="en-US" dirty="0">
                <a:solidFill>
                  <a:srgbClr val="0A3D4A"/>
                </a:solidFill>
              </a:rPr>
              <a:t>?</a:t>
            </a:r>
            <a:endParaRPr lang="en-US" dirty="0"/>
          </a:p>
        </p:txBody>
      </p:sp>
      <p:sp>
        <p:nvSpPr>
          <p:cNvPr id="11" name="Shape 9"/>
          <p:cNvSpPr/>
          <p:nvPr/>
        </p:nvSpPr>
        <p:spPr>
          <a:xfrm>
            <a:off x="457200" y="1892808"/>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2" name="Shape 10"/>
          <p:cNvSpPr/>
          <p:nvPr/>
        </p:nvSpPr>
        <p:spPr>
          <a:xfrm>
            <a:off x="594360" y="1984248"/>
            <a:ext cx="384048" cy="384048"/>
          </a:xfrm>
          <a:prstGeom prst="ellipse">
            <a:avLst/>
          </a:prstGeom>
          <a:solidFill>
            <a:srgbClr val="0E7C86"/>
          </a:solidFill>
          <a:ln/>
        </p:spPr>
      </p:sp>
      <p:sp>
        <p:nvSpPr>
          <p:cNvPr id="13" name="Text 11"/>
          <p:cNvSpPr txBox="1"/>
          <p:nvPr/>
        </p:nvSpPr>
        <p:spPr>
          <a:xfrm>
            <a:off x="59436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4" name="Text 12"/>
          <p:cNvSpPr txBox="1"/>
          <p:nvPr/>
        </p:nvSpPr>
        <p:spPr>
          <a:xfrm>
            <a:off x="1188720" y="1892808"/>
            <a:ext cx="7315200" cy="566928"/>
          </a:xfrm>
          <a:prstGeom prst="rect">
            <a:avLst/>
          </a:prstGeom>
          <a:noFill/>
          <a:ln/>
        </p:spPr>
        <p:txBody>
          <a:bodyPr wrap="square" lIns="0" tIns="0" rIns="0" bIns="0" rtlCol="0" anchor="ctr"/>
          <a:lstStyle/>
          <a:p>
            <a:pPr marL="0" indent="0">
              <a:buNone/>
            </a:pPr>
            <a:r>
              <a:rPr lang="en-US" dirty="0">
                <a:solidFill>
                  <a:srgbClr val="0A3D4A"/>
                </a:solidFill>
              </a:rPr>
              <a:t>What is </a:t>
            </a:r>
            <a:r>
              <a:rPr lang="en-US" b="1" dirty="0">
                <a:solidFill>
                  <a:srgbClr val="0A3D4A"/>
                </a:solidFill>
              </a:rPr>
              <a:t>scanning</a:t>
            </a:r>
            <a:r>
              <a:rPr lang="en-US" dirty="0">
                <a:solidFill>
                  <a:srgbClr val="0A3D4A"/>
                </a:solidFill>
              </a:rPr>
              <a:t>?</a:t>
            </a:r>
            <a:endParaRPr lang="en-US" dirty="0"/>
          </a:p>
        </p:txBody>
      </p:sp>
      <p:sp>
        <p:nvSpPr>
          <p:cNvPr id="15" name="Shape 13"/>
          <p:cNvSpPr/>
          <p:nvPr/>
        </p:nvSpPr>
        <p:spPr>
          <a:xfrm>
            <a:off x="457200" y="2551176"/>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6" name="Shape 14"/>
          <p:cNvSpPr/>
          <p:nvPr/>
        </p:nvSpPr>
        <p:spPr>
          <a:xfrm>
            <a:off x="594360" y="2642616"/>
            <a:ext cx="384048" cy="384048"/>
          </a:xfrm>
          <a:prstGeom prst="ellipse">
            <a:avLst/>
          </a:prstGeom>
          <a:solidFill>
            <a:srgbClr val="3A86C8"/>
          </a:solidFill>
          <a:ln/>
        </p:spPr>
      </p:sp>
      <p:sp>
        <p:nvSpPr>
          <p:cNvPr id="17" name="Text 15"/>
          <p:cNvSpPr txBox="1"/>
          <p:nvPr/>
        </p:nvSpPr>
        <p:spPr>
          <a:xfrm>
            <a:off x="594360" y="26426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8" name="Text 16"/>
          <p:cNvSpPr txBox="1"/>
          <p:nvPr/>
        </p:nvSpPr>
        <p:spPr>
          <a:xfrm>
            <a:off x="1188720" y="2551176"/>
            <a:ext cx="7315200" cy="566928"/>
          </a:xfrm>
          <a:prstGeom prst="rect">
            <a:avLst/>
          </a:prstGeom>
          <a:noFill/>
          <a:ln/>
        </p:spPr>
        <p:txBody>
          <a:bodyPr wrap="square" lIns="0" tIns="0" rIns="0" bIns="0" rtlCol="0" anchor="ctr"/>
          <a:lstStyle/>
          <a:p>
            <a:pPr marL="0" indent="0">
              <a:buNone/>
            </a:pPr>
            <a:r>
              <a:rPr lang="en-US" dirty="0">
                <a:solidFill>
                  <a:srgbClr val="0A3D4A"/>
                </a:solidFill>
              </a:rPr>
              <a:t>Why should researchers make notes instead of copying?</a:t>
            </a:r>
            <a:endParaRPr lang="en-US" dirty="0"/>
          </a:p>
        </p:txBody>
      </p:sp>
      <p:sp>
        <p:nvSpPr>
          <p:cNvPr id="19" name="Shape 17"/>
          <p:cNvSpPr/>
          <p:nvPr/>
        </p:nvSpPr>
        <p:spPr>
          <a:xfrm>
            <a:off x="457200" y="3209544"/>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0" name="Shape 18"/>
          <p:cNvSpPr/>
          <p:nvPr/>
        </p:nvSpPr>
        <p:spPr>
          <a:xfrm>
            <a:off x="594360" y="3300984"/>
            <a:ext cx="384048" cy="384048"/>
          </a:xfrm>
          <a:prstGeom prst="ellipse">
            <a:avLst/>
          </a:prstGeom>
          <a:solidFill>
            <a:srgbClr val="7B5EA7"/>
          </a:solidFill>
          <a:ln/>
        </p:spPr>
      </p:sp>
      <p:sp>
        <p:nvSpPr>
          <p:cNvPr id="21" name="Text 19"/>
          <p:cNvSpPr txBox="1"/>
          <p:nvPr/>
        </p:nvSpPr>
        <p:spPr>
          <a:xfrm>
            <a:off x="594360" y="33009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2" name="Text 20"/>
          <p:cNvSpPr txBox="1"/>
          <p:nvPr/>
        </p:nvSpPr>
        <p:spPr>
          <a:xfrm>
            <a:off x="1188720" y="3209544"/>
            <a:ext cx="7315200" cy="566928"/>
          </a:xfrm>
          <a:prstGeom prst="rect">
            <a:avLst/>
          </a:prstGeom>
          <a:noFill/>
          <a:ln/>
        </p:spPr>
        <p:txBody>
          <a:bodyPr wrap="square" lIns="0" tIns="0" rIns="0" bIns="0" rtlCol="0" anchor="ctr"/>
          <a:lstStyle/>
          <a:p>
            <a:pPr marL="0" indent="0">
              <a:buNone/>
            </a:pPr>
            <a:r>
              <a:rPr lang="en-US" dirty="0">
                <a:solidFill>
                  <a:srgbClr val="0A3D4A"/>
                </a:solidFill>
              </a:rPr>
              <a:t>What makes information relevant?</a:t>
            </a:r>
            <a:endParaRPr lang="en-US" dirty="0"/>
          </a:p>
        </p:txBody>
      </p:sp>
      <p:sp>
        <p:nvSpPr>
          <p:cNvPr id="23" name="Shape 21"/>
          <p:cNvSpPr/>
          <p:nvPr/>
        </p:nvSpPr>
        <p:spPr>
          <a:xfrm>
            <a:off x="457200" y="3867912"/>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4" name="Shape 22"/>
          <p:cNvSpPr/>
          <p:nvPr/>
        </p:nvSpPr>
        <p:spPr>
          <a:xfrm>
            <a:off x="594360" y="3959352"/>
            <a:ext cx="384048" cy="384048"/>
          </a:xfrm>
          <a:prstGeom prst="ellipse">
            <a:avLst/>
          </a:prstGeom>
          <a:solidFill>
            <a:srgbClr val="2BB673"/>
          </a:solidFill>
          <a:ln/>
        </p:spPr>
      </p:sp>
      <p:sp>
        <p:nvSpPr>
          <p:cNvPr id="25" name="Text 23"/>
          <p:cNvSpPr txBox="1"/>
          <p:nvPr/>
        </p:nvSpPr>
        <p:spPr>
          <a:xfrm>
            <a:off x="594360" y="39593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6" name="Text 24"/>
          <p:cNvSpPr txBox="1"/>
          <p:nvPr/>
        </p:nvSpPr>
        <p:spPr>
          <a:xfrm>
            <a:off x="1188720" y="3867912"/>
            <a:ext cx="7315200" cy="566928"/>
          </a:xfrm>
          <a:prstGeom prst="rect">
            <a:avLst/>
          </a:prstGeom>
          <a:noFill/>
          <a:ln/>
        </p:spPr>
        <p:txBody>
          <a:bodyPr wrap="square" lIns="0" tIns="0" rIns="0" bIns="0" rtlCol="0" anchor="ctr"/>
          <a:lstStyle/>
          <a:p>
            <a:pPr marL="0" indent="0">
              <a:buNone/>
            </a:pPr>
            <a:r>
              <a:rPr lang="en-US" sz="1500" dirty="0">
                <a:solidFill>
                  <a:srgbClr val="0A3D4A"/>
                </a:solidFill>
              </a:rPr>
              <a:t>Turn this sentence into a note: </a:t>
            </a:r>
          </a:p>
          <a:p>
            <a:pPr marL="0" indent="0">
              <a:buNone/>
            </a:pPr>
            <a:r>
              <a:rPr lang="en-US" sz="1500" b="1" dirty="0">
                <a:solidFill>
                  <a:srgbClr val="0A3D4A"/>
                </a:solidFill>
              </a:rPr>
              <a:t>Plastic pollution can cause sea turtles to mistake plastic bags for food.</a:t>
            </a:r>
            <a:endParaRPr lang="en-US" sz="1500" dirty="0"/>
          </a:p>
        </p:txBody>
      </p:sp>
      <p:sp>
        <p:nvSpPr>
          <p:cNvPr id="27"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4" name="Shape 2"/>
          <p:cNvSpPr/>
          <p:nvPr/>
        </p:nvSpPr>
        <p:spPr>
          <a:xfrm>
            <a:off x="457200" y="292608"/>
            <a:ext cx="658368" cy="658368"/>
          </a:xfrm>
          <a:prstGeom prst="ellipse">
            <a:avLst/>
          </a:prstGeom>
          <a:solidFill>
            <a:srgbClr val="2BB673"/>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0A3D4A"/>
                </a:solidFill>
              </a:rPr>
              <a:t>CHECK YOUR ANSWERS</a:t>
            </a:r>
            <a:endParaRPr lang="en-US" sz="2600" dirty="0"/>
          </a:p>
        </p:txBody>
      </p:sp>
      <p:sp>
        <p:nvSpPr>
          <p:cNvPr id="7" name="Shape 5"/>
          <p:cNvSpPr/>
          <p:nvPr/>
        </p:nvSpPr>
        <p:spPr>
          <a:xfrm>
            <a:off x="457200" y="1234440"/>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8" name="Shape 6"/>
          <p:cNvSpPr/>
          <p:nvPr/>
        </p:nvSpPr>
        <p:spPr>
          <a:xfrm>
            <a:off x="594360" y="1325880"/>
            <a:ext cx="384048" cy="384048"/>
          </a:xfrm>
          <a:prstGeom prst="ellipse">
            <a:avLst/>
          </a:prstGeom>
          <a:solidFill>
            <a:srgbClr val="FF6B5E"/>
          </a:solidFill>
          <a:ln/>
        </p:spPr>
      </p:sp>
      <p:sp>
        <p:nvSpPr>
          <p:cNvPr id="9" name="Text 7"/>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0" name="Text 8"/>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b="1" dirty="0">
                <a:solidFill>
                  <a:srgbClr val="0A3D4A"/>
                </a:solidFill>
              </a:rPr>
              <a:t>Skimming</a:t>
            </a:r>
            <a:r>
              <a:rPr lang="en-US" dirty="0">
                <a:solidFill>
                  <a:srgbClr val="0A3D4A"/>
                </a:solidFill>
              </a:rPr>
              <a:t> = reading quickly to understand the main idea.</a:t>
            </a:r>
            <a:endParaRPr lang="en-US" dirty="0"/>
          </a:p>
        </p:txBody>
      </p:sp>
      <p:sp>
        <p:nvSpPr>
          <p:cNvPr id="11" name="Shape 9"/>
          <p:cNvSpPr/>
          <p:nvPr/>
        </p:nvSpPr>
        <p:spPr>
          <a:xfrm>
            <a:off x="457200" y="1892808"/>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2" name="Shape 10"/>
          <p:cNvSpPr/>
          <p:nvPr/>
        </p:nvSpPr>
        <p:spPr>
          <a:xfrm>
            <a:off x="594360" y="1984248"/>
            <a:ext cx="384048" cy="384048"/>
          </a:xfrm>
          <a:prstGeom prst="ellipse">
            <a:avLst/>
          </a:prstGeom>
          <a:solidFill>
            <a:srgbClr val="0E7C86"/>
          </a:solidFill>
          <a:ln/>
        </p:spPr>
      </p:sp>
      <p:sp>
        <p:nvSpPr>
          <p:cNvPr id="13" name="Text 11"/>
          <p:cNvSpPr txBox="1"/>
          <p:nvPr/>
        </p:nvSpPr>
        <p:spPr>
          <a:xfrm>
            <a:off x="59436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4" name="Text 12"/>
          <p:cNvSpPr txBox="1"/>
          <p:nvPr/>
        </p:nvSpPr>
        <p:spPr>
          <a:xfrm>
            <a:off x="1188720" y="1892808"/>
            <a:ext cx="7315200" cy="566928"/>
          </a:xfrm>
          <a:prstGeom prst="rect">
            <a:avLst/>
          </a:prstGeom>
          <a:noFill/>
          <a:ln/>
        </p:spPr>
        <p:txBody>
          <a:bodyPr wrap="square" lIns="0" tIns="0" rIns="0" bIns="0" rtlCol="0" anchor="ctr"/>
          <a:lstStyle/>
          <a:p>
            <a:pPr marL="0" indent="0">
              <a:buNone/>
            </a:pPr>
            <a:r>
              <a:rPr lang="en-US" sz="2000" b="1" dirty="0">
                <a:solidFill>
                  <a:srgbClr val="0A3D4A"/>
                </a:solidFill>
              </a:rPr>
              <a:t>Scanning</a:t>
            </a:r>
            <a:r>
              <a:rPr lang="en-US" sz="2000" dirty="0">
                <a:solidFill>
                  <a:srgbClr val="0A3D4A"/>
                </a:solidFill>
              </a:rPr>
              <a:t> = looking quickly for specific information.</a:t>
            </a:r>
            <a:endParaRPr lang="en-US" sz="2000" dirty="0"/>
          </a:p>
        </p:txBody>
      </p:sp>
      <p:sp>
        <p:nvSpPr>
          <p:cNvPr id="15" name="Shape 13"/>
          <p:cNvSpPr/>
          <p:nvPr/>
        </p:nvSpPr>
        <p:spPr>
          <a:xfrm>
            <a:off x="457200" y="2551176"/>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16" name="Shape 14"/>
          <p:cNvSpPr/>
          <p:nvPr/>
        </p:nvSpPr>
        <p:spPr>
          <a:xfrm>
            <a:off x="594360" y="2642616"/>
            <a:ext cx="384048" cy="384048"/>
          </a:xfrm>
          <a:prstGeom prst="ellipse">
            <a:avLst/>
          </a:prstGeom>
          <a:solidFill>
            <a:srgbClr val="3A86C8"/>
          </a:solidFill>
          <a:ln/>
        </p:spPr>
      </p:sp>
      <p:sp>
        <p:nvSpPr>
          <p:cNvPr id="17" name="Text 15"/>
          <p:cNvSpPr txBox="1"/>
          <p:nvPr/>
        </p:nvSpPr>
        <p:spPr>
          <a:xfrm>
            <a:off x="594360" y="26426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8" name="Text 16"/>
          <p:cNvSpPr txBox="1"/>
          <p:nvPr/>
        </p:nvSpPr>
        <p:spPr>
          <a:xfrm>
            <a:off x="1046922" y="2551176"/>
            <a:ext cx="7548438" cy="566928"/>
          </a:xfrm>
          <a:prstGeom prst="rect">
            <a:avLst/>
          </a:prstGeom>
          <a:noFill/>
          <a:ln/>
        </p:spPr>
        <p:txBody>
          <a:bodyPr wrap="square" lIns="0" tIns="0" rIns="0" bIns="0" rtlCol="0" anchor="ctr"/>
          <a:lstStyle/>
          <a:p>
            <a:pPr marL="0" indent="0">
              <a:buNone/>
            </a:pPr>
            <a:r>
              <a:rPr lang="en-US" sz="1600" dirty="0">
                <a:solidFill>
                  <a:srgbClr val="0A3D4A"/>
                </a:solidFill>
              </a:rPr>
              <a:t>Notes help us record important information in a short form and use it later in our own writing.</a:t>
            </a:r>
            <a:endParaRPr lang="en-US" sz="1600" dirty="0"/>
          </a:p>
        </p:txBody>
      </p:sp>
      <p:sp>
        <p:nvSpPr>
          <p:cNvPr id="19" name="Shape 17"/>
          <p:cNvSpPr/>
          <p:nvPr/>
        </p:nvSpPr>
        <p:spPr>
          <a:xfrm>
            <a:off x="457200" y="3209544"/>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0" name="Shape 18"/>
          <p:cNvSpPr/>
          <p:nvPr/>
        </p:nvSpPr>
        <p:spPr>
          <a:xfrm>
            <a:off x="594360" y="3300984"/>
            <a:ext cx="384048" cy="384048"/>
          </a:xfrm>
          <a:prstGeom prst="ellipse">
            <a:avLst/>
          </a:prstGeom>
          <a:solidFill>
            <a:srgbClr val="7B5EA7"/>
          </a:solidFill>
          <a:ln/>
        </p:spPr>
      </p:sp>
      <p:sp>
        <p:nvSpPr>
          <p:cNvPr id="21" name="Text 19"/>
          <p:cNvSpPr txBox="1"/>
          <p:nvPr/>
        </p:nvSpPr>
        <p:spPr>
          <a:xfrm>
            <a:off x="594360" y="33009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2" name="Text 20"/>
          <p:cNvSpPr txBox="1"/>
          <p:nvPr/>
        </p:nvSpPr>
        <p:spPr>
          <a:xfrm>
            <a:off x="1188720" y="3209544"/>
            <a:ext cx="7315200" cy="566928"/>
          </a:xfrm>
          <a:prstGeom prst="rect">
            <a:avLst/>
          </a:prstGeom>
          <a:noFill/>
          <a:ln/>
        </p:spPr>
        <p:txBody>
          <a:bodyPr wrap="square" lIns="0" tIns="0" rIns="0" bIns="0" rtlCol="0" anchor="ctr"/>
          <a:lstStyle/>
          <a:p>
            <a:pPr marL="0" indent="0">
              <a:buNone/>
            </a:pPr>
            <a:r>
              <a:rPr lang="en-US" sz="1600" dirty="0">
                <a:solidFill>
                  <a:srgbClr val="0A3D4A"/>
                </a:solidFill>
              </a:rPr>
              <a:t>Information is relevant when it answers our </a:t>
            </a:r>
            <a:r>
              <a:rPr lang="en-US" sz="1600" b="1" dirty="0">
                <a:solidFill>
                  <a:srgbClr val="0A3D4A"/>
                </a:solidFill>
              </a:rPr>
              <a:t>research question</a:t>
            </a:r>
            <a:r>
              <a:rPr lang="en-US" sz="1600" dirty="0">
                <a:solidFill>
                  <a:srgbClr val="0A3D4A"/>
                </a:solidFill>
              </a:rPr>
              <a:t> or belongs to the section we are researching.</a:t>
            </a:r>
            <a:endParaRPr lang="en-US" sz="1600" dirty="0"/>
          </a:p>
        </p:txBody>
      </p:sp>
      <p:sp>
        <p:nvSpPr>
          <p:cNvPr id="23" name="Shape 21"/>
          <p:cNvSpPr/>
          <p:nvPr/>
        </p:nvSpPr>
        <p:spPr>
          <a:xfrm>
            <a:off x="457200" y="3867912"/>
            <a:ext cx="8229600" cy="566928"/>
          </a:xfrm>
          <a:prstGeom prst="roundRect">
            <a:avLst>
              <a:gd name="adj" fmla="val 24194"/>
            </a:avLst>
          </a:prstGeom>
          <a:solidFill>
            <a:srgbClr val="FFFFFF"/>
          </a:solidFill>
          <a:ln/>
          <a:effectLst>
            <a:outerShdw blurRad="76200" dist="25400" dir="5400000" algn="bl" rotWithShape="0">
              <a:srgbClr val="000000">
                <a:alpha val="15000"/>
              </a:srgbClr>
            </a:outerShdw>
          </a:effectLst>
        </p:spPr>
      </p:sp>
      <p:sp>
        <p:nvSpPr>
          <p:cNvPr id="24" name="Shape 22"/>
          <p:cNvSpPr/>
          <p:nvPr/>
        </p:nvSpPr>
        <p:spPr>
          <a:xfrm>
            <a:off x="594360" y="3959352"/>
            <a:ext cx="384048" cy="384048"/>
          </a:xfrm>
          <a:prstGeom prst="ellipse">
            <a:avLst/>
          </a:prstGeom>
          <a:solidFill>
            <a:srgbClr val="2BB673"/>
          </a:solidFill>
          <a:ln/>
        </p:spPr>
      </p:sp>
      <p:sp>
        <p:nvSpPr>
          <p:cNvPr id="25" name="Text 23"/>
          <p:cNvSpPr txBox="1"/>
          <p:nvPr/>
        </p:nvSpPr>
        <p:spPr>
          <a:xfrm>
            <a:off x="594360" y="39593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6" name="Text 24"/>
          <p:cNvSpPr txBox="1"/>
          <p:nvPr/>
        </p:nvSpPr>
        <p:spPr>
          <a:xfrm>
            <a:off x="1188720" y="3867912"/>
            <a:ext cx="7315200" cy="566928"/>
          </a:xfrm>
          <a:prstGeom prst="rect">
            <a:avLst/>
          </a:prstGeom>
          <a:noFill/>
          <a:ln/>
        </p:spPr>
        <p:txBody>
          <a:bodyPr wrap="square" lIns="0" tIns="0" rIns="0" bIns="0" rtlCol="0" anchor="ctr"/>
          <a:lstStyle/>
          <a:p>
            <a:pPr marL="0" indent="0">
              <a:buNone/>
            </a:pPr>
            <a:r>
              <a:rPr lang="en-US" sz="1400" dirty="0">
                <a:solidFill>
                  <a:srgbClr val="0A3D4A"/>
                </a:solidFill>
              </a:rPr>
              <a:t>Possible answer: </a:t>
            </a:r>
            <a:r>
              <a:rPr lang="en-US" sz="1400" b="1" dirty="0">
                <a:solidFill>
                  <a:srgbClr val="0A3D4A"/>
                </a:solidFill>
              </a:rPr>
              <a:t>Plastic bags → mistaken for food → danger/illness</a:t>
            </a:r>
            <a:endParaRPr lang="en-US" sz="1400" dirty="0"/>
          </a:p>
        </p:txBody>
      </p:sp>
      <p:sp>
        <p:nvSpPr>
          <p:cNvPr id="27"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0E7C86">
              <a:alpha val="45000"/>
            </a:srgbClr>
          </a:solidFill>
          <a:ln/>
        </p:spPr>
      </p:sp>
      <p:sp>
        <p:nvSpPr>
          <p:cNvPr id="3" name="Shape 1"/>
          <p:cNvSpPr/>
          <p:nvPr/>
        </p:nvSpPr>
        <p:spPr>
          <a:xfrm>
            <a:off x="-548640" y="4297680"/>
            <a:ext cx="1463040" cy="1463040"/>
          </a:xfrm>
          <a:prstGeom prst="ellipse">
            <a:avLst/>
          </a:prstGeom>
          <a:solidFill>
            <a:srgbClr val="0E7C86">
              <a:alpha val="40000"/>
            </a:srgbClr>
          </a:solidFill>
          <a:ln/>
        </p:spPr>
      </p:sp>
      <p:sp>
        <p:nvSpPr>
          <p:cNvPr id="5" name="Text 3"/>
          <p:cNvSpPr txBox="1"/>
          <p:nvPr/>
        </p:nvSpPr>
        <p:spPr>
          <a:xfrm>
            <a:off x="2551176" y="26670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FFFFFF"/>
                </a:solidFill>
              </a:rPr>
              <a:t>RESEARCH HOMEWORK</a:t>
            </a:r>
            <a:endParaRPr lang="en-US" sz="2600" dirty="0"/>
          </a:p>
        </p:txBody>
      </p:sp>
      <p:sp>
        <p:nvSpPr>
          <p:cNvPr id="7" name="Text 5"/>
          <p:cNvSpPr txBox="1"/>
          <p:nvPr/>
        </p:nvSpPr>
        <p:spPr>
          <a:xfrm>
            <a:off x="365760" y="810768"/>
            <a:ext cx="8229600" cy="365760"/>
          </a:xfrm>
          <a:prstGeom prst="rect">
            <a:avLst/>
          </a:prstGeom>
          <a:noFill/>
          <a:ln/>
        </p:spPr>
        <p:txBody>
          <a:bodyPr wrap="square" lIns="0" tIns="0" rIns="0" bIns="0" rtlCol="0" anchor="t"/>
          <a:lstStyle/>
          <a:p>
            <a:pPr marL="0" indent="0">
              <a:buNone/>
            </a:pPr>
            <a:r>
              <a:rPr lang="en-US" b="1" dirty="0">
                <a:solidFill>
                  <a:srgbClr val="FFFFFF"/>
                </a:solidFill>
              </a:rPr>
              <a:t>Continue researching your chosen creature. </a:t>
            </a:r>
          </a:p>
          <a:p>
            <a:pPr marL="0" indent="0">
              <a:buNone/>
            </a:pPr>
            <a:r>
              <a:rPr lang="en-US" b="1" dirty="0">
                <a:solidFill>
                  <a:srgbClr val="FFFFFF"/>
                </a:solidFill>
              </a:rPr>
              <a:t>Complete:</a:t>
            </a:r>
            <a:endParaRPr lang="en-US" b="1" dirty="0"/>
          </a:p>
        </p:txBody>
      </p:sp>
      <p:sp>
        <p:nvSpPr>
          <p:cNvPr id="8" name="Shape 6"/>
          <p:cNvSpPr/>
          <p:nvPr/>
        </p:nvSpPr>
        <p:spPr>
          <a:xfrm>
            <a:off x="457200" y="1371600"/>
            <a:ext cx="2560320" cy="1645920"/>
          </a:xfrm>
          <a:prstGeom prst="roundRect">
            <a:avLst>
              <a:gd name="adj" fmla="val 8333"/>
            </a:avLst>
          </a:prstGeom>
          <a:solidFill>
            <a:srgbClr val="FFFFFF"/>
          </a:solidFill>
          <a:ln/>
          <a:effectLst>
            <a:outerShdw blurRad="76200" dist="25400" dir="5400000" algn="bl" rotWithShape="0">
              <a:srgbClr val="000000">
                <a:alpha val="15000"/>
              </a:srgbClr>
            </a:outerShdw>
          </a:effectLst>
        </p:spPr>
      </p:sp>
      <p:sp>
        <p:nvSpPr>
          <p:cNvPr id="9" name="Shape 7"/>
          <p:cNvSpPr/>
          <p:nvPr/>
        </p:nvSpPr>
        <p:spPr>
          <a:xfrm>
            <a:off x="640080" y="1554480"/>
            <a:ext cx="566928" cy="566928"/>
          </a:xfrm>
          <a:prstGeom prst="ellipse">
            <a:avLst/>
          </a:prstGeom>
          <a:solidFill>
            <a:srgbClr val="FF6B5E"/>
          </a:solidFill>
          <a:ln/>
        </p:spPr>
      </p:sp>
      <p:sp>
        <p:nvSpPr>
          <p:cNvPr id="10" name="Text 8"/>
          <p:cNvSpPr txBox="1"/>
          <p:nvPr/>
        </p:nvSpPr>
        <p:spPr>
          <a:xfrm>
            <a:off x="64008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1" name="Text 9"/>
          <p:cNvSpPr txBox="1"/>
          <p:nvPr/>
        </p:nvSpPr>
        <p:spPr>
          <a:xfrm>
            <a:off x="1371600" y="1554480"/>
            <a:ext cx="1508760" cy="566928"/>
          </a:xfrm>
          <a:prstGeom prst="rect">
            <a:avLst/>
          </a:prstGeom>
          <a:noFill/>
          <a:ln/>
        </p:spPr>
        <p:txBody>
          <a:bodyPr wrap="square" lIns="0" tIns="0" rIns="0" bIns="0" rtlCol="0" anchor="ctr"/>
          <a:lstStyle/>
          <a:p>
            <a:pPr marL="0" indent="0">
              <a:buNone/>
            </a:pPr>
            <a:r>
              <a:rPr lang="en-US" sz="1300" b="1" dirty="0">
                <a:solidFill>
                  <a:srgbClr val="FF6B5E"/>
                </a:solidFill>
              </a:rPr>
              <a:t>ABOUT THE CREATURE</a:t>
            </a:r>
            <a:endParaRPr lang="en-US" sz="1300" dirty="0"/>
          </a:p>
        </p:txBody>
      </p:sp>
      <p:sp>
        <p:nvSpPr>
          <p:cNvPr id="12" name="Text 10"/>
          <p:cNvSpPr txBox="1"/>
          <p:nvPr/>
        </p:nvSpPr>
        <p:spPr>
          <a:xfrm>
            <a:off x="640080" y="2331720"/>
            <a:ext cx="2194560" cy="594360"/>
          </a:xfrm>
          <a:prstGeom prst="rect">
            <a:avLst/>
          </a:prstGeom>
          <a:noFill/>
          <a:ln/>
        </p:spPr>
        <p:txBody>
          <a:bodyPr wrap="square" lIns="0" tIns="0" rIns="0" bIns="0" rtlCol="0" anchor="t"/>
          <a:lstStyle/>
          <a:p>
            <a:pPr marL="0" indent="0">
              <a:buNone/>
            </a:pPr>
            <a:r>
              <a:rPr lang="en-US" sz="1800" b="1" dirty="0">
                <a:solidFill>
                  <a:srgbClr val="0A3D4A"/>
                </a:solidFill>
              </a:rPr>
              <a:t>5–8 useful notes</a:t>
            </a:r>
            <a:endParaRPr lang="en-US" sz="1800" dirty="0"/>
          </a:p>
        </p:txBody>
      </p:sp>
      <p:sp>
        <p:nvSpPr>
          <p:cNvPr id="13" name="Shape 11"/>
          <p:cNvSpPr/>
          <p:nvPr/>
        </p:nvSpPr>
        <p:spPr>
          <a:xfrm>
            <a:off x="3291840" y="1371600"/>
            <a:ext cx="2560320" cy="1645920"/>
          </a:xfrm>
          <a:prstGeom prst="roundRect">
            <a:avLst>
              <a:gd name="adj" fmla="val 8333"/>
            </a:avLst>
          </a:prstGeom>
          <a:solidFill>
            <a:srgbClr val="FFFFFF"/>
          </a:solidFill>
          <a:ln/>
          <a:effectLst>
            <a:outerShdw blurRad="76200" dist="25400" dir="5400000" algn="bl" rotWithShape="0">
              <a:srgbClr val="000000">
                <a:alpha val="15000"/>
              </a:srgbClr>
            </a:outerShdw>
          </a:effectLst>
        </p:spPr>
      </p:sp>
      <p:sp>
        <p:nvSpPr>
          <p:cNvPr id="14" name="Shape 12"/>
          <p:cNvSpPr/>
          <p:nvPr/>
        </p:nvSpPr>
        <p:spPr>
          <a:xfrm>
            <a:off x="3474720" y="1554480"/>
            <a:ext cx="566928" cy="566928"/>
          </a:xfrm>
          <a:prstGeom prst="ellipse">
            <a:avLst/>
          </a:prstGeom>
          <a:solidFill>
            <a:srgbClr val="0E7C86"/>
          </a:solidFill>
          <a:ln/>
        </p:spPr>
      </p:sp>
      <p:sp>
        <p:nvSpPr>
          <p:cNvPr id="15" name="Text 13"/>
          <p:cNvSpPr txBox="1"/>
          <p:nvPr/>
        </p:nvSpPr>
        <p:spPr>
          <a:xfrm>
            <a:off x="347472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6" name="Text 14"/>
          <p:cNvSpPr txBox="1"/>
          <p:nvPr/>
        </p:nvSpPr>
        <p:spPr>
          <a:xfrm>
            <a:off x="4206240" y="1554480"/>
            <a:ext cx="1508760" cy="566928"/>
          </a:xfrm>
          <a:prstGeom prst="rect">
            <a:avLst/>
          </a:prstGeom>
          <a:noFill/>
          <a:ln/>
        </p:spPr>
        <p:txBody>
          <a:bodyPr wrap="square" lIns="0" tIns="0" rIns="0" bIns="0" rtlCol="0" anchor="ctr"/>
          <a:lstStyle/>
          <a:p>
            <a:pPr marL="0" indent="0">
              <a:buNone/>
            </a:pPr>
            <a:r>
              <a:rPr lang="en-US" sz="1700" b="1" dirty="0">
                <a:solidFill>
                  <a:srgbClr val="0E7C86"/>
                </a:solidFill>
              </a:rPr>
              <a:t>THREATS</a:t>
            </a:r>
            <a:endParaRPr lang="en-US" sz="1700" dirty="0"/>
          </a:p>
        </p:txBody>
      </p:sp>
      <p:sp>
        <p:nvSpPr>
          <p:cNvPr id="17" name="Text 15"/>
          <p:cNvSpPr txBox="1"/>
          <p:nvPr/>
        </p:nvSpPr>
        <p:spPr>
          <a:xfrm>
            <a:off x="3474720" y="2331720"/>
            <a:ext cx="2194560" cy="594360"/>
          </a:xfrm>
          <a:prstGeom prst="rect">
            <a:avLst/>
          </a:prstGeom>
          <a:noFill/>
          <a:ln/>
        </p:spPr>
        <p:txBody>
          <a:bodyPr wrap="square" lIns="0" tIns="0" rIns="0" bIns="0" rtlCol="0" anchor="t"/>
          <a:lstStyle/>
          <a:p>
            <a:pPr marL="0" indent="0">
              <a:buNone/>
            </a:pPr>
            <a:r>
              <a:rPr lang="en-US" sz="1800" b="1" dirty="0">
                <a:solidFill>
                  <a:srgbClr val="0A3D4A"/>
                </a:solidFill>
              </a:rPr>
              <a:t>2–3 useful notes</a:t>
            </a:r>
            <a:endParaRPr lang="en-US" sz="1800" dirty="0"/>
          </a:p>
        </p:txBody>
      </p:sp>
      <p:sp>
        <p:nvSpPr>
          <p:cNvPr id="18" name="Shape 16"/>
          <p:cNvSpPr/>
          <p:nvPr/>
        </p:nvSpPr>
        <p:spPr>
          <a:xfrm>
            <a:off x="6126480" y="1371600"/>
            <a:ext cx="2560320" cy="1645920"/>
          </a:xfrm>
          <a:prstGeom prst="roundRect">
            <a:avLst>
              <a:gd name="adj" fmla="val 8333"/>
            </a:avLst>
          </a:prstGeom>
          <a:solidFill>
            <a:srgbClr val="FFFFFF"/>
          </a:solidFill>
          <a:ln/>
          <a:effectLst>
            <a:outerShdw blurRad="76200" dist="25400" dir="5400000" algn="bl" rotWithShape="0">
              <a:srgbClr val="000000">
                <a:alpha val="15000"/>
              </a:srgbClr>
            </a:outerShdw>
          </a:effectLst>
        </p:spPr>
      </p:sp>
      <p:sp>
        <p:nvSpPr>
          <p:cNvPr id="19" name="Shape 17"/>
          <p:cNvSpPr/>
          <p:nvPr/>
        </p:nvSpPr>
        <p:spPr>
          <a:xfrm>
            <a:off x="6309360" y="1554480"/>
            <a:ext cx="566928" cy="566928"/>
          </a:xfrm>
          <a:prstGeom prst="ellipse">
            <a:avLst/>
          </a:prstGeom>
          <a:solidFill>
            <a:srgbClr val="7B5EA7"/>
          </a:solidFill>
          <a:ln/>
        </p:spPr>
      </p:sp>
      <p:sp>
        <p:nvSpPr>
          <p:cNvPr id="20" name="Text 18"/>
          <p:cNvSpPr txBox="1"/>
          <p:nvPr/>
        </p:nvSpPr>
        <p:spPr>
          <a:xfrm>
            <a:off x="6309360" y="155448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1" name="Text 19"/>
          <p:cNvSpPr txBox="1"/>
          <p:nvPr/>
        </p:nvSpPr>
        <p:spPr>
          <a:xfrm>
            <a:off x="7040880" y="1554480"/>
            <a:ext cx="1508760" cy="566928"/>
          </a:xfrm>
          <a:prstGeom prst="rect">
            <a:avLst/>
          </a:prstGeom>
          <a:noFill/>
          <a:ln/>
        </p:spPr>
        <p:txBody>
          <a:bodyPr wrap="square" lIns="0" tIns="0" rIns="0" bIns="0" rtlCol="0" anchor="ctr"/>
          <a:lstStyle/>
          <a:p>
            <a:pPr marL="0" indent="0">
              <a:buNone/>
            </a:pPr>
            <a:r>
              <a:rPr lang="en-US" sz="1500" b="1" dirty="0">
                <a:solidFill>
                  <a:srgbClr val="7B5EA7"/>
                </a:solidFill>
              </a:rPr>
              <a:t>PROTECTION</a:t>
            </a:r>
            <a:endParaRPr lang="en-US" sz="1500" dirty="0"/>
          </a:p>
        </p:txBody>
      </p:sp>
      <p:sp>
        <p:nvSpPr>
          <p:cNvPr id="22" name="Text 20"/>
          <p:cNvSpPr txBox="1"/>
          <p:nvPr/>
        </p:nvSpPr>
        <p:spPr>
          <a:xfrm>
            <a:off x="6309360" y="2331720"/>
            <a:ext cx="2194560" cy="594360"/>
          </a:xfrm>
          <a:prstGeom prst="rect">
            <a:avLst/>
          </a:prstGeom>
          <a:noFill/>
          <a:ln/>
        </p:spPr>
        <p:txBody>
          <a:bodyPr wrap="square" lIns="0" tIns="0" rIns="0" bIns="0" rtlCol="0" anchor="t"/>
          <a:lstStyle/>
          <a:p>
            <a:pPr marL="0" indent="0">
              <a:buNone/>
            </a:pPr>
            <a:r>
              <a:rPr lang="en-US" sz="1800" b="1" dirty="0">
                <a:solidFill>
                  <a:srgbClr val="0A3D4A"/>
                </a:solidFill>
              </a:rPr>
              <a:t>2 useful notes</a:t>
            </a:r>
            <a:endParaRPr lang="en-US" sz="1800" dirty="0"/>
          </a:p>
        </p:txBody>
      </p:sp>
      <p:sp>
        <p:nvSpPr>
          <p:cNvPr id="23" name="Shape 21"/>
          <p:cNvSpPr/>
          <p:nvPr/>
        </p:nvSpPr>
        <p:spPr>
          <a:xfrm>
            <a:off x="457200" y="3154680"/>
            <a:ext cx="8229600" cy="594360"/>
          </a:xfrm>
          <a:prstGeom prst="roundRect">
            <a:avLst>
              <a:gd name="adj" fmla="val 23077"/>
            </a:avLst>
          </a:prstGeom>
          <a:solidFill>
            <a:srgbClr val="FF6B5E"/>
          </a:solidFill>
          <a:ln/>
          <a:effectLst>
            <a:outerShdw blurRad="76200" dist="25400" dir="5400000" algn="bl" rotWithShape="0">
              <a:srgbClr val="000000">
                <a:alpha val="15000"/>
              </a:srgbClr>
            </a:outerShdw>
          </a:effectLst>
        </p:spPr>
      </p:sp>
      <p:sp>
        <p:nvSpPr>
          <p:cNvPr id="24" name="Text 22"/>
          <p:cNvSpPr txBox="1"/>
          <p:nvPr/>
        </p:nvSpPr>
        <p:spPr>
          <a:xfrm>
            <a:off x="731520" y="3154680"/>
            <a:ext cx="7680960" cy="594360"/>
          </a:xfrm>
          <a:prstGeom prst="rect">
            <a:avLst/>
          </a:prstGeom>
          <a:noFill/>
          <a:ln/>
        </p:spPr>
        <p:txBody>
          <a:bodyPr wrap="square" lIns="0" tIns="0" rIns="0" bIns="0" rtlCol="0" anchor="ctr"/>
          <a:lstStyle/>
          <a:p>
            <a:pPr marL="0" indent="0">
              <a:buNone/>
            </a:pPr>
            <a:r>
              <a:rPr lang="en-US" sz="2000" b="1" dirty="0"/>
              <a:t>⭐ </a:t>
            </a:r>
            <a:r>
              <a:rPr lang="en-US" sz="2000" b="1" dirty="0">
                <a:highlight>
                  <a:srgbClr val="FFFF00"/>
                </a:highlight>
              </a:rPr>
              <a:t>IMPORTANT</a:t>
            </a:r>
            <a:r>
              <a:rPr lang="en-US" sz="2000" b="1" dirty="0"/>
              <a:t> Do not write full paragraphs.</a:t>
            </a:r>
            <a:endParaRPr lang="en-US" sz="2000" dirty="0"/>
          </a:p>
        </p:txBody>
      </p:sp>
      <p:sp>
        <p:nvSpPr>
          <p:cNvPr id="25" name="Text 23"/>
          <p:cNvSpPr txBox="1"/>
          <p:nvPr/>
        </p:nvSpPr>
        <p:spPr>
          <a:xfrm>
            <a:off x="457200" y="4114800"/>
            <a:ext cx="8229600" cy="640080"/>
          </a:xfrm>
          <a:prstGeom prst="rect">
            <a:avLst/>
          </a:prstGeom>
          <a:noFill/>
          <a:ln/>
        </p:spPr>
        <p:txBody>
          <a:bodyPr wrap="square" lIns="0" tIns="0" rIns="0" bIns="0" rtlCol="0" anchor="t"/>
          <a:lstStyle/>
          <a:p>
            <a:pPr marL="0" indent="0">
              <a:buNone/>
            </a:pPr>
            <a:r>
              <a:rPr lang="en-US" sz="2000" dirty="0">
                <a:solidFill>
                  <a:srgbClr val="FFFFFF"/>
                </a:solidFill>
              </a:rPr>
              <a:t>Your notes should be: </a:t>
            </a:r>
            <a:r>
              <a:rPr lang="en-US" sz="2000" b="1" dirty="0">
                <a:solidFill>
                  <a:srgbClr val="FFFFFF"/>
                </a:solidFill>
              </a:rPr>
              <a:t>short + relevant + organised</a:t>
            </a:r>
            <a:endParaRPr lang="en-US" sz="2000" dirty="0"/>
          </a:p>
          <a:p>
            <a:pPr marL="0" indent="0">
              <a:buNone/>
            </a:pPr>
            <a:r>
              <a:rPr lang="en-US" sz="2000" dirty="0">
                <a:solidFill>
                  <a:srgbClr val="FFFFFF"/>
                </a:solidFill>
              </a:rPr>
              <a:t>Bring them to the next lesson.</a:t>
            </a:r>
            <a:endParaRPr lang="en-US" sz="2000" dirty="0"/>
          </a:p>
        </p:txBody>
      </p:sp>
      <p:sp>
        <p:nvSpPr>
          <p:cNvPr id="26"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D3D8"/>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0E7C86">
              <a:alpha val="45000"/>
            </a:srgbClr>
          </a:solidFill>
          <a:ln/>
        </p:spPr>
      </p:sp>
      <p:sp>
        <p:nvSpPr>
          <p:cNvPr id="3" name="Shape 1"/>
          <p:cNvSpPr/>
          <p:nvPr/>
        </p:nvSpPr>
        <p:spPr>
          <a:xfrm>
            <a:off x="-548640" y="4297680"/>
            <a:ext cx="1463040" cy="1463040"/>
          </a:xfrm>
          <a:prstGeom prst="ellipse">
            <a:avLst/>
          </a:prstGeom>
          <a:solidFill>
            <a:srgbClr val="0E7C86">
              <a:alpha val="40000"/>
            </a:srgbClr>
          </a:solidFill>
          <a:ln/>
        </p:spPr>
      </p:sp>
      <p:sp>
        <p:nvSpPr>
          <p:cNvPr id="4" name="Shape 2"/>
          <p:cNvSpPr/>
          <p:nvPr/>
        </p:nvSpPr>
        <p:spPr>
          <a:xfrm>
            <a:off x="457200" y="292608"/>
            <a:ext cx="658368" cy="658368"/>
          </a:xfrm>
          <a:prstGeom prst="ellipse">
            <a:avLst/>
          </a:prstGeom>
          <a:solidFill>
            <a:srgbClr val="FF6B5E"/>
          </a:solidFill>
          <a:ln/>
        </p:spPr>
      </p:sp>
      <p:sp>
        <p:nvSpPr>
          <p:cNvPr id="5" name="Text 3"/>
          <p:cNvSpPr txBox="1"/>
          <p:nvPr/>
        </p:nvSpPr>
        <p:spPr>
          <a:xfrm>
            <a:off x="457200" y="292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 name="Text 0"/>
          <p:cNvSpPr>
            <a:spLocks noGrp="1"/>
          </p:cNvSpPr>
          <p:nvPr>
            <p:ph type="title" idx="100" hasCustomPrompt="1"/>
          </p:nvPr>
        </p:nvSpPr>
        <p:spPr>
          <a:xfrm>
            <a:off x="1280160" y="274320"/>
            <a:ext cx="7315200" cy="685800"/>
          </a:xfrm>
          <a:prstGeom prst="rect">
            <a:avLst/>
          </a:prstGeom>
          <a:noFill/>
          <a:ln/>
        </p:spPr>
        <p:txBody>
          <a:bodyPr wrap="square" rtlCol="0" anchor="ctr"/>
          <a:lstStyle/>
          <a:p>
            <a:pPr marL="0" indent="0">
              <a:buNone/>
            </a:pPr>
            <a:r>
              <a:rPr lang="en-US" sz="2600" b="1" dirty="0">
                <a:solidFill>
                  <a:srgbClr val="FFFFFF"/>
                </a:solidFill>
              </a:rPr>
              <a:t>FROM NOTES → PARAGRAPHS</a:t>
            </a:r>
            <a:endParaRPr lang="en-US" sz="2600" dirty="0"/>
          </a:p>
        </p:txBody>
      </p:sp>
      <p:sp>
        <p:nvSpPr>
          <p:cNvPr id="7" name="Text 5"/>
          <p:cNvSpPr txBox="1"/>
          <p:nvPr/>
        </p:nvSpPr>
        <p:spPr>
          <a:xfrm>
            <a:off x="457200" y="914400"/>
            <a:ext cx="8229600" cy="548640"/>
          </a:xfrm>
          <a:prstGeom prst="rect">
            <a:avLst/>
          </a:prstGeom>
          <a:noFill/>
          <a:ln/>
        </p:spPr>
        <p:txBody>
          <a:bodyPr wrap="square" lIns="0" tIns="0" rIns="0" bIns="0" rtlCol="0" anchor="t"/>
          <a:lstStyle/>
          <a:p>
            <a:pPr marL="0" indent="0">
              <a:buNone/>
            </a:pPr>
            <a:r>
              <a:rPr lang="en-US" sz="1500" dirty="0">
                <a:solidFill>
                  <a:srgbClr val="FFFFFF"/>
                </a:solidFill>
              </a:rPr>
              <a:t>Next time we will learn how to turn our notes into </a:t>
            </a:r>
            <a:r>
              <a:rPr lang="en-US" sz="1500" b="1" dirty="0">
                <a:solidFill>
                  <a:srgbClr val="FFFFFF"/>
                </a:solidFill>
              </a:rPr>
              <a:t>strong report writing</a:t>
            </a:r>
            <a:r>
              <a:rPr lang="en-US" sz="1500" dirty="0">
                <a:solidFill>
                  <a:srgbClr val="FFFFFF"/>
                </a:solidFill>
              </a:rPr>
              <a:t>. We will practise:</a:t>
            </a:r>
            <a:endParaRPr lang="en-US" sz="1500" dirty="0"/>
          </a:p>
        </p:txBody>
      </p:sp>
      <p:sp>
        <p:nvSpPr>
          <p:cNvPr id="8" name="Shape 6"/>
          <p:cNvSpPr/>
          <p:nvPr/>
        </p:nvSpPr>
        <p:spPr>
          <a:xfrm>
            <a:off x="457200" y="1645920"/>
            <a:ext cx="178308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548640" y="1645920"/>
            <a:ext cx="1600200" cy="1005840"/>
          </a:xfrm>
          <a:prstGeom prst="rect">
            <a:avLst/>
          </a:prstGeom>
          <a:noFill/>
          <a:ln/>
        </p:spPr>
        <p:txBody>
          <a:bodyPr wrap="square" lIns="0" tIns="0" rIns="0" bIns="0" rtlCol="0" anchor="ctr"/>
          <a:lstStyle/>
          <a:p>
            <a:pPr marL="0" indent="0" algn="ctr">
              <a:buNone/>
            </a:pPr>
            <a:r>
              <a:rPr lang="en-US" sz="1400" b="1" dirty="0">
                <a:solidFill>
                  <a:srgbClr val="0A3D4A"/>
                </a:solidFill>
              </a:rPr>
              <a:t>FACT</a:t>
            </a:r>
            <a:endParaRPr lang="en-US" sz="1400" dirty="0"/>
          </a:p>
        </p:txBody>
      </p:sp>
      <p:sp>
        <p:nvSpPr>
          <p:cNvPr id="10" name="Text 8"/>
          <p:cNvSpPr txBox="1"/>
          <p:nvPr/>
        </p:nvSpPr>
        <p:spPr>
          <a:xfrm>
            <a:off x="2240280" y="1645920"/>
            <a:ext cx="365760" cy="1005840"/>
          </a:xfrm>
          <a:prstGeom prst="rect">
            <a:avLst/>
          </a:prstGeom>
          <a:noFill/>
          <a:ln/>
        </p:spPr>
        <p:txBody>
          <a:bodyPr wrap="square" lIns="0" tIns="0" rIns="0" bIns="0" rtlCol="0" anchor="ctr"/>
          <a:lstStyle/>
          <a:p>
            <a:pPr marL="0" indent="0" algn="ctr">
              <a:buNone/>
            </a:pPr>
            <a:r>
              <a:rPr lang="en-US" sz="1800" b="1" dirty="0">
                <a:solidFill>
                  <a:srgbClr val="FFC857"/>
                </a:solidFill>
              </a:rPr>
              <a:t>→</a:t>
            </a:r>
            <a:endParaRPr lang="en-US" sz="1800" dirty="0"/>
          </a:p>
        </p:txBody>
      </p:sp>
      <p:sp>
        <p:nvSpPr>
          <p:cNvPr id="11" name="Shape 9"/>
          <p:cNvSpPr/>
          <p:nvPr/>
        </p:nvSpPr>
        <p:spPr>
          <a:xfrm>
            <a:off x="2606040" y="1645920"/>
            <a:ext cx="178308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2697480" y="1645920"/>
            <a:ext cx="1600200" cy="1005840"/>
          </a:xfrm>
          <a:prstGeom prst="rect">
            <a:avLst/>
          </a:prstGeom>
          <a:noFill/>
          <a:ln/>
        </p:spPr>
        <p:txBody>
          <a:bodyPr wrap="square" lIns="0" tIns="0" rIns="0" bIns="0" rtlCol="0" anchor="ctr"/>
          <a:lstStyle/>
          <a:p>
            <a:pPr marL="0" indent="0" algn="ctr">
              <a:buNone/>
            </a:pPr>
            <a:r>
              <a:rPr lang="en-US" sz="1400" b="1" dirty="0">
                <a:solidFill>
                  <a:srgbClr val="0A3D4A"/>
                </a:solidFill>
              </a:rPr>
              <a:t>EXPLANATION</a:t>
            </a:r>
            <a:endParaRPr lang="en-US" sz="1400" dirty="0"/>
          </a:p>
        </p:txBody>
      </p:sp>
      <p:sp>
        <p:nvSpPr>
          <p:cNvPr id="13" name="Text 11"/>
          <p:cNvSpPr txBox="1"/>
          <p:nvPr/>
        </p:nvSpPr>
        <p:spPr>
          <a:xfrm>
            <a:off x="4389120" y="1645920"/>
            <a:ext cx="365760" cy="1005840"/>
          </a:xfrm>
          <a:prstGeom prst="rect">
            <a:avLst/>
          </a:prstGeom>
          <a:noFill/>
          <a:ln/>
        </p:spPr>
        <p:txBody>
          <a:bodyPr wrap="square" lIns="0" tIns="0" rIns="0" bIns="0" rtlCol="0" anchor="ctr"/>
          <a:lstStyle/>
          <a:p>
            <a:pPr marL="0" indent="0" algn="ctr">
              <a:buNone/>
            </a:pPr>
            <a:r>
              <a:rPr lang="en-US" sz="1800" b="1" dirty="0">
                <a:solidFill>
                  <a:srgbClr val="FFC857"/>
                </a:solidFill>
              </a:rPr>
              <a:t>→</a:t>
            </a:r>
            <a:endParaRPr lang="en-US" sz="1800" dirty="0"/>
          </a:p>
        </p:txBody>
      </p:sp>
      <p:sp>
        <p:nvSpPr>
          <p:cNvPr id="14" name="Shape 12"/>
          <p:cNvSpPr/>
          <p:nvPr/>
        </p:nvSpPr>
        <p:spPr>
          <a:xfrm>
            <a:off x="4754880" y="1645920"/>
            <a:ext cx="178308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4846320" y="1645920"/>
            <a:ext cx="1600200" cy="1005840"/>
          </a:xfrm>
          <a:prstGeom prst="rect">
            <a:avLst/>
          </a:prstGeom>
          <a:noFill/>
          <a:ln/>
        </p:spPr>
        <p:txBody>
          <a:bodyPr wrap="square" lIns="0" tIns="0" rIns="0" bIns="0" rtlCol="0" anchor="ctr"/>
          <a:lstStyle/>
          <a:p>
            <a:pPr marL="0" indent="0" algn="ctr">
              <a:buNone/>
            </a:pPr>
            <a:r>
              <a:rPr lang="en-US" sz="1400" b="1" dirty="0">
                <a:solidFill>
                  <a:srgbClr val="0A3D4A"/>
                </a:solidFill>
              </a:rPr>
              <a:t>SUPPORTING DETAIL</a:t>
            </a:r>
            <a:endParaRPr lang="en-US" sz="1400" dirty="0"/>
          </a:p>
        </p:txBody>
      </p:sp>
      <p:sp>
        <p:nvSpPr>
          <p:cNvPr id="16" name="Text 14"/>
          <p:cNvSpPr txBox="1"/>
          <p:nvPr/>
        </p:nvSpPr>
        <p:spPr>
          <a:xfrm>
            <a:off x="6537960" y="1645920"/>
            <a:ext cx="365760" cy="1005840"/>
          </a:xfrm>
          <a:prstGeom prst="rect">
            <a:avLst/>
          </a:prstGeom>
          <a:noFill/>
          <a:ln/>
        </p:spPr>
        <p:txBody>
          <a:bodyPr wrap="square" lIns="0" tIns="0" rIns="0" bIns="0" rtlCol="0" anchor="ctr"/>
          <a:lstStyle/>
          <a:p>
            <a:pPr marL="0" indent="0" algn="ctr">
              <a:buNone/>
            </a:pPr>
            <a:r>
              <a:rPr lang="en-US" sz="1800" b="1" dirty="0">
                <a:solidFill>
                  <a:srgbClr val="FFC857"/>
                </a:solidFill>
              </a:rPr>
              <a:t>→</a:t>
            </a:r>
            <a:endParaRPr lang="en-US" sz="1800" dirty="0"/>
          </a:p>
        </p:txBody>
      </p:sp>
      <p:sp>
        <p:nvSpPr>
          <p:cNvPr id="17" name="Shape 15"/>
          <p:cNvSpPr/>
          <p:nvPr/>
        </p:nvSpPr>
        <p:spPr>
          <a:xfrm>
            <a:off x="6903720" y="1645920"/>
            <a:ext cx="1783080" cy="1005840"/>
          </a:xfrm>
          <a:prstGeom prst="roundRect">
            <a:avLst>
              <a:gd name="adj" fmla="val 13636"/>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6995160" y="1645920"/>
            <a:ext cx="1600200" cy="1005840"/>
          </a:xfrm>
          <a:prstGeom prst="rect">
            <a:avLst/>
          </a:prstGeom>
          <a:noFill/>
          <a:ln/>
        </p:spPr>
        <p:txBody>
          <a:bodyPr wrap="square" lIns="0" tIns="0" rIns="0" bIns="0" rtlCol="0" anchor="ctr"/>
          <a:lstStyle/>
          <a:p>
            <a:pPr marL="0" indent="0" algn="ctr">
              <a:buNone/>
            </a:pPr>
            <a:r>
              <a:rPr lang="en-US" sz="1400" b="1" dirty="0">
                <a:solidFill>
                  <a:srgbClr val="0A3D4A"/>
                </a:solidFill>
              </a:rPr>
              <a:t>COHESIVE PARAGRAPH</a:t>
            </a:r>
            <a:endParaRPr lang="en-US" sz="1400" dirty="0"/>
          </a:p>
        </p:txBody>
      </p:sp>
      <p:sp>
        <p:nvSpPr>
          <p:cNvPr id="19" name="Shape 17"/>
          <p:cNvSpPr/>
          <p:nvPr/>
        </p:nvSpPr>
        <p:spPr>
          <a:xfrm>
            <a:off x="457200" y="3017520"/>
            <a:ext cx="8229600" cy="1463040"/>
          </a:xfrm>
          <a:prstGeom prst="roundRect">
            <a:avLst>
              <a:gd name="adj" fmla="val 9375"/>
            </a:avLst>
          </a:prstGeom>
          <a:solidFill>
            <a:srgbClr val="FF6B5E"/>
          </a:solidFill>
          <a:ln/>
          <a:effectLst>
            <a:outerShdw blurRad="76200" dist="25400" dir="5400000" algn="bl" rotWithShape="0">
              <a:srgbClr val="000000">
                <a:alpha val="15000"/>
              </a:srgbClr>
            </a:outerShdw>
          </a:effectLst>
        </p:spPr>
      </p:sp>
      <p:sp>
        <p:nvSpPr>
          <p:cNvPr id="20" name="Text 18"/>
          <p:cNvSpPr txBox="1"/>
          <p:nvPr/>
        </p:nvSpPr>
        <p:spPr>
          <a:xfrm>
            <a:off x="777240" y="3017520"/>
            <a:ext cx="7589520" cy="1463040"/>
          </a:xfrm>
          <a:prstGeom prst="rect">
            <a:avLst/>
          </a:prstGeom>
          <a:noFill/>
          <a:ln/>
        </p:spPr>
        <p:txBody>
          <a:bodyPr wrap="square" lIns="0" tIns="0" rIns="0" bIns="0" rtlCol="0" anchor="ctr"/>
          <a:lstStyle/>
          <a:p>
            <a:pPr marL="0" indent="0">
              <a:buNone/>
            </a:pPr>
            <a:r>
              <a:rPr lang="en-US" sz="1300" b="1" dirty="0">
                <a:solidFill>
                  <a:srgbClr val="0A3D4A"/>
                </a:solidFill>
              </a:rPr>
              <a:t>BIG QUESTION</a:t>
            </a:r>
            <a:endParaRPr lang="en-US" sz="2200" dirty="0"/>
          </a:p>
          <a:p>
            <a:pPr marL="0" indent="0">
              <a:buNone/>
            </a:pPr>
            <a:r>
              <a:rPr lang="en-US" sz="2200" b="1" dirty="0">
                <a:solidFill>
                  <a:srgbClr val="FFFFFF"/>
                </a:solidFill>
              </a:rPr>
              <a:t>How do we turn short research notes into clear, developed writing?</a:t>
            </a:r>
            <a:endParaRPr lang="en-US" sz="2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D3D8"/>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spTree>
      <p:nvGrpSpPr>
        <p:cNvPr id="1" name=""/>
        <p:cNvGrpSpPr/>
        <p:nvPr/>
      </p:nvGrpSpPr>
      <p:grpSpPr>
        <a:xfrm>
          <a:off x="0" y="0"/>
          <a:ext cx="0" cy="0"/>
          <a:chOff x="0" y="0"/>
          <a:chExt cx="0" cy="0"/>
        </a:xfrm>
      </p:grpSpPr>
      <p:sp>
        <p:nvSpPr>
          <p:cNvPr id="2" name="Shape 0"/>
          <p:cNvSpPr/>
          <p:nvPr/>
        </p:nvSpPr>
        <p:spPr>
          <a:xfrm>
            <a:off x="7589520" y="-914400"/>
            <a:ext cx="2377440" cy="2377440"/>
          </a:xfrm>
          <a:prstGeom prst="ellipse">
            <a:avLst/>
          </a:prstGeom>
          <a:solidFill>
            <a:srgbClr val="CDEFF1">
              <a:alpha val="80000"/>
            </a:srgbClr>
          </a:solidFill>
          <a:ln/>
        </p:spPr>
      </p:sp>
      <p:sp>
        <p:nvSpPr>
          <p:cNvPr id="3" name="Shape 1"/>
          <p:cNvSpPr/>
          <p:nvPr/>
        </p:nvSpPr>
        <p:spPr>
          <a:xfrm>
            <a:off x="-548640" y="4297680"/>
            <a:ext cx="1463040" cy="1463040"/>
          </a:xfrm>
          <a:prstGeom prst="ellipse">
            <a:avLst/>
          </a:prstGeom>
          <a:solidFill>
            <a:srgbClr val="CDEFF1">
              <a:alpha val="70000"/>
            </a:srgbClr>
          </a:solidFill>
          <a:ln/>
        </p:spPr>
      </p:sp>
      <p:sp>
        <p:nvSpPr>
          <p:cNvPr id="7" name="Text 5"/>
          <p:cNvSpPr txBox="1"/>
          <p:nvPr/>
        </p:nvSpPr>
        <p:spPr>
          <a:xfrm>
            <a:off x="365760" y="548640"/>
            <a:ext cx="8229600" cy="274320"/>
          </a:xfrm>
          <a:prstGeom prst="rect">
            <a:avLst/>
          </a:prstGeom>
          <a:noFill/>
          <a:ln/>
        </p:spPr>
        <p:txBody>
          <a:bodyPr wrap="square" lIns="0" tIns="0" rIns="0" bIns="0" rtlCol="0" anchor="t"/>
          <a:lstStyle/>
          <a:p>
            <a:pPr marL="0" indent="0">
              <a:buNone/>
            </a:pPr>
            <a:r>
              <a:rPr lang="en-US" sz="2400" b="1" i="1" dirty="0">
                <a:solidFill>
                  <a:srgbClr val="4A6B73"/>
                </a:solidFill>
              </a:rPr>
              <a:t>The most important distinction to reinforce:</a:t>
            </a:r>
            <a:endParaRPr lang="en-US" sz="2400" b="1" dirty="0"/>
          </a:p>
        </p:txBody>
      </p:sp>
      <p:sp>
        <p:nvSpPr>
          <p:cNvPr id="8" name="Shape 6"/>
          <p:cNvSpPr/>
          <p:nvPr/>
        </p:nvSpPr>
        <p:spPr>
          <a:xfrm>
            <a:off x="457200" y="1280160"/>
            <a:ext cx="402336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594360" y="1417320"/>
            <a:ext cx="3749040" cy="411480"/>
          </a:xfrm>
          <a:prstGeom prst="rect">
            <a:avLst/>
          </a:prstGeom>
          <a:noFill/>
          <a:ln/>
        </p:spPr>
        <p:txBody>
          <a:bodyPr wrap="square" lIns="0" tIns="0" rIns="0" bIns="0" rtlCol="0" anchor="t"/>
          <a:lstStyle/>
          <a:p>
            <a:pPr marL="0" indent="0">
              <a:buNone/>
            </a:pPr>
            <a:r>
              <a:rPr lang="en-US" sz="2000" b="1" dirty="0">
                <a:solidFill>
                  <a:srgbClr val="FF6B5E"/>
                </a:solidFill>
              </a:rPr>
              <a:t>SKIMMING</a:t>
            </a:r>
            <a:endParaRPr lang="en-US" sz="2000" dirty="0"/>
          </a:p>
        </p:txBody>
      </p:sp>
      <p:sp>
        <p:nvSpPr>
          <p:cNvPr id="10" name="Text 8"/>
          <p:cNvSpPr txBox="1"/>
          <p:nvPr/>
        </p:nvSpPr>
        <p:spPr>
          <a:xfrm>
            <a:off x="594360" y="1874520"/>
            <a:ext cx="3749040" cy="868680"/>
          </a:xfrm>
          <a:prstGeom prst="rect">
            <a:avLst/>
          </a:prstGeom>
          <a:noFill/>
          <a:ln/>
        </p:spPr>
        <p:txBody>
          <a:bodyPr wrap="square" lIns="0" tIns="0" rIns="0" bIns="0" rtlCol="0" anchor="t"/>
          <a:lstStyle/>
          <a:p>
            <a:pPr marL="0" indent="0">
              <a:buNone/>
            </a:pPr>
            <a:r>
              <a:rPr lang="en-US" dirty="0">
                <a:solidFill>
                  <a:srgbClr val="0A3D4A"/>
                </a:solidFill>
              </a:rPr>
              <a:t>What is this source mainly about?</a:t>
            </a:r>
            <a:endParaRPr lang="en-US" dirty="0"/>
          </a:p>
        </p:txBody>
      </p:sp>
      <p:sp>
        <p:nvSpPr>
          <p:cNvPr id="11" name="Shape 9"/>
          <p:cNvSpPr/>
          <p:nvPr/>
        </p:nvSpPr>
        <p:spPr>
          <a:xfrm>
            <a:off x="4663440" y="1280160"/>
            <a:ext cx="402336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2" name="Text 10"/>
          <p:cNvSpPr txBox="1"/>
          <p:nvPr/>
        </p:nvSpPr>
        <p:spPr>
          <a:xfrm>
            <a:off x="4800600" y="1417320"/>
            <a:ext cx="3749040" cy="411480"/>
          </a:xfrm>
          <a:prstGeom prst="rect">
            <a:avLst/>
          </a:prstGeom>
          <a:noFill/>
          <a:ln/>
        </p:spPr>
        <p:txBody>
          <a:bodyPr wrap="square" lIns="0" tIns="0" rIns="0" bIns="0" rtlCol="0" anchor="t"/>
          <a:lstStyle/>
          <a:p>
            <a:pPr marL="0" indent="0">
              <a:buNone/>
            </a:pPr>
            <a:r>
              <a:rPr lang="en-US" sz="2000" b="1" dirty="0">
                <a:solidFill>
                  <a:srgbClr val="0E7C86"/>
                </a:solidFill>
              </a:rPr>
              <a:t>SCANNING</a:t>
            </a:r>
            <a:endParaRPr lang="en-US" sz="2000" dirty="0"/>
          </a:p>
        </p:txBody>
      </p:sp>
      <p:sp>
        <p:nvSpPr>
          <p:cNvPr id="13" name="Text 11"/>
          <p:cNvSpPr txBox="1"/>
          <p:nvPr/>
        </p:nvSpPr>
        <p:spPr>
          <a:xfrm>
            <a:off x="4800600" y="1874520"/>
            <a:ext cx="3749040" cy="868680"/>
          </a:xfrm>
          <a:prstGeom prst="rect">
            <a:avLst/>
          </a:prstGeom>
          <a:noFill/>
          <a:ln/>
        </p:spPr>
        <p:txBody>
          <a:bodyPr wrap="square" lIns="0" tIns="0" rIns="0" bIns="0" rtlCol="0" anchor="t"/>
          <a:lstStyle/>
          <a:p>
            <a:pPr marL="0" indent="0">
              <a:buNone/>
            </a:pPr>
            <a:r>
              <a:rPr lang="en-US" sz="1700" dirty="0">
                <a:solidFill>
                  <a:srgbClr val="0A3D4A"/>
                </a:solidFill>
              </a:rPr>
              <a:t>Where is the specific information I need?</a:t>
            </a:r>
            <a:endParaRPr lang="en-US" sz="1700" dirty="0"/>
          </a:p>
        </p:txBody>
      </p:sp>
      <p:sp>
        <p:nvSpPr>
          <p:cNvPr id="14" name="Shape 12"/>
          <p:cNvSpPr/>
          <p:nvPr/>
        </p:nvSpPr>
        <p:spPr>
          <a:xfrm>
            <a:off x="457200" y="3017520"/>
            <a:ext cx="402336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5" name="Text 13"/>
          <p:cNvSpPr txBox="1"/>
          <p:nvPr/>
        </p:nvSpPr>
        <p:spPr>
          <a:xfrm>
            <a:off x="594360" y="3154680"/>
            <a:ext cx="3749040" cy="411480"/>
          </a:xfrm>
          <a:prstGeom prst="rect">
            <a:avLst/>
          </a:prstGeom>
          <a:noFill/>
          <a:ln/>
        </p:spPr>
        <p:txBody>
          <a:bodyPr wrap="square" lIns="0" tIns="0" rIns="0" bIns="0" rtlCol="0" anchor="t"/>
          <a:lstStyle/>
          <a:p>
            <a:pPr marL="0" indent="0">
              <a:buNone/>
            </a:pPr>
            <a:r>
              <a:rPr lang="en-US" sz="2000" b="1" dirty="0">
                <a:solidFill>
                  <a:srgbClr val="7B5EA7"/>
                </a:solidFill>
              </a:rPr>
              <a:t>NOTE-MAKING</a:t>
            </a:r>
            <a:endParaRPr lang="en-US" sz="2000" dirty="0"/>
          </a:p>
        </p:txBody>
      </p:sp>
      <p:sp>
        <p:nvSpPr>
          <p:cNvPr id="16" name="Text 14"/>
          <p:cNvSpPr txBox="1"/>
          <p:nvPr/>
        </p:nvSpPr>
        <p:spPr>
          <a:xfrm>
            <a:off x="594360" y="3611880"/>
            <a:ext cx="3749040" cy="868680"/>
          </a:xfrm>
          <a:prstGeom prst="rect">
            <a:avLst/>
          </a:prstGeom>
          <a:noFill/>
          <a:ln/>
        </p:spPr>
        <p:txBody>
          <a:bodyPr wrap="square" lIns="0" tIns="0" rIns="0" bIns="0" rtlCol="0" anchor="t"/>
          <a:lstStyle/>
          <a:p>
            <a:pPr marL="0" indent="0">
              <a:buNone/>
            </a:pPr>
            <a:r>
              <a:rPr lang="en-US" sz="1700" dirty="0">
                <a:solidFill>
                  <a:srgbClr val="0A3D4A"/>
                </a:solidFill>
              </a:rPr>
              <a:t>What information should I keep?</a:t>
            </a:r>
            <a:endParaRPr lang="en-US" sz="1700" dirty="0"/>
          </a:p>
        </p:txBody>
      </p:sp>
      <p:sp>
        <p:nvSpPr>
          <p:cNvPr id="17" name="Shape 15"/>
          <p:cNvSpPr/>
          <p:nvPr/>
        </p:nvSpPr>
        <p:spPr>
          <a:xfrm>
            <a:off x="4663440" y="3017520"/>
            <a:ext cx="4023360" cy="1554480"/>
          </a:xfrm>
          <a:prstGeom prst="roundRect">
            <a:avLst>
              <a:gd name="adj" fmla="val 8824"/>
            </a:avLst>
          </a:prstGeom>
          <a:solidFill>
            <a:srgbClr val="FFFFFF"/>
          </a:solidFill>
          <a:ln/>
          <a:effectLst>
            <a:outerShdw blurRad="76200" dist="25400" dir="5400000" algn="bl" rotWithShape="0">
              <a:srgbClr val="000000">
                <a:alpha val="15000"/>
              </a:srgbClr>
            </a:outerShdw>
          </a:effectLst>
        </p:spPr>
      </p:sp>
      <p:sp>
        <p:nvSpPr>
          <p:cNvPr id="18" name="Text 16"/>
          <p:cNvSpPr txBox="1"/>
          <p:nvPr/>
        </p:nvSpPr>
        <p:spPr>
          <a:xfrm>
            <a:off x="4800600" y="3154680"/>
            <a:ext cx="3749040" cy="411480"/>
          </a:xfrm>
          <a:prstGeom prst="rect">
            <a:avLst/>
          </a:prstGeom>
          <a:noFill/>
          <a:ln/>
        </p:spPr>
        <p:txBody>
          <a:bodyPr wrap="square" lIns="0" tIns="0" rIns="0" bIns="0" rtlCol="0" anchor="t"/>
          <a:lstStyle/>
          <a:p>
            <a:pPr marL="0" indent="0">
              <a:buNone/>
            </a:pPr>
            <a:r>
              <a:rPr lang="en-US" sz="2000" b="1" dirty="0">
                <a:solidFill>
                  <a:srgbClr val="3A86C8"/>
                </a:solidFill>
              </a:rPr>
              <a:t>ORGANISING</a:t>
            </a:r>
            <a:endParaRPr lang="en-US" sz="2000" dirty="0"/>
          </a:p>
        </p:txBody>
      </p:sp>
      <p:sp>
        <p:nvSpPr>
          <p:cNvPr id="19" name="Text 17"/>
          <p:cNvSpPr txBox="1"/>
          <p:nvPr/>
        </p:nvSpPr>
        <p:spPr>
          <a:xfrm>
            <a:off x="4800600" y="3611880"/>
            <a:ext cx="3749040" cy="868680"/>
          </a:xfrm>
          <a:prstGeom prst="rect">
            <a:avLst/>
          </a:prstGeom>
          <a:noFill/>
          <a:ln/>
        </p:spPr>
        <p:txBody>
          <a:bodyPr wrap="square" lIns="0" tIns="0" rIns="0" bIns="0" rtlCol="0" anchor="t"/>
          <a:lstStyle/>
          <a:p>
            <a:pPr marL="0" indent="0">
              <a:buNone/>
            </a:pPr>
            <a:r>
              <a:rPr lang="en-US" sz="1700" dirty="0">
                <a:solidFill>
                  <a:srgbClr val="0A3D4A"/>
                </a:solidFill>
              </a:rPr>
              <a:t>Where does this information belong in my report?</a:t>
            </a:r>
            <a:endParaRPr lang="en-US" sz="17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7C86"/>
                </a:solidFill>
              </a:defRPr>
            </a:lvl1pPr>
          </a:lstStyle>
          <a:p>
            <a:pPr algn="l"/>
            <a:fld id="{F7021451-1387-4CA6-816F-3879F97B5CBC}" type="slidenum">
              <a:rPr lang="en-US" b="0"/>
              <a:t>37</a:t>
            </a:fld>
            <a:endParaRPr lang="en-US"/>
          </a:p>
        </p:txBody>
      </p:sp>
    </p:spTree>
  </p:cSld>
  <p:clrMapOvr>
    <a:masterClrMapping/>
  </p:clrMapOvr>
</p:sld>
</file>

<file path=ppt/theme/theme1.xml><?xml version="1.0" encoding="utf-8"?>
<a:theme xmlns:a="http://schemas.openxmlformats.org/drawingml/2006/main" name="Ocean Detective">
  <a:themeElements>
    <a:clrScheme name="Ocean Detective">
      <a:dk1>
        <a:srgbClr val="0A3D4A"/>
      </a:dk1>
      <a:lt1>
        <a:srgbClr val="FFFFFF"/>
      </a:lt1>
      <a:dk2>
        <a:srgbClr val="0E7C86"/>
      </a:dk2>
      <a:lt2>
        <a:srgbClr val="EAF7F8"/>
      </a:lt2>
      <a:accent1>
        <a:srgbClr val="FF6B5E"/>
      </a:accent1>
      <a:accent2>
        <a:srgbClr val="FFC857"/>
      </a:accent2>
      <a:accent3>
        <a:srgbClr val="2BB673"/>
      </a:accent3>
      <a:accent4>
        <a:srgbClr val="7B5EA7"/>
      </a:accent4>
      <a:accent5>
        <a:srgbClr val="3A86C8"/>
      </a:accent5>
      <a:accent6>
        <a:srgbClr val="0E7C86"/>
      </a:accent6>
      <a:hlink>
        <a:srgbClr val="3A86C8"/>
      </a:hlink>
      <a:folHlink>
        <a:srgbClr val="7B5EA7"/>
      </a:folHlink>
    </a:clrScheme>
    <a:fontScheme name="Ocean Dete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2181</Words>
  <Application>Microsoft Office PowerPoint</Application>
  <PresentationFormat>On-screen Show (16:9)</PresentationFormat>
  <Paragraphs>498</Paragraphs>
  <Slides>37</Slides>
  <Notes>37</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Ocean Detective</vt:lpstr>
      <vt:lpstr>RESEARCH DETECTIVES</vt:lpstr>
      <vt:lpstr>WHAT DO YOU REMEMBER?</vt:lpstr>
      <vt:lpstr>ANSWER</vt:lpstr>
      <vt:lpstr>OUR RESEARCH MISSION</vt:lpstr>
      <vt:lpstr>DON'T COPY EVERYTHING!</vt:lpstr>
      <vt:lpstr>NO!</vt:lpstr>
      <vt:lpstr>SKIM</vt:lpstr>
      <vt:lpstr>SKIM THIS SOURCE</vt:lpstr>
      <vt:lpstr>ANSWER</vt:lpstr>
      <vt:lpstr>SCAN</vt:lpstr>
      <vt:lpstr>WHICH SKILL?</vt:lpstr>
      <vt:lpstr>ANSWER</vt:lpstr>
      <vt:lpstr>SOURCE TEXT: SEA TURTLES</vt:lpstr>
      <vt:lpstr>SCAN THE SOURCE</vt:lpstr>
      <vt:lpstr>ANSWER</vt:lpstr>
      <vt:lpstr>DOES IT BELONG?</vt:lpstr>
      <vt:lpstr>ANSWER</vt:lpstr>
      <vt:lpstr>SORT THE INFORMATION</vt:lpstr>
      <vt:lpstr>SORTED NOTES</vt:lpstr>
      <vt:lpstr>MAKE IT SHORTER</vt:lpstr>
      <vt:lpstr>ANSWER</vt:lpstr>
      <vt:lpstr>IMPORTANT!</vt:lpstr>
      <vt:lpstr>COPY OR NOTE?</vt:lpstr>
      <vt:lpstr>ANSWER</vt:lpstr>
      <vt:lpstr>TURN THIS INTO NOTES</vt:lpstr>
      <vt:lpstr>POSSIBLE NOTES</vt:lpstr>
      <vt:lpstr>BEFORE YOU MOVE ON…</vt:lpstr>
      <vt:lpstr>YOUR TURN</vt:lpstr>
      <vt:lpstr>SUPPORT</vt:lpstr>
      <vt:lpstr>CORE</vt:lpstr>
      <vt:lpstr>EXTEND</vt:lpstr>
      <vt:lpstr>RESEARCH PARTNERS</vt:lpstr>
      <vt:lpstr>EXIT TICKET</vt:lpstr>
      <vt:lpstr>CHECK YOUR ANSWERS</vt:lpstr>
      <vt:lpstr>RESEARCH HOMEWORK</vt:lpstr>
      <vt:lpstr>FROM NOTES → PARAGRAPHS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Detectives - Skim, Scan and Make Notes</dc:title>
  <dc:subject>PptxGenJS Presentation</dc:subject>
  <dc:creator>PptxGenJS</dc:creator>
  <cp:lastModifiedBy>pc</cp:lastModifiedBy>
  <cp:revision>2</cp:revision>
  <dcterms:created xsi:type="dcterms:W3CDTF">2026-10-02T20:30:08Z</dcterms:created>
  <dcterms:modified xsi:type="dcterms:W3CDTF">2026-10-02T21:05:43Z</dcterms:modified>
</cp:coreProperties>
</file>