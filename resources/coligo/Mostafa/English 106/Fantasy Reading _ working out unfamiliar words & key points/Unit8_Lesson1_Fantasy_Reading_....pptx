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6346E571-CEE6-983F-16D5-165B23651EB3}">
          <p14:sldIdLst>
            <p14:sldId id="256"/>
            <p14:sldId id="257"/>
            <p14:sldId id="258"/>
            <p14:sldId id="259"/>
            <p14:sldId id="260"/>
            <p14:sldId id="261"/>
          </p14:sldIdLst>
        </p14:section>
        <p14:section name="Read" id="{33CF088E-4C28-FC0B-D9C3-0F12F808106F}">
          <p14:sldIdLst>
            <p14:sldId id="262"/>
            <p14:sldId id="263"/>
            <p14:sldId id="264"/>
            <p14:sldId id="265"/>
            <p14:sldId id="266"/>
            <p14:sldId id="267"/>
            <p14:sldId id="268"/>
            <p14:sldId id="269"/>
            <p14:sldId id="270"/>
            <p14:sldId id="271"/>
            <p14:sldId id="272"/>
            <p14:sldId id="273"/>
          </p14:sldIdLst>
        </p14:section>
        <p14:section name="Make" id="{DBF64EE7-488D-2E90-515D-1D19D18B4F2E}">
          <p14:sldIdLst>
            <p14:sldId id="274"/>
            <p14:sldId id="275"/>
            <p14:sldId id="276"/>
            <p14:sldId id="277"/>
            <p14:sldId id="278"/>
          </p14:sldIdLst>
        </p14:section>
        <p14:section name="Share" id="{4F88FD5F-7041-1161-AE23-D92D76B6E03E}">
          <p14:sldIdLst>
            <p14:sldId id="279"/>
            <p14:sldId id="280"/>
            <p14:sldId id="281"/>
            <p14:sldId id="282"/>
            <p14:sldId id="283"/>
            <p14:sldId id="284"/>
            <p14:sldId id="285"/>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6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403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Starter 10 | Words and strategy 15 | Reading with pauses 20 | Mind map 15 | Exam practice 10 | Plenary 5 | Workbook task 5.
The story extract 'The City That Waited' is an original text written for this unit, so no published book is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objectives aloud. Ask pupils to rate their confidence with a thumb (up / sideways / down) now, and again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Show the cover. Pairs discuss for 2 minutes (Think Time), then take answers. Q1: fantasy or realistic? Q2: what might 'the city that waited' mean? Q3: what clues does the cover give? Accept all sensible ideas and note them on the Learning Wall.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card. Ask pupils for an example from a story they know. These words come back in every lesson of the unit.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Elicit ideas first, then reveal. Link to fantasy stories they have read.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pupils' predicted themes on sticky notes for the Learning Wall. Revisit the wall at the end of the unit and tick the themes the story really explores.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pages 1 and 2 yourself, then share the rest of the reading between volunteers.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will use this four-step method for every unfamiliar word. Display it on the wall. The dictionary is the LAST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thinking aloud. Point out that 'throat' and 'dust' are clues, and that 'thirsty' is not in the text but the idea is. Then ask: can you think of another way to say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part 1 aloud. Highlighted words are the ones most likely to need discussion, but let pupils choose their own too: 'Which words do you not know how to say or what they mean?' Give Think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answers. Q4 draws out that a dustwyrm is an imaginary creature, so the story is fantasy. Ask: what does 'seep' tell us about what the travellers need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answer at a time after pupils have shared their own. Push for evidence: which words in the text tell 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Volunteers read. Pause after the first paragraph to ask: what do we learn about Kesh? Which words tell us? Then pause after the last paragraph: what is surprising about the city appearing?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complete the table in their books. Insist on the middle column first (clues from the text) before the guess. Collect two or three examples on the board. Possible phrases to discuss: 'worn smooth by years of use', 'tasted of hope'.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final part with expression. Pause at the end: do you agree with Kesh? Which clues tell us something is wrong? Collect predictions on sticky notes but do not confirm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paraphrasing skill (SL6.2B). Pairs practise the sentence stems with 'wary' and 'deserted'. Encourage a partner to say it back a different 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four steps from slide 8. The word is invented, so pupils cannot look it up. They must use the clues. 'Wyrm' is an old English word for a dragon or serpent: it appears in many fantasy stories.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rereading and picking out a key point. Say the sentence stem aloud, then point to the exact line in the text. Pupils use the same stem with their partner in the main activity.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minutes. Core and Extend: mixed-ability pairs reread all three parts aloud in turn, then complete the mind map. Extend pupils add a fifth branch: 'What might happen next? Why?'. Support: sit with this group, reread together, read the questions one at a time and supply the sentence stem. Set a visible timer.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frame in books or on A3 paper. Each branch needs at least two facts with a word or phrase from the text as evidence.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answers only. Accept any fact pupils can support with words from the text. Praise pupils who add a quotation or the paragraph where they found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during the main activity. Encourage the order: reread, ask a partner, then ask the teacher.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call out characters and one fact each. Add a sticky note per character to the Learning Wall; pupils will add to this next lesson. Reveal the cards only after pupils have answered.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pupil chooses one new word, explains it in their own words, then gives an example sentence. Choose two or three pupils to share with the class.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meanings and sentences for the six words. Accept any accurate explanation and a sensible sentence about the city or the story.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pupils' questions on the Learning Wall. Do not answer them: they become reading goals for the next lessons. Sample answers: Why is the city empty? Where did the people go? Why will the dustwyrm not go 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own questions matter more than these. Use these only to model good questions. Do not answer them: they become reading goals for the next lessons.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5 marks, done individually then marked in pairs. Answers: 1) It has been used for a very long time. 2) parched. 3) trekking = journeying, murmured = said quietly, gleaming = shining, deserted = empty (half a mark each, rounded). 4) It finds hidden water (it twitches when water is underground).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parched = extremely dry and thirsty; trek = a long, tiring journey on foot; seep = a place where water slowly trickles out of the ground; wary = careful and watching for danger; shimmered = shone with a soft, wavering light. The missing definition is for 'deserted' (empty, with no people in it). Then pupils write their own sentence using one of the words.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own sentence that shows the meaning, for example 'The deserted street was silent.' For the missing definition, accept empty, abandoned, no people in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or the back of their page and hand it in on the way out. Use it to plan Lesson 2: look for pupils who could not explain a word in their own words, and for pupils who gave a key point with no evidence.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to judge the quality of what pupils hand in. A strong answer gives a meaning in the pupil's own words and a key point backed by words from the text.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the story (parts 1 to 3, slides 10, 12 and 14) so pupils can complete this at home. Collect it at the start of the next lesson. Pupils who finish early can add a fourth word.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the workbook task.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marL="0" indent="0">
              <a:buNone/>
            </a:pPr>
            <a:r>
              <a:rPr lang="en-US" sz="1000" dirty="0">
                <a:solidFill>
                  <a:srgbClr val="6B6784"/>
                </a:solidFill>
              </a:rPr>
              <a:t>Year 6 English  |  Unit 8  |  Lesson 1</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Word Detectives</a:t>
            </a:r>
            <a:endParaRPr lang="en-US" sz="4400" dirty="0"/>
          </a:p>
        </p:txBody>
      </p:sp>
      <p:sp>
        <p:nvSpPr>
          <p:cNvPr id="3" name="Text 0"/>
          <p:cNvSpPr>
            <a:spLocks noGrp="1"/>
          </p:cNvSpPr>
          <p:nvPr>
            <p:ph type="body" idx="101" hasCustomPrompt="1"/>
          </p:nvPr>
        </p:nvSpPr>
        <p:spPr>
          <a:xfrm>
            <a:off x="83128" y="3300153"/>
            <a:ext cx="6858000" cy="1097280"/>
          </a:xfrm>
          <a:prstGeom prst="rect">
            <a:avLst/>
          </a:prstGeom>
          <a:noFill/>
          <a:ln/>
        </p:spPr>
        <p:txBody>
          <a:bodyPr wrap="square" lIns="0" tIns="0" rIns="0" bIns="0" rtlCol="0" anchor="t"/>
          <a:lstStyle/>
          <a:p>
            <a:pPr marL="0" indent="0">
              <a:buNone/>
            </a:pPr>
            <a:r>
              <a:rPr lang="en-US" sz="1800" dirty="0">
                <a:solidFill>
                  <a:schemeClr val="accent1"/>
                </a:solidFill>
              </a:rPr>
              <a:t>Fantasy reading: working out unfamiliar words and key points</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dragon" descr="dragon"/>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search"/>
          <p:cNvPicPr>
            <a:picLocks noChangeAspect="1"/>
          </p:cNvPicPr>
          <p:nvPr/>
        </p:nvPicPr>
        <p:blipFill>
          <a:blip r:embed="rId3"/>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Hunt for words</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work out what a new word or phrase means.</a:t>
            </a:r>
            <a:endParaRPr lang="en-US" sz="16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comment"/>
          <p:cNvPicPr>
            <a:picLocks noChangeAspect="1"/>
          </p:cNvPicPr>
          <p:nvPr/>
        </p:nvPicPr>
        <p:blipFill>
          <a:blip r:embed="rId4"/>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Say it simply</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explain a word in my own words.</a:t>
            </a:r>
            <a:endParaRPr lang="en-US" sz="16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sitemap"/>
          <p:cNvPicPr>
            <a:picLocks noChangeAspect="1"/>
          </p:cNvPicPr>
          <p:nvPr/>
        </p:nvPicPr>
        <p:blipFill>
          <a:blip r:embed="rId5"/>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Find key points</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marL="0" indent="0" algn="ctr">
              <a:buNone/>
            </a:pPr>
            <a:r>
              <a:rPr lang="en-US" sz="1600" dirty="0">
                <a:solidFill>
                  <a:schemeClr val="tx1"/>
                </a:solidFill>
              </a:rPr>
              <a:t>I can pick out what I have learnt so far and show it in a mind map.</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Cover detectives</a:t>
            </a:r>
            <a:endParaRPr lang="en-US" sz="3000" dirty="0"/>
          </a:p>
        </p:txBody>
      </p:sp>
      <p:sp>
        <p:nvSpPr>
          <p:cNvPr id="4" name="book cover"/>
          <p:cNvSpPr/>
          <p:nvPr/>
        </p:nvSpPr>
        <p:spPr>
          <a:xfrm>
            <a:off x="548640" y="1143000"/>
            <a:ext cx="3017520" cy="3429000"/>
          </a:xfrm>
          <a:prstGeom prst="roundRect">
            <a:avLst>
              <a:gd name="adj" fmla="val 3636"/>
            </a:avLst>
          </a:prstGeom>
          <a:solidFill>
            <a:schemeClr val="tx1"/>
          </a:solidFill>
          <a:ln w="38100">
            <a:solidFill>
              <a:schemeClr val="tx2"/>
            </a:solidFill>
            <a:prstDash val="solid"/>
          </a:ln>
        </p:spPr>
      </p:sp>
      <p:pic>
        <p:nvPicPr>
          <p:cNvPr id="5" name="cover city" descr="city"/>
          <p:cNvPicPr>
            <a:picLocks noChangeAspect="1"/>
          </p:cNvPicPr>
          <p:nvPr/>
        </p:nvPicPr>
        <p:blipFill>
          <a:blip r:embed="rId3"/>
          <a:stretch>
            <a:fillRect/>
          </a:stretch>
        </p:blipFill>
        <p:spPr>
          <a:xfrm>
            <a:off x="1417320" y="1463040"/>
            <a:ext cx="1280160" cy="1280160"/>
          </a:xfrm>
          <a:prstGeom prst="rect">
            <a:avLst/>
          </a:prstGeom>
        </p:spPr>
      </p:pic>
      <p:sp>
        <p:nvSpPr>
          <p:cNvPr id="6" name="Text 2"/>
          <p:cNvSpPr txBox="1"/>
          <p:nvPr/>
        </p:nvSpPr>
        <p:spPr>
          <a:xfrm>
            <a:off x="731520" y="2880360"/>
            <a:ext cx="2651760" cy="914400"/>
          </a:xfrm>
          <a:prstGeom prst="rect">
            <a:avLst/>
          </a:prstGeom>
          <a:noFill/>
          <a:ln/>
        </p:spPr>
        <p:txBody>
          <a:bodyPr wrap="square" lIns="0" tIns="0" rIns="0" bIns="0" rtlCol="0" anchor="t"/>
          <a:lstStyle/>
          <a:p>
            <a:pPr marL="0" indent="0" algn="ctr">
              <a:buNone/>
            </a:pPr>
            <a:r>
              <a:rPr lang="en-US" sz="2600" b="1" dirty="0">
                <a:solidFill>
                  <a:schemeClr val="bg1"/>
                </a:solidFill>
                <a:latin typeface="Cambria" pitchFamily="34" charset="0"/>
                <a:ea typeface="Cambria" pitchFamily="34" charset="-122"/>
                <a:cs typeface="Cambria" pitchFamily="34" charset="-120"/>
              </a:rPr>
              <a:t>The City</a:t>
            </a:r>
            <a:endParaRPr lang="en-US" sz="2600" dirty="0"/>
          </a:p>
          <a:p>
            <a:pPr marL="0" indent="0" algn="ctr">
              <a:buNone/>
            </a:pPr>
            <a:r>
              <a:rPr lang="en-US" sz="2600" b="1" dirty="0">
                <a:solidFill>
                  <a:schemeClr val="bg1"/>
                </a:solidFill>
                <a:latin typeface="Cambria" pitchFamily="34" charset="0"/>
                <a:ea typeface="Cambria" pitchFamily="34" charset="-122"/>
                <a:cs typeface="Cambria" pitchFamily="34" charset="-120"/>
              </a:rPr>
              <a:t>That Waited</a:t>
            </a:r>
            <a:endParaRPr lang="en-US" sz="2600" dirty="0"/>
          </a:p>
        </p:txBody>
      </p:sp>
      <p:sp>
        <p:nvSpPr>
          <p:cNvPr id="7" name="Text 3"/>
          <p:cNvSpPr txBox="1"/>
          <p:nvPr/>
        </p:nvSpPr>
        <p:spPr>
          <a:xfrm>
            <a:off x="731520" y="4023360"/>
            <a:ext cx="2651760" cy="365760"/>
          </a:xfrm>
          <a:prstGeom prst="rect">
            <a:avLst/>
          </a:prstGeom>
          <a:noFill/>
          <a:ln/>
        </p:spPr>
        <p:txBody>
          <a:bodyPr wrap="square" lIns="0" tIns="0" rIns="0" bIns="0" rtlCol="0" anchor="t"/>
          <a:lstStyle/>
          <a:p>
            <a:pPr marL="0" indent="0" algn="ctr">
              <a:buNone/>
            </a:pPr>
            <a:r>
              <a:rPr lang="en-US" sz="1400" i="1" dirty="0">
                <a:solidFill>
                  <a:schemeClr val="accent1"/>
                </a:solidFill>
              </a:rPr>
              <a:t>A fantasy adventure</a:t>
            </a:r>
            <a:endParaRPr lang="en-US" sz="1400" dirty="0"/>
          </a:p>
        </p:txBody>
      </p:sp>
      <p:sp>
        <p:nvSpPr>
          <p:cNvPr id="8" name="card"/>
          <p:cNvSpPr/>
          <p:nvPr/>
        </p:nvSpPr>
        <p:spPr>
          <a:xfrm>
            <a:off x="3931920" y="1143000"/>
            <a:ext cx="4663440" cy="1051560"/>
          </a:xfrm>
          <a:prstGeom prst="roundRect">
            <a:avLst>
              <a:gd name="adj" fmla="val 10435"/>
            </a:avLst>
          </a:prstGeom>
          <a:solidFill>
            <a:schemeClr val="bg2"/>
          </a:solidFill>
          <a:ln w="12700">
            <a:solidFill>
              <a:schemeClr val="bg2"/>
            </a:solidFill>
            <a:prstDash val="solid"/>
          </a:ln>
        </p:spPr>
      </p:sp>
      <p:sp>
        <p:nvSpPr>
          <p:cNvPr id="9" name="badge"/>
          <p:cNvSpPr/>
          <p:nvPr/>
        </p:nvSpPr>
        <p:spPr>
          <a:xfrm>
            <a:off x="4069080" y="1325880"/>
            <a:ext cx="685800" cy="685800"/>
          </a:xfrm>
          <a:prstGeom prst="ellipse">
            <a:avLst/>
          </a:prstGeom>
          <a:solidFill>
            <a:schemeClr val="accent4"/>
          </a:solidFill>
          <a:ln w="12700">
            <a:solidFill>
              <a:schemeClr val="accent4"/>
            </a:solidFill>
            <a:prstDash val="solid"/>
          </a:ln>
        </p:spPr>
      </p:sp>
      <p:pic>
        <p:nvPicPr>
          <p:cNvPr id="10" name="icon" descr="eye"/>
          <p:cNvPicPr>
            <a:picLocks noChangeAspect="1"/>
          </p:cNvPicPr>
          <p:nvPr/>
        </p:nvPicPr>
        <p:blipFill>
          <a:blip r:embed="rId4"/>
          <a:stretch>
            <a:fillRect/>
          </a:stretch>
        </p:blipFill>
        <p:spPr>
          <a:xfrm>
            <a:off x="4247388" y="1504188"/>
            <a:ext cx="329184" cy="329184"/>
          </a:xfrm>
          <a:prstGeom prst="rect">
            <a:avLst/>
          </a:prstGeom>
        </p:spPr>
      </p:pic>
      <p:sp>
        <p:nvSpPr>
          <p:cNvPr id="11" name="Text 6"/>
          <p:cNvSpPr txBox="1"/>
          <p:nvPr/>
        </p:nvSpPr>
        <p:spPr>
          <a:xfrm>
            <a:off x="4937760" y="1234440"/>
            <a:ext cx="3474720" cy="868680"/>
          </a:xfrm>
          <a:prstGeom prst="rect">
            <a:avLst/>
          </a:prstGeom>
          <a:noFill/>
          <a:ln/>
        </p:spPr>
        <p:txBody>
          <a:bodyPr wrap="square" lIns="0" tIns="0" rIns="0" bIns="0" rtlCol="0" anchor="ctr"/>
          <a:lstStyle/>
          <a:p>
            <a:pPr marL="0" indent="0">
              <a:buNone/>
            </a:pPr>
            <a:r>
              <a:rPr lang="en-US" sz="1600" dirty="0">
                <a:solidFill>
                  <a:schemeClr val="tx1"/>
                </a:solidFill>
              </a:rPr>
              <a:t>What type of text do you think this is? How do you know?</a:t>
            </a:r>
            <a:endParaRPr lang="en-US" sz="1600" dirty="0"/>
          </a:p>
        </p:txBody>
      </p:sp>
      <p:sp>
        <p:nvSpPr>
          <p:cNvPr id="12" name="card"/>
          <p:cNvSpPr/>
          <p:nvPr/>
        </p:nvSpPr>
        <p:spPr>
          <a:xfrm>
            <a:off x="3931920" y="2331720"/>
            <a:ext cx="4663440" cy="1051560"/>
          </a:xfrm>
          <a:prstGeom prst="roundRect">
            <a:avLst>
              <a:gd name="adj" fmla="val 10435"/>
            </a:avLst>
          </a:prstGeom>
          <a:solidFill>
            <a:schemeClr val="bg2"/>
          </a:solidFill>
          <a:ln w="12700">
            <a:solidFill>
              <a:schemeClr val="bg2"/>
            </a:solidFill>
            <a:prstDash val="solid"/>
          </a:ln>
        </p:spPr>
      </p:sp>
      <p:sp>
        <p:nvSpPr>
          <p:cNvPr id="13" name="badge"/>
          <p:cNvSpPr/>
          <p:nvPr/>
        </p:nvSpPr>
        <p:spPr>
          <a:xfrm>
            <a:off x="4069080" y="2514600"/>
            <a:ext cx="685800" cy="685800"/>
          </a:xfrm>
          <a:prstGeom prst="ellipse">
            <a:avLst/>
          </a:prstGeom>
          <a:solidFill>
            <a:schemeClr val="accent2"/>
          </a:solidFill>
          <a:ln w="12700">
            <a:solidFill>
              <a:schemeClr val="accent2"/>
            </a:solidFill>
            <a:prstDash val="solid"/>
          </a:ln>
        </p:spPr>
      </p:sp>
      <p:pic>
        <p:nvPicPr>
          <p:cNvPr id="14" name="icon" descr="question"/>
          <p:cNvPicPr>
            <a:picLocks noChangeAspect="1"/>
          </p:cNvPicPr>
          <p:nvPr/>
        </p:nvPicPr>
        <p:blipFill>
          <a:blip r:embed="rId5"/>
          <a:stretch>
            <a:fillRect/>
          </a:stretch>
        </p:blipFill>
        <p:spPr>
          <a:xfrm>
            <a:off x="4247388" y="2692908"/>
            <a:ext cx="329184" cy="329184"/>
          </a:xfrm>
          <a:prstGeom prst="rect">
            <a:avLst/>
          </a:prstGeom>
        </p:spPr>
      </p:pic>
      <p:sp>
        <p:nvSpPr>
          <p:cNvPr id="15" name="Text 9"/>
          <p:cNvSpPr txBox="1"/>
          <p:nvPr/>
        </p:nvSpPr>
        <p:spPr>
          <a:xfrm>
            <a:off x="4937760" y="2423160"/>
            <a:ext cx="3474720" cy="868680"/>
          </a:xfrm>
          <a:prstGeom prst="rect">
            <a:avLst/>
          </a:prstGeom>
          <a:noFill/>
          <a:ln/>
        </p:spPr>
        <p:txBody>
          <a:bodyPr wrap="square" lIns="0" tIns="0" rIns="0" bIns="0" rtlCol="0" anchor="ctr"/>
          <a:lstStyle/>
          <a:p>
            <a:pPr marL="0" indent="0">
              <a:buNone/>
            </a:pPr>
            <a:r>
              <a:rPr lang="en-US" sz="1600" dirty="0">
                <a:solidFill>
                  <a:schemeClr val="tx1"/>
                </a:solidFill>
              </a:rPr>
              <a:t>What do you think the title means?</a:t>
            </a:r>
            <a:endParaRPr lang="en-US" sz="1600" dirty="0"/>
          </a:p>
        </p:txBody>
      </p:sp>
      <p:sp>
        <p:nvSpPr>
          <p:cNvPr id="16" name="card"/>
          <p:cNvSpPr/>
          <p:nvPr/>
        </p:nvSpPr>
        <p:spPr>
          <a:xfrm>
            <a:off x="3931920" y="3520440"/>
            <a:ext cx="4663440" cy="1051560"/>
          </a:xfrm>
          <a:prstGeom prst="roundRect">
            <a:avLst>
              <a:gd name="adj" fmla="val 10435"/>
            </a:avLst>
          </a:prstGeom>
          <a:solidFill>
            <a:schemeClr val="bg2"/>
          </a:solidFill>
          <a:ln w="12700">
            <a:solidFill>
              <a:schemeClr val="bg2"/>
            </a:solidFill>
            <a:prstDash val="solid"/>
          </a:ln>
        </p:spPr>
      </p:sp>
      <p:sp>
        <p:nvSpPr>
          <p:cNvPr id="17" name="badge"/>
          <p:cNvSpPr/>
          <p:nvPr/>
        </p:nvSpPr>
        <p:spPr>
          <a:xfrm>
            <a:off x="4069080" y="3703320"/>
            <a:ext cx="685800" cy="685800"/>
          </a:xfrm>
          <a:prstGeom prst="ellipse">
            <a:avLst/>
          </a:prstGeom>
          <a:solidFill>
            <a:schemeClr val="accent3"/>
          </a:solidFill>
          <a:ln w="12700">
            <a:solidFill>
              <a:schemeClr val="accent3"/>
            </a:solidFill>
            <a:prstDash val="solid"/>
          </a:ln>
        </p:spPr>
      </p:sp>
      <p:pic>
        <p:nvPicPr>
          <p:cNvPr id="18" name="icon" descr="key"/>
          <p:cNvPicPr>
            <a:picLocks noChangeAspect="1"/>
          </p:cNvPicPr>
          <p:nvPr/>
        </p:nvPicPr>
        <p:blipFill>
          <a:blip r:embed="rId6"/>
          <a:stretch>
            <a:fillRect/>
          </a:stretch>
        </p:blipFill>
        <p:spPr>
          <a:xfrm>
            <a:off x="4247388" y="3881628"/>
            <a:ext cx="329184" cy="329184"/>
          </a:xfrm>
          <a:prstGeom prst="rect">
            <a:avLst/>
          </a:prstGeom>
        </p:spPr>
      </p:pic>
      <p:sp>
        <p:nvSpPr>
          <p:cNvPr id="19" name="Text 12"/>
          <p:cNvSpPr txBox="1"/>
          <p:nvPr/>
        </p:nvSpPr>
        <p:spPr>
          <a:xfrm>
            <a:off x="4937760" y="3611880"/>
            <a:ext cx="3474720" cy="868680"/>
          </a:xfrm>
          <a:prstGeom prst="rect">
            <a:avLst/>
          </a:prstGeom>
          <a:noFill/>
          <a:ln/>
        </p:spPr>
        <p:txBody>
          <a:bodyPr wrap="square" lIns="0" tIns="0" rIns="0" bIns="0" rtlCol="0" anchor="ctr"/>
          <a:lstStyle/>
          <a:p>
            <a:pPr marL="0" indent="0">
              <a:buNone/>
            </a:pPr>
            <a:r>
              <a:rPr lang="en-US" sz="1600" dirty="0">
                <a:solidFill>
                  <a:schemeClr val="tx1"/>
                </a:solidFill>
              </a:rPr>
              <a:t>What clues does the cover give about the story?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Six words every reader needs</a:t>
            </a:r>
            <a:endParaRPr lang="en-US" sz="3000" dirty="0"/>
          </a:p>
        </p:txBody>
      </p:sp>
      <p:sp>
        <p:nvSpPr>
          <p:cNvPr id="4" name="card"/>
          <p:cNvSpPr/>
          <p:nvPr/>
        </p:nvSpPr>
        <p:spPr>
          <a:xfrm>
            <a:off x="548640" y="1143000"/>
            <a:ext cx="2560320" cy="164592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731520" y="1280160"/>
            <a:ext cx="2194560" cy="457200"/>
          </a:xfrm>
          <a:prstGeom prst="rect">
            <a:avLst/>
          </a:prstGeom>
          <a:noFill/>
          <a:ln/>
        </p:spPr>
        <p:txBody>
          <a:bodyPr wrap="square" lIns="0" tIns="0" rIns="0" bIns="0" rtlCol="0" anchor="t"/>
          <a:lstStyle/>
          <a:p>
            <a:pPr marL="0" indent="0">
              <a:buNone/>
            </a:pPr>
            <a:r>
              <a:rPr lang="en-US" sz="2200" b="1" dirty="0">
                <a:solidFill>
                  <a:schemeClr val="accent4"/>
                </a:solidFill>
              </a:rPr>
              <a:t>clue</a:t>
            </a:r>
            <a:endParaRPr lang="en-US" sz="2200" dirty="0"/>
          </a:p>
        </p:txBody>
      </p:sp>
      <p:sp>
        <p:nvSpPr>
          <p:cNvPr id="6" name="Text 3"/>
          <p:cNvSpPr txBox="1"/>
          <p:nvPr/>
        </p:nvSpPr>
        <p:spPr>
          <a:xfrm>
            <a:off x="731520" y="1828800"/>
            <a:ext cx="2194560" cy="868680"/>
          </a:xfrm>
          <a:prstGeom prst="rect">
            <a:avLst/>
          </a:prstGeom>
          <a:noFill/>
          <a:ln/>
        </p:spPr>
        <p:txBody>
          <a:bodyPr wrap="square" lIns="0" tIns="0" rIns="0" bIns="0" rtlCol="0" anchor="t"/>
          <a:lstStyle/>
          <a:p>
            <a:pPr marL="0" indent="0">
              <a:buNone/>
            </a:pPr>
            <a:r>
              <a:rPr lang="en-US" sz="1400" dirty="0">
                <a:solidFill>
                  <a:schemeClr val="tx1"/>
                </a:solidFill>
              </a:rPr>
              <a:t>A hint that helps you work something out</a:t>
            </a:r>
            <a:endParaRPr lang="en-US" sz="1400" dirty="0"/>
          </a:p>
        </p:txBody>
      </p:sp>
      <p:sp>
        <p:nvSpPr>
          <p:cNvPr id="7" name="card"/>
          <p:cNvSpPr/>
          <p:nvPr/>
        </p:nvSpPr>
        <p:spPr>
          <a:xfrm>
            <a:off x="3291840" y="1143000"/>
            <a:ext cx="2560320" cy="164592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3474720" y="1280160"/>
            <a:ext cx="2194560" cy="457200"/>
          </a:xfrm>
          <a:prstGeom prst="rect">
            <a:avLst/>
          </a:prstGeom>
          <a:noFill/>
          <a:ln/>
        </p:spPr>
        <p:txBody>
          <a:bodyPr wrap="square" lIns="0" tIns="0" rIns="0" bIns="0" rtlCol="0" anchor="t"/>
          <a:lstStyle/>
          <a:p>
            <a:pPr marL="0" indent="0">
              <a:buNone/>
            </a:pPr>
            <a:r>
              <a:rPr lang="en-US" sz="2200" b="1" dirty="0">
                <a:solidFill>
                  <a:schemeClr val="accent2"/>
                </a:solidFill>
              </a:rPr>
              <a:t>theme</a:t>
            </a:r>
            <a:endParaRPr lang="en-US" sz="2200" dirty="0"/>
          </a:p>
        </p:txBody>
      </p:sp>
      <p:sp>
        <p:nvSpPr>
          <p:cNvPr id="9" name="Text 6"/>
          <p:cNvSpPr txBox="1"/>
          <p:nvPr/>
        </p:nvSpPr>
        <p:spPr>
          <a:xfrm>
            <a:off x="3474720" y="1828800"/>
            <a:ext cx="2194560" cy="868680"/>
          </a:xfrm>
          <a:prstGeom prst="rect">
            <a:avLst/>
          </a:prstGeom>
          <a:noFill/>
          <a:ln/>
        </p:spPr>
        <p:txBody>
          <a:bodyPr wrap="square" lIns="0" tIns="0" rIns="0" bIns="0" rtlCol="0" anchor="t"/>
          <a:lstStyle/>
          <a:p>
            <a:pPr marL="0" indent="0">
              <a:buNone/>
            </a:pPr>
            <a:r>
              <a:rPr lang="en-US" sz="1400" dirty="0">
                <a:solidFill>
                  <a:schemeClr val="tx1"/>
                </a:solidFill>
              </a:rPr>
              <a:t>The big idea behind a story, such as courage or trust</a:t>
            </a:r>
            <a:endParaRPr lang="en-US" sz="1400" dirty="0"/>
          </a:p>
        </p:txBody>
      </p:sp>
      <p:sp>
        <p:nvSpPr>
          <p:cNvPr id="10" name="card"/>
          <p:cNvSpPr/>
          <p:nvPr/>
        </p:nvSpPr>
        <p:spPr>
          <a:xfrm>
            <a:off x="6035040" y="1143000"/>
            <a:ext cx="2560320" cy="164592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6217920" y="1280160"/>
            <a:ext cx="2194560" cy="457200"/>
          </a:xfrm>
          <a:prstGeom prst="rect">
            <a:avLst/>
          </a:prstGeom>
          <a:noFill/>
          <a:ln/>
        </p:spPr>
        <p:txBody>
          <a:bodyPr wrap="square" lIns="0" tIns="0" rIns="0" bIns="0" rtlCol="0" anchor="t"/>
          <a:lstStyle/>
          <a:p>
            <a:pPr marL="0" indent="0">
              <a:buNone/>
            </a:pPr>
            <a:r>
              <a:rPr lang="en-US" sz="2200" b="1" dirty="0">
                <a:solidFill>
                  <a:schemeClr val="accent3"/>
                </a:solidFill>
              </a:rPr>
              <a:t>fantasy</a:t>
            </a:r>
            <a:endParaRPr lang="en-US" sz="2200" dirty="0"/>
          </a:p>
        </p:txBody>
      </p:sp>
      <p:sp>
        <p:nvSpPr>
          <p:cNvPr id="12" name="Text 9"/>
          <p:cNvSpPr txBox="1"/>
          <p:nvPr/>
        </p:nvSpPr>
        <p:spPr>
          <a:xfrm>
            <a:off x="6217920" y="1828800"/>
            <a:ext cx="2194560" cy="868680"/>
          </a:xfrm>
          <a:prstGeom prst="rect">
            <a:avLst/>
          </a:prstGeom>
          <a:noFill/>
          <a:ln/>
        </p:spPr>
        <p:txBody>
          <a:bodyPr wrap="square" lIns="0" tIns="0" rIns="0" bIns="0" rtlCol="0" anchor="t"/>
          <a:lstStyle/>
          <a:p>
            <a:pPr marL="0" indent="0">
              <a:buNone/>
            </a:pPr>
            <a:r>
              <a:rPr lang="en-US" sz="1400" dirty="0">
                <a:solidFill>
                  <a:schemeClr val="tx1"/>
                </a:solidFill>
              </a:rPr>
              <a:t>A story with magic, imaginary creatures or invented places</a:t>
            </a:r>
            <a:endParaRPr lang="en-US" sz="1400" dirty="0"/>
          </a:p>
        </p:txBody>
      </p:sp>
      <p:sp>
        <p:nvSpPr>
          <p:cNvPr id="13" name="card"/>
          <p:cNvSpPr/>
          <p:nvPr/>
        </p:nvSpPr>
        <p:spPr>
          <a:xfrm>
            <a:off x="548640" y="2926080"/>
            <a:ext cx="2560320" cy="164592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731520" y="3063240"/>
            <a:ext cx="2194560" cy="457200"/>
          </a:xfrm>
          <a:prstGeom prst="rect">
            <a:avLst/>
          </a:prstGeom>
          <a:noFill/>
          <a:ln/>
        </p:spPr>
        <p:txBody>
          <a:bodyPr wrap="square" lIns="0" tIns="0" rIns="0" bIns="0" rtlCol="0" anchor="t"/>
          <a:lstStyle/>
          <a:p>
            <a:pPr marL="0" indent="0">
              <a:buNone/>
            </a:pPr>
            <a:r>
              <a:rPr lang="en-US" sz="2200" b="1" dirty="0">
                <a:solidFill>
                  <a:schemeClr val="accent4"/>
                </a:solidFill>
              </a:rPr>
              <a:t>characters</a:t>
            </a:r>
            <a:endParaRPr lang="en-US" sz="2200" dirty="0"/>
          </a:p>
        </p:txBody>
      </p:sp>
      <p:sp>
        <p:nvSpPr>
          <p:cNvPr id="15" name="Text 12"/>
          <p:cNvSpPr txBox="1"/>
          <p:nvPr/>
        </p:nvSpPr>
        <p:spPr>
          <a:xfrm>
            <a:off x="731520" y="3611880"/>
            <a:ext cx="2194560" cy="868680"/>
          </a:xfrm>
          <a:prstGeom prst="rect">
            <a:avLst/>
          </a:prstGeom>
          <a:noFill/>
          <a:ln/>
        </p:spPr>
        <p:txBody>
          <a:bodyPr wrap="square" lIns="0" tIns="0" rIns="0" bIns="0" rtlCol="0" anchor="t"/>
          <a:lstStyle/>
          <a:p>
            <a:pPr marL="0" indent="0">
              <a:buNone/>
            </a:pPr>
            <a:r>
              <a:rPr lang="en-US" sz="1400" dirty="0">
                <a:solidFill>
                  <a:schemeClr val="tx1"/>
                </a:solidFill>
              </a:rPr>
              <a:t>The people or creatures in a story</a:t>
            </a:r>
            <a:endParaRPr lang="en-US" sz="1400" dirty="0"/>
          </a:p>
        </p:txBody>
      </p:sp>
      <p:sp>
        <p:nvSpPr>
          <p:cNvPr id="16" name="card"/>
          <p:cNvSpPr/>
          <p:nvPr/>
        </p:nvSpPr>
        <p:spPr>
          <a:xfrm>
            <a:off x="3291840" y="2926080"/>
            <a:ext cx="2560320" cy="1645920"/>
          </a:xfrm>
          <a:prstGeom prst="roundRect">
            <a:avLst>
              <a:gd name="adj" fmla="val 6667"/>
            </a:avLst>
          </a:prstGeom>
          <a:solidFill>
            <a:schemeClr val="bg2"/>
          </a:solidFill>
          <a:ln w="12700">
            <a:solidFill>
              <a:schemeClr val="bg2"/>
            </a:solidFill>
            <a:prstDash val="solid"/>
          </a:ln>
        </p:spPr>
      </p:sp>
      <p:sp>
        <p:nvSpPr>
          <p:cNvPr id="17" name="Text 14"/>
          <p:cNvSpPr txBox="1"/>
          <p:nvPr/>
        </p:nvSpPr>
        <p:spPr>
          <a:xfrm>
            <a:off x="3474720" y="3063240"/>
            <a:ext cx="2194560" cy="457200"/>
          </a:xfrm>
          <a:prstGeom prst="rect">
            <a:avLst/>
          </a:prstGeom>
          <a:noFill/>
          <a:ln/>
        </p:spPr>
        <p:txBody>
          <a:bodyPr wrap="square" lIns="0" tIns="0" rIns="0" bIns="0" rtlCol="0" anchor="t"/>
          <a:lstStyle/>
          <a:p>
            <a:pPr marL="0" indent="0">
              <a:buNone/>
            </a:pPr>
            <a:r>
              <a:rPr lang="en-US" sz="2200" b="1" dirty="0">
                <a:solidFill>
                  <a:schemeClr val="accent2"/>
                </a:solidFill>
              </a:rPr>
              <a:t>setting</a:t>
            </a:r>
            <a:endParaRPr lang="en-US" sz="2200" dirty="0"/>
          </a:p>
        </p:txBody>
      </p:sp>
      <p:sp>
        <p:nvSpPr>
          <p:cNvPr id="18" name="Text 15"/>
          <p:cNvSpPr txBox="1"/>
          <p:nvPr/>
        </p:nvSpPr>
        <p:spPr>
          <a:xfrm>
            <a:off x="3474720" y="3611880"/>
            <a:ext cx="2194560" cy="868680"/>
          </a:xfrm>
          <a:prstGeom prst="rect">
            <a:avLst/>
          </a:prstGeom>
          <a:noFill/>
          <a:ln/>
        </p:spPr>
        <p:txBody>
          <a:bodyPr wrap="square" lIns="0" tIns="0" rIns="0" bIns="0" rtlCol="0" anchor="t"/>
          <a:lstStyle/>
          <a:p>
            <a:pPr marL="0" indent="0">
              <a:buNone/>
            </a:pPr>
            <a:r>
              <a:rPr lang="en-US" sz="1400" dirty="0">
                <a:solidFill>
                  <a:schemeClr val="tx1"/>
                </a:solidFill>
              </a:rPr>
              <a:t>Where and when a story takes place</a:t>
            </a:r>
            <a:endParaRPr lang="en-US" sz="1400" dirty="0"/>
          </a:p>
        </p:txBody>
      </p:sp>
      <p:sp>
        <p:nvSpPr>
          <p:cNvPr id="19" name="card"/>
          <p:cNvSpPr/>
          <p:nvPr/>
        </p:nvSpPr>
        <p:spPr>
          <a:xfrm>
            <a:off x="6035040" y="2926080"/>
            <a:ext cx="2560320" cy="164592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217920" y="3063240"/>
            <a:ext cx="2194560" cy="457200"/>
          </a:xfrm>
          <a:prstGeom prst="rect">
            <a:avLst/>
          </a:prstGeom>
          <a:noFill/>
          <a:ln/>
        </p:spPr>
        <p:txBody>
          <a:bodyPr wrap="square" lIns="0" tIns="0" rIns="0" bIns="0" rtlCol="0" anchor="t"/>
          <a:lstStyle/>
          <a:p>
            <a:pPr marL="0" indent="0">
              <a:buNone/>
            </a:pPr>
            <a:r>
              <a:rPr lang="en-US" sz="2200" b="1" dirty="0">
                <a:solidFill>
                  <a:schemeClr val="accent3"/>
                </a:solidFill>
              </a:rPr>
              <a:t>question</a:t>
            </a:r>
            <a:endParaRPr lang="en-US" sz="2200" dirty="0"/>
          </a:p>
        </p:txBody>
      </p:sp>
      <p:sp>
        <p:nvSpPr>
          <p:cNvPr id="21" name="Text 18"/>
          <p:cNvSpPr txBox="1"/>
          <p:nvPr/>
        </p:nvSpPr>
        <p:spPr>
          <a:xfrm>
            <a:off x="6217920" y="3611880"/>
            <a:ext cx="2194560" cy="868680"/>
          </a:xfrm>
          <a:prstGeom prst="rect">
            <a:avLst/>
          </a:prstGeom>
          <a:noFill/>
          <a:ln/>
        </p:spPr>
        <p:txBody>
          <a:bodyPr wrap="square" lIns="0" tIns="0" rIns="0" bIns="0" rtlCol="0" anchor="t"/>
          <a:lstStyle/>
          <a:p>
            <a:pPr marL="0" indent="0">
              <a:buNone/>
            </a:pPr>
            <a:r>
              <a:rPr lang="en-US" sz="1400" dirty="0">
                <a:solidFill>
                  <a:schemeClr val="tx1"/>
                </a:solidFill>
              </a:rPr>
              <a:t>Something you ask because you want to find out more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What makes a story fantasy?</a:t>
            </a:r>
            <a:endParaRPr lang="en-US" sz="3000" dirty="0"/>
          </a:p>
        </p:txBody>
      </p:sp>
      <p:sp>
        <p:nvSpPr>
          <p:cNvPr id="4" name="card"/>
          <p:cNvSpPr/>
          <p:nvPr/>
        </p:nvSpPr>
        <p:spPr>
          <a:xfrm>
            <a:off x="548640" y="1188720"/>
            <a:ext cx="3931920" cy="1508760"/>
          </a:xfrm>
          <a:prstGeom prst="roundRect">
            <a:avLst>
              <a:gd name="adj" fmla="val 7273"/>
            </a:avLst>
          </a:prstGeom>
          <a:solidFill>
            <a:schemeClr val="bg2"/>
          </a:solidFill>
          <a:ln w="12700">
            <a:solidFill>
              <a:schemeClr val="bg2"/>
            </a:solidFill>
            <a:prstDash val="solid"/>
          </a:ln>
        </p:spPr>
      </p:sp>
      <p:sp>
        <p:nvSpPr>
          <p:cNvPr id="5" name="badge"/>
          <p:cNvSpPr/>
          <p:nvPr/>
        </p:nvSpPr>
        <p:spPr>
          <a:xfrm>
            <a:off x="777240" y="1508760"/>
            <a:ext cx="868680" cy="868680"/>
          </a:xfrm>
          <a:prstGeom prst="ellipse">
            <a:avLst/>
          </a:prstGeom>
          <a:solidFill>
            <a:schemeClr val="accent4"/>
          </a:solidFill>
          <a:ln w="12700">
            <a:solidFill>
              <a:schemeClr val="accent4"/>
            </a:solidFill>
            <a:prstDash val="solid"/>
          </a:ln>
        </p:spPr>
      </p:sp>
      <p:pic>
        <p:nvPicPr>
          <p:cNvPr id="6" name="icon" descr="dragon"/>
          <p:cNvPicPr>
            <a:picLocks noChangeAspect="1"/>
          </p:cNvPicPr>
          <p:nvPr/>
        </p:nvPicPr>
        <p:blipFill>
          <a:blip r:embed="rId3"/>
          <a:stretch>
            <a:fillRect/>
          </a:stretch>
        </p:blipFill>
        <p:spPr>
          <a:xfrm>
            <a:off x="1003097" y="1734617"/>
            <a:ext cx="416966" cy="416966"/>
          </a:xfrm>
          <a:prstGeom prst="rect">
            <a:avLst/>
          </a:prstGeom>
        </p:spPr>
      </p:pic>
      <p:sp>
        <p:nvSpPr>
          <p:cNvPr id="7" name="Text 3"/>
          <p:cNvSpPr txBox="1"/>
          <p:nvPr/>
        </p:nvSpPr>
        <p:spPr>
          <a:xfrm>
            <a:off x="1828800" y="137160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Magical or imaginary creatures</a:t>
            </a:r>
            <a:endParaRPr lang="en-US" sz="1800" dirty="0"/>
          </a:p>
        </p:txBody>
      </p:sp>
      <p:sp>
        <p:nvSpPr>
          <p:cNvPr id="8" name="card"/>
          <p:cNvSpPr/>
          <p:nvPr/>
        </p:nvSpPr>
        <p:spPr>
          <a:xfrm>
            <a:off x="4663440" y="1188720"/>
            <a:ext cx="3931920" cy="1508760"/>
          </a:xfrm>
          <a:prstGeom prst="roundRect">
            <a:avLst>
              <a:gd name="adj" fmla="val 7273"/>
            </a:avLst>
          </a:prstGeom>
          <a:solidFill>
            <a:schemeClr val="bg2"/>
          </a:solidFill>
          <a:ln w="12700">
            <a:solidFill>
              <a:schemeClr val="bg2"/>
            </a:solidFill>
            <a:prstDash val="solid"/>
          </a:ln>
        </p:spPr>
      </p:sp>
      <p:sp>
        <p:nvSpPr>
          <p:cNvPr id="9" name="badge"/>
          <p:cNvSpPr/>
          <p:nvPr/>
        </p:nvSpPr>
        <p:spPr>
          <a:xfrm>
            <a:off x="4892040" y="1508760"/>
            <a:ext cx="868680" cy="868680"/>
          </a:xfrm>
          <a:prstGeom prst="ellipse">
            <a:avLst/>
          </a:prstGeom>
          <a:solidFill>
            <a:schemeClr val="accent2"/>
          </a:solidFill>
          <a:ln w="12700">
            <a:solidFill>
              <a:schemeClr val="accent2"/>
            </a:solidFill>
            <a:prstDash val="solid"/>
          </a:ln>
        </p:spPr>
      </p:sp>
      <p:pic>
        <p:nvPicPr>
          <p:cNvPr id="10" name="icon" descr="castle"/>
          <p:cNvPicPr>
            <a:picLocks noChangeAspect="1"/>
          </p:cNvPicPr>
          <p:nvPr/>
        </p:nvPicPr>
        <p:blipFill>
          <a:blip r:embed="rId4"/>
          <a:stretch>
            <a:fillRect/>
          </a:stretch>
        </p:blipFill>
        <p:spPr>
          <a:xfrm>
            <a:off x="5117897" y="1734617"/>
            <a:ext cx="416966" cy="416966"/>
          </a:xfrm>
          <a:prstGeom prst="rect">
            <a:avLst/>
          </a:prstGeom>
        </p:spPr>
      </p:pic>
      <p:sp>
        <p:nvSpPr>
          <p:cNvPr id="11" name="Text 6"/>
          <p:cNvSpPr txBox="1"/>
          <p:nvPr/>
        </p:nvSpPr>
        <p:spPr>
          <a:xfrm>
            <a:off x="5943600" y="137160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Invented places and cities</a:t>
            </a:r>
            <a:endParaRPr lang="en-US" sz="1800" dirty="0"/>
          </a:p>
        </p:txBody>
      </p:sp>
      <p:sp>
        <p:nvSpPr>
          <p:cNvPr id="12" name="card"/>
          <p:cNvSpPr/>
          <p:nvPr/>
        </p:nvSpPr>
        <p:spPr>
          <a:xfrm>
            <a:off x="548640" y="2880360"/>
            <a:ext cx="3931920" cy="1508760"/>
          </a:xfrm>
          <a:prstGeom prst="roundRect">
            <a:avLst>
              <a:gd name="adj" fmla="val 7273"/>
            </a:avLst>
          </a:prstGeom>
          <a:solidFill>
            <a:schemeClr val="bg2"/>
          </a:solidFill>
          <a:ln w="12700">
            <a:solidFill>
              <a:schemeClr val="bg2"/>
            </a:solidFill>
            <a:prstDash val="solid"/>
          </a:ln>
        </p:spPr>
      </p:sp>
      <p:sp>
        <p:nvSpPr>
          <p:cNvPr id="13" name="badge"/>
          <p:cNvSpPr/>
          <p:nvPr/>
        </p:nvSpPr>
        <p:spPr>
          <a:xfrm>
            <a:off x="777240" y="3200400"/>
            <a:ext cx="868680" cy="868680"/>
          </a:xfrm>
          <a:prstGeom prst="ellipse">
            <a:avLst/>
          </a:prstGeom>
          <a:solidFill>
            <a:schemeClr val="accent3"/>
          </a:solidFill>
          <a:ln w="12700">
            <a:solidFill>
              <a:schemeClr val="accent3"/>
            </a:solidFill>
            <a:prstDash val="solid"/>
          </a:ln>
        </p:spPr>
      </p:sp>
      <p:pic>
        <p:nvPicPr>
          <p:cNvPr id="14" name="icon" descr="wand"/>
          <p:cNvPicPr>
            <a:picLocks noChangeAspect="1"/>
          </p:cNvPicPr>
          <p:nvPr/>
        </p:nvPicPr>
        <p:blipFill>
          <a:blip r:embed="rId5"/>
          <a:stretch>
            <a:fillRect/>
          </a:stretch>
        </p:blipFill>
        <p:spPr>
          <a:xfrm>
            <a:off x="1003097" y="3426257"/>
            <a:ext cx="416966" cy="416966"/>
          </a:xfrm>
          <a:prstGeom prst="rect">
            <a:avLst/>
          </a:prstGeom>
        </p:spPr>
      </p:pic>
      <p:sp>
        <p:nvSpPr>
          <p:cNvPr id="15" name="Text 9"/>
          <p:cNvSpPr txBox="1"/>
          <p:nvPr/>
        </p:nvSpPr>
        <p:spPr>
          <a:xfrm>
            <a:off x="1828800" y="306324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Magic, special objects or hidden powers</a:t>
            </a:r>
            <a:endParaRPr lang="en-US" sz="1800" dirty="0"/>
          </a:p>
        </p:txBody>
      </p:sp>
      <p:sp>
        <p:nvSpPr>
          <p:cNvPr id="16" name="card"/>
          <p:cNvSpPr/>
          <p:nvPr/>
        </p:nvSpPr>
        <p:spPr>
          <a:xfrm>
            <a:off x="4663440" y="2880360"/>
            <a:ext cx="3931920" cy="1508760"/>
          </a:xfrm>
          <a:prstGeom prst="roundRect">
            <a:avLst>
              <a:gd name="adj" fmla="val 7273"/>
            </a:avLst>
          </a:prstGeom>
          <a:solidFill>
            <a:schemeClr val="bg2"/>
          </a:solidFill>
          <a:ln w="12700">
            <a:solidFill>
              <a:schemeClr val="bg2"/>
            </a:solidFill>
            <a:prstDash val="solid"/>
          </a:ln>
        </p:spPr>
      </p:sp>
      <p:sp>
        <p:nvSpPr>
          <p:cNvPr id="17" name="badge"/>
          <p:cNvSpPr/>
          <p:nvPr/>
        </p:nvSpPr>
        <p:spPr>
          <a:xfrm>
            <a:off x="4892040" y="3200400"/>
            <a:ext cx="868680" cy="868680"/>
          </a:xfrm>
          <a:prstGeom prst="ellipse">
            <a:avLst/>
          </a:prstGeom>
          <a:solidFill>
            <a:schemeClr val="accent5"/>
          </a:solidFill>
          <a:ln w="12700">
            <a:solidFill>
              <a:schemeClr val="accent5"/>
            </a:solidFill>
            <a:prstDash val="solid"/>
          </a:ln>
        </p:spPr>
      </p:sp>
      <p:pic>
        <p:nvPicPr>
          <p:cNvPr id="18" name="icon" descr="compass"/>
          <p:cNvPicPr>
            <a:picLocks noChangeAspect="1"/>
          </p:cNvPicPr>
          <p:nvPr/>
        </p:nvPicPr>
        <p:blipFill>
          <a:blip r:embed="rId6"/>
          <a:stretch>
            <a:fillRect/>
          </a:stretch>
        </p:blipFill>
        <p:spPr>
          <a:xfrm>
            <a:off x="5117897" y="3426257"/>
            <a:ext cx="416966" cy="416966"/>
          </a:xfrm>
          <a:prstGeom prst="rect">
            <a:avLst/>
          </a:prstGeom>
        </p:spPr>
      </p:pic>
      <p:sp>
        <p:nvSpPr>
          <p:cNvPr id="19" name="Text 12"/>
          <p:cNvSpPr txBox="1"/>
          <p:nvPr/>
        </p:nvSpPr>
        <p:spPr>
          <a:xfrm>
            <a:off x="5943600" y="306324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A quest, a danger or a big problem to solve</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Theme: the big idea</a:t>
            </a:r>
            <a:endParaRPr lang="en-US" sz="3000" dirty="0"/>
          </a:p>
        </p:txBody>
      </p:sp>
      <p:sp>
        <p:nvSpPr>
          <p:cNvPr id="4" name="Text 1"/>
          <p:cNvSpPr txBox="1"/>
          <p:nvPr/>
        </p:nvSpPr>
        <p:spPr>
          <a:xfrm>
            <a:off x="548640" y="1143000"/>
            <a:ext cx="8046720" cy="548640"/>
          </a:xfrm>
          <a:prstGeom prst="rect">
            <a:avLst/>
          </a:prstGeom>
          <a:noFill/>
          <a:ln/>
        </p:spPr>
        <p:txBody>
          <a:bodyPr wrap="square" lIns="0" tIns="0" rIns="0" bIns="0" rtlCol="0" anchor="t"/>
          <a:lstStyle/>
          <a:p>
            <a:pPr marL="0" indent="0">
              <a:buNone/>
            </a:pPr>
            <a:r>
              <a:rPr lang="en-US" sz="1800" dirty="0">
                <a:solidFill>
                  <a:schemeClr val="tx1"/>
                </a:solidFill>
              </a:rPr>
              <a:t>A theme is not what happens. It is what the story is really about.</a:t>
            </a:r>
            <a:endParaRPr lang="en-US" sz="1800" dirty="0"/>
          </a:p>
        </p:txBody>
      </p:sp>
      <p:sp>
        <p:nvSpPr>
          <p:cNvPr id="5" name="theme chip"/>
          <p:cNvSpPr/>
          <p:nvPr/>
        </p:nvSpPr>
        <p:spPr>
          <a:xfrm>
            <a:off x="548640" y="1874520"/>
            <a:ext cx="2560320" cy="640080"/>
          </a:xfrm>
          <a:prstGeom prst="roundRect">
            <a:avLst>
              <a:gd name="adj" fmla="val 50000"/>
            </a:avLst>
          </a:prstGeom>
          <a:solidFill>
            <a:schemeClr val="accent4"/>
          </a:solidFill>
          <a:ln w="12700">
            <a:solidFill>
              <a:schemeClr val="bg1"/>
            </a:solidFill>
            <a:prstDash val="solid"/>
          </a:ln>
        </p:spPr>
      </p:sp>
      <p:sp>
        <p:nvSpPr>
          <p:cNvPr id="6" name="Text 3"/>
          <p:cNvSpPr txBox="1"/>
          <p:nvPr/>
        </p:nvSpPr>
        <p:spPr>
          <a:xfrm>
            <a:off x="548640" y="187452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courage</a:t>
            </a:r>
            <a:endParaRPr lang="en-US" sz="2000" dirty="0"/>
          </a:p>
        </p:txBody>
      </p:sp>
      <p:sp>
        <p:nvSpPr>
          <p:cNvPr id="7" name="theme chip"/>
          <p:cNvSpPr/>
          <p:nvPr/>
        </p:nvSpPr>
        <p:spPr>
          <a:xfrm>
            <a:off x="3291840" y="1874520"/>
            <a:ext cx="2560320" cy="640080"/>
          </a:xfrm>
          <a:prstGeom prst="roundRect">
            <a:avLst>
              <a:gd name="adj" fmla="val 50000"/>
            </a:avLst>
          </a:prstGeom>
          <a:solidFill>
            <a:schemeClr val="accent2"/>
          </a:solidFill>
          <a:ln w="12700">
            <a:solidFill>
              <a:schemeClr val="bg1"/>
            </a:solidFill>
            <a:prstDash val="solid"/>
          </a:ln>
        </p:spPr>
      </p:sp>
      <p:sp>
        <p:nvSpPr>
          <p:cNvPr id="8" name="Text 5"/>
          <p:cNvSpPr txBox="1"/>
          <p:nvPr/>
        </p:nvSpPr>
        <p:spPr>
          <a:xfrm>
            <a:off x="3291840" y="187452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friendship</a:t>
            </a:r>
            <a:endParaRPr lang="en-US" sz="2000" dirty="0"/>
          </a:p>
        </p:txBody>
      </p:sp>
      <p:sp>
        <p:nvSpPr>
          <p:cNvPr id="9" name="theme chip"/>
          <p:cNvSpPr/>
          <p:nvPr/>
        </p:nvSpPr>
        <p:spPr>
          <a:xfrm>
            <a:off x="6035040" y="1874520"/>
            <a:ext cx="2560320" cy="640080"/>
          </a:xfrm>
          <a:prstGeom prst="roundRect">
            <a:avLst>
              <a:gd name="adj" fmla="val 50000"/>
            </a:avLst>
          </a:prstGeom>
          <a:solidFill>
            <a:schemeClr val="accent3"/>
          </a:solidFill>
          <a:ln w="12700">
            <a:solidFill>
              <a:schemeClr val="bg1"/>
            </a:solidFill>
            <a:prstDash val="solid"/>
          </a:ln>
        </p:spPr>
      </p:sp>
      <p:sp>
        <p:nvSpPr>
          <p:cNvPr id="10" name="Text 7"/>
          <p:cNvSpPr txBox="1"/>
          <p:nvPr/>
        </p:nvSpPr>
        <p:spPr>
          <a:xfrm>
            <a:off x="6035040" y="187452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survival</a:t>
            </a:r>
            <a:endParaRPr lang="en-US" sz="2000" dirty="0"/>
          </a:p>
        </p:txBody>
      </p:sp>
      <p:sp>
        <p:nvSpPr>
          <p:cNvPr id="11" name="theme chip"/>
          <p:cNvSpPr/>
          <p:nvPr/>
        </p:nvSpPr>
        <p:spPr>
          <a:xfrm>
            <a:off x="548640" y="2697480"/>
            <a:ext cx="2560320" cy="640080"/>
          </a:xfrm>
          <a:prstGeom prst="roundRect">
            <a:avLst>
              <a:gd name="adj" fmla="val 50000"/>
            </a:avLst>
          </a:prstGeom>
          <a:solidFill>
            <a:schemeClr val="accent4"/>
          </a:solidFill>
          <a:ln w="12700">
            <a:solidFill>
              <a:schemeClr val="bg1"/>
            </a:solidFill>
            <a:prstDash val="solid"/>
          </a:ln>
        </p:spPr>
      </p:sp>
      <p:sp>
        <p:nvSpPr>
          <p:cNvPr id="12" name="Text 9"/>
          <p:cNvSpPr txBox="1"/>
          <p:nvPr/>
        </p:nvSpPr>
        <p:spPr>
          <a:xfrm>
            <a:off x="548640" y="269748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trust</a:t>
            </a:r>
            <a:endParaRPr lang="en-US" sz="2000" dirty="0"/>
          </a:p>
        </p:txBody>
      </p:sp>
      <p:sp>
        <p:nvSpPr>
          <p:cNvPr id="13" name="theme chip"/>
          <p:cNvSpPr/>
          <p:nvPr/>
        </p:nvSpPr>
        <p:spPr>
          <a:xfrm>
            <a:off x="3291840" y="2697480"/>
            <a:ext cx="2560320" cy="640080"/>
          </a:xfrm>
          <a:prstGeom prst="roundRect">
            <a:avLst>
              <a:gd name="adj" fmla="val 50000"/>
            </a:avLst>
          </a:prstGeom>
          <a:solidFill>
            <a:schemeClr val="accent2"/>
          </a:solidFill>
          <a:ln w="12700">
            <a:solidFill>
              <a:schemeClr val="bg1"/>
            </a:solidFill>
            <a:prstDash val="solid"/>
          </a:ln>
        </p:spPr>
      </p:sp>
      <p:sp>
        <p:nvSpPr>
          <p:cNvPr id="14" name="Text 11"/>
          <p:cNvSpPr txBox="1"/>
          <p:nvPr/>
        </p:nvSpPr>
        <p:spPr>
          <a:xfrm>
            <a:off x="3291840" y="269748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greed</a:t>
            </a:r>
            <a:endParaRPr lang="en-US" sz="2000" dirty="0"/>
          </a:p>
        </p:txBody>
      </p:sp>
      <p:sp>
        <p:nvSpPr>
          <p:cNvPr id="15" name="theme chip"/>
          <p:cNvSpPr/>
          <p:nvPr/>
        </p:nvSpPr>
        <p:spPr>
          <a:xfrm>
            <a:off x="6035040" y="2697480"/>
            <a:ext cx="2560320" cy="640080"/>
          </a:xfrm>
          <a:prstGeom prst="roundRect">
            <a:avLst>
              <a:gd name="adj" fmla="val 50000"/>
            </a:avLst>
          </a:prstGeom>
          <a:solidFill>
            <a:schemeClr val="accent3"/>
          </a:solidFill>
          <a:ln w="12700">
            <a:solidFill>
              <a:schemeClr val="bg1"/>
            </a:solidFill>
            <a:prstDash val="solid"/>
          </a:ln>
        </p:spPr>
      </p:sp>
      <p:sp>
        <p:nvSpPr>
          <p:cNvPr id="16" name="Text 13"/>
          <p:cNvSpPr txBox="1"/>
          <p:nvPr/>
        </p:nvSpPr>
        <p:spPr>
          <a:xfrm>
            <a:off x="6035040" y="2697480"/>
            <a:ext cx="2560320" cy="640080"/>
          </a:xfrm>
          <a:prstGeom prst="rect">
            <a:avLst/>
          </a:prstGeom>
          <a:noFill/>
          <a:ln/>
        </p:spPr>
        <p:txBody>
          <a:bodyPr wrap="square" lIns="0" tIns="0" rIns="0" bIns="0" rtlCol="0" anchor="ctr"/>
          <a:lstStyle/>
          <a:p>
            <a:pPr marL="0" indent="0" algn="ctr">
              <a:buNone/>
            </a:pPr>
            <a:r>
              <a:rPr lang="en-US" sz="2000" b="1" dirty="0">
                <a:solidFill>
                  <a:schemeClr val="bg1"/>
                </a:solidFill>
              </a:rPr>
              <a:t>hope</a:t>
            </a:r>
            <a:endParaRPr lang="en-US" sz="2000" dirty="0"/>
          </a:p>
        </p:txBody>
      </p:sp>
      <p:sp>
        <p:nvSpPr>
          <p:cNvPr id="17" name="card"/>
          <p:cNvSpPr/>
          <p:nvPr/>
        </p:nvSpPr>
        <p:spPr>
          <a:xfrm>
            <a:off x="548640" y="3611880"/>
            <a:ext cx="8046720" cy="960120"/>
          </a:xfrm>
          <a:prstGeom prst="roundRect">
            <a:avLst>
              <a:gd name="adj" fmla="val 11429"/>
            </a:avLst>
          </a:prstGeom>
          <a:solidFill>
            <a:schemeClr val="accent1"/>
          </a:solidFill>
          <a:ln w="12700">
            <a:solidFill>
              <a:schemeClr val="accent1"/>
            </a:solidFill>
            <a:prstDash val="solid"/>
          </a:ln>
        </p:spPr>
      </p:sp>
      <p:sp>
        <p:nvSpPr>
          <p:cNvPr id="18" name="badge"/>
          <p:cNvSpPr/>
          <p:nvPr/>
        </p:nvSpPr>
        <p:spPr>
          <a:xfrm>
            <a:off x="731520" y="3749040"/>
            <a:ext cx="685800" cy="685800"/>
          </a:xfrm>
          <a:prstGeom prst="ellipse">
            <a:avLst/>
          </a:prstGeom>
          <a:solidFill>
            <a:schemeClr val="tx1"/>
          </a:solidFill>
          <a:ln w="12700">
            <a:solidFill>
              <a:schemeClr val="tx1"/>
            </a:solidFill>
            <a:prstDash val="solid"/>
          </a:ln>
        </p:spPr>
      </p:sp>
      <p:pic>
        <p:nvPicPr>
          <p:cNvPr id="19" name="icon" descr="question"/>
          <p:cNvPicPr>
            <a:picLocks noChangeAspect="1"/>
          </p:cNvPicPr>
          <p:nvPr/>
        </p:nvPicPr>
        <p:blipFill>
          <a:blip r:embed="rId3"/>
          <a:stretch>
            <a:fillRect/>
          </a:stretch>
        </p:blipFill>
        <p:spPr>
          <a:xfrm>
            <a:off x="909828" y="3927348"/>
            <a:ext cx="329184" cy="329184"/>
          </a:xfrm>
          <a:prstGeom prst="rect">
            <a:avLst/>
          </a:prstGeom>
        </p:spPr>
      </p:pic>
      <p:sp>
        <p:nvSpPr>
          <p:cNvPr id="20" name="Text 16"/>
          <p:cNvSpPr txBox="1"/>
          <p:nvPr/>
        </p:nvSpPr>
        <p:spPr>
          <a:xfrm>
            <a:off x="1600200" y="3657600"/>
            <a:ext cx="6766560" cy="868680"/>
          </a:xfrm>
          <a:prstGeom prst="rect">
            <a:avLst/>
          </a:prstGeom>
          <a:noFill/>
          <a:ln/>
        </p:spPr>
        <p:txBody>
          <a:bodyPr wrap="square" lIns="0" tIns="0" rIns="0" bIns="0" rtlCol="0" anchor="ctr"/>
          <a:lstStyle/>
          <a:p>
            <a:pPr marL="0" indent="0">
              <a:buNone/>
            </a:pPr>
            <a:r>
              <a:rPr lang="en-US" sz="1700" b="1" dirty="0">
                <a:solidFill>
                  <a:schemeClr val="tx1"/>
                </a:solidFill>
              </a:rPr>
              <a:t>Which themes might fit a story about a lost city? Add your ideas to the Learning Wall.</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lIns="0" tIns="0" rIns="0" bIns="0" rtlCol="0" anchor="ctr"/>
          <a:lstStyle/>
          <a:p>
            <a:pPr marL="0" indent="0" algn="l">
              <a:buNone/>
            </a:pPr>
            <a:r>
              <a:rPr lang="en-US" sz="4000" b="1" dirty="0">
                <a:solidFill>
                  <a:schemeClr val="bg1"/>
                </a:solidFill>
              </a:rPr>
              <a:t>Time to read</a:t>
            </a: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lIns="0" tIns="0" rIns="0" bIns="0" rtlCol="0" anchor="t"/>
          <a:lstStyle/>
          <a:p>
            <a:pPr marL="0" indent="0">
              <a:buNone/>
            </a:pPr>
            <a:r>
              <a:rPr lang="en-US" sz="1800" dirty="0">
                <a:solidFill>
                  <a:schemeClr val="accent1"/>
                </a:solidFill>
              </a:rPr>
              <a:t>Be a Word Detective: hunt for tricky words and clues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Word Detective method</a:t>
            </a:r>
            <a:endParaRPr lang="en-US" sz="3000" dirty="0"/>
          </a:p>
        </p:txBody>
      </p:sp>
      <p:sp>
        <p:nvSpPr>
          <p:cNvPr id="4" name="card"/>
          <p:cNvSpPr/>
          <p:nvPr/>
        </p:nvSpPr>
        <p:spPr>
          <a:xfrm>
            <a:off x="548640" y="1188720"/>
            <a:ext cx="1920240" cy="3246120"/>
          </a:xfrm>
          <a:prstGeom prst="roundRect">
            <a:avLst>
              <a:gd name="adj" fmla="val 5714"/>
            </a:avLst>
          </a:prstGeom>
          <a:solidFill>
            <a:schemeClr val="bg2"/>
          </a:solidFill>
          <a:ln w="12700">
            <a:solidFill>
              <a:schemeClr val="bg2"/>
            </a:solidFill>
            <a:prstDash val="solid"/>
          </a:ln>
        </p:spPr>
      </p:sp>
      <p:sp>
        <p:nvSpPr>
          <p:cNvPr id="5" name="step number"/>
          <p:cNvSpPr/>
          <p:nvPr/>
        </p:nvSpPr>
        <p:spPr>
          <a:xfrm>
            <a:off x="1143000" y="1371600"/>
            <a:ext cx="731520" cy="731520"/>
          </a:xfrm>
          <a:prstGeom prst="ellipse">
            <a:avLst/>
          </a:prstGeom>
          <a:solidFill>
            <a:schemeClr val="accent4"/>
          </a:solidFill>
          <a:ln w="12700">
            <a:solidFill>
              <a:schemeClr val="accent4"/>
            </a:solidFill>
            <a:prstDash val="solid"/>
          </a:ln>
        </p:spPr>
      </p:sp>
      <p:sp>
        <p:nvSpPr>
          <p:cNvPr id="6" name="Text 3"/>
          <p:cNvSpPr txBox="1"/>
          <p:nvPr/>
        </p:nvSpPr>
        <p:spPr>
          <a:xfrm>
            <a:off x="114300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1</a:t>
            </a:r>
            <a:endParaRPr lang="en-US" sz="2800" dirty="0"/>
          </a:p>
        </p:txBody>
      </p:sp>
      <p:sp>
        <p:nvSpPr>
          <p:cNvPr id="7" name="Text 4"/>
          <p:cNvSpPr txBox="1"/>
          <p:nvPr/>
        </p:nvSpPr>
        <p:spPr>
          <a:xfrm>
            <a:off x="685800" y="2286000"/>
            <a:ext cx="1645920" cy="457200"/>
          </a:xfrm>
          <a:prstGeom prst="rect">
            <a:avLst/>
          </a:prstGeom>
          <a:noFill/>
          <a:ln/>
        </p:spPr>
        <p:txBody>
          <a:bodyPr wrap="square" lIns="0" tIns="0" rIns="0" bIns="0" rtlCol="0" anchor="t"/>
          <a:lstStyle/>
          <a:p>
            <a:pPr marL="0" indent="0" algn="ctr">
              <a:buNone/>
            </a:pPr>
            <a:r>
              <a:rPr lang="en-US" sz="2000" b="1" dirty="0">
                <a:solidFill>
                  <a:schemeClr val="tx1"/>
                </a:solidFill>
              </a:rPr>
              <a:t>Read on</a:t>
            </a:r>
            <a:endParaRPr lang="en-US" sz="2000" dirty="0"/>
          </a:p>
        </p:txBody>
      </p:sp>
      <p:sp>
        <p:nvSpPr>
          <p:cNvPr id="8" name="Text 5"/>
          <p:cNvSpPr txBox="1"/>
          <p:nvPr/>
        </p:nvSpPr>
        <p:spPr>
          <a:xfrm>
            <a:off x="685800" y="2834640"/>
            <a:ext cx="1645920" cy="1463040"/>
          </a:xfrm>
          <a:prstGeom prst="rect">
            <a:avLst/>
          </a:prstGeom>
          <a:noFill/>
          <a:ln/>
        </p:spPr>
        <p:txBody>
          <a:bodyPr wrap="square" lIns="0" tIns="0" rIns="0" bIns="0" rtlCol="0" anchor="t"/>
          <a:lstStyle/>
          <a:p>
            <a:pPr marL="0" indent="0" algn="ctr">
              <a:buNone/>
            </a:pPr>
            <a:r>
              <a:rPr lang="en-US" sz="1400" dirty="0">
                <a:solidFill>
                  <a:schemeClr val="tx1"/>
                </a:solidFill>
              </a:rPr>
              <a:t>Read the whole sentence and the one after it. Look for clues.</a:t>
            </a:r>
            <a:endParaRPr lang="en-US" sz="1400" dirty="0"/>
          </a:p>
        </p:txBody>
      </p:sp>
      <p:sp>
        <p:nvSpPr>
          <p:cNvPr id="9" name="card"/>
          <p:cNvSpPr/>
          <p:nvPr/>
        </p:nvSpPr>
        <p:spPr>
          <a:xfrm>
            <a:off x="2606040" y="1188720"/>
            <a:ext cx="1920240" cy="3246120"/>
          </a:xfrm>
          <a:prstGeom prst="roundRect">
            <a:avLst>
              <a:gd name="adj" fmla="val 5714"/>
            </a:avLst>
          </a:prstGeom>
          <a:solidFill>
            <a:schemeClr val="bg2"/>
          </a:solidFill>
          <a:ln w="12700">
            <a:solidFill>
              <a:schemeClr val="bg2"/>
            </a:solidFill>
            <a:prstDash val="solid"/>
          </a:ln>
        </p:spPr>
      </p:sp>
      <p:sp>
        <p:nvSpPr>
          <p:cNvPr id="10" name="step number"/>
          <p:cNvSpPr/>
          <p:nvPr/>
        </p:nvSpPr>
        <p:spPr>
          <a:xfrm>
            <a:off x="3200400" y="1371600"/>
            <a:ext cx="731520" cy="731520"/>
          </a:xfrm>
          <a:prstGeom prst="ellipse">
            <a:avLst/>
          </a:prstGeom>
          <a:solidFill>
            <a:schemeClr val="accent2"/>
          </a:solidFill>
          <a:ln w="12700">
            <a:solidFill>
              <a:schemeClr val="accent2"/>
            </a:solidFill>
            <a:prstDash val="solid"/>
          </a:ln>
        </p:spPr>
      </p:sp>
      <p:sp>
        <p:nvSpPr>
          <p:cNvPr id="11" name="Text 8"/>
          <p:cNvSpPr txBox="1"/>
          <p:nvPr/>
        </p:nvSpPr>
        <p:spPr>
          <a:xfrm>
            <a:off x="320040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2" name="Text 9"/>
          <p:cNvSpPr txBox="1"/>
          <p:nvPr/>
        </p:nvSpPr>
        <p:spPr>
          <a:xfrm>
            <a:off x="2743200" y="2286000"/>
            <a:ext cx="1645920" cy="457200"/>
          </a:xfrm>
          <a:prstGeom prst="rect">
            <a:avLst/>
          </a:prstGeom>
          <a:noFill/>
          <a:ln/>
        </p:spPr>
        <p:txBody>
          <a:bodyPr wrap="square" lIns="0" tIns="0" rIns="0" bIns="0" rtlCol="0" anchor="t"/>
          <a:lstStyle/>
          <a:p>
            <a:pPr marL="0" indent="0" algn="ctr">
              <a:buNone/>
            </a:pPr>
            <a:r>
              <a:rPr lang="en-US" sz="2000" b="1" dirty="0">
                <a:solidFill>
                  <a:schemeClr val="tx1"/>
                </a:solidFill>
              </a:rPr>
              <a:t>Look inside</a:t>
            </a:r>
            <a:endParaRPr lang="en-US" sz="2000" dirty="0"/>
          </a:p>
        </p:txBody>
      </p:sp>
      <p:sp>
        <p:nvSpPr>
          <p:cNvPr id="13" name="Text 10"/>
          <p:cNvSpPr txBox="1"/>
          <p:nvPr/>
        </p:nvSpPr>
        <p:spPr>
          <a:xfrm>
            <a:off x="2743200" y="2834640"/>
            <a:ext cx="1645920" cy="1463040"/>
          </a:xfrm>
          <a:prstGeom prst="rect">
            <a:avLst/>
          </a:prstGeom>
          <a:noFill/>
          <a:ln/>
        </p:spPr>
        <p:txBody>
          <a:bodyPr wrap="square" lIns="0" tIns="0" rIns="0" bIns="0" rtlCol="0" anchor="t"/>
          <a:lstStyle/>
          <a:p>
            <a:pPr marL="0" indent="0" algn="ctr">
              <a:buNone/>
            </a:pPr>
            <a:r>
              <a:rPr lang="en-US" sz="1400" dirty="0">
                <a:solidFill>
                  <a:schemeClr val="tx1"/>
                </a:solidFill>
              </a:rPr>
              <a:t>Find a root word, prefix or suffix you know.</a:t>
            </a:r>
            <a:endParaRPr lang="en-US" sz="1400" dirty="0"/>
          </a:p>
        </p:txBody>
      </p:sp>
      <p:sp>
        <p:nvSpPr>
          <p:cNvPr id="14" name="card"/>
          <p:cNvSpPr/>
          <p:nvPr/>
        </p:nvSpPr>
        <p:spPr>
          <a:xfrm>
            <a:off x="4663440" y="1188720"/>
            <a:ext cx="1920240" cy="3246120"/>
          </a:xfrm>
          <a:prstGeom prst="roundRect">
            <a:avLst>
              <a:gd name="adj" fmla="val 5714"/>
            </a:avLst>
          </a:prstGeom>
          <a:solidFill>
            <a:schemeClr val="bg2"/>
          </a:solidFill>
          <a:ln w="12700">
            <a:solidFill>
              <a:schemeClr val="bg2"/>
            </a:solidFill>
            <a:prstDash val="solid"/>
          </a:ln>
        </p:spPr>
      </p:sp>
      <p:sp>
        <p:nvSpPr>
          <p:cNvPr id="15" name="step number"/>
          <p:cNvSpPr/>
          <p:nvPr/>
        </p:nvSpPr>
        <p:spPr>
          <a:xfrm>
            <a:off x="5257800" y="1371600"/>
            <a:ext cx="731520" cy="731520"/>
          </a:xfrm>
          <a:prstGeom prst="ellipse">
            <a:avLst/>
          </a:prstGeom>
          <a:solidFill>
            <a:schemeClr val="accent3"/>
          </a:solidFill>
          <a:ln w="12700">
            <a:solidFill>
              <a:schemeClr val="accent3"/>
            </a:solidFill>
            <a:prstDash val="solid"/>
          </a:ln>
        </p:spPr>
      </p:sp>
      <p:sp>
        <p:nvSpPr>
          <p:cNvPr id="16" name="Text 13"/>
          <p:cNvSpPr txBox="1"/>
          <p:nvPr/>
        </p:nvSpPr>
        <p:spPr>
          <a:xfrm>
            <a:off x="525780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4800600" y="2286000"/>
            <a:ext cx="1645920" cy="457200"/>
          </a:xfrm>
          <a:prstGeom prst="rect">
            <a:avLst/>
          </a:prstGeom>
          <a:noFill/>
          <a:ln/>
        </p:spPr>
        <p:txBody>
          <a:bodyPr wrap="square" lIns="0" tIns="0" rIns="0" bIns="0" rtlCol="0" anchor="t"/>
          <a:lstStyle/>
          <a:p>
            <a:pPr marL="0" indent="0" algn="ctr">
              <a:buNone/>
            </a:pPr>
            <a:r>
              <a:rPr lang="en-US" sz="2000" b="1" dirty="0">
                <a:solidFill>
                  <a:schemeClr val="tx1"/>
                </a:solidFill>
              </a:rPr>
              <a:t>Think</a:t>
            </a:r>
            <a:endParaRPr lang="en-US" sz="2000" dirty="0"/>
          </a:p>
        </p:txBody>
      </p:sp>
      <p:sp>
        <p:nvSpPr>
          <p:cNvPr id="18" name="Text 15"/>
          <p:cNvSpPr txBox="1"/>
          <p:nvPr/>
        </p:nvSpPr>
        <p:spPr>
          <a:xfrm>
            <a:off x="4800600" y="2834640"/>
            <a:ext cx="1645920" cy="1463040"/>
          </a:xfrm>
          <a:prstGeom prst="rect">
            <a:avLst/>
          </a:prstGeom>
          <a:noFill/>
          <a:ln/>
        </p:spPr>
        <p:txBody>
          <a:bodyPr wrap="square" lIns="0" tIns="0" rIns="0" bIns="0" rtlCol="0" anchor="t"/>
          <a:lstStyle/>
          <a:p>
            <a:pPr marL="0" indent="0" algn="ctr">
              <a:buNone/>
            </a:pPr>
            <a:r>
              <a:rPr lang="en-US" sz="1400" dirty="0">
                <a:solidFill>
                  <a:schemeClr val="tx1"/>
                </a:solidFill>
              </a:rPr>
              <a:t>Try a word that makes sense. Does the sentence still work?</a:t>
            </a:r>
            <a:endParaRPr lang="en-US" sz="1400" dirty="0"/>
          </a:p>
        </p:txBody>
      </p:sp>
      <p:sp>
        <p:nvSpPr>
          <p:cNvPr id="19" name="card"/>
          <p:cNvSpPr/>
          <p:nvPr/>
        </p:nvSpPr>
        <p:spPr>
          <a:xfrm>
            <a:off x="6720840" y="1188720"/>
            <a:ext cx="1920240" cy="3246120"/>
          </a:xfrm>
          <a:prstGeom prst="roundRect">
            <a:avLst>
              <a:gd name="adj" fmla="val 5714"/>
            </a:avLst>
          </a:prstGeom>
          <a:solidFill>
            <a:schemeClr val="bg2"/>
          </a:solidFill>
          <a:ln w="12700">
            <a:solidFill>
              <a:schemeClr val="bg2"/>
            </a:solidFill>
            <a:prstDash val="solid"/>
          </a:ln>
        </p:spPr>
      </p:sp>
      <p:sp>
        <p:nvSpPr>
          <p:cNvPr id="20" name="step number"/>
          <p:cNvSpPr/>
          <p:nvPr/>
        </p:nvSpPr>
        <p:spPr>
          <a:xfrm>
            <a:off x="7315200" y="1371600"/>
            <a:ext cx="731520" cy="731520"/>
          </a:xfrm>
          <a:prstGeom prst="ellipse">
            <a:avLst/>
          </a:prstGeom>
          <a:solidFill>
            <a:schemeClr val="accent5"/>
          </a:solidFill>
          <a:ln w="12700">
            <a:solidFill>
              <a:schemeClr val="accent5"/>
            </a:solidFill>
            <a:prstDash val="solid"/>
          </a:ln>
        </p:spPr>
      </p:sp>
      <p:sp>
        <p:nvSpPr>
          <p:cNvPr id="21" name="Text 18"/>
          <p:cNvSpPr txBox="1"/>
          <p:nvPr/>
        </p:nvSpPr>
        <p:spPr>
          <a:xfrm>
            <a:off x="7315200" y="137160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4</a:t>
            </a:r>
            <a:endParaRPr lang="en-US" sz="2800" dirty="0"/>
          </a:p>
        </p:txBody>
      </p:sp>
      <p:sp>
        <p:nvSpPr>
          <p:cNvPr id="22" name="Text 19"/>
          <p:cNvSpPr txBox="1"/>
          <p:nvPr/>
        </p:nvSpPr>
        <p:spPr>
          <a:xfrm>
            <a:off x="6858000" y="2286000"/>
            <a:ext cx="1645920" cy="457200"/>
          </a:xfrm>
          <a:prstGeom prst="rect">
            <a:avLst/>
          </a:prstGeom>
          <a:noFill/>
          <a:ln/>
        </p:spPr>
        <p:txBody>
          <a:bodyPr wrap="square" lIns="0" tIns="0" rIns="0" bIns="0" rtlCol="0" anchor="t"/>
          <a:lstStyle/>
          <a:p>
            <a:pPr marL="0" indent="0" algn="ctr">
              <a:buNone/>
            </a:pPr>
            <a:r>
              <a:rPr lang="en-US" sz="2000" b="1" dirty="0">
                <a:solidFill>
                  <a:schemeClr val="tx1"/>
                </a:solidFill>
              </a:rPr>
              <a:t>Check</a:t>
            </a:r>
            <a:endParaRPr lang="en-US" sz="2000" dirty="0"/>
          </a:p>
        </p:txBody>
      </p:sp>
      <p:sp>
        <p:nvSpPr>
          <p:cNvPr id="23" name="Text 20"/>
          <p:cNvSpPr txBox="1"/>
          <p:nvPr/>
        </p:nvSpPr>
        <p:spPr>
          <a:xfrm>
            <a:off x="6858000" y="2834640"/>
            <a:ext cx="1645920" cy="1463040"/>
          </a:xfrm>
          <a:prstGeom prst="rect">
            <a:avLst/>
          </a:prstGeom>
          <a:noFill/>
          <a:ln/>
        </p:spPr>
        <p:txBody>
          <a:bodyPr wrap="square" lIns="0" tIns="0" rIns="0" bIns="0" rtlCol="0" anchor="t"/>
          <a:lstStyle/>
          <a:p>
            <a:pPr marL="0" indent="0" algn="ctr">
              <a:buNone/>
            </a:pPr>
            <a:r>
              <a:rPr lang="en-US" sz="1400" dirty="0">
                <a:solidFill>
                  <a:schemeClr val="tx1"/>
                </a:solidFill>
              </a:rPr>
              <a:t>Ask your partner, then use a dictionary.</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Think-aloud: parched</a:t>
            </a:r>
            <a:endParaRPr lang="en-US" sz="3000" dirty="0"/>
          </a:p>
        </p:txBody>
      </p:sp>
      <p:sp>
        <p:nvSpPr>
          <p:cNvPr id="4" name="card"/>
          <p:cNvSpPr/>
          <p:nvPr/>
        </p:nvSpPr>
        <p:spPr>
          <a:xfrm>
            <a:off x="548640" y="1143000"/>
            <a:ext cx="8046720" cy="914400"/>
          </a:xfrm>
          <a:prstGeom prst="roundRect">
            <a:avLst>
              <a:gd name="adj" fmla="val 12000"/>
            </a:avLst>
          </a:prstGeom>
          <a:solidFill>
            <a:schemeClr val="bg2"/>
          </a:solidFill>
          <a:ln w="12700">
            <a:solidFill>
              <a:schemeClr val="bg2"/>
            </a:solidFill>
            <a:prstDash val="solid"/>
          </a:ln>
        </p:spPr>
      </p:sp>
      <p:sp>
        <p:nvSpPr>
          <p:cNvPr id="5" name="Text 2"/>
          <p:cNvSpPr txBox="1"/>
          <p:nvPr/>
        </p:nvSpPr>
        <p:spPr>
          <a:xfrm>
            <a:off x="777240" y="1188720"/>
            <a:ext cx="7589520" cy="822960"/>
          </a:xfrm>
          <a:prstGeom prst="rect">
            <a:avLst/>
          </a:prstGeom>
          <a:noFill/>
          <a:ln/>
        </p:spPr>
        <p:txBody>
          <a:bodyPr wrap="square" lIns="0" tIns="0" rIns="0" bIns="0" rtlCol="0" anchor="ctr"/>
          <a:lstStyle/>
          <a:p>
            <a:pPr marL="0" indent="0">
              <a:buNone/>
            </a:pPr>
            <a:r>
              <a:rPr lang="en-US" sz="1800" dirty="0">
                <a:solidFill>
                  <a:schemeClr val="tx1"/>
                </a:solidFill>
              </a:rPr>
              <a:t>Tamsin walked at the front, her throat </a:t>
            </a:r>
            <a:r>
              <a:rPr lang="en-US" sz="1800" b="1" dirty="0">
                <a:solidFill>
                  <a:schemeClr val="tx1"/>
                </a:solidFill>
                <a:highlight>
                  <a:srgbClr val="FFD27F"/>
                </a:highlight>
              </a:rPr>
              <a:t>parched</a:t>
            </a:r>
            <a:r>
              <a:rPr lang="en-US" sz="1800" dirty="0">
                <a:solidFill>
                  <a:schemeClr val="tx1"/>
                </a:solidFill>
              </a:rPr>
              <a:t> and her boots thick with dust.</a:t>
            </a:r>
            <a:endParaRPr lang="en-US" sz="1600" dirty="0"/>
          </a:p>
        </p:txBody>
      </p:sp>
      <p:sp>
        <p:nvSpPr>
          <p:cNvPr id="6" name="step label"/>
          <p:cNvSpPr/>
          <p:nvPr/>
        </p:nvSpPr>
        <p:spPr>
          <a:xfrm>
            <a:off x="548640" y="2240280"/>
            <a:ext cx="1737360" cy="502920"/>
          </a:xfrm>
          <a:prstGeom prst="roundRect">
            <a:avLst>
              <a:gd name="adj" fmla="val 18182"/>
            </a:avLst>
          </a:prstGeom>
          <a:solidFill>
            <a:schemeClr val="accent4"/>
          </a:solidFill>
          <a:ln w="12700">
            <a:solidFill>
              <a:schemeClr val="bg1"/>
            </a:solidFill>
            <a:prstDash val="solid"/>
          </a:ln>
        </p:spPr>
      </p:sp>
      <p:sp>
        <p:nvSpPr>
          <p:cNvPr id="7" name="Text 4"/>
          <p:cNvSpPr txBox="1"/>
          <p:nvPr/>
        </p:nvSpPr>
        <p:spPr>
          <a:xfrm>
            <a:off x="548640" y="2240280"/>
            <a:ext cx="1737360" cy="502920"/>
          </a:xfrm>
          <a:prstGeom prst="rect">
            <a:avLst/>
          </a:prstGeom>
          <a:noFill/>
          <a:ln/>
        </p:spPr>
        <p:txBody>
          <a:bodyPr wrap="square" lIns="0" tIns="0" rIns="0" bIns="0" rtlCol="0" anchor="ctr"/>
          <a:lstStyle/>
          <a:p>
            <a:pPr marL="0" indent="0" algn="ctr">
              <a:buNone/>
            </a:pPr>
            <a:r>
              <a:rPr lang="en-US" sz="1500" b="1" dirty="0">
                <a:solidFill>
                  <a:schemeClr val="bg1"/>
                </a:solidFill>
              </a:rPr>
              <a:t>Read on</a:t>
            </a:r>
            <a:endParaRPr lang="en-US" sz="1500" dirty="0"/>
          </a:p>
        </p:txBody>
      </p:sp>
      <p:sp>
        <p:nvSpPr>
          <p:cNvPr id="8" name="Text 5"/>
          <p:cNvSpPr txBox="1"/>
          <p:nvPr/>
        </p:nvSpPr>
        <p:spPr>
          <a:xfrm>
            <a:off x="2468880" y="2240280"/>
            <a:ext cx="6126480" cy="502920"/>
          </a:xfrm>
          <a:prstGeom prst="rect">
            <a:avLst/>
          </a:prstGeom>
          <a:noFill/>
          <a:ln/>
        </p:spPr>
        <p:txBody>
          <a:bodyPr wrap="square" lIns="0" tIns="0" rIns="0" bIns="0" rtlCol="0" anchor="ctr"/>
          <a:lstStyle/>
          <a:p>
            <a:pPr marL="0" indent="0">
              <a:buNone/>
            </a:pPr>
            <a:r>
              <a:rPr lang="en-US" sz="1600" dirty="0">
                <a:solidFill>
                  <a:schemeClr val="tx1"/>
                </a:solidFill>
              </a:rPr>
              <a:t>It is about a throat after a long walk in dust.</a:t>
            </a:r>
            <a:endParaRPr lang="en-US" sz="1600" dirty="0"/>
          </a:p>
        </p:txBody>
      </p:sp>
      <p:sp>
        <p:nvSpPr>
          <p:cNvPr id="9" name="step label"/>
          <p:cNvSpPr/>
          <p:nvPr/>
        </p:nvSpPr>
        <p:spPr>
          <a:xfrm>
            <a:off x="548640" y="2834640"/>
            <a:ext cx="1737360" cy="502920"/>
          </a:xfrm>
          <a:prstGeom prst="roundRect">
            <a:avLst>
              <a:gd name="adj" fmla="val 18182"/>
            </a:avLst>
          </a:prstGeom>
          <a:solidFill>
            <a:schemeClr val="accent2"/>
          </a:solidFill>
          <a:ln w="12700">
            <a:solidFill>
              <a:schemeClr val="bg1"/>
            </a:solidFill>
            <a:prstDash val="solid"/>
          </a:ln>
        </p:spPr>
      </p:sp>
      <p:sp>
        <p:nvSpPr>
          <p:cNvPr id="10" name="Text 7"/>
          <p:cNvSpPr txBox="1"/>
          <p:nvPr/>
        </p:nvSpPr>
        <p:spPr>
          <a:xfrm>
            <a:off x="548640" y="2834640"/>
            <a:ext cx="1737360" cy="502920"/>
          </a:xfrm>
          <a:prstGeom prst="rect">
            <a:avLst/>
          </a:prstGeom>
          <a:noFill/>
          <a:ln/>
        </p:spPr>
        <p:txBody>
          <a:bodyPr wrap="square" lIns="0" tIns="0" rIns="0" bIns="0" rtlCol="0" anchor="ctr"/>
          <a:lstStyle/>
          <a:p>
            <a:pPr marL="0" indent="0" algn="ctr">
              <a:buNone/>
            </a:pPr>
            <a:r>
              <a:rPr lang="en-US" sz="1500" b="1" dirty="0">
                <a:solidFill>
                  <a:schemeClr val="bg1"/>
                </a:solidFill>
              </a:rPr>
              <a:t>Look inside</a:t>
            </a:r>
            <a:endParaRPr lang="en-US" sz="1500" dirty="0"/>
          </a:p>
        </p:txBody>
      </p:sp>
      <p:sp>
        <p:nvSpPr>
          <p:cNvPr id="11" name="Text 8"/>
          <p:cNvSpPr txBox="1"/>
          <p:nvPr/>
        </p:nvSpPr>
        <p:spPr>
          <a:xfrm>
            <a:off x="2468880" y="2834640"/>
            <a:ext cx="6126480" cy="502920"/>
          </a:xfrm>
          <a:prstGeom prst="rect">
            <a:avLst/>
          </a:prstGeom>
          <a:noFill/>
          <a:ln/>
        </p:spPr>
        <p:txBody>
          <a:bodyPr wrap="square" lIns="0" tIns="0" rIns="0" bIns="0" rtlCol="0" anchor="ctr"/>
          <a:lstStyle/>
          <a:p>
            <a:pPr marL="0" indent="0">
              <a:buNone/>
            </a:pPr>
            <a:r>
              <a:rPr lang="en-US" sz="1600" dirty="0">
                <a:solidFill>
                  <a:schemeClr val="tx1"/>
                </a:solidFill>
              </a:rPr>
              <a:t>I do not know a root word here.</a:t>
            </a:r>
            <a:endParaRPr lang="en-US" sz="1600" dirty="0"/>
          </a:p>
        </p:txBody>
      </p:sp>
      <p:sp>
        <p:nvSpPr>
          <p:cNvPr id="12" name="step label"/>
          <p:cNvSpPr/>
          <p:nvPr/>
        </p:nvSpPr>
        <p:spPr>
          <a:xfrm>
            <a:off x="548640" y="3429000"/>
            <a:ext cx="1737360" cy="502920"/>
          </a:xfrm>
          <a:prstGeom prst="roundRect">
            <a:avLst>
              <a:gd name="adj" fmla="val 18182"/>
            </a:avLst>
          </a:prstGeom>
          <a:solidFill>
            <a:schemeClr val="accent3"/>
          </a:solidFill>
          <a:ln w="12700">
            <a:solidFill>
              <a:schemeClr val="bg1"/>
            </a:solidFill>
            <a:prstDash val="solid"/>
          </a:ln>
        </p:spPr>
      </p:sp>
      <p:sp>
        <p:nvSpPr>
          <p:cNvPr id="13" name="Text 10"/>
          <p:cNvSpPr txBox="1"/>
          <p:nvPr/>
        </p:nvSpPr>
        <p:spPr>
          <a:xfrm>
            <a:off x="548640" y="3429000"/>
            <a:ext cx="1737360" cy="502920"/>
          </a:xfrm>
          <a:prstGeom prst="rect">
            <a:avLst/>
          </a:prstGeom>
          <a:noFill/>
          <a:ln/>
        </p:spPr>
        <p:txBody>
          <a:bodyPr wrap="square" lIns="0" tIns="0" rIns="0" bIns="0" rtlCol="0" anchor="ctr"/>
          <a:lstStyle/>
          <a:p>
            <a:pPr marL="0" indent="0" algn="ctr">
              <a:buNone/>
            </a:pPr>
            <a:r>
              <a:rPr lang="en-US" sz="1500" b="1" dirty="0">
                <a:solidFill>
                  <a:schemeClr val="bg1"/>
                </a:solidFill>
              </a:rPr>
              <a:t>Think</a:t>
            </a:r>
            <a:endParaRPr lang="en-US" sz="1500" dirty="0"/>
          </a:p>
        </p:txBody>
      </p:sp>
      <p:sp>
        <p:nvSpPr>
          <p:cNvPr id="14" name="Text 11"/>
          <p:cNvSpPr txBox="1"/>
          <p:nvPr/>
        </p:nvSpPr>
        <p:spPr>
          <a:xfrm>
            <a:off x="2468880" y="3429000"/>
            <a:ext cx="6126480" cy="502920"/>
          </a:xfrm>
          <a:prstGeom prst="rect">
            <a:avLst/>
          </a:prstGeom>
          <a:noFill/>
          <a:ln/>
        </p:spPr>
        <p:txBody>
          <a:bodyPr wrap="square" lIns="0" tIns="0" rIns="0" bIns="0" rtlCol="0" anchor="ctr"/>
          <a:lstStyle/>
          <a:p>
            <a:pPr marL="0" indent="0">
              <a:buNone/>
            </a:pPr>
            <a:r>
              <a:rPr lang="en-US" sz="1600" dirty="0">
                <a:solidFill>
                  <a:schemeClr val="tx1"/>
                </a:solidFill>
              </a:rPr>
              <a:t>Dry? Thirsty? A dry, thirsty throat makes sense.</a:t>
            </a:r>
            <a:endParaRPr lang="en-US" sz="1600" dirty="0"/>
          </a:p>
        </p:txBody>
      </p:sp>
      <p:sp>
        <p:nvSpPr>
          <p:cNvPr id="15" name="step label"/>
          <p:cNvSpPr/>
          <p:nvPr/>
        </p:nvSpPr>
        <p:spPr>
          <a:xfrm>
            <a:off x="548640" y="4023360"/>
            <a:ext cx="1737360" cy="502920"/>
          </a:xfrm>
          <a:prstGeom prst="roundRect">
            <a:avLst>
              <a:gd name="adj" fmla="val 18182"/>
            </a:avLst>
          </a:prstGeom>
          <a:solidFill>
            <a:schemeClr val="accent5"/>
          </a:solidFill>
          <a:ln w="12700">
            <a:solidFill>
              <a:schemeClr val="bg1"/>
            </a:solidFill>
            <a:prstDash val="solid"/>
          </a:ln>
        </p:spPr>
      </p:sp>
      <p:sp>
        <p:nvSpPr>
          <p:cNvPr id="16" name="Text 13"/>
          <p:cNvSpPr txBox="1"/>
          <p:nvPr/>
        </p:nvSpPr>
        <p:spPr>
          <a:xfrm>
            <a:off x="548640" y="4023360"/>
            <a:ext cx="1737360" cy="502920"/>
          </a:xfrm>
          <a:prstGeom prst="rect">
            <a:avLst/>
          </a:prstGeom>
          <a:noFill/>
          <a:ln/>
        </p:spPr>
        <p:txBody>
          <a:bodyPr wrap="square" lIns="0" tIns="0" rIns="0" bIns="0" rtlCol="0" anchor="ctr"/>
          <a:lstStyle/>
          <a:p>
            <a:pPr marL="0" indent="0" algn="ctr">
              <a:buNone/>
            </a:pPr>
            <a:r>
              <a:rPr lang="en-US" sz="1500" b="1" dirty="0">
                <a:solidFill>
                  <a:schemeClr val="bg1"/>
                </a:solidFill>
              </a:rPr>
              <a:t>Check</a:t>
            </a:r>
            <a:endParaRPr lang="en-US" sz="1500" dirty="0"/>
          </a:p>
        </p:txBody>
      </p:sp>
      <p:sp>
        <p:nvSpPr>
          <p:cNvPr id="17" name="Text 14"/>
          <p:cNvSpPr txBox="1"/>
          <p:nvPr/>
        </p:nvSpPr>
        <p:spPr>
          <a:xfrm>
            <a:off x="2468880" y="4023360"/>
            <a:ext cx="6126480" cy="502920"/>
          </a:xfrm>
          <a:prstGeom prst="rect">
            <a:avLst/>
          </a:prstGeom>
          <a:noFill/>
          <a:ln/>
        </p:spPr>
        <p:txBody>
          <a:bodyPr wrap="square" lIns="0" tIns="0" rIns="0" bIns="0" rtlCol="0" anchor="ctr"/>
          <a:lstStyle/>
          <a:p>
            <a:pPr marL="0" indent="0">
              <a:buNone/>
            </a:pPr>
            <a:r>
              <a:rPr lang="en-US" sz="1600" dirty="0">
                <a:solidFill>
                  <a:schemeClr val="tx1"/>
                </a:solidFill>
              </a:rPr>
              <a:t>Parched means extremely dry, especially when you need water.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City That Waited: part 1</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234440"/>
            <a:ext cx="7589520" cy="3200400"/>
          </a:xfrm>
          <a:prstGeom prst="rect">
            <a:avLst/>
          </a:prstGeom>
          <a:noFill/>
          <a:ln/>
        </p:spPr>
        <p:txBody>
          <a:bodyPr wrap="square" lIns="0" tIns="0" rIns="0" bIns="0" rtlCol="0" anchor="ctr"/>
          <a:lstStyle/>
          <a:p>
            <a:pPr marL="0" indent="0">
              <a:spcAft>
                <a:spcPts val="800"/>
              </a:spcAft>
              <a:buNone/>
            </a:pPr>
            <a:r>
              <a:rPr lang="en-US" sz="1700" dirty="0">
                <a:solidFill>
                  <a:schemeClr val="tx1"/>
                </a:solidFill>
              </a:rPr>
              <a:t>The sun hung low and heavy over the Ashen Plain. The caravan of Orrin's people had been </a:t>
            </a:r>
            <a:r>
              <a:rPr lang="en-US" sz="1700" b="1" dirty="0">
                <a:solidFill>
                  <a:schemeClr val="tx1"/>
                </a:solidFill>
                <a:highlight>
                  <a:srgbClr val="FFD27F"/>
                </a:highlight>
              </a:rPr>
              <a:t>trekking</a:t>
            </a:r>
            <a:r>
              <a:rPr lang="en-US" sz="1700" dirty="0">
                <a:solidFill>
                  <a:schemeClr val="tx1"/>
                </a:solidFill>
              </a:rPr>
              <a:t> for eleven days.</a:t>
            </a:r>
            <a:endParaRPr lang="en-US" sz="1600" dirty="0"/>
          </a:p>
          <a:p>
            <a:pPr marL="0" indent="0">
              <a:spcAft>
                <a:spcPts val="800"/>
              </a:spcAft>
              <a:buNone/>
            </a:pPr>
            <a:r>
              <a:rPr lang="en-US" sz="1700" dirty="0">
                <a:solidFill>
                  <a:schemeClr val="tx1"/>
                </a:solidFill>
              </a:rPr>
              <a:t>Tamsin walked at the front beside her grandfather, her throat </a:t>
            </a:r>
            <a:r>
              <a:rPr lang="en-US" sz="1700" b="1" dirty="0">
                <a:solidFill>
                  <a:schemeClr val="tx1"/>
                </a:solidFill>
                <a:highlight>
                  <a:srgbClr val="FFD27F"/>
                </a:highlight>
              </a:rPr>
              <a:t>parched</a:t>
            </a:r>
            <a:r>
              <a:rPr lang="en-US" sz="1700" dirty="0">
                <a:solidFill>
                  <a:schemeClr val="tx1"/>
                </a:solidFill>
              </a:rPr>
              <a:t> and her boots thick with dust. Orrin carried a forked hazel stick, worn smooth by years of use. Everyone knew its secret: when water lay hidden beneath the ground, the stick twitched like a living thing.</a:t>
            </a:r>
            <a:endParaRPr lang="en-US" sz="1600" dirty="0"/>
          </a:p>
          <a:p>
            <a:pPr marL="0" indent="0">
              <a:spcAft>
                <a:spcPts val="800"/>
              </a:spcAft>
              <a:buNone/>
            </a:pPr>
            <a:r>
              <a:rPr lang="en-US" sz="1700" dirty="0">
                <a:solidFill>
                  <a:schemeClr val="tx1"/>
                </a:solidFill>
              </a:rPr>
              <a:t>"Not far now," Orrin murmured. "The stick is restless. We are close to a </a:t>
            </a:r>
            <a:r>
              <a:rPr lang="en-US" sz="1700" b="1" dirty="0">
                <a:solidFill>
                  <a:schemeClr val="tx1"/>
                </a:solidFill>
                <a:highlight>
                  <a:srgbClr val="FFD27F"/>
                </a:highlight>
              </a:rPr>
              <a:t>seep</a:t>
            </a:r>
            <a:r>
              <a:rPr lang="en-US" sz="1700" dirty="0">
                <a:solidFill>
                  <a:schemeClr val="tx1"/>
                </a:solidFill>
              </a:rPr>
              <a:t>."</a:t>
            </a:r>
            <a:endParaRPr lang="en-US" sz="1600" dirty="0"/>
          </a:p>
          <a:p>
            <a:pPr marL="0" indent="0">
              <a:spcAft>
                <a:spcPts val="800"/>
              </a:spcAft>
              <a:buNone/>
            </a:pPr>
            <a:r>
              <a:rPr lang="en-US" sz="1700" dirty="0">
                <a:solidFill>
                  <a:schemeClr val="tx1"/>
                </a:solidFill>
              </a:rPr>
              <a:t>Behind them, the </a:t>
            </a:r>
            <a:r>
              <a:rPr lang="en-US" sz="1700" b="1" dirty="0">
                <a:solidFill>
                  <a:schemeClr val="tx1"/>
                </a:solidFill>
                <a:highlight>
                  <a:srgbClr val="FFD27F"/>
                </a:highlight>
              </a:rPr>
              <a:t>dustwyrm</a:t>
            </a:r>
            <a:r>
              <a:rPr lang="en-US" sz="1700" dirty="0">
                <a:solidFill>
                  <a:schemeClr val="tx1"/>
                </a:solidFill>
              </a:rPr>
              <a:t> groaned. The great creature, as long as three carts and covered in scales the colour of rust, dragged the wagons across the cracked earth. It was growing weaker every day.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Stop and think</a:t>
            </a:r>
            <a:endParaRPr lang="en-US" sz="3000" dirty="0"/>
          </a:p>
        </p:txBody>
      </p:sp>
      <p:sp>
        <p:nvSpPr>
          <p:cNvPr id="4" name="card"/>
          <p:cNvSpPr/>
          <p:nvPr/>
        </p:nvSpPr>
        <p:spPr>
          <a:xfrm>
            <a:off x="548640" y="1143000"/>
            <a:ext cx="8046720" cy="731520"/>
          </a:xfrm>
          <a:prstGeom prst="roundRect">
            <a:avLst>
              <a:gd name="adj" fmla="val 15000"/>
            </a:avLst>
          </a:prstGeom>
          <a:solidFill>
            <a:schemeClr val="bg2"/>
          </a:solidFill>
          <a:ln w="12700">
            <a:solidFill>
              <a:schemeClr val="bg2"/>
            </a:solidFill>
            <a:prstDash val="solid"/>
          </a:ln>
        </p:spPr>
      </p:sp>
      <p:sp>
        <p:nvSpPr>
          <p:cNvPr id="5" name="badge"/>
          <p:cNvSpPr/>
          <p:nvPr/>
        </p:nvSpPr>
        <p:spPr>
          <a:xfrm>
            <a:off x="685800" y="123444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377086"/>
            <a:ext cx="263347" cy="263347"/>
          </a:xfrm>
          <a:prstGeom prst="rect">
            <a:avLst/>
          </a:prstGeom>
        </p:spPr>
      </p:pic>
      <p:sp>
        <p:nvSpPr>
          <p:cNvPr id="7" name="Text 3"/>
          <p:cNvSpPr txBox="1"/>
          <p:nvPr/>
        </p:nvSpPr>
        <p:spPr>
          <a:xfrm>
            <a:off x="1463040" y="114300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What are the characters looking for?</a:t>
            </a:r>
            <a:endParaRPr lang="en-US" sz="1800" dirty="0"/>
          </a:p>
        </p:txBody>
      </p:sp>
      <p:sp>
        <p:nvSpPr>
          <p:cNvPr id="8" name="card"/>
          <p:cNvSpPr/>
          <p:nvPr/>
        </p:nvSpPr>
        <p:spPr>
          <a:xfrm>
            <a:off x="548640" y="2011680"/>
            <a:ext cx="8046720" cy="731520"/>
          </a:xfrm>
          <a:prstGeom prst="roundRect">
            <a:avLst>
              <a:gd name="adj" fmla="val 15000"/>
            </a:avLst>
          </a:prstGeom>
          <a:solidFill>
            <a:schemeClr val="bg2"/>
          </a:solidFill>
          <a:ln w="12700">
            <a:solidFill>
              <a:schemeClr val="bg2"/>
            </a:solidFill>
            <a:prstDash val="solid"/>
          </a:ln>
        </p:spPr>
      </p:sp>
      <p:sp>
        <p:nvSpPr>
          <p:cNvPr id="9" name="badge"/>
          <p:cNvSpPr/>
          <p:nvPr/>
        </p:nvSpPr>
        <p:spPr>
          <a:xfrm>
            <a:off x="685800" y="210312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245766"/>
            <a:ext cx="263347" cy="263347"/>
          </a:xfrm>
          <a:prstGeom prst="rect">
            <a:avLst/>
          </a:prstGeom>
        </p:spPr>
      </p:pic>
      <p:sp>
        <p:nvSpPr>
          <p:cNvPr id="11" name="Text 6"/>
          <p:cNvSpPr txBox="1"/>
          <p:nvPr/>
        </p:nvSpPr>
        <p:spPr>
          <a:xfrm>
            <a:off x="1463040" y="201168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What is a seep? How do you know?</a:t>
            </a:r>
            <a:endParaRPr lang="en-US" sz="1800" dirty="0"/>
          </a:p>
        </p:txBody>
      </p:sp>
      <p:sp>
        <p:nvSpPr>
          <p:cNvPr id="12" name="card"/>
          <p:cNvSpPr/>
          <p:nvPr/>
        </p:nvSpPr>
        <p:spPr>
          <a:xfrm>
            <a:off x="548640" y="2880360"/>
            <a:ext cx="8046720" cy="731520"/>
          </a:xfrm>
          <a:prstGeom prst="roundRect">
            <a:avLst>
              <a:gd name="adj" fmla="val 15000"/>
            </a:avLst>
          </a:prstGeom>
          <a:solidFill>
            <a:schemeClr val="bg2"/>
          </a:solidFill>
          <a:ln w="12700">
            <a:solidFill>
              <a:schemeClr val="bg2"/>
            </a:solidFill>
            <a:prstDash val="solid"/>
          </a:ln>
        </p:spPr>
      </p:sp>
      <p:sp>
        <p:nvSpPr>
          <p:cNvPr id="13" name="badge"/>
          <p:cNvSpPr/>
          <p:nvPr/>
        </p:nvSpPr>
        <p:spPr>
          <a:xfrm>
            <a:off x="685800" y="297180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114446"/>
            <a:ext cx="263347" cy="263347"/>
          </a:xfrm>
          <a:prstGeom prst="rect">
            <a:avLst/>
          </a:prstGeom>
        </p:spPr>
      </p:pic>
      <p:sp>
        <p:nvSpPr>
          <p:cNvPr id="15" name="Text 9"/>
          <p:cNvSpPr txBox="1"/>
          <p:nvPr/>
        </p:nvSpPr>
        <p:spPr>
          <a:xfrm>
            <a:off x="1463040" y="288036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What is a dustwyrm? Is it real?</a:t>
            </a:r>
            <a:endParaRPr lang="en-US" sz="1800" dirty="0"/>
          </a:p>
        </p:txBody>
      </p:sp>
      <p:sp>
        <p:nvSpPr>
          <p:cNvPr id="16" name="card"/>
          <p:cNvSpPr/>
          <p:nvPr/>
        </p:nvSpPr>
        <p:spPr>
          <a:xfrm>
            <a:off x="548640" y="3749040"/>
            <a:ext cx="8046720" cy="731520"/>
          </a:xfrm>
          <a:prstGeom prst="roundRect">
            <a:avLst>
              <a:gd name="adj" fmla="val 15000"/>
            </a:avLst>
          </a:prstGeom>
          <a:solidFill>
            <a:schemeClr val="bg2"/>
          </a:solidFill>
          <a:ln w="12700">
            <a:solidFill>
              <a:schemeClr val="bg2"/>
            </a:solidFill>
            <a:prstDash val="solid"/>
          </a:ln>
        </p:spPr>
      </p:sp>
      <p:sp>
        <p:nvSpPr>
          <p:cNvPr id="17" name="badge"/>
          <p:cNvSpPr/>
          <p:nvPr/>
        </p:nvSpPr>
        <p:spPr>
          <a:xfrm>
            <a:off x="685800" y="3840480"/>
            <a:ext cx="548640" cy="548640"/>
          </a:xfrm>
          <a:prstGeom prst="ellipse">
            <a:avLst/>
          </a:prstGeom>
          <a:solidFill>
            <a:schemeClr val="accent5"/>
          </a:solidFill>
          <a:ln w="12700">
            <a:solidFill>
              <a:schemeClr val="accent5"/>
            </a:solidFill>
            <a:prstDash val="solid"/>
          </a:ln>
        </p:spPr>
      </p:sp>
      <p:pic>
        <p:nvPicPr>
          <p:cNvPr id="18" name="icon" descr="question"/>
          <p:cNvPicPr>
            <a:picLocks noChangeAspect="1"/>
          </p:cNvPicPr>
          <p:nvPr/>
        </p:nvPicPr>
        <p:blipFill>
          <a:blip r:embed="rId3"/>
          <a:stretch>
            <a:fillRect/>
          </a:stretch>
        </p:blipFill>
        <p:spPr>
          <a:xfrm>
            <a:off x="828446" y="3983126"/>
            <a:ext cx="263347" cy="263347"/>
          </a:xfrm>
          <a:prstGeom prst="rect">
            <a:avLst/>
          </a:prstGeom>
        </p:spPr>
      </p:pic>
      <p:sp>
        <p:nvSpPr>
          <p:cNvPr id="19" name="Text 12"/>
          <p:cNvSpPr txBox="1"/>
          <p:nvPr/>
        </p:nvSpPr>
        <p:spPr>
          <a:xfrm>
            <a:off x="1463040" y="3749040"/>
            <a:ext cx="6949440" cy="731520"/>
          </a:xfrm>
          <a:prstGeom prst="rect">
            <a:avLst/>
          </a:prstGeom>
          <a:noFill/>
          <a:ln/>
        </p:spPr>
        <p:txBody>
          <a:bodyPr wrap="square" lIns="0" tIns="0" rIns="0" bIns="0" rtlCol="0" anchor="ctr"/>
          <a:lstStyle/>
          <a:p>
            <a:pPr marL="0" indent="0">
              <a:buNone/>
            </a:pPr>
            <a:r>
              <a:rPr lang="en-US" sz="1800" dirty="0">
                <a:solidFill>
                  <a:schemeClr val="tx1"/>
                </a:solidFill>
              </a:rPr>
              <a:t>What clue does the dustwyrm give us about the type of story?</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stop and think</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A seep.</a:t>
            </a:r>
            <a:r>
              <a:rPr lang="en-US" sz="1400" dirty="0">
                <a:solidFill>
                  <a:schemeClr val="tx1"/>
                </a:solidFill>
              </a:rPr>
              <a:t> The characters need water, and the stick finds water under the ground.</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A place where water slowly comes out of the ground.</a:t>
            </a:r>
            <a:r>
              <a:rPr lang="en-US" sz="1400" dirty="0">
                <a:solidFill>
                  <a:schemeClr val="tx1"/>
                </a:solidFill>
              </a:rPr>
              <a:t> Clues: the stick twitches near hidden water, and Orrin says 'We are close to a seep'.</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A great creature as long as three carts, with rust-coloured scales, that pulls the wagons.</a:t>
            </a:r>
            <a:r>
              <a:rPr lang="en-US" sz="1400" dirty="0">
                <a:solidFill>
                  <a:schemeClr val="tx1"/>
                </a:solidFill>
              </a:rPr>
              <a:t> It is not real. It is imaginary.</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It is a fantasy story.</a:t>
            </a:r>
            <a:r>
              <a:rPr lang="en-US" sz="1400" dirty="0">
                <a:solidFill>
                  <a:schemeClr val="tx1"/>
                </a:solidFill>
              </a:rPr>
              <a:t> Imaginary creatures are a key feature of fantasy.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City That Waited: part 2</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234440"/>
            <a:ext cx="7589520" cy="3200400"/>
          </a:xfrm>
          <a:prstGeom prst="rect">
            <a:avLst/>
          </a:prstGeom>
          <a:noFill/>
          <a:ln/>
        </p:spPr>
        <p:txBody>
          <a:bodyPr wrap="square" lIns="0" tIns="0" rIns="0" bIns="0" rtlCol="0" anchor="ctr"/>
          <a:lstStyle/>
          <a:p>
            <a:pPr marL="0" indent="0">
              <a:spcAft>
                <a:spcPts val="800"/>
              </a:spcAft>
              <a:buNone/>
            </a:pPr>
            <a:r>
              <a:rPr lang="en-US" sz="1700" dirty="0">
                <a:solidFill>
                  <a:schemeClr val="tx1"/>
                </a:solidFill>
              </a:rPr>
              <a:t>"A seep?" muttered Kesh, kicking a stone. "You said that yesterday. And the day before." Kesh was </a:t>
            </a:r>
            <a:r>
              <a:rPr lang="en-US" sz="1700" b="1" dirty="0">
                <a:solidFill>
                  <a:schemeClr val="tx1"/>
                </a:solidFill>
                <a:highlight>
                  <a:srgbClr val="FFD27F"/>
                </a:highlight>
              </a:rPr>
              <a:t>wary</a:t>
            </a:r>
            <a:r>
              <a:rPr lang="en-US" sz="1700" dirty="0">
                <a:solidFill>
                  <a:schemeClr val="tx1"/>
                </a:solidFill>
              </a:rPr>
              <a:t> of everything, even good news.</a:t>
            </a:r>
            <a:endParaRPr lang="en-US" sz="1600" dirty="0"/>
          </a:p>
          <a:p>
            <a:pPr marL="0" indent="0">
              <a:spcAft>
                <a:spcPts val="800"/>
              </a:spcAft>
              <a:buNone/>
            </a:pPr>
            <a:r>
              <a:rPr lang="en-US" sz="1700" dirty="0">
                <a:solidFill>
                  <a:schemeClr val="tx1"/>
                </a:solidFill>
              </a:rPr>
              <a:t>Suddenly the stick jerked in Orrin's hands. It pulled downwards so hard that he almost dropped it. "There!" he cried.</a:t>
            </a:r>
            <a:endParaRPr lang="en-US" sz="1600" dirty="0"/>
          </a:p>
          <a:p>
            <a:pPr marL="0" indent="0">
              <a:spcAft>
                <a:spcPts val="800"/>
              </a:spcAft>
              <a:buNone/>
            </a:pPr>
            <a:r>
              <a:rPr lang="en-US" sz="1700" dirty="0">
                <a:solidFill>
                  <a:schemeClr val="tx1"/>
                </a:solidFill>
              </a:rPr>
              <a:t>Tamsin dropped to her knees. Between two grey stones, a thin thread of water </a:t>
            </a:r>
            <a:r>
              <a:rPr lang="en-US" sz="1700" b="1" dirty="0">
                <a:solidFill>
                  <a:schemeClr val="tx1"/>
                </a:solidFill>
                <a:highlight>
                  <a:srgbClr val="FFD27F"/>
                </a:highlight>
              </a:rPr>
              <a:t>seeped</a:t>
            </a:r>
            <a:r>
              <a:rPr lang="en-US" sz="1700" dirty="0">
                <a:solidFill>
                  <a:schemeClr val="tx1"/>
                </a:solidFill>
              </a:rPr>
              <a:t> out of the earth. She cupped her hands and drank. It was cold and clear and tasted of hope.</a:t>
            </a:r>
            <a:endParaRPr lang="en-US" sz="1600" dirty="0"/>
          </a:p>
          <a:p>
            <a:pPr marL="0" indent="0">
              <a:spcAft>
                <a:spcPts val="800"/>
              </a:spcAft>
              <a:buNone/>
            </a:pPr>
            <a:r>
              <a:rPr lang="en-US" sz="1700" dirty="0">
                <a:solidFill>
                  <a:schemeClr val="tx1"/>
                </a:solidFill>
              </a:rPr>
              <a:t>But when she lifted her head, Tamsin gasped. Beyond the ridge, where that morning there had been only empty sky, a city </a:t>
            </a:r>
            <a:r>
              <a:rPr lang="en-US" sz="1700" b="1" dirty="0">
                <a:solidFill>
                  <a:schemeClr val="tx1"/>
                </a:solidFill>
                <a:highlight>
                  <a:srgbClr val="FFD27F"/>
                </a:highlight>
              </a:rPr>
              <a:t>shimmered</a:t>
            </a:r>
            <a:r>
              <a:rPr lang="en-US" sz="1700" dirty="0">
                <a:solidFill>
                  <a:schemeClr val="tx1"/>
                </a:solidFill>
              </a:rPr>
              <a:t> in the haze.</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Word hunt</a:t>
            </a:r>
            <a:endParaRPr lang="en-US" sz="3000" dirty="0"/>
          </a:p>
        </p:txBody>
      </p:sp>
      <p:graphicFrame>
        <p:nvGraphicFramePr>
          <p:cNvPr id="15" name="word hunt table"/>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lgn="ctr">
                        <a:buNone/>
                      </a:pPr>
                      <a:r>
                        <a:rPr lang="en-US" sz="1500" b="1" dirty="0">
                          <a:solidFill>
                            <a:srgbClr val="FFFFFF"/>
                          </a:solidFill>
                        </a:rPr>
                        <a:t>Word or phrase</a:t>
                      </a:r>
                      <a:endParaRPr lang="en-US" sz="15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500" b="1" dirty="0">
                          <a:solidFill>
                            <a:srgbClr val="FFFFFF"/>
                          </a:solidFill>
                        </a:rPr>
                        <a:t>Clues in the text</a:t>
                      </a:r>
                      <a:endParaRPr lang="en-US" sz="15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500" b="1" dirty="0">
                          <a:solidFill>
                            <a:srgbClr val="FFFFFF"/>
                          </a:solidFill>
                        </a:rPr>
                        <a:t>What I think it means (my own words)</a:t>
                      </a:r>
                      <a:endParaRPr lang="en-US" sz="15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685800">
                <a:tc>
                  <a:txBody>
                    <a:bodyPr/>
                    <a:lstStyle/>
                    <a:p>
                      <a:pPr marL="0" indent="0">
                        <a:buNone/>
                      </a:pPr>
                      <a:r>
                        <a:rPr lang="en-US" sz="1400" b="1" dirty="0">
                          <a:solidFill>
                            <a:srgbClr val="1F1B3A"/>
                          </a:solidFill>
                        </a:rPr>
                        <a:t>trekking</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400" dirty="0">
                          <a:solidFill>
                            <a:srgbClr val="1F1B3A"/>
                          </a:solidFill>
                        </a:rPr>
                        <a:t>eleven days, boots thick with dust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400" dirty="0">
                          <a:solidFill>
                            <a:srgbClr val="1F1B3A"/>
                          </a:solidFill>
                        </a:rPr>
                        <a:t>Walking a long way, which is tiring</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685800">
                <a:tc>
                  <a:txBody>
                    <a:bodyPr/>
                    <a:lstStyle/>
                    <a:p>
                      <a:pPr marL="0" indent="0">
                        <a:buNone/>
                      </a:pPr>
                      <a:r>
                        <a:rPr lang="en-US" sz="1400" b="1" dirty="0">
                          <a:solidFill>
                            <a:srgbClr val="1F1B3A"/>
                          </a:solidFill>
                        </a:rPr>
                        <a:t>wary</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400" dirty="0">
                          <a:solidFill>
                            <a:srgbClr val="1F1B3A"/>
                          </a:solidFill>
                        </a:rPr>
                        <a:t>kicking a stone, "You said that yesterday"</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685800">
                <a:tc>
                  <a:txBody>
                    <a:bodyPr/>
                    <a:lstStyle/>
                    <a:p>
                      <a:pPr marL="0" indent="0">
                        <a:buNone/>
                      </a:pPr>
                      <a:r>
                        <a:rPr lang="en-US" sz="1400" b="1" dirty="0">
                          <a:solidFill>
                            <a:srgbClr val="1F1B3A"/>
                          </a:solidFill>
                        </a:rPr>
                        <a:t>shimmered</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400" dirty="0">
                          <a:solidFill>
                            <a:srgbClr val="1F1B3A"/>
                          </a:solidFill>
                        </a:rPr>
                        <a:t>in the haze</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r h="685800">
                <a:tc>
                  <a:txBody>
                    <a:bodyPr/>
                    <a:lstStyle/>
                    <a:p>
                      <a:pPr marL="0" indent="0">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City That Waited: part 3</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234440"/>
            <a:ext cx="7589520" cy="3200400"/>
          </a:xfrm>
          <a:prstGeom prst="rect">
            <a:avLst/>
          </a:prstGeom>
          <a:noFill/>
          <a:ln/>
        </p:spPr>
        <p:txBody>
          <a:bodyPr wrap="square" lIns="0" tIns="0" rIns="0" bIns="0" rtlCol="0" anchor="ctr"/>
          <a:lstStyle/>
          <a:p>
            <a:pPr marL="0" indent="0">
              <a:spcAft>
                <a:spcPts val="800"/>
              </a:spcAft>
              <a:buNone/>
            </a:pPr>
            <a:r>
              <a:rPr lang="en-US" sz="1700" dirty="0">
                <a:solidFill>
                  <a:schemeClr val="tx1"/>
                </a:solidFill>
              </a:rPr>
              <a:t>Towers of pale stone rose above the walls. Gleaming domes caught the last of the light. Yet not a single thread of smoke rose from any chimney.</a:t>
            </a:r>
            <a:endParaRPr lang="en-US" sz="1600" dirty="0"/>
          </a:p>
          <a:p>
            <a:pPr marL="0" indent="0">
              <a:spcAft>
                <a:spcPts val="800"/>
              </a:spcAft>
              <a:buNone/>
            </a:pPr>
            <a:r>
              <a:rPr lang="en-US" sz="1700" dirty="0">
                <a:solidFill>
                  <a:schemeClr val="tx1"/>
                </a:solidFill>
              </a:rPr>
              <a:t>Orrin's face turned grey. "Aurelia," he whispered. "The old stories said it was lost. They said it could never be found."</a:t>
            </a:r>
            <a:endParaRPr lang="en-US" sz="1600" dirty="0"/>
          </a:p>
          <a:p>
            <a:pPr marL="0" indent="0">
              <a:spcAft>
                <a:spcPts val="800"/>
              </a:spcAft>
              <a:buNone/>
            </a:pPr>
            <a:r>
              <a:rPr lang="en-US" sz="1700" dirty="0">
                <a:solidFill>
                  <a:schemeClr val="tx1"/>
                </a:solidFill>
              </a:rPr>
              <a:t>The caravan crept closer. The great gates stood wide open, and inside, a fountain sparkled and splashed in the empty square. The </a:t>
            </a:r>
            <a:r>
              <a:rPr lang="en-US" sz="1700" b="1" dirty="0">
                <a:solidFill>
                  <a:schemeClr val="tx1"/>
                </a:solidFill>
                <a:highlight>
                  <a:srgbClr val="FFD27F"/>
                </a:highlight>
              </a:rPr>
              <a:t>dustwyrm</a:t>
            </a:r>
            <a:r>
              <a:rPr lang="en-US" sz="1700" dirty="0">
                <a:solidFill>
                  <a:schemeClr val="tx1"/>
                </a:solidFill>
              </a:rPr>
              <a:t> dug its claws into the ground and would not move another step.</a:t>
            </a:r>
            <a:endParaRPr lang="en-US" sz="1600" dirty="0"/>
          </a:p>
          <a:p>
            <a:pPr marL="0" indent="0">
              <a:spcAft>
                <a:spcPts val="800"/>
              </a:spcAft>
              <a:buNone/>
            </a:pPr>
            <a:r>
              <a:rPr lang="en-US" sz="1700" dirty="0">
                <a:solidFill>
                  <a:schemeClr val="tx1"/>
                </a:solidFill>
              </a:rPr>
              <a:t>"Something isn't right," said Kesh.</a:t>
            </a:r>
            <a:endParaRPr lang="en-US" sz="1600" dirty="0"/>
          </a:p>
          <a:p>
            <a:pPr marL="0" indent="0">
              <a:spcAft>
                <a:spcPts val="800"/>
              </a:spcAft>
              <a:buNone/>
            </a:pPr>
            <a:r>
              <a:rPr lang="en-US" sz="1700" dirty="0">
                <a:solidFill>
                  <a:schemeClr val="tx1"/>
                </a:solidFill>
              </a:rPr>
              <a:t>Tamsin stared at the clear water and the silent streets. A city with water, shelter and food, she thought. So why would anyone leave it </a:t>
            </a:r>
            <a:r>
              <a:rPr lang="en-US" sz="1700" b="1" dirty="0">
                <a:solidFill>
                  <a:schemeClr val="tx1"/>
                </a:solidFill>
                <a:highlight>
                  <a:srgbClr val="FFD27F"/>
                </a:highlight>
              </a:rPr>
              <a:t>deserted</a:t>
            </a:r>
            <a:r>
              <a:rPr lang="en-US" sz="17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Say it in your own words</a:t>
            </a:r>
            <a:endParaRPr lang="en-US" sz="3000" dirty="0"/>
          </a:p>
        </p:txBody>
      </p:sp>
      <p:sp>
        <p:nvSpPr>
          <p:cNvPr id="4" name="card"/>
          <p:cNvSpPr/>
          <p:nvPr/>
        </p:nvSpPr>
        <p:spPr>
          <a:xfrm>
            <a:off x="548640" y="1188720"/>
            <a:ext cx="4480560" cy="640080"/>
          </a:xfrm>
          <a:prstGeom prst="roundRect">
            <a:avLst>
              <a:gd name="adj" fmla="val 17143"/>
            </a:avLst>
          </a:prstGeom>
          <a:solidFill>
            <a:schemeClr val="bg2"/>
          </a:solidFill>
          <a:ln w="12700">
            <a:solidFill>
              <a:schemeClr val="bg2"/>
            </a:solidFill>
            <a:prstDash val="solid"/>
          </a:ln>
        </p:spPr>
      </p:sp>
      <p:sp>
        <p:nvSpPr>
          <p:cNvPr id="5" name="Text 2"/>
          <p:cNvSpPr txBox="1"/>
          <p:nvPr/>
        </p:nvSpPr>
        <p:spPr>
          <a:xfrm>
            <a:off x="777240" y="1188720"/>
            <a:ext cx="4114800" cy="640080"/>
          </a:xfrm>
          <a:prstGeom prst="rect">
            <a:avLst/>
          </a:prstGeom>
          <a:noFill/>
          <a:ln/>
        </p:spPr>
        <p:txBody>
          <a:bodyPr wrap="square" lIns="0" tIns="0" rIns="0" bIns="0" rtlCol="0" anchor="ctr"/>
          <a:lstStyle/>
          <a:p>
            <a:pPr marL="0" indent="0">
              <a:buNone/>
            </a:pPr>
            <a:r>
              <a:rPr lang="en-US" sz="1800" b="1" dirty="0">
                <a:solidFill>
                  <a:schemeClr val="accent4"/>
                </a:solidFill>
              </a:rPr>
              <a:t>It means ...</a:t>
            </a:r>
            <a:endParaRPr lang="en-US" sz="1800" dirty="0"/>
          </a:p>
        </p:txBody>
      </p:sp>
      <p:sp>
        <p:nvSpPr>
          <p:cNvPr id="6" name="card"/>
          <p:cNvSpPr/>
          <p:nvPr/>
        </p:nvSpPr>
        <p:spPr>
          <a:xfrm>
            <a:off x="548640" y="1965960"/>
            <a:ext cx="4480560" cy="640080"/>
          </a:xfrm>
          <a:prstGeom prst="roundRect">
            <a:avLst>
              <a:gd name="adj" fmla="val 17143"/>
            </a:avLst>
          </a:prstGeom>
          <a:solidFill>
            <a:schemeClr val="bg2"/>
          </a:solidFill>
          <a:ln w="12700">
            <a:solidFill>
              <a:schemeClr val="bg2"/>
            </a:solidFill>
            <a:prstDash val="solid"/>
          </a:ln>
        </p:spPr>
      </p:sp>
      <p:sp>
        <p:nvSpPr>
          <p:cNvPr id="7" name="Text 4"/>
          <p:cNvSpPr txBox="1"/>
          <p:nvPr/>
        </p:nvSpPr>
        <p:spPr>
          <a:xfrm>
            <a:off x="777240" y="1965960"/>
            <a:ext cx="4114800" cy="640080"/>
          </a:xfrm>
          <a:prstGeom prst="rect">
            <a:avLst/>
          </a:prstGeom>
          <a:noFill/>
          <a:ln/>
        </p:spPr>
        <p:txBody>
          <a:bodyPr wrap="square" lIns="0" tIns="0" rIns="0" bIns="0" rtlCol="0" anchor="ctr"/>
          <a:lstStyle/>
          <a:p>
            <a:pPr marL="0" indent="0">
              <a:buNone/>
            </a:pPr>
            <a:r>
              <a:rPr lang="en-US" sz="1800" b="1" dirty="0">
                <a:solidFill>
                  <a:schemeClr val="accent4"/>
                </a:solidFill>
              </a:rPr>
              <a:t>Another way to say it is ...</a:t>
            </a:r>
            <a:endParaRPr lang="en-US" sz="1800" dirty="0"/>
          </a:p>
        </p:txBody>
      </p:sp>
      <p:sp>
        <p:nvSpPr>
          <p:cNvPr id="8" name="card"/>
          <p:cNvSpPr/>
          <p:nvPr/>
        </p:nvSpPr>
        <p:spPr>
          <a:xfrm>
            <a:off x="548640" y="2743200"/>
            <a:ext cx="4480560" cy="640080"/>
          </a:xfrm>
          <a:prstGeom prst="roundRect">
            <a:avLst>
              <a:gd name="adj" fmla="val 17143"/>
            </a:avLst>
          </a:prstGeom>
          <a:solidFill>
            <a:schemeClr val="bg2"/>
          </a:solidFill>
          <a:ln w="12700">
            <a:solidFill>
              <a:schemeClr val="bg2"/>
            </a:solidFill>
            <a:prstDash val="solid"/>
          </a:ln>
        </p:spPr>
      </p:sp>
      <p:sp>
        <p:nvSpPr>
          <p:cNvPr id="9" name="Text 6"/>
          <p:cNvSpPr txBox="1"/>
          <p:nvPr/>
        </p:nvSpPr>
        <p:spPr>
          <a:xfrm>
            <a:off x="777240" y="2743200"/>
            <a:ext cx="4114800" cy="640080"/>
          </a:xfrm>
          <a:prstGeom prst="rect">
            <a:avLst/>
          </a:prstGeom>
          <a:noFill/>
          <a:ln/>
        </p:spPr>
        <p:txBody>
          <a:bodyPr wrap="square" lIns="0" tIns="0" rIns="0" bIns="0" rtlCol="0" anchor="ctr"/>
          <a:lstStyle/>
          <a:p>
            <a:pPr marL="0" indent="0">
              <a:buNone/>
            </a:pPr>
            <a:r>
              <a:rPr lang="en-US" sz="1800" b="1" dirty="0">
                <a:solidFill>
                  <a:schemeClr val="accent4"/>
                </a:solidFill>
              </a:rPr>
              <a:t>It is like ...</a:t>
            </a:r>
            <a:endParaRPr lang="en-US" sz="1800" dirty="0"/>
          </a:p>
        </p:txBody>
      </p:sp>
      <p:sp>
        <p:nvSpPr>
          <p:cNvPr id="10" name="card"/>
          <p:cNvSpPr/>
          <p:nvPr/>
        </p:nvSpPr>
        <p:spPr>
          <a:xfrm>
            <a:off x="548640" y="3520440"/>
            <a:ext cx="4480560" cy="640080"/>
          </a:xfrm>
          <a:prstGeom prst="roundRect">
            <a:avLst>
              <a:gd name="adj" fmla="val 17143"/>
            </a:avLst>
          </a:prstGeom>
          <a:solidFill>
            <a:schemeClr val="bg2"/>
          </a:solidFill>
          <a:ln w="12700">
            <a:solidFill>
              <a:schemeClr val="bg2"/>
            </a:solidFill>
            <a:prstDash val="solid"/>
          </a:ln>
        </p:spPr>
      </p:sp>
      <p:sp>
        <p:nvSpPr>
          <p:cNvPr id="11" name="Text 8"/>
          <p:cNvSpPr txBox="1"/>
          <p:nvPr/>
        </p:nvSpPr>
        <p:spPr>
          <a:xfrm>
            <a:off x="777240" y="3520440"/>
            <a:ext cx="4114800" cy="640080"/>
          </a:xfrm>
          <a:prstGeom prst="rect">
            <a:avLst/>
          </a:prstGeom>
          <a:noFill/>
          <a:ln/>
        </p:spPr>
        <p:txBody>
          <a:bodyPr wrap="square" lIns="0" tIns="0" rIns="0" bIns="0" rtlCol="0" anchor="ctr"/>
          <a:lstStyle/>
          <a:p>
            <a:pPr marL="0" indent="0">
              <a:buNone/>
            </a:pPr>
            <a:r>
              <a:rPr lang="en-US" sz="1800" b="1" dirty="0">
                <a:solidFill>
                  <a:schemeClr val="accent4"/>
                </a:solidFill>
              </a:rPr>
              <a:t>You could use it in a sentence like ...</a:t>
            </a:r>
            <a:endParaRPr lang="en-US" sz="1800" dirty="0"/>
          </a:p>
        </p:txBody>
      </p:sp>
      <p:sp>
        <p:nvSpPr>
          <p:cNvPr id="12" name="card"/>
          <p:cNvSpPr/>
          <p:nvPr/>
        </p:nvSpPr>
        <p:spPr>
          <a:xfrm>
            <a:off x="5303520" y="1188720"/>
            <a:ext cx="3291840" cy="2971800"/>
          </a:xfrm>
          <a:prstGeom prst="roundRect">
            <a:avLst>
              <a:gd name="adj" fmla="val 3692"/>
            </a:avLst>
          </a:prstGeom>
          <a:solidFill>
            <a:schemeClr val="tx1"/>
          </a:solidFill>
          <a:ln w="12700">
            <a:solidFill>
              <a:schemeClr val="tx1"/>
            </a:solidFill>
            <a:prstDash val="solid"/>
          </a:ln>
        </p:spPr>
      </p:sp>
      <p:sp>
        <p:nvSpPr>
          <p:cNvPr id="13" name="Text 10"/>
          <p:cNvSpPr txBox="1"/>
          <p:nvPr/>
        </p:nvSpPr>
        <p:spPr>
          <a:xfrm>
            <a:off x="5532120" y="1325880"/>
            <a:ext cx="2834640" cy="365760"/>
          </a:xfrm>
          <a:prstGeom prst="rect">
            <a:avLst/>
          </a:prstGeom>
          <a:noFill/>
          <a:ln/>
        </p:spPr>
        <p:txBody>
          <a:bodyPr wrap="square" lIns="0" tIns="0" rIns="0" bIns="0" rtlCol="0" anchor="t"/>
          <a:lstStyle/>
          <a:p>
            <a:pPr marL="0" indent="0">
              <a:buNone/>
            </a:pPr>
            <a:r>
              <a:rPr lang="en-US" sz="1600" b="1" dirty="0">
                <a:solidFill>
                  <a:schemeClr val="accent1"/>
                </a:solidFill>
              </a:rPr>
              <a:t>Example</a:t>
            </a:r>
            <a:endParaRPr lang="en-US" sz="1600" dirty="0"/>
          </a:p>
        </p:txBody>
      </p:sp>
      <p:sp>
        <p:nvSpPr>
          <p:cNvPr id="14" name="Text 11"/>
          <p:cNvSpPr txBox="1"/>
          <p:nvPr/>
        </p:nvSpPr>
        <p:spPr>
          <a:xfrm>
            <a:off x="5532120" y="1783080"/>
            <a:ext cx="2834640" cy="457200"/>
          </a:xfrm>
          <a:prstGeom prst="rect">
            <a:avLst/>
          </a:prstGeom>
          <a:noFill/>
          <a:ln/>
        </p:spPr>
        <p:txBody>
          <a:bodyPr wrap="square" lIns="0" tIns="0" rIns="0" bIns="0" rtlCol="0" anchor="t"/>
          <a:lstStyle/>
          <a:p>
            <a:pPr marL="0" indent="0">
              <a:buNone/>
            </a:pPr>
            <a:r>
              <a:rPr lang="en-US" sz="2400" b="1" dirty="0">
                <a:solidFill>
                  <a:schemeClr val="bg1"/>
                </a:solidFill>
              </a:rPr>
              <a:t>deserted</a:t>
            </a:r>
            <a:endParaRPr lang="en-US" sz="2400" dirty="0"/>
          </a:p>
        </p:txBody>
      </p:sp>
      <p:sp>
        <p:nvSpPr>
          <p:cNvPr id="15" name="Text 12"/>
          <p:cNvSpPr txBox="1"/>
          <p:nvPr/>
        </p:nvSpPr>
        <p:spPr>
          <a:xfrm>
            <a:off x="5532120" y="2377440"/>
            <a:ext cx="2834640" cy="1645920"/>
          </a:xfrm>
          <a:prstGeom prst="rect">
            <a:avLst/>
          </a:prstGeom>
          <a:noFill/>
          <a:ln/>
        </p:spPr>
        <p:txBody>
          <a:bodyPr wrap="square" lIns="0" tIns="0" rIns="0" bIns="0" rtlCol="0" anchor="t"/>
          <a:lstStyle/>
          <a:p>
            <a:pPr marL="0" indent="0">
              <a:buNone/>
            </a:pPr>
            <a:r>
              <a:rPr lang="en-US" sz="1500" i="1" dirty="0">
                <a:solidFill>
                  <a:schemeClr val="bg1"/>
                </a:solidFill>
              </a:rPr>
              <a:t>"It means a place with nobody in it. Another way to say it is empty or abandoned."</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Word focus: dustwyrm</a:t>
            </a:r>
            <a:endParaRPr lang="en-US" sz="3000" dirty="0"/>
          </a:p>
        </p:txBody>
      </p:sp>
      <p:sp>
        <p:nvSpPr>
          <p:cNvPr id="4" name="card"/>
          <p:cNvSpPr/>
          <p:nvPr/>
        </p:nvSpPr>
        <p:spPr>
          <a:xfrm>
            <a:off x="548640" y="1188720"/>
            <a:ext cx="2560320" cy="2834640"/>
          </a:xfrm>
          <a:prstGeom prst="roundRect">
            <a:avLst>
              <a:gd name="adj" fmla="val 4286"/>
            </a:avLst>
          </a:prstGeom>
          <a:solidFill>
            <a:schemeClr val="bg2"/>
          </a:solidFill>
          <a:ln w="12700">
            <a:solidFill>
              <a:schemeClr val="bg2"/>
            </a:solidFill>
            <a:prstDash val="solid"/>
          </a:ln>
        </p:spPr>
      </p:sp>
      <p:sp>
        <p:nvSpPr>
          <p:cNvPr id="5" name="step label"/>
          <p:cNvSpPr/>
          <p:nvPr/>
        </p:nvSpPr>
        <p:spPr>
          <a:xfrm>
            <a:off x="731520" y="1371600"/>
            <a:ext cx="2194560" cy="457200"/>
          </a:xfrm>
          <a:prstGeom prst="roundRect">
            <a:avLst>
              <a:gd name="adj" fmla="val 20000"/>
            </a:avLst>
          </a:prstGeom>
          <a:solidFill>
            <a:schemeClr val="accent4"/>
          </a:solidFill>
          <a:ln w="12700">
            <a:solidFill>
              <a:schemeClr val="bg1"/>
            </a:solidFill>
            <a:prstDash val="solid"/>
          </a:ln>
        </p:spPr>
      </p:sp>
      <p:sp>
        <p:nvSpPr>
          <p:cNvPr id="6" name="Text 3"/>
          <p:cNvSpPr txBox="1"/>
          <p:nvPr/>
        </p:nvSpPr>
        <p:spPr>
          <a:xfrm>
            <a:off x="731520" y="1371600"/>
            <a:ext cx="2194560" cy="457200"/>
          </a:xfrm>
          <a:prstGeom prst="rect">
            <a:avLst/>
          </a:prstGeom>
          <a:noFill/>
          <a:ln/>
        </p:spPr>
        <p:txBody>
          <a:bodyPr wrap="square" lIns="0" tIns="0" rIns="0" bIns="0" rtlCol="0" anchor="ctr"/>
          <a:lstStyle/>
          <a:p>
            <a:pPr marL="0" indent="0" algn="ctr">
              <a:buNone/>
            </a:pPr>
            <a:r>
              <a:rPr lang="en-US" sz="1600" b="1" dirty="0">
                <a:solidFill>
                  <a:schemeClr val="bg1"/>
                </a:solidFill>
              </a:rPr>
              <a:t>Read on</a:t>
            </a:r>
            <a:endParaRPr lang="en-US" sz="1600" dirty="0"/>
          </a:p>
        </p:txBody>
      </p:sp>
      <p:sp>
        <p:nvSpPr>
          <p:cNvPr id="7" name="Text 4"/>
          <p:cNvSpPr txBox="1"/>
          <p:nvPr/>
        </p:nvSpPr>
        <p:spPr>
          <a:xfrm>
            <a:off x="731520" y="2011680"/>
            <a:ext cx="2194560" cy="19202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as long as three carts</a:t>
            </a:r>
            <a:endParaRPr lang="en-US" sz="1500" dirty="0"/>
          </a:p>
          <a:p>
            <a:pPr marL="0" indent="0">
              <a:spcAft>
                <a:spcPts val="600"/>
              </a:spcAft>
              <a:buNone/>
            </a:pPr>
            <a:r>
              <a:rPr lang="en-US" sz="1500" dirty="0">
                <a:solidFill>
                  <a:schemeClr val="tx1"/>
                </a:solidFill>
              </a:rPr>
              <a:t>scales the colour of rust</a:t>
            </a:r>
            <a:endParaRPr lang="en-US" sz="1500" dirty="0"/>
          </a:p>
          <a:p>
            <a:pPr marL="0" indent="0">
              <a:spcAft>
                <a:spcPts val="600"/>
              </a:spcAft>
              <a:buNone/>
            </a:pPr>
            <a:r>
              <a:rPr lang="en-US" sz="1500" dirty="0">
                <a:solidFill>
                  <a:schemeClr val="tx1"/>
                </a:solidFill>
              </a:rPr>
              <a:t>dragged the wagons across the cracked earth</a:t>
            </a:r>
            <a:endParaRPr lang="en-US" sz="1500" dirty="0"/>
          </a:p>
          <a:p>
            <a:pPr marL="0" indent="0">
              <a:spcAft>
                <a:spcPts val="600"/>
              </a:spcAft>
              <a:buNone/>
            </a:pPr>
            <a:r>
              <a:rPr lang="en-US" sz="1500" dirty="0">
                <a:solidFill>
                  <a:schemeClr val="tx1"/>
                </a:solidFill>
              </a:rPr>
              <a:t>growing weaker every day</a:t>
            </a:r>
            <a:endParaRPr lang="en-US" sz="1500" dirty="0"/>
          </a:p>
        </p:txBody>
      </p:sp>
      <p:sp>
        <p:nvSpPr>
          <p:cNvPr id="8" name="card"/>
          <p:cNvSpPr/>
          <p:nvPr/>
        </p:nvSpPr>
        <p:spPr>
          <a:xfrm>
            <a:off x="3291840" y="1188720"/>
            <a:ext cx="2560320" cy="2834640"/>
          </a:xfrm>
          <a:prstGeom prst="roundRect">
            <a:avLst>
              <a:gd name="adj" fmla="val 4286"/>
            </a:avLst>
          </a:prstGeom>
          <a:solidFill>
            <a:schemeClr val="bg2"/>
          </a:solidFill>
          <a:ln w="12700">
            <a:solidFill>
              <a:schemeClr val="bg2"/>
            </a:solidFill>
            <a:prstDash val="solid"/>
          </a:ln>
        </p:spPr>
      </p:sp>
      <p:sp>
        <p:nvSpPr>
          <p:cNvPr id="9" name="step label"/>
          <p:cNvSpPr/>
          <p:nvPr/>
        </p:nvSpPr>
        <p:spPr>
          <a:xfrm>
            <a:off x="3474720" y="1371600"/>
            <a:ext cx="2194560" cy="457200"/>
          </a:xfrm>
          <a:prstGeom prst="roundRect">
            <a:avLst>
              <a:gd name="adj" fmla="val 20000"/>
            </a:avLst>
          </a:prstGeom>
          <a:solidFill>
            <a:schemeClr val="accent2"/>
          </a:solidFill>
          <a:ln w="12700">
            <a:solidFill>
              <a:schemeClr val="bg1"/>
            </a:solidFill>
            <a:prstDash val="solid"/>
          </a:ln>
        </p:spPr>
      </p:sp>
      <p:sp>
        <p:nvSpPr>
          <p:cNvPr id="10" name="Text 7"/>
          <p:cNvSpPr txBox="1"/>
          <p:nvPr/>
        </p:nvSpPr>
        <p:spPr>
          <a:xfrm>
            <a:off x="3474720" y="1371600"/>
            <a:ext cx="2194560" cy="457200"/>
          </a:xfrm>
          <a:prstGeom prst="rect">
            <a:avLst/>
          </a:prstGeom>
          <a:noFill/>
          <a:ln/>
        </p:spPr>
        <p:txBody>
          <a:bodyPr wrap="square" lIns="0" tIns="0" rIns="0" bIns="0" rtlCol="0" anchor="ctr"/>
          <a:lstStyle/>
          <a:p>
            <a:pPr marL="0" indent="0" algn="ctr">
              <a:buNone/>
            </a:pPr>
            <a:r>
              <a:rPr lang="en-US" sz="1600" b="1" dirty="0">
                <a:solidFill>
                  <a:schemeClr val="bg1"/>
                </a:solidFill>
              </a:rPr>
              <a:t>Look inside</a:t>
            </a:r>
            <a:endParaRPr lang="en-US" sz="1600" dirty="0"/>
          </a:p>
        </p:txBody>
      </p:sp>
      <p:sp>
        <p:nvSpPr>
          <p:cNvPr id="11" name="Text 8"/>
          <p:cNvSpPr txBox="1"/>
          <p:nvPr/>
        </p:nvSpPr>
        <p:spPr>
          <a:xfrm>
            <a:off x="3474720" y="2011680"/>
            <a:ext cx="2194560" cy="19202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dust + wyrm. 'Dust' fits the dry plain. 'Wyrm' is an old word for a dragon or a serpent.</a:t>
            </a:r>
            <a:endParaRPr lang="en-US" sz="1500" dirty="0"/>
          </a:p>
        </p:txBody>
      </p:sp>
      <p:sp>
        <p:nvSpPr>
          <p:cNvPr id="12" name="card"/>
          <p:cNvSpPr/>
          <p:nvPr/>
        </p:nvSpPr>
        <p:spPr>
          <a:xfrm>
            <a:off x="6035040" y="1188720"/>
            <a:ext cx="2560320" cy="2834640"/>
          </a:xfrm>
          <a:prstGeom prst="roundRect">
            <a:avLst>
              <a:gd name="adj" fmla="val 4286"/>
            </a:avLst>
          </a:prstGeom>
          <a:solidFill>
            <a:schemeClr val="bg2"/>
          </a:solidFill>
          <a:ln w="12700">
            <a:solidFill>
              <a:schemeClr val="bg2"/>
            </a:solidFill>
            <a:prstDash val="solid"/>
          </a:ln>
        </p:spPr>
      </p:sp>
      <p:sp>
        <p:nvSpPr>
          <p:cNvPr id="13" name="step label"/>
          <p:cNvSpPr/>
          <p:nvPr/>
        </p:nvSpPr>
        <p:spPr>
          <a:xfrm>
            <a:off x="6217920" y="1371600"/>
            <a:ext cx="2194560" cy="457200"/>
          </a:xfrm>
          <a:prstGeom prst="roundRect">
            <a:avLst>
              <a:gd name="adj" fmla="val 20000"/>
            </a:avLst>
          </a:prstGeom>
          <a:solidFill>
            <a:schemeClr val="accent3"/>
          </a:solidFill>
          <a:ln w="12700">
            <a:solidFill>
              <a:schemeClr val="bg1"/>
            </a:solidFill>
            <a:prstDash val="solid"/>
          </a:ln>
        </p:spPr>
      </p:sp>
      <p:sp>
        <p:nvSpPr>
          <p:cNvPr id="14" name="Text 11"/>
          <p:cNvSpPr txBox="1"/>
          <p:nvPr/>
        </p:nvSpPr>
        <p:spPr>
          <a:xfrm>
            <a:off x="6217920" y="1371600"/>
            <a:ext cx="2194560" cy="457200"/>
          </a:xfrm>
          <a:prstGeom prst="rect">
            <a:avLst/>
          </a:prstGeom>
          <a:noFill/>
          <a:ln/>
        </p:spPr>
        <p:txBody>
          <a:bodyPr wrap="square" lIns="0" tIns="0" rIns="0" bIns="0" rtlCol="0" anchor="ctr"/>
          <a:lstStyle/>
          <a:p>
            <a:pPr marL="0" indent="0" algn="ctr">
              <a:buNone/>
            </a:pPr>
            <a:r>
              <a:rPr lang="en-US" sz="1600" b="1" dirty="0">
                <a:solidFill>
                  <a:schemeClr val="bg1"/>
                </a:solidFill>
              </a:rPr>
              <a:t>Think</a:t>
            </a:r>
            <a:endParaRPr lang="en-US" sz="1600" dirty="0"/>
          </a:p>
        </p:txBody>
      </p:sp>
      <p:sp>
        <p:nvSpPr>
          <p:cNvPr id="15" name="Text 12"/>
          <p:cNvSpPr txBox="1"/>
          <p:nvPr/>
        </p:nvSpPr>
        <p:spPr>
          <a:xfrm>
            <a:off x="6217920" y="2011680"/>
            <a:ext cx="2194560" cy="19202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A giant, dragon-like creature of the dusty plain that pulls the wagons. It is imaginary, so the story is fantasy.</a:t>
            </a:r>
            <a:endParaRPr lang="en-US" sz="1500" dirty="0"/>
          </a:p>
        </p:txBody>
      </p:sp>
      <p:sp>
        <p:nvSpPr>
          <p:cNvPr id="16" name="card"/>
          <p:cNvSpPr/>
          <p:nvPr/>
        </p:nvSpPr>
        <p:spPr>
          <a:xfrm>
            <a:off x="548640" y="4114800"/>
            <a:ext cx="8046720" cy="502920"/>
          </a:xfrm>
          <a:prstGeom prst="roundRect">
            <a:avLst>
              <a:gd name="adj" fmla="val 21818"/>
            </a:avLst>
          </a:prstGeom>
          <a:solidFill>
            <a:schemeClr val="accent1"/>
          </a:solidFill>
          <a:ln w="12700">
            <a:solidFill>
              <a:schemeClr val="accent1"/>
            </a:solidFill>
            <a:prstDash val="solid"/>
          </a:ln>
        </p:spPr>
      </p:sp>
      <p:sp>
        <p:nvSpPr>
          <p:cNvPr id="17" name="Text 14"/>
          <p:cNvSpPr txBox="1"/>
          <p:nvPr/>
        </p:nvSpPr>
        <p:spPr>
          <a:xfrm>
            <a:off x="731520" y="4114800"/>
            <a:ext cx="7680960" cy="502920"/>
          </a:xfrm>
          <a:prstGeom prst="rect">
            <a:avLst/>
          </a:prstGeom>
          <a:noFill/>
          <a:ln/>
        </p:spPr>
        <p:txBody>
          <a:bodyPr wrap="square" lIns="0" tIns="0" rIns="0" bIns="0" rtlCol="0" anchor="ctr"/>
          <a:lstStyle/>
          <a:p>
            <a:pPr marL="0" indent="0">
              <a:buNone/>
            </a:pPr>
            <a:r>
              <a:rPr lang="en-US" sz="1500" b="1" dirty="0">
                <a:solidFill>
                  <a:schemeClr val="tx1"/>
                </a:solidFill>
              </a:rPr>
              <a:t>Use the word in your own sentence about the story.</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Finding key points</a:t>
            </a:r>
            <a:endParaRPr lang="en-US" sz="3000" dirty="0"/>
          </a:p>
        </p:txBody>
      </p:sp>
      <p:sp>
        <p:nvSpPr>
          <p:cNvPr id="4" name="card"/>
          <p:cNvSpPr/>
          <p:nvPr/>
        </p:nvSpPr>
        <p:spPr>
          <a:xfrm>
            <a:off x="548640" y="1188720"/>
            <a:ext cx="8046720" cy="1371600"/>
          </a:xfrm>
          <a:prstGeom prst="roundRect">
            <a:avLst>
              <a:gd name="adj" fmla="val 8000"/>
            </a:avLst>
          </a:prstGeom>
          <a:solidFill>
            <a:schemeClr val="bg2"/>
          </a:solidFill>
          <a:ln w="12700">
            <a:solidFill>
              <a:schemeClr val="bg2"/>
            </a:solidFill>
            <a:prstDash val="solid"/>
          </a:ln>
        </p:spPr>
      </p:sp>
      <p:sp>
        <p:nvSpPr>
          <p:cNvPr id="5" name="Text 2"/>
          <p:cNvSpPr txBox="1"/>
          <p:nvPr/>
        </p:nvSpPr>
        <p:spPr>
          <a:xfrm>
            <a:off x="777240" y="1280160"/>
            <a:ext cx="1828800" cy="320040"/>
          </a:xfrm>
          <a:prstGeom prst="rect">
            <a:avLst/>
          </a:prstGeom>
          <a:noFill/>
          <a:ln/>
        </p:spPr>
        <p:txBody>
          <a:bodyPr wrap="square" lIns="0" tIns="0" rIns="0" bIns="0" rtlCol="0" anchor="t"/>
          <a:lstStyle/>
          <a:p>
            <a:pPr marL="0" indent="0">
              <a:buNone/>
            </a:pPr>
            <a:r>
              <a:rPr lang="en-US" sz="1400" b="1" dirty="0">
                <a:solidFill>
                  <a:schemeClr val="accent4"/>
                </a:solidFill>
              </a:rPr>
              <a:t>Model</a:t>
            </a:r>
            <a:endParaRPr lang="en-US" sz="1400" dirty="0"/>
          </a:p>
        </p:txBody>
      </p:sp>
      <p:sp>
        <p:nvSpPr>
          <p:cNvPr id="6" name="Text 3"/>
          <p:cNvSpPr txBox="1"/>
          <p:nvPr/>
        </p:nvSpPr>
        <p:spPr>
          <a:xfrm>
            <a:off x="777240" y="1645920"/>
            <a:ext cx="7589520" cy="868680"/>
          </a:xfrm>
          <a:prstGeom prst="rect">
            <a:avLst/>
          </a:prstGeom>
          <a:noFill/>
          <a:ln/>
        </p:spPr>
        <p:txBody>
          <a:bodyPr wrap="square" lIns="0" tIns="0" rIns="0" bIns="0" rtlCol="0" anchor="t"/>
          <a:lstStyle/>
          <a:p>
            <a:pPr marL="0" indent="0">
              <a:buNone/>
            </a:pPr>
            <a:r>
              <a:rPr lang="en-US" sz="1700" i="1" dirty="0">
                <a:solidFill>
                  <a:schemeClr val="tx1"/>
                </a:solidFill>
              </a:rPr>
              <a:t>"It says here that Orrin carried a </a:t>
            </a:r>
            <a:r>
              <a:rPr lang="en-US" sz="1700" b="1" i="1" dirty="0">
                <a:solidFill>
                  <a:schemeClr val="tx1"/>
                </a:solidFill>
                <a:highlight>
                  <a:srgbClr val="FFD27F"/>
                </a:highlight>
              </a:rPr>
              <a:t>forked hazel stick</a:t>
            </a:r>
            <a:r>
              <a:rPr lang="en-US" sz="1700" i="1" dirty="0">
                <a:solidFill>
                  <a:schemeClr val="tx1"/>
                </a:solidFill>
              </a:rPr>
              <a:t>. When water is hidden underground, the stick twitches. So the stick helps the people find water."</a:t>
            </a:r>
            <a:endParaRPr lang="en-US" sz="1600" dirty="0"/>
          </a:p>
        </p:txBody>
      </p:sp>
      <p:sp>
        <p:nvSpPr>
          <p:cNvPr id="7" name="card"/>
          <p:cNvSpPr/>
          <p:nvPr/>
        </p:nvSpPr>
        <p:spPr>
          <a:xfrm>
            <a:off x="548640" y="2788920"/>
            <a:ext cx="2560320" cy="1645920"/>
          </a:xfrm>
          <a:prstGeom prst="roundRect">
            <a:avLst>
              <a:gd name="adj" fmla="val 6667"/>
            </a:avLst>
          </a:prstGeom>
          <a:solidFill>
            <a:schemeClr val="bg2"/>
          </a:solidFill>
          <a:ln w="12700">
            <a:solidFill>
              <a:schemeClr val="bg2"/>
            </a:solidFill>
            <a:prstDash val="solid"/>
          </a:ln>
        </p:spPr>
      </p:sp>
      <p:sp>
        <p:nvSpPr>
          <p:cNvPr id="8" name="badge"/>
          <p:cNvSpPr/>
          <p:nvPr/>
        </p:nvSpPr>
        <p:spPr>
          <a:xfrm>
            <a:off x="731520" y="3017520"/>
            <a:ext cx="731520" cy="731520"/>
          </a:xfrm>
          <a:prstGeom prst="ellipse">
            <a:avLst/>
          </a:prstGeom>
          <a:solidFill>
            <a:schemeClr val="accent4"/>
          </a:solidFill>
          <a:ln w="12700">
            <a:solidFill>
              <a:schemeClr val="accent4"/>
            </a:solidFill>
            <a:prstDash val="solid"/>
          </a:ln>
        </p:spPr>
      </p:sp>
      <p:pic>
        <p:nvPicPr>
          <p:cNvPr id="9" name="icon" descr="book"/>
          <p:cNvPicPr>
            <a:picLocks noChangeAspect="1"/>
          </p:cNvPicPr>
          <p:nvPr/>
        </p:nvPicPr>
        <p:blipFill>
          <a:blip r:embed="rId3"/>
          <a:stretch>
            <a:fillRect/>
          </a:stretch>
        </p:blipFill>
        <p:spPr>
          <a:xfrm>
            <a:off x="921715" y="3207715"/>
            <a:ext cx="351130" cy="351130"/>
          </a:xfrm>
          <a:prstGeom prst="rect">
            <a:avLst/>
          </a:prstGeom>
        </p:spPr>
      </p:pic>
      <p:sp>
        <p:nvSpPr>
          <p:cNvPr id="10" name="Text 6"/>
          <p:cNvSpPr txBox="1"/>
          <p:nvPr/>
        </p:nvSpPr>
        <p:spPr>
          <a:xfrm>
            <a:off x="1600200" y="3017520"/>
            <a:ext cx="1371600" cy="731520"/>
          </a:xfrm>
          <a:prstGeom prst="rect">
            <a:avLst/>
          </a:prstGeom>
          <a:noFill/>
          <a:ln/>
        </p:spPr>
        <p:txBody>
          <a:bodyPr wrap="square" lIns="0" tIns="0" rIns="0" bIns="0" rtlCol="0" anchor="ctr"/>
          <a:lstStyle/>
          <a:p>
            <a:pPr marL="0" indent="0">
              <a:buNone/>
            </a:pPr>
            <a:r>
              <a:rPr lang="en-US" sz="2000" b="1" dirty="0">
                <a:solidFill>
                  <a:schemeClr val="tx1"/>
                </a:solidFill>
              </a:rPr>
              <a:t>Reread</a:t>
            </a:r>
            <a:endParaRPr lang="en-US" sz="2000" dirty="0"/>
          </a:p>
        </p:txBody>
      </p:sp>
      <p:sp>
        <p:nvSpPr>
          <p:cNvPr id="11" name="Text 7"/>
          <p:cNvSpPr txBox="1"/>
          <p:nvPr/>
        </p:nvSpPr>
        <p:spPr>
          <a:xfrm>
            <a:off x="731520" y="3840480"/>
            <a:ext cx="2194560" cy="548640"/>
          </a:xfrm>
          <a:prstGeom prst="rect">
            <a:avLst/>
          </a:prstGeom>
          <a:noFill/>
          <a:ln/>
        </p:spPr>
        <p:txBody>
          <a:bodyPr wrap="square" lIns="0" tIns="0" rIns="0" bIns="0" rtlCol="0" anchor="t"/>
          <a:lstStyle/>
          <a:p>
            <a:pPr marL="0" indent="0">
              <a:buNone/>
            </a:pPr>
            <a:r>
              <a:rPr lang="en-US" sz="1400" dirty="0">
                <a:solidFill>
                  <a:schemeClr val="tx1"/>
                </a:solidFill>
              </a:rPr>
              <a:t>Go back to the text.</a:t>
            </a:r>
            <a:endParaRPr lang="en-US" sz="1400" dirty="0"/>
          </a:p>
        </p:txBody>
      </p:sp>
      <p:sp>
        <p:nvSpPr>
          <p:cNvPr id="12" name="card"/>
          <p:cNvSpPr/>
          <p:nvPr/>
        </p:nvSpPr>
        <p:spPr>
          <a:xfrm>
            <a:off x="3291840" y="2788920"/>
            <a:ext cx="2560320" cy="1645920"/>
          </a:xfrm>
          <a:prstGeom prst="roundRect">
            <a:avLst>
              <a:gd name="adj" fmla="val 6667"/>
            </a:avLst>
          </a:prstGeom>
          <a:solidFill>
            <a:schemeClr val="bg2"/>
          </a:solidFill>
          <a:ln w="12700">
            <a:solidFill>
              <a:schemeClr val="bg2"/>
            </a:solidFill>
            <a:prstDash val="solid"/>
          </a:ln>
        </p:spPr>
      </p:sp>
      <p:sp>
        <p:nvSpPr>
          <p:cNvPr id="13" name="badge"/>
          <p:cNvSpPr/>
          <p:nvPr/>
        </p:nvSpPr>
        <p:spPr>
          <a:xfrm>
            <a:off x="3474720" y="3017520"/>
            <a:ext cx="731520" cy="731520"/>
          </a:xfrm>
          <a:prstGeom prst="ellipse">
            <a:avLst/>
          </a:prstGeom>
          <a:solidFill>
            <a:schemeClr val="accent2"/>
          </a:solidFill>
          <a:ln w="12700">
            <a:solidFill>
              <a:schemeClr val="accent2"/>
            </a:solidFill>
            <a:prstDash val="solid"/>
          </a:ln>
        </p:spPr>
      </p:sp>
      <p:pic>
        <p:nvPicPr>
          <p:cNvPr id="14" name="icon" descr="search"/>
          <p:cNvPicPr>
            <a:picLocks noChangeAspect="1"/>
          </p:cNvPicPr>
          <p:nvPr/>
        </p:nvPicPr>
        <p:blipFill>
          <a:blip r:embed="rId4"/>
          <a:stretch>
            <a:fillRect/>
          </a:stretch>
        </p:blipFill>
        <p:spPr>
          <a:xfrm>
            <a:off x="3664915" y="3207715"/>
            <a:ext cx="351130" cy="351130"/>
          </a:xfrm>
          <a:prstGeom prst="rect">
            <a:avLst/>
          </a:prstGeom>
        </p:spPr>
      </p:pic>
      <p:sp>
        <p:nvSpPr>
          <p:cNvPr id="15" name="Text 10"/>
          <p:cNvSpPr txBox="1"/>
          <p:nvPr/>
        </p:nvSpPr>
        <p:spPr>
          <a:xfrm>
            <a:off x="4343400" y="3017520"/>
            <a:ext cx="1371600" cy="731520"/>
          </a:xfrm>
          <a:prstGeom prst="rect">
            <a:avLst/>
          </a:prstGeom>
          <a:noFill/>
          <a:ln/>
        </p:spPr>
        <p:txBody>
          <a:bodyPr wrap="square" lIns="0" tIns="0" rIns="0" bIns="0" rtlCol="0" anchor="ctr"/>
          <a:lstStyle/>
          <a:p>
            <a:pPr marL="0" indent="0">
              <a:buNone/>
            </a:pPr>
            <a:r>
              <a:rPr lang="en-US" sz="2000" b="1" dirty="0">
                <a:solidFill>
                  <a:schemeClr val="tx1"/>
                </a:solidFill>
              </a:rPr>
              <a:t>Find</a:t>
            </a:r>
            <a:endParaRPr lang="en-US" sz="2000" dirty="0"/>
          </a:p>
        </p:txBody>
      </p:sp>
      <p:sp>
        <p:nvSpPr>
          <p:cNvPr id="16" name="Text 11"/>
          <p:cNvSpPr txBox="1"/>
          <p:nvPr/>
        </p:nvSpPr>
        <p:spPr>
          <a:xfrm>
            <a:off x="3474720" y="3840480"/>
            <a:ext cx="2194560" cy="548640"/>
          </a:xfrm>
          <a:prstGeom prst="rect">
            <a:avLst/>
          </a:prstGeom>
          <a:noFill/>
          <a:ln/>
        </p:spPr>
        <p:txBody>
          <a:bodyPr wrap="square" lIns="0" tIns="0" rIns="0" bIns="0" rtlCol="0" anchor="t"/>
          <a:lstStyle/>
          <a:p>
            <a:pPr marL="0" indent="0">
              <a:buNone/>
            </a:pPr>
            <a:r>
              <a:rPr lang="en-US" sz="1400" dirty="0">
                <a:solidFill>
                  <a:schemeClr val="tx1"/>
                </a:solidFill>
              </a:rPr>
              <a:t>Point to the exact words.</a:t>
            </a:r>
            <a:endParaRPr lang="en-US" sz="1400" dirty="0"/>
          </a:p>
        </p:txBody>
      </p:sp>
      <p:sp>
        <p:nvSpPr>
          <p:cNvPr id="17" name="card"/>
          <p:cNvSpPr/>
          <p:nvPr/>
        </p:nvSpPr>
        <p:spPr>
          <a:xfrm>
            <a:off x="6035040" y="2788920"/>
            <a:ext cx="2560320" cy="1645920"/>
          </a:xfrm>
          <a:prstGeom prst="roundRect">
            <a:avLst>
              <a:gd name="adj" fmla="val 6667"/>
            </a:avLst>
          </a:prstGeom>
          <a:solidFill>
            <a:schemeClr val="bg2"/>
          </a:solidFill>
          <a:ln w="12700">
            <a:solidFill>
              <a:schemeClr val="bg2"/>
            </a:solidFill>
            <a:prstDash val="solid"/>
          </a:ln>
        </p:spPr>
      </p:sp>
      <p:sp>
        <p:nvSpPr>
          <p:cNvPr id="18" name="badge"/>
          <p:cNvSpPr/>
          <p:nvPr/>
        </p:nvSpPr>
        <p:spPr>
          <a:xfrm>
            <a:off x="6217920" y="3017520"/>
            <a:ext cx="731520" cy="731520"/>
          </a:xfrm>
          <a:prstGeom prst="ellipse">
            <a:avLst/>
          </a:prstGeom>
          <a:solidFill>
            <a:schemeClr val="accent3"/>
          </a:solidFill>
          <a:ln w="12700">
            <a:solidFill>
              <a:schemeClr val="accent3"/>
            </a:solidFill>
            <a:prstDash val="solid"/>
          </a:ln>
        </p:spPr>
      </p:sp>
      <p:pic>
        <p:nvPicPr>
          <p:cNvPr id="19" name="icon" descr="comment"/>
          <p:cNvPicPr>
            <a:picLocks noChangeAspect="1"/>
          </p:cNvPicPr>
          <p:nvPr/>
        </p:nvPicPr>
        <p:blipFill>
          <a:blip r:embed="rId5"/>
          <a:stretch>
            <a:fillRect/>
          </a:stretch>
        </p:blipFill>
        <p:spPr>
          <a:xfrm>
            <a:off x="6408115" y="3207715"/>
            <a:ext cx="351130" cy="351130"/>
          </a:xfrm>
          <a:prstGeom prst="rect">
            <a:avLst/>
          </a:prstGeom>
        </p:spPr>
      </p:pic>
      <p:sp>
        <p:nvSpPr>
          <p:cNvPr id="20" name="Text 14"/>
          <p:cNvSpPr txBox="1"/>
          <p:nvPr/>
        </p:nvSpPr>
        <p:spPr>
          <a:xfrm>
            <a:off x="7086600" y="3017520"/>
            <a:ext cx="1371600" cy="731520"/>
          </a:xfrm>
          <a:prstGeom prst="rect">
            <a:avLst/>
          </a:prstGeom>
          <a:noFill/>
          <a:ln/>
        </p:spPr>
        <p:txBody>
          <a:bodyPr wrap="square" lIns="0" tIns="0" rIns="0" bIns="0" rtlCol="0" anchor="ctr"/>
          <a:lstStyle/>
          <a:p>
            <a:pPr marL="0" indent="0">
              <a:buNone/>
            </a:pPr>
            <a:r>
              <a:rPr lang="en-US" sz="2000" b="1" dirty="0">
                <a:solidFill>
                  <a:schemeClr val="tx1"/>
                </a:solidFill>
              </a:rPr>
              <a:t>Say</a:t>
            </a:r>
            <a:endParaRPr lang="en-US" sz="2000" dirty="0"/>
          </a:p>
        </p:txBody>
      </p:sp>
      <p:sp>
        <p:nvSpPr>
          <p:cNvPr id="21" name="Text 15"/>
          <p:cNvSpPr txBox="1"/>
          <p:nvPr/>
        </p:nvSpPr>
        <p:spPr>
          <a:xfrm>
            <a:off x="6217920" y="3840480"/>
            <a:ext cx="2194560" cy="548640"/>
          </a:xfrm>
          <a:prstGeom prst="rect">
            <a:avLst/>
          </a:prstGeom>
          <a:noFill/>
          <a:ln/>
        </p:spPr>
        <p:txBody>
          <a:bodyPr wrap="square" lIns="0" tIns="0" rIns="0" bIns="0" rtlCol="0" anchor="t"/>
          <a:lstStyle/>
          <a:p>
            <a:pPr marL="0" indent="0">
              <a:buNone/>
            </a:pPr>
            <a:r>
              <a:rPr lang="en-US" sz="1400" dirty="0">
                <a:solidFill>
                  <a:schemeClr val="tx1"/>
                </a:solidFill>
              </a:rPr>
              <a:t>"It says here that ..."</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lIns="0" tIns="0" rIns="0" bIns="0" rtlCol="0" anchor="ctr"/>
          <a:lstStyle/>
          <a:p>
            <a:pPr marL="0" indent="0" algn="l">
              <a:buNone/>
            </a:pPr>
            <a:r>
              <a:rPr lang="en-US" sz="4000" b="1" dirty="0">
                <a:solidFill>
                  <a:schemeClr val="bg1"/>
                </a:solidFill>
              </a:rPr>
              <a:t>Make a mind map</a:t>
            </a: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lIns="0" tIns="0" rIns="0" bIns="0" rtlCol="0" anchor="t"/>
          <a:lstStyle/>
          <a:p>
            <a:pPr marL="0" indent="0">
              <a:buNone/>
            </a:pPr>
            <a:r>
              <a:rPr lang="en-US" sz="1800" dirty="0">
                <a:solidFill>
                  <a:schemeClr val="accent1"/>
                </a:solidFill>
              </a:rPr>
              <a:t>What have we learnt about the story so far?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Your mission</a:t>
            </a:r>
            <a:endParaRPr lang="en-US" sz="3000" dirty="0"/>
          </a:p>
        </p:txBody>
      </p:sp>
      <p:sp>
        <p:nvSpPr>
          <p:cNvPr id="4" name="card"/>
          <p:cNvSpPr/>
          <p:nvPr/>
        </p:nvSpPr>
        <p:spPr>
          <a:xfrm>
            <a:off x="548640" y="1143000"/>
            <a:ext cx="8046720" cy="731520"/>
          </a:xfrm>
          <a:prstGeom prst="roundRect">
            <a:avLst>
              <a:gd name="adj" fmla="val 15000"/>
            </a:avLst>
          </a:prstGeom>
          <a:solidFill>
            <a:schemeClr val="bg2"/>
          </a:solidFill>
          <a:ln w="12700">
            <a:solidFill>
              <a:schemeClr val="bg2"/>
            </a:solidFill>
            <a:prstDash val="solid"/>
          </a:ln>
        </p:spPr>
      </p:sp>
      <p:sp>
        <p:nvSpPr>
          <p:cNvPr id="5" name="badge"/>
          <p:cNvSpPr/>
          <p:nvPr/>
        </p:nvSpPr>
        <p:spPr>
          <a:xfrm>
            <a:off x="685800" y="1234440"/>
            <a:ext cx="548640" cy="548640"/>
          </a:xfrm>
          <a:prstGeom prst="ellipse">
            <a:avLst/>
          </a:prstGeom>
          <a:solidFill>
            <a:schemeClr val="accent4"/>
          </a:solidFill>
          <a:ln w="12700">
            <a:solidFill>
              <a:schemeClr val="accent4"/>
            </a:solidFill>
            <a:prstDash val="solid"/>
          </a:ln>
        </p:spPr>
      </p:sp>
      <p:pic>
        <p:nvPicPr>
          <p:cNvPr id="6" name="icon" descr="users"/>
          <p:cNvPicPr>
            <a:picLocks noChangeAspect="1"/>
          </p:cNvPicPr>
          <p:nvPr/>
        </p:nvPicPr>
        <p:blipFill>
          <a:blip r:embed="rId3"/>
          <a:stretch>
            <a:fillRect/>
          </a:stretch>
        </p:blipFill>
        <p:spPr>
          <a:xfrm>
            <a:off x="828446" y="1377086"/>
            <a:ext cx="263347" cy="263347"/>
          </a:xfrm>
          <a:prstGeom prst="rect">
            <a:avLst/>
          </a:prstGeom>
        </p:spPr>
      </p:pic>
      <p:sp>
        <p:nvSpPr>
          <p:cNvPr id="7" name="Text 3"/>
          <p:cNvSpPr txBox="1"/>
          <p:nvPr/>
        </p:nvSpPr>
        <p:spPr>
          <a:xfrm>
            <a:off x="1463040" y="1143000"/>
            <a:ext cx="6949440" cy="731520"/>
          </a:xfrm>
          <a:prstGeom prst="rect">
            <a:avLst/>
          </a:prstGeom>
          <a:noFill/>
          <a:ln/>
        </p:spPr>
        <p:txBody>
          <a:bodyPr wrap="square" lIns="0" tIns="0" rIns="0" bIns="0" rtlCol="0" anchor="ctr"/>
          <a:lstStyle/>
          <a:p>
            <a:pPr marL="0" indent="0">
              <a:buNone/>
            </a:pPr>
            <a:r>
              <a:rPr lang="en-US" sz="1700" dirty="0">
                <a:solidFill>
                  <a:schemeClr val="tx1"/>
                </a:solidFill>
              </a:rPr>
              <a:t>Work in pairs. Take turns to read aloud, a paragraph each.</a:t>
            </a:r>
            <a:endParaRPr lang="en-US" sz="1700" dirty="0"/>
          </a:p>
        </p:txBody>
      </p:sp>
      <p:sp>
        <p:nvSpPr>
          <p:cNvPr id="8" name="card"/>
          <p:cNvSpPr/>
          <p:nvPr/>
        </p:nvSpPr>
        <p:spPr>
          <a:xfrm>
            <a:off x="548640" y="2011680"/>
            <a:ext cx="8046720" cy="731520"/>
          </a:xfrm>
          <a:prstGeom prst="roundRect">
            <a:avLst>
              <a:gd name="adj" fmla="val 15000"/>
            </a:avLst>
          </a:prstGeom>
          <a:solidFill>
            <a:schemeClr val="bg2"/>
          </a:solidFill>
          <a:ln w="12700">
            <a:solidFill>
              <a:schemeClr val="bg2"/>
            </a:solidFill>
            <a:prstDash val="solid"/>
          </a:ln>
        </p:spPr>
      </p:sp>
      <p:sp>
        <p:nvSpPr>
          <p:cNvPr id="9" name="badge"/>
          <p:cNvSpPr/>
          <p:nvPr/>
        </p:nvSpPr>
        <p:spPr>
          <a:xfrm>
            <a:off x="685800" y="2103120"/>
            <a:ext cx="548640" cy="548640"/>
          </a:xfrm>
          <a:prstGeom prst="ellipse">
            <a:avLst/>
          </a:prstGeom>
          <a:solidFill>
            <a:schemeClr val="accent2"/>
          </a:solidFill>
          <a:ln w="12700">
            <a:solidFill>
              <a:schemeClr val="accent2"/>
            </a:solidFill>
            <a:prstDash val="solid"/>
          </a:ln>
        </p:spPr>
      </p:sp>
      <p:pic>
        <p:nvPicPr>
          <p:cNvPr id="10" name="icon" descr="search"/>
          <p:cNvPicPr>
            <a:picLocks noChangeAspect="1"/>
          </p:cNvPicPr>
          <p:nvPr/>
        </p:nvPicPr>
        <p:blipFill>
          <a:blip r:embed="rId4"/>
          <a:stretch>
            <a:fillRect/>
          </a:stretch>
        </p:blipFill>
        <p:spPr>
          <a:xfrm>
            <a:off x="828446" y="2245766"/>
            <a:ext cx="263347" cy="263347"/>
          </a:xfrm>
          <a:prstGeom prst="rect">
            <a:avLst/>
          </a:prstGeom>
        </p:spPr>
      </p:pic>
      <p:sp>
        <p:nvSpPr>
          <p:cNvPr id="11" name="Text 6"/>
          <p:cNvSpPr txBox="1"/>
          <p:nvPr/>
        </p:nvSpPr>
        <p:spPr>
          <a:xfrm>
            <a:off x="1463040" y="2011680"/>
            <a:ext cx="6949440" cy="731520"/>
          </a:xfrm>
          <a:prstGeom prst="rect">
            <a:avLst/>
          </a:prstGeom>
          <a:noFill/>
          <a:ln/>
        </p:spPr>
        <p:txBody>
          <a:bodyPr wrap="square" lIns="0" tIns="0" rIns="0" bIns="0" rtlCol="0" anchor="ctr"/>
          <a:lstStyle/>
          <a:p>
            <a:pPr marL="0" indent="0">
              <a:buNone/>
            </a:pPr>
            <a:r>
              <a:rPr lang="en-US" sz="1700" dirty="0">
                <a:solidFill>
                  <a:schemeClr val="tx1"/>
                </a:solidFill>
              </a:rPr>
              <a:t>Reread parts 1 to 3 and underline new words. Use the Word Detective method.</a:t>
            </a:r>
            <a:endParaRPr lang="en-US" sz="1700" dirty="0"/>
          </a:p>
        </p:txBody>
      </p:sp>
      <p:sp>
        <p:nvSpPr>
          <p:cNvPr id="12" name="card"/>
          <p:cNvSpPr/>
          <p:nvPr/>
        </p:nvSpPr>
        <p:spPr>
          <a:xfrm>
            <a:off x="548640" y="2880360"/>
            <a:ext cx="8046720" cy="731520"/>
          </a:xfrm>
          <a:prstGeom prst="roundRect">
            <a:avLst>
              <a:gd name="adj" fmla="val 15000"/>
            </a:avLst>
          </a:prstGeom>
          <a:solidFill>
            <a:schemeClr val="bg2"/>
          </a:solidFill>
          <a:ln w="12700">
            <a:solidFill>
              <a:schemeClr val="bg2"/>
            </a:solidFill>
            <a:prstDash val="solid"/>
          </a:ln>
        </p:spPr>
      </p:sp>
      <p:sp>
        <p:nvSpPr>
          <p:cNvPr id="13" name="badge"/>
          <p:cNvSpPr/>
          <p:nvPr/>
        </p:nvSpPr>
        <p:spPr>
          <a:xfrm>
            <a:off x="685800" y="2971800"/>
            <a:ext cx="548640" cy="548640"/>
          </a:xfrm>
          <a:prstGeom prst="ellipse">
            <a:avLst/>
          </a:prstGeom>
          <a:solidFill>
            <a:schemeClr val="accent3"/>
          </a:solidFill>
          <a:ln w="12700">
            <a:solidFill>
              <a:schemeClr val="accent3"/>
            </a:solidFill>
            <a:prstDash val="solid"/>
          </a:ln>
        </p:spPr>
      </p:sp>
      <p:pic>
        <p:nvPicPr>
          <p:cNvPr id="14" name="icon" descr="sitemap"/>
          <p:cNvPicPr>
            <a:picLocks noChangeAspect="1"/>
          </p:cNvPicPr>
          <p:nvPr/>
        </p:nvPicPr>
        <p:blipFill>
          <a:blip r:embed="rId5"/>
          <a:stretch>
            <a:fillRect/>
          </a:stretch>
        </p:blipFill>
        <p:spPr>
          <a:xfrm>
            <a:off x="828446" y="3114446"/>
            <a:ext cx="263347" cy="263347"/>
          </a:xfrm>
          <a:prstGeom prst="rect">
            <a:avLst/>
          </a:prstGeom>
        </p:spPr>
      </p:pic>
      <p:sp>
        <p:nvSpPr>
          <p:cNvPr id="15" name="Text 9"/>
          <p:cNvSpPr txBox="1"/>
          <p:nvPr/>
        </p:nvSpPr>
        <p:spPr>
          <a:xfrm>
            <a:off x="1463040" y="2880360"/>
            <a:ext cx="6949440" cy="731520"/>
          </a:xfrm>
          <a:prstGeom prst="rect">
            <a:avLst/>
          </a:prstGeom>
          <a:noFill/>
          <a:ln/>
        </p:spPr>
        <p:txBody>
          <a:bodyPr wrap="square" lIns="0" tIns="0" rIns="0" bIns="0" rtlCol="0" anchor="ctr"/>
          <a:lstStyle/>
          <a:p>
            <a:pPr marL="0" indent="0">
              <a:buNone/>
            </a:pPr>
            <a:r>
              <a:rPr lang="en-US" sz="1700" dirty="0">
                <a:solidFill>
                  <a:schemeClr val="tx1"/>
                </a:solidFill>
              </a:rPr>
              <a:t>Build a mind map. Answer the four questions on the next slide.</a:t>
            </a:r>
            <a:endParaRPr lang="en-US" sz="1700" dirty="0"/>
          </a:p>
        </p:txBody>
      </p:sp>
      <p:sp>
        <p:nvSpPr>
          <p:cNvPr id="16" name="card"/>
          <p:cNvSpPr/>
          <p:nvPr/>
        </p:nvSpPr>
        <p:spPr>
          <a:xfrm>
            <a:off x="548640" y="3749040"/>
            <a:ext cx="8046720" cy="731520"/>
          </a:xfrm>
          <a:prstGeom prst="roundRect">
            <a:avLst>
              <a:gd name="adj" fmla="val 15000"/>
            </a:avLst>
          </a:prstGeom>
          <a:solidFill>
            <a:schemeClr val="bg2"/>
          </a:solidFill>
          <a:ln w="12700">
            <a:solidFill>
              <a:schemeClr val="bg2"/>
            </a:solidFill>
            <a:prstDash val="solid"/>
          </a:ln>
        </p:spPr>
      </p:sp>
      <p:sp>
        <p:nvSpPr>
          <p:cNvPr id="17" name="badge"/>
          <p:cNvSpPr/>
          <p:nvPr/>
        </p:nvSpPr>
        <p:spPr>
          <a:xfrm>
            <a:off x="685800" y="3840480"/>
            <a:ext cx="548640" cy="548640"/>
          </a:xfrm>
          <a:prstGeom prst="ellipse">
            <a:avLst/>
          </a:prstGeom>
          <a:solidFill>
            <a:schemeClr val="accent5"/>
          </a:solidFill>
          <a:ln w="12700">
            <a:solidFill>
              <a:schemeClr val="accent5"/>
            </a:solidFill>
            <a:prstDash val="solid"/>
          </a:ln>
        </p:spPr>
      </p:sp>
      <p:pic>
        <p:nvPicPr>
          <p:cNvPr id="18" name="icon" descr="comment"/>
          <p:cNvPicPr>
            <a:picLocks noChangeAspect="1"/>
          </p:cNvPicPr>
          <p:nvPr/>
        </p:nvPicPr>
        <p:blipFill>
          <a:blip r:embed="rId6"/>
          <a:stretch>
            <a:fillRect/>
          </a:stretch>
        </p:blipFill>
        <p:spPr>
          <a:xfrm>
            <a:off x="828446" y="3983126"/>
            <a:ext cx="263347" cy="263347"/>
          </a:xfrm>
          <a:prstGeom prst="rect">
            <a:avLst/>
          </a:prstGeom>
        </p:spPr>
      </p:pic>
      <p:sp>
        <p:nvSpPr>
          <p:cNvPr id="19" name="Text 12"/>
          <p:cNvSpPr txBox="1"/>
          <p:nvPr/>
        </p:nvSpPr>
        <p:spPr>
          <a:xfrm>
            <a:off x="1463040" y="3749040"/>
            <a:ext cx="6949440" cy="731520"/>
          </a:xfrm>
          <a:prstGeom prst="rect">
            <a:avLst/>
          </a:prstGeom>
          <a:noFill/>
          <a:ln/>
        </p:spPr>
        <p:txBody>
          <a:bodyPr wrap="square" lIns="0" tIns="0" rIns="0" bIns="0" rtlCol="0" anchor="ctr"/>
          <a:lstStyle/>
          <a:p>
            <a:pPr marL="0" indent="0">
              <a:buNone/>
            </a:pPr>
            <a:r>
              <a:rPr lang="en-US" sz="1700" dirty="0">
                <a:solidFill>
                  <a:schemeClr val="tx1"/>
                </a:solidFill>
              </a:rPr>
              <a:t>Use "It says here that ..." when you share your ideas.</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Mind map: the story so far</a:t>
            </a:r>
            <a:endParaRPr lang="en-US" sz="3000" dirty="0"/>
          </a:p>
        </p:txBody>
      </p:sp>
      <p:sp>
        <p:nvSpPr>
          <p:cNvPr id="4" name="link"/>
          <p:cNvSpPr/>
          <p:nvPr/>
        </p:nvSpPr>
        <p:spPr>
          <a:xfrm>
            <a:off x="3291840" y="1600200"/>
            <a:ext cx="1097280" cy="960120"/>
          </a:xfrm>
          <a:prstGeom prst="line">
            <a:avLst/>
          </a:prstGeom>
          <a:noFill/>
          <a:ln w="38100">
            <a:solidFill>
              <a:srgbClr val="BDB6D9"/>
            </a:solidFill>
            <a:prstDash val="solid"/>
          </a:ln>
        </p:spPr>
      </p:sp>
      <p:sp>
        <p:nvSpPr>
          <p:cNvPr id="5" name="link"/>
          <p:cNvSpPr/>
          <p:nvPr/>
        </p:nvSpPr>
        <p:spPr>
          <a:xfrm flipV="1">
            <a:off x="4572000" y="1600200"/>
            <a:ext cx="1097280" cy="960120"/>
          </a:xfrm>
          <a:prstGeom prst="line">
            <a:avLst/>
          </a:prstGeom>
          <a:noFill/>
          <a:ln w="38100">
            <a:solidFill>
              <a:srgbClr val="BDB6D9"/>
            </a:solidFill>
            <a:prstDash val="solid"/>
          </a:ln>
        </p:spPr>
      </p:sp>
      <p:sp>
        <p:nvSpPr>
          <p:cNvPr id="6" name="link"/>
          <p:cNvSpPr/>
          <p:nvPr/>
        </p:nvSpPr>
        <p:spPr>
          <a:xfrm flipV="1">
            <a:off x="3291840" y="2560320"/>
            <a:ext cx="1097280" cy="1417320"/>
          </a:xfrm>
          <a:prstGeom prst="line">
            <a:avLst/>
          </a:prstGeom>
          <a:noFill/>
          <a:ln w="38100">
            <a:solidFill>
              <a:srgbClr val="BDB6D9"/>
            </a:solidFill>
            <a:prstDash val="solid"/>
          </a:ln>
        </p:spPr>
      </p:sp>
      <p:sp>
        <p:nvSpPr>
          <p:cNvPr id="7" name="link"/>
          <p:cNvSpPr/>
          <p:nvPr/>
        </p:nvSpPr>
        <p:spPr>
          <a:xfrm>
            <a:off x="4572000" y="2560320"/>
            <a:ext cx="1097280" cy="1417320"/>
          </a:xfrm>
          <a:prstGeom prst="line">
            <a:avLst/>
          </a:prstGeom>
          <a:noFill/>
          <a:ln w="38100">
            <a:solidFill>
              <a:srgbClr val="BDB6D9"/>
            </a:solidFill>
            <a:prstDash val="solid"/>
          </a:ln>
        </p:spPr>
      </p:sp>
      <p:sp>
        <p:nvSpPr>
          <p:cNvPr id="8" name="centre"/>
          <p:cNvSpPr/>
          <p:nvPr/>
        </p:nvSpPr>
        <p:spPr>
          <a:xfrm>
            <a:off x="3291840" y="2011680"/>
            <a:ext cx="2560320" cy="1097280"/>
          </a:xfrm>
          <a:prstGeom prst="ellipse">
            <a:avLst/>
          </a:prstGeom>
          <a:solidFill>
            <a:schemeClr val="tx1"/>
          </a:solidFill>
          <a:ln w="12700">
            <a:solidFill>
              <a:schemeClr val="tx1"/>
            </a:solidFill>
            <a:prstDash val="solid"/>
          </a:ln>
        </p:spPr>
      </p:sp>
      <p:sp>
        <p:nvSpPr>
          <p:cNvPr id="9" name="Text 6"/>
          <p:cNvSpPr txBox="1"/>
          <p:nvPr/>
        </p:nvSpPr>
        <p:spPr>
          <a:xfrm>
            <a:off x="3383280" y="2011680"/>
            <a:ext cx="2377440" cy="1097280"/>
          </a:xfrm>
          <a:prstGeom prst="rect">
            <a:avLst/>
          </a:prstGeom>
          <a:noFill/>
          <a:ln/>
        </p:spPr>
        <p:txBody>
          <a:bodyPr wrap="square" lIns="0" tIns="0" rIns="0" bIns="0" rtlCol="0" anchor="ctr"/>
          <a:lstStyle/>
          <a:p>
            <a:pPr marL="0" indent="0" algn="ctr">
              <a:buNone/>
            </a:pPr>
            <a:r>
              <a:rPr lang="en-US" sz="1700" b="1" dirty="0">
                <a:solidFill>
                  <a:schemeClr val="bg1"/>
                </a:solidFill>
              </a:rPr>
              <a:t>The City That Waited</a:t>
            </a:r>
            <a:endParaRPr lang="en-US" sz="1700" dirty="0"/>
          </a:p>
        </p:txBody>
      </p:sp>
      <p:sp>
        <p:nvSpPr>
          <p:cNvPr id="10" name="branch"/>
          <p:cNvSpPr/>
          <p:nvPr/>
        </p:nvSpPr>
        <p:spPr>
          <a:xfrm>
            <a:off x="548640" y="1143000"/>
            <a:ext cx="2743200" cy="914400"/>
          </a:xfrm>
          <a:prstGeom prst="roundRect">
            <a:avLst>
              <a:gd name="adj" fmla="val 15000"/>
            </a:avLst>
          </a:prstGeom>
          <a:solidFill>
            <a:schemeClr val="accent4"/>
          </a:solidFill>
          <a:ln w="12700">
            <a:solidFill>
              <a:schemeClr val="accent4"/>
            </a:solidFill>
            <a:prstDash val="solid"/>
          </a:ln>
        </p:spPr>
      </p:sp>
      <p:sp>
        <p:nvSpPr>
          <p:cNvPr id="11" name="Text 8"/>
          <p:cNvSpPr txBox="1"/>
          <p:nvPr/>
        </p:nvSpPr>
        <p:spPr>
          <a:xfrm>
            <a:off x="685800" y="1143000"/>
            <a:ext cx="2468880" cy="914400"/>
          </a:xfrm>
          <a:prstGeom prst="rect">
            <a:avLst/>
          </a:prstGeom>
          <a:noFill/>
          <a:ln/>
        </p:spPr>
        <p:txBody>
          <a:bodyPr wrap="square" lIns="0" tIns="0" rIns="0" bIns="0" rtlCol="0" anchor="ctr"/>
          <a:lstStyle/>
          <a:p>
            <a:pPr marL="0" indent="0" algn="ctr">
              <a:buNone/>
            </a:pPr>
            <a:r>
              <a:rPr lang="en-US" sz="1600" b="1" dirty="0">
                <a:solidFill>
                  <a:schemeClr val="bg1"/>
                </a:solidFill>
              </a:rPr>
              <a:t>Where is the story set?</a:t>
            </a:r>
            <a:endParaRPr lang="en-US" sz="1600" dirty="0"/>
          </a:p>
        </p:txBody>
      </p:sp>
      <p:sp>
        <p:nvSpPr>
          <p:cNvPr id="12" name="branch"/>
          <p:cNvSpPr/>
          <p:nvPr/>
        </p:nvSpPr>
        <p:spPr>
          <a:xfrm>
            <a:off x="5852160" y="1143000"/>
            <a:ext cx="2743200" cy="914400"/>
          </a:xfrm>
          <a:prstGeom prst="roundRect">
            <a:avLst>
              <a:gd name="adj" fmla="val 15000"/>
            </a:avLst>
          </a:prstGeom>
          <a:solidFill>
            <a:schemeClr val="accent2"/>
          </a:solidFill>
          <a:ln w="12700">
            <a:solidFill>
              <a:schemeClr val="accent2"/>
            </a:solidFill>
            <a:prstDash val="solid"/>
          </a:ln>
        </p:spPr>
      </p:sp>
      <p:sp>
        <p:nvSpPr>
          <p:cNvPr id="13" name="Text 10"/>
          <p:cNvSpPr txBox="1"/>
          <p:nvPr/>
        </p:nvSpPr>
        <p:spPr>
          <a:xfrm>
            <a:off x="5989320" y="1143000"/>
            <a:ext cx="2468880" cy="914400"/>
          </a:xfrm>
          <a:prstGeom prst="rect">
            <a:avLst/>
          </a:prstGeom>
          <a:noFill/>
          <a:ln/>
        </p:spPr>
        <p:txBody>
          <a:bodyPr wrap="square" lIns="0" tIns="0" rIns="0" bIns="0" rtlCol="0" anchor="ctr"/>
          <a:lstStyle/>
          <a:p>
            <a:pPr marL="0" indent="0" algn="ctr">
              <a:buNone/>
            </a:pPr>
            <a:r>
              <a:rPr lang="en-US" sz="1600" b="1" dirty="0">
                <a:solidFill>
                  <a:schemeClr val="bg1"/>
                </a:solidFill>
              </a:rPr>
              <a:t>Who have we met?</a:t>
            </a:r>
            <a:endParaRPr lang="en-US" sz="1600" dirty="0"/>
          </a:p>
        </p:txBody>
      </p:sp>
      <p:sp>
        <p:nvSpPr>
          <p:cNvPr id="14" name="branch"/>
          <p:cNvSpPr/>
          <p:nvPr/>
        </p:nvSpPr>
        <p:spPr>
          <a:xfrm>
            <a:off x="548640" y="3520440"/>
            <a:ext cx="2743200" cy="914400"/>
          </a:xfrm>
          <a:prstGeom prst="roundRect">
            <a:avLst>
              <a:gd name="adj" fmla="val 15000"/>
            </a:avLst>
          </a:prstGeom>
          <a:solidFill>
            <a:schemeClr val="accent3"/>
          </a:solidFill>
          <a:ln w="12700">
            <a:solidFill>
              <a:schemeClr val="accent3"/>
            </a:solidFill>
            <a:prstDash val="solid"/>
          </a:ln>
        </p:spPr>
      </p:sp>
      <p:sp>
        <p:nvSpPr>
          <p:cNvPr id="15" name="Text 12"/>
          <p:cNvSpPr txBox="1"/>
          <p:nvPr/>
        </p:nvSpPr>
        <p:spPr>
          <a:xfrm>
            <a:off x="685800" y="3520440"/>
            <a:ext cx="2468880" cy="914400"/>
          </a:xfrm>
          <a:prstGeom prst="rect">
            <a:avLst/>
          </a:prstGeom>
          <a:noFill/>
          <a:ln/>
        </p:spPr>
        <p:txBody>
          <a:bodyPr wrap="square" lIns="0" tIns="0" rIns="0" bIns="0" rtlCol="0" anchor="ctr"/>
          <a:lstStyle/>
          <a:p>
            <a:pPr marL="0" indent="0" algn="ctr">
              <a:buNone/>
            </a:pPr>
            <a:r>
              <a:rPr lang="en-US" sz="1600" b="1" dirty="0">
                <a:solidFill>
                  <a:schemeClr val="bg1"/>
                </a:solidFill>
              </a:rPr>
              <a:t>What do we know about each one?</a:t>
            </a:r>
            <a:endParaRPr lang="en-US" sz="1600" dirty="0"/>
          </a:p>
        </p:txBody>
      </p:sp>
      <p:sp>
        <p:nvSpPr>
          <p:cNvPr id="16" name="branch"/>
          <p:cNvSpPr/>
          <p:nvPr/>
        </p:nvSpPr>
        <p:spPr>
          <a:xfrm>
            <a:off x="5852160" y="3520440"/>
            <a:ext cx="2743200" cy="914400"/>
          </a:xfrm>
          <a:prstGeom prst="roundRect">
            <a:avLst>
              <a:gd name="adj" fmla="val 15000"/>
            </a:avLst>
          </a:prstGeom>
          <a:solidFill>
            <a:schemeClr val="accent5"/>
          </a:solidFill>
          <a:ln w="12700">
            <a:solidFill>
              <a:schemeClr val="accent5"/>
            </a:solidFill>
            <a:prstDash val="solid"/>
          </a:ln>
        </p:spPr>
      </p:sp>
      <p:sp>
        <p:nvSpPr>
          <p:cNvPr id="17" name="Text 14"/>
          <p:cNvSpPr txBox="1"/>
          <p:nvPr/>
        </p:nvSpPr>
        <p:spPr>
          <a:xfrm>
            <a:off x="5989320" y="3520440"/>
            <a:ext cx="2468880" cy="914400"/>
          </a:xfrm>
          <a:prstGeom prst="rect">
            <a:avLst/>
          </a:prstGeom>
          <a:noFill/>
          <a:ln/>
        </p:spPr>
        <p:txBody>
          <a:bodyPr wrap="square" lIns="0" tIns="0" rIns="0" bIns="0" rtlCol="0" anchor="ctr"/>
          <a:lstStyle/>
          <a:p>
            <a:pPr marL="0" indent="0" algn="ctr">
              <a:buNone/>
            </a:pPr>
            <a:r>
              <a:rPr lang="en-US" sz="1600" b="1" dirty="0">
                <a:solidFill>
                  <a:schemeClr val="bg1"/>
                </a:solidFill>
              </a:rPr>
              <a:t>What has happened so far?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mind map</a:t>
            </a:r>
            <a:endParaRPr lang="en-US" sz="3000" dirty="0"/>
          </a:p>
        </p:txBody>
      </p:sp>
      <p:sp>
        <p:nvSpPr>
          <p:cNvPr id="4" name="card"/>
          <p:cNvSpPr/>
          <p:nvPr/>
        </p:nvSpPr>
        <p:spPr>
          <a:xfrm>
            <a:off x="548640" y="1097280"/>
            <a:ext cx="395478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3589020" cy="365760"/>
          </a:xfrm>
          <a:prstGeom prst="rect">
            <a:avLst/>
          </a:prstGeom>
          <a:noFill/>
          <a:ln/>
        </p:spPr>
        <p:txBody>
          <a:bodyPr wrap="square" lIns="0" tIns="0" rIns="0" bIns="0" rtlCol="0" anchor="t"/>
          <a:lstStyle/>
          <a:p>
            <a:pPr marL="0" indent="0">
              <a:buNone/>
            </a:pPr>
            <a:r>
              <a:rPr lang="en-US" sz="1600" b="1" dirty="0">
                <a:solidFill>
                  <a:schemeClr val="accent4"/>
                </a:solidFill>
              </a:rPr>
              <a:t>Where is the story set?</a:t>
            </a:r>
            <a:endParaRPr lang="en-US" sz="1600" dirty="0"/>
          </a:p>
        </p:txBody>
      </p:sp>
      <p:sp>
        <p:nvSpPr>
          <p:cNvPr id="6" name="Text 3"/>
          <p:cNvSpPr txBox="1"/>
          <p:nvPr/>
        </p:nvSpPr>
        <p:spPr>
          <a:xfrm>
            <a:off x="73152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The Ashen Plain, a dry land with cracked earth. A pale stone city, Aurelia, shimmers beyond the ridge.</a:t>
            </a:r>
            <a:endParaRPr lang="en-US" sz="1400" dirty="0"/>
          </a:p>
        </p:txBody>
      </p:sp>
      <p:sp>
        <p:nvSpPr>
          <p:cNvPr id="7" name="card"/>
          <p:cNvSpPr/>
          <p:nvPr/>
        </p:nvSpPr>
        <p:spPr>
          <a:xfrm>
            <a:off x="4640580" y="1097280"/>
            <a:ext cx="395478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4823460" y="1188720"/>
            <a:ext cx="3589020" cy="365760"/>
          </a:xfrm>
          <a:prstGeom prst="rect">
            <a:avLst/>
          </a:prstGeom>
          <a:noFill/>
          <a:ln/>
        </p:spPr>
        <p:txBody>
          <a:bodyPr wrap="square" lIns="0" tIns="0" rIns="0" bIns="0" rtlCol="0" anchor="t"/>
          <a:lstStyle/>
          <a:p>
            <a:pPr marL="0" indent="0">
              <a:buNone/>
            </a:pPr>
            <a:r>
              <a:rPr lang="en-US" sz="1600" b="1" dirty="0">
                <a:solidFill>
                  <a:schemeClr val="accent2"/>
                </a:solidFill>
              </a:rPr>
              <a:t>Who have we met?</a:t>
            </a:r>
            <a:endParaRPr lang="en-US" sz="1600" dirty="0"/>
          </a:p>
        </p:txBody>
      </p:sp>
      <p:sp>
        <p:nvSpPr>
          <p:cNvPr id="9" name="Text 6"/>
          <p:cNvSpPr txBox="1"/>
          <p:nvPr/>
        </p:nvSpPr>
        <p:spPr>
          <a:xfrm>
            <a:off x="482346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Tamsin, her grandfather Orrin, Kesh, and the dustwyrm.</a:t>
            </a:r>
            <a:endParaRPr lang="en-US" sz="1400" dirty="0"/>
          </a:p>
        </p:txBody>
      </p:sp>
      <p:sp>
        <p:nvSpPr>
          <p:cNvPr id="10" name="card"/>
          <p:cNvSpPr/>
          <p:nvPr/>
        </p:nvSpPr>
        <p:spPr>
          <a:xfrm>
            <a:off x="548640" y="2926080"/>
            <a:ext cx="395478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731520" y="3017520"/>
            <a:ext cx="3589020" cy="365760"/>
          </a:xfrm>
          <a:prstGeom prst="rect">
            <a:avLst/>
          </a:prstGeom>
          <a:noFill/>
          <a:ln/>
        </p:spPr>
        <p:txBody>
          <a:bodyPr wrap="square" lIns="0" tIns="0" rIns="0" bIns="0" rtlCol="0" anchor="t"/>
          <a:lstStyle/>
          <a:p>
            <a:pPr marL="0" indent="0">
              <a:buNone/>
            </a:pPr>
            <a:r>
              <a:rPr lang="en-US" sz="1600" b="1" dirty="0">
                <a:solidFill>
                  <a:schemeClr val="accent3"/>
                </a:solidFill>
              </a:rPr>
              <a:t>What do we know about each one?</a:t>
            </a:r>
            <a:endParaRPr lang="en-US" sz="1600" dirty="0"/>
          </a:p>
        </p:txBody>
      </p:sp>
      <p:sp>
        <p:nvSpPr>
          <p:cNvPr id="12" name="Text 9"/>
          <p:cNvSpPr txBox="1"/>
          <p:nvPr/>
        </p:nvSpPr>
        <p:spPr>
          <a:xfrm>
            <a:off x="73152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Tamsin notices the city first. Orrin's stick finds water. Kesh is wary and doubtful. The dustwyrm is weak and will not enter the city.</a:t>
            </a:r>
            <a:endParaRPr lang="en-US" sz="1400" dirty="0"/>
          </a:p>
        </p:txBody>
      </p:sp>
      <p:sp>
        <p:nvSpPr>
          <p:cNvPr id="13" name="card"/>
          <p:cNvSpPr/>
          <p:nvPr/>
        </p:nvSpPr>
        <p:spPr>
          <a:xfrm>
            <a:off x="4640580" y="2926080"/>
            <a:ext cx="395478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4823460" y="3017520"/>
            <a:ext cx="3589020" cy="365760"/>
          </a:xfrm>
          <a:prstGeom prst="rect">
            <a:avLst/>
          </a:prstGeom>
          <a:noFill/>
          <a:ln/>
        </p:spPr>
        <p:txBody>
          <a:bodyPr wrap="square" lIns="0" tIns="0" rIns="0" bIns="0" rtlCol="0" anchor="t"/>
          <a:lstStyle/>
          <a:p>
            <a:pPr marL="0" indent="0">
              <a:buNone/>
            </a:pPr>
            <a:r>
              <a:rPr lang="en-US" sz="1600" b="1" dirty="0">
                <a:solidFill>
                  <a:schemeClr val="accent5"/>
                </a:solidFill>
              </a:rPr>
              <a:t>What has happened so far?</a:t>
            </a:r>
            <a:endParaRPr lang="en-US" sz="1600" dirty="0"/>
          </a:p>
        </p:txBody>
      </p:sp>
      <p:sp>
        <p:nvSpPr>
          <p:cNvPr id="15" name="Text 12"/>
          <p:cNvSpPr txBox="1"/>
          <p:nvPr/>
        </p:nvSpPr>
        <p:spPr>
          <a:xfrm>
            <a:off x="482346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The caravan has trekked for eleven days. The stick finds a seep. A silent city appears with open gates and a fountain. Kesh says something isn't right.</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Stuck? Help yourself first</a:t>
            </a:r>
            <a:endParaRPr lang="en-US" sz="3000" dirty="0"/>
          </a:p>
        </p:txBody>
      </p:sp>
      <p:sp>
        <p:nvSpPr>
          <p:cNvPr id="4" name="card"/>
          <p:cNvSpPr/>
          <p:nvPr/>
        </p:nvSpPr>
        <p:spPr>
          <a:xfrm>
            <a:off x="548640" y="1188720"/>
            <a:ext cx="3931920" cy="1508760"/>
          </a:xfrm>
          <a:prstGeom prst="roundRect">
            <a:avLst>
              <a:gd name="adj" fmla="val 7273"/>
            </a:avLst>
          </a:prstGeom>
          <a:solidFill>
            <a:schemeClr val="bg2"/>
          </a:solidFill>
          <a:ln w="12700">
            <a:solidFill>
              <a:schemeClr val="bg2"/>
            </a:solidFill>
            <a:prstDash val="solid"/>
          </a:ln>
        </p:spPr>
      </p:sp>
      <p:sp>
        <p:nvSpPr>
          <p:cNvPr id="5" name="badge"/>
          <p:cNvSpPr/>
          <p:nvPr/>
        </p:nvSpPr>
        <p:spPr>
          <a:xfrm>
            <a:off x="777240" y="1508760"/>
            <a:ext cx="868680" cy="868680"/>
          </a:xfrm>
          <a:prstGeom prst="ellipse">
            <a:avLst/>
          </a:prstGeom>
          <a:solidFill>
            <a:schemeClr val="accent4"/>
          </a:solidFill>
          <a:ln w="12700">
            <a:solidFill>
              <a:schemeClr val="accent4"/>
            </a:solidFill>
            <a:prstDash val="solid"/>
          </a:ln>
        </p:spPr>
      </p:sp>
      <p:pic>
        <p:nvPicPr>
          <p:cNvPr id="6" name="icon" descr="book"/>
          <p:cNvPicPr>
            <a:picLocks noChangeAspect="1"/>
          </p:cNvPicPr>
          <p:nvPr/>
        </p:nvPicPr>
        <p:blipFill>
          <a:blip r:embed="rId3"/>
          <a:stretch>
            <a:fillRect/>
          </a:stretch>
        </p:blipFill>
        <p:spPr>
          <a:xfrm>
            <a:off x="1003097" y="1734617"/>
            <a:ext cx="416966" cy="416966"/>
          </a:xfrm>
          <a:prstGeom prst="rect">
            <a:avLst/>
          </a:prstGeom>
        </p:spPr>
      </p:pic>
      <p:sp>
        <p:nvSpPr>
          <p:cNvPr id="7" name="Text 3"/>
          <p:cNvSpPr txBox="1"/>
          <p:nvPr/>
        </p:nvSpPr>
        <p:spPr>
          <a:xfrm>
            <a:off x="1828800" y="137160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Reread the paragraph</a:t>
            </a:r>
            <a:endParaRPr lang="en-US" sz="1800" dirty="0"/>
          </a:p>
        </p:txBody>
      </p:sp>
      <p:sp>
        <p:nvSpPr>
          <p:cNvPr id="8" name="card"/>
          <p:cNvSpPr/>
          <p:nvPr/>
        </p:nvSpPr>
        <p:spPr>
          <a:xfrm>
            <a:off x="4663440" y="1188720"/>
            <a:ext cx="3931920" cy="1508760"/>
          </a:xfrm>
          <a:prstGeom prst="roundRect">
            <a:avLst>
              <a:gd name="adj" fmla="val 7273"/>
            </a:avLst>
          </a:prstGeom>
          <a:solidFill>
            <a:schemeClr val="bg2"/>
          </a:solidFill>
          <a:ln w="12700">
            <a:solidFill>
              <a:schemeClr val="bg2"/>
            </a:solidFill>
            <a:prstDash val="solid"/>
          </a:ln>
        </p:spPr>
      </p:sp>
      <p:sp>
        <p:nvSpPr>
          <p:cNvPr id="9" name="badge"/>
          <p:cNvSpPr/>
          <p:nvPr/>
        </p:nvSpPr>
        <p:spPr>
          <a:xfrm>
            <a:off x="4892040" y="1508760"/>
            <a:ext cx="868680" cy="868680"/>
          </a:xfrm>
          <a:prstGeom prst="ellipse">
            <a:avLst/>
          </a:prstGeom>
          <a:solidFill>
            <a:schemeClr val="accent2"/>
          </a:solidFill>
          <a:ln w="12700">
            <a:solidFill>
              <a:schemeClr val="accent2"/>
            </a:solidFill>
            <a:prstDash val="solid"/>
          </a:ln>
        </p:spPr>
      </p:sp>
      <p:pic>
        <p:nvPicPr>
          <p:cNvPr id="10" name="icon" descr="search"/>
          <p:cNvPicPr>
            <a:picLocks noChangeAspect="1"/>
          </p:cNvPicPr>
          <p:nvPr/>
        </p:nvPicPr>
        <p:blipFill>
          <a:blip r:embed="rId4"/>
          <a:stretch>
            <a:fillRect/>
          </a:stretch>
        </p:blipFill>
        <p:spPr>
          <a:xfrm>
            <a:off x="5117897" y="1734617"/>
            <a:ext cx="416966" cy="416966"/>
          </a:xfrm>
          <a:prstGeom prst="rect">
            <a:avLst/>
          </a:prstGeom>
        </p:spPr>
      </p:pic>
      <p:sp>
        <p:nvSpPr>
          <p:cNvPr id="11" name="Text 6"/>
          <p:cNvSpPr txBox="1"/>
          <p:nvPr/>
        </p:nvSpPr>
        <p:spPr>
          <a:xfrm>
            <a:off x="5943600" y="137160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Look for a clue in the sentence</a:t>
            </a:r>
            <a:endParaRPr lang="en-US" sz="1800" dirty="0"/>
          </a:p>
        </p:txBody>
      </p:sp>
      <p:sp>
        <p:nvSpPr>
          <p:cNvPr id="12" name="card"/>
          <p:cNvSpPr/>
          <p:nvPr/>
        </p:nvSpPr>
        <p:spPr>
          <a:xfrm>
            <a:off x="548640" y="2880360"/>
            <a:ext cx="3931920" cy="1508760"/>
          </a:xfrm>
          <a:prstGeom prst="roundRect">
            <a:avLst>
              <a:gd name="adj" fmla="val 7273"/>
            </a:avLst>
          </a:prstGeom>
          <a:solidFill>
            <a:schemeClr val="bg2"/>
          </a:solidFill>
          <a:ln w="12700">
            <a:solidFill>
              <a:schemeClr val="bg2"/>
            </a:solidFill>
            <a:prstDash val="solid"/>
          </a:ln>
        </p:spPr>
      </p:sp>
      <p:sp>
        <p:nvSpPr>
          <p:cNvPr id="13" name="badge"/>
          <p:cNvSpPr/>
          <p:nvPr/>
        </p:nvSpPr>
        <p:spPr>
          <a:xfrm>
            <a:off x="777240" y="3200400"/>
            <a:ext cx="868680" cy="868680"/>
          </a:xfrm>
          <a:prstGeom prst="ellipse">
            <a:avLst/>
          </a:prstGeom>
          <a:solidFill>
            <a:schemeClr val="accent3"/>
          </a:solidFill>
          <a:ln w="12700">
            <a:solidFill>
              <a:schemeClr val="accent3"/>
            </a:solidFill>
            <a:prstDash val="solid"/>
          </a:ln>
        </p:spPr>
      </p:sp>
      <p:pic>
        <p:nvPicPr>
          <p:cNvPr id="14" name="icon" descr="users"/>
          <p:cNvPicPr>
            <a:picLocks noChangeAspect="1"/>
          </p:cNvPicPr>
          <p:nvPr/>
        </p:nvPicPr>
        <p:blipFill>
          <a:blip r:embed="rId5"/>
          <a:stretch>
            <a:fillRect/>
          </a:stretch>
        </p:blipFill>
        <p:spPr>
          <a:xfrm>
            <a:off x="1003097" y="3426257"/>
            <a:ext cx="416966" cy="416966"/>
          </a:xfrm>
          <a:prstGeom prst="rect">
            <a:avLst/>
          </a:prstGeom>
        </p:spPr>
      </p:pic>
      <p:sp>
        <p:nvSpPr>
          <p:cNvPr id="15" name="Text 9"/>
          <p:cNvSpPr txBox="1"/>
          <p:nvPr/>
        </p:nvSpPr>
        <p:spPr>
          <a:xfrm>
            <a:off x="1828800" y="306324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Ask your partner</a:t>
            </a:r>
            <a:endParaRPr lang="en-US" sz="1800" dirty="0"/>
          </a:p>
        </p:txBody>
      </p:sp>
      <p:sp>
        <p:nvSpPr>
          <p:cNvPr id="16" name="card"/>
          <p:cNvSpPr/>
          <p:nvPr/>
        </p:nvSpPr>
        <p:spPr>
          <a:xfrm>
            <a:off x="4663440" y="2880360"/>
            <a:ext cx="3931920" cy="1508760"/>
          </a:xfrm>
          <a:prstGeom prst="roundRect">
            <a:avLst>
              <a:gd name="adj" fmla="val 7273"/>
            </a:avLst>
          </a:prstGeom>
          <a:solidFill>
            <a:schemeClr val="bg2"/>
          </a:solidFill>
          <a:ln w="12700">
            <a:solidFill>
              <a:schemeClr val="bg2"/>
            </a:solidFill>
            <a:prstDash val="solid"/>
          </a:ln>
        </p:spPr>
      </p:sp>
      <p:sp>
        <p:nvSpPr>
          <p:cNvPr id="17" name="badge"/>
          <p:cNvSpPr/>
          <p:nvPr/>
        </p:nvSpPr>
        <p:spPr>
          <a:xfrm>
            <a:off x="4892040" y="3200400"/>
            <a:ext cx="868680" cy="868680"/>
          </a:xfrm>
          <a:prstGeom prst="ellipse">
            <a:avLst/>
          </a:prstGeom>
          <a:solidFill>
            <a:schemeClr val="accent5"/>
          </a:solidFill>
          <a:ln w="12700">
            <a:solidFill>
              <a:schemeClr val="accent5"/>
            </a:solidFill>
            <a:prstDash val="solid"/>
          </a:ln>
        </p:spPr>
      </p:sp>
      <p:pic>
        <p:nvPicPr>
          <p:cNvPr id="18" name="icon" descr="hand"/>
          <p:cNvPicPr>
            <a:picLocks noChangeAspect="1"/>
          </p:cNvPicPr>
          <p:nvPr/>
        </p:nvPicPr>
        <p:blipFill>
          <a:blip r:embed="rId6"/>
          <a:stretch>
            <a:fillRect/>
          </a:stretch>
        </p:blipFill>
        <p:spPr>
          <a:xfrm>
            <a:off x="5117897" y="3426257"/>
            <a:ext cx="416966" cy="416966"/>
          </a:xfrm>
          <a:prstGeom prst="rect">
            <a:avLst/>
          </a:prstGeom>
        </p:spPr>
      </p:pic>
      <p:sp>
        <p:nvSpPr>
          <p:cNvPr id="19" name="Text 12"/>
          <p:cNvSpPr txBox="1"/>
          <p:nvPr/>
        </p:nvSpPr>
        <p:spPr>
          <a:xfrm>
            <a:off x="5943600" y="3063240"/>
            <a:ext cx="2468880" cy="1143000"/>
          </a:xfrm>
          <a:prstGeom prst="rect">
            <a:avLst/>
          </a:prstGeom>
          <a:noFill/>
          <a:ln/>
        </p:spPr>
        <p:txBody>
          <a:bodyPr wrap="square" lIns="0" tIns="0" rIns="0" bIns="0" rtlCol="0" anchor="ctr"/>
          <a:lstStyle/>
          <a:p>
            <a:pPr marL="0" indent="0">
              <a:buNone/>
            </a:pPr>
            <a:r>
              <a:rPr lang="en-US" sz="1800" b="1" dirty="0">
                <a:solidFill>
                  <a:schemeClr val="tx1"/>
                </a:solidFill>
              </a:rPr>
              <a:t>Then ask your teacher</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lIns="0" tIns="0" rIns="0" bIns="0" rtlCol="0" anchor="ctr"/>
          <a:lstStyle/>
          <a:p>
            <a:pPr marL="0" indent="0" algn="l">
              <a:buNone/>
            </a:pPr>
            <a:r>
              <a:rPr lang="en-US" sz="4000" b="1" dirty="0">
                <a:solidFill>
                  <a:schemeClr val="bg1"/>
                </a:solidFill>
              </a:rPr>
              <a:t>Share what you know</a:t>
            </a: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lIns="0" tIns="0" rIns="0" bIns="0" rtlCol="0" anchor="t"/>
          <a:lstStyle/>
          <a:p>
            <a:pPr marL="0" indent="0">
              <a:buNone/>
            </a:pPr>
            <a:r>
              <a:rPr lang="en-US" sz="1800" dirty="0">
                <a:solidFill>
                  <a:schemeClr val="accent1"/>
                </a:solidFill>
              </a:rPr>
              <a:t>Plenary: three quick tasks to share what you know</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who have we met?</a:t>
            </a:r>
            <a:endParaRPr lang="en-US" sz="3000" dirty="0"/>
          </a:p>
        </p:txBody>
      </p:sp>
      <p:sp>
        <p:nvSpPr>
          <p:cNvPr id="4" name="card"/>
          <p:cNvSpPr/>
          <p:nvPr/>
        </p:nvSpPr>
        <p:spPr>
          <a:xfrm>
            <a:off x="548640" y="1188720"/>
            <a:ext cx="3931920" cy="1508760"/>
          </a:xfrm>
          <a:prstGeom prst="roundRect">
            <a:avLst>
              <a:gd name="adj" fmla="val 7273"/>
            </a:avLst>
          </a:prstGeom>
          <a:solidFill>
            <a:schemeClr val="bg2"/>
          </a:solidFill>
          <a:ln w="12700">
            <a:solidFill>
              <a:schemeClr val="bg2"/>
            </a:solidFill>
            <a:prstDash val="solid"/>
          </a:ln>
        </p:spPr>
      </p:sp>
      <p:sp>
        <p:nvSpPr>
          <p:cNvPr id="5" name="Text 2"/>
          <p:cNvSpPr txBox="1"/>
          <p:nvPr/>
        </p:nvSpPr>
        <p:spPr>
          <a:xfrm>
            <a:off x="777240" y="1325880"/>
            <a:ext cx="3474720" cy="411480"/>
          </a:xfrm>
          <a:prstGeom prst="rect">
            <a:avLst/>
          </a:prstGeom>
          <a:noFill/>
          <a:ln/>
        </p:spPr>
        <p:txBody>
          <a:bodyPr wrap="square" lIns="0" tIns="0" rIns="0" bIns="0" rtlCol="0" anchor="t"/>
          <a:lstStyle/>
          <a:p>
            <a:pPr marL="0" indent="0">
              <a:buNone/>
            </a:pPr>
            <a:r>
              <a:rPr lang="en-US" sz="2000" b="1" dirty="0">
                <a:solidFill>
                  <a:schemeClr val="accent4"/>
                </a:solidFill>
              </a:rPr>
              <a:t>Tamsin</a:t>
            </a:r>
            <a:endParaRPr lang="en-US" sz="2000" dirty="0"/>
          </a:p>
        </p:txBody>
      </p:sp>
      <p:sp>
        <p:nvSpPr>
          <p:cNvPr id="6" name="Text 3"/>
          <p:cNvSpPr txBox="1"/>
          <p:nvPr/>
        </p:nvSpPr>
        <p:spPr>
          <a:xfrm>
            <a:off x="777240" y="1828800"/>
            <a:ext cx="3474720" cy="822960"/>
          </a:xfrm>
          <a:prstGeom prst="rect">
            <a:avLst/>
          </a:prstGeom>
          <a:noFill/>
          <a:ln/>
        </p:spPr>
        <p:txBody>
          <a:bodyPr wrap="square" lIns="0" tIns="0" rIns="0" bIns="0" rtlCol="0" anchor="t"/>
          <a:lstStyle/>
          <a:p>
            <a:pPr marL="0" indent="0">
              <a:buNone/>
            </a:pPr>
            <a:r>
              <a:rPr lang="en-US" sz="1500" dirty="0">
                <a:solidFill>
                  <a:schemeClr val="tx1"/>
                </a:solidFill>
              </a:rPr>
              <a:t>Walks at the front. Notices the city first.</a:t>
            </a:r>
            <a:endParaRPr lang="en-US" sz="1500" dirty="0"/>
          </a:p>
        </p:txBody>
      </p:sp>
      <p:sp>
        <p:nvSpPr>
          <p:cNvPr id="7" name="card"/>
          <p:cNvSpPr/>
          <p:nvPr/>
        </p:nvSpPr>
        <p:spPr>
          <a:xfrm>
            <a:off x="4663440" y="1188720"/>
            <a:ext cx="3931920" cy="1508760"/>
          </a:xfrm>
          <a:prstGeom prst="roundRect">
            <a:avLst>
              <a:gd name="adj" fmla="val 7273"/>
            </a:avLst>
          </a:prstGeom>
          <a:solidFill>
            <a:schemeClr val="bg2"/>
          </a:solidFill>
          <a:ln w="12700">
            <a:solidFill>
              <a:schemeClr val="bg2"/>
            </a:solidFill>
            <a:prstDash val="solid"/>
          </a:ln>
        </p:spPr>
      </p:sp>
      <p:sp>
        <p:nvSpPr>
          <p:cNvPr id="8" name="Text 5"/>
          <p:cNvSpPr txBox="1"/>
          <p:nvPr/>
        </p:nvSpPr>
        <p:spPr>
          <a:xfrm>
            <a:off x="4892040" y="1325880"/>
            <a:ext cx="3474720" cy="411480"/>
          </a:xfrm>
          <a:prstGeom prst="rect">
            <a:avLst/>
          </a:prstGeom>
          <a:noFill/>
          <a:ln/>
        </p:spPr>
        <p:txBody>
          <a:bodyPr wrap="square" lIns="0" tIns="0" rIns="0" bIns="0" rtlCol="0" anchor="t"/>
          <a:lstStyle/>
          <a:p>
            <a:pPr marL="0" indent="0">
              <a:buNone/>
            </a:pPr>
            <a:r>
              <a:rPr lang="en-US" sz="2000" b="1" dirty="0">
                <a:solidFill>
                  <a:schemeClr val="accent2"/>
                </a:solidFill>
              </a:rPr>
              <a:t>Orrin</a:t>
            </a:r>
            <a:endParaRPr lang="en-US" sz="2000" dirty="0"/>
          </a:p>
        </p:txBody>
      </p:sp>
      <p:sp>
        <p:nvSpPr>
          <p:cNvPr id="9" name="Text 6"/>
          <p:cNvSpPr txBox="1"/>
          <p:nvPr/>
        </p:nvSpPr>
        <p:spPr>
          <a:xfrm>
            <a:off x="4892040" y="1828800"/>
            <a:ext cx="3474720" cy="822960"/>
          </a:xfrm>
          <a:prstGeom prst="rect">
            <a:avLst/>
          </a:prstGeom>
          <a:noFill/>
          <a:ln/>
        </p:spPr>
        <p:txBody>
          <a:bodyPr wrap="square" lIns="0" tIns="0" rIns="0" bIns="0" rtlCol="0" anchor="t"/>
          <a:lstStyle/>
          <a:p>
            <a:pPr marL="0" indent="0">
              <a:buNone/>
            </a:pPr>
            <a:r>
              <a:rPr lang="en-US" sz="1500" dirty="0">
                <a:solidFill>
                  <a:schemeClr val="tx1"/>
                </a:solidFill>
              </a:rPr>
              <a:t>Her grandfather. His stick finds water.</a:t>
            </a:r>
            <a:endParaRPr lang="en-US" sz="1500" dirty="0"/>
          </a:p>
        </p:txBody>
      </p:sp>
      <p:sp>
        <p:nvSpPr>
          <p:cNvPr id="10" name="card"/>
          <p:cNvSpPr/>
          <p:nvPr/>
        </p:nvSpPr>
        <p:spPr>
          <a:xfrm>
            <a:off x="548640" y="2880360"/>
            <a:ext cx="3931920" cy="1508760"/>
          </a:xfrm>
          <a:prstGeom prst="roundRect">
            <a:avLst>
              <a:gd name="adj" fmla="val 7273"/>
            </a:avLst>
          </a:prstGeom>
          <a:solidFill>
            <a:schemeClr val="bg2"/>
          </a:solidFill>
          <a:ln w="12700">
            <a:solidFill>
              <a:schemeClr val="bg2"/>
            </a:solidFill>
            <a:prstDash val="solid"/>
          </a:ln>
        </p:spPr>
      </p:sp>
      <p:sp>
        <p:nvSpPr>
          <p:cNvPr id="11" name="Text 8"/>
          <p:cNvSpPr txBox="1"/>
          <p:nvPr/>
        </p:nvSpPr>
        <p:spPr>
          <a:xfrm>
            <a:off x="777240" y="3017520"/>
            <a:ext cx="3474720" cy="411480"/>
          </a:xfrm>
          <a:prstGeom prst="rect">
            <a:avLst/>
          </a:prstGeom>
          <a:noFill/>
          <a:ln/>
        </p:spPr>
        <p:txBody>
          <a:bodyPr wrap="square" lIns="0" tIns="0" rIns="0" bIns="0" rtlCol="0" anchor="t"/>
          <a:lstStyle/>
          <a:p>
            <a:pPr marL="0" indent="0">
              <a:buNone/>
            </a:pPr>
            <a:r>
              <a:rPr lang="en-US" sz="2000" b="1" dirty="0">
                <a:solidFill>
                  <a:schemeClr val="accent3"/>
                </a:solidFill>
              </a:rPr>
              <a:t>Kesh</a:t>
            </a:r>
            <a:endParaRPr lang="en-US" sz="2000" dirty="0"/>
          </a:p>
        </p:txBody>
      </p:sp>
      <p:sp>
        <p:nvSpPr>
          <p:cNvPr id="12" name="Text 9"/>
          <p:cNvSpPr txBox="1"/>
          <p:nvPr/>
        </p:nvSpPr>
        <p:spPr>
          <a:xfrm>
            <a:off x="777240" y="3520440"/>
            <a:ext cx="3474720" cy="822960"/>
          </a:xfrm>
          <a:prstGeom prst="rect">
            <a:avLst/>
          </a:prstGeom>
          <a:noFill/>
          <a:ln/>
        </p:spPr>
        <p:txBody>
          <a:bodyPr wrap="square" lIns="0" tIns="0" rIns="0" bIns="0" rtlCol="0" anchor="t"/>
          <a:lstStyle/>
          <a:p>
            <a:pPr marL="0" indent="0">
              <a:buNone/>
            </a:pPr>
            <a:r>
              <a:rPr lang="en-US" sz="1500" dirty="0">
                <a:solidFill>
                  <a:schemeClr val="tx1"/>
                </a:solidFill>
              </a:rPr>
              <a:t>Doubtful and wary. Says something isn't right.</a:t>
            </a:r>
            <a:endParaRPr lang="en-US" sz="1500" dirty="0"/>
          </a:p>
        </p:txBody>
      </p:sp>
      <p:sp>
        <p:nvSpPr>
          <p:cNvPr id="13" name="card"/>
          <p:cNvSpPr/>
          <p:nvPr/>
        </p:nvSpPr>
        <p:spPr>
          <a:xfrm>
            <a:off x="4663440" y="2880360"/>
            <a:ext cx="3931920" cy="1508760"/>
          </a:xfrm>
          <a:prstGeom prst="roundRect">
            <a:avLst>
              <a:gd name="adj" fmla="val 7273"/>
            </a:avLst>
          </a:prstGeom>
          <a:solidFill>
            <a:schemeClr val="bg2"/>
          </a:solidFill>
          <a:ln w="12700">
            <a:solidFill>
              <a:schemeClr val="bg2"/>
            </a:solidFill>
            <a:prstDash val="solid"/>
          </a:ln>
        </p:spPr>
      </p:sp>
      <p:sp>
        <p:nvSpPr>
          <p:cNvPr id="14" name="Text 11"/>
          <p:cNvSpPr txBox="1"/>
          <p:nvPr/>
        </p:nvSpPr>
        <p:spPr>
          <a:xfrm>
            <a:off x="4892040" y="3017520"/>
            <a:ext cx="3474720" cy="411480"/>
          </a:xfrm>
          <a:prstGeom prst="rect">
            <a:avLst/>
          </a:prstGeom>
          <a:noFill/>
          <a:ln/>
        </p:spPr>
        <p:txBody>
          <a:bodyPr wrap="square" lIns="0" tIns="0" rIns="0" bIns="0" rtlCol="0" anchor="t"/>
          <a:lstStyle/>
          <a:p>
            <a:pPr marL="0" indent="0">
              <a:buNone/>
            </a:pPr>
            <a:r>
              <a:rPr lang="en-US" sz="2000" b="1" dirty="0">
                <a:solidFill>
                  <a:schemeClr val="accent5"/>
                </a:solidFill>
              </a:rPr>
              <a:t>The dustwyrm</a:t>
            </a:r>
            <a:endParaRPr lang="en-US" sz="2000" dirty="0"/>
          </a:p>
        </p:txBody>
      </p:sp>
      <p:sp>
        <p:nvSpPr>
          <p:cNvPr id="15" name="Text 12"/>
          <p:cNvSpPr txBox="1"/>
          <p:nvPr/>
        </p:nvSpPr>
        <p:spPr>
          <a:xfrm>
            <a:off x="4892040" y="3520440"/>
            <a:ext cx="3474720" cy="822960"/>
          </a:xfrm>
          <a:prstGeom prst="rect">
            <a:avLst/>
          </a:prstGeom>
          <a:noFill/>
          <a:ln/>
        </p:spPr>
        <p:txBody>
          <a:bodyPr wrap="square" lIns="0" tIns="0" rIns="0" bIns="0" rtlCol="0" anchor="t"/>
          <a:lstStyle/>
          <a:p>
            <a:pPr marL="0" indent="0">
              <a:buNone/>
            </a:pPr>
            <a:r>
              <a:rPr lang="en-US" sz="1500" dirty="0">
                <a:solidFill>
                  <a:schemeClr val="tx1"/>
                </a:solidFill>
              </a:rPr>
              <a:t>A rust-coloured creature that pulls the wagons. Weak, and afraid of the city.</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teach your partner a word</a:t>
            </a:r>
            <a:endParaRPr lang="en-US" sz="3000" dirty="0"/>
          </a:p>
        </p:txBody>
      </p:sp>
      <p:sp>
        <p:nvSpPr>
          <p:cNvPr id="4" name="word chip"/>
          <p:cNvSpPr/>
          <p:nvPr/>
        </p:nvSpPr>
        <p:spPr>
          <a:xfrm>
            <a:off x="548640" y="1188720"/>
            <a:ext cx="2560320" cy="777240"/>
          </a:xfrm>
          <a:prstGeom prst="roundRect">
            <a:avLst>
              <a:gd name="adj" fmla="val 49412"/>
            </a:avLst>
          </a:prstGeom>
          <a:solidFill>
            <a:schemeClr val="accent4"/>
          </a:solidFill>
          <a:ln w="12700">
            <a:solidFill>
              <a:schemeClr val="bg1"/>
            </a:solidFill>
            <a:prstDash val="solid"/>
          </a:ln>
        </p:spPr>
      </p:sp>
      <p:sp>
        <p:nvSpPr>
          <p:cNvPr id="5" name="Text 2"/>
          <p:cNvSpPr txBox="1"/>
          <p:nvPr/>
        </p:nvSpPr>
        <p:spPr>
          <a:xfrm>
            <a:off x="548640" y="118872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trekking</a:t>
            </a:r>
            <a:endParaRPr lang="en-US" sz="2200" dirty="0"/>
          </a:p>
        </p:txBody>
      </p:sp>
      <p:sp>
        <p:nvSpPr>
          <p:cNvPr id="6" name="word chip"/>
          <p:cNvSpPr/>
          <p:nvPr/>
        </p:nvSpPr>
        <p:spPr>
          <a:xfrm>
            <a:off x="3291840" y="1188720"/>
            <a:ext cx="2560320" cy="777240"/>
          </a:xfrm>
          <a:prstGeom prst="roundRect">
            <a:avLst>
              <a:gd name="adj" fmla="val 49412"/>
            </a:avLst>
          </a:prstGeom>
          <a:solidFill>
            <a:schemeClr val="accent2"/>
          </a:solidFill>
          <a:ln w="12700">
            <a:solidFill>
              <a:schemeClr val="bg1"/>
            </a:solidFill>
            <a:prstDash val="solid"/>
          </a:ln>
        </p:spPr>
      </p:sp>
      <p:sp>
        <p:nvSpPr>
          <p:cNvPr id="7" name="Text 4"/>
          <p:cNvSpPr txBox="1"/>
          <p:nvPr/>
        </p:nvSpPr>
        <p:spPr>
          <a:xfrm>
            <a:off x="3291840" y="118872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parched</a:t>
            </a:r>
            <a:endParaRPr lang="en-US" sz="2200" dirty="0"/>
          </a:p>
        </p:txBody>
      </p:sp>
      <p:sp>
        <p:nvSpPr>
          <p:cNvPr id="8" name="word chip"/>
          <p:cNvSpPr/>
          <p:nvPr/>
        </p:nvSpPr>
        <p:spPr>
          <a:xfrm>
            <a:off x="6035040" y="1188720"/>
            <a:ext cx="2560320" cy="777240"/>
          </a:xfrm>
          <a:prstGeom prst="roundRect">
            <a:avLst>
              <a:gd name="adj" fmla="val 49412"/>
            </a:avLst>
          </a:prstGeom>
          <a:solidFill>
            <a:schemeClr val="accent3"/>
          </a:solidFill>
          <a:ln w="12700">
            <a:solidFill>
              <a:schemeClr val="bg1"/>
            </a:solidFill>
            <a:prstDash val="solid"/>
          </a:ln>
        </p:spPr>
      </p:sp>
      <p:sp>
        <p:nvSpPr>
          <p:cNvPr id="9" name="Text 6"/>
          <p:cNvSpPr txBox="1"/>
          <p:nvPr/>
        </p:nvSpPr>
        <p:spPr>
          <a:xfrm>
            <a:off x="6035040" y="118872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seep</a:t>
            </a:r>
            <a:endParaRPr lang="en-US" sz="2200" dirty="0"/>
          </a:p>
        </p:txBody>
      </p:sp>
      <p:sp>
        <p:nvSpPr>
          <p:cNvPr id="10" name="word chip"/>
          <p:cNvSpPr/>
          <p:nvPr/>
        </p:nvSpPr>
        <p:spPr>
          <a:xfrm>
            <a:off x="548640" y="2194560"/>
            <a:ext cx="2560320" cy="777240"/>
          </a:xfrm>
          <a:prstGeom prst="roundRect">
            <a:avLst>
              <a:gd name="adj" fmla="val 49412"/>
            </a:avLst>
          </a:prstGeom>
          <a:solidFill>
            <a:schemeClr val="accent4"/>
          </a:solidFill>
          <a:ln w="12700">
            <a:solidFill>
              <a:schemeClr val="bg1"/>
            </a:solidFill>
            <a:prstDash val="solid"/>
          </a:ln>
        </p:spPr>
      </p:sp>
      <p:sp>
        <p:nvSpPr>
          <p:cNvPr id="11" name="Text 8"/>
          <p:cNvSpPr txBox="1"/>
          <p:nvPr/>
        </p:nvSpPr>
        <p:spPr>
          <a:xfrm>
            <a:off x="548640" y="219456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wary</a:t>
            </a:r>
            <a:endParaRPr lang="en-US" sz="2200" dirty="0"/>
          </a:p>
        </p:txBody>
      </p:sp>
      <p:sp>
        <p:nvSpPr>
          <p:cNvPr id="12" name="word chip"/>
          <p:cNvSpPr/>
          <p:nvPr/>
        </p:nvSpPr>
        <p:spPr>
          <a:xfrm>
            <a:off x="3291840" y="2194560"/>
            <a:ext cx="2560320" cy="777240"/>
          </a:xfrm>
          <a:prstGeom prst="roundRect">
            <a:avLst>
              <a:gd name="adj" fmla="val 49412"/>
            </a:avLst>
          </a:prstGeom>
          <a:solidFill>
            <a:schemeClr val="accent2"/>
          </a:solidFill>
          <a:ln w="12700">
            <a:solidFill>
              <a:schemeClr val="bg1"/>
            </a:solidFill>
            <a:prstDash val="solid"/>
          </a:ln>
        </p:spPr>
      </p:sp>
      <p:sp>
        <p:nvSpPr>
          <p:cNvPr id="13" name="Text 10"/>
          <p:cNvSpPr txBox="1"/>
          <p:nvPr/>
        </p:nvSpPr>
        <p:spPr>
          <a:xfrm>
            <a:off x="3291840" y="219456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shimmered</a:t>
            </a:r>
            <a:endParaRPr lang="en-US" sz="2200" dirty="0"/>
          </a:p>
        </p:txBody>
      </p:sp>
      <p:sp>
        <p:nvSpPr>
          <p:cNvPr id="14" name="word chip"/>
          <p:cNvSpPr/>
          <p:nvPr/>
        </p:nvSpPr>
        <p:spPr>
          <a:xfrm>
            <a:off x="6035040" y="2194560"/>
            <a:ext cx="2560320" cy="777240"/>
          </a:xfrm>
          <a:prstGeom prst="roundRect">
            <a:avLst>
              <a:gd name="adj" fmla="val 49412"/>
            </a:avLst>
          </a:prstGeom>
          <a:solidFill>
            <a:schemeClr val="accent3"/>
          </a:solidFill>
          <a:ln w="12700">
            <a:solidFill>
              <a:schemeClr val="bg1"/>
            </a:solidFill>
            <a:prstDash val="solid"/>
          </a:ln>
        </p:spPr>
      </p:sp>
      <p:sp>
        <p:nvSpPr>
          <p:cNvPr id="15" name="Text 12"/>
          <p:cNvSpPr txBox="1"/>
          <p:nvPr/>
        </p:nvSpPr>
        <p:spPr>
          <a:xfrm>
            <a:off x="6035040" y="2194560"/>
            <a:ext cx="2560320" cy="777240"/>
          </a:xfrm>
          <a:prstGeom prst="rect">
            <a:avLst/>
          </a:prstGeom>
          <a:noFill/>
          <a:ln/>
        </p:spPr>
        <p:txBody>
          <a:bodyPr wrap="square" lIns="0" tIns="0" rIns="0" bIns="0" rtlCol="0" anchor="ctr"/>
          <a:lstStyle/>
          <a:p>
            <a:pPr marL="0" indent="0" algn="ctr">
              <a:buNone/>
            </a:pPr>
            <a:r>
              <a:rPr lang="en-US" sz="2200" b="1" dirty="0">
                <a:solidFill>
                  <a:schemeClr val="bg1"/>
                </a:solidFill>
              </a:rPr>
              <a:t>deserted</a:t>
            </a:r>
            <a:endParaRPr lang="en-US" sz="2200" dirty="0"/>
          </a:p>
        </p:txBody>
      </p:sp>
      <p:sp>
        <p:nvSpPr>
          <p:cNvPr id="16" name="card"/>
          <p:cNvSpPr/>
          <p:nvPr/>
        </p:nvSpPr>
        <p:spPr>
          <a:xfrm>
            <a:off x="548640" y="3383280"/>
            <a:ext cx="8046720" cy="1188720"/>
          </a:xfrm>
          <a:prstGeom prst="roundRect">
            <a:avLst>
              <a:gd name="adj" fmla="val 9231"/>
            </a:avLst>
          </a:prstGeom>
          <a:solidFill>
            <a:schemeClr val="accent1"/>
          </a:solidFill>
          <a:ln w="12700">
            <a:solidFill>
              <a:schemeClr val="accent1"/>
            </a:solidFill>
            <a:prstDash val="solid"/>
          </a:ln>
        </p:spPr>
      </p:sp>
      <p:sp>
        <p:nvSpPr>
          <p:cNvPr id="17" name="badge"/>
          <p:cNvSpPr/>
          <p:nvPr/>
        </p:nvSpPr>
        <p:spPr>
          <a:xfrm>
            <a:off x="731520" y="3611880"/>
            <a:ext cx="731520" cy="731520"/>
          </a:xfrm>
          <a:prstGeom prst="ellipse">
            <a:avLst/>
          </a:prstGeom>
          <a:solidFill>
            <a:schemeClr val="tx1"/>
          </a:solidFill>
          <a:ln w="12700">
            <a:solidFill>
              <a:schemeClr val="tx1"/>
            </a:solidFill>
            <a:prstDash val="solid"/>
          </a:ln>
        </p:spPr>
      </p:sp>
      <p:pic>
        <p:nvPicPr>
          <p:cNvPr id="18" name="icon" descr="comments"/>
          <p:cNvPicPr>
            <a:picLocks noChangeAspect="1"/>
          </p:cNvPicPr>
          <p:nvPr/>
        </p:nvPicPr>
        <p:blipFill>
          <a:blip r:embed="rId3"/>
          <a:stretch>
            <a:fillRect/>
          </a:stretch>
        </p:blipFill>
        <p:spPr>
          <a:xfrm>
            <a:off x="921715" y="3802075"/>
            <a:ext cx="351130" cy="351130"/>
          </a:xfrm>
          <a:prstGeom prst="rect">
            <a:avLst/>
          </a:prstGeom>
        </p:spPr>
      </p:pic>
      <p:sp>
        <p:nvSpPr>
          <p:cNvPr id="19" name="Text 15"/>
          <p:cNvSpPr txBox="1"/>
          <p:nvPr/>
        </p:nvSpPr>
        <p:spPr>
          <a:xfrm>
            <a:off x="1645920" y="3383280"/>
            <a:ext cx="6766560" cy="1188720"/>
          </a:xfrm>
          <a:prstGeom prst="rect">
            <a:avLst/>
          </a:prstGeom>
          <a:noFill/>
          <a:ln/>
        </p:spPr>
        <p:txBody>
          <a:bodyPr wrap="square" lIns="0" tIns="0" rIns="0" bIns="0" rtlCol="0" anchor="ctr"/>
          <a:lstStyle/>
          <a:p>
            <a:pPr marL="0" indent="0">
              <a:buNone/>
            </a:pPr>
            <a:r>
              <a:rPr lang="en-US" sz="1800" b="1" dirty="0">
                <a:solidFill>
                  <a:schemeClr val="tx1"/>
                </a:solidFill>
              </a:rPr>
              <a:t>Choose a word. Say what it means in your own words. Then use it in a sentence about the city.</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teach a word</a:t>
            </a:r>
            <a:endParaRPr lang="en-US" sz="3000" dirty="0"/>
          </a:p>
        </p:txBody>
      </p:sp>
      <p:sp>
        <p:nvSpPr>
          <p:cNvPr id="4" name="card"/>
          <p:cNvSpPr/>
          <p:nvPr/>
        </p:nvSpPr>
        <p:spPr>
          <a:xfrm>
            <a:off x="548640" y="1097280"/>
            <a:ext cx="259080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2225040" cy="365760"/>
          </a:xfrm>
          <a:prstGeom prst="rect">
            <a:avLst/>
          </a:prstGeom>
          <a:noFill/>
          <a:ln/>
        </p:spPr>
        <p:txBody>
          <a:bodyPr wrap="square" lIns="0" tIns="0" rIns="0" bIns="0" rtlCol="0" anchor="t"/>
          <a:lstStyle/>
          <a:p>
            <a:pPr marL="0" indent="0">
              <a:buNone/>
            </a:pPr>
            <a:r>
              <a:rPr lang="en-US" sz="1600" b="1" dirty="0">
                <a:solidFill>
                  <a:schemeClr val="accent4"/>
                </a:solidFill>
              </a:rPr>
              <a:t>trekking</a:t>
            </a:r>
            <a:endParaRPr lang="en-US" sz="1600" dirty="0"/>
          </a:p>
        </p:txBody>
      </p:sp>
      <p:sp>
        <p:nvSpPr>
          <p:cNvPr id="6" name="Text 3"/>
          <p:cNvSpPr txBox="1"/>
          <p:nvPr/>
        </p:nvSpPr>
        <p:spPr>
          <a:xfrm>
            <a:off x="731520" y="1600200"/>
            <a:ext cx="2225040" cy="1097280"/>
          </a:xfrm>
          <a:prstGeom prst="rect">
            <a:avLst/>
          </a:prstGeom>
          <a:noFill/>
          <a:ln/>
        </p:spPr>
        <p:txBody>
          <a:bodyPr wrap="square" lIns="0" tIns="0" rIns="0" bIns="0" rtlCol="0" anchor="t"/>
          <a:lstStyle/>
          <a:p>
            <a:pPr marL="0" indent="0">
              <a:buNone/>
            </a:pPr>
            <a:r>
              <a:rPr lang="en-US" sz="1400" dirty="0">
                <a:solidFill>
                  <a:schemeClr val="tx1"/>
                </a:solidFill>
              </a:rPr>
              <a:t>Travelling a long way on foot.</a:t>
            </a:r>
          </a:p>
          <a:p>
            <a:pPr marL="0" indent="0">
              <a:buNone/>
            </a:pPr>
            <a:endParaRPr lang="en-US" sz="1400" dirty="0"/>
          </a:p>
          <a:p>
            <a:pPr marL="0" indent="0">
              <a:buNone/>
            </a:pPr>
            <a:r>
              <a:rPr lang="en-US" sz="1400" dirty="0">
                <a:solidFill>
                  <a:schemeClr val="tx1"/>
                </a:solidFill>
              </a:rPr>
              <a:t> The travellers were trekking towards the city.</a:t>
            </a:r>
            <a:endParaRPr lang="en-US" sz="1400" dirty="0"/>
          </a:p>
        </p:txBody>
      </p:sp>
      <p:sp>
        <p:nvSpPr>
          <p:cNvPr id="7" name="card"/>
          <p:cNvSpPr/>
          <p:nvPr/>
        </p:nvSpPr>
        <p:spPr>
          <a:xfrm>
            <a:off x="3276600" y="1097280"/>
            <a:ext cx="259080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3459480" y="1188720"/>
            <a:ext cx="2225040" cy="365760"/>
          </a:xfrm>
          <a:prstGeom prst="rect">
            <a:avLst/>
          </a:prstGeom>
          <a:noFill/>
          <a:ln/>
        </p:spPr>
        <p:txBody>
          <a:bodyPr wrap="square" lIns="0" tIns="0" rIns="0" bIns="0" rtlCol="0" anchor="t"/>
          <a:lstStyle/>
          <a:p>
            <a:pPr marL="0" indent="0">
              <a:buNone/>
            </a:pPr>
            <a:r>
              <a:rPr lang="en-US" sz="1600" b="1" dirty="0">
                <a:solidFill>
                  <a:schemeClr val="accent2"/>
                </a:solidFill>
              </a:rPr>
              <a:t>parched</a:t>
            </a:r>
            <a:endParaRPr lang="en-US" sz="1600" dirty="0"/>
          </a:p>
        </p:txBody>
      </p:sp>
      <p:sp>
        <p:nvSpPr>
          <p:cNvPr id="9" name="Text 6"/>
          <p:cNvSpPr txBox="1"/>
          <p:nvPr/>
        </p:nvSpPr>
        <p:spPr>
          <a:xfrm>
            <a:off x="3459480" y="1600200"/>
            <a:ext cx="2225040" cy="1097280"/>
          </a:xfrm>
          <a:prstGeom prst="rect">
            <a:avLst/>
          </a:prstGeom>
          <a:noFill/>
          <a:ln/>
        </p:spPr>
        <p:txBody>
          <a:bodyPr wrap="square" lIns="0" tIns="0" rIns="0" bIns="0" rtlCol="0" anchor="t"/>
          <a:lstStyle/>
          <a:p>
            <a:pPr marL="0" indent="0">
              <a:buNone/>
            </a:pPr>
            <a:r>
              <a:rPr lang="en-US" sz="1400" dirty="0">
                <a:solidFill>
                  <a:schemeClr val="tx1"/>
                </a:solidFill>
              </a:rPr>
              <a:t>Extremely dry and thirsty.</a:t>
            </a:r>
          </a:p>
          <a:p>
            <a:pPr marL="0" indent="0">
              <a:buNone/>
            </a:pPr>
            <a:endParaRPr lang="en-US" sz="1400" dirty="0"/>
          </a:p>
          <a:p>
            <a:pPr marL="0" indent="0">
              <a:buNone/>
            </a:pPr>
            <a:r>
              <a:rPr lang="en-US" sz="1400" dirty="0">
                <a:solidFill>
                  <a:schemeClr val="tx1"/>
                </a:solidFill>
              </a:rPr>
              <a:t> Tamsin's throat was parched.</a:t>
            </a:r>
            <a:endParaRPr lang="en-US" sz="1400" dirty="0"/>
          </a:p>
        </p:txBody>
      </p:sp>
      <p:sp>
        <p:nvSpPr>
          <p:cNvPr id="10" name="card"/>
          <p:cNvSpPr/>
          <p:nvPr/>
        </p:nvSpPr>
        <p:spPr>
          <a:xfrm>
            <a:off x="6004560" y="1097280"/>
            <a:ext cx="259080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6187440" y="1188720"/>
            <a:ext cx="2225040" cy="365760"/>
          </a:xfrm>
          <a:prstGeom prst="rect">
            <a:avLst/>
          </a:prstGeom>
          <a:noFill/>
          <a:ln/>
        </p:spPr>
        <p:txBody>
          <a:bodyPr wrap="square" lIns="0" tIns="0" rIns="0" bIns="0" rtlCol="0" anchor="t"/>
          <a:lstStyle/>
          <a:p>
            <a:pPr marL="0" indent="0">
              <a:buNone/>
            </a:pPr>
            <a:r>
              <a:rPr lang="en-US" sz="1600" b="1" dirty="0">
                <a:solidFill>
                  <a:schemeClr val="accent3"/>
                </a:solidFill>
              </a:rPr>
              <a:t>seep</a:t>
            </a:r>
            <a:endParaRPr lang="en-US" sz="1600" dirty="0"/>
          </a:p>
        </p:txBody>
      </p:sp>
      <p:sp>
        <p:nvSpPr>
          <p:cNvPr id="12" name="Text 9"/>
          <p:cNvSpPr txBox="1"/>
          <p:nvPr/>
        </p:nvSpPr>
        <p:spPr>
          <a:xfrm>
            <a:off x="6187440" y="1600200"/>
            <a:ext cx="2225040" cy="1097280"/>
          </a:xfrm>
          <a:prstGeom prst="rect">
            <a:avLst/>
          </a:prstGeom>
          <a:noFill/>
          <a:ln/>
        </p:spPr>
        <p:txBody>
          <a:bodyPr wrap="square" lIns="0" tIns="0" rIns="0" bIns="0" rtlCol="0" anchor="t"/>
          <a:lstStyle/>
          <a:p>
            <a:pPr marL="0" indent="0">
              <a:buNone/>
            </a:pPr>
            <a:r>
              <a:rPr lang="en-US" sz="1400" dirty="0">
                <a:solidFill>
                  <a:schemeClr val="tx1"/>
                </a:solidFill>
              </a:rPr>
              <a:t>A place where water slowly trickles out of the ground.</a:t>
            </a:r>
          </a:p>
          <a:p>
            <a:pPr marL="0" indent="0">
              <a:buNone/>
            </a:pPr>
            <a:endParaRPr lang="en-US" sz="1400" dirty="0"/>
          </a:p>
          <a:p>
            <a:pPr marL="0" indent="0">
              <a:buNone/>
            </a:pPr>
            <a:r>
              <a:rPr lang="en-US" sz="1400" dirty="0">
                <a:solidFill>
                  <a:schemeClr val="tx1"/>
                </a:solidFill>
              </a:rPr>
              <a:t> They found a seep between two stones.</a:t>
            </a:r>
            <a:endParaRPr lang="en-US" sz="1400" dirty="0"/>
          </a:p>
        </p:txBody>
      </p:sp>
      <p:sp>
        <p:nvSpPr>
          <p:cNvPr id="13" name="card"/>
          <p:cNvSpPr/>
          <p:nvPr/>
        </p:nvSpPr>
        <p:spPr>
          <a:xfrm>
            <a:off x="548640" y="2926080"/>
            <a:ext cx="259080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731520" y="3017520"/>
            <a:ext cx="2225040" cy="365760"/>
          </a:xfrm>
          <a:prstGeom prst="rect">
            <a:avLst/>
          </a:prstGeom>
          <a:noFill/>
          <a:ln/>
        </p:spPr>
        <p:txBody>
          <a:bodyPr wrap="square" lIns="0" tIns="0" rIns="0" bIns="0" rtlCol="0" anchor="t"/>
          <a:lstStyle/>
          <a:p>
            <a:pPr marL="0" indent="0">
              <a:buNone/>
            </a:pPr>
            <a:r>
              <a:rPr lang="en-US" sz="1600" b="1" dirty="0">
                <a:solidFill>
                  <a:schemeClr val="accent5"/>
                </a:solidFill>
              </a:rPr>
              <a:t>wary</a:t>
            </a:r>
            <a:endParaRPr lang="en-US" sz="1600" dirty="0"/>
          </a:p>
        </p:txBody>
      </p:sp>
      <p:sp>
        <p:nvSpPr>
          <p:cNvPr id="15" name="Text 12"/>
          <p:cNvSpPr txBox="1"/>
          <p:nvPr/>
        </p:nvSpPr>
        <p:spPr>
          <a:xfrm>
            <a:off x="731520" y="3429000"/>
            <a:ext cx="2225040" cy="1097280"/>
          </a:xfrm>
          <a:prstGeom prst="rect">
            <a:avLst/>
          </a:prstGeom>
          <a:noFill/>
          <a:ln/>
        </p:spPr>
        <p:txBody>
          <a:bodyPr wrap="square" lIns="0" tIns="0" rIns="0" bIns="0" rtlCol="0" anchor="t"/>
          <a:lstStyle/>
          <a:p>
            <a:pPr marL="0" indent="0">
              <a:buNone/>
            </a:pPr>
            <a:r>
              <a:rPr lang="en-US" sz="1400" dirty="0">
                <a:solidFill>
                  <a:schemeClr val="tx1"/>
                </a:solidFill>
              </a:rPr>
              <a:t>Careful, watching for danger.</a:t>
            </a:r>
          </a:p>
          <a:p>
            <a:pPr marL="0" indent="0">
              <a:buNone/>
            </a:pPr>
            <a:endParaRPr lang="en-US" sz="1400" dirty="0"/>
          </a:p>
          <a:p>
            <a:pPr marL="0" indent="0">
              <a:buNone/>
            </a:pPr>
            <a:r>
              <a:rPr lang="en-US" sz="1400" dirty="0">
                <a:solidFill>
                  <a:schemeClr val="tx1"/>
                </a:solidFill>
              </a:rPr>
              <a:t> Kesh was wary of the silent streets.</a:t>
            </a:r>
            <a:endParaRPr lang="en-US" sz="1400" dirty="0"/>
          </a:p>
        </p:txBody>
      </p:sp>
      <p:sp>
        <p:nvSpPr>
          <p:cNvPr id="16" name="card"/>
          <p:cNvSpPr/>
          <p:nvPr/>
        </p:nvSpPr>
        <p:spPr>
          <a:xfrm>
            <a:off x="3276600" y="2926080"/>
            <a:ext cx="2590800" cy="1691640"/>
          </a:xfrm>
          <a:prstGeom prst="roundRect">
            <a:avLst>
              <a:gd name="adj" fmla="val 6486"/>
            </a:avLst>
          </a:prstGeom>
          <a:solidFill>
            <a:schemeClr val="bg2"/>
          </a:solidFill>
          <a:ln w="12700">
            <a:solidFill>
              <a:schemeClr val="bg2"/>
            </a:solidFill>
            <a:prstDash val="solid"/>
          </a:ln>
        </p:spPr>
      </p:sp>
      <p:sp>
        <p:nvSpPr>
          <p:cNvPr id="17" name="Text 14"/>
          <p:cNvSpPr txBox="1"/>
          <p:nvPr/>
        </p:nvSpPr>
        <p:spPr>
          <a:xfrm>
            <a:off x="3459480" y="3017520"/>
            <a:ext cx="2225040" cy="365760"/>
          </a:xfrm>
          <a:prstGeom prst="rect">
            <a:avLst/>
          </a:prstGeom>
          <a:noFill/>
          <a:ln/>
        </p:spPr>
        <p:txBody>
          <a:bodyPr wrap="square" lIns="0" tIns="0" rIns="0" bIns="0" rtlCol="0" anchor="t"/>
          <a:lstStyle/>
          <a:p>
            <a:pPr marL="0" indent="0">
              <a:buNone/>
            </a:pPr>
            <a:r>
              <a:rPr lang="en-US" sz="1600" b="1" dirty="0">
                <a:solidFill>
                  <a:schemeClr val="accent4"/>
                </a:solidFill>
              </a:rPr>
              <a:t>shimmered</a:t>
            </a:r>
            <a:endParaRPr lang="en-US" sz="1600" dirty="0"/>
          </a:p>
        </p:txBody>
      </p:sp>
      <p:sp>
        <p:nvSpPr>
          <p:cNvPr id="18" name="Text 15"/>
          <p:cNvSpPr txBox="1"/>
          <p:nvPr/>
        </p:nvSpPr>
        <p:spPr>
          <a:xfrm>
            <a:off x="3459480" y="3429000"/>
            <a:ext cx="2225040" cy="1097280"/>
          </a:xfrm>
          <a:prstGeom prst="rect">
            <a:avLst/>
          </a:prstGeom>
          <a:noFill/>
          <a:ln/>
        </p:spPr>
        <p:txBody>
          <a:bodyPr wrap="square" lIns="0" tIns="0" rIns="0" bIns="0" rtlCol="0" anchor="t"/>
          <a:lstStyle/>
          <a:p>
            <a:pPr marL="0" indent="0">
              <a:buNone/>
            </a:pPr>
            <a:r>
              <a:rPr lang="en-US" sz="1400" dirty="0">
                <a:solidFill>
                  <a:schemeClr val="tx1"/>
                </a:solidFill>
              </a:rPr>
              <a:t>Shone with a soft, wavering light. </a:t>
            </a:r>
          </a:p>
          <a:p>
            <a:pPr marL="0" indent="0">
              <a:buNone/>
            </a:pPr>
            <a:endParaRPr lang="en-US" sz="1400" dirty="0"/>
          </a:p>
          <a:p>
            <a:pPr marL="0" indent="0">
              <a:buNone/>
            </a:pPr>
            <a:r>
              <a:rPr lang="en-US" sz="1400" dirty="0">
                <a:solidFill>
                  <a:schemeClr val="tx1"/>
                </a:solidFill>
              </a:rPr>
              <a:t>The city shimmered in the haze.</a:t>
            </a:r>
            <a:endParaRPr lang="en-US" sz="1400" dirty="0"/>
          </a:p>
        </p:txBody>
      </p:sp>
      <p:sp>
        <p:nvSpPr>
          <p:cNvPr id="19" name="card"/>
          <p:cNvSpPr/>
          <p:nvPr/>
        </p:nvSpPr>
        <p:spPr>
          <a:xfrm>
            <a:off x="6004560" y="2926080"/>
            <a:ext cx="2590800" cy="1691640"/>
          </a:xfrm>
          <a:prstGeom prst="roundRect">
            <a:avLst>
              <a:gd name="adj" fmla="val 6486"/>
            </a:avLst>
          </a:prstGeom>
          <a:solidFill>
            <a:schemeClr val="bg2"/>
          </a:solidFill>
          <a:ln w="12700">
            <a:solidFill>
              <a:schemeClr val="bg2"/>
            </a:solidFill>
            <a:prstDash val="solid"/>
          </a:ln>
        </p:spPr>
      </p:sp>
      <p:sp>
        <p:nvSpPr>
          <p:cNvPr id="20" name="Text 17"/>
          <p:cNvSpPr txBox="1"/>
          <p:nvPr/>
        </p:nvSpPr>
        <p:spPr>
          <a:xfrm>
            <a:off x="6187440" y="3017520"/>
            <a:ext cx="2225040" cy="365760"/>
          </a:xfrm>
          <a:prstGeom prst="rect">
            <a:avLst/>
          </a:prstGeom>
          <a:noFill/>
          <a:ln/>
        </p:spPr>
        <p:txBody>
          <a:bodyPr wrap="square" lIns="0" tIns="0" rIns="0" bIns="0" rtlCol="0" anchor="t"/>
          <a:lstStyle/>
          <a:p>
            <a:pPr marL="0" indent="0">
              <a:buNone/>
            </a:pPr>
            <a:r>
              <a:rPr lang="en-US" sz="1600" b="1" dirty="0">
                <a:solidFill>
                  <a:schemeClr val="accent2"/>
                </a:solidFill>
              </a:rPr>
              <a:t>deserted</a:t>
            </a:r>
            <a:endParaRPr lang="en-US" sz="1600" dirty="0"/>
          </a:p>
        </p:txBody>
      </p:sp>
      <p:sp>
        <p:nvSpPr>
          <p:cNvPr id="21" name="Text 18"/>
          <p:cNvSpPr txBox="1"/>
          <p:nvPr/>
        </p:nvSpPr>
        <p:spPr>
          <a:xfrm>
            <a:off x="6187440" y="3429000"/>
            <a:ext cx="2225040" cy="1097280"/>
          </a:xfrm>
          <a:prstGeom prst="rect">
            <a:avLst/>
          </a:prstGeom>
          <a:noFill/>
          <a:ln/>
        </p:spPr>
        <p:txBody>
          <a:bodyPr wrap="square" lIns="0" tIns="0" rIns="0" bIns="0" rtlCol="0" anchor="t"/>
          <a:lstStyle/>
          <a:p>
            <a:pPr marL="0" indent="0">
              <a:buNone/>
            </a:pPr>
            <a:r>
              <a:rPr lang="en-US" sz="1400" dirty="0">
                <a:solidFill>
                  <a:schemeClr val="tx1"/>
                </a:solidFill>
              </a:rPr>
              <a:t>Empty, with no people in it.</a:t>
            </a:r>
          </a:p>
          <a:p>
            <a:pPr marL="0" indent="0">
              <a:buNone/>
            </a:pPr>
            <a:endParaRPr lang="en-US" sz="1400" dirty="0"/>
          </a:p>
          <a:p>
            <a:pPr marL="0" indent="0">
              <a:buNone/>
            </a:pPr>
            <a:r>
              <a:rPr lang="en-US" sz="1400" dirty="0">
                <a:solidFill>
                  <a:schemeClr val="tx1"/>
                </a:solidFill>
              </a:rPr>
              <a:t> The deserted square was silent.</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what we still want to know</a:t>
            </a:r>
            <a:endParaRPr lang="en-US" sz="3000" dirty="0"/>
          </a:p>
        </p:txBody>
      </p:sp>
      <p:sp>
        <p:nvSpPr>
          <p:cNvPr id="4" name="card"/>
          <p:cNvSpPr/>
          <p:nvPr/>
        </p:nvSpPr>
        <p:spPr>
          <a:xfrm>
            <a:off x="548640" y="1188720"/>
            <a:ext cx="3840480" cy="3246120"/>
          </a:xfrm>
          <a:prstGeom prst="roundRect">
            <a:avLst>
              <a:gd name="adj" fmla="val 3380"/>
            </a:avLst>
          </a:prstGeom>
          <a:solidFill>
            <a:schemeClr val="bg2"/>
          </a:solidFill>
          <a:ln w="12700">
            <a:solidFill>
              <a:schemeClr val="bg2"/>
            </a:solidFill>
            <a:prstDash val="solid"/>
          </a:ln>
        </p:spPr>
      </p:sp>
      <p:sp>
        <p:nvSpPr>
          <p:cNvPr id="5" name="badge"/>
          <p:cNvSpPr/>
          <p:nvPr/>
        </p:nvSpPr>
        <p:spPr>
          <a:xfrm>
            <a:off x="777240" y="1417320"/>
            <a:ext cx="822960" cy="82296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991210" y="1631290"/>
            <a:ext cx="395021" cy="395021"/>
          </a:xfrm>
          <a:prstGeom prst="rect">
            <a:avLst/>
          </a:prstGeom>
        </p:spPr>
      </p:pic>
      <p:sp>
        <p:nvSpPr>
          <p:cNvPr id="7" name="Text 3"/>
          <p:cNvSpPr txBox="1"/>
          <p:nvPr/>
        </p:nvSpPr>
        <p:spPr>
          <a:xfrm>
            <a:off x="1783080" y="1417320"/>
            <a:ext cx="2468880" cy="822960"/>
          </a:xfrm>
          <a:prstGeom prst="rect">
            <a:avLst/>
          </a:prstGeom>
          <a:noFill/>
          <a:ln/>
        </p:spPr>
        <p:txBody>
          <a:bodyPr wrap="square" lIns="0" tIns="0" rIns="0" bIns="0" rtlCol="0" anchor="ctr"/>
          <a:lstStyle/>
          <a:p>
            <a:pPr marL="0" indent="0">
              <a:buNone/>
            </a:pPr>
            <a:r>
              <a:rPr lang="en-US" sz="2000" b="1" dirty="0">
                <a:solidFill>
                  <a:schemeClr val="tx1"/>
                </a:solidFill>
              </a:rPr>
              <a:t>Ask a question</a:t>
            </a:r>
            <a:endParaRPr lang="en-US" sz="2000" dirty="0"/>
          </a:p>
        </p:txBody>
      </p:sp>
      <p:sp>
        <p:nvSpPr>
          <p:cNvPr id="8" name="Text 4"/>
          <p:cNvSpPr txBox="1"/>
          <p:nvPr/>
        </p:nvSpPr>
        <p:spPr>
          <a:xfrm>
            <a:off x="777240" y="2468880"/>
            <a:ext cx="3383280" cy="1645920"/>
          </a:xfrm>
          <a:prstGeom prst="rect">
            <a:avLst/>
          </a:prstGeom>
          <a:noFill/>
          <a:ln/>
        </p:spPr>
        <p:txBody>
          <a:bodyPr wrap="square" lIns="0" tIns="0" rIns="0" bIns="0" rtlCol="0" anchor="t"/>
          <a:lstStyle/>
          <a:p>
            <a:pPr marL="0" indent="0">
              <a:buNone/>
            </a:pPr>
            <a:r>
              <a:rPr lang="en-US" sz="1600" dirty="0">
                <a:solidFill>
                  <a:schemeClr val="tx1"/>
                </a:solidFill>
              </a:rPr>
              <a:t>What would you like to know?</a:t>
            </a:r>
            <a:endParaRPr lang="en-US" sz="1600" dirty="0"/>
          </a:p>
          <a:p>
            <a:pPr marL="0" indent="0">
              <a:buNone/>
            </a:pPr>
            <a:r>
              <a:rPr lang="en-US" sz="1600" dirty="0">
                <a:solidFill>
                  <a:schemeClr val="tx1"/>
                </a:solidFill>
              </a:rPr>
              <a:t>What has not been explained yet?</a:t>
            </a:r>
            <a:endParaRPr lang="en-US" sz="1600" dirty="0"/>
          </a:p>
        </p:txBody>
      </p:sp>
      <p:sp>
        <p:nvSpPr>
          <p:cNvPr id="9" name="card"/>
          <p:cNvSpPr/>
          <p:nvPr/>
        </p:nvSpPr>
        <p:spPr>
          <a:xfrm>
            <a:off x="4663440" y="1188720"/>
            <a:ext cx="3931920" cy="3246120"/>
          </a:xfrm>
          <a:prstGeom prst="roundRect">
            <a:avLst>
              <a:gd name="adj" fmla="val 3380"/>
            </a:avLst>
          </a:prstGeom>
          <a:solidFill>
            <a:schemeClr val="tx1"/>
          </a:solidFill>
          <a:ln w="12700">
            <a:solidFill>
              <a:schemeClr val="tx1"/>
            </a:solidFill>
            <a:prstDash val="solid"/>
          </a:ln>
        </p:spPr>
      </p:sp>
      <p:sp>
        <p:nvSpPr>
          <p:cNvPr id="10" name="Text 6"/>
          <p:cNvSpPr txBox="1"/>
          <p:nvPr/>
        </p:nvSpPr>
        <p:spPr>
          <a:xfrm>
            <a:off x="4892040" y="1371600"/>
            <a:ext cx="3474720" cy="365760"/>
          </a:xfrm>
          <a:prstGeom prst="rect">
            <a:avLst/>
          </a:prstGeom>
          <a:noFill/>
          <a:ln/>
        </p:spPr>
        <p:txBody>
          <a:bodyPr wrap="square" lIns="0" tIns="0" rIns="0" bIns="0" rtlCol="0" anchor="t"/>
          <a:lstStyle/>
          <a:p>
            <a:pPr marL="0" indent="0">
              <a:buNone/>
            </a:pPr>
            <a:r>
              <a:rPr lang="en-US" sz="1400" b="1" dirty="0">
                <a:solidFill>
                  <a:schemeClr val="accent1"/>
                </a:solidFill>
              </a:rPr>
              <a:t>Start with</a:t>
            </a:r>
            <a:endParaRPr lang="en-US" sz="1400" dirty="0"/>
          </a:p>
        </p:txBody>
      </p:sp>
      <p:sp>
        <p:nvSpPr>
          <p:cNvPr id="11" name="Text 7"/>
          <p:cNvSpPr txBox="1"/>
          <p:nvPr/>
        </p:nvSpPr>
        <p:spPr>
          <a:xfrm>
            <a:off x="4892040" y="1828800"/>
            <a:ext cx="3474720" cy="2377440"/>
          </a:xfrm>
          <a:prstGeom prst="rect">
            <a:avLst/>
          </a:prstGeom>
          <a:noFill/>
          <a:ln/>
        </p:spPr>
        <p:txBody>
          <a:bodyPr wrap="square" lIns="0" tIns="0" rIns="0" bIns="0" rtlCol="0" anchor="t"/>
          <a:lstStyle/>
          <a:p>
            <a:pPr marL="0" indent="0">
              <a:spcAft>
                <a:spcPts val="800"/>
              </a:spcAft>
              <a:buNone/>
            </a:pPr>
            <a:r>
              <a:rPr lang="en-US" sz="2200" b="1" dirty="0">
                <a:solidFill>
                  <a:schemeClr val="bg1"/>
                </a:solidFill>
              </a:rPr>
              <a:t>Why ...?</a:t>
            </a:r>
            <a:endParaRPr lang="en-US" sz="2200" dirty="0"/>
          </a:p>
          <a:p>
            <a:pPr marL="0" indent="0">
              <a:spcAft>
                <a:spcPts val="800"/>
              </a:spcAft>
              <a:buNone/>
            </a:pPr>
            <a:r>
              <a:rPr lang="en-US" sz="2200" b="1" dirty="0">
                <a:solidFill>
                  <a:schemeClr val="bg1"/>
                </a:solidFill>
              </a:rPr>
              <a:t>Who ...?</a:t>
            </a:r>
            <a:endParaRPr lang="en-US" sz="2200" dirty="0"/>
          </a:p>
          <a:p>
            <a:pPr marL="0" indent="0">
              <a:spcAft>
                <a:spcPts val="800"/>
              </a:spcAft>
              <a:buNone/>
            </a:pPr>
            <a:r>
              <a:rPr lang="en-US" sz="2200" b="1" dirty="0">
                <a:solidFill>
                  <a:schemeClr val="bg1"/>
                </a:solidFill>
              </a:rPr>
              <a:t>What might ...?</a:t>
            </a:r>
            <a:endParaRPr lang="en-US" sz="2200" dirty="0"/>
          </a:p>
          <a:p>
            <a:pPr marL="0" indent="0">
              <a:spcAft>
                <a:spcPts val="800"/>
              </a:spcAft>
              <a:buNone/>
            </a:pPr>
            <a:r>
              <a:rPr lang="en-US" sz="2200" b="1" dirty="0">
                <a:solidFill>
                  <a:schemeClr val="bg1"/>
                </a:solidFill>
              </a:rPr>
              <a:t>How could ...?</a:t>
            </a:r>
            <a:endParaRPr lang="en-US" sz="2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Sample questions</a:t>
            </a:r>
            <a:endParaRPr lang="en-US" sz="3000" dirty="0"/>
          </a:p>
        </p:txBody>
      </p:sp>
      <p:sp>
        <p:nvSpPr>
          <p:cNvPr id="4" name="card"/>
          <p:cNvSpPr/>
          <p:nvPr/>
        </p:nvSpPr>
        <p:spPr>
          <a:xfrm>
            <a:off x="548640" y="1097280"/>
            <a:ext cx="395478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3589020" cy="365760"/>
          </a:xfrm>
          <a:prstGeom prst="rect">
            <a:avLst/>
          </a:prstGeom>
          <a:noFill/>
          <a:ln/>
        </p:spPr>
        <p:txBody>
          <a:bodyPr wrap="square" lIns="0" tIns="0" rIns="0" bIns="0" rtlCol="0" anchor="t"/>
          <a:lstStyle/>
          <a:p>
            <a:pPr marL="0" indent="0">
              <a:buNone/>
            </a:pPr>
            <a:r>
              <a:rPr lang="en-US" sz="1600" b="1" dirty="0">
                <a:solidFill>
                  <a:schemeClr val="accent4"/>
                </a:solidFill>
              </a:rPr>
              <a:t>Why?</a:t>
            </a:r>
            <a:endParaRPr lang="en-US" sz="1600" dirty="0"/>
          </a:p>
        </p:txBody>
      </p:sp>
      <p:sp>
        <p:nvSpPr>
          <p:cNvPr id="6" name="Text 3"/>
          <p:cNvSpPr txBox="1"/>
          <p:nvPr/>
        </p:nvSpPr>
        <p:spPr>
          <a:xfrm>
            <a:off x="73152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Why is the city empty when it has water and shelter? Why will the dustwyrm not go in?</a:t>
            </a:r>
            <a:endParaRPr lang="en-US" sz="1400" dirty="0"/>
          </a:p>
        </p:txBody>
      </p:sp>
      <p:sp>
        <p:nvSpPr>
          <p:cNvPr id="7" name="card"/>
          <p:cNvSpPr/>
          <p:nvPr/>
        </p:nvSpPr>
        <p:spPr>
          <a:xfrm>
            <a:off x="4640580" y="1097280"/>
            <a:ext cx="395478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4823460" y="1188720"/>
            <a:ext cx="3589020" cy="365760"/>
          </a:xfrm>
          <a:prstGeom prst="rect">
            <a:avLst/>
          </a:prstGeom>
          <a:noFill/>
          <a:ln/>
        </p:spPr>
        <p:txBody>
          <a:bodyPr wrap="square" lIns="0" tIns="0" rIns="0" bIns="0" rtlCol="0" anchor="t"/>
          <a:lstStyle/>
          <a:p>
            <a:pPr marL="0" indent="0">
              <a:buNone/>
            </a:pPr>
            <a:r>
              <a:rPr lang="en-US" sz="1600" b="1" dirty="0">
                <a:solidFill>
                  <a:schemeClr val="accent2"/>
                </a:solidFill>
              </a:rPr>
              <a:t>Who?</a:t>
            </a:r>
            <a:endParaRPr lang="en-US" sz="1600" dirty="0"/>
          </a:p>
        </p:txBody>
      </p:sp>
      <p:sp>
        <p:nvSpPr>
          <p:cNvPr id="9" name="Text 6"/>
          <p:cNvSpPr txBox="1"/>
          <p:nvPr/>
        </p:nvSpPr>
        <p:spPr>
          <a:xfrm>
            <a:off x="482346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Who built Aurelia? Who lived there, and why did they leave?</a:t>
            </a:r>
            <a:endParaRPr lang="en-US" sz="1400" dirty="0"/>
          </a:p>
        </p:txBody>
      </p:sp>
      <p:sp>
        <p:nvSpPr>
          <p:cNvPr id="10" name="card"/>
          <p:cNvSpPr/>
          <p:nvPr/>
        </p:nvSpPr>
        <p:spPr>
          <a:xfrm>
            <a:off x="548640" y="2926080"/>
            <a:ext cx="395478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731520" y="3017520"/>
            <a:ext cx="3589020" cy="365760"/>
          </a:xfrm>
          <a:prstGeom prst="rect">
            <a:avLst/>
          </a:prstGeom>
          <a:noFill/>
          <a:ln/>
        </p:spPr>
        <p:txBody>
          <a:bodyPr wrap="square" lIns="0" tIns="0" rIns="0" bIns="0" rtlCol="0" anchor="t"/>
          <a:lstStyle/>
          <a:p>
            <a:pPr marL="0" indent="0">
              <a:buNone/>
            </a:pPr>
            <a:r>
              <a:rPr lang="en-US" sz="1600" b="1" dirty="0">
                <a:solidFill>
                  <a:schemeClr val="accent3"/>
                </a:solidFill>
              </a:rPr>
              <a:t>What might?</a:t>
            </a:r>
            <a:endParaRPr lang="en-US" sz="1600" dirty="0"/>
          </a:p>
        </p:txBody>
      </p:sp>
      <p:sp>
        <p:nvSpPr>
          <p:cNvPr id="12" name="Text 9"/>
          <p:cNvSpPr txBox="1"/>
          <p:nvPr/>
        </p:nvSpPr>
        <p:spPr>
          <a:xfrm>
            <a:off x="73152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What might be hidden inside the walls? What might Kesh know that the others do not?</a:t>
            </a:r>
            <a:endParaRPr lang="en-US" sz="1400" dirty="0"/>
          </a:p>
        </p:txBody>
      </p:sp>
      <p:sp>
        <p:nvSpPr>
          <p:cNvPr id="13" name="card"/>
          <p:cNvSpPr/>
          <p:nvPr/>
        </p:nvSpPr>
        <p:spPr>
          <a:xfrm>
            <a:off x="4640580" y="2926080"/>
            <a:ext cx="395478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4823460" y="3017520"/>
            <a:ext cx="3589020" cy="365760"/>
          </a:xfrm>
          <a:prstGeom prst="rect">
            <a:avLst/>
          </a:prstGeom>
          <a:noFill/>
          <a:ln/>
        </p:spPr>
        <p:txBody>
          <a:bodyPr wrap="square" lIns="0" tIns="0" rIns="0" bIns="0" rtlCol="0" anchor="t"/>
          <a:lstStyle/>
          <a:p>
            <a:pPr marL="0" indent="0">
              <a:buNone/>
            </a:pPr>
            <a:r>
              <a:rPr lang="en-US" sz="1600" b="1" dirty="0">
                <a:solidFill>
                  <a:schemeClr val="accent5"/>
                </a:solidFill>
              </a:rPr>
              <a:t>How could?</a:t>
            </a:r>
            <a:endParaRPr lang="en-US" sz="1600" dirty="0"/>
          </a:p>
        </p:txBody>
      </p:sp>
      <p:sp>
        <p:nvSpPr>
          <p:cNvPr id="15" name="Text 12"/>
          <p:cNvSpPr txBox="1"/>
          <p:nvPr/>
        </p:nvSpPr>
        <p:spPr>
          <a:xfrm>
            <a:off x="482346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How could a city stay so clean and bright with nobody to look after it?</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question number"/>
          <p:cNvSpPr/>
          <p:nvPr/>
        </p:nvSpPr>
        <p:spPr>
          <a:xfrm>
            <a:off x="685800" y="1234440"/>
            <a:ext cx="502920" cy="502920"/>
          </a:xfrm>
          <a:prstGeom prst="ellipse">
            <a:avLst/>
          </a:prstGeom>
          <a:solidFill>
            <a:schemeClr val="accent4"/>
          </a:solidFill>
          <a:ln w="12700">
            <a:solidFill>
              <a:schemeClr val="accent4"/>
            </a:solidFill>
            <a:prstDash val="solid"/>
          </a:ln>
        </p:spPr>
      </p:sp>
      <p:sp>
        <p:nvSpPr>
          <p:cNvPr id="6" name="Text 3"/>
          <p:cNvSpPr txBox="1"/>
          <p:nvPr/>
        </p:nvSpPr>
        <p:spPr>
          <a:xfrm>
            <a:off x="685800" y="12344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417320" y="1097280"/>
            <a:ext cx="7040880" cy="777240"/>
          </a:xfrm>
          <a:prstGeom prst="rect">
            <a:avLst/>
          </a:prstGeom>
          <a:noFill/>
          <a:ln/>
        </p:spPr>
        <p:txBody>
          <a:bodyPr wrap="square" lIns="0" tIns="0" rIns="0" bIns="0" rtlCol="0" anchor="ctr"/>
          <a:lstStyle/>
          <a:p>
            <a:pPr marL="0" indent="0">
              <a:buNone/>
            </a:pPr>
            <a:r>
              <a:rPr lang="en-US" sz="1500" dirty="0">
                <a:solidFill>
                  <a:schemeClr val="tx1"/>
                </a:solidFill>
              </a:rPr>
              <a:t>Explain the phrase 'worn smooth by years of use'. (1 mark)</a:t>
            </a:r>
            <a:endParaRPr lang="en-US" sz="1500" dirty="0"/>
          </a:p>
        </p:txBody>
      </p:sp>
      <p:sp>
        <p:nvSpPr>
          <p:cNvPr id="8" name="card"/>
          <p:cNvSpPr/>
          <p:nvPr/>
        </p:nvSpPr>
        <p:spPr>
          <a:xfrm>
            <a:off x="548640" y="1984248"/>
            <a:ext cx="8046720" cy="777240"/>
          </a:xfrm>
          <a:prstGeom prst="roundRect">
            <a:avLst>
              <a:gd name="adj" fmla="val 14118"/>
            </a:avLst>
          </a:prstGeom>
          <a:solidFill>
            <a:schemeClr val="bg2"/>
          </a:solidFill>
          <a:ln w="12700">
            <a:solidFill>
              <a:schemeClr val="bg2"/>
            </a:solidFill>
            <a:prstDash val="solid"/>
          </a:ln>
        </p:spPr>
      </p:sp>
      <p:sp>
        <p:nvSpPr>
          <p:cNvPr id="9" name="question number"/>
          <p:cNvSpPr/>
          <p:nvPr/>
        </p:nvSpPr>
        <p:spPr>
          <a:xfrm>
            <a:off x="685800" y="2121408"/>
            <a:ext cx="502920" cy="502920"/>
          </a:xfrm>
          <a:prstGeom prst="ellipse">
            <a:avLst/>
          </a:prstGeom>
          <a:solidFill>
            <a:schemeClr val="accent2"/>
          </a:solidFill>
          <a:ln w="12700">
            <a:solidFill>
              <a:schemeClr val="accent2"/>
            </a:solidFill>
            <a:prstDash val="solid"/>
          </a:ln>
        </p:spPr>
      </p:sp>
      <p:sp>
        <p:nvSpPr>
          <p:cNvPr id="10" name="Text 7"/>
          <p:cNvSpPr txBox="1"/>
          <p:nvPr/>
        </p:nvSpPr>
        <p:spPr>
          <a:xfrm>
            <a:off x="685800" y="2121408"/>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417320" y="1984248"/>
            <a:ext cx="7040880" cy="777240"/>
          </a:xfrm>
          <a:prstGeom prst="rect">
            <a:avLst/>
          </a:prstGeom>
          <a:noFill/>
          <a:ln/>
        </p:spPr>
        <p:txBody>
          <a:bodyPr wrap="square" lIns="0" tIns="0" rIns="0" bIns="0" rtlCol="0" anchor="ctr"/>
          <a:lstStyle/>
          <a:p>
            <a:pPr marL="0" indent="0">
              <a:buNone/>
            </a:pPr>
            <a:r>
              <a:rPr lang="en-US" sz="1500" dirty="0">
                <a:solidFill>
                  <a:schemeClr val="tx1"/>
                </a:solidFill>
              </a:rPr>
              <a:t>Find and copy one word from part 1 that tells the reader Tamsin was very thirsty. (1 mark)</a:t>
            </a:r>
            <a:endParaRPr lang="en-US" sz="1500" dirty="0"/>
          </a:p>
        </p:txBody>
      </p:sp>
      <p:sp>
        <p:nvSpPr>
          <p:cNvPr id="12" name="card"/>
          <p:cNvSpPr/>
          <p:nvPr/>
        </p:nvSpPr>
        <p:spPr>
          <a:xfrm>
            <a:off x="548640" y="2871216"/>
            <a:ext cx="8046720" cy="777240"/>
          </a:xfrm>
          <a:prstGeom prst="roundRect">
            <a:avLst>
              <a:gd name="adj" fmla="val 14118"/>
            </a:avLst>
          </a:prstGeom>
          <a:solidFill>
            <a:schemeClr val="bg2"/>
          </a:solidFill>
          <a:ln w="12700">
            <a:solidFill>
              <a:schemeClr val="bg2"/>
            </a:solidFill>
            <a:prstDash val="solid"/>
          </a:ln>
        </p:spPr>
      </p:sp>
      <p:sp>
        <p:nvSpPr>
          <p:cNvPr id="13" name="question number"/>
          <p:cNvSpPr/>
          <p:nvPr/>
        </p:nvSpPr>
        <p:spPr>
          <a:xfrm>
            <a:off x="685800" y="3008376"/>
            <a:ext cx="502920" cy="502920"/>
          </a:xfrm>
          <a:prstGeom prst="ellipse">
            <a:avLst/>
          </a:prstGeom>
          <a:solidFill>
            <a:schemeClr val="accent3"/>
          </a:solidFill>
          <a:ln w="12700">
            <a:solidFill>
              <a:schemeClr val="accent3"/>
            </a:solidFill>
            <a:prstDash val="solid"/>
          </a:ln>
        </p:spPr>
      </p:sp>
      <p:sp>
        <p:nvSpPr>
          <p:cNvPr id="14" name="Text 11"/>
          <p:cNvSpPr txBox="1"/>
          <p:nvPr/>
        </p:nvSpPr>
        <p:spPr>
          <a:xfrm>
            <a:off x="685800" y="300837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417320" y="2871216"/>
            <a:ext cx="7040880" cy="777240"/>
          </a:xfrm>
          <a:prstGeom prst="rect">
            <a:avLst/>
          </a:prstGeom>
          <a:noFill/>
          <a:ln/>
        </p:spPr>
        <p:txBody>
          <a:bodyPr wrap="square" lIns="0" tIns="0" rIns="0" bIns="0" rtlCol="0" anchor="ctr"/>
          <a:lstStyle/>
          <a:p>
            <a:pPr marL="0" indent="0">
              <a:buNone/>
            </a:pPr>
            <a:r>
              <a:rPr lang="en-US" sz="1500" dirty="0">
                <a:solidFill>
                  <a:schemeClr val="tx1"/>
                </a:solidFill>
              </a:rPr>
              <a:t>Match each word to a word with a similar meaning: trekking, murmured, gleaming, deserted / shining, empty, journeying, said quietly. (2 marks)</a:t>
            </a:r>
            <a:endParaRPr lang="en-US" sz="1500" dirty="0"/>
          </a:p>
        </p:txBody>
      </p:sp>
      <p:sp>
        <p:nvSpPr>
          <p:cNvPr id="16" name="card"/>
          <p:cNvSpPr/>
          <p:nvPr/>
        </p:nvSpPr>
        <p:spPr>
          <a:xfrm>
            <a:off x="548640" y="3758184"/>
            <a:ext cx="8046720" cy="777240"/>
          </a:xfrm>
          <a:prstGeom prst="roundRect">
            <a:avLst>
              <a:gd name="adj" fmla="val 14118"/>
            </a:avLst>
          </a:prstGeom>
          <a:solidFill>
            <a:schemeClr val="bg2"/>
          </a:solidFill>
          <a:ln w="12700">
            <a:solidFill>
              <a:schemeClr val="bg2"/>
            </a:solidFill>
            <a:prstDash val="solid"/>
          </a:ln>
        </p:spPr>
      </p:sp>
      <p:sp>
        <p:nvSpPr>
          <p:cNvPr id="17" name="question number"/>
          <p:cNvSpPr/>
          <p:nvPr/>
        </p:nvSpPr>
        <p:spPr>
          <a:xfrm>
            <a:off x="685800" y="3895344"/>
            <a:ext cx="502920" cy="502920"/>
          </a:xfrm>
          <a:prstGeom prst="ellipse">
            <a:avLst/>
          </a:prstGeom>
          <a:solidFill>
            <a:schemeClr val="accent5"/>
          </a:solidFill>
          <a:ln w="12700">
            <a:solidFill>
              <a:schemeClr val="accent5"/>
            </a:solidFill>
            <a:prstDash val="solid"/>
          </a:ln>
        </p:spPr>
      </p:sp>
      <p:sp>
        <p:nvSpPr>
          <p:cNvPr id="18" name="Text 15"/>
          <p:cNvSpPr txBox="1"/>
          <p:nvPr/>
        </p:nvSpPr>
        <p:spPr>
          <a:xfrm>
            <a:off x="685800" y="389534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417320" y="3758184"/>
            <a:ext cx="7040880" cy="777240"/>
          </a:xfrm>
          <a:prstGeom prst="rect">
            <a:avLst/>
          </a:prstGeom>
          <a:noFill/>
          <a:ln/>
        </p:spPr>
        <p:txBody>
          <a:bodyPr wrap="square" lIns="0" tIns="0" rIns="0" bIns="0" rtlCol="0" anchor="ctr"/>
          <a:lstStyle/>
          <a:p>
            <a:pPr marL="0" indent="0">
              <a:buNone/>
            </a:pPr>
            <a:r>
              <a:rPr lang="en-US" sz="1500" dirty="0">
                <a:solidFill>
                  <a:schemeClr val="tx1"/>
                </a:solidFill>
              </a:rPr>
              <a:t>What is the job of the forked hazel stick? (1 mark)</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Workbook: match the words</a:t>
            </a:r>
            <a:endParaRPr lang="en-US" sz="3000" dirty="0"/>
          </a:p>
        </p:txBody>
      </p:sp>
      <p:sp>
        <p:nvSpPr>
          <p:cNvPr id="4" name="word"/>
          <p:cNvSpPr/>
          <p:nvPr/>
        </p:nvSpPr>
        <p:spPr>
          <a:xfrm>
            <a:off x="548640" y="1143000"/>
            <a:ext cx="2011680" cy="457200"/>
          </a:xfrm>
          <a:prstGeom prst="roundRect">
            <a:avLst>
              <a:gd name="adj" fmla="val 50000"/>
            </a:avLst>
          </a:prstGeom>
          <a:solidFill>
            <a:schemeClr val="accent4"/>
          </a:solidFill>
          <a:ln w="12700">
            <a:solidFill>
              <a:schemeClr val="bg1"/>
            </a:solidFill>
            <a:prstDash val="solid"/>
          </a:ln>
        </p:spPr>
      </p:sp>
      <p:sp>
        <p:nvSpPr>
          <p:cNvPr id="5" name="Text 2"/>
          <p:cNvSpPr txBox="1"/>
          <p:nvPr/>
        </p:nvSpPr>
        <p:spPr>
          <a:xfrm>
            <a:off x="548640" y="1143000"/>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parched</a:t>
            </a:r>
            <a:endParaRPr lang="en-US" sz="1600" dirty="0"/>
          </a:p>
        </p:txBody>
      </p:sp>
      <p:sp>
        <p:nvSpPr>
          <p:cNvPr id="6" name="word"/>
          <p:cNvSpPr/>
          <p:nvPr/>
        </p:nvSpPr>
        <p:spPr>
          <a:xfrm>
            <a:off x="548640" y="1673352"/>
            <a:ext cx="2011680" cy="457200"/>
          </a:xfrm>
          <a:prstGeom prst="roundRect">
            <a:avLst>
              <a:gd name="adj" fmla="val 50000"/>
            </a:avLst>
          </a:prstGeom>
          <a:solidFill>
            <a:schemeClr val="accent2"/>
          </a:solidFill>
          <a:ln w="12700">
            <a:solidFill>
              <a:schemeClr val="bg1"/>
            </a:solidFill>
            <a:prstDash val="solid"/>
          </a:ln>
        </p:spPr>
      </p:sp>
      <p:sp>
        <p:nvSpPr>
          <p:cNvPr id="7" name="Text 4"/>
          <p:cNvSpPr txBox="1"/>
          <p:nvPr/>
        </p:nvSpPr>
        <p:spPr>
          <a:xfrm>
            <a:off x="548640" y="1673352"/>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trek</a:t>
            </a:r>
            <a:endParaRPr lang="en-US" sz="1600" dirty="0"/>
          </a:p>
        </p:txBody>
      </p:sp>
      <p:sp>
        <p:nvSpPr>
          <p:cNvPr id="8" name="word"/>
          <p:cNvSpPr/>
          <p:nvPr/>
        </p:nvSpPr>
        <p:spPr>
          <a:xfrm>
            <a:off x="548640" y="2203704"/>
            <a:ext cx="2011680" cy="457200"/>
          </a:xfrm>
          <a:prstGeom prst="roundRect">
            <a:avLst>
              <a:gd name="adj" fmla="val 50000"/>
            </a:avLst>
          </a:prstGeom>
          <a:solidFill>
            <a:schemeClr val="accent3"/>
          </a:solidFill>
          <a:ln w="12700">
            <a:solidFill>
              <a:schemeClr val="bg1"/>
            </a:solidFill>
            <a:prstDash val="solid"/>
          </a:ln>
        </p:spPr>
      </p:sp>
      <p:sp>
        <p:nvSpPr>
          <p:cNvPr id="9" name="Text 6"/>
          <p:cNvSpPr txBox="1"/>
          <p:nvPr/>
        </p:nvSpPr>
        <p:spPr>
          <a:xfrm>
            <a:off x="548640" y="2203704"/>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seep</a:t>
            </a:r>
            <a:endParaRPr lang="en-US" sz="1600" dirty="0"/>
          </a:p>
        </p:txBody>
      </p:sp>
      <p:sp>
        <p:nvSpPr>
          <p:cNvPr id="10" name="word"/>
          <p:cNvSpPr/>
          <p:nvPr/>
        </p:nvSpPr>
        <p:spPr>
          <a:xfrm>
            <a:off x="548640" y="2734056"/>
            <a:ext cx="2011680" cy="457200"/>
          </a:xfrm>
          <a:prstGeom prst="roundRect">
            <a:avLst>
              <a:gd name="adj" fmla="val 50000"/>
            </a:avLst>
          </a:prstGeom>
          <a:solidFill>
            <a:schemeClr val="accent4"/>
          </a:solidFill>
          <a:ln w="12700">
            <a:solidFill>
              <a:schemeClr val="bg1"/>
            </a:solidFill>
            <a:prstDash val="solid"/>
          </a:ln>
        </p:spPr>
      </p:sp>
      <p:sp>
        <p:nvSpPr>
          <p:cNvPr id="11" name="Text 8"/>
          <p:cNvSpPr txBox="1"/>
          <p:nvPr/>
        </p:nvSpPr>
        <p:spPr>
          <a:xfrm>
            <a:off x="548640" y="2734056"/>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wary</a:t>
            </a:r>
            <a:endParaRPr lang="en-US" sz="1600" dirty="0"/>
          </a:p>
        </p:txBody>
      </p:sp>
      <p:sp>
        <p:nvSpPr>
          <p:cNvPr id="12" name="word"/>
          <p:cNvSpPr/>
          <p:nvPr/>
        </p:nvSpPr>
        <p:spPr>
          <a:xfrm>
            <a:off x="548640" y="3264408"/>
            <a:ext cx="2011680" cy="457200"/>
          </a:xfrm>
          <a:prstGeom prst="roundRect">
            <a:avLst>
              <a:gd name="adj" fmla="val 50000"/>
            </a:avLst>
          </a:prstGeom>
          <a:solidFill>
            <a:schemeClr val="accent2"/>
          </a:solidFill>
          <a:ln w="12700">
            <a:solidFill>
              <a:schemeClr val="bg1"/>
            </a:solidFill>
            <a:prstDash val="solid"/>
          </a:ln>
        </p:spPr>
      </p:sp>
      <p:sp>
        <p:nvSpPr>
          <p:cNvPr id="13" name="Text 10"/>
          <p:cNvSpPr txBox="1"/>
          <p:nvPr/>
        </p:nvSpPr>
        <p:spPr>
          <a:xfrm>
            <a:off x="548640" y="3264408"/>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shimmered</a:t>
            </a:r>
            <a:endParaRPr lang="en-US" sz="1600" dirty="0"/>
          </a:p>
        </p:txBody>
      </p:sp>
      <p:sp>
        <p:nvSpPr>
          <p:cNvPr id="14" name="word"/>
          <p:cNvSpPr/>
          <p:nvPr/>
        </p:nvSpPr>
        <p:spPr>
          <a:xfrm>
            <a:off x="548640" y="3794760"/>
            <a:ext cx="2011680" cy="457200"/>
          </a:xfrm>
          <a:prstGeom prst="roundRect">
            <a:avLst>
              <a:gd name="adj" fmla="val 50000"/>
            </a:avLst>
          </a:prstGeom>
          <a:solidFill>
            <a:schemeClr val="accent3"/>
          </a:solidFill>
          <a:ln w="12700">
            <a:solidFill>
              <a:schemeClr val="bg1"/>
            </a:solidFill>
            <a:prstDash val="solid"/>
          </a:ln>
        </p:spPr>
      </p:sp>
      <p:sp>
        <p:nvSpPr>
          <p:cNvPr id="15" name="Text 12"/>
          <p:cNvSpPr txBox="1"/>
          <p:nvPr/>
        </p:nvSpPr>
        <p:spPr>
          <a:xfrm>
            <a:off x="548640" y="3794760"/>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deserted</a:t>
            </a:r>
            <a:endParaRPr lang="en-US" sz="1600" dirty="0"/>
          </a:p>
        </p:txBody>
      </p:sp>
      <p:sp>
        <p:nvSpPr>
          <p:cNvPr id="16" name="card"/>
          <p:cNvSpPr/>
          <p:nvPr/>
        </p:nvSpPr>
        <p:spPr>
          <a:xfrm>
            <a:off x="2926080" y="1143000"/>
            <a:ext cx="5669280" cy="457200"/>
          </a:xfrm>
          <a:prstGeom prst="roundRect">
            <a:avLst>
              <a:gd name="adj" fmla="val 24000"/>
            </a:avLst>
          </a:prstGeom>
          <a:solidFill>
            <a:schemeClr val="bg2"/>
          </a:solidFill>
          <a:ln w="12700">
            <a:solidFill>
              <a:schemeClr val="bg2"/>
            </a:solidFill>
            <a:prstDash val="solid"/>
          </a:ln>
        </p:spPr>
      </p:sp>
      <p:sp>
        <p:nvSpPr>
          <p:cNvPr id="17" name="Text 14"/>
          <p:cNvSpPr txBox="1"/>
          <p:nvPr/>
        </p:nvSpPr>
        <p:spPr>
          <a:xfrm>
            <a:off x="3108960" y="1143000"/>
            <a:ext cx="5394960" cy="457200"/>
          </a:xfrm>
          <a:prstGeom prst="rect">
            <a:avLst/>
          </a:prstGeom>
          <a:noFill/>
          <a:ln/>
        </p:spPr>
        <p:txBody>
          <a:bodyPr wrap="square" lIns="0" tIns="0" rIns="0" bIns="0" rtlCol="0" anchor="ctr"/>
          <a:lstStyle/>
          <a:p>
            <a:pPr marL="0" indent="0">
              <a:buNone/>
            </a:pPr>
            <a:r>
              <a:rPr lang="en-US" sz="1400" dirty="0">
                <a:solidFill>
                  <a:schemeClr val="tx1"/>
                </a:solidFill>
              </a:rPr>
              <a:t>A   Careful and watching for danger</a:t>
            </a:r>
            <a:endParaRPr lang="en-US" sz="1400" dirty="0"/>
          </a:p>
        </p:txBody>
      </p:sp>
      <p:sp>
        <p:nvSpPr>
          <p:cNvPr id="18" name="card"/>
          <p:cNvSpPr/>
          <p:nvPr/>
        </p:nvSpPr>
        <p:spPr>
          <a:xfrm>
            <a:off x="2926080" y="1673352"/>
            <a:ext cx="5669280" cy="457200"/>
          </a:xfrm>
          <a:prstGeom prst="roundRect">
            <a:avLst>
              <a:gd name="adj" fmla="val 24000"/>
            </a:avLst>
          </a:prstGeom>
          <a:solidFill>
            <a:schemeClr val="bg2"/>
          </a:solidFill>
          <a:ln w="12700">
            <a:solidFill>
              <a:schemeClr val="bg2"/>
            </a:solidFill>
            <a:prstDash val="solid"/>
          </a:ln>
        </p:spPr>
      </p:sp>
      <p:sp>
        <p:nvSpPr>
          <p:cNvPr id="19" name="Text 16"/>
          <p:cNvSpPr txBox="1"/>
          <p:nvPr/>
        </p:nvSpPr>
        <p:spPr>
          <a:xfrm>
            <a:off x="3108960" y="1673352"/>
            <a:ext cx="5394960" cy="457200"/>
          </a:xfrm>
          <a:prstGeom prst="rect">
            <a:avLst/>
          </a:prstGeom>
          <a:noFill/>
          <a:ln/>
        </p:spPr>
        <p:txBody>
          <a:bodyPr wrap="square" lIns="0" tIns="0" rIns="0" bIns="0" rtlCol="0" anchor="ctr"/>
          <a:lstStyle/>
          <a:p>
            <a:pPr marL="0" indent="0">
              <a:buNone/>
            </a:pPr>
            <a:r>
              <a:rPr lang="en-US" sz="1400" dirty="0">
                <a:solidFill>
                  <a:schemeClr val="tx1"/>
                </a:solidFill>
              </a:rPr>
              <a:t>B   Shone with a soft, wavering light</a:t>
            </a:r>
            <a:endParaRPr lang="en-US" sz="1400" dirty="0"/>
          </a:p>
        </p:txBody>
      </p:sp>
      <p:sp>
        <p:nvSpPr>
          <p:cNvPr id="20" name="card"/>
          <p:cNvSpPr/>
          <p:nvPr/>
        </p:nvSpPr>
        <p:spPr>
          <a:xfrm>
            <a:off x="2926080" y="2203704"/>
            <a:ext cx="5669280" cy="457200"/>
          </a:xfrm>
          <a:prstGeom prst="roundRect">
            <a:avLst>
              <a:gd name="adj" fmla="val 24000"/>
            </a:avLst>
          </a:prstGeom>
          <a:solidFill>
            <a:schemeClr val="bg2"/>
          </a:solidFill>
          <a:ln w="12700">
            <a:solidFill>
              <a:schemeClr val="bg2"/>
            </a:solidFill>
            <a:prstDash val="solid"/>
          </a:ln>
        </p:spPr>
      </p:sp>
      <p:sp>
        <p:nvSpPr>
          <p:cNvPr id="21" name="Text 18"/>
          <p:cNvSpPr txBox="1"/>
          <p:nvPr/>
        </p:nvSpPr>
        <p:spPr>
          <a:xfrm>
            <a:off x="3108960" y="2203704"/>
            <a:ext cx="5394960" cy="457200"/>
          </a:xfrm>
          <a:prstGeom prst="rect">
            <a:avLst/>
          </a:prstGeom>
          <a:noFill/>
          <a:ln/>
        </p:spPr>
        <p:txBody>
          <a:bodyPr wrap="square" lIns="0" tIns="0" rIns="0" bIns="0" rtlCol="0" anchor="ctr"/>
          <a:lstStyle/>
          <a:p>
            <a:pPr marL="0" indent="0">
              <a:buNone/>
            </a:pPr>
            <a:r>
              <a:rPr lang="en-US" sz="1400" dirty="0">
                <a:solidFill>
                  <a:schemeClr val="tx1"/>
                </a:solidFill>
              </a:rPr>
              <a:t>C   A long, tiring journey on foot</a:t>
            </a:r>
            <a:endParaRPr lang="en-US" sz="1400" dirty="0"/>
          </a:p>
        </p:txBody>
      </p:sp>
      <p:sp>
        <p:nvSpPr>
          <p:cNvPr id="22" name="card"/>
          <p:cNvSpPr/>
          <p:nvPr/>
        </p:nvSpPr>
        <p:spPr>
          <a:xfrm>
            <a:off x="2926080" y="2734056"/>
            <a:ext cx="5669280" cy="457200"/>
          </a:xfrm>
          <a:prstGeom prst="roundRect">
            <a:avLst>
              <a:gd name="adj" fmla="val 24000"/>
            </a:avLst>
          </a:prstGeom>
          <a:solidFill>
            <a:schemeClr val="bg2"/>
          </a:solidFill>
          <a:ln w="12700">
            <a:solidFill>
              <a:schemeClr val="bg2"/>
            </a:solidFill>
            <a:prstDash val="solid"/>
          </a:ln>
        </p:spPr>
      </p:sp>
      <p:sp>
        <p:nvSpPr>
          <p:cNvPr id="23" name="Text 20"/>
          <p:cNvSpPr txBox="1"/>
          <p:nvPr/>
        </p:nvSpPr>
        <p:spPr>
          <a:xfrm>
            <a:off x="3108960" y="2734056"/>
            <a:ext cx="5394960" cy="457200"/>
          </a:xfrm>
          <a:prstGeom prst="rect">
            <a:avLst/>
          </a:prstGeom>
          <a:noFill/>
          <a:ln/>
        </p:spPr>
        <p:txBody>
          <a:bodyPr wrap="square" lIns="0" tIns="0" rIns="0" bIns="0" rtlCol="0" anchor="ctr"/>
          <a:lstStyle/>
          <a:p>
            <a:pPr marL="0" indent="0">
              <a:buNone/>
            </a:pPr>
            <a:r>
              <a:rPr lang="en-US" sz="1400" dirty="0">
                <a:solidFill>
                  <a:schemeClr val="tx1"/>
                </a:solidFill>
              </a:rPr>
              <a:t>D   Extremely dry and thirsty</a:t>
            </a:r>
            <a:endParaRPr lang="en-US" sz="1400" dirty="0"/>
          </a:p>
        </p:txBody>
      </p:sp>
      <p:sp>
        <p:nvSpPr>
          <p:cNvPr id="24" name="card"/>
          <p:cNvSpPr/>
          <p:nvPr/>
        </p:nvSpPr>
        <p:spPr>
          <a:xfrm>
            <a:off x="2926080" y="3264408"/>
            <a:ext cx="5669280" cy="457200"/>
          </a:xfrm>
          <a:prstGeom prst="roundRect">
            <a:avLst>
              <a:gd name="adj" fmla="val 24000"/>
            </a:avLst>
          </a:prstGeom>
          <a:solidFill>
            <a:schemeClr val="bg2"/>
          </a:solidFill>
          <a:ln w="12700">
            <a:solidFill>
              <a:schemeClr val="bg2"/>
            </a:solidFill>
            <a:prstDash val="solid"/>
          </a:ln>
        </p:spPr>
      </p:sp>
      <p:sp>
        <p:nvSpPr>
          <p:cNvPr id="25" name="Text 22"/>
          <p:cNvSpPr txBox="1"/>
          <p:nvPr/>
        </p:nvSpPr>
        <p:spPr>
          <a:xfrm>
            <a:off x="3108960" y="3264408"/>
            <a:ext cx="5394960" cy="457200"/>
          </a:xfrm>
          <a:prstGeom prst="rect">
            <a:avLst/>
          </a:prstGeom>
          <a:noFill/>
          <a:ln/>
        </p:spPr>
        <p:txBody>
          <a:bodyPr wrap="square" lIns="0" tIns="0" rIns="0" bIns="0" rtlCol="0" anchor="ctr"/>
          <a:lstStyle/>
          <a:p>
            <a:pPr marL="0" indent="0">
              <a:buNone/>
            </a:pPr>
            <a:r>
              <a:rPr lang="en-US" sz="1400" dirty="0">
                <a:solidFill>
                  <a:schemeClr val="tx1"/>
                </a:solidFill>
              </a:rPr>
              <a:t>E   A place where water slowly trickles out of the ground</a:t>
            </a:r>
            <a:endParaRPr lang="en-US" sz="1400" dirty="0"/>
          </a:p>
        </p:txBody>
      </p:sp>
      <p:sp>
        <p:nvSpPr>
          <p:cNvPr id="26" name="card"/>
          <p:cNvSpPr/>
          <p:nvPr/>
        </p:nvSpPr>
        <p:spPr>
          <a:xfrm>
            <a:off x="2926080" y="3794760"/>
            <a:ext cx="5669280" cy="457200"/>
          </a:xfrm>
          <a:prstGeom prst="roundRect">
            <a:avLst>
              <a:gd name="adj" fmla="val 24000"/>
            </a:avLst>
          </a:prstGeom>
          <a:solidFill>
            <a:schemeClr val="accent1"/>
          </a:solidFill>
          <a:ln w="12700">
            <a:solidFill>
              <a:schemeClr val="accent1"/>
            </a:solidFill>
            <a:prstDash val="solid"/>
          </a:ln>
        </p:spPr>
      </p:sp>
      <p:sp>
        <p:nvSpPr>
          <p:cNvPr id="27" name="Text 24"/>
          <p:cNvSpPr txBox="1"/>
          <p:nvPr/>
        </p:nvSpPr>
        <p:spPr>
          <a:xfrm>
            <a:off x="3108960" y="3794760"/>
            <a:ext cx="5394960" cy="457200"/>
          </a:xfrm>
          <a:prstGeom prst="rect">
            <a:avLst/>
          </a:prstGeom>
          <a:noFill/>
          <a:ln/>
        </p:spPr>
        <p:txBody>
          <a:bodyPr wrap="square" lIns="0" tIns="0" rIns="0" bIns="0" rtlCol="0" anchor="ctr"/>
          <a:lstStyle/>
          <a:p>
            <a:pPr marL="0" indent="0">
              <a:buNone/>
            </a:pPr>
            <a:r>
              <a:rPr lang="en-US" sz="1400" b="1" dirty="0">
                <a:solidFill>
                  <a:schemeClr val="tx1"/>
                </a:solidFill>
              </a:rPr>
              <a:t>F   Missing: write the definition yourself</a:t>
            </a:r>
            <a:endParaRPr lang="en-US" sz="1400" dirty="0"/>
          </a:p>
        </p:txBody>
      </p:sp>
      <p:sp>
        <p:nvSpPr>
          <p:cNvPr id="28" name="Text 25"/>
          <p:cNvSpPr txBox="1"/>
          <p:nvPr/>
        </p:nvSpPr>
        <p:spPr>
          <a:xfrm>
            <a:off x="548640" y="4389120"/>
            <a:ext cx="8046720" cy="274320"/>
          </a:xfrm>
          <a:prstGeom prst="rect">
            <a:avLst/>
          </a:prstGeom>
          <a:noFill/>
          <a:ln/>
        </p:spPr>
        <p:txBody>
          <a:bodyPr wrap="square" lIns="0" tIns="0" rIns="0" bIns="0" rtlCol="0" anchor="t"/>
          <a:lstStyle/>
          <a:p>
            <a:pPr marL="0" indent="0">
              <a:buNone/>
            </a:pPr>
            <a:r>
              <a:rPr lang="en-US" sz="1200" i="1" dirty="0">
                <a:solidFill>
                  <a:srgbClr val="4A4668"/>
                </a:solidFill>
              </a:rPr>
              <a:t>Match each word to its definition. Then write your own sentence using one of the words.</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match the words</a:t>
            </a:r>
            <a:endParaRPr lang="en-US" sz="3000" dirty="0"/>
          </a:p>
        </p:txBody>
      </p:sp>
      <p:sp>
        <p:nvSpPr>
          <p:cNvPr id="4" name="word"/>
          <p:cNvSpPr/>
          <p:nvPr/>
        </p:nvSpPr>
        <p:spPr>
          <a:xfrm>
            <a:off x="548640" y="1097280"/>
            <a:ext cx="2011680" cy="457200"/>
          </a:xfrm>
          <a:prstGeom prst="roundRect">
            <a:avLst>
              <a:gd name="adj" fmla="val 50000"/>
            </a:avLst>
          </a:prstGeom>
          <a:solidFill>
            <a:schemeClr val="accent4"/>
          </a:solidFill>
          <a:ln w="12700">
            <a:solidFill>
              <a:schemeClr val="bg1"/>
            </a:solidFill>
            <a:prstDash val="solid"/>
          </a:ln>
        </p:spPr>
      </p:sp>
      <p:sp>
        <p:nvSpPr>
          <p:cNvPr id="5" name="Text 2"/>
          <p:cNvSpPr txBox="1"/>
          <p:nvPr/>
        </p:nvSpPr>
        <p:spPr>
          <a:xfrm>
            <a:off x="548640" y="1097280"/>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parched</a:t>
            </a:r>
            <a:endParaRPr lang="en-US" sz="1600" dirty="0"/>
          </a:p>
        </p:txBody>
      </p:sp>
      <p:sp>
        <p:nvSpPr>
          <p:cNvPr id="6" name="card"/>
          <p:cNvSpPr/>
          <p:nvPr/>
        </p:nvSpPr>
        <p:spPr>
          <a:xfrm>
            <a:off x="2926080" y="1097280"/>
            <a:ext cx="5669280" cy="457200"/>
          </a:xfrm>
          <a:prstGeom prst="roundRect">
            <a:avLst>
              <a:gd name="adj" fmla="val 24000"/>
            </a:avLst>
          </a:prstGeom>
          <a:solidFill>
            <a:schemeClr val="bg2"/>
          </a:solidFill>
          <a:ln w="12700">
            <a:solidFill>
              <a:schemeClr val="bg2"/>
            </a:solidFill>
            <a:prstDash val="solid"/>
          </a:ln>
        </p:spPr>
      </p:sp>
      <p:sp>
        <p:nvSpPr>
          <p:cNvPr id="7" name="Text 4"/>
          <p:cNvSpPr txBox="1"/>
          <p:nvPr/>
        </p:nvSpPr>
        <p:spPr>
          <a:xfrm>
            <a:off x="3108960" y="1097280"/>
            <a:ext cx="5394960" cy="457200"/>
          </a:xfrm>
          <a:prstGeom prst="rect">
            <a:avLst/>
          </a:prstGeom>
          <a:noFill/>
          <a:ln/>
        </p:spPr>
        <p:txBody>
          <a:bodyPr wrap="square" lIns="0" tIns="0" rIns="0" bIns="0" rtlCol="0" anchor="ctr"/>
          <a:lstStyle/>
          <a:p>
            <a:pPr marL="0" indent="0">
              <a:buNone/>
            </a:pPr>
            <a:r>
              <a:rPr lang="en-US" sz="1400" dirty="0">
                <a:solidFill>
                  <a:schemeClr val="tx1"/>
                </a:solidFill>
              </a:rPr>
              <a:t>D  Extremely dry and thirsty</a:t>
            </a:r>
            <a:endParaRPr lang="en-US" sz="1400" dirty="0"/>
          </a:p>
        </p:txBody>
      </p:sp>
      <p:sp>
        <p:nvSpPr>
          <p:cNvPr id="8" name="word"/>
          <p:cNvSpPr/>
          <p:nvPr/>
        </p:nvSpPr>
        <p:spPr>
          <a:xfrm>
            <a:off x="548640" y="1664208"/>
            <a:ext cx="2011680" cy="457200"/>
          </a:xfrm>
          <a:prstGeom prst="roundRect">
            <a:avLst>
              <a:gd name="adj" fmla="val 50000"/>
            </a:avLst>
          </a:prstGeom>
          <a:solidFill>
            <a:schemeClr val="accent2"/>
          </a:solidFill>
          <a:ln w="12700">
            <a:solidFill>
              <a:schemeClr val="bg1"/>
            </a:solidFill>
            <a:prstDash val="solid"/>
          </a:ln>
        </p:spPr>
      </p:sp>
      <p:sp>
        <p:nvSpPr>
          <p:cNvPr id="9" name="Text 6"/>
          <p:cNvSpPr txBox="1"/>
          <p:nvPr/>
        </p:nvSpPr>
        <p:spPr>
          <a:xfrm>
            <a:off x="548640" y="1664208"/>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trek</a:t>
            </a:r>
            <a:endParaRPr lang="en-US" sz="1600" dirty="0"/>
          </a:p>
        </p:txBody>
      </p:sp>
      <p:sp>
        <p:nvSpPr>
          <p:cNvPr id="10" name="card"/>
          <p:cNvSpPr/>
          <p:nvPr/>
        </p:nvSpPr>
        <p:spPr>
          <a:xfrm>
            <a:off x="2926080" y="1664208"/>
            <a:ext cx="5669280" cy="457200"/>
          </a:xfrm>
          <a:prstGeom prst="roundRect">
            <a:avLst>
              <a:gd name="adj" fmla="val 24000"/>
            </a:avLst>
          </a:prstGeom>
          <a:solidFill>
            <a:schemeClr val="bg2"/>
          </a:solidFill>
          <a:ln w="12700">
            <a:solidFill>
              <a:schemeClr val="bg2"/>
            </a:solidFill>
            <a:prstDash val="solid"/>
          </a:ln>
        </p:spPr>
      </p:sp>
      <p:sp>
        <p:nvSpPr>
          <p:cNvPr id="11" name="Text 8"/>
          <p:cNvSpPr txBox="1"/>
          <p:nvPr/>
        </p:nvSpPr>
        <p:spPr>
          <a:xfrm>
            <a:off x="3108960" y="1664208"/>
            <a:ext cx="5394960" cy="457200"/>
          </a:xfrm>
          <a:prstGeom prst="rect">
            <a:avLst/>
          </a:prstGeom>
          <a:noFill/>
          <a:ln/>
        </p:spPr>
        <p:txBody>
          <a:bodyPr wrap="square" lIns="0" tIns="0" rIns="0" bIns="0" rtlCol="0" anchor="ctr"/>
          <a:lstStyle/>
          <a:p>
            <a:pPr marL="0" indent="0">
              <a:buNone/>
            </a:pPr>
            <a:r>
              <a:rPr lang="en-US" sz="1400" dirty="0">
                <a:solidFill>
                  <a:schemeClr val="tx1"/>
                </a:solidFill>
              </a:rPr>
              <a:t>C  A long, tiring journey on foot</a:t>
            </a:r>
            <a:endParaRPr lang="en-US" sz="1400" dirty="0"/>
          </a:p>
        </p:txBody>
      </p:sp>
      <p:sp>
        <p:nvSpPr>
          <p:cNvPr id="12" name="word"/>
          <p:cNvSpPr/>
          <p:nvPr/>
        </p:nvSpPr>
        <p:spPr>
          <a:xfrm>
            <a:off x="548640" y="2231136"/>
            <a:ext cx="2011680" cy="457200"/>
          </a:xfrm>
          <a:prstGeom prst="roundRect">
            <a:avLst>
              <a:gd name="adj" fmla="val 50000"/>
            </a:avLst>
          </a:prstGeom>
          <a:solidFill>
            <a:schemeClr val="accent3"/>
          </a:solidFill>
          <a:ln w="12700">
            <a:solidFill>
              <a:schemeClr val="bg1"/>
            </a:solidFill>
            <a:prstDash val="solid"/>
          </a:ln>
        </p:spPr>
      </p:sp>
      <p:sp>
        <p:nvSpPr>
          <p:cNvPr id="13" name="Text 10"/>
          <p:cNvSpPr txBox="1"/>
          <p:nvPr/>
        </p:nvSpPr>
        <p:spPr>
          <a:xfrm>
            <a:off x="548640" y="2231136"/>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seep</a:t>
            </a:r>
            <a:endParaRPr lang="en-US" sz="1600" dirty="0"/>
          </a:p>
        </p:txBody>
      </p:sp>
      <p:sp>
        <p:nvSpPr>
          <p:cNvPr id="14" name="card"/>
          <p:cNvSpPr/>
          <p:nvPr/>
        </p:nvSpPr>
        <p:spPr>
          <a:xfrm>
            <a:off x="2926080" y="2231136"/>
            <a:ext cx="5669280" cy="457200"/>
          </a:xfrm>
          <a:prstGeom prst="roundRect">
            <a:avLst>
              <a:gd name="adj" fmla="val 24000"/>
            </a:avLst>
          </a:prstGeom>
          <a:solidFill>
            <a:schemeClr val="bg2"/>
          </a:solidFill>
          <a:ln w="12700">
            <a:solidFill>
              <a:schemeClr val="bg2"/>
            </a:solidFill>
            <a:prstDash val="solid"/>
          </a:ln>
        </p:spPr>
      </p:sp>
      <p:sp>
        <p:nvSpPr>
          <p:cNvPr id="15" name="Text 12"/>
          <p:cNvSpPr txBox="1"/>
          <p:nvPr/>
        </p:nvSpPr>
        <p:spPr>
          <a:xfrm>
            <a:off x="3108960" y="2231136"/>
            <a:ext cx="5394960" cy="457200"/>
          </a:xfrm>
          <a:prstGeom prst="rect">
            <a:avLst/>
          </a:prstGeom>
          <a:noFill/>
          <a:ln/>
        </p:spPr>
        <p:txBody>
          <a:bodyPr wrap="square" lIns="0" tIns="0" rIns="0" bIns="0" rtlCol="0" anchor="ctr"/>
          <a:lstStyle/>
          <a:p>
            <a:pPr marL="0" indent="0">
              <a:buNone/>
            </a:pPr>
            <a:r>
              <a:rPr lang="en-US" sz="1400" dirty="0">
                <a:solidFill>
                  <a:schemeClr val="tx1"/>
                </a:solidFill>
              </a:rPr>
              <a:t>E  A place where water slowly trickles out of the ground</a:t>
            </a:r>
            <a:endParaRPr lang="en-US" sz="1400" dirty="0"/>
          </a:p>
        </p:txBody>
      </p:sp>
      <p:sp>
        <p:nvSpPr>
          <p:cNvPr id="16" name="word"/>
          <p:cNvSpPr/>
          <p:nvPr/>
        </p:nvSpPr>
        <p:spPr>
          <a:xfrm>
            <a:off x="548640" y="2798064"/>
            <a:ext cx="2011680" cy="457200"/>
          </a:xfrm>
          <a:prstGeom prst="roundRect">
            <a:avLst>
              <a:gd name="adj" fmla="val 50000"/>
            </a:avLst>
          </a:prstGeom>
          <a:solidFill>
            <a:schemeClr val="accent4"/>
          </a:solidFill>
          <a:ln w="12700">
            <a:solidFill>
              <a:schemeClr val="bg1"/>
            </a:solidFill>
            <a:prstDash val="solid"/>
          </a:ln>
        </p:spPr>
      </p:sp>
      <p:sp>
        <p:nvSpPr>
          <p:cNvPr id="17" name="Text 14"/>
          <p:cNvSpPr txBox="1"/>
          <p:nvPr/>
        </p:nvSpPr>
        <p:spPr>
          <a:xfrm>
            <a:off x="548640" y="2798064"/>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wary</a:t>
            </a:r>
            <a:endParaRPr lang="en-US" sz="1600" dirty="0"/>
          </a:p>
        </p:txBody>
      </p:sp>
      <p:sp>
        <p:nvSpPr>
          <p:cNvPr id="18" name="card"/>
          <p:cNvSpPr/>
          <p:nvPr/>
        </p:nvSpPr>
        <p:spPr>
          <a:xfrm>
            <a:off x="2926080" y="2798064"/>
            <a:ext cx="5669280" cy="457200"/>
          </a:xfrm>
          <a:prstGeom prst="roundRect">
            <a:avLst>
              <a:gd name="adj" fmla="val 24000"/>
            </a:avLst>
          </a:prstGeom>
          <a:solidFill>
            <a:schemeClr val="bg2"/>
          </a:solidFill>
          <a:ln w="12700">
            <a:solidFill>
              <a:schemeClr val="bg2"/>
            </a:solidFill>
            <a:prstDash val="solid"/>
          </a:ln>
        </p:spPr>
      </p:sp>
      <p:sp>
        <p:nvSpPr>
          <p:cNvPr id="19" name="Text 16"/>
          <p:cNvSpPr txBox="1"/>
          <p:nvPr/>
        </p:nvSpPr>
        <p:spPr>
          <a:xfrm>
            <a:off x="3108960" y="2798064"/>
            <a:ext cx="5394960" cy="457200"/>
          </a:xfrm>
          <a:prstGeom prst="rect">
            <a:avLst/>
          </a:prstGeom>
          <a:noFill/>
          <a:ln/>
        </p:spPr>
        <p:txBody>
          <a:bodyPr wrap="square" lIns="0" tIns="0" rIns="0" bIns="0" rtlCol="0" anchor="ctr"/>
          <a:lstStyle/>
          <a:p>
            <a:pPr marL="0" indent="0">
              <a:buNone/>
            </a:pPr>
            <a:r>
              <a:rPr lang="en-US" sz="1400" dirty="0">
                <a:solidFill>
                  <a:schemeClr val="tx1"/>
                </a:solidFill>
              </a:rPr>
              <a:t>A  Careful and watching for danger</a:t>
            </a:r>
            <a:endParaRPr lang="en-US" sz="1400" dirty="0"/>
          </a:p>
        </p:txBody>
      </p:sp>
      <p:sp>
        <p:nvSpPr>
          <p:cNvPr id="20" name="word"/>
          <p:cNvSpPr/>
          <p:nvPr/>
        </p:nvSpPr>
        <p:spPr>
          <a:xfrm>
            <a:off x="548640" y="3364992"/>
            <a:ext cx="2011680" cy="457200"/>
          </a:xfrm>
          <a:prstGeom prst="roundRect">
            <a:avLst>
              <a:gd name="adj" fmla="val 50000"/>
            </a:avLst>
          </a:prstGeom>
          <a:solidFill>
            <a:schemeClr val="accent2"/>
          </a:solidFill>
          <a:ln w="12700">
            <a:solidFill>
              <a:schemeClr val="bg1"/>
            </a:solidFill>
            <a:prstDash val="solid"/>
          </a:ln>
        </p:spPr>
      </p:sp>
      <p:sp>
        <p:nvSpPr>
          <p:cNvPr id="21" name="Text 18"/>
          <p:cNvSpPr txBox="1"/>
          <p:nvPr/>
        </p:nvSpPr>
        <p:spPr>
          <a:xfrm>
            <a:off x="548640" y="3364992"/>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shimmered</a:t>
            </a:r>
            <a:endParaRPr lang="en-US" sz="1600" dirty="0"/>
          </a:p>
        </p:txBody>
      </p:sp>
      <p:sp>
        <p:nvSpPr>
          <p:cNvPr id="22" name="card"/>
          <p:cNvSpPr/>
          <p:nvPr/>
        </p:nvSpPr>
        <p:spPr>
          <a:xfrm>
            <a:off x="2926080" y="3364992"/>
            <a:ext cx="5669280" cy="457200"/>
          </a:xfrm>
          <a:prstGeom prst="roundRect">
            <a:avLst>
              <a:gd name="adj" fmla="val 24000"/>
            </a:avLst>
          </a:prstGeom>
          <a:solidFill>
            <a:schemeClr val="bg2"/>
          </a:solidFill>
          <a:ln w="12700">
            <a:solidFill>
              <a:schemeClr val="bg2"/>
            </a:solidFill>
            <a:prstDash val="solid"/>
          </a:ln>
        </p:spPr>
      </p:sp>
      <p:sp>
        <p:nvSpPr>
          <p:cNvPr id="23" name="Text 20"/>
          <p:cNvSpPr txBox="1"/>
          <p:nvPr/>
        </p:nvSpPr>
        <p:spPr>
          <a:xfrm>
            <a:off x="3108960" y="3364992"/>
            <a:ext cx="5394960" cy="457200"/>
          </a:xfrm>
          <a:prstGeom prst="rect">
            <a:avLst/>
          </a:prstGeom>
          <a:noFill/>
          <a:ln/>
        </p:spPr>
        <p:txBody>
          <a:bodyPr wrap="square" lIns="0" tIns="0" rIns="0" bIns="0" rtlCol="0" anchor="ctr"/>
          <a:lstStyle/>
          <a:p>
            <a:pPr marL="0" indent="0">
              <a:buNone/>
            </a:pPr>
            <a:r>
              <a:rPr lang="en-US" sz="1400" dirty="0">
                <a:solidFill>
                  <a:schemeClr val="tx1"/>
                </a:solidFill>
              </a:rPr>
              <a:t>B  Shone with a soft, wavering light</a:t>
            </a:r>
            <a:endParaRPr lang="en-US" sz="1400" dirty="0"/>
          </a:p>
        </p:txBody>
      </p:sp>
      <p:sp>
        <p:nvSpPr>
          <p:cNvPr id="24" name="word"/>
          <p:cNvSpPr/>
          <p:nvPr/>
        </p:nvSpPr>
        <p:spPr>
          <a:xfrm>
            <a:off x="548640" y="3931920"/>
            <a:ext cx="2011680" cy="457200"/>
          </a:xfrm>
          <a:prstGeom prst="roundRect">
            <a:avLst>
              <a:gd name="adj" fmla="val 50000"/>
            </a:avLst>
          </a:prstGeom>
          <a:solidFill>
            <a:schemeClr val="accent3"/>
          </a:solidFill>
          <a:ln w="12700">
            <a:solidFill>
              <a:schemeClr val="bg1"/>
            </a:solidFill>
            <a:prstDash val="solid"/>
          </a:ln>
        </p:spPr>
      </p:sp>
      <p:sp>
        <p:nvSpPr>
          <p:cNvPr id="25" name="Text 22"/>
          <p:cNvSpPr txBox="1"/>
          <p:nvPr/>
        </p:nvSpPr>
        <p:spPr>
          <a:xfrm>
            <a:off x="548640" y="3931920"/>
            <a:ext cx="2011680" cy="457200"/>
          </a:xfrm>
          <a:prstGeom prst="rect">
            <a:avLst/>
          </a:prstGeom>
          <a:noFill/>
          <a:ln/>
        </p:spPr>
        <p:txBody>
          <a:bodyPr wrap="square" lIns="0" tIns="0" rIns="0" bIns="0" rtlCol="0" anchor="ctr"/>
          <a:lstStyle/>
          <a:p>
            <a:pPr marL="0" indent="0" algn="ctr">
              <a:buNone/>
            </a:pPr>
            <a:r>
              <a:rPr lang="en-US" sz="1600" b="1" dirty="0">
                <a:solidFill>
                  <a:schemeClr val="bg1"/>
                </a:solidFill>
              </a:rPr>
              <a:t>deserted</a:t>
            </a:r>
            <a:endParaRPr lang="en-US" sz="1600" dirty="0"/>
          </a:p>
        </p:txBody>
      </p:sp>
      <p:sp>
        <p:nvSpPr>
          <p:cNvPr id="26" name="card"/>
          <p:cNvSpPr/>
          <p:nvPr/>
        </p:nvSpPr>
        <p:spPr>
          <a:xfrm>
            <a:off x="2926080" y="3931920"/>
            <a:ext cx="5669280" cy="457200"/>
          </a:xfrm>
          <a:prstGeom prst="roundRect">
            <a:avLst>
              <a:gd name="adj" fmla="val 24000"/>
            </a:avLst>
          </a:prstGeom>
          <a:solidFill>
            <a:schemeClr val="accent1"/>
          </a:solidFill>
          <a:ln w="12700">
            <a:solidFill>
              <a:schemeClr val="accent1"/>
            </a:solidFill>
            <a:prstDash val="solid"/>
          </a:ln>
        </p:spPr>
      </p:sp>
      <p:sp>
        <p:nvSpPr>
          <p:cNvPr id="27" name="Text 24"/>
          <p:cNvSpPr txBox="1"/>
          <p:nvPr/>
        </p:nvSpPr>
        <p:spPr>
          <a:xfrm>
            <a:off x="3108960" y="3931920"/>
            <a:ext cx="5394960" cy="457200"/>
          </a:xfrm>
          <a:prstGeom prst="rect">
            <a:avLst/>
          </a:prstGeom>
          <a:noFill/>
          <a:ln/>
        </p:spPr>
        <p:txBody>
          <a:bodyPr wrap="square" lIns="0" tIns="0" rIns="0" bIns="0" rtlCol="0" anchor="ctr"/>
          <a:lstStyle/>
          <a:p>
            <a:pPr marL="0" indent="0">
              <a:buNone/>
            </a:pPr>
            <a:r>
              <a:rPr lang="en-US" sz="1400" b="1" dirty="0">
                <a:solidFill>
                  <a:schemeClr val="tx1"/>
                </a:solidFill>
              </a:rPr>
              <a:t>Missing definition: empty, with no people in it</a:t>
            </a:r>
            <a:endParaRPr lang="en-US" sz="14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book"/>
          <p:cNvPicPr>
            <a:picLocks noChangeAspect="1"/>
          </p:cNvPicPr>
          <p:nvPr/>
        </p:nvPicPr>
        <p:blipFill>
          <a:blip r:embed="rId3"/>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One new word I learnt, and what it means in my own words</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sitemap"/>
          <p:cNvPicPr>
            <a:picLocks noChangeAspect="1"/>
          </p:cNvPicPr>
          <p:nvPr/>
        </p:nvPicPr>
        <p:blipFill>
          <a:blip r:embed="rId4"/>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One key point from the story so far, with the words from the text that show it</a:t>
            </a:r>
            <a:endParaRPr lang="en-US" sz="1600" dirty="0"/>
          </a:p>
        </p:txBody>
      </p:sp>
      <p:pic>
        <p:nvPicPr>
          <p:cNvPr id="14" name="icon" descr="star"/>
          <p:cNvPicPr>
            <a:picLocks noChangeAspect="1"/>
          </p:cNvPicPr>
          <p:nvPr/>
        </p:nvPicPr>
        <p:blipFill>
          <a:blip r:embed="rId5"/>
          <a:stretch>
            <a:fillRect/>
          </a:stretch>
        </p:blipFill>
        <p:spPr>
          <a:xfrm>
            <a:off x="897941" y="3778301"/>
            <a:ext cx="307238" cy="307238"/>
          </a:xfrm>
          <a:prstGeom prst="rect">
            <a:avLst/>
          </a:prstGeom>
        </p:spPr>
      </p:pic>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500" b="1" dirty="0">
                <a:solidFill>
                  <a:schemeClr val="tx1"/>
                </a:solidFill>
              </a:rPr>
              <a:t>A new word:</a:t>
            </a:r>
            <a:r>
              <a:rPr lang="en-US" sz="1500" dirty="0">
                <a:solidFill>
                  <a:schemeClr val="tx1"/>
                </a:solidFill>
              </a:rPr>
              <a:t> 'Wary means careful, because you think something bad might happen. Kesh was wary of good news.'</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500" b="1" dirty="0">
                <a:solidFill>
                  <a:schemeClr val="tx1"/>
                </a:solidFill>
              </a:rPr>
              <a:t>A key point:</a:t>
            </a:r>
            <a:r>
              <a:rPr lang="en-US" sz="1500" dirty="0">
                <a:solidFill>
                  <a:schemeClr val="tx1"/>
                </a:solidFill>
              </a:rPr>
              <a:t> 'The stick finds water. It says the stick twitched like a living thing.'</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Text 1"/>
          <p:cNvSpPr txBox="1"/>
          <p:nvPr/>
        </p:nvSpPr>
        <p:spPr>
          <a:xfrm>
            <a:off x="548640" y="1097280"/>
            <a:ext cx="8046720" cy="548640"/>
          </a:xfrm>
          <a:prstGeom prst="rect">
            <a:avLst/>
          </a:prstGeom>
          <a:noFill/>
          <a:ln/>
        </p:spPr>
        <p:txBody>
          <a:bodyPr wrap="square" lIns="0" tIns="0" rIns="0" bIns="0" rtlCol="0" anchor="t"/>
          <a:lstStyle/>
          <a:p>
            <a:pPr marL="0" indent="0">
              <a:buNone/>
            </a:pPr>
            <a:r>
              <a:rPr lang="en-US" sz="1600" dirty="0">
                <a:solidFill>
                  <a:schemeClr val="tx1"/>
                </a:solidFill>
              </a:rPr>
              <a:t>Reread parts 1 to 3 of the story. Choose three words you find tricky and complete the table.</a:t>
            </a:r>
            <a:endParaRPr lang="en-US" sz="1600" dirty="0"/>
          </a:p>
        </p:txBody>
      </p:sp>
      <p:graphicFrame>
        <p:nvGraphicFramePr>
          <p:cNvPr id="37" name="homework table"/>
          <p:cNvGraphicFramePr>
            <a:graphicFrameLocks noGrp="1"/>
          </p:cNvGraphicFramePr>
          <p:nvPr>
            <p:extLst>
              <p:ext uri="{D42A27DB-BD31-4B8C-83A1-F6EECF244321}">
                <p14:modId xmlns:p14="http://schemas.microsoft.com/office/powerpoint/2010/main" val="1579011935"/>
              </p:ext>
            </p:extLst>
          </p:nvPr>
        </p:nvGraphicFramePr>
        <p:xfrm>
          <a:off x="548640" y="1737360"/>
          <a:ext cx="8046720" cy="2218944"/>
        </p:xfrm>
        <a:graphic>
          <a:graphicData uri="http://schemas.openxmlformats.org/drawingml/2006/table">
            <a:tbl>
              <a:tblPr/>
              <a:tblGrid>
                <a:gridCol w="1463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57200">
                <a:tc>
                  <a:txBody>
                    <a:bodyPr/>
                    <a:lstStyle/>
                    <a:p>
                      <a:pPr marL="0" indent="0" algn="ctr">
                        <a:buNone/>
                      </a:pPr>
                      <a:r>
                        <a:rPr lang="en-US" sz="1400" b="1" dirty="0">
                          <a:solidFill>
                            <a:srgbClr val="FFFFFF"/>
                          </a:solidFill>
                        </a:rPr>
                        <a:t>Word</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Clues in the text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What it means (my own words)</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My own sentence</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566928">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566928">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566928">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400" dirty="0"/>
                    </a:p>
                  </a:txBody>
                  <a:tcP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bl>
          </a:graphicData>
        </a:graphic>
      </p:graphicFrame>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3"/>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Then answer in a sentence: Who is Kesh, and how do you know he is wary?</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Great detective work</a:t>
            </a: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lIns="0" tIns="0" rIns="0" bIns="0" rtlCol="0" anchor="t"/>
          <a:lstStyle/>
          <a:p>
            <a:pPr marL="0" indent="0">
              <a:buNone/>
            </a:pPr>
            <a:r>
              <a:rPr lang="en-US" sz="1800" dirty="0">
                <a:solidFill>
                  <a:schemeClr val="accent1"/>
                </a:solidFill>
              </a:rPr>
              <a:t>Next lesson: inside a character's head</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3507</Words>
  <Application>Microsoft Office PowerPoint</Application>
  <PresentationFormat>On-screen Show (16:9)</PresentationFormat>
  <Paragraphs>380</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Fantasy Explorers</vt:lpstr>
      <vt:lpstr>Word Detectives</vt:lpstr>
      <vt:lpstr>Today we will</vt:lpstr>
      <vt:lpstr>Cover detectives</vt:lpstr>
      <vt:lpstr>Six words every reader needs</vt:lpstr>
      <vt:lpstr>What makes a story fantasy?</vt:lpstr>
      <vt:lpstr>Theme: the big idea</vt:lpstr>
      <vt:lpstr>Time to read</vt:lpstr>
      <vt:lpstr>Word Detective method</vt:lpstr>
      <vt:lpstr>Think-aloud: parched</vt:lpstr>
      <vt:lpstr>The City That Waited: part 1</vt:lpstr>
      <vt:lpstr>Stop and think</vt:lpstr>
      <vt:lpstr>Answers: stop and think</vt:lpstr>
      <vt:lpstr>The City That Waited: part 2</vt:lpstr>
      <vt:lpstr>Word hunt</vt:lpstr>
      <vt:lpstr>The City That Waited: part 3</vt:lpstr>
      <vt:lpstr>Say it in your own words</vt:lpstr>
      <vt:lpstr>Word focus: dustwyrm</vt:lpstr>
      <vt:lpstr>Finding key points</vt:lpstr>
      <vt:lpstr>Make a mind map</vt:lpstr>
      <vt:lpstr>Your mission</vt:lpstr>
      <vt:lpstr>Mind map: the story so far</vt:lpstr>
      <vt:lpstr>Answers: mind map</vt:lpstr>
      <vt:lpstr>Stuck? Help yourself first</vt:lpstr>
      <vt:lpstr>Share what you know</vt:lpstr>
      <vt:lpstr>Plenary: who have we met?</vt:lpstr>
      <vt:lpstr>Plenary: teach your partner a word</vt:lpstr>
      <vt:lpstr>Model answers: teach a word</vt:lpstr>
      <vt:lpstr>Plenary: what we still want to know</vt:lpstr>
      <vt:lpstr>Sample questions</vt:lpstr>
      <vt:lpstr>Exam practice</vt:lpstr>
      <vt:lpstr>Workbook: match the words</vt:lpstr>
      <vt:lpstr>Answers: match the words</vt:lpstr>
      <vt:lpstr>Exit ticket</vt:lpstr>
      <vt:lpstr>Model answers: exit ticket</vt:lpstr>
      <vt:lpstr>Homework</vt:lpstr>
      <vt:lpstr>Great detective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Lesson 1 - Fantasy reading</dc:title>
  <dc:subject>PptxGenJS Presentation</dc:subject>
  <dc:creator>Year 6 English</dc:creator>
  <cp:lastModifiedBy>Rozan Zakaria@meis-eg.com</cp:lastModifiedBy>
  <cp:revision>5</cp:revision>
  <dcterms:created xsi:type="dcterms:W3CDTF">2026-10-17T17:16:10Z</dcterms:created>
  <dcterms:modified xsi:type="dcterms:W3CDTF">2026-10-18T08:40:41Z</dcterms:modified>
</cp:coreProperties>
</file>