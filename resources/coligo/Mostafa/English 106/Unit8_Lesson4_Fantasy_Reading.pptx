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4" r:id="rId38"/>
    <p:sldId id="296" r:id="rId39"/>
    <p:sldId id="298" r:id="rId40"/>
    <p:sldId id="299" r:id="rId41"/>
    <p:sldId id="300" r:id="rId42"/>
    <p:sldId id="301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7A7D116-90E5-3449-0643-E6F399D6A49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ad" id="{69427401-822D-61C4-9353-641AC1075FC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ake" id="{3DA6E3AD-7508-4B95-D7C3-722805446FEB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Share" id="{6C9AB07C-A9A8-8431-0D57-95043018E59F}">
          <p14:sldIdLst>
            <p14:sldId id="285"/>
            <p14:sldId id="286"/>
            <p14:sldId id="287"/>
            <p14:sldId id="288"/>
            <p14:sldId id="289"/>
            <p14:sldId id="290"/>
            <p14:sldId id="292"/>
            <p14:sldId id="294"/>
            <p14:sldId id="296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87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80-minute lesson. Timings: Recap 8 | Language techniques teaching 15 | Reading part 6 and questions 22 | Main activity 17 | Plenary 6 | Exam practice 8 | Exit ticket 4.
Part 6 of 'The City That Waited' is new today. Print it for pupils (see the story file). Pupils should have parts 1 to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aloud. Ask pupils to rate their confidence with a thumb now and again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minutes. Pairs answer for two minutes, then take answers. Answers are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 any sensible alternative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card. Pupils say another example for each. Stress the key test: simile uses 'like' or 'as'; metaphor says something IS something else; personification gives human actions to things that are not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say: simile, metaphor or personification, and why.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reason: 'like' or 'as', 'is', or a human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Writers also choose powerful verbs. Ask pupils to say what each powerful word makes them picture. Answers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three steps. Pupils will use this frame for every quotation in the main activity. Display it on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part 6 aloud with expression, then share the reading. Pause after each part. Check 'cobbles' (rounded stones in a road) and 'flickered' (shone unsteadily).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aloud. Ask pupils to listen for words that make a picture: sigh, howled, hush, seashell, whispered. Ask what is strange about smelling 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might be speaking? What is the effect of 'thin as paper'? Why 'forgot to breathe'?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answers from pairs. Push for the effect every time: what do we picture, how do we feel?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at a time after pupils have shared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minutes. Core and Extend: mixed-ability pairs. Support: work with this group and complete the first row together. Answers follow each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first row with the class using Name it, Picture it, Feel it. Pupils complete the other rows.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 sensible alternatives. Praise pupils who name the spell, the picture and the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sort the six quotations into two columns, then say which words helped.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quotations can go in either column if the pupil explains. The key idea: the city looks beautiful but feels eerie.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write in their books. Extend: a metaphor about the city.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answers are possible. Check the spell is the right type: 'as' or 'like' for similes; a human action for personification; no 'like' or 'as' for metaphors.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Pupils decide which sentence in each pair is stronger and say why, using the three steps.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may prefer either sentence if they give a reason, but B is the writer's choice. Push for the picture and the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Pupils show thumbs up or down, then explain.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to correct the false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write on a sticky note and hand it in. Use it to plan Lesson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strong answer names the spell, quotes exactly, and says what we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out a printed copy of part 6 (slides 11 and 12) so pupils can complete this at home. Collect it at the start of the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Thumbs check: pupils show their confidence again. Collect exit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B2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84"/>
                </a:solidFill>
              </a:rPr>
              <a:t>Year 6 English  |  Unit 8  |  Lesson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Words That Cast Spells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Unit 8 | Lesson 4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Fantasy reading: the effect of the writer's language choices</a:t>
            </a:r>
            <a:endParaRPr lang="en-US" sz="1800" dirty="0"/>
          </a:p>
        </p:txBody>
      </p:sp>
      <p:sp>
        <p:nvSpPr>
          <p:cNvPr id="4" name="motif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dragon" descr="drag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 we will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70078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Spot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I can find similes, metaphors and personification in a text.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com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70078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Explain the effect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I can say what picture and feeling the writer's words create.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0350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6858000" y="1463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" descr="wa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700784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179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Use it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2636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I can write my own simile and personification.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Recap: what do we remember?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an inference? What two things do we use to make one?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'Not a single footprint.' What did we infer about the city?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a dilemma?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must a good prediction include?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recap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 idea we work out from clues.</a:t>
            </a:r>
            <a:r>
              <a:rPr lang="en-US" sz="1500" dirty="0">
                <a:solidFill>
                  <a:schemeClr val="tx1"/>
                </a:solidFill>
              </a:rPr>
              <a:t> We use a clue from the text plus what we already know.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Nobody had walked there for a long time.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hard choice between two options.</a:t>
            </a:r>
            <a:r>
              <a:rPr lang="en-US" sz="1500" dirty="0">
                <a:solidFill>
                  <a:schemeClr val="tx1"/>
                </a:solidFill>
              </a:rPr>
              <a:t> Each option has a good side and a bad side.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reason from the text,</a:t>
            </a:r>
            <a:r>
              <a:rPr lang="en-US" sz="1500" dirty="0">
                <a:solidFill>
                  <a:schemeClr val="tx1"/>
                </a:solidFill>
              </a:rPr>
              <a:t> for example 'because the text says ...'.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language spells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bel"/>
          <p:cNvSpPr/>
          <p:nvPr/>
        </p:nvSpPr>
        <p:spPr>
          <a:xfrm>
            <a:off x="68580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Simile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Compares two things using 'like' or 'as'.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as cold as ice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291840" y="11430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bel"/>
          <p:cNvSpPr/>
          <p:nvPr/>
        </p:nvSpPr>
        <p:spPr>
          <a:xfrm>
            <a:off x="342900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Metaphor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Says one thing IS another, without 'like' or 'as'.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The classroom was a zoo.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035040" y="11430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abel"/>
          <p:cNvSpPr/>
          <p:nvPr/>
        </p:nvSpPr>
        <p:spPr>
          <a:xfrm>
            <a:off x="617220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Personification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Gives human actions to things that are not human.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The wind whispered.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Writers use these spells to make us picture something and feel something.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Name the spell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moon was a silver coin.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wind howled angrily at the window.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He was as brave as a lion.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old tree groaned in the storm.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name the spell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Metaphor.</a:t>
            </a:r>
            <a:r>
              <a:rPr lang="en-US" sz="1500" dirty="0">
                <a:solidFill>
                  <a:schemeClr val="tx1"/>
                </a:solidFill>
              </a:rPr>
              <a:t> The moon IS a coin. There is no 'like' or 'as'.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Personification.</a:t>
            </a:r>
            <a:r>
              <a:rPr lang="en-US" sz="1500" dirty="0">
                <a:solidFill>
                  <a:schemeClr val="tx1"/>
                </a:solidFill>
              </a:rPr>
              <a:t> The wind 'howled angrily', like a person or animal.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Simile.</a:t>
            </a:r>
            <a:r>
              <a:rPr lang="en-US" sz="1500" dirty="0">
                <a:solidFill>
                  <a:schemeClr val="tx1"/>
                </a:solidFill>
              </a:rPr>
              <a:t> 'As brave as a lion' compares using 'as'.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Personification.</a:t>
            </a:r>
            <a:r>
              <a:rPr lang="en-US" sz="1500" dirty="0">
                <a:solidFill>
                  <a:schemeClr val="tx1"/>
                </a:solidFill>
              </a:rPr>
              <a:t> A tree cannot groan like a person.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Powerful words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Plain word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Powerful word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makes us picture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said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whispered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quiet and secret, as if someone might hear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went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crept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slow and sneaky, as if hiding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shone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flickered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unsteady light that could go out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shouted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howled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wild and loud, like an animal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explain the effect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number"/>
          <p:cNvSpPr/>
          <p:nvPr/>
        </p:nvSpPr>
        <p:spPr>
          <a:xfrm>
            <a:off x="1463040" y="13716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630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Name 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Say which spell the writer uses.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writer uses personification.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18872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ep number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Picture it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Say what we imagine.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The gates seem alive and tired.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035040" y="118872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ep number"/>
          <p:cNvSpPr/>
          <p:nvPr/>
        </p:nvSpPr>
        <p:spPr>
          <a:xfrm>
            <a:off x="6949440" y="13716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Feel it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Say how it makes the city feel.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This makes the city feel strange.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Part 6: inside Aurelia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Read like a detective: which words cast a spell?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City That Waited: part 6 (a)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018324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Orrin chose before the sun touched the horizon. They went in together, tied by one long rope, and the gates closed behind them with a sigh. Outside, the wall of dust howled and beat against the stone, but it could not follow them in.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city was a hush. Its white walls glowed like the inside of a seashell, and the fountain whispered to itself. The air smelled of rain, though no rain had fallen on the plain for a hundred years.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City That Waited: part 6 (b)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3444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Pale light crept over the cobbles. Shadows stretched along the walls, long and thin as fingers. Then the silver bell rang again, and every lamp flickered at once.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voice, thin as paper, drifted down from the tower. "You are late," it said. "We have been waiting such a very long time."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Kesh's hand tightened on his stick. Tamsin forgot to breathe.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Stop and think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Find three things that are given human actions (personification).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Why does the writer say the air 'smelled of rain, though no rain had fallen for a hundred years'?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What does 'Tamsin forgot to breathe' show?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What atmosphere does the writer create inside the city? Which words show it?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stop and think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gates 'sigh', the dust 'howled', the fountain 'whispered'.</a:t>
            </a:r>
            <a:r>
              <a:rPr lang="en-US" sz="1300" dirty="0">
                <a:solidFill>
                  <a:schemeClr val="tx1"/>
                </a:solidFill>
              </a:rPr>
              <a:t> Also the light 'crept'.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 shows the city is not normal.</a:t>
            </a:r>
            <a:r>
              <a:rPr lang="en-US" sz="1300" dirty="0">
                <a:solidFill>
                  <a:schemeClr val="tx1"/>
                </a:solidFill>
              </a:rPr>
              <a:t> Rain should not smell there, so it feels magical and mysterious.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She is shocked and frightened.</a:t>
            </a:r>
            <a:r>
              <a:rPr lang="en-US" sz="1300" dirty="0">
                <a:solidFill>
                  <a:schemeClr val="tx1"/>
                </a:solidFill>
              </a:rPr>
              <a:t> She is so scared that she stops breathing.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Eerie and mysterious.</a:t>
            </a:r>
            <a:r>
              <a:rPr lang="en-US" sz="1300" dirty="0">
                <a:solidFill>
                  <a:schemeClr val="tx1"/>
                </a:solidFill>
              </a:rPr>
              <a:t> 'A hush', 'long and thin as fingers', 'a voice, thin as paper', 'every lamp flickered'.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1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'The gates closed behind them with a sigh.' Which language spell is this?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simile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metaphor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personification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alliteration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1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C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personification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Gates cannot sigh. 'Sigh' is a human action, so the writer gives the gates human qualities. There is no 'like' or 'as', so it is not a simile.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2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'Its white walls glowed like the inside of a seashell.' What is the effect?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makes the city seem smooth, pale and beautiful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makes the city seem dark and ugly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makes the city seem noisy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makes the city seem ruined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2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A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it makes the city seem smooth, pale and beautiful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seashell is smooth, pale and shiny inside. Comparing the walls to it makes us picture something lovely, which makes the danger harder to see.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3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word shows the light moved slowly and quietly, like a creature?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flickered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stretched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glowed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crept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3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D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crept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People and animals creep when they do not want to be seen. The word makes the light seem sneaky and alive.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4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'A voice, thin as paper.' What does this suggest about the voice?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loud and angry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weak and faint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deep and strong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cheerful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4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B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weak and faint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Paper is thin and light. This simile makes us imagine a quiet, wispy voice, which feels eerie.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mission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Time: 17 minutes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685800" y="119786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" descr="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40510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0972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 1. Work in pairs. Complete the language chart (next slide): spell and effect for each quotation.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196596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685800" y="206654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scro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2209190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19659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 2. Sort six quotations: do they make the city feel beautiful or eerie?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283464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85800" y="293522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wa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307787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28346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 3. Write your own simile and your own personification about the dust storm.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685800" y="3803904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con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" y="3946550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7033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Extend: write a metaphor about the 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1: language chart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Quotation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Spell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Effect: what we picture and feel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gates closed behind them with a sigh'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personification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gates seem alive and tired. This makes the city feel strange.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city was a hush.'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'long and thin as fingers'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fountain whispered to itself'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language chart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Quotation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Spell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Effect: what we picture and feel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gates closed behind them with a sigh'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personification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gates seem alive and tired. This makes the city feel strange.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city was a hush.'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metaphor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city is described as silence itself. This makes it feel completely still and eerie.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'long and thin as fingers'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simile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shadows look like thin fingers reaching out. This feels creepy and threatening.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fountain whispered to itself'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personification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fountain seems to share a secret. This makes the city feel mysterious.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2: beautiful or eerie?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80467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731520" y="128016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280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'Its white walls glowed like the inside of a seashell.'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54880" y="128016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280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'The city was a hush.'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31520" y="228600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'Shadows stretched, long and thin as fingers.'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754880" y="228600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'The fountain whispered to itself.'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731520" y="329184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'A voice, thin as paper.'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754880" y="329184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'The air smelled of rain.'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beautiful or eerie?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ing"/>
          <p:cNvSpPr/>
          <p:nvPr/>
        </p:nvSpPr>
        <p:spPr>
          <a:xfrm>
            <a:off x="731520" y="1280160"/>
            <a:ext cx="356616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Beautiful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'white walls glowed like the inside of a seashell'</a:t>
            </a:r>
            <a:r>
              <a:rPr lang="en-US" sz="1400" dirty="0">
                <a:solidFill>
                  <a:schemeClr val="tx1"/>
                </a:solidFill>
              </a:rPr>
              <a:t> (smooth, shining)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'The air smelled of rain'</a:t>
            </a:r>
            <a:r>
              <a:rPr lang="en-US" sz="1400" dirty="0">
                <a:solidFill>
                  <a:schemeClr val="tx1"/>
                </a:solidFill>
              </a:rPr>
              <a:t> (fresh, welcoming)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'the fountain whispered'</a:t>
            </a:r>
            <a:r>
              <a:rPr lang="en-US" sz="1400" dirty="0">
                <a:solidFill>
                  <a:schemeClr val="tx1"/>
                </a:solidFill>
              </a:rPr>
              <a:t> (soft, gentle)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66344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eading"/>
          <p:cNvSpPr/>
          <p:nvPr/>
        </p:nvSpPr>
        <p:spPr>
          <a:xfrm>
            <a:off x="4846320" y="1280160"/>
            <a:ext cx="356616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Eerie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'The city was a hush'</a:t>
            </a:r>
            <a:r>
              <a:rPr lang="en-US" sz="1400" dirty="0">
                <a:solidFill>
                  <a:schemeClr val="tx1"/>
                </a:solidFill>
              </a:rPr>
              <a:t> (too silent)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'long and thin as fingers'</a:t>
            </a:r>
            <a:r>
              <a:rPr lang="en-US" sz="1400" dirty="0">
                <a:solidFill>
                  <a:schemeClr val="tx1"/>
                </a:solidFill>
              </a:rPr>
              <a:t> (creepy)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'A voice, thin as paper'</a:t>
            </a:r>
            <a:r>
              <a:rPr lang="en-US" sz="1400" dirty="0">
                <a:solidFill>
                  <a:schemeClr val="tx1"/>
                </a:solidFill>
              </a:rPr>
              <a:t> (faint, ghostly)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3: cast your own spell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Write about the dust storm outside the gates.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2240280"/>
            <a:ext cx="8046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240280"/>
            <a:ext cx="7498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Simile:  The dust storm was as ______ as ______.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Personification:  The wind ______ (a human action).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Extend, metaphor:  The city was a ______.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cast your own spell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Simile:</a:t>
            </a:r>
            <a:r>
              <a:rPr lang="en-US" sz="1500" dirty="0">
                <a:solidFill>
                  <a:schemeClr val="tx1"/>
                </a:solidFill>
              </a:rPr>
              <a:t> The dust storm was as loud as a hundred charging horses.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86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Personification:</a:t>
            </a:r>
            <a:r>
              <a:rPr lang="en-US" sz="1500" dirty="0">
                <a:solidFill>
                  <a:schemeClr val="tx1"/>
                </a:solidFill>
              </a:rPr>
              <a:t> The wind screamed through the gates and clawed at the walls.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747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Extend, metaphor:</a:t>
            </a:r>
            <a:r>
              <a:rPr lang="en-US" sz="1500" dirty="0">
                <a:solidFill>
                  <a:schemeClr val="tx1"/>
                </a:solidFill>
              </a:rPr>
              <a:t> The city was a sleeping giant, waiting to wake.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Share what you know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Plenary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Plenary: which is stronger?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4663440" y="109728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097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  The city was quiet.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097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B  The city was a hush.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4663440" y="228600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  The light moved over the stones.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  Pale light crept over the cobbles.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6634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  The voice was weak.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  A voice, thin as paper, drifted down.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which is stronger?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 is stronger.</a:t>
            </a:r>
            <a:r>
              <a:rPr lang="en-US" sz="1500" dirty="0">
                <a:solidFill>
                  <a:schemeClr val="tx1"/>
                </a:solidFill>
              </a:rPr>
              <a:t> 'A hush' makes the quiet feel total and eerie. 'Quiet' just tells us.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86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 is stronger.</a:t>
            </a:r>
            <a:r>
              <a:rPr lang="en-US" sz="1500" dirty="0">
                <a:solidFill>
                  <a:schemeClr val="tx1"/>
                </a:solidFill>
              </a:rPr>
              <a:t> 'Crept' makes the light seem alive and sneaky. 'Cobbles' makes us picture the street.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747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 is stronger.</a:t>
            </a:r>
            <a:r>
              <a:rPr lang="en-US" sz="1500" dirty="0">
                <a:solidFill>
                  <a:schemeClr val="tx1"/>
                </a:solidFill>
              </a:rPr>
              <a:t> 'Thin as paper' lets us hear the weak, ghostly voice. 'Drifted' makes it float.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Plenary: true or false?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simile uses 'like' or 'as'.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metaphor uses 'like' or 'as'.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Personification gives human actions to things that are not human.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Powerful verbs such as 'crept' make writing weaker.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true or false?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True.</a:t>
            </a:r>
            <a:r>
              <a:rPr lang="en-US" sz="1500" dirty="0">
                <a:solidFill>
                  <a:schemeClr val="tx1"/>
                </a:solidFill>
              </a:rPr>
              <a:t> For example 'thin as paper'.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False.</a:t>
            </a:r>
            <a:r>
              <a:rPr lang="en-US" sz="1500" dirty="0">
                <a:solidFill>
                  <a:schemeClr val="tx1"/>
                </a:solidFill>
              </a:rPr>
              <a:t> A metaphor says something IS something else, for example 'The city was a hush'.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True.</a:t>
            </a:r>
            <a:r>
              <a:rPr lang="en-US" sz="1500" dirty="0">
                <a:solidFill>
                  <a:schemeClr val="tx1"/>
                </a:solidFill>
              </a:rPr>
              <a:t> For example 'the fountain whispered'.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False.</a:t>
            </a:r>
            <a:r>
              <a:rPr lang="en-US" sz="1500" dirty="0">
                <a:solidFill>
                  <a:schemeClr val="tx1"/>
                </a:solidFill>
              </a:rPr>
              <a:t> Powerful verbs make writing stronger because they show us exactly what is happening.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1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 and copy one simile from part 6.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4668"/>
                </a:solidFill>
              </a:rPr>
              <a:t>Write your answer in your book.</a:t>
            </a:r>
            <a:endParaRPr lang="en-US" sz="1300" dirty="0"/>
          </a:p>
        </p:txBody>
      </p:sp>
      <p:sp>
        <p:nvSpPr>
          <p:cNvPr id="11" name="answer line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2" name="answer line"/>
          <p:cNvSpPr/>
          <p:nvPr/>
        </p:nvSpPr>
        <p:spPr>
          <a:xfrm>
            <a:off x="822960" y="384048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3" name="answer line"/>
          <p:cNvSpPr/>
          <p:nvPr/>
        </p:nvSpPr>
        <p:spPr>
          <a:xfrm>
            <a:off x="822960" y="425196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2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'The city was a hush.' What does this suggest about the city?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noisy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crowded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very quiet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very hot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3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'The fountain whispered to itself.' Why has the writer used the word 'whispered'?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4668"/>
                </a:solidFill>
              </a:rPr>
              <a:t>Write your answer in your book.</a:t>
            </a:r>
            <a:endParaRPr lang="en-US" sz="1300" dirty="0"/>
          </a:p>
        </p:txBody>
      </p:sp>
      <p:sp>
        <p:nvSpPr>
          <p:cNvPr id="11" name="answer line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2" name="answer line"/>
          <p:cNvSpPr/>
          <p:nvPr/>
        </p:nvSpPr>
        <p:spPr>
          <a:xfrm>
            <a:off x="822960" y="384048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3" name="answer line"/>
          <p:cNvSpPr/>
          <p:nvPr/>
        </p:nvSpPr>
        <p:spPr>
          <a:xfrm>
            <a:off x="822960" y="425196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4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(2 marks)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does the writer make the city seem mysterious? Use evidence from the text.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4668"/>
                </a:solidFill>
              </a:rPr>
              <a:t>Write your answer in your book.</a:t>
            </a:r>
            <a:endParaRPr lang="en-US" sz="1300" dirty="0"/>
          </a:p>
        </p:txBody>
      </p:sp>
      <p:sp>
        <p:nvSpPr>
          <p:cNvPr id="11" name="answer line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2" name="answer line"/>
          <p:cNvSpPr/>
          <p:nvPr/>
        </p:nvSpPr>
        <p:spPr>
          <a:xfrm>
            <a:off x="822960" y="384048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3" name="answer line"/>
          <p:cNvSpPr/>
          <p:nvPr/>
        </p:nvSpPr>
        <p:spPr>
          <a:xfrm>
            <a:off x="822960" y="425196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penc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49230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143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Complete: The writer uses a ____ ('____'). It makes me picture ____.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w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263530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286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Write your own simile about the dust storm.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ha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77830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3429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How confident do I feel? 1 star = I need help, 2 stars = nearly there, 3 stars = I can teach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answers: exit ticket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writer uses a simile ('thin as paper'). It makes me picture a weak, faint voice.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86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Any correct simile,</a:t>
            </a:r>
            <a:r>
              <a:rPr lang="en-US" sz="1400" dirty="0">
                <a:solidFill>
                  <a:schemeClr val="tx1"/>
                </a:solidFill>
              </a:rPr>
              <a:t> for example 'The dust storm was as wild as a hungry wolf.'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747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Pupils with 1 star</a:t>
            </a:r>
            <a:r>
              <a:rPr lang="en-US" sz="1400" dirty="0">
                <a:solidFill>
                  <a:schemeClr val="tx1"/>
                </a:solidFill>
              </a:rPr>
              <a:t> need Name it, Picture it, Feel it again. </a:t>
            </a:r>
            <a:r>
              <a:rPr lang="en-US" sz="1400" b="1" dirty="0">
                <a:solidFill>
                  <a:schemeClr val="tx1"/>
                </a:solidFill>
              </a:rPr>
              <a:t>Pupils with 3 stars</a:t>
            </a:r>
            <a:r>
              <a:rPr lang="en-US" sz="1400" dirty="0">
                <a:solidFill>
                  <a:schemeClr val="tx1"/>
                </a:solidFill>
              </a:rPr>
              <a:t> can lead a pair in Lesson 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Homework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Find two language spells in part 6 that are not in your chart. Then write two sentences about the dust storm.</a:t>
            </a:r>
            <a:endParaRPr lang="en-US" sz="16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Quotation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Spell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one simile and one piece of personification about the dust storm. Underline each.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Spell master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Next lesson: grammar, linking ideas across paragraphs</a:t>
            </a:r>
            <a:endParaRPr lang="en-US" sz="1800" dirty="0"/>
          </a:p>
        </p:txBody>
      </p:sp>
      <p:sp>
        <p:nvSpPr>
          <p:cNvPr id="4" name="motif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city" descr="c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ntasy Explorers">
  <a:themeElements>
    <a:clrScheme name="Fantasy Explorers">
      <a:dk1>
        <a:srgbClr val="1F1B3A"/>
      </a:dk1>
      <a:lt1>
        <a:srgbClr val="FFFFFF"/>
      </a:lt1>
      <a:dk2>
        <a:srgbClr val="3B2F63"/>
      </a:dk2>
      <a:lt2>
        <a:srgbClr val="F1EEFA"/>
      </a:lt2>
      <a:accent1>
        <a:srgbClr val="F2A541"/>
      </a:accent1>
      <a:accent2>
        <a:srgbClr val="1E7F74"/>
      </a:accent2>
      <a:accent3>
        <a:srgbClr val="C8553A"/>
      </a:accent3>
      <a:accent4>
        <a:srgbClr val="6A55B8"/>
      </a:accent4>
      <a:accent5>
        <a:srgbClr val="5E8C4F"/>
      </a:accent5>
      <a:accent6>
        <a:srgbClr val="B5851A"/>
      </a:accent6>
      <a:hlink>
        <a:srgbClr val="6A55B8"/>
      </a:hlink>
      <a:folHlink>
        <a:srgbClr val="3B2F63"/>
      </a:folHlink>
    </a:clrScheme>
    <a:fontScheme name="Fantasy Explo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3224</Words>
  <Application>Microsoft Office PowerPoint</Application>
  <PresentationFormat>On-screen Show (16:9)</PresentationFormat>
  <Paragraphs>427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Fantasy Explorers</vt:lpstr>
      <vt:lpstr>Words That Cast Spells</vt:lpstr>
      <vt:lpstr>Today we will</vt:lpstr>
      <vt:lpstr>Recap: what do we remember?</vt:lpstr>
      <vt:lpstr>Answers: recap</vt:lpstr>
      <vt:lpstr>Three language spells</vt:lpstr>
      <vt:lpstr>Name the spell</vt:lpstr>
      <vt:lpstr>Answers: name the spell</vt:lpstr>
      <vt:lpstr>Powerful words</vt:lpstr>
      <vt:lpstr>How to explain the effect</vt:lpstr>
      <vt:lpstr>Part 6: inside Aurelia</vt:lpstr>
      <vt:lpstr>The City That Waited: part 6 (a)</vt:lpstr>
      <vt:lpstr>The City That Waited: part 6 (b)</vt:lpstr>
      <vt:lpstr>Stop and think</vt:lpstr>
      <vt:lpstr>Answers: stop and think</vt:lpstr>
      <vt:lpstr>Choose the best answer: question 1 of 4</vt:lpstr>
      <vt:lpstr>Answer: question 1 of 4</vt:lpstr>
      <vt:lpstr>Choose the best answer: question 2 of 4</vt:lpstr>
      <vt:lpstr>Answer: question 2 of 4</vt:lpstr>
      <vt:lpstr>Choose the best answer: question 3 of 4</vt:lpstr>
      <vt:lpstr>Answer: question 3 of 4</vt:lpstr>
      <vt:lpstr>Choose the best answer: question 4 of 4</vt:lpstr>
      <vt:lpstr>Answer: question 4 of 4</vt:lpstr>
      <vt:lpstr>Your mission</vt:lpstr>
      <vt:lpstr>Task 1: language chart</vt:lpstr>
      <vt:lpstr>Answers: language chart</vt:lpstr>
      <vt:lpstr>Task 2: beautiful or eerie?</vt:lpstr>
      <vt:lpstr>Answers: beautiful or eerie?</vt:lpstr>
      <vt:lpstr>Task 3: cast your own spell</vt:lpstr>
      <vt:lpstr>Answers: cast your own spell</vt:lpstr>
      <vt:lpstr>Share what you know</vt:lpstr>
      <vt:lpstr>Plenary: which is stronger?</vt:lpstr>
      <vt:lpstr>Answers: which is stronger?</vt:lpstr>
      <vt:lpstr>Plenary: true or false?</vt:lpstr>
      <vt:lpstr>Answers: true or false?</vt:lpstr>
      <vt:lpstr>Exam practice: question 1 of 4</vt:lpstr>
      <vt:lpstr>Exam practice: question 2 of 4</vt:lpstr>
      <vt:lpstr>Exam practice: question 3 of 4</vt:lpstr>
      <vt:lpstr>Exam practice: question 4 of 4</vt:lpstr>
      <vt:lpstr>Exit ticket</vt:lpstr>
      <vt:lpstr>Model answers: exit ticket</vt:lpstr>
      <vt:lpstr>Homework</vt:lpstr>
      <vt:lpstr>Spell master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Lesson 4 - Fantasy reading</dc:title>
  <dc:subject>PptxGenJS Presentation</dc:subject>
  <dc:creator>Year 6 English</dc:creator>
  <cp:lastModifiedBy>pc</cp:lastModifiedBy>
  <cp:revision>2</cp:revision>
  <dcterms:created xsi:type="dcterms:W3CDTF">2026-10-19T07:41:51Z</dcterms:created>
  <dcterms:modified xsi:type="dcterms:W3CDTF">2026-10-21T20:36:54Z</dcterms:modified>
</cp:coreProperties>
</file>