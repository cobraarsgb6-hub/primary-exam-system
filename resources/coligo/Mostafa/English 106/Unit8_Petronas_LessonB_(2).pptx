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9069D56F-07CB-931F-549A-A92DA9CA3BAE}">
          <p14:sldIdLst>
            <p14:sldId id="256"/>
            <p14:sldId id="257"/>
            <p14:sldId id="258"/>
            <p14:sldId id="259"/>
            <p14:sldId id="260"/>
            <p14:sldId id="261"/>
            <p14:sldId id="262"/>
            <p14:sldId id="263"/>
            <p14:sldId id="264"/>
          </p14:sldIdLst>
        </p14:section>
        <p14:section name="Teach" id="{00415604-C45A-FE71-404E-B1305A02090C}">
          <p14:sldIdLst>
            <p14:sldId id="265"/>
            <p14:sldId id="266"/>
            <p14:sldId id="267"/>
            <p14:sldId id="268"/>
            <p14:sldId id="269"/>
            <p14:sldId id="270"/>
          </p14:sldIdLst>
        </p14:section>
        <p14:section name="Read" id="{2E231D03-3649-4260-CB91-C43BDFAE84E1}">
          <p14:sldIdLst>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Lst>
        </p14:section>
        <p14:section name="Practise" id="{91E83858-A5CC-0B9B-AAD9-E3C8848E5AA9}">
          <p14:sldIdLst>
            <p14:sldId id="291"/>
            <p14:sldId id="292"/>
            <p14:sldId id="293"/>
            <p14:sldId id="294"/>
            <p14:sldId id="295"/>
            <p14:sldId id="296"/>
            <p14:sldId id="297"/>
            <p14:sldId id="298"/>
            <p14:sldId id="299"/>
            <p14:sldId id="300"/>
            <p14:sldId id="301"/>
            <p14:sldId id="302"/>
            <p14:sldId id="303"/>
            <p14:sldId id="304"/>
          </p14:sldIdLst>
        </p14:section>
        <p14:section name="Share" id="{5200EFC3-39F1-9344-4194-3923C3F5C4C6}">
          <p14:sldIdLst>
            <p14:sldId id="305"/>
            <p14:sldId id="306"/>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85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80-minute lesson. Timings: Recap 6 | Story so far, who's who and predicting 10 | Teaching 12 | Reading and questions 24 | Main activity 12 | Plenary 4 | Exam practice 8 | Exit ticket 4 = 80.
Pupils need their copy of Petronas.
Teacher note: this lesson uses the real book (Petronas by Tina Shaw, Nitty Gritty Novels, 2012). Pupils read the pages from their own copy. The slides give page numbers as two-page spreads (for example pp. 120-121) and only very short quotations. Pages 131-132 are not used.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Ask pupils to show a thumb for how confident they feel, and again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minutes. Pairs answer for two minutes, then take answers. Answers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alternative wording.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pp. 14 to 43 in Lesson A but NOT the pages in between (pp. 44 to 91), so give this summary clearly in your own words. Do not read from the book. Pause after each point and let pupils retell it to a partner.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summary. Check that pupils can say who is sick and where they were found. The tower and the bird are important for the pages they read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names pupils may have forgotten or have not met. Quirt is Baba's small pet. Rotobeasts are the tribe's animals.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talk for two minutes. Push for a reason from the story so far. Answers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prediction with a reason. Do not tell pupils what really happens.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tension is the feeling of worry or excitement while the reader waits to find out what happens. Suspense is when the author makes us wait. Ask pupils to describe a film or game scene that made them hold their breath.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technique is used in pp. 92 to 130. Pupils note an example as they read. Do not give the page examples away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short quotations. Pupils can find them in the book. Ask what effect each has.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pupils of Baba in Lesson A: proud, and she pushed away her mother's story. Explain that good readers compare what a character is like early and late, and prove it with evidence.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one word for each: a trait. Take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sensible trait with a reason.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Ming says would have been different.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'She brought her people to Petronas without being careful.'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find the exact words in the book.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this detail feels spooky.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Then reveal the answer.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this suggests about the city.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'the animals could not be left behind' or 'the wall was too high'.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read from their own copy of the book. Read the first page aloud if needed, then let them read quietly or in pairs. Give 4 to 5 minutes for each chunk. Pupils then answer the questions in their books.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'it was very powerful' or 'it jerked and shook'.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Pupils write in their books.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any short exact phrase that shows hope.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Pairs. Pupils draw a simple graph in their books: moments along the bottom, tension from 1 (calm) to 5 (very tense) up the side. For each moment they write a rating and a short reason.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rate each moment and give a reason. Circulate. Do not tell pupils the ratings. Model answers follow.</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 rating one point either side if the reason fits.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a rating one point either side if the reason fits.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minutes. Pupils stand on the side they agree with, or hold up a card. Ask for one reason with evidence. They may change sides.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sides are acceptable if the pupil uses evidence.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technique: short sentences.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pupils to copy exactly.</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the other options are wrong.</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2 minutes per question. Pupils write in their books. Reveal the answer slide, then pupils mark and write the mark.</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 both views if the pupil uses evidence.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write on a sticky note and hand it in.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answer uses an exact quotation and a reason, not just an opinion.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out a printed copy of this slide. Collect it at the start of the next lesson. Pupils need their copy of the book. Good answers might use the humming (pp. 102-103) or the shaking stick (pp. 120-121).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pupils show their confidence again. Collect exit tickets.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3B2F6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737360"/>
            <a:ext cx="7863840" cy="10058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640080" y="2788920"/>
            <a:ext cx="7863840" cy="731520"/>
          </a:xfrm>
          <a:prstGeom prst="rect">
            <a:avLst/>
          </a:prstGeom>
          <a:noFill/>
          <a:ln/>
        </p:spPr>
        <p:txBody>
          <a:bodyPr wrap="square" rtlCol="0"/>
          <a:lstStyle>
            <a:lvl1pPr marL="0" indent="0">
              <a:buNone/>
              <a:defRPr lang="en-US" sz="1800" dirty="0">
                <a:solidFill>
                  <a:schemeClr val="accent1"/>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36592"/>
            <a:ext cx="4572000" cy="274320"/>
          </a:xfrm>
          <a:prstGeom prst="rect">
            <a:avLst/>
          </a:prstGeom>
          <a:noFill/>
          <a:ln/>
        </p:spPr>
        <p:txBody>
          <a:bodyPr wrap="square" lIns="0" tIns="0" rIns="0" bIns="0" rtlCol="0" anchor="ctr"/>
          <a:lstStyle/>
          <a:p>
            <a:pPr marL="0" indent="0">
              <a:buNone/>
            </a:pPr>
            <a:r>
              <a:rPr lang="en-US" sz="1000" dirty="0">
                <a:solidFill>
                  <a:srgbClr val="6B6784"/>
                </a:solidFill>
              </a:rPr>
              <a:t>Year 6 English  |  Unit 8  |  Petronas</a:t>
            </a:r>
            <a:endParaRPr lang="en-US" sz="10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Escape from the City</a:t>
            </a: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lIns="0" tIns="0" rIns="0" bIns="0" rtlCol="0" anchor="t"/>
          <a:lstStyle/>
          <a:p>
            <a:pPr marL="0" indent="0">
              <a:buNone/>
            </a:pPr>
            <a:r>
              <a:rPr lang="en-US" sz="1800" dirty="0">
                <a:solidFill>
                  <a:schemeClr val="accent1"/>
                </a:solidFill>
              </a:rPr>
              <a:t>Unit 8 | Petronas by Tina Shaw</a:t>
            </a:r>
            <a:endParaRPr lang="en-US" sz="1800" dirty="0"/>
          </a:p>
          <a:p>
            <a:pPr marL="0" indent="0">
              <a:buNone/>
            </a:pPr>
            <a:r>
              <a:rPr lang="en-US" sz="1800" dirty="0">
                <a:solidFill>
                  <a:schemeClr val="accent1"/>
                </a:solidFill>
              </a:rPr>
              <a:t>Part 2: pp. 92-130 (pp. 44-91 are summarised first)</a:t>
            </a:r>
            <a:endParaRPr lang="en-US" sz="1800" dirty="0"/>
          </a:p>
          <a:p>
            <a:pPr marL="0" indent="0">
              <a:buNone/>
            </a:pPr>
            <a:r>
              <a:rPr lang="en-US" sz="1800" dirty="0">
                <a:solidFill>
                  <a:schemeClr val="accent1"/>
                </a:solidFill>
              </a:rPr>
              <a:t>Tension, courage and change</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Today we will</a:t>
            </a:r>
            <a:endParaRPr lang="en-US" sz="3000" dirty="0"/>
          </a:p>
        </p:txBody>
      </p:sp>
      <p:sp>
        <p:nvSpPr>
          <p:cNvPr id="4" name="card"/>
          <p:cNvSpPr/>
          <p:nvPr/>
        </p:nvSpPr>
        <p:spPr>
          <a:xfrm>
            <a:off x="548640" y="1188720"/>
            <a:ext cx="2560320" cy="3200400"/>
          </a:xfrm>
          <a:prstGeom prst="roundRect">
            <a:avLst>
              <a:gd name="adj" fmla="val 4286"/>
            </a:avLst>
          </a:prstGeom>
          <a:solidFill>
            <a:schemeClr val="bg2"/>
          </a:solidFill>
          <a:ln w="12700">
            <a:solidFill>
              <a:schemeClr val="bg2"/>
            </a:solidFill>
            <a:prstDash val="solid"/>
          </a:ln>
        </p:spPr>
      </p:sp>
      <p:sp>
        <p:nvSpPr>
          <p:cNvPr id="5" name="badge"/>
          <p:cNvSpPr/>
          <p:nvPr/>
        </p:nvSpPr>
        <p:spPr>
          <a:xfrm>
            <a:off x="1371600" y="1463040"/>
            <a:ext cx="914400" cy="914400"/>
          </a:xfrm>
          <a:prstGeom prst="ellipse">
            <a:avLst/>
          </a:prstGeom>
          <a:solidFill>
            <a:schemeClr val="accent4"/>
          </a:solidFill>
          <a:ln w="12700">
            <a:solidFill>
              <a:schemeClr val="accent4"/>
            </a:solidFill>
            <a:prstDash val="solid"/>
          </a:ln>
        </p:spPr>
      </p:sp>
      <p:pic>
        <p:nvPicPr>
          <p:cNvPr id="6" name="icon" descr="flag"/>
          <p:cNvPicPr>
            <a:picLocks noChangeAspect="1"/>
          </p:cNvPicPr>
          <p:nvPr/>
        </p:nvPicPr>
        <p:blipFill>
          <a:blip r:embed="rId3"/>
          <a:stretch>
            <a:fillRect/>
          </a:stretch>
        </p:blipFill>
        <p:spPr>
          <a:xfrm>
            <a:off x="1609344" y="1700784"/>
            <a:ext cx="438912" cy="438912"/>
          </a:xfrm>
          <a:prstGeom prst="rect">
            <a:avLst/>
          </a:prstGeom>
        </p:spPr>
      </p:pic>
      <p:sp>
        <p:nvSpPr>
          <p:cNvPr id="7" name="Text 3"/>
          <p:cNvSpPr txBox="1"/>
          <p:nvPr/>
        </p:nvSpPr>
        <p:spPr>
          <a:xfrm>
            <a:off x="7315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Track the tension</a:t>
            </a:r>
            <a:endParaRPr lang="en-US" sz="2000" dirty="0"/>
          </a:p>
        </p:txBody>
      </p:sp>
      <p:sp>
        <p:nvSpPr>
          <p:cNvPr id="8" name="Text 4"/>
          <p:cNvSpPr txBox="1"/>
          <p:nvPr/>
        </p:nvSpPr>
        <p:spPr>
          <a:xfrm>
            <a:off x="777240" y="3108960"/>
            <a:ext cx="2103120" cy="1097280"/>
          </a:xfrm>
          <a:prstGeom prst="rect">
            <a:avLst/>
          </a:prstGeom>
          <a:noFill/>
          <a:ln/>
        </p:spPr>
        <p:txBody>
          <a:bodyPr wrap="square" lIns="0" tIns="0" rIns="0" bIns="0" rtlCol="0" anchor="t"/>
          <a:lstStyle/>
          <a:p>
            <a:pPr marL="0" indent="0" algn="ctr">
              <a:buNone/>
            </a:pPr>
            <a:r>
              <a:rPr lang="en-US" sz="1500" dirty="0">
                <a:solidFill>
                  <a:schemeClr val="tx1"/>
                </a:solidFill>
              </a:rPr>
              <a:t>I can explain how the author builds tension and suspense.</a:t>
            </a:r>
            <a:endParaRPr lang="en-US" sz="1500" dirty="0"/>
          </a:p>
        </p:txBody>
      </p:sp>
      <p:sp>
        <p:nvSpPr>
          <p:cNvPr id="9" name="card"/>
          <p:cNvSpPr/>
          <p:nvPr/>
        </p:nvSpPr>
        <p:spPr>
          <a:xfrm>
            <a:off x="3291840" y="1188720"/>
            <a:ext cx="2560320" cy="3200400"/>
          </a:xfrm>
          <a:prstGeom prst="roundRect">
            <a:avLst>
              <a:gd name="adj" fmla="val 4286"/>
            </a:avLst>
          </a:prstGeom>
          <a:solidFill>
            <a:schemeClr val="bg2"/>
          </a:solidFill>
          <a:ln w="12700">
            <a:solidFill>
              <a:schemeClr val="bg2"/>
            </a:solidFill>
            <a:prstDash val="solid"/>
          </a:ln>
        </p:spPr>
      </p:sp>
      <p:sp>
        <p:nvSpPr>
          <p:cNvPr id="10" name="badge"/>
          <p:cNvSpPr/>
          <p:nvPr/>
        </p:nvSpPr>
        <p:spPr>
          <a:xfrm>
            <a:off x="4114800" y="1463040"/>
            <a:ext cx="914400" cy="914400"/>
          </a:xfrm>
          <a:prstGeom prst="ellipse">
            <a:avLst/>
          </a:prstGeom>
          <a:solidFill>
            <a:schemeClr val="accent2"/>
          </a:solidFill>
          <a:ln w="12700">
            <a:solidFill>
              <a:schemeClr val="accent2"/>
            </a:solidFill>
            <a:prstDash val="solid"/>
          </a:ln>
        </p:spPr>
      </p:sp>
      <p:pic>
        <p:nvPicPr>
          <p:cNvPr id="11" name="icon" descr="heart"/>
          <p:cNvPicPr>
            <a:picLocks noChangeAspect="1"/>
          </p:cNvPicPr>
          <p:nvPr/>
        </p:nvPicPr>
        <p:blipFill>
          <a:blip r:embed="rId4"/>
          <a:stretch>
            <a:fillRect/>
          </a:stretch>
        </p:blipFill>
        <p:spPr>
          <a:xfrm>
            <a:off x="4352544" y="1700784"/>
            <a:ext cx="438912" cy="438912"/>
          </a:xfrm>
          <a:prstGeom prst="rect">
            <a:avLst/>
          </a:prstGeom>
        </p:spPr>
      </p:pic>
      <p:sp>
        <p:nvSpPr>
          <p:cNvPr id="12" name="Text 7"/>
          <p:cNvSpPr txBox="1"/>
          <p:nvPr/>
        </p:nvSpPr>
        <p:spPr>
          <a:xfrm>
            <a:off x="34747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Follow a character's change</a:t>
            </a:r>
            <a:endParaRPr lang="en-US" sz="2000" dirty="0"/>
          </a:p>
        </p:txBody>
      </p:sp>
      <p:sp>
        <p:nvSpPr>
          <p:cNvPr id="13" name="Text 8"/>
          <p:cNvSpPr txBox="1"/>
          <p:nvPr/>
        </p:nvSpPr>
        <p:spPr>
          <a:xfrm>
            <a:off x="3520440" y="3108960"/>
            <a:ext cx="2103120" cy="1097280"/>
          </a:xfrm>
          <a:prstGeom prst="rect">
            <a:avLst/>
          </a:prstGeom>
          <a:noFill/>
          <a:ln/>
        </p:spPr>
        <p:txBody>
          <a:bodyPr wrap="square" lIns="0" tIns="0" rIns="0" bIns="0" rtlCol="0" anchor="t"/>
          <a:lstStyle/>
          <a:p>
            <a:pPr marL="0" indent="0" algn="ctr">
              <a:buNone/>
            </a:pPr>
            <a:r>
              <a:rPr lang="en-US" sz="1500" dirty="0">
                <a:solidFill>
                  <a:schemeClr val="tx1"/>
                </a:solidFill>
              </a:rPr>
              <a:t>I can show how Baba changes, using evidence.</a:t>
            </a:r>
            <a:endParaRPr lang="en-US" sz="1500" dirty="0"/>
          </a:p>
        </p:txBody>
      </p:sp>
      <p:sp>
        <p:nvSpPr>
          <p:cNvPr id="14" name="card"/>
          <p:cNvSpPr/>
          <p:nvPr/>
        </p:nvSpPr>
        <p:spPr>
          <a:xfrm>
            <a:off x="6035040" y="1188720"/>
            <a:ext cx="2560320" cy="3200400"/>
          </a:xfrm>
          <a:prstGeom prst="roundRect">
            <a:avLst>
              <a:gd name="adj" fmla="val 4286"/>
            </a:avLst>
          </a:prstGeom>
          <a:solidFill>
            <a:schemeClr val="bg2"/>
          </a:solidFill>
          <a:ln w="12700">
            <a:solidFill>
              <a:schemeClr val="bg2"/>
            </a:solidFill>
            <a:prstDash val="solid"/>
          </a:ln>
        </p:spPr>
      </p:sp>
      <p:sp>
        <p:nvSpPr>
          <p:cNvPr id="15" name="badge"/>
          <p:cNvSpPr/>
          <p:nvPr/>
        </p:nvSpPr>
        <p:spPr>
          <a:xfrm>
            <a:off x="6858000" y="1463040"/>
            <a:ext cx="914400" cy="914400"/>
          </a:xfrm>
          <a:prstGeom prst="ellipse">
            <a:avLst/>
          </a:prstGeom>
          <a:solidFill>
            <a:schemeClr val="accent3"/>
          </a:solidFill>
          <a:ln w="12700">
            <a:solidFill>
              <a:schemeClr val="accent3"/>
            </a:solidFill>
            <a:prstDash val="solid"/>
          </a:ln>
        </p:spPr>
      </p:sp>
      <p:pic>
        <p:nvPicPr>
          <p:cNvPr id="16" name="icon" descr="scroll"/>
          <p:cNvPicPr>
            <a:picLocks noChangeAspect="1"/>
          </p:cNvPicPr>
          <p:nvPr/>
        </p:nvPicPr>
        <p:blipFill>
          <a:blip r:embed="rId5"/>
          <a:stretch>
            <a:fillRect/>
          </a:stretch>
        </p:blipFill>
        <p:spPr>
          <a:xfrm>
            <a:off x="7095744" y="1700784"/>
            <a:ext cx="438912" cy="438912"/>
          </a:xfrm>
          <a:prstGeom prst="rect">
            <a:avLst/>
          </a:prstGeom>
        </p:spPr>
      </p:pic>
      <p:sp>
        <p:nvSpPr>
          <p:cNvPr id="17" name="Text 11"/>
          <p:cNvSpPr txBox="1"/>
          <p:nvPr/>
        </p:nvSpPr>
        <p:spPr>
          <a:xfrm>
            <a:off x="6217920" y="2560320"/>
            <a:ext cx="2194560" cy="457200"/>
          </a:xfrm>
          <a:prstGeom prst="rect">
            <a:avLst/>
          </a:prstGeom>
          <a:noFill/>
          <a:ln/>
        </p:spPr>
        <p:txBody>
          <a:bodyPr wrap="square" lIns="0" tIns="0" rIns="0" bIns="0" rtlCol="0" anchor="t"/>
          <a:lstStyle/>
          <a:p>
            <a:pPr marL="0" indent="0" algn="ctr">
              <a:buNone/>
            </a:pPr>
            <a:r>
              <a:rPr lang="en-US" sz="2000" b="1" dirty="0">
                <a:solidFill>
                  <a:schemeClr val="tx1"/>
                </a:solidFill>
              </a:rPr>
              <a:t>Retell the climax</a:t>
            </a:r>
            <a:endParaRPr lang="en-US" sz="2000" dirty="0"/>
          </a:p>
        </p:txBody>
      </p:sp>
      <p:sp>
        <p:nvSpPr>
          <p:cNvPr id="18" name="Text 12"/>
          <p:cNvSpPr txBox="1"/>
          <p:nvPr/>
        </p:nvSpPr>
        <p:spPr>
          <a:xfrm>
            <a:off x="6263640" y="3108960"/>
            <a:ext cx="2103120" cy="1097280"/>
          </a:xfrm>
          <a:prstGeom prst="rect">
            <a:avLst/>
          </a:prstGeom>
          <a:noFill/>
          <a:ln/>
        </p:spPr>
        <p:txBody>
          <a:bodyPr wrap="square" lIns="0" tIns="0" rIns="0" bIns="0" rtlCol="0" anchor="t"/>
          <a:lstStyle/>
          <a:p>
            <a:pPr marL="0" indent="0" algn="ctr">
              <a:buNone/>
            </a:pPr>
            <a:r>
              <a:rPr lang="en-US" sz="1500" dirty="0">
                <a:solidFill>
                  <a:schemeClr val="tx1"/>
                </a:solidFill>
              </a:rPr>
              <a:t>I can sum up the escape from the city in order.</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Recap: what do we remember?</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marL="0" indent="0">
              <a:buNone/>
            </a:pPr>
            <a:r>
              <a:rPr lang="en-US" sz="1800" dirty="0">
                <a:solidFill>
                  <a:schemeClr val="tx1"/>
                </a:solidFill>
              </a:rPr>
              <a:t>What is foreshadowing?</a:t>
            </a:r>
            <a:endParaRPr lang="en-US" sz="18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marL="0" indent="0">
              <a:buNone/>
            </a:pPr>
            <a:r>
              <a:rPr lang="en-US" sz="1800" dirty="0">
                <a:solidFill>
                  <a:schemeClr val="tx1"/>
                </a:solidFill>
              </a:rPr>
              <a:t>Is 'Blank windows gazed down' a simile, a metaphor or personification?</a:t>
            </a:r>
            <a:endParaRPr lang="en-US" sz="18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marL="0" indent="0">
              <a:buNone/>
            </a:pPr>
            <a:r>
              <a:rPr lang="en-US" sz="1800" dirty="0">
                <a:solidFill>
                  <a:schemeClr val="tx1"/>
                </a:solidFill>
              </a:rPr>
              <a:t>Which character first said 'I feel watched' in the city?</a:t>
            </a:r>
            <a:endParaRPr lang="en-US" sz="18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icPr>
            <a:picLocks noChangeAspect="1"/>
          </p:cNvPicPr>
          <p:nvPr/>
        </p:nvPicPr>
        <p:blipFill>
          <a:blip r:embed="rId3"/>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marL="0" indent="0">
              <a:buNone/>
            </a:pPr>
            <a:r>
              <a:rPr lang="en-US" sz="1800" dirty="0">
                <a:solidFill>
                  <a:schemeClr val="tx1"/>
                </a:solidFill>
              </a:rPr>
              <a:t>What does a setting give the reader besides the place and time?</a:t>
            </a:r>
            <a:endParaRPr lang="en-US" sz="18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recap</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Hints early in the story about something that will happen later.</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Personification.</a:t>
            </a:r>
            <a:r>
              <a:rPr lang="en-US" sz="1500" dirty="0">
                <a:solidFill>
                  <a:schemeClr val="tx1"/>
                </a:solidFill>
              </a:rPr>
              <a:t> Windows cannot gaze. The city seems to watch.</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Ki.</a:t>
            </a:r>
            <a:r>
              <a:rPr lang="en-US" sz="1500" dirty="0">
                <a:solidFill>
                  <a:schemeClr val="tx1"/>
                </a:solidFill>
              </a:rPr>
              <a:t> He did not trust the city from the start.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500" b="1" dirty="0">
                <a:solidFill>
                  <a:schemeClr val="tx1"/>
                </a:solidFill>
              </a:rPr>
              <a:t>The mood</a:t>
            </a:r>
            <a:r>
              <a:rPr lang="en-US" sz="1500" dirty="0">
                <a:solidFill>
                  <a:schemeClr val="tx1"/>
                </a:solidFill>
              </a:rPr>
              <a:t>: how the place makes the reader feel.</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story so far: part 1</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188720"/>
            <a:ext cx="7498080" cy="3291840"/>
          </a:xfrm>
          <a:prstGeom prst="rect">
            <a:avLst/>
          </a:prstGeom>
          <a:noFill/>
          <a:ln/>
        </p:spPr>
        <p:txBody>
          <a:bodyPr wrap="square" lIns="0" tIns="0" rIns="0" bIns="0" rtlCol="0" anchor="ctr"/>
          <a:lstStyle/>
          <a:p>
            <a:pPr marL="0" indent="0">
              <a:spcAft>
                <a:spcPts val="900"/>
              </a:spcAft>
              <a:buNone/>
            </a:pPr>
            <a:r>
              <a:rPr lang="en-US" sz="1600" dirty="0">
                <a:solidFill>
                  <a:schemeClr val="tx1"/>
                </a:solidFill>
              </a:rPr>
              <a:t>The tribe makes itself at home. The children play in the </a:t>
            </a:r>
            <a:r>
              <a:rPr lang="en-US" sz="1600" b="1" dirty="0">
                <a:solidFill>
                  <a:schemeClr val="tx1"/>
                </a:solidFill>
                <a:highlight>
                  <a:srgbClr val="FFD27F"/>
                </a:highlight>
              </a:rPr>
              <a:t>canals</a:t>
            </a:r>
            <a:r>
              <a:rPr lang="en-US" sz="1600" dirty="0">
                <a:solidFill>
                  <a:schemeClr val="tx1"/>
                </a:solidFill>
              </a:rPr>
              <a:t> and Baba learns to swim from Tulsi.</a:t>
            </a:r>
            <a:endParaRPr lang="en-US" sz="1600" dirty="0"/>
          </a:p>
          <a:p>
            <a:pPr marL="0" indent="0">
              <a:spcAft>
                <a:spcPts val="900"/>
              </a:spcAft>
              <a:buNone/>
            </a:pPr>
            <a:r>
              <a:rPr lang="en-US" sz="1600" dirty="0">
                <a:solidFill>
                  <a:schemeClr val="tx1"/>
                </a:solidFill>
              </a:rPr>
              <a:t>Then Baba's cousin </a:t>
            </a:r>
            <a:r>
              <a:rPr lang="en-US" sz="1600" b="1" dirty="0">
                <a:solidFill>
                  <a:schemeClr val="tx1"/>
                </a:solidFill>
                <a:highlight>
                  <a:srgbClr val="FFD27F"/>
                </a:highlight>
              </a:rPr>
              <a:t>Tai</a:t>
            </a:r>
            <a:r>
              <a:rPr lang="en-US" sz="1600" dirty="0">
                <a:solidFill>
                  <a:schemeClr val="tx1"/>
                </a:solidFill>
              </a:rPr>
              <a:t> goes missing and is found in the eastern part of the city, in a </a:t>
            </a:r>
            <a:r>
              <a:rPr lang="en-US" sz="1600" b="1" dirty="0">
                <a:solidFill>
                  <a:schemeClr val="tx1"/>
                </a:solidFill>
                <a:highlight>
                  <a:srgbClr val="FFD27F"/>
                </a:highlight>
              </a:rPr>
              <a:t>deep sleep</a:t>
            </a:r>
            <a:r>
              <a:rPr lang="en-US" sz="1600" dirty="0">
                <a:solidFill>
                  <a:schemeClr val="tx1"/>
                </a:solidFill>
              </a:rPr>
              <a:t>.</a:t>
            </a:r>
            <a:endParaRPr lang="en-US" sz="1600" dirty="0"/>
          </a:p>
          <a:p>
            <a:pPr marL="0" indent="0">
              <a:spcAft>
                <a:spcPts val="900"/>
              </a:spcAft>
              <a:buNone/>
            </a:pPr>
            <a:r>
              <a:rPr lang="en-US" sz="1600" dirty="0">
                <a:solidFill>
                  <a:schemeClr val="tx1"/>
                </a:solidFill>
              </a:rPr>
              <a:t>A young man, </a:t>
            </a:r>
            <a:r>
              <a:rPr lang="en-US" sz="1600" b="1" dirty="0">
                <a:solidFill>
                  <a:schemeClr val="tx1"/>
                </a:solidFill>
                <a:highlight>
                  <a:srgbClr val="FFD27F"/>
                </a:highlight>
              </a:rPr>
              <a:t>Merti</a:t>
            </a:r>
            <a:r>
              <a:rPr lang="en-US" sz="1600" dirty="0">
                <a:solidFill>
                  <a:schemeClr val="tx1"/>
                </a:solidFill>
              </a:rPr>
              <a:t>, goes missing and is found the same way.</a:t>
            </a:r>
            <a:endParaRPr lang="en-US" sz="1600" dirty="0"/>
          </a:p>
          <a:p>
            <a:pPr marL="0" indent="0">
              <a:spcAft>
                <a:spcPts val="900"/>
              </a:spcAft>
              <a:buNone/>
            </a:pPr>
            <a:r>
              <a:rPr lang="en-US" sz="1600" dirty="0">
                <a:solidFill>
                  <a:schemeClr val="tx1"/>
                </a:solidFill>
              </a:rPr>
              <a:t>Baba dreams of a huge </a:t>
            </a:r>
            <a:r>
              <a:rPr lang="en-US" sz="1600" b="1" dirty="0">
                <a:solidFill>
                  <a:schemeClr val="tx1"/>
                </a:solidFill>
                <a:highlight>
                  <a:srgbClr val="FFD27F"/>
                </a:highlight>
              </a:rPr>
              <a:t>yellow bird</a:t>
            </a:r>
            <a:r>
              <a:rPr lang="en-US" sz="1600" dirty="0">
                <a:solidFill>
                  <a:schemeClr val="tx1"/>
                </a:solidFill>
              </a:rPr>
              <a:t>, and then sees a grey </a:t>
            </a:r>
            <a:r>
              <a:rPr lang="en-US" sz="1600" b="1" dirty="0">
                <a:solidFill>
                  <a:schemeClr val="tx1"/>
                </a:solidFill>
                <a:highlight>
                  <a:srgbClr val="FFD27F"/>
                </a:highlight>
              </a:rPr>
              <a:t>bird</a:t>
            </a:r>
            <a:r>
              <a:rPr lang="en-US" sz="1600" dirty="0">
                <a:solidFill>
                  <a:schemeClr val="tx1"/>
                </a:solidFill>
              </a:rPr>
              <a:t> in the city. Her father says it was a dream.</a:t>
            </a:r>
            <a:endParaRPr lang="en-US" sz="1600" dirty="0"/>
          </a:p>
          <a:p>
            <a:pPr marL="0" indent="0">
              <a:spcAft>
                <a:spcPts val="900"/>
              </a:spcAft>
              <a:buNone/>
            </a:pPr>
            <a:r>
              <a:rPr lang="en-US" sz="1600" dirty="0">
                <a:solidFill>
                  <a:schemeClr val="tx1"/>
                </a:solidFill>
              </a:rPr>
              <a:t>Tulsi finds a </a:t>
            </a:r>
            <a:r>
              <a:rPr lang="en-US" sz="1600" b="1" dirty="0">
                <a:solidFill>
                  <a:schemeClr val="tx1"/>
                </a:solidFill>
                <a:highlight>
                  <a:srgbClr val="FFD27F"/>
                </a:highlight>
              </a:rPr>
              <a:t>rope</a:t>
            </a:r>
            <a:r>
              <a:rPr lang="en-US" sz="1600" dirty="0">
                <a:solidFill>
                  <a:schemeClr val="tx1"/>
                </a:solidFill>
              </a:rPr>
              <a:t> on the city wall and sees the top of a </a:t>
            </a:r>
            <a:r>
              <a:rPr lang="en-US" sz="1600" b="1" dirty="0">
                <a:solidFill>
                  <a:schemeClr val="tx1"/>
                </a:solidFill>
                <a:highlight>
                  <a:srgbClr val="FFD27F"/>
                </a:highlight>
              </a:rPr>
              <a:t>tower</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story so far: part 2</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188720"/>
            <a:ext cx="7498080" cy="3291840"/>
          </a:xfrm>
          <a:prstGeom prst="rect">
            <a:avLst/>
          </a:prstGeom>
          <a:noFill/>
          <a:ln/>
        </p:spPr>
        <p:txBody>
          <a:bodyPr wrap="square" lIns="0" tIns="0" rIns="0" bIns="0" rtlCol="0" anchor="ctr"/>
          <a:lstStyle/>
          <a:p>
            <a:pPr marL="0" indent="0">
              <a:spcAft>
                <a:spcPts val="900"/>
              </a:spcAft>
              <a:buNone/>
            </a:pPr>
            <a:r>
              <a:rPr lang="en-US" sz="1600" dirty="0">
                <a:solidFill>
                  <a:schemeClr val="tx1"/>
                </a:solidFill>
              </a:rPr>
              <a:t>Baba learns that her </a:t>
            </a:r>
            <a:r>
              <a:rPr lang="en-US" sz="1600" b="1" dirty="0">
                <a:solidFill>
                  <a:schemeClr val="tx1"/>
                </a:solidFill>
                <a:highlight>
                  <a:srgbClr val="FFD27F"/>
                </a:highlight>
              </a:rPr>
              <a:t>grandmother</a:t>
            </a:r>
            <a:r>
              <a:rPr lang="en-US" sz="1600" dirty="0">
                <a:solidFill>
                  <a:schemeClr val="tx1"/>
                </a:solidFill>
              </a:rPr>
              <a:t> died after she took the </a:t>
            </a:r>
            <a:r>
              <a:rPr lang="en-US" sz="1600" b="1" dirty="0">
                <a:solidFill>
                  <a:schemeClr val="tx1"/>
                </a:solidFill>
                <a:highlight>
                  <a:srgbClr val="FFD27F"/>
                </a:highlight>
              </a:rPr>
              <a:t>water stick</a:t>
            </a:r>
            <a:r>
              <a:rPr lang="en-US" sz="1600" dirty="0">
                <a:solidFill>
                  <a:schemeClr val="tx1"/>
                </a:solidFill>
              </a:rPr>
              <a:t> and went after a sand cat.</a:t>
            </a:r>
            <a:endParaRPr lang="en-US" sz="1600" dirty="0"/>
          </a:p>
          <a:p>
            <a:pPr marL="0" indent="0">
              <a:spcAft>
                <a:spcPts val="900"/>
              </a:spcAft>
              <a:buNone/>
            </a:pPr>
            <a:r>
              <a:rPr lang="en-US" sz="1600" dirty="0">
                <a:solidFill>
                  <a:schemeClr val="tx1"/>
                </a:solidFill>
              </a:rPr>
              <a:t>Ki tells people the city may be making them sick. He wants to </a:t>
            </a:r>
            <a:r>
              <a:rPr lang="en-US" sz="1600" b="1" dirty="0">
                <a:solidFill>
                  <a:schemeClr val="tx1"/>
                </a:solidFill>
                <a:highlight>
                  <a:srgbClr val="FFD27F"/>
                </a:highlight>
              </a:rPr>
              <a:t>leave</a:t>
            </a:r>
            <a:r>
              <a:rPr lang="en-US" sz="1600" dirty="0">
                <a:solidFill>
                  <a:schemeClr val="tx1"/>
                </a:solidFill>
              </a:rPr>
              <a:t>, but Baba asks everybody to </a:t>
            </a:r>
            <a:r>
              <a:rPr lang="en-US" sz="1600" b="1" dirty="0">
                <a:solidFill>
                  <a:schemeClr val="tx1"/>
                </a:solidFill>
                <a:highlight>
                  <a:srgbClr val="FFD27F"/>
                </a:highlight>
              </a:rPr>
              <a:t>stay</a:t>
            </a:r>
            <a:r>
              <a:rPr lang="en-US" sz="1600" dirty="0">
                <a:solidFill>
                  <a:schemeClr val="tx1"/>
                </a:solidFill>
              </a:rPr>
              <a:t> and trust her.</a:t>
            </a:r>
            <a:endParaRPr lang="en-US" sz="1600" dirty="0"/>
          </a:p>
          <a:p>
            <a:pPr marL="0" indent="0">
              <a:spcAft>
                <a:spcPts val="900"/>
              </a:spcAft>
              <a:buNone/>
            </a:pPr>
            <a:r>
              <a:rPr lang="en-US" sz="1600" dirty="0">
                <a:solidFill>
                  <a:schemeClr val="tx1"/>
                </a:solidFill>
              </a:rPr>
              <a:t>Things settle down, and Anda plans a </a:t>
            </a:r>
            <a:r>
              <a:rPr lang="en-US" sz="1600" b="1" dirty="0">
                <a:solidFill>
                  <a:schemeClr val="tx1"/>
                </a:solidFill>
                <a:highlight>
                  <a:srgbClr val="FFD27F"/>
                </a:highlight>
              </a:rPr>
              <a:t>party</a:t>
            </a:r>
            <a:r>
              <a:rPr lang="en-US" sz="1600" dirty="0">
                <a:solidFill>
                  <a:schemeClr val="tx1"/>
                </a:solidFill>
              </a:rPr>
              <a:t> for the twins.</a:t>
            </a:r>
            <a:endParaRPr lang="en-US" sz="1600" dirty="0"/>
          </a:p>
          <a:p>
            <a:pPr marL="0" indent="0">
              <a:spcAft>
                <a:spcPts val="900"/>
              </a:spcAft>
              <a:buNone/>
            </a:pPr>
            <a:r>
              <a:rPr lang="en-US" sz="1600" dirty="0">
                <a:solidFill>
                  <a:schemeClr val="tx1"/>
                </a:solidFill>
              </a:rPr>
              <a:t>But the old man </a:t>
            </a:r>
            <a:r>
              <a:rPr lang="en-US" sz="1600" b="1" dirty="0">
                <a:solidFill>
                  <a:schemeClr val="tx1"/>
                </a:solidFill>
                <a:highlight>
                  <a:srgbClr val="FFD27F"/>
                </a:highlight>
              </a:rPr>
              <a:t>Fas</a:t>
            </a:r>
            <a:r>
              <a:rPr lang="en-US" sz="1600" dirty="0">
                <a:solidFill>
                  <a:schemeClr val="tx1"/>
                </a:solidFill>
              </a:rPr>
              <a:t> is found asleep by the tower. The next morning, Ki and three others </a:t>
            </a:r>
            <a:r>
              <a:rPr lang="en-US" sz="1600" b="1" dirty="0">
                <a:solidFill>
                  <a:schemeClr val="tx1"/>
                </a:solidFill>
                <a:highlight>
                  <a:srgbClr val="FFD27F"/>
                </a:highlight>
              </a:rPr>
              <a:t>walk away</a:t>
            </a:r>
            <a:r>
              <a:rPr lang="en-US" sz="1600" dirty="0">
                <a:solidFill>
                  <a:schemeClr val="tx1"/>
                </a:solidFill>
              </a:rPr>
              <a:t> from the city, back to the desert.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Who's who: new names</a:t>
            </a:r>
            <a:endParaRPr lang="en-US" sz="3000" dirty="0"/>
          </a:p>
        </p:txBody>
      </p:sp>
      <p:sp>
        <p:nvSpPr>
          <p:cNvPr id="4" name="card"/>
          <p:cNvSpPr/>
          <p:nvPr/>
        </p:nvSpPr>
        <p:spPr>
          <a:xfrm>
            <a:off x="548640" y="1097280"/>
            <a:ext cx="2560320" cy="164592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731520" y="1207008"/>
            <a:ext cx="2194560" cy="365760"/>
          </a:xfrm>
          <a:prstGeom prst="rect">
            <a:avLst/>
          </a:prstGeom>
          <a:noFill/>
          <a:ln/>
        </p:spPr>
        <p:txBody>
          <a:bodyPr wrap="square" lIns="0" tIns="0" rIns="0" bIns="0" rtlCol="0" anchor="t"/>
          <a:lstStyle/>
          <a:p>
            <a:pPr marL="0" indent="0">
              <a:buNone/>
            </a:pPr>
            <a:r>
              <a:rPr lang="en-US" sz="1700" b="1" dirty="0">
                <a:solidFill>
                  <a:schemeClr val="accent4"/>
                </a:solidFill>
              </a:rPr>
              <a:t>Tai and Merti</a:t>
            </a:r>
            <a:endParaRPr lang="en-US" sz="1700" dirty="0"/>
          </a:p>
        </p:txBody>
      </p:sp>
      <p:sp>
        <p:nvSpPr>
          <p:cNvPr id="6" name="Text 3"/>
          <p:cNvSpPr txBox="1"/>
          <p:nvPr/>
        </p:nvSpPr>
        <p:spPr>
          <a:xfrm>
            <a:off x="731520" y="1627632"/>
            <a:ext cx="2194560" cy="1051560"/>
          </a:xfrm>
          <a:prstGeom prst="rect">
            <a:avLst/>
          </a:prstGeom>
          <a:noFill/>
          <a:ln/>
        </p:spPr>
        <p:txBody>
          <a:bodyPr wrap="square" lIns="0" tIns="0" rIns="0" bIns="0" rtlCol="0" anchor="t"/>
          <a:lstStyle/>
          <a:p>
            <a:pPr marL="0" indent="0">
              <a:buNone/>
            </a:pPr>
            <a:r>
              <a:rPr lang="en-US" sz="1300" dirty="0">
                <a:solidFill>
                  <a:schemeClr val="tx1"/>
                </a:solidFill>
              </a:rPr>
              <a:t>Two of the people who fell into the sleeping sickness. They woke up slowly.</a:t>
            </a:r>
            <a:endParaRPr lang="en-US" sz="1300" dirty="0"/>
          </a:p>
        </p:txBody>
      </p:sp>
      <p:sp>
        <p:nvSpPr>
          <p:cNvPr id="7" name="card"/>
          <p:cNvSpPr/>
          <p:nvPr/>
        </p:nvSpPr>
        <p:spPr>
          <a:xfrm>
            <a:off x="3264408" y="1097280"/>
            <a:ext cx="2560320" cy="164592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3447288" y="1207008"/>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Fas</a:t>
            </a:r>
            <a:endParaRPr lang="en-US" sz="1700" dirty="0"/>
          </a:p>
        </p:txBody>
      </p:sp>
      <p:sp>
        <p:nvSpPr>
          <p:cNvPr id="9" name="Text 6"/>
          <p:cNvSpPr txBox="1"/>
          <p:nvPr/>
        </p:nvSpPr>
        <p:spPr>
          <a:xfrm>
            <a:off x="3447288" y="1627632"/>
            <a:ext cx="2194560" cy="1051560"/>
          </a:xfrm>
          <a:prstGeom prst="rect">
            <a:avLst/>
          </a:prstGeom>
          <a:noFill/>
          <a:ln/>
        </p:spPr>
        <p:txBody>
          <a:bodyPr wrap="square" lIns="0" tIns="0" rIns="0" bIns="0" rtlCol="0" anchor="t"/>
          <a:lstStyle/>
          <a:p>
            <a:pPr marL="0" indent="0">
              <a:buNone/>
            </a:pPr>
            <a:r>
              <a:rPr lang="en-US" sz="1300" dirty="0">
                <a:solidFill>
                  <a:schemeClr val="tx1"/>
                </a:solidFill>
              </a:rPr>
              <a:t>The old man who plays the bakar. He was found asleep by the tower.</a:t>
            </a:r>
            <a:endParaRPr lang="en-US" sz="1300" dirty="0"/>
          </a:p>
        </p:txBody>
      </p:sp>
      <p:sp>
        <p:nvSpPr>
          <p:cNvPr id="10" name="card"/>
          <p:cNvSpPr/>
          <p:nvPr/>
        </p:nvSpPr>
        <p:spPr>
          <a:xfrm>
            <a:off x="5980176" y="1097280"/>
            <a:ext cx="2560320" cy="164592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6163056" y="1207008"/>
            <a:ext cx="2194560" cy="365760"/>
          </a:xfrm>
          <a:prstGeom prst="rect">
            <a:avLst/>
          </a:prstGeom>
          <a:noFill/>
          <a:ln/>
        </p:spPr>
        <p:txBody>
          <a:bodyPr wrap="square" lIns="0" tIns="0" rIns="0" bIns="0" rtlCol="0" anchor="t"/>
          <a:lstStyle/>
          <a:p>
            <a:pPr marL="0" indent="0">
              <a:buNone/>
            </a:pPr>
            <a:r>
              <a:rPr lang="en-US" sz="1700" b="1" dirty="0">
                <a:solidFill>
                  <a:schemeClr val="accent3"/>
                </a:solidFill>
              </a:rPr>
              <a:t>Kale and Anda</a:t>
            </a:r>
            <a:endParaRPr lang="en-US" sz="1700" dirty="0"/>
          </a:p>
        </p:txBody>
      </p:sp>
      <p:sp>
        <p:nvSpPr>
          <p:cNvPr id="12" name="Text 9"/>
          <p:cNvSpPr txBox="1"/>
          <p:nvPr/>
        </p:nvSpPr>
        <p:spPr>
          <a:xfrm>
            <a:off x="6163056" y="1627632"/>
            <a:ext cx="2194560" cy="1051560"/>
          </a:xfrm>
          <a:prstGeom prst="rect">
            <a:avLst/>
          </a:prstGeom>
          <a:noFill/>
          <a:ln/>
        </p:spPr>
        <p:txBody>
          <a:bodyPr wrap="square" lIns="0" tIns="0" rIns="0" bIns="0" rtlCol="0" anchor="t"/>
          <a:lstStyle/>
          <a:p>
            <a:pPr marL="0" indent="0">
              <a:buNone/>
            </a:pPr>
            <a:r>
              <a:rPr lang="en-US" sz="1300" dirty="0">
                <a:solidFill>
                  <a:schemeClr val="tx1"/>
                </a:solidFill>
              </a:rPr>
              <a:t>Baba's father and mother. Kale is gentle with the twins, Baba's baby brother and sister.</a:t>
            </a:r>
            <a:endParaRPr lang="en-US" sz="1300" dirty="0"/>
          </a:p>
        </p:txBody>
      </p:sp>
      <p:sp>
        <p:nvSpPr>
          <p:cNvPr id="13" name="card"/>
          <p:cNvSpPr/>
          <p:nvPr/>
        </p:nvSpPr>
        <p:spPr>
          <a:xfrm>
            <a:off x="548640" y="2880360"/>
            <a:ext cx="2560320" cy="1645920"/>
          </a:xfrm>
          <a:prstGeom prst="roundRect">
            <a:avLst>
              <a:gd name="adj" fmla="val 6667"/>
            </a:avLst>
          </a:prstGeom>
          <a:solidFill>
            <a:schemeClr val="bg2"/>
          </a:solidFill>
          <a:ln w="12700">
            <a:solidFill>
              <a:schemeClr val="bg2"/>
            </a:solidFill>
            <a:prstDash val="solid"/>
          </a:ln>
        </p:spPr>
      </p:sp>
      <p:sp>
        <p:nvSpPr>
          <p:cNvPr id="14" name="Text 11"/>
          <p:cNvSpPr txBox="1"/>
          <p:nvPr/>
        </p:nvSpPr>
        <p:spPr>
          <a:xfrm>
            <a:off x="731520" y="2990088"/>
            <a:ext cx="2194560" cy="365760"/>
          </a:xfrm>
          <a:prstGeom prst="rect">
            <a:avLst/>
          </a:prstGeom>
          <a:noFill/>
          <a:ln/>
        </p:spPr>
        <p:txBody>
          <a:bodyPr wrap="square" lIns="0" tIns="0" rIns="0" bIns="0" rtlCol="0" anchor="t"/>
          <a:lstStyle/>
          <a:p>
            <a:pPr marL="0" indent="0">
              <a:buNone/>
            </a:pPr>
            <a:r>
              <a:rPr lang="en-US" sz="1700" b="1" dirty="0">
                <a:solidFill>
                  <a:schemeClr val="accent5"/>
                </a:solidFill>
              </a:rPr>
              <a:t>Ming</a:t>
            </a:r>
            <a:endParaRPr lang="en-US" sz="1700" dirty="0"/>
          </a:p>
        </p:txBody>
      </p:sp>
      <p:sp>
        <p:nvSpPr>
          <p:cNvPr id="15" name="Text 12"/>
          <p:cNvSpPr txBox="1"/>
          <p:nvPr/>
        </p:nvSpPr>
        <p:spPr>
          <a:xfrm>
            <a:off x="731520" y="3410712"/>
            <a:ext cx="2194560" cy="1051560"/>
          </a:xfrm>
          <a:prstGeom prst="rect">
            <a:avLst/>
          </a:prstGeom>
          <a:noFill/>
          <a:ln/>
        </p:spPr>
        <p:txBody>
          <a:bodyPr wrap="square" lIns="0" tIns="0" rIns="0" bIns="0" rtlCol="0" anchor="t"/>
          <a:lstStyle/>
          <a:p>
            <a:pPr marL="0" indent="0">
              <a:buNone/>
            </a:pPr>
            <a:r>
              <a:rPr lang="en-US" sz="1300" dirty="0">
                <a:solidFill>
                  <a:schemeClr val="tx1"/>
                </a:solidFill>
              </a:rPr>
              <a:t>A girl who used to be Baba's friend. She is angry and blames Baba.</a:t>
            </a:r>
            <a:endParaRPr lang="en-US" sz="1300" dirty="0"/>
          </a:p>
        </p:txBody>
      </p:sp>
      <p:sp>
        <p:nvSpPr>
          <p:cNvPr id="16" name="card"/>
          <p:cNvSpPr/>
          <p:nvPr/>
        </p:nvSpPr>
        <p:spPr>
          <a:xfrm>
            <a:off x="3264408" y="2880360"/>
            <a:ext cx="2560320" cy="1645920"/>
          </a:xfrm>
          <a:prstGeom prst="roundRect">
            <a:avLst>
              <a:gd name="adj" fmla="val 6667"/>
            </a:avLst>
          </a:prstGeom>
          <a:solidFill>
            <a:schemeClr val="bg2"/>
          </a:solidFill>
          <a:ln w="12700">
            <a:solidFill>
              <a:schemeClr val="bg2"/>
            </a:solidFill>
            <a:prstDash val="solid"/>
          </a:ln>
        </p:spPr>
      </p:sp>
      <p:sp>
        <p:nvSpPr>
          <p:cNvPr id="17" name="Text 14"/>
          <p:cNvSpPr txBox="1"/>
          <p:nvPr/>
        </p:nvSpPr>
        <p:spPr>
          <a:xfrm>
            <a:off x="3447288" y="2990088"/>
            <a:ext cx="2194560" cy="365760"/>
          </a:xfrm>
          <a:prstGeom prst="rect">
            <a:avLst/>
          </a:prstGeom>
          <a:noFill/>
          <a:ln/>
        </p:spPr>
        <p:txBody>
          <a:bodyPr wrap="square" lIns="0" tIns="0" rIns="0" bIns="0" rtlCol="0" anchor="t"/>
          <a:lstStyle/>
          <a:p>
            <a:pPr marL="0" indent="0">
              <a:buNone/>
            </a:pPr>
            <a:r>
              <a:rPr lang="en-US" sz="1700" b="1" dirty="0">
                <a:solidFill>
                  <a:schemeClr val="accent4"/>
                </a:solidFill>
              </a:rPr>
              <a:t>Jad</a:t>
            </a:r>
            <a:endParaRPr lang="en-US" sz="1700" dirty="0"/>
          </a:p>
        </p:txBody>
      </p:sp>
      <p:sp>
        <p:nvSpPr>
          <p:cNvPr id="18" name="Text 15"/>
          <p:cNvSpPr txBox="1"/>
          <p:nvPr/>
        </p:nvSpPr>
        <p:spPr>
          <a:xfrm>
            <a:off x="3447288" y="3410712"/>
            <a:ext cx="2194560" cy="1051560"/>
          </a:xfrm>
          <a:prstGeom prst="rect">
            <a:avLst/>
          </a:prstGeom>
          <a:noFill/>
          <a:ln/>
        </p:spPr>
        <p:txBody>
          <a:bodyPr wrap="square" lIns="0" tIns="0" rIns="0" bIns="0" rtlCol="0" anchor="t"/>
          <a:lstStyle/>
          <a:p>
            <a:pPr marL="0" indent="0">
              <a:buNone/>
            </a:pPr>
            <a:r>
              <a:rPr lang="en-US" sz="1300" dirty="0">
                <a:solidFill>
                  <a:schemeClr val="tx1"/>
                </a:solidFill>
              </a:rPr>
              <a:t>Tulsi's father. He is strong and practical.</a:t>
            </a:r>
            <a:endParaRPr lang="en-US" sz="1300" dirty="0"/>
          </a:p>
        </p:txBody>
      </p:sp>
      <p:sp>
        <p:nvSpPr>
          <p:cNvPr id="19" name="card"/>
          <p:cNvSpPr/>
          <p:nvPr/>
        </p:nvSpPr>
        <p:spPr>
          <a:xfrm>
            <a:off x="5980176" y="2880360"/>
            <a:ext cx="2560320" cy="164592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163056" y="2990088"/>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The tower</a:t>
            </a:r>
            <a:endParaRPr lang="en-US" sz="1700" dirty="0"/>
          </a:p>
        </p:txBody>
      </p:sp>
      <p:sp>
        <p:nvSpPr>
          <p:cNvPr id="21" name="Text 18"/>
          <p:cNvSpPr txBox="1"/>
          <p:nvPr/>
        </p:nvSpPr>
        <p:spPr>
          <a:xfrm>
            <a:off x="6163056" y="3410712"/>
            <a:ext cx="2194560" cy="1051560"/>
          </a:xfrm>
          <a:prstGeom prst="rect">
            <a:avLst/>
          </a:prstGeom>
          <a:noFill/>
          <a:ln/>
        </p:spPr>
        <p:txBody>
          <a:bodyPr wrap="square" lIns="0" tIns="0" rIns="0" bIns="0" rtlCol="0" anchor="t"/>
          <a:lstStyle/>
          <a:p>
            <a:pPr marL="0" indent="0">
              <a:buNone/>
            </a:pPr>
            <a:r>
              <a:rPr lang="en-US" sz="1300" dirty="0">
                <a:solidFill>
                  <a:schemeClr val="tx1"/>
                </a:solidFill>
              </a:rPr>
              <a:t>A tall stone tower in the east of the city. Strange things happen near it.</a:t>
            </a:r>
            <a:endParaRPr lang="en-US" sz="13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Predict before we read</a:t>
            </a:r>
            <a:endParaRPr lang="en-US" sz="3000" dirty="0"/>
          </a:p>
        </p:txBody>
      </p:sp>
      <p:sp>
        <p:nvSpPr>
          <p:cNvPr id="4" name="card"/>
          <p:cNvSpPr/>
          <p:nvPr/>
        </p:nvSpPr>
        <p:spPr>
          <a:xfrm>
            <a:off x="548640" y="1097280"/>
            <a:ext cx="8046720" cy="1082040"/>
          </a:xfrm>
          <a:prstGeom prst="roundRect">
            <a:avLst>
              <a:gd name="adj" fmla="val 10141"/>
            </a:avLst>
          </a:prstGeom>
          <a:solidFill>
            <a:schemeClr val="bg2"/>
          </a:solidFill>
          <a:ln w="12700">
            <a:solidFill>
              <a:schemeClr val="bg2"/>
            </a:solidFill>
            <a:prstDash val="solid"/>
          </a:ln>
        </p:spPr>
      </p:sp>
      <p:sp>
        <p:nvSpPr>
          <p:cNvPr id="5" name="badge"/>
          <p:cNvSpPr/>
          <p:nvPr/>
        </p:nvSpPr>
        <p:spPr>
          <a:xfrm>
            <a:off x="685800" y="136398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506626"/>
            <a:ext cx="263347" cy="263347"/>
          </a:xfrm>
          <a:prstGeom prst="rect">
            <a:avLst/>
          </a:prstGeom>
        </p:spPr>
      </p:pic>
      <p:sp>
        <p:nvSpPr>
          <p:cNvPr id="7" name="Text 3"/>
          <p:cNvSpPr txBox="1"/>
          <p:nvPr/>
        </p:nvSpPr>
        <p:spPr>
          <a:xfrm>
            <a:off x="1463040" y="1097280"/>
            <a:ext cx="6949440" cy="1082040"/>
          </a:xfrm>
          <a:prstGeom prst="rect">
            <a:avLst/>
          </a:prstGeom>
          <a:noFill/>
          <a:ln/>
        </p:spPr>
        <p:txBody>
          <a:bodyPr wrap="square" lIns="0" tIns="0" rIns="0" bIns="0" rtlCol="0" anchor="ctr"/>
          <a:lstStyle/>
          <a:p>
            <a:pPr marL="0" indent="0">
              <a:buNone/>
            </a:pPr>
            <a:r>
              <a:rPr lang="en-US" sz="1700" dirty="0">
                <a:solidFill>
                  <a:schemeClr val="tx1"/>
                </a:solidFill>
              </a:rPr>
              <a:t>Ki has left, and the sleeping sickness has not gone away. How might Baba feel?</a:t>
            </a:r>
            <a:endParaRPr lang="en-US" sz="1700" dirty="0"/>
          </a:p>
        </p:txBody>
      </p:sp>
      <p:sp>
        <p:nvSpPr>
          <p:cNvPr id="8" name="card"/>
          <p:cNvSpPr/>
          <p:nvPr/>
        </p:nvSpPr>
        <p:spPr>
          <a:xfrm>
            <a:off x="548640" y="2316480"/>
            <a:ext cx="8046720" cy="1082040"/>
          </a:xfrm>
          <a:prstGeom prst="roundRect">
            <a:avLst>
              <a:gd name="adj" fmla="val 10141"/>
            </a:avLst>
          </a:prstGeom>
          <a:solidFill>
            <a:schemeClr val="bg2"/>
          </a:solidFill>
          <a:ln w="12700">
            <a:solidFill>
              <a:schemeClr val="bg2"/>
            </a:solidFill>
            <a:prstDash val="solid"/>
          </a:ln>
        </p:spPr>
      </p:sp>
      <p:sp>
        <p:nvSpPr>
          <p:cNvPr id="9" name="badge"/>
          <p:cNvSpPr/>
          <p:nvPr/>
        </p:nvSpPr>
        <p:spPr>
          <a:xfrm>
            <a:off x="685800" y="258318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725826"/>
            <a:ext cx="263347" cy="263347"/>
          </a:xfrm>
          <a:prstGeom prst="rect">
            <a:avLst/>
          </a:prstGeom>
        </p:spPr>
      </p:pic>
      <p:sp>
        <p:nvSpPr>
          <p:cNvPr id="11" name="Text 6"/>
          <p:cNvSpPr txBox="1"/>
          <p:nvPr/>
        </p:nvSpPr>
        <p:spPr>
          <a:xfrm>
            <a:off x="1463040" y="2316480"/>
            <a:ext cx="6949440" cy="1082040"/>
          </a:xfrm>
          <a:prstGeom prst="rect">
            <a:avLst/>
          </a:prstGeom>
          <a:noFill/>
          <a:ln/>
        </p:spPr>
        <p:txBody>
          <a:bodyPr wrap="square" lIns="0" tIns="0" rIns="0" bIns="0" rtlCol="0" anchor="ctr"/>
          <a:lstStyle/>
          <a:p>
            <a:pPr marL="0" indent="0">
              <a:buNone/>
            </a:pPr>
            <a:r>
              <a:rPr lang="en-US" sz="1700" dirty="0">
                <a:solidFill>
                  <a:schemeClr val="tx1"/>
                </a:solidFill>
              </a:rPr>
              <a:t>What might Baba do next to find out what is wrong with the city?</a:t>
            </a:r>
            <a:endParaRPr lang="en-US" sz="1700" dirty="0"/>
          </a:p>
        </p:txBody>
      </p:sp>
      <p:sp>
        <p:nvSpPr>
          <p:cNvPr id="12" name="card"/>
          <p:cNvSpPr/>
          <p:nvPr/>
        </p:nvSpPr>
        <p:spPr>
          <a:xfrm>
            <a:off x="548640" y="3535680"/>
            <a:ext cx="8046720" cy="1082040"/>
          </a:xfrm>
          <a:prstGeom prst="roundRect">
            <a:avLst>
              <a:gd name="adj" fmla="val 10141"/>
            </a:avLst>
          </a:prstGeom>
          <a:solidFill>
            <a:schemeClr val="bg2"/>
          </a:solidFill>
          <a:ln w="12700">
            <a:solidFill>
              <a:schemeClr val="bg2"/>
            </a:solidFill>
            <a:prstDash val="solid"/>
          </a:ln>
        </p:spPr>
      </p:sp>
      <p:sp>
        <p:nvSpPr>
          <p:cNvPr id="13" name="badge"/>
          <p:cNvSpPr/>
          <p:nvPr/>
        </p:nvSpPr>
        <p:spPr>
          <a:xfrm>
            <a:off x="685800" y="380238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945026"/>
            <a:ext cx="263347" cy="263347"/>
          </a:xfrm>
          <a:prstGeom prst="rect">
            <a:avLst/>
          </a:prstGeom>
        </p:spPr>
      </p:pic>
      <p:sp>
        <p:nvSpPr>
          <p:cNvPr id="15" name="Text 9"/>
          <p:cNvSpPr txBox="1"/>
          <p:nvPr/>
        </p:nvSpPr>
        <p:spPr>
          <a:xfrm>
            <a:off x="1463040" y="3535680"/>
            <a:ext cx="6949440" cy="1082040"/>
          </a:xfrm>
          <a:prstGeom prst="rect">
            <a:avLst/>
          </a:prstGeom>
          <a:noFill/>
          <a:ln/>
        </p:spPr>
        <p:txBody>
          <a:bodyPr wrap="square" lIns="0" tIns="0" rIns="0" bIns="0" rtlCol="0" anchor="ctr"/>
          <a:lstStyle/>
          <a:p>
            <a:pPr marL="0" indent="0">
              <a:buNone/>
            </a:pPr>
            <a:r>
              <a:rPr lang="en-US" sz="1700" dirty="0">
                <a:solidFill>
                  <a:schemeClr val="tx1"/>
                </a:solidFill>
              </a:rPr>
              <a:t>Use the frame: 'I predict that ___ because ___.'</a:t>
            </a:r>
            <a:endParaRPr lang="en-US" sz="17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predict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500" b="1" dirty="0">
                <a:solidFill>
                  <a:schemeClr val="tx1"/>
                </a:solidFill>
              </a:rPr>
              <a:t>Sample:</a:t>
            </a:r>
            <a:r>
              <a:rPr lang="en-US" sz="1500" dirty="0">
                <a:solidFill>
                  <a:schemeClr val="tx1"/>
                </a:solidFill>
              </a:rPr>
              <a:t> 'Baba will feel guilty and afraid, because she told everybody to stay.'</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500" b="1" dirty="0">
                <a:solidFill>
                  <a:schemeClr val="tx1"/>
                </a:solidFill>
              </a:rPr>
              <a:t>Sample:</a:t>
            </a:r>
            <a:r>
              <a:rPr lang="en-US" sz="1500" dirty="0">
                <a:solidFill>
                  <a:schemeClr val="tx1"/>
                </a:solidFill>
              </a:rPr>
              <a:t> 'I predict she will investigate the city, because it is the only thing that has changed.'</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marL="0" indent="0">
              <a:buNone/>
            </a:pPr>
            <a:r>
              <a:rPr lang="en-US" sz="1500" b="1" dirty="0">
                <a:solidFill>
                  <a:schemeClr val="tx1"/>
                </a:solidFill>
              </a:rPr>
              <a:t>Good predictions</a:t>
            </a:r>
            <a:r>
              <a:rPr lang="en-US" sz="1500" dirty="0">
                <a:solidFill>
                  <a:schemeClr val="tx1"/>
                </a:solidFill>
              </a:rPr>
              <a:t> always include 'because' and a reason from the story so far.</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What is tension?</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4"/>
          </a:solidFill>
          <a:ln w="12700">
            <a:solidFill>
              <a:schemeClr val="accent4"/>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marL="0" indent="0" algn="ctr">
              <a:buNone/>
            </a:pPr>
            <a:r>
              <a:rPr lang="en-US" sz="1800" b="1" dirty="0">
                <a:solidFill>
                  <a:schemeClr val="bg1"/>
                </a:solidFill>
              </a:rPr>
              <a:t>Tension</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marL="0" indent="0">
              <a:spcAft>
                <a:spcPts val="800"/>
              </a:spcAft>
              <a:buNone/>
            </a:pPr>
            <a:r>
              <a:rPr lang="en-US" sz="1500" dirty="0">
                <a:solidFill>
                  <a:schemeClr val="tx1"/>
                </a:solidFill>
              </a:rPr>
              <a:t>The </a:t>
            </a:r>
            <a:r>
              <a:rPr lang="en-US" sz="1500" b="1" dirty="0">
                <a:solidFill>
                  <a:schemeClr val="tx1"/>
                </a:solidFill>
                <a:highlight>
                  <a:srgbClr val="FFD27F"/>
                </a:highlight>
              </a:rPr>
              <a:t>worried, edgy feeling</a:t>
            </a:r>
            <a:r>
              <a:rPr lang="en-US" sz="1500" dirty="0">
                <a:solidFill>
                  <a:schemeClr val="tx1"/>
                </a:solidFill>
              </a:rPr>
              <a:t> a reader gets when something bad might happen.</a:t>
            </a:r>
            <a:endParaRPr lang="en-US" sz="1600" dirty="0"/>
          </a:p>
          <a:p>
            <a:pPr marL="0" indent="0">
              <a:spcAft>
                <a:spcPts val="800"/>
              </a:spcAft>
              <a:buNone/>
            </a:pPr>
            <a:r>
              <a:rPr lang="en-US" sz="1500" b="1" dirty="0">
                <a:solidFill>
                  <a:schemeClr val="tx1"/>
                </a:solidFill>
                <a:highlight>
                  <a:srgbClr val="FFD27F"/>
                </a:highlight>
              </a:rPr>
              <a:t>Example:</a:t>
            </a:r>
            <a:r>
              <a:rPr lang="en-US" sz="1500" dirty="0">
                <a:solidFill>
                  <a:schemeClr val="tx1"/>
                </a:solidFill>
              </a:rPr>
              <a:t> a creaking door in a dark house.</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2"/>
          </a:solidFill>
          <a:ln w="12700">
            <a:solidFill>
              <a:schemeClr val="accent2"/>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marL="0" indent="0" algn="ctr">
              <a:buNone/>
            </a:pPr>
            <a:r>
              <a:rPr lang="en-US" sz="1800" b="1" dirty="0">
                <a:solidFill>
                  <a:schemeClr val="bg1"/>
                </a:solidFill>
              </a:rPr>
              <a:t>Suspense</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marL="0" indent="0">
              <a:spcAft>
                <a:spcPts val="800"/>
              </a:spcAft>
              <a:buNone/>
            </a:pPr>
            <a:r>
              <a:rPr lang="en-US" sz="1500" dirty="0">
                <a:solidFill>
                  <a:schemeClr val="tx1"/>
                </a:solidFill>
              </a:rPr>
              <a:t>The author makes the reader </a:t>
            </a:r>
            <a:r>
              <a:rPr lang="en-US" sz="1500" b="1" dirty="0">
                <a:solidFill>
                  <a:schemeClr val="tx1"/>
                </a:solidFill>
                <a:highlight>
                  <a:srgbClr val="FFD27F"/>
                </a:highlight>
              </a:rPr>
              <a:t>wait</a:t>
            </a:r>
            <a:r>
              <a:rPr lang="en-US" sz="1500" dirty="0">
                <a:solidFill>
                  <a:schemeClr val="tx1"/>
                </a:solidFill>
              </a:rPr>
              <a:t> to find out.</a:t>
            </a:r>
            <a:endParaRPr lang="en-US" sz="1600" dirty="0"/>
          </a:p>
          <a:p>
            <a:pPr marL="0" indent="0">
              <a:spcAft>
                <a:spcPts val="800"/>
              </a:spcAft>
              <a:buNone/>
            </a:pPr>
            <a:r>
              <a:rPr lang="en-US" sz="1500" b="1" dirty="0">
                <a:solidFill>
                  <a:schemeClr val="tx1"/>
                </a:solidFill>
                <a:highlight>
                  <a:srgbClr val="FFD27F"/>
                </a:highlight>
              </a:rPr>
              <a:t>Example:</a:t>
            </a:r>
            <a:r>
              <a:rPr lang="en-US" sz="1500" dirty="0">
                <a:solidFill>
                  <a:schemeClr val="tx1"/>
                </a:solidFill>
              </a:rPr>
              <a:t> ending a chapter just before the answer is revealed.</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Tension is not only for horror. It is part of every good adventure.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Four ways authors build tension</a:t>
            </a:r>
            <a:endParaRPr lang="en-US" sz="3000" dirty="0"/>
          </a:p>
        </p:txBody>
      </p:sp>
      <p:sp>
        <p:nvSpPr>
          <p:cNvPr id="4" name="card"/>
          <p:cNvSpPr/>
          <p:nvPr/>
        </p:nvSpPr>
        <p:spPr>
          <a:xfrm>
            <a:off x="548640" y="1097280"/>
            <a:ext cx="395478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3589020" cy="365760"/>
          </a:xfrm>
          <a:prstGeom prst="rect">
            <a:avLst/>
          </a:prstGeom>
          <a:noFill/>
          <a:ln/>
        </p:spPr>
        <p:txBody>
          <a:bodyPr wrap="square" lIns="0" tIns="0" rIns="0" bIns="0" rtlCol="0" anchor="t"/>
          <a:lstStyle/>
          <a:p>
            <a:pPr marL="0" indent="0">
              <a:buNone/>
            </a:pPr>
            <a:r>
              <a:rPr lang="en-US" sz="1600" b="1" dirty="0">
                <a:solidFill>
                  <a:schemeClr val="accent4"/>
                </a:solidFill>
              </a:rPr>
              <a:t>Short sentences</a:t>
            </a:r>
            <a:endParaRPr lang="en-US" sz="1600" dirty="0"/>
          </a:p>
        </p:txBody>
      </p:sp>
      <p:sp>
        <p:nvSpPr>
          <p:cNvPr id="6" name="Text 3"/>
          <p:cNvSpPr txBox="1"/>
          <p:nvPr/>
        </p:nvSpPr>
        <p:spPr>
          <a:xfrm>
            <a:off x="73152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Quick, clipped sentences feel tense and make the reader slow down.</a:t>
            </a:r>
            <a:endParaRPr lang="en-US" sz="1400" dirty="0"/>
          </a:p>
        </p:txBody>
      </p:sp>
      <p:sp>
        <p:nvSpPr>
          <p:cNvPr id="7" name="card"/>
          <p:cNvSpPr/>
          <p:nvPr/>
        </p:nvSpPr>
        <p:spPr>
          <a:xfrm>
            <a:off x="4640580" y="1097280"/>
            <a:ext cx="395478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4823460" y="1188720"/>
            <a:ext cx="3589020" cy="365760"/>
          </a:xfrm>
          <a:prstGeom prst="rect">
            <a:avLst/>
          </a:prstGeom>
          <a:noFill/>
          <a:ln/>
        </p:spPr>
        <p:txBody>
          <a:bodyPr wrap="square" lIns="0" tIns="0" rIns="0" bIns="0" rtlCol="0" anchor="t"/>
          <a:lstStyle/>
          <a:p>
            <a:pPr marL="0" indent="0">
              <a:buNone/>
            </a:pPr>
            <a:r>
              <a:rPr lang="en-US" sz="1600" b="1" dirty="0">
                <a:solidFill>
                  <a:schemeClr val="accent2"/>
                </a:solidFill>
              </a:rPr>
              <a:t>Ordinary things turn strange</a:t>
            </a:r>
            <a:endParaRPr lang="en-US" sz="1600" dirty="0"/>
          </a:p>
        </p:txBody>
      </p:sp>
      <p:sp>
        <p:nvSpPr>
          <p:cNvPr id="9" name="Text 6"/>
          <p:cNvSpPr txBox="1"/>
          <p:nvPr/>
        </p:nvSpPr>
        <p:spPr>
          <a:xfrm>
            <a:off x="4823460" y="1600200"/>
            <a:ext cx="3589020" cy="1097280"/>
          </a:xfrm>
          <a:prstGeom prst="rect">
            <a:avLst/>
          </a:prstGeom>
          <a:noFill/>
          <a:ln/>
        </p:spPr>
        <p:txBody>
          <a:bodyPr wrap="square" lIns="0" tIns="0" rIns="0" bIns="0" rtlCol="0" anchor="t"/>
          <a:lstStyle/>
          <a:p>
            <a:pPr marL="0" indent="0">
              <a:buNone/>
            </a:pPr>
            <a:r>
              <a:rPr lang="en-US" sz="1400" dirty="0">
                <a:solidFill>
                  <a:schemeClr val="tx1"/>
                </a:solidFill>
              </a:rPr>
              <a:t>Flowers, walls and water seem to listen or watch.</a:t>
            </a:r>
            <a:endParaRPr lang="en-US" sz="1400" dirty="0"/>
          </a:p>
        </p:txBody>
      </p:sp>
      <p:sp>
        <p:nvSpPr>
          <p:cNvPr id="10" name="card"/>
          <p:cNvSpPr/>
          <p:nvPr/>
        </p:nvSpPr>
        <p:spPr>
          <a:xfrm>
            <a:off x="548640" y="2926080"/>
            <a:ext cx="395478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731520" y="3017520"/>
            <a:ext cx="3589020" cy="365760"/>
          </a:xfrm>
          <a:prstGeom prst="rect">
            <a:avLst/>
          </a:prstGeom>
          <a:noFill/>
          <a:ln/>
        </p:spPr>
        <p:txBody>
          <a:bodyPr wrap="square" lIns="0" tIns="0" rIns="0" bIns="0" rtlCol="0" anchor="t"/>
          <a:lstStyle/>
          <a:p>
            <a:pPr marL="0" indent="0">
              <a:buNone/>
            </a:pPr>
            <a:r>
              <a:rPr lang="en-US" sz="1600" b="1" dirty="0">
                <a:solidFill>
                  <a:schemeClr val="accent3"/>
                </a:solidFill>
              </a:rPr>
              <a:t>Time running out</a:t>
            </a:r>
            <a:endParaRPr lang="en-US" sz="1600" dirty="0"/>
          </a:p>
        </p:txBody>
      </p:sp>
      <p:sp>
        <p:nvSpPr>
          <p:cNvPr id="12" name="Text 9"/>
          <p:cNvSpPr txBox="1"/>
          <p:nvPr/>
        </p:nvSpPr>
        <p:spPr>
          <a:xfrm>
            <a:off x="73152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A deadline or growing danger makes the reader want to know what happens.</a:t>
            </a:r>
            <a:endParaRPr lang="en-US" sz="1400" dirty="0"/>
          </a:p>
        </p:txBody>
      </p:sp>
      <p:sp>
        <p:nvSpPr>
          <p:cNvPr id="13" name="card"/>
          <p:cNvSpPr/>
          <p:nvPr/>
        </p:nvSpPr>
        <p:spPr>
          <a:xfrm>
            <a:off x="4640580" y="2926080"/>
            <a:ext cx="395478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4823460" y="3017520"/>
            <a:ext cx="3589020" cy="365760"/>
          </a:xfrm>
          <a:prstGeom prst="rect">
            <a:avLst/>
          </a:prstGeom>
          <a:noFill/>
          <a:ln/>
        </p:spPr>
        <p:txBody>
          <a:bodyPr wrap="square" lIns="0" tIns="0" rIns="0" bIns="0" rtlCol="0" anchor="t"/>
          <a:lstStyle/>
          <a:p>
            <a:pPr marL="0" indent="0">
              <a:buNone/>
            </a:pPr>
            <a:r>
              <a:rPr lang="en-US" sz="1600" b="1" dirty="0">
                <a:solidFill>
                  <a:schemeClr val="accent5"/>
                </a:solidFill>
              </a:rPr>
              <a:t>Fear in the dialogue</a:t>
            </a:r>
            <a:endParaRPr lang="en-US" sz="1600" dirty="0"/>
          </a:p>
        </p:txBody>
      </p:sp>
      <p:sp>
        <p:nvSpPr>
          <p:cNvPr id="15" name="Text 12"/>
          <p:cNvSpPr txBox="1"/>
          <p:nvPr/>
        </p:nvSpPr>
        <p:spPr>
          <a:xfrm>
            <a:off x="4823460" y="3429000"/>
            <a:ext cx="3589020" cy="1097280"/>
          </a:xfrm>
          <a:prstGeom prst="rect">
            <a:avLst/>
          </a:prstGeom>
          <a:noFill/>
          <a:ln/>
        </p:spPr>
        <p:txBody>
          <a:bodyPr wrap="square" lIns="0" tIns="0" rIns="0" bIns="0" rtlCol="0" anchor="t"/>
          <a:lstStyle/>
          <a:p>
            <a:pPr marL="0" indent="0">
              <a:buNone/>
            </a:pPr>
            <a:r>
              <a:rPr lang="en-US" sz="1400" dirty="0">
                <a:solidFill>
                  <a:schemeClr val="tx1"/>
                </a:solidFill>
              </a:rPr>
              <a:t>Whispers, interruptions and shouted warnings show the characters are afraid.</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Language spotlight: tension in the words</a:t>
            </a:r>
            <a:endParaRPr lang="en-US" sz="3000" dirty="0"/>
          </a:p>
        </p:txBody>
      </p:sp>
      <p:sp>
        <p:nvSpPr>
          <p:cNvPr id="4" name="card"/>
          <p:cNvSpPr/>
          <p:nvPr/>
        </p:nvSpPr>
        <p:spPr>
          <a:xfrm>
            <a:off x="548640" y="1097280"/>
            <a:ext cx="8046720" cy="1051560"/>
          </a:xfrm>
          <a:prstGeom prst="roundRect">
            <a:avLst>
              <a:gd name="adj" fmla="val 10435"/>
            </a:avLst>
          </a:prstGeom>
          <a:solidFill>
            <a:schemeClr val="bg2"/>
          </a:solidFill>
          <a:ln w="12700">
            <a:solidFill>
              <a:schemeClr val="bg2"/>
            </a:solidFill>
            <a:prstDash val="solid"/>
          </a:ln>
        </p:spPr>
      </p:sp>
      <p:sp>
        <p:nvSpPr>
          <p:cNvPr id="5" name="Text 2"/>
          <p:cNvSpPr txBox="1"/>
          <p:nvPr/>
        </p:nvSpPr>
        <p:spPr>
          <a:xfrm>
            <a:off x="777240" y="1170432"/>
            <a:ext cx="3474720" cy="457200"/>
          </a:xfrm>
          <a:prstGeom prst="rect">
            <a:avLst/>
          </a:prstGeom>
          <a:noFill/>
          <a:ln/>
        </p:spPr>
        <p:txBody>
          <a:bodyPr wrap="square" lIns="0" tIns="0" rIns="0" bIns="0" rtlCol="0" anchor="t"/>
          <a:lstStyle/>
          <a:p>
            <a:pPr marL="0" indent="0">
              <a:buNone/>
            </a:pPr>
            <a:r>
              <a:rPr lang="en-US" sz="1500" b="1" dirty="0">
                <a:solidFill>
                  <a:schemeClr val="accent4"/>
                </a:solidFill>
              </a:rPr>
              <a:t>'No bird sang. No breeze blew.'</a:t>
            </a:r>
            <a:endParaRPr lang="en-US" sz="1500" dirty="0"/>
          </a:p>
        </p:txBody>
      </p:sp>
      <p:sp>
        <p:nvSpPr>
          <p:cNvPr id="6" name="Text 3"/>
          <p:cNvSpPr txBox="1"/>
          <p:nvPr/>
        </p:nvSpPr>
        <p:spPr>
          <a:xfrm>
            <a:off x="777240" y="1691640"/>
            <a:ext cx="3200400" cy="365760"/>
          </a:xfrm>
          <a:prstGeom prst="rect">
            <a:avLst/>
          </a:prstGeom>
          <a:noFill/>
          <a:ln/>
        </p:spPr>
        <p:txBody>
          <a:bodyPr wrap="square" lIns="0" tIns="0" rIns="0" bIns="0" rtlCol="0" anchor="t"/>
          <a:lstStyle/>
          <a:p>
            <a:pPr marL="0" indent="0">
              <a:buNone/>
            </a:pPr>
            <a:r>
              <a:rPr lang="en-US" sz="1300" i="1" dirty="0">
                <a:solidFill>
                  <a:schemeClr val="tx1"/>
                </a:solidFill>
              </a:rPr>
              <a:t>pp. 94-95</a:t>
            </a:r>
            <a:endParaRPr lang="en-US" sz="1300" dirty="0"/>
          </a:p>
        </p:txBody>
      </p:sp>
      <p:sp>
        <p:nvSpPr>
          <p:cNvPr id="7" name="Text 4"/>
          <p:cNvSpPr txBox="1"/>
          <p:nvPr/>
        </p:nvSpPr>
        <p:spPr>
          <a:xfrm>
            <a:off x="4297680" y="1097280"/>
            <a:ext cx="4114800" cy="1051560"/>
          </a:xfrm>
          <a:prstGeom prst="rect">
            <a:avLst/>
          </a:prstGeom>
          <a:noFill/>
          <a:ln/>
        </p:spPr>
        <p:txBody>
          <a:bodyPr wrap="square" lIns="0" tIns="0" rIns="0" bIns="0" rtlCol="0" anchor="ctr"/>
          <a:lstStyle/>
          <a:p>
            <a:pPr marL="0" indent="0">
              <a:buNone/>
            </a:pPr>
            <a:r>
              <a:rPr lang="en-US" sz="1500" dirty="0">
                <a:solidFill>
                  <a:schemeClr val="tx1"/>
                </a:solidFill>
              </a:rPr>
              <a:t>Very short sentences. The </a:t>
            </a:r>
            <a:r>
              <a:rPr lang="en-US" sz="1500" b="1" dirty="0">
                <a:solidFill>
                  <a:schemeClr val="tx1"/>
                </a:solidFill>
                <a:highlight>
                  <a:srgbClr val="FFD27F"/>
                </a:highlight>
              </a:rPr>
              <a:t>silence</a:t>
            </a:r>
            <a:r>
              <a:rPr lang="en-US" sz="1500" dirty="0">
                <a:solidFill>
                  <a:schemeClr val="tx1"/>
                </a:solidFill>
              </a:rPr>
              <a:t> feels eerie and wrong.</a:t>
            </a:r>
            <a:endParaRPr lang="en-US" sz="1600" dirty="0"/>
          </a:p>
        </p:txBody>
      </p:sp>
      <p:sp>
        <p:nvSpPr>
          <p:cNvPr id="8" name="card"/>
          <p:cNvSpPr/>
          <p:nvPr/>
        </p:nvSpPr>
        <p:spPr>
          <a:xfrm>
            <a:off x="548640" y="2286000"/>
            <a:ext cx="8046720" cy="1051560"/>
          </a:xfrm>
          <a:prstGeom prst="roundRect">
            <a:avLst>
              <a:gd name="adj" fmla="val 10435"/>
            </a:avLst>
          </a:prstGeom>
          <a:solidFill>
            <a:schemeClr val="bg2"/>
          </a:solidFill>
          <a:ln w="12700">
            <a:solidFill>
              <a:schemeClr val="bg2"/>
            </a:solidFill>
            <a:prstDash val="solid"/>
          </a:ln>
        </p:spPr>
      </p:sp>
      <p:sp>
        <p:nvSpPr>
          <p:cNvPr id="9" name="Text 6"/>
          <p:cNvSpPr txBox="1"/>
          <p:nvPr/>
        </p:nvSpPr>
        <p:spPr>
          <a:xfrm>
            <a:off x="777240" y="2359152"/>
            <a:ext cx="3474720" cy="457200"/>
          </a:xfrm>
          <a:prstGeom prst="rect">
            <a:avLst/>
          </a:prstGeom>
          <a:noFill/>
          <a:ln/>
        </p:spPr>
        <p:txBody>
          <a:bodyPr wrap="square" lIns="0" tIns="0" rIns="0" bIns="0" rtlCol="0" anchor="t"/>
          <a:lstStyle/>
          <a:p>
            <a:pPr marL="0" indent="0">
              <a:buNone/>
            </a:pPr>
            <a:r>
              <a:rPr lang="en-US" sz="1500" b="1" dirty="0">
                <a:solidFill>
                  <a:schemeClr val="accent2"/>
                </a:solidFill>
              </a:rPr>
              <a:t>'Even the flowers seemed to mock her.'</a:t>
            </a:r>
            <a:endParaRPr lang="en-US" sz="1500" dirty="0"/>
          </a:p>
        </p:txBody>
      </p:sp>
      <p:sp>
        <p:nvSpPr>
          <p:cNvPr id="10" name="Text 7"/>
          <p:cNvSpPr txBox="1"/>
          <p:nvPr/>
        </p:nvSpPr>
        <p:spPr>
          <a:xfrm>
            <a:off x="777240" y="2880360"/>
            <a:ext cx="3200400" cy="365760"/>
          </a:xfrm>
          <a:prstGeom prst="rect">
            <a:avLst/>
          </a:prstGeom>
          <a:noFill/>
          <a:ln/>
        </p:spPr>
        <p:txBody>
          <a:bodyPr wrap="square" lIns="0" tIns="0" rIns="0" bIns="0" rtlCol="0" anchor="t"/>
          <a:lstStyle/>
          <a:p>
            <a:pPr marL="0" indent="0">
              <a:buNone/>
            </a:pPr>
            <a:r>
              <a:rPr lang="en-US" sz="1300" i="1" dirty="0">
                <a:solidFill>
                  <a:schemeClr val="tx1"/>
                </a:solidFill>
              </a:rPr>
              <a:t>pp. 98-99</a:t>
            </a:r>
            <a:endParaRPr lang="en-US" sz="1300" dirty="0"/>
          </a:p>
        </p:txBody>
      </p:sp>
      <p:sp>
        <p:nvSpPr>
          <p:cNvPr id="11" name="Text 8"/>
          <p:cNvSpPr txBox="1"/>
          <p:nvPr/>
        </p:nvSpPr>
        <p:spPr>
          <a:xfrm>
            <a:off x="4297680" y="2286000"/>
            <a:ext cx="4114800" cy="1051560"/>
          </a:xfrm>
          <a:prstGeom prst="rect">
            <a:avLst/>
          </a:prstGeom>
          <a:noFill/>
          <a:ln/>
        </p:spPr>
        <p:txBody>
          <a:bodyPr wrap="square" lIns="0" tIns="0" rIns="0" bIns="0" rtlCol="0" anchor="ctr"/>
          <a:lstStyle/>
          <a:p>
            <a:pPr marL="0" indent="0">
              <a:buNone/>
            </a:pPr>
            <a:r>
              <a:rPr lang="en-US" sz="1500" dirty="0">
                <a:solidFill>
                  <a:schemeClr val="tx1"/>
                </a:solidFill>
              </a:rPr>
              <a:t>Personification. The flowers seem to </a:t>
            </a:r>
            <a:r>
              <a:rPr lang="en-US" sz="1500" b="1" dirty="0">
                <a:solidFill>
                  <a:schemeClr val="tx1"/>
                </a:solidFill>
                <a:highlight>
                  <a:srgbClr val="FFD27F"/>
                </a:highlight>
              </a:rPr>
              <a:t>laugh</a:t>
            </a:r>
            <a:r>
              <a:rPr lang="en-US" sz="1500" dirty="0">
                <a:solidFill>
                  <a:schemeClr val="tx1"/>
                </a:solidFill>
              </a:rPr>
              <a:t> at Baba, so the city feels alive.</a:t>
            </a:r>
            <a:endParaRPr lang="en-US" sz="1600" dirty="0"/>
          </a:p>
        </p:txBody>
      </p:sp>
      <p:sp>
        <p:nvSpPr>
          <p:cNvPr id="12" name="card"/>
          <p:cNvSpPr/>
          <p:nvPr/>
        </p:nvSpPr>
        <p:spPr>
          <a:xfrm>
            <a:off x="548640" y="3474720"/>
            <a:ext cx="8046720" cy="1051560"/>
          </a:xfrm>
          <a:prstGeom prst="roundRect">
            <a:avLst>
              <a:gd name="adj" fmla="val 10435"/>
            </a:avLst>
          </a:prstGeom>
          <a:solidFill>
            <a:schemeClr val="bg2"/>
          </a:solidFill>
          <a:ln w="12700">
            <a:solidFill>
              <a:schemeClr val="bg2"/>
            </a:solidFill>
            <a:prstDash val="solid"/>
          </a:ln>
        </p:spPr>
      </p:sp>
      <p:sp>
        <p:nvSpPr>
          <p:cNvPr id="13" name="Text 10"/>
          <p:cNvSpPr txBox="1"/>
          <p:nvPr/>
        </p:nvSpPr>
        <p:spPr>
          <a:xfrm>
            <a:off x="777240" y="3547872"/>
            <a:ext cx="3474720" cy="457200"/>
          </a:xfrm>
          <a:prstGeom prst="rect">
            <a:avLst/>
          </a:prstGeom>
          <a:noFill/>
          <a:ln/>
        </p:spPr>
        <p:txBody>
          <a:bodyPr wrap="square" lIns="0" tIns="0" rIns="0" bIns="0" rtlCol="0" anchor="t"/>
          <a:lstStyle/>
          <a:p>
            <a:pPr marL="0" indent="0">
              <a:buNone/>
            </a:pPr>
            <a:r>
              <a:rPr lang="en-US" sz="1500" b="1" dirty="0">
                <a:solidFill>
                  <a:schemeClr val="accent3"/>
                </a:solidFill>
              </a:rPr>
              <a:t>'A long, hissing shadow raced towards them'</a:t>
            </a:r>
            <a:endParaRPr lang="en-US" sz="1500" dirty="0"/>
          </a:p>
        </p:txBody>
      </p:sp>
      <p:sp>
        <p:nvSpPr>
          <p:cNvPr id="14" name="Text 11"/>
          <p:cNvSpPr txBox="1"/>
          <p:nvPr/>
        </p:nvSpPr>
        <p:spPr>
          <a:xfrm>
            <a:off x="777240" y="4069080"/>
            <a:ext cx="3200400" cy="365760"/>
          </a:xfrm>
          <a:prstGeom prst="rect">
            <a:avLst/>
          </a:prstGeom>
          <a:noFill/>
          <a:ln/>
        </p:spPr>
        <p:txBody>
          <a:bodyPr wrap="square" lIns="0" tIns="0" rIns="0" bIns="0" rtlCol="0" anchor="t"/>
          <a:lstStyle/>
          <a:p>
            <a:pPr marL="0" indent="0">
              <a:buNone/>
            </a:pPr>
            <a:r>
              <a:rPr lang="en-US" sz="1300" i="1" dirty="0">
                <a:solidFill>
                  <a:schemeClr val="tx1"/>
                </a:solidFill>
              </a:rPr>
              <a:t>pp. 120-121</a:t>
            </a:r>
            <a:endParaRPr lang="en-US" sz="1300" dirty="0"/>
          </a:p>
        </p:txBody>
      </p:sp>
      <p:sp>
        <p:nvSpPr>
          <p:cNvPr id="15" name="Text 12"/>
          <p:cNvSpPr txBox="1"/>
          <p:nvPr/>
        </p:nvSpPr>
        <p:spPr>
          <a:xfrm>
            <a:off x="4297680" y="3474720"/>
            <a:ext cx="4114800" cy="1051560"/>
          </a:xfrm>
          <a:prstGeom prst="rect">
            <a:avLst/>
          </a:prstGeom>
          <a:noFill/>
          <a:ln/>
        </p:spPr>
        <p:txBody>
          <a:bodyPr wrap="square" lIns="0" tIns="0" rIns="0" bIns="0" rtlCol="0" anchor="ctr"/>
          <a:lstStyle/>
          <a:p>
            <a:pPr marL="0" indent="0">
              <a:buNone/>
            </a:pPr>
            <a:r>
              <a:rPr lang="en-US" sz="1500" dirty="0">
                <a:solidFill>
                  <a:schemeClr val="tx1"/>
                </a:solidFill>
              </a:rPr>
              <a:t>A </a:t>
            </a:r>
            <a:r>
              <a:rPr lang="en-US" sz="1500" b="1" dirty="0">
                <a:solidFill>
                  <a:schemeClr val="tx1"/>
                </a:solidFill>
                <a:highlight>
                  <a:srgbClr val="FFD27F"/>
                </a:highlight>
              </a:rPr>
              <a:t>strong verb</a:t>
            </a:r>
            <a:r>
              <a:rPr lang="en-US" sz="1500" dirty="0">
                <a:solidFill>
                  <a:schemeClr val="tx1"/>
                </a:solidFill>
              </a:rPr>
              <a:t> and sound word. The danger feels fast and frightening.</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Showing how a character changes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260604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11480">
                <a:tc>
                  <a:txBody>
                    <a:bodyPr/>
                    <a:lstStyle/>
                    <a:p>
                      <a:pPr marL="0" indent="0" algn="ctr">
                        <a:buNone/>
                      </a:pP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Earlier in the story</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In pp. 92-130</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731520">
                <a:tc>
                  <a:txBody>
                    <a:bodyPr/>
                    <a:lstStyle/>
                    <a:p>
                      <a:pPr marL="0" indent="0">
                        <a:buNone/>
                      </a:pPr>
                      <a:r>
                        <a:rPr lang="en-US" sz="1250" b="1" dirty="0">
                          <a:solidFill>
                            <a:srgbClr val="1F1B3A"/>
                          </a:solidFill>
                        </a:rPr>
                        <a:t>How Baba sees herself</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Proud. She wants to prove she is a good leader</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She blames herself: 'it was all her fault'</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731520">
                <a:tc>
                  <a:txBody>
                    <a:bodyPr/>
                    <a:lstStyle/>
                    <a:p>
                      <a:pPr marL="0" indent="0">
                        <a:buNone/>
                      </a:pPr>
                      <a:r>
                        <a:rPr lang="en-US" sz="1250" b="1" dirty="0">
                          <a:solidFill>
                            <a:srgbClr val="1F1B3A"/>
                          </a:solidFill>
                        </a:rPr>
                        <a:t>How she treats her mother's story</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Pushes it away and calls it superstition</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Stays by her mother and fears for her</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731520">
                <a:tc>
                  <a:txBody>
                    <a:bodyPr/>
                    <a:lstStyle/>
                    <a:p>
                      <a:pPr marL="0" indent="0">
                        <a:buNone/>
                      </a:pPr>
                      <a:r>
                        <a:rPr lang="en-US" sz="1250" b="1" dirty="0">
                          <a:solidFill>
                            <a:srgbClr val="1F1B3A"/>
                          </a:solidFill>
                        </a:rPr>
                        <a:t>How she leads</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Keeps the people in the city</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50" dirty="0">
                          <a:solidFill>
                            <a:srgbClr val="1F1B3A"/>
                          </a:solidFill>
                        </a:rPr>
                        <a:t>Tells the people to leave, with 'no time to waste'</a:t>
                      </a:r>
                      <a:endParaRPr lang="en-US" sz="125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bl>
          </a:graphicData>
        </a:graphic>
      </p:graphicFrame>
      <p:sp>
        <p:nvSpPr>
          <p:cNvPr id="5"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6" name="Text 2"/>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Prove a change with two quotations: one early and one late.</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Check: what does it show about Baba?</a:t>
            </a:r>
            <a:endParaRPr lang="en-US" sz="3000" dirty="0"/>
          </a:p>
        </p:txBody>
      </p:sp>
      <p:sp>
        <p:nvSpPr>
          <p:cNvPr id="4" name="card"/>
          <p:cNvSpPr/>
          <p:nvPr/>
        </p:nvSpPr>
        <p:spPr>
          <a:xfrm>
            <a:off x="548640" y="1097280"/>
            <a:ext cx="8046720" cy="777240"/>
          </a:xfrm>
          <a:prstGeom prst="roundRect">
            <a:avLst>
              <a:gd name="adj" fmla="val 14118"/>
            </a:avLst>
          </a:prstGeom>
          <a:solidFill>
            <a:schemeClr val="bg2"/>
          </a:solidFill>
          <a:ln w="12700">
            <a:solidFill>
              <a:schemeClr val="bg2"/>
            </a:solidFill>
            <a:prstDash val="solid"/>
          </a:ln>
        </p:spPr>
      </p:sp>
      <p:sp>
        <p:nvSpPr>
          <p:cNvPr id="5" name="badge"/>
          <p:cNvSpPr/>
          <p:nvPr/>
        </p:nvSpPr>
        <p:spPr>
          <a:xfrm>
            <a:off x="685800" y="1211580"/>
            <a:ext cx="548640" cy="548640"/>
          </a:xfrm>
          <a:prstGeom prst="ellipse">
            <a:avLst/>
          </a:prstGeom>
          <a:solidFill>
            <a:schemeClr val="accent4"/>
          </a:solidFill>
          <a:ln w="12700">
            <a:solidFill>
              <a:schemeClr val="accent4"/>
            </a:solidFill>
            <a:prstDash val="solid"/>
          </a:ln>
        </p:spPr>
      </p:sp>
      <p:pic>
        <p:nvPicPr>
          <p:cNvPr id="6" name="icon" descr="question"/>
          <p:cNvPicPr>
            <a:picLocks noChangeAspect="1"/>
          </p:cNvPicPr>
          <p:nvPr/>
        </p:nvPicPr>
        <p:blipFill>
          <a:blip r:embed="rId3"/>
          <a:stretch>
            <a:fillRect/>
          </a:stretch>
        </p:blipFill>
        <p:spPr>
          <a:xfrm>
            <a:off x="828446" y="1354226"/>
            <a:ext cx="263347" cy="263347"/>
          </a:xfrm>
          <a:prstGeom prst="rect">
            <a:avLst/>
          </a:prstGeom>
        </p:spPr>
      </p:pic>
      <p:sp>
        <p:nvSpPr>
          <p:cNvPr id="7" name="Text 3"/>
          <p:cNvSpPr txBox="1"/>
          <p:nvPr/>
        </p:nvSpPr>
        <p:spPr>
          <a:xfrm>
            <a:off x="1463040" y="1097280"/>
            <a:ext cx="6949440" cy="777240"/>
          </a:xfrm>
          <a:prstGeom prst="rect">
            <a:avLst/>
          </a:prstGeom>
          <a:noFill/>
          <a:ln/>
        </p:spPr>
        <p:txBody>
          <a:bodyPr wrap="square" lIns="0" tIns="0" rIns="0" bIns="0" rtlCol="0" anchor="ctr"/>
          <a:lstStyle/>
          <a:p>
            <a:pPr marL="0" indent="0">
              <a:buNone/>
            </a:pPr>
            <a:r>
              <a:rPr lang="en-US" sz="1600" dirty="0">
                <a:solidFill>
                  <a:schemeClr val="tx1"/>
                </a:solidFill>
              </a:rPr>
              <a:t>'It was all her fault.' (p. 99)</a:t>
            </a:r>
            <a:endParaRPr lang="en-US" sz="1600" dirty="0"/>
          </a:p>
        </p:txBody>
      </p:sp>
      <p:sp>
        <p:nvSpPr>
          <p:cNvPr id="8" name="card"/>
          <p:cNvSpPr/>
          <p:nvPr/>
        </p:nvSpPr>
        <p:spPr>
          <a:xfrm>
            <a:off x="548640" y="2011680"/>
            <a:ext cx="8046720" cy="777240"/>
          </a:xfrm>
          <a:prstGeom prst="roundRect">
            <a:avLst>
              <a:gd name="adj" fmla="val 14118"/>
            </a:avLst>
          </a:prstGeom>
          <a:solidFill>
            <a:schemeClr val="bg2"/>
          </a:solidFill>
          <a:ln w="12700">
            <a:solidFill>
              <a:schemeClr val="bg2"/>
            </a:solidFill>
            <a:prstDash val="solid"/>
          </a:ln>
        </p:spPr>
      </p:sp>
      <p:sp>
        <p:nvSpPr>
          <p:cNvPr id="9" name="badge"/>
          <p:cNvSpPr/>
          <p:nvPr/>
        </p:nvSpPr>
        <p:spPr>
          <a:xfrm>
            <a:off x="685800" y="2125980"/>
            <a:ext cx="548640" cy="548640"/>
          </a:xfrm>
          <a:prstGeom prst="ellipse">
            <a:avLst/>
          </a:prstGeom>
          <a:solidFill>
            <a:schemeClr val="accent2"/>
          </a:solidFill>
          <a:ln w="12700">
            <a:solidFill>
              <a:schemeClr val="accent2"/>
            </a:solidFill>
            <a:prstDash val="solid"/>
          </a:ln>
        </p:spPr>
      </p:sp>
      <p:pic>
        <p:nvPicPr>
          <p:cNvPr id="10" name="icon" descr="question"/>
          <p:cNvPicPr>
            <a:picLocks noChangeAspect="1"/>
          </p:cNvPicPr>
          <p:nvPr/>
        </p:nvPicPr>
        <p:blipFill>
          <a:blip r:embed="rId3"/>
          <a:stretch>
            <a:fillRect/>
          </a:stretch>
        </p:blipFill>
        <p:spPr>
          <a:xfrm>
            <a:off x="828446" y="2268626"/>
            <a:ext cx="263347" cy="263347"/>
          </a:xfrm>
          <a:prstGeom prst="rect">
            <a:avLst/>
          </a:prstGeom>
        </p:spPr>
      </p:pic>
      <p:sp>
        <p:nvSpPr>
          <p:cNvPr id="11" name="Text 6"/>
          <p:cNvSpPr txBox="1"/>
          <p:nvPr/>
        </p:nvSpPr>
        <p:spPr>
          <a:xfrm>
            <a:off x="1463040" y="2011680"/>
            <a:ext cx="6949440" cy="777240"/>
          </a:xfrm>
          <a:prstGeom prst="rect">
            <a:avLst/>
          </a:prstGeom>
          <a:noFill/>
          <a:ln/>
        </p:spPr>
        <p:txBody>
          <a:bodyPr wrap="square" lIns="0" tIns="0" rIns="0" bIns="0" rtlCol="0" anchor="ctr"/>
          <a:lstStyle/>
          <a:p>
            <a:pPr marL="0" indent="0">
              <a:buNone/>
            </a:pPr>
            <a:r>
              <a:rPr lang="en-US" sz="1600" dirty="0">
                <a:solidFill>
                  <a:schemeClr val="tx1"/>
                </a:solidFill>
              </a:rPr>
              <a:t>'I'm scared, too,' she said. (p. 119)</a:t>
            </a:r>
            <a:endParaRPr lang="en-US" sz="1600" dirty="0"/>
          </a:p>
        </p:txBody>
      </p:sp>
      <p:sp>
        <p:nvSpPr>
          <p:cNvPr id="12" name="card"/>
          <p:cNvSpPr/>
          <p:nvPr/>
        </p:nvSpPr>
        <p:spPr>
          <a:xfrm>
            <a:off x="548640" y="2926080"/>
            <a:ext cx="8046720" cy="777240"/>
          </a:xfrm>
          <a:prstGeom prst="roundRect">
            <a:avLst>
              <a:gd name="adj" fmla="val 14118"/>
            </a:avLst>
          </a:prstGeom>
          <a:solidFill>
            <a:schemeClr val="bg2"/>
          </a:solidFill>
          <a:ln w="12700">
            <a:solidFill>
              <a:schemeClr val="bg2"/>
            </a:solidFill>
            <a:prstDash val="solid"/>
          </a:ln>
        </p:spPr>
      </p:sp>
      <p:sp>
        <p:nvSpPr>
          <p:cNvPr id="13" name="badge"/>
          <p:cNvSpPr/>
          <p:nvPr/>
        </p:nvSpPr>
        <p:spPr>
          <a:xfrm>
            <a:off x="685800" y="3040380"/>
            <a:ext cx="548640" cy="548640"/>
          </a:xfrm>
          <a:prstGeom prst="ellipse">
            <a:avLst/>
          </a:prstGeom>
          <a:solidFill>
            <a:schemeClr val="accent3"/>
          </a:solidFill>
          <a:ln w="12700">
            <a:solidFill>
              <a:schemeClr val="accent3"/>
            </a:solidFill>
            <a:prstDash val="solid"/>
          </a:ln>
        </p:spPr>
      </p:sp>
      <p:pic>
        <p:nvPicPr>
          <p:cNvPr id="14" name="icon" descr="question"/>
          <p:cNvPicPr>
            <a:picLocks noChangeAspect="1"/>
          </p:cNvPicPr>
          <p:nvPr/>
        </p:nvPicPr>
        <p:blipFill>
          <a:blip r:embed="rId3"/>
          <a:stretch>
            <a:fillRect/>
          </a:stretch>
        </p:blipFill>
        <p:spPr>
          <a:xfrm>
            <a:off x="828446" y="3183026"/>
            <a:ext cx="263347" cy="263347"/>
          </a:xfrm>
          <a:prstGeom prst="rect">
            <a:avLst/>
          </a:prstGeom>
        </p:spPr>
      </p:pic>
      <p:sp>
        <p:nvSpPr>
          <p:cNvPr id="15" name="Text 9"/>
          <p:cNvSpPr txBox="1"/>
          <p:nvPr/>
        </p:nvSpPr>
        <p:spPr>
          <a:xfrm>
            <a:off x="1463040" y="2926080"/>
            <a:ext cx="6949440" cy="777240"/>
          </a:xfrm>
          <a:prstGeom prst="rect">
            <a:avLst/>
          </a:prstGeom>
          <a:noFill/>
          <a:ln/>
        </p:spPr>
        <p:txBody>
          <a:bodyPr wrap="square" lIns="0" tIns="0" rIns="0" bIns="0" rtlCol="0" anchor="ctr"/>
          <a:lstStyle/>
          <a:p>
            <a:pPr marL="0" indent="0">
              <a:buNone/>
            </a:pPr>
            <a:r>
              <a:rPr lang="en-US" sz="1600" dirty="0">
                <a:solidFill>
                  <a:schemeClr val="tx1"/>
                </a:solidFill>
              </a:rPr>
              <a:t>Baba raised her head, 'suddenly sure of herself again'. (p. 109)</a:t>
            </a:r>
            <a:endParaRPr lang="en-US" sz="1600" dirty="0"/>
          </a:p>
        </p:txBody>
      </p:sp>
      <p:sp>
        <p:nvSpPr>
          <p:cNvPr id="16" name="card"/>
          <p:cNvSpPr/>
          <p:nvPr/>
        </p:nvSpPr>
        <p:spPr>
          <a:xfrm>
            <a:off x="548640" y="3840480"/>
            <a:ext cx="8046720" cy="777240"/>
          </a:xfrm>
          <a:prstGeom prst="roundRect">
            <a:avLst>
              <a:gd name="adj" fmla="val 14118"/>
            </a:avLst>
          </a:prstGeom>
          <a:solidFill>
            <a:schemeClr val="bg2"/>
          </a:solidFill>
          <a:ln w="12700">
            <a:solidFill>
              <a:schemeClr val="bg2"/>
            </a:solidFill>
            <a:prstDash val="solid"/>
          </a:ln>
        </p:spPr>
      </p:sp>
      <p:sp>
        <p:nvSpPr>
          <p:cNvPr id="17" name="badge"/>
          <p:cNvSpPr/>
          <p:nvPr/>
        </p:nvSpPr>
        <p:spPr>
          <a:xfrm>
            <a:off x="685800" y="3954780"/>
            <a:ext cx="548640" cy="548640"/>
          </a:xfrm>
          <a:prstGeom prst="ellipse">
            <a:avLst/>
          </a:prstGeom>
          <a:solidFill>
            <a:schemeClr val="accent5"/>
          </a:solidFill>
          <a:ln w="12700">
            <a:solidFill>
              <a:schemeClr val="accent5"/>
            </a:solidFill>
            <a:prstDash val="solid"/>
          </a:ln>
        </p:spPr>
      </p:sp>
      <p:pic>
        <p:nvPicPr>
          <p:cNvPr id="18" name="icon" descr="question"/>
          <p:cNvPicPr>
            <a:picLocks noChangeAspect="1"/>
          </p:cNvPicPr>
          <p:nvPr/>
        </p:nvPicPr>
        <p:blipFill>
          <a:blip r:embed="rId3"/>
          <a:stretch>
            <a:fillRect/>
          </a:stretch>
        </p:blipFill>
        <p:spPr>
          <a:xfrm>
            <a:off x="828446" y="4097426"/>
            <a:ext cx="263347" cy="263347"/>
          </a:xfrm>
          <a:prstGeom prst="rect">
            <a:avLst/>
          </a:prstGeom>
        </p:spPr>
      </p:pic>
      <p:sp>
        <p:nvSpPr>
          <p:cNvPr id="19" name="Text 12"/>
          <p:cNvSpPr txBox="1"/>
          <p:nvPr/>
        </p:nvSpPr>
        <p:spPr>
          <a:xfrm>
            <a:off x="1463040" y="3840480"/>
            <a:ext cx="6949440" cy="777240"/>
          </a:xfrm>
          <a:prstGeom prst="rect">
            <a:avLst/>
          </a:prstGeom>
          <a:noFill/>
          <a:ln/>
        </p:spPr>
        <p:txBody>
          <a:bodyPr wrap="square" lIns="0" tIns="0" rIns="0" bIns="0" rtlCol="0" anchor="ctr"/>
          <a:lstStyle/>
          <a:p>
            <a:pPr marL="0" indent="0">
              <a:buNone/>
            </a:pPr>
            <a:r>
              <a:rPr lang="en-US" sz="1600" dirty="0">
                <a:solidFill>
                  <a:schemeClr val="tx1"/>
                </a:solidFill>
              </a:rPr>
              <a:t>Baba ran back to the group: 'Get everybody out!' (p. 124)</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Answers: what does it show about Baba?</a:t>
            </a:r>
            <a:endParaRPr lang="en-US" sz="3000" dirty="0"/>
          </a:p>
        </p:txBody>
      </p:sp>
      <p:sp>
        <p:nvSpPr>
          <p:cNvPr id="4" name="card"/>
          <p:cNvSpPr/>
          <p:nvPr/>
        </p:nvSpPr>
        <p:spPr>
          <a:xfrm>
            <a:off x="548640" y="1097280"/>
            <a:ext cx="8046720" cy="800100"/>
          </a:xfrm>
          <a:prstGeom prst="roundRect">
            <a:avLst>
              <a:gd name="adj" fmla="val 13714"/>
            </a:avLst>
          </a:prstGeom>
          <a:solidFill>
            <a:schemeClr val="bg2"/>
          </a:solidFill>
          <a:ln w="12700">
            <a:solidFill>
              <a:schemeClr val="bg2"/>
            </a:solidFill>
            <a:prstDash val="solid"/>
          </a:ln>
        </p:spPr>
      </p:sp>
      <p:sp>
        <p:nvSpPr>
          <p:cNvPr id="5" name="number"/>
          <p:cNvSpPr/>
          <p:nvPr/>
        </p:nvSpPr>
        <p:spPr>
          <a:xfrm>
            <a:off x="685800" y="126873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26873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Guilty / responsible.</a:t>
            </a:r>
            <a:r>
              <a:rPr lang="en-US" sz="1400" dirty="0">
                <a:solidFill>
                  <a:schemeClr val="tx1"/>
                </a:solidFill>
              </a:rPr>
              <a:t> She blames herself for bringing her people here.</a:t>
            </a:r>
            <a:endParaRPr lang="en-US" sz="1600" dirty="0"/>
          </a:p>
        </p:txBody>
      </p:sp>
      <p:sp>
        <p:nvSpPr>
          <p:cNvPr id="8" name="card"/>
          <p:cNvSpPr/>
          <p:nvPr/>
        </p:nvSpPr>
        <p:spPr>
          <a:xfrm>
            <a:off x="548640" y="1988820"/>
            <a:ext cx="8046720" cy="800100"/>
          </a:xfrm>
          <a:prstGeom prst="roundRect">
            <a:avLst>
              <a:gd name="adj" fmla="val 13714"/>
            </a:avLst>
          </a:prstGeom>
          <a:solidFill>
            <a:schemeClr val="bg2"/>
          </a:solidFill>
          <a:ln w="12700">
            <a:solidFill>
              <a:schemeClr val="bg2"/>
            </a:solidFill>
            <a:prstDash val="solid"/>
          </a:ln>
        </p:spPr>
      </p:sp>
      <p:sp>
        <p:nvSpPr>
          <p:cNvPr id="9" name="number"/>
          <p:cNvSpPr/>
          <p:nvPr/>
        </p:nvSpPr>
        <p:spPr>
          <a:xfrm>
            <a:off x="685800" y="216027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16027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198882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Honest and brave.</a:t>
            </a:r>
            <a:r>
              <a:rPr lang="en-US" sz="1400" dirty="0">
                <a:solidFill>
                  <a:schemeClr val="tx1"/>
                </a:solidFill>
              </a:rPr>
              <a:t> She admits she is afraid, but she goes on.</a:t>
            </a:r>
            <a:endParaRPr lang="en-US" sz="1600" dirty="0"/>
          </a:p>
        </p:txBody>
      </p:sp>
      <p:sp>
        <p:nvSpPr>
          <p:cNvPr id="12" name="card"/>
          <p:cNvSpPr/>
          <p:nvPr/>
        </p:nvSpPr>
        <p:spPr>
          <a:xfrm>
            <a:off x="548640" y="2880360"/>
            <a:ext cx="8046720" cy="800100"/>
          </a:xfrm>
          <a:prstGeom prst="roundRect">
            <a:avLst>
              <a:gd name="adj" fmla="val 13714"/>
            </a:avLst>
          </a:prstGeom>
          <a:solidFill>
            <a:schemeClr val="bg2"/>
          </a:solidFill>
          <a:ln w="12700">
            <a:solidFill>
              <a:schemeClr val="bg2"/>
            </a:solidFill>
            <a:prstDash val="solid"/>
          </a:ln>
        </p:spPr>
      </p:sp>
      <p:sp>
        <p:nvSpPr>
          <p:cNvPr id="13" name="number"/>
          <p:cNvSpPr/>
          <p:nvPr/>
        </p:nvSpPr>
        <p:spPr>
          <a:xfrm>
            <a:off x="685800" y="305181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05181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288036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Confident / determined.</a:t>
            </a:r>
            <a:r>
              <a:rPr lang="en-US" sz="1400" dirty="0">
                <a:solidFill>
                  <a:schemeClr val="tx1"/>
                </a:solidFill>
              </a:rPr>
              <a:t> She decides to lead the people out.</a:t>
            </a:r>
            <a:endParaRPr lang="en-US" sz="1600" dirty="0"/>
          </a:p>
        </p:txBody>
      </p:sp>
      <p:sp>
        <p:nvSpPr>
          <p:cNvPr id="16" name="card"/>
          <p:cNvSpPr/>
          <p:nvPr/>
        </p:nvSpPr>
        <p:spPr>
          <a:xfrm>
            <a:off x="548640" y="3771900"/>
            <a:ext cx="8046720" cy="800100"/>
          </a:xfrm>
          <a:prstGeom prst="roundRect">
            <a:avLst>
              <a:gd name="adj" fmla="val 13714"/>
            </a:avLst>
          </a:prstGeom>
          <a:solidFill>
            <a:schemeClr val="bg2"/>
          </a:solidFill>
          <a:ln w="12700">
            <a:solidFill>
              <a:schemeClr val="bg2"/>
            </a:solidFill>
            <a:prstDash val="solid"/>
          </a:ln>
        </p:spPr>
      </p:sp>
      <p:sp>
        <p:nvSpPr>
          <p:cNvPr id="17" name="number"/>
          <p:cNvSpPr/>
          <p:nvPr/>
        </p:nvSpPr>
        <p:spPr>
          <a:xfrm>
            <a:off x="685800" y="3943350"/>
            <a:ext cx="457200" cy="457200"/>
          </a:xfrm>
          <a:prstGeom prst="ellipse">
            <a:avLst/>
          </a:prstGeom>
          <a:solidFill>
            <a:schemeClr val="accent5"/>
          </a:solidFill>
          <a:ln w="12700">
            <a:solidFill>
              <a:schemeClr val="bg1"/>
            </a:solidFill>
            <a:prstDash val="solid"/>
          </a:ln>
        </p:spPr>
      </p:sp>
      <p:sp>
        <p:nvSpPr>
          <p:cNvPr id="18" name="Text 15"/>
          <p:cNvSpPr txBox="1"/>
          <p:nvPr/>
        </p:nvSpPr>
        <p:spPr>
          <a:xfrm>
            <a:off x="685800" y="394335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6"/>
          <p:cNvSpPr txBox="1"/>
          <p:nvPr/>
        </p:nvSpPr>
        <p:spPr>
          <a:xfrm>
            <a:off x="1371600" y="3771900"/>
            <a:ext cx="7040880" cy="800100"/>
          </a:xfrm>
          <a:prstGeom prst="rect">
            <a:avLst/>
          </a:prstGeom>
          <a:noFill/>
          <a:ln/>
        </p:spPr>
        <p:txBody>
          <a:bodyPr wrap="square" lIns="0" tIns="0" rIns="0" bIns="0" rtlCol="0" anchor="ctr"/>
          <a:lstStyle/>
          <a:p>
            <a:pPr marL="0" indent="0">
              <a:buNone/>
            </a:pPr>
            <a:r>
              <a:rPr lang="en-US" sz="1400" b="1" dirty="0">
                <a:solidFill>
                  <a:schemeClr val="tx1"/>
                </a:solidFill>
              </a:rPr>
              <a:t>Protective.</a:t>
            </a:r>
            <a:r>
              <a:rPr lang="en-US" sz="1400" dirty="0">
                <a:solidFill>
                  <a:schemeClr val="tx1"/>
                </a:solidFill>
              </a:rPr>
              <a:t> She puts the safety of everyone before her own.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Read: Ki leaves, Anda sleeps (pp. 92-99)</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marL="0" indent="0">
              <a:spcAft>
                <a:spcPts val="1000"/>
              </a:spcAft>
              <a:buNone/>
            </a:pPr>
            <a:r>
              <a:rPr lang="en-US" sz="1800" dirty="0">
                <a:solidFill>
                  <a:schemeClr val="tx1"/>
                </a:solidFill>
              </a:rPr>
              <a:t>Read </a:t>
            </a:r>
            <a:r>
              <a:rPr lang="en-US" sz="1800" b="1" dirty="0">
                <a:solidFill>
                  <a:schemeClr val="tx1"/>
                </a:solidFill>
                <a:highlight>
                  <a:srgbClr val="FFD27F"/>
                </a:highlight>
              </a:rPr>
              <a:t>pages 92 to 99</a:t>
            </a:r>
            <a:r>
              <a:rPr lang="en-US" sz="1800" dirty="0">
                <a:solidFill>
                  <a:schemeClr val="tx1"/>
                </a:solidFill>
              </a:rPr>
              <a:t>.</a:t>
            </a:r>
            <a:endParaRPr lang="en-US" sz="1600" dirty="0"/>
          </a:p>
          <a:p>
            <a:pPr marL="0" indent="0">
              <a:spcAft>
                <a:spcPts val="1000"/>
              </a:spcAft>
              <a:buNone/>
            </a:pPr>
            <a:r>
              <a:rPr lang="en-US" sz="1800" dirty="0">
                <a:solidFill>
                  <a:schemeClr val="tx1"/>
                </a:solidFill>
              </a:rPr>
              <a:t>People watch Ki and three others leave. Baba then goes looking for her mother.</a:t>
            </a:r>
            <a:endParaRPr lang="en-US" sz="1600" dirty="0"/>
          </a:p>
          <a:p>
            <a:pPr marL="0" indent="0">
              <a:spcAft>
                <a:spcPts val="1000"/>
              </a:spcAft>
              <a:buNone/>
            </a:pPr>
            <a:r>
              <a:rPr lang="en-US" sz="1800" dirty="0">
                <a:solidFill>
                  <a:schemeClr val="tx1"/>
                </a:solidFill>
              </a:rPr>
              <a:t>While you read, look for </a:t>
            </a:r>
            <a:r>
              <a:rPr lang="en-US" sz="1800" b="1" dirty="0">
                <a:solidFill>
                  <a:schemeClr val="tx1"/>
                </a:solidFill>
                <a:highlight>
                  <a:srgbClr val="FFD27F"/>
                </a:highlight>
              </a:rPr>
              <a:t>what Baba feels</a:t>
            </a:r>
            <a:r>
              <a:rPr lang="en-US" sz="1800" dirty="0">
                <a:solidFill>
                  <a:schemeClr val="tx1"/>
                </a:solidFill>
              </a:rPr>
              <a:t> and </a:t>
            </a:r>
            <a:r>
              <a:rPr lang="en-US" sz="1800" b="1" dirty="0">
                <a:solidFill>
                  <a:schemeClr val="tx1"/>
                </a:solidFill>
                <a:highlight>
                  <a:srgbClr val="FFD27F"/>
                </a:highlight>
              </a:rPr>
              <a:t>what she blames herself for</a:t>
            </a:r>
            <a:r>
              <a:rPr lang="en-US" sz="1800" dirty="0">
                <a:solidFill>
                  <a:schemeClr val="tx1"/>
                </a:solidFill>
              </a:rPr>
              <a:t>.</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Reading time: about 5 minutes. Then answer questions 1 and 2.</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1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Who says 'This is your fault!' to Baba when Ki leaves?</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Shant</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Ming</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Tulsi</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Anda</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1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Ming</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Ming stands with her hands on her hips and blames Baba (pp. 92-93).</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2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'Ming was right: it was all her fault.' (p. 99) What does Baba blame herself for?</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2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She was impulsive and did not think about the dangers.</a:t>
            </a: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1 mark: she was impulsive or acted too quickly.</a:t>
            </a:r>
            <a:endParaRPr lang="en-US" sz="1600" dirty="0"/>
          </a:p>
          <a:p>
            <a:pPr marL="0" indent="0">
              <a:spcAft>
                <a:spcPts val="600"/>
              </a:spcAft>
              <a:buNone/>
            </a:pPr>
            <a:r>
              <a:rPr lang="en-US" sz="1600" dirty="0">
                <a:solidFill>
                  <a:schemeClr val="tx1"/>
                </a:solidFill>
              </a:rPr>
              <a:t>1 mark: she brought her people to the city without thinking about the dangers (pp. 98-99).</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Read: the flowers listen (pp. 100-107)</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marL="0" indent="0">
              <a:spcAft>
                <a:spcPts val="1000"/>
              </a:spcAft>
              <a:buNone/>
            </a:pPr>
            <a:r>
              <a:rPr lang="en-US" sz="1800" dirty="0">
                <a:solidFill>
                  <a:schemeClr val="tx1"/>
                </a:solidFill>
              </a:rPr>
              <a:t>Read </a:t>
            </a:r>
            <a:r>
              <a:rPr lang="en-US" sz="1800" b="1" dirty="0">
                <a:solidFill>
                  <a:schemeClr val="tx1"/>
                </a:solidFill>
                <a:highlight>
                  <a:srgbClr val="FFD27F"/>
                </a:highlight>
              </a:rPr>
              <a:t>pages 100 to 107</a:t>
            </a:r>
            <a:r>
              <a:rPr lang="en-US" sz="1800" dirty="0">
                <a:solidFill>
                  <a:schemeClr val="tx1"/>
                </a:solidFill>
              </a:rPr>
              <a:t>.</a:t>
            </a:r>
            <a:endParaRPr lang="en-US" sz="1600" dirty="0"/>
          </a:p>
          <a:p>
            <a:pPr marL="0" indent="0">
              <a:spcAft>
                <a:spcPts val="1000"/>
              </a:spcAft>
              <a:buNone/>
            </a:pPr>
            <a:r>
              <a:rPr lang="en-US" sz="1800" dirty="0">
                <a:solidFill>
                  <a:schemeClr val="tx1"/>
                </a:solidFill>
              </a:rPr>
              <a:t>Baba and Tulsi look at the field of flowers and begin to put the clues together.</a:t>
            </a:r>
            <a:endParaRPr lang="en-US" sz="1600" dirty="0"/>
          </a:p>
          <a:p>
            <a:pPr marL="0" indent="0">
              <a:spcAft>
                <a:spcPts val="1000"/>
              </a:spcAft>
              <a:buNone/>
            </a:pPr>
            <a:r>
              <a:rPr lang="en-US" sz="1800" dirty="0">
                <a:solidFill>
                  <a:schemeClr val="tx1"/>
                </a:solidFill>
              </a:rPr>
              <a:t>While you read, look for </a:t>
            </a:r>
            <a:r>
              <a:rPr lang="en-US" sz="1800" b="1" dirty="0">
                <a:solidFill>
                  <a:schemeClr val="tx1"/>
                </a:solidFill>
                <a:highlight>
                  <a:srgbClr val="FFD27F"/>
                </a:highlight>
              </a:rPr>
              <a:t>strange details</a:t>
            </a:r>
            <a:r>
              <a:rPr lang="en-US" sz="1800" dirty="0">
                <a:solidFill>
                  <a:schemeClr val="tx1"/>
                </a:solidFill>
              </a:rPr>
              <a:t> and what they suggest.</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Reading time: about 6 minutes. Then answer questions 3 and 4.</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3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How does Baba realise that the flowers are listening to them?</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3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 flowers were very still and leaning towards them.</a:t>
            </a: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1 mark: the flowers closest to them were very still.</a:t>
            </a:r>
            <a:endParaRPr lang="en-US" sz="1600" dirty="0"/>
          </a:p>
          <a:p>
            <a:pPr marL="0" indent="0">
              <a:spcAft>
                <a:spcPts val="600"/>
              </a:spcAft>
              <a:buNone/>
            </a:pPr>
            <a:r>
              <a:rPr lang="en-US" sz="1600" dirty="0">
                <a:solidFill>
                  <a:schemeClr val="tx1"/>
                </a:solidFill>
              </a:rPr>
              <a:t>1 mark: they were leaning towards them. Accept: they swayed again 'in an invisible breeze' when Baba looked away (pp. 102-103).</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4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Tulsi says he has heard a humming sound at night. What does he say it is like?</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a goat bleating</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a bakar being tuned, with nobody there</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wind in the grass</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a child singing</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4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a bakar being tuned, with nobody there</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He says it is 'more like the sound of a bakar when Fas is tuning it, only there is nobody there' (pp. 102-103).</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Read: the door has gone (pp. 108-119)</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marL="0" indent="0">
              <a:spcAft>
                <a:spcPts val="1000"/>
              </a:spcAft>
              <a:buNone/>
            </a:pPr>
            <a:r>
              <a:rPr lang="en-US" sz="1800" dirty="0">
                <a:solidFill>
                  <a:schemeClr val="tx1"/>
                </a:solidFill>
              </a:rPr>
              <a:t>Read </a:t>
            </a:r>
            <a:r>
              <a:rPr lang="en-US" sz="1800" b="1" dirty="0">
                <a:solidFill>
                  <a:schemeClr val="tx1"/>
                </a:solidFill>
                <a:highlight>
                  <a:srgbClr val="FFD27F"/>
                </a:highlight>
              </a:rPr>
              <a:t>pages 108 to 119</a:t>
            </a:r>
            <a:r>
              <a:rPr lang="en-US" sz="1800" dirty="0">
                <a:solidFill>
                  <a:schemeClr val="tx1"/>
                </a:solidFill>
              </a:rPr>
              <a:t>.</a:t>
            </a:r>
            <a:endParaRPr lang="en-US" sz="1600" dirty="0"/>
          </a:p>
          <a:p>
            <a:pPr marL="0" indent="0">
              <a:spcAft>
                <a:spcPts val="1000"/>
              </a:spcAft>
              <a:buNone/>
            </a:pPr>
            <a:r>
              <a:rPr lang="en-US" sz="1800" dirty="0">
                <a:solidFill>
                  <a:schemeClr val="tx1"/>
                </a:solidFill>
              </a:rPr>
              <a:t>Baba tells everybody they must leave. Then the tribe finds it cannot get out.</a:t>
            </a:r>
            <a:endParaRPr lang="en-US" sz="1600" dirty="0"/>
          </a:p>
          <a:p>
            <a:pPr marL="0" indent="0">
              <a:spcAft>
                <a:spcPts val="1000"/>
              </a:spcAft>
              <a:buNone/>
            </a:pPr>
            <a:r>
              <a:rPr lang="en-US" sz="1800" dirty="0">
                <a:solidFill>
                  <a:schemeClr val="tx1"/>
                </a:solidFill>
              </a:rPr>
              <a:t>While you read, look for the </a:t>
            </a:r>
            <a:r>
              <a:rPr lang="en-US" sz="1800" b="1" dirty="0">
                <a:solidFill>
                  <a:schemeClr val="tx1"/>
                </a:solidFill>
                <a:highlight>
                  <a:srgbClr val="FFD27F"/>
                </a:highlight>
              </a:rPr>
              <a:t>problems</a:t>
            </a:r>
            <a:r>
              <a:rPr lang="en-US" sz="1800" dirty="0">
                <a:solidFill>
                  <a:schemeClr val="tx1"/>
                </a:solidFill>
              </a:rPr>
              <a:t> the people face and how Baba changes.</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Reading time: about 7 minutes. Then answer questions 5 and 6.</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5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Baba whispers, 'Petronas - it doesn't want us to leave.' What has made her say this?</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 wall is too tall</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 door in the wall has disappeared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Tulsi has gone missing</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 water has dried up</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5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 door in the wall has disappeared</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'The door has gone,' she whispers. Where there was an opening, there is only solid stone (pp. 112-113).</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6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6</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Tulsi suggests hauling the rotobeasts over the wall with ropes. Why does this idea not work?</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6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 wall was too high for the heavy animals.</a:t>
            </a: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The thought of a gangly rotobeast being hauled over the high wall is 'too much', and Jad says they cannot leave the animals (pp. 115-116).</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Read: the tower and the escape (pp. 120-130)</a:t>
            </a:r>
            <a:endParaRPr lang="en-US" sz="3000" dirty="0"/>
          </a:p>
        </p:txBody>
      </p:sp>
      <p:sp>
        <p:nvSpPr>
          <p:cNvPr id="4" name="card"/>
          <p:cNvSpPr/>
          <p:nvPr/>
        </p:nvSpPr>
        <p:spPr>
          <a:xfrm>
            <a:off x="548640" y="1097280"/>
            <a:ext cx="8046720" cy="2194560"/>
          </a:xfrm>
          <a:prstGeom prst="roundRect">
            <a:avLst>
              <a:gd name="adj" fmla="val 5000"/>
            </a:avLst>
          </a:prstGeom>
          <a:solidFill>
            <a:schemeClr val="bg2"/>
          </a:solidFill>
          <a:ln w="12700">
            <a:solidFill>
              <a:schemeClr val="bg2"/>
            </a:solidFill>
            <a:prstDash val="solid"/>
          </a:ln>
        </p:spPr>
      </p:sp>
      <p:sp>
        <p:nvSpPr>
          <p:cNvPr id="5" name="Text 2"/>
          <p:cNvSpPr txBox="1"/>
          <p:nvPr/>
        </p:nvSpPr>
        <p:spPr>
          <a:xfrm>
            <a:off x="822960" y="1188720"/>
            <a:ext cx="7498080" cy="2011680"/>
          </a:xfrm>
          <a:prstGeom prst="rect">
            <a:avLst/>
          </a:prstGeom>
          <a:noFill/>
          <a:ln/>
        </p:spPr>
        <p:txBody>
          <a:bodyPr wrap="square" lIns="0" tIns="0" rIns="0" bIns="0" rtlCol="0" anchor="ctr"/>
          <a:lstStyle/>
          <a:p>
            <a:pPr marL="0" indent="0">
              <a:spcAft>
                <a:spcPts val="1000"/>
              </a:spcAft>
              <a:buNone/>
            </a:pPr>
            <a:r>
              <a:rPr lang="en-US" sz="1800" dirty="0">
                <a:solidFill>
                  <a:schemeClr val="tx1"/>
                </a:solidFill>
              </a:rPr>
              <a:t>Read </a:t>
            </a:r>
            <a:r>
              <a:rPr lang="en-US" sz="1800" b="1" dirty="0">
                <a:solidFill>
                  <a:schemeClr val="tx1"/>
                </a:solidFill>
                <a:highlight>
                  <a:srgbClr val="FFD27F"/>
                </a:highlight>
              </a:rPr>
              <a:t>pages 120 to 130</a:t>
            </a:r>
            <a:r>
              <a:rPr lang="en-US" sz="1800" dirty="0">
                <a:solidFill>
                  <a:schemeClr val="tx1"/>
                </a:solidFill>
              </a:rPr>
              <a:t>.</a:t>
            </a:r>
            <a:endParaRPr lang="en-US" sz="1600" dirty="0"/>
          </a:p>
          <a:p>
            <a:pPr marL="0" indent="0">
              <a:spcAft>
                <a:spcPts val="1000"/>
              </a:spcAft>
              <a:buNone/>
            </a:pPr>
            <a:r>
              <a:rPr lang="en-US" sz="1800" dirty="0">
                <a:solidFill>
                  <a:schemeClr val="tx1"/>
                </a:solidFill>
              </a:rPr>
              <a:t>Baba and Tulsi climb the tower, and something terrible happens.</a:t>
            </a:r>
            <a:endParaRPr lang="en-US" sz="1600" dirty="0"/>
          </a:p>
          <a:p>
            <a:pPr marL="0" indent="0">
              <a:spcAft>
                <a:spcPts val="1000"/>
              </a:spcAft>
              <a:buNone/>
            </a:pPr>
            <a:r>
              <a:rPr lang="en-US" sz="1800" dirty="0">
                <a:solidFill>
                  <a:schemeClr val="tx1"/>
                </a:solidFill>
              </a:rPr>
              <a:t>While you read, look for how the author builds </a:t>
            </a:r>
            <a:r>
              <a:rPr lang="en-US" sz="1800" b="1" dirty="0">
                <a:solidFill>
                  <a:schemeClr val="tx1"/>
                </a:solidFill>
                <a:highlight>
                  <a:srgbClr val="FFD27F"/>
                </a:highlight>
              </a:rPr>
              <a:t>fast, frightening action</a:t>
            </a:r>
            <a:r>
              <a:rPr lang="en-US" sz="1800" dirty="0">
                <a:solidFill>
                  <a:schemeClr val="tx1"/>
                </a:solidFill>
              </a:rPr>
              <a:t>, and how the story </a:t>
            </a:r>
            <a:r>
              <a:rPr lang="en-US" sz="1800" b="1" dirty="0">
                <a:solidFill>
                  <a:schemeClr val="tx1"/>
                </a:solidFill>
                <a:highlight>
                  <a:srgbClr val="FFD27F"/>
                </a:highlight>
              </a:rPr>
              <a:t>ends</a:t>
            </a:r>
            <a:r>
              <a:rPr lang="en-US" sz="1800" dirty="0">
                <a:solidFill>
                  <a:schemeClr val="tx1"/>
                </a:solidFill>
              </a:rPr>
              <a:t>.</a:t>
            </a:r>
            <a:endParaRPr lang="en-US" sz="1600" dirty="0"/>
          </a:p>
        </p:txBody>
      </p:sp>
      <p:sp>
        <p:nvSpPr>
          <p:cNvPr id="6"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7" name="Text 4"/>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Reading time: about 6 minutes. Then answer questions 7 and 8.</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7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7</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'The stick started bucking in Baba's hands.' What does the word 'bucking' suggest about the stick?</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7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It was moving wildly, like an animal.</a:t>
            </a: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'Bucking' is used for a horse jumping about. The stick is shaking and has great power, almost as if it were alive (pp. 120-121).</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Question 8 of 8</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8</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Find and copy a phrase from page 130 which tells the reader that Baba and Tulsi are hopeful about the future.</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8 of 8</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'then there will be water'</a:t>
            </a: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Tulsi says, 'If it is not a mirage ...' and Baba finishes: '... then there will be water.' Accept 'pleased with herself' as a phrase showing Baba feels good (p. 130). Remember: find and copy means the exact words.</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Main activity: Tension Graph</a:t>
            </a:r>
            <a:endParaRPr lang="en-US" sz="3000" dirty="0"/>
          </a:p>
        </p:txBody>
      </p:sp>
      <p:sp>
        <p:nvSpPr>
          <p:cNvPr id="4" name="card"/>
          <p:cNvSpPr/>
          <p:nvPr/>
        </p:nvSpPr>
        <p:spPr>
          <a:xfrm>
            <a:off x="548640" y="1097280"/>
            <a:ext cx="8046720" cy="1097280"/>
          </a:xfrm>
          <a:prstGeom prst="roundRect">
            <a:avLst>
              <a:gd name="adj" fmla="val 10000"/>
            </a:avLst>
          </a:prstGeom>
          <a:solidFill>
            <a:schemeClr val="accent1"/>
          </a:solidFill>
          <a:ln w="12700">
            <a:solidFill>
              <a:schemeClr val="accent1"/>
            </a:solidFill>
            <a:prstDash val="solid"/>
          </a:ln>
        </p:spPr>
      </p:sp>
      <p:sp>
        <p:nvSpPr>
          <p:cNvPr id="5" name="Text 2"/>
          <p:cNvSpPr txBox="1"/>
          <p:nvPr/>
        </p:nvSpPr>
        <p:spPr>
          <a:xfrm>
            <a:off x="777240" y="1097280"/>
            <a:ext cx="7589520" cy="1097280"/>
          </a:xfrm>
          <a:prstGeom prst="rect">
            <a:avLst/>
          </a:prstGeom>
          <a:noFill/>
          <a:ln/>
        </p:spPr>
        <p:txBody>
          <a:bodyPr wrap="square" lIns="0" tIns="0" rIns="0" bIns="0" rtlCol="0" anchor="ctr"/>
          <a:lstStyle/>
          <a:p>
            <a:pPr marL="0" indent="0">
              <a:buNone/>
            </a:pPr>
            <a:r>
              <a:rPr lang="en-US" sz="1800" b="1" dirty="0">
                <a:solidFill>
                  <a:schemeClr val="tx1"/>
                </a:solidFill>
              </a:rPr>
              <a:t>Rate the </a:t>
            </a:r>
            <a:r>
              <a:rPr lang="en-US" sz="1800" b="1" dirty="0">
                <a:solidFill>
                  <a:schemeClr val="tx1"/>
                </a:solidFill>
                <a:highlight>
                  <a:srgbClr val="FFD27F"/>
                </a:highlight>
              </a:rPr>
              <a:t>tension</a:t>
            </a:r>
            <a:r>
              <a:rPr lang="en-US" sz="1800" b="1" dirty="0">
                <a:solidFill>
                  <a:schemeClr val="tx1"/>
                </a:solidFill>
              </a:rPr>
              <a:t> of six moments from 1 to 5. Give a </a:t>
            </a:r>
            <a:r>
              <a:rPr lang="en-US" sz="1800" b="1" dirty="0">
                <a:solidFill>
                  <a:schemeClr val="tx1"/>
                </a:solidFill>
                <a:highlight>
                  <a:srgbClr val="FFD27F"/>
                </a:highlight>
              </a:rPr>
              <a:t>reason</a:t>
            </a:r>
            <a:r>
              <a:rPr lang="en-US" sz="1800" b="1" dirty="0">
                <a:solidFill>
                  <a:schemeClr val="tx1"/>
                </a:solidFill>
              </a:rPr>
              <a:t> for each, using the text.</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80467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11480">
                <a:tc>
                  <a:txBody>
                    <a:bodyPr/>
                    <a:lstStyle/>
                    <a:p>
                      <a:pPr marL="0" indent="0" algn="ctr">
                        <a:buNone/>
                      </a:pPr>
                      <a:r>
                        <a:rPr lang="en-US" sz="1400" b="1" dirty="0">
                          <a:solidFill>
                            <a:srgbClr val="FFFFFF"/>
                          </a:solidFill>
                        </a:rPr>
                        <a:t>Moment (pages)</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Tension 1-5</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Reason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731520">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bl>
          </a:graphicData>
        </a:graphic>
      </p:graphicFrame>
      <p:sp>
        <p:nvSpPr>
          <p:cNvPr id="7"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8" name="Text 4"/>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Use: 'The tension is ___ because the text says ___.'</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The six moments to rate</a:t>
            </a:r>
            <a:endParaRPr lang="en-US" sz="3000" dirty="0"/>
          </a:p>
        </p:txBody>
      </p:sp>
      <p:sp>
        <p:nvSpPr>
          <p:cNvPr id="4" name="card"/>
          <p:cNvSpPr/>
          <p:nvPr/>
        </p:nvSpPr>
        <p:spPr>
          <a:xfrm>
            <a:off x="548640" y="1097280"/>
            <a:ext cx="259080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31520" y="1188720"/>
            <a:ext cx="2225040" cy="365760"/>
          </a:xfrm>
          <a:prstGeom prst="rect">
            <a:avLst/>
          </a:prstGeom>
          <a:noFill/>
          <a:ln/>
        </p:spPr>
        <p:txBody>
          <a:bodyPr wrap="square" lIns="0" tIns="0" rIns="0" bIns="0" rtlCol="0" anchor="t"/>
          <a:lstStyle/>
          <a:p>
            <a:pPr marL="0" indent="0">
              <a:buNone/>
            </a:pPr>
            <a:r>
              <a:rPr lang="en-US" sz="1600" b="1" dirty="0">
                <a:solidFill>
                  <a:schemeClr val="accent4"/>
                </a:solidFill>
              </a:rPr>
              <a:t>1. pp. 94-95</a:t>
            </a:r>
            <a:endParaRPr lang="en-US" sz="1600" dirty="0"/>
          </a:p>
        </p:txBody>
      </p:sp>
      <p:sp>
        <p:nvSpPr>
          <p:cNvPr id="6" name="Text 3"/>
          <p:cNvSpPr txBox="1"/>
          <p:nvPr/>
        </p:nvSpPr>
        <p:spPr>
          <a:xfrm>
            <a:off x="731520" y="1600200"/>
            <a:ext cx="2225040" cy="1097280"/>
          </a:xfrm>
          <a:prstGeom prst="rect">
            <a:avLst/>
          </a:prstGeom>
          <a:noFill/>
          <a:ln/>
        </p:spPr>
        <p:txBody>
          <a:bodyPr wrap="square" lIns="0" tIns="0" rIns="0" bIns="0" rtlCol="0" anchor="t"/>
          <a:lstStyle/>
          <a:p>
            <a:pPr marL="0" indent="0">
              <a:buNone/>
            </a:pPr>
            <a:r>
              <a:rPr lang="en-US" sz="1200" dirty="0">
                <a:solidFill>
                  <a:schemeClr val="tx1"/>
                </a:solidFill>
              </a:rPr>
              <a:t>Baba finds her mother lying as if fast asleep.</a:t>
            </a:r>
            <a:endParaRPr lang="en-US" sz="1200" dirty="0"/>
          </a:p>
        </p:txBody>
      </p:sp>
      <p:sp>
        <p:nvSpPr>
          <p:cNvPr id="7" name="card"/>
          <p:cNvSpPr/>
          <p:nvPr/>
        </p:nvSpPr>
        <p:spPr>
          <a:xfrm>
            <a:off x="3276600" y="1097280"/>
            <a:ext cx="2590800" cy="1691640"/>
          </a:xfrm>
          <a:prstGeom prst="roundRect">
            <a:avLst>
              <a:gd name="adj" fmla="val 6486"/>
            </a:avLst>
          </a:prstGeom>
          <a:solidFill>
            <a:schemeClr val="bg2"/>
          </a:solidFill>
          <a:ln w="12700">
            <a:solidFill>
              <a:schemeClr val="bg2"/>
            </a:solidFill>
            <a:prstDash val="solid"/>
          </a:ln>
        </p:spPr>
      </p:sp>
      <p:sp>
        <p:nvSpPr>
          <p:cNvPr id="8" name="Text 5"/>
          <p:cNvSpPr txBox="1"/>
          <p:nvPr/>
        </p:nvSpPr>
        <p:spPr>
          <a:xfrm>
            <a:off x="3459480" y="1188720"/>
            <a:ext cx="2225040" cy="365760"/>
          </a:xfrm>
          <a:prstGeom prst="rect">
            <a:avLst/>
          </a:prstGeom>
          <a:noFill/>
          <a:ln/>
        </p:spPr>
        <p:txBody>
          <a:bodyPr wrap="square" lIns="0" tIns="0" rIns="0" bIns="0" rtlCol="0" anchor="t"/>
          <a:lstStyle/>
          <a:p>
            <a:pPr marL="0" indent="0">
              <a:buNone/>
            </a:pPr>
            <a:r>
              <a:rPr lang="en-US" sz="1600" b="1" dirty="0">
                <a:solidFill>
                  <a:schemeClr val="accent2"/>
                </a:solidFill>
              </a:rPr>
              <a:t>2. pp. 102-103</a:t>
            </a:r>
            <a:endParaRPr lang="en-US" sz="1600" dirty="0"/>
          </a:p>
        </p:txBody>
      </p:sp>
      <p:sp>
        <p:nvSpPr>
          <p:cNvPr id="9" name="Text 6"/>
          <p:cNvSpPr txBox="1"/>
          <p:nvPr/>
        </p:nvSpPr>
        <p:spPr>
          <a:xfrm>
            <a:off x="3459480" y="1600200"/>
            <a:ext cx="2225040" cy="1097280"/>
          </a:xfrm>
          <a:prstGeom prst="rect">
            <a:avLst/>
          </a:prstGeom>
          <a:noFill/>
          <a:ln/>
        </p:spPr>
        <p:txBody>
          <a:bodyPr wrap="square" lIns="0" tIns="0" rIns="0" bIns="0" rtlCol="0" anchor="t"/>
          <a:lstStyle/>
          <a:p>
            <a:pPr marL="0" indent="0">
              <a:buNone/>
            </a:pPr>
            <a:r>
              <a:rPr lang="en-US" sz="1200" dirty="0">
                <a:solidFill>
                  <a:schemeClr val="tx1"/>
                </a:solidFill>
              </a:rPr>
              <a:t>The flowers lean in to listen.</a:t>
            </a:r>
            <a:endParaRPr lang="en-US" sz="1200" dirty="0"/>
          </a:p>
        </p:txBody>
      </p:sp>
      <p:sp>
        <p:nvSpPr>
          <p:cNvPr id="10" name="card"/>
          <p:cNvSpPr/>
          <p:nvPr/>
        </p:nvSpPr>
        <p:spPr>
          <a:xfrm>
            <a:off x="6004560" y="1097280"/>
            <a:ext cx="2590800" cy="1691640"/>
          </a:xfrm>
          <a:prstGeom prst="roundRect">
            <a:avLst>
              <a:gd name="adj" fmla="val 6486"/>
            </a:avLst>
          </a:prstGeom>
          <a:solidFill>
            <a:schemeClr val="bg2"/>
          </a:solidFill>
          <a:ln w="12700">
            <a:solidFill>
              <a:schemeClr val="bg2"/>
            </a:solidFill>
            <a:prstDash val="solid"/>
          </a:ln>
        </p:spPr>
      </p:sp>
      <p:sp>
        <p:nvSpPr>
          <p:cNvPr id="11" name="Text 8"/>
          <p:cNvSpPr txBox="1"/>
          <p:nvPr/>
        </p:nvSpPr>
        <p:spPr>
          <a:xfrm>
            <a:off x="6187440" y="1188720"/>
            <a:ext cx="2225040" cy="365760"/>
          </a:xfrm>
          <a:prstGeom prst="rect">
            <a:avLst/>
          </a:prstGeom>
          <a:noFill/>
          <a:ln/>
        </p:spPr>
        <p:txBody>
          <a:bodyPr wrap="square" lIns="0" tIns="0" rIns="0" bIns="0" rtlCol="0" anchor="t"/>
          <a:lstStyle/>
          <a:p>
            <a:pPr marL="0" indent="0">
              <a:buNone/>
            </a:pPr>
            <a:r>
              <a:rPr lang="en-US" sz="1600" b="1" dirty="0">
                <a:solidFill>
                  <a:schemeClr val="accent3"/>
                </a:solidFill>
              </a:rPr>
              <a:t>3. pp. 108-109</a:t>
            </a:r>
            <a:endParaRPr lang="en-US" sz="1600" dirty="0"/>
          </a:p>
        </p:txBody>
      </p:sp>
      <p:sp>
        <p:nvSpPr>
          <p:cNvPr id="12" name="Text 9"/>
          <p:cNvSpPr txBox="1"/>
          <p:nvPr/>
        </p:nvSpPr>
        <p:spPr>
          <a:xfrm>
            <a:off x="6187440" y="1600200"/>
            <a:ext cx="2225040" cy="1097280"/>
          </a:xfrm>
          <a:prstGeom prst="rect">
            <a:avLst/>
          </a:prstGeom>
          <a:noFill/>
          <a:ln/>
        </p:spPr>
        <p:txBody>
          <a:bodyPr wrap="square" lIns="0" tIns="0" rIns="0" bIns="0" rtlCol="0" anchor="t"/>
          <a:lstStyle/>
          <a:p>
            <a:pPr marL="0" indent="0">
              <a:buNone/>
            </a:pPr>
            <a:r>
              <a:rPr lang="en-US" sz="1200" dirty="0">
                <a:solidFill>
                  <a:schemeClr val="tx1"/>
                </a:solidFill>
              </a:rPr>
              <a:t>The people shout at Baba and say they trusted her.</a:t>
            </a:r>
            <a:endParaRPr lang="en-US" sz="1200" dirty="0"/>
          </a:p>
        </p:txBody>
      </p:sp>
      <p:sp>
        <p:nvSpPr>
          <p:cNvPr id="13" name="card"/>
          <p:cNvSpPr/>
          <p:nvPr/>
        </p:nvSpPr>
        <p:spPr>
          <a:xfrm>
            <a:off x="548640" y="2926080"/>
            <a:ext cx="2590800" cy="1691640"/>
          </a:xfrm>
          <a:prstGeom prst="roundRect">
            <a:avLst>
              <a:gd name="adj" fmla="val 6486"/>
            </a:avLst>
          </a:prstGeom>
          <a:solidFill>
            <a:schemeClr val="bg2"/>
          </a:solidFill>
          <a:ln w="12700">
            <a:solidFill>
              <a:schemeClr val="bg2"/>
            </a:solidFill>
            <a:prstDash val="solid"/>
          </a:ln>
        </p:spPr>
      </p:sp>
      <p:sp>
        <p:nvSpPr>
          <p:cNvPr id="14" name="Text 11"/>
          <p:cNvSpPr txBox="1"/>
          <p:nvPr/>
        </p:nvSpPr>
        <p:spPr>
          <a:xfrm>
            <a:off x="731520" y="3017520"/>
            <a:ext cx="2225040" cy="365760"/>
          </a:xfrm>
          <a:prstGeom prst="rect">
            <a:avLst/>
          </a:prstGeom>
          <a:noFill/>
          <a:ln/>
        </p:spPr>
        <p:txBody>
          <a:bodyPr wrap="square" lIns="0" tIns="0" rIns="0" bIns="0" rtlCol="0" anchor="t"/>
          <a:lstStyle/>
          <a:p>
            <a:pPr marL="0" indent="0">
              <a:buNone/>
            </a:pPr>
            <a:r>
              <a:rPr lang="en-US" sz="1600" b="1" dirty="0">
                <a:solidFill>
                  <a:schemeClr val="accent5"/>
                </a:solidFill>
              </a:rPr>
              <a:t>4. pp. 112-113</a:t>
            </a:r>
            <a:endParaRPr lang="en-US" sz="1600" dirty="0"/>
          </a:p>
        </p:txBody>
      </p:sp>
      <p:sp>
        <p:nvSpPr>
          <p:cNvPr id="15" name="Text 12"/>
          <p:cNvSpPr txBox="1"/>
          <p:nvPr/>
        </p:nvSpPr>
        <p:spPr>
          <a:xfrm>
            <a:off x="731520" y="3429000"/>
            <a:ext cx="2225040" cy="1097280"/>
          </a:xfrm>
          <a:prstGeom prst="rect">
            <a:avLst/>
          </a:prstGeom>
          <a:noFill/>
          <a:ln/>
        </p:spPr>
        <p:txBody>
          <a:bodyPr wrap="square" lIns="0" tIns="0" rIns="0" bIns="0" rtlCol="0" anchor="t"/>
          <a:lstStyle/>
          <a:p>
            <a:pPr marL="0" indent="0">
              <a:buNone/>
            </a:pPr>
            <a:r>
              <a:rPr lang="en-US" sz="1200" dirty="0">
                <a:solidFill>
                  <a:schemeClr val="tx1"/>
                </a:solidFill>
              </a:rPr>
              <a:t>The door in the wall has gone.</a:t>
            </a:r>
            <a:endParaRPr lang="en-US" sz="1200" dirty="0"/>
          </a:p>
        </p:txBody>
      </p:sp>
      <p:sp>
        <p:nvSpPr>
          <p:cNvPr id="16" name="card"/>
          <p:cNvSpPr/>
          <p:nvPr/>
        </p:nvSpPr>
        <p:spPr>
          <a:xfrm>
            <a:off x="3276600" y="2926080"/>
            <a:ext cx="2590800" cy="1691640"/>
          </a:xfrm>
          <a:prstGeom prst="roundRect">
            <a:avLst>
              <a:gd name="adj" fmla="val 6486"/>
            </a:avLst>
          </a:prstGeom>
          <a:solidFill>
            <a:schemeClr val="bg2"/>
          </a:solidFill>
          <a:ln w="12700">
            <a:solidFill>
              <a:schemeClr val="bg2"/>
            </a:solidFill>
            <a:prstDash val="solid"/>
          </a:ln>
        </p:spPr>
      </p:sp>
      <p:sp>
        <p:nvSpPr>
          <p:cNvPr id="17" name="Text 14"/>
          <p:cNvSpPr txBox="1"/>
          <p:nvPr/>
        </p:nvSpPr>
        <p:spPr>
          <a:xfrm>
            <a:off x="3459480" y="3017520"/>
            <a:ext cx="2225040" cy="365760"/>
          </a:xfrm>
          <a:prstGeom prst="rect">
            <a:avLst/>
          </a:prstGeom>
          <a:noFill/>
          <a:ln/>
        </p:spPr>
        <p:txBody>
          <a:bodyPr wrap="square" lIns="0" tIns="0" rIns="0" bIns="0" rtlCol="0" anchor="t"/>
          <a:lstStyle/>
          <a:p>
            <a:pPr marL="0" indent="0">
              <a:buNone/>
            </a:pPr>
            <a:r>
              <a:rPr lang="en-US" sz="1600" b="1" dirty="0">
                <a:solidFill>
                  <a:schemeClr val="accent4"/>
                </a:solidFill>
              </a:rPr>
              <a:t>5. pp. 120-123</a:t>
            </a:r>
            <a:endParaRPr lang="en-US" sz="1600" dirty="0"/>
          </a:p>
        </p:txBody>
      </p:sp>
      <p:sp>
        <p:nvSpPr>
          <p:cNvPr id="18" name="Text 15"/>
          <p:cNvSpPr txBox="1"/>
          <p:nvPr/>
        </p:nvSpPr>
        <p:spPr>
          <a:xfrm>
            <a:off x="3459480" y="3429000"/>
            <a:ext cx="2225040" cy="1097280"/>
          </a:xfrm>
          <a:prstGeom prst="rect">
            <a:avLst/>
          </a:prstGeom>
          <a:noFill/>
          <a:ln/>
        </p:spPr>
        <p:txBody>
          <a:bodyPr wrap="square" lIns="0" tIns="0" rIns="0" bIns="0" rtlCol="0" anchor="t"/>
          <a:lstStyle/>
          <a:p>
            <a:pPr marL="0" indent="0">
              <a:buNone/>
            </a:pPr>
            <a:r>
              <a:rPr lang="en-US" sz="1200" dirty="0">
                <a:solidFill>
                  <a:schemeClr val="tx1"/>
                </a:solidFill>
              </a:rPr>
              <a:t>The bird attacks in the tower.</a:t>
            </a:r>
            <a:endParaRPr lang="en-US" sz="1200" dirty="0"/>
          </a:p>
        </p:txBody>
      </p:sp>
      <p:sp>
        <p:nvSpPr>
          <p:cNvPr id="19" name="card"/>
          <p:cNvSpPr/>
          <p:nvPr/>
        </p:nvSpPr>
        <p:spPr>
          <a:xfrm>
            <a:off x="6004560" y="2926080"/>
            <a:ext cx="2590800" cy="1691640"/>
          </a:xfrm>
          <a:prstGeom prst="roundRect">
            <a:avLst>
              <a:gd name="adj" fmla="val 6486"/>
            </a:avLst>
          </a:prstGeom>
          <a:solidFill>
            <a:schemeClr val="bg2"/>
          </a:solidFill>
          <a:ln w="12700">
            <a:solidFill>
              <a:schemeClr val="bg2"/>
            </a:solidFill>
            <a:prstDash val="solid"/>
          </a:ln>
        </p:spPr>
      </p:sp>
      <p:sp>
        <p:nvSpPr>
          <p:cNvPr id="20" name="Text 17"/>
          <p:cNvSpPr txBox="1"/>
          <p:nvPr/>
        </p:nvSpPr>
        <p:spPr>
          <a:xfrm>
            <a:off x="6187440" y="3017520"/>
            <a:ext cx="2225040" cy="365760"/>
          </a:xfrm>
          <a:prstGeom prst="rect">
            <a:avLst/>
          </a:prstGeom>
          <a:noFill/>
          <a:ln/>
        </p:spPr>
        <p:txBody>
          <a:bodyPr wrap="square" lIns="0" tIns="0" rIns="0" bIns="0" rtlCol="0" anchor="t"/>
          <a:lstStyle/>
          <a:p>
            <a:pPr marL="0" indent="0">
              <a:buNone/>
            </a:pPr>
            <a:r>
              <a:rPr lang="en-US" sz="1600" b="1" dirty="0">
                <a:solidFill>
                  <a:schemeClr val="accent2"/>
                </a:solidFill>
              </a:rPr>
              <a:t>6. pp. 124-125</a:t>
            </a:r>
            <a:endParaRPr lang="en-US" sz="1600" dirty="0"/>
          </a:p>
        </p:txBody>
      </p:sp>
      <p:sp>
        <p:nvSpPr>
          <p:cNvPr id="21" name="Text 18"/>
          <p:cNvSpPr txBox="1"/>
          <p:nvPr/>
        </p:nvSpPr>
        <p:spPr>
          <a:xfrm>
            <a:off x="6187440" y="3429000"/>
            <a:ext cx="2225040" cy="1097280"/>
          </a:xfrm>
          <a:prstGeom prst="rect">
            <a:avLst/>
          </a:prstGeom>
          <a:noFill/>
          <a:ln/>
        </p:spPr>
        <p:txBody>
          <a:bodyPr wrap="square" lIns="0" tIns="0" rIns="0" bIns="0" rtlCol="0" anchor="t"/>
          <a:lstStyle/>
          <a:p>
            <a:pPr marL="0" indent="0">
              <a:buNone/>
            </a:pPr>
            <a:r>
              <a:rPr lang="en-US" sz="1200" dirty="0">
                <a:solidFill>
                  <a:schemeClr val="tx1"/>
                </a:solidFill>
              </a:rPr>
              <a:t>The wall crumbles as people escape.</a:t>
            </a:r>
            <a:endParaRPr lang="en-US" sz="12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moments 1 to 3</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411480">
                <a:tc>
                  <a:txBody>
                    <a:bodyPr/>
                    <a:lstStyle/>
                    <a:p>
                      <a:pPr marL="0" indent="0" algn="ctr">
                        <a:buNone/>
                      </a:pPr>
                      <a:r>
                        <a:rPr lang="en-US" sz="1400" b="1" dirty="0">
                          <a:solidFill>
                            <a:srgbClr val="FFFFFF"/>
                          </a:solidFill>
                        </a:rPr>
                        <a:t>Moment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Tension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Reason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960120">
                <a:tc>
                  <a:txBody>
                    <a:bodyPr/>
                    <a:lstStyle/>
                    <a:p>
                      <a:pPr marL="0" indent="0">
                        <a:buNone/>
                      </a:pPr>
                      <a:r>
                        <a:rPr lang="en-US" sz="1200" b="1" dirty="0">
                          <a:solidFill>
                            <a:srgbClr val="1F1B3A"/>
                          </a:solidFill>
                        </a:rPr>
                        <a:t>1. pp. 94-95</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3</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Silence and emptiness: 'No bird sang. No breeze blew.' Baba's mother is asleep and her hand is cold.</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960120">
                <a:tc>
                  <a:txBody>
                    <a:bodyPr/>
                    <a:lstStyle/>
                    <a:p>
                      <a:pPr marL="0" indent="0">
                        <a:buNone/>
                      </a:pPr>
                      <a:r>
                        <a:rPr lang="en-US" sz="1200" b="1" dirty="0">
                          <a:solidFill>
                            <a:srgbClr val="1F1B3A"/>
                          </a:solidFill>
                        </a:rPr>
                        <a:t>2. pp. 102-103</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3</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The flowers lean in, so the reader realises that the place is listening. The danger is hidden.</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960120">
                <a:tc>
                  <a:txBody>
                    <a:bodyPr/>
                    <a:lstStyle/>
                    <a:p>
                      <a:pPr marL="0" indent="0">
                        <a:buNone/>
                      </a:pPr>
                      <a:r>
                        <a:rPr lang="en-US" sz="1200" b="1" dirty="0">
                          <a:solidFill>
                            <a:srgbClr val="1F1B3A"/>
                          </a:solidFill>
                        </a:rPr>
                        <a:t>3. pp. 108-109</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4</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The people are angry and afraid. Baba must decide to lead them away.</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moments 4 to 6</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411480">
                <a:tc>
                  <a:txBody>
                    <a:bodyPr/>
                    <a:lstStyle/>
                    <a:p>
                      <a:pPr marL="0" indent="0" algn="ctr">
                        <a:buNone/>
                      </a:pPr>
                      <a:r>
                        <a:rPr lang="en-US" sz="1400" b="1" dirty="0">
                          <a:solidFill>
                            <a:srgbClr val="FFFFFF"/>
                          </a:solidFill>
                        </a:rPr>
                        <a:t>Moment</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Tension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Reason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960120">
                <a:tc>
                  <a:txBody>
                    <a:bodyPr/>
                    <a:lstStyle/>
                    <a:p>
                      <a:pPr marL="0" indent="0">
                        <a:buNone/>
                      </a:pPr>
                      <a:r>
                        <a:rPr lang="en-US" sz="1200" b="1" dirty="0">
                          <a:solidFill>
                            <a:srgbClr val="1F1B3A"/>
                          </a:solidFill>
                        </a:rPr>
                        <a:t>4. pp. 112-113</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4</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The door has gone, so the people are trapped. 'It doesn't want us to leave.'</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960120">
                <a:tc>
                  <a:txBody>
                    <a:bodyPr/>
                    <a:lstStyle/>
                    <a:p>
                      <a:pPr marL="0" indent="0">
                        <a:buNone/>
                      </a:pPr>
                      <a:r>
                        <a:rPr lang="en-US" sz="1200" b="1" dirty="0">
                          <a:solidFill>
                            <a:srgbClr val="1F1B3A"/>
                          </a:solidFill>
                        </a:rPr>
                        <a:t>5. pp. 120-123</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5</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A shriek, a rushing wind and a shadow with a sharp beak. The stick bucks in Baba's hands.</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r h="960120">
                <a:tc>
                  <a:txBody>
                    <a:bodyPr/>
                    <a:lstStyle/>
                    <a:p>
                      <a:pPr marL="0" indent="0">
                        <a:buNone/>
                      </a:pPr>
                      <a:r>
                        <a:rPr lang="en-US" sz="1200" b="1" dirty="0">
                          <a:solidFill>
                            <a:srgbClr val="1F1B3A"/>
                          </a:solidFill>
                        </a:rPr>
                        <a:t>6. pp. 124-125</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5</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r>
                        <a:rPr lang="en-US" sz="1200" dirty="0">
                          <a:solidFill>
                            <a:srgbClr val="1F1B3A"/>
                          </a:solidFill>
                        </a:rPr>
                        <a:t>Chunks of stone fall and Baba shouts 'Hurry'. There is no time left.</a:t>
                      </a: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has Baba changed?</a:t>
            </a:r>
            <a:endParaRPr lang="en-US" sz="3000" dirty="0"/>
          </a:p>
        </p:txBody>
      </p:sp>
      <p:sp>
        <p:nvSpPr>
          <p:cNvPr id="4" name="card"/>
          <p:cNvSpPr/>
          <p:nvPr/>
        </p:nvSpPr>
        <p:spPr>
          <a:xfrm>
            <a:off x="548640" y="1097280"/>
            <a:ext cx="3931920" cy="2926080"/>
          </a:xfrm>
          <a:prstGeom prst="roundRect">
            <a:avLst>
              <a:gd name="adj" fmla="val 3750"/>
            </a:avLst>
          </a:prstGeom>
          <a:solidFill>
            <a:schemeClr val="bg2"/>
          </a:solidFill>
          <a:ln w="12700">
            <a:solidFill>
              <a:schemeClr val="bg2"/>
            </a:solidFill>
            <a:prstDash val="solid"/>
          </a:ln>
        </p:spPr>
      </p:sp>
      <p:sp>
        <p:nvSpPr>
          <p:cNvPr id="5" name="heading"/>
          <p:cNvSpPr/>
          <p:nvPr/>
        </p:nvSpPr>
        <p:spPr>
          <a:xfrm>
            <a:off x="731520" y="1234440"/>
            <a:ext cx="3566160" cy="502920"/>
          </a:xfrm>
          <a:prstGeom prst="roundRect">
            <a:avLst>
              <a:gd name="adj" fmla="val 21818"/>
            </a:avLst>
          </a:prstGeom>
          <a:solidFill>
            <a:schemeClr val="accent4"/>
          </a:solidFill>
          <a:ln w="12700">
            <a:solidFill>
              <a:schemeClr val="accent4"/>
            </a:solidFill>
            <a:prstDash val="solid"/>
          </a:ln>
        </p:spPr>
      </p:sp>
      <p:sp>
        <p:nvSpPr>
          <p:cNvPr id="6" name="Text 3"/>
          <p:cNvSpPr txBox="1"/>
          <p:nvPr/>
        </p:nvSpPr>
        <p:spPr>
          <a:xfrm>
            <a:off x="731520" y="1234440"/>
            <a:ext cx="3566160" cy="502920"/>
          </a:xfrm>
          <a:prstGeom prst="rect">
            <a:avLst/>
          </a:prstGeom>
          <a:noFill/>
          <a:ln/>
        </p:spPr>
        <p:txBody>
          <a:bodyPr wrap="square" lIns="0" tIns="0" rIns="0" bIns="0" rtlCol="0" anchor="ctr"/>
          <a:lstStyle/>
          <a:p>
            <a:pPr marL="0" indent="0" algn="ctr">
              <a:buNone/>
            </a:pPr>
            <a:r>
              <a:rPr lang="en-US" sz="1800" b="1" dirty="0">
                <a:solidFill>
                  <a:schemeClr val="bg1"/>
                </a:solidFill>
              </a:rPr>
              <a:t>Yes, she has changed</a:t>
            </a:r>
            <a:endParaRPr lang="en-US" sz="1800" dirty="0"/>
          </a:p>
        </p:txBody>
      </p:sp>
      <p:sp>
        <p:nvSpPr>
          <p:cNvPr id="7" name="Text 4"/>
          <p:cNvSpPr txBox="1"/>
          <p:nvPr/>
        </p:nvSpPr>
        <p:spPr>
          <a:xfrm>
            <a:off x="822960" y="1874520"/>
            <a:ext cx="3383280" cy="210312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She admits it was </a:t>
            </a:r>
            <a:r>
              <a:rPr lang="en-US" sz="1400" b="1" dirty="0">
                <a:solidFill>
                  <a:schemeClr val="tx1"/>
                </a:solidFill>
                <a:highlight>
                  <a:srgbClr val="FFD27F"/>
                </a:highlight>
              </a:rPr>
              <a:t>her fault</a:t>
            </a:r>
            <a:r>
              <a:rPr lang="en-US" sz="1400" dirty="0">
                <a:solidFill>
                  <a:schemeClr val="tx1"/>
                </a:solidFill>
              </a:rPr>
              <a:t>.</a:t>
            </a:r>
            <a:endParaRPr lang="en-US" sz="1600" dirty="0"/>
          </a:p>
          <a:p>
            <a:pPr marL="0" indent="0">
              <a:spcAft>
                <a:spcPts val="800"/>
              </a:spcAft>
              <a:buNone/>
            </a:pPr>
            <a:r>
              <a:rPr lang="en-US" sz="1400" dirty="0">
                <a:solidFill>
                  <a:schemeClr val="tx1"/>
                </a:solidFill>
              </a:rPr>
              <a:t>She takes charge and says 'we must go now'.</a:t>
            </a:r>
            <a:endParaRPr lang="en-US" sz="1600" dirty="0"/>
          </a:p>
          <a:p>
            <a:pPr marL="0" indent="0">
              <a:spcAft>
                <a:spcPts val="800"/>
              </a:spcAft>
              <a:buNone/>
            </a:pPr>
            <a:r>
              <a:rPr lang="en-US" sz="1400" dirty="0">
                <a:solidFill>
                  <a:schemeClr val="tx1"/>
                </a:solidFill>
              </a:rPr>
              <a:t>She is </a:t>
            </a:r>
            <a:r>
              <a:rPr lang="en-US" sz="1400" b="1" dirty="0">
                <a:solidFill>
                  <a:schemeClr val="tx1"/>
                </a:solidFill>
                <a:highlight>
                  <a:srgbClr val="FFD27F"/>
                </a:highlight>
              </a:rPr>
              <a:t>brave</a:t>
            </a:r>
            <a:r>
              <a:rPr lang="en-US" sz="1400" dirty="0">
                <a:solidFill>
                  <a:schemeClr val="tx1"/>
                </a:solidFill>
              </a:rPr>
              <a:t> even when afraid.</a:t>
            </a:r>
            <a:endParaRPr lang="en-US" sz="1600" dirty="0"/>
          </a:p>
        </p:txBody>
      </p:sp>
      <p:sp>
        <p:nvSpPr>
          <p:cNvPr id="8" name="card"/>
          <p:cNvSpPr/>
          <p:nvPr/>
        </p:nvSpPr>
        <p:spPr>
          <a:xfrm>
            <a:off x="4663440" y="1097280"/>
            <a:ext cx="3931920" cy="2926080"/>
          </a:xfrm>
          <a:prstGeom prst="roundRect">
            <a:avLst>
              <a:gd name="adj" fmla="val 3750"/>
            </a:avLst>
          </a:prstGeom>
          <a:solidFill>
            <a:schemeClr val="bg2"/>
          </a:solidFill>
          <a:ln w="12700">
            <a:solidFill>
              <a:schemeClr val="bg2"/>
            </a:solidFill>
            <a:prstDash val="solid"/>
          </a:ln>
        </p:spPr>
      </p:sp>
      <p:sp>
        <p:nvSpPr>
          <p:cNvPr id="9" name="heading"/>
          <p:cNvSpPr/>
          <p:nvPr/>
        </p:nvSpPr>
        <p:spPr>
          <a:xfrm>
            <a:off x="4846320" y="1234440"/>
            <a:ext cx="3566160" cy="502920"/>
          </a:xfrm>
          <a:prstGeom prst="roundRect">
            <a:avLst>
              <a:gd name="adj" fmla="val 21818"/>
            </a:avLst>
          </a:prstGeom>
          <a:solidFill>
            <a:schemeClr val="accent3"/>
          </a:solidFill>
          <a:ln w="12700">
            <a:solidFill>
              <a:schemeClr val="accent3"/>
            </a:solidFill>
            <a:prstDash val="solid"/>
          </a:ln>
        </p:spPr>
      </p:sp>
      <p:sp>
        <p:nvSpPr>
          <p:cNvPr id="10" name="Text 7"/>
          <p:cNvSpPr txBox="1"/>
          <p:nvPr/>
        </p:nvSpPr>
        <p:spPr>
          <a:xfrm>
            <a:off x="4846320" y="1234440"/>
            <a:ext cx="3566160" cy="502920"/>
          </a:xfrm>
          <a:prstGeom prst="rect">
            <a:avLst/>
          </a:prstGeom>
          <a:noFill/>
          <a:ln/>
        </p:spPr>
        <p:txBody>
          <a:bodyPr wrap="square" lIns="0" tIns="0" rIns="0" bIns="0" rtlCol="0" anchor="ctr"/>
          <a:lstStyle/>
          <a:p>
            <a:pPr marL="0" indent="0" algn="ctr">
              <a:buNone/>
            </a:pPr>
            <a:r>
              <a:rPr lang="en-US" sz="1800" b="1" dirty="0">
                <a:solidFill>
                  <a:schemeClr val="bg1"/>
                </a:solidFill>
              </a:rPr>
              <a:t>No, she is the same</a:t>
            </a:r>
            <a:endParaRPr lang="en-US" sz="1800" dirty="0"/>
          </a:p>
        </p:txBody>
      </p:sp>
      <p:sp>
        <p:nvSpPr>
          <p:cNvPr id="11" name="Text 8"/>
          <p:cNvSpPr txBox="1"/>
          <p:nvPr/>
        </p:nvSpPr>
        <p:spPr>
          <a:xfrm>
            <a:off x="4937760" y="1874520"/>
            <a:ext cx="3383280" cy="2103120"/>
          </a:xfrm>
          <a:prstGeom prst="rect">
            <a:avLst/>
          </a:prstGeom>
          <a:noFill/>
          <a:ln/>
        </p:spPr>
        <p:txBody>
          <a:bodyPr wrap="square" lIns="0" tIns="0" rIns="0" bIns="0" rtlCol="0" anchor="t"/>
          <a:lstStyle/>
          <a:p>
            <a:pPr marL="0" indent="0">
              <a:spcAft>
                <a:spcPts val="800"/>
              </a:spcAft>
              <a:buNone/>
            </a:pPr>
            <a:r>
              <a:rPr lang="en-US" sz="1400" dirty="0">
                <a:solidFill>
                  <a:schemeClr val="tx1"/>
                </a:solidFill>
              </a:rPr>
              <a:t>She is still </a:t>
            </a:r>
            <a:r>
              <a:rPr lang="en-US" sz="1400" b="1" dirty="0">
                <a:solidFill>
                  <a:schemeClr val="tx1"/>
                </a:solidFill>
                <a:highlight>
                  <a:srgbClr val="FFD27F"/>
                </a:highlight>
              </a:rPr>
              <a:t>proud</a:t>
            </a:r>
            <a:r>
              <a:rPr lang="en-US" sz="1400" dirty="0">
                <a:solidFill>
                  <a:schemeClr val="tx1"/>
                </a:solidFill>
              </a:rPr>
              <a:t> and wants to save her people.</a:t>
            </a:r>
            <a:endParaRPr lang="en-US" sz="1600" dirty="0"/>
          </a:p>
          <a:p>
            <a:pPr marL="0" indent="0">
              <a:spcAft>
                <a:spcPts val="800"/>
              </a:spcAft>
              <a:buNone/>
            </a:pPr>
            <a:r>
              <a:rPr lang="en-US" sz="1400" dirty="0">
                <a:solidFill>
                  <a:schemeClr val="tx1"/>
                </a:solidFill>
              </a:rPr>
              <a:t>She still loves her mother.</a:t>
            </a:r>
            <a:endParaRPr lang="en-US" sz="1600" dirty="0"/>
          </a:p>
          <a:p>
            <a:pPr marL="0" indent="0">
              <a:spcAft>
                <a:spcPts val="800"/>
              </a:spcAft>
              <a:buNone/>
            </a:pPr>
            <a:r>
              <a:rPr lang="en-US" sz="1400" dirty="0">
                <a:solidFill>
                  <a:schemeClr val="tx1"/>
                </a:solidFill>
              </a:rPr>
              <a:t>She still does not give up.</a:t>
            </a:r>
            <a:endParaRPr lang="en-US" sz="1600" dirty="0"/>
          </a:p>
        </p:txBody>
      </p:sp>
      <p:sp>
        <p:nvSpPr>
          <p:cNvPr id="12" name="card"/>
          <p:cNvSpPr/>
          <p:nvPr/>
        </p:nvSpPr>
        <p:spPr>
          <a:xfrm>
            <a:off x="548640" y="4160520"/>
            <a:ext cx="8046720" cy="457200"/>
          </a:xfrm>
          <a:prstGeom prst="roundRect">
            <a:avLst>
              <a:gd name="adj" fmla="val 24000"/>
            </a:avLst>
          </a:prstGeom>
          <a:solidFill>
            <a:schemeClr val="accent1"/>
          </a:solidFill>
          <a:ln w="12700">
            <a:solidFill>
              <a:schemeClr val="accent1"/>
            </a:solidFill>
            <a:prstDash val="solid"/>
          </a:ln>
        </p:spPr>
      </p:sp>
      <p:sp>
        <p:nvSpPr>
          <p:cNvPr id="13" name="Text 10"/>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400" b="1" dirty="0">
                <a:solidFill>
                  <a:schemeClr val="tx1"/>
                </a:solidFill>
              </a:rPr>
              <a:t>Say: 'I think Baba has / has not changed because the text says ___.'</a:t>
            </a:r>
            <a:endParaRPr lang="en-US" sz="14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Plenary: some answers</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Yes:</a:t>
            </a:r>
            <a:r>
              <a:rPr lang="en-US" sz="1400" dirty="0">
                <a:solidFill>
                  <a:schemeClr val="tx1"/>
                </a:solidFill>
              </a:rPr>
              <a:t> earlier she ignored the old story; now she says it was 'all her fault' and acts quickly to lead people out.</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No:</a:t>
            </a:r>
            <a:r>
              <a:rPr lang="en-US" sz="1400" dirty="0">
                <a:solidFill>
                  <a:schemeClr val="tx1"/>
                </a:solidFill>
              </a:rPr>
              <a:t> she is still a determined leader who cares about her people, as she was at the start.</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Best answer:</a:t>
            </a:r>
            <a:r>
              <a:rPr lang="en-US" sz="1400" dirty="0">
                <a:solidFill>
                  <a:schemeClr val="tx1"/>
                </a:solidFill>
              </a:rPr>
              <a:t> 'She is still determined, but now she listens, takes the blame and uses the water stick bravely.'</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1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4"/>
          </a:solidFill>
          <a:ln w="12700">
            <a:solidFill>
              <a:schemeClr val="accent4"/>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'Everything was silent. No bird sang. No breeze blew.' What is the effect of the short sentences?</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make the city sound noisy</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build an eerie, tense mood</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show that Baba is happy</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give facts about birds</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1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B</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they build an eerie, tense mood</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The very short sentences and the silence make the reader feel that something is wrong (pp. 94-95).</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2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2"/>
          </a:solidFill>
          <a:ln w="12700">
            <a:solidFill>
              <a:schemeClr val="accent2"/>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Find and copy two words from page 99 which show that Baba thinks Petronas was not as good as it seemed.</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2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'too perfect'</a:t>
            </a:r>
            <a:r>
              <a:rPr lang="en-US" sz="2200" dirty="0">
                <a:solidFill>
                  <a:schemeClr val="tx1"/>
                </a:solidFill>
              </a:rPr>
              <a:t>  (1 mark)</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Everything had seemed so perfect, 'too perfect' (pp. 98-99). The words tell the reader the city was suspicious, not just beautiful.</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3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(1 mark)</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3"/>
          </a:solidFill>
          <a:ln w="12700">
            <a:solidFill>
              <a:schemeClr val="accent3"/>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'Fight magic with magic.' What does Baba mean?</a:t>
            </a:r>
            <a:endParaRPr lang="en-US" sz="1800" dirty="0"/>
          </a:p>
        </p:txBody>
      </p:sp>
      <p:sp>
        <p:nvSpPr>
          <p:cNvPr id="9" name="card"/>
          <p:cNvSpPr/>
          <p:nvPr/>
        </p:nvSpPr>
        <p:spPr>
          <a:xfrm>
            <a:off x="548640" y="2697480"/>
            <a:ext cx="3931920" cy="868680"/>
          </a:xfrm>
          <a:prstGeom prst="roundRect">
            <a:avLst>
              <a:gd name="adj" fmla="val 12632"/>
            </a:avLst>
          </a:prstGeom>
          <a:solidFill>
            <a:schemeClr val="bg2"/>
          </a:solidFill>
          <a:ln w="12700">
            <a:solidFill>
              <a:schemeClr val="bg2"/>
            </a:solidFill>
            <a:prstDash val="solid"/>
          </a:ln>
        </p:spPr>
      </p:sp>
      <p:sp>
        <p:nvSpPr>
          <p:cNvPr id="10" name="tick box"/>
          <p:cNvSpPr/>
          <p:nvPr/>
        </p:nvSpPr>
        <p:spPr>
          <a:xfrm>
            <a:off x="731520" y="2944368"/>
            <a:ext cx="365760" cy="365760"/>
          </a:xfrm>
          <a:prstGeom prst="rect">
            <a:avLst/>
          </a:prstGeom>
          <a:solidFill>
            <a:schemeClr val="bg1"/>
          </a:solidFill>
          <a:ln w="19050">
            <a:solidFill>
              <a:schemeClr val="tx1"/>
            </a:solidFill>
            <a:prstDash val="solid"/>
          </a:ln>
        </p:spPr>
      </p:sp>
      <p:sp>
        <p:nvSpPr>
          <p:cNvPr id="11" name="Text 8"/>
          <p:cNvSpPr txBox="1"/>
          <p:nvPr/>
        </p:nvSpPr>
        <p:spPr>
          <a:xfrm>
            <a:off x="12344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A</a:t>
            </a:r>
            <a:endParaRPr lang="en-US" sz="1800" dirty="0"/>
          </a:p>
        </p:txBody>
      </p:sp>
      <p:sp>
        <p:nvSpPr>
          <p:cNvPr id="12" name="Text 9"/>
          <p:cNvSpPr txBox="1"/>
          <p:nvPr/>
        </p:nvSpPr>
        <p:spPr>
          <a:xfrm>
            <a:off x="16459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should use the water stick, their own kind of magic, against the city</a:t>
            </a:r>
            <a:endParaRPr lang="en-US" sz="1600" dirty="0"/>
          </a:p>
        </p:txBody>
      </p:sp>
      <p:sp>
        <p:nvSpPr>
          <p:cNvPr id="13" name="card"/>
          <p:cNvSpPr/>
          <p:nvPr/>
        </p:nvSpPr>
        <p:spPr>
          <a:xfrm>
            <a:off x="4663440" y="2697480"/>
            <a:ext cx="3931920" cy="868680"/>
          </a:xfrm>
          <a:prstGeom prst="roundRect">
            <a:avLst>
              <a:gd name="adj" fmla="val 12632"/>
            </a:avLst>
          </a:prstGeom>
          <a:solidFill>
            <a:schemeClr val="bg2"/>
          </a:solidFill>
          <a:ln w="12700">
            <a:solidFill>
              <a:schemeClr val="bg2"/>
            </a:solidFill>
            <a:prstDash val="solid"/>
          </a:ln>
        </p:spPr>
      </p:sp>
      <p:sp>
        <p:nvSpPr>
          <p:cNvPr id="14" name="tick box"/>
          <p:cNvSpPr/>
          <p:nvPr/>
        </p:nvSpPr>
        <p:spPr>
          <a:xfrm>
            <a:off x="4846320" y="2944368"/>
            <a:ext cx="365760" cy="365760"/>
          </a:xfrm>
          <a:prstGeom prst="rect">
            <a:avLst/>
          </a:prstGeom>
          <a:solidFill>
            <a:schemeClr val="bg1"/>
          </a:solidFill>
          <a:ln w="19050">
            <a:solidFill>
              <a:schemeClr val="tx1"/>
            </a:solidFill>
            <a:prstDash val="solid"/>
          </a:ln>
        </p:spPr>
      </p:sp>
      <p:sp>
        <p:nvSpPr>
          <p:cNvPr id="15" name="Text 12"/>
          <p:cNvSpPr txBox="1"/>
          <p:nvPr/>
        </p:nvSpPr>
        <p:spPr>
          <a:xfrm>
            <a:off x="5349240" y="269748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B</a:t>
            </a:r>
            <a:endParaRPr lang="en-US" sz="1800" dirty="0"/>
          </a:p>
        </p:txBody>
      </p:sp>
      <p:sp>
        <p:nvSpPr>
          <p:cNvPr id="16" name="Text 13"/>
          <p:cNvSpPr txBox="1"/>
          <p:nvPr/>
        </p:nvSpPr>
        <p:spPr>
          <a:xfrm>
            <a:off x="5760720" y="269748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should run away without a plan</a:t>
            </a:r>
            <a:endParaRPr lang="en-US" sz="1600" dirty="0"/>
          </a:p>
        </p:txBody>
      </p:sp>
      <p:sp>
        <p:nvSpPr>
          <p:cNvPr id="17" name="card"/>
          <p:cNvSpPr/>
          <p:nvPr/>
        </p:nvSpPr>
        <p:spPr>
          <a:xfrm>
            <a:off x="548640" y="3703320"/>
            <a:ext cx="3931920" cy="868680"/>
          </a:xfrm>
          <a:prstGeom prst="roundRect">
            <a:avLst>
              <a:gd name="adj" fmla="val 12632"/>
            </a:avLst>
          </a:prstGeom>
          <a:solidFill>
            <a:schemeClr val="bg2"/>
          </a:solidFill>
          <a:ln w="12700">
            <a:solidFill>
              <a:schemeClr val="bg2"/>
            </a:solidFill>
            <a:prstDash val="solid"/>
          </a:ln>
        </p:spPr>
      </p:sp>
      <p:sp>
        <p:nvSpPr>
          <p:cNvPr id="18" name="tick box"/>
          <p:cNvSpPr/>
          <p:nvPr/>
        </p:nvSpPr>
        <p:spPr>
          <a:xfrm>
            <a:off x="731520" y="3950208"/>
            <a:ext cx="365760" cy="365760"/>
          </a:xfrm>
          <a:prstGeom prst="rect">
            <a:avLst/>
          </a:prstGeom>
          <a:solidFill>
            <a:schemeClr val="bg1"/>
          </a:solidFill>
          <a:ln w="19050">
            <a:solidFill>
              <a:schemeClr val="tx1"/>
            </a:solidFill>
            <a:prstDash val="solid"/>
          </a:ln>
        </p:spPr>
      </p:sp>
      <p:sp>
        <p:nvSpPr>
          <p:cNvPr id="19" name="Text 16"/>
          <p:cNvSpPr txBox="1"/>
          <p:nvPr/>
        </p:nvSpPr>
        <p:spPr>
          <a:xfrm>
            <a:off x="12344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C</a:t>
            </a:r>
            <a:endParaRPr lang="en-US" sz="1800" dirty="0"/>
          </a:p>
        </p:txBody>
      </p:sp>
      <p:sp>
        <p:nvSpPr>
          <p:cNvPr id="20" name="Text 17"/>
          <p:cNvSpPr txBox="1"/>
          <p:nvPr/>
        </p:nvSpPr>
        <p:spPr>
          <a:xfrm>
            <a:off x="16459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should break the wall with tools</a:t>
            </a:r>
            <a:endParaRPr lang="en-US" sz="1600" dirty="0"/>
          </a:p>
        </p:txBody>
      </p:sp>
      <p:sp>
        <p:nvSpPr>
          <p:cNvPr id="21" name="card"/>
          <p:cNvSpPr/>
          <p:nvPr/>
        </p:nvSpPr>
        <p:spPr>
          <a:xfrm>
            <a:off x="4663440" y="3703320"/>
            <a:ext cx="3931920" cy="868680"/>
          </a:xfrm>
          <a:prstGeom prst="roundRect">
            <a:avLst>
              <a:gd name="adj" fmla="val 12632"/>
            </a:avLst>
          </a:prstGeom>
          <a:solidFill>
            <a:schemeClr val="bg2"/>
          </a:solidFill>
          <a:ln w="12700">
            <a:solidFill>
              <a:schemeClr val="bg2"/>
            </a:solidFill>
            <a:prstDash val="solid"/>
          </a:ln>
        </p:spPr>
      </p:sp>
      <p:sp>
        <p:nvSpPr>
          <p:cNvPr id="22" name="tick box"/>
          <p:cNvSpPr/>
          <p:nvPr/>
        </p:nvSpPr>
        <p:spPr>
          <a:xfrm>
            <a:off x="4846320" y="3950208"/>
            <a:ext cx="365760" cy="365760"/>
          </a:xfrm>
          <a:prstGeom prst="rect">
            <a:avLst/>
          </a:prstGeom>
          <a:solidFill>
            <a:schemeClr val="bg1"/>
          </a:solidFill>
          <a:ln w="19050">
            <a:solidFill>
              <a:schemeClr val="tx1"/>
            </a:solidFill>
            <a:prstDash val="solid"/>
          </a:ln>
        </p:spPr>
      </p:sp>
      <p:sp>
        <p:nvSpPr>
          <p:cNvPr id="23" name="Text 20"/>
          <p:cNvSpPr txBox="1"/>
          <p:nvPr/>
        </p:nvSpPr>
        <p:spPr>
          <a:xfrm>
            <a:off x="5349240" y="3703320"/>
            <a:ext cx="365760" cy="868680"/>
          </a:xfrm>
          <a:prstGeom prst="rect">
            <a:avLst/>
          </a:prstGeom>
          <a:noFill/>
          <a:ln/>
        </p:spPr>
        <p:txBody>
          <a:bodyPr wrap="square" lIns="0" tIns="0" rIns="0" bIns="0" rtlCol="0" anchor="ctr"/>
          <a:lstStyle/>
          <a:p>
            <a:pPr marL="0" indent="0">
              <a:buNone/>
            </a:pPr>
            <a:r>
              <a:rPr lang="en-US" sz="1800" b="1" dirty="0">
                <a:solidFill>
                  <a:schemeClr val="accent4"/>
                </a:solidFill>
              </a:rPr>
              <a:t>D</a:t>
            </a:r>
            <a:endParaRPr lang="en-US" sz="1800" dirty="0"/>
          </a:p>
        </p:txBody>
      </p:sp>
      <p:sp>
        <p:nvSpPr>
          <p:cNvPr id="24" name="Text 21"/>
          <p:cNvSpPr txBox="1"/>
          <p:nvPr/>
        </p:nvSpPr>
        <p:spPr>
          <a:xfrm>
            <a:off x="5760720" y="3703320"/>
            <a:ext cx="2743200" cy="868680"/>
          </a:xfrm>
          <a:prstGeom prst="rect">
            <a:avLst/>
          </a:prstGeom>
          <a:noFill/>
          <a:ln/>
        </p:spPr>
        <p:txBody>
          <a:bodyPr wrap="square" lIns="0" tIns="0" rIns="0" bIns="0" rtlCol="0" anchor="ctr"/>
          <a:lstStyle/>
          <a:p>
            <a:pPr marL="0" indent="0">
              <a:buNone/>
            </a:pPr>
            <a:r>
              <a:rPr lang="en-US" sz="1600" dirty="0">
                <a:solidFill>
                  <a:schemeClr val="tx1"/>
                </a:solidFill>
              </a:rPr>
              <a:t>they should ask Ki to come back</a:t>
            </a:r>
            <a:endParaRPr lang="en-US" sz="1600" dirty="0"/>
          </a:p>
        </p:txBody>
      </p:sp>
      <p:sp>
        <p:nvSpPr>
          <p:cNvPr id="25" name="Text 22"/>
          <p:cNvSpPr txBox="1"/>
          <p:nvPr/>
        </p:nvSpPr>
        <p:spPr>
          <a:xfrm>
            <a:off x="548640" y="4572000"/>
            <a:ext cx="4572000" cy="274320"/>
          </a:xfrm>
          <a:prstGeom prst="rect">
            <a:avLst/>
          </a:prstGeom>
          <a:noFill/>
          <a:ln/>
        </p:spPr>
        <p:txBody>
          <a:bodyPr wrap="square" lIns="0" tIns="0" rIns="0" bIns="0" rtlCol="0" anchor="t"/>
          <a:lstStyle/>
          <a:p>
            <a:pPr marL="0" indent="0">
              <a:buNone/>
            </a:pPr>
            <a:r>
              <a:rPr lang="en-US" sz="1200" i="1" dirty="0">
                <a:solidFill>
                  <a:srgbClr val="4A4668"/>
                </a:solidFill>
              </a:rPr>
              <a:t>Put a cross in one box.</a:t>
            </a:r>
            <a:endParaRPr lang="en-US" sz="1200" dirty="0"/>
          </a:p>
        </p:txBody>
      </p:sp>
      <p:sp>
        <p:nvSpPr>
          <p:cNvPr id="3"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3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correct letter"/>
          <p:cNvSpPr/>
          <p:nvPr/>
        </p:nvSpPr>
        <p:spPr>
          <a:xfrm>
            <a:off x="822960" y="1371600"/>
            <a:ext cx="914400" cy="914400"/>
          </a:xfrm>
          <a:prstGeom prst="ellipse">
            <a:avLst/>
          </a:prstGeom>
          <a:solidFill>
            <a:schemeClr val="accent2"/>
          </a:solidFill>
          <a:ln w="12700">
            <a:solidFill>
              <a:schemeClr val="bg1"/>
            </a:solidFill>
            <a:prstDash val="solid"/>
          </a:ln>
        </p:spPr>
      </p:sp>
      <p:sp>
        <p:nvSpPr>
          <p:cNvPr id="6" name="Text 3"/>
          <p:cNvSpPr txBox="1"/>
          <p:nvPr/>
        </p:nvSpPr>
        <p:spPr>
          <a:xfrm>
            <a:off x="822960" y="1371600"/>
            <a:ext cx="914400" cy="914400"/>
          </a:xfrm>
          <a:prstGeom prst="rect">
            <a:avLst/>
          </a:prstGeom>
          <a:noFill/>
          <a:ln/>
        </p:spPr>
        <p:txBody>
          <a:bodyPr wrap="square" lIns="0" tIns="0" rIns="0" bIns="0" rtlCol="0" anchor="ctr"/>
          <a:lstStyle/>
          <a:p>
            <a:pPr marL="0" indent="0" algn="ctr">
              <a:buNone/>
            </a:pPr>
            <a:r>
              <a:rPr lang="en-US" sz="3600" b="1" dirty="0">
                <a:solidFill>
                  <a:schemeClr val="bg1"/>
                </a:solidFill>
              </a:rPr>
              <a:t>A</a:t>
            </a:r>
            <a:endParaRPr lang="en-US" sz="3600" dirty="0"/>
          </a:p>
        </p:txBody>
      </p:sp>
      <p:sp>
        <p:nvSpPr>
          <p:cNvPr id="7" name="Text 4"/>
          <p:cNvSpPr txBox="1"/>
          <p:nvPr/>
        </p:nvSpPr>
        <p:spPr>
          <a:xfrm>
            <a:off x="2011680" y="1280160"/>
            <a:ext cx="640080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they should use the water stick, their own kind of magic, against the city</a:t>
            </a:r>
            <a:r>
              <a:rPr lang="en-US" sz="2200" dirty="0">
                <a:solidFill>
                  <a:schemeClr val="tx1"/>
                </a:solidFill>
              </a:rPr>
              <a:t>  (1 mark)</a:t>
            </a:r>
            <a:endParaRPr lang="en-US" sz="1600" dirty="0"/>
          </a:p>
        </p:txBody>
      </p:sp>
      <p:sp>
        <p:nvSpPr>
          <p:cNvPr id="8" name="Text 5"/>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Tools bounce off the stone, so Baba decides the water stick is the magic they have (pp. 116-117 and 120).</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Exam practice: question 4 of 4</a:t>
            </a:r>
            <a:endParaRPr lang="en-US" sz="3000" dirty="0"/>
          </a:p>
        </p:txBody>
      </p:sp>
      <p:sp>
        <p:nvSpPr>
          <p:cNvPr id="4" name="Text 1"/>
          <p:cNvSpPr txBox="1"/>
          <p:nvPr/>
        </p:nvSpPr>
        <p:spPr>
          <a:xfrm>
            <a:off x="6583680" y="457200"/>
            <a:ext cx="2011680" cy="365760"/>
          </a:xfrm>
          <a:prstGeom prst="rect">
            <a:avLst/>
          </a:prstGeom>
          <a:noFill/>
          <a:ln/>
        </p:spPr>
        <p:txBody>
          <a:bodyPr wrap="square" lIns="0" tIns="0" rIns="0" bIns="0" rtlCol="0" anchor="t"/>
          <a:lstStyle/>
          <a:p>
            <a:pPr marL="0" indent="0" algn="r">
              <a:buNone/>
            </a:pPr>
            <a:r>
              <a:rPr lang="en-US" sz="1400" b="1" dirty="0">
                <a:solidFill>
                  <a:schemeClr val="tx1"/>
                </a:solidFill>
              </a:rPr>
              <a:t>(2 marks)</a:t>
            </a:r>
            <a:endParaRPr lang="en-US" sz="1400" dirty="0"/>
          </a:p>
        </p:txBody>
      </p:sp>
      <p:sp>
        <p:nvSpPr>
          <p:cNvPr id="5" name="card"/>
          <p:cNvSpPr/>
          <p:nvPr/>
        </p:nvSpPr>
        <p:spPr>
          <a:xfrm>
            <a:off x="548640" y="1097280"/>
            <a:ext cx="8046720" cy="1417320"/>
          </a:xfrm>
          <a:prstGeom prst="roundRect">
            <a:avLst>
              <a:gd name="adj" fmla="val 7742"/>
            </a:avLst>
          </a:prstGeom>
          <a:solidFill>
            <a:schemeClr val="bg2"/>
          </a:solidFill>
          <a:ln w="12700">
            <a:solidFill>
              <a:schemeClr val="bg2"/>
            </a:solidFill>
            <a:prstDash val="solid"/>
          </a:ln>
        </p:spPr>
      </p:sp>
      <p:sp>
        <p:nvSpPr>
          <p:cNvPr id="6" name="question number"/>
          <p:cNvSpPr/>
          <p:nvPr/>
        </p:nvSpPr>
        <p:spPr>
          <a:xfrm>
            <a:off x="731520" y="1554480"/>
            <a:ext cx="594360" cy="594360"/>
          </a:xfrm>
          <a:prstGeom prst="ellipse">
            <a:avLst/>
          </a:prstGeom>
          <a:solidFill>
            <a:schemeClr val="accent5"/>
          </a:solidFill>
          <a:ln w="12700">
            <a:solidFill>
              <a:schemeClr val="accent5"/>
            </a:solidFill>
            <a:prstDash val="solid"/>
          </a:ln>
        </p:spPr>
      </p:sp>
      <p:sp>
        <p:nvSpPr>
          <p:cNvPr id="7" name="Text 4"/>
          <p:cNvSpPr txBox="1"/>
          <p:nvPr/>
        </p:nvSpPr>
        <p:spPr>
          <a:xfrm>
            <a:off x="731520" y="1554480"/>
            <a:ext cx="594360" cy="59436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8" name="Text 5"/>
          <p:cNvSpPr txBox="1"/>
          <p:nvPr/>
        </p:nvSpPr>
        <p:spPr>
          <a:xfrm>
            <a:off x="1508760" y="1097280"/>
            <a:ext cx="6903720" cy="1417320"/>
          </a:xfrm>
          <a:prstGeom prst="rect">
            <a:avLst/>
          </a:prstGeom>
          <a:noFill/>
          <a:ln/>
        </p:spPr>
        <p:txBody>
          <a:bodyPr wrap="square" lIns="0" tIns="0" rIns="0" bIns="0" rtlCol="0" anchor="ctr"/>
          <a:lstStyle/>
          <a:p>
            <a:pPr marL="0" indent="0">
              <a:buNone/>
            </a:pPr>
            <a:r>
              <a:rPr lang="en-US" sz="1800" b="1" dirty="0">
                <a:solidFill>
                  <a:schemeClr val="tx1"/>
                </a:solidFill>
              </a:rPr>
              <a:t>Baba says, 'I'm scared, too.' Do you think she is brave? Use evidence from the text to explain your answer.</a:t>
            </a:r>
            <a:endParaRPr lang="en-US" sz="1800" dirty="0"/>
          </a:p>
        </p:txBody>
      </p:sp>
      <p:sp>
        <p:nvSpPr>
          <p:cNvPr id="9" name="card"/>
          <p:cNvSpPr/>
          <p:nvPr/>
        </p:nvSpPr>
        <p:spPr>
          <a:xfrm>
            <a:off x="548640" y="2697480"/>
            <a:ext cx="8046720" cy="1783080"/>
          </a:xfrm>
          <a:prstGeom prst="roundRect">
            <a:avLst>
              <a:gd name="adj" fmla="val 6154"/>
            </a:avLst>
          </a:prstGeom>
          <a:solidFill>
            <a:schemeClr val="bg2"/>
          </a:solidFill>
          <a:ln w="12700">
            <a:solidFill>
              <a:schemeClr val="bg2"/>
            </a:solidFill>
            <a:prstDash val="solid"/>
          </a:ln>
        </p:spPr>
      </p:sp>
      <p:sp>
        <p:nvSpPr>
          <p:cNvPr id="10" name="Text 7"/>
          <p:cNvSpPr txBox="1"/>
          <p:nvPr/>
        </p:nvSpPr>
        <p:spPr>
          <a:xfrm>
            <a:off x="777240" y="2743200"/>
            <a:ext cx="7589520" cy="365760"/>
          </a:xfrm>
          <a:prstGeom prst="rect">
            <a:avLst/>
          </a:prstGeom>
          <a:noFill/>
          <a:ln/>
        </p:spPr>
        <p:txBody>
          <a:bodyPr wrap="square" lIns="0" tIns="0" rIns="0" bIns="0" rtlCol="0" anchor="t"/>
          <a:lstStyle/>
          <a:p>
            <a:pPr marL="0" indent="0">
              <a:buNone/>
            </a:pPr>
            <a:r>
              <a:rPr lang="en-US" sz="1300" i="1" dirty="0">
                <a:solidFill>
                  <a:srgbClr val="4A4668"/>
                </a:solidFill>
              </a:rPr>
              <a:t>Write your answer in your book.</a:t>
            </a:r>
            <a:endParaRPr lang="en-US" sz="1300" dirty="0"/>
          </a:p>
        </p:txBody>
      </p:sp>
      <p:sp>
        <p:nvSpPr>
          <p:cNvPr id="11" name="answer line"/>
          <p:cNvSpPr/>
          <p:nvPr/>
        </p:nvSpPr>
        <p:spPr>
          <a:xfrm>
            <a:off x="822960" y="3429000"/>
            <a:ext cx="7498080" cy="0"/>
          </a:xfrm>
          <a:prstGeom prst="line">
            <a:avLst/>
          </a:prstGeom>
          <a:noFill/>
          <a:ln w="12700">
            <a:solidFill>
              <a:srgbClr val="BDB6D9"/>
            </a:solidFill>
            <a:prstDash val="solid"/>
          </a:ln>
        </p:spPr>
      </p:sp>
      <p:sp>
        <p:nvSpPr>
          <p:cNvPr id="12" name="answer line"/>
          <p:cNvSpPr/>
          <p:nvPr/>
        </p:nvSpPr>
        <p:spPr>
          <a:xfrm>
            <a:off x="822960" y="3840480"/>
            <a:ext cx="7498080" cy="0"/>
          </a:xfrm>
          <a:prstGeom prst="line">
            <a:avLst/>
          </a:prstGeom>
          <a:noFill/>
          <a:ln w="12700">
            <a:solidFill>
              <a:srgbClr val="BDB6D9"/>
            </a:solidFill>
            <a:prstDash val="solid"/>
          </a:ln>
        </p:spPr>
      </p:sp>
      <p:sp>
        <p:nvSpPr>
          <p:cNvPr id="13" name="answer line"/>
          <p:cNvSpPr/>
          <p:nvPr/>
        </p:nvSpPr>
        <p:spPr>
          <a:xfrm>
            <a:off x="822960" y="4251960"/>
            <a:ext cx="7498080" cy="0"/>
          </a:xfrm>
          <a:prstGeom prst="line">
            <a:avLst/>
          </a:prstGeom>
          <a:noFill/>
          <a:ln w="12700">
            <a:solidFill>
              <a:srgbClr val="BDB6D9"/>
            </a:solidFill>
            <a:prstDash val="solid"/>
          </a:ln>
        </p:spPr>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Answer: question 4 of 4</a:t>
            </a:r>
            <a:endParaRPr lang="en-US" sz="3000" dirty="0"/>
          </a:p>
        </p:txBody>
      </p:sp>
      <p:sp>
        <p:nvSpPr>
          <p:cNvPr id="4" name="card"/>
          <p:cNvSpPr/>
          <p:nvPr/>
        </p:nvSpPr>
        <p:spPr>
          <a:xfrm>
            <a:off x="548640" y="1097280"/>
            <a:ext cx="8046720" cy="347472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822960" y="1280160"/>
            <a:ext cx="7498080" cy="1097280"/>
          </a:xfrm>
          <a:prstGeom prst="rect">
            <a:avLst/>
          </a:prstGeom>
          <a:noFill/>
          <a:ln/>
        </p:spPr>
        <p:txBody>
          <a:bodyPr wrap="square" lIns="0" tIns="0" rIns="0" bIns="0" rtlCol="0" anchor="ctr"/>
          <a:lstStyle/>
          <a:p>
            <a:pPr marL="0" indent="0">
              <a:buNone/>
            </a:pPr>
            <a:r>
              <a:rPr lang="en-US" sz="2200" b="1" dirty="0">
                <a:solidFill>
                  <a:schemeClr val="tx1"/>
                </a:solidFill>
                <a:highlight>
                  <a:srgbClr val="FFD27F"/>
                </a:highlight>
              </a:rPr>
              <a:t>A view with evidence.</a:t>
            </a:r>
            <a:r>
              <a:rPr lang="en-US" sz="2200" dirty="0">
                <a:solidFill>
                  <a:schemeClr val="tx1"/>
                </a:solidFill>
              </a:rPr>
              <a:t>  (2 marks)</a:t>
            </a:r>
            <a:endParaRPr lang="en-US" sz="1600" dirty="0"/>
          </a:p>
        </p:txBody>
      </p:sp>
      <p:sp>
        <p:nvSpPr>
          <p:cNvPr id="6" name="Text 3"/>
          <p:cNvSpPr txBox="1"/>
          <p:nvPr/>
        </p:nvSpPr>
        <p:spPr>
          <a:xfrm>
            <a:off x="822960" y="2468880"/>
            <a:ext cx="7498080" cy="20116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1 mark for a view: for example, 'Yes, she is brave.'</a:t>
            </a:r>
            <a:endParaRPr lang="en-US" sz="1600" dirty="0"/>
          </a:p>
          <a:p>
            <a:pPr marL="0" indent="0">
              <a:spcAft>
                <a:spcPts val="600"/>
              </a:spcAft>
              <a:buNone/>
            </a:pPr>
            <a:r>
              <a:rPr lang="en-US" sz="1600" dirty="0">
                <a:solidFill>
                  <a:schemeClr val="tx1"/>
                </a:solidFill>
              </a:rPr>
              <a:t>1 mark for evidence: for example, she climbs the tower and holds the shaking stick against the wind (pp. 120-121), or she runs back to get everybody out (p. 124).</a:t>
            </a:r>
            <a:endParaRPr lang="en-US" sz="1600" dirty="0"/>
          </a:p>
          <a:p>
            <a:pPr marL="0" indent="0">
              <a:spcAft>
                <a:spcPts val="600"/>
              </a:spcAft>
              <a:buNone/>
            </a:pPr>
            <a:r>
              <a:rPr lang="en-US" sz="1600" dirty="0">
                <a:solidFill>
                  <a:schemeClr val="tx1"/>
                </a:solidFill>
              </a:rPr>
              <a:t>Accept a reasoned 'no' with evidence.</a:t>
            </a:r>
            <a:endParaRPr lang="en-US" sz="1600" dirty="0"/>
          </a:p>
          <a:p>
            <a:pPr marL="0" indent="0">
              <a:spcAft>
                <a:spcPts val="600"/>
              </a:spcAft>
              <a:buNone/>
            </a:pPr>
            <a:r>
              <a:rPr lang="en-US" sz="1600" dirty="0">
                <a:solidFill>
                  <a:schemeClr val="tx1"/>
                </a:solidFill>
              </a:rPr>
              <a:t>Total for exam practice: ____ / 5</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Exit ticket</a:t>
            </a:r>
            <a:endParaRPr lang="en-US" sz="3000" dirty="0"/>
          </a:p>
        </p:txBody>
      </p:sp>
      <p:sp>
        <p:nvSpPr>
          <p:cNvPr id="4" name="card"/>
          <p:cNvSpPr/>
          <p:nvPr/>
        </p:nvSpPr>
        <p:spPr>
          <a:xfrm>
            <a:off x="548640" y="1143000"/>
            <a:ext cx="8046720" cy="1005840"/>
          </a:xfrm>
          <a:prstGeom prst="roundRect">
            <a:avLst>
              <a:gd name="adj" fmla="val 10909"/>
            </a:avLst>
          </a:prstGeom>
          <a:solidFill>
            <a:schemeClr val="bg2"/>
          </a:solidFill>
          <a:ln w="12700">
            <a:solidFill>
              <a:schemeClr val="bg2"/>
            </a:solidFill>
            <a:prstDash val="solid"/>
          </a:ln>
        </p:spPr>
      </p:sp>
      <p:sp>
        <p:nvSpPr>
          <p:cNvPr id="5" name="badge"/>
          <p:cNvSpPr/>
          <p:nvPr/>
        </p:nvSpPr>
        <p:spPr>
          <a:xfrm>
            <a:off x="731520" y="1325880"/>
            <a:ext cx="640080" cy="640080"/>
          </a:xfrm>
          <a:prstGeom prst="ellipse">
            <a:avLst/>
          </a:prstGeom>
          <a:solidFill>
            <a:schemeClr val="accent4"/>
          </a:solidFill>
          <a:ln w="12700">
            <a:solidFill>
              <a:schemeClr val="accent4"/>
            </a:solidFill>
            <a:prstDash val="solid"/>
          </a:ln>
        </p:spPr>
      </p:sp>
      <p:pic>
        <p:nvPicPr>
          <p:cNvPr id="6" name="icon" descr="pencil"/>
          <p:cNvPicPr>
            <a:picLocks noChangeAspect="1"/>
          </p:cNvPicPr>
          <p:nvPr/>
        </p:nvPicPr>
        <p:blipFill>
          <a:blip r:embed="rId3"/>
          <a:stretch>
            <a:fillRect/>
          </a:stretch>
        </p:blipFill>
        <p:spPr>
          <a:xfrm>
            <a:off x="897941" y="1492301"/>
            <a:ext cx="307238" cy="307238"/>
          </a:xfrm>
          <a:prstGeom prst="rect">
            <a:avLst/>
          </a:prstGeom>
        </p:spPr>
      </p:pic>
      <p:sp>
        <p:nvSpPr>
          <p:cNvPr id="7" name="Text 3"/>
          <p:cNvSpPr txBox="1"/>
          <p:nvPr/>
        </p:nvSpPr>
        <p:spPr>
          <a:xfrm>
            <a:off x="1600200" y="1143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Complete: The author builds tension by using _____. For example, '_____'.</a:t>
            </a:r>
            <a:endParaRPr lang="en-US" sz="1600" dirty="0"/>
          </a:p>
        </p:txBody>
      </p:sp>
      <p:sp>
        <p:nvSpPr>
          <p:cNvPr id="8" name="card"/>
          <p:cNvSpPr/>
          <p:nvPr/>
        </p:nvSpPr>
        <p:spPr>
          <a:xfrm>
            <a:off x="548640" y="2286000"/>
            <a:ext cx="8046720" cy="1005840"/>
          </a:xfrm>
          <a:prstGeom prst="roundRect">
            <a:avLst>
              <a:gd name="adj" fmla="val 10909"/>
            </a:avLst>
          </a:prstGeom>
          <a:solidFill>
            <a:schemeClr val="bg2"/>
          </a:solidFill>
          <a:ln w="12700">
            <a:solidFill>
              <a:schemeClr val="bg2"/>
            </a:solidFill>
            <a:prstDash val="solid"/>
          </a:ln>
        </p:spPr>
      </p:sp>
      <p:sp>
        <p:nvSpPr>
          <p:cNvPr id="9" name="badge"/>
          <p:cNvSpPr/>
          <p:nvPr/>
        </p:nvSpPr>
        <p:spPr>
          <a:xfrm>
            <a:off x="731520" y="2468880"/>
            <a:ext cx="640080" cy="640080"/>
          </a:xfrm>
          <a:prstGeom prst="ellipse">
            <a:avLst/>
          </a:prstGeom>
          <a:solidFill>
            <a:schemeClr val="accent2"/>
          </a:solidFill>
          <a:ln w="12700">
            <a:solidFill>
              <a:schemeClr val="accent2"/>
            </a:solidFill>
            <a:prstDash val="solid"/>
          </a:ln>
        </p:spPr>
      </p:sp>
      <p:pic>
        <p:nvPicPr>
          <p:cNvPr id="10" name="icon" descr="heart"/>
          <p:cNvPicPr>
            <a:picLocks noChangeAspect="1"/>
          </p:cNvPicPr>
          <p:nvPr/>
        </p:nvPicPr>
        <p:blipFill>
          <a:blip r:embed="rId4"/>
          <a:stretch>
            <a:fillRect/>
          </a:stretch>
        </p:blipFill>
        <p:spPr>
          <a:xfrm>
            <a:off x="897941" y="2635301"/>
            <a:ext cx="307238" cy="307238"/>
          </a:xfrm>
          <a:prstGeom prst="rect">
            <a:avLst/>
          </a:prstGeom>
        </p:spPr>
      </p:pic>
      <p:sp>
        <p:nvSpPr>
          <p:cNvPr id="11" name="Text 6"/>
          <p:cNvSpPr txBox="1"/>
          <p:nvPr/>
        </p:nvSpPr>
        <p:spPr>
          <a:xfrm>
            <a:off x="1600200" y="2286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Complete: At the start Baba is _____, but by the end she is _____.</a:t>
            </a:r>
            <a:endParaRPr lang="en-US" sz="1600" dirty="0"/>
          </a:p>
        </p:txBody>
      </p:sp>
      <p:sp>
        <p:nvSpPr>
          <p:cNvPr id="12" name="card"/>
          <p:cNvSpPr/>
          <p:nvPr/>
        </p:nvSpPr>
        <p:spPr>
          <a:xfrm>
            <a:off x="548640" y="3429000"/>
            <a:ext cx="8046720" cy="1005840"/>
          </a:xfrm>
          <a:prstGeom prst="roundRect">
            <a:avLst>
              <a:gd name="adj" fmla="val 10909"/>
            </a:avLst>
          </a:prstGeom>
          <a:solidFill>
            <a:schemeClr val="bg2"/>
          </a:solidFill>
          <a:ln w="12700">
            <a:solidFill>
              <a:schemeClr val="bg2"/>
            </a:solidFill>
            <a:prstDash val="solid"/>
          </a:ln>
        </p:spPr>
      </p:sp>
      <p:sp>
        <p:nvSpPr>
          <p:cNvPr id="13" name="badge"/>
          <p:cNvSpPr/>
          <p:nvPr/>
        </p:nvSpPr>
        <p:spPr>
          <a:xfrm>
            <a:off x="731520" y="3611880"/>
            <a:ext cx="640080" cy="640080"/>
          </a:xfrm>
          <a:prstGeom prst="ellipse">
            <a:avLst/>
          </a:prstGeom>
          <a:solidFill>
            <a:schemeClr val="accent3"/>
          </a:solidFill>
          <a:ln w="12700">
            <a:solidFill>
              <a:schemeClr val="accent3"/>
            </a:solidFill>
            <a:prstDash val="solid"/>
          </a:ln>
        </p:spPr>
      </p:sp>
      <p:pic>
        <p:nvPicPr>
          <p:cNvPr id="14" name="icon" descr="hand"/>
          <p:cNvPicPr>
            <a:picLocks noChangeAspect="1"/>
          </p:cNvPicPr>
          <p:nvPr/>
        </p:nvPicPr>
        <p:blipFill>
          <a:blip r:embed="rId5"/>
          <a:stretch>
            <a:fillRect/>
          </a:stretch>
        </p:blipFill>
        <p:spPr>
          <a:xfrm>
            <a:off x="897941" y="3778301"/>
            <a:ext cx="307238" cy="307238"/>
          </a:xfrm>
          <a:prstGeom prst="rect">
            <a:avLst/>
          </a:prstGeom>
        </p:spPr>
      </p:pic>
      <p:sp>
        <p:nvSpPr>
          <p:cNvPr id="15" name="Text 9"/>
          <p:cNvSpPr txBox="1"/>
          <p:nvPr/>
        </p:nvSpPr>
        <p:spPr>
          <a:xfrm>
            <a:off x="1600200" y="3429000"/>
            <a:ext cx="6766560" cy="1005840"/>
          </a:xfrm>
          <a:prstGeom prst="rect">
            <a:avLst/>
          </a:prstGeom>
          <a:noFill/>
          <a:ln/>
        </p:spPr>
        <p:txBody>
          <a:bodyPr wrap="square" lIns="0" tIns="0" rIns="0" bIns="0" rtlCol="0" anchor="ctr"/>
          <a:lstStyle/>
          <a:p>
            <a:pPr marL="0" indent="0">
              <a:buNone/>
            </a:pPr>
            <a:r>
              <a:rPr lang="en-US" sz="1600" dirty="0">
                <a:solidFill>
                  <a:schemeClr val="tx1"/>
                </a:solidFill>
              </a:rPr>
              <a:t>How confident do I feel? 1 star = I need help, 2 stars = nearly there, 3 stars = I can teach it.</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Model answers: exit ticket</a:t>
            </a:r>
            <a:endParaRPr lang="en-US" sz="3000" dirty="0"/>
          </a:p>
        </p:txBody>
      </p:sp>
      <p:sp>
        <p:nvSpPr>
          <p:cNvPr id="4" name="card"/>
          <p:cNvSpPr/>
          <p:nvPr/>
        </p:nvSpPr>
        <p:spPr>
          <a:xfrm>
            <a:off x="548640" y="1097280"/>
            <a:ext cx="8046720" cy="1097280"/>
          </a:xfrm>
          <a:prstGeom prst="roundRect">
            <a:avLst>
              <a:gd name="adj" fmla="val 10000"/>
            </a:avLst>
          </a:prstGeom>
          <a:solidFill>
            <a:schemeClr val="bg2"/>
          </a:solidFill>
          <a:ln w="12700">
            <a:solidFill>
              <a:schemeClr val="bg2"/>
            </a:solidFill>
            <a:prstDash val="solid"/>
          </a:ln>
        </p:spPr>
      </p:sp>
      <p:sp>
        <p:nvSpPr>
          <p:cNvPr id="5" name="number"/>
          <p:cNvSpPr/>
          <p:nvPr/>
        </p:nvSpPr>
        <p:spPr>
          <a:xfrm>
            <a:off x="685800" y="1417320"/>
            <a:ext cx="457200" cy="457200"/>
          </a:xfrm>
          <a:prstGeom prst="ellipse">
            <a:avLst/>
          </a:prstGeom>
          <a:solidFill>
            <a:schemeClr val="accent4"/>
          </a:solidFill>
          <a:ln w="12700">
            <a:solidFill>
              <a:schemeClr val="bg1"/>
            </a:solidFill>
            <a:prstDash val="solid"/>
          </a:ln>
        </p:spPr>
      </p:sp>
      <p:sp>
        <p:nvSpPr>
          <p:cNvPr id="6" name="Text 3"/>
          <p:cNvSpPr txBox="1"/>
          <p:nvPr/>
        </p:nvSpPr>
        <p:spPr>
          <a:xfrm>
            <a:off x="685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371600" y="109728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The author builds tension by using short sentences. For example, 'No bird sang. No breeze blew.'</a:t>
            </a:r>
            <a:endParaRPr lang="en-US" sz="1600" dirty="0"/>
          </a:p>
        </p:txBody>
      </p:sp>
      <p:sp>
        <p:nvSpPr>
          <p:cNvPr id="8" name="card"/>
          <p:cNvSpPr/>
          <p:nvPr/>
        </p:nvSpPr>
        <p:spPr>
          <a:xfrm>
            <a:off x="548640" y="2286000"/>
            <a:ext cx="8046720" cy="1097280"/>
          </a:xfrm>
          <a:prstGeom prst="roundRect">
            <a:avLst>
              <a:gd name="adj" fmla="val 10000"/>
            </a:avLst>
          </a:prstGeom>
          <a:solidFill>
            <a:schemeClr val="bg2"/>
          </a:solidFill>
          <a:ln w="12700">
            <a:solidFill>
              <a:schemeClr val="bg2"/>
            </a:solidFill>
            <a:prstDash val="solid"/>
          </a:ln>
        </p:spPr>
      </p:sp>
      <p:sp>
        <p:nvSpPr>
          <p:cNvPr id="9" name="number"/>
          <p:cNvSpPr/>
          <p:nvPr/>
        </p:nvSpPr>
        <p:spPr>
          <a:xfrm>
            <a:off x="685800" y="2606040"/>
            <a:ext cx="457200" cy="457200"/>
          </a:xfrm>
          <a:prstGeom prst="ellipse">
            <a:avLst/>
          </a:prstGeom>
          <a:solidFill>
            <a:schemeClr val="accent2"/>
          </a:solidFill>
          <a:ln w="12700">
            <a:solidFill>
              <a:schemeClr val="bg1"/>
            </a:solidFill>
            <a:prstDash val="solid"/>
          </a:ln>
        </p:spPr>
      </p:sp>
      <p:sp>
        <p:nvSpPr>
          <p:cNvPr id="10" name="Text 7"/>
          <p:cNvSpPr txBox="1"/>
          <p:nvPr/>
        </p:nvSpPr>
        <p:spPr>
          <a:xfrm>
            <a:off x="685800" y="2606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8"/>
          <p:cNvSpPr txBox="1"/>
          <p:nvPr/>
        </p:nvSpPr>
        <p:spPr>
          <a:xfrm>
            <a:off x="1371600" y="228600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At the start Baba is proud and sure the city is safe, but by the end she is brave, careful and willing to take the blame.</a:t>
            </a:r>
            <a:endParaRPr lang="en-US" sz="1600" dirty="0"/>
          </a:p>
        </p:txBody>
      </p:sp>
      <p:sp>
        <p:nvSpPr>
          <p:cNvPr id="12" name="card"/>
          <p:cNvSpPr/>
          <p:nvPr/>
        </p:nvSpPr>
        <p:spPr>
          <a:xfrm>
            <a:off x="548640" y="3474720"/>
            <a:ext cx="8046720" cy="1097280"/>
          </a:xfrm>
          <a:prstGeom prst="roundRect">
            <a:avLst>
              <a:gd name="adj" fmla="val 10000"/>
            </a:avLst>
          </a:prstGeom>
          <a:solidFill>
            <a:schemeClr val="bg2"/>
          </a:solidFill>
          <a:ln w="12700">
            <a:solidFill>
              <a:schemeClr val="bg2"/>
            </a:solidFill>
            <a:prstDash val="solid"/>
          </a:ln>
        </p:spPr>
      </p:sp>
      <p:sp>
        <p:nvSpPr>
          <p:cNvPr id="13" name="number"/>
          <p:cNvSpPr/>
          <p:nvPr/>
        </p:nvSpPr>
        <p:spPr>
          <a:xfrm>
            <a:off x="685800" y="3794760"/>
            <a:ext cx="457200" cy="457200"/>
          </a:xfrm>
          <a:prstGeom prst="ellipse">
            <a:avLst/>
          </a:prstGeom>
          <a:solidFill>
            <a:schemeClr val="accent3"/>
          </a:solidFill>
          <a:ln w="12700">
            <a:solidFill>
              <a:schemeClr val="bg1"/>
            </a:solidFill>
            <a:prstDash val="solid"/>
          </a:ln>
        </p:spPr>
      </p:sp>
      <p:sp>
        <p:nvSpPr>
          <p:cNvPr id="14" name="Text 11"/>
          <p:cNvSpPr txBox="1"/>
          <p:nvPr/>
        </p:nvSpPr>
        <p:spPr>
          <a:xfrm>
            <a:off x="685800" y="3794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2"/>
          <p:cNvSpPr txBox="1"/>
          <p:nvPr/>
        </p:nvSpPr>
        <p:spPr>
          <a:xfrm>
            <a:off x="1371600" y="3474720"/>
            <a:ext cx="7040880" cy="1097280"/>
          </a:xfrm>
          <a:prstGeom prst="rect">
            <a:avLst/>
          </a:prstGeom>
          <a:noFill/>
          <a:ln/>
        </p:spPr>
        <p:txBody>
          <a:bodyPr wrap="square" lIns="0" tIns="0" rIns="0" bIns="0" rtlCol="0" anchor="ctr"/>
          <a:lstStyle/>
          <a:p>
            <a:pPr marL="0" indent="0">
              <a:buNone/>
            </a:pPr>
            <a:r>
              <a:rPr lang="en-US" sz="1400" b="1" dirty="0">
                <a:solidFill>
                  <a:schemeClr val="tx1"/>
                </a:solidFill>
              </a:rPr>
              <a:t>Pupils with 1 star</a:t>
            </a:r>
            <a:r>
              <a:rPr lang="en-US" sz="1400" dirty="0">
                <a:solidFill>
                  <a:schemeClr val="tx1"/>
                </a:solidFill>
              </a:rPr>
              <a:t> need the technique, example, effect pattern again. </a:t>
            </a:r>
            <a:r>
              <a:rPr lang="en-US" sz="1400" b="1" dirty="0">
                <a:solidFill>
                  <a:schemeClr val="tx1"/>
                </a:solidFill>
              </a:rPr>
              <a:t>Pupils with 3 stars</a:t>
            </a:r>
            <a:r>
              <a:rPr lang="en-US" sz="1400" dirty="0">
                <a:solidFill>
                  <a:schemeClr val="tx1"/>
                </a:solidFill>
              </a:rPr>
              <a:t> can lead a pair next lesson.</a:t>
            </a:r>
            <a:endParaRPr lang="en-US" sz="16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Homework</a:t>
            </a:r>
            <a:endParaRPr lang="en-US" sz="3000" dirty="0"/>
          </a:p>
        </p:txBody>
      </p:sp>
      <p:sp>
        <p:nvSpPr>
          <p:cNvPr id="4" name="Text 1"/>
          <p:cNvSpPr txBox="1"/>
          <p:nvPr/>
        </p:nvSpPr>
        <p:spPr>
          <a:xfrm>
            <a:off x="548640" y="1097280"/>
            <a:ext cx="8046720" cy="640080"/>
          </a:xfrm>
          <a:prstGeom prst="rect">
            <a:avLst/>
          </a:prstGeom>
          <a:noFill/>
          <a:ln/>
        </p:spPr>
        <p:txBody>
          <a:bodyPr wrap="square" lIns="0" tIns="0" rIns="0" bIns="0" rtlCol="0" anchor="t"/>
          <a:lstStyle/>
          <a:p>
            <a:pPr marL="0" indent="0">
              <a:buNone/>
            </a:pPr>
            <a:r>
              <a:rPr lang="en-US" sz="1600" dirty="0">
                <a:solidFill>
                  <a:schemeClr val="tx1"/>
                </a:solidFill>
              </a:rPr>
              <a:t>Find two examples of tension in pp. 92-130 that we did not use in class. Complete the table.</a:t>
            </a:r>
            <a:endParaRPr lang="en-US" sz="1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8046720" cy="1828800"/>
        </p:xfrm>
        <a:graphic>
          <a:graphicData uri="http://schemas.openxmlformats.org/drawingml/2006/table">
            <a:tbl>
              <a:tblPr/>
              <a:tblGrid>
                <a:gridCol w="21945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57200">
                <a:tc>
                  <a:txBody>
                    <a:bodyPr/>
                    <a:lstStyle/>
                    <a:p>
                      <a:pPr marL="0" indent="0" algn="ctr">
                        <a:buNone/>
                      </a:pPr>
                      <a:r>
                        <a:rPr lang="en-US" sz="1400" b="1" dirty="0">
                          <a:solidFill>
                            <a:srgbClr val="FFFFFF"/>
                          </a:solidFill>
                        </a:rPr>
                        <a:t>Technique (pages)</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Short quotation</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tc>
                  <a:txBody>
                    <a:bodyPr/>
                    <a:lstStyle/>
                    <a:p>
                      <a:pPr marL="0" indent="0" algn="ctr">
                        <a:buNone/>
                      </a:pPr>
                      <a:r>
                        <a:rPr lang="en-US" sz="1400" b="1" dirty="0">
                          <a:solidFill>
                            <a:srgbClr val="FFFFFF"/>
                          </a:solidFill>
                        </a:rPr>
                        <a:t>Effect on the reader</a:t>
                      </a:r>
                      <a:endParaRPr lang="en-US" sz="14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3B2F63"/>
                    </a:solidFill>
                  </a:tcPr>
                </a:tc>
                <a:extLst>
                  <a:ext uri="{0D108BD9-81ED-4DB2-BD59-A6C34878D82A}">
                    <a16:rowId xmlns:a16="http://schemas.microsoft.com/office/drawing/2014/main" val="10000"/>
                  </a:ext>
                </a:extLst>
              </a:tr>
              <a:tr h="685800">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1"/>
                  </a:ext>
                </a:extLst>
              </a:tr>
              <a:tr h="685800">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tc>
                  <a:txBody>
                    <a:bodyPr/>
                    <a:lstStyle/>
                    <a:p>
                      <a:pPr marL="0" indent="0">
                        <a:buNone/>
                      </a:pPr>
                      <a:endParaRPr lang="en-US" sz="1200" dirty="0"/>
                    </a:p>
                  </a:txBody>
                  <a:tcPr anchor="ctr">
                    <a:lnL w="12700" cap="flat" cmpd="sng" algn="ctr">
                      <a:solidFill>
                        <a:srgbClr val="BDB6D9"/>
                      </a:solidFill>
                      <a:prstDash val="solid"/>
                      <a:round/>
                      <a:headEnd type="none" w="med" len="med"/>
                      <a:tailEnd type="none" w="med" len="med"/>
                    </a:lnL>
                    <a:lnR w="12700" cap="flat" cmpd="sng" algn="ctr">
                      <a:solidFill>
                        <a:srgbClr val="BDB6D9"/>
                      </a:solidFill>
                      <a:prstDash val="solid"/>
                      <a:round/>
                      <a:headEnd type="none" w="med" len="med"/>
                      <a:tailEnd type="none" w="med" len="med"/>
                    </a:lnR>
                    <a:lnT w="12700" cap="flat" cmpd="sng" algn="ctr">
                      <a:solidFill>
                        <a:srgbClr val="BDB6D9"/>
                      </a:solidFill>
                      <a:prstDash val="solid"/>
                      <a:round/>
                      <a:headEnd type="none" w="med" len="med"/>
                      <a:tailEnd type="none" w="med" len="med"/>
                    </a:lnT>
                    <a:lnB w="12700" cap="flat" cmpd="sng" algn="ctr">
                      <a:solidFill>
                        <a:srgbClr val="BDB6D9"/>
                      </a:solidFill>
                      <a:prstDash val="solid"/>
                      <a:round/>
                      <a:headEnd type="none" w="med" len="med"/>
                      <a:tailEnd type="none" w="med" len="med"/>
                    </a:lnB>
                    <a:solidFill>
                      <a:srgbClr val="F1EEFA"/>
                    </a:solidFill>
                  </a:tcPr>
                </a:tc>
                <a:extLst>
                  <a:ext uri="{0D108BD9-81ED-4DB2-BD59-A6C34878D82A}">
                    <a16:rowId xmlns:a16="http://schemas.microsoft.com/office/drawing/2014/main" val="10002"/>
                  </a:ext>
                </a:extLst>
              </a:tr>
            </a:tbl>
          </a:graphicData>
        </a:graphic>
      </p:graphicFrame>
      <p:sp>
        <p:nvSpPr>
          <p:cNvPr id="6" name="card"/>
          <p:cNvSpPr/>
          <p:nvPr/>
        </p:nvSpPr>
        <p:spPr>
          <a:xfrm>
            <a:off x="548640" y="3886200"/>
            <a:ext cx="8046720" cy="685800"/>
          </a:xfrm>
          <a:prstGeom prst="roundRect">
            <a:avLst>
              <a:gd name="adj" fmla="val 16000"/>
            </a:avLst>
          </a:prstGeom>
          <a:solidFill>
            <a:schemeClr val="accent1"/>
          </a:solidFill>
          <a:ln w="12700">
            <a:solidFill>
              <a:schemeClr val="accent1"/>
            </a:solidFill>
            <a:prstDash val="solid"/>
          </a:ln>
        </p:spPr>
      </p:sp>
      <p:sp>
        <p:nvSpPr>
          <p:cNvPr id="7" name="Text 3"/>
          <p:cNvSpPr txBox="1"/>
          <p:nvPr/>
        </p:nvSpPr>
        <p:spPr>
          <a:xfrm>
            <a:off x="731520" y="3886200"/>
            <a:ext cx="7680960" cy="685800"/>
          </a:xfrm>
          <a:prstGeom prst="rect">
            <a:avLst/>
          </a:prstGeom>
          <a:noFill/>
          <a:ln/>
        </p:spPr>
        <p:txBody>
          <a:bodyPr wrap="square" lIns="0" tIns="0" rIns="0" bIns="0" rtlCol="0" anchor="ctr"/>
          <a:lstStyle/>
          <a:p>
            <a:pPr marL="0" indent="0">
              <a:buNone/>
            </a:pPr>
            <a:r>
              <a:rPr lang="en-US" sz="1500" b="1" dirty="0">
                <a:solidFill>
                  <a:schemeClr val="tx1"/>
                </a:solidFill>
              </a:rPr>
              <a:t>Write 3 sentences: Why do you think the author ends in the desert?</a:t>
            </a:r>
            <a:endParaRPr lang="en-US" sz="1500" dirty="0"/>
          </a:p>
        </p:txBody>
      </p:sp>
      <p:sp>
        <p:nvSpPr>
          <p:cNvPr id="25" name="Slide Number Placeholder 0"/>
          <p:cNvSpPr>
            <a:spLocks noGrp="1"/>
          </p:cNvSpPr>
          <p:nvPr>
            <p:ph type="sldNum" sz="quarter" idx="4294967295"/>
          </p:nvPr>
        </p:nvSpPr>
        <p:spPr>
          <a:xfrm>
            <a:off x="8229600" y="4736592"/>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6784"/>
                </a:solidFill>
              </a:defRPr>
            </a:lvl1pPr>
          </a:lstStyle>
          <a:p>
            <a:pPr algn="l"/>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371600"/>
            <a:ext cx="5120640" cy="1371600"/>
          </a:xfrm>
          <a:prstGeom prst="rect">
            <a:avLst/>
          </a:prstGeom>
          <a:noFill/>
          <a:ln/>
        </p:spPr>
        <p:txBody>
          <a:bodyPr wrap="square" lIns="0" tIns="0" rIns="0" bIns="0" rtlCol="0" anchor="b"/>
          <a:lstStyle/>
          <a:p>
            <a:pPr marL="0" indent="0" algn="l">
              <a:buNone/>
            </a:pPr>
            <a:r>
              <a:rPr lang="en-US" sz="4400" b="1" dirty="0">
                <a:solidFill>
                  <a:schemeClr val="bg1"/>
                </a:solidFill>
              </a:rPr>
              <a:t>Well done, explorers</a:t>
            </a:r>
            <a:endParaRPr lang="en-US" sz="4400" dirty="0"/>
          </a:p>
        </p:txBody>
      </p:sp>
      <p:sp>
        <p:nvSpPr>
          <p:cNvPr id="3" name="Text 0"/>
          <p:cNvSpPr>
            <a:spLocks noGrp="1"/>
          </p:cNvSpPr>
          <p:nvPr>
            <p:ph type="body" idx="101" hasCustomPrompt="1"/>
          </p:nvPr>
        </p:nvSpPr>
        <p:spPr>
          <a:xfrm>
            <a:off x="640080" y="2926080"/>
            <a:ext cx="5120640" cy="1097280"/>
          </a:xfrm>
          <a:prstGeom prst="rect">
            <a:avLst/>
          </a:prstGeom>
          <a:noFill/>
          <a:ln/>
        </p:spPr>
        <p:txBody>
          <a:bodyPr wrap="square" lIns="0" tIns="0" rIns="0" bIns="0" rtlCol="0" anchor="t"/>
          <a:lstStyle/>
          <a:p>
            <a:pPr marL="0" indent="0">
              <a:buNone/>
            </a:pPr>
            <a:r>
              <a:rPr lang="en-US" sz="1800" dirty="0">
                <a:solidFill>
                  <a:schemeClr val="accent1"/>
                </a:solidFill>
              </a:rPr>
              <a:t>Fight magic with magic, and keep reading</a:t>
            </a:r>
            <a:endParaRPr lang="en-US" sz="1800" dirty="0"/>
          </a:p>
        </p:txBody>
      </p:sp>
      <p:sp>
        <p:nvSpPr>
          <p:cNvPr id="4" name="motif circle"/>
          <p:cNvSpPr/>
          <p:nvPr/>
        </p:nvSpPr>
        <p:spPr>
          <a:xfrm>
            <a:off x="6126480" y="1097280"/>
            <a:ext cx="2468880" cy="2468880"/>
          </a:xfrm>
          <a:prstGeom prst="ellipse">
            <a:avLst/>
          </a:prstGeom>
          <a:solidFill>
            <a:schemeClr val="tx2"/>
          </a:solidFill>
          <a:ln w="12700">
            <a:solidFill>
              <a:schemeClr val="tx2"/>
            </a:solidFill>
            <a:prstDash val="solid"/>
          </a:ln>
        </p:spPr>
      </p:sp>
      <p:pic>
        <p:nvPicPr>
          <p:cNvPr id="5" name="city" descr="city"/>
          <p:cNvPicPr>
            <a:picLocks noChangeAspect="1"/>
          </p:cNvPicPr>
          <p:nvPr/>
        </p:nvPicPr>
        <p:blipFill>
          <a:blip r:embed="rId3"/>
          <a:stretch>
            <a:fillRect/>
          </a:stretch>
        </p:blipFill>
        <p:spPr>
          <a:xfrm>
            <a:off x="6675120" y="1645920"/>
            <a:ext cx="1371600" cy="1371600"/>
          </a:xfrm>
          <a:prstGeom prst="rect">
            <a:avLst/>
          </a:prstGeom>
        </p:spPr>
      </p:pic>
    </p:spTree>
  </p:cSld>
  <p:clrMapOvr>
    <a:masterClrMapping/>
  </p:clrMapOvr>
</p:sld>
</file>

<file path=ppt/theme/theme1.xml><?xml version="1.0" encoding="utf-8"?>
<a:theme xmlns:a="http://schemas.openxmlformats.org/drawingml/2006/main" name="Fantasy Explorers">
  <a:themeElements>
    <a:clrScheme name="Fantasy Explorers">
      <a:dk1>
        <a:srgbClr val="1F1B3A"/>
      </a:dk1>
      <a:lt1>
        <a:srgbClr val="FFFFFF"/>
      </a:lt1>
      <a:dk2>
        <a:srgbClr val="3B2F63"/>
      </a:dk2>
      <a:lt2>
        <a:srgbClr val="F1EEFA"/>
      </a:lt2>
      <a:accent1>
        <a:srgbClr val="F2A541"/>
      </a:accent1>
      <a:accent2>
        <a:srgbClr val="1E7F74"/>
      </a:accent2>
      <a:accent3>
        <a:srgbClr val="C8553A"/>
      </a:accent3>
      <a:accent4>
        <a:srgbClr val="6A55B8"/>
      </a:accent4>
      <a:accent5>
        <a:srgbClr val="5E8C4F"/>
      </a:accent5>
      <a:accent6>
        <a:srgbClr val="B5851A"/>
      </a:accent6>
      <a:hlink>
        <a:srgbClr val="6A55B8"/>
      </a:hlink>
      <a:folHlink>
        <a:srgbClr val="3B2F63"/>
      </a:folHlink>
    </a:clrScheme>
    <a:fontScheme name="Fantasy Explor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4345</Words>
  <Application>Microsoft Office PowerPoint</Application>
  <PresentationFormat>On-screen Show (16:9)</PresentationFormat>
  <Paragraphs>518</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Fantasy Explorers</vt:lpstr>
      <vt:lpstr>Escape from the City</vt:lpstr>
      <vt:lpstr>Today we will</vt:lpstr>
      <vt:lpstr>Recap: what do we remember?</vt:lpstr>
      <vt:lpstr>Answers: recap</vt:lpstr>
      <vt:lpstr>The story so far: part 1</vt:lpstr>
      <vt:lpstr>The story so far: part 2</vt:lpstr>
      <vt:lpstr>Who's who: new names</vt:lpstr>
      <vt:lpstr>Predict before we read</vt:lpstr>
      <vt:lpstr>Answers: predict</vt:lpstr>
      <vt:lpstr>What is tension?</vt:lpstr>
      <vt:lpstr>Four ways authors build tension</vt:lpstr>
      <vt:lpstr>Language spotlight: tension in the words</vt:lpstr>
      <vt:lpstr>Showing how a character changes</vt:lpstr>
      <vt:lpstr>Check: what does it show about Baba?</vt:lpstr>
      <vt:lpstr>Answers: what does it show about Baba?</vt:lpstr>
      <vt:lpstr>Read: Ki leaves, Anda sleeps (pp. 92-99)</vt:lpstr>
      <vt:lpstr>Question 1 of 8</vt:lpstr>
      <vt:lpstr>Answer: question 1 of 8</vt:lpstr>
      <vt:lpstr>Question 2 of 8</vt:lpstr>
      <vt:lpstr>Answer: question 2 of 8</vt:lpstr>
      <vt:lpstr>Read: the flowers listen (pp. 100-107)</vt:lpstr>
      <vt:lpstr>Question 3 of 8</vt:lpstr>
      <vt:lpstr>Answer: question 3 of 8</vt:lpstr>
      <vt:lpstr>Question 4 of 8</vt:lpstr>
      <vt:lpstr>Answer: question 4 of 8</vt:lpstr>
      <vt:lpstr>Read: the door has gone (pp. 108-119)</vt:lpstr>
      <vt:lpstr>Question 5 of 8</vt:lpstr>
      <vt:lpstr>Answer: question 5 of 8</vt:lpstr>
      <vt:lpstr>Question 6 of 8</vt:lpstr>
      <vt:lpstr>Answer: question 6 of 8</vt:lpstr>
      <vt:lpstr>Read: the tower and the escape (pp. 120-130)</vt:lpstr>
      <vt:lpstr>Question 7 of 8</vt:lpstr>
      <vt:lpstr>Answer: question 7 of 8</vt:lpstr>
      <vt:lpstr>Question 8 of 8</vt:lpstr>
      <vt:lpstr>Answer: question 8 of 8</vt:lpstr>
      <vt:lpstr>Main activity: Tension Graph</vt:lpstr>
      <vt:lpstr>The six moments to rate</vt:lpstr>
      <vt:lpstr>Model answers: moments 1 to 3</vt:lpstr>
      <vt:lpstr>Model answers: moments 4 to 6</vt:lpstr>
      <vt:lpstr>Plenary: has Baba changed?</vt:lpstr>
      <vt:lpstr>Plenary: some answers</vt:lpstr>
      <vt:lpstr>Exam practice: question 1 of 4</vt:lpstr>
      <vt:lpstr>Answer: question 1 of 4</vt:lpstr>
      <vt:lpstr>Exam practice: question 2 of 4</vt:lpstr>
      <vt:lpstr>Answer: question 2 of 4</vt:lpstr>
      <vt:lpstr>Exam practice: question 3 of 4</vt:lpstr>
      <vt:lpstr>Answer: question 3 of 4</vt:lpstr>
      <vt:lpstr>Exam practice: question 4 of 4</vt:lpstr>
      <vt:lpstr>Answer: question 4 of 4</vt:lpstr>
      <vt:lpstr>Exit ticket</vt:lpstr>
      <vt:lpstr>Model answers: exit ticket</vt:lpstr>
      <vt:lpstr>Homework</vt:lpstr>
      <vt:lpstr>Well done, explorers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8 - Petronas Lesson B</dc:title>
  <dc:subject>PptxGenJS Presentation</dc:subject>
  <dc:creator>Year 6 English</dc:creator>
  <cp:lastModifiedBy>pc</cp:lastModifiedBy>
  <cp:revision>1</cp:revision>
  <dcterms:created xsi:type="dcterms:W3CDTF">2026-10-26T23:28:49Z</dcterms:created>
  <dcterms:modified xsi:type="dcterms:W3CDTF">2026-10-26T23:31:34Z</dcterms:modified>
</cp:coreProperties>
</file>