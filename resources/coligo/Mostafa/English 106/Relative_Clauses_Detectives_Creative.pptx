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95" r:id="rId27"/>
    <p:sldId id="284" r:id="rId28"/>
    <p:sldId id="285" r:id="rId29"/>
    <p:sldId id="296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95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3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822960"/>
            <a:ext cx="3291840" cy="3291840"/>
          </a:xfrm>
          <a:prstGeom prst="ellipse">
            <a:avLst/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1371600"/>
            <a:ext cx="2194560" cy="21945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2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SECRET  |  YEAR 6 ENGLISH, UNIT 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88720"/>
            <a:ext cx="51206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Relative Clause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Detectives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information. Make your writing clearer.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520440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148840" y="3520440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4884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Recognise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749040" y="3520440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4904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148840" y="4114800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14884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749040" y="4114800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74904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  |  STARTER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difference?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10000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scientist visited our school.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371600"/>
          </a:xfrm>
          <a:prstGeom prst="roundRect">
            <a:avLst>
              <a:gd name="adj" fmla="val 10000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scientist </a:t>
            </a:r>
            <a:r>
              <a:rPr lang="en-US" sz="17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studies insects</a:t>
            </a: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visited our school.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645920"/>
          </a:xfrm>
          <a:prstGeom prst="roundRect">
            <a:avLst>
              <a:gd name="adj" fmla="val 83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017520"/>
            <a:ext cx="576072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What extra information has been added?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Who does "who studies insects" describe?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Which sentence gives the reader more information?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0" y="3291840"/>
            <a:ext cx="1097280" cy="10972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3291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talk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sec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  |  ANSWER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extra clue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0B3D2E"/>
          </a:solidFill>
          <a:ln w="25400">
            <a:solidFill>
              <a:srgbClr val="B5E4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360000">
            <a:off x="704088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371600"/>
            <a:ext cx="6858000" cy="1371600"/>
          </a:xfrm>
          <a:prstGeom prst="roundRect">
            <a:avLst>
              <a:gd name="adj" fmla="val 10000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scientist </a:t>
            </a:r>
            <a:r>
              <a:rPr lang="en-US" sz="21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studies insects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visited our school.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"who studies insects" gives extra information about the scientist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extra information is called a relative clause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usually comes after the noun it describes: scientist → who studies insects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relative clause?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3291840"/>
          </a:xfrm>
          <a:prstGeom prst="roundRect">
            <a:avLst>
              <a:gd name="adj" fmla="val 4167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1508760"/>
            <a:ext cx="731520" cy="7315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916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1417320"/>
            <a:ext cx="68580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group of words that gives us more information about a noun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garden which is on the roof helps students learn about plants.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Relative clause: which is on the roof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tells us more about: the garden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key words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731520" cy="73152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0876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people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scientist who studies insects visited our school.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54480"/>
            <a:ext cx="731520" cy="731520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things &amp; animals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machine which saves energy is useful.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46120"/>
            <a:ext cx="731520" cy="73152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0876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people or things (many defining clauses)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system that reduces waste is useful.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246120"/>
            <a:ext cx="731520" cy="73152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1500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571500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places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garden where students grow vegetables is on the roof.</a:t>
            </a:r>
            <a:endParaRPr lang="en-US" sz="12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02336" cy="402336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719072"/>
            <a:ext cx="402336" cy="402336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410712"/>
            <a:ext cx="402336" cy="402336"/>
          </a:xfrm>
          <a:prstGeom prst="rect">
            <a:avLst/>
          </a:prstGeom>
        </p:spPr>
      </p:pic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41071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RECOGNISE  |  QUICK CHECK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the correct word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3291840"/>
          </a:xfrm>
          <a:prstGeom prst="roundRect">
            <a:avLst>
              <a:gd name="adj" fmla="val 4167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1508760"/>
            <a:ext cx="731520" cy="7315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916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1417320"/>
            <a:ext cx="68580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The teacher ___ runs the science club is very helpful.                    (which / where / who / what)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The recycling machine ___ saves electricity is new.                          (which / who / where / what)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The garden ___ students grow vegetables is on the roof.                 (who / which / what / where)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RECOGNISE  |  ANSWERS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check answers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0B3D2E"/>
          </a:solidFill>
          <a:ln w="25400">
            <a:solidFill>
              <a:srgbClr val="B5E4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360000">
            <a:off x="704088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371600"/>
            <a:ext cx="6858000" cy="1371600"/>
          </a:xfrm>
          <a:prstGeom prst="roundRect">
            <a:avLst>
              <a:gd name="adj" fmla="val 10000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C: who   2. A: which   3. D: where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teacher who runs the science club is very helpful.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recycling machine which saves electricity is new.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garden where students grow vegetables is on the roof.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→ people   WHICH → things/animals   WHERE → places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  |  IDENTIFY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the correct pronoun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06640" y="32004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32004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45920"/>
            <a:ext cx="822960" cy="8229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1371600"/>
            <a:ext cx="6858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scientist ___ studies insects visited the school.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054096"/>
            <a:ext cx="493776" cy="49377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97180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63440" y="297180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3054096"/>
            <a:ext cx="493776" cy="493776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488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297180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3831336"/>
            <a:ext cx="493776" cy="493776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374904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663440" y="374904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54880" y="3831336"/>
            <a:ext cx="493776" cy="49377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54880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349240" y="374904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your choice to your partner.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  |  ANSWER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A: WHO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0B3D2E"/>
          </a:solidFill>
          <a:ln w="25400">
            <a:solidFill>
              <a:srgbClr val="B5E4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360000">
            <a:off x="704088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371600"/>
            <a:ext cx="6858000" cy="1371600"/>
          </a:xfrm>
          <a:prstGeom prst="roundRect">
            <a:avLst>
              <a:gd name="adj" fmla="val 10000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scientist </a:t>
            </a:r>
            <a:r>
              <a:rPr lang="en-US" sz="21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studies insects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visited the school.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Scientist is a person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Rule: WHO → people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  |  TRY ANOTHER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the correct word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06640" y="32004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32004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02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45920"/>
            <a:ext cx="822960" cy="8229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1371600"/>
            <a:ext cx="6858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recycling system ___ reduces plastic waste was designed by students.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054096"/>
            <a:ext cx="493776" cy="49377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97180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63440" y="297180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3054096"/>
            <a:ext cx="493776" cy="493776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488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297180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3831336"/>
            <a:ext cx="493776" cy="493776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374904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663440" y="374904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54880" y="3831336"/>
            <a:ext cx="493776" cy="49377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54880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349240" y="374904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Challenge: explain why your answer is correct.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  |  ANSWER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C: WHICH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0B3D2E"/>
          </a:solidFill>
          <a:ln w="25400">
            <a:solidFill>
              <a:srgbClr val="B5E4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360000">
            <a:off x="704088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371600"/>
            <a:ext cx="6858000" cy="1371600"/>
          </a:xfrm>
          <a:prstGeom prst="roundRect">
            <a:avLst>
              <a:gd name="adj" fmla="val 10000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recycling system </a:t>
            </a:r>
            <a:r>
              <a:rPr lang="en-US" sz="21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reduces plastic waste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was designed by students.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Recycling system = thing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Rule: WHICH → things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  |  APPLY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sentence is correct?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06640" y="32004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32004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03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45920"/>
            <a:ext cx="822960" cy="8229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1371600"/>
            <a:ext cx="6858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carefully: which sentence is grammatically correct?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054096"/>
            <a:ext cx="493776" cy="49377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97180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school where has a garden is near the park.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297180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3054096"/>
            <a:ext cx="493776" cy="493776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488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297180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school which students visit has a garden.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3831336"/>
            <a:ext cx="493776" cy="493776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374904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school who students visit has a garden.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63440" y="374904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54880" y="3831336"/>
            <a:ext cx="493776" cy="49377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54880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349240" y="374904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school that where students visit has a garden.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  |  ANSWER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is correct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0B3D2E"/>
          </a:solidFill>
          <a:ln w="25400">
            <a:solidFill>
              <a:srgbClr val="B5E4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360000">
            <a:off x="704088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371600"/>
            <a:ext cx="6858000" cy="1371600"/>
          </a:xfrm>
          <a:prstGeom prst="roundRect">
            <a:avLst>
              <a:gd name="adj" fmla="val 10000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school </a:t>
            </a:r>
            <a:r>
              <a:rPr lang="en-US" sz="21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students visit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has a garden.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A: "where has a garden" is incorrect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C: who is for people, not a school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D: we do not use "that where" together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B: "which students visit" correctly gives information about the school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  |  APPLY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the correct sentence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06640" y="32004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32004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04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45920"/>
            <a:ext cx="822960" cy="8229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1371600"/>
            <a:ext cx="6858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sentence is correct?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054096"/>
            <a:ext cx="493776" cy="49377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97180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scientist which studies plants works at the university.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297180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3054096"/>
            <a:ext cx="493776" cy="493776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488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297180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scientist where studies plants works at the university.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3831336"/>
            <a:ext cx="493776" cy="493776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374904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scientist who studies plants works at the university.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63440" y="374904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54880" y="3831336"/>
            <a:ext cx="493776" cy="49377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54880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349240" y="374904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scientist what studies plants works at the university.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  |  ANSWER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is correct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0B3D2E"/>
          </a:solidFill>
          <a:ln w="25400">
            <a:solidFill>
              <a:srgbClr val="B5E4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360000">
            <a:off x="704088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371600"/>
            <a:ext cx="6858000" cy="1371600"/>
          </a:xfrm>
          <a:prstGeom prst="roundRect">
            <a:avLst>
              <a:gd name="adj" fmla="val 10000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scientist </a:t>
            </a:r>
            <a:r>
              <a:rPr lang="en-US" sz="21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studies plants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works at the university.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Scientist = person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Therefore: WHO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3  |  EDIT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the sentence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06640" y="32004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32004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06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194560"/>
          </a:xfrm>
          <a:prstGeom prst="roundRect">
            <a:avLst>
              <a:gd name="adj" fmla="val 6250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822960" cy="8229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1371600"/>
            <a:ext cx="68580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recycling machine which it reduces plastic waste is useful.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 it correctly.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3  |  ANSWER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0B3D2E"/>
          </a:solidFill>
          <a:ln w="25400">
            <a:solidFill>
              <a:srgbClr val="B5E4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360000">
            <a:off x="704088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371600"/>
            <a:ext cx="6858000" cy="1371600"/>
          </a:xfrm>
          <a:prstGeom prst="roundRect">
            <a:avLst>
              <a:gd name="adj" fmla="val 10000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recycling machine </a:t>
            </a:r>
            <a:r>
              <a:rPr lang="en-US" sz="21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reduces plastic waste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is useful.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it reduces ✗   which reduces ✓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relative pronoun which already refers to the recycling machine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3  |  EDIT CHALLENGE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the sentence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06640" y="32004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32004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07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194560"/>
          </a:xfrm>
          <a:prstGeom prst="roundRect">
            <a:avLst>
              <a:gd name="adj" fmla="val 6250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822960" cy="8229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1371600"/>
            <a:ext cx="68580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students who they designed the garden won a prize.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should you remove?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3  |  ANSWER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0B3D2E"/>
          </a:solidFill>
          <a:ln w="25400">
            <a:solidFill>
              <a:srgbClr val="B5E4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360000">
            <a:off x="704088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371600"/>
            <a:ext cx="6858000" cy="1371600"/>
          </a:xfrm>
          <a:prstGeom prst="roundRect">
            <a:avLst>
              <a:gd name="adj" fmla="val 10000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students </a:t>
            </a:r>
            <a:r>
              <a:rPr lang="en-US" sz="21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designed the garden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won a prize.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Remove: they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Because who already refers to the students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4  |  TRANSFORM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 using WHICH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06640" y="32004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32004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08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194560"/>
          </a:xfrm>
          <a:prstGeom prst="roundRect">
            <a:avLst>
              <a:gd name="adj" fmla="val 6250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822960" cy="8229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1371600"/>
            <a:ext cx="68580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school has a recycling system. The system reduces plastic waste.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Start: The school has a recycling system __________.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4  |  ANSWER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Possible answer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0B3D2E"/>
          </a:solidFill>
          <a:ln w="25400">
            <a:solidFill>
              <a:srgbClr val="B5E4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360000">
            <a:off x="704088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371600"/>
            <a:ext cx="6858000" cy="1371600"/>
          </a:xfrm>
          <a:prstGeom prst="roundRect">
            <a:avLst>
              <a:gd name="adj" fmla="val 10000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school has a recycling system </a:t>
            </a:r>
            <a:r>
              <a:rPr lang="en-US" sz="21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reduces plastic waste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did we do it? "The system" → which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4  |  TRANSFORM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 using WHO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06640" y="32004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32004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09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194560"/>
          </a:xfrm>
          <a:prstGeom prst="roundRect">
            <a:avLst>
              <a:gd name="adj" fmla="val 6250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822960" cy="8229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1371600"/>
            <a:ext cx="68580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scientist visited our school. The scientist studies endangered animals.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Start: A scientist __________ visited our school.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4  |  ANSWER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Possible answer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0B3D2E"/>
          </a:solidFill>
          <a:ln w="25400">
            <a:solidFill>
              <a:srgbClr val="B5E4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360000">
            <a:off x="704088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371600"/>
            <a:ext cx="6858000" cy="1371600"/>
          </a:xfrm>
          <a:prstGeom prst="roundRect">
            <a:avLst>
              <a:gd name="adj" fmla="val 10000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scientist </a:t>
            </a:r>
            <a:r>
              <a:rPr lang="en-US" sz="21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studies endangered animals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visited our school.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Scientist = person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Therefore: WHO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4  |  TRANSFORM: WHERE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 using WHERE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06640" y="32004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32004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10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194560"/>
          </a:xfrm>
          <a:prstGeom prst="roundRect">
            <a:avLst>
              <a:gd name="adj" fmla="val 6250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822960" cy="8229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1371600"/>
            <a:ext cx="68580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school has a science garden. Students grow vegetables there.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Start: Our school has a science garden __________.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4  |  ANSWER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Possible answer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0B3D2E"/>
          </a:solidFill>
          <a:ln w="25400">
            <a:solidFill>
              <a:srgbClr val="B5E4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360000">
            <a:off x="704088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371600"/>
            <a:ext cx="6858000" cy="1371600"/>
          </a:xfrm>
          <a:prstGeom prst="roundRect">
            <a:avLst>
              <a:gd name="adj" fmla="val 10000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school has a science garden </a:t>
            </a:r>
            <a:r>
              <a:rPr lang="en-US" sz="21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students grow vegetables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Garden = place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Therefore: WHERE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8F6EF"/>
          </a:solidFill>
          <a:ln>
            <a:solidFill>
              <a:srgbClr val="F8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" y="0"/>
            <a:ext cx="9143771" cy="96012"/>
          </a:xfrm>
          <a:prstGeom prst="rect">
            <a:avLst/>
          </a:prstGeom>
          <a:solidFill>
            <a:srgbClr val="1C7E81"/>
          </a:solidFill>
          <a:ln>
            <a:solidFill>
              <a:srgbClr val="1C7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411480" y="185166"/>
            <a:ext cx="20574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7E81"/>
                </a:solidFill>
                <a:latin typeface="Aptos"/>
              </a:defRPr>
            </a:pPr>
            <a:r>
              <a:rPr sz="900"/>
              <a:t>YEAR 6 •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9486"/>
            <a:ext cx="82296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62643"/>
                </a:solidFill>
                <a:latin typeface="Aptos"/>
              </a:defRPr>
            </a:pPr>
            <a:r>
              <a:rPr sz="2100"/>
              <a:t>INDEPENDENT TASK — BUILD A NON-FICTION PARAGRAPH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1050" y="4821174"/>
            <a:ext cx="30861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1C7E81"/>
                </a:solidFill>
                <a:latin typeface="Aptos"/>
              </a:defRPr>
            </a:pPr>
            <a:r>
              <a:rPr sz="750"/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770" y="1200150"/>
            <a:ext cx="8229600" cy="3394710"/>
          </a:xfrm>
          <a:prstGeom prst="roundRect">
            <a:avLst/>
          </a:prstGeom>
          <a:solidFill>
            <a:srgbClr val="FFFFFF"/>
          </a:solidFill>
          <a:ln>
            <a:solidFill>
              <a:srgbClr val="E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651510" y="1405890"/>
            <a:ext cx="7783830" cy="32778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0">
                <a:solidFill>
                  <a:srgbClr val="1F2530"/>
                </a:solidFill>
                <a:latin typeface="Aptos"/>
              </a:defRPr>
            </a:pPr>
            <a:r>
              <a:rPr sz="1725"/>
              <a:t>Write 4–5 sentences about ONE school improvement.</a:t>
            </a:r>
            <a:br>
              <a:rPr sz="1725"/>
            </a:br>
            <a:br>
              <a:rPr sz="1725"/>
            </a:br>
            <a:r>
              <a:rPr sz="1725"/>
              <a:t>Include:</a:t>
            </a:r>
            <a:br>
              <a:rPr sz="1725"/>
            </a:br>
            <a:r>
              <a:rPr sz="1725"/>
              <a:t>✓ factual information</a:t>
            </a:r>
            <a:br>
              <a:rPr sz="1725"/>
            </a:br>
            <a:r>
              <a:rPr sz="1725"/>
              <a:t>✓ at least TWO relative clauses</a:t>
            </a:r>
            <a:br>
              <a:rPr sz="1725"/>
            </a:br>
            <a:r>
              <a:rPr sz="1725"/>
              <a:t>✓ at least TWO different relative words</a:t>
            </a:r>
            <a:br>
              <a:rPr sz="1725"/>
            </a:br>
            <a:r>
              <a:rPr sz="1725"/>
              <a:t>✓ precise vocabulary</a:t>
            </a:r>
            <a:br>
              <a:rPr sz="1725"/>
            </a:br>
            <a:r>
              <a:rPr sz="1725"/>
              <a:t>✓ correct punctuation</a:t>
            </a:r>
            <a:br>
              <a:rPr sz="1725"/>
            </a:br>
            <a:br>
              <a:rPr sz="1725"/>
            </a:br>
            <a:r>
              <a:rPr sz="1725"/>
              <a:t>Possible topics:</a:t>
            </a:r>
            <a:br>
              <a:rPr sz="1725"/>
            </a:br>
            <a:r>
              <a:rPr sz="1725"/>
              <a:t>🌱 school garden • ♻️ recycling area • 📚 reading corner • 💧 water-saving system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5  |  WRITING CHALLENGE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your writing more informative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3291840"/>
          </a:xfrm>
          <a:prstGeom prst="roundRect">
            <a:avLst>
              <a:gd name="adj" fmla="val 4167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1508760"/>
            <a:ext cx="731520" cy="7315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916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1417320"/>
            <a:ext cx="68580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Basic: Our school has a garden.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Improved: Our school has a garden where students grow plants.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Basic: Our school has a recycling system.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Improved: Our school has a recycling system which reduces plastic waste.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challenge: improve one basic sentence with a relative clause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5  |  CHECKLIST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Detective checklist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3291840"/>
          </a:xfrm>
          <a:prstGeom prst="roundRect">
            <a:avLst>
              <a:gd name="adj" fmla="val 4167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1508760"/>
            <a:ext cx="731520" cy="7315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916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1417320"/>
            <a:ext cx="68580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wrote two factual sentences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used a relative clause in each sentence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used who correctly for a person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used which or where correctly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relative clause gives extra information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did not add an unnecessary it / they / he / she / there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sentences make sense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8F6EF"/>
          </a:solidFill>
          <a:ln>
            <a:solidFill>
              <a:srgbClr val="F8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" y="0"/>
            <a:ext cx="9143771" cy="96012"/>
          </a:xfrm>
          <a:prstGeom prst="rect">
            <a:avLst/>
          </a:prstGeom>
          <a:solidFill>
            <a:srgbClr val="1C7E81"/>
          </a:solidFill>
          <a:ln>
            <a:solidFill>
              <a:srgbClr val="1C7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411480" y="185166"/>
            <a:ext cx="20574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7E81"/>
                </a:solidFill>
                <a:latin typeface="Aptos"/>
              </a:defRPr>
            </a:pPr>
            <a:r>
              <a:rPr sz="900"/>
              <a:t>YEAR 6 •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9486"/>
            <a:ext cx="82296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62643"/>
                </a:solidFill>
                <a:latin typeface="Aptos"/>
              </a:defRPr>
            </a:pPr>
            <a:r>
              <a:rPr sz="2100"/>
              <a:t>MODEL — NON-FICTION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1050" y="4821174"/>
            <a:ext cx="30861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1C7E81"/>
                </a:solidFill>
                <a:latin typeface="Aptos"/>
              </a:defRPr>
            </a:pPr>
            <a:r>
              <a:rPr sz="750"/>
              <a:t>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770" y="1234440"/>
            <a:ext cx="8229600" cy="3360420"/>
          </a:xfrm>
          <a:prstGeom prst="roundRect">
            <a:avLst/>
          </a:prstGeom>
          <a:solidFill>
            <a:srgbClr val="FFFFFF"/>
          </a:solidFill>
          <a:ln>
            <a:solidFill>
              <a:srgbClr val="E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651510" y="1405889"/>
            <a:ext cx="157734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18558"/>
                </a:solidFill>
                <a:latin typeface="Aptos"/>
              </a:defRPr>
            </a:pPr>
            <a:r>
              <a:rPr sz="1350"/>
              <a:t>✓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" y="1796796"/>
            <a:ext cx="7783830" cy="11541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0">
                <a:solidFill>
                  <a:srgbClr val="1F2530"/>
                </a:solidFill>
                <a:latin typeface="Aptos"/>
              </a:defRPr>
            </a:pPr>
            <a:r>
              <a:rPr sz="1725"/>
              <a:t>Our school could create a reading corner that gives students a quiet place to read. The corner could include shelves which hold a range of books. Students who enjoy reading could recommend books to their classmates. The area where students read should be comfortable and well organised.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CHECKPOINT CHALLENGE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word completes the sentence?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06640" y="32004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32004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11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45920"/>
            <a:ext cx="822960" cy="8229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1371600"/>
            <a:ext cx="6858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environmental club, ___ meets every Thursday, teaches students about recycling.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054096"/>
            <a:ext cx="493776" cy="49377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97180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63440" y="297180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3054096"/>
            <a:ext cx="493776" cy="493776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488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297180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3831336"/>
            <a:ext cx="493776" cy="493776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374904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663440" y="374904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54880" y="3831336"/>
            <a:ext cx="493776" cy="49377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54880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349240" y="374904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your answer.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CHECKPOINT  |  ANSWER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B: WHICH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0B3D2E"/>
          </a:solidFill>
          <a:ln w="25400">
            <a:solidFill>
              <a:srgbClr val="B5E4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360000">
            <a:off x="704088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371600"/>
            <a:ext cx="6858000" cy="1371600"/>
          </a:xfrm>
          <a:prstGeom prst="roundRect">
            <a:avLst>
              <a:gd name="adj" fmla="val 10000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environmental club, </a:t>
            </a:r>
            <a:r>
              <a:rPr lang="en-US" sz="21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meets every Thursday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teaches students about recycling.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club is an organisation (a thing), so we use which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Rule: WHICH → things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CHECKPOINT CHALLENGE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the correct sentence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06640" y="32004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32004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12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45920"/>
            <a:ext cx="822960" cy="8229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1371600"/>
            <a:ext cx="6858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sentence is correct?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054096"/>
            <a:ext cx="493776" cy="49377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97180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laboratory where students conduct experiments is on the second floor.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297180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3054096"/>
            <a:ext cx="493776" cy="493776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488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297180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laboratory who students conduct experiments is on the second floor.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3831336"/>
            <a:ext cx="493776" cy="493776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374904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laboratory which students conduct experiments there is on the second floor.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63440" y="374904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54880" y="3831336"/>
            <a:ext cx="493776" cy="49377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54880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349240" y="374904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laboratory where students conduct experiments there is on the second floor.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CHECKPOINT  |  ANSWER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is correct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0B3D2E"/>
          </a:solidFill>
          <a:ln w="25400">
            <a:solidFill>
              <a:srgbClr val="B5E4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360000">
            <a:off x="704088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371600"/>
            <a:ext cx="6858000" cy="1371600"/>
          </a:xfrm>
          <a:prstGeom prst="roundRect">
            <a:avLst>
              <a:gd name="adj" fmla="val 10000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laboratory </a:t>
            </a:r>
            <a:r>
              <a:rPr lang="en-US" sz="21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students conduct experiments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is on the second floor.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Laboratory = place, so we use where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... there ✗   where ... ✓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do not need there because where already shows the place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CHALLENGE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all the problems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06640" y="32004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32004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13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194560"/>
          </a:xfrm>
          <a:prstGeom prst="roundRect">
            <a:avLst>
              <a:gd name="adj" fmla="val 6250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822960" cy="8229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1371600"/>
            <a:ext cx="68580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students </a:t>
            </a:r>
            <a:r>
              <a:rPr lang="en-US" sz="2400" b="1" strike="sngStrike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they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created a recycling project presented it in the school garden where they worked </a:t>
            </a:r>
            <a:r>
              <a:rPr lang="en-US" sz="2400" b="1" strike="sngStrike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there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 the sentence correctly.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CHALLENGE  |  ANSWER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Possible corrected sentence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0B3D2E"/>
          </a:solidFill>
          <a:ln w="25400">
            <a:solidFill>
              <a:srgbClr val="B5E4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360000">
            <a:off x="704088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371600"/>
            <a:ext cx="6858000" cy="1371600"/>
          </a:xfrm>
          <a:prstGeom prst="roundRect">
            <a:avLst>
              <a:gd name="adj" fmla="val 10000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students </a:t>
            </a:r>
            <a:r>
              <a:rPr lang="en-US" sz="21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created a recycling project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presented it in the school garden </a:t>
            </a:r>
            <a:r>
              <a:rPr lang="en-US" sz="21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they worked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students which → students who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they created → created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they worked there → where they worked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you leave... (1)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06640" y="32004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32004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14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45920"/>
            <a:ext cx="822960" cy="8229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1371600"/>
            <a:ext cx="6858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teacher ___ runs the science club is helpful.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054096"/>
            <a:ext cx="493776" cy="49377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97180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63440" y="297180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3054096"/>
            <a:ext cx="493776" cy="493776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488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297180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3831336"/>
            <a:ext cx="493776" cy="493776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374904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663440" y="3749040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54880" y="3831336"/>
            <a:ext cx="493776" cy="49377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54880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349240" y="3749040"/>
            <a:ext cx="3291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 combine using where: The school has a garden. Students grow vegetables there.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B5E48C">
              <a:alpha val="10000"/>
            </a:srgbClr>
          </a:solidFill>
          <a:ln w="12700">
            <a:solidFill>
              <a:srgbClr val="B5E48C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TICKET  |  ANSWERS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ticket answers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0" y="2743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0B3D2E"/>
          </a:solidFill>
          <a:ln w="25400">
            <a:solidFill>
              <a:srgbClr val="B5E4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360000">
            <a:off x="704088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E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SOLVED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19072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371600"/>
            <a:ext cx="6858000" cy="1371600"/>
          </a:xfrm>
          <a:prstGeom prst="roundRect">
            <a:avLst>
              <a:gd name="adj" fmla="val 10000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teacher </a:t>
            </a:r>
            <a:r>
              <a:rPr lang="en-US" sz="2100" b="1" u="sng" dirty="0">
                <a:solidFill>
                  <a:srgbClr val="FCA311"/>
                </a:solidFill>
                <a:uFill>
                  <a:solidFill>
                    <a:srgbClr val="FCA311"/>
                  </a:solidFill>
                </a:u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runs the science club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is helpful.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145A43"/>
          </a:solidFill>
          <a:ln w="12700">
            <a:solidFill>
              <a:srgbClr val="145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C: who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The school has a garden where students grow vegetables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4CC9F0">
              <a:alpha val="8000"/>
            </a:srgbClr>
          </a:solidFill>
          <a:ln w="12700">
            <a:solidFill>
              <a:srgbClr val="4CC9F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931920"/>
            <a:ext cx="2377440" cy="2377440"/>
          </a:xfrm>
          <a:prstGeom prst="ellipse">
            <a:avLst/>
          </a:prstGeom>
          <a:solidFill>
            <a:srgbClr val="FCA311">
              <a:alpha val="7000"/>
            </a:srgbClr>
          </a:solidFill>
          <a:ln w="12700">
            <a:solidFill>
              <a:srgbClr val="FCA311">
                <a:alpha val="7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 COMPLETE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can you do now?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2926080"/>
          </a:xfrm>
          <a:prstGeom prst="roundRect">
            <a:avLst>
              <a:gd name="adj" fmla="val 4167"/>
            </a:avLst>
          </a:prstGeom>
          <a:solidFill>
            <a:srgbClr val="22335F"/>
          </a:solidFill>
          <a:ln w="12700">
            <a:solidFill>
              <a:srgbClr val="2233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1508760"/>
            <a:ext cx="731520" cy="7315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916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1234440"/>
            <a:ext cx="68580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IDENTIFY: find a relative clause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APPLY: choose the correct relative pronoun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EDIT: fix grammar mistakes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TRANSFORM: join two sentences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WRITE: use relative clauses in factual writing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→ people                                                                                   WHICH → things/animals                                                                   WHERE → places                                                                                THAT → people/things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1700</Words>
  <Application>Microsoft Office PowerPoint</Application>
  <PresentationFormat>On-screen Show (16:9)</PresentationFormat>
  <Paragraphs>330</Paragraphs>
  <Slides>38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Rozan Zakaria@meis-eg.com</cp:lastModifiedBy>
  <cp:revision>3</cp:revision>
  <dcterms:created xsi:type="dcterms:W3CDTF">2026-09-30T11:24:42Z</dcterms:created>
  <dcterms:modified xsi:type="dcterms:W3CDTF">2026-10-01T10:08:24Z</dcterms:modified>
</cp:coreProperties>
</file>