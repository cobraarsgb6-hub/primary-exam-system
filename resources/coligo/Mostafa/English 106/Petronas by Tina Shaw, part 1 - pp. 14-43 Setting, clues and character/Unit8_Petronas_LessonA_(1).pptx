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1202f58-27cb-f232-5fa5-18943e3a2fbe}">
          <p14:sldIdLst>
            <p14:sldId id="256"/>
            <p14:sldId id="257"/>
            <p14:sldId id="258"/>
            <p14:sldId id="259"/>
            <p14:sldId id="260"/>
            <p14:sldId id="261"/>
            <p14:sldId id="262"/>
            <p14:sldId id="263"/>
          </p14:sldIdLst>
        </p14:section>
        <p14:section name="Teach" id="{2aeac608-e0e8-10d2-8692-24d18eb4c39a}">
          <p14:sldIdLst>
            <p14:sldId id="264"/>
            <p14:sldId id="265"/>
            <p14:sldId id="266"/>
            <p14:sldId id="267"/>
            <p14:sldId id="268"/>
            <p14:sldId id="269"/>
            <p14:sldId id="270"/>
          </p14:sldIdLst>
        </p14:section>
        <p14:section name="Read" id="{b0050d92-ea28-6945-49ca-91d07362cd23}">
          <p14:sldIdLst>
            <p14:sldId id="271"/>
            <p14:sldId id="272"/>
            <p14:sldId id="273"/>
            <p14:sldId id="274"/>
            <p14:sldId id="275"/>
            <p14:sldId id="276"/>
            <p14:sldId id="277"/>
            <p14:sldId id="278"/>
            <p14:sldId id="279"/>
            <p14:sldId id="280"/>
            <p14:sldId id="281"/>
            <p14:sldId id="282"/>
            <p14:sldId id="283"/>
            <p14:sldId id="284"/>
            <p14:sldId id="285"/>
          </p14:sldIdLst>
        </p14:section>
        <p14:section name="Practise" id="{70bc0fdc-d387-7567-4ead-c8ca0d158441}">
          <p14:sldIdLst>
            <p14:sldId id="286"/>
            <p14:sldId id="287"/>
            <p14:sldId id="288"/>
            <p14:sldId id="289"/>
            <p14:sldId id="290"/>
            <p14:sldId id="291"/>
            <p14:sldId id="292"/>
            <p14:sldId id="293"/>
            <p14:sldId id="294"/>
            <p14:sldId id="295"/>
            <p14:sldId id="296"/>
            <p14:sldId id="297"/>
            <p14:sldId id="298"/>
            <p14:sldId id="299"/>
          </p14:sldIdLst>
        </p14:section>
        <p14:section name="Share" id="{53872770-0d87-ee22-945f-11e42d21bea9}">
          <p14:sldIdLst>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80-minute lesson. Timings: Recap 6 | The book and predicting 8 | Teaching 12 | Reading and questions 24 | Main activity 14 | Plenary 4 | Exam practice 8 | Exit ticket 4 = 80.
Pupils need their copy of Petronas.
Teacher note: this lesson uses the real book (Petronas by Tina Shaw, Nitty Gritty Novels, 2012). Pupils read the pages from their own copy. The slides give page numbers as two-page spreads (for example pp. 26-27) and only very short quotations.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Ask pupils to show a thumb for how confident they feel,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Pairs answer for two minutes, then take answers.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alternative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characters pupils will meet in pages 14 to 43. Baba is the title of the tribe's leader, and also the girl's name in the story. Quirt is Baba's small pet, which pupils will see on her shoulder and in her 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from the book. Give this summary in your own words. Pupils may remember it from reading the first chapter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talk for two minutes. Push for a reason from the story so far.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prediction with a reason. Do not tell pupils what really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setting is more than a place. It also gives a mood. Ask for one example of a setting that feels scary and one that feels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copy or discuss. Desert details are from the early chapters, city details from pp. 14 to 31. Ask: why does the author make the city so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foreshadowing. Give the example slowly. Pupils tell a partner what they think it hints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techniques. Each is used in the pages pupils will read. Do not reveal the details yet. Ask pupils to look out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three short quotations. Pupils can find them in the book. Ask what effect each has. They are all personification: the city seems to watch and laugh.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Yes or No for each. Take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say what each clue might hint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from their own copy of the book. Read the first page aloud if needed, then let them read quietly or in pairs. Give 4 to 5 minutes for each chunk. Pupils then answer the questions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the answer is (pp. 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from their own copy of the book. Read the first page aloud if needed, then let them read quietly or in pairs. Give 4 to 5 minutes for each chunk. Pupils then answer the questions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words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 answer that shows she touches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does she ignore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from their own copy of the book. Read the first page aloud if needed, then let them read quietly or in pairs. Give 4 to 5 minutes for each chunk. Pupils then answer the questions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effect: the water seems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Pupils write in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tell pupils what happens next in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minutes. Pairs. Pupils copy the chart into their books and find a short quotation for each clue, then say what it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find the quotations. Circulate and help with the page spreads. Do not give quotations away. Model answers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short accurate quotation from the right pages and any sensible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short accurate quotation from the right pages and any sensible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Put a line on the floor or use two sides of the room. Pupils stand on the side they agree with and give one reason with a quotation. They may change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are acceptable if the pupil uses evidence. Ask pupils which clue convinced them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'like' that signals a simile.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pupils to copy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wrong options are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both sides if the pupil uses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on a sticky note and hand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answer uses an exact quotation and a reason, not just an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out a printed copy of this slide. Collect it at the start of the next lesson. Pupils need their copy of the book. A good extra clue is the faint humming from the walls in Tulsi's wrong turning (pp. 46-47).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pupils show their confidence again. Collect exit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B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3B2F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86384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2788920"/>
            <a:ext cx="7863840" cy="73152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4736592"/>
            <a:ext cx="4572000" cy="274320"/>
          </a:xfrm>
          <a:prstGeom prst="rect">
            <a:avLst/>
          </a:prstGeom>
          <a:noFill/>
          <a:ln/>
        </p:spPr>
        <p:txBody>
          <a:bodyPr wrap="square" lIns="0" tIns="0" rIns="0" bIns="0" rtlCol="0" anchor="ctr"/>
          <a:lstStyle/>
          <a:p>
            <a:pPr indent="0" marL="0">
              <a:buNone/>
            </a:pPr>
            <a:r>
              <a:rPr lang="en-US" sz="1000" dirty="0">
                <a:solidFill>
                  <a:srgbClr val="6B6784"/>
                </a:solidFill>
              </a:rPr>
              <a:t>Year 6 English  |  Unit 8  |  Petronas</a:t>
            </a:r>
            <a:endParaRPr lang="en-US" sz="10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4.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lIns="0" tIns="0" rIns="0" bIns="0" rtlCol="0" anchor="b"/>
          <a:lstStyle/>
          <a:p>
            <a:pPr algn="l" indent="0" marL="0">
              <a:buNone/>
            </a:pPr>
            <a:r>
              <a:rPr lang="en-US" sz="4400" b="1" dirty="0">
                <a:solidFill>
                  <a:schemeClr val="bg1"/>
                </a:solidFill>
              </a:rPr>
              <a:t>Too Good to Be True</a:t>
            </a: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lIns="0" tIns="0" rIns="0" bIns="0" rtlCol="0" anchor="t"/>
          <a:lstStyle/>
          <a:p>
            <a:pPr indent="0" marL="0">
              <a:buNone/>
            </a:pPr>
            <a:r>
              <a:rPr lang="en-US" sz="1800" dirty="0">
                <a:solidFill>
                  <a:schemeClr val="accent1"/>
                </a:solidFill>
              </a:rPr>
              <a:t>Unit 8 | Petronas by Tina Shaw, pp. 14-43</a:t>
            </a:r>
            <a:endParaRPr lang="en-US" sz="1800" dirty="0"/>
          </a:p>
          <a:p>
            <a:pPr indent="0" marL="0">
              <a:buNone/>
            </a:pPr>
            <a:r>
              <a:rPr lang="en-US" sz="1800" dirty="0">
                <a:solidFill>
                  <a:schemeClr val="accent1"/>
                </a:solidFill>
              </a:rPr>
              <a:t>Setting, clues and character</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r>
          <p:cNvPicPr>
            <a:picLocks noChangeAspect="1"/>
          </p:cNvPicPr>
          <p:nvPr/>
        </p:nvPicPr>
        <p:blipFill>
          <a:blip r:embed="rId1"/>
          <a:stretch>
            <a:fillRect/>
          </a:stretch>
        </p:blipFill>
        <p:spPr>
          <a:xfrm>
            <a:off x="6675120" y="16459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Today we will</a:t>
            </a:r>
            <a:endParaRPr lang="en-US" sz="3000" dirty="0"/>
          </a:p>
        </p:txBody>
      </p:sp>
      <p:sp>
        <p:nvSpPr>
          <p:cNvPr id="4" name="card"/>
          <p:cNvSpPr/>
          <p:nvPr/>
        </p:nvSpPr>
        <p:spPr>
          <a:xfrm>
            <a:off x="548640" y="1188720"/>
            <a:ext cx="2560320" cy="3200400"/>
          </a:xfrm>
          <a:prstGeom prst="roundRect">
            <a:avLst>
              <a:gd name="adj" fmla="val 4286"/>
            </a:avLst>
          </a:prstGeom>
          <a:solidFill>
            <a:schemeClr val="bg2"/>
          </a:solidFill>
          <a:ln w="12700">
            <a:solidFill>
              <a:schemeClr val="bg2"/>
            </a:solidFill>
            <a:prstDash val="solid"/>
          </a:ln>
        </p:spPr>
      </p:sp>
      <p:sp>
        <p:nvSpPr>
          <p:cNvPr id="5" name="badge"/>
          <p:cNvSpPr/>
          <p:nvPr/>
        </p:nvSpPr>
        <p:spPr>
          <a:xfrm>
            <a:off x="1371600" y="1463040"/>
            <a:ext cx="914400" cy="914400"/>
          </a:xfrm>
          <a:prstGeom prst="ellipse">
            <a:avLst/>
          </a:prstGeom>
          <a:solidFill>
            <a:schemeClr val="accent4"/>
          </a:solidFill>
          <a:ln w="12700">
            <a:solidFill>
              <a:schemeClr val="accent4"/>
            </a:solidFill>
            <a:prstDash val="solid"/>
          </a:ln>
        </p:spPr>
      </p:sp>
      <p:pic>
        <p:nvPicPr>
          <p:cNvPr id="6" name="icon" descr="map">    </p:cNvPr>
          <p:cNvPicPr>
            <a:picLocks noChangeAspect="1"/>
          </p:cNvPicPr>
          <p:nvPr/>
        </p:nvPicPr>
        <p:blipFill>
          <a:blip r:embed="rId1"/>
          <a:stretch>
            <a:fillRect/>
          </a:stretch>
        </p:blipFill>
        <p:spPr>
          <a:xfrm>
            <a:off x="1609344" y="1700784"/>
            <a:ext cx="438912" cy="438912"/>
          </a:xfrm>
          <a:prstGeom prst="rect">
            <a:avLst/>
          </a:prstGeom>
        </p:spPr>
      </p:pic>
      <p:sp>
        <p:nvSpPr>
          <p:cNvPr id="7" name="Text 3"/>
          <p:cNvSpPr txBox="1"/>
          <p:nvPr/>
        </p:nvSpPr>
        <p:spPr>
          <a:xfrm>
            <a:off x="7315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Describe the setting</a:t>
            </a:r>
            <a:endParaRPr lang="en-US" sz="2000" dirty="0"/>
          </a:p>
        </p:txBody>
      </p:sp>
      <p:sp>
        <p:nvSpPr>
          <p:cNvPr id="8" name="Text 4"/>
          <p:cNvSpPr txBox="1"/>
          <p:nvPr/>
        </p:nvSpPr>
        <p:spPr>
          <a:xfrm>
            <a:off x="7772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describe the city of Petronas and how it makes the reader feel.</a:t>
            </a:r>
            <a:endParaRPr lang="en-US" sz="1500" dirty="0"/>
          </a:p>
        </p:txBody>
      </p:sp>
      <p:sp>
        <p:nvSpPr>
          <p:cNvPr id="9" name="card"/>
          <p:cNvSpPr/>
          <p:nvPr/>
        </p:nvSpPr>
        <p:spPr>
          <a:xfrm>
            <a:off x="3291840" y="1188720"/>
            <a:ext cx="2560320" cy="3200400"/>
          </a:xfrm>
          <a:prstGeom prst="roundRect">
            <a:avLst>
              <a:gd name="adj" fmla="val 4286"/>
            </a:avLst>
          </a:prstGeom>
          <a:solidFill>
            <a:schemeClr val="bg2"/>
          </a:solidFill>
          <a:ln w="12700">
            <a:solidFill>
              <a:schemeClr val="bg2"/>
            </a:solidFill>
            <a:prstDash val="solid"/>
          </a:ln>
        </p:spPr>
      </p:sp>
      <p:sp>
        <p:nvSpPr>
          <p:cNvPr id="10" name="badge"/>
          <p:cNvSpPr/>
          <p:nvPr/>
        </p:nvSpPr>
        <p:spPr>
          <a:xfrm>
            <a:off x="4114800" y="1463040"/>
            <a:ext cx="914400" cy="914400"/>
          </a:xfrm>
          <a:prstGeom prst="ellipse">
            <a:avLst/>
          </a:prstGeom>
          <a:solidFill>
            <a:schemeClr val="accent2"/>
          </a:solidFill>
          <a:ln w="12700">
            <a:solidFill>
              <a:schemeClr val="accent2"/>
            </a:solidFill>
            <a:prstDash val="solid"/>
          </a:ln>
        </p:spPr>
      </p:sp>
      <p:pic>
        <p:nvPicPr>
          <p:cNvPr id="11" name="icon" descr="search">    </p:cNvPr>
          <p:cNvPicPr>
            <a:picLocks noChangeAspect="1"/>
          </p:cNvPicPr>
          <p:nvPr/>
        </p:nvPicPr>
        <p:blipFill>
          <a:blip r:embed="rId2"/>
          <a:stretch>
            <a:fillRect/>
          </a:stretch>
        </p:blipFill>
        <p:spPr>
          <a:xfrm>
            <a:off x="4352544" y="1700784"/>
            <a:ext cx="438912" cy="438912"/>
          </a:xfrm>
          <a:prstGeom prst="rect">
            <a:avLst/>
          </a:prstGeom>
        </p:spPr>
      </p:pic>
      <p:sp>
        <p:nvSpPr>
          <p:cNvPr id="12" name="Text 7"/>
          <p:cNvSpPr txBox="1"/>
          <p:nvPr/>
        </p:nvSpPr>
        <p:spPr>
          <a:xfrm>
            <a:off x="34747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Spot clues</a:t>
            </a:r>
            <a:endParaRPr lang="en-US" sz="2000" dirty="0"/>
          </a:p>
        </p:txBody>
      </p:sp>
      <p:sp>
        <p:nvSpPr>
          <p:cNvPr id="13" name="Text 8"/>
          <p:cNvSpPr txBox="1"/>
          <p:nvPr/>
        </p:nvSpPr>
        <p:spPr>
          <a:xfrm>
            <a:off x="35204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find foreshadowing clues and say what they suggest.</a:t>
            </a:r>
            <a:endParaRPr lang="en-US" sz="1500" dirty="0"/>
          </a:p>
        </p:txBody>
      </p:sp>
      <p:sp>
        <p:nvSpPr>
          <p:cNvPr id="14" name="card"/>
          <p:cNvSpPr/>
          <p:nvPr/>
        </p:nvSpPr>
        <p:spPr>
          <a:xfrm>
            <a:off x="6035040" y="1188720"/>
            <a:ext cx="2560320" cy="3200400"/>
          </a:xfrm>
          <a:prstGeom prst="roundRect">
            <a:avLst>
              <a:gd name="adj" fmla="val 4286"/>
            </a:avLst>
          </a:prstGeom>
          <a:solidFill>
            <a:schemeClr val="bg2"/>
          </a:solidFill>
          <a:ln w="12700">
            <a:solidFill>
              <a:schemeClr val="bg2"/>
            </a:solidFill>
            <a:prstDash val="solid"/>
          </a:ln>
        </p:spPr>
      </p:sp>
      <p:sp>
        <p:nvSpPr>
          <p:cNvPr id="15" name="badge"/>
          <p:cNvSpPr/>
          <p:nvPr/>
        </p:nvSpPr>
        <p:spPr>
          <a:xfrm>
            <a:off x="6858000" y="1463040"/>
            <a:ext cx="914400" cy="914400"/>
          </a:xfrm>
          <a:prstGeom prst="ellipse">
            <a:avLst/>
          </a:prstGeom>
          <a:solidFill>
            <a:schemeClr val="accent3"/>
          </a:solidFill>
          <a:ln w="12700">
            <a:solidFill>
              <a:schemeClr val="accent3"/>
            </a:solidFill>
            <a:prstDash val="solid"/>
          </a:ln>
        </p:spPr>
      </p:sp>
      <p:pic>
        <p:nvPicPr>
          <p:cNvPr id="16" name="icon" descr="users">    </p:cNvPr>
          <p:cNvPicPr>
            <a:picLocks noChangeAspect="1"/>
          </p:cNvPicPr>
          <p:nvPr/>
        </p:nvPicPr>
        <p:blipFill>
          <a:blip r:embed="rId3"/>
          <a:stretch>
            <a:fillRect/>
          </a:stretch>
        </p:blipFill>
        <p:spPr>
          <a:xfrm>
            <a:off x="7095744" y="1700784"/>
            <a:ext cx="438912" cy="438912"/>
          </a:xfrm>
          <a:prstGeom prst="rect">
            <a:avLst/>
          </a:prstGeom>
        </p:spPr>
      </p:pic>
      <p:sp>
        <p:nvSpPr>
          <p:cNvPr id="17" name="Text 11"/>
          <p:cNvSpPr txBox="1"/>
          <p:nvPr/>
        </p:nvSpPr>
        <p:spPr>
          <a:xfrm>
            <a:off x="6217920" y="2560320"/>
            <a:ext cx="2194560" cy="457200"/>
          </a:xfrm>
          <a:prstGeom prst="rect">
            <a:avLst/>
          </a:prstGeom>
          <a:noFill/>
          <a:ln/>
        </p:spPr>
        <p:txBody>
          <a:bodyPr wrap="square" lIns="0" tIns="0" rIns="0" bIns="0" rtlCol="0" anchor="t"/>
          <a:lstStyle/>
          <a:p>
            <a:pPr algn="ctr" indent="0" marL="0">
              <a:buNone/>
            </a:pPr>
            <a:r>
              <a:rPr lang="en-US" sz="2000" b="1" dirty="0">
                <a:solidFill>
                  <a:schemeClr val="tx1"/>
                </a:solidFill>
              </a:rPr>
              <a:t>Compare viewpoints</a:t>
            </a:r>
            <a:endParaRPr lang="en-US" sz="2000" dirty="0"/>
          </a:p>
        </p:txBody>
      </p:sp>
      <p:sp>
        <p:nvSpPr>
          <p:cNvPr id="18" name="Text 12"/>
          <p:cNvSpPr txBox="1"/>
          <p:nvPr/>
        </p:nvSpPr>
        <p:spPr>
          <a:xfrm>
            <a:off x="6263640" y="3108960"/>
            <a:ext cx="2103120" cy="1097280"/>
          </a:xfrm>
          <a:prstGeom prst="rect">
            <a:avLst/>
          </a:prstGeom>
          <a:noFill/>
          <a:ln/>
        </p:spPr>
        <p:txBody>
          <a:bodyPr wrap="square" lIns="0" tIns="0" rIns="0" bIns="0" rtlCol="0" anchor="t"/>
          <a:lstStyle/>
          <a:p>
            <a:pPr algn="ctr" indent="0" marL="0">
              <a:buNone/>
            </a:pPr>
            <a:r>
              <a:rPr lang="en-US" sz="1500" dirty="0">
                <a:solidFill>
                  <a:schemeClr val="tx1"/>
                </a:solidFill>
              </a:rPr>
              <a:t>I can compare how Baba and Ki see the city, with evidence.</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Recap: what do we remember?</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badge"/>
          <p:cNvSpPr/>
          <p:nvPr/>
        </p:nvSpPr>
        <p:spPr>
          <a:xfrm>
            <a:off x="685800" y="1211580"/>
            <a:ext cx="548640" cy="548640"/>
          </a:xfrm>
          <a:prstGeom prst="ellipse">
            <a:avLst/>
          </a:prstGeom>
          <a:solidFill>
            <a:schemeClr val="accent4"/>
          </a:solidFill>
          <a:ln w="12700">
            <a:solidFill>
              <a:schemeClr val="accent4"/>
            </a:solidFill>
            <a:prstDash val="solid"/>
          </a:ln>
        </p:spPr>
      </p:sp>
      <p:pic>
        <p:nvPicPr>
          <p:cNvPr id="6" name="icon" descr="question">    </p:cNvPr>
          <p:cNvPicPr>
            <a:picLocks noChangeAspect="1"/>
          </p:cNvPicPr>
          <p:nvPr/>
        </p:nvPicPr>
        <p:blipFill>
          <a:blip r:embed="rId1"/>
          <a:stretch>
            <a:fillRect/>
          </a:stretch>
        </p:blipFill>
        <p:spPr>
          <a:xfrm>
            <a:off x="828446" y="1354226"/>
            <a:ext cx="263347" cy="263347"/>
          </a:xfrm>
          <a:prstGeom prst="rect">
            <a:avLst/>
          </a:prstGeom>
        </p:spPr>
      </p:pic>
      <p:sp>
        <p:nvSpPr>
          <p:cNvPr id="7" name="Text 3"/>
          <p:cNvSpPr txBox="1"/>
          <p:nvPr/>
        </p:nvSpPr>
        <p:spPr>
          <a:xfrm>
            <a:off x="1463040" y="1097280"/>
            <a:ext cx="6949440" cy="777240"/>
          </a:xfrm>
          <a:prstGeom prst="rect">
            <a:avLst/>
          </a:prstGeom>
          <a:noFill/>
          <a:ln/>
        </p:spPr>
        <p:txBody>
          <a:bodyPr wrap="square" lIns="0" tIns="0" rIns="0" bIns="0" rtlCol="0" anchor="ctr"/>
          <a:lstStyle/>
          <a:p>
            <a:pPr indent="0" marL="0">
              <a:buNone/>
            </a:pPr>
            <a:r>
              <a:rPr lang="en-US" sz="1800" dirty="0">
                <a:solidFill>
                  <a:schemeClr val="tx1"/>
                </a:solidFill>
              </a:rPr>
              <a:t>What are the two parts of an inference?</a:t>
            </a:r>
            <a:endParaRPr lang="en-US" sz="1800" dirty="0"/>
          </a:p>
        </p:txBody>
      </p:sp>
      <p:sp>
        <p:nvSpPr>
          <p:cNvPr id="8" name="card"/>
          <p:cNvSpPr/>
          <p:nvPr/>
        </p:nvSpPr>
        <p:spPr>
          <a:xfrm>
            <a:off x="548640" y="2011680"/>
            <a:ext cx="8046720" cy="777240"/>
          </a:xfrm>
          <a:prstGeom prst="roundRect">
            <a:avLst>
              <a:gd name="adj" fmla="val 14118"/>
            </a:avLst>
          </a:prstGeom>
          <a:solidFill>
            <a:schemeClr val="bg2"/>
          </a:solidFill>
          <a:ln w="12700">
            <a:solidFill>
              <a:schemeClr val="bg2"/>
            </a:solidFill>
            <a:prstDash val="solid"/>
          </a:ln>
        </p:spPr>
      </p:sp>
      <p:sp>
        <p:nvSpPr>
          <p:cNvPr id="9" name="badge"/>
          <p:cNvSpPr/>
          <p:nvPr/>
        </p:nvSpPr>
        <p:spPr>
          <a:xfrm>
            <a:off x="685800" y="2125980"/>
            <a:ext cx="548640" cy="548640"/>
          </a:xfrm>
          <a:prstGeom prst="ellipse">
            <a:avLst/>
          </a:prstGeom>
          <a:solidFill>
            <a:schemeClr val="accent2"/>
          </a:solidFill>
          <a:ln w="12700">
            <a:solidFill>
              <a:schemeClr val="accent2"/>
            </a:solidFill>
            <a:prstDash val="solid"/>
          </a:ln>
        </p:spPr>
      </p:sp>
      <p:pic>
        <p:nvPicPr>
          <p:cNvPr id="10" name="icon" descr="question">    </p:cNvPr>
          <p:cNvPicPr>
            <a:picLocks noChangeAspect="1"/>
          </p:cNvPicPr>
          <p:nvPr/>
        </p:nvPicPr>
        <p:blipFill>
          <a:blip r:embed="rId2"/>
          <a:stretch>
            <a:fillRect/>
          </a:stretch>
        </p:blipFill>
        <p:spPr>
          <a:xfrm>
            <a:off x="828446" y="2268626"/>
            <a:ext cx="263347" cy="263347"/>
          </a:xfrm>
          <a:prstGeom prst="rect">
            <a:avLst/>
          </a:prstGeom>
        </p:spPr>
      </p:pic>
      <p:sp>
        <p:nvSpPr>
          <p:cNvPr id="11" name="Text 6"/>
          <p:cNvSpPr txBox="1"/>
          <p:nvPr/>
        </p:nvSpPr>
        <p:spPr>
          <a:xfrm>
            <a:off x="1463040" y="2011680"/>
            <a:ext cx="6949440" cy="777240"/>
          </a:xfrm>
          <a:prstGeom prst="rect">
            <a:avLst/>
          </a:prstGeom>
          <a:noFill/>
          <a:ln/>
        </p:spPr>
        <p:txBody>
          <a:bodyPr wrap="square" lIns="0" tIns="0" rIns="0" bIns="0" rtlCol="0" anchor="ctr"/>
          <a:lstStyle/>
          <a:p>
            <a:pPr indent="0" marL="0">
              <a:buNone/>
            </a:pPr>
            <a:r>
              <a:rPr lang="en-US" sz="1800" dirty="0">
                <a:solidFill>
                  <a:schemeClr val="tx1"/>
                </a:solidFill>
              </a:rPr>
              <a:t>What does a prediction need so that it is not just a guess?</a:t>
            </a:r>
            <a:endParaRPr lang="en-US" sz="1800" dirty="0"/>
          </a:p>
        </p:txBody>
      </p:sp>
      <p:sp>
        <p:nvSpPr>
          <p:cNvPr id="12" name="card"/>
          <p:cNvSpPr/>
          <p:nvPr/>
        </p:nvSpPr>
        <p:spPr>
          <a:xfrm>
            <a:off x="548640" y="2926080"/>
            <a:ext cx="8046720" cy="777240"/>
          </a:xfrm>
          <a:prstGeom prst="roundRect">
            <a:avLst>
              <a:gd name="adj" fmla="val 14118"/>
            </a:avLst>
          </a:prstGeom>
          <a:solidFill>
            <a:schemeClr val="bg2"/>
          </a:solidFill>
          <a:ln w="12700">
            <a:solidFill>
              <a:schemeClr val="bg2"/>
            </a:solidFill>
            <a:prstDash val="solid"/>
          </a:ln>
        </p:spPr>
      </p:sp>
      <p:sp>
        <p:nvSpPr>
          <p:cNvPr id="13" name="badge"/>
          <p:cNvSpPr/>
          <p:nvPr/>
        </p:nvSpPr>
        <p:spPr>
          <a:xfrm>
            <a:off x="685800" y="3040380"/>
            <a:ext cx="548640" cy="548640"/>
          </a:xfrm>
          <a:prstGeom prst="ellipse">
            <a:avLst/>
          </a:prstGeom>
          <a:solidFill>
            <a:schemeClr val="accent3"/>
          </a:solidFill>
          <a:ln w="12700">
            <a:solidFill>
              <a:schemeClr val="accent3"/>
            </a:solidFill>
            <a:prstDash val="solid"/>
          </a:ln>
        </p:spPr>
      </p:sp>
      <p:pic>
        <p:nvPicPr>
          <p:cNvPr id="14" name="icon" descr="question">    </p:cNvPr>
          <p:cNvPicPr>
            <a:picLocks noChangeAspect="1"/>
          </p:cNvPicPr>
          <p:nvPr/>
        </p:nvPicPr>
        <p:blipFill>
          <a:blip r:embed="rId3"/>
          <a:stretch>
            <a:fillRect/>
          </a:stretch>
        </p:blipFill>
        <p:spPr>
          <a:xfrm>
            <a:off x="828446" y="3183026"/>
            <a:ext cx="263347" cy="263347"/>
          </a:xfrm>
          <a:prstGeom prst="rect">
            <a:avLst/>
          </a:prstGeom>
        </p:spPr>
      </p:pic>
      <p:sp>
        <p:nvSpPr>
          <p:cNvPr id="15" name="Text 9"/>
          <p:cNvSpPr txBox="1"/>
          <p:nvPr/>
        </p:nvSpPr>
        <p:spPr>
          <a:xfrm>
            <a:off x="1463040" y="2926080"/>
            <a:ext cx="6949440" cy="777240"/>
          </a:xfrm>
          <a:prstGeom prst="rect">
            <a:avLst/>
          </a:prstGeom>
          <a:noFill/>
          <a:ln/>
        </p:spPr>
        <p:txBody>
          <a:bodyPr wrap="square" lIns="0" tIns="0" rIns="0" bIns="0" rtlCol="0" anchor="ctr"/>
          <a:lstStyle/>
          <a:p>
            <a:pPr indent="0" marL="0">
              <a:buNone/>
            </a:pPr>
            <a:r>
              <a:rPr lang="en-US" sz="1800" dirty="0">
                <a:solidFill>
                  <a:schemeClr val="tx1"/>
                </a:solidFill>
              </a:rPr>
              <a:t>Is 'The wind whispered through the trees' a simile, a metaphor or personification?</a:t>
            </a:r>
            <a:endParaRPr lang="en-US" sz="1800" dirty="0"/>
          </a:p>
        </p:txBody>
      </p:sp>
      <p:sp>
        <p:nvSpPr>
          <p:cNvPr id="16" name="card"/>
          <p:cNvSpPr/>
          <p:nvPr/>
        </p:nvSpPr>
        <p:spPr>
          <a:xfrm>
            <a:off x="548640" y="3840480"/>
            <a:ext cx="8046720" cy="777240"/>
          </a:xfrm>
          <a:prstGeom prst="roundRect">
            <a:avLst>
              <a:gd name="adj" fmla="val 14118"/>
            </a:avLst>
          </a:prstGeom>
          <a:solidFill>
            <a:schemeClr val="bg2"/>
          </a:solidFill>
          <a:ln w="12700">
            <a:solidFill>
              <a:schemeClr val="bg2"/>
            </a:solidFill>
            <a:prstDash val="solid"/>
          </a:ln>
        </p:spPr>
      </p:sp>
      <p:sp>
        <p:nvSpPr>
          <p:cNvPr id="17" name="badge"/>
          <p:cNvSpPr/>
          <p:nvPr/>
        </p:nvSpPr>
        <p:spPr>
          <a:xfrm>
            <a:off x="685800" y="3954780"/>
            <a:ext cx="548640" cy="548640"/>
          </a:xfrm>
          <a:prstGeom prst="ellipse">
            <a:avLst/>
          </a:prstGeom>
          <a:solidFill>
            <a:schemeClr val="accent5"/>
          </a:solidFill>
          <a:ln w="12700">
            <a:solidFill>
              <a:schemeClr val="accent5"/>
            </a:solidFill>
            <a:prstDash val="solid"/>
          </a:ln>
        </p:spPr>
      </p:sp>
      <p:pic>
        <p:nvPicPr>
          <p:cNvPr id="18" name="icon" descr="question">    </p:cNvPr>
          <p:cNvPicPr>
            <a:picLocks noChangeAspect="1"/>
          </p:cNvPicPr>
          <p:nvPr/>
        </p:nvPicPr>
        <p:blipFill>
          <a:blip r:embed="rId4"/>
          <a:stretch>
            <a:fillRect/>
          </a:stretch>
        </p:blipFill>
        <p:spPr>
          <a:xfrm>
            <a:off x="828446" y="4097426"/>
            <a:ext cx="263347" cy="263347"/>
          </a:xfrm>
          <a:prstGeom prst="rect">
            <a:avLst/>
          </a:prstGeom>
        </p:spPr>
      </p:pic>
      <p:sp>
        <p:nvSpPr>
          <p:cNvPr id="19" name="Text 12"/>
          <p:cNvSpPr txBox="1"/>
          <p:nvPr/>
        </p:nvSpPr>
        <p:spPr>
          <a:xfrm>
            <a:off x="1463040" y="3840480"/>
            <a:ext cx="6949440" cy="777240"/>
          </a:xfrm>
          <a:prstGeom prst="rect">
            <a:avLst/>
          </a:prstGeom>
          <a:noFill/>
          <a:ln/>
        </p:spPr>
        <p:txBody>
          <a:bodyPr wrap="square" lIns="0" tIns="0" rIns="0" bIns="0" rtlCol="0" anchor="ctr"/>
          <a:lstStyle/>
          <a:p>
            <a:pPr indent="0" marL="0">
              <a:buNone/>
            </a:pPr>
            <a:r>
              <a:rPr lang="en-US" sz="1800" dirty="0">
                <a:solidFill>
                  <a:schemeClr val="tx1"/>
                </a:solidFill>
              </a:rPr>
              <a:t>What do the words 'Feeling, Proof, Because' remind us to do?</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recap</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A clue from the text plus what I already know.</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A reason from the text.</a:t>
            </a:r>
            <a:pPr indent="0" marL="0">
              <a:buNone/>
            </a:pPr>
            <a:r>
              <a:rPr lang="en-US" sz="1500" dirty="0">
                <a:solidFill>
                  <a:schemeClr val="tx1"/>
                </a:solidFill>
              </a:rPr>
              <a:t> We say 'I predict that ... because the text says ...'.</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Personification.</a:t>
            </a:r>
            <a:pPr indent="0" marL="0">
              <a:buNone/>
            </a:pPr>
            <a:r>
              <a:rPr lang="en-US" sz="1500" dirty="0">
                <a:solidFill>
                  <a:schemeClr val="tx1"/>
                </a:solidFill>
              </a:rPr>
              <a:t> The wind is given a human action, whispering.</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Say the feeling, give proof from the text, and explain with 'because'.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Who's who in Petronas?</a:t>
            </a:r>
            <a:endParaRPr lang="en-US" sz="3000" dirty="0"/>
          </a:p>
        </p:txBody>
      </p:sp>
      <p:sp>
        <p:nvSpPr>
          <p:cNvPr id="4" name="card"/>
          <p:cNvSpPr/>
          <p:nvPr/>
        </p:nvSpPr>
        <p:spPr>
          <a:xfrm>
            <a:off x="548640" y="1097280"/>
            <a:ext cx="2560320" cy="164592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731520" y="1207008"/>
            <a:ext cx="2194560" cy="365760"/>
          </a:xfrm>
          <a:prstGeom prst="rect">
            <a:avLst/>
          </a:prstGeom>
          <a:noFill/>
          <a:ln/>
        </p:spPr>
        <p:txBody>
          <a:bodyPr wrap="square" lIns="0" tIns="0" rIns="0" bIns="0" rtlCol="0" anchor="t"/>
          <a:lstStyle/>
          <a:p>
            <a:pPr indent="0" marL="0">
              <a:buNone/>
            </a:pPr>
            <a:r>
              <a:rPr lang="en-US" sz="1800" b="1" dirty="0">
                <a:solidFill>
                  <a:schemeClr val="accent4"/>
                </a:solidFill>
              </a:rPr>
              <a:t>Baba</a:t>
            </a:r>
            <a:endParaRPr lang="en-US" sz="1800" dirty="0"/>
          </a:p>
        </p:txBody>
      </p:sp>
      <p:sp>
        <p:nvSpPr>
          <p:cNvPr id="6" name="Text 3"/>
          <p:cNvSpPr txBox="1"/>
          <p:nvPr/>
        </p:nvSpPr>
        <p:spPr>
          <a:xfrm>
            <a:off x="731520" y="1627632"/>
            <a:ext cx="2194560" cy="1051560"/>
          </a:xfrm>
          <a:prstGeom prst="rect">
            <a:avLst/>
          </a:prstGeom>
          <a:noFill/>
          <a:ln/>
        </p:spPr>
        <p:txBody>
          <a:bodyPr wrap="square" lIns="0" tIns="0" rIns="0" bIns="0" rtlCol="0" anchor="t"/>
          <a:lstStyle/>
          <a:p>
            <a:pPr indent="0" marL="0">
              <a:buNone/>
            </a:pPr>
            <a:r>
              <a:rPr lang="en-US" sz="1300" dirty="0">
                <a:solidFill>
                  <a:schemeClr val="tx1"/>
                </a:solidFill>
              </a:rPr>
              <a:t>A young leader of a desert tribe. She is proud and wants to be remembered.</a:t>
            </a:r>
            <a:endParaRPr lang="en-US" sz="1300" dirty="0"/>
          </a:p>
        </p:txBody>
      </p:sp>
      <p:sp>
        <p:nvSpPr>
          <p:cNvPr id="7" name="card"/>
          <p:cNvSpPr/>
          <p:nvPr/>
        </p:nvSpPr>
        <p:spPr>
          <a:xfrm>
            <a:off x="3264408" y="1097280"/>
            <a:ext cx="2560320" cy="164592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3447288" y="1207008"/>
            <a:ext cx="2194560" cy="365760"/>
          </a:xfrm>
          <a:prstGeom prst="rect">
            <a:avLst/>
          </a:prstGeom>
          <a:noFill/>
          <a:ln/>
        </p:spPr>
        <p:txBody>
          <a:bodyPr wrap="square" lIns="0" tIns="0" rIns="0" bIns="0" rtlCol="0" anchor="t"/>
          <a:lstStyle/>
          <a:p>
            <a:pPr indent="0" marL="0">
              <a:buNone/>
            </a:pPr>
            <a:r>
              <a:rPr lang="en-US" sz="1800" b="1" dirty="0">
                <a:solidFill>
                  <a:schemeClr val="accent2"/>
                </a:solidFill>
              </a:rPr>
              <a:t>Tulsi</a:t>
            </a:r>
            <a:endParaRPr lang="en-US" sz="1800" dirty="0"/>
          </a:p>
        </p:txBody>
      </p:sp>
      <p:sp>
        <p:nvSpPr>
          <p:cNvPr id="9" name="Text 6"/>
          <p:cNvSpPr txBox="1"/>
          <p:nvPr/>
        </p:nvSpPr>
        <p:spPr>
          <a:xfrm>
            <a:off x="3447288" y="1627632"/>
            <a:ext cx="2194560" cy="1051560"/>
          </a:xfrm>
          <a:prstGeom prst="rect">
            <a:avLst/>
          </a:prstGeom>
          <a:noFill/>
          <a:ln/>
        </p:spPr>
        <p:txBody>
          <a:bodyPr wrap="square" lIns="0" tIns="0" rIns="0" bIns="0" rtlCol="0" anchor="t"/>
          <a:lstStyle/>
          <a:p>
            <a:pPr indent="0" marL="0">
              <a:buNone/>
            </a:pPr>
            <a:r>
              <a:rPr lang="en-US" sz="1300" dirty="0">
                <a:solidFill>
                  <a:schemeClr val="tx1"/>
                </a:solidFill>
              </a:rPr>
              <a:t>Baba's loyal attendant. He worries a lot and is always at her side.</a:t>
            </a:r>
            <a:endParaRPr lang="en-US" sz="1300" dirty="0"/>
          </a:p>
        </p:txBody>
      </p:sp>
      <p:sp>
        <p:nvSpPr>
          <p:cNvPr id="10" name="card"/>
          <p:cNvSpPr/>
          <p:nvPr/>
        </p:nvSpPr>
        <p:spPr>
          <a:xfrm>
            <a:off x="5980176" y="1097280"/>
            <a:ext cx="2560320" cy="1645920"/>
          </a:xfrm>
          <a:prstGeom prst="roundRect">
            <a:avLst>
              <a:gd name="adj" fmla="val 6667"/>
            </a:avLst>
          </a:prstGeom>
          <a:solidFill>
            <a:schemeClr val="bg2"/>
          </a:solidFill>
          <a:ln w="12700">
            <a:solidFill>
              <a:schemeClr val="bg2"/>
            </a:solidFill>
            <a:prstDash val="solid"/>
          </a:ln>
        </p:spPr>
      </p:sp>
      <p:sp>
        <p:nvSpPr>
          <p:cNvPr id="11" name="Text 8"/>
          <p:cNvSpPr txBox="1"/>
          <p:nvPr/>
        </p:nvSpPr>
        <p:spPr>
          <a:xfrm>
            <a:off x="6163056" y="1207008"/>
            <a:ext cx="2194560" cy="365760"/>
          </a:xfrm>
          <a:prstGeom prst="rect">
            <a:avLst/>
          </a:prstGeom>
          <a:noFill/>
          <a:ln/>
        </p:spPr>
        <p:txBody>
          <a:bodyPr wrap="square" lIns="0" tIns="0" rIns="0" bIns="0" rtlCol="0" anchor="t"/>
          <a:lstStyle/>
          <a:p>
            <a:pPr indent="0" marL="0">
              <a:buNone/>
            </a:pPr>
            <a:r>
              <a:rPr lang="en-US" sz="1800" b="1" dirty="0">
                <a:solidFill>
                  <a:schemeClr val="accent3"/>
                </a:solidFill>
              </a:rPr>
              <a:t>Ki</a:t>
            </a:r>
            <a:endParaRPr lang="en-US" sz="1800" dirty="0"/>
          </a:p>
        </p:txBody>
      </p:sp>
      <p:sp>
        <p:nvSpPr>
          <p:cNvPr id="12" name="Text 9"/>
          <p:cNvSpPr txBox="1"/>
          <p:nvPr/>
        </p:nvSpPr>
        <p:spPr>
          <a:xfrm>
            <a:off x="6163056" y="1627632"/>
            <a:ext cx="2194560" cy="1051560"/>
          </a:xfrm>
          <a:prstGeom prst="rect">
            <a:avLst/>
          </a:prstGeom>
          <a:noFill/>
          <a:ln/>
        </p:spPr>
        <p:txBody>
          <a:bodyPr wrap="square" lIns="0" tIns="0" rIns="0" bIns="0" rtlCol="0" anchor="t"/>
          <a:lstStyle/>
          <a:p>
            <a:pPr indent="0" marL="0">
              <a:buNone/>
            </a:pPr>
            <a:r>
              <a:rPr lang="en-US" sz="1300" dirty="0">
                <a:solidFill>
                  <a:schemeClr val="tx1"/>
                </a:solidFill>
              </a:rPr>
              <a:t>A grumpy elder and Baba's uncle. He is the first to doubt the city.</a:t>
            </a:r>
            <a:endParaRPr lang="en-US" sz="1300" dirty="0"/>
          </a:p>
        </p:txBody>
      </p:sp>
      <p:sp>
        <p:nvSpPr>
          <p:cNvPr id="13" name="card"/>
          <p:cNvSpPr/>
          <p:nvPr/>
        </p:nvSpPr>
        <p:spPr>
          <a:xfrm>
            <a:off x="548640" y="2880360"/>
            <a:ext cx="2560320" cy="164592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731520" y="2990088"/>
            <a:ext cx="2194560" cy="365760"/>
          </a:xfrm>
          <a:prstGeom prst="rect">
            <a:avLst/>
          </a:prstGeom>
          <a:noFill/>
          <a:ln/>
        </p:spPr>
        <p:txBody>
          <a:bodyPr wrap="square" lIns="0" tIns="0" rIns="0" bIns="0" rtlCol="0" anchor="t"/>
          <a:lstStyle/>
          <a:p>
            <a:pPr indent="0" marL="0">
              <a:buNone/>
            </a:pPr>
            <a:r>
              <a:rPr lang="en-US" sz="1800" b="1" dirty="0">
                <a:solidFill>
                  <a:schemeClr val="accent5"/>
                </a:solidFill>
              </a:rPr>
              <a:t>Shant</a:t>
            </a:r>
            <a:endParaRPr lang="en-US" sz="1800" dirty="0"/>
          </a:p>
        </p:txBody>
      </p:sp>
      <p:sp>
        <p:nvSpPr>
          <p:cNvPr id="15" name="Text 12"/>
          <p:cNvSpPr txBox="1"/>
          <p:nvPr/>
        </p:nvSpPr>
        <p:spPr>
          <a:xfrm>
            <a:off x="731520" y="3410712"/>
            <a:ext cx="2194560" cy="1051560"/>
          </a:xfrm>
          <a:prstGeom prst="rect">
            <a:avLst/>
          </a:prstGeom>
          <a:noFill/>
          <a:ln/>
        </p:spPr>
        <p:txBody>
          <a:bodyPr wrap="square" lIns="0" tIns="0" rIns="0" bIns="0" rtlCol="0" anchor="t"/>
          <a:lstStyle/>
          <a:p>
            <a:pPr indent="0" marL="0">
              <a:buNone/>
            </a:pPr>
            <a:r>
              <a:rPr lang="en-US" sz="1300" dirty="0">
                <a:solidFill>
                  <a:schemeClr val="tx1"/>
                </a:solidFill>
              </a:rPr>
              <a:t>An old woman elder. She trusts Baba and thinks Ki worries too much.</a:t>
            </a:r>
            <a:endParaRPr lang="en-US" sz="1300" dirty="0"/>
          </a:p>
        </p:txBody>
      </p:sp>
      <p:sp>
        <p:nvSpPr>
          <p:cNvPr id="16" name="card"/>
          <p:cNvSpPr/>
          <p:nvPr/>
        </p:nvSpPr>
        <p:spPr>
          <a:xfrm>
            <a:off x="3264408" y="2880360"/>
            <a:ext cx="2560320" cy="1645920"/>
          </a:xfrm>
          <a:prstGeom prst="roundRect">
            <a:avLst>
              <a:gd name="adj" fmla="val 6667"/>
            </a:avLst>
          </a:prstGeom>
          <a:solidFill>
            <a:schemeClr val="bg2"/>
          </a:solidFill>
          <a:ln w="12700">
            <a:solidFill>
              <a:schemeClr val="bg2"/>
            </a:solidFill>
            <a:prstDash val="solid"/>
          </a:ln>
        </p:spPr>
      </p:sp>
      <p:sp>
        <p:nvSpPr>
          <p:cNvPr id="17" name="Text 14"/>
          <p:cNvSpPr txBox="1"/>
          <p:nvPr/>
        </p:nvSpPr>
        <p:spPr>
          <a:xfrm>
            <a:off x="3447288" y="2990088"/>
            <a:ext cx="2194560" cy="365760"/>
          </a:xfrm>
          <a:prstGeom prst="rect">
            <a:avLst/>
          </a:prstGeom>
          <a:noFill/>
          <a:ln/>
        </p:spPr>
        <p:txBody>
          <a:bodyPr wrap="square" lIns="0" tIns="0" rIns="0" bIns="0" rtlCol="0" anchor="t"/>
          <a:lstStyle/>
          <a:p>
            <a:pPr indent="0" marL="0">
              <a:buNone/>
            </a:pPr>
            <a:r>
              <a:rPr lang="en-US" sz="1800" b="1" dirty="0">
                <a:solidFill>
                  <a:schemeClr val="accent4"/>
                </a:solidFill>
              </a:rPr>
              <a:t>Jad</a:t>
            </a:r>
            <a:endParaRPr lang="en-US" sz="1800" dirty="0"/>
          </a:p>
        </p:txBody>
      </p:sp>
      <p:sp>
        <p:nvSpPr>
          <p:cNvPr id="18" name="Text 15"/>
          <p:cNvSpPr txBox="1"/>
          <p:nvPr/>
        </p:nvSpPr>
        <p:spPr>
          <a:xfrm>
            <a:off x="3447288" y="3410712"/>
            <a:ext cx="2194560" cy="1051560"/>
          </a:xfrm>
          <a:prstGeom prst="rect">
            <a:avLst/>
          </a:prstGeom>
          <a:noFill/>
          <a:ln/>
        </p:spPr>
        <p:txBody>
          <a:bodyPr wrap="square" lIns="0" tIns="0" rIns="0" bIns="0" rtlCol="0" anchor="t"/>
          <a:lstStyle/>
          <a:p>
            <a:pPr indent="0" marL="0">
              <a:buNone/>
            </a:pPr>
            <a:r>
              <a:rPr lang="en-US" sz="1300" dirty="0">
                <a:solidFill>
                  <a:schemeClr val="tx1"/>
                </a:solidFill>
              </a:rPr>
              <a:t>Tulsi's father. He is practical and thinks about all the water.</a:t>
            </a:r>
            <a:endParaRPr lang="en-US" sz="1300" dirty="0"/>
          </a:p>
        </p:txBody>
      </p:sp>
      <p:sp>
        <p:nvSpPr>
          <p:cNvPr id="19" name="card"/>
          <p:cNvSpPr/>
          <p:nvPr/>
        </p:nvSpPr>
        <p:spPr>
          <a:xfrm>
            <a:off x="5980176" y="2880360"/>
            <a:ext cx="2560320" cy="1645920"/>
          </a:xfrm>
          <a:prstGeom prst="roundRect">
            <a:avLst>
              <a:gd name="adj" fmla="val 6667"/>
            </a:avLst>
          </a:prstGeom>
          <a:solidFill>
            <a:schemeClr val="bg2"/>
          </a:solidFill>
          <a:ln w="12700">
            <a:solidFill>
              <a:schemeClr val="bg2"/>
            </a:solidFill>
            <a:prstDash val="solid"/>
          </a:ln>
        </p:spPr>
      </p:sp>
      <p:sp>
        <p:nvSpPr>
          <p:cNvPr id="20" name="Text 17"/>
          <p:cNvSpPr txBox="1"/>
          <p:nvPr/>
        </p:nvSpPr>
        <p:spPr>
          <a:xfrm>
            <a:off x="6163056" y="2990088"/>
            <a:ext cx="2194560" cy="365760"/>
          </a:xfrm>
          <a:prstGeom prst="rect">
            <a:avLst/>
          </a:prstGeom>
          <a:noFill/>
          <a:ln/>
        </p:spPr>
        <p:txBody>
          <a:bodyPr wrap="square" lIns="0" tIns="0" rIns="0" bIns="0" rtlCol="0" anchor="t"/>
          <a:lstStyle/>
          <a:p>
            <a:pPr indent="0" marL="0">
              <a:buNone/>
            </a:pPr>
            <a:r>
              <a:rPr lang="en-US" sz="1800" b="1" dirty="0">
                <a:solidFill>
                  <a:schemeClr val="accent2"/>
                </a:solidFill>
              </a:rPr>
              <a:t>Anda</a:t>
            </a:r>
            <a:endParaRPr lang="en-US" sz="1800" dirty="0"/>
          </a:p>
        </p:txBody>
      </p:sp>
      <p:sp>
        <p:nvSpPr>
          <p:cNvPr id="21" name="Text 18"/>
          <p:cNvSpPr txBox="1"/>
          <p:nvPr/>
        </p:nvSpPr>
        <p:spPr>
          <a:xfrm>
            <a:off x="6163056" y="3410712"/>
            <a:ext cx="2194560" cy="1051560"/>
          </a:xfrm>
          <a:prstGeom prst="rect">
            <a:avLst/>
          </a:prstGeom>
          <a:noFill/>
          <a:ln/>
        </p:spPr>
        <p:txBody>
          <a:bodyPr wrap="square" lIns="0" tIns="0" rIns="0" bIns="0" rtlCol="0" anchor="t"/>
          <a:lstStyle/>
          <a:p>
            <a:pPr indent="0" marL="0">
              <a:buNone/>
            </a:pPr>
            <a:r>
              <a:rPr lang="en-US" sz="1300" dirty="0">
                <a:solidFill>
                  <a:schemeClr val="tx1"/>
                </a:solidFill>
              </a:rPr>
              <a:t>Baba's mother. She worries about the old stories.</a:t>
            </a:r>
            <a:endParaRPr lang="en-US" sz="13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The story so far (pp. 8-13)</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34440"/>
            <a:ext cx="7498080" cy="3200400"/>
          </a:xfrm>
          <a:prstGeom prst="rect">
            <a:avLst/>
          </a:prstGeom>
          <a:noFill/>
          <a:ln/>
        </p:spPr>
        <p:txBody>
          <a:bodyPr wrap="square" lIns="0" tIns="0" rIns="0" bIns="0" rtlCol="0" anchor="ctr"/>
          <a:lstStyle/>
          <a:p>
            <a:pPr indent="0" marL="0">
              <a:spcAft>
                <a:spcPts val="1000"/>
              </a:spcAft>
              <a:buNone/>
            </a:pPr>
            <a:r>
              <a:rPr lang="en-US" sz="1700" dirty="0">
                <a:solidFill>
                  <a:schemeClr val="tx1"/>
                </a:solidFill>
              </a:rPr>
              <a:t>The tribe of nomads is walking through a hot desert, looking for water.</a:t>
            </a:r>
            <a:endParaRPr lang="en-US" sz="1600" dirty="0"/>
          </a:p>
          <a:p>
            <a:pPr indent="0" marL="0">
              <a:spcAft>
                <a:spcPts val="1000"/>
              </a:spcAft>
              <a:buNone/>
            </a:pPr>
            <a:r>
              <a:rPr lang="en-US" sz="1700" dirty="0">
                <a:solidFill>
                  <a:schemeClr val="tx1"/>
                </a:solidFill>
              </a:rPr>
              <a:t>Their water skins are nearly </a:t>
            </a:r>
            <a:pPr indent="0" marL="0">
              <a:spcAft>
                <a:spcPts val="1000"/>
              </a:spcAft>
              <a:buNone/>
            </a:pPr>
            <a:r>
              <a:rPr lang="en-US" sz="1700" b="1" dirty="0">
                <a:solidFill>
                  <a:schemeClr val="tx1"/>
                </a:solidFill>
                <a:highlight>
                  <a:srgbClr val="FFD27F"/>
                </a:highlight>
              </a:rPr>
              <a:t>empty</a:t>
            </a:r>
            <a:pPr indent="0" marL="0">
              <a:spcAft>
                <a:spcPts val="1000"/>
              </a:spcAft>
              <a:buNone/>
            </a:pPr>
            <a:r>
              <a:rPr lang="en-US" sz="1700" dirty="0">
                <a:solidFill>
                  <a:schemeClr val="tx1"/>
                </a:solidFill>
              </a:rPr>
              <a:t>.</a:t>
            </a:r>
            <a:endParaRPr lang="en-US" sz="1600" dirty="0"/>
          </a:p>
          <a:p>
            <a:pPr indent="0" marL="0">
              <a:spcAft>
                <a:spcPts val="1000"/>
              </a:spcAft>
              <a:buNone/>
            </a:pPr>
            <a:r>
              <a:rPr lang="en-US" sz="1700" dirty="0">
                <a:solidFill>
                  <a:schemeClr val="tx1"/>
                </a:solidFill>
              </a:rPr>
              <a:t>Baba leads them, but she does not have the gift of finding water that the last Baba had.</a:t>
            </a:r>
            <a:endParaRPr lang="en-US" sz="1600" dirty="0"/>
          </a:p>
          <a:p>
            <a:pPr indent="0" marL="0">
              <a:spcAft>
                <a:spcPts val="1000"/>
              </a:spcAft>
              <a:buNone/>
            </a:pPr>
            <a:r>
              <a:rPr lang="en-US" sz="1700" dirty="0">
                <a:solidFill>
                  <a:schemeClr val="tx1"/>
                </a:solidFill>
              </a:rPr>
              <a:t>She tells her mother she is </a:t>
            </a:r>
            <a:pPr indent="0" marL="0">
              <a:spcAft>
                <a:spcPts val="1000"/>
              </a:spcAft>
              <a:buNone/>
            </a:pPr>
            <a:r>
              <a:rPr lang="en-US" sz="1700" b="1" dirty="0">
                <a:solidFill>
                  <a:schemeClr val="tx1"/>
                </a:solidFill>
                <a:highlight>
                  <a:srgbClr val="FFD27F"/>
                </a:highlight>
              </a:rPr>
              <a:t>not good</a:t>
            </a:r>
            <a:pPr indent="0" marL="0">
              <a:spcAft>
                <a:spcPts val="1000"/>
              </a:spcAft>
              <a:buNone/>
            </a:pPr>
            <a:r>
              <a:rPr lang="en-US" sz="1700" dirty="0">
                <a:solidFill>
                  <a:schemeClr val="tx1"/>
                </a:solidFill>
              </a:rPr>
              <a:t> at being the Baba.</a:t>
            </a:r>
            <a:endParaRPr lang="en-US" sz="1600" dirty="0"/>
          </a:p>
          <a:p>
            <a:pPr indent="0" marL="0">
              <a:spcAft>
                <a:spcPts val="1000"/>
              </a:spcAft>
              <a:buNone/>
            </a:pPr>
            <a:r>
              <a:rPr lang="en-US" sz="1700" dirty="0">
                <a:solidFill>
                  <a:schemeClr val="tx1"/>
                </a:solidFill>
              </a:rPr>
              <a:t>What she really wants is to find so much water that her people can stay in </a:t>
            </a:r>
            <a:pPr indent="0" marL="0">
              <a:spcAft>
                <a:spcPts val="1000"/>
              </a:spcAft>
              <a:buNone/>
            </a:pPr>
            <a:r>
              <a:rPr lang="en-US" sz="1700" b="1" dirty="0">
                <a:solidFill>
                  <a:schemeClr val="tx1"/>
                </a:solidFill>
                <a:highlight>
                  <a:srgbClr val="FFD27F"/>
                </a:highlight>
              </a:rPr>
              <a:t>one place</a:t>
            </a:r>
            <a:pPr indent="0" marL="0">
              <a:spcAft>
                <a:spcPts val="1000"/>
              </a:spcAft>
              <a:buNone/>
            </a:pPr>
            <a:r>
              <a:rPr lang="en-US" sz="17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Predict before we read</a:t>
            </a:r>
            <a:endParaRPr lang="en-US" sz="3000" dirty="0"/>
          </a:p>
        </p:txBody>
      </p:sp>
      <p:sp>
        <p:nvSpPr>
          <p:cNvPr id="4" name="card"/>
          <p:cNvSpPr/>
          <p:nvPr/>
        </p:nvSpPr>
        <p:spPr>
          <a:xfrm>
            <a:off x="548640" y="1097280"/>
            <a:ext cx="8046720" cy="1082040"/>
          </a:xfrm>
          <a:prstGeom prst="roundRect">
            <a:avLst>
              <a:gd name="adj" fmla="val 10141"/>
            </a:avLst>
          </a:prstGeom>
          <a:solidFill>
            <a:schemeClr val="bg2"/>
          </a:solidFill>
          <a:ln w="12700">
            <a:solidFill>
              <a:schemeClr val="bg2"/>
            </a:solidFill>
            <a:prstDash val="solid"/>
          </a:ln>
        </p:spPr>
      </p:sp>
      <p:sp>
        <p:nvSpPr>
          <p:cNvPr id="5" name="badge"/>
          <p:cNvSpPr/>
          <p:nvPr/>
        </p:nvSpPr>
        <p:spPr>
          <a:xfrm>
            <a:off x="685800" y="1363980"/>
            <a:ext cx="548640" cy="548640"/>
          </a:xfrm>
          <a:prstGeom prst="ellipse">
            <a:avLst/>
          </a:prstGeom>
          <a:solidFill>
            <a:schemeClr val="accent4"/>
          </a:solidFill>
          <a:ln w="12700">
            <a:solidFill>
              <a:schemeClr val="accent4"/>
            </a:solidFill>
            <a:prstDash val="solid"/>
          </a:ln>
        </p:spPr>
      </p:sp>
      <p:pic>
        <p:nvPicPr>
          <p:cNvPr id="6" name="icon" descr="question">    </p:cNvPr>
          <p:cNvPicPr>
            <a:picLocks noChangeAspect="1"/>
          </p:cNvPicPr>
          <p:nvPr/>
        </p:nvPicPr>
        <p:blipFill>
          <a:blip r:embed="rId1"/>
          <a:stretch>
            <a:fillRect/>
          </a:stretch>
        </p:blipFill>
        <p:spPr>
          <a:xfrm>
            <a:off x="828446" y="1506626"/>
            <a:ext cx="263347" cy="263347"/>
          </a:xfrm>
          <a:prstGeom prst="rect">
            <a:avLst/>
          </a:prstGeom>
        </p:spPr>
      </p:pic>
      <p:sp>
        <p:nvSpPr>
          <p:cNvPr id="7" name="Text 3"/>
          <p:cNvSpPr txBox="1"/>
          <p:nvPr/>
        </p:nvSpPr>
        <p:spPr>
          <a:xfrm>
            <a:off x="1463040" y="1097280"/>
            <a:ext cx="6949440" cy="1082040"/>
          </a:xfrm>
          <a:prstGeom prst="rect">
            <a:avLst/>
          </a:prstGeom>
          <a:noFill/>
          <a:ln/>
        </p:spPr>
        <p:txBody>
          <a:bodyPr wrap="square" lIns="0" tIns="0" rIns="0" bIns="0" rtlCol="0" anchor="ctr"/>
          <a:lstStyle/>
          <a:p>
            <a:pPr indent="0" marL="0">
              <a:buNone/>
            </a:pPr>
            <a:r>
              <a:rPr lang="en-US" sz="1700" dirty="0">
                <a:solidFill>
                  <a:schemeClr val="tx1"/>
                </a:solidFill>
              </a:rPr>
              <a:t>Baba wants to prove herself, and her people are running out of water. What might happen if she finds a place with lots of water?</a:t>
            </a:r>
            <a:endParaRPr lang="en-US" sz="1700" dirty="0"/>
          </a:p>
        </p:txBody>
      </p:sp>
      <p:sp>
        <p:nvSpPr>
          <p:cNvPr id="8" name="card"/>
          <p:cNvSpPr/>
          <p:nvPr/>
        </p:nvSpPr>
        <p:spPr>
          <a:xfrm>
            <a:off x="548640" y="2316480"/>
            <a:ext cx="8046720" cy="1082040"/>
          </a:xfrm>
          <a:prstGeom prst="roundRect">
            <a:avLst>
              <a:gd name="adj" fmla="val 10141"/>
            </a:avLst>
          </a:prstGeom>
          <a:solidFill>
            <a:schemeClr val="bg2"/>
          </a:solidFill>
          <a:ln w="12700">
            <a:solidFill>
              <a:schemeClr val="bg2"/>
            </a:solidFill>
            <a:prstDash val="solid"/>
          </a:ln>
        </p:spPr>
      </p:sp>
      <p:sp>
        <p:nvSpPr>
          <p:cNvPr id="9" name="badge"/>
          <p:cNvSpPr/>
          <p:nvPr/>
        </p:nvSpPr>
        <p:spPr>
          <a:xfrm>
            <a:off x="685800" y="2583180"/>
            <a:ext cx="548640" cy="548640"/>
          </a:xfrm>
          <a:prstGeom prst="ellipse">
            <a:avLst/>
          </a:prstGeom>
          <a:solidFill>
            <a:schemeClr val="accent2"/>
          </a:solidFill>
          <a:ln w="12700">
            <a:solidFill>
              <a:schemeClr val="accent2"/>
            </a:solidFill>
            <a:prstDash val="solid"/>
          </a:ln>
        </p:spPr>
      </p:sp>
      <p:pic>
        <p:nvPicPr>
          <p:cNvPr id="10" name="icon" descr="question">    </p:cNvPr>
          <p:cNvPicPr>
            <a:picLocks noChangeAspect="1"/>
          </p:cNvPicPr>
          <p:nvPr/>
        </p:nvPicPr>
        <p:blipFill>
          <a:blip r:embed="rId2"/>
          <a:stretch>
            <a:fillRect/>
          </a:stretch>
        </p:blipFill>
        <p:spPr>
          <a:xfrm>
            <a:off x="828446" y="2725826"/>
            <a:ext cx="263347" cy="263347"/>
          </a:xfrm>
          <a:prstGeom prst="rect">
            <a:avLst/>
          </a:prstGeom>
        </p:spPr>
      </p:pic>
      <p:sp>
        <p:nvSpPr>
          <p:cNvPr id="11" name="Text 6"/>
          <p:cNvSpPr txBox="1"/>
          <p:nvPr/>
        </p:nvSpPr>
        <p:spPr>
          <a:xfrm>
            <a:off x="1463040" y="2316480"/>
            <a:ext cx="6949440" cy="1082040"/>
          </a:xfrm>
          <a:prstGeom prst="rect">
            <a:avLst/>
          </a:prstGeom>
          <a:noFill/>
          <a:ln/>
        </p:spPr>
        <p:txBody>
          <a:bodyPr wrap="square" lIns="0" tIns="0" rIns="0" bIns="0" rtlCol="0" anchor="ctr"/>
          <a:lstStyle/>
          <a:p>
            <a:pPr indent="0" marL="0">
              <a:buNone/>
            </a:pPr>
            <a:r>
              <a:rPr lang="en-US" sz="1700" dirty="0">
                <a:solidFill>
                  <a:schemeClr val="tx1"/>
                </a:solidFill>
              </a:rPr>
              <a:t>Could it solve every problem for her? Why or why not?</a:t>
            </a:r>
            <a:endParaRPr lang="en-US" sz="1700" dirty="0"/>
          </a:p>
        </p:txBody>
      </p:sp>
      <p:sp>
        <p:nvSpPr>
          <p:cNvPr id="12" name="card"/>
          <p:cNvSpPr/>
          <p:nvPr/>
        </p:nvSpPr>
        <p:spPr>
          <a:xfrm>
            <a:off x="548640" y="3535680"/>
            <a:ext cx="8046720" cy="1082040"/>
          </a:xfrm>
          <a:prstGeom prst="roundRect">
            <a:avLst>
              <a:gd name="adj" fmla="val 10141"/>
            </a:avLst>
          </a:prstGeom>
          <a:solidFill>
            <a:schemeClr val="bg2"/>
          </a:solidFill>
          <a:ln w="12700">
            <a:solidFill>
              <a:schemeClr val="bg2"/>
            </a:solidFill>
            <a:prstDash val="solid"/>
          </a:ln>
        </p:spPr>
      </p:sp>
      <p:sp>
        <p:nvSpPr>
          <p:cNvPr id="13" name="badge"/>
          <p:cNvSpPr/>
          <p:nvPr/>
        </p:nvSpPr>
        <p:spPr>
          <a:xfrm>
            <a:off x="685800" y="3802380"/>
            <a:ext cx="548640" cy="548640"/>
          </a:xfrm>
          <a:prstGeom prst="ellipse">
            <a:avLst/>
          </a:prstGeom>
          <a:solidFill>
            <a:schemeClr val="accent3"/>
          </a:solidFill>
          <a:ln w="12700">
            <a:solidFill>
              <a:schemeClr val="accent3"/>
            </a:solidFill>
            <a:prstDash val="solid"/>
          </a:ln>
        </p:spPr>
      </p:sp>
      <p:pic>
        <p:nvPicPr>
          <p:cNvPr id="14" name="icon" descr="question">    </p:cNvPr>
          <p:cNvPicPr>
            <a:picLocks noChangeAspect="1"/>
          </p:cNvPicPr>
          <p:nvPr/>
        </p:nvPicPr>
        <p:blipFill>
          <a:blip r:embed="rId3"/>
          <a:stretch>
            <a:fillRect/>
          </a:stretch>
        </p:blipFill>
        <p:spPr>
          <a:xfrm>
            <a:off x="828446" y="3945026"/>
            <a:ext cx="263347" cy="263347"/>
          </a:xfrm>
          <a:prstGeom prst="rect">
            <a:avLst/>
          </a:prstGeom>
        </p:spPr>
      </p:pic>
      <p:sp>
        <p:nvSpPr>
          <p:cNvPr id="15" name="Text 9"/>
          <p:cNvSpPr txBox="1"/>
          <p:nvPr/>
        </p:nvSpPr>
        <p:spPr>
          <a:xfrm>
            <a:off x="1463040" y="3535680"/>
            <a:ext cx="6949440" cy="1082040"/>
          </a:xfrm>
          <a:prstGeom prst="rect">
            <a:avLst/>
          </a:prstGeom>
          <a:noFill/>
          <a:ln/>
        </p:spPr>
        <p:txBody>
          <a:bodyPr wrap="square" lIns="0" tIns="0" rIns="0" bIns="0" rtlCol="0" anchor="ctr"/>
          <a:lstStyle/>
          <a:p>
            <a:pPr indent="0" marL="0">
              <a:buNone/>
            </a:pPr>
            <a:r>
              <a:rPr lang="en-US" sz="1700" dirty="0">
                <a:solidFill>
                  <a:schemeClr val="tx1"/>
                </a:solidFill>
              </a:rPr>
              <a:t>Use the frame: 'I predict that ___ because ___.'</a:t>
            </a:r>
            <a:endParaRPr lang="en-US" sz="17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predict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indent="0" marL="0">
              <a:buNone/>
            </a:pPr>
            <a:r>
              <a:rPr lang="en-US" sz="1500" b="1" dirty="0">
                <a:solidFill>
                  <a:schemeClr val="tx1"/>
                </a:solidFill>
              </a:rPr>
              <a:t>Sample:</a:t>
            </a:r>
            <a:pPr indent="0" marL="0">
              <a:buNone/>
            </a:pPr>
            <a:r>
              <a:rPr lang="en-US" sz="1500" dirty="0">
                <a:solidFill>
                  <a:schemeClr val="tx1"/>
                </a:solidFill>
              </a:rPr>
              <a:t> 'I predict that her people will move there because they are running out of water.'</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indent="0" marL="0">
              <a:buNone/>
            </a:pPr>
            <a:r>
              <a:rPr lang="en-US" sz="1500" b="1" dirty="0">
                <a:solidFill>
                  <a:schemeClr val="tx1"/>
                </a:solidFill>
              </a:rPr>
              <a:t>Sample:</a:t>
            </a:r>
            <a:pPr indent="0" marL="0">
              <a:buNone/>
            </a:pPr>
            <a:r>
              <a:rPr lang="en-US" sz="1500" dirty="0">
                <a:solidFill>
                  <a:schemeClr val="tx1"/>
                </a:solidFill>
              </a:rPr>
              <a:t> 'It might not solve everything, because Baba is unsure she is a good leader and might make bad choices.'</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indent="0" marL="0">
              <a:buNone/>
            </a:pPr>
            <a:r>
              <a:rPr lang="en-US" sz="1500" b="1" dirty="0">
                <a:solidFill>
                  <a:schemeClr val="tx1"/>
                </a:solidFill>
              </a:rPr>
              <a:t>Good predictions</a:t>
            </a:r>
            <a:pPr indent="0" marL="0">
              <a:buNone/>
            </a:pPr>
            <a:r>
              <a:rPr lang="en-US" sz="1500" dirty="0">
                <a:solidFill>
                  <a:schemeClr val="tx1"/>
                </a:solidFill>
              </a:rPr>
              <a:t> always include 'because' and a reason from the story so far.</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What is a setting?</a:t>
            </a:r>
            <a:endParaRPr lang="en-US" sz="3000" dirty="0"/>
          </a:p>
        </p:txBody>
      </p:sp>
      <p:sp>
        <p:nvSpPr>
          <p:cNvPr id="4" name="card"/>
          <p:cNvSpPr/>
          <p:nvPr/>
        </p:nvSpPr>
        <p:spPr>
          <a:xfrm>
            <a:off x="548640" y="1097280"/>
            <a:ext cx="3931920" cy="2926080"/>
          </a:xfrm>
          <a:prstGeom prst="roundRect">
            <a:avLst>
              <a:gd name="adj" fmla="val 3750"/>
            </a:avLst>
          </a:prstGeom>
          <a:solidFill>
            <a:schemeClr val="bg2"/>
          </a:solidFill>
          <a:ln w="12700">
            <a:solidFill>
              <a:schemeClr val="bg2"/>
            </a:solidFill>
            <a:prstDash val="solid"/>
          </a:ln>
        </p:spPr>
      </p:sp>
      <p:sp>
        <p:nvSpPr>
          <p:cNvPr id="5" name="heading"/>
          <p:cNvSpPr/>
          <p:nvPr/>
        </p:nvSpPr>
        <p:spPr>
          <a:xfrm>
            <a:off x="731520" y="1234440"/>
            <a:ext cx="3566160" cy="502920"/>
          </a:xfrm>
          <a:prstGeom prst="roundRect">
            <a:avLst>
              <a:gd name="adj" fmla="val 21818"/>
            </a:avLst>
          </a:prstGeom>
          <a:solidFill>
            <a:schemeClr val="accent4"/>
          </a:solidFill>
          <a:ln w="12700">
            <a:solidFill>
              <a:schemeClr val="accent4"/>
            </a:solidFill>
            <a:prstDash val="solid"/>
          </a:ln>
        </p:spPr>
      </p:sp>
      <p:sp>
        <p:nvSpPr>
          <p:cNvPr id="6" name="Text 3"/>
          <p:cNvSpPr txBox="1"/>
          <p:nvPr/>
        </p:nvSpPr>
        <p:spPr>
          <a:xfrm>
            <a:off x="7315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Where and when</a:t>
            </a:r>
            <a:endParaRPr lang="en-US" sz="1800" dirty="0"/>
          </a:p>
        </p:txBody>
      </p:sp>
      <p:sp>
        <p:nvSpPr>
          <p:cNvPr id="7" name="Text 4"/>
          <p:cNvSpPr txBox="1"/>
          <p:nvPr/>
        </p:nvSpPr>
        <p:spPr>
          <a:xfrm>
            <a:off x="822960" y="1874520"/>
            <a:ext cx="3383280" cy="21031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The place and time of the story.</a:t>
            </a:r>
            <a:endParaRPr lang="en-US" sz="1600" dirty="0"/>
          </a:p>
          <a:p>
            <a:pPr indent="0" marL="0">
              <a:spcAft>
                <a:spcPts val="800"/>
              </a:spcAft>
              <a:buNone/>
            </a:pPr>
            <a:r>
              <a:rPr lang="en-US" sz="1500" b="1" dirty="0">
                <a:solidFill>
                  <a:schemeClr val="tx1"/>
                </a:solidFill>
                <a:highlight>
                  <a:srgbClr val="FFD27F"/>
                </a:highlight>
              </a:rPr>
              <a:t>Example:</a:t>
            </a:r>
            <a:pPr indent="0" marL="0">
              <a:spcAft>
                <a:spcPts val="800"/>
              </a:spcAft>
              <a:buNone/>
            </a:pPr>
            <a:r>
              <a:rPr lang="en-US" sz="1500" dirty="0">
                <a:solidFill>
                  <a:schemeClr val="tx1"/>
                </a:solidFill>
              </a:rPr>
              <a:t> a desert, a castle, a night in winter.</a:t>
            </a:r>
            <a:endParaRPr lang="en-US" sz="1600" dirty="0"/>
          </a:p>
        </p:txBody>
      </p:sp>
      <p:sp>
        <p:nvSpPr>
          <p:cNvPr id="8" name="card"/>
          <p:cNvSpPr/>
          <p:nvPr/>
        </p:nvSpPr>
        <p:spPr>
          <a:xfrm>
            <a:off x="4663440" y="1097280"/>
            <a:ext cx="3931920" cy="2926080"/>
          </a:xfrm>
          <a:prstGeom prst="roundRect">
            <a:avLst>
              <a:gd name="adj" fmla="val 3750"/>
            </a:avLst>
          </a:prstGeom>
          <a:solidFill>
            <a:schemeClr val="bg2"/>
          </a:solidFill>
          <a:ln w="12700">
            <a:solidFill>
              <a:schemeClr val="bg2"/>
            </a:solidFill>
            <a:prstDash val="solid"/>
          </a:ln>
        </p:spPr>
      </p:sp>
      <p:sp>
        <p:nvSpPr>
          <p:cNvPr id="9" name="heading"/>
          <p:cNvSpPr/>
          <p:nvPr/>
        </p:nvSpPr>
        <p:spPr>
          <a:xfrm>
            <a:off x="4846320" y="1234440"/>
            <a:ext cx="3566160" cy="502920"/>
          </a:xfrm>
          <a:prstGeom prst="roundRect">
            <a:avLst>
              <a:gd name="adj" fmla="val 21818"/>
            </a:avLst>
          </a:prstGeom>
          <a:solidFill>
            <a:schemeClr val="accent2"/>
          </a:solidFill>
          <a:ln w="12700">
            <a:solidFill>
              <a:schemeClr val="accent2"/>
            </a:solidFill>
            <a:prstDash val="solid"/>
          </a:ln>
        </p:spPr>
      </p:sp>
      <p:sp>
        <p:nvSpPr>
          <p:cNvPr id="10" name="Text 7"/>
          <p:cNvSpPr txBox="1"/>
          <p:nvPr/>
        </p:nvSpPr>
        <p:spPr>
          <a:xfrm>
            <a:off x="48463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The mood</a:t>
            </a:r>
            <a:endParaRPr lang="en-US" sz="1800" dirty="0"/>
          </a:p>
        </p:txBody>
      </p:sp>
      <p:sp>
        <p:nvSpPr>
          <p:cNvPr id="11" name="Text 8"/>
          <p:cNvSpPr txBox="1"/>
          <p:nvPr/>
        </p:nvSpPr>
        <p:spPr>
          <a:xfrm>
            <a:off x="4937760" y="1874520"/>
            <a:ext cx="3383280" cy="21031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How the place makes the reader </a:t>
            </a:r>
            <a:pPr indent="0" marL="0">
              <a:spcAft>
                <a:spcPts val="800"/>
              </a:spcAft>
              <a:buNone/>
            </a:pPr>
            <a:r>
              <a:rPr lang="en-US" sz="1500" b="1" dirty="0">
                <a:solidFill>
                  <a:schemeClr val="tx1"/>
                </a:solidFill>
                <a:highlight>
                  <a:srgbClr val="FFD27F"/>
                </a:highlight>
              </a:rPr>
              <a:t>feel</a:t>
            </a:r>
            <a:pPr indent="0" marL="0">
              <a:spcAft>
                <a:spcPts val="800"/>
              </a:spcAft>
              <a:buNone/>
            </a:pPr>
            <a:r>
              <a:rPr lang="en-US" sz="1500" dirty="0">
                <a:solidFill>
                  <a:schemeClr val="tx1"/>
                </a:solidFill>
              </a:rPr>
              <a:t>.</a:t>
            </a:r>
            <a:endParaRPr lang="en-US" sz="1600" dirty="0"/>
          </a:p>
          <a:p>
            <a:pPr indent="0" marL="0">
              <a:spcAft>
                <a:spcPts val="800"/>
              </a:spcAft>
              <a:buNone/>
            </a:pPr>
            <a:r>
              <a:rPr lang="en-US" sz="1500" b="1" dirty="0">
                <a:solidFill>
                  <a:schemeClr val="tx1"/>
                </a:solidFill>
                <a:highlight>
                  <a:srgbClr val="FFD27F"/>
                </a:highlight>
              </a:rPr>
              <a:t>Example:</a:t>
            </a:r>
            <a:pPr indent="0" marL="0">
              <a:spcAft>
                <a:spcPts val="800"/>
              </a:spcAft>
              <a:buNone/>
            </a:pPr>
            <a:r>
              <a:rPr lang="en-US" sz="1500" dirty="0">
                <a:solidFill>
                  <a:schemeClr val="tx1"/>
                </a:solidFill>
              </a:rPr>
              <a:t> a silent, empty castle can feel </a:t>
            </a:r>
            <a:pPr indent="0" marL="0">
              <a:spcAft>
                <a:spcPts val="800"/>
              </a:spcAft>
              <a:buNone/>
            </a:pPr>
            <a:r>
              <a:rPr lang="en-US" sz="1500" b="1" dirty="0">
                <a:solidFill>
                  <a:schemeClr val="tx1"/>
                </a:solidFill>
                <a:highlight>
                  <a:srgbClr val="FFD27F"/>
                </a:highlight>
              </a:rPr>
              <a:t>spooky</a:t>
            </a:r>
            <a:pPr indent="0" marL="0">
              <a:spcAft>
                <a:spcPts val="800"/>
              </a:spcAft>
              <a:buNone/>
            </a:pPr>
            <a:r>
              <a:rPr lang="en-US" sz="1500" dirty="0">
                <a:solidFill>
                  <a:schemeClr val="tx1"/>
                </a:solidFill>
              </a:rPr>
              <a:t>.</a:t>
            </a:r>
            <a:endParaRPr lang="en-US" sz="1600" dirty="0"/>
          </a:p>
        </p:txBody>
      </p:sp>
      <p:sp>
        <p:nvSpPr>
          <p:cNvPr id="12"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3" name="Text 10"/>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Authors use setting to build the mood before anything happens.</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Two worlds in Petronas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463040"/>
                <a:gridCol w="3108960"/>
                <a:gridCol w="3474720"/>
              </a:tblGrid>
              <a:tr h="411480">
                <a:tc>
                  <a:txBody>
                    <a:bodyPr/>
                    <a:lstStyle/>
                    <a:p>
                      <a:pPr algn="ctr" indent="0" marL="0">
                        <a:buNone/>
                      </a:pPr>
                      <a:endParaRPr lang="en-US" sz="15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500" b="1" dirty="0">
                          <a:solidFill>
                            <a:srgbClr val="FFFFFF"/>
                          </a:solidFill>
                        </a:rPr>
                        <a:t>The desert</a:t>
                      </a:r>
                      <a:endParaRPr lang="en-US" sz="15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500" b="1" dirty="0">
                          <a:solidFill>
                            <a:srgbClr val="FFFFFF"/>
                          </a:solidFill>
                        </a:rPr>
                        <a:t>The city</a:t>
                      </a:r>
                      <a:endParaRPr lang="en-US" sz="15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640080">
                <a:tc>
                  <a:txBody>
                    <a:bodyPr/>
                    <a:lstStyle/>
                    <a:p>
                      <a:pPr indent="0" marL="0">
                        <a:buNone/>
                      </a:pPr>
                      <a:r>
                        <a:rPr lang="en-US" sz="1400" b="1" dirty="0">
                          <a:solidFill>
                            <a:srgbClr val="1F1B3A"/>
                          </a:solidFill>
                        </a:rPr>
                        <a:t>Ground</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Rocks, gravel, sand and cacti</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Long, thick grass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640080">
                <a:tc>
                  <a:txBody>
                    <a:bodyPr/>
                    <a:lstStyle/>
                    <a:p>
                      <a:pPr indent="0" marL="0">
                        <a:buNone/>
                      </a:pPr>
                      <a:r>
                        <a:rPr lang="en-US" sz="1400" b="1" dirty="0">
                          <a:solidFill>
                            <a:srgbClr val="1F1B3A"/>
                          </a:solidFill>
                        </a:rPr>
                        <a:t>Water</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Very little. Skins nearly empty</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Canals of clear water</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640080">
                <a:tc>
                  <a:txBody>
                    <a:bodyPr/>
                    <a:lstStyle/>
                    <a:p>
                      <a:pPr indent="0" marL="0">
                        <a:buNone/>
                      </a:pPr>
                      <a:r>
                        <a:rPr lang="en-US" sz="1400" b="1" dirty="0">
                          <a:solidFill>
                            <a:srgbClr val="1F1B3A"/>
                          </a:solidFill>
                        </a:rPr>
                        <a:t>Buildings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Tents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White stone walls and houses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640080">
                <a:tc>
                  <a:txBody>
                    <a:bodyPr/>
                    <a:lstStyle/>
                    <a:p>
                      <a:pPr indent="0" marL="0">
                        <a:buNone/>
                      </a:pPr>
                      <a:r>
                        <a:rPr lang="en-US" sz="1400" b="1" dirty="0">
                          <a:solidFill>
                            <a:srgbClr val="1F1B3A"/>
                          </a:solidFill>
                        </a:rPr>
                        <a:t>First feeling</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Hot, tired and worried</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400" dirty="0">
                          <a:solidFill>
                            <a:srgbClr val="1F1B3A"/>
                          </a:solidFill>
                        </a:rPr>
                        <a:t>Amazed and excited</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5"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6" name="Text 2"/>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On pp. 22-23 we are told 'There was no other sound.' What mood does that build?</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Foreshadowing: clues about what is coming</a:t>
            </a:r>
            <a:endParaRPr lang="en-US" sz="3000" dirty="0"/>
          </a:p>
        </p:txBody>
      </p:sp>
      <p:sp>
        <p:nvSpPr>
          <p:cNvPr id="4" name="card"/>
          <p:cNvSpPr/>
          <p:nvPr/>
        </p:nvSpPr>
        <p:spPr>
          <a:xfrm>
            <a:off x="548640" y="1097280"/>
            <a:ext cx="8046720" cy="1005840"/>
          </a:xfrm>
          <a:prstGeom prst="roundRect">
            <a:avLst>
              <a:gd name="adj" fmla="val 10909"/>
            </a:avLst>
          </a:prstGeom>
          <a:solidFill>
            <a:schemeClr val="accent1"/>
          </a:solidFill>
          <a:ln w="12700">
            <a:solidFill>
              <a:schemeClr val="accent1"/>
            </a:solidFill>
            <a:prstDash val="solid"/>
          </a:ln>
        </p:spPr>
      </p:sp>
      <p:sp>
        <p:nvSpPr>
          <p:cNvPr id="5" name="Text 2"/>
          <p:cNvSpPr txBox="1"/>
          <p:nvPr/>
        </p:nvSpPr>
        <p:spPr>
          <a:xfrm>
            <a:off x="777240" y="1097280"/>
            <a:ext cx="7589520" cy="1005840"/>
          </a:xfrm>
          <a:prstGeom prst="rect">
            <a:avLst/>
          </a:prstGeom>
          <a:noFill/>
          <a:ln/>
        </p:spPr>
        <p:txBody>
          <a:bodyPr wrap="square" lIns="0" tIns="0" rIns="0" bIns="0" rtlCol="0" anchor="ctr"/>
          <a:lstStyle/>
          <a:p>
            <a:pPr indent="0" marL="0">
              <a:buNone/>
            </a:pPr>
            <a:r>
              <a:rPr lang="en-US" sz="1800" b="1" dirty="0">
                <a:solidFill>
                  <a:schemeClr val="tx1"/>
                </a:solidFill>
                <a:highlight>
                  <a:srgbClr val="FFD27F"/>
                </a:highlight>
              </a:rPr>
              <a:t>Foreshadowing</a:t>
            </a:r>
            <a:pPr indent="0" marL="0">
              <a:buNone/>
            </a:pPr>
            <a:r>
              <a:rPr lang="en-US" sz="1800" b="1" dirty="0">
                <a:solidFill>
                  <a:schemeClr val="tx1"/>
                </a:solidFill>
              </a:rPr>
              <a:t> means the author gives hints early about something that will happen later.</a:t>
            </a:r>
            <a:endParaRPr lang="en-US" sz="1600" dirty="0"/>
          </a:p>
        </p:txBody>
      </p:sp>
      <p:sp>
        <p:nvSpPr>
          <p:cNvPr id="6" name="card"/>
          <p:cNvSpPr/>
          <p:nvPr/>
        </p:nvSpPr>
        <p:spPr>
          <a:xfrm>
            <a:off x="548640" y="2286000"/>
            <a:ext cx="8046720" cy="1371600"/>
          </a:xfrm>
          <a:prstGeom prst="roundRect">
            <a:avLst>
              <a:gd name="adj" fmla="val 8000"/>
            </a:avLst>
          </a:prstGeom>
          <a:solidFill>
            <a:schemeClr val="bg2"/>
          </a:solidFill>
          <a:ln w="12700">
            <a:solidFill>
              <a:schemeClr val="bg2"/>
            </a:solidFill>
            <a:prstDash val="solid"/>
          </a:ln>
        </p:spPr>
      </p:sp>
      <p:sp>
        <p:nvSpPr>
          <p:cNvPr id="7" name="Text 4"/>
          <p:cNvSpPr txBox="1"/>
          <p:nvPr/>
        </p:nvSpPr>
        <p:spPr>
          <a:xfrm>
            <a:off x="777240" y="2286000"/>
            <a:ext cx="7589520" cy="1371600"/>
          </a:xfrm>
          <a:prstGeom prst="rect">
            <a:avLst/>
          </a:prstGeom>
          <a:noFill/>
          <a:ln/>
        </p:spPr>
        <p:txBody>
          <a:bodyPr wrap="square" lIns="0" tIns="0" rIns="0" bIns="0" rtlCol="0" anchor="ctr"/>
          <a:lstStyle/>
          <a:p>
            <a:pPr indent="0" marL="0">
              <a:spcAft>
                <a:spcPts val="600"/>
              </a:spcAft>
              <a:buNone/>
            </a:pPr>
            <a:r>
              <a:rPr lang="en-US" sz="1600" dirty="0">
                <a:solidFill>
                  <a:schemeClr val="tx1"/>
                </a:solidFill>
              </a:rPr>
              <a:t>Example (not from the book):</a:t>
            </a:r>
            <a:endParaRPr lang="en-US" sz="1600" dirty="0"/>
          </a:p>
          <a:p>
            <a:pPr indent="0" marL="0">
              <a:spcAft>
                <a:spcPts val="600"/>
              </a:spcAft>
              <a:buNone/>
            </a:pPr>
            <a:r>
              <a:rPr lang="en-US" sz="1600" dirty="0">
                <a:solidFill>
                  <a:schemeClr val="tx1"/>
                </a:solidFill>
              </a:rPr>
              <a:t>'The sun was shining, but the birds had stopped singing.'</a:t>
            </a:r>
            <a:endParaRPr lang="en-US" sz="1600" dirty="0"/>
          </a:p>
          <a:p>
            <a:pPr indent="0" marL="0">
              <a:spcAft>
                <a:spcPts val="600"/>
              </a:spcAft>
              <a:buNone/>
            </a:pPr>
            <a:r>
              <a:rPr lang="en-US" sz="1600" dirty="0">
                <a:solidFill>
                  <a:schemeClr val="tx1"/>
                </a:solidFill>
              </a:rPr>
              <a:t>What could this hint at?</a:t>
            </a:r>
            <a:endParaRPr lang="en-US" sz="1600" dirty="0"/>
          </a:p>
        </p:txBody>
      </p:sp>
      <p:sp>
        <p:nvSpPr>
          <p:cNvPr id="8"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9" name="Text 6"/>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Foreshadowing makes the reader feel that something is not right.</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How authors build a mysterious mood</a:t>
            </a:r>
            <a:endParaRPr lang="en-US" sz="3000" dirty="0"/>
          </a:p>
        </p:txBody>
      </p:sp>
      <p:sp>
        <p:nvSpPr>
          <p:cNvPr id="4" name="card"/>
          <p:cNvSpPr/>
          <p:nvPr/>
        </p:nvSpPr>
        <p:spPr>
          <a:xfrm>
            <a:off x="548640" y="1097280"/>
            <a:ext cx="395478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31520" y="1188720"/>
            <a:ext cx="3589020" cy="365760"/>
          </a:xfrm>
          <a:prstGeom prst="rect">
            <a:avLst/>
          </a:prstGeom>
          <a:noFill/>
          <a:ln/>
        </p:spPr>
        <p:txBody>
          <a:bodyPr wrap="square" lIns="0" tIns="0" rIns="0" bIns="0" rtlCol="0" anchor="t"/>
          <a:lstStyle/>
          <a:p>
            <a:pPr indent="0" marL="0">
              <a:buNone/>
            </a:pPr>
            <a:r>
              <a:rPr lang="en-US" sz="1600" b="1" dirty="0">
                <a:solidFill>
                  <a:schemeClr val="accent4"/>
                </a:solidFill>
              </a:rPr>
              <a:t>Silence and emptiness</a:t>
            </a:r>
            <a:endParaRPr lang="en-US" sz="1600" dirty="0"/>
          </a:p>
        </p:txBody>
      </p:sp>
      <p:sp>
        <p:nvSpPr>
          <p:cNvPr id="6" name="Text 3"/>
          <p:cNvSpPr txBox="1"/>
          <p:nvPr/>
        </p:nvSpPr>
        <p:spPr>
          <a:xfrm>
            <a:off x="731520" y="1600200"/>
            <a:ext cx="3589020" cy="1097280"/>
          </a:xfrm>
          <a:prstGeom prst="rect">
            <a:avLst/>
          </a:prstGeom>
          <a:noFill/>
          <a:ln/>
        </p:spPr>
        <p:txBody>
          <a:bodyPr wrap="square" lIns="0" tIns="0" rIns="0" bIns="0" rtlCol="0" anchor="t"/>
          <a:lstStyle/>
          <a:p>
            <a:pPr indent="0" marL="0">
              <a:buNone/>
            </a:pPr>
            <a:r>
              <a:rPr lang="en-US" sz="1400" dirty="0">
                <a:solidFill>
                  <a:schemeClr val="tx1"/>
                </a:solidFill>
              </a:rPr>
              <a:t>No people, no sound. The reader feels something is missing.</a:t>
            </a:r>
            <a:endParaRPr lang="en-US" sz="1400" dirty="0"/>
          </a:p>
        </p:txBody>
      </p:sp>
      <p:sp>
        <p:nvSpPr>
          <p:cNvPr id="7" name="card"/>
          <p:cNvSpPr/>
          <p:nvPr/>
        </p:nvSpPr>
        <p:spPr>
          <a:xfrm>
            <a:off x="4640580" y="1097280"/>
            <a:ext cx="3954780" cy="1691640"/>
          </a:xfrm>
          <a:prstGeom prst="roundRect">
            <a:avLst>
              <a:gd name="adj" fmla="val 6486"/>
            </a:avLst>
          </a:prstGeom>
          <a:solidFill>
            <a:schemeClr val="bg2"/>
          </a:solidFill>
          <a:ln w="12700">
            <a:solidFill>
              <a:schemeClr val="bg2"/>
            </a:solidFill>
            <a:prstDash val="solid"/>
          </a:ln>
        </p:spPr>
      </p:sp>
      <p:sp>
        <p:nvSpPr>
          <p:cNvPr id="8" name="Text 5"/>
          <p:cNvSpPr txBox="1"/>
          <p:nvPr/>
        </p:nvSpPr>
        <p:spPr>
          <a:xfrm>
            <a:off x="4823460" y="1188720"/>
            <a:ext cx="3589020" cy="365760"/>
          </a:xfrm>
          <a:prstGeom prst="rect">
            <a:avLst/>
          </a:prstGeom>
          <a:noFill/>
          <a:ln/>
        </p:spPr>
        <p:txBody>
          <a:bodyPr wrap="square" lIns="0" tIns="0" rIns="0" bIns="0" rtlCol="0" anchor="t"/>
          <a:lstStyle/>
          <a:p>
            <a:pPr indent="0" marL="0">
              <a:buNone/>
            </a:pPr>
            <a:r>
              <a:rPr lang="en-US" sz="1600" b="1" dirty="0">
                <a:solidFill>
                  <a:schemeClr val="accent2"/>
                </a:solidFill>
              </a:rPr>
              <a:t>Warnings</a:t>
            </a:r>
            <a:endParaRPr lang="en-US" sz="1600" dirty="0"/>
          </a:p>
        </p:txBody>
      </p:sp>
      <p:sp>
        <p:nvSpPr>
          <p:cNvPr id="9" name="Text 6"/>
          <p:cNvSpPr txBox="1"/>
          <p:nvPr/>
        </p:nvSpPr>
        <p:spPr>
          <a:xfrm>
            <a:off x="4823460" y="1600200"/>
            <a:ext cx="3589020" cy="1097280"/>
          </a:xfrm>
          <a:prstGeom prst="rect">
            <a:avLst/>
          </a:prstGeom>
          <a:noFill/>
          <a:ln/>
        </p:spPr>
        <p:txBody>
          <a:bodyPr wrap="square" lIns="0" tIns="0" rIns="0" bIns="0" rtlCol="0" anchor="t"/>
          <a:lstStyle/>
          <a:p>
            <a:pPr indent="0" marL="0">
              <a:buNone/>
            </a:pPr>
            <a:r>
              <a:rPr lang="en-US" sz="1400" dirty="0">
                <a:solidFill>
                  <a:schemeClr val="tx1"/>
                </a:solidFill>
              </a:rPr>
              <a:t>A character says they feel uneasy, or tells an old story.</a:t>
            </a:r>
            <a:endParaRPr lang="en-US" sz="1400" dirty="0"/>
          </a:p>
        </p:txBody>
      </p:sp>
      <p:sp>
        <p:nvSpPr>
          <p:cNvPr id="10" name="card"/>
          <p:cNvSpPr/>
          <p:nvPr/>
        </p:nvSpPr>
        <p:spPr>
          <a:xfrm>
            <a:off x="548640" y="2926080"/>
            <a:ext cx="3954780" cy="1691640"/>
          </a:xfrm>
          <a:prstGeom prst="roundRect">
            <a:avLst>
              <a:gd name="adj" fmla="val 6486"/>
            </a:avLst>
          </a:prstGeom>
          <a:solidFill>
            <a:schemeClr val="bg2"/>
          </a:solidFill>
          <a:ln w="12700">
            <a:solidFill>
              <a:schemeClr val="bg2"/>
            </a:solidFill>
            <a:prstDash val="solid"/>
          </a:ln>
        </p:spPr>
      </p:sp>
      <p:sp>
        <p:nvSpPr>
          <p:cNvPr id="11" name="Text 8"/>
          <p:cNvSpPr txBox="1"/>
          <p:nvPr/>
        </p:nvSpPr>
        <p:spPr>
          <a:xfrm>
            <a:off x="731520" y="3017520"/>
            <a:ext cx="3589020" cy="365760"/>
          </a:xfrm>
          <a:prstGeom prst="rect">
            <a:avLst/>
          </a:prstGeom>
          <a:noFill/>
          <a:ln/>
        </p:spPr>
        <p:txBody>
          <a:bodyPr wrap="square" lIns="0" tIns="0" rIns="0" bIns="0" rtlCol="0" anchor="t"/>
          <a:lstStyle/>
          <a:p>
            <a:pPr indent="0" marL="0">
              <a:buNone/>
            </a:pPr>
            <a:r>
              <a:rPr lang="en-US" sz="1600" b="1" dirty="0">
                <a:solidFill>
                  <a:schemeClr val="accent3"/>
                </a:solidFill>
              </a:rPr>
              <a:t>Strange details</a:t>
            </a:r>
            <a:endParaRPr lang="en-US" sz="1600" dirty="0"/>
          </a:p>
        </p:txBody>
      </p:sp>
      <p:sp>
        <p:nvSpPr>
          <p:cNvPr id="12" name="Text 9"/>
          <p:cNvSpPr txBox="1"/>
          <p:nvPr/>
        </p:nvSpPr>
        <p:spPr>
          <a:xfrm>
            <a:off x="731520" y="3429000"/>
            <a:ext cx="3589020" cy="1097280"/>
          </a:xfrm>
          <a:prstGeom prst="rect">
            <a:avLst/>
          </a:prstGeom>
          <a:noFill/>
          <a:ln/>
        </p:spPr>
        <p:txBody>
          <a:bodyPr wrap="square" lIns="0" tIns="0" rIns="0" bIns="0" rtlCol="0" anchor="t"/>
          <a:lstStyle/>
          <a:p>
            <a:pPr indent="0" marL="0">
              <a:buNone/>
            </a:pPr>
            <a:r>
              <a:rPr lang="en-US" sz="1400" dirty="0">
                <a:solidFill>
                  <a:schemeClr val="tx1"/>
                </a:solidFill>
              </a:rPr>
              <a:t>Things appear or change when nobody is looking.</a:t>
            </a:r>
            <a:endParaRPr lang="en-US" sz="1400" dirty="0"/>
          </a:p>
        </p:txBody>
      </p:sp>
      <p:sp>
        <p:nvSpPr>
          <p:cNvPr id="13" name="card"/>
          <p:cNvSpPr/>
          <p:nvPr/>
        </p:nvSpPr>
        <p:spPr>
          <a:xfrm>
            <a:off x="4640580" y="2926080"/>
            <a:ext cx="3954780" cy="1691640"/>
          </a:xfrm>
          <a:prstGeom prst="roundRect">
            <a:avLst>
              <a:gd name="adj" fmla="val 6486"/>
            </a:avLst>
          </a:prstGeom>
          <a:solidFill>
            <a:schemeClr val="bg2"/>
          </a:solidFill>
          <a:ln w="12700">
            <a:solidFill>
              <a:schemeClr val="bg2"/>
            </a:solidFill>
            <a:prstDash val="solid"/>
          </a:ln>
        </p:spPr>
      </p:sp>
      <p:sp>
        <p:nvSpPr>
          <p:cNvPr id="14" name="Text 11"/>
          <p:cNvSpPr txBox="1"/>
          <p:nvPr/>
        </p:nvSpPr>
        <p:spPr>
          <a:xfrm>
            <a:off x="4823460" y="3017520"/>
            <a:ext cx="3589020" cy="365760"/>
          </a:xfrm>
          <a:prstGeom prst="rect">
            <a:avLst/>
          </a:prstGeom>
          <a:noFill/>
          <a:ln/>
        </p:spPr>
        <p:txBody>
          <a:bodyPr wrap="square" lIns="0" tIns="0" rIns="0" bIns="0" rtlCol="0" anchor="t"/>
          <a:lstStyle/>
          <a:p>
            <a:pPr indent="0" marL="0">
              <a:buNone/>
            </a:pPr>
            <a:r>
              <a:rPr lang="en-US" sz="1600" b="1" dirty="0">
                <a:solidFill>
                  <a:schemeClr val="accent5"/>
                </a:solidFill>
              </a:rPr>
              <a:t>Living scenery</a:t>
            </a:r>
            <a:endParaRPr lang="en-US" sz="1600" dirty="0"/>
          </a:p>
        </p:txBody>
      </p:sp>
      <p:sp>
        <p:nvSpPr>
          <p:cNvPr id="15" name="Text 12"/>
          <p:cNvSpPr txBox="1"/>
          <p:nvPr/>
        </p:nvSpPr>
        <p:spPr>
          <a:xfrm>
            <a:off x="4823460" y="3429000"/>
            <a:ext cx="3589020" cy="1097280"/>
          </a:xfrm>
          <a:prstGeom prst="rect">
            <a:avLst/>
          </a:prstGeom>
          <a:noFill/>
          <a:ln/>
        </p:spPr>
        <p:txBody>
          <a:bodyPr wrap="square" lIns="0" tIns="0" rIns="0" bIns="0" rtlCol="0" anchor="t"/>
          <a:lstStyle/>
          <a:p>
            <a:pPr indent="0" marL="0">
              <a:buNone/>
            </a:pPr>
            <a:r>
              <a:rPr lang="en-US" sz="1400" dirty="0">
                <a:solidFill>
                  <a:schemeClr val="tx1"/>
                </a:solidFill>
              </a:rPr>
              <a:t>Walls, windows or water act as if they are alive (personification).</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Language spotlight: the city feels alive</a:t>
            </a:r>
            <a:endParaRPr lang="en-US" sz="3000" dirty="0"/>
          </a:p>
        </p:txBody>
      </p:sp>
      <p:sp>
        <p:nvSpPr>
          <p:cNvPr id="4" name="card"/>
          <p:cNvSpPr/>
          <p:nvPr/>
        </p:nvSpPr>
        <p:spPr>
          <a:xfrm>
            <a:off x="548640" y="1097280"/>
            <a:ext cx="8046720" cy="1051560"/>
          </a:xfrm>
          <a:prstGeom prst="roundRect">
            <a:avLst>
              <a:gd name="adj" fmla="val 10435"/>
            </a:avLst>
          </a:prstGeom>
          <a:solidFill>
            <a:schemeClr val="bg2"/>
          </a:solidFill>
          <a:ln w="12700">
            <a:solidFill>
              <a:schemeClr val="bg2"/>
            </a:solidFill>
            <a:prstDash val="solid"/>
          </a:ln>
        </p:spPr>
      </p:sp>
      <p:sp>
        <p:nvSpPr>
          <p:cNvPr id="5" name="Text 2"/>
          <p:cNvSpPr txBox="1"/>
          <p:nvPr/>
        </p:nvSpPr>
        <p:spPr>
          <a:xfrm>
            <a:off x="777240" y="1170432"/>
            <a:ext cx="3200400" cy="457200"/>
          </a:xfrm>
          <a:prstGeom prst="rect">
            <a:avLst/>
          </a:prstGeom>
          <a:noFill/>
          <a:ln/>
        </p:spPr>
        <p:txBody>
          <a:bodyPr wrap="square" lIns="0" tIns="0" rIns="0" bIns="0" rtlCol="0" anchor="t"/>
          <a:lstStyle/>
          <a:p>
            <a:pPr indent="0" marL="0">
              <a:buNone/>
            </a:pPr>
            <a:r>
              <a:rPr lang="en-US" sz="1600" b="1" dirty="0">
                <a:solidFill>
                  <a:schemeClr val="accent4"/>
                </a:solidFill>
              </a:rPr>
              <a:t>'Blank windows gazed down'</a:t>
            </a:r>
            <a:endParaRPr lang="en-US" sz="1600" dirty="0"/>
          </a:p>
        </p:txBody>
      </p:sp>
      <p:sp>
        <p:nvSpPr>
          <p:cNvPr id="6" name="Text 3"/>
          <p:cNvSpPr txBox="1"/>
          <p:nvPr/>
        </p:nvSpPr>
        <p:spPr>
          <a:xfrm>
            <a:off x="777240" y="1664208"/>
            <a:ext cx="3200400" cy="365760"/>
          </a:xfrm>
          <a:prstGeom prst="rect">
            <a:avLst/>
          </a:prstGeom>
          <a:noFill/>
          <a:ln/>
        </p:spPr>
        <p:txBody>
          <a:bodyPr wrap="square" lIns="0" tIns="0" rIns="0" bIns="0" rtlCol="0" anchor="t"/>
          <a:lstStyle/>
          <a:p>
            <a:pPr indent="0" marL="0">
              <a:buNone/>
            </a:pPr>
            <a:r>
              <a:rPr lang="en-US" sz="1300" i="1" dirty="0">
                <a:solidFill>
                  <a:schemeClr val="tx1"/>
                </a:solidFill>
              </a:rPr>
              <a:t>pp. 22-23</a:t>
            </a:r>
            <a:endParaRPr lang="en-US" sz="1300" dirty="0"/>
          </a:p>
        </p:txBody>
      </p:sp>
      <p:sp>
        <p:nvSpPr>
          <p:cNvPr id="7" name="Text 4"/>
          <p:cNvSpPr txBox="1"/>
          <p:nvPr/>
        </p:nvSpPr>
        <p:spPr>
          <a:xfrm>
            <a:off x="4023360" y="1097280"/>
            <a:ext cx="4389120" cy="1051560"/>
          </a:xfrm>
          <a:prstGeom prst="rect">
            <a:avLst/>
          </a:prstGeom>
          <a:noFill/>
          <a:ln/>
        </p:spPr>
        <p:txBody>
          <a:bodyPr wrap="square" lIns="0" tIns="0" rIns="0" bIns="0" rtlCol="0" anchor="ctr"/>
          <a:lstStyle/>
          <a:p>
            <a:pPr indent="0" marL="0">
              <a:buNone/>
            </a:pPr>
            <a:r>
              <a:rPr lang="en-US" sz="1500" dirty="0">
                <a:solidFill>
                  <a:schemeClr val="tx1"/>
                </a:solidFill>
              </a:rPr>
              <a:t>Windows cannot gaze. The city seems to </a:t>
            </a:r>
            <a:pPr indent="0" marL="0">
              <a:buNone/>
            </a:pPr>
            <a:r>
              <a:rPr lang="en-US" sz="1500" b="1" dirty="0">
                <a:solidFill>
                  <a:schemeClr val="tx1"/>
                </a:solidFill>
                <a:highlight>
                  <a:srgbClr val="FFD27F"/>
                </a:highlight>
              </a:rPr>
              <a:t>watch</a:t>
            </a:r>
            <a:pPr indent="0" marL="0">
              <a:buNone/>
            </a:pPr>
            <a:r>
              <a:rPr lang="en-US" sz="1500" dirty="0">
                <a:solidFill>
                  <a:schemeClr val="tx1"/>
                </a:solidFill>
              </a:rPr>
              <a:t> the visitors.</a:t>
            </a:r>
            <a:endParaRPr lang="en-US" sz="1600" dirty="0"/>
          </a:p>
        </p:txBody>
      </p:sp>
      <p:sp>
        <p:nvSpPr>
          <p:cNvPr id="8" name="card"/>
          <p:cNvSpPr/>
          <p:nvPr/>
        </p:nvSpPr>
        <p:spPr>
          <a:xfrm>
            <a:off x="548640" y="2286000"/>
            <a:ext cx="8046720" cy="1051560"/>
          </a:xfrm>
          <a:prstGeom prst="roundRect">
            <a:avLst>
              <a:gd name="adj" fmla="val 10435"/>
            </a:avLst>
          </a:prstGeom>
          <a:solidFill>
            <a:schemeClr val="bg2"/>
          </a:solidFill>
          <a:ln w="12700">
            <a:solidFill>
              <a:schemeClr val="bg2"/>
            </a:solidFill>
            <a:prstDash val="solid"/>
          </a:ln>
        </p:spPr>
      </p:sp>
      <p:sp>
        <p:nvSpPr>
          <p:cNvPr id="9" name="Text 6"/>
          <p:cNvSpPr txBox="1"/>
          <p:nvPr/>
        </p:nvSpPr>
        <p:spPr>
          <a:xfrm>
            <a:off x="777240" y="2359152"/>
            <a:ext cx="3200400" cy="457200"/>
          </a:xfrm>
          <a:prstGeom prst="rect">
            <a:avLst/>
          </a:prstGeom>
          <a:noFill/>
          <a:ln/>
        </p:spPr>
        <p:txBody>
          <a:bodyPr wrap="square" lIns="0" tIns="0" rIns="0" bIns="0" rtlCol="0" anchor="t"/>
          <a:lstStyle/>
          <a:p>
            <a:pPr indent="0" marL="0">
              <a:buNone/>
            </a:pPr>
            <a:r>
              <a:rPr lang="en-US" sz="1600" b="1" dirty="0">
                <a:solidFill>
                  <a:schemeClr val="accent2"/>
                </a:solidFill>
              </a:rPr>
              <a:t>'The buildings loomed'</a:t>
            </a:r>
            <a:endParaRPr lang="en-US" sz="1600" dirty="0"/>
          </a:p>
        </p:txBody>
      </p:sp>
      <p:sp>
        <p:nvSpPr>
          <p:cNvPr id="10" name="Text 7"/>
          <p:cNvSpPr txBox="1"/>
          <p:nvPr/>
        </p:nvSpPr>
        <p:spPr>
          <a:xfrm>
            <a:off x="777240" y="2852928"/>
            <a:ext cx="3200400" cy="365760"/>
          </a:xfrm>
          <a:prstGeom prst="rect">
            <a:avLst/>
          </a:prstGeom>
          <a:noFill/>
          <a:ln/>
        </p:spPr>
        <p:txBody>
          <a:bodyPr wrap="square" lIns="0" tIns="0" rIns="0" bIns="0" rtlCol="0" anchor="t"/>
          <a:lstStyle/>
          <a:p>
            <a:pPr indent="0" marL="0">
              <a:buNone/>
            </a:pPr>
            <a:r>
              <a:rPr lang="en-US" sz="1300" i="1" dirty="0">
                <a:solidFill>
                  <a:schemeClr val="tx1"/>
                </a:solidFill>
              </a:rPr>
              <a:t>pp. 36-37</a:t>
            </a:r>
            <a:endParaRPr lang="en-US" sz="1300" dirty="0"/>
          </a:p>
        </p:txBody>
      </p:sp>
      <p:sp>
        <p:nvSpPr>
          <p:cNvPr id="11" name="Text 8"/>
          <p:cNvSpPr txBox="1"/>
          <p:nvPr/>
        </p:nvSpPr>
        <p:spPr>
          <a:xfrm>
            <a:off x="4023360" y="2286000"/>
            <a:ext cx="4389120" cy="1051560"/>
          </a:xfrm>
          <a:prstGeom prst="rect">
            <a:avLst/>
          </a:prstGeom>
          <a:noFill/>
          <a:ln/>
        </p:spPr>
        <p:txBody>
          <a:bodyPr wrap="square" lIns="0" tIns="0" rIns="0" bIns="0" rtlCol="0" anchor="ctr"/>
          <a:lstStyle/>
          <a:p>
            <a:pPr indent="0" marL="0">
              <a:buNone/>
            </a:pPr>
            <a:r>
              <a:rPr lang="en-US" sz="1500" dirty="0">
                <a:solidFill>
                  <a:schemeClr val="tx1"/>
                </a:solidFill>
              </a:rPr>
              <a:t>Buildings seem to </a:t>
            </a:r>
            <a:pPr indent="0" marL="0">
              <a:buNone/>
            </a:pPr>
            <a:r>
              <a:rPr lang="en-US" sz="1500" b="1" dirty="0">
                <a:solidFill>
                  <a:schemeClr val="tx1"/>
                </a:solidFill>
                <a:highlight>
                  <a:srgbClr val="FFD27F"/>
                </a:highlight>
              </a:rPr>
              <a:t>lean over</a:t>
            </a:r>
            <a:pPr indent="0" marL="0">
              <a:buNone/>
            </a:pPr>
            <a:r>
              <a:rPr lang="en-US" sz="1500" dirty="0">
                <a:solidFill>
                  <a:schemeClr val="tx1"/>
                </a:solidFill>
              </a:rPr>
              <a:t> Baba in the dark and feel threatening.</a:t>
            </a:r>
            <a:endParaRPr lang="en-US" sz="1600" dirty="0"/>
          </a:p>
        </p:txBody>
      </p:sp>
      <p:sp>
        <p:nvSpPr>
          <p:cNvPr id="12" name="card"/>
          <p:cNvSpPr/>
          <p:nvPr/>
        </p:nvSpPr>
        <p:spPr>
          <a:xfrm>
            <a:off x="548640" y="3474720"/>
            <a:ext cx="8046720" cy="1051560"/>
          </a:xfrm>
          <a:prstGeom prst="roundRect">
            <a:avLst>
              <a:gd name="adj" fmla="val 10435"/>
            </a:avLst>
          </a:prstGeom>
          <a:solidFill>
            <a:schemeClr val="bg2"/>
          </a:solidFill>
          <a:ln w="12700">
            <a:solidFill>
              <a:schemeClr val="bg2"/>
            </a:solidFill>
            <a:prstDash val="solid"/>
          </a:ln>
        </p:spPr>
      </p:sp>
      <p:sp>
        <p:nvSpPr>
          <p:cNvPr id="13" name="Text 10"/>
          <p:cNvSpPr txBox="1"/>
          <p:nvPr/>
        </p:nvSpPr>
        <p:spPr>
          <a:xfrm>
            <a:off x="777240" y="3547872"/>
            <a:ext cx="3200400" cy="457200"/>
          </a:xfrm>
          <a:prstGeom prst="rect">
            <a:avLst/>
          </a:prstGeom>
          <a:noFill/>
          <a:ln/>
        </p:spPr>
        <p:txBody>
          <a:bodyPr wrap="square" lIns="0" tIns="0" rIns="0" bIns="0" rtlCol="0" anchor="t"/>
          <a:lstStyle/>
          <a:p>
            <a:pPr indent="0" marL="0">
              <a:buNone/>
            </a:pPr>
            <a:r>
              <a:rPr lang="en-US" sz="1600" b="1" dirty="0">
                <a:solidFill>
                  <a:schemeClr val="accent3"/>
                </a:solidFill>
              </a:rPr>
              <a:t>'rippled as if with laughter'</a:t>
            </a:r>
            <a:endParaRPr lang="en-US" sz="1600" dirty="0"/>
          </a:p>
        </p:txBody>
      </p:sp>
      <p:sp>
        <p:nvSpPr>
          <p:cNvPr id="14" name="Text 11"/>
          <p:cNvSpPr txBox="1"/>
          <p:nvPr/>
        </p:nvSpPr>
        <p:spPr>
          <a:xfrm>
            <a:off x="777240" y="4041648"/>
            <a:ext cx="3200400" cy="365760"/>
          </a:xfrm>
          <a:prstGeom prst="rect">
            <a:avLst/>
          </a:prstGeom>
          <a:noFill/>
          <a:ln/>
        </p:spPr>
        <p:txBody>
          <a:bodyPr wrap="square" lIns="0" tIns="0" rIns="0" bIns="0" rtlCol="0" anchor="t"/>
          <a:lstStyle/>
          <a:p>
            <a:pPr indent="0" marL="0">
              <a:buNone/>
            </a:pPr>
            <a:r>
              <a:rPr lang="en-US" sz="1300" i="1" dirty="0">
                <a:solidFill>
                  <a:schemeClr val="tx1"/>
                </a:solidFill>
              </a:rPr>
              <a:t>pp. 38-39</a:t>
            </a:r>
            <a:endParaRPr lang="en-US" sz="1300" dirty="0"/>
          </a:p>
        </p:txBody>
      </p:sp>
      <p:sp>
        <p:nvSpPr>
          <p:cNvPr id="15" name="Text 12"/>
          <p:cNvSpPr txBox="1"/>
          <p:nvPr/>
        </p:nvSpPr>
        <p:spPr>
          <a:xfrm>
            <a:off x="4023360" y="3474720"/>
            <a:ext cx="4389120" cy="1051560"/>
          </a:xfrm>
          <a:prstGeom prst="rect">
            <a:avLst/>
          </a:prstGeom>
          <a:noFill/>
          <a:ln/>
        </p:spPr>
        <p:txBody>
          <a:bodyPr wrap="square" lIns="0" tIns="0" rIns="0" bIns="0" rtlCol="0" anchor="ctr"/>
          <a:lstStyle/>
          <a:p>
            <a:pPr indent="0" marL="0">
              <a:buNone/>
            </a:pPr>
            <a:r>
              <a:rPr lang="en-US" sz="1500" dirty="0">
                <a:solidFill>
                  <a:schemeClr val="tx1"/>
                </a:solidFill>
              </a:rPr>
              <a:t>The water seems to </a:t>
            </a:r>
            <a:pPr indent="0" marL="0">
              <a:buNone/>
            </a:pPr>
            <a:r>
              <a:rPr lang="en-US" sz="1500" b="1" dirty="0">
                <a:solidFill>
                  <a:schemeClr val="tx1"/>
                </a:solidFill>
                <a:highlight>
                  <a:srgbClr val="FFD27F"/>
                </a:highlight>
              </a:rPr>
              <a:t>laugh</a:t>
            </a:r>
            <a:pPr indent="0" marL="0">
              <a:buNone/>
            </a:pPr>
            <a:r>
              <a:rPr lang="en-US" sz="1500" dirty="0">
                <a:solidFill>
                  <a:schemeClr val="tx1"/>
                </a:solidFill>
              </a:rPr>
              <a:t>, as if it knows something the people do not.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Check: is it foreshadowing?</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badge"/>
          <p:cNvSpPr/>
          <p:nvPr/>
        </p:nvSpPr>
        <p:spPr>
          <a:xfrm>
            <a:off x="685800" y="1211580"/>
            <a:ext cx="548640" cy="548640"/>
          </a:xfrm>
          <a:prstGeom prst="ellipse">
            <a:avLst/>
          </a:prstGeom>
          <a:solidFill>
            <a:schemeClr val="accent4"/>
          </a:solidFill>
          <a:ln w="12700">
            <a:solidFill>
              <a:schemeClr val="accent4"/>
            </a:solidFill>
            <a:prstDash val="solid"/>
          </a:ln>
        </p:spPr>
      </p:sp>
      <p:pic>
        <p:nvPicPr>
          <p:cNvPr id="6" name="icon" descr="question">    </p:cNvPr>
          <p:cNvPicPr>
            <a:picLocks noChangeAspect="1"/>
          </p:cNvPicPr>
          <p:nvPr/>
        </p:nvPicPr>
        <p:blipFill>
          <a:blip r:embed="rId1"/>
          <a:stretch>
            <a:fillRect/>
          </a:stretch>
        </p:blipFill>
        <p:spPr>
          <a:xfrm>
            <a:off x="828446" y="1354226"/>
            <a:ext cx="263347" cy="263347"/>
          </a:xfrm>
          <a:prstGeom prst="rect">
            <a:avLst/>
          </a:prstGeom>
        </p:spPr>
      </p:pic>
      <p:sp>
        <p:nvSpPr>
          <p:cNvPr id="7" name="Text 3"/>
          <p:cNvSpPr txBox="1"/>
          <p:nvPr/>
        </p:nvSpPr>
        <p:spPr>
          <a:xfrm>
            <a:off x="1463040" y="1097280"/>
            <a:ext cx="6949440" cy="777240"/>
          </a:xfrm>
          <a:prstGeom prst="rect">
            <a:avLst/>
          </a:prstGeom>
          <a:noFill/>
          <a:ln/>
        </p:spPr>
        <p:txBody>
          <a:bodyPr wrap="square" lIns="0" tIns="0" rIns="0" bIns="0" rtlCol="0" anchor="ctr"/>
          <a:lstStyle/>
          <a:p>
            <a:pPr indent="0" marL="0">
              <a:buNone/>
            </a:pPr>
            <a:r>
              <a:rPr lang="en-US" sz="1700" dirty="0">
                <a:solidFill>
                  <a:schemeClr val="tx1"/>
                </a:solidFill>
              </a:rPr>
              <a:t>'Dark clouds gathered, and the sheep refused to leave the barn.'</a:t>
            </a:r>
            <a:endParaRPr lang="en-US" sz="1700" dirty="0"/>
          </a:p>
        </p:txBody>
      </p:sp>
      <p:sp>
        <p:nvSpPr>
          <p:cNvPr id="8" name="card"/>
          <p:cNvSpPr/>
          <p:nvPr/>
        </p:nvSpPr>
        <p:spPr>
          <a:xfrm>
            <a:off x="548640" y="2011680"/>
            <a:ext cx="8046720" cy="777240"/>
          </a:xfrm>
          <a:prstGeom prst="roundRect">
            <a:avLst>
              <a:gd name="adj" fmla="val 14118"/>
            </a:avLst>
          </a:prstGeom>
          <a:solidFill>
            <a:schemeClr val="bg2"/>
          </a:solidFill>
          <a:ln w="12700">
            <a:solidFill>
              <a:schemeClr val="bg2"/>
            </a:solidFill>
            <a:prstDash val="solid"/>
          </a:ln>
        </p:spPr>
      </p:sp>
      <p:sp>
        <p:nvSpPr>
          <p:cNvPr id="9" name="badge"/>
          <p:cNvSpPr/>
          <p:nvPr/>
        </p:nvSpPr>
        <p:spPr>
          <a:xfrm>
            <a:off x="685800" y="2125980"/>
            <a:ext cx="548640" cy="548640"/>
          </a:xfrm>
          <a:prstGeom prst="ellipse">
            <a:avLst/>
          </a:prstGeom>
          <a:solidFill>
            <a:schemeClr val="accent2"/>
          </a:solidFill>
          <a:ln w="12700">
            <a:solidFill>
              <a:schemeClr val="accent2"/>
            </a:solidFill>
            <a:prstDash val="solid"/>
          </a:ln>
        </p:spPr>
      </p:sp>
      <p:pic>
        <p:nvPicPr>
          <p:cNvPr id="10" name="icon" descr="question">    </p:cNvPr>
          <p:cNvPicPr>
            <a:picLocks noChangeAspect="1"/>
          </p:cNvPicPr>
          <p:nvPr/>
        </p:nvPicPr>
        <p:blipFill>
          <a:blip r:embed="rId2"/>
          <a:stretch>
            <a:fillRect/>
          </a:stretch>
        </p:blipFill>
        <p:spPr>
          <a:xfrm>
            <a:off x="828446" y="2268626"/>
            <a:ext cx="263347" cy="263347"/>
          </a:xfrm>
          <a:prstGeom prst="rect">
            <a:avLst/>
          </a:prstGeom>
        </p:spPr>
      </p:pic>
      <p:sp>
        <p:nvSpPr>
          <p:cNvPr id="11" name="Text 6"/>
          <p:cNvSpPr txBox="1"/>
          <p:nvPr/>
        </p:nvSpPr>
        <p:spPr>
          <a:xfrm>
            <a:off x="1463040" y="2011680"/>
            <a:ext cx="6949440" cy="777240"/>
          </a:xfrm>
          <a:prstGeom prst="rect">
            <a:avLst/>
          </a:prstGeom>
          <a:noFill/>
          <a:ln/>
        </p:spPr>
        <p:txBody>
          <a:bodyPr wrap="square" lIns="0" tIns="0" rIns="0" bIns="0" rtlCol="0" anchor="ctr"/>
          <a:lstStyle/>
          <a:p>
            <a:pPr indent="0" marL="0">
              <a:buNone/>
            </a:pPr>
            <a:r>
              <a:rPr lang="en-US" sz="1700" dirty="0">
                <a:solidFill>
                  <a:schemeClr val="tx1"/>
                </a:solidFill>
              </a:rPr>
              <a:t>'Mia ate a sandwich and drank some juice at lunch.'</a:t>
            </a:r>
            <a:endParaRPr lang="en-US" sz="1700" dirty="0"/>
          </a:p>
        </p:txBody>
      </p:sp>
      <p:sp>
        <p:nvSpPr>
          <p:cNvPr id="12" name="card"/>
          <p:cNvSpPr/>
          <p:nvPr/>
        </p:nvSpPr>
        <p:spPr>
          <a:xfrm>
            <a:off x="548640" y="2926080"/>
            <a:ext cx="8046720" cy="777240"/>
          </a:xfrm>
          <a:prstGeom prst="roundRect">
            <a:avLst>
              <a:gd name="adj" fmla="val 14118"/>
            </a:avLst>
          </a:prstGeom>
          <a:solidFill>
            <a:schemeClr val="bg2"/>
          </a:solidFill>
          <a:ln w="12700">
            <a:solidFill>
              <a:schemeClr val="bg2"/>
            </a:solidFill>
            <a:prstDash val="solid"/>
          </a:ln>
        </p:spPr>
      </p:sp>
      <p:sp>
        <p:nvSpPr>
          <p:cNvPr id="13" name="badge"/>
          <p:cNvSpPr/>
          <p:nvPr/>
        </p:nvSpPr>
        <p:spPr>
          <a:xfrm>
            <a:off x="685800" y="3040380"/>
            <a:ext cx="548640" cy="548640"/>
          </a:xfrm>
          <a:prstGeom prst="ellipse">
            <a:avLst/>
          </a:prstGeom>
          <a:solidFill>
            <a:schemeClr val="accent3"/>
          </a:solidFill>
          <a:ln w="12700">
            <a:solidFill>
              <a:schemeClr val="accent3"/>
            </a:solidFill>
            <a:prstDash val="solid"/>
          </a:ln>
        </p:spPr>
      </p:sp>
      <p:pic>
        <p:nvPicPr>
          <p:cNvPr id="14" name="icon" descr="question">    </p:cNvPr>
          <p:cNvPicPr>
            <a:picLocks noChangeAspect="1"/>
          </p:cNvPicPr>
          <p:nvPr/>
        </p:nvPicPr>
        <p:blipFill>
          <a:blip r:embed="rId3"/>
          <a:stretch>
            <a:fillRect/>
          </a:stretch>
        </p:blipFill>
        <p:spPr>
          <a:xfrm>
            <a:off x="828446" y="3183026"/>
            <a:ext cx="263347" cy="263347"/>
          </a:xfrm>
          <a:prstGeom prst="rect">
            <a:avLst/>
          </a:prstGeom>
        </p:spPr>
      </p:pic>
      <p:sp>
        <p:nvSpPr>
          <p:cNvPr id="15" name="Text 9"/>
          <p:cNvSpPr txBox="1"/>
          <p:nvPr/>
        </p:nvSpPr>
        <p:spPr>
          <a:xfrm>
            <a:off x="1463040" y="2926080"/>
            <a:ext cx="6949440" cy="777240"/>
          </a:xfrm>
          <a:prstGeom prst="rect">
            <a:avLst/>
          </a:prstGeom>
          <a:noFill/>
          <a:ln/>
        </p:spPr>
        <p:txBody>
          <a:bodyPr wrap="square" lIns="0" tIns="0" rIns="0" bIns="0" rtlCol="0" anchor="ctr"/>
          <a:lstStyle/>
          <a:p>
            <a:pPr indent="0" marL="0">
              <a:buNone/>
            </a:pPr>
            <a:r>
              <a:rPr lang="en-US" sz="1700" dirty="0">
                <a:solidFill>
                  <a:schemeClr val="tx1"/>
                </a:solidFill>
              </a:rPr>
              <a:t>'The old map had one corner burned, as if somebody wanted the last part forgotten.'</a:t>
            </a:r>
            <a:endParaRPr lang="en-US" sz="1700" dirty="0"/>
          </a:p>
        </p:txBody>
      </p:sp>
      <p:sp>
        <p:nvSpPr>
          <p:cNvPr id="16" name="card"/>
          <p:cNvSpPr/>
          <p:nvPr/>
        </p:nvSpPr>
        <p:spPr>
          <a:xfrm>
            <a:off x="548640" y="3840480"/>
            <a:ext cx="8046720" cy="777240"/>
          </a:xfrm>
          <a:prstGeom prst="roundRect">
            <a:avLst>
              <a:gd name="adj" fmla="val 14118"/>
            </a:avLst>
          </a:prstGeom>
          <a:solidFill>
            <a:schemeClr val="bg2"/>
          </a:solidFill>
          <a:ln w="12700">
            <a:solidFill>
              <a:schemeClr val="bg2"/>
            </a:solidFill>
            <a:prstDash val="solid"/>
          </a:ln>
        </p:spPr>
      </p:sp>
      <p:sp>
        <p:nvSpPr>
          <p:cNvPr id="17" name="badge"/>
          <p:cNvSpPr/>
          <p:nvPr/>
        </p:nvSpPr>
        <p:spPr>
          <a:xfrm>
            <a:off x="685800" y="3954780"/>
            <a:ext cx="548640" cy="548640"/>
          </a:xfrm>
          <a:prstGeom prst="ellipse">
            <a:avLst/>
          </a:prstGeom>
          <a:solidFill>
            <a:schemeClr val="accent5"/>
          </a:solidFill>
          <a:ln w="12700">
            <a:solidFill>
              <a:schemeClr val="accent5"/>
            </a:solidFill>
            <a:prstDash val="solid"/>
          </a:ln>
        </p:spPr>
      </p:sp>
      <p:pic>
        <p:nvPicPr>
          <p:cNvPr id="18" name="icon" descr="question">    </p:cNvPr>
          <p:cNvPicPr>
            <a:picLocks noChangeAspect="1"/>
          </p:cNvPicPr>
          <p:nvPr/>
        </p:nvPicPr>
        <p:blipFill>
          <a:blip r:embed="rId4"/>
          <a:stretch>
            <a:fillRect/>
          </a:stretch>
        </p:blipFill>
        <p:spPr>
          <a:xfrm>
            <a:off x="828446" y="4097426"/>
            <a:ext cx="263347" cy="263347"/>
          </a:xfrm>
          <a:prstGeom prst="rect">
            <a:avLst/>
          </a:prstGeom>
        </p:spPr>
      </p:pic>
      <p:sp>
        <p:nvSpPr>
          <p:cNvPr id="19" name="Text 12"/>
          <p:cNvSpPr txBox="1"/>
          <p:nvPr/>
        </p:nvSpPr>
        <p:spPr>
          <a:xfrm>
            <a:off x="1463040" y="3840480"/>
            <a:ext cx="6949440" cy="777240"/>
          </a:xfrm>
          <a:prstGeom prst="rect">
            <a:avLst/>
          </a:prstGeom>
          <a:noFill/>
          <a:ln/>
        </p:spPr>
        <p:txBody>
          <a:bodyPr wrap="square" lIns="0" tIns="0" rIns="0" bIns="0" rtlCol="0" anchor="ctr"/>
          <a:lstStyle/>
          <a:p>
            <a:pPr indent="0" marL="0">
              <a:buNone/>
            </a:pPr>
            <a:r>
              <a:rPr lang="en-US" sz="1700" dirty="0">
                <a:solidFill>
                  <a:schemeClr val="tx1"/>
                </a:solidFill>
              </a:rPr>
              <a:t>'The class went to the library on Tuesday.'</a:t>
            </a:r>
            <a:endParaRPr lang="en-US" sz="17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Answers: is it foreshadowing?</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Yes.</a:t>
            </a:r>
            <a:pPr indent="0" marL="0">
              <a:buNone/>
            </a:pPr>
            <a:r>
              <a:rPr lang="en-US" sz="1500" dirty="0">
                <a:solidFill>
                  <a:schemeClr val="tx1"/>
                </a:solidFill>
              </a:rPr>
              <a:t> The clouds and the worried sheep hint at a storm.</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No.</a:t>
            </a:r>
            <a:pPr indent="0" marL="0">
              <a:buNone/>
            </a:pPr>
            <a:r>
              <a:rPr lang="en-US" sz="1500" dirty="0">
                <a:solidFill>
                  <a:schemeClr val="tx1"/>
                </a:solidFill>
              </a:rPr>
              <a:t> It is ordinary information and hints at nothing.</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Yes.</a:t>
            </a:r>
            <a:pPr indent="0" marL="0">
              <a:buNone/>
            </a:pPr>
            <a:r>
              <a:rPr lang="en-US" sz="1500" dirty="0">
                <a:solidFill>
                  <a:schemeClr val="tx1"/>
                </a:solidFill>
              </a:rPr>
              <a:t> The burned corner hints that the story hides a secret.</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indent="0" marL="0">
              <a:buNone/>
            </a:pPr>
            <a:r>
              <a:rPr lang="en-US" sz="1500" b="1" dirty="0">
                <a:solidFill>
                  <a:schemeClr val="tx1"/>
                </a:solidFill>
              </a:rPr>
              <a:t>No.</a:t>
            </a:r>
            <a:pPr indent="0" marL="0">
              <a:buNone/>
            </a:pPr>
            <a:r>
              <a:rPr lang="en-US" sz="1500" dirty="0">
                <a:solidFill>
                  <a:schemeClr val="tx1"/>
                </a:solidFill>
              </a:rPr>
              <a:t> It is just a plain fact.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Read: Baba finds the city (pp. 14-17)</a:t>
            </a:r>
            <a:endParaRPr lang="en-US" sz="3000" dirty="0"/>
          </a:p>
        </p:txBody>
      </p:sp>
      <p:sp>
        <p:nvSpPr>
          <p:cNvPr id="4" name="card"/>
          <p:cNvSpPr/>
          <p:nvPr/>
        </p:nvSpPr>
        <p:spPr>
          <a:xfrm>
            <a:off x="548640" y="1097280"/>
            <a:ext cx="8046720" cy="219456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1188720"/>
            <a:ext cx="7498080" cy="2011680"/>
          </a:xfrm>
          <a:prstGeom prst="rect">
            <a:avLst/>
          </a:prstGeom>
          <a:noFill/>
          <a:ln/>
        </p:spPr>
        <p:txBody>
          <a:bodyPr wrap="square" lIns="0" tIns="0" rIns="0" bIns="0" rtlCol="0" anchor="ctr"/>
          <a:lstStyle/>
          <a:p>
            <a:pPr indent="0" marL="0">
              <a:spcAft>
                <a:spcPts val="1000"/>
              </a:spcAft>
              <a:buNone/>
            </a:pPr>
            <a:r>
              <a:rPr lang="en-US" sz="1800" dirty="0">
                <a:solidFill>
                  <a:schemeClr val="tx1"/>
                </a:solidFill>
              </a:rPr>
              <a:t>Open your book at </a:t>
            </a:r>
            <a:pPr indent="0" marL="0">
              <a:spcAft>
                <a:spcPts val="1000"/>
              </a:spcAft>
              <a:buNone/>
            </a:pPr>
            <a:r>
              <a:rPr lang="en-US" sz="1800" b="1" dirty="0">
                <a:solidFill>
                  <a:schemeClr val="tx1"/>
                </a:solidFill>
                <a:highlight>
                  <a:srgbClr val="FFD27F"/>
                </a:highlight>
              </a:rPr>
              <a:t>page 14</a:t>
            </a:r>
            <a:pPr indent="0" marL="0">
              <a:spcAft>
                <a:spcPts val="1000"/>
              </a:spcAft>
              <a:buNone/>
            </a:pPr>
            <a:r>
              <a:rPr lang="en-US" sz="1800" dirty="0">
                <a:solidFill>
                  <a:schemeClr val="tx1"/>
                </a:solidFill>
              </a:rPr>
              <a:t> and read to the end of </a:t>
            </a:r>
            <a:pPr indent="0" marL="0">
              <a:spcAft>
                <a:spcPts val="1000"/>
              </a:spcAft>
              <a:buNone/>
            </a:pPr>
            <a:r>
              <a:rPr lang="en-US" sz="1800" b="1" dirty="0">
                <a:solidFill>
                  <a:schemeClr val="tx1"/>
                </a:solidFill>
                <a:highlight>
                  <a:srgbClr val="FFD27F"/>
                </a:highlight>
              </a:rPr>
              <a:t>page 17</a:t>
            </a:r>
            <a:pPr indent="0" marL="0">
              <a:spcAft>
                <a:spcPts val="1000"/>
              </a:spcAft>
              <a:buNone/>
            </a:pPr>
            <a:r>
              <a:rPr lang="en-US" sz="1800" dirty="0">
                <a:solidFill>
                  <a:schemeClr val="tx1"/>
                </a:solidFill>
              </a:rPr>
              <a:t>.</a:t>
            </a:r>
            <a:endParaRPr lang="en-US" sz="1600" dirty="0"/>
          </a:p>
          <a:p>
            <a:pPr indent="0" marL="0">
              <a:spcAft>
                <a:spcPts val="1000"/>
              </a:spcAft>
              <a:buNone/>
            </a:pPr>
            <a:r>
              <a:rPr lang="en-US" sz="1800" dirty="0">
                <a:solidFill>
                  <a:schemeClr val="tx1"/>
                </a:solidFill>
              </a:rPr>
              <a:t>A strange patch of sand takes Baba somewhere new.</a:t>
            </a:r>
            <a:endParaRPr lang="en-US" sz="1600" dirty="0"/>
          </a:p>
          <a:p>
            <a:pPr indent="0" marL="0">
              <a:spcAft>
                <a:spcPts val="1000"/>
              </a:spcAft>
              <a:buNone/>
            </a:pPr>
            <a:r>
              <a:rPr lang="en-US" sz="1800" dirty="0">
                <a:solidFill>
                  <a:schemeClr val="tx1"/>
                </a:solidFill>
              </a:rPr>
              <a:t>While you read, look for </a:t>
            </a:r>
            <a:pPr indent="0" marL="0">
              <a:spcAft>
                <a:spcPts val="1000"/>
              </a:spcAft>
              <a:buNone/>
            </a:pPr>
            <a:r>
              <a:rPr lang="en-US" sz="1800" b="1" dirty="0">
                <a:solidFill>
                  <a:schemeClr val="tx1"/>
                </a:solidFill>
                <a:highlight>
                  <a:srgbClr val="FFD27F"/>
                </a:highlight>
              </a:rPr>
              <a:t>what Baba sees</a:t>
            </a:r>
            <a:pPr indent="0" marL="0">
              <a:spcAft>
                <a:spcPts val="1000"/>
              </a:spcAft>
              <a:buNone/>
            </a:pPr>
            <a:r>
              <a:rPr lang="en-US" sz="1800" dirty="0">
                <a:solidFill>
                  <a:schemeClr val="tx1"/>
                </a:solidFill>
              </a:rPr>
              <a:t> and how she feels.</a:t>
            </a:r>
            <a:endParaRPr lang="en-US" sz="1600" dirty="0"/>
          </a:p>
        </p:txBody>
      </p:sp>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4"/>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Reading time: about 4 minutes. Then answer questions 1 and 2.</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1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What does Baba see when she steps onto the wavy patch of sand?</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a desert full of cacti</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a field of long grass and white buildings</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a river and a bridge</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the market town</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1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 field of long grass and white buildings</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The grass stretches to the horizon and she sees white buildings. Not a cactus in sight.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Read: the first visit (pp. 22-31)</a:t>
            </a:r>
            <a:endParaRPr lang="en-US" sz="3000" dirty="0"/>
          </a:p>
        </p:txBody>
      </p:sp>
      <p:sp>
        <p:nvSpPr>
          <p:cNvPr id="4" name="card"/>
          <p:cNvSpPr/>
          <p:nvPr/>
        </p:nvSpPr>
        <p:spPr>
          <a:xfrm>
            <a:off x="548640" y="1097280"/>
            <a:ext cx="8046720" cy="219456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1188720"/>
            <a:ext cx="7498080" cy="2011680"/>
          </a:xfrm>
          <a:prstGeom prst="rect">
            <a:avLst/>
          </a:prstGeom>
          <a:noFill/>
          <a:ln/>
        </p:spPr>
        <p:txBody>
          <a:bodyPr wrap="square" lIns="0" tIns="0" rIns="0" bIns="0" rtlCol="0" anchor="ctr"/>
          <a:lstStyle/>
          <a:p>
            <a:pPr indent="0" marL="0">
              <a:spcAft>
                <a:spcPts val="1000"/>
              </a:spcAft>
              <a:buNone/>
            </a:pPr>
            <a:r>
              <a:rPr lang="en-US" sz="1800" dirty="0">
                <a:solidFill>
                  <a:schemeClr val="tx1"/>
                </a:solidFill>
              </a:rPr>
              <a:t>Read </a:t>
            </a:r>
            <a:pPr indent="0" marL="0">
              <a:spcAft>
                <a:spcPts val="1000"/>
              </a:spcAft>
              <a:buNone/>
            </a:pPr>
            <a:r>
              <a:rPr lang="en-US" sz="1800" b="1" dirty="0">
                <a:solidFill>
                  <a:schemeClr val="tx1"/>
                </a:solidFill>
                <a:highlight>
                  <a:srgbClr val="FFD27F"/>
                </a:highlight>
              </a:rPr>
              <a:t>pages 22 to 31</a:t>
            </a:r>
            <a:pPr indent="0" marL="0">
              <a:spcAft>
                <a:spcPts val="1000"/>
              </a:spcAft>
              <a:buNone/>
            </a:pPr>
            <a:r>
              <a:rPr lang="en-US" sz="1800" dirty="0">
                <a:solidFill>
                  <a:schemeClr val="tx1"/>
                </a:solidFill>
              </a:rPr>
              <a:t>.</a:t>
            </a:r>
            <a:endParaRPr lang="en-US" sz="1600" dirty="0"/>
          </a:p>
          <a:p>
            <a:pPr indent="0" marL="0">
              <a:spcAft>
                <a:spcPts val="1000"/>
              </a:spcAft>
              <a:buNone/>
            </a:pPr>
            <a:r>
              <a:rPr lang="en-US" sz="1800" dirty="0">
                <a:solidFill>
                  <a:schemeClr val="tx1"/>
                </a:solidFill>
              </a:rPr>
              <a:t>Baba takes Tulsi and three elders to the city: Shant, Jad and Ki.</a:t>
            </a:r>
            <a:endParaRPr lang="en-US" sz="1600" dirty="0"/>
          </a:p>
          <a:p>
            <a:pPr indent="0" marL="0">
              <a:spcAft>
                <a:spcPts val="1000"/>
              </a:spcAft>
              <a:buNone/>
            </a:pPr>
            <a:r>
              <a:rPr lang="en-US" sz="1800" dirty="0">
                <a:solidFill>
                  <a:schemeClr val="tx1"/>
                </a:solidFill>
              </a:rPr>
              <a:t>While you read, look for what </a:t>
            </a:r>
            <a:pPr indent="0" marL="0">
              <a:spcAft>
                <a:spcPts val="1000"/>
              </a:spcAft>
              <a:buNone/>
            </a:pPr>
            <a:r>
              <a:rPr lang="en-US" sz="1800" b="1" dirty="0">
                <a:solidFill>
                  <a:schemeClr val="tx1"/>
                </a:solidFill>
                <a:highlight>
                  <a:srgbClr val="FFD27F"/>
                </a:highlight>
              </a:rPr>
              <a:t>Ki</a:t>
            </a:r>
            <a:pPr indent="0" marL="0">
              <a:spcAft>
                <a:spcPts val="1000"/>
              </a:spcAft>
              <a:buNone/>
            </a:pPr>
            <a:r>
              <a:rPr lang="en-US" sz="1800" dirty="0">
                <a:solidFill>
                  <a:schemeClr val="tx1"/>
                </a:solidFill>
              </a:rPr>
              <a:t> says, and how </a:t>
            </a:r>
            <a:pPr indent="0" marL="0">
              <a:spcAft>
                <a:spcPts val="1000"/>
              </a:spcAft>
              <a:buNone/>
            </a:pPr>
            <a:r>
              <a:rPr lang="en-US" sz="1800" b="1" dirty="0">
                <a:solidFill>
                  <a:schemeClr val="tx1"/>
                </a:solidFill>
                <a:highlight>
                  <a:srgbClr val="FFD27F"/>
                </a:highlight>
              </a:rPr>
              <a:t>Baba</a:t>
            </a:r>
            <a:pPr indent="0" marL="0">
              <a:spcAft>
                <a:spcPts val="1000"/>
              </a:spcAft>
              <a:buNone/>
            </a:pPr>
            <a:r>
              <a:rPr lang="en-US" sz="1800" dirty="0">
                <a:solidFill>
                  <a:schemeClr val="tx1"/>
                </a:solidFill>
              </a:rPr>
              <a:t> reacts.</a:t>
            </a:r>
            <a:endParaRPr lang="en-US" sz="1600" dirty="0"/>
          </a:p>
        </p:txBody>
      </p:sp>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4"/>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Reading time: about 5 minutes. Then answer questions 2 to 4.</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2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Ki says he feels watched, and that something about the city bothers him. What does this show about how he feels?</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excited</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suspicious</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bored</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angry with Tulsi</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2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suspicious</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He does not trust the city. He feels that something is wrong (pp. 26-27).</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3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Baba says 'Of course it's not magic.' What does she do to show that she thinks the city is real?</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3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She slaps the wall of a building.</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She slaps the wall and says it is solid (pp. 26-27). Accept 'she says it is solid as you or me'.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4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Anda tells Baba an old story about a spirit. How does Baba react?</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She is frightened and agrees to leave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She pushes the feeling away and calls her mother superstitious</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She asks to hear the whole story</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She goes to tell Ki</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4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She pushes the feeling away and calls her mother superstitious</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 chill settles on her, but she ignores it (pp. 30-31). This shows she is proud and does not want to listen.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Read: the first night and day (pp. 34-43)</a:t>
            </a:r>
            <a:endParaRPr lang="en-US" sz="3000" dirty="0"/>
          </a:p>
        </p:txBody>
      </p:sp>
      <p:sp>
        <p:nvSpPr>
          <p:cNvPr id="4" name="card"/>
          <p:cNvSpPr/>
          <p:nvPr/>
        </p:nvSpPr>
        <p:spPr>
          <a:xfrm>
            <a:off x="548640" y="1097280"/>
            <a:ext cx="8046720" cy="219456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1188720"/>
            <a:ext cx="7498080" cy="2011680"/>
          </a:xfrm>
          <a:prstGeom prst="rect">
            <a:avLst/>
          </a:prstGeom>
          <a:noFill/>
          <a:ln/>
        </p:spPr>
        <p:txBody>
          <a:bodyPr wrap="square" lIns="0" tIns="0" rIns="0" bIns="0" rtlCol="0" anchor="ctr"/>
          <a:lstStyle/>
          <a:p>
            <a:pPr indent="0" marL="0">
              <a:spcAft>
                <a:spcPts val="1000"/>
              </a:spcAft>
              <a:buNone/>
            </a:pPr>
            <a:r>
              <a:rPr lang="en-US" sz="1800" dirty="0">
                <a:solidFill>
                  <a:schemeClr val="tx1"/>
                </a:solidFill>
              </a:rPr>
              <a:t>Read </a:t>
            </a:r>
            <a:pPr indent="0" marL="0">
              <a:spcAft>
                <a:spcPts val="1000"/>
              </a:spcAft>
              <a:buNone/>
            </a:pPr>
            <a:r>
              <a:rPr lang="en-US" sz="1800" b="1" dirty="0">
                <a:solidFill>
                  <a:schemeClr val="tx1"/>
                </a:solidFill>
                <a:highlight>
                  <a:srgbClr val="FFD27F"/>
                </a:highlight>
              </a:rPr>
              <a:t>pages 34 to 43</a:t>
            </a:r>
            <a:pPr indent="0" marL="0">
              <a:spcAft>
                <a:spcPts val="1000"/>
              </a:spcAft>
              <a:buNone/>
            </a:pPr>
            <a:r>
              <a:rPr lang="en-US" sz="1800" dirty="0">
                <a:solidFill>
                  <a:schemeClr val="tx1"/>
                </a:solidFill>
              </a:rPr>
              <a:t>.</a:t>
            </a:r>
            <a:endParaRPr lang="en-US" sz="1600" dirty="0"/>
          </a:p>
          <a:p>
            <a:pPr indent="0" marL="0">
              <a:spcAft>
                <a:spcPts val="1000"/>
              </a:spcAft>
              <a:buNone/>
            </a:pPr>
            <a:r>
              <a:rPr lang="en-US" sz="1800" dirty="0">
                <a:solidFill>
                  <a:schemeClr val="tx1"/>
                </a:solidFill>
              </a:rPr>
              <a:t>The tribe moves in. Baba is walking alone in the dark. The next morning the children find something.</a:t>
            </a:r>
            <a:endParaRPr lang="en-US" sz="1600" dirty="0"/>
          </a:p>
          <a:p>
            <a:pPr indent="0" marL="0">
              <a:spcAft>
                <a:spcPts val="1000"/>
              </a:spcAft>
              <a:buNone/>
            </a:pPr>
            <a:r>
              <a:rPr lang="en-US" sz="1800" dirty="0">
                <a:solidFill>
                  <a:schemeClr val="tx1"/>
                </a:solidFill>
              </a:rPr>
              <a:t>While you read, look for </a:t>
            </a:r>
            <a:pPr indent="0" marL="0">
              <a:spcAft>
                <a:spcPts val="1000"/>
              </a:spcAft>
              <a:buNone/>
            </a:pPr>
            <a:r>
              <a:rPr lang="en-US" sz="1800" b="1" dirty="0">
                <a:solidFill>
                  <a:schemeClr val="tx1"/>
                </a:solidFill>
                <a:highlight>
                  <a:srgbClr val="FFD27F"/>
                </a:highlight>
              </a:rPr>
              <a:t>strange details</a:t>
            </a:r>
            <a:pPr indent="0" marL="0">
              <a:spcAft>
                <a:spcPts val="1000"/>
              </a:spcAft>
              <a:buNone/>
            </a:pPr>
            <a:r>
              <a:rPr lang="en-US" sz="1800" dirty="0">
                <a:solidFill>
                  <a:schemeClr val="tx1"/>
                </a:solidFill>
              </a:rPr>
              <a:t> and </a:t>
            </a:r>
            <a:pPr indent="0" marL="0">
              <a:spcAft>
                <a:spcPts val="1000"/>
              </a:spcAft>
              <a:buNone/>
            </a:pPr>
            <a:r>
              <a:rPr lang="en-US" sz="1800" b="1" dirty="0">
                <a:solidFill>
                  <a:schemeClr val="tx1"/>
                </a:solidFill>
                <a:highlight>
                  <a:srgbClr val="FFD27F"/>
                </a:highlight>
              </a:rPr>
              <a:t>living scenery</a:t>
            </a:r>
            <a:pPr indent="0" marL="0">
              <a:spcAft>
                <a:spcPts val="1000"/>
              </a:spcAft>
              <a:buNone/>
            </a:pPr>
            <a:r>
              <a:rPr lang="en-US" sz="1800" dirty="0">
                <a:solidFill>
                  <a:schemeClr val="tx1"/>
                </a:solidFill>
              </a:rPr>
              <a:t>.</a:t>
            </a:r>
            <a:endParaRPr lang="en-US" sz="1600" dirty="0"/>
          </a:p>
        </p:txBody>
      </p:sp>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4"/>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Reading time: about 6 minutes. Then answer questions 5 and 6.</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5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'The water below them rippled as if with laughter.' Which language feature is used?</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simile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metaphor</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personification</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alliteration</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5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C</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personification</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Water cannot laugh. The author gives it a human action (pp. 38-39).</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Question 6 of 6</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Tulsi says, 'I'm sure this wasn't here before.' What might this suggest about the city?</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6 of 6</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The city is changing or growing.</a:t>
            </a:r>
            <a:pPr indent="0" marL="0">
              <a:buNone/>
            </a:pP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1 mark for the idea: the city is changing, growing or magic.</a:t>
            </a:r>
            <a:endParaRPr lang="en-US" sz="1600" dirty="0"/>
          </a:p>
          <a:p>
            <a:pPr indent="0" marL="0">
              <a:spcAft>
                <a:spcPts val="600"/>
              </a:spcAft>
              <a:buNone/>
            </a:pPr>
            <a:r>
              <a:rPr lang="en-US" sz="1600" dirty="0">
                <a:solidFill>
                  <a:schemeClr val="tx1"/>
                </a:solidFill>
              </a:rPr>
              <a:t>1 mark for the link: the trees appeared without anybody noticing, so something strange is happening (pp. 38-39).</a:t>
            </a:r>
            <a:endParaRPr lang="en-US" sz="1600" dirty="0"/>
          </a:p>
          <a:p>
            <a:pPr indent="0" marL="0">
              <a:spcAft>
                <a:spcPts val="600"/>
              </a:spcAft>
              <a:buNone/>
            </a:pPr>
            <a:r>
              <a:rPr lang="en-US" sz="1600" dirty="0">
                <a:solidFill>
                  <a:schemeClr val="tx1"/>
                </a:solidFill>
              </a:rPr>
              <a:t>Accept 'it might be magic' with a reason.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Main activity: Clue Detectives</a:t>
            </a:r>
            <a:endParaRPr lang="en-US" sz="3000" dirty="0"/>
          </a:p>
        </p:txBody>
      </p:sp>
      <p:sp>
        <p:nvSpPr>
          <p:cNvPr id="4" name="card"/>
          <p:cNvSpPr/>
          <p:nvPr/>
        </p:nvSpPr>
        <p:spPr>
          <a:xfrm>
            <a:off x="548640" y="1097280"/>
            <a:ext cx="8046720" cy="1097280"/>
          </a:xfrm>
          <a:prstGeom prst="roundRect">
            <a:avLst>
              <a:gd name="adj" fmla="val 10000"/>
            </a:avLst>
          </a:prstGeom>
          <a:solidFill>
            <a:schemeClr val="accent1"/>
          </a:solidFill>
          <a:ln w="12700">
            <a:solidFill>
              <a:schemeClr val="accent1"/>
            </a:solidFill>
            <a:prstDash val="solid"/>
          </a:ln>
        </p:spPr>
      </p:sp>
      <p:sp>
        <p:nvSpPr>
          <p:cNvPr id="5" name="Text 2"/>
          <p:cNvSpPr txBox="1"/>
          <p:nvPr/>
        </p:nvSpPr>
        <p:spPr>
          <a:xfrm>
            <a:off x="777240" y="1097280"/>
            <a:ext cx="7589520" cy="1097280"/>
          </a:xfrm>
          <a:prstGeom prst="rect">
            <a:avLst/>
          </a:prstGeom>
          <a:noFill/>
          <a:ln/>
        </p:spPr>
        <p:txBody>
          <a:bodyPr wrap="square" lIns="0" tIns="0" rIns="0" bIns="0" rtlCol="0" anchor="ctr"/>
          <a:lstStyle/>
          <a:p>
            <a:pPr indent="0" marL="0">
              <a:buNone/>
            </a:pPr>
            <a:r>
              <a:rPr lang="en-US" sz="1800" b="1" dirty="0">
                <a:solidFill>
                  <a:schemeClr val="tx1"/>
                </a:solidFill>
              </a:rPr>
              <a:t>Find </a:t>
            </a:r>
            <a:pPr indent="0" marL="0">
              <a:buNone/>
            </a:pPr>
            <a:r>
              <a:rPr lang="en-US" sz="1800" b="1" dirty="0">
                <a:solidFill>
                  <a:schemeClr val="tx1"/>
                </a:solidFill>
                <a:highlight>
                  <a:srgbClr val="FFD27F"/>
                </a:highlight>
              </a:rPr>
              <a:t>five</a:t>
            </a:r>
            <a:pPr indent="0" marL="0">
              <a:buNone/>
            </a:pPr>
            <a:r>
              <a:rPr lang="en-US" sz="1800" b="1" dirty="0">
                <a:solidFill>
                  <a:schemeClr val="tx1"/>
                </a:solidFill>
              </a:rPr>
              <a:t> of the six clues in your book. Copy a </a:t>
            </a:r>
            <a:pPr indent="0" marL="0">
              <a:buNone/>
            </a:pPr>
            <a:r>
              <a:rPr lang="en-US" sz="1800" b="1" dirty="0">
                <a:solidFill>
                  <a:schemeClr val="tx1"/>
                </a:solidFill>
                <a:highlight>
                  <a:srgbClr val="FFD27F"/>
                </a:highlight>
              </a:rPr>
              <a:t>short</a:t>
            </a:r>
            <a:pPr indent="0" marL="0">
              <a:buNone/>
            </a:pPr>
            <a:r>
              <a:rPr lang="en-US" sz="1800" b="1" dirty="0">
                <a:solidFill>
                  <a:schemeClr val="tx1"/>
                </a:solidFill>
              </a:rPr>
              <a:t> quotation and say what it </a:t>
            </a:r>
            <a:pPr indent="0" marL="0">
              <a:buNone/>
            </a:pPr>
            <a:r>
              <a:rPr lang="en-US" sz="1800" b="1" dirty="0">
                <a:solidFill>
                  <a:schemeClr val="tx1"/>
                </a:solidFill>
                <a:highlight>
                  <a:srgbClr val="FFD27F"/>
                </a:highlight>
              </a:rPr>
              <a:t>suggests</a:t>
            </a:r>
            <a:pPr indent="0" marL="0">
              <a:buNone/>
            </a:pPr>
            <a:r>
              <a:rPr lang="en-US" sz="1800" b="1" dirty="0">
                <a:solidFill>
                  <a:schemeClr val="tx1"/>
                </a:solidFill>
              </a:rPr>
              <a:t>.</a:t>
            </a:r>
            <a:endParaRPr lang="en-US" sz="1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8046720" cy="914400"/>
        </p:xfrm>
        <a:graphic>
          <a:graphicData uri="http://schemas.openxmlformats.org/drawingml/2006/table">
            <a:tbl>
              <a:tblPr/>
              <a:tblGrid>
                <a:gridCol w="2194560"/>
                <a:gridCol w="2743200"/>
                <a:gridCol w="3108960"/>
              </a:tblGrid>
              <a:tr h="411480">
                <a:tc>
                  <a:txBody>
                    <a:bodyPr/>
                    <a:lstStyle/>
                    <a:p>
                      <a:pPr algn="ctr" indent="0" marL="0">
                        <a:buNone/>
                      </a:pPr>
                      <a:r>
                        <a:rPr lang="en-US" sz="1400" b="1" dirty="0">
                          <a:solidFill>
                            <a:srgbClr val="FFFFFF"/>
                          </a:solidFill>
                        </a:rPr>
                        <a:t>Clue (pages)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Short quotation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What it suggests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731520">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7"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8" name="Text 4"/>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Use: 'This suggests that ___ because ___.'</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The six clues to find</a:t>
            </a:r>
            <a:endParaRPr lang="en-US" sz="3000" dirty="0"/>
          </a:p>
        </p:txBody>
      </p:sp>
      <p:sp>
        <p:nvSpPr>
          <p:cNvPr id="4" name="card"/>
          <p:cNvSpPr/>
          <p:nvPr/>
        </p:nvSpPr>
        <p:spPr>
          <a:xfrm>
            <a:off x="548640" y="1097280"/>
            <a:ext cx="259080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31520" y="1188720"/>
            <a:ext cx="2225040" cy="365760"/>
          </a:xfrm>
          <a:prstGeom prst="rect">
            <a:avLst/>
          </a:prstGeom>
          <a:noFill/>
          <a:ln/>
        </p:spPr>
        <p:txBody>
          <a:bodyPr wrap="square" lIns="0" tIns="0" rIns="0" bIns="0" rtlCol="0" anchor="t"/>
          <a:lstStyle/>
          <a:p>
            <a:pPr indent="0" marL="0">
              <a:buNone/>
            </a:pPr>
            <a:r>
              <a:rPr lang="en-US" sz="1600" b="1" dirty="0">
                <a:solidFill>
                  <a:schemeClr val="accent4"/>
                </a:solidFill>
              </a:rPr>
              <a:t>1. pp. 26-27</a:t>
            </a:r>
            <a:endParaRPr lang="en-US" sz="1600" dirty="0"/>
          </a:p>
        </p:txBody>
      </p:sp>
      <p:sp>
        <p:nvSpPr>
          <p:cNvPr id="6" name="Text 3"/>
          <p:cNvSpPr txBox="1"/>
          <p:nvPr/>
        </p:nvSpPr>
        <p:spPr>
          <a:xfrm>
            <a:off x="731520" y="1600200"/>
            <a:ext cx="2225040" cy="1097280"/>
          </a:xfrm>
          <a:prstGeom prst="rect">
            <a:avLst/>
          </a:prstGeom>
          <a:noFill/>
          <a:ln/>
        </p:spPr>
        <p:txBody>
          <a:bodyPr wrap="square" lIns="0" tIns="0" rIns="0" bIns="0" rtlCol="0" anchor="t"/>
          <a:lstStyle/>
          <a:p>
            <a:pPr indent="0" marL="0">
              <a:buNone/>
            </a:pPr>
            <a:r>
              <a:rPr lang="en-US" sz="1200" dirty="0">
                <a:solidFill>
                  <a:schemeClr val="tx1"/>
                </a:solidFill>
              </a:rPr>
              <a:t>Ki says how he feels about being in the city.</a:t>
            </a:r>
            <a:endParaRPr lang="en-US" sz="1200" dirty="0"/>
          </a:p>
        </p:txBody>
      </p:sp>
      <p:sp>
        <p:nvSpPr>
          <p:cNvPr id="7" name="card"/>
          <p:cNvSpPr/>
          <p:nvPr/>
        </p:nvSpPr>
        <p:spPr>
          <a:xfrm>
            <a:off x="3276600" y="1097280"/>
            <a:ext cx="2590800" cy="1691640"/>
          </a:xfrm>
          <a:prstGeom prst="roundRect">
            <a:avLst>
              <a:gd name="adj" fmla="val 6486"/>
            </a:avLst>
          </a:prstGeom>
          <a:solidFill>
            <a:schemeClr val="bg2"/>
          </a:solidFill>
          <a:ln w="12700">
            <a:solidFill>
              <a:schemeClr val="bg2"/>
            </a:solidFill>
            <a:prstDash val="solid"/>
          </a:ln>
        </p:spPr>
      </p:sp>
      <p:sp>
        <p:nvSpPr>
          <p:cNvPr id="8" name="Text 5"/>
          <p:cNvSpPr txBox="1"/>
          <p:nvPr/>
        </p:nvSpPr>
        <p:spPr>
          <a:xfrm>
            <a:off x="3459480" y="1188720"/>
            <a:ext cx="2225040" cy="365760"/>
          </a:xfrm>
          <a:prstGeom prst="rect">
            <a:avLst/>
          </a:prstGeom>
          <a:noFill/>
          <a:ln/>
        </p:spPr>
        <p:txBody>
          <a:bodyPr wrap="square" lIns="0" tIns="0" rIns="0" bIns="0" rtlCol="0" anchor="t"/>
          <a:lstStyle/>
          <a:p>
            <a:pPr indent="0" marL="0">
              <a:buNone/>
            </a:pPr>
            <a:r>
              <a:rPr lang="en-US" sz="1600" b="1" dirty="0">
                <a:solidFill>
                  <a:schemeClr val="accent2"/>
                </a:solidFill>
              </a:rPr>
              <a:t>2. pp. 26-27</a:t>
            </a:r>
            <a:endParaRPr lang="en-US" sz="1600" dirty="0"/>
          </a:p>
        </p:txBody>
      </p:sp>
      <p:sp>
        <p:nvSpPr>
          <p:cNvPr id="9" name="Text 6"/>
          <p:cNvSpPr txBox="1"/>
          <p:nvPr/>
        </p:nvSpPr>
        <p:spPr>
          <a:xfrm>
            <a:off x="3459480" y="1600200"/>
            <a:ext cx="2225040" cy="1097280"/>
          </a:xfrm>
          <a:prstGeom prst="rect">
            <a:avLst/>
          </a:prstGeom>
          <a:noFill/>
          <a:ln/>
        </p:spPr>
        <p:txBody>
          <a:bodyPr wrap="square" lIns="0" tIns="0" rIns="0" bIns="0" rtlCol="0" anchor="t"/>
          <a:lstStyle/>
          <a:p>
            <a:pPr indent="0" marL="0">
              <a:buNone/>
            </a:pPr>
            <a:r>
              <a:rPr lang="en-US" sz="1200" dirty="0">
                <a:solidFill>
                  <a:schemeClr val="tx1"/>
                </a:solidFill>
              </a:rPr>
              <a:t>Ki says what he thinks about people leaving such a place.</a:t>
            </a:r>
            <a:endParaRPr lang="en-US" sz="1200" dirty="0"/>
          </a:p>
        </p:txBody>
      </p:sp>
      <p:sp>
        <p:nvSpPr>
          <p:cNvPr id="10" name="card"/>
          <p:cNvSpPr/>
          <p:nvPr/>
        </p:nvSpPr>
        <p:spPr>
          <a:xfrm>
            <a:off x="6004560" y="1097280"/>
            <a:ext cx="2590800" cy="1691640"/>
          </a:xfrm>
          <a:prstGeom prst="roundRect">
            <a:avLst>
              <a:gd name="adj" fmla="val 6486"/>
            </a:avLst>
          </a:prstGeom>
          <a:solidFill>
            <a:schemeClr val="bg2"/>
          </a:solidFill>
          <a:ln w="12700">
            <a:solidFill>
              <a:schemeClr val="bg2"/>
            </a:solidFill>
            <a:prstDash val="solid"/>
          </a:ln>
        </p:spPr>
      </p:sp>
      <p:sp>
        <p:nvSpPr>
          <p:cNvPr id="11" name="Text 8"/>
          <p:cNvSpPr txBox="1"/>
          <p:nvPr/>
        </p:nvSpPr>
        <p:spPr>
          <a:xfrm>
            <a:off x="6187440" y="1188720"/>
            <a:ext cx="2225040" cy="365760"/>
          </a:xfrm>
          <a:prstGeom prst="rect">
            <a:avLst/>
          </a:prstGeom>
          <a:noFill/>
          <a:ln/>
        </p:spPr>
        <p:txBody>
          <a:bodyPr wrap="square" lIns="0" tIns="0" rIns="0" bIns="0" rtlCol="0" anchor="t"/>
          <a:lstStyle/>
          <a:p>
            <a:pPr indent="0" marL="0">
              <a:buNone/>
            </a:pPr>
            <a:r>
              <a:rPr lang="en-US" sz="1600" b="1" dirty="0">
                <a:solidFill>
                  <a:schemeClr val="accent3"/>
                </a:solidFill>
              </a:rPr>
              <a:t>3. pp. 28-29</a:t>
            </a:r>
            <a:endParaRPr lang="en-US" sz="1600" dirty="0"/>
          </a:p>
        </p:txBody>
      </p:sp>
      <p:sp>
        <p:nvSpPr>
          <p:cNvPr id="12" name="Text 9"/>
          <p:cNvSpPr txBox="1"/>
          <p:nvPr/>
        </p:nvSpPr>
        <p:spPr>
          <a:xfrm>
            <a:off x="6187440" y="1600200"/>
            <a:ext cx="2225040" cy="1097280"/>
          </a:xfrm>
          <a:prstGeom prst="rect">
            <a:avLst/>
          </a:prstGeom>
          <a:noFill/>
          <a:ln/>
        </p:spPr>
        <p:txBody>
          <a:bodyPr wrap="square" lIns="0" tIns="0" rIns="0" bIns="0" rtlCol="0" anchor="t"/>
          <a:lstStyle/>
          <a:p>
            <a:pPr indent="0" marL="0">
              <a:buNone/>
            </a:pPr>
            <a:r>
              <a:rPr lang="en-US" sz="1200" dirty="0">
                <a:solidFill>
                  <a:schemeClr val="tx1"/>
                </a:solidFill>
              </a:rPr>
              <a:t>Anda reminds Baba of an old story.</a:t>
            </a:r>
            <a:endParaRPr lang="en-US" sz="1200" dirty="0"/>
          </a:p>
        </p:txBody>
      </p:sp>
      <p:sp>
        <p:nvSpPr>
          <p:cNvPr id="13" name="card"/>
          <p:cNvSpPr/>
          <p:nvPr/>
        </p:nvSpPr>
        <p:spPr>
          <a:xfrm>
            <a:off x="548640" y="2926080"/>
            <a:ext cx="2590800" cy="1691640"/>
          </a:xfrm>
          <a:prstGeom prst="roundRect">
            <a:avLst>
              <a:gd name="adj" fmla="val 6486"/>
            </a:avLst>
          </a:prstGeom>
          <a:solidFill>
            <a:schemeClr val="bg2"/>
          </a:solidFill>
          <a:ln w="12700">
            <a:solidFill>
              <a:schemeClr val="bg2"/>
            </a:solidFill>
            <a:prstDash val="solid"/>
          </a:ln>
        </p:spPr>
      </p:sp>
      <p:sp>
        <p:nvSpPr>
          <p:cNvPr id="14" name="Text 11"/>
          <p:cNvSpPr txBox="1"/>
          <p:nvPr/>
        </p:nvSpPr>
        <p:spPr>
          <a:xfrm>
            <a:off x="731520" y="3017520"/>
            <a:ext cx="2225040" cy="365760"/>
          </a:xfrm>
          <a:prstGeom prst="rect">
            <a:avLst/>
          </a:prstGeom>
          <a:noFill/>
          <a:ln/>
        </p:spPr>
        <p:txBody>
          <a:bodyPr wrap="square" lIns="0" tIns="0" rIns="0" bIns="0" rtlCol="0" anchor="t"/>
          <a:lstStyle/>
          <a:p>
            <a:pPr indent="0" marL="0">
              <a:buNone/>
            </a:pPr>
            <a:r>
              <a:rPr lang="en-US" sz="1600" b="1" dirty="0">
                <a:solidFill>
                  <a:schemeClr val="accent5"/>
                </a:solidFill>
              </a:rPr>
              <a:t>4. pp. 36-37</a:t>
            </a:r>
            <a:endParaRPr lang="en-US" sz="1600" dirty="0"/>
          </a:p>
        </p:txBody>
      </p:sp>
      <p:sp>
        <p:nvSpPr>
          <p:cNvPr id="15" name="Text 12"/>
          <p:cNvSpPr txBox="1"/>
          <p:nvPr/>
        </p:nvSpPr>
        <p:spPr>
          <a:xfrm>
            <a:off x="731520" y="3429000"/>
            <a:ext cx="2225040" cy="1097280"/>
          </a:xfrm>
          <a:prstGeom prst="rect">
            <a:avLst/>
          </a:prstGeom>
          <a:noFill/>
          <a:ln/>
        </p:spPr>
        <p:txBody>
          <a:bodyPr wrap="square" lIns="0" tIns="0" rIns="0" bIns="0" rtlCol="0" anchor="t"/>
          <a:lstStyle/>
          <a:p>
            <a:pPr indent="0" marL="0">
              <a:buNone/>
            </a:pPr>
            <a:r>
              <a:rPr lang="en-US" sz="1200" dirty="0">
                <a:solidFill>
                  <a:schemeClr val="tx1"/>
                </a:solidFill>
              </a:rPr>
              <a:t>Baba walks alone in the dark and hears something behind her.</a:t>
            </a:r>
            <a:endParaRPr lang="en-US" sz="1200" dirty="0"/>
          </a:p>
        </p:txBody>
      </p:sp>
      <p:sp>
        <p:nvSpPr>
          <p:cNvPr id="16" name="card"/>
          <p:cNvSpPr/>
          <p:nvPr/>
        </p:nvSpPr>
        <p:spPr>
          <a:xfrm>
            <a:off x="3276600" y="2926080"/>
            <a:ext cx="2590800" cy="1691640"/>
          </a:xfrm>
          <a:prstGeom prst="roundRect">
            <a:avLst>
              <a:gd name="adj" fmla="val 6486"/>
            </a:avLst>
          </a:prstGeom>
          <a:solidFill>
            <a:schemeClr val="bg2"/>
          </a:solidFill>
          <a:ln w="12700">
            <a:solidFill>
              <a:schemeClr val="bg2"/>
            </a:solidFill>
            <a:prstDash val="solid"/>
          </a:ln>
        </p:spPr>
      </p:sp>
      <p:sp>
        <p:nvSpPr>
          <p:cNvPr id="17" name="Text 14"/>
          <p:cNvSpPr txBox="1"/>
          <p:nvPr/>
        </p:nvSpPr>
        <p:spPr>
          <a:xfrm>
            <a:off x="3459480" y="3017520"/>
            <a:ext cx="2225040" cy="365760"/>
          </a:xfrm>
          <a:prstGeom prst="rect">
            <a:avLst/>
          </a:prstGeom>
          <a:noFill/>
          <a:ln/>
        </p:spPr>
        <p:txBody>
          <a:bodyPr wrap="square" lIns="0" tIns="0" rIns="0" bIns="0" rtlCol="0" anchor="t"/>
          <a:lstStyle/>
          <a:p>
            <a:pPr indent="0" marL="0">
              <a:buNone/>
            </a:pPr>
            <a:r>
              <a:rPr lang="en-US" sz="1600" b="1" dirty="0">
                <a:solidFill>
                  <a:schemeClr val="accent4"/>
                </a:solidFill>
              </a:rPr>
              <a:t>5. pp. 38-39</a:t>
            </a:r>
            <a:endParaRPr lang="en-US" sz="1600" dirty="0"/>
          </a:p>
        </p:txBody>
      </p:sp>
      <p:sp>
        <p:nvSpPr>
          <p:cNvPr id="18" name="Text 15"/>
          <p:cNvSpPr txBox="1"/>
          <p:nvPr/>
        </p:nvSpPr>
        <p:spPr>
          <a:xfrm>
            <a:off x="3459480" y="3429000"/>
            <a:ext cx="2225040" cy="1097280"/>
          </a:xfrm>
          <a:prstGeom prst="rect">
            <a:avLst/>
          </a:prstGeom>
          <a:noFill/>
          <a:ln/>
        </p:spPr>
        <p:txBody>
          <a:bodyPr wrap="square" lIns="0" tIns="0" rIns="0" bIns="0" rtlCol="0" anchor="t"/>
          <a:lstStyle/>
          <a:p>
            <a:pPr indent="0" marL="0">
              <a:buNone/>
            </a:pPr>
            <a:r>
              <a:rPr lang="en-US" sz="1200" dirty="0">
                <a:solidFill>
                  <a:schemeClr val="tx1"/>
                </a:solidFill>
              </a:rPr>
              <a:t>Tulsi is sure something was not there before. The children followed a bird.</a:t>
            </a:r>
            <a:endParaRPr lang="en-US" sz="1200" dirty="0"/>
          </a:p>
        </p:txBody>
      </p:sp>
      <p:sp>
        <p:nvSpPr>
          <p:cNvPr id="19" name="card"/>
          <p:cNvSpPr/>
          <p:nvPr/>
        </p:nvSpPr>
        <p:spPr>
          <a:xfrm>
            <a:off x="6004560" y="2926080"/>
            <a:ext cx="2590800" cy="1691640"/>
          </a:xfrm>
          <a:prstGeom prst="roundRect">
            <a:avLst>
              <a:gd name="adj" fmla="val 6486"/>
            </a:avLst>
          </a:prstGeom>
          <a:solidFill>
            <a:schemeClr val="bg2"/>
          </a:solidFill>
          <a:ln w="12700">
            <a:solidFill>
              <a:schemeClr val="bg2"/>
            </a:solidFill>
            <a:prstDash val="solid"/>
          </a:ln>
        </p:spPr>
      </p:sp>
      <p:sp>
        <p:nvSpPr>
          <p:cNvPr id="20" name="Text 17"/>
          <p:cNvSpPr txBox="1"/>
          <p:nvPr/>
        </p:nvSpPr>
        <p:spPr>
          <a:xfrm>
            <a:off x="6187440" y="3017520"/>
            <a:ext cx="2225040" cy="365760"/>
          </a:xfrm>
          <a:prstGeom prst="rect">
            <a:avLst/>
          </a:prstGeom>
          <a:noFill/>
          <a:ln/>
        </p:spPr>
        <p:txBody>
          <a:bodyPr wrap="square" lIns="0" tIns="0" rIns="0" bIns="0" rtlCol="0" anchor="t"/>
          <a:lstStyle/>
          <a:p>
            <a:pPr indent="0" marL="0">
              <a:buNone/>
            </a:pPr>
            <a:r>
              <a:rPr lang="en-US" sz="1600" b="1" dirty="0">
                <a:solidFill>
                  <a:schemeClr val="accent2"/>
                </a:solidFill>
              </a:rPr>
              <a:t>6. pp. 38-39</a:t>
            </a:r>
            <a:endParaRPr lang="en-US" sz="1600" dirty="0"/>
          </a:p>
        </p:txBody>
      </p:sp>
      <p:sp>
        <p:nvSpPr>
          <p:cNvPr id="21" name="Text 18"/>
          <p:cNvSpPr txBox="1"/>
          <p:nvPr/>
        </p:nvSpPr>
        <p:spPr>
          <a:xfrm>
            <a:off x="6187440" y="3429000"/>
            <a:ext cx="2225040" cy="1097280"/>
          </a:xfrm>
          <a:prstGeom prst="rect">
            <a:avLst/>
          </a:prstGeom>
          <a:noFill/>
          <a:ln/>
        </p:spPr>
        <p:txBody>
          <a:bodyPr wrap="square" lIns="0" tIns="0" rIns="0" bIns="0" rtlCol="0" anchor="t"/>
          <a:lstStyle/>
          <a:p>
            <a:pPr indent="0" marL="0">
              <a:buNone/>
            </a:pPr>
            <a:r>
              <a:rPr lang="en-US" sz="1200" dirty="0">
                <a:solidFill>
                  <a:schemeClr val="tx1"/>
                </a:solidFill>
              </a:rPr>
              <a:t>The author describes the water as if it is laughing.</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answers: clues 1 to 3</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371600"/>
                <a:gridCol w="2743200"/>
                <a:gridCol w="3931920"/>
              </a:tblGrid>
              <a:tr h="411480">
                <a:tc>
                  <a:txBody>
                    <a:bodyPr/>
                    <a:lstStyle/>
                    <a:p>
                      <a:pPr algn="ctr" indent="0" marL="0">
                        <a:buNone/>
                      </a:pPr>
                      <a:r>
                        <a:rPr lang="en-US" sz="1400" b="1" dirty="0">
                          <a:solidFill>
                            <a:srgbClr val="FFFFFF"/>
                          </a:solidFill>
                        </a:rPr>
                        <a:t>Clue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Short quotation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What it suggests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960120">
                <a:tc>
                  <a:txBody>
                    <a:bodyPr/>
                    <a:lstStyle/>
                    <a:p>
                      <a:pPr indent="0" marL="0">
                        <a:buNone/>
                      </a:pPr>
                      <a:r>
                        <a:rPr lang="en-US" sz="1200" b="1" dirty="0">
                          <a:solidFill>
                            <a:srgbClr val="1F1B3A"/>
                          </a:solidFill>
                        </a:rPr>
                        <a:t>1. pp. 26-27</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'I feel watched'</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Somebody or something may be secretly watching them, so the city may not be empty.</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960120">
                <a:tc>
                  <a:txBody>
                    <a:bodyPr/>
                    <a:lstStyle/>
                    <a:p>
                      <a:pPr indent="0" marL="0">
                        <a:buNone/>
                      </a:pPr>
                      <a:r>
                        <a:rPr lang="en-US" sz="1200" b="1" dirty="0">
                          <a:solidFill>
                            <a:srgbClr val="1F1B3A"/>
                          </a:solidFill>
                        </a:rPr>
                        <a:t>2. pp. 26-27</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'Nobody would willingly leave such a place'</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The people who lived here may have been forced out. Something bad may have happened.</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960120">
                <a:tc>
                  <a:txBody>
                    <a:bodyPr/>
                    <a:lstStyle/>
                    <a:p>
                      <a:pPr indent="0" marL="0">
                        <a:buNone/>
                      </a:pPr>
                      <a:r>
                        <a:rPr lang="en-US" sz="1200" b="1" dirty="0">
                          <a:solidFill>
                            <a:srgbClr val="1F1B3A"/>
                          </a:solidFill>
                        </a:rPr>
                        <a:t>3. pp. 28-29</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Anda mentions the old story of a spirit who harms children</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The old story may be true, and the city may be dangerous.</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answers: clues 4 to 6</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371600"/>
                <a:gridCol w="2743200"/>
                <a:gridCol w="3931920"/>
              </a:tblGrid>
              <a:tr h="411480">
                <a:tc>
                  <a:txBody>
                    <a:bodyPr/>
                    <a:lstStyle/>
                    <a:p>
                      <a:pPr algn="ctr" indent="0" marL="0">
                        <a:buNone/>
                      </a:pPr>
                      <a:r>
                        <a:rPr lang="en-US" sz="1400" b="1" dirty="0">
                          <a:solidFill>
                            <a:srgbClr val="FFFFFF"/>
                          </a:solidFill>
                        </a:rPr>
                        <a:t>Clue</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Short quotation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What it suggests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960120">
                <a:tc>
                  <a:txBody>
                    <a:bodyPr/>
                    <a:lstStyle/>
                    <a:p>
                      <a:pPr indent="0" marL="0">
                        <a:buNone/>
                      </a:pPr>
                      <a:r>
                        <a:rPr lang="en-US" sz="1200" b="1" dirty="0">
                          <a:solidFill>
                            <a:srgbClr val="1F1B3A"/>
                          </a:solidFill>
                        </a:rPr>
                        <a:t>4. pp. 36-37</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'A patter of hurrying footsteps'</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Something unseen is following Baba. The dark world is not safe.</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960120">
                <a:tc>
                  <a:txBody>
                    <a:bodyPr/>
                    <a:lstStyle/>
                    <a:p>
                      <a:pPr indent="0" marL="0">
                        <a:buNone/>
                      </a:pPr>
                      <a:r>
                        <a:rPr lang="en-US" sz="1200" b="1" dirty="0">
                          <a:solidFill>
                            <a:srgbClr val="1F1B3A"/>
                          </a:solidFill>
                        </a:rPr>
                        <a:t>5. pp. 38-39</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'I'm sure this wasn't here before'</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The city is changing or growing. The bird may be leading people.</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960120">
                <a:tc>
                  <a:txBody>
                    <a:bodyPr/>
                    <a:lstStyle/>
                    <a:p>
                      <a:pPr indent="0" marL="0">
                        <a:buNone/>
                      </a:pPr>
                      <a:r>
                        <a:rPr lang="en-US" sz="1200" b="1" dirty="0">
                          <a:solidFill>
                            <a:srgbClr val="1F1B3A"/>
                          </a:solidFill>
                        </a:rPr>
                        <a:t>6. pp. 38-39</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'rippled as if with laughter'</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r>
                        <a:rPr lang="en-US" sz="1200" dirty="0">
                          <a:solidFill>
                            <a:srgbClr val="1F1B3A"/>
                          </a:solidFill>
                        </a:rPr>
                        <a:t>The water seems alive and aware, as if it knows something the people do not.</a:t>
                      </a: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Plenary: Baba or Ki?</a:t>
            </a:r>
            <a:endParaRPr lang="en-US" sz="3000" dirty="0"/>
          </a:p>
        </p:txBody>
      </p:sp>
      <p:sp>
        <p:nvSpPr>
          <p:cNvPr id="4" name="card"/>
          <p:cNvSpPr/>
          <p:nvPr/>
        </p:nvSpPr>
        <p:spPr>
          <a:xfrm>
            <a:off x="548640" y="1097280"/>
            <a:ext cx="3931920" cy="2926080"/>
          </a:xfrm>
          <a:prstGeom prst="roundRect">
            <a:avLst>
              <a:gd name="adj" fmla="val 3750"/>
            </a:avLst>
          </a:prstGeom>
          <a:solidFill>
            <a:schemeClr val="bg2"/>
          </a:solidFill>
          <a:ln w="12700">
            <a:solidFill>
              <a:schemeClr val="bg2"/>
            </a:solidFill>
            <a:prstDash val="solid"/>
          </a:ln>
        </p:spPr>
      </p:sp>
      <p:sp>
        <p:nvSpPr>
          <p:cNvPr id="5" name="heading"/>
          <p:cNvSpPr/>
          <p:nvPr/>
        </p:nvSpPr>
        <p:spPr>
          <a:xfrm>
            <a:off x="731520" y="1234440"/>
            <a:ext cx="3566160" cy="502920"/>
          </a:xfrm>
          <a:prstGeom prst="roundRect">
            <a:avLst>
              <a:gd name="adj" fmla="val 21818"/>
            </a:avLst>
          </a:prstGeom>
          <a:solidFill>
            <a:schemeClr val="accent4"/>
          </a:solidFill>
          <a:ln w="12700">
            <a:solidFill>
              <a:schemeClr val="accent4"/>
            </a:solidFill>
            <a:prstDash val="solid"/>
          </a:ln>
        </p:spPr>
      </p:sp>
      <p:sp>
        <p:nvSpPr>
          <p:cNvPr id="6" name="Text 3"/>
          <p:cNvSpPr txBox="1"/>
          <p:nvPr/>
        </p:nvSpPr>
        <p:spPr>
          <a:xfrm>
            <a:off x="7315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Baba is right</a:t>
            </a:r>
            <a:endParaRPr lang="en-US" sz="1800" dirty="0"/>
          </a:p>
        </p:txBody>
      </p:sp>
      <p:sp>
        <p:nvSpPr>
          <p:cNvPr id="7" name="Text 4"/>
          <p:cNvSpPr txBox="1"/>
          <p:nvPr/>
        </p:nvSpPr>
        <p:spPr>
          <a:xfrm>
            <a:off x="822960" y="1874520"/>
            <a:ext cx="3383280" cy="210312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The city has </a:t>
            </a:r>
            <a:pPr indent="0" marL="0">
              <a:spcAft>
                <a:spcPts val="800"/>
              </a:spcAft>
              <a:buNone/>
            </a:pPr>
            <a:r>
              <a:rPr lang="en-US" sz="1400" b="1" dirty="0">
                <a:solidFill>
                  <a:schemeClr val="tx1"/>
                </a:solidFill>
                <a:highlight>
                  <a:srgbClr val="FFD27F"/>
                </a:highlight>
              </a:rPr>
              <a:t>plenty of water</a:t>
            </a:r>
            <a:pPr indent="0" marL="0">
              <a:spcAft>
                <a:spcPts val="800"/>
              </a:spcAft>
              <a:buNone/>
            </a:pPr>
            <a:r>
              <a:rPr lang="en-US" sz="1400" dirty="0">
                <a:solidFill>
                  <a:schemeClr val="tx1"/>
                </a:solidFill>
              </a:rPr>
              <a:t>.</a:t>
            </a:r>
            <a:endParaRPr lang="en-US" sz="1600" dirty="0"/>
          </a:p>
          <a:p>
            <a:pPr indent="0" marL="0">
              <a:spcAft>
                <a:spcPts val="800"/>
              </a:spcAft>
              <a:buNone/>
            </a:pPr>
            <a:r>
              <a:rPr lang="en-US" sz="1400" dirty="0">
                <a:solidFill>
                  <a:schemeClr val="tx1"/>
                </a:solidFill>
              </a:rPr>
              <a:t>The tribe has been wandering for a long time.</a:t>
            </a:r>
            <a:endParaRPr lang="en-US" sz="1600" dirty="0"/>
          </a:p>
          <a:p>
            <a:pPr indent="0" marL="0">
              <a:spcAft>
                <a:spcPts val="800"/>
              </a:spcAft>
              <a:buNone/>
            </a:pPr>
            <a:r>
              <a:rPr lang="en-US" sz="1400" dirty="0">
                <a:solidFill>
                  <a:schemeClr val="tx1"/>
                </a:solidFill>
              </a:rPr>
              <a:t>'The old folk's stories' are only stories.</a:t>
            </a:r>
            <a:endParaRPr lang="en-US" sz="1600" dirty="0"/>
          </a:p>
        </p:txBody>
      </p:sp>
      <p:sp>
        <p:nvSpPr>
          <p:cNvPr id="8" name="card"/>
          <p:cNvSpPr/>
          <p:nvPr/>
        </p:nvSpPr>
        <p:spPr>
          <a:xfrm>
            <a:off x="4663440" y="1097280"/>
            <a:ext cx="3931920" cy="2926080"/>
          </a:xfrm>
          <a:prstGeom prst="roundRect">
            <a:avLst>
              <a:gd name="adj" fmla="val 3750"/>
            </a:avLst>
          </a:prstGeom>
          <a:solidFill>
            <a:schemeClr val="bg2"/>
          </a:solidFill>
          <a:ln w="12700">
            <a:solidFill>
              <a:schemeClr val="bg2"/>
            </a:solidFill>
            <a:prstDash val="solid"/>
          </a:ln>
        </p:spPr>
      </p:sp>
      <p:sp>
        <p:nvSpPr>
          <p:cNvPr id="9" name="heading"/>
          <p:cNvSpPr/>
          <p:nvPr/>
        </p:nvSpPr>
        <p:spPr>
          <a:xfrm>
            <a:off x="4846320" y="1234440"/>
            <a:ext cx="3566160" cy="502920"/>
          </a:xfrm>
          <a:prstGeom prst="roundRect">
            <a:avLst>
              <a:gd name="adj" fmla="val 21818"/>
            </a:avLst>
          </a:prstGeom>
          <a:solidFill>
            <a:schemeClr val="accent3"/>
          </a:solidFill>
          <a:ln w="12700">
            <a:solidFill>
              <a:schemeClr val="accent3"/>
            </a:solidFill>
            <a:prstDash val="solid"/>
          </a:ln>
        </p:spPr>
      </p:sp>
      <p:sp>
        <p:nvSpPr>
          <p:cNvPr id="10" name="Text 7"/>
          <p:cNvSpPr txBox="1"/>
          <p:nvPr/>
        </p:nvSpPr>
        <p:spPr>
          <a:xfrm>
            <a:off x="4846320" y="1234440"/>
            <a:ext cx="3566160" cy="502920"/>
          </a:xfrm>
          <a:prstGeom prst="rect">
            <a:avLst/>
          </a:prstGeom>
          <a:noFill/>
          <a:ln/>
        </p:spPr>
        <p:txBody>
          <a:bodyPr wrap="square" lIns="0" tIns="0" rIns="0" bIns="0" rtlCol="0" anchor="ctr"/>
          <a:lstStyle/>
          <a:p>
            <a:pPr algn="ctr" indent="0" marL="0">
              <a:buNone/>
            </a:pPr>
            <a:r>
              <a:rPr lang="en-US" sz="1800" b="1" dirty="0">
                <a:solidFill>
                  <a:schemeClr val="bg1"/>
                </a:solidFill>
              </a:rPr>
              <a:t>Ki is right</a:t>
            </a:r>
            <a:endParaRPr lang="en-US" sz="1800" dirty="0"/>
          </a:p>
        </p:txBody>
      </p:sp>
      <p:sp>
        <p:nvSpPr>
          <p:cNvPr id="11" name="Text 8"/>
          <p:cNvSpPr txBox="1"/>
          <p:nvPr/>
        </p:nvSpPr>
        <p:spPr>
          <a:xfrm>
            <a:off x="4937760" y="1874520"/>
            <a:ext cx="3383280" cy="210312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Ki feels </a:t>
            </a:r>
            <a:pPr indent="0" marL="0">
              <a:spcAft>
                <a:spcPts val="800"/>
              </a:spcAft>
              <a:buNone/>
            </a:pPr>
            <a:r>
              <a:rPr lang="en-US" sz="1400" b="1" dirty="0">
                <a:solidFill>
                  <a:schemeClr val="tx1"/>
                </a:solidFill>
                <a:highlight>
                  <a:srgbClr val="FFD27F"/>
                </a:highlight>
              </a:rPr>
              <a:t>watched</a:t>
            </a:r>
            <a:pPr indent="0" marL="0">
              <a:spcAft>
                <a:spcPts val="800"/>
              </a:spcAft>
              <a:buNone/>
            </a:pPr>
            <a:r>
              <a:rPr lang="en-US" sz="1400" dirty="0">
                <a:solidFill>
                  <a:schemeClr val="tx1"/>
                </a:solidFill>
              </a:rPr>
              <a:t>.</a:t>
            </a:r>
            <a:endParaRPr lang="en-US" sz="1600" dirty="0"/>
          </a:p>
          <a:p>
            <a:pPr indent="0" marL="0">
              <a:spcAft>
                <a:spcPts val="800"/>
              </a:spcAft>
              <a:buNone/>
            </a:pPr>
            <a:r>
              <a:rPr lang="en-US" sz="1400" dirty="0">
                <a:solidFill>
                  <a:schemeClr val="tx1"/>
                </a:solidFill>
              </a:rPr>
              <a:t>Nobody would </a:t>
            </a:r>
            <a:pPr indent="0" marL="0">
              <a:spcAft>
                <a:spcPts val="800"/>
              </a:spcAft>
              <a:buNone/>
            </a:pPr>
            <a:r>
              <a:rPr lang="en-US" sz="1400" b="1" dirty="0">
                <a:solidFill>
                  <a:schemeClr val="tx1"/>
                </a:solidFill>
                <a:highlight>
                  <a:srgbClr val="FFD27F"/>
                </a:highlight>
              </a:rPr>
              <a:t>leave</a:t>
            </a:r>
            <a:pPr indent="0" marL="0">
              <a:spcAft>
                <a:spcPts val="800"/>
              </a:spcAft>
              <a:buNone/>
            </a:pPr>
            <a:r>
              <a:rPr lang="en-US" sz="1400" dirty="0">
                <a:solidFill>
                  <a:schemeClr val="tx1"/>
                </a:solidFill>
              </a:rPr>
              <a:t> such a place.</a:t>
            </a:r>
            <a:endParaRPr lang="en-US" sz="1600" dirty="0"/>
          </a:p>
          <a:p>
            <a:pPr indent="0" marL="0">
              <a:spcAft>
                <a:spcPts val="800"/>
              </a:spcAft>
              <a:buNone/>
            </a:pPr>
            <a:r>
              <a:rPr lang="en-US" sz="1400" dirty="0">
                <a:solidFill>
                  <a:schemeClr val="tx1"/>
                </a:solidFill>
              </a:rPr>
              <a:t>The old story warns about a spirit.</a:t>
            </a:r>
            <a:endParaRPr lang="en-US" sz="1600" dirty="0"/>
          </a:p>
        </p:txBody>
      </p:sp>
      <p:sp>
        <p:nvSpPr>
          <p:cNvPr id="12"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3" name="Text 10"/>
          <p:cNvSpPr txBox="1"/>
          <p:nvPr/>
        </p:nvSpPr>
        <p:spPr>
          <a:xfrm>
            <a:off x="731520" y="4160520"/>
            <a:ext cx="7680960" cy="457200"/>
          </a:xfrm>
          <a:prstGeom prst="rect">
            <a:avLst/>
          </a:prstGeom>
          <a:noFill/>
          <a:ln/>
        </p:spPr>
        <p:txBody>
          <a:bodyPr wrap="square" lIns="0" tIns="0" rIns="0" bIns="0" rtlCol="0" anchor="ctr"/>
          <a:lstStyle/>
          <a:p>
            <a:pPr indent="0" marL="0">
              <a:buNone/>
            </a:pPr>
            <a:r>
              <a:rPr lang="en-US" sz="1400" b="1" dirty="0">
                <a:solidFill>
                  <a:schemeClr val="tx1"/>
                </a:solidFill>
              </a:rPr>
              <a:t>Say: 'I agree with ___ because the text says ___.'</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Plenary: some answers</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indent="0" marL="0">
              <a:buNone/>
            </a:pPr>
            <a:r>
              <a:rPr lang="en-US" sz="1500" b="1" dirty="0">
                <a:solidFill>
                  <a:schemeClr val="tx1"/>
                </a:solidFill>
              </a:rPr>
              <a:t>Baba:</a:t>
            </a:r>
            <a:pPr indent="0" marL="0">
              <a:buNone/>
            </a:pPr>
            <a:r>
              <a:rPr lang="en-US" sz="1500" dirty="0">
                <a:solidFill>
                  <a:schemeClr val="tx1"/>
                </a:solidFill>
              </a:rPr>
              <a:t> the city saves the tribe from thirst, and so far nothing has hurt them.</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indent="0" marL="0">
              <a:buNone/>
            </a:pPr>
            <a:r>
              <a:rPr lang="en-US" sz="1500" b="1" dirty="0">
                <a:solidFill>
                  <a:schemeClr val="tx1"/>
                </a:solidFill>
              </a:rPr>
              <a:t>Ki:</a:t>
            </a:r>
            <a:pPr indent="0" marL="0">
              <a:buNone/>
            </a:pPr>
            <a:r>
              <a:rPr lang="en-US" sz="1500" dirty="0">
                <a:solidFill>
                  <a:schemeClr val="tx1"/>
                </a:solidFill>
              </a:rPr>
              <a:t> the clues are adding up: feeling watched, an empty city, the old story, and the strange new trees.</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indent="0" marL="0">
              <a:buNone/>
            </a:pPr>
            <a:r>
              <a:rPr lang="en-US" sz="1500" b="1" dirty="0">
                <a:solidFill>
                  <a:schemeClr val="tx1"/>
                </a:solidFill>
              </a:rPr>
              <a:t>Best answer:</a:t>
            </a:r>
            <a:pPr indent="0" marL="0">
              <a:buNone/>
            </a:pPr>
            <a:r>
              <a:rPr lang="en-US" sz="1500" dirty="0">
                <a:solidFill>
                  <a:schemeClr val="tx1"/>
                </a:solidFill>
              </a:rPr>
              <a:t> 'Ki is right because the city keeps changing, and nobody knows why.'</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1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'Water! The word flew around the camp like a swift bird.' Which language feature is used?</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simile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metaphor</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personification</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alliteration</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1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A</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simile</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It compares the word to a bird using 'like' (pp. 30-31).</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2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Find and copy one thing Ki says that shows he does not trust the city.</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2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'I feel watched'</a:t>
            </a:r>
            <a:pPr indent="0" marL="0">
              <a:buNone/>
            </a:pP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Accept any one of: 'I feel watched', 'Nobody would willingly leave such a place', 'There's something I don't like about this place' (pp. 26-27). Find and copy means exact words from the text.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3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At the feast, Ki shakes his head and passes the fruit on. What does this show?</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he does not like the taste</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indent="0" marL="0">
              <a:buNone/>
            </a:pPr>
            <a:r>
              <a:rPr lang="en-US" sz="1600" dirty="0">
                <a:solidFill>
                  <a:schemeClr val="tx1"/>
                </a:solidFill>
              </a:rPr>
              <a:t>he does not trust the city</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he is full</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indent="0" marL="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indent="0" marL="0">
              <a:buNone/>
            </a:pPr>
            <a:r>
              <a:rPr lang="en-US" sz="1600" dirty="0">
                <a:solidFill>
                  <a:schemeClr val="tx1"/>
                </a:solidFill>
              </a:rPr>
              <a:t>he wants to be the Baba</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indent="0" marL="0">
              <a:buNone/>
            </a:pPr>
            <a:r>
              <a:rPr lang="en-US" sz="1200" i="1" dirty="0">
                <a:solidFill>
                  <a:srgbClr val="4A4668"/>
                </a:solidFill>
              </a:rPr>
              <a:t>Put a cross in one box.</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3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he does not trust the city</a:t>
            </a:r>
            <a:pPr indent="0" marL="0">
              <a:buNone/>
            </a:pP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Everyone else is celebrating, but Ki stays away from the fire and refuses the fruit (pp. 42-43). This is a sign he is still suspicious.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Exam practice: question 4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algn="r" indent="0" marL="0">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indent="0" marL="0">
              <a:buNone/>
            </a:pPr>
            <a:r>
              <a:rPr lang="en-US" sz="1800" b="1" dirty="0">
                <a:solidFill>
                  <a:schemeClr val="tx1"/>
                </a:solidFill>
              </a:rPr>
              <a:t>Baba ignores the old story her mother tells her. Do you think this is a good decision? Use evidence from the text to explain your answer.</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indent="0" marL="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Answer: question 4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indent="0" marL="0">
              <a:buNone/>
            </a:pPr>
            <a:r>
              <a:rPr lang="en-US" sz="2200" b="1" dirty="0">
                <a:solidFill>
                  <a:schemeClr val="tx1"/>
                </a:solidFill>
                <a:highlight>
                  <a:srgbClr val="FFD27F"/>
                </a:highlight>
              </a:rPr>
              <a:t>A decision with a reason.</a:t>
            </a:r>
            <a:pPr indent="0" marL="0">
              <a:buNone/>
            </a:pP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1 mark for a decision: for example, 'It is not a good decision.'</a:t>
            </a:r>
            <a:endParaRPr lang="en-US" sz="1600" dirty="0"/>
          </a:p>
          <a:p>
            <a:pPr indent="0" marL="0">
              <a:spcAft>
                <a:spcPts val="600"/>
              </a:spcAft>
              <a:buNone/>
            </a:pPr>
            <a:r>
              <a:rPr lang="en-US" sz="1600" dirty="0">
                <a:solidFill>
                  <a:schemeClr val="tx1"/>
                </a:solidFill>
              </a:rPr>
              <a:t>1 mark for evidence: for example, 'Ki feels watched' or 'the trees appeared without anybody noticing'.</a:t>
            </a:r>
            <a:endParaRPr lang="en-US" sz="1600" dirty="0"/>
          </a:p>
          <a:p>
            <a:pPr indent="0" marL="0">
              <a:spcAft>
                <a:spcPts val="600"/>
              </a:spcAft>
              <a:buNone/>
            </a:pPr>
            <a:r>
              <a:rPr lang="en-US" sz="1600" dirty="0">
                <a:solidFill>
                  <a:schemeClr val="tx1"/>
                </a:solidFill>
              </a:rPr>
              <a:t>Accept either view if it has evidence.</a:t>
            </a:r>
            <a:endParaRPr lang="en-US" sz="1600" dirty="0"/>
          </a:p>
          <a:p>
            <a:pPr indent="0" marL="0">
              <a:spcAft>
                <a:spcPts val="600"/>
              </a:spcAft>
              <a:buNone/>
            </a:pPr>
            <a:r>
              <a:rPr lang="en-US" sz="1600" dirty="0">
                <a:solidFill>
                  <a:schemeClr val="tx1"/>
                </a:solidFill>
              </a:rPr>
              <a:t>Total for exam practice: ____ / 5</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Exit ticket</a:t>
            </a:r>
            <a:endParaRPr lang="en-US" sz="3000" dirty="0"/>
          </a:p>
        </p:txBody>
      </p:sp>
      <p:sp>
        <p:nvSpPr>
          <p:cNvPr id="4" name="card"/>
          <p:cNvSpPr/>
          <p:nvPr/>
        </p:nvSpPr>
        <p:spPr>
          <a:xfrm>
            <a:off x="548640" y="1143000"/>
            <a:ext cx="8046720" cy="1005840"/>
          </a:xfrm>
          <a:prstGeom prst="roundRect">
            <a:avLst>
              <a:gd name="adj" fmla="val 10909"/>
            </a:avLst>
          </a:prstGeom>
          <a:solidFill>
            <a:schemeClr val="bg2"/>
          </a:solidFill>
          <a:ln w="12700">
            <a:solidFill>
              <a:schemeClr val="bg2"/>
            </a:solidFill>
            <a:prstDash val="solid"/>
          </a:ln>
        </p:spPr>
      </p:sp>
      <p:sp>
        <p:nvSpPr>
          <p:cNvPr id="5" name="badge"/>
          <p:cNvSpPr/>
          <p:nvPr/>
        </p:nvSpPr>
        <p:spPr>
          <a:xfrm>
            <a:off x="731520" y="1325880"/>
            <a:ext cx="640080" cy="640080"/>
          </a:xfrm>
          <a:prstGeom prst="ellipse">
            <a:avLst/>
          </a:prstGeom>
          <a:solidFill>
            <a:schemeClr val="accent4"/>
          </a:solidFill>
          <a:ln w="12700">
            <a:solidFill>
              <a:schemeClr val="accent4"/>
            </a:solidFill>
            <a:prstDash val="solid"/>
          </a:ln>
        </p:spPr>
      </p:sp>
      <p:pic>
        <p:nvPicPr>
          <p:cNvPr id="6" name="icon" descr="pencil">    </p:cNvPr>
          <p:cNvPicPr>
            <a:picLocks noChangeAspect="1"/>
          </p:cNvPicPr>
          <p:nvPr/>
        </p:nvPicPr>
        <p:blipFill>
          <a:blip r:embed="rId1"/>
          <a:stretch>
            <a:fillRect/>
          </a:stretch>
        </p:blipFill>
        <p:spPr>
          <a:xfrm>
            <a:off x="897941" y="1492301"/>
            <a:ext cx="307238" cy="307238"/>
          </a:xfrm>
          <a:prstGeom prst="rect">
            <a:avLst/>
          </a:prstGeom>
        </p:spPr>
      </p:pic>
      <p:sp>
        <p:nvSpPr>
          <p:cNvPr id="7" name="Text 3"/>
          <p:cNvSpPr txBox="1"/>
          <p:nvPr/>
        </p:nvSpPr>
        <p:spPr>
          <a:xfrm>
            <a:off x="1600200" y="1143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Complete: The clue '_____' suggests _____ because _____.</a:t>
            </a:r>
            <a:endParaRPr lang="en-US" sz="1600" dirty="0"/>
          </a:p>
        </p:txBody>
      </p:sp>
      <p:sp>
        <p:nvSpPr>
          <p:cNvPr id="8" name="card"/>
          <p:cNvSpPr/>
          <p:nvPr/>
        </p:nvSpPr>
        <p:spPr>
          <a:xfrm>
            <a:off x="548640" y="2286000"/>
            <a:ext cx="8046720" cy="1005840"/>
          </a:xfrm>
          <a:prstGeom prst="roundRect">
            <a:avLst>
              <a:gd name="adj" fmla="val 10909"/>
            </a:avLst>
          </a:prstGeom>
          <a:solidFill>
            <a:schemeClr val="bg2"/>
          </a:solidFill>
          <a:ln w="12700">
            <a:solidFill>
              <a:schemeClr val="bg2"/>
            </a:solidFill>
            <a:prstDash val="solid"/>
          </a:ln>
        </p:spPr>
      </p:sp>
      <p:sp>
        <p:nvSpPr>
          <p:cNvPr id="9" name="badge"/>
          <p:cNvSpPr/>
          <p:nvPr/>
        </p:nvSpPr>
        <p:spPr>
          <a:xfrm>
            <a:off x="731520" y="2468880"/>
            <a:ext cx="640080" cy="640080"/>
          </a:xfrm>
          <a:prstGeom prst="ellipse">
            <a:avLst/>
          </a:prstGeom>
          <a:solidFill>
            <a:schemeClr val="accent2"/>
          </a:solidFill>
          <a:ln w="12700">
            <a:solidFill>
              <a:schemeClr val="accent2"/>
            </a:solidFill>
            <a:prstDash val="solid"/>
          </a:ln>
        </p:spPr>
      </p:sp>
      <p:pic>
        <p:nvPicPr>
          <p:cNvPr id="10" name="icon" descr="users">    </p:cNvPr>
          <p:cNvPicPr>
            <a:picLocks noChangeAspect="1"/>
          </p:cNvPicPr>
          <p:nvPr/>
        </p:nvPicPr>
        <p:blipFill>
          <a:blip r:embed="rId2"/>
          <a:stretch>
            <a:fillRect/>
          </a:stretch>
        </p:blipFill>
        <p:spPr>
          <a:xfrm>
            <a:off x="897941" y="2635301"/>
            <a:ext cx="307238" cy="307238"/>
          </a:xfrm>
          <a:prstGeom prst="rect">
            <a:avLst/>
          </a:prstGeom>
        </p:spPr>
      </p:pic>
      <p:sp>
        <p:nvSpPr>
          <p:cNvPr id="11" name="Text 6"/>
          <p:cNvSpPr txBox="1"/>
          <p:nvPr/>
        </p:nvSpPr>
        <p:spPr>
          <a:xfrm>
            <a:off x="1600200" y="2286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Complete: Baba feels _____ about the city, but Ki feels _____.</a:t>
            </a:r>
            <a:endParaRPr lang="en-US" sz="1600" dirty="0"/>
          </a:p>
        </p:txBody>
      </p:sp>
      <p:sp>
        <p:nvSpPr>
          <p:cNvPr id="12" name="card"/>
          <p:cNvSpPr/>
          <p:nvPr/>
        </p:nvSpPr>
        <p:spPr>
          <a:xfrm>
            <a:off x="548640" y="3429000"/>
            <a:ext cx="8046720" cy="1005840"/>
          </a:xfrm>
          <a:prstGeom prst="roundRect">
            <a:avLst>
              <a:gd name="adj" fmla="val 10909"/>
            </a:avLst>
          </a:prstGeom>
          <a:solidFill>
            <a:schemeClr val="bg2"/>
          </a:solidFill>
          <a:ln w="12700">
            <a:solidFill>
              <a:schemeClr val="bg2"/>
            </a:solidFill>
            <a:prstDash val="solid"/>
          </a:ln>
        </p:spPr>
      </p:sp>
      <p:sp>
        <p:nvSpPr>
          <p:cNvPr id="13" name="badge"/>
          <p:cNvSpPr/>
          <p:nvPr/>
        </p:nvSpPr>
        <p:spPr>
          <a:xfrm>
            <a:off x="731520" y="3611880"/>
            <a:ext cx="640080" cy="640080"/>
          </a:xfrm>
          <a:prstGeom prst="ellipse">
            <a:avLst/>
          </a:prstGeom>
          <a:solidFill>
            <a:schemeClr val="accent3"/>
          </a:solidFill>
          <a:ln w="12700">
            <a:solidFill>
              <a:schemeClr val="accent3"/>
            </a:solidFill>
            <a:prstDash val="solid"/>
          </a:ln>
        </p:spPr>
      </p:sp>
      <p:pic>
        <p:nvPicPr>
          <p:cNvPr id="14" name="icon" descr="hand">    </p:cNvPr>
          <p:cNvPicPr>
            <a:picLocks noChangeAspect="1"/>
          </p:cNvPicPr>
          <p:nvPr/>
        </p:nvPicPr>
        <p:blipFill>
          <a:blip r:embed="rId3"/>
          <a:stretch>
            <a:fillRect/>
          </a:stretch>
        </p:blipFill>
        <p:spPr>
          <a:xfrm>
            <a:off x="897941" y="3778301"/>
            <a:ext cx="307238" cy="307238"/>
          </a:xfrm>
          <a:prstGeom prst="rect">
            <a:avLst/>
          </a:prstGeom>
        </p:spPr>
      </p:pic>
      <p:sp>
        <p:nvSpPr>
          <p:cNvPr id="15" name="Text 9"/>
          <p:cNvSpPr txBox="1"/>
          <p:nvPr/>
        </p:nvSpPr>
        <p:spPr>
          <a:xfrm>
            <a:off x="1600200" y="3429000"/>
            <a:ext cx="6766560" cy="1005840"/>
          </a:xfrm>
          <a:prstGeom prst="rect">
            <a:avLst/>
          </a:prstGeom>
          <a:noFill/>
          <a:ln/>
        </p:spPr>
        <p:txBody>
          <a:bodyPr wrap="square" lIns="0" tIns="0" rIns="0" bIns="0" rtlCol="0" anchor="ctr"/>
          <a:lstStyle/>
          <a:p>
            <a:pPr indent="0" marL="0">
              <a:buNone/>
            </a:pPr>
            <a:r>
              <a:rPr lang="en-US" sz="1600" dirty="0">
                <a:solidFill>
                  <a:schemeClr val="tx1"/>
                </a:solidFill>
              </a:rPr>
              <a:t>How confident do I feel? 1 star = I need help, 2 stars = nearly there, 3 stars = I can teach it.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Model answers: exit ticket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The clue 'I feel watched' suggests the city is not really empty because Ki senses somebody is there.</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Baba feels excited and proud about the city, but Ki feels suspicious and worried.</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indent="0" marL="0">
              <a:buNone/>
            </a:pPr>
            <a:r>
              <a:rPr lang="en-US" sz="1400" b="1" dirty="0">
                <a:solidFill>
                  <a:schemeClr val="tx1"/>
                </a:solidFill>
              </a:rPr>
              <a:t>Pupils with 1 star</a:t>
            </a:r>
            <a:pPr indent="0" marL="0">
              <a:buNone/>
            </a:pPr>
            <a:r>
              <a:rPr lang="en-US" sz="1400" dirty="0">
                <a:solidFill>
                  <a:schemeClr val="tx1"/>
                </a:solidFill>
              </a:rPr>
              <a:t> need the clue, inference, reason pattern again. </a:t>
            </a:r>
            <a:pPr indent="0" marL="0">
              <a:buNone/>
            </a:pPr>
            <a:r>
              <a:rPr lang="en-US" sz="1400" b="1" dirty="0">
                <a:solidFill>
                  <a:schemeClr val="tx1"/>
                </a:solidFill>
              </a:rPr>
              <a:t>Pupils with 3 stars</a:t>
            </a:r>
            <a:pPr indent="0" marL="0">
              <a:buNone/>
            </a:pPr>
            <a:r>
              <a:rPr lang="en-US" sz="1400" dirty="0">
                <a:solidFill>
                  <a:schemeClr val="tx1"/>
                </a:solidFill>
              </a:rPr>
              <a:t> can lead a pair next lesson.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000" b="1" dirty="0">
                <a:solidFill>
                  <a:schemeClr val="tx1"/>
                </a:solidFill>
              </a:rPr>
              <a:t>Homework</a:t>
            </a:r>
            <a:endParaRPr lang="en-US" sz="3000" dirty="0"/>
          </a:p>
        </p:txBody>
      </p:sp>
      <p:sp>
        <p:nvSpPr>
          <p:cNvPr id="4" name="Text 1"/>
          <p:cNvSpPr txBox="1"/>
          <p:nvPr/>
        </p:nvSpPr>
        <p:spPr>
          <a:xfrm>
            <a:off x="548640" y="1097280"/>
            <a:ext cx="8046720" cy="640080"/>
          </a:xfrm>
          <a:prstGeom prst="rect">
            <a:avLst/>
          </a:prstGeom>
          <a:noFill/>
          <a:ln/>
        </p:spPr>
        <p:txBody>
          <a:bodyPr wrap="square" lIns="0" tIns="0" rIns="0" bIns="0" rtlCol="0" anchor="t"/>
          <a:lstStyle/>
          <a:p>
            <a:pPr indent="0" marL="0">
              <a:buNone/>
            </a:pPr>
            <a:r>
              <a:rPr lang="en-US" sz="1600" dirty="0">
                <a:solidFill>
                  <a:schemeClr val="tx1"/>
                </a:solidFill>
              </a:rPr>
              <a:t>Choose two clues. Complete the table with a short quotation and what it suggests. Then read pp. 44-53 and find one more clue.</a:t>
            </a:r>
            <a:endParaRPr lang="en-US" sz="1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8046720" cy="914400"/>
        </p:xfrm>
        <a:graphic>
          <a:graphicData uri="http://schemas.openxmlformats.org/drawingml/2006/table">
            <a:tbl>
              <a:tblPr/>
              <a:tblGrid>
                <a:gridCol w="2194560"/>
                <a:gridCol w="2743200"/>
                <a:gridCol w="3108960"/>
              </a:tblGrid>
              <a:tr h="457200">
                <a:tc>
                  <a:txBody>
                    <a:bodyPr/>
                    <a:lstStyle/>
                    <a:p>
                      <a:pPr algn="ctr" indent="0" marL="0">
                        <a:buNone/>
                      </a:pPr>
                      <a:r>
                        <a:rPr lang="en-US" sz="1400" b="1" dirty="0">
                          <a:solidFill>
                            <a:srgbClr val="FFFFFF"/>
                          </a:solidFill>
                        </a:rPr>
                        <a:t>Clue (pages)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Short quotation</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algn="ctr" indent="0" marL="0">
                        <a:buNone/>
                      </a:pPr>
                      <a:r>
                        <a:rPr lang="en-US" sz="1400" b="1" dirty="0">
                          <a:solidFill>
                            <a:srgbClr val="FFFFFF"/>
                          </a:solidFill>
                        </a:rPr>
                        <a:t>What it suggests</a:t>
                      </a:r>
                      <a:endParaRPr lang="en-US" sz="14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r>
              <a:tr h="685800">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r h="685800">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indent="0" marL="0">
                        <a:buNone/>
                      </a:pPr>
                      <a:endParaRPr lang="en-US" sz="1200" dirty="0"/>
                    </a:p>
                  </a:txBody>
                  <a:tcPr marL="91440" marR="91440" marT="45720" marB="45720"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r>
            </a:tbl>
          </a:graphicData>
        </a:graphic>
      </p:graphicFrame>
      <p:sp>
        <p:nvSpPr>
          <p:cNvPr id="6" name="card"/>
          <p:cNvSpPr/>
          <p:nvPr/>
        </p:nvSpPr>
        <p:spPr>
          <a:xfrm>
            <a:off x="548640" y="3886200"/>
            <a:ext cx="8046720" cy="685800"/>
          </a:xfrm>
          <a:prstGeom prst="roundRect">
            <a:avLst>
              <a:gd name="adj" fmla="val 16000"/>
            </a:avLst>
          </a:prstGeom>
          <a:solidFill>
            <a:schemeClr val="accent1"/>
          </a:solidFill>
          <a:ln w="12700">
            <a:solidFill>
              <a:schemeClr val="accent1"/>
            </a:solidFill>
            <a:prstDash val="solid"/>
          </a:ln>
        </p:spPr>
      </p:sp>
      <p:sp>
        <p:nvSpPr>
          <p:cNvPr id="7" name="Text 3"/>
          <p:cNvSpPr txBox="1"/>
          <p:nvPr/>
        </p:nvSpPr>
        <p:spPr>
          <a:xfrm>
            <a:off x="731520" y="3886200"/>
            <a:ext cx="7680960" cy="685800"/>
          </a:xfrm>
          <a:prstGeom prst="rect">
            <a:avLst/>
          </a:prstGeom>
          <a:noFill/>
          <a:ln/>
        </p:spPr>
        <p:txBody>
          <a:bodyPr wrap="square" lIns="0" tIns="0" rIns="0" bIns="0" rtlCol="0" anchor="ctr"/>
          <a:lstStyle/>
          <a:p>
            <a:pPr indent="0" marL="0">
              <a:buNone/>
            </a:pPr>
            <a:r>
              <a:rPr lang="en-US" sz="1500" b="1" dirty="0">
                <a:solidFill>
                  <a:schemeClr val="tx1"/>
                </a:solidFill>
              </a:rPr>
              <a:t>New clue from pp. 44-53: ____________________________</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120640" cy="1371600"/>
          </a:xfrm>
          <a:prstGeom prst="rect">
            <a:avLst/>
          </a:prstGeom>
          <a:noFill/>
          <a:ln/>
        </p:spPr>
        <p:txBody>
          <a:bodyPr wrap="square" lIns="0" tIns="0" rIns="0" bIns="0" rtlCol="0" anchor="b"/>
          <a:lstStyle/>
          <a:p>
            <a:pPr algn="l" indent="0" marL="0">
              <a:buNone/>
            </a:pPr>
            <a:r>
              <a:rPr lang="en-US" sz="4400" b="1" dirty="0">
                <a:solidFill>
                  <a:schemeClr val="bg1"/>
                </a:solidFill>
              </a:rPr>
              <a:t>Great detective work</a:t>
            </a:r>
            <a:endParaRPr lang="en-US" sz="4400" dirty="0"/>
          </a:p>
        </p:txBody>
      </p:sp>
      <p:sp>
        <p:nvSpPr>
          <p:cNvPr id="3" name="Text 0"/>
          <p:cNvSpPr/>
          <p:nvPr>
            <p:ph idx="101" type="body" hasCustomPrompt="1"/>
          </p:nvPr>
        </p:nvSpPr>
        <p:spPr>
          <a:xfrm>
            <a:off x="640080" y="2926080"/>
            <a:ext cx="5120640" cy="1097280"/>
          </a:xfrm>
          <a:prstGeom prst="rect">
            <a:avLst/>
          </a:prstGeom>
          <a:noFill/>
          <a:ln/>
        </p:spPr>
        <p:txBody>
          <a:bodyPr wrap="square" lIns="0" tIns="0" rIns="0" bIns="0" rtlCol="0" anchor="t"/>
          <a:lstStyle/>
          <a:p>
            <a:pPr indent="0" marL="0">
              <a:buNone/>
            </a:pPr>
            <a:r>
              <a:rPr lang="en-US" sz="1800" dirty="0">
                <a:solidFill>
                  <a:schemeClr val="accent1"/>
                </a:solidFill>
              </a:rPr>
              <a:t>If it seems too good to be true, look for the clues</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r>
          <p:cNvPicPr>
            <a:picLocks noChangeAspect="1"/>
          </p:cNvPicPr>
          <p:nvPr/>
        </p:nvPicPr>
        <p:blipFill>
          <a:blip r:embed="rId1"/>
          <a:stretch>
            <a:fillRect/>
          </a:stretch>
        </p:blipFill>
        <p:spPr>
          <a:xfrm>
            <a:off x="6675120" y="1645920"/>
            <a:ext cx="1371600" cy="1371600"/>
          </a:xfrm>
          <a:prstGeom prst="rect">
            <a:avLst/>
          </a:prstGeom>
        </p:spPr>
      </p:pic>
    </p:spTree>
  </p:cSld>
  <p:clrMapOvr>
    <a:masterClrMapping/>
  </p:clrMapOvr>
</p:sld>
</file>

<file path=ppt/theme/theme1.xml><?xml version="1.0" encoding="utf-8"?>
<a:theme xmlns:a="http://schemas.openxmlformats.org/drawingml/2006/main" name="Fantasy Explorers">
  <a:themeElements>
    <a:clrScheme name="Fantasy Explorers">
      <a:dk1>
        <a:srgbClr val="1F1B3A"/>
      </a:dk1>
      <a:lt1>
        <a:srgbClr val="FFFFFF"/>
      </a:lt1>
      <a:dk2>
        <a:srgbClr val="3B2F63"/>
      </a:dk2>
      <a:lt2>
        <a:srgbClr val="F1EEFA"/>
      </a:lt2>
      <a:accent1>
        <a:srgbClr val="F2A541"/>
      </a:accent1>
      <a:accent2>
        <a:srgbClr val="1E7F74"/>
      </a:accent2>
      <a:accent3>
        <a:srgbClr val="C8553A"/>
      </a:accent3>
      <a:accent4>
        <a:srgbClr val="6A55B8"/>
      </a:accent4>
      <a:accent5>
        <a:srgbClr val="5E8C4F"/>
      </a:accent5>
      <a:accent6>
        <a:srgbClr val="B5851A"/>
      </a:accent6>
      <a:hlink>
        <a:srgbClr val="6A55B8"/>
      </a:hlink>
      <a:folHlink>
        <a:srgbClr val="3B2F63"/>
      </a:folHlink>
    </a:clrScheme>
    <a:fontScheme name="Fantasy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 Petronas Lesson A</dc:title>
  <dc:subject>PptxGenJS Presentation</dc:subject>
  <dc:creator>Year 6 English</dc:creator>
  <cp:lastModifiedBy>Year 6 English</cp:lastModifiedBy>
  <cp:revision>1</cp:revision>
  <dcterms:created xsi:type="dcterms:W3CDTF">2026-10-25T20:34:25Z</dcterms:created>
  <dcterms:modified xsi:type="dcterms:W3CDTF">2026-10-25T20:34:25Z</dcterms:modified>
</cp:coreProperties>
</file>