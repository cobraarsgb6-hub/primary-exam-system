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75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DF7D53-C196-424C-81D9-C264A9DC71DA}" type="datetimeFigureOut">
              <a:rPr lang="en-US" smtClean="0"/>
              <a:t>26/09/2026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2C14C4-F461-40DD-B895-258423B7FD53}" type="slidenum">
              <a:rPr lang="en-US" smtClean="0"/>
              <a:t>‹#›</a:t>
            </a:fld>
            <a:endParaRPr lang="en-US"/>
          </a:p>
        </p:txBody>
      </p:sp>
    </p:spTree>
    <p:extLst>
      <p:ext uri="{BB962C8B-B14F-4D97-AF65-F5344CB8AC3E}">
        <p14:creationId xmlns:p14="http://schemas.microsoft.com/office/powerpoint/2010/main" val="3706908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2C14C4-F461-40DD-B895-258423B7FD53}" type="slidenum">
              <a:rPr lang="en-US" smtClean="0"/>
              <a:t>26</a:t>
            </a:fld>
            <a:endParaRPr lang="en-US"/>
          </a:p>
        </p:txBody>
      </p:sp>
    </p:spTree>
    <p:extLst>
      <p:ext uri="{BB962C8B-B14F-4D97-AF65-F5344CB8AC3E}">
        <p14:creationId xmlns:p14="http://schemas.microsoft.com/office/powerpoint/2010/main" val="1497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338"/>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THE READING DETECTIVE</a:t>
            </a:r>
          </a:p>
        </p:txBody>
      </p:sp>
      <p:sp>
        <p:nvSpPr>
          <p:cNvPr id="3" name="TextBox 2"/>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FFFFFF"/>
                </a:solidFill>
                <a:latin typeface="Aptos Display"/>
              </a:rPr>
              <a:t>Infer • Deduce • Interpret</a:t>
            </a:r>
          </a:p>
        </p:txBody>
      </p:sp>
      <p:sp>
        <p:nvSpPr>
          <p:cNvPr id="4" name="TextBox 3"/>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01</a:t>
            </a:r>
          </a:p>
        </p:txBody>
      </p:sp>
      <p:sp>
        <p:nvSpPr>
          <p:cNvPr id="5" name="TextBox 4"/>
          <p:cNvSpPr txBox="1"/>
          <p:nvPr/>
        </p:nvSpPr>
        <p:spPr>
          <a:xfrm>
            <a:off x="822960" y="1828800"/>
            <a:ext cx="914400" cy="914400"/>
          </a:xfrm>
          <a:prstGeom prst="rect">
            <a:avLst/>
          </a:prstGeom>
          <a:noFill/>
        </p:spPr>
        <p:txBody>
          <a:bodyPr wrap="square" lIns="45720" rIns="45720" anchor="t">
            <a:spAutoFit/>
          </a:bodyPr>
          <a:lstStyle/>
          <a:p>
            <a:pPr algn="ctr"/>
            <a:r>
              <a:rPr sz="4400" b="1">
                <a:solidFill>
                  <a:srgbClr val="E8B446"/>
                </a:solidFill>
                <a:latin typeface="Aptos"/>
              </a:rPr>
              <a:t>🔎</a:t>
            </a:r>
          </a:p>
        </p:txBody>
      </p:sp>
      <p:sp>
        <p:nvSpPr>
          <p:cNvPr id="6" name="TextBox 5"/>
          <p:cNvSpPr txBox="1"/>
          <p:nvPr/>
        </p:nvSpPr>
        <p:spPr>
          <a:xfrm>
            <a:off x="1874519" y="1828800"/>
            <a:ext cx="9052560" cy="954107"/>
          </a:xfrm>
          <a:prstGeom prst="rect">
            <a:avLst/>
          </a:prstGeom>
          <a:noFill/>
        </p:spPr>
        <p:txBody>
          <a:bodyPr wrap="square" lIns="45720" rIns="45720" anchor="t">
            <a:spAutoFit/>
          </a:bodyPr>
          <a:lstStyle/>
          <a:p>
            <a:pPr algn="l"/>
            <a:r>
              <a:rPr sz="3200" b="1" dirty="0">
                <a:solidFill>
                  <a:schemeClr val="bg1"/>
                </a:solidFill>
                <a:latin typeface="Aptos Display"/>
              </a:rPr>
              <a:t>Today we will learn how to find clues and use them</a:t>
            </a:r>
            <a:br>
              <a:rPr sz="2400" b="1" dirty="0">
                <a:solidFill>
                  <a:schemeClr val="bg1"/>
                </a:solidFill>
              </a:rPr>
            </a:br>
            <a:r>
              <a:rPr sz="2400" b="1" dirty="0">
                <a:solidFill>
                  <a:schemeClr val="bg1"/>
                </a:solidFill>
              </a:rPr>
              <a:t>to understand what the writer means.</a:t>
            </a:r>
          </a:p>
        </p:txBody>
      </p:sp>
      <p:sp>
        <p:nvSpPr>
          <p:cNvPr id="7" name="Rounded Rectangle 6"/>
          <p:cNvSpPr/>
          <p:nvPr/>
        </p:nvSpPr>
        <p:spPr>
          <a:xfrm>
            <a:off x="1874519" y="3657600"/>
            <a:ext cx="4572000" cy="384048"/>
          </a:xfrm>
          <a:prstGeom prst="roundRect">
            <a:avLst/>
          </a:prstGeom>
          <a:solidFill>
            <a:srgbClr val="2D9B9B"/>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29384" y="3605075"/>
            <a:ext cx="6327376" cy="461665"/>
          </a:xfrm>
          <a:prstGeom prst="rect">
            <a:avLst/>
          </a:prstGeom>
          <a:noFill/>
        </p:spPr>
        <p:txBody>
          <a:bodyPr wrap="square" lIns="45720" rIns="45720" anchor="ctr">
            <a:spAutoFit/>
          </a:bodyPr>
          <a:lstStyle/>
          <a:p>
            <a:pPr algn="ctr"/>
            <a:r>
              <a:rPr sz="2400" b="1" dirty="0">
                <a:highlight>
                  <a:srgbClr val="FFFF00"/>
                </a:highlight>
                <a:latin typeface="Aptos"/>
              </a:rPr>
              <a:t>CASE FILE 01  •  READ BETWEEN THE LINES</a:t>
            </a:r>
          </a:p>
        </p:txBody>
      </p:sp>
      <p:sp>
        <p:nvSpPr>
          <p:cNvPr id="9" name="TextBox 8"/>
          <p:cNvSpPr txBox="1"/>
          <p:nvPr/>
        </p:nvSpPr>
        <p:spPr>
          <a:xfrm>
            <a:off x="1874519" y="4343400"/>
            <a:ext cx="5943600" cy="1015663"/>
          </a:xfrm>
          <a:prstGeom prst="rect">
            <a:avLst/>
          </a:prstGeom>
          <a:noFill/>
        </p:spPr>
        <p:txBody>
          <a:bodyPr wrap="square" lIns="45720" rIns="45720" anchor="t">
            <a:spAutoFit/>
          </a:bodyPr>
          <a:lstStyle/>
          <a:p>
            <a:pPr algn="l"/>
            <a:r>
              <a:rPr sz="3200" b="1" dirty="0">
                <a:solidFill>
                  <a:schemeClr val="bg1"/>
                </a:solidFill>
                <a:latin typeface="Aptos Display"/>
              </a:rPr>
              <a:t>A detective doesn't guess.</a:t>
            </a:r>
            <a:br>
              <a:rPr sz="2800" b="1" dirty="0">
                <a:solidFill>
                  <a:schemeClr val="bg1"/>
                </a:solidFill>
              </a:rPr>
            </a:br>
            <a:r>
              <a:rPr sz="2800" b="1" dirty="0">
                <a:solidFill>
                  <a:schemeClr val="bg1"/>
                </a:solidFill>
              </a:rPr>
              <a:t>A detective proves.</a:t>
            </a:r>
          </a:p>
        </p:txBody>
      </p:sp>
      <p:sp>
        <p:nvSpPr>
          <p:cNvPr id="10" name="TextBox 9"/>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1" name="TextBox 10"/>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FILE</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Good readers do more than find answers</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02</a:t>
            </a:r>
          </a:p>
        </p:txBody>
      </p:sp>
      <p:sp>
        <p:nvSpPr>
          <p:cNvPr id="6" name="TextBox 5"/>
          <p:cNvSpPr txBox="1"/>
          <p:nvPr/>
        </p:nvSpPr>
        <p:spPr>
          <a:xfrm>
            <a:off x="731519" y="1600200"/>
            <a:ext cx="7380385" cy="461665"/>
          </a:xfrm>
          <a:prstGeom prst="rect">
            <a:avLst/>
          </a:prstGeom>
          <a:noFill/>
        </p:spPr>
        <p:txBody>
          <a:bodyPr wrap="square" lIns="45720" rIns="45720" anchor="t">
            <a:spAutoFit/>
          </a:bodyPr>
          <a:lstStyle/>
          <a:p>
            <a:pPr algn="l"/>
            <a:r>
              <a:rPr sz="2400" b="0" dirty="0">
                <a:solidFill>
                  <a:srgbClr val="1F2937"/>
                </a:solidFill>
                <a:latin typeface="Aptos"/>
              </a:rPr>
              <a:t>Sometimes the writer tells us something directly.</a:t>
            </a:r>
          </a:p>
        </p:txBody>
      </p:sp>
      <p:sp>
        <p:nvSpPr>
          <p:cNvPr id="7" name="TextBox 6"/>
          <p:cNvSpPr txBox="1"/>
          <p:nvPr/>
        </p:nvSpPr>
        <p:spPr>
          <a:xfrm>
            <a:off x="731520" y="2148840"/>
            <a:ext cx="5120640" cy="461665"/>
          </a:xfrm>
          <a:prstGeom prst="rect">
            <a:avLst/>
          </a:prstGeom>
          <a:noFill/>
        </p:spPr>
        <p:txBody>
          <a:bodyPr wrap="square" lIns="45720" rIns="45720" anchor="t">
            <a:spAutoFit/>
          </a:bodyPr>
          <a:lstStyle/>
          <a:p>
            <a:pPr algn="l"/>
            <a:r>
              <a:rPr sz="2400" b="0" dirty="0">
                <a:solidFill>
                  <a:srgbClr val="1F2937"/>
                </a:solidFill>
                <a:latin typeface="Aptos"/>
              </a:rPr>
              <a:t>Sometimes we have to work it out.</a:t>
            </a:r>
          </a:p>
        </p:txBody>
      </p:sp>
      <p:sp>
        <p:nvSpPr>
          <p:cNvPr id="8" name="TextBox 7"/>
          <p:cNvSpPr txBox="1"/>
          <p:nvPr/>
        </p:nvSpPr>
        <p:spPr>
          <a:xfrm>
            <a:off x="731520" y="2697480"/>
            <a:ext cx="8243316" cy="461665"/>
          </a:xfrm>
          <a:prstGeom prst="rect">
            <a:avLst/>
          </a:prstGeom>
          <a:noFill/>
        </p:spPr>
        <p:txBody>
          <a:bodyPr wrap="square" lIns="45720" rIns="45720" anchor="t">
            <a:spAutoFit/>
          </a:bodyPr>
          <a:lstStyle/>
          <a:p>
            <a:pPr algn="l"/>
            <a:r>
              <a:rPr sz="2400" b="0" dirty="0">
                <a:solidFill>
                  <a:srgbClr val="1F2937"/>
                </a:solidFill>
                <a:latin typeface="Aptos"/>
              </a:rPr>
              <a:t>Sometimes we explain what a word or phrase suggests.</a:t>
            </a:r>
          </a:p>
        </p:txBody>
      </p:sp>
      <p:sp>
        <p:nvSpPr>
          <p:cNvPr id="9" name="Rounded Rectangle 8"/>
          <p:cNvSpPr/>
          <p:nvPr/>
        </p:nvSpPr>
        <p:spPr>
          <a:xfrm>
            <a:off x="731520" y="3794760"/>
            <a:ext cx="2546604" cy="1051560"/>
          </a:xfrm>
          <a:prstGeom prst="roundRect">
            <a:avLst/>
          </a:prstGeom>
          <a:solidFill>
            <a:srgbClr val="FFFFFF"/>
          </a:solidFill>
          <a:ln w="12700">
            <a:solidFill>
              <a:srgbClr val="E8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941064"/>
            <a:ext cx="2327148" cy="400110"/>
          </a:xfrm>
          <a:prstGeom prst="rect">
            <a:avLst/>
          </a:prstGeom>
          <a:noFill/>
        </p:spPr>
        <p:txBody>
          <a:bodyPr wrap="square" lIns="45720" rIns="45720" anchor="t">
            <a:spAutoFit/>
          </a:bodyPr>
          <a:lstStyle/>
          <a:p>
            <a:pPr algn="ctr"/>
            <a:r>
              <a:rPr sz="2000" b="1" dirty="0">
                <a:solidFill>
                  <a:srgbClr val="E8B446"/>
                </a:solidFill>
                <a:latin typeface="Aptos"/>
              </a:rPr>
              <a:t>🔎 FIND</a:t>
            </a:r>
          </a:p>
        </p:txBody>
      </p:sp>
      <p:sp>
        <p:nvSpPr>
          <p:cNvPr id="11" name="TextBox 10"/>
          <p:cNvSpPr txBox="1"/>
          <p:nvPr/>
        </p:nvSpPr>
        <p:spPr>
          <a:xfrm>
            <a:off x="841248" y="4270248"/>
            <a:ext cx="2327148" cy="461665"/>
          </a:xfrm>
          <a:prstGeom prst="rect">
            <a:avLst/>
          </a:prstGeom>
          <a:noFill/>
        </p:spPr>
        <p:txBody>
          <a:bodyPr wrap="square" lIns="45720" rIns="45720" anchor="t">
            <a:spAutoFit/>
          </a:bodyPr>
          <a:lstStyle/>
          <a:p>
            <a:pPr algn="ctr"/>
            <a:r>
              <a:rPr sz="2400" b="0" dirty="0">
                <a:solidFill>
                  <a:srgbClr val="677484"/>
                </a:solidFill>
                <a:latin typeface="Aptos"/>
              </a:rPr>
              <a:t>the clue</a:t>
            </a:r>
          </a:p>
        </p:txBody>
      </p:sp>
      <p:sp>
        <p:nvSpPr>
          <p:cNvPr id="12" name="Rounded Rectangle 11"/>
          <p:cNvSpPr/>
          <p:nvPr/>
        </p:nvSpPr>
        <p:spPr>
          <a:xfrm>
            <a:off x="3479292" y="3794760"/>
            <a:ext cx="2546604" cy="1051560"/>
          </a:xfrm>
          <a:prstGeom prst="roundRect">
            <a:avLst/>
          </a:prstGeom>
          <a:solidFill>
            <a:srgbClr val="FFFFFF"/>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89020" y="3941064"/>
            <a:ext cx="2327148" cy="369332"/>
          </a:xfrm>
          <a:prstGeom prst="rect">
            <a:avLst/>
          </a:prstGeom>
          <a:noFill/>
        </p:spPr>
        <p:txBody>
          <a:bodyPr wrap="square" lIns="45720" rIns="45720" anchor="t">
            <a:spAutoFit/>
          </a:bodyPr>
          <a:lstStyle/>
          <a:p>
            <a:pPr algn="ctr"/>
            <a:r>
              <a:rPr b="1" dirty="0">
                <a:solidFill>
                  <a:srgbClr val="2D9B9B"/>
                </a:solidFill>
                <a:latin typeface="Aptos"/>
              </a:rPr>
              <a:t>💭 THINK</a:t>
            </a:r>
          </a:p>
        </p:txBody>
      </p:sp>
      <p:sp>
        <p:nvSpPr>
          <p:cNvPr id="14" name="TextBox 13"/>
          <p:cNvSpPr txBox="1"/>
          <p:nvPr/>
        </p:nvSpPr>
        <p:spPr>
          <a:xfrm>
            <a:off x="3589020" y="4270248"/>
            <a:ext cx="2327148" cy="461665"/>
          </a:xfrm>
          <a:prstGeom prst="rect">
            <a:avLst/>
          </a:prstGeom>
          <a:noFill/>
        </p:spPr>
        <p:txBody>
          <a:bodyPr wrap="square" lIns="45720" rIns="45720" anchor="t">
            <a:spAutoFit/>
          </a:bodyPr>
          <a:lstStyle/>
          <a:p>
            <a:pPr algn="ctr"/>
            <a:r>
              <a:rPr sz="2400" b="0" dirty="0">
                <a:solidFill>
                  <a:srgbClr val="677484"/>
                </a:solidFill>
                <a:latin typeface="Aptos"/>
              </a:rPr>
              <a:t>about it</a:t>
            </a:r>
          </a:p>
        </p:txBody>
      </p:sp>
      <p:sp>
        <p:nvSpPr>
          <p:cNvPr id="15" name="Rounded Rectangle 14"/>
          <p:cNvSpPr/>
          <p:nvPr/>
        </p:nvSpPr>
        <p:spPr>
          <a:xfrm>
            <a:off x="6227064" y="3794760"/>
            <a:ext cx="2546604" cy="1051560"/>
          </a:xfrm>
          <a:prstGeom prst="roundRect">
            <a:avLst/>
          </a:prstGeom>
          <a:solidFill>
            <a:srgbClr val="FFFFFF"/>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36792" y="3941064"/>
            <a:ext cx="2327148" cy="369332"/>
          </a:xfrm>
          <a:prstGeom prst="rect">
            <a:avLst/>
          </a:prstGeom>
          <a:noFill/>
        </p:spPr>
        <p:txBody>
          <a:bodyPr wrap="square" lIns="45720" rIns="45720" anchor="t">
            <a:spAutoFit/>
          </a:bodyPr>
          <a:lstStyle/>
          <a:p>
            <a:pPr algn="ctr"/>
            <a:r>
              <a:rPr b="1" dirty="0">
                <a:solidFill>
                  <a:srgbClr val="E06958"/>
                </a:solidFill>
                <a:latin typeface="Aptos"/>
              </a:rPr>
              <a:t>🎯 WORK IT OUT</a:t>
            </a:r>
          </a:p>
        </p:txBody>
      </p:sp>
      <p:sp>
        <p:nvSpPr>
          <p:cNvPr id="17" name="TextBox 16"/>
          <p:cNvSpPr txBox="1"/>
          <p:nvPr/>
        </p:nvSpPr>
        <p:spPr>
          <a:xfrm>
            <a:off x="6336792" y="4270248"/>
            <a:ext cx="2327148" cy="400110"/>
          </a:xfrm>
          <a:prstGeom prst="rect">
            <a:avLst/>
          </a:prstGeom>
          <a:noFill/>
        </p:spPr>
        <p:txBody>
          <a:bodyPr wrap="square" lIns="45720" rIns="45720" anchor="t">
            <a:spAutoFit/>
          </a:bodyPr>
          <a:lstStyle/>
          <a:p>
            <a:pPr algn="ctr"/>
            <a:r>
              <a:rPr sz="2000" b="0" dirty="0">
                <a:solidFill>
                  <a:srgbClr val="677484"/>
                </a:solidFill>
                <a:latin typeface="Aptos"/>
              </a:rPr>
              <a:t>the idea</a:t>
            </a:r>
          </a:p>
        </p:txBody>
      </p:sp>
      <p:sp>
        <p:nvSpPr>
          <p:cNvPr id="18" name="Rounded Rectangle 17"/>
          <p:cNvSpPr/>
          <p:nvPr/>
        </p:nvSpPr>
        <p:spPr>
          <a:xfrm>
            <a:off x="8974836" y="3794760"/>
            <a:ext cx="2546604" cy="1051560"/>
          </a:xfrm>
          <a:prstGeom prst="roundRect">
            <a:avLst/>
          </a:prstGeom>
          <a:solidFill>
            <a:srgbClr val="FFFFFF"/>
          </a:solidFill>
          <a:ln w="12700">
            <a:solidFill>
              <a:srgbClr val="4A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84564" y="3941064"/>
            <a:ext cx="2327148" cy="338554"/>
          </a:xfrm>
          <a:prstGeom prst="rect">
            <a:avLst/>
          </a:prstGeom>
          <a:noFill/>
        </p:spPr>
        <p:txBody>
          <a:bodyPr wrap="square" lIns="45720" rIns="45720" anchor="t">
            <a:spAutoFit/>
          </a:bodyPr>
          <a:lstStyle/>
          <a:p>
            <a:pPr algn="ctr"/>
            <a:r>
              <a:rPr sz="1600" b="1" dirty="0">
                <a:solidFill>
                  <a:srgbClr val="4A74AA"/>
                </a:solidFill>
                <a:latin typeface="Aptos"/>
              </a:rPr>
              <a:t>📌 PROVE IT</a:t>
            </a:r>
          </a:p>
        </p:txBody>
      </p:sp>
      <p:sp>
        <p:nvSpPr>
          <p:cNvPr id="20" name="TextBox 19"/>
          <p:cNvSpPr txBox="1"/>
          <p:nvPr/>
        </p:nvSpPr>
        <p:spPr>
          <a:xfrm>
            <a:off x="9084564" y="4270248"/>
            <a:ext cx="2327148" cy="400110"/>
          </a:xfrm>
          <a:prstGeom prst="rect">
            <a:avLst/>
          </a:prstGeom>
          <a:noFill/>
        </p:spPr>
        <p:txBody>
          <a:bodyPr wrap="square" lIns="45720" rIns="45720" anchor="t">
            <a:spAutoFit/>
          </a:bodyPr>
          <a:lstStyle/>
          <a:p>
            <a:pPr algn="ctr"/>
            <a:r>
              <a:rPr sz="2000" b="0" dirty="0">
                <a:solidFill>
                  <a:srgbClr val="677484"/>
                </a:solidFill>
                <a:latin typeface="Aptos"/>
              </a:rPr>
              <a:t>with evidence</a:t>
            </a:r>
          </a:p>
        </p:txBody>
      </p:sp>
      <p:sp>
        <p:nvSpPr>
          <p:cNvPr id="21" name="TextBox 20"/>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2" name="TextBox 21"/>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22352"/>
            <a:ext cx="6400800" cy="400110"/>
          </a:xfrm>
          <a:prstGeom prst="rect">
            <a:avLst/>
          </a:prstGeom>
          <a:noFill/>
        </p:spPr>
        <p:txBody>
          <a:bodyPr wrap="square" lIns="45720" rIns="45720" anchor="t">
            <a:spAutoFit/>
          </a:bodyPr>
          <a:lstStyle/>
          <a:p>
            <a:pPr algn="l"/>
            <a:r>
              <a:rPr sz="2000" b="1" dirty="0">
                <a:solidFill>
                  <a:srgbClr val="E8B446"/>
                </a:solidFill>
                <a:latin typeface="Aptos"/>
              </a:rPr>
              <a:t>STARTER</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What does the text tell us?</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03</a:t>
            </a:r>
          </a:p>
        </p:txBody>
      </p:sp>
      <p:sp>
        <p:nvSpPr>
          <p:cNvPr id="6" name="Rounded Rectangle 5"/>
          <p:cNvSpPr/>
          <p:nvPr/>
        </p:nvSpPr>
        <p:spPr>
          <a:xfrm>
            <a:off x="731520" y="1508760"/>
            <a:ext cx="10698480" cy="123444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508760"/>
            <a:ext cx="109728" cy="1234440"/>
          </a:xfrm>
          <a:prstGeom prst="rect">
            <a:avLst/>
          </a:prstGeom>
          <a:solidFill>
            <a:srgbClr val="2D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45919"/>
            <a:ext cx="365760" cy="365760"/>
          </a:xfrm>
          <a:prstGeom prst="rect">
            <a:avLst/>
          </a:prstGeom>
          <a:noFill/>
        </p:spPr>
        <p:txBody>
          <a:bodyPr wrap="square" lIns="45720" rIns="45720" anchor="t">
            <a:spAutoFit/>
          </a:bodyPr>
          <a:lstStyle/>
          <a:p>
            <a:pPr algn="l"/>
            <a:r>
              <a:rPr sz="3200" b="1">
                <a:solidFill>
                  <a:srgbClr val="2D9B9B"/>
                </a:solidFill>
                <a:latin typeface="Aptos"/>
              </a:rPr>
              <a:t>“</a:t>
            </a:r>
          </a:p>
        </p:txBody>
      </p:sp>
      <p:sp>
        <p:nvSpPr>
          <p:cNvPr id="9" name="TextBox 8"/>
          <p:cNvSpPr txBox="1"/>
          <p:nvPr/>
        </p:nvSpPr>
        <p:spPr>
          <a:xfrm>
            <a:off x="1508760" y="1755648"/>
            <a:ext cx="9601200" cy="822960"/>
          </a:xfrm>
          <a:prstGeom prst="rect">
            <a:avLst/>
          </a:prstGeom>
          <a:noFill/>
        </p:spPr>
        <p:txBody>
          <a:bodyPr wrap="square" lIns="45720" rIns="45720" anchor="t">
            <a:spAutoFit/>
          </a:bodyPr>
          <a:lstStyle/>
          <a:p>
            <a:pPr algn="l"/>
            <a:r>
              <a:rPr sz="2400" b="1" dirty="0">
                <a:solidFill>
                  <a:srgbClr val="1F2937"/>
                </a:solidFill>
                <a:latin typeface="Aptos Display"/>
              </a:rPr>
              <a:t>By noon, the playground had almost no shade. Several students moved underneath the covered walkway.</a:t>
            </a:r>
          </a:p>
        </p:txBody>
      </p:sp>
      <p:sp>
        <p:nvSpPr>
          <p:cNvPr id="10" name="TextBox 9"/>
          <p:cNvSpPr txBox="1"/>
          <p:nvPr/>
        </p:nvSpPr>
        <p:spPr>
          <a:xfrm>
            <a:off x="777240" y="2917888"/>
            <a:ext cx="4114800" cy="461665"/>
          </a:xfrm>
          <a:prstGeom prst="rect">
            <a:avLst/>
          </a:prstGeom>
          <a:noFill/>
        </p:spPr>
        <p:txBody>
          <a:bodyPr wrap="square" lIns="45720" rIns="45720" anchor="t">
            <a:spAutoFit/>
          </a:bodyPr>
          <a:lstStyle/>
          <a:p>
            <a:pPr algn="l"/>
            <a:r>
              <a:rPr sz="2400" b="1" dirty="0">
                <a:solidFill>
                  <a:srgbClr val="E8B446"/>
                </a:solidFill>
                <a:latin typeface="Aptos"/>
              </a:rPr>
              <a:t>WHAT DO WE KNOW?</a:t>
            </a:r>
          </a:p>
        </p:txBody>
      </p:sp>
      <p:sp>
        <p:nvSpPr>
          <p:cNvPr id="11" name="Rounded Rectangle 10"/>
          <p:cNvSpPr/>
          <p:nvPr/>
        </p:nvSpPr>
        <p:spPr>
          <a:xfrm>
            <a:off x="777240" y="3566160"/>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721608"/>
            <a:ext cx="320040" cy="274320"/>
          </a:xfrm>
          <a:prstGeom prst="rect">
            <a:avLst/>
          </a:prstGeom>
          <a:noFill/>
        </p:spPr>
        <p:txBody>
          <a:bodyPr wrap="square" lIns="45720" rIns="45720" anchor="t">
            <a:spAutoFit/>
          </a:bodyPr>
          <a:lstStyle/>
          <a:p>
            <a:pPr algn="l"/>
            <a:r>
              <a:rPr sz="1500" b="1">
                <a:solidFill>
                  <a:srgbClr val="162338"/>
                </a:solidFill>
                <a:latin typeface="Aptos"/>
              </a:rPr>
              <a:t>A</a:t>
            </a:r>
          </a:p>
        </p:txBody>
      </p:sp>
      <p:sp>
        <p:nvSpPr>
          <p:cNvPr id="13" name="TextBox 12"/>
          <p:cNvSpPr txBox="1"/>
          <p:nvPr/>
        </p:nvSpPr>
        <p:spPr>
          <a:xfrm>
            <a:off x="1417319" y="3675887"/>
            <a:ext cx="9738360" cy="461665"/>
          </a:xfrm>
          <a:prstGeom prst="rect">
            <a:avLst/>
          </a:prstGeom>
          <a:noFill/>
        </p:spPr>
        <p:txBody>
          <a:bodyPr wrap="square" lIns="45720" rIns="45720" anchor="t">
            <a:spAutoFit/>
          </a:bodyPr>
          <a:lstStyle/>
          <a:p>
            <a:pPr algn="l"/>
            <a:r>
              <a:rPr sz="2400" b="0" dirty="0">
                <a:solidFill>
                  <a:srgbClr val="1F2937"/>
                </a:solidFill>
                <a:latin typeface="Aptos"/>
              </a:rPr>
              <a:t>The students were playing football.</a:t>
            </a:r>
          </a:p>
        </p:txBody>
      </p:sp>
      <p:sp>
        <p:nvSpPr>
          <p:cNvPr id="14" name="Rounded Rectangle 13"/>
          <p:cNvSpPr/>
          <p:nvPr/>
        </p:nvSpPr>
        <p:spPr>
          <a:xfrm>
            <a:off x="777240" y="4389120"/>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581144"/>
            <a:ext cx="320040" cy="274320"/>
          </a:xfrm>
          <a:prstGeom prst="rect">
            <a:avLst/>
          </a:prstGeom>
          <a:noFill/>
        </p:spPr>
        <p:txBody>
          <a:bodyPr wrap="square" lIns="45720" rIns="45720" anchor="t">
            <a:spAutoFit/>
          </a:bodyPr>
          <a:lstStyle/>
          <a:p>
            <a:pPr algn="l"/>
            <a:r>
              <a:rPr sz="1500" b="1">
                <a:solidFill>
                  <a:srgbClr val="162338"/>
                </a:solidFill>
                <a:latin typeface="Aptos"/>
              </a:rPr>
              <a:t>B</a:t>
            </a:r>
          </a:p>
        </p:txBody>
      </p:sp>
      <p:sp>
        <p:nvSpPr>
          <p:cNvPr id="17" name="Rounded Rectangle 16"/>
          <p:cNvSpPr/>
          <p:nvPr/>
        </p:nvSpPr>
        <p:spPr>
          <a:xfrm>
            <a:off x="777240" y="5321808"/>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8" y="5440679"/>
            <a:ext cx="320040" cy="323165"/>
          </a:xfrm>
          <a:prstGeom prst="rect">
            <a:avLst/>
          </a:prstGeom>
          <a:noFill/>
        </p:spPr>
        <p:txBody>
          <a:bodyPr wrap="square" lIns="45720" rIns="45720" anchor="t">
            <a:spAutoFit/>
          </a:bodyPr>
          <a:lstStyle/>
          <a:p>
            <a:pPr algn="l"/>
            <a:r>
              <a:rPr sz="1500" b="1" dirty="0">
                <a:solidFill>
                  <a:srgbClr val="162338"/>
                </a:solidFill>
                <a:latin typeface="Aptos"/>
              </a:rPr>
              <a:t>C</a:t>
            </a:r>
            <a:r>
              <a:rPr lang="en-US" sz="1500" b="1" dirty="0">
                <a:solidFill>
                  <a:srgbClr val="162338"/>
                </a:solidFill>
                <a:latin typeface="Aptos"/>
              </a:rPr>
              <a:t>   </a:t>
            </a:r>
            <a:endParaRPr sz="1500" b="1" dirty="0">
              <a:solidFill>
                <a:srgbClr val="162338"/>
              </a:solidFill>
              <a:latin typeface="Aptos"/>
            </a:endParaRPr>
          </a:p>
        </p:txBody>
      </p:sp>
      <p:sp>
        <p:nvSpPr>
          <p:cNvPr id="19" name="TextBox 18"/>
          <p:cNvSpPr txBox="1"/>
          <p:nvPr/>
        </p:nvSpPr>
        <p:spPr>
          <a:xfrm>
            <a:off x="1499616" y="4557740"/>
            <a:ext cx="9738360" cy="461665"/>
          </a:xfrm>
          <a:prstGeom prst="rect">
            <a:avLst/>
          </a:prstGeom>
          <a:noFill/>
        </p:spPr>
        <p:txBody>
          <a:bodyPr wrap="square" lIns="45720" rIns="45720" anchor="t">
            <a:spAutoFit/>
          </a:bodyPr>
          <a:lstStyle/>
          <a:p>
            <a:pPr algn="l"/>
            <a:r>
              <a:rPr sz="2400" b="0" dirty="0">
                <a:solidFill>
                  <a:srgbClr val="1F2937"/>
                </a:solidFill>
                <a:latin typeface="Aptos"/>
              </a:rPr>
              <a:t>The students were waiting for their parents.</a:t>
            </a:r>
          </a:p>
        </p:txBody>
      </p:sp>
      <p:sp>
        <p:nvSpPr>
          <p:cNvPr id="20" name="TextBox 19"/>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1" name="TextBox 20"/>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
        <p:nvSpPr>
          <p:cNvPr id="23" name="TextBox 22">
            <a:extLst>
              <a:ext uri="{FF2B5EF4-FFF2-40B4-BE49-F238E27FC236}">
                <a16:creationId xmlns:a16="http://schemas.microsoft.com/office/drawing/2014/main" id="{EFF1F52A-0CB6-00F5-D9A3-CFAA238E38F9}"/>
              </a:ext>
            </a:extLst>
          </p:cNvPr>
          <p:cNvSpPr txBox="1"/>
          <p:nvPr/>
        </p:nvSpPr>
        <p:spPr>
          <a:xfrm>
            <a:off x="1554480" y="5430992"/>
            <a:ext cx="9738360" cy="461665"/>
          </a:xfrm>
          <a:prstGeom prst="rect">
            <a:avLst/>
          </a:prstGeom>
          <a:noFill/>
        </p:spPr>
        <p:txBody>
          <a:bodyPr wrap="square" lIns="45720" rIns="45720" anchor="t">
            <a:spAutoFit/>
          </a:bodyPr>
          <a:lstStyle/>
          <a:p>
            <a:pPr algn="l"/>
            <a:r>
              <a:rPr sz="2400" b="0" dirty="0">
                <a:solidFill>
                  <a:srgbClr val="1F2937"/>
                </a:solidFill>
                <a:latin typeface="Aptos"/>
              </a:rPr>
              <a:t>There was very little shade on the playground.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The answer is explicit</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04</a:t>
            </a:r>
          </a:p>
        </p:txBody>
      </p:sp>
      <p:sp>
        <p:nvSpPr>
          <p:cNvPr id="6" name="Rounded Rectangle 5"/>
          <p:cNvSpPr/>
          <p:nvPr/>
        </p:nvSpPr>
        <p:spPr>
          <a:xfrm>
            <a:off x="777240" y="1554480"/>
            <a:ext cx="1828800" cy="384048"/>
          </a:xfrm>
          <a:prstGeom prst="roundRect">
            <a:avLst/>
          </a:prstGeom>
          <a:solidFill>
            <a:srgbClr val="4F9167"/>
          </a:solidFill>
          <a:ln w="12700">
            <a:solidFill>
              <a:srgbClr val="4F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3" y="1532733"/>
            <a:ext cx="1719072" cy="400110"/>
          </a:xfrm>
          <a:prstGeom prst="rect">
            <a:avLst/>
          </a:prstGeom>
          <a:noFill/>
        </p:spPr>
        <p:txBody>
          <a:bodyPr wrap="square" lIns="45720" rIns="45720" anchor="ctr">
            <a:spAutoFit/>
          </a:bodyPr>
          <a:lstStyle/>
          <a:p>
            <a:pPr algn="ctr"/>
            <a:r>
              <a:rPr sz="2000" b="1" dirty="0">
                <a:solidFill>
                  <a:srgbClr val="FFFFFF"/>
                </a:solidFill>
                <a:latin typeface="Aptos"/>
              </a:rPr>
              <a:t>✓ ANSWER  </a:t>
            </a:r>
            <a:r>
              <a:rPr lang="en-US" sz="2000" b="1" dirty="0">
                <a:solidFill>
                  <a:srgbClr val="FFFFFF"/>
                </a:solidFill>
                <a:latin typeface="Aptos"/>
              </a:rPr>
              <a:t>C</a:t>
            </a:r>
            <a:endParaRPr sz="2000" b="1" dirty="0">
              <a:solidFill>
                <a:srgbClr val="FFFFFF"/>
              </a:solidFill>
              <a:latin typeface="Aptos"/>
            </a:endParaRPr>
          </a:p>
        </p:txBody>
      </p:sp>
      <p:sp>
        <p:nvSpPr>
          <p:cNvPr id="8" name="TextBox 7"/>
          <p:cNvSpPr txBox="1"/>
          <p:nvPr/>
        </p:nvSpPr>
        <p:spPr>
          <a:xfrm>
            <a:off x="777240" y="2148840"/>
            <a:ext cx="10241280" cy="594360"/>
          </a:xfrm>
          <a:prstGeom prst="rect">
            <a:avLst/>
          </a:prstGeom>
          <a:noFill/>
        </p:spPr>
        <p:txBody>
          <a:bodyPr wrap="square" lIns="45720" rIns="45720" anchor="t">
            <a:spAutoFit/>
          </a:bodyPr>
          <a:lstStyle/>
          <a:p>
            <a:pPr algn="l"/>
            <a:r>
              <a:rPr sz="2500" b="1">
                <a:solidFill>
                  <a:srgbClr val="1F2937"/>
                </a:solidFill>
                <a:latin typeface="Aptos Display"/>
              </a:rPr>
              <a:t>There was very little shade on the playground.</a:t>
            </a:r>
          </a:p>
        </p:txBody>
      </p:sp>
      <p:sp>
        <p:nvSpPr>
          <p:cNvPr id="9" name="Rounded Rectangle 8"/>
          <p:cNvSpPr/>
          <p:nvPr/>
        </p:nvSpPr>
        <p:spPr>
          <a:xfrm>
            <a:off x="777240" y="3063240"/>
            <a:ext cx="10241280" cy="96012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3063240"/>
            <a:ext cx="109728" cy="960120"/>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200400"/>
            <a:ext cx="365760" cy="365760"/>
          </a:xfrm>
          <a:prstGeom prst="rect">
            <a:avLst/>
          </a:prstGeom>
          <a:noFill/>
        </p:spPr>
        <p:txBody>
          <a:bodyPr wrap="square" lIns="45720" rIns="45720" anchor="t">
            <a:spAutoFit/>
          </a:bodyPr>
          <a:lstStyle/>
          <a:p>
            <a:pPr algn="l"/>
            <a:r>
              <a:rPr sz="3200" b="1">
                <a:solidFill>
                  <a:srgbClr val="E8B446"/>
                </a:solidFill>
                <a:latin typeface="Aptos"/>
              </a:rPr>
              <a:t>“</a:t>
            </a:r>
          </a:p>
        </p:txBody>
      </p:sp>
      <p:sp>
        <p:nvSpPr>
          <p:cNvPr id="12" name="TextBox 11"/>
          <p:cNvSpPr txBox="1"/>
          <p:nvPr/>
        </p:nvSpPr>
        <p:spPr>
          <a:xfrm>
            <a:off x="1554480" y="3310128"/>
            <a:ext cx="9144000" cy="548640"/>
          </a:xfrm>
          <a:prstGeom prst="rect">
            <a:avLst/>
          </a:prstGeom>
          <a:noFill/>
        </p:spPr>
        <p:txBody>
          <a:bodyPr wrap="square" lIns="45720" rIns="45720" anchor="t">
            <a:spAutoFit/>
          </a:bodyPr>
          <a:lstStyle/>
          <a:p>
            <a:pPr algn="l"/>
            <a:r>
              <a:rPr sz="2100" b="1">
                <a:solidFill>
                  <a:srgbClr val="1F2937"/>
                </a:solidFill>
                <a:latin typeface="Aptos Display"/>
              </a:rPr>
              <a:t>“the playground had almost no shade.”</a:t>
            </a:r>
          </a:p>
        </p:txBody>
      </p:sp>
      <p:sp>
        <p:nvSpPr>
          <p:cNvPr id="13" name="Rounded Rectangle 12"/>
          <p:cNvSpPr/>
          <p:nvPr/>
        </p:nvSpPr>
        <p:spPr>
          <a:xfrm>
            <a:off x="777240" y="4343400"/>
            <a:ext cx="1508760" cy="384048"/>
          </a:xfrm>
          <a:prstGeom prst="roundRect">
            <a:avLst/>
          </a:prstGeom>
          <a:solidFill>
            <a:srgbClr val="162338"/>
          </a:solidFill>
          <a:ln w="12700">
            <a:solidFill>
              <a:srgbClr val="16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3" y="4393692"/>
            <a:ext cx="1399031" cy="256032"/>
          </a:xfrm>
          <a:prstGeom prst="rect">
            <a:avLst/>
          </a:prstGeom>
          <a:noFill/>
        </p:spPr>
        <p:txBody>
          <a:bodyPr wrap="square" lIns="45720" rIns="45720" anchor="ctr">
            <a:spAutoFit/>
          </a:bodyPr>
          <a:lstStyle/>
          <a:p>
            <a:pPr algn="ctr"/>
            <a:r>
              <a:rPr sz="1000" b="1">
                <a:solidFill>
                  <a:srgbClr val="FFFFFF"/>
                </a:solidFill>
                <a:latin typeface="Aptos"/>
              </a:rPr>
              <a:t>EXPLICIT</a:t>
            </a:r>
          </a:p>
        </p:txBody>
      </p:sp>
      <p:sp>
        <p:nvSpPr>
          <p:cNvPr id="15" name="TextBox 14"/>
          <p:cNvSpPr txBox="1"/>
          <p:nvPr/>
        </p:nvSpPr>
        <p:spPr>
          <a:xfrm>
            <a:off x="2514600" y="4370832"/>
            <a:ext cx="7772400" cy="461665"/>
          </a:xfrm>
          <a:prstGeom prst="rect">
            <a:avLst/>
          </a:prstGeom>
          <a:noFill/>
        </p:spPr>
        <p:txBody>
          <a:bodyPr wrap="square" lIns="45720" rIns="45720" anchor="t">
            <a:spAutoFit/>
          </a:bodyPr>
          <a:lstStyle/>
          <a:p>
            <a:pPr algn="l"/>
            <a:r>
              <a:rPr sz="2400" b="0" dirty="0">
                <a:solidFill>
                  <a:srgbClr val="677484"/>
                </a:solidFill>
                <a:latin typeface="Aptos"/>
              </a:rPr>
              <a:t>The information is directly stated in the text.</a:t>
            </a:r>
          </a:p>
        </p:txBody>
      </p:sp>
      <p:sp>
        <p:nvSpPr>
          <p:cNvPr id="16" name="TextBox 15"/>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7" name="TextBox 16"/>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MISSION 2</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What can we infer?</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05</a:t>
            </a:r>
          </a:p>
        </p:txBody>
      </p:sp>
      <p:sp>
        <p:nvSpPr>
          <p:cNvPr id="6" name="Rounded Rectangle 5"/>
          <p:cNvSpPr/>
          <p:nvPr/>
        </p:nvSpPr>
        <p:spPr>
          <a:xfrm>
            <a:off x="731520" y="1417320"/>
            <a:ext cx="10698480" cy="114300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417320"/>
            <a:ext cx="109728" cy="1143000"/>
          </a:xfrm>
          <a:prstGeom prst="rect">
            <a:avLst/>
          </a:prstGeom>
          <a:solidFill>
            <a:srgbClr val="2D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554480"/>
            <a:ext cx="365760" cy="365760"/>
          </a:xfrm>
          <a:prstGeom prst="rect">
            <a:avLst/>
          </a:prstGeom>
          <a:noFill/>
        </p:spPr>
        <p:txBody>
          <a:bodyPr wrap="square" lIns="45720" rIns="45720" anchor="t">
            <a:spAutoFit/>
          </a:bodyPr>
          <a:lstStyle/>
          <a:p>
            <a:pPr algn="l"/>
            <a:r>
              <a:rPr sz="3200" b="1">
                <a:solidFill>
                  <a:srgbClr val="2D9B9B"/>
                </a:solidFill>
                <a:latin typeface="Aptos"/>
              </a:rPr>
              <a:t>“</a:t>
            </a:r>
          </a:p>
        </p:txBody>
      </p:sp>
      <p:sp>
        <p:nvSpPr>
          <p:cNvPr id="9" name="TextBox 8"/>
          <p:cNvSpPr txBox="1"/>
          <p:nvPr/>
        </p:nvSpPr>
        <p:spPr>
          <a:xfrm>
            <a:off x="1508760" y="1664208"/>
            <a:ext cx="9601200" cy="830997"/>
          </a:xfrm>
          <a:prstGeom prst="rect">
            <a:avLst/>
          </a:prstGeom>
          <a:noFill/>
        </p:spPr>
        <p:txBody>
          <a:bodyPr wrap="square" lIns="45720" rIns="45720" anchor="t">
            <a:spAutoFit/>
          </a:bodyPr>
          <a:lstStyle/>
          <a:p>
            <a:pPr algn="l"/>
            <a:r>
              <a:rPr sz="2400" b="1" dirty="0">
                <a:solidFill>
                  <a:srgbClr val="1F2937"/>
                </a:solidFill>
                <a:latin typeface="Aptos Display"/>
              </a:rPr>
              <a:t>By noon, the playground had almost no shade. Several students moved underneath the covered walkway.</a:t>
            </a:r>
          </a:p>
        </p:txBody>
      </p:sp>
      <p:sp>
        <p:nvSpPr>
          <p:cNvPr id="10" name="TextBox 9"/>
          <p:cNvSpPr txBox="1"/>
          <p:nvPr/>
        </p:nvSpPr>
        <p:spPr>
          <a:xfrm>
            <a:off x="777240" y="2788920"/>
            <a:ext cx="8686800" cy="411480"/>
          </a:xfrm>
          <a:prstGeom prst="rect">
            <a:avLst/>
          </a:prstGeom>
          <a:noFill/>
        </p:spPr>
        <p:txBody>
          <a:bodyPr wrap="square" lIns="45720" rIns="45720" anchor="t">
            <a:spAutoFit/>
          </a:bodyPr>
          <a:lstStyle/>
          <a:p>
            <a:pPr algn="l"/>
            <a:r>
              <a:rPr sz="2000" b="1" dirty="0">
                <a:solidFill>
                  <a:srgbClr val="1F2937"/>
                </a:solidFill>
                <a:latin typeface="Aptos"/>
              </a:rPr>
              <a:t>Now look beyond what the writer says directly.</a:t>
            </a:r>
          </a:p>
        </p:txBody>
      </p:sp>
      <p:sp>
        <p:nvSpPr>
          <p:cNvPr id="11" name="Rounded Rectangle 10"/>
          <p:cNvSpPr/>
          <p:nvPr/>
        </p:nvSpPr>
        <p:spPr>
          <a:xfrm>
            <a:off x="777240" y="3337560"/>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493008"/>
            <a:ext cx="320040" cy="274320"/>
          </a:xfrm>
          <a:prstGeom prst="rect">
            <a:avLst/>
          </a:prstGeom>
          <a:noFill/>
        </p:spPr>
        <p:txBody>
          <a:bodyPr wrap="square" lIns="45720" rIns="45720" anchor="t">
            <a:spAutoFit/>
          </a:bodyPr>
          <a:lstStyle/>
          <a:p>
            <a:pPr algn="l"/>
            <a:r>
              <a:rPr sz="1500" b="1">
                <a:solidFill>
                  <a:srgbClr val="162338"/>
                </a:solidFill>
                <a:latin typeface="Aptos"/>
              </a:rPr>
              <a:t>A</a:t>
            </a:r>
          </a:p>
        </p:txBody>
      </p:sp>
      <p:sp>
        <p:nvSpPr>
          <p:cNvPr id="13" name="TextBox 12"/>
          <p:cNvSpPr txBox="1"/>
          <p:nvPr/>
        </p:nvSpPr>
        <p:spPr>
          <a:xfrm>
            <a:off x="1417319" y="3447288"/>
            <a:ext cx="9738360" cy="461665"/>
          </a:xfrm>
          <a:prstGeom prst="rect">
            <a:avLst/>
          </a:prstGeom>
          <a:noFill/>
        </p:spPr>
        <p:txBody>
          <a:bodyPr wrap="square" lIns="45720" rIns="45720" anchor="t">
            <a:spAutoFit/>
          </a:bodyPr>
          <a:lstStyle/>
          <a:p>
            <a:pPr algn="l"/>
            <a:r>
              <a:rPr sz="2400" b="0" dirty="0">
                <a:solidFill>
                  <a:srgbClr val="1F2937"/>
                </a:solidFill>
                <a:latin typeface="Aptos"/>
              </a:rPr>
              <a:t>The students probably wanted protection from the sun.</a:t>
            </a:r>
          </a:p>
        </p:txBody>
      </p:sp>
      <p:sp>
        <p:nvSpPr>
          <p:cNvPr id="14" name="Rounded Rectangle 13"/>
          <p:cNvSpPr/>
          <p:nvPr/>
        </p:nvSpPr>
        <p:spPr>
          <a:xfrm>
            <a:off x="777240" y="4197096"/>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352544"/>
            <a:ext cx="320040" cy="274320"/>
          </a:xfrm>
          <a:prstGeom prst="rect">
            <a:avLst/>
          </a:prstGeom>
          <a:noFill/>
        </p:spPr>
        <p:txBody>
          <a:bodyPr wrap="square" lIns="45720" rIns="45720" anchor="t">
            <a:spAutoFit/>
          </a:bodyPr>
          <a:lstStyle/>
          <a:p>
            <a:pPr algn="l"/>
            <a:r>
              <a:rPr sz="1500" b="1">
                <a:solidFill>
                  <a:srgbClr val="162338"/>
                </a:solidFill>
                <a:latin typeface="Aptos"/>
              </a:rPr>
              <a:t>B</a:t>
            </a:r>
          </a:p>
        </p:txBody>
      </p:sp>
      <p:sp>
        <p:nvSpPr>
          <p:cNvPr id="16" name="TextBox 15"/>
          <p:cNvSpPr txBox="1"/>
          <p:nvPr/>
        </p:nvSpPr>
        <p:spPr>
          <a:xfrm>
            <a:off x="1417319" y="4306824"/>
            <a:ext cx="9738360" cy="461665"/>
          </a:xfrm>
          <a:prstGeom prst="rect">
            <a:avLst/>
          </a:prstGeom>
          <a:noFill/>
        </p:spPr>
        <p:txBody>
          <a:bodyPr wrap="square" lIns="45720" rIns="45720" anchor="t">
            <a:spAutoFit/>
          </a:bodyPr>
          <a:lstStyle/>
          <a:p>
            <a:pPr algn="l"/>
            <a:r>
              <a:rPr sz="2400" b="0" dirty="0">
                <a:solidFill>
                  <a:srgbClr val="1F2937"/>
                </a:solidFill>
                <a:latin typeface="Aptos"/>
              </a:rPr>
              <a:t>The students wanted to leave school.</a:t>
            </a:r>
          </a:p>
        </p:txBody>
      </p:sp>
      <p:sp>
        <p:nvSpPr>
          <p:cNvPr id="17" name="Rounded Rectangle 16"/>
          <p:cNvSpPr/>
          <p:nvPr/>
        </p:nvSpPr>
        <p:spPr>
          <a:xfrm>
            <a:off x="777240" y="5056631"/>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8" y="5212079"/>
            <a:ext cx="320040" cy="274320"/>
          </a:xfrm>
          <a:prstGeom prst="rect">
            <a:avLst/>
          </a:prstGeom>
          <a:noFill/>
        </p:spPr>
        <p:txBody>
          <a:bodyPr wrap="square" lIns="45720" rIns="45720" anchor="t">
            <a:spAutoFit/>
          </a:bodyPr>
          <a:lstStyle/>
          <a:p>
            <a:pPr algn="l"/>
            <a:r>
              <a:rPr sz="1500" b="1">
                <a:solidFill>
                  <a:srgbClr val="162338"/>
                </a:solidFill>
                <a:latin typeface="Aptos"/>
              </a:rPr>
              <a:t>C</a:t>
            </a:r>
          </a:p>
        </p:txBody>
      </p:sp>
      <p:sp>
        <p:nvSpPr>
          <p:cNvPr id="19" name="TextBox 18"/>
          <p:cNvSpPr txBox="1"/>
          <p:nvPr/>
        </p:nvSpPr>
        <p:spPr>
          <a:xfrm>
            <a:off x="1417319" y="5166359"/>
            <a:ext cx="9738360" cy="461665"/>
          </a:xfrm>
          <a:prstGeom prst="rect">
            <a:avLst/>
          </a:prstGeom>
          <a:noFill/>
        </p:spPr>
        <p:txBody>
          <a:bodyPr wrap="square" lIns="45720" rIns="45720" anchor="t">
            <a:spAutoFit/>
          </a:bodyPr>
          <a:lstStyle/>
          <a:p>
            <a:pPr algn="l"/>
            <a:r>
              <a:rPr sz="2400" b="0" dirty="0">
                <a:solidFill>
                  <a:srgbClr val="1F2937"/>
                </a:solidFill>
                <a:latin typeface="Aptos"/>
              </a:rPr>
              <a:t>The students were looking for their books.</a:t>
            </a:r>
          </a:p>
        </p:txBody>
      </p:sp>
      <p:sp>
        <p:nvSpPr>
          <p:cNvPr id="20" name="TextBox 19"/>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1" name="TextBox 20"/>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Inference = clue + thinking</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06</a:t>
            </a:r>
          </a:p>
        </p:txBody>
      </p:sp>
      <p:sp>
        <p:nvSpPr>
          <p:cNvPr id="6" name="Rounded Rectangle 5"/>
          <p:cNvSpPr/>
          <p:nvPr/>
        </p:nvSpPr>
        <p:spPr>
          <a:xfrm>
            <a:off x="777240" y="1417320"/>
            <a:ext cx="1828800" cy="384048"/>
          </a:xfrm>
          <a:prstGeom prst="roundRect">
            <a:avLst/>
          </a:prstGeom>
          <a:solidFill>
            <a:srgbClr val="4F9167"/>
          </a:solidFill>
          <a:ln w="12700">
            <a:solidFill>
              <a:srgbClr val="4F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3" y="1395573"/>
            <a:ext cx="1719072" cy="400110"/>
          </a:xfrm>
          <a:prstGeom prst="rect">
            <a:avLst/>
          </a:prstGeom>
          <a:noFill/>
        </p:spPr>
        <p:txBody>
          <a:bodyPr wrap="square" lIns="45720" rIns="45720" anchor="ctr">
            <a:spAutoFit/>
          </a:bodyPr>
          <a:lstStyle/>
          <a:p>
            <a:pPr algn="ctr"/>
            <a:r>
              <a:rPr sz="2000" b="1" dirty="0">
                <a:solidFill>
                  <a:srgbClr val="FFFFFF"/>
                </a:solidFill>
                <a:latin typeface="Aptos"/>
              </a:rPr>
              <a:t>✓ ANSWER  A</a:t>
            </a:r>
          </a:p>
        </p:txBody>
      </p:sp>
      <p:sp>
        <p:nvSpPr>
          <p:cNvPr id="8" name="TextBox 7"/>
          <p:cNvSpPr txBox="1"/>
          <p:nvPr/>
        </p:nvSpPr>
        <p:spPr>
          <a:xfrm>
            <a:off x="777240" y="1965960"/>
            <a:ext cx="10149840" cy="548640"/>
          </a:xfrm>
          <a:prstGeom prst="rect">
            <a:avLst/>
          </a:prstGeom>
          <a:noFill/>
        </p:spPr>
        <p:txBody>
          <a:bodyPr wrap="square" lIns="45720" rIns="45720" anchor="t">
            <a:spAutoFit/>
          </a:bodyPr>
          <a:lstStyle/>
          <a:p>
            <a:pPr algn="l"/>
            <a:r>
              <a:rPr sz="2300" b="1">
                <a:solidFill>
                  <a:srgbClr val="1F2937"/>
                </a:solidFill>
                <a:latin typeface="Aptos Display"/>
              </a:rPr>
              <a:t>The students probably wanted protection from the sun.</a:t>
            </a:r>
          </a:p>
        </p:txBody>
      </p:sp>
      <p:sp>
        <p:nvSpPr>
          <p:cNvPr id="9" name="Rounded Rectangle 8"/>
          <p:cNvSpPr/>
          <p:nvPr/>
        </p:nvSpPr>
        <p:spPr>
          <a:xfrm>
            <a:off x="731520" y="3063240"/>
            <a:ext cx="3462528" cy="1051560"/>
          </a:xfrm>
          <a:prstGeom prst="roundRect">
            <a:avLst/>
          </a:prstGeom>
          <a:solidFill>
            <a:srgbClr val="FFFFFF"/>
          </a:solidFill>
          <a:ln w="12700">
            <a:solidFill>
              <a:srgbClr val="E8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209544"/>
            <a:ext cx="3243072" cy="256032"/>
          </a:xfrm>
          <a:prstGeom prst="rect">
            <a:avLst/>
          </a:prstGeom>
          <a:noFill/>
        </p:spPr>
        <p:txBody>
          <a:bodyPr wrap="square" lIns="45720" rIns="45720" anchor="t">
            <a:spAutoFit/>
          </a:bodyPr>
          <a:lstStyle/>
          <a:p>
            <a:pPr algn="ctr"/>
            <a:r>
              <a:rPr sz="1400" b="1">
                <a:solidFill>
                  <a:srgbClr val="E8B446"/>
                </a:solidFill>
                <a:latin typeface="Aptos"/>
              </a:rPr>
              <a:t>CLUE</a:t>
            </a:r>
          </a:p>
        </p:txBody>
      </p:sp>
      <p:sp>
        <p:nvSpPr>
          <p:cNvPr id="11" name="TextBox 10"/>
          <p:cNvSpPr txBox="1"/>
          <p:nvPr/>
        </p:nvSpPr>
        <p:spPr>
          <a:xfrm>
            <a:off x="841248" y="3421416"/>
            <a:ext cx="3243072" cy="707886"/>
          </a:xfrm>
          <a:prstGeom prst="rect">
            <a:avLst/>
          </a:prstGeom>
          <a:noFill/>
        </p:spPr>
        <p:txBody>
          <a:bodyPr wrap="square" lIns="45720" rIns="45720" anchor="t">
            <a:spAutoFit/>
          </a:bodyPr>
          <a:lstStyle/>
          <a:p>
            <a:pPr algn="ctr"/>
            <a:r>
              <a:rPr sz="2000" b="0" dirty="0">
                <a:solidFill>
                  <a:srgbClr val="677484"/>
                </a:solidFill>
                <a:latin typeface="Aptos"/>
              </a:rPr>
              <a:t>“moved underneath</a:t>
            </a:r>
            <a:br>
              <a:rPr sz="2000" dirty="0"/>
            </a:br>
            <a:r>
              <a:rPr sz="2000" dirty="0"/>
              <a:t>the covered walkway”</a:t>
            </a:r>
          </a:p>
        </p:txBody>
      </p:sp>
      <p:sp>
        <p:nvSpPr>
          <p:cNvPr id="12" name="Rounded Rectangle 11"/>
          <p:cNvSpPr/>
          <p:nvPr/>
        </p:nvSpPr>
        <p:spPr>
          <a:xfrm>
            <a:off x="4395216" y="3063240"/>
            <a:ext cx="3462528" cy="1051560"/>
          </a:xfrm>
          <a:prstGeom prst="roundRect">
            <a:avLst/>
          </a:prstGeom>
          <a:solidFill>
            <a:srgbClr val="FFFFFF"/>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04944" y="3209544"/>
            <a:ext cx="3243072" cy="256032"/>
          </a:xfrm>
          <a:prstGeom prst="rect">
            <a:avLst/>
          </a:prstGeom>
          <a:noFill/>
        </p:spPr>
        <p:txBody>
          <a:bodyPr wrap="square" lIns="45720" rIns="45720" anchor="t">
            <a:spAutoFit/>
          </a:bodyPr>
          <a:lstStyle/>
          <a:p>
            <a:pPr algn="ctr"/>
            <a:r>
              <a:rPr sz="1400" b="1">
                <a:solidFill>
                  <a:srgbClr val="2D9B9B"/>
                </a:solidFill>
                <a:latin typeface="Aptos"/>
              </a:rPr>
              <a:t>THINK</a:t>
            </a:r>
          </a:p>
        </p:txBody>
      </p:sp>
      <p:sp>
        <p:nvSpPr>
          <p:cNvPr id="14" name="TextBox 13"/>
          <p:cNvSpPr txBox="1"/>
          <p:nvPr/>
        </p:nvSpPr>
        <p:spPr>
          <a:xfrm>
            <a:off x="4504944" y="3538728"/>
            <a:ext cx="3243072" cy="646331"/>
          </a:xfrm>
          <a:prstGeom prst="rect">
            <a:avLst/>
          </a:prstGeom>
          <a:noFill/>
        </p:spPr>
        <p:txBody>
          <a:bodyPr wrap="square" lIns="45720" rIns="45720" anchor="t">
            <a:spAutoFit/>
          </a:bodyPr>
          <a:lstStyle/>
          <a:p>
            <a:pPr algn="ctr"/>
            <a:r>
              <a:rPr b="0" dirty="0">
                <a:solidFill>
                  <a:srgbClr val="677484"/>
                </a:solidFill>
                <a:latin typeface="Aptos"/>
              </a:rPr>
              <a:t>Why move into</a:t>
            </a:r>
            <a:br>
              <a:rPr dirty="0"/>
            </a:br>
            <a:r>
              <a:rPr dirty="0"/>
              <a:t>a covered area?</a:t>
            </a:r>
          </a:p>
        </p:txBody>
      </p:sp>
      <p:sp>
        <p:nvSpPr>
          <p:cNvPr id="15" name="Rounded Rectangle 14"/>
          <p:cNvSpPr/>
          <p:nvPr/>
        </p:nvSpPr>
        <p:spPr>
          <a:xfrm>
            <a:off x="8058912" y="3063240"/>
            <a:ext cx="3462528" cy="1051560"/>
          </a:xfrm>
          <a:prstGeom prst="roundRect">
            <a:avLst/>
          </a:prstGeom>
          <a:solidFill>
            <a:srgbClr val="FFFFFF"/>
          </a:solidFill>
          <a:ln w="12700">
            <a:solidFill>
              <a:srgbClr val="4F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68640" y="3209544"/>
            <a:ext cx="3243072" cy="256032"/>
          </a:xfrm>
          <a:prstGeom prst="rect">
            <a:avLst/>
          </a:prstGeom>
          <a:noFill/>
        </p:spPr>
        <p:txBody>
          <a:bodyPr wrap="square" lIns="45720" rIns="45720" anchor="t">
            <a:spAutoFit/>
          </a:bodyPr>
          <a:lstStyle/>
          <a:p>
            <a:pPr algn="ctr"/>
            <a:r>
              <a:rPr sz="1400" b="1">
                <a:solidFill>
                  <a:srgbClr val="4F9167"/>
                </a:solidFill>
                <a:latin typeface="Aptos"/>
              </a:rPr>
              <a:t>INFERENCE</a:t>
            </a:r>
          </a:p>
        </p:txBody>
      </p:sp>
      <p:sp>
        <p:nvSpPr>
          <p:cNvPr id="17" name="TextBox 16"/>
          <p:cNvSpPr txBox="1"/>
          <p:nvPr/>
        </p:nvSpPr>
        <p:spPr>
          <a:xfrm>
            <a:off x="8168640" y="3538728"/>
            <a:ext cx="3243072" cy="646331"/>
          </a:xfrm>
          <a:prstGeom prst="rect">
            <a:avLst/>
          </a:prstGeom>
          <a:noFill/>
        </p:spPr>
        <p:txBody>
          <a:bodyPr wrap="square" lIns="45720" rIns="45720" anchor="t">
            <a:spAutoFit/>
          </a:bodyPr>
          <a:lstStyle/>
          <a:p>
            <a:pPr algn="ctr"/>
            <a:r>
              <a:rPr b="0" dirty="0">
                <a:solidFill>
                  <a:srgbClr val="677484"/>
                </a:solidFill>
                <a:latin typeface="Aptos"/>
              </a:rPr>
              <a:t>They probably wanted</a:t>
            </a:r>
            <a:br>
              <a:rPr dirty="0"/>
            </a:br>
            <a:r>
              <a:rPr dirty="0"/>
              <a:t>protection from the sun.</a:t>
            </a:r>
          </a:p>
        </p:txBody>
      </p:sp>
      <p:sp>
        <p:nvSpPr>
          <p:cNvPr id="18" name="TextBox 17"/>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9" name="TextBox 18"/>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DETECTIVE TOOLKIT</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Infer or deduce?</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07</a:t>
            </a:r>
          </a:p>
        </p:txBody>
      </p:sp>
      <p:sp>
        <p:nvSpPr>
          <p:cNvPr id="6" name="Rounded Rectangle 5"/>
          <p:cNvSpPr/>
          <p:nvPr/>
        </p:nvSpPr>
        <p:spPr>
          <a:xfrm>
            <a:off x="731520" y="1508760"/>
            <a:ext cx="5166360" cy="347472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508760"/>
            <a:ext cx="5166360" cy="347472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51560" y="1783080"/>
            <a:ext cx="1417320" cy="384048"/>
          </a:xfrm>
          <a:prstGeom prst="roundRect">
            <a:avLst/>
          </a:prstGeom>
          <a:solidFill>
            <a:srgbClr val="2D9B9B"/>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06424" y="1730556"/>
            <a:ext cx="1307592" cy="461665"/>
          </a:xfrm>
          <a:prstGeom prst="rect">
            <a:avLst/>
          </a:prstGeom>
          <a:noFill/>
        </p:spPr>
        <p:txBody>
          <a:bodyPr wrap="square" lIns="45720" rIns="45720" anchor="ctr">
            <a:spAutoFit/>
          </a:bodyPr>
          <a:lstStyle/>
          <a:p>
            <a:pPr algn="ctr"/>
            <a:r>
              <a:rPr sz="2400" b="1" dirty="0">
                <a:solidFill>
                  <a:srgbClr val="FFFFFF"/>
                </a:solidFill>
                <a:latin typeface="Aptos"/>
              </a:rPr>
              <a:t>INFER</a:t>
            </a:r>
          </a:p>
        </p:txBody>
      </p:sp>
      <p:sp>
        <p:nvSpPr>
          <p:cNvPr id="10" name="TextBox 9"/>
          <p:cNvSpPr txBox="1"/>
          <p:nvPr/>
        </p:nvSpPr>
        <p:spPr>
          <a:xfrm>
            <a:off x="1051560" y="2423160"/>
            <a:ext cx="4434840" cy="830997"/>
          </a:xfrm>
          <a:prstGeom prst="rect">
            <a:avLst/>
          </a:prstGeom>
          <a:noFill/>
        </p:spPr>
        <p:txBody>
          <a:bodyPr wrap="square" lIns="45720" rIns="45720" anchor="t">
            <a:spAutoFit/>
          </a:bodyPr>
          <a:lstStyle/>
          <a:p>
            <a:pPr algn="l"/>
            <a:r>
              <a:rPr sz="2400" b="1" dirty="0">
                <a:solidFill>
                  <a:srgbClr val="1F2937"/>
                </a:solidFill>
                <a:latin typeface="Aptos Display"/>
              </a:rPr>
              <a:t>Work out an idea that the writer does not state directly.</a:t>
            </a:r>
          </a:p>
        </p:txBody>
      </p:sp>
      <p:sp>
        <p:nvSpPr>
          <p:cNvPr id="11" name="Rounded Rectangle 10"/>
          <p:cNvSpPr/>
          <p:nvPr/>
        </p:nvSpPr>
        <p:spPr>
          <a:xfrm>
            <a:off x="6583680" y="1783080"/>
            <a:ext cx="1554480" cy="384048"/>
          </a:xfrm>
          <a:prstGeom prst="roundRect">
            <a:avLst/>
          </a:prstGeom>
          <a:solidFill>
            <a:srgbClr val="E06958"/>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38544" y="1730556"/>
            <a:ext cx="1444752" cy="461665"/>
          </a:xfrm>
          <a:prstGeom prst="rect">
            <a:avLst/>
          </a:prstGeom>
          <a:noFill/>
        </p:spPr>
        <p:txBody>
          <a:bodyPr wrap="square" lIns="45720" rIns="45720" anchor="ctr">
            <a:spAutoFit/>
          </a:bodyPr>
          <a:lstStyle/>
          <a:p>
            <a:pPr algn="ctr"/>
            <a:r>
              <a:rPr sz="2400" b="1" dirty="0">
                <a:solidFill>
                  <a:srgbClr val="FFFFFF"/>
                </a:solidFill>
                <a:latin typeface="Aptos"/>
              </a:rPr>
              <a:t>DEDUCE</a:t>
            </a:r>
          </a:p>
        </p:txBody>
      </p:sp>
      <p:sp>
        <p:nvSpPr>
          <p:cNvPr id="13" name="TextBox 12"/>
          <p:cNvSpPr txBox="1"/>
          <p:nvPr/>
        </p:nvSpPr>
        <p:spPr>
          <a:xfrm>
            <a:off x="6583680" y="2423160"/>
            <a:ext cx="4434840" cy="830997"/>
          </a:xfrm>
          <a:prstGeom prst="rect">
            <a:avLst/>
          </a:prstGeom>
          <a:noFill/>
        </p:spPr>
        <p:txBody>
          <a:bodyPr wrap="square" lIns="45720" rIns="45720" anchor="t">
            <a:spAutoFit/>
          </a:bodyPr>
          <a:lstStyle/>
          <a:p>
            <a:pPr algn="l"/>
            <a:r>
              <a:rPr sz="2400" b="1" dirty="0">
                <a:solidFill>
                  <a:srgbClr val="1F2937"/>
                </a:solidFill>
                <a:latin typeface="Aptos Display"/>
              </a:rPr>
              <a:t>Use information and clues to reach a sensible conclusion.</a:t>
            </a:r>
          </a:p>
        </p:txBody>
      </p:sp>
      <p:sp>
        <p:nvSpPr>
          <p:cNvPr id="14" name="Rounded Rectangle 13"/>
          <p:cNvSpPr/>
          <p:nvPr/>
        </p:nvSpPr>
        <p:spPr>
          <a:xfrm>
            <a:off x="3611880" y="5303520"/>
            <a:ext cx="1554480" cy="384048"/>
          </a:xfrm>
          <a:prstGeom prst="roundRect">
            <a:avLst/>
          </a:prstGeom>
          <a:solidFill>
            <a:srgbClr val="162338"/>
          </a:solidFill>
          <a:ln w="12700">
            <a:solidFill>
              <a:srgbClr val="16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66744" y="5281773"/>
            <a:ext cx="1444752" cy="400110"/>
          </a:xfrm>
          <a:prstGeom prst="rect">
            <a:avLst/>
          </a:prstGeom>
          <a:noFill/>
        </p:spPr>
        <p:txBody>
          <a:bodyPr wrap="square" lIns="45720" rIns="45720" anchor="ctr">
            <a:spAutoFit/>
          </a:bodyPr>
          <a:lstStyle/>
          <a:p>
            <a:pPr algn="ctr"/>
            <a:r>
              <a:rPr sz="2000" b="1" dirty="0">
                <a:solidFill>
                  <a:srgbClr val="FFFFFF"/>
                </a:solidFill>
                <a:latin typeface="Aptos"/>
              </a:rPr>
              <a:t>MEMORY</a:t>
            </a:r>
          </a:p>
        </p:txBody>
      </p:sp>
      <p:sp>
        <p:nvSpPr>
          <p:cNvPr id="16" name="TextBox 15"/>
          <p:cNvSpPr txBox="1"/>
          <p:nvPr/>
        </p:nvSpPr>
        <p:spPr>
          <a:xfrm>
            <a:off x="5303519" y="5264932"/>
            <a:ext cx="4745827" cy="523220"/>
          </a:xfrm>
          <a:prstGeom prst="rect">
            <a:avLst/>
          </a:prstGeom>
          <a:noFill/>
        </p:spPr>
        <p:txBody>
          <a:bodyPr wrap="square" lIns="45720" rIns="45720" anchor="t">
            <a:spAutoFit/>
          </a:bodyPr>
          <a:lstStyle/>
          <a:p>
            <a:pPr algn="l"/>
            <a:r>
              <a:rPr sz="2800" b="1" dirty="0">
                <a:solidFill>
                  <a:srgbClr val="1F2937"/>
                </a:solidFill>
                <a:latin typeface="Aptos"/>
              </a:rPr>
              <a:t>Both = CLUES + THINKING</a:t>
            </a:r>
          </a:p>
        </p:txBody>
      </p:sp>
      <p:sp>
        <p:nvSpPr>
          <p:cNvPr id="17" name="TextBox 16"/>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8" name="TextBox 17"/>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MISSION 3</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What can we deduce?</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08</a:t>
            </a:r>
          </a:p>
        </p:txBody>
      </p:sp>
      <p:sp>
        <p:nvSpPr>
          <p:cNvPr id="6" name="Rounded Rectangle 5"/>
          <p:cNvSpPr/>
          <p:nvPr/>
        </p:nvSpPr>
        <p:spPr>
          <a:xfrm>
            <a:off x="731520" y="1371600"/>
            <a:ext cx="10698480" cy="150876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71600"/>
            <a:ext cx="109728" cy="1508760"/>
          </a:xfrm>
          <a:prstGeom prst="rect">
            <a:avLst/>
          </a:prstGeom>
          <a:solidFill>
            <a:srgbClr val="2D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508760"/>
            <a:ext cx="365760" cy="365760"/>
          </a:xfrm>
          <a:prstGeom prst="rect">
            <a:avLst/>
          </a:prstGeom>
          <a:noFill/>
        </p:spPr>
        <p:txBody>
          <a:bodyPr wrap="square" lIns="45720" rIns="45720" anchor="t">
            <a:spAutoFit/>
          </a:bodyPr>
          <a:lstStyle/>
          <a:p>
            <a:pPr algn="l"/>
            <a:r>
              <a:rPr sz="3200" b="1">
                <a:solidFill>
                  <a:srgbClr val="2D9B9B"/>
                </a:solidFill>
                <a:latin typeface="Aptos"/>
              </a:rPr>
              <a:t>“</a:t>
            </a:r>
          </a:p>
        </p:txBody>
      </p:sp>
      <p:sp>
        <p:nvSpPr>
          <p:cNvPr id="9" name="TextBox 8"/>
          <p:cNvSpPr txBox="1"/>
          <p:nvPr/>
        </p:nvSpPr>
        <p:spPr>
          <a:xfrm>
            <a:off x="1508760" y="1618488"/>
            <a:ext cx="9601200" cy="1200329"/>
          </a:xfrm>
          <a:prstGeom prst="rect">
            <a:avLst/>
          </a:prstGeom>
          <a:noFill/>
        </p:spPr>
        <p:txBody>
          <a:bodyPr wrap="square" lIns="45720" rIns="45720" anchor="t">
            <a:spAutoFit/>
          </a:bodyPr>
          <a:lstStyle/>
          <a:p>
            <a:pPr algn="l"/>
            <a:r>
              <a:rPr sz="2400" b="1" dirty="0">
                <a:solidFill>
                  <a:srgbClr val="1F2937"/>
                </a:solidFill>
                <a:latin typeface="Aptos Display"/>
              </a:rPr>
              <a:t>Students moved underneath the covered walkway. Teachers also moved their lunch tables into the shaded area. The school later planted trees beside the playground.</a:t>
            </a:r>
          </a:p>
        </p:txBody>
      </p:sp>
      <p:sp>
        <p:nvSpPr>
          <p:cNvPr id="10" name="TextBox 9"/>
          <p:cNvSpPr txBox="1"/>
          <p:nvPr/>
        </p:nvSpPr>
        <p:spPr>
          <a:xfrm>
            <a:off x="777240" y="3154680"/>
            <a:ext cx="3657600" cy="365760"/>
          </a:xfrm>
          <a:prstGeom prst="rect">
            <a:avLst/>
          </a:prstGeom>
          <a:noFill/>
        </p:spPr>
        <p:txBody>
          <a:bodyPr wrap="square" lIns="45720" rIns="45720" anchor="t">
            <a:spAutoFit/>
          </a:bodyPr>
          <a:lstStyle/>
          <a:p>
            <a:pPr algn="l"/>
            <a:r>
              <a:rPr sz="1600" b="1">
                <a:solidFill>
                  <a:srgbClr val="E8B446"/>
                </a:solidFill>
                <a:latin typeface="Aptos"/>
              </a:rPr>
              <a:t>What can we deduce?</a:t>
            </a:r>
          </a:p>
        </p:txBody>
      </p:sp>
      <p:sp>
        <p:nvSpPr>
          <p:cNvPr id="11" name="Rounded Rectangle 10"/>
          <p:cNvSpPr/>
          <p:nvPr/>
        </p:nvSpPr>
        <p:spPr>
          <a:xfrm>
            <a:off x="777240" y="3657600"/>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813048"/>
            <a:ext cx="320040" cy="274320"/>
          </a:xfrm>
          <a:prstGeom prst="rect">
            <a:avLst/>
          </a:prstGeom>
          <a:noFill/>
        </p:spPr>
        <p:txBody>
          <a:bodyPr wrap="square" lIns="45720" rIns="45720" anchor="t">
            <a:spAutoFit/>
          </a:bodyPr>
          <a:lstStyle/>
          <a:p>
            <a:pPr algn="l"/>
            <a:r>
              <a:rPr sz="1500" b="1">
                <a:solidFill>
                  <a:srgbClr val="162338"/>
                </a:solidFill>
                <a:latin typeface="Aptos"/>
              </a:rPr>
              <a:t>A</a:t>
            </a:r>
          </a:p>
        </p:txBody>
      </p:sp>
      <p:sp>
        <p:nvSpPr>
          <p:cNvPr id="13" name="TextBox 12"/>
          <p:cNvSpPr txBox="1"/>
          <p:nvPr/>
        </p:nvSpPr>
        <p:spPr>
          <a:xfrm>
            <a:off x="1417319" y="3767328"/>
            <a:ext cx="9738360" cy="461665"/>
          </a:xfrm>
          <a:prstGeom prst="rect">
            <a:avLst/>
          </a:prstGeom>
          <a:noFill/>
        </p:spPr>
        <p:txBody>
          <a:bodyPr wrap="square" lIns="45720" rIns="45720" anchor="t">
            <a:spAutoFit/>
          </a:bodyPr>
          <a:lstStyle/>
          <a:p>
            <a:pPr algn="l"/>
            <a:r>
              <a:rPr sz="2400" b="0" dirty="0">
                <a:solidFill>
                  <a:srgbClr val="1F2937"/>
                </a:solidFill>
                <a:latin typeface="Aptos"/>
              </a:rPr>
              <a:t>The school wanted students to spend less time outside.</a:t>
            </a:r>
          </a:p>
        </p:txBody>
      </p:sp>
      <p:sp>
        <p:nvSpPr>
          <p:cNvPr id="14" name="Rounded Rectangle 13"/>
          <p:cNvSpPr/>
          <p:nvPr/>
        </p:nvSpPr>
        <p:spPr>
          <a:xfrm>
            <a:off x="777240" y="4517136"/>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672583"/>
            <a:ext cx="320040" cy="274320"/>
          </a:xfrm>
          <a:prstGeom prst="rect">
            <a:avLst/>
          </a:prstGeom>
          <a:noFill/>
        </p:spPr>
        <p:txBody>
          <a:bodyPr wrap="square" lIns="45720" rIns="45720" anchor="t">
            <a:spAutoFit/>
          </a:bodyPr>
          <a:lstStyle/>
          <a:p>
            <a:pPr algn="l"/>
            <a:r>
              <a:rPr sz="1500" b="1">
                <a:solidFill>
                  <a:srgbClr val="162338"/>
                </a:solidFill>
                <a:latin typeface="Aptos"/>
              </a:rPr>
              <a:t>B</a:t>
            </a:r>
          </a:p>
        </p:txBody>
      </p:sp>
      <p:sp>
        <p:nvSpPr>
          <p:cNvPr id="17" name="Rounded Rectangle 16"/>
          <p:cNvSpPr/>
          <p:nvPr/>
        </p:nvSpPr>
        <p:spPr>
          <a:xfrm>
            <a:off x="777240" y="5376672"/>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8" y="5532120"/>
            <a:ext cx="320040" cy="274320"/>
          </a:xfrm>
          <a:prstGeom prst="rect">
            <a:avLst/>
          </a:prstGeom>
          <a:noFill/>
        </p:spPr>
        <p:txBody>
          <a:bodyPr wrap="square" lIns="45720" rIns="45720" anchor="t">
            <a:spAutoFit/>
          </a:bodyPr>
          <a:lstStyle/>
          <a:p>
            <a:pPr algn="l"/>
            <a:r>
              <a:rPr sz="1500" b="1" dirty="0">
                <a:solidFill>
                  <a:srgbClr val="162338"/>
                </a:solidFill>
                <a:latin typeface="Aptos"/>
              </a:rPr>
              <a:t>C</a:t>
            </a:r>
          </a:p>
        </p:txBody>
      </p:sp>
      <p:sp>
        <p:nvSpPr>
          <p:cNvPr id="19" name="TextBox 18"/>
          <p:cNvSpPr txBox="1"/>
          <p:nvPr/>
        </p:nvSpPr>
        <p:spPr>
          <a:xfrm>
            <a:off x="1371600" y="4641049"/>
            <a:ext cx="9738360" cy="461665"/>
          </a:xfrm>
          <a:prstGeom prst="rect">
            <a:avLst/>
          </a:prstGeom>
          <a:noFill/>
        </p:spPr>
        <p:txBody>
          <a:bodyPr wrap="square" lIns="45720" rIns="45720" anchor="t">
            <a:spAutoFit/>
          </a:bodyPr>
          <a:lstStyle/>
          <a:p>
            <a:pPr algn="l"/>
            <a:r>
              <a:rPr sz="2400" b="0" dirty="0">
                <a:solidFill>
                  <a:srgbClr val="1F2937"/>
                </a:solidFill>
                <a:latin typeface="Aptos"/>
              </a:rPr>
              <a:t>The teachers wanted to remove the playground.</a:t>
            </a:r>
          </a:p>
        </p:txBody>
      </p:sp>
      <p:sp>
        <p:nvSpPr>
          <p:cNvPr id="20" name="TextBox 19"/>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1" name="TextBox 20"/>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
        <p:nvSpPr>
          <p:cNvPr id="23" name="TextBox 22">
            <a:extLst>
              <a:ext uri="{FF2B5EF4-FFF2-40B4-BE49-F238E27FC236}">
                <a16:creationId xmlns:a16="http://schemas.microsoft.com/office/drawing/2014/main" id="{505D4709-B01E-13FE-D9D6-9C55AC67CA4D}"/>
              </a:ext>
            </a:extLst>
          </p:cNvPr>
          <p:cNvSpPr txBox="1"/>
          <p:nvPr/>
        </p:nvSpPr>
        <p:spPr>
          <a:xfrm>
            <a:off x="1440180" y="5486400"/>
            <a:ext cx="9738360" cy="461665"/>
          </a:xfrm>
          <a:prstGeom prst="rect">
            <a:avLst/>
          </a:prstGeom>
          <a:noFill/>
        </p:spPr>
        <p:txBody>
          <a:bodyPr wrap="square" lIns="45720" rIns="45720" anchor="t">
            <a:spAutoFit/>
          </a:bodyPr>
          <a:lstStyle/>
          <a:p>
            <a:pPr algn="l"/>
            <a:r>
              <a:rPr sz="2400" b="0" dirty="0">
                <a:solidFill>
                  <a:srgbClr val="1F2937"/>
                </a:solidFill>
                <a:latin typeface="Aptos"/>
              </a:rPr>
              <a:t>Shade was important to people using the playground.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Several clues → one conclusion</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09</a:t>
            </a:r>
          </a:p>
        </p:txBody>
      </p:sp>
      <p:sp>
        <p:nvSpPr>
          <p:cNvPr id="6" name="Rounded Rectangle 5"/>
          <p:cNvSpPr/>
          <p:nvPr/>
        </p:nvSpPr>
        <p:spPr>
          <a:xfrm>
            <a:off x="777239" y="1193580"/>
            <a:ext cx="3812867" cy="621238"/>
          </a:xfrm>
          <a:prstGeom prst="roundRect">
            <a:avLst/>
          </a:prstGeom>
          <a:solidFill>
            <a:srgbClr val="4F9167"/>
          </a:solidFill>
          <a:ln w="12700">
            <a:solidFill>
              <a:srgbClr val="4F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39" y="1314611"/>
            <a:ext cx="3468293" cy="461665"/>
          </a:xfrm>
          <a:prstGeom prst="rect">
            <a:avLst/>
          </a:prstGeom>
          <a:noFill/>
        </p:spPr>
        <p:txBody>
          <a:bodyPr wrap="square" lIns="45720" rIns="45720" anchor="ctr">
            <a:spAutoFit/>
          </a:bodyPr>
          <a:lstStyle/>
          <a:p>
            <a:pPr algn="ctr"/>
            <a:r>
              <a:rPr sz="2400" b="1" dirty="0">
                <a:solidFill>
                  <a:srgbClr val="FFFFFF"/>
                </a:solidFill>
                <a:latin typeface="Aptos"/>
              </a:rPr>
              <a:t>✓ ANSWER  </a:t>
            </a:r>
            <a:r>
              <a:rPr lang="en-US" sz="2400" b="1" dirty="0">
                <a:solidFill>
                  <a:srgbClr val="FFFFFF"/>
                </a:solidFill>
                <a:latin typeface="Aptos"/>
              </a:rPr>
              <a:t>C</a:t>
            </a:r>
            <a:endParaRPr sz="2400" b="1" dirty="0">
              <a:solidFill>
                <a:srgbClr val="FFFFFF"/>
              </a:solidFill>
              <a:latin typeface="Aptos"/>
            </a:endParaRPr>
          </a:p>
        </p:txBody>
      </p:sp>
      <p:sp>
        <p:nvSpPr>
          <p:cNvPr id="8" name="TextBox 7"/>
          <p:cNvSpPr txBox="1"/>
          <p:nvPr/>
        </p:nvSpPr>
        <p:spPr>
          <a:xfrm>
            <a:off x="777240" y="1920240"/>
            <a:ext cx="10241280" cy="502920"/>
          </a:xfrm>
          <a:prstGeom prst="rect">
            <a:avLst/>
          </a:prstGeom>
          <a:noFill/>
        </p:spPr>
        <p:txBody>
          <a:bodyPr wrap="square" lIns="45720" rIns="45720" anchor="t">
            <a:spAutoFit/>
          </a:bodyPr>
          <a:lstStyle/>
          <a:p>
            <a:pPr algn="l"/>
            <a:r>
              <a:rPr sz="2300" b="1">
                <a:solidFill>
                  <a:srgbClr val="1F2937"/>
                </a:solidFill>
                <a:latin typeface="Aptos Display"/>
              </a:rPr>
              <a:t>Shade was important to people using the playground.</a:t>
            </a:r>
          </a:p>
        </p:txBody>
      </p:sp>
      <p:sp>
        <p:nvSpPr>
          <p:cNvPr id="9" name="Rounded Rectangle 8"/>
          <p:cNvSpPr/>
          <p:nvPr/>
        </p:nvSpPr>
        <p:spPr>
          <a:xfrm>
            <a:off x="731520" y="2880360"/>
            <a:ext cx="2546604" cy="1483410"/>
          </a:xfrm>
          <a:prstGeom prst="roundRect">
            <a:avLst/>
          </a:prstGeom>
          <a:solidFill>
            <a:srgbClr val="FFFFFF"/>
          </a:solidFill>
          <a:ln w="12700">
            <a:solidFill>
              <a:srgbClr val="E8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026664"/>
            <a:ext cx="2327148" cy="256032"/>
          </a:xfrm>
          <a:prstGeom prst="rect">
            <a:avLst/>
          </a:prstGeom>
          <a:noFill/>
        </p:spPr>
        <p:txBody>
          <a:bodyPr wrap="square" lIns="45720" rIns="45720" anchor="t">
            <a:spAutoFit/>
          </a:bodyPr>
          <a:lstStyle/>
          <a:p>
            <a:pPr algn="ctr"/>
            <a:r>
              <a:rPr sz="1400" b="1">
                <a:solidFill>
                  <a:srgbClr val="E8B446"/>
                </a:solidFill>
                <a:latin typeface="Aptos"/>
              </a:rPr>
              <a:t>CLUE 1</a:t>
            </a:r>
          </a:p>
        </p:txBody>
      </p:sp>
      <p:sp>
        <p:nvSpPr>
          <p:cNvPr id="11" name="TextBox 10"/>
          <p:cNvSpPr txBox="1"/>
          <p:nvPr/>
        </p:nvSpPr>
        <p:spPr>
          <a:xfrm>
            <a:off x="841248" y="3355848"/>
            <a:ext cx="2327148" cy="830997"/>
          </a:xfrm>
          <a:prstGeom prst="rect">
            <a:avLst/>
          </a:prstGeom>
          <a:noFill/>
        </p:spPr>
        <p:txBody>
          <a:bodyPr wrap="square" lIns="45720" rIns="45720" anchor="t">
            <a:spAutoFit/>
          </a:bodyPr>
          <a:lstStyle/>
          <a:p>
            <a:pPr algn="ctr"/>
            <a:r>
              <a:rPr sz="2400" b="0" dirty="0">
                <a:solidFill>
                  <a:srgbClr val="677484"/>
                </a:solidFill>
                <a:latin typeface="Aptos"/>
              </a:rPr>
              <a:t>Students moved</a:t>
            </a:r>
            <a:br>
              <a:rPr sz="2400" dirty="0"/>
            </a:br>
            <a:r>
              <a:rPr sz="2400" dirty="0"/>
              <a:t>into shade</a:t>
            </a:r>
          </a:p>
        </p:txBody>
      </p:sp>
      <p:sp>
        <p:nvSpPr>
          <p:cNvPr id="12" name="Rounded Rectangle 11"/>
          <p:cNvSpPr/>
          <p:nvPr/>
        </p:nvSpPr>
        <p:spPr>
          <a:xfrm>
            <a:off x="3479292" y="2880359"/>
            <a:ext cx="2546604" cy="1554481"/>
          </a:xfrm>
          <a:prstGeom prst="roundRect">
            <a:avLst/>
          </a:prstGeom>
          <a:solidFill>
            <a:srgbClr val="FFFFFF"/>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89020" y="3026664"/>
            <a:ext cx="2327148" cy="256032"/>
          </a:xfrm>
          <a:prstGeom prst="rect">
            <a:avLst/>
          </a:prstGeom>
          <a:noFill/>
        </p:spPr>
        <p:txBody>
          <a:bodyPr wrap="square" lIns="45720" rIns="45720" anchor="t">
            <a:spAutoFit/>
          </a:bodyPr>
          <a:lstStyle/>
          <a:p>
            <a:pPr algn="ctr"/>
            <a:r>
              <a:rPr sz="1400" b="1">
                <a:solidFill>
                  <a:srgbClr val="2D9B9B"/>
                </a:solidFill>
                <a:latin typeface="Aptos"/>
              </a:rPr>
              <a:t>CLUE 2</a:t>
            </a:r>
          </a:p>
        </p:txBody>
      </p:sp>
      <p:sp>
        <p:nvSpPr>
          <p:cNvPr id="14" name="TextBox 13"/>
          <p:cNvSpPr txBox="1"/>
          <p:nvPr/>
        </p:nvSpPr>
        <p:spPr>
          <a:xfrm>
            <a:off x="3589020" y="3355848"/>
            <a:ext cx="2327148" cy="830997"/>
          </a:xfrm>
          <a:prstGeom prst="rect">
            <a:avLst/>
          </a:prstGeom>
          <a:noFill/>
        </p:spPr>
        <p:txBody>
          <a:bodyPr wrap="square" lIns="45720" rIns="45720" anchor="t">
            <a:spAutoFit/>
          </a:bodyPr>
          <a:lstStyle/>
          <a:p>
            <a:pPr algn="ctr"/>
            <a:r>
              <a:rPr sz="2400" b="0" dirty="0">
                <a:solidFill>
                  <a:srgbClr val="677484"/>
                </a:solidFill>
                <a:latin typeface="Aptos"/>
              </a:rPr>
              <a:t>Teachers moved</a:t>
            </a:r>
            <a:br>
              <a:rPr sz="2400" dirty="0"/>
            </a:br>
            <a:r>
              <a:rPr sz="2400" dirty="0"/>
              <a:t>the tables</a:t>
            </a:r>
          </a:p>
        </p:txBody>
      </p:sp>
      <p:sp>
        <p:nvSpPr>
          <p:cNvPr id="15" name="Rounded Rectangle 14"/>
          <p:cNvSpPr/>
          <p:nvPr/>
        </p:nvSpPr>
        <p:spPr>
          <a:xfrm>
            <a:off x="6227064" y="2880360"/>
            <a:ext cx="2546604" cy="1554480"/>
          </a:xfrm>
          <a:prstGeom prst="roundRect">
            <a:avLst/>
          </a:prstGeom>
          <a:solidFill>
            <a:srgbClr val="FFFFFF"/>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36792" y="3026664"/>
            <a:ext cx="2327148" cy="256032"/>
          </a:xfrm>
          <a:prstGeom prst="rect">
            <a:avLst/>
          </a:prstGeom>
          <a:noFill/>
        </p:spPr>
        <p:txBody>
          <a:bodyPr wrap="square" lIns="45720" rIns="45720" anchor="t">
            <a:spAutoFit/>
          </a:bodyPr>
          <a:lstStyle/>
          <a:p>
            <a:pPr algn="ctr"/>
            <a:r>
              <a:rPr sz="1400" b="1">
                <a:solidFill>
                  <a:srgbClr val="E06958"/>
                </a:solidFill>
                <a:latin typeface="Aptos"/>
              </a:rPr>
              <a:t>CLUE 3</a:t>
            </a:r>
          </a:p>
        </p:txBody>
      </p:sp>
      <p:sp>
        <p:nvSpPr>
          <p:cNvPr id="17" name="TextBox 16"/>
          <p:cNvSpPr txBox="1"/>
          <p:nvPr/>
        </p:nvSpPr>
        <p:spPr>
          <a:xfrm>
            <a:off x="6336792" y="3355848"/>
            <a:ext cx="2327148" cy="830997"/>
          </a:xfrm>
          <a:prstGeom prst="rect">
            <a:avLst/>
          </a:prstGeom>
          <a:noFill/>
        </p:spPr>
        <p:txBody>
          <a:bodyPr wrap="square" lIns="45720" rIns="45720" anchor="t">
            <a:spAutoFit/>
          </a:bodyPr>
          <a:lstStyle/>
          <a:p>
            <a:pPr algn="ctr"/>
            <a:r>
              <a:rPr sz="2400" b="0" dirty="0">
                <a:solidFill>
                  <a:srgbClr val="677484"/>
                </a:solidFill>
                <a:latin typeface="Aptos"/>
              </a:rPr>
              <a:t>School planted</a:t>
            </a:r>
            <a:br>
              <a:rPr sz="2400" dirty="0"/>
            </a:br>
            <a:r>
              <a:rPr sz="2400" dirty="0"/>
              <a:t>trees</a:t>
            </a:r>
          </a:p>
        </p:txBody>
      </p:sp>
      <p:sp>
        <p:nvSpPr>
          <p:cNvPr id="18" name="Rounded Rectangle 17"/>
          <p:cNvSpPr/>
          <p:nvPr/>
        </p:nvSpPr>
        <p:spPr>
          <a:xfrm>
            <a:off x="8974836" y="2880360"/>
            <a:ext cx="2546604" cy="1581912"/>
          </a:xfrm>
          <a:prstGeom prst="roundRect">
            <a:avLst/>
          </a:prstGeom>
          <a:solidFill>
            <a:srgbClr val="FFFFFF"/>
          </a:solidFill>
          <a:ln w="12700">
            <a:solidFill>
              <a:srgbClr val="4F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84564" y="3026664"/>
            <a:ext cx="2327148" cy="256032"/>
          </a:xfrm>
          <a:prstGeom prst="rect">
            <a:avLst/>
          </a:prstGeom>
          <a:noFill/>
        </p:spPr>
        <p:txBody>
          <a:bodyPr wrap="square" lIns="45720" rIns="45720" anchor="t">
            <a:spAutoFit/>
          </a:bodyPr>
          <a:lstStyle/>
          <a:p>
            <a:pPr algn="ctr"/>
            <a:r>
              <a:rPr sz="1400" b="1">
                <a:solidFill>
                  <a:srgbClr val="4F9167"/>
                </a:solidFill>
                <a:latin typeface="Aptos"/>
              </a:rPr>
              <a:t>DEDUCTION</a:t>
            </a:r>
          </a:p>
        </p:txBody>
      </p:sp>
      <p:sp>
        <p:nvSpPr>
          <p:cNvPr id="20" name="TextBox 19"/>
          <p:cNvSpPr txBox="1"/>
          <p:nvPr/>
        </p:nvSpPr>
        <p:spPr>
          <a:xfrm>
            <a:off x="9084564" y="3355848"/>
            <a:ext cx="2327148" cy="830997"/>
          </a:xfrm>
          <a:prstGeom prst="rect">
            <a:avLst/>
          </a:prstGeom>
          <a:noFill/>
        </p:spPr>
        <p:txBody>
          <a:bodyPr wrap="square" lIns="45720" rIns="45720" anchor="t">
            <a:spAutoFit/>
          </a:bodyPr>
          <a:lstStyle/>
          <a:p>
            <a:pPr algn="ctr"/>
            <a:r>
              <a:rPr sz="2400" b="0" dirty="0">
                <a:solidFill>
                  <a:srgbClr val="677484"/>
                </a:solidFill>
                <a:latin typeface="Aptos"/>
              </a:rPr>
              <a:t>Shade was</a:t>
            </a:r>
            <a:br>
              <a:rPr sz="2400" dirty="0"/>
            </a:br>
            <a:r>
              <a:rPr sz="2400" dirty="0"/>
              <a:t>important</a:t>
            </a:r>
          </a:p>
        </p:txBody>
      </p:sp>
      <p:sp>
        <p:nvSpPr>
          <p:cNvPr id="21" name="TextBox 20"/>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2" name="TextBox 21"/>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THINKING LAB</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One clue vs several clues</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10</a:t>
            </a:r>
          </a:p>
        </p:txBody>
      </p:sp>
      <p:sp>
        <p:nvSpPr>
          <p:cNvPr id="6" name="Rounded Rectangle 5"/>
          <p:cNvSpPr/>
          <p:nvPr/>
        </p:nvSpPr>
        <p:spPr>
          <a:xfrm>
            <a:off x="685800" y="1463040"/>
            <a:ext cx="5303520" cy="411480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463040"/>
            <a:ext cx="5303520" cy="411480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60120" y="1737360"/>
            <a:ext cx="1463040" cy="384048"/>
          </a:xfrm>
          <a:prstGeom prst="roundRect">
            <a:avLst/>
          </a:prstGeom>
          <a:solidFill>
            <a:srgbClr val="E8B446"/>
          </a:solidFill>
          <a:ln w="12700">
            <a:solidFill>
              <a:srgbClr val="E8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4" y="1715612"/>
            <a:ext cx="1353312" cy="400110"/>
          </a:xfrm>
          <a:prstGeom prst="rect">
            <a:avLst/>
          </a:prstGeom>
          <a:noFill/>
        </p:spPr>
        <p:txBody>
          <a:bodyPr wrap="square" lIns="45720" rIns="45720" anchor="ctr">
            <a:spAutoFit/>
          </a:bodyPr>
          <a:lstStyle/>
          <a:p>
            <a:pPr algn="ctr"/>
            <a:r>
              <a:rPr sz="2000" b="1" dirty="0">
                <a:solidFill>
                  <a:srgbClr val="FFFFFF"/>
                </a:solidFill>
                <a:latin typeface="Aptos"/>
              </a:rPr>
              <a:t>ONE CLUE</a:t>
            </a:r>
          </a:p>
        </p:txBody>
      </p:sp>
      <p:sp>
        <p:nvSpPr>
          <p:cNvPr id="10" name="TextBox 9"/>
          <p:cNvSpPr txBox="1"/>
          <p:nvPr/>
        </p:nvSpPr>
        <p:spPr>
          <a:xfrm>
            <a:off x="960120" y="2331720"/>
            <a:ext cx="4572000" cy="830997"/>
          </a:xfrm>
          <a:prstGeom prst="rect">
            <a:avLst/>
          </a:prstGeom>
          <a:noFill/>
        </p:spPr>
        <p:txBody>
          <a:bodyPr wrap="square" lIns="45720" rIns="45720" anchor="t">
            <a:spAutoFit/>
          </a:bodyPr>
          <a:lstStyle/>
          <a:p>
            <a:pPr algn="l"/>
            <a:r>
              <a:rPr sz="2400" b="1" dirty="0">
                <a:solidFill>
                  <a:srgbClr val="1F2937"/>
                </a:solidFill>
                <a:latin typeface="Aptos Display"/>
              </a:rPr>
              <a:t>Students moved under</a:t>
            </a:r>
            <a:br>
              <a:rPr sz="2400" dirty="0"/>
            </a:br>
            <a:r>
              <a:rPr sz="2400" dirty="0"/>
              <a:t>the covered walkway.</a:t>
            </a:r>
          </a:p>
        </p:txBody>
      </p:sp>
      <p:sp>
        <p:nvSpPr>
          <p:cNvPr id="11" name="TextBox 10"/>
          <p:cNvSpPr txBox="1"/>
          <p:nvPr/>
        </p:nvSpPr>
        <p:spPr>
          <a:xfrm>
            <a:off x="960120" y="3429000"/>
            <a:ext cx="1371600" cy="400110"/>
          </a:xfrm>
          <a:prstGeom prst="rect">
            <a:avLst/>
          </a:prstGeom>
          <a:noFill/>
        </p:spPr>
        <p:txBody>
          <a:bodyPr wrap="square" lIns="45720" rIns="45720" anchor="t">
            <a:spAutoFit/>
          </a:bodyPr>
          <a:lstStyle/>
          <a:p>
            <a:pPr algn="l"/>
            <a:r>
              <a:rPr sz="2000" b="1" dirty="0">
                <a:solidFill>
                  <a:srgbClr val="677484"/>
                </a:solidFill>
                <a:highlight>
                  <a:srgbClr val="FFFF00"/>
                </a:highlight>
                <a:latin typeface="Aptos"/>
              </a:rPr>
              <a:t>Inference</a:t>
            </a:r>
            <a:r>
              <a:rPr sz="2000" b="1" dirty="0">
                <a:solidFill>
                  <a:srgbClr val="677484"/>
                </a:solidFill>
                <a:latin typeface="Aptos"/>
              </a:rPr>
              <a:t>:</a:t>
            </a:r>
          </a:p>
        </p:txBody>
      </p:sp>
      <p:sp>
        <p:nvSpPr>
          <p:cNvPr id="12" name="TextBox 11"/>
          <p:cNvSpPr txBox="1"/>
          <p:nvPr/>
        </p:nvSpPr>
        <p:spPr>
          <a:xfrm>
            <a:off x="960120" y="3794760"/>
            <a:ext cx="4480560" cy="400110"/>
          </a:xfrm>
          <a:prstGeom prst="rect">
            <a:avLst/>
          </a:prstGeom>
          <a:noFill/>
        </p:spPr>
        <p:txBody>
          <a:bodyPr wrap="square" lIns="45720" rIns="45720" anchor="t">
            <a:spAutoFit/>
          </a:bodyPr>
          <a:lstStyle/>
          <a:p>
            <a:pPr algn="l"/>
            <a:r>
              <a:rPr sz="2000" b="1" dirty="0">
                <a:solidFill>
                  <a:srgbClr val="2D9B9B"/>
                </a:solidFill>
                <a:latin typeface="Aptos"/>
              </a:rPr>
              <a:t>They probably wanted shade.</a:t>
            </a:r>
          </a:p>
        </p:txBody>
      </p:sp>
      <p:sp>
        <p:nvSpPr>
          <p:cNvPr id="13" name="Rounded Rectangle 12"/>
          <p:cNvSpPr/>
          <p:nvPr/>
        </p:nvSpPr>
        <p:spPr>
          <a:xfrm>
            <a:off x="6492240" y="1737360"/>
            <a:ext cx="1874519" cy="384048"/>
          </a:xfrm>
          <a:prstGeom prst="roundRect">
            <a:avLst/>
          </a:prstGeom>
          <a:solidFill>
            <a:srgbClr val="E06958"/>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47103" y="1746390"/>
            <a:ext cx="1764791" cy="338554"/>
          </a:xfrm>
          <a:prstGeom prst="rect">
            <a:avLst/>
          </a:prstGeom>
          <a:noFill/>
        </p:spPr>
        <p:txBody>
          <a:bodyPr wrap="square" lIns="45720" rIns="45720" anchor="ctr">
            <a:spAutoFit/>
          </a:bodyPr>
          <a:lstStyle/>
          <a:p>
            <a:pPr algn="ctr"/>
            <a:r>
              <a:rPr sz="1600" b="1" dirty="0">
                <a:solidFill>
                  <a:srgbClr val="FFFFFF"/>
                </a:solidFill>
                <a:latin typeface="Aptos"/>
              </a:rPr>
              <a:t>SEVERAL CLUES</a:t>
            </a:r>
          </a:p>
        </p:txBody>
      </p:sp>
      <p:sp>
        <p:nvSpPr>
          <p:cNvPr id="15" name="TextBox 14"/>
          <p:cNvSpPr txBox="1"/>
          <p:nvPr/>
        </p:nvSpPr>
        <p:spPr>
          <a:xfrm>
            <a:off x="6492240" y="2286000"/>
            <a:ext cx="4526280" cy="1234440"/>
          </a:xfrm>
          <a:prstGeom prst="rect">
            <a:avLst/>
          </a:prstGeom>
          <a:noFill/>
        </p:spPr>
        <p:txBody>
          <a:bodyPr wrap="square" lIns="45720" rIns="45720" anchor="t">
            <a:spAutoFit/>
          </a:bodyPr>
          <a:lstStyle/>
          <a:p>
            <a:pPr algn="l"/>
            <a:r>
              <a:rPr sz="2400" b="1" dirty="0">
                <a:solidFill>
                  <a:srgbClr val="1F2937"/>
                </a:solidFill>
                <a:latin typeface="Aptos"/>
              </a:rPr>
              <a:t>Students moved into shade.</a:t>
            </a:r>
            <a:br>
              <a:rPr sz="2400" dirty="0"/>
            </a:br>
            <a:r>
              <a:rPr sz="2400" dirty="0"/>
              <a:t>Teachers moved tables.</a:t>
            </a:r>
            <a:br>
              <a:rPr sz="2400" dirty="0"/>
            </a:br>
            <a:r>
              <a:rPr sz="2400" dirty="0"/>
              <a:t>The school planted trees.</a:t>
            </a:r>
          </a:p>
        </p:txBody>
      </p:sp>
      <p:sp>
        <p:nvSpPr>
          <p:cNvPr id="16" name="TextBox 15"/>
          <p:cNvSpPr txBox="1"/>
          <p:nvPr/>
        </p:nvSpPr>
        <p:spPr>
          <a:xfrm>
            <a:off x="6492240" y="3749039"/>
            <a:ext cx="1371600" cy="707886"/>
          </a:xfrm>
          <a:prstGeom prst="rect">
            <a:avLst/>
          </a:prstGeom>
          <a:noFill/>
        </p:spPr>
        <p:txBody>
          <a:bodyPr wrap="square" lIns="45720" rIns="45720" anchor="t">
            <a:spAutoFit/>
          </a:bodyPr>
          <a:lstStyle/>
          <a:p>
            <a:pPr algn="l"/>
            <a:r>
              <a:rPr sz="2000" b="1" dirty="0">
                <a:solidFill>
                  <a:srgbClr val="677484"/>
                </a:solidFill>
                <a:highlight>
                  <a:srgbClr val="FFFF00"/>
                </a:highlight>
                <a:latin typeface="Aptos"/>
              </a:rPr>
              <a:t>Deduction</a:t>
            </a:r>
            <a:r>
              <a:rPr sz="2000" b="1" dirty="0">
                <a:solidFill>
                  <a:srgbClr val="677484"/>
                </a:solidFill>
                <a:latin typeface="Aptos"/>
              </a:rPr>
              <a:t>:</a:t>
            </a:r>
          </a:p>
        </p:txBody>
      </p:sp>
      <p:sp>
        <p:nvSpPr>
          <p:cNvPr id="17" name="TextBox 16"/>
          <p:cNvSpPr txBox="1"/>
          <p:nvPr/>
        </p:nvSpPr>
        <p:spPr>
          <a:xfrm>
            <a:off x="6492240" y="4096512"/>
            <a:ext cx="4480560" cy="707886"/>
          </a:xfrm>
          <a:prstGeom prst="rect">
            <a:avLst/>
          </a:prstGeom>
          <a:noFill/>
        </p:spPr>
        <p:txBody>
          <a:bodyPr wrap="square" lIns="45720" rIns="45720" anchor="t">
            <a:spAutoFit/>
          </a:bodyPr>
          <a:lstStyle/>
          <a:p>
            <a:pPr algn="l"/>
            <a:r>
              <a:rPr sz="2000" b="1" dirty="0">
                <a:solidFill>
                  <a:srgbClr val="E06958"/>
                </a:solidFill>
                <a:latin typeface="Aptos"/>
              </a:rPr>
              <a:t>Shade was important to people using the playground.</a:t>
            </a:r>
          </a:p>
        </p:txBody>
      </p:sp>
      <p:sp>
        <p:nvSpPr>
          <p:cNvPr id="18" name="TextBox 17"/>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9" name="TextBox 18"/>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YOUR TURN</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Infer or deduce?</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11</a:t>
            </a:r>
          </a:p>
        </p:txBody>
      </p:sp>
      <p:sp>
        <p:nvSpPr>
          <p:cNvPr id="6" name="Rounded Rectangle 5"/>
          <p:cNvSpPr/>
          <p:nvPr/>
        </p:nvSpPr>
        <p:spPr>
          <a:xfrm>
            <a:off x="731520" y="1508760"/>
            <a:ext cx="10698480" cy="118872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508760"/>
            <a:ext cx="109728" cy="1188720"/>
          </a:xfrm>
          <a:prstGeom prst="rect">
            <a:avLst/>
          </a:prstGeom>
          <a:solidFill>
            <a:srgbClr val="2D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45919"/>
            <a:ext cx="365760" cy="365760"/>
          </a:xfrm>
          <a:prstGeom prst="rect">
            <a:avLst/>
          </a:prstGeom>
          <a:noFill/>
        </p:spPr>
        <p:txBody>
          <a:bodyPr wrap="square" lIns="45720" rIns="45720" anchor="t">
            <a:spAutoFit/>
          </a:bodyPr>
          <a:lstStyle/>
          <a:p>
            <a:pPr algn="l"/>
            <a:r>
              <a:rPr sz="3200" b="1">
                <a:solidFill>
                  <a:srgbClr val="2D9B9B"/>
                </a:solidFill>
                <a:latin typeface="Aptos"/>
              </a:rPr>
              <a:t>“</a:t>
            </a:r>
          </a:p>
        </p:txBody>
      </p:sp>
      <p:sp>
        <p:nvSpPr>
          <p:cNvPr id="9" name="TextBox 8"/>
          <p:cNvSpPr txBox="1"/>
          <p:nvPr/>
        </p:nvSpPr>
        <p:spPr>
          <a:xfrm>
            <a:off x="1508760" y="1755648"/>
            <a:ext cx="9601200" cy="954107"/>
          </a:xfrm>
          <a:prstGeom prst="rect">
            <a:avLst/>
          </a:prstGeom>
          <a:noFill/>
        </p:spPr>
        <p:txBody>
          <a:bodyPr wrap="square" lIns="45720" rIns="45720" anchor="t">
            <a:spAutoFit/>
          </a:bodyPr>
          <a:lstStyle/>
          <a:p>
            <a:pPr algn="l"/>
            <a:r>
              <a:rPr sz="2800" b="1" dirty="0">
                <a:solidFill>
                  <a:srgbClr val="1F2937"/>
                </a:solidFill>
                <a:latin typeface="Aptos Display"/>
              </a:rPr>
              <a:t>The library became very quiet after the doors closed. Students lowered their voices and began reading.</a:t>
            </a:r>
          </a:p>
        </p:txBody>
      </p:sp>
      <p:sp>
        <p:nvSpPr>
          <p:cNvPr id="10" name="TextBox 9"/>
          <p:cNvSpPr txBox="1"/>
          <p:nvPr/>
        </p:nvSpPr>
        <p:spPr>
          <a:xfrm>
            <a:off x="777240" y="2872606"/>
            <a:ext cx="3657600" cy="523220"/>
          </a:xfrm>
          <a:prstGeom prst="rect">
            <a:avLst/>
          </a:prstGeom>
          <a:noFill/>
        </p:spPr>
        <p:txBody>
          <a:bodyPr wrap="square" lIns="45720" rIns="45720" anchor="t">
            <a:spAutoFit/>
          </a:bodyPr>
          <a:lstStyle/>
          <a:p>
            <a:pPr algn="l"/>
            <a:r>
              <a:rPr sz="2800" b="1" dirty="0">
                <a:solidFill>
                  <a:srgbClr val="E8B446"/>
                </a:solidFill>
                <a:latin typeface="Aptos"/>
              </a:rPr>
              <a:t>What can you infer?</a:t>
            </a:r>
          </a:p>
        </p:txBody>
      </p:sp>
      <p:sp>
        <p:nvSpPr>
          <p:cNvPr id="11" name="Rounded Rectangle 10"/>
          <p:cNvSpPr/>
          <p:nvPr/>
        </p:nvSpPr>
        <p:spPr>
          <a:xfrm>
            <a:off x="777240" y="3520440"/>
            <a:ext cx="10515600" cy="132588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3822191"/>
            <a:ext cx="9784080" cy="892552"/>
          </a:xfrm>
          <a:prstGeom prst="rect">
            <a:avLst/>
          </a:prstGeom>
          <a:noFill/>
        </p:spPr>
        <p:txBody>
          <a:bodyPr wrap="square" lIns="45720" rIns="45720" anchor="t">
            <a:spAutoFit/>
          </a:bodyPr>
          <a:lstStyle/>
          <a:p>
            <a:pPr algn="l"/>
            <a:r>
              <a:rPr sz="2800" b="1" dirty="0">
                <a:solidFill>
                  <a:srgbClr val="1F2937"/>
                </a:solidFill>
                <a:latin typeface="Aptos Display"/>
              </a:rPr>
              <a:t>I can infer that ______________________________</a:t>
            </a:r>
            <a:br>
              <a:rPr sz="2400" dirty="0"/>
            </a:br>
            <a:r>
              <a:rPr sz="2400" dirty="0"/>
              <a:t>because ______________________________________.</a:t>
            </a:r>
          </a:p>
        </p:txBody>
      </p:sp>
      <p:sp>
        <p:nvSpPr>
          <p:cNvPr id="13" name="Rounded Rectangle 12"/>
          <p:cNvSpPr/>
          <p:nvPr/>
        </p:nvSpPr>
        <p:spPr>
          <a:xfrm>
            <a:off x="777240" y="5212080"/>
            <a:ext cx="2377440" cy="384048"/>
          </a:xfrm>
          <a:prstGeom prst="roundRect">
            <a:avLst/>
          </a:prstGeom>
          <a:solidFill>
            <a:srgbClr val="162338"/>
          </a:solidFill>
          <a:ln w="12700">
            <a:solidFill>
              <a:srgbClr val="16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2" y="5159557"/>
            <a:ext cx="3602737" cy="461665"/>
          </a:xfrm>
          <a:prstGeom prst="rect">
            <a:avLst/>
          </a:prstGeom>
          <a:noFill/>
        </p:spPr>
        <p:txBody>
          <a:bodyPr wrap="square" lIns="45720" rIns="45720" anchor="ctr">
            <a:spAutoFit/>
          </a:bodyPr>
          <a:lstStyle/>
          <a:p>
            <a:pPr algn="ctr"/>
            <a:r>
              <a:rPr sz="2400" b="1" dirty="0">
                <a:highlight>
                  <a:srgbClr val="FFFF00"/>
                </a:highlight>
                <a:latin typeface="Aptos"/>
              </a:rPr>
              <a:t>WRITE LIKE A DETECTIVE</a:t>
            </a:r>
          </a:p>
        </p:txBody>
      </p:sp>
      <p:sp>
        <p:nvSpPr>
          <p:cNvPr id="15" name="TextBox 14"/>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6" name="TextBox 15"/>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Inference answer</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12</a:t>
            </a:r>
          </a:p>
        </p:txBody>
      </p:sp>
      <p:sp>
        <p:nvSpPr>
          <p:cNvPr id="6" name="TextBox 5"/>
          <p:cNvSpPr txBox="1"/>
          <p:nvPr/>
        </p:nvSpPr>
        <p:spPr>
          <a:xfrm>
            <a:off x="777240" y="1554480"/>
            <a:ext cx="10424160" cy="777240"/>
          </a:xfrm>
          <a:prstGeom prst="rect">
            <a:avLst/>
          </a:prstGeom>
          <a:noFill/>
        </p:spPr>
        <p:txBody>
          <a:bodyPr wrap="square" lIns="45720" rIns="45720" anchor="t">
            <a:spAutoFit/>
          </a:bodyPr>
          <a:lstStyle/>
          <a:p>
            <a:pPr algn="l"/>
            <a:r>
              <a:rPr sz="2400" b="1">
                <a:solidFill>
                  <a:srgbClr val="1F2937"/>
                </a:solidFill>
                <a:latin typeface="Aptos Display"/>
              </a:rPr>
              <a:t>Students probably understood that they needed to be quiet in the library.</a:t>
            </a:r>
          </a:p>
        </p:txBody>
      </p:sp>
      <p:sp>
        <p:nvSpPr>
          <p:cNvPr id="7" name="Rounded Rectangle 6"/>
          <p:cNvSpPr/>
          <p:nvPr/>
        </p:nvSpPr>
        <p:spPr>
          <a:xfrm>
            <a:off x="777240" y="2743200"/>
            <a:ext cx="6492240" cy="91440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2743200"/>
            <a:ext cx="109728" cy="914400"/>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2880360"/>
            <a:ext cx="365760" cy="365760"/>
          </a:xfrm>
          <a:prstGeom prst="rect">
            <a:avLst/>
          </a:prstGeom>
          <a:noFill/>
        </p:spPr>
        <p:txBody>
          <a:bodyPr wrap="square" lIns="45720" rIns="45720" anchor="t">
            <a:spAutoFit/>
          </a:bodyPr>
          <a:lstStyle/>
          <a:p>
            <a:pPr algn="l"/>
            <a:r>
              <a:rPr sz="3200" b="1">
                <a:solidFill>
                  <a:srgbClr val="E8B446"/>
                </a:solidFill>
                <a:latin typeface="Aptos"/>
              </a:rPr>
              <a:t>“</a:t>
            </a:r>
          </a:p>
        </p:txBody>
      </p:sp>
      <p:sp>
        <p:nvSpPr>
          <p:cNvPr id="10" name="TextBox 9"/>
          <p:cNvSpPr txBox="1"/>
          <p:nvPr/>
        </p:nvSpPr>
        <p:spPr>
          <a:xfrm>
            <a:off x="1554480" y="2990088"/>
            <a:ext cx="5394959" cy="461665"/>
          </a:xfrm>
          <a:prstGeom prst="rect">
            <a:avLst/>
          </a:prstGeom>
          <a:noFill/>
        </p:spPr>
        <p:txBody>
          <a:bodyPr wrap="square" lIns="45720" rIns="45720" anchor="t">
            <a:spAutoFit/>
          </a:bodyPr>
          <a:lstStyle/>
          <a:p>
            <a:pPr algn="l"/>
            <a:r>
              <a:rPr sz="2400" b="1" dirty="0">
                <a:solidFill>
                  <a:srgbClr val="1F2937"/>
                </a:solidFill>
                <a:latin typeface="Aptos Display"/>
              </a:rPr>
              <a:t>“Students lowered their voices.”</a:t>
            </a:r>
          </a:p>
        </p:txBody>
      </p:sp>
      <p:sp>
        <p:nvSpPr>
          <p:cNvPr id="11" name="Rounded Rectangle 10"/>
          <p:cNvSpPr/>
          <p:nvPr/>
        </p:nvSpPr>
        <p:spPr>
          <a:xfrm>
            <a:off x="7589520" y="2926080"/>
            <a:ext cx="1508760" cy="384048"/>
          </a:xfrm>
          <a:prstGeom prst="roundRect">
            <a:avLst/>
          </a:prstGeom>
          <a:solidFill>
            <a:srgbClr val="2D9B9B"/>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44384" y="2873556"/>
            <a:ext cx="1870808" cy="461665"/>
          </a:xfrm>
          <a:prstGeom prst="rect">
            <a:avLst/>
          </a:prstGeom>
          <a:noFill/>
        </p:spPr>
        <p:txBody>
          <a:bodyPr wrap="square" lIns="45720" rIns="45720" anchor="ctr">
            <a:spAutoFit/>
          </a:bodyPr>
          <a:lstStyle/>
          <a:p>
            <a:pPr algn="ctr"/>
            <a:r>
              <a:rPr sz="2400" b="1" dirty="0">
                <a:highlight>
                  <a:srgbClr val="FFFF00"/>
                </a:highlight>
                <a:latin typeface="Aptos"/>
              </a:rPr>
              <a:t>EVIDENCE</a:t>
            </a:r>
          </a:p>
        </p:txBody>
      </p:sp>
      <p:sp>
        <p:nvSpPr>
          <p:cNvPr id="13" name="TextBox 12"/>
          <p:cNvSpPr txBox="1"/>
          <p:nvPr/>
        </p:nvSpPr>
        <p:spPr>
          <a:xfrm>
            <a:off x="7589520" y="3401568"/>
            <a:ext cx="3017520" cy="830997"/>
          </a:xfrm>
          <a:prstGeom prst="rect">
            <a:avLst/>
          </a:prstGeom>
          <a:noFill/>
        </p:spPr>
        <p:txBody>
          <a:bodyPr wrap="square" lIns="45720" rIns="45720" anchor="t">
            <a:spAutoFit/>
          </a:bodyPr>
          <a:lstStyle/>
          <a:p>
            <a:pPr algn="l"/>
            <a:r>
              <a:rPr sz="2400" b="1" dirty="0">
                <a:solidFill>
                  <a:srgbClr val="1F2937"/>
                </a:solidFill>
                <a:latin typeface="Aptos"/>
              </a:rPr>
              <a:t>This </a:t>
            </a:r>
            <a:r>
              <a:rPr sz="2400" b="1" dirty="0" err="1">
                <a:solidFill>
                  <a:srgbClr val="1F2937"/>
                </a:solidFill>
                <a:latin typeface="Aptos"/>
              </a:rPr>
              <a:t>behaviour</a:t>
            </a:r>
            <a:r>
              <a:rPr sz="2400" b="1" dirty="0">
                <a:solidFill>
                  <a:srgbClr val="1F2937"/>
                </a:solidFill>
                <a:latin typeface="Aptos"/>
              </a:rPr>
              <a:t> gives us the clue.</a:t>
            </a:r>
          </a:p>
        </p:txBody>
      </p:sp>
      <p:sp>
        <p:nvSpPr>
          <p:cNvPr id="14" name="TextBox 13"/>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5" name="TextBox 14"/>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MISSION 4</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What does “suggest” mean?</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13</a:t>
            </a:r>
          </a:p>
        </p:txBody>
      </p:sp>
      <p:sp>
        <p:nvSpPr>
          <p:cNvPr id="6" name="Rounded Rectangle 5"/>
          <p:cNvSpPr/>
          <p:nvPr/>
        </p:nvSpPr>
        <p:spPr>
          <a:xfrm>
            <a:off x="777239" y="1508760"/>
            <a:ext cx="3206285" cy="384048"/>
          </a:xfrm>
          <a:prstGeom prst="roundRect">
            <a:avLst/>
          </a:prstGeom>
          <a:solidFill>
            <a:srgbClr val="745B96"/>
          </a:solidFill>
          <a:ln w="12700">
            <a:solidFill>
              <a:srgbClr val="745B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3" y="1425457"/>
            <a:ext cx="2771176" cy="523220"/>
          </a:xfrm>
          <a:prstGeom prst="rect">
            <a:avLst/>
          </a:prstGeom>
          <a:noFill/>
        </p:spPr>
        <p:txBody>
          <a:bodyPr wrap="square" lIns="45720" rIns="45720" anchor="ctr">
            <a:spAutoFit/>
          </a:bodyPr>
          <a:lstStyle/>
          <a:p>
            <a:pPr algn="ctr"/>
            <a:r>
              <a:rPr sz="2800" b="1" dirty="0">
                <a:solidFill>
                  <a:srgbClr val="FFFFFF"/>
                </a:solidFill>
                <a:latin typeface="Aptos"/>
              </a:rPr>
              <a:t>INTERPRET</a:t>
            </a:r>
          </a:p>
        </p:txBody>
      </p:sp>
      <p:sp>
        <p:nvSpPr>
          <p:cNvPr id="8" name="TextBox 7"/>
          <p:cNvSpPr txBox="1"/>
          <p:nvPr/>
        </p:nvSpPr>
        <p:spPr>
          <a:xfrm>
            <a:off x="594360" y="2883619"/>
            <a:ext cx="5943600" cy="1384995"/>
          </a:xfrm>
          <a:prstGeom prst="rect">
            <a:avLst/>
          </a:prstGeom>
          <a:noFill/>
        </p:spPr>
        <p:txBody>
          <a:bodyPr wrap="square" lIns="45720" rIns="45720" anchor="t">
            <a:spAutoFit/>
          </a:bodyPr>
          <a:lstStyle/>
          <a:p>
            <a:pPr algn="l"/>
            <a:r>
              <a:rPr sz="2800" b="1" dirty="0">
                <a:solidFill>
                  <a:srgbClr val="1F2937"/>
                </a:solidFill>
                <a:latin typeface="Aptos Display"/>
              </a:rPr>
              <a:t>When a question asks:</a:t>
            </a:r>
            <a:endParaRPr lang="en-US" sz="2800" b="1" dirty="0">
              <a:solidFill>
                <a:srgbClr val="1F2937"/>
              </a:solidFill>
              <a:latin typeface="Aptos Display"/>
            </a:endParaRPr>
          </a:p>
          <a:p>
            <a:pPr algn="l"/>
            <a:br>
              <a:rPr sz="2800" dirty="0"/>
            </a:br>
            <a:r>
              <a:rPr sz="2800" dirty="0"/>
              <a:t>“What does this word </a:t>
            </a:r>
            <a:r>
              <a:rPr sz="2800" dirty="0">
                <a:highlight>
                  <a:srgbClr val="FFFF00"/>
                </a:highlight>
              </a:rPr>
              <a:t>suggest</a:t>
            </a:r>
            <a:r>
              <a:rPr sz="2800" dirty="0"/>
              <a:t>?”</a:t>
            </a:r>
          </a:p>
        </p:txBody>
      </p:sp>
      <p:sp>
        <p:nvSpPr>
          <p:cNvPr id="9" name="Rounded Rectangle 8"/>
          <p:cNvSpPr/>
          <p:nvPr/>
        </p:nvSpPr>
        <p:spPr>
          <a:xfrm>
            <a:off x="6812280" y="1508760"/>
            <a:ext cx="4434840" cy="347472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78040" y="1771703"/>
            <a:ext cx="3657600" cy="461665"/>
          </a:xfrm>
          <a:prstGeom prst="rect">
            <a:avLst/>
          </a:prstGeom>
          <a:noFill/>
        </p:spPr>
        <p:txBody>
          <a:bodyPr wrap="square" lIns="45720" rIns="45720" anchor="t">
            <a:spAutoFit/>
          </a:bodyPr>
          <a:lstStyle/>
          <a:p>
            <a:pPr algn="ctr"/>
            <a:r>
              <a:rPr sz="2400" b="1" dirty="0">
                <a:solidFill>
                  <a:srgbClr val="E06958"/>
                </a:solidFill>
                <a:latin typeface="Aptos"/>
              </a:rPr>
              <a:t>DON'T ASK</a:t>
            </a:r>
          </a:p>
        </p:txBody>
      </p:sp>
      <p:sp>
        <p:nvSpPr>
          <p:cNvPr id="11" name="TextBox 10"/>
          <p:cNvSpPr txBox="1"/>
          <p:nvPr/>
        </p:nvSpPr>
        <p:spPr>
          <a:xfrm>
            <a:off x="6812280" y="2471193"/>
            <a:ext cx="4236720" cy="830997"/>
          </a:xfrm>
          <a:prstGeom prst="rect">
            <a:avLst/>
          </a:prstGeom>
          <a:noFill/>
        </p:spPr>
        <p:txBody>
          <a:bodyPr wrap="square" lIns="45720" rIns="45720" anchor="t">
            <a:spAutoFit/>
          </a:bodyPr>
          <a:lstStyle/>
          <a:p>
            <a:pPr algn="ctr"/>
            <a:r>
              <a:rPr sz="2400" b="1" dirty="0">
                <a:solidFill>
                  <a:srgbClr val="1F2937"/>
                </a:solidFill>
                <a:latin typeface="Aptos"/>
              </a:rPr>
              <a:t>“What is the dictionary meaning?”</a:t>
            </a:r>
          </a:p>
        </p:txBody>
      </p:sp>
      <p:sp>
        <p:nvSpPr>
          <p:cNvPr id="12" name="TextBox 11"/>
          <p:cNvSpPr txBox="1"/>
          <p:nvPr/>
        </p:nvSpPr>
        <p:spPr>
          <a:xfrm>
            <a:off x="7178040" y="3337560"/>
            <a:ext cx="3657600" cy="461665"/>
          </a:xfrm>
          <a:prstGeom prst="rect">
            <a:avLst/>
          </a:prstGeom>
          <a:noFill/>
        </p:spPr>
        <p:txBody>
          <a:bodyPr wrap="square" lIns="45720" rIns="45720" anchor="t">
            <a:spAutoFit/>
          </a:bodyPr>
          <a:lstStyle/>
          <a:p>
            <a:pPr algn="ctr"/>
            <a:r>
              <a:rPr sz="2400" b="1" dirty="0">
                <a:solidFill>
                  <a:srgbClr val="2D9B9B"/>
                </a:solidFill>
                <a:latin typeface="Aptos"/>
              </a:rPr>
              <a:t>ASK</a:t>
            </a:r>
          </a:p>
        </p:txBody>
      </p:sp>
      <p:sp>
        <p:nvSpPr>
          <p:cNvPr id="13" name="TextBox 12"/>
          <p:cNvSpPr txBox="1"/>
          <p:nvPr/>
        </p:nvSpPr>
        <p:spPr>
          <a:xfrm>
            <a:off x="6995160" y="3840480"/>
            <a:ext cx="3840480" cy="830997"/>
          </a:xfrm>
          <a:prstGeom prst="rect">
            <a:avLst/>
          </a:prstGeom>
          <a:noFill/>
        </p:spPr>
        <p:txBody>
          <a:bodyPr wrap="square" lIns="45720" rIns="45720" anchor="t">
            <a:spAutoFit/>
          </a:bodyPr>
          <a:lstStyle/>
          <a:p>
            <a:pPr algn="ctr"/>
            <a:r>
              <a:rPr sz="2400" b="1" dirty="0">
                <a:solidFill>
                  <a:srgbClr val="1F2937"/>
                </a:solidFill>
                <a:latin typeface="Aptos"/>
              </a:rPr>
              <a:t>“What idea does this word make me think of HERE?”</a:t>
            </a:r>
          </a:p>
        </p:txBody>
      </p:sp>
      <p:sp>
        <p:nvSpPr>
          <p:cNvPr id="14" name="TextBox 13"/>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5" name="TextBox 14"/>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INTERPRET</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What does the word suggest?</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14</a:t>
            </a:r>
          </a:p>
        </p:txBody>
      </p:sp>
      <p:sp>
        <p:nvSpPr>
          <p:cNvPr id="6" name="Rounded Rectangle 5"/>
          <p:cNvSpPr/>
          <p:nvPr/>
        </p:nvSpPr>
        <p:spPr>
          <a:xfrm>
            <a:off x="731520" y="1508760"/>
            <a:ext cx="10698480" cy="100584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508760"/>
            <a:ext cx="109728" cy="1005840"/>
          </a:xfrm>
          <a:prstGeom prst="rect">
            <a:avLst/>
          </a:prstGeom>
          <a:solidFill>
            <a:srgbClr val="74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45919"/>
            <a:ext cx="365760" cy="365760"/>
          </a:xfrm>
          <a:prstGeom prst="rect">
            <a:avLst/>
          </a:prstGeom>
          <a:noFill/>
        </p:spPr>
        <p:txBody>
          <a:bodyPr wrap="square" lIns="45720" rIns="45720" anchor="t">
            <a:spAutoFit/>
          </a:bodyPr>
          <a:lstStyle/>
          <a:p>
            <a:pPr algn="l"/>
            <a:r>
              <a:rPr sz="3200" b="1">
                <a:solidFill>
                  <a:srgbClr val="745B96"/>
                </a:solidFill>
                <a:latin typeface="Aptos"/>
              </a:rPr>
              <a:t>“</a:t>
            </a:r>
          </a:p>
        </p:txBody>
      </p:sp>
      <p:sp>
        <p:nvSpPr>
          <p:cNvPr id="9" name="TextBox 8"/>
          <p:cNvSpPr txBox="1"/>
          <p:nvPr/>
        </p:nvSpPr>
        <p:spPr>
          <a:xfrm>
            <a:off x="1508760" y="1755648"/>
            <a:ext cx="9601200" cy="594360"/>
          </a:xfrm>
          <a:prstGeom prst="rect">
            <a:avLst/>
          </a:prstGeom>
          <a:noFill/>
        </p:spPr>
        <p:txBody>
          <a:bodyPr wrap="square" lIns="45720" rIns="45720" anchor="t">
            <a:spAutoFit/>
          </a:bodyPr>
          <a:lstStyle/>
          <a:p>
            <a:pPr algn="l"/>
            <a:r>
              <a:rPr sz="2200" b="1">
                <a:solidFill>
                  <a:srgbClr val="1F2937"/>
                </a:solidFill>
                <a:latin typeface="Aptos Display"/>
              </a:rPr>
              <a:t>The trees quietly performed several useful jobs in the city.</a:t>
            </a:r>
          </a:p>
        </p:txBody>
      </p:sp>
      <p:sp>
        <p:nvSpPr>
          <p:cNvPr id="10" name="TextBox 9"/>
          <p:cNvSpPr txBox="1"/>
          <p:nvPr/>
        </p:nvSpPr>
        <p:spPr>
          <a:xfrm>
            <a:off x="777240" y="2788920"/>
            <a:ext cx="4572000" cy="461665"/>
          </a:xfrm>
          <a:prstGeom prst="rect">
            <a:avLst/>
          </a:prstGeom>
          <a:noFill/>
        </p:spPr>
        <p:txBody>
          <a:bodyPr wrap="square" lIns="45720" rIns="45720" anchor="t">
            <a:spAutoFit/>
          </a:bodyPr>
          <a:lstStyle/>
          <a:p>
            <a:pPr algn="l"/>
            <a:r>
              <a:rPr sz="2400" b="1" dirty="0">
                <a:solidFill>
                  <a:srgbClr val="E8B446"/>
                </a:solidFill>
                <a:latin typeface="Aptos"/>
              </a:rPr>
              <a:t>What does “quietly” suggest?</a:t>
            </a:r>
          </a:p>
        </p:txBody>
      </p:sp>
      <p:sp>
        <p:nvSpPr>
          <p:cNvPr id="11" name="Rounded Rectangle 10"/>
          <p:cNvSpPr/>
          <p:nvPr/>
        </p:nvSpPr>
        <p:spPr>
          <a:xfrm>
            <a:off x="777240" y="3291840"/>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447288"/>
            <a:ext cx="320040" cy="274320"/>
          </a:xfrm>
          <a:prstGeom prst="rect">
            <a:avLst/>
          </a:prstGeom>
          <a:noFill/>
        </p:spPr>
        <p:txBody>
          <a:bodyPr wrap="square" lIns="45720" rIns="45720" anchor="t">
            <a:spAutoFit/>
          </a:bodyPr>
          <a:lstStyle/>
          <a:p>
            <a:pPr algn="l"/>
            <a:r>
              <a:rPr sz="1500" b="1">
                <a:solidFill>
                  <a:srgbClr val="162338"/>
                </a:solidFill>
                <a:latin typeface="Aptos"/>
              </a:rPr>
              <a:t>A</a:t>
            </a:r>
          </a:p>
        </p:txBody>
      </p:sp>
      <p:sp>
        <p:nvSpPr>
          <p:cNvPr id="14" name="Rounded Rectangle 13"/>
          <p:cNvSpPr/>
          <p:nvPr/>
        </p:nvSpPr>
        <p:spPr>
          <a:xfrm>
            <a:off x="777240" y="4151376"/>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306824"/>
            <a:ext cx="320040" cy="274320"/>
          </a:xfrm>
          <a:prstGeom prst="rect">
            <a:avLst/>
          </a:prstGeom>
          <a:noFill/>
        </p:spPr>
        <p:txBody>
          <a:bodyPr wrap="square" lIns="45720" rIns="45720" anchor="t">
            <a:spAutoFit/>
          </a:bodyPr>
          <a:lstStyle/>
          <a:p>
            <a:pPr algn="l"/>
            <a:r>
              <a:rPr sz="1500" b="1" dirty="0">
                <a:solidFill>
                  <a:srgbClr val="162338"/>
                </a:solidFill>
                <a:latin typeface="Aptos"/>
              </a:rPr>
              <a:t>B</a:t>
            </a:r>
          </a:p>
        </p:txBody>
      </p:sp>
      <p:sp>
        <p:nvSpPr>
          <p:cNvPr id="16" name="TextBox 15"/>
          <p:cNvSpPr txBox="1"/>
          <p:nvPr/>
        </p:nvSpPr>
        <p:spPr>
          <a:xfrm>
            <a:off x="1371600" y="3400184"/>
            <a:ext cx="9738360" cy="461665"/>
          </a:xfrm>
          <a:prstGeom prst="rect">
            <a:avLst/>
          </a:prstGeom>
          <a:noFill/>
        </p:spPr>
        <p:txBody>
          <a:bodyPr wrap="square" lIns="45720" rIns="45720" anchor="t">
            <a:spAutoFit/>
          </a:bodyPr>
          <a:lstStyle/>
          <a:p>
            <a:pPr algn="l"/>
            <a:r>
              <a:rPr sz="2400" b="0" dirty="0">
                <a:solidFill>
                  <a:srgbClr val="1F2937"/>
                </a:solidFill>
                <a:latin typeface="Aptos"/>
              </a:rPr>
              <a:t>The trees were providing benefits without people noticing them easily.</a:t>
            </a:r>
          </a:p>
        </p:txBody>
      </p:sp>
      <p:sp>
        <p:nvSpPr>
          <p:cNvPr id="17" name="Rounded Rectangle 16"/>
          <p:cNvSpPr/>
          <p:nvPr/>
        </p:nvSpPr>
        <p:spPr>
          <a:xfrm>
            <a:off x="777240" y="5010912"/>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8" y="5166360"/>
            <a:ext cx="320040" cy="274320"/>
          </a:xfrm>
          <a:prstGeom prst="rect">
            <a:avLst/>
          </a:prstGeom>
          <a:noFill/>
        </p:spPr>
        <p:txBody>
          <a:bodyPr wrap="square" lIns="45720" rIns="45720" anchor="t">
            <a:spAutoFit/>
          </a:bodyPr>
          <a:lstStyle/>
          <a:p>
            <a:pPr algn="l"/>
            <a:r>
              <a:rPr sz="1500" b="1">
                <a:solidFill>
                  <a:srgbClr val="162338"/>
                </a:solidFill>
                <a:latin typeface="Aptos"/>
              </a:rPr>
              <a:t>C</a:t>
            </a:r>
          </a:p>
        </p:txBody>
      </p:sp>
      <p:sp>
        <p:nvSpPr>
          <p:cNvPr id="19" name="TextBox 18"/>
          <p:cNvSpPr txBox="1"/>
          <p:nvPr/>
        </p:nvSpPr>
        <p:spPr>
          <a:xfrm>
            <a:off x="1417319" y="5120640"/>
            <a:ext cx="9738360" cy="461665"/>
          </a:xfrm>
          <a:prstGeom prst="rect">
            <a:avLst/>
          </a:prstGeom>
          <a:noFill/>
        </p:spPr>
        <p:txBody>
          <a:bodyPr wrap="square" lIns="45720" rIns="45720" anchor="t">
            <a:spAutoFit/>
          </a:bodyPr>
          <a:lstStyle/>
          <a:p>
            <a:pPr algn="l"/>
            <a:r>
              <a:rPr sz="2400" b="0" dirty="0">
                <a:solidFill>
                  <a:srgbClr val="1F2937"/>
                </a:solidFill>
                <a:latin typeface="Aptos"/>
              </a:rPr>
              <a:t>The trees were not useful.</a:t>
            </a:r>
          </a:p>
        </p:txBody>
      </p:sp>
      <p:sp>
        <p:nvSpPr>
          <p:cNvPr id="20" name="TextBox 19"/>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1" name="TextBox 20"/>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
        <p:nvSpPr>
          <p:cNvPr id="23" name="TextBox 22">
            <a:extLst>
              <a:ext uri="{FF2B5EF4-FFF2-40B4-BE49-F238E27FC236}">
                <a16:creationId xmlns:a16="http://schemas.microsoft.com/office/drawing/2014/main" id="{BCE49192-58E3-448B-BD89-50FC92BE1BA9}"/>
              </a:ext>
            </a:extLst>
          </p:cNvPr>
          <p:cNvSpPr txBox="1"/>
          <p:nvPr/>
        </p:nvSpPr>
        <p:spPr>
          <a:xfrm>
            <a:off x="1371600" y="4176796"/>
            <a:ext cx="9738360" cy="523220"/>
          </a:xfrm>
          <a:prstGeom prst="rect">
            <a:avLst/>
          </a:prstGeom>
          <a:noFill/>
        </p:spPr>
        <p:txBody>
          <a:bodyPr wrap="square" lIns="45720" rIns="45720" anchor="t">
            <a:spAutoFit/>
          </a:bodyPr>
          <a:lstStyle/>
          <a:p>
            <a:pPr algn="l"/>
            <a:r>
              <a:rPr sz="2800" b="0" dirty="0">
                <a:solidFill>
                  <a:srgbClr val="1F2937"/>
                </a:solidFill>
                <a:latin typeface="Aptos"/>
              </a:rPr>
              <a:t>The trees were making a loud noise.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Interpret the word in context</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15</a:t>
            </a:r>
          </a:p>
        </p:txBody>
      </p:sp>
      <p:sp>
        <p:nvSpPr>
          <p:cNvPr id="6" name="Rounded Rectangle 5"/>
          <p:cNvSpPr/>
          <p:nvPr/>
        </p:nvSpPr>
        <p:spPr>
          <a:xfrm>
            <a:off x="777240" y="1417320"/>
            <a:ext cx="1828800" cy="384048"/>
          </a:xfrm>
          <a:prstGeom prst="roundRect">
            <a:avLst/>
          </a:prstGeom>
          <a:solidFill>
            <a:srgbClr val="4F9167"/>
          </a:solidFill>
          <a:ln w="12700">
            <a:solidFill>
              <a:srgbClr val="4F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2" y="1303240"/>
            <a:ext cx="3667469" cy="584775"/>
          </a:xfrm>
          <a:prstGeom prst="rect">
            <a:avLst/>
          </a:prstGeom>
          <a:noFill/>
        </p:spPr>
        <p:txBody>
          <a:bodyPr wrap="square" lIns="45720" rIns="45720" anchor="ctr">
            <a:spAutoFit/>
          </a:bodyPr>
          <a:lstStyle/>
          <a:p>
            <a:pPr algn="ctr"/>
            <a:r>
              <a:rPr sz="3200" b="1" dirty="0">
                <a:highlight>
                  <a:srgbClr val="FFFF00"/>
                </a:highlight>
                <a:latin typeface="Aptos"/>
              </a:rPr>
              <a:t>✓ ANSWER  </a:t>
            </a:r>
            <a:r>
              <a:rPr lang="en-US" sz="3200" b="1" dirty="0">
                <a:highlight>
                  <a:srgbClr val="FFFF00"/>
                </a:highlight>
                <a:latin typeface="Aptos"/>
              </a:rPr>
              <a:t>A</a:t>
            </a:r>
            <a:endParaRPr sz="3200" b="1" dirty="0">
              <a:highlight>
                <a:srgbClr val="FFFF00"/>
              </a:highlight>
              <a:latin typeface="Aptos"/>
            </a:endParaRPr>
          </a:p>
        </p:txBody>
      </p:sp>
      <p:sp>
        <p:nvSpPr>
          <p:cNvPr id="8" name="TextBox 7"/>
          <p:cNvSpPr txBox="1"/>
          <p:nvPr/>
        </p:nvSpPr>
        <p:spPr>
          <a:xfrm>
            <a:off x="777239" y="2227118"/>
            <a:ext cx="11064693" cy="415498"/>
          </a:xfrm>
          <a:prstGeom prst="rect">
            <a:avLst/>
          </a:prstGeom>
          <a:noFill/>
        </p:spPr>
        <p:txBody>
          <a:bodyPr wrap="square" lIns="45720" rIns="45720" anchor="t">
            <a:spAutoFit/>
          </a:bodyPr>
          <a:lstStyle/>
          <a:p>
            <a:pPr algn="l"/>
            <a:r>
              <a:rPr sz="2100" b="1" dirty="0">
                <a:solidFill>
                  <a:srgbClr val="1F2937"/>
                </a:solidFill>
                <a:latin typeface="Aptos Display"/>
              </a:rPr>
              <a:t>“Quietly” suggests that the trees were doing useful things without attracting much attention.</a:t>
            </a:r>
          </a:p>
        </p:txBody>
      </p:sp>
      <p:sp>
        <p:nvSpPr>
          <p:cNvPr id="9" name="TextBox 8"/>
          <p:cNvSpPr txBox="1"/>
          <p:nvPr/>
        </p:nvSpPr>
        <p:spPr>
          <a:xfrm>
            <a:off x="777240" y="2964995"/>
            <a:ext cx="6400800" cy="461665"/>
          </a:xfrm>
          <a:prstGeom prst="rect">
            <a:avLst/>
          </a:prstGeom>
          <a:noFill/>
        </p:spPr>
        <p:txBody>
          <a:bodyPr wrap="square" lIns="45720" rIns="45720" anchor="t">
            <a:spAutoFit/>
          </a:bodyPr>
          <a:lstStyle/>
          <a:p>
            <a:pPr algn="l"/>
            <a:r>
              <a:rPr sz="2400" b="0" dirty="0">
                <a:solidFill>
                  <a:srgbClr val="677484"/>
                </a:solidFill>
                <a:latin typeface="Aptos"/>
              </a:rPr>
              <a:t>The article explains that some benefits are:</a:t>
            </a:r>
          </a:p>
        </p:txBody>
      </p:sp>
      <p:sp>
        <p:nvSpPr>
          <p:cNvPr id="10" name="Rounded Rectangle 9"/>
          <p:cNvSpPr/>
          <p:nvPr/>
        </p:nvSpPr>
        <p:spPr>
          <a:xfrm>
            <a:off x="777240" y="3749039"/>
            <a:ext cx="5943600" cy="91440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77240" y="3749039"/>
            <a:ext cx="109728" cy="914400"/>
          </a:xfrm>
          <a:prstGeom prst="rect">
            <a:avLst/>
          </a:prstGeom>
          <a:solidFill>
            <a:srgbClr val="74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3886200"/>
            <a:ext cx="365760" cy="365760"/>
          </a:xfrm>
          <a:prstGeom prst="rect">
            <a:avLst/>
          </a:prstGeom>
          <a:noFill/>
        </p:spPr>
        <p:txBody>
          <a:bodyPr wrap="square" lIns="45720" rIns="45720" anchor="t">
            <a:spAutoFit/>
          </a:bodyPr>
          <a:lstStyle/>
          <a:p>
            <a:pPr algn="l"/>
            <a:r>
              <a:rPr sz="3200" b="1">
                <a:solidFill>
                  <a:srgbClr val="745B96"/>
                </a:solidFill>
                <a:latin typeface="Aptos"/>
              </a:rPr>
              <a:t>“</a:t>
            </a:r>
          </a:p>
        </p:txBody>
      </p:sp>
      <p:sp>
        <p:nvSpPr>
          <p:cNvPr id="13" name="TextBox 12"/>
          <p:cNvSpPr txBox="1"/>
          <p:nvPr/>
        </p:nvSpPr>
        <p:spPr>
          <a:xfrm>
            <a:off x="1554480" y="3995927"/>
            <a:ext cx="4846320" cy="502920"/>
          </a:xfrm>
          <a:prstGeom prst="rect">
            <a:avLst/>
          </a:prstGeom>
          <a:noFill/>
        </p:spPr>
        <p:txBody>
          <a:bodyPr wrap="square" lIns="45720" rIns="45720" anchor="t">
            <a:spAutoFit/>
          </a:bodyPr>
          <a:lstStyle/>
          <a:p>
            <a:pPr algn="l"/>
            <a:r>
              <a:rPr sz="2200" b="1">
                <a:solidFill>
                  <a:srgbClr val="1F2937"/>
                </a:solidFill>
                <a:latin typeface="Aptos Display"/>
              </a:rPr>
              <a:t>“easy to overlook.”</a:t>
            </a:r>
          </a:p>
        </p:txBody>
      </p:sp>
      <p:sp>
        <p:nvSpPr>
          <p:cNvPr id="14" name="TextBox 13"/>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5" name="TextBox 14"/>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THE DETECTIVE MAP</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Three skills. One essential habit.</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16</a:t>
            </a:r>
          </a:p>
        </p:txBody>
      </p:sp>
      <p:sp>
        <p:nvSpPr>
          <p:cNvPr id="6" name="Rounded Rectangle 5"/>
          <p:cNvSpPr/>
          <p:nvPr/>
        </p:nvSpPr>
        <p:spPr>
          <a:xfrm>
            <a:off x="731520" y="1645920"/>
            <a:ext cx="3462528" cy="1719072"/>
          </a:xfrm>
          <a:prstGeom prst="roundRect">
            <a:avLst/>
          </a:prstGeom>
          <a:solidFill>
            <a:srgbClr val="FFFFFF"/>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792224"/>
            <a:ext cx="3243072" cy="461665"/>
          </a:xfrm>
          <a:prstGeom prst="rect">
            <a:avLst/>
          </a:prstGeom>
          <a:noFill/>
        </p:spPr>
        <p:txBody>
          <a:bodyPr wrap="square" lIns="45720" rIns="45720" anchor="t">
            <a:spAutoFit/>
          </a:bodyPr>
          <a:lstStyle/>
          <a:p>
            <a:pPr algn="ctr"/>
            <a:r>
              <a:rPr sz="2400" b="1" dirty="0">
                <a:solidFill>
                  <a:srgbClr val="2D9B9B"/>
                </a:solidFill>
                <a:latin typeface="Aptos"/>
              </a:rPr>
              <a:t>INFER</a:t>
            </a:r>
          </a:p>
        </p:txBody>
      </p:sp>
      <p:sp>
        <p:nvSpPr>
          <p:cNvPr id="8" name="TextBox 7"/>
          <p:cNvSpPr txBox="1"/>
          <p:nvPr/>
        </p:nvSpPr>
        <p:spPr>
          <a:xfrm>
            <a:off x="841248" y="2121408"/>
            <a:ext cx="3243072" cy="954107"/>
          </a:xfrm>
          <a:prstGeom prst="rect">
            <a:avLst/>
          </a:prstGeom>
          <a:noFill/>
        </p:spPr>
        <p:txBody>
          <a:bodyPr wrap="square" lIns="45720" rIns="45720" anchor="t">
            <a:spAutoFit/>
          </a:bodyPr>
          <a:lstStyle/>
          <a:p>
            <a:pPr algn="ctr"/>
            <a:r>
              <a:rPr sz="2800" b="0" dirty="0">
                <a:solidFill>
                  <a:srgbClr val="677484"/>
                </a:solidFill>
                <a:latin typeface="Aptos"/>
              </a:rPr>
              <a:t>One clue → </a:t>
            </a:r>
            <a:endParaRPr lang="en-US" sz="2800" b="0" dirty="0">
              <a:solidFill>
                <a:srgbClr val="677484"/>
              </a:solidFill>
              <a:latin typeface="Aptos"/>
            </a:endParaRPr>
          </a:p>
          <a:p>
            <a:pPr algn="ctr"/>
            <a:r>
              <a:rPr sz="2800" b="0" dirty="0">
                <a:solidFill>
                  <a:srgbClr val="677484"/>
                </a:solidFill>
                <a:latin typeface="Aptos"/>
              </a:rPr>
              <a:t>work out</a:t>
            </a:r>
            <a:r>
              <a:rPr lang="en-US" sz="2800" b="0" dirty="0">
                <a:solidFill>
                  <a:srgbClr val="677484"/>
                </a:solidFill>
                <a:latin typeface="Aptos"/>
              </a:rPr>
              <a:t> </a:t>
            </a:r>
            <a:r>
              <a:rPr sz="2800" dirty="0"/>
              <a:t>an idea</a:t>
            </a:r>
          </a:p>
        </p:txBody>
      </p:sp>
      <p:sp>
        <p:nvSpPr>
          <p:cNvPr id="9" name="Rounded Rectangle 8"/>
          <p:cNvSpPr/>
          <p:nvPr/>
        </p:nvSpPr>
        <p:spPr>
          <a:xfrm>
            <a:off x="4395216" y="1645920"/>
            <a:ext cx="3462528" cy="1719072"/>
          </a:xfrm>
          <a:prstGeom prst="roundRect">
            <a:avLst/>
          </a:prstGeom>
          <a:solidFill>
            <a:srgbClr val="FFFFFF"/>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04944" y="1792224"/>
            <a:ext cx="3243072" cy="461665"/>
          </a:xfrm>
          <a:prstGeom prst="rect">
            <a:avLst/>
          </a:prstGeom>
          <a:noFill/>
        </p:spPr>
        <p:txBody>
          <a:bodyPr wrap="square" lIns="45720" rIns="45720" anchor="t">
            <a:spAutoFit/>
          </a:bodyPr>
          <a:lstStyle/>
          <a:p>
            <a:pPr algn="ctr"/>
            <a:r>
              <a:rPr sz="2400" b="1" dirty="0">
                <a:solidFill>
                  <a:srgbClr val="E06958"/>
                </a:solidFill>
                <a:latin typeface="Aptos"/>
              </a:rPr>
              <a:t>DEDUCE</a:t>
            </a:r>
          </a:p>
        </p:txBody>
      </p:sp>
      <p:sp>
        <p:nvSpPr>
          <p:cNvPr id="11" name="TextBox 10"/>
          <p:cNvSpPr txBox="1"/>
          <p:nvPr/>
        </p:nvSpPr>
        <p:spPr>
          <a:xfrm>
            <a:off x="4349496" y="2206692"/>
            <a:ext cx="3553968" cy="954107"/>
          </a:xfrm>
          <a:prstGeom prst="rect">
            <a:avLst/>
          </a:prstGeom>
          <a:noFill/>
        </p:spPr>
        <p:txBody>
          <a:bodyPr wrap="square" lIns="45720" rIns="45720" anchor="t">
            <a:spAutoFit/>
          </a:bodyPr>
          <a:lstStyle/>
          <a:p>
            <a:pPr algn="ctr"/>
            <a:r>
              <a:rPr sz="2800" b="0" dirty="0">
                <a:solidFill>
                  <a:srgbClr val="677484"/>
                </a:solidFill>
                <a:latin typeface="Aptos"/>
              </a:rPr>
              <a:t>Several clues →</a:t>
            </a:r>
            <a:endParaRPr lang="en-US" sz="2800" b="0" dirty="0">
              <a:solidFill>
                <a:srgbClr val="677484"/>
              </a:solidFill>
              <a:latin typeface="Aptos"/>
            </a:endParaRPr>
          </a:p>
          <a:p>
            <a:pPr algn="ctr"/>
            <a:r>
              <a:rPr sz="2800" b="0" dirty="0">
                <a:solidFill>
                  <a:srgbClr val="677484"/>
                </a:solidFill>
                <a:latin typeface="Aptos"/>
              </a:rPr>
              <a:t> reach</a:t>
            </a:r>
            <a:r>
              <a:rPr lang="en-US" sz="2800" b="0" dirty="0">
                <a:solidFill>
                  <a:srgbClr val="677484"/>
                </a:solidFill>
                <a:latin typeface="Aptos"/>
              </a:rPr>
              <a:t> </a:t>
            </a:r>
            <a:r>
              <a:rPr sz="2800" dirty="0"/>
              <a:t>a conclusion</a:t>
            </a:r>
          </a:p>
        </p:txBody>
      </p:sp>
      <p:sp>
        <p:nvSpPr>
          <p:cNvPr id="12" name="Rounded Rectangle 11"/>
          <p:cNvSpPr/>
          <p:nvPr/>
        </p:nvSpPr>
        <p:spPr>
          <a:xfrm>
            <a:off x="8058911" y="1645920"/>
            <a:ext cx="3553967" cy="1810512"/>
          </a:xfrm>
          <a:prstGeom prst="roundRect">
            <a:avLst/>
          </a:prstGeom>
          <a:solidFill>
            <a:srgbClr val="FFFFFF"/>
          </a:solidFill>
          <a:ln w="12700">
            <a:solidFill>
              <a:srgbClr val="745B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68640" y="1645920"/>
            <a:ext cx="3243072" cy="461665"/>
          </a:xfrm>
          <a:prstGeom prst="rect">
            <a:avLst/>
          </a:prstGeom>
          <a:noFill/>
        </p:spPr>
        <p:txBody>
          <a:bodyPr wrap="square" lIns="45720" rIns="45720" anchor="t">
            <a:spAutoFit/>
          </a:bodyPr>
          <a:lstStyle/>
          <a:p>
            <a:pPr algn="ctr"/>
            <a:r>
              <a:rPr sz="2400" b="1" dirty="0">
                <a:solidFill>
                  <a:srgbClr val="745B96"/>
                </a:solidFill>
                <a:latin typeface="Aptos"/>
              </a:rPr>
              <a:t>INTERPRET</a:t>
            </a:r>
          </a:p>
        </p:txBody>
      </p:sp>
      <p:sp>
        <p:nvSpPr>
          <p:cNvPr id="14" name="TextBox 13"/>
          <p:cNvSpPr txBox="1"/>
          <p:nvPr/>
        </p:nvSpPr>
        <p:spPr>
          <a:xfrm>
            <a:off x="8168639" y="2012001"/>
            <a:ext cx="3599685" cy="1384995"/>
          </a:xfrm>
          <a:prstGeom prst="rect">
            <a:avLst/>
          </a:prstGeom>
          <a:noFill/>
        </p:spPr>
        <p:txBody>
          <a:bodyPr wrap="square" lIns="45720" rIns="45720" anchor="t">
            <a:spAutoFit/>
          </a:bodyPr>
          <a:lstStyle/>
          <a:p>
            <a:pPr algn="ctr"/>
            <a:r>
              <a:rPr sz="2800" b="0" dirty="0">
                <a:solidFill>
                  <a:srgbClr val="677484"/>
                </a:solidFill>
                <a:latin typeface="Aptos"/>
              </a:rPr>
              <a:t>Word/phrase → </a:t>
            </a:r>
            <a:endParaRPr lang="en-US" sz="2800" b="0" dirty="0">
              <a:solidFill>
                <a:srgbClr val="677484"/>
              </a:solidFill>
              <a:latin typeface="Aptos"/>
            </a:endParaRPr>
          </a:p>
          <a:p>
            <a:pPr algn="ctr"/>
            <a:r>
              <a:rPr sz="2800" b="0" dirty="0">
                <a:solidFill>
                  <a:srgbClr val="677484"/>
                </a:solidFill>
                <a:latin typeface="Aptos"/>
              </a:rPr>
              <a:t>explain</a:t>
            </a:r>
            <a:br>
              <a:rPr sz="2800" dirty="0"/>
            </a:br>
            <a:r>
              <a:rPr sz="2800" dirty="0"/>
              <a:t>what it suggests</a:t>
            </a:r>
          </a:p>
        </p:txBody>
      </p:sp>
      <p:sp>
        <p:nvSpPr>
          <p:cNvPr id="15" name="Rounded Rectangle 14"/>
          <p:cNvSpPr/>
          <p:nvPr/>
        </p:nvSpPr>
        <p:spPr>
          <a:xfrm>
            <a:off x="1828800" y="3931920"/>
            <a:ext cx="8503920" cy="1143000"/>
          </a:xfrm>
          <a:prstGeom prst="roundRect">
            <a:avLst/>
          </a:prstGeom>
          <a:solidFill>
            <a:srgbClr val="162338"/>
          </a:solidFill>
          <a:ln w="12700">
            <a:solidFill>
              <a:srgbClr val="16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65165" y="4136113"/>
            <a:ext cx="3382827" cy="523220"/>
          </a:xfrm>
          <a:prstGeom prst="rect">
            <a:avLst/>
          </a:prstGeom>
          <a:noFill/>
        </p:spPr>
        <p:txBody>
          <a:bodyPr wrap="square" lIns="45720" rIns="45720" anchor="t">
            <a:spAutoFit/>
          </a:bodyPr>
          <a:lstStyle/>
          <a:p>
            <a:pPr algn="l"/>
            <a:r>
              <a:rPr sz="2800" b="1" dirty="0">
                <a:solidFill>
                  <a:srgbClr val="E8B446"/>
                </a:solidFill>
                <a:latin typeface="Aptos"/>
              </a:rPr>
              <a:t>ALL THREE NEED:</a:t>
            </a:r>
          </a:p>
        </p:txBody>
      </p:sp>
      <p:sp>
        <p:nvSpPr>
          <p:cNvPr id="17" name="TextBox 16"/>
          <p:cNvSpPr txBox="1"/>
          <p:nvPr/>
        </p:nvSpPr>
        <p:spPr>
          <a:xfrm>
            <a:off x="4572000" y="4096512"/>
            <a:ext cx="4023360" cy="502920"/>
          </a:xfrm>
          <a:prstGeom prst="rect">
            <a:avLst/>
          </a:prstGeom>
          <a:noFill/>
        </p:spPr>
        <p:txBody>
          <a:bodyPr wrap="square" lIns="45720" rIns="45720" anchor="t">
            <a:spAutoFit/>
          </a:bodyPr>
          <a:lstStyle/>
          <a:p>
            <a:pPr algn="ctr"/>
            <a:r>
              <a:rPr sz="2500" b="1" dirty="0">
                <a:solidFill>
                  <a:srgbClr val="FFFFFF"/>
                </a:solidFill>
                <a:latin typeface="Aptos Display"/>
              </a:rPr>
              <a:t>📌 EVIDENCE</a:t>
            </a:r>
          </a:p>
        </p:txBody>
      </p:sp>
      <p:sp>
        <p:nvSpPr>
          <p:cNvPr id="18" name="TextBox 17"/>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9" name="TextBox 18"/>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400110"/>
          </a:xfrm>
          <a:prstGeom prst="rect">
            <a:avLst/>
          </a:prstGeom>
          <a:noFill/>
        </p:spPr>
        <p:txBody>
          <a:bodyPr wrap="square" lIns="45720" rIns="45720" anchor="t">
            <a:spAutoFit/>
          </a:bodyPr>
          <a:lstStyle/>
          <a:p>
            <a:pPr algn="l"/>
            <a:r>
              <a:rPr sz="2000" b="1" dirty="0">
                <a:solidFill>
                  <a:srgbClr val="E8B446"/>
                </a:solidFill>
                <a:latin typeface="Aptos"/>
              </a:rPr>
              <a:t>CASE FILE 05</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Mixed practice: infer</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17</a:t>
            </a:r>
          </a:p>
        </p:txBody>
      </p:sp>
      <p:sp>
        <p:nvSpPr>
          <p:cNvPr id="6" name="Rounded Rectangle 5"/>
          <p:cNvSpPr/>
          <p:nvPr/>
        </p:nvSpPr>
        <p:spPr>
          <a:xfrm>
            <a:off x="731520" y="1371600"/>
            <a:ext cx="10698480" cy="146304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71600"/>
            <a:ext cx="109728" cy="1463040"/>
          </a:xfrm>
          <a:prstGeom prst="rect">
            <a:avLst/>
          </a:prstGeom>
          <a:solidFill>
            <a:srgbClr val="2D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508760"/>
            <a:ext cx="365760" cy="365760"/>
          </a:xfrm>
          <a:prstGeom prst="rect">
            <a:avLst/>
          </a:prstGeom>
          <a:noFill/>
        </p:spPr>
        <p:txBody>
          <a:bodyPr wrap="square" lIns="45720" rIns="45720" anchor="t">
            <a:spAutoFit/>
          </a:bodyPr>
          <a:lstStyle/>
          <a:p>
            <a:pPr algn="l"/>
            <a:r>
              <a:rPr sz="3200" b="1">
                <a:solidFill>
                  <a:srgbClr val="2D9B9B"/>
                </a:solidFill>
                <a:latin typeface="Aptos"/>
              </a:rPr>
              <a:t>“</a:t>
            </a:r>
          </a:p>
        </p:txBody>
      </p:sp>
      <p:sp>
        <p:nvSpPr>
          <p:cNvPr id="9" name="TextBox 8"/>
          <p:cNvSpPr txBox="1"/>
          <p:nvPr/>
        </p:nvSpPr>
        <p:spPr>
          <a:xfrm>
            <a:off x="1508760" y="1618488"/>
            <a:ext cx="9601200" cy="1200329"/>
          </a:xfrm>
          <a:prstGeom prst="rect">
            <a:avLst/>
          </a:prstGeom>
          <a:noFill/>
        </p:spPr>
        <p:txBody>
          <a:bodyPr wrap="square" lIns="45720" rIns="45720" anchor="t">
            <a:spAutoFit/>
          </a:bodyPr>
          <a:lstStyle/>
          <a:p>
            <a:pPr algn="l"/>
            <a:r>
              <a:rPr sz="2400" b="1" dirty="0">
                <a:solidFill>
                  <a:srgbClr val="1F2937"/>
                </a:solidFill>
                <a:latin typeface="Aptos Display"/>
              </a:rPr>
              <a:t>During the hottest part of the day, students avoided the open pavement. Many chose the path beside the trees instead. Teachers noticed that students stayed there for longer.</a:t>
            </a:r>
          </a:p>
        </p:txBody>
      </p:sp>
      <p:sp>
        <p:nvSpPr>
          <p:cNvPr id="10" name="Rounded Rectangle 9"/>
          <p:cNvSpPr/>
          <p:nvPr/>
        </p:nvSpPr>
        <p:spPr>
          <a:xfrm>
            <a:off x="777240" y="3154680"/>
            <a:ext cx="1554480" cy="384048"/>
          </a:xfrm>
          <a:prstGeom prst="roundRect">
            <a:avLst/>
          </a:prstGeom>
          <a:solidFill>
            <a:srgbClr val="E8B446"/>
          </a:solidFill>
          <a:ln w="12700">
            <a:solidFill>
              <a:srgbClr val="E8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3873" y="3081968"/>
            <a:ext cx="3060887" cy="584775"/>
          </a:xfrm>
          <a:prstGeom prst="rect">
            <a:avLst/>
          </a:prstGeom>
          <a:noFill/>
        </p:spPr>
        <p:txBody>
          <a:bodyPr wrap="square" lIns="45720" rIns="45720" anchor="ctr">
            <a:spAutoFit/>
          </a:bodyPr>
          <a:lstStyle/>
          <a:p>
            <a:pPr algn="ctr"/>
            <a:r>
              <a:rPr sz="3200" b="1" dirty="0">
                <a:highlight>
                  <a:srgbClr val="FFFF00"/>
                </a:highlight>
                <a:latin typeface="Aptos"/>
              </a:rPr>
              <a:t>QUESTION 1</a:t>
            </a:r>
          </a:p>
        </p:txBody>
      </p:sp>
      <p:sp>
        <p:nvSpPr>
          <p:cNvPr id="12" name="TextBox 11"/>
          <p:cNvSpPr txBox="1"/>
          <p:nvPr/>
        </p:nvSpPr>
        <p:spPr>
          <a:xfrm>
            <a:off x="786384" y="4286524"/>
            <a:ext cx="9875520" cy="523220"/>
          </a:xfrm>
          <a:prstGeom prst="rect">
            <a:avLst/>
          </a:prstGeom>
          <a:noFill/>
        </p:spPr>
        <p:txBody>
          <a:bodyPr wrap="square" lIns="45720" rIns="45720" anchor="t">
            <a:spAutoFit/>
          </a:bodyPr>
          <a:lstStyle/>
          <a:p>
            <a:pPr algn="l"/>
            <a:r>
              <a:rPr sz="2800" b="1" dirty="0">
                <a:solidFill>
                  <a:srgbClr val="1F2937"/>
                </a:solidFill>
                <a:latin typeface="Aptos Display"/>
              </a:rPr>
              <a:t>What can you </a:t>
            </a:r>
            <a:r>
              <a:rPr sz="2800" b="1" dirty="0">
                <a:solidFill>
                  <a:srgbClr val="1F2937"/>
                </a:solidFill>
                <a:highlight>
                  <a:srgbClr val="FFFF00"/>
                </a:highlight>
                <a:latin typeface="Aptos Display"/>
              </a:rPr>
              <a:t>infer</a:t>
            </a:r>
            <a:r>
              <a:rPr sz="2800" b="1" dirty="0">
                <a:solidFill>
                  <a:srgbClr val="1F2937"/>
                </a:solidFill>
                <a:latin typeface="Aptos Display"/>
              </a:rPr>
              <a:t> about the path beside the trees?</a:t>
            </a:r>
          </a:p>
        </p:txBody>
      </p:sp>
      <p:sp>
        <p:nvSpPr>
          <p:cNvPr id="13" name="Rounded Rectangle 12"/>
          <p:cNvSpPr/>
          <p:nvPr/>
        </p:nvSpPr>
        <p:spPr>
          <a:xfrm>
            <a:off x="949797" y="5512826"/>
            <a:ext cx="2423160" cy="384048"/>
          </a:xfrm>
          <a:prstGeom prst="roundRect">
            <a:avLst/>
          </a:prstGeom>
          <a:solidFill>
            <a:srgbClr val="162338"/>
          </a:solidFill>
          <a:ln w="12700">
            <a:solidFill>
              <a:srgbClr val="16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9797" y="5412463"/>
            <a:ext cx="5460055" cy="584775"/>
          </a:xfrm>
          <a:prstGeom prst="rect">
            <a:avLst/>
          </a:prstGeom>
          <a:noFill/>
        </p:spPr>
        <p:txBody>
          <a:bodyPr wrap="square" lIns="45720" rIns="45720" anchor="ctr">
            <a:spAutoFit/>
          </a:bodyPr>
          <a:lstStyle/>
          <a:p>
            <a:pPr algn="ctr"/>
            <a:r>
              <a:rPr sz="3200" b="1" dirty="0">
                <a:highlight>
                  <a:srgbClr val="FFFF00"/>
                </a:highlight>
                <a:latin typeface="Aptos"/>
              </a:rPr>
              <a:t>WRITE A CLAIM + EVIDENCE</a:t>
            </a:r>
          </a:p>
        </p:txBody>
      </p:sp>
      <p:sp>
        <p:nvSpPr>
          <p:cNvPr id="15" name="TextBox 14"/>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6" name="TextBox 15"/>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Mixed practice: inference</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18</a:t>
            </a:r>
          </a:p>
        </p:txBody>
      </p:sp>
      <p:sp>
        <p:nvSpPr>
          <p:cNvPr id="6" name="TextBox 5"/>
          <p:cNvSpPr txBox="1"/>
          <p:nvPr/>
        </p:nvSpPr>
        <p:spPr>
          <a:xfrm>
            <a:off x="777240" y="1508760"/>
            <a:ext cx="10332720" cy="523220"/>
          </a:xfrm>
          <a:prstGeom prst="rect">
            <a:avLst/>
          </a:prstGeom>
          <a:noFill/>
        </p:spPr>
        <p:txBody>
          <a:bodyPr wrap="square" lIns="45720" rIns="45720" anchor="t">
            <a:spAutoFit/>
          </a:bodyPr>
          <a:lstStyle/>
          <a:p>
            <a:pPr algn="l"/>
            <a:r>
              <a:rPr sz="2800" b="1" dirty="0">
                <a:solidFill>
                  <a:srgbClr val="1F2937"/>
                </a:solidFill>
                <a:latin typeface="Aptos Display"/>
              </a:rPr>
              <a:t>The path beside the trees was probably cooler or more comfortable.</a:t>
            </a:r>
          </a:p>
        </p:txBody>
      </p:sp>
      <p:sp>
        <p:nvSpPr>
          <p:cNvPr id="7" name="Rounded Rectangle 6"/>
          <p:cNvSpPr/>
          <p:nvPr/>
        </p:nvSpPr>
        <p:spPr>
          <a:xfrm>
            <a:off x="777240" y="2743200"/>
            <a:ext cx="1463040" cy="384048"/>
          </a:xfrm>
          <a:prstGeom prst="roundRect">
            <a:avLst/>
          </a:prstGeom>
          <a:solidFill>
            <a:srgbClr val="2D9B9B"/>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2102" y="2629120"/>
            <a:ext cx="2517679" cy="584775"/>
          </a:xfrm>
          <a:prstGeom prst="rect">
            <a:avLst/>
          </a:prstGeom>
          <a:noFill/>
        </p:spPr>
        <p:txBody>
          <a:bodyPr wrap="square" lIns="45720" rIns="45720" anchor="ctr">
            <a:spAutoFit/>
          </a:bodyPr>
          <a:lstStyle/>
          <a:p>
            <a:pPr algn="ctr"/>
            <a:r>
              <a:rPr sz="3200" b="1" dirty="0">
                <a:highlight>
                  <a:srgbClr val="FFFF00"/>
                </a:highlight>
                <a:latin typeface="Aptos"/>
              </a:rPr>
              <a:t>EVIDENCE</a:t>
            </a:r>
          </a:p>
        </p:txBody>
      </p:sp>
      <p:sp>
        <p:nvSpPr>
          <p:cNvPr id="9" name="Rounded Rectangle 8"/>
          <p:cNvSpPr/>
          <p:nvPr/>
        </p:nvSpPr>
        <p:spPr>
          <a:xfrm>
            <a:off x="777240" y="3246120"/>
            <a:ext cx="6400800" cy="86868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3246120"/>
            <a:ext cx="109728" cy="868680"/>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383279"/>
            <a:ext cx="365760" cy="365760"/>
          </a:xfrm>
          <a:prstGeom prst="rect">
            <a:avLst/>
          </a:prstGeom>
          <a:noFill/>
        </p:spPr>
        <p:txBody>
          <a:bodyPr wrap="square" lIns="45720" rIns="45720" anchor="t">
            <a:spAutoFit/>
          </a:bodyPr>
          <a:lstStyle/>
          <a:p>
            <a:pPr algn="l"/>
            <a:r>
              <a:rPr sz="3200" b="1">
                <a:solidFill>
                  <a:srgbClr val="E8B446"/>
                </a:solidFill>
                <a:latin typeface="Aptos"/>
              </a:rPr>
              <a:t>“</a:t>
            </a:r>
          </a:p>
        </p:txBody>
      </p:sp>
      <p:sp>
        <p:nvSpPr>
          <p:cNvPr id="12" name="TextBox 11"/>
          <p:cNvSpPr txBox="1"/>
          <p:nvPr/>
        </p:nvSpPr>
        <p:spPr>
          <a:xfrm>
            <a:off x="1554480" y="3493008"/>
            <a:ext cx="5303520" cy="461665"/>
          </a:xfrm>
          <a:prstGeom prst="rect">
            <a:avLst/>
          </a:prstGeom>
          <a:noFill/>
        </p:spPr>
        <p:txBody>
          <a:bodyPr wrap="square" lIns="45720" rIns="45720" anchor="t">
            <a:spAutoFit/>
          </a:bodyPr>
          <a:lstStyle/>
          <a:p>
            <a:pPr algn="l"/>
            <a:r>
              <a:rPr sz="2400" b="1" dirty="0">
                <a:solidFill>
                  <a:srgbClr val="1F2937"/>
                </a:solidFill>
                <a:latin typeface="Aptos Display"/>
              </a:rPr>
              <a:t>“Many chose the path beside the trees.”</a:t>
            </a:r>
          </a:p>
        </p:txBody>
      </p:sp>
      <p:sp>
        <p:nvSpPr>
          <p:cNvPr id="13" name="Rounded Rectangle 12"/>
          <p:cNvSpPr/>
          <p:nvPr/>
        </p:nvSpPr>
        <p:spPr>
          <a:xfrm>
            <a:off x="777240" y="4343400"/>
            <a:ext cx="6400800" cy="86868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4343400"/>
            <a:ext cx="109728" cy="868680"/>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4480560"/>
            <a:ext cx="365760" cy="365760"/>
          </a:xfrm>
          <a:prstGeom prst="rect">
            <a:avLst/>
          </a:prstGeom>
          <a:noFill/>
        </p:spPr>
        <p:txBody>
          <a:bodyPr wrap="square" lIns="45720" rIns="45720" anchor="t">
            <a:spAutoFit/>
          </a:bodyPr>
          <a:lstStyle/>
          <a:p>
            <a:pPr algn="l"/>
            <a:r>
              <a:rPr sz="3200" b="1">
                <a:solidFill>
                  <a:srgbClr val="E8B446"/>
                </a:solidFill>
                <a:latin typeface="Aptos"/>
              </a:rPr>
              <a:t>“</a:t>
            </a:r>
          </a:p>
        </p:txBody>
      </p:sp>
      <p:sp>
        <p:nvSpPr>
          <p:cNvPr id="16" name="TextBox 15"/>
          <p:cNvSpPr txBox="1"/>
          <p:nvPr/>
        </p:nvSpPr>
        <p:spPr>
          <a:xfrm>
            <a:off x="1554480" y="4590288"/>
            <a:ext cx="5303520" cy="461665"/>
          </a:xfrm>
          <a:prstGeom prst="rect">
            <a:avLst/>
          </a:prstGeom>
          <a:noFill/>
        </p:spPr>
        <p:txBody>
          <a:bodyPr wrap="square" lIns="45720" rIns="45720" anchor="t">
            <a:spAutoFit/>
          </a:bodyPr>
          <a:lstStyle/>
          <a:p>
            <a:pPr algn="l"/>
            <a:r>
              <a:rPr sz="2400" b="1" dirty="0">
                <a:solidFill>
                  <a:srgbClr val="1F2937"/>
                </a:solidFill>
                <a:latin typeface="Aptos Display"/>
              </a:rPr>
              <a:t>“students stayed there for longer.”</a:t>
            </a:r>
          </a:p>
        </p:txBody>
      </p:sp>
      <p:sp>
        <p:nvSpPr>
          <p:cNvPr id="17" name="TextBox 16"/>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8" name="TextBox 17"/>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FILE 05</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Now deduce</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19</a:t>
            </a:r>
          </a:p>
        </p:txBody>
      </p:sp>
      <p:sp>
        <p:nvSpPr>
          <p:cNvPr id="6" name="Rounded Rectangle 5"/>
          <p:cNvSpPr/>
          <p:nvPr/>
        </p:nvSpPr>
        <p:spPr>
          <a:xfrm>
            <a:off x="731520" y="1325880"/>
            <a:ext cx="10698480" cy="141732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25880"/>
            <a:ext cx="109728" cy="1417320"/>
          </a:xfrm>
          <a:prstGeom prst="rect">
            <a:avLst/>
          </a:prstGeom>
          <a:solidFill>
            <a:srgbClr val="2D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463039"/>
            <a:ext cx="365760" cy="365760"/>
          </a:xfrm>
          <a:prstGeom prst="rect">
            <a:avLst/>
          </a:prstGeom>
          <a:noFill/>
        </p:spPr>
        <p:txBody>
          <a:bodyPr wrap="square" lIns="45720" rIns="45720" anchor="t">
            <a:spAutoFit/>
          </a:bodyPr>
          <a:lstStyle/>
          <a:p>
            <a:pPr algn="l"/>
            <a:r>
              <a:rPr sz="3200" b="1">
                <a:solidFill>
                  <a:srgbClr val="2D9B9B"/>
                </a:solidFill>
                <a:latin typeface="Aptos"/>
              </a:rPr>
              <a:t>“</a:t>
            </a:r>
          </a:p>
        </p:txBody>
      </p:sp>
      <p:sp>
        <p:nvSpPr>
          <p:cNvPr id="9" name="TextBox 8"/>
          <p:cNvSpPr txBox="1"/>
          <p:nvPr/>
        </p:nvSpPr>
        <p:spPr>
          <a:xfrm>
            <a:off x="1508760" y="1572768"/>
            <a:ext cx="9601200" cy="1200329"/>
          </a:xfrm>
          <a:prstGeom prst="rect">
            <a:avLst/>
          </a:prstGeom>
          <a:noFill/>
        </p:spPr>
        <p:txBody>
          <a:bodyPr wrap="square" lIns="45720" rIns="45720" anchor="t">
            <a:spAutoFit/>
          </a:bodyPr>
          <a:lstStyle/>
          <a:p>
            <a:pPr algn="l"/>
            <a:r>
              <a:rPr sz="2400" b="1" dirty="0">
                <a:solidFill>
                  <a:srgbClr val="1F2937"/>
                </a:solidFill>
                <a:latin typeface="Aptos Display"/>
              </a:rPr>
              <a:t>During the hottest part of the day, students avoided the open pavement. Many chose the path beside the trees instead. Teachers noticed that students stayed there for longer.</a:t>
            </a:r>
          </a:p>
        </p:txBody>
      </p:sp>
      <p:sp>
        <p:nvSpPr>
          <p:cNvPr id="10" name="TextBox 9"/>
          <p:cNvSpPr txBox="1"/>
          <p:nvPr/>
        </p:nvSpPr>
        <p:spPr>
          <a:xfrm>
            <a:off x="777240" y="3063240"/>
            <a:ext cx="6583680" cy="461665"/>
          </a:xfrm>
          <a:prstGeom prst="rect">
            <a:avLst/>
          </a:prstGeom>
          <a:noFill/>
        </p:spPr>
        <p:txBody>
          <a:bodyPr wrap="square" lIns="45720" rIns="45720" anchor="t">
            <a:spAutoFit/>
          </a:bodyPr>
          <a:lstStyle/>
          <a:p>
            <a:pPr algn="l"/>
            <a:r>
              <a:rPr sz="2400" b="1" dirty="0">
                <a:solidFill>
                  <a:srgbClr val="E8B446"/>
                </a:solidFill>
                <a:latin typeface="Aptos"/>
              </a:rPr>
              <a:t>What can we </a:t>
            </a:r>
            <a:r>
              <a:rPr sz="2400" b="1" dirty="0">
                <a:highlight>
                  <a:srgbClr val="FFFF00"/>
                </a:highlight>
                <a:latin typeface="Aptos"/>
              </a:rPr>
              <a:t>deduce</a:t>
            </a:r>
            <a:r>
              <a:rPr sz="2400" b="1" dirty="0">
                <a:solidFill>
                  <a:srgbClr val="E8B446"/>
                </a:solidFill>
                <a:latin typeface="Aptos"/>
              </a:rPr>
              <a:t> about the trees?</a:t>
            </a:r>
          </a:p>
        </p:txBody>
      </p:sp>
      <p:sp>
        <p:nvSpPr>
          <p:cNvPr id="11" name="Rounded Rectangle 10"/>
          <p:cNvSpPr/>
          <p:nvPr/>
        </p:nvSpPr>
        <p:spPr>
          <a:xfrm>
            <a:off x="777240" y="3566160"/>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721608"/>
            <a:ext cx="320040" cy="274320"/>
          </a:xfrm>
          <a:prstGeom prst="rect">
            <a:avLst/>
          </a:prstGeom>
          <a:noFill/>
        </p:spPr>
        <p:txBody>
          <a:bodyPr wrap="square" lIns="45720" rIns="45720" anchor="t">
            <a:spAutoFit/>
          </a:bodyPr>
          <a:lstStyle/>
          <a:p>
            <a:pPr algn="l"/>
            <a:r>
              <a:rPr sz="1500" b="1">
                <a:solidFill>
                  <a:srgbClr val="162338"/>
                </a:solidFill>
                <a:latin typeface="Aptos"/>
              </a:rPr>
              <a:t>A</a:t>
            </a:r>
          </a:p>
        </p:txBody>
      </p:sp>
      <p:sp>
        <p:nvSpPr>
          <p:cNvPr id="14" name="Rounded Rectangle 13"/>
          <p:cNvSpPr/>
          <p:nvPr/>
        </p:nvSpPr>
        <p:spPr>
          <a:xfrm>
            <a:off x="777240" y="4425696"/>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581144"/>
            <a:ext cx="320040" cy="274320"/>
          </a:xfrm>
          <a:prstGeom prst="rect">
            <a:avLst/>
          </a:prstGeom>
          <a:noFill/>
        </p:spPr>
        <p:txBody>
          <a:bodyPr wrap="square" lIns="45720" rIns="45720" anchor="t">
            <a:spAutoFit/>
          </a:bodyPr>
          <a:lstStyle/>
          <a:p>
            <a:pPr algn="l"/>
            <a:r>
              <a:rPr sz="1500" b="1">
                <a:solidFill>
                  <a:srgbClr val="162338"/>
                </a:solidFill>
                <a:latin typeface="Aptos"/>
              </a:rPr>
              <a:t>B</a:t>
            </a:r>
          </a:p>
        </p:txBody>
      </p:sp>
      <p:sp>
        <p:nvSpPr>
          <p:cNvPr id="16" name="TextBox 15"/>
          <p:cNvSpPr txBox="1"/>
          <p:nvPr/>
        </p:nvSpPr>
        <p:spPr>
          <a:xfrm>
            <a:off x="1371600" y="3689603"/>
            <a:ext cx="9738360" cy="461665"/>
          </a:xfrm>
          <a:prstGeom prst="rect">
            <a:avLst/>
          </a:prstGeom>
          <a:noFill/>
        </p:spPr>
        <p:txBody>
          <a:bodyPr wrap="square" lIns="45720" rIns="45720" anchor="t">
            <a:spAutoFit/>
          </a:bodyPr>
          <a:lstStyle/>
          <a:p>
            <a:pPr algn="l"/>
            <a:r>
              <a:rPr sz="2400" b="0" dirty="0">
                <a:solidFill>
                  <a:srgbClr val="1F2937"/>
                </a:solidFill>
                <a:latin typeface="Aptos"/>
              </a:rPr>
              <a:t>They helped make the area more comfortable for students.</a:t>
            </a:r>
          </a:p>
        </p:txBody>
      </p:sp>
      <p:sp>
        <p:nvSpPr>
          <p:cNvPr id="17" name="Rounded Rectangle 16"/>
          <p:cNvSpPr/>
          <p:nvPr/>
        </p:nvSpPr>
        <p:spPr>
          <a:xfrm>
            <a:off x="777240" y="5285231"/>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7" y="5440679"/>
            <a:ext cx="8020737" cy="692497"/>
          </a:xfrm>
          <a:prstGeom prst="rect">
            <a:avLst/>
          </a:prstGeom>
          <a:noFill/>
        </p:spPr>
        <p:txBody>
          <a:bodyPr wrap="square" lIns="45720" rIns="45720" anchor="t">
            <a:spAutoFit/>
          </a:bodyPr>
          <a:lstStyle/>
          <a:p>
            <a:r>
              <a:rPr sz="2400" b="1" dirty="0">
                <a:solidFill>
                  <a:srgbClr val="162338"/>
                </a:solidFill>
                <a:latin typeface="Aptos"/>
              </a:rPr>
              <a:t>C</a:t>
            </a:r>
            <a:r>
              <a:rPr lang="en-US" sz="2400" b="1" dirty="0">
                <a:solidFill>
                  <a:srgbClr val="162338"/>
                </a:solidFill>
                <a:latin typeface="Aptos"/>
              </a:rPr>
              <a:t>              </a:t>
            </a:r>
            <a:r>
              <a:rPr lang="en-US" sz="2400" dirty="0">
                <a:solidFill>
                  <a:srgbClr val="1F2937"/>
                </a:solidFill>
                <a:latin typeface="Aptos"/>
              </a:rPr>
              <a:t>They made the area less useful.</a:t>
            </a:r>
          </a:p>
          <a:p>
            <a:pPr algn="l"/>
            <a:endParaRPr sz="1500" b="1" dirty="0">
              <a:solidFill>
                <a:srgbClr val="162338"/>
              </a:solidFill>
              <a:latin typeface="Aptos"/>
            </a:endParaRPr>
          </a:p>
        </p:txBody>
      </p:sp>
      <p:sp>
        <p:nvSpPr>
          <p:cNvPr id="19" name="TextBox 18"/>
          <p:cNvSpPr txBox="1"/>
          <p:nvPr/>
        </p:nvSpPr>
        <p:spPr>
          <a:xfrm>
            <a:off x="1382011" y="4473137"/>
            <a:ext cx="9738360" cy="461665"/>
          </a:xfrm>
          <a:prstGeom prst="rect">
            <a:avLst/>
          </a:prstGeom>
          <a:noFill/>
        </p:spPr>
        <p:txBody>
          <a:bodyPr wrap="square" lIns="45720" rIns="45720" anchor="t">
            <a:spAutoFit/>
          </a:bodyPr>
          <a:lstStyle/>
          <a:p>
            <a:pPr algn="l"/>
            <a:r>
              <a:rPr sz="2400" b="0" dirty="0">
                <a:solidFill>
                  <a:srgbClr val="1F2937"/>
                </a:solidFill>
                <a:latin typeface="Aptos"/>
              </a:rPr>
              <a:t>They stopped students from using the path.</a:t>
            </a:r>
          </a:p>
        </p:txBody>
      </p:sp>
      <p:sp>
        <p:nvSpPr>
          <p:cNvPr id="20" name="TextBox 19"/>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1" name="TextBox 20"/>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Deduction from the whole paragraph</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20</a:t>
            </a:r>
          </a:p>
        </p:txBody>
      </p:sp>
      <p:sp>
        <p:nvSpPr>
          <p:cNvPr id="6" name="Rounded Rectangle 5"/>
          <p:cNvSpPr/>
          <p:nvPr/>
        </p:nvSpPr>
        <p:spPr>
          <a:xfrm>
            <a:off x="777240" y="1325880"/>
            <a:ext cx="1828800" cy="384048"/>
          </a:xfrm>
          <a:prstGeom prst="roundRect">
            <a:avLst/>
          </a:prstGeom>
          <a:solidFill>
            <a:srgbClr val="4F9167"/>
          </a:solidFill>
          <a:ln w="12700">
            <a:solidFill>
              <a:srgbClr val="4F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2" y="1242578"/>
            <a:ext cx="3097101" cy="523220"/>
          </a:xfrm>
          <a:prstGeom prst="rect">
            <a:avLst/>
          </a:prstGeom>
          <a:noFill/>
        </p:spPr>
        <p:txBody>
          <a:bodyPr wrap="square" lIns="45720" rIns="45720" anchor="ctr">
            <a:spAutoFit/>
          </a:bodyPr>
          <a:lstStyle/>
          <a:p>
            <a:pPr algn="ctr"/>
            <a:r>
              <a:rPr sz="2800" b="1" dirty="0">
                <a:highlight>
                  <a:srgbClr val="FFFF00"/>
                </a:highlight>
                <a:latin typeface="Aptos"/>
              </a:rPr>
              <a:t>✓ ANSWER  </a:t>
            </a:r>
            <a:r>
              <a:rPr lang="en-US" sz="2800" b="1" dirty="0">
                <a:highlight>
                  <a:srgbClr val="FFFF00"/>
                </a:highlight>
                <a:latin typeface="Aptos"/>
              </a:rPr>
              <a:t>A</a:t>
            </a:r>
            <a:endParaRPr sz="2800" b="1" dirty="0">
              <a:highlight>
                <a:srgbClr val="FFFF00"/>
              </a:highlight>
              <a:latin typeface="Aptos"/>
            </a:endParaRPr>
          </a:p>
        </p:txBody>
      </p:sp>
      <p:sp>
        <p:nvSpPr>
          <p:cNvPr id="8" name="TextBox 7"/>
          <p:cNvSpPr txBox="1"/>
          <p:nvPr/>
        </p:nvSpPr>
        <p:spPr>
          <a:xfrm>
            <a:off x="777240" y="1874519"/>
            <a:ext cx="10241280" cy="640080"/>
          </a:xfrm>
          <a:prstGeom prst="rect">
            <a:avLst/>
          </a:prstGeom>
          <a:noFill/>
        </p:spPr>
        <p:txBody>
          <a:bodyPr wrap="square" lIns="45720" rIns="45720" anchor="t">
            <a:spAutoFit/>
          </a:bodyPr>
          <a:lstStyle/>
          <a:p>
            <a:pPr algn="l"/>
            <a:r>
              <a:rPr sz="2300" b="1">
                <a:solidFill>
                  <a:srgbClr val="1F2937"/>
                </a:solidFill>
                <a:latin typeface="Aptos Display"/>
              </a:rPr>
              <a:t>They helped make the area more comfortable for students.</a:t>
            </a:r>
          </a:p>
        </p:txBody>
      </p:sp>
      <p:sp>
        <p:nvSpPr>
          <p:cNvPr id="9" name="TextBox 8"/>
          <p:cNvSpPr txBox="1"/>
          <p:nvPr/>
        </p:nvSpPr>
        <p:spPr>
          <a:xfrm>
            <a:off x="777240" y="2880360"/>
            <a:ext cx="914400" cy="523220"/>
          </a:xfrm>
          <a:prstGeom prst="rect">
            <a:avLst/>
          </a:prstGeom>
          <a:noFill/>
        </p:spPr>
        <p:txBody>
          <a:bodyPr wrap="square" lIns="45720" rIns="45720" anchor="t">
            <a:spAutoFit/>
          </a:bodyPr>
          <a:lstStyle/>
          <a:p>
            <a:pPr algn="l"/>
            <a:r>
              <a:rPr sz="2800" b="1" dirty="0">
                <a:solidFill>
                  <a:srgbClr val="E8B446"/>
                </a:solidFill>
                <a:latin typeface="Aptos"/>
              </a:rPr>
              <a:t>WHY</a:t>
            </a:r>
            <a:endParaRPr sz="1300" b="1" dirty="0">
              <a:solidFill>
                <a:srgbClr val="E8B446"/>
              </a:solidFill>
              <a:latin typeface="Aptos"/>
            </a:endParaRPr>
          </a:p>
        </p:txBody>
      </p:sp>
      <p:sp>
        <p:nvSpPr>
          <p:cNvPr id="10" name="TextBox 9"/>
          <p:cNvSpPr txBox="1"/>
          <p:nvPr/>
        </p:nvSpPr>
        <p:spPr>
          <a:xfrm>
            <a:off x="777240" y="3724719"/>
            <a:ext cx="10241280" cy="2298065"/>
          </a:xfrm>
          <a:prstGeom prst="rect">
            <a:avLst/>
          </a:prstGeom>
          <a:noFill/>
        </p:spPr>
        <p:txBody>
          <a:bodyPr wrap="square" lIns="73152" rIns="73152">
            <a:spAutoFit/>
          </a:bodyPr>
          <a:lstStyle/>
          <a:p>
            <a:pPr algn="l">
              <a:spcAft>
                <a:spcPts val="700"/>
              </a:spcAft>
            </a:pPr>
            <a:r>
              <a:rPr sz="2400" b="1" dirty="0">
                <a:solidFill>
                  <a:srgbClr val="1F2937"/>
                </a:solidFill>
                <a:latin typeface="Aptos"/>
              </a:rPr>
              <a:t>Students avoided the open pavement.</a:t>
            </a:r>
          </a:p>
          <a:p>
            <a:pPr algn="l">
              <a:spcAft>
                <a:spcPts val="700"/>
              </a:spcAft>
            </a:pPr>
            <a:r>
              <a:rPr sz="2400" b="1" dirty="0">
                <a:solidFill>
                  <a:srgbClr val="1F2937"/>
                </a:solidFill>
                <a:latin typeface="Aptos"/>
              </a:rPr>
              <a:t>They chose the path beside the trees.</a:t>
            </a:r>
          </a:p>
          <a:p>
            <a:pPr algn="l">
              <a:spcAft>
                <a:spcPts val="700"/>
              </a:spcAft>
            </a:pPr>
            <a:r>
              <a:rPr sz="2400" b="1" dirty="0">
                <a:solidFill>
                  <a:srgbClr val="1F2937"/>
                </a:solidFill>
                <a:latin typeface="Aptos"/>
              </a:rPr>
              <a:t>They stayed there longer.</a:t>
            </a:r>
          </a:p>
          <a:p>
            <a:pPr algn="l">
              <a:spcAft>
                <a:spcPts val="700"/>
              </a:spcAft>
            </a:pPr>
            <a:endParaRPr lang="en-US" sz="2400" b="1" dirty="0">
              <a:solidFill>
                <a:srgbClr val="4F9167"/>
              </a:solidFill>
              <a:latin typeface="Aptos"/>
            </a:endParaRPr>
          </a:p>
          <a:p>
            <a:pPr algn="l">
              <a:spcAft>
                <a:spcPts val="700"/>
              </a:spcAft>
            </a:pPr>
            <a:r>
              <a:rPr sz="2400" b="1" dirty="0">
                <a:solidFill>
                  <a:srgbClr val="4F9167"/>
                </a:solidFill>
                <a:highlight>
                  <a:srgbClr val="FFFF00"/>
                </a:highlight>
                <a:latin typeface="Aptos"/>
              </a:rPr>
              <a:t>Deduction</a:t>
            </a:r>
            <a:r>
              <a:rPr sz="2400" b="1" dirty="0">
                <a:solidFill>
                  <a:srgbClr val="4F9167"/>
                </a:solidFill>
                <a:latin typeface="Aptos"/>
              </a:rPr>
              <a:t>: the trees probably helped make the area more comfortable.</a:t>
            </a:r>
          </a:p>
        </p:txBody>
      </p:sp>
      <p:sp>
        <p:nvSpPr>
          <p:cNvPr id="11" name="TextBox 10"/>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2" name="TextBox 11"/>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FILE 06</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Now interpret</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21</a:t>
            </a:r>
          </a:p>
        </p:txBody>
      </p:sp>
      <p:sp>
        <p:nvSpPr>
          <p:cNvPr id="6" name="Rounded Rectangle 5"/>
          <p:cNvSpPr/>
          <p:nvPr/>
        </p:nvSpPr>
        <p:spPr>
          <a:xfrm>
            <a:off x="731520" y="1508760"/>
            <a:ext cx="10698480" cy="105156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508760"/>
            <a:ext cx="109728" cy="1051560"/>
          </a:xfrm>
          <a:prstGeom prst="rect">
            <a:avLst/>
          </a:prstGeom>
          <a:solidFill>
            <a:srgbClr val="745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45919"/>
            <a:ext cx="365760" cy="365760"/>
          </a:xfrm>
          <a:prstGeom prst="rect">
            <a:avLst/>
          </a:prstGeom>
          <a:noFill/>
        </p:spPr>
        <p:txBody>
          <a:bodyPr wrap="square" lIns="45720" rIns="45720" anchor="t">
            <a:spAutoFit/>
          </a:bodyPr>
          <a:lstStyle/>
          <a:p>
            <a:pPr algn="l"/>
            <a:r>
              <a:rPr sz="3200" b="1">
                <a:solidFill>
                  <a:srgbClr val="745B96"/>
                </a:solidFill>
                <a:latin typeface="Aptos"/>
              </a:rPr>
              <a:t>“</a:t>
            </a:r>
          </a:p>
        </p:txBody>
      </p:sp>
      <p:sp>
        <p:nvSpPr>
          <p:cNvPr id="9" name="TextBox 8"/>
          <p:cNvSpPr txBox="1"/>
          <p:nvPr/>
        </p:nvSpPr>
        <p:spPr>
          <a:xfrm>
            <a:off x="1508760" y="1755648"/>
            <a:ext cx="9601200" cy="830997"/>
          </a:xfrm>
          <a:prstGeom prst="rect">
            <a:avLst/>
          </a:prstGeom>
          <a:noFill/>
        </p:spPr>
        <p:txBody>
          <a:bodyPr wrap="square" lIns="45720" rIns="45720" anchor="t">
            <a:spAutoFit/>
          </a:bodyPr>
          <a:lstStyle/>
          <a:p>
            <a:pPr algn="l"/>
            <a:r>
              <a:rPr sz="2400" b="1" dirty="0">
                <a:solidFill>
                  <a:srgbClr val="1F2937"/>
                </a:solidFill>
                <a:latin typeface="Aptos Display"/>
              </a:rPr>
              <a:t>Students quietly moved towards the trees whenever the afternoon sun became stronger.</a:t>
            </a:r>
          </a:p>
        </p:txBody>
      </p:sp>
      <p:sp>
        <p:nvSpPr>
          <p:cNvPr id="10" name="TextBox 9"/>
          <p:cNvSpPr txBox="1"/>
          <p:nvPr/>
        </p:nvSpPr>
        <p:spPr>
          <a:xfrm>
            <a:off x="777240" y="2834640"/>
            <a:ext cx="5486400" cy="461665"/>
          </a:xfrm>
          <a:prstGeom prst="rect">
            <a:avLst/>
          </a:prstGeom>
          <a:noFill/>
        </p:spPr>
        <p:txBody>
          <a:bodyPr wrap="square" lIns="45720" rIns="45720" anchor="t">
            <a:spAutoFit/>
          </a:bodyPr>
          <a:lstStyle/>
          <a:p>
            <a:pPr algn="l"/>
            <a:r>
              <a:rPr sz="2400" b="1" dirty="0">
                <a:solidFill>
                  <a:srgbClr val="E8B446"/>
                </a:solidFill>
                <a:latin typeface="Aptos"/>
              </a:rPr>
              <a:t>What does “quietly” </a:t>
            </a:r>
            <a:r>
              <a:rPr sz="2400" b="1" dirty="0">
                <a:highlight>
                  <a:srgbClr val="FFFF00"/>
                </a:highlight>
                <a:latin typeface="Aptos"/>
              </a:rPr>
              <a:t>suggest</a:t>
            </a:r>
            <a:r>
              <a:rPr sz="2400" b="1" dirty="0">
                <a:solidFill>
                  <a:srgbClr val="E8B446"/>
                </a:solidFill>
                <a:latin typeface="Aptos"/>
              </a:rPr>
              <a:t>?</a:t>
            </a:r>
          </a:p>
        </p:txBody>
      </p:sp>
      <p:sp>
        <p:nvSpPr>
          <p:cNvPr id="11" name="Rounded Rectangle 10"/>
          <p:cNvSpPr/>
          <p:nvPr/>
        </p:nvSpPr>
        <p:spPr>
          <a:xfrm>
            <a:off x="777240" y="3429000"/>
            <a:ext cx="10424160" cy="123444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3822191"/>
            <a:ext cx="10195560" cy="523220"/>
          </a:xfrm>
          <a:prstGeom prst="rect">
            <a:avLst/>
          </a:prstGeom>
          <a:noFill/>
        </p:spPr>
        <p:txBody>
          <a:bodyPr wrap="square" lIns="45720" rIns="45720" anchor="t">
            <a:spAutoFit/>
          </a:bodyPr>
          <a:lstStyle/>
          <a:p>
            <a:pPr algn="l"/>
            <a:r>
              <a:rPr sz="2800" b="1" dirty="0">
                <a:solidFill>
                  <a:srgbClr val="1F2937"/>
                </a:solidFill>
                <a:latin typeface="Aptos Display"/>
              </a:rPr>
              <a:t>It suggests that ____________________________________________.</a:t>
            </a:r>
          </a:p>
        </p:txBody>
      </p:sp>
      <p:sp>
        <p:nvSpPr>
          <p:cNvPr id="13" name="TextBox 12"/>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4" name="TextBox 13"/>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Interpretation answer</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22</a:t>
            </a:r>
          </a:p>
        </p:txBody>
      </p:sp>
      <p:sp>
        <p:nvSpPr>
          <p:cNvPr id="6" name="TextBox 5"/>
          <p:cNvSpPr txBox="1"/>
          <p:nvPr/>
        </p:nvSpPr>
        <p:spPr>
          <a:xfrm>
            <a:off x="777240" y="1600200"/>
            <a:ext cx="10332720" cy="954107"/>
          </a:xfrm>
          <a:prstGeom prst="rect">
            <a:avLst/>
          </a:prstGeom>
          <a:noFill/>
        </p:spPr>
        <p:txBody>
          <a:bodyPr wrap="square" lIns="45720" rIns="45720" anchor="t">
            <a:spAutoFit/>
          </a:bodyPr>
          <a:lstStyle/>
          <a:p>
            <a:pPr algn="l"/>
            <a:r>
              <a:rPr sz="2800" b="1" dirty="0">
                <a:solidFill>
                  <a:srgbClr val="1F2937"/>
                </a:solidFill>
                <a:latin typeface="Aptos Display"/>
              </a:rPr>
              <a:t>“Quietly” suggests that the students moved without making much noise or disturbance.</a:t>
            </a:r>
          </a:p>
        </p:txBody>
      </p:sp>
      <p:sp>
        <p:nvSpPr>
          <p:cNvPr id="7" name="Rounded Rectangle 6"/>
          <p:cNvSpPr/>
          <p:nvPr/>
        </p:nvSpPr>
        <p:spPr>
          <a:xfrm>
            <a:off x="641256" y="3163824"/>
            <a:ext cx="1600200" cy="384048"/>
          </a:xfrm>
          <a:prstGeom prst="roundRect">
            <a:avLst/>
          </a:prstGeom>
          <a:solidFill>
            <a:srgbClr val="E06958"/>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8113" y="3211337"/>
            <a:ext cx="2146487" cy="523220"/>
          </a:xfrm>
          <a:prstGeom prst="rect">
            <a:avLst/>
          </a:prstGeom>
          <a:noFill/>
        </p:spPr>
        <p:txBody>
          <a:bodyPr wrap="square" lIns="45720" rIns="45720" anchor="ctr">
            <a:spAutoFit/>
          </a:bodyPr>
          <a:lstStyle/>
          <a:p>
            <a:pPr algn="ctr"/>
            <a:r>
              <a:rPr sz="2800" b="1" dirty="0">
                <a:highlight>
                  <a:srgbClr val="FFFF00"/>
                </a:highlight>
                <a:latin typeface="Aptos"/>
              </a:rPr>
              <a:t>IMPORTANT</a:t>
            </a:r>
          </a:p>
        </p:txBody>
      </p:sp>
      <p:sp>
        <p:nvSpPr>
          <p:cNvPr id="9" name="TextBox 8"/>
          <p:cNvSpPr txBox="1"/>
          <p:nvPr/>
        </p:nvSpPr>
        <p:spPr>
          <a:xfrm>
            <a:off x="2787743" y="3260842"/>
            <a:ext cx="8915400" cy="523220"/>
          </a:xfrm>
          <a:prstGeom prst="rect">
            <a:avLst/>
          </a:prstGeom>
          <a:noFill/>
        </p:spPr>
        <p:txBody>
          <a:bodyPr wrap="square" lIns="45720" rIns="45720" anchor="t">
            <a:spAutoFit/>
          </a:bodyPr>
          <a:lstStyle/>
          <a:p>
            <a:pPr algn="l"/>
            <a:r>
              <a:rPr sz="2800" b="1" dirty="0">
                <a:solidFill>
                  <a:srgbClr val="1F2937"/>
                </a:solidFill>
                <a:latin typeface="Aptos"/>
              </a:rPr>
              <a:t>We explain what the word suggests in THIS sentence.</a:t>
            </a:r>
          </a:p>
        </p:txBody>
      </p:sp>
      <p:sp>
        <p:nvSpPr>
          <p:cNvPr id="10" name="TextBox 9"/>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1" name="TextBox 10"/>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EVIDENCE LAB</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Which is the best evidence?</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23</a:t>
            </a:r>
          </a:p>
        </p:txBody>
      </p:sp>
      <p:sp>
        <p:nvSpPr>
          <p:cNvPr id="6" name="Rounded Rectangle 5"/>
          <p:cNvSpPr/>
          <p:nvPr/>
        </p:nvSpPr>
        <p:spPr>
          <a:xfrm>
            <a:off x="731520" y="1417320"/>
            <a:ext cx="10698480" cy="1097280"/>
          </a:xfrm>
          <a:prstGeom prst="roundRect">
            <a:avLst/>
          </a:prstGeom>
          <a:solidFill>
            <a:srgbClr val="162338"/>
          </a:solidFill>
          <a:ln w="12700">
            <a:solidFill>
              <a:srgbClr val="16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45920"/>
            <a:ext cx="2850936" cy="523220"/>
          </a:xfrm>
          <a:prstGeom prst="rect">
            <a:avLst/>
          </a:prstGeom>
          <a:noFill/>
        </p:spPr>
        <p:txBody>
          <a:bodyPr wrap="square" lIns="45720" rIns="45720" anchor="t">
            <a:spAutoFit/>
          </a:bodyPr>
          <a:lstStyle/>
          <a:p>
            <a:pPr algn="l"/>
            <a:r>
              <a:rPr sz="2800" b="1" dirty="0">
                <a:solidFill>
                  <a:srgbClr val="E8B446"/>
                </a:solidFill>
                <a:latin typeface="Aptos"/>
              </a:rPr>
              <a:t>OUR INFERENCE</a:t>
            </a:r>
          </a:p>
        </p:txBody>
      </p:sp>
      <p:sp>
        <p:nvSpPr>
          <p:cNvPr id="8" name="TextBox 7"/>
          <p:cNvSpPr txBox="1"/>
          <p:nvPr/>
        </p:nvSpPr>
        <p:spPr>
          <a:xfrm>
            <a:off x="4012949" y="1680323"/>
            <a:ext cx="7772400" cy="523220"/>
          </a:xfrm>
          <a:prstGeom prst="rect">
            <a:avLst/>
          </a:prstGeom>
          <a:noFill/>
        </p:spPr>
        <p:txBody>
          <a:bodyPr wrap="square" lIns="45720" rIns="45720" anchor="t">
            <a:spAutoFit/>
          </a:bodyPr>
          <a:lstStyle/>
          <a:p>
            <a:pPr algn="l"/>
            <a:r>
              <a:rPr sz="2800" b="1" dirty="0">
                <a:solidFill>
                  <a:srgbClr val="FFFFFF"/>
                </a:solidFill>
                <a:latin typeface="Aptos Display"/>
              </a:rPr>
              <a:t>The trees made the area more comfortable.</a:t>
            </a:r>
          </a:p>
        </p:txBody>
      </p:sp>
      <p:sp>
        <p:nvSpPr>
          <p:cNvPr id="9" name="TextBox 8"/>
          <p:cNvSpPr txBox="1"/>
          <p:nvPr/>
        </p:nvSpPr>
        <p:spPr>
          <a:xfrm>
            <a:off x="777240" y="2670048"/>
            <a:ext cx="5486400" cy="461665"/>
          </a:xfrm>
          <a:prstGeom prst="rect">
            <a:avLst/>
          </a:prstGeom>
          <a:noFill/>
        </p:spPr>
        <p:txBody>
          <a:bodyPr wrap="square" lIns="45720" rIns="45720" anchor="t">
            <a:spAutoFit/>
          </a:bodyPr>
          <a:lstStyle/>
          <a:p>
            <a:pPr algn="l"/>
            <a:r>
              <a:rPr sz="2400" b="1" dirty="0">
                <a:solidFill>
                  <a:srgbClr val="E8B446"/>
                </a:solidFill>
                <a:latin typeface="Aptos"/>
              </a:rPr>
              <a:t>Which evidence is strongest?</a:t>
            </a:r>
          </a:p>
        </p:txBody>
      </p:sp>
      <p:sp>
        <p:nvSpPr>
          <p:cNvPr id="10" name="Rounded Rectangle 9"/>
          <p:cNvSpPr/>
          <p:nvPr/>
        </p:nvSpPr>
        <p:spPr>
          <a:xfrm>
            <a:off x="777240" y="3337560"/>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493008"/>
            <a:ext cx="320040" cy="274320"/>
          </a:xfrm>
          <a:prstGeom prst="rect">
            <a:avLst/>
          </a:prstGeom>
          <a:noFill/>
        </p:spPr>
        <p:txBody>
          <a:bodyPr wrap="square" lIns="45720" rIns="45720" anchor="t">
            <a:spAutoFit/>
          </a:bodyPr>
          <a:lstStyle/>
          <a:p>
            <a:pPr algn="l"/>
            <a:r>
              <a:rPr sz="1500" b="1">
                <a:solidFill>
                  <a:srgbClr val="162338"/>
                </a:solidFill>
                <a:latin typeface="Aptos"/>
              </a:rPr>
              <a:t>A</a:t>
            </a:r>
          </a:p>
        </p:txBody>
      </p:sp>
      <p:sp>
        <p:nvSpPr>
          <p:cNvPr id="12" name="TextBox 11"/>
          <p:cNvSpPr txBox="1"/>
          <p:nvPr/>
        </p:nvSpPr>
        <p:spPr>
          <a:xfrm>
            <a:off x="1417319" y="3447288"/>
            <a:ext cx="9738360" cy="523220"/>
          </a:xfrm>
          <a:prstGeom prst="rect">
            <a:avLst/>
          </a:prstGeom>
          <a:noFill/>
        </p:spPr>
        <p:txBody>
          <a:bodyPr wrap="square" lIns="45720" rIns="45720" anchor="t">
            <a:spAutoFit/>
          </a:bodyPr>
          <a:lstStyle/>
          <a:p>
            <a:pPr algn="l"/>
            <a:r>
              <a:rPr sz="2800" b="0" dirty="0">
                <a:solidFill>
                  <a:srgbClr val="1F2937"/>
                </a:solidFill>
                <a:latin typeface="Aptos"/>
              </a:rPr>
              <a:t>“during the hottest part of the day”</a:t>
            </a:r>
          </a:p>
        </p:txBody>
      </p:sp>
      <p:sp>
        <p:nvSpPr>
          <p:cNvPr id="13" name="Rounded Rectangle 12"/>
          <p:cNvSpPr/>
          <p:nvPr/>
        </p:nvSpPr>
        <p:spPr>
          <a:xfrm>
            <a:off x="777240" y="4197096"/>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352544"/>
            <a:ext cx="320040" cy="274320"/>
          </a:xfrm>
          <a:prstGeom prst="rect">
            <a:avLst/>
          </a:prstGeom>
          <a:noFill/>
        </p:spPr>
        <p:txBody>
          <a:bodyPr wrap="square" lIns="45720" rIns="45720" anchor="t">
            <a:spAutoFit/>
          </a:bodyPr>
          <a:lstStyle/>
          <a:p>
            <a:pPr algn="l"/>
            <a:r>
              <a:rPr sz="1500" b="1">
                <a:solidFill>
                  <a:srgbClr val="162338"/>
                </a:solidFill>
                <a:latin typeface="Aptos"/>
              </a:rPr>
              <a:t>B</a:t>
            </a:r>
          </a:p>
        </p:txBody>
      </p:sp>
      <p:sp>
        <p:nvSpPr>
          <p:cNvPr id="15" name="TextBox 14"/>
          <p:cNvSpPr txBox="1"/>
          <p:nvPr/>
        </p:nvSpPr>
        <p:spPr>
          <a:xfrm>
            <a:off x="1417319" y="4306824"/>
            <a:ext cx="9738360" cy="523220"/>
          </a:xfrm>
          <a:prstGeom prst="rect">
            <a:avLst/>
          </a:prstGeom>
          <a:noFill/>
        </p:spPr>
        <p:txBody>
          <a:bodyPr wrap="square" lIns="45720" rIns="45720" anchor="t">
            <a:spAutoFit/>
          </a:bodyPr>
          <a:lstStyle/>
          <a:p>
            <a:pPr algn="l"/>
            <a:r>
              <a:rPr sz="2800" b="0" dirty="0">
                <a:solidFill>
                  <a:srgbClr val="1F2937"/>
                </a:solidFill>
                <a:latin typeface="Aptos"/>
              </a:rPr>
              <a:t>“many chose the path beside the trees”</a:t>
            </a:r>
          </a:p>
        </p:txBody>
      </p:sp>
      <p:sp>
        <p:nvSpPr>
          <p:cNvPr id="16" name="Rounded Rectangle 15"/>
          <p:cNvSpPr/>
          <p:nvPr/>
        </p:nvSpPr>
        <p:spPr>
          <a:xfrm>
            <a:off x="777240" y="5056631"/>
            <a:ext cx="10607040" cy="658368"/>
          </a:xfrm>
          <a:prstGeom prst="roundRect">
            <a:avLst/>
          </a:prstGeom>
          <a:solidFill>
            <a:srgbClr val="ECF0F4"/>
          </a:solidFill>
          <a:ln w="12700">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5212079"/>
            <a:ext cx="320040" cy="274320"/>
          </a:xfrm>
          <a:prstGeom prst="rect">
            <a:avLst/>
          </a:prstGeom>
          <a:noFill/>
        </p:spPr>
        <p:txBody>
          <a:bodyPr wrap="square" lIns="45720" rIns="45720" anchor="t">
            <a:spAutoFit/>
          </a:bodyPr>
          <a:lstStyle/>
          <a:p>
            <a:pPr algn="l"/>
            <a:r>
              <a:rPr sz="1500" b="1">
                <a:solidFill>
                  <a:srgbClr val="162338"/>
                </a:solidFill>
                <a:latin typeface="Aptos"/>
              </a:rPr>
              <a:t>C</a:t>
            </a:r>
          </a:p>
        </p:txBody>
      </p:sp>
      <p:sp>
        <p:nvSpPr>
          <p:cNvPr id="18" name="TextBox 17"/>
          <p:cNvSpPr txBox="1"/>
          <p:nvPr/>
        </p:nvSpPr>
        <p:spPr>
          <a:xfrm>
            <a:off x="1417319" y="5166359"/>
            <a:ext cx="9738360" cy="523220"/>
          </a:xfrm>
          <a:prstGeom prst="rect">
            <a:avLst/>
          </a:prstGeom>
          <a:noFill/>
        </p:spPr>
        <p:txBody>
          <a:bodyPr wrap="square" lIns="45720" rIns="45720" anchor="t">
            <a:spAutoFit/>
          </a:bodyPr>
          <a:lstStyle/>
          <a:p>
            <a:pPr algn="l"/>
            <a:r>
              <a:rPr sz="2800" b="0" dirty="0">
                <a:solidFill>
                  <a:srgbClr val="1F2937"/>
                </a:solidFill>
                <a:latin typeface="Aptos"/>
              </a:rPr>
              <a:t>“teachers noticed”</a:t>
            </a:r>
          </a:p>
        </p:txBody>
      </p:sp>
      <p:sp>
        <p:nvSpPr>
          <p:cNvPr id="19" name="TextBox 18"/>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0" name="TextBox 19"/>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Strongest evidence</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24</a:t>
            </a:r>
          </a:p>
        </p:txBody>
      </p:sp>
      <p:sp>
        <p:nvSpPr>
          <p:cNvPr id="6" name="Rounded Rectangle 5"/>
          <p:cNvSpPr/>
          <p:nvPr/>
        </p:nvSpPr>
        <p:spPr>
          <a:xfrm>
            <a:off x="777240" y="1417320"/>
            <a:ext cx="1828800" cy="384048"/>
          </a:xfrm>
          <a:prstGeom prst="roundRect">
            <a:avLst/>
          </a:prstGeom>
          <a:solidFill>
            <a:srgbClr val="4F9167"/>
          </a:solidFill>
          <a:ln w="12700">
            <a:solidFill>
              <a:srgbClr val="4F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8071" y="1399032"/>
            <a:ext cx="2716855" cy="461665"/>
          </a:xfrm>
          <a:prstGeom prst="rect">
            <a:avLst/>
          </a:prstGeom>
          <a:noFill/>
        </p:spPr>
        <p:txBody>
          <a:bodyPr wrap="square" lIns="45720" rIns="45720" anchor="ctr">
            <a:spAutoFit/>
          </a:bodyPr>
          <a:lstStyle/>
          <a:p>
            <a:pPr algn="ctr"/>
            <a:r>
              <a:rPr sz="2400" b="1" dirty="0">
                <a:highlight>
                  <a:srgbClr val="FFFF00"/>
                </a:highlight>
                <a:latin typeface="Aptos"/>
              </a:rPr>
              <a:t>✓ ANSWER  B</a:t>
            </a:r>
          </a:p>
        </p:txBody>
      </p:sp>
      <p:sp>
        <p:nvSpPr>
          <p:cNvPr id="8" name="Rounded Rectangle 7"/>
          <p:cNvSpPr/>
          <p:nvPr/>
        </p:nvSpPr>
        <p:spPr>
          <a:xfrm>
            <a:off x="777240" y="2057400"/>
            <a:ext cx="7498079" cy="96012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 y="2057400"/>
            <a:ext cx="109728" cy="960120"/>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194560"/>
            <a:ext cx="365760" cy="365760"/>
          </a:xfrm>
          <a:prstGeom prst="rect">
            <a:avLst/>
          </a:prstGeom>
          <a:noFill/>
        </p:spPr>
        <p:txBody>
          <a:bodyPr wrap="square" lIns="45720" rIns="45720" anchor="t">
            <a:spAutoFit/>
          </a:bodyPr>
          <a:lstStyle/>
          <a:p>
            <a:pPr algn="l"/>
            <a:r>
              <a:rPr sz="3200" b="1">
                <a:solidFill>
                  <a:srgbClr val="E8B446"/>
                </a:solidFill>
                <a:latin typeface="Aptos"/>
              </a:rPr>
              <a:t>“</a:t>
            </a:r>
          </a:p>
        </p:txBody>
      </p:sp>
      <p:sp>
        <p:nvSpPr>
          <p:cNvPr id="11" name="TextBox 10"/>
          <p:cNvSpPr txBox="1"/>
          <p:nvPr/>
        </p:nvSpPr>
        <p:spPr>
          <a:xfrm>
            <a:off x="1380744" y="2198126"/>
            <a:ext cx="6400799" cy="523220"/>
          </a:xfrm>
          <a:prstGeom prst="rect">
            <a:avLst/>
          </a:prstGeom>
          <a:noFill/>
        </p:spPr>
        <p:txBody>
          <a:bodyPr wrap="square" lIns="45720" rIns="45720" anchor="t">
            <a:spAutoFit/>
          </a:bodyPr>
          <a:lstStyle/>
          <a:p>
            <a:pPr algn="l"/>
            <a:r>
              <a:rPr sz="2800" b="1" dirty="0">
                <a:solidFill>
                  <a:srgbClr val="1F2937"/>
                </a:solidFill>
                <a:latin typeface="Aptos Display"/>
              </a:rPr>
              <a:t>“many chose the path beside the trees”</a:t>
            </a:r>
          </a:p>
        </p:txBody>
      </p:sp>
      <p:sp>
        <p:nvSpPr>
          <p:cNvPr id="12" name="TextBox 11"/>
          <p:cNvSpPr txBox="1"/>
          <p:nvPr/>
        </p:nvSpPr>
        <p:spPr>
          <a:xfrm>
            <a:off x="777240" y="3383280"/>
            <a:ext cx="9601200" cy="523220"/>
          </a:xfrm>
          <a:prstGeom prst="rect">
            <a:avLst/>
          </a:prstGeom>
          <a:noFill/>
        </p:spPr>
        <p:txBody>
          <a:bodyPr wrap="square" lIns="45720" rIns="45720" anchor="t">
            <a:spAutoFit/>
          </a:bodyPr>
          <a:lstStyle/>
          <a:p>
            <a:pPr algn="l"/>
            <a:r>
              <a:rPr sz="2800" b="1" dirty="0">
                <a:solidFill>
                  <a:srgbClr val="1F2937"/>
                </a:solidFill>
                <a:latin typeface="Aptos Display"/>
              </a:rPr>
              <a:t>This directly shows that people preferred that location.</a:t>
            </a:r>
          </a:p>
        </p:txBody>
      </p:sp>
      <p:sp>
        <p:nvSpPr>
          <p:cNvPr id="13" name="TextBox 12"/>
          <p:cNvSpPr txBox="1"/>
          <p:nvPr/>
        </p:nvSpPr>
        <p:spPr>
          <a:xfrm>
            <a:off x="777240" y="4069080"/>
            <a:ext cx="8869680" cy="523220"/>
          </a:xfrm>
          <a:prstGeom prst="rect">
            <a:avLst/>
          </a:prstGeom>
          <a:noFill/>
        </p:spPr>
        <p:txBody>
          <a:bodyPr wrap="square" lIns="45720" rIns="45720" anchor="t">
            <a:spAutoFit/>
          </a:bodyPr>
          <a:lstStyle/>
          <a:p>
            <a:pPr algn="l"/>
            <a:r>
              <a:rPr sz="2800" b="1" dirty="0">
                <a:solidFill>
                  <a:srgbClr val="2D9B9B"/>
                </a:solidFill>
                <a:latin typeface="Aptos"/>
              </a:rPr>
              <a:t>Therefore, it strongly supports our inference.</a:t>
            </a:r>
          </a:p>
        </p:txBody>
      </p:sp>
      <p:sp>
        <p:nvSpPr>
          <p:cNvPr id="14" name="TextBox 13"/>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5" name="TextBox 14"/>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EXPERT CASE FILE</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Pearson-style question</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25</a:t>
            </a:r>
          </a:p>
        </p:txBody>
      </p:sp>
      <p:sp>
        <p:nvSpPr>
          <p:cNvPr id="6" name="Rounded Rectangle 5"/>
          <p:cNvSpPr/>
          <p:nvPr/>
        </p:nvSpPr>
        <p:spPr>
          <a:xfrm>
            <a:off x="731520" y="1325880"/>
            <a:ext cx="10698480" cy="150876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25880"/>
            <a:ext cx="109728" cy="1508760"/>
          </a:xfrm>
          <a:prstGeom prst="rect">
            <a:avLst/>
          </a:prstGeom>
          <a:solidFill>
            <a:srgbClr val="2D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463039"/>
            <a:ext cx="365760" cy="365760"/>
          </a:xfrm>
          <a:prstGeom prst="rect">
            <a:avLst/>
          </a:prstGeom>
          <a:noFill/>
        </p:spPr>
        <p:txBody>
          <a:bodyPr wrap="square" lIns="45720" rIns="45720" anchor="t">
            <a:spAutoFit/>
          </a:bodyPr>
          <a:lstStyle/>
          <a:p>
            <a:pPr algn="l"/>
            <a:r>
              <a:rPr sz="3200" b="1">
                <a:solidFill>
                  <a:srgbClr val="2D9B9B"/>
                </a:solidFill>
                <a:latin typeface="Aptos"/>
              </a:rPr>
              <a:t>“</a:t>
            </a:r>
          </a:p>
        </p:txBody>
      </p:sp>
      <p:sp>
        <p:nvSpPr>
          <p:cNvPr id="9" name="TextBox 8"/>
          <p:cNvSpPr txBox="1"/>
          <p:nvPr/>
        </p:nvSpPr>
        <p:spPr>
          <a:xfrm>
            <a:off x="1508760" y="1572768"/>
            <a:ext cx="9601200" cy="1200329"/>
          </a:xfrm>
          <a:prstGeom prst="rect">
            <a:avLst/>
          </a:prstGeom>
          <a:noFill/>
        </p:spPr>
        <p:txBody>
          <a:bodyPr wrap="square" lIns="45720" rIns="45720" anchor="t">
            <a:spAutoFit/>
          </a:bodyPr>
          <a:lstStyle/>
          <a:p>
            <a:pPr algn="l"/>
            <a:r>
              <a:rPr sz="2400" b="1" dirty="0">
                <a:solidFill>
                  <a:srgbClr val="1F2937"/>
                </a:solidFill>
                <a:latin typeface="Aptos Display"/>
              </a:rPr>
              <a:t>The city originally planned to plant trees in a quiet corner of the park. After observing where people actually spent time, planners moved the trees closer to the main walking route.</a:t>
            </a:r>
          </a:p>
        </p:txBody>
      </p:sp>
      <p:sp>
        <p:nvSpPr>
          <p:cNvPr id="10" name="TextBox 9"/>
          <p:cNvSpPr txBox="1"/>
          <p:nvPr/>
        </p:nvSpPr>
        <p:spPr>
          <a:xfrm>
            <a:off x="777240" y="3154680"/>
            <a:ext cx="7315200" cy="461665"/>
          </a:xfrm>
          <a:prstGeom prst="rect">
            <a:avLst/>
          </a:prstGeom>
          <a:noFill/>
        </p:spPr>
        <p:txBody>
          <a:bodyPr wrap="square" lIns="45720" rIns="45720" anchor="t">
            <a:spAutoFit/>
          </a:bodyPr>
          <a:lstStyle/>
          <a:p>
            <a:pPr algn="l"/>
            <a:r>
              <a:rPr sz="2400" b="1" dirty="0">
                <a:solidFill>
                  <a:srgbClr val="E8B446"/>
                </a:solidFill>
                <a:latin typeface="Aptos"/>
              </a:rPr>
              <a:t>What can you </a:t>
            </a:r>
            <a:r>
              <a:rPr sz="2400" b="1" dirty="0">
                <a:highlight>
                  <a:srgbClr val="FFFF00"/>
                </a:highlight>
                <a:latin typeface="Aptos"/>
              </a:rPr>
              <a:t>deduce</a:t>
            </a:r>
            <a:r>
              <a:rPr sz="2400" b="1" dirty="0">
                <a:solidFill>
                  <a:srgbClr val="E8B446"/>
                </a:solidFill>
                <a:latin typeface="Aptos"/>
              </a:rPr>
              <a:t> about the planners?</a:t>
            </a:r>
          </a:p>
        </p:txBody>
      </p:sp>
      <p:sp>
        <p:nvSpPr>
          <p:cNvPr id="11" name="Rounded Rectangle 10"/>
          <p:cNvSpPr/>
          <p:nvPr/>
        </p:nvSpPr>
        <p:spPr>
          <a:xfrm>
            <a:off x="731520" y="3886200"/>
            <a:ext cx="3462528" cy="1051560"/>
          </a:xfrm>
          <a:prstGeom prst="roundRect">
            <a:avLst/>
          </a:prstGeom>
          <a:solidFill>
            <a:srgbClr val="FFFFFF"/>
          </a:solidFill>
          <a:ln w="12700">
            <a:solidFill>
              <a:srgbClr val="E8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4032504"/>
            <a:ext cx="3243072" cy="256032"/>
          </a:xfrm>
          <a:prstGeom prst="rect">
            <a:avLst/>
          </a:prstGeom>
          <a:noFill/>
        </p:spPr>
        <p:txBody>
          <a:bodyPr wrap="square" lIns="45720" rIns="45720" anchor="t">
            <a:spAutoFit/>
          </a:bodyPr>
          <a:lstStyle/>
          <a:p>
            <a:pPr algn="ctr"/>
            <a:r>
              <a:rPr sz="1400" b="1" dirty="0">
                <a:solidFill>
                  <a:srgbClr val="E8B446"/>
                </a:solidFill>
                <a:latin typeface="Aptos"/>
              </a:rPr>
              <a:t>CLAIM</a:t>
            </a:r>
          </a:p>
        </p:txBody>
      </p:sp>
      <p:sp>
        <p:nvSpPr>
          <p:cNvPr id="13" name="TextBox 12"/>
          <p:cNvSpPr txBox="1"/>
          <p:nvPr/>
        </p:nvSpPr>
        <p:spPr>
          <a:xfrm>
            <a:off x="841248" y="4361688"/>
            <a:ext cx="3243072" cy="461665"/>
          </a:xfrm>
          <a:prstGeom prst="rect">
            <a:avLst/>
          </a:prstGeom>
          <a:noFill/>
        </p:spPr>
        <p:txBody>
          <a:bodyPr wrap="square" lIns="45720" rIns="45720" anchor="t">
            <a:spAutoFit/>
          </a:bodyPr>
          <a:lstStyle/>
          <a:p>
            <a:pPr algn="ctr"/>
            <a:r>
              <a:rPr sz="2400" b="0" dirty="0">
                <a:solidFill>
                  <a:srgbClr val="677484"/>
                </a:solidFill>
                <a:latin typeface="Aptos"/>
              </a:rPr>
              <a:t>What do you think?</a:t>
            </a:r>
          </a:p>
        </p:txBody>
      </p:sp>
      <p:sp>
        <p:nvSpPr>
          <p:cNvPr id="14" name="Rounded Rectangle 13"/>
          <p:cNvSpPr/>
          <p:nvPr/>
        </p:nvSpPr>
        <p:spPr>
          <a:xfrm>
            <a:off x="4395216" y="3886200"/>
            <a:ext cx="3462528" cy="1051560"/>
          </a:xfrm>
          <a:prstGeom prst="roundRect">
            <a:avLst/>
          </a:prstGeom>
          <a:solidFill>
            <a:srgbClr val="FFFFFF"/>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04944" y="4032504"/>
            <a:ext cx="3243072" cy="256032"/>
          </a:xfrm>
          <a:prstGeom prst="rect">
            <a:avLst/>
          </a:prstGeom>
          <a:noFill/>
        </p:spPr>
        <p:txBody>
          <a:bodyPr wrap="square" lIns="45720" rIns="45720" anchor="t">
            <a:spAutoFit/>
          </a:bodyPr>
          <a:lstStyle/>
          <a:p>
            <a:pPr algn="ctr"/>
            <a:r>
              <a:rPr sz="1400" b="1">
                <a:solidFill>
                  <a:srgbClr val="2D9B9B"/>
                </a:solidFill>
                <a:latin typeface="Aptos"/>
              </a:rPr>
              <a:t>EVIDENCE</a:t>
            </a:r>
          </a:p>
        </p:txBody>
      </p:sp>
      <p:sp>
        <p:nvSpPr>
          <p:cNvPr id="16" name="TextBox 15"/>
          <p:cNvSpPr txBox="1"/>
          <p:nvPr/>
        </p:nvSpPr>
        <p:spPr>
          <a:xfrm>
            <a:off x="4504944" y="4361688"/>
            <a:ext cx="3243072" cy="461665"/>
          </a:xfrm>
          <a:prstGeom prst="rect">
            <a:avLst/>
          </a:prstGeom>
          <a:noFill/>
        </p:spPr>
        <p:txBody>
          <a:bodyPr wrap="square" lIns="45720" rIns="45720" anchor="t">
            <a:spAutoFit/>
          </a:bodyPr>
          <a:lstStyle/>
          <a:p>
            <a:pPr algn="ctr"/>
            <a:r>
              <a:rPr sz="2400" b="0" dirty="0">
                <a:solidFill>
                  <a:srgbClr val="677484"/>
                </a:solidFill>
                <a:latin typeface="Aptos"/>
              </a:rPr>
              <a:t>Which detail proves it?</a:t>
            </a:r>
          </a:p>
        </p:txBody>
      </p:sp>
      <p:sp>
        <p:nvSpPr>
          <p:cNvPr id="17" name="Rounded Rectangle 16"/>
          <p:cNvSpPr/>
          <p:nvPr/>
        </p:nvSpPr>
        <p:spPr>
          <a:xfrm>
            <a:off x="8058912" y="3886200"/>
            <a:ext cx="3462528" cy="1051560"/>
          </a:xfrm>
          <a:prstGeom prst="roundRect">
            <a:avLst/>
          </a:prstGeom>
          <a:solidFill>
            <a:srgbClr val="FFFFFF"/>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68640" y="4032504"/>
            <a:ext cx="3243072" cy="256032"/>
          </a:xfrm>
          <a:prstGeom prst="rect">
            <a:avLst/>
          </a:prstGeom>
          <a:noFill/>
        </p:spPr>
        <p:txBody>
          <a:bodyPr wrap="square" lIns="45720" rIns="45720" anchor="t">
            <a:spAutoFit/>
          </a:bodyPr>
          <a:lstStyle/>
          <a:p>
            <a:pPr algn="ctr"/>
            <a:r>
              <a:rPr sz="1400" b="1">
                <a:solidFill>
                  <a:srgbClr val="E06958"/>
                </a:solidFill>
                <a:latin typeface="Aptos"/>
              </a:rPr>
              <a:t>EXPLANATION</a:t>
            </a:r>
          </a:p>
        </p:txBody>
      </p:sp>
      <p:sp>
        <p:nvSpPr>
          <p:cNvPr id="19" name="TextBox 18"/>
          <p:cNvSpPr txBox="1"/>
          <p:nvPr/>
        </p:nvSpPr>
        <p:spPr>
          <a:xfrm>
            <a:off x="8168640" y="4361688"/>
            <a:ext cx="3243072" cy="461665"/>
          </a:xfrm>
          <a:prstGeom prst="rect">
            <a:avLst/>
          </a:prstGeom>
          <a:noFill/>
        </p:spPr>
        <p:txBody>
          <a:bodyPr wrap="square" lIns="45720" rIns="45720" anchor="t">
            <a:spAutoFit/>
          </a:bodyPr>
          <a:lstStyle/>
          <a:p>
            <a:pPr algn="ctr"/>
            <a:r>
              <a:rPr sz="2400" b="0" dirty="0">
                <a:solidFill>
                  <a:srgbClr val="677484"/>
                </a:solidFill>
                <a:latin typeface="Aptos"/>
              </a:rPr>
              <a:t>How does it prove it?</a:t>
            </a:r>
          </a:p>
        </p:txBody>
      </p:sp>
      <p:sp>
        <p:nvSpPr>
          <p:cNvPr id="20" name="TextBox 19"/>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1" name="TextBox 20"/>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Model answer</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26</a:t>
            </a:r>
          </a:p>
        </p:txBody>
      </p:sp>
      <p:sp>
        <p:nvSpPr>
          <p:cNvPr id="6" name="TextBox 5"/>
          <p:cNvSpPr txBox="1"/>
          <p:nvPr/>
        </p:nvSpPr>
        <p:spPr>
          <a:xfrm>
            <a:off x="777240" y="1417320"/>
            <a:ext cx="10332720" cy="914400"/>
          </a:xfrm>
          <a:prstGeom prst="rect">
            <a:avLst/>
          </a:prstGeom>
          <a:noFill/>
        </p:spPr>
        <p:txBody>
          <a:bodyPr wrap="square" lIns="45720" rIns="45720" anchor="t">
            <a:spAutoFit/>
          </a:bodyPr>
          <a:lstStyle/>
          <a:p>
            <a:pPr algn="l"/>
            <a:r>
              <a:rPr sz="2300" b="1">
                <a:solidFill>
                  <a:srgbClr val="1F2937"/>
                </a:solidFill>
                <a:latin typeface="Aptos Display"/>
              </a:rPr>
              <a:t>The planners were willing to change their plans when new evidence showed a better location.</a:t>
            </a:r>
          </a:p>
        </p:txBody>
      </p:sp>
      <p:sp>
        <p:nvSpPr>
          <p:cNvPr id="7" name="Rounded Rectangle 6"/>
          <p:cNvSpPr/>
          <p:nvPr/>
        </p:nvSpPr>
        <p:spPr>
          <a:xfrm>
            <a:off x="731520" y="2880360"/>
            <a:ext cx="3462528" cy="1051560"/>
          </a:xfrm>
          <a:prstGeom prst="roundRect">
            <a:avLst/>
          </a:prstGeom>
          <a:solidFill>
            <a:srgbClr val="FFFFFF"/>
          </a:solidFill>
          <a:ln w="12700">
            <a:solidFill>
              <a:srgbClr val="E8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2801519"/>
            <a:ext cx="3243072" cy="461665"/>
          </a:xfrm>
          <a:prstGeom prst="rect">
            <a:avLst/>
          </a:prstGeom>
          <a:noFill/>
        </p:spPr>
        <p:txBody>
          <a:bodyPr wrap="square" lIns="45720" rIns="45720" anchor="t">
            <a:spAutoFit/>
          </a:bodyPr>
          <a:lstStyle/>
          <a:p>
            <a:pPr algn="ctr"/>
            <a:r>
              <a:rPr sz="2400" b="1" dirty="0">
                <a:solidFill>
                  <a:srgbClr val="E8B446"/>
                </a:solidFill>
                <a:latin typeface="Aptos"/>
              </a:rPr>
              <a:t>CLAIM</a:t>
            </a:r>
          </a:p>
        </p:txBody>
      </p:sp>
      <p:sp>
        <p:nvSpPr>
          <p:cNvPr id="9" name="TextBox 8"/>
          <p:cNvSpPr txBox="1"/>
          <p:nvPr/>
        </p:nvSpPr>
        <p:spPr>
          <a:xfrm>
            <a:off x="890017" y="3209544"/>
            <a:ext cx="3243072" cy="830997"/>
          </a:xfrm>
          <a:prstGeom prst="rect">
            <a:avLst/>
          </a:prstGeom>
          <a:noFill/>
        </p:spPr>
        <p:txBody>
          <a:bodyPr wrap="square" lIns="45720" rIns="45720" anchor="t">
            <a:spAutoFit/>
          </a:bodyPr>
          <a:lstStyle/>
          <a:p>
            <a:pPr algn="ctr"/>
            <a:r>
              <a:rPr sz="2400" b="0" dirty="0">
                <a:solidFill>
                  <a:srgbClr val="677484"/>
                </a:solidFill>
                <a:latin typeface="Aptos"/>
              </a:rPr>
              <a:t>They changed</a:t>
            </a:r>
            <a:br>
              <a:rPr sz="2400" dirty="0"/>
            </a:br>
            <a:r>
              <a:rPr sz="2400" dirty="0"/>
              <a:t>their plans.</a:t>
            </a:r>
          </a:p>
        </p:txBody>
      </p:sp>
      <p:sp>
        <p:nvSpPr>
          <p:cNvPr id="10" name="Rounded Rectangle 9"/>
          <p:cNvSpPr/>
          <p:nvPr/>
        </p:nvSpPr>
        <p:spPr>
          <a:xfrm>
            <a:off x="4395216" y="2880360"/>
            <a:ext cx="3462528" cy="1051560"/>
          </a:xfrm>
          <a:prstGeom prst="roundRect">
            <a:avLst/>
          </a:prstGeom>
          <a:solidFill>
            <a:srgbClr val="FFFFFF"/>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04944" y="2848904"/>
            <a:ext cx="3243072" cy="400110"/>
          </a:xfrm>
          <a:prstGeom prst="rect">
            <a:avLst/>
          </a:prstGeom>
          <a:noFill/>
        </p:spPr>
        <p:txBody>
          <a:bodyPr wrap="square" lIns="45720" rIns="45720" anchor="t">
            <a:spAutoFit/>
          </a:bodyPr>
          <a:lstStyle/>
          <a:p>
            <a:pPr algn="ctr"/>
            <a:r>
              <a:rPr sz="2000" b="1" dirty="0">
                <a:solidFill>
                  <a:srgbClr val="2D9B9B"/>
                </a:solidFill>
                <a:latin typeface="Aptos"/>
              </a:rPr>
              <a:t>EVIDENCE</a:t>
            </a:r>
          </a:p>
        </p:txBody>
      </p:sp>
      <p:sp>
        <p:nvSpPr>
          <p:cNvPr id="12" name="TextBox 11"/>
          <p:cNvSpPr txBox="1"/>
          <p:nvPr/>
        </p:nvSpPr>
        <p:spPr>
          <a:xfrm>
            <a:off x="4504944" y="3173522"/>
            <a:ext cx="3243072" cy="830997"/>
          </a:xfrm>
          <a:prstGeom prst="rect">
            <a:avLst/>
          </a:prstGeom>
          <a:noFill/>
        </p:spPr>
        <p:txBody>
          <a:bodyPr wrap="square" lIns="45720" rIns="45720" anchor="t">
            <a:spAutoFit/>
          </a:bodyPr>
          <a:lstStyle/>
          <a:p>
            <a:pPr algn="ctr"/>
            <a:r>
              <a:rPr sz="2400" b="0" dirty="0">
                <a:solidFill>
                  <a:srgbClr val="677484"/>
                </a:solidFill>
                <a:latin typeface="Aptos"/>
              </a:rPr>
              <a:t>They moved the trees</a:t>
            </a:r>
            <a:br>
              <a:rPr sz="2400" dirty="0"/>
            </a:br>
            <a:r>
              <a:rPr sz="2400" dirty="0"/>
              <a:t>after observing people.</a:t>
            </a:r>
          </a:p>
        </p:txBody>
      </p:sp>
      <p:sp>
        <p:nvSpPr>
          <p:cNvPr id="13" name="Rounded Rectangle 12"/>
          <p:cNvSpPr/>
          <p:nvPr/>
        </p:nvSpPr>
        <p:spPr>
          <a:xfrm>
            <a:off x="8058912" y="2880360"/>
            <a:ext cx="3462528" cy="1051560"/>
          </a:xfrm>
          <a:prstGeom prst="roundRect">
            <a:avLst/>
          </a:prstGeom>
          <a:solidFill>
            <a:srgbClr val="FFFFFF"/>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03647" y="2844897"/>
            <a:ext cx="3243072" cy="400110"/>
          </a:xfrm>
          <a:prstGeom prst="rect">
            <a:avLst/>
          </a:prstGeom>
          <a:noFill/>
        </p:spPr>
        <p:txBody>
          <a:bodyPr wrap="square" lIns="45720" rIns="45720" anchor="t">
            <a:spAutoFit/>
          </a:bodyPr>
          <a:lstStyle/>
          <a:p>
            <a:pPr algn="ctr"/>
            <a:r>
              <a:rPr sz="2000" b="1" dirty="0">
                <a:solidFill>
                  <a:srgbClr val="E06958"/>
                </a:solidFill>
                <a:latin typeface="Aptos"/>
              </a:rPr>
              <a:t>EXPLANATION</a:t>
            </a:r>
          </a:p>
        </p:txBody>
      </p:sp>
      <p:sp>
        <p:nvSpPr>
          <p:cNvPr id="15" name="TextBox 14"/>
          <p:cNvSpPr txBox="1"/>
          <p:nvPr/>
        </p:nvSpPr>
        <p:spPr>
          <a:xfrm>
            <a:off x="8048199" y="3168721"/>
            <a:ext cx="3553968" cy="830997"/>
          </a:xfrm>
          <a:prstGeom prst="rect">
            <a:avLst/>
          </a:prstGeom>
          <a:noFill/>
        </p:spPr>
        <p:txBody>
          <a:bodyPr wrap="square" lIns="45720" rIns="45720" anchor="t">
            <a:spAutoFit/>
          </a:bodyPr>
          <a:lstStyle/>
          <a:p>
            <a:pPr algn="ctr"/>
            <a:r>
              <a:rPr sz="2400" b="0" dirty="0">
                <a:solidFill>
                  <a:srgbClr val="677484"/>
                </a:solidFill>
                <a:latin typeface="Aptos"/>
              </a:rPr>
              <a:t>They used real </a:t>
            </a:r>
            <a:r>
              <a:rPr sz="2400" b="0" dirty="0" err="1">
                <a:solidFill>
                  <a:srgbClr val="677484"/>
                </a:solidFill>
                <a:latin typeface="Aptos"/>
              </a:rPr>
              <a:t>behaviour</a:t>
            </a:r>
            <a:br>
              <a:rPr sz="2400" dirty="0"/>
            </a:br>
            <a:r>
              <a:rPr sz="2400" dirty="0"/>
              <a:t>to improve the decision.</a:t>
            </a:r>
          </a:p>
        </p:txBody>
      </p:sp>
      <p:sp>
        <p:nvSpPr>
          <p:cNvPr id="16" name="TextBox 15"/>
          <p:cNvSpPr txBox="1"/>
          <p:nvPr/>
        </p:nvSpPr>
        <p:spPr>
          <a:xfrm>
            <a:off x="777240" y="4572000"/>
            <a:ext cx="9601200" cy="523220"/>
          </a:xfrm>
          <a:prstGeom prst="rect">
            <a:avLst/>
          </a:prstGeom>
          <a:noFill/>
        </p:spPr>
        <p:txBody>
          <a:bodyPr wrap="square" lIns="45720" rIns="45720" anchor="t">
            <a:spAutoFit/>
          </a:bodyPr>
          <a:lstStyle/>
          <a:p>
            <a:pPr algn="l"/>
            <a:r>
              <a:rPr sz="2800" b="1" dirty="0">
                <a:solidFill>
                  <a:srgbClr val="4F9167"/>
                </a:solidFill>
                <a:latin typeface="Aptos"/>
              </a:rPr>
              <a:t>That is what evidence-based thinking looks like.</a:t>
            </a:r>
          </a:p>
        </p:txBody>
      </p:sp>
      <p:sp>
        <p:nvSpPr>
          <p:cNvPr id="17" name="TextBox 16"/>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8" name="TextBox 17"/>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FINAL MIXED CHALLENGE</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Can you use all three?</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27</a:t>
            </a:r>
          </a:p>
        </p:txBody>
      </p:sp>
      <p:sp>
        <p:nvSpPr>
          <p:cNvPr id="6" name="Rounded Rectangle 5"/>
          <p:cNvSpPr/>
          <p:nvPr/>
        </p:nvSpPr>
        <p:spPr>
          <a:xfrm>
            <a:off x="731520" y="1325880"/>
            <a:ext cx="10698480" cy="132588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25880"/>
            <a:ext cx="109728" cy="1325880"/>
          </a:xfrm>
          <a:prstGeom prst="rect">
            <a:avLst/>
          </a:prstGeom>
          <a:solidFill>
            <a:srgbClr val="2D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463039"/>
            <a:ext cx="365760" cy="365760"/>
          </a:xfrm>
          <a:prstGeom prst="rect">
            <a:avLst/>
          </a:prstGeom>
          <a:noFill/>
        </p:spPr>
        <p:txBody>
          <a:bodyPr wrap="square" lIns="45720" rIns="45720" anchor="t">
            <a:spAutoFit/>
          </a:bodyPr>
          <a:lstStyle/>
          <a:p>
            <a:pPr algn="l"/>
            <a:r>
              <a:rPr sz="3200" b="1">
                <a:solidFill>
                  <a:srgbClr val="2D9B9B"/>
                </a:solidFill>
                <a:latin typeface="Aptos"/>
              </a:rPr>
              <a:t>“</a:t>
            </a:r>
          </a:p>
        </p:txBody>
      </p:sp>
      <p:sp>
        <p:nvSpPr>
          <p:cNvPr id="9" name="TextBox 8"/>
          <p:cNvSpPr txBox="1"/>
          <p:nvPr/>
        </p:nvSpPr>
        <p:spPr>
          <a:xfrm>
            <a:off x="1508760" y="1572768"/>
            <a:ext cx="9601200" cy="1200329"/>
          </a:xfrm>
          <a:prstGeom prst="rect">
            <a:avLst/>
          </a:prstGeom>
          <a:noFill/>
        </p:spPr>
        <p:txBody>
          <a:bodyPr wrap="square" lIns="45720" rIns="45720" anchor="t">
            <a:spAutoFit/>
          </a:bodyPr>
          <a:lstStyle/>
          <a:p>
            <a:pPr algn="l"/>
            <a:r>
              <a:rPr sz="2400" b="1" dirty="0">
                <a:solidFill>
                  <a:srgbClr val="1F2937"/>
                </a:solidFill>
                <a:latin typeface="Aptos Display"/>
              </a:rPr>
              <a:t>The new trees were small, so they provided little shade at first. However, residents continued to support the project because they knew the trees would grow over time.</a:t>
            </a:r>
          </a:p>
        </p:txBody>
      </p:sp>
      <p:sp>
        <p:nvSpPr>
          <p:cNvPr id="10" name="Rounded Rectangle 9"/>
          <p:cNvSpPr/>
          <p:nvPr/>
        </p:nvSpPr>
        <p:spPr>
          <a:xfrm>
            <a:off x="777240" y="3063240"/>
            <a:ext cx="10515600" cy="205740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3383280"/>
            <a:ext cx="1371600" cy="461665"/>
          </a:xfrm>
          <a:prstGeom prst="rect">
            <a:avLst/>
          </a:prstGeom>
          <a:noFill/>
        </p:spPr>
        <p:txBody>
          <a:bodyPr wrap="square" lIns="45720" rIns="45720" anchor="t">
            <a:spAutoFit/>
          </a:bodyPr>
          <a:lstStyle/>
          <a:p>
            <a:pPr algn="l"/>
            <a:r>
              <a:rPr sz="2400" b="1" dirty="0">
                <a:solidFill>
                  <a:srgbClr val="2D9B9B"/>
                </a:solidFill>
                <a:latin typeface="Aptos"/>
              </a:rPr>
              <a:t>1  INFER</a:t>
            </a:r>
          </a:p>
        </p:txBody>
      </p:sp>
      <p:sp>
        <p:nvSpPr>
          <p:cNvPr id="12" name="TextBox 11"/>
          <p:cNvSpPr txBox="1"/>
          <p:nvPr/>
        </p:nvSpPr>
        <p:spPr>
          <a:xfrm>
            <a:off x="2468880" y="3364992"/>
            <a:ext cx="7772400" cy="461665"/>
          </a:xfrm>
          <a:prstGeom prst="rect">
            <a:avLst/>
          </a:prstGeom>
          <a:noFill/>
        </p:spPr>
        <p:txBody>
          <a:bodyPr wrap="square" lIns="45720" rIns="45720" anchor="t">
            <a:spAutoFit/>
          </a:bodyPr>
          <a:lstStyle/>
          <a:p>
            <a:pPr algn="l"/>
            <a:r>
              <a:rPr sz="2400" b="1" dirty="0">
                <a:solidFill>
                  <a:srgbClr val="1F2937"/>
                </a:solidFill>
                <a:latin typeface="Aptos"/>
              </a:rPr>
              <a:t>What can you </a:t>
            </a:r>
            <a:r>
              <a:rPr sz="2400" b="1" dirty="0">
                <a:solidFill>
                  <a:srgbClr val="1F2937"/>
                </a:solidFill>
                <a:highlight>
                  <a:srgbClr val="FFFF00"/>
                </a:highlight>
                <a:latin typeface="Aptos"/>
              </a:rPr>
              <a:t>infer</a:t>
            </a:r>
            <a:r>
              <a:rPr sz="2400" b="1" dirty="0">
                <a:solidFill>
                  <a:srgbClr val="1F2937"/>
                </a:solidFill>
                <a:latin typeface="Aptos"/>
              </a:rPr>
              <a:t> about the trees?</a:t>
            </a:r>
          </a:p>
        </p:txBody>
      </p:sp>
      <p:sp>
        <p:nvSpPr>
          <p:cNvPr id="13" name="TextBox 12"/>
          <p:cNvSpPr txBox="1"/>
          <p:nvPr/>
        </p:nvSpPr>
        <p:spPr>
          <a:xfrm>
            <a:off x="929791" y="3968496"/>
            <a:ext cx="1737360" cy="461665"/>
          </a:xfrm>
          <a:prstGeom prst="rect">
            <a:avLst/>
          </a:prstGeom>
          <a:noFill/>
        </p:spPr>
        <p:txBody>
          <a:bodyPr wrap="square" lIns="45720" rIns="45720" anchor="t">
            <a:spAutoFit/>
          </a:bodyPr>
          <a:lstStyle/>
          <a:p>
            <a:pPr algn="l"/>
            <a:r>
              <a:rPr sz="2400" b="1" dirty="0">
                <a:solidFill>
                  <a:srgbClr val="E06958"/>
                </a:solidFill>
                <a:latin typeface="Aptos"/>
              </a:rPr>
              <a:t>2  DEDUCE</a:t>
            </a:r>
          </a:p>
        </p:txBody>
      </p:sp>
      <p:sp>
        <p:nvSpPr>
          <p:cNvPr id="14" name="TextBox 13"/>
          <p:cNvSpPr txBox="1"/>
          <p:nvPr/>
        </p:nvSpPr>
        <p:spPr>
          <a:xfrm>
            <a:off x="2651760" y="3959352"/>
            <a:ext cx="7498079" cy="461665"/>
          </a:xfrm>
          <a:prstGeom prst="rect">
            <a:avLst/>
          </a:prstGeom>
          <a:noFill/>
        </p:spPr>
        <p:txBody>
          <a:bodyPr wrap="square" lIns="45720" rIns="45720" anchor="t">
            <a:spAutoFit/>
          </a:bodyPr>
          <a:lstStyle/>
          <a:p>
            <a:pPr algn="l"/>
            <a:r>
              <a:rPr sz="2400" b="1" dirty="0">
                <a:solidFill>
                  <a:srgbClr val="1F2937"/>
                </a:solidFill>
                <a:latin typeface="Aptos"/>
              </a:rPr>
              <a:t>What can you </a:t>
            </a:r>
            <a:r>
              <a:rPr sz="2400" b="1" dirty="0">
                <a:solidFill>
                  <a:srgbClr val="1F2937"/>
                </a:solidFill>
                <a:highlight>
                  <a:srgbClr val="FFFF00"/>
                </a:highlight>
                <a:latin typeface="Aptos"/>
              </a:rPr>
              <a:t>deduce</a:t>
            </a:r>
            <a:r>
              <a:rPr sz="2400" b="1" dirty="0">
                <a:solidFill>
                  <a:srgbClr val="1F2937"/>
                </a:solidFill>
                <a:latin typeface="Aptos"/>
              </a:rPr>
              <a:t> about the residents?</a:t>
            </a:r>
          </a:p>
        </p:txBody>
      </p:sp>
      <p:sp>
        <p:nvSpPr>
          <p:cNvPr id="15" name="TextBox 14"/>
          <p:cNvSpPr txBox="1"/>
          <p:nvPr/>
        </p:nvSpPr>
        <p:spPr>
          <a:xfrm>
            <a:off x="929791" y="4562947"/>
            <a:ext cx="2162420" cy="461665"/>
          </a:xfrm>
          <a:prstGeom prst="rect">
            <a:avLst/>
          </a:prstGeom>
          <a:noFill/>
        </p:spPr>
        <p:txBody>
          <a:bodyPr wrap="square" lIns="45720" rIns="45720" anchor="t">
            <a:spAutoFit/>
          </a:bodyPr>
          <a:lstStyle/>
          <a:p>
            <a:pPr algn="l"/>
            <a:r>
              <a:rPr sz="2400" b="1" dirty="0">
                <a:solidFill>
                  <a:srgbClr val="745B96"/>
                </a:solidFill>
                <a:latin typeface="Aptos"/>
              </a:rPr>
              <a:t>3  INTERPRET</a:t>
            </a:r>
          </a:p>
        </p:txBody>
      </p:sp>
      <p:sp>
        <p:nvSpPr>
          <p:cNvPr id="16" name="TextBox 15"/>
          <p:cNvSpPr txBox="1"/>
          <p:nvPr/>
        </p:nvSpPr>
        <p:spPr>
          <a:xfrm>
            <a:off x="2834640" y="4553712"/>
            <a:ext cx="7132320" cy="461665"/>
          </a:xfrm>
          <a:prstGeom prst="rect">
            <a:avLst/>
          </a:prstGeom>
          <a:noFill/>
        </p:spPr>
        <p:txBody>
          <a:bodyPr wrap="square" lIns="45720" rIns="45720" anchor="t">
            <a:spAutoFit/>
          </a:bodyPr>
          <a:lstStyle/>
          <a:p>
            <a:pPr algn="l"/>
            <a:r>
              <a:rPr sz="2400" b="1" dirty="0">
                <a:solidFill>
                  <a:srgbClr val="1F2937"/>
                </a:solidFill>
                <a:latin typeface="Aptos"/>
              </a:rPr>
              <a:t>What does “continued” </a:t>
            </a:r>
            <a:r>
              <a:rPr sz="2400" b="1" dirty="0">
                <a:solidFill>
                  <a:srgbClr val="1F2937"/>
                </a:solidFill>
                <a:highlight>
                  <a:srgbClr val="FFFF00"/>
                </a:highlight>
                <a:latin typeface="Aptos"/>
              </a:rPr>
              <a:t>suggest</a:t>
            </a:r>
            <a:r>
              <a:rPr sz="2400" b="1" dirty="0">
                <a:solidFill>
                  <a:srgbClr val="1F2937"/>
                </a:solidFill>
                <a:latin typeface="Aptos"/>
              </a:rPr>
              <a:t>?</a:t>
            </a:r>
          </a:p>
        </p:txBody>
      </p:sp>
      <p:sp>
        <p:nvSpPr>
          <p:cNvPr id="17" name="TextBox 16"/>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8" name="TextBox 17"/>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85719" y="139187"/>
            <a:ext cx="6400800" cy="523220"/>
          </a:xfrm>
          <a:prstGeom prst="rect">
            <a:avLst/>
          </a:prstGeom>
          <a:noFill/>
        </p:spPr>
        <p:txBody>
          <a:bodyPr wrap="square" lIns="45720" rIns="45720" anchor="t">
            <a:spAutoFit/>
          </a:bodyPr>
          <a:lstStyle/>
          <a:p>
            <a:pPr algn="l"/>
            <a:r>
              <a:rPr sz="2800" b="1" dirty="0">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Three answers. Three kinds of thinking.</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28</a:t>
            </a:r>
          </a:p>
        </p:txBody>
      </p:sp>
      <p:sp>
        <p:nvSpPr>
          <p:cNvPr id="6" name="Rounded Rectangle 5"/>
          <p:cNvSpPr/>
          <p:nvPr/>
        </p:nvSpPr>
        <p:spPr>
          <a:xfrm>
            <a:off x="731520" y="1336563"/>
            <a:ext cx="10698480" cy="1298448"/>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527048"/>
            <a:ext cx="1032817" cy="384048"/>
          </a:xfrm>
          <a:prstGeom prst="roundRect">
            <a:avLst/>
          </a:prstGeom>
          <a:solidFill>
            <a:srgbClr val="2D9B9B"/>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337" y="1492132"/>
            <a:ext cx="1307592" cy="461665"/>
          </a:xfrm>
          <a:prstGeom prst="rect">
            <a:avLst/>
          </a:prstGeom>
          <a:noFill/>
        </p:spPr>
        <p:txBody>
          <a:bodyPr wrap="square" lIns="45720" rIns="45720" anchor="ctr">
            <a:spAutoFit/>
          </a:bodyPr>
          <a:lstStyle/>
          <a:p>
            <a:pPr algn="ctr"/>
            <a:r>
              <a:rPr sz="2400" b="1" dirty="0">
                <a:highlight>
                  <a:srgbClr val="FFFF00"/>
                </a:highlight>
                <a:latin typeface="Aptos"/>
              </a:rPr>
              <a:t>1  INFER</a:t>
            </a:r>
          </a:p>
        </p:txBody>
      </p:sp>
      <p:sp>
        <p:nvSpPr>
          <p:cNvPr id="9" name="TextBox 8"/>
          <p:cNvSpPr txBox="1"/>
          <p:nvPr/>
        </p:nvSpPr>
        <p:spPr>
          <a:xfrm>
            <a:off x="2560320" y="1490472"/>
            <a:ext cx="8138160" cy="400110"/>
          </a:xfrm>
          <a:prstGeom prst="rect">
            <a:avLst/>
          </a:prstGeom>
          <a:noFill/>
        </p:spPr>
        <p:txBody>
          <a:bodyPr wrap="square" lIns="45720" rIns="45720" anchor="t">
            <a:spAutoFit/>
          </a:bodyPr>
          <a:lstStyle/>
          <a:p>
            <a:pPr algn="l"/>
            <a:r>
              <a:rPr sz="2000" b="1" dirty="0">
                <a:solidFill>
                  <a:srgbClr val="1F2937"/>
                </a:solidFill>
                <a:latin typeface="Aptos"/>
              </a:rPr>
              <a:t>The trees were newly planted and not very large yet.</a:t>
            </a:r>
          </a:p>
        </p:txBody>
      </p:sp>
      <p:sp>
        <p:nvSpPr>
          <p:cNvPr id="10" name="TextBox 9"/>
          <p:cNvSpPr txBox="1"/>
          <p:nvPr/>
        </p:nvSpPr>
        <p:spPr>
          <a:xfrm>
            <a:off x="2560320" y="2039112"/>
            <a:ext cx="8138160" cy="461665"/>
          </a:xfrm>
          <a:prstGeom prst="rect">
            <a:avLst/>
          </a:prstGeom>
          <a:noFill/>
        </p:spPr>
        <p:txBody>
          <a:bodyPr wrap="square" lIns="45720" rIns="45720" anchor="t">
            <a:spAutoFit/>
          </a:bodyPr>
          <a:lstStyle/>
          <a:p>
            <a:pPr algn="l"/>
            <a:r>
              <a:rPr sz="2400" b="0" dirty="0">
                <a:solidFill>
                  <a:srgbClr val="677484"/>
                </a:solidFill>
                <a:latin typeface="Aptos"/>
              </a:rPr>
              <a:t>Evidence / meaning: “they provided little shade at first.”</a:t>
            </a:r>
          </a:p>
        </p:txBody>
      </p:sp>
      <p:sp>
        <p:nvSpPr>
          <p:cNvPr id="11" name="Rounded Rectangle 10"/>
          <p:cNvSpPr/>
          <p:nvPr/>
        </p:nvSpPr>
        <p:spPr>
          <a:xfrm>
            <a:off x="731520" y="2926080"/>
            <a:ext cx="10698480" cy="1298448"/>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04539" y="3121997"/>
            <a:ext cx="1417320" cy="384048"/>
          </a:xfrm>
          <a:prstGeom prst="roundRect">
            <a:avLst/>
          </a:prstGeom>
          <a:solidFill>
            <a:srgbClr val="E06958"/>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6441" y="3083188"/>
            <a:ext cx="1701689" cy="461665"/>
          </a:xfrm>
          <a:prstGeom prst="rect">
            <a:avLst/>
          </a:prstGeom>
          <a:noFill/>
        </p:spPr>
        <p:txBody>
          <a:bodyPr wrap="square" lIns="45720" rIns="45720" anchor="ctr">
            <a:spAutoFit/>
          </a:bodyPr>
          <a:lstStyle/>
          <a:p>
            <a:pPr algn="ctr"/>
            <a:r>
              <a:rPr sz="2400" b="1" dirty="0">
                <a:highlight>
                  <a:srgbClr val="FFFF00"/>
                </a:highlight>
                <a:latin typeface="Aptos"/>
              </a:rPr>
              <a:t>2  DEDUCE</a:t>
            </a:r>
          </a:p>
        </p:txBody>
      </p:sp>
      <p:sp>
        <p:nvSpPr>
          <p:cNvPr id="14" name="TextBox 13"/>
          <p:cNvSpPr txBox="1"/>
          <p:nvPr/>
        </p:nvSpPr>
        <p:spPr>
          <a:xfrm>
            <a:off x="2560320" y="3090672"/>
            <a:ext cx="8138160" cy="400110"/>
          </a:xfrm>
          <a:prstGeom prst="rect">
            <a:avLst/>
          </a:prstGeom>
          <a:noFill/>
        </p:spPr>
        <p:txBody>
          <a:bodyPr wrap="square" lIns="45720" rIns="45720" anchor="t">
            <a:spAutoFit/>
          </a:bodyPr>
          <a:lstStyle/>
          <a:p>
            <a:pPr algn="l"/>
            <a:r>
              <a:rPr sz="2000" b="1" dirty="0">
                <a:solidFill>
                  <a:srgbClr val="1F2937"/>
                </a:solidFill>
                <a:latin typeface="Aptos"/>
              </a:rPr>
              <a:t>The residents were willing to wait for future benefits.</a:t>
            </a:r>
          </a:p>
        </p:txBody>
      </p:sp>
      <p:sp>
        <p:nvSpPr>
          <p:cNvPr id="15" name="TextBox 14"/>
          <p:cNvSpPr txBox="1"/>
          <p:nvPr/>
        </p:nvSpPr>
        <p:spPr>
          <a:xfrm>
            <a:off x="2560320" y="3639312"/>
            <a:ext cx="8138160" cy="461665"/>
          </a:xfrm>
          <a:prstGeom prst="rect">
            <a:avLst/>
          </a:prstGeom>
          <a:noFill/>
        </p:spPr>
        <p:txBody>
          <a:bodyPr wrap="square" lIns="45720" rIns="45720" anchor="t">
            <a:spAutoFit/>
          </a:bodyPr>
          <a:lstStyle/>
          <a:p>
            <a:pPr algn="l"/>
            <a:r>
              <a:rPr sz="2400" b="0" dirty="0">
                <a:solidFill>
                  <a:srgbClr val="677484"/>
                </a:solidFill>
                <a:latin typeface="Aptos"/>
              </a:rPr>
              <a:t>Evidence / meaning: They continued to support the project.</a:t>
            </a:r>
          </a:p>
        </p:txBody>
      </p:sp>
      <p:sp>
        <p:nvSpPr>
          <p:cNvPr id="16" name="Rounded Rectangle 15"/>
          <p:cNvSpPr/>
          <p:nvPr/>
        </p:nvSpPr>
        <p:spPr>
          <a:xfrm>
            <a:off x="731520" y="4526280"/>
            <a:ext cx="10698480" cy="1298448"/>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6112" y="4727448"/>
            <a:ext cx="1417320" cy="384048"/>
          </a:xfrm>
          <a:prstGeom prst="roundRect">
            <a:avLst/>
          </a:prstGeom>
          <a:solidFill>
            <a:srgbClr val="745B96"/>
          </a:solidFill>
          <a:ln w="12700">
            <a:solidFill>
              <a:srgbClr val="745B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4690872"/>
            <a:ext cx="1921144" cy="461665"/>
          </a:xfrm>
          <a:prstGeom prst="rect">
            <a:avLst/>
          </a:prstGeom>
          <a:noFill/>
        </p:spPr>
        <p:txBody>
          <a:bodyPr wrap="square" lIns="45720" rIns="45720" anchor="ctr">
            <a:spAutoFit/>
          </a:bodyPr>
          <a:lstStyle/>
          <a:p>
            <a:pPr algn="ctr"/>
            <a:r>
              <a:rPr sz="2400" b="1" dirty="0">
                <a:highlight>
                  <a:srgbClr val="FFFF00"/>
                </a:highlight>
                <a:latin typeface="Aptos"/>
              </a:rPr>
              <a:t>3  INTERPRET</a:t>
            </a:r>
          </a:p>
        </p:txBody>
      </p:sp>
      <p:sp>
        <p:nvSpPr>
          <p:cNvPr id="19" name="TextBox 18"/>
          <p:cNvSpPr txBox="1"/>
          <p:nvPr/>
        </p:nvSpPr>
        <p:spPr>
          <a:xfrm>
            <a:off x="2560320" y="4690872"/>
            <a:ext cx="8138160" cy="707886"/>
          </a:xfrm>
          <a:prstGeom prst="rect">
            <a:avLst/>
          </a:prstGeom>
          <a:noFill/>
        </p:spPr>
        <p:txBody>
          <a:bodyPr wrap="square" lIns="45720" rIns="45720" anchor="t">
            <a:spAutoFit/>
          </a:bodyPr>
          <a:lstStyle/>
          <a:p>
            <a:pPr algn="l"/>
            <a:r>
              <a:rPr sz="2000" b="1" dirty="0">
                <a:solidFill>
                  <a:srgbClr val="1F2937"/>
                </a:solidFill>
                <a:latin typeface="Aptos"/>
              </a:rPr>
              <a:t>“Continued” suggests they had supported it before and kept supporting it.</a:t>
            </a:r>
          </a:p>
        </p:txBody>
      </p:sp>
      <p:sp>
        <p:nvSpPr>
          <p:cNvPr id="20" name="TextBox 19"/>
          <p:cNvSpPr txBox="1"/>
          <p:nvPr/>
        </p:nvSpPr>
        <p:spPr>
          <a:xfrm>
            <a:off x="2560320" y="5399258"/>
            <a:ext cx="8138160" cy="461665"/>
          </a:xfrm>
          <a:prstGeom prst="rect">
            <a:avLst/>
          </a:prstGeom>
          <a:noFill/>
        </p:spPr>
        <p:txBody>
          <a:bodyPr wrap="square" lIns="45720" rIns="45720" anchor="t">
            <a:spAutoFit/>
          </a:bodyPr>
          <a:lstStyle/>
          <a:p>
            <a:pPr algn="l"/>
            <a:r>
              <a:rPr sz="2400" b="0" dirty="0">
                <a:solidFill>
                  <a:srgbClr val="677484"/>
                </a:solidFill>
                <a:latin typeface="Aptos"/>
              </a:rPr>
              <a:t>Evidence / meaning: The word shows the action carried on.</a:t>
            </a:r>
          </a:p>
        </p:txBody>
      </p:sp>
      <p:sp>
        <p:nvSpPr>
          <p:cNvPr id="21" name="TextBox 20"/>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2" name="TextBox 21"/>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DETECTIVE RULEBOOK</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Don't be scared by the words</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29</a:t>
            </a:r>
          </a:p>
        </p:txBody>
      </p:sp>
      <p:sp>
        <p:nvSpPr>
          <p:cNvPr id="6" name="Rounded Rectangle 5"/>
          <p:cNvSpPr/>
          <p:nvPr/>
        </p:nvSpPr>
        <p:spPr>
          <a:xfrm>
            <a:off x="731520" y="1554479"/>
            <a:ext cx="3462528" cy="1469377"/>
          </a:xfrm>
          <a:prstGeom prst="roundRect">
            <a:avLst/>
          </a:prstGeom>
          <a:solidFill>
            <a:srgbClr val="FFFFFF"/>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567035"/>
            <a:ext cx="3243072" cy="461665"/>
          </a:xfrm>
          <a:prstGeom prst="rect">
            <a:avLst/>
          </a:prstGeom>
          <a:noFill/>
        </p:spPr>
        <p:txBody>
          <a:bodyPr wrap="square" lIns="45720" rIns="45720" anchor="t">
            <a:spAutoFit/>
          </a:bodyPr>
          <a:lstStyle/>
          <a:p>
            <a:pPr algn="ctr"/>
            <a:r>
              <a:rPr sz="2400" b="1" dirty="0">
                <a:solidFill>
                  <a:srgbClr val="2D9B9B"/>
                </a:solidFill>
                <a:latin typeface="Aptos"/>
              </a:rPr>
              <a:t>INFER</a:t>
            </a:r>
          </a:p>
        </p:txBody>
      </p:sp>
      <p:sp>
        <p:nvSpPr>
          <p:cNvPr id="8" name="TextBox 7"/>
          <p:cNvSpPr txBox="1"/>
          <p:nvPr/>
        </p:nvSpPr>
        <p:spPr>
          <a:xfrm>
            <a:off x="841248" y="2029967"/>
            <a:ext cx="3243072" cy="830997"/>
          </a:xfrm>
          <a:prstGeom prst="rect">
            <a:avLst/>
          </a:prstGeom>
          <a:noFill/>
        </p:spPr>
        <p:txBody>
          <a:bodyPr wrap="square" lIns="45720" rIns="45720" anchor="t">
            <a:spAutoFit/>
          </a:bodyPr>
          <a:lstStyle/>
          <a:p>
            <a:pPr algn="ctr"/>
            <a:r>
              <a:rPr sz="2400" b="0" dirty="0">
                <a:solidFill>
                  <a:srgbClr val="677484"/>
                </a:solidFill>
                <a:latin typeface="Aptos"/>
              </a:rPr>
              <a:t>What can I</a:t>
            </a:r>
            <a:br>
              <a:rPr sz="2400" dirty="0"/>
            </a:br>
            <a:r>
              <a:rPr sz="2400" dirty="0"/>
              <a:t>work out?</a:t>
            </a:r>
          </a:p>
        </p:txBody>
      </p:sp>
      <p:sp>
        <p:nvSpPr>
          <p:cNvPr id="9" name="Rounded Rectangle 8"/>
          <p:cNvSpPr/>
          <p:nvPr/>
        </p:nvSpPr>
        <p:spPr>
          <a:xfrm>
            <a:off x="4395216" y="1554480"/>
            <a:ext cx="3462528" cy="1469376"/>
          </a:xfrm>
          <a:prstGeom prst="roundRect">
            <a:avLst/>
          </a:prstGeom>
          <a:solidFill>
            <a:srgbClr val="FFFFFF"/>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04944" y="1540871"/>
            <a:ext cx="3243072" cy="461665"/>
          </a:xfrm>
          <a:prstGeom prst="rect">
            <a:avLst/>
          </a:prstGeom>
          <a:noFill/>
        </p:spPr>
        <p:txBody>
          <a:bodyPr wrap="square" lIns="45720" rIns="45720" anchor="t">
            <a:spAutoFit/>
          </a:bodyPr>
          <a:lstStyle/>
          <a:p>
            <a:pPr algn="ctr"/>
            <a:r>
              <a:rPr sz="2400" b="1" dirty="0">
                <a:solidFill>
                  <a:srgbClr val="E06958"/>
                </a:solidFill>
                <a:latin typeface="Aptos"/>
              </a:rPr>
              <a:t>DEDUCE</a:t>
            </a:r>
          </a:p>
        </p:txBody>
      </p:sp>
      <p:sp>
        <p:nvSpPr>
          <p:cNvPr id="11" name="TextBox 10"/>
          <p:cNvSpPr txBox="1"/>
          <p:nvPr/>
        </p:nvSpPr>
        <p:spPr>
          <a:xfrm>
            <a:off x="4504944" y="2029967"/>
            <a:ext cx="3243072" cy="830997"/>
          </a:xfrm>
          <a:prstGeom prst="rect">
            <a:avLst/>
          </a:prstGeom>
          <a:noFill/>
        </p:spPr>
        <p:txBody>
          <a:bodyPr wrap="square" lIns="45720" rIns="45720" anchor="t">
            <a:spAutoFit/>
          </a:bodyPr>
          <a:lstStyle/>
          <a:p>
            <a:pPr algn="ctr"/>
            <a:r>
              <a:rPr sz="2400" b="0" dirty="0">
                <a:solidFill>
                  <a:srgbClr val="677484"/>
                </a:solidFill>
                <a:latin typeface="Aptos"/>
              </a:rPr>
              <a:t>What conclusion can</a:t>
            </a:r>
            <a:br>
              <a:rPr sz="2400" dirty="0"/>
            </a:br>
            <a:r>
              <a:rPr sz="2400" dirty="0"/>
              <a:t>I reach from the clues?</a:t>
            </a:r>
          </a:p>
        </p:txBody>
      </p:sp>
      <p:sp>
        <p:nvSpPr>
          <p:cNvPr id="12" name="Rounded Rectangle 11"/>
          <p:cNvSpPr/>
          <p:nvPr/>
        </p:nvSpPr>
        <p:spPr>
          <a:xfrm>
            <a:off x="8058912" y="1554480"/>
            <a:ext cx="3462528" cy="1469376"/>
          </a:xfrm>
          <a:prstGeom prst="roundRect">
            <a:avLst/>
          </a:prstGeom>
          <a:solidFill>
            <a:srgbClr val="FFFFFF"/>
          </a:solidFill>
          <a:ln w="12700">
            <a:solidFill>
              <a:srgbClr val="745B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68640" y="1568302"/>
            <a:ext cx="3243072" cy="461665"/>
          </a:xfrm>
          <a:prstGeom prst="rect">
            <a:avLst/>
          </a:prstGeom>
          <a:noFill/>
        </p:spPr>
        <p:txBody>
          <a:bodyPr wrap="square" lIns="45720" rIns="45720" anchor="t">
            <a:spAutoFit/>
          </a:bodyPr>
          <a:lstStyle/>
          <a:p>
            <a:pPr algn="ctr"/>
            <a:r>
              <a:rPr sz="2400" b="1" dirty="0">
                <a:solidFill>
                  <a:srgbClr val="745B96"/>
                </a:solidFill>
                <a:latin typeface="Aptos"/>
              </a:rPr>
              <a:t>INTERPRET</a:t>
            </a:r>
            <a:endParaRPr sz="1400" b="1" dirty="0">
              <a:solidFill>
                <a:srgbClr val="745B96"/>
              </a:solidFill>
              <a:latin typeface="Aptos"/>
            </a:endParaRPr>
          </a:p>
        </p:txBody>
      </p:sp>
      <p:sp>
        <p:nvSpPr>
          <p:cNvPr id="14" name="TextBox 13"/>
          <p:cNvSpPr txBox="1"/>
          <p:nvPr/>
        </p:nvSpPr>
        <p:spPr>
          <a:xfrm>
            <a:off x="8168640" y="2029967"/>
            <a:ext cx="3243072" cy="830997"/>
          </a:xfrm>
          <a:prstGeom prst="rect">
            <a:avLst/>
          </a:prstGeom>
          <a:noFill/>
        </p:spPr>
        <p:txBody>
          <a:bodyPr wrap="square" lIns="45720" rIns="45720" anchor="t">
            <a:spAutoFit/>
          </a:bodyPr>
          <a:lstStyle/>
          <a:p>
            <a:pPr algn="ctr"/>
            <a:r>
              <a:rPr sz="2400" b="0" dirty="0">
                <a:solidFill>
                  <a:srgbClr val="677484"/>
                </a:solidFill>
                <a:latin typeface="Aptos"/>
              </a:rPr>
              <a:t>What does this word /</a:t>
            </a:r>
            <a:br>
              <a:rPr sz="2400" dirty="0"/>
            </a:br>
            <a:r>
              <a:rPr sz="2400" dirty="0"/>
              <a:t>phrase suggest here?</a:t>
            </a:r>
          </a:p>
        </p:txBody>
      </p:sp>
      <p:sp>
        <p:nvSpPr>
          <p:cNvPr id="15" name="Rounded Rectangle 14"/>
          <p:cNvSpPr/>
          <p:nvPr/>
        </p:nvSpPr>
        <p:spPr>
          <a:xfrm>
            <a:off x="1828800" y="4160520"/>
            <a:ext cx="8503920" cy="960120"/>
          </a:xfrm>
          <a:prstGeom prst="roundRect">
            <a:avLst/>
          </a:prstGeom>
          <a:solidFill>
            <a:srgbClr val="162338"/>
          </a:solidFill>
          <a:ln w="12700">
            <a:solidFill>
              <a:srgbClr val="16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48840" y="4416552"/>
            <a:ext cx="7863840" cy="523220"/>
          </a:xfrm>
          <a:prstGeom prst="rect">
            <a:avLst/>
          </a:prstGeom>
          <a:noFill/>
        </p:spPr>
        <p:txBody>
          <a:bodyPr wrap="square" lIns="45720" rIns="45720" anchor="t">
            <a:spAutoFit/>
          </a:bodyPr>
          <a:lstStyle/>
          <a:p>
            <a:pPr algn="ctr"/>
            <a:r>
              <a:rPr sz="2800" b="1" dirty="0">
                <a:solidFill>
                  <a:srgbClr val="FFFFFF"/>
                </a:solidFill>
                <a:latin typeface="Aptos Display"/>
              </a:rPr>
              <a:t>Different words. Connected thinking.</a:t>
            </a:r>
          </a:p>
        </p:txBody>
      </p:sp>
      <p:sp>
        <p:nvSpPr>
          <p:cNvPr id="17" name="TextBox 16"/>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8" name="TextBox 17"/>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DETECTIVE TOOLKIT</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The 4-step formula</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30</a:t>
            </a:r>
          </a:p>
        </p:txBody>
      </p:sp>
      <p:sp>
        <p:nvSpPr>
          <p:cNvPr id="6" name="Rounded Rectangle 5"/>
          <p:cNvSpPr/>
          <p:nvPr/>
        </p:nvSpPr>
        <p:spPr>
          <a:xfrm>
            <a:off x="731520" y="1508760"/>
            <a:ext cx="2546604" cy="2257482"/>
          </a:xfrm>
          <a:prstGeom prst="roundRect">
            <a:avLst/>
          </a:prstGeom>
          <a:solidFill>
            <a:srgbClr val="FFFFFF"/>
          </a:solidFill>
          <a:ln w="12700">
            <a:solidFill>
              <a:srgbClr val="E8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655063"/>
            <a:ext cx="2327148" cy="256032"/>
          </a:xfrm>
          <a:prstGeom prst="rect">
            <a:avLst/>
          </a:prstGeom>
          <a:noFill/>
        </p:spPr>
        <p:txBody>
          <a:bodyPr wrap="square" lIns="45720" rIns="45720" anchor="t">
            <a:spAutoFit/>
          </a:bodyPr>
          <a:lstStyle/>
          <a:p>
            <a:pPr algn="ctr"/>
            <a:r>
              <a:rPr sz="1400" b="1">
                <a:solidFill>
                  <a:srgbClr val="E8B446"/>
                </a:solidFill>
                <a:latin typeface="Aptos"/>
              </a:rPr>
              <a:t>1  FIND</a:t>
            </a:r>
          </a:p>
        </p:txBody>
      </p:sp>
      <p:sp>
        <p:nvSpPr>
          <p:cNvPr id="8" name="TextBox 7"/>
          <p:cNvSpPr txBox="1"/>
          <p:nvPr/>
        </p:nvSpPr>
        <p:spPr>
          <a:xfrm>
            <a:off x="841248" y="1984248"/>
            <a:ext cx="2327148" cy="523220"/>
          </a:xfrm>
          <a:prstGeom prst="rect">
            <a:avLst/>
          </a:prstGeom>
          <a:noFill/>
        </p:spPr>
        <p:txBody>
          <a:bodyPr wrap="square" lIns="45720" rIns="45720" anchor="t">
            <a:spAutoFit/>
          </a:bodyPr>
          <a:lstStyle/>
          <a:p>
            <a:pPr algn="ctr"/>
            <a:r>
              <a:rPr sz="2800" b="0" dirty="0">
                <a:solidFill>
                  <a:srgbClr val="677484"/>
                </a:solidFill>
                <a:latin typeface="Aptos"/>
              </a:rPr>
              <a:t>Find the clue.</a:t>
            </a:r>
          </a:p>
        </p:txBody>
      </p:sp>
      <p:sp>
        <p:nvSpPr>
          <p:cNvPr id="9" name="Rounded Rectangle 8"/>
          <p:cNvSpPr/>
          <p:nvPr/>
        </p:nvSpPr>
        <p:spPr>
          <a:xfrm>
            <a:off x="3479292" y="1508760"/>
            <a:ext cx="2546604" cy="2257482"/>
          </a:xfrm>
          <a:prstGeom prst="roundRect">
            <a:avLst/>
          </a:prstGeom>
          <a:solidFill>
            <a:srgbClr val="FFFFFF"/>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89020" y="1655063"/>
            <a:ext cx="2327148" cy="256032"/>
          </a:xfrm>
          <a:prstGeom prst="rect">
            <a:avLst/>
          </a:prstGeom>
          <a:noFill/>
        </p:spPr>
        <p:txBody>
          <a:bodyPr wrap="square" lIns="45720" rIns="45720" anchor="t">
            <a:spAutoFit/>
          </a:bodyPr>
          <a:lstStyle/>
          <a:p>
            <a:pPr algn="ctr"/>
            <a:r>
              <a:rPr sz="1400" b="1">
                <a:solidFill>
                  <a:srgbClr val="2D9B9B"/>
                </a:solidFill>
                <a:latin typeface="Aptos"/>
              </a:rPr>
              <a:t>2  THINK</a:t>
            </a:r>
          </a:p>
        </p:txBody>
      </p:sp>
      <p:sp>
        <p:nvSpPr>
          <p:cNvPr id="11" name="TextBox 10"/>
          <p:cNvSpPr txBox="1"/>
          <p:nvPr/>
        </p:nvSpPr>
        <p:spPr>
          <a:xfrm>
            <a:off x="3589020" y="1984248"/>
            <a:ext cx="2327148" cy="830997"/>
          </a:xfrm>
          <a:prstGeom prst="rect">
            <a:avLst/>
          </a:prstGeom>
          <a:noFill/>
        </p:spPr>
        <p:txBody>
          <a:bodyPr wrap="square" lIns="45720" rIns="45720" anchor="t">
            <a:spAutoFit/>
          </a:bodyPr>
          <a:lstStyle/>
          <a:p>
            <a:pPr algn="ctr"/>
            <a:r>
              <a:rPr sz="2400" b="0" dirty="0">
                <a:solidFill>
                  <a:srgbClr val="677484"/>
                </a:solidFill>
                <a:latin typeface="Aptos"/>
              </a:rPr>
              <a:t>What does it</a:t>
            </a:r>
            <a:br>
              <a:rPr sz="2400" dirty="0"/>
            </a:br>
            <a:r>
              <a:rPr sz="2400" dirty="0"/>
              <a:t>make me think?</a:t>
            </a:r>
          </a:p>
        </p:txBody>
      </p:sp>
      <p:sp>
        <p:nvSpPr>
          <p:cNvPr id="12" name="Rounded Rectangle 11"/>
          <p:cNvSpPr/>
          <p:nvPr/>
        </p:nvSpPr>
        <p:spPr>
          <a:xfrm>
            <a:off x="6227064" y="1508760"/>
            <a:ext cx="2546604" cy="2176272"/>
          </a:xfrm>
          <a:prstGeom prst="roundRect">
            <a:avLst/>
          </a:prstGeom>
          <a:solidFill>
            <a:srgbClr val="FFFFFF"/>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36792" y="1655063"/>
            <a:ext cx="2327148" cy="256032"/>
          </a:xfrm>
          <a:prstGeom prst="rect">
            <a:avLst/>
          </a:prstGeom>
          <a:noFill/>
        </p:spPr>
        <p:txBody>
          <a:bodyPr wrap="square" lIns="45720" rIns="45720" anchor="t">
            <a:spAutoFit/>
          </a:bodyPr>
          <a:lstStyle/>
          <a:p>
            <a:pPr algn="ctr"/>
            <a:r>
              <a:rPr sz="1400" b="1">
                <a:solidFill>
                  <a:srgbClr val="E06958"/>
                </a:solidFill>
                <a:latin typeface="Aptos"/>
              </a:rPr>
              <a:t>3  ANSWER</a:t>
            </a:r>
          </a:p>
        </p:txBody>
      </p:sp>
      <p:sp>
        <p:nvSpPr>
          <p:cNvPr id="14" name="TextBox 13"/>
          <p:cNvSpPr txBox="1"/>
          <p:nvPr/>
        </p:nvSpPr>
        <p:spPr>
          <a:xfrm>
            <a:off x="6336792" y="1984248"/>
            <a:ext cx="2327148" cy="1569660"/>
          </a:xfrm>
          <a:prstGeom prst="rect">
            <a:avLst/>
          </a:prstGeom>
          <a:noFill/>
        </p:spPr>
        <p:txBody>
          <a:bodyPr wrap="square" lIns="45720" rIns="45720" anchor="t">
            <a:spAutoFit/>
          </a:bodyPr>
          <a:lstStyle/>
          <a:p>
            <a:pPr algn="ctr"/>
            <a:r>
              <a:rPr sz="2400" b="0" dirty="0">
                <a:solidFill>
                  <a:srgbClr val="677484"/>
                </a:solidFill>
                <a:latin typeface="Aptos"/>
              </a:rPr>
              <a:t>Give your inference,</a:t>
            </a:r>
            <a:br>
              <a:rPr sz="2400" dirty="0"/>
            </a:br>
            <a:r>
              <a:rPr sz="2400" dirty="0"/>
              <a:t>deduction or interpretation.</a:t>
            </a:r>
          </a:p>
        </p:txBody>
      </p:sp>
      <p:sp>
        <p:nvSpPr>
          <p:cNvPr id="15" name="Rounded Rectangle 14"/>
          <p:cNvSpPr/>
          <p:nvPr/>
        </p:nvSpPr>
        <p:spPr>
          <a:xfrm>
            <a:off x="8974836" y="1508760"/>
            <a:ext cx="2546604" cy="2176272"/>
          </a:xfrm>
          <a:prstGeom prst="roundRect">
            <a:avLst/>
          </a:prstGeom>
          <a:solidFill>
            <a:srgbClr val="FFFFFF"/>
          </a:solidFill>
          <a:ln w="12700">
            <a:solidFill>
              <a:srgbClr val="4F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84564" y="1655063"/>
            <a:ext cx="2327148" cy="256032"/>
          </a:xfrm>
          <a:prstGeom prst="rect">
            <a:avLst/>
          </a:prstGeom>
          <a:noFill/>
        </p:spPr>
        <p:txBody>
          <a:bodyPr wrap="square" lIns="45720" rIns="45720" anchor="t">
            <a:spAutoFit/>
          </a:bodyPr>
          <a:lstStyle/>
          <a:p>
            <a:pPr algn="ctr"/>
            <a:r>
              <a:rPr sz="1400" b="1">
                <a:solidFill>
                  <a:srgbClr val="4F9167"/>
                </a:solidFill>
                <a:latin typeface="Aptos"/>
              </a:rPr>
              <a:t>4  PROVE</a:t>
            </a:r>
          </a:p>
        </p:txBody>
      </p:sp>
      <p:sp>
        <p:nvSpPr>
          <p:cNvPr id="17" name="TextBox 16"/>
          <p:cNvSpPr txBox="1"/>
          <p:nvPr/>
        </p:nvSpPr>
        <p:spPr>
          <a:xfrm>
            <a:off x="9084564" y="1984248"/>
            <a:ext cx="2327148" cy="830997"/>
          </a:xfrm>
          <a:prstGeom prst="rect">
            <a:avLst/>
          </a:prstGeom>
          <a:noFill/>
        </p:spPr>
        <p:txBody>
          <a:bodyPr wrap="square" lIns="45720" rIns="45720" anchor="t">
            <a:spAutoFit/>
          </a:bodyPr>
          <a:lstStyle/>
          <a:p>
            <a:pPr algn="ctr"/>
            <a:r>
              <a:rPr sz="2400" b="0" dirty="0">
                <a:solidFill>
                  <a:srgbClr val="677484"/>
                </a:solidFill>
                <a:latin typeface="Aptos"/>
              </a:rPr>
              <a:t>Use evidence</a:t>
            </a:r>
            <a:br>
              <a:rPr sz="2400" dirty="0"/>
            </a:br>
            <a:r>
              <a:rPr sz="2400" dirty="0"/>
              <a:t>from the text.</a:t>
            </a:r>
          </a:p>
        </p:txBody>
      </p:sp>
      <p:sp>
        <p:nvSpPr>
          <p:cNvPr id="18" name="TextBox 17"/>
          <p:cNvSpPr txBox="1"/>
          <p:nvPr/>
        </p:nvSpPr>
        <p:spPr>
          <a:xfrm>
            <a:off x="1097280" y="4846320"/>
            <a:ext cx="9875520" cy="584775"/>
          </a:xfrm>
          <a:prstGeom prst="rect">
            <a:avLst/>
          </a:prstGeom>
          <a:noFill/>
        </p:spPr>
        <p:txBody>
          <a:bodyPr wrap="square" lIns="45720" rIns="45720" anchor="t">
            <a:spAutoFit/>
          </a:bodyPr>
          <a:lstStyle/>
          <a:p>
            <a:pPr algn="ctr"/>
            <a:r>
              <a:rPr sz="3200" b="1" dirty="0">
                <a:solidFill>
                  <a:srgbClr val="1F2937"/>
                </a:solidFill>
                <a:latin typeface="Aptos Display"/>
              </a:rPr>
              <a:t>If you can explain your thinking, you can solve the case.</a:t>
            </a:r>
          </a:p>
        </p:txBody>
      </p:sp>
      <p:sp>
        <p:nvSpPr>
          <p:cNvPr id="19" name="TextBox 18"/>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20" name="TextBox 19"/>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FINAL CHECKPOINT</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One text — three questions</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31</a:t>
            </a:r>
          </a:p>
        </p:txBody>
      </p:sp>
      <p:sp>
        <p:nvSpPr>
          <p:cNvPr id="6" name="Rounded Rectangle 5"/>
          <p:cNvSpPr/>
          <p:nvPr/>
        </p:nvSpPr>
        <p:spPr>
          <a:xfrm>
            <a:off x="731520" y="1234440"/>
            <a:ext cx="10698480" cy="141732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234440"/>
            <a:ext cx="109728" cy="1417320"/>
          </a:xfrm>
          <a:prstGeom prst="rect">
            <a:avLst/>
          </a:prstGeom>
          <a:solidFill>
            <a:srgbClr val="2D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371600"/>
            <a:ext cx="365760" cy="365760"/>
          </a:xfrm>
          <a:prstGeom prst="rect">
            <a:avLst/>
          </a:prstGeom>
          <a:noFill/>
        </p:spPr>
        <p:txBody>
          <a:bodyPr wrap="square" lIns="45720" rIns="45720" anchor="t">
            <a:spAutoFit/>
          </a:bodyPr>
          <a:lstStyle/>
          <a:p>
            <a:pPr algn="l"/>
            <a:r>
              <a:rPr sz="3200" b="1">
                <a:solidFill>
                  <a:srgbClr val="2D9B9B"/>
                </a:solidFill>
                <a:latin typeface="Aptos"/>
              </a:rPr>
              <a:t>“</a:t>
            </a:r>
          </a:p>
        </p:txBody>
      </p:sp>
      <p:sp>
        <p:nvSpPr>
          <p:cNvPr id="9" name="TextBox 8"/>
          <p:cNvSpPr txBox="1"/>
          <p:nvPr/>
        </p:nvSpPr>
        <p:spPr>
          <a:xfrm>
            <a:off x="1316193" y="1453885"/>
            <a:ext cx="10324119" cy="1200329"/>
          </a:xfrm>
          <a:prstGeom prst="rect">
            <a:avLst/>
          </a:prstGeom>
          <a:noFill/>
        </p:spPr>
        <p:txBody>
          <a:bodyPr wrap="square" lIns="45720" rIns="45720" anchor="t">
            <a:spAutoFit/>
          </a:bodyPr>
          <a:lstStyle/>
          <a:p>
            <a:pPr algn="l"/>
            <a:r>
              <a:rPr sz="2400" b="1" dirty="0">
                <a:solidFill>
                  <a:srgbClr val="1F2937"/>
                </a:solidFill>
                <a:latin typeface="Aptos Display"/>
              </a:rPr>
              <a:t>After new trees were planted beside the playground, more students began eating lunch outside. Teachers also noticed that students stayed in the shaded area for longer. The school decided to plant more trees the following year.</a:t>
            </a:r>
          </a:p>
        </p:txBody>
      </p:sp>
      <p:sp>
        <p:nvSpPr>
          <p:cNvPr id="10" name="Rounded Rectangle 9"/>
          <p:cNvSpPr/>
          <p:nvPr/>
        </p:nvSpPr>
        <p:spPr>
          <a:xfrm>
            <a:off x="731520" y="3063240"/>
            <a:ext cx="10698480" cy="214884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364992"/>
            <a:ext cx="1234440" cy="400110"/>
          </a:xfrm>
          <a:prstGeom prst="rect">
            <a:avLst/>
          </a:prstGeom>
          <a:noFill/>
        </p:spPr>
        <p:txBody>
          <a:bodyPr wrap="square" lIns="45720" rIns="45720" anchor="t">
            <a:spAutoFit/>
          </a:bodyPr>
          <a:lstStyle/>
          <a:p>
            <a:pPr algn="l"/>
            <a:r>
              <a:rPr sz="2000" b="1" dirty="0">
                <a:solidFill>
                  <a:srgbClr val="2D9B9B"/>
                </a:solidFill>
                <a:highlight>
                  <a:srgbClr val="FFFF00"/>
                </a:highlight>
                <a:latin typeface="Aptos"/>
              </a:rPr>
              <a:t>A  INFER</a:t>
            </a:r>
          </a:p>
        </p:txBody>
      </p:sp>
      <p:sp>
        <p:nvSpPr>
          <p:cNvPr id="12" name="TextBox 11"/>
          <p:cNvSpPr txBox="1"/>
          <p:nvPr/>
        </p:nvSpPr>
        <p:spPr>
          <a:xfrm>
            <a:off x="2331720" y="3337560"/>
            <a:ext cx="8229600" cy="523220"/>
          </a:xfrm>
          <a:prstGeom prst="rect">
            <a:avLst/>
          </a:prstGeom>
          <a:noFill/>
        </p:spPr>
        <p:txBody>
          <a:bodyPr wrap="square" lIns="45720" rIns="45720" anchor="t">
            <a:spAutoFit/>
          </a:bodyPr>
          <a:lstStyle/>
          <a:p>
            <a:pPr algn="l"/>
            <a:r>
              <a:rPr sz="2800" b="1" dirty="0">
                <a:solidFill>
                  <a:srgbClr val="1F2937"/>
                </a:solidFill>
                <a:latin typeface="Aptos"/>
              </a:rPr>
              <a:t>What can you </a:t>
            </a:r>
            <a:r>
              <a:rPr sz="2800" b="1" dirty="0">
                <a:solidFill>
                  <a:srgbClr val="1F2937"/>
                </a:solidFill>
                <a:highlight>
                  <a:srgbClr val="FFFF00"/>
                </a:highlight>
                <a:latin typeface="Aptos"/>
              </a:rPr>
              <a:t>infer</a:t>
            </a:r>
            <a:r>
              <a:rPr sz="2800" b="1" dirty="0">
                <a:solidFill>
                  <a:srgbClr val="1F2937"/>
                </a:solidFill>
                <a:latin typeface="Aptos"/>
              </a:rPr>
              <a:t> about the shaded area?</a:t>
            </a:r>
          </a:p>
        </p:txBody>
      </p:sp>
      <p:sp>
        <p:nvSpPr>
          <p:cNvPr id="13" name="TextBox 12"/>
          <p:cNvSpPr txBox="1"/>
          <p:nvPr/>
        </p:nvSpPr>
        <p:spPr>
          <a:xfrm>
            <a:off x="1005840" y="4005072"/>
            <a:ext cx="1417320" cy="400110"/>
          </a:xfrm>
          <a:prstGeom prst="rect">
            <a:avLst/>
          </a:prstGeom>
          <a:noFill/>
        </p:spPr>
        <p:txBody>
          <a:bodyPr wrap="square" lIns="45720" rIns="45720" anchor="t">
            <a:spAutoFit/>
          </a:bodyPr>
          <a:lstStyle/>
          <a:p>
            <a:pPr algn="l"/>
            <a:r>
              <a:rPr sz="2000" b="1" dirty="0">
                <a:solidFill>
                  <a:srgbClr val="E06958"/>
                </a:solidFill>
                <a:highlight>
                  <a:srgbClr val="FFFF00"/>
                </a:highlight>
                <a:latin typeface="Aptos"/>
              </a:rPr>
              <a:t>B  DEDUCE</a:t>
            </a:r>
          </a:p>
        </p:txBody>
      </p:sp>
      <p:sp>
        <p:nvSpPr>
          <p:cNvPr id="14" name="TextBox 13"/>
          <p:cNvSpPr txBox="1"/>
          <p:nvPr/>
        </p:nvSpPr>
        <p:spPr>
          <a:xfrm>
            <a:off x="2514600" y="3977639"/>
            <a:ext cx="8671560" cy="523220"/>
          </a:xfrm>
          <a:prstGeom prst="rect">
            <a:avLst/>
          </a:prstGeom>
          <a:noFill/>
        </p:spPr>
        <p:txBody>
          <a:bodyPr wrap="square" lIns="45720" rIns="45720" anchor="t">
            <a:spAutoFit/>
          </a:bodyPr>
          <a:lstStyle/>
          <a:p>
            <a:pPr algn="l"/>
            <a:r>
              <a:rPr sz="2800" b="1" dirty="0">
                <a:solidFill>
                  <a:srgbClr val="1F2937"/>
                </a:solidFill>
                <a:latin typeface="Aptos"/>
              </a:rPr>
              <a:t>What can you </a:t>
            </a:r>
            <a:r>
              <a:rPr sz="2800" b="1" dirty="0">
                <a:solidFill>
                  <a:srgbClr val="1F2937"/>
                </a:solidFill>
                <a:highlight>
                  <a:srgbClr val="FFFF00"/>
                </a:highlight>
                <a:latin typeface="Aptos"/>
              </a:rPr>
              <a:t>deduce</a:t>
            </a:r>
            <a:r>
              <a:rPr sz="2800" b="1" dirty="0">
                <a:solidFill>
                  <a:srgbClr val="1F2937"/>
                </a:solidFill>
                <a:latin typeface="Aptos"/>
              </a:rPr>
              <a:t> about the school's decision?</a:t>
            </a:r>
          </a:p>
        </p:txBody>
      </p:sp>
      <p:sp>
        <p:nvSpPr>
          <p:cNvPr id="15" name="TextBox 14"/>
          <p:cNvSpPr txBox="1"/>
          <p:nvPr/>
        </p:nvSpPr>
        <p:spPr>
          <a:xfrm>
            <a:off x="1005840" y="4645152"/>
            <a:ext cx="1972750" cy="400110"/>
          </a:xfrm>
          <a:prstGeom prst="rect">
            <a:avLst/>
          </a:prstGeom>
          <a:noFill/>
        </p:spPr>
        <p:txBody>
          <a:bodyPr wrap="square" lIns="45720" rIns="45720" anchor="t">
            <a:spAutoFit/>
          </a:bodyPr>
          <a:lstStyle/>
          <a:p>
            <a:pPr algn="l"/>
            <a:r>
              <a:rPr sz="2000" b="1" dirty="0">
                <a:solidFill>
                  <a:srgbClr val="745B96"/>
                </a:solidFill>
                <a:highlight>
                  <a:srgbClr val="FFFF00"/>
                </a:highlight>
                <a:latin typeface="Aptos"/>
              </a:rPr>
              <a:t>C  INTERPRET</a:t>
            </a:r>
          </a:p>
        </p:txBody>
      </p:sp>
      <p:sp>
        <p:nvSpPr>
          <p:cNvPr id="16" name="TextBox 15"/>
          <p:cNvSpPr txBox="1"/>
          <p:nvPr/>
        </p:nvSpPr>
        <p:spPr>
          <a:xfrm>
            <a:off x="2743200" y="4617720"/>
            <a:ext cx="8275320" cy="523220"/>
          </a:xfrm>
          <a:prstGeom prst="rect">
            <a:avLst/>
          </a:prstGeom>
          <a:noFill/>
        </p:spPr>
        <p:txBody>
          <a:bodyPr wrap="square" lIns="45720" rIns="45720" anchor="t">
            <a:spAutoFit/>
          </a:bodyPr>
          <a:lstStyle/>
          <a:p>
            <a:pPr algn="l"/>
            <a:r>
              <a:rPr sz="2800" b="1" dirty="0">
                <a:solidFill>
                  <a:srgbClr val="1F2937"/>
                </a:solidFill>
                <a:latin typeface="Aptos"/>
              </a:rPr>
              <a:t>What does “noticed” </a:t>
            </a:r>
            <a:r>
              <a:rPr sz="2800" b="1" dirty="0">
                <a:solidFill>
                  <a:srgbClr val="1F2937"/>
                </a:solidFill>
                <a:highlight>
                  <a:srgbClr val="FFFF00"/>
                </a:highlight>
                <a:latin typeface="Aptos"/>
              </a:rPr>
              <a:t>suggest</a:t>
            </a:r>
            <a:r>
              <a:rPr sz="2800" b="1" dirty="0">
                <a:solidFill>
                  <a:srgbClr val="1F2937"/>
                </a:solidFill>
                <a:latin typeface="Aptos"/>
              </a:rPr>
              <a:t> about the teachers?</a:t>
            </a:r>
          </a:p>
        </p:txBody>
      </p:sp>
      <p:sp>
        <p:nvSpPr>
          <p:cNvPr id="17" name="TextBox 16"/>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8" name="TextBox 17"/>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SOLVED</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Final checkpoint answers</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32</a:t>
            </a:r>
          </a:p>
        </p:txBody>
      </p:sp>
      <p:sp>
        <p:nvSpPr>
          <p:cNvPr id="6" name="Rounded Rectangle 5"/>
          <p:cNvSpPr/>
          <p:nvPr/>
        </p:nvSpPr>
        <p:spPr>
          <a:xfrm>
            <a:off x="731520" y="1298448"/>
            <a:ext cx="1508760" cy="384048"/>
          </a:xfrm>
          <a:prstGeom prst="roundRect">
            <a:avLst/>
          </a:prstGeom>
          <a:solidFill>
            <a:srgbClr val="2D9B9B"/>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276701"/>
            <a:ext cx="1399031" cy="400110"/>
          </a:xfrm>
          <a:prstGeom prst="rect">
            <a:avLst/>
          </a:prstGeom>
          <a:noFill/>
        </p:spPr>
        <p:txBody>
          <a:bodyPr wrap="square" lIns="45720" rIns="45720" anchor="ctr">
            <a:spAutoFit/>
          </a:bodyPr>
          <a:lstStyle/>
          <a:p>
            <a:pPr algn="ctr"/>
            <a:r>
              <a:rPr sz="2000" b="1" dirty="0">
                <a:solidFill>
                  <a:srgbClr val="FFFFFF"/>
                </a:solidFill>
                <a:latin typeface="Aptos"/>
              </a:rPr>
              <a:t>A  INFER</a:t>
            </a:r>
          </a:p>
        </p:txBody>
      </p:sp>
      <p:sp>
        <p:nvSpPr>
          <p:cNvPr id="8" name="TextBox 7"/>
          <p:cNvSpPr txBox="1"/>
          <p:nvPr/>
        </p:nvSpPr>
        <p:spPr>
          <a:xfrm>
            <a:off x="2468880" y="1188720"/>
            <a:ext cx="8686800" cy="954107"/>
          </a:xfrm>
          <a:prstGeom prst="rect">
            <a:avLst/>
          </a:prstGeom>
          <a:noFill/>
        </p:spPr>
        <p:txBody>
          <a:bodyPr wrap="square" lIns="45720" rIns="45720" anchor="t">
            <a:spAutoFit/>
          </a:bodyPr>
          <a:lstStyle/>
          <a:p>
            <a:pPr algn="l"/>
            <a:r>
              <a:rPr sz="2800" b="1" dirty="0">
                <a:solidFill>
                  <a:srgbClr val="1F2937"/>
                </a:solidFill>
                <a:latin typeface="Aptos"/>
              </a:rPr>
              <a:t>The shaded area was probably more comfortable for students.</a:t>
            </a:r>
          </a:p>
        </p:txBody>
      </p:sp>
      <p:sp>
        <p:nvSpPr>
          <p:cNvPr id="9" name="TextBox 8"/>
          <p:cNvSpPr txBox="1"/>
          <p:nvPr/>
        </p:nvSpPr>
        <p:spPr>
          <a:xfrm>
            <a:off x="2468880" y="2071116"/>
            <a:ext cx="8686800" cy="461665"/>
          </a:xfrm>
          <a:prstGeom prst="rect">
            <a:avLst/>
          </a:prstGeom>
          <a:noFill/>
        </p:spPr>
        <p:txBody>
          <a:bodyPr wrap="square" lIns="45720" rIns="45720" anchor="t">
            <a:spAutoFit/>
          </a:bodyPr>
          <a:lstStyle/>
          <a:p>
            <a:pPr algn="l"/>
            <a:r>
              <a:rPr sz="2400" b="1" dirty="0">
                <a:solidFill>
                  <a:srgbClr val="677484"/>
                </a:solidFill>
                <a:highlight>
                  <a:srgbClr val="FFFF00"/>
                </a:highlight>
                <a:latin typeface="Aptos"/>
              </a:rPr>
              <a:t>Evidence</a:t>
            </a:r>
            <a:r>
              <a:rPr sz="2400" b="0" dirty="0">
                <a:solidFill>
                  <a:srgbClr val="677484"/>
                </a:solidFill>
                <a:latin typeface="Aptos"/>
              </a:rPr>
              <a:t>: Students stayed there for longer.</a:t>
            </a:r>
          </a:p>
        </p:txBody>
      </p:sp>
      <p:sp>
        <p:nvSpPr>
          <p:cNvPr id="10" name="Rounded Rectangle 9"/>
          <p:cNvSpPr/>
          <p:nvPr/>
        </p:nvSpPr>
        <p:spPr>
          <a:xfrm>
            <a:off x="731520" y="2944368"/>
            <a:ext cx="1508760" cy="384048"/>
          </a:xfrm>
          <a:prstGeom prst="roundRect">
            <a:avLst/>
          </a:prstGeom>
          <a:solidFill>
            <a:srgbClr val="E06958"/>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2922622"/>
            <a:ext cx="1399031" cy="400110"/>
          </a:xfrm>
          <a:prstGeom prst="rect">
            <a:avLst/>
          </a:prstGeom>
          <a:noFill/>
        </p:spPr>
        <p:txBody>
          <a:bodyPr wrap="square" lIns="45720" rIns="45720" anchor="ctr">
            <a:spAutoFit/>
          </a:bodyPr>
          <a:lstStyle/>
          <a:p>
            <a:pPr algn="ctr"/>
            <a:r>
              <a:rPr sz="2000" b="1" dirty="0">
                <a:solidFill>
                  <a:srgbClr val="FFFFFF"/>
                </a:solidFill>
                <a:latin typeface="Aptos"/>
              </a:rPr>
              <a:t>B  DEDUCE</a:t>
            </a:r>
          </a:p>
        </p:txBody>
      </p:sp>
      <p:sp>
        <p:nvSpPr>
          <p:cNvPr id="12" name="TextBox 11"/>
          <p:cNvSpPr txBox="1"/>
          <p:nvPr/>
        </p:nvSpPr>
        <p:spPr>
          <a:xfrm>
            <a:off x="2468880" y="2834640"/>
            <a:ext cx="8686800" cy="954107"/>
          </a:xfrm>
          <a:prstGeom prst="rect">
            <a:avLst/>
          </a:prstGeom>
          <a:noFill/>
        </p:spPr>
        <p:txBody>
          <a:bodyPr wrap="square" lIns="45720" rIns="45720" anchor="t">
            <a:spAutoFit/>
          </a:bodyPr>
          <a:lstStyle/>
          <a:p>
            <a:pPr algn="l"/>
            <a:r>
              <a:rPr sz="2800" b="1" dirty="0">
                <a:solidFill>
                  <a:srgbClr val="1F2937"/>
                </a:solidFill>
                <a:latin typeface="Aptos"/>
              </a:rPr>
              <a:t>The school believed the trees had a positive effect, so it wanted to continue the project.</a:t>
            </a:r>
          </a:p>
        </p:txBody>
      </p:sp>
      <p:sp>
        <p:nvSpPr>
          <p:cNvPr id="13" name="TextBox 12"/>
          <p:cNvSpPr txBox="1"/>
          <p:nvPr/>
        </p:nvSpPr>
        <p:spPr>
          <a:xfrm>
            <a:off x="2468880" y="3756456"/>
            <a:ext cx="8686800" cy="461665"/>
          </a:xfrm>
          <a:prstGeom prst="rect">
            <a:avLst/>
          </a:prstGeom>
          <a:noFill/>
        </p:spPr>
        <p:txBody>
          <a:bodyPr wrap="square" lIns="45720" rIns="45720" anchor="t">
            <a:spAutoFit/>
          </a:bodyPr>
          <a:lstStyle/>
          <a:p>
            <a:pPr algn="l"/>
            <a:r>
              <a:rPr sz="2400" b="1" dirty="0">
                <a:solidFill>
                  <a:srgbClr val="677484"/>
                </a:solidFill>
                <a:highlight>
                  <a:srgbClr val="FFFF00"/>
                </a:highlight>
                <a:latin typeface="Aptos"/>
              </a:rPr>
              <a:t>Evidence</a:t>
            </a:r>
            <a:r>
              <a:rPr sz="2400" b="0" dirty="0">
                <a:solidFill>
                  <a:srgbClr val="677484"/>
                </a:solidFill>
                <a:latin typeface="Aptos"/>
              </a:rPr>
              <a:t>: It decided to plant more trees the following year.</a:t>
            </a:r>
          </a:p>
        </p:txBody>
      </p:sp>
      <p:sp>
        <p:nvSpPr>
          <p:cNvPr id="14" name="Rounded Rectangle 13"/>
          <p:cNvSpPr/>
          <p:nvPr/>
        </p:nvSpPr>
        <p:spPr>
          <a:xfrm>
            <a:off x="731520" y="4590288"/>
            <a:ext cx="1508760" cy="384048"/>
          </a:xfrm>
          <a:prstGeom prst="roundRect">
            <a:avLst/>
          </a:prstGeom>
          <a:solidFill>
            <a:srgbClr val="745B96"/>
          </a:solidFill>
          <a:ln w="12700">
            <a:solidFill>
              <a:srgbClr val="745B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 y="4568543"/>
            <a:ext cx="1682496" cy="400110"/>
          </a:xfrm>
          <a:prstGeom prst="rect">
            <a:avLst/>
          </a:prstGeom>
          <a:noFill/>
        </p:spPr>
        <p:txBody>
          <a:bodyPr wrap="square" lIns="45720" rIns="45720" anchor="ctr">
            <a:spAutoFit/>
          </a:bodyPr>
          <a:lstStyle/>
          <a:p>
            <a:pPr algn="ctr"/>
            <a:r>
              <a:rPr sz="2000" b="1" dirty="0">
                <a:highlight>
                  <a:srgbClr val="FFFF00"/>
                </a:highlight>
                <a:latin typeface="Aptos"/>
              </a:rPr>
              <a:t>C  INTERPRET</a:t>
            </a:r>
          </a:p>
        </p:txBody>
      </p:sp>
      <p:sp>
        <p:nvSpPr>
          <p:cNvPr id="16" name="TextBox 15"/>
          <p:cNvSpPr txBox="1"/>
          <p:nvPr/>
        </p:nvSpPr>
        <p:spPr>
          <a:xfrm>
            <a:off x="2468879" y="4617720"/>
            <a:ext cx="9228197" cy="954107"/>
          </a:xfrm>
          <a:prstGeom prst="rect">
            <a:avLst/>
          </a:prstGeom>
          <a:noFill/>
        </p:spPr>
        <p:txBody>
          <a:bodyPr wrap="square" lIns="45720" rIns="45720" anchor="t">
            <a:spAutoFit/>
          </a:bodyPr>
          <a:lstStyle/>
          <a:p>
            <a:pPr algn="l"/>
            <a:r>
              <a:rPr sz="2800" b="1" dirty="0">
                <a:solidFill>
                  <a:srgbClr val="1F2937"/>
                </a:solidFill>
                <a:latin typeface="Aptos"/>
              </a:rPr>
              <a:t>“Noticed” suggests that the teachers observed or became aware of a change.</a:t>
            </a:r>
          </a:p>
        </p:txBody>
      </p:sp>
      <p:sp>
        <p:nvSpPr>
          <p:cNvPr id="17" name="TextBox 16"/>
          <p:cNvSpPr txBox="1"/>
          <p:nvPr/>
        </p:nvSpPr>
        <p:spPr>
          <a:xfrm>
            <a:off x="2468879" y="5638841"/>
            <a:ext cx="8686800" cy="461665"/>
          </a:xfrm>
          <a:prstGeom prst="rect">
            <a:avLst/>
          </a:prstGeom>
          <a:noFill/>
        </p:spPr>
        <p:txBody>
          <a:bodyPr wrap="square" lIns="45720" rIns="45720" anchor="t">
            <a:spAutoFit/>
          </a:bodyPr>
          <a:lstStyle/>
          <a:p>
            <a:pPr algn="l"/>
            <a:r>
              <a:rPr sz="2400" b="1" dirty="0">
                <a:solidFill>
                  <a:srgbClr val="677484"/>
                </a:solidFill>
                <a:highlight>
                  <a:srgbClr val="FFFF00"/>
                </a:highlight>
                <a:latin typeface="Aptos"/>
              </a:rPr>
              <a:t>Evidence</a:t>
            </a:r>
            <a:r>
              <a:rPr sz="2400" b="0" dirty="0">
                <a:solidFill>
                  <a:srgbClr val="677484"/>
                </a:solidFill>
                <a:latin typeface="Aptos"/>
              </a:rPr>
              <a:t>: The teachers noticed students staying longer.</a:t>
            </a:r>
          </a:p>
        </p:txBody>
      </p:sp>
      <p:sp>
        <p:nvSpPr>
          <p:cNvPr id="18" name="TextBox 17"/>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9" name="TextBox 18"/>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EXIT TICKET</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Complete these</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33</a:t>
            </a:r>
          </a:p>
        </p:txBody>
      </p:sp>
      <p:sp>
        <p:nvSpPr>
          <p:cNvPr id="6" name="Rounded Rectangle 5"/>
          <p:cNvSpPr/>
          <p:nvPr/>
        </p:nvSpPr>
        <p:spPr>
          <a:xfrm>
            <a:off x="822960" y="1417320"/>
            <a:ext cx="10424160" cy="4069080"/>
          </a:xfrm>
          <a:prstGeom prst="roundRect">
            <a:avLst/>
          </a:prstGeom>
          <a:solidFill>
            <a:srgbClr val="FFFFFF"/>
          </a:solidFill>
          <a:ln w="12700">
            <a:solidFill>
              <a:srgbClr val="EC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51560" y="1783080"/>
            <a:ext cx="1325880" cy="384048"/>
          </a:xfrm>
          <a:prstGeom prst="roundRect">
            <a:avLst/>
          </a:prstGeom>
          <a:solidFill>
            <a:srgbClr val="2D9B9B"/>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06424" y="1699780"/>
            <a:ext cx="1216152" cy="523220"/>
          </a:xfrm>
          <a:prstGeom prst="rect">
            <a:avLst/>
          </a:prstGeom>
          <a:noFill/>
        </p:spPr>
        <p:txBody>
          <a:bodyPr wrap="square" lIns="45720" rIns="45720" anchor="ctr">
            <a:spAutoFit/>
          </a:bodyPr>
          <a:lstStyle/>
          <a:p>
            <a:pPr algn="ctr"/>
            <a:r>
              <a:rPr sz="2800" b="1" dirty="0">
                <a:solidFill>
                  <a:srgbClr val="FFFFFF"/>
                </a:solidFill>
                <a:latin typeface="Aptos"/>
              </a:rPr>
              <a:t>INFER:</a:t>
            </a:r>
          </a:p>
        </p:txBody>
      </p:sp>
      <p:sp>
        <p:nvSpPr>
          <p:cNvPr id="9" name="TextBox 8"/>
          <p:cNvSpPr txBox="1"/>
          <p:nvPr/>
        </p:nvSpPr>
        <p:spPr>
          <a:xfrm>
            <a:off x="2919742" y="1764792"/>
            <a:ext cx="7498079" cy="461665"/>
          </a:xfrm>
          <a:prstGeom prst="rect">
            <a:avLst/>
          </a:prstGeom>
          <a:noFill/>
        </p:spPr>
        <p:txBody>
          <a:bodyPr wrap="square" lIns="45720" rIns="45720" anchor="t">
            <a:spAutoFit/>
          </a:bodyPr>
          <a:lstStyle/>
          <a:p>
            <a:pPr algn="l"/>
            <a:r>
              <a:rPr sz="2400" b="1" dirty="0">
                <a:solidFill>
                  <a:srgbClr val="1F2937"/>
                </a:solidFill>
                <a:latin typeface="Aptos Display"/>
              </a:rPr>
              <a:t>I use a clue to ____________________________.</a:t>
            </a:r>
          </a:p>
        </p:txBody>
      </p:sp>
      <p:sp>
        <p:nvSpPr>
          <p:cNvPr id="10" name="Rounded Rectangle 9"/>
          <p:cNvSpPr/>
          <p:nvPr/>
        </p:nvSpPr>
        <p:spPr>
          <a:xfrm>
            <a:off x="1051560" y="2953512"/>
            <a:ext cx="1325880" cy="384048"/>
          </a:xfrm>
          <a:prstGeom prst="roundRect">
            <a:avLst/>
          </a:prstGeom>
          <a:solidFill>
            <a:srgbClr val="E06958"/>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2095" y="2870211"/>
            <a:ext cx="1754471" cy="523220"/>
          </a:xfrm>
          <a:prstGeom prst="rect">
            <a:avLst/>
          </a:prstGeom>
          <a:noFill/>
        </p:spPr>
        <p:txBody>
          <a:bodyPr wrap="square" lIns="45720" rIns="45720" anchor="ctr">
            <a:spAutoFit/>
          </a:bodyPr>
          <a:lstStyle/>
          <a:p>
            <a:pPr algn="ctr"/>
            <a:r>
              <a:rPr sz="2800" b="1" dirty="0">
                <a:highlight>
                  <a:srgbClr val="FFFF00"/>
                </a:highlight>
                <a:latin typeface="Aptos"/>
              </a:rPr>
              <a:t>DEDUCE:</a:t>
            </a:r>
          </a:p>
        </p:txBody>
      </p:sp>
      <p:sp>
        <p:nvSpPr>
          <p:cNvPr id="12" name="TextBox 11"/>
          <p:cNvSpPr txBox="1"/>
          <p:nvPr/>
        </p:nvSpPr>
        <p:spPr>
          <a:xfrm>
            <a:off x="2880360" y="2935224"/>
            <a:ext cx="7498079" cy="461665"/>
          </a:xfrm>
          <a:prstGeom prst="rect">
            <a:avLst/>
          </a:prstGeom>
          <a:noFill/>
        </p:spPr>
        <p:txBody>
          <a:bodyPr wrap="square" lIns="45720" rIns="45720" anchor="t">
            <a:spAutoFit/>
          </a:bodyPr>
          <a:lstStyle/>
          <a:p>
            <a:pPr algn="l"/>
            <a:r>
              <a:rPr sz="2400" b="1" dirty="0">
                <a:solidFill>
                  <a:srgbClr val="1F2937"/>
                </a:solidFill>
                <a:latin typeface="Aptos Display"/>
              </a:rPr>
              <a:t>I use information to ________________________.</a:t>
            </a:r>
          </a:p>
        </p:txBody>
      </p:sp>
      <p:sp>
        <p:nvSpPr>
          <p:cNvPr id="13" name="Rounded Rectangle 12"/>
          <p:cNvSpPr/>
          <p:nvPr/>
        </p:nvSpPr>
        <p:spPr>
          <a:xfrm>
            <a:off x="1051560" y="4123944"/>
            <a:ext cx="1325880" cy="384048"/>
          </a:xfrm>
          <a:prstGeom prst="roundRect">
            <a:avLst/>
          </a:prstGeom>
          <a:solidFill>
            <a:srgbClr val="745B96"/>
          </a:solidFill>
          <a:ln w="12700">
            <a:solidFill>
              <a:srgbClr val="745B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06424" y="4071421"/>
            <a:ext cx="1754470" cy="461665"/>
          </a:xfrm>
          <a:prstGeom prst="rect">
            <a:avLst/>
          </a:prstGeom>
          <a:noFill/>
        </p:spPr>
        <p:txBody>
          <a:bodyPr wrap="square" lIns="45720" rIns="45720" anchor="ctr">
            <a:spAutoFit/>
          </a:bodyPr>
          <a:lstStyle/>
          <a:p>
            <a:pPr algn="ctr"/>
            <a:r>
              <a:rPr sz="2400" b="1" dirty="0">
                <a:highlight>
                  <a:srgbClr val="FFFF00"/>
                </a:highlight>
                <a:latin typeface="Aptos"/>
              </a:rPr>
              <a:t>INTERPRET:</a:t>
            </a:r>
          </a:p>
        </p:txBody>
      </p:sp>
      <p:sp>
        <p:nvSpPr>
          <p:cNvPr id="15" name="TextBox 14"/>
          <p:cNvSpPr txBox="1"/>
          <p:nvPr/>
        </p:nvSpPr>
        <p:spPr>
          <a:xfrm>
            <a:off x="2959124" y="4089738"/>
            <a:ext cx="7498079" cy="461665"/>
          </a:xfrm>
          <a:prstGeom prst="rect">
            <a:avLst/>
          </a:prstGeom>
          <a:noFill/>
        </p:spPr>
        <p:txBody>
          <a:bodyPr wrap="square" lIns="45720" rIns="45720" anchor="t">
            <a:spAutoFit/>
          </a:bodyPr>
          <a:lstStyle/>
          <a:p>
            <a:pPr algn="l"/>
            <a:r>
              <a:rPr sz="2400" b="1" dirty="0">
                <a:solidFill>
                  <a:srgbClr val="1F2937"/>
                </a:solidFill>
                <a:latin typeface="Aptos Display"/>
              </a:rPr>
              <a:t>I explain what a word or phrase ____________.</a:t>
            </a:r>
          </a:p>
        </p:txBody>
      </p:sp>
      <p:sp>
        <p:nvSpPr>
          <p:cNvPr id="16" name="Rounded Rectangle 15"/>
          <p:cNvSpPr/>
          <p:nvPr/>
        </p:nvSpPr>
        <p:spPr>
          <a:xfrm>
            <a:off x="3977639" y="5715000"/>
            <a:ext cx="3657600" cy="384048"/>
          </a:xfrm>
          <a:prstGeom prst="roundRect">
            <a:avLst/>
          </a:prstGeom>
          <a:solidFill>
            <a:srgbClr val="162338"/>
          </a:solidFill>
          <a:ln w="12700">
            <a:solidFill>
              <a:srgbClr val="16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77440" y="5667983"/>
            <a:ext cx="6986017" cy="523220"/>
          </a:xfrm>
          <a:prstGeom prst="rect">
            <a:avLst/>
          </a:prstGeom>
          <a:noFill/>
        </p:spPr>
        <p:txBody>
          <a:bodyPr wrap="square" lIns="45720" rIns="45720" anchor="ctr">
            <a:spAutoFit/>
          </a:bodyPr>
          <a:lstStyle/>
          <a:p>
            <a:pPr algn="ctr"/>
            <a:r>
              <a:rPr sz="2800" b="1" dirty="0">
                <a:highlight>
                  <a:srgbClr val="FFFF00"/>
                </a:highlight>
                <a:latin typeface="Aptos"/>
              </a:rPr>
              <a:t>NO GUESSING — SHOW YOUR THINKING</a:t>
            </a:r>
          </a:p>
        </p:txBody>
      </p:sp>
      <p:sp>
        <p:nvSpPr>
          <p:cNvPr id="18" name="TextBox 17"/>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9" name="TextBox 18"/>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EXIT TICKET</a:t>
            </a:r>
          </a:p>
        </p:txBody>
      </p:sp>
      <p:sp>
        <p:nvSpPr>
          <p:cNvPr id="4" name="TextBox 3"/>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1F2937"/>
                </a:solidFill>
                <a:latin typeface="Aptos Display"/>
              </a:rPr>
              <a:t>Answer reveal</a:t>
            </a:r>
          </a:p>
        </p:txBody>
      </p:sp>
      <p:sp>
        <p:nvSpPr>
          <p:cNvPr id="5" name="TextBox 4"/>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34</a:t>
            </a:r>
          </a:p>
        </p:txBody>
      </p:sp>
      <p:sp>
        <p:nvSpPr>
          <p:cNvPr id="6" name="Rounded Rectangle 5"/>
          <p:cNvSpPr/>
          <p:nvPr/>
        </p:nvSpPr>
        <p:spPr>
          <a:xfrm>
            <a:off x="822960" y="1417320"/>
            <a:ext cx="1508760" cy="384048"/>
          </a:xfrm>
          <a:prstGeom prst="roundRect">
            <a:avLst/>
          </a:prstGeom>
          <a:solidFill>
            <a:srgbClr val="2D9B9B"/>
          </a:solidFill>
          <a:ln w="12700">
            <a:solidFill>
              <a:srgbClr val="2D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1364797"/>
            <a:ext cx="1399031" cy="461665"/>
          </a:xfrm>
          <a:prstGeom prst="rect">
            <a:avLst/>
          </a:prstGeom>
          <a:noFill/>
        </p:spPr>
        <p:txBody>
          <a:bodyPr wrap="square" lIns="45720" rIns="45720" anchor="ctr">
            <a:spAutoFit/>
          </a:bodyPr>
          <a:lstStyle/>
          <a:p>
            <a:pPr algn="ctr"/>
            <a:r>
              <a:rPr sz="2400" b="1" dirty="0">
                <a:solidFill>
                  <a:srgbClr val="FFFFFF"/>
                </a:solidFill>
                <a:latin typeface="Aptos"/>
              </a:rPr>
              <a:t>INFER</a:t>
            </a:r>
          </a:p>
        </p:txBody>
      </p:sp>
      <p:sp>
        <p:nvSpPr>
          <p:cNvPr id="8" name="TextBox 7"/>
          <p:cNvSpPr txBox="1"/>
          <p:nvPr/>
        </p:nvSpPr>
        <p:spPr>
          <a:xfrm>
            <a:off x="2651760" y="1389888"/>
            <a:ext cx="8138160" cy="461665"/>
          </a:xfrm>
          <a:prstGeom prst="rect">
            <a:avLst/>
          </a:prstGeom>
          <a:noFill/>
        </p:spPr>
        <p:txBody>
          <a:bodyPr wrap="square" lIns="45720" rIns="45720" anchor="t">
            <a:spAutoFit/>
          </a:bodyPr>
          <a:lstStyle/>
          <a:p>
            <a:pPr algn="l"/>
            <a:r>
              <a:rPr sz="2400" b="1" dirty="0">
                <a:solidFill>
                  <a:srgbClr val="1F2937"/>
                </a:solidFill>
                <a:latin typeface="Aptos Display"/>
              </a:rPr>
              <a:t>I use a clue to work out an idea.</a:t>
            </a:r>
          </a:p>
        </p:txBody>
      </p:sp>
      <p:sp>
        <p:nvSpPr>
          <p:cNvPr id="9" name="Rounded Rectangle 8"/>
          <p:cNvSpPr/>
          <p:nvPr/>
        </p:nvSpPr>
        <p:spPr>
          <a:xfrm>
            <a:off x="822960" y="2651760"/>
            <a:ext cx="1508760" cy="384048"/>
          </a:xfrm>
          <a:prstGeom prst="roundRect">
            <a:avLst/>
          </a:prstGeom>
          <a:solidFill>
            <a:srgbClr val="E06958"/>
          </a:solidFill>
          <a:ln w="12700">
            <a:solidFill>
              <a:srgbClr val="E06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2599237"/>
            <a:ext cx="1399031" cy="461665"/>
          </a:xfrm>
          <a:prstGeom prst="rect">
            <a:avLst/>
          </a:prstGeom>
          <a:noFill/>
        </p:spPr>
        <p:txBody>
          <a:bodyPr wrap="square" lIns="45720" rIns="45720" anchor="ctr">
            <a:spAutoFit/>
          </a:bodyPr>
          <a:lstStyle/>
          <a:p>
            <a:pPr algn="ctr"/>
            <a:r>
              <a:rPr sz="2400" b="1" dirty="0">
                <a:solidFill>
                  <a:srgbClr val="FFFFFF"/>
                </a:solidFill>
                <a:latin typeface="Aptos"/>
              </a:rPr>
              <a:t>DEDUCE</a:t>
            </a:r>
          </a:p>
        </p:txBody>
      </p:sp>
      <p:sp>
        <p:nvSpPr>
          <p:cNvPr id="11" name="TextBox 10"/>
          <p:cNvSpPr txBox="1"/>
          <p:nvPr/>
        </p:nvSpPr>
        <p:spPr>
          <a:xfrm>
            <a:off x="2651760" y="2624328"/>
            <a:ext cx="8138160" cy="461665"/>
          </a:xfrm>
          <a:prstGeom prst="rect">
            <a:avLst/>
          </a:prstGeom>
          <a:noFill/>
        </p:spPr>
        <p:txBody>
          <a:bodyPr wrap="square" lIns="45720" rIns="45720" anchor="t">
            <a:spAutoFit/>
          </a:bodyPr>
          <a:lstStyle/>
          <a:p>
            <a:pPr algn="l"/>
            <a:r>
              <a:rPr sz="2400" b="1" dirty="0">
                <a:solidFill>
                  <a:srgbClr val="1F2937"/>
                </a:solidFill>
                <a:latin typeface="Aptos Display"/>
              </a:rPr>
              <a:t>I use information to reach a sensible conclusion.</a:t>
            </a:r>
          </a:p>
        </p:txBody>
      </p:sp>
      <p:sp>
        <p:nvSpPr>
          <p:cNvPr id="12" name="Rounded Rectangle 11"/>
          <p:cNvSpPr/>
          <p:nvPr/>
        </p:nvSpPr>
        <p:spPr>
          <a:xfrm>
            <a:off x="822960" y="3886200"/>
            <a:ext cx="1508760" cy="384048"/>
          </a:xfrm>
          <a:prstGeom prst="roundRect">
            <a:avLst/>
          </a:prstGeom>
          <a:solidFill>
            <a:srgbClr val="745B96"/>
          </a:solidFill>
          <a:ln w="12700">
            <a:solidFill>
              <a:srgbClr val="745B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7804" y="3822193"/>
            <a:ext cx="1773936" cy="461665"/>
          </a:xfrm>
          <a:prstGeom prst="rect">
            <a:avLst/>
          </a:prstGeom>
          <a:noFill/>
        </p:spPr>
        <p:txBody>
          <a:bodyPr wrap="square" lIns="45720" rIns="45720" anchor="ctr">
            <a:spAutoFit/>
          </a:bodyPr>
          <a:lstStyle/>
          <a:p>
            <a:pPr algn="ctr"/>
            <a:r>
              <a:rPr sz="2400" b="1" dirty="0">
                <a:highlight>
                  <a:srgbClr val="FFFF00"/>
                </a:highlight>
                <a:latin typeface="Aptos"/>
              </a:rPr>
              <a:t>INTERPRET</a:t>
            </a:r>
            <a:endParaRPr sz="1000" b="1" dirty="0">
              <a:highlight>
                <a:srgbClr val="FFFF00"/>
              </a:highlight>
              <a:latin typeface="Aptos"/>
            </a:endParaRPr>
          </a:p>
        </p:txBody>
      </p:sp>
      <p:sp>
        <p:nvSpPr>
          <p:cNvPr id="14" name="TextBox 13"/>
          <p:cNvSpPr txBox="1"/>
          <p:nvPr/>
        </p:nvSpPr>
        <p:spPr>
          <a:xfrm>
            <a:off x="2651760" y="3858768"/>
            <a:ext cx="8138160" cy="461665"/>
          </a:xfrm>
          <a:prstGeom prst="rect">
            <a:avLst/>
          </a:prstGeom>
          <a:noFill/>
        </p:spPr>
        <p:txBody>
          <a:bodyPr wrap="square" lIns="45720" rIns="45720" anchor="t">
            <a:spAutoFit/>
          </a:bodyPr>
          <a:lstStyle/>
          <a:p>
            <a:pPr algn="l"/>
            <a:r>
              <a:rPr sz="2400" b="1" dirty="0">
                <a:solidFill>
                  <a:srgbClr val="1F2937"/>
                </a:solidFill>
                <a:latin typeface="Aptos Display"/>
              </a:rPr>
              <a:t>I explain what a word or phrase suggests in context.</a:t>
            </a:r>
          </a:p>
        </p:txBody>
      </p:sp>
      <p:sp>
        <p:nvSpPr>
          <p:cNvPr id="15" name="TextBox 14"/>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6" name="TextBox 15"/>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62338"/>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6400800" cy="320040"/>
          </a:xfrm>
          <a:prstGeom prst="rect">
            <a:avLst/>
          </a:prstGeom>
          <a:noFill/>
        </p:spPr>
        <p:txBody>
          <a:bodyPr wrap="square" lIns="45720" rIns="45720" anchor="t">
            <a:spAutoFit/>
          </a:bodyPr>
          <a:lstStyle/>
          <a:p>
            <a:pPr algn="l"/>
            <a:r>
              <a:rPr sz="1100" b="1">
                <a:solidFill>
                  <a:srgbClr val="E8B446"/>
                </a:solidFill>
                <a:latin typeface="Aptos"/>
              </a:rPr>
              <a:t>CASE CLOSED</a:t>
            </a:r>
          </a:p>
        </p:txBody>
      </p:sp>
      <p:sp>
        <p:nvSpPr>
          <p:cNvPr id="3" name="TextBox 2"/>
          <p:cNvSpPr txBox="1"/>
          <p:nvPr/>
        </p:nvSpPr>
        <p:spPr>
          <a:xfrm>
            <a:off x="594360" y="713232"/>
            <a:ext cx="10698480" cy="685800"/>
          </a:xfrm>
          <a:prstGeom prst="rect">
            <a:avLst/>
          </a:prstGeom>
          <a:noFill/>
        </p:spPr>
        <p:txBody>
          <a:bodyPr wrap="square" lIns="45720" rIns="45720" anchor="t">
            <a:spAutoFit/>
          </a:bodyPr>
          <a:lstStyle/>
          <a:p>
            <a:pPr algn="l"/>
            <a:r>
              <a:rPr sz="2800" b="1">
                <a:solidFill>
                  <a:srgbClr val="FFFFFF"/>
                </a:solidFill>
                <a:latin typeface="Aptos Display"/>
              </a:rPr>
              <a:t>You are a Reading Detective</a:t>
            </a:r>
          </a:p>
        </p:txBody>
      </p:sp>
      <p:sp>
        <p:nvSpPr>
          <p:cNvPr id="4" name="TextBox 3"/>
          <p:cNvSpPr txBox="1"/>
          <p:nvPr/>
        </p:nvSpPr>
        <p:spPr>
          <a:xfrm>
            <a:off x="11018520" y="384048"/>
            <a:ext cx="502920" cy="320040"/>
          </a:xfrm>
          <a:prstGeom prst="rect">
            <a:avLst/>
          </a:prstGeom>
          <a:noFill/>
        </p:spPr>
        <p:txBody>
          <a:bodyPr wrap="square" lIns="45720" rIns="45720" anchor="t">
            <a:spAutoFit/>
          </a:bodyPr>
          <a:lstStyle/>
          <a:p>
            <a:pPr algn="r"/>
            <a:r>
              <a:rPr sz="1100" b="1">
                <a:solidFill>
                  <a:srgbClr val="E8B446"/>
                </a:solidFill>
                <a:latin typeface="Aptos"/>
              </a:rPr>
              <a:t>35</a:t>
            </a:r>
          </a:p>
        </p:txBody>
      </p:sp>
      <p:sp>
        <p:nvSpPr>
          <p:cNvPr id="5" name="TextBox 4"/>
          <p:cNvSpPr txBox="1"/>
          <p:nvPr/>
        </p:nvSpPr>
        <p:spPr>
          <a:xfrm>
            <a:off x="822960" y="1508760"/>
            <a:ext cx="914400" cy="914400"/>
          </a:xfrm>
          <a:prstGeom prst="rect">
            <a:avLst/>
          </a:prstGeom>
          <a:noFill/>
        </p:spPr>
        <p:txBody>
          <a:bodyPr wrap="square" lIns="45720" rIns="45720" anchor="t">
            <a:spAutoFit/>
          </a:bodyPr>
          <a:lstStyle/>
          <a:p>
            <a:pPr algn="ctr"/>
            <a:r>
              <a:rPr sz="4400" b="1">
                <a:solidFill>
                  <a:srgbClr val="E8B446"/>
                </a:solidFill>
                <a:latin typeface="Aptos"/>
              </a:rPr>
              <a:t>🔎</a:t>
            </a:r>
          </a:p>
        </p:txBody>
      </p:sp>
      <p:sp>
        <p:nvSpPr>
          <p:cNvPr id="6" name="TextBox 5"/>
          <p:cNvSpPr txBox="1"/>
          <p:nvPr/>
        </p:nvSpPr>
        <p:spPr>
          <a:xfrm>
            <a:off x="1828800" y="1645920"/>
            <a:ext cx="7132320" cy="457200"/>
          </a:xfrm>
          <a:prstGeom prst="rect">
            <a:avLst/>
          </a:prstGeom>
          <a:noFill/>
        </p:spPr>
        <p:txBody>
          <a:bodyPr wrap="square" lIns="45720" rIns="45720" anchor="t">
            <a:spAutoFit/>
          </a:bodyPr>
          <a:lstStyle/>
          <a:p>
            <a:pPr algn="l"/>
            <a:r>
              <a:rPr sz="2300" b="1">
                <a:solidFill>
                  <a:srgbClr val="FFFFFF"/>
                </a:solidFill>
                <a:latin typeface="Aptos Display"/>
              </a:rPr>
              <a:t>You don't have to be afraid of:</a:t>
            </a:r>
          </a:p>
        </p:txBody>
      </p:sp>
      <p:sp>
        <p:nvSpPr>
          <p:cNvPr id="7" name="TextBox 6"/>
          <p:cNvSpPr txBox="1"/>
          <p:nvPr/>
        </p:nvSpPr>
        <p:spPr>
          <a:xfrm>
            <a:off x="1828800" y="2331720"/>
            <a:ext cx="8686800" cy="594360"/>
          </a:xfrm>
          <a:prstGeom prst="rect">
            <a:avLst/>
          </a:prstGeom>
          <a:noFill/>
        </p:spPr>
        <p:txBody>
          <a:bodyPr wrap="square" lIns="45720" rIns="45720" anchor="t">
            <a:spAutoFit/>
          </a:bodyPr>
          <a:lstStyle/>
          <a:p>
            <a:pPr algn="l"/>
            <a:r>
              <a:rPr sz="2500" b="1">
                <a:solidFill>
                  <a:srgbClr val="E8B446"/>
                </a:solidFill>
                <a:latin typeface="Aptos Display"/>
              </a:rPr>
              <a:t>INFER     •     DEDUCE     •     INTERPRET</a:t>
            </a:r>
          </a:p>
        </p:txBody>
      </p:sp>
      <p:sp>
        <p:nvSpPr>
          <p:cNvPr id="8" name="Rounded Rectangle 7"/>
          <p:cNvSpPr/>
          <p:nvPr/>
        </p:nvSpPr>
        <p:spPr>
          <a:xfrm>
            <a:off x="1737360" y="3657600"/>
            <a:ext cx="8686800" cy="114300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65960" y="3977639"/>
            <a:ext cx="8229600" cy="411480"/>
          </a:xfrm>
          <a:prstGeom prst="rect">
            <a:avLst/>
          </a:prstGeom>
          <a:noFill/>
        </p:spPr>
        <p:txBody>
          <a:bodyPr wrap="square" lIns="45720" rIns="45720" anchor="t">
            <a:spAutoFit/>
          </a:bodyPr>
          <a:lstStyle/>
          <a:p>
            <a:pPr algn="ctr"/>
            <a:r>
              <a:rPr sz="2400" b="1">
                <a:solidFill>
                  <a:srgbClr val="162338"/>
                </a:solidFill>
                <a:latin typeface="Aptos Display"/>
              </a:rPr>
              <a:t>CLUE  →  THINK  →  ANSWER  →  PROVE</a:t>
            </a:r>
          </a:p>
        </p:txBody>
      </p:sp>
      <p:sp>
        <p:nvSpPr>
          <p:cNvPr id="10" name="TextBox 9"/>
          <p:cNvSpPr txBox="1"/>
          <p:nvPr/>
        </p:nvSpPr>
        <p:spPr>
          <a:xfrm>
            <a:off x="1828800" y="5166360"/>
            <a:ext cx="8595360" cy="830997"/>
          </a:xfrm>
          <a:prstGeom prst="rect">
            <a:avLst/>
          </a:prstGeom>
          <a:noFill/>
        </p:spPr>
        <p:txBody>
          <a:bodyPr wrap="square" lIns="45720" rIns="45720" anchor="t">
            <a:spAutoFit/>
          </a:bodyPr>
          <a:lstStyle/>
          <a:p>
            <a:pPr algn="ctr"/>
            <a:r>
              <a:rPr sz="2400" b="1" dirty="0">
                <a:solidFill>
                  <a:schemeClr val="bg1"/>
                </a:solidFill>
                <a:latin typeface="Aptos Display"/>
              </a:rPr>
              <a:t>The words are different.</a:t>
            </a:r>
            <a:br>
              <a:rPr sz="2400" b="1" dirty="0">
                <a:solidFill>
                  <a:schemeClr val="bg1"/>
                </a:solidFill>
              </a:rPr>
            </a:br>
            <a:r>
              <a:rPr sz="2400" b="1" dirty="0">
                <a:solidFill>
                  <a:schemeClr val="bg1"/>
                </a:solidFill>
              </a:rPr>
              <a:t>The thinking process is connected.</a:t>
            </a:r>
          </a:p>
        </p:txBody>
      </p:sp>
      <p:sp>
        <p:nvSpPr>
          <p:cNvPr id="11" name="TextBox 10"/>
          <p:cNvSpPr txBox="1"/>
          <p:nvPr/>
        </p:nvSpPr>
        <p:spPr>
          <a:xfrm>
            <a:off x="594360" y="6473952"/>
            <a:ext cx="4572000" cy="201168"/>
          </a:xfrm>
          <a:prstGeom prst="rect">
            <a:avLst/>
          </a:prstGeom>
          <a:noFill/>
        </p:spPr>
        <p:txBody>
          <a:bodyPr wrap="square" lIns="45720" rIns="45720" anchor="t">
            <a:spAutoFit/>
          </a:bodyPr>
          <a:lstStyle/>
          <a:p>
            <a:pPr algn="l"/>
            <a:r>
              <a:rPr sz="800" b="1">
                <a:solidFill>
                  <a:srgbClr val="677484"/>
                </a:solidFill>
                <a:latin typeface="Aptos"/>
              </a:rPr>
              <a:t>THE READING DETECTIVE</a:t>
            </a:r>
          </a:p>
        </p:txBody>
      </p:sp>
      <p:sp>
        <p:nvSpPr>
          <p:cNvPr id="12" name="TextBox 11"/>
          <p:cNvSpPr txBox="1"/>
          <p:nvPr/>
        </p:nvSpPr>
        <p:spPr>
          <a:xfrm>
            <a:off x="6492240" y="6473952"/>
            <a:ext cx="5074920" cy="201168"/>
          </a:xfrm>
          <a:prstGeom prst="rect">
            <a:avLst/>
          </a:prstGeom>
          <a:noFill/>
        </p:spPr>
        <p:txBody>
          <a:bodyPr wrap="square" lIns="45720" rIns="45720" anchor="t">
            <a:spAutoFit/>
          </a:bodyPr>
          <a:lstStyle/>
          <a:p>
            <a:pPr algn="r"/>
            <a:r>
              <a:rPr sz="800" b="1">
                <a:solidFill>
                  <a:srgbClr val="677484"/>
                </a:solidFill>
                <a:latin typeface="Aptos"/>
              </a:rPr>
              <a:t>CLUE  →  THINK  →  ANSWER  →  PROVE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2166</Words>
  <Application>Microsoft Office PowerPoint</Application>
  <PresentationFormat>Widescreen</PresentationFormat>
  <Paragraphs>431</Paragraphs>
  <Slides>35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pc</dc:creator>
  <cp:keywords/>
  <dc:description>generated using python-pptx</dc:description>
  <cp:lastModifiedBy>pc</cp:lastModifiedBy>
  <cp:revision>2</cp:revision>
  <dcterms:created xsi:type="dcterms:W3CDTF">2013-01-27T09:14:16Z</dcterms:created>
  <dcterms:modified xsi:type="dcterms:W3CDTF">2026-09-26T21:51:19Z</dcterms:modified>
  <cp:category/>
</cp:coreProperties>
</file>