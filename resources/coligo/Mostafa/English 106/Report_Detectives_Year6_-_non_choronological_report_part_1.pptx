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unch" id="{812167D6-5BCF-FEB6-1DCD-9B31DAD5BBC2}">
          <p14:sldIdLst>
            <p14:sldId id="256"/>
            <p14:sldId id="257"/>
            <p14:sldId id="258"/>
            <p14:sldId id="259"/>
          </p14:sldIdLst>
        </p14:section>
        <p14:section name="What is a report?" id="{89C000E5-9CA4-2B46-8F89-8F43ABE350E9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Report detectives" id="{A3842832-18C7-B128-6FED-A524802AEF03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Report language" id="{547B50E1-0D63-3ECC-CA7C-679384E60858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Practise &amp; wrap up" id="{ED99C777-02AF-427C-019D-DF8DED55AD97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87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5417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A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rgbClr val="0A3D4A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D3D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A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69164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rgbClr val="FFC857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4389120" cy="4389120"/>
          </a:xfrm>
          <a:prstGeom prst="ellipse">
            <a:avLst/>
          </a:prstGeom>
          <a:solidFill>
            <a:srgbClr val="0E7C8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1097280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69164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C857"/>
                </a:solidFill>
              </a:rPr>
              <a:t>REPORT DETECTIVES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Non-chronological Reports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FD3D8"/>
                </a:solidFill>
              </a:rPr>
              <a:t>Year 6 English · Unit 2 · Session 1 · 80 minutes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45720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257800" y="640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E7C86"/>
                </a:solidFill>
              </a:rPr>
              <a:t>Today we will learn to: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0972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A3D4A"/>
                </a:solidFill>
              </a:rPr>
              <a:t>identify a non-chronological report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A3D4A"/>
                </a:solidFill>
              </a:rPr>
              <a:t>identify </a:t>
            </a:r>
            <a:r>
              <a:rPr lang="en-US" sz="1400" b="1" dirty="0">
                <a:solidFill>
                  <a:srgbClr val="0A3D4A"/>
                </a:solidFill>
              </a:rPr>
              <a:t>form, purpose and audience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A3D4A"/>
                </a:solidFill>
              </a:rPr>
              <a:t>recognise the key features of a report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A3D4A"/>
                </a:solidFill>
              </a:rPr>
              <a:t>explain why writers use these features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A3D4A"/>
                </a:solidFill>
              </a:rPr>
              <a:t>recognise report language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8046720" cy="777240"/>
          </a:xfrm>
          <a:prstGeom prst="roundRect">
            <a:avLst>
              <a:gd name="adj" fmla="val 17647"/>
            </a:avLst>
          </a:prstGeom>
          <a:solidFill>
            <a:srgbClr val="FF6B5E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39776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3D4A"/>
                </a:solidFill>
              </a:rPr>
              <a:t>BIG QUESTION  </a:t>
            </a:r>
            <a:r>
              <a:rPr lang="en-US" sz="1700" b="1" dirty="0">
                <a:solidFill>
                  <a:srgbClr val="FFFFFF"/>
                </a:solidFill>
              </a:rPr>
              <a:t>How does a report help a reader learn about a subject?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🔎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WHAT KIND OF WRITING IS IT?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A6B73"/>
                </a:solidFill>
              </a:rPr>
              <a:t>Read the three texts.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560320" cy="26060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63040"/>
            <a:ext cx="566928" cy="56692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5E"/>
                </a:solidFill>
              </a:rPr>
              <a:t>TEXT 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2402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Yesterday, I visited the aquarium with my family. First, we saw the sharks. Then, we watched the penguins.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560320" cy="26060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46304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472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86"/>
                </a:solidFill>
              </a:rPr>
              <a:t>TEXT B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120017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Sharks are large marine animals that live in oceans around the world. They have streamlined bodies and powerful tails.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560320" cy="26060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463040"/>
            <a:ext cx="566928" cy="566928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5EA7"/>
                </a:solidFill>
              </a:rPr>
              <a:t>TEXT C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2402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Please help protect sea turtles. Put plastic in the correct bin and never leave rubbish on the beach.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23077"/>
            </a:avLst>
          </a:prstGeom>
          <a:solidFill>
            <a:srgbClr val="0A3D4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31520" y="40233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C857"/>
                </a:solidFill>
              </a:rPr>
              <a:t>Think: </a:t>
            </a:r>
            <a:r>
              <a:rPr lang="en-US" b="1" dirty="0">
                <a:solidFill>
                  <a:srgbClr val="FFFFFF"/>
                </a:solidFill>
              </a:rPr>
              <a:t>Which text tells about something that happened?                                                     gives factual information? tries to persuade the reader?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CHECK YOUR ANSWERS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560320" cy="3108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63040"/>
            <a:ext cx="566928" cy="56692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5E"/>
                </a:solidFill>
              </a:rPr>
              <a:t>Recount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240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4A6B73"/>
                </a:solidFill>
              </a:rPr>
              <a:t>Which text tells about something that happened?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926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It tells about events that happened.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560320" cy="3108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46304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472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</a:rPr>
              <a:t>Non-chronological report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4A6B73"/>
                </a:solidFill>
              </a:rPr>
              <a:t>Which text gives factual information?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2926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It gives factual information about sharks.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1280160"/>
            <a:ext cx="2560320" cy="3108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463040"/>
            <a:ext cx="566928" cy="566928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EA7"/>
                </a:solidFill>
              </a:rPr>
              <a:t>Persuasive text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4A6B73"/>
                </a:solidFill>
              </a:rPr>
              <a:t>Which text tries to persuade the reader?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926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It tries to convince the reader to take action.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TODAY'S MISSION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A6B73"/>
                </a:solidFill>
              </a:rPr>
              <a:t>By the end of the lesson, you should be able to: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316736"/>
            <a:ext cx="384048" cy="38404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A3D4A"/>
                </a:solidFill>
              </a:rPr>
              <a:t>Identify a </a:t>
            </a:r>
            <a:r>
              <a:rPr lang="en-US" sz="1700" b="1" dirty="0">
                <a:solidFill>
                  <a:srgbClr val="0A3D4A"/>
                </a:solidFill>
              </a:rPr>
              <a:t>non-chronological report</a:t>
            </a:r>
            <a:r>
              <a:rPr lang="en-US" sz="1700" dirty="0">
                <a:solidFill>
                  <a:srgbClr val="0A3D4A"/>
                </a:solidFill>
              </a:rPr>
              <a:t>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822960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956816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1874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A3D4A"/>
                </a:solidFill>
              </a:rPr>
              <a:t>Identify its: </a:t>
            </a:r>
            <a:r>
              <a:rPr lang="en-US" sz="1700" b="1" dirty="0">
                <a:solidFill>
                  <a:srgbClr val="0A3D4A"/>
                </a:solidFill>
              </a:rPr>
              <a:t>FORM + PURPOSE + AUDIENCE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822960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596896"/>
            <a:ext cx="384048" cy="384048"/>
          </a:xfrm>
          <a:prstGeom prst="ellipse">
            <a:avLst/>
          </a:prstGeom>
          <a:solidFill>
            <a:srgbClr val="3A86C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14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A3D4A"/>
                </a:solidFill>
              </a:rPr>
              <a:t>Recognise important </a:t>
            </a:r>
            <a:r>
              <a:rPr lang="en-US" sz="1700" b="1" dirty="0">
                <a:solidFill>
                  <a:srgbClr val="0A3D4A"/>
                </a:solidFill>
              </a:rPr>
              <a:t>report features</a:t>
            </a:r>
            <a:r>
              <a:rPr lang="en-US" sz="1700" dirty="0">
                <a:solidFill>
                  <a:srgbClr val="0A3D4A"/>
                </a:solidFill>
              </a:rPr>
              <a:t>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236976"/>
            <a:ext cx="384048" cy="384048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A3D4A"/>
                </a:solidFill>
              </a:rPr>
              <a:t>Explain </a:t>
            </a:r>
            <a:r>
              <a:rPr lang="en-US" sz="1700" b="1" dirty="0">
                <a:solidFill>
                  <a:srgbClr val="0A3D4A"/>
                </a:solidFill>
              </a:rPr>
              <a:t>why</a:t>
            </a:r>
            <a:r>
              <a:rPr lang="en-US" sz="1700" dirty="0">
                <a:solidFill>
                  <a:srgbClr val="0A3D4A"/>
                </a:solidFill>
              </a:rPr>
              <a:t> writers use those features.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877056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794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A3D4A"/>
                </a:solidFill>
              </a:rPr>
              <a:t>Recognise the </a:t>
            </a:r>
            <a:r>
              <a:rPr lang="en-US" sz="1700" b="1" dirty="0">
                <a:solidFill>
                  <a:srgbClr val="0A3D4A"/>
                </a:solidFill>
              </a:rPr>
              <a:t>language</a:t>
            </a:r>
            <a:r>
              <a:rPr lang="en-US" sz="1700" dirty="0">
                <a:solidFill>
                  <a:srgbClr val="0A3D4A"/>
                </a:solidFill>
              </a:rPr>
              <a:t> used in reports.</a:t>
            </a:r>
            <a:endParaRPr lang="en-US" sz="17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8676" y="-23154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738676" y="-548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📚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48247" y="-5257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WHAT IS A NON-CHRONOLOGICAL REPORT?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6139" y="950976"/>
            <a:ext cx="5766021" cy="4098102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8652" y="622235"/>
            <a:ext cx="739140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A </a:t>
            </a:r>
            <a:r>
              <a:rPr lang="en-US" b="1" dirty="0">
                <a:solidFill>
                  <a:srgbClr val="0A3D4A"/>
                </a:solidFill>
              </a:rPr>
              <a:t>non-chronological report</a:t>
            </a:r>
            <a:r>
              <a:rPr lang="en-US" dirty="0">
                <a:solidFill>
                  <a:srgbClr val="0A3D4A"/>
                </a:solidFill>
              </a:rPr>
              <a:t> gives factual information about a subject.</a:t>
            </a:r>
          </a:p>
          <a:p>
            <a:pPr marL="0" indent="0">
              <a:buNone/>
            </a:pPr>
            <a:endParaRPr lang="en-US" dirty="0">
              <a:solidFill>
                <a:srgbClr val="0A3D4A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A3D4A"/>
                </a:solidFill>
              </a:rPr>
              <a:t> It usually:</a:t>
            </a:r>
            <a:endParaRPr lang="en-US" sz="2000" b="1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A3D4A"/>
                </a:solidFill>
              </a:rPr>
              <a:t>gives facts and information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A3D4A"/>
                </a:solidFill>
              </a:rPr>
              <a:t>organises information by </a:t>
            </a:r>
            <a:r>
              <a:rPr lang="en-US" sz="1600" b="1" dirty="0">
                <a:solidFill>
                  <a:srgbClr val="0A3D4A"/>
                </a:solidFill>
              </a:rPr>
              <a:t>topic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A3D4A"/>
                </a:solidFill>
              </a:rPr>
              <a:t>uses headings and subheadings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A3D4A"/>
                </a:solidFill>
              </a:rPr>
              <a:t>groups related information into paragraphs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A3D4A"/>
                </a:solidFill>
              </a:rPr>
              <a:t>uses the </a:t>
            </a:r>
            <a:r>
              <a:rPr lang="en-US" sz="1600" b="1" dirty="0">
                <a:solidFill>
                  <a:srgbClr val="0A3D4A"/>
                </a:solidFill>
              </a:rPr>
              <a:t>present tense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A3D4A"/>
                </a:solidFill>
              </a:rPr>
              <a:t>uses the </a:t>
            </a:r>
            <a:r>
              <a:rPr lang="en-US" sz="1600" b="1" dirty="0">
                <a:solidFill>
                  <a:srgbClr val="0A3D4A"/>
                </a:solidFill>
              </a:rPr>
              <a:t>third person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A3D4A"/>
                </a:solidFill>
              </a:rPr>
              <a:t>uses precise or technical vocabulary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A3D4A"/>
                </a:solidFill>
              </a:rPr>
              <a:t>may include photographs, captions, diagrams, bullet points and text boxes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42385" y="1182156"/>
            <a:ext cx="2377440" cy="3115524"/>
          </a:xfrm>
          <a:prstGeom prst="roundRect">
            <a:avLst>
              <a:gd name="adj" fmla="val 4839"/>
            </a:avLst>
          </a:prstGeom>
          <a:solidFill>
            <a:srgbClr val="0A3D4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6615147" y="124336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C857"/>
                </a:solidFill>
              </a:rPr>
              <a:t>KEY IDEA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87908" y="1586263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Non-chronological = organised by topic, NOT by time.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⏰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CHRONOLOGICAL OR NON-CHRONOLOGICAL?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47484" y="1188720"/>
            <a:ext cx="4333076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8288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6B5E"/>
                </a:solidFill>
              </a:rPr>
              <a:t>CHRONOLOGICAL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7484" y="1645920"/>
            <a:ext cx="41501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Information is organised according to </a:t>
            </a:r>
            <a:r>
              <a:rPr lang="en-US" b="1" dirty="0">
                <a:solidFill>
                  <a:srgbClr val="0A3D4A"/>
                </a:solidFill>
              </a:rPr>
              <a:t>when things happen</a:t>
            </a:r>
            <a:r>
              <a:rPr lang="en-US" dirty="0">
                <a:solidFill>
                  <a:srgbClr val="0A3D4A"/>
                </a:solidFill>
              </a:rPr>
              <a:t>.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182880" y="24140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6B5E"/>
                </a:solidFill>
              </a:rPr>
              <a:t>First → Next → Then → Finally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333076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4632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</a:rPr>
              <a:t>NON-CHRONOLOGICAL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623060"/>
            <a:ext cx="42460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Information is organised according to </a:t>
            </a:r>
            <a:r>
              <a:rPr lang="en-US" b="1" dirty="0">
                <a:solidFill>
                  <a:srgbClr val="0A3D4A"/>
                </a:solidFill>
              </a:rPr>
              <a:t>topics</a:t>
            </a:r>
            <a:r>
              <a:rPr lang="en-US" dirty="0">
                <a:solidFill>
                  <a:srgbClr val="0A3D4A"/>
                </a:solidFill>
              </a:rPr>
              <a:t>.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4140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</a:rPr>
              <a:t>Habitat → Diet → Appearance → Threats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8575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A report has these sections: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A3D4A"/>
                </a:solidFill>
              </a:rPr>
              <a:t>Habitat → Diet → Appearance → Threats</a:t>
            </a:r>
            <a:r>
              <a:rPr lang="en-US" sz="1600" dirty="0">
                <a:solidFill>
                  <a:srgbClr val="0A3D4A"/>
                </a:solidFill>
              </a:rPr>
              <a:t>.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Is it chronological or non-chronological?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92024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886200"/>
            <a:ext cx="411480" cy="411480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6576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4A"/>
                </a:solidFill>
              </a:rPr>
              <a:t>Chronological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0" y="3657600"/>
            <a:ext cx="192024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70048" y="3886200"/>
            <a:ext cx="411480" cy="4114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670048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36576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4A"/>
                </a:solidFill>
              </a:rPr>
              <a:t>Narrative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657600"/>
            <a:ext cx="192024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3886200"/>
            <a:ext cx="411480" cy="411480"/>
          </a:xfrm>
          <a:prstGeom prst="ellipse">
            <a:avLst/>
          </a:prstGeom>
          <a:solidFill>
            <a:srgbClr val="3A86C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73168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36576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4A"/>
                </a:solidFill>
              </a:rPr>
              <a:t>Recount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66560" y="3657600"/>
            <a:ext cx="192024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76288" y="3886200"/>
            <a:ext cx="411480" cy="41148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76288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36576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4A"/>
                </a:solidFill>
              </a:rPr>
              <a:t>Non-chronological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ANSWER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35608"/>
            <a:ext cx="914400" cy="9144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435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D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23444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3D4A"/>
                </a:solidFill>
              </a:rPr>
              <a:t>Non-chronological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9748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dirty="0">
                <a:solidFill>
                  <a:srgbClr val="0A3D4A"/>
                </a:solidFill>
              </a:rPr>
              <a:t>The information is organised by </a:t>
            </a:r>
            <a:r>
              <a:rPr lang="en-US" sz="2000" b="1" dirty="0">
                <a:solidFill>
                  <a:srgbClr val="0A3D4A"/>
                </a:solidFill>
              </a:rPr>
              <a:t>topic</a:t>
            </a:r>
            <a:r>
              <a:rPr lang="en-US" sz="2000" dirty="0">
                <a:solidFill>
                  <a:srgbClr val="0A3D4A"/>
                </a:solidFill>
              </a:rPr>
              <a:t>, not by the order in which events happen.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20000"/>
            </a:avLst>
          </a:prstGeom>
          <a:solidFill>
            <a:srgbClr val="0A3D4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857"/>
                </a:solidFill>
              </a:rPr>
              <a:t>Remember: </a:t>
            </a:r>
            <a:r>
              <a:rPr lang="en-US" sz="2000" b="1" dirty="0">
                <a:solidFill>
                  <a:srgbClr val="FFFFFF"/>
                </a:solidFill>
              </a:rPr>
              <a:t>Chronological = TIME  |  Non-chronological = TOPIC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0876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417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0" y="68580"/>
            <a:ext cx="7232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FORM + PURPOSE + AUDIENCE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549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4A6B73"/>
                </a:solidFill>
              </a:rPr>
              <a:t>Before writing, a good writer asks: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56032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63040"/>
            <a:ext cx="566928" cy="56692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✍️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5E"/>
                </a:solidFill>
              </a:rPr>
              <a:t>FORM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2402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A3D4A"/>
                </a:solidFill>
              </a:rPr>
              <a:t>What am I writing?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56032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46304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472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🎯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86"/>
                </a:solidFill>
              </a:rPr>
              <a:t>PURPOSE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2402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A3D4A"/>
                </a:solidFill>
              </a:rPr>
              <a:t>Why am I writing?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56032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463040"/>
            <a:ext cx="566928" cy="566928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👥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5EA7"/>
                </a:solidFill>
              </a:rPr>
              <a:t>AUDIENCE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1" y="2258568"/>
            <a:ext cx="256031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A3D4A"/>
                </a:solidFill>
              </a:rPr>
              <a:t>Who am I writing for?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23077"/>
            </a:avLst>
          </a:prstGeom>
          <a:solidFill>
            <a:srgbClr val="0A3D4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857"/>
                </a:solidFill>
              </a:rPr>
              <a:t> </a:t>
            </a:r>
            <a:r>
              <a:rPr lang="en-US" sz="2000" b="1" dirty="0">
                <a:solidFill>
                  <a:srgbClr val="FFFFFF"/>
                </a:solidFill>
              </a:rPr>
              <a:t>These choices affect the way we write.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🐋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OUR REPORT TASK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686800" cy="1005840"/>
          </a:xfrm>
          <a:prstGeom prst="roundRect">
            <a:avLst>
              <a:gd name="adj" fmla="val 13636"/>
            </a:avLst>
          </a:prstGeom>
          <a:solidFill>
            <a:srgbClr val="0A3D4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82561" y="1220577"/>
            <a:ext cx="85614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857"/>
                </a:solidFill>
              </a:rPr>
              <a:t>Write a non-chronological report about a creature that is in danger.</a:t>
            </a:r>
            <a:endParaRPr lang="en-US" sz="24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Imagine your report will be read by other Year 6 students who want to learn about endangered creatures.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274320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24871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6B5E"/>
                </a:solidFill>
              </a:rPr>
              <a:t>1. FORM?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871216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dirty="0">
                <a:solidFill>
                  <a:srgbClr val="0A3D4A"/>
                </a:solidFill>
              </a:rPr>
              <a:t>A. Non-chronological report</a:t>
            </a:r>
            <a:endParaRPr lang="en-US" dirty="0"/>
          </a:p>
          <a:p>
            <a:pPr marL="0" indent="0">
              <a:spcAft>
                <a:spcPts val="500"/>
              </a:spcAft>
              <a:buNone/>
            </a:pPr>
            <a:r>
              <a:rPr lang="en-US" dirty="0">
                <a:solidFill>
                  <a:srgbClr val="0A3D4A"/>
                </a:solidFill>
              </a:rPr>
              <a:t>B. Diary</a:t>
            </a:r>
            <a:endParaRPr lang="en-US" dirty="0"/>
          </a:p>
          <a:p>
            <a:pPr marL="0" indent="0">
              <a:spcAft>
                <a:spcPts val="500"/>
              </a:spcAft>
              <a:buNone/>
            </a:pPr>
            <a:r>
              <a:rPr lang="en-US" dirty="0">
                <a:solidFill>
                  <a:srgbClr val="0A3D4A"/>
                </a:solidFill>
              </a:rPr>
              <a:t>C. Narrative</a:t>
            </a:r>
            <a:endParaRPr lang="en-US" dirty="0"/>
          </a:p>
          <a:p>
            <a:pPr marL="0" indent="0">
              <a:spcAft>
                <a:spcPts val="500"/>
              </a:spcAft>
              <a:buNone/>
            </a:pPr>
            <a:r>
              <a:rPr lang="en-US" dirty="0">
                <a:solidFill>
                  <a:srgbClr val="0A3D4A"/>
                </a:solidFill>
              </a:rPr>
              <a:t>D. Letter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91840" y="2377440"/>
            <a:ext cx="274320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74720" y="24871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</a:rPr>
              <a:t>2. PURPOSE?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8803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A3D4A"/>
                </a:solidFill>
              </a:rPr>
              <a:t>A. To entertain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A3D4A"/>
                </a:solidFill>
              </a:rPr>
              <a:t>B. To tell a personal story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A3D4A"/>
                </a:solidFill>
              </a:rPr>
              <a:t>C. To inform and explain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A3D4A"/>
                </a:solidFill>
              </a:rPr>
              <a:t>D. To invite someone to an event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2377440"/>
            <a:ext cx="256032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09360" y="24871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B5EA7"/>
                </a:solidFill>
              </a:rPr>
              <a:t>3. AUDIENCE?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916936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A3D4A"/>
                </a:solidFill>
              </a:rPr>
              <a:t>A. Yourself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A3D4A"/>
                </a:solidFill>
              </a:rPr>
              <a:t>B. Your best friend only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A3D4A"/>
                </a:solidFill>
              </a:rPr>
              <a:t>C. A fictional character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A3D4A"/>
                </a:solidFill>
              </a:rPr>
              <a:t>D. Other Year 6 students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OUR REPORT TASK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56032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63040"/>
            <a:ext cx="566928" cy="56692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5E"/>
                </a:solidFill>
              </a:rPr>
              <a:t>FORM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2402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A3D4A"/>
                </a:solidFill>
              </a:rPr>
              <a:t>A — Non-chronological report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56032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46304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7472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86"/>
                </a:solidFill>
              </a:rPr>
              <a:t>PURPOSE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2253554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A3D4A"/>
                </a:solidFill>
              </a:rPr>
              <a:t>C — To inform and explain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56032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463040"/>
            <a:ext cx="566928" cy="566928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5EA7"/>
                </a:solidFill>
              </a:rPr>
              <a:t>AUDIENCE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2402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A3D4A"/>
                </a:solidFill>
              </a:rPr>
              <a:t>D — Other Year 6 students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23077"/>
            </a:avLst>
          </a:prstGeom>
          <a:solidFill>
            <a:srgbClr val="0A3D4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857"/>
                </a:solidFill>
              </a:rPr>
              <a:t>Remember: </a:t>
            </a:r>
            <a:r>
              <a:rPr lang="en-US" sz="2000" b="1" dirty="0">
                <a:solidFill>
                  <a:srgbClr val="FFFFFF"/>
                </a:solidFill>
              </a:rPr>
              <a:t>FORM + PURPOSE + AUDIENCE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0E7C8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🕵️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960120" y="135095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BECOME A REPORT DETECTIVE!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</a:rPr>
              <a:t>You are going to investigate a model report. Look for:</a:t>
            </a:r>
            <a:endParaRPr lang="en-US" sz="2000" b="1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9202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94360" y="14630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A3D4A"/>
                </a:solidFill>
              </a:rPr>
              <a:t>🔎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4630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3D4A"/>
                </a:solidFill>
              </a:rPr>
              <a:t>Title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19202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535248" y="1490472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A3D4A"/>
                </a:solidFill>
              </a:rPr>
              <a:t>🔎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016045" y="1463040"/>
            <a:ext cx="13730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3D4A"/>
                </a:solidFill>
              </a:rPr>
              <a:t>Headings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19202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00600" y="14630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46304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3D4A"/>
                </a:solidFill>
              </a:rPr>
              <a:t>Paragraphs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766560" y="1463040"/>
            <a:ext cx="19202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903720" y="14630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A3D4A"/>
                </a:solidFill>
              </a:rPr>
              <a:t>🔎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4630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3D4A"/>
                </a:solidFill>
              </a:rPr>
              <a:t>Facts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201168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0060" y="2459736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3D4A"/>
                </a:solidFill>
              </a:rPr>
              <a:t>Present tense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2560320" y="2560320"/>
            <a:ext cx="19202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2583180" y="248716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3D4A"/>
                </a:solidFill>
              </a:rPr>
              <a:t>Third person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663440" y="2560320"/>
            <a:ext cx="19202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686300" y="2560320"/>
            <a:ext cx="18059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3D4A"/>
                </a:solidFill>
              </a:rPr>
              <a:t>Technical vocabulary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6766560" y="2560320"/>
            <a:ext cx="19202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766560" y="25603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3D4A"/>
                </a:solidFill>
              </a:rPr>
              <a:t>Extra information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457200" y="3630168"/>
            <a:ext cx="8229600" cy="1097280"/>
          </a:xfrm>
          <a:prstGeom prst="roundRect">
            <a:avLst>
              <a:gd name="adj" fmla="val 12500"/>
            </a:avLst>
          </a:prstGeom>
          <a:solidFill>
            <a:srgbClr val="FF6B5E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594360" y="3621024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highlight>
                  <a:srgbClr val="FFFF00"/>
                </a:highlight>
              </a:rPr>
              <a:t>CHALLENGE</a:t>
            </a:r>
            <a:endParaRPr lang="en-US" sz="3600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Don't just find the features.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highlight>
                  <a:srgbClr val="FFFF00"/>
                </a:highlight>
              </a:rPr>
              <a:t>Think</a:t>
            </a:r>
            <a:r>
              <a:rPr lang="en-US" sz="2800" b="1" dirty="0">
                <a:solidFill>
                  <a:srgbClr val="FFFFFF"/>
                </a:solidFill>
              </a:rPr>
              <a:t>: Why has the writer used them?</a:t>
            </a:r>
            <a:endParaRPr lang="en-US" sz="2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D3D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🐢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THE SEA TURTLE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-738" y="1143000"/>
            <a:ext cx="93283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0A3D4A"/>
                </a:solidFill>
              </a:rPr>
              <a:t>Sea turtles are marine reptiles that live in warm and temperate oceans around the world.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40233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17659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7C86"/>
                </a:solidFill>
              </a:rPr>
              <a:t>WHERE DO SEA TURTLES LIVE?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031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Sea turtles spend most of their lives in the sea, but they return to land to lay their eggs.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63440" y="1737360"/>
            <a:ext cx="44805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54880" y="17476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7C86"/>
                </a:solidFill>
              </a:rPr>
              <a:t>WHAT DO THEY EAT?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11344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Different species eat different foods. Some sea turtles feed mainly on seagrass and algae, while others eat jellyfish and small sea animals.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40233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3276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E7C86"/>
                </a:solidFill>
              </a:rPr>
              <a:t>WHAT DANGERS DO THEY FACE?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566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Sea turtles face several threats. Plastic pollution can be dangerous because turtles may mistake plastic bags for food. They can also become trapped in fishing equipment.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3246120"/>
            <a:ext cx="44805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54879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E7C86"/>
                </a:solidFill>
              </a:rPr>
              <a:t>HOW CAN THEY BE PROTECTED?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4754879" y="3551264"/>
            <a:ext cx="457273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People and organisations are working to protect sea turtles. Beaches can be protected during nesting season, and fishing equipment can be changed to reduce the risk of turtles becoming trapped.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🔎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REPORT DETECTIVE CHALLENGE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A3D4A"/>
                </a:solidFill>
              </a:rPr>
              <a:t>Find these features in the report:</a:t>
            </a:r>
            <a:endParaRPr lang="en-US" sz="2000" b="1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9202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94360" y="14630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A3D4A"/>
                </a:solidFill>
              </a:rPr>
              <a:t>🔎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4630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4A"/>
                </a:solidFill>
              </a:rPr>
              <a:t>Title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19202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697480" y="14630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A3D4A"/>
                </a:solidFill>
              </a:rPr>
              <a:t>🔎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14630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A"/>
                </a:solidFill>
              </a:rPr>
              <a:t>Headings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19202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00600" y="14630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A3D4A"/>
                </a:solidFill>
              </a:rPr>
              <a:t>🔎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14630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A"/>
                </a:solidFill>
              </a:rPr>
              <a:t>Paragraphs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766560" y="1463040"/>
            <a:ext cx="19202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903720" y="14630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A3D4A"/>
                </a:solidFill>
              </a:rPr>
              <a:t>🔎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4630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A"/>
                </a:solidFill>
              </a:rPr>
              <a:t>Facts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19202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43927" y="2546604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A3D4A"/>
                </a:solidFill>
              </a:rPr>
              <a:t>🔎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50982" y="2531044"/>
            <a:ext cx="15264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A"/>
                </a:solidFill>
              </a:rPr>
              <a:t>Present tense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560320" y="2560320"/>
            <a:ext cx="19202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560320" y="2546604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A3D4A"/>
                </a:solidFill>
              </a:rPr>
              <a:t>🔎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2971800" y="2531044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A"/>
                </a:solidFill>
              </a:rPr>
              <a:t>Third person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608871" y="2560320"/>
            <a:ext cx="192024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632468" y="2546604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A3D4A"/>
                </a:solidFill>
              </a:rPr>
              <a:t>🔎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257175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A"/>
                </a:solidFill>
              </a:rPr>
              <a:t>Technical vocabulary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57200" y="3630168"/>
            <a:ext cx="8229600" cy="1097280"/>
          </a:xfrm>
          <a:prstGeom prst="roundRect">
            <a:avLst>
              <a:gd name="adj" fmla="val 12500"/>
            </a:avLst>
          </a:prstGeom>
          <a:solidFill>
            <a:srgbClr val="FF6B5E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31520" y="3630168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highlight>
                  <a:srgbClr val="FFFF00"/>
                </a:highlight>
              </a:rPr>
              <a:t>CHALLENGE</a:t>
            </a:r>
            <a:endParaRPr lang="en-US" sz="32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2400" b="1" dirty="0"/>
              <a:t>Can you find one example of each?</a:t>
            </a:r>
            <a:endParaRPr lang="en-US" sz="2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REPORT DETECTIVE ANSWERS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6B5E"/>
                </a:solidFill>
              </a:rPr>
              <a:t>TITLE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691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0A3D4A"/>
                </a:solidFill>
              </a:rPr>
              <a:t>The Sea Turtle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560320" y="123444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697480" y="1267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7C86"/>
                </a:solidFill>
              </a:rPr>
              <a:t>HEADINGS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59503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3D4A"/>
                </a:solidFill>
              </a:rPr>
              <a:t>Where Do Sea Turtles Live?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3D4A"/>
                </a:solidFill>
              </a:rPr>
              <a:t>What Do They Eat?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3D4A"/>
                </a:solidFill>
              </a:rPr>
              <a:t>What Dangers Do They Face?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3D4A"/>
                </a:solidFill>
              </a:rPr>
              <a:t>How Can They Be Protected?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766560" y="123444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85733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B5EA7"/>
                </a:solidFill>
              </a:rPr>
              <a:t>PARAGRAPHS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781308" y="169164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Each section groups related information.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69583" y="30403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A86C8"/>
                </a:solidFill>
              </a:rPr>
              <a:t>FACT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429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Sea turtles are marine reptiles.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560320" y="297180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697479" y="3040380"/>
            <a:ext cx="18022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6B5E"/>
                </a:solidFill>
              </a:rPr>
              <a:t>PRESENT TENSE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3429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live / eat / face / are / spend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800600" y="3016783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7C86"/>
                </a:solidFill>
              </a:rPr>
              <a:t>THIRD PERSON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731920" y="3429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sea turtles / they / people / organisations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766560" y="2971800"/>
            <a:ext cx="237744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785733" y="3005721"/>
            <a:ext cx="2594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7B5EA7"/>
                </a:solidFill>
              </a:rPr>
              <a:t>TECHNICAL VOCABULARY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6835040" y="34061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marine reptiles / species / pollution / nesting</a:t>
            </a:r>
            <a:endParaRPr lang="en-US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🧠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THINK LIKE A WRITER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A3D4A"/>
                </a:solidFill>
              </a:rPr>
              <a:t>Why does the writer use headings such as WHAT DO THEY EAT? 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A3D4A"/>
                </a:solidFill>
              </a:rPr>
              <a:t>and WHAT DANGERS DO THEY FACE?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491740"/>
            <a:ext cx="548640" cy="548640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91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2219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To make the page colourful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49174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2491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2219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To make the report longer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63340"/>
            <a:ext cx="548640" cy="548640"/>
          </a:xfrm>
          <a:prstGeom prst="ellipse">
            <a:avLst/>
          </a:prstGeom>
          <a:solidFill>
            <a:srgbClr val="3A86C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8633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5935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To tell the story in time order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663440" y="35204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863340"/>
            <a:ext cx="548640" cy="54864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46320" y="38633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593592"/>
            <a:ext cx="30632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To help the reader find information quickly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ANSWER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35608"/>
            <a:ext cx="914400" cy="9144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435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D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23444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4A"/>
                </a:solidFill>
              </a:rPr>
              <a:t>To help the reader find information quickly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0" y="2697480"/>
            <a:ext cx="89301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400" dirty="0">
                <a:solidFill>
                  <a:srgbClr val="0A3D4A"/>
                </a:solidFill>
              </a:rPr>
              <a:t>Headings tell the reader what information they will find in each section.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20000"/>
            </a:avLst>
          </a:prstGeom>
          <a:solidFill>
            <a:srgbClr val="0A3D4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857"/>
                </a:solidFill>
              </a:rPr>
              <a:t>Writer's choice: </a:t>
            </a:r>
            <a:r>
              <a:rPr lang="en-US" sz="2400" b="1" dirty="0">
                <a:solidFill>
                  <a:srgbClr val="FFFFFF"/>
                </a:solidFill>
              </a:rPr>
              <a:t>Feature → Purpose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🧩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WHY PARAGRAPHS?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A3D4A"/>
                </a:solidFill>
              </a:rPr>
              <a:t>Why does the writer put information into separate paragraphs?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491740"/>
            <a:ext cx="548640" cy="548640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91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21992"/>
            <a:ext cx="30632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To group related information together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49174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2491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2219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To make the writing harder to read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63340"/>
            <a:ext cx="548640" cy="548640"/>
          </a:xfrm>
          <a:prstGeom prst="ellipse">
            <a:avLst/>
          </a:prstGeom>
          <a:solidFill>
            <a:srgbClr val="3A86C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8633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5935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To show the order of events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663440" y="35204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863340"/>
            <a:ext cx="548640" cy="54864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46320" y="38633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35935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To avoid giving facts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ANSWER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35608"/>
            <a:ext cx="914400" cy="9144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435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23444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4A"/>
                </a:solidFill>
              </a:rPr>
              <a:t>To group related information together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9748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A3D4A"/>
                </a:solidFill>
              </a:rPr>
              <a:t>For example:</a:t>
            </a:r>
            <a:endParaRPr lang="en-US" sz="1700" b="1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A3D4A"/>
                </a:solidFill>
              </a:rPr>
              <a:t>Information about </a:t>
            </a:r>
            <a:r>
              <a:rPr lang="en-US" sz="1700" dirty="0"/>
              <a:t> </a:t>
            </a:r>
            <a:r>
              <a:rPr lang="en-US" sz="1700" b="1" dirty="0">
                <a:solidFill>
                  <a:srgbClr val="0A3D4A"/>
                </a:solidFill>
              </a:rPr>
              <a:t>diet</a:t>
            </a:r>
            <a:r>
              <a:rPr lang="en-US" sz="1700" dirty="0">
                <a:solidFill>
                  <a:srgbClr val="0A3D4A"/>
                </a:solidFill>
              </a:rPr>
              <a:t> belongs together.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A3D4A"/>
                </a:solidFill>
              </a:rPr>
              <a:t>Information about </a:t>
            </a:r>
            <a:r>
              <a:rPr lang="en-US" sz="1700" b="1" dirty="0">
                <a:solidFill>
                  <a:srgbClr val="0A3D4A"/>
                </a:solidFill>
              </a:rPr>
              <a:t>threats</a:t>
            </a:r>
            <a:r>
              <a:rPr lang="en-US" sz="1700" dirty="0">
                <a:solidFill>
                  <a:srgbClr val="0A3D4A"/>
                </a:solidFill>
              </a:rPr>
              <a:t> belongs together.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4457700"/>
            <a:ext cx="8229600" cy="685800"/>
          </a:xfrm>
          <a:prstGeom prst="roundRect">
            <a:avLst>
              <a:gd name="adj" fmla="val 20000"/>
            </a:avLst>
          </a:prstGeom>
          <a:solidFill>
            <a:srgbClr val="0A3D4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48640" y="4427835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857"/>
                </a:solidFill>
              </a:rPr>
              <a:t>Remember: </a:t>
            </a:r>
            <a:r>
              <a:rPr lang="en-US" sz="2000" b="1" dirty="0">
                <a:solidFill>
                  <a:srgbClr val="FFFFFF"/>
                </a:solidFill>
              </a:rPr>
              <a:t>One paragraph or section should have a clear focus.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🧰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REPORT FEATURES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A6B73"/>
                </a:solidFill>
              </a:rPr>
              <a:t>A report may use: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41732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🏷️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56185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7C86"/>
                </a:solidFill>
              </a:rPr>
              <a:t>HEADING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2093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Tells us the topic.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60320" y="128016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97480" y="141732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6974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📌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15773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</a:rPr>
              <a:t>SUBHEADING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Organises information into smaller sections.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128016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41732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006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📄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390535" y="1592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</a:rPr>
              <a:t>PARAGRAPH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2098695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Groups related ideas.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66560" y="128016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41732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037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•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15773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</a:rPr>
              <a:t>BULLET POINTS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206883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Present information clearly.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31546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🖼️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201994" y="33147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</a:rPr>
              <a:t>PHOTOGRAPH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7719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Shows the subject.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560320" y="30175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697480" y="31546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6974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💬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3291840" y="33147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</a:rPr>
              <a:t>CAPTION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2651760" y="378333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Adds information about an image.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663440" y="301752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1546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8006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📦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5440680" y="3292209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</a:rPr>
              <a:t>TEXT BOX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800600" y="3812827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Highlights important or additional information.</a:t>
            </a:r>
            <a:endParaRPr lang="en-US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🔗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MATCH THE FEATURE TO ITS PURPOSE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65760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280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A"/>
                </a:solidFill>
              </a:rPr>
              <a:t>Heading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280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6B73"/>
                </a:solidFill>
              </a:rPr>
              <a:t>A / B / C / 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365760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212140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A"/>
                </a:solidFill>
              </a:rPr>
              <a:t>Paragraph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12140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6B73"/>
                </a:solidFill>
              </a:rPr>
              <a:t>A / B / C / 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365760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296265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A"/>
                </a:solidFill>
              </a:rPr>
              <a:t>Bullet points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96265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6B73"/>
                </a:solidFill>
              </a:rPr>
              <a:t>A / B / C / 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65760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80390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A"/>
                </a:solidFill>
              </a:rPr>
              <a:t>Photograph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3803904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6B73"/>
                </a:solidFill>
              </a:rPr>
              <a:t>A / B / C / 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408176"/>
            <a:ext cx="475488" cy="47548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09160" y="1408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1280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3D4A"/>
                </a:solidFill>
              </a:rPr>
              <a:t>Shows the subject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09160" y="2249424"/>
            <a:ext cx="475488" cy="47548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09160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363988" y="295351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3D4A"/>
                </a:solidFill>
              </a:rPr>
              <a:t>Groups related ideas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709160" y="3090672"/>
            <a:ext cx="475488" cy="475488"/>
          </a:xfrm>
          <a:prstGeom prst="ellipse">
            <a:avLst/>
          </a:prstGeom>
          <a:solidFill>
            <a:srgbClr val="3A86C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09160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321808" y="20721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3D4A"/>
                </a:solidFill>
              </a:rPr>
              <a:t>Presents information clearly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709160" y="3931920"/>
            <a:ext cx="475488" cy="475488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0916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380390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3D4A"/>
                </a:solidFill>
              </a:rPr>
              <a:t>Tells the reader what the section is about</a:t>
            </a:r>
            <a:endParaRPr lang="en-US" sz="15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CHECK YOUR ANSWERS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6B5E"/>
                </a:solidFill>
              </a:rPr>
              <a:t>Heading → 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28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A3D4A"/>
                </a:solidFill>
              </a:rPr>
              <a:t>Tells the reader what the section is about.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7C86"/>
                </a:solidFill>
              </a:rPr>
              <a:t>Paragraph → C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828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A3D4A"/>
                </a:solidFill>
              </a:rPr>
              <a:t>Groups related ideas.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40233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4360" y="2743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B5EA7"/>
                </a:solidFill>
              </a:rPr>
              <a:t>Bullet points → B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A3D4A"/>
                </a:solidFill>
              </a:rPr>
              <a:t>Presents information clearly.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2606040"/>
            <a:ext cx="40233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00600" y="2743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A86C8"/>
                </a:solidFill>
              </a:rPr>
              <a:t>Photograph → 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A3D4A"/>
                </a:solidFill>
              </a:rPr>
              <a:t>Shows the subject.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594360"/>
          </a:xfrm>
          <a:prstGeom prst="roundRect">
            <a:avLst>
              <a:gd name="adj" fmla="val 23077"/>
            </a:avLst>
          </a:prstGeom>
          <a:solidFill>
            <a:srgbClr val="0A3D4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857"/>
                </a:solidFill>
              </a:rPr>
              <a:t>Key idea: </a:t>
            </a:r>
            <a:r>
              <a:rPr lang="en-US" sz="1400" b="1" dirty="0">
                <a:solidFill>
                  <a:srgbClr val="FFFFFF"/>
                </a:solidFill>
              </a:rPr>
              <a:t>Writers choose features because each feature has a job.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🔎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46177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A3D4A"/>
                </a:solidFill>
              </a:rPr>
              <a:t>Which sentence is most suitable for a general factual report?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491740"/>
            <a:ext cx="548640" cy="548640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91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2219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Sea turtles lived in oceans around the world.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49174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2491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2219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Sea turtles had lived in oceans around the world.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63340"/>
            <a:ext cx="548640" cy="548640"/>
          </a:xfrm>
          <a:prstGeom prst="ellipse">
            <a:avLst/>
          </a:prstGeom>
          <a:solidFill>
            <a:srgbClr val="3A86C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8633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5935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Sea turtles live in oceans around the world.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35204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863340"/>
            <a:ext cx="548640" cy="54864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46320" y="38633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35935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Sea turtles will live in oceans around the world.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ANSWER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35608"/>
            <a:ext cx="914400" cy="9144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435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C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23444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4A"/>
                </a:solidFill>
              </a:rPr>
              <a:t>Sea turtles live in oceans around the world.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9748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A3D4A"/>
                </a:solidFill>
              </a:rPr>
              <a:t>Reports usually use the </a:t>
            </a:r>
            <a:r>
              <a:rPr lang="en-US" sz="1700" b="1" dirty="0">
                <a:solidFill>
                  <a:srgbClr val="0A3D4A"/>
                </a:solidFill>
              </a:rPr>
              <a:t>present tense</a:t>
            </a:r>
            <a:r>
              <a:rPr lang="en-US" sz="1700" dirty="0">
                <a:solidFill>
                  <a:srgbClr val="0A3D4A"/>
                </a:solidFill>
              </a:rPr>
              <a:t> when presenting general facts.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A3D4A"/>
                </a:solidFill>
              </a:rPr>
              <a:t>Examples:</a:t>
            </a:r>
            <a:endParaRPr lang="en-US" sz="1700" b="1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A3D4A"/>
                </a:solidFill>
              </a:rPr>
              <a:t>Sea turtles </a:t>
            </a:r>
            <a:r>
              <a:rPr lang="en-US" sz="1700" b="1" dirty="0">
                <a:solidFill>
                  <a:srgbClr val="0A3D4A"/>
                </a:solidFill>
              </a:rPr>
              <a:t>live</a:t>
            </a:r>
            <a:r>
              <a:rPr lang="en-US" sz="1700" dirty="0">
                <a:solidFill>
                  <a:srgbClr val="0A3D4A"/>
                </a:solidFill>
              </a:rPr>
              <a:t> in oceans. 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A3D4A"/>
                </a:solidFill>
              </a:rPr>
              <a:t> ·  They </a:t>
            </a:r>
            <a:r>
              <a:rPr lang="en-US" sz="1700" b="1" dirty="0">
                <a:solidFill>
                  <a:srgbClr val="0A3D4A"/>
                </a:solidFill>
              </a:rPr>
              <a:t>eat</a:t>
            </a:r>
            <a:r>
              <a:rPr lang="en-US" sz="1700" dirty="0">
                <a:solidFill>
                  <a:srgbClr val="0A3D4A"/>
                </a:solidFill>
              </a:rPr>
              <a:t> different types of food.  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A3D4A"/>
                </a:solidFill>
              </a:rPr>
              <a:t>·  Pollution </a:t>
            </a:r>
            <a:r>
              <a:rPr lang="en-US" sz="1700" b="1" dirty="0">
                <a:solidFill>
                  <a:srgbClr val="0A3D4A"/>
                </a:solidFill>
              </a:rPr>
              <a:t>threatens</a:t>
            </a:r>
            <a:r>
              <a:rPr lang="en-US" sz="1700" dirty="0">
                <a:solidFill>
                  <a:srgbClr val="0A3D4A"/>
                </a:solidFill>
              </a:rPr>
              <a:t> their survival.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👤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WHO IS THE WRITER TALKING ABOUT?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A3D4A"/>
                </a:solidFill>
              </a:rPr>
              <a:t>Which sentence sounds most suitable for a factual report?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491740"/>
            <a:ext cx="548640" cy="548640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91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2219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I think sea turtles are amazing.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49174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2491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2219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We saw a sea turtle yesterday.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63340"/>
            <a:ext cx="548640" cy="548640"/>
          </a:xfrm>
          <a:prstGeom prst="ellipse">
            <a:avLst/>
          </a:prstGeom>
          <a:solidFill>
            <a:srgbClr val="3A86C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8633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12317" y="3593592"/>
            <a:ext cx="32918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You should imagine being a sea turtle.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35204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863340"/>
            <a:ext cx="548640" cy="54864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46320" y="38633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35935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Sea turtles are marine reptiles.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ANSWER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35608"/>
            <a:ext cx="914400" cy="9144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435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D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23444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4A"/>
                </a:solidFill>
              </a:rPr>
              <a:t>Sea turtles are marine reptiles.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9748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A3D4A"/>
                </a:solidFill>
              </a:rPr>
              <a:t>A report normally uses the </a:t>
            </a:r>
            <a:r>
              <a:rPr lang="en-US" sz="1700" b="1" dirty="0">
                <a:solidFill>
                  <a:srgbClr val="0A3D4A"/>
                </a:solidFill>
              </a:rPr>
              <a:t>third person</a:t>
            </a:r>
            <a:r>
              <a:rPr lang="en-US" sz="1700" dirty="0">
                <a:solidFill>
                  <a:srgbClr val="0A3D4A"/>
                </a:solidFill>
              </a:rPr>
              <a:t>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A3D4A"/>
                </a:solidFill>
              </a:rPr>
              <a:t>
</a:t>
            </a:r>
            <a:r>
              <a:rPr lang="en-US" sz="1700" b="1" dirty="0">
                <a:solidFill>
                  <a:srgbClr val="0A3D4A"/>
                </a:solidFill>
              </a:rPr>
              <a:t>Third person includes:</a:t>
            </a:r>
            <a:r>
              <a:rPr lang="en-US" sz="1700" dirty="0">
                <a:solidFill>
                  <a:srgbClr val="0A3D4A"/>
                </a:solidFill>
              </a:rPr>
              <a:t> it · they · sea turtles · the animal · this species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A3D4A"/>
                </a:solidFill>
              </a:rPr>
              <a:t>
</a:t>
            </a:r>
            <a:r>
              <a:rPr lang="en-US" sz="1700" b="1" dirty="0">
                <a:solidFill>
                  <a:srgbClr val="0A3D4A"/>
                </a:solidFill>
              </a:rPr>
              <a:t>Less suitable for a factual report:</a:t>
            </a:r>
            <a:r>
              <a:rPr lang="en-US" sz="1700" dirty="0">
                <a:solidFill>
                  <a:srgbClr val="0A3D4A"/>
                </a:solidFill>
              </a:rPr>
              <a:t> I think… · We saw… · I went…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🧪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REPORT LANGUAGE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A3D4A"/>
                </a:solidFill>
              </a:rPr>
              <a:t>Which group contains vocabulary that could appear in a report about endangered animals?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491740"/>
            <a:ext cx="548640" cy="548640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91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25591" y="2057400"/>
            <a:ext cx="31546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awesome, fun, cool, amazing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4198866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8368" y="230886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38368" y="2280469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229778" y="1998702"/>
            <a:ext cx="36679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yesterday, suddenly, shouted, ran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63340"/>
            <a:ext cx="548640" cy="548640"/>
          </a:xfrm>
          <a:prstGeom prst="ellipse">
            <a:avLst/>
          </a:prstGeom>
          <a:solidFill>
            <a:srgbClr val="3A86C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8633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57589" y="3383280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A3D4A"/>
                </a:solidFill>
              </a:rPr>
              <a:t>I, me, my, we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663440" y="35204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0022" y="3578328"/>
            <a:ext cx="492596" cy="548640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5584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148662" y="3307032"/>
            <a:ext cx="353813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marine, species, habitat, pollution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ANSWER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35608"/>
            <a:ext cx="914400" cy="9144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435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D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23444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4A"/>
                </a:solidFill>
              </a:rPr>
              <a:t>marine, species, habitat, pollution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9748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A3D4A"/>
                </a:solidFill>
              </a:rPr>
              <a:t>These words communicate </a:t>
            </a:r>
            <a:r>
              <a:rPr lang="en-US" sz="1700" b="1" dirty="0">
                <a:solidFill>
                  <a:srgbClr val="0A3D4A"/>
                </a:solidFill>
              </a:rPr>
              <a:t>specific information</a:t>
            </a:r>
            <a:r>
              <a:rPr lang="en-US" sz="1700" dirty="0">
                <a:solidFill>
                  <a:srgbClr val="0A3D4A"/>
                </a:solidFill>
              </a:rPr>
              <a:t> about the topic.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20000"/>
            </a:avLst>
          </a:prstGeom>
          <a:solidFill>
            <a:srgbClr val="0A3D4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857"/>
                </a:solidFill>
              </a:rPr>
              <a:t>Report vocabulary should be: </a:t>
            </a:r>
            <a:r>
              <a:rPr lang="en-US" sz="2000" b="1" dirty="0">
                <a:solidFill>
                  <a:srgbClr val="FFFFFF"/>
                </a:solidFill>
              </a:rPr>
              <a:t>accurate + precise + relevant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🐼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REPORT BUILDER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738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0A3D4A"/>
                </a:solidFill>
              </a:rPr>
              <a:t>Imagine we are writing a report about the giant panda.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9961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A3D4A"/>
                </a:solidFill>
              </a:rPr>
              <a:t>Which heading would be most useful?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02336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79192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Where Do Giant Pandas Live?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402336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83464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2679192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My Amazing Day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402336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977640"/>
            <a:ext cx="548640" cy="548640"/>
          </a:xfrm>
          <a:prstGeom prst="ellipse">
            <a:avLst/>
          </a:prstGeom>
          <a:solidFill>
            <a:srgbClr val="3A86C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822192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What I Did Yesterday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3749040"/>
            <a:ext cx="402336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977640"/>
            <a:ext cx="548640" cy="54864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463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3822192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Dear Diary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ANSWER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35608"/>
            <a:ext cx="914400" cy="9144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435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23444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4A"/>
                </a:solidFill>
              </a:rPr>
              <a:t>Where Do Giant Pandas Live?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50285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dirty="0">
                <a:solidFill>
                  <a:srgbClr val="0A3D4A"/>
                </a:solidFill>
              </a:rPr>
              <a:t>It is appropriate because: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A3D4A"/>
                </a:solidFill>
              </a:rPr>
              <a:t>✔  it is factual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A3D4A"/>
                </a:solidFill>
              </a:rPr>
              <a:t>✔  it focuses on one topic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A3D4A"/>
                </a:solidFill>
              </a:rPr>
              <a:t>✔  it helps organise the report</a:t>
            </a:r>
            <a:endParaRPr lang="en-US" sz="17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A3D4A"/>
                </a:solidFill>
              </a:rPr>
              <a:t>✔  it tells the reader what information to expect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🧠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REPORT OR NOT?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A3D4A"/>
                </a:solidFill>
              </a:rPr>
              <a:t>Which set contains features that are useful in a non-chronological report?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491740"/>
            <a:ext cx="548640" cy="548640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91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2219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Characters, dialogue, setting, plot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49174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2491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2219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Headings, facts, paragraphs, captions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63340"/>
            <a:ext cx="548640" cy="548640"/>
          </a:xfrm>
          <a:prstGeom prst="ellipse">
            <a:avLst/>
          </a:prstGeom>
          <a:solidFill>
            <a:srgbClr val="3A86C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8633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5935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First, next, then, finally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3520440"/>
            <a:ext cx="402336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863340"/>
            <a:ext cx="548640" cy="54864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46320" y="38633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359359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Feelings, opinions, diary entries, dialogue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ANSWER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35608"/>
            <a:ext cx="914400" cy="9144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435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B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23444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4A"/>
                </a:solidFill>
              </a:rPr>
              <a:t>Headings, facts, paragraphs, captions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9748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A3D4A"/>
                </a:solidFill>
              </a:rPr>
              <a:t>These features help a writer </a:t>
            </a:r>
            <a:r>
              <a:rPr lang="en-US" sz="1700" b="1" dirty="0">
                <a:solidFill>
                  <a:srgbClr val="0A3D4A"/>
                </a:solidFill>
              </a:rPr>
              <a:t>organise and present factual information</a:t>
            </a:r>
            <a:r>
              <a:rPr lang="en-US" sz="1700" dirty="0">
                <a:solidFill>
                  <a:srgbClr val="0A3D4A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🚀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YOUR TURN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560320" cy="3108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63040"/>
            <a:ext cx="566928" cy="56692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B673"/>
                </a:solidFill>
              </a:rPr>
              <a:t>SUPPORT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30942" y="2240280"/>
            <a:ext cx="2168013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Identify </a:t>
            </a:r>
            <a:r>
              <a:rPr lang="en-US" b="1" dirty="0">
                <a:solidFill>
                  <a:srgbClr val="0A3D4A"/>
                </a:solidFill>
              </a:rPr>
              <a:t>three report features</a:t>
            </a:r>
            <a:r>
              <a:rPr lang="en-US" dirty="0">
                <a:solidFill>
                  <a:srgbClr val="0A3D4A"/>
                </a:solidFill>
              </a:rPr>
              <a:t> in the Sea Turtle report.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Then </a:t>
            </a:r>
            <a:r>
              <a:rPr lang="en-US" b="1" dirty="0">
                <a:solidFill>
                  <a:srgbClr val="0A3D4A"/>
                </a:solidFill>
              </a:rPr>
              <a:t>explain</a:t>
            </a:r>
            <a:r>
              <a:rPr lang="en-US" dirty="0">
                <a:solidFill>
                  <a:srgbClr val="0A3D4A"/>
                </a:solidFill>
              </a:rPr>
              <a:t> the purpose of 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A3D4A"/>
                </a:solidFill>
              </a:rPr>
              <a:t>one</a:t>
            </a:r>
            <a:r>
              <a:rPr lang="en-US" dirty="0">
                <a:solidFill>
                  <a:srgbClr val="0A3D4A"/>
                </a:solidFill>
              </a:rPr>
              <a:t> feature.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560320" cy="3108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463040"/>
            <a:ext cx="566928" cy="566928"/>
          </a:xfrm>
          <a:prstGeom prst="ellipse">
            <a:avLst/>
          </a:prstGeom>
          <a:solidFill>
            <a:srgbClr val="3A86C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7472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86C8"/>
                </a:solidFill>
              </a:rPr>
              <a:t>CORE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240280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Identify </a:t>
            </a:r>
            <a:r>
              <a:rPr lang="en-US" b="1" dirty="0">
                <a:solidFill>
                  <a:srgbClr val="0A3D4A"/>
                </a:solidFill>
              </a:rPr>
              <a:t>five report features</a:t>
            </a:r>
            <a:r>
              <a:rPr lang="en-US" dirty="0">
                <a:solidFill>
                  <a:srgbClr val="0A3D4A"/>
                </a:solidFill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A3D4A"/>
                </a:solidFill>
              </a:rPr>
              <a:t>Explain</a:t>
            </a:r>
            <a:r>
              <a:rPr lang="en-US" dirty="0">
                <a:solidFill>
                  <a:srgbClr val="0A3D4A"/>
                </a:solidFill>
              </a:rPr>
              <a:t> the purpose of 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A3D4A"/>
                </a:solidFill>
              </a:rPr>
              <a:t>two</a:t>
            </a:r>
            <a:r>
              <a:rPr lang="en-US" dirty="0">
                <a:solidFill>
                  <a:srgbClr val="0A3D4A"/>
                </a:solidFill>
              </a:rPr>
              <a:t> features.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560320" cy="3108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463040"/>
            <a:ext cx="566928" cy="566928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5EA7"/>
                </a:solidFill>
              </a:rPr>
              <a:t>EXTEND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2240280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Choose </a:t>
            </a:r>
            <a:r>
              <a:rPr lang="en-US" b="1" dirty="0">
                <a:solidFill>
                  <a:srgbClr val="0A3D4A"/>
                </a:solidFill>
              </a:rPr>
              <a:t>three</a:t>
            </a:r>
            <a:r>
              <a:rPr lang="en-US" dirty="0">
                <a:solidFill>
                  <a:srgbClr val="0A3D4A"/>
                </a:solidFill>
              </a:rPr>
              <a:t> report features.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A3D4A"/>
                </a:solidFill>
              </a:rPr>
              <a:t>Explain</a:t>
            </a:r>
            <a:r>
              <a:rPr lang="en-US" dirty="0">
                <a:solidFill>
                  <a:srgbClr val="0A3D4A"/>
                </a:solidFill>
              </a:rPr>
              <a:t>: </a:t>
            </a:r>
          </a:p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How does each feature improve the reader's experience?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TODAY I CAN…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566928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38074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12344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3D4A"/>
                </a:solidFill>
              </a:rPr>
              <a:t>identify a non-chronological report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566928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28032" y="138074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12344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3D4A"/>
                </a:solidFill>
              </a:rPr>
              <a:t>explain its purpose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892808"/>
            <a:ext cx="4023360" cy="566928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03911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18928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3D4A"/>
                </a:solidFill>
              </a:rPr>
              <a:t>identify its audience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892808"/>
            <a:ext cx="4023360" cy="566928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28032" y="203911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18928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3D4A"/>
                </a:solidFill>
              </a:rPr>
              <a:t>identify report features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551176"/>
            <a:ext cx="4023360" cy="566928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26974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25511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3D4A"/>
                </a:solidFill>
              </a:rPr>
              <a:t>explain why features are used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2551176"/>
            <a:ext cx="4023360" cy="566928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28032" y="26974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57800" y="25511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3D4A"/>
                </a:solidFill>
              </a:rPr>
              <a:t>recognise present tense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209544"/>
            <a:ext cx="4023360" cy="566928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" y="33558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1560" y="32095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3D4A"/>
                </a:solidFill>
              </a:rPr>
              <a:t>recognise third person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3209544"/>
            <a:ext cx="4023360" cy="566928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28032" y="33558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57800" y="32095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3D4A"/>
                </a:solidFill>
              </a:rPr>
              <a:t>identify factual/technical vocabulary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8750"/>
            </a:avLst>
          </a:prstGeom>
          <a:solidFill>
            <a:srgbClr val="FF6B5E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4A"/>
                </a:solidFill>
              </a:rPr>
              <a:t>⭐ EXTRA CHALLENGE  </a:t>
            </a:r>
            <a:r>
              <a:rPr lang="en-US" sz="1600" b="1" dirty="0">
                <a:solidFill>
                  <a:srgbClr val="FFFFFF"/>
                </a:solidFill>
              </a:rPr>
              <a:t>I can explain how a writer's choices help the reader.</a:t>
            </a:r>
            <a:endParaRPr lang="en-US" sz="16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🎫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EXIT TICKET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A6B73"/>
                </a:solidFill>
              </a:rPr>
              <a:t>Answer independently.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293876"/>
            <a:ext cx="384048" cy="38404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293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A3D4A"/>
                </a:solidFill>
              </a:rPr>
              <a:t>What is a non-chronological report?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822960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888236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1888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1828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A3D4A"/>
                </a:solidFill>
              </a:rPr>
              <a:t>What is its main purpose?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822960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482596"/>
            <a:ext cx="384048" cy="384048"/>
          </a:xfrm>
          <a:prstGeom prst="ellipse">
            <a:avLst/>
          </a:prstGeom>
          <a:solidFill>
            <a:srgbClr val="3A86C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Why are headings useful?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822960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076956"/>
            <a:ext cx="384048" cy="384048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076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017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What tense is usually used?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822960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671316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36713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175004" y="3610405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Chronological or non-chronological?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A3D4A"/>
                </a:solidFill>
              </a:rPr>
              <a:t>Habitat → Diet → Appearance → Threats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4265676"/>
            <a:ext cx="384048" cy="384048"/>
          </a:xfrm>
          <a:prstGeom prst="ellipse">
            <a:avLst/>
          </a:prstGeom>
          <a:solidFill>
            <a:srgbClr val="0A3D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4206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3D4A"/>
                </a:solidFill>
              </a:rPr>
              <a:t>CHALLENGE:</a:t>
            </a:r>
            <a:r>
              <a:rPr lang="en-US" dirty="0">
                <a:solidFill>
                  <a:srgbClr val="0A3D4A"/>
                </a:solidFill>
              </a:rPr>
              <a:t> Write one factual sentence about an endangered animal.</a:t>
            </a:r>
            <a:endParaRPr lang="en-US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CDEF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CDEF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CHECK YOUR ANSWERS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93876"/>
            <a:ext cx="384048" cy="38404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293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A text that gives factual information organised by </a:t>
            </a:r>
            <a:r>
              <a:rPr lang="en-US" b="1" dirty="0">
                <a:solidFill>
                  <a:srgbClr val="0A3D4A"/>
                </a:solidFill>
              </a:rPr>
              <a:t>topic</a:t>
            </a:r>
            <a:r>
              <a:rPr lang="en-US" dirty="0">
                <a:solidFill>
                  <a:srgbClr val="0A3D4A"/>
                </a:solidFill>
              </a:rPr>
              <a:t>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1888236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1888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828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To </a:t>
            </a:r>
            <a:r>
              <a:rPr lang="en-US" sz="2000" b="1" dirty="0">
                <a:solidFill>
                  <a:srgbClr val="0A3D4A"/>
                </a:solidFill>
              </a:rPr>
              <a:t>inform and/or explain</a:t>
            </a:r>
            <a:r>
              <a:rPr lang="en-US" sz="2000" dirty="0">
                <a:solidFill>
                  <a:srgbClr val="0A3D4A"/>
                </a:solidFill>
              </a:rPr>
              <a:t>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482596"/>
            <a:ext cx="384048" cy="384048"/>
          </a:xfrm>
          <a:prstGeom prst="ellipse">
            <a:avLst/>
          </a:prstGeom>
          <a:solidFill>
            <a:srgbClr val="3A86C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Headings help readers </a:t>
            </a:r>
            <a:r>
              <a:rPr lang="en-US" b="1" dirty="0">
                <a:solidFill>
                  <a:srgbClr val="0A3D4A"/>
                </a:solidFill>
              </a:rPr>
              <a:t>find and understand information quickly</a:t>
            </a:r>
            <a:r>
              <a:rPr lang="en-US" dirty="0">
                <a:solidFill>
                  <a:srgbClr val="0A3D4A"/>
                </a:solidFill>
              </a:rPr>
              <a:t>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076956"/>
            <a:ext cx="384048" cy="384048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076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017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The </a:t>
            </a:r>
            <a:r>
              <a:rPr lang="en-US" b="1" dirty="0">
                <a:solidFill>
                  <a:srgbClr val="0A3D4A"/>
                </a:solidFill>
              </a:rPr>
              <a:t>present tense</a:t>
            </a:r>
            <a:r>
              <a:rPr lang="en-US" dirty="0">
                <a:solidFill>
                  <a:srgbClr val="0A3D4A"/>
                </a:solidFill>
              </a:rPr>
              <a:t>.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822960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671316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6713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611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4A"/>
                </a:solidFill>
              </a:rPr>
              <a:t>Non-chronological</a:t>
            </a:r>
            <a:r>
              <a:rPr lang="en-US" sz="1600" dirty="0">
                <a:solidFill>
                  <a:srgbClr val="0A3D4A"/>
                </a:solidFill>
              </a:rPr>
              <a:t> because the information is organised by topic rather than time.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4265676"/>
            <a:ext cx="384048" cy="384048"/>
          </a:xfrm>
          <a:prstGeom prst="ellipse">
            <a:avLst/>
          </a:prstGeom>
          <a:solidFill>
            <a:srgbClr val="0A3D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4206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3D4A"/>
                </a:solidFill>
              </a:rPr>
              <a:t>Answers will vary. Example: </a:t>
            </a:r>
            <a:r>
              <a:rPr lang="en-US" sz="1600" b="1" dirty="0">
                <a:solidFill>
                  <a:srgbClr val="0A3D4A"/>
                </a:solidFill>
              </a:rPr>
              <a:t>The giant panda lives in mountain forests where bamboo grows.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0E7C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0E7C8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🏠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RESEARCH MISSION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63040"/>
            <a:ext cx="566928" cy="56692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🐾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5E"/>
                </a:solidFill>
              </a:rPr>
              <a:t>3 FACTS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240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A3D4A"/>
                </a:solidFill>
              </a:rPr>
              <a:t>What is the creature like?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46304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7472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⚠️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86"/>
                </a:solidFill>
              </a:rPr>
              <a:t>2 THREATS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240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What dangers does it face?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463040"/>
            <a:ext cx="566928" cy="566928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🛡️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EA7"/>
                </a:solidFill>
              </a:rPr>
              <a:t>1 PROTECTION METHOD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240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A3D4A"/>
                </a:solidFill>
              </a:rPr>
              <a:t>How are people helping it?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45691" y="3063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</a:rPr>
              <a:t>Example — Creature: Sea turtle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A3D4A"/>
                </a:solidFill>
              </a:rPr>
              <a:t>Facts:</a:t>
            </a:r>
            <a:r>
              <a:rPr lang="en-US" sz="1600" dirty="0">
                <a:solidFill>
                  <a:srgbClr val="0A3D4A"/>
                </a:solidFill>
              </a:rPr>
              <a:t> marine reptile · lives in oceans · lays eggs on beaches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A3D4A"/>
                </a:solidFill>
              </a:rPr>
              <a:t>Threats:</a:t>
            </a:r>
            <a:r>
              <a:rPr lang="en-US" sz="1600" dirty="0">
                <a:solidFill>
                  <a:srgbClr val="0A3D4A"/>
                </a:solidFill>
              </a:rPr>
              <a:t> plastic pollution · fishing equipment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A3D4A"/>
                </a:solidFill>
              </a:rPr>
              <a:t>Protection:</a:t>
            </a:r>
            <a:r>
              <a:rPr lang="en-US" sz="1600" dirty="0">
                <a:solidFill>
                  <a:srgbClr val="0A3D4A"/>
                </a:solidFill>
              </a:rPr>
              <a:t> protected nesting beaches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594360"/>
          </a:xfrm>
          <a:prstGeom prst="roundRect">
            <a:avLst>
              <a:gd name="adj" fmla="val 23077"/>
            </a:avLst>
          </a:prstGeom>
          <a:solidFill>
            <a:srgbClr val="FF6B5E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57200" y="41605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C857"/>
                </a:solidFill>
              </a:rPr>
              <a:t>IMPORTANT!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Write notes — do NOT copy whole paragraphs. Bring your notes to the next lesson.</a:t>
            </a:r>
            <a:endParaRPr lang="en-US" b="1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D3D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377440" cy="237744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297680"/>
            <a:ext cx="1463040" cy="1463040"/>
          </a:xfrm>
          <a:prstGeom prst="ellipse">
            <a:avLst/>
          </a:prstGeom>
          <a:solidFill>
            <a:srgbClr val="0E7C8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NEXT TIME…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C857"/>
                </a:solidFill>
              </a:rPr>
              <a:t>RESEARCH → SELECT → NOTE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Next lesson we will learn how to: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46304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" y="18745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3D4A"/>
                </a:solidFill>
              </a:rPr>
              <a:t>SKIM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187452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857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48840" y="1874520"/>
            <a:ext cx="146304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240280" y="18745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3D4A"/>
                </a:solidFill>
              </a:rPr>
              <a:t>SCAN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187452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857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0480" y="1874520"/>
            <a:ext cx="146304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931920" y="18745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3D4A"/>
                </a:solidFill>
              </a:rPr>
              <a:t>SELECT RELEVANT INFORMATION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187452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857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32120" y="1874520"/>
            <a:ext cx="146304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623560" y="18745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3D4A"/>
                </a:solidFill>
              </a:rPr>
              <a:t>MAKE USEFUL NOTES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187452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857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23760" y="1874520"/>
            <a:ext cx="146304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223760" y="18745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3D4A"/>
                </a:solidFill>
              </a:rPr>
              <a:t>ORGANISE OUR RESEARCH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F6B5E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77240" y="3291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A"/>
                </a:solidFill>
                <a:highlight>
                  <a:srgbClr val="FFFF00"/>
                </a:highlight>
              </a:rPr>
              <a:t>BIG QUESTION</a:t>
            </a:r>
            <a:endParaRPr lang="en-US" sz="3600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can we find the information we actually need without copying everything?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D3D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 Detective">
  <a:themeElements>
    <a:clrScheme name="Ocean Detective">
      <a:dk1>
        <a:srgbClr val="0A3D4A"/>
      </a:dk1>
      <a:lt1>
        <a:srgbClr val="FFFFFF"/>
      </a:lt1>
      <a:dk2>
        <a:srgbClr val="0E7C86"/>
      </a:dk2>
      <a:lt2>
        <a:srgbClr val="EAF7F8"/>
      </a:lt2>
      <a:accent1>
        <a:srgbClr val="FF6B5E"/>
      </a:accent1>
      <a:accent2>
        <a:srgbClr val="FFC857"/>
      </a:accent2>
      <a:accent3>
        <a:srgbClr val="2BB673"/>
      </a:accent3>
      <a:accent4>
        <a:srgbClr val="7B5EA7"/>
      </a:accent4>
      <a:accent5>
        <a:srgbClr val="3A86C8"/>
      </a:accent5>
      <a:accent6>
        <a:srgbClr val="0E7C86"/>
      </a:accent6>
      <a:hlink>
        <a:srgbClr val="3A86C8"/>
      </a:hlink>
      <a:folHlink>
        <a:srgbClr val="7B5EA7"/>
      </a:folHlink>
    </a:clrScheme>
    <a:fontScheme name="Ocean Detect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2136</Words>
  <Application>Microsoft Office PowerPoint</Application>
  <PresentationFormat>On-screen Show (16:9)</PresentationFormat>
  <Paragraphs>544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Ocean Detective</vt:lpstr>
      <vt:lpstr>REPORT DETECTIVES</vt:lpstr>
      <vt:lpstr>WHAT KIND OF WRITING IS IT?</vt:lpstr>
      <vt:lpstr>CHECK YOUR ANSWERS</vt:lpstr>
      <vt:lpstr>TODAY'S MISSION</vt:lpstr>
      <vt:lpstr>WHAT IS A NON-CHRONOLOGICAL REPORT?</vt:lpstr>
      <vt:lpstr>CHRONOLOGICAL OR NON-CHRONOLOGICAL?</vt:lpstr>
      <vt:lpstr>ANSWER</vt:lpstr>
      <vt:lpstr>FORM + PURPOSE + AUDIENCE</vt:lpstr>
      <vt:lpstr>OUR REPORT TASK</vt:lpstr>
      <vt:lpstr>OUR REPORT TASK</vt:lpstr>
      <vt:lpstr>BECOME A REPORT DETECTIVE!</vt:lpstr>
      <vt:lpstr>THE SEA TURTLE</vt:lpstr>
      <vt:lpstr>REPORT DETECTIVE CHALLENGE</vt:lpstr>
      <vt:lpstr>REPORT DETECTIVE ANSWERS</vt:lpstr>
      <vt:lpstr>THINK LIKE A WRITER</vt:lpstr>
      <vt:lpstr>ANSWER</vt:lpstr>
      <vt:lpstr>WHY PARAGRAPHS?</vt:lpstr>
      <vt:lpstr>ANSWER</vt:lpstr>
      <vt:lpstr>REPORT FEATURES</vt:lpstr>
      <vt:lpstr>MATCH THE FEATURE TO ITS PURPOSE</vt:lpstr>
      <vt:lpstr>CHECK YOUR ANSWERS</vt:lpstr>
      <vt:lpstr>PowerPoint Presentation</vt:lpstr>
      <vt:lpstr>ANSWER</vt:lpstr>
      <vt:lpstr>WHO IS THE WRITER TALKING ABOUT?</vt:lpstr>
      <vt:lpstr>ANSWER</vt:lpstr>
      <vt:lpstr>REPORT LANGUAGE</vt:lpstr>
      <vt:lpstr>ANSWER</vt:lpstr>
      <vt:lpstr>REPORT BUILDER</vt:lpstr>
      <vt:lpstr>ANSWER</vt:lpstr>
      <vt:lpstr>REPORT OR NOT?</vt:lpstr>
      <vt:lpstr>ANSWER</vt:lpstr>
      <vt:lpstr>YOUR TURN</vt:lpstr>
      <vt:lpstr>TODAY I CAN…</vt:lpstr>
      <vt:lpstr>EXIT TICKET</vt:lpstr>
      <vt:lpstr>CHECK YOUR ANSWERS</vt:lpstr>
      <vt:lpstr>RESEARCH MISSION</vt:lpstr>
      <vt:lpstr>NEXT TIME…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Detectives - Non-Chronological Reports</dc:title>
  <dc:subject>PptxGenJS Presentation</dc:subject>
  <dc:creator>PptxGenJS</dc:creator>
  <cp:lastModifiedBy>pc</cp:lastModifiedBy>
  <cp:revision>2</cp:revision>
  <dcterms:created xsi:type="dcterms:W3CDTF">2026-10-02T18:39:58Z</dcterms:created>
  <dcterms:modified xsi:type="dcterms:W3CDTF">2026-10-02T19:28:47Z</dcterms:modified>
</cp:coreProperties>
</file>