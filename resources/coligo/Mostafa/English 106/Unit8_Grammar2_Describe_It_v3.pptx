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Lst>
  <p:notesMasterIdLst>
    <p:notesMasterId r:id="rId46"/>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Start" id="{d3f8c638-6c0b-8c68-ee5c-0957a24ecb05}">
          <p14:sldIdLst>
            <p14:sldId id="256"/>
            <p14:sldId id="257"/>
            <p14:sldId id="258"/>
            <p14:sldId id="259"/>
          </p14:sldIdLst>
        </p14:section>
        <p14:section name="Teach" id="{2b350d7b-1b89-543a-9f8a-a4ffe008b8dc}">
          <p14:sldIdLst>
            <p14:sldId id="260"/>
            <p14:sldId id="261"/>
            <p14:sldId id="262"/>
            <p14:sldId id="263"/>
            <p14:sldId id="264"/>
            <p14:sldId id="265"/>
            <p14:sldId id="266"/>
          </p14:sldIdLst>
        </p14:section>
        <p14:section name="Read" id="{aab4657f-cc72-6334-9b3c-a63df1354f3b}">
          <p14:sldIdLst>
            <p14:sldId id="267"/>
            <p14:sldId id="268"/>
            <p14:sldId id="269"/>
            <p14:sldId id="270"/>
            <p14:sldId id="271"/>
            <p14:sldId id="272"/>
            <p14:sldId id="273"/>
            <p14:sldId id="274"/>
            <p14:sldId id="275"/>
            <p14:sldId id="276"/>
            <p14:sldId id="277"/>
            <p14:sldId id="278"/>
            <p14:sldId id="279"/>
          </p14:sldIdLst>
        </p14:section>
        <p14:section name="Practise" id="{23b284d1-7189-b555-6f57-3fa702348aaf}">
          <p14:sldIdLst>
            <p14:sldId id="280"/>
            <p14:sldId id="281"/>
            <p14:sldId id="282"/>
            <p14:sldId id="283"/>
            <p14:sldId id="284"/>
            <p14:sldId id="285"/>
            <p14:sldId id="286"/>
            <p14:sldId id="287"/>
            <p14:sldId id="288"/>
            <p14:sldId id="289"/>
            <p14:sldId id="290"/>
            <p14:sldId id="291"/>
            <p14:sldId id="292"/>
            <p14:sldId id="293"/>
            <p14:sldId id="294"/>
            <p14:sldId id="295"/>
          </p14:sldIdLst>
        </p14:section>
        <p14:section name="Share" id="{45214db5-e3b8-8784-c5a0-610606b5cd1b}">
          <p14:sldIdLst>
            <p14:sldId id="296"/>
            <p14:sldId id="297"/>
            <p14:sldId id="298"/>
            <p14:sldId id="299"/>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notesMaster" Target="notesMasters/notesMaster1.xml"/><Relationship Id="rId47" Type="http://schemas.openxmlformats.org/officeDocument/2006/relationships/presProps" Target="presProps.xml"/><Relationship Id="rId48" Type="http://schemas.openxmlformats.org/officeDocument/2006/relationships/viewProps" Target="viewProps.xml"/><Relationship Id="rId49" Type="http://schemas.openxmlformats.org/officeDocument/2006/relationships/theme" Target="theme/theme1.xml"/><Relationship Id="rId50"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80-minute lesson. Timings: Recap 5 | Adjectives and noun phrases 10 | Adverbs and fronted adverbials 10 | Prepositional phrases 6 | Layering and restraint 6 | Read and questions 12 | Look back at Petronas 7 | Main activity 14 | Plenary 3 | Exam practice 5 | Exit ticket and close 2 = 80.
Teacher note: this lesson follows the Unit 8 plan lessons on descriptive language for a setting. Plan objectives: R6.5B (explain how adverbs and adverbials affect the verb) and W6.5D (use adjectives, adverbs and prepositional phrases to enrich writing). Pupils name the grammar, punctuate it, explain how an adverb changes a verb, and use it in their own writing. The reading questions use short quotations from Petronas by Tina Shaw (pp. 14-15, 16-17, 22-23 and 26-27), so pupils need their copy of the book. Why an author chooses one word over another was taught in the writer's-choices lessons and is not repeated.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the objectives aloud. Stress that today is about grammar: naming the parts and punctuating them. The writer's-choices work on why an author picks a word was done in earlier lessons, so it is not repeated here. Ask pupils to show a thumb for how confident they feel, and again at the end.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 minutes. Pairs. Pupils write answers in their books. This checks the four terms needed all lesson. Answers are on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Accept any answer that is correct. If pupils miss 'frozen', remind them that an adjective can come before any noun, including 'lake'.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 minutes with the next slide. Grammar focus. Read the table. Pupils say which position each example uses. Point out the comma rule: a comma separates adjectives that each describe the noun on their own. Add the three positions to the Mind Map.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that a noun phrase can grow by adding information before the noun (adjectives) and after the noun (a prepositional phrase or an adjective phrase between commas). Read the three patterns. Ask pupils to build one more for 'the tower'.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 minutes with the next slide. This is plan objective R6.5B: how adverbs affect the verb. Read the table. Ask: what do we learn about Tulsi each time? Then show that an adverb can also describe an adjective (deeply silent). Add to the Mind Map.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fronted adverbial is an adverb or phrase placed at the front of the sentence. It sets up when, where or how before the main action. Show how the emphasis changes. The comma follows the fronted adverbial. Ask pupils to move an adverbial in their own sentence.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that the preposition you choose changes the picture the reader sees. A prepositional phrase often works as an adverbial because it tells us where, when or how. Read the table together. Ask pupils to swap the preposition in one example and say what changes.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Build the sentence on the board one rung at a time. Pupils say what was added each time. Rung 5 is a decision: does it keep one clear mood? Link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Show the left box. Ask: what is wrong? Pupils notice the repeated, weak words. Show the right box. Make the point that one exact word beats three weak ones, and that each detail should add to the same mood.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Pupils use their own copy of the book. Read the pages aloud together first (pp. 14-17 and pp. 22-27), then pupils answer six questions in their books. 12 minutes in total. The grammar is practised on the author's own description of the setting.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minutes. Pupils write in their books. Then reveal the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pupils to find the other adjectives in the sentence.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minutes. Pupils write in their books. Then reveal the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Point out that 'away' is an adverb describing the verb 'stretched'.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minutes. Pupils write in their books. Then reveal the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Accept 'to it' for 'over to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minutes. Pupils write in their books. Then reveal the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Link back to the 'Expanded noun phrases'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minutes. Pupils write in their books. Then reveal the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pupils to try 'heavily' and say what changes.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minutes. Pupils write in their books. Then reveal the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Accept 'adverbial of place' for the second mark.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14 minutes in total for Tasks 1 to 3. Task 1 takes 4 minutes. Pairs say what each underlined part is. Choose from: fronted adverbial, adjective phrase after a noun, prepositional phrase, adverb describing an adjective, adverb describing a verb. Answers are on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Accept any correct label. Check pupils say which word the adverb describes.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Pupils rewrite the flat paragraph in their books for a mysterious mood. They then label the features with three colours. Support: give a word bank of fronted adverbials and prepositions. Challenge: add a relative clause beginning with 'where' or 'which'.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Check each feature against the checklist. Fronted adverbials: Beyond the long grass, / Between the pale walls, / Suddenly, / above the roofs,. Prepositional phrases: beyond the long grass, from the desert, between the pale walls, through the courtyards, beside it, on the stone, above the roofs. Expanded noun phrase: a tall tower, strangely silent,. Adverbs: slowly (describes wound), strangely (describes silent).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pupils who finish early. Each sentence has one mistake in punctuation or word class. Pupils correct it and say what rule they used. Answers are on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Accept any correct edit with the rule. In sentence 4, any edit that keeps one or two exact words and removes the repeated weak ones is correct.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 minutes. Pupils show a green card (true) or a red card (false) and give a reason. Answers are on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Pick out the two false answers and ask pupils to correct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1 minute per mark. Pupils write in their books. Reveal the answer slide, then pupils mark and write the mark.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why it is not 'forest'.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1 minute per mark. Pupils write in their books. Reveal the answer slide, then pupils mark and write the mark.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pupils what kind of phrase it is (a prepositional phrase).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1 minute per mark. Pupils write in their books. Reveal the answer slide, then pupils mark and write the mark.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Without the adverb we only know he opened the door.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1 minute per mark. Pupils write in their books. Reveal the answer slide, then pupils mark and write the mark.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Both features need to be in the same sentence for 2 marks.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Pupils write on a sticky note and hand it 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strong answer has a comma after the fronted adverbial and names the features correctly.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Give out a printed copy of this slide. Collect it at the start of the next lesson. Pupils should colour-code their 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Thumbs check: pupils show their confidence again. Collect exit tickets.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_DARK">
    <p:bg>
      <p:bgPr>
        <a:solidFill>
          <a:srgbClr val="1F1B3A"/>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640080" y="1371600"/>
            <a:ext cx="5120640" cy="1371600"/>
          </a:xfrm>
          <a:prstGeom prst="rect">
            <a:avLst/>
          </a:prstGeom>
          <a:noFill/>
          <a:ln/>
        </p:spPr>
        <p:txBody>
          <a:bodyPr wrap="square" rtlCol="0"/>
          <a:lstStyle>
            <a:lvl1pPr algn="l" indent="0" marL="0">
              <a:buNone/>
              <a:defRPr lang="en-US" sz="4400" b="1" dirty="0">
                <a:solidFill>
                  <a:schemeClr val="bg1"/>
                </a:solidFill>
              </a:defRPr>
            </a:lvl1pPr>
          </a:lstStyle>
          <a:p>
            <a:pPr algn="l" indent="0" marL="0">
              <a:buNone/>
            </a:pPr>
            <a:endParaRPr lang="en-US" sz="4400" dirty="0"/>
          </a:p>
        </p:txBody>
      </p:sp>
      <p:sp>
        <p:nvSpPr>
          <p:cNvPr id="3" name="Text 0"/>
          <p:cNvSpPr/>
          <p:nvPr>
            <p:ph idx="101" type="body" hasCustomPrompt="1"/>
          </p:nvPr>
        </p:nvSpPr>
        <p:spPr>
          <a:xfrm>
            <a:off x="640080" y="2926080"/>
            <a:ext cx="5120640" cy="1097280"/>
          </a:xfrm>
          <a:prstGeom prst="rect">
            <a:avLst/>
          </a:prstGeom>
          <a:noFill/>
          <a:ln/>
        </p:spPr>
        <p:txBody>
          <a:bodyPr wrap="square" rtlCol="0"/>
          <a:lstStyle>
            <a:lvl1pPr indent="0" marL="0">
              <a:buNone/>
              <a:defRPr lang="en-US" sz="1800" dirty="0">
                <a:solidFill>
                  <a:schemeClr val="accent1"/>
                </a:solidFill>
              </a:defRPr>
            </a:lvl1pPr>
          </a:lstStyle>
          <a:p>
            <a:pPr indent="0" marL="0">
              <a:buNone/>
            </a:pPr>
            <a:endParaRPr lang="en-US" sz="18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ECTION_DARK">
    <p:bg>
      <p:bgPr>
        <a:solidFill>
          <a:srgbClr val="3B2F63"/>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640080" y="1737360"/>
            <a:ext cx="7863840" cy="1005840"/>
          </a:xfrm>
          <a:prstGeom prst="rect">
            <a:avLst/>
          </a:prstGeom>
          <a:noFill/>
          <a:ln/>
        </p:spPr>
        <p:txBody>
          <a:bodyPr wrap="square" rtlCol="0"/>
          <a:lstStyle>
            <a:lvl1pPr algn="l" indent="0" marL="0">
              <a:buNone/>
              <a:defRPr lang="en-US" sz="4000" b="1" dirty="0">
                <a:solidFill>
                  <a:schemeClr val="bg1"/>
                </a:solidFill>
              </a:defRPr>
            </a:lvl1pPr>
          </a:lstStyle>
          <a:p>
            <a:pPr algn="l" indent="0" marL="0">
              <a:buNone/>
            </a:pPr>
            <a:endParaRPr lang="en-US" sz="4000" dirty="0"/>
          </a:p>
        </p:txBody>
      </p:sp>
      <p:sp>
        <p:nvSpPr>
          <p:cNvPr id="3" name="Text 0"/>
          <p:cNvSpPr/>
          <p:nvPr>
            <p:ph idx="101" type="body" hasCustomPrompt="1"/>
          </p:nvPr>
        </p:nvSpPr>
        <p:spPr>
          <a:xfrm>
            <a:off x="640080" y="2788920"/>
            <a:ext cx="7863840" cy="731520"/>
          </a:xfrm>
          <a:prstGeom prst="rect">
            <a:avLst/>
          </a:prstGeom>
          <a:noFill/>
          <a:ln/>
        </p:spPr>
        <p:txBody>
          <a:bodyPr wrap="square" rtlCol="0"/>
          <a:lstStyle>
            <a:lvl1pPr indent="0" marL="0">
              <a:buNone/>
              <a:defRPr lang="en-US" sz="1800" dirty="0">
                <a:solidFill>
                  <a:schemeClr val="accent1"/>
                </a:solidFill>
              </a:defRPr>
            </a:lvl1pPr>
          </a:lstStyle>
          <a:p>
            <a:pPr indent="0" marL="0">
              <a:buNone/>
            </a:pPr>
            <a:endParaRPr lang="en-US" sz="1800"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8046720" cy="731520"/>
          </a:xfrm>
          <a:prstGeom prst="rect">
            <a:avLst/>
          </a:prstGeom>
          <a:noFill/>
          <a:ln/>
        </p:spPr>
        <p:txBody>
          <a:bodyPr wrap="square" rtlCol="0"/>
          <a:lstStyle>
            <a:lvl1pPr algn="l" indent="0" marL="0">
              <a:buNone/>
              <a:defRPr lang="en-US" sz="3000" b="1" dirty="0">
                <a:solidFill>
                  <a:schemeClr val="tx1"/>
                </a:solidFill>
              </a:defRPr>
            </a:lvl1pPr>
          </a:lstStyle>
          <a:p>
            <a:pPr algn="l" indent="0" marL="0">
              <a:buNone/>
            </a:pPr>
            <a:endParaRPr lang="en-US" sz="3000" dirty="0"/>
          </a:p>
        </p:txBody>
      </p:sp>
      <p:sp>
        <p:nvSpPr>
          <p:cNvPr id="3" name="Text 0"/>
          <p:cNvSpPr/>
          <p:nvPr/>
        </p:nvSpPr>
        <p:spPr>
          <a:xfrm>
            <a:off x="548640" y="4736592"/>
            <a:ext cx="4572000" cy="274320"/>
          </a:xfrm>
          <a:prstGeom prst="rect">
            <a:avLst/>
          </a:prstGeom>
          <a:noFill/>
          <a:ln/>
        </p:spPr>
        <p:txBody>
          <a:bodyPr wrap="square" lIns="0" tIns="0" rIns="0" bIns="0" rtlCol="0" anchor="ctr"/>
          <a:lstStyle/>
          <a:p>
            <a:pPr indent="0" marL="0">
              <a:buNone/>
            </a:pPr>
            <a:r>
              <a:rPr lang="en-US" sz="1000" dirty="0">
                <a:solidFill>
                  <a:srgbClr val="6B6784"/>
                </a:solidFill>
              </a:rPr>
              <a:t>Year 6 English  |  Unit 8  |  Grammar</a:t>
            </a:r>
            <a:endParaRPr lang="en-US" sz="1000" dirty="0"/>
          </a:p>
        </p:txBody>
      </p:sp>
      <p:sp>
        <p:nvSpPr>
          <p:cNvPr id="25" name="Slide Number Placeholder 0"/>
          <p:cNvSpPr>
            <a:spLocks noGrp="1"/>
          </p:cNvSpPr>
          <p:nvPr>
            <p:ph type="sldNum" sz="quarter" idx="4294967295"/>
          </p:nvPr>
        </p:nvSpPr>
        <p:spPr>
          <a:xfrm>
            <a:off x="8229600" y="4736592"/>
            <a:ext cx="36576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6784"/>
                </a:solidFill>
              </a:defRPr>
            </a:lvl1pPr>
          </a:lstStyle>
          <a:p>
            <a:pPr algn="l"/>
            <a:fld id="{F7021451-1387-4CA6-816F-3879F97B5CBC}" type="slidenum">
              <a:rPr b="0" lang="en-US"/>
              <a:t>1004</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229600" y="4736592"/>
            <a:ext cx="36576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6784"/>
                </a:solidFill>
              </a:defRPr>
            </a:lvl1pPr>
          </a:lstStyle>
          <a:p>
            <a:pPr algn="l"/>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slideLayout" Target="../slideLayouts/slideLayout4.xml"/><Relationship Id="rId5"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slideLayout" Target="../slideLayouts/slideLayout4.xml"/><Relationship Id="rId6"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image" Target="../media/image-41-1.png"/><Relationship Id="rId2" Type="http://schemas.openxmlformats.org/officeDocument/2006/relationships/image" Target="../media/image-41-2.png"/><Relationship Id="rId3" Type="http://schemas.openxmlformats.org/officeDocument/2006/relationships/image" Target="../media/image-41-3.png"/><Relationship Id="rId4" Type="http://schemas.openxmlformats.org/officeDocument/2006/relationships/slideLayout" Target="../slideLayouts/slideLayout4.xml"/><Relationship Id="rId5"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image" Target="../media/image-44-1.png"/><Relationship Id="rId2" Type="http://schemas.openxmlformats.org/officeDocument/2006/relationships/slideLayout" Target="../slideLayouts/slideLayout2.xml"/><Relationship Id="rId3" Type="http://schemas.openxmlformats.org/officeDocument/2006/relationships/notesSlide" Target="../notesSlides/notesSlide44.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640080" y="1371600"/>
            <a:ext cx="5120640" cy="1371600"/>
          </a:xfrm>
          <a:prstGeom prst="rect">
            <a:avLst/>
          </a:prstGeom>
          <a:noFill/>
          <a:ln/>
        </p:spPr>
        <p:txBody>
          <a:bodyPr wrap="square" lIns="0" tIns="0" rIns="0" bIns="0" rtlCol="0" anchor="b"/>
          <a:lstStyle/>
          <a:p>
            <a:pPr algn="l" indent="0" marL="0">
              <a:buNone/>
            </a:pPr>
            <a:r>
              <a:rPr lang="en-US" sz="4400" b="1" dirty="0">
                <a:solidFill>
                  <a:schemeClr val="bg1"/>
                </a:solidFill>
              </a:rPr>
              <a:t>Describe It</a:t>
            </a:r>
            <a:endParaRPr lang="en-US" sz="4400" dirty="0"/>
          </a:p>
        </p:txBody>
      </p:sp>
      <p:sp>
        <p:nvSpPr>
          <p:cNvPr id="3" name="Text 0"/>
          <p:cNvSpPr/>
          <p:nvPr>
            <p:ph idx="101" type="body" hasCustomPrompt="1"/>
          </p:nvPr>
        </p:nvSpPr>
        <p:spPr>
          <a:xfrm>
            <a:off x="640080" y="2926080"/>
            <a:ext cx="5120640" cy="1097280"/>
          </a:xfrm>
          <a:prstGeom prst="rect">
            <a:avLst/>
          </a:prstGeom>
          <a:noFill/>
          <a:ln/>
        </p:spPr>
        <p:txBody>
          <a:bodyPr wrap="square" lIns="0" tIns="0" rIns="0" bIns="0" rtlCol="0" anchor="t"/>
          <a:lstStyle/>
          <a:p>
            <a:pPr indent="0" marL="0">
              <a:buNone/>
            </a:pPr>
            <a:r>
              <a:rPr lang="en-US" sz="1800" dirty="0">
                <a:solidFill>
                  <a:schemeClr val="accent1"/>
                </a:solidFill>
              </a:rPr>
              <a:t>Unit 8 | Grammar</a:t>
            </a:r>
            <a:endParaRPr lang="en-US" sz="1800" dirty="0"/>
          </a:p>
          <a:p>
            <a:pPr indent="0" marL="0">
              <a:buNone/>
            </a:pPr>
            <a:r>
              <a:rPr lang="en-US" sz="1800" dirty="0">
                <a:solidFill>
                  <a:schemeClr val="accent1"/>
                </a:solidFill>
              </a:rPr>
              <a:t>Noun phrases, adverbials and prepositional phrases</a:t>
            </a:r>
            <a:endParaRPr lang="en-US" sz="1800" dirty="0"/>
          </a:p>
        </p:txBody>
      </p:sp>
      <p:sp>
        <p:nvSpPr>
          <p:cNvPr id="4" name="motif circle"/>
          <p:cNvSpPr/>
          <p:nvPr/>
        </p:nvSpPr>
        <p:spPr>
          <a:xfrm>
            <a:off x="6126480" y="1097280"/>
            <a:ext cx="2468880" cy="2468880"/>
          </a:xfrm>
          <a:prstGeom prst="ellipse">
            <a:avLst/>
          </a:prstGeom>
          <a:solidFill>
            <a:schemeClr val="tx2"/>
          </a:solidFill>
          <a:ln w="12700">
            <a:solidFill>
              <a:schemeClr val="tx2"/>
            </a:solidFill>
            <a:prstDash val="solid"/>
          </a:ln>
        </p:spPr>
      </p:sp>
      <p:pic>
        <p:nvPicPr>
          <p:cNvPr id="5" name="city" descr="city">    </p:cNvPr>
          <p:cNvPicPr>
            <a:picLocks noChangeAspect="1"/>
          </p:cNvPicPr>
          <p:nvPr/>
        </p:nvPicPr>
        <p:blipFill>
          <a:blip r:embed="rId1"/>
          <a:stretch>
            <a:fillRect/>
          </a:stretch>
        </p:blipFill>
        <p:spPr>
          <a:xfrm>
            <a:off x="6675120" y="1645920"/>
            <a:ext cx="1371600" cy="137160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8046720" cy="731520"/>
          </a:xfrm>
          <a:prstGeom prst="rect">
            <a:avLst/>
          </a:prstGeom>
          <a:noFill/>
          <a:ln/>
        </p:spPr>
        <p:txBody>
          <a:bodyPr wrap="square" lIns="0" tIns="0" rIns="0" bIns="0" rtlCol="0" anchor="ctr"/>
          <a:lstStyle/>
          <a:p>
            <a:pPr algn="l" indent="0" marL="0">
              <a:buNone/>
            </a:pPr>
            <a:r>
              <a:rPr lang="en-US" sz="3000" b="1" dirty="0">
                <a:solidFill>
                  <a:schemeClr val="tx1"/>
                </a:solidFill>
              </a:rPr>
              <a:t>Today we will</a:t>
            </a:r>
            <a:endParaRPr lang="en-US" sz="3000" dirty="0"/>
          </a:p>
        </p:txBody>
      </p:sp>
      <p:sp>
        <p:nvSpPr>
          <p:cNvPr id="4" name="card"/>
          <p:cNvSpPr/>
          <p:nvPr/>
        </p:nvSpPr>
        <p:spPr>
          <a:xfrm>
            <a:off x="548640" y="1188720"/>
            <a:ext cx="2560320" cy="3200400"/>
          </a:xfrm>
          <a:prstGeom prst="roundRect">
            <a:avLst>
              <a:gd name="adj" fmla="val 4286"/>
            </a:avLst>
          </a:prstGeom>
          <a:solidFill>
            <a:schemeClr val="bg2"/>
          </a:solidFill>
          <a:ln w="12700">
            <a:solidFill>
              <a:schemeClr val="bg2"/>
            </a:solidFill>
            <a:prstDash val="solid"/>
          </a:ln>
        </p:spPr>
      </p:sp>
      <p:sp>
        <p:nvSpPr>
          <p:cNvPr id="5" name="badge"/>
          <p:cNvSpPr/>
          <p:nvPr/>
        </p:nvSpPr>
        <p:spPr>
          <a:xfrm>
            <a:off x="1371600" y="1463040"/>
            <a:ext cx="914400" cy="914400"/>
          </a:xfrm>
          <a:prstGeom prst="ellipse">
            <a:avLst/>
          </a:prstGeom>
          <a:solidFill>
            <a:schemeClr val="accent4"/>
          </a:solidFill>
          <a:ln w="12700">
            <a:solidFill>
              <a:schemeClr val="accent4"/>
            </a:solidFill>
            <a:prstDash val="solid"/>
          </a:ln>
        </p:spPr>
      </p:sp>
      <p:pic>
        <p:nvPicPr>
          <p:cNvPr id="6" name="icon" descr="search">    </p:cNvPr>
          <p:cNvPicPr>
            <a:picLocks noChangeAspect="1"/>
          </p:cNvPicPr>
          <p:nvPr/>
        </p:nvPicPr>
        <p:blipFill>
          <a:blip r:embed="rId1"/>
          <a:stretch>
            <a:fillRect/>
          </a:stretch>
        </p:blipFill>
        <p:spPr>
          <a:xfrm>
            <a:off x="1609344" y="1700784"/>
            <a:ext cx="438912" cy="438912"/>
          </a:xfrm>
          <a:prstGeom prst="rect">
            <a:avLst/>
          </a:prstGeom>
        </p:spPr>
      </p:pic>
      <p:sp>
        <p:nvSpPr>
          <p:cNvPr id="7" name="Text 3"/>
          <p:cNvSpPr txBox="1"/>
          <p:nvPr/>
        </p:nvSpPr>
        <p:spPr>
          <a:xfrm>
            <a:off x="731520" y="2560320"/>
            <a:ext cx="2194560" cy="457200"/>
          </a:xfrm>
          <a:prstGeom prst="rect">
            <a:avLst/>
          </a:prstGeom>
          <a:noFill/>
          <a:ln/>
        </p:spPr>
        <p:txBody>
          <a:bodyPr wrap="square" lIns="0" tIns="0" rIns="0" bIns="0" rtlCol="0" anchor="t"/>
          <a:lstStyle/>
          <a:p>
            <a:pPr algn="ctr" indent="0" marL="0">
              <a:buNone/>
            </a:pPr>
            <a:r>
              <a:rPr lang="en-US" sz="2000" b="1" dirty="0">
                <a:solidFill>
                  <a:schemeClr val="tx1"/>
                </a:solidFill>
              </a:rPr>
              <a:t>Identify</a:t>
            </a:r>
            <a:endParaRPr lang="en-US" sz="2000" dirty="0"/>
          </a:p>
        </p:txBody>
      </p:sp>
      <p:sp>
        <p:nvSpPr>
          <p:cNvPr id="8" name="Text 4"/>
          <p:cNvSpPr txBox="1"/>
          <p:nvPr/>
        </p:nvSpPr>
        <p:spPr>
          <a:xfrm>
            <a:off x="777240" y="3108960"/>
            <a:ext cx="2103120" cy="1097280"/>
          </a:xfrm>
          <a:prstGeom prst="rect">
            <a:avLst/>
          </a:prstGeom>
          <a:noFill/>
          <a:ln/>
        </p:spPr>
        <p:txBody>
          <a:bodyPr wrap="square" lIns="0" tIns="0" rIns="0" bIns="0" rtlCol="0" anchor="t"/>
          <a:lstStyle/>
          <a:p>
            <a:pPr algn="ctr" indent="0" marL="0">
              <a:buNone/>
            </a:pPr>
            <a:r>
              <a:rPr lang="en-US" sz="1500" dirty="0">
                <a:solidFill>
                  <a:schemeClr val="tx1"/>
                </a:solidFill>
              </a:rPr>
              <a:t>I can find adjectives, adverbs, adverbials and prepositional phrases in a text.</a:t>
            </a:r>
            <a:endParaRPr lang="en-US" sz="1500" dirty="0"/>
          </a:p>
        </p:txBody>
      </p:sp>
      <p:sp>
        <p:nvSpPr>
          <p:cNvPr id="9" name="card"/>
          <p:cNvSpPr/>
          <p:nvPr/>
        </p:nvSpPr>
        <p:spPr>
          <a:xfrm>
            <a:off x="3291840" y="1188720"/>
            <a:ext cx="2560320" cy="3200400"/>
          </a:xfrm>
          <a:prstGeom prst="roundRect">
            <a:avLst>
              <a:gd name="adj" fmla="val 4286"/>
            </a:avLst>
          </a:prstGeom>
          <a:solidFill>
            <a:schemeClr val="bg2"/>
          </a:solidFill>
          <a:ln w="12700">
            <a:solidFill>
              <a:schemeClr val="bg2"/>
            </a:solidFill>
            <a:prstDash val="solid"/>
          </a:ln>
        </p:spPr>
      </p:sp>
      <p:sp>
        <p:nvSpPr>
          <p:cNvPr id="10" name="badge"/>
          <p:cNvSpPr/>
          <p:nvPr/>
        </p:nvSpPr>
        <p:spPr>
          <a:xfrm>
            <a:off x="4114800" y="1463040"/>
            <a:ext cx="914400" cy="914400"/>
          </a:xfrm>
          <a:prstGeom prst="ellipse">
            <a:avLst/>
          </a:prstGeom>
          <a:solidFill>
            <a:schemeClr val="accent2"/>
          </a:solidFill>
          <a:ln w="12700">
            <a:solidFill>
              <a:schemeClr val="accent2"/>
            </a:solidFill>
            <a:prstDash val="solid"/>
          </a:ln>
        </p:spPr>
      </p:sp>
      <p:pic>
        <p:nvPicPr>
          <p:cNvPr id="11" name="icon" descr="brain">    </p:cNvPr>
          <p:cNvPicPr>
            <a:picLocks noChangeAspect="1"/>
          </p:cNvPicPr>
          <p:nvPr/>
        </p:nvPicPr>
        <p:blipFill>
          <a:blip r:embed="rId2"/>
          <a:stretch>
            <a:fillRect/>
          </a:stretch>
        </p:blipFill>
        <p:spPr>
          <a:xfrm>
            <a:off x="4352544" y="1700784"/>
            <a:ext cx="438912" cy="438912"/>
          </a:xfrm>
          <a:prstGeom prst="rect">
            <a:avLst/>
          </a:prstGeom>
        </p:spPr>
      </p:pic>
      <p:sp>
        <p:nvSpPr>
          <p:cNvPr id="12" name="Text 7"/>
          <p:cNvSpPr txBox="1"/>
          <p:nvPr/>
        </p:nvSpPr>
        <p:spPr>
          <a:xfrm>
            <a:off x="3474720" y="2560320"/>
            <a:ext cx="2194560" cy="457200"/>
          </a:xfrm>
          <a:prstGeom prst="rect">
            <a:avLst/>
          </a:prstGeom>
          <a:noFill/>
          <a:ln/>
        </p:spPr>
        <p:txBody>
          <a:bodyPr wrap="square" lIns="0" tIns="0" rIns="0" bIns="0" rtlCol="0" anchor="t"/>
          <a:lstStyle/>
          <a:p>
            <a:pPr algn="ctr" indent="0" marL="0">
              <a:buNone/>
            </a:pPr>
            <a:r>
              <a:rPr lang="en-US" sz="2000" b="1" dirty="0">
                <a:solidFill>
                  <a:schemeClr val="tx1"/>
                </a:solidFill>
              </a:rPr>
              <a:t>Explain</a:t>
            </a:r>
            <a:endParaRPr lang="en-US" sz="2000" dirty="0"/>
          </a:p>
        </p:txBody>
      </p:sp>
      <p:sp>
        <p:nvSpPr>
          <p:cNvPr id="13" name="Text 8"/>
          <p:cNvSpPr txBox="1"/>
          <p:nvPr/>
        </p:nvSpPr>
        <p:spPr>
          <a:xfrm>
            <a:off x="3520440" y="3108960"/>
            <a:ext cx="2103120" cy="1097280"/>
          </a:xfrm>
          <a:prstGeom prst="rect">
            <a:avLst/>
          </a:prstGeom>
          <a:noFill/>
          <a:ln/>
        </p:spPr>
        <p:txBody>
          <a:bodyPr wrap="square" lIns="0" tIns="0" rIns="0" bIns="0" rtlCol="0" anchor="t"/>
          <a:lstStyle/>
          <a:p>
            <a:pPr algn="ctr" indent="0" marL="0">
              <a:buNone/>
            </a:pPr>
            <a:r>
              <a:rPr lang="en-US" sz="1500" dirty="0">
                <a:solidFill>
                  <a:schemeClr val="tx1"/>
                </a:solidFill>
              </a:rPr>
              <a:t>I can name the grammar and explain how an adverb changes a verb.</a:t>
            </a:r>
            <a:endParaRPr lang="en-US" sz="1500" dirty="0"/>
          </a:p>
        </p:txBody>
      </p:sp>
      <p:sp>
        <p:nvSpPr>
          <p:cNvPr id="14" name="card"/>
          <p:cNvSpPr/>
          <p:nvPr/>
        </p:nvSpPr>
        <p:spPr>
          <a:xfrm>
            <a:off x="6035040" y="1188720"/>
            <a:ext cx="2560320" cy="3200400"/>
          </a:xfrm>
          <a:prstGeom prst="roundRect">
            <a:avLst>
              <a:gd name="adj" fmla="val 4286"/>
            </a:avLst>
          </a:prstGeom>
          <a:solidFill>
            <a:schemeClr val="bg2"/>
          </a:solidFill>
          <a:ln w="12700">
            <a:solidFill>
              <a:schemeClr val="bg2"/>
            </a:solidFill>
            <a:prstDash val="solid"/>
          </a:ln>
        </p:spPr>
      </p:sp>
      <p:sp>
        <p:nvSpPr>
          <p:cNvPr id="15" name="badge"/>
          <p:cNvSpPr/>
          <p:nvPr/>
        </p:nvSpPr>
        <p:spPr>
          <a:xfrm>
            <a:off x="6858000" y="1463040"/>
            <a:ext cx="914400" cy="914400"/>
          </a:xfrm>
          <a:prstGeom prst="ellipse">
            <a:avLst/>
          </a:prstGeom>
          <a:solidFill>
            <a:schemeClr val="accent3"/>
          </a:solidFill>
          <a:ln w="12700">
            <a:solidFill>
              <a:schemeClr val="accent3"/>
            </a:solidFill>
            <a:prstDash val="solid"/>
          </a:ln>
        </p:spPr>
      </p:sp>
      <p:pic>
        <p:nvPicPr>
          <p:cNvPr id="16" name="icon" descr="pencil">    </p:cNvPr>
          <p:cNvPicPr>
            <a:picLocks noChangeAspect="1"/>
          </p:cNvPicPr>
          <p:nvPr/>
        </p:nvPicPr>
        <p:blipFill>
          <a:blip r:embed="rId3"/>
          <a:stretch>
            <a:fillRect/>
          </a:stretch>
        </p:blipFill>
        <p:spPr>
          <a:xfrm>
            <a:off x="7095744" y="1700784"/>
            <a:ext cx="438912" cy="438912"/>
          </a:xfrm>
          <a:prstGeom prst="rect">
            <a:avLst/>
          </a:prstGeom>
        </p:spPr>
      </p:pic>
      <p:sp>
        <p:nvSpPr>
          <p:cNvPr id="17" name="Text 11"/>
          <p:cNvSpPr txBox="1"/>
          <p:nvPr/>
        </p:nvSpPr>
        <p:spPr>
          <a:xfrm>
            <a:off x="6217920" y="2560320"/>
            <a:ext cx="2194560" cy="457200"/>
          </a:xfrm>
          <a:prstGeom prst="rect">
            <a:avLst/>
          </a:prstGeom>
          <a:noFill/>
          <a:ln/>
        </p:spPr>
        <p:txBody>
          <a:bodyPr wrap="square" lIns="0" tIns="0" rIns="0" bIns="0" rtlCol="0" anchor="t"/>
          <a:lstStyle/>
          <a:p>
            <a:pPr algn="ctr" indent="0" marL="0">
              <a:buNone/>
            </a:pPr>
            <a:r>
              <a:rPr lang="en-US" sz="2000" b="1" dirty="0">
                <a:solidFill>
                  <a:schemeClr val="tx1"/>
                </a:solidFill>
              </a:rPr>
              <a:t>Write</a:t>
            </a:r>
            <a:endParaRPr lang="en-US" sz="2000" dirty="0"/>
          </a:p>
        </p:txBody>
      </p:sp>
      <p:sp>
        <p:nvSpPr>
          <p:cNvPr id="18" name="Text 12"/>
          <p:cNvSpPr txBox="1"/>
          <p:nvPr/>
        </p:nvSpPr>
        <p:spPr>
          <a:xfrm>
            <a:off x="6263640" y="3108960"/>
            <a:ext cx="2103120" cy="1097280"/>
          </a:xfrm>
          <a:prstGeom prst="rect">
            <a:avLst/>
          </a:prstGeom>
          <a:noFill/>
          <a:ln/>
        </p:spPr>
        <p:txBody>
          <a:bodyPr wrap="square" lIns="0" tIns="0" rIns="0" bIns="0" rtlCol="0" anchor="t"/>
          <a:lstStyle/>
          <a:p>
            <a:pPr algn="ctr" indent="0" marL="0">
              <a:buNone/>
            </a:pPr>
            <a:r>
              <a:rPr lang="en-US" sz="1500" dirty="0">
                <a:solidFill>
                  <a:schemeClr val="tx1"/>
                </a:solidFill>
              </a:rPr>
              <a:t>I can use them correctly, with the right commas, to describe a setting.</a:t>
            </a:r>
            <a:endParaRPr lang="en-US" sz="1500" dirty="0"/>
          </a:p>
        </p:txBody>
      </p:sp>
      <p:sp>
        <p:nvSpPr>
          <p:cNvPr id="25" name="Slide Number Placeholder 0"/>
          <p:cNvSpPr>
            <a:spLocks noGrp="1"/>
          </p:cNvSpPr>
          <p:nvPr>
            <p:ph type="sldNum" sz="quarter" idx="4294967295"/>
          </p:nvPr>
        </p:nvSpPr>
        <p:spPr>
          <a:xfrm>
            <a:off x="8229600" y="4736592"/>
            <a:ext cx="36576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6784"/>
                </a:solidFill>
              </a:defRPr>
            </a:lvl1pPr>
          </a:lstStyle>
          <a:p>
            <a:pPr algn="l"/>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8046720" cy="731520"/>
          </a:xfrm>
          <a:prstGeom prst="rect">
            <a:avLst/>
          </a:prstGeom>
          <a:noFill/>
          <a:ln/>
        </p:spPr>
        <p:txBody>
          <a:bodyPr wrap="square" lIns="0" tIns="0" rIns="0" bIns="0" rtlCol="0" anchor="ctr"/>
          <a:lstStyle/>
          <a:p>
            <a:pPr algn="l" indent="0" marL="0">
              <a:buNone/>
            </a:pPr>
            <a:r>
              <a:rPr lang="en-US" sz="3000" b="1" dirty="0">
                <a:solidFill>
                  <a:schemeClr val="tx1"/>
                </a:solidFill>
              </a:rPr>
              <a:t>Quick sort</a:t>
            </a:r>
            <a:endParaRPr lang="en-US" sz="3000" dirty="0"/>
          </a:p>
        </p:txBody>
      </p:sp>
      <p:sp>
        <p:nvSpPr>
          <p:cNvPr id="4" name="card"/>
          <p:cNvSpPr/>
          <p:nvPr/>
        </p:nvSpPr>
        <p:spPr>
          <a:xfrm>
            <a:off x="548640" y="1097280"/>
            <a:ext cx="8046720" cy="777240"/>
          </a:xfrm>
          <a:prstGeom prst="roundRect">
            <a:avLst>
              <a:gd name="adj" fmla="val 14118"/>
            </a:avLst>
          </a:prstGeom>
          <a:solidFill>
            <a:schemeClr val="bg2"/>
          </a:solidFill>
          <a:ln w="12700">
            <a:solidFill>
              <a:schemeClr val="bg2"/>
            </a:solidFill>
            <a:prstDash val="solid"/>
          </a:ln>
        </p:spPr>
      </p:sp>
      <p:sp>
        <p:nvSpPr>
          <p:cNvPr id="5" name="badge"/>
          <p:cNvSpPr/>
          <p:nvPr/>
        </p:nvSpPr>
        <p:spPr>
          <a:xfrm>
            <a:off x="685800" y="1211580"/>
            <a:ext cx="548640" cy="548640"/>
          </a:xfrm>
          <a:prstGeom prst="ellipse">
            <a:avLst/>
          </a:prstGeom>
          <a:solidFill>
            <a:schemeClr val="accent4"/>
          </a:solidFill>
          <a:ln w="12700">
            <a:solidFill>
              <a:schemeClr val="accent4"/>
            </a:solidFill>
            <a:prstDash val="solid"/>
          </a:ln>
        </p:spPr>
      </p:sp>
      <p:pic>
        <p:nvPicPr>
          <p:cNvPr id="6" name="icon" descr="question">    </p:cNvPr>
          <p:cNvPicPr>
            <a:picLocks noChangeAspect="1"/>
          </p:cNvPicPr>
          <p:nvPr/>
        </p:nvPicPr>
        <p:blipFill>
          <a:blip r:embed="rId1"/>
          <a:stretch>
            <a:fillRect/>
          </a:stretch>
        </p:blipFill>
        <p:spPr>
          <a:xfrm>
            <a:off x="828446" y="1354226"/>
            <a:ext cx="263347" cy="263347"/>
          </a:xfrm>
          <a:prstGeom prst="rect">
            <a:avLst/>
          </a:prstGeom>
        </p:spPr>
      </p:pic>
      <p:sp>
        <p:nvSpPr>
          <p:cNvPr id="7" name="Text 3"/>
          <p:cNvSpPr txBox="1"/>
          <p:nvPr/>
        </p:nvSpPr>
        <p:spPr>
          <a:xfrm>
            <a:off x="1463040" y="1097280"/>
            <a:ext cx="6949440" cy="777240"/>
          </a:xfrm>
          <a:prstGeom prst="rect">
            <a:avLst/>
          </a:prstGeom>
          <a:noFill/>
          <a:ln/>
        </p:spPr>
        <p:txBody>
          <a:bodyPr wrap="square" lIns="0" tIns="0" rIns="0" bIns="0" rtlCol="0" anchor="ctr"/>
          <a:lstStyle/>
          <a:p>
            <a:pPr indent="0" marL="0">
              <a:buNone/>
            </a:pPr>
            <a:r>
              <a:rPr lang="en-US" sz="1600" dirty="0">
                <a:solidFill>
                  <a:schemeClr val="tx1"/>
                </a:solidFill>
              </a:rPr>
              <a:t>Sentence: 'Beside the frozen lake, a silver dragon slept peacefully.' Find the two adjectives.</a:t>
            </a:r>
            <a:endParaRPr lang="en-US" sz="1600" dirty="0"/>
          </a:p>
        </p:txBody>
      </p:sp>
      <p:sp>
        <p:nvSpPr>
          <p:cNvPr id="8" name="card"/>
          <p:cNvSpPr/>
          <p:nvPr/>
        </p:nvSpPr>
        <p:spPr>
          <a:xfrm>
            <a:off x="548640" y="2011680"/>
            <a:ext cx="8046720" cy="777240"/>
          </a:xfrm>
          <a:prstGeom prst="roundRect">
            <a:avLst>
              <a:gd name="adj" fmla="val 14118"/>
            </a:avLst>
          </a:prstGeom>
          <a:solidFill>
            <a:schemeClr val="bg2"/>
          </a:solidFill>
          <a:ln w="12700">
            <a:solidFill>
              <a:schemeClr val="bg2"/>
            </a:solidFill>
            <a:prstDash val="solid"/>
          </a:ln>
        </p:spPr>
      </p:sp>
      <p:sp>
        <p:nvSpPr>
          <p:cNvPr id="9" name="badge"/>
          <p:cNvSpPr/>
          <p:nvPr/>
        </p:nvSpPr>
        <p:spPr>
          <a:xfrm>
            <a:off x="685800" y="2125980"/>
            <a:ext cx="548640" cy="548640"/>
          </a:xfrm>
          <a:prstGeom prst="ellipse">
            <a:avLst/>
          </a:prstGeom>
          <a:solidFill>
            <a:schemeClr val="accent2"/>
          </a:solidFill>
          <a:ln w="12700">
            <a:solidFill>
              <a:schemeClr val="accent2"/>
            </a:solidFill>
            <a:prstDash val="solid"/>
          </a:ln>
        </p:spPr>
      </p:sp>
      <p:pic>
        <p:nvPicPr>
          <p:cNvPr id="10" name="icon" descr="question">    </p:cNvPr>
          <p:cNvPicPr>
            <a:picLocks noChangeAspect="1"/>
          </p:cNvPicPr>
          <p:nvPr/>
        </p:nvPicPr>
        <p:blipFill>
          <a:blip r:embed="rId2"/>
          <a:stretch>
            <a:fillRect/>
          </a:stretch>
        </p:blipFill>
        <p:spPr>
          <a:xfrm>
            <a:off x="828446" y="2268626"/>
            <a:ext cx="263347" cy="263347"/>
          </a:xfrm>
          <a:prstGeom prst="rect">
            <a:avLst/>
          </a:prstGeom>
        </p:spPr>
      </p:pic>
      <p:sp>
        <p:nvSpPr>
          <p:cNvPr id="11" name="Text 6"/>
          <p:cNvSpPr txBox="1"/>
          <p:nvPr/>
        </p:nvSpPr>
        <p:spPr>
          <a:xfrm>
            <a:off x="1463040" y="2011680"/>
            <a:ext cx="6949440" cy="777240"/>
          </a:xfrm>
          <a:prstGeom prst="rect">
            <a:avLst/>
          </a:prstGeom>
          <a:noFill/>
          <a:ln/>
        </p:spPr>
        <p:txBody>
          <a:bodyPr wrap="square" lIns="0" tIns="0" rIns="0" bIns="0" rtlCol="0" anchor="ctr"/>
          <a:lstStyle/>
          <a:p>
            <a:pPr indent="0" marL="0">
              <a:buNone/>
            </a:pPr>
            <a:r>
              <a:rPr lang="en-US" sz="1600" dirty="0">
                <a:solidFill>
                  <a:schemeClr val="tx1"/>
                </a:solidFill>
              </a:rPr>
              <a:t>Find the verb.</a:t>
            </a:r>
            <a:endParaRPr lang="en-US" sz="1600" dirty="0"/>
          </a:p>
        </p:txBody>
      </p:sp>
      <p:sp>
        <p:nvSpPr>
          <p:cNvPr id="12" name="card"/>
          <p:cNvSpPr/>
          <p:nvPr/>
        </p:nvSpPr>
        <p:spPr>
          <a:xfrm>
            <a:off x="548640" y="2926080"/>
            <a:ext cx="8046720" cy="777240"/>
          </a:xfrm>
          <a:prstGeom prst="roundRect">
            <a:avLst>
              <a:gd name="adj" fmla="val 14118"/>
            </a:avLst>
          </a:prstGeom>
          <a:solidFill>
            <a:schemeClr val="bg2"/>
          </a:solidFill>
          <a:ln w="12700">
            <a:solidFill>
              <a:schemeClr val="bg2"/>
            </a:solidFill>
            <a:prstDash val="solid"/>
          </a:ln>
        </p:spPr>
      </p:sp>
      <p:sp>
        <p:nvSpPr>
          <p:cNvPr id="13" name="badge"/>
          <p:cNvSpPr/>
          <p:nvPr/>
        </p:nvSpPr>
        <p:spPr>
          <a:xfrm>
            <a:off x="685800" y="3040380"/>
            <a:ext cx="548640" cy="548640"/>
          </a:xfrm>
          <a:prstGeom prst="ellipse">
            <a:avLst/>
          </a:prstGeom>
          <a:solidFill>
            <a:schemeClr val="accent3"/>
          </a:solidFill>
          <a:ln w="12700">
            <a:solidFill>
              <a:schemeClr val="accent3"/>
            </a:solidFill>
            <a:prstDash val="solid"/>
          </a:ln>
        </p:spPr>
      </p:sp>
      <p:pic>
        <p:nvPicPr>
          <p:cNvPr id="14" name="icon" descr="question">    </p:cNvPr>
          <p:cNvPicPr>
            <a:picLocks noChangeAspect="1"/>
          </p:cNvPicPr>
          <p:nvPr/>
        </p:nvPicPr>
        <p:blipFill>
          <a:blip r:embed="rId3"/>
          <a:stretch>
            <a:fillRect/>
          </a:stretch>
        </p:blipFill>
        <p:spPr>
          <a:xfrm>
            <a:off x="828446" y="3183026"/>
            <a:ext cx="263347" cy="263347"/>
          </a:xfrm>
          <a:prstGeom prst="rect">
            <a:avLst/>
          </a:prstGeom>
        </p:spPr>
      </p:pic>
      <p:sp>
        <p:nvSpPr>
          <p:cNvPr id="15" name="Text 9"/>
          <p:cNvSpPr txBox="1"/>
          <p:nvPr/>
        </p:nvSpPr>
        <p:spPr>
          <a:xfrm>
            <a:off x="1463040" y="2926080"/>
            <a:ext cx="6949440" cy="777240"/>
          </a:xfrm>
          <a:prstGeom prst="rect">
            <a:avLst/>
          </a:prstGeom>
          <a:noFill/>
          <a:ln/>
        </p:spPr>
        <p:txBody>
          <a:bodyPr wrap="square" lIns="0" tIns="0" rIns="0" bIns="0" rtlCol="0" anchor="ctr"/>
          <a:lstStyle/>
          <a:p>
            <a:pPr indent="0" marL="0">
              <a:buNone/>
            </a:pPr>
            <a:r>
              <a:rPr lang="en-US" sz="1600" dirty="0">
                <a:solidFill>
                  <a:schemeClr val="tx1"/>
                </a:solidFill>
              </a:rPr>
              <a:t>Find the adverb. Which word does it describe?</a:t>
            </a:r>
            <a:endParaRPr lang="en-US" sz="1600" dirty="0"/>
          </a:p>
        </p:txBody>
      </p:sp>
      <p:sp>
        <p:nvSpPr>
          <p:cNvPr id="16" name="card"/>
          <p:cNvSpPr/>
          <p:nvPr/>
        </p:nvSpPr>
        <p:spPr>
          <a:xfrm>
            <a:off x="548640" y="3840480"/>
            <a:ext cx="8046720" cy="777240"/>
          </a:xfrm>
          <a:prstGeom prst="roundRect">
            <a:avLst>
              <a:gd name="adj" fmla="val 14118"/>
            </a:avLst>
          </a:prstGeom>
          <a:solidFill>
            <a:schemeClr val="bg2"/>
          </a:solidFill>
          <a:ln w="12700">
            <a:solidFill>
              <a:schemeClr val="bg2"/>
            </a:solidFill>
            <a:prstDash val="solid"/>
          </a:ln>
        </p:spPr>
      </p:sp>
      <p:sp>
        <p:nvSpPr>
          <p:cNvPr id="17" name="badge"/>
          <p:cNvSpPr/>
          <p:nvPr/>
        </p:nvSpPr>
        <p:spPr>
          <a:xfrm>
            <a:off x="685800" y="3954780"/>
            <a:ext cx="548640" cy="548640"/>
          </a:xfrm>
          <a:prstGeom prst="ellipse">
            <a:avLst/>
          </a:prstGeom>
          <a:solidFill>
            <a:schemeClr val="accent5"/>
          </a:solidFill>
          <a:ln w="12700">
            <a:solidFill>
              <a:schemeClr val="accent5"/>
            </a:solidFill>
            <a:prstDash val="solid"/>
          </a:ln>
        </p:spPr>
      </p:sp>
      <p:pic>
        <p:nvPicPr>
          <p:cNvPr id="18" name="icon" descr="question">    </p:cNvPr>
          <p:cNvPicPr>
            <a:picLocks noChangeAspect="1"/>
          </p:cNvPicPr>
          <p:nvPr/>
        </p:nvPicPr>
        <p:blipFill>
          <a:blip r:embed="rId4"/>
          <a:stretch>
            <a:fillRect/>
          </a:stretch>
        </p:blipFill>
        <p:spPr>
          <a:xfrm>
            <a:off x="828446" y="4097426"/>
            <a:ext cx="263347" cy="263347"/>
          </a:xfrm>
          <a:prstGeom prst="rect">
            <a:avLst/>
          </a:prstGeom>
        </p:spPr>
      </p:pic>
      <p:sp>
        <p:nvSpPr>
          <p:cNvPr id="19" name="Text 12"/>
          <p:cNvSpPr txBox="1"/>
          <p:nvPr/>
        </p:nvSpPr>
        <p:spPr>
          <a:xfrm>
            <a:off x="1463040" y="3840480"/>
            <a:ext cx="6949440" cy="777240"/>
          </a:xfrm>
          <a:prstGeom prst="rect">
            <a:avLst/>
          </a:prstGeom>
          <a:noFill/>
          <a:ln/>
        </p:spPr>
        <p:txBody>
          <a:bodyPr wrap="square" lIns="0" tIns="0" rIns="0" bIns="0" rtlCol="0" anchor="ctr"/>
          <a:lstStyle/>
          <a:p>
            <a:pPr indent="0" marL="0">
              <a:buNone/>
            </a:pPr>
            <a:r>
              <a:rPr lang="en-US" sz="1600" dirty="0">
                <a:solidFill>
                  <a:schemeClr val="tx1"/>
                </a:solidFill>
              </a:rPr>
              <a:t>Find the prepositional phrase. What does it tell us?</a:t>
            </a:r>
            <a:endParaRPr lang="en-US" sz="1600" dirty="0"/>
          </a:p>
        </p:txBody>
      </p:sp>
      <p:sp>
        <p:nvSpPr>
          <p:cNvPr id="25" name="Slide Number Placeholder 0"/>
          <p:cNvSpPr>
            <a:spLocks noGrp="1"/>
          </p:cNvSpPr>
          <p:nvPr>
            <p:ph type="sldNum" sz="quarter" idx="4294967295"/>
          </p:nvPr>
        </p:nvSpPr>
        <p:spPr>
          <a:xfrm>
            <a:off x="8229600" y="4736592"/>
            <a:ext cx="36576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6784"/>
                </a:solidFill>
              </a:defRPr>
            </a:lvl1pPr>
          </a:lstStyle>
          <a:p>
            <a:pPr algn="l"/>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8046720" cy="731520"/>
          </a:xfrm>
          <a:prstGeom prst="rect">
            <a:avLst/>
          </a:prstGeom>
          <a:noFill/>
          <a:ln/>
        </p:spPr>
        <p:txBody>
          <a:bodyPr wrap="square" lIns="0" tIns="0" rIns="0" bIns="0" rtlCol="0" anchor="ctr"/>
          <a:lstStyle/>
          <a:p>
            <a:pPr algn="l" indent="0" marL="0">
              <a:buNone/>
            </a:pPr>
            <a:r>
              <a:rPr lang="en-US" sz="3000" b="1" dirty="0">
                <a:solidFill>
                  <a:schemeClr val="tx1"/>
                </a:solidFill>
              </a:rPr>
              <a:t>Answers: quick sort</a:t>
            </a:r>
            <a:endParaRPr lang="en-US" sz="3000" dirty="0"/>
          </a:p>
        </p:txBody>
      </p:sp>
      <p:sp>
        <p:nvSpPr>
          <p:cNvPr id="4" name="card"/>
          <p:cNvSpPr/>
          <p:nvPr/>
        </p:nvSpPr>
        <p:spPr>
          <a:xfrm>
            <a:off x="548640" y="1097280"/>
            <a:ext cx="8046720" cy="800100"/>
          </a:xfrm>
          <a:prstGeom prst="roundRect">
            <a:avLst>
              <a:gd name="adj" fmla="val 13714"/>
            </a:avLst>
          </a:prstGeom>
          <a:solidFill>
            <a:schemeClr val="bg2"/>
          </a:solidFill>
          <a:ln w="12700">
            <a:solidFill>
              <a:schemeClr val="bg2"/>
            </a:solidFill>
            <a:prstDash val="solid"/>
          </a:ln>
        </p:spPr>
      </p:sp>
      <p:sp>
        <p:nvSpPr>
          <p:cNvPr id="5" name="number"/>
          <p:cNvSpPr/>
          <p:nvPr/>
        </p:nvSpPr>
        <p:spPr>
          <a:xfrm>
            <a:off x="685800" y="1268730"/>
            <a:ext cx="457200" cy="457200"/>
          </a:xfrm>
          <a:prstGeom prst="ellipse">
            <a:avLst/>
          </a:prstGeom>
          <a:solidFill>
            <a:schemeClr val="accent4"/>
          </a:solidFill>
          <a:ln w="12700">
            <a:solidFill>
              <a:schemeClr val="bg1"/>
            </a:solidFill>
            <a:prstDash val="solid"/>
          </a:ln>
        </p:spPr>
      </p:sp>
      <p:sp>
        <p:nvSpPr>
          <p:cNvPr id="6" name="Text 3"/>
          <p:cNvSpPr txBox="1"/>
          <p:nvPr/>
        </p:nvSpPr>
        <p:spPr>
          <a:xfrm>
            <a:off x="685800" y="1268730"/>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rPr>
              <a:t>1</a:t>
            </a:r>
            <a:endParaRPr lang="en-US" sz="1600" dirty="0"/>
          </a:p>
        </p:txBody>
      </p:sp>
      <p:sp>
        <p:nvSpPr>
          <p:cNvPr id="7" name="Text 4"/>
          <p:cNvSpPr txBox="1"/>
          <p:nvPr/>
        </p:nvSpPr>
        <p:spPr>
          <a:xfrm>
            <a:off x="1371600" y="1097280"/>
            <a:ext cx="7040880" cy="800100"/>
          </a:xfrm>
          <a:prstGeom prst="rect">
            <a:avLst/>
          </a:prstGeom>
          <a:noFill/>
          <a:ln/>
        </p:spPr>
        <p:txBody>
          <a:bodyPr wrap="square" lIns="0" tIns="0" rIns="0" bIns="0" rtlCol="0" anchor="ctr"/>
          <a:lstStyle/>
          <a:p>
            <a:pPr indent="0" marL="0">
              <a:buNone/>
            </a:pPr>
            <a:r>
              <a:rPr lang="en-US" sz="1400" b="1" dirty="0">
                <a:solidFill>
                  <a:schemeClr val="tx1"/>
                </a:solidFill>
              </a:rPr>
              <a:t>frozen, silver</a:t>
            </a:r>
            <a:endParaRPr lang="en-US" sz="1600" dirty="0"/>
          </a:p>
        </p:txBody>
      </p:sp>
      <p:sp>
        <p:nvSpPr>
          <p:cNvPr id="8" name="card"/>
          <p:cNvSpPr/>
          <p:nvPr/>
        </p:nvSpPr>
        <p:spPr>
          <a:xfrm>
            <a:off x="548640" y="1988820"/>
            <a:ext cx="8046720" cy="800100"/>
          </a:xfrm>
          <a:prstGeom prst="roundRect">
            <a:avLst>
              <a:gd name="adj" fmla="val 13714"/>
            </a:avLst>
          </a:prstGeom>
          <a:solidFill>
            <a:schemeClr val="bg2"/>
          </a:solidFill>
          <a:ln w="12700">
            <a:solidFill>
              <a:schemeClr val="bg2"/>
            </a:solidFill>
            <a:prstDash val="solid"/>
          </a:ln>
        </p:spPr>
      </p:sp>
      <p:sp>
        <p:nvSpPr>
          <p:cNvPr id="9" name="number"/>
          <p:cNvSpPr/>
          <p:nvPr/>
        </p:nvSpPr>
        <p:spPr>
          <a:xfrm>
            <a:off x="685800" y="2160270"/>
            <a:ext cx="457200" cy="457200"/>
          </a:xfrm>
          <a:prstGeom prst="ellipse">
            <a:avLst/>
          </a:prstGeom>
          <a:solidFill>
            <a:schemeClr val="accent2"/>
          </a:solidFill>
          <a:ln w="12700">
            <a:solidFill>
              <a:schemeClr val="bg1"/>
            </a:solidFill>
            <a:prstDash val="solid"/>
          </a:ln>
        </p:spPr>
      </p:sp>
      <p:sp>
        <p:nvSpPr>
          <p:cNvPr id="10" name="Text 7"/>
          <p:cNvSpPr txBox="1"/>
          <p:nvPr/>
        </p:nvSpPr>
        <p:spPr>
          <a:xfrm>
            <a:off x="685800" y="2160270"/>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rPr>
              <a:t>2</a:t>
            </a:r>
            <a:endParaRPr lang="en-US" sz="1600" dirty="0"/>
          </a:p>
        </p:txBody>
      </p:sp>
      <p:sp>
        <p:nvSpPr>
          <p:cNvPr id="11" name="Text 8"/>
          <p:cNvSpPr txBox="1"/>
          <p:nvPr/>
        </p:nvSpPr>
        <p:spPr>
          <a:xfrm>
            <a:off x="1371600" y="1988820"/>
            <a:ext cx="7040880" cy="800100"/>
          </a:xfrm>
          <a:prstGeom prst="rect">
            <a:avLst/>
          </a:prstGeom>
          <a:noFill/>
          <a:ln/>
        </p:spPr>
        <p:txBody>
          <a:bodyPr wrap="square" lIns="0" tIns="0" rIns="0" bIns="0" rtlCol="0" anchor="ctr"/>
          <a:lstStyle/>
          <a:p>
            <a:pPr indent="0" marL="0">
              <a:buNone/>
            </a:pPr>
            <a:r>
              <a:rPr lang="en-US" sz="1400" b="1" dirty="0">
                <a:solidFill>
                  <a:schemeClr val="tx1"/>
                </a:solidFill>
              </a:rPr>
              <a:t>slept</a:t>
            </a:r>
            <a:endParaRPr lang="en-US" sz="1600" dirty="0"/>
          </a:p>
        </p:txBody>
      </p:sp>
      <p:sp>
        <p:nvSpPr>
          <p:cNvPr id="12" name="card"/>
          <p:cNvSpPr/>
          <p:nvPr/>
        </p:nvSpPr>
        <p:spPr>
          <a:xfrm>
            <a:off x="548640" y="2880360"/>
            <a:ext cx="8046720" cy="800100"/>
          </a:xfrm>
          <a:prstGeom prst="roundRect">
            <a:avLst>
              <a:gd name="adj" fmla="val 13714"/>
            </a:avLst>
          </a:prstGeom>
          <a:solidFill>
            <a:schemeClr val="bg2"/>
          </a:solidFill>
          <a:ln w="12700">
            <a:solidFill>
              <a:schemeClr val="bg2"/>
            </a:solidFill>
            <a:prstDash val="solid"/>
          </a:ln>
        </p:spPr>
      </p:sp>
      <p:sp>
        <p:nvSpPr>
          <p:cNvPr id="13" name="number"/>
          <p:cNvSpPr/>
          <p:nvPr/>
        </p:nvSpPr>
        <p:spPr>
          <a:xfrm>
            <a:off x="685800" y="3051810"/>
            <a:ext cx="457200" cy="457200"/>
          </a:xfrm>
          <a:prstGeom prst="ellipse">
            <a:avLst/>
          </a:prstGeom>
          <a:solidFill>
            <a:schemeClr val="accent3"/>
          </a:solidFill>
          <a:ln w="12700">
            <a:solidFill>
              <a:schemeClr val="bg1"/>
            </a:solidFill>
            <a:prstDash val="solid"/>
          </a:ln>
        </p:spPr>
      </p:sp>
      <p:sp>
        <p:nvSpPr>
          <p:cNvPr id="14" name="Text 11"/>
          <p:cNvSpPr txBox="1"/>
          <p:nvPr/>
        </p:nvSpPr>
        <p:spPr>
          <a:xfrm>
            <a:off x="685800" y="3051810"/>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rPr>
              <a:t>3</a:t>
            </a:r>
            <a:endParaRPr lang="en-US" sz="1600" dirty="0"/>
          </a:p>
        </p:txBody>
      </p:sp>
      <p:sp>
        <p:nvSpPr>
          <p:cNvPr id="15" name="Text 12"/>
          <p:cNvSpPr txBox="1"/>
          <p:nvPr/>
        </p:nvSpPr>
        <p:spPr>
          <a:xfrm>
            <a:off x="1371600" y="2880360"/>
            <a:ext cx="7040880" cy="800100"/>
          </a:xfrm>
          <a:prstGeom prst="rect">
            <a:avLst/>
          </a:prstGeom>
          <a:noFill/>
          <a:ln/>
        </p:spPr>
        <p:txBody>
          <a:bodyPr wrap="square" lIns="0" tIns="0" rIns="0" bIns="0" rtlCol="0" anchor="ctr"/>
          <a:lstStyle/>
          <a:p>
            <a:pPr indent="0" marL="0">
              <a:buNone/>
            </a:pPr>
            <a:r>
              <a:rPr lang="en-US" sz="1400" b="1" dirty="0">
                <a:solidFill>
                  <a:schemeClr val="tx1"/>
                </a:solidFill>
              </a:rPr>
              <a:t>peacefully.</a:t>
            </a:r>
            <a:pPr indent="0" marL="0">
              <a:buNone/>
            </a:pPr>
            <a:r>
              <a:rPr lang="en-US" sz="1400" dirty="0">
                <a:solidFill>
                  <a:schemeClr val="tx1"/>
                </a:solidFill>
              </a:rPr>
              <a:t> It describes the verb 'slept' and tells us how the dragon slept.</a:t>
            </a:r>
            <a:endParaRPr lang="en-US" sz="1600" dirty="0"/>
          </a:p>
        </p:txBody>
      </p:sp>
      <p:sp>
        <p:nvSpPr>
          <p:cNvPr id="16" name="card"/>
          <p:cNvSpPr/>
          <p:nvPr/>
        </p:nvSpPr>
        <p:spPr>
          <a:xfrm>
            <a:off x="548640" y="3771900"/>
            <a:ext cx="8046720" cy="800100"/>
          </a:xfrm>
          <a:prstGeom prst="roundRect">
            <a:avLst>
              <a:gd name="adj" fmla="val 13714"/>
            </a:avLst>
          </a:prstGeom>
          <a:solidFill>
            <a:schemeClr val="bg2"/>
          </a:solidFill>
          <a:ln w="12700">
            <a:solidFill>
              <a:schemeClr val="bg2"/>
            </a:solidFill>
            <a:prstDash val="solid"/>
          </a:ln>
        </p:spPr>
      </p:sp>
      <p:sp>
        <p:nvSpPr>
          <p:cNvPr id="17" name="number"/>
          <p:cNvSpPr/>
          <p:nvPr/>
        </p:nvSpPr>
        <p:spPr>
          <a:xfrm>
            <a:off x="685800" y="3943350"/>
            <a:ext cx="457200" cy="457200"/>
          </a:xfrm>
          <a:prstGeom prst="ellipse">
            <a:avLst/>
          </a:prstGeom>
          <a:solidFill>
            <a:schemeClr val="accent5"/>
          </a:solidFill>
          <a:ln w="12700">
            <a:solidFill>
              <a:schemeClr val="bg1"/>
            </a:solidFill>
            <a:prstDash val="solid"/>
          </a:ln>
        </p:spPr>
      </p:sp>
      <p:sp>
        <p:nvSpPr>
          <p:cNvPr id="18" name="Text 15"/>
          <p:cNvSpPr txBox="1"/>
          <p:nvPr/>
        </p:nvSpPr>
        <p:spPr>
          <a:xfrm>
            <a:off x="685800" y="3943350"/>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rPr>
              <a:t>4</a:t>
            </a:r>
            <a:endParaRPr lang="en-US" sz="1600" dirty="0"/>
          </a:p>
        </p:txBody>
      </p:sp>
      <p:sp>
        <p:nvSpPr>
          <p:cNvPr id="19" name="Text 16"/>
          <p:cNvSpPr txBox="1"/>
          <p:nvPr/>
        </p:nvSpPr>
        <p:spPr>
          <a:xfrm>
            <a:off x="1371600" y="3771900"/>
            <a:ext cx="7040880" cy="800100"/>
          </a:xfrm>
          <a:prstGeom prst="rect">
            <a:avLst/>
          </a:prstGeom>
          <a:noFill/>
          <a:ln/>
        </p:spPr>
        <p:txBody>
          <a:bodyPr wrap="square" lIns="0" tIns="0" rIns="0" bIns="0" rtlCol="0" anchor="ctr"/>
          <a:lstStyle/>
          <a:p>
            <a:pPr indent="0" marL="0">
              <a:buNone/>
            </a:pPr>
            <a:r>
              <a:rPr lang="en-US" sz="1400" b="1" dirty="0">
                <a:solidFill>
                  <a:schemeClr val="tx1"/>
                </a:solidFill>
              </a:rPr>
              <a:t>Beside the frozen lake.</a:t>
            </a:r>
            <a:pPr indent="0" marL="0">
              <a:buNone/>
            </a:pPr>
            <a:r>
              <a:rPr lang="en-US" sz="1400" dirty="0">
                <a:solidFill>
                  <a:schemeClr val="tx1"/>
                </a:solidFill>
              </a:rPr>
              <a:t> It tells us where the dragon slept (a prepositional phrase working as an adverbial).</a:t>
            </a:r>
            <a:endParaRPr lang="en-US" sz="1600" dirty="0"/>
          </a:p>
        </p:txBody>
      </p:sp>
      <p:sp>
        <p:nvSpPr>
          <p:cNvPr id="25" name="Slide Number Placeholder 0"/>
          <p:cNvSpPr>
            <a:spLocks noGrp="1"/>
          </p:cNvSpPr>
          <p:nvPr>
            <p:ph type="sldNum" sz="quarter" idx="4294967295"/>
          </p:nvPr>
        </p:nvSpPr>
        <p:spPr>
          <a:xfrm>
            <a:off x="8229600" y="4736592"/>
            <a:ext cx="36576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6784"/>
                </a:solidFill>
              </a:defRPr>
            </a:lvl1pPr>
          </a:lstStyle>
          <a:p>
            <a:pPr algn="l"/>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8046720" cy="731520"/>
          </a:xfrm>
          <a:prstGeom prst="rect">
            <a:avLst/>
          </a:prstGeom>
          <a:noFill/>
          <a:ln/>
        </p:spPr>
        <p:txBody>
          <a:bodyPr wrap="square" lIns="0" tIns="0" rIns="0" bIns="0" rtlCol="0" anchor="ctr"/>
          <a:lstStyle/>
          <a:p>
            <a:pPr algn="l" indent="0" marL="0">
              <a:buNone/>
            </a:pPr>
            <a:r>
              <a:rPr lang="en-US" sz="3000" b="1" dirty="0">
                <a:solidFill>
                  <a:schemeClr val="tx1"/>
                </a:solidFill>
              </a:rPr>
              <a:t>Adjectives: position and punctuation</a:t>
            </a:r>
            <a:endParaRPr lang="en-US" sz="300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548640" y="1097280"/>
          <a:ext cx="8046720" cy="914400"/>
        </p:xfrm>
        <a:graphic>
          <a:graphicData uri="http://schemas.openxmlformats.org/drawingml/2006/table">
            <a:tbl>
              <a:tblPr/>
              <a:tblGrid>
                <a:gridCol w="2011680"/>
                <a:gridCol w="3108960"/>
                <a:gridCol w="2926080"/>
              </a:tblGrid>
              <a:tr h="365760">
                <a:tc>
                  <a:txBody>
                    <a:bodyPr/>
                    <a:lstStyle/>
                    <a:p>
                      <a:pPr algn="ctr" indent="0" marL="0">
                        <a:buNone/>
                      </a:pPr>
                      <a:r>
                        <a:rPr lang="en-US" sz="1400" b="1" dirty="0">
                          <a:solidFill>
                            <a:srgbClr val="FFFFFF"/>
                          </a:solidFill>
                        </a:rPr>
                        <a:t>Position</a:t>
                      </a:r>
                      <a:endParaRPr lang="en-US" sz="1400" dirty="0"/>
                    </a:p>
                  </a:txBody>
                  <a:tcPr marL="91440" marR="91440" marT="45720" marB="45720" anchor="ctr">
                    <a:lnL w="12700" cap="flat" cmpd="sng" algn="ctr">
                      <a:solidFill>
                        <a:srgbClr val="BDB6D9"/>
                      </a:solidFill>
                      <a:prstDash val="solid"/>
                      <a:round/>
                      <a:headEnd type="none" w="med" len="med"/>
                      <a:tailEnd type="none" w="med" len="med"/>
                    </a:lnL>
                    <a:lnR w="12700" cap="flat" cmpd="sng" algn="ctr">
                      <a:solidFill>
                        <a:srgbClr val="BDB6D9"/>
                      </a:solidFill>
                      <a:prstDash val="solid"/>
                      <a:round/>
                      <a:headEnd type="none" w="med" len="med"/>
                      <a:tailEnd type="none" w="med" len="med"/>
                    </a:lnR>
                    <a:lnT w="12700" cap="flat" cmpd="sng" algn="ctr">
                      <a:solidFill>
                        <a:srgbClr val="BDB6D9"/>
                      </a:solidFill>
                      <a:prstDash val="solid"/>
                      <a:round/>
                      <a:headEnd type="none" w="med" len="med"/>
                      <a:tailEnd type="none" w="med" len="med"/>
                    </a:lnT>
                    <a:lnB w="12700" cap="flat" cmpd="sng" algn="ctr">
                      <a:solidFill>
                        <a:srgbClr val="BDB6D9"/>
                      </a:solidFill>
                      <a:prstDash val="solid"/>
                      <a:round/>
                      <a:headEnd type="none" w="med" len="med"/>
                      <a:tailEnd type="none" w="med" len="med"/>
                    </a:lnB>
                    <a:solidFill>
                      <a:srgbClr val="3B2F63"/>
                    </a:solidFill>
                  </a:tcPr>
                </a:tc>
                <a:tc>
                  <a:txBody>
                    <a:bodyPr/>
                    <a:lstStyle/>
                    <a:p>
                      <a:pPr algn="ctr" indent="0" marL="0">
                        <a:buNone/>
                      </a:pPr>
                      <a:r>
                        <a:rPr lang="en-US" sz="1400" b="1" dirty="0">
                          <a:solidFill>
                            <a:srgbClr val="FFFFFF"/>
                          </a:solidFill>
                        </a:rPr>
                        <a:t>Example</a:t>
                      </a:r>
                      <a:endParaRPr lang="en-US" sz="1400" dirty="0"/>
                    </a:p>
                  </a:txBody>
                  <a:tcPr marL="91440" marR="91440" marT="45720" marB="45720" anchor="ctr">
                    <a:lnL w="12700" cap="flat" cmpd="sng" algn="ctr">
                      <a:solidFill>
                        <a:srgbClr val="BDB6D9"/>
                      </a:solidFill>
                      <a:prstDash val="solid"/>
                      <a:round/>
                      <a:headEnd type="none" w="med" len="med"/>
                      <a:tailEnd type="none" w="med" len="med"/>
                    </a:lnL>
                    <a:lnR w="12700" cap="flat" cmpd="sng" algn="ctr">
                      <a:solidFill>
                        <a:srgbClr val="BDB6D9"/>
                      </a:solidFill>
                      <a:prstDash val="solid"/>
                      <a:round/>
                      <a:headEnd type="none" w="med" len="med"/>
                      <a:tailEnd type="none" w="med" len="med"/>
                    </a:lnR>
                    <a:lnT w="12700" cap="flat" cmpd="sng" algn="ctr">
                      <a:solidFill>
                        <a:srgbClr val="BDB6D9"/>
                      </a:solidFill>
                      <a:prstDash val="solid"/>
                      <a:round/>
                      <a:headEnd type="none" w="med" len="med"/>
                      <a:tailEnd type="none" w="med" len="med"/>
                    </a:lnT>
                    <a:lnB w="12700" cap="flat" cmpd="sng" algn="ctr">
                      <a:solidFill>
                        <a:srgbClr val="BDB6D9"/>
                      </a:solidFill>
                      <a:prstDash val="solid"/>
                      <a:round/>
                      <a:headEnd type="none" w="med" len="med"/>
                      <a:tailEnd type="none" w="med" len="med"/>
                    </a:lnB>
                    <a:solidFill>
                      <a:srgbClr val="3B2F63"/>
                    </a:solidFill>
                  </a:tcPr>
                </a:tc>
                <a:tc>
                  <a:txBody>
                    <a:bodyPr/>
                    <a:lstStyle/>
                    <a:p>
                      <a:pPr algn="ctr" indent="0" marL="0">
                        <a:buNone/>
                      </a:pPr>
                      <a:r>
                        <a:rPr lang="en-US" sz="1400" b="1" dirty="0">
                          <a:solidFill>
                            <a:srgbClr val="FFFFFF"/>
                          </a:solidFill>
                        </a:rPr>
                        <a:t>Rule</a:t>
                      </a:r>
                      <a:endParaRPr lang="en-US" sz="1400" dirty="0"/>
                    </a:p>
                  </a:txBody>
                  <a:tcPr marL="91440" marR="91440" marT="45720" marB="45720" anchor="ctr">
                    <a:lnL w="12700" cap="flat" cmpd="sng" algn="ctr">
                      <a:solidFill>
                        <a:srgbClr val="BDB6D9"/>
                      </a:solidFill>
                      <a:prstDash val="solid"/>
                      <a:round/>
                      <a:headEnd type="none" w="med" len="med"/>
                      <a:tailEnd type="none" w="med" len="med"/>
                    </a:lnL>
                    <a:lnR w="12700" cap="flat" cmpd="sng" algn="ctr">
                      <a:solidFill>
                        <a:srgbClr val="BDB6D9"/>
                      </a:solidFill>
                      <a:prstDash val="solid"/>
                      <a:round/>
                      <a:headEnd type="none" w="med" len="med"/>
                      <a:tailEnd type="none" w="med" len="med"/>
                    </a:lnR>
                    <a:lnT w="12700" cap="flat" cmpd="sng" algn="ctr">
                      <a:solidFill>
                        <a:srgbClr val="BDB6D9"/>
                      </a:solidFill>
                      <a:prstDash val="solid"/>
                      <a:round/>
                      <a:headEnd type="none" w="med" len="med"/>
                      <a:tailEnd type="none" w="med" len="med"/>
                    </a:lnT>
                    <a:lnB w="12700" cap="flat" cmpd="sng" algn="ctr">
                      <a:solidFill>
                        <a:srgbClr val="BDB6D9"/>
                      </a:solidFill>
                      <a:prstDash val="solid"/>
                      <a:round/>
                      <a:headEnd type="none" w="med" len="med"/>
                      <a:tailEnd type="none" w="med" len="med"/>
                    </a:lnB>
                    <a:solidFill>
                      <a:srgbClr val="3B2F63"/>
                    </a:solidFill>
                  </a:tcPr>
                </a:tc>
              </a:tr>
              <a:tr h="594360">
                <a:tc>
                  <a:txBody>
                    <a:bodyPr/>
                    <a:lstStyle/>
                    <a:p>
                      <a:pPr indent="0" marL="0">
                        <a:buNone/>
                      </a:pPr>
                      <a:r>
                        <a:rPr lang="en-US" sz="1300" b="1" dirty="0">
                          <a:solidFill>
                            <a:srgbClr val="1F1B3A"/>
                          </a:solidFill>
                        </a:rPr>
                        <a:t>before the noun</a:t>
                      </a:r>
                      <a:endParaRPr lang="en-US" sz="1300" dirty="0"/>
                    </a:p>
                  </a:txBody>
                  <a:tcPr marL="91440" marR="91440" marT="45720" marB="45720" anchor="ctr">
                    <a:lnL w="12700" cap="flat" cmpd="sng" algn="ctr">
                      <a:solidFill>
                        <a:srgbClr val="BDB6D9"/>
                      </a:solidFill>
                      <a:prstDash val="solid"/>
                      <a:round/>
                      <a:headEnd type="none" w="med" len="med"/>
                      <a:tailEnd type="none" w="med" len="med"/>
                    </a:lnL>
                    <a:lnR w="12700" cap="flat" cmpd="sng" algn="ctr">
                      <a:solidFill>
                        <a:srgbClr val="BDB6D9"/>
                      </a:solidFill>
                      <a:prstDash val="solid"/>
                      <a:round/>
                      <a:headEnd type="none" w="med" len="med"/>
                      <a:tailEnd type="none" w="med" len="med"/>
                    </a:lnR>
                    <a:lnT w="12700" cap="flat" cmpd="sng" algn="ctr">
                      <a:solidFill>
                        <a:srgbClr val="BDB6D9"/>
                      </a:solidFill>
                      <a:prstDash val="solid"/>
                      <a:round/>
                      <a:headEnd type="none" w="med" len="med"/>
                      <a:tailEnd type="none" w="med" len="med"/>
                    </a:lnT>
                    <a:lnB w="12700" cap="flat" cmpd="sng" algn="ctr">
                      <a:solidFill>
                        <a:srgbClr val="BDB6D9"/>
                      </a:solidFill>
                      <a:prstDash val="solid"/>
                      <a:round/>
                      <a:headEnd type="none" w="med" len="med"/>
                      <a:tailEnd type="none" w="med" len="med"/>
                    </a:lnB>
                    <a:solidFill>
                      <a:srgbClr val="F1EEFA"/>
                    </a:solidFill>
                  </a:tcPr>
                </a:tc>
                <a:tc>
                  <a:txBody>
                    <a:bodyPr/>
                    <a:lstStyle/>
                    <a:p>
                      <a:pPr indent="0" marL="0">
                        <a:buNone/>
                      </a:pPr>
                      <a:r>
                        <a:rPr lang="en-US" sz="1300" dirty="0">
                          <a:solidFill>
                            <a:srgbClr val="1F1B3A"/>
                          </a:solidFill>
                        </a:rPr>
                        <a:t>a tall, crooked tower</a:t>
                      </a:r>
                      <a:endParaRPr lang="en-US" sz="1300" dirty="0"/>
                    </a:p>
                  </a:txBody>
                  <a:tcPr marL="91440" marR="91440" marT="45720" marB="45720" anchor="ctr">
                    <a:lnL w="12700" cap="flat" cmpd="sng" algn="ctr">
                      <a:solidFill>
                        <a:srgbClr val="BDB6D9"/>
                      </a:solidFill>
                      <a:prstDash val="solid"/>
                      <a:round/>
                      <a:headEnd type="none" w="med" len="med"/>
                      <a:tailEnd type="none" w="med" len="med"/>
                    </a:lnL>
                    <a:lnR w="12700" cap="flat" cmpd="sng" algn="ctr">
                      <a:solidFill>
                        <a:srgbClr val="BDB6D9"/>
                      </a:solidFill>
                      <a:prstDash val="solid"/>
                      <a:round/>
                      <a:headEnd type="none" w="med" len="med"/>
                      <a:tailEnd type="none" w="med" len="med"/>
                    </a:lnR>
                    <a:lnT w="12700" cap="flat" cmpd="sng" algn="ctr">
                      <a:solidFill>
                        <a:srgbClr val="BDB6D9"/>
                      </a:solidFill>
                      <a:prstDash val="solid"/>
                      <a:round/>
                      <a:headEnd type="none" w="med" len="med"/>
                      <a:tailEnd type="none" w="med" len="med"/>
                    </a:lnT>
                    <a:lnB w="12700" cap="flat" cmpd="sng" algn="ctr">
                      <a:solidFill>
                        <a:srgbClr val="BDB6D9"/>
                      </a:solidFill>
                      <a:prstDash val="solid"/>
                      <a:round/>
                      <a:headEnd type="none" w="med" len="med"/>
                      <a:tailEnd type="none" w="med" len="med"/>
                    </a:lnB>
                    <a:solidFill>
                      <a:srgbClr val="F1EEFA"/>
                    </a:solidFill>
                  </a:tcPr>
                </a:tc>
                <a:tc>
                  <a:txBody>
                    <a:bodyPr/>
                    <a:lstStyle/>
                    <a:p>
                      <a:pPr indent="0" marL="0">
                        <a:buNone/>
                      </a:pPr>
                      <a:r>
                        <a:rPr lang="en-US" sz="1300" dirty="0">
                          <a:solidFill>
                            <a:srgbClr val="1F1B3A"/>
                          </a:solidFill>
                        </a:rPr>
                        <a:t>comma between adjectives of the same kind</a:t>
                      </a:r>
                      <a:endParaRPr lang="en-US" sz="1300" dirty="0"/>
                    </a:p>
                  </a:txBody>
                  <a:tcPr marL="91440" marR="91440" marT="45720" marB="45720" anchor="ctr">
                    <a:lnL w="12700" cap="flat" cmpd="sng" algn="ctr">
                      <a:solidFill>
                        <a:srgbClr val="BDB6D9"/>
                      </a:solidFill>
                      <a:prstDash val="solid"/>
                      <a:round/>
                      <a:headEnd type="none" w="med" len="med"/>
                      <a:tailEnd type="none" w="med" len="med"/>
                    </a:lnL>
                    <a:lnR w="12700" cap="flat" cmpd="sng" algn="ctr">
                      <a:solidFill>
                        <a:srgbClr val="BDB6D9"/>
                      </a:solidFill>
                      <a:prstDash val="solid"/>
                      <a:round/>
                      <a:headEnd type="none" w="med" len="med"/>
                      <a:tailEnd type="none" w="med" len="med"/>
                    </a:lnR>
                    <a:lnT w="12700" cap="flat" cmpd="sng" algn="ctr">
                      <a:solidFill>
                        <a:srgbClr val="BDB6D9"/>
                      </a:solidFill>
                      <a:prstDash val="solid"/>
                      <a:round/>
                      <a:headEnd type="none" w="med" len="med"/>
                      <a:tailEnd type="none" w="med" len="med"/>
                    </a:lnT>
                    <a:lnB w="12700" cap="flat" cmpd="sng" algn="ctr">
                      <a:solidFill>
                        <a:srgbClr val="BDB6D9"/>
                      </a:solidFill>
                      <a:prstDash val="solid"/>
                      <a:round/>
                      <a:headEnd type="none" w="med" len="med"/>
                      <a:tailEnd type="none" w="med" len="med"/>
                    </a:lnB>
                    <a:solidFill>
                      <a:srgbClr val="F1EEFA"/>
                    </a:solidFill>
                  </a:tcPr>
                </a:tc>
              </a:tr>
              <a:tr h="594360">
                <a:tc>
                  <a:txBody>
                    <a:bodyPr/>
                    <a:lstStyle/>
                    <a:p>
                      <a:pPr indent="0" marL="0">
                        <a:buNone/>
                      </a:pPr>
                      <a:r>
                        <a:rPr lang="en-US" sz="1300" b="1" dirty="0">
                          <a:solidFill>
                            <a:srgbClr val="1F1B3A"/>
                          </a:solidFill>
                        </a:rPr>
                        <a:t>after the verb 'be'</a:t>
                      </a:r>
                      <a:endParaRPr lang="en-US" sz="1300" dirty="0"/>
                    </a:p>
                  </a:txBody>
                  <a:tcPr marL="91440" marR="91440" marT="45720" marB="45720" anchor="ctr">
                    <a:lnL w="12700" cap="flat" cmpd="sng" algn="ctr">
                      <a:solidFill>
                        <a:srgbClr val="BDB6D9"/>
                      </a:solidFill>
                      <a:prstDash val="solid"/>
                      <a:round/>
                      <a:headEnd type="none" w="med" len="med"/>
                      <a:tailEnd type="none" w="med" len="med"/>
                    </a:lnL>
                    <a:lnR w="12700" cap="flat" cmpd="sng" algn="ctr">
                      <a:solidFill>
                        <a:srgbClr val="BDB6D9"/>
                      </a:solidFill>
                      <a:prstDash val="solid"/>
                      <a:round/>
                      <a:headEnd type="none" w="med" len="med"/>
                      <a:tailEnd type="none" w="med" len="med"/>
                    </a:lnR>
                    <a:lnT w="12700" cap="flat" cmpd="sng" algn="ctr">
                      <a:solidFill>
                        <a:srgbClr val="BDB6D9"/>
                      </a:solidFill>
                      <a:prstDash val="solid"/>
                      <a:round/>
                      <a:headEnd type="none" w="med" len="med"/>
                      <a:tailEnd type="none" w="med" len="med"/>
                    </a:lnT>
                    <a:lnB w="12700" cap="flat" cmpd="sng" algn="ctr">
                      <a:solidFill>
                        <a:srgbClr val="BDB6D9"/>
                      </a:solidFill>
                      <a:prstDash val="solid"/>
                      <a:round/>
                      <a:headEnd type="none" w="med" len="med"/>
                      <a:tailEnd type="none" w="med" len="med"/>
                    </a:lnB>
                    <a:solidFill>
                      <a:srgbClr val="F1EEFA"/>
                    </a:solidFill>
                  </a:tcPr>
                </a:tc>
                <a:tc>
                  <a:txBody>
                    <a:bodyPr/>
                    <a:lstStyle/>
                    <a:p>
                      <a:pPr indent="0" marL="0">
                        <a:buNone/>
                      </a:pPr>
                      <a:r>
                        <a:rPr lang="en-US" sz="1300" dirty="0">
                          <a:solidFill>
                            <a:srgbClr val="1F1B3A"/>
                          </a:solidFill>
                        </a:rPr>
                        <a:t>The tower was tall.</a:t>
                      </a:r>
                      <a:endParaRPr lang="en-US" sz="1300" dirty="0"/>
                    </a:p>
                  </a:txBody>
                  <a:tcPr marL="91440" marR="91440" marT="45720" marB="45720" anchor="ctr">
                    <a:lnL w="12700" cap="flat" cmpd="sng" algn="ctr">
                      <a:solidFill>
                        <a:srgbClr val="BDB6D9"/>
                      </a:solidFill>
                      <a:prstDash val="solid"/>
                      <a:round/>
                      <a:headEnd type="none" w="med" len="med"/>
                      <a:tailEnd type="none" w="med" len="med"/>
                    </a:lnL>
                    <a:lnR w="12700" cap="flat" cmpd="sng" algn="ctr">
                      <a:solidFill>
                        <a:srgbClr val="BDB6D9"/>
                      </a:solidFill>
                      <a:prstDash val="solid"/>
                      <a:round/>
                      <a:headEnd type="none" w="med" len="med"/>
                      <a:tailEnd type="none" w="med" len="med"/>
                    </a:lnR>
                    <a:lnT w="12700" cap="flat" cmpd="sng" algn="ctr">
                      <a:solidFill>
                        <a:srgbClr val="BDB6D9"/>
                      </a:solidFill>
                      <a:prstDash val="solid"/>
                      <a:round/>
                      <a:headEnd type="none" w="med" len="med"/>
                      <a:tailEnd type="none" w="med" len="med"/>
                    </a:lnT>
                    <a:lnB w="12700" cap="flat" cmpd="sng" algn="ctr">
                      <a:solidFill>
                        <a:srgbClr val="BDB6D9"/>
                      </a:solidFill>
                      <a:prstDash val="solid"/>
                      <a:round/>
                      <a:headEnd type="none" w="med" len="med"/>
                      <a:tailEnd type="none" w="med" len="med"/>
                    </a:lnB>
                    <a:solidFill>
                      <a:srgbClr val="F1EEFA"/>
                    </a:solidFill>
                  </a:tcPr>
                </a:tc>
                <a:tc>
                  <a:txBody>
                    <a:bodyPr/>
                    <a:lstStyle/>
                    <a:p>
                      <a:pPr indent="0" marL="0">
                        <a:buNone/>
                      </a:pPr>
                      <a:r>
                        <a:rPr lang="en-US" sz="1300" dirty="0">
                          <a:solidFill>
                            <a:srgbClr val="1F1B3A"/>
                          </a:solidFill>
                        </a:rPr>
                        <a:t>the adjective describes the subject</a:t>
                      </a:r>
                      <a:endParaRPr lang="en-US" sz="1300" dirty="0"/>
                    </a:p>
                  </a:txBody>
                  <a:tcPr marL="91440" marR="91440" marT="45720" marB="45720" anchor="ctr">
                    <a:lnL w="12700" cap="flat" cmpd="sng" algn="ctr">
                      <a:solidFill>
                        <a:srgbClr val="BDB6D9"/>
                      </a:solidFill>
                      <a:prstDash val="solid"/>
                      <a:round/>
                      <a:headEnd type="none" w="med" len="med"/>
                      <a:tailEnd type="none" w="med" len="med"/>
                    </a:lnL>
                    <a:lnR w="12700" cap="flat" cmpd="sng" algn="ctr">
                      <a:solidFill>
                        <a:srgbClr val="BDB6D9"/>
                      </a:solidFill>
                      <a:prstDash val="solid"/>
                      <a:round/>
                      <a:headEnd type="none" w="med" len="med"/>
                      <a:tailEnd type="none" w="med" len="med"/>
                    </a:lnR>
                    <a:lnT w="12700" cap="flat" cmpd="sng" algn="ctr">
                      <a:solidFill>
                        <a:srgbClr val="BDB6D9"/>
                      </a:solidFill>
                      <a:prstDash val="solid"/>
                      <a:round/>
                      <a:headEnd type="none" w="med" len="med"/>
                      <a:tailEnd type="none" w="med" len="med"/>
                    </a:lnT>
                    <a:lnB w="12700" cap="flat" cmpd="sng" algn="ctr">
                      <a:solidFill>
                        <a:srgbClr val="BDB6D9"/>
                      </a:solidFill>
                      <a:prstDash val="solid"/>
                      <a:round/>
                      <a:headEnd type="none" w="med" len="med"/>
                      <a:tailEnd type="none" w="med" len="med"/>
                    </a:lnB>
                    <a:solidFill>
                      <a:srgbClr val="F1EEFA"/>
                    </a:solidFill>
                  </a:tcPr>
                </a:tc>
              </a:tr>
              <a:tr h="594360">
                <a:tc>
                  <a:txBody>
                    <a:bodyPr/>
                    <a:lstStyle/>
                    <a:p>
                      <a:pPr indent="0" marL="0">
                        <a:buNone/>
                      </a:pPr>
                      <a:r>
                        <a:rPr lang="en-US" sz="1300" b="1" dirty="0">
                          <a:solidFill>
                            <a:srgbClr val="1F1B3A"/>
                          </a:solidFill>
                        </a:rPr>
                        <a:t>after the noun</a:t>
                      </a:r>
                      <a:endParaRPr lang="en-US" sz="1300" dirty="0"/>
                    </a:p>
                  </a:txBody>
                  <a:tcPr marL="91440" marR="91440" marT="45720" marB="45720" anchor="ctr">
                    <a:lnL w="12700" cap="flat" cmpd="sng" algn="ctr">
                      <a:solidFill>
                        <a:srgbClr val="BDB6D9"/>
                      </a:solidFill>
                      <a:prstDash val="solid"/>
                      <a:round/>
                      <a:headEnd type="none" w="med" len="med"/>
                      <a:tailEnd type="none" w="med" len="med"/>
                    </a:lnL>
                    <a:lnR w="12700" cap="flat" cmpd="sng" algn="ctr">
                      <a:solidFill>
                        <a:srgbClr val="BDB6D9"/>
                      </a:solidFill>
                      <a:prstDash val="solid"/>
                      <a:round/>
                      <a:headEnd type="none" w="med" len="med"/>
                      <a:tailEnd type="none" w="med" len="med"/>
                    </a:lnR>
                    <a:lnT w="12700" cap="flat" cmpd="sng" algn="ctr">
                      <a:solidFill>
                        <a:srgbClr val="BDB6D9"/>
                      </a:solidFill>
                      <a:prstDash val="solid"/>
                      <a:round/>
                      <a:headEnd type="none" w="med" len="med"/>
                      <a:tailEnd type="none" w="med" len="med"/>
                    </a:lnT>
                    <a:lnB w="12700" cap="flat" cmpd="sng" algn="ctr">
                      <a:solidFill>
                        <a:srgbClr val="BDB6D9"/>
                      </a:solidFill>
                      <a:prstDash val="solid"/>
                      <a:round/>
                      <a:headEnd type="none" w="med" len="med"/>
                      <a:tailEnd type="none" w="med" len="med"/>
                    </a:lnB>
                    <a:solidFill>
                      <a:srgbClr val="F1EEFA"/>
                    </a:solidFill>
                  </a:tcPr>
                </a:tc>
                <a:tc>
                  <a:txBody>
                    <a:bodyPr/>
                    <a:lstStyle/>
                    <a:p>
                      <a:pPr indent="0" marL="0">
                        <a:buNone/>
                      </a:pPr>
                      <a:r>
                        <a:rPr lang="en-US" sz="1300" dirty="0">
                          <a:solidFill>
                            <a:srgbClr val="1F1B3A"/>
                          </a:solidFill>
                        </a:rPr>
                        <a:t>the tower, silent and ruined,</a:t>
                      </a:r>
                      <a:endParaRPr lang="en-US" sz="1300" dirty="0"/>
                    </a:p>
                  </a:txBody>
                  <a:tcPr marL="91440" marR="91440" marT="45720" marB="45720" anchor="ctr">
                    <a:lnL w="12700" cap="flat" cmpd="sng" algn="ctr">
                      <a:solidFill>
                        <a:srgbClr val="BDB6D9"/>
                      </a:solidFill>
                      <a:prstDash val="solid"/>
                      <a:round/>
                      <a:headEnd type="none" w="med" len="med"/>
                      <a:tailEnd type="none" w="med" len="med"/>
                    </a:lnL>
                    <a:lnR w="12700" cap="flat" cmpd="sng" algn="ctr">
                      <a:solidFill>
                        <a:srgbClr val="BDB6D9"/>
                      </a:solidFill>
                      <a:prstDash val="solid"/>
                      <a:round/>
                      <a:headEnd type="none" w="med" len="med"/>
                      <a:tailEnd type="none" w="med" len="med"/>
                    </a:lnR>
                    <a:lnT w="12700" cap="flat" cmpd="sng" algn="ctr">
                      <a:solidFill>
                        <a:srgbClr val="BDB6D9"/>
                      </a:solidFill>
                      <a:prstDash val="solid"/>
                      <a:round/>
                      <a:headEnd type="none" w="med" len="med"/>
                      <a:tailEnd type="none" w="med" len="med"/>
                    </a:lnT>
                    <a:lnB w="12700" cap="flat" cmpd="sng" algn="ctr">
                      <a:solidFill>
                        <a:srgbClr val="BDB6D9"/>
                      </a:solidFill>
                      <a:prstDash val="solid"/>
                      <a:round/>
                      <a:headEnd type="none" w="med" len="med"/>
                      <a:tailEnd type="none" w="med" len="med"/>
                    </a:lnB>
                    <a:solidFill>
                      <a:srgbClr val="F1EEFA"/>
                    </a:solidFill>
                  </a:tcPr>
                </a:tc>
                <a:tc>
                  <a:txBody>
                    <a:bodyPr/>
                    <a:lstStyle/>
                    <a:p>
                      <a:pPr indent="0" marL="0">
                        <a:buNone/>
                      </a:pPr>
                      <a:r>
                        <a:rPr lang="en-US" sz="1300" dirty="0">
                          <a:solidFill>
                            <a:srgbClr val="1F1B3A"/>
                          </a:solidFill>
                        </a:rPr>
                        <a:t>commas go around the extra detail</a:t>
                      </a:r>
                      <a:endParaRPr lang="en-US" sz="1300" dirty="0"/>
                    </a:p>
                  </a:txBody>
                  <a:tcPr marL="91440" marR="91440" marT="45720" marB="45720" anchor="ctr">
                    <a:lnL w="12700" cap="flat" cmpd="sng" algn="ctr">
                      <a:solidFill>
                        <a:srgbClr val="BDB6D9"/>
                      </a:solidFill>
                      <a:prstDash val="solid"/>
                      <a:round/>
                      <a:headEnd type="none" w="med" len="med"/>
                      <a:tailEnd type="none" w="med" len="med"/>
                    </a:lnL>
                    <a:lnR w="12700" cap="flat" cmpd="sng" algn="ctr">
                      <a:solidFill>
                        <a:srgbClr val="BDB6D9"/>
                      </a:solidFill>
                      <a:prstDash val="solid"/>
                      <a:round/>
                      <a:headEnd type="none" w="med" len="med"/>
                      <a:tailEnd type="none" w="med" len="med"/>
                    </a:lnR>
                    <a:lnT w="12700" cap="flat" cmpd="sng" algn="ctr">
                      <a:solidFill>
                        <a:srgbClr val="BDB6D9"/>
                      </a:solidFill>
                      <a:prstDash val="solid"/>
                      <a:round/>
                      <a:headEnd type="none" w="med" len="med"/>
                      <a:tailEnd type="none" w="med" len="med"/>
                    </a:lnT>
                    <a:lnB w="12700" cap="flat" cmpd="sng" algn="ctr">
                      <a:solidFill>
                        <a:srgbClr val="BDB6D9"/>
                      </a:solidFill>
                      <a:prstDash val="solid"/>
                      <a:round/>
                      <a:headEnd type="none" w="med" len="med"/>
                      <a:tailEnd type="none" w="med" len="med"/>
                    </a:lnB>
                    <a:solidFill>
                      <a:srgbClr val="F1EEFA"/>
                    </a:solidFill>
                  </a:tcPr>
                </a:tc>
              </a:tr>
              <a:tr h="594360">
                <a:tc>
                  <a:txBody>
                    <a:bodyPr/>
                    <a:lstStyle/>
                    <a:p>
                      <a:pPr indent="0" marL="0">
                        <a:buNone/>
                      </a:pPr>
                      <a:r>
                        <a:rPr lang="en-US" sz="1300" b="1" dirty="0">
                          <a:solidFill>
                            <a:srgbClr val="1F1B3A"/>
                          </a:solidFill>
                        </a:rPr>
                        <a:t>with an adverb</a:t>
                      </a:r>
                      <a:endParaRPr lang="en-US" sz="1300" dirty="0"/>
                    </a:p>
                  </a:txBody>
                  <a:tcPr marL="91440" marR="91440" marT="45720" marB="45720" anchor="ctr">
                    <a:lnL w="12700" cap="flat" cmpd="sng" algn="ctr">
                      <a:solidFill>
                        <a:srgbClr val="BDB6D9"/>
                      </a:solidFill>
                      <a:prstDash val="solid"/>
                      <a:round/>
                      <a:headEnd type="none" w="med" len="med"/>
                      <a:tailEnd type="none" w="med" len="med"/>
                    </a:lnL>
                    <a:lnR w="12700" cap="flat" cmpd="sng" algn="ctr">
                      <a:solidFill>
                        <a:srgbClr val="BDB6D9"/>
                      </a:solidFill>
                      <a:prstDash val="solid"/>
                      <a:round/>
                      <a:headEnd type="none" w="med" len="med"/>
                      <a:tailEnd type="none" w="med" len="med"/>
                    </a:lnR>
                    <a:lnT w="12700" cap="flat" cmpd="sng" algn="ctr">
                      <a:solidFill>
                        <a:srgbClr val="BDB6D9"/>
                      </a:solidFill>
                      <a:prstDash val="solid"/>
                      <a:round/>
                      <a:headEnd type="none" w="med" len="med"/>
                      <a:tailEnd type="none" w="med" len="med"/>
                    </a:lnT>
                    <a:lnB w="12700" cap="flat" cmpd="sng" algn="ctr">
                      <a:solidFill>
                        <a:srgbClr val="BDB6D9"/>
                      </a:solidFill>
                      <a:prstDash val="solid"/>
                      <a:round/>
                      <a:headEnd type="none" w="med" len="med"/>
                      <a:tailEnd type="none" w="med" len="med"/>
                    </a:lnB>
                    <a:solidFill>
                      <a:srgbClr val="F1EEFA"/>
                    </a:solidFill>
                  </a:tcPr>
                </a:tc>
                <a:tc>
                  <a:txBody>
                    <a:bodyPr/>
                    <a:lstStyle/>
                    <a:p>
                      <a:pPr indent="0" marL="0">
                        <a:buNone/>
                      </a:pPr>
                      <a:r>
                        <a:rPr lang="en-US" sz="1300" dirty="0">
                          <a:solidFill>
                            <a:srgbClr val="1F1B3A"/>
                          </a:solidFill>
                        </a:rPr>
                        <a:t>a deeply silent forest</a:t>
                      </a:r>
                      <a:endParaRPr lang="en-US" sz="1300" dirty="0"/>
                    </a:p>
                  </a:txBody>
                  <a:tcPr marL="91440" marR="91440" marT="45720" marB="45720" anchor="ctr">
                    <a:lnL w="12700" cap="flat" cmpd="sng" algn="ctr">
                      <a:solidFill>
                        <a:srgbClr val="BDB6D9"/>
                      </a:solidFill>
                      <a:prstDash val="solid"/>
                      <a:round/>
                      <a:headEnd type="none" w="med" len="med"/>
                      <a:tailEnd type="none" w="med" len="med"/>
                    </a:lnL>
                    <a:lnR w="12700" cap="flat" cmpd="sng" algn="ctr">
                      <a:solidFill>
                        <a:srgbClr val="BDB6D9"/>
                      </a:solidFill>
                      <a:prstDash val="solid"/>
                      <a:round/>
                      <a:headEnd type="none" w="med" len="med"/>
                      <a:tailEnd type="none" w="med" len="med"/>
                    </a:lnR>
                    <a:lnT w="12700" cap="flat" cmpd="sng" algn="ctr">
                      <a:solidFill>
                        <a:srgbClr val="BDB6D9"/>
                      </a:solidFill>
                      <a:prstDash val="solid"/>
                      <a:round/>
                      <a:headEnd type="none" w="med" len="med"/>
                      <a:tailEnd type="none" w="med" len="med"/>
                    </a:lnT>
                    <a:lnB w="12700" cap="flat" cmpd="sng" algn="ctr">
                      <a:solidFill>
                        <a:srgbClr val="BDB6D9"/>
                      </a:solidFill>
                      <a:prstDash val="solid"/>
                      <a:round/>
                      <a:headEnd type="none" w="med" len="med"/>
                      <a:tailEnd type="none" w="med" len="med"/>
                    </a:lnB>
                    <a:solidFill>
                      <a:srgbClr val="F1EEFA"/>
                    </a:solidFill>
                  </a:tcPr>
                </a:tc>
                <a:tc>
                  <a:txBody>
                    <a:bodyPr/>
                    <a:lstStyle/>
                    <a:p>
                      <a:pPr indent="0" marL="0">
                        <a:buNone/>
                      </a:pPr>
                      <a:r>
                        <a:rPr lang="en-US" sz="1300" dirty="0">
                          <a:solidFill>
                            <a:srgbClr val="1F1B3A"/>
                          </a:solidFill>
                        </a:rPr>
                        <a:t>an adverb can describe an adjective</a:t>
                      </a:r>
                      <a:endParaRPr lang="en-US" sz="1300" dirty="0"/>
                    </a:p>
                  </a:txBody>
                  <a:tcPr marL="91440" marR="91440" marT="45720" marB="45720" anchor="ctr">
                    <a:lnL w="12700" cap="flat" cmpd="sng" algn="ctr">
                      <a:solidFill>
                        <a:srgbClr val="BDB6D9"/>
                      </a:solidFill>
                      <a:prstDash val="solid"/>
                      <a:round/>
                      <a:headEnd type="none" w="med" len="med"/>
                      <a:tailEnd type="none" w="med" len="med"/>
                    </a:lnL>
                    <a:lnR w="12700" cap="flat" cmpd="sng" algn="ctr">
                      <a:solidFill>
                        <a:srgbClr val="BDB6D9"/>
                      </a:solidFill>
                      <a:prstDash val="solid"/>
                      <a:round/>
                      <a:headEnd type="none" w="med" len="med"/>
                      <a:tailEnd type="none" w="med" len="med"/>
                    </a:lnR>
                    <a:lnT w="12700" cap="flat" cmpd="sng" algn="ctr">
                      <a:solidFill>
                        <a:srgbClr val="BDB6D9"/>
                      </a:solidFill>
                      <a:prstDash val="solid"/>
                      <a:round/>
                      <a:headEnd type="none" w="med" len="med"/>
                      <a:tailEnd type="none" w="med" len="med"/>
                    </a:lnT>
                    <a:lnB w="12700" cap="flat" cmpd="sng" algn="ctr">
                      <a:solidFill>
                        <a:srgbClr val="BDB6D9"/>
                      </a:solidFill>
                      <a:prstDash val="solid"/>
                      <a:round/>
                      <a:headEnd type="none" w="med" len="med"/>
                      <a:tailEnd type="none" w="med" len="med"/>
                    </a:lnB>
                    <a:solidFill>
                      <a:srgbClr val="F1EEFA"/>
                    </a:solidFill>
                  </a:tcPr>
                </a:tc>
              </a:tr>
            </a:tbl>
          </a:graphicData>
        </a:graphic>
      </p:graphicFrame>
      <p:sp>
        <p:nvSpPr>
          <p:cNvPr id="5" name="card"/>
          <p:cNvSpPr/>
          <p:nvPr/>
        </p:nvSpPr>
        <p:spPr>
          <a:xfrm>
            <a:off x="548640" y="4160520"/>
            <a:ext cx="8046720" cy="457200"/>
          </a:xfrm>
          <a:prstGeom prst="roundRect">
            <a:avLst>
              <a:gd name="adj" fmla="val 24000"/>
            </a:avLst>
          </a:prstGeom>
          <a:solidFill>
            <a:schemeClr val="accent1"/>
          </a:solidFill>
          <a:ln w="12700">
            <a:solidFill>
              <a:schemeClr val="accent1"/>
            </a:solidFill>
            <a:prstDash val="solid"/>
          </a:ln>
        </p:spPr>
      </p:sp>
      <p:sp>
        <p:nvSpPr>
          <p:cNvPr id="6" name="Text 2"/>
          <p:cNvSpPr txBox="1"/>
          <p:nvPr/>
        </p:nvSpPr>
        <p:spPr>
          <a:xfrm>
            <a:off x="731520" y="4160520"/>
            <a:ext cx="7680960" cy="457200"/>
          </a:xfrm>
          <a:prstGeom prst="rect">
            <a:avLst/>
          </a:prstGeom>
          <a:noFill/>
          <a:ln/>
        </p:spPr>
        <p:txBody>
          <a:bodyPr wrap="square" lIns="0" tIns="0" rIns="0" bIns="0" rtlCol="0" anchor="ctr"/>
          <a:lstStyle/>
          <a:p>
            <a:pPr indent="0" marL="0">
              <a:buNone/>
            </a:pPr>
            <a:r>
              <a:rPr lang="en-US" sz="1400" b="1" dirty="0">
                <a:solidFill>
                  <a:schemeClr val="tx1"/>
                </a:solidFill>
              </a:rPr>
              <a:t>Test for the comma: can you put 'and' between the adjectives? If yes, use a comma.</a:t>
            </a:r>
            <a:endParaRPr lang="en-US" sz="1400" dirty="0"/>
          </a:p>
        </p:txBody>
      </p:sp>
      <p:sp>
        <p:nvSpPr>
          <p:cNvPr id="25" name="Slide Number Placeholder 0"/>
          <p:cNvSpPr>
            <a:spLocks noGrp="1"/>
          </p:cNvSpPr>
          <p:nvPr>
            <p:ph type="sldNum" sz="quarter" idx="4294967295"/>
          </p:nvPr>
        </p:nvSpPr>
        <p:spPr>
          <a:xfrm>
            <a:off x="8229600" y="4736592"/>
            <a:ext cx="36576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6784"/>
                </a:solidFill>
              </a:defRPr>
            </a:lvl1pPr>
          </a:lstStyle>
          <a:p>
            <a:pPr algn="l"/>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8046720" cy="731520"/>
          </a:xfrm>
          <a:prstGeom prst="rect">
            <a:avLst/>
          </a:prstGeom>
          <a:noFill/>
          <a:ln/>
        </p:spPr>
        <p:txBody>
          <a:bodyPr wrap="square" lIns="0" tIns="0" rIns="0" bIns="0" rtlCol="0" anchor="ctr"/>
          <a:lstStyle/>
          <a:p>
            <a:pPr algn="l" indent="0" marL="0">
              <a:buNone/>
            </a:pPr>
            <a:r>
              <a:rPr lang="en-US" sz="3000" b="1" dirty="0">
                <a:solidFill>
                  <a:schemeClr val="tx1"/>
                </a:solidFill>
              </a:rPr>
              <a:t>Expanded noun phrases</a:t>
            </a:r>
            <a:endParaRPr lang="en-US" sz="300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548640" y="1097280"/>
          <a:ext cx="8046720" cy="914400"/>
        </p:xfrm>
        <a:graphic>
          <a:graphicData uri="http://schemas.openxmlformats.org/drawingml/2006/table">
            <a:tbl>
              <a:tblPr/>
              <a:tblGrid>
                <a:gridCol w="3291840"/>
                <a:gridCol w="4754880"/>
              </a:tblGrid>
              <a:tr h="411480">
                <a:tc>
                  <a:txBody>
                    <a:bodyPr/>
                    <a:lstStyle/>
                    <a:p>
                      <a:pPr algn="ctr" indent="0" marL="0">
                        <a:buNone/>
                      </a:pPr>
                      <a:r>
                        <a:rPr lang="en-US" sz="1400" b="1" dirty="0">
                          <a:solidFill>
                            <a:srgbClr val="FFFFFF"/>
                          </a:solidFill>
                        </a:rPr>
                        <a:t>Where the detail goes</a:t>
                      </a:r>
                      <a:endParaRPr lang="en-US" sz="1400" dirty="0"/>
                    </a:p>
                  </a:txBody>
                  <a:tcPr marL="91440" marR="91440" marT="45720" marB="45720" anchor="ctr">
                    <a:lnL w="12700" cap="flat" cmpd="sng" algn="ctr">
                      <a:solidFill>
                        <a:srgbClr val="BDB6D9"/>
                      </a:solidFill>
                      <a:prstDash val="solid"/>
                      <a:round/>
                      <a:headEnd type="none" w="med" len="med"/>
                      <a:tailEnd type="none" w="med" len="med"/>
                    </a:lnL>
                    <a:lnR w="12700" cap="flat" cmpd="sng" algn="ctr">
                      <a:solidFill>
                        <a:srgbClr val="BDB6D9"/>
                      </a:solidFill>
                      <a:prstDash val="solid"/>
                      <a:round/>
                      <a:headEnd type="none" w="med" len="med"/>
                      <a:tailEnd type="none" w="med" len="med"/>
                    </a:lnR>
                    <a:lnT w="12700" cap="flat" cmpd="sng" algn="ctr">
                      <a:solidFill>
                        <a:srgbClr val="BDB6D9"/>
                      </a:solidFill>
                      <a:prstDash val="solid"/>
                      <a:round/>
                      <a:headEnd type="none" w="med" len="med"/>
                      <a:tailEnd type="none" w="med" len="med"/>
                    </a:lnT>
                    <a:lnB w="12700" cap="flat" cmpd="sng" algn="ctr">
                      <a:solidFill>
                        <a:srgbClr val="BDB6D9"/>
                      </a:solidFill>
                      <a:prstDash val="solid"/>
                      <a:round/>
                      <a:headEnd type="none" w="med" len="med"/>
                      <a:tailEnd type="none" w="med" len="med"/>
                    </a:lnB>
                    <a:solidFill>
                      <a:srgbClr val="3B2F63"/>
                    </a:solidFill>
                  </a:tcPr>
                </a:tc>
                <a:tc>
                  <a:txBody>
                    <a:bodyPr/>
                    <a:lstStyle/>
                    <a:p>
                      <a:pPr algn="ctr" indent="0" marL="0">
                        <a:buNone/>
                      </a:pPr>
                      <a:r>
                        <a:rPr lang="en-US" sz="1400" b="1" dirty="0">
                          <a:solidFill>
                            <a:srgbClr val="FFFFFF"/>
                          </a:solidFill>
                        </a:rPr>
                        <a:t>Example</a:t>
                      </a:r>
                      <a:endParaRPr lang="en-US" sz="1400" dirty="0"/>
                    </a:p>
                  </a:txBody>
                  <a:tcPr marL="91440" marR="91440" marT="45720" marB="45720" anchor="ctr">
                    <a:lnL w="12700" cap="flat" cmpd="sng" algn="ctr">
                      <a:solidFill>
                        <a:srgbClr val="BDB6D9"/>
                      </a:solidFill>
                      <a:prstDash val="solid"/>
                      <a:round/>
                      <a:headEnd type="none" w="med" len="med"/>
                      <a:tailEnd type="none" w="med" len="med"/>
                    </a:lnL>
                    <a:lnR w="12700" cap="flat" cmpd="sng" algn="ctr">
                      <a:solidFill>
                        <a:srgbClr val="BDB6D9"/>
                      </a:solidFill>
                      <a:prstDash val="solid"/>
                      <a:round/>
                      <a:headEnd type="none" w="med" len="med"/>
                      <a:tailEnd type="none" w="med" len="med"/>
                    </a:lnR>
                    <a:lnT w="12700" cap="flat" cmpd="sng" algn="ctr">
                      <a:solidFill>
                        <a:srgbClr val="BDB6D9"/>
                      </a:solidFill>
                      <a:prstDash val="solid"/>
                      <a:round/>
                      <a:headEnd type="none" w="med" len="med"/>
                      <a:tailEnd type="none" w="med" len="med"/>
                    </a:lnT>
                    <a:lnB w="12700" cap="flat" cmpd="sng" algn="ctr">
                      <a:solidFill>
                        <a:srgbClr val="BDB6D9"/>
                      </a:solidFill>
                      <a:prstDash val="solid"/>
                      <a:round/>
                      <a:headEnd type="none" w="med" len="med"/>
                      <a:tailEnd type="none" w="med" len="med"/>
                    </a:lnB>
                    <a:solidFill>
                      <a:srgbClr val="3B2F63"/>
                    </a:solidFill>
                  </a:tcPr>
                </a:tc>
              </a:tr>
              <a:tr h="731520">
                <a:tc>
                  <a:txBody>
                    <a:bodyPr/>
                    <a:lstStyle/>
                    <a:p>
                      <a:pPr indent="0" marL="0">
                        <a:buNone/>
                      </a:pPr>
                      <a:r>
                        <a:rPr lang="en-US" sz="1400" b="1" dirty="0">
                          <a:solidFill>
                            <a:srgbClr val="1F1B3A"/>
                          </a:solidFill>
                        </a:rPr>
                        <a:t>Before the noun (adjectives)</a:t>
                      </a:r>
                      <a:endParaRPr lang="en-US" sz="1400" dirty="0"/>
                    </a:p>
                  </a:txBody>
                  <a:tcPr marL="91440" marR="91440" marT="45720" marB="45720" anchor="ctr">
                    <a:lnL w="12700" cap="flat" cmpd="sng" algn="ctr">
                      <a:solidFill>
                        <a:srgbClr val="BDB6D9"/>
                      </a:solidFill>
                      <a:prstDash val="solid"/>
                      <a:round/>
                      <a:headEnd type="none" w="med" len="med"/>
                      <a:tailEnd type="none" w="med" len="med"/>
                    </a:lnL>
                    <a:lnR w="12700" cap="flat" cmpd="sng" algn="ctr">
                      <a:solidFill>
                        <a:srgbClr val="BDB6D9"/>
                      </a:solidFill>
                      <a:prstDash val="solid"/>
                      <a:round/>
                      <a:headEnd type="none" w="med" len="med"/>
                      <a:tailEnd type="none" w="med" len="med"/>
                    </a:lnR>
                    <a:lnT w="12700" cap="flat" cmpd="sng" algn="ctr">
                      <a:solidFill>
                        <a:srgbClr val="BDB6D9"/>
                      </a:solidFill>
                      <a:prstDash val="solid"/>
                      <a:round/>
                      <a:headEnd type="none" w="med" len="med"/>
                      <a:tailEnd type="none" w="med" len="med"/>
                    </a:lnT>
                    <a:lnB w="12700" cap="flat" cmpd="sng" algn="ctr">
                      <a:solidFill>
                        <a:srgbClr val="BDB6D9"/>
                      </a:solidFill>
                      <a:prstDash val="solid"/>
                      <a:round/>
                      <a:headEnd type="none" w="med" len="med"/>
                      <a:tailEnd type="none" w="med" len="med"/>
                    </a:lnB>
                    <a:solidFill>
                      <a:srgbClr val="F1EEFA"/>
                    </a:solidFill>
                  </a:tcPr>
                </a:tc>
                <a:tc>
                  <a:txBody>
                    <a:bodyPr/>
                    <a:lstStyle/>
                    <a:p>
                      <a:pPr indent="0" marL="0">
                        <a:buNone/>
                      </a:pPr>
                      <a:r>
                        <a:rPr lang="en-US" sz="1400" dirty="0">
                          <a:solidFill>
                            <a:srgbClr val="1F1B3A"/>
                          </a:solidFill>
                        </a:rPr>
                        <a:t>the tall, crooked tower</a:t>
                      </a:r>
                      <a:endParaRPr lang="en-US" sz="1400" dirty="0"/>
                    </a:p>
                  </a:txBody>
                  <a:tcPr marL="91440" marR="91440" marT="45720" marB="45720" anchor="ctr">
                    <a:lnL w="12700" cap="flat" cmpd="sng" algn="ctr">
                      <a:solidFill>
                        <a:srgbClr val="BDB6D9"/>
                      </a:solidFill>
                      <a:prstDash val="solid"/>
                      <a:round/>
                      <a:headEnd type="none" w="med" len="med"/>
                      <a:tailEnd type="none" w="med" len="med"/>
                    </a:lnL>
                    <a:lnR w="12700" cap="flat" cmpd="sng" algn="ctr">
                      <a:solidFill>
                        <a:srgbClr val="BDB6D9"/>
                      </a:solidFill>
                      <a:prstDash val="solid"/>
                      <a:round/>
                      <a:headEnd type="none" w="med" len="med"/>
                      <a:tailEnd type="none" w="med" len="med"/>
                    </a:lnR>
                    <a:lnT w="12700" cap="flat" cmpd="sng" algn="ctr">
                      <a:solidFill>
                        <a:srgbClr val="BDB6D9"/>
                      </a:solidFill>
                      <a:prstDash val="solid"/>
                      <a:round/>
                      <a:headEnd type="none" w="med" len="med"/>
                      <a:tailEnd type="none" w="med" len="med"/>
                    </a:lnT>
                    <a:lnB w="12700" cap="flat" cmpd="sng" algn="ctr">
                      <a:solidFill>
                        <a:srgbClr val="BDB6D9"/>
                      </a:solidFill>
                      <a:prstDash val="solid"/>
                      <a:round/>
                      <a:headEnd type="none" w="med" len="med"/>
                      <a:tailEnd type="none" w="med" len="med"/>
                    </a:lnB>
                    <a:solidFill>
                      <a:srgbClr val="F1EEFA"/>
                    </a:solidFill>
                  </a:tcPr>
                </a:tc>
              </a:tr>
              <a:tr h="731520">
                <a:tc>
                  <a:txBody>
                    <a:bodyPr/>
                    <a:lstStyle/>
                    <a:p>
                      <a:pPr indent="0" marL="0">
                        <a:buNone/>
                      </a:pPr>
                      <a:r>
                        <a:rPr lang="en-US" sz="1400" b="1" dirty="0">
                          <a:solidFill>
                            <a:srgbClr val="1F1B3A"/>
                          </a:solidFill>
                        </a:rPr>
                        <a:t>After the noun (prepositional phrase)</a:t>
                      </a:r>
                      <a:endParaRPr lang="en-US" sz="1400" dirty="0"/>
                    </a:p>
                  </a:txBody>
                  <a:tcPr marL="91440" marR="91440" marT="45720" marB="45720" anchor="ctr">
                    <a:lnL w="12700" cap="flat" cmpd="sng" algn="ctr">
                      <a:solidFill>
                        <a:srgbClr val="BDB6D9"/>
                      </a:solidFill>
                      <a:prstDash val="solid"/>
                      <a:round/>
                      <a:headEnd type="none" w="med" len="med"/>
                      <a:tailEnd type="none" w="med" len="med"/>
                    </a:lnL>
                    <a:lnR w="12700" cap="flat" cmpd="sng" algn="ctr">
                      <a:solidFill>
                        <a:srgbClr val="BDB6D9"/>
                      </a:solidFill>
                      <a:prstDash val="solid"/>
                      <a:round/>
                      <a:headEnd type="none" w="med" len="med"/>
                      <a:tailEnd type="none" w="med" len="med"/>
                    </a:lnR>
                    <a:lnT w="12700" cap="flat" cmpd="sng" algn="ctr">
                      <a:solidFill>
                        <a:srgbClr val="BDB6D9"/>
                      </a:solidFill>
                      <a:prstDash val="solid"/>
                      <a:round/>
                      <a:headEnd type="none" w="med" len="med"/>
                      <a:tailEnd type="none" w="med" len="med"/>
                    </a:lnT>
                    <a:lnB w="12700" cap="flat" cmpd="sng" algn="ctr">
                      <a:solidFill>
                        <a:srgbClr val="BDB6D9"/>
                      </a:solidFill>
                      <a:prstDash val="solid"/>
                      <a:round/>
                      <a:headEnd type="none" w="med" len="med"/>
                      <a:tailEnd type="none" w="med" len="med"/>
                    </a:lnB>
                    <a:solidFill>
                      <a:srgbClr val="F1EEFA"/>
                    </a:solidFill>
                  </a:tcPr>
                </a:tc>
                <a:tc>
                  <a:txBody>
                    <a:bodyPr/>
                    <a:lstStyle/>
                    <a:p>
                      <a:pPr indent="0" marL="0">
                        <a:buNone/>
                      </a:pPr>
                      <a:r>
                        <a:rPr lang="en-US" sz="1400" dirty="0">
                          <a:solidFill>
                            <a:srgbClr val="1F1B3A"/>
                          </a:solidFill>
                        </a:rPr>
                        <a:t>the tower beside the frozen canal</a:t>
                      </a:r>
                      <a:endParaRPr lang="en-US" sz="1400" dirty="0"/>
                    </a:p>
                  </a:txBody>
                  <a:tcPr marL="91440" marR="91440" marT="45720" marB="45720" anchor="ctr">
                    <a:lnL w="12700" cap="flat" cmpd="sng" algn="ctr">
                      <a:solidFill>
                        <a:srgbClr val="BDB6D9"/>
                      </a:solidFill>
                      <a:prstDash val="solid"/>
                      <a:round/>
                      <a:headEnd type="none" w="med" len="med"/>
                      <a:tailEnd type="none" w="med" len="med"/>
                    </a:lnL>
                    <a:lnR w="12700" cap="flat" cmpd="sng" algn="ctr">
                      <a:solidFill>
                        <a:srgbClr val="BDB6D9"/>
                      </a:solidFill>
                      <a:prstDash val="solid"/>
                      <a:round/>
                      <a:headEnd type="none" w="med" len="med"/>
                      <a:tailEnd type="none" w="med" len="med"/>
                    </a:lnR>
                    <a:lnT w="12700" cap="flat" cmpd="sng" algn="ctr">
                      <a:solidFill>
                        <a:srgbClr val="BDB6D9"/>
                      </a:solidFill>
                      <a:prstDash val="solid"/>
                      <a:round/>
                      <a:headEnd type="none" w="med" len="med"/>
                      <a:tailEnd type="none" w="med" len="med"/>
                    </a:lnT>
                    <a:lnB w="12700" cap="flat" cmpd="sng" algn="ctr">
                      <a:solidFill>
                        <a:srgbClr val="BDB6D9"/>
                      </a:solidFill>
                      <a:prstDash val="solid"/>
                      <a:round/>
                      <a:headEnd type="none" w="med" len="med"/>
                      <a:tailEnd type="none" w="med" len="med"/>
                    </a:lnB>
                    <a:solidFill>
                      <a:srgbClr val="F1EEFA"/>
                    </a:solidFill>
                  </a:tcPr>
                </a:tc>
              </a:tr>
              <a:tr h="731520">
                <a:tc>
                  <a:txBody>
                    <a:bodyPr/>
                    <a:lstStyle/>
                    <a:p>
                      <a:pPr indent="0" marL="0">
                        <a:buNone/>
                      </a:pPr>
                      <a:r>
                        <a:rPr lang="en-US" sz="1400" b="1" dirty="0">
                          <a:solidFill>
                            <a:srgbClr val="1F1B3A"/>
                          </a:solidFill>
                        </a:rPr>
                        <a:t>After the noun (adjective phrase)</a:t>
                      </a:r>
                      <a:endParaRPr lang="en-US" sz="1400" dirty="0"/>
                    </a:p>
                  </a:txBody>
                  <a:tcPr marL="91440" marR="91440" marT="45720" marB="45720" anchor="ctr">
                    <a:lnL w="12700" cap="flat" cmpd="sng" algn="ctr">
                      <a:solidFill>
                        <a:srgbClr val="BDB6D9"/>
                      </a:solidFill>
                      <a:prstDash val="solid"/>
                      <a:round/>
                      <a:headEnd type="none" w="med" len="med"/>
                      <a:tailEnd type="none" w="med" len="med"/>
                    </a:lnL>
                    <a:lnR w="12700" cap="flat" cmpd="sng" algn="ctr">
                      <a:solidFill>
                        <a:srgbClr val="BDB6D9"/>
                      </a:solidFill>
                      <a:prstDash val="solid"/>
                      <a:round/>
                      <a:headEnd type="none" w="med" len="med"/>
                      <a:tailEnd type="none" w="med" len="med"/>
                    </a:lnR>
                    <a:lnT w="12700" cap="flat" cmpd="sng" algn="ctr">
                      <a:solidFill>
                        <a:srgbClr val="BDB6D9"/>
                      </a:solidFill>
                      <a:prstDash val="solid"/>
                      <a:round/>
                      <a:headEnd type="none" w="med" len="med"/>
                      <a:tailEnd type="none" w="med" len="med"/>
                    </a:lnT>
                    <a:lnB w="12700" cap="flat" cmpd="sng" algn="ctr">
                      <a:solidFill>
                        <a:srgbClr val="BDB6D9"/>
                      </a:solidFill>
                      <a:prstDash val="solid"/>
                      <a:round/>
                      <a:headEnd type="none" w="med" len="med"/>
                      <a:tailEnd type="none" w="med" len="med"/>
                    </a:lnB>
                    <a:solidFill>
                      <a:srgbClr val="F1EEFA"/>
                    </a:solidFill>
                  </a:tcPr>
                </a:tc>
                <a:tc>
                  <a:txBody>
                    <a:bodyPr/>
                    <a:lstStyle/>
                    <a:p>
                      <a:pPr indent="0" marL="0">
                        <a:buNone/>
                      </a:pPr>
                      <a:r>
                        <a:rPr lang="en-US" sz="1400" dirty="0">
                          <a:solidFill>
                            <a:srgbClr val="1F1B3A"/>
                          </a:solidFill>
                        </a:rPr>
                        <a:t>the tower, silent and ruined, </a:t>
                      </a:r>
                      <a:endParaRPr lang="en-US" sz="1400" dirty="0"/>
                    </a:p>
                  </a:txBody>
                  <a:tcPr marL="91440" marR="91440" marT="45720" marB="45720" anchor="ctr">
                    <a:lnL w="12700" cap="flat" cmpd="sng" algn="ctr">
                      <a:solidFill>
                        <a:srgbClr val="BDB6D9"/>
                      </a:solidFill>
                      <a:prstDash val="solid"/>
                      <a:round/>
                      <a:headEnd type="none" w="med" len="med"/>
                      <a:tailEnd type="none" w="med" len="med"/>
                    </a:lnL>
                    <a:lnR w="12700" cap="flat" cmpd="sng" algn="ctr">
                      <a:solidFill>
                        <a:srgbClr val="BDB6D9"/>
                      </a:solidFill>
                      <a:prstDash val="solid"/>
                      <a:round/>
                      <a:headEnd type="none" w="med" len="med"/>
                      <a:tailEnd type="none" w="med" len="med"/>
                    </a:lnR>
                    <a:lnT w="12700" cap="flat" cmpd="sng" algn="ctr">
                      <a:solidFill>
                        <a:srgbClr val="BDB6D9"/>
                      </a:solidFill>
                      <a:prstDash val="solid"/>
                      <a:round/>
                      <a:headEnd type="none" w="med" len="med"/>
                      <a:tailEnd type="none" w="med" len="med"/>
                    </a:lnT>
                    <a:lnB w="12700" cap="flat" cmpd="sng" algn="ctr">
                      <a:solidFill>
                        <a:srgbClr val="BDB6D9"/>
                      </a:solidFill>
                      <a:prstDash val="solid"/>
                      <a:round/>
                      <a:headEnd type="none" w="med" len="med"/>
                      <a:tailEnd type="none" w="med" len="med"/>
                    </a:lnB>
                    <a:solidFill>
                      <a:srgbClr val="F1EEFA"/>
                    </a:solidFill>
                  </a:tcPr>
                </a:tc>
              </a:tr>
            </a:tbl>
          </a:graphicData>
        </a:graphic>
      </p:graphicFrame>
      <p:sp>
        <p:nvSpPr>
          <p:cNvPr id="5" name="card"/>
          <p:cNvSpPr/>
          <p:nvPr/>
        </p:nvSpPr>
        <p:spPr>
          <a:xfrm>
            <a:off x="548640" y="4160520"/>
            <a:ext cx="8046720" cy="457200"/>
          </a:xfrm>
          <a:prstGeom prst="roundRect">
            <a:avLst>
              <a:gd name="adj" fmla="val 24000"/>
            </a:avLst>
          </a:prstGeom>
          <a:solidFill>
            <a:schemeClr val="accent1"/>
          </a:solidFill>
          <a:ln w="12700">
            <a:solidFill>
              <a:schemeClr val="accent1"/>
            </a:solidFill>
            <a:prstDash val="solid"/>
          </a:ln>
        </p:spPr>
      </p:sp>
      <p:sp>
        <p:nvSpPr>
          <p:cNvPr id="6" name="Text 2"/>
          <p:cNvSpPr txBox="1"/>
          <p:nvPr/>
        </p:nvSpPr>
        <p:spPr>
          <a:xfrm>
            <a:off x="731520" y="4160520"/>
            <a:ext cx="7680960" cy="457200"/>
          </a:xfrm>
          <a:prstGeom prst="rect">
            <a:avLst/>
          </a:prstGeom>
          <a:noFill/>
          <a:ln/>
        </p:spPr>
        <p:txBody>
          <a:bodyPr wrap="square" lIns="0" tIns="0" rIns="0" bIns="0" rtlCol="0" anchor="ctr"/>
          <a:lstStyle/>
          <a:p>
            <a:pPr indent="0" marL="0">
              <a:buNone/>
            </a:pPr>
            <a:r>
              <a:rPr lang="en-US" sz="1400" b="1" dirty="0">
                <a:solidFill>
                  <a:schemeClr val="tx1"/>
                </a:solidFill>
              </a:rPr>
              <a:t>A noun phrase can carry a lot of detail. Commas go around an adjective phrase placed after a noun.</a:t>
            </a:r>
            <a:endParaRPr lang="en-US" sz="1400" dirty="0"/>
          </a:p>
        </p:txBody>
      </p:sp>
      <p:sp>
        <p:nvSpPr>
          <p:cNvPr id="25" name="Slide Number Placeholder 0"/>
          <p:cNvSpPr>
            <a:spLocks noGrp="1"/>
          </p:cNvSpPr>
          <p:nvPr>
            <p:ph type="sldNum" sz="quarter" idx="4294967295"/>
          </p:nvPr>
        </p:nvSpPr>
        <p:spPr>
          <a:xfrm>
            <a:off x="8229600" y="4736592"/>
            <a:ext cx="36576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6784"/>
                </a:solidFill>
              </a:defRPr>
            </a:lvl1pPr>
          </a:lstStyle>
          <a:p>
            <a:pPr algn="l"/>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8046720" cy="731520"/>
          </a:xfrm>
          <a:prstGeom prst="rect">
            <a:avLst/>
          </a:prstGeom>
          <a:noFill/>
          <a:ln/>
        </p:spPr>
        <p:txBody>
          <a:bodyPr wrap="square" lIns="0" tIns="0" rIns="0" bIns="0" rtlCol="0" anchor="ctr"/>
          <a:lstStyle/>
          <a:p>
            <a:pPr algn="l" indent="0" marL="0">
              <a:buNone/>
            </a:pPr>
            <a:r>
              <a:rPr lang="en-US" sz="3000" b="1" dirty="0">
                <a:solidFill>
                  <a:schemeClr val="tx1"/>
                </a:solidFill>
              </a:rPr>
              <a:t>Adverbs change the verb</a:t>
            </a:r>
            <a:endParaRPr lang="en-US" sz="300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548640" y="1097280"/>
          <a:ext cx="8046720" cy="914400"/>
        </p:xfrm>
        <a:graphic>
          <a:graphicData uri="http://schemas.openxmlformats.org/drawingml/2006/table">
            <a:tbl>
              <a:tblPr/>
              <a:tblGrid>
                <a:gridCol w="4023360"/>
                <a:gridCol w="1463040"/>
                <a:gridCol w="2560320"/>
              </a:tblGrid>
              <a:tr h="365760">
                <a:tc>
                  <a:txBody>
                    <a:bodyPr/>
                    <a:lstStyle/>
                    <a:p>
                      <a:pPr algn="ctr" indent="0" marL="0">
                        <a:buNone/>
                      </a:pPr>
                      <a:r>
                        <a:rPr lang="en-US" sz="1400" b="1" dirty="0">
                          <a:solidFill>
                            <a:srgbClr val="FFFFFF"/>
                          </a:solidFill>
                        </a:rPr>
                        <a:t>Sentence</a:t>
                      </a:r>
                      <a:endParaRPr lang="en-US" sz="1400" dirty="0"/>
                    </a:p>
                  </a:txBody>
                  <a:tcPr marL="91440" marR="91440" marT="45720" marB="45720" anchor="ctr">
                    <a:lnL w="12700" cap="flat" cmpd="sng" algn="ctr">
                      <a:solidFill>
                        <a:srgbClr val="BDB6D9"/>
                      </a:solidFill>
                      <a:prstDash val="solid"/>
                      <a:round/>
                      <a:headEnd type="none" w="med" len="med"/>
                      <a:tailEnd type="none" w="med" len="med"/>
                    </a:lnL>
                    <a:lnR w="12700" cap="flat" cmpd="sng" algn="ctr">
                      <a:solidFill>
                        <a:srgbClr val="BDB6D9"/>
                      </a:solidFill>
                      <a:prstDash val="solid"/>
                      <a:round/>
                      <a:headEnd type="none" w="med" len="med"/>
                      <a:tailEnd type="none" w="med" len="med"/>
                    </a:lnR>
                    <a:lnT w="12700" cap="flat" cmpd="sng" algn="ctr">
                      <a:solidFill>
                        <a:srgbClr val="BDB6D9"/>
                      </a:solidFill>
                      <a:prstDash val="solid"/>
                      <a:round/>
                      <a:headEnd type="none" w="med" len="med"/>
                      <a:tailEnd type="none" w="med" len="med"/>
                    </a:lnT>
                    <a:lnB w="12700" cap="flat" cmpd="sng" algn="ctr">
                      <a:solidFill>
                        <a:srgbClr val="BDB6D9"/>
                      </a:solidFill>
                      <a:prstDash val="solid"/>
                      <a:round/>
                      <a:headEnd type="none" w="med" len="med"/>
                      <a:tailEnd type="none" w="med" len="med"/>
                    </a:lnB>
                    <a:solidFill>
                      <a:srgbClr val="3B2F63"/>
                    </a:solidFill>
                  </a:tcPr>
                </a:tc>
                <a:tc>
                  <a:txBody>
                    <a:bodyPr/>
                    <a:lstStyle/>
                    <a:p>
                      <a:pPr algn="ctr" indent="0" marL="0">
                        <a:buNone/>
                      </a:pPr>
                      <a:r>
                        <a:rPr lang="en-US" sz="1400" b="1" dirty="0">
                          <a:solidFill>
                            <a:srgbClr val="FFFFFF"/>
                          </a:solidFill>
                        </a:rPr>
                        <a:t>Adverb</a:t>
                      </a:r>
                      <a:endParaRPr lang="en-US" sz="1400" dirty="0"/>
                    </a:p>
                  </a:txBody>
                  <a:tcPr marL="91440" marR="91440" marT="45720" marB="45720" anchor="ctr">
                    <a:lnL w="12700" cap="flat" cmpd="sng" algn="ctr">
                      <a:solidFill>
                        <a:srgbClr val="BDB6D9"/>
                      </a:solidFill>
                      <a:prstDash val="solid"/>
                      <a:round/>
                      <a:headEnd type="none" w="med" len="med"/>
                      <a:tailEnd type="none" w="med" len="med"/>
                    </a:lnL>
                    <a:lnR w="12700" cap="flat" cmpd="sng" algn="ctr">
                      <a:solidFill>
                        <a:srgbClr val="BDB6D9"/>
                      </a:solidFill>
                      <a:prstDash val="solid"/>
                      <a:round/>
                      <a:headEnd type="none" w="med" len="med"/>
                      <a:tailEnd type="none" w="med" len="med"/>
                    </a:lnR>
                    <a:lnT w="12700" cap="flat" cmpd="sng" algn="ctr">
                      <a:solidFill>
                        <a:srgbClr val="BDB6D9"/>
                      </a:solidFill>
                      <a:prstDash val="solid"/>
                      <a:round/>
                      <a:headEnd type="none" w="med" len="med"/>
                      <a:tailEnd type="none" w="med" len="med"/>
                    </a:lnT>
                    <a:lnB w="12700" cap="flat" cmpd="sng" algn="ctr">
                      <a:solidFill>
                        <a:srgbClr val="BDB6D9"/>
                      </a:solidFill>
                      <a:prstDash val="solid"/>
                      <a:round/>
                      <a:headEnd type="none" w="med" len="med"/>
                      <a:tailEnd type="none" w="med" len="med"/>
                    </a:lnB>
                    <a:solidFill>
                      <a:srgbClr val="3B2F63"/>
                    </a:solidFill>
                  </a:tcPr>
                </a:tc>
                <a:tc>
                  <a:txBody>
                    <a:bodyPr/>
                    <a:lstStyle/>
                    <a:p>
                      <a:pPr algn="ctr" indent="0" marL="0">
                        <a:buNone/>
                      </a:pPr>
                      <a:r>
                        <a:rPr lang="en-US" sz="1400" b="1" dirty="0">
                          <a:solidFill>
                            <a:srgbClr val="FFFFFF"/>
                          </a:solidFill>
                        </a:rPr>
                        <a:t>What we learn</a:t>
                      </a:r>
                      <a:endParaRPr lang="en-US" sz="1400" dirty="0"/>
                    </a:p>
                  </a:txBody>
                  <a:tcPr marL="91440" marR="91440" marT="45720" marB="45720" anchor="ctr">
                    <a:lnL w="12700" cap="flat" cmpd="sng" algn="ctr">
                      <a:solidFill>
                        <a:srgbClr val="BDB6D9"/>
                      </a:solidFill>
                      <a:prstDash val="solid"/>
                      <a:round/>
                      <a:headEnd type="none" w="med" len="med"/>
                      <a:tailEnd type="none" w="med" len="med"/>
                    </a:lnL>
                    <a:lnR w="12700" cap="flat" cmpd="sng" algn="ctr">
                      <a:solidFill>
                        <a:srgbClr val="BDB6D9"/>
                      </a:solidFill>
                      <a:prstDash val="solid"/>
                      <a:round/>
                      <a:headEnd type="none" w="med" len="med"/>
                      <a:tailEnd type="none" w="med" len="med"/>
                    </a:lnR>
                    <a:lnT w="12700" cap="flat" cmpd="sng" algn="ctr">
                      <a:solidFill>
                        <a:srgbClr val="BDB6D9"/>
                      </a:solidFill>
                      <a:prstDash val="solid"/>
                      <a:round/>
                      <a:headEnd type="none" w="med" len="med"/>
                      <a:tailEnd type="none" w="med" len="med"/>
                    </a:lnT>
                    <a:lnB w="12700" cap="flat" cmpd="sng" algn="ctr">
                      <a:solidFill>
                        <a:srgbClr val="BDB6D9"/>
                      </a:solidFill>
                      <a:prstDash val="solid"/>
                      <a:round/>
                      <a:headEnd type="none" w="med" len="med"/>
                      <a:tailEnd type="none" w="med" len="med"/>
                    </a:lnB>
                    <a:solidFill>
                      <a:srgbClr val="3B2F63"/>
                    </a:solidFill>
                  </a:tcPr>
                </a:tc>
              </a:tr>
              <a:tr h="594360">
                <a:tc>
                  <a:txBody>
                    <a:bodyPr/>
                    <a:lstStyle/>
                    <a:p>
                      <a:pPr indent="0" marL="0">
                        <a:buNone/>
                      </a:pPr>
                      <a:r>
                        <a:rPr lang="en-US" sz="1300" b="1" dirty="0">
                          <a:solidFill>
                            <a:srgbClr val="1F1B3A"/>
                          </a:solidFill>
                        </a:rPr>
                        <a:t>Tulsi stepped into the cave.</a:t>
                      </a:r>
                      <a:endParaRPr lang="en-US" sz="1300" dirty="0"/>
                    </a:p>
                  </a:txBody>
                  <a:tcPr marL="91440" marR="91440" marT="45720" marB="45720" anchor="ctr">
                    <a:lnL w="12700" cap="flat" cmpd="sng" algn="ctr">
                      <a:solidFill>
                        <a:srgbClr val="BDB6D9"/>
                      </a:solidFill>
                      <a:prstDash val="solid"/>
                      <a:round/>
                      <a:headEnd type="none" w="med" len="med"/>
                      <a:tailEnd type="none" w="med" len="med"/>
                    </a:lnL>
                    <a:lnR w="12700" cap="flat" cmpd="sng" algn="ctr">
                      <a:solidFill>
                        <a:srgbClr val="BDB6D9"/>
                      </a:solidFill>
                      <a:prstDash val="solid"/>
                      <a:round/>
                      <a:headEnd type="none" w="med" len="med"/>
                      <a:tailEnd type="none" w="med" len="med"/>
                    </a:lnR>
                    <a:lnT w="12700" cap="flat" cmpd="sng" algn="ctr">
                      <a:solidFill>
                        <a:srgbClr val="BDB6D9"/>
                      </a:solidFill>
                      <a:prstDash val="solid"/>
                      <a:round/>
                      <a:headEnd type="none" w="med" len="med"/>
                      <a:tailEnd type="none" w="med" len="med"/>
                    </a:lnT>
                    <a:lnB w="12700" cap="flat" cmpd="sng" algn="ctr">
                      <a:solidFill>
                        <a:srgbClr val="BDB6D9"/>
                      </a:solidFill>
                      <a:prstDash val="solid"/>
                      <a:round/>
                      <a:headEnd type="none" w="med" len="med"/>
                      <a:tailEnd type="none" w="med" len="med"/>
                    </a:lnB>
                    <a:solidFill>
                      <a:srgbClr val="F1EEFA"/>
                    </a:solidFill>
                  </a:tcPr>
                </a:tc>
                <a:tc>
                  <a:txBody>
                    <a:bodyPr/>
                    <a:lstStyle/>
                    <a:p>
                      <a:pPr indent="0" marL="0">
                        <a:buNone/>
                      </a:pPr>
                      <a:r>
                        <a:rPr lang="en-US" sz="1300" dirty="0">
                          <a:solidFill>
                            <a:srgbClr val="1F1B3A"/>
                          </a:solidFill>
                        </a:rPr>
                        <a:t>none</a:t>
                      </a:r>
                      <a:endParaRPr lang="en-US" sz="1300" dirty="0"/>
                    </a:p>
                  </a:txBody>
                  <a:tcPr marL="91440" marR="91440" marT="45720" marB="45720" anchor="ctr">
                    <a:lnL w="12700" cap="flat" cmpd="sng" algn="ctr">
                      <a:solidFill>
                        <a:srgbClr val="BDB6D9"/>
                      </a:solidFill>
                      <a:prstDash val="solid"/>
                      <a:round/>
                      <a:headEnd type="none" w="med" len="med"/>
                      <a:tailEnd type="none" w="med" len="med"/>
                    </a:lnL>
                    <a:lnR w="12700" cap="flat" cmpd="sng" algn="ctr">
                      <a:solidFill>
                        <a:srgbClr val="BDB6D9"/>
                      </a:solidFill>
                      <a:prstDash val="solid"/>
                      <a:round/>
                      <a:headEnd type="none" w="med" len="med"/>
                      <a:tailEnd type="none" w="med" len="med"/>
                    </a:lnR>
                    <a:lnT w="12700" cap="flat" cmpd="sng" algn="ctr">
                      <a:solidFill>
                        <a:srgbClr val="BDB6D9"/>
                      </a:solidFill>
                      <a:prstDash val="solid"/>
                      <a:round/>
                      <a:headEnd type="none" w="med" len="med"/>
                      <a:tailEnd type="none" w="med" len="med"/>
                    </a:lnT>
                    <a:lnB w="12700" cap="flat" cmpd="sng" algn="ctr">
                      <a:solidFill>
                        <a:srgbClr val="BDB6D9"/>
                      </a:solidFill>
                      <a:prstDash val="solid"/>
                      <a:round/>
                      <a:headEnd type="none" w="med" len="med"/>
                      <a:tailEnd type="none" w="med" len="med"/>
                    </a:lnB>
                    <a:solidFill>
                      <a:srgbClr val="F1EEFA"/>
                    </a:solidFill>
                  </a:tcPr>
                </a:tc>
                <a:tc>
                  <a:txBody>
                    <a:bodyPr/>
                    <a:lstStyle/>
                    <a:p>
                      <a:pPr indent="0" marL="0">
                        <a:buNone/>
                      </a:pPr>
                      <a:r>
                        <a:rPr lang="en-US" sz="1300" dirty="0">
                          <a:solidFill>
                            <a:srgbClr val="1F1B3A"/>
                          </a:solidFill>
                        </a:rPr>
                        <a:t>only the action</a:t>
                      </a:r>
                      <a:endParaRPr lang="en-US" sz="1300" dirty="0"/>
                    </a:p>
                  </a:txBody>
                  <a:tcPr marL="91440" marR="91440" marT="45720" marB="45720" anchor="ctr">
                    <a:lnL w="12700" cap="flat" cmpd="sng" algn="ctr">
                      <a:solidFill>
                        <a:srgbClr val="BDB6D9"/>
                      </a:solidFill>
                      <a:prstDash val="solid"/>
                      <a:round/>
                      <a:headEnd type="none" w="med" len="med"/>
                      <a:tailEnd type="none" w="med" len="med"/>
                    </a:lnL>
                    <a:lnR w="12700" cap="flat" cmpd="sng" algn="ctr">
                      <a:solidFill>
                        <a:srgbClr val="BDB6D9"/>
                      </a:solidFill>
                      <a:prstDash val="solid"/>
                      <a:round/>
                      <a:headEnd type="none" w="med" len="med"/>
                      <a:tailEnd type="none" w="med" len="med"/>
                    </a:lnR>
                    <a:lnT w="12700" cap="flat" cmpd="sng" algn="ctr">
                      <a:solidFill>
                        <a:srgbClr val="BDB6D9"/>
                      </a:solidFill>
                      <a:prstDash val="solid"/>
                      <a:round/>
                      <a:headEnd type="none" w="med" len="med"/>
                      <a:tailEnd type="none" w="med" len="med"/>
                    </a:lnT>
                    <a:lnB w="12700" cap="flat" cmpd="sng" algn="ctr">
                      <a:solidFill>
                        <a:srgbClr val="BDB6D9"/>
                      </a:solidFill>
                      <a:prstDash val="solid"/>
                      <a:round/>
                      <a:headEnd type="none" w="med" len="med"/>
                      <a:tailEnd type="none" w="med" len="med"/>
                    </a:lnB>
                    <a:solidFill>
                      <a:srgbClr val="F1EEFA"/>
                    </a:solidFill>
                  </a:tcPr>
                </a:tc>
              </a:tr>
              <a:tr h="594360">
                <a:tc>
                  <a:txBody>
                    <a:bodyPr/>
                    <a:lstStyle/>
                    <a:p>
                      <a:pPr indent="0" marL="0">
                        <a:buNone/>
                      </a:pPr>
                      <a:r>
                        <a:rPr lang="en-US" sz="1300" b="1" dirty="0">
                          <a:solidFill>
                            <a:srgbClr val="1F1B3A"/>
                          </a:solidFill>
                        </a:rPr>
                        <a:t>Tulsi stepped cautiously into the cave.</a:t>
                      </a:r>
                      <a:endParaRPr lang="en-US" sz="1300" dirty="0"/>
                    </a:p>
                  </a:txBody>
                  <a:tcPr marL="91440" marR="91440" marT="45720" marB="45720" anchor="ctr">
                    <a:lnL w="12700" cap="flat" cmpd="sng" algn="ctr">
                      <a:solidFill>
                        <a:srgbClr val="BDB6D9"/>
                      </a:solidFill>
                      <a:prstDash val="solid"/>
                      <a:round/>
                      <a:headEnd type="none" w="med" len="med"/>
                      <a:tailEnd type="none" w="med" len="med"/>
                    </a:lnL>
                    <a:lnR w="12700" cap="flat" cmpd="sng" algn="ctr">
                      <a:solidFill>
                        <a:srgbClr val="BDB6D9"/>
                      </a:solidFill>
                      <a:prstDash val="solid"/>
                      <a:round/>
                      <a:headEnd type="none" w="med" len="med"/>
                      <a:tailEnd type="none" w="med" len="med"/>
                    </a:lnR>
                    <a:lnT w="12700" cap="flat" cmpd="sng" algn="ctr">
                      <a:solidFill>
                        <a:srgbClr val="BDB6D9"/>
                      </a:solidFill>
                      <a:prstDash val="solid"/>
                      <a:round/>
                      <a:headEnd type="none" w="med" len="med"/>
                      <a:tailEnd type="none" w="med" len="med"/>
                    </a:lnT>
                    <a:lnB w="12700" cap="flat" cmpd="sng" algn="ctr">
                      <a:solidFill>
                        <a:srgbClr val="BDB6D9"/>
                      </a:solidFill>
                      <a:prstDash val="solid"/>
                      <a:round/>
                      <a:headEnd type="none" w="med" len="med"/>
                      <a:tailEnd type="none" w="med" len="med"/>
                    </a:lnB>
                    <a:solidFill>
                      <a:srgbClr val="F1EEFA"/>
                    </a:solidFill>
                  </a:tcPr>
                </a:tc>
                <a:tc>
                  <a:txBody>
                    <a:bodyPr/>
                    <a:lstStyle/>
                    <a:p>
                      <a:pPr indent="0" marL="0">
                        <a:buNone/>
                      </a:pPr>
                      <a:r>
                        <a:rPr lang="en-US" sz="1300" dirty="0">
                          <a:solidFill>
                            <a:srgbClr val="1F1B3A"/>
                          </a:solidFill>
                        </a:rPr>
                        <a:t>cautiously</a:t>
                      </a:r>
                      <a:endParaRPr lang="en-US" sz="1300" dirty="0"/>
                    </a:p>
                  </a:txBody>
                  <a:tcPr marL="91440" marR="91440" marT="45720" marB="45720" anchor="ctr">
                    <a:lnL w="12700" cap="flat" cmpd="sng" algn="ctr">
                      <a:solidFill>
                        <a:srgbClr val="BDB6D9"/>
                      </a:solidFill>
                      <a:prstDash val="solid"/>
                      <a:round/>
                      <a:headEnd type="none" w="med" len="med"/>
                      <a:tailEnd type="none" w="med" len="med"/>
                    </a:lnL>
                    <a:lnR w="12700" cap="flat" cmpd="sng" algn="ctr">
                      <a:solidFill>
                        <a:srgbClr val="BDB6D9"/>
                      </a:solidFill>
                      <a:prstDash val="solid"/>
                      <a:round/>
                      <a:headEnd type="none" w="med" len="med"/>
                      <a:tailEnd type="none" w="med" len="med"/>
                    </a:lnR>
                    <a:lnT w="12700" cap="flat" cmpd="sng" algn="ctr">
                      <a:solidFill>
                        <a:srgbClr val="BDB6D9"/>
                      </a:solidFill>
                      <a:prstDash val="solid"/>
                      <a:round/>
                      <a:headEnd type="none" w="med" len="med"/>
                      <a:tailEnd type="none" w="med" len="med"/>
                    </a:lnT>
                    <a:lnB w="12700" cap="flat" cmpd="sng" algn="ctr">
                      <a:solidFill>
                        <a:srgbClr val="BDB6D9"/>
                      </a:solidFill>
                      <a:prstDash val="solid"/>
                      <a:round/>
                      <a:headEnd type="none" w="med" len="med"/>
                      <a:tailEnd type="none" w="med" len="med"/>
                    </a:lnB>
                    <a:solidFill>
                      <a:srgbClr val="F1EEFA"/>
                    </a:solidFill>
                  </a:tcPr>
                </a:tc>
                <a:tc>
                  <a:txBody>
                    <a:bodyPr/>
                    <a:lstStyle/>
                    <a:p>
                      <a:pPr indent="0" marL="0">
                        <a:buNone/>
                      </a:pPr>
                      <a:r>
                        <a:rPr lang="en-US" sz="1300" dirty="0">
                          <a:solidFill>
                            <a:srgbClr val="1F1B3A"/>
                          </a:solidFill>
                        </a:rPr>
                        <a:t>he is afraid or careful</a:t>
                      </a:r>
                      <a:endParaRPr lang="en-US" sz="1300" dirty="0"/>
                    </a:p>
                  </a:txBody>
                  <a:tcPr marL="91440" marR="91440" marT="45720" marB="45720" anchor="ctr">
                    <a:lnL w="12700" cap="flat" cmpd="sng" algn="ctr">
                      <a:solidFill>
                        <a:srgbClr val="BDB6D9"/>
                      </a:solidFill>
                      <a:prstDash val="solid"/>
                      <a:round/>
                      <a:headEnd type="none" w="med" len="med"/>
                      <a:tailEnd type="none" w="med" len="med"/>
                    </a:lnL>
                    <a:lnR w="12700" cap="flat" cmpd="sng" algn="ctr">
                      <a:solidFill>
                        <a:srgbClr val="BDB6D9"/>
                      </a:solidFill>
                      <a:prstDash val="solid"/>
                      <a:round/>
                      <a:headEnd type="none" w="med" len="med"/>
                      <a:tailEnd type="none" w="med" len="med"/>
                    </a:lnR>
                    <a:lnT w="12700" cap="flat" cmpd="sng" algn="ctr">
                      <a:solidFill>
                        <a:srgbClr val="BDB6D9"/>
                      </a:solidFill>
                      <a:prstDash val="solid"/>
                      <a:round/>
                      <a:headEnd type="none" w="med" len="med"/>
                      <a:tailEnd type="none" w="med" len="med"/>
                    </a:lnT>
                    <a:lnB w="12700" cap="flat" cmpd="sng" algn="ctr">
                      <a:solidFill>
                        <a:srgbClr val="BDB6D9"/>
                      </a:solidFill>
                      <a:prstDash val="solid"/>
                      <a:round/>
                      <a:headEnd type="none" w="med" len="med"/>
                      <a:tailEnd type="none" w="med" len="med"/>
                    </a:lnB>
                    <a:solidFill>
                      <a:srgbClr val="F1EEFA"/>
                    </a:solidFill>
                  </a:tcPr>
                </a:tc>
              </a:tr>
              <a:tr h="594360">
                <a:tc>
                  <a:txBody>
                    <a:bodyPr/>
                    <a:lstStyle/>
                    <a:p>
                      <a:pPr indent="0" marL="0">
                        <a:buNone/>
                      </a:pPr>
                      <a:r>
                        <a:rPr lang="en-US" sz="1300" b="1" dirty="0">
                          <a:solidFill>
                            <a:srgbClr val="1F1B3A"/>
                          </a:solidFill>
                        </a:rPr>
                        <a:t>Tulsi stepped boldly into the cave.</a:t>
                      </a:r>
                      <a:endParaRPr lang="en-US" sz="1300" dirty="0"/>
                    </a:p>
                  </a:txBody>
                  <a:tcPr marL="91440" marR="91440" marT="45720" marB="45720" anchor="ctr">
                    <a:lnL w="12700" cap="flat" cmpd="sng" algn="ctr">
                      <a:solidFill>
                        <a:srgbClr val="BDB6D9"/>
                      </a:solidFill>
                      <a:prstDash val="solid"/>
                      <a:round/>
                      <a:headEnd type="none" w="med" len="med"/>
                      <a:tailEnd type="none" w="med" len="med"/>
                    </a:lnL>
                    <a:lnR w="12700" cap="flat" cmpd="sng" algn="ctr">
                      <a:solidFill>
                        <a:srgbClr val="BDB6D9"/>
                      </a:solidFill>
                      <a:prstDash val="solid"/>
                      <a:round/>
                      <a:headEnd type="none" w="med" len="med"/>
                      <a:tailEnd type="none" w="med" len="med"/>
                    </a:lnR>
                    <a:lnT w="12700" cap="flat" cmpd="sng" algn="ctr">
                      <a:solidFill>
                        <a:srgbClr val="BDB6D9"/>
                      </a:solidFill>
                      <a:prstDash val="solid"/>
                      <a:round/>
                      <a:headEnd type="none" w="med" len="med"/>
                      <a:tailEnd type="none" w="med" len="med"/>
                    </a:lnT>
                    <a:lnB w="12700" cap="flat" cmpd="sng" algn="ctr">
                      <a:solidFill>
                        <a:srgbClr val="BDB6D9"/>
                      </a:solidFill>
                      <a:prstDash val="solid"/>
                      <a:round/>
                      <a:headEnd type="none" w="med" len="med"/>
                      <a:tailEnd type="none" w="med" len="med"/>
                    </a:lnB>
                    <a:solidFill>
                      <a:srgbClr val="F1EEFA"/>
                    </a:solidFill>
                  </a:tcPr>
                </a:tc>
                <a:tc>
                  <a:txBody>
                    <a:bodyPr/>
                    <a:lstStyle/>
                    <a:p>
                      <a:pPr indent="0" marL="0">
                        <a:buNone/>
                      </a:pPr>
                      <a:r>
                        <a:rPr lang="en-US" sz="1300" dirty="0">
                          <a:solidFill>
                            <a:srgbClr val="1F1B3A"/>
                          </a:solidFill>
                        </a:rPr>
                        <a:t>boldly</a:t>
                      </a:r>
                      <a:endParaRPr lang="en-US" sz="1300" dirty="0"/>
                    </a:p>
                  </a:txBody>
                  <a:tcPr marL="91440" marR="91440" marT="45720" marB="45720" anchor="ctr">
                    <a:lnL w="12700" cap="flat" cmpd="sng" algn="ctr">
                      <a:solidFill>
                        <a:srgbClr val="BDB6D9"/>
                      </a:solidFill>
                      <a:prstDash val="solid"/>
                      <a:round/>
                      <a:headEnd type="none" w="med" len="med"/>
                      <a:tailEnd type="none" w="med" len="med"/>
                    </a:lnL>
                    <a:lnR w="12700" cap="flat" cmpd="sng" algn="ctr">
                      <a:solidFill>
                        <a:srgbClr val="BDB6D9"/>
                      </a:solidFill>
                      <a:prstDash val="solid"/>
                      <a:round/>
                      <a:headEnd type="none" w="med" len="med"/>
                      <a:tailEnd type="none" w="med" len="med"/>
                    </a:lnR>
                    <a:lnT w="12700" cap="flat" cmpd="sng" algn="ctr">
                      <a:solidFill>
                        <a:srgbClr val="BDB6D9"/>
                      </a:solidFill>
                      <a:prstDash val="solid"/>
                      <a:round/>
                      <a:headEnd type="none" w="med" len="med"/>
                      <a:tailEnd type="none" w="med" len="med"/>
                    </a:lnT>
                    <a:lnB w="12700" cap="flat" cmpd="sng" algn="ctr">
                      <a:solidFill>
                        <a:srgbClr val="BDB6D9"/>
                      </a:solidFill>
                      <a:prstDash val="solid"/>
                      <a:round/>
                      <a:headEnd type="none" w="med" len="med"/>
                      <a:tailEnd type="none" w="med" len="med"/>
                    </a:lnB>
                    <a:solidFill>
                      <a:srgbClr val="F1EEFA"/>
                    </a:solidFill>
                  </a:tcPr>
                </a:tc>
                <a:tc>
                  <a:txBody>
                    <a:bodyPr/>
                    <a:lstStyle/>
                    <a:p>
                      <a:pPr indent="0" marL="0">
                        <a:buNone/>
                      </a:pPr>
                      <a:r>
                        <a:rPr lang="en-US" sz="1300" dirty="0">
                          <a:solidFill>
                            <a:srgbClr val="1F1B3A"/>
                          </a:solidFill>
                        </a:rPr>
                        <a:t>he is brave</a:t>
                      </a:r>
                      <a:endParaRPr lang="en-US" sz="1300" dirty="0"/>
                    </a:p>
                  </a:txBody>
                  <a:tcPr marL="91440" marR="91440" marT="45720" marB="45720" anchor="ctr">
                    <a:lnL w="12700" cap="flat" cmpd="sng" algn="ctr">
                      <a:solidFill>
                        <a:srgbClr val="BDB6D9"/>
                      </a:solidFill>
                      <a:prstDash val="solid"/>
                      <a:round/>
                      <a:headEnd type="none" w="med" len="med"/>
                      <a:tailEnd type="none" w="med" len="med"/>
                    </a:lnL>
                    <a:lnR w="12700" cap="flat" cmpd="sng" algn="ctr">
                      <a:solidFill>
                        <a:srgbClr val="BDB6D9"/>
                      </a:solidFill>
                      <a:prstDash val="solid"/>
                      <a:round/>
                      <a:headEnd type="none" w="med" len="med"/>
                      <a:tailEnd type="none" w="med" len="med"/>
                    </a:lnR>
                    <a:lnT w="12700" cap="flat" cmpd="sng" algn="ctr">
                      <a:solidFill>
                        <a:srgbClr val="BDB6D9"/>
                      </a:solidFill>
                      <a:prstDash val="solid"/>
                      <a:round/>
                      <a:headEnd type="none" w="med" len="med"/>
                      <a:tailEnd type="none" w="med" len="med"/>
                    </a:lnT>
                    <a:lnB w="12700" cap="flat" cmpd="sng" algn="ctr">
                      <a:solidFill>
                        <a:srgbClr val="BDB6D9"/>
                      </a:solidFill>
                      <a:prstDash val="solid"/>
                      <a:round/>
                      <a:headEnd type="none" w="med" len="med"/>
                      <a:tailEnd type="none" w="med" len="med"/>
                    </a:lnB>
                    <a:solidFill>
                      <a:srgbClr val="F1EEFA"/>
                    </a:solidFill>
                  </a:tcPr>
                </a:tc>
              </a:tr>
              <a:tr h="594360">
                <a:tc>
                  <a:txBody>
                    <a:bodyPr/>
                    <a:lstStyle/>
                    <a:p>
                      <a:pPr indent="0" marL="0">
                        <a:buNone/>
                      </a:pPr>
                      <a:r>
                        <a:rPr lang="en-US" sz="1300" b="1" dirty="0">
                          <a:solidFill>
                            <a:srgbClr val="1F1B3A"/>
                          </a:solidFill>
                        </a:rPr>
                        <a:t>Tulsi stepped clumsily into the cave.</a:t>
                      </a:r>
                      <a:endParaRPr lang="en-US" sz="1300" dirty="0"/>
                    </a:p>
                  </a:txBody>
                  <a:tcPr marL="91440" marR="91440" marT="45720" marB="45720" anchor="ctr">
                    <a:lnL w="12700" cap="flat" cmpd="sng" algn="ctr">
                      <a:solidFill>
                        <a:srgbClr val="BDB6D9"/>
                      </a:solidFill>
                      <a:prstDash val="solid"/>
                      <a:round/>
                      <a:headEnd type="none" w="med" len="med"/>
                      <a:tailEnd type="none" w="med" len="med"/>
                    </a:lnL>
                    <a:lnR w="12700" cap="flat" cmpd="sng" algn="ctr">
                      <a:solidFill>
                        <a:srgbClr val="BDB6D9"/>
                      </a:solidFill>
                      <a:prstDash val="solid"/>
                      <a:round/>
                      <a:headEnd type="none" w="med" len="med"/>
                      <a:tailEnd type="none" w="med" len="med"/>
                    </a:lnR>
                    <a:lnT w="12700" cap="flat" cmpd="sng" algn="ctr">
                      <a:solidFill>
                        <a:srgbClr val="BDB6D9"/>
                      </a:solidFill>
                      <a:prstDash val="solid"/>
                      <a:round/>
                      <a:headEnd type="none" w="med" len="med"/>
                      <a:tailEnd type="none" w="med" len="med"/>
                    </a:lnT>
                    <a:lnB w="12700" cap="flat" cmpd="sng" algn="ctr">
                      <a:solidFill>
                        <a:srgbClr val="BDB6D9"/>
                      </a:solidFill>
                      <a:prstDash val="solid"/>
                      <a:round/>
                      <a:headEnd type="none" w="med" len="med"/>
                      <a:tailEnd type="none" w="med" len="med"/>
                    </a:lnB>
                    <a:solidFill>
                      <a:srgbClr val="F1EEFA"/>
                    </a:solidFill>
                  </a:tcPr>
                </a:tc>
                <a:tc>
                  <a:txBody>
                    <a:bodyPr/>
                    <a:lstStyle/>
                    <a:p>
                      <a:pPr indent="0" marL="0">
                        <a:buNone/>
                      </a:pPr>
                      <a:r>
                        <a:rPr lang="en-US" sz="1300" dirty="0">
                          <a:solidFill>
                            <a:srgbClr val="1F1B3A"/>
                          </a:solidFill>
                        </a:rPr>
                        <a:t>clumsily</a:t>
                      </a:r>
                      <a:endParaRPr lang="en-US" sz="1300" dirty="0"/>
                    </a:p>
                  </a:txBody>
                  <a:tcPr marL="91440" marR="91440" marT="45720" marB="45720" anchor="ctr">
                    <a:lnL w="12700" cap="flat" cmpd="sng" algn="ctr">
                      <a:solidFill>
                        <a:srgbClr val="BDB6D9"/>
                      </a:solidFill>
                      <a:prstDash val="solid"/>
                      <a:round/>
                      <a:headEnd type="none" w="med" len="med"/>
                      <a:tailEnd type="none" w="med" len="med"/>
                    </a:lnL>
                    <a:lnR w="12700" cap="flat" cmpd="sng" algn="ctr">
                      <a:solidFill>
                        <a:srgbClr val="BDB6D9"/>
                      </a:solidFill>
                      <a:prstDash val="solid"/>
                      <a:round/>
                      <a:headEnd type="none" w="med" len="med"/>
                      <a:tailEnd type="none" w="med" len="med"/>
                    </a:lnR>
                    <a:lnT w="12700" cap="flat" cmpd="sng" algn="ctr">
                      <a:solidFill>
                        <a:srgbClr val="BDB6D9"/>
                      </a:solidFill>
                      <a:prstDash val="solid"/>
                      <a:round/>
                      <a:headEnd type="none" w="med" len="med"/>
                      <a:tailEnd type="none" w="med" len="med"/>
                    </a:lnT>
                    <a:lnB w="12700" cap="flat" cmpd="sng" algn="ctr">
                      <a:solidFill>
                        <a:srgbClr val="BDB6D9"/>
                      </a:solidFill>
                      <a:prstDash val="solid"/>
                      <a:round/>
                      <a:headEnd type="none" w="med" len="med"/>
                      <a:tailEnd type="none" w="med" len="med"/>
                    </a:lnB>
                    <a:solidFill>
                      <a:srgbClr val="F1EEFA"/>
                    </a:solidFill>
                  </a:tcPr>
                </a:tc>
                <a:tc>
                  <a:txBody>
                    <a:bodyPr/>
                    <a:lstStyle/>
                    <a:p>
                      <a:pPr indent="0" marL="0">
                        <a:buNone/>
                      </a:pPr>
                      <a:r>
                        <a:rPr lang="en-US" sz="1300" dirty="0">
                          <a:solidFill>
                            <a:srgbClr val="1F1B3A"/>
                          </a:solidFill>
                        </a:rPr>
                        <a:t>he is panicking</a:t>
                      </a:r>
                      <a:endParaRPr lang="en-US" sz="1300" dirty="0"/>
                    </a:p>
                  </a:txBody>
                  <a:tcPr marL="91440" marR="91440" marT="45720" marB="45720" anchor="ctr">
                    <a:lnL w="12700" cap="flat" cmpd="sng" algn="ctr">
                      <a:solidFill>
                        <a:srgbClr val="BDB6D9"/>
                      </a:solidFill>
                      <a:prstDash val="solid"/>
                      <a:round/>
                      <a:headEnd type="none" w="med" len="med"/>
                      <a:tailEnd type="none" w="med" len="med"/>
                    </a:lnL>
                    <a:lnR w="12700" cap="flat" cmpd="sng" algn="ctr">
                      <a:solidFill>
                        <a:srgbClr val="BDB6D9"/>
                      </a:solidFill>
                      <a:prstDash val="solid"/>
                      <a:round/>
                      <a:headEnd type="none" w="med" len="med"/>
                      <a:tailEnd type="none" w="med" len="med"/>
                    </a:lnR>
                    <a:lnT w="12700" cap="flat" cmpd="sng" algn="ctr">
                      <a:solidFill>
                        <a:srgbClr val="BDB6D9"/>
                      </a:solidFill>
                      <a:prstDash val="solid"/>
                      <a:round/>
                      <a:headEnd type="none" w="med" len="med"/>
                      <a:tailEnd type="none" w="med" len="med"/>
                    </a:lnT>
                    <a:lnB w="12700" cap="flat" cmpd="sng" algn="ctr">
                      <a:solidFill>
                        <a:srgbClr val="BDB6D9"/>
                      </a:solidFill>
                      <a:prstDash val="solid"/>
                      <a:round/>
                      <a:headEnd type="none" w="med" len="med"/>
                      <a:tailEnd type="none" w="med" len="med"/>
                    </a:lnB>
                    <a:solidFill>
                      <a:srgbClr val="F1EEFA"/>
                    </a:solidFill>
                  </a:tcPr>
                </a:tc>
              </a:tr>
            </a:tbl>
          </a:graphicData>
        </a:graphic>
      </p:graphicFrame>
      <p:sp>
        <p:nvSpPr>
          <p:cNvPr id="5" name="card"/>
          <p:cNvSpPr/>
          <p:nvPr/>
        </p:nvSpPr>
        <p:spPr>
          <a:xfrm>
            <a:off x="548640" y="4160520"/>
            <a:ext cx="8046720" cy="457200"/>
          </a:xfrm>
          <a:prstGeom prst="roundRect">
            <a:avLst>
              <a:gd name="adj" fmla="val 24000"/>
            </a:avLst>
          </a:prstGeom>
          <a:solidFill>
            <a:schemeClr val="accent1"/>
          </a:solidFill>
          <a:ln w="12700">
            <a:solidFill>
              <a:schemeClr val="accent1"/>
            </a:solidFill>
            <a:prstDash val="solid"/>
          </a:ln>
        </p:spPr>
      </p:sp>
      <p:sp>
        <p:nvSpPr>
          <p:cNvPr id="6" name="Text 2"/>
          <p:cNvSpPr txBox="1"/>
          <p:nvPr/>
        </p:nvSpPr>
        <p:spPr>
          <a:xfrm>
            <a:off x="731520" y="4160520"/>
            <a:ext cx="7680960" cy="457200"/>
          </a:xfrm>
          <a:prstGeom prst="rect">
            <a:avLst/>
          </a:prstGeom>
          <a:noFill/>
          <a:ln/>
        </p:spPr>
        <p:txBody>
          <a:bodyPr wrap="square" lIns="0" tIns="0" rIns="0" bIns="0" rtlCol="0" anchor="ctr"/>
          <a:lstStyle/>
          <a:p>
            <a:pPr indent="0" marL="0">
              <a:buNone/>
            </a:pPr>
            <a:r>
              <a:rPr lang="en-US" sz="1400" b="1" dirty="0">
                <a:solidFill>
                  <a:schemeClr val="tx1"/>
                </a:solidFill>
              </a:rPr>
              <a:t>An adverb can also describe an adjective: 'a deeply silent forest', 'a strangely bright light'.</a:t>
            </a:r>
            <a:endParaRPr lang="en-US" sz="1400" dirty="0"/>
          </a:p>
        </p:txBody>
      </p:sp>
      <p:sp>
        <p:nvSpPr>
          <p:cNvPr id="25" name="Slide Number Placeholder 0"/>
          <p:cNvSpPr>
            <a:spLocks noGrp="1"/>
          </p:cNvSpPr>
          <p:nvPr>
            <p:ph type="sldNum" sz="quarter" idx="4294967295"/>
          </p:nvPr>
        </p:nvSpPr>
        <p:spPr>
          <a:xfrm>
            <a:off x="8229600" y="4736592"/>
            <a:ext cx="36576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6784"/>
                </a:solidFill>
              </a:defRPr>
            </a:lvl1pPr>
          </a:lstStyle>
          <a:p>
            <a:pPr algn="l"/>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8046720" cy="731520"/>
          </a:xfrm>
          <a:prstGeom prst="rect">
            <a:avLst/>
          </a:prstGeom>
          <a:noFill/>
          <a:ln/>
        </p:spPr>
        <p:txBody>
          <a:bodyPr wrap="square" lIns="0" tIns="0" rIns="0" bIns="0" rtlCol="0" anchor="ctr"/>
          <a:lstStyle/>
          <a:p>
            <a:pPr algn="l" indent="0" marL="0">
              <a:buNone/>
            </a:pPr>
            <a:r>
              <a:rPr lang="en-US" sz="3000" b="1" dirty="0">
                <a:solidFill>
                  <a:schemeClr val="tx1"/>
                </a:solidFill>
              </a:rPr>
              <a:t>Fronted adverbials</a:t>
            </a:r>
            <a:endParaRPr lang="en-US" sz="3000" dirty="0"/>
          </a:p>
        </p:txBody>
      </p:sp>
      <p:sp>
        <p:nvSpPr>
          <p:cNvPr id="4" name="card"/>
          <p:cNvSpPr/>
          <p:nvPr/>
        </p:nvSpPr>
        <p:spPr>
          <a:xfrm>
            <a:off x="548640" y="1097280"/>
            <a:ext cx="3931920" cy="2926080"/>
          </a:xfrm>
          <a:prstGeom prst="roundRect">
            <a:avLst>
              <a:gd name="adj" fmla="val 3750"/>
            </a:avLst>
          </a:prstGeom>
          <a:solidFill>
            <a:schemeClr val="bg2"/>
          </a:solidFill>
          <a:ln w="12700">
            <a:solidFill>
              <a:schemeClr val="bg2"/>
            </a:solidFill>
            <a:prstDash val="solid"/>
          </a:ln>
        </p:spPr>
      </p:sp>
      <p:sp>
        <p:nvSpPr>
          <p:cNvPr id="5" name="heading"/>
          <p:cNvSpPr/>
          <p:nvPr/>
        </p:nvSpPr>
        <p:spPr>
          <a:xfrm>
            <a:off x="731520" y="1234440"/>
            <a:ext cx="3566160" cy="502920"/>
          </a:xfrm>
          <a:prstGeom prst="roundRect">
            <a:avLst>
              <a:gd name="adj" fmla="val 21818"/>
            </a:avLst>
          </a:prstGeom>
          <a:solidFill>
            <a:schemeClr val="accent3"/>
          </a:solidFill>
          <a:ln w="12700">
            <a:solidFill>
              <a:schemeClr val="accent3"/>
            </a:solidFill>
            <a:prstDash val="solid"/>
          </a:ln>
        </p:spPr>
      </p:sp>
      <p:sp>
        <p:nvSpPr>
          <p:cNvPr id="6" name="Text 3"/>
          <p:cNvSpPr txBox="1"/>
          <p:nvPr/>
        </p:nvSpPr>
        <p:spPr>
          <a:xfrm>
            <a:off x="731520" y="1234440"/>
            <a:ext cx="3566160" cy="502920"/>
          </a:xfrm>
          <a:prstGeom prst="rect">
            <a:avLst/>
          </a:prstGeom>
          <a:noFill/>
          <a:ln/>
        </p:spPr>
        <p:txBody>
          <a:bodyPr wrap="square" lIns="0" tIns="0" rIns="0" bIns="0" rtlCol="0" anchor="ctr"/>
          <a:lstStyle/>
          <a:p>
            <a:pPr algn="ctr" indent="0" marL="0">
              <a:buNone/>
            </a:pPr>
            <a:r>
              <a:rPr lang="en-US" sz="1800" b="1" dirty="0">
                <a:solidFill>
                  <a:schemeClr val="bg1"/>
                </a:solidFill>
              </a:rPr>
              <a:t>Adverbial at the end</a:t>
            </a:r>
            <a:endParaRPr lang="en-US" sz="1800" dirty="0"/>
          </a:p>
        </p:txBody>
      </p:sp>
      <p:sp>
        <p:nvSpPr>
          <p:cNvPr id="7" name="Text 4"/>
          <p:cNvSpPr txBox="1"/>
          <p:nvPr/>
        </p:nvSpPr>
        <p:spPr>
          <a:xfrm>
            <a:off x="822960" y="1874520"/>
            <a:ext cx="3383280" cy="2103120"/>
          </a:xfrm>
          <a:prstGeom prst="rect">
            <a:avLst/>
          </a:prstGeom>
          <a:noFill/>
          <a:ln/>
        </p:spPr>
        <p:txBody>
          <a:bodyPr wrap="square" lIns="0" tIns="0" rIns="0" bIns="0" rtlCol="0" anchor="t"/>
          <a:lstStyle/>
          <a:p>
            <a:pPr indent="0" marL="0">
              <a:spcAft>
                <a:spcPts val="800"/>
              </a:spcAft>
              <a:buNone/>
            </a:pPr>
            <a:r>
              <a:rPr lang="en-US" sz="1500" dirty="0">
                <a:solidFill>
                  <a:schemeClr val="tx1"/>
                </a:solidFill>
              </a:rPr>
              <a:t>Tulsi opened the door </a:t>
            </a:r>
            <a:pPr indent="0" marL="0">
              <a:spcAft>
                <a:spcPts val="800"/>
              </a:spcAft>
              <a:buNone/>
            </a:pPr>
            <a:r>
              <a:rPr lang="en-US" sz="1500" b="1" dirty="0">
                <a:solidFill>
                  <a:schemeClr val="tx1"/>
                </a:solidFill>
                <a:highlight>
                  <a:srgbClr val="FFD27F"/>
                </a:highlight>
              </a:rPr>
              <a:t>slowly</a:t>
            </a:r>
            <a:pPr indent="0" marL="0">
              <a:spcAft>
                <a:spcPts val="800"/>
              </a:spcAft>
              <a:buNone/>
            </a:pPr>
            <a:r>
              <a:rPr lang="en-US" sz="1500" dirty="0">
                <a:solidFill>
                  <a:schemeClr val="tx1"/>
                </a:solidFill>
              </a:rPr>
              <a:t>.</a:t>
            </a:r>
            <a:endParaRPr lang="en-US" sz="1600" dirty="0"/>
          </a:p>
          <a:p>
            <a:pPr indent="0" marL="0">
              <a:spcAft>
                <a:spcPts val="800"/>
              </a:spcAft>
              <a:buNone/>
            </a:pPr>
            <a:r>
              <a:rPr lang="en-US" sz="1500" dirty="0">
                <a:solidFill>
                  <a:schemeClr val="tx1"/>
                </a:solidFill>
              </a:rPr>
              <a:t>The action comes first. The reader is told how afterwards.</a:t>
            </a:r>
            <a:endParaRPr lang="en-US" sz="1600" dirty="0"/>
          </a:p>
        </p:txBody>
      </p:sp>
      <p:sp>
        <p:nvSpPr>
          <p:cNvPr id="8" name="card"/>
          <p:cNvSpPr/>
          <p:nvPr/>
        </p:nvSpPr>
        <p:spPr>
          <a:xfrm>
            <a:off x="4663440" y="1097280"/>
            <a:ext cx="3931920" cy="2926080"/>
          </a:xfrm>
          <a:prstGeom prst="roundRect">
            <a:avLst>
              <a:gd name="adj" fmla="val 3750"/>
            </a:avLst>
          </a:prstGeom>
          <a:solidFill>
            <a:schemeClr val="bg2"/>
          </a:solidFill>
          <a:ln w="12700">
            <a:solidFill>
              <a:schemeClr val="bg2"/>
            </a:solidFill>
            <a:prstDash val="solid"/>
          </a:ln>
        </p:spPr>
      </p:sp>
      <p:sp>
        <p:nvSpPr>
          <p:cNvPr id="9" name="heading"/>
          <p:cNvSpPr/>
          <p:nvPr/>
        </p:nvSpPr>
        <p:spPr>
          <a:xfrm>
            <a:off x="4846320" y="1234440"/>
            <a:ext cx="3566160" cy="502920"/>
          </a:xfrm>
          <a:prstGeom prst="roundRect">
            <a:avLst>
              <a:gd name="adj" fmla="val 21818"/>
            </a:avLst>
          </a:prstGeom>
          <a:solidFill>
            <a:schemeClr val="accent2"/>
          </a:solidFill>
          <a:ln w="12700">
            <a:solidFill>
              <a:schemeClr val="accent2"/>
            </a:solidFill>
            <a:prstDash val="solid"/>
          </a:ln>
        </p:spPr>
      </p:sp>
      <p:sp>
        <p:nvSpPr>
          <p:cNvPr id="10" name="Text 7"/>
          <p:cNvSpPr txBox="1"/>
          <p:nvPr/>
        </p:nvSpPr>
        <p:spPr>
          <a:xfrm>
            <a:off x="4846320" y="1234440"/>
            <a:ext cx="3566160" cy="502920"/>
          </a:xfrm>
          <a:prstGeom prst="rect">
            <a:avLst/>
          </a:prstGeom>
          <a:noFill/>
          <a:ln/>
        </p:spPr>
        <p:txBody>
          <a:bodyPr wrap="square" lIns="0" tIns="0" rIns="0" bIns="0" rtlCol="0" anchor="ctr"/>
          <a:lstStyle/>
          <a:p>
            <a:pPr algn="ctr" indent="0" marL="0">
              <a:buNone/>
            </a:pPr>
            <a:r>
              <a:rPr lang="en-US" sz="1800" b="1" dirty="0">
                <a:solidFill>
                  <a:schemeClr val="bg1"/>
                </a:solidFill>
              </a:rPr>
              <a:t>Fronted adverbial</a:t>
            </a:r>
            <a:endParaRPr lang="en-US" sz="1800" dirty="0"/>
          </a:p>
        </p:txBody>
      </p:sp>
      <p:sp>
        <p:nvSpPr>
          <p:cNvPr id="11" name="Text 8"/>
          <p:cNvSpPr txBox="1"/>
          <p:nvPr/>
        </p:nvSpPr>
        <p:spPr>
          <a:xfrm>
            <a:off x="4937760" y="1874520"/>
            <a:ext cx="3383280" cy="2103120"/>
          </a:xfrm>
          <a:prstGeom prst="rect">
            <a:avLst/>
          </a:prstGeom>
          <a:noFill/>
          <a:ln/>
        </p:spPr>
        <p:txBody>
          <a:bodyPr wrap="square" lIns="0" tIns="0" rIns="0" bIns="0" rtlCol="0" anchor="t"/>
          <a:lstStyle/>
          <a:p>
            <a:pPr indent="0" marL="0">
              <a:spcAft>
                <a:spcPts val="800"/>
              </a:spcAft>
              <a:buNone/>
            </a:pPr>
            <a:r>
              <a:rPr lang="en-US" sz="1500" b="1" dirty="0">
                <a:solidFill>
                  <a:schemeClr val="tx1"/>
                </a:solidFill>
                <a:highlight>
                  <a:srgbClr val="FFD27F"/>
                </a:highlight>
              </a:rPr>
              <a:t>Slowly</a:t>
            </a:r>
            <a:pPr indent="0" marL="0">
              <a:spcAft>
                <a:spcPts val="800"/>
              </a:spcAft>
              <a:buNone/>
            </a:pPr>
            <a:r>
              <a:rPr lang="en-US" sz="1500" dirty="0">
                <a:solidFill>
                  <a:schemeClr val="tx1"/>
                </a:solidFill>
              </a:rPr>
              <a:t>, Tulsi opened the door.</a:t>
            </a:r>
            <a:endParaRPr lang="en-US" sz="1600" dirty="0"/>
          </a:p>
          <a:p>
            <a:pPr indent="0" marL="0">
              <a:spcAft>
                <a:spcPts val="800"/>
              </a:spcAft>
              <a:buNone/>
            </a:pPr>
            <a:r>
              <a:rPr lang="en-US" sz="1500" dirty="0">
                <a:solidFill>
                  <a:schemeClr val="tx1"/>
                </a:solidFill>
              </a:rPr>
              <a:t>The mood comes first. The reader waits for what happens next.</a:t>
            </a:r>
            <a:endParaRPr lang="en-US" sz="1600" dirty="0"/>
          </a:p>
        </p:txBody>
      </p:sp>
      <p:sp>
        <p:nvSpPr>
          <p:cNvPr id="12" name="card"/>
          <p:cNvSpPr/>
          <p:nvPr/>
        </p:nvSpPr>
        <p:spPr>
          <a:xfrm>
            <a:off x="548640" y="4160520"/>
            <a:ext cx="8046720" cy="457200"/>
          </a:xfrm>
          <a:prstGeom prst="roundRect">
            <a:avLst>
              <a:gd name="adj" fmla="val 24000"/>
            </a:avLst>
          </a:prstGeom>
          <a:solidFill>
            <a:schemeClr val="accent1"/>
          </a:solidFill>
          <a:ln w="12700">
            <a:solidFill>
              <a:schemeClr val="accent1"/>
            </a:solidFill>
            <a:prstDash val="solid"/>
          </a:ln>
        </p:spPr>
      </p:sp>
      <p:sp>
        <p:nvSpPr>
          <p:cNvPr id="13" name="Text 10"/>
          <p:cNvSpPr txBox="1"/>
          <p:nvPr/>
        </p:nvSpPr>
        <p:spPr>
          <a:xfrm>
            <a:off x="731520" y="4160520"/>
            <a:ext cx="7680960" cy="457200"/>
          </a:xfrm>
          <a:prstGeom prst="rect">
            <a:avLst/>
          </a:prstGeom>
          <a:noFill/>
          <a:ln/>
        </p:spPr>
        <p:txBody>
          <a:bodyPr wrap="square" lIns="0" tIns="0" rIns="0" bIns="0" rtlCol="0" anchor="ctr"/>
          <a:lstStyle/>
          <a:p>
            <a:pPr indent="0" marL="0">
              <a:buNone/>
            </a:pPr>
            <a:r>
              <a:rPr lang="en-US" sz="1400" b="1" dirty="0">
                <a:solidFill>
                  <a:schemeClr val="tx1"/>
                </a:solidFill>
              </a:rPr>
              <a:t>When: Later that night, | Where: Beyond the ridge, | How: Without a sound,</a:t>
            </a:r>
            <a:endParaRPr lang="en-US" sz="1400" dirty="0"/>
          </a:p>
        </p:txBody>
      </p:sp>
      <p:sp>
        <p:nvSpPr>
          <p:cNvPr id="25" name="Slide Number Placeholder 0"/>
          <p:cNvSpPr>
            <a:spLocks noGrp="1"/>
          </p:cNvSpPr>
          <p:nvPr>
            <p:ph type="sldNum" sz="quarter" idx="4294967295"/>
          </p:nvPr>
        </p:nvSpPr>
        <p:spPr>
          <a:xfrm>
            <a:off x="8229600" y="4736592"/>
            <a:ext cx="36576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6784"/>
                </a:solidFill>
              </a:defRPr>
            </a:lvl1pPr>
          </a:lstStyle>
          <a:p>
            <a:pPr algn="l"/>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8046720" cy="731520"/>
          </a:xfrm>
          <a:prstGeom prst="rect">
            <a:avLst/>
          </a:prstGeom>
          <a:noFill/>
          <a:ln/>
        </p:spPr>
        <p:txBody>
          <a:bodyPr wrap="square" lIns="0" tIns="0" rIns="0" bIns="0" rtlCol="0" anchor="ctr"/>
          <a:lstStyle/>
          <a:p>
            <a:pPr algn="l" indent="0" marL="0">
              <a:buNone/>
            </a:pPr>
            <a:r>
              <a:rPr lang="en-US" sz="3000" b="1" dirty="0">
                <a:solidFill>
                  <a:schemeClr val="tx1"/>
                </a:solidFill>
              </a:rPr>
              <a:t>Prepositional phrases build the picture</a:t>
            </a:r>
            <a:endParaRPr lang="en-US" sz="300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548640" y="1097280"/>
          <a:ext cx="8046720" cy="914400"/>
        </p:xfrm>
        <a:graphic>
          <a:graphicData uri="http://schemas.openxmlformats.org/drawingml/2006/table">
            <a:tbl>
              <a:tblPr/>
              <a:tblGrid>
                <a:gridCol w="3291840"/>
                <a:gridCol w="4754880"/>
              </a:tblGrid>
              <a:tr h="365760">
                <a:tc>
                  <a:txBody>
                    <a:bodyPr/>
                    <a:lstStyle/>
                    <a:p>
                      <a:pPr algn="ctr" indent="0" marL="0">
                        <a:buNone/>
                      </a:pPr>
                      <a:r>
                        <a:rPr lang="en-US" sz="1400" b="1" dirty="0">
                          <a:solidFill>
                            <a:srgbClr val="FFFFFF"/>
                          </a:solidFill>
                        </a:rPr>
                        <a:t>Prepositional phrase</a:t>
                      </a:r>
                      <a:endParaRPr lang="en-US" sz="1400" dirty="0"/>
                    </a:p>
                  </a:txBody>
                  <a:tcPr marL="91440" marR="91440" marT="45720" marB="45720" anchor="ctr">
                    <a:lnL w="12700" cap="flat" cmpd="sng" algn="ctr">
                      <a:solidFill>
                        <a:srgbClr val="BDB6D9"/>
                      </a:solidFill>
                      <a:prstDash val="solid"/>
                      <a:round/>
                      <a:headEnd type="none" w="med" len="med"/>
                      <a:tailEnd type="none" w="med" len="med"/>
                    </a:lnL>
                    <a:lnR w="12700" cap="flat" cmpd="sng" algn="ctr">
                      <a:solidFill>
                        <a:srgbClr val="BDB6D9"/>
                      </a:solidFill>
                      <a:prstDash val="solid"/>
                      <a:round/>
                      <a:headEnd type="none" w="med" len="med"/>
                      <a:tailEnd type="none" w="med" len="med"/>
                    </a:lnR>
                    <a:lnT w="12700" cap="flat" cmpd="sng" algn="ctr">
                      <a:solidFill>
                        <a:srgbClr val="BDB6D9"/>
                      </a:solidFill>
                      <a:prstDash val="solid"/>
                      <a:round/>
                      <a:headEnd type="none" w="med" len="med"/>
                      <a:tailEnd type="none" w="med" len="med"/>
                    </a:lnT>
                    <a:lnB w="12700" cap="flat" cmpd="sng" algn="ctr">
                      <a:solidFill>
                        <a:srgbClr val="BDB6D9"/>
                      </a:solidFill>
                      <a:prstDash val="solid"/>
                      <a:round/>
                      <a:headEnd type="none" w="med" len="med"/>
                      <a:tailEnd type="none" w="med" len="med"/>
                    </a:lnB>
                    <a:solidFill>
                      <a:srgbClr val="3B2F63"/>
                    </a:solidFill>
                  </a:tcPr>
                </a:tc>
                <a:tc>
                  <a:txBody>
                    <a:bodyPr/>
                    <a:lstStyle/>
                    <a:p>
                      <a:pPr algn="ctr" indent="0" marL="0">
                        <a:buNone/>
                      </a:pPr>
                      <a:r>
                        <a:rPr lang="en-US" sz="1400" b="1" dirty="0">
                          <a:solidFill>
                            <a:srgbClr val="FFFFFF"/>
                          </a:solidFill>
                        </a:rPr>
                        <a:t>Picture it creates</a:t>
                      </a:r>
                      <a:endParaRPr lang="en-US" sz="1400" dirty="0"/>
                    </a:p>
                  </a:txBody>
                  <a:tcPr marL="91440" marR="91440" marT="45720" marB="45720" anchor="ctr">
                    <a:lnL w="12700" cap="flat" cmpd="sng" algn="ctr">
                      <a:solidFill>
                        <a:srgbClr val="BDB6D9"/>
                      </a:solidFill>
                      <a:prstDash val="solid"/>
                      <a:round/>
                      <a:headEnd type="none" w="med" len="med"/>
                      <a:tailEnd type="none" w="med" len="med"/>
                    </a:lnL>
                    <a:lnR w="12700" cap="flat" cmpd="sng" algn="ctr">
                      <a:solidFill>
                        <a:srgbClr val="BDB6D9"/>
                      </a:solidFill>
                      <a:prstDash val="solid"/>
                      <a:round/>
                      <a:headEnd type="none" w="med" len="med"/>
                      <a:tailEnd type="none" w="med" len="med"/>
                    </a:lnR>
                    <a:lnT w="12700" cap="flat" cmpd="sng" algn="ctr">
                      <a:solidFill>
                        <a:srgbClr val="BDB6D9"/>
                      </a:solidFill>
                      <a:prstDash val="solid"/>
                      <a:round/>
                      <a:headEnd type="none" w="med" len="med"/>
                      <a:tailEnd type="none" w="med" len="med"/>
                    </a:lnT>
                    <a:lnB w="12700" cap="flat" cmpd="sng" algn="ctr">
                      <a:solidFill>
                        <a:srgbClr val="BDB6D9"/>
                      </a:solidFill>
                      <a:prstDash val="solid"/>
                      <a:round/>
                      <a:headEnd type="none" w="med" len="med"/>
                      <a:tailEnd type="none" w="med" len="med"/>
                    </a:lnB>
                    <a:solidFill>
                      <a:srgbClr val="3B2F63"/>
                    </a:solidFill>
                  </a:tcPr>
                </a:tc>
              </a:tr>
              <a:tr h="594360">
                <a:tc>
                  <a:txBody>
                    <a:bodyPr/>
                    <a:lstStyle/>
                    <a:p>
                      <a:pPr indent="0" marL="0">
                        <a:buNone/>
                      </a:pPr>
                      <a:r>
                        <a:rPr lang="en-US" sz="1400" b="1" dirty="0">
                          <a:solidFill>
                            <a:srgbClr val="1F1B3A"/>
                          </a:solidFill>
                        </a:rPr>
                        <a:t>under the bridge</a:t>
                      </a:r>
                      <a:endParaRPr lang="en-US" sz="1400" dirty="0"/>
                    </a:p>
                  </a:txBody>
                  <a:tcPr marL="91440" marR="91440" marT="45720" marB="45720" anchor="ctr">
                    <a:lnL w="12700" cap="flat" cmpd="sng" algn="ctr">
                      <a:solidFill>
                        <a:srgbClr val="BDB6D9"/>
                      </a:solidFill>
                      <a:prstDash val="solid"/>
                      <a:round/>
                      <a:headEnd type="none" w="med" len="med"/>
                      <a:tailEnd type="none" w="med" len="med"/>
                    </a:lnL>
                    <a:lnR w="12700" cap="flat" cmpd="sng" algn="ctr">
                      <a:solidFill>
                        <a:srgbClr val="BDB6D9"/>
                      </a:solidFill>
                      <a:prstDash val="solid"/>
                      <a:round/>
                      <a:headEnd type="none" w="med" len="med"/>
                      <a:tailEnd type="none" w="med" len="med"/>
                    </a:lnR>
                    <a:lnT w="12700" cap="flat" cmpd="sng" algn="ctr">
                      <a:solidFill>
                        <a:srgbClr val="BDB6D9"/>
                      </a:solidFill>
                      <a:prstDash val="solid"/>
                      <a:round/>
                      <a:headEnd type="none" w="med" len="med"/>
                      <a:tailEnd type="none" w="med" len="med"/>
                    </a:lnT>
                    <a:lnB w="12700" cap="flat" cmpd="sng" algn="ctr">
                      <a:solidFill>
                        <a:srgbClr val="BDB6D9"/>
                      </a:solidFill>
                      <a:prstDash val="solid"/>
                      <a:round/>
                      <a:headEnd type="none" w="med" len="med"/>
                      <a:tailEnd type="none" w="med" len="med"/>
                    </a:lnB>
                    <a:solidFill>
                      <a:srgbClr val="F1EEFA"/>
                    </a:solidFill>
                  </a:tcPr>
                </a:tc>
                <a:tc>
                  <a:txBody>
                    <a:bodyPr/>
                    <a:lstStyle/>
                    <a:p>
                      <a:pPr indent="0" marL="0">
                        <a:buNone/>
                      </a:pPr>
                      <a:r>
                        <a:rPr lang="en-US" sz="1400" dirty="0">
                          <a:solidFill>
                            <a:srgbClr val="1F1B3A"/>
                          </a:solidFill>
                        </a:rPr>
                        <a:t>hidden, below, secret</a:t>
                      </a:r>
                      <a:endParaRPr lang="en-US" sz="1400" dirty="0"/>
                    </a:p>
                  </a:txBody>
                  <a:tcPr marL="91440" marR="91440" marT="45720" marB="45720" anchor="ctr">
                    <a:lnL w="12700" cap="flat" cmpd="sng" algn="ctr">
                      <a:solidFill>
                        <a:srgbClr val="BDB6D9"/>
                      </a:solidFill>
                      <a:prstDash val="solid"/>
                      <a:round/>
                      <a:headEnd type="none" w="med" len="med"/>
                      <a:tailEnd type="none" w="med" len="med"/>
                    </a:lnL>
                    <a:lnR w="12700" cap="flat" cmpd="sng" algn="ctr">
                      <a:solidFill>
                        <a:srgbClr val="BDB6D9"/>
                      </a:solidFill>
                      <a:prstDash val="solid"/>
                      <a:round/>
                      <a:headEnd type="none" w="med" len="med"/>
                      <a:tailEnd type="none" w="med" len="med"/>
                    </a:lnR>
                    <a:lnT w="12700" cap="flat" cmpd="sng" algn="ctr">
                      <a:solidFill>
                        <a:srgbClr val="BDB6D9"/>
                      </a:solidFill>
                      <a:prstDash val="solid"/>
                      <a:round/>
                      <a:headEnd type="none" w="med" len="med"/>
                      <a:tailEnd type="none" w="med" len="med"/>
                    </a:lnT>
                    <a:lnB w="12700" cap="flat" cmpd="sng" algn="ctr">
                      <a:solidFill>
                        <a:srgbClr val="BDB6D9"/>
                      </a:solidFill>
                      <a:prstDash val="solid"/>
                      <a:round/>
                      <a:headEnd type="none" w="med" len="med"/>
                      <a:tailEnd type="none" w="med" len="med"/>
                    </a:lnB>
                    <a:solidFill>
                      <a:srgbClr val="F1EEFA"/>
                    </a:solidFill>
                  </a:tcPr>
                </a:tc>
              </a:tr>
              <a:tr h="594360">
                <a:tc>
                  <a:txBody>
                    <a:bodyPr/>
                    <a:lstStyle/>
                    <a:p>
                      <a:pPr indent="0" marL="0">
                        <a:buNone/>
                      </a:pPr>
                      <a:r>
                        <a:rPr lang="en-US" sz="1400" b="1" dirty="0">
                          <a:solidFill>
                            <a:srgbClr val="1F1B3A"/>
                          </a:solidFill>
                        </a:rPr>
                        <a:t>beyond the ridge</a:t>
                      </a:r>
                      <a:endParaRPr lang="en-US" sz="1400" dirty="0"/>
                    </a:p>
                  </a:txBody>
                  <a:tcPr marL="91440" marR="91440" marT="45720" marB="45720" anchor="ctr">
                    <a:lnL w="12700" cap="flat" cmpd="sng" algn="ctr">
                      <a:solidFill>
                        <a:srgbClr val="BDB6D9"/>
                      </a:solidFill>
                      <a:prstDash val="solid"/>
                      <a:round/>
                      <a:headEnd type="none" w="med" len="med"/>
                      <a:tailEnd type="none" w="med" len="med"/>
                    </a:lnL>
                    <a:lnR w="12700" cap="flat" cmpd="sng" algn="ctr">
                      <a:solidFill>
                        <a:srgbClr val="BDB6D9"/>
                      </a:solidFill>
                      <a:prstDash val="solid"/>
                      <a:round/>
                      <a:headEnd type="none" w="med" len="med"/>
                      <a:tailEnd type="none" w="med" len="med"/>
                    </a:lnR>
                    <a:lnT w="12700" cap="flat" cmpd="sng" algn="ctr">
                      <a:solidFill>
                        <a:srgbClr val="BDB6D9"/>
                      </a:solidFill>
                      <a:prstDash val="solid"/>
                      <a:round/>
                      <a:headEnd type="none" w="med" len="med"/>
                      <a:tailEnd type="none" w="med" len="med"/>
                    </a:lnT>
                    <a:lnB w="12700" cap="flat" cmpd="sng" algn="ctr">
                      <a:solidFill>
                        <a:srgbClr val="BDB6D9"/>
                      </a:solidFill>
                      <a:prstDash val="solid"/>
                      <a:round/>
                      <a:headEnd type="none" w="med" len="med"/>
                      <a:tailEnd type="none" w="med" len="med"/>
                    </a:lnB>
                    <a:solidFill>
                      <a:srgbClr val="F1EEFA"/>
                    </a:solidFill>
                  </a:tcPr>
                </a:tc>
                <a:tc>
                  <a:txBody>
                    <a:bodyPr/>
                    <a:lstStyle/>
                    <a:p>
                      <a:pPr indent="0" marL="0">
                        <a:buNone/>
                      </a:pPr>
                      <a:r>
                        <a:rPr lang="en-US" sz="1400" dirty="0">
                          <a:solidFill>
                            <a:srgbClr val="1F1B3A"/>
                          </a:solidFill>
                        </a:rPr>
                        <a:t>far away, unknown</a:t>
                      </a:r>
                      <a:endParaRPr lang="en-US" sz="1400" dirty="0"/>
                    </a:p>
                  </a:txBody>
                  <a:tcPr marL="91440" marR="91440" marT="45720" marB="45720" anchor="ctr">
                    <a:lnL w="12700" cap="flat" cmpd="sng" algn="ctr">
                      <a:solidFill>
                        <a:srgbClr val="BDB6D9"/>
                      </a:solidFill>
                      <a:prstDash val="solid"/>
                      <a:round/>
                      <a:headEnd type="none" w="med" len="med"/>
                      <a:tailEnd type="none" w="med" len="med"/>
                    </a:lnL>
                    <a:lnR w="12700" cap="flat" cmpd="sng" algn="ctr">
                      <a:solidFill>
                        <a:srgbClr val="BDB6D9"/>
                      </a:solidFill>
                      <a:prstDash val="solid"/>
                      <a:round/>
                      <a:headEnd type="none" w="med" len="med"/>
                      <a:tailEnd type="none" w="med" len="med"/>
                    </a:lnR>
                    <a:lnT w="12700" cap="flat" cmpd="sng" algn="ctr">
                      <a:solidFill>
                        <a:srgbClr val="BDB6D9"/>
                      </a:solidFill>
                      <a:prstDash val="solid"/>
                      <a:round/>
                      <a:headEnd type="none" w="med" len="med"/>
                      <a:tailEnd type="none" w="med" len="med"/>
                    </a:lnT>
                    <a:lnB w="12700" cap="flat" cmpd="sng" algn="ctr">
                      <a:solidFill>
                        <a:srgbClr val="BDB6D9"/>
                      </a:solidFill>
                      <a:prstDash val="solid"/>
                      <a:round/>
                      <a:headEnd type="none" w="med" len="med"/>
                      <a:tailEnd type="none" w="med" len="med"/>
                    </a:lnB>
                    <a:solidFill>
                      <a:srgbClr val="F1EEFA"/>
                    </a:solidFill>
                  </a:tcPr>
                </a:tc>
              </a:tr>
              <a:tr h="594360">
                <a:tc>
                  <a:txBody>
                    <a:bodyPr/>
                    <a:lstStyle/>
                    <a:p>
                      <a:pPr indent="0" marL="0">
                        <a:buNone/>
                      </a:pPr>
                      <a:r>
                        <a:rPr lang="en-US" sz="1400" b="1" dirty="0">
                          <a:solidFill>
                            <a:srgbClr val="1F1B3A"/>
                          </a:solidFill>
                        </a:rPr>
                        <a:t>through the mist</a:t>
                      </a:r>
                      <a:endParaRPr lang="en-US" sz="1400" dirty="0"/>
                    </a:p>
                  </a:txBody>
                  <a:tcPr marL="91440" marR="91440" marT="45720" marB="45720" anchor="ctr">
                    <a:lnL w="12700" cap="flat" cmpd="sng" algn="ctr">
                      <a:solidFill>
                        <a:srgbClr val="BDB6D9"/>
                      </a:solidFill>
                      <a:prstDash val="solid"/>
                      <a:round/>
                      <a:headEnd type="none" w="med" len="med"/>
                      <a:tailEnd type="none" w="med" len="med"/>
                    </a:lnL>
                    <a:lnR w="12700" cap="flat" cmpd="sng" algn="ctr">
                      <a:solidFill>
                        <a:srgbClr val="BDB6D9"/>
                      </a:solidFill>
                      <a:prstDash val="solid"/>
                      <a:round/>
                      <a:headEnd type="none" w="med" len="med"/>
                      <a:tailEnd type="none" w="med" len="med"/>
                    </a:lnR>
                    <a:lnT w="12700" cap="flat" cmpd="sng" algn="ctr">
                      <a:solidFill>
                        <a:srgbClr val="BDB6D9"/>
                      </a:solidFill>
                      <a:prstDash val="solid"/>
                      <a:round/>
                      <a:headEnd type="none" w="med" len="med"/>
                      <a:tailEnd type="none" w="med" len="med"/>
                    </a:lnT>
                    <a:lnB w="12700" cap="flat" cmpd="sng" algn="ctr">
                      <a:solidFill>
                        <a:srgbClr val="BDB6D9"/>
                      </a:solidFill>
                      <a:prstDash val="solid"/>
                      <a:round/>
                      <a:headEnd type="none" w="med" len="med"/>
                      <a:tailEnd type="none" w="med" len="med"/>
                    </a:lnB>
                    <a:solidFill>
                      <a:srgbClr val="F1EEFA"/>
                    </a:solidFill>
                  </a:tcPr>
                </a:tc>
                <a:tc>
                  <a:txBody>
                    <a:bodyPr/>
                    <a:lstStyle/>
                    <a:p>
                      <a:pPr indent="0" marL="0">
                        <a:buNone/>
                      </a:pPr>
                      <a:r>
                        <a:rPr lang="en-US" sz="1400" dirty="0">
                          <a:solidFill>
                            <a:srgbClr val="1F1B3A"/>
                          </a:solidFill>
                        </a:rPr>
                        <a:t>moving, unclear, uncertain</a:t>
                      </a:r>
                      <a:endParaRPr lang="en-US" sz="1400" dirty="0"/>
                    </a:p>
                  </a:txBody>
                  <a:tcPr marL="91440" marR="91440" marT="45720" marB="45720" anchor="ctr">
                    <a:lnL w="12700" cap="flat" cmpd="sng" algn="ctr">
                      <a:solidFill>
                        <a:srgbClr val="BDB6D9"/>
                      </a:solidFill>
                      <a:prstDash val="solid"/>
                      <a:round/>
                      <a:headEnd type="none" w="med" len="med"/>
                      <a:tailEnd type="none" w="med" len="med"/>
                    </a:lnL>
                    <a:lnR w="12700" cap="flat" cmpd="sng" algn="ctr">
                      <a:solidFill>
                        <a:srgbClr val="BDB6D9"/>
                      </a:solidFill>
                      <a:prstDash val="solid"/>
                      <a:round/>
                      <a:headEnd type="none" w="med" len="med"/>
                      <a:tailEnd type="none" w="med" len="med"/>
                    </a:lnR>
                    <a:lnT w="12700" cap="flat" cmpd="sng" algn="ctr">
                      <a:solidFill>
                        <a:srgbClr val="BDB6D9"/>
                      </a:solidFill>
                      <a:prstDash val="solid"/>
                      <a:round/>
                      <a:headEnd type="none" w="med" len="med"/>
                      <a:tailEnd type="none" w="med" len="med"/>
                    </a:lnT>
                    <a:lnB w="12700" cap="flat" cmpd="sng" algn="ctr">
                      <a:solidFill>
                        <a:srgbClr val="BDB6D9"/>
                      </a:solidFill>
                      <a:prstDash val="solid"/>
                      <a:round/>
                      <a:headEnd type="none" w="med" len="med"/>
                      <a:tailEnd type="none" w="med" len="med"/>
                    </a:lnB>
                    <a:solidFill>
                      <a:srgbClr val="F1EEFA"/>
                    </a:solidFill>
                  </a:tcPr>
                </a:tc>
              </a:tr>
              <a:tr h="594360">
                <a:tc>
                  <a:txBody>
                    <a:bodyPr/>
                    <a:lstStyle/>
                    <a:p>
                      <a:pPr indent="0" marL="0">
                        <a:buNone/>
                      </a:pPr>
                      <a:r>
                        <a:rPr lang="en-US" sz="1400" b="1" dirty="0">
                          <a:solidFill>
                            <a:srgbClr val="1F1B3A"/>
                          </a:solidFill>
                        </a:rPr>
                        <a:t>between the walls</a:t>
                      </a:r>
                      <a:endParaRPr lang="en-US" sz="1400" dirty="0"/>
                    </a:p>
                  </a:txBody>
                  <a:tcPr marL="91440" marR="91440" marT="45720" marB="45720" anchor="ctr">
                    <a:lnL w="12700" cap="flat" cmpd="sng" algn="ctr">
                      <a:solidFill>
                        <a:srgbClr val="BDB6D9"/>
                      </a:solidFill>
                      <a:prstDash val="solid"/>
                      <a:round/>
                      <a:headEnd type="none" w="med" len="med"/>
                      <a:tailEnd type="none" w="med" len="med"/>
                    </a:lnL>
                    <a:lnR w="12700" cap="flat" cmpd="sng" algn="ctr">
                      <a:solidFill>
                        <a:srgbClr val="BDB6D9"/>
                      </a:solidFill>
                      <a:prstDash val="solid"/>
                      <a:round/>
                      <a:headEnd type="none" w="med" len="med"/>
                      <a:tailEnd type="none" w="med" len="med"/>
                    </a:lnR>
                    <a:lnT w="12700" cap="flat" cmpd="sng" algn="ctr">
                      <a:solidFill>
                        <a:srgbClr val="BDB6D9"/>
                      </a:solidFill>
                      <a:prstDash val="solid"/>
                      <a:round/>
                      <a:headEnd type="none" w="med" len="med"/>
                      <a:tailEnd type="none" w="med" len="med"/>
                    </a:lnT>
                    <a:lnB w="12700" cap="flat" cmpd="sng" algn="ctr">
                      <a:solidFill>
                        <a:srgbClr val="BDB6D9"/>
                      </a:solidFill>
                      <a:prstDash val="solid"/>
                      <a:round/>
                      <a:headEnd type="none" w="med" len="med"/>
                      <a:tailEnd type="none" w="med" len="med"/>
                    </a:lnB>
                    <a:solidFill>
                      <a:srgbClr val="F1EEFA"/>
                    </a:solidFill>
                  </a:tcPr>
                </a:tc>
                <a:tc>
                  <a:txBody>
                    <a:bodyPr/>
                    <a:lstStyle/>
                    <a:p>
                      <a:pPr indent="0" marL="0">
                        <a:buNone/>
                      </a:pPr>
                      <a:r>
                        <a:rPr lang="en-US" sz="1400" dirty="0">
                          <a:solidFill>
                            <a:srgbClr val="1F1B3A"/>
                          </a:solidFill>
                        </a:rPr>
                        <a:t>narrow, trapped, closed in</a:t>
                      </a:r>
                      <a:endParaRPr lang="en-US" sz="1400" dirty="0"/>
                    </a:p>
                  </a:txBody>
                  <a:tcPr marL="91440" marR="91440" marT="45720" marB="45720" anchor="ctr">
                    <a:lnL w="12700" cap="flat" cmpd="sng" algn="ctr">
                      <a:solidFill>
                        <a:srgbClr val="BDB6D9"/>
                      </a:solidFill>
                      <a:prstDash val="solid"/>
                      <a:round/>
                      <a:headEnd type="none" w="med" len="med"/>
                      <a:tailEnd type="none" w="med" len="med"/>
                    </a:lnL>
                    <a:lnR w="12700" cap="flat" cmpd="sng" algn="ctr">
                      <a:solidFill>
                        <a:srgbClr val="BDB6D9"/>
                      </a:solidFill>
                      <a:prstDash val="solid"/>
                      <a:round/>
                      <a:headEnd type="none" w="med" len="med"/>
                      <a:tailEnd type="none" w="med" len="med"/>
                    </a:lnR>
                    <a:lnT w="12700" cap="flat" cmpd="sng" algn="ctr">
                      <a:solidFill>
                        <a:srgbClr val="BDB6D9"/>
                      </a:solidFill>
                      <a:prstDash val="solid"/>
                      <a:round/>
                      <a:headEnd type="none" w="med" len="med"/>
                      <a:tailEnd type="none" w="med" len="med"/>
                    </a:lnT>
                    <a:lnB w="12700" cap="flat" cmpd="sng" algn="ctr">
                      <a:solidFill>
                        <a:srgbClr val="BDB6D9"/>
                      </a:solidFill>
                      <a:prstDash val="solid"/>
                      <a:round/>
                      <a:headEnd type="none" w="med" len="med"/>
                      <a:tailEnd type="none" w="med" len="med"/>
                    </a:lnB>
                    <a:solidFill>
                      <a:srgbClr val="F1EEFA"/>
                    </a:solidFill>
                  </a:tcPr>
                </a:tc>
              </a:tr>
            </a:tbl>
          </a:graphicData>
        </a:graphic>
      </p:graphicFrame>
      <p:sp>
        <p:nvSpPr>
          <p:cNvPr id="5" name="card"/>
          <p:cNvSpPr/>
          <p:nvPr/>
        </p:nvSpPr>
        <p:spPr>
          <a:xfrm>
            <a:off x="548640" y="4160520"/>
            <a:ext cx="8046720" cy="457200"/>
          </a:xfrm>
          <a:prstGeom prst="roundRect">
            <a:avLst>
              <a:gd name="adj" fmla="val 24000"/>
            </a:avLst>
          </a:prstGeom>
          <a:solidFill>
            <a:schemeClr val="accent1"/>
          </a:solidFill>
          <a:ln w="12700">
            <a:solidFill>
              <a:schemeClr val="accent1"/>
            </a:solidFill>
            <a:prstDash val="solid"/>
          </a:ln>
        </p:spPr>
      </p:sp>
      <p:sp>
        <p:nvSpPr>
          <p:cNvPr id="6" name="Text 2"/>
          <p:cNvSpPr txBox="1"/>
          <p:nvPr/>
        </p:nvSpPr>
        <p:spPr>
          <a:xfrm>
            <a:off x="731520" y="4160520"/>
            <a:ext cx="7680960" cy="457200"/>
          </a:xfrm>
          <a:prstGeom prst="rect">
            <a:avLst/>
          </a:prstGeom>
          <a:noFill/>
          <a:ln/>
        </p:spPr>
        <p:txBody>
          <a:bodyPr wrap="square" lIns="0" tIns="0" rIns="0" bIns="0" rtlCol="0" anchor="ctr"/>
          <a:lstStyle/>
          <a:p>
            <a:pPr indent="0" marL="0">
              <a:buNone/>
            </a:pPr>
            <a:r>
              <a:rPr lang="en-US" sz="1400" b="1" dirty="0">
                <a:solidFill>
                  <a:schemeClr val="tx1"/>
                </a:solidFill>
              </a:rPr>
              <a:t>Prepositional phrases often work as adverbials: they tell us where, when or how.</a:t>
            </a:r>
            <a:endParaRPr lang="en-US" sz="1400" dirty="0"/>
          </a:p>
        </p:txBody>
      </p:sp>
      <p:sp>
        <p:nvSpPr>
          <p:cNvPr id="25" name="Slide Number Placeholder 0"/>
          <p:cNvSpPr>
            <a:spLocks noGrp="1"/>
          </p:cNvSpPr>
          <p:nvPr>
            <p:ph type="sldNum" sz="quarter" idx="4294967295"/>
          </p:nvPr>
        </p:nvSpPr>
        <p:spPr>
          <a:xfrm>
            <a:off x="8229600" y="4736592"/>
            <a:ext cx="36576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6784"/>
                </a:solidFill>
              </a:defRPr>
            </a:lvl1pPr>
          </a:lstStyle>
          <a:p>
            <a:pPr algn="l"/>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8046720" cy="731520"/>
          </a:xfrm>
          <a:prstGeom prst="rect">
            <a:avLst/>
          </a:prstGeom>
          <a:noFill/>
          <a:ln/>
        </p:spPr>
        <p:txBody>
          <a:bodyPr wrap="square" lIns="0" tIns="0" rIns="0" bIns="0" rtlCol="0" anchor="ctr"/>
          <a:lstStyle/>
          <a:p>
            <a:pPr algn="l" indent="0" marL="0">
              <a:buNone/>
            </a:pPr>
            <a:r>
              <a:rPr lang="en-US" sz="3000" b="1" dirty="0">
                <a:solidFill>
                  <a:schemeClr val="tx1"/>
                </a:solidFill>
              </a:rPr>
              <a:t>Layering a sentence</a:t>
            </a:r>
            <a:endParaRPr lang="en-US" sz="3000" dirty="0"/>
          </a:p>
        </p:txBody>
      </p:sp>
      <p:sp>
        <p:nvSpPr>
          <p:cNvPr id="4" name="card"/>
          <p:cNvSpPr/>
          <p:nvPr/>
        </p:nvSpPr>
        <p:spPr>
          <a:xfrm>
            <a:off x="548640" y="1097280"/>
            <a:ext cx="8046720" cy="800100"/>
          </a:xfrm>
          <a:prstGeom prst="roundRect">
            <a:avLst>
              <a:gd name="adj" fmla="val 13714"/>
            </a:avLst>
          </a:prstGeom>
          <a:solidFill>
            <a:schemeClr val="bg2"/>
          </a:solidFill>
          <a:ln w="12700">
            <a:solidFill>
              <a:schemeClr val="bg2"/>
            </a:solidFill>
            <a:prstDash val="solid"/>
          </a:ln>
        </p:spPr>
      </p:sp>
      <p:sp>
        <p:nvSpPr>
          <p:cNvPr id="5" name="number"/>
          <p:cNvSpPr/>
          <p:nvPr/>
        </p:nvSpPr>
        <p:spPr>
          <a:xfrm>
            <a:off x="685800" y="1268730"/>
            <a:ext cx="457200" cy="457200"/>
          </a:xfrm>
          <a:prstGeom prst="ellipse">
            <a:avLst/>
          </a:prstGeom>
          <a:solidFill>
            <a:schemeClr val="accent4"/>
          </a:solidFill>
          <a:ln w="12700">
            <a:solidFill>
              <a:schemeClr val="bg1"/>
            </a:solidFill>
            <a:prstDash val="solid"/>
          </a:ln>
        </p:spPr>
      </p:sp>
      <p:sp>
        <p:nvSpPr>
          <p:cNvPr id="6" name="Text 3"/>
          <p:cNvSpPr txBox="1"/>
          <p:nvPr/>
        </p:nvSpPr>
        <p:spPr>
          <a:xfrm>
            <a:off x="685800" y="1268730"/>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rPr>
              <a:t>1</a:t>
            </a:r>
            <a:endParaRPr lang="en-US" sz="1600" dirty="0"/>
          </a:p>
        </p:txBody>
      </p:sp>
      <p:sp>
        <p:nvSpPr>
          <p:cNvPr id="7" name="Text 4"/>
          <p:cNvSpPr txBox="1"/>
          <p:nvPr/>
        </p:nvSpPr>
        <p:spPr>
          <a:xfrm>
            <a:off x="1371600" y="1097280"/>
            <a:ext cx="7040880" cy="800100"/>
          </a:xfrm>
          <a:prstGeom prst="rect">
            <a:avLst/>
          </a:prstGeom>
          <a:noFill/>
          <a:ln/>
        </p:spPr>
        <p:txBody>
          <a:bodyPr wrap="square" lIns="0" tIns="0" rIns="0" bIns="0" rtlCol="0" anchor="ctr"/>
          <a:lstStyle/>
          <a:p>
            <a:pPr indent="0" marL="0">
              <a:buNone/>
            </a:pPr>
            <a:r>
              <a:rPr lang="en-US" sz="1300" b="1" dirty="0">
                <a:solidFill>
                  <a:schemeClr val="tx1"/>
                </a:solidFill>
              </a:rPr>
              <a:t>Start:</a:t>
            </a:r>
            <a:pPr indent="0" marL="0">
              <a:buNone/>
            </a:pPr>
            <a:r>
              <a:rPr lang="en-US" sz="1300" dirty="0">
                <a:solidFill>
                  <a:schemeClr val="tx1"/>
                </a:solidFill>
              </a:rPr>
              <a:t> A door stood.</a:t>
            </a:r>
            <a:endParaRPr lang="en-US" sz="1600" dirty="0"/>
          </a:p>
        </p:txBody>
      </p:sp>
      <p:sp>
        <p:nvSpPr>
          <p:cNvPr id="8" name="card"/>
          <p:cNvSpPr/>
          <p:nvPr/>
        </p:nvSpPr>
        <p:spPr>
          <a:xfrm>
            <a:off x="548640" y="1988820"/>
            <a:ext cx="8046720" cy="800100"/>
          </a:xfrm>
          <a:prstGeom prst="roundRect">
            <a:avLst>
              <a:gd name="adj" fmla="val 13714"/>
            </a:avLst>
          </a:prstGeom>
          <a:solidFill>
            <a:schemeClr val="bg2"/>
          </a:solidFill>
          <a:ln w="12700">
            <a:solidFill>
              <a:schemeClr val="bg2"/>
            </a:solidFill>
            <a:prstDash val="solid"/>
          </a:ln>
        </p:spPr>
      </p:sp>
      <p:sp>
        <p:nvSpPr>
          <p:cNvPr id="9" name="number"/>
          <p:cNvSpPr/>
          <p:nvPr/>
        </p:nvSpPr>
        <p:spPr>
          <a:xfrm>
            <a:off x="685800" y="2160270"/>
            <a:ext cx="457200" cy="457200"/>
          </a:xfrm>
          <a:prstGeom prst="ellipse">
            <a:avLst/>
          </a:prstGeom>
          <a:solidFill>
            <a:schemeClr val="accent2"/>
          </a:solidFill>
          <a:ln w="12700">
            <a:solidFill>
              <a:schemeClr val="bg1"/>
            </a:solidFill>
            <a:prstDash val="solid"/>
          </a:ln>
        </p:spPr>
      </p:sp>
      <p:sp>
        <p:nvSpPr>
          <p:cNvPr id="10" name="Text 7"/>
          <p:cNvSpPr txBox="1"/>
          <p:nvPr/>
        </p:nvSpPr>
        <p:spPr>
          <a:xfrm>
            <a:off x="685800" y="2160270"/>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rPr>
              <a:t>2</a:t>
            </a:r>
            <a:endParaRPr lang="en-US" sz="1600" dirty="0"/>
          </a:p>
        </p:txBody>
      </p:sp>
      <p:sp>
        <p:nvSpPr>
          <p:cNvPr id="11" name="Text 8"/>
          <p:cNvSpPr txBox="1"/>
          <p:nvPr/>
        </p:nvSpPr>
        <p:spPr>
          <a:xfrm>
            <a:off x="1371600" y="1988820"/>
            <a:ext cx="7040880" cy="800100"/>
          </a:xfrm>
          <a:prstGeom prst="rect">
            <a:avLst/>
          </a:prstGeom>
          <a:noFill/>
          <a:ln/>
        </p:spPr>
        <p:txBody>
          <a:bodyPr wrap="square" lIns="0" tIns="0" rIns="0" bIns="0" rtlCol="0" anchor="ctr"/>
          <a:lstStyle/>
          <a:p>
            <a:pPr indent="0" marL="0">
              <a:buNone/>
            </a:pPr>
            <a:r>
              <a:rPr lang="en-US" sz="1300" b="1" dirty="0">
                <a:solidFill>
                  <a:schemeClr val="tx1"/>
                </a:solidFill>
              </a:rPr>
              <a:t>Add an expanded noun phrase:</a:t>
            </a:r>
            <a:pPr indent="0" marL="0">
              <a:buNone/>
            </a:pPr>
            <a:r>
              <a:rPr lang="en-US" sz="1300" dirty="0">
                <a:solidFill>
                  <a:schemeClr val="tx1"/>
                </a:solidFill>
              </a:rPr>
              <a:t> A </a:t>
            </a:r>
            <a:pPr indent="0" marL="0">
              <a:buNone/>
            </a:pPr>
            <a:r>
              <a:rPr lang="en-US" sz="1300" b="1" dirty="0">
                <a:solidFill>
                  <a:schemeClr val="tx1"/>
                </a:solidFill>
              </a:rPr>
              <a:t>heavy oak door, carved with silver serpents,</a:t>
            </a:r>
            <a:pPr indent="0" marL="0">
              <a:buNone/>
            </a:pPr>
            <a:r>
              <a:rPr lang="en-US" sz="1300" dirty="0">
                <a:solidFill>
                  <a:schemeClr val="tx1"/>
                </a:solidFill>
              </a:rPr>
              <a:t> stood.</a:t>
            </a:r>
            <a:endParaRPr lang="en-US" sz="1600" dirty="0"/>
          </a:p>
        </p:txBody>
      </p:sp>
      <p:sp>
        <p:nvSpPr>
          <p:cNvPr id="12" name="card"/>
          <p:cNvSpPr/>
          <p:nvPr/>
        </p:nvSpPr>
        <p:spPr>
          <a:xfrm>
            <a:off x="548640" y="2880360"/>
            <a:ext cx="8046720" cy="800100"/>
          </a:xfrm>
          <a:prstGeom prst="roundRect">
            <a:avLst>
              <a:gd name="adj" fmla="val 13714"/>
            </a:avLst>
          </a:prstGeom>
          <a:solidFill>
            <a:schemeClr val="bg2"/>
          </a:solidFill>
          <a:ln w="12700">
            <a:solidFill>
              <a:schemeClr val="bg2"/>
            </a:solidFill>
            <a:prstDash val="solid"/>
          </a:ln>
        </p:spPr>
      </p:sp>
      <p:sp>
        <p:nvSpPr>
          <p:cNvPr id="13" name="number"/>
          <p:cNvSpPr/>
          <p:nvPr/>
        </p:nvSpPr>
        <p:spPr>
          <a:xfrm>
            <a:off x="685800" y="3051810"/>
            <a:ext cx="457200" cy="457200"/>
          </a:xfrm>
          <a:prstGeom prst="ellipse">
            <a:avLst/>
          </a:prstGeom>
          <a:solidFill>
            <a:schemeClr val="accent3"/>
          </a:solidFill>
          <a:ln w="12700">
            <a:solidFill>
              <a:schemeClr val="bg1"/>
            </a:solidFill>
            <a:prstDash val="solid"/>
          </a:ln>
        </p:spPr>
      </p:sp>
      <p:sp>
        <p:nvSpPr>
          <p:cNvPr id="14" name="Text 11"/>
          <p:cNvSpPr txBox="1"/>
          <p:nvPr/>
        </p:nvSpPr>
        <p:spPr>
          <a:xfrm>
            <a:off x="685800" y="3051810"/>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rPr>
              <a:t>3</a:t>
            </a:r>
            <a:endParaRPr lang="en-US" sz="1600" dirty="0"/>
          </a:p>
        </p:txBody>
      </p:sp>
      <p:sp>
        <p:nvSpPr>
          <p:cNvPr id="15" name="Text 12"/>
          <p:cNvSpPr txBox="1"/>
          <p:nvPr/>
        </p:nvSpPr>
        <p:spPr>
          <a:xfrm>
            <a:off x="1371600" y="2880360"/>
            <a:ext cx="7040880" cy="800100"/>
          </a:xfrm>
          <a:prstGeom prst="rect">
            <a:avLst/>
          </a:prstGeom>
          <a:noFill/>
          <a:ln/>
        </p:spPr>
        <p:txBody>
          <a:bodyPr wrap="square" lIns="0" tIns="0" rIns="0" bIns="0" rtlCol="0" anchor="ctr"/>
          <a:lstStyle/>
          <a:p>
            <a:pPr indent="0" marL="0">
              <a:buNone/>
            </a:pPr>
            <a:r>
              <a:rPr lang="en-US" sz="1300" b="1" dirty="0">
                <a:solidFill>
                  <a:schemeClr val="tx1"/>
                </a:solidFill>
              </a:rPr>
              <a:t>Add a fronted adverbial:</a:t>
            </a:r>
            <a:pPr indent="0" marL="0">
              <a:buNone/>
            </a:pPr>
            <a:r>
              <a:rPr lang="en-US" sz="1300" dirty="0">
                <a:solidFill>
                  <a:schemeClr val="tx1"/>
                </a:solidFill>
              </a:rPr>
              <a:t> </a:t>
            </a:r>
            <a:pPr indent="0" marL="0">
              <a:buNone/>
            </a:pPr>
            <a:r>
              <a:rPr lang="en-US" sz="1300" b="1" dirty="0">
                <a:solidFill>
                  <a:schemeClr val="tx1"/>
                </a:solidFill>
              </a:rPr>
              <a:t>At the end of the corridor,</a:t>
            </a:r>
            <a:pPr indent="0" marL="0">
              <a:buNone/>
            </a:pPr>
            <a:r>
              <a:rPr lang="en-US" sz="1300" dirty="0">
                <a:solidFill>
                  <a:schemeClr val="tx1"/>
                </a:solidFill>
              </a:rPr>
              <a:t> a heavy oak door, carved with silver serpents, stood.</a:t>
            </a:r>
            <a:endParaRPr lang="en-US" sz="1600" dirty="0"/>
          </a:p>
        </p:txBody>
      </p:sp>
      <p:sp>
        <p:nvSpPr>
          <p:cNvPr id="16" name="card"/>
          <p:cNvSpPr/>
          <p:nvPr/>
        </p:nvSpPr>
        <p:spPr>
          <a:xfrm>
            <a:off x="548640" y="3771900"/>
            <a:ext cx="8046720" cy="800100"/>
          </a:xfrm>
          <a:prstGeom prst="roundRect">
            <a:avLst>
              <a:gd name="adj" fmla="val 13714"/>
            </a:avLst>
          </a:prstGeom>
          <a:solidFill>
            <a:schemeClr val="bg2"/>
          </a:solidFill>
          <a:ln w="12700">
            <a:solidFill>
              <a:schemeClr val="bg2"/>
            </a:solidFill>
            <a:prstDash val="solid"/>
          </a:ln>
        </p:spPr>
      </p:sp>
      <p:sp>
        <p:nvSpPr>
          <p:cNvPr id="17" name="number"/>
          <p:cNvSpPr/>
          <p:nvPr/>
        </p:nvSpPr>
        <p:spPr>
          <a:xfrm>
            <a:off x="685800" y="3943350"/>
            <a:ext cx="457200" cy="457200"/>
          </a:xfrm>
          <a:prstGeom prst="ellipse">
            <a:avLst/>
          </a:prstGeom>
          <a:solidFill>
            <a:schemeClr val="accent5"/>
          </a:solidFill>
          <a:ln w="12700">
            <a:solidFill>
              <a:schemeClr val="bg1"/>
            </a:solidFill>
            <a:prstDash val="solid"/>
          </a:ln>
        </p:spPr>
      </p:sp>
      <p:sp>
        <p:nvSpPr>
          <p:cNvPr id="18" name="Text 15"/>
          <p:cNvSpPr txBox="1"/>
          <p:nvPr/>
        </p:nvSpPr>
        <p:spPr>
          <a:xfrm>
            <a:off x="685800" y="3943350"/>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rPr>
              <a:t>4</a:t>
            </a:r>
            <a:endParaRPr lang="en-US" sz="1600" dirty="0"/>
          </a:p>
        </p:txBody>
      </p:sp>
      <p:sp>
        <p:nvSpPr>
          <p:cNvPr id="19" name="Text 16"/>
          <p:cNvSpPr txBox="1"/>
          <p:nvPr/>
        </p:nvSpPr>
        <p:spPr>
          <a:xfrm>
            <a:off x="1371600" y="3771900"/>
            <a:ext cx="7040880" cy="800100"/>
          </a:xfrm>
          <a:prstGeom prst="rect">
            <a:avLst/>
          </a:prstGeom>
          <a:noFill/>
          <a:ln/>
        </p:spPr>
        <p:txBody>
          <a:bodyPr wrap="square" lIns="0" tIns="0" rIns="0" bIns="0" rtlCol="0" anchor="ctr"/>
          <a:lstStyle/>
          <a:p>
            <a:pPr indent="0" marL="0">
              <a:buNone/>
            </a:pPr>
            <a:r>
              <a:rPr lang="en-US" sz="1300" b="1" dirty="0">
                <a:solidFill>
                  <a:schemeClr val="tx1"/>
                </a:solidFill>
              </a:rPr>
              <a:t>Add an adverb:</a:t>
            </a:r>
            <a:pPr indent="0" marL="0">
              <a:buNone/>
            </a:pPr>
            <a:r>
              <a:rPr lang="en-US" sz="1300" dirty="0">
                <a:solidFill>
                  <a:schemeClr val="tx1"/>
                </a:solidFill>
              </a:rPr>
              <a:t> At the end of the corridor, a heavy oak door, carved with silver serpents, stood </a:t>
            </a:r>
            <a:pPr indent="0" marL="0">
              <a:buNone/>
            </a:pPr>
            <a:r>
              <a:rPr lang="en-US" sz="1300" b="1" dirty="0">
                <a:solidFill>
                  <a:schemeClr val="tx1"/>
                </a:solidFill>
              </a:rPr>
              <a:t>silently</a:t>
            </a:r>
            <a:pPr indent="0" marL="0">
              <a:buNone/>
            </a:pPr>
            <a:r>
              <a:rPr lang="en-US" sz="1300" dirty="0">
                <a:solidFill>
                  <a:schemeClr val="tx1"/>
                </a:solidFill>
              </a:rPr>
              <a:t>.</a:t>
            </a:r>
            <a:endParaRPr lang="en-US" sz="1600" dirty="0"/>
          </a:p>
        </p:txBody>
      </p:sp>
      <p:sp>
        <p:nvSpPr>
          <p:cNvPr id="25" name="Slide Number Placeholder 0"/>
          <p:cNvSpPr>
            <a:spLocks noGrp="1"/>
          </p:cNvSpPr>
          <p:nvPr>
            <p:ph type="sldNum" sz="quarter" idx="4294967295"/>
          </p:nvPr>
        </p:nvSpPr>
        <p:spPr>
          <a:xfrm>
            <a:off x="8229600" y="4736592"/>
            <a:ext cx="36576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6784"/>
                </a:solidFill>
              </a:defRPr>
            </a:lvl1pPr>
          </a:lstStyle>
          <a:p>
            <a:pPr algn="l"/>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8046720" cy="731520"/>
          </a:xfrm>
          <a:prstGeom prst="rect">
            <a:avLst/>
          </a:prstGeom>
          <a:noFill/>
          <a:ln/>
        </p:spPr>
        <p:txBody>
          <a:bodyPr wrap="square" lIns="0" tIns="0" rIns="0" bIns="0" rtlCol="0" anchor="ctr"/>
          <a:lstStyle/>
          <a:p>
            <a:pPr algn="l" indent="0" marL="0">
              <a:buNone/>
            </a:pPr>
            <a:r>
              <a:rPr lang="en-US" sz="3000" b="1" dirty="0">
                <a:solidFill>
                  <a:schemeClr val="tx1"/>
                </a:solidFill>
              </a:rPr>
              <a:t>When is it too much?</a:t>
            </a:r>
            <a:endParaRPr lang="en-US" sz="3000" dirty="0"/>
          </a:p>
        </p:txBody>
      </p:sp>
      <p:sp>
        <p:nvSpPr>
          <p:cNvPr id="4" name="card"/>
          <p:cNvSpPr/>
          <p:nvPr/>
        </p:nvSpPr>
        <p:spPr>
          <a:xfrm>
            <a:off x="548640" y="1097280"/>
            <a:ext cx="3931920" cy="2926080"/>
          </a:xfrm>
          <a:prstGeom prst="roundRect">
            <a:avLst>
              <a:gd name="adj" fmla="val 3750"/>
            </a:avLst>
          </a:prstGeom>
          <a:solidFill>
            <a:schemeClr val="bg2"/>
          </a:solidFill>
          <a:ln w="12700">
            <a:solidFill>
              <a:schemeClr val="bg2"/>
            </a:solidFill>
            <a:prstDash val="solid"/>
          </a:ln>
        </p:spPr>
      </p:sp>
      <p:sp>
        <p:nvSpPr>
          <p:cNvPr id="5" name="heading"/>
          <p:cNvSpPr/>
          <p:nvPr/>
        </p:nvSpPr>
        <p:spPr>
          <a:xfrm>
            <a:off x="731520" y="1234440"/>
            <a:ext cx="3566160" cy="502920"/>
          </a:xfrm>
          <a:prstGeom prst="roundRect">
            <a:avLst>
              <a:gd name="adj" fmla="val 21818"/>
            </a:avLst>
          </a:prstGeom>
          <a:solidFill>
            <a:schemeClr val="accent3"/>
          </a:solidFill>
          <a:ln w="12700">
            <a:solidFill>
              <a:schemeClr val="accent3"/>
            </a:solidFill>
            <a:prstDash val="solid"/>
          </a:ln>
        </p:spPr>
      </p:sp>
      <p:sp>
        <p:nvSpPr>
          <p:cNvPr id="6" name="Text 3"/>
          <p:cNvSpPr txBox="1"/>
          <p:nvPr/>
        </p:nvSpPr>
        <p:spPr>
          <a:xfrm>
            <a:off x="731520" y="1234440"/>
            <a:ext cx="3566160" cy="502920"/>
          </a:xfrm>
          <a:prstGeom prst="rect">
            <a:avLst/>
          </a:prstGeom>
          <a:noFill/>
          <a:ln/>
        </p:spPr>
        <p:txBody>
          <a:bodyPr wrap="square" lIns="0" tIns="0" rIns="0" bIns="0" rtlCol="0" anchor="ctr"/>
          <a:lstStyle/>
          <a:p>
            <a:pPr algn="ctr" indent="0" marL="0">
              <a:buNone/>
            </a:pPr>
            <a:r>
              <a:rPr lang="en-US" sz="1800" b="1" dirty="0">
                <a:solidFill>
                  <a:schemeClr val="bg1"/>
                </a:solidFill>
              </a:rPr>
              <a:t>Overloaded</a:t>
            </a:r>
            <a:endParaRPr lang="en-US" sz="1800" dirty="0"/>
          </a:p>
        </p:txBody>
      </p:sp>
      <p:sp>
        <p:nvSpPr>
          <p:cNvPr id="7" name="Text 4"/>
          <p:cNvSpPr txBox="1"/>
          <p:nvPr/>
        </p:nvSpPr>
        <p:spPr>
          <a:xfrm>
            <a:off x="822960" y="1874520"/>
            <a:ext cx="3383280" cy="2103120"/>
          </a:xfrm>
          <a:prstGeom prst="rect">
            <a:avLst/>
          </a:prstGeom>
          <a:noFill/>
          <a:ln/>
        </p:spPr>
        <p:txBody>
          <a:bodyPr wrap="square" lIns="0" tIns="0" rIns="0" bIns="0" rtlCol="0" anchor="t"/>
          <a:lstStyle/>
          <a:p>
            <a:pPr indent="0" marL="0">
              <a:spcAft>
                <a:spcPts val="800"/>
              </a:spcAft>
              <a:buNone/>
            </a:pPr>
            <a:r>
              <a:rPr lang="en-US" sz="1500" dirty="0">
                <a:solidFill>
                  <a:schemeClr val="tx1"/>
                </a:solidFill>
              </a:rPr>
              <a:t>The big, huge, enormous, gigantic, dark, scary, black tower stood very, very tall.</a:t>
            </a:r>
            <a:endParaRPr lang="en-US" sz="1600" dirty="0"/>
          </a:p>
        </p:txBody>
      </p:sp>
      <p:sp>
        <p:nvSpPr>
          <p:cNvPr id="8" name="card"/>
          <p:cNvSpPr/>
          <p:nvPr/>
        </p:nvSpPr>
        <p:spPr>
          <a:xfrm>
            <a:off x="4663440" y="1097280"/>
            <a:ext cx="3931920" cy="2926080"/>
          </a:xfrm>
          <a:prstGeom prst="roundRect">
            <a:avLst>
              <a:gd name="adj" fmla="val 3750"/>
            </a:avLst>
          </a:prstGeom>
          <a:solidFill>
            <a:schemeClr val="bg2"/>
          </a:solidFill>
          <a:ln w="12700">
            <a:solidFill>
              <a:schemeClr val="bg2"/>
            </a:solidFill>
            <a:prstDash val="solid"/>
          </a:ln>
        </p:spPr>
      </p:sp>
      <p:sp>
        <p:nvSpPr>
          <p:cNvPr id="9" name="heading"/>
          <p:cNvSpPr/>
          <p:nvPr/>
        </p:nvSpPr>
        <p:spPr>
          <a:xfrm>
            <a:off x="4846320" y="1234440"/>
            <a:ext cx="3566160" cy="502920"/>
          </a:xfrm>
          <a:prstGeom prst="roundRect">
            <a:avLst>
              <a:gd name="adj" fmla="val 21818"/>
            </a:avLst>
          </a:prstGeom>
          <a:solidFill>
            <a:schemeClr val="accent2"/>
          </a:solidFill>
          <a:ln w="12700">
            <a:solidFill>
              <a:schemeClr val="accent2"/>
            </a:solidFill>
            <a:prstDash val="solid"/>
          </a:ln>
        </p:spPr>
      </p:sp>
      <p:sp>
        <p:nvSpPr>
          <p:cNvPr id="10" name="Text 7"/>
          <p:cNvSpPr txBox="1"/>
          <p:nvPr/>
        </p:nvSpPr>
        <p:spPr>
          <a:xfrm>
            <a:off x="4846320" y="1234440"/>
            <a:ext cx="3566160" cy="502920"/>
          </a:xfrm>
          <a:prstGeom prst="rect">
            <a:avLst/>
          </a:prstGeom>
          <a:noFill/>
          <a:ln/>
        </p:spPr>
        <p:txBody>
          <a:bodyPr wrap="square" lIns="0" tIns="0" rIns="0" bIns="0" rtlCol="0" anchor="ctr"/>
          <a:lstStyle/>
          <a:p>
            <a:pPr algn="ctr" indent="0" marL="0">
              <a:buNone/>
            </a:pPr>
            <a:r>
              <a:rPr lang="en-US" sz="1800" b="1" dirty="0">
                <a:solidFill>
                  <a:schemeClr val="bg1"/>
                </a:solidFill>
              </a:rPr>
              <a:t>Edited</a:t>
            </a:r>
            <a:endParaRPr lang="en-US" sz="1800" dirty="0"/>
          </a:p>
        </p:txBody>
      </p:sp>
      <p:sp>
        <p:nvSpPr>
          <p:cNvPr id="11" name="Text 8"/>
          <p:cNvSpPr txBox="1"/>
          <p:nvPr/>
        </p:nvSpPr>
        <p:spPr>
          <a:xfrm>
            <a:off x="4937760" y="1874520"/>
            <a:ext cx="3383280" cy="2103120"/>
          </a:xfrm>
          <a:prstGeom prst="rect">
            <a:avLst/>
          </a:prstGeom>
          <a:noFill/>
          <a:ln/>
        </p:spPr>
        <p:txBody>
          <a:bodyPr wrap="square" lIns="0" tIns="0" rIns="0" bIns="0" rtlCol="0" anchor="t"/>
          <a:lstStyle/>
          <a:p>
            <a:pPr indent="0" marL="0">
              <a:spcAft>
                <a:spcPts val="800"/>
              </a:spcAft>
              <a:buNone/>
            </a:pPr>
            <a:r>
              <a:rPr lang="en-US" sz="1500" dirty="0">
                <a:solidFill>
                  <a:schemeClr val="tx1"/>
                </a:solidFill>
              </a:rPr>
              <a:t>The </a:t>
            </a:r>
            <a:pPr indent="0" marL="0">
              <a:spcAft>
                <a:spcPts val="800"/>
              </a:spcAft>
              <a:buNone/>
            </a:pPr>
            <a:r>
              <a:rPr lang="en-US" sz="1500" b="1" dirty="0">
                <a:solidFill>
                  <a:schemeClr val="tx1"/>
                </a:solidFill>
                <a:highlight>
                  <a:srgbClr val="FFD27F"/>
                </a:highlight>
              </a:rPr>
              <a:t>colossal, black</a:t>
            </a:r>
            <a:pPr indent="0" marL="0">
              <a:spcAft>
                <a:spcPts val="800"/>
              </a:spcAft>
              <a:buNone/>
            </a:pPr>
            <a:r>
              <a:rPr lang="en-US" sz="1500" dirty="0">
                <a:solidFill>
                  <a:schemeClr val="tx1"/>
                </a:solidFill>
              </a:rPr>
              <a:t> tower </a:t>
            </a:r>
            <a:pPr indent="0" marL="0">
              <a:spcAft>
                <a:spcPts val="800"/>
              </a:spcAft>
              <a:buNone/>
            </a:pPr>
            <a:r>
              <a:rPr lang="en-US" sz="1500" b="1" dirty="0">
                <a:solidFill>
                  <a:schemeClr val="tx1"/>
                </a:solidFill>
                <a:highlight>
                  <a:srgbClr val="FFD27F"/>
                </a:highlight>
              </a:rPr>
              <a:t>loomed</a:t>
            </a:r>
            <a:pPr indent="0" marL="0">
              <a:spcAft>
                <a:spcPts val="800"/>
              </a:spcAft>
              <a:buNone/>
            </a:pPr>
            <a:r>
              <a:rPr lang="en-US" sz="1500" dirty="0">
                <a:solidFill>
                  <a:schemeClr val="tx1"/>
                </a:solidFill>
              </a:rPr>
              <a:t> over the valley.</a:t>
            </a:r>
            <a:endParaRPr lang="en-US" sz="1600" dirty="0"/>
          </a:p>
        </p:txBody>
      </p:sp>
      <p:sp>
        <p:nvSpPr>
          <p:cNvPr id="12" name="card"/>
          <p:cNvSpPr/>
          <p:nvPr/>
        </p:nvSpPr>
        <p:spPr>
          <a:xfrm>
            <a:off x="548640" y="4160520"/>
            <a:ext cx="8046720" cy="457200"/>
          </a:xfrm>
          <a:prstGeom prst="roundRect">
            <a:avLst>
              <a:gd name="adj" fmla="val 24000"/>
            </a:avLst>
          </a:prstGeom>
          <a:solidFill>
            <a:schemeClr val="accent1"/>
          </a:solidFill>
          <a:ln w="12700">
            <a:solidFill>
              <a:schemeClr val="accent1"/>
            </a:solidFill>
            <a:prstDash val="solid"/>
          </a:ln>
        </p:spPr>
      </p:sp>
      <p:sp>
        <p:nvSpPr>
          <p:cNvPr id="13" name="Text 10"/>
          <p:cNvSpPr txBox="1"/>
          <p:nvPr/>
        </p:nvSpPr>
        <p:spPr>
          <a:xfrm>
            <a:off x="731520" y="4160520"/>
            <a:ext cx="7680960" cy="457200"/>
          </a:xfrm>
          <a:prstGeom prst="rect">
            <a:avLst/>
          </a:prstGeom>
          <a:noFill/>
          <a:ln/>
        </p:spPr>
        <p:txBody>
          <a:bodyPr wrap="square" lIns="0" tIns="0" rIns="0" bIns="0" rtlCol="0" anchor="ctr"/>
          <a:lstStyle/>
          <a:p>
            <a:pPr indent="0" marL="0">
              <a:buNone/>
            </a:pPr>
            <a:r>
              <a:rPr lang="en-US" sz="1400" b="1" dirty="0">
                <a:solidFill>
                  <a:schemeClr val="tx1"/>
                </a:solidFill>
              </a:rPr>
              <a:t>Choose details that build ONE mood. Cut words that repeat the same idea.</a:t>
            </a:r>
            <a:endParaRPr lang="en-US" sz="1400" dirty="0"/>
          </a:p>
        </p:txBody>
      </p:sp>
      <p:sp>
        <p:nvSpPr>
          <p:cNvPr id="25" name="Slide Number Placeholder 0"/>
          <p:cNvSpPr>
            <a:spLocks noGrp="1"/>
          </p:cNvSpPr>
          <p:nvPr>
            <p:ph type="sldNum" sz="quarter" idx="4294967295"/>
          </p:nvPr>
        </p:nvSpPr>
        <p:spPr>
          <a:xfrm>
            <a:off x="8229600" y="4736592"/>
            <a:ext cx="36576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6784"/>
                </a:solidFill>
              </a:defRPr>
            </a:lvl1pPr>
          </a:lstStyle>
          <a:p>
            <a:pPr algn="l"/>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8046720" cy="731520"/>
          </a:xfrm>
          <a:prstGeom prst="rect">
            <a:avLst/>
          </a:prstGeom>
          <a:noFill/>
          <a:ln/>
        </p:spPr>
        <p:txBody>
          <a:bodyPr wrap="square" lIns="0" tIns="0" rIns="0" bIns="0" rtlCol="0" anchor="ctr"/>
          <a:lstStyle/>
          <a:p>
            <a:pPr algn="l" indent="0" marL="0">
              <a:buNone/>
            </a:pPr>
            <a:r>
              <a:rPr lang="en-US" sz="3000" b="1" dirty="0">
                <a:solidFill>
                  <a:schemeClr val="tx1"/>
                </a:solidFill>
              </a:rPr>
              <a:t>Read: describing the city of Petronas</a:t>
            </a:r>
            <a:endParaRPr lang="en-US" sz="3000" dirty="0"/>
          </a:p>
        </p:txBody>
      </p:sp>
      <p:sp>
        <p:nvSpPr>
          <p:cNvPr id="4" name="card"/>
          <p:cNvSpPr/>
          <p:nvPr/>
        </p:nvSpPr>
        <p:spPr>
          <a:xfrm>
            <a:off x="548640" y="1097280"/>
            <a:ext cx="8046720" cy="3474720"/>
          </a:xfrm>
          <a:prstGeom prst="roundRect">
            <a:avLst>
              <a:gd name="adj" fmla="val 3158"/>
            </a:avLst>
          </a:prstGeom>
          <a:solidFill>
            <a:schemeClr val="bg2"/>
          </a:solidFill>
          <a:ln w="12700">
            <a:solidFill>
              <a:schemeClr val="bg2"/>
            </a:solidFill>
            <a:prstDash val="solid"/>
          </a:ln>
        </p:spPr>
      </p:sp>
      <p:sp>
        <p:nvSpPr>
          <p:cNvPr id="5" name="Text 2"/>
          <p:cNvSpPr txBox="1"/>
          <p:nvPr/>
        </p:nvSpPr>
        <p:spPr>
          <a:xfrm>
            <a:off x="822960" y="1188720"/>
            <a:ext cx="7498080" cy="3291840"/>
          </a:xfrm>
          <a:prstGeom prst="rect">
            <a:avLst/>
          </a:prstGeom>
          <a:noFill/>
          <a:ln/>
        </p:spPr>
        <p:txBody>
          <a:bodyPr wrap="square" lIns="0" tIns="0" rIns="0" bIns="0" rtlCol="0" anchor="ctr"/>
          <a:lstStyle/>
          <a:p>
            <a:pPr indent="0" marL="0">
              <a:spcAft>
                <a:spcPts val="600"/>
              </a:spcAft>
              <a:buNone/>
            </a:pPr>
            <a:r>
              <a:rPr lang="en-US" sz="1700" dirty="0">
                <a:solidFill>
                  <a:schemeClr val="tx1"/>
                </a:solidFill>
              </a:rPr>
              <a:t>Open your book at </a:t>
            </a:r>
            <a:pPr indent="0" marL="0">
              <a:spcAft>
                <a:spcPts val="600"/>
              </a:spcAft>
              <a:buNone/>
            </a:pPr>
            <a:r>
              <a:rPr lang="en-US" sz="1700" b="1" dirty="0">
                <a:solidFill>
                  <a:schemeClr val="tx1"/>
                </a:solidFill>
                <a:highlight>
                  <a:srgbClr val="FFD27F"/>
                </a:highlight>
              </a:rPr>
              <a:t>pages 14 to 17</a:t>
            </a:r>
            <a:pPr indent="0" marL="0">
              <a:spcAft>
                <a:spcPts val="600"/>
              </a:spcAft>
              <a:buNone/>
            </a:pPr>
            <a:r>
              <a:rPr lang="en-US" sz="1700" dirty="0">
                <a:solidFill>
                  <a:schemeClr val="tx1"/>
                </a:solidFill>
              </a:rPr>
              <a:t>, then </a:t>
            </a:r>
            <a:pPr indent="0" marL="0">
              <a:spcAft>
                <a:spcPts val="600"/>
              </a:spcAft>
              <a:buNone/>
            </a:pPr>
            <a:r>
              <a:rPr lang="en-US" sz="1700" b="1" dirty="0">
                <a:solidFill>
                  <a:schemeClr val="tx1"/>
                </a:solidFill>
                <a:highlight>
                  <a:srgbClr val="FFD27F"/>
                </a:highlight>
              </a:rPr>
              <a:t>pages 22 to 27</a:t>
            </a:r>
            <a:pPr indent="0" marL="0">
              <a:spcAft>
                <a:spcPts val="600"/>
              </a:spcAft>
              <a:buNone/>
            </a:pPr>
            <a:r>
              <a:rPr lang="en-US" sz="1700" dirty="0">
                <a:solidFill>
                  <a:schemeClr val="tx1"/>
                </a:solidFill>
              </a:rPr>
              <a:t>.</a:t>
            </a:r>
            <a:endParaRPr lang="en-US" sz="1600" dirty="0"/>
          </a:p>
          <a:p>
            <a:pPr indent="0" marL="0">
              <a:spcAft>
                <a:spcPts val="600"/>
              </a:spcAft>
              <a:buNone/>
            </a:pPr>
            <a:r>
              <a:rPr lang="en-US" sz="1700" dirty="0">
                <a:solidFill>
                  <a:schemeClr val="tx1"/>
                </a:solidFill>
              </a:rPr>
              <a:t>These pages describe the </a:t>
            </a:r>
            <a:pPr indent="0" marL="0">
              <a:spcAft>
                <a:spcPts val="600"/>
              </a:spcAft>
              <a:buNone/>
            </a:pPr>
            <a:r>
              <a:rPr lang="en-US" sz="1700" b="1" dirty="0">
                <a:solidFill>
                  <a:schemeClr val="tx1"/>
                </a:solidFill>
                <a:highlight>
                  <a:srgbClr val="FFD27F"/>
                </a:highlight>
              </a:rPr>
              <a:t>city of Petronas</a:t>
            </a:r>
            <a:pPr indent="0" marL="0">
              <a:spcAft>
                <a:spcPts val="600"/>
              </a:spcAft>
              <a:buNone/>
            </a:pPr>
            <a:r>
              <a:rPr lang="en-US" sz="1700" dirty="0">
                <a:solidFill>
                  <a:schemeClr val="tx1"/>
                </a:solidFill>
              </a:rPr>
              <a:t> for the first time. We read them together first.</a:t>
            </a:r>
            <a:endParaRPr lang="en-US" sz="1600" dirty="0"/>
          </a:p>
          <a:p>
            <a:pPr indent="0" marL="0">
              <a:spcAft>
                <a:spcPts val="600"/>
              </a:spcAft>
              <a:buNone/>
            </a:pPr>
            <a:r>
              <a:rPr lang="en-US" sz="1700" dirty="0">
                <a:solidFill>
                  <a:schemeClr val="tx1"/>
                </a:solidFill>
              </a:rPr>
              <a:t>Then you answer </a:t>
            </a:r>
            <a:pPr indent="0" marL="0">
              <a:spcAft>
                <a:spcPts val="600"/>
              </a:spcAft>
              <a:buNone/>
            </a:pPr>
            <a:r>
              <a:rPr lang="en-US" sz="1700" b="1" dirty="0">
                <a:solidFill>
                  <a:schemeClr val="tx1"/>
                </a:solidFill>
                <a:highlight>
                  <a:srgbClr val="FFD27F"/>
                </a:highlight>
              </a:rPr>
              <a:t>six questions</a:t>
            </a:r>
            <a:pPr indent="0" marL="0">
              <a:spcAft>
                <a:spcPts val="600"/>
              </a:spcAft>
              <a:buNone/>
            </a:pPr>
            <a:r>
              <a:rPr lang="en-US" sz="1700" dirty="0">
                <a:solidFill>
                  <a:schemeClr val="tx1"/>
                </a:solidFill>
              </a:rPr>
              <a:t> about the adjectives, adverbs and prepositional phrases the author uses.</a:t>
            </a:r>
            <a:endParaRPr lang="en-US" sz="1600" dirty="0"/>
          </a:p>
        </p:txBody>
      </p:sp>
      <p:sp>
        <p:nvSpPr>
          <p:cNvPr id="25" name="Slide Number Placeholder 0"/>
          <p:cNvSpPr>
            <a:spLocks noGrp="1"/>
          </p:cNvSpPr>
          <p:nvPr>
            <p:ph type="sldNum" sz="quarter" idx="4294967295"/>
          </p:nvPr>
        </p:nvSpPr>
        <p:spPr>
          <a:xfrm>
            <a:off x="8229600" y="4736592"/>
            <a:ext cx="36576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6784"/>
                </a:solidFill>
              </a:defRPr>
            </a:lvl1pPr>
          </a:lstStyle>
          <a:p>
            <a:pPr algn="l"/>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8046720" cy="731520"/>
          </a:xfrm>
          <a:prstGeom prst="rect">
            <a:avLst/>
          </a:prstGeom>
          <a:noFill/>
          <a:ln/>
        </p:spPr>
        <p:txBody>
          <a:bodyPr wrap="square" lIns="0" tIns="0" rIns="0" bIns="0" rtlCol="0" anchor="ctr"/>
          <a:lstStyle/>
          <a:p>
            <a:pPr algn="l" indent="0" marL="0">
              <a:buNone/>
            </a:pPr>
            <a:r>
              <a:rPr lang="en-US" sz="3000" b="1" dirty="0">
                <a:solidFill>
                  <a:schemeClr val="tx1"/>
                </a:solidFill>
              </a:rPr>
              <a:t>Question 1 of 6</a:t>
            </a:r>
            <a:endParaRPr lang="en-US" sz="3000" dirty="0"/>
          </a:p>
        </p:txBody>
      </p:sp>
      <p:sp>
        <p:nvSpPr>
          <p:cNvPr id="4" name="Text 1"/>
          <p:cNvSpPr txBox="1"/>
          <p:nvPr/>
        </p:nvSpPr>
        <p:spPr>
          <a:xfrm>
            <a:off x="6583680" y="457200"/>
            <a:ext cx="2011680" cy="365760"/>
          </a:xfrm>
          <a:prstGeom prst="rect">
            <a:avLst/>
          </a:prstGeom>
          <a:noFill/>
          <a:ln/>
        </p:spPr>
        <p:txBody>
          <a:bodyPr wrap="square" lIns="0" tIns="0" rIns="0" bIns="0" rtlCol="0" anchor="t"/>
          <a:lstStyle/>
          <a:p>
            <a:pPr algn="r" indent="0" marL="0">
              <a:buNone/>
            </a:pPr>
            <a:r>
              <a:rPr lang="en-US" sz="1400" b="1" dirty="0">
                <a:solidFill>
                  <a:schemeClr val="tx1"/>
                </a:solidFill>
              </a:rPr>
              <a:t>(1 mark)</a:t>
            </a:r>
            <a:endParaRPr lang="en-US" sz="1400" dirty="0"/>
          </a:p>
        </p:txBody>
      </p:sp>
      <p:sp>
        <p:nvSpPr>
          <p:cNvPr id="5" name="card"/>
          <p:cNvSpPr/>
          <p:nvPr/>
        </p:nvSpPr>
        <p:spPr>
          <a:xfrm>
            <a:off x="548640" y="1097280"/>
            <a:ext cx="8046720" cy="1417320"/>
          </a:xfrm>
          <a:prstGeom prst="roundRect">
            <a:avLst>
              <a:gd name="adj" fmla="val 7742"/>
            </a:avLst>
          </a:prstGeom>
          <a:solidFill>
            <a:schemeClr val="bg2"/>
          </a:solidFill>
          <a:ln w="12700">
            <a:solidFill>
              <a:schemeClr val="bg2"/>
            </a:solidFill>
            <a:prstDash val="solid"/>
          </a:ln>
        </p:spPr>
      </p:sp>
      <p:sp>
        <p:nvSpPr>
          <p:cNvPr id="6" name="question number"/>
          <p:cNvSpPr/>
          <p:nvPr/>
        </p:nvSpPr>
        <p:spPr>
          <a:xfrm>
            <a:off x="731520" y="1554480"/>
            <a:ext cx="594360" cy="594360"/>
          </a:xfrm>
          <a:prstGeom prst="ellipse">
            <a:avLst/>
          </a:prstGeom>
          <a:solidFill>
            <a:schemeClr val="accent4"/>
          </a:solidFill>
          <a:ln w="12700">
            <a:solidFill>
              <a:schemeClr val="accent4"/>
            </a:solidFill>
            <a:prstDash val="solid"/>
          </a:ln>
        </p:spPr>
      </p:sp>
      <p:sp>
        <p:nvSpPr>
          <p:cNvPr id="7" name="Text 4"/>
          <p:cNvSpPr txBox="1"/>
          <p:nvPr/>
        </p:nvSpPr>
        <p:spPr>
          <a:xfrm>
            <a:off x="731520" y="1554480"/>
            <a:ext cx="594360" cy="594360"/>
          </a:xfrm>
          <a:prstGeom prst="rect">
            <a:avLst/>
          </a:prstGeom>
          <a:noFill/>
          <a:ln/>
        </p:spPr>
        <p:txBody>
          <a:bodyPr wrap="square" lIns="0" tIns="0" rIns="0" bIns="0" rtlCol="0" anchor="ctr"/>
          <a:lstStyle/>
          <a:p>
            <a:pPr algn="ctr" indent="0" marL="0">
              <a:buNone/>
            </a:pPr>
            <a:r>
              <a:rPr lang="en-US" sz="2000" b="1" dirty="0">
                <a:solidFill>
                  <a:schemeClr val="bg1"/>
                </a:solidFill>
              </a:rPr>
              <a:t>1</a:t>
            </a:r>
            <a:endParaRPr lang="en-US" sz="2000" dirty="0"/>
          </a:p>
        </p:txBody>
      </p:sp>
      <p:sp>
        <p:nvSpPr>
          <p:cNvPr id="8" name="Text 5"/>
          <p:cNvSpPr txBox="1"/>
          <p:nvPr/>
        </p:nvSpPr>
        <p:spPr>
          <a:xfrm>
            <a:off x="1508760" y="1097280"/>
            <a:ext cx="6903720" cy="1417320"/>
          </a:xfrm>
          <a:prstGeom prst="rect">
            <a:avLst/>
          </a:prstGeom>
          <a:noFill/>
          <a:ln/>
        </p:spPr>
        <p:txBody>
          <a:bodyPr wrap="square" lIns="0" tIns="0" rIns="0" bIns="0" rtlCol="0" anchor="ctr"/>
          <a:lstStyle/>
          <a:p>
            <a:pPr indent="0" marL="0">
              <a:buNone/>
            </a:pPr>
            <a:r>
              <a:rPr lang="en-US" sz="1800" b="1" dirty="0">
                <a:solidFill>
                  <a:schemeClr val="tx1"/>
                </a:solidFill>
              </a:rPr>
              <a:t>Page 16: 'A blank, smooth wall of pale stone rose up from the ground ahead of her.' Which word is an adjective?</a:t>
            </a:r>
            <a:endParaRPr lang="en-US" sz="1800" dirty="0"/>
          </a:p>
        </p:txBody>
      </p:sp>
      <p:sp>
        <p:nvSpPr>
          <p:cNvPr id="9" name="card"/>
          <p:cNvSpPr/>
          <p:nvPr/>
        </p:nvSpPr>
        <p:spPr>
          <a:xfrm>
            <a:off x="548640" y="2697480"/>
            <a:ext cx="3931920" cy="868680"/>
          </a:xfrm>
          <a:prstGeom prst="roundRect">
            <a:avLst>
              <a:gd name="adj" fmla="val 12632"/>
            </a:avLst>
          </a:prstGeom>
          <a:solidFill>
            <a:schemeClr val="bg2"/>
          </a:solidFill>
          <a:ln w="12700">
            <a:solidFill>
              <a:schemeClr val="bg2"/>
            </a:solidFill>
            <a:prstDash val="solid"/>
          </a:ln>
        </p:spPr>
      </p:sp>
      <p:sp>
        <p:nvSpPr>
          <p:cNvPr id="10" name="tick box"/>
          <p:cNvSpPr/>
          <p:nvPr/>
        </p:nvSpPr>
        <p:spPr>
          <a:xfrm>
            <a:off x="731520" y="2944368"/>
            <a:ext cx="365760" cy="365760"/>
          </a:xfrm>
          <a:prstGeom prst="rect">
            <a:avLst/>
          </a:prstGeom>
          <a:solidFill>
            <a:schemeClr val="bg1"/>
          </a:solidFill>
          <a:ln w="19050">
            <a:solidFill>
              <a:schemeClr val="tx1"/>
            </a:solidFill>
            <a:prstDash val="solid"/>
          </a:ln>
        </p:spPr>
      </p:sp>
      <p:sp>
        <p:nvSpPr>
          <p:cNvPr id="11" name="Text 8"/>
          <p:cNvSpPr txBox="1"/>
          <p:nvPr/>
        </p:nvSpPr>
        <p:spPr>
          <a:xfrm>
            <a:off x="1234440" y="2697480"/>
            <a:ext cx="365760" cy="868680"/>
          </a:xfrm>
          <a:prstGeom prst="rect">
            <a:avLst/>
          </a:prstGeom>
          <a:noFill/>
          <a:ln/>
        </p:spPr>
        <p:txBody>
          <a:bodyPr wrap="square" lIns="0" tIns="0" rIns="0" bIns="0" rtlCol="0" anchor="ctr"/>
          <a:lstStyle/>
          <a:p>
            <a:pPr indent="0" marL="0">
              <a:buNone/>
            </a:pPr>
            <a:r>
              <a:rPr lang="en-US" sz="1800" b="1" dirty="0">
                <a:solidFill>
                  <a:schemeClr val="accent4"/>
                </a:solidFill>
              </a:rPr>
              <a:t>A</a:t>
            </a:r>
            <a:endParaRPr lang="en-US" sz="1800" dirty="0"/>
          </a:p>
        </p:txBody>
      </p:sp>
      <p:sp>
        <p:nvSpPr>
          <p:cNvPr id="12" name="Text 9"/>
          <p:cNvSpPr txBox="1"/>
          <p:nvPr/>
        </p:nvSpPr>
        <p:spPr>
          <a:xfrm>
            <a:off x="1645920" y="2697480"/>
            <a:ext cx="2743200" cy="868680"/>
          </a:xfrm>
          <a:prstGeom prst="rect">
            <a:avLst/>
          </a:prstGeom>
          <a:noFill/>
          <a:ln/>
        </p:spPr>
        <p:txBody>
          <a:bodyPr wrap="square" lIns="0" tIns="0" rIns="0" bIns="0" rtlCol="0" anchor="ctr"/>
          <a:lstStyle/>
          <a:p>
            <a:pPr indent="0" marL="0">
              <a:buNone/>
            </a:pPr>
            <a:r>
              <a:rPr lang="en-US" sz="1600" dirty="0">
                <a:solidFill>
                  <a:schemeClr val="tx1"/>
                </a:solidFill>
              </a:rPr>
              <a:t>rose</a:t>
            </a:r>
            <a:endParaRPr lang="en-US" sz="1600" dirty="0"/>
          </a:p>
        </p:txBody>
      </p:sp>
      <p:sp>
        <p:nvSpPr>
          <p:cNvPr id="13" name="card"/>
          <p:cNvSpPr/>
          <p:nvPr/>
        </p:nvSpPr>
        <p:spPr>
          <a:xfrm>
            <a:off x="4663440" y="2697480"/>
            <a:ext cx="3931920" cy="868680"/>
          </a:xfrm>
          <a:prstGeom prst="roundRect">
            <a:avLst>
              <a:gd name="adj" fmla="val 12632"/>
            </a:avLst>
          </a:prstGeom>
          <a:solidFill>
            <a:schemeClr val="bg2"/>
          </a:solidFill>
          <a:ln w="12700">
            <a:solidFill>
              <a:schemeClr val="bg2"/>
            </a:solidFill>
            <a:prstDash val="solid"/>
          </a:ln>
        </p:spPr>
      </p:sp>
      <p:sp>
        <p:nvSpPr>
          <p:cNvPr id="14" name="tick box"/>
          <p:cNvSpPr/>
          <p:nvPr/>
        </p:nvSpPr>
        <p:spPr>
          <a:xfrm>
            <a:off x="4846320" y="2944368"/>
            <a:ext cx="365760" cy="365760"/>
          </a:xfrm>
          <a:prstGeom prst="rect">
            <a:avLst/>
          </a:prstGeom>
          <a:solidFill>
            <a:schemeClr val="bg1"/>
          </a:solidFill>
          <a:ln w="19050">
            <a:solidFill>
              <a:schemeClr val="tx1"/>
            </a:solidFill>
            <a:prstDash val="solid"/>
          </a:ln>
        </p:spPr>
      </p:sp>
      <p:sp>
        <p:nvSpPr>
          <p:cNvPr id="15" name="Text 12"/>
          <p:cNvSpPr txBox="1"/>
          <p:nvPr/>
        </p:nvSpPr>
        <p:spPr>
          <a:xfrm>
            <a:off x="5349240" y="2697480"/>
            <a:ext cx="365760" cy="868680"/>
          </a:xfrm>
          <a:prstGeom prst="rect">
            <a:avLst/>
          </a:prstGeom>
          <a:noFill/>
          <a:ln/>
        </p:spPr>
        <p:txBody>
          <a:bodyPr wrap="square" lIns="0" tIns="0" rIns="0" bIns="0" rtlCol="0" anchor="ctr"/>
          <a:lstStyle/>
          <a:p>
            <a:pPr indent="0" marL="0">
              <a:buNone/>
            </a:pPr>
            <a:r>
              <a:rPr lang="en-US" sz="1800" b="1" dirty="0">
                <a:solidFill>
                  <a:schemeClr val="accent4"/>
                </a:solidFill>
              </a:rPr>
              <a:t>B</a:t>
            </a:r>
            <a:endParaRPr lang="en-US" sz="1800" dirty="0"/>
          </a:p>
        </p:txBody>
      </p:sp>
      <p:sp>
        <p:nvSpPr>
          <p:cNvPr id="16" name="Text 13"/>
          <p:cNvSpPr txBox="1"/>
          <p:nvPr/>
        </p:nvSpPr>
        <p:spPr>
          <a:xfrm>
            <a:off x="5760720" y="2697480"/>
            <a:ext cx="2743200" cy="868680"/>
          </a:xfrm>
          <a:prstGeom prst="rect">
            <a:avLst/>
          </a:prstGeom>
          <a:noFill/>
          <a:ln/>
        </p:spPr>
        <p:txBody>
          <a:bodyPr wrap="square" lIns="0" tIns="0" rIns="0" bIns="0" rtlCol="0" anchor="ctr"/>
          <a:lstStyle/>
          <a:p>
            <a:pPr indent="0" marL="0">
              <a:buNone/>
            </a:pPr>
            <a:r>
              <a:rPr lang="en-US" sz="1600" dirty="0">
                <a:solidFill>
                  <a:schemeClr val="tx1"/>
                </a:solidFill>
              </a:rPr>
              <a:t>blank</a:t>
            </a:r>
            <a:endParaRPr lang="en-US" sz="1600" dirty="0"/>
          </a:p>
        </p:txBody>
      </p:sp>
      <p:sp>
        <p:nvSpPr>
          <p:cNvPr id="17" name="card"/>
          <p:cNvSpPr/>
          <p:nvPr/>
        </p:nvSpPr>
        <p:spPr>
          <a:xfrm>
            <a:off x="548640" y="3703320"/>
            <a:ext cx="3931920" cy="868680"/>
          </a:xfrm>
          <a:prstGeom prst="roundRect">
            <a:avLst>
              <a:gd name="adj" fmla="val 12632"/>
            </a:avLst>
          </a:prstGeom>
          <a:solidFill>
            <a:schemeClr val="bg2"/>
          </a:solidFill>
          <a:ln w="12700">
            <a:solidFill>
              <a:schemeClr val="bg2"/>
            </a:solidFill>
            <a:prstDash val="solid"/>
          </a:ln>
        </p:spPr>
      </p:sp>
      <p:sp>
        <p:nvSpPr>
          <p:cNvPr id="18" name="tick box"/>
          <p:cNvSpPr/>
          <p:nvPr/>
        </p:nvSpPr>
        <p:spPr>
          <a:xfrm>
            <a:off x="731520" y="3950208"/>
            <a:ext cx="365760" cy="365760"/>
          </a:xfrm>
          <a:prstGeom prst="rect">
            <a:avLst/>
          </a:prstGeom>
          <a:solidFill>
            <a:schemeClr val="bg1"/>
          </a:solidFill>
          <a:ln w="19050">
            <a:solidFill>
              <a:schemeClr val="tx1"/>
            </a:solidFill>
            <a:prstDash val="solid"/>
          </a:ln>
        </p:spPr>
      </p:sp>
      <p:sp>
        <p:nvSpPr>
          <p:cNvPr id="19" name="Text 16"/>
          <p:cNvSpPr txBox="1"/>
          <p:nvPr/>
        </p:nvSpPr>
        <p:spPr>
          <a:xfrm>
            <a:off x="1234440" y="3703320"/>
            <a:ext cx="365760" cy="868680"/>
          </a:xfrm>
          <a:prstGeom prst="rect">
            <a:avLst/>
          </a:prstGeom>
          <a:noFill/>
          <a:ln/>
        </p:spPr>
        <p:txBody>
          <a:bodyPr wrap="square" lIns="0" tIns="0" rIns="0" bIns="0" rtlCol="0" anchor="ctr"/>
          <a:lstStyle/>
          <a:p>
            <a:pPr indent="0" marL="0">
              <a:buNone/>
            </a:pPr>
            <a:r>
              <a:rPr lang="en-US" sz="1800" b="1" dirty="0">
                <a:solidFill>
                  <a:schemeClr val="accent4"/>
                </a:solidFill>
              </a:rPr>
              <a:t>C</a:t>
            </a:r>
            <a:endParaRPr lang="en-US" sz="1800" dirty="0"/>
          </a:p>
        </p:txBody>
      </p:sp>
      <p:sp>
        <p:nvSpPr>
          <p:cNvPr id="20" name="Text 17"/>
          <p:cNvSpPr txBox="1"/>
          <p:nvPr/>
        </p:nvSpPr>
        <p:spPr>
          <a:xfrm>
            <a:off x="1645920" y="3703320"/>
            <a:ext cx="2743200" cy="868680"/>
          </a:xfrm>
          <a:prstGeom prst="rect">
            <a:avLst/>
          </a:prstGeom>
          <a:noFill/>
          <a:ln/>
        </p:spPr>
        <p:txBody>
          <a:bodyPr wrap="square" lIns="0" tIns="0" rIns="0" bIns="0" rtlCol="0" anchor="ctr"/>
          <a:lstStyle/>
          <a:p>
            <a:pPr indent="0" marL="0">
              <a:buNone/>
            </a:pPr>
            <a:r>
              <a:rPr lang="en-US" sz="1600" dirty="0">
                <a:solidFill>
                  <a:schemeClr val="tx1"/>
                </a:solidFill>
              </a:rPr>
              <a:t>ahead</a:t>
            </a:r>
            <a:endParaRPr lang="en-US" sz="1600" dirty="0"/>
          </a:p>
        </p:txBody>
      </p:sp>
      <p:sp>
        <p:nvSpPr>
          <p:cNvPr id="21" name="card"/>
          <p:cNvSpPr/>
          <p:nvPr/>
        </p:nvSpPr>
        <p:spPr>
          <a:xfrm>
            <a:off x="4663440" y="3703320"/>
            <a:ext cx="3931920" cy="868680"/>
          </a:xfrm>
          <a:prstGeom prst="roundRect">
            <a:avLst>
              <a:gd name="adj" fmla="val 12632"/>
            </a:avLst>
          </a:prstGeom>
          <a:solidFill>
            <a:schemeClr val="bg2"/>
          </a:solidFill>
          <a:ln w="12700">
            <a:solidFill>
              <a:schemeClr val="bg2"/>
            </a:solidFill>
            <a:prstDash val="solid"/>
          </a:ln>
        </p:spPr>
      </p:sp>
      <p:sp>
        <p:nvSpPr>
          <p:cNvPr id="22" name="tick box"/>
          <p:cNvSpPr/>
          <p:nvPr/>
        </p:nvSpPr>
        <p:spPr>
          <a:xfrm>
            <a:off x="4846320" y="3950208"/>
            <a:ext cx="365760" cy="365760"/>
          </a:xfrm>
          <a:prstGeom prst="rect">
            <a:avLst/>
          </a:prstGeom>
          <a:solidFill>
            <a:schemeClr val="bg1"/>
          </a:solidFill>
          <a:ln w="19050">
            <a:solidFill>
              <a:schemeClr val="tx1"/>
            </a:solidFill>
            <a:prstDash val="solid"/>
          </a:ln>
        </p:spPr>
      </p:sp>
      <p:sp>
        <p:nvSpPr>
          <p:cNvPr id="23" name="Text 20"/>
          <p:cNvSpPr txBox="1"/>
          <p:nvPr/>
        </p:nvSpPr>
        <p:spPr>
          <a:xfrm>
            <a:off x="5349240" y="3703320"/>
            <a:ext cx="365760" cy="868680"/>
          </a:xfrm>
          <a:prstGeom prst="rect">
            <a:avLst/>
          </a:prstGeom>
          <a:noFill/>
          <a:ln/>
        </p:spPr>
        <p:txBody>
          <a:bodyPr wrap="square" lIns="0" tIns="0" rIns="0" bIns="0" rtlCol="0" anchor="ctr"/>
          <a:lstStyle/>
          <a:p>
            <a:pPr indent="0" marL="0">
              <a:buNone/>
            </a:pPr>
            <a:r>
              <a:rPr lang="en-US" sz="1800" b="1" dirty="0">
                <a:solidFill>
                  <a:schemeClr val="accent4"/>
                </a:solidFill>
              </a:rPr>
              <a:t>D</a:t>
            </a:r>
            <a:endParaRPr lang="en-US" sz="1800" dirty="0"/>
          </a:p>
        </p:txBody>
      </p:sp>
      <p:sp>
        <p:nvSpPr>
          <p:cNvPr id="24" name="Text 21"/>
          <p:cNvSpPr txBox="1"/>
          <p:nvPr/>
        </p:nvSpPr>
        <p:spPr>
          <a:xfrm>
            <a:off x="5760720" y="3703320"/>
            <a:ext cx="2743200" cy="868680"/>
          </a:xfrm>
          <a:prstGeom prst="rect">
            <a:avLst/>
          </a:prstGeom>
          <a:noFill/>
          <a:ln/>
        </p:spPr>
        <p:txBody>
          <a:bodyPr wrap="square" lIns="0" tIns="0" rIns="0" bIns="0" rtlCol="0" anchor="ctr"/>
          <a:lstStyle/>
          <a:p>
            <a:pPr indent="0" marL="0">
              <a:buNone/>
            </a:pPr>
            <a:r>
              <a:rPr lang="en-US" sz="1600" dirty="0">
                <a:solidFill>
                  <a:schemeClr val="tx1"/>
                </a:solidFill>
              </a:rPr>
              <a:t>her</a:t>
            </a:r>
            <a:endParaRPr lang="en-US" sz="1600" dirty="0"/>
          </a:p>
        </p:txBody>
      </p:sp>
      <p:sp>
        <p:nvSpPr>
          <p:cNvPr id="25" name="Text 22"/>
          <p:cNvSpPr txBox="1"/>
          <p:nvPr/>
        </p:nvSpPr>
        <p:spPr>
          <a:xfrm>
            <a:off x="548640" y="4572000"/>
            <a:ext cx="4572000" cy="274320"/>
          </a:xfrm>
          <a:prstGeom prst="rect">
            <a:avLst/>
          </a:prstGeom>
          <a:noFill/>
          <a:ln/>
        </p:spPr>
        <p:txBody>
          <a:bodyPr wrap="square" lIns="0" tIns="0" rIns="0" bIns="0" rtlCol="0" anchor="t"/>
          <a:lstStyle/>
          <a:p>
            <a:pPr indent="0" marL="0">
              <a:buNone/>
            </a:pPr>
            <a:r>
              <a:rPr lang="en-US" sz="1200" i="1" dirty="0">
                <a:solidFill>
                  <a:srgbClr val="4A4668"/>
                </a:solidFill>
              </a:rPr>
              <a:t>Put a cross in one box.</a:t>
            </a:r>
            <a:endParaRPr lang="en-US" sz="1200" dirty="0"/>
          </a:p>
        </p:txBody>
      </p:sp>
      <p:sp>
        <p:nvSpPr>
          <p:cNvPr id="25" name="Slide Number Placeholder 0"/>
          <p:cNvSpPr>
            <a:spLocks noGrp="1"/>
          </p:cNvSpPr>
          <p:nvPr>
            <p:ph type="sldNum" sz="quarter" idx="4294967295"/>
          </p:nvPr>
        </p:nvSpPr>
        <p:spPr>
          <a:xfrm>
            <a:off x="8229600" y="4736592"/>
            <a:ext cx="36576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6784"/>
                </a:solidFill>
              </a:defRPr>
            </a:lvl1pPr>
          </a:lstStyle>
          <a:p>
            <a:pPr algn="l"/>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8046720" cy="731520"/>
          </a:xfrm>
          <a:prstGeom prst="rect">
            <a:avLst/>
          </a:prstGeom>
          <a:noFill/>
          <a:ln/>
        </p:spPr>
        <p:txBody>
          <a:bodyPr wrap="square" lIns="0" tIns="0" rIns="0" bIns="0" rtlCol="0" anchor="ctr"/>
          <a:lstStyle/>
          <a:p>
            <a:pPr algn="l" indent="0" marL="0">
              <a:buNone/>
            </a:pPr>
            <a:r>
              <a:rPr lang="en-US" sz="3000" b="1" dirty="0">
                <a:solidFill>
                  <a:schemeClr val="tx1"/>
                </a:solidFill>
              </a:rPr>
              <a:t>Answer: question 1 of 6</a:t>
            </a:r>
            <a:endParaRPr lang="en-US" sz="3000" dirty="0"/>
          </a:p>
        </p:txBody>
      </p:sp>
      <p:sp>
        <p:nvSpPr>
          <p:cNvPr id="4" name="card"/>
          <p:cNvSpPr/>
          <p:nvPr/>
        </p:nvSpPr>
        <p:spPr>
          <a:xfrm>
            <a:off x="548640" y="1097280"/>
            <a:ext cx="8046720" cy="3474720"/>
          </a:xfrm>
          <a:prstGeom prst="roundRect">
            <a:avLst>
              <a:gd name="adj" fmla="val 3158"/>
            </a:avLst>
          </a:prstGeom>
          <a:solidFill>
            <a:schemeClr val="bg2"/>
          </a:solidFill>
          <a:ln w="12700">
            <a:solidFill>
              <a:schemeClr val="bg2"/>
            </a:solidFill>
            <a:prstDash val="solid"/>
          </a:ln>
        </p:spPr>
      </p:sp>
      <p:sp>
        <p:nvSpPr>
          <p:cNvPr id="5" name="correct letter"/>
          <p:cNvSpPr/>
          <p:nvPr/>
        </p:nvSpPr>
        <p:spPr>
          <a:xfrm>
            <a:off x="822960" y="1371600"/>
            <a:ext cx="914400" cy="914400"/>
          </a:xfrm>
          <a:prstGeom prst="ellipse">
            <a:avLst/>
          </a:prstGeom>
          <a:solidFill>
            <a:schemeClr val="accent2"/>
          </a:solidFill>
          <a:ln w="12700">
            <a:solidFill>
              <a:schemeClr val="bg1"/>
            </a:solidFill>
            <a:prstDash val="solid"/>
          </a:ln>
        </p:spPr>
      </p:sp>
      <p:sp>
        <p:nvSpPr>
          <p:cNvPr id="6" name="Text 3"/>
          <p:cNvSpPr txBox="1"/>
          <p:nvPr/>
        </p:nvSpPr>
        <p:spPr>
          <a:xfrm>
            <a:off x="822960" y="1371600"/>
            <a:ext cx="914400" cy="914400"/>
          </a:xfrm>
          <a:prstGeom prst="rect">
            <a:avLst/>
          </a:prstGeom>
          <a:noFill/>
          <a:ln/>
        </p:spPr>
        <p:txBody>
          <a:bodyPr wrap="square" lIns="0" tIns="0" rIns="0" bIns="0" rtlCol="0" anchor="ctr"/>
          <a:lstStyle/>
          <a:p>
            <a:pPr algn="ctr" indent="0" marL="0">
              <a:buNone/>
            </a:pPr>
            <a:r>
              <a:rPr lang="en-US" sz="3600" b="1" dirty="0">
                <a:solidFill>
                  <a:schemeClr val="bg1"/>
                </a:solidFill>
              </a:rPr>
              <a:t>B</a:t>
            </a:r>
            <a:endParaRPr lang="en-US" sz="3600" dirty="0"/>
          </a:p>
        </p:txBody>
      </p:sp>
      <p:sp>
        <p:nvSpPr>
          <p:cNvPr id="7" name="Text 4"/>
          <p:cNvSpPr txBox="1"/>
          <p:nvPr/>
        </p:nvSpPr>
        <p:spPr>
          <a:xfrm>
            <a:off x="2011680" y="1280160"/>
            <a:ext cx="6400800" cy="1097280"/>
          </a:xfrm>
          <a:prstGeom prst="rect">
            <a:avLst/>
          </a:prstGeom>
          <a:noFill/>
          <a:ln/>
        </p:spPr>
        <p:txBody>
          <a:bodyPr wrap="square" lIns="0" tIns="0" rIns="0" bIns="0" rtlCol="0" anchor="ctr"/>
          <a:lstStyle/>
          <a:p>
            <a:pPr indent="0" marL="0">
              <a:buNone/>
            </a:pPr>
            <a:r>
              <a:rPr lang="en-US" sz="2200" b="1" dirty="0">
                <a:solidFill>
                  <a:schemeClr val="tx1"/>
                </a:solidFill>
                <a:highlight>
                  <a:srgbClr val="FFD27F"/>
                </a:highlight>
              </a:rPr>
              <a:t>blank</a:t>
            </a:r>
            <a:pPr indent="0" marL="0">
              <a:buNone/>
            </a:pPr>
            <a:r>
              <a:rPr lang="en-US" sz="2200" dirty="0">
                <a:solidFill>
                  <a:schemeClr val="tx1"/>
                </a:solidFill>
              </a:rPr>
              <a:t>  (1 mark)</a:t>
            </a:r>
            <a:endParaRPr lang="en-US" sz="1600" dirty="0"/>
          </a:p>
        </p:txBody>
      </p:sp>
      <p:sp>
        <p:nvSpPr>
          <p:cNvPr id="8" name="Text 5"/>
          <p:cNvSpPr txBox="1"/>
          <p:nvPr/>
        </p:nvSpPr>
        <p:spPr>
          <a:xfrm>
            <a:off x="822960" y="2468880"/>
            <a:ext cx="7498080" cy="2011680"/>
          </a:xfrm>
          <a:prstGeom prst="rect">
            <a:avLst/>
          </a:prstGeom>
          <a:noFill/>
          <a:ln/>
        </p:spPr>
        <p:txBody>
          <a:bodyPr wrap="square" lIns="0" tIns="0" rIns="0" bIns="0" rtlCol="0" anchor="t"/>
          <a:lstStyle/>
          <a:p>
            <a:pPr indent="0" marL="0">
              <a:spcAft>
                <a:spcPts val="600"/>
              </a:spcAft>
              <a:buNone/>
            </a:pPr>
            <a:r>
              <a:rPr lang="en-US" sz="1600" dirty="0">
                <a:solidFill>
                  <a:schemeClr val="tx1"/>
                </a:solidFill>
              </a:rPr>
              <a:t>'Blank' describes the noun 'wall'. 'Smooth' and 'pale' are also adjectives. 'Rose' is a verb, 'ahead' is an adverb and 'her' is a pronoun.</a:t>
            </a:r>
            <a:endParaRPr lang="en-US" sz="1600" dirty="0"/>
          </a:p>
        </p:txBody>
      </p:sp>
      <p:sp>
        <p:nvSpPr>
          <p:cNvPr id="25" name="Slide Number Placeholder 0"/>
          <p:cNvSpPr>
            <a:spLocks noGrp="1"/>
          </p:cNvSpPr>
          <p:nvPr>
            <p:ph type="sldNum" sz="quarter" idx="4294967295"/>
          </p:nvPr>
        </p:nvSpPr>
        <p:spPr>
          <a:xfrm>
            <a:off x="8229600" y="4736592"/>
            <a:ext cx="36576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6784"/>
                </a:solidFill>
              </a:defRPr>
            </a:lvl1pPr>
          </a:lstStyle>
          <a:p>
            <a:pPr algn="l"/>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8046720" cy="731520"/>
          </a:xfrm>
          <a:prstGeom prst="rect">
            <a:avLst/>
          </a:prstGeom>
          <a:noFill/>
          <a:ln/>
        </p:spPr>
        <p:txBody>
          <a:bodyPr wrap="square" lIns="0" tIns="0" rIns="0" bIns="0" rtlCol="0" anchor="ctr"/>
          <a:lstStyle/>
          <a:p>
            <a:pPr algn="l" indent="0" marL="0">
              <a:buNone/>
            </a:pPr>
            <a:r>
              <a:rPr lang="en-US" sz="3000" b="1" dirty="0">
                <a:solidFill>
                  <a:schemeClr val="tx1"/>
                </a:solidFill>
              </a:rPr>
              <a:t>Question 2 of 6</a:t>
            </a:r>
            <a:endParaRPr lang="en-US" sz="3000" dirty="0"/>
          </a:p>
        </p:txBody>
      </p:sp>
      <p:sp>
        <p:nvSpPr>
          <p:cNvPr id="4" name="Text 1"/>
          <p:cNvSpPr txBox="1"/>
          <p:nvPr/>
        </p:nvSpPr>
        <p:spPr>
          <a:xfrm>
            <a:off x="6583680" y="457200"/>
            <a:ext cx="2011680" cy="365760"/>
          </a:xfrm>
          <a:prstGeom prst="rect">
            <a:avLst/>
          </a:prstGeom>
          <a:noFill/>
          <a:ln/>
        </p:spPr>
        <p:txBody>
          <a:bodyPr wrap="square" lIns="0" tIns="0" rIns="0" bIns="0" rtlCol="0" anchor="t"/>
          <a:lstStyle/>
          <a:p>
            <a:pPr algn="r" indent="0" marL="0">
              <a:buNone/>
            </a:pPr>
            <a:r>
              <a:rPr lang="en-US" sz="1400" b="1" dirty="0">
                <a:solidFill>
                  <a:schemeClr val="tx1"/>
                </a:solidFill>
              </a:rPr>
              <a:t>(1 mark)</a:t>
            </a:r>
            <a:endParaRPr lang="en-US" sz="1400" dirty="0"/>
          </a:p>
        </p:txBody>
      </p:sp>
      <p:sp>
        <p:nvSpPr>
          <p:cNvPr id="5" name="card"/>
          <p:cNvSpPr/>
          <p:nvPr/>
        </p:nvSpPr>
        <p:spPr>
          <a:xfrm>
            <a:off x="548640" y="1097280"/>
            <a:ext cx="8046720" cy="1417320"/>
          </a:xfrm>
          <a:prstGeom prst="roundRect">
            <a:avLst>
              <a:gd name="adj" fmla="val 7742"/>
            </a:avLst>
          </a:prstGeom>
          <a:solidFill>
            <a:schemeClr val="bg2"/>
          </a:solidFill>
          <a:ln w="12700">
            <a:solidFill>
              <a:schemeClr val="bg2"/>
            </a:solidFill>
            <a:prstDash val="solid"/>
          </a:ln>
        </p:spPr>
      </p:sp>
      <p:sp>
        <p:nvSpPr>
          <p:cNvPr id="6" name="question number"/>
          <p:cNvSpPr/>
          <p:nvPr/>
        </p:nvSpPr>
        <p:spPr>
          <a:xfrm>
            <a:off x="731520" y="1554480"/>
            <a:ext cx="594360" cy="594360"/>
          </a:xfrm>
          <a:prstGeom prst="ellipse">
            <a:avLst/>
          </a:prstGeom>
          <a:solidFill>
            <a:schemeClr val="accent2"/>
          </a:solidFill>
          <a:ln w="12700">
            <a:solidFill>
              <a:schemeClr val="accent2"/>
            </a:solidFill>
            <a:prstDash val="solid"/>
          </a:ln>
        </p:spPr>
      </p:sp>
      <p:sp>
        <p:nvSpPr>
          <p:cNvPr id="7" name="Text 4"/>
          <p:cNvSpPr txBox="1"/>
          <p:nvPr/>
        </p:nvSpPr>
        <p:spPr>
          <a:xfrm>
            <a:off x="731520" y="1554480"/>
            <a:ext cx="594360" cy="594360"/>
          </a:xfrm>
          <a:prstGeom prst="rect">
            <a:avLst/>
          </a:prstGeom>
          <a:noFill/>
          <a:ln/>
        </p:spPr>
        <p:txBody>
          <a:bodyPr wrap="square" lIns="0" tIns="0" rIns="0" bIns="0" rtlCol="0" anchor="ctr"/>
          <a:lstStyle/>
          <a:p>
            <a:pPr algn="ctr" indent="0" marL="0">
              <a:buNone/>
            </a:pPr>
            <a:r>
              <a:rPr lang="en-US" sz="2000" b="1" dirty="0">
                <a:solidFill>
                  <a:schemeClr val="bg1"/>
                </a:solidFill>
              </a:rPr>
              <a:t>2</a:t>
            </a:r>
            <a:endParaRPr lang="en-US" sz="2000" dirty="0"/>
          </a:p>
        </p:txBody>
      </p:sp>
      <p:sp>
        <p:nvSpPr>
          <p:cNvPr id="8" name="Text 5"/>
          <p:cNvSpPr txBox="1"/>
          <p:nvPr/>
        </p:nvSpPr>
        <p:spPr>
          <a:xfrm>
            <a:off x="1508760" y="1097280"/>
            <a:ext cx="6903720" cy="1417320"/>
          </a:xfrm>
          <a:prstGeom prst="rect">
            <a:avLst/>
          </a:prstGeom>
          <a:noFill/>
          <a:ln/>
        </p:spPr>
        <p:txBody>
          <a:bodyPr wrap="square" lIns="0" tIns="0" rIns="0" bIns="0" rtlCol="0" anchor="ctr"/>
          <a:lstStyle/>
          <a:p>
            <a:pPr indent="0" marL="0">
              <a:buNone/>
            </a:pPr>
            <a:r>
              <a:rPr lang="en-US" sz="1800" b="1" dirty="0">
                <a:solidFill>
                  <a:schemeClr val="tx1"/>
                </a:solidFill>
              </a:rPr>
              <a:t>Page 15: 'She was standing in a field of grass that stretched away to the horizon.' Find and copy the prepositional phrase that tells us how far the grass stretched.</a:t>
            </a:r>
            <a:endParaRPr lang="en-US" sz="1800" dirty="0"/>
          </a:p>
        </p:txBody>
      </p:sp>
      <p:sp>
        <p:nvSpPr>
          <p:cNvPr id="9" name="card"/>
          <p:cNvSpPr/>
          <p:nvPr/>
        </p:nvSpPr>
        <p:spPr>
          <a:xfrm>
            <a:off x="548640" y="2697480"/>
            <a:ext cx="8046720" cy="1783080"/>
          </a:xfrm>
          <a:prstGeom prst="roundRect">
            <a:avLst>
              <a:gd name="adj" fmla="val 6154"/>
            </a:avLst>
          </a:prstGeom>
          <a:solidFill>
            <a:schemeClr val="bg2"/>
          </a:solidFill>
          <a:ln w="12700">
            <a:solidFill>
              <a:schemeClr val="bg2"/>
            </a:solidFill>
            <a:prstDash val="solid"/>
          </a:ln>
        </p:spPr>
      </p:sp>
      <p:sp>
        <p:nvSpPr>
          <p:cNvPr id="10" name="Text 7"/>
          <p:cNvSpPr txBox="1"/>
          <p:nvPr/>
        </p:nvSpPr>
        <p:spPr>
          <a:xfrm>
            <a:off x="777240" y="2743200"/>
            <a:ext cx="7589520" cy="365760"/>
          </a:xfrm>
          <a:prstGeom prst="rect">
            <a:avLst/>
          </a:prstGeom>
          <a:noFill/>
          <a:ln/>
        </p:spPr>
        <p:txBody>
          <a:bodyPr wrap="square" lIns="0" tIns="0" rIns="0" bIns="0" rtlCol="0" anchor="t"/>
          <a:lstStyle/>
          <a:p>
            <a:pPr indent="0" marL="0">
              <a:buNone/>
            </a:pPr>
            <a:r>
              <a:rPr lang="en-US" sz="1300" i="1" dirty="0">
                <a:solidFill>
                  <a:srgbClr val="4A4668"/>
                </a:solidFill>
              </a:rPr>
              <a:t>Write your answer in your book.</a:t>
            </a:r>
            <a:endParaRPr lang="en-US" sz="1300" dirty="0"/>
          </a:p>
        </p:txBody>
      </p:sp>
      <p:sp>
        <p:nvSpPr>
          <p:cNvPr id="11" name="answer line"/>
          <p:cNvSpPr/>
          <p:nvPr/>
        </p:nvSpPr>
        <p:spPr>
          <a:xfrm>
            <a:off x="822960" y="3429000"/>
            <a:ext cx="7498080" cy="0"/>
          </a:xfrm>
          <a:prstGeom prst="line">
            <a:avLst/>
          </a:prstGeom>
          <a:noFill/>
          <a:ln w="12700">
            <a:solidFill>
              <a:srgbClr val="BDB6D9"/>
            </a:solidFill>
            <a:prstDash val="solid"/>
          </a:ln>
        </p:spPr>
      </p:sp>
      <p:sp>
        <p:nvSpPr>
          <p:cNvPr id="12" name="answer line"/>
          <p:cNvSpPr/>
          <p:nvPr/>
        </p:nvSpPr>
        <p:spPr>
          <a:xfrm>
            <a:off x="822960" y="3840480"/>
            <a:ext cx="7498080" cy="0"/>
          </a:xfrm>
          <a:prstGeom prst="line">
            <a:avLst/>
          </a:prstGeom>
          <a:noFill/>
          <a:ln w="12700">
            <a:solidFill>
              <a:srgbClr val="BDB6D9"/>
            </a:solidFill>
            <a:prstDash val="solid"/>
          </a:ln>
        </p:spPr>
      </p:sp>
      <p:sp>
        <p:nvSpPr>
          <p:cNvPr id="13" name="answer line"/>
          <p:cNvSpPr/>
          <p:nvPr/>
        </p:nvSpPr>
        <p:spPr>
          <a:xfrm>
            <a:off x="822960" y="4251960"/>
            <a:ext cx="7498080" cy="0"/>
          </a:xfrm>
          <a:prstGeom prst="line">
            <a:avLst/>
          </a:prstGeom>
          <a:noFill/>
          <a:ln w="12700">
            <a:solidFill>
              <a:srgbClr val="BDB6D9"/>
            </a:solidFill>
            <a:prstDash val="solid"/>
          </a:ln>
        </p:spPr>
      </p:sp>
      <p:sp>
        <p:nvSpPr>
          <p:cNvPr id="25" name="Slide Number Placeholder 0"/>
          <p:cNvSpPr>
            <a:spLocks noGrp="1"/>
          </p:cNvSpPr>
          <p:nvPr>
            <p:ph type="sldNum" sz="quarter" idx="4294967295"/>
          </p:nvPr>
        </p:nvSpPr>
        <p:spPr>
          <a:xfrm>
            <a:off x="8229600" y="4736592"/>
            <a:ext cx="36576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6784"/>
                </a:solidFill>
              </a:defRPr>
            </a:lvl1pPr>
          </a:lstStyle>
          <a:p>
            <a:pPr algn="l"/>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8046720" cy="731520"/>
          </a:xfrm>
          <a:prstGeom prst="rect">
            <a:avLst/>
          </a:prstGeom>
          <a:noFill/>
          <a:ln/>
        </p:spPr>
        <p:txBody>
          <a:bodyPr wrap="square" lIns="0" tIns="0" rIns="0" bIns="0" rtlCol="0" anchor="ctr"/>
          <a:lstStyle/>
          <a:p>
            <a:pPr algn="l" indent="0" marL="0">
              <a:buNone/>
            </a:pPr>
            <a:r>
              <a:rPr lang="en-US" sz="3000" b="1" dirty="0">
                <a:solidFill>
                  <a:schemeClr val="tx1"/>
                </a:solidFill>
              </a:rPr>
              <a:t>Answer: question 2 of 6</a:t>
            </a:r>
            <a:endParaRPr lang="en-US" sz="3000" dirty="0"/>
          </a:p>
        </p:txBody>
      </p:sp>
      <p:sp>
        <p:nvSpPr>
          <p:cNvPr id="4" name="card"/>
          <p:cNvSpPr/>
          <p:nvPr/>
        </p:nvSpPr>
        <p:spPr>
          <a:xfrm>
            <a:off x="548640" y="1097280"/>
            <a:ext cx="8046720" cy="3474720"/>
          </a:xfrm>
          <a:prstGeom prst="roundRect">
            <a:avLst>
              <a:gd name="adj" fmla="val 3158"/>
            </a:avLst>
          </a:prstGeom>
          <a:solidFill>
            <a:schemeClr val="bg2"/>
          </a:solidFill>
          <a:ln w="12700">
            <a:solidFill>
              <a:schemeClr val="bg2"/>
            </a:solidFill>
            <a:prstDash val="solid"/>
          </a:ln>
        </p:spPr>
      </p:sp>
      <p:sp>
        <p:nvSpPr>
          <p:cNvPr id="5" name="Text 2"/>
          <p:cNvSpPr txBox="1"/>
          <p:nvPr/>
        </p:nvSpPr>
        <p:spPr>
          <a:xfrm>
            <a:off x="822960" y="1280160"/>
            <a:ext cx="7498080" cy="1097280"/>
          </a:xfrm>
          <a:prstGeom prst="rect">
            <a:avLst/>
          </a:prstGeom>
          <a:noFill/>
          <a:ln/>
        </p:spPr>
        <p:txBody>
          <a:bodyPr wrap="square" lIns="0" tIns="0" rIns="0" bIns="0" rtlCol="0" anchor="ctr"/>
          <a:lstStyle/>
          <a:p>
            <a:pPr indent="0" marL="0">
              <a:buNone/>
            </a:pPr>
            <a:r>
              <a:rPr lang="en-US" sz="2200" b="1" dirty="0">
                <a:solidFill>
                  <a:schemeClr val="tx1"/>
                </a:solidFill>
                <a:highlight>
                  <a:srgbClr val="FFD27F"/>
                </a:highlight>
              </a:rPr>
              <a:t>to the horizon</a:t>
            </a:r>
            <a:pPr indent="0" marL="0">
              <a:buNone/>
            </a:pPr>
            <a:r>
              <a:rPr lang="en-US" sz="2200" dirty="0">
                <a:solidFill>
                  <a:schemeClr val="tx1"/>
                </a:solidFill>
              </a:rPr>
              <a:t>  (1 mark)</a:t>
            </a:r>
            <a:endParaRPr lang="en-US" sz="1600" dirty="0"/>
          </a:p>
        </p:txBody>
      </p:sp>
      <p:sp>
        <p:nvSpPr>
          <p:cNvPr id="6" name="Text 3"/>
          <p:cNvSpPr txBox="1"/>
          <p:nvPr/>
        </p:nvSpPr>
        <p:spPr>
          <a:xfrm>
            <a:off x="822960" y="2468880"/>
            <a:ext cx="7498080" cy="2011680"/>
          </a:xfrm>
          <a:prstGeom prst="rect">
            <a:avLst/>
          </a:prstGeom>
          <a:noFill/>
          <a:ln/>
        </p:spPr>
        <p:txBody>
          <a:bodyPr wrap="square" lIns="0" tIns="0" rIns="0" bIns="0" rtlCol="0" anchor="t"/>
          <a:lstStyle/>
          <a:p>
            <a:pPr indent="0" marL="0">
              <a:spcAft>
                <a:spcPts val="600"/>
              </a:spcAft>
              <a:buNone/>
            </a:pPr>
            <a:r>
              <a:rPr lang="en-US" sz="1600" dirty="0">
                <a:solidFill>
                  <a:schemeClr val="tx1"/>
                </a:solidFill>
              </a:rPr>
              <a:t>'To' is the preposition and 'the horizon' is the noun phrase. Together they tell us where the grass ends: very far away.</a:t>
            </a:r>
            <a:endParaRPr lang="en-US" sz="1600" dirty="0"/>
          </a:p>
        </p:txBody>
      </p:sp>
      <p:sp>
        <p:nvSpPr>
          <p:cNvPr id="25" name="Slide Number Placeholder 0"/>
          <p:cNvSpPr>
            <a:spLocks noGrp="1"/>
          </p:cNvSpPr>
          <p:nvPr>
            <p:ph type="sldNum" sz="quarter" idx="4294967295"/>
          </p:nvPr>
        </p:nvSpPr>
        <p:spPr>
          <a:xfrm>
            <a:off x="8229600" y="4736592"/>
            <a:ext cx="36576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6784"/>
                </a:solidFill>
              </a:defRPr>
            </a:lvl1pPr>
          </a:lstStyle>
          <a:p>
            <a:pPr algn="l"/>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8046720" cy="731520"/>
          </a:xfrm>
          <a:prstGeom prst="rect">
            <a:avLst/>
          </a:prstGeom>
          <a:noFill/>
          <a:ln/>
        </p:spPr>
        <p:txBody>
          <a:bodyPr wrap="square" lIns="0" tIns="0" rIns="0" bIns="0" rtlCol="0" anchor="ctr"/>
          <a:lstStyle/>
          <a:p>
            <a:pPr algn="l" indent="0" marL="0">
              <a:buNone/>
            </a:pPr>
            <a:r>
              <a:rPr lang="en-US" sz="3000" b="1" dirty="0">
                <a:solidFill>
                  <a:schemeClr val="tx1"/>
                </a:solidFill>
              </a:rPr>
              <a:t>Question 3 of 6</a:t>
            </a:r>
            <a:endParaRPr lang="en-US" sz="3000" dirty="0"/>
          </a:p>
        </p:txBody>
      </p:sp>
      <p:sp>
        <p:nvSpPr>
          <p:cNvPr id="4" name="Text 1"/>
          <p:cNvSpPr txBox="1"/>
          <p:nvPr/>
        </p:nvSpPr>
        <p:spPr>
          <a:xfrm>
            <a:off x="6583680" y="457200"/>
            <a:ext cx="2011680" cy="365760"/>
          </a:xfrm>
          <a:prstGeom prst="rect">
            <a:avLst/>
          </a:prstGeom>
          <a:noFill/>
          <a:ln/>
        </p:spPr>
        <p:txBody>
          <a:bodyPr wrap="square" lIns="0" tIns="0" rIns="0" bIns="0" rtlCol="0" anchor="t"/>
          <a:lstStyle/>
          <a:p>
            <a:pPr algn="r" indent="0" marL="0">
              <a:buNone/>
            </a:pPr>
            <a:r>
              <a:rPr lang="en-US" sz="1400" b="1" dirty="0">
                <a:solidFill>
                  <a:schemeClr val="tx1"/>
                </a:solidFill>
              </a:rPr>
              <a:t>(2 marks)</a:t>
            </a:r>
            <a:endParaRPr lang="en-US" sz="1400" dirty="0"/>
          </a:p>
        </p:txBody>
      </p:sp>
      <p:sp>
        <p:nvSpPr>
          <p:cNvPr id="5" name="card"/>
          <p:cNvSpPr/>
          <p:nvPr/>
        </p:nvSpPr>
        <p:spPr>
          <a:xfrm>
            <a:off x="548640" y="1097280"/>
            <a:ext cx="8046720" cy="1417320"/>
          </a:xfrm>
          <a:prstGeom prst="roundRect">
            <a:avLst>
              <a:gd name="adj" fmla="val 7742"/>
            </a:avLst>
          </a:prstGeom>
          <a:solidFill>
            <a:schemeClr val="bg2"/>
          </a:solidFill>
          <a:ln w="12700">
            <a:solidFill>
              <a:schemeClr val="bg2"/>
            </a:solidFill>
            <a:prstDash val="solid"/>
          </a:ln>
        </p:spPr>
      </p:sp>
      <p:sp>
        <p:nvSpPr>
          <p:cNvPr id="6" name="question number"/>
          <p:cNvSpPr/>
          <p:nvPr/>
        </p:nvSpPr>
        <p:spPr>
          <a:xfrm>
            <a:off x="731520" y="1554480"/>
            <a:ext cx="594360" cy="594360"/>
          </a:xfrm>
          <a:prstGeom prst="ellipse">
            <a:avLst/>
          </a:prstGeom>
          <a:solidFill>
            <a:schemeClr val="accent3"/>
          </a:solidFill>
          <a:ln w="12700">
            <a:solidFill>
              <a:schemeClr val="accent3"/>
            </a:solidFill>
            <a:prstDash val="solid"/>
          </a:ln>
        </p:spPr>
      </p:sp>
      <p:sp>
        <p:nvSpPr>
          <p:cNvPr id="7" name="Text 4"/>
          <p:cNvSpPr txBox="1"/>
          <p:nvPr/>
        </p:nvSpPr>
        <p:spPr>
          <a:xfrm>
            <a:off x="731520" y="1554480"/>
            <a:ext cx="594360" cy="594360"/>
          </a:xfrm>
          <a:prstGeom prst="rect">
            <a:avLst/>
          </a:prstGeom>
          <a:noFill/>
          <a:ln/>
        </p:spPr>
        <p:txBody>
          <a:bodyPr wrap="square" lIns="0" tIns="0" rIns="0" bIns="0" rtlCol="0" anchor="ctr"/>
          <a:lstStyle/>
          <a:p>
            <a:pPr algn="ctr" indent="0" marL="0">
              <a:buNone/>
            </a:pPr>
            <a:r>
              <a:rPr lang="en-US" sz="2000" b="1" dirty="0">
                <a:solidFill>
                  <a:schemeClr val="bg1"/>
                </a:solidFill>
              </a:rPr>
              <a:t>3</a:t>
            </a:r>
            <a:endParaRPr lang="en-US" sz="2000" dirty="0"/>
          </a:p>
        </p:txBody>
      </p:sp>
      <p:sp>
        <p:nvSpPr>
          <p:cNvPr id="8" name="Text 5"/>
          <p:cNvSpPr txBox="1"/>
          <p:nvPr/>
        </p:nvSpPr>
        <p:spPr>
          <a:xfrm>
            <a:off x="1508760" y="1097280"/>
            <a:ext cx="6903720" cy="1417320"/>
          </a:xfrm>
          <a:prstGeom prst="rect">
            <a:avLst/>
          </a:prstGeom>
          <a:noFill/>
          <a:ln/>
        </p:spPr>
        <p:txBody>
          <a:bodyPr wrap="square" lIns="0" tIns="0" rIns="0" bIns="0" rtlCol="0" anchor="ctr"/>
          <a:lstStyle/>
          <a:p>
            <a:pPr indent="0" marL="0">
              <a:buNone/>
            </a:pPr>
            <a:r>
              <a:rPr lang="en-US" sz="1800" b="1" dirty="0">
                <a:solidFill>
                  <a:schemeClr val="tx1"/>
                </a:solidFill>
              </a:rPr>
              <a:t>Page 23: 'Baba ran over to it and lay down on her stomach, paddling her fingers in the lovely water.' Find and copy two prepositional phrases.</a:t>
            </a:r>
            <a:endParaRPr lang="en-US" sz="1800" dirty="0"/>
          </a:p>
        </p:txBody>
      </p:sp>
      <p:sp>
        <p:nvSpPr>
          <p:cNvPr id="9" name="card"/>
          <p:cNvSpPr/>
          <p:nvPr/>
        </p:nvSpPr>
        <p:spPr>
          <a:xfrm>
            <a:off x="548640" y="2697480"/>
            <a:ext cx="8046720" cy="1783080"/>
          </a:xfrm>
          <a:prstGeom prst="roundRect">
            <a:avLst>
              <a:gd name="adj" fmla="val 6154"/>
            </a:avLst>
          </a:prstGeom>
          <a:solidFill>
            <a:schemeClr val="bg2"/>
          </a:solidFill>
          <a:ln w="12700">
            <a:solidFill>
              <a:schemeClr val="bg2"/>
            </a:solidFill>
            <a:prstDash val="solid"/>
          </a:ln>
        </p:spPr>
      </p:sp>
      <p:sp>
        <p:nvSpPr>
          <p:cNvPr id="10" name="Text 7"/>
          <p:cNvSpPr txBox="1"/>
          <p:nvPr/>
        </p:nvSpPr>
        <p:spPr>
          <a:xfrm>
            <a:off x="777240" y="2743200"/>
            <a:ext cx="7589520" cy="365760"/>
          </a:xfrm>
          <a:prstGeom prst="rect">
            <a:avLst/>
          </a:prstGeom>
          <a:noFill/>
          <a:ln/>
        </p:spPr>
        <p:txBody>
          <a:bodyPr wrap="square" lIns="0" tIns="0" rIns="0" bIns="0" rtlCol="0" anchor="t"/>
          <a:lstStyle/>
          <a:p>
            <a:pPr indent="0" marL="0">
              <a:buNone/>
            </a:pPr>
            <a:r>
              <a:rPr lang="en-US" sz="1300" i="1" dirty="0">
                <a:solidFill>
                  <a:srgbClr val="4A4668"/>
                </a:solidFill>
              </a:rPr>
              <a:t>Write your answer in your book.</a:t>
            </a:r>
            <a:endParaRPr lang="en-US" sz="1300" dirty="0"/>
          </a:p>
        </p:txBody>
      </p:sp>
      <p:sp>
        <p:nvSpPr>
          <p:cNvPr id="11" name="answer line"/>
          <p:cNvSpPr/>
          <p:nvPr/>
        </p:nvSpPr>
        <p:spPr>
          <a:xfrm>
            <a:off x="822960" y="3429000"/>
            <a:ext cx="7498080" cy="0"/>
          </a:xfrm>
          <a:prstGeom prst="line">
            <a:avLst/>
          </a:prstGeom>
          <a:noFill/>
          <a:ln w="12700">
            <a:solidFill>
              <a:srgbClr val="BDB6D9"/>
            </a:solidFill>
            <a:prstDash val="solid"/>
          </a:ln>
        </p:spPr>
      </p:sp>
      <p:sp>
        <p:nvSpPr>
          <p:cNvPr id="12" name="answer line"/>
          <p:cNvSpPr/>
          <p:nvPr/>
        </p:nvSpPr>
        <p:spPr>
          <a:xfrm>
            <a:off x="822960" y="3840480"/>
            <a:ext cx="7498080" cy="0"/>
          </a:xfrm>
          <a:prstGeom prst="line">
            <a:avLst/>
          </a:prstGeom>
          <a:noFill/>
          <a:ln w="12700">
            <a:solidFill>
              <a:srgbClr val="BDB6D9"/>
            </a:solidFill>
            <a:prstDash val="solid"/>
          </a:ln>
        </p:spPr>
      </p:sp>
      <p:sp>
        <p:nvSpPr>
          <p:cNvPr id="13" name="answer line"/>
          <p:cNvSpPr/>
          <p:nvPr/>
        </p:nvSpPr>
        <p:spPr>
          <a:xfrm>
            <a:off x="822960" y="4251960"/>
            <a:ext cx="7498080" cy="0"/>
          </a:xfrm>
          <a:prstGeom prst="line">
            <a:avLst/>
          </a:prstGeom>
          <a:noFill/>
          <a:ln w="12700">
            <a:solidFill>
              <a:srgbClr val="BDB6D9"/>
            </a:solidFill>
            <a:prstDash val="solid"/>
          </a:ln>
        </p:spPr>
      </p:sp>
      <p:sp>
        <p:nvSpPr>
          <p:cNvPr id="25" name="Slide Number Placeholder 0"/>
          <p:cNvSpPr>
            <a:spLocks noGrp="1"/>
          </p:cNvSpPr>
          <p:nvPr>
            <p:ph type="sldNum" sz="quarter" idx="4294967295"/>
          </p:nvPr>
        </p:nvSpPr>
        <p:spPr>
          <a:xfrm>
            <a:off x="8229600" y="4736592"/>
            <a:ext cx="36576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6784"/>
                </a:solidFill>
              </a:defRPr>
            </a:lvl1pPr>
          </a:lstStyle>
          <a:p>
            <a:pPr algn="l"/>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8046720" cy="731520"/>
          </a:xfrm>
          <a:prstGeom prst="rect">
            <a:avLst/>
          </a:prstGeom>
          <a:noFill/>
          <a:ln/>
        </p:spPr>
        <p:txBody>
          <a:bodyPr wrap="square" lIns="0" tIns="0" rIns="0" bIns="0" rtlCol="0" anchor="ctr"/>
          <a:lstStyle/>
          <a:p>
            <a:pPr algn="l" indent="0" marL="0">
              <a:buNone/>
            </a:pPr>
            <a:r>
              <a:rPr lang="en-US" sz="3000" b="1" dirty="0">
                <a:solidFill>
                  <a:schemeClr val="tx1"/>
                </a:solidFill>
              </a:rPr>
              <a:t>Answer: question 3 of 6</a:t>
            </a:r>
            <a:endParaRPr lang="en-US" sz="3000" dirty="0"/>
          </a:p>
        </p:txBody>
      </p:sp>
      <p:sp>
        <p:nvSpPr>
          <p:cNvPr id="4" name="card"/>
          <p:cNvSpPr/>
          <p:nvPr/>
        </p:nvSpPr>
        <p:spPr>
          <a:xfrm>
            <a:off x="548640" y="1097280"/>
            <a:ext cx="8046720" cy="3474720"/>
          </a:xfrm>
          <a:prstGeom prst="roundRect">
            <a:avLst>
              <a:gd name="adj" fmla="val 3158"/>
            </a:avLst>
          </a:prstGeom>
          <a:solidFill>
            <a:schemeClr val="bg2"/>
          </a:solidFill>
          <a:ln w="12700">
            <a:solidFill>
              <a:schemeClr val="bg2"/>
            </a:solidFill>
            <a:prstDash val="solid"/>
          </a:ln>
        </p:spPr>
      </p:sp>
      <p:sp>
        <p:nvSpPr>
          <p:cNvPr id="5" name="Text 2"/>
          <p:cNvSpPr txBox="1"/>
          <p:nvPr/>
        </p:nvSpPr>
        <p:spPr>
          <a:xfrm>
            <a:off x="822960" y="1280160"/>
            <a:ext cx="7498080" cy="1097280"/>
          </a:xfrm>
          <a:prstGeom prst="rect">
            <a:avLst/>
          </a:prstGeom>
          <a:noFill/>
          <a:ln/>
        </p:spPr>
        <p:txBody>
          <a:bodyPr wrap="square" lIns="0" tIns="0" rIns="0" bIns="0" rtlCol="0" anchor="ctr"/>
          <a:lstStyle/>
          <a:p>
            <a:pPr indent="0" marL="0">
              <a:buNone/>
            </a:pPr>
            <a:r>
              <a:rPr lang="en-US" sz="2200" b="1" dirty="0">
                <a:solidFill>
                  <a:schemeClr val="tx1"/>
                </a:solidFill>
                <a:highlight>
                  <a:srgbClr val="FFD27F"/>
                </a:highlight>
              </a:rPr>
              <a:t>Any two of: over to it, on her stomach, in the lovely water</a:t>
            </a:r>
            <a:pPr indent="0" marL="0">
              <a:buNone/>
            </a:pPr>
            <a:r>
              <a:rPr lang="en-US" sz="2200" dirty="0">
                <a:solidFill>
                  <a:schemeClr val="tx1"/>
                </a:solidFill>
              </a:rPr>
              <a:t>  (2 marks)</a:t>
            </a:r>
            <a:endParaRPr lang="en-US" sz="1600" dirty="0"/>
          </a:p>
        </p:txBody>
      </p:sp>
      <p:sp>
        <p:nvSpPr>
          <p:cNvPr id="6" name="Text 3"/>
          <p:cNvSpPr txBox="1"/>
          <p:nvPr/>
        </p:nvSpPr>
        <p:spPr>
          <a:xfrm>
            <a:off x="822960" y="2468880"/>
            <a:ext cx="7498080" cy="2011680"/>
          </a:xfrm>
          <a:prstGeom prst="rect">
            <a:avLst/>
          </a:prstGeom>
          <a:noFill/>
          <a:ln/>
        </p:spPr>
        <p:txBody>
          <a:bodyPr wrap="square" lIns="0" tIns="0" rIns="0" bIns="0" rtlCol="0" anchor="t"/>
          <a:lstStyle/>
          <a:p>
            <a:pPr indent="0" marL="0">
              <a:spcAft>
                <a:spcPts val="600"/>
              </a:spcAft>
              <a:buNone/>
            </a:pPr>
            <a:r>
              <a:rPr lang="en-US" sz="1600" dirty="0">
                <a:solidFill>
                  <a:schemeClr val="tx1"/>
                </a:solidFill>
              </a:rPr>
              <a:t>Each begins with a preposition and ends with a noun phrase: 'over to it', 'on her stomach' and 'in the lovely water'. 1 mark for each correct phrase.</a:t>
            </a:r>
            <a:endParaRPr lang="en-US" sz="1600" dirty="0"/>
          </a:p>
        </p:txBody>
      </p:sp>
      <p:sp>
        <p:nvSpPr>
          <p:cNvPr id="25" name="Slide Number Placeholder 0"/>
          <p:cNvSpPr>
            <a:spLocks noGrp="1"/>
          </p:cNvSpPr>
          <p:nvPr>
            <p:ph type="sldNum" sz="quarter" idx="4294967295"/>
          </p:nvPr>
        </p:nvSpPr>
        <p:spPr>
          <a:xfrm>
            <a:off x="8229600" y="4736592"/>
            <a:ext cx="36576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6784"/>
                </a:solidFill>
              </a:defRPr>
            </a:lvl1pPr>
          </a:lstStyle>
          <a:p>
            <a:pPr algn="l"/>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8046720" cy="731520"/>
          </a:xfrm>
          <a:prstGeom prst="rect">
            <a:avLst/>
          </a:prstGeom>
          <a:noFill/>
          <a:ln/>
        </p:spPr>
        <p:txBody>
          <a:bodyPr wrap="square" lIns="0" tIns="0" rIns="0" bIns="0" rtlCol="0" anchor="ctr"/>
          <a:lstStyle/>
          <a:p>
            <a:pPr algn="l" indent="0" marL="0">
              <a:buNone/>
            </a:pPr>
            <a:r>
              <a:rPr lang="en-US" sz="3000" b="1" dirty="0">
                <a:solidFill>
                  <a:schemeClr val="tx1"/>
                </a:solidFill>
              </a:rPr>
              <a:t>Question 4 of 6</a:t>
            </a:r>
            <a:endParaRPr lang="en-US" sz="3000" dirty="0"/>
          </a:p>
        </p:txBody>
      </p:sp>
      <p:sp>
        <p:nvSpPr>
          <p:cNvPr id="4" name="Text 1"/>
          <p:cNvSpPr txBox="1"/>
          <p:nvPr/>
        </p:nvSpPr>
        <p:spPr>
          <a:xfrm>
            <a:off x="6583680" y="457200"/>
            <a:ext cx="2011680" cy="365760"/>
          </a:xfrm>
          <a:prstGeom prst="rect">
            <a:avLst/>
          </a:prstGeom>
          <a:noFill/>
          <a:ln/>
        </p:spPr>
        <p:txBody>
          <a:bodyPr wrap="square" lIns="0" tIns="0" rIns="0" bIns="0" rtlCol="0" anchor="t"/>
          <a:lstStyle/>
          <a:p>
            <a:pPr algn="r" indent="0" marL="0">
              <a:buNone/>
            </a:pPr>
            <a:r>
              <a:rPr lang="en-US" sz="1400" b="1" dirty="0">
                <a:solidFill>
                  <a:schemeClr val="tx1"/>
                </a:solidFill>
              </a:rPr>
              <a:t>(1 mark)</a:t>
            </a:r>
            <a:endParaRPr lang="en-US" sz="1400" dirty="0"/>
          </a:p>
        </p:txBody>
      </p:sp>
      <p:sp>
        <p:nvSpPr>
          <p:cNvPr id="5" name="card"/>
          <p:cNvSpPr/>
          <p:nvPr/>
        </p:nvSpPr>
        <p:spPr>
          <a:xfrm>
            <a:off x="548640" y="1097280"/>
            <a:ext cx="8046720" cy="1417320"/>
          </a:xfrm>
          <a:prstGeom prst="roundRect">
            <a:avLst>
              <a:gd name="adj" fmla="val 7742"/>
            </a:avLst>
          </a:prstGeom>
          <a:solidFill>
            <a:schemeClr val="bg2"/>
          </a:solidFill>
          <a:ln w="12700">
            <a:solidFill>
              <a:schemeClr val="bg2"/>
            </a:solidFill>
            <a:prstDash val="solid"/>
          </a:ln>
        </p:spPr>
      </p:sp>
      <p:sp>
        <p:nvSpPr>
          <p:cNvPr id="6" name="question number"/>
          <p:cNvSpPr/>
          <p:nvPr/>
        </p:nvSpPr>
        <p:spPr>
          <a:xfrm>
            <a:off x="731520" y="1554480"/>
            <a:ext cx="594360" cy="594360"/>
          </a:xfrm>
          <a:prstGeom prst="ellipse">
            <a:avLst/>
          </a:prstGeom>
          <a:solidFill>
            <a:schemeClr val="accent5"/>
          </a:solidFill>
          <a:ln w="12700">
            <a:solidFill>
              <a:schemeClr val="accent5"/>
            </a:solidFill>
            <a:prstDash val="solid"/>
          </a:ln>
        </p:spPr>
      </p:sp>
      <p:sp>
        <p:nvSpPr>
          <p:cNvPr id="7" name="Text 4"/>
          <p:cNvSpPr txBox="1"/>
          <p:nvPr/>
        </p:nvSpPr>
        <p:spPr>
          <a:xfrm>
            <a:off x="731520" y="1554480"/>
            <a:ext cx="594360" cy="594360"/>
          </a:xfrm>
          <a:prstGeom prst="rect">
            <a:avLst/>
          </a:prstGeom>
          <a:noFill/>
          <a:ln/>
        </p:spPr>
        <p:txBody>
          <a:bodyPr wrap="square" lIns="0" tIns="0" rIns="0" bIns="0" rtlCol="0" anchor="ctr"/>
          <a:lstStyle/>
          <a:p>
            <a:pPr algn="ctr" indent="0" marL="0">
              <a:buNone/>
            </a:pPr>
            <a:r>
              <a:rPr lang="en-US" sz="2000" b="1" dirty="0">
                <a:solidFill>
                  <a:schemeClr val="bg1"/>
                </a:solidFill>
              </a:rPr>
              <a:t>4</a:t>
            </a:r>
            <a:endParaRPr lang="en-US" sz="2000" dirty="0"/>
          </a:p>
        </p:txBody>
      </p:sp>
      <p:sp>
        <p:nvSpPr>
          <p:cNvPr id="8" name="Text 5"/>
          <p:cNvSpPr txBox="1"/>
          <p:nvPr/>
        </p:nvSpPr>
        <p:spPr>
          <a:xfrm>
            <a:off x="1508760" y="1097280"/>
            <a:ext cx="6903720" cy="1417320"/>
          </a:xfrm>
          <a:prstGeom prst="rect">
            <a:avLst/>
          </a:prstGeom>
          <a:noFill/>
          <a:ln/>
        </p:spPr>
        <p:txBody>
          <a:bodyPr wrap="square" lIns="0" tIns="0" rIns="0" bIns="0" rtlCol="0" anchor="ctr"/>
          <a:lstStyle/>
          <a:p>
            <a:pPr indent="0" marL="0">
              <a:buNone/>
            </a:pPr>
            <a:r>
              <a:rPr lang="en-US" sz="1800" b="1" dirty="0">
                <a:solidFill>
                  <a:schemeClr val="tx1"/>
                </a:solidFill>
              </a:rPr>
              <a:t>Page 27: 'It was graced by a tinkling fountain with a stone base carved in the shape of a tree.' Find and copy the words after 'fountain' that give extra detail about it.</a:t>
            </a:r>
            <a:endParaRPr lang="en-US" sz="1800" dirty="0"/>
          </a:p>
        </p:txBody>
      </p:sp>
      <p:sp>
        <p:nvSpPr>
          <p:cNvPr id="9" name="card"/>
          <p:cNvSpPr/>
          <p:nvPr/>
        </p:nvSpPr>
        <p:spPr>
          <a:xfrm>
            <a:off x="548640" y="2697480"/>
            <a:ext cx="8046720" cy="1783080"/>
          </a:xfrm>
          <a:prstGeom prst="roundRect">
            <a:avLst>
              <a:gd name="adj" fmla="val 6154"/>
            </a:avLst>
          </a:prstGeom>
          <a:solidFill>
            <a:schemeClr val="bg2"/>
          </a:solidFill>
          <a:ln w="12700">
            <a:solidFill>
              <a:schemeClr val="bg2"/>
            </a:solidFill>
            <a:prstDash val="solid"/>
          </a:ln>
        </p:spPr>
      </p:sp>
      <p:sp>
        <p:nvSpPr>
          <p:cNvPr id="10" name="Text 7"/>
          <p:cNvSpPr txBox="1"/>
          <p:nvPr/>
        </p:nvSpPr>
        <p:spPr>
          <a:xfrm>
            <a:off x="777240" y="2743200"/>
            <a:ext cx="7589520" cy="365760"/>
          </a:xfrm>
          <a:prstGeom prst="rect">
            <a:avLst/>
          </a:prstGeom>
          <a:noFill/>
          <a:ln/>
        </p:spPr>
        <p:txBody>
          <a:bodyPr wrap="square" lIns="0" tIns="0" rIns="0" bIns="0" rtlCol="0" anchor="t"/>
          <a:lstStyle/>
          <a:p>
            <a:pPr indent="0" marL="0">
              <a:buNone/>
            </a:pPr>
            <a:r>
              <a:rPr lang="en-US" sz="1300" i="1" dirty="0">
                <a:solidFill>
                  <a:srgbClr val="4A4668"/>
                </a:solidFill>
              </a:rPr>
              <a:t>Write your answer in your book.</a:t>
            </a:r>
            <a:endParaRPr lang="en-US" sz="1300" dirty="0"/>
          </a:p>
        </p:txBody>
      </p:sp>
      <p:sp>
        <p:nvSpPr>
          <p:cNvPr id="11" name="answer line"/>
          <p:cNvSpPr/>
          <p:nvPr/>
        </p:nvSpPr>
        <p:spPr>
          <a:xfrm>
            <a:off x="822960" y="3429000"/>
            <a:ext cx="7498080" cy="0"/>
          </a:xfrm>
          <a:prstGeom prst="line">
            <a:avLst/>
          </a:prstGeom>
          <a:noFill/>
          <a:ln w="12700">
            <a:solidFill>
              <a:srgbClr val="BDB6D9"/>
            </a:solidFill>
            <a:prstDash val="solid"/>
          </a:ln>
        </p:spPr>
      </p:sp>
      <p:sp>
        <p:nvSpPr>
          <p:cNvPr id="12" name="answer line"/>
          <p:cNvSpPr/>
          <p:nvPr/>
        </p:nvSpPr>
        <p:spPr>
          <a:xfrm>
            <a:off x="822960" y="3840480"/>
            <a:ext cx="7498080" cy="0"/>
          </a:xfrm>
          <a:prstGeom prst="line">
            <a:avLst/>
          </a:prstGeom>
          <a:noFill/>
          <a:ln w="12700">
            <a:solidFill>
              <a:srgbClr val="BDB6D9"/>
            </a:solidFill>
            <a:prstDash val="solid"/>
          </a:ln>
        </p:spPr>
      </p:sp>
      <p:sp>
        <p:nvSpPr>
          <p:cNvPr id="13" name="answer line"/>
          <p:cNvSpPr/>
          <p:nvPr/>
        </p:nvSpPr>
        <p:spPr>
          <a:xfrm>
            <a:off x="822960" y="4251960"/>
            <a:ext cx="7498080" cy="0"/>
          </a:xfrm>
          <a:prstGeom prst="line">
            <a:avLst/>
          </a:prstGeom>
          <a:noFill/>
          <a:ln w="12700">
            <a:solidFill>
              <a:srgbClr val="BDB6D9"/>
            </a:solidFill>
            <a:prstDash val="solid"/>
          </a:ln>
        </p:spPr>
      </p:sp>
      <p:sp>
        <p:nvSpPr>
          <p:cNvPr id="25" name="Slide Number Placeholder 0"/>
          <p:cNvSpPr>
            <a:spLocks noGrp="1"/>
          </p:cNvSpPr>
          <p:nvPr>
            <p:ph type="sldNum" sz="quarter" idx="4294967295"/>
          </p:nvPr>
        </p:nvSpPr>
        <p:spPr>
          <a:xfrm>
            <a:off x="8229600" y="4736592"/>
            <a:ext cx="36576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6784"/>
                </a:solidFill>
              </a:defRPr>
            </a:lvl1pPr>
          </a:lstStyle>
          <a:p>
            <a:pPr algn="l"/>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8046720" cy="731520"/>
          </a:xfrm>
          <a:prstGeom prst="rect">
            <a:avLst/>
          </a:prstGeom>
          <a:noFill/>
          <a:ln/>
        </p:spPr>
        <p:txBody>
          <a:bodyPr wrap="square" lIns="0" tIns="0" rIns="0" bIns="0" rtlCol="0" anchor="ctr"/>
          <a:lstStyle/>
          <a:p>
            <a:pPr algn="l" indent="0" marL="0">
              <a:buNone/>
            </a:pPr>
            <a:r>
              <a:rPr lang="en-US" sz="3000" b="1" dirty="0">
                <a:solidFill>
                  <a:schemeClr val="tx1"/>
                </a:solidFill>
              </a:rPr>
              <a:t>Answer: question 4 of 6</a:t>
            </a:r>
            <a:endParaRPr lang="en-US" sz="3000" dirty="0"/>
          </a:p>
        </p:txBody>
      </p:sp>
      <p:sp>
        <p:nvSpPr>
          <p:cNvPr id="4" name="card"/>
          <p:cNvSpPr/>
          <p:nvPr/>
        </p:nvSpPr>
        <p:spPr>
          <a:xfrm>
            <a:off x="548640" y="1097280"/>
            <a:ext cx="8046720" cy="3474720"/>
          </a:xfrm>
          <a:prstGeom prst="roundRect">
            <a:avLst>
              <a:gd name="adj" fmla="val 3158"/>
            </a:avLst>
          </a:prstGeom>
          <a:solidFill>
            <a:schemeClr val="bg2"/>
          </a:solidFill>
          <a:ln w="12700">
            <a:solidFill>
              <a:schemeClr val="bg2"/>
            </a:solidFill>
            <a:prstDash val="solid"/>
          </a:ln>
        </p:spPr>
      </p:sp>
      <p:sp>
        <p:nvSpPr>
          <p:cNvPr id="5" name="Text 2"/>
          <p:cNvSpPr txBox="1"/>
          <p:nvPr/>
        </p:nvSpPr>
        <p:spPr>
          <a:xfrm>
            <a:off x="822960" y="1280160"/>
            <a:ext cx="7498080" cy="1097280"/>
          </a:xfrm>
          <a:prstGeom prst="rect">
            <a:avLst/>
          </a:prstGeom>
          <a:noFill/>
          <a:ln/>
        </p:spPr>
        <p:txBody>
          <a:bodyPr wrap="square" lIns="0" tIns="0" rIns="0" bIns="0" rtlCol="0" anchor="ctr"/>
          <a:lstStyle/>
          <a:p>
            <a:pPr indent="0" marL="0">
              <a:buNone/>
            </a:pPr>
            <a:r>
              <a:rPr lang="en-US" sz="2200" b="1" dirty="0">
                <a:solidFill>
                  <a:schemeClr val="tx1"/>
                </a:solidFill>
                <a:highlight>
                  <a:srgbClr val="FFD27F"/>
                </a:highlight>
              </a:rPr>
              <a:t>with a stone base carved in the shape of a tree</a:t>
            </a:r>
            <a:pPr indent="0" marL="0">
              <a:buNone/>
            </a:pPr>
            <a:r>
              <a:rPr lang="en-US" sz="2200" dirty="0">
                <a:solidFill>
                  <a:schemeClr val="tx1"/>
                </a:solidFill>
              </a:rPr>
              <a:t>  (1 mark)</a:t>
            </a:r>
            <a:endParaRPr lang="en-US" sz="1600" dirty="0"/>
          </a:p>
        </p:txBody>
      </p:sp>
      <p:sp>
        <p:nvSpPr>
          <p:cNvPr id="6" name="Text 3"/>
          <p:cNvSpPr txBox="1"/>
          <p:nvPr/>
        </p:nvSpPr>
        <p:spPr>
          <a:xfrm>
            <a:off x="822960" y="2468880"/>
            <a:ext cx="7498080" cy="2011680"/>
          </a:xfrm>
          <a:prstGeom prst="rect">
            <a:avLst/>
          </a:prstGeom>
          <a:noFill/>
          <a:ln/>
        </p:spPr>
        <p:txBody>
          <a:bodyPr wrap="square" lIns="0" tIns="0" rIns="0" bIns="0" rtlCol="0" anchor="t"/>
          <a:lstStyle/>
          <a:p>
            <a:pPr indent="0" marL="0">
              <a:spcAft>
                <a:spcPts val="600"/>
              </a:spcAft>
              <a:buNone/>
            </a:pPr>
            <a:r>
              <a:rPr lang="en-US" sz="1600" dirty="0">
                <a:solidFill>
                  <a:schemeClr val="tx1"/>
                </a:solidFill>
              </a:rPr>
              <a:t>This is a prepositional phrase placed after the noun 'fountain'. It expands the noun phrase. 'Tinkling' is an adjective placed before the noun.</a:t>
            </a:r>
            <a:endParaRPr lang="en-US" sz="1600" dirty="0"/>
          </a:p>
        </p:txBody>
      </p:sp>
      <p:sp>
        <p:nvSpPr>
          <p:cNvPr id="25" name="Slide Number Placeholder 0"/>
          <p:cNvSpPr>
            <a:spLocks noGrp="1"/>
          </p:cNvSpPr>
          <p:nvPr>
            <p:ph type="sldNum" sz="quarter" idx="4294967295"/>
          </p:nvPr>
        </p:nvSpPr>
        <p:spPr>
          <a:xfrm>
            <a:off x="8229600" y="4736592"/>
            <a:ext cx="36576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6784"/>
                </a:solidFill>
              </a:defRPr>
            </a:lvl1pPr>
          </a:lstStyle>
          <a:p>
            <a:pPr algn="l"/>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8046720" cy="731520"/>
          </a:xfrm>
          <a:prstGeom prst="rect">
            <a:avLst/>
          </a:prstGeom>
          <a:noFill/>
          <a:ln/>
        </p:spPr>
        <p:txBody>
          <a:bodyPr wrap="square" lIns="0" tIns="0" rIns="0" bIns="0" rtlCol="0" anchor="ctr"/>
          <a:lstStyle/>
          <a:p>
            <a:pPr algn="l" indent="0" marL="0">
              <a:buNone/>
            </a:pPr>
            <a:r>
              <a:rPr lang="en-US" sz="3000" b="1" dirty="0">
                <a:solidFill>
                  <a:schemeClr val="tx1"/>
                </a:solidFill>
              </a:rPr>
              <a:t>Question 5 of 6</a:t>
            </a:r>
            <a:endParaRPr lang="en-US" sz="3000" dirty="0"/>
          </a:p>
        </p:txBody>
      </p:sp>
      <p:sp>
        <p:nvSpPr>
          <p:cNvPr id="4" name="Text 1"/>
          <p:cNvSpPr txBox="1"/>
          <p:nvPr/>
        </p:nvSpPr>
        <p:spPr>
          <a:xfrm>
            <a:off x="6583680" y="457200"/>
            <a:ext cx="2011680" cy="365760"/>
          </a:xfrm>
          <a:prstGeom prst="rect">
            <a:avLst/>
          </a:prstGeom>
          <a:noFill/>
          <a:ln/>
        </p:spPr>
        <p:txBody>
          <a:bodyPr wrap="square" lIns="0" tIns="0" rIns="0" bIns="0" rtlCol="0" anchor="t"/>
          <a:lstStyle/>
          <a:p>
            <a:pPr algn="r" indent="0" marL="0">
              <a:buNone/>
            </a:pPr>
            <a:r>
              <a:rPr lang="en-US" sz="1400" b="1" dirty="0">
                <a:solidFill>
                  <a:schemeClr val="tx1"/>
                </a:solidFill>
              </a:rPr>
              <a:t>(1 mark)</a:t>
            </a:r>
            <a:endParaRPr lang="en-US" sz="1400" dirty="0"/>
          </a:p>
        </p:txBody>
      </p:sp>
      <p:sp>
        <p:nvSpPr>
          <p:cNvPr id="5" name="card"/>
          <p:cNvSpPr/>
          <p:nvPr/>
        </p:nvSpPr>
        <p:spPr>
          <a:xfrm>
            <a:off x="548640" y="1097280"/>
            <a:ext cx="8046720" cy="1417320"/>
          </a:xfrm>
          <a:prstGeom prst="roundRect">
            <a:avLst>
              <a:gd name="adj" fmla="val 7742"/>
            </a:avLst>
          </a:prstGeom>
          <a:solidFill>
            <a:schemeClr val="bg2"/>
          </a:solidFill>
          <a:ln w="12700">
            <a:solidFill>
              <a:schemeClr val="bg2"/>
            </a:solidFill>
            <a:prstDash val="solid"/>
          </a:ln>
        </p:spPr>
      </p:sp>
      <p:sp>
        <p:nvSpPr>
          <p:cNvPr id="6" name="question number"/>
          <p:cNvSpPr/>
          <p:nvPr/>
        </p:nvSpPr>
        <p:spPr>
          <a:xfrm>
            <a:off x="731520" y="1554480"/>
            <a:ext cx="594360" cy="594360"/>
          </a:xfrm>
          <a:prstGeom prst="ellipse">
            <a:avLst/>
          </a:prstGeom>
          <a:solidFill>
            <a:schemeClr val="accent4"/>
          </a:solidFill>
          <a:ln w="12700">
            <a:solidFill>
              <a:schemeClr val="accent4"/>
            </a:solidFill>
            <a:prstDash val="solid"/>
          </a:ln>
        </p:spPr>
      </p:sp>
      <p:sp>
        <p:nvSpPr>
          <p:cNvPr id="7" name="Text 4"/>
          <p:cNvSpPr txBox="1"/>
          <p:nvPr/>
        </p:nvSpPr>
        <p:spPr>
          <a:xfrm>
            <a:off x="731520" y="1554480"/>
            <a:ext cx="594360" cy="594360"/>
          </a:xfrm>
          <a:prstGeom prst="rect">
            <a:avLst/>
          </a:prstGeom>
          <a:noFill/>
          <a:ln/>
        </p:spPr>
        <p:txBody>
          <a:bodyPr wrap="square" lIns="0" tIns="0" rIns="0" bIns="0" rtlCol="0" anchor="ctr"/>
          <a:lstStyle/>
          <a:p>
            <a:pPr algn="ctr" indent="0" marL="0">
              <a:buNone/>
            </a:pPr>
            <a:r>
              <a:rPr lang="en-US" sz="2000" b="1" dirty="0">
                <a:solidFill>
                  <a:schemeClr val="bg1"/>
                </a:solidFill>
              </a:rPr>
              <a:t>5</a:t>
            </a:r>
            <a:endParaRPr lang="en-US" sz="2000" dirty="0"/>
          </a:p>
        </p:txBody>
      </p:sp>
      <p:sp>
        <p:nvSpPr>
          <p:cNvPr id="8" name="Text 5"/>
          <p:cNvSpPr txBox="1"/>
          <p:nvPr/>
        </p:nvSpPr>
        <p:spPr>
          <a:xfrm>
            <a:off x="1508760" y="1097280"/>
            <a:ext cx="6903720" cy="1417320"/>
          </a:xfrm>
          <a:prstGeom prst="rect">
            <a:avLst/>
          </a:prstGeom>
          <a:noFill/>
          <a:ln/>
        </p:spPr>
        <p:txBody>
          <a:bodyPr wrap="square" lIns="0" tIns="0" rIns="0" bIns="0" rtlCol="0" anchor="ctr"/>
          <a:lstStyle/>
          <a:p>
            <a:pPr indent="0" marL="0">
              <a:buNone/>
            </a:pPr>
            <a:r>
              <a:rPr lang="en-US" sz="1800" b="1" dirty="0">
                <a:solidFill>
                  <a:schemeClr val="tx1"/>
                </a:solidFill>
              </a:rPr>
              <a:t>Page 27: 'She tripped lightly back down the stairs.' What does the adverb 'lightly' tell us about the verb 'tripped'?</a:t>
            </a:r>
            <a:endParaRPr lang="en-US" sz="1800" dirty="0"/>
          </a:p>
        </p:txBody>
      </p:sp>
      <p:sp>
        <p:nvSpPr>
          <p:cNvPr id="9" name="card"/>
          <p:cNvSpPr/>
          <p:nvPr/>
        </p:nvSpPr>
        <p:spPr>
          <a:xfrm>
            <a:off x="548640" y="2697480"/>
            <a:ext cx="8046720" cy="1783080"/>
          </a:xfrm>
          <a:prstGeom prst="roundRect">
            <a:avLst>
              <a:gd name="adj" fmla="val 6154"/>
            </a:avLst>
          </a:prstGeom>
          <a:solidFill>
            <a:schemeClr val="bg2"/>
          </a:solidFill>
          <a:ln w="12700">
            <a:solidFill>
              <a:schemeClr val="bg2"/>
            </a:solidFill>
            <a:prstDash val="solid"/>
          </a:ln>
        </p:spPr>
      </p:sp>
      <p:sp>
        <p:nvSpPr>
          <p:cNvPr id="10" name="Text 7"/>
          <p:cNvSpPr txBox="1"/>
          <p:nvPr/>
        </p:nvSpPr>
        <p:spPr>
          <a:xfrm>
            <a:off x="777240" y="2743200"/>
            <a:ext cx="7589520" cy="365760"/>
          </a:xfrm>
          <a:prstGeom prst="rect">
            <a:avLst/>
          </a:prstGeom>
          <a:noFill/>
          <a:ln/>
        </p:spPr>
        <p:txBody>
          <a:bodyPr wrap="square" lIns="0" tIns="0" rIns="0" bIns="0" rtlCol="0" anchor="t"/>
          <a:lstStyle/>
          <a:p>
            <a:pPr indent="0" marL="0">
              <a:buNone/>
            </a:pPr>
            <a:r>
              <a:rPr lang="en-US" sz="1300" i="1" dirty="0">
                <a:solidFill>
                  <a:srgbClr val="4A4668"/>
                </a:solidFill>
              </a:rPr>
              <a:t>Write your answer in your book.</a:t>
            </a:r>
            <a:endParaRPr lang="en-US" sz="1300" dirty="0"/>
          </a:p>
        </p:txBody>
      </p:sp>
      <p:sp>
        <p:nvSpPr>
          <p:cNvPr id="11" name="answer line"/>
          <p:cNvSpPr/>
          <p:nvPr/>
        </p:nvSpPr>
        <p:spPr>
          <a:xfrm>
            <a:off x="822960" y="3429000"/>
            <a:ext cx="7498080" cy="0"/>
          </a:xfrm>
          <a:prstGeom prst="line">
            <a:avLst/>
          </a:prstGeom>
          <a:noFill/>
          <a:ln w="12700">
            <a:solidFill>
              <a:srgbClr val="BDB6D9"/>
            </a:solidFill>
            <a:prstDash val="solid"/>
          </a:ln>
        </p:spPr>
      </p:sp>
      <p:sp>
        <p:nvSpPr>
          <p:cNvPr id="12" name="answer line"/>
          <p:cNvSpPr/>
          <p:nvPr/>
        </p:nvSpPr>
        <p:spPr>
          <a:xfrm>
            <a:off x="822960" y="3840480"/>
            <a:ext cx="7498080" cy="0"/>
          </a:xfrm>
          <a:prstGeom prst="line">
            <a:avLst/>
          </a:prstGeom>
          <a:noFill/>
          <a:ln w="12700">
            <a:solidFill>
              <a:srgbClr val="BDB6D9"/>
            </a:solidFill>
            <a:prstDash val="solid"/>
          </a:ln>
        </p:spPr>
      </p:sp>
      <p:sp>
        <p:nvSpPr>
          <p:cNvPr id="13" name="answer line"/>
          <p:cNvSpPr/>
          <p:nvPr/>
        </p:nvSpPr>
        <p:spPr>
          <a:xfrm>
            <a:off x="822960" y="4251960"/>
            <a:ext cx="7498080" cy="0"/>
          </a:xfrm>
          <a:prstGeom prst="line">
            <a:avLst/>
          </a:prstGeom>
          <a:noFill/>
          <a:ln w="12700">
            <a:solidFill>
              <a:srgbClr val="BDB6D9"/>
            </a:solidFill>
            <a:prstDash val="solid"/>
          </a:ln>
        </p:spPr>
      </p:sp>
      <p:sp>
        <p:nvSpPr>
          <p:cNvPr id="25" name="Slide Number Placeholder 0"/>
          <p:cNvSpPr>
            <a:spLocks noGrp="1"/>
          </p:cNvSpPr>
          <p:nvPr>
            <p:ph type="sldNum" sz="quarter" idx="4294967295"/>
          </p:nvPr>
        </p:nvSpPr>
        <p:spPr>
          <a:xfrm>
            <a:off x="8229600" y="4736592"/>
            <a:ext cx="36576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6784"/>
                </a:solidFill>
              </a:defRPr>
            </a:lvl1pPr>
          </a:lstStyle>
          <a:p>
            <a:pPr algn="l"/>
            <a:fld id="{F7021451-1387-4CA6-816F-3879F97B5CBC}" type="slidenum">
              <a:rPr b="0"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8046720" cy="731520"/>
          </a:xfrm>
          <a:prstGeom prst="rect">
            <a:avLst/>
          </a:prstGeom>
          <a:noFill/>
          <a:ln/>
        </p:spPr>
        <p:txBody>
          <a:bodyPr wrap="square" lIns="0" tIns="0" rIns="0" bIns="0" rtlCol="0" anchor="ctr"/>
          <a:lstStyle/>
          <a:p>
            <a:pPr algn="l" indent="0" marL="0">
              <a:buNone/>
            </a:pPr>
            <a:r>
              <a:rPr lang="en-US" sz="3000" b="1" dirty="0">
                <a:solidFill>
                  <a:schemeClr val="tx1"/>
                </a:solidFill>
              </a:rPr>
              <a:t>Answer: question 5 of 6</a:t>
            </a:r>
            <a:endParaRPr lang="en-US" sz="3000" dirty="0"/>
          </a:p>
        </p:txBody>
      </p:sp>
      <p:sp>
        <p:nvSpPr>
          <p:cNvPr id="4" name="card"/>
          <p:cNvSpPr/>
          <p:nvPr/>
        </p:nvSpPr>
        <p:spPr>
          <a:xfrm>
            <a:off x="548640" y="1097280"/>
            <a:ext cx="8046720" cy="3474720"/>
          </a:xfrm>
          <a:prstGeom prst="roundRect">
            <a:avLst>
              <a:gd name="adj" fmla="val 3158"/>
            </a:avLst>
          </a:prstGeom>
          <a:solidFill>
            <a:schemeClr val="bg2"/>
          </a:solidFill>
          <a:ln w="12700">
            <a:solidFill>
              <a:schemeClr val="bg2"/>
            </a:solidFill>
            <a:prstDash val="solid"/>
          </a:ln>
        </p:spPr>
      </p:sp>
      <p:sp>
        <p:nvSpPr>
          <p:cNvPr id="5" name="Text 2"/>
          <p:cNvSpPr txBox="1"/>
          <p:nvPr/>
        </p:nvSpPr>
        <p:spPr>
          <a:xfrm>
            <a:off x="822960" y="1280160"/>
            <a:ext cx="7498080" cy="1097280"/>
          </a:xfrm>
          <a:prstGeom prst="rect">
            <a:avLst/>
          </a:prstGeom>
          <a:noFill/>
          <a:ln/>
        </p:spPr>
        <p:txBody>
          <a:bodyPr wrap="square" lIns="0" tIns="0" rIns="0" bIns="0" rtlCol="0" anchor="ctr"/>
          <a:lstStyle/>
          <a:p>
            <a:pPr indent="0" marL="0">
              <a:buNone/>
            </a:pPr>
            <a:r>
              <a:rPr lang="en-US" sz="2200" b="1" dirty="0">
                <a:solidFill>
                  <a:schemeClr val="tx1"/>
                </a:solidFill>
                <a:highlight>
                  <a:srgbClr val="FFD27F"/>
                </a:highlight>
              </a:rPr>
              <a:t>It tells us how she moved: with quick, light steps.</a:t>
            </a:r>
            <a:pPr indent="0" marL="0">
              <a:buNone/>
            </a:pPr>
            <a:r>
              <a:rPr lang="en-US" sz="2200" dirty="0">
                <a:solidFill>
                  <a:schemeClr val="tx1"/>
                </a:solidFill>
              </a:rPr>
              <a:t>  (1 mark)</a:t>
            </a:r>
            <a:endParaRPr lang="en-US" sz="1600" dirty="0"/>
          </a:p>
        </p:txBody>
      </p:sp>
      <p:sp>
        <p:nvSpPr>
          <p:cNvPr id="6" name="Text 3"/>
          <p:cNvSpPr txBox="1"/>
          <p:nvPr/>
        </p:nvSpPr>
        <p:spPr>
          <a:xfrm>
            <a:off x="822960" y="2468880"/>
            <a:ext cx="7498080" cy="2011680"/>
          </a:xfrm>
          <a:prstGeom prst="rect">
            <a:avLst/>
          </a:prstGeom>
          <a:noFill/>
          <a:ln/>
        </p:spPr>
        <p:txBody>
          <a:bodyPr wrap="square" lIns="0" tIns="0" rIns="0" bIns="0" rtlCol="0" anchor="t"/>
          <a:lstStyle/>
          <a:p>
            <a:pPr indent="0" marL="0">
              <a:spcAft>
                <a:spcPts val="600"/>
              </a:spcAft>
              <a:buNone/>
            </a:pPr>
            <a:r>
              <a:rPr lang="en-US" sz="1600" dirty="0">
                <a:solidFill>
                  <a:schemeClr val="tx1"/>
                </a:solidFill>
              </a:rPr>
              <a:t>An adverb tells us more about a verb. 'Lightly' shows the manner of Baba's movement. It also shows she is not worried.</a:t>
            </a:r>
            <a:endParaRPr lang="en-US" sz="1600" dirty="0"/>
          </a:p>
        </p:txBody>
      </p:sp>
      <p:sp>
        <p:nvSpPr>
          <p:cNvPr id="25" name="Slide Number Placeholder 0"/>
          <p:cNvSpPr>
            <a:spLocks noGrp="1"/>
          </p:cNvSpPr>
          <p:nvPr>
            <p:ph type="sldNum" sz="quarter" idx="4294967295"/>
          </p:nvPr>
        </p:nvSpPr>
        <p:spPr>
          <a:xfrm>
            <a:off x="8229600" y="4736592"/>
            <a:ext cx="36576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6784"/>
                </a:solidFill>
              </a:defRPr>
            </a:lvl1pPr>
          </a:lstStyle>
          <a:p>
            <a:pPr algn="l"/>
            <a:fld id="{F7021451-1387-4CA6-816F-3879F97B5CBC}" type="slidenum">
              <a:rPr b="0"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8046720" cy="731520"/>
          </a:xfrm>
          <a:prstGeom prst="rect">
            <a:avLst/>
          </a:prstGeom>
          <a:noFill/>
          <a:ln/>
        </p:spPr>
        <p:txBody>
          <a:bodyPr wrap="square" lIns="0" tIns="0" rIns="0" bIns="0" rtlCol="0" anchor="ctr"/>
          <a:lstStyle/>
          <a:p>
            <a:pPr algn="l" indent="0" marL="0">
              <a:buNone/>
            </a:pPr>
            <a:r>
              <a:rPr lang="en-US" sz="3000" b="1" dirty="0">
                <a:solidFill>
                  <a:schemeClr val="tx1"/>
                </a:solidFill>
              </a:rPr>
              <a:t>Question 6 of 6</a:t>
            </a:r>
            <a:endParaRPr lang="en-US" sz="3000" dirty="0"/>
          </a:p>
        </p:txBody>
      </p:sp>
      <p:sp>
        <p:nvSpPr>
          <p:cNvPr id="4" name="Text 1"/>
          <p:cNvSpPr txBox="1"/>
          <p:nvPr/>
        </p:nvSpPr>
        <p:spPr>
          <a:xfrm>
            <a:off x="6583680" y="457200"/>
            <a:ext cx="2011680" cy="365760"/>
          </a:xfrm>
          <a:prstGeom prst="rect">
            <a:avLst/>
          </a:prstGeom>
          <a:noFill/>
          <a:ln/>
        </p:spPr>
        <p:txBody>
          <a:bodyPr wrap="square" lIns="0" tIns="0" rIns="0" bIns="0" rtlCol="0" anchor="t"/>
          <a:lstStyle/>
          <a:p>
            <a:pPr algn="r" indent="0" marL="0">
              <a:buNone/>
            </a:pPr>
            <a:r>
              <a:rPr lang="en-US" sz="1400" b="1" dirty="0">
                <a:solidFill>
                  <a:schemeClr val="tx1"/>
                </a:solidFill>
              </a:rPr>
              <a:t>(2 marks)</a:t>
            </a:r>
            <a:endParaRPr lang="en-US" sz="1400" dirty="0"/>
          </a:p>
        </p:txBody>
      </p:sp>
      <p:sp>
        <p:nvSpPr>
          <p:cNvPr id="5" name="card"/>
          <p:cNvSpPr/>
          <p:nvPr/>
        </p:nvSpPr>
        <p:spPr>
          <a:xfrm>
            <a:off x="548640" y="1097280"/>
            <a:ext cx="8046720" cy="1417320"/>
          </a:xfrm>
          <a:prstGeom prst="roundRect">
            <a:avLst>
              <a:gd name="adj" fmla="val 7742"/>
            </a:avLst>
          </a:prstGeom>
          <a:solidFill>
            <a:schemeClr val="bg2"/>
          </a:solidFill>
          <a:ln w="12700">
            <a:solidFill>
              <a:schemeClr val="bg2"/>
            </a:solidFill>
            <a:prstDash val="solid"/>
          </a:ln>
        </p:spPr>
      </p:sp>
      <p:sp>
        <p:nvSpPr>
          <p:cNvPr id="6" name="question number"/>
          <p:cNvSpPr/>
          <p:nvPr/>
        </p:nvSpPr>
        <p:spPr>
          <a:xfrm>
            <a:off x="731520" y="1554480"/>
            <a:ext cx="594360" cy="594360"/>
          </a:xfrm>
          <a:prstGeom prst="ellipse">
            <a:avLst/>
          </a:prstGeom>
          <a:solidFill>
            <a:schemeClr val="accent2"/>
          </a:solidFill>
          <a:ln w="12700">
            <a:solidFill>
              <a:schemeClr val="accent2"/>
            </a:solidFill>
            <a:prstDash val="solid"/>
          </a:ln>
        </p:spPr>
      </p:sp>
      <p:sp>
        <p:nvSpPr>
          <p:cNvPr id="7" name="Text 4"/>
          <p:cNvSpPr txBox="1"/>
          <p:nvPr/>
        </p:nvSpPr>
        <p:spPr>
          <a:xfrm>
            <a:off x="731520" y="1554480"/>
            <a:ext cx="594360" cy="594360"/>
          </a:xfrm>
          <a:prstGeom prst="rect">
            <a:avLst/>
          </a:prstGeom>
          <a:noFill/>
          <a:ln/>
        </p:spPr>
        <p:txBody>
          <a:bodyPr wrap="square" lIns="0" tIns="0" rIns="0" bIns="0" rtlCol="0" anchor="ctr"/>
          <a:lstStyle/>
          <a:p>
            <a:pPr algn="ctr" indent="0" marL="0">
              <a:buNone/>
            </a:pPr>
            <a:r>
              <a:rPr lang="en-US" sz="2000" b="1" dirty="0">
                <a:solidFill>
                  <a:schemeClr val="bg1"/>
                </a:solidFill>
              </a:rPr>
              <a:t>6</a:t>
            </a:r>
            <a:endParaRPr lang="en-US" sz="2000" dirty="0"/>
          </a:p>
        </p:txBody>
      </p:sp>
      <p:sp>
        <p:nvSpPr>
          <p:cNvPr id="8" name="Text 5"/>
          <p:cNvSpPr txBox="1"/>
          <p:nvPr/>
        </p:nvSpPr>
        <p:spPr>
          <a:xfrm>
            <a:off x="1508760" y="1097280"/>
            <a:ext cx="6903720" cy="1417320"/>
          </a:xfrm>
          <a:prstGeom prst="rect">
            <a:avLst/>
          </a:prstGeom>
          <a:noFill/>
          <a:ln/>
        </p:spPr>
        <p:txBody>
          <a:bodyPr wrap="square" lIns="0" tIns="0" rIns="0" bIns="0" rtlCol="0" anchor="ctr"/>
          <a:lstStyle/>
          <a:p>
            <a:pPr indent="0" marL="0">
              <a:buNone/>
            </a:pPr>
            <a:r>
              <a:rPr lang="en-US" sz="1800" b="1" dirty="0">
                <a:solidFill>
                  <a:schemeClr val="tx1"/>
                </a:solidFill>
              </a:rPr>
              <a:t>Page 15: 'All around her was the usual desert: rocks, gravel, sand, the occasional cactus or spindly tree.' Copy the adverbial that tells us where, and name the type of phrase.</a:t>
            </a:r>
            <a:endParaRPr lang="en-US" sz="1800" dirty="0"/>
          </a:p>
        </p:txBody>
      </p:sp>
      <p:sp>
        <p:nvSpPr>
          <p:cNvPr id="9" name="card"/>
          <p:cNvSpPr/>
          <p:nvPr/>
        </p:nvSpPr>
        <p:spPr>
          <a:xfrm>
            <a:off x="548640" y="2697480"/>
            <a:ext cx="8046720" cy="1783080"/>
          </a:xfrm>
          <a:prstGeom prst="roundRect">
            <a:avLst>
              <a:gd name="adj" fmla="val 6154"/>
            </a:avLst>
          </a:prstGeom>
          <a:solidFill>
            <a:schemeClr val="bg2"/>
          </a:solidFill>
          <a:ln w="12700">
            <a:solidFill>
              <a:schemeClr val="bg2"/>
            </a:solidFill>
            <a:prstDash val="solid"/>
          </a:ln>
        </p:spPr>
      </p:sp>
      <p:sp>
        <p:nvSpPr>
          <p:cNvPr id="10" name="Text 7"/>
          <p:cNvSpPr txBox="1"/>
          <p:nvPr/>
        </p:nvSpPr>
        <p:spPr>
          <a:xfrm>
            <a:off x="777240" y="2743200"/>
            <a:ext cx="7589520" cy="365760"/>
          </a:xfrm>
          <a:prstGeom prst="rect">
            <a:avLst/>
          </a:prstGeom>
          <a:noFill/>
          <a:ln/>
        </p:spPr>
        <p:txBody>
          <a:bodyPr wrap="square" lIns="0" tIns="0" rIns="0" bIns="0" rtlCol="0" anchor="t"/>
          <a:lstStyle/>
          <a:p>
            <a:pPr indent="0" marL="0">
              <a:buNone/>
            </a:pPr>
            <a:r>
              <a:rPr lang="en-US" sz="1300" i="1" dirty="0">
                <a:solidFill>
                  <a:srgbClr val="4A4668"/>
                </a:solidFill>
              </a:rPr>
              <a:t>Write your answer in your book.</a:t>
            </a:r>
            <a:endParaRPr lang="en-US" sz="1300" dirty="0"/>
          </a:p>
        </p:txBody>
      </p:sp>
      <p:sp>
        <p:nvSpPr>
          <p:cNvPr id="11" name="answer line"/>
          <p:cNvSpPr/>
          <p:nvPr/>
        </p:nvSpPr>
        <p:spPr>
          <a:xfrm>
            <a:off x="822960" y="3429000"/>
            <a:ext cx="7498080" cy="0"/>
          </a:xfrm>
          <a:prstGeom prst="line">
            <a:avLst/>
          </a:prstGeom>
          <a:noFill/>
          <a:ln w="12700">
            <a:solidFill>
              <a:srgbClr val="BDB6D9"/>
            </a:solidFill>
            <a:prstDash val="solid"/>
          </a:ln>
        </p:spPr>
      </p:sp>
      <p:sp>
        <p:nvSpPr>
          <p:cNvPr id="12" name="answer line"/>
          <p:cNvSpPr/>
          <p:nvPr/>
        </p:nvSpPr>
        <p:spPr>
          <a:xfrm>
            <a:off x="822960" y="3840480"/>
            <a:ext cx="7498080" cy="0"/>
          </a:xfrm>
          <a:prstGeom prst="line">
            <a:avLst/>
          </a:prstGeom>
          <a:noFill/>
          <a:ln w="12700">
            <a:solidFill>
              <a:srgbClr val="BDB6D9"/>
            </a:solidFill>
            <a:prstDash val="solid"/>
          </a:ln>
        </p:spPr>
      </p:sp>
      <p:sp>
        <p:nvSpPr>
          <p:cNvPr id="13" name="answer line"/>
          <p:cNvSpPr/>
          <p:nvPr/>
        </p:nvSpPr>
        <p:spPr>
          <a:xfrm>
            <a:off x="822960" y="4251960"/>
            <a:ext cx="7498080" cy="0"/>
          </a:xfrm>
          <a:prstGeom prst="line">
            <a:avLst/>
          </a:prstGeom>
          <a:noFill/>
          <a:ln w="12700">
            <a:solidFill>
              <a:srgbClr val="BDB6D9"/>
            </a:solidFill>
            <a:prstDash val="solid"/>
          </a:ln>
        </p:spPr>
      </p:sp>
      <p:sp>
        <p:nvSpPr>
          <p:cNvPr id="25" name="Slide Number Placeholder 0"/>
          <p:cNvSpPr>
            <a:spLocks noGrp="1"/>
          </p:cNvSpPr>
          <p:nvPr>
            <p:ph type="sldNum" sz="quarter" idx="4294967295"/>
          </p:nvPr>
        </p:nvSpPr>
        <p:spPr>
          <a:xfrm>
            <a:off x="8229600" y="4736592"/>
            <a:ext cx="36576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6784"/>
                </a:solidFill>
              </a:defRPr>
            </a:lvl1pPr>
          </a:lstStyle>
          <a:p>
            <a:pPr algn="l"/>
            <a:fld id="{F7021451-1387-4CA6-816F-3879F97B5CBC}" type="slidenum">
              <a:rPr b="0"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8046720" cy="731520"/>
          </a:xfrm>
          <a:prstGeom prst="rect">
            <a:avLst/>
          </a:prstGeom>
          <a:noFill/>
          <a:ln/>
        </p:spPr>
        <p:txBody>
          <a:bodyPr wrap="square" lIns="0" tIns="0" rIns="0" bIns="0" rtlCol="0" anchor="ctr"/>
          <a:lstStyle/>
          <a:p>
            <a:pPr algn="l" indent="0" marL="0">
              <a:buNone/>
            </a:pPr>
            <a:r>
              <a:rPr lang="en-US" sz="3000" b="1" dirty="0">
                <a:solidFill>
                  <a:schemeClr val="tx1"/>
                </a:solidFill>
              </a:rPr>
              <a:t>Answer: question 6 of 6</a:t>
            </a:r>
            <a:endParaRPr lang="en-US" sz="3000" dirty="0"/>
          </a:p>
        </p:txBody>
      </p:sp>
      <p:sp>
        <p:nvSpPr>
          <p:cNvPr id="4" name="card"/>
          <p:cNvSpPr/>
          <p:nvPr/>
        </p:nvSpPr>
        <p:spPr>
          <a:xfrm>
            <a:off x="548640" y="1097280"/>
            <a:ext cx="8046720" cy="3474720"/>
          </a:xfrm>
          <a:prstGeom prst="roundRect">
            <a:avLst>
              <a:gd name="adj" fmla="val 3158"/>
            </a:avLst>
          </a:prstGeom>
          <a:solidFill>
            <a:schemeClr val="bg2"/>
          </a:solidFill>
          <a:ln w="12700">
            <a:solidFill>
              <a:schemeClr val="bg2"/>
            </a:solidFill>
            <a:prstDash val="solid"/>
          </a:ln>
        </p:spPr>
      </p:sp>
      <p:sp>
        <p:nvSpPr>
          <p:cNvPr id="5" name="Text 2"/>
          <p:cNvSpPr txBox="1"/>
          <p:nvPr/>
        </p:nvSpPr>
        <p:spPr>
          <a:xfrm>
            <a:off x="822960" y="1280160"/>
            <a:ext cx="7498080" cy="1097280"/>
          </a:xfrm>
          <a:prstGeom prst="rect">
            <a:avLst/>
          </a:prstGeom>
          <a:noFill/>
          <a:ln/>
        </p:spPr>
        <p:txBody>
          <a:bodyPr wrap="square" lIns="0" tIns="0" rIns="0" bIns="0" rtlCol="0" anchor="ctr"/>
          <a:lstStyle/>
          <a:p>
            <a:pPr indent="0" marL="0">
              <a:buNone/>
            </a:pPr>
            <a:r>
              <a:rPr lang="en-US" sz="2200" b="1" dirty="0">
                <a:solidFill>
                  <a:schemeClr val="tx1"/>
                </a:solidFill>
                <a:highlight>
                  <a:srgbClr val="FFD27F"/>
                </a:highlight>
              </a:rPr>
              <a:t>All around her; a prepositional phrase working as an adverbial of place</a:t>
            </a:r>
            <a:pPr indent="0" marL="0">
              <a:buNone/>
            </a:pPr>
            <a:r>
              <a:rPr lang="en-US" sz="2200" dirty="0">
                <a:solidFill>
                  <a:schemeClr val="tx1"/>
                </a:solidFill>
              </a:rPr>
              <a:t>  (2 marks)</a:t>
            </a:r>
            <a:endParaRPr lang="en-US" sz="1600" dirty="0"/>
          </a:p>
        </p:txBody>
      </p:sp>
      <p:sp>
        <p:nvSpPr>
          <p:cNvPr id="6" name="Text 3"/>
          <p:cNvSpPr txBox="1"/>
          <p:nvPr/>
        </p:nvSpPr>
        <p:spPr>
          <a:xfrm>
            <a:off x="822960" y="2468880"/>
            <a:ext cx="7498080" cy="2011680"/>
          </a:xfrm>
          <a:prstGeom prst="rect">
            <a:avLst/>
          </a:prstGeom>
          <a:noFill/>
          <a:ln/>
        </p:spPr>
        <p:txBody>
          <a:bodyPr wrap="square" lIns="0" tIns="0" rIns="0" bIns="0" rtlCol="0" anchor="t"/>
          <a:lstStyle/>
          <a:p>
            <a:pPr indent="0" marL="0">
              <a:spcAft>
                <a:spcPts val="600"/>
              </a:spcAft>
              <a:buNone/>
            </a:pPr>
            <a:r>
              <a:rPr lang="en-US" sz="1600" dirty="0">
                <a:solidFill>
                  <a:schemeClr val="tx1"/>
                </a:solidFill>
              </a:rPr>
              <a:t>1 mark: 'All around her' is copied correctly.</a:t>
            </a:r>
            <a:endParaRPr lang="en-US" sz="1600" dirty="0"/>
          </a:p>
          <a:p>
            <a:pPr indent="0" marL="0">
              <a:spcAft>
                <a:spcPts val="600"/>
              </a:spcAft>
              <a:buNone/>
            </a:pPr>
            <a:r>
              <a:rPr lang="en-US" sz="1600" dirty="0">
                <a:solidFill>
                  <a:schemeClr val="tx1"/>
                </a:solidFill>
              </a:rPr>
              <a:t>1 mark: it is a prepositional phrase that works as an adverbial and tells us where. (There is no comma here because the verb comes next in this inverted sentence.)</a:t>
            </a:r>
            <a:endParaRPr lang="en-US" sz="1600" dirty="0"/>
          </a:p>
        </p:txBody>
      </p:sp>
      <p:sp>
        <p:nvSpPr>
          <p:cNvPr id="25" name="Slide Number Placeholder 0"/>
          <p:cNvSpPr>
            <a:spLocks noGrp="1"/>
          </p:cNvSpPr>
          <p:nvPr>
            <p:ph type="sldNum" sz="quarter" idx="4294967295"/>
          </p:nvPr>
        </p:nvSpPr>
        <p:spPr>
          <a:xfrm>
            <a:off x="8229600" y="4736592"/>
            <a:ext cx="36576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6784"/>
                </a:solidFill>
              </a:defRPr>
            </a:lvl1pPr>
          </a:lstStyle>
          <a:p>
            <a:pPr algn="l"/>
            <a:fld id="{F7021451-1387-4CA6-816F-3879F97B5CBC}" type="slidenum">
              <a:rPr b="0"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8046720" cy="731520"/>
          </a:xfrm>
          <a:prstGeom prst="rect">
            <a:avLst/>
          </a:prstGeom>
          <a:noFill/>
          <a:ln/>
        </p:spPr>
        <p:txBody>
          <a:bodyPr wrap="square" lIns="0" tIns="0" rIns="0" bIns="0" rtlCol="0" anchor="ctr"/>
          <a:lstStyle/>
          <a:p>
            <a:pPr algn="l" indent="0" marL="0">
              <a:buNone/>
            </a:pPr>
            <a:r>
              <a:rPr lang="en-US" sz="3000" b="1" dirty="0">
                <a:solidFill>
                  <a:schemeClr val="tx1"/>
                </a:solidFill>
              </a:rPr>
              <a:t>Task 1: name the grammar</a:t>
            </a:r>
            <a:endParaRPr lang="en-US" sz="3000" dirty="0"/>
          </a:p>
        </p:txBody>
      </p:sp>
      <p:sp>
        <p:nvSpPr>
          <p:cNvPr id="4" name="card"/>
          <p:cNvSpPr/>
          <p:nvPr/>
        </p:nvSpPr>
        <p:spPr>
          <a:xfrm>
            <a:off x="548640" y="1097280"/>
            <a:ext cx="8046720" cy="731520"/>
          </a:xfrm>
          <a:prstGeom prst="roundRect">
            <a:avLst>
              <a:gd name="adj" fmla="val 15000"/>
            </a:avLst>
          </a:prstGeom>
          <a:solidFill>
            <a:schemeClr val="accent1"/>
          </a:solidFill>
          <a:ln w="12700">
            <a:solidFill>
              <a:schemeClr val="accent1"/>
            </a:solidFill>
            <a:prstDash val="solid"/>
          </a:ln>
        </p:spPr>
      </p:sp>
      <p:sp>
        <p:nvSpPr>
          <p:cNvPr id="5" name="Text 2"/>
          <p:cNvSpPr txBox="1"/>
          <p:nvPr/>
        </p:nvSpPr>
        <p:spPr>
          <a:xfrm>
            <a:off x="777240" y="1097280"/>
            <a:ext cx="7589520" cy="731520"/>
          </a:xfrm>
          <a:prstGeom prst="rect">
            <a:avLst/>
          </a:prstGeom>
          <a:noFill/>
          <a:ln/>
        </p:spPr>
        <p:txBody>
          <a:bodyPr wrap="square" lIns="0" tIns="0" rIns="0" bIns="0" rtlCol="0" anchor="ctr"/>
          <a:lstStyle/>
          <a:p>
            <a:pPr indent="0" marL="0">
              <a:buNone/>
            </a:pPr>
            <a:r>
              <a:rPr lang="en-US" sz="1700" b="1" dirty="0">
                <a:solidFill>
                  <a:schemeClr val="tx1"/>
                </a:solidFill>
              </a:rPr>
              <a:t>Name the </a:t>
            </a:r>
            <a:pPr indent="0" marL="0">
              <a:buNone/>
            </a:pPr>
            <a:r>
              <a:rPr lang="en-US" sz="1700" b="1" dirty="0">
                <a:solidFill>
                  <a:schemeClr val="tx1"/>
                </a:solidFill>
                <a:highlight>
                  <a:srgbClr val="FFD27F"/>
                </a:highlight>
              </a:rPr>
              <a:t>type</a:t>
            </a:r>
            <a:pPr indent="0" marL="0">
              <a:buNone/>
            </a:pPr>
            <a:r>
              <a:rPr lang="en-US" sz="1700" b="1" dirty="0">
                <a:solidFill>
                  <a:schemeClr val="tx1"/>
                </a:solidFill>
              </a:rPr>
              <a:t> of each part. Say </a:t>
            </a:r>
            <a:pPr indent="0" marL="0">
              <a:buNone/>
            </a:pPr>
            <a:r>
              <a:rPr lang="en-US" sz="1700" b="1" dirty="0">
                <a:solidFill>
                  <a:schemeClr val="tx1"/>
                </a:solidFill>
                <a:highlight>
                  <a:srgbClr val="FFD27F"/>
                </a:highlight>
              </a:rPr>
              <a:t>which word</a:t>
            </a:r>
            <a:pPr indent="0" marL="0">
              <a:buNone/>
            </a:pPr>
            <a:r>
              <a:rPr lang="en-US" sz="1700" b="1" dirty="0">
                <a:solidFill>
                  <a:schemeClr val="tx1"/>
                </a:solidFill>
              </a:rPr>
              <a:t> it describes if it is an adverb.</a:t>
            </a:r>
            <a:endParaRPr lang="en-US" sz="1600" dirty="0"/>
          </a:p>
        </p:txBody>
      </p:sp>
      <p:graphicFrame>
        <p:nvGraphicFramePr>
          <p:cNvPr id="26" name="Table 0"/>
          <p:cNvGraphicFramePr>
            <a:graphicFrameLocks noGrp="1"/>
          </p:cNvGraphicFramePr>
          <p:nvPr>
            <p:extLst>
              <p:ext uri="{D42A27DB-BD31-4B8C-83A1-F6EECF244321}">
                <p14:modId xmlns:p14="http://schemas.microsoft.com/office/powerpoint/2010/main" val="1579011935"/>
              </p:ext>
            </p:extLst>
          </p:nvPr>
        </p:nvGraphicFramePr>
        <p:xfrm>
          <a:off x="548640" y="2011680"/>
          <a:ext cx="8046720" cy="914400"/>
        </p:xfrm>
        <a:graphic>
          <a:graphicData uri="http://schemas.openxmlformats.org/drawingml/2006/table">
            <a:tbl>
              <a:tblPr/>
              <a:tblGrid>
                <a:gridCol w="4937760"/>
                <a:gridCol w="3108960"/>
              </a:tblGrid>
              <a:tr h="365760">
                <a:tc>
                  <a:txBody>
                    <a:bodyPr/>
                    <a:lstStyle/>
                    <a:p>
                      <a:pPr algn="ctr" indent="0" marL="0">
                        <a:buNone/>
                      </a:pPr>
                      <a:r>
                        <a:rPr lang="en-US" sz="1400" b="1" dirty="0">
                          <a:solidFill>
                            <a:srgbClr val="FFFFFF"/>
                          </a:solidFill>
                        </a:rPr>
                        <a:t>Sentence</a:t>
                      </a:r>
                      <a:endParaRPr lang="en-US" sz="1400" dirty="0"/>
                    </a:p>
                  </a:txBody>
                  <a:tcPr marL="91440" marR="91440" marT="45720" marB="45720" anchor="ctr">
                    <a:lnL w="12700" cap="flat" cmpd="sng" algn="ctr">
                      <a:solidFill>
                        <a:srgbClr val="BDB6D9"/>
                      </a:solidFill>
                      <a:prstDash val="solid"/>
                      <a:round/>
                      <a:headEnd type="none" w="med" len="med"/>
                      <a:tailEnd type="none" w="med" len="med"/>
                    </a:lnL>
                    <a:lnR w="12700" cap="flat" cmpd="sng" algn="ctr">
                      <a:solidFill>
                        <a:srgbClr val="BDB6D9"/>
                      </a:solidFill>
                      <a:prstDash val="solid"/>
                      <a:round/>
                      <a:headEnd type="none" w="med" len="med"/>
                      <a:tailEnd type="none" w="med" len="med"/>
                    </a:lnR>
                    <a:lnT w="12700" cap="flat" cmpd="sng" algn="ctr">
                      <a:solidFill>
                        <a:srgbClr val="BDB6D9"/>
                      </a:solidFill>
                      <a:prstDash val="solid"/>
                      <a:round/>
                      <a:headEnd type="none" w="med" len="med"/>
                      <a:tailEnd type="none" w="med" len="med"/>
                    </a:lnT>
                    <a:lnB w="12700" cap="flat" cmpd="sng" algn="ctr">
                      <a:solidFill>
                        <a:srgbClr val="BDB6D9"/>
                      </a:solidFill>
                      <a:prstDash val="solid"/>
                      <a:round/>
                      <a:headEnd type="none" w="med" len="med"/>
                      <a:tailEnd type="none" w="med" len="med"/>
                    </a:lnB>
                    <a:solidFill>
                      <a:srgbClr val="3B2F63"/>
                    </a:solidFill>
                  </a:tcPr>
                </a:tc>
                <a:tc>
                  <a:txBody>
                    <a:bodyPr/>
                    <a:lstStyle/>
                    <a:p>
                      <a:pPr algn="ctr" indent="0" marL="0">
                        <a:buNone/>
                      </a:pPr>
                      <a:r>
                        <a:rPr lang="en-US" sz="1400" b="1" dirty="0">
                          <a:solidFill>
                            <a:srgbClr val="FFFFFF"/>
                          </a:solidFill>
                        </a:rPr>
                        <a:t>Part to name</a:t>
                      </a:r>
                      <a:endParaRPr lang="en-US" sz="1400" dirty="0"/>
                    </a:p>
                  </a:txBody>
                  <a:tcPr marL="91440" marR="91440" marT="45720" marB="45720" anchor="ctr">
                    <a:lnL w="12700" cap="flat" cmpd="sng" algn="ctr">
                      <a:solidFill>
                        <a:srgbClr val="BDB6D9"/>
                      </a:solidFill>
                      <a:prstDash val="solid"/>
                      <a:round/>
                      <a:headEnd type="none" w="med" len="med"/>
                      <a:tailEnd type="none" w="med" len="med"/>
                    </a:lnL>
                    <a:lnR w="12700" cap="flat" cmpd="sng" algn="ctr">
                      <a:solidFill>
                        <a:srgbClr val="BDB6D9"/>
                      </a:solidFill>
                      <a:prstDash val="solid"/>
                      <a:round/>
                      <a:headEnd type="none" w="med" len="med"/>
                      <a:tailEnd type="none" w="med" len="med"/>
                    </a:lnR>
                    <a:lnT w="12700" cap="flat" cmpd="sng" algn="ctr">
                      <a:solidFill>
                        <a:srgbClr val="BDB6D9"/>
                      </a:solidFill>
                      <a:prstDash val="solid"/>
                      <a:round/>
                      <a:headEnd type="none" w="med" len="med"/>
                      <a:tailEnd type="none" w="med" len="med"/>
                    </a:lnT>
                    <a:lnB w="12700" cap="flat" cmpd="sng" algn="ctr">
                      <a:solidFill>
                        <a:srgbClr val="BDB6D9"/>
                      </a:solidFill>
                      <a:prstDash val="solid"/>
                      <a:round/>
                      <a:headEnd type="none" w="med" len="med"/>
                      <a:tailEnd type="none" w="med" len="med"/>
                    </a:lnB>
                    <a:solidFill>
                      <a:srgbClr val="3B2F63"/>
                    </a:solidFill>
                  </a:tcPr>
                </a:tc>
              </a:tr>
              <a:tr h="411480">
                <a:tc>
                  <a:txBody>
                    <a:bodyPr/>
                    <a:lstStyle/>
                    <a:p>
                      <a:pPr indent="0" marL="0">
                        <a:buNone/>
                      </a:pPr>
                      <a:r>
                        <a:rPr lang="en-US" sz="1300" b="1" dirty="0">
                          <a:solidFill>
                            <a:srgbClr val="1F1B3A"/>
                          </a:solidFill>
                        </a:rPr>
                        <a:t>Slowly, Tulsi crossed the bridge.</a:t>
                      </a:r>
                      <a:endParaRPr lang="en-US" sz="1300" dirty="0"/>
                    </a:p>
                  </a:txBody>
                  <a:tcPr marL="91440" marR="91440" marT="45720" marB="45720" anchor="ctr">
                    <a:lnL w="12700" cap="flat" cmpd="sng" algn="ctr">
                      <a:solidFill>
                        <a:srgbClr val="BDB6D9"/>
                      </a:solidFill>
                      <a:prstDash val="solid"/>
                      <a:round/>
                      <a:headEnd type="none" w="med" len="med"/>
                      <a:tailEnd type="none" w="med" len="med"/>
                    </a:lnL>
                    <a:lnR w="12700" cap="flat" cmpd="sng" algn="ctr">
                      <a:solidFill>
                        <a:srgbClr val="BDB6D9"/>
                      </a:solidFill>
                      <a:prstDash val="solid"/>
                      <a:round/>
                      <a:headEnd type="none" w="med" len="med"/>
                      <a:tailEnd type="none" w="med" len="med"/>
                    </a:lnR>
                    <a:lnT w="12700" cap="flat" cmpd="sng" algn="ctr">
                      <a:solidFill>
                        <a:srgbClr val="BDB6D9"/>
                      </a:solidFill>
                      <a:prstDash val="solid"/>
                      <a:round/>
                      <a:headEnd type="none" w="med" len="med"/>
                      <a:tailEnd type="none" w="med" len="med"/>
                    </a:lnT>
                    <a:lnB w="12700" cap="flat" cmpd="sng" algn="ctr">
                      <a:solidFill>
                        <a:srgbClr val="BDB6D9"/>
                      </a:solidFill>
                      <a:prstDash val="solid"/>
                      <a:round/>
                      <a:headEnd type="none" w="med" len="med"/>
                      <a:tailEnd type="none" w="med" len="med"/>
                    </a:lnB>
                    <a:solidFill>
                      <a:srgbClr val="F1EEFA"/>
                    </a:solidFill>
                  </a:tcPr>
                </a:tc>
                <a:tc>
                  <a:txBody>
                    <a:bodyPr/>
                    <a:lstStyle/>
                    <a:p>
                      <a:pPr indent="0" marL="0">
                        <a:buNone/>
                      </a:pPr>
                      <a:r>
                        <a:rPr lang="en-US" sz="1300" dirty="0">
                          <a:solidFill>
                            <a:srgbClr val="1F1B3A"/>
                          </a:solidFill>
                        </a:rPr>
                        <a:t>Slowly,</a:t>
                      </a:r>
                      <a:endParaRPr lang="en-US" sz="1300" dirty="0"/>
                    </a:p>
                  </a:txBody>
                  <a:tcPr marL="91440" marR="91440" marT="45720" marB="45720" anchor="ctr">
                    <a:lnL w="12700" cap="flat" cmpd="sng" algn="ctr">
                      <a:solidFill>
                        <a:srgbClr val="BDB6D9"/>
                      </a:solidFill>
                      <a:prstDash val="solid"/>
                      <a:round/>
                      <a:headEnd type="none" w="med" len="med"/>
                      <a:tailEnd type="none" w="med" len="med"/>
                    </a:lnL>
                    <a:lnR w="12700" cap="flat" cmpd="sng" algn="ctr">
                      <a:solidFill>
                        <a:srgbClr val="BDB6D9"/>
                      </a:solidFill>
                      <a:prstDash val="solid"/>
                      <a:round/>
                      <a:headEnd type="none" w="med" len="med"/>
                      <a:tailEnd type="none" w="med" len="med"/>
                    </a:lnR>
                    <a:lnT w="12700" cap="flat" cmpd="sng" algn="ctr">
                      <a:solidFill>
                        <a:srgbClr val="BDB6D9"/>
                      </a:solidFill>
                      <a:prstDash val="solid"/>
                      <a:round/>
                      <a:headEnd type="none" w="med" len="med"/>
                      <a:tailEnd type="none" w="med" len="med"/>
                    </a:lnT>
                    <a:lnB w="12700" cap="flat" cmpd="sng" algn="ctr">
                      <a:solidFill>
                        <a:srgbClr val="BDB6D9"/>
                      </a:solidFill>
                      <a:prstDash val="solid"/>
                      <a:round/>
                      <a:headEnd type="none" w="med" len="med"/>
                      <a:tailEnd type="none" w="med" len="med"/>
                    </a:lnB>
                    <a:solidFill>
                      <a:srgbClr val="F1EEFA"/>
                    </a:solidFill>
                  </a:tcPr>
                </a:tc>
              </a:tr>
              <a:tr h="411480">
                <a:tc>
                  <a:txBody>
                    <a:bodyPr/>
                    <a:lstStyle/>
                    <a:p>
                      <a:pPr indent="0" marL="0">
                        <a:buNone/>
                      </a:pPr>
                      <a:r>
                        <a:rPr lang="en-US" sz="1300" b="1" dirty="0">
                          <a:solidFill>
                            <a:srgbClr val="1F1B3A"/>
                          </a:solidFill>
                        </a:rPr>
                        <a:t>The tower, silent and ruined, leaned over the lake.</a:t>
                      </a:r>
                      <a:endParaRPr lang="en-US" sz="1300" dirty="0"/>
                    </a:p>
                  </a:txBody>
                  <a:tcPr marL="91440" marR="91440" marT="45720" marB="45720" anchor="ctr">
                    <a:lnL w="12700" cap="flat" cmpd="sng" algn="ctr">
                      <a:solidFill>
                        <a:srgbClr val="BDB6D9"/>
                      </a:solidFill>
                      <a:prstDash val="solid"/>
                      <a:round/>
                      <a:headEnd type="none" w="med" len="med"/>
                      <a:tailEnd type="none" w="med" len="med"/>
                    </a:lnL>
                    <a:lnR w="12700" cap="flat" cmpd="sng" algn="ctr">
                      <a:solidFill>
                        <a:srgbClr val="BDB6D9"/>
                      </a:solidFill>
                      <a:prstDash val="solid"/>
                      <a:round/>
                      <a:headEnd type="none" w="med" len="med"/>
                      <a:tailEnd type="none" w="med" len="med"/>
                    </a:lnR>
                    <a:lnT w="12700" cap="flat" cmpd="sng" algn="ctr">
                      <a:solidFill>
                        <a:srgbClr val="BDB6D9"/>
                      </a:solidFill>
                      <a:prstDash val="solid"/>
                      <a:round/>
                      <a:headEnd type="none" w="med" len="med"/>
                      <a:tailEnd type="none" w="med" len="med"/>
                    </a:lnT>
                    <a:lnB w="12700" cap="flat" cmpd="sng" algn="ctr">
                      <a:solidFill>
                        <a:srgbClr val="BDB6D9"/>
                      </a:solidFill>
                      <a:prstDash val="solid"/>
                      <a:round/>
                      <a:headEnd type="none" w="med" len="med"/>
                      <a:tailEnd type="none" w="med" len="med"/>
                    </a:lnB>
                    <a:solidFill>
                      <a:srgbClr val="F1EEFA"/>
                    </a:solidFill>
                  </a:tcPr>
                </a:tc>
                <a:tc>
                  <a:txBody>
                    <a:bodyPr/>
                    <a:lstStyle/>
                    <a:p>
                      <a:pPr indent="0" marL="0">
                        <a:buNone/>
                      </a:pPr>
                      <a:r>
                        <a:rPr lang="en-US" sz="1300" dirty="0">
                          <a:solidFill>
                            <a:srgbClr val="1F1B3A"/>
                          </a:solidFill>
                        </a:rPr>
                        <a:t>silent and ruined</a:t>
                      </a:r>
                      <a:endParaRPr lang="en-US" sz="1300" dirty="0"/>
                    </a:p>
                  </a:txBody>
                  <a:tcPr marL="91440" marR="91440" marT="45720" marB="45720" anchor="ctr">
                    <a:lnL w="12700" cap="flat" cmpd="sng" algn="ctr">
                      <a:solidFill>
                        <a:srgbClr val="BDB6D9"/>
                      </a:solidFill>
                      <a:prstDash val="solid"/>
                      <a:round/>
                      <a:headEnd type="none" w="med" len="med"/>
                      <a:tailEnd type="none" w="med" len="med"/>
                    </a:lnL>
                    <a:lnR w="12700" cap="flat" cmpd="sng" algn="ctr">
                      <a:solidFill>
                        <a:srgbClr val="BDB6D9"/>
                      </a:solidFill>
                      <a:prstDash val="solid"/>
                      <a:round/>
                      <a:headEnd type="none" w="med" len="med"/>
                      <a:tailEnd type="none" w="med" len="med"/>
                    </a:lnR>
                    <a:lnT w="12700" cap="flat" cmpd="sng" algn="ctr">
                      <a:solidFill>
                        <a:srgbClr val="BDB6D9"/>
                      </a:solidFill>
                      <a:prstDash val="solid"/>
                      <a:round/>
                      <a:headEnd type="none" w="med" len="med"/>
                      <a:tailEnd type="none" w="med" len="med"/>
                    </a:lnT>
                    <a:lnB w="12700" cap="flat" cmpd="sng" algn="ctr">
                      <a:solidFill>
                        <a:srgbClr val="BDB6D9"/>
                      </a:solidFill>
                      <a:prstDash val="solid"/>
                      <a:round/>
                      <a:headEnd type="none" w="med" len="med"/>
                      <a:tailEnd type="none" w="med" len="med"/>
                    </a:lnB>
                    <a:solidFill>
                      <a:srgbClr val="F1EEFA"/>
                    </a:solidFill>
                  </a:tcPr>
                </a:tc>
              </a:tr>
              <a:tr h="411480">
                <a:tc>
                  <a:txBody>
                    <a:bodyPr/>
                    <a:lstStyle/>
                    <a:p>
                      <a:pPr indent="0" marL="0">
                        <a:buNone/>
                      </a:pPr>
                      <a:r>
                        <a:rPr lang="en-US" sz="1300" b="1" dirty="0">
                          <a:solidFill>
                            <a:srgbClr val="1F1B3A"/>
                          </a:solidFill>
                        </a:rPr>
                        <a:t>Beneath the frozen lake, something scratched.</a:t>
                      </a:r>
                      <a:endParaRPr lang="en-US" sz="1300" dirty="0"/>
                    </a:p>
                  </a:txBody>
                  <a:tcPr marL="91440" marR="91440" marT="45720" marB="45720" anchor="ctr">
                    <a:lnL w="12700" cap="flat" cmpd="sng" algn="ctr">
                      <a:solidFill>
                        <a:srgbClr val="BDB6D9"/>
                      </a:solidFill>
                      <a:prstDash val="solid"/>
                      <a:round/>
                      <a:headEnd type="none" w="med" len="med"/>
                      <a:tailEnd type="none" w="med" len="med"/>
                    </a:lnL>
                    <a:lnR w="12700" cap="flat" cmpd="sng" algn="ctr">
                      <a:solidFill>
                        <a:srgbClr val="BDB6D9"/>
                      </a:solidFill>
                      <a:prstDash val="solid"/>
                      <a:round/>
                      <a:headEnd type="none" w="med" len="med"/>
                      <a:tailEnd type="none" w="med" len="med"/>
                    </a:lnR>
                    <a:lnT w="12700" cap="flat" cmpd="sng" algn="ctr">
                      <a:solidFill>
                        <a:srgbClr val="BDB6D9"/>
                      </a:solidFill>
                      <a:prstDash val="solid"/>
                      <a:round/>
                      <a:headEnd type="none" w="med" len="med"/>
                      <a:tailEnd type="none" w="med" len="med"/>
                    </a:lnT>
                    <a:lnB w="12700" cap="flat" cmpd="sng" algn="ctr">
                      <a:solidFill>
                        <a:srgbClr val="BDB6D9"/>
                      </a:solidFill>
                      <a:prstDash val="solid"/>
                      <a:round/>
                      <a:headEnd type="none" w="med" len="med"/>
                      <a:tailEnd type="none" w="med" len="med"/>
                    </a:lnB>
                    <a:solidFill>
                      <a:srgbClr val="F1EEFA"/>
                    </a:solidFill>
                  </a:tcPr>
                </a:tc>
                <a:tc>
                  <a:txBody>
                    <a:bodyPr/>
                    <a:lstStyle/>
                    <a:p>
                      <a:pPr indent="0" marL="0">
                        <a:buNone/>
                      </a:pPr>
                      <a:r>
                        <a:rPr lang="en-US" sz="1300" dirty="0">
                          <a:solidFill>
                            <a:srgbClr val="1F1B3A"/>
                          </a:solidFill>
                        </a:rPr>
                        <a:t>Beneath the frozen lake,</a:t>
                      </a:r>
                      <a:endParaRPr lang="en-US" sz="1300" dirty="0"/>
                    </a:p>
                  </a:txBody>
                  <a:tcPr marL="91440" marR="91440" marT="45720" marB="45720" anchor="ctr">
                    <a:lnL w="12700" cap="flat" cmpd="sng" algn="ctr">
                      <a:solidFill>
                        <a:srgbClr val="BDB6D9"/>
                      </a:solidFill>
                      <a:prstDash val="solid"/>
                      <a:round/>
                      <a:headEnd type="none" w="med" len="med"/>
                      <a:tailEnd type="none" w="med" len="med"/>
                    </a:lnL>
                    <a:lnR w="12700" cap="flat" cmpd="sng" algn="ctr">
                      <a:solidFill>
                        <a:srgbClr val="BDB6D9"/>
                      </a:solidFill>
                      <a:prstDash val="solid"/>
                      <a:round/>
                      <a:headEnd type="none" w="med" len="med"/>
                      <a:tailEnd type="none" w="med" len="med"/>
                    </a:lnR>
                    <a:lnT w="12700" cap="flat" cmpd="sng" algn="ctr">
                      <a:solidFill>
                        <a:srgbClr val="BDB6D9"/>
                      </a:solidFill>
                      <a:prstDash val="solid"/>
                      <a:round/>
                      <a:headEnd type="none" w="med" len="med"/>
                      <a:tailEnd type="none" w="med" len="med"/>
                    </a:lnT>
                    <a:lnB w="12700" cap="flat" cmpd="sng" algn="ctr">
                      <a:solidFill>
                        <a:srgbClr val="BDB6D9"/>
                      </a:solidFill>
                      <a:prstDash val="solid"/>
                      <a:round/>
                      <a:headEnd type="none" w="med" len="med"/>
                      <a:tailEnd type="none" w="med" len="med"/>
                    </a:lnB>
                    <a:solidFill>
                      <a:srgbClr val="F1EEFA"/>
                    </a:solidFill>
                  </a:tcPr>
                </a:tc>
              </a:tr>
              <a:tr h="411480">
                <a:tc>
                  <a:txBody>
                    <a:bodyPr/>
                    <a:lstStyle/>
                    <a:p>
                      <a:pPr indent="0" marL="0">
                        <a:buNone/>
                      </a:pPr>
                      <a:r>
                        <a:rPr lang="en-US" sz="1300" b="1" dirty="0">
                          <a:solidFill>
                            <a:srgbClr val="1F1B3A"/>
                          </a:solidFill>
                        </a:rPr>
                        <a:t>Baba entered a strangely quiet room.</a:t>
                      </a:r>
                      <a:endParaRPr lang="en-US" sz="1300" dirty="0"/>
                    </a:p>
                  </a:txBody>
                  <a:tcPr marL="91440" marR="91440" marT="45720" marB="45720" anchor="ctr">
                    <a:lnL w="12700" cap="flat" cmpd="sng" algn="ctr">
                      <a:solidFill>
                        <a:srgbClr val="BDB6D9"/>
                      </a:solidFill>
                      <a:prstDash val="solid"/>
                      <a:round/>
                      <a:headEnd type="none" w="med" len="med"/>
                      <a:tailEnd type="none" w="med" len="med"/>
                    </a:lnL>
                    <a:lnR w="12700" cap="flat" cmpd="sng" algn="ctr">
                      <a:solidFill>
                        <a:srgbClr val="BDB6D9"/>
                      </a:solidFill>
                      <a:prstDash val="solid"/>
                      <a:round/>
                      <a:headEnd type="none" w="med" len="med"/>
                      <a:tailEnd type="none" w="med" len="med"/>
                    </a:lnR>
                    <a:lnT w="12700" cap="flat" cmpd="sng" algn="ctr">
                      <a:solidFill>
                        <a:srgbClr val="BDB6D9"/>
                      </a:solidFill>
                      <a:prstDash val="solid"/>
                      <a:round/>
                      <a:headEnd type="none" w="med" len="med"/>
                      <a:tailEnd type="none" w="med" len="med"/>
                    </a:lnT>
                    <a:lnB w="12700" cap="flat" cmpd="sng" algn="ctr">
                      <a:solidFill>
                        <a:srgbClr val="BDB6D9"/>
                      </a:solidFill>
                      <a:prstDash val="solid"/>
                      <a:round/>
                      <a:headEnd type="none" w="med" len="med"/>
                      <a:tailEnd type="none" w="med" len="med"/>
                    </a:lnB>
                    <a:solidFill>
                      <a:srgbClr val="F1EEFA"/>
                    </a:solidFill>
                  </a:tcPr>
                </a:tc>
                <a:tc>
                  <a:txBody>
                    <a:bodyPr/>
                    <a:lstStyle/>
                    <a:p>
                      <a:pPr indent="0" marL="0">
                        <a:buNone/>
                      </a:pPr>
                      <a:r>
                        <a:rPr lang="en-US" sz="1300" dirty="0">
                          <a:solidFill>
                            <a:srgbClr val="1F1B3A"/>
                          </a:solidFill>
                        </a:rPr>
                        <a:t>strangely</a:t>
                      </a:r>
                      <a:endParaRPr lang="en-US" sz="1300" dirty="0"/>
                    </a:p>
                  </a:txBody>
                  <a:tcPr marL="91440" marR="91440" marT="45720" marB="45720" anchor="ctr">
                    <a:lnL w="12700" cap="flat" cmpd="sng" algn="ctr">
                      <a:solidFill>
                        <a:srgbClr val="BDB6D9"/>
                      </a:solidFill>
                      <a:prstDash val="solid"/>
                      <a:round/>
                      <a:headEnd type="none" w="med" len="med"/>
                      <a:tailEnd type="none" w="med" len="med"/>
                    </a:lnL>
                    <a:lnR w="12700" cap="flat" cmpd="sng" algn="ctr">
                      <a:solidFill>
                        <a:srgbClr val="BDB6D9"/>
                      </a:solidFill>
                      <a:prstDash val="solid"/>
                      <a:round/>
                      <a:headEnd type="none" w="med" len="med"/>
                      <a:tailEnd type="none" w="med" len="med"/>
                    </a:lnR>
                    <a:lnT w="12700" cap="flat" cmpd="sng" algn="ctr">
                      <a:solidFill>
                        <a:srgbClr val="BDB6D9"/>
                      </a:solidFill>
                      <a:prstDash val="solid"/>
                      <a:round/>
                      <a:headEnd type="none" w="med" len="med"/>
                      <a:tailEnd type="none" w="med" len="med"/>
                    </a:lnT>
                    <a:lnB w="12700" cap="flat" cmpd="sng" algn="ctr">
                      <a:solidFill>
                        <a:srgbClr val="BDB6D9"/>
                      </a:solidFill>
                      <a:prstDash val="solid"/>
                      <a:round/>
                      <a:headEnd type="none" w="med" len="med"/>
                      <a:tailEnd type="none" w="med" len="med"/>
                    </a:lnB>
                    <a:solidFill>
                      <a:srgbClr val="F1EEFA"/>
                    </a:solidFill>
                  </a:tcPr>
                </a:tc>
              </a:tr>
            </a:tbl>
          </a:graphicData>
        </a:graphic>
      </p:graphicFrame>
      <p:sp>
        <p:nvSpPr>
          <p:cNvPr id="25" name="Slide Number Placeholder 0"/>
          <p:cNvSpPr>
            <a:spLocks noGrp="1"/>
          </p:cNvSpPr>
          <p:nvPr>
            <p:ph type="sldNum" sz="quarter" idx="4294967295"/>
          </p:nvPr>
        </p:nvSpPr>
        <p:spPr>
          <a:xfrm>
            <a:off x="8229600" y="4736592"/>
            <a:ext cx="36576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6784"/>
                </a:solidFill>
              </a:defRPr>
            </a:lvl1pPr>
          </a:lstStyle>
          <a:p>
            <a:pPr algn="l"/>
            <a:fld id="{F7021451-1387-4CA6-816F-3879F97B5CBC}" type="slidenum">
              <a:rPr b="0"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8046720" cy="731520"/>
          </a:xfrm>
          <a:prstGeom prst="rect">
            <a:avLst/>
          </a:prstGeom>
          <a:noFill/>
          <a:ln/>
        </p:spPr>
        <p:txBody>
          <a:bodyPr wrap="square" lIns="0" tIns="0" rIns="0" bIns="0" rtlCol="0" anchor="ctr"/>
          <a:lstStyle/>
          <a:p>
            <a:pPr algn="l" indent="0" marL="0">
              <a:buNone/>
            </a:pPr>
            <a:r>
              <a:rPr lang="en-US" sz="3000" b="1" dirty="0">
                <a:solidFill>
                  <a:schemeClr val="tx1"/>
                </a:solidFill>
              </a:rPr>
              <a:t>Answers: name the grammar</a:t>
            </a:r>
            <a:endParaRPr lang="en-US" sz="3000" dirty="0"/>
          </a:p>
        </p:txBody>
      </p:sp>
      <p:sp>
        <p:nvSpPr>
          <p:cNvPr id="4" name="card"/>
          <p:cNvSpPr/>
          <p:nvPr/>
        </p:nvSpPr>
        <p:spPr>
          <a:xfrm>
            <a:off x="548640" y="1097280"/>
            <a:ext cx="8046720" cy="800100"/>
          </a:xfrm>
          <a:prstGeom prst="roundRect">
            <a:avLst>
              <a:gd name="adj" fmla="val 13714"/>
            </a:avLst>
          </a:prstGeom>
          <a:solidFill>
            <a:schemeClr val="bg2"/>
          </a:solidFill>
          <a:ln w="12700">
            <a:solidFill>
              <a:schemeClr val="bg2"/>
            </a:solidFill>
            <a:prstDash val="solid"/>
          </a:ln>
        </p:spPr>
      </p:sp>
      <p:sp>
        <p:nvSpPr>
          <p:cNvPr id="5" name="number"/>
          <p:cNvSpPr/>
          <p:nvPr/>
        </p:nvSpPr>
        <p:spPr>
          <a:xfrm>
            <a:off x="685800" y="1268730"/>
            <a:ext cx="457200" cy="457200"/>
          </a:xfrm>
          <a:prstGeom prst="ellipse">
            <a:avLst/>
          </a:prstGeom>
          <a:solidFill>
            <a:schemeClr val="accent4"/>
          </a:solidFill>
          <a:ln w="12700">
            <a:solidFill>
              <a:schemeClr val="bg1"/>
            </a:solidFill>
            <a:prstDash val="solid"/>
          </a:ln>
        </p:spPr>
      </p:sp>
      <p:sp>
        <p:nvSpPr>
          <p:cNvPr id="6" name="Text 3"/>
          <p:cNvSpPr txBox="1"/>
          <p:nvPr/>
        </p:nvSpPr>
        <p:spPr>
          <a:xfrm>
            <a:off x="685800" y="1268730"/>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rPr>
              <a:t>1</a:t>
            </a:r>
            <a:endParaRPr lang="en-US" sz="1600" dirty="0"/>
          </a:p>
        </p:txBody>
      </p:sp>
      <p:sp>
        <p:nvSpPr>
          <p:cNvPr id="7" name="Text 4"/>
          <p:cNvSpPr txBox="1"/>
          <p:nvPr/>
        </p:nvSpPr>
        <p:spPr>
          <a:xfrm>
            <a:off x="1371600" y="1097280"/>
            <a:ext cx="7040880" cy="800100"/>
          </a:xfrm>
          <a:prstGeom prst="rect">
            <a:avLst/>
          </a:prstGeom>
          <a:noFill/>
          <a:ln/>
        </p:spPr>
        <p:txBody>
          <a:bodyPr wrap="square" lIns="0" tIns="0" rIns="0" bIns="0" rtlCol="0" anchor="ctr"/>
          <a:lstStyle/>
          <a:p>
            <a:pPr indent="0" marL="0">
              <a:buNone/>
            </a:pPr>
            <a:r>
              <a:rPr lang="en-US" sz="1300" b="1" dirty="0">
                <a:solidFill>
                  <a:schemeClr val="tx1"/>
                </a:solidFill>
              </a:rPr>
              <a:t>A fronted adverbial.</a:t>
            </a:r>
            <a:pPr indent="0" marL="0">
              <a:buNone/>
            </a:pPr>
            <a:r>
              <a:rPr lang="en-US" sz="1300" dirty="0">
                <a:solidFill>
                  <a:schemeClr val="tx1"/>
                </a:solidFill>
              </a:rPr>
              <a:t> 'Slowly' tells us how he crossed. A comma follows it.</a:t>
            </a:r>
            <a:endParaRPr lang="en-US" sz="1600" dirty="0"/>
          </a:p>
        </p:txBody>
      </p:sp>
      <p:sp>
        <p:nvSpPr>
          <p:cNvPr id="8" name="card"/>
          <p:cNvSpPr/>
          <p:nvPr/>
        </p:nvSpPr>
        <p:spPr>
          <a:xfrm>
            <a:off x="548640" y="1988820"/>
            <a:ext cx="8046720" cy="800100"/>
          </a:xfrm>
          <a:prstGeom prst="roundRect">
            <a:avLst>
              <a:gd name="adj" fmla="val 13714"/>
            </a:avLst>
          </a:prstGeom>
          <a:solidFill>
            <a:schemeClr val="bg2"/>
          </a:solidFill>
          <a:ln w="12700">
            <a:solidFill>
              <a:schemeClr val="bg2"/>
            </a:solidFill>
            <a:prstDash val="solid"/>
          </a:ln>
        </p:spPr>
      </p:sp>
      <p:sp>
        <p:nvSpPr>
          <p:cNvPr id="9" name="number"/>
          <p:cNvSpPr/>
          <p:nvPr/>
        </p:nvSpPr>
        <p:spPr>
          <a:xfrm>
            <a:off x="685800" y="2160270"/>
            <a:ext cx="457200" cy="457200"/>
          </a:xfrm>
          <a:prstGeom prst="ellipse">
            <a:avLst/>
          </a:prstGeom>
          <a:solidFill>
            <a:schemeClr val="accent2"/>
          </a:solidFill>
          <a:ln w="12700">
            <a:solidFill>
              <a:schemeClr val="bg1"/>
            </a:solidFill>
            <a:prstDash val="solid"/>
          </a:ln>
        </p:spPr>
      </p:sp>
      <p:sp>
        <p:nvSpPr>
          <p:cNvPr id="10" name="Text 7"/>
          <p:cNvSpPr txBox="1"/>
          <p:nvPr/>
        </p:nvSpPr>
        <p:spPr>
          <a:xfrm>
            <a:off x="685800" y="2160270"/>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rPr>
              <a:t>2</a:t>
            </a:r>
            <a:endParaRPr lang="en-US" sz="1600" dirty="0"/>
          </a:p>
        </p:txBody>
      </p:sp>
      <p:sp>
        <p:nvSpPr>
          <p:cNvPr id="11" name="Text 8"/>
          <p:cNvSpPr txBox="1"/>
          <p:nvPr/>
        </p:nvSpPr>
        <p:spPr>
          <a:xfrm>
            <a:off x="1371600" y="1988820"/>
            <a:ext cx="7040880" cy="800100"/>
          </a:xfrm>
          <a:prstGeom prst="rect">
            <a:avLst/>
          </a:prstGeom>
          <a:noFill/>
          <a:ln/>
        </p:spPr>
        <p:txBody>
          <a:bodyPr wrap="square" lIns="0" tIns="0" rIns="0" bIns="0" rtlCol="0" anchor="ctr"/>
          <a:lstStyle/>
          <a:p>
            <a:pPr indent="0" marL="0">
              <a:buNone/>
            </a:pPr>
            <a:r>
              <a:rPr lang="en-US" sz="1300" b="1" dirty="0">
                <a:solidFill>
                  <a:schemeClr val="tx1"/>
                </a:solidFill>
              </a:rPr>
              <a:t>An adjective phrase after the noun.</a:t>
            </a:r>
            <a:pPr indent="0" marL="0">
              <a:buNone/>
            </a:pPr>
            <a:r>
              <a:rPr lang="en-US" sz="1300" dirty="0">
                <a:solidFill>
                  <a:schemeClr val="tx1"/>
                </a:solidFill>
              </a:rPr>
              <a:t> It adds detail about 'tower' and sits between commas.</a:t>
            </a:r>
            <a:endParaRPr lang="en-US" sz="1600" dirty="0"/>
          </a:p>
        </p:txBody>
      </p:sp>
      <p:sp>
        <p:nvSpPr>
          <p:cNvPr id="12" name="card"/>
          <p:cNvSpPr/>
          <p:nvPr/>
        </p:nvSpPr>
        <p:spPr>
          <a:xfrm>
            <a:off x="548640" y="2880360"/>
            <a:ext cx="8046720" cy="800100"/>
          </a:xfrm>
          <a:prstGeom prst="roundRect">
            <a:avLst>
              <a:gd name="adj" fmla="val 13714"/>
            </a:avLst>
          </a:prstGeom>
          <a:solidFill>
            <a:schemeClr val="bg2"/>
          </a:solidFill>
          <a:ln w="12700">
            <a:solidFill>
              <a:schemeClr val="bg2"/>
            </a:solidFill>
            <a:prstDash val="solid"/>
          </a:ln>
        </p:spPr>
      </p:sp>
      <p:sp>
        <p:nvSpPr>
          <p:cNvPr id="13" name="number"/>
          <p:cNvSpPr/>
          <p:nvPr/>
        </p:nvSpPr>
        <p:spPr>
          <a:xfrm>
            <a:off x="685800" y="3051810"/>
            <a:ext cx="457200" cy="457200"/>
          </a:xfrm>
          <a:prstGeom prst="ellipse">
            <a:avLst/>
          </a:prstGeom>
          <a:solidFill>
            <a:schemeClr val="accent3"/>
          </a:solidFill>
          <a:ln w="12700">
            <a:solidFill>
              <a:schemeClr val="bg1"/>
            </a:solidFill>
            <a:prstDash val="solid"/>
          </a:ln>
        </p:spPr>
      </p:sp>
      <p:sp>
        <p:nvSpPr>
          <p:cNvPr id="14" name="Text 11"/>
          <p:cNvSpPr txBox="1"/>
          <p:nvPr/>
        </p:nvSpPr>
        <p:spPr>
          <a:xfrm>
            <a:off x="685800" y="3051810"/>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rPr>
              <a:t>3</a:t>
            </a:r>
            <a:endParaRPr lang="en-US" sz="1600" dirty="0"/>
          </a:p>
        </p:txBody>
      </p:sp>
      <p:sp>
        <p:nvSpPr>
          <p:cNvPr id="15" name="Text 12"/>
          <p:cNvSpPr txBox="1"/>
          <p:nvPr/>
        </p:nvSpPr>
        <p:spPr>
          <a:xfrm>
            <a:off x="1371600" y="2880360"/>
            <a:ext cx="7040880" cy="800100"/>
          </a:xfrm>
          <a:prstGeom prst="rect">
            <a:avLst/>
          </a:prstGeom>
          <a:noFill/>
          <a:ln/>
        </p:spPr>
        <p:txBody>
          <a:bodyPr wrap="square" lIns="0" tIns="0" rIns="0" bIns="0" rtlCol="0" anchor="ctr"/>
          <a:lstStyle/>
          <a:p>
            <a:pPr indent="0" marL="0">
              <a:buNone/>
            </a:pPr>
            <a:r>
              <a:rPr lang="en-US" sz="1300" b="1" dirty="0">
                <a:solidFill>
                  <a:schemeClr val="tx1"/>
                </a:solidFill>
              </a:rPr>
              <a:t>A prepositional phrase working as a fronted adverbial of place.</a:t>
            </a:r>
            <a:pPr indent="0" marL="0">
              <a:buNone/>
            </a:pPr>
            <a:r>
              <a:rPr lang="en-US" sz="1300" dirty="0">
                <a:solidFill>
                  <a:schemeClr val="tx1"/>
                </a:solidFill>
              </a:rPr>
              <a:t> It starts with the preposition 'beneath'.</a:t>
            </a:r>
            <a:endParaRPr lang="en-US" sz="1600" dirty="0"/>
          </a:p>
        </p:txBody>
      </p:sp>
      <p:sp>
        <p:nvSpPr>
          <p:cNvPr id="16" name="card"/>
          <p:cNvSpPr/>
          <p:nvPr/>
        </p:nvSpPr>
        <p:spPr>
          <a:xfrm>
            <a:off x="548640" y="3771900"/>
            <a:ext cx="8046720" cy="800100"/>
          </a:xfrm>
          <a:prstGeom prst="roundRect">
            <a:avLst>
              <a:gd name="adj" fmla="val 13714"/>
            </a:avLst>
          </a:prstGeom>
          <a:solidFill>
            <a:schemeClr val="bg2"/>
          </a:solidFill>
          <a:ln w="12700">
            <a:solidFill>
              <a:schemeClr val="bg2"/>
            </a:solidFill>
            <a:prstDash val="solid"/>
          </a:ln>
        </p:spPr>
      </p:sp>
      <p:sp>
        <p:nvSpPr>
          <p:cNvPr id="17" name="number"/>
          <p:cNvSpPr/>
          <p:nvPr/>
        </p:nvSpPr>
        <p:spPr>
          <a:xfrm>
            <a:off x="685800" y="3943350"/>
            <a:ext cx="457200" cy="457200"/>
          </a:xfrm>
          <a:prstGeom prst="ellipse">
            <a:avLst/>
          </a:prstGeom>
          <a:solidFill>
            <a:schemeClr val="accent5"/>
          </a:solidFill>
          <a:ln w="12700">
            <a:solidFill>
              <a:schemeClr val="bg1"/>
            </a:solidFill>
            <a:prstDash val="solid"/>
          </a:ln>
        </p:spPr>
      </p:sp>
      <p:sp>
        <p:nvSpPr>
          <p:cNvPr id="18" name="Text 15"/>
          <p:cNvSpPr txBox="1"/>
          <p:nvPr/>
        </p:nvSpPr>
        <p:spPr>
          <a:xfrm>
            <a:off x="685800" y="3943350"/>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rPr>
              <a:t>4</a:t>
            </a:r>
            <a:endParaRPr lang="en-US" sz="1600" dirty="0"/>
          </a:p>
        </p:txBody>
      </p:sp>
      <p:sp>
        <p:nvSpPr>
          <p:cNvPr id="19" name="Text 16"/>
          <p:cNvSpPr txBox="1"/>
          <p:nvPr/>
        </p:nvSpPr>
        <p:spPr>
          <a:xfrm>
            <a:off x="1371600" y="3771900"/>
            <a:ext cx="7040880" cy="800100"/>
          </a:xfrm>
          <a:prstGeom prst="rect">
            <a:avLst/>
          </a:prstGeom>
          <a:noFill/>
          <a:ln/>
        </p:spPr>
        <p:txBody>
          <a:bodyPr wrap="square" lIns="0" tIns="0" rIns="0" bIns="0" rtlCol="0" anchor="ctr"/>
          <a:lstStyle/>
          <a:p>
            <a:pPr indent="0" marL="0">
              <a:buNone/>
            </a:pPr>
            <a:r>
              <a:rPr lang="en-US" sz="1300" b="1" dirty="0">
                <a:solidFill>
                  <a:schemeClr val="tx1"/>
                </a:solidFill>
              </a:rPr>
              <a:t>An adverb describing an adjective.</a:t>
            </a:r>
            <a:pPr indent="0" marL="0">
              <a:buNone/>
            </a:pPr>
            <a:r>
              <a:rPr lang="en-US" sz="1300" dirty="0">
                <a:solidFill>
                  <a:schemeClr val="tx1"/>
                </a:solidFill>
              </a:rPr>
              <a:t> 'Strangely' describes 'quiet'.</a:t>
            </a:r>
            <a:endParaRPr lang="en-US" sz="1600" dirty="0"/>
          </a:p>
        </p:txBody>
      </p:sp>
      <p:sp>
        <p:nvSpPr>
          <p:cNvPr id="25" name="Slide Number Placeholder 0"/>
          <p:cNvSpPr>
            <a:spLocks noGrp="1"/>
          </p:cNvSpPr>
          <p:nvPr>
            <p:ph type="sldNum" sz="quarter" idx="4294967295"/>
          </p:nvPr>
        </p:nvSpPr>
        <p:spPr>
          <a:xfrm>
            <a:off x="8229600" y="4736592"/>
            <a:ext cx="36576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6784"/>
                </a:solidFill>
              </a:defRPr>
            </a:lvl1pPr>
          </a:lstStyle>
          <a:p>
            <a:pPr algn="l"/>
            <a:fld id="{F7021451-1387-4CA6-816F-3879F97B5CBC}" type="slidenum">
              <a:rPr b="0"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8046720" cy="731520"/>
          </a:xfrm>
          <a:prstGeom prst="rect">
            <a:avLst/>
          </a:prstGeom>
          <a:noFill/>
          <a:ln/>
        </p:spPr>
        <p:txBody>
          <a:bodyPr wrap="square" lIns="0" tIns="0" rIns="0" bIns="0" rtlCol="0" anchor="ctr"/>
          <a:lstStyle/>
          <a:p>
            <a:pPr algn="l" indent="0" marL="0">
              <a:buNone/>
            </a:pPr>
            <a:r>
              <a:rPr lang="en-US" sz="3000" b="1" dirty="0">
                <a:solidFill>
                  <a:schemeClr val="tx1"/>
                </a:solidFill>
              </a:rPr>
              <a:t>Task 2: rewrite the flat paragraph</a:t>
            </a:r>
            <a:endParaRPr lang="en-US" sz="3000" dirty="0"/>
          </a:p>
        </p:txBody>
      </p:sp>
      <p:sp>
        <p:nvSpPr>
          <p:cNvPr id="4" name="card"/>
          <p:cNvSpPr/>
          <p:nvPr/>
        </p:nvSpPr>
        <p:spPr>
          <a:xfrm>
            <a:off x="548640" y="1097280"/>
            <a:ext cx="8046720" cy="1371600"/>
          </a:xfrm>
          <a:prstGeom prst="roundRect">
            <a:avLst>
              <a:gd name="adj" fmla="val 8000"/>
            </a:avLst>
          </a:prstGeom>
          <a:solidFill>
            <a:schemeClr val="accent3"/>
          </a:solidFill>
          <a:ln w="12700">
            <a:solidFill>
              <a:schemeClr val="accent3"/>
            </a:solidFill>
            <a:prstDash val="solid"/>
          </a:ln>
        </p:spPr>
      </p:sp>
      <p:sp>
        <p:nvSpPr>
          <p:cNvPr id="5" name="Text 2"/>
          <p:cNvSpPr txBox="1"/>
          <p:nvPr/>
        </p:nvSpPr>
        <p:spPr>
          <a:xfrm>
            <a:off x="777240" y="1097280"/>
            <a:ext cx="7589520" cy="1371600"/>
          </a:xfrm>
          <a:prstGeom prst="rect">
            <a:avLst/>
          </a:prstGeom>
          <a:noFill/>
          <a:ln/>
        </p:spPr>
        <p:txBody>
          <a:bodyPr wrap="square" lIns="0" tIns="0" rIns="0" bIns="0" rtlCol="0" anchor="ctr"/>
          <a:lstStyle/>
          <a:p>
            <a:pPr indent="0" marL="0">
              <a:buNone/>
            </a:pPr>
            <a:r>
              <a:rPr lang="en-US" sz="1700" dirty="0">
                <a:solidFill>
                  <a:schemeClr val="bg1"/>
                </a:solidFill>
              </a:rPr>
              <a:t>There was a forest. It had trees. A path went through it. Ki walked along it. He saw a house. The house was old.</a:t>
            </a:r>
            <a:endParaRPr lang="en-US" sz="1700" dirty="0"/>
          </a:p>
        </p:txBody>
      </p:sp>
      <p:sp>
        <p:nvSpPr>
          <p:cNvPr id="6" name="card"/>
          <p:cNvSpPr/>
          <p:nvPr/>
        </p:nvSpPr>
        <p:spPr>
          <a:xfrm>
            <a:off x="548640" y="2606040"/>
            <a:ext cx="8046720" cy="1965960"/>
          </a:xfrm>
          <a:prstGeom prst="roundRect">
            <a:avLst>
              <a:gd name="adj" fmla="val 5581"/>
            </a:avLst>
          </a:prstGeom>
          <a:solidFill>
            <a:schemeClr val="accent1"/>
          </a:solidFill>
          <a:ln w="12700">
            <a:solidFill>
              <a:schemeClr val="accent1"/>
            </a:solidFill>
            <a:prstDash val="solid"/>
          </a:ln>
        </p:spPr>
      </p:sp>
      <p:sp>
        <p:nvSpPr>
          <p:cNvPr id="7" name="Text 4"/>
          <p:cNvSpPr txBox="1"/>
          <p:nvPr/>
        </p:nvSpPr>
        <p:spPr>
          <a:xfrm>
            <a:off x="777240" y="2651760"/>
            <a:ext cx="7589520" cy="1874520"/>
          </a:xfrm>
          <a:prstGeom prst="rect">
            <a:avLst/>
          </a:prstGeom>
          <a:noFill/>
          <a:ln/>
        </p:spPr>
        <p:txBody>
          <a:bodyPr wrap="square" lIns="0" tIns="0" rIns="0" bIns="0" rtlCol="0" anchor="ctr"/>
          <a:lstStyle/>
          <a:p>
            <a:pPr indent="0" marL="0">
              <a:spcAft>
                <a:spcPts val="300"/>
              </a:spcAft>
              <a:buNone/>
            </a:pPr>
            <a:r>
              <a:rPr lang="en-US" sz="1500" dirty="0">
                <a:solidFill>
                  <a:schemeClr val="tx1"/>
                </a:solidFill>
              </a:rPr>
              <a:t>Rewrite it as </a:t>
            </a:r>
            <a:pPr indent="0" marL="0">
              <a:spcAft>
                <a:spcPts val="300"/>
              </a:spcAft>
              <a:buNone/>
            </a:pPr>
            <a:r>
              <a:rPr lang="en-US" sz="1500" b="1" dirty="0">
                <a:solidFill>
                  <a:schemeClr val="tx1"/>
                </a:solidFill>
                <a:highlight>
                  <a:srgbClr val="FFD27F"/>
                </a:highlight>
              </a:rPr>
              <a:t>four sentences or fewer</a:t>
            </a:r>
            <a:pPr indent="0" marL="0">
              <a:spcAft>
                <a:spcPts val="300"/>
              </a:spcAft>
              <a:buNone/>
            </a:pPr>
            <a:r>
              <a:rPr lang="en-US" sz="1500" dirty="0">
                <a:solidFill>
                  <a:schemeClr val="tx1"/>
                </a:solidFill>
              </a:rPr>
              <a:t> with a mysterious mood. Include:</a:t>
            </a:r>
            <a:endParaRPr lang="en-US" sz="1600" dirty="0"/>
          </a:p>
          <a:p>
            <a:pPr indent="0" marL="0">
              <a:spcAft>
                <a:spcPts val="300"/>
              </a:spcAft>
              <a:buNone/>
            </a:pPr>
            <a:r>
              <a:rPr lang="en-US" sz="1500" b="1" dirty="0">
                <a:solidFill>
                  <a:schemeClr val="tx1"/>
                </a:solidFill>
                <a:highlight>
                  <a:srgbClr val="FFD27F"/>
                </a:highlight>
              </a:rPr>
              <a:t>two fronted adverbials</a:t>
            </a:r>
            <a:pPr indent="0" marL="0">
              <a:spcAft>
                <a:spcPts val="300"/>
              </a:spcAft>
              <a:buNone/>
            </a:pPr>
            <a:r>
              <a:rPr lang="en-US" sz="1500" dirty="0">
                <a:solidFill>
                  <a:schemeClr val="tx1"/>
                </a:solidFill>
              </a:rPr>
              <a:t> (with commas)</a:t>
            </a:r>
            <a:endParaRPr lang="en-US" sz="1600" dirty="0"/>
          </a:p>
          <a:p>
            <a:pPr indent="0" marL="0">
              <a:spcAft>
                <a:spcPts val="300"/>
              </a:spcAft>
              <a:buNone/>
            </a:pPr>
            <a:r>
              <a:rPr lang="en-US" sz="1500" b="1" dirty="0">
                <a:solidFill>
                  <a:schemeClr val="tx1"/>
                </a:solidFill>
                <a:highlight>
                  <a:srgbClr val="FFD27F"/>
                </a:highlight>
              </a:rPr>
              <a:t>one expanded noun phrase</a:t>
            </a:r>
            <a:endParaRPr lang="en-US" sz="1600" dirty="0"/>
          </a:p>
          <a:p>
            <a:pPr indent="0" marL="0">
              <a:spcAft>
                <a:spcPts val="300"/>
              </a:spcAft>
              <a:buNone/>
            </a:pPr>
            <a:r>
              <a:rPr lang="en-US" sz="1500" b="1" dirty="0">
                <a:solidFill>
                  <a:schemeClr val="tx1"/>
                </a:solidFill>
                <a:highlight>
                  <a:srgbClr val="FFD27F"/>
                </a:highlight>
              </a:rPr>
              <a:t>three prepositional phrases</a:t>
            </a:r>
            <a:endParaRPr lang="en-US" sz="1600" dirty="0"/>
          </a:p>
          <a:p>
            <a:pPr indent="0" marL="0">
              <a:spcAft>
                <a:spcPts val="300"/>
              </a:spcAft>
              <a:buNone/>
            </a:pPr>
            <a:r>
              <a:rPr lang="en-US" sz="1500" b="1" dirty="0">
                <a:solidFill>
                  <a:schemeClr val="tx1"/>
                </a:solidFill>
                <a:highlight>
                  <a:srgbClr val="FFD27F"/>
                </a:highlight>
              </a:rPr>
              <a:t>one adverb</a:t>
            </a:r>
            <a:pPr indent="0" marL="0">
              <a:spcAft>
                <a:spcPts val="300"/>
              </a:spcAft>
              <a:buNone/>
            </a:pPr>
            <a:r>
              <a:rPr lang="en-US" sz="1500" dirty="0">
                <a:solidFill>
                  <a:schemeClr val="tx1"/>
                </a:solidFill>
              </a:rPr>
              <a:t> describing a verb and </a:t>
            </a:r>
            <a:pPr indent="0" marL="0">
              <a:spcAft>
                <a:spcPts val="300"/>
              </a:spcAft>
              <a:buNone/>
            </a:pPr>
            <a:r>
              <a:rPr lang="en-US" sz="1500" b="1" dirty="0">
                <a:solidFill>
                  <a:schemeClr val="tx1"/>
                </a:solidFill>
                <a:highlight>
                  <a:srgbClr val="FFD27F"/>
                </a:highlight>
              </a:rPr>
              <a:t>one adverb</a:t>
            </a:r>
            <a:pPr indent="0" marL="0">
              <a:spcAft>
                <a:spcPts val="300"/>
              </a:spcAft>
              <a:buNone/>
            </a:pPr>
            <a:r>
              <a:rPr lang="en-US" sz="1500" dirty="0">
                <a:solidFill>
                  <a:schemeClr val="tx1"/>
                </a:solidFill>
              </a:rPr>
              <a:t> describing an adjective</a:t>
            </a:r>
            <a:endParaRPr lang="en-US" sz="1600" dirty="0"/>
          </a:p>
        </p:txBody>
      </p:sp>
      <p:sp>
        <p:nvSpPr>
          <p:cNvPr id="25" name="Slide Number Placeholder 0"/>
          <p:cNvSpPr>
            <a:spLocks noGrp="1"/>
          </p:cNvSpPr>
          <p:nvPr>
            <p:ph type="sldNum" sz="quarter" idx="4294967295"/>
          </p:nvPr>
        </p:nvSpPr>
        <p:spPr>
          <a:xfrm>
            <a:off x="8229600" y="4736592"/>
            <a:ext cx="36576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6784"/>
                </a:solidFill>
              </a:defRPr>
            </a:lvl1pPr>
          </a:lstStyle>
          <a:p>
            <a:pPr algn="l"/>
            <a:fld id="{F7021451-1387-4CA6-816F-3879F97B5CBC}" type="slidenum">
              <a:rPr b="0"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8046720" cy="731520"/>
          </a:xfrm>
          <a:prstGeom prst="rect">
            <a:avLst/>
          </a:prstGeom>
          <a:noFill/>
          <a:ln/>
        </p:spPr>
        <p:txBody>
          <a:bodyPr wrap="square" lIns="0" tIns="0" rIns="0" bIns="0" rtlCol="0" anchor="ctr"/>
          <a:lstStyle/>
          <a:p>
            <a:pPr algn="l" indent="0" marL="0">
              <a:buNone/>
            </a:pPr>
            <a:r>
              <a:rPr lang="en-US" sz="3000" b="1" dirty="0">
                <a:solidFill>
                  <a:schemeClr val="tx1"/>
                </a:solidFill>
              </a:rPr>
              <a:t>Model answer: Task 2</a:t>
            </a:r>
            <a:endParaRPr lang="en-US" sz="3000" dirty="0"/>
          </a:p>
        </p:txBody>
      </p:sp>
      <p:sp>
        <p:nvSpPr>
          <p:cNvPr id="4" name="card"/>
          <p:cNvSpPr/>
          <p:nvPr/>
        </p:nvSpPr>
        <p:spPr>
          <a:xfrm>
            <a:off x="548640" y="1097280"/>
            <a:ext cx="8046720" cy="2331720"/>
          </a:xfrm>
          <a:prstGeom prst="roundRect">
            <a:avLst>
              <a:gd name="adj" fmla="val 4706"/>
            </a:avLst>
          </a:prstGeom>
          <a:solidFill>
            <a:schemeClr val="bg2"/>
          </a:solidFill>
          <a:ln w="12700">
            <a:solidFill>
              <a:schemeClr val="bg2"/>
            </a:solidFill>
            <a:prstDash val="solid"/>
          </a:ln>
        </p:spPr>
      </p:sp>
      <p:sp>
        <p:nvSpPr>
          <p:cNvPr id="5" name="Text 2"/>
          <p:cNvSpPr txBox="1"/>
          <p:nvPr/>
        </p:nvSpPr>
        <p:spPr>
          <a:xfrm>
            <a:off x="777240" y="1143000"/>
            <a:ext cx="7589520" cy="2240280"/>
          </a:xfrm>
          <a:prstGeom prst="rect">
            <a:avLst/>
          </a:prstGeom>
          <a:noFill/>
          <a:ln/>
        </p:spPr>
        <p:txBody>
          <a:bodyPr wrap="square" lIns="0" tIns="0" rIns="0" bIns="0" rtlCol="0" anchor="ctr"/>
          <a:lstStyle/>
          <a:p>
            <a:pPr indent="0" marL="0">
              <a:buNone/>
            </a:pPr>
            <a:r>
              <a:rPr lang="en-US" sz="1500" b="1" dirty="0">
                <a:solidFill>
                  <a:schemeClr val="tx1"/>
                </a:solidFill>
                <a:highlight>
                  <a:srgbClr val="FFD27F"/>
                </a:highlight>
              </a:rPr>
              <a:t>Beyond the long grass</a:t>
            </a:r>
            <a:pPr indent="0" marL="0">
              <a:buNone/>
            </a:pPr>
            <a:r>
              <a:rPr lang="en-US" sz="1500" dirty="0">
                <a:solidFill>
                  <a:schemeClr val="tx1"/>
                </a:solidFill>
              </a:rPr>
              <a:t>, a white city rose </a:t>
            </a:r>
            <a:pPr indent="0" marL="0">
              <a:buNone/>
            </a:pPr>
            <a:r>
              <a:rPr lang="en-US" sz="1500" b="1" dirty="0">
                <a:solidFill>
                  <a:schemeClr val="tx1"/>
                </a:solidFill>
                <a:highlight>
                  <a:srgbClr val="FFD27F"/>
                </a:highlight>
              </a:rPr>
              <a:t>from the desert</a:t>
            </a:r>
            <a:pPr indent="0" marL="0">
              <a:buNone/>
            </a:pPr>
            <a:r>
              <a:rPr lang="en-US" sz="1500" dirty="0">
                <a:solidFill>
                  <a:schemeClr val="tx1"/>
                </a:solidFill>
              </a:rPr>
              <a:t>. </a:t>
            </a:r>
            <a:pPr indent="0" marL="0">
              <a:buNone/>
            </a:pPr>
            <a:r>
              <a:rPr lang="en-US" sz="1500" b="1" dirty="0">
                <a:solidFill>
                  <a:schemeClr val="tx1"/>
                </a:solidFill>
                <a:highlight>
                  <a:srgbClr val="FFD27F"/>
                </a:highlight>
              </a:rPr>
              <a:t>Between the pale walls</a:t>
            </a:r>
            <a:pPr indent="0" marL="0">
              <a:buNone/>
            </a:pPr>
            <a:r>
              <a:rPr lang="en-US" sz="1500" dirty="0">
                <a:solidFill>
                  <a:schemeClr val="tx1"/>
                </a:solidFill>
              </a:rPr>
              <a:t>, a canal wound </a:t>
            </a:r>
            <a:pPr indent="0" marL="0">
              <a:buNone/>
            </a:pPr>
            <a:r>
              <a:rPr lang="en-US" sz="1500" b="1" dirty="0">
                <a:solidFill>
                  <a:schemeClr val="tx1"/>
                </a:solidFill>
                <a:highlight>
                  <a:srgbClr val="FFD27F"/>
                </a:highlight>
              </a:rPr>
              <a:t>slowly</a:t>
            </a:r>
            <a:pPr indent="0" marL="0">
              <a:buNone/>
            </a:pPr>
            <a:r>
              <a:rPr lang="en-US" sz="1500" dirty="0">
                <a:solidFill>
                  <a:schemeClr val="tx1"/>
                </a:solidFill>
              </a:rPr>
              <a:t> </a:t>
            </a:r>
            <a:pPr indent="0" marL="0">
              <a:buNone/>
            </a:pPr>
            <a:r>
              <a:rPr lang="en-US" sz="1500" b="1" dirty="0">
                <a:solidFill>
                  <a:schemeClr val="tx1"/>
                </a:solidFill>
                <a:highlight>
                  <a:srgbClr val="FFD27F"/>
                </a:highlight>
              </a:rPr>
              <a:t>through the courtyards</a:t>
            </a:r>
            <a:pPr indent="0" marL="0">
              <a:buNone/>
            </a:pPr>
            <a:r>
              <a:rPr lang="en-US" sz="1500" dirty="0">
                <a:solidFill>
                  <a:schemeClr val="tx1"/>
                </a:solidFill>
              </a:rPr>
              <a:t>. Baba walked </a:t>
            </a:r>
            <a:pPr indent="0" marL="0">
              <a:buNone/>
            </a:pPr>
            <a:r>
              <a:rPr lang="en-US" sz="1500" b="1" dirty="0">
                <a:solidFill>
                  <a:schemeClr val="tx1"/>
                </a:solidFill>
                <a:highlight>
                  <a:srgbClr val="FFD27F"/>
                </a:highlight>
              </a:rPr>
              <a:t>beside it</a:t>
            </a:r>
            <a:pPr indent="0" marL="0">
              <a:buNone/>
            </a:pPr>
            <a:r>
              <a:rPr lang="en-US" sz="1500" dirty="0">
                <a:solidFill>
                  <a:schemeClr val="tx1"/>
                </a:solidFill>
              </a:rPr>
              <a:t>, her sandals tapping </a:t>
            </a:r>
            <a:pPr indent="0" marL="0">
              <a:buNone/>
            </a:pPr>
            <a:r>
              <a:rPr lang="en-US" sz="1500" b="1" dirty="0">
                <a:solidFill>
                  <a:schemeClr val="tx1"/>
                </a:solidFill>
                <a:highlight>
                  <a:srgbClr val="FFD27F"/>
                </a:highlight>
              </a:rPr>
              <a:t>on the stone</a:t>
            </a:r>
            <a:pPr indent="0" marL="0">
              <a:buNone/>
            </a:pPr>
            <a:r>
              <a:rPr lang="en-US" sz="1500" dirty="0">
                <a:solidFill>
                  <a:schemeClr val="tx1"/>
                </a:solidFill>
              </a:rPr>
              <a:t>. </a:t>
            </a:r>
            <a:pPr indent="0" marL="0">
              <a:buNone/>
            </a:pPr>
            <a:r>
              <a:rPr lang="en-US" sz="1500" b="1" dirty="0">
                <a:solidFill>
                  <a:schemeClr val="tx1"/>
                </a:solidFill>
                <a:highlight>
                  <a:srgbClr val="FFD27F"/>
                </a:highlight>
              </a:rPr>
              <a:t>Suddenly</a:t>
            </a:r>
            <a:pPr indent="0" marL="0">
              <a:buNone/>
            </a:pPr>
            <a:r>
              <a:rPr lang="en-US" sz="1500" dirty="0">
                <a:solidFill>
                  <a:schemeClr val="tx1"/>
                </a:solidFill>
              </a:rPr>
              <a:t>, </a:t>
            </a:r>
            <a:pPr indent="0" marL="0">
              <a:buNone/>
            </a:pPr>
            <a:r>
              <a:rPr lang="en-US" sz="1500" b="1" dirty="0">
                <a:solidFill>
                  <a:schemeClr val="tx1"/>
                </a:solidFill>
                <a:highlight>
                  <a:srgbClr val="FFD27F"/>
                </a:highlight>
              </a:rPr>
              <a:t>above the roofs</a:t>
            </a:r>
            <a:pPr indent="0" marL="0">
              <a:buNone/>
            </a:pPr>
            <a:r>
              <a:rPr lang="en-US" sz="1500" dirty="0">
                <a:solidFill>
                  <a:schemeClr val="tx1"/>
                </a:solidFill>
              </a:rPr>
              <a:t>, a tall tower, </a:t>
            </a:r>
            <a:pPr indent="0" marL="0">
              <a:buNone/>
            </a:pPr>
            <a:r>
              <a:rPr lang="en-US" sz="1500" b="1" dirty="0">
                <a:solidFill>
                  <a:schemeClr val="tx1"/>
                </a:solidFill>
                <a:highlight>
                  <a:srgbClr val="FFD27F"/>
                </a:highlight>
              </a:rPr>
              <a:t>strangely</a:t>
            </a:r>
            <a:pPr indent="0" marL="0">
              <a:buNone/>
            </a:pPr>
            <a:r>
              <a:rPr lang="en-US" sz="1500" dirty="0">
                <a:solidFill>
                  <a:schemeClr val="tx1"/>
                </a:solidFill>
              </a:rPr>
              <a:t> silent, came into view.</a:t>
            </a:r>
            <a:endParaRPr lang="en-US" sz="1600" dirty="0"/>
          </a:p>
        </p:txBody>
      </p:sp>
      <p:sp>
        <p:nvSpPr>
          <p:cNvPr id="6" name="card"/>
          <p:cNvSpPr/>
          <p:nvPr/>
        </p:nvSpPr>
        <p:spPr>
          <a:xfrm>
            <a:off x="548640" y="3566160"/>
            <a:ext cx="8046720" cy="1005840"/>
          </a:xfrm>
          <a:prstGeom prst="roundRect">
            <a:avLst>
              <a:gd name="adj" fmla="val 10909"/>
            </a:avLst>
          </a:prstGeom>
          <a:solidFill>
            <a:schemeClr val="accent1"/>
          </a:solidFill>
          <a:ln w="12700">
            <a:solidFill>
              <a:schemeClr val="accent1"/>
            </a:solidFill>
            <a:prstDash val="solid"/>
          </a:ln>
        </p:spPr>
      </p:sp>
      <p:sp>
        <p:nvSpPr>
          <p:cNvPr id="7" name="Text 4"/>
          <p:cNvSpPr txBox="1"/>
          <p:nvPr/>
        </p:nvSpPr>
        <p:spPr>
          <a:xfrm>
            <a:off x="777240" y="3566160"/>
            <a:ext cx="7589520" cy="1005840"/>
          </a:xfrm>
          <a:prstGeom prst="rect">
            <a:avLst/>
          </a:prstGeom>
          <a:noFill/>
          <a:ln/>
        </p:spPr>
        <p:txBody>
          <a:bodyPr wrap="square" lIns="0" tIns="0" rIns="0" bIns="0" rtlCol="0" anchor="ctr"/>
          <a:lstStyle/>
          <a:p>
            <a:pPr indent="0" marL="0">
              <a:buNone/>
            </a:pPr>
            <a:r>
              <a:rPr lang="en-US" sz="1300" b="1" dirty="0">
                <a:solidFill>
                  <a:schemeClr val="tx1"/>
                </a:solidFill>
              </a:rPr>
              <a:t>Check: fronted adverbials (</a:t>
            </a:r>
            <a:pPr indent="0" marL="0">
              <a:buNone/>
            </a:pPr>
            <a:r>
              <a:rPr lang="en-US" sz="1300" b="1" dirty="0">
                <a:solidFill>
                  <a:schemeClr val="tx1"/>
                </a:solidFill>
                <a:highlight>
                  <a:srgbClr val="FFD27F"/>
                </a:highlight>
              </a:rPr>
              <a:t>Beyond the long grass,</a:t>
            </a:r>
            <a:pPr indent="0" marL="0">
              <a:buNone/>
            </a:pPr>
            <a:r>
              <a:rPr lang="en-US" sz="1300" b="1" dirty="0">
                <a:solidFill>
                  <a:schemeClr val="tx1"/>
                </a:solidFill>
              </a:rPr>
              <a:t> / </a:t>
            </a:r>
            <a:pPr indent="0" marL="0">
              <a:buNone/>
            </a:pPr>
            <a:r>
              <a:rPr lang="en-US" sz="1300" b="1" dirty="0">
                <a:solidFill>
                  <a:schemeClr val="tx1"/>
                </a:solidFill>
                <a:highlight>
                  <a:srgbClr val="FFD27F"/>
                </a:highlight>
              </a:rPr>
              <a:t>Between the pale walls,</a:t>
            </a:r>
            <a:pPr indent="0" marL="0">
              <a:buNone/>
            </a:pPr>
            <a:r>
              <a:rPr lang="en-US" sz="1300" b="1" dirty="0">
                <a:solidFill>
                  <a:schemeClr val="tx1"/>
                </a:solidFill>
              </a:rPr>
              <a:t> / </a:t>
            </a:r>
            <a:pPr indent="0" marL="0">
              <a:buNone/>
            </a:pPr>
            <a:r>
              <a:rPr lang="en-US" sz="1300" b="1" dirty="0">
                <a:solidFill>
                  <a:schemeClr val="tx1"/>
                </a:solidFill>
                <a:highlight>
                  <a:srgbClr val="FFD27F"/>
                </a:highlight>
              </a:rPr>
              <a:t>Suddenly,</a:t>
            </a:r>
            <a:pPr indent="0" marL="0">
              <a:buNone/>
            </a:pPr>
            <a:r>
              <a:rPr lang="en-US" sz="1300" b="1" dirty="0">
                <a:solidFill>
                  <a:schemeClr val="tx1"/>
                </a:solidFill>
              </a:rPr>
              <a:t> / </a:t>
            </a:r>
            <a:pPr indent="0" marL="0">
              <a:buNone/>
            </a:pPr>
            <a:r>
              <a:rPr lang="en-US" sz="1300" b="1" dirty="0">
                <a:solidFill>
                  <a:schemeClr val="tx1"/>
                </a:solidFill>
                <a:highlight>
                  <a:srgbClr val="FFD27F"/>
                </a:highlight>
              </a:rPr>
              <a:t>above the roofs,</a:t>
            </a:r>
            <a:pPr indent="0" marL="0">
              <a:buNone/>
            </a:pPr>
            <a:r>
              <a:rPr lang="en-US" sz="1300" b="1" dirty="0">
                <a:solidFill>
                  <a:schemeClr val="tx1"/>
                </a:solidFill>
              </a:rPr>
              <a:t>), expanded noun phrase (</a:t>
            </a:r>
            <a:pPr indent="0" marL="0">
              <a:buNone/>
            </a:pPr>
            <a:r>
              <a:rPr lang="en-US" sz="1300" b="1" dirty="0">
                <a:solidFill>
                  <a:schemeClr val="tx1"/>
                </a:solidFill>
                <a:highlight>
                  <a:srgbClr val="FFD27F"/>
                </a:highlight>
              </a:rPr>
              <a:t>a tall tower, strangely silent,</a:t>
            </a:r>
            <a:pPr indent="0" marL="0">
              <a:buNone/>
            </a:pPr>
            <a:r>
              <a:rPr lang="en-US" sz="1300" b="1" dirty="0">
                <a:solidFill>
                  <a:schemeClr val="tx1"/>
                </a:solidFill>
              </a:rPr>
              <a:t>), adverbs (</a:t>
            </a:r>
            <a:pPr indent="0" marL="0">
              <a:buNone/>
            </a:pPr>
            <a:r>
              <a:rPr lang="en-US" sz="1300" b="1" dirty="0">
                <a:solidFill>
                  <a:schemeClr val="tx1"/>
                </a:solidFill>
                <a:highlight>
                  <a:srgbClr val="FFD27F"/>
                </a:highlight>
              </a:rPr>
              <a:t>slowly</a:t>
            </a:r>
            <a:pPr indent="0" marL="0">
              <a:buNone/>
            </a:pPr>
            <a:r>
              <a:rPr lang="en-US" sz="1300" b="1" dirty="0">
                <a:solidFill>
                  <a:schemeClr val="tx1"/>
                </a:solidFill>
              </a:rPr>
              <a:t> describes wound; </a:t>
            </a:r>
            <a:pPr indent="0" marL="0">
              <a:buNone/>
            </a:pPr>
            <a:r>
              <a:rPr lang="en-US" sz="1300" b="1" dirty="0">
                <a:solidFill>
                  <a:schemeClr val="tx1"/>
                </a:solidFill>
                <a:highlight>
                  <a:srgbClr val="FFD27F"/>
                </a:highlight>
              </a:rPr>
              <a:t>strangely</a:t>
            </a:r>
            <a:pPr indent="0" marL="0">
              <a:buNone/>
            </a:pPr>
            <a:r>
              <a:rPr lang="en-US" sz="1300" b="1" dirty="0">
                <a:solidFill>
                  <a:schemeClr val="tx1"/>
                </a:solidFill>
              </a:rPr>
              <a:t> describes silent), prepositional phrases (more than three).</a:t>
            </a:r>
            <a:endParaRPr lang="en-US" sz="1600" dirty="0"/>
          </a:p>
        </p:txBody>
      </p:sp>
      <p:sp>
        <p:nvSpPr>
          <p:cNvPr id="25" name="Slide Number Placeholder 0"/>
          <p:cNvSpPr>
            <a:spLocks noGrp="1"/>
          </p:cNvSpPr>
          <p:nvPr>
            <p:ph type="sldNum" sz="quarter" idx="4294967295"/>
          </p:nvPr>
        </p:nvSpPr>
        <p:spPr>
          <a:xfrm>
            <a:off x="8229600" y="4736592"/>
            <a:ext cx="36576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6784"/>
                </a:solidFill>
              </a:defRPr>
            </a:lvl1pPr>
          </a:lstStyle>
          <a:p>
            <a:pPr algn="l"/>
            <a:fld id="{F7021451-1387-4CA6-816F-3879F97B5CBC}" type="slidenum">
              <a:rPr b="0"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8046720" cy="731520"/>
          </a:xfrm>
          <a:prstGeom prst="rect">
            <a:avLst/>
          </a:prstGeom>
          <a:noFill/>
          <a:ln/>
        </p:spPr>
        <p:txBody>
          <a:bodyPr wrap="square" lIns="0" tIns="0" rIns="0" bIns="0" rtlCol="0" anchor="ctr"/>
          <a:lstStyle/>
          <a:p>
            <a:pPr algn="l" indent="0" marL="0">
              <a:buNone/>
            </a:pPr>
            <a:r>
              <a:rPr lang="en-US" sz="3000" b="1" dirty="0">
                <a:solidFill>
                  <a:schemeClr val="tx1"/>
                </a:solidFill>
              </a:rPr>
              <a:t>Task 3 (challenge): edit the mistakes</a:t>
            </a:r>
            <a:endParaRPr lang="en-US" sz="3000" dirty="0"/>
          </a:p>
        </p:txBody>
      </p:sp>
      <p:sp>
        <p:nvSpPr>
          <p:cNvPr id="4" name="card"/>
          <p:cNvSpPr/>
          <p:nvPr/>
        </p:nvSpPr>
        <p:spPr>
          <a:xfrm>
            <a:off x="548640" y="1097280"/>
            <a:ext cx="8046720" cy="800100"/>
          </a:xfrm>
          <a:prstGeom prst="roundRect">
            <a:avLst>
              <a:gd name="adj" fmla="val 13714"/>
            </a:avLst>
          </a:prstGeom>
          <a:solidFill>
            <a:schemeClr val="bg2"/>
          </a:solidFill>
          <a:ln w="12700">
            <a:solidFill>
              <a:schemeClr val="bg2"/>
            </a:solidFill>
            <a:prstDash val="solid"/>
          </a:ln>
        </p:spPr>
      </p:sp>
      <p:sp>
        <p:nvSpPr>
          <p:cNvPr id="5" name="number"/>
          <p:cNvSpPr/>
          <p:nvPr/>
        </p:nvSpPr>
        <p:spPr>
          <a:xfrm>
            <a:off x="685800" y="1268730"/>
            <a:ext cx="457200" cy="457200"/>
          </a:xfrm>
          <a:prstGeom prst="ellipse">
            <a:avLst/>
          </a:prstGeom>
          <a:solidFill>
            <a:schemeClr val="accent4"/>
          </a:solidFill>
          <a:ln w="12700">
            <a:solidFill>
              <a:schemeClr val="bg1"/>
            </a:solidFill>
            <a:prstDash val="solid"/>
          </a:ln>
        </p:spPr>
      </p:sp>
      <p:sp>
        <p:nvSpPr>
          <p:cNvPr id="6" name="Text 3"/>
          <p:cNvSpPr txBox="1"/>
          <p:nvPr/>
        </p:nvSpPr>
        <p:spPr>
          <a:xfrm>
            <a:off x="685800" y="1268730"/>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rPr>
              <a:t>1</a:t>
            </a:r>
            <a:endParaRPr lang="en-US" sz="1600" dirty="0"/>
          </a:p>
        </p:txBody>
      </p:sp>
      <p:sp>
        <p:nvSpPr>
          <p:cNvPr id="7" name="Text 4"/>
          <p:cNvSpPr txBox="1"/>
          <p:nvPr/>
        </p:nvSpPr>
        <p:spPr>
          <a:xfrm>
            <a:off x="1371600" y="1097280"/>
            <a:ext cx="7040880" cy="800100"/>
          </a:xfrm>
          <a:prstGeom prst="rect">
            <a:avLst/>
          </a:prstGeom>
          <a:noFill/>
          <a:ln/>
        </p:spPr>
        <p:txBody>
          <a:bodyPr wrap="square" lIns="0" tIns="0" rIns="0" bIns="0" rtlCol="0" anchor="ctr"/>
          <a:lstStyle/>
          <a:p>
            <a:pPr indent="0" marL="0">
              <a:buNone/>
            </a:pPr>
            <a:r>
              <a:rPr lang="en-US" sz="1500" dirty="0">
                <a:solidFill>
                  <a:schemeClr val="tx1"/>
                </a:solidFill>
              </a:rPr>
              <a:t>Slowly the old bridge creaked.</a:t>
            </a:r>
            <a:endParaRPr lang="en-US" sz="1600" dirty="0"/>
          </a:p>
        </p:txBody>
      </p:sp>
      <p:sp>
        <p:nvSpPr>
          <p:cNvPr id="8" name="card"/>
          <p:cNvSpPr/>
          <p:nvPr/>
        </p:nvSpPr>
        <p:spPr>
          <a:xfrm>
            <a:off x="548640" y="1988820"/>
            <a:ext cx="8046720" cy="800100"/>
          </a:xfrm>
          <a:prstGeom prst="roundRect">
            <a:avLst>
              <a:gd name="adj" fmla="val 13714"/>
            </a:avLst>
          </a:prstGeom>
          <a:solidFill>
            <a:schemeClr val="bg2"/>
          </a:solidFill>
          <a:ln w="12700">
            <a:solidFill>
              <a:schemeClr val="bg2"/>
            </a:solidFill>
            <a:prstDash val="solid"/>
          </a:ln>
        </p:spPr>
      </p:sp>
      <p:sp>
        <p:nvSpPr>
          <p:cNvPr id="9" name="number"/>
          <p:cNvSpPr/>
          <p:nvPr/>
        </p:nvSpPr>
        <p:spPr>
          <a:xfrm>
            <a:off x="685800" y="2160270"/>
            <a:ext cx="457200" cy="457200"/>
          </a:xfrm>
          <a:prstGeom prst="ellipse">
            <a:avLst/>
          </a:prstGeom>
          <a:solidFill>
            <a:schemeClr val="accent2"/>
          </a:solidFill>
          <a:ln w="12700">
            <a:solidFill>
              <a:schemeClr val="bg1"/>
            </a:solidFill>
            <a:prstDash val="solid"/>
          </a:ln>
        </p:spPr>
      </p:sp>
      <p:sp>
        <p:nvSpPr>
          <p:cNvPr id="10" name="Text 7"/>
          <p:cNvSpPr txBox="1"/>
          <p:nvPr/>
        </p:nvSpPr>
        <p:spPr>
          <a:xfrm>
            <a:off x="685800" y="2160270"/>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rPr>
              <a:t>2</a:t>
            </a:r>
            <a:endParaRPr lang="en-US" sz="1600" dirty="0"/>
          </a:p>
        </p:txBody>
      </p:sp>
      <p:sp>
        <p:nvSpPr>
          <p:cNvPr id="11" name="Text 8"/>
          <p:cNvSpPr txBox="1"/>
          <p:nvPr/>
        </p:nvSpPr>
        <p:spPr>
          <a:xfrm>
            <a:off x="1371600" y="1988820"/>
            <a:ext cx="7040880" cy="800100"/>
          </a:xfrm>
          <a:prstGeom prst="rect">
            <a:avLst/>
          </a:prstGeom>
          <a:noFill/>
          <a:ln/>
        </p:spPr>
        <p:txBody>
          <a:bodyPr wrap="square" lIns="0" tIns="0" rIns="0" bIns="0" rtlCol="0" anchor="ctr"/>
          <a:lstStyle/>
          <a:p>
            <a:pPr indent="0" marL="0">
              <a:buNone/>
            </a:pPr>
            <a:r>
              <a:rPr lang="en-US" sz="1500" dirty="0">
                <a:solidFill>
                  <a:schemeClr val="tx1"/>
                </a:solidFill>
              </a:rPr>
              <a:t>Tulsi walked quick through the dark forest.</a:t>
            </a:r>
            <a:endParaRPr lang="en-US" sz="1600" dirty="0"/>
          </a:p>
        </p:txBody>
      </p:sp>
      <p:sp>
        <p:nvSpPr>
          <p:cNvPr id="12" name="card"/>
          <p:cNvSpPr/>
          <p:nvPr/>
        </p:nvSpPr>
        <p:spPr>
          <a:xfrm>
            <a:off x="548640" y="2880360"/>
            <a:ext cx="8046720" cy="800100"/>
          </a:xfrm>
          <a:prstGeom prst="roundRect">
            <a:avLst>
              <a:gd name="adj" fmla="val 13714"/>
            </a:avLst>
          </a:prstGeom>
          <a:solidFill>
            <a:schemeClr val="bg2"/>
          </a:solidFill>
          <a:ln w="12700">
            <a:solidFill>
              <a:schemeClr val="bg2"/>
            </a:solidFill>
            <a:prstDash val="solid"/>
          </a:ln>
        </p:spPr>
      </p:sp>
      <p:sp>
        <p:nvSpPr>
          <p:cNvPr id="13" name="number"/>
          <p:cNvSpPr/>
          <p:nvPr/>
        </p:nvSpPr>
        <p:spPr>
          <a:xfrm>
            <a:off x="685800" y="3051810"/>
            <a:ext cx="457200" cy="457200"/>
          </a:xfrm>
          <a:prstGeom prst="ellipse">
            <a:avLst/>
          </a:prstGeom>
          <a:solidFill>
            <a:schemeClr val="accent3"/>
          </a:solidFill>
          <a:ln w="12700">
            <a:solidFill>
              <a:schemeClr val="bg1"/>
            </a:solidFill>
            <a:prstDash val="solid"/>
          </a:ln>
        </p:spPr>
      </p:sp>
      <p:sp>
        <p:nvSpPr>
          <p:cNvPr id="14" name="Text 11"/>
          <p:cNvSpPr txBox="1"/>
          <p:nvPr/>
        </p:nvSpPr>
        <p:spPr>
          <a:xfrm>
            <a:off x="685800" y="3051810"/>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rPr>
              <a:t>3</a:t>
            </a:r>
            <a:endParaRPr lang="en-US" sz="1600" dirty="0"/>
          </a:p>
        </p:txBody>
      </p:sp>
      <p:sp>
        <p:nvSpPr>
          <p:cNvPr id="15" name="Text 12"/>
          <p:cNvSpPr txBox="1"/>
          <p:nvPr/>
        </p:nvSpPr>
        <p:spPr>
          <a:xfrm>
            <a:off x="1371600" y="2880360"/>
            <a:ext cx="7040880" cy="800100"/>
          </a:xfrm>
          <a:prstGeom prst="rect">
            <a:avLst/>
          </a:prstGeom>
          <a:noFill/>
          <a:ln/>
        </p:spPr>
        <p:txBody>
          <a:bodyPr wrap="square" lIns="0" tIns="0" rIns="0" bIns="0" rtlCol="0" anchor="ctr"/>
          <a:lstStyle/>
          <a:p>
            <a:pPr indent="0" marL="0">
              <a:buNone/>
            </a:pPr>
            <a:r>
              <a:rPr lang="en-US" sz="1500" dirty="0">
                <a:solidFill>
                  <a:schemeClr val="tx1"/>
                </a:solidFill>
              </a:rPr>
              <a:t>Behind the waterfall a cave glittered.</a:t>
            </a:r>
            <a:endParaRPr lang="en-US" sz="1600" dirty="0"/>
          </a:p>
        </p:txBody>
      </p:sp>
      <p:sp>
        <p:nvSpPr>
          <p:cNvPr id="16" name="card"/>
          <p:cNvSpPr/>
          <p:nvPr/>
        </p:nvSpPr>
        <p:spPr>
          <a:xfrm>
            <a:off x="548640" y="3771900"/>
            <a:ext cx="8046720" cy="800100"/>
          </a:xfrm>
          <a:prstGeom prst="roundRect">
            <a:avLst>
              <a:gd name="adj" fmla="val 13714"/>
            </a:avLst>
          </a:prstGeom>
          <a:solidFill>
            <a:schemeClr val="bg2"/>
          </a:solidFill>
          <a:ln w="12700">
            <a:solidFill>
              <a:schemeClr val="bg2"/>
            </a:solidFill>
            <a:prstDash val="solid"/>
          </a:ln>
        </p:spPr>
      </p:sp>
      <p:sp>
        <p:nvSpPr>
          <p:cNvPr id="17" name="number"/>
          <p:cNvSpPr/>
          <p:nvPr/>
        </p:nvSpPr>
        <p:spPr>
          <a:xfrm>
            <a:off x="685800" y="3943350"/>
            <a:ext cx="457200" cy="457200"/>
          </a:xfrm>
          <a:prstGeom prst="ellipse">
            <a:avLst/>
          </a:prstGeom>
          <a:solidFill>
            <a:schemeClr val="accent5"/>
          </a:solidFill>
          <a:ln w="12700">
            <a:solidFill>
              <a:schemeClr val="bg1"/>
            </a:solidFill>
            <a:prstDash val="solid"/>
          </a:ln>
        </p:spPr>
      </p:sp>
      <p:sp>
        <p:nvSpPr>
          <p:cNvPr id="18" name="Text 15"/>
          <p:cNvSpPr txBox="1"/>
          <p:nvPr/>
        </p:nvSpPr>
        <p:spPr>
          <a:xfrm>
            <a:off x="685800" y="3943350"/>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rPr>
              <a:t>4</a:t>
            </a:r>
            <a:endParaRPr lang="en-US" sz="1600" dirty="0"/>
          </a:p>
        </p:txBody>
      </p:sp>
      <p:sp>
        <p:nvSpPr>
          <p:cNvPr id="19" name="Text 16"/>
          <p:cNvSpPr txBox="1"/>
          <p:nvPr/>
        </p:nvSpPr>
        <p:spPr>
          <a:xfrm>
            <a:off x="1371600" y="3771900"/>
            <a:ext cx="7040880" cy="800100"/>
          </a:xfrm>
          <a:prstGeom prst="rect">
            <a:avLst/>
          </a:prstGeom>
          <a:noFill/>
          <a:ln/>
        </p:spPr>
        <p:txBody>
          <a:bodyPr wrap="square" lIns="0" tIns="0" rIns="0" bIns="0" rtlCol="0" anchor="ctr"/>
          <a:lstStyle/>
          <a:p>
            <a:pPr indent="0" marL="0">
              <a:buNone/>
            </a:pPr>
            <a:r>
              <a:rPr lang="en-US" sz="1500" dirty="0">
                <a:solidFill>
                  <a:schemeClr val="tx1"/>
                </a:solidFill>
              </a:rPr>
              <a:t>The sinister, shadowy, spooky, scary, eerie castle stood on the hill.</a:t>
            </a:r>
            <a:endParaRPr lang="en-US" sz="1600" dirty="0"/>
          </a:p>
        </p:txBody>
      </p:sp>
      <p:sp>
        <p:nvSpPr>
          <p:cNvPr id="25" name="Slide Number Placeholder 0"/>
          <p:cNvSpPr>
            <a:spLocks noGrp="1"/>
          </p:cNvSpPr>
          <p:nvPr>
            <p:ph type="sldNum" sz="quarter" idx="4294967295"/>
          </p:nvPr>
        </p:nvSpPr>
        <p:spPr>
          <a:xfrm>
            <a:off x="8229600" y="4736592"/>
            <a:ext cx="36576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6784"/>
                </a:solidFill>
              </a:defRPr>
            </a:lvl1pPr>
          </a:lstStyle>
          <a:p>
            <a:pPr algn="l"/>
            <a:fld id="{F7021451-1387-4CA6-816F-3879F97B5CBC}" type="slidenum">
              <a:rPr b="0"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8046720" cy="731520"/>
          </a:xfrm>
          <a:prstGeom prst="rect">
            <a:avLst/>
          </a:prstGeom>
          <a:noFill/>
          <a:ln/>
        </p:spPr>
        <p:txBody>
          <a:bodyPr wrap="square" lIns="0" tIns="0" rIns="0" bIns="0" rtlCol="0" anchor="ctr"/>
          <a:lstStyle/>
          <a:p>
            <a:pPr algn="l" indent="0" marL="0">
              <a:buNone/>
            </a:pPr>
            <a:r>
              <a:rPr lang="en-US" sz="3000" b="1" dirty="0">
                <a:solidFill>
                  <a:schemeClr val="tx1"/>
                </a:solidFill>
              </a:rPr>
              <a:t>Answers: Task 3</a:t>
            </a:r>
            <a:endParaRPr lang="en-US" sz="3000" dirty="0"/>
          </a:p>
        </p:txBody>
      </p:sp>
      <p:sp>
        <p:nvSpPr>
          <p:cNvPr id="4" name="card"/>
          <p:cNvSpPr/>
          <p:nvPr/>
        </p:nvSpPr>
        <p:spPr>
          <a:xfrm>
            <a:off x="548640" y="1097280"/>
            <a:ext cx="8046720" cy="800100"/>
          </a:xfrm>
          <a:prstGeom prst="roundRect">
            <a:avLst>
              <a:gd name="adj" fmla="val 13714"/>
            </a:avLst>
          </a:prstGeom>
          <a:solidFill>
            <a:schemeClr val="bg2"/>
          </a:solidFill>
          <a:ln w="12700">
            <a:solidFill>
              <a:schemeClr val="bg2"/>
            </a:solidFill>
            <a:prstDash val="solid"/>
          </a:ln>
        </p:spPr>
      </p:sp>
      <p:sp>
        <p:nvSpPr>
          <p:cNvPr id="5" name="number"/>
          <p:cNvSpPr/>
          <p:nvPr/>
        </p:nvSpPr>
        <p:spPr>
          <a:xfrm>
            <a:off x="685800" y="1268730"/>
            <a:ext cx="457200" cy="457200"/>
          </a:xfrm>
          <a:prstGeom prst="ellipse">
            <a:avLst/>
          </a:prstGeom>
          <a:solidFill>
            <a:schemeClr val="accent4"/>
          </a:solidFill>
          <a:ln w="12700">
            <a:solidFill>
              <a:schemeClr val="bg1"/>
            </a:solidFill>
            <a:prstDash val="solid"/>
          </a:ln>
        </p:spPr>
      </p:sp>
      <p:sp>
        <p:nvSpPr>
          <p:cNvPr id="6" name="Text 3"/>
          <p:cNvSpPr txBox="1"/>
          <p:nvPr/>
        </p:nvSpPr>
        <p:spPr>
          <a:xfrm>
            <a:off x="685800" y="1268730"/>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rPr>
              <a:t>1</a:t>
            </a:r>
            <a:endParaRPr lang="en-US" sz="1600" dirty="0"/>
          </a:p>
        </p:txBody>
      </p:sp>
      <p:sp>
        <p:nvSpPr>
          <p:cNvPr id="7" name="Text 4"/>
          <p:cNvSpPr txBox="1"/>
          <p:nvPr/>
        </p:nvSpPr>
        <p:spPr>
          <a:xfrm>
            <a:off x="1371600" y="1097280"/>
            <a:ext cx="7040880" cy="800100"/>
          </a:xfrm>
          <a:prstGeom prst="rect">
            <a:avLst/>
          </a:prstGeom>
          <a:noFill/>
          <a:ln/>
        </p:spPr>
        <p:txBody>
          <a:bodyPr wrap="square" lIns="0" tIns="0" rIns="0" bIns="0" rtlCol="0" anchor="ctr"/>
          <a:lstStyle/>
          <a:p>
            <a:pPr indent="0" marL="0">
              <a:buNone/>
            </a:pPr>
            <a:r>
              <a:rPr lang="en-US" sz="1300" b="1" dirty="0">
                <a:solidFill>
                  <a:schemeClr val="tx1"/>
                </a:solidFill>
              </a:rPr>
              <a:t>Slowly, the old bridge creaked.</a:t>
            </a:r>
            <a:pPr indent="0" marL="0">
              <a:buNone/>
            </a:pPr>
            <a:r>
              <a:rPr lang="en-US" sz="1300" dirty="0">
                <a:solidFill>
                  <a:schemeClr val="tx1"/>
                </a:solidFill>
              </a:rPr>
              <a:t> A fronted adverbial needs a comma.</a:t>
            </a:r>
            <a:endParaRPr lang="en-US" sz="1600" dirty="0"/>
          </a:p>
        </p:txBody>
      </p:sp>
      <p:sp>
        <p:nvSpPr>
          <p:cNvPr id="8" name="card"/>
          <p:cNvSpPr/>
          <p:nvPr/>
        </p:nvSpPr>
        <p:spPr>
          <a:xfrm>
            <a:off x="548640" y="1988820"/>
            <a:ext cx="8046720" cy="800100"/>
          </a:xfrm>
          <a:prstGeom prst="roundRect">
            <a:avLst>
              <a:gd name="adj" fmla="val 13714"/>
            </a:avLst>
          </a:prstGeom>
          <a:solidFill>
            <a:schemeClr val="bg2"/>
          </a:solidFill>
          <a:ln w="12700">
            <a:solidFill>
              <a:schemeClr val="bg2"/>
            </a:solidFill>
            <a:prstDash val="solid"/>
          </a:ln>
        </p:spPr>
      </p:sp>
      <p:sp>
        <p:nvSpPr>
          <p:cNvPr id="9" name="number"/>
          <p:cNvSpPr/>
          <p:nvPr/>
        </p:nvSpPr>
        <p:spPr>
          <a:xfrm>
            <a:off x="685800" y="2160270"/>
            <a:ext cx="457200" cy="457200"/>
          </a:xfrm>
          <a:prstGeom prst="ellipse">
            <a:avLst/>
          </a:prstGeom>
          <a:solidFill>
            <a:schemeClr val="accent2"/>
          </a:solidFill>
          <a:ln w="12700">
            <a:solidFill>
              <a:schemeClr val="bg1"/>
            </a:solidFill>
            <a:prstDash val="solid"/>
          </a:ln>
        </p:spPr>
      </p:sp>
      <p:sp>
        <p:nvSpPr>
          <p:cNvPr id="10" name="Text 7"/>
          <p:cNvSpPr txBox="1"/>
          <p:nvPr/>
        </p:nvSpPr>
        <p:spPr>
          <a:xfrm>
            <a:off x="685800" y="2160270"/>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rPr>
              <a:t>2</a:t>
            </a:r>
            <a:endParaRPr lang="en-US" sz="1600" dirty="0"/>
          </a:p>
        </p:txBody>
      </p:sp>
      <p:sp>
        <p:nvSpPr>
          <p:cNvPr id="11" name="Text 8"/>
          <p:cNvSpPr txBox="1"/>
          <p:nvPr/>
        </p:nvSpPr>
        <p:spPr>
          <a:xfrm>
            <a:off x="1371600" y="1988820"/>
            <a:ext cx="7040880" cy="800100"/>
          </a:xfrm>
          <a:prstGeom prst="rect">
            <a:avLst/>
          </a:prstGeom>
          <a:noFill/>
          <a:ln/>
        </p:spPr>
        <p:txBody>
          <a:bodyPr wrap="square" lIns="0" tIns="0" rIns="0" bIns="0" rtlCol="0" anchor="ctr"/>
          <a:lstStyle/>
          <a:p>
            <a:pPr indent="0" marL="0">
              <a:buNone/>
            </a:pPr>
            <a:r>
              <a:rPr lang="en-US" sz="1300" b="1" dirty="0">
                <a:solidFill>
                  <a:schemeClr val="tx1"/>
                </a:solidFill>
              </a:rPr>
              <a:t>Tulsi walked quickly through the dark forest.</a:t>
            </a:r>
            <a:pPr indent="0" marL="0">
              <a:buNone/>
            </a:pPr>
            <a:r>
              <a:rPr lang="en-US" sz="1300" dirty="0">
                <a:solidFill>
                  <a:schemeClr val="tx1"/>
                </a:solidFill>
              </a:rPr>
              <a:t> 'Quickly' is an adverb describing the verb 'walked'.</a:t>
            </a:r>
            <a:endParaRPr lang="en-US" sz="1600" dirty="0"/>
          </a:p>
        </p:txBody>
      </p:sp>
      <p:sp>
        <p:nvSpPr>
          <p:cNvPr id="12" name="card"/>
          <p:cNvSpPr/>
          <p:nvPr/>
        </p:nvSpPr>
        <p:spPr>
          <a:xfrm>
            <a:off x="548640" y="2880360"/>
            <a:ext cx="8046720" cy="800100"/>
          </a:xfrm>
          <a:prstGeom prst="roundRect">
            <a:avLst>
              <a:gd name="adj" fmla="val 13714"/>
            </a:avLst>
          </a:prstGeom>
          <a:solidFill>
            <a:schemeClr val="bg2"/>
          </a:solidFill>
          <a:ln w="12700">
            <a:solidFill>
              <a:schemeClr val="bg2"/>
            </a:solidFill>
            <a:prstDash val="solid"/>
          </a:ln>
        </p:spPr>
      </p:sp>
      <p:sp>
        <p:nvSpPr>
          <p:cNvPr id="13" name="number"/>
          <p:cNvSpPr/>
          <p:nvPr/>
        </p:nvSpPr>
        <p:spPr>
          <a:xfrm>
            <a:off x="685800" y="3051810"/>
            <a:ext cx="457200" cy="457200"/>
          </a:xfrm>
          <a:prstGeom prst="ellipse">
            <a:avLst/>
          </a:prstGeom>
          <a:solidFill>
            <a:schemeClr val="accent3"/>
          </a:solidFill>
          <a:ln w="12700">
            <a:solidFill>
              <a:schemeClr val="bg1"/>
            </a:solidFill>
            <a:prstDash val="solid"/>
          </a:ln>
        </p:spPr>
      </p:sp>
      <p:sp>
        <p:nvSpPr>
          <p:cNvPr id="14" name="Text 11"/>
          <p:cNvSpPr txBox="1"/>
          <p:nvPr/>
        </p:nvSpPr>
        <p:spPr>
          <a:xfrm>
            <a:off x="685800" y="3051810"/>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rPr>
              <a:t>3</a:t>
            </a:r>
            <a:endParaRPr lang="en-US" sz="1600" dirty="0"/>
          </a:p>
        </p:txBody>
      </p:sp>
      <p:sp>
        <p:nvSpPr>
          <p:cNvPr id="15" name="Text 12"/>
          <p:cNvSpPr txBox="1"/>
          <p:nvPr/>
        </p:nvSpPr>
        <p:spPr>
          <a:xfrm>
            <a:off x="1371600" y="2880360"/>
            <a:ext cx="7040880" cy="800100"/>
          </a:xfrm>
          <a:prstGeom prst="rect">
            <a:avLst/>
          </a:prstGeom>
          <a:noFill/>
          <a:ln/>
        </p:spPr>
        <p:txBody>
          <a:bodyPr wrap="square" lIns="0" tIns="0" rIns="0" bIns="0" rtlCol="0" anchor="ctr"/>
          <a:lstStyle/>
          <a:p>
            <a:pPr indent="0" marL="0">
              <a:buNone/>
            </a:pPr>
            <a:r>
              <a:rPr lang="en-US" sz="1300" b="1" dirty="0">
                <a:solidFill>
                  <a:schemeClr val="tx1"/>
                </a:solidFill>
              </a:rPr>
              <a:t>Behind the waterfall, a cave glittered.</a:t>
            </a:r>
            <a:pPr indent="0" marL="0">
              <a:buNone/>
            </a:pPr>
            <a:r>
              <a:rPr lang="en-US" sz="1300" dirty="0">
                <a:solidFill>
                  <a:schemeClr val="tx1"/>
                </a:solidFill>
              </a:rPr>
              <a:t> A fronted adverbial needs a comma.</a:t>
            </a:r>
            <a:endParaRPr lang="en-US" sz="1600" dirty="0"/>
          </a:p>
        </p:txBody>
      </p:sp>
      <p:sp>
        <p:nvSpPr>
          <p:cNvPr id="16" name="card"/>
          <p:cNvSpPr/>
          <p:nvPr/>
        </p:nvSpPr>
        <p:spPr>
          <a:xfrm>
            <a:off x="548640" y="3771900"/>
            <a:ext cx="8046720" cy="800100"/>
          </a:xfrm>
          <a:prstGeom prst="roundRect">
            <a:avLst>
              <a:gd name="adj" fmla="val 13714"/>
            </a:avLst>
          </a:prstGeom>
          <a:solidFill>
            <a:schemeClr val="bg2"/>
          </a:solidFill>
          <a:ln w="12700">
            <a:solidFill>
              <a:schemeClr val="bg2"/>
            </a:solidFill>
            <a:prstDash val="solid"/>
          </a:ln>
        </p:spPr>
      </p:sp>
      <p:sp>
        <p:nvSpPr>
          <p:cNvPr id="17" name="number"/>
          <p:cNvSpPr/>
          <p:nvPr/>
        </p:nvSpPr>
        <p:spPr>
          <a:xfrm>
            <a:off x="685800" y="3943350"/>
            <a:ext cx="457200" cy="457200"/>
          </a:xfrm>
          <a:prstGeom prst="ellipse">
            <a:avLst/>
          </a:prstGeom>
          <a:solidFill>
            <a:schemeClr val="accent5"/>
          </a:solidFill>
          <a:ln w="12700">
            <a:solidFill>
              <a:schemeClr val="bg1"/>
            </a:solidFill>
            <a:prstDash val="solid"/>
          </a:ln>
        </p:spPr>
      </p:sp>
      <p:sp>
        <p:nvSpPr>
          <p:cNvPr id="18" name="Text 15"/>
          <p:cNvSpPr txBox="1"/>
          <p:nvPr/>
        </p:nvSpPr>
        <p:spPr>
          <a:xfrm>
            <a:off x="685800" y="3943350"/>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rPr>
              <a:t>4</a:t>
            </a:r>
            <a:endParaRPr lang="en-US" sz="1600" dirty="0"/>
          </a:p>
        </p:txBody>
      </p:sp>
      <p:sp>
        <p:nvSpPr>
          <p:cNvPr id="19" name="Text 16"/>
          <p:cNvSpPr txBox="1"/>
          <p:nvPr/>
        </p:nvSpPr>
        <p:spPr>
          <a:xfrm>
            <a:off x="1371600" y="3771900"/>
            <a:ext cx="7040880" cy="800100"/>
          </a:xfrm>
          <a:prstGeom prst="rect">
            <a:avLst/>
          </a:prstGeom>
          <a:noFill/>
          <a:ln/>
        </p:spPr>
        <p:txBody>
          <a:bodyPr wrap="square" lIns="0" tIns="0" rIns="0" bIns="0" rtlCol="0" anchor="ctr"/>
          <a:lstStyle/>
          <a:p>
            <a:pPr indent="0" marL="0">
              <a:buNone/>
            </a:pPr>
            <a:r>
              <a:rPr lang="en-US" sz="1300" b="1" dirty="0">
                <a:solidFill>
                  <a:schemeClr val="tx1"/>
                </a:solidFill>
              </a:rPr>
              <a:t>The sinister, shadowy castle stood on the hill.</a:t>
            </a:r>
            <a:pPr indent="0" marL="0">
              <a:buNone/>
            </a:pPr>
            <a:r>
              <a:rPr lang="en-US" sz="1300" dirty="0">
                <a:solidFill>
                  <a:schemeClr val="tx1"/>
                </a:solidFill>
              </a:rPr>
              <a:t> Too many words that repeat one idea. Keep the best two.</a:t>
            </a:r>
            <a:endParaRPr lang="en-US" sz="1600" dirty="0"/>
          </a:p>
        </p:txBody>
      </p:sp>
      <p:sp>
        <p:nvSpPr>
          <p:cNvPr id="25" name="Slide Number Placeholder 0"/>
          <p:cNvSpPr>
            <a:spLocks noGrp="1"/>
          </p:cNvSpPr>
          <p:nvPr>
            <p:ph type="sldNum" sz="quarter" idx="4294967295"/>
          </p:nvPr>
        </p:nvSpPr>
        <p:spPr>
          <a:xfrm>
            <a:off x="8229600" y="4736592"/>
            <a:ext cx="36576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6784"/>
                </a:solidFill>
              </a:defRPr>
            </a:lvl1pPr>
          </a:lstStyle>
          <a:p>
            <a:pPr algn="l"/>
            <a:fld id="{F7021451-1387-4CA6-816F-3879F97B5CBC}" type="slidenum">
              <a:rPr b="0"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8046720" cy="731520"/>
          </a:xfrm>
          <a:prstGeom prst="rect">
            <a:avLst/>
          </a:prstGeom>
          <a:noFill/>
          <a:ln/>
        </p:spPr>
        <p:txBody>
          <a:bodyPr wrap="square" lIns="0" tIns="0" rIns="0" bIns="0" rtlCol="0" anchor="ctr"/>
          <a:lstStyle/>
          <a:p>
            <a:pPr algn="l" indent="0" marL="0">
              <a:buNone/>
            </a:pPr>
            <a:r>
              <a:rPr lang="en-US" sz="3000" b="1" dirty="0">
                <a:solidFill>
                  <a:schemeClr val="tx1"/>
                </a:solidFill>
              </a:rPr>
              <a:t>Plenary: true or false?</a:t>
            </a:r>
            <a:endParaRPr lang="en-US" sz="3000" dirty="0"/>
          </a:p>
        </p:txBody>
      </p:sp>
      <p:sp>
        <p:nvSpPr>
          <p:cNvPr id="4" name="card"/>
          <p:cNvSpPr/>
          <p:nvPr/>
        </p:nvSpPr>
        <p:spPr>
          <a:xfrm>
            <a:off x="548640" y="1097280"/>
            <a:ext cx="8046720" cy="800100"/>
          </a:xfrm>
          <a:prstGeom prst="roundRect">
            <a:avLst>
              <a:gd name="adj" fmla="val 13714"/>
            </a:avLst>
          </a:prstGeom>
          <a:solidFill>
            <a:schemeClr val="bg2"/>
          </a:solidFill>
          <a:ln w="12700">
            <a:solidFill>
              <a:schemeClr val="bg2"/>
            </a:solidFill>
            <a:prstDash val="solid"/>
          </a:ln>
        </p:spPr>
      </p:sp>
      <p:sp>
        <p:nvSpPr>
          <p:cNvPr id="5" name="number"/>
          <p:cNvSpPr/>
          <p:nvPr/>
        </p:nvSpPr>
        <p:spPr>
          <a:xfrm>
            <a:off x="685800" y="1268730"/>
            <a:ext cx="457200" cy="457200"/>
          </a:xfrm>
          <a:prstGeom prst="ellipse">
            <a:avLst/>
          </a:prstGeom>
          <a:solidFill>
            <a:schemeClr val="accent4"/>
          </a:solidFill>
          <a:ln w="12700">
            <a:solidFill>
              <a:schemeClr val="bg1"/>
            </a:solidFill>
            <a:prstDash val="solid"/>
          </a:ln>
        </p:spPr>
      </p:sp>
      <p:sp>
        <p:nvSpPr>
          <p:cNvPr id="6" name="Text 3"/>
          <p:cNvSpPr txBox="1"/>
          <p:nvPr/>
        </p:nvSpPr>
        <p:spPr>
          <a:xfrm>
            <a:off x="685800" y="1268730"/>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rPr>
              <a:t>1</a:t>
            </a:r>
            <a:endParaRPr lang="en-US" sz="1600" dirty="0"/>
          </a:p>
        </p:txBody>
      </p:sp>
      <p:sp>
        <p:nvSpPr>
          <p:cNvPr id="7" name="Text 4"/>
          <p:cNvSpPr txBox="1"/>
          <p:nvPr/>
        </p:nvSpPr>
        <p:spPr>
          <a:xfrm>
            <a:off x="1371600" y="1097280"/>
            <a:ext cx="7040880" cy="800100"/>
          </a:xfrm>
          <a:prstGeom prst="rect">
            <a:avLst/>
          </a:prstGeom>
          <a:noFill/>
          <a:ln/>
        </p:spPr>
        <p:txBody>
          <a:bodyPr wrap="square" lIns="0" tIns="0" rIns="0" bIns="0" rtlCol="0" anchor="ctr"/>
          <a:lstStyle/>
          <a:p>
            <a:pPr indent="0" marL="0">
              <a:buNone/>
            </a:pPr>
            <a:r>
              <a:rPr lang="en-US" sz="1400" dirty="0">
                <a:solidFill>
                  <a:schemeClr val="tx1"/>
                </a:solidFill>
              </a:rPr>
              <a:t>In 'a strangely quiet forest', 'strangely' is an adjective.</a:t>
            </a:r>
            <a:endParaRPr lang="en-US" sz="1600" dirty="0"/>
          </a:p>
        </p:txBody>
      </p:sp>
      <p:sp>
        <p:nvSpPr>
          <p:cNvPr id="8" name="card"/>
          <p:cNvSpPr/>
          <p:nvPr/>
        </p:nvSpPr>
        <p:spPr>
          <a:xfrm>
            <a:off x="548640" y="1988820"/>
            <a:ext cx="8046720" cy="800100"/>
          </a:xfrm>
          <a:prstGeom prst="roundRect">
            <a:avLst>
              <a:gd name="adj" fmla="val 13714"/>
            </a:avLst>
          </a:prstGeom>
          <a:solidFill>
            <a:schemeClr val="bg2"/>
          </a:solidFill>
          <a:ln w="12700">
            <a:solidFill>
              <a:schemeClr val="bg2"/>
            </a:solidFill>
            <a:prstDash val="solid"/>
          </a:ln>
        </p:spPr>
      </p:sp>
      <p:sp>
        <p:nvSpPr>
          <p:cNvPr id="9" name="number"/>
          <p:cNvSpPr/>
          <p:nvPr/>
        </p:nvSpPr>
        <p:spPr>
          <a:xfrm>
            <a:off x="685800" y="2160270"/>
            <a:ext cx="457200" cy="457200"/>
          </a:xfrm>
          <a:prstGeom prst="ellipse">
            <a:avLst/>
          </a:prstGeom>
          <a:solidFill>
            <a:schemeClr val="accent2"/>
          </a:solidFill>
          <a:ln w="12700">
            <a:solidFill>
              <a:schemeClr val="bg1"/>
            </a:solidFill>
            <a:prstDash val="solid"/>
          </a:ln>
        </p:spPr>
      </p:sp>
      <p:sp>
        <p:nvSpPr>
          <p:cNvPr id="10" name="Text 7"/>
          <p:cNvSpPr txBox="1"/>
          <p:nvPr/>
        </p:nvSpPr>
        <p:spPr>
          <a:xfrm>
            <a:off x="685800" y="2160270"/>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rPr>
              <a:t>2</a:t>
            </a:r>
            <a:endParaRPr lang="en-US" sz="1600" dirty="0"/>
          </a:p>
        </p:txBody>
      </p:sp>
      <p:sp>
        <p:nvSpPr>
          <p:cNvPr id="11" name="Text 8"/>
          <p:cNvSpPr txBox="1"/>
          <p:nvPr/>
        </p:nvSpPr>
        <p:spPr>
          <a:xfrm>
            <a:off x="1371600" y="1988820"/>
            <a:ext cx="7040880" cy="800100"/>
          </a:xfrm>
          <a:prstGeom prst="rect">
            <a:avLst/>
          </a:prstGeom>
          <a:noFill/>
          <a:ln/>
        </p:spPr>
        <p:txBody>
          <a:bodyPr wrap="square" lIns="0" tIns="0" rIns="0" bIns="0" rtlCol="0" anchor="ctr"/>
          <a:lstStyle/>
          <a:p>
            <a:pPr indent="0" marL="0">
              <a:buNone/>
            </a:pPr>
            <a:r>
              <a:rPr lang="en-US" sz="1400" dirty="0">
                <a:solidFill>
                  <a:schemeClr val="tx1"/>
                </a:solidFill>
              </a:rPr>
              <a:t>A prepositional phrase can work as an adverbial.</a:t>
            </a:r>
            <a:endParaRPr lang="en-US" sz="1600" dirty="0"/>
          </a:p>
        </p:txBody>
      </p:sp>
      <p:sp>
        <p:nvSpPr>
          <p:cNvPr id="12" name="card"/>
          <p:cNvSpPr/>
          <p:nvPr/>
        </p:nvSpPr>
        <p:spPr>
          <a:xfrm>
            <a:off x="548640" y="2880360"/>
            <a:ext cx="8046720" cy="800100"/>
          </a:xfrm>
          <a:prstGeom prst="roundRect">
            <a:avLst>
              <a:gd name="adj" fmla="val 13714"/>
            </a:avLst>
          </a:prstGeom>
          <a:solidFill>
            <a:schemeClr val="bg2"/>
          </a:solidFill>
          <a:ln w="12700">
            <a:solidFill>
              <a:schemeClr val="bg2"/>
            </a:solidFill>
            <a:prstDash val="solid"/>
          </a:ln>
        </p:spPr>
      </p:sp>
      <p:sp>
        <p:nvSpPr>
          <p:cNvPr id="13" name="number"/>
          <p:cNvSpPr/>
          <p:nvPr/>
        </p:nvSpPr>
        <p:spPr>
          <a:xfrm>
            <a:off x="685800" y="3051810"/>
            <a:ext cx="457200" cy="457200"/>
          </a:xfrm>
          <a:prstGeom prst="ellipse">
            <a:avLst/>
          </a:prstGeom>
          <a:solidFill>
            <a:schemeClr val="accent3"/>
          </a:solidFill>
          <a:ln w="12700">
            <a:solidFill>
              <a:schemeClr val="bg1"/>
            </a:solidFill>
            <a:prstDash val="solid"/>
          </a:ln>
        </p:spPr>
      </p:sp>
      <p:sp>
        <p:nvSpPr>
          <p:cNvPr id="14" name="Text 11"/>
          <p:cNvSpPr txBox="1"/>
          <p:nvPr/>
        </p:nvSpPr>
        <p:spPr>
          <a:xfrm>
            <a:off x="685800" y="3051810"/>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rPr>
              <a:t>3</a:t>
            </a:r>
            <a:endParaRPr lang="en-US" sz="1600" dirty="0"/>
          </a:p>
        </p:txBody>
      </p:sp>
      <p:sp>
        <p:nvSpPr>
          <p:cNvPr id="15" name="Text 12"/>
          <p:cNvSpPr txBox="1"/>
          <p:nvPr/>
        </p:nvSpPr>
        <p:spPr>
          <a:xfrm>
            <a:off x="1371600" y="2880360"/>
            <a:ext cx="7040880" cy="800100"/>
          </a:xfrm>
          <a:prstGeom prst="rect">
            <a:avLst/>
          </a:prstGeom>
          <a:noFill/>
          <a:ln/>
        </p:spPr>
        <p:txBody>
          <a:bodyPr wrap="square" lIns="0" tIns="0" rIns="0" bIns="0" rtlCol="0" anchor="ctr"/>
          <a:lstStyle/>
          <a:p>
            <a:pPr indent="0" marL="0">
              <a:buNone/>
            </a:pPr>
            <a:r>
              <a:rPr lang="en-US" sz="1400" dirty="0">
                <a:solidFill>
                  <a:schemeClr val="tx1"/>
                </a:solidFill>
              </a:rPr>
              <a:t>A fronted adverbial is followed by a comma.</a:t>
            </a:r>
            <a:endParaRPr lang="en-US" sz="1600" dirty="0"/>
          </a:p>
        </p:txBody>
      </p:sp>
      <p:sp>
        <p:nvSpPr>
          <p:cNvPr id="16" name="card"/>
          <p:cNvSpPr/>
          <p:nvPr/>
        </p:nvSpPr>
        <p:spPr>
          <a:xfrm>
            <a:off x="548640" y="3771900"/>
            <a:ext cx="8046720" cy="800100"/>
          </a:xfrm>
          <a:prstGeom prst="roundRect">
            <a:avLst>
              <a:gd name="adj" fmla="val 13714"/>
            </a:avLst>
          </a:prstGeom>
          <a:solidFill>
            <a:schemeClr val="bg2"/>
          </a:solidFill>
          <a:ln w="12700">
            <a:solidFill>
              <a:schemeClr val="bg2"/>
            </a:solidFill>
            <a:prstDash val="solid"/>
          </a:ln>
        </p:spPr>
      </p:sp>
      <p:sp>
        <p:nvSpPr>
          <p:cNvPr id="17" name="number"/>
          <p:cNvSpPr/>
          <p:nvPr/>
        </p:nvSpPr>
        <p:spPr>
          <a:xfrm>
            <a:off x="685800" y="3943350"/>
            <a:ext cx="457200" cy="457200"/>
          </a:xfrm>
          <a:prstGeom prst="ellipse">
            <a:avLst/>
          </a:prstGeom>
          <a:solidFill>
            <a:schemeClr val="accent5"/>
          </a:solidFill>
          <a:ln w="12700">
            <a:solidFill>
              <a:schemeClr val="bg1"/>
            </a:solidFill>
            <a:prstDash val="solid"/>
          </a:ln>
        </p:spPr>
      </p:sp>
      <p:sp>
        <p:nvSpPr>
          <p:cNvPr id="18" name="Text 15"/>
          <p:cNvSpPr txBox="1"/>
          <p:nvPr/>
        </p:nvSpPr>
        <p:spPr>
          <a:xfrm>
            <a:off x="685800" y="3943350"/>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rPr>
              <a:t>4</a:t>
            </a:r>
            <a:endParaRPr lang="en-US" sz="1600" dirty="0"/>
          </a:p>
        </p:txBody>
      </p:sp>
      <p:sp>
        <p:nvSpPr>
          <p:cNvPr id="19" name="Text 16"/>
          <p:cNvSpPr txBox="1"/>
          <p:nvPr/>
        </p:nvSpPr>
        <p:spPr>
          <a:xfrm>
            <a:off x="1371600" y="3771900"/>
            <a:ext cx="7040880" cy="800100"/>
          </a:xfrm>
          <a:prstGeom prst="rect">
            <a:avLst/>
          </a:prstGeom>
          <a:noFill/>
          <a:ln/>
        </p:spPr>
        <p:txBody>
          <a:bodyPr wrap="square" lIns="0" tIns="0" rIns="0" bIns="0" rtlCol="0" anchor="ctr"/>
          <a:lstStyle/>
          <a:p>
            <a:pPr indent="0" marL="0">
              <a:buNone/>
            </a:pPr>
            <a:r>
              <a:rPr lang="en-US" sz="1400" dirty="0">
                <a:solidFill>
                  <a:schemeClr val="tx1"/>
                </a:solidFill>
              </a:rPr>
              <a:t>The more adjectives you use, the better the description.</a:t>
            </a:r>
            <a:endParaRPr lang="en-US" sz="1600" dirty="0"/>
          </a:p>
        </p:txBody>
      </p:sp>
      <p:sp>
        <p:nvSpPr>
          <p:cNvPr id="25" name="Slide Number Placeholder 0"/>
          <p:cNvSpPr>
            <a:spLocks noGrp="1"/>
          </p:cNvSpPr>
          <p:nvPr>
            <p:ph type="sldNum" sz="quarter" idx="4294967295"/>
          </p:nvPr>
        </p:nvSpPr>
        <p:spPr>
          <a:xfrm>
            <a:off x="8229600" y="4736592"/>
            <a:ext cx="36576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6784"/>
                </a:solidFill>
              </a:defRPr>
            </a:lvl1pPr>
          </a:lstStyle>
          <a:p>
            <a:pPr algn="l"/>
            <a:fld id="{F7021451-1387-4CA6-816F-3879F97B5CBC}" type="slidenum">
              <a:rPr b="0" lang="en-US"/>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8046720" cy="731520"/>
          </a:xfrm>
          <a:prstGeom prst="rect">
            <a:avLst/>
          </a:prstGeom>
          <a:noFill/>
          <a:ln/>
        </p:spPr>
        <p:txBody>
          <a:bodyPr wrap="square" lIns="0" tIns="0" rIns="0" bIns="0" rtlCol="0" anchor="ctr"/>
          <a:lstStyle/>
          <a:p>
            <a:pPr algn="l" indent="0" marL="0">
              <a:buNone/>
            </a:pPr>
            <a:r>
              <a:rPr lang="en-US" sz="3000" b="1" dirty="0">
                <a:solidFill>
                  <a:schemeClr val="tx1"/>
                </a:solidFill>
              </a:rPr>
              <a:t>Answers: true or false?</a:t>
            </a:r>
            <a:endParaRPr lang="en-US" sz="3000" dirty="0"/>
          </a:p>
        </p:txBody>
      </p:sp>
      <p:sp>
        <p:nvSpPr>
          <p:cNvPr id="4" name="card"/>
          <p:cNvSpPr/>
          <p:nvPr/>
        </p:nvSpPr>
        <p:spPr>
          <a:xfrm>
            <a:off x="548640" y="1097280"/>
            <a:ext cx="8046720" cy="800100"/>
          </a:xfrm>
          <a:prstGeom prst="roundRect">
            <a:avLst>
              <a:gd name="adj" fmla="val 13714"/>
            </a:avLst>
          </a:prstGeom>
          <a:solidFill>
            <a:schemeClr val="bg2"/>
          </a:solidFill>
          <a:ln w="12700">
            <a:solidFill>
              <a:schemeClr val="bg2"/>
            </a:solidFill>
            <a:prstDash val="solid"/>
          </a:ln>
        </p:spPr>
      </p:sp>
      <p:sp>
        <p:nvSpPr>
          <p:cNvPr id="5" name="number"/>
          <p:cNvSpPr/>
          <p:nvPr/>
        </p:nvSpPr>
        <p:spPr>
          <a:xfrm>
            <a:off x="685800" y="1268730"/>
            <a:ext cx="457200" cy="457200"/>
          </a:xfrm>
          <a:prstGeom prst="ellipse">
            <a:avLst/>
          </a:prstGeom>
          <a:solidFill>
            <a:schemeClr val="accent4"/>
          </a:solidFill>
          <a:ln w="12700">
            <a:solidFill>
              <a:schemeClr val="bg1"/>
            </a:solidFill>
            <a:prstDash val="solid"/>
          </a:ln>
        </p:spPr>
      </p:sp>
      <p:sp>
        <p:nvSpPr>
          <p:cNvPr id="6" name="Text 3"/>
          <p:cNvSpPr txBox="1"/>
          <p:nvPr/>
        </p:nvSpPr>
        <p:spPr>
          <a:xfrm>
            <a:off x="685800" y="1268730"/>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rPr>
              <a:t>1</a:t>
            </a:r>
            <a:endParaRPr lang="en-US" sz="1600" dirty="0"/>
          </a:p>
        </p:txBody>
      </p:sp>
      <p:sp>
        <p:nvSpPr>
          <p:cNvPr id="7" name="Text 4"/>
          <p:cNvSpPr txBox="1"/>
          <p:nvPr/>
        </p:nvSpPr>
        <p:spPr>
          <a:xfrm>
            <a:off x="1371600" y="1097280"/>
            <a:ext cx="7040880" cy="800100"/>
          </a:xfrm>
          <a:prstGeom prst="rect">
            <a:avLst/>
          </a:prstGeom>
          <a:noFill/>
          <a:ln/>
        </p:spPr>
        <p:txBody>
          <a:bodyPr wrap="square" lIns="0" tIns="0" rIns="0" bIns="0" rtlCol="0" anchor="ctr"/>
          <a:lstStyle/>
          <a:p>
            <a:pPr indent="0" marL="0">
              <a:buNone/>
            </a:pPr>
            <a:r>
              <a:rPr lang="en-US" sz="1300" b="1" dirty="0">
                <a:solidFill>
                  <a:schemeClr val="tx1"/>
                </a:solidFill>
              </a:rPr>
              <a:t>False.</a:t>
            </a:r>
            <a:pPr indent="0" marL="0">
              <a:buNone/>
            </a:pPr>
            <a:r>
              <a:rPr lang="en-US" sz="1300" dirty="0">
                <a:solidFill>
                  <a:schemeClr val="tx1"/>
                </a:solidFill>
              </a:rPr>
              <a:t> 'Strangely' is an adverb. It describes the adjective 'quiet'.</a:t>
            </a:r>
            <a:endParaRPr lang="en-US" sz="1600" dirty="0"/>
          </a:p>
        </p:txBody>
      </p:sp>
      <p:sp>
        <p:nvSpPr>
          <p:cNvPr id="8" name="card"/>
          <p:cNvSpPr/>
          <p:nvPr/>
        </p:nvSpPr>
        <p:spPr>
          <a:xfrm>
            <a:off x="548640" y="1988820"/>
            <a:ext cx="8046720" cy="800100"/>
          </a:xfrm>
          <a:prstGeom prst="roundRect">
            <a:avLst>
              <a:gd name="adj" fmla="val 13714"/>
            </a:avLst>
          </a:prstGeom>
          <a:solidFill>
            <a:schemeClr val="bg2"/>
          </a:solidFill>
          <a:ln w="12700">
            <a:solidFill>
              <a:schemeClr val="bg2"/>
            </a:solidFill>
            <a:prstDash val="solid"/>
          </a:ln>
        </p:spPr>
      </p:sp>
      <p:sp>
        <p:nvSpPr>
          <p:cNvPr id="9" name="number"/>
          <p:cNvSpPr/>
          <p:nvPr/>
        </p:nvSpPr>
        <p:spPr>
          <a:xfrm>
            <a:off x="685800" y="2160270"/>
            <a:ext cx="457200" cy="457200"/>
          </a:xfrm>
          <a:prstGeom prst="ellipse">
            <a:avLst/>
          </a:prstGeom>
          <a:solidFill>
            <a:schemeClr val="accent2"/>
          </a:solidFill>
          <a:ln w="12700">
            <a:solidFill>
              <a:schemeClr val="bg1"/>
            </a:solidFill>
            <a:prstDash val="solid"/>
          </a:ln>
        </p:spPr>
      </p:sp>
      <p:sp>
        <p:nvSpPr>
          <p:cNvPr id="10" name="Text 7"/>
          <p:cNvSpPr txBox="1"/>
          <p:nvPr/>
        </p:nvSpPr>
        <p:spPr>
          <a:xfrm>
            <a:off x="685800" y="2160270"/>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rPr>
              <a:t>2</a:t>
            </a:r>
            <a:endParaRPr lang="en-US" sz="1600" dirty="0"/>
          </a:p>
        </p:txBody>
      </p:sp>
      <p:sp>
        <p:nvSpPr>
          <p:cNvPr id="11" name="Text 8"/>
          <p:cNvSpPr txBox="1"/>
          <p:nvPr/>
        </p:nvSpPr>
        <p:spPr>
          <a:xfrm>
            <a:off x="1371600" y="1988820"/>
            <a:ext cx="7040880" cy="800100"/>
          </a:xfrm>
          <a:prstGeom prst="rect">
            <a:avLst/>
          </a:prstGeom>
          <a:noFill/>
          <a:ln/>
        </p:spPr>
        <p:txBody>
          <a:bodyPr wrap="square" lIns="0" tIns="0" rIns="0" bIns="0" rtlCol="0" anchor="ctr"/>
          <a:lstStyle/>
          <a:p>
            <a:pPr indent="0" marL="0">
              <a:buNone/>
            </a:pPr>
            <a:r>
              <a:rPr lang="en-US" sz="1300" b="1" dirty="0">
                <a:solidFill>
                  <a:schemeClr val="tx1"/>
                </a:solidFill>
              </a:rPr>
              <a:t>True.</a:t>
            </a:r>
            <a:pPr indent="0" marL="0">
              <a:buNone/>
            </a:pPr>
            <a:r>
              <a:rPr lang="en-US" sz="1300" dirty="0">
                <a:solidFill>
                  <a:schemeClr val="tx1"/>
                </a:solidFill>
              </a:rPr>
              <a:t> 'Beside the frozen lake' tells us where.</a:t>
            </a:r>
            <a:endParaRPr lang="en-US" sz="1600" dirty="0"/>
          </a:p>
        </p:txBody>
      </p:sp>
      <p:sp>
        <p:nvSpPr>
          <p:cNvPr id="12" name="card"/>
          <p:cNvSpPr/>
          <p:nvPr/>
        </p:nvSpPr>
        <p:spPr>
          <a:xfrm>
            <a:off x="548640" y="2880360"/>
            <a:ext cx="8046720" cy="800100"/>
          </a:xfrm>
          <a:prstGeom prst="roundRect">
            <a:avLst>
              <a:gd name="adj" fmla="val 13714"/>
            </a:avLst>
          </a:prstGeom>
          <a:solidFill>
            <a:schemeClr val="bg2"/>
          </a:solidFill>
          <a:ln w="12700">
            <a:solidFill>
              <a:schemeClr val="bg2"/>
            </a:solidFill>
            <a:prstDash val="solid"/>
          </a:ln>
        </p:spPr>
      </p:sp>
      <p:sp>
        <p:nvSpPr>
          <p:cNvPr id="13" name="number"/>
          <p:cNvSpPr/>
          <p:nvPr/>
        </p:nvSpPr>
        <p:spPr>
          <a:xfrm>
            <a:off x="685800" y="3051810"/>
            <a:ext cx="457200" cy="457200"/>
          </a:xfrm>
          <a:prstGeom prst="ellipse">
            <a:avLst/>
          </a:prstGeom>
          <a:solidFill>
            <a:schemeClr val="accent3"/>
          </a:solidFill>
          <a:ln w="12700">
            <a:solidFill>
              <a:schemeClr val="bg1"/>
            </a:solidFill>
            <a:prstDash val="solid"/>
          </a:ln>
        </p:spPr>
      </p:sp>
      <p:sp>
        <p:nvSpPr>
          <p:cNvPr id="14" name="Text 11"/>
          <p:cNvSpPr txBox="1"/>
          <p:nvPr/>
        </p:nvSpPr>
        <p:spPr>
          <a:xfrm>
            <a:off x="685800" y="3051810"/>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rPr>
              <a:t>3</a:t>
            </a:r>
            <a:endParaRPr lang="en-US" sz="1600" dirty="0"/>
          </a:p>
        </p:txBody>
      </p:sp>
      <p:sp>
        <p:nvSpPr>
          <p:cNvPr id="15" name="Text 12"/>
          <p:cNvSpPr txBox="1"/>
          <p:nvPr/>
        </p:nvSpPr>
        <p:spPr>
          <a:xfrm>
            <a:off x="1371600" y="2880360"/>
            <a:ext cx="7040880" cy="800100"/>
          </a:xfrm>
          <a:prstGeom prst="rect">
            <a:avLst/>
          </a:prstGeom>
          <a:noFill/>
          <a:ln/>
        </p:spPr>
        <p:txBody>
          <a:bodyPr wrap="square" lIns="0" tIns="0" rIns="0" bIns="0" rtlCol="0" anchor="ctr"/>
          <a:lstStyle/>
          <a:p>
            <a:pPr indent="0" marL="0">
              <a:buNone/>
            </a:pPr>
            <a:r>
              <a:rPr lang="en-US" sz="1300" b="1" dirty="0">
                <a:solidFill>
                  <a:schemeClr val="tx1"/>
                </a:solidFill>
              </a:rPr>
              <a:t>True.</a:t>
            </a:r>
            <a:pPr indent="0" marL="0">
              <a:buNone/>
            </a:pPr>
            <a:r>
              <a:rPr lang="en-US" sz="1300" dirty="0">
                <a:solidFill>
                  <a:schemeClr val="tx1"/>
                </a:solidFill>
              </a:rPr>
              <a:t> For example: 'Later that night, a bell began to ring.'</a:t>
            </a:r>
            <a:endParaRPr lang="en-US" sz="1600" dirty="0"/>
          </a:p>
        </p:txBody>
      </p:sp>
      <p:sp>
        <p:nvSpPr>
          <p:cNvPr id="16" name="card"/>
          <p:cNvSpPr/>
          <p:nvPr/>
        </p:nvSpPr>
        <p:spPr>
          <a:xfrm>
            <a:off x="548640" y="3771900"/>
            <a:ext cx="8046720" cy="800100"/>
          </a:xfrm>
          <a:prstGeom prst="roundRect">
            <a:avLst>
              <a:gd name="adj" fmla="val 13714"/>
            </a:avLst>
          </a:prstGeom>
          <a:solidFill>
            <a:schemeClr val="bg2"/>
          </a:solidFill>
          <a:ln w="12700">
            <a:solidFill>
              <a:schemeClr val="bg2"/>
            </a:solidFill>
            <a:prstDash val="solid"/>
          </a:ln>
        </p:spPr>
      </p:sp>
      <p:sp>
        <p:nvSpPr>
          <p:cNvPr id="17" name="number"/>
          <p:cNvSpPr/>
          <p:nvPr/>
        </p:nvSpPr>
        <p:spPr>
          <a:xfrm>
            <a:off x="685800" y="3943350"/>
            <a:ext cx="457200" cy="457200"/>
          </a:xfrm>
          <a:prstGeom prst="ellipse">
            <a:avLst/>
          </a:prstGeom>
          <a:solidFill>
            <a:schemeClr val="accent5"/>
          </a:solidFill>
          <a:ln w="12700">
            <a:solidFill>
              <a:schemeClr val="bg1"/>
            </a:solidFill>
            <a:prstDash val="solid"/>
          </a:ln>
        </p:spPr>
      </p:sp>
      <p:sp>
        <p:nvSpPr>
          <p:cNvPr id="18" name="Text 15"/>
          <p:cNvSpPr txBox="1"/>
          <p:nvPr/>
        </p:nvSpPr>
        <p:spPr>
          <a:xfrm>
            <a:off x="685800" y="3943350"/>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rPr>
              <a:t>4</a:t>
            </a:r>
            <a:endParaRPr lang="en-US" sz="1600" dirty="0"/>
          </a:p>
        </p:txBody>
      </p:sp>
      <p:sp>
        <p:nvSpPr>
          <p:cNvPr id="19" name="Text 16"/>
          <p:cNvSpPr txBox="1"/>
          <p:nvPr/>
        </p:nvSpPr>
        <p:spPr>
          <a:xfrm>
            <a:off x="1371600" y="3771900"/>
            <a:ext cx="7040880" cy="800100"/>
          </a:xfrm>
          <a:prstGeom prst="rect">
            <a:avLst/>
          </a:prstGeom>
          <a:noFill/>
          <a:ln/>
        </p:spPr>
        <p:txBody>
          <a:bodyPr wrap="square" lIns="0" tIns="0" rIns="0" bIns="0" rtlCol="0" anchor="ctr"/>
          <a:lstStyle/>
          <a:p>
            <a:pPr indent="0" marL="0">
              <a:buNone/>
            </a:pPr>
            <a:r>
              <a:rPr lang="en-US" sz="1300" b="1" dirty="0">
                <a:solidFill>
                  <a:schemeClr val="tx1"/>
                </a:solidFill>
              </a:rPr>
              <a:t>False.</a:t>
            </a:r>
            <a:pPr indent="0" marL="0">
              <a:buNone/>
            </a:pPr>
            <a:r>
              <a:rPr lang="en-US" sz="1300" dirty="0">
                <a:solidFill>
                  <a:schemeClr val="tx1"/>
                </a:solidFill>
              </a:rPr>
              <a:t> Too many adjectives make the writing weaker. Choose a few exact ones.</a:t>
            </a:r>
            <a:endParaRPr lang="en-US" sz="1600" dirty="0"/>
          </a:p>
        </p:txBody>
      </p:sp>
      <p:sp>
        <p:nvSpPr>
          <p:cNvPr id="25" name="Slide Number Placeholder 0"/>
          <p:cNvSpPr>
            <a:spLocks noGrp="1"/>
          </p:cNvSpPr>
          <p:nvPr>
            <p:ph type="sldNum" sz="quarter" idx="4294967295"/>
          </p:nvPr>
        </p:nvSpPr>
        <p:spPr>
          <a:xfrm>
            <a:off x="8229600" y="4736592"/>
            <a:ext cx="36576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6784"/>
                </a:solidFill>
              </a:defRPr>
            </a:lvl1pPr>
          </a:lstStyle>
          <a:p>
            <a:pPr algn="l"/>
            <a:fld id="{F7021451-1387-4CA6-816F-3879F97B5CBC}" type="slidenum">
              <a:rPr b="0" lang="en-US"/>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8046720" cy="731520"/>
          </a:xfrm>
          <a:prstGeom prst="rect">
            <a:avLst/>
          </a:prstGeom>
          <a:noFill/>
          <a:ln/>
        </p:spPr>
        <p:txBody>
          <a:bodyPr wrap="square" lIns="0" tIns="0" rIns="0" bIns="0" rtlCol="0" anchor="ctr"/>
          <a:lstStyle/>
          <a:p>
            <a:pPr algn="l" indent="0" marL="0">
              <a:buNone/>
            </a:pPr>
            <a:r>
              <a:rPr lang="en-US" sz="3000" b="1" dirty="0">
                <a:solidFill>
                  <a:schemeClr val="tx1"/>
                </a:solidFill>
              </a:rPr>
              <a:t>Exam practice: question 1 of 4</a:t>
            </a:r>
            <a:endParaRPr lang="en-US" sz="3000" dirty="0"/>
          </a:p>
        </p:txBody>
      </p:sp>
      <p:sp>
        <p:nvSpPr>
          <p:cNvPr id="4" name="Text 1"/>
          <p:cNvSpPr txBox="1"/>
          <p:nvPr/>
        </p:nvSpPr>
        <p:spPr>
          <a:xfrm>
            <a:off x="6583680" y="457200"/>
            <a:ext cx="2011680" cy="365760"/>
          </a:xfrm>
          <a:prstGeom prst="rect">
            <a:avLst/>
          </a:prstGeom>
          <a:noFill/>
          <a:ln/>
        </p:spPr>
        <p:txBody>
          <a:bodyPr wrap="square" lIns="0" tIns="0" rIns="0" bIns="0" rtlCol="0" anchor="t"/>
          <a:lstStyle/>
          <a:p>
            <a:pPr algn="r" indent="0" marL="0">
              <a:buNone/>
            </a:pPr>
            <a:r>
              <a:rPr lang="en-US" sz="1400" b="1" dirty="0">
                <a:solidFill>
                  <a:schemeClr val="tx1"/>
                </a:solidFill>
              </a:rPr>
              <a:t>(1 mark)</a:t>
            </a:r>
            <a:endParaRPr lang="en-US" sz="1400" dirty="0"/>
          </a:p>
        </p:txBody>
      </p:sp>
      <p:sp>
        <p:nvSpPr>
          <p:cNvPr id="5" name="card"/>
          <p:cNvSpPr/>
          <p:nvPr/>
        </p:nvSpPr>
        <p:spPr>
          <a:xfrm>
            <a:off x="548640" y="1097280"/>
            <a:ext cx="8046720" cy="1417320"/>
          </a:xfrm>
          <a:prstGeom prst="roundRect">
            <a:avLst>
              <a:gd name="adj" fmla="val 7742"/>
            </a:avLst>
          </a:prstGeom>
          <a:solidFill>
            <a:schemeClr val="bg2"/>
          </a:solidFill>
          <a:ln w="12700">
            <a:solidFill>
              <a:schemeClr val="bg2"/>
            </a:solidFill>
            <a:prstDash val="solid"/>
          </a:ln>
        </p:spPr>
      </p:sp>
      <p:sp>
        <p:nvSpPr>
          <p:cNvPr id="6" name="question number"/>
          <p:cNvSpPr/>
          <p:nvPr/>
        </p:nvSpPr>
        <p:spPr>
          <a:xfrm>
            <a:off x="731520" y="1554480"/>
            <a:ext cx="594360" cy="594360"/>
          </a:xfrm>
          <a:prstGeom prst="ellipse">
            <a:avLst/>
          </a:prstGeom>
          <a:solidFill>
            <a:schemeClr val="accent4"/>
          </a:solidFill>
          <a:ln w="12700">
            <a:solidFill>
              <a:schemeClr val="accent4"/>
            </a:solidFill>
            <a:prstDash val="solid"/>
          </a:ln>
        </p:spPr>
      </p:sp>
      <p:sp>
        <p:nvSpPr>
          <p:cNvPr id="7" name="Text 4"/>
          <p:cNvSpPr txBox="1"/>
          <p:nvPr/>
        </p:nvSpPr>
        <p:spPr>
          <a:xfrm>
            <a:off x="731520" y="1554480"/>
            <a:ext cx="594360" cy="594360"/>
          </a:xfrm>
          <a:prstGeom prst="rect">
            <a:avLst/>
          </a:prstGeom>
          <a:noFill/>
          <a:ln/>
        </p:spPr>
        <p:txBody>
          <a:bodyPr wrap="square" lIns="0" tIns="0" rIns="0" bIns="0" rtlCol="0" anchor="ctr"/>
          <a:lstStyle/>
          <a:p>
            <a:pPr algn="ctr" indent="0" marL="0">
              <a:buNone/>
            </a:pPr>
            <a:r>
              <a:rPr lang="en-US" sz="2000" b="1" dirty="0">
                <a:solidFill>
                  <a:schemeClr val="bg1"/>
                </a:solidFill>
              </a:rPr>
              <a:t>1</a:t>
            </a:r>
            <a:endParaRPr lang="en-US" sz="2000" dirty="0"/>
          </a:p>
        </p:txBody>
      </p:sp>
      <p:sp>
        <p:nvSpPr>
          <p:cNvPr id="8" name="Text 5"/>
          <p:cNvSpPr txBox="1"/>
          <p:nvPr/>
        </p:nvSpPr>
        <p:spPr>
          <a:xfrm>
            <a:off x="1508760" y="1097280"/>
            <a:ext cx="6903720" cy="1417320"/>
          </a:xfrm>
          <a:prstGeom prst="rect">
            <a:avLst/>
          </a:prstGeom>
          <a:noFill/>
          <a:ln/>
        </p:spPr>
        <p:txBody>
          <a:bodyPr wrap="square" lIns="0" tIns="0" rIns="0" bIns="0" rtlCol="0" anchor="ctr"/>
          <a:lstStyle/>
          <a:p>
            <a:pPr indent="0" marL="0">
              <a:buNone/>
            </a:pPr>
            <a:r>
              <a:rPr lang="en-US" sz="1800" b="1" dirty="0">
                <a:solidFill>
                  <a:schemeClr val="tx1"/>
                </a:solidFill>
              </a:rPr>
              <a:t>'a deeply silent forest' What does the word 'deeply' describe?</a:t>
            </a:r>
            <a:endParaRPr lang="en-US" sz="1800" dirty="0"/>
          </a:p>
        </p:txBody>
      </p:sp>
      <p:sp>
        <p:nvSpPr>
          <p:cNvPr id="9" name="card"/>
          <p:cNvSpPr/>
          <p:nvPr/>
        </p:nvSpPr>
        <p:spPr>
          <a:xfrm>
            <a:off x="548640" y="2697480"/>
            <a:ext cx="3931920" cy="868680"/>
          </a:xfrm>
          <a:prstGeom prst="roundRect">
            <a:avLst>
              <a:gd name="adj" fmla="val 12632"/>
            </a:avLst>
          </a:prstGeom>
          <a:solidFill>
            <a:schemeClr val="bg2"/>
          </a:solidFill>
          <a:ln w="12700">
            <a:solidFill>
              <a:schemeClr val="bg2"/>
            </a:solidFill>
            <a:prstDash val="solid"/>
          </a:ln>
        </p:spPr>
      </p:sp>
      <p:sp>
        <p:nvSpPr>
          <p:cNvPr id="10" name="tick box"/>
          <p:cNvSpPr/>
          <p:nvPr/>
        </p:nvSpPr>
        <p:spPr>
          <a:xfrm>
            <a:off x="731520" y="2944368"/>
            <a:ext cx="365760" cy="365760"/>
          </a:xfrm>
          <a:prstGeom prst="rect">
            <a:avLst/>
          </a:prstGeom>
          <a:solidFill>
            <a:schemeClr val="bg1"/>
          </a:solidFill>
          <a:ln w="19050">
            <a:solidFill>
              <a:schemeClr val="tx1"/>
            </a:solidFill>
            <a:prstDash val="solid"/>
          </a:ln>
        </p:spPr>
      </p:sp>
      <p:sp>
        <p:nvSpPr>
          <p:cNvPr id="11" name="Text 8"/>
          <p:cNvSpPr txBox="1"/>
          <p:nvPr/>
        </p:nvSpPr>
        <p:spPr>
          <a:xfrm>
            <a:off x="1234440" y="2697480"/>
            <a:ext cx="365760" cy="868680"/>
          </a:xfrm>
          <a:prstGeom prst="rect">
            <a:avLst/>
          </a:prstGeom>
          <a:noFill/>
          <a:ln/>
        </p:spPr>
        <p:txBody>
          <a:bodyPr wrap="square" lIns="0" tIns="0" rIns="0" bIns="0" rtlCol="0" anchor="ctr"/>
          <a:lstStyle/>
          <a:p>
            <a:pPr indent="0" marL="0">
              <a:buNone/>
            </a:pPr>
            <a:r>
              <a:rPr lang="en-US" sz="1800" b="1" dirty="0">
                <a:solidFill>
                  <a:schemeClr val="accent4"/>
                </a:solidFill>
              </a:rPr>
              <a:t>A</a:t>
            </a:r>
            <a:endParaRPr lang="en-US" sz="1800" dirty="0"/>
          </a:p>
        </p:txBody>
      </p:sp>
      <p:sp>
        <p:nvSpPr>
          <p:cNvPr id="12" name="Text 9"/>
          <p:cNvSpPr txBox="1"/>
          <p:nvPr/>
        </p:nvSpPr>
        <p:spPr>
          <a:xfrm>
            <a:off x="1645920" y="2697480"/>
            <a:ext cx="2743200" cy="868680"/>
          </a:xfrm>
          <a:prstGeom prst="rect">
            <a:avLst/>
          </a:prstGeom>
          <a:noFill/>
          <a:ln/>
        </p:spPr>
        <p:txBody>
          <a:bodyPr wrap="square" lIns="0" tIns="0" rIns="0" bIns="0" rtlCol="0" anchor="ctr"/>
          <a:lstStyle/>
          <a:p>
            <a:pPr indent="0" marL="0">
              <a:buNone/>
            </a:pPr>
            <a:r>
              <a:rPr lang="en-US" sz="1600" dirty="0">
                <a:solidFill>
                  <a:schemeClr val="tx1"/>
                </a:solidFill>
              </a:rPr>
              <a:t>forest</a:t>
            </a:r>
            <a:endParaRPr lang="en-US" sz="1600" dirty="0"/>
          </a:p>
        </p:txBody>
      </p:sp>
      <p:sp>
        <p:nvSpPr>
          <p:cNvPr id="13" name="card"/>
          <p:cNvSpPr/>
          <p:nvPr/>
        </p:nvSpPr>
        <p:spPr>
          <a:xfrm>
            <a:off x="4663440" y="2697480"/>
            <a:ext cx="3931920" cy="868680"/>
          </a:xfrm>
          <a:prstGeom prst="roundRect">
            <a:avLst>
              <a:gd name="adj" fmla="val 12632"/>
            </a:avLst>
          </a:prstGeom>
          <a:solidFill>
            <a:schemeClr val="bg2"/>
          </a:solidFill>
          <a:ln w="12700">
            <a:solidFill>
              <a:schemeClr val="bg2"/>
            </a:solidFill>
            <a:prstDash val="solid"/>
          </a:ln>
        </p:spPr>
      </p:sp>
      <p:sp>
        <p:nvSpPr>
          <p:cNvPr id="14" name="tick box"/>
          <p:cNvSpPr/>
          <p:nvPr/>
        </p:nvSpPr>
        <p:spPr>
          <a:xfrm>
            <a:off x="4846320" y="2944368"/>
            <a:ext cx="365760" cy="365760"/>
          </a:xfrm>
          <a:prstGeom prst="rect">
            <a:avLst/>
          </a:prstGeom>
          <a:solidFill>
            <a:schemeClr val="bg1"/>
          </a:solidFill>
          <a:ln w="19050">
            <a:solidFill>
              <a:schemeClr val="tx1"/>
            </a:solidFill>
            <a:prstDash val="solid"/>
          </a:ln>
        </p:spPr>
      </p:sp>
      <p:sp>
        <p:nvSpPr>
          <p:cNvPr id="15" name="Text 12"/>
          <p:cNvSpPr txBox="1"/>
          <p:nvPr/>
        </p:nvSpPr>
        <p:spPr>
          <a:xfrm>
            <a:off x="5349240" y="2697480"/>
            <a:ext cx="365760" cy="868680"/>
          </a:xfrm>
          <a:prstGeom prst="rect">
            <a:avLst/>
          </a:prstGeom>
          <a:noFill/>
          <a:ln/>
        </p:spPr>
        <p:txBody>
          <a:bodyPr wrap="square" lIns="0" tIns="0" rIns="0" bIns="0" rtlCol="0" anchor="ctr"/>
          <a:lstStyle/>
          <a:p>
            <a:pPr indent="0" marL="0">
              <a:buNone/>
            </a:pPr>
            <a:r>
              <a:rPr lang="en-US" sz="1800" b="1" dirty="0">
                <a:solidFill>
                  <a:schemeClr val="accent4"/>
                </a:solidFill>
              </a:rPr>
              <a:t>B</a:t>
            </a:r>
            <a:endParaRPr lang="en-US" sz="1800" dirty="0"/>
          </a:p>
        </p:txBody>
      </p:sp>
      <p:sp>
        <p:nvSpPr>
          <p:cNvPr id="16" name="Text 13"/>
          <p:cNvSpPr txBox="1"/>
          <p:nvPr/>
        </p:nvSpPr>
        <p:spPr>
          <a:xfrm>
            <a:off x="5760720" y="2697480"/>
            <a:ext cx="2743200" cy="868680"/>
          </a:xfrm>
          <a:prstGeom prst="rect">
            <a:avLst/>
          </a:prstGeom>
          <a:noFill/>
          <a:ln/>
        </p:spPr>
        <p:txBody>
          <a:bodyPr wrap="square" lIns="0" tIns="0" rIns="0" bIns="0" rtlCol="0" anchor="ctr"/>
          <a:lstStyle/>
          <a:p>
            <a:pPr indent="0" marL="0">
              <a:buNone/>
            </a:pPr>
            <a:r>
              <a:rPr lang="en-US" sz="1600" dirty="0">
                <a:solidFill>
                  <a:schemeClr val="tx1"/>
                </a:solidFill>
              </a:rPr>
              <a:t>silent</a:t>
            </a:r>
            <a:endParaRPr lang="en-US" sz="1600" dirty="0"/>
          </a:p>
        </p:txBody>
      </p:sp>
      <p:sp>
        <p:nvSpPr>
          <p:cNvPr id="17" name="card"/>
          <p:cNvSpPr/>
          <p:nvPr/>
        </p:nvSpPr>
        <p:spPr>
          <a:xfrm>
            <a:off x="548640" y="3703320"/>
            <a:ext cx="3931920" cy="868680"/>
          </a:xfrm>
          <a:prstGeom prst="roundRect">
            <a:avLst>
              <a:gd name="adj" fmla="val 12632"/>
            </a:avLst>
          </a:prstGeom>
          <a:solidFill>
            <a:schemeClr val="bg2"/>
          </a:solidFill>
          <a:ln w="12700">
            <a:solidFill>
              <a:schemeClr val="bg2"/>
            </a:solidFill>
            <a:prstDash val="solid"/>
          </a:ln>
        </p:spPr>
      </p:sp>
      <p:sp>
        <p:nvSpPr>
          <p:cNvPr id="18" name="tick box"/>
          <p:cNvSpPr/>
          <p:nvPr/>
        </p:nvSpPr>
        <p:spPr>
          <a:xfrm>
            <a:off x="731520" y="3950208"/>
            <a:ext cx="365760" cy="365760"/>
          </a:xfrm>
          <a:prstGeom prst="rect">
            <a:avLst/>
          </a:prstGeom>
          <a:solidFill>
            <a:schemeClr val="bg1"/>
          </a:solidFill>
          <a:ln w="19050">
            <a:solidFill>
              <a:schemeClr val="tx1"/>
            </a:solidFill>
            <a:prstDash val="solid"/>
          </a:ln>
        </p:spPr>
      </p:sp>
      <p:sp>
        <p:nvSpPr>
          <p:cNvPr id="19" name="Text 16"/>
          <p:cNvSpPr txBox="1"/>
          <p:nvPr/>
        </p:nvSpPr>
        <p:spPr>
          <a:xfrm>
            <a:off x="1234440" y="3703320"/>
            <a:ext cx="365760" cy="868680"/>
          </a:xfrm>
          <a:prstGeom prst="rect">
            <a:avLst/>
          </a:prstGeom>
          <a:noFill/>
          <a:ln/>
        </p:spPr>
        <p:txBody>
          <a:bodyPr wrap="square" lIns="0" tIns="0" rIns="0" bIns="0" rtlCol="0" anchor="ctr"/>
          <a:lstStyle/>
          <a:p>
            <a:pPr indent="0" marL="0">
              <a:buNone/>
            </a:pPr>
            <a:r>
              <a:rPr lang="en-US" sz="1800" b="1" dirty="0">
                <a:solidFill>
                  <a:schemeClr val="accent4"/>
                </a:solidFill>
              </a:rPr>
              <a:t>C</a:t>
            </a:r>
            <a:endParaRPr lang="en-US" sz="1800" dirty="0"/>
          </a:p>
        </p:txBody>
      </p:sp>
      <p:sp>
        <p:nvSpPr>
          <p:cNvPr id="20" name="Text 17"/>
          <p:cNvSpPr txBox="1"/>
          <p:nvPr/>
        </p:nvSpPr>
        <p:spPr>
          <a:xfrm>
            <a:off x="1645920" y="3703320"/>
            <a:ext cx="2743200" cy="868680"/>
          </a:xfrm>
          <a:prstGeom prst="rect">
            <a:avLst/>
          </a:prstGeom>
          <a:noFill/>
          <a:ln/>
        </p:spPr>
        <p:txBody>
          <a:bodyPr wrap="square" lIns="0" tIns="0" rIns="0" bIns="0" rtlCol="0" anchor="ctr"/>
          <a:lstStyle/>
          <a:p>
            <a:pPr indent="0" marL="0">
              <a:buNone/>
            </a:pPr>
            <a:r>
              <a:rPr lang="en-US" sz="1600" dirty="0">
                <a:solidFill>
                  <a:schemeClr val="tx1"/>
                </a:solidFill>
              </a:rPr>
              <a:t>a</a:t>
            </a:r>
            <a:endParaRPr lang="en-US" sz="1600" dirty="0"/>
          </a:p>
        </p:txBody>
      </p:sp>
      <p:sp>
        <p:nvSpPr>
          <p:cNvPr id="21" name="card"/>
          <p:cNvSpPr/>
          <p:nvPr/>
        </p:nvSpPr>
        <p:spPr>
          <a:xfrm>
            <a:off x="4663440" y="3703320"/>
            <a:ext cx="3931920" cy="868680"/>
          </a:xfrm>
          <a:prstGeom prst="roundRect">
            <a:avLst>
              <a:gd name="adj" fmla="val 12632"/>
            </a:avLst>
          </a:prstGeom>
          <a:solidFill>
            <a:schemeClr val="bg2"/>
          </a:solidFill>
          <a:ln w="12700">
            <a:solidFill>
              <a:schemeClr val="bg2"/>
            </a:solidFill>
            <a:prstDash val="solid"/>
          </a:ln>
        </p:spPr>
      </p:sp>
      <p:sp>
        <p:nvSpPr>
          <p:cNvPr id="22" name="tick box"/>
          <p:cNvSpPr/>
          <p:nvPr/>
        </p:nvSpPr>
        <p:spPr>
          <a:xfrm>
            <a:off x="4846320" y="3950208"/>
            <a:ext cx="365760" cy="365760"/>
          </a:xfrm>
          <a:prstGeom prst="rect">
            <a:avLst/>
          </a:prstGeom>
          <a:solidFill>
            <a:schemeClr val="bg1"/>
          </a:solidFill>
          <a:ln w="19050">
            <a:solidFill>
              <a:schemeClr val="tx1"/>
            </a:solidFill>
            <a:prstDash val="solid"/>
          </a:ln>
        </p:spPr>
      </p:sp>
      <p:sp>
        <p:nvSpPr>
          <p:cNvPr id="23" name="Text 20"/>
          <p:cNvSpPr txBox="1"/>
          <p:nvPr/>
        </p:nvSpPr>
        <p:spPr>
          <a:xfrm>
            <a:off x="5349240" y="3703320"/>
            <a:ext cx="365760" cy="868680"/>
          </a:xfrm>
          <a:prstGeom prst="rect">
            <a:avLst/>
          </a:prstGeom>
          <a:noFill/>
          <a:ln/>
        </p:spPr>
        <p:txBody>
          <a:bodyPr wrap="square" lIns="0" tIns="0" rIns="0" bIns="0" rtlCol="0" anchor="ctr"/>
          <a:lstStyle/>
          <a:p>
            <a:pPr indent="0" marL="0">
              <a:buNone/>
            </a:pPr>
            <a:r>
              <a:rPr lang="en-US" sz="1800" b="1" dirty="0">
                <a:solidFill>
                  <a:schemeClr val="accent4"/>
                </a:solidFill>
              </a:rPr>
              <a:t>D</a:t>
            </a:r>
            <a:endParaRPr lang="en-US" sz="1800" dirty="0"/>
          </a:p>
        </p:txBody>
      </p:sp>
      <p:sp>
        <p:nvSpPr>
          <p:cNvPr id="24" name="Text 21"/>
          <p:cNvSpPr txBox="1"/>
          <p:nvPr/>
        </p:nvSpPr>
        <p:spPr>
          <a:xfrm>
            <a:off x="5760720" y="3703320"/>
            <a:ext cx="2743200" cy="868680"/>
          </a:xfrm>
          <a:prstGeom prst="rect">
            <a:avLst/>
          </a:prstGeom>
          <a:noFill/>
          <a:ln/>
        </p:spPr>
        <p:txBody>
          <a:bodyPr wrap="square" lIns="0" tIns="0" rIns="0" bIns="0" rtlCol="0" anchor="ctr"/>
          <a:lstStyle/>
          <a:p>
            <a:pPr indent="0" marL="0">
              <a:buNone/>
            </a:pPr>
            <a:r>
              <a:rPr lang="en-US" sz="1600" dirty="0">
                <a:solidFill>
                  <a:schemeClr val="tx1"/>
                </a:solidFill>
              </a:rPr>
              <a:t>silent forest</a:t>
            </a:r>
            <a:endParaRPr lang="en-US" sz="1600" dirty="0"/>
          </a:p>
        </p:txBody>
      </p:sp>
      <p:sp>
        <p:nvSpPr>
          <p:cNvPr id="25" name="Text 22"/>
          <p:cNvSpPr txBox="1"/>
          <p:nvPr/>
        </p:nvSpPr>
        <p:spPr>
          <a:xfrm>
            <a:off x="548640" y="4572000"/>
            <a:ext cx="4572000" cy="274320"/>
          </a:xfrm>
          <a:prstGeom prst="rect">
            <a:avLst/>
          </a:prstGeom>
          <a:noFill/>
          <a:ln/>
        </p:spPr>
        <p:txBody>
          <a:bodyPr wrap="square" lIns="0" tIns="0" rIns="0" bIns="0" rtlCol="0" anchor="t"/>
          <a:lstStyle/>
          <a:p>
            <a:pPr indent="0" marL="0">
              <a:buNone/>
            </a:pPr>
            <a:r>
              <a:rPr lang="en-US" sz="1200" i="1" dirty="0">
                <a:solidFill>
                  <a:srgbClr val="4A4668"/>
                </a:solidFill>
              </a:rPr>
              <a:t>Put a cross in one box.</a:t>
            </a:r>
            <a:endParaRPr lang="en-US" sz="1200" dirty="0"/>
          </a:p>
        </p:txBody>
      </p:sp>
      <p:sp>
        <p:nvSpPr>
          <p:cNvPr id="25" name="Slide Number Placeholder 0"/>
          <p:cNvSpPr>
            <a:spLocks noGrp="1"/>
          </p:cNvSpPr>
          <p:nvPr>
            <p:ph type="sldNum" sz="quarter" idx="4294967295"/>
          </p:nvPr>
        </p:nvSpPr>
        <p:spPr>
          <a:xfrm>
            <a:off x="8229600" y="4736592"/>
            <a:ext cx="36576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6784"/>
                </a:solidFill>
              </a:defRPr>
            </a:lvl1pPr>
          </a:lstStyle>
          <a:p>
            <a:pPr algn="l"/>
            <a:fld id="{F7021451-1387-4CA6-816F-3879F97B5CBC}" type="slidenum">
              <a:rPr b="0" lang="en-US"/>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8046720" cy="731520"/>
          </a:xfrm>
          <a:prstGeom prst="rect">
            <a:avLst/>
          </a:prstGeom>
          <a:noFill/>
          <a:ln/>
        </p:spPr>
        <p:txBody>
          <a:bodyPr wrap="square" lIns="0" tIns="0" rIns="0" bIns="0" rtlCol="0" anchor="ctr"/>
          <a:lstStyle/>
          <a:p>
            <a:pPr algn="l" indent="0" marL="0">
              <a:buNone/>
            </a:pPr>
            <a:r>
              <a:rPr lang="en-US" sz="3000" b="1" dirty="0">
                <a:solidFill>
                  <a:schemeClr val="tx1"/>
                </a:solidFill>
              </a:rPr>
              <a:t>Answer: question 1 of 4</a:t>
            </a:r>
            <a:endParaRPr lang="en-US" sz="3000" dirty="0"/>
          </a:p>
        </p:txBody>
      </p:sp>
      <p:sp>
        <p:nvSpPr>
          <p:cNvPr id="4" name="card"/>
          <p:cNvSpPr/>
          <p:nvPr/>
        </p:nvSpPr>
        <p:spPr>
          <a:xfrm>
            <a:off x="548640" y="1097280"/>
            <a:ext cx="8046720" cy="3474720"/>
          </a:xfrm>
          <a:prstGeom prst="roundRect">
            <a:avLst>
              <a:gd name="adj" fmla="val 3158"/>
            </a:avLst>
          </a:prstGeom>
          <a:solidFill>
            <a:schemeClr val="bg2"/>
          </a:solidFill>
          <a:ln w="12700">
            <a:solidFill>
              <a:schemeClr val="bg2"/>
            </a:solidFill>
            <a:prstDash val="solid"/>
          </a:ln>
        </p:spPr>
      </p:sp>
      <p:sp>
        <p:nvSpPr>
          <p:cNvPr id="5" name="correct letter"/>
          <p:cNvSpPr/>
          <p:nvPr/>
        </p:nvSpPr>
        <p:spPr>
          <a:xfrm>
            <a:off x="822960" y="1371600"/>
            <a:ext cx="914400" cy="914400"/>
          </a:xfrm>
          <a:prstGeom prst="ellipse">
            <a:avLst/>
          </a:prstGeom>
          <a:solidFill>
            <a:schemeClr val="accent2"/>
          </a:solidFill>
          <a:ln w="12700">
            <a:solidFill>
              <a:schemeClr val="bg1"/>
            </a:solidFill>
            <a:prstDash val="solid"/>
          </a:ln>
        </p:spPr>
      </p:sp>
      <p:sp>
        <p:nvSpPr>
          <p:cNvPr id="6" name="Text 3"/>
          <p:cNvSpPr txBox="1"/>
          <p:nvPr/>
        </p:nvSpPr>
        <p:spPr>
          <a:xfrm>
            <a:off x="822960" y="1371600"/>
            <a:ext cx="914400" cy="914400"/>
          </a:xfrm>
          <a:prstGeom prst="rect">
            <a:avLst/>
          </a:prstGeom>
          <a:noFill/>
          <a:ln/>
        </p:spPr>
        <p:txBody>
          <a:bodyPr wrap="square" lIns="0" tIns="0" rIns="0" bIns="0" rtlCol="0" anchor="ctr"/>
          <a:lstStyle/>
          <a:p>
            <a:pPr algn="ctr" indent="0" marL="0">
              <a:buNone/>
            </a:pPr>
            <a:r>
              <a:rPr lang="en-US" sz="3600" b="1" dirty="0">
                <a:solidFill>
                  <a:schemeClr val="bg1"/>
                </a:solidFill>
              </a:rPr>
              <a:t>B</a:t>
            </a:r>
            <a:endParaRPr lang="en-US" sz="3600" dirty="0"/>
          </a:p>
        </p:txBody>
      </p:sp>
      <p:sp>
        <p:nvSpPr>
          <p:cNvPr id="7" name="Text 4"/>
          <p:cNvSpPr txBox="1"/>
          <p:nvPr/>
        </p:nvSpPr>
        <p:spPr>
          <a:xfrm>
            <a:off x="2011680" y="1280160"/>
            <a:ext cx="6400800" cy="1097280"/>
          </a:xfrm>
          <a:prstGeom prst="rect">
            <a:avLst/>
          </a:prstGeom>
          <a:noFill/>
          <a:ln/>
        </p:spPr>
        <p:txBody>
          <a:bodyPr wrap="square" lIns="0" tIns="0" rIns="0" bIns="0" rtlCol="0" anchor="ctr"/>
          <a:lstStyle/>
          <a:p>
            <a:pPr indent="0" marL="0">
              <a:buNone/>
            </a:pPr>
            <a:r>
              <a:rPr lang="en-US" sz="2200" b="1" dirty="0">
                <a:solidFill>
                  <a:schemeClr val="tx1"/>
                </a:solidFill>
                <a:highlight>
                  <a:srgbClr val="FFD27F"/>
                </a:highlight>
              </a:rPr>
              <a:t>silent</a:t>
            </a:r>
            <a:pPr indent="0" marL="0">
              <a:buNone/>
            </a:pPr>
            <a:r>
              <a:rPr lang="en-US" sz="2200" dirty="0">
                <a:solidFill>
                  <a:schemeClr val="tx1"/>
                </a:solidFill>
              </a:rPr>
              <a:t>  (1 mark)</a:t>
            </a:r>
            <a:endParaRPr lang="en-US" sz="1600" dirty="0"/>
          </a:p>
        </p:txBody>
      </p:sp>
      <p:sp>
        <p:nvSpPr>
          <p:cNvPr id="8" name="Text 5"/>
          <p:cNvSpPr txBox="1"/>
          <p:nvPr/>
        </p:nvSpPr>
        <p:spPr>
          <a:xfrm>
            <a:off x="822960" y="2468880"/>
            <a:ext cx="7498080" cy="2011680"/>
          </a:xfrm>
          <a:prstGeom prst="rect">
            <a:avLst/>
          </a:prstGeom>
          <a:noFill/>
          <a:ln/>
        </p:spPr>
        <p:txBody>
          <a:bodyPr wrap="square" lIns="0" tIns="0" rIns="0" bIns="0" rtlCol="0" anchor="t"/>
          <a:lstStyle/>
          <a:p>
            <a:pPr indent="0" marL="0">
              <a:spcAft>
                <a:spcPts val="600"/>
              </a:spcAft>
              <a:buNone/>
            </a:pPr>
            <a:r>
              <a:rPr lang="en-US" sz="1600" dirty="0">
                <a:solidFill>
                  <a:schemeClr val="tx1"/>
                </a:solidFill>
              </a:rPr>
              <a:t>'Deeply' is an adverb. Here it describes the adjective 'silent' and shows how silent the forest is.</a:t>
            </a:r>
            <a:endParaRPr lang="en-US" sz="1600" dirty="0"/>
          </a:p>
        </p:txBody>
      </p:sp>
      <p:sp>
        <p:nvSpPr>
          <p:cNvPr id="25" name="Slide Number Placeholder 0"/>
          <p:cNvSpPr>
            <a:spLocks noGrp="1"/>
          </p:cNvSpPr>
          <p:nvPr>
            <p:ph type="sldNum" sz="quarter" idx="4294967295"/>
          </p:nvPr>
        </p:nvSpPr>
        <p:spPr>
          <a:xfrm>
            <a:off x="8229600" y="4736592"/>
            <a:ext cx="36576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6784"/>
                </a:solidFill>
              </a:defRPr>
            </a:lvl1pPr>
          </a:lstStyle>
          <a:p>
            <a:pPr algn="l"/>
            <a:fld id="{F7021451-1387-4CA6-816F-3879F97B5CBC}" type="slidenum">
              <a:rPr b="0" lang="en-US"/>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8046720" cy="731520"/>
          </a:xfrm>
          <a:prstGeom prst="rect">
            <a:avLst/>
          </a:prstGeom>
          <a:noFill/>
          <a:ln/>
        </p:spPr>
        <p:txBody>
          <a:bodyPr wrap="square" lIns="0" tIns="0" rIns="0" bIns="0" rtlCol="0" anchor="ctr"/>
          <a:lstStyle/>
          <a:p>
            <a:pPr algn="l" indent="0" marL="0">
              <a:buNone/>
            </a:pPr>
            <a:r>
              <a:rPr lang="en-US" sz="3000" b="1" dirty="0">
                <a:solidFill>
                  <a:schemeClr val="tx1"/>
                </a:solidFill>
              </a:rPr>
              <a:t>Exam practice: question 2 of 4</a:t>
            </a:r>
            <a:endParaRPr lang="en-US" sz="3000" dirty="0"/>
          </a:p>
        </p:txBody>
      </p:sp>
      <p:sp>
        <p:nvSpPr>
          <p:cNvPr id="4" name="Text 1"/>
          <p:cNvSpPr txBox="1"/>
          <p:nvPr/>
        </p:nvSpPr>
        <p:spPr>
          <a:xfrm>
            <a:off x="6583680" y="457200"/>
            <a:ext cx="2011680" cy="365760"/>
          </a:xfrm>
          <a:prstGeom prst="rect">
            <a:avLst/>
          </a:prstGeom>
          <a:noFill/>
          <a:ln/>
        </p:spPr>
        <p:txBody>
          <a:bodyPr wrap="square" lIns="0" tIns="0" rIns="0" bIns="0" rtlCol="0" anchor="t"/>
          <a:lstStyle/>
          <a:p>
            <a:pPr algn="r" indent="0" marL="0">
              <a:buNone/>
            </a:pPr>
            <a:r>
              <a:rPr lang="en-US" sz="1400" b="1" dirty="0">
                <a:solidFill>
                  <a:schemeClr val="tx1"/>
                </a:solidFill>
              </a:rPr>
              <a:t>(1 mark)</a:t>
            </a:r>
            <a:endParaRPr lang="en-US" sz="1400" dirty="0"/>
          </a:p>
        </p:txBody>
      </p:sp>
      <p:sp>
        <p:nvSpPr>
          <p:cNvPr id="5" name="card"/>
          <p:cNvSpPr/>
          <p:nvPr/>
        </p:nvSpPr>
        <p:spPr>
          <a:xfrm>
            <a:off x="548640" y="1097280"/>
            <a:ext cx="8046720" cy="1417320"/>
          </a:xfrm>
          <a:prstGeom prst="roundRect">
            <a:avLst>
              <a:gd name="adj" fmla="val 7742"/>
            </a:avLst>
          </a:prstGeom>
          <a:solidFill>
            <a:schemeClr val="bg2"/>
          </a:solidFill>
          <a:ln w="12700">
            <a:solidFill>
              <a:schemeClr val="bg2"/>
            </a:solidFill>
            <a:prstDash val="solid"/>
          </a:ln>
        </p:spPr>
      </p:sp>
      <p:sp>
        <p:nvSpPr>
          <p:cNvPr id="6" name="question number"/>
          <p:cNvSpPr/>
          <p:nvPr/>
        </p:nvSpPr>
        <p:spPr>
          <a:xfrm>
            <a:off x="731520" y="1554480"/>
            <a:ext cx="594360" cy="594360"/>
          </a:xfrm>
          <a:prstGeom prst="ellipse">
            <a:avLst/>
          </a:prstGeom>
          <a:solidFill>
            <a:schemeClr val="accent2"/>
          </a:solidFill>
          <a:ln w="12700">
            <a:solidFill>
              <a:schemeClr val="accent2"/>
            </a:solidFill>
            <a:prstDash val="solid"/>
          </a:ln>
        </p:spPr>
      </p:sp>
      <p:sp>
        <p:nvSpPr>
          <p:cNvPr id="7" name="Text 4"/>
          <p:cNvSpPr txBox="1"/>
          <p:nvPr/>
        </p:nvSpPr>
        <p:spPr>
          <a:xfrm>
            <a:off x="731520" y="1554480"/>
            <a:ext cx="594360" cy="594360"/>
          </a:xfrm>
          <a:prstGeom prst="rect">
            <a:avLst/>
          </a:prstGeom>
          <a:noFill/>
          <a:ln/>
        </p:spPr>
        <p:txBody>
          <a:bodyPr wrap="square" lIns="0" tIns="0" rIns="0" bIns="0" rtlCol="0" anchor="ctr"/>
          <a:lstStyle/>
          <a:p>
            <a:pPr algn="ctr" indent="0" marL="0">
              <a:buNone/>
            </a:pPr>
            <a:r>
              <a:rPr lang="en-US" sz="2000" b="1" dirty="0">
                <a:solidFill>
                  <a:schemeClr val="bg1"/>
                </a:solidFill>
              </a:rPr>
              <a:t>2</a:t>
            </a:r>
            <a:endParaRPr lang="en-US" sz="2000" dirty="0"/>
          </a:p>
        </p:txBody>
      </p:sp>
      <p:sp>
        <p:nvSpPr>
          <p:cNvPr id="8" name="Text 5"/>
          <p:cNvSpPr txBox="1"/>
          <p:nvPr/>
        </p:nvSpPr>
        <p:spPr>
          <a:xfrm>
            <a:off x="1508760" y="1097280"/>
            <a:ext cx="6903720" cy="1417320"/>
          </a:xfrm>
          <a:prstGeom prst="rect">
            <a:avLst/>
          </a:prstGeom>
          <a:noFill/>
          <a:ln/>
        </p:spPr>
        <p:txBody>
          <a:bodyPr wrap="square" lIns="0" tIns="0" rIns="0" bIns="0" rtlCol="0" anchor="ctr"/>
          <a:lstStyle/>
          <a:p>
            <a:pPr indent="0" marL="0">
              <a:buNone/>
            </a:pPr>
            <a:r>
              <a:rPr lang="en-US" sz="1800" b="1" dirty="0">
                <a:solidFill>
                  <a:schemeClr val="tx1"/>
                </a:solidFill>
              </a:rPr>
              <a:t>'Behind the waterfall, a secret cave glittered.' Which part is the fronted adverbial?</a:t>
            </a:r>
            <a:endParaRPr lang="en-US" sz="1800" dirty="0"/>
          </a:p>
        </p:txBody>
      </p:sp>
      <p:sp>
        <p:nvSpPr>
          <p:cNvPr id="9" name="card"/>
          <p:cNvSpPr/>
          <p:nvPr/>
        </p:nvSpPr>
        <p:spPr>
          <a:xfrm>
            <a:off x="548640" y="2697480"/>
            <a:ext cx="3931920" cy="868680"/>
          </a:xfrm>
          <a:prstGeom prst="roundRect">
            <a:avLst>
              <a:gd name="adj" fmla="val 12632"/>
            </a:avLst>
          </a:prstGeom>
          <a:solidFill>
            <a:schemeClr val="bg2"/>
          </a:solidFill>
          <a:ln w="12700">
            <a:solidFill>
              <a:schemeClr val="bg2"/>
            </a:solidFill>
            <a:prstDash val="solid"/>
          </a:ln>
        </p:spPr>
      </p:sp>
      <p:sp>
        <p:nvSpPr>
          <p:cNvPr id="10" name="tick box"/>
          <p:cNvSpPr/>
          <p:nvPr/>
        </p:nvSpPr>
        <p:spPr>
          <a:xfrm>
            <a:off x="731520" y="2944368"/>
            <a:ext cx="365760" cy="365760"/>
          </a:xfrm>
          <a:prstGeom prst="rect">
            <a:avLst/>
          </a:prstGeom>
          <a:solidFill>
            <a:schemeClr val="bg1"/>
          </a:solidFill>
          <a:ln w="19050">
            <a:solidFill>
              <a:schemeClr val="tx1"/>
            </a:solidFill>
            <a:prstDash val="solid"/>
          </a:ln>
        </p:spPr>
      </p:sp>
      <p:sp>
        <p:nvSpPr>
          <p:cNvPr id="11" name="Text 8"/>
          <p:cNvSpPr txBox="1"/>
          <p:nvPr/>
        </p:nvSpPr>
        <p:spPr>
          <a:xfrm>
            <a:off x="1234440" y="2697480"/>
            <a:ext cx="365760" cy="868680"/>
          </a:xfrm>
          <a:prstGeom prst="rect">
            <a:avLst/>
          </a:prstGeom>
          <a:noFill/>
          <a:ln/>
        </p:spPr>
        <p:txBody>
          <a:bodyPr wrap="square" lIns="0" tIns="0" rIns="0" bIns="0" rtlCol="0" anchor="ctr"/>
          <a:lstStyle/>
          <a:p>
            <a:pPr indent="0" marL="0">
              <a:buNone/>
            </a:pPr>
            <a:r>
              <a:rPr lang="en-US" sz="1800" b="1" dirty="0">
                <a:solidFill>
                  <a:schemeClr val="accent4"/>
                </a:solidFill>
              </a:rPr>
              <a:t>A</a:t>
            </a:r>
            <a:endParaRPr lang="en-US" sz="1800" dirty="0"/>
          </a:p>
        </p:txBody>
      </p:sp>
      <p:sp>
        <p:nvSpPr>
          <p:cNvPr id="12" name="Text 9"/>
          <p:cNvSpPr txBox="1"/>
          <p:nvPr/>
        </p:nvSpPr>
        <p:spPr>
          <a:xfrm>
            <a:off x="1645920" y="2697480"/>
            <a:ext cx="2743200" cy="868680"/>
          </a:xfrm>
          <a:prstGeom prst="rect">
            <a:avLst/>
          </a:prstGeom>
          <a:noFill/>
          <a:ln/>
        </p:spPr>
        <p:txBody>
          <a:bodyPr wrap="square" lIns="0" tIns="0" rIns="0" bIns="0" rtlCol="0" anchor="ctr"/>
          <a:lstStyle/>
          <a:p>
            <a:pPr indent="0" marL="0">
              <a:buNone/>
            </a:pPr>
            <a:r>
              <a:rPr lang="en-US" sz="1600" dirty="0">
                <a:solidFill>
                  <a:schemeClr val="tx1"/>
                </a:solidFill>
              </a:rPr>
              <a:t>a secret cave</a:t>
            </a:r>
            <a:endParaRPr lang="en-US" sz="1600" dirty="0"/>
          </a:p>
        </p:txBody>
      </p:sp>
      <p:sp>
        <p:nvSpPr>
          <p:cNvPr id="13" name="card"/>
          <p:cNvSpPr/>
          <p:nvPr/>
        </p:nvSpPr>
        <p:spPr>
          <a:xfrm>
            <a:off x="4663440" y="2697480"/>
            <a:ext cx="3931920" cy="868680"/>
          </a:xfrm>
          <a:prstGeom prst="roundRect">
            <a:avLst>
              <a:gd name="adj" fmla="val 12632"/>
            </a:avLst>
          </a:prstGeom>
          <a:solidFill>
            <a:schemeClr val="bg2"/>
          </a:solidFill>
          <a:ln w="12700">
            <a:solidFill>
              <a:schemeClr val="bg2"/>
            </a:solidFill>
            <a:prstDash val="solid"/>
          </a:ln>
        </p:spPr>
      </p:sp>
      <p:sp>
        <p:nvSpPr>
          <p:cNvPr id="14" name="tick box"/>
          <p:cNvSpPr/>
          <p:nvPr/>
        </p:nvSpPr>
        <p:spPr>
          <a:xfrm>
            <a:off x="4846320" y="2944368"/>
            <a:ext cx="365760" cy="365760"/>
          </a:xfrm>
          <a:prstGeom prst="rect">
            <a:avLst/>
          </a:prstGeom>
          <a:solidFill>
            <a:schemeClr val="bg1"/>
          </a:solidFill>
          <a:ln w="19050">
            <a:solidFill>
              <a:schemeClr val="tx1"/>
            </a:solidFill>
            <a:prstDash val="solid"/>
          </a:ln>
        </p:spPr>
      </p:sp>
      <p:sp>
        <p:nvSpPr>
          <p:cNvPr id="15" name="Text 12"/>
          <p:cNvSpPr txBox="1"/>
          <p:nvPr/>
        </p:nvSpPr>
        <p:spPr>
          <a:xfrm>
            <a:off x="5349240" y="2697480"/>
            <a:ext cx="365760" cy="868680"/>
          </a:xfrm>
          <a:prstGeom prst="rect">
            <a:avLst/>
          </a:prstGeom>
          <a:noFill/>
          <a:ln/>
        </p:spPr>
        <p:txBody>
          <a:bodyPr wrap="square" lIns="0" tIns="0" rIns="0" bIns="0" rtlCol="0" anchor="ctr"/>
          <a:lstStyle/>
          <a:p>
            <a:pPr indent="0" marL="0">
              <a:buNone/>
            </a:pPr>
            <a:r>
              <a:rPr lang="en-US" sz="1800" b="1" dirty="0">
                <a:solidFill>
                  <a:schemeClr val="accent4"/>
                </a:solidFill>
              </a:rPr>
              <a:t>B</a:t>
            </a:r>
            <a:endParaRPr lang="en-US" sz="1800" dirty="0"/>
          </a:p>
        </p:txBody>
      </p:sp>
      <p:sp>
        <p:nvSpPr>
          <p:cNvPr id="16" name="Text 13"/>
          <p:cNvSpPr txBox="1"/>
          <p:nvPr/>
        </p:nvSpPr>
        <p:spPr>
          <a:xfrm>
            <a:off x="5760720" y="2697480"/>
            <a:ext cx="2743200" cy="868680"/>
          </a:xfrm>
          <a:prstGeom prst="rect">
            <a:avLst/>
          </a:prstGeom>
          <a:noFill/>
          <a:ln/>
        </p:spPr>
        <p:txBody>
          <a:bodyPr wrap="square" lIns="0" tIns="0" rIns="0" bIns="0" rtlCol="0" anchor="ctr"/>
          <a:lstStyle/>
          <a:p>
            <a:pPr indent="0" marL="0">
              <a:buNone/>
            </a:pPr>
            <a:r>
              <a:rPr lang="en-US" sz="1600" dirty="0">
                <a:solidFill>
                  <a:schemeClr val="tx1"/>
                </a:solidFill>
              </a:rPr>
              <a:t>glittered</a:t>
            </a:r>
            <a:endParaRPr lang="en-US" sz="1600" dirty="0"/>
          </a:p>
        </p:txBody>
      </p:sp>
      <p:sp>
        <p:nvSpPr>
          <p:cNvPr id="17" name="card"/>
          <p:cNvSpPr/>
          <p:nvPr/>
        </p:nvSpPr>
        <p:spPr>
          <a:xfrm>
            <a:off x="548640" y="3703320"/>
            <a:ext cx="3931920" cy="868680"/>
          </a:xfrm>
          <a:prstGeom prst="roundRect">
            <a:avLst>
              <a:gd name="adj" fmla="val 12632"/>
            </a:avLst>
          </a:prstGeom>
          <a:solidFill>
            <a:schemeClr val="bg2"/>
          </a:solidFill>
          <a:ln w="12700">
            <a:solidFill>
              <a:schemeClr val="bg2"/>
            </a:solidFill>
            <a:prstDash val="solid"/>
          </a:ln>
        </p:spPr>
      </p:sp>
      <p:sp>
        <p:nvSpPr>
          <p:cNvPr id="18" name="tick box"/>
          <p:cNvSpPr/>
          <p:nvPr/>
        </p:nvSpPr>
        <p:spPr>
          <a:xfrm>
            <a:off x="731520" y="3950208"/>
            <a:ext cx="365760" cy="365760"/>
          </a:xfrm>
          <a:prstGeom prst="rect">
            <a:avLst/>
          </a:prstGeom>
          <a:solidFill>
            <a:schemeClr val="bg1"/>
          </a:solidFill>
          <a:ln w="19050">
            <a:solidFill>
              <a:schemeClr val="tx1"/>
            </a:solidFill>
            <a:prstDash val="solid"/>
          </a:ln>
        </p:spPr>
      </p:sp>
      <p:sp>
        <p:nvSpPr>
          <p:cNvPr id="19" name="Text 16"/>
          <p:cNvSpPr txBox="1"/>
          <p:nvPr/>
        </p:nvSpPr>
        <p:spPr>
          <a:xfrm>
            <a:off x="1234440" y="3703320"/>
            <a:ext cx="365760" cy="868680"/>
          </a:xfrm>
          <a:prstGeom prst="rect">
            <a:avLst/>
          </a:prstGeom>
          <a:noFill/>
          <a:ln/>
        </p:spPr>
        <p:txBody>
          <a:bodyPr wrap="square" lIns="0" tIns="0" rIns="0" bIns="0" rtlCol="0" anchor="ctr"/>
          <a:lstStyle/>
          <a:p>
            <a:pPr indent="0" marL="0">
              <a:buNone/>
            </a:pPr>
            <a:r>
              <a:rPr lang="en-US" sz="1800" b="1" dirty="0">
                <a:solidFill>
                  <a:schemeClr val="accent4"/>
                </a:solidFill>
              </a:rPr>
              <a:t>C</a:t>
            </a:r>
            <a:endParaRPr lang="en-US" sz="1800" dirty="0"/>
          </a:p>
        </p:txBody>
      </p:sp>
      <p:sp>
        <p:nvSpPr>
          <p:cNvPr id="20" name="Text 17"/>
          <p:cNvSpPr txBox="1"/>
          <p:nvPr/>
        </p:nvSpPr>
        <p:spPr>
          <a:xfrm>
            <a:off x="1645920" y="3703320"/>
            <a:ext cx="2743200" cy="868680"/>
          </a:xfrm>
          <a:prstGeom prst="rect">
            <a:avLst/>
          </a:prstGeom>
          <a:noFill/>
          <a:ln/>
        </p:spPr>
        <p:txBody>
          <a:bodyPr wrap="square" lIns="0" tIns="0" rIns="0" bIns="0" rtlCol="0" anchor="ctr"/>
          <a:lstStyle/>
          <a:p>
            <a:pPr indent="0" marL="0">
              <a:buNone/>
            </a:pPr>
            <a:r>
              <a:rPr lang="en-US" sz="1600" dirty="0">
                <a:solidFill>
                  <a:schemeClr val="tx1"/>
                </a:solidFill>
              </a:rPr>
              <a:t>Behind the waterfall</a:t>
            </a:r>
            <a:endParaRPr lang="en-US" sz="1600" dirty="0"/>
          </a:p>
        </p:txBody>
      </p:sp>
      <p:sp>
        <p:nvSpPr>
          <p:cNvPr id="21" name="card"/>
          <p:cNvSpPr/>
          <p:nvPr/>
        </p:nvSpPr>
        <p:spPr>
          <a:xfrm>
            <a:off x="4663440" y="3703320"/>
            <a:ext cx="3931920" cy="868680"/>
          </a:xfrm>
          <a:prstGeom prst="roundRect">
            <a:avLst>
              <a:gd name="adj" fmla="val 12632"/>
            </a:avLst>
          </a:prstGeom>
          <a:solidFill>
            <a:schemeClr val="bg2"/>
          </a:solidFill>
          <a:ln w="12700">
            <a:solidFill>
              <a:schemeClr val="bg2"/>
            </a:solidFill>
            <a:prstDash val="solid"/>
          </a:ln>
        </p:spPr>
      </p:sp>
      <p:sp>
        <p:nvSpPr>
          <p:cNvPr id="22" name="tick box"/>
          <p:cNvSpPr/>
          <p:nvPr/>
        </p:nvSpPr>
        <p:spPr>
          <a:xfrm>
            <a:off x="4846320" y="3950208"/>
            <a:ext cx="365760" cy="365760"/>
          </a:xfrm>
          <a:prstGeom prst="rect">
            <a:avLst/>
          </a:prstGeom>
          <a:solidFill>
            <a:schemeClr val="bg1"/>
          </a:solidFill>
          <a:ln w="19050">
            <a:solidFill>
              <a:schemeClr val="tx1"/>
            </a:solidFill>
            <a:prstDash val="solid"/>
          </a:ln>
        </p:spPr>
      </p:sp>
      <p:sp>
        <p:nvSpPr>
          <p:cNvPr id="23" name="Text 20"/>
          <p:cNvSpPr txBox="1"/>
          <p:nvPr/>
        </p:nvSpPr>
        <p:spPr>
          <a:xfrm>
            <a:off x="5349240" y="3703320"/>
            <a:ext cx="365760" cy="868680"/>
          </a:xfrm>
          <a:prstGeom prst="rect">
            <a:avLst/>
          </a:prstGeom>
          <a:noFill/>
          <a:ln/>
        </p:spPr>
        <p:txBody>
          <a:bodyPr wrap="square" lIns="0" tIns="0" rIns="0" bIns="0" rtlCol="0" anchor="ctr"/>
          <a:lstStyle/>
          <a:p>
            <a:pPr indent="0" marL="0">
              <a:buNone/>
            </a:pPr>
            <a:r>
              <a:rPr lang="en-US" sz="1800" b="1" dirty="0">
                <a:solidFill>
                  <a:schemeClr val="accent4"/>
                </a:solidFill>
              </a:rPr>
              <a:t>D</a:t>
            </a:r>
            <a:endParaRPr lang="en-US" sz="1800" dirty="0"/>
          </a:p>
        </p:txBody>
      </p:sp>
      <p:sp>
        <p:nvSpPr>
          <p:cNvPr id="24" name="Text 21"/>
          <p:cNvSpPr txBox="1"/>
          <p:nvPr/>
        </p:nvSpPr>
        <p:spPr>
          <a:xfrm>
            <a:off x="5760720" y="3703320"/>
            <a:ext cx="2743200" cy="868680"/>
          </a:xfrm>
          <a:prstGeom prst="rect">
            <a:avLst/>
          </a:prstGeom>
          <a:noFill/>
          <a:ln/>
        </p:spPr>
        <p:txBody>
          <a:bodyPr wrap="square" lIns="0" tIns="0" rIns="0" bIns="0" rtlCol="0" anchor="ctr"/>
          <a:lstStyle/>
          <a:p>
            <a:pPr indent="0" marL="0">
              <a:buNone/>
            </a:pPr>
            <a:r>
              <a:rPr lang="en-US" sz="1600" dirty="0">
                <a:solidFill>
                  <a:schemeClr val="tx1"/>
                </a:solidFill>
              </a:rPr>
              <a:t>secret</a:t>
            </a:r>
            <a:endParaRPr lang="en-US" sz="1600" dirty="0"/>
          </a:p>
        </p:txBody>
      </p:sp>
      <p:sp>
        <p:nvSpPr>
          <p:cNvPr id="25" name="Text 22"/>
          <p:cNvSpPr txBox="1"/>
          <p:nvPr/>
        </p:nvSpPr>
        <p:spPr>
          <a:xfrm>
            <a:off x="548640" y="4572000"/>
            <a:ext cx="4572000" cy="274320"/>
          </a:xfrm>
          <a:prstGeom prst="rect">
            <a:avLst/>
          </a:prstGeom>
          <a:noFill/>
          <a:ln/>
        </p:spPr>
        <p:txBody>
          <a:bodyPr wrap="square" lIns="0" tIns="0" rIns="0" bIns="0" rtlCol="0" anchor="t"/>
          <a:lstStyle/>
          <a:p>
            <a:pPr indent="0" marL="0">
              <a:buNone/>
            </a:pPr>
            <a:r>
              <a:rPr lang="en-US" sz="1200" i="1" dirty="0">
                <a:solidFill>
                  <a:srgbClr val="4A4668"/>
                </a:solidFill>
              </a:rPr>
              <a:t>Put a cross in one box.</a:t>
            </a:r>
            <a:endParaRPr lang="en-US" sz="1200" dirty="0"/>
          </a:p>
        </p:txBody>
      </p:sp>
      <p:sp>
        <p:nvSpPr>
          <p:cNvPr id="25" name="Slide Number Placeholder 0"/>
          <p:cNvSpPr>
            <a:spLocks noGrp="1"/>
          </p:cNvSpPr>
          <p:nvPr>
            <p:ph type="sldNum" sz="quarter" idx="4294967295"/>
          </p:nvPr>
        </p:nvSpPr>
        <p:spPr>
          <a:xfrm>
            <a:off x="8229600" y="4736592"/>
            <a:ext cx="36576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6784"/>
                </a:solidFill>
              </a:defRPr>
            </a:lvl1pPr>
          </a:lstStyle>
          <a:p>
            <a:pPr algn="l"/>
            <a:fld id="{F7021451-1387-4CA6-816F-3879F97B5CBC}" type="slidenum">
              <a:rPr b="0" lang="en-US"/>
              <a:t>35</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8046720" cy="731520"/>
          </a:xfrm>
          <a:prstGeom prst="rect">
            <a:avLst/>
          </a:prstGeom>
          <a:noFill/>
          <a:ln/>
        </p:spPr>
        <p:txBody>
          <a:bodyPr wrap="square" lIns="0" tIns="0" rIns="0" bIns="0" rtlCol="0" anchor="ctr"/>
          <a:lstStyle/>
          <a:p>
            <a:pPr algn="l" indent="0" marL="0">
              <a:buNone/>
            </a:pPr>
            <a:r>
              <a:rPr lang="en-US" sz="3000" b="1" dirty="0">
                <a:solidFill>
                  <a:schemeClr val="tx1"/>
                </a:solidFill>
              </a:rPr>
              <a:t>Answer: question 2 of 4</a:t>
            </a:r>
            <a:endParaRPr lang="en-US" sz="3000" dirty="0"/>
          </a:p>
        </p:txBody>
      </p:sp>
      <p:sp>
        <p:nvSpPr>
          <p:cNvPr id="4" name="card"/>
          <p:cNvSpPr/>
          <p:nvPr/>
        </p:nvSpPr>
        <p:spPr>
          <a:xfrm>
            <a:off x="548640" y="1097280"/>
            <a:ext cx="8046720" cy="3474720"/>
          </a:xfrm>
          <a:prstGeom prst="roundRect">
            <a:avLst>
              <a:gd name="adj" fmla="val 3158"/>
            </a:avLst>
          </a:prstGeom>
          <a:solidFill>
            <a:schemeClr val="bg2"/>
          </a:solidFill>
          <a:ln w="12700">
            <a:solidFill>
              <a:schemeClr val="bg2"/>
            </a:solidFill>
            <a:prstDash val="solid"/>
          </a:ln>
        </p:spPr>
      </p:sp>
      <p:sp>
        <p:nvSpPr>
          <p:cNvPr id="5" name="correct letter"/>
          <p:cNvSpPr/>
          <p:nvPr/>
        </p:nvSpPr>
        <p:spPr>
          <a:xfrm>
            <a:off x="822960" y="1371600"/>
            <a:ext cx="914400" cy="914400"/>
          </a:xfrm>
          <a:prstGeom prst="ellipse">
            <a:avLst/>
          </a:prstGeom>
          <a:solidFill>
            <a:schemeClr val="accent2"/>
          </a:solidFill>
          <a:ln w="12700">
            <a:solidFill>
              <a:schemeClr val="bg1"/>
            </a:solidFill>
            <a:prstDash val="solid"/>
          </a:ln>
        </p:spPr>
      </p:sp>
      <p:sp>
        <p:nvSpPr>
          <p:cNvPr id="6" name="Text 3"/>
          <p:cNvSpPr txBox="1"/>
          <p:nvPr/>
        </p:nvSpPr>
        <p:spPr>
          <a:xfrm>
            <a:off x="822960" y="1371600"/>
            <a:ext cx="914400" cy="914400"/>
          </a:xfrm>
          <a:prstGeom prst="rect">
            <a:avLst/>
          </a:prstGeom>
          <a:noFill/>
          <a:ln/>
        </p:spPr>
        <p:txBody>
          <a:bodyPr wrap="square" lIns="0" tIns="0" rIns="0" bIns="0" rtlCol="0" anchor="ctr"/>
          <a:lstStyle/>
          <a:p>
            <a:pPr algn="ctr" indent="0" marL="0">
              <a:buNone/>
            </a:pPr>
            <a:r>
              <a:rPr lang="en-US" sz="3600" b="1" dirty="0">
                <a:solidFill>
                  <a:schemeClr val="bg1"/>
                </a:solidFill>
              </a:rPr>
              <a:t>C</a:t>
            </a:r>
            <a:endParaRPr lang="en-US" sz="3600" dirty="0"/>
          </a:p>
        </p:txBody>
      </p:sp>
      <p:sp>
        <p:nvSpPr>
          <p:cNvPr id="7" name="Text 4"/>
          <p:cNvSpPr txBox="1"/>
          <p:nvPr/>
        </p:nvSpPr>
        <p:spPr>
          <a:xfrm>
            <a:off x="2011680" y="1280160"/>
            <a:ext cx="6400800" cy="1097280"/>
          </a:xfrm>
          <a:prstGeom prst="rect">
            <a:avLst/>
          </a:prstGeom>
          <a:noFill/>
          <a:ln/>
        </p:spPr>
        <p:txBody>
          <a:bodyPr wrap="square" lIns="0" tIns="0" rIns="0" bIns="0" rtlCol="0" anchor="ctr"/>
          <a:lstStyle/>
          <a:p>
            <a:pPr indent="0" marL="0">
              <a:buNone/>
            </a:pPr>
            <a:r>
              <a:rPr lang="en-US" sz="2200" b="1" dirty="0">
                <a:solidFill>
                  <a:schemeClr val="tx1"/>
                </a:solidFill>
                <a:highlight>
                  <a:srgbClr val="FFD27F"/>
                </a:highlight>
              </a:rPr>
              <a:t>Behind the waterfall</a:t>
            </a:r>
            <a:pPr indent="0" marL="0">
              <a:buNone/>
            </a:pPr>
            <a:r>
              <a:rPr lang="en-US" sz="2200" dirty="0">
                <a:solidFill>
                  <a:schemeClr val="tx1"/>
                </a:solidFill>
              </a:rPr>
              <a:t>  (1 mark)</a:t>
            </a:r>
            <a:endParaRPr lang="en-US" sz="1600" dirty="0"/>
          </a:p>
        </p:txBody>
      </p:sp>
      <p:sp>
        <p:nvSpPr>
          <p:cNvPr id="8" name="Text 5"/>
          <p:cNvSpPr txBox="1"/>
          <p:nvPr/>
        </p:nvSpPr>
        <p:spPr>
          <a:xfrm>
            <a:off x="822960" y="2468880"/>
            <a:ext cx="7498080" cy="2011680"/>
          </a:xfrm>
          <a:prstGeom prst="rect">
            <a:avLst/>
          </a:prstGeom>
          <a:noFill/>
          <a:ln/>
        </p:spPr>
        <p:txBody>
          <a:bodyPr wrap="square" lIns="0" tIns="0" rIns="0" bIns="0" rtlCol="0" anchor="t"/>
          <a:lstStyle/>
          <a:p>
            <a:pPr indent="0" marL="0">
              <a:spcAft>
                <a:spcPts val="600"/>
              </a:spcAft>
              <a:buNone/>
            </a:pPr>
            <a:r>
              <a:rPr lang="en-US" sz="1600" dirty="0">
                <a:solidFill>
                  <a:schemeClr val="tx1"/>
                </a:solidFill>
              </a:rPr>
              <a:t>It comes at the front, it tells us where the cave was, and it is followed by a comma.</a:t>
            </a:r>
            <a:endParaRPr lang="en-US" sz="1600" dirty="0"/>
          </a:p>
        </p:txBody>
      </p:sp>
      <p:sp>
        <p:nvSpPr>
          <p:cNvPr id="25" name="Slide Number Placeholder 0"/>
          <p:cNvSpPr>
            <a:spLocks noGrp="1"/>
          </p:cNvSpPr>
          <p:nvPr>
            <p:ph type="sldNum" sz="quarter" idx="4294967295"/>
          </p:nvPr>
        </p:nvSpPr>
        <p:spPr>
          <a:xfrm>
            <a:off x="8229600" y="4736592"/>
            <a:ext cx="36576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6784"/>
                </a:solidFill>
              </a:defRPr>
            </a:lvl1pPr>
          </a:lstStyle>
          <a:p>
            <a:pPr algn="l"/>
            <a:fld id="{F7021451-1387-4CA6-816F-3879F97B5CBC}" type="slidenum">
              <a:rPr b="0" lang="en-US"/>
              <a:t>36</a:t>
            </a:fld>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8046720" cy="731520"/>
          </a:xfrm>
          <a:prstGeom prst="rect">
            <a:avLst/>
          </a:prstGeom>
          <a:noFill/>
          <a:ln/>
        </p:spPr>
        <p:txBody>
          <a:bodyPr wrap="square" lIns="0" tIns="0" rIns="0" bIns="0" rtlCol="0" anchor="ctr"/>
          <a:lstStyle/>
          <a:p>
            <a:pPr algn="l" indent="0" marL="0">
              <a:buNone/>
            </a:pPr>
            <a:r>
              <a:rPr lang="en-US" sz="3000" b="1" dirty="0">
                <a:solidFill>
                  <a:schemeClr val="tx1"/>
                </a:solidFill>
              </a:rPr>
              <a:t>Exam practice: question 3 of 4</a:t>
            </a:r>
            <a:endParaRPr lang="en-US" sz="3000" dirty="0"/>
          </a:p>
        </p:txBody>
      </p:sp>
      <p:sp>
        <p:nvSpPr>
          <p:cNvPr id="4" name="Text 1"/>
          <p:cNvSpPr txBox="1"/>
          <p:nvPr/>
        </p:nvSpPr>
        <p:spPr>
          <a:xfrm>
            <a:off x="6583680" y="457200"/>
            <a:ext cx="2011680" cy="365760"/>
          </a:xfrm>
          <a:prstGeom prst="rect">
            <a:avLst/>
          </a:prstGeom>
          <a:noFill/>
          <a:ln/>
        </p:spPr>
        <p:txBody>
          <a:bodyPr wrap="square" lIns="0" tIns="0" rIns="0" bIns="0" rtlCol="0" anchor="t"/>
          <a:lstStyle/>
          <a:p>
            <a:pPr algn="r" indent="0" marL="0">
              <a:buNone/>
            </a:pPr>
            <a:r>
              <a:rPr lang="en-US" sz="1400" b="1" dirty="0">
                <a:solidFill>
                  <a:schemeClr val="tx1"/>
                </a:solidFill>
              </a:rPr>
              <a:t>(2 marks)</a:t>
            </a:r>
            <a:endParaRPr lang="en-US" sz="1400" dirty="0"/>
          </a:p>
        </p:txBody>
      </p:sp>
      <p:sp>
        <p:nvSpPr>
          <p:cNvPr id="5" name="card"/>
          <p:cNvSpPr/>
          <p:nvPr/>
        </p:nvSpPr>
        <p:spPr>
          <a:xfrm>
            <a:off x="548640" y="1097280"/>
            <a:ext cx="8046720" cy="1417320"/>
          </a:xfrm>
          <a:prstGeom prst="roundRect">
            <a:avLst>
              <a:gd name="adj" fmla="val 7742"/>
            </a:avLst>
          </a:prstGeom>
          <a:solidFill>
            <a:schemeClr val="bg2"/>
          </a:solidFill>
          <a:ln w="12700">
            <a:solidFill>
              <a:schemeClr val="bg2"/>
            </a:solidFill>
            <a:prstDash val="solid"/>
          </a:ln>
        </p:spPr>
      </p:sp>
      <p:sp>
        <p:nvSpPr>
          <p:cNvPr id="6" name="question number"/>
          <p:cNvSpPr/>
          <p:nvPr/>
        </p:nvSpPr>
        <p:spPr>
          <a:xfrm>
            <a:off x="731520" y="1554480"/>
            <a:ext cx="594360" cy="594360"/>
          </a:xfrm>
          <a:prstGeom prst="ellipse">
            <a:avLst/>
          </a:prstGeom>
          <a:solidFill>
            <a:schemeClr val="accent3"/>
          </a:solidFill>
          <a:ln w="12700">
            <a:solidFill>
              <a:schemeClr val="accent3"/>
            </a:solidFill>
            <a:prstDash val="solid"/>
          </a:ln>
        </p:spPr>
      </p:sp>
      <p:sp>
        <p:nvSpPr>
          <p:cNvPr id="7" name="Text 4"/>
          <p:cNvSpPr txBox="1"/>
          <p:nvPr/>
        </p:nvSpPr>
        <p:spPr>
          <a:xfrm>
            <a:off x="731520" y="1554480"/>
            <a:ext cx="594360" cy="594360"/>
          </a:xfrm>
          <a:prstGeom prst="rect">
            <a:avLst/>
          </a:prstGeom>
          <a:noFill/>
          <a:ln/>
        </p:spPr>
        <p:txBody>
          <a:bodyPr wrap="square" lIns="0" tIns="0" rIns="0" bIns="0" rtlCol="0" anchor="ctr"/>
          <a:lstStyle/>
          <a:p>
            <a:pPr algn="ctr" indent="0" marL="0">
              <a:buNone/>
            </a:pPr>
            <a:r>
              <a:rPr lang="en-US" sz="2000" b="1" dirty="0">
                <a:solidFill>
                  <a:schemeClr val="bg1"/>
                </a:solidFill>
              </a:rPr>
              <a:t>3</a:t>
            </a:r>
            <a:endParaRPr lang="en-US" sz="2000" dirty="0"/>
          </a:p>
        </p:txBody>
      </p:sp>
      <p:sp>
        <p:nvSpPr>
          <p:cNvPr id="8" name="Text 5"/>
          <p:cNvSpPr txBox="1"/>
          <p:nvPr/>
        </p:nvSpPr>
        <p:spPr>
          <a:xfrm>
            <a:off x="1508760" y="1097280"/>
            <a:ext cx="6903720" cy="1417320"/>
          </a:xfrm>
          <a:prstGeom prst="rect">
            <a:avLst/>
          </a:prstGeom>
          <a:noFill/>
          <a:ln/>
        </p:spPr>
        <p:txBody>
          <a:bodyPr wrap="square" lIns="0" tIns="0" rIns="0" bIns="0" rtlCol="0" anchor="ctr"/>
          <a:lstStyle/>
          <a:p>
            <a:pPr indent="0" marL="0">
              <a:buNone/>
            </a:pPr>
            <a:r>
              <a:rPr lang="en-US" sz="1800" b="1" dirty="0">
                <a:solidFill>
                  <a:schemeClr val="tx1"/>
                </a:solidFill>
              </a:rPr>
              <a:t>'Tulsi cautiously opened the door.' Explain how the adverb 'cautiously' changes the meaning of the sentence.</a:t>
            </a:r>
            <a:endParaRPr lang="en-US" sz="1800" dirty="0"/>
          </a:p>
        </p:txBody>
      </p:sp>
      <p:sp>
        <p:nvSpPr>
          <p:cNvPr id="9" name="card"/>
          <p:cNvSpPr/>
          <p:nvPr/>
        </p:nvSpPr>
        <p:spPr>
          <a:xfrm>
            <a:off x="548640" y="2697480"/>
            <a:ext cx="8046720" cy="1783080"/>
          </a:xfrm>
          <a:prstGeom prst="roundRect">
            <a:avLst>
              <a:gd name="adj" fmla="val 6154"/>
            </a:avLst>
          </a:prstGeom>
          <a:solidFill>
            <a:schemeClr val="bg2"/>
          </a:solidFill>
          <a:ln w="12700">
            <a:solidFill>
              <a:schemeClr val="bg2"/>
            </a:solidFill>
            <a:prstDash val="solid"/>
          </a:ln>
        </p:spPr>
      </p:sp>
      <p:sp>
        <p:nvSpPr>
          <p:cNvPr id="10" name="Text 7"/>
          <p:cNvSpPr txBox="1"/>
          <p:nvPr/>
        </p:nvSpPr>
        <p:spPr>
          <a:xfrm>
            <a:off x="777240" y="2743200"/>
            <a:ext cx="7589520" cy="365760"/>
          </a:xfrm>
          <a:prstGeom prst="rect">
            <a:avLst/>
          </a:prstGeom>
          <a:noFill/>
          <a:ln/>
        </p:spPr>
        <p:txBody>
          <a:bodyPr wrap="square" lIns="0" tIns="0" rIns="0" bIns="0" rtlCol="0" anchor="t"/>
          <a:lstStyle/>
          <a:p>
            <a:pPr indent="0" marL="0">
              <a:buNone/>
            </a:pPr>
            <a:r>
              <a:rPr lang="en-US" sz="1300" i="1" dirty="0">
                <a:solidFill>
                  <a:srgbClr val="4A4668"/>
                </a:solidFill>
              </a:rPr>
              <a:t>Write your answer in your book.</a:t>
            </a:r>
            <a:endParaRPr lang="en-US" sz="1300" dirty="0"/>
          </a:p>
        </p:txBody>
      </p:sp>
      <p:sp>
        <p:nvSpPr>
          <p:cNvPr id="11" name="answer line"/>
          <p:cNvSpPr/>
          <p:nvPr/>
        </p:nvSpPr>
        <p:spPr>
          <a:xfrm>
            <a:off x="822960" y="3429000"/>
            <a:ext cx="7498080" cy="0"/>
          </a:xfrm>
          <a:prstGeom prst="line">
            <a:avLst/>
          </a:prstGeom>
          <a:noFill/>
          <a:ln w="12700">
            <a:solidFill>
              <a:srgbClr val="BDB6D9"/>
            </a:solidFill>
            <a:prstDash val="solid"/>
          </a:ln>
        </p:spPr>
      </p:sp>
      <p:sp>
        <p:nvSpPr>
          <p:cNvPr id="12" name="answer line"/>
          <p:cNvSpPr/>
          <p:nvPr/>
        </p:nvSpPr>
        <p:spPr>
          <a:xfrm>
            <a:off x="822960" y="3840480"/>
            <a:ext cx="7498080" cy="0"/>
          </a:xfrm>
          <a:prstGeom prst="line">
            <a:avLst/>
          </a:prstGeom>
          <a:noFill/>
          <a:ln w="12700">
            <a:solidFill>
              <a:srgbClr val="BDB6D9"/>
            </a:solidFill>
            <a:prstDash val="solid"/>
          </a:ln>
        </p:spPr>
      </p:sp>
      <p:sp>
        <p:nvSpPr>
          <p:cNvPr id="13" name="answer line"/>
          <p:cNvSpPr/>
          <p:nvPr/>
        </p:nvSpPr>
        <p:spPr>
          <a:xfrm>
            <a:off x="822960" y="4251960"/>
            <a:ext cx="7498080" cy="0"/>
          </a:xfrm>
          <a:prstGeom prst="line">
            <a:avLst/>
          </a:prstGeom>
          <a:noFill/>
          <a:ln w="12700">
            <a:solidFill>
              <a:srgbClr val="BDB6D9"/>
            </a:solidFill>
            <a:prstDash val="solid"/>
          </a:ln>
        </p:spPr>
      </p:sp>
      <p:sp>
        <p:nvSpPr>
          <p:cNvPr id="25" name="Slide Number Placeholder 0"/>
          <p:cNvSpPr>
            <a:spLocks noGrp="1"/>
          </p:cNvSpPr>
          <p:nvPr>
            <p:ph type="sldNum" sz="quarter" idx="4294967295"/>
          </p:nvPr>
        </p:nvSpPr>
        <p:spPr>
          <a:xfrm>
            <a:off x="8229600" y="4736592"/>
            <a:ext cx="36576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6784"/>
                </a:solidFill>
              </a:defRPr>
            </a:lvl1pPr>
          </a:lstStyle>
          <a:p>
            <a:pPr algn="l"/>
            <a:fld id="{F7021451-1387-4CA6-816F-3879F97B5CBC}" type="slidenum">
              <a:rPr b="0" lang="en-US"/>
              <a:t>37</a:t>
            </a:fld>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8046720" cy="731520"/>
          </a:xfrm>
          <a:prstGeom prst="rect">
            <a:avLst/>
          </a:prstGeom>
          <a:noFill/>
          <a:ln/>
        </p:spPr>
        <p:txBody>
          <a:bodyPr wrap="square" lIns="0" tIns="0" rIns="0" bIns="0" rtlCol="0" anchor="ctr"/>
          <a:lstStyle/>
          <a:p>
            <a:pPr algn="l" indent="0" marL="0">
              <a:buNone/>
            </a:pPr>
            <a:r>
              <a:rPr lang="en-US" sz="3000" b="1" dirty="0">
                <a:solidFill>
                  <a:schemeClr val="tx1"/>
                </a:solidFill>
              </a:rPr>
              <a:t>Answer: question 3 of 4</a:t>
            </a:r>
            <a:endParaRPr lang="en-US" sz="3000" dirty="0"/>
          </a:p>
        </p:txBody>
      </p:sp>
      <p:sp>
        <p:nvSpPr>
          <p:cNvPr id="4" name="card"/>
          <p:cNvSpPr/>
          <p:nvPr/>
        </p:nvSpPr>
        <p:spPr>
          <a:xfrm>
            <a:off x="548640" y="1097280"/>
            <a:ext cx="8046720" cy="3474720"/>
          </a:xfrm>
          <a:prstGeom prst="roundRect">
            <a:avLst>
              <a:gd name="adj" fmla="val 3158"/>
            </a:avLst>
          </a:prstGeom>
          <a:solidFill>
            <a:schemeClr val="bg2"/>
          </a:solidFill>
          <a:ln w="12700">
            <a:solidFill>
              <a:schemeClr val="bg2"/>
            </a:solidFill>
            <a:prstDash val="solid"/>
          </a:ln>
        </p:spPr>
      </p:sp>
      <p:sp>
        <p:nvSpPr>
          <p:cNvPr id="5" name="Text 2"/>
          <p:cNvSpPr txBox="1"/>
          <p:nvPr/>
        </p:nvSpPr>
        <p:spPr>
          <a:xfrm>
            <a:off x="822960" y="1280160"/>
            <a:ext cx="7498080" cy="1097280"/>
          </a:xfrm>
          <a:prstGeom prst="rect">
            <a:avLst/>
          </a:prstGeom>
          <a:noFill/>
          <a:ln/>
        </p:spPr>
        <p:txBody>
          <a:bodyPr wrap="square" lIns="0" tIns="0" rIns="0" bIns="0" rtlCol="0" anchor="ctr"/>
          <a:lstStyle/>
          <a:p>
            <a:pPr indent="0" marL="0">
              <a:buNone/>
            </a:pPr>
            <a:r>
              <a:rPr lang="en-US" sz="2200" b="1" dirty="0">
                <a:solidFill>
                  <a:schemeClr val="tx1"/>
                </a:solidFill>
                <a:highlight>
                  <a:srgbClr val="FFD27F"/>
                </a:highlight>
              </a:rPr>
              <a:t>It shows Tulsi is careful or afraid of what is behind the door.</a:t>
            </a:r>
            <a:pPr indent="0" marL="0">
              <a:buNone/>
            </a:pPr>
            <a:r>
              <a:rPr lang="en-US" sz="2200" dirty="0">
                <a:solidFill>
                  <a:schemeClr val="tx1"/>
                </a:solidFill>
              </a:rPr>
              <a:t>  (2 marks)</a:t>
            </a:r>
            <a:endParaRPr lang="en-US" sz="1600" dirty="0"/>
          </a:p>
        </p:txBody>
      </p:sp>
      <p:sp>
        <p:nvSpPr>
          <p:cNvPr id="6" name="Text 3"/>
          <p:cNvSpPr txBox="1"/>
          <p:nvPr/>
        </p:nvSpPr>
        <p:spPr>
          <a:xfrm>
            <a:off x="822960" y="2468880"/>
            <a:ext cx="7498080" cy="2011680"/>
          </a:xfrm>
          <a:prstGeom prst="rect">
            <a:avLst/>
          </a:prstGeom>
          <a:noFill/>
          <a:ln/>
        </p:spPr>
        <p:txBody>
          <a:bodyPr wrap="square" lIns="0" tIns="0" rIns="0" bIns="0" rtlCol="0" anchor="t"/>
          <a:lstStyle/>
          <a:p>
            <a:pPr indent="0" marL="0">
              <a:spcAft>
                <a:spcPts val="600"/>
              </a:spcAft>
              <a:buNone/>
            </a:pPr>
            <a:r>
              <a:rPr lang="en-US" sz="1600" dirty="0">
                <a:solidFill>
                  <a:schemeClr val="tx1"/>
                </a:solidFill>
              </a:rPr>
              <a:t>1 mark: it tells us how he opened the door (carefully, slowly, quietly).</a:t>
            </a:r>
            <a:endParaRPr lang="en-US" sz="1600" dirty="0"/>
          </a:p>
          <a:p>
            <a:pPr indent="0" marL="0">
              <a:spcAft>
                <a:spcPts val="600"/>
              </a:spcAft>
              <a:buNone/>
            </a:pPr>
            <a:r>
              <a:rPr lang="en-US" sz="1600" dirty="0">
                <a:solidFill>
                  <a:schemeClr val="tx1"/>
                </a:solidFill>
              </a:rPr>
              <a:t>1 mark: it shows his feelings or creates suspense (he is afraid, he expects danger).</a:t>
            </a:r>
            <a:endParaRPr lang="en-US" sz="1600" dirty="0"/>
          </a:p>
        </p:txBody>
      </p:sp>
      <p:sp>
        <p:nvSpPr>
          <p:cNvPr id="25" name="Slide Number Placeholder 0"/>
          <p:cNvSpPr>
            <a:spLocks noGrp="1"/>
          </p:cNvSpPr>
          <p:nvPr>
            <p:ph type="sldNum" sz="quarter" idx="4294967295"/>
          </p:nvPr>
        </p:nvSpPr>
        <p:spPr>
          <a:xfrm>
            <a:off x="8229600" y="4736592"/>
            <a:ext cx="36576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6784"/>
                </a:solidFill>
              </a:defRPr>
            </a:lvl1pPr>
          </a:lstStyle>
          <a:p>
            <a:pPr algn="l"/>
            <a:fld id="{F7021451-1387-4CA6-816F-3879F97B5CBC}" type="slidenum">
              <a:rPr b="0" lang="en-US"/>
              <a:t>38</a:t>
            </a:fld>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8046720" cy="731520"/>
          </a:xfrm>
          <a:prstGeom prst="rect">
            <a:avLst/>
          </a:prstGeom>
          <a:noFill/>
          <a:ln/>
        </p:spPr>
        <p:txBody>
          <a:bodyPr wrap="square" lIns="0" tIns="0" rIns="0" bIns="0" rtlCol="0" anchor="ctr"/>
          <a:lstStyle/>
          <a:p>
            <a:pPr algn="l" indent="0" marL="0">
              <a:buNone/>
            </a:pPr>
            <a:r>
              <a:rPr lang="en-US" sz="3000" b="1" dirty="0">
                <a:solidFill>
                  <a:schemeClr val="tx1"/>
                </a:solidFill>
              </a:rPr>
              <a:t>Exam practice: question 4 of 4</a:t>
            </a:r>
            <a:endParaRPr lang="en-US" sz="3000" dirty="0"/>
          </a:p>
        </p:txBody>
      </p:sp>
      <p:sp>
        <p:nvSpPr>
          <p:cNvPr id="4" name="Text 1"/>
          <p:cNvSpPr txBox="1"/>
          <p:nvPr/>
        </p:nvSpPr>
        <p:spPr>
          <a:xfrm>
            <a:off x="6583680" y="457200"/>
            <a:ext cx="2011680" cy="365760"/>
          </a:xfrm>
          <a:prstGeom prst="rect">
            <a:avLst/>
          </a:prstGeom>
          <a:noFill/>
          <a:ln/>
        </p:spPr>
        <p:txBody>
          <a:bodyPr wrap="square" lIns="0" tIns="0" rIns="0" bIns="0" rtlCol="0" anchor="t"/>
          <a:lstStyle/>
          <a:p>
            <a:pPr algn="r" indent="0" marL="0">
              <a:buNone/>
            </a:pPr>
            <a:r>
              <a:rPr lang="en-US" sz="1400" b="1" dirty="0">
                <a:solidFill>
                  <a:schemeClr val="tx1"/>
                </a:solidFill>
              </a:rPr>
              <a:t>(2 marks)</a:t>
            </a:r>
            <a:endParaRPr lang="en-US" sz="1400" dirty="0"/>
          </a:p>
        </p:txBody>
      </p:sp>
      <p:sp>
        <p:nvSpPr>
          <p:cNvPr id="5" name="card"/>
          <p:cNvSpPr/>
          <p:nvPr/>
        </p:nvSpPr>
        <p:spPr>
          <a:xfrm>
            <a:off x="548640" y="1097280"/>
            <a:ext cx="8046720" cy="1417320"/>
          </a:xfrm>
          <a:prstGeom prst="roundRect">
            <a:avLst>
              <a:gd name="adj" fmla="val 7742"/>
            </a:avLst>
          </a:prstGeom>
          <a:solidFill>
            <a:schemeClr val="bg2"/>
          </a:solidFill>
          <a:ln w="12700">
            <a:solidFill>
              <a:schemeClr val="bg2"/>
            </a:solidFill>
            <a:prstDash val="solid"/>
          </a:ln>
        </p:spPr>
      </p:sp>
      <p:sp>
        <p:nvSpPr>
          <p:cNvPr id="6" name="question number"/>
          <p:cNvSpPr/>
          <p:nvPr/>
        </p:nvSpPr>
        <p:spPr>
          <a:xfrm>
            <a:off x="731520" y="1554480"/>
            <a:ext cx="594360" cy="594360"/>
          </a:xfrm>
          <a:prstGeom prst="ellipse">
            <a:avLst/>
          </a:prstGeom>
          <a:solidFill>
            <a:schemeClr val="accent5"/>
          </a:solidFill>
          <a:ln w="12700">
            <a:solidFill>
              <a:schemeClr val="accent5"/>
            </a:solidFill>
            <a:prstDash val="solid"/>
          </a:ln>
        </p:spPr>
      </p:sp>
      <p:sp>
        <p:nvSpPr>
          <p:cNvPr id="7" name="Text 4"/>
          <p:cNvSpPr txBox="1"/>
          <p:nvPr/>
        </p:nvSpPr>
        <p:spPr>
          <a:xfrm>
            <a:off x="731520" y="1554480"/>
            <a:ext cx="594360" cy="594360"/>
          </a:xfrm>
          <a:prstGeom prst="rect">
            <a:avLst/>
          </a:prstGeom>
          <a:noFill/>
          <a:ln/>
        </p:spPr>
        <p:txBody>
          <a:bodyPr wrap="square" lIns="0" tIns="0" rIns="0" bIns="0" rtlCol="0" anchor="ctr"/>
          <a:lstStyle/>
          <a:p>
            <a:pPr algn="ctr" indent="0" marL="0">
              <a:buNone/>
            </a:pPr>
            <a:r>
              <a:rPr lang="en-US" sz="2000" b="1" dirty="0">
                <a:solidFill>
                  <a:schemeClr val="bg1"/>
                </a:solidFill>
              </a:rPr>
              <a:t>4</a:t>
            </a:r>
            <a:endParaRPr lang="en-US" sz="2000" dirty="0"/>
          </a:p>
        </p:txBody>
      </p:sp>
      <p:sp>
        <p:nvSpPr>
          <p:cNvPr id="8" name="Text 5"/>
          <p:cNvSpPr txBox="1"/>
          <p:nvPr/>
        </p:nvSpPr>
        <p:spPr>
          <a:xfrm>
            <a:off x="1508760" y="1097280"/>
            <a:ext cx="6903720" cy="1417320"/>
          </a:xfrm>
          <a:prstGeom prst="rect">
            <a:avLst/>
          </a:prstGeom>
          <a:noFill/>
          <a:ln/>
        </p:spPr>
        <p:txBody>
          <a:bodyPr wrap="square" lIns="0" tIns="0" rIns="0" bIns="0" rtlCol="0" anchor="ctr"/>
          <a:lstStyle/>
          <a:p>
            <a:pPr indent="0" marL="0">
              <a:buNone/>
            </a:pPr>
            <a:r>
              <a:rPr lang="en-US" sz="1800" b="1" dirty="0">
                <a:solidFill>
                  <a:schemeClr val="tx1"/>
                </a:solidFill>
              </a:rPr>
              <a:t>Rewrite 'A tower stood.' Include an expanded noun phrase and a fronted adverbial. Use a comma correctly.</a:t>
            </a:r>
            <a:endParaRPr lang="en-US" sz="1800" dirty="0"/>
          </a:p>
        </p:txBody>
      </p:sp>
      <p:sp>
        <p:nvSpPr>
          <p:cNvPr id="9" name="card"/>
          <p:cNvSpPr/>
          <p:nvPr/>
        </p:nvSpPr>
        <p:spPr>
          <a:xfrm>
            <a:off x="548640" y="2697480"/>
            <a:ext cx="8046720" cy="1783080"/>
          </a:xfrm>
          <a:prstGeom prst="roundRect">
            <a:avLst>
              <a:gd name="adj" fmla="val 6154"/>
            </a:avLst>
          </a:prstGeom>
          <a:solidFill>
            <a:schemeClr val="bg2"/>
          </a:solidFill>
          <a:ln w="12700">
            <a:solidFill>
              <a:schemeClr val="bg2"/>
            </a:solidFill>
            <a:prstDash val="solid"/>
          </a:ln>
        </p:spPr>
      </p:sp>
      <p:sp>
        <p:nvSpPr>
          <p:cNvPr id="10" name="Text 7"/>
          <p:cNvSpPr txBox="1"/>
          <p:nvPr/>
        </p:nvSpPr>
        <p:spPr>
          <a:xfrm>
            <a:off x="777240" y="2743200"/>
            <a:ext cx="7589520" cy="365760"/>
          </a:xfrm>
          <a:prstGeom prst="rect">
            <a:avLst/>
          </a:prstGeom>
          <a:noFill/>
          <a:ln/>
        </p:spPr>
        <p:txBody>
          <a:bodyPr wrap="square" lIns="0" tIns="0" rIns="0" bIns="0" rtlCol="0" anchor="t"/>
          <a:lstStyle/>
          <a:p>
            <a:pPr indent="0" marL="0">
              <a:buNone/>
            </a:pPr>
            <a:r>
              <a:rPr lang="en-US" sz="1300" i="1" dirty="0">
                <a:solidFill>
                  <a:srgbClr val="4A4668"/>
                </a:solidFill>
              </a:rPr>
              <a:t>Write your answer in your book.</a:t>
            </a:r>
            <a:endParaRPr lang="en-US" sz="1300" dirty="0"/>
          </a:p>
        </p:txBody>
      </p:sp>
      <p:sp>
        <p:nvSpPr>
          <p:cNvPr id="11" name="answer line"/>
          <p:cNvSpPr/>
          <p:nvPr/>
        </p:nvSpPr>
        <p:spPr>
          <a:xfrm>
            <a:off x="822960" y="3429000"/>
            <a:ext cx="7498080" cy="0"/>
          </a:xfrm>
          <a:prstGeom prst="line">
            <a:avLst/>
          </a:prstGeom>
          <a:noFill/>
          <a:ln w="12700">
            <a:solidFill>
              <a:srgbClr val="BDB6D9"/>
            </a:solidFill>
            <a:prstDash val="solid"/>
          </a:ln>
        </p:spPr>
      </p:sp>
      <p:sp>
        <p:nvSpPr>
          <p:cNvPr id="12" name="answer line"/>
          <p:cNvSpPr/>
          <p:nvPr/>
        </p:nvSpPr>
        <p:spPr>
          <a:xfrm>
            <a:off x="822960" y="3840480"/>
            <a:ext cx="7498080" cy="0"/>
          </a:xfrm>
          <a:prstGeom prst="line">
            <a:avLst/>
          </a:prstGeom>
          <a:noFill/>
          <a:ln w="12700">
            <a:solidFill>
              <a:srgbClr val="BDB6D9"/>
            </a:solidFill>
            <a:prstDash val="solid"/>
          </a:ln>
        </p:spPr>
      </p:sp>
      <p:sp>
        <p:nvSpPr>
          <p:cNvPr id="13" name="answer line"/>
          <p:cNvSpPr/>
          <p:nvPr/>
        </p:nvSpPr>
        <p:spPr>
          <a:xfrm>
            <a:off x="822960" y="4251960"/>
            <a:ext cx="7498080" cy="0"/>
          </a:xfrm>
          <a:prstGeom prst="line">
            <a:avLst/>
          </a:prstGeom>
          <a:noFill/>
          <a:ln w="12700">
            <a:solidFill>
              <a:srgbClr val="BDB6D9"/>
            </a:solidFill>
            <a:prstDash val="solid"/>
          </a:ln>
        </p:spPr>
      </p:sp>
      <p:sp>
        <p:nvSpPr>
          <p:cNvPr id="25" name="Slide Number Placeholder 0"/>
          <p:cNvSpPr>
            <a:spLocks noGrp="1"/>
          </p:cNvSpPr>
          <p:nvPr>
            <p:ph type="sldNum" sz="quarter" idx="4294967295"/>
          </p:nvPr>
        </p:nvSpPr>
        <p:spPr>
          <a:xfrm>
            <a:off x="8229600" y="4736592"/>
            <a:ext cx="36576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6784"/>
                </a:solidFill>
              </a:defRPr>
            </a:lvl1pPr>
          </a:lstStyle>
          <a:p>
            <a:pPr algn="l"/>
            <a:fld id="{F7021451-1387-4CA6-816F-3879F97B5CBC}" type="slidenum">
              <a:rPr b="0" lang="en-US"/>
              <a:t>39</a:t>
            </a:fld>
            <a:endParaRPr 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8046720" cy="731520"/>
          </a:xfrm>
          <a:prstGeom prst="rect">
            <a:avLst/>
          </a:prstGeom>
          <a:noFill/>
          <a:ln/>
        </p:spPr>
        <p:txBody>
          <a:bodyPr wrap="square" lIns="0" tIns="0" rIns="0" bIns="0" rtlCol="0" anchor="ctr"/>
          <a:lstStyle/>
          <a:p>
            <a:pPr algn="l" indent="0" marL="0">
              <a:buNone/>
            </a:pPr>
            <a:r>
              <a:rPr lang="en-US" sz="3000" b="1" dirty="0">
                <a:solidFill>
                  <a:schemeClr val="tx1"/>
                </a:solidFill>
              </a:rPr>
              <a:t>Answer: question 4 of 4</a:t>
            </a:r>
            <a:endParaRPr lang="en-US" sz="3000" dirty="0"/>
          </a:p>
        </p:txBody>
      </p:sp>
      <p:sp>
        <p:nvSpPr>
          <p:cNvPr id="4" name="card"/>
          <p:cNvSpPr/>
          <p:nvPr/>
        </p:nvSpPr>
        <p:spPr>
          <a:xfrm>
            <a:off x="548640" y="1097280"/>
            <a:ext cx="8046720" cy="3474720"/>
          </a:xfrm>
          <a:prstGeom prst="roundRect">
            <a:avLst>
              <a:gd name="adj" fmla="val 3158"/>
            </a:avLst>
          </a:prstGeom>
          <a:solidFill>
            <a:schemeClr val="bg2"/>
          </a:solidFill>
          <a:ln w="12700">
            <a:solidFill>
              <a:schemeClr val="bg2"/>
            </a:solidFill>
            <a:prstDash val="solid"/>
          </a:ln>
        </p:spPr>
      </p:sp>
      <p:sp>
        <p:nvSpPr>
          <p:cNvPr id="5" name="Text 2"/>
          <p:cNvSpPr txBox="1"/>
          <p:nvPr/>
        </p:nvSpPr>
        <p:spPr>
          <a:xfrm>
            <a:off x="822960" y="1280160"/>
            <a:ext cx="7498080" cy="1097280"/>
          </a:xfrm>
          <a:prstGeom prst="rect">
            <a:avLst/>
          </a:prstGeom>
          <a:noFill/>
          <a:ln/>
        </p:spPr>
        <p:txBody>
          <a:bodyPr wrap="square" lIns="0" tIns="0" rIns="0" bIns="0" rtlCol="0" anchor="ctr"/>
          <a:lstStyle/>
          <a:p>
            <a:pPr indent="0" marL="0">
              <a:buNone/>
            </a:pPr>
            <a:r>
              <a:rPr lang="en-US" sz="2200" b="1" dirty="0">
                <a:solidFill>
                  <a:schemeClr val="tx1"/>
                </a:solidFill>
                <a:highlight>
                  <a:srgbClr val="FFD27F"/>
                </a:highlight>
              </a:rPr>
              <a:t>A sentence with both features.</a:t>
            </a:r>
            <a:pPr indent="0" marL="0">
              <a:buNone/>
            </a:pPr>
            <a:r>
              <a:rPr lang="en-US" sz="2200" dirty="0">
                <a:solidFill>
                  <a:schemeClr val="tx1"/>
                </a:solidFill>
              </a:rPr>
              <a:t>  (2 marks)</a:t>
            </a:r>
            <a:endParaRPr lang="en-US" sz="1600" dirty="0"/>
          </a:p>
        </p:txBody>
      </p:sp>
      <p:sp>
        <p:nvSpPr>
          <p:cNvPr id="6" name="Text 3"/>
          <p:cNvSpPr txBox="1"/>
          <p:nvPr/>
        </p:nvSpPr>
        <p:spPr>
          <a:xfrm>
            <a:off x="822960" y="2468880"/>
            <a:ext cx="7498080" cy="2011680"/>
          </a:xfrm>
          <a:prstGeom prst="rect">
            <a:avLst/>
          </a:prstGeom>
          <a:noFill/>
          <a:ln/>
        </p:spPr>
        <p:txBody>
          <a:bodyPr wrap="square" lIns="0" tIns="0" rIns="0" bIns="0" rtlCol="0" anchor="t"/>
          <a:lstStyle/>
          <a:p>
            <a:pPr indent="0" marL="0">
              <a:spcAft>
                <a:spcPts val="600"/>
              </a:spcAft>
              <a:buNone/>
            </a:pPr>
            <a:r>
              <a:rPr lang="en-US" sz="1600" dirty="0">
                <a:solidFill>
                  <a:schemeClr val="tx1"/>
                </a:solidFill>
              </a:rPr>
              <a:t>1 mark: a correct expanded noun phrase.</a:t>
            </a:r>
            <a:endParaRPr lang="en-US" sz="1600" dirty="0"/>
          </a:p>
          <a:p>
            <a:pPr indent="0" marL="0">
              <a:spcAft>
                <a:spcPts val="600"/>
              </a:spcAft>
              <a:buNone/>
            </a:pPr>
            <a:r>
              <a:rPr lang="en-US" sz="1600" dirty="0">
                <a:solidFill>
                  <a:schemeClr val="tx1"/>
                </a:solidFill>
              </a:rPr>
              <a:t>1 mark: a correct fronted adverbial followed by a comma.</a:t>
            </a:r>
            <a:endParaRPr lang="en-US" sz="1600" dirty="0"/>
          </a:p>
          <a:p>
            <a:pPr indent="0" marL="0">
              <a:spcAft>
                <a:spcPts val="600"/>
              </a:spcAft>
              <a:buNone/>
            </a:pPr>
            <a:r>
              <a:rPr lang="en-US" sz="1600" dirty="0">
                <a:solidFill>
                  <a:schemeClr val="tx1"/>
                </a:solidFill>
              </a:rPr>
              <a:t>Example: Beyond the frozen lake, a tall, crooked tower stood.</a:t>
            </a:r>
            <a:endParaRPr lang="en-US" sz="1600" dirty="0"/>
          </a:p>
          <a:p>
            <a:pPr indent="0" marL="0">
              <a:spcAft>
                <a:spcPts val="600"/>
              </a:spcAft>
              <a:buNone/>
            </a:pPr>
            <a:r>
              <a:rPr lang="en-US" sz="1600" dirty="0">
                <a:solidFill>
                  <a:schemeClr val="tx1"/>
                </a:solidFill>
              </a:rPr>
              <a:t>Total for exam practice: ____ / 6</a:t>
            </a:r>
            <a:endParaRPr lang="en-US" sz="1600" dirty="0"/>
          </a:p>
        </p:txBody>
      </p:sp>
      <p:sp>
        <p:nvSpPr>
          <p:cNvPr id="25" name="Slide Number Placeholder 0"/>
          <p:cNvSpPr>
            <a:spLocks noGrp="1"/>
          </p:cNvSpPr>
          <p:nvPr>
            <p:ph type="sldNum" sz="quarter" idx="4294967295"/>
          </p:nvPr>
        </p:nvSpPr>
        <p:spPr>
          <a:xfrm>
            <a:off x="8229600" y="4736592"/>
            <a:ext cx="36576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6784"/>
                </a:solidFill>
              </a:defRPr>
            </a:lvl1pPr>
          </a:lstStyle>
          <a:p>
            <a:pPr algn="l"/>
            <a:fld id="{F7021451-1387-4CA6-816F-3879F97B5CBC}" type="slidenum">
              <a:rPr b="0" lang="en-US"/>
              <a:t>40</a:t>
            </a:fld>
            <a:endParaRPr 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8046720" cy="731520"/>
          </a:xfrm>
          <a:prstGeom prst="rect">
            <a:avLst/>
          </a:prstGeom>
          <a:noFill/>
          <a:ln/>
        </p:spPr>
        <p:txBody>
          <a:bodyPr wrap="square" lIns="0" tIns="0" rIns="0" bIns="0" rtlCol="0" anchor="ctr"/>
          <a:lstStyle/>
          <a:p>
            <a:pPr algn="l" indent="0" marL="0">
              <a:buNone/>
            </a:pPr>
            <a:r>
              <a:rPr lang="en-US" sz="3000" b="1" dirty="0">
                <a:solidFill>
                  <a:schemeClr val="tx1"/>
                </a:solidFill>
              </a:rPr>
              <a:t>Exit ticket</a:t>
            </a:r>
            <a:endParaRPr lang="en-US" sz="3000" dirty="0"/>
          </a:p>
        </p:txBody>
      </p:sp>
      <p:sp>
        <p:nvSpPr>
          <p:cNvPr id="4" name="card"/>
          <p:cNvSpPr/>
          <p:nvPr/>
        </p:nvSpPr>
        <p:spPr>
          <a:xfrm>
            <a:off x="548640" y="1143000"/>
            <a:ext cx="8046720" cy="1005840"/>
          </a:xfrm>
          <a:prstGeom prst="roundRect">
            <a:avLst>
              <a:gd name="adj" fmla="val 10909"/>
            </a:avLst>
          </a:prstGeom>
          <a:solidFill>
            <a:schemeClr val="bg2"/>
          </a:solidFill>
          <a:ln w="12700">
            <a:solidFill>
              <a:schemeClr val="bg2"/>
            </a:solidFill>
            <a:prstDash val="solid"/>
          </a:ln>
        </p:spPr>
      </p:sp>
      <p:sp>
        <p:nvSpPr>
          <p:cNvPr id="5" name="badge"/>
          <p:cNvSpPr/>
          <p:nvPr/>
        </p:nvSpPr>
        <p:spPr>
          <a:xfrm>
            <a:off x="731520" y="1325880"/>
            <a:ext cx="640080" cy="640080"/>
          </a:xfrm>
          <a:prstGeom prst="ellipse">
            <a:avLst/>
          </a:prstGeom>
          <a:solidFill>
            <a:schemeClr val="accent4"/>
          </a:solidFill>
          <a:ln w="12700">
            <a:solidFill>
              <a:schemeClr val="accent4"/>
            </a:solidFill>
            <a:prstDash val="solid"/>
          </a:ln>
        </p:spPr>
      </p:sp>
      <p:pic>
        <p:nvPicPr>
          <p:cNvPr id="6" name="icon" descr="pencil">    </p:cNvPr>
          <p:cNvPicPr>
            <a:picLocks noChangeAspect="1"/>
          </p:cNvPicPr>
          <p:nvPr/>
        </p:nvPicPr>
        <p:blipFill>
          <a:blip r:embed="rId1"/>
          <a:stretch>
            <a:fillRect/>
          </a:stretch>
        </p:blipFill>
        <p:spPr>
          <a:xfrm>
            <a:off x="897941" y="1492301"/>
            <a:ext cx="307238" cy="307238"/>
          </a:xfrm>
          <a:prstGeom prst="rect">
            <a:avLst/>
          </a:prstGeom>
        </p:spPr>
      </p:pic>
      <p:sp>
        <p:nvSpPr>
          <p:cNvPr id="7" name="Text 3"/>
          <p:cNvSpPr txBox="1"/>
          <p:nvPr/>
        </p:nvSpPr>
        <p:spPr>
          <a:xfrm>
            <a:off x="1600200" y="1143000"/>
            <a:ext cx="6766560" cy="1005840"/>
          </a:xfrm>
          <a:prstGeom prst="rect">
            <a:avLst/>
          </a:prstGeom>
          <a:noFill/>
          <a:ln/>
        </p:spPr>
        <p:txBody>
          <a:bodyPr wrap="square" lIns="0" tIns="0" rIns="0" bIns="0" rtlCol="0" anchor="ctr"/>
          <a:lstStyle/>
          <a:p>
            <a:pPr indent="0" marL="0">
              <a:buNone/>
            </a:pPr>
            <a:r>
              <a:rPr lang="en-US" sz="1600" dirty="0">
                <a:solidFill>
                  <a:schemeClr val="tx1"/>
                </a:solidFill>
              </a:rPr>
              <a:t>Write one sentence about a haunted lighthouse. Use a fronted adverbial and an expanded noun phrase.</a:t>
            </a:r>
            <a:endParaRPr lang="en-US" sz="1600" dirty="0"/>
          </a:p>
        </p:txBody>
      </p:sp>
      <p:sp>
        <p:nvSpPr>
          <p:cNvPr id="8" name="card"/>
          <p:cNvSpPr/>
          <p:nvPr/>
        </p:nvSpPr>
        <p:spPr>
          <a:xfrm>
            <a:off x="548640" y="2286000"/>
            <a:ext cx="8046720" cy="1005840"/>
          </a:xfrm>
          <a:prstGeom prst="roundRect">
            <a:avLst>
              <a:gd name="adj" fmla="val 10909"/>
            </a:avLst>
          </a:prstGeom>
          <a:solidFill>
            <a:schemeClr val="bg2"/>
          </a:solidFill>
          <a:ln w="12700">
            <a:solidFill>
              <a:schemeClr val="bg2"/>
            </a:solidFill>
            <a:prstDash val="solid"/>
          </a:ln>
        </p:spPr>
      </p:sp>
      <p:sp>
        <p:nvSpPr>
          <p:cNvPr id="9" name="badge"/>
          <p:cNvSpPr/>
          <p:nvPr/>
        </p:nvSpPr>
        <p:spPr>
          <a:xfrm>
            <a:off x="731520" y="2468880"/>
            <a:ext cx="640080" cy="640080"/>
          </a:xfrm>
          <a:prstGeom prst="ellipse">
            <a:avLst/>
          </a:prstGeom>
          <a:solidFill>
            <a:schemeClr val="accent2"/>
          </a:solidFill>
          <a:ln w="12700">
            <a:solidFill>
              <a:schemeClr val="accent2"/>
            </a:solidFill>
            <a:prstDash val="solid"/>
          </a:ln>
        </p:spPr>
      </p:sp>
      <p:pic>
        <p:nvPicPr>
          <p:cNvPr id="10" name="icon" descr="brain">    </p:cNvPr>
          <p:cNvPicPr>
            <a:picLocks noChangeAspect="1"/>
          </p:cNvPicPr>
          <p:nvPr/>
        </p:nvPicPr>
        <p:blipFill>
          <a:blip r:embed="rId2"/>
          <a:stretch>
            <a:fillRect/>
          </a:stretch>
        </p:blipFill>
        <p:spPr>
          <a:xfrm>
            <a:off x="897941" y="2635301"/>
            <a:ext cx="307238" cy="307238"/>
          </a:xfrm>
          <a:prstGeom prst="rect">
            <a:avLst/>
          </a:prstGeom>
        </p:spPr>
      </p:pic>
      <p:sp>
        <p:nvSpPr>
          <p:cNvPr id="11" name="Text 6"/>
          <p:cNvSpPr txBox="1"/>
          <p:nvPr/>
        </p:nvSpPr>
        <p:spPr>
          <a:xfrm>
            <a:off x="1600200" y="2286000"/>
            <a:ext cx="6766560" cy="1005840"/>
          </a:xfrm>
          <a:prstGeom prst="rect">
            <a:avLst/>
          </a:prstGeom>
          <a:noFill/>
          <a:ln/>
        </p:spPr>
        <p:txBody>
          <a:bodyPr wrap="square" lIns="0" tIns="0" rIns="0" bIns="0" rtlCol="0" anchor="ctr"/>
          <a:lstStyle/>
          <a:p>
            <a:pPr indent="0" marL="0">
              <a:buNone/>
            </a:pPr>
            <a:r>
              <a:rPr lang="en-US" sz="1600" dirty="0">
                <a:solidFill>
                  <a:schemeClr val="tx1"/>
                </a:solidFill>
              </a:rPr>
              <a:t>Underline your fronted adverbial. Where does the comma go, and why?</a:t>
            </a:r>
            <a:endParaRPr lang="en-US" sz="1600" dirty="0"/>
          </a:p>
        </p:txBody>
      </p:sp>
      <p:sp>
        <p:nvSpPr>
          <p:cNvPr id="12" name="card"/>
          <p:cNvSpPr/>
          <p:nvPr/>
        </p:nvSpPr>
        <p:spPr>
          <a:xfrm>
            <a:off x="548640" y="3429000"/>
            <a:ext cx="8046720" cy="1005840"/>
          </a:xfrm>
          <a:prstGeom prst="roundRect">
            <a:avLst>
              <a:gd name="adj" fmla="val 10909"/>
            </a:avLst>
          </a:prstGeom>
          <a:solidFill>
            <a:schemeClr val="bg2"/>
          </a:solidFill>
          <a:ln w="12700">
            <a:solidFill>
              <a:schemeClr val="bg2"/>
            </a:solidFill>
            <a:prstDash val="solid"/>
          </a:ln>
        </p:spPr>
      </p:sp>
      <p:sp>
        <p:nvSpPr>
          <p:cNvPr id="13" name="badge"/>
          <p:cNvSpPr/>
          <p:nvPr/>
        </p:nvSpPr>
        <p:spPr>
          <a:xfrm>
            <a:off x="731520" y="3611880"/>
            <a:ext cx="640080" cy="640080"/>
          </a:xfrm>
          <a:prstGeom prst="ellipse">
            <a:avLst/>
          </a:prstGeom>
          <a:solidFill>
            <a:schemeClr val="accent3"/>
          </a:solidFill>
          <a:ln w="12700">
            <a:solidFill>
              <a:schemeClr val="accent3"/>
            </a:solidFill>
            <a:prstDash val="solid"/>
          </a:ln>
        </p:spPr>
      </p:sp>
      <p:pic>
        <p:nvPicPr>
          <p:cNvPr id="14" name="icon" descr="hand">    </p:cNvPr>
          <p:cNvPicPr>
            <a:picLocks noChangeAspect="1"/>
          </p:cNvPicPr>
          <p:nvPr/>
        </p:nvPicPr>
        <p:blipFill>
          <a:blip r:embed="rId3"/>
          <a:stretch>
            <a:fillRect/>
          </a:stretch>
        </p:blipFill>
        <p:spPr>
          <a:xfrm>
            <a:off x="897941" y="3778301"/>
            <a:ext cx="307238" cy="307238"/>
          </a:xfrm>
          <a:prstGeom prst="rect">
            <a:avLst/>
          </a:prstGeom>
        </p:spPr>
      </p:pic>
      <p:sp>
        <p:nvSpPr>
          <p:cNvPr id="15" name="Text 9"/>
          <p:cNvSpPr txBox="1"/>
          <p:nvPr/>
        </p:nvSpPr>
        <p:spPr>
          <a:xfrm>
            <a:off x="1600200" y="3429000"/>
            <a:ext cx="6766560" cy="1005840"/>
          </a:xfrm>
          <a:prstGeom prst="rect">
            <a:avLst/>
          </a:prstGeom>
          <a:noFill/>
          <a:ln/>
        </p:spPr>
        <p:txBody>
          <a:bodyPr wrap="square" lIns="0" tIns="0" rIns="0" bIns="0" rtlCol="0" anchor="ctr"/>
          <a:lstStyle/>
          <a:p>
            <a:pPr indent="0" marL="0">
              <a:buNone/>
            </a:pPr>
            <a:r>
              <a:rPr lang="en-US" sz="1600" dirty="0">
                <a:solidFill>
                  <a:schemeClr val="tx1"/>
                </a:solidFill>
              </a:rPr>
              <a:t>How confident do I feel? 1 star = I need help, 2 stars = nearly there, 3 stars = I can teach it.</a:t>
            </a:r>
            <a:endParaRPr lang="en-US" sz="1600" dirty="0"/>
          </a:p>
        </p:txBody>
      </p:sp>
      <p:sp>
        <p:nvSpPr>
          <p:cNvPr id="25" name="Slide Number Placeholder 0"/>
          <p:cNvSpPr>
            <a:spLocks noGrp="1"/>
          </p:cNvSpPr>
          <p:nvPr>
            <p:ph type="sldNum" sz="quarter" idx="4294967295"/>
          </p:nvPr>
        </p:nvSpPr>
        <p:spPr>
          <a:xfrm>
            <a:off x="8229600" y="4736592"/>
            <a:ext cx="36576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6784"/>
                </a:solidFill>
              </a:defRPr>
            </a:lvl1pPr>
          </a:lstStyle>
          <a:p>
            <a:pPr algn="l"/>
            <a:fld id="{F7021451-1387-4CA6-816F-3879F97B5CBC}" type="slidenum">
              <a:rPr b="0" lang="en-US"/>
              <a:t>41</a:t>
            </a:fld>
            <a:endParaRPr 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8046720" cy="731520"/>
          </a:xfrm>
          <a:prstGeom prst="rect">
            <a:avLst/>
          </a:prstGeom>
          <a:noFill/>
          <a:ln/>
        </p:spPr>
        <p:txBody>
          <a:bodyPr wrap="square" lIns="0" tIns="0" rIns="0" bIns="0" rtlCol="0" anchor="ctr"/>
          <a:lstStyle/>
          <a:p>
            <a:pPr algn="l" indent="0" marL="0">
              <a:buNone/>
            </a:pPr>
            <a:r>
              <a:rPr lang="en-US" sz="3000" b="1" dirty="0">
                <a:solidFill>
                  <a:schemeClr val="tx1"/>
                </a:solidFill>
              </a:rPr>
              <a:t>Model answers: exit ticket</a:t>
            </a:r>
            <a:endParaRPr lang="en-US" sz="3000" dirty="0"/>
          </a:p>
        </p:txBody>
      </p:sp>
      <p:sp>
        <p:nvSpPr>
          <p:cNvPr id="4" name="card"/>
          <p:cNvSpPr/>
          <p:nvPr/>
        </p:nvSpPr>
        <p:spPr>
          <a:xfrm>
            <a:off x="548640" y="1097280"/>
            <a:ext cx="8046720" cy="1097280"/>
          </a:xfrm>
          <a:prstGeom prst="roundRect">
            <a:avLst>
              <a:gd name="adj" fmla="val 10000"/>
            </a:avLst>
          </a:prstGeom>
          <a:solidFill>
            <a:schemeClr val="bg2"/>
          </a:solidFill>
          <a:ln w="12700">
            <a:solidFill>
              <a:schemeClr val="bg2"/>
            </a:solidFill>
            <a:prstDash val="solid"/>
          </a:ln>
        </p:spPr>
      </p:sp>
      <p:sp>
        <p:nvSpPr>
          <p:cNvPr id="5" name="number"/>
          <p:cNvSpPr/>
          <p:nvPr/>
        </p:nvSpPr>
        <p:spPr>
          <a:xfrm>
            <a:off x="685800" y="1417320"/>
            <a:ext cx="457200" cy="457200"/>
          </a:xfrm>
          <a:prstGeom prst="ellipse">
            <a:avLst/>
          </a:prstGeom>
          <a:solidFill>
            <a:schemeClr val="accent4"/>
          </a:solidFill>
          <a:ln w="12700">
            <a:solidFill>
              <a:schemeClr val="bg1"/>
            </a:solidFill>
            <a:prstDash val="solid"/>
          </a:ln>
        </p:spPr>
      </p:sp>
      <p:sp>
        <p:nvSpPr>
          <p:cNvPr id="6" name="Text 3"/>
          <p:cNvSpPr txBox="1"/>
          <p:nvPr/>
        </p:nvSpPr>
        <p:spPr>
          <a:xfrm>
            <a:off x="685800" y="1417320"/>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rPr>
              <a:t>1</a:t>
            </a:r>
            <a:endParaRPr lang="en-US" sz="1600" dirty="0"/>
          </a:p>
        </p:txBody>
      </p:sp>
      <p:sp>
        <p:nvSpPr>
          <p:cNvPr id="7" name="Text 4"/>
          <p:cNvSpPr txBox="1"/>
          <p:nvPr/>
        </p:nvSpPr>
        <p:spPr>
          <a:xfrm>
            <a:off x="1371600" y="1097280"/>
            <a:ext cx="7040880" cy="1097280"/>
          </a:xfrm>
          <a:prstGeom prst="rect">
            <a:avLst/>
          </a:prstGeom>
          <a:noFill/>
          <a:ln/>
        </p:spPr>
        <p:txBody>
          <a:bodyPr wrap="square" lIns="0" tIns="0" rIns="0" bIns="0" rtlCol="0" anchor="ctr"/>
          <a:lstStyle/>
          <a:p>
            <a:pPr indent="0" marL="0">
              <a:buNone/>
            </a:pPr>
            <a:r>
              <a:rPr lang="en-US" sz="1400" b="1" dirty="0">
                <a:solidFill>
                  <a:schemeClr val="tx1"/>
                </a:solidFill>
              </a:rPr>
              <a:t>Example:</a:t>
            </a:r>
            <a:pPr indent="0" marL="0">
              <a:buNone/>
            </a:pPr>
            <a:r>
              <a:rPr lang="en-US" sz="1400" dirty="0">
                <a:solidFill>
                  <a:schemeClr val="tx1"/>
                </a:solidFill>
              </a:rPr>
              <a:t> At the end of the cliff, a tall, crumbling lighthouse blinked.</a:t>
            </a:r>
            <a:endParaRPr lang="en-US" sz="1600" dirty="0"/>
          </a:p>
        </p:txBody>
      </p:sp>
      <p:sp>
        <p:nvSpPr>
          <p:cNvPr id="8" name="card"/>
          <p:cNvSpPr/>
          <p:nvPr/>
        </p:nvSpPr>
        <p:spPr>
          <a:xfrm>
            <a:off x="548640" y="2286000"/>
            <a:ext cx="8046720" cy="1097280"/>
          </a:xfrm>
          <a:prstGeom prst="roundRect">
            <a:avLst>
              <a:gd name="adj" fmla="val 10000"/>
            </a:avLst>
          </a:prstGeom>
          <a:solidFill>
            <a:schemeClr val="bg2"/>
          </a:solidFill>
          <a:ln w="12700">
            <a:solidFill>
              <a:schemeClr val="bg2"/>
            </a:solidFill>
            <a:prstDash val="solid"/>
          </a:ln>
        </p:spPr>
      </p:sp>
      <p:sp>
        <p:nvSpPr>
          <p:cNvPr id="9" name="number"/>
          <p:cNvSpPr/>
          <p:nvPr/>
        </p:nvSpPr>
        <p:spPr>
          <a:xfrm>
            <a:off x="685800" y="2606040"/>
            <a:ext cx="457200" cy="457200"/>
          </a:xfrm>
          <a:prstGeom prst="ellipse">
            <a:avLst/>
          </a:prstGeom>
          <a:solidFill>
            <a:schemeClr val="accent2"/>
          </a:solidFill>
          <a:ln w="12700">
            <a:solidFill>
              <a:schemeClr val="bg1"/>
            </a:solidFill>
            <a:prstDash val="solid"/>
          </a:ln>
        </p:spPr>
      </p:sp>
      <p:sp>
        <p:nvSpPr>
          <p:cNvPr id="10" name="Text 7"/>
          <p:cNvSpPr txBox="1"/>
          <p:nvPr/>
        </p:nvSpPr>
        <p:spPr>
          <a:xfrm>
            <a:off x="685800" y="2606040"/>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rPr>
              <a:t>2</a:t>
            </a:r>
            <a:endParaRPr lang="en-US" sz="1600" dirty="0"/>
          </a:p>
        </p:txBody>
      </p:sp>
      <p:sp>
        <p:nvSpPr>
          <p:cNvPr id="11" name="Text 8"/>
          <p:cNvSpPr txBox="1"/>
          <p:nvPr/>
        </p:nvSpPr>
        <p:spPr>
          <a:xfrm>
            <a:off x="1371600" y="2286000"/>
            <a:ext cx="7040880" cy="1097280"/>
          </a:xfrm>
          <a:prstGeom prst="rect">
            <a:avLst/>
          </a:prstGeom>
          <a:noFill/>
          <a:ln/>
        </p:spPr>
        <p:txBody>
          <a:bodyPr wrap="square" lIns="0" tIns="0" rIns="0" bIns="0" rtlCol="0" anchor="ctr"/>
          <a:lstStyle/>
          <a:p>
            <a:pPr indent="0" marL="0">
              <a:buNone/>
            </a:pPr>
            <a:r>
              <a:rPr lang="en-US" sz="1400" b="1" dirty="0">
                <a:solidFill>
                  <a:schemeClr val="tx1"/>
                </a:solidFill>
              </a:rPr>
              <a:t>The comma goes straight after the fronted adverbial.</a:t>
            </a:r>
            <a:pPr indent="0" marL="0">
              <a:buNone/>
            </a:pPr>
            <a:r>
              <a:rPr lang="en-US" sz="1400" dirty="0">
                <a:solidFill>
                  <a:schemeClr val="tx1"/>
                </a:solidFill>
              </a:rPr>
              <a:t> It separates the opener from the main clause: At the end of the cliff, a tall lighthouse blinked.</a:t>
            </a:r>
            <a:endParaRPr lang="en-US" sz="1600" dirty="0"/>
          </a:p>
        </p:txBody>
      </p:sp>
      <p:sp>
        <p:nvSpPr>
          <p:cNvPr id="12" name="card"/>
          <p:cNvSpPr/>
          <p:nvPr/>
        </p:nvSpPr>
        <p:spPr>
          <a:xfrm>
            <a:off x="548640" y="3474720"/>
            <a:ext cx="8046720" cy="1097280"/>
          </a:xfrm>
          <a:prstGeom prst="roundRect">
            <a:avLst>
              <a:gd name="adj" fmla="val 10000"/>
            </a:avLst>
          </a:prstGeom>
          <a:solidFill>
            <a:schemeClr val="bg2"/>
          </a:solidFill>
          <a:ln w="12700">
            <a:solidFill>
              <a:schemeClr val="bg2"/>
            </a:solidFill>
            <a:prstDash val="solid"/>
          </a:ln>
        </p:spPr>
      </p:sp>
      <p:sp>
        <p:nvSpPr>
          <p:cNvPr id="13" name="number"/>
          <p:cNvSpPr/>
          <p:nvPr/>
        </p:nvSpPr>
        <p:spPr>
          <a:xfrm>
            <a:off x="685800" y="3794760"/>
            <a:ext cx="457200" cy="457200"/>
          </a:xfrm>
          <a:prstGeom prst="ellipse">
            <a:avLst/>
          </a:prstGeom>
          <a:solidFill>
            <a:schemeClr val="accent3"/>
          </a:solidFill>
          <a:ln w="12700">
            <a:solidFill>
              <a:schemeClr val="bg1"/>
            </a:solidFill>
            <a:prstDash val="solid"/>
          </a:ln>
        </p:spPr>
      </p:sp>
      <p:sp>
        <p:nvSpPr>
          <p:cNvPr id="14" name="Text 11"/>
          <p:cNvSpPr txBox="1"/>
          <p:nvPr/>
        </p:nvSpPr>
        <p:spPr>
          <a:xfrm>
            <a:off x="685800" y="3794760"/>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rPr>
              <a:t>3</a:t>
            </a:r>
            <a:endParaRPr lang="en-US" sz="1600" dirty="0"/>
          </a:p>
        </p:txBody>
      </p:sp>
      <p:sp>
        <p:nvSpPr>
          <p:cNvPr id="15" name="Text 12"/>
          <p:cNvSpPr txBox="1"/>
          <p:nvPr/>
        </p:nvSpPr>
        <p:spPr>
          <a:xfrm>
            <a:off x="1371600" y="3474720"/>
            <a:ext cx="7040880" cy="1097280"/>
          </a:xfrm>
          <a:prstGeom prst="rect">
            <a:avLst/>
          </a:prstGeom>
          <a:noFill/>
          <a:ln/>
        </p:spPr>
        <p:txBody>
          <a:bodyPr wrap="square" lIns="0" tIns="0" rIns="0" bIns="0" rtlCol="0" anchor="ctr"/>
          <a:lstStyle/>
          <a:p>
            <a:pPr indent="0" marL="0">
              <a:buNone/>
            </a:pPr>
            <a:r>
              <a:rPr lang="en-US" sz="1400" b="1" dirty="0">
                <a:solidFill>
                  <a:schemeClr val="tx1"/>
                </a:solidFill>
              </a:rPr>
              <a:t>Pupils with 1 star</a:t>
            </a:r>
            <a:pPr indent="0" marL="0">
              <a:buNone/>
            </a:pPr>
            <a:r>
              <a:rPr lang="en-US" sz="1400" dirty="0">
                <a:solidFill>
                  <a:schemeClr val="tx1"/>
                </a:solidFill>
              </a:rPr>
              <a:t> need the layering slide again. </a:t>
            </a:r>
            <a:pPr indent="0" marL="0">
              <a:buNone/>
            </a:pPr>
            <a:r>
              <a:rPr lang="en-US" sz="1400" b="1" dirty="0">
                <a:solidFill>
                  <a:schemeClr val="tx1"/>
                </a:solidFill>
              </a:rPr>
              <a:t>Pupils with 3 stars</a:t>
            </a:r>
            <a:pPr indent="0" marL="0">
              <a:buNone/>
            </a:pPr>
            <a:r>
              <a:rPr lang="en-US" sz="1400" dirty="0">
                <a:solidFill>
                  <a:schemeClr val="tx1"/>
                </a:solidFill>
              </a:rPr>
              <a:t> can help a partner next lesson.</a:t>
            </a:r>
            <a:endParaRPr lang="en-US" sz="1600" dirty="0"/>
          </a:p>
        </p:txBody>
      </p:sp>
      <p:sp>
        <p:nvSpPr>
          <p:cNvPr id="25" name="Slide Number Placeholder 0"/>
          <p:cNvSpPr>
            <a:spLocks noGrp="1"/>
          </p:cNvSpPr>
          <p:nvPr>
            <p:ph type="sldNum" sz="quarter" idx="4294967295"/>
          </p:nvPr>
        </p:nvSpPr>
        <p:spPr>
          <a:xfrm>
            <a:off x="8229600" y="4736592"/>
            <a:ext cx="36576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6784"/>
                </a:solidFill>
              </a:defRPr>
            </a:lvl1pPr>
          </a:lstStyle>
          <a:p>
            <a:pPr algn="l"/>
            <a:fld id="{F7021451-1387-4CA6-816F-3879F97B5CBC}" type="slidenum">
              <a:rPr b="0" lang="en-US"/>
              <a:t>42</a:t>
            </a:fld>
            <a:endParaRPr 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8046720" cy="731520"/>
          </a:xfrm>
          <a:prstGeom prst="rect">
            <a:avLst/>
          </a:prstGeom>
          <a:noFill/>
          <a:ln/>
        </p:spPr>
        <p:txBody>
          <a:bodyPr wrap="square" lIns="0" tIns="0" rIns="0" bIns="0" rtlCol="0" anchor="ctr"/>
          <a:lstStyle/>
          <a:p>
            <a:pPr algn="l" indent="0" marL="0">
              <a:buNone/>
            </a:pPr>
            <a:r>
              <a:rPr lang="en-US" sz="3000" b="1" dirty="0">
                <a:solidFill>
                  <a:schemeClr val="tx1"/>
                </a:solidFill>
              </a:rPr>
              <a:t>Homework</a:t>
            </a:r>
            <a:endParaRPr lang="en-US" sz="3000" dirty="0"/>
          </a:p>
        </p:txBody>
      </p:sp>
      <p:sp>
        <p:nvSpPr>
          <p:cNvPr id="4" name="Text 1"/>
          <p:cNvSpPr txBox="1"/>
          <p:nvPr/>
        </p:nvSpPr>
        <p:spPr>
          <a:xfrm>
            <a:off x="548640" y="1097280"/>
            <a:ext cx="8046720" cy="1097280"/>
          </a:xfrm>
          <a:prstGeom prst="rect">
            <a:avLst/>
          </a:prstGeom>
          <a:noFill/>
          <a:ln/>
        </p:spPr>
        <p:txBody>
          <a:bodyPr wrap="square" lIns="0" tIns="0" rIns="0" bIns="0" rtlCol="0" anchor="t"/>
          <a:lstStyle/>
          <a:p>
            <a:pPr indent="0" marL="0">
              <a:buNone/>
            </a:pPr>
            <a:r>
              <a:rPr lang="en-US" sz="1500" dirty="0">
                <a:solidFill>
                  <a:schemeClr val="tx1"/>
                </a:solidFill>
              </a:rPr>
              <a:t>Describe a </a:t>
            </a:r>
            <a:pPr indent="0" marL="0">
              <a:buNone/>
            </a:pPr>
            <a:r>
              <a:rPr lang="en-US" sz="1500" b="1" dirty="0">
                <a:solidFill>
                  <a:schemeClr val="tx1"/>
                </a:solidFill>
                <a:highlight>
                  <a:srgbClr val="FFD27F"/>
                </a:highlight>
              </a:rPr>
              <a:t>magical marketplace</a:t>
            </a:r>
            <a:pPr indent="0" marL="0">
              <a:buNone/>
            </a:pPr>
            <a:r>
              <a:rPr lang="en-US" sz="1500" dirty="0">
                <a:solidFill>
                  <a:schemeClr val="tx1"/>
                </a:solidFill>
              </a:rPr>
              <a:t> in five sentences. Use </a:t>
            </a:r>
            <a:pPr indent="0" marL="0">
              <a:buNone/>
            </a:pPr>
            <a:r>
              <a:rPr lang="en-US" sz="1500" b="1" dirty="0">
                <a:solidFill>
                  <a:schemeClr val="tx1"/>
                </a:solidFill>
                <a:highlight>
                  <a:srgbClr val="FFD27F"/>
                </a:highlight>
              </a:rPr>
              <a:t>two fronted adverbials</a:t>
            </a:r>
            <a:pPr indent="0" marL="0">
              <a:buNone/>
            </a:pPr>
            <a:r>
              <a:rPr lang="en-US" sz="1500" dirty="0">
                <a:solidFill>
                  <a:schemeClr val="tx1"/>
                </a:solidFill>
              </a:rPr>
              <a:t> with commas, </a:t>
            </a:r>
            <a:pPr indent="0" marL="0">
              <a:buNone/>
            </a:pPr>
            <a:r>
              <a:rPr lang="en-US" sz="1500" b="1" dirty="0">
                <a:solidFill>
                  <a:schemeClr val="tx1"/>
                </a:solidFill>
                <a:highlight>
                  <a:srgbClr val="FFD27F"/>
                </a:highlight>
              </a:rPr>
              <a:t>one expanded noun phrase</a:t>
            </a:r>
            <a:pPr indent="0" marL="0">
              <a:buNone/>
            </a:pPr>
            <a:r>
              <a:rPr lang="en-US" sz="1500" dirty="0">
                <a:solidFill>
                  <a:schemeClr val="tx1"/>
                </a:solidFill>
              </a:rPr>
              <a:t>, </a:t>
            </a:r>
            <a:pPr indent="0" marL="0">
              <a:buNone/>
            </a:pPr>
            <a:r>
              <a:rPr lang="en-US" sz="1500" b="1" dirty="0">
                <a:solidFill>
                  <a:schemeClr val="tx1"/>
                </a:solidFill>
                <a:highlight>
                  <a:srgbClr val="FFD27F"/>
                </a:highlight>
              </a:rPr>
              <a:t>one adverb</a:t>
            </a:r>
            <a:pPr indent="0" marL="0">
              <a:buNone/>
            </a:pPr>
            <a:r>
              <a:rPr lang="en-US" sz="1500" dirty="0">
                <a:solidFill>
                  <a:schemeClr val="tx1"/>
                </a:solidFill>
              </a:rPr>
              <a:t> and </a:t>
            </a:r>
            <a:pPr indent="0" marL="0">
              <a:buNone/>
            </a:pPr>
            <a:r>
              <a:rPr lang="en-US" sz="1500" b="1" dirty="0">
                <a:solidFill>
                  <a:schemeClr val="tx1"/>
                </a:solidFill>
                <a:highlight>
                  <a:srgbClr val="FFD27F"/>
                </a:highlight>
              </a:rPr>
              <a:t>three prepositional phrases</a:t>
            </a:r>
            <a:pPr indent="0" marL="0">
              <a:buNone/>
            </a:pPr>
            <a:r>
              <a:rPr lang="en-US" sz="1500" dirty="0">
                <a:solidFill>
                  <a:schemeClr val="tx1"/>
                </a:solidFill>
              </a:rPr>
              <a:t>. Colour-code each feature.</a:t>
            </a:r>
            <a:endParaRPr lang="en-US" sz="1600" dirty="0"/>
          </a:p>
        </p:txBody>
      </p:sp>
      <p:sp>
        <p:nvSpPr>
          <p:cNvPr id="5" name="card"/>
          <p:cNvSpPr/>
          <p:nvPr/>
        </p:nvSpPr>
        <p:spPr>
          <a:xfrm>
            <a:off x="548640" y="2286000"/>
            <a:ext cx="8046720" cy="2286000"/>
          </a:xfrm>
          <a:prstGeom prst="roundRect">
            <a:avLst>
              <a:gd name="adj" fmla="val 4800"/>
            </a:avLst>
          </a:prstGeom>
          <a:solidFill>
            <a:schemeClr val="bg2"/>
          </a:solidFill>
          <a:ln w="12700">
            <a:solidFill>
              <a:schemeClr val="bg2"/>
            </a:solidFill>
            <a:prstDash val="solid"/>
          </a:ln>
        </p:spPr>
      </p:sp>
      <p:sp>
        <p:nvSpPr>
          <p:cNvPr id="6" name="answer line"/>
          <p:cNvSpPr/>
          <p:nvPr/>
        </p:nvSpPr>
        <p:spPr>
          <a:xfrm>
            <a:off x="822960" y="2743200"/>
            <a:ext cx="7498080" cy="0"/>
          </a:xfrm>
          <a:prstGeom prst="line">
            <a:avLst/>
          </a:prstGeom>
          <a:noFill/>
          <a:ln w="12700">
            <a:solidFill>
              <a:srgbClr val="BDB6D9"/>
            </a:solidFill>
            <a:prstDash val="solid"/>
          </a:ln>
        </p:spPr>
      </p:sp>
      <p:sp>
        <p:nvSpPr>
          <p:cNvPr id="7" name="answer line"/>
          <p:cNvSpPr/>
          <p:nvPr/>
        </p:nvSpPr>
        <p:spPr>
          <a:xfrm>
            <a:off x="822960" y="3200400"/>
            <a:ext cx="7498080" cy="0"/>
          </a:xfrm>
          <a:prstGeom prst="line">
            <a:avLst/>
          </a:prstGeom>
          <a:noFill/>
          <a:ln w="12700">
            <a:solidFill>
              <a:srgbClr val="BDB6D9"/>
            </a:solidFill>
            <a:prstDash val="solid"/>
          </a:ln>
        </p:spPr>
      </p:sp>
      <p:sp>
        <p:nvSpPr>
          <p:cNvPr id="8" name="answer line"/>
          <p:cNvSpPr/>
          <p:nvPr/>
        </p:nvSpPr>
        <p:spPr>
          <a:xfrm>
            <a:off x="822960" y="3657600"/>
            <a:ext cx="7498080" cy="0"/>
          </a:xfrm>
          <a:prstGeom prst="line">
            <a:avLst/>
          </a:prstGeom>
          <a:noFill/>
          <a:ln w="12700">
            <a:solidFill>
              <a:srgbClr val="BDB6D9"/>
            </a:solidFill>
            <a:prstDash val="solid"/>
          </a:ln>
        </p:spPr>
      </p:sp>
      <p:sp>
        <p:nvSpPr>
          <p:cNvPr id="9" name="answer line"/>
          <p:cNvSpPr/>
          <p:nvPr/>
        </p:nvSpPr>
        <p:spPr>
          <a:xfrm>
            <a:off x="822960" y="4114800"/>
            <a:ext cx="7498080" cy="0"/>
          </a:xfrm>
          <a:prstGeom prst="line">
            <a:avLst/>
          </a:prstGeom>
          <a:noFill/>
          <a:ln w="12700">
            <a:solidFill>
              <a:srgbClr val="BDB6D9"/>
            </a:solidFill>
            <a:prstDash val="solid"/>
          </a:ln>
        </p:spPr>
      </p:sp>
      <p:sp>
        <p:nvSpPr>
          <p:cNvPr id="25" name="Slide Number Placeholder 0"/>
          <p:cNvSpPr>
            <a:spLocks noGrp="1"/>
          </p:cNvSpPr>
          <p:nvPr>
            <p:ph type="sldNum" sz="quarter" idx="4294967295"/>
          </p:nvPr>
        </p:nvSpPr>
        <p:spPr>
          <a:xfrm>
            <a:off x="8229600" y="4736592"/>
            <a:ext cx="36576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6784"/>
                </a:solidFill>
              </a:defRPr>
            </a:lvl1pPr>
          </a:lstStyle>
          <a:p>
            <a:pPr algn="l"/>
            <a:fld id="{F7021451-1387-4CA6-816F-3879F97B5CBC}" type="slidenum">
              <a:rPr b="0" lang="en-US"/>
              <a:t>43</a:t>
            </a:fld>
            <a:endParaRPr lang="en-US"/>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spTree>
      <p:nvGrpSpPr>
        <p:cNvPr id="1" name=""/>
        <p:cNvGrpSpPr/>
        <p:nvPr/>
      </p:nvGrpSpPr>
      <p:grpSpPr>
        <a:xfrm>
          <a:off x="0" y="0"/>
          <a:ext cx="0" cy="0"/>
          <a:chOff x="0" y="0"/>
          <a:chExt cx="0" cy="0"/>
        </a:xfrm>
      </p:grpSpPr>
      <p:sp>
        <p:nvSpPr>
          <p:cNvPr id="2" name="Text 0"/>
          <p:cNvSpPr/>
          <p:nvPr>
            <p:ph idx="100" type="title" hasCustomPrompt="1"/>
          </p:nvPr>
        </p:nvSpPr>
        <p:spPr>
          <a:xfrm>
            <a:off x="640080" y="1371600"/>
            <a:ext cx="5120640" cy="1371600"/>
          </a:xfrm>
          <a:prstGeom prst="rect">
            <a:avLst/>
          </a:prstGeom>
          <a:noFill/>
          <a:ln/>
        </p:spPr>
        <p:txBody>
          <a:bodyPr wrap="square" lIns="0" tIns="0" rIns="0" bIns="0" rtlCol="0" anchor="b"/>
          <a:lstStyle/>
          <a:p>
            <a:pPr algn="l" indent="0" marL="0">
              <a:buNone/>
            </a:pPr>
            <a:r>
              <a:rPr lang="en-US" sz="4400" b="1" dirty="0">
                <a:solidFill>
                  <a:schemeClr val="bg1"/>
                </a:solidFill>
              </a:rPr>
              <a:t>Describe the world</a:t>
            </a:r>
            <a:endParaRPr lang="en-US" sz="4400" dirty="0"/>
          </a:p>
        </p:txBody>
      </p:sp>
      <p:sp>
        <p:nvSpPr>
          <p:cNvPr id="3" name="Text 0"/>
          <p:cNvSpPr/>
          <p:nvPr>
            <p:ph idx="101" type="body" hasCustomPrompt="1"/>
          </p:nvPr>
        </p:nvSpPr>
        <p:spPr>
          <a:xfrm>
            <a:off x="640080" y="2926080"/>
            <a:ext cx="5120640" cy="1097280"/>
          </a:xfrm>
          <a:prstGeom prst="rect">
            <a:avLst/>
          </a:prstGeom>
          <a:noFill/>
          <a:ln/>
        </p:spPr>
        <p:txBody>
          <a:bodyPr wrap="square" lIns="0" tIns="0" rIns="0" bIns="0" rtlCol="0" anchor="t"/>
          <a:lstStyle/>
          <a:p>
            <a:pPr indent="0" marL="0">
              <a:buNone/>
            </a:pPr>
            <a:r>
              <a:rPr lang="en-US" sz="1800" dirty="0">
                <a:solidFill>
                  <a:schemeClr val="accent1"/>
                </a:solidFill>
              </a:rPr>
              <a:t>Next: planning our fantasy story</a:t>
            </a:r>
            <a:endParaRPr lang="en-US" sz="1800" dirty="0"/>
          </a:p>
        </p:txBody>
      </p:sp>
      <p:sp>
        <p:nvSpPr>
          <p:cNvPr id="4" name="motif circle"/>
          <p:cNvSpPr/>
          <p:nvPr/>
        </p:nvSpPr>
        <p:spPr>
          <a:xfrm>
            <a:off x="6126480" y="1097280"/>
            <a:ext cx="2468880" cy="2468880"/>
          </a:xfrm>
          <a:prstGeom prst="ellipse">
            <a:avLst/>
          </a:prstGeom>
          <a:solidFill>
            <a:schemeClr val="tx2"/>
          </a:solidFill>
          <a:ln w="12700">
            <a:solidFill>
              <a:schemeClr val="tx2"/>
            </a:solidFill>
            <a:prstDash val="solid"/>
          </a:ln>
        </p:spPr>
      </p:sp>
      <p:pic>
        <p:nvPicPr>
          <p:cNvPr id="5" name="city" descr="city">    </p:cNvPr>
          <p:cNvPicPr>
            <a:picLocks noChangeAspect="1"/>
          </p:cNvPicPr>
          <p:nvPr/>
        </p:nvPicPr>
        <p:blipFill>
          <a:blip r:embed="rId1"/>
          <a:stretch>
            <a:fillRect/>
          </a:stretch>
        </p:blipFill>
        <p:spPr>
          <a:xfrm>
            <a:off x="6675120" y="1645920"/>
            <a:ext cx="1371600" cy="1371600"/>
          </a:xfrm>
          <a:prstGeom prst="rect">
            <a:avLst/>
          </a:prstGeom>
        </p:spPr>
      </p:pic>
    </p:spTree>
  </p:cSld>
  <p:clrMapOvr>
    <a:masterClrMapping/>
  </p:clrMapOvr>
</p:sld>
</file>

<file path=ppt/theme/theme1.xml><?xml version="1.0" encoding="utf-8"?>
<a:theme xmlns:a="http://schemas.openxmlformats.org/drawingml/2006/main" name="Fantasy Explorers">
  <a:themeElements>
    <a:clrScheme name="Fantasy Explorers">
      <a:dk1>
        <a:srgbClr val="1F1B3A"/>
      </a:dk1>
      <a:lt1>
        <a:srgbClr val="FFFFFF"/>
      </a:lt1>
      <a:dk2>
        <a:srgbClr val="3B2F63"/>
      </a:dk2>
      <a:lt2>
        <a:srgbClr val="F1EEFA"/>
      </a:lt2>
      <a:accent1>
        <a:srgbClr val="F2A541"/>
      </a:accent1>
      <a:accent2>
        <a:srgbClr val="1E7F74"/>
      </a:accent2>
      <a:accent3>
        <a:srgbClr val="C8553A"/>
      </a:accent3>
      <a:accent4>
        <a:srgbClr val="6A55B8"/>
      </a:accent4>
      <a:accent5>
        <a:srgbClr val="5E8C4F"/>
      </a:accent5>
      <a:accent6>
        <a:srgbClr val="B5851A"/>
      </a:accent6>
      <a:hlink>
        <a:srgbClr val="6A55B8"/>
      </a:hlink>
      <a:folHlink>
        <a:srgbClr val="3B2F63"/>
      </a:folHlink>
    </a:clrScheme>
    <a:fontScheme name="Fantasy Explorers">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44</Slides>
  <Notes>44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44</vt:i4>
      </vt:variant>
    </vt:vector>
  </HeadingPairs>
  <TitlesOfParts>
    <vt:vector size="4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Unit 8 - Grammar: Describe It</dc:title>
  <dc:subject>PptxGenJS Presentation</dc:subject>
  <dc:creator>Year 6 English</dc:creator>
  <cp:lastModifiedBy>Year 6 English</cp:lastModifiedBy>
  <cp:revision>1</cp:revision>
  <dcterms:created xsi:type="dcterms:W3CDTF">2026-10-29T05:21:58Z</dcterms:created>
  <dcterms:modified xsi:type="dcterms:W3CDTF">2026-10-29T05:21:58Z</dcterms:modified>
</cp:coreProperties>
</file>