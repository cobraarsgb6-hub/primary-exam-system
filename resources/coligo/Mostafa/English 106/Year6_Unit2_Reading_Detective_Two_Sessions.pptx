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0971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D9A441"/>
          </a:solidFill>
          <a:ln/>
        </p:spPr>
      </p:sp>
      <p:sp>
        <p:nvSpPr>
          <p:cNvPr id="3" name="Shape 1"/>
          <p:cNvSpPr/>
          <p:nvPr/>
        </p:nvSpPr>
        <p:spPr>
          <a:xfrm>
            <a:off x="8412480" y="914400"/>
            <a:ext cx="3108960" cy="3108960"/>
          </a:xfrm>
          <a:prstGeom prst="ellipse">
            <a:avLst/>
          </a:prstGeom>
          <a:solidFill>
            <a:srgbClr val="2B4257"/>
          </a:solidFill>
          <a:ln/>
        </p:spPr>
      </p:sp>
      <p:sp>
        <p:nvSpPr>
          <p:cNvPr id="4" name="Text 2"/>
          <p:cNvSpPr txBox="1"/>
          <p:nvPr/>
        </p:nvSpPr>
        <p:spPr>
          <a:xfrm>
            <a:off x="8412480" y="914400"/>
            <a:ext cx="3108960" cy="3108960"/>
          </a:xfrm>
          <a:prstGeom prst="rect">
            <a:avLst/>
          </a:prstGeom>
          <a:noFill/>
          <a:ln/>
        </p:spPr>
        <p:txBody>
          <a:bodyPr wrap="square" lIns="0" tIns="0" rIns="0" bIns="0" rtlCol="0" anchor="ctr"/>
          <a:lstStyle/>
          <a:p>
            <a:pPr marL="0" indent="0" algn="ctr">
              <a:buNone/>
            </a:pPr>
            <a:r>
              <a:rPr lang="en-US" sz="9600" dirty="0">
                <a:solidFill>
                  <a:srgbClr val="000000"/>
                </a:solidFill>
              </a:rPr>
              <a:t>🕵️</a:t>
            </a:r>
            <a:endParaRPr lang="en-US" sz="9600" dirty="0"/>
          </a:p>
        </p:txBody>
      </p:sp>
      <p:sp>
        <p:nvSpPr>
          <p:cNvPr id="5" name="Text 3"/>
          <p:cNvSpPr txBox="1"/>
          <p:nvPr/>
        </p:nvSpPr>
        <p:spPr>
          <a:xfrm>
            <a:off x="731520" y="82296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READING DETECTIVE</a:t>
            </a:r>
            <a:endParaRPr lang="en-US" sz="4400" dirty="0"/>
          </a:p>
        </p:txBody>
      </p:sp>
      <p:sp>
        <p:nvSpPr>
          <p:cNvPr id="6" name="Text 4"/>
          <p:cNvSpPr txBox="1"/>
          <p:nvPr/>
        </p:nvSpPr>
        <p:spPr>
          <a:xfrm>
            <a:off x="731520" y="1737360"/>
            <a:ext cx="7315200" cy="822960"/>
          </a:xfrm>
          <a:prstGeom prst="rect">
            <a:avLst/>
          </a:prstGeom>
          <a:noFill/>
          <a:ln/>
        </p:spPr>
        <p:txBody>
          <a:bodyPr wrap="square" lIns="0" tIns="0" rIns="0" bIns="0" rtlCol="0" anchor="t"/>
          <a:lstStyle/>
          <a:p>
            <a:pPr marL="0" indent="0">
              <a:buNone/>
            </a:pPr>
            <a:r>
              <a:rPr lang="en-US" sz="2200" b="1" dirty="0">
                <a:solidFill>
                  <a:srgbClr val="D9A441"/>
                </a:solidFill>
                <a:latin typeface="Calibri" pitchFamily="34" charset="0"/>
                <a:ea typeface="Calibri" pitchFamily="34" charset="-122"/>
                <a:cs typeface="Calibri" pitchFamily="34" charset="-120"/>
              </a:rPr>
              <a:t>Can you prove your answer?</a:t>
            </a:r>
            <a:endParaRPr lang="en-US" sz="2200" dirty="0"/>
          </a:p>
        </p:txBody>
      </p:sp>
      <p:sp>
        <p:nvSpPr>
          <p:cNvPr id="7" name="Text 5"/>
          <p:cNvSpPr txBox="1"/>
          <p:nvPr/>
        </p:nvSpPr>
        <p:spPr>
          <a:xfrm>
            <a:off x="731520" y="2651760"/>
            <a:ext cx="7315200" cy="320040"/>
          </a:xfrm>
          <a:prstGeom prst="rect">
            <a:avLst/>
          </a:prstGeom>
          <a:noFill/>
          <a:ln/>
        </p:spPr>
        <p:txBody>
          <a:bodyPr wrap="square" lIns="0" tIns="0" rIns="0" bIns="0" rtlCol="0" anchor="ctr"/>
          <a:lstStyle/>
          <a:p>
            <a:pPr marL="0" indent="0">
              <a:buNone/>
            </a:pPr>
            <a:r>
              <a:rPr lang="en-US" sz="2400" dirty="0">
                <a:solidFill>
                  <a:srgbClr val="C9D3DB"/>
                </a:solidFill>
                <a:latin typeface="Calibri" pitchFamily="34" charset="0"/>
                <a:ea typeface="Calibri" pitchFamily="34" charset="-122"/>
                <a:cs typeface="Calibri" pitchFamily="34" charset="-120"/>
              </a:rPr>
              <a:t>Year 6 English · Unit 2 · Two sessions · 80 minutes</a:t>
            </a:r>
            <a:endParaRPr lang="en-US" sz="2400" dirty="0"/>
          </a:p>
        </p:txBody>
      </p:sp>
      <p:sp>
        <p:nvSpPr>
          <p:cNvPr id="8" name="Shape 6"/>
          <p:cNvSpPr/>
          <p:nvPr/>
        </p:nvSpPr>
        <p:spPr>
          <a:xfrm>
            <a:off x="731520" y="3291840"/>
            <a:ext cx="2331720" cy="1097280"/>
          </a:xfrm>
          <a:prstGeom prst="roundRect">
            <a:avLst>
              <a:gd name="adj" fmla="val 8333"/>
            </a:avLst>
          </a:prstGeom>
          <a:solidFill>
            <a:srgbClr val="FFFFFF"/>
          </a:solidFill>
          <a:ln/>
        </p:spPr>
      </p:sp>
      <p:sp>
        <p:nvSpPr>
          <p:cNvPr id="9" name="Shape 7"/>
          <p:cNvSpPr/>
          <p:nvPr/>
        </p:nvSpPr>
        <p:spPr>
          <a:xfrm>
            <a:off x="731520" y="3383280"/>
            <a:ext cx="64008" cy="914400"/>
          </a:xfrm>
          <a:prstGeom prst="rect">
            <a:avLst/>
          </a:prstGeom>
          <a:solidFill>
            <a:srgbClr val="C0674F"/>
          </a:solidFill>
          <a:ln/>
        </p:spPr>
      </p:sp>
      <p:sp>
        <p:nvSpPr>
          <p:cNvPr id="10" name="Text 8"/>
          <p:cNvSpPr txBox="1"/>
          <p:nvPr/>
        </p:nvSpPr>
        <p:spPr>
          <a:xfrm>
            <a:off x="914400" y="3291840"/>
            <a:ext cx="2057400" cy="1097280"/>
          </a:xfrm>
          <a:prstGeom prst="rect">
            <a:avLst/>
          </a:prstGeom>
          <a:noFill/>
          <a:ln/>
        </p:spPr>
        <p:txBody>
          <a:bodyPr wrap="square" lIns="0" tIns="0" rIns="0" bIns="0" rtlCol="0" anchor="ctr"/>
          <a:lstStyle/>
          <a:p>
            <a:pPr marL="0" indent="0">
              <a:buNone/>
            </a:pPr>
            <a:r>
              <a:rPr lang="en-US" sz="1400" b="1" dirty="0">
                <a:solidFill>
                  <a:srgbClr val="C0674F"/>
                </a:solidFill>
                <a:latin typeface="Calibri" pitchFamily="34" charset="0"/>
                <a:ea typeface="Calibri" pitchFamily="34" charset="-122"/>
                <a:cs typeface="Calibri" pitchFamily="34" charset="-120"/>
              </a:rPr>
              <a:t>I DO</a:t>
            </a:r>
            <a:endParaRPr lang="en-US" sz="1400" dirty="0"/>
          </a:p>
          <a:p>
            <a:pPr marL="0" indent="0">
              <a:buNone/>
            </a:pPr>
            <a:r>
              <a:rPr lang="en-US" sz="2400" dirty="0">
                <a:solidFill>
                  <a:srgbClr val="1B2A38"/>
                </a:solidFill>
                <a:latin typeface="Calibri" pitchFamily="34" charset="0"/>
                <a:ea typeface="Calibri" pitchFamily="34" charset="-122"/>
                <a:cs typeface="Calibri" pitchFamily="34" charset="-120"/>
              </a:rPr>
              <a:t>Watch the detective</a:t>
            </a:r>
            <a:endParaRPr lang="en-US" sz="2000" dirty="0"/>
          </a:p>
        </p:txBody>
      </p:sp>
      <p:sp>
        <p:nvSpPr>
          <p:cNvPr id="11" name="Shape 9"/>
          <p:cNvSpPr/>
          <p:nvPr/>
        </p:nvSpPr>
        <p:spPr>
          <a:xfrm>
            <a:off x="3246120" y="3291840"/>
            <a:ext cx="2331720" cy="1097280"/>
          </a:xfrm>
          <a:prstGeom prst="roundRect">
            <a:avLst>
              <a:gd name="adj" fmla="val 8333"/>
            </a:avLst>
          </a:prstGeom>
          <a:solidFill>
            <a:srgbClr val="FFFFFF"/>
          </a:solidFill>
          <a:ln/>
        </p:spPr>
      </p:sp>
      <p:sp>
        <p:nvSpPr>
          <p:cNvPr id="12" name="Shape 10"/>
          <p:cNvSpPr/>
          <p:nvPr/>
        </p:nvSpPr>
        <p:spPr>
          <a:xfrm>
            <a:off x="3246120" y="3383280"/>
            <a:ext cx="64008" cy="914400"/>
          </a:xfrm>
          <a:prstGeom prst="rect">
            <a:avLst/>
          </a:prstGeom>
          <a:solidFill>
            <a:srgbClr val="4F7CA0"/>
          </a:solidFill>
          <a:ln/>
        </p:spPr>
      </p:sp>
      <p:sp>
        <p:nvSpPr>
          <p:cNvPr id="13" name="Text 11"/>
          <p:cNvSpPr txBox="1"/>
          <p:nvPr/>
        </p:nvSpPr>
        <p:spPr>
          <a:xfrm>
            <a:off x="3429000" y="3291840"/>
            <a:ext cx="2057400" cy="1097280"/>
          </a:xfrm>
          <a:prstGeom prst="rect">
            <a:avLst/>
          </a:prstGeom>
          <a:noFill/>
          <a:ln/>
        </p:spPr>
        <p:txBody>
          <a:bodyPr wrap="square" lIns="0" tIns="0" rIns="0" bIns="0" rtlCol="0" anchor="ctr"/>
          <a:lstStyle/>
          <a:p>
            <a:pPr marL="0" indent="0">
              <a:buNone/>
            </a:pPr>
            <a:r>
              <a:rPr lang="en-US" sz="1400" b="1" dirty="0">
                <a:solidFill>
                  <a:srgbClr val="4F7CA0"/>
                </a:solidFill>
                <a:latin typeface="Calibri" pitchFamily="34" charset="0"/>
                <a:ea typeface="Calibri" pitchFamily="34" charset="-122"/>
                <a:cs typeface="Calibri" pitchFamily="34" charset="-120"/>
              </a:rPr>
              <a:t>WE DO</a:t>
            </a:r>
            <a:endParaRPr lang="en-US" sz="1400" dirty="0"/>
          </a:p>
          <a:p>
            <a:pPr marL="0" indent="0">
              <a:buNone/>
            </a:pPr>
            <a:r>
              <a:rPr lang="en-US" sz="2400" dirty="0">
                <a:solidFill>
                  <a:srgbClr val="1B2A38"/>
                </a:solidFill>
                <a:latin typeface="Calibri" pitchFamily="34" charset="0"/>
                <a:ea typeface="Calibri" pitchFamily="34" charset="-122"/>
                <a:cs typeface="Calibri" pitchFamily="34" charset="-120"/>
              </a:rPr>
              <a:t>Team up on the clues</a:t>
            </a:r>
            <a:endParaRPr lang="en-US" sz="2000" dirty="0"/>
          </a:p>
        </p:txBody>
      </p:sp>
      <p:sp>
        <p:nvSpPr>
          <p:cNvPr id="14" name="Shape 12"/>
          <p:cNvSpPr/>
          <p:nvPr/>
        </p:nvSpPr>
        <p:spPr>
          <a:xfrm>
            <a:off x="5760720" y="3291840"/>
            <a:ext cx="2331720" cy="1097280"/>
          </a:xfrm>
          <a:prstGeom prst="roundRect">
            <a:avLst>
              <a:gd name="adj" fmla="val 8333"/>
            </a:avLst>
          </a:prstGeom>
          <a:solidFill>
            <a:srgbClr val="FFFFFF"/>
          </a:solidFill>
          <a:ln/>
        </p:spPr>
      </p:sp>
      <p:sp>
        <p:nvSpPr>
          <p:cNvPr id="15" name="Shape 13"/>
          <p:cNvSpPr/>
          <p:nvPr/>
        </p:nvSpPr>
        <p:spPr>
          <a:xfrm>
            <a:off x="5760720" y="3383280"/>
            <a:ext cx="64008" cy="914400"/>
          </a:xfrm>
          <a:prstGeom prst="rect">
            <a:avLst/>
          </a:prstGeom>
          <a:solidFill>
            <a:srgbClr val="4E7D5B"/>
          </a:solidFill>
          <a:ln/>
        </p:spPr>
      </p:sp>
      <p:sp>
        <p:nvSpPr>
          <p:cNvPr id="16" name="Text 14"/>
          <p:cNvSpPr txBox="1"/>
          <p:nvPr/>
        </p:nvSpPr>
        <p:spPr>
          <a:xfrm>
            <a:off x="5943600" y="3291840"/>
            <a:ext cx="2057400" cy="1097280"/>
          </a:xfrm>
          <a:prstGeom prst="rect">
            <a:avLst/>
          </a:prstGeom>
          <a:noFill/>
          <a:ln/>
        </p:spPr>
        <p:txBody>
          <a:bodyPr wrap="square" lIns="0" tIns="0" rIns="0" bIns="0" rtlCol="0" anchor="ctr"/>
          <a:lstStyle/>
          <a:p>
            <a:pPr marL="0" indent="0">
              <a:buNone/>
            </a:pPr>
            <a:r>
              <a:rPr lang="en-US" sz="1400" b="1" dirty="0">
                <a:solidFill>
                  <a:srgbClr val="4E7D5B"/>
                </a:solidFill>
                <a:latin typeface="Calibri" pitchFamily="34" charset="0"/>
                <a:ea typeface="Calibri" pitchFamily="34" charset="-122"/>
                <a:cs typeface="Calibri" pitchFamily="34" charset="-120"/>
              </a:rPr>
              <a:t>YOU DO</a:t>
            </a:r>
            <a:endParaRPr lang="en-US" sz="1400" dirty="0"/>
          </a:p>
          <a:p>
            <a:pPr marL="0" indent="0">
              <a:buNone/>
            </a:pPr>
            <a:r>
              <a:rPr lang="en-US" sz="2400" dirty="0">
                <a:solidFill>
                  <a:srgbClr val="1B2A38"/>
                </a:solidFill>
                <a:latin typeface="Calibri" pitchFamily="34" charset="0"/>
                <a:ea typeface="Calibri" pitchFamily="34" charset="-122"/>
                <a:cs typeface="Calibri" pitchFamily="34" charset="-120"/>
              </a:rPr>
              <a:t>Solve it solo</a:t>
            </a:r>
            <a:endParaRPr lang="en-US" sz="2000" dirty="0"/>
          </a:p>
        </p:txBody>
      </p:sp>
      <p:sp>
        <p:nvSpPr>
          <p:cNvPr id="17" name="Text 15"/>
          <p:cNvSpPr txBox="1"/>
          <p:nvPr/>
        </p:nvSpPr>
        <p:spPr>
          <a:xfrm>
            <a:off x="731520" y="4892040"/>
            <a:ext cx="10515600" cy="1097280"/>
          </a:xfrm>
          <a:prstGeom prst="rect">
            <a:avLst/>
          </a:prstGeom>
          <a:noFill/>
          <a:ln/>
        </p:spPr>
        <p:txBody>
          <a:bodyPr wrap="square" lIns="0" tIns="0" rIns="0" bIns="0" rtlCol="0" anchor="t"/>
          <a:lstStyle/>
          <a:p>
            <a:pPr marL="0" indent="0">
              <a:buNone/>
            </a:pPr>
            <a:r>
              <a:rPr lang="en-US" sz="1200" b="1" dirty="0">
                <a:solidFill>
                  <a:srgbClr val="D9A441"/>
                </a:solidFill>
                <a:latin typeface="Calibri" pitchFamily="34" charset="0"/>
                <a:ea typeface="Calibri" pitchFamily="34" charset="-122"/>
                <a:cs typeface="Calibri" pitchFamily="34" charset="-120"/>
              </a:rPr>
              <a:t>TODAY'S MISSION</a:t>
            </a:r>
            <a:endParaRPr lang="en-US" sz="1200" dirty="0"/>
          </a:p>
          <a:p>
            <a:pPr marL="0" indent="0">
              <a:buNone/>
            </a:pPr>
            <a:r>
              <a:rPr lang="en-US" sz="3200" b="1" dirty="0">
                <a:solidFill>
                  <a:srgbClr val="FFFFFF"/>
                </a:solidFill>
                <a:latin typeface="Calibri" pitchFamily="34" charset="0"/>
                <a:ea typeface="Calibri" pitchFamily="34" charset="-122"/>
                <a:cs typeface="Calibri" pitchFamily="34" charset="-120"/>
              </a:rPr>
              <a:t>Read like a detective. Don't just give an answer. PROVE IT.</a:t>
            </a:r>
            <a:endParaRPr lang="en-US"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1 · MISSION</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Today's Mission 🎯</a:t>
            </a:r>
            <a:endParaRPr lang="en-US" sz="3200" dirty="0"/>
          </a:p>
        </p:txBody>
      </p:sp>
      <p:sp>
        <p:nvSpPr>
          <p:cNvPr id="7" name="Shape 5"/>
          <p:cNvSpPr/>
          <p:nvPr/>
        </p:nvSpPr>
        <p:spPr>
          <a:xfrm>
            <a:off x="1216152" y="1463040"/>
            <a:ext cx="548640" cy="548640"/>
          </a:xfrm>
          <a:prstGeom prst="ellipse">
            <a:avLst/>
          </a:prstGeom>
          <a:solidFill>
            <a:srgbClr val="4E7D5B"/>
          </a:solidFill>
          <a:ln/>
        </p:spPr>
      </p:sp>
      <p:sp>
        <p:nvSpPr>
          <p:cNvPr id="8" name="Text 6"/>
          <p:cNvSpPr txBox="1"/>
          <p:nvPr/>
        </p:nvSpPr>
        <p:spPr>
          <a:xfrm>
            <a:off x="1216152"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2496312" y="3680460"/>
            <a:ext cx="283464" cy="274320"/>
          </a:xfrm>
          <a:prstGeom prst="rightArrow">
            <a:avLst/>
          </a:prstGeom>
          <a:solidFill>
            <a:srgbClr val="D9A441"/>
          </a:solidFill>
          <a:ln/>
        </p:spPr>
      </p:sp>
      <p:sp>
        <p:nvSpPr>
          <p:cNvPr id="10" name="Shape 8"/>
          <p:cNvSpPr/>
          <p:nvPr/>
        </p:nvSpPr>
        <p:spPr>
          <a:xfrm>
            <a:off x="548640"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 CONTEXT</a:t>
            </a:r>
            <a:endParaRPr lang="en-US" sz="1400" dirty="0"/>
          </a:p>
          <a:p>
            <a:pPr marL="0" indent="0">
              <a:spcAft>
                <a:spcPts val="500"/>
              </a:spcAft>
              <a:buNone/>
            </a:pPr>
            <a:r>
              <a:rPr lang="en-US" sz="2532" dirty="0">
                <a:solidFill>
                  <a:srgbClr val="1B2A38"/>
                </a:solidFill>
                <a:latin typeface="Calibri" pitchFamily="34" charset="0"/>
                <a:ea typeface="Calibri" pitchFamily="34" charset="-122"/>
                <a:cs typeface="Calibri" pitchFamily="34" charset="-120"/>
              </a:rPr>
              <a:t>understand unfamiliar words from context</a:t>
            </a:r>
            <a:endParaRPr lang="en-US" sz="1400" dirty="0"/>
          </a:p>
        </p:txBody>
      </p:sp>
      <p:sp>
        <p:nvSpPr>
          <p:cNvPr id="13" name="Shape 11"/>
          <p:cNvSpPr/>
          <p:nvPr/>
        </p:nvSpPr>
        <p:spPr>
          <a:xfrm>
            <a:off x="3511296" y="1463040"/>
            <a:ext cx="548640" cy="548640"/>
          </a:xfrm>
          <a:prstGeom prst="ellipse">
            <a:avLst/>
          </a:prstGeom>
          <a:solidFill>
            <a:srgbClr val="4F7CA0"/>
          </a:solidFill>
          <a:ln/>
        </p:spPr>
      </p:sp>
      <p:sp>
        <p:nvSpPr>
          <p:cNvPr id="14" name="Text 12"/>
          <p:cNvSpPr txBox="1"/>
          <p:nvPr/>
        </p:nvSpPr>
        <p:spPr>
          <a:xfrm>
            <a:off x="3511296"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4791456" y="3680460"/>
            <a:ext cx="283464" cy="274320"/>
          </a:xfrm>
          <a:prstGeom prst="rightArrow">
            <a:avLst/>
          </a:prstGeom>
          <a:solidFill>
            <a:srgbClr val="D9A441"/>
          </a:solidFill>
          <a:ln/>
        </p:spPr>
      </p:sp>
      <p:sp>
        <p:nvSpPr>
          <p:cNvPr id="16" name="Shape 14"/>
          <p:cNvSpPr/>
          <p:nvPr/>
        </p:nvSpPr>
        <p:spPr>
          <a:xfrm>
            <a:off x="2843784"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2843784" y="2286000"/>
            <a:ext cx="64008" cy="3063240"/>
          </a:xfrm>
          <a:prstGeom prst="rect">
            <a:avLst/>
          </a:prstGeom>
          <a:solidFill>
            <a:srgbClr val="4F7CA0"/>
          </a:solidFill>
          <a:ln/>
        </p:spPr>
      </p:sp>
      <p:sp>
        <p:nvSpPr>
          <p:cNvPr id="18" name="Text 16"/>
          <p:cNvSpPr txBox="1"/>
          <p:nvPr/>
        </p:nvSpPr>
        <p:spPr>
          <a:xfrm>
            <a:off x="3072384"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 WORD CHOICE</a:t>
            </a:r>
            <a:endParaRPr lang="en-US" sz="1400" dirty="0"/>
          </a:p>
          <a:p>
            <a:pPr marL="0" indent="0">
              <a:spcAft>
                <a:spcPts val="500"/>
              </a:spcAft>
              <a:buNone/>
            </a:pPr>
            <a:r>
              <a:rPr lang="en-US" sz="2532" dirty="0">
                <a:solidFill>
                  <a:srgbClr val="1B2A38"/>
                </a:solidFill>
                <a:latin typeface="Calibri" pitchFamily="34" charset="0"/>
                <a:ea typeface="Calibri" pitchFamily="34" charset="-122"/>
                <a:cs typeface="Calibri" pitchFamily="34" charset="-120"/>
              </a:rPr>
              <a:t>explain a writer's word choice</a:t>
            </a:r>
            <a:endParaRPr lang="en-US" sz="1400" dirty="0"/>
          </a:p>
        </p:txBody>
      </p:sp>
      <p:sp>
        <p:nvSpPr>
          <p:cNvPr id="19" name="Shape 17"/>
          <p:cNvSpPr/>
          <p:nvPr/>
        </p:nvSpPr>
        <p:spPr>
          <a:xfrm>
            <a:off x="5806440" y="1463040"/>
            <a:ext cx="548640" cy="548640"/>
          </a:xfrm>
          <a:prstGeom prst="ellipse">
            <a:avLst/>
          </a:prstGeom>
          <a:solidFill>
            <a:srgbClr val="C0674F"/>
          </a:solidFill>
          <a:ln/>
        </p:spPr>
      </p:sp>
      <p:sp>
        <p:nvSpPr>
          <p:cNvPr id="20" name="Text 18"/>
          <p:cNvSpPr txBox="1"/>
          <p:nvPr/>
        </p:nvSpPr>
        <p:spPr>
          <a:xfrm>
            <a:off x="580644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7086600" y="3680460"/>
            <a:ext cx="283464" cy="274320"/>
          </a:xfrm>
          <a:prstGeom prst="rightArrow">
            <a:avLst/>
          </a:prstGeom>
          <a:solidFill>
            <a:srgbClr val="D9A441"/>
          </a:solidFill>
          <a:ln/>
        </p:spPr>
      </p:sp>
      <p:sp>
        <p:nvSpPr>
          <p:cNvPr id="22" name="Shape 20"/>
          <p:cNvSpPr/>
          <p:nvPr/>
        </p:nvSpPr>
        <p:spPr>
          <a:xfrm>
            <a:off x="5138928"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3" name="Shape 21"/>
          <p:cNvSpPr/>
          <p:nvPr/>
        </p:nvSpPr>
        <p:spPr>
          <a:xfrm>
            <a:off x="5138928" y="2286000"/>
            <a:ext cx="64008" cy="3063240"/>
          </a:xfrm>
          <a:prstGeom prst="rect">
            <a:avLst/>
          </a:prstGeom>
          <a:solidFill>
            <a:srgbClr val="C0674F"/>
          </a:solidFill>
          <a:ln/>
        </p:spPr>
      </p:sp>
      <p:sp>
        <p:nvSpPr>
          <p:cNvPr id="24" name="Text 22"/>
          <p:cNvSpPr txBox="1"/>
          <p:nvPr/>
        </p:nvSpPr>
        <p:spPr>
          <a:xfrm>
            <a:off x="5367528"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 STRUCTURE</a:t>
            </a:r>
            <a:endParaRPr lang="en-US" sz="1400" dirty="0"/>
          </a:p>
          <a:p>
            <a:pPr marL="0" indent="0">
              <a:spcAft>
                <a:spcPts val="500"/>
              </a:spcAft>
              <a:buNone/>
            </a:pPr>
            <a:r>
              <a:rPr lang="en-US" sz="2532" dirty="0">
                <a:solidFill>
                  <a:srgbClr val="1B2A38"/>
                </a:solidFill>
                <a:latin typeface="Calibri" pitchFamily="34" charset="0"/>
                <a:ea typeface="Calibri" pitchFamily="34" charset="-122"/>
                <a:cs typeface="Calibri" pitchFamily="34" charset="-120"/>
              </a:rPr>
              <a:t>explain how a text is organised</a:t>
            </a:r>
            <a:endParaRPr lang="en-US" sz="1400" dirty="0"/>
          </a:p>
        </p:txBody>
      </p:sp>
      <p:sp>
        <p:nvSpPr>
          <p:cNvPr id="25" name="Shape 23"/>
          <p:cNvSpPr/>
          <p:nvPr/>
        </p:nvSpPr>
        <p:spPr>
          <a:xfrm>
            <a:off x="8101584" y="1463040"/>
            <a:ext cx="548640" cy="548640"/>
          </a:xfrm>
          <a:prstGeom prst="ellipse">
            <a:avLst/>
          </a:prstGeom>
          <a:solidFill>
            <a:srgbClr val="D9A441"/>
          </a:solidFill>
          <a:ln/>
        </p:spPr>
      </p:sp>
      <p:sp>
        <p:nvSpPr>
          <p:cNvPr id="26" name="Text 24"/>
          <p:cNvSpPr txBox="1"/>
          <p:nvPr/>
        </p:nvSpPr>
        <p:spPr>
          <a:xfrm>
            <a:off x="8101584" y="1463040"/>
            <a:ext cx="548640" cy="548640"/>
          </a:xfrm>
          <a:prstGeom prst="rect">
            <a:avLst/>
          </a:prstGeom>
          <a:noFill/>
          <a:ln/>
        </p:spPr>
        <p:txBody>
          <a:bodyPr wrap="square" lIns="0" tIns="0" rIns="0" bIns="0" rtlCol="0" anchor="ctr"/>
          <a:lstStyle/>
          <a:p>
            <a:pPr marL="0" indent="0" algn="ctr">
              <a:buNone/>
            </a:pPr>
            <a:r>
              <a:rPr lang="en-US" sz="2200" b="1" dirty="0">
                <a:solidFill>
                  <a:srgbClr val="1B2A38"/>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9381744" y="3680460"/>
            <a:ext cx="283464" cy="274320"/>
          </a:xfrm>
          <a:prstGeom prst="rightArrow">
            <a:avLst/>
          </a:prstGeom>
          <a:solidFill>
            <a:srgbClr val="D9A441"/>
          </a:solidFill>
          <a:ln/>
        </p:spPr>
      </p:sp>
      <p:sp>
        <p:nvSpPr>
          <p:cNvPr id="28" name="Shape 26"/>
          <p:cNvSpPr/>
          <p:nvPr/>
        </p:nvSpPr>
        <p:spPr>
          <a:xfrm>
            <a:off x="7434072"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9" name="Shape 27"/>
          <p:cNvSpPr/>
          <p:nvPr/>
        </p:nvSpPr>
        <p:spPr>
          <a:xfrm>
            <a:off x="7434072" y="2286000"/>
            <a:ext cx="64008" cy="3063240"/>
          </a:xfrm>
          <a:prstGeom prst="rect">
            <a:avLst/>
          </a:prstGeom>
          <a:solidFill>
            <a:srgbClr val="D9A441"/>
          </a:solidFill>
          <a:ln/>
        </p:spPr>
      </p:sp>
      <p:sp>
        <p:nvSpPr>
          <p:cNvPr id="30" name="Text 28"/>
          <p:cNvSpPr txBox="1"/>
          <p:nvPr/>
        </p:nvSpPr>
        <p:spPr>
          <a:xfrm>
            <a:off x="7662672"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9A6F12"/>
                </a:solidFill>
                <a:latin typeface="Calibri" pitchFamily="34" charset="0"/>
                <a:ea typeface="Calibri" pitchFamily="34" charset="-122"/>
                <a:cs typeface="Calibri" pitchFamily="34" charset="-120"/>
              </a:rPr>
              <a:t>🎯 PURPOSE</a:t>
            </a:r>
            <a:endParaRPr lang="en-US" sz="1400" dirty="0"/>
          </a:p>
          <a:p>
            <a:pPr marL="0" indent="0">
              <a:spcAft>
                <a:spcPts val="500"/>
              </a:spcAft>
              <a:buNone/>
            </a:pPr>
            <a:r>
              <a:rPr lang="en-US" sz="2532" dirty="0">
                <a:solidFill>
                  <a:srgbClr val="1B2A38"/>
                </a:solidFill>
                <a:latin typeface="Calibri" pitchFamily="34" charset="0"/>
                <a:ea typeface="Calibri" pitchFamily="34" charset="-122"/>
                <a:cs typeface="Calibri" pitchFamily="34" charset="-120"/>
              </a:rPr>
              <a:t>identify purpose and audience</a:t>
            </a:r>
            <a:endParaRPr lang="en-US" sz="1400" dirty="0"/>
          </a:p>
        </p:txBody>
      </p:sp>
      <p:sp>
        <p:nvSpPr>
          <p:cNvPr id="31" name="Shape 29"/>
          <p:cNvSpPr/>
          <p:nvPr/>
        </p:nvSpPr>
        <p:spPr>
          <a:xfrm>
            <a:off x="10396728" y="1463040"/>
            <a:ext cx="548640" cy="548640"/>
          </a:xfrm>
          <a:prstGeom prst="ellipse">
            <a:avLst/>
          </a:prstGeom>
          <a:solidFill>
            <a:srgbClr val="4E7D5B"/>
          </a:solidFill>
          <a:ln/>
        </p:spPr>
      </p:sp>
      <p:sp>
        <p:nvSpPr>
          <p:cNvPr id="32" name="Text 30"/>
          <p:cNvSpPr txBox="1"/>
          <p:nvPr/>
        </p:nvSpPr>
        <p:spPr>
          <a:xfrm>
            <a:off x="10396728"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3" name="Shape 31"/>
          <p:cNvSpPr/>
          <p:nvPr/>
        </p:nvSpPr>
        <p:spPr>
          <a:xfrm>
            <a:off x="9729216"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34" name="Shape 32"/>
          <p:cNvSpPr/>
          <p:nvPr/>
        </p:nvSpPr>
        <p:spPr>
          <a:xfrm>
            <a:off x="9729216" y="2286000"/>
            <a:ext cx="64008" cy="3063240"/>
          </a:xfrm>
          <a:prstGeom prst="rect">
            <a:avLst/>
          </a:prstGeom>
          <a:solidFill>
            <a:srgbClr val="4E7D5B"/>
          </a:solidFill>
          <a:ln/>
        </p:spPr>
      </p:sp>
      <p:sp>
        <p:nvSpPr>
          <p:cNvPr id="35" name="Text 33"/>
          <p:cNvSpPr txBox="1"/>
          <p:nvPr/>
        </p:nvSpPr>
        <p:spPr>
          <a:xfrm>
            <a:off x="9957816"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 EVIDENCE</a:t>
            </a:r>
            <a:endParaRPr lang="en-US" sz="1400" dirty="0"/>
          </a:p>
          <a:p>
            <a:pPr marL="0" indent="0">
              <a:spcAft>
                <a:spcPts val="500"/>
              </a:spcAft>
              <a:buNone/>
            </a:pPr>
            <a:r>
              <a:rPr lang="en-US" sz="2532" dirty="0">
                <a:solidFill>
                  <a:srgbClr val="1B2A38"/>
                </a:solidFill>
                <a:latin typeface="Calibri" pitchFamily="34" charset="0"/>
                <a:ea typeface="Calibri" pitchFamily="34" charset="-122"/>
                <a:cs typeface="Calibri" pitchFamily="34" charset="-120"/>
              </a:rPr>
              <a:t>choose evidence to support an answer</a:t>
            </a:r>
            <a:endParaRPr lang="en-US" sz="1400" dirty="0"/>
          </a:p>
        </p:txBody>
      </p:sp>
      <p:sp>
        <p:nvSpPr>
          <p:cNvPr id="36" name="Text 3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THE GOLDEN RULE</a:t>
            </a:r>
            <a:endParaRPr lang="en-US" sz="1100" dirty="0"/>
          </a:p>
        </p:txBody>
      </p:sp>
      <p:sp>
        <p:nvSpPr>
          <p:cNvPr id="37" name="Text 3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ANSWER + EVIDENCE + EXPLANATION</a:t>
            </a:r>
            <a:endParaRPr lang="en-US" sz="1600" dirty="0"/>
          </a:p>
        </p:txBody>
      </p:sp>
      <p:sp>
        <p:nvSpPr>
          <p:cNvPr id="38" name="Text 3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MAP</a:t>
            </a:r>
            <a:endParaRPr lang="en-US" sz="1200" dirty="0"/>
          </a:p>
        </p:txBody>
      </p:sp>
      <p:sp>
        <p:nvSpPr>
          <p:cNvPr id="39" name="Text 3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40" name="Text 3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A441"/>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SESSION 1 · STARTER</a:t>
            </a:r>
            <a:endParaRPr lang="en-US" sz="1100" dirty="0"/>
          </a:p>
        </p:txBody>
      </p:sp>
      <p:sp>
        <p:nvSpPr>
          <p:cNvPr id="4" name="Shape 2"/>
          <p:cNvSpPr/>
          <p:nvPr/>
        </p:nvSpPr>
        <p:spPr>
          <a:xfrm>
            <a:off x="10424160" y="256032"/>
            <a:ext cx="1280160" cy="310896"/>
          </a:xfrm>
          <a:prstGeom prst="roundRect">
            <a:avLst>
              <a:gd name="adj" fmla="val 50000"/>
            </a:avLst>
          </a:prstGeom>
          <a:solidFill>
            <a:srgbClr val="D9A441"/>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1B2A38"/>
                </a:solidFill>
                <a:latin typeface="Calibri" pitchFamily="34" charset="0"/>
                <a:ea typeface="Calibri" pitchFamily="34" charset="-122"/>
                <a:cs typeface="Calibri" pitchFamily="34" charset="-120"/>
              </a:rPr>
              <a:t>WARM-UP</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Starter: Which Answer Can You Prove?</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The school garden was </a:t>
            </a:r>
            <a:r>
              <a:rPr lang="en-US" sz="2000" b="1" dirty="0">
                <a:solidFill>
                  <a:srgbClr val="C0674F"/>
                </a:solidFill>
                <a:latin typeface="Calibri" pitchFamily="34" charset="0"/>
                <a:ea typeface="Calibri" pitchFamily="34" charset="-122"/>
                <a:cs typeface="Calibri" pitchFamily="34" charset="-120"/>
              </a:rPr>
              <a:t>transformed</a:t>
            </a:r>
            <a:r>
              <a:rPr lang="en-US" sz="2000" dirty="0">
                <a:solidFill>
                  <a:srgbClr val="1B2A38"/>
                </a:solidFill>
                <a:latin typeface="Calibri" pitchFamily="34" charset="0"/>
                <a:ea typeface="Calibri" pitchFamily="34" charset="-122"/>
                <a:cs typeface="Calibri" pitchFamily="34" charset="-120"/>
              </a:rPr>
              <a:t> after students planted flowers, added benches and created a small reading area. What does </a:t>
            </a:r>
            <a:r>
              <a:rPr lang="en-US" sz="2000" b="1" dirty="0">
                <a:solidFill>
                  <a:srgbClr val="C0674F"/>
                </a:solidFill>
                <a:latin typeface="Calibri" pitchFamily="34" charset="0"/>
                <a:ea typeface="Calibri" pitchFamily="34" charset="-122"/>
                <a:cs typeface="Calibri" pitchFamily="34" charset="-120"/>
              </a:rPr>
              <a:t>transformed</a:t>
            </a:r>
            <a:r>
              <a:rPr lang="en-US" sz="2000" dirty="0">
                <a:solidFill>
                  <a:srgbClr val="1B2A38"/>
                </a:solidFill>
                <a:latin typeface="Calibri" pitchFamily="34" charset="0"/>
                <a:ea typeface="Calibri" pitchFamily="34" charset="-122"/>
                <a:cs typeface="Calibri" pitchFamily="34" charset="-120"/>
              </a:rPr>
              <a:t> mean?</a:t>
            </a:r>
            <a:endParaRPr lang="en-US" sz="2000" dirty="0"/>
          </a:p>
        </p:txBody>
      </p:sp>
      <p:sp>
        <p:nvSpPr>
          <p:cNvPr id="8" name="Shape 6"/>
          <p:cNvSpPr/>
          <p:nvPr/>
        </p:nvSpPr>
        <p:spPr>
          <a:xfrm>
            <a:off x="548640" y="214884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600200" y="2409060"/>
            <a:ext cx="4229100" cy="961829"/>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made smaller</a:t>
            </a:r>
            <a:endParaRPr lang="en-US" sz="2600" dirty="0"/>
          </a:p>
        </p:txBody>
      </p:sp>
      <p:sp>
        <p:nvSpPr>
          <p:cNvPr id="12" name="Shape 10"/>
          <p:cNvSpPr/>
          <p:nvPr/>
        </p:nvSpPr>
        <p:spPr>
          <a:xfrm>
            <a:off x="6195060" y="214884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txBody>
          <a:bodyPr/>
          <a:lstStyle/>
          <a:p>
            <a:endParaRPr lang="en-US"/>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7200900" y="2526030"/>
            <a:ext cx="4229100" cy="82296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changed greatly</a:t>
            </a:r>
            <a:endParaRPr lang="en-US" sz="2600" dirty="0"/>
          </a:p>
        </p:txBody>
      </p:sp>
      <p:sp>
        <p:nvSpPr>
          <p:cNvPr id="16" name="Shape 14"/>
          <p:cNvSpPr/>
          <p:nvPr/>
        </p:nvSpPr>
        <p:spPr>
          <a:xfrm>
            <a:off x="548640" y="395478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moved somewhere else</a:t>
            </a:r>
            <a:endParaRPr lang="en-US" sz="2600" dirty="0"/>
          </a:p>
        </p:txBody>
      </p:sp>
      <p:sp>
        <p:nvSpPr>
          <p:cNvPr id="20" name="Shape 18"/>
          <p:cNvSpPr/>
          <p:nvPr/>
        </p:nvSpPr>
        <p:spPr>
          <a:xfrm>
            <a:off x="6195060" y="395478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closed completely</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Think → Pair → Choose</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WARM-UP</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WARM-UP</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B</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Transformed = changed greatly</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How do we know? Look at the clues: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planted flowers · added benches · created a reading area</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garden changed significantly.</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Reading Detective Tip</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Don't guess the meaning from the word alone.</a:t>
            </a:r>
            <a:endParaRPr lang="en-US" sz="2600" dirty="0"/>
          </a:p>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Use the clues around it.</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1 · MISSION</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Your Reading Toolkit</a:t>
            </a:r>
            <a:endParaRPr lang="en-US" sz="3200" dirty="0"/>
          </a:p>
        </p:txBody>
      </p:sp>
      <p:sp>
        <p:nvSpPr>
          <p:cNvPr id="7" name="Shape 5"/>
          <p:cNvSpPr/>
          <p:nvPr/>
        </p:nvSpPr>
        <p:spPr>
          <a:xfrm>
            <a:off x="548640" y="1463040"/>
            <a:ext cx="2029968" cy="4023360"/>
          </a:xfrm>
          <a:prstGeom prst="roundRect">
            <a:avLst>
              <a:gd name="adj" fmla="val 5405"/>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2029968" cy="548640"/>
          </a:xfrm>
          <a:prstGeom prst="round2SameRect">
            <a:avLst/>
          </a:prstGeom>
          <a:solidFill>
            <a:srgbClr val="4E7D5B"/>
          </a:solidFill>
          <a:ln/>
        </p:spPr>
      </p:sp>
      <p:sp>
        <p:nvSpPr>
          <p:cNvPr id="9" name="Text 7"/>
          <p:cNvSpPr txBox="1"/>
          <p:nvPr/>
        </p:nvSpPr>
        <p:spPr>
          <a:xfrm>
            <a:off x="731520" y="1463040"/>
            <a:ext cx="175564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Context</a:t>
            </a:r>
            <a:endParaRPr lang="en-US" sz="1600" dirty="0"/>
          </a:p>
        </p:txBody>
      </p:sp>
      <p:sp>
        <p:nvSpPr>
          <p:cNvPr id="10" name="Text 8"/>
          <p:cNvSpPr txBox="1"/>
          <p:nvPr/>
        </p:nvSpPr>
        <p:spPr>
          <a:xfrm>
            <a:off x="731520" y="2103120"/>
            <a:ext cx="1664208"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What does ___ mean?</a:t>
            </a:r>
            <a:endParaRPr lang="en-US" sz="2600" dirty="0"/>
          </a:p>
        </p:txBody>
      </p:sp>
      <p:sp>
        <p:nvSpPr>
          <p:cNvPr id="11" name="Shape 9"/>
          <p:cNvSpPr/>
          <p:nvPr/>
        </p:nvSpPr>
        <p:spPr>
          <a:xfrm>
            <a:off x="2807208" y="1463040"/>
            <a:ext cx="2029968" cy="4023360"/>
          </a:xfrm>
          <a:prstGeom prst="roundRect">
            <a:avLst>
              <a:gd name="adj" fmla="val 5405"/>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2807208" y="1463040"/>
            <a:ext cx="2029968" cy="548640"/>
          </a:xfrm>
          <a:prstGeom prst="round2SameRect">
            <a:avLst/>
          </a:prstGeom>
          <a:solidFill>
            <a:srgbClr val="4F7CA0"/>
          </a:solidFill>
          <a:ln/>
        </p:spPr>
      </p:sp>
      <p:sp>
        <p:nvSpPr>
          <p:cNvPr id="13" name="Text 11"/>
          <p:cNvSpPr txBox="1"/>
          <p:nvPr/>
        </p:nvSpPr>
        <p:spPr>
          <a:xfrm>
            <a:off x="2990088" y="1463040"/>
            <a:ext cx="175564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Writer's choice</a:t>
            </a:r>
            <a:endParaRPr lang="en-US" sz="1600" dirty="0"/>
          </a:p>
        </p:txBody>
      </p:sp>
      <p:sp>
        <p:nvSpPr>
          <p:cNvPr id="14" name="Text 12"/>
          <p:cNvSpPr txBox="1"/>
          <p:nvPr/>
        </p:nvSpPr>
        <p:spPr>
          <a:xfrm>
            <a:off x="2990088" y="2103120"/>
            <a:ext cx="1664208"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Why does the writer use ___?</a:t>
            </a:r>
            <a:endParaRPr lang="en-US" sz="2600" dirty="0"/>
          </a:p>
        </p:txBody>
      </p:sp>
      <p:sp>
        <p:nvSpPr>
          <p:cNvPr id="15" name="Shape 13"/>
          <p:cNvSpPr/>
          <p:nvPr/>
        </p:nvSpPr>
        <p:spPr>
          <a:xfrm>
            <a:off x="5065776" y="1463040"/>
            <a:ext cx="2029968" cy="4023360"/>
          </a:xfrm>
          <a:prstGeom prst="roundRect">
            <a:avLst>
              <a:gd name="adj" fmla="val 5405"/>
            </a:avLst>
          </a:prstGeom>
          <a:solidFill>
            <a:srgbClr val="FFFFFF"/>
          </a:solidFill>
          <a:ln/>
          <a:effectLst>
            <a:outerShdw blurRad="76200" dist="25400" dir="5400000" algn="bl" rotWithShape="0">
              <a:srgbClr val="000000">
                <a:alpha val="14000"/>
              </a:srgbClr>
            </a:outerShdw>
          </a:effectLst>
        </p:spPr>
      </p:sp>
      <p:sp>
        <p:nvSpPr>
          <p:cNvPr id="16" name="Shape 14"/>
          <p:cNvSpPr/>
          <p:nvPr/>
        </p:nvSpPr>
        <p:spPr>
          <a:xfrm>
            <a:off x="5065776" y="1463040"/>
            <a:ext cx="2029968" cy="548640"/>
          </a:xfrm>
          <a:prstGeom prst="round2SameRect">
            <a:avLst/>
          </a:prstGeom>
          <a:solidFill>
            <a:srgbClr val="C0674F"/>
          </a:solidFill>
          <a:ln/>
        </p:spPr>
      </p:sp>
      <p:sp>
        <p:nvSpPr>
          <p:cNvPr id="17" name="Text 15"/>
          <p:cNvSpPr txBox="1"/>
          <p:nvPr/>
        </p:nvSpPr>
        <p:spPr>
          <a:xfrm>
            <a:off x="5248656" y="1463040"/>
            <a:ext cx="175564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Structure</a:t>
            </a:r>
            <a:endParaRPr lang="en-US" sz="1600" dirty="0"/>
          </a:p>
        </p:txBody>
      </p:sp>
      <p:sp>
        <p:nvSpPr>
          <p:cNvPr id="18" name="Text 16"/>
          <p:cNvSpPr txBox="1"/>
          <p:nvPr/>
        </p:nvSpPr>
        <p:spPr>
          <a:xfrm>
            <a:off x="5248656" y="2103120"/>
            <a:ext cx="1664208"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Why is this information here?</a:t>
            </a:r>
            <a:endParaRPr lang="en-US" sz="2600" dirty="0"/>
          </a:p>
        </p:txBody>
      </p:sp>
      <p:sp>
        <p:nvSpPr>
          <p:cNvPr id="19" name="Shape 17"/>
          <p:cNvSpPr/>
          <p:nvPr/>
        </p:nvSpPr>
        <p:spPr>
          <a:xfrm>
            <a:off x="7324344" y="1463040"/>
            <a:ext cx="2029968" cy="4023360"/>
          </a:xfrm>
          <a:prstGeom prst="roundRect">
            <a:avLst>
              <a:gd name="adj" fmla="val 5405"/>
            </a:avLst>
          </a:prstGeom>
          <a:solidFill>
            <a:srgbClr val="FFFFFF"/>
          </a:solidFill>
          <a:ln/>
          <a:effectLst>
            <a:outerShdw blurRad="76200" dist="25400" dir="5400000" algn="bl" rotWithShape="0">
              <a:srgbClr val="000000">
                <a:alpha val="14000"/>
              </a:srgbClr>
            </a:outerShdw>
          </a:effectLst>
        </p:spPr>
      </p:sp>
      <p:sp>
        <p:nvSpPr>
          <p:cNvPr id="20" name="Shape 18"/>
          <p:cNvSpPr/>
          <p:nvPr/>
        </p:nvSpPr>
        <p:spPr>
          <a:xfrm>
            <a:off x="7324344" y="1463040"/>
            <a:ext cx="2029968" cy="548640"/>
          </a:xfrm>
          <a:prstGeom prst="round2SameRect">
            <a:avLst/>
          </a:prstGeom>
          <a:solidFill>
            <a:srgbClr val="D9A441"/>
          </a:solidFill>
          <a:ln/>
        </p:spPr>
      </p:sp>
      <p:sp>
        <p:nvSpPr>
          <p:cNvPr id="21" name="Text 19"/>
          <p:cNvSpPr txBox="1"/>
          <p:nvPr/>
        </p:nvSpPr>
        <p:spPr>
          <a:xfrm>
            <a:off x="7507224" y="1463040"/>
            <a:ext cx="1755648"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 Purpose</a:t>
            </a:r>
            <a:endParaRPr lang="en-US" sz="1600" dirty="0"/>
          </a:p>
        </p:txBody>
      </p:sp>
      <p:sp>
        <p:nvSpPr>
          <p:cNvPr id="22" name="Text 20"/>
          <p:cNvSpPr txBox="1"/>
          <p:nvPr/>
        </p:nvSpPr>
        <p:spPr>
          <a:xfrm>
            <a:off x="7507224" y="2103120"/>
            <a:ext cx="1664208"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Why did the writer write this?</a:t>
            </a:r>
            <a:endParaRPr lang="en-US" sz="2600" dirty="0"/>
          </a:p>
        </p:txBody>
      </p:sp>
      <p:sp>
        <p:nvSpPr>
          <p:cNvPr id="23" name="Shape 21"/>
          <p:cNvSpPr/>
          <p:nvPr/>
        </p:nvSpPr>
        <p:spPr>
          <a:xfrm>
            <a:off x="9582912" y="1463040"/>
            <a:ext cx="2029968" cy="4023360"/>
          </a:xfrm>
          <a:prstGeom prst="roundRect">
            <a:avLst>
              <a:gd name="adj" fmla="val 5405"/>
            </a:avLst>
          </a:prstGeom>
          <a:solidFill>
            <a:srgbClr val="FFFFFF"/>
          </a:solidFill>
          <a:ln/>
          <a:effectLst>
            <a:outerShdw blurRad="76200" dist="25400" dir="5400000" algn="bl" rotWithShape="0">
              <a:srgbClr val="000000">
                <a:alpha val="14000"/>
              </a:srgbClr>
            </a:outerShdw>
          </a:effectLst>
        </p:spPr>
      </p:sp>
      <p:sp>
        <p:nvSpPr>
          <p:cNvPr id="24" name="Shape 22"/>
          <p:cNvSpPr/>
          <p:nvPr/>
        </p:nvSpPr>
        <p:spPr>
          <a:xfrm>
            <a:off x="9582912" y="1463040"/>
            <a:ext cx="2029968" cy="548640"/>
          </a:xfrm>
          <a:prstGeom prst="round2SameRect">
            <a:avLst/>
          </a:prstGeom>
          <a:solidFill>
            <a:srgbClr val="4E7D5B"/>
          </a:solidFill>
          <a:ln/>
        </p:spPr>
      </p:sp>
      <p:sp>
        <p:nvSpPr>
          <p:cNvPr id="25" name="Text 23"/>
          <p:cNvSpPr txBox="1"/>
          <p:nvPr/>
        </p:nvSpPr>
        <p:spPr>
          <a:xfrm>
            <a:off x="9765792" y="1463040"/>
            <a:ext cx="1755648"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Evidence</a:t>
            </a:r>
            <a:endParaRPr lang="en-US" sz="1600" dirty="0"/>
          </a:p>
        </p:txBody>
      </p:sp>
      <p:sp>
        <p:nvSpPr>
          <p:cNvPr id="26" name="Text 24"/>
          <p:cNvSpPr txBox="1"/>
          <p:nvPr/>
        </p:nvSpPr>
        <p:spPr>
          <a:xfrm>
            <a:off x="9765792" y="2103120"/>
            <a:ext cx="1664208"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How do you know?</a:t>
            </a:r>
            <a:endParaRPr lang="en-US" sz="2600" dirty="0"/>
          </a:p>
        </p:txBody>
      </p:sp>
      <p:sp>
        <p:nvSpPr>
          <p:cNvPr id="27" name="Text 25"/>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BUT TODAY...</a:t>
            </a:r>
            <a:endParaRPr lang="en-US" sz="1100" dirty="0"/>
          </a:p>
        </p:txBody>
      </p:sp>
      <p:sp>
        <p:nvSpPr>
          <p:cNvPr id="28" name="Text 26"/>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YOU choose the tool.</a:t>
            </a:r>
            <a:endParaRPr lang="en-US" sz="1600" dirty="0"/>
          </a:p>
        </p:txBody>
      </p:sp>
      <p:sp>
        <p:nvSpPr>
          <p:cNvPr id="29" name="Text 27"/>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MAP</a:t>
            </a:r>
            <a:endParaRPr lang="en-US" sz="1200" dirty="0"/>
          </a:p>
        </p:txBody>
      </p:sp>
      <p:sp>
        <p:nvSpPr>
          <p:cNvPr id="30" name="Text 28"/>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31" name="Text 29"/>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1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Read Like a Detective</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WHEN THE LIBRARY LEFT THE BUILDING</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Imagine finding a library in your local park. Instead of entering a large building filled with shelves, you might see a colourful van parked beside the playground. Inside are books, tablets and comfortable seats. This is a </a:t>
            </a:r>
            <a:r>
              <a:rPr lang="en-US" sz="2600" b="1" dirty="0">
                <a:solidFill>
                  <a:srgbClr val="C0674F"/>
                </a:solidFill>
                <a:latin typeface="Calibri" pitchFamily="34" charset="0"/>
                <a:ea typeface="Calibri" pitchFamily="34" charset="-122"/>
                <a:cs typeface="Calibri" pitchFamily="34" charset="-120"/>
              </a:rPr>
              <a:t>mobile library</a:t>
            </a:r>
            <a:r>
              <a:rPr lang="en-US" sz="2600" dirty="0">
                <a:solidFill>
                  <a:srgbClr val="1B2A38"/>
                </a:solidFill>
                <a:latin typeface="Calibri" pitchFamily="34" charset="0"/>
                <a:ea typeface="Calibri" pitchFamily="34" charset="-122"/>
                <a:cs typeface="Calibri" pitchFamily="34" charset="-120"/>
              </a:rPr>
              <a:t>, and in some communities it is changing the way people use library services.</a:t>
            </a:r>
            <a:endParaRPr lang="en-US" sz="1400" dirty="0"/>
          </a:p>
        </p:txBody>
      </p:sp>
      <p:sp>
        <p:nvSpPr>
          <p:cNvPr id="10" name="Text 8"/>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YOUR MISSION</a:t>
            </a:r>
            <a:endParaRPr lang="en-US" sz="1100" dirty="0"/>
          </a:p>
        </p:txBody>
      </p:sp>
      <p:sp>
        <p:nvSpPr>
          <p:cNvPr id="11" name="Text 9"/>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Read carefully. Look for 🔎 vocabulary · ✍️ word choices · 🗺️ organisation · 📌 evidence</a:t>
            </a:r>
            <a:endParaRPr lang="en-US" sz="1600" dirty="0"/>
          </a:p>
        </p:txBody>
      </p:sp>
      <p:sp>
        <p:nvSpPr>
          <p:cNvPr id="12" name="Text 10"/>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3" name="Text 11"/>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4" name="Text 12"/>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1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A Library with a Difference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ARTICLE · PART 1</a:t>
            </a:r>
            <a:endParaRPr lang="en-US" sz="1400" dirty="0"/>
          </a:p>
          <a:p>
            <a:pPr marL="0" indent="0">
              <a:spcAft>
                <a:spcPts val="500"/>
              </a:spcAft>
              <a:buNone/>
            </a:pPr>
            <a:r>
              <a:rPr lang="en-US" sz="2183" dirty="0">
                <a:solidFill>
                  <a:srgbClr val="1B2A38"/>
                </a:solidFill>
                <a:latin typeface="Calibri" pitchFamily="34" charset="0"/>
                <a:ea typeface="Calibri" pitchFamily="34" charset="-122"/>
                <a:cs typeface="Calibri" pitchFamily="34" charset="-120"/>
              </a:rPr>
              <a:t>For many years, the Riverside Library was an important part of the community. However, some residents rarely visited it. The building was several kilometres from some neighbourhoods, and younger children could not always travel there independently.</a:t>
            </a:r>
            <a:endParaRPr lang="en-US" sz="1400" dirty="0"/>
          </a:p>
          <a:p>
            <a:pPr marL="0" indent="0">
              <a:spcAft>
                <a:spcPts val="500"/>
              </a:spcAft>
              <a:buNone/>
            </a:pPr>
            <a:r>
              <a:rPr lang="en-US" sz="2183"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183" dirty="0">
                <a:solidFill>
                  <a:srgbClr val="1B2A38"/>
                </a:solidFill>
                <a:latin typeface="Calibri" pitchFamily="34" charset="0"/>
                <a:ea typeface="Calibri" pitchFamily="34" charset="-122"/>
                <a:cs typeface="Calibri" pitchFamily="34" charset="-120"/>
              </a:rPr>
              <a:t>Library staff noticed another problem. During school holidays, some children wanted a quiet place to read or complete homework, but not every family had a suitable space at home.</a:t>
            </a:r>
            <a:endParaRPr lang="en-US" sz="1400" dirty="0"/>
          </a:p>
          <a:p>
            <a:pPr marL="0" indent="0">
              <a:spcAft>
                <a:spcPts val="500"/>
              </a:spcAft>
              <a:buNone/>
            </a:pPr>
            <a:r>
              <a:rPr lang="en-US" sz="2183"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183" dirty="0">
                <a:solidFill>
                  <a:srgbClr val="1B2A38"/>
                </a:solidFill>
                <a:latin typeface="Calibri" pitchFamily="34" charset="0"/>
                <a:ea typeface="Calibri" pitchFamily="34" charset="-122"/>
                <a:cs typeface="Calibri" pitchFamily="34" charset="-120"/>
              </a:rPr>
              <a:t>The staff began asking an important question: </a:t>
            </a:r>
            <a:r>
              <a:rPr lang="en-US" sz="2183" b="1" dirty="0">
                <a:solidFill>
                  <a:srgbClr val="C0674F"/>
                </a:solidFill>
                <a:latin typeface="Calibri" pitchFamily="34" charset="0"/>
                <a:ea typeface="Calibri" pitchFamily="34" charset="-122"/>
                <a:cs typeface="Calibri" pitchFamily="34" charset="-120"/>
              </a:rPr>
              <a:t>What if the library could go to the people instead?</a:t>
            </a:r>
            <a:endParaRPr lang="en-US" sz="1400" dirty="0"/>
          </a:p>
        </p:txBody>
      </p:sp>
      <p:sp>
        <p:nvSpPr>
          <p:cNvPr id="10" name="Text 8"/>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2" name="Text 10"/>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1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Taking Books Outside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ARTICLE · PART 2</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The first experiment was simple. Library staff packed hundreds of books into a bright mobile library van and parked it beside a busy community park.</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Children could borrow books, listen to stories and ask staff for recommendations. The response was </a:t>
            </a:r>
            <a:r>
              <a:rPr lang="en-US" sz="2122" b="1" dirty="0">
                <a:solidFill>
                  <a:srgbClr val="C0674F"/>
                </a:solidFill>
                <a:latin typeface="Calibri" pitchFamily="34" charset="0"/>
                <a:ea typeface="Calibri" pitchFamily="34" charset="-122"/>
                <a:cs typeface="Calibri" pitchFamily="34" charset="-120"/>
              </a:rPr>
              <a:t>immediate</a:t>
            </a:r>
            <a:r>
              <a:rPr lang="en-US" sz="2122" dirty="0">
                <a:solidFill>
                  <a:srgbClr val="1B2A38"/>
                </a:solidFill>
                <a:latin typeface="Calibri" pitchFamily="34" charset="0"/>
                <a:ea typeface="Calibri" pitchFamily="34" charset="-122"/>
                <a:cs typeface="Calibri" pitchFamily="34" charset="-120"/>
              </a:rPr>
              <a:t>.</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Families who had never visited the main library began stopping by. Some children returned the following week with books they had finished and asked for something more challenging.</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122" dirty="0">
                <a:solidFill>
                  <a:srgbClr val="1B2A38"/>
                </a:solidFill>
                <a:latin typeface="Calibri" pitchFamily="34" charset="0"/>
                <a:ea typeface="Calibri" pitchFamily="34" charset="-122"/>
                <a:cs typeface="Calibri" pitchFamily="34" charset="-120"/>
              </a:rPr>
              <a:t>The staff described the mobile service as a </a:t>
            </a:r>
            <a:r>
              <a:rPr lang="en-US" sz="2122" b="1" dirty="0">
                <a:solidFill>
                  <a:srgbClr val="C0674F"/>
                </a:solidFill>
                <a:latin typeface="Calibri" pitchFamily="34" charset="0"/>
                <a:ea typeface="Calibri" pitchFamily="34" charset="-122"/>
                <a:cs typeface="Calibri" pitchFamily="34" charset="-120"/>
              </a:rPr>
              <a:t>“bridge”</a:t>
            </a:r>
            <a:r>
              <a:rPr lang="en-US" sz="2122" dirty="0">
                <a:solidFill>
                  <a:srgbClr val="1B2A38"/>
                </a:solidFill>
                <a:latin typeface="Calibri" pitchFamily="34" charset="0"/>
                <a:ea typeface="Calibri" pitchFamily="34" charset="-122"/>
                <a:cs typeface="Calibri" pitchFamily="34" charset="-120"/>
              </a:rPr>
              <a:t> between the library and the neighbourhood.</a:t>
            </a:r>
            <a:endParaRPr lang="en-US" sz="1400" dirty="0"/>
          </a:p>
        </p:txBody>
      </p:sp>
      <p:sp>
        <p:nvSpPr>
          <p:cNvPr id="10" name="Text 8"/>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2" name="Text 10"/>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1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More Than Books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ARTICLE · PART 3</a:t>
            </a:r>
            <a:endParaRPr lang="en-US" sz="1400" dirty="0"/>
          </a:p>
          <a:p>
            <a:pPr marL="0" indent="0">
              <a:spcAft>
                <a:spcPts val="500"/>
              </a:spcAft>
              <a:buNone/>
            </a:pPr>
            <a:r>
              <a:rPr lang="en-US" sz="2250" dirty="0">
                <a:solidFill>
                  <a:srgbClr val="1B2A38"/>
                </a:solidFill>
                <a:latin typeface="Calibri" pitchFamily="34" charset="0"/>
                <a:ea typeface="Calibri" pitchFamily="34" charset="-122"/>
                <a:cs typeface="Calibri" pitchFamily="34" charset="-120"/>
              </a:rPr>
              <a:t>The team soon realised that the van could offer more than borrowing. On certain afternoons, staff ran reading clubs, homework sessions and short digital-skills workshops. These activities were planned around the needs of the community.</a:t>
            </a:r>
            <a:endParaRPr lang="en-US" sz="1400" dirty="0"/>
          </a:p>
          <a:p>
            <a:pPr marL="0" indent="0">
              <a:spcAft>
                <a:spcPts val="500"/>
              </a:spcAft>
              <a:buNone/>
            </a:pPr>
            <a:r>
              <a:rPr lang="en-US" sz="2250"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250" dirty="0">
                <a:solidFill>
                  <a:srgbClr val="1B2A38"/>
                </a:solidFill>
                <a:latin typeface="Calibri" pitchFamily="34" charset="0"/>
                <a:ea typeface="Calibri" pitchFamily="34" charset="-122"/>
                <a:cs typeface="Calibri" pitchFamily="34" charset="-120"/>
              </a:rPr>
              <a:t>Younger children were offered picture books and read-aloud sessions, while older students could use tablets to practise research skills.</a:t>
            </a:r>
            <a:endParaRPr lang="en-US" sz="1400" dirty="0"/>
          </a:p>
          <a:p>
            <a:pPr marL="0" indent="0">
              <a:spcAft>
                <a:spcPts val="500"/>
              </a:spcAft>
              <a:buNone/>
            </a:pPr>
            <a:r>
              <a:rPr lang="en-US" sz="2250"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250" dirty="0">
                <a:solidFill>
                  <a:srgbClr val="1B2A38"/>
                </a:solidFill>
                <a:latin typeface="Calibri" pitchFamily="34" charset="0"/>
                <a:ea typeface="Calibri" pitchFamily="34" charset="-122"/>
                <a:cs typeface="Calibri" pitchFamily="34" charset="-120"/>
              </a:rPr>
              <a:t>The aim was not to replace the main library. Instead, the mobile service gave people </a:t>
            </a:r>
            <a:r>
              <a:rPr lang="en-US" sz="2250" b="1" dirty="0">
                <a:solidFill>
                  <a:srgbClr val="C0674F"/>
                </a:solidFill>
                <a:latin typeface="Calibri" pitchFamily="34" charset="0"/>
                <a:ea typeface="Calibri" pitchFamily="34" charset="-122"/>
                <a:cs typeface="Calibri" pitchFamily="34" charset="-120"/>
              </a:rPr>
              <a:t>another way to use its resources.</a:t>
            </a:r>
            <a:endParaRPr lang="en-US" sz="1400" dirty="0"/>
          </a:p>
        </p:txBody>
      </p:sp>
      <p:sp>
        <p:nvSpPr>
          <p:cNvPr id="10" name="Text 8"/>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2" name="Text 10"/>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1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Not Everything Was Easy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ARTICLE · PART 4</a:t>
            </a:r>
            <a:endParaRPr lang="en-US" sz="1400" dirty="0"/>
          </a:p>
          <a:p>
            <a:pPr marL="0" indent="0">
              <a:spcAft>
                <a:spcPts val="500"/>
              </a:spcAft>
              <a:buNone/>
            </a:pPr>
            <a:r>
              <a:rPr lang="en-US" sz="2340" dirty="0">
                <a:solidFill>
                  <a:srgbClr val="1B2A38"/>
                </a:solidFill>
                <a:latin typeface="Calibri" pitchFamily="34" charset="0"/>
                <a:ea typeface="Calibri" pitchFamily="34" charset="-122"/>
                <a:cs typeface="Calibri" pitchFamily="34" charset="-120"/>
              </a:rPr>
              <a:t>The project was not completely straightforward. Finding safe parking spaces was sometimes difficult, and the van could carry only a limited number of books. On very hot days, outdoor sessions also had to be shortened.</a:t>
            </a:r>
            <a:endParaRPr lang="en-US" sz="1400" dirty="0"/>
          </a:p>
          <a:p>
            <a:pPr marL="0" indent="0">
              <a:spcAft>
                <a:spcPts val="500"/>
              </a:spcAft>
              <a:buNone/>
            </a:pPr>
            <a:r>
              <a:rPr lang="en-US" sz="2340"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340" dirty="0">
                <a:solidFill>
                  <a:srgbClr val="1B2A38"/>
                </a:solidFill>
                <a:latin typeface="Calibri" pitchFamily="34" charset="0"/>
                <a:ea typeface="Calibri" pitchFamily="34" charset="-122"/>
                <a:cs typeface="Calibri" pitchFamily="34" charset="-120"/>
              </a:rPr>
              <a:t>However, the team did not abandon the idea. They created a rotating schedule, worked with community centres and added shaded reading areas where possible.</a:t>
            </a:r>
            <a:endParaRPr lang="en-US" sz="1400" dirty="0"/>
          </a:p>
          <a:p>
            <a:pPr marL="0" indent="0">
              <a:spcAft>
                <a:spcPts val="500"/>
              </a:spcAft>
              <a:buNone/>
            </a:pPr>
            <a:r>
              <a:rPr lang="en-US" sz="2340"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340" dirty="0">
                <a:solidFill>
                  <a:srgbClr val="1B2A38"/>
                </a:solidFill>
                <a:latin typeface="Calibri" pitchFamily="34" charset="0"/>
                <a:ea typeface="Calibri" pitchFamily="34" charset="-122"/>
                <a:cs typeface="Calibri" pitchFamily="34" charset="-120"/>
              </a:rPr>
              <a:t>The changes did not solve every problem, but they made the service more reliable.</a:t>
            </a:r>
            <a:endParaRPr lang="en-US" sz="1400" dirty="0"/>
          </a:p>
        </p:txBody>
      </p:sp>
      <p:sp>
        <p:nvSpPr>
          <p:cNvPr id="10" name="Text 8"/>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2" name="Text 10"/>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1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A Wider Reach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600200"/>
            <a:ext cx="64008" cy="3749040"/>
          </a:xfrm>
          <a:prstGeom prst="rect">
            <a:avLst/>
          </a:prstGeom>
          <a:solidFill>
            <a:srgbClr val="4E7D5B"/>
          </a:solidFill>
          <a:ln/>
        </p:spPr>
      </p:sp>
      <p:sp>
        <p:nvSpPr>
          <p:cNvPr id="9" name="Text 7"/>
          <p:cNvSpPr txBox="1"/>
          <p:nvPr/>
        </p:nvSpPr>
        <p:spPr>
          <a:xfrm>
            <a:off x="777240" y="1463040"/>
            <a:ext cx="10698480" cy="40233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ARTICLE · PART 5</a:t>
            </a:r>
            <a:endParaRPr lang="en-US" sz="1400" dirty="0"/>
          </a:p>
          <a:p>
            <a:pPr marL="0" indent="0">
              <a:spcAft>
                <a:spcPts val="500"/>
              </a:spcAft>
              <a:buNone/>
            </a:pPr>
            <a:r>
              <a:rPr lang="en-US" sz="2170" dirty="0">
                <a:solidFill>
                  <a:srgbClr val="1B2A38"/>
                </a:solidFill>
                <a:latin typeface="Calibri" pitchFamily="34" charset="0"/>
                <a:ea typeface="Calibri" pitchFamily="34" charset="-122"/>
                <a:cs typeface="Calibri" pitchFamily="34" charset="-120"/>
              </a:rPr>
              <a:t>After a year, the library had expanded the programme to several neighbourhoods. Staff noticed that people were not simply borrowing books. Many were asking for help with school projects, discovering new authors and joining activities they had not tried before.</a:t>
            </a:r>
            <a:endParaRPr lang="en-US" sz="1400" dirty="0"/>
          </a:p>
          <a:p>
            <a:pPr marL="0" indent="0">
              <a:spcAft>
                <a:spcPts val="500"/>
              </a:spcAft>
              <a:buNone/>
            </a:pPr>
            <a:r>
              <a:rPr lang="en-US" sz="2170" dirty="0">
                <a:solidFill>
                  <a:srgbClr val="1B2A38"/>
                </a:solidFill>
                <a:latin typeface="Calibri" pitchFamily="34" charset="0"/>
                <a:ea typeface="Calibri" pitchFamily="34" charset="-122"/>
                <a:cs typeface="Calibri" pitchFamily="34" charset="-120"/>
              </a:rPr>
              <a:t> </a:t>
            </a:r>
            <a:endParaRPr lang="en-US" sz="1400" dirty="0"/>
          </a:p>
          <a:p>
            <a:pPr marL="0" indent="0">
              <a:spcAft>
                <a:spcPts val="500"/>
              </a:spcAft>
              <a:buNone/>
            </a:pPr>
            <a:r>
              <a:rPr lang="en-US" sz="2170" dirty="0">
                <a:solidFill>
                  <a:srgbClr val="1B2A38"/>
                </a:solidFill>
                <a:latin typeface="Calibri" pitchFamily="34" charset="0"/>
                <a:ea typeface="Calibri" pitchFamily="34" charset="-122"/>
                <a:cs typeface="Calibri" pitchFamily="34" charset="-120"/>
              </a:rPr>
              <a:t>The library still had its main building, shelves and reading rooms. But its services were no longer tied to one place. The project had changed the meaning of a library for the community:</a:t>
            </a:r>
            <a:endParaRPr lang="en-US" sz="1400" dirty="0"/>
          </a:p>
          <a:p>
            <a:pPr marL="0" indent="0">
              <a:spcAft>
                <a:spcPts val="500"/>
              </a:spcAft>
              <a:buNone/>
            </a:pPr>
            <a:r>
              <a:rPr lang="en-US" sz="2170" b="1" dirty="0">
                <a:solidFill>
                  <a:srgbClr val="C0674F"/>
                </a:solidFill>
                <a:latin typeface="Calibri" pitchFamily="34" charset="0"/>
                <a:ea typeface="Calibri" pitchFamily="34" charset="-122"/>
                <a:cs typeface="Calibri" pitchFamily="34" charset="-120"/>
              </a:rPr>
              <a:t>It was no longer only a building people visited. It had become a service that could reach them.</a:t>
            </a:r>
            <a:endParaRPr lang="en-US" sz="1400" dirty="0"/>
          </a:p>
        </p:txBody>
      </p:sp>
      <p:sp>
        <p:nvSpPr>
          <p:cNvPr id="10" name="Text 8"/>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2" name="Text 10"/>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1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Before We Answer...</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What is the article mainly about?</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729234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How to build a mobile library van</a:t>
            </a:r>
            <a:endParaRPr lang="en-US" sz="260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1475218" y="219456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How a library changed its services to reach more people</a:t>
            </a:r>
            <a:endParaRPr lang="en-US" sz="260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Why children dislike traditional libraries</a:t>
            </a:r>
            <a:endParaRPr lang="en-US" sz="260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Why libraries should close their buildings</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STOP</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DON'T ANSWER YET. Find TWO clues in the article.</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A</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do we know? The article explains...</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407" dirty="0">
                <a:solidFill>
                  <a:srgbClr val="1B2A38"/>
                </a:solidFill>
                <a:latin typeface="Calibri" pitchFamily="34" charset="0"/>
                <a:ea typeface="Calibri" pitchFamily="34" charset="-122"/>
                <a:cs typeface="Calibri" pitchFamily="34" charset="-120"/>
              </a:rPr>
              <a:t>why some people could not easily reach the library</a:t>
            </a:r>
            <a:endParaRPr lang="en-US" sz="2407" dirty="0"/>
          </a:p>
          <a:p>
            <a:pPr marL="0" indent="0">
              <a:spcAft>
                <a:spcPts val="500"/>
              </a:spcAft>
              <a:buNone/>
            </a:pPr>
            <a:r>
              <a:rPr lang="en-US" sz="2407" dirty="0">
                <a:solidFill>
                  <a:srgbClr val="1B2A38"/>
                </a:solidFill>
                <a:latin typeface="Calibri" pitchFamily="34" charset="0"/>
                <a:ea typeface="Calibri" pitchFamily="34" charset="-122"/>
                <a:cs typeface="Calibri" pitchFamily="34" charset="-120"/>
              </a:rPr>
              <a:t>how the mobile library began</a:t>
            </a:r>
            <a:endParaRPr lang="en-US" sz="2407" dirty="0"/>
          </a:p>
          <a:p>
            <a:pPr marL="0" indent="0">
              <a:spcAft>
                <a:spcPts val="500"/>
              </a:spcAft>
              <a:buNone/>
            </a:pPr>
            <a:r>
              <a:rPr lang="en-US" sz="2407" dirty="0">
                <a:solidFill>
                  <a:srgbClr val="1B2A38"/>
                </a:solidFill>
                <a:latin typeface="Calibri" pitchFamily="34" charset="0"/>
                <a:ea typeface="Calibri" pitchFamily="34" charset="-122"/>
                <a:cs typeface="Calibri" pitchFamily="34" charset="-120"/>
              </a:rPr>
              <a:t>how its services developed</a:t>
            </a:r>
            <a:endParaRPr lang="en-US" sz="2407" dirty="0"/>
          </a:p>
          <a:p>
            <a:pPr marL="0" indent="0">
              <a:spcAft>
                <a:spcPts val="500"/>
              </a:spcAft>
              <a:buNone/>
            </a:pPr>
            <a:r>
              <a:rPr lang="en-US" sz="2407" dirty="0">
                <a:solidFill>
                  <a:srgbClr val="1B2A38"/>
                </a:solidFill>
                <a:latin typeface="Calibri" pitchFamily="34" charset="0"/>
                <a:ea typeface="Calibri" pitchFamily="34" charset="-122"/>
                <a:cs typeface="Calibri" pitchFamily="34" charset="-120"/>
              </a:rPr>
              <a:t>problems the team faced</a:t>
            </a:r>
            <a:endParaRPr lang="en-US" sz="2407" dirty="0"/>
          </a:p>
          <a:p>
            <a:pPr marL="0" indent="0">
              <a:spcAft>
                <a:spcPts val="500"/>
              </a:spcAft>
              <a:buNone/>
            </a:pPr>
            <a:r>
              <a:rPr lang="en-US" sz="2407" dirty="0">
                <a:solidFill>
                  <a:srgbClr val="1B2A38"/>
                </a:solidFill>
                <a:latin typeface="Calibri" pitchFamily="34" charset="0"/>
                <a:ea typeface="Calibri" pitchFamily="34" charset="-122"/>
                <a:cs typeface="Calibri" pitchFamily="34" charset="-120"/>
              </a:rPr>
              <a:t>how the project eventually reached more people</a:t>
            </a:r>
            <a:endParaRPr lang="en-US" sz="2407"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Main idea</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407" dirty="0">
                <a:solidFill>
                  <a:srgbClr val="1B2A38"/>
                </a:solidFill>
                <a:latin typeface="Calibri" pitchFamily="34" charset="0"/>
                <a:ea typeface="Calibri" pitchFamily="34" charset="-122"/>
                <a:cs typeface="Calibri" pitchFamily="34" charset="-120"/>
              </a:rPr>
              <a:t>The library changed its services so that it could reach the community more effectively.</a:t>
            </a:r>
            <a:endParaRPr lang="en-US" sz="2407"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1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Context Clues</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The writer says: “The response was </a:t>
            </a:r>
            <a:r>
              <a:rPr lang="en-US" sz="2000" b="1" dirty="0">
                <a:solidFill>
                  <a:srgbClr val="C0674F"/>
                </a:solidFill>
                <a:latin typeface="Calibri" pitchFamily="34" charset="0"/>
                <a:ea typeface="Calibri" pitchFamily="34" charset="-122"/>
                <a:cs typeface="Calibri" pitchFamily="34" charset="-120"/>
              </a:rPr>
              <a:t>immediate</a:t>
            </a:r>
            <a:r>
              <a:rPr lang="en-US" sz="2000" dirty="0">
                <a:solidFill>
                  <a:srgbClr val="1B2A38"/>
                </a:solidFill>
                <a:latin typeface="Calibri" pitchFamily="34" charset="0"/>
                <a:ea typeface="Calibri" pitchFamily="34" charset="-122"/>
                <a:cs typeface="Calibri" pitchFamily="34" charset="-120"/>
              </a:rPr>
              <a:t>.” What does </a:t>
            </a:r>
            <a:r>
              <a:rPr lang="en-US" sz="2000" b="1" dirty="0">
                <a:solidFill>
                  <a:srgbClr val="C0674F"/>
                </a:solidFill>
                <a:latin typeface="Calibri" pitchFamily="34" charset="0"/>
                <a:ea typeface="Calibri" pitchFamily="34" charset="-122"/>
                <a:cs typeface="Calibri" pitchFamily="34" charset="-120"/>
              </a:rPr>
              <a:t>immediate</a:t>
            </a:r>
            <a:r>
              <a:rPr lang="en-US" sz="2000" dirty="0">
                <a:solidFill>
                  <a:srgbClr val="1B2A38"/>
                </a:solidFill>
                <a:latin typeface="Calibri" pitchFamily="34" charset="0"/>
                <a:ea typeface="Calibri" pitchFamily="34" charset="-122"/>
                <a:cs typeface="Calibri" pitchFamily="34" charset="-120"/>
              </a:rPr>
              <a:t> mean here?</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happened much later</a:t>
            </a:r>
            <a:endParaRPr lang="en-US" sz="260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1584961"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happened very quickly</a:t>
            </a:r>
            <a:endParaRPr lang="en-US" sz="260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7292340" y="211455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was very expensive</a:t>
            </a:r>
            <a:endParaRPr lang="en-US" sz="260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was unsuccessful</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CHALLENGE 1</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Find the evidence.</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C — Happened Very Quickly</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Evidence</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“Families who had never visited the main library began stopping by.”</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This happened straight after the mobile library arrived.</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Detective rule</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Word → surrounding clue → meaning</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1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Writer's Choice</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800" dirty="0">
                <a:solidFill>
                  <a:srgbClr val="1B2A38"/>
                </a:solidFill>
                <a:latin typeface="Calibri" pitchFamily="34" charset="0"/>
                <a:ea typeface="Calibri" pitchFamily="34" charset="-122"/>
                <a:cs typeface="Calibri" pitchFamily="34" charset="-120"/>
              </a:rPr>
              <a:t>The writer calls the mobile library a </a:t>
            </a:r>
            <a:r>
              <a:rPr lang="en-US" sz="2800" b="1" dirty="0">
                <a:solidFill>
                  <a:srgbClr val="C0674F"/>
                </a:solidFill>
                <a:latin typeface="Calibri" pitchFamily="34" charset="0"/>
                <a:ea typeface="Calibri" pitchFamily="34" charset="-122"/>
                <a:cs typeface="Calibri" pitchFamily="34" charset="-120"/>
              </a:rPr>
              <a:t>“bridge”</a:t>
            </a:r>
            <a:r>
              <a:rPr lang="en-US" sz="2800" dirty="0">
                <a:solidFill>
                  <a:srgbClr val="1B2A38"/>
                </a:solidFill>
                <a:latin typeface="Calibri" pitchFamily="34" charset="0"/>
                <a:ea typeface="Calibri" pitchFamily="34" charset="-122"/>
                <a:cs typeface="Calibri" pitchFamily="34" charset="-120"/>
              </a:rPr>
              <a:t>. Why is this an effective choice?</a:t>
            </a:r>
            <a:endParaRPr lang="en-US" sz="28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It shows that the van crosses rivers.</a:t>
            </a:r>
            <a:endParaRPr lang="en-US" sz="260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7109460" y="3974211"/>
            <a:ext cx="4935923"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It creates an image of connection.</a:t>
            </a:r>
            <a:endParaRPr lang="en-US" sz="260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It shows that the library is made of wood.</a:t>
            </a:r>
            <a:endParaRPr lang="en-US" sz="260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109460" y="2096262"/>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It proves the van is very large.</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CHALLENGE 2</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Choose, then explain why.</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D — An Image of Connection</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bridge connects two places</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word “bridge” helps the reader understand that the mobile service connects:</a:t>
            </a:r>
            <a:endParaRPr lang="en-US" sz="2600" dirty="0"/>
          </a:p>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PEOPLE ↔ LIBRARY RESOURCES</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Strong answer</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chooses “bridge” because it suggests connection. This helps the reader understand that the mobile service connects people with the library.</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Writer's Choice Detective</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writer says</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project was not completely </a:t>
            </a:r>
            <a:r>
              <a:rPr lang="en-US" sz="2600" b="1" dirty="0">
                <a:solidFill>
                  <a:srgbClr val="C0674F"/>
                </a:solidFill>
                <a:latin typeface="Calibri" pitchFamily="34" charset="0"/>
                <a:ea typeface="Calibri" pitchFamily="34" charset="-122"/>
                <a:cs typeface="Calibri" pitchFamily="34" charset="-120"/>
              </a:rPr>
              <a:t>straightforward</a:t>
            </a:r>
            <a:r>
              <a:rPr lang="en-US" sz="2600" dirty="0">
                <a:solidFill>
                  <a:srgbClr val="1B2A38"/>
                </a:solidFill>
                <a:latin typeface="Calibri" pitchFamily="34" charset="0"/>
                <a:ea typeface="Calibri" pitchFamily="34" charset="-122"/>
                <a:cs typeface="Calibri" pitchFamily="34" charset="-120"/>
              </a:rPr>
              <a:t>.”</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Why does the writer choose </a:t>
            </a:r>
            <a:r>
              <a:rPr lang="en-US" sz="2600" b="1" dirty="0">
                <a:solidFill>
                  <a:srgbClr val="C0674F"/>
                </a:solidFill>
                <a:latin typeface="Calibri" pitchFamily="34" charset="0"/>
                <a:ea typeface="Calibri" pitchFamily="34" charset="-122"/>
                <a:cs typeface="Calibri" pitchFamily="34" charset="-120"/>
              </a:rPr>
              <a:t>straightforward</a:t>
            </a:r>
            <a:r>
              <a:rPr lang="en-US" sz="2600" dirty="0">
                <a:solidFill>
                  <a:srgbClr val="1B2A38"/>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F7CA0"/>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Think</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WORD → MEANING → EFFECT</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Write ONE sentence.</a:t>
            </a:r>
            <a:endParaRPr lang="en-US" sz="2600"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YOUR TURN</a:t>
            </a:r>
            <a:endParaRPr lang="en-US" sz="1100" dirty="0"/>
          </a:p>
        </p:txBody>
      </p:sp>
      <p:sp>
        <p:nvSpPr>
          <p:cNvPr id="16" name="Text 14"/>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One sentence: word, meaning, effect.</a:t>
            </a:r>
            <a:endParaRPr lang="en-US" sz="16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YOU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Model Answer</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Model</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chooses </a:t>
            </a:r>
            <a:r>
              <a:rPr lang="en-US" sz="2600" b="1" dirty="0">
                <a:solidFill>
                  <a:srgbClr val="C0674F"/>
                </a:solidFill>
                <a:latin typeface="Calibri" pitchFamily="34" charset="0"/>
                <a:ea typeface="Calibri" pitchFamily="34" charset="-122"/>
                <a:cs typeface="Calibri" pitchFamily="34" charset="-120"/>
              </a:rPr>
              <a:t>“straightforward”</a:t>
            </a:r>
            <a:r>
              <a:rPr lang="en-US" sz="2600" dirty="0">
                <a:solidFill>
                  <a:srgbClr val="1B2A38"/>
                </a:solidFill>
                <a:latin typeface="Calibri" pitchFamily="34" charset="0"/>
                <a:ea typeface="Calibri" pitchFamily="34" charset="-122"/>
                <a:cs typeface="Calibri" pitchFamily="34" charset="-120"/>
              </a:rPr>
              <a:t> because it suggests that the project was not simple or easy. This prepares the reader for the problems the team faced.</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Notice</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“It sounds good.”</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“It is interesting.”</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a:t>
            </a:r>
            <a:r>
              <a:rPr lang="en-US" sz="2600" b="1" dirty="0">
                <a:solidFill>
                  <a:srgbClr val="C0674F"/>
                </a:solidFill>
                <a:latin typeface="Calibri" pitchFamily="34" charset="0"/>
                <a:ea typeface="Calibri" pitchFamily="34" charset="-122"/>
                <a:cs typeface="Calibri" pitchFamily="34" charset="-120"/>
              </a:rPr>
              <a:t>Meaning + effect</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1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Choose Your Weapon</a:t>
            </a:r>
            <a:endParaRPr lang="en-US" sz="3200" dirty="0"/>
          </a:p>
        </p:txBody>
      </p:sp>
      <p:sp>
        <p:nvSpPr>
          <p:cNvPr id="7" name="Shape 5"/>
          <p:cNvSpPr/>
          <p:nvPr/>
        </p:nvSpPr>
        <p:spPr>
          <a:xfrm rot="-120000">
            <a:off x="548640" y="1463040"/>
            <a:ext cx="2594610" cy="402336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1745361" y="1371600"/>
            <a:ext cx="201168" cy="201168"/>
          </a:xfrm>
          <a:prstGeom prst="ellipse">
            <a:avLst/>
          </a:prstGeom>
          <a:solidFill>
            <a:srgbClr val="C0674F"/>
          </a:solidFill>
          <a:ln/>
        </p:spPr>
      </p:sp>
      <p:sp>
        <p:nvSpPr>
          <p:cNvPr id="9" name="Text 7"/>
          <p:cNvSpPr txBox="1"/>
          <p:nvPr/>
        </p:nvSpPr>
        <p:spPr>
          <a:xfrm rot="-120000">
            <a:off x="68580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Question A</a:t>
            </a:r>
            <a:endParaRPr lang="en-US" sz="1700" dirty="0"/>
          </a:p>
          <a:p>
            <a:pPr marL="0" indent="0">
              <a:spcAft>
                <a:spcPts val="500"/>
              </a:spcAft>
              <a:buNone/>
            </a:pPr>
            <a:r>
              <a:rPr lang="en-US" sz="2500" dirty="0">
                <a:solidFill>
                  <a:srgbClr val="1B2A38"/>
                </a:solidFill>
                <a:latin typeface="Calibri" pitchFamily="34" charset="0"/>
                <a:ea typeface="Calibri" pitchFamily="34" charset="-122"/>
                <a:cs typeface="Calibri" pitchFamily="34" charset="-120"/>
              </a:rPr>
              <a:t>What does </a:t>
            </a:r>
            <a:r>
              <a:rPr lang="en-US" sz="2500" b="1" dirty="0">
                <a:solidFill>
                  <a:srgbClr val="C0674F"/>
                </a:solidFill>
                <a:latin typeface="Calibri" pitchFamily="34" charset="0"/>
                <a:ea typeface="Calibri" pitchFamily="34" charset="-122"/>
                <a:cs typeface="Calibri" pitchFamily="34" charset="-120"/>
              </a:rPr>
              <a:t>“expanded”</a:t>
            </a:r>
            <a:r>
              <a:rPr lang="en-US" sz="2500" dirty="0">
                <a:solidFill>
                  <a:srgbClr val="1B2A38"/>
                </a:solidFill>
                <a:latin typeface="Calibri" pitchFamily="34" charset="0"/>
                <a:ea typeface="Calibri" pitchFamily="34" charset="-122"/>
                <a:cs typeface="Calibri" pitchFamily="34" charset="-120"/>
              </a:rPr>
              <a:t> mean?</a:t>
            </a:r>
            <a:endParaRPr lang="en-US" sz="1700" dirty="0"/>
          </a:p>
        </p:txBody>
      </p:sp>
      <p:sp>
        <p:nvSpPr>
          <p:cNvPr id="10" name="Shape 8"/>
          <p:cNvSpPr/>
          <p:nvPr/>
        </p:nvSpPr>
        <p:spPr>
          <a:xfrm rot="90000">
            <a:off x="3371850" y="1463040"/>
            <a:ext cx="2594610" cy="402336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4568571" y="1371600"/>
            <a:ext cx="201168" cy="201168"/>
          </a:xfrm>
          <a:prstGeom prst="ellipse">
            <a:avLst/>
          </a:prstGeom>
          <a:solidFill>
            <a:srgbClr val="C0674F"/>
          </a:solidFill>
          <a:ln/>
        </p:spPr>
      </p:sp>
      <p:sp>
        <p:nvSpPr>
          <p:cNvPr id="12" name="Text 10"/>
          <p:cNvSpPr txBox="1"/>
          <p:nvPr/>
        </p:nvSpPr>
        <p:spPr>
          <a:xfrm rot="90000">
            <a:off x="350901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Question B</a:t>
            </a:r>
            <a:endParaRPr lang="en-US" sz="1700" dirty="0"/>
          </a:p>
          <a:p>
            <a:pPr marL="0" indent="0">
              <a:spcAft>
                <a:spcPts val="500"/>
              </a:spcAft>
              <a:buNone/>
            </a:pPr>
            <a:r>
              <a:rPr lang="en-US" sz="2500" dirty="0">
                <a:solidFill>
                  <a:srgbClr val="1B2A38"/>
                </a:solidFill>
                <a:latin typeface="Calibri" pitchFamily="34" charset="0"/>
                <a:ea typeface="Calibri" pitchFamily="34" charset="-122"/>
                <a:cs typeface="Calibri" pitchFamily="34" charset="-120"/>
              </a:rPr>
              <a:t>Why does the writer use the word </a:t>
            </a:r>
            <a:r>
              <a:rPr lang="en-US" sz="2500" b="1" dirty="0">
                <a:solidFill>
                  <a:srgbClr val="C0674F"/>
                </a:solidFill>
                <a:latin typeface="Calibri" pitchFamily="34" charset="0"/>
                <a:ea typeface="Calibri" pitchFamily="34" charset="-122"/>
                <a:cs typeface="Calibri" pitchFamily="34" charset="-120"/>
              </a:rPr>
              <a:t>“bridge”</a:t>
            </a:r>
            <a:r>
              <a:rPr lang="en-US" sz="2500" dirty="0">
                <a:solidFill>
                  <a:srgbClr val="1B2A38"/>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rot="-60000">
            <a:off x="6195060" y="1463040"/>
            <a:ext cx="2594610" cy="402336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7391781" y="1371600"/>
            <a:ext cx="201168" cy="201168"/>
          </a:xfrm>
          <a:prstGeom prst="ellipse">
            <a:avLst/>
          </a:prstGeom>
          <a:solidFill>
            <a:srgbClr val="C0674F"/>
          </a:solidFill>
          <a:ln/>
        </p:spPr>
      </p:sp>
      <p:sp>
        <p:nvSpPr>
          <p:cNvPr id="15" name="Text 13"/>
          <p:cNvSpPr txBox="1"/>
          <p:nvPr/>
        </p:nvSpPr>
        <p:spPr>
          <a:xfrm rot="-60000">
            <a:off x="633222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Question C</a:t>
            </a:r>
            <a:endParaRPr lang="en-US" sz="1700" dirty="0"/>
          </a:p>
          <a:p>
            <a:pPr marL="0" indent="0">
              <a:spcAft>
                <a:spcPts val="500"/>
              </a:spcAft>
              <a:buNone/>
            </a:pPr>
            <a:r>
              <a:rPr lang="en-US" sz="2500" dirty="0">
                <a:solidFill>
                  <a:srgbClr val="1B2A38"/>
                </a:solidFill>
                <a:latin typeface="Calibri" pitchFamily="34" charset="0"/>
                <a:ea typeface="Calibri" pitchFamily="34" charset="-122"/>
                <a:cs typeface="Calibri" pitchFamily="34" charset="-120"/>
              </a:rPr>
              <a:t>Why does the writer explain the problems after describing the project's development?</a:t>
            </a:r>
            <a:endParaRPr lang="en-US" sz="1700" dirty="0"/>
          </a:p>
        </p:txBody>
      </p:sp>
      <p:sp>
        <p:nvSpPr>
          <p:cNvPr id="16" name="Shape 14"/>
          <p:cNvSpPr/>
          <p:nvPr/>
        </p:nvSpPr>
        <p:spPr>
          <a:xfrm rot="120000">
            <a:off x="9018270" y="1463040"/>
            <a:ext cx="2594610" cy="4023360"/>
          </a:xfrm>
          <a:prstGeom prst="rect">
            <a:avLst/>
          </a:prstGeom>
          <a:solidFill>
            <a:srgbClr val="D3E4F4"/>
          </a:solidFill>
          <a:ln/>
          <a:effectLst>
            <a:outerShdw blurRad="76200" dist="25400" dir="5400000" algn="bl" rotWithShape="0">
              <a:srgbClr val="000000">
                <a:alpha val="14000"/>
              </a:srgbClr>
            </a:outerShdw>
          </a:effectLst>
        </p:spPr>
      </p:sp>
      <p:sp>
        <p:nvSpPr>
          <p:cNvPr id="17" name="Shape 15"/>
          <p:cNvSpPr/>
          <p:nvPr/>
        </p:nvSpPr>
        <p:spPr>
          <a:xfrm>
            <a:off x="10214991" y="1371600"/>
            <a:ext cx="201168" cy="201168"/>
          </a:xfrm>
          <a:prstGeom prst="ellipse">
            <a:avLst/>
          </a:prstGeom>
          <a:solidFill>
            <a:srgbClr val="C0674F"/>
          </a:solidFill>
          <a:ln/>
        </p:spPr>
      </p:sp>
      <p:sp>
        <p:nvSpPr>
          <p:cNvPr id="18" name="Text 16"/>
          <p:cNvSpPr txBox="1"/>
          <p:nvPr/>
        </p:nvSpPr>
        <p:spPr>
          <a:xfrm rot="120000">
            <a:off x="9031222" y="1439964"/>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Question D</a:t>
            </a:r>
            <a:endParaRPr lang="en-US" sz="1700" dirty="0"/>
          </a:p>
          <a:p>
            <a:pPr marL="0" indent="0">
              <a:spcAft>
                <a:spcPts val="500"/>
              </a:spcAft>
              <a:buNone/>
            </a:pPr>
            <a:r>
              <a:rPr lang="en-US" sz="2500" dirty="0">
                <a:solidFill>
                  <a:srgbClr val="1B2A38"/>
                </a:solidFill>
                <a:latin typeface="Calibri" pitchFamily="34" charset="0"/>
                <a:ea typeface="Calibri" pitchFamily="34" charset="-122"/>
                <a:cs typeface="Calibri" pitchFamily="34" charset="-120"/>
              </a:rPr>
              <a:t>What is the writer mainly trying to do? What is the reason for writing the text?</a:t>
            </a:r>
            <a:endParaRPr lang="en-US" sz="1700"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PARTNER CHALLENGE</a:t>
            </a:r>
            <a:endParaRPr lang="en-US" sz="1100" dirty="0"/>
          </a:p>
        </p:txBody>
      </p:sp>
      <p:sp>
        <p:nvSpPr>
          <p:cNvPr id="20" name="Text 18"/>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Your partner gives you ONE question. </a:t>
            </a:r>
          </a:p>
          <a:p>
            <a:pPr marL="0" indent="0">
              <a:buNone/>
            </a:pPr>
            <a:r>
              <a:rPr lang="en-US" sz="1600" b="1" dirty="0">
                <a:solidFill>
                  <a:srgbClr val="1B2A38"/>
                </a:solidFill>
                <a:latin typeface="Calibri" pitchFamily="34" charset="0"/>
                <a:ea typeface="Calibri" pitchFamily="34" charset="-122"/>
                <a:cs typeface="Calibri" pitchFamily="34" charset="-120"/>
              </a:rPr>
              <a:t>Pick the skill: 🔎 Context · ✍️ Writer's Choice · 🗺️ Structure · 🎯 Purpose</a:t>
            </a:r>
            <a:endParaRPr lang="en-US" sz="16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Which Tool?</a:t>
            </a:r>
            <a:endParaRPr lang="en-US" sz="3200" dirty="0"/>
          </a:p>
        </p:txBody>
      </p:sp>
      <p:sp>
        <p:nvSpPr>
          <p:cNvPr id="7" name="Shape 5"/>
          <p:cNvSpPr/>
          <p:nvPr/>
        </p:nvSpPr>
        <p:spPr>
          <a:xfrm>
            <a:off x="54864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2594610" cy="548640"/>
          </a:xfrm>
          <a:prstGeom prst="round2SameRect">
            <a:avLst/>
          </a:prstGeom>
          <a:solidFill>
            <a:srgbClr val="4E7D5B"/>
          </a:solidFill>
          <a:ln/>
        </p:spPr>
      </p:sp>
      <p:sp>
        <p:nvSpPr>
          <p:cNvPr id="9" name="Text 7"/>
          <p:cNvSpPr txBox="1"/>
          <p:nvPr/>
        </p:nvSpPr>
        <p:spPr>
          <a:xfrm>
            <a:off x="731520" y="1463040"/>
            <a:ext cx="232029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0" name="Text 8"/>
          <p:cNvSpPr txBox="1"/>
          <p:nvPr/>
        </p:nvSpPr>
        <p:spPr>
          <a:xfrm>
            <a:off x="731520" y="2103120"/>
            <a:ext cx="222885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Context</a:t>
            </a:r>
            <a:endParaRPr lang="en-US" sz="2600" dirty="0"/>
          </a:p>
        </p:txBody>
      </p:sp>
      <p:sp>
        <p:nvSpPr>
          <p:cNvPr id="11" name="Shape 9"/>
          <p:cNvSpPr/>
          <p:nvPr/>
        </p:nvSpPr>
        <p:spPr>
          <a:xfrm>
            <a:off x="337185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3371850" y="1463040"/>
            <a:ext cx="2594610" cy="548640"/>
          </a:xfrm>
          <a:prstGeom prst="round2SameRect">
            <a:avLst/>
          </a:prstGeom>
          <a:solidFill>
            <a:srgbClr val="4E7D5B"/>
          </a:solidFill>
          <a:ln/>
        </p:spPr>
      </p:sp>
      <p:sp>
        <p:nvSpPr>
          <p:cNvPr id="13" name="Text 11"/>
          <p:cNvSpPr txBox="1"/>
          <p:nvPr/>
        </p:nvSpPr>
        <p:spPr>
          <a:xfrm>
            <a:off x="3554730" y="1463040"/>
            <a:ext cx="232029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4" name="Text 12"/>
          <p:cNvSpPr txBox="1"/>
          <p:nvPr/>
        </p:nvSpPr>
        <p:spPr>
          <a:xfrm>
            <a:off x="3554730" y="2103120"/>
            <a:ext cx="222885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Writer's Choice</a:t>
            </a:r>
            <a:endParaRPr lang="en-US" sz="2600" dirty="0"/>
          </a:p>
        </p:txBody>
      </p:sp>
      <p:sp>
        <p:nvSpPr>
          <p:cNvPr id="15" name="Shape 13"/>
          <p:cNvSpPr/>
          <p:nvPr/>
        </p:nvSpPr>
        <p:spPr>
          <a:xfrm>
            <a:off x="619506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16" name="Shape 14"/>
          <p:cNvSpPr/>
          <p:nvPr/>
        </p:nvSpPr>
        <p:spPr>
          <a:xfrm>
            <a:off x="6195060" y="1463040"/>
            <a:ext cx="2594610" cy="548640"/>
          </a:xfrm>
          <a:prstGeom prst="round2SameRect">
            <a:avLst/>
          </a:prstGeom>
          <a:solidFill>
            <a:srgbClr val="4E7D5B"/>
          </a:solidFill>
          <a:ln/>
        </p:spPr>
      </p:sp>
      <p:sp>
        <p:nvSpPr>
          <p:cNvPr id="17" name="Text 15"/>
          <p:cNvSpPr txBox="1"/>
          <p:nvPr/>
        </p:nvSpPr>
        <p:spPr>
          <a:xfrm>
            <a:off x="6377940" y="1463040"/>
            <a:ext cx="232029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8" name="Text 16"/>
          <p:cNvSpPr txBox="1"/>
          <p:nvPr/>
        </p:nvSpPr>
        <p:spPr>
          <a:xfrm>
            <a:off x="6377940" y="2103120"/>
            <a:ext cx="222885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Structure</a:t>
            </a:r>
            <a:endParaRPr lang="en-US" sz="2600" dirty="0"/>
          </a:p>
        </p:txBody>
      </p:sp>
      <p:sp>
        <p:nvSpPr>
          <p:cNvPr id="19" name="Shape 17"/>
          <p:cNvSpPr/>
          <p:nvPr/>
        </p:nvSpPr>
        <p:spPr>
          <a:xfrm>
            <a:off x="9018270" y="1463040"/>
            <a:ext cx="2594610" cy="4023360"/>
          </a:xfrm>
          <a:prstGeom prst="roundRect">
            <a:avLst>
              <a:gd name="adj" fmla="val 4229"/>
            </a:avLst>
          </a:prstGeom>
          <a:solidFill>
            <a:srgbClr val="FFFFFF"/>
          </a:solidFill>
          <a:ln/>
          <a:effectLst>
            <a:outerShdw blurRad="76200" dist="25400" dir="5400000" algn="bl" rotWithShape="0">
              <a:srgbClr val="000000">
                <a:alpha val="14000"/>
              </a:srgbClr>
            </a:outerShdw>
          </a:effectLst>
        </p:spPr>
      </p:sp>
      <p:sp>
        <p:nvSpPr>
          <p:cNvPr id="20" name="Shape 18"/>
          <p:cNvSpPr/>
          <p:nvPr/>
        </p:nvSpPr>
        <p:spPr>
          <a:xfrm>
            <a:off x="9018270" y="1463040"/>
            <a:ext cx="2594610" cy="548640"/>
          </a:xfrm>
          <a:prstGeom prst="round2SameRect">
            <a:avLst/>
          </a:prstGeom>
          <a:solidFill>
            <a:srgbClr val="4E7D5B"/>
          </a:solidFill>
          <a:ln/>
        </p:spPr>
      </p:sp>
      <p:sp>
        <p:nvSpPr>
          <p:cNvPr id="21" name="Text 19"/>
          <p:cNvSpPr txBox="1"/>
          <p:nvPr/>
        </p:nvSpPr>
        <p:spPr>
          <a:xfrm>
            <a:off x="9201150" y="1463040"/>
            <a:ext cx="232029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2" name="Text 20"/>
          <p:cNvSpPr txBox="1"/>
          <p:nvPr/>
        </p:nvSpPr>
        <p:spPr>
          <a:xfrm>
            <a:off x="9201150" y="2103120"/>
            <a:ext cx="222885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Purpose</a:t>
            </a:r>
            <a:endParaRPr lang="en-US" sz="2600" dirty="0"/>
          </a:p>
        </p:txBody>
      </p:sp>
      <p:sp>
        <p:nvSpPr>
          <p:cNvPr id="23" name="Text 21"/>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BIG IDEA</a:t>
            </a:r>
            <a:endParaRPr lang="en-US" sz="1100" dirty="0"/>
          </a:p>
        </p:txBody>
      </p:sp>
      <p:sp>
        <p:nvSpPr>
          <p:cNvPr id="24" name="Text 22"/>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The hardest part is knowing: which reading skill should I use?</a:t>
            </a:r>
            <a:endParaRPr lang="en-US" sz="1600" dirty="0"/>
          </a:p>
        </p:txBody>
      </p:sp>
      <p:sp>
        <p:nvSpPr>
          <p:cNvPr id="25" name="Text 2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26" name="Text 2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7" name="Text 2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B2A38"/>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1B2A38"/>
                </a:solidFill>
                <a:latin typeface="Calibri" pitchFamily="34" charset="0"/>
                <a:ea typeface="Calibri" pitchFamily="34" charset="-122"/>
                <a:cs typeface="Calibri" pitchFamily="34" charset="-120"/>
              </a:rPr>
              <a:t>SESSION 1 · EXIT + CHECK</a:t>
            </a:r>
            <a:endParaRPr lang="en-US" sz="1100" dirty="0"/>
          </a:p>
        </p:txBody>
      </p:sp>
      <p:sp>
        <p:nvSpPr>
          <p:cNvPr id="4" name="Shape 2"/>
          <p:cNvSpPr/>
          <p:nvPr/>
        </p:nvSpPr>
        <p:spPr>
          <a:xfrm>
            <a:off x="10424160" y="256032"/>
            <a:ext cx="1280160" cy="310896"/>
          </a:xfrm>
          <a:prstGeom prst="roundRect">
            <a:avLst>
              <a:gd name="adj" fmla="val 50000"/>
            </a:avLst>
          </a:prstGeom>
          <a:solidFill>
            <a:srgbClr val="1B2A38"/>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Exit Ticket</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800" b="1" dirty="0">
                <a:solidFill>
                  <a:srgbClr val="1B2A38"/>
                </a:solidFill>
                <a:latin typeface="Calibri" pitchFamily="34" charset="0"/>
                <a:ea typeface="Calibri" pitchFamily="34" charset="-122"/>
                <a:cs typeface="Calibri" pitchFamily="34" charset="-120"/>
              </a:rPr>
              <a:t>Read</a:t>
            </a:r>
            <a:r>
              <a:rPr lang="en-US" sz="2800" dirty="0">
                <a:solidFill>
                  <a:srgbClr val="1B2A38"/>
                </a:solidFill>
                <a:latin typeface="Calibri" pitchFamily="34" charset="0"/>
                <a:ea typeface="Calibri" pitchFamily="34" charset="-122"/>
                <a:cs typeface="Calibri" pitchFamily="34" charset="-120"/>
              </a:rPr>
              <a:t>: “It was no longer only a building people visited.                                                        It had become a </a:t>
            </a:r>
            <a:r>
              <a:rPr lang="en-US" sz="2800" b="1" dirty="0">
                <a:solidFill>
                  <a:srgbClr val="C0674F"/>
                </a:solidFill>
                <a:latin typeface="Calibri" pitchFamily="34" charset="0"/>
                <a:ea typeface="Calibri" pitchFamily="34" charset="-122"/>
                <a:cs typeface="Calibri" pitchFamily="34" charset="-120"/>
              </a:rPr>
              <a:t>service that could reach them</a:t>
            </a:r>
            <a:r>
              <a:rPr lang="en-US" sz="2800" dirty="0">
                <a:solidFill>
                  <a:srgbClr val="1B2A38"/>
                </a:solidFill>
                <a:latin typeface="Calibri" pitchFamily="34" charset="0"/>
                <a:ea typeface="Calibri" pitchFamily="34" charset="-122"/>
                <a:cs typeface="Calibri" pitchFamily="34" charset="-120"/>
              </a:rPr>
              <a:t>.”</a:t>
            </a:r>
            <a:endParaRPr lang="en-US" sz="2800" dirty="0"/>
          </a:p>
        </p:txBody>
      </p:sp>
      <p:sp>
        <p:nvSpPr>
          <p:cNvPr id="8" name="Shape 6"/>
          <p:cNvSpPr/>
          <p:nvPr/>
        </p:nvSpPr>
        <p:spPr>
          <a:xfrm rot="-120000">
            <a:off x="548640" y="2148840"/>
            <a:ext cx="3535680" cy="3383280"/>
          </a:xfrm>
          <a:prstGeom prst="rect">
            <a:avLst/>
          </a:prstGeom>
          <a:solidFill>
            <a:srgbClr val="FFF3B0"/>
          </a:solidFill>
          <a:ln/>
          <a:effectLst>
            <a:outerShdw blurRad="76200" dist="25400" dir="5400000" algn="bl" rotWithShape="0">
              <a:srgbClr val="000000">
                <a:alpha val="14000"/>
              </a:srgbClr>
            </a:outerShdw>
          </a:effectLst>
        </p:spPr>
      </p:sp>
      <p:sp>
        <p:nvSpPr>
          <p:cNvPr id="9" name="Shape 7"/>
          <p:cNvSpPr/>
          <p:nvPr/>
        </p:nvSpPr>
        <p:spPr>
          <a:xfrm>
            <a:off x="2215896" y="2057400"/>
            <a:ext cx="201168" cy="201168"/>
          </a:xfrm>
          <a:prstGeom prst="ellipse">
            <a:avLst/>
          </a:prstGeom>
          <a:solidFill>
            <a:srgbClr val="C0674F"/>
          </a:solidFill>
          <a:ln/>
        </p:spPr>
      </p:sp>
      <p:sp>
        <p:nvSpPr>
          <p:cNvPr id="10" name="Text 8"/>
          <p:cNvSpPr txBox="1"/>
          <p:nvPr/>
        </p:nvSpPr>
        <p:spPr>
          <a:xfrm rot="-120000">
            <a:off x="685800" y="2148840"/>
            <a:ext cx="3261360" cy="33832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1</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What does this sentence suggest about the project?</a:t>
            </a:r>
            <a:endParaRPr lang="en-US" sz="1700" dirty="0"/>
          </a:p>
        </p:txBody>
      </p:sp>
      <p:sp>
        <p:nvSpPr>
          <p:cNvPr id="11" name="Shape 9"/>
          <p:cNvSpPr/>
          <p:nvPr/>
        </p:nvSpPr>
        <p:spPr>
          <a:xfrm rot="90000">
            <a:off x="4312920" y="2148840"/>
            <a:ext cx="3535680" cy="3383280"/>
          </a:xfrm>
          <a:prstGeom prst="rect">
            <a:avLst/>
          </a:prstGeom>
          <a:solidFill>
            <a:srgbClr val="D5EEDD"/>
          </a:solidFill>
          <a:ln/>
          <a:effectLst>
            <a:outerShdw blurRad="76200" dist="25400" dir="5400000" algn="bl" rotWithShape="0">
              <a:srgbClr val="000000">
                <a:alpha val="14000"/>
              </a:srgbClr>
            </a:outerShdw>
          </a:effectLst>
        </p:spPr>
      </p:sp>
      <p:sp>
        <p:nvSpPr>
          <p:cNvPr id="12" name="Shape 10"/>
          <p:cNvSpPr/>
          <p:nvPr/>
        </p:nvSpPr>
        <p:spPr>
          <a:xfrm>
            <a:off x="5980176" y="2057400"/>
            <a:ext cx="201168" cy="201168"/>
          </a:xfrm>
          <a:prstGeom prst="ellipse">
            <a:avLst/>
          </a:prstGeom>
          <a:solidFill>
            <a:srgbClr val="C0674F"/>
          </a:solidFill>
          <a:ln/>
        </p:spPr>
      </p:sp>
      <p:sp>
        <p:nvSpPr>
          <p:cNvPr id="13" name="Text 11"/>
          <p:cNvSpPr txBox="1"/>
          <p:nvPr/>
        </p:nvSpPr>
        <p:spPr>
          <a:xfrm rot="90000">
            <a:off x="4450080" y="2148840"/>
            <a:ext cx="3261360" cy="33832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2</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Why is this an effective way to end the article?</a:t>
            </a:r>
            <a:endParaRPr lang="en-US" sz="1700" dirty="0"/>
          </a:p>
        </p:txBody>
      </p:sp>
      <p:sp>
        <p:nvSpPr>
          <p:cNvPr id="14" name="Shape 12"/>
          <p:cNvSpPr/>
          <p:nvPr/>
        </p:nvSpPr>
        <p:spPr>
          <a:xfrm rot="-60000">
            <a:off x="8077200" y="2148840"/>
            <a:ext cx="3535680" cy="3383280"/>
          </a:xfrm>
          <a:prstGeom prst="rect">
            <a:avLst/>
          </a:prstGeom>
          <a:solidFill>
            <a:srgbClr val="FAD9CF"/>
          </a:solidFill>
          <a:ln/>
          <a:effectLst>
            <a:outerShdw blurRad="76200" dist="25400" dir="5400000" algn="bl" rotWithShape="0">
              <a:srgbClr val="000000">
                <a:alpha val="14000"/>
              </a:srgbClr>
            </a:outerShdw>
          </a:effectLst>
        </p:spPr>
      </p:sp>
      <p:sp>
        <p:nvSpPr>
          <p:cNvPr id="15" name="Shape 13"/>
          <p:cNvSpPr/>
          <p:nvPr/>
        </p:nvSpPr>
        <p:spPr>
          <a:xfrm>
            <a:off x="9744456" y="2057400"/>
            <a:ext cx="201168" cy="201168"/>
          </a:xfrm>
          <a:prstGeom prst="ellipse">
            <a:avLst/>
          </a:prstGeom>
          <a:solidFill>
            <a:srgbClr val="C0674F"/>
          </a:solidFill>
          <a:ln/>
        </p:spPr>
      </p:sp>
      <p:sp>
        <p:nvSpPr>
          <p:cNvPr id="16" name="Text 14"/>
          <p:cNvSpPr txBox="1"/>
          <p:nvPr/>
        </p:nvSpPr>
        <p:spPr>
          <a:xfrm rot="-60000">
            <a:off x="8214360" y="2148840"/>
            <a:ext cx="3261360" cy="338328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Sentence starters</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ending shows __________.</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It is effective because __________.</a:t>
            </a:r>
            <a:endParaRPr lang="en-US" sz="1700" dirty="0"/>
          </a:p>
        </p:txBody>
      </p:sp>
      <p:sp>
        <p:nvSpPr>
          <p:cNvPr id="17" name="Text 15"/>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18" name="Text 16"/>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Answer on your slip.</a:t>
            </a:r>
            <a:endParaRPr lang="en-US" sz="1600" dirty="0"/>
          </a:p>
        </p:txBody>
      </p:sp>
      <p:sp>
        <p:nvSpPr>
          <p:cNvPr id="19" name="Text 17"/>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0" name="Text 18"/>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21" name="Text 19"/>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1 · REVEAL AFTER STUDENTS ANSWER · CHECK</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Exit Ticket: Possible Answer</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Possible answer</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ending shows that the library became more accessible to the community. It is effective because it shows how the project changed the meaning of a library from a building into a service that could reach people.</a:t>
            </a:r>
            <a:endParaRPr lang="en-US" sz="260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1</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38"/>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D9A441"/>
          </a:solidFill>
          <a:ln/>
        </p:spPr>
      </p:sp>
      <p:sp>
        <p:nvSpPr>
          <p:cNvPr id="3" name="Shape 1"/>
          <p:cNvSpPr/>
          <p:nvPr/>
        </p:nvSpPr>
        <p:spPr>
          <a:xfrm>
            <a:off x="8412480" y="914400"/>
            <a:ext cx="3108960" cy="3108960"/>
          </a:xfrm>
          <a:prstGeom prst="ellipse">
            <a:avLst/>
          </a:prstGeom>
          <a:solidFill>
            <a:srgbClr val="2B4257"/>
          </a:solidFill>
          <a:ln/>
        </p:spPr>
      </p:sp>
      <p:sp>
        <p:nvSpPr>
          <p:cNvPr id="4" name="Text 2"/>
          <p:cNvSpPr txBox="1"/>
          <p:nvPr/>
        </p:nvSpPr>
        <p:spPr>
          <a:xfrm>
            <a:off x="8412480" y="914400"/>
            <a:ext cx="3108960" cy="3108960"/>
          </a:xfrm>
          <a:prstGeom prst="rect">
            <a:avLst/>
          </a:prstGeom>
          <a:noFill/>
          <a:ln/>
        </p:spPr>
        <p:txBody>
          <a:bodyPr wrap="square" lIns="0" tIns="0" rIns="0" bIns="0" rtlCol="0" anchor="ctr"/>
          <a:lstStyle/>
          <a:p>
            <a:pPr marL="0" indent="0" algn="ctr">
              <a:buNone/>
            </a:pPr>
            <a:r>
              <a:rPr lang="en-US" sz="9600" dirty="0">
                <a:solidFill>
                  <a:srgbClr val="000000"/>
                </a:solidFill>
              </a:rPr>
              <a:t>🗺️</a:t>
            </a:r>
            <a:endParaRPr lang="en-US" sz="9600" dirty="0"/>
          </a:p>
        </p:txBody>
      </p:sp>
      <p:sp>
        <p:nvSpPr>
          <p:cNvPr id="5" name="Text 3"/>
          <p:cNvSpPr txBox="1"/>
          <p:nvPr/>
        </p:nvSpPr>
        <p:spPr>
          <a:xfrm>
            <a:off x="731520" y="82296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TEXT ARCHITECT</a:t>
            </a:r>
            <a:endParaRPr lang="en-US" sz="4400" dirty="0"/>
          </a:p>
        </p:txBody>
      </p:sp>
      <p:sp>
        <p:nvSpPr>
          <p:cNvPr id="6" name="Text 4"/>
          <p:cNvSpPr txBox="1"/>
          <p:nvPr/>
        </p:nvSpPr>
        <p:spPr>
          <a:xfrm>
            <a:off x="731520" y="1737360"/>
            <a:ext cx="7315200" cy="822960"/>
          </a:xfrm>
          <a:prstGeom prst="rect">
            <a:avLst/>
          </a:prstGeom>
          <a:noFill/>
          <a:ln/>
        </p:spPr>
        <p:txBody>
          <a:bodyPr wrap="square" lIns="0" tIns="0" rIns="0" bIns="0" rtlCol="0" anchor="t"/>
          <a:lstStyle/>
          <a:p>
            <a:pPr marL="0" indent="0">
              <a:buNone/>
            </a:pPr>
            <a:r>
              <a:rPr lang="en-US" sz="2200" b="1" dirty="0">
                <a:solidFill>
                  <a:srgbClr val="D9A441"/>
                </a:solidFill>
                <a:latin typeface="Calibri" pitchFamily="34" charset="0"/>
                <a:ea typeface="Calibri" pitchFamily="34" charset="-122"/>
                <a:cs typeface="Calibri" pitchFamily="34" charset="-120"/>
              </a:rPr>
              <a:t>Structure · Evidence · Purpose · Audience</a:t>
            </a:r>
            <a:endParaRPr lang="en-US" sz="2200" dirty="0"/>
          </a:p>
        </p:txBody>
      </p:sp>
      <p:sp>
        <p:nvSpPr>
          <p:cNvPr id="7" name="Text 5"/>
          <p:cNvSpPr txBox="1"/>
          <p:nvPr/>
        </p:nvSpPr>
        <p:spPr>
          <a:xfrm>
            <a:off x="731520" y="2651760"/>
            <a:ext cx="7315200" cy="320040"/>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Session 2 · 40 minutes · Year 6 English · Unit 2</a:t>
            </a:r>
            <a:endParaRPr lang="en-US" sz="1400" dirty="0"/>
          </a:p>
        </p:txBody>
      </p:sp>
      <p:sp>
        <p:nvSpPr>
          <p:cNvPr id="8" name="Shape 6"/>
          <p:cNvSpPr/>
          <p:nvPr/>
        </p:nvSpPr>
        <p:spPr>
          <a:xfrm>
            <a:off x="731520" y="3291840"/>
            <a:ext cx="2331720" cy="1097280"/>
          </a:xfrm>
          <a:prstGeom prst="roundRect">
            <a:avLst>
              <a:gd name="adj" fmla="val 8333"/>
            </a:avLst>
          </a:prstGeom>
          <a:solidFill>
            <a:srgbClr val="FFFFFF"/>
          </a:solidFill>
          <a:ln/>
        </p:spPr>
      </p:sp>
      <p:sp>
        <p:nvSpPr>
          <p:cNvPr id="9" name="Shape 7"/>
          <p:cNvSpPr/>
          <p:nvPr/>
        </p:nvSpPr>
        <p:spPr>
          <a:xfrm>
            <a:off x="731520" y="3383280"/>
            <a:ext cx="64008" cy="914400"/>
          </a:xfrm>
          <a:prstGeom prst="rect">
            <a:avLst/>
          </a:prstGeom>
          <a:solidFill>
            <a:srgbClr val="C0674F"/>
          </a:solidFill>
          <a:ln/>
        </p:spPr>
      </p:sp>
      <p:sp>
        <p:nvSpPr>
          <p:cNvPr id="10" name="Text 8"/>
          <p:cNvSpPr txBox="1"/>
          <p:nvPr/>
        </p:nvSpPr>
        <p:spPr>
          <a:xfrm>
            <a:off x="914400" y="3291840"/>
            <a:ext cx="2057400" cy="1097280"/>
          </a:xfrm>
          <a:prstGeom prst="rect">
            <a:avLst/>
          </a:prstGeom>
          <a:noFill/>
          <a:ln/>
        </p:spPr>
        <p:txBody>
          <a:bodyPr wrap="square" lIns="0" tIns="0" rIns="0" bIns="0" rtlCol="0" anchor="ctr"/>
          <a:lstStyle/>
          <a:p>
            <a:pPr marL="0" indent="0">
              <a:buNone/>
            </a:pPr>
            <a:r>
              <a:rPr lang="en-US" sz="1400" b="1" dirty="0">
                <a:solidFill>
                  <a:srgbClr val="C0674F"/>
                </a:solidFill>
                <a:latin typeface="Calibri" pitchFamily="34" charset="0"/>
                <a:ea typeface="Calibri" pitchFamily="34" charset="-122"/>
                <a:cs typeface="Calibri" pitchFamily="34" charset="-120"/>
              </a:rPr>
              <a:t>I DO</a:t>
            </a:r>
            <a:endParaRPr lang="en-US" sz="1400" dirty="0"/>
          </a:p>
          <a:p>
            <a:pPr marL="0" indent="0">
              <a:buNone/>
            </a:pPr>
            <a:r>
              <a:rPr lang="en-US" sz="1600" dirty="0">
                <a:solidFill>
                  <a:srgbClr val="1B2A38"/>
                </a:solidFill>
                <a:latin typeface="Calibri" pitchFamily="34" charset="0"/>
                <a:ea typeface="Calibri" pitchFamily="34" charset="-122"/>
                <a:cs typeface="Calibri" pitchFamily="34" charset="-120"/>
              </a:rPr>
              <a:t>Watch the detective</a:t>
            </a:r>
            <a:endParaRPr lang="en-US" sz="1400" dirty="0"/>
          </a:p>
        </p:txBody>
      </p:sp>
      <p:sp>
        <p:nvSpPr>
          <p:cNvPr id="11" name="Shape 9"/>
          <p:cNvSpPr/>
          <p:nvPr/>
        </p:nvSpPr>
        <p:spPr>
          <a:xfrm>
            <a:off x="3246120" y="3291840"/>
            <a:ext cx="2331720" cy="1097280"/>
          </a:xfrm>
          <a:prstGeom prst="roundRect">
            <a:avLst>
              <a:gd name="adj" fmla="val 8333"/>
            </a:avLst>
          </a:prstGeom>
          <a:solidFill>
            <a:srgbClr val="FFFFFF"/>
          </a:solidFill>
          <a:ln/>
        </p:spPr>
      </p:sp>
      <p:sp>
        <p:nvSpPr>
          <p:cNvPr id="12" name="Shape 10"/>
          <p:cNvSpPr/>
          <p:nvPr/>
        </p:nvSpPr>
        <p:spPr>
          <a:xfrm>
            <a:off x="3246120" y="3383280"/>
            <a:ext cx="64008" cy="914400"/>
          </a:xfrm>
          <a:prstGeom prst="rect">
            <a:avLst/>
          </a:prstGeom>
          <a:solidFill>
            <a:srgbClr val="4F7CA0"/>
          </a:solidFill>
          <a:ln/>
        </p:spPr>
      </p:sp>
      <p:sp>
        <p:nvSpPr>
          <p:cNvPr id="13" name="Text 11"/>
          <p:cNvSpPr txBox="1"/>
          <p:nvPr/>
        </p:nvSpPr>
        <p:spPr>
          <a:xfrm>
            <a:off x="3429000" y="3291840"/>
            <a:ext cx="2057400" cy="1097280"/>
          </a:xfrm>
          <a:prstGeom prst="rect">
            <a:avLst/>
          </a:prstGeom>
          <a:noFill/>
          <a:ln/>
        </p:spPr>
        <p:txBody>
          <a:bodyPr wrap="square" lIns="0" tIns="0" rIns="0" bIns="0" rtlCol="0" anchor="ctr"/>
          <a:lstStyle/>
          <a:p>
            <a:pPr marL="0" indent="0">
              <a:buNone/>
            </a:pPr>
            <a:r>
              <a:rPr lang="en-US" sz="1400" b="1" dirty="0">
                <a:solidFill>
                  <a:srgbClr val="4F7CA0"/>
                </a:solidFill>
                <a:latin typeface="Calibri" pitchFamily="34" charset="0"/>
                <a:ea typeface="Calibri" pitchFamily="34" charset="-122"/>
                <a:cs typeface="Calibri" pitchFamily="34" charset="-120"/>
              </a:rPr>
              <a:t>WE DO</a:t>
            </a:r>
            <a:endParaRPr lang="en-US" sz="1400" dirty="0"/>
          </a:p>
          <a:p>
            <a:pPr marL="0" indent="0">
              <a:buNone/>
            </a:pPr>
            <a:r>
              <a:rPr lang="en-US" sz="1600" dirty="0">
                <a:solidFill>
                  <a:srgbClr val="1B2A38"/>
                </a:solidFill>
                <a:latin typeface="Calibri" pitchFamily="34" charset="0"/>
                <a:ea typeface="Calibri" pitchFamily="34" charset="-122"/>
                <a:cs typeface="Calibri" pitchFamily="34" charset="-120"/>
              </a:rPr>
              <a:t>Team up on the clues</a:t>
            </a:r>
            <a:endParaRPr lang="en-US" sz="1400" dirty="0"/>
          </a:p>
        </p:txBody>
      </p:sp>
      <p:sp>
        <p:nvSpPr>
          <p:cNvPr id="14" name="Shape 12"/>
          <p:cNvSpPr/>
          <p:nvPr/>
        </p:nvSpPr>
        <p:spPr>
          <a:xfrm>
            <a:off x="5760720" y="3291840"/>
            <a:ext cx="2331720" cy="1097280"/>
          </a:xfrm>
          <a:prstGeom prst="roundRect">
            <a:avLst>
              <a:gd name="adj" fmla="val 8333"/>
            </a:avLst>
          </a:prstGeom>
          <a:solidFill>
            <a:srgbClr val="FFFFFF"/>
          </a:solidFill>
          <a:ln/>
        </p:spPr>
      </p:sp>
      <p:sp>
        <p:nvSpPr>
          <p:cNvPr id="15" name="Shape 13"/>
          <p:cNvSpPr/>
          <p:nvPr/>
        </p:nvSpPr>
        <p:spPr>
          <a:xfrm>
            <a:off x="5760720" y="3383280"/>
            <a:ext cx="64008" cy="914400"/>
          </a:xfrm>
          <a:prstGeom prst="rect">
            <a:avLst/>
          </a:prstGeom>
          <a:solidFill>
            <a:srgbClr val="4E7D5B"/>
          </a:solidFill>
          <a:ln/>
        </p:spPr>
      </p:sp>
      <p:sp>
        <p:nvSpPr>
          <p:cNvPr id="16" name="Text 14"/>
          <p:cNvSpPr txBox="1"/>
          <p:nvPr/>
        </p:nvSpPr>
        <p:spPr>
          <a:xfrm>
            <a:off x="5943600" y="3291840"/>
            <a:ext cx="2057400" cy="1097280"/>
          </a:xfrm>
          <a:prstGeom prst="rect">
            <a:avLst/>
          </a:prstGeom>
          <a:noFill/>
          <a:ln/>
        </p:spPr>
        <p:txBody>
          <a:bodyPr wrap="square" lIns="0" tIns="0" rIns="0" bIns="0" rtlCol="0" anchor="ctr"/>
          <a:lstStyle/>
          <a:p>
            <a:pPr marL="0" indent="0">
              <a:buNone/>
            </a:pPr>
            <a:r>
              <a:rPr lang="en-US" sz="1400" b="1" dirty="0">
                <a:solidFill>
                  <a:srgbClr val="4E7D5B"/>
                </a:solidFill>
                <a:latin typeface="Calibri" pitchFamily="34" charset="0"/>
                <a:ea typeface="Calibri" pitchFamily="34" charset="-122"/>
                <a:cs typeface="Calibri" pitchFamily="34" charset="-120"/>
              </a:rPr>
              <a:t>YOU DO</a:t>
            </a:r>
            <a:endParaRPr lang="en-US" sz="1400" dirty="0"/>
          </a:p>
          <a:p>
            <a:pPr marL="0" indent="0">
              <a:buNone/>
            </a:pPr>
            <a:r>
              <a:rPr lang="en-US" sz="1600" dirty="0">
                <a:solidFill>
                  <a:srgbClr val="1B2A38"/>
                </a:solidFill>
                <a:latin typeface="Calibri" pitchFamily="34" charset="0"/>
                <a:ea typeface="Calibri" pitchFamily="34" charset="-122"/>
                <a:cs typeface="Calibri" pitchFamily="34" charset="-120"/>
              </a:rPr>
              <a:t>Solve it solo</a:t>
            </a:r>
            <a:endParaRPr lang="en-US" sz="1400" dirty="0"/>
          </a:p>
        </p:txBody>
      </p:sp>
      <p:sp>
        <p:nvSpPr>
          <p:cNvPr id="17" name="Text 15"/>
          <p:cNvSpPr txBox="1"/>
          <p:nvPr/>
        </p:nvSpPr>
        <p:spPr>
          <a:xfrm>
            <a:off x="731520" y="4892040"/>
            <a:ext cx="10515600" cy="1097280"/>
          </a:xfrm>
          <a:prstGeom prst="rect">
            <a:avLst/>
          </a:prstGeom>
          <a:noFill/>
          <a:ln/>
        </p:spPr>
        <p:txBody>
          <a:bodyPr wrap="square" lIns="0" tIns="0" rIns="0" bIns="0" rtlCol="0" anchor="t"/>
          <a:lstStyle/>
          <a:p>
            <a:pPr marL="0" indent="0">
              <a:buNone/>
            </a:pPr>
            <a:r>
              <a:rPr lang="en-US" sz="1200" b="1" dirty="0">
                <a:solidFill>
                  <a:srgbClr val="D9A441"/>
                </a:solidFill>
                <a:latin typeface="Calibri" pitchFamily="34" charset="0"/>
                <a:ea typeface="Calibri" pitchFamily="34" charset="-122"/>
                <a:cs typeface="Calibri" pitchFamily="34" charset="-120"/>
              </a:rPr>
              <a:t>TODAY'S MISSION</a:t>
            </a:r>
            <a:endParaRPr lang="en-US" sz="1200" dirty="0"/>
          </a:p>
          <a:p>
            <a:pPr marL="0" indent="0">
              <a:buNone/>
            </a:pPr>
            <a:r>
              <a:rPr lang="en-US" sz="2000" b="1" dirty="0">
                <a:solidFill>
                  <a:srgbClr val="FFFFFF"/>
                </a:solidFill>
                <a:latin typeface="Calibri" pitchFamily="34" charset="0"/>
                <a:ea typeface="Calibri" pitchFamily="34" charset="-122"/>
                <a:cs typeface="Calibri" pitchFamily="34" charset="-120"/>
              </a:rPr>
              <a:t>Don't just look at what the writer says. Look at WHY the writer puts it THERE.</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A441"/>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SESSION 2 · STARTER</a:t>
            </a:r>
            <a:endParaRPr lang="en-US" sz="1100" dirty="0"/>
          </a:p>
        </p:txBody>
      </p:sp>
      <p:sp>
        <p:nvSpPr>
          <p:cNvPr id="4" name="Shape 2"/>
          <p:cNvSpPr/>
          <p:nvPr/>
        </p:nvSpPr>
        <p:spPr>
          <a:xfrm>
            <a:off x="10424160" y="256032"/>
            <a:ext cx="1280160" cy="310896"/>
          </a:xfrm>
          <a:prstGeom prst="roundRect">
            <a:avLst>
              <a:gd name="adj" fmla="val 50000"/>
            </a:avLst>
          </a:prstGeom>
          <a:solidFill>
            <a:srgbClr val="D9A441"/>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1B2A38"/>
                </a:solidFill>
                <a:latin typeface="Calibri" pitchFamily="34" charset="0"/>
                <a:ea typeface="Calibri" pitchFamily="34" charset="-122"/>
                <a:cs typeface="Calibri" pitchFamily="34" charset="-120"/>
              </a:rPr>
              <a:t>WARM-UP</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30-Second Recap</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Complete the sentence: A writer organises a text to...</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make the article longer</a:t>
            </a:r>
            <a:endParaRPr lang="en-US" sz="260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1554480" y="3983302"/>
            <a:ext cx="3914828" cy="1577340"/>
          </a:xfrm>
          <a:prstGeom prst="rect">
            <a:avLst/>
          </a:prstGeom>
          <a:noFill/>
          <a:ln/>
        </p:spPr>
        <p:txBody>
          <a:bodyPr wrap="square" lIns="0" tIns="0" rIns="0" bIns="0" rtlCol="0" anchor="ctr"/>
          <a:lstStyle/>
          <a:p>
            <a:pPr marL="0" indent="0">
              <a:buNone/>
            </a:pPr>
            <a:r>
              <a:rPr lang="en-US" sz="2000" dirty="0">
                <a:solidFill>
                  <a:srgbClr val="1B2A38"/>
                </a:solidFill>
                <a:latin typeface="Calibri" pitchFamily="34" charset="0"/>
                <a:ea typeface="Calibri" pitchFamily="34" charset="-122"/>
                <a:cs typeface="Calibri" pitchFamily="34" charset="-120"/>
              </a:rPr>
              <a:t>help the reader follow and understand the ideas</a:t>
            </a:r>
            <a:endParaRPr lang="en-US" sz="200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7475220" y="2112627"/>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confuse the reader</a:t>
            </a:r>
            <a:endParaRPr lang="en-US" sz="260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use as many paragraphs as possible</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Choose quickly!</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WARM-UP</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WARM-UP</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C</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writer organises information so the reader can...</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follow the ideas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understand relationships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see development</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reach the final message</a:t>
            </a:r>
            <a:endParaRPr lang="en-US" sz="260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0674F"/>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C0674F"/>
                </a:solidFill>
                <a:latin typeface="Calibri" pitchFamily="34" charset="0"/>
                <a:ea typeface="Calibri" pitchFamily="34" charset="-122"/>
                <a:cs typeface="Calibri" pitchFamily="34" charset="-120"/>
              </a:rPr>
              <a:t>SESSION 2 · I DO · TEACHER MODELS</a:t>
            </a:r>
            <a:endParaRPr lang="en-US" sz="1100" dirty="0"/>
          </a:p>
        </p:txBody>
      </p:sp>
      <p:sp>
        <p:nvSpPr>
          <p:cNvPr id="4" name="Shape 2"/>
          <p:cNvSpPr/>
          <p:nvPr/>
        </p:nvSpPr>
        <p:spPr>
          <a:xfrm>
            <a:off x="10424160" y="256032"/>
            <a:ext cx="1280160" cy="310896"/>
          </a:xfrm>
          <a:prstGeom prst="roundRect">
            <a:avLst>
              <a:gd name="adj" fmla="val 50000"/>
            </a:avLst>
          </a:prstGeom>
          <a:solidFill>
            <a:srgbClr val="C0674F"/>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Put the Article Back Together</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Which order makes the most sense?</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7200900" y="2106602"/>
            <a:ext cx="4229100" cy="1577340"/>
          </a:xfrm>
          <a:prstGeom prst="rect">
            <a:avLst/>
          </a:prstGeom>
          <a:noFill/>
          <a:ln/>
        </p:spPr>
        <p:txBody>
          <a:bodyPr wrap="square" lIns="0" tIns="0" rIns="0" bIns="0" rtlCol="0" anchor="ctr"/>
          <a:lstStyle/>
          <a:p>
            <a:pPr marL="0" indent="0">
              <a:buNone/>
            </a:pPr>
            <a:r>
              <a:rPr lang="en-US" sz="2313" dirty="0">
                <a:solidFill>
                  <a:srgbClr val="1B2A38"/>
                </a:solidFill>
                <a:latin typeface="Calibri" pitchFamily="34" charset="0"/>
                <a:ea typeface="Calibri" pitchFamily="34" charset="-122"/>
                <a:cs typeface="Calibri" pitchFamily="34" charset="-120"/>
              </a:rPr>
              <a:t>Problems → Wider result → Original problem → First experiment → Development</a:t>
            </a:r>
            <a:endParaRPr lang="en-US" sz="2313"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1463040" y="2190608"/>
            <a:ext cx="4229100" cy="1577340"/>
          </a:xfrm>
          <a:prstGeom prst="rect">
            <a:avLst/>
          </a:prstGeom>
          <a:noFill/>
          <a:ln/>
        </p:spPr>
        <p:txBody>
          <a:bodyPr wrap="square" lIns="0" tIns="0" rIns="0" bIns="0" rtlCol="0" anchor="ctr"/>
          <a:lstStyle/>
          <a:p>
            <a:pPr marL="0" indent="0">
              <a:buNone/>
            </a:pPr>
            <a:r>
              <a:rPr lang="en-US" sz="2313" dirty="0">
                <a:solidFill>
                  <a:srgbClr val="1B2A38"/>
                </a:solidFill>
                <a:latin typeface="Calibri" pitchFamily="34" charset="0"/>
                <a:ea typeface="Calibri" pitchFamily="34" charset="-122"/>
                <a:cs typeface="Calibri" pitchFamily="34" charset="-120"/>
              </a:rPr>
              <a:t>Original problem → First experiment → Development → Problems → Wider result</a:t>
            </a:r>
            <a:endParaRPr lang="en-US" sz="2313"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313" dirty="0">
                <a:solidFill>
                  <a:srgbClr val="1B2A38"/>
                </a:solidFill>
                <a:latin typeface="Calibri" pitchFamily="34" charset="0"/>
                <a:ea typeface="Calibri" pitchFamily="34" charset="-122"/>
                <a:cs typeface="Calibri" pitchFamily="34" charset="-120"/>
              </a:rPr>
              <a:t>Wider result → Problems → First experiment → Development → Original problem</a:t>
            </a:r>
            <a:endParaRPr lang="en-US" sz="2313"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313" dirty="0">
                <a:solidFill>
                  <a:srgbClr val="1B2A38"/>
                </a:solidFill>
                <a:latin typeface="Calibri" pitchFamily="34" charset="0"/>
                <a:ea typeface="Calibri" pitchFamily="34" charset="-122"/>
                <a:cs typeface="Calibri" pitchFamily="34" charset="-120"/>
              </a:rPr>
              <a:t>Development → Original problem → Wider result → Problems → First experiment</a:t>
            </a:r>
            <a:endParaRPr lang="en-US" sz="2313"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STRUCTURE PUZZLE</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Structure puzzle</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I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A</a:t>
            </a:r>
            <a:endParaRPr lang="en-US" sz="3200" dirty="0"/>
          </a:p>
        </p:txBody>
      </p:sp>
      <p:sp>
        <p:nvSpPr>
          <p:cNvPr id="7" name="Shape 5"/>
          <p:cNvSpPr/>
          <p:nvPr/>
        </p:nvSpPr>
        <p:spPr>
          <a:xfrm>
            <a:off x="1216152" y="1463040"/>
            <a:ext cx="548640" cy="548640"/>
          </a:xfrm>
          <a:prstGeom prst="ellipse">
            <a:avLst/>
          </a:prstGeom>
          <a:solidFill>
            <a:srgbClr val="4E7D5B"/>
          </a:solidFill>
          <a:ln/>
        </p:spPr>
      </p:sp>
      <p:sp>
        <p:nvSpPr>
          <p:cNvPr id="8" name="Text 6"/>
          <p:cNvSpPr txBox="1"/>
          <p:nvPr/>
        </p:nvSpPr>
        <p:spPr>
          <a:xfrm>
            <a:off x="1216152"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2496312" y="3680460"/>
            <a:ext cx="283464" cy="274320"/>
          </a:xfrm>
          <a:prstGeom prst="rightArrow">
            <a:avLst/>
          </a:prstGeom>
          <a:solidFill>
            <a:srgbClr val="D9A441"/>
          </a:solidFill>
          <a:ln/>
        </p:spPr>
      </p:sp>
      <p:sp>
        <p:nvSpPr>
          <p:cNvPr id="10" name="Shape 8"/>
          <p:cNvSpPr/>
          <p:nvPr/>
        </p:nvSpPr>
        <p:spPr>
          <a:xfrm>
            <a:off x="548640"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1 · PROBLEM</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original problem</a:t>
            </a:r>
            <a:endParaRPr lang="en-US" sz="1400" dirty="0"/>
          </a:p>
        </p:txBody>
      </p:sp>
      <p:sp>
        <p:nvSpPr>
          <p:cNvPr id="13" name="Shape 11"/>
          <p:cNvSpPr/>
          <p:nvPr/>
        </p:nvSpPr>
        <p:spPr>
          <a:xfrm>
            <a:off x="3511296" y="1463040"/>
            <a:ext cx="548640" cy="548640"/>
          </a:xfrm>
          <a:prstGeom prst="ellipse">
            <a:avLst/>
          </a:prstGeom>
          <a:solidFill>
            <a:srgbClr val="4E7D5B"/>
          </a:solidFill>
          <a:ln/>
        </p:spPr>
      </p:sp>
      <p:sp>
        <p:nvSpPr>
          <p:cNvPr id="14" name="Text 12"/>
          <p:cNvSpPr txBox="1"/>
          <p:nvPr/>
        </p:nvSpPr>
        <p:spPr>
          <a:xfrm>
            <a:off x="3511296"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4791456" y="3680460"/>
            <a:ext cx="283464" cy="274320"/>
          </a:xfrm>
          <a:prstGeom prst="rightArrow">
            <a:avLst/>
          </a:prstGeom>
          <a:solidFill>
            <a:srgbClr val="D9A441"/>
          </a:solidFill>
          <a:ln/>
        </p:spPr>
      </p:sp>
      <p:sp>
        <p:nvSpPr>
          <p:cNvPr id="16" name="Shape 14"/>
          <p:cNvSpPr/>
          <p:nvPr/>
        </p:nvSpPr>
        <p:spPr>
          <a:xfrm>
            <a:off x="2843784"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2843784" y="2286000"/>
            <a:ext cx="64008" cy="3063240"/>
          </a:xfrm>
          <a:prstGeom prst="rect">
            <a:avLst/>
          </a:prstGeom>
          <a:solidFill>
            <a:srgbClr val="4E7D5B"/>
          </a:solidFill>
          <a:ln/>
        </p:spPr>
      </p:sp>
      <p:sp>
        <p:nvSpPr>
          <p:cNvPr id="18" name="Text 16"/>
          <p:cNvSpPr txBox="1"/>
          <p:nvPr/>
        </p:nvSpPr>
        <p:spPr>
          <a:xfrm>
            <a:off x="3072384"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2 · FIRST EXPERIMENT</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van in the park</a:t>
            </a:r>
            <a:endParaRPr lang="en-US" sz="1400" dirty="0"/>
          </a:p>
        </p:txBody>
      </p:sp>
      <p:sp>
        <p:nvSpPr>
          <p:cNvPr id="19" name="Shape 17"/>
          <p:cNvSpPr/>
          <p:nvPr/>
        </p:nvSpPr>
        <p:spPr>
          <a:xfrm>
            <a:off x="5806440" y="1463040"/>
            <a:ext cx="548640" cy="548640"/>
          </a:xfrm>
          <a:prstGeom prst="ellipse">
            <a:avLst/>
          </a:prstGeom>
          <a:solidFill>
            <a:srgbClr val="4E7D5B"/>
          </a:solidFill>
          <a:ln/>
        </p:spPr>
      </p:sp>
      <p:sp>
        <p:nvSpPr>
          <p:cNvPr id="20" name="Text 18"/>
          <p:cNvSpPr txBox="1"/>
          <p:nvPr/>
        </p:nvSpPr>
        <p:spPr>
          <a:xfrm>
            <a:off x="580644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7086600" y="3680460"/>
            <a:ext cx="283464" cy="274320"/>
          </a:xfrm>
          <a:prstGeom prst="rightArrow">
            <a:avLst/>
          </a:prstGeom>
          <a:solidFill>
            <a:srgbClr val="D9A441"/>
          </a:solidFill>
          <a:ln/>
        </p:spPr>
      </p:sp>
      <p:sp>
        <p:nvSpPr>
          <p:cNvPr id="22" name="Shape 20"/>
          <p:cNvSpPr/>
          <p:nvPr/>
        </p:nvSpPr>
        <p:spPr>
          <a:xfrm>
            <a:off x="5138928"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3" name="Shape 21"/>
          <p:cNvSpPr/>
          <p:nvPr/>
        </p:nvSpPr>
        <p:spPr>
          <a:xfrm>
            <a:off x="5138928" y="2286000"/>
            <a:ext cx="64008" cy="3063240"/>
          </a:xfrm>
          <a:prstGeom prst="rect">
            <a:avLst/>
          </a:prstGeom>
          <a:solidFill>
            <a:srgbClr val="4E7D5B"/>
          </a:solidFill>
          <a:ln/>
        </p:spPr>
      </p:sp>
      <p:sp>
        <p:nvSpPr>
          <p:cNvPr id="24" name="Text 22"/>
          <p:cNvSpPr txBox="1"/>
          <p:nvPr/>
        </p:nvSpPr>
        <p:spPr>
          <a:xfrm>
            <a:off x="5367528"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3 · DEVELOPMENT</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More than books</a:t>
            </a:r>
            <a:endParaRPr lang="en-US" sz="1400" dirty="0"/>
          </a:p>
        </p:txBody>
      </p:sp>
      <p:sp>
        <p:nvSpPr>
          <p:cNvPr id="25" name="Shape 23"/>
          <p:cNvSpPr/>
          <p:nvPr/>
        </p:nvSpPr>
        <p:spPr>
          <a:xfrm>
            <a:off x="8101584" y="1463040"/>
            <a:ext cx="548640" cy="548640"/>
          </a:xfrm>
          <a:prstGeom prst="ellipse">
            <a:avLst/>
          </a:prstGeom>
          <a:solidFill>
            <a:srgbClr val="4E7D5B"/>
          </a:solidFill>
          <a:ln/>
        </p:spPr>
      </p:sp>
      <p:sp>
        <p:nvSpPr>
          <p:cNvPr id="26" name="Text 24"/>
          <p:cNvSpPr txBox="1"/>
          <p:nvPr/>
        </p:nvSpPr>
        <p:spPr>
          <a:xfrm>
            <a:off x="8101584"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9381744" y="3680460"/>
            <a:ext cx="283464" cy="274320"/>
          </a:xfrm>
          <a:prstGeom prst="rightArrow">
            <a:avLst/>
          </a:prstGeom>
          <a:solidFill>
            <a:srgbClr val="D9A441"/>
          </a:solidFill>
          <a:ln/>
        </p:spPr>
      </p:sp>
      <p:sp>
        <p:nvSpPr>
          <p:cNvPr id="28" name="Shape 26"/>
          <p:cNvSpPr/>
          <p:nvPr/>
        </p:nvSpPr>
        <p:spPr>
          <a:xfrm>
            <a:off x="7434072"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9" name="Shape 27"/>
          <p:cNvSpPr/>
          <p:nvPr/>
        </p:nvSpPr>
        <p:spPr>
          <a:xfrm>
            <a:off x="7434072" y="2286000"/>
            <a:ext cx="64008" cy="3063240"/>
          </a:xfrm>
          <a:prstGeom prst="rect">
            <a:avLst/>
          </a:prstGeom>
          <a:solidFill>
            <a:srgbClr val="4E7D5B"/>
          </a:solidFill>
          <a:ln/>
        </p:spPr>
      </p:sp>
      <p:sp>
        <p:nvSpPr>
          <p:cNvPr id="30" name="Text 28"/>
          <p:cNvSpPr txBox="1"/>
          <p:nvPr/>
        </p:nvSpPr>
        <p:spPr>
          <a:xfrm>
            <a:off x="7662672"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4 · PROBLEMS + ADJUSTMENTS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Challenges and changes</a:t>
            </a:r>
            <a:endParaRPr lang="en-US" sz="1400" dirty="0"/>
          </a:p>
        </p:txBody>
      </p:sp>
      <p:sp>
        <p:nvSpPr>
          <p:cNvPr id="31" name="Shape 29"/>
          <p:cNvSpPr/>
          <p:nvPr/>
        </p:nvSpPr>
        <p:spPr>
          <a:xfrm>
            <a:off x="10396728" y="1463040"/>
            <a:ext cx="548640" cy="548640"/>
          </a:xfrm>
          <a:prstGeom prst="ellipse">
            <a:avLst/>
          </a:prstGeom>
          <a:solidFill>
            <a:srgbClr val="4E7D5B"/>
          </a:solidFill>
          <a:ln/>
        </p:spPr>
      </p:sp>
      <p:sp>
        <p:nvSpPr>
          <p:cNvPr id="32" name="Text 30"/>
          <p:cNvSpPr txBox="1"/>
          <p:nvPr/>
        </p:nvSpPr>
        <p:spPr>
          <a:xfrm>
            <a:off x="10396728"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3" name="Shape 31"/>
          <p:cNvSpPr/>
          <p:nvPr/>
        </p:nvSpPr>
        <p:spPr>
          <a:xfrm>
            <a:off x="9729216"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34" name="Shape 32"/>
          <p:cNvSpPr/>
          <p:nvPr/>
        </p:nvSpPr>
        <p:spPr>
          <a:xfrm>
            <a:off x="9729216" y="2286000"/>
            <a:ext cx="64008" cy="3063240"/>
          </a:xfrm>
          <a:prstGeom prst="rect">
            <a:avLst/>
          </a:prstGeom>
          <a:solidFill>
            <a:srgbClr val="4E7D5B"/>
          </a:solidFill>
          <a:ln/>
        </p:spPr>
      </p:sp>
      <p:sp>
        <p:nvSpPr>
          <p:cNvPr id="35" name="Text 33"/>
          <p:cNvSpPr txBox="1"/>
          <p:nvPr/>
        </p:nvSpPr>
        <p:spPr>
          <a:xfrm>
            <a:off x="9957816"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5 · WIDER RESULT</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A service that reaches people</a:t>
            </a:r>
            <a:endParaRPr lang="en-US" sz="1400" dirty="0"/>
          </a:p>
        </p:txBody>
      </p:sp>
      <p:sp>
        <p:nvSpPr>
          <p:cNvPr id="36" name="Text 3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DETECTIVE TIP</a:t>
            </a:r>
            <a:endParaRPr lang="en-US" sz="1100" dirty="0"/>
          </a:p>
        </p:txBody>
      </p:sp>
      <p:sp>
        <p:nvSpPr>
          <p:cNvPr id="37" name="Text 3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Why? It gives the reader a logical journey.</a:t>
            </a:r>
            <a:endParaRPr lang="en-US" sz="1600" dirty="0"/>
          </a:p>
        </p:txBody>
      </p:sp>
      <p:sp>
        <p:nvSpPr>
          <p:cNvPr id="38" name="Text 3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39" name="Text 3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40" name="Text 3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Why Part 4?</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Why does the writer introduce the problems </a:t>
            </a:r>
            <a:r>
              <a:rPr lang="en-US" sz="2000" b="1" dirty="0">
                <a:solidFill>
                  <a:srgbClr val="C0674F"/>
                </a:solidFill>
                <a:latin typeface="Calibri" pitchFamily="34" charset="0"/>
                <a:ea typeface="Calibri" pitchFamily="34" charset="-122"/>
                <a:cs typeface="Calibri" pitchFamily="34" charset="-120"/>
              </a:rPr>
              <a:t>after</a:t>
            </a:r>
            <a:r>
              <a:rPr lang="en-US" sz="2000" dirty="0">
                <a:solidFill>
                  <a:srgbClr val="1B2A38"/>
                </a:solidFill>
                <a:latin typeface="Calibri" pitchFamily="34" charset="0"/>
                <a:ea typeface="Calibri" pitchFamily="34" charset="-122"/>
                <a:cs typeface="Calibri" pitchFamily="34" charset="-120"/>
              </a:rPr>
              <a:t> showing how the service developed?</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450" dirty="0">
                <a:solidFill>
                  <a:srgbClr val="1B2A38"/>
                </a:solidFill>
                <a:latin typeface="Calibri" pitchFamily="34" charset="0"/>
                <a:ea typeface="Calibri" pitchFamily="34" charset="-122"/>
                <a:cs typeface="Calibri" pitchFamily="34" charset="-120"/>
              </a:rPr>
              <a:t>To make the article suddenly negative.</a:t>
            </a:r>
            <a:endParaRPr lang="en-US" sz="245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1483763" y="4137660"/>
            <a:ext cx="4229100" cy="1577340"/>
          </a:xfrm>
          <a:prstGeom prst="rect">
            <a:avLst/>
          </a:prstGeom>
          <a:noFill/>
          <a:ln/>
        </p:spPr>
        <p:txBody>
          <a:bodyPr wrap="square" lIns="0" tIns="0" rIns="0" bIns="0" rtlCol="0" anchor="ctr"/>
          <a:lstStyle/>
          <a:p>
            <a:pPr marL="0" indent="0">
              <a:buNone/>
            </a:pPr>
            <a:r>
              <a:rPr lang="en-US" sz="2450" dirty="0">
                <a:solidFill>
                  <a:srgbClr val="1B2A38"/>
                </a:solidFill>
                <a:latin typeface="Calibri" pitchFamily="34" charset="0"/>
                <a:ea typeface="Calibri" pitchFamily="34" charset="-122"/>
                <a:cs typeface="Calibri" pitchFamily="34" charset="-120"/>
              </a:rPr>
              <a:t>To show that real projects face challenges and require adaptation.</a:t>
            </a:r>
            <a:endParaRPr lang="en-US" sz="245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7114908" y="2148840"/>
            <a:ext cx="4229100" cy="1577340"/>
          </a:xfrm>
          <a:prstGeom prst="rect">
            <a:avLst/>
          </a:prstGeom>
          <a:noFill/>
          <a:ln/>
        </p:spPr>
        <p:txBody>
          <a:bodyPr wrap="square" lIns="0" tIns="0" rIns="0" bIns="0" rtlCol="0" anchor="ctr"/>
          <a:lstStyle/>
          <a:p>
            <a:pPr marL="0" indent="0">
              <a:buNone/>
            </a:pPr>
            <a:r>
              <a:rPr lang="en-US" sz="2450" dirty="0">
                <a:solidFill>
                  <a:srgbClr val="1B2A38"/>
                </a:solidFill>
                <a:latin typeface="Calibri" pitchFamily="34" charset="0"/>
                <a:ea typeface="Calibri" pitchFamily="34" charset="-122"/>
                <a:cs typeface="Calibri" pitchFamily="34" charset="-120"/>
              </a:rPr>
              <a:t>To repeat information from Part 1.</a:t>
            </a:r>
            <a:endParaRPr lang="en-US" sz="245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450" dirty="0">
                <a:solidFill>
                  <a:srgbClr val="1B2A38"/>
                </a:solidFill>
                <a:latin typeface="Calibri" pitchFamily="34" charset="0"/>
                <a:ea typeface="Calibri" pitchFamily="34" charset="-122"/>
                <a:cs typeface="Calibri" pitchFamily="34" charset="-120"/>
              </a:rPr>
              <a:t>To change the subject.</a:t>
            </a:r>
            <a:endParaRPr lang="en-US" sz="245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STRUCTURE CHALLENGE</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Structure challenge</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C</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writer first shows the development of the project. Then the problems show...</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Real success does not mean everything is easy.</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team...</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faces problems → adapts → improves the service.</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That makes the article more realistic.</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Think Deeper</a:t>
            </a:r>
            <a:endParaRPr lang="en-US" sz="3200" dirty="0"/>
          </a:p>
        </p:txBody>
      </p:sp>
      <p:sp>
        <p:nvSpPr>
          <p:cNvPr id="7" name="Shape 5"/>
          <p:cNvSpPr/>
          <p:nvPr/>
        </p:nvSpPr>
        <p:spPr>
          <a:xfrm>
            <a:off x="1503045" y="1463040"/>
            <a:ext cx="548640" cy="548640"/>
          </a:xfrm>
          <a:prstGeom prst="ellipse">
            <a:avLst/>
          </a:prstGeom>
          <a:solidFill>
            <a:srgbClr val="4E7D5B"/>
          </a:solidFill>
          <a:ln/>
        </p:spPr>
      </p:sp>
      <p:sp>
        <p:nvSpPr>
          <p:cNvPr id="8" name="Text 6"/>
          <p:cNvSpPr txBox="1"/>
          <p:nvPr/>
        </p:nvSpPr>
        <p:spPr>
          <a:xfrm>
            <a:off x="1503045"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3070098" y="3680460"/>
            <a:ext cx="283464" cy="274320"/>
          </a:xfrm>
          <a:prstGeom prst="rightArrow">
            <a:avLst/>
          </a:prstGeom>
          <a:solidFill>
            <a:srgbClr val="D9A441"/>
          </a:solidFill>
          <a:ln/>
        </p:spPr>
      </p:sp>
      <p:sp>
        <p:nvSpPr>
          <p:cNvPr id="10" name="Shape 8"/>
          <p:cNvSpPr/>
          <p:nvPr/>
        </p:nvSpPr>
        <p:spPr>
          <a:xfrm>
            <a:off x="54864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PROBLEM</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Original problem</a:t>
            </a:r>
            <a:endParaRPr lang="en-US" sz="1400" dirty="0"/>
          </a:p>
        </p:txBody>
      </p:sp>
      <p:sp>
        <p:nvSpPr>
          <p:cNvPr id="13" name="Shape 11"/>
          <p:cNvSpPr/>
          <p:nvPr/>
        </p:nvSpPr>
        <p:spPr>
          <a:xfrm>
            <a:off x="4371975" y="1463040"/>
            <a:ext cx="548640" cy="548640"/>
          </a:xfrm>
          <a:prstGeom prst="ellipse">
            <a:avLst/>
          </a:prstGeom>
          <a:solidFill>
            <a:srgbClr val="4F7CA0"/>
          </a:solidFill>
          <a:ln/>
        </p:spPr>
      </p:sp>
      <p:sp>
        <p:nvSpPr>
          <p:cNvPr id="14" name="Text 12"/>
          <p:cNvSpPr txBox="1"/>
          <p:nvPr/>
        </p:nvSpPr>
        <p:spPr>
          <a:xfrm>
            <a:off x="4371975"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5939028" y="3680460"/>
            <a:ext cx="283464" cy="274320"/>
          </a:xfrm>
          <a:prstGeom prst="rightArrow">
            <a:avLst/>
          </a:prstGeom>
          <a:solidFill>
            <a:srgbClr val="D9A441"/>
          </a:solidFill>
          <a:ln/>
        </p:spPr>
      </p:sp>
      <p:sp>
        <p:nvSpPr>
          <p:cNvPr id="16" name="Shape 14"/>
          <p:cNvSpPr/>
          <p:nvPr/>
        </p:nvSpPr>
        <p:spPr>
          <a:xfrm>
            <a:off x="341757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3417570" y="2286000"/>
            <a:ext cx="64008" cy="3063240"/>
          </a:xfrm>
          <a:prstGeom prst="rect">
            <a:avLst/>
          </a:prstGeom>
          <a:solidFill>
            <a:srgbClr val="4F7CA0"/>
          </a:solidFill>
          <a:ln/>
        </p:spPr>
      </p:sp>
      <p:sp>
        <p:nvSpPr>
          <p:cNvPr id="18" name="Text 16"/>
          <p:cNvSpPr txBox="1"/>
          <p:nvPr/>
        </p:nvSpPr>
        <p:spPr>
          <a:xfrm>
            <a:off x="364617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FIRST EXPERIMENT</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van in the park</a:t>
            </a:r>
            <a:endParaRPr lang="en-US" sz="1400" dirty="0"/>
          </a:p>
        </p:txBody>
      </p:sp>
      <p:sp>
        <p:nvSpPr>
          <p:cNvPr id="19" name="Shape 17"/>
          <p:cNvSpPr/>
          <p:nvPr/>
        </p:nvSpPr>
        <p:spPr>
          <a:xfrm>
            <a:off x="7240905" y="1463040"/>
            <a:ext cx="548640" cy="548640"/>
          </a:xfrm>
          <a:prstGeom prst="ellipse">
            <a:avLst/>
          </a:prstGeom>
          <a:solidFill>
            <a:srgbClr val="C0674F"/>
          </a:solidFill>
          <a:ln/>
        </p:spPr>
      </p:sp>
      <p:sp>
        <p:nvSpPr>
          <p:cNvPr id="20" name="Text 18"/>
          <p:cNvSpPr txBox="1"/>
          <p:nvPr/>
        </p:nvSpPr>
        <p:spPr>
          <a:xfrm>
            <a:off x="7240905"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8807958" y="3680460"/>
            <a:ext cx="283464" cy="274320"/>
          </a:xfrm>
          <a:prstGeom prst="rightArrow">
            <a:avLst/>
          </a:prstGeom>
          <a:solidFill>
            <a:srgbClr val="D9A441"/>
          </a:solidFill>
          <a:ln/>
        </p:spPr>
      </p:sp>
      <p:sp>
        <p:nvSpPr>
          <p:cNvPr id="22" name="Shape 20"/>
          <p:cNvSpPr/>
          <p:nvPr/>
        </p:nvSpPr>
        <p:spPr>
          <a:xfrm>
            <a:off x="628650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23" name="Shape 21"/>
          <p:cNvSpPr/>
          <p:nvPr/>
        </p:nvSpPr>
        <p:spPr>
          <a:xfrm>
            <a:off x="6286500" y="2286000"/>
            <a:ext cx="64008" cy="3063240"/>
          </a:xfrm>
          <a:prstGeom prst="rect">
            <a:avLst/>
          </a:prstGeom>
          <a:solidFill>
            <a:srgbClr val="C0674F"/>
          </a:solidFill>
          <a:ln/>
        </p:spPr>
      </p:sp>
      <p:sp>
        <p:nvSpPr>
          <p:cNvPr id="24" name="Text 22"/>
          <p:cNvSpPr txBox="1"/>
          <p:nvPr/>
        </p:nvSpPr>
        <p:spPr>
          <a:xfrm>
            <a:off x="651510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DEVELOPMENT</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More than books</a:t>
            </a:r>
            <a:endParaRPr lang="en-US" sz="1400" dirty="0"/>
          </a:p>
        </p:txBody>
      </p:sp>
      <p:sp>
        <p:nvSpPr>
          <p:cNvPr id="25" name="Shape 23"/>
          <p:cNvSpPr/>
          <p:nvPr/>
        </p:nvSpPr>
        <p:spPr>
          <a:xfrm>
            <a:off x="10109835" y="1463040"/>
            <a:ext cx="548640" cy="548640"/>
          </a:xfrm>
          <a:prstGeom prst="ellipse">
            <a:avLst/>
          </a:prstGeom>
          <a:solidFill>
            <a:srgbClr val="D9A441"/>
          </a:solidFill>
          <a:ln/>
        </p:spPr>
      </p:sp>
      <p:sp>
        <p:nvSpPr>
          <p:cNvPr id="26" name="Text 24"/>
          <p:cNvSpPr txBox="1"/>
          <p:nvPr/>
        </p:nvSpPr>
        <p:spPr>
          <a:xfrm>
            <a:off x="10109835" y="1463040"/>
            <a:ext cx="548640" cy="548640"/>
          </a:xfrm>
          <a:prstGeom prst="rect">
            <a:avLst/>
          </a:prstGeom>
          <a:noFill/>
          <a:ln/>
        </p:spPr>
        <p:txBody>
          <a:bodyPr wrap="square" lIns="0" tIns="0" rIns="0" bIns="0" rtlCol="0" anchor="ctr"/>
          <a:lstStyle/>
          <a:p>
            <a:pPr marL="0" indent="0" algn="ctr">
              <a:buNone/>
            </a:pPr>
            <a:r>
              <a:rPr lang="en-US" sz="2200" b="1" dirty="0">
                <a:solidFill>
                  <a:srgbClr val="1B2A38"/>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9155430" y="2148840"/>
            <a:ext cx="2457450" cy="3337560"/>
          </a:xfrm>
          <a:prstGeom prst="roundRect">
            <a:avLst>
              <a:gd name="adj" fmla="val 4465"/>
            </a:avLst>
          </a:prstGeom>
          <a:solidFill>
            <a:srgbClr val="FFFFFF"/>
          </a:solidFill>
          <a:ln/>
          <a:effectLst>
            <a:outerShdw blurRad="76200" dist="25400" dir="5400000" algn="bl" rotWithShape="0">
              <a:srgbClr val="000000">
                <a:alpha val="14000"/>
              </a:srgbClr>
            </a:outerShdw>
          </a:effectLst>
        </p:spPr>
      </p:sp>
      <p:sp>
        <p:nvSpPr>
          <p:cNvPr id="28" name="Shape 26"/>
          <p:cNvSpPr/>
          <p:nvPr/>
        </p:nvSpPr>
        <p:spPr>
          <a:xfrm>
            <a:off x="9155430" y="2286000"/>
            <a:ext cx="64008" cy="3063240"/>
          </a:xfrm>
          <a:prstGeom prst="rect">
            <a:avLst/>
          </a:prstGeom>
          <a:solidFill>
            <a:srgbClr val="D9A441"/>
          </a:solidFill>
          <a:ln/>
        </p:spPr>
      </p:sp>
      <p:sp>
        <p:nvSpPr>
          <p:cNvPr id="29" name="Text 27"/>
          <p:cNvSpPr txBox="1"/>
          <p:nvPr/>
        </p:nvSpPr>
        <p:spPr>
          <a:xfrm>
            <a:off x="9384030" y="2148840"/>
            <a:ext cx="209169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9A6F12"/>
                </a:solidFill>
                <a:latin typeface="Calibri" pitchFamily="34" charset="0"/>
                <a:ea typeface="Calibri" pitchFamily="34" charset="-122"/>
                <a:cs typeface="Calibri" pitchFamily="34" charset="-120"/>
              </a:rPr>
              <a:t>FINAL SUCCESS</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A wider reach</a:t>
            </a:r>
            <a:endParaRPr lang="en-US" sz="1400" dirty="0"/>
          </a:p>
        </p:txBody>
      </p:sp>
      <p:sp>
        <p:nvSpPr>
          <p:cNvPr id="30" name="Text 28"/>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TURN AND TALK</a:t>
            </a:r>
            <a:endParaRPr lang="en-US" sz="1100" dirty="0"/>
          </a:p>
        </p:txBody>
      </p:sp>
      <p:sp>
        <p:nvSpPr>
          <p:cNvPr id="31" name="Text 29"/>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Imagine the writer removed Part 4. What would we lose?</a:t>
            </a:r>
            <a:endParaRPr lang="en-US" sz="2400" dirty="0"/>
          </a:p>
        </p:txBody>
      </p:sp>
      <p:sp>
        <p:nvSpPr>
          <p:cNvPr id="32" name="Text 30"/>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TEAMWORK</a:t>
            </a:r>
            <a:endParaRPr lang="en-US" sz="1200" dirty="0"/>
          </a:p>
        </p:txBody>
      </p:sp>
      <p:sp>
        <p:nvSpPr>
          <p:cNvPr id="33" name="Text 31"/>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34" name="Text 32"/>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We Would Lose...</a:t>
            </a:r>
            <a:endParaRPr lang="en-US" sz="3200" dirty="0"/>
          </a:p>
        </p:txBody>
      </p:sp>
      <p:sp>
        <p:nvSpPr>
          <p:cNvPr id="7" name="Shape 5"/>
          <p:cNvSpPr/>
          <p:nvPr/>
        </p:nvSpPr>
        <p:spPr>
          <a:xfrm>
            <a:off x="365760" y="1463040"/>
            <a:ext cx="560070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reader would not understand...</a:t>
            </a:r>
            <a:endParaRPr lang="en-US" sz="1600" dirty="0"/>
          </a:p>
        </p:txBody>
      </p:sp>
      <p:sp>
        <p:nvSpPr>
          <p:cNvPr id="10" name="Text 8"/>
          <p:cNvSpPr txBox="1"/>
          <p:nvPr/>
        </p:nvSpPr>
        <p:spPr>
          <a:xfrm>
            <a:off x="388620" y="2286000"/>
            <a:ext cx="564642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what difficulties the team faced</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how the team adapted</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that the project required problem-solving</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that success was not automatic</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Structure matters</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Every section should </a:t>
            </a:r>
            <a:r>
              <a:rPr lang="en-US" sz="2600" b="1" dirty="0">
                <a:solidFill>
                  <a:srgbClr val="C0674F"/>
                </a:solidFill>
                <a:latin typeface="Calibri" pitchFamily="34" charset="0"/>
                <a:ea typeface="Calibri" pitchFamily="34" charset="-122"/>
                <a:cs typeface="Calibri" pitchFamily="34" charset="-120"/>
              </a:rPr>
              <a:t>do a job</a:t>
            </a:r>
            <a:r>
              <a:rPr lang="en-US" sz="2600" dirty="0">
                <a:solidFill>
                  <a:srgbClr val="1B2A38"/>
                </a:solidFill>
                <a:latin typeface="Calibri" pitchFamily="34" charset="0"/>
                <a:ea typeface="Calibri" pitchFamily="34" charset="-122"/>
                <a:cs typeface="Calibri" pitchFamily="34" charset="-120"/>
              </a:rPr>
              <a:t>.</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Who Is This Article For?</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The article explains clearly ✔ uses familiar examples ✔ explains difficult ideas ✔ gives practical details ✔ avoids highly technical language ✔ presents success and problems. Who is the likely audience?</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Engineers designing library vans</a:t>
            </a:r>
            <a:endParaRPr lang="en-US" sz="260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7173468" y="410337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General readers and community members</a:t>
            </a:r>
            <a:endParaRPr lang="en-US" sz="260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Professional librarians only</a:t>
            </a:r>
            <a:endParaRPr lang="en-US" sz="260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31380" y="221742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Scientists studying transportation</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Purpose and audience</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D</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explains the project in a clear, accessible way.</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article is designed for </a:t>
            </a:r>
            <a:r>
              <a:rPr lang="en-US" sz="2600" b="1" dirty="0">
                <a:solidFill>
                  <a:srgbClr val="C0674F"/>
                </a:solidFill>
                <a:latin typeface="Calibri" pitchFamily="34" charset="0"/>
                <a:ea typeface="Calibri" pitchFamily="34" charset="-122"/>
                <a:cs typeface="Calibri" pitchFamily="34" charset="-120"/>
              </a:rPr>
              <a:t>general readers</a:t>
            </a:r>
            <a:r>
              <a:rPr lang="en-US" sz="2600" dirty="0">
                <a:solidFill>
                  <a:srgbClr val="1B2A38"/>
                </a:solidFill>
                <a:latin typeface="Calibri" pitchFamily="34" charset="0"/>
                <a:ea typeface="Calibri" pitchFamily="34" charset="-122"/>
                <a:cs typeface="Calibri" pitchFamily="34" charset="-120"/>
              </a:rPr>
              <a:t>, including students, families and community members.</a:t>
            </a:r>
            <a:endParaRPr lang="en-US" sz="260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Prove It!</a:t>
            </a:r>
            <a:endParaRPr lang="en-US" sz="3200" dirty="0"/>
          </a:p>
        </p:txBody>
      </p:sp>
      <p:sp>
        <p:nvSpPr>
          <p:cNvPr id="7" name="Shape 5"/>
          <p:cNvSpPr/>
          <p:nvPr/>
        </p:nvSpPr>
        <p:spPr>
          <a:xfrm rot="-120000">
            <a:off x="548640" y="1463040"/>
            <a:ext cx="2594610" cy="402336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1745361" y="1371600"/>
            <a:ext cx="201168" cy="201168"/>
          </a:xfrm>
          <a:prstGeom prst="ellipse">
            <a:avLst/>
          </a:prstGeom>
          <a:solidFill>
            <a:srgbClr val="C0674F"/>
          </a:solidFill>
          <a:ln/>
        </p:spPr>
      </p:sp>
      <p:sp>
        <p:nvSpPr>
          <p:cNvPr id="9" name="Text 7"/>
          <p:cNvSpPr txBox="1"/>
          <p:nvPr/>
        </p:nvSpPr>
        <p:spPr>
          <a:xfrm rot="-120000">
            <a:off x="68580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1</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Some people could not easily use the main library.</a:t>
            </a:r>
            <a:endParaRPr lang="en-US" sz="1700" dirty="0"/>
          </a:p>
        </p:txBody>
      </p:sp>
      <p:sp>
        <p:nvSpPr>
          <p:cNvPr id="10" name="Shape 8"/>
          <p:cNvSpPr/>
          <p:nvPr/>
        </p:nvSpPr>
        <p:spPr>
          <a:xfrm rot="90000">
            <a:off x="3371850" y="1463040"/>
            <a:ext cx="2594610" cy="402336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4568571" y="1371600"/>
            <a:ext cx="201168" cy="201168"/>
          </a:xfrm>
          <a:prstGeom prst="ellipse">
            <a:avLst/>
          </a:prstGeom>
          <a:solidFill>
            <a:srgbClr val="C0674F"/>
          </a:solidFill>
          <a:ln/>
        </p:spPr>
      </p:sp>
      <p:sp>
        <p:nvSpPr>
          <p:cNvPr id="12" name="Text 10"/>
          <p:cNvSpPr txBox="1"/>
          <p:nvPr/>
        </p:nvSpPr>
        <p:spPr>
          <a:xfrm rot="90000">
            <a:off x="350901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2</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mobile service did not replace the main library.</a:t>
            </a:r>
            <a:endParaRPr lang="en-US" sz="1700" dirty="0"/>
          </a:p>
        </p:txBody>
      </p:sp>
      <p:sp>
        <p:nvSpPr>
          <p:cNvPr id="13" name="Shape 11"/>
          <p:cNvSpPr/>
          <p:nvPr/>
        </p:nvSpPr>
        <p:spPr>
          <a:xfrm rot="-60000">
            <a:off x="6195060" y="1463040"/>
            <a:ext cx="2594610" cy="402336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7391781" y="1371600"/>
            <a:ext cx="201168" cy="201168"/>
          </a:xfrm>
          <a:prstGeom prst="ellipse">
            <a:avLst/>
          </a:prstGeom>
          <a:solidFill>
            <a:srgbClr val="C0674F"/>
          </a:solidFill>
          <a:ln/>
        </p:spPr>
      </p:sp>
      <p:sp>
        <p:nvSpPr>
          <p:cNvPr id="15" name="Text 13"/>
          <p:cNvSpPr txBox="1"/>
          <p:nvPr/>
        </p:nvSpPr>
        <p:spPr>
          <a:xfrm rot="-60000">
            <a:off x="633222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3</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team adapted when problems appeared.</a:t>
            </a:r>
            <a:endParaRPr lang="en-US" sz="1700" dirty="0"/>
          </a:p>
        </p:txBody>
      </p:sp>
      <p:sp>
        <p:nvSpPr>
          <p:cNvPr id="16" name="Shape 14"/>
          <p:cNvSpPr/>
          <p:nvPr/>
        </p:nvSpPr>
        <p:spPr>
          <a:xfrm rot="120000">
            <a:off x="9018270" y="1463040"/>
            <a:ext cx="2594610" cy="4023360"/>
          </a:xfrm>
          <a:prstGeom prst="rect">
            <a:avLst/>
          </a:prstGeom>
          <a:solidFill>
            <a:srgbClr val="D3E4F4"/>
          </a:solidFill>
          <a:ln/>
          <a:effectLst>
            <a:outerShdw blurRad="76200" dist="25400" dir="5400000" algn="bl" rotWithShape="0">
              <a:srgbClr val="000000">
                <a:alpha val="14000"/>
              </a:srgbClr>
            </a:outerShdw>
          </a:effectLst>
        </p:spPr>
      </p:sp>
      <p:sp>
        <p:nvSpPr>
          <p:cNvPr id="17" name="Shape 15"/>
          <p:cNvSpPr/>
          <p:nvPr/>
        </p:nvSpPr>
        <p:spPr>
          <a:xfrm>
            <a:off x="10214991" y="1371600"/>
            <a:ext cx="201168" cy="201168"/>
          </a:xfrm>
          <a:prstGeom prst="ellipse">
            <a:avLst/>
          </a:prstGeom>
          <a:solidFill>
            <a:srgbClr val="C0674F"/>
          </a:solidFill>
          <a:ln/>
        </p:spPr>
      </p:sp>
      <p:sp>
        <p:nvSpPr>
          <p:cNvPr id="18" name="Text 16"/>
          <p:cNvSpPr txBox="1"/>
          <p:nvPr/>
        </p:nvSpPr>
        <p:spPr>
          <a:xfrm rot="120000">
            <a:off x="915543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4</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project changed the community's idea of a library.</a:t>
            </a:r>
            <a:endParaRPr lang="en-US" sz="1700"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RULE</a:t>
            </a:r>
            <a:endParaRPr lang="en-US" sz="1100" dirty="0"/>
          </a:p>
        </p:txBody>
      </p:sp>
      <p:sp>
        <p:nvSpPr>
          <p:cNvPr id="20" name="Text 18"/>
          <p:cNvSpPr txBox="1"/>
          <p:nvPr/>
        </p:nvSpPr>
        <p:spPr>
          <a:xfrm>
            <a:off x="2920952" y="5689221"/>
            <a:ext cx="7589520"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Find evidence from the article for each statement. </a:t>
            </a:r>
          </a:p>
          <a:p>
            <a:pPr marL="0" indent="0">
              <a:buNone/>
            </a:pPr>
            <a:r>
              <a:rPr lang="en-US" sz="2400" b="1" dirty="0">
                <a:solidFill>
                  <a:srgbClr val="1B2A38"/>
                </a:solidFill>
                <a:latin typeface="Calibri" pitchFamily="34" charset="0"/>
                <a:ea typeface="Calibri" pitchFamily="34" charset="-122"/>
                <a:cs typeface="Calibri" pitchFamily="34" charset="-120"/>
              </a:rPr>
              <a:t>No evidence = no marks.</a:t>
            </a:r>
            <a:endParaRPr lang="en-US" sz="24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YOU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Possible Evidence</a:t>
            </a:r>
            <a:endParaRPr lang="en-US" sz="3200" dirty="0"/>
          </a:p>
        </p:txBody>
      </p:sp>
      <p:sp>
        <p:nvSpPr>
          <p:cNvPr id="7" name="Shape 5"/>
          <p:cNvSpPr/>
          <p:nvPr/>
        </p:nvSpPr>
        <p:spPr>
          <a:xfrm>
            <a:off x="548640" y="146304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731520" y="2103120"/>
            <a:ext cx="5052060" cy="1165860"/>
          </a:xfrm>
          <a:prstGeom prst="rect">
            <a:avLst/>
          </a:prstGeom>
          <a:noFill/>
          <a:ln/>
        </p:spPr>
        <p:txBody>
          <a:bodyPr wrap="square" lIns="0" tIns="0" rIns="0" bIns="0" rtlCol="0" anchor="t"/>
          <a:lstStyle/>
          <a:p>
            <a:pPr marL="0" indent="0">
              <a:spcAft>
                <a:spcPts val="500"/>
              </a:spcAft>
              <a:buNone/>
            </a:pPr>
            <a:r>
              <a:rPr lang="en-US" sz="2041" dirty="0">
                <a:solidFill>
                  <a:srgbClr val="1B2A38"/>
                </a:solidFill>
                <a:latin typeface="Calibri" pitchFamily="34" charset="0"/>
                <a:ea typeface="Calibri" pitchFamily="34" charset="-122"/>
                <a:cs typeface="Calibri" pitchFamily="34" charset="-120"/>
              </a:rPr>
              <a:t>“some residents rarely visited it.”</a:t>
            </a:r>
            <a:endParaRPr lang="en-US" sz="2041" dirty="0"/>
          </a:p>
        </p:txBody>
      </p:sp>
      <p:sp>
        <p:nvSpPr>
          <p:cNvPr id="11" name="Shape 9"/>
          <p:cNvSpPr/>
          <p:nvPr/>
        </p:nvSpPr>
        <p:spPr>
          <a:xfrm>
            <a:off x="6195060" y="146304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6377940" y="2103120"/>
            <a:ext cx="5052060" cy="1165860"/>
          </a:xfrm>
          <a:prstGeom prst="rect">
            <a:avLst/>
          </a:prstGeom>
          <a:noFill/>
          <a:ln/>
        </p:spPr>
        <p:txBody>
          <a:bodyPr wrap="square" lIns="0" tIns="0" rIns="0" bIns="0" rtlCol="0" anchor="t"/>
          <a:lstStyle/>
          <a:p>
            <a:pPr marL="0" indent="0">
              <a:spcAft>
                <a:spcPts val="500"/>
              </a:spcAft>
              <a:buNone/>
            </a:pPr>
            <a:r>
              <a:rPr lang="en-US" sz="2041" dirty="0">
                <a:solidFill>
                  <a:srgbClr val="1B2A38"/>
                </a:solidFill>
                <a:latin typeface="Calibri" pitchFamily="34" charset="0"/>
                <a:ea typeface="Calibri" pitchFamily="34" charset="-122"/>
                <a:cs typeface="Calibri" pitchFamily="34" charset="-120"/>
              </a:rPr>
              <a:t>“The aim was not to replace the main library.”</a:t>
            </a:r>
            <a:endParaRPr lang="en-US" sz="2041" dirty="0"/>
          </a:p>
        </p:txBody>
      </p:sp>
      <p:sp>
        <p:nvSpPr>
          <p:cNvPr id="15" name="Shape 13"/>
          <p:cNvSpPr/>
          <p:nvPr/>
        </p:nvSpPr>
        <p:spPr>
          <a:xfrm>
            <a:off x="548640" y="358902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16" name="Shape 14"/>
          <p:cNvSpPr/>
          <p:nvPr/>
        </p:nvSpPr>
        <p:spPr>
          <a:xfrm>
            <a:off x="548640" y="3589020"/>
            <a:ext cx="5417820" cy="548640"/>
          </a:xfrm>
          <a:prstGeom prst="round2SameRect">
            <a:avLst/>
          </a:prstGeom>
          <a:solidFill>
            <a:srgbClr val="4E7D5B"/>
          </a:solidFill>
          <a:ln/>
        </p:spPr>
      </p:sp>
      <p:sp>
        <p:nvSpPr>
          <p:cNvPr id="17" name="Text 15"/>
          <p:cNvSpPr txBox="1"/>
          <p:nvPr/>
        </p:nvSpPr>
        <p:spPr>
          <a:xfrm>
            <a:off x="731520" y="358902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31520" y="4229100"/>
            <a:ext cx="5052060" cy="1165860"/>
          </a:xfrm>
          <a:prstGeom prst="rect">
            <a:avLst/>
          </a:prstGeom>
          <a:noFill/>
          <a:ln/>
        </p:spPr>
        <p:txBody>
          <a:bodyPr wrap="square" lIns="0" tIns="0" rIns="0" bIns="0" rtlCol="0" anchor="t"/>
          <a:lstStyle/>
          <a:p>
            <a:pPr marL="0" indent="0">
              <a:spcAft>
                <a:spcPts val="500"/>
              </a:spcAft>
              <a:buNone/>
            </a:pPr>
            <a:r>
              <a:rPr lang="en-US" sz="2041" dirty="0">
                <a:solidFill>
                  <a:srgbClr val="1B2A38"/>
                </a:solidFill>
                <a:latin typeface="Calibri" pitchFamily="34" charset="0"/>
                <a:ea typeface="Calibri" pitchFamily="34" charset="-122"/>
                <a:cs typeface="Calibri" pitchFamily="34" charset="-120"/>
              </a:rPr>
              <a:t>“the team did not abandon the idea. They created a rotating schedule...”</a:t>
            </a:r>
            <a:endParaRPr lang="en-US" sz="2041" dirty="0"/>
          </a:p>
        </p:txBody>
      </p:sp>
      <p:sp>
        <p:nvSpPr>
          <p:cNvPr id="19" name="Shape 17"/>
          <p:cNvSpPr/>
          <p:nvPr/>
        </p:nvSpPr>
        <p:spPr>
          <a:xfrm>
            <a:off x="6195060" y="358902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20" name="Shape 18"/>
          <p:cNvSpPr/>
          <p:nvPr/>
        </p:nvSpPr>
        <p:spPr>
          <a:xfrm>
            <a:off x="6195060" y="3589020"/>
            <a:ext cx="5417820" cy="548640"/>
          </a:xfrm>
          <a:prstGeom prst="round2SameRect">
            <a:avLst/>
          </a:prstGeom>
          <a:solidFill>
            <a:srgbClr val="4E7D5B"/>
          </a:solidFill>
          <a:ln/>
        </p:spPr>
      </p:sp>
      <p:sp>
        <p:nvSpPr>
          <p:cNvPr id="21" name="Text 19"/>
          <p:cNvSpPr txBox="1"/>
          <p:nvPr/>
        </p:nvSpPr>
        <p:spPr>
          <a:xfrm>
            <a:off x="6377940" y="358902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6377940" y="4229100"/>
            <a:ext cx="5052060" cy="1165860"/>
          </a:xfrm>
          <a:prstGeom prst="rect">
            <a:avLst/>
          </a:prstGeom>
          <a:noFill/>
          <a:ln/>
        </p:spPr>
        <p:txBody>
          <a:bodyPr wrap="square" lIns="0" tIns="0" rIns="0" bIns="0" rtlCol="0" anchor="t"/>
          <a:lstStyle/>
          <a:p>
            <a:pPr marL="0" indent="0">
              <a:spcAft>
                <a:spcPts val="500"/>
              </a:spcAft>
              <a:buNone/>
            </a:pPr>
            <a:r>
              <a:rPr lang="en-US" sz="2041" dirty="0">
                <a:solidFill>
                  <a:srgbClr val="1B2A38"/>
                </a:solidFill>
                <a:latin typeface="Calibri" pitchFamily="34" charset="0"/>
                <a:ea typeface="Calibri" pitchFamily="34" charset="-122"/>
                <a:cs typeface="Calibri" pitchFamily="34" charset="-120"/>
              </a:rPr>
              <a:t>“It was no longer only a building people visited. It had become a service that could reach them.”</a:t>
            </a:r>
            <a:endParaRPr lang="en-US" sz="2041" dirty="0"/>
          </a:p>
        </p:txBody>
      </p:sp>
      <p:sp>
        <p:nvSpPr>
          <p:cNvPr id="23" name="Text 21"/>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24" name="Text 2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5" name="Text 23"/>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The Reading Detective Challenge</a:t>
            </a:r>
            <a:endParaRPr lang="en-US" sz="3200" dirty="0"/>
          </a:p>
        </p:txBody>
      </p:sp>
      <p:sp>
        <p:nvSpPr>
          <p:cNvPr id="7" name="Shape 5"/>
          <p:cNvSpPr/>
          <p:nvPr/>
        </p:nvSpPr>
        <p:spPr>
          <a:xfrm>
            <a:off x="1981200" y="1463040"/>
            <a:ext cx="548640" cy="548640"/>
          </a:xfrm>
          <a:prstGeom prst="ellipse">
            <a:avLst/>
          </a:prstGeom>
          <a:solidFill>
            <a:srgbClr val="4E7D5B"/>
          </a:solidFill>
          <a:ln/>
        </p:spPr>
      </p:sp>
      <p:sp>
        <p:nvSpPr>
          <p:cNvPr id="8" name="Text 6"/>
          <p:cNvSpPr txBox="1"/>
          <p:nvPr/>
        </p:nvSpPr>
        <p:spPr>
          <a:xfrm>
            <a:off x="198120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4026408" y="3680460"/>
            <a:ext cx="283464" cy="274320"/>
          </a:xfrm>
          <a:prstGeom prst="rightArrow">
            <a:avLst/>
          </a:prstGeom>
          <a:solidFill>
            <a:srgbClr val="D9A441"/>
          </a:solidFill>
          <a:ln/>
        </p:spPr>
      </p:sp>
      <p:sp>
        <p:nvSpPr>
          <p:cNvPr id="10" name="Shape 8"/>
          <p:cNvSpPr/>
          <p:nvPr/>
        </p:nvSpPr>
        <p:spPr>
          <a:xfrm>
            <a:off x="548640" y="2148840"/>
            <a:ext cx="3413760" cy="3337560"/>
          </a:xfrm>
          <a:prstGeom prst="roundRect">
            <a:avLst>
              <a:gd name="adj" fmla="val 3288"/>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304800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STEP 1 · CIRCLE THE SKILL</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 Context</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 Writer's Choice</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 Structure</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 Purpose</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 Evidence</a:t>
            </a:r>
            <a:endParaRPr lang="en-US" sz="1400" dirty="0"/>
          </a:p>
        </p:txBody>
      </p:sp>
      <p:sp>
        <p:nvSpPr>
          <p:cNvPr id="13" name="Shape 11"/>
          <p:cNvSpPr/>
          <p:nvPr/>
        </p:nvSpPr>
        <p:spPr>
          <a:xfrm>
            <a:off x="5806440" y="1463040"/>
            <a:ext cx="548640" cy="548640"/>
          </a:xfrm>
          <a:prstGeom prst="ellipse">
            <a:avLst/>
          </a:prstGeom>
          <a:solidFill>
            <a:srgbClr val="4F7CA0"/>
          </a:solidFill>
          <a:ln/>
        </p:spPr>
      </p:sp>
      <p:sp>
        <p:nvSpPr>
          <p:cNvPr id="14" name="Text 12"/>
          <p:cNvSpPr txBox="1"/>
          <p:nvPr/>
        </p:nvSpPr>
        <p:spPr>
          <a:xfrm>
            <a:off x="580644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7851648" y="3680460"/>
            <a:ext cx="283464" cy="274320"/>
          </a:xfrm>
          <a:prstGeom prst="rightArrow">
            <a:avLst/>
          </a:prstGeom>
          <a:solidFill>
            <a:srgbClr val="D9A441"/>
          </a:solidFill>
          <a:ln/>
        </p:spPr>
      </p:sp>
      <p:sp>
        <p:nvSpPr>
          <p:cNvPr id="16" name="Shape 14"/>
          <p:cNvSpPr/>
          <p:nvPr/>
        </p:nvSpPr>
        <p:spPr>
          <a:xfrm>
            <a:off x="4373880" y="2148840"/>
            <a:ext cx="3413760" cy="3337560"/>
          </a:xfrm>
          <a:prstGeom prst="roundRect">
            <a:avLst>
              <a:gd name="adj" fmla="val 3288"/>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4373880" y="2286000"/>
            <a:ext cx="64008" cy="3063240"/>
          </a:xfrm>
          <a:prstGeom prst="rect">
            <a:avLst/>
          </a:prstGeom>
          <a:solidFill>
            <a:srgbClr val="4F7CA0"/>
          </a:solidFill>
          <a:ln/>
        </p:spPr>
      </p:sp>
      <p:sp>
        <p:nvSpPr>
          <p:cNvPr id="18" name="Text 16"/>
          <p:cNvSpPr txBox="1"/>
          <p:nvPr/>
        </p:nvSpPr>
        <p:spPr>
          <a:xfrm>
            <a:off x="4602480" y="2148840"/>
            <a:ext cx="304800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STEP 2 · ANSWER</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Choose the best answer.</a:t>
            </a:r>
            <a:endParaRPr lang="en-US" sz="1400" dirty="0"/>
          </a:p>
        </p:txBody>
      </p:sp>
      <p:sp>
        <p:nvSpPr>
          <p:cNvPr id="19" name="Shape 17"/>
          <p:cNvSpPr/>
          <p:nvPr/>
        </p:nvSpPr>
        <p:spPr>
          <a:xfrm>
            <a:off x="9631680" y="1463040"/>
            <a:ext cx="548640" cy="548640"/>
          </a:xfrm>
          <a:prstGeom prst="ellipse">
            <a:avLst/>
          </a:prstGeom>
          <a:solidFill>
            <a:srgbClr val="C0674F"/>
          </a:solidFill>
          <a:ln/>
        </p:spPr>
      </p:sp>
      <p:sp>
        <p:nvSpPr>
          <p:cNvPr id="20" name="Text 18"/>
          <p:cNvSpPr txBox="1"/>
          <p:nvPr/>
        </p:nvSpPr>
        <p:spPr>
          <a:xfrm>
            <a:off x="963168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8199120" y="2148840"/>
            <a:ext cx="3413760" cy="3337560"/>
          </a:xfrm>
          <a:prstGeom prst="roundRect">
            <a:avLst>
              <a:gd name="adj" fmla="val 3288"/>
            </a:avLst>
          </a:prstGeom>
          <a:solidFill>
            <a:srgbClr val="FFFFFF"/>
          </a:solidFill>
          <a:ln/>
          <a:effectLst>
            <a:outerShdw blurRad="76200" dist="25400" dir="5400000" algn="bl" rotWithShape="0">
              <a:srgbClr val="000000">
                <a:alpha val="14000"/>
              </a:srgbClr>
            </a:outerShdw>
          </a:effectLst>
        </p:spPr>
      </p:sp>
      <p:sp>
        <p:nvSpPr>
          <p:cNvPr id="22" name="Shape 20"/>
          <p:cNvSpPr/>
          <p:nvPr/>
        </p:nvSpPr>
        <p:spPr>
          <a:xfrm>
            <a:off x="8199120" y="2286000"/>
            <a:ext cx="64008" cy="3063240"/>
          </a:xfrm>
          <a:prstGeom prst="rect">
            <a:avLst/>
          </a:prstGeom>
          <a:solidFill>
            <a:srgbClr val="C0674F"/>
          </a:solidFill>
          <a:ln/>
        </p:spPr>
      </p:sp>
      <p:sp>
        <p:nvSpPr>
          <p:cNvPr id="23" name="Text 21"/>
          <p:cNvSpPr txBox="1"/>
          <p:nvPr/>
        </p:nvSpPr>
        <p:spPr>
          <a:xfrm>
            <a:off x="8427720" y="2148840"/>
            <a:ext cx="3048000" cy="33375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STEP 3 · PROVE IT</a:t>
            </a:r>
            <a:endParaRPr lang="en-US" sz="1400" dirty="0"/>
          </a:p>
          <a:p>
            <a:pPr marL="0" indent="0">
              <a:spcAft>
                <a:spcPts val="500"/>
              </a:spcAft>
              <a:buNone/>
            </a:pPr>
            <a:r>
              <a:rPr lang="en-US" sz="2328" dirty="0">
                <a:solidFill>
                  <a:srgbClr val="1B2A38"/>
                </a:solidFill>
                <a:latin typeface="Calibri" pitchFamily="34" charset="0"/>
                <a:ea typeface="Calibri" pitchFamily="34" charset="-122"/>
                <a:cs typeface="Calibri" pitchFamily="34" charset="-120"/>
              </a:rPr>
              <a:t>Find the evidence and explain.</a:t>
            </a:r>
            <a:endParaRPr lang="en-US" sz="14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FINAL TEAM CHALLENGE</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Your team gets 5 questions.</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TEAMWORK</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Question 1 🧩</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What does </a:t>
            </a:r>
            <a:r>
              <a:rPr lang="en-US" sz="2000" b="1" dirty="0">
                <a:solidFill>
                  <a:srgbClr val="C0674F"/>
                </a:solidFill>
                <a:latin typeface="Calibri" pitchFamily="34" charset="0"/>
                <a:ea typeface="Calibri" pitchFamily="34" charset="-122"/>
                <a:cs typeface="Calibri" pitchFamily="34" charset="-120"/>
              </a:rPr>
              <a:t>“expanded”</a:t>
            </a:r>
            <a:r>
              <a:rPr lang="en-US" sz="2000" dirty="0">
                <a:solidFill>
                  <a:srgbClr val="1B2A38"/>
                </a:solidFill>
                <a:latin typeface="Calibri" pitchFamily="34" charset="0"/>
                <a:ea typeface="Calibri" pitchFamily="34" charset="-122"/>
                <a:cs typeface="Calibri" pitchFamily="34" charset="-120"/>
              </a:rPr>
              <a:t> mean in Part 5?</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became smaller</a:t>
            </a:r>
            <a:endParaRPr lang="en-US" sz="2600"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1554480" y="398907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grew or spread to more places</a:t>
            </a:r>
            <a:endParaRPr lang="en-US" sz="2600"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7292340" y="2116473"/>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stopped completely</a:t>
            </a:r>
            <a:endParaRPr lang="en-US" sz="2600"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became more expensive</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2400" b="1" dirty="0">
                <a:solidFill>
                  <a:srgbClr val="1B2A38"/>
                </a:solidFill>
                <a:latin typeface="Calibri" pitchFamily="34" charset="0"/>
                <a:ea typeface="Calibri" pitchFamily="34" charset="-122"/>
                <a:cs typeface="Calibri" pitchFamily="34" charset="-120"/>
              </a:rPr>
              <a:t>Which skill? Circle it, answer, prove it.</a:t>
            </a:r>
            <a:endParaRPr lang="en-US" sz="24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1: B</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Skill</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a:t>
            </a:r>
            <a:r>
              <a:rPr lang="en-US" sz="2600" b="1" dirty="0">
                <a:solidFill>
                  <a:srgbClr val="C0674F"/>
                </a:solidFill>
                <a:latin typeface="Calibri" pitchFamily="34" charset="0"/>
                <a:ea typeface="Calibri" pitchFamily="34" charset="-122"/>
                <a:cs typeface="Calibri" pitchFamily="34" charset="-120"/>
              </a:rPr>
              <a:t>CONTEXT</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clue is</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“to several neighbourhoods”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programme </a:t>
            </a:r>
            <a:r>
              <a:rPr lang="en-US" sz="2600" b="1" dirty="0">
                <a:solidFill>
                  <a:srgbClr val="C0674F"/>
                </a:solidFill>
                <a:latin typeface="Calibri" pitchFamily="34" charset="0"/>
                <a:ea typeface="Calibri" pitchFamily="34" charset="-122"/>
                <a:cs typeface="Calibri" pitchFamily="34" charset="-120"/>
              </a:rPr>
              <a:t>grew/spread</a:t>
            </a:r>
            <a:r>
              <a:rPr lang="en-US" sz="2600" dirty="0">
                <a:solidFill>
                  <a:srgbClr val="1B2A38"/>
                </a:solidFill>
                <a:latin typeface="Calibri" pitchFamily="34" charset="0"/>
                <a:ea typeface="Calibri" pitchFamily="34" charset="-122"/>
                <a:cs typeface="Calibri" pitchFamily="34" charset="-120"/>
              </a:rPr>
              <a:t> to more places.</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Question 2 🧩</a:t>
            </a:r>
            <a:endParaRPr lang="en-US" sz="3200" dirty="0"/>
          </a:p>
        </p:txBody>
      </p:sp>
      <p:sp>
        <p:nvSpPr>
          <p:cNvPr id="7" name="Text 5"/>
          <p:cNvSpPr txBox="1"/>
          <p:nvPr/>
        </p:nvSpPr>
        <p:spPr>
          <a:xfrm>
            <a:off x="548640" y="1073944"/>
            <a:ext cx="11064240" cy="822960"/>
          </a:xfrm>
          <a:prstGeom prst="rect">
            <a:avLst/>
          </a:prstGeom>
          <a:noFill/>
          <a:ln/>
        </p:spPr>
        <p:txBody>
          <a:bodyPr wrap="square" lIns="0" tIns="0" rIns="0" bIns="0" rtlCol="0" anchor="t"/>
          <a:lstStyle/>
          <a:p>
            <a:pPr marL="0" indent="0">
              <a:buNone/>
            </a:pPr>
            <a:r>
              <a:rPr lang="en-US" sz="3200" dirty="0">
                <a:solidFill>
                  <a:srgbClr val="1B2A38"/>
                </a:solidFill>
                <a:latin typeface="Calibri" pitchFamily="34" charset="0"/>
                <a:ea typeface="Calibri" pitchFamily="34" charset="-122"/>
                <a:cs typeface="Calibri" pitchFamily="34" charset="-120"/>
              </a:rPr>
              <a:t>Why does the writer describe the mobile library as a </a:t>
            </a:r>
            <a:r>
              <a:rPr lang="en-US" sz="3200" b="1" dirty="0">
                <a:solidFill>
                  <a:srgbClr val="C0674F"/>
                </a:solidFill>
                <a:latin typeface="Calibri" pitchFamily="34" charset="0"/>
                <a:ea typeface="Calibri" pitchFamily="34" charset="-122"/>
                <a:cs typeface="Calibri" pitchFamily="34" charset="-120"/>
              </a:rPr>
              <a:t>“bridge”</a:t>
            </a:r>
            <a:r>
              <a:rPr lang="en-US" sz="3200" dirty="0">
                <a:solidFill>
                  <a:srgbClr val="1B2A38"/>
                </a:solidFill>
                <a:latin typeface="Calibri" pitchFamily="34" charset="0"/>
                <a:ea typeface="Calibri" pitchFamily="34" charset="-122"/>
                <a:cs typeface="Calibri" pitchFamily="34" charset="-120"/>
              </a:rPr>
              <a:t>? What does it suggest? </a:t>
            </a:r>
            <a:endParaRPr lang="en-US" sz="3200" dirty="0"/>
          </a:p>
        </p:txBody>
      </p:sp>
      <p:sp>
        <p:nvSpPr>
          <p:cNvPr id="8" name="Shape 6"/>
          <p:cNvSpPr/>
          <p:nvPr/>
        </p:nvSpPr>
        <p:spPr>
          <a:xfrm rot="-120000">
            <a:off x="539314" y="3605075"/>
            <a:ext cx="2594610" cy="926700"/>
          </a:xfrm>
          <a:prstGeom prst="rect">
            <a:avLst/>
          </a:prstGeom>
          <a:solidFill>
            <a:srgbClr val="FFF3B0"/>
          </a:solidFill>
          <a:ln/>
          <a:effectLst>
            <a:outerShdw blurRad="76200" dist="25400" dir="5400000" algn="bl" rotWithShape="0">
              <a:srgbClr val="000000">
                <a:alpha val="14000"/>
              </a:srgbClr>
            </a:outerShdw>
          </a:effectLst>
        </p:spPr>
      </p:sp>
      <p:sp>
        <p:nvSpPr>
          <p:cNvPr id="9" name="Shape 7"/>
          <p:cNvSpPr/>
          <p:nvPr/>
        </p:nvSpPr>
        <p:spPr>
          <a:xfrm>
            <a:off x="556459" y="3438975"/>
            <a:ext cx="201168" cy="201168"/>
          </a:xfrm>
          <a:prstGeom prst="ellipse">
            <a:avLst/>
          </a:prstGeom>
          <a:solidFill>
            <a:srgbClr val="C0674F"/>
          </a:solidFill>
          <a:ln/>
        </p:spPr>
      </p:sp>
      <p:sp>
        <p:nvSpPr>
          <p:cNvPr id="10" name="Text 8"/>
          <p:cNvSpPr txBox="1"/>
          <p:nvPr/>
        </p:nvSpPr>
        <p:spPr>
          <a:xfrm rot="-120000">
            <a:off x="701953" y="3710126"/>
            <a:ext cx="2320290" cy="7966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Context</a:t>
            </a:r>
            <a:endParaRPr lang="en-US" sz="1700" dirty="0"/>
          </a:p>
        </p:txBody>
      </p:sp>
      <p:sp>
        <p:nvSpPr>
          <p:cNvPr id="11" name="Shape 9"/>
          <p:cNvSpPr/>
          <p:nvPr/>
        </p:nvSpPr>
        <p:spPr>
          <a:xfrm rot="90000">
            <a:off x="3463361" y="3593869"/>
            <a:ext cx="2594610" cy="1002787"/>
          </a:xfrm>
          <a:prstGeom prst="rect">
            <a:avLst/>
          </a:prstGeom>
          <a:solidFill>
            <a:srgbClr val="D5EEDD"/>
          </a:solidFill>
          <a:ln/>
          <a:effectLst>
            <a:outerShdw blurRad="76200" dist="25400" dir="5400000" algn="bl" rotWithShape="0">
              <a:srgbClr val="000000">
                <a:alpha val="14000"/>
              </a:srgbClr>
            </a:outerShdw>
          </a:effectLst>
        </p:spPr>
      </p:sp>
      <p:sp>
        <p:nvSpPr>
          <p:cNvPr id="12" name="Shape 10"/>
          <p:cNvSpPr/>
          <p:nvPr/>
        </p:nvSpPr>
        <p:spPr>
          <a:xfrm>
            <a:off x="3533838" y="3278691"/>
            <a:ext cx="201168" cy="201168"/>
          </a:xfrm>
          <a:prstGeom prst="ellipse">
            <a:avLst/>
          </a:prstGeom>
          <a:solidFill>
            <a:srgbClr val="C0674F"/>
          </a:solidFill>
          <a:ln/>
        </p:spPr>
      </p:sp>
      <p:sp>
        <p:nvSpPr>
          <p:cNvPr id="13" name="Text 11"/>
          <p:cNvSpPr txBox="1"/>
          <p:nvPr/>
        </p:nvSpPr>
        <p:spPr>
          <a:xfrm rot="90000">
            <a:off x="3593522" y="3686185"/>
            <a:ext cx="2320290" cy="2244184"/>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Writer's Choice</a:t>
            </a:r>
            <a:endParaRPr lang="en-US" sz="1700" dirty="0"/>
          </a:p>
        </p:txBody>
      </p:sp>
      <p:sp>
        <p:nvSpPr>
          <p:cNvPr id="14" name="Shape 12"/>
          <p:cNvSpPr/>
          <p:nvPr/>
        </p:nvSpPr>
        <p:spPr>
          <a:xfrm rot="-60000">
            <a:off x="6222637" y="3603530"/>
            <a:ext cx="2594610" cy="920930"/>
          </a:xfrm>
          <a:prstGeom prst="rect">
            <a:avLst/>
          </a:prstGeom>
          <a:solidFill>
            <a:srgbClr val="FAD9CF"/>
          </a:solidFill>
          <a:ln/>
          <a:effectLst>
            <a:outerShdw blurRad="76200" dist="25400" dir="5400000" algn="bl" rotWithShape="0">
              <a:srgbClr val="000000">
                <a:alpha val="14000"/>
              </a:srgbClr>
            </a:outerShdw>
          </a:effectLst>
        </p:spPr>
        <p:txBody>
          <a:bodyPr/>
          <a:lstStyle/>
          <a:p>
            <a:endParaRPr lang="en-US" dirty="0"/>
          </a:p>
        </p:txBody>
      </p:sp>
      <p:sp>
        <p:nvSpPr>
          <p:cNvPr id="15" name="Shape 13"/>
          <p:cNvSpPr/>
          <p:nvPr/>
        </p:nvSpPr>
        <p:spPr>
          <a:xfrm>
            <a:off x="6224240" y="3328416"/>
            <a:ext cx="201168" cy="201168"/>
          </a:xfrm>
          <a:prstGeom prst="ellipse">
            <a:avLst/>
          </a:prstGeom>
          <a:solidFill>
            <a:srgbClr val="C0674F"/>
          </a:solidFill>
          <a:ln/>
        </p:spPr>
      </p:sp>
      <p:sp>
        <p:nvSpPr>
          <p:cNvPr id="16" name="Text 14"/>
          <p:cNvSpPr txBox="1"/>
          <p:nvPr/>
        </p:nvSpPr>
        <p:spPr>
          <a:xfrm rot="-60000">
            <a:off x="6448189" y="3498921"/>
            <a:ext cx="2320290" cy="884662"/>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Structure</a:t>
            </a:r>
            <a:endParaRPr lang="en-US" sz="1700" dirty="0"/>
          </a:p>
        </p:txBody>
      </p:sp>
      <p:sp>
        <p:nvSpPr>
          <p:cNvPr id="17" name="Shape 15"/>
          <p:cNvSpPr/>
          <p:nvPr/>
        </p:nvSpPr>
        <p:spPr>
          <a:xfrm rot="120000">
            <a:off x="9000634" y="3503907"/>
            <a:ext cx="2594610" cy="1055931"/>
          </a:xfrm>
          <a:prstGeom prst="rect">
            <a:avLst/>
          </a:prstGeom>
          <a:solidFill>
            <a:srgbClr val="D3E4F4"/>
          </a:solidFill>
          <a:ln/>
          <a:effectLst>
            <a:outerShdw blurRad="76200" dist="25400" dir="5400000" algn="bl" rotWithShape="0">
              <a:srgbClr val="000000">
                <a:alpha val="14000"/>
              </a:srgbClr>
            </a:outerShdw>
          </a:effectLst>
        </p:spPr>
        <p:txBody>
          <a:bodyPr/>
          <a:lstStyle/>
          <a:p>
            <a:endParaRPr lang="en-US" dirty="0"/>
          </a:p>
        </p:txBody>
      </p:sp>
      <p:sp>
        <p:nvSpPr>
          <p:cNvPr id="18" name="Shape 16"/>
          <p:cNvSpPr/>
          <p:nvPr/>
        </p:nvSpPr>
        <p:spPr>
          <a:xfrm>
            <a:off x="9015226" y="3243774"/>
            <a:ext cx="201168" cy="201168"/>
          </a:xfrm>
          <a:prstGeom prst="ellipse">
            <a:avLst/>
          </a:prstGeom>
          <a:solidFill>
            <a:srgbClr val="C0674F"/>
          </a:solidFill>
          <a:ln/>
        </p:spPr>
      </p:sp>
      <p:sp>
        <p:nvSpPr>
          <p:cNvPr id="19" name="Text 17"/>
          <p:cNvSpPr txBox="1"/>
          <p:nvPr/>
        </p:nvSpPr>
        <p:spPr>
          <a:xfrm rot="120000">
            <a:off x="9211987" y="3527158"/>
            <a:ext cx="2320290" cy="100943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Purpose</a:t>
            </a:r>
            <a:endParaRPr lang="en-US" sz="1700" dirty="0"/>
          </a:p>
        </p:txBody>
      </p:sp>
      <p:sp>
        <p:nvSpPr>
          <p:cNvPr id="20" name="Text 18"/>
          <p:cNvSpPr txBox="1"/>
          <p:nvPr/>
        </p:nvSpPr>
        <p:spPr>
          <a:xfrm>
            <a:off x="218649" y="2336017"/>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1" name="Text 19"/>
          <p:cNvSpPr txBox="1"/>
          <p:nvPr/>
        </p:nvSpPr>
        <p:spPr>
          <a:xfrm>
            <a:off x="657043" y="2782779"/>
            <a:ext cx="7589520" cy="548640"/>
          </a:xfrm>
          <a:prstGeom prst="rect">
            <a:avLst/>
          </a:prstGeom>
          <a:noFill/>
          <a:ln/>
        </p:spPr>
        <p:txBody>
          <a:bodyPr wrap="square" lIns="0" tIns="0" rIns="0" bIns="0" rtlCol="0" anchor="ctr"/>
          <a:lstStyle/>
          <a:p>
            <a:pPr marL="0" indent="0">
              <a:buNone/>
            </a:pPr>
            <a:r>
              <a:rPr lang="en-US" sz="2800" b="1" dirty="0">
                <a:solidFill>
                  <a:srgbClr val="1B2A38"/>
                </a:solidFill>
                <a:latin typeface="Calibri" pitchFamily="34" charset="0"/>
                <a:ea typeface="Calibri" pitchFamily="34" charset="-122"/>
                <a:cs typeface="Calibri" pitchFamily="34" charset="-120"/>
              </a:rPr>
              <a:t>Which skill?</a:t>
            </a:r>
            <a:endParaRPr lang="en-US" sz="2800" dirty="0"/>
          </a:p>
        </p:txBody>
      </p:sp>
      <p:sp>
        <p:nvSpPr>
          <p:cNvPr id="22" name="Text 20"/>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3" name="Text 21"/>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4" name="Text 22"/>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2: Writer's Choice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 Writer's choice</a:t>
            </a:r>
            <a:endParaRPr lang="en-US" sz="32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“Bridge” suggests </a:t>
            </a:r>
            <a:r>
              <a:rPr lang="en-US" sz="2600" b="1" dirty="0">
                <a:solidFill>
                  <a:srgbClr val="C0674F"/>
                </a:solidFill>
                <a:latin typeface="Calibri" pitchFamily="34" charset="0"/>
                <a:ea typeface="Calibri" pitchFamily="34" charset="-122"/>
                <a:cs typeface="Calibri" pitchFamily="34" charset="-120"/>
              </a:rPr>
              <a:t>connection</a:t>
            </a:r>
            <a:r>
              <a:rPr lang="en-US" sz="2600" dirty="0">
                <a:solidFill>
                  <a:srgbClr val="1B2A38"/>
                </a:solidFill>
                <a:latin typeface="Calibri" pitchFamily="34" charset="0"/>
                <a:ea typeface="Calibri" pitchFamily="34" charset="-122"/>
                <a:cs typeface="Calibri" pitchFamily="34" charset="-120"/>
              </a:rPr>
              <a:t>.</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It helps the reader understand that the mobile library connects people with library resources.</a:t>
            </a:r>
            <a:endParaRPr lang="en-US" sz="260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Question 3 🧩</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800" dirty="0">
                <a:solidFill>
                  <a:srgbClr val="1B2A38"/>
                </a:solidFill>
                <a:latin typeface="Calibri" pitchFamily="34" charset="0"/>
                <a:ea typeface="Calibri" pitchFamily="34" charset="-122"/>
                <a:cs typeface="Calibri" pitchFamily="34" charset="-120"/>
              </a:rPr>
              <a:t>Why does the writer include the problems in Part 4?</a:t>
            </a:r>
            <a:endParaRPr lang="en-US" sz="2800" dirty="0"/>
          </a:p>
        </p:txBody>
      </p:sp>
      <p:sp>
        <p:nvSpPr>
          <p:cNvPr id="8" name="Shape 6"/>
          <p:cNvSpPr/>
          <p:nvPr/>
        </p:nvSpPr>
        <p:spPr>
          <a:xfrm>
            <a:off x="548640" y="214884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To prove the project was useless.</a:t>
            </a:r>
            <a:endParaRPr lang="en-US" sz="2600" dirty="0"/>
          </a:p>
        </p:txBody>
      </p:sp>
      <p:sp>
        <p:nvSpPr>
          <p:cNvPr id="12" name="Shape 10"/>
          <p:cNvSpPr/>
          <p:nvPr/>
        </p:nvSpPr>
        <p:spPr>
          <a:xfrm>
            <a:off x="6195060" y="214884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7200900" y="214884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To introduce a completely different topic.</a:t>
            </a:r>
            <a:endParaRPr lang="en-US" sz="2600" dirty="0"/>
          </a:p>
        </p:txBody>
      </p:sp>
      <p:sp>
        <p:nvSpPr>
          <p:cNvPr id="16" name="Shape 14"/>
          <p:cNvSpPr/>
          <p:nvPr/>
        </p:nvSpPr>
        <p:spPr>
          <a:xfrm>
            <a:off x="548640" y="395478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To show that the team faced challenges and adapted.</a:t>
            </a:r>
            <a:endParaRPr lang="en-US" sz="2600" dirty="0"/>
          </a:p>
        </p:txBody>
      </p:sp>
      <p:sp>
        <p:nvSpPr>
          <p:cNvPr id="20" name="Shape 18"/>
          <p:cNvSpPr/>
          <p:nvPr/>
        </p:nvSpPr>
        <p:spPr>
          <a:xfrm>
            <a:off x="6195060" y="3954780"/>
            <a:ext cx="5417820" cy="1577340"/>
          </a:xfrm>
          <a:prstGeom prst="roundRect">
            <a:avLst>
              <a:gd name="adj" fmla="val 6957"/>
            </a:avLst>
          </a:prstGeom>
          <a:solidFill>
            <a:srgbClr val="FFFFFF"/>
          </a:solidFill>
          <a:ln/>
          <a:effectLst>
            <a:outerShdw blurRad="76200" dist="25400" dir="5400000" algn="bl" rotWithShape="0">
              <a:srgbClr val="000000">
                <a:alpha val="14000"/>
              </a:srgbClr>
            </a:outerShdw>
          </a:effectLst>
        </p:spPr>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200900" y="3954780"/>
            <a:ext cx="4229100" cy="1577340"/>
          </a:xfrm>
          <a:prstGeom prst="rect">
            <a:avLst/>
          </a:prstGeom>
          <a:noFill/>
          <a:ln/>
        </p:spPr>
        <p:txBody>
          <a:bodyPr wrap="square" lIns="0" tIns="0" rIns="0" bIns="0" rtlCol="0" anchor="ctr"/>
          <a:lstStyle/>
          <a:p>
            <a:pPr marL="0" indent="0">
              <a:buNone/>
            </a:pPr>
            <a:r>
              <a:rPr lang="en-US" sz="2600" dirty="0">
                <a:solidFill>
                  <a:srgbClr val="1B2A38"/>
                </a:solidFill>
                <a:latin typeface="Calibri" pitchFamily="34" charset="0"/>
                <a:ea typeface="Calibri" pitchFamily="34" charset="-122"/>
                <a:cs typeface="Calibri" pitchFamily="34" charset="-120"/>
              </a:rPr>
              <a:t>To repeat the introduction.</a:t>
            </a:r>
            <a:endParaRPr lang="en-US" sz="2600"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Which skill?</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3: C</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Skill</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a:t>
            </a:r>
            <a:r>
              <a:rPr lang="en-US" sz="2600" b="1" dirty="0">
                <a:solidFill>
                  <a:srgbClr val="C0674F"/>
                </a:solidFill>
                <a:latin typeface="Calibri" pitchFamily="34" charset="0"/>
                <a:ea typeface="Calibri" pitchFamily="34" charset="-122"/>
                <a:cs typeface="Calibri" pitchFamily="34" charset="-120"/>
              </a:rPr>
              <a:t>STRUCTURE</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problems create a challenge.</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solutions show how the team responded.</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7CA0"/>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F7CA0"/>
                </a:solidFill>
                <a:latin typeface="Calibri" pitchFamily="34" charset="0"/>
                <a:ea typeface="Calibri" pitchFamily="34" charset="-122"/>
                <a:cs typeface="Calibri" pitchFamily="34" charset="-120"/>
              </a:rPr>
              <a:t>SESSION 2 · WE DO · TOGETHER</a:t>
            </a:r>
            <a:endParaRPr lang="en-US" sz="1100" dirty="0"/>
          </a:p>
        </p:txBody>
      </p:sp>
      <p:sp>
        <p:nvSpPr>
          <p:cNvPr id="4" name="Shape 2"/>
          <p:cNvSpPr/>
          <p:nvPr/>
        </p:nvSpPr>
        <p:spPr>
          <a:xfrm>
            <a:off x="10424160" y="256032"/>
            <a:ext cx="1280160" cy="310896"/>
          </a:xfrm>
          <a:prstGeom prst="roundRect">
            <a:avLst>
              <a:gd name="adj" fmla="val 50000"/>
            </a:avLst>
          </a:prstGeom>
          <a:solidFill>
            <a:srgbClr val="4F7CA0"/>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Question 4 🧩</a:t>
            </a:r>
            <a:endParaRPr lang="en-US" sz="3200" dirty="0"/>
          </a:p>
        </p:txBody>
      </p:sp>
      <p:sp>
        <p:nvSpPr>
          <p:cNvPr id="7" name="Text 5"/>
          <p:cNvSpPr txBox="1"/>
          <p:nvPr/>
        </p:nvSpPr>
        <p:spPr>
          <a:xfrm>
            <a:off x="548640" y="1234440"/>
            <a:ext cx="11064240" cy="822960"/>
          </a:xfrm>
          <a:prstGeom prst="rect">
            <a:avLst/>
          </a:prstGeom>
          <a:noFill/>
          <a:ln/>
        </p:spPr>
        <p:txBody>
          <a:bodyPr wrap="square" lIns="0" tIns="0" rIns="0" bIns="0" rtlCol="0" anchor="t"/>
          <a:lstStyle/>
          <a:p>
            <a:pPr marL="0" indent="0">
              <a:buNone/>
            </a:pPr>
            <a:r>
              <a:rPr lang="en-US" sz="2000" dirty="0">
                <a:solidFill>
                  <a:srgbClr val="1B2A38"/>
                </a:solidFill>
                <a:latin typeface="Calibri" pitchFamily="34" charset="0"/>
                <a:ea typeface="Calibri" pitchFamily="34" charset="-122"/>
                <a:cs typeface="Calibri" pitchFamily="34" charset="-120"/>
              </a:rPr>
              <a:t>What is the writer's main purpose?</a:t>
            </a:r>
            <a:endParaRPr lang="en-US" sz="2000" dirty="0"/>
          </a:p>
        </p:txBody>
      </p:sp>
      <p:sp>
        <p:nvSpPr>
          <p:cNvPr id="9" name="Shape 7"/>
          <p:cNvSpPr/>
          <p:nvPr/>
        </p:nvSpPr>
        <p:spPr>
          <a:xfrm>
            <a:off x="731520" y="2617470"/>
            <a:ext cx="640080" cy="640080"/>
          </a:xfrm>
          <a:prstGeom prst="ellipse">
            <a:avLst/>
          </a:prstGeom>
          <a:solidFill>
            <a:srgbClr val="4E7D5B"/>
          </a:solidFill>
          <a:ln/>
        </p:spPr>
      </p:sp>
      <p:sp>
        <p:nvSpPr>
          <p:cNvPr id="10" name="Text 8"/>
          <p:cNvSpPr txBox="1"/>
          <p:nvPr/>
        </p:nvSpPr>
        <p:spPr>
          <a:xfrm>
            <a:off x="73152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1" name="Text 9"/>
          <p:cNvSpPr txBox="1"/>
          <p:nvPr/>
        </p:nvSpPr>
        <p:spPr>
          <a:xfrm>
            <a:off x="1554480" y="2148840"/>
            <a:ext cx="4229100" cy="1577340"/>
          </a:xfrm>
          <a:prstGeom prst="rect">
            <a:avLst/>
          </a:prstGeom>
          <a:noFill/>
          <a:ln/>
        </p:spPr>
        <p:txBody>
          <a:bodyPr wrap="square" lIns="0" tIns="0" rIns="0" bIns="0" rtlCol="0" anchor="ctr"/>
          <a:lstStyle/>
          <a:p>
            <a:pPr marL="0" indent="0">
              <a:buNone/>
            </a:pPr>
            <a:r>
              <a:rPr lang="en-US" sz="2434" dirty="0">
                <a:solidFill>
                  <a:srgbClr val="1B2A38"/>
                </a:solidFill>
                <a:latin typeface="Calibri" pitchFamily="34" charset="0"/>
                <a:ea typeface="Calibri" pitchFamily="34" charset="-122"/>
                <a:cs typeface="Calibri" pitchFamily="34" charset="-120"/>
              </a:rPr>
              <a:t>To entertain readers with a fictional story</a:t>
            </a:r>
            <a:endParaRPr lang="en-US" sz="2434" dirty="0"/>
          </a:p>
        </p:txBody>
      </p:sp>
      <p:sp>
        <p:nvSpPr>
          <p:cNvPr id="13" name="Shape 11"/>
          <p:cNvSpPr/>
          <p:nvPr/>
        </p:nvSpPr>
        <p:spPr>
          <a:xfrm>
            <a:off x="6377940" y="2617470"/>
            <a:ext cx="640080" cy="640080"/>
          </a:xfrm>
          <a:prstGeom prst="ellipse">
            <a:avLst/>
          </a:prstGeom>
          <a:solidFill>
            <a:srgbClr val="4F7CA0"/>
          </a:solidFill>
          <a:ln/>
        </p:spPr>
      </p:sp>
      <p:sp>
        <p:nvSpPr>
          <p:cNvPr id="14" name="Text 12"/>
          <p:cNvSpPr txBox="1"/>
          <p:nvPr/>
        </p:nvSpPr>
        <p:spPr>
          <a:xfrm>
            <a:off x="6377940" y="261747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5" name="Text 13"/>
          <p:cNvSpPr txBox="1"/>
          <p:nvPr/>
        </p:nvSpPr>
        <p:spPr>
          <a:xfrm>
            <a:off x="7173468" y="4149090"/>
            <a:ext cx="4229100" cy="1577340"/>
          </a:xfrm>
          <a:prstGeom prst="rect">
            <a:avLst/>
          </a:prstGeom>
          <a:noFill/>
          <a:ln/>
        </p:spPr>
        <p:txBody>
          <a:bodyPr wrap="square" lIns="0" tIns="0" rIns="0" bIns="0" rtlCol="0" anchor="ctr"/>
          <a:lstStyle/>
          <a:p>
            <a:pPr marL="0" indent="0">
              <a:buNone/>
            </a:pPr>
            <a:r>
              <a:rPr lang="en-US" sz="2434" dirty="0">
                <a:solidFill>
                  <a:srgbClr val="1B2A38"/>
                </a:solidFill>
                <a:latin typeface="Calibri" pitchFamily="34" charset="0"/>
                <a:ea typeface="Calibri" pitchFamily="34" charset="-122"/>
                <a:cs typeface="Calibri" pitchFamily="34" charset="-120"/>
              </a:rPr>
              <a:t>To explain how a mobile library developed and reached the community</a:t>
            </a:r>
            <a:endParaRPr lang="en-US" sz="2434" dirty="0"/>
          </a:p>
        </p:txBody>
      </p:sp>
      <p:sp>
        <p:nvSpPr>
          <p:cNvPr id="17" name="Shape 15"/>
          <p:cNvSpPr/>
          <p:nvPr/>
        </p:nvSpPr>
        <p:spPr>
          <a:xfrm>
            <a:off x="731520" y="4423410"/>
            <a:ext cx="640080" cy="640080"/>
          </a:xfrm>
          <a:prstGeom prst="ellipse">
            <a:avLst/>
          </a:prstGeom>
          <a:solidFill>
            <a:srgbClr val="C0674F"/>
          </a:solidFill>
          <a:ln/>
        </p:spPr>
      </p:sp>
      <p:sp>
        <p:nvSpPr>
          <p:cNvPr id="18" name="Text 16"/>
          <p:cNvSpPr txBox="1"/>
          <p:nvPr/>
        </p:nvSpPr>
        <p:spPr>
          <a:xfrm>
            <a:off x="731520" y="442341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1554480" y="3954780"/>
            <a:ext cx="4229100" cy="1577340"/>
          </a:xfrm>
          <a:prstGeom prst="rect">
            <a:avLst/>
          </a:prstGeom>
          <a:noFill/>
          <a:ln/>
        </p:spPr>
        <p:txBody>
          <a:bodyPr wrap="square" lIns="0" tIns="0" rIns="0" bIns="0" rtlCol="0" anchor="ctr"/>
          <a:lstStyle/>
          <a:p>
            <a:pPr marL="0" indent="0">
              <a:buNone/>
            </a:pPr>
            <a:r>
              <a:rPr lang="en-US" sz="2434" dirty="0">
                <a:solidFill>
                  <a:srgbClr val="1B2A38"/>
                </a:solidFill>
                <a:latin typeface="Calibri" pitchFamily="34" charset="0"/>
                <a:ea typeface="Calibri" pitchFamily="34" charset="-122"/>
                <a:cs typeface="Calibri" pitchFamily="34" charset="-120"/>
              </a:rPr>
              <a:t>To persuade readers to buy books</a:t>
            </a:r>
            <a:endParaRPr lang="en-US" sz="2434" dirty="0"/>
          </a:p>
        </p:txBody>
      </p:sp>
      <p:sp>
        <p:nvSpPr>
          <p:cNvPr id="21" name="Shape 19"/>
          <p:cNvSpPr/>
          <p:nvPr/>
        </p:nvSpPr>
        <p:spPr>
          <a:xfrm>
            <a:off x="6377940" y="4423410"/>
            <a:ext cx="640080" cy="640080"/>
          </a:xfrm>
          <a:prstGeom prst="ellipse">
            <a:avLst/>
          </a:prstGeom>
          <a:solidFill>
            <a:srgbClr val="D9A441"/>
          </a:solidFill>
          <a:ln/>
        </p:spPr>
      </p:sp>
      <p:sp>
        <p:nvSpPr>
          <p:cNvPr id="22" name="Text 20"/>
          <p:cNvSpPr txBox="1"/>
          <p:nvPr/>
        </p:nvSpPr>
        <p:spPr>
          <a:xfrm>
            <a:off x="6377940" y="4423410"/>
            <a:ext cx="640080" cy="640080"/>
          </a:xfrm>
          <a:prstGeom prst="rect">
            <a:avLst/>
          </a:prstGeom>
          <a:noFill/>
          <a:ln/>
        </p:spPr>
        <p:txBody>
          <a:bodyPr wrap="square" lIns="0" tIns="0" rIns="0" bIns="0" rtlCol="0" anchor="ctr"/>
          <a:lstStyle/>
          <a:p>
            <a:pPr marL="0" indent="0" algn="ctr">
              <a:buNone/>
            </a:pPr>
            <a:r>
              <a:rPr lang="en-US" sz="2400" b="1" dirty="0">
                <a:solidFill>
                  <a:srgbClr val="1B2A38"/>
                </a:solidFill>
                <a:latin typeface="Calibri" pitchFamily="34" charset="0"/>
                <a:ea typeface="Calibri" pitchFamily="34" charset="-122"/>
                <a:cs typeface="Calibri" pitchFamily="34" charset="-120"/>
              </a:rPr>
              <a:t>D</a:t>
            </a:r>
            <a:endParaRPr lang="en-US" sz="2400" dirty="0"/>
          </a:p>
        </p:txBody>
      </p:sp>
      <p:sp>
        <p:nvSpPr>
          <p:cNvPr id="23" name="Text 21"/>
          <p:cNvSpPr txBox="1"/>
          <p:nvPr/>
        </p:nvSpPr>
        <p:spPr>
          <a:xfrm>
            <a:off x="7173468" y="2205136"/>
            <a:ext cx="4229100" cy="1577340"/>
          </a:xfrm>
          <a:prstGeom prst="rect">
            <a:avLst/>
          </a:prstGeom>
          <a:noFill/>
          <a:ln/>
        </p:spPr>
        <p:txBody>
          <a:bodyPr wrap="square" lIns="0" tIns="0" rIns="0" bIns="0" rtlCol="0" anchor="ctr"/>
          <a:lstStyle/>
          <a:p>
            <a:pPr marL="0" indent="0">
              <a:buNone/>
            </a:pPr>
            <a:r>
              <a:rPr lang="en-US" sz="2434" dirty="0">
                <a:solidFill>
                  <a:srgbClr val="1B2A38"/>
                </a:solidFill>
                <a:latin typeface="Calibri" pitchFamily="34" charset="0"/>
                <a:ea typeface="Calibri" pitchFamily="34" charset="-122"/>
                <a:cs typeface="Calibri" pitchFamily="34" charset="-120"/>
              </a:rPr>
              <a:t>To teach readers how to drive a van</a:t>
            </a:r>
            <a:endParaRPr lang="en-US" sz="2434" dirty="0"/>
          </a:p>
        </p:txBody>
      </p:sp>
      <p:sp>
        <p:nvSpPr>
          <p:cNvPr id="24" name="Text 22"/>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5" name="Text 23"/>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Which skill?</a:t>
            </a:r>
            <a:endParaRPr lang="en-US" sz="1600" dirty="0"/>
          </a:p>
        </p:txBody>
      </p:sp>
      <p:sp>
        <p:nvSpPr>
          <p:cNvPr id="26" name="Text 24"/>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7" name="Text 25"/>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8" name="Text 26"/>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WE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Answer 4: D</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Skill</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a:t>
            </a:r>
            <a:r>
              <a:rPr lang="en-US" sz="2600" b="1" dirty="0">
                <a:solidFill>
                  <a:srgbClr val="C0674F"/>
                </a:solidFill>
                <a:latin typeface="Calibri" pitchFamily="34" charset="0"/>
                <a:ea typeface="Calibri" pitchFamily="34" charset="-122"/>
                <a:cs typeface="Calibri" pitchFamily="34" charset="-120"/>
              </a:rPr>
              <a:t>PURPOSE</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whole article explains</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problem → idea → development → challenges → result</a:t>
            </a:r>
            <a:endParaRPr lang="en-US" sz="260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Question 5 ✏️</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does the structure help the reader?</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Write </a:t>
            </a:r>
            <a:r>
              <a:rPr lang="en-US" sz="2600" b="1" dirty="0">
                <a:solidFill>
                  <a:srgbClr val="C0674F"/>
                </a:solidFill>
                <a:latin typeface="Calibri" pitchFamily="34" charset="0"/>
                <a:ea typeface="Calibri" pitchFamily="34" charset="-122"/>
                <a:cs typeface="Calibri" pitchFamily="34" charset="-120"/>
              </a:rPr>
              <a:t>2–3 sentences</a:t>
            </a:r>
            <a:r>
              <a:rPr lang="en-US" sz="2600" dirty="0">
                <a:solidFill>
                  <a:srgbClr val="1B2A38"/>
                </a:solidFill>
                <a:latin typeface="Calibri" pitchFamily="34" charset="0"/>
                <a:ea typeface="Calibri" pitchFamily="34" charset="-122"/>
                <a:cs typeface="Calibri" pitchFamily="34" charset="-120"/>
              </a:rPr>
              <a:t>.</a:t>
            </a:r>
            <a:endParaRPr lang="en-US" sz="2600" dirty="0"/>
          </a:p>
        </p:txBody>
      </p:sp>
      <p:sp>
        <p:nvSpPr>
          <p:cNvPr id="11" name="Text 9"/>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12" name="Text 10"/>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Use the words: begins, then, finally, helps the reader.</a:t>
            </a:r>
            <a:endParaRPr lang="en-US" sz="1600" dirty="0"/>
          </a:p>
        </p:txBody>
      </p:sp>
      <p:sp>
        <p:nvSpPr>
          <p:cNvPr id="13" name="Text 11"/>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14" name="Text 1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5" name="Text 13"/>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YOU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Model Answer</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Model</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organises the article in a clear sequence, beginning with the problem and ending with the wider result. This helps the reader follow how the mobile library developed and understand how the challenges were overcome.</a:t>
            </a:r>
            <a:endParaRPr lang="en-US" sz="260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Now You Do It</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600" b="1" dirty="0">
                <a:solidFill>
                  <a:srgbClr val="C0674F"/>
                </a:solidFill>
                <a:latin typeface="Calibri" pitchFamily="34" charset="0"/>
                <a:ea typeface="Calibri" pitchFamily="34" charset="-122"/>
                <a:cs typeface="Calibri" pitchFamily="34" charset="-120"/>
              </a:rPr>
              <a:t>How does the writer use structure to show that the mobile library project developed successfully?</a:t>
            </a:r>
            <a:endParaRPr lang="en-US" sz="260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F7CA0"/>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You MUST include</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the beginning</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the development</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the problems</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the ending</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the effect on the reader</a:t>
            </a:r>
            <a:endParaRPr lang="en-US" sz="2600" dirty="0"/>
          </a:p>
        </p:txBody>
      </p:sp>
      <p:sp>
        <p:nvSpPr>
          <p:cNvPr id="15" name="Text 13"/>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INDEPENDENT CHECKPOINT</a:t>
            </a:r>
            <a:endParaRPr lang="en-US" sz="1100" dirty="0"/>
          </a:p>
        </p:txBody>
      </p:sp>
      <p:sp>
        <p:nvSpPr>
          <p:cNvPr id="16" name="Text 14"/>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Write 4–5 sentences.</a:t>
            </a:r>
            <a:endParaRPr lang="en-US" sz="1600" dirty="0"/>
          </a:p>
        </p:txBody>
      </p:sp>
      <p:sp>
        <p:nvSpPr>
          <p:cNvPr id="17" name="Text 15"/>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18" name="Text 16"/>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9" name="Text 17"/>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Need Support?</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Use this structure</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begins by __________.</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article then explains __________.</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Later, the writer introduces __________.</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This is important because __________.</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Finally, the writer shows __________.</a:t>
            </a:r>
            <a:endParaRPr lang="en-US" sz="26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This structure helps the reader __________.</a:t>
            </a:r>
            <a:endParaRPr lang="en-US" sz="260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YOU DO</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 Model Response</a:t>
            </a:r>
            <a:endParaRPr lang="en-US" sz="3200" dirty="0"/>
          </a:p>
        </p:txBody>
      </p:sp>
      <p:sp>
        <p:nvSpPr>
          <p:cNvPr id="7" name="Shape 5"/>
          <p:cNvSpPr/>
          <p:nvPr/>
        </p:nvSpPr>
        <p:spPr>
          <a:xfrm>
            <a:off x="548640" y="1463040"/>
            <a:ext cx="1106424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11064240" cy="548640"/>
          </a:xfrm>
          <a:prstGeom prst="round2SameRect">
            <a:avLst/>
          </a:prstGeom>
          <a:solidFill>
            <a:srgbClr val="4E7D5B"/>
          </a:solidFill>
          <a:ln/>
        </p:spPr>
      </p:sp>
      <p:sp>
        <p:nvSpPr>
          <p:cNvPr id="9" name="Text 7"/>
          <p:cNvSpPr txBox="1"/>
          <p:nvPr/>
        </p:nvSpPr>
        <p:spPr>
          <a:xfrm>
            <a:off x="731520" y="1463040"/>
            <a:ext cx="1078992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Model response</a:t>
            </a:r>
            <a:endParaRPr lang="en-US" sz="1600" dirty="0"/>
          </a:p>
        </p:txBody>
      </p:sp>
      <p:sp>
        <p:nvSpPr>
          <p:cNvPr id="10" name="Text 8"/>
          <p:cNvSpPr txBox="1"/>
          <p:nvPr/>
        </p:nvSpPr>
        <p:spPr>
          <a:xfrm>
            <a:off x="731520" y="2103120"/>
            <a:ext cx="10698480" cy="3291840"/>
          </a:xfrm>
          <a:prstGeom prst="rect">
            <a:avLst/>
          </a:prstGeom>
          <a:noFill/>
          <a:ln/>
        </p:spPr>
        <p:txBody>
          <a:bodyPr wrap="square" lIns="0" tIns="0" rIns="0" bIns="0" rtlCol="0" anchor="t"/>
          <a:lstStyle/>
          <a:p>
            <a:pPr marL="0" indent="0">
              <a:spcAft>
                <a:spcPts val="500"/>
              </a:spcAft>
              <a:buNone/>
            </a:pPr>
            <a:r>
              <a:rPr lang="en-US" sz="2340" dirty="0">
                <a:solidFill>
                  <a:srgbClr val="1B2A38"/>
                </a:solidFill>
                <a:latin typeface="Calibri" pitchFamily="34" charset="0"/>
                <a:ea typeface="Calibri" pitchFamily="34" charset="-122"/>
                <a:cs typeface="Calibri" pitchFamily="34" charset="-120"/>
              </a:rPr>
              <a:t>The writer begins by explaining why some people could not easily reach the main library. The article then describes the first mobile library experiment and shows how the service developed. Later, the writer introduces problems and explains how the team adapted to them. Finally, the writer shows that the project reached more neighbourhoods and changed the meaning of a library. This structure helps the reader follow the development of the project from its original problem to its wider success.</a:t>
            </a:r>
            <a:endParaRPr lang="en-US" sz="2340" dirty="0"/>
          </a:p>
        </p:txBody>
      </p:sp>
      <p:sp>
        <p:nvSpPr>
          <p:cNvPr id="11" name="Text 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12" name="Text 1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3" name="Text 1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YOU DO · INDEPENDENT</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YOU DO</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Before You Hand It In...</a:t>
            </a:r>
            <a:endParaRPr lang="en-US" sz="3200" dirty="0"/>
          </a:p>
        </p:txBody>
      </p:sp>
      <p:sp>
        <p:nvSpPr>
          <p:cNvPr id="7" name="Shape 5"/>
          <p:cNvSpPr/>
          <p:nvPr/>
        </p:nvSpPr>
        <p:spPr>
          <a:xfrm>
            <a:off x="54864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Did I...</a:t>
            </a:r>
            <a:endParaRPr lang="en-US" sz="1600" dirty="0"/>
          </a:p>
        </p:txBody>
      </p:sp>
      <p:sp>
        <p:nvSpPr>
          <p:cNvPr id="10" name="Text 8"/>
          <p:cNvSpPr txBox="1"/>
          <p:nvPr/>
        </p:nvSpPr>
        <p:spPr>
          <a:xfrm>
            <a:off x="731520" y="2103120"/>
            <a:ext cx="5052060" cy="3291840"/>
          </a:xfrm>
          <a:prstGeom prst="rect">
            <a:avLst/>
          </a:prstGeom>
          <a:noFill/>
          <a:ln/>
        </p:spPr>
        <p:txBody>
          <a:bodyPr wrap="square" lIns="0" tIns="0" rIns="0" bIns="0" rtlCol="0" anchor="t"/>
          <a:lstStyle/>
          <a:p>
            <a:pPr marL="0" indent="0">
              <a:spcAft>
                <a:spcPts val="500"/>
              </a:spcAft>
              <a:buNone/>
            </a:pPr>
            <a:r>
              <a:rPr lang="en-US" sz="2380" dirty="0">
                <a:solidFill>
                  <a:srgbClr val="1B2A38"/>
                </a:solidFill>
                <a:latin typeface="Calibri" pitchFamily="34" charset="0"/>
                <a:ea typeface="Calibri" pitchFamily="34" charset="-122"/>
                <a:cs typeface="Calibri" pitchFamily="34" charset="-120"/>
              </a:rPr>
              <a:t>☐ answer the actual question?</a:t>
            </a:r>
            <a:endParaRPr lang="en-US" sz="2380" dirty="0"/>
          </a:p>
          <a:p>
            <a:pPr marL="0" indent="0">
              <a:spcAft>
                <a:spcPts val="500"/>
              </a:spcAft>
              <a:buNone/>
            </a:pPr>
            <a:r>
              <a:rPr lang="en-US" sz="2380" dirty="0">
                <a:solidFill>
                  <a:srgbClr val="1B2A38"/>
                </a:solidFill>
                <a:latin typeface="Calibri" pitchFamily="34" charset="0"/>
                <a:ea typeface="Calibri" pitchFamily="34" charset="-122"/>
                <a:cs typeface="Calibri" pitchFamily="34" charset="-120"/>
              </a:rPr>
              <a:t>☐ mention the structure?</a:t>
            </a:r>
            <a:endParaRPr lang="en-US" sz="2380" dirty="0"/>
          </a:p>
          <a:p>
            <a:pPr marL="0" indent="0">
              <a:spcAft>
                <a:spcPts val="500"/>
              </a:spcAft>
              <a:buNone/>
            </a:pPr>
            <a:r>
              <a:rPr lang="en-US" sz="2380" dirty="0">
                <a:solidFill>
                  <a:srgbClr val="1B2A38"/>
                </a:solidFill>
                <a:latin typeface="Calibri" pitchFamily="34" charset="0"/>
                <a:ea typeface="Calibri" pitchFamily="34" charset="-122"/>
                <a:cs typeface="Calibri" pitchFamily="34" charset="-120"/>
              </a:rPr>
              <a:t>☐ use evidence from the text?</a:t>
            </a:r>
            <a:endParaRPr lang="en-US" sz="2380" dirty="0"/>
          </a:p>
          <a:p>
            <a:pPr marL="0" indent="0">
              <a:spcAft>
                <a:spcPts val="500"/>
              </a:spcAft>
              <a:buNone/>
            </a:pPr>
            <a:r>
              <a:rPr lang="en-US" sz="2380" dirty="0">
                <a:solidFill>
                  <a:srgbClr val="1B2A38"/>
                </a:solidFill>
                <a:latin typeface="Calibri" pitchFamily="34" charset="0"/>
                <a:ea typeface="Calibri" pitchFamily="34" charset="-122"/>
                <a:cs typeface="Calibri" pitchFamily="34" charset="-120"/>
              </a:rPr>
              <a:t>☐ explain the effect?</a:t>
            </a:r>
            <a:endParaRPr lang="en-US" sz="2380" dirty="0"/>
          </a:p>
          <a:p>
            <a:pPr marL="0" indent="0">
              <a:spcAft>
                <a:spcPts val="500"/>
              </a:spcAft>
              <a:buNone/>
            </a:pPr>
            <a:r>
              <a:rPr lang="en-US" sz="2380" dirty="0">
                <a:solidFill>
                  <a:srgbClr val="1B2A38"/>
                </a:solidFill>
                <a:latin typeface="Calibri" pitchFamily="34" charset="0"/>
                <a:ea typeface="Calibri" pitchFamily="34" charset="-122"/>
                <a:cs typeface="Calibri" pitchFamily="34" charset="-120"/>
              </a:rPr>
              <a:t>☐ write complete sentences?</a:t>
            </a:r>
            <a:endParaRPr lang="en-US" sz="2380" dirty="0"/>
          </a:p>
          <a:p>
            <a:pPr marL="0" indent="0">
              <a:spcAft>
                <a:spcPts val="500"/>
              </a:spcAft>
              <a:buNone/>
            </a:pPr>
            <a:r>
              <a:rPr lang="en-US" sz="2380" dirty="0">
                <a:solidFill>
                  <a:srgbClr val="1B2A38"/>
                </a:solidFill>
                <a:latin typeface="Calibri" pitchFamily="34" charset="0"/>
                <a:ea typeface="Calibri" pitchFamily="34" charset="-122"/>
                <a:cs typeface="Calibri" pitchFamily="34" charset="-120"/>
              </a:rPr>
              <a:t>☐ avoid simply retelling the article?</a:t>
            </a:r>
            <a:endParaRPr lang="en-US" sz="2380" dirty="0"/>
          </a:p>
        </p:txBody>
      </p:sp>
      <p:sp>
        <p:nvSpPr>
          <p:cNvPr id="11" name="Shape 9"/>
          <p:cNvSpPr/>
          <p:nvPr/>
        </p:nvSpPr>
        <p:spPr>
          <a:xfrm>
            <a:off x="6195060" y="1463040"/>
            <a:ext cx="5417820" cy="4023360"/>
          </a:xfrm>
          <a:prstGeom prst="roundRect">
            <a:avLst>
              <a:gd name="adj" fmla="val 2727"/>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F7CA0"/>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Best question to ask yourself</a:t>
            </a:r>
            <a:endParaRPr lang="en-US" sz="1600" dirty="0"/>
          </a:p>
        </p:txBody>
      </p:sp>
      <p:sp>
        <p:nvSpPr>
          <p:cNvPr id="14" name="Text 12"/>
          <p:cNvSpPr txBox="1"/>
          <p:nvPr/>
        </p:nvSpPr>
        <p:spPr>
          <a:xfrm>
            <a:off x="6377940" y="2103120"/>
            <a:ext cx="5052060" cy="3291840"/>
          </a:xfrm>
          <a:prstGeom prst="rect">
            <a:avLst/>
          </a:prstGeom>
          <a:noFill/>
          <a:ln/>
        </p:spPr>
        <p:txBody>
          <a:bodyPr wrap="square" lIns="0" tIns="0" rIns="0" bIns="0" rtlCol="0" anchor="t"/>
          <a:lstStyle/>
          <a:p>
            <a:pPr marL="0" indent="0">
              <a:spcAft>
                <a:spcPts val="500"/>
              </a:spcAft>
              <a:buNone/>
            </a:pPr>
            <a:r>
              <a:rPr lang="en-US" sz="2380" b="1" dirty="0">
                <a:solidFill>
                  <a:srgbClr val="C0674F"/>
                </a:solidFill>
                <a:latin typeface="Calibri" pitchFamily="34" charset="0"/>
                <a:ea typeface="Calibri" pitchFamily="34" charset="-122"/>
                <a:cs typeface="Calibri" pitchFamily="34" charset="-120"/>
              </a:rPr>
              <a:t>“Have I explained WHY?”</a:t>
            </a:r>
            <a:endParaRPr lang="en-US" sz="2380" dirty="0"/>
          </a:p>
        </p:txBody>
      </p:sp>
      <p:sp>
        <p:nvSpPr>
          <p:cNvPr id="15" name="Text 13"/>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SOLO</a:t>
            </a:r>
            <a:endParaRPr lang="en-US" sz="1200" dirty="0"/>
          </a:p>
        </p:txBody>
      </p:sp>
      <p:sp>
        <p:nvSpPr>
          <p:cNvPr id="16" name="Text 14"/>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17" name="Text 15"/>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B2A38"/>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1B2A38"/>
                </a:solidFill>
                <a:latin typeface="Calibri" pitchFamily="34" charset="0"/>
                <a:ea typeface="Calibri" pitchFamily="34" charset="-122"/>
                <a:cs typeface="Calibri" pitchFamily="34" charset="-120"/>
              </a:rPr>
              <a:t>SESSION 2 · EXIT + CHECK</a:t>
            </a:r>
            <a:endParaRPr lang="en-US" sz="1100" dirty="0"/>
          </a:p>
        </p:txBody>
      </p:sp>
      <p:sp>
        <p:nvSpPr>
          <p:cNvPr id="4" name="Shape 2"/>
          <p:cNvSpPr/>
          <p:nvPr/>
        </p:nvSpPr>
        <p:spPr>
          <a:xfrm>
            <a:off x="10424160" y="256032"/>
            <a:ext cx="1280160" cy="310896"/>
          </a:xfrm>
          <a:prstGeom prst="roundRect">
            <a:avLst>
              <a:gd name="adj" fmla="val 50000"/>
            </a:avLst>
          </a:prstGeom>
          <a:solidFill>
            <a:srgbClr val="1B2A38"/>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Final Exit Ticket</a:t>
            </a:r>
            <a:endParaRPr lang="en-US" sz="3200" dirty="0"/>
          </a:p>
        </p:txBody>
      </p:sp>
      <p:sp>
        <p:nvSpPr>
          <p:cNvPr id="7" name="Shape 5"/>
          <p:cNvSpPr/>
          <p:nvPr/>
        </p:nvSpPr>
        <p:spPr>
          <a:xfrm rot="-120000">
            <a:off x="548640" y="1463040"/>
            <a:ext cx="2594610" cy="4023360"/>
          </a:xfrm>
          <a:prstGeom prst="rect">
            <a:avLst/>
          </a:prstGeom>
          <a:solidFill>
            <a:srgbClr val="FFF3B0"/>
          </a:solidFill>
          <a:ln/>
          <a:effectLst>
            <a:outerShdw blurRad="76200" dist="25400" dir="5400000" algn="bl" rotWithShape="0">
              <a:srgbClr val="000000">
                <a:alpha val="14000"/>
              </a:srgbClr>
            </a:outerShdw>
          </a:effectLst>
        </p:spPr>
      </p:sp>
      <p:sp>
        <p:nvSpPr>
          <p:cNvPr id="8" name="Shape 6"/>
          <p:cNvSpPr/>
          <p:nvPr/>
        </p:nvSpPr>
        <p:spPr>
          <a:xfrm>
            <a:off x="1745361" y="1371600"/>
            <a:ext cx="201168" cy="201168"/>
          </a:xfrm>
          <a:prstGeom prst="ellipse">
            <a:avLst/>
          </a:prstGeom>
          <a:solidFill>
            <a:srgbClr val="C0674F"/>
          </a:solidFill>
          <a:ln/>
        </p:spPr>
      </p:sp>
      <p:sp>
        <p:nvSpPr>
          <p:cNvPr id="9" name="Text 7"/>
          <p:cNvSpPr txBox="1"/>
          <p:nvPr/>
        </p:nvSpPr>
        <p:spPr>
          <a:xfrm rot="-120000">
            <a:off x="68580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1</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uses the word </a:t>
            </a:r>
            <a:r>
              <a:rPr lang="en-US" sz="2600" b="1" dirty="0">
                <a:solidFill>
                  <a:srgbClr val="C0674F"/>
                </a:solidFill>
                <a:latin typeface="Calibri" pitchFamily="34" charset="0"/>
                <a:ea typeface="Calibri" pitchFamily="34" charset="-122"/>
                <a:cs typeface="Calibri" pitchFamily="34" charset="-120"/>
              </a:rPr>
              <a:t>“bridge”</a:t>
            </a:r>
            <a:r>
              <a:rPr lang="en-US" sz="2600" dirty="0">
                <a:solidFill>
                  <a:srgbClr val="1B2A38"/>
                </a:solidFill>
                <a:latin typeface="Calibri" pitchFamily="34" charset="0"/>
                <a:ea typeface="Calibri" pitchFamily="34" charset="-122"/>
                <a:cs typeface="Calibri" pitchFamily="34" charset="-120"/>
              </a:rPr>
              <a:t> because...</a:t>
            </a:r>
            <a:endParaRPr lang="en-US" sz="1700" dirty="0"/>
          </a:p>
        </p:txBody>
      </p:sp>
      <p:sp>
        <p:nvSpPr>
          <p:cNvPr id="10" name="Shape 8"/>
          <p:cNvSpPr/>
          <p:nvPr/>
        </p:nvSpPr>
        <p:spPr>
          <a:xfrm rot="90000">
            <a:off x="3371850" y="1463040"/>
            <a:ext cx="2594610" cy="4023360"/>
          </a:xfrm>
          <a:prstGeom prst="rect">
            <a:avLst/>
          </a:prstGeom>
          <a:solidFill>
            <a:srgbClr val="D5EEDD"/>
          </a:solidFill>
          <a:ln/>
          <a:effectLst>
            <a:outerShdw blurRad="76200" dist="25400" dir="5400000" algn="bl" rotWithShape="0">
              <a:srgbClr val="000000">
                <a:alpha val="14000"/>
              </a:srgbClr>
            </a:outerShdw>
          </a:effectLst>
        </p:spPr>
      </p:sp>
      <p:sp>
        <p:nvSpPr>
          <p:cNvPr id="11" name="Shape 9"/>
          <p:cNvSpPr/>
          <p:nvPr/>
        </p:nvSpPr>
        <p:spPr>
          <a:xfrm>
            <a:off x="4568571" y="1371600"/>
            <a:ext cx="201168" cy="201168"/>
          </a:xfrm>
          <a:prstGeom prst="ellipse">
            <a:avLst/>
          </a:prstGeom>
          <a:solidFill>
            <a:srgbClr val="C0674F"/>
          </a:solidFill>
          <a:ln/>
        </p:spPr>
      </p:sp>
      <p:sp>
        <p:nvSpPr>
          <p:cNvPr id="12" name="Text 10"/>
          <p:cNvSpPr txBox="1"/>
          <p:nvPr/>
        </p:nvSpPr>
        <p:spPr>
          <a:xfrm rot="90000">
            <a:off x="350901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2</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writer places the problems </a:t>
            </a:r>
            <a:r>
              <a:rPr lang="en-US" sz="2600" b="1" dirty="0">
                <a:solidFill>
                  <a:srgbClr val="C0674F"/>
                </a:solidFill>
                <a:latin typeface="Calibri" pitchFamily="34" charset="0"/>
                <a:ea typeface="Calibri" pitchFamily="34" charset="-122"/>
                <a:cs typeface="Calibri" pitchFamily="34" charset="-120"/>
              </a:rPr>
              <a:t>before the final result</a:t>
            </a:r>
            <a:r>
              <a:rPr lang="en-US" sz="2600" dirty="0">
                <a:solidFill>
                  <a:srgbClr val="1B2A38"/>
                </a:solidFill>
                <a:latin typeface="Calibri" pitchFamily="34" charset="0"/>
                <a:ea typeface="Calibri" pitchFamily="34" charset="-122"/>
                <a:cs typeface="Calibri" pitchFamily="34" charset="-120"/>
              </a:rPr>
              <a:t> because...</a:t>
            </a:r>
            <a:endParaRPr lang="en-US" sz="1700" dirty="0"/>
          </a:p>
        </p:txBody>
      </p:sp>
      <p:sp>
        <p:nvSpPr>
          <p:cNvPr id="13" name="Shape 11"/>
          <p:cNvSpPr/>
          <p:nvPr/>
        </p:nvSpPr>
        <p:spPr>
          <a:xfrm rot="-60000">
            <a:off x="6195060" y="1463040"/>
            <a:ext cx="2594610" cy="4023360"/>
          </a:xfrm>
          <a:prstGeom prst="rect">
            <a:avLst/>
          </a:prstGeom>
          <a:solidFill>
            <a:srgbClr val="FAD9CF"/>
          </a:solidFill>
          <a:ln/>
          <a:effectLst>
            <a:outerShdw blurRad="76200" dist="25400" dir="5400000" algn="bl" rotWithShape="0">
              <a:srgbClr val="000000">
                <a:alpha val="14000"/>
              </a:srgbClr>
            </a:outerShdw>
          </a:effectLst>
        </p:spPr>
      </p:sp>
      <p:sp>
        <p:nvSpPr>
          <p:cNvPr id="14" name="Shape 12"/>
          <p:cNvSpPr/>
          <p:nvPr/>
        </p:nvSpPr>
        <p:spPr>
          <a:xfrm>
            <a:off x="7391781" y="1371600"/>
            <a:ext cx="201168" cy="201168"/>
          </a:xfrm>
          <a:prstGeom prst="ellipse">
            <a:avLst/>
          </a:prstGeom>
          <a:solidFill>
            <a:srgbClr val="C0674F"/>
          </a:solidFill>
          <a:ln/>
        </p:spPr>
      </p:sp>
      <p:sp>
        <p:nvSpPr>
          <p:cNvPr id="15" name="Text 13"/>
          <p:cNvSpPr txBox="1"/>
          <p:nvPr/>
        </p:nvSpPr>
        <p:spPr>
          <a:xfrm rot="-60000">
            <a:off x="633222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3</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The article is mainly written to...</a:t>
            </a:r>
            <a:endParaRPr lang="en-US" sz="1700" dirty="0"/>
          </a:p>
        </p:txBody>
      </p:sp>
      <p:sp>
        <p:nvSpPr>
          <p:cNvPr id="16" name="Shape 14"/>
          <p:cNvSpPr/>
          <p:nvPr/>
        </p:nvSpPr>
        <p:spPr>
          <a:xfrm rot="120000">
            <a:off x="9018270" y="1463040"/>
            <a:ext cx="2594610" cy="4023360"/>
          </a:xfrm>
          <a:prstGeom prst="rect">
            <a:avLst/>
          </a:prstGeom>
          <a:solidFill>
            <a:srgbClr val="D3E4F4"/>
          </a:solidFill>
          <a:ln/>
          <a:effectLst>
            <a:outerShdw blurRad="76200" dist="25400" dir="5400000" algn="bl" rotWithShape="0">
              <a:srgbClr val="000000">
                <a:alpha val="14000"/>
              </a:srgbClr>
            </a:outerShdw>
          </a:effectLst>
        </p:spPr>
      </p:sp>
      <p:sp>
        <p:nvSpPr>
          <p:cNvPr id="17" name="Shape 15"/>
          <p:cNvSpPr/>
          <p:nvPr/>
        </p:nvSpPr>
        <p:spPr>
          <a:xfrm>
            <a:off x="10214991" y="1371600"/>
            <a:ext cx="201168" cy="201168"/>
          </a:xfrm>
          <a:prstGeom prst="ellipse">
            <a:avLst/>
          </a:prstGeom>
          <a:solidFill>
            <a:srgbClr val="C0674F"/>
          </a:solidFill>
          <a:ln/>
        </p:spPr>
      </p:sp>
      <p:sp>
        <p:nvSpPr>
          <p:cNvPr id="18" name="Text 16"/>
          <p:cNvSpPr txBox="1"/>
          <p:nvPr/>
        </p:nvSpPr>
        <p:spPr>
          <a:xfrm rot="120000">
            <a:off x="9155430" y="1463040"/>
            <a:ext cx="2320290" cy="4023360"/>
          </a:xfrm>
          <a:prstGeom prst="rect">
            <a:avLst/>
          </a:prstGeom>
          <a:noFill/>
          <a:ln/>
        </p:spPr>
        <p:txBody>
          <a:bodyPr wrap="square" lIns="1905" tIns="0" rIns="635" bIns="1270" rtlCol="0" anchor="t"/>
          <a:lstStyle/>
          <a:p>
            <a:pPr marL="0" indent="0">
              <a:spcAft>
                <a:spcPts val="500"/>
              </a:spcAft>
              <a:buNone/>
            </a:pPr>
            <a:r>
              <a:rPr lang="en-US" sz="1700" b="1" dirty="0">
                <a:solidFill>
                  <a:srgbClr val="1B2A38"/>
                </a:solidFill>
                <a:latin typeface="Calibri" pitchFamily="34" charset="0"/>
                <a:ea typeface="Calibri" pitchFamily="34" charset="-122"/>
                <a:cs typeface="Calibri" pitchFamily="34" charset="-120"/>
              </a:rPr>
              <a:t>4</a:t>
            </a:r>
            <a:endParaRPr lang="en-US" sz="17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One piece of evidence that supports my answer is...</a:t>
            </a:r>
            <a:endParaRPr lang="en-US" sz="1700" dirty="0"/>
          </a:p>
        </p:txBody>
      </p:sp>
      <p:sp>
        <p:nvSpPr>
          <p:cNvPr id="19" name="Text 17"/>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CASE QUESTION</a:t>
            </a:r>
            <a:endParaRPr lang="en-US" sz="1100" dirty="0"/>
          </a:p>
        </p:txBody>
      </p:sp>
      <p:sp>
        <p:nvSpPr>
          <p:cNvPr id="20" name="Text 18"/>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Answer on your slip.</a:t>
            </a:r>
            <a:endParaRPr lang="en-US" sz="1600" dirty="0"/>
          </a:p>
        </p:txBody>
      </p:sp>
      <p:sp>
        <p:nvSpPr>
          <p:cNvPr id="21" name="Text 19"/>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CLUE</a:t>
            </a:r>
            <a:endParaRPr lang="en-US" sz="1200" dirty="0"/>
          </a:p>
        </p:txBody>
      </p:sp>
      <p:sp>
        <p:nvSpPr>
          <p:cNvPr id="22" name="Text 20"/>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3" name="Text 21"/>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E7D5B"/>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4E7D5B"/>
                </a:solidFill>
                <a:latin typeface="Calibri" pitchFamily="34" charset="0"/>
                <a:ea typeface="Calibri" pitchFamily="34" charset="-122"/>
                <a:cs typeface="Calibri" pitchFamily="34" charset="-120"/>
              </a:rPr>
              <a:t>SESSION 2 · REVEAL AFTER STUDENTS ANSWER · CHECK</a:t>
            </a:r>
            <a:endParaRPr lang="en-US" sz="1100" dirty="0"/>
          </a:p>
        </p:txBody>
      </p:sp>
      <p:sp>
        <p:nvSpPr>
          <p:cNvPr id="4" name="Shape 2"/>
          <p:cNvSpPr/>
          <p:nvPr/>
        </p:nvSpPr>
        <p:spPr>
          <a:xfrm>
            <a:off x="10424160" y="256032"/>
            <a:ext cx="1280160" cy="310896"/>
          </a:xfrm>
          <a:prstGeom prst="roundRect">
            <a:avLst>
              <a:gd name="adj" fmla="val 50000"/>
            </a:avLst>
          </a:prstGeom>
          <a:solidFill>
            <a:srgbClr val="4E7D5B"/>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Exit Ticket: Answers</a:t>
            </a:r>
            <a:endParaRPr lang="en-US" sz="3200" dirty="0"/>
          </a:p>
        </p:txBody>
      </p:sp>
      <p:sp>
        <p:nvSpPr>
          <p:cNvPr id="7" name="Shape 5"/>
          <p:cNvSpPr/>
          <p:nvPr/>
        </p:nvSpPr>
        <p:spPr>
          <a:xfrm>
            <a:off x="548640" y="146304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8" name="Shape 6"/>
          <p:cNvSpPr/>
          <p:nvPr/>
        </p:nvSpPr>
        <p:spPr>
          <a:xfrm>
            <a:off x="548640" y="1463040"/>
            <a:ext cx="5417820" cy="548640"/>
          </a:xfrm>
          <a:prstGeom prst="round2SameRect">
            <a:avLst/>
          </a:prstGeom>
          <a:solidFill>
            <a:srgbClr val="4E7D5B"/>
          </a:solidFill>
          <a:ln/>
        </p:spPr>
      </p:sp>
      <p:sp>
        <p:nvSpPr>
          <p:cNvPr id="9" name="Text 7"/>
          <p:cNvSpPr txBox="1"/>
          <p:nvPr/>
        </p:nvSpPr>
        <p:spPr>
          <a:xfrm>
            <a:off x="73152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731520" y="2103120"/>
            <a:ext cx="5052060" cy="1165860"/>
          </a:xfrm>
          <a:prstGeom prst="rect">
            <a:avLst/>
          </a:prstGeom>
          <a:noFill/>
          <a:ln/>
        </p:spPr>
        <p:txBody>
          <a:bodyPr wrap="square" lIns="0" tIns="0" rIns="0" bIns="0" rtlCol="0" anchor="t"/>
          <a:lstStyle/>
          <a:p>
            <a:pPr marL="0" indent="0">
              <a:spcAft>
                <a:spcPts val="500"/>
              </a:spcAft>
              <a:buNone/>
            </a:pPr>
            <a:r>
              <a:rPr lang="en-US" sz="2400" dirty="0">
                <a:solidFill>
                  <a:srgbClr val="1B2A38"/>
                </a:solidFill>
                <a:latin typeface="Calibri" pitchFamily="34" charset="0"/>
                <a:ea typeface="Calibri" pitchFamily="34" charset="-122"/>
                <a:cs typeface="Calibri" pitchFamily="34" charset="-120"/>
              </a:rPr>
              <a:t>The word </a:t>
            </a:r>
            <a:r>
              <a:rPr lang="en-US" sz="2400" b="1" dirty="0">
                <a:solidFill>
                  <a:srgbClr val="C0674F"/>
                </a:solidFill>
                <a:latin typeface="Calibri" pitchFamily="34" charset="0"/>
                <a:ea typeface="Calibri" pitchFamily="34" charset="-122"/>
                <a:cs typeface="Calibri" pitchFamily="34" charset="-120"/>
              </a:rPr>
              <a:t>“bridge”</a:t>
            </a:r>
            <a:r>
              <a:rPr lang="en-US" sz="2400" dirty="0">
                <a:solidFill>
                  <a:srgbClr val="1B2A38"/>
                </a:solidFill>
                <a:latin typeface="Calibri" pitchFamily="34" charset="0"/>
                <a:ea typeface="Calibri" pitchFamily="34" charset="-122"/>
                <a:cs typeface="Calibri" pitchFamily="34" charset="-120"/>
              </a:rPr>
              <a:t> suggests connection between the community and the library.</a:t>
            </a:r>
            <a:endParaRPr lang="en-US" sz="2400" dirty="0"/>
          </a:p>
        </p:txBody>
      </p:sp>
      <p:sp>
        <p:nvSpPr>
          <p:cNvPr id="11" name="Shape 9"/>
          <p:cNvSpPr/>
          <p:nvPr/>
        </p:nvSpPr>
        <p:spPr>
          <a:xfrm>
            <a:off x="6195060" y="146304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12" name="Shape 10"/>
          <p:cNvSpPr/>
          <p:nvPr/>
        </p:nvSpPr>
        <p:spPr>
          <a:xfrm>
            <a:off x="6195060" y="1463040"/>
            <a:ext cx="5417820" cy="548640"/>
          </a:xfrm>
          <a:prstGeom prst="round2SameRect">
            <a:avLst/>
          </a:prstGeom>
          <a:solidFill>
            <a:srgbClr val="4E7D5B"/>
          </a:solidFill>
          <a:ln/>
        </p:spPr>
      </p:sp>
      <p:sp>
        <p:nvSpPr>
          <p:cNvPr id="13" name="Text 11"/>
          <p:cNvSpPr txBox="1"/>
          <p:nvPr/>
        </p:nvSpPr>
        <p:spPr>
          <a:xfrm>
            <a:off x="6377940" y="146304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6377940" y="2103120"/>
            <a:ext cx="5052060" cy="1165860"/>
          </a:xfrm>
          <a:prstGeom prst="rect">
            <a:avLst/>
          </a:prstGeom>
          <a:noFill/>
          <a:ln/>
        </p:spPr>
        <p:txBody>
          <a:bodyPr wrap="square" lIns="0" tIns="0" rIns="0" bIns="0" rtlCol="0" anchor="t"/>
          <a:lstStyle/>
          <a:p>
            <a:pPr marL="0" indent="0">
              <a:spcAft>
                <a:spcPts val="500"/>
              </a:spcAft>
              <a:buNone/>
            </a:pPr>
            <a:r>
              <a:rPr lang="en-US" sz="2400" dirty="0">
                <a:solidFill>
                  <a:srgbClr val="1B2A38"/>
                </a:solidFill>
                <a:latin typeface="Calibri" pitchFamily="34" charset="0"/>
                <a:ea typeface="Calibri" pitchFamily="34" charset="-122"/>
                <a:cs typeface="Calibri" pitchFamily="34" charset="-120"/>
              </a:rPr>
              <a:t>The problems show that the project faced challenges and had to adapt before reaching its wider result.</a:t>
            </a:r>
            <a:endParaRPr lang="en-US" sz="2400" dirty="0"/>
          </a:p>
        </p:txBody>
      </p:sp>
      <p:sp>
        <p:nvSpPr>
          <p:cNvPr id="15" name="Shape 13"/>
          <p:cNvSpPr/>
          <p:nvPr/>
        </p:nvSpPr>
        <p:spPr>
          <a:xfrm>
            <a:off x="548640" y="358902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16" name="Shape 14"/>
          <p:cNvSpPr/>
          <p:nvPr/>
        </p:nvSpPr>
        <p:spPr>
          <a:xfrm>
            <a:off x="548640" y="3589020"/>
            <a:ext cx="5417820" cy="548640"/>
          </a:xfrm>
          <a:prstGeom prst="round2SameRect">
            <a:avLst/>
          </a:prstGeom>
          <a:solidFill>
            <a:srgbClr val="4E7D5B"/>
          </a:solidFill>
          <a:ln/>
        </p:spPr>
      </p:sp>
      <p:sp>
        <p:nvSpPr>
          <p:cNvPr id="17" name="Text 15"/>
          <p:cNvSpPr txBox="1"/>
          <p:nvPr/>
        </p:nvSpPr>
        <p:spPr>
          <a:xfrm>
            <a:off x="731520" y="358902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31520" y="4229100"/>
            <a:ext cx="5052060" cy="1165860"/>
          </a:xfrm>
          <a:prstGeom prst="rect">
            <a:avLst/>
          </a:prstGeom>
          <a:noFill/>
          <a:ln/>
        </p:spPr>
        <p:txBody>
          <a:bodyPr wrap="square" lIns="0" tIns="0" rIns="0" bIns="0" rtlCol="0" anchor="t"/>
          <a:lstStyle/>
          <a:p>
            <a:pPr marL="0" indent="0">
              <a:spcAft>
                <a:spcPts val="500"/>
              </a:spcAft>
              <a:buNone/>
            </a:pPr>
            <a:r>
              <a:rPr lang="en-US" sz="2000" dirty="0">
                <a:solidFill>
                  <a:srgbClr val="1B2A38"/>
                </a:solidFill>
                <a:latin typeface="Calibri" pitchFamily="34" charset="0"/>
                <a:ea typeface="Calibri" pitchFamily="34" charset="-122"/>
                <a:cs typeface="Calibri" pitchFamily="34" charset="-120"/>
              </a:rPr>
              <a:t>The article is mainly written to </a:t>
            </a:r>
            <a:r>
              <a:rPr lang="en-US" sz="2000" b="1" dirty="0">
                <a:solidFill>
                  <a:srgbClr val="C0674F"/>
                </a:solidFill>
                <a:latin typeface="Calibri" pitchFamily="34" charset="0"/>
                <a:ea typeface="Calibri" pitchFamily="34" charset="-122"/>
                <a:cs typeface="Calibri" pitchFamily="34" charset="-120"/>
              </a:rPr>
              <a:t>inform and explain</a:t>
            </a:r>
            <a:r>
              <a:rPr lang="en-US" sz="2000" dirty="0">
                <a:solidFill>
                  <a:srgbClr val="1B2A38"/>
                </a:solidFill>
                <a:latin typeface="Calibri" pitchFamily="34" charset="0"/>
                <a:ea typeface="Calibri" pitchFamily="34" charset="-122"/>
                <a:cs typeface="Calibri" pitchFamily="34" charset="-120"/>
              </a:rPr>
              <a:t> how the mobile library developed and reached the community.</a:t>
            </a:r>
            <a:endParaRPr lang="en-US" sz="2000" dirty="0"/>
          </a:p>
        </p:txBody>
      </p:sp>
      <p:sp>
        <p:nvSpPr>
          <p:cNvPr id="19" name="Shape 17"/>
          <p:cNvSpPr/>
          <p:nvPr/>
        </p:nvSpPr>
        <p:spPr>
          <a:xfrm>
            <a:off x="6195060" y="3589020"/>
            <a:ext cx="5417820" cy="1897380"/>
          </a:xfrm>
          <a:prstGeom prst="roundRect">
            <a:avLst>
              <a:gd name="adj" fmla="val 5783"/>
            </a:avLst>
          </a:prstGeom>
          <a:solidFill>
            <a:srgbClr val="FFFFFF"/>
          </a:solidFill>
          <a:ln/>
          <a:effectLst>
            <a:outerShdw blurRad="76200" dist="25400" dir="5400000" algn="bl" rotWithShape="0">
              <a:srgbClr val="000000">
                <a:alpha val="14000"/>
              </a:srgbClr>
            </a:outerShdw>
          </a:effectLst>
        </p:spPr>
      </p:sp>
      <p:sp>
        <p:nvSpPr>
          <p:cNvPr id="20" name="Shape 18"/>
          <p:cNvSpPr/>
          <p:nvPr/>
        </p:nvSpPr>
        <p:spPr>
          <a:xfrm>
            <a:off x="6195060" y="3589020"/>
            <a:ext cx="5417820" cy="548640"/>
          </a:xfrm>
          <a:prstGeom prst="round2SameRect">
            <a:avLst/>
          </a:prstGeom>
          <a:solidFill>
            <a:srgbClr val="4E7D5B"/>
          </a:solidFill>
          <a:ln/>
        </p:spPr>
      </p:sp>
      <p:sp>
        <p:nvSpPr>
          <p:cNvPr id="21" name="Text 19"/>
          <p:cNvSpPr txBox="1"/>
          <p:nvPr/>
        </p:nvSpPr>
        <p:spPr>
          <a:xfrm>
            <a:off x="6377940" y="3589020"/>
            <a:ext cx="51435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6377940" y="4229100"/>
            <a:ext cx="5052060" cy="1165860"/>
          </a:xfrm>
          <a:prstGeom prst="rect">
            <a:avLst/>
          </a:prstGeom>
          <a:noFill/>
          <a:ln/>
        </p:spPr>
        <p:txBody>
          <a:bodyPr wrap="square" lIns="0" tIns="0" rIns="0" bIns="0" rtlCol="0" anchor="t"/>
          <a:lstStyle/>
          <a:p>
            <a:pPr marL="0" indent="0">
              <a:spcAft>
                <a:spcPts val="500"/>
              </a:spcAft>
              <a:buNone/>
            </a:pPr>
            <a:r>
              <a:rPr lang="en-US" sz="2400" dirty="0">
                <a:solidFill>
                  <a:srgbClr val="1B2A38"/>
                </a:solidFill>
                <a:latin typeface="Calibri" pitchFamily="34" charset="0"/>
                <a:ea typeface="Calibri" pitchFamily="34" charset="-122"/>
                <a:cs typeface="Calibri" pitchFamily="34" charset="-120"/>
              </a:rPr>
              <a:t>Answers may vary, but the evidence must come directly from the article.</a:t>
            </a:r>
            <a:endParaRPr lang="en-US" sz="2400" dirty="0"/>
          </a:p>
        </p:txBody>
      </p:sp>
      <p:sp>
        <p:nvSpPr>
          <p:cNvPr id="23" name="Text 21"/>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SOLVED</a:t>
            </a:r>
            <a:endParaRPr lang="en-US" sz="1200" dirty="0"/>
          </a:p>
        </p:txBody>
      </p:sp>
      <p:sp>
        <p:nvSpPr>
          <p:cNvPr id="24" name="Text 2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25" name="Text 23"/>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3EA"/>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B2A38"/>
          </a:solidFill>
          <a:ln/>
        </p:spPr>
      </p:sp>
      <p:sp>
        <p:nvSpPr>
          <p:cNvPr id="3" name="Text 1"/>
          <p:cNvSpPr txBox="1"/>
          <p:nvPr/>
        </p:nvSpPr>
        <p:spPr>
          <a:xfrm>
            <a:off x="548640" y="274320"/>
            <a:ext cx="9144000" cy="274320"/>
          </a:xfrm>
          <a:prstGeom prst="rect">
            <a:avLst/>
          </a:prstGeom>
          <a:noFill/>
          <a:ln/>
        </p:spPr>
        <p:txBody>
          <a:bodyPr wrap="square" lIns="0" tIns="0" rIns="0" bIns="0" rtlCol="0" anchor="ctr"/>
          <a:lstStyle/>
          <a:p>
            <a:pPr marL="0" indent="0">
              <a:buNone/>
            </a:pPr>
            <a:r>
              <a:rPr lang="en-US" sz="1100" b="1" dirty="0">
                <a:solidFill>
                  <a:srgbClr val="1B2A38"/>
                </a:solidFill>
                <a:latin typeface="Calibri" pitchFamily="34" charset="0"/>
                <a:ea typeface="Calibri" pitchFamily="34" charset="-122"/>
                <a:cs typeface="Calibri" pitchFamily="34" charset="-120"/>
              </a:rPr>
              <a:t>SESSION 2 · EXIT + CHECK</a:t>
            </a:r>
            <a:endParaRPr lang="en-US" sz="1100" dirty="0"/>
          </a:p>
        </p:txBody>
      </p:sp>
      <p:sp>
        <p:nvSpPr>
          <p:cNvPr id="4" name="Shape 2"/>
          <p:cNvSpPr/>
          <p:nvPr/>
        </p:nvSpPr>
        <p:spPr>
          <a:xfrm>
            <a:off x="10424160" y="256032"/>
            <a:ext cx="1280160" cy="310896"/>
          </a:xfrm>
          <a:prstGeom prst="roundRect">
            <a:avLst>
              <a:gd name="adj" fmla="val 50000"/>
            </a:avLst>
          </a:prstGeom>
          <a:solidFill>
            <a:srgbClr val="1B2A38"/>
          </a:solidFill>
          <a:ln/>
        </p:spPr>
      </p:sp>
      <p:sp>
        <p:nvSpPr>
          <p:cNvPr id="5" name="Text 3"/>
          <p:cNvSpPr txBox="1"/>
          <p:nvPr/>
        </p:nvSpPr>
        <p:spPr>
          <a:xfrm>
            <a:off x="10424160" y="256032"/>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CHECK</a:t>
            </a:r>
            <a:endParaRPr lang="en-US" sz="1100" dirty="0"/>
          </a:p>
        </p:txBody>
      </p:sp>
      <p:sp>
        <p:nvSpPr>
          <p:cNvPr id="6" name="Text 4"/>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1B2A38"/>
                </a:solidFill>
                <a:latin typeface="Calibri" pitchFamily="34" charset="0"/>
                <a:ea typeface="Calibri" pitchFamily="34" charset="-122"/>
                <a:cs typeface="Calibri" pitchFamily="34" charset="-120"/>
              </a:rPr>
              <a:t>🕵️ You Are Now a Reading Detective</a:t>
            </a:r>
            <a:endParaRPr lang="en-US" sz="3200" dirty="0"/>
          </a:p>
        </p:txBody>
      </p:sp>
      <p:sp>
        <p:nvSpPr>
          <p:cNvPr id="7" name="Shape 5"/>
          <p:cNvSpPr/>
          <p:nvPr/>
        </p:nvSpPr>
        <p:spPr>
          <a:xfrm>
            <a:off x="1216152" y="1463040"/>
            <a:ext cx="548640" cy="548640"/>
          </a:xfrm>
          <a:prstGeom prst="ellipse">
            <a:avLst/>
          </a:prstGeom>
          <a:solidFill>
            <a:srgbClr val="4E7D5B"/>
          </a:solidFill>
          <a:ln/>
        </p:spPr>
      </p:sp>
      <p:sp>
        <p:nvSpPr>
          <p:cNvPr id="8" name="Text 6"/>
          <p:cNvSpPr txBox="1"/>
          <p:nvPr/>
        </p:nvSpPr>
        <p:spPr>
          <a:xfrm>
            <a:off x="1216152"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Shape 7"/>
          <p:cNvSpPr/>
          <p:nvPr/>
        </p:nvSpPr>
        <p:spPr>
          <a:xfrm>
            <a:off x="2496312" y="3680460"/>
            <a:ext cx="283464" cy="274320"/>
          </a:xfrm>
          <a:prstGeom prst="rightArrow">
            <a:avLst/>
          </a:prstGeom>
          <a:solidFill>
            <a:srgbClr val="D9A441"/>
          </a:solidFill>
          <a:ln/>
        </p:spPr>
      </p:sp>
      <p:sp>
        <p:nvSpPr>
          <p:cNvPr id="10" name="Shape 8"/>
          <p:cNvSpPr/>
          <p:nvPr/>
        </p:nvSpPr>
        <p:spPr>
          <a:xfrm>
            <a:off x="548640"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1" name="Shape 9"/>
          <p:cNvSpPr/>
          <p:nvPr/>
        </p:nvSpPr>
        <p:spPr>
          <a:xfrm>
            <a:off x="548640" y="2286000"/>
            <a:ext cx="64008" cy="3063240"/>
          </a:xfrm>
          <a:prstGeom prst="rect">
            <a:avLst/>
          </a:prstGeom>
          <a:solidFill>
            <a:srgbClr val="4E7D5B"/>
          </a:solidFill>
          <a:ln/>
        </p:spPr>
      </p:sp>
      <p:sp>
        <p:nvSpPr>
          <p:cNvPr id="12" name="Text 10"/>
          <p:cNvSpPr txBox="1"/>
          <p:nvPr/>
        </p:nvSpPr>
        <p:spPr>
          <a:xfrm>
            <a:off x="777240"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MEANING?</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Context</a:t>
            </a:r>
            <a:endParaRPr lang="en-US" sz="1400" dirty="0"/>
          </a:p>
        </p:txBody>
      </p:sp>
      <p:sp>
        <p:nvSpPr>
          <p:cNvPr id="13" name="Shape 11"/>
          <p:cNvSpPr/>
          <p:nvPr/>
        </p:nvSpPr>
        <p:spPr>
          <a:xfrm>
            <a:off x="3511296" y="1463040"/>
            <a:ext cx="548640" cy="548640"/>
          </a:xfrm>
          <a:prstGeom prst="ellipse">
            <a:avLst/>
          </a:prstGeom>
          <a:solidFill>
            <a:srgbClr val="4F7CA0"/>
          </a:solidFill>
          <a:ln/>
        </p:spPr>
      </p:sp>
      <p:sp>
        <p:nvSpPr>
          <p:cNvPr id="14" name="Text 12"/>
          <p:cNvSpPr txBox="1"/>
          <p:nvPr/>
        </p:nvSpPr>
        <p:spPr>
          <a:xfrm>
            <a:off x="3511296"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Shape 13"/>
          <p:cNvSpPr/>
          <p:nvPr/>
        </p:nvSpPr>
        <p:spPr>
          <a:xfrm>
            <a:off x="4791456" y="3680460"/>
            <a:ext cx="283464" cy="274320"/>
          </a:xfrm>
          <a:prstGeom prst="rightArrow">
            <a:avLst/>
          </a:prstGeom>
          <a:solidFill>
            <a:srgbClr val="D9A441"/>
          </a:solidFill>
          <a:ln/>
        </p:spPr>
      </p:sp>
      <p:sp>
        <p:nvSpPr>
          <p:cNvPr id="16" name="Shape 14"/>
          <p:cNvSpPr/>
          <p:nvPr/>
        </p:nvSpPr>
        <p:spPr>
          <a:xfrm>
            <a:off x="2843784"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17" name="Shape 15"/>
          <p:cNvSpPr/>
          <p:nvPr/>
        </p:nvSpPr>
        <p:spPr>
          <a:xfrm>
            <a:off x="2843784" y="2286000"/>
            <a:ext cx="64008" cy="3063240"/>
          </a:xfrm>
          <a:prstGeom prst="rect">
            <a:avLst/>
          </a:prstGeom>
          <a:solidFill>
            <a:srgbClr val="4F7CA0"/>
          </a:solidFill>
          <a:ln/>
        </p:spPr>
      </p:sp>
      <p:sp>
        <p:nvSpPr>
          <p:cNvPr id="18" name="Text 16"/>
          <p:cNvSpPr txBox="1"/>
          <p:nvPr/>
        </p:nvSpPr>
        <p:spPr>
          <a:xfrm>
            <a:off x="3072384"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F7CA0"/>
                </a:solidFill>
                <a:latin typeface="Calibri" pitchFamily="34" charset="0"/>
                <a:ea typeface="Calibri" pitchFamily="34" charset="-122"/>
                <a:cs typeface="Calibri" pitchFamily="34" charset="-120"/>
              </a:rPr>
              <a:t>WHY THIS WORD?</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Writer's Choice</a:t>
            </a:r>
            <a:endParaRPr lang="en-US" sz="1400" dirty="0"/>
          </a:p>
        </p:txBody>
      </p:sp>
      <p:sp>
        <p:nvSpPr>
          <p:cNvPr id="19" name="Shape 17"/>
          <p:cNvSpPr/>
          <p:nvPr/>
        </p:nvSpPr>
        <p:spPr>
          <a:xfrm>
            <a:off x="5806440" y="1463040"/>
            <a:ext cx="548640" cy="548640"/>
          </a:xfrm>
          <a:prstGeom prst="ellipse">
            <a:avLst/>
          </a:prstGeom>
          <a:solidFill>
            <a:srgbClr val="C0674F"/>
          </a:solidFill>
          <a:ln/>
        </p:spPr>
      </p:sp>
      <p:sp>
        <p:nvSpPr>
          <p:cNvPr id="20" name="Text 18"/>
          <p:cNvSpPr txBox="1"/>
          <p:nvPr/>
        </p:nvSpPr>
        <p:spPr>
          <a:xfrm>
            <a:off x="5806440"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Shape 19"/>
          <p:cNvSpPr/>
          <p:nvPr/>
        </p:nvSpPr>
        <p:spPr>
          <a:xfrm>
            <a:off x="7086600" y="3680460"/>
            <a:ext cx="283464" cy="274320"/>
          </a:xfrm>
          <a:prstGeom prst="rightArrow">
            <a:avLst/>
          </a:prstGeom>
          <a:solidFill>
            <a:srgbClr val="D9A441"/>
          </a:solidFill>
          <a:ln/>
        </p:spPr>
      </p:sp>
      <p:sp>
        <p:nvSpPr>
          <p:cNvPr id="22" name="Shape 20"/>
          <p:cNvSpPr/>
          <p:nvPr/>
        </p:nvSpPr>
        <p:spPr>
          <a:xfrm>
            <a:off x="5138928"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3" name="Shape 21"/>
          <p:cNvSpPr/>
          <p:nvPr/>
        </p:nvSpPr>
        <p:spPr>
          <a:xfrm>
            <a:off x="5138928" y="2286000"/>
            <a:ext cx="64008" cy="3063240"/>
          </a:xfrm>
          <a:prstGeom prst="rect">
            <a:avLst/>
          </a:prstGeom>
          <a:solidFill>
            <a:srgbClr val="C0674F"/>
          </a:solidFill>
          <a:ln/>
        </p:spPr>
      </p:sp>
      <p:sp>
        <p:nvSpPr>
          <p:cNvPr id="24" name="Text 22"/>
          <p:cNvSpPr txBox="1"/>
          <p:nvPr/>
        </p:nvSpPr>
        <p:spPr>
          <a:xfrm>
            <a:off x="5367528"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C0674F"/>
                </a:solidFill>
                <a:latin typeface="Calibri" pitchFamily="34" charset="0"/>
                <a:ea typeface="Calibri" pitchFamily="34" charset="-122"/>
                <a:cs typeface="Calibri" pitchFamily="34" charset="-120"/>
              </a:rPr>
              <a:t>WHY HERE?</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Structure</a:t>
            </a:r>
            <a:endParaRPr lang="en-US" sz="1400" dirty="0"/>
          </a:p>
        </p:txBody>
      </p:sp>
      <p:sp>
        <p:nvSpPr>
          <p:cNvPr id="25" name="Shape 23"/>
          <p:cNvSpPr/>
          <p:nvPr/>
        </p:nvSpPr>
        <p:spPr>
          <a:xfrm>
            <a:off x="8101584" y="1463040"/>
            <a:ext cx="548640" cy="548640"/>
          </a:xfrm>
          <a:prstGeom prst="ellipse">
            <a:avLst/>
          </a:prstGeom>
          <a:solidFill>
            <a:srgbClr val="D9A441"/>
          </a:solidFill>
          <a:ln/>
        </p:spPr>
      </p:sp>
      <p:sp>
        <p:nvSpPr>
          <p:cNvPr id="26" name="Text 24"/>
          <p:cNvSpPr txBox="1"/>
          <p:nvPr/>
        </p:nvSpPr>
        <p:spPr>
          <a:xfrm>
            <a:off x="8101584" y="1463040"/>
            <a:ext cx="548640" cy="548640"/>
          </a:xfrm>
          <a:prstGeom prst="rect">
            <a:avLst/>
          </a:prstGeom>
          <a:noFill/>
          <a:ln/>
        </p:spPr>
        <p:txBody>
          <a:bodyPr wrap="square" lIns="0" tIns="0" rIns="0" bIns="0" rtlCol="0" anchor="ctr"/>
          <a:lstStyle/>
          <a:p>
            <a:pPr marL="0" indent="0" algn="ctr">
              <a:buNone/>
            </a:pPr>
            <a:r>
              <a:rPr lang="en-US" sz="2200" b="1" dirty="0">
                <a:solidFill>
                  <a:srgbClr val="1B2A38"/>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9381744" y="3680460"/>
            <a:ext cx="283464" cy="274320"/>
          </a:xfrm>
          <a:prstGeom prst="rightArrow">
            <a:avLst/>
          </a:prstGeom>
          <a:solidFill>
            <a:srgbClr val="D9A441"/>
          </a:solidFill>
          <a:ln/>
        </p:spPr>
      </p:sp>
      <p:sp>
        <p:nvSpPr>
          <p:cNvPr id="28" name="Shape 26"/>
          <p:cNvSpPr/>
          <p:nvPr/>
        </p:nvSpPr>
        <p:spPr>
          <a:xfrm>
            <a:off x="7434072"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29" name="Shape 27"/>
          <p:cNvSpPr/>
          <p:nvPr/>
        </p:nvSpPr>
        <p:spPr>
          <a:xfrm>
            <a:off x="7434072" y="2286000"/>
            <a:ext cx="64008" cy="3063240"/>
          </a:xfrm>
          <a:prstGeom prst="rect">
            <a:avLst/>
          </a:prstGeom>
          <a:solidFill>
            <a:srgbClr val="D9A441"/>
          </a:solidFill>
          <a:ln/>
        </p:spPr>
      </p:sp>
      <p:sp>
        <p:nvSpPr>
          <p:cNvPr id="30" name="Text 28"/>
          <p:cNvSpPr txBox="1"/>
          <p:nvPr/>
        </p:nvSpPr>
        <p:spPr>
          <a:xfrm>
            <a:off x="7662672"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9A6F12"/>
                </a:solidFill>
                <a:latin typeface="Calibri" pitchFamily="34" charset="0"/>
                <a:ea typeface="Calibri" pitchFamily="34" charset="-122"/>
                <a:cs typeface="Calibri" pitchFamily="34" charset="-120"/>
              </a:rPr>
              <a:t>WHY WAS IT WRITTEN?</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Purpose</a:t>
            </a:r>
            <a:endParaRPr lang="en-US" sz="1400" dirty="0"/>
          </a:p>
        </p:txBody>
      </p:sp>
      <p:sp>
        <p:nvSpPr>
          <p:cNvPr id="31" name="Shape 29"/>
          <p:cNvSpPr/>
          <p:nvPr/>
        </p:nvSpPr>
        <p:spPr>
          <a:xfrm>
            <a:off x="10396728" y="1463040"/>
            <a:ext cx="548640" cy="548640"/>
          </a:xfrm>
          <a:prstGeom prst="ellipse">
            <a:avLst/>
          </a:prstGeom>
          <a:solidFill>
            <a:srgbClr val="4E7D5B"/>
          </a:solidFill>
          <a:ln/>
        </p:spPr>
      </p:sp>
      <p:sp>
        <p:nvSpPr>
          <p:cNvPr id="32" name="Text 30"/>
          <p:cNvSpPr txBox="1"/>
          <p:nvPr/>
        </p:nvSpPr>
        <p:spPr>
          <a:xfrm>
            <a:off x="10396728" y="1463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3" name="Shape 31"/>
          <p:cNvSpPr/>
          <p:nvPr/>
        </p:nvSpPr>
        <p:spPr>
          <a:xfrm>
            <a:off x="9729216" y="2148840"/>
            <a:ext cx="1883664" cy="3337560"/>
          </a:xfrm>
          <a:prstGeom prst="roundRect">
            <a:avLst>
              <a:gd name="adj" fmla="val 5825"/>
            </a:avLst>
          </a:prstGeom>
          <a:solidFill>
            <a:srgbClr val="FFFFFF"/>
          </a:solidFill>
          <a:ln/>
          <a:effectLst>
            <a:outerShdw blurRad="76200" dist="25400" dir="5400000" algn="bl" rotWithShape="0">
              <a:srgbClr val="000000">
                <a:alpha val="14000"/>
              </a:srgbClr>
            </a:outerShdw>
          </a:effectLst>
        </p:spPr>
      </p:sp>
      <p:sp>
        <p:nvSpPr>
          <p:cNvPr id="34" name="Shape 32"/>
          <p:cNvSpPr/>
          <p:nvPr/>
        </p:nvSpPr>
        <p:spPr>
          <a:xfrm>
            <a:off x="9729216" y="2286000"/>
            <a:ext cx="64008" cy="3063240"/>
          </a:xfrm>
          <a:prstGeom prst="rect">
            <a:avLst/>
          </a:prstGeom>
          <a:solidFill>
            <a:srgbClr val="4E7D5B"/>
          </a:solidFill>
          <a:ln/>
        </p:spPr>
      </p:sp>
      <p:sp>
        <p:nvSpPr>
          <p:cNvPr id="35" name="Text 33"/>
          <p:cNvSpPr txBox="1"/>
          <p:nvPr/>
        </p:nvSpPr>
        <p:spPr>
          <a:xfrm>
            <a:off x="9957816" y="2148840"/>
            <a:ext cx="1517904" cy="3337560"/>
          </a:xfrm>
          <a:prstGeom prst="rect">
            <a:avLst/>
          </a:prstGeom>
          <a:noFill/>
          <a:ln/>
        </p:spPr>
        <p:txBody>
          <a:bodyPr wrap="square" lIns="1905" tIns="0" rIns="635" bIns="1270" rtlCol="0" anchor="t"/>
          <a:lstStyle/>
          <a:p>
            <a:pPr marL="0" indent="0">
              <a:spcAft>
                <a:spcPts val="500"/>
              </a:spcAft>
              <a:buNone/>
            </a:pPr>
            <a:r>
              <a:rPr lang="en-US" sz="1400" b="1" dirty="0">
                <a:solidFill>
                  <a:srgbClr val="4E7D5B"/>
                </a:solidFill>
                <a:latin typeface="Calibri" pitchFamily="34" charset="0"/>
                <a:ea typeface="Calibri" pitchFamily="34" charset="-122"/>
                <a:cs typeface="Calibri" pitchFamily="34" charset="-120"/>
              </a:rPr>
              <a:t>HOW DO YOU KNOW?</a:t>
            </a:r>
            <a:endParaRPr lang="en-US" sz="1400" dirty="0"/>
          </a:p>
          <a:p>
            <a:pPr marL="0" indent="0">
              <a:spcAft>
                <a:spcPts val="500"/>
              </a:spcAft>
              <a:buNone/>
            </a:pPr>
            <a:r>
              <a:rPr lang="en-US" sz="2600" dirty="0">
                <a:solidFill>
                  <a:srgbClr val="1B2A38"/>
                </a:solidFill>
                <a:latin typeface="Calibri" pitchFamily="34" charset="0"/>
                <a:ea typeface="Calibri" pitchFamily="34" charset="-122"/>
                <a:cs typeface="Calibri" pitchFamily="34" charset="-120"/>
              </a:rPr>
              <a:t>→ Evidence</a:t>
            </a:r>
            <a:endParaRPr lang="en-US" sz="1400" dirty="0"/>
          </a:p>
        </p:txBody>
      </p:sp>
      <p:sp>
        <p:nvSpPr>
          <p:cNvPr id="36" name="Text 34"/>
          <p:cNvSpPr txBox="1"/>
          <p:nvPr/>
        </p:nvSpPr>
        <p:spPr>
          <a:xfrm>
            <a:off x="548640" y="5715000"/>
            <a:ext cx="1645920" cy="548640"/>
          </a:xfrm>
          <a:prstGeom prst="rect">
            <a:avLst/>
          </a:prstGeom>
          <a:noFill/>
          <a:ln/>
        </p:spPr>
        <p:txBody>
          <a:bodyPr wrap="square" lIns="0" tIns="0" rIns="0" bIns="0" rtlCol="0" anchor="ctr"/>
          <a:lstStyle/>
          <a:p>
            <a:pPr marL="0" indent="0">
              <a:buNone/>
            </a:pPr>
            <a:r>
              <a:rPr lang="en-US" sz="1100" b="1" dirty="0">
                <a:solidFill>
                  <a:srgbClr val="9A6F12"/>
                </a:solidFill>
                <a:latin typeface="Calibri" pitchFamily="34" charset="0"/>
                <a:ea typeface="Calibri" pitchFamily="34" charset="-122"/>
                <a:cs typeface="Calibri" pitchFamily="34" charset="-120"/>
              </a:rPr>
              <a:t>ASK YOURSELF</a:t>
            </a:r>
            <a:endParaRPr lang="en-US" sz="1100" dirty="0"/>
          </a:p>
        </p:txBody>
      </p:sp>
      <p:sp>
        <p:nvSpPr>
          <p:cNvPr id="37" name="Text 35"/>
          <p:cNvSpPr txBox="1"/>
          <p:nvPr/>
        </p:nvSpPr>
        <p:spPr>
          <a:xfrm>
            <a:off x="2194560" y="5715000"/>
            <a:ext cx="7589520" cy="548640"/>
          </a:xfrm>
          <a:prstGeom prst="rect">
            <a:avLst/>
          </a:prstGeom>
          <a:noFill/>
          <a:ln/>
        </p:spPr>
        <p:txBody>
          <a:bodyPr wrap="square" lIns="0" tIns="0" rIns="0" bIns="0" rtlCol="0" anchor="ctr"/>
          <a:lstStyle/>
          <a:p>
            <a:pPr marL="0" indent="0">
              <a:buNone/>
            </a:pPr>
            <a:r>
              <a:rPr lang="en-US" sz="1600" b="1" dirty="0">
                <a:solidFill>
                  <a:srgbClr val="1B2A38"/>
                </a:solidFill>
                <a:latin typeface="Calibri" pitchFamily="34" charset="0"/>
                <a:ea typeface="Calibri" pitchFamily="34" charset="-122"/>
                <a:cs typeface="Calibri" pitchFamily="34" charset="-120"/>
              </a:rPr>
              <a:t>What is the question testing? ANSWER → PROVE → EXPLAIN</a:t>
            </a:r>
            <a:endParaRPr lang="en-US" sz="1600" dirty="0"/>
          </a:p>
        </p:txBody>
      </p:sp>
      <p:sp>
        <p:nvSpPr>
          <p:cNvPr id="38" name="Text 36"/>
          <p:cNvSpPr txBox="1"/>
          <p:nvPr/>
        </p:nvSpPr>
        <p:spPr>
          <a:xfrm>
            <a:off x="9875520" y="5852160"/>
            <a:ext cx="1737360" cy="274320"/>
          </a:xfrm>
          <a:prstGeom prst="rect">
            <a:avLst/>
          </a:prstGeom>
          <a:noFill/>
          <a:ln/>
        </p:spPr>
        <p:txBody>
          <a:bodyPr wrap="square" lIns="0" tIns="0" rIns="0" bIns="0" rtlCol="0" anchor="ctr"/>
          <a:lstStyle/>
          <a:p>
            <a:pPr marL="0" indent="0" algn="r">
              <a:buNone/>
            </a:pPr>
            <a:r>
              <a:rPr lang="en-US" sz="1200" b="1" dirty="0">
                <a:solidFill>
                  <a:srgbClr val="9A6F12"/>
                </a:solidFill>
                <a:latin typeface="Calibri" pitchFamily="34" charset="0"/>
                <a:ea typeface="Calibri" pitchFamily="34" charset="-122"/>
                <a:cs typeface="Calibri" pitchFamily="34" charset="-120"/>
              </a:rPr>
              <a:t>CHECK</a:t>
            </a:r>
            <a:endParaRPr lang="en-US" sz="1200" dirty="0"/>
          </a:p>
        </p:txBody>
      </p:sp>
      <p:sp>
        <p:nvSpPr>
          <p:cNvPr id="39" name="Text 37"/>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7A8A96"/>
                </a:solidFill>
                <a:latin typeface="Calibri" pitchFamily="34" charset="0"/>
                <a:ea typeface="Calibri" pitchFamily="34" charset="-122"/>
                <a:cs typeface="Calibri" pitchFamily="34" charset="-120"/>
              </a:rPr>
              <a:t>YEAR 6 · UNIT 2 · THE READING DETECTIVE · SESSION 2</a:t>
            </a:r>
            <a:endParaRPr lang="en-US" sz="900" dirty="0"/>
          </a:p>
        </p:txBody>
      </p:sp>
      <p:sp>
        <p:nvSpPr>
          <p:cNvPr id="40" name="Text 38"/>
          <p:cNvSpPr txBox="1"/>
          <p:nvPr/>
        </p:nvSpPr>
        <p:spPr>
          <a:xfrm>
            <a:off x="10972800" y="6446520"/>
            <a:ext cx="731520" cy="228600"/>
          </a:xfrm>
          <a:prstGeom prst="rect">
            <a:avLst/>
          </a:prstGeom>
          <a:noFill/>
          <a:ln/>
        </p:spPr>
        <p:txBody>
          <a:bodyPr wrap="square" lIns="0" tIns="0" rIns="0" bIns="0" rtlCol="0" anchor="ctr"/>
          <a:lstStyle/>
          <a:p>
            <a:pPr marL="0" indent="0" algn="r">
              <a:buNone/>
            </a:pPr>
            <a:r>
              <a:rPr lang="en-US" sz="900" dirty="0">
                <a:solidFill>
                  <a:srgbClr val="7A8A96"/>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4312</Words>
  <Application>Microsoft Office PowerPoint</Application>
  <PresentationFormat>Widescreen</PresentationFormat>
  <Paragraphs>833</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 Features 1.3</dc:title>
  <dc:subject>PptxGenJS Presentation</dc:subject>
  <dc:creator>PptxGenJS</dc:creator>
  <cp:lastModifiedBy>pc</cp:lastModifiedBy>
  <cp:revision>2</cp:revision>
  <dcterms:created xsi:type="dcterms:W3CDTF">2026-09-29T10:27:12Z</dcterms:created>
  <dcterms:modified xsi:type="dcterms:W3CDTF">2026-09-29T22:44:21Z</dcterms:modified>
</cp:coreProperties>
</file>