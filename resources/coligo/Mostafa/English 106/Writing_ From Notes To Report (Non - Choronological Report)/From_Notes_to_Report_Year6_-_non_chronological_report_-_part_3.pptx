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92" r:id="rId29"/>
    <p:sldId id="283" r:id="rId30"/>
    <p:sldId id="293" r:id="rId31"/>
    <p:sldId id="284" r:id="rId32"/>
    <p:sldId id="294" r:id="rId33"/>
    <p:sldId id="285" r:id="rId34"/>
    <p:sldId id="295" r:id="rId35"/>
    <p:sldId id="286" r:id="rId36"/>
    <p:sldId id="287" r:id="rId37"/>
    <p:sldId id="288" r:id="rId38"/>
    <p:sldId id="289" r:id="rId39"/>
    <p:sldId id="290" r:id="rId40"/>
    <p:sldId id="291" r:id="rId4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Launch" id="{4FD5C1F9-EC76-DE0C-D990-9C8EF510883F}">
          <p14:sldIdLst>
            <p14:sldId id="256"/>
            <p14:sldId id="257"/>
            <p14:sldId id="258"/>
            <p14:sldId id="259"/>
          </p14:sldIdLst>
        </p14:section>
        <p14:section name="Building sentences" id="{A93231D4-4D0D-8E62-8990-F710DF5BD8AD}">
          <p14:sldIdLst>
            <p14:sldId id="260"/>
            <p14:sldId id="261"/>
            <p14:sldId id="262"/>
            <p14:sldId id="263"/>
            <p14:sldId id="264"/>
            <p14:sldId id="265"/>
            <p14:sldId id="266"/>
            <p14:sldId id="267"/>
            <p14:sldId id="268"/>
            <p14:sldId id="269"/>
            <p14:sldId id="270"/>
          </p14:sldIdLst>
        </p14:section>
        <p14:section name="Connecting &amp; developing" id="{1BCEE5CA-5017-1C78-2FE0-8E05D238523E}">
          <p14:sldIdLst>
            <p14:sldId id="271"/>
            <p14:sldId id="272"/>
            <p14:sldId id="273"/>
            <p14:sldId id="274"/>
            <p14:sldId id="275"/>
            <p14:sldId id="276"/>
          </p14:sldIdLst>
        </p14:section>
        <p14:section name="Model paragraphs" id="{F651F6D0-7EE6-06DE-09E3-AE2139D441C6}">
          <p14:sldIdLst>
            <p14:sldId id="277"/>
            <p14:sldId id="278"/>
            <p14:sldId id="279"/>
            <p14:sldId id="280"/>
            <p14:sldId id="281"/>
          </p14:sldIdLst>
        </p14:section>
        <p14:section name="Your writing" id="{333EFBF2-0E99-3F91-4C90-F5150E3E586D}">
          <p14:sldIdLst>
            <p14:sldId id="282"/>
            <p14:sldId id="292"/>
            <p14:sldId id="283"/>
            <p14:sldId id="293"/>
            <p14:sldId id="284"/>
            <p14:sldId id="294"/>
            <p14:sldId id="285"/>
            <p14:sldId id="295"/>
            <p14:sldId id="286"/>
            <p14:sldId id="287"/>
          </p14:sldIdLst>
        </p14:section>
        <p14:section name="Wrap up" id="{7907A9A0-104D-22D0-3658-1901B4A3C35E}">
          <p14:sldIdLst>
            <p14:sldId id="288"/>
            <p14:sldId id="289"/>
            <p14:sldId id="290"/>
            <p14:sldId id="29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5" d="100"/>
          <a:sy n="115" d="100"/>
        </p:scale>
        <p:origin x="684"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468392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learning goal: research notes -&gt; factual sentences -&gt; developed sentences -&gt; cohesive paragraph. Pearson 3.2: organise and develop ideas logically, group related information into paragraphs, use connecting words and phrases. 3.3: accurate grammar and punctuation; simple, compound and complex sentences; conjunctions and adverbials; relative clauses; precise vocabulary.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41690E-197A-D204-F2E1-74EDFA6193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7C34C6-50EC-9652-29C7-EDE4B0C5D3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127A99-61E8-2320-7048-0B14E2EFEB6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E9A847D-DFB5-AC36-487A-64144D6B17B8}"/>
              </a:ext>
            </a:extLst>
          </p:cNvPr>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43305936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C38D8B-1700-18C3-A125-16CED9764D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BCBA4E-46E9-F748-E1C8-841D2576EC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93CE47-37FC-23BB-9DB0-BFD175E95D0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EEC0309-4E11-21FE-0570-F551E3363793}"/>
              </a:ext>
            </a:extLst>
          </p:cNvPr>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74439014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EAF7F8"/>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1280160" y="274320"/>
            <a:ext cx="7315200" cy="685800"/>
          </a:xfrm>
          <a:prstGeom prst="rect">
            <a:avLst/>
          </a:prstGeom>
          <a:noFill/>
          <a:ln/>
        </p:spPr>
        <p:txBody>
          <a:bodyPr wrap="square" rtlCol="0"/>
          <a:lstStyle>
            <a:lvl1pPr marL="0" indent="0">
              <a:buNone/>
              <a:defRPr lang="en-US" sz="2600" b="1" dirty="0">
                <a:solidFill>
                  <a:srgbClr val="0A3D4A"/>
                </a:solidFill>
              </a:defRPr>
            </a:lvl1pPr>
          </a:lstStyle>
          <a:p>
            <a:pPr marL="0" indent="0">
              <a:buNone/>
            </a:pPr>
            <a:endParaRPr lang="en-US" sz="26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0E7C86"/>
                </a:solidFill>
              </a:defRPr>
            </a:lvl1pPr>
          </a:lstStyle>
          <a:p>
            <a:pPr algn="l"/>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A3D4A"/>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1280160" y="274320"/>
            <a:ext cx="7315200" cy="685800"/>
          </a:xfrm>
          <a:prstGeom prst="rect">
            <a:avLst/>
          </a:prstGeom>
          <a:noFill/>
          <a:ln/>
        </p:spPr>
        <p:txBody>
          <a:bodyPr wrap="square" rtlCol="0"/>
          <a:lstStyle>
            <a:lvl1pPr marL="0" indent="0">
              <a:buNone/>
              <a:defRPr lang="en-US" sz="2600" b="1" dirty="0">
                <a:solidFill>
                  <a:srgbClr val="FFFFFF"/>
                </a:solidFill>
              </a:defRPr>
            </a:lvl1pPr>
          </a:lstStyle>
          <a:p>
            <a:pPr marL="0" indent="0">
              <a:buNone/>
            </a:pPr>
            <a:endParaRPr lang="en-US" sz="26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FD3D8"/>
                </a:solidFill>
              </a:defRPr>
            </a:lvl1pPr>
          </a:lstStyle>
          <a:p>
            <a:pPr algn="l"/>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p:bg>
      <p:bgPr>
        <a:solidFill>
          <a:srgbClr val="0A3D4A"/>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691640"/>
            <a:ext cx="4206240" cy="1371600"/>
          </a:xfrm>
          <a:prstGeom prst="rect">
            <a:avLst/>
          </a:prstGeom>
          <a:noFill/>
          <a:ln/>
        </p:spPr>
        <p:txBody>
          <a:bodyPr wrap="square" rtlCol="0"/>
          <a:lstStyle>
            <a:lvl1pPr marL="0" indent="0">
              <a:buNone/>
              <a:defRPr lang="en-US" sz="4000" b="1" dirty="0">
                <a:solidFill>
                  <a:srgbClr val="FFC857"/>
                </a:solidFill>
              </a:defRPr>
            </a:lvl1pPr>
          </a:lstStyle>
          <a:p>
            <a:pPr marL="0" indent="0">
              <a:buNone/>
            </a:pPr>
            <a:endParaRPr lang="en-US" sz="40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0E7C86"/>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Shape 0"/>
          <p:cNvSpPr/>
          <p:nvPr/>
        </p:nvSpPr>
        <p:spPr>
          <a:xfrm>
            <a:off x="6217920" y="-1280160"/>
            <a:ext cx="4389120" cy="4389120"/>
          </a:xfrm>
          <a:prstGeom prst="ellipse">
            <a:avLst/>
          </a:prstGeom>
          <a:solidFill>
            <a:srgbClr val="0E7C86">
              <a:alpha val="40000"/>
            </a:srgbClr>
          </a:solidFill>
          <a:ln/>
        </p:spPr>
      </p:sp>
      <p:sp>
        <p:nvSpPr>
          <p:cNvPr id="5" name="Text 2"/>
          <p:cNvSpPr txBox="1"/>
          <p:nvPr/>
        </p:nvSpPr>
        <p:spPr>
          <a:xfrm>
            <a:off x="4023360" y="145774"/>
            <a:ext cx="1097280" cy="1097280"/>
          </a:xfrm>
          <a:prstGeom prst="rect">
            <a:avLst/>
          </a:prstGeom>
          <a:noFill/>
          <a:ln/>
        </p:spPr>
        <p:txBody>
          <a:bodyPr wrap="square" lIns="0" tIns="0" rIns="0" bIns="0" rtlCol="0" anchor="ctr"/>
          <a:lstStyle/>
          <a:p>
            <a:pPr marL="0" indent="0" algn="ctr">
              <a:buNone/>
            </a:pPr>
            <a:r>
              <a:rPr lang="en-US" sz="4400" b="1" dirty="0">
                <a:solidFill>
                  <a:srgbClr val="FFFFFF"/>
                </a:solidFill>
              </a:rPr>
              <a:t>✍️</a:t>
            </a:r>
            <a:endParaRPr lang="en-US" sz="4400" dirty="0"/>
          </a:p>
        </p:txBody>
      </p:sp>
      <p:sp>
        <p:nvSpPr>
          <p:cNvPr id="6" name="Text 0"/>
          <p:cNvSpPr>
            <a:spLocks noGrp="1"/>
          </p:cNvSpPr>
          <p:nvPr>
            <p:ph type="title" idx="100" hasCustomPrompt="1"/>
          </p:nvPr>
        </p:nvSpPr>
        <p:spPr>
          <a:xfrm>
            <a:off x="548640" y="1691640"/>
            <a:ext cx="4206240" cy="1371600"/>
          </a:xfrm>
          <a:prstGeom prst="rect">
            <a:avLst/>
          </a:prstGeom>
          <a:noFill/>
          <a:ln/>
        </p:spPr>
        <p:txBody>
          <a:bodyPr wrap="square" rtlCol="0" anchor="t"/>
          <a:lstStyle/>
          <a:p>
            <a:pPr marL="0" indent="0">
              <a:buNone/>
            </a:pPr>
            <a:r>
              <a:rPr lang="en-US" sz="4000" b="1" dirty="0">
                <a:solidFill>
                  <a:srgbClr val="FFC857"/>
                </a:solidFill>
              </a:rPr>
              <a:t>FROM NOTES TO REPORT</a:t>
            </a:r>
            <a:endParaRPr lang="en-US" sz="4000" dirty="0"/>
          </a:p>
        </p:txBody>
      </p:sp>
      <p:sp>
        <p:nvSpPr>
          <p:cNvPr id="7" name="Text 4"/>
          <p:cNvSpPr txBox="1"/>
          <p:nvPr/>
        </p:nvSpPr>
        <p:spPr>
          <a:xfrm>
            <a:off x="37106" y="3108960"/>
            <a:ext cx="5368456" cy="731520"/>
          </a:xfrm>
          <a:prstGeom prst="rect">
            <a:avLst/>
          </a:prstGeom>
          <a:noFill/>
          <a:ln/>
        </p:spPr>
        <p:txBody>
          <a:bodyPr wrap="square" lIns="0" tIns="0" rIns="0" bIns="0" rtlCol="0" anchor="t"/>
          <a:lstStyle/>
          <a:p>
            <a:pPr marL="0" indent="0">
              <a:buNone/>
            </a:pPr>
            <a:r>
              <a:rPr lang="en-US" sz="1800" b="1" dirty="0">
                <a:solidFill>
                  <a:srgbClr val="FFFFFF"/>
                </a:solidFill>
              </a:rPr>
              <a:t>How do writers turn research into strong paragraphs?</a:t>
            </a:r>
            <a:endParaRPr lang="en-US" sz="1800" dirty="0"/>
          </a:p>
        </p:txBody>
      </p:sp>
      <p:sp>
        <p:nvSpPr>
          <p:cNvPr id="8" name="Text 5"/>
          <p:cNvSpPr txBox="1"/>
          <p:nvPr/>
        </p:nvSpPr>
        <p:spPr>
          <a:xfrm>
            <a:off x="548640" y="4023360"/>
            <a:ext cx="4206240" cy="274320"/>
          </a:xfrm>
          <a:prstGeom prst="rect">
            <a:avLst/>
          </a:prstGeom>
          <a:noFill/>
          <a:ln/>
        </p:spPr>
        <p:txBody>
          <a:bodyPr wrap="square" lIns="0" tIns="0" rIns="0" bIns="0" rtlCol="0" anchor="t"/>
          <a:lstStyle/>
          <a:p>
            <a:pPr marL="0" indent="0">
              <a:buNone/>
            </a:pPr>
            <a:r>
              <a:rPr lang="en-US" sz="1600" dirty="0">
                <a:solidFill>
                  <a:srgbClr val="8FD3D8"/>
                </a:solidFill>
              </a:rPr>
              <a:t>Year 6 English · Unit 2 </a:t>
            </a:r>
          </a:p>
          <a:p>
            <a:pPr marL="0" indent="0">
              <a:buNone/>
            </a:pPr>
            <a:r>
              <a:rPr lang="en-US" sz="1600" dirty="0">
                <a:solidFill>
                  <a:srgbClr val="8FD3D8"/>
                </a:solidFill>
              </a:rPr>
              <a:t>· Session 3 · 80 minutes</a:t>
            </a:r>
            <a:endParaRPr lang="en-US" sz="1600" dirty="0"/>
          </a:p>
        </p:txBody>
      </p:sp>
      <p:sp>
        <p:nvSpPr>
          <p:cNvPr id="9" name="Shape 6"/>
          <p:cNvSpPr/>
          <p:nvPr/>
        </p:nvSpPr>
        <p:spPr>
          <a:xfrm>
            <a:off x="5029200" y="457200"/>
            <a:ext cx="3657600" cy="4297680"/>
          </a:xfrm>
          <a:prstGeom prst="roundRect">
            <a:avLst>
              <a:gd name="adj" fmla="val 3750"/>
            </a:avLst>
          </a:prstGeom>
          <a:solidFill>
            <a:srgbClr val="FFFFFF"/>
          </a:solidFill>
          <a:ln/>
          <a:effectLst>
            <a:outerShdw blurRad="76200" dist="25400" dir="5400000" algn="bl" rotWithShape="0">
              <a:srgbClr val="000000">
                <a:alpha val="15000"/>
              </a:srgbClr>
            </a:outerShdw>
          </a:effectLst>
        </p:spPr>
      </p:sp>
      <p:sp>
        <p:nvSpPr>
          <p:cNvPr id="10" name="Text 7"/>
          <p:cNvSpPr txBox="1"/>
          <p:nvPr/>
        </p:nvSpPr>
        <p:spPr>
          <a:xfrm>
            <a:off x="5257800" y="640080"/>
            <a:ext cx="3200400" cy="365760"/>
          </a:xfrm>
          <a:prstGeom prst="rect">
            <a:avLst/>
          </a:prstGeom>
          <a:noFill/>
          <a:ln/>
        </p:spPr>
        <p:txBody>
          <a:bodyPr wrap="square" lIns="0" tIns="0" rIns="0" bIns="0" rtlCol="0" anchor="t"/>
          <a:lstStyle/>
          <a:p>
            <a:pPr marL="0" indent="0">
              <a:buNone/>
            </a:pPr>
            <a:r>
              <a:rPr lang="en-US" sz="1800" b="1" dirty="0">
                <a:solidFill>
                  <a:srgbClr val="0E7C86"/>
                </a:solidFill>
              </a:rPr>
              <a:t>Today we will learn to:</a:t>
            </a:r>
            <a:endParaRPr lang="en-US" sz="1800" dirty="0"/>
          </a:p>
        </p:txBody>
      </p:sp>
      <p:sp>
        <p:nvSpPr>
          <p:cNvPr id="11" name="Text 8"/>
          <p:cNvSpPr txBox="1"/>
          <p:nvPr/>
        </p:nvSpPr>
        <p:spPr>
          <a:xfrm>
            <a:off x="5120640" y="1143000"/>
            <a:ext cx="3488635" cy="3474720"/>
          </a:xfrm>
          <a:prstGeom prst="rect">
            <a:avLst/>
          </a:prstGeom>
          <a:noFill/>
          <a:ln/>
        </p:spPr>
        <p:txBody>
          <a:bodyPr wrap="square" lIns="0" tIns="0" rIns="0" bIns="0" rtlCol="0" anchor="t"/>
          <a:lstStyle/>
          <a:p>
            <a:pPr marL="342900" indent="-342900">
              <a:spcAft>
                <a:spcPts val="900"/>
              </a:spcAft>
              <a:buSzPct val="100000"/>
              <a:buChar char="•"/>
            </a:pPr>
            <a:r>
              <a:rPr lang="en-US" sz="1500" dirty="0">
                <a:solidFill>
                  <a:srgbClr val="0A3D4A"/>
                </a:solidFill>
              </a:rPr>
              <a:t>turn notes into complete sentences</a:t>
            </a:r>
            <a:endParaRPr lang="en-US" sz="1500" dirty="0"/>
          </a:p>
          <a:p>
            <a:pPr marL="342900" indent="-342900">
              <a:spcAft>
                <a:spcPts val="900"/>
              </a:spcAft>
              <a:buSzPct val="100000"/>
              <a:buChar char="•"/>
            </a:pPr>
            <a:r>
              <a:rPr lang="en-US" sz="1500" dirty="0">
                <a:solidFill>
                  <a:srgbClr val="0A3D4A"/>
                </a:solidFill>
              </a:rPr>
              <a:t>develop a simple fact</a:t>
            </a:r>
            <a:endParaRPr lang="en-US" sz="1500" dirty="0"/>
          </a:p>
          <a:p>
            <a:pPr marL="342900" indent="-342900">
              <a:spcAft>
                <a:spcPts val="900"/>
              </a:spcAft>
              <a:buSzPct val="100000"/>
              <a:buChar char="•"/>
            </a:pPr>
            <a:r>
              <a:rPr lang="en-US" sz="1500" dirty="0">
                <a:solidFill>
                  <a:srgbClr val="0A3D4A"/>
                </a:solidFill>
              </a:rPr>
              <a:t>connect ideas</a:t>
            </a:r>
            <a:endParaRPr lang="en-US" sz="1500" dirty="0"/>
          </a:p>
          <a:p>
            <a:pPr marL="342900" indent="-342900">
              <a:spcAft>
                <a:spcPts val="900"/>
              </a:spcAft>
              <a:buSzPct val="100000"/>
              <a:buChar char="•"/>
            </a:pPr>
            <a:r>
              <a:rPr lang="en-US" sz="1500" dirty="0">
                <a:solidFill>
                  <a:srgbClr val="0A3D4A"/>
                </a:solidFill>
              </a:rPr>
              <a:t>use different sentence structures</a:t>
            </a:r>
            <a:endParaRPr lang="en-US" sz="1500" dirty="0"/>
          </a:p>
          <a:p>
            <a:pPr marL="342900" indent="-342900">
              <a:spcAft>
                <a:spcPts val="900"/>
              </a:spcAft>
              <a:buSzPct val="100000"/>
              <a:buChar char="•"/>
            </a:pPr>
            <a:r>
              <a:rPr lang="en-US" sz="1500" dirty="0">
                <a:solidFill>
                  <a:srgbClr val="0A3D4A"/>
                </a:solidFill>
              </a:rPr>
              <a:t>use relative clauses to add information</a:t>
            </a:r>
            <a:endParaRPr lang="en-US" sz="1500" dirty="0"/>
          </a:p>
          <a:p>
            <a:pPr marL="342900" indent="-342900">
              <a:spcAft>
                <a:spcPts val="900"/>
              </a:spcAft>
              <a:buSzPct val="100000"/>
              <a:buChar char="•"/>
            </a:pPr>
            <a:r>
              <a:rPr lang="en-US" sz="1500" dirty="0">
                <a:solidFill>
                  <a:srgbClr val="0A3D4A"/>
                </a:solidFill>
              </a:rPr>
              <a:t>build a strong report paragraph</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7589520" y="-914400"/>
            <a:ext cx="2377440" cy="2377440"/>
          </a:xfrm>
          <a:prstGeom prst="ellipse">
            <a:avLst/>
          </a:prstGeom>
          <a:solidFill>
            <a:srgbClr val="CDEFF1">
              <a:alpha val="80000"/>
            </a:srgbClr>
          </a:solidFill>
          <a:ln/>
        </p:spPr>
      </p:sp>
      <p:sp>
        <p:nvSpPr>
          <p:cNvPr id="3" name="Shape 1"/>
          <p:cNvSpPr/>
          <p:nvPr/>
        </p:nvSpPr>
        <p:spPr>
          <a:xfrm>
            <a:off x="-548640" y="4297680"/>
            <a:ext cx="1463040" cy="1463040"/>
          </a:xfrm>
          <a:prstGeom prst="ellipse">
            <a:avLst/>
          </a:prstGeom>
          <a:solidFill>
            <a:srgbClr val="CDEFF1">
              <a:alpha val="70000"/>
            </a:srgbClr>
          </a:solidFill>
          <a:ln/>
        </p:spPr>
      </p:sp>
      <p:sp>
        <p:nvSpPr>
          <p:cNvPr id="5" name="Text 3"/>
          <p:cNvSpPr txBox="1"/>
          <p:nvPr/>
        </p:nvSpPr>
        <p:spPr>
          <a:xfrm>
            <a:off x="2637182" y="301752"/>
            <a:ext cx="658368" cy="658368"/>
          </a:xfrm>
          <a:prstGeom prst="rect">
            <a:avLst/>
          </a:prstGeom>
          <a:noFill/>
          <a:ln/>
        </p:spPr>
        <p:txBody>
          <a:bodyPr wrap="square" lIns="0" tIns="0" rIns="0" bIns="0" rtlCol="0" anchor="ctr"/>
          <a:lstStyle/>
          <a:p>
            <a:pPr marL="0" indent="0" algn="ctr">
              <a:buNone/>
            </a:pPr>
            <a:r>
              <a:rPr lang="en-US" sz="2200" b="1" dirty="0">
                <a:solidFill>
                  <a:srgbClr val="FFFFFF"/>
                </a:solidFill>
              </a:rPr>
              <a:t>🧠</a:t>
            </a:r>
            <a:endParaRPr lang="en-US" sz="2200" dirty="0"/>
          </a:p>
        </p:txBody>
      </p:sp>
      <p:sp>
        <p:nvSpPr>
          <p:cNvPr id="6" name="Text 0"/>
          <p:cNvSpPr>
            <a:spLocks noGrp="1"/>
          </p:cNvSpPr>
          <p:nvPr>
            <p:ph type="title" idx="100" hasCustomPrompt="1"/>
          </p:nvPr>
        </p:nvSpPr>
        <p:spPr>
          <a:xfrm>
            <a:off x="1280160" y="274320"/>
            <a:ext cx="7315200" cy="685800"/>
          </a:xfrm>
          <a:prstGeom prst="rect">
            <a:avLst/>
          </a:prstGeom>
          <a:noFill/>
          <a:ln/>
        </p:spPr>
        <p:txBody>
          <a:bodyPr wrap="square" rtlCol="0" anchor="ctr"/>
          <a:lstStyle/>
          <a:p>
            <a:pPr marL="0" indent="0">
              <a:buNone/>
            </a:pPr>
            <a:r>
              <a:rPr lang="en-US" sz="2600" b="1" dirty="0">
                <a:solidFill>
                  <a:srgbClr val="0A3D4A"/>
                </a:solidFill>
              </a:rPr>
              <a:t>WHAT DO WE KNOW?</a:t>
            </a:r>
            <a:endParaRPr lang="en-US" sz="2600" dirty="0"/>
          </a:p>
        </p:txBody>
      </p:sp>
      <p:sp>
        <p:nvSpPr>
          <p:cNvPr id="7" name="Text 5"/>
          <p:cNvSpPr txBox="1"/>
          <p:nvPr/>
        </p:nvSpPr>
        <p:spPr>
          <a:xfrm>
            <a:off x="457200" y="1234440"/>
            <a:ext cx="8229600" cy="411480"/>
          </a:xfrm>
          <a:prstGeom prst="rect">
            <a:avLst/>
          </a:prstGeom>
          <a:noFill/>
          <a:ln/>
        </p:spPr>
        <p:txBody>
          <a:bodyPr wrap="square" lIns="0" tIns="0" rIns="0" bIns="0" rtlCol="0" anchor="t"/>
          <a:lstStyle/>
          <a:p>
            <a:pPr marL="0" indent="0">
              <a:buNone/>
            </a:pPr>
            <a:r>
              <a:rPr lang="en-US" sz="1600" b="1" i="1" dirty="0">
                <a:solidFill>
                  <a:srgbClr val="0A3D4A"/>
                </a:solidFill>
              </a:rPr>
              <a:t>Last lesson we learned: </a:t>
            </a:r>
            <a:r>
              <a:rPr lang="en-US" sz="1600" i="1" dirty="0">
                <a:solidFill>
                  <a:srgbClr val="0A3D4A"/>
                </a:solidFill>
              </a:rPr>
              <a:t>SKIM → SCAN → SELECT → NOTE</a:t>
            </a:r>
            <a:endParaRPr lang="en-US" sz="1600" dirty="0"/>
          </a:p>
        </p:txBody>
      </p:sp>
      <p:sp>
        <p:nvSpPr>
          <p:cNvPr id="8" name="Text 6"/>
          <p:cNvSpPr txBox="1"/>
          <p:nvPr/>
        </p:nvSpPr>
        <p:spPr>
          <a:xfrm>
            <a:off x="457200" y="1691640"/>
            <a:ext cx="8229600" cy="822960"/>
          </a:xfrm>
          <a:prstGeom prst="rect">
            <a:avLst/>
          </a:prstGeom>
          <a:noFill/>
          <a:ln/>
        </p:spPr>
        <p:txBody>
          <a:bodyPr wrap="square" lIns="0" tIns="0" rIns="0" bIns="0" rtlCol="0" anchor="t"/>
          <a:lstStyle/>
          <a:p>
            <a:pPr marL="0" indent="0">
              <a:buNone/>
            </a:pPr>
            <a:r>
              <a:rPr lang="en-US" sz="2200" b="1" dirty="0">
                <a:solidFill>
                  <a:srgbClr val="0A3D4A"/>
                </a:solidFill>
              </a:rPr>
              <a:t>Why do researchers make notes instead of copying whole sentences?</a:t>
            </a:r>
            <a:endParaRPr lang="en-US" sz="2200" dirty="0"/>
          </a:p>
        </p:txBody>
      </p:sp>
      <p:sp>
        <p:nvSpPr>
          <p:cNvPr id="9" name="Shape 7"/>
          <p:cNvSpPr/>
          <p:nvPr/>
        </p:nvSpPr>
        <p:spPr>
          <a:xfrm>
            <a:off x="457200" y="2606040"/>
            <a:ext cx="4023360" cy="1005840"/>
          </a:xfrm>
          <a:prstGeom prst="roundRect">
            <a:avLst>
              <a:gd name="adj" fmla="val 13636"/>
            </a:avLst>
          </a:prstGeom>
          <a:solidFill>
            <a:srgbClr val="FFFFFF"/>
          </a:solidFill>
          <a:ln/>
          <a:effectLst>
            <a:outerShdw blurRad="76200" dist="25400" dir="5400000" algn="bl" rotWithShape="0">
              <a:srgbClr val="000000">
                <a:alpha val="15000"/>
              </a:srgbClr>
            </a:outerShdw>
          </a:effectLst>
        </p:spPr>
      </p:sp>
      <p:sp>
        <p:nvSpPr>
          <p:cNvPr id="10" name="Shape 8"/>
          <p:cNvSpPr/>
          <p:nvPr/>
        </p:nvSpPr>
        <p:spPr>
          <a:xfrm>
            <a:off x="640080" y="2834640"/>
            <a:ext cx="548640" cy="548640"/>
          </a:xfrm>
          <a:prstGeom prst="ellipse">
            <a:avLst/>
          </a:prstGeom>
          <a:solidFill>
            <a:srgbClr val="FF6B5E"/>
          </a:solidFill>
          <a:ln/>
        </p:spPr>
      </p:sp>
      <p:sp>
        <p:nvSpPr>
          <p:cNvPr id="11" name="Text 9"/>
          <p:cNvSpPr txBox="1"/>
          <p:nvPr/>
        </p:nvSpPr>
        <p:spPr>
          <a:xfrm>
            <a:off x="640080" y="283464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rPr>
              <a:t>A</a:t>
            </a:r>
            <a:endParaRPr lang="en-US" sz="2000" dirty="0"/>
          </a:p>
        </p:txBody>
      </p:sp>
      <p:sp>
        <p:nvSpPr>
          <p:cNvPr id="12" name="Text 10"/>
          <p:cNvSpPr txBox="1"/>
          <p:nvPr/>
        </p:nvSpPr>
        <p:spPr>
          <a:xfrm>
            <a:off x="1371600" y="2679192"/>
            <a:ext cx="2971800" cy="859536"/>
          </a:xfrm>
          <a:prstGeom prst="rect">
            <a:avLst/>
          </a:prstGeom>
          <a:noFill/>
          <a:ln/>
        </p:spPr>
        <p:txBody>
          <a:bodyPr wrap="square" lIns="0" tIns="0" rIns="0" bIns="0" rtlCol="0" anchor="ctr"/>
          <a:lstStyle/>
          <a:p>
            <a:pPr marL="0" indent="0">
              <a:buNone/>
            </a:pPr>
            <a:r>
              <a:rPr lang="en-US" sz="1600" dirty="0">
                <a:solidFill>
                  <a:srgbClr val="0A3D4A"/>
                </a:solidFill>
              </a:rPr>
              <a:t>Notes make the research longer.</a:t>
            </a:r>
            <a:endParaRPr lang="en-US" sz="1600" dirty="0"/>
          </a:p>
        </p:txBody>
      </p:sp>
      <p:sp>
        <p:nvSpPr>
          <p:cNvPr id="13" name="Shape 11"/>
          <p:cNvSpPr/>
          <p:nvPr/>
        </p:nvSpPr>
        <p:spPr>
          <a:xfrm>
            <a:off x="4663440" y="2606040"/>
            <a:ext cx="4023360" cy="1005840"/>
          </a:xfrm>
          <a:prstGeom prst="roundRect">
            <a:avLst>
              <a:gd name="adj" fmla="val 13636"/>
            </a:avLst>
          </a:prstGeom>
          <a:solidFill>
            <a:srgbClr val="FFFFFF"/>
          </a:solidFill>
          <a:ln/>
          <a:effectLst>
            <a:outerShdw blurRad="76200" dist="25400" dir="5400000" algn="bl" rotWithShape="0">
              <a:srgbClr val="000000">
                <a:alpha val="15000"/>
              </a:srgbClr>
            </a:outerShdw>
          </a:effectLst>
        </p:spPr>
      </p:sp>
      <p:sp>
        <p:nvSpPr>
          <p:cNvPr id="14" name="Shape 12"/>
          <p:cNvSpPr/>
          <p:nvPr/>
        </p:nvSpPr>
        <p:spPr>
          <a:xfrm>
            <a:off x="4846320" y="2834640"/>
            <a:ext cx="548640" cy="548640"/>
          </a:xfrm>
          <a:prstGeom prst="ellipse">
            <a:avLst/>
          </a:prstGeom>
          <a:solidFill>
            <a:srgbClr val="0E7C86"/>
          </a:solidFill>
          <a:ln/>
        </p:spPr>
      </p:sp>
      <p:sp>
        <p:nvSpPr>
          <p:cNvPr id="15" name="Text 13"/>
          <p:cNvSpPr txBox="1"/>
          <p:nvPr/>
        </p:nvSpPr>
        <p:spPr>
          <a:xfrm>
            <a:off x="4846320" y="283464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rPr>
              <a:t>B</a:t>
            </a:r>
            <a:endParaRPr lang="en-US" sz="2000" dirty="0"/>
          </a:p>
        </p:txBody>
      </p:sp>
      <p:sp>
        <p:nvSpPr>
          <p:cNvPr id="16" name="Text 14"/>
          <p:cNvSpPr txBox="1"/>
          <p:nvPr/>
        </p:nvSpPr>
        <p:spPr>
          <a:xfrm>
            <a:off x="5577840" y="2679192"/>
            <a:ext cx="2971800" cy="859536"/>
          </a:xfrm>
          <a:prstGeom prst="rect">
            <a:avLst/>
          </a:prstGeom>
          <a:noFill/>
          <a:ln/>
        </p:spPr>
        <p:txBody>
          <a:bodyPr wrap="square" lIns="0" tIns="0" rIns="0" bIns="0" rtlCol="0" anchor="ctr"/>
          <a:lstStyle/>
          <a:p>
            <a:pPr marL="0" indent="0">
              <a:buNone/>
            </a:pPr>
            <a:r>
              <a:rPr lang="en-US" sz="1600" dirty="0">
                <a:solidFill>
                  <a:srgbClr val="0A3D4A"/>
                </a:solidFill>
              </a:rPr>
              <a:t>Notes help us record useful information in a short form.</a:t>
            </a:r>
            <a:endParaRPr lang="en-US" sz="1600" dirty="0"/>
          </a:p>
        </p:txBody>
      </p:sp>
      <p:sp>
        <p:nvSpPr>
          <p:cNvPr id="17" name="Shape 15"/>
          <p:cNvSpPr/>
          <p:nvPr/>
        </p:nvSpPr>
        <p:spPr>
          <a:xfrm>
            <a:off x="457200" y="3749040"/>
            <a:ext cx="4023360" cy="1005840"/>
          </a:xfrm>
          <a:prstGeom prst="roundRect">
            <a:avLst>
              <a:gd name="adj" fmla="val 13636"/>
            </a:avLst>
          </a:prstGeom>
          <a:solidFill>
            <a:srgbClr val="FFFFFF"/>
          </a:solidFill>
          <a:ln/>
          <a:effectLst>
            <a:outerShdw blurRad="76200" dist="25400" dir="5400000" algn="bl" rotWithShape="0">
              <a:srgbClr val="000000">
                <a:alpha val="15000"/>
              </a:srgbClr>
            </a:outerShdw>
          </a:effectLst>
        </p:spPr>
      </p:sp>
      <p:sp>
        <p:nvSpPr>
          <p:cNvPr id="18" name="Shape 16"/>
          <p:cNvSpPr/>
          <p:nvPr/>
        </p:nvSpPr>
        <p:spPr>
          <a:xfrm>
            <a:off x="640080" y="3977640"/>
            <a:ext cx="548640" cy="548640"/>
          </a:xfrm>
          <a:prstGeom prst="ellipse">
            <a:avLst/>
          </a:prstGeom>
          <a:solidFill>
            <a:srgbClr val="3A86C8"/>
          </a:solidFill>
          <a:ln/>
        </p:spPr>
      </p:sp>
      <p:sp>
        <p:nvSpPr>
          <p:cNvPr id="19" name="Text 17"/>
          <p:cNvSpPr txBox="1"/>
          <p:nvPr/>
        </p:nvSpPr>
        <p:spPr>
          <a:xfrm>
            <a:off x="640080" y="397764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rPr>
              <a:t>C</a:t>
            </a:r>
            <a:endParaRPr lang="en-US" sz="2000" dirty="0"/>
          </a:p>
        </p:txBody>
      </p:sp>
      <p:sp>
        <p:nvSpPr>
          <p:cNvPr id="20" name="Text 18"/>
          <p:cNvSpPr txBox="1"/>
          <p:nvPr/>
        </p:nvSpPr>
        <p:spPr>
          <a:xfrm>
            <a:off x="1371600" y="3822192"/>
            <a:ext cx="2971800" cy="859536"/>
          </a:xfrm>
          <a:prstGeom prst="rect">
            <a:avLst/>
          </a:prstGeom>
          <a:noFill/>
          <a:ln/>
        </p:spPr>
        <p:txBody>
          <a:bodyPr wrap="square" lIns="0" tIns="0" rIns="0" bIns="0" rtlCol="0" anchor="ctr"/>
          <a:lstStyle/>
          <a:p>
            <a:pPr marL="0" indent="0">
              <a:buNone/>
            </a:pPr>
            <a:r>
              <a:rPr lang="en-US" sz="1600" dirty="0">
                <a:solidFill>
                  <a:srgbClr val="0A3D4A"/>
                </a:solidFill>
              </a:rPr>
              <a:t>Notes make the report more difficult to write.</a:t>
            </a:r>
            <a:endParaRPr lang="en-US" sz="1600" dirty="0"/>
          </a:p>
        </p:txBody>
      </p:sp>
      <p:sp>
        <p:nvSpPr>
          <p:cNvPr id="21" name="Shape 19"/>
          <p:cNvSpPr/>
          <p:nvPr/>
        </p:nvSpPr>
        <p:spPr>
          <a:xfrm>
            <a:off x="4663440" y="3749040"/>
            <a:ext cx="4023360" cy="1005840"/>
          </a:xfrm>
          <a:prstGeom prst="roundRect">
            <a:avLst>
              <a:gd name="adj" fmla="val 13636"/>
            </a:avLst>
          </a:prstGeom>
          <a:solidFill>
            <a:srgbClr val="FFFFFF"/>
          </a:solidFill>
          <a:ln/>
          <a:effectLst>
            <a:outerShdw blurRad="76200" dist="25400" dir="5400000" algn="bl" rotWithShape="0">
              <a:srgbClr val="000000">
                <a:alpha val="15000"/>
              </a:srgbClr>
            </a:outerShdw>
          </a:effectLst>
        </p:spPr>
      </p:sp>
      <p:sp>
        <p:nvSpPr>
          <p:cNvPr id="22" name="Shape 20"/>
          <p:cNvSpPr/>
          <p:nvPr/>
        </p:nvSpPr>
        <p:spPr>
          <a:xfrm>
            <a:off x="4846320" y="3977640"/>
            <a:ext cx="548640" cy="548640"/>
          </a:xfrm>
          <a:prstGeom prst="ellipse">
            <a:avLst/>
          </a:prstGeom>
          <a:solidFill>
            <a:srgbClr val="7B5EA7"/>
          </a:solidFill>
          <a:ln/>
        </p:spPr>
      </p:sp>
      <p:sp>
        <p:nvSpPr>
          <p:cNvPr id="23" name="Text 21"/>
          <p:cNvSpPr txBox="1"/>
          <p:nvPr/>
        </p:nvSpPr>
        <p:spPr>
          <a:xfrm>
            <a:off x="4846320" y="397764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rPr>
              <a:t>D</a:t>
            </a:r>
            <a:endParaRPr lang="en-US" sz="2000" dirty="0"/>
          </a:p>
        </p:txBody>
      </p:sp>
      <p:sp>
        <p:nvSpPr>
          <p:cNvPr id="24" name="Text 22"/>
          <p:cNvSpPr txBox="1"/>
          <p:nvPr/>
        </p:nvSpPr>
        <p:spPr>
          <a:xfrm>
            <a:off x="5577840" y="3822192"/>
            <a:ext cx="2971800" cy="859536"/>
          </a:xfrm>
          <a:prstGeom prst="rect">
            <a:avLst/>
          </a:prstGeom>
          <a:noFill/>
          <a:ln/>
        </p:spPr>
        <p:txBody>
          <a:bodyPr wrap="square" lIns="0" tIns="0" rIns="0" bIns="0" rtlCol="0" anchor="ctr"/>
          <a:lstStyle/>
          <a:p>
            <a:pPr marL="0" indent="0">
              <a:buNone/>
            </a:pPr>
            <a:r>
              <a:rPr lang="en-US" sz="1600" dirty="0">
                <a:solidFill>
                  <a:srgbClr val="0A3D4A"/>
                </a:solidFill>
              </a:rPr>
              <a:t>Notes mean we do not need to understand the source.</a:t>
            </a:r>
            <a:endParaRPr lang="en-US" sz="16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0E7C86"/>
                </a:solidFill>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7589520" y="-914400"/>
            <a:ext cx="2377440" cy="2377440"/>
          </a:xfrm>
          <a:prstGeom prst="ellipse">
            <a:avLst/>
          </a:prstGeom>
          <a:solidFill>
            <a:srgbClr val="CDEFF1">
              <a:alpha val="80000"/>
            </a:srgbClr>
          </a:solidFill>
          <a:ln/>
        </p:spPr>
      </p:sp>
      <p:sp>
        <p:nvSpPr>
          <p:cNvPr id="3" name="Shape 1"/>
          <p:cNvSpPr/>
          <p:nvPr/>
        </p:nvSpPr>
        <p:spPr>
          <a:xfrm>
            <a:off x="-548640" y="4297680"/>
            <a:ext cx="1463040" cy="1463040"/>
          </a:xfrm>
          <a:prstGeom prst="ellipse">
            <a:avLst/>
          </a:prstGeom>
          <a:solidFill>
            <a:srgbClr val="CDEFF1">
              <a:alpha val="70000"/>
            </a:srgbClr>
          </a:solidFill>
          <a:ln/>
        </p:spPr>
      </p:sp>
      <p:sp>
        <p:nvSpPr>
          <p:cNvPr id="4" name="Shape 2"/>
          <p:cNvSpPr/>
          <p:nvPr/>
        </p:nvSpPr>
        <p:spPr>
          <a:xfrm>
            <a:off x="457200" y="292608"/>
            <a:ext cx="658368" cy="658368"/>
          </a:xfrm>
          <a:prstGeom prst="ellipse">
            <a:avLst/>
          </a:prstGeom>
          <a:solidFill>
            <a:srgbClr val="2BB673"/>
          </a:solidFill>
          <a:ln/>
        </p:spPr>
      </p:sp>
      <p:sp>
        <p:nvSpPr>
          <p:cNvPr id="5" name="Text 3"/>
          <p:cNvSpPr txBox="1"/>
          <p:nvPr/>
        </p:nvSpPr>
        <p:spPr>
          <a:xfrm>
            <a:off x="457200" y="292608"/>
            <a:ext cx="658368" cy="658368"/>
          </a:xfrm>
          <a:prstGeom prst="rect">
            <a:avLst/>
          </a:prstGeom>
          <a:noFill/>
          <a:ln/>
        </p:spPr>
        <p:txBody>
          <a:bodyPr wrap="square" lIns="0" tIns="0" rIns="0" bIns="0" rtlCol="0" anchor="ctr"/>
          <a:lstStyle/>
          <a:p>
            <a:pPr marL="0" indent="0" algn="ctr">
              <a:buNone/>
            </a:pPr>
            <a:r>
              <a:rPr lang="en-US" sz="2200" b="1" dirty="0">
                <a:solidFill>
                  <a:srgbClr val="FFFFFF"/>
                </a:solidFill>
              </a:rPr>
              <a:t>✅</a:t>
            </a:r>
            <a:endParaRPr lang="en-US" sz="2200" dirty="0"/>
          </a:p>
        </p:txBody>
      </p:sp>
      <p:sp>
        <p:nvSpPr>
          <p:cNvPr id="6" name="Text 0"/>
          <p:cNvSpPr>
            <a:spLocks noGrp="1"/>
          </p:cNvSpPr>
          <p:nvPr>
            <p:ph type="title" idx="100" hasCustomPrompt="1"/>
          </p:nvPr>
        </p:nvSpPr>
        <p:spPr>
          <a:xfrm>
            <a:off x="1280160" y="274320"/>
            <a:ext cx="7315200" cy="685800"/>
          </a:xfrm>
          <a:prstGeom prst="rect">
            <a:avLst/>
          </a:prstGeom>
          <a:noFill/>
          <a:ln/>
        </p:spPr>
        <p:txBody>
          <a:bodyPr wrap="square" rtlCol="0" anchor="ctr"/>
          <a:lstStyle/>
          <a:p>
            <a:pPr marL="0" indent="0">
              <a:buNone/>
            </a:pPr>
            <a:r>
              <a:rPr lang="en-US" sz="2600" b="1" dirty="0">
                <a:solidFill>
                  <a:srgbClr val="0A3D4A"/>
                </a:solidFill>
              </a:rPr>
              <a:t>ANSWER</a:t>
            </a:r>
            <a:endParaRPr lang="en-US" sz="2600" dirty="0"/>
          </a:p>
        </p:txBody>
      </p:sp>
      <p:sp>
        <p:nvSpPr>
          <p:cNvPr id="7" name="Shape 5"/>
          <p:cNvSpPr/>
          <p:nvPr/>
        </p:nvSpPr>
        <p:spPr>
          <a:xfrm>
            <a:off x="457200" y="1234440"/>
            <a:ext cx="8229600" cy="1325880"/>
          </a:xfrm>
          <a:prstGeom prst="roundRect">
            <a:avLst>
              <a:gd name="adj" fmla="val 10345"/>
            </a:avLst>
          </a:prstGeom>
          <a:solidFill>
            <a:srgbClr val="FFFFFF"/>
          </a:solidFill>
          <a:ln/>
          <a:effectLst>
            <a:outerShdw blurRad="76200" dist="25400" dir="5400000" algn="bl" rotWithShape="0">
              <a:srgbClr val="000000">
                <a:alpha val="15000"/>
              </a:srgbClr>
            </a:outerShdw>
          </a:effectLst>
        </p:spPr>
      </p:sp>
      <p:sp>
        <p:nvSpPr>
          <p:cNvPr id="8" name="Shape 6"/>
          <p:cNvSpPr/>
          <p:nvPr/>
        </p:nvSpPr>
        <p:spPr>
          <a:xfrm>
            <a:off x="731520" y="1435608"/>
            <a:ext cx="914400" cy="914400"/>
          </a:xfrm>
          <a:prstGeom prst="ellipse">
            <a:avLst/>
          </a:prstGeom>
          <a:solidFill>
            <a:srgbClr val="2BB673"/>
          </a:solidFill>
          <a:ln/>
        </p:spPr>
      </p:sp>
      <p:sp>
        <p:nvSpPr>
          <p:cNvPr id="9" name="Text 7"/>
          <p:cNvSpPr txBox="1"/>
          <p:nvPr/>
        </p:nvSpPr>
        <p:spPr>
          <a:xfrm>
            <a:off x="731520" y="1435608"/>
            <a:ext cx="914400" cy="914400"/>
          </a:xfrm>
          <a:prstGeom prst="rect">
            <a:avLst/>
          </a:prstGeom>
          <a:noFill/>
          <a:ln/>
        </p:spPr>
        <p:txBody>
          <a:bodyPr wrap="square" lIns="0" tIns="0" rIns="0" bIns="0" rtlCol="0" anchor="ctr"/>
          <a:lstStyle/>
          <a:p>
            <a:pPr marL="0" indent="0" algn="ctr">
              <a:buNone/>
            </a:pPr>
            <a:r>
              <a:rPr lang="en-US" sz="2800" b="1" dirty="0">
                <a:solidFill>
                  <a:srgbClr val="FFFFFF"/>
                </a:solidFill>
              </a:rPr>
              <a:t>B</a:t>
            </a:r>
            <a:endParaRPr lang="en-US" sz="4000" dirty="0"/>
          </a:p>
        </p:txBody>
      </p:sp>
      <p:sp>
        <p:nvSpPr>
          <p:cNvPr id="10" name="Text 8"/>
          <p:cNvSpPr txBox="1"/>
          <p:nvPr/>
        </p:nvSpPr>
        <p:spPr>
          <a:xfrm>
            <a:off x="1920240" y="1234440"/>
            <a:ext cx="6583680" cy="1325880"/>
          </a:xfrm>
          <a:prstGeom prst="rect">
            <a:avLst/>
          </a:prstGeom>
          <a:noFill/>
          <a:ln/>
        </p:spPr>
        <p:txBody>
          <a:bodyPr wrap="square" lIns="0" tIns="0" rIns="0" bIns="0" rtlCol="0" anchor="ctr"/>
          <a:lstStyle/>
          <a:p>
            <a:pPr marL="0" indent="0">
              <a:buNone/>
            </a:pPr>
            <a:r>
              <a:rPr lang="en-US" sz="2000" b="1" dirty="0">
                <a:solidFill>
                  <a:srgbClr val="0A3D4A"/>
                </a:solidFill>
              </a:rPr>
              <a:t>Notes help us record useful information in a short form.</a:t>
            </a:r>
            <a:endParaRPr lang="en-US" sz="2000" dirty="0"/>
          </a:p>
        </p:txBody>
      </p:sp>
      <p:sp>
        <p:nvSpPr>
          <p:cNvPr id="11" name="Text 9"/>
          <p:cNvSpPr txBox="1"/>
          <p:nvPr/>
        </p:nvSpPr>
        <p:spPr>
          <a:xfrm>
            <a:off x="548640" y="2697480"/>
            <a:ext cx="8046720" cy="1234440"/>
          </a:xfrm>
          <a:prstGeom prst="rect">
            <a:avLst/>
          </a:prstGeom>
          <a:noFill/>
          <a:ln/>
        </p:spPr>
        <p:txBody>
          <a:bodyPr wrap="square" lIns="0" tIns="0" rIns="0" bIns="0" rtlCol="0" anchor="t"/>
          <a:lstStyle/>
          <a:p>
            <a:pPr marL="0" indent="0">
              <a:spcAft>
                <a:spcPts val="300"/>
              </a:spcAft>
              <a:buNone/>
            </a:pPr>
            <a:r>
              <a:rPr lang="en-US" sz="1700" b="1" dirty="0">
                <a:solidFill>
                  <a:srgbClr val="0A3D4A"/>
                </a:solidFill>
              </a:rPr>
              <a:t>Good researchers:</a:t>
            </a:r>
          </a:p>
          <a:p>
            <a:pPr marL="0" indent="0">
              <a:spcAft>
                <a:spcPts val="300"/>
              </a:spcAft>
              <a:buNone/>
            </a:pPr>
            <a:endParaRPr lang="en-US" sz="1700" dirty="0">
              <a:solidFill>
                <a:srgbClr val="0A3D4A"/>
              </a:solidFill>
            </a:endParaRPr>
          </a:p>
          <a:p>
            <a:pPr marL="0" indent="0">
              <a:spcAft>
                <a:spcPts val="300"/>
              </a:spcAft>
              <a:buNone/>
            </a:pPr>
            <a:r>
              <a:rPr lang="en-US" sz="1700" dirty="0">
                <a:solidFill>
                  <a:srgbClr val="0A3D4A"/>
                </a:solidFill>
              </a:rPr>
              <a:t> </a:t>
            </a:r>
            <a:r>
              <a:rPr lang="en-US" sz="1700" b="1" dirty="0">
                <a:solidFill>
                  <a:srgbClr val="0A3D4A"/>
                </a:solidFill>
              </a:rPr>
              <a:t>Read → Understand → Note → Write</a:t>
            </a:r>
            <a:endParaRPr lang="en-US" sz="1700" dirty="0"/>
          </a:p>
        </p:txBody>
      </p:sp>
      <p:sp>
        <p:nvSpPr>
          <p:cNvPr id="12" name="Shape 10"/>
          <p:cNvSpPr/>
          <p:nvPr/>
        </p:nvSpPr>
        <p:spPr>
          <a:xfrm>
            <a:off x="457200" y="4023360"/>
            <a:ext cx="8229600" cy="685800"/>
          </a:xfrm>
          <a:prstGeom prst="roundRect">
            <a:avLst>
              <a:gd name="adj" fmla="val 20000"/>
            </a:avLst>
          </a:prstGeom>
          <a:solidFill>
            <a:srgbClr val="0A3D4A"/>
          </a:solidFill>
          <a:ln/>
          <a:effectLst>
            <a:outerShdw blurRad="76200" dist="25400" dir="5400000" algn="bl" rotWithShape="0">
              <a:srgbClr val="000000">
                <a:alpha val="15000"/>
              </a:srgbClr>
            </a:outerShdw>
          </a:effectLst>
        </p:spPr>
      </p:sp>
      <p:sp>
        <p:nvSpPr>
          <p:cNvPr id="13" name="Text 11"/>
          <p:cNvSpPr txBox="1"/>
          <p:nvPr/>
        </p:nvSpPr>
        <p:spPr>
          <a:xfrm>
            <a:off x="731520" y="4023360"/>
            <a:ext cx="7680960" cy="685800"/>
          </a:xfrm>
          <a:prstGeom prst="rect">
            <a:avLst/>
          </a:prstGeom>
          <a:noFill/>
          <a:ln/>
        </p:spPr>
        <p:txBody>
          <a:bodyPr wrap="square" lIns="0" tIns="0" rIns="0" bIns="0" rtlCol="0" anchor="ctr"/>
          <a:lstStyle/>
          <a:p>
            <a:pPr marL="0" indent="0">
              <a:buNone/>
            </a:pPr>
            <a:r>
              <a:rPr lang="en-US" sz="1700" b="1" dirty="0">
                <a:solidFill>
                  <a:srgbClr val="FFC857"/>
                </a:solidFill>
              </a:rPr>
              <a:t>Today we take the next step: </a:t>
            </a:r>
            <a:r>
              <a:rPr lang="en-US" sz="1700" b="1" dirty="0">
                <a:solidFill>
                  <a:srgbClr val="FFFFFF"/>
                </a:solidFill>
              </a:rPr>
              <a:t>NOTE → SENTENCE → PARAGRAPH</a:t>
            </a:r>
            <a:endParaRPr lang="en-US" sz="17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0E7C86"/>
                </a:solidFill>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7589520" y="-914400"/>
            <a:ext cx="2377440" cy="2377440"/>
          </a:xfrm>
          <a:prstGeom prst="ellipse">
            <a:avLst/>
          </a:prstGeom>
          <a:solidFill>
            <a:srgbClr val="CDEFF1">
              <a:alpha val="80000"/>
            </a:srgbClr>
          </a:solidFill>
          <a:ln/>
        </p:spPr>
      </p:sp>
      <p:sp>
        <p:nvSpPr>
          <p:cNvPr id="3" name="Shape 1"/>
          <p:cNvSpPr/>
          <p:nvPr/>
        </p:nvSpPr>
        <p:spPr>
          <a:xfrm>
            <a:off x="-548640" y="4297680"/>
            <a:ext cx="1463040" cy="1463040"/>
          </a:xfrm>
          <a:prstGeom prst="ellipse">
            <a:avLst/>
          </a:prstGeom>
          <a:solidFill>
            <a:srgbClr val="CDEFF1">
              <a:alpha val="70000"/>
            </a:srgbClr>
          </a:solidFill>
          <a:ln/>
        </p:spPr>
      </p:sp>
      <p:sp>
        <p:nvSpPr>
          <p:cNvPr id="5" name="Text 3"/>
          <p:cNvSpPr txBox="1"/>
          <p:nvPr/>
        </p:nvSpPr>
        <p:spPr>
          <a:xfrm>
            <a:off x="2981739" y="304402"/>
            <a:ext cx="658368" cy="658368"/>
          </a:xfrm>
          <a:prstGeom prst="rect">
            <a:avLst/>
          </a:prstGeom>
          <a:noFill/>
          <a:ln/>
        </p:spPr>
        <p:txBody>
          <a:bodyPr wrap="square" lIns="0" tIns="0" rIns="0" bIns="0" rtlCol="0" anchor="ctr"/>
          <a:lstStyle/>
          <a:p>
            <a:pPr marL="0" indent="0" algn="ctr">
              <a:buNone/>
            </a:pPr>
            <a:r>
              <a:rPr lang="en-US" sz="2200" b="1" dirty="0">
                <a:solidFill>
                  <a:srgbClr val="FFFFFF"/>
                </a:solidFill>
              </a:rPr>
              <a:t>🎯</a:t>
            </a:r>
            <a:endParaRPr lang="en-US" sz="2200" dirty="0"/>
          </a:p>
        </p:txBody>
      </p:sp>
      <p:sp>
        <p:nvSpPr>
          <p:cNvPr id="6" name="Text 0"/>
          <p:cNvSpPr>
            <a:spLocks noGrp="1"/>
          </p:cNvSpPr>
          <p:nvPr>
            <p:ph type="title" idx="100" hasCustomPrompt="1"/>
          </p:nvPr>
        </p:nvSpPr>
        <p:spPr>
          <a:xfrm>
            <a:off x="1280160" y="274320"/>
            <a:ext cx="7315200" cy="685800"/>
          </a:xfrm>
          <a:prstGeom prst="rect">
            <a:avLst/>
          </a:prstGeom>
          <a:noFill/>
          <a:ln/>
        </p:spPr>
        <p:txBody>
          <a:bodyPr wrap="square" rtlCol="0" anchor="ctr"/>
          <a:lstStyle/>
          <a:p>
            <a:pPr marL="0" indent="0">
              <a:buNone/>
            </a:pPr>
            <a:r>
              <a:rPr lang="en-US" sz="2600" b="1" dirty="0">
                <a:solidFill>
                  <a:srgbClr val="0A3D4A"/>
                </a:solidFill>
              </a:rPr>
              <a:t>OUR CHALLENGE</a:t>
            </a:r>
            <a:endParaRPr lang="en-US" sz="2600" dirty="0"/>
          </a:p>
        </p:txBody>
      </p:sp>
      <p:sp>
        <p:nvSpPr>
          <p:cNvPr id="7" name="Shape 5"/>
          <p:cNvSpPr/>
          <p:nvPr/>
        </p:nvSpPr>
        <p:spPr>
          <a:xfrm>
            <a:off x="457200" y="1188720"/>
            <a:ext cx="3840480" cy="3520440"/>
          </a:xfrm>
          <a:prstGeom prst="roundRect">
            <a:avLst>
              <a:gd name="adj" fmla="val 3896"/>
            </a:avLst>
          </a:prstGeom>
          <a:solidFill>
            <a:srgbClr val="FFFFFF"/>
          </a:solidFill>
          <a:ln/>
          <a:effectLst>
            <a:outerShdw blurRad="76200" dist="25400" dir="5400000" algn="bl" rotWithShape="0">
              <a:srgbClr val="000000">
                <a:alpha val="15000"/>
              </a:srgbClr>
            </a:outerShdw>
          </a:effectLst>
        </p:spPr>
      </p:sp>
      <p:sp>
        <p:nvSpPr>
          <p:cNvPr id="8" name="Text 6"/>
          <p:cNvSpPr txBox="1"/>
          <p:nvPr/>
        </p:nvSpPr>
        <p:spPr>
          <a:xfrm>
            <a:off x="685800" y="1212243"/>
            <a:ext cx="3383280" cy="274320"/>
          </a:xfrm>
          <a:prstGeom prst="rect">
            <a:avLst/>
          </a:prstGeom>
          <a:noFill/>
          <a:ln/>
        </p:spPr>
        <p:txBody>
          <a:bodyPr wrap="square" lIns="0" tIns="0" rIns="0" bIns="0" rtlCol="0" anchor="t"/>
          <a:lstStyle/>
          <a:p>
            <a:pPr marL="0" indent="0">
              <a:buNone/>
            </a:pPr>
            <a:r>
              <a:rPr lang="en-US" sz="2000" b="1" i="1" dirty="0">
                <a:solidFill>
                  <a:srgbClr val="4A6B73"/>
                </a:solidFill>
              </a:rPr>
              <a:t>Look at these notes:</a:t>
            </a:r>
            <a:endParaRPr lang="en-US" sz="2000" b="1" dirty="0"/>
          </a:p>
        </p:txBody>
      </p:sp>
      <p:sp>
        <p:nvSpPr>
          <p:cNvPr id="9" name="Text 7"/>
          <p:cNvSpPr txBox="1"/>
          <p:nvPr/>
        </p:nvSpPr>
        <p:spPr>
          <a:xfrm>
            <a:off x="685800" y="1691640"/>
            <a:ext cx="3383280" cy="365760"/>
          </a:xfrm>
          <a:prstGeom prst="rect">
            <a:avLst/>
          </a:prstGeom>
          <a:noFill/>
          <a:ln/>
        </p:spPr>
        <p:txBody>
          <a:bodyPr wrap="square" lIns="0" tIns="0" rIns="0" bIns="0" rtlCol="0" anchor="t"/>
          <a:lstStyle/>
          <a:p>
            <a:pPr marL="0" indent="0">
              <a:buNone/>
            </a:pPr>
            <a:r>
              <a:rPr lang="en-US" sz="2200" b="1" dirty="0">
                <a:solidFill>
                  <a:srgbClr val="0E7C86"/>
                </a:solidFill>
              </a:rPr>
              <a:t>Sea turtles</a:t>
            </a:r>
            <a:endParaRPr lang="en-US" sz="2200" dirty="0"/>
          </a:p>
        </p:txBody>
      </p:sp>
      <p:sp>
        <p:nvSpPr>
          <p:cNvPr id="10" name="Text 8"/>
          <p:cNvSpPr txBox="1"/>
          <p:nvPr/>
        </p:nvSpPr>
        <p:spPr>
          <a:xfrm>
            <a:off x="685800" y="2194560"/>
            <a:ext cx="3383280" cy="237744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0A3D4A"/>
                </a:solidFill>
              </a:rPr>
              <a:t>marine reptiles</a:t>
            </a:r>
            <a:endParaRPr lang="en-US" sz="1800" dirty="0"/>
          </a:p>
          <a:p>
            <a:pPr marL="342900" indent="-342900">
              <a:spcAft>
                <a:spcPts val="800"/>
              </a:spcAft>
              <a:buSzPct val="100000"/>
              <a:buChar char="•"/>
            </a:pPr>
            <a:r>
              <a:rPr lang="en-US" sz="1800" dirty="0">
                <a:solidFill>
                  <a:srgbClr val="0A3D4A"/>
                </a:solidFill>
              </a:rPr>
              <a:t>live in oceans</a:t>
            </a:r>
            <a:endParaRPr lang="en-US" sz="1800" dirty="0"/>
          </a:p>
          <a:p>
            <a:pPr marL="342900" indent="-342900">
              <a:spcAft>
                <a:spcPts val="800"/>
              </a:spcAft>
              <a:buSzPct val="100000"/>
              <a:buChar char="•"/>
            </a:pPr>
            <a:r>
              <a:rPr lang="en-US" sz="1800" dirty="0">
                <a:solidFill>
                  <a:srgbClr val="0A3D4A"/>
                </a:solidFill>
              </a:rPr>
              <a:t>large flippers</a:t>
            </a:r>
            <a:endParaRPr lang="en-US" sz="1800" dirty="0"/>
          </a:p>
          <a:p>
            <a:pPr marL="342900" indent="-342900">
              <a:spcAft>
                <a:spcPts val="800"/>
              </a:spcAft>
              <a:buSzPct val="100000"/>
              <a:buChar char="•"/>
            </a:pPr>
            <a:r>
              <a:rPr lang="en-US" sz="1800" dirty="0">
                <a:solidFill>
                  <a:srgbClr val="0A3D4A"/>
                </a:solidFill>
              </a:rPr>
              <a:t>return to beaches</a:t>
            </a:r>
            <a:endParaRPr lang="en-US" sz="1800" dirty="0"/>
          </a:p>
          <a:p>
            <a:pPr marL="342900" indent="-342900">
              <a:spcAft>
                <a:spcPts val="800"/>
              </a:spcAft>
              <a:buSzPct val="100000"/>
              <a:buChar char="•"/>
            </a:pPr>
            <a:r>
              <a:rPr lang="en-US" sz="1800" dirty="0">
                <a:solidFill>
                  <a:srgbClr val="0A3D4A"/>
                </a:solidFill>
              </a:rPr>
              <a:t>lay eggs</a:t>
            </a:r>
            <a:endParaRPr lang="en-US" sz="1800" dirty="0"/>
          </a:p>
        </p:txBody>
      </p:sp>
      <p:sp>
        <p:nvSpPr>
          <p:cNvPr id="11" name="Shape 9"/>
          <p:cNvSpPr/>
          <p:nvPr/>
        </p:nvSpPr>
        <p:spPr>
          <a:xfrm>
            <a:off x="4480560" y="1188720"/>
            <a:ext cx="4663440" cy="3520440"/>
          </a:xfrm>
          <a:prstGeom prst="roundRect">
            <a:avLst>
              <a:gd name="adj" fmla="val 3896"/>
            </a:avLst>
          </a:prstGeom>
          <a:solidFill>
            <a:srgbClr val="0A3D4A"/>
          </a:solidFill>
          <a:ln/>
          <a:effectLst>
            <a:outerShdw blurRad="76200" dist="25400" dir="5400000" algn="bl" rotWithShape="0">
              <a:srgbClr val="000000">
                <a:alpha val="15000"/>
              </a:srgbClr>
            </a:outerShdw>
          </a:effectLst>
        </p:spPr>
      </p:sp>
      <p:sp>
        <p:nvSpPr>
          <p:cNvPr id="12" name="Text 10"/>
          <p:cNvSpPr txBox="1"/>
          <p:nvPr/>
        </p:nvSpPr>
        <p:spPr>
          <a:xfrm>
            <a:off x="4502658" y="1097280"/>
            <a:ext cx="4720424" cy="3520440"/>
          </a:xfrm>
          <a:prstGeom prst="rect">
            <a:avLst/>
          </a:prstGeom>
          <a:noFill/>
          <a:ln/>
        </p:spPr>
        <p:txBody>
          <a:bodyPr wrap="square" lIns="0" tIns="0" rIns="0" bIns="0" rtlCol="0" anchor="ctr"/>
          <a:lstStyle/>
          <a:p>
            <a:pPr marL="0" indent="0">
              <a:buNone/>
            </a:pPr>
            <a:r>
              <a:rPr lang="en-US" sz="1800" b="1" dirty="0">
                <a:solidFill>
                  <a:srgbClr val="FFC857"/>
                </a:solidFill>
              </a:rPr>
              <a:t>Can we put these notes directly into our report?</a:t>
            </a:r>
            <a:endParaRPr lang="en-US" sz="1600" dirty="0"/>
          </a:p>
          <a:p>
            <a:pPr marL="0" indent="0">
              <a:buNone/>
            </a:pPr>
            <a:r>
              <a:rPr lang="en-US" sz="4800" b="1" dirty="0">
                <a:solidFill>
                  <a:srgbClr val="FF6B5E"/>
                </a:solidFill>
              </a:rPr>
              <a:t>No.</a:t>
            </a:r>
            <a:endParaRPr lang="en-US" sz="1600" dirty="0"/>
          </a:p>
          <a:p>
            <a:pPr marL="0" indent="0">
              <a:buNone/>
            </a:pPr>
            <a:r>
              <a:rPr lang="en-US" sz="1800" b="1" dirty="0">
                <a:solidFill>
                  <a:srgbClr val="FFFFFF"/>
                </a:solidFill>
              </a:rPr>
              <a:t>We need to turn them into clear sentences.</a:t>
            </a:r>
            <a:endParaRPr lang="en-US" sz="16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0E7C86"/>
                </a:solidFill>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7589520" y="-914400"/>
            <a:ext cx="2377440" cy="2377440"/>
          </a:xfrm>
          <a:prstGeom prst="ellipse">
            <a:avLst/>
          </a:prstGeom>
          <a:solidFill>
            <a:srgbClr val="CDEFF1">
              <a:alpha val="80000"/>
            </a:srgbClr>
          </a:solidFill>
          <a:ln/>
        </p:spPr>
      </p:sp>
      <p:sp>
        <p:nvSpPr>
          <p:cNvPr id="3" name="Shape 1"/>
          <p:cNvSpPr/>
          <p:nvPr/>
        </p:nvSpPr>
        <p:spPr>
          <a:xfrm>
            <a:off x="-548640" y="4297680"/>
            <a:ext cx="1463040" cy="1463040"/>
          </a:xfrm>
          <a:prstGeom prst="ellipse">
            <a:avLst/>
          </a:prstGeom>
          <a:solidFill>
            <a:srgbClr val="CDEFF1">
              <a:alpha val="70000"/>
            </a:srgbClr>
          </a:solidFill>
          <a:ln/>
        </p:spPr>
      </p:sp>
      <p:sp>
        <p:nvSpPr>
          <p:cNvPr id="5" name="Text 3"/>
          <p:cNvSpPr txBox="1"/>
          <p:nvPr/>
        </p:nvSpPr>
        <p:spPr>
          <a:xfrm>
            <a:off x="2650434" y="201168"/>
            <a:ext cx="658368" cy="658368"/>
          </a:xfrm>
          <a:prstGeom prst="rect">
            <a:avLst/>
          </a:prstGeom>
          <a:noFill/>
          <a:ln/>
        </p:spPr>
        <p:txBody>
          <a:bodyPr wrap="square" lIns="0" tIns="0" rIns="0" bIns="0" rtlCol="0" anchor="ctr"/>
          <a:lstStyle/>
          <a:p>
            <a:pPr marL="0" indent="0" algn="ctr">
              <a:buNone/>
            </a:pPr>
            <a:r>
              <a:rPr lang="en-US" sz="2200" b="1" dirty="0">
                <a:solidFill>
                  <a:srgbClr val="FFFFFF"/>
                </a:solidFill>
              </a:rPr>
              <a:t>✍️</a:t>
            </a:r>
            <a:endParaRPr lang="en-US" sz="2200" dirty="0"/>
          </a:p>
        </p:txBody>
      </p:sp>
      <p:sp>
        <p:nvSpPr>
          <p:cNvPr id="6" name="Text 0"/>
          <p:cNvSpPr>
            <a:spLocks noGrp="1"/>
          </p:cNvSpPr>
          <p:nvPr>
            <p:ph type="title" idx="100" hasCustomPrompt="1"/>
          </p:nvPr>
        </p:nvSpPr>
        <p:spPr>
          <a:xfrm>
            <a:off x="1280160" y="274320"/>
            <a:ext cx="7315200" cy="685800"/>
          </a:xfrm>
          <a:prstGeom prst="rect">
            <a:avLst/>
          </a:prstGeom>
          <a:noFill/>
          <a:ln/>
        </p:spPr>
        <p:txBody>
          <a:bodyPr wrap="square" rtlCol="0" anchor="ctr"/>
          <a:lstStyle/>
          <a:p>
            <a:pPr marL="0" indent="0">
              <a:buNone/>
            </a:pPr>
            <a:r>
              <a:rPr lang="en-US" sz="2600" b="1" dirty="0">
                <a:solidFill>
                  <a:srgbClr val="0A3D4A"/>
                </a:solidFill>
              </a:rPr>
              <a:t>BUILD THE SENTENCE</a:t>
            </a:r>
            <a:endParaRPr lang="en-US" sz="2600" dirty="0"/>
          </a:p>
        </p:txBody>
      </p:sp>
      <p:sp>
        <p:nvSpPr>
          <p:cNvPr id="7" name="Text 5"/>
          <p:cNvSpPr txBox="1"/>
          <p:nvPr/>
        </p:nvSpPr>
        <p:spPr>
          <a:xfrm>
            <a:off x="457200" y="1097280"/>
            <a:ext cx="8229600" cy="411480"/>
          </a:xfrm>
          <a:prstGeom prst="rect">
            <a:avLst/>
          </a:prstGeom>
          <a:noFill/>
          <a:ln/>
        </p:spPr>
        <p:txBody>
          <a:bodyPr wrap="square" lIns="0" tIns="0" rIns="0" bIns="0" rtlCol="0" anchor="t"/>
          <a:lstStyle/>
          <a:p>
            <a:pPr marL="0" indent="0">
              <a:buNone/>
            </a:pPr>
            <a:r>
              <a:rPr lang="en-US" sz="2000" b="1" i="1" dirty="0">
                <a:solidFill>
                  <a:srgbClr val="0A3D4A"/>
                </a:solidFill>
              </a:rPr>
              <a:t>Note</a:t>
            </a:r>
            <a:r>
              <a:rPr lang="en-US" sz="2000" i="1" dirty="0">
                <a:solidFill>
                  <a:srgbClr val="0A3D4A"/>
                </a:solidFill>
              </a:rPr>
              <a:t>: marine reptiles</a:t>
            </a:r>
            <a:endParaRPr lang="en-US" sz="2000" dirty="0"/>
          </a:p>
        </p:txBody>
      </p:sp>
      <p:sp>
        <p:nvSpPr>
          <p:cNvPr id="8" name="Text 6"/>
          <p:cNvSpPr txBox="1"/>
          <p:nvPr/>
        </p:nvSpPr>
        <p:spPr>
          <a:xfrm>
            <a:off x="457200" y="1691640"/>
            <a:ext cx="8229600" cy="822960"/>
          </a:xfrm>
          <a:prstGeom prst="rect">
            <a:avLst/>
          </a:prstGeom>
          <a:noFill/>
          <a:ln/>
        </p:spPr>
        <p:txBody>
          <a:bodyPr wrap="square" lIns="0" tIns="0" rIns="0" bIns="0" rtlCol="0" anchor="t"/>
          <a:lstStyle/>
          <a:p>
            <a:pPr marL="0" indent="0">
              <a:buNone/>
            </a:pPr>
            <a:r>
              <a:rPr lang="en-US" sz="2200" b="1" dirty="0">
                <a:solidFill>
                  <a:srgbClr val="0A3D4A"/>
                </a:solidFill>
              </a:rPr>
              <a:t>Which sentence turns the note into a good factual sentence?</a:t>
            </a:r>
            <a:endParaRPr lang="en-US" sz="2200" dirty="0"/>
          </a:p>
        </p:txBody>
      </p:sp>
      <p:sp>
        <p:nvSpPr>
          <p:cNvPr id="9" name="Shape 7"/>
          <p:cNvSpPr/>
          <p:nvPr/>
        </p:nvSpPr>
        <p:spPr>
          <a:xfrm>
            <a:off x="457200" y="2606040"/>
            <a:ext cx="4023360" cy="1005840"/>
          </a:xfrm>
          <a:prstGeom prst="roundRect">
            <a:avLst>
              <a:gd name="adj" fmla="val 13636"/>
            </a:avLst>
          </a:prstGeom>
          <a:solidFill>
            <a:srgbClr val="FFFFFF"/>
          </a:solidFill>
          <a:ln/>
          <a:effectLst>
            <a:outerShdw blurRad="76200" dist="25400" dir="5400000" algn="bl" rotWithShape="0">
              <a:srgbClr val="000000">
                <a:alpha val="15000"/>
              </a:srgbClr>
            </a:outerShdw>
          </a:effectLst>
        </p:spPr>
      </p:sp>
      <p:sp>
        <p:nvSpPr>
          <p:cNvPr id="10" name="Shape 8"/>
          <p:cNvSpPr/>
          <p:nvPr/>
        </p:nvSpPr>
        <p:spPr>
          <a:xfrm>
            <a:off x="640080" y="2834640"/>
            <a:ext cx="548640" cy="548640"/>
          </a:xfrm>
          <a:prstGeom prst="ellipse">
            <a:avLst/>
          </a:prstGeom>
          <a:solidFill>
            <a:srgbClr val="FF6B5E"/>
          </a:solidFill>
          <a:ln/>
        </p:spPr>
      </p:sp>
      <p:sp>
        <p:nvSpPr>
          <p:cNvPr id="11" name="Text 9"/>
          <p:cNvSpPr txBox="1"/>
          <p:nvPr/>
        </p:nvSpPr>
        <p:spPr>
          <a:xfrm>
            <a:off x="640080" y="283464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rPr>
              <a:t>A</a:t>
            </a:r>
            <a:endParaRPr lang="en-US" sz="2000" dirty="0"/>
          </a:p>
        </p:txBody>
      </p:sp>
      <p:sp>
        <p:nvSpPr>
          <p:cNvPr id="12" name="Text 10"/>
          <p:cNvSpPr txBox="1"/>
          <p:nvPr/>
        </p:nvSpPr>
        <p:spPr>
          <a:xfrm>
            <a:off x="1371600" y="2679192"/>
            <a:ext cx="2971800" cy="859536"/>
          </a:xfrm>
          <a:prstGeom prst="rect">
            <a:avLst/>
          </a:prstGeom>
          <a:noFill/>
          <a:ln/>
        </p:spPr>
        <p:txBody>
          <a:bodyPr wrap="square" lIns="0" tIns="0" rIns="0" bIns="0" rtlCol="0" anchor="ctr"/>
          <a:lstStyle/>
          <a:p>
            <a:pPr marL="0" indent="0">
              <a:buNone/>
            </a:pPr>
            <a:r>
              <a:rPr lang="en-US" sz="1600" dirty="0">
                <a:solidFill>
                  <a:srgbClr val="0A3D4A"/>
                </a:solidFill>
              </a:rPr>
              <a:t>Sea turtles are marine reptiles.</a:t>
            </a:r>
            <a:endParaRPr lang="en-US" sz="1600" dirty="0"/>
          </a:p>
        </p:txBody>
      </p:sp>
      <p:sp>
        <p:nvSpPr>
          <p:cNvPr id="13" name="Shape 11"/>
          <p:cNvSpPr/>
          <p:nvPr/>
        </p:nvSpPr>
        <p:spPr>
          <a:xfrm>
            <a:off x="4663440" y="2606040"/>
            <a:ext cx="4023360" cy="1005840"/>
          </a:xfrm>
          <a:prstGeom prst="roundRect">
            <a:avLst>
              <a:gd name="adj" fmla="val 13636"/>
            </a:avLst>
          </a:prstGeom>
          <a:solidFill>
            <a:srgbClr val="FFFFFF"/>
          </a:solidFill>
          <a:ln/>
          <a:effectLst>
            <a:outerShdw blurRad="76200" dist="25400" dir="5400000" algn="bl" rotWithShape="0">
              <a:srgbClr val="000000">
                <a:alpha val="15000"/>
              </a:srgbClr>
            </a:outerShdw>
          </a:effectLst>
        </p:spPr>
      </p:sp>
      <p:sp>
        <p:nvSpPr>
          <p:cNvPr id="14" name="Shape 12"/>
          <p:cNvSpPr/>
          <p:nvPr/>
        </p:nvSpPr>
        <p:spPr>
          <a:xfrm>
            <a:off x="4846320" y="2834640"/>
            <a:ext cx="548640" cy="548640"/>
          </a:xfrm>
          <a:prstGeom prst="ellipse">
            <a:avLst/>
          </a:prstGeom>
          <a:solidFill>
            <a:srgbClr val="0E7C86"/>
          </a:solidFill>
          <a:ln/>
        </p:spPr>
      </p:sp>
      <p:sp>
        <p:nvSpPr>
          <p:cNvPr id="15" name="Text 13"/>
          <p:cNvSpPr txBox="1"/>
          <p:nvPr/>
        </p:nvSpPr>
        <p:spPr>
          <a:xfrm>
            <a:off x="4846320" y="283464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rPr>
              <a:t>B</a:t>
            </a:r>
            <a:endParaRPr lang="en-US" sz="2000" dirty="0"/>
          </a:p>
        </p:txBody>
      </p:sp>
      <p:sp>
        <p:nvSpPr>
          <p:cNvPr id="16" name="Text 14"/>
          <p:cNvSpPr txBox="1"/>
          <p:nvPr/>
        </p:nvSpPr>
        <p:spPr>
          <a:xfrm>
            <a:off x="5577840" y="2679192"/>
            <a:ext cx="2971800" cy="859536"/>
          </a:xfrm>
          <a:prstGeom prst="rect">
            <a:avLst/>
          </a:prstGeom>
          <a:noFill/>
          <a:ln/>
        </p:spPr>
        <p:txBody>
          <a:bodyPr wrap="square" lIns="0" tIns="0" rIns="0" bIns="0" rtlCol="0" anchor="ctr"/>
          <a:lstStyle/>
          <a:p>
            <a:pPr marL="0" indent="0">
              <a:buNone/>
            </a:pPr>
            <a:r>
              <a:rPr lang="en-US" sz="1600" dirty="0">
                <a:solidFill>
                  <a:srgbClr val="0A3D4A"/>
                </a:solidFill>
              </a:rPr>
              <a:t>Marine reptiles sea turtles.</a:t>
            </a:r>
            <a:endParaRPr lang="en-US" sz="1600" dirty="0"/>
          </a:p>
        </p:txBody>
      </p:sp>
      <p:sp>
        <p:nvSpPr>
          <p:cNvPr id="17" name="Shape 15"/>
          <p:cNvSpPr/>
          <p:nvPr/>
        </p:nvSpPr>
        <p:spPr>
          <a:xfrm>
            <a:off x="457200" y="3749040"/>
            <a:ext cx="4023360" cy="1005840"/>
          </a:xfrm>
          <a:prstGeom prst="roundRect">
            <a:avLst>
              <a:gd name="adj" fmla="val 13636"/>
            </a:avLst>
          </a:prstGeom>
          <a:solidFill>
            <a:srgbClr val="FFFFFF"/>
          </a:solidFill>
          <a:ln/>
          <a:effectLst>
            <a:outerShdw blurRad="76200" dist="25400" dir="5400000" algn="bl" rotWithShape="0">
              <a:srgbClr val="000000">
                <a:alpha val="15000"/>
              </a:srgbClr>
            </a:outerShdw>
          </a:effectLst>
        </p:spPr>
      </p:sp>
      <p:sp>
        <p:nvSpPr>
          <p:cNvPr id="18" name="Shape 16"/>
          <p:cNvSpPr/>
          <p:nvPr/>
        </p:nvSpPr>
        <p:spPr>
          <a:xfrm>
            <a:off x="640080" y="3977640"/>
            <a:ext cx="548640" cy="548640"/>
          </a:xfrm>
          <a:prstGeom prst="ellipse">
            <a:avLst/>
          </a:prstGeom>
          <a:solidFill>
            <a:srgbClr val="3A86C8"/>
          </a:solidFill>
          <a:ln/>
        </p:spPr>
      </p:sp>
      <p:sp>
        <p:nvSpPr>
          <p:cNvPr id="19" name="Text 17"/>
          <p:cNvSpPr txBox="1"/>
          <p:nvPr/>
        </p:nvSpPr>
        <p:spPr>
          <a:xfrm>
            <a:off x="640080" y="397764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rPr>
              <a:t>C</a:t>
            </a:r>
            <a:endParaRPr lang="en-US" sz="2000" dirty="0"/>
          </a:p>
        </p:txBody>
      </p:sp>
      <p:sp>
        <p:nvSpPr>
          <p:cNvPr id="20" name="Text 18"/>
          <p:cNvSpPr txBox="1"/>
          <p:nvPr/>
        </p:nvSpPr>
        <p:spPr>
          <a:xfrm>
            <a:off x="1371600" y="3822192"/>
            <a:ext cx="2971800" cy="859536"/>
          </a:xfrm>
          <a:prstGeom prst="rect">
            <a:avLst/>
          </a:prstGeom>
          <a:noFill/>
          <a:ln/>
        </p:spPr>
        <p:txBody>
          <a:bodyPr wrap="square" lIns="0" tIns="0" rIns="0" bIns="0" rtlCol="0" anchor="ctr"/>
          <a:lstStyle/>
          <a:p>
            <a:pPr marL="0" indent="0">
              <a:buNone/>
            </a:pPr>
            <a:r>
              <a:rPr lang="en-US" sz="1600" dirty="0">
                <a:solidFill>
                  <a:srgbClr val="0A3D4A"/>
                </a:solidFill>
              </a:rPr>
              <a:t>I think sea turtles are amazing marine reptiles.</a:t>
            </a:r>
            <a:endParaRPr lang="en-US" sz="1600" dirty="0"/>
          </a:p>
        </p:txBody>
      </p:sp>
      <p:sp>
        <p:nvSpPr>
          <p:cNvPr id="21" name="Shape 19"/>
          <p:cNvSpPr/>
          <p:nvPr/>
        </p:nvSpPr>
        <p:spPr>
          <a:xfrm>
            <a:off x="4663440" y="3749040"/>
            <a:ext cx="4023360" cy="1005840"/>
          </a:xfrm>
          <a:prstGeom prst="roundRect">
            <a:avLst>
              <a:gd name="adj" fmla="val 13636"/>
            </a:avLst>
          </a:prstGeom>
          <a:solidFill>
            <a:srgbClr val="FFFFFF"/>
          </a:solidFill>
          <a:ln/>
          <a:effectLst>
            <a:outerShdw blurRad="76200" dist="25400" dir="5400000" algn="bl" rotWithShape="0">
              <a:srgbClr val="000000">
                <a:alpha val="15000"/>
              </a:srgbClr>
            </a:outerShdw>
          </a:effectLst>
        </p:spPr>
      </p:sp>
      <p:sp>
        <p:nvSpPr>
          <p:cNvPr id="22" name="Shape 20"/>
          <p:cNvSpPr/>
          <p:nvPr/>
        </p:nvSpPr>
        <p:spPr>
          <a:xfrm>
            <a:off x="4846320" y="3977640"/>
            <a:ext cx="548640" cy="548640"/>
          </a:xfrm>
          <a:prstGeom prst="ellipse">
            <a:avLst/>
          </a:prstGeom>
          <a:solidFill>
            <a:srgbClr val="7B5EA7"/>
          </a:solidFill>
          <a:ln/>
        </p:spPr>
      </p:sp>
      <p:sp>
        <p:nvSpPr>
          <p:cNvPr id="23" name="Text 21"/>
          <p:cNvSpPr txBox="1"/>
          <p:nvPr/>
        </p:nvSpPr>
        <p:spPr>
          <a:xfrm>
            <a:off x="4846320" y="397764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rPr>
              <a:t>D</a:t>
            </a:r>
            <a:endParaRPr lang="en-US" sz="2000" dirty="0"/>
          </a:p>
        </p:txBody>
      </p:sp>
      <p:sp>
        <p:nvSpPr>
          <p:cNvPr id="24" name="Text 22"/>
          <p:cNvSpPr txBox="1"/>
          <p:nvPr/>
        </p:nvSpPr>
        <p:spPr>
          <a:xfrm>
            <a:off x="5577840" y="3822192"/>
            <a:ext cx="2971800" cy="859536"/>
          </a:xfrm>
          <a:prstGeom prst="rect">
            <a:avLst/>
          </a:prstGeom>
          <a:noFill/>
          <a:ln/>
        </p:spPr>
        <p:txBody>
          <a:bodyPr wrap="square" lIns="0" tIns="0" rIns="0" bIns="0" rtlCol="0" anchor="ctr"/>
          <a:lstStyle/>
          <a:p>
            <a:pPr marL="0" indent="0">
              <a:buNone/>
            </a:pPr>
            <a:r>
              <a:rPr lang="en-US" sz="1600" dirty="0">
                <a:solidFill>
                  <a:srgbClr val="0A3D4A"/>
                </a:solidFill>
              </a:rPr>
              <a:t>Yesterday, sea turtles were marine reptiles.</a:t>
            </a:r>
            <a:endParaRPr lang="en-US" sz="16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0E7C86"/>
                </a:solidFill>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7589520" y="-914400"/>
            <a:ext cx="2377440" cy="2377440"/>
          </a:xfrm>
          <a:prstGeom prst="ellipse">
            <a:avLst/>
          </a:prstGeom>
          <a:solidFill>
            <a:srgbClr val="CDEFF1">
              <a:alpha val="80000"/>
            </a:srgbClr>
          </a:solidFill>
          <a:ln/>
        </p:spPr>
      </p:sp>
      <p:sp>
        <p:nvSpPr>
          <p:cNvPr id="3" name="Shape 1"/>
          <p:cNvSpPr/>
          <p:nvPr/>
        </p:nvSpPr>
        <p:spPr>
          <a:xfrm>
            <a:off x="-548640" y="4297680"/>
            <a:ext cx="1463040" cy="1463040"/>
          </a:xfrm>
          <a:prstGeom prst="ellipse">
            <a:avLst/>
          </a:prstGeom>
          <a:solidFill>
            <a:srgbClr val="CDEFF1">
              <a:alpha val="70000"/>
            </a:srgbClr>
          </a:solidFill>
          <a:ln/>
        </p:spPr>
      </p:sp>
      <p:sp>
        <p:nvSpPr>
          <p:cNvPr id="4" name="Shape 2"/>
          <p:cNvSpPr/>
          <p:nvPr/>
        </p:nvSpPr>
        <p:spPr>
          <a:xfrm>
            <a:off x="457200" y="292608"/>
            <a:ext cx="658368" cy="658368"/>
          </a:xfrm>
          <a:prstGeom prst="ellipse">
            <a:avLst/>
          </a:prstGeom>
          <a:solidFill>
            <a:srgbClr val="2BB673"/>
          </a:solidFill>
          <a:ln/>
        </p:spPr>
      </p:sp>
      <p:sp>
        <p:nvSpPr>
          <p:cNvPr id="5" name="Text 3"/>
          <p:cNvSpPr txBox="1"/>
          <p:nvPr/>
        </p:nvSpPr>
        <p:spPr>
          <a:xfrm>
            <a:off x="457200" y="292608"/>
            <a:ext cx="658368" cy="658368"/>
          </a:xfrm>
          <a:prstGeom prst="rect">
            <a:avLst/>
          </a:prstGeom>
          <a:noFill/>
          <a:ln/>
        </p:spPr>
        <p:txBody>
          <a:bodyPr wrap="square" lIns="0" tIns="0" rIns="0" bIns="0" rtlCol="0" anchor="ctr"/>
          <a:lstStyle/>
          <a:p>
            <a:pPr marL="0" indent="0" algn="ctr">
              <a:buNone/>
            </a:pPr>
            <a:r>
              <a:rPr lang="en-US" sz="2200" b="1" dirty="0">
                <a:solidFill>
                  <a:srgbClr val="FFFFFF"/>
                </a:solidFill>
              </a:rPr>
              <a:t>✅</a:t>
            </a:r>
            <a:endParaRPr lang="en-US" sz="2200" dirty="0"/>
          </a:p>
        </p:txBody>
      </p:sp>
      <p:sp>
        <p:nvSpPr>
          <p:cNvPr id="6" name="Text 0"/>
          <p:cNvSpPr>
            <a:spLocks noGrp="1"/>
          </p:cNvSpPr>
          <p:nvPr>
            <p:ph type="title" idx="100" hasCustomPrompt="1"/>
          </p:nvPr>
        </p:nvSpPr>
        <p:spPr>
          <a:xfrm>
            <a:off x="1280160" y="274320"/>
            <a:ext cx="7315200" cy="685800"/>
          </a:xfrm>
          <a:prstGeom prst="rect">
            <a:avLst/>
          </a:prstGeom>
          <a:noFill/>
          <a:ln/>
        </p:spPr>
        <p:txBody>
          <a:bodyPr wrap="square" rtlCol="0" anchor="ctr"/>
          <a:lstStyle/>
          <a:p>
            <a:pPr marL="0" indent="0">
              <a:buNone/>
            </a:pPr>
            <a:r>
              <a:rPr lang="en-US" sz="2600" b="1" dirty="0">
                <a:solidFill>
                  <a:srgbClr val="0A3D4A"/>
                </a:solidFill>
              </a:rPr>
              <a:t>ANSWER</a:t>
            </a:r>
            <a:endParaRPr lang="en-US" sz="2600" dirty="0"/>
          </a:p>
        </p:txBody>
      </p:sp>
      <p:sp>
        <p:nvSpPr>
          <p:cNvPr id="7" name="Shape 5"/>
          <p:cNvSpPr/>
          <p:nvPr/>
        </p:nvSpPr>
        <p:spPr>
          <a:xfrm>
            <a:off x="457200" y="1234440"/>
            <a:ext cx="8229600" cy="1325880"/>
          </a:xfrm>
          <a:prstGeom prst="roundRect">
            <a:avLst>
              <a:gd name="adj" fmla="val 10345"/>
            </a:avLst>
          </a:prstGeom>
          <a:solidFill>
            <a:srgbClr val="FFFFFF"/>
          </a:solidFill>
          <a:ln/>
          <a:effectLst>
            <a:outerShdw blurRad="76200" dist="25400" dir="5400000" algn="bl" rotWithShape="0">
              <a:srgbClr val="000000">
                <a:alpha val="15000"/>
              </a:srgbClr>
            </a:outerShdw>
          </a:effectLst>
        </p:spPr>
      </p:sp>
      <p:sp>
        <p:nvSpPr>
          <p:cNvPr id="8" name="Shape 6"/>
          <p:cNvSpPr/>
          <p:nvPr/>
        </p:nvSpPr>
        <p:spPr>
          <a:xfrm>
            <a:off x="731520" y="1435608"/>
            <a:ext cx="914400" cy="914400"/>
          </a:xfrm>
          <a:prstGeom prst="ellipse">
            <a:avLst/>
          </a:prstGeom>
          <a:solidFill>
            <a:srgbClr val="2BB673"/>
          </a:solidFill>
          <a:ln/>
        </p:spPr>
      </p:sp>
      <p:sp>
        <p:nvSpPr>
          <p:cNvPr id="9" name="Text 7"/>
          <p:cNvSpPr txBox="1"/>
          <p:nvPr/>
        </p:nvSpPr>
        <p:spPr>
          <a:xfrm>
            <a:off x="731520" y="1435608"/>
            <a:ext cx="914400" cy="914400"/>
          </a:xfrm>
          <a:prstGeom prst="rect">
            <a:avLst/>
          </a:prstGeom>
          <a:noFill/>
          <a:ln/>
        </p:spPr>
        <p:txBody>
          <a:bodyPr wrap="square" lIns="0" tIns="0" rIns="0" bIns="0" rtlCol="0" anchor="ctr"/>
          <a:lstStyle/>
          <a:p>
            <a:pPr marL="0" indent="0" algn="ctr">
              <a:buNone/>
            </a:pPr>
            <a:r>
              <a:rPr lang="en-US" sz="2400" b="1" dirty="0">
                <a:solidFill>
                  <a:srgbClr val="FFFFFF"/>
                </a:solidFill>
              </a:rPr>
              <a:t>A</a:t>
            </a:r>
            <a:endParaRPr lang="en-US" sz="4000" dirty="0"/>
          </a:p>
        </p:txBody>
      </p:sp>
      <p:sp>
        <p:nvSpPr>
          <p:cNvPr id="10" name="Text 8"/>
          <p:cNvSpPr txBox="1"/>
          <p:nvPr/>
        </p:nvSpPr>
        <p:spPr>
          <a:xfrm>
            <a:off x="1920240" y="1234440"/>
            <a:ext cx="6583680" cy="1325880"/>
          </a:xfrm>
          <a:prstGeom prst="rect">
            <a:avLst/>
          </a:prstGeom>
          <a:noFill/>
          <a:ln/>
        </p:spPr>
        <p:txBody>
          <a:bodyPr wrap="square" lIns="0" tIns="0" rIns="0" bIns="0" rtlCol="0" anchor="ctr"/>
          <a:lstStyle/>
          <a:p>
            <a:pPr marL="0" indent="0">
              <a:buNone/>
            </a:pPr>
            <a:r>
              <a:rPr lang="en-US" b="1" dirty="0">
                <a:solidFill>
                  <a:srgbClr val="0A3D4A"/>
                </a:solidFill>
              </a:rPr>
              <a:t>Sea turtles are marine reptiles.</a:t>
            </a:r>
            <a:endParaRPr lang="en-US" dirty="0"/>
          </a:p>
        </p:txBody>
      </p:sp>
      <p:sp>
        <p:nvSpPr>
          <p:cNvPr id="11" name="Text 9"/>
          <p:cNvSpPr txBox="1"/>
          <p:nvPr/>
        </p:nvSpPr>
        <p:spPr>
          <a:xfrm>
            <a:off x="548640" y="2697480"/>
            <a:ext cx="8046720" cy="1920240"/>
          </a:xfrm>
          <a:prstGeom prst="rect">
            <a:avLst/>
          </a:prstGeom>
          <a:noFill/>
          <a:ln/>
        </p:spPr>
        <p:txBody>
          <a:bodyPr wrap="square" lIns="0" tIns="0" rIns="0" bIns="0" rtlCol="0" anchor="t"/>
          <a:lstStyle/>
          <a:p>
            <a:pPr marL="0" indent="0">
              <a:spcAft>
                <a:spcPts val="300"/>
              </a:spcAft>
              <a:buNone/>
            </a:pPr>
            <a:r>
              <a:rPr lang="en-US" sz="1700" dirty="0">
                <a:solidFill>
                  <a:srgbClr val="0A3D4A"/>
                </a:solidFill>
              </a:rPr>
              <a:t>We have turned a short note into a </a:t>
            </a:r>
            <a:r>
              <a:rPr lang="en-US" sz="1700" b="1" dirty="0">
                <a:solidFill>
                  <a:srgbClr val="0A3D4A"/>
                </a:solidFill>
              </a:rPr>
              <a:t>complete factual sentence</a:t>
            </a:r>
            <a:r>
              <a:rPr lang="en-US" sz="1700" dirty="0">
                <a:solidFill>
                  <a:srgbClr val="0A3D4A"/>
                </a:solidFill>
              </a:rPr>
              <a:t>.
</a:t>
            </a:r>
            <a:r>
              <a:rPr lang="en-US" sz="1700" b="1" dirty="0">
                <a:solidFill>
                  <a:srgbClr val="0A3D4A"/>
                </a:solidFill>
              </a:rPr>
              <a:t>Notice:</a:t>
            </a:r>
            <a:r>
              <a:rPr lang="en-US" sz="1700" dirty="0">
                <a:solidFill>
                  <a:srgbClr val="0A3D4A"/>
                </a:solidFill>
              </a:rPr>
              <a:t>  ✔ subject   ✔ verb   ✔ present tense   ✔ factual   ✔ third person</a:t>
            </a:r>
            <a:endParaRPr lang="en-US" sz="17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0E7C86"/>
                </a:solidFill>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7589520" y="-914400"/>
            <a:ext cx="2377440" cy="2377440"/>
          </a:xfrm>
          <a:prstGeom prst="ellipse">
            <a:avLst/>
          </a:prstGeom>
          <a:solidFill>
            <a:srgbClr val="CDEFF1">
              <a:alpha val="80000"/>
            </a:srgbClr>
          </a:solidFill>
          <a:ln/>
        </p:spPr>
      </p:sp>
      <p:sp>
        <p:nvSpPr>
          <p:cNvPr id="3" name="Shape 1"/>
          <p:cNvSpPr/>
          <p:nvPr/>
        </p:nvSpPr>
        <p:spPr>
          <a:xfrm>
            <a:off x="-548640" y="4297680"/>
            <a:ext cx="1463040" cy="1463040"/>
          </a:xfrm>
          <a:prstGeom prst="ellipse">
            <a:avLst/>
          </a:prstGeom>
          <a:solidFill>
            <a:srgbClr val="CDEFF1">
              <a:alpha val="70000"/>
            </a:srgbClr>
          </a:solidFill>
          <a:ln/>
        </p:spPr>
      </p:sp>
      <p:sp>
        <p:nvSpPr>
          <p:cNvPr id="5" name="Text 3"/>
          <p:cNvSpPr txBox="1"/>
          <p:nvPr/>
        </p:nvSpPr>
        <p:spPr>
          <a:xfrm>
            <a:off x="1716156" y="301752"/>
            <a:ext cx="658368" cy="658368"/>
          </a:xfrm>
          <a:prstGeom prst="rect">
            <a:avLst/>
          </a:prstGeom>
          <a:noFill/>
          <a:ln/>
        </p:spPr>
        <p:txBody>
          <a:bodyPr wrap="square" lIns="0" tIns="0" rIns="0" bIns="0" rtlCol="0" anchor="ctr"/>
          <a:lstStyle/>
          <a:p>
            <a:pPr marL="0" indent="0" algn="ctr">
              <a:buNone/>
            </a:pPr>
            <a:r>
              <a:rPr lang="en-US" sz="2200" b="1" dirty="0">
                <a:solidFill>
                  <a:srgbClr val="FFFFFF"/>
                </a:solidFill>
              </a:rPr>
              <a:t>🚀</a:t>
            </a:r>
            <a:endParaRPr lang="en-US" sz="2200" dirty="0"/>
          </a:p>
        </p:txBody>
      </p:sp>
      <p:sp>
        <p:nvSpPr>
          <p:cNvPr id="6" name="Text 0"/>
          <p:cNvSpPr>
            <a:spLocks noGrp="1"/>
          </p:cNvSpPr>
          <p:nvPr>
            <p:ph type="title" idx="100" hasCustomPrompt="1"/>
          </p:nvPr>
        </p:nvSpPr>
        <p:spPr>
          <a:xfrm>
            <a:off x="1280160" y="274320"/>
            <a:ext cx="7315200" cy="685800"/>
          </a:xfrm>
          <a:prstGeom prst="rect">
            <a:avLst/>
          </a:prstGeom>
          <a:noFill/>
          <a:ln/>
        </p:spPr>
        <p:txBody>
          <a:bodyPr wrap="square" rtlCol="0" anchor="ctr"/>
          <a:lstStyle/>
          <a:p>
            <a:pPr marL="0" indent="0">
              <a:buNone/>
            </a:pPr>
            <a:r>
              <a:rPr lang="en-US" sz="2600" b="1" dirty="0">
                <a:solidFill>
                  <a:srgbClr val="0A3D4A"/>
                </a:solidFill>
              </a:rPr>
              <a:t>ONE FACT IS NOT ALWAYS ENOUGH</a:t>
            </a:r>
            <a:endParaRPr lang="en-US" sz="2600" dirty="0"/>
          </a:p>
        </p:txBody>
      </p:sp>
      <p:sp>
        <p:nvSpPr>
          <p:cNvPr id="7" name="Shape 5"/>
          <p:cNvSpPr/>
          <p:nvPr/>
        </p:nvSpPr>
        <p:spPr>
          <a:xfrm>
            <a:off x="457200" y="1188720"/>
            <a:ext cx="8229600" cy="960120"/>
          </a:xfrm>
          <a:prstGeom prst="roundRect">
            <a:avLst>
              <a:gd name="adj" fmla="val 14286"/>
            </a:avLst>
          </a:prstGeom>
          <a:solidFill>
            <a:srgbClr val="FFFFFF"/>
          </a:solidFill>
          <a:ln/>
          <a:effectLst>
            <a:outerShdw blurRad="76200" dist="25400" dir="5400000" algn="bl" rotWithShape="0">
              <a:srgbClr val="000000">
                <a:alpha val="15000"/>
              </a:srgbClr>
            </a:outerShdw>
          </a:effectLst>
        </p:spPr>
        <p:txBody>
          <a:bodyPr/>
          <a:lstStyle/>
          <a:p>
            <a:endParaRPr lang="en-US" dirty="0"/>
          </a:p>
        </p:txBody>
      </p:sp>
      <p:sp>
        <p:nvSpPr>
          <p:cNvPr id="8" name="Text 6"/>
          <p:cNvSpPr txBox="1"/>
          <p:nvPr/>
        </p:nvSpPr>
        <p:spPr>
          <a:xfrm>
            <a:off x="612913" y="1212441"/>
            <a:ext cx="7315200" cy="228600"/>
          </a:xfrm>
          <a:prstGeom prst="rect">
            <a:avLst/>
          </a:prstGeom>
          <a:noFill/>
          <a:ln/>
        </p:spPr>
        <p:txBody>
          <a:bodyPr wrap="square" lIns="0" tIns="0" rIns="0" bIns="0" rtlCol="0" anchor="t"/>
          <a:lstStyle/>
          <a:p>
            <a:pPr marL="0" indent="0">
              <a:buNone/>
            </a:pPr>
            <a:r>
              <a:rPr lang="en-US" b="1" dirty="0">
                <a:solidFill>
                  <a:srgbClr val="4A6B73"/>
                </a:solidFill>
              </a:rPr>
              <a:t>BASIC SENTENCE</a:t>
            </a:r>
            <a:endParaRPr lang="en-US" dirty="0"/>
          </a:p>
        </p:txBody>
      </p:sp>
      <p:sp>
        <p:nvSpPr>
          <p:cNvPr id="9" name="Text 7"/>
          <p:cNvSpPr txBox="1"/>
          <p:nvPr/>
        </p:nvSpPr>
        <p:spPr>
          <a:xfrm>
            <a:off x="685800" y="1554480"/>
            <a:ext cx="7772400" cy="502920"/>
          </a:xfrm>
          <a:prstGeom prst="rect">
            <a:avLst/>
          </a:prstGeom>
          <a:noFill/>
          <a:ln/>
        </p:spPr>
        <p:txBody>
          <a:bodyPr wrap="square" lIns="0" tIns="0" rIns="0" bIns="0" rtlCol="0" anchor="t"/>
          <a:lstStyle/>
          <a:p>
            <a:pPr marL="0" indent="0">
              <a:buNone/>
            </a:pPr>
            <a:r>
              <a:rPr lang="en-US" sz="2200" b="1" dirty="0">
                <a:solidFill>
                  <a:srgbClr val="0A3D4A"/>
                </a:solidFill>
              </a:rPr>
              <a:t>Sea turtles are marine reptiles.</a:t>
            </a:r>
            <a:endParaRPr lang="en-US" sz="2200" dirty="0"/>
          </a:p>
        </p:txBody>
      </p:sp>
      <p:sp>
        <p:nvSpPr>
          <p:cNvPr id="10" name="Text 8"/>
          <p:cNvSpPr txBox="1"/>
          <p:nvPr/>
        </p:nvSpPr>
        <p:spPr>
          <a:xfrm>
            <a:off x="457200" y="2240280"/>
            <a:ext cx="8229600" cy="274320"/>
          </a:xfrm>
          <a:prstGeom prst="rect">
            <a:avLst/>
          </a:prstGeom>
          <a:noFill/>
          <a:ln/>
        </p:spPr>
        <p:txBody>
          <a:bodyPr wrap="square" lIns="0" tIns="0" rIns="0" bIns="0" rtlCol="0" anchor="t"/>
          <a:lstStyle/>
          <a:p>
            <a:pPr marL="0" indent="0">
              <a:buNone/>
            </a:pPr>
            <a:r>
              <a:rPr lang="en-US" b="1" i="1" dirty="0">
                <a:solidFill>
                  <a:srgbClr val="4A6B73"/>
                </a:solidFill>
              </a:rPr>
              <a:t>Can we make the information more useful? Add a detail:</a:t>
            </a:r>
            <a:endParaRPr lang="en-US" b="1" dirty="0"/>
          </a:p>
        </p:txBody>
      </p:sp>
      <p:sp>
        <p:nvSpPr>
          <p:cNvPr id="11" name="Shape 9"/>
          <p:cNvSpPr/>
          <p:nvPr/>
        </p:nvSpPr>
        <p:spPr>
          <a:xfrm>
            <a:off x="457200" y="2651760"/>
            <a:ext cx="8229600" cy="1371600"/>
          </a:xfrm>
          <a:prstGeom prst="roundRect">
            <a:avLst>
              <a:gd name="adj" fmla="val 10000"/>
            </a:avLst>
          </a:prstGeom>
          <a:solidFill>
            <a:srgbClr val="FFFFFF"/>
          </a:solidFill>
          <a:ln/>
          <a:effectLst>
            <a:outerShdw blurRad="76200" dist="25400" dir="5400000" algn="bl" rotWithShape="0">
              <a:srgbClr val="000000">
                <a:alpha val="15000"/>
              </a:srgbClr>
            </a:outerShdw>
          </a:effectLst>
        </p:spPr>
      </p:sp>
      <p:sp>
        <p:nvSpPr>
          <p:cNvPr id="12" name="Text 10"/>
          <p:cNvSpPr txBox="1"/>
          <p:nvPr/>
        </p:nvSpPr>
        <p:spPr>
          <a:xfrm>
            <a:off x="612913" y="2651760"/>
            <a:ext cx="7315200" cy="228600"/>
          </a:xfrm>
          <a:prstGeom prst="rect">
            <a:avLst/>
          </a:prstGeom>
          <a:noFill/>
          <a:ln/>
        </p:spPr>
        <p:txBody>
          <a:bodyPr wrap="square" lIns="0" tIns="0" rIns="0" bIns="0" rtlCol="0" anchor="t"/>
          <a:lstStyle/>
          <a:p>
            <a:pPr marL="0" indent="0">
              <a:buNone/>
            </a:pPr>
            <a:r>
              <a:rPr lang="en-US" b="1" dirty="0">
                <a:solidFill>
                  <a:srgbClr val="2BB673"/>
                </a:solidFill>
              </a:rPr>
              <a:t>WITH A DETAIL</a:t>
            </a:r>
            <a:endParaRPr lang="en-US" dirty="0"/>
          </a:p>
        </p:txBody>
      </p:sp>
      <p:sp>
        <p:nvSpPr>
          <p:cNvPr id="13" name="Text 11"/>
          <p:cNvSpPr txBox="1"/>
          <p:nvPr/>
        </p:nvSpPr>
        <p:spPr>
          <a:xfrm>
            <a:off x="685800" y="2999232"/>
            <a:ext cx="7772400" cy="731520"/>
          </a:xfrm>
          <a:prstGeom prst="rect">
            <a:avLst/>
          </a:prstGeom>
          <a:noFill/>
          <a:ln/>
        </p:spPr>
        <p:txBody>
          <a:bodyPr wrap="square" lIns="0" tIns="0" rIns="0" bIns="0" rtlCol="0" anchor="t"/>
          <a:lstStyle/>
          <a:p>
            <a:pPr marL="0" indent="0">
              <a:buNone/>
            </a:pPr>
            <a:r>
              <a:rPr lang="en-US" sz="1800" b="1" dirty="0">
                <a:solidFill>
                  <a:srgbClr val="0A3D4A"/>
                </a:solidFill>
              </a:rPr>
              <a:t>Sea turtles are marine reptiles </a:t>
            </a:r>
            <a:r>
              <a:rPr lang="en-US" sz="1800" b="1" dirty="0">
                <a:solidFill>
                  <a:srgbClr val="FF6B5E"/>
                </a:solidFill>
              </a:rPr>
              <a:t>that live in oceans around the world.</a:t>
            </a:r>
            <a:endParaRPr lang="en-US" sz="1800" dirty="0"/>
          </a:p>
        </p:txBody>
      </p:sp>
      <p:sp>
        <p:nvSpPr>
          <p:cNvPr id="14" name="Text 12"/>
          <p:cNvSpPr txBox="1"/>
          <p:nvPr/>
        </p:nvSpPr>
        <p:spPr>
          <a:xfrm>
            <a:off x="685800" y="3703320"/>
            <a:ext cx="7315200" cy="256032"/>
          </a:xfrm>
          <a:prstGeom prst="rect">
            <a:avLst/>
          </a:prstGeom>
          <a:noFill/>
          <a:ln/>
        </p:spPr>
        <p:txBody>
          <a:bodyPr wrap="square" lIns="0" tIns="0" rIns="0" bIns="0" rtlCol="0" anchor="t"/>
          <a:lstStyle/>
          <a:p>
            <a:pPr marL="0" indent="0">
              <a:buNone/>
            </a:pPr>
            <a:r>
              <a:rPr lang="en-US" i="1" dirty="0">
                <a:solidFill>
                  <a:srgbClr val="0A3D4A"/>
                </a:solidFill>
              </a:rPr>
              <a:t>Now the reader learns more.</a:t>
            </a:r>
            <a:endParaRPr lang="en-US" dirty="0"/>
          </a:p>
        </p:txBody>
      </p:sp>
      <p:sp>
        <p:nvSpPr>
          <p:cNvPr id="15" name="Shape 13"/>
          <p:cNvSpPr/>
          <p:nvPr/>
        </p:nvSpPr>
        <p:spPr>
          <a:xfrm>
            <a:off x="457200" y="4160520"/>
            <a:ext cx="8229600" cy="594360"/>
          </a:xfrm>
          <a:prstGeom prst="roundRect">
            <a:avLst>
              <a:gd name="adj" fmla="val 23077"/>
            </a:avLst>
          </a:prstGeom>
          <a:solidFill>
            <a:srgbClr val="0A3D4A"/>
          </a:solidFill>
          <a:ln/>
          <a:effectLst>
            <a:outerShdw blurRad="76200" dist="25400" dir="5400000" algn="bl" rotWithShape="0">
              <a:srgbClr val="000000">
                <a:alpha val="15000"/>
              </a:srgbClr>
            </a:outerShdw>
          </a:effectLst>
        </p:spPr>
      </p:sp>
      <p:sp>
        <p:nvSpPr>
          <p:cNvPr id="16" name="Text 14"/>
          <p:cNvSpPr txBox="1"/>
          <p:nvPr/>
        </p:nvSpPr>
        <p:spPr>
          <a:xfrm>
            <a:off x="731520" y="4160520"/>
            <a:ext cx="7680960" cy="594360"/>
          </a:xfrm>
          <a:prstGeom prst="rect">
            <a:avLst/>
          </a:prstGeom>
          <a:noFill/>
          <a:ln/>
        </p:spPr>
        <p:txBody>
          <a:bodyPr wrap="square" lIns="0" tIns="0" rIns="0" bIns="0" rtlCol="0" anchor="ctr"/>
          <a:lstStyle/>
          <a:p>
            <a:pPr marL="0" indent="0" algn="ctr">
              <a:buNone/>
            </a:pPr>
            <a:r>
              <a:rPr lang="en-US" b="1" dirty="0">
                <a:solidFill>
                  <a:srgbClr val="FFC857"/>
                </a:solidFill>
              </a:rPr>
              <a:t> </a:t>
            </a:r>
            <a:r>
              <a:rPr lang="en-US" b="1" dirty="0">
                <a:solidFill>
                  <a:srgbClr val="FFFFFF"/>
                </a:solidFill>
              </a:rPr>
              <a:t>Good report writing develops information.</a:t>
            </a:r>
            <a:endParaRPr lang="en-US"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0E7C86"/>
                </a:solidFill>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7589520" y="-914400"/>
            <a:ext cx="2377440" cy="2377440"/>
          </a:xfrm>
          <a:prstGeom prst="ellipse">
            <a:avLst/>
          </a:prstGeom>
          <a:solidFill>
            <a:srgbClr val="CDEFF1">
              <a:alpha val="80000"/>
            </a:srgbClr>
          </a:solidFill>
          <a:ln/>
        </p:spPr>
      </p:sp>
      <p:sp>
        <p:nvSpPr>
          <p:cNvPr id="3" name="Shape 1"/>
          <p:cNvSpPr/>
          <p:nvPr/>
        </p:nvSpPr>
        <p:spPr>
          <a:xfrm>
            <a:off x="-548640" y="4297680"/>
            <a:ext cx="1463040" cy="1463040"/>
          </a:xfrm>
          <a:prstGeom prst="ellipse">
            <a:avLst/>
          </a:prstGeom>
          <a:solidFill>
            <a:srgbClr val="CDEFF1">
              <a:alpha val="70000"/>
            </a:srgbClr>
          </a:solidFill>
          <a:ln/>
        </p:spPr>
      </p:sp>
      <p:sp>
        <p:nvSpPr>
          <p:cNvPr id="5" name="Text 3"/>
          <p:cNvSpPr txBox="1"/>
          <p:nvPr/>
        </p:nvSpPr>
        <p:spPr>
          <a:xfrm>
            <a:off x="2282952" y="282006"/>
            <a:ext cx="658368" cy="658368"/>
          </a:xfrm>
          <a:prstGeom prst="rect">
            <a:avLst/>
          </a:prstGeom>
          <a:noFill/>
          <a:ln/>
        </p:spPr>
        <p:txBody>
          <a:bodyPr wrap="square" lIns="0" tIns="0" rIns="0" bIns="0" rtlCol="0" anchor="ctr"/>
          <a:lstStyle/>
          <a:p>
            <a:pPr marL="0" indent="0" algn="ctr">
              <a:buNone/>
            </a:pPr>
            <a:r>
              <a:rPr lang="en-US" sz="2200" b="1" dirty="0">
                <a:solidFill>
                  <a:srgbClr val="FFFFFF"/>
                </a:solidFill>
              </a:rPr>
              <a:t>🔗</a:t>
            </a:r>
            <a:endParaRPr lang="en-US" sz="2200" dirty="0"/>
          </a:p>
        </p:txBody>
      </p:sp>
      <p:sp>
        <p:nvSpPr>
          <p:cNvPr id="6" name="Text 0"/>
          <p:cNvSpPr>
            <a:spLocks noGrp="1"/>
          </p:cNvSpPr>
          <p:nvPr>
            <p:ph type="title" idx="100" hasCustomPrompt="1"/>
          </p:nvPr>
        </p:nvSpPr>
        <p:spPr>
          <a:xfrm>
            <a:off x="1280160" y="274320"/>
            <a:ext cx="7315200" cy="685800"/>
          </a:xfrm>
          <a:prstGeom prst="rect">
            <a:avLst/>
          </a:prstGeom>
          <a:noFill/>
          <a:ln/>
        </p:spPr>
        <p:txBody>
          <a:bodyPr wrap="square" rtlCol="0" anchor="ctr"/>
          <a:lstStyle/>
          <a:p>
            <a:pPr marL="0" indent="0">
              <a:buNone/>
            </a:pPr>
            <a:r>
              <a:rPr lang="en-US" sz="2600" b="1" dirty="0">
                <a:solidFill>
                  <a:srgbClr val="0A3D4A"/>
                </a:solidFill>
              </a:rPr>
              <a:t>ADD EXTRA INFORMATION</a:t>
            </a:r>
            <a:endParaRPr lang="en-US" sz="2600" dirty="0"/>
          </a:p>
        </p:txBody>
      </p:sp>
      <p:sp>
        <p:nvSpPr>
          <p:cNvPr id="7" name="Text 5"/>
          <p:cNvSpPr txBox="1"/>
          <p:nvPr/>
        </p:nvSpPr>
        <p:spPr>
          <a:xfrm>
            <a:off x="457200" y="1097280"/>
            <a:ext cx="8229600" cy="365760"/>
          </a:xfrm>
          <a:prstGeom prst="rect">
            <a:avLst/>
          </a:prstGeom>
          <a:noFill/>
          <a:ln/>
        </p:spPr>
        <p:txBody>
          <a:bodyPr wrap="square" lIns="0" tIns="0" rIns="0" bIns="0" rtlCol="0" anchor="t"/>
          <a:lstStyle/>
          <a:p>
            <a:pPr marL="0" indent="0">
              <a:buNone/>
            </a:pPr>
            <a:r>
              <a:rPr lang="en-US" dirty="0">
                <a:solidFill>
                  <a:srgbClr val="0A3D4A"/>
                </a:solidFill>
              </a:rPr>
              <a:t>A </a:t>
            </a:r>
            <a:r>
              <a:rPr lang="en-US" b="1" dirty="0">
                <a:solidFill>
                  <a:srgbClr val="0A3D4A"/>
                </a:solidFill>
              </a:rPr>
              <a:t>relative clause</a:t>
            </a:r>
            <a:r>
              <a:rPr lang="en-US" dirty="0">
                <a:solidFill>
                  <a:srgbClr val="0A3D4A"/>
                </a:solidFill>
              </a:rPr>
              <a:t> can add information about a noun.</a:t>
            </a:r>
            <a:endParaRPr lang="en-US" dirty="0"/>
          </a:p>
        </p:txBody>
      </p:sp>
      <p:sp>
        <p:nvSpPr>
          <p:cNvPr id="8" name="Shape 6"/>
          <p:cNvSpPr/>
          <p:nvPr/>
        </p:nvSpPr>
        <p:spPr>
          <a:xfrm>
            <a:off x="457200" y="1554480"/>
            <a:ext cx="8229600" cy="1280160"/>
          </a:xfrm>
          <a:prstGeom prst="roundRect">
            <a:avLst>
              <a:gd name="adj" fmla="val 10714"/>
            </a:avLst>
          </a:prstGeom>
          <a:solidFill>
            <a:srgbClr val="0A3D4A"/>
          </a:solidFill>
          <a:ln/>
          <a:effectLst>
            <a:outerShdw blurRad="76200" dist="25400" dir="5400000" algn="bl" rotWithShape="0">
              <a:srgbClr val="000000">
                <a:alpha val="15000"/>
              </a:srgbClr>
            </a:outerShdw>
          </a:effectLst>
        </p:spPr>
      </p:sp>
      <p:sp>
        <p:nvSpPr>
          <p:cNvPr id="9" name="Text 7"/>
          <p:cNvSpPr txBox="1"/>
          <p:nvPr/>
        </p:nvSpPr>
        <p:spPr>
          <a:xfrm>
            <a:off x="457200" y="1554480"/>
            <a:ext cx="8229600" cy="1280160"/>
          </a:xfrm>
          <a:prstGeom prst="rect">
            <a:avLst/>
          </a:prstGeom>
          <a:noFill/>
          <a:ln/>
        </p:spPr>
        <p:txBody>
          <a:bodyPr wrap="square" lIns="0" tIns="0" rIns="0" bIns="0" rtlCol="0" anchor="ctr"/>
          <a:lstStyle/>
          <a:p>
            <a:pPr marL="0" indent="0">
              <a:buNone/>
            </a:pPr>
            <a:r>
              <a:rPr lang="en-US" sz="1900" b="1" dirty="0">
                <a:solidFill>
                  <a:srgbClr val="FFFFFF"/>
                </a:solidFill>
              </a:rPr>
              <a:t>Sea turtles are marine reptiles that live in oceans around the world.</a:t>
            </a:r>
          </a:p>
          <a:p>
            <a:pPr marL="0" indent="0">
              <a:buNone/>
            </a:pPr>
            <a:endParaRPr lang="en-US" sz="1600" dirty="0"/>
          </a:p>
          <a:p>
            <a:pPr marL="0" indent="0">
              <a:buNone/>
            </a:pPr>
            <a:r>
              <a:rPr lang="en-US" sz="1600" b="1" dirty="0">
                <a:solidFill>
                  <a:srgbClr val="FFC857"/>
                </a:solidFill>
              </a:rPr>
              <a:t>Relative clause: that live in oceans around the world → adds information about marine reptiles</a:t>
            </a:r>
            <a:endParaRPr lang="en-US" sz="2000" dirty="0"/>
          </a:p>
        </p:txBody>
      </p:sp>
      <p:sp>
        <p:nvSpPr>
          <p:cNvPr id="10" name="Text 8"/>
          <p:cNvSpPr txBox="1"/>
          <p:nvPr/>
        </p:nvSpPr>
        <p:spPr>
          <a:xfrm>
            <a:off x="457200" y="2971800"/>
            <a:ext cx="8229600" cy="274320"/>
          </a:xfrm>
          <a:prstGeom prst="rect">
            <a:avLst/>
          </a:prstGeom>
          <a:noFill/>
          <a:ln/>
        </p:spPr>
        <p:txBody>
          <a:bodyPr wrap="square" lIns="0" tIns="0" rIns="0" bIns="0" rtlCol="0" anchor="t"/>
          <a:lstStyle/>
          <a:p>
            <a:pPr marL="0" indent="0">
              <a:buNone/>
            </a:pPr>
            <a:r>
              <a:rPr lang="en-US" i="1" dirty="0">
                <a:solidFill>
                  <a:srgbClr val="4A6B73"/>
                </a:solidFill>
              </a:rPr>
              <a:t>Other useful relative pronouns:</a:t>
            </a:r>
            <a:endParaRPr lang="en-US" dirty="0"/>
          </a:p>
        </p:txBody>
      </p:sp>
      <p:sp>
        <p:nvSpPr>
          <p:cNvPr id="11" name="Shape 9"/>
          <p:cNvSpPr/>
          <p:nvPr/>
        </p:nvSpPr>
        <p:spPr>
          <a:xfrm>
            <a:off x="457200" y="3291840"/>
            <a:ext cx="2621280" cy="1417320"/>
          </a:xfrm>
          <a:prstGeom prst="roundRect">
            <a:avLst>
              <a:gd name="adj" fmla="val 9677"/>
            </a:avLst>
          </a:prstGeom>
          <a:solidFill>
            <a:srgbClr val="FFFFFF"/>
          </a:solidFill>
          <a:ln/>
          <a:effectLst>
            <a:outerShdw blurRad="76200" dist="25400" dir="5400000" algn="bl" rotWithShape="0">
              <a:srgbClr val="000000">
                <a:alpha val="15000"/>
              </a:srgbClr>
            </a:outerShdw>
          </a:effectLst>
        </p:spPr>
      </p:sp>
      <p:sp>
        <p:nvSpPr>
          <p:cNvPr id="12" name="Text 10"/>
          <p:cNvSpPr txBox="1"/>
          <p:nvPr/>
        </p:nvSpPr>
        <p:spPr>
          <a:xfrm>
            <a:off x="594360" y="3429000"/>
            <a:ext cx="2346960" cy="365760"/>
          </a:xfrm>
          <a:prstGeom prst="rect">
            <a:avLst/>
          </a:prstGeom>
          <a:noFill/>
          <a:ln/>
        </p:spPr>
        <p:txBody>
          <a:bodyPr wrap="square" lIns="0" tIns="0" rIns="0" bIns="0" rtlCol="0" anchor="t"/>
          <a:lstStyle/>
          <a:p>
            <a:pPr marL="0" indent="0">
              <a:buNone/>
            </a:pPr>
            <a:r>
              <a:rPr lang="en-US" sz="2000" b="1" dirty="0">
                <a:solidFill>
                  <a:srgbClr val="FF6B5E"/>
                </a:solidFill>
              </a:rPr>
              <a:t>who</a:t>
            </a:r>
            <a:endParaRPr lang="en-US" sz="2000" dirty="0"/>
          </a:p>
        </p:txBody>
      </p:sp>
      <p:sp>
        <p:nvSpPr>
          <p:cNvPr id="13" name="Text 11"/>
          <p:cNvSpPr txBox="1"/>
          <p:nvPr/>
        </p:nvSpPr>
        <p:spPr>
          <a:xfrm>
            <a:off x="594360" y="3840480"/>
            <a:ext cx="2346960" cy="777240"/>
          </a:xfrm>
          <a:prstGeom prst="rect">
            <a:avLst/>
          </a:prstGeom>
          <a:noFill/>
          <a:ln/>
        </p:spPr>
        <p:txBody>
          <a:bodyPr wrap="square" lIns="0" tIns="0" rIns="0" bIns="0" rtlCol="0" anchor="t"/>
          <a:lstStyle/>
          <a:p>
            <a:pPr marL="0" indent="0">
              <a:buNone/>
            </a:pPr>
            <a:r>
              <a:rPr lang="en-US" sz="1400" dirty="0">
                <a:solidFill>
                  <a:srgbClr val="0A3D4A"/>
                </a:solidFill>
              </a:rPr>
              <a:t>→ people</a:t>
            </a:r>
            <a:endParaRPr lang="en-US" sz="1400" dirty="0"/>
          </a:p>
        </p:txBody>
      </p:sp>
      <p:sp>
        <p:nvSpPr>
          <p:cNvPr id="14" name="Shape 12"/>
          <p:cNvSpPr/>
          <p:nvPr/>
        </p:nvSpPr>
        <p:spPr>
          <a:xfrm>
            <a:off x="3261360" y="3291840"/>
            <a:ext cx="2621280" cy="1417320"/>
          </a:xfrm>
          <a:prstGeom prst="roundRect">
            <a:avLst>
              <a:gd name="adj" fmla="val 9677"/>
            </a:avLst>
          </a:prstGeom>
          <a:solidFill>
            <a:srgbClr val="FFFFFF"/>
          </a:solidFill>
          <a:ln/>
          <a:effectLst>
            <a:outerShdw blurRad="76200" dist="25400" dir="5400000" algn="bl" rotWithShape="0">
              <a:srgbClr val="000000">
                <a:alpha val="15000"/>
              </a:srgbClr>
            </a:outerShdw>
          </a:effectLst>
        </p:spPr>
      </p:sp>
      <p:sp>
        <p:nvSpPr>
          <p:cNvPr id="15" name="Text 13"/>
          <p:cNvSpPr txBox="1"/>
          <p:nvPr/>
        </p:nvSpPr>
        <p:spPr>
          <a:xfrm>
            <a:off x="3398520" y="3429000"/>
            <a:ext cx="2346960" cy="365760"/>
          </a:xfrm>
          <a:prstGeom prst="rect">
            <a:avLst/>
          </a:prstGeom>
          <a:noFill/>
          <a:ln/>
        </p:spPr>
        <p:txBody>
          <a:bodyPr wrap="square" lIns="0" tIns="0" rIns="0" bIns="0" rtlCol="0" anchor="t"/>
          <a:lstStyle/>
          <a:p>
            <a:pPr marL="0" indent="0">
              <a:buNone/>
            </a:pPr>
            <a:r>
              <a:rPr lang="en-US" sz="2000" b="1" dirty="0">
                <a:solidFill>
                  <a:srgbClr val="0E7C86"/>
                </a:solidFill>
              </a:rPr>
              <a:t>which</a:t>
            </a:r>
            <a:endParaRPr lang="en-US" sz="2000" dirty="0"/>
          </a:p>
        </p:txBody>
      </p:sp>
      <p:sp>
        <p:nvSpPr>
          <p:cNvPr id="16" name="Text 14"/>
          <p:cNvSpPr txBox="1"/>
          <p:nvPr/>
        </p:nvSpPr>
        <p:spPr>
          <a:xfrm>
            <a:off x="3398520" y="3840480"/>
            <a:ext cx="2346960" cy="777240"/>
          </a:xfrm>
          <a:prstGeom prst="rect">
            <a:avLst/>
          </a:prstGeom>
          <a:noFill/>
          <a:ln/>
        </p:spPr>
        <p:txBody>
          <a:bodyPr wrap="square" lIns="0" tIns="0" rIns="0" bIns="0" rtlCol="0" anchor="t"/>
          <a:lstStyle/>
          <a:p>
            <a:pPr marL="0" indent="0">
              <a:buNone/>
            </a:pPr>
            <a:r>
              <a:rPr lang="en-US" sz="1400" dirty="0">
                <a:solidFill>
                  <a:srgbClr val="0A3D4A"/>
                </a:solidFill>
              </a:rPr>
              <a:t>→ things / animals</a:t>
            </a:r>
            <a:endParaRPr lang="en-US" sz="1400" dirty="0"/>
          </a:p>
        </p:txBody>
      </p:sp>
      <p:sp>
        <p:nvSpPr>
          <p:cNvPr id="17" name="Shape 15"/>
          <p:cNvSpPr/>
          <p:nvPr/>
        </p:nvSpPr>
        <p:spPr>
          <a:xfrm>
            <a:off x="6065520" y="3291840"/>
            <a:ext cx="2621280" cy="1417320"/>
          </a:xfrm>
          <a:prstGeom prst="roundRect">
            <a:avLst>
              <a:gd name="adj" fmla="val 9677"/>
            </a:avLst>
          </a:prstGeom>
          <a:solidFill>
            <a:srgbClr val="FFFFFF"/>
          </a:solidFill>
          <a:ln/>
          <a:effectLst>
            <a:outerShdw blurRad="76200" dist="25400" dir="5400000" algn="bl" rotWithShape="0">
              <a:srgbClr val="000000">
                <a:alpha val="15000"/>
              </a:srgbClr>
            </a:outerShdw>
          </a:effectLst>
        </p:spPr>
      </p:sp>
      <p:sp>
        <p:nvSpPr>
          <p:cNvPr id="18" name="Text 16"/>
          <p:cNvSpPr txBox="1"/>
          <p:nvPr/>
        </p:nvSpPr>
        <p:spPr>
          <a:xfrm>
            <a:off x="6202680" y="3429000"/>
            <a:ext cx="2346960" cy="365760"/>
          </a:xfrm>
          <a:prstGeom prst="rect">
            <a:avLst/>
          </a:prstGeom>
          <a:noFill/>
          <a:ln/>
        </p:spPr>
        <p:txBody>
          <a:bodyPr wrap="square" lIns="0" tIns="0" rIns="0" bIns="0" rtlCol="0" anchor="t"/>
          <a:lstStyle/>
          <a:p>
            <a:pPr marL="0" indent="0">
              <a:buNone/>
            </a:pPr>
            <a:r>
              <a:rPr lang="en-US" sz="2000" b="1" dirty="0">
                <a:solidFill>
                  <a:srgbClr val="7B5EA7"/>
                </a:solidFill>
              </a:rPr>
              <a:t>that</a:t>
            </a:r>
            <a:endParaRPr lang="en-US" sz="2000" dirty="0"/>
          </a:p>
        </p:txBody>
      </p:sp>
      <p:sp>
        <p:nvSpPr>
          <p:cNvPr id="19" name="Text 17"/>
          <p:cNvSpPr txBox="1"/>
          <p:nvPr/>
        </p:nvSpPr>
        <p:spPr>
          <a:xfrm>
            <a:off x="6202680" y="3840480"/>
            <a:ext cx="2346960" cy="777240"/>
          </a:xfrm>
          <a:prstGeom prst="rect">
            <a:avLst/>
          </a:prstGeom>
          <a:noFill/>
          <a:ln/>
        </p:spPr>
        <p:txBody>
          <a:bodyPr wrap="square" lIns="0" tIns="0" rIns="0" bIns="0" rtlCol="0" anchor="t"/>
          <a:lstStyle/>
          <a:p>
            <a:pPr marL="0" indent="0">
              <a:buNone/>
            </a:pPr>
            <a:r>
              <a:rPr lang="en-US" sz="1400" dirty="0">
                <a:solidFill>
                  <a:srgbClr val="0A3D4A"/>
                </a:solidFill>
              </a:rPr>
              <a:t>→ people / animals / things in many contexts</a:t>
            </a:r>
            <a:endParaRPr lang="en-US" sz="14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0E7C86"/>
                </a:solidFill>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7589520" y="-914400"/>
            <a:ext cx="2377440" cy="2377440"/>
          </a:xfrm>
          <a:prstGeom prst="ellipse">
            <a:avLst/>
          </a:prstGeom>
          <a:solidFill>
            <a:srgbClr val="CDEFF1">
              <a:alpha val="80000"/>
            </a:srgbClr>
          </a:solidFill>
          <a:ln/>
        </p:spPr>
      </p:sp>
      <p:sp>
        <p:nvSpPr>
          <p:cNvPr id="3" name="Shape 1"/>
          <p:cNvSpPr/>
          <p:nvPr/>
        </p:nvSpPr>
        <p:spPr>
          <a:xfrm>
            <a:off x="-548640" y="4297680"/>
            <a:ext cx="1463040" cy="1463040"/>
          </a:xfrm>
          <a:prstGeom prst="ellipse">
            <a:avLst/>
          </a:prstGeom>
          <a:solidFill>
            <a:srgbClr val="CDEFF1">
              <a:alpha val="70000"/>
            </a:srgbClr>
          </a:solidFill>
          <a:ln/>
        </p:spPr>
      </p:sp>
      <p:sp>
        <p:nvSpPr>
          <p:cNvPr id="5" name="Text 3"/>
          <p:cNvSpPr txBox="1"/>
          <p:nvPr/>
        </p:nvSpPr>
        <p:spPr>
          <a:xfrm>
            <a:off x="2325756" y="292608"/>
            <a:ext cx="658368" cy="658368"/>
          </a:xfrm>
          <a:prstGeom prst="rect">
            <a:avLst/>
          </a:prstGeom>
          <a:noFill/>
          <a:ln/>
        </p:spPr>
        <p:txBody>
          <a:bodyPr wrap="square" lIns="0" tIns="0" rIns="0" bIns="0" rtlCol="0" anchor="ctr"/>
          <a:lstStyle/>
          <a:p>
            <a:pPr marL="0" indent="0" algn="ctr">
              <a:buNone/>
            </a:pPr>
            <a:r>
              <a:rPr lang="en-US" sz="2200" b="1" dirty="0">
                <a:solidFill>
                  <a:srgbClr val="FFFFFF"/>
                </a:solidFill>
              </a:rPr>
              <a:t>🧩</a:t>
            </a:r>
            <a:endParaRPr lang="en-US" sz="2200" dirty="0"/>
          </a:p>
        </p:txBody>
      </p:sp>
      <p:sp>
        <p:nvSpPr>
          <p:cNvPr id="6" name="Text 0"/>
          <p:cNvSpPr>
            <a:spLocks noGrp="1"/>
          </p:cNvSpPr>
          <p:nvPr>
            <p:ph type="title" idx="100" hasCustomPrompt="1"/>
          </p:nvPr>
        </p:nvSpPr>
        <p:spPr>
          <a:xfrm>
            <a:off x="1280160" y="274320"/>
            <a:ext cx="7315200" cy="685800"/>
          </a:xfrm>
          <a:prstGeom prst="rect">
            <a:avLst/>
          </a:prstGeom>
          <a:noFill/>
          <a:ln/>
        </p:spPr>
        <p:txBody>
          <a:bodyPr wrap="square" rtlCol="0" anchor="ctr"/>
          <a:lstStyle/>
          <a:p>
            <a:pPr marL="0" indent="0">
              <a:buNone/>
            </a:pPr>
            <a:r>
              <a:rPr lang="en-US" sz="2600" b="1" dirty="0">
                <a:solidFill>
                  <a:srgbClr val="0A3D4A"/>
                </a:solidFill>
              </a:rPr>
              <a:t>COMPLETE THE SENTENCE</a:t>
            </a:r>
            <a:endParaRPr lang="en-US" sz="2600" dirty="0"/>
          </a:p>
        </p:txBody>
      </p:sp>
      <p:sp>
        <p:nvSpPr>
          <p:cNvPr id="7" name="Text 5"/>
          <p:cNvSpPr txBox="1"/>
          <p:nvPr/>
        </p:nvSpPr>
        <p:spPr>
          <a:xfrm>
            <a:off x="457200" y="1234440"/>
            <a:ext cx="8229600" cy="822960"/>
          </a:xfrm>
          <a:prstGeom prst="rect">
            <a:avLst/>
          </a:prstGeom>
          <a:noFill/>
          <a:ln/>
        </p:spPr>
        <p:txBody>
          <a:bodyPr wrap="square" lIns="0" tIns="0" rIns="0" bIns="0" rtlCol="0" anchor="t"/>
          <a:lstStyle/>
          <a:p>
            <a:pPr marL="0" indent="0">
              <a:buNone/>
            </a:pPr>
            <a:r>
              <a:rPr lang="en-US" sz="2200" b="1" dirty="0">
                <a:solidFill>
                  <a:srgbClr val="0A3D4A"/>
                </a:solidFill>
              </a:rPr>
              <a:t>The sea turtle, ______ can travel thousands of kilometres, returns to its nesting beach.</a:t>
            </a:r>
            <a:endParaRPr lang="en-US" sz="2200" dirty="0"/>
          </a:p>
        </p:txBody>
      </p:sp>
      <p:sp>
        <p:nvSpPr>
          <p:cNvPr id="8" name="Shape 6"/>
          <p:cNvSpPr/>
          <p:nvPr/>
        </p:nvSpPr>
        <p:spPr>
          <a:xfrm>
            <a:off x="457200" y="2148840"/>
            <a:ext cx="4023360" cy="1234440"/>
          </a:xfrm>
          <a:prstGeom prst="roundRect">
            <a:avLst>
              <a:gd name="adj" fmla="val 11111"/>
            </a:avLst>
          </a:prstGeom>
          <a:solidFill>
            <a:srgbClr val="FFFFFF"/>
          </a:solidFill>
          <a:ln/>
          <a:effectLst>
            <a:outerShdw blurRad="76200" dist="25400" dir="5400000" algn="bl" rotWithShape="0">
              <a:srgbClr val="000000">
                <a:alpha val="15000"/>
              </a:srgbClr>
            </a:outerShdw>
          </a:effectLst>
        </p:spPr>
      </p:sp>
      <p:sp>
        <p:nvSpPr>
          <p:cNvPr id="9" name="Shape 7"/>
          <p:cNvSpPr/>
          <p:nvPr/>
        </p:nvSpPr>
        <p:spPr>
          <a:xfrm>
            <a:off x="640080" y="2491740"/>
            <a:ext cx="548640" cy="548640"/>
          </a:xfrm>
          <a:prstGeom prst="ellipse">
            <a:avLst/>
          </a:prstGeom>
          <a:solidFill>
            <a:srgbClr val="FF6B5E"/>
          </a:solidFill>
          <a:ln/>
        </p:spPr>
      </p:sp>
      <p:sp>
        <p:nvSpPr>
          <p:cNvPr id="10" name="Text 8"/>
          <p:cNvSpPr txBox="1"/>
          <p:nvPr/>
        </p:nvSpPr>
        <p:spPr>
          <a:xfrm>
            <a:off x="640080" y="249174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rPr>
              <a:t>A</a:t>
            </a:r>
            <a:endParaRPr lang="en-US" sz="2000" dirty="0"/>
          </a:p>
        </p:txBody>
      </p:sp>
      <p:sp>
        <p:nvSpPr>
          <p:cNvPr id="11" name="Text 9"/>
          <p:cNvSpPr txBox="1"/>
          <p:nvPr/>
        </p:nvSpPr>
        <p:spPr>
          <a:xfrm>
            <a:off x="1371600" y="2221992"/>
            <a:ext cx="2971800" cy="1088136"/>
          </a:xfrm>
          <a:prstGeom prst="rect">
            <a:avLst/>
          </a:prstGeom>
          <a:noFill/>
          <a:ln/>
        </p:spPr>
        <p:txBody>
          <a:bodyPr wrap="square" lIns="0" tIns="0" rIns="0" bIns="0" rtlCol="0" anchor="ctr"/>
          <a:lstStyle/>
          <a:p>
            <a:pPr marL="0" indent="0">
              <a:buNone/>
            </a:pPr>
            <a:r>
              <a:rPr lang="en-US" sz="1600" dirty="0">
                <a:solidFill>
                  <a:srgbClr val="0A3D4A"/>
                </a:solidFill>
              </a:rPr>
              <a:t>who</a:t>
            </a:r>
            <a:endParaRPr lang="en-US" sz="1600" dirty="0"/>
          </a:p>
        </p:txBody>
      </p:sp>
      <p:sp>
        <p:nvSpPr>
          <p:cNvPr id="12" name="Shape 10"/>
          <p:cNvSpPr/>
          <p:nvPr/>
        </p:nvSpPr>
        <p:spPr>
          <a:xfrm>
            <a:off x="4663440" y="2148840"/>
            <a:ext cx="4023360" cy="1234440"/>
          </a:xfrm>
          <a:prstGeom prst="roundRect">
            <a:avLst>
              <a:gd name="adj" fmla="val 11111"/>
            </a:avLst>
          </a:prstGeom>
          <a:solidFill>
            <a:srgbClr val="FFFFFF"/>
          </a:solidFill>
          <a:ln/>
          <a:effectLst>
            <a:outerShdw blurRad="76200" dist="25400" dir="5400000" algn="bl" rotWithShape="0">
              <a:srgbClr val="000000">
                <a:alpha val="15000"/>
              </a:srgbClr>
            </a:outerShdw>
          </a:effectLst>
        </p:spPr>
      </p:sp>
      <p:sp>
        <p:nvSpPr>
          <p:cNvPr id="13" name="Shape 11"/>
          <p:cNvSpPr/>
          <p:nvPr/>
        </p:nvSpPr>
        <p:spPr>
          <a:xfrm>
            <a:off x="4846320" y="2491740"/>
            <a:ext cx="548640" cy="548640"/>
          </a:xfrm>
          <a:prstGeom prst="ellipse">
            <a:avLst/>
          </a:prstGeom>
          <a:solidFill>
            <a:srgbClr val="0E7C86"/>
          </a:solidFill>
          <a:ln/>
        </p:spPr>
      </p:sp>
      <p:sp>
        <p:nvSpPr>
          <p:cNvPr id="14" name="Text 12"/>
          <p:cNvSpPr txBox="1"/>
          <p:nvPr/>
        </p:nvSpPr>
        <p:spPr>
          <a:xfrm>
            <a:off x="4846320" y="249174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rPr>
              <a:t>B</a:t>
            </a:r>
            <a:endParaRPr lang="en-US" sz="2000" dirty="0"/>
          </a:p>
        </p:txBody>
      </p:sp>
      <p:sp>
        <p:nvSpPr>
          <p:cNvPr id="15" name="Text 13"/>
          <p:cNvSpPr txBox="1"/>
          <p:nvPr/>
        </p:nvSpPr>
        <p:spPr>
          <a:xfrm>
            <a:off x="5577840" y="2221992"/>
            <a:ext cx="2971800" cy="1088136"/>
          </a:xfrm>
          <a:prstGeom prst="rect">
            <a:avLst/>
          </a:prstGeom>
          <a:noFill/>
          <a:ln/>
        </p:spPr>
        <p:txBody>
          <a:bodyPr wrap="square" lIns="0" tIns="0" rIns="0" bIns="0" rtlCol="0" anchor="ctr"/>
          <a:lstStyle/>
          <a:p>
            <a:pPr marL="0" indent="0">
              <a:buNone/>
            </a:pPr>
            <a:r>
              <a:rPr lang="en-US" sz="1600" dirty="0">
                <a:solidFill>
                  <a:srgbClr val="0A3D4A"/>
                </a:solidFill>
              </a:rPr>
              <a:t>where</a:t>
            </a:r>
            <a:endParaRPr lang="en-US" sz="1600" dirty="0"/>
          </a:p>
        </p:txBody>
      </p:sp>
      <p:sp>
        <p:nvSpPr>
          <p:cNvPr id="16" name="Shape 14"/>
          <p:cNvSpPr/>
          <p:nvPr/>
        </p:nvSpPr>
        <p:spPr>
          <a:xfrm>
            <a:off x="457200" y="3520440"/>
            <a:ext cx="4023360" cy="1234440"/>
          </a:xfrm>
          <a:prstGeom prst="roundRect">
            <a:avLst>
              <a:gd name="adj" fmla="val 11111"/>
            </a:avLst>
          </a:prstGeom>
          <a:solidFill>
            <a:srgbClr val="FFFFFF"/>
          </a:solidFill>
          <a:ln/>
          <a:effectLst>
            <a:outerShdw blurRad="76200" dist="25400" dir="5400000" algn="bl" rotWithShape="0">
              <a:srgbClr val="000000">
                <a:alpha val="15000"/>
              </a:srgbClr>
            </a:outerShdw>
          </a:effectLst>
        </p:spPr>
      </p:sp>
      <p:sp>
        <p:nvSpPr>
          <p:cNvPr id="17" name="Shape 15"/>
          <p:cNvSpPr/>
          <p:nvPr/>
        </p:nvSpPr>
        <p:spPr>
          <a:xfrm>
            <a:off x="640080" y="3863340"/>
            <a:ext cx="548640" cy="548640"/>
          </a:xfrm>
          <a:prstGeom prst="ellipse">
            <a:avLst/>
          </a:prstGeom>
          <a:solidFill>
            <a:srgbClr val="3A86C8"/>
          </a:solidFill>
          <a:ln/>
        </p:spPr>
      </p:sp>
      <p:sp>
        <p:nvSpPr>
          <p:cNvPr id="18" name="Text 16"/>
          <p:cNvSpPr txBox="1"/>
          <p:nvPr/>
        </p:nvSpPr>
        <p:spPr>
          <a:xfrm>
            <a:off x="640080" y="386334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rPr>
              <a:t>C</a:t>
            </a:r>
            <a:endParaRPr lang="en-US" sz="2000" dirty="0"/>
          </a:p>
        </p:txBody>
      </p:sp>
      <p:sp>
        <p:nvSpPr>
          <p:cNvPr id="19" name="Text 17"/>
          <p:cNvSpPr txBox="1"/>
          <p:nvPr/>
        </p:nvSpPr>
        <p:spPr>
          <a:xfrm>
            <a:off x="1371600" y="3593592"/>
            <a:ext cx="2971800" cy="1088136"/>
          </a:xfrm>
          <a:prstGeom prst="rect">
            <a:avLst/>
          </a:prstGeom>
          <a:noFill/>
          <a:ln/>
        </p:spPr>
        <p:txBody>
          <a:bodyPr wrap="square" lIns="0" tIns="0" rIns="0" bIns="0" rtlCol="0" anchor="ctr"/>
          <a:lstStyle/>
          <a:p>
            <a:pPr marL="0" indent="0">
              <a:buNone/>
            </a:pPr>
            <a:r>
              <a:rPr lang="en-US" sz="1600" dirty="0">
                <a:solidFill>
                  <a:srgbClr val="0A3D4A"/>
                </a:solidFill>
              </a:rPr>
              <a:t>which</a:t>
            </a:r>
            <a:endParaRPr lang="en-US" sz="1600" dirty="0"/>
          </a:p>
        </p:txBody>
      </p:sp>
      <p:sp>
        <p:nvSpPr>
          <p:cNvPr id="20" name="Shape 18"/>
          <p:cNvSpPr/>
          <p:nvPr/>
        </p:nvSpPr>
        <p:spPr>
          <a:xfrm>
            <a:off x="4663440" y="3520440"/>
            <a:ext cx="4023360" cy="1234440"/>
          </a:xfrm>
          <a:prstGeom prst="roundRect">
            <a:avLst>
              <a:gd name="adj" fmla="val 11111"/>
            </a:avLst>
          </a:prstGeom>
          <a:solidFill>
            <a:srgbClr val="FFFFFF"/>
          </a:solidFill>
          <a:ln/>
          <a:effectLst>
            <a:outerShdw blurRad="76200" dist="25400" dir="5400000" algn="bl" rotWithShape="0">
              <a:srgbClr val="000000">
                <a:alpha val="15000"/>
              </a:srgbClr>
            </a:outerShdw>
          </a:effectLst>
        </p:spPr>
      </p:sp>
      <p:sp>
        <p:nvSpPr>
          <p:cNvPr id="21" name="Shape 19"/>
          <p:cNvSpPr/>
          <p:nvPr/>
        </p:nvSpPr>
        <p:spPr>
          <a:xfrm>
            <a:off x="4846320" y="3863340"/>
            <a:ext cx="548640" cy="548640"/>
          </a:xfrm>
          <a:prstGeom prst="ellipse">
            <a:avLst/>
          </a:prstGeom>
          <a:solidFill>
            <a:srgbClr val="7B5EA7"/>
          </a:solidFill>
          <a:ln/>
        </p:spPr>
      </p:sp>
      <p:sp>
        <p:nvSpPr>
          <p:cNvPr id="22" name="Text 20"/>
          <p:cNvSpPr txBox="1"/>
          <p:nvPr/>
        </p:nvSpPr>
        <p:spPr>
          <a:xfrm>
            <a:off x="4846320" y="386334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rPr>
              <a:t>D</a:t>
            </a:r>
            <a:endParaRPr lang="en-US" sz="2000" dirty="0"/>
          </a:p>
        </p:txBody>
      </p:sp>
      <p:sp>
        <p:nvSpPr>
          <p:cNvPr id="23" name="Text 21"/>
          <p:cNvSpPr txBox="1"/>
          <p:nvPr/>
        </p:nvSpPr>
        <p:spPr>
          <a:xfrm>
            <a:off x="5577840" y="3593592"/>
            <a:ext cx="2971800" cy="1088136"/>
          </a:xfrm>
          <a:prstGeom prst="rect">
            <a:avLst/>
          </a:prstGeom>
          <a:noFill/>
          <a:ln/>
        </p:spPr>
        <p:txBody>
          <a:bodyPr wrap="square" lIns="0" tIns="0" rIns="0" bIns="0" rtlCol="0" anchor="ctr"/>
          <a:lstStyle/>
          <a:p>
            <a:pPr marL="0" indent="0">
              <a:buNone/>
            </a:pPr>
            <a:r>
              <a:rPr lang="en-US" sz="1600" dirty="0">
                <a:solidFill>
                  <a:srgbClr val="0A3D4A"/>
                </a:solidFill>
              </a:rPr>
              <a:t>when</a:t>
            </a:r>
            <a:endParaRPr lang="en-US" sz="16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0E7C86"/>
                </a:solidFill>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7589520" y="-914400"/>
            <a:ext cx="2377440" cy="2377440"/>
          </a:xfrm>
          <a:prstGeom prst="ellipse">
            <a:avLst/>
          </a:prstGeom>
          <a:solidFill>
            <a:srgbClr val="CDEFF1">
              <a:alpha val="80000"/>
            </a:srgbClr>
          </a:solidFill>
          <a:ln/>
        </p:spPr>
      </p:sp>
      <p:sp>
        <p:nvSpPr>
          <p:cNvPr id="3" name="Shape 1"/>
          <p:cNvSpPr/>
          <p:nvPr/>
        </p:nvSpPr>
        <p:spPr>
          <a:xfrm>
            <a:off x="-548640" y="4297680"/>
            <a:ext cx="1463040" cy="1463040"/>
          </a:xfrm>
          <a:prstGeom prst="ellipse">
            <a:avLst/>
          </a:prstGeom>
          <a:solidFill>
            <a:srgbClr val="CDEFF1">
              <a:alpha val="70000"/>
            </a:srgbClr>
          </a:solidFill>
          <a:ln/>
        </p:spPr>
      </p:sp>
      <p:sp>
        <p:nvSpPr>
          <p:cNvPr id="4" name="Shape 2"/>
          <p:cNvSpPr/>
          <p:nvPr/>
        </p:nvSpPr>
        <p:spPr>
          <a:xfrm>
            <a:off x="457200" y="292608"/>
            <a:ext cx="658368" cy="658368"/>
          </a:xfrm>
          <a:prstGeom prst="ellipse">
            <a:avLst/>
          </a:prstGeom>
          <a:solidFill>
            <a:srgbClr val="2BB673"/>
          </a:solidFill>
          <a:ln/>
        </p:spPr>
      </p:sp>
      <p:sp>
        <p:nvSpPr>
          <p:cNvPr id="5" name="Text 3"/>
          <p:cNvSpPr txBox="1"/>
          <p:nvPr/>
        </p:nvSpPr>
        <p:spPr>
          <a:xfrm>
            <a:off x="457200" y="292608"/>
            <a:ext cx="658368" cy="658368"/>
          </a:xfrm>
          <a:prstGeom prst="rect">
            <a:avLst/>
          </a:prstGeom>
          <a:noFill/>
          <a:ln/>
        </p:spPr>
        <p:txBody>
          <a:bodyPr wrap="square" lIns="0" tIns="0" rIns="0" bIns="0" rtlCol="0" anchor="ctr"/>
          <a:lstStyle/>
          <a:p>
            <a:pPr marL="0" indent="0" algn="ctr">
              <a:buNone/>
            </a:pPr>
            <a:r>
              <a:rPr lang="en-US" sz="2200" b="1" dirty="0">
                <a:solidFill>
                  <a:srgbClr val="FFFFFF"/>
                </a:solidFill>
              </a:rPr>
              <a:t>✅</a:t>
            </a:r>
            <a:endParaRPr lang="en-US" sz="2200" dirty="0"/>
          </a:p>
        </p:txBody>
      </p:sp>
      <p:sp>
        <p:nvSpPr>
          <p:cNvPr id="6" name="Text 0"/>
          <p:cNvSpPr>
            <a:spLocks noGrp="1"/>
          </p:cNvSpPr>
          <p:nvPr>
            <p:ph type="title" idx="100" hasCustomPrompt="1"/>
          </p:nvPr>
        </p:nvSpPr>
        <p:spPr>
          <a:xfrm>
            <a:off x="1280160" y="274320"/>
            <a:ext cx="7315200" cy="685800"/>
          </a:xfrm>
          <a:prstGeom prst="rect">
            <a:avLst/>
          </a:prstGeom>
          <a:noFill/>
          <a:ln/>
        </p:spPr>
        <p:txBody>
          <a:bodyPr wrap="square" rtlCol="0" anchor="ctr"/>
          <a:lstStyle/>
          <a:p>
            <a:pPr marL="0" indent="0">
              <a:buNone/>
            </a:pPr>
            <a:r>
              <a:rPr lang="en-US" sz="2600" b="1" dirty="0">
                <a:solidFill>
                  <a:srgbClr val="0A3D4A"/>
                </a:solidFill>
              </a:rPr>
              <a:t>ANSWER</a:t>
            </a:r>
            <a:endParaRPr lang="en-US" sz="2600" dirty="0"/>
          </a:p>
        </p:txBody>
      </p:sp>
      <p:sp>
        <p:nvSpPr>
          <p:cNvPr id="7" name="Shape 5"/>
          <p:cNvSpPr/>
          <p:nvPr/>
        </p:nvSpPr>
        <p:spPr>
          <a:xfrm>
            <a:off x="457200" y="1234440"/>
            <a:ext cx="8229600" cy="1325880"/>
          </a:xfrm>
          <a:prstGeom prst="roundRect">
            <a:avLst>
              <a:gd name="adj" fmla="val 10345"/>
            </a:avLst>
          </a:prstGeom>
          <a:solidFill>
            <a:srgbClr val="FFFFFF"/>
          </a:solidFill>
          <a:ln/>
          <a:effectLst>
            <a:outerShdw blurRad="76200" dist="25400" dir="5400000" algn="bl" rotWithShape="0">
              <a:srgbClr val="000000">
                <a:alpha val="15000"/>
              </a:srgbClr>
            </a:outerShdw>
          </a:effectLst>
        </p:spPr>
      </p:sp>
      <p:sp>
        <p:nvSpPr>
          <p:cNvPr id="8" name="Shape 6"/>
          <p:cNvSpPr/>
          <p:nvPr/>
        </p:nvSpPr>
        <p:spPr>
          <a:xfrm>
            <a:off x="731520" y="1435608"/>
            <a:ext cx="914400" cy="914400"/>
          </a:xfrm>
          <a:prstGeom prst="ellipse">
            <a:avLst/>
          </a:prstGeom>
          <a:solidFill>
            <a:srgbClr val="2BB673"/>
          </a:solidFill>
          <a:ln/>
        </p:spPr>
      </p:sp>
      <p:sp>
        <p:nvSpPr>
          <p:cNvPr id="9" name="Text 7"/>
          <p:cNvSpPr txBox="1"/>
          <p:nvPr/>
        </p:nvSpPr>
        <p:spPr>
          <a:xfrm>
            <a:off x="731520" y="1435608"/>
            <a:ext cx="914400" cy="914400"/>
          </a:xfrm>
          <a:prstGeom prst="rect">
            <a:avLst/>
          </a:prstGeom>
          <a:noFill/>
          <a:ln/>
        </p:spPr>
        <p:txBody>
          <a:bodyPr wrap="square" lIns="0" tIns="0" rIns="0" bIns="0" rtlCol="0" anchor="ctr"/>
          <a:lstStyle/>
          <a:p>
            <a:pPr marL="0" indent="0" algn="ctr">
              <a:buNone/>
            </a:pPr>
            <a:r>
              <a:rPr lang="en-US" sz="2400" b="1" dirty="0">
                <a:solidFill>
                  <a:srgbClr val="FFFFFF"/>
                </a:solidFill>
              </a:rPr>
              <a:t>C</a:t>
            </a:r>
            <a:endParaRPr lang="en-US" sz="4000" dirty="0"/>
          </a:p>
        </p:txBody>
      </p:sp>
      <p:sp>
        <p:nvSpPr>
          <p:cNvPr id="10" name="Text 8"/>
          <p:cNvSpPr txBox="1"/>
          <p:nvPr/>
        </p:nvSpPr>
        <p:spPr>
          <a:xfrm>
            <a:off x="1920240" y="1234440"/>
            <a:ext cx="6583680" cy="1325880"/>
          </a:xfrm>
          <a:prstGeom prst="rect">
            <a:avLst/>
          </a:prstGeom>
          <a:noFill/>
          <a:ln/>
        </p:spPr>
        <p:txBody>
          <a:bodyPr wrap="square" lIns="0" tIns="0" rIns="0" bIns="0" rtlCol="0" anchor="ctr"/>
          <a:lstStyle/>
          <a:p>
            <a:pPr marL="0" indent="0">
              <a:buNone/>
            </a:pPr>
            <a:r>
              <a:rPr lang="en-US" sz="2000" b="1" dirty="0">
                <a:solidFill>
                  <a:srgbClr val="0A3D4A"/>
                </a:solidFill>
              </a:rPr>
              <a:t>which</a:t>
            </a:r>
            <a:endParaRPr lang="en-US" sz="2000" dirty="0"/>
          </a:p>
        </p:txBody>
      </p:sp>
      <p:sp>
        <p:nvSpPr>
          <p:cNvPr id="11" name="Text 9"/>
          <p:cNvSpPr txBox="1"/>
          <p:nvPr/>
        </p:nvSpPr>
        <p:spPr>
          <a:xfrm>
            <a:off x="548640" y="2697480"/>
            <a:ext cx="8046720" cy="1920240"/>
          </a:xfrm>
          <a:prstGeom prst="rect">
            <a:avLst/>
          </a:prstGeom>
          <a:noFill/>
          <a:ln/>
        </p:spPr>
        <p:txBody>
          <a:bodyPr wrap="square" lIns="0" tIns="0" rIns="0" bIns="0" rtlCol="0" anchor="t"/>
          <a:lstStyle/>
          <a:p>
            <a:pPr marL="0" indent="0">
              <a:spcAft>
                <a:spcPts val="300"/>
              </a:spcAft>
              <a:buNone/>
            </a:pPr>
            <a:r>
              <a:rPr lang="en-US" sz="1700" dirty="0">
                <a:solidFill>
                  <a:srgbClr val="0A3D4A"/>
                </a:solidFill>
              </a:rPr>
              <a:t>The sea turtle, </a:t>
            </a:r>
            <a:r>
              <a:rPr lang="en-US" sz="1700" b="1" dirty="0">
                <a:solidFill>
                  <a:srgbClr val="0A3D4A"/>
                </a:solidFill>
              </a:rPr>
              <a:t>which can travel thousands of kilometres</a:t>
            </a:r>
            <a:r>
              <a:rPr lang="en-US" sz="1700" dirty="0">
                <a:solidFill>
                  <a:srgbClr val="0A3D4A"/>
                </a:solidFill>
              </a:rPr>
              <a:t>, returns to its nesting beach.</a:t>
            </a:r>
            <a:endParaRPr lang="en-US" sz="1700" dirty="0"/>
          </a:p>
          <a:p>
            <a:pPr marL="0" indent="0">
              <a:spcAft>
                <a:spcPts val="300"/>
              </a:spcAft>
              <a:buNone/>
            </a:pPr>
            <a:r>
              <a:rPr lang="en-US" sz="1700" dirty="0">
                <a:solidFill>
                  <a:srgbClr val="0A3D4A"/>
                </a:solidFill>
              </a:rPr>
              <a:t>The relative clause adds extra information about: </a:t>
            </a:r>
            <a:endParaRPr lang="en-US" sz="1700" dirty="0"/>
          </a:p>
          <a:p>
            <a:pPr marL="0" indent="0">
              <a:spcAft>
                <a:spcPts val="300"/>
              </a:spcAft>
              <a:buNone/>
            </a:pPr>
            <a:r>
              <a:rPr lang="en-US" sz="1700" b="1" dirty="0">
                <a:solidFill>
                  <a:srgbClr val="0A3D4A"/>
                </a:solidFill>
              </a:rPr>
              <a:t>the sea turtle</a:t>
            </a:r>
            <a:endParaRPr lang="en-US" sz="17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0E7C86"/>
                </a:solidFill>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7589520" y="-914400"/>
            <a:ext cx="2377440" cy="2377440"/>
          </a:xfrm>
          <a:prstGeom prst="ellipse">
            <a:avLst/>
          </a:prstGeom>
          <a:solidFill>
            <a:srgbClr val="CDEFF1">
              <a:alpha val="80000"/>
            </a:srgbClr>
          </a:solidFill>
          <a:ln/>
        </p:spPr>
      </p:sp>
      <p:sp>
        <p:nvSpPr>
          <p:cNvPr id="3" name="Shape 1"/>
          <p:cNvSpPr/>
          <p:nvPr/>
        </p:nvSpPr>
        <p:spPr>
          <a:xfrm>
            <a:off x="-548640" y="4297680"/>
            <a:ext cx="1463040" cy="1463040"/>
          </a:xfrm>
          <a:prstGeom prst="ellipse">
            <a:avLst/>
          </a:prstGeom>
          <a:solidFill>
            <a:srgbClr val="CDEFF1">
              <a:alpha val="70000"/>
            </a:srgbClr>
          </a:solidFill>
          <a:ln/>
        </p:spPr>
      </p:sp>
      <p:sp>
        <p:nvSpPr>
          <p:cNvPr id="4" name="Shape 2"/>
          <p:cNvSpPr/>
          <p:nvPr/>
        </p:nvSpPr>
        <p:spPr>
          <a:xfrm>
            <a:off x="457200" y="292608"/>
            <a:ext cx="658368" cy="658368"/>
          </a:xfrm>
          <a:prstGeom prst="ellipse">
            <a:avLst/>
          </a:prstGeom>
          <a:solidFill>
            <a:srgbClr val="FF6B5E"/>
          </a:solidFill>
          <a:ln/>
        </p:spPr>
      </p:sp>
      <p:sp>
        <p:nvSpPr>
          <p:cNvPr id="5" name="Text 3"/>
          <p:cNvSpPr txBox="1"/>
          <p:nvPr/>
        </p:nvSpPr>
        <p:spPr>
          <a:xfrm>
            <a:off x="457200" y="292608"/>
            <a:ext cx="658368" cy="658368"/>
          </a:xfrm>
          <a:prstGeom prst="rect">
            <a:avLst/>
          </a:prstGeom>
          <a:noFill/>
          <a:ln/>
        </p:spPr>
        <p:txBody>
          <a:bodyPr wrap="square" lIns="0" tIns="0" rIns="0" bIns="0" rtlCol="0" anchor="ctr"/>
          <a:lstStyle/>
          <a:p>
            <a:pPr marL="0" indent="0" algn="ctr">
              <a:buNone/>
            </a:pPr>
            <a:r>
              <a:rPr lang="en-US" sz="2200" b="1" dirty="0">
                <a:solidFill>
                  <a:srgbClr val="FFFFFF"/>
                </a:solidFill>
              </a:rPr>
              <a:t>⚠️</a:t>
            </a:r>
            <a:endParaRPr lang="en-US" sz="2200" dirty="0"/>
          </a:p>
        </p:txBody>
      </p:sp>
      <p:sp>
        <p:nvSpPr>
          <p:cNvPr id="6" name="Text 0"/>
          <p:cNvSpPr>
            <a:spLocks noGrp="1"/>
          </p:cNvSpPr>
          <p:nvPr>
            <p:ph type="title" idx="100" hasCustomPrompt="1"/>
          </p:nvPr>
        </p:nvSpPr>
        <p:spPr>
          <a:xfrm>
            <a:off x="1280160" y="274320"/>
            <a:ext cx="7315200" cy="685800"/>
          </a:xfrm>
          <a:prstGeom prst="rect">
            <a:avLst/>
          </a:prstGeom>
          <a:noFill/>
          <a:ln/>
        </p:spPr>
        <p:txBody>
          <a:bodyPr wrap="square" rtlCol="0" anchor="ctr"/>
          <a:lstStyle/>
          <a:p>
            <a:pPr marL="0" indent="0">
              <a:buNone/>
            </a:pPr>
            <a:r>
              <a:rPr lang="en-US" sz="2600" b="1" dirty="0">
                <a:solidFill>
                  <a:srgbClr val="0A3D4A"/>
                </a:solidFill>
              </a:rPr>
              <a:t>STRONG WRITING ≠ LONG WRITING</a:t>
            </a:r>
            <a:endParaRPr lang="en-US" sz="2600" dirty="0"/>
          </a:p>
        </p:txBody>
      </p:sp>
      <p:sp>
        <p:nvSpPr>
          <p:cNvPr id="7" name="Text 5"/>
          <p:cNvSpPr txBox="1"/>
          <p:nvPr/>
        </p:nvSpPr>
        <p:spPr>
          <a:xfrm>
            <a:off x="457200" y="996696"/>
            <a:ext cx="8229600" cy="365760"/>
          </a:xfrm>
          <a:prstGeom prst="rect">
            <a:avLst/>
          </a:prstGeom>
          <a:noFill/>
          <a:ln/>
        </p:spPr>
        <p:txBody>
          <a:bodyPr wrap="square" lIns="0" tIns="0" rIns="0" bIns="0" rtlCol="0" anchor="t"/>
          <a:lstStyle/>
          <a:p>
            <a:pPr marL="0" indent="0">
              <a:buNone/>
            </a:pPr>
            <a:r>
              <a:rPr lang="en-US" sz="1700" b="1" dirty="0">
                <a:solidFill>
                  <a:srgbClr val="0A3D4A"/>
                </a:solidFill>
              </a:rPr>
              <a:t>Which sentence is clearer?</a:t>
            </a:r>
            <a:endParaRPr lang="en-US" sz="1700" dirty="0"/>
          </a:p>
        </p:txBody>
      </p:sp>
      <p:sp>
        <p:nvSpPr>
          <p:cNvPr id="8" name="Shape 6"/>
          <p:cNvSpPr/>
          <p:nvPr/>
        </p:nvSpPr>
        <p:spPr>
          <a:xfrm>
            <a:off x="457200" y="1371600"/>
            <a:ext cx="4023360" cy="3337560"/>
          </a:xfrm>
          <a:prstGeom prst="roundRect">
            <a:avLst>
              <a:gd name="adj" fmla="val 4110"/>
            </a:avLst>
          </a:prstGeom>
          <a:solidFill>
            <a:srgbClr val="FFFFFF"/>
          </a:solidFill>
          <a:ln/>
          <a:effectLst>
            <a:outerShdw blurRad="76200" dist="25400" dir="5400000" algn="bl" rotWithShape="0">
              <a:srgbClr val="000000">
                <a:alpha val="15000"/>
              </a:srgbClr>
            </a:outerShdw>
          </a:effectLst>
        </p:spPr>
      </p:sp>
      <p:sp>
        <p:nvSpPr>
          <p:cNvPr id="9" name="Shape 7"/>
          <p:cNvSpPr/>
          <p:nvPr/>
        </p:nvSpPr>
        <p:spPr>
          <a:xfrm>
            <a:off x="640080" y="1554480"/>
            <a:ext cx="640080" cy="640080"/>
          </a:xfrm>
          <a:prstGeom prst="ellipse">
            <a:avLst/>
          </a:prstGeom>
          <a:solidFill>
            <a:srgbClr val="FF6B5E"/>
          </a:solidFill>
          <a:ln/>
        </p:spPr>
      </p:sp>
      <p:sp>
        <p:nvSpPr>
          <p:cNvPr id="10" name="Text 8"/>
          <p:cNvSpPr txBox="1"/>
          <p:nvPr/>
        </p:nvSpPr>
        <p:spPr>
          <a:xfrm>
            <a:off x="640080" y="1554480"/>
            <a:ext cx="640080" cy="640080"/>
          </a:xfrm>
          <a:prstGeom prst="rect">
            <a:avLst/>
          </a:prstGeom>
          <a:noFill/>
          <a:ln/>
        </p:spPr>
        <p:txBody>
          <a:bodyPr wrap="square" lIns="0" tIns="0" rIns="0" bIns="0" rtlCol="0" anchor="ctr"/>
          <a:lstStyle/>
          <a:p>
            <a:pPr marL="0" indent="0" algn="ctr">
              <a:buNone/>
            </a:pPr>
            <a:r>
              <a:rPr lang="en-US" sz="2600" b="1" dirty="0">
                <a:solidFill>
                  <a:srgbClr val="FFFFFF"/>
                </a:solidFill>
              </a:rPr>
              <a:t>A</a:t>
            </a:r>
            <a:endParaRPr lang="en-US" sz="2600" dirty="0"/>
          </a:p>
        </p:txBody>
      </p:sp>
      <p:sp>
        <p:nvSpPr>
          <p:cNvPr id="11" name="Text 9"/>
          <p:cNvSpPr txBox="1"/>
          <p:nvPr/>
        </p:nvSpPr>
        <p:spPr>
          <a:xfrm>
            <a:off x="685800" y="2377440"/>
            <a:ext cx="3566160" cy="2194560"/>
          </a:xfrm>
          <a:prstGeom prst="rect">
            <a:avLst/>
          </a:prstGeom>
          <a:noFill/>
          <a:ln/>
        </p:spPr>
        <p:txBody>
          <a:bodyPr wrap="square" lIns="0" tIns="0" rIns="0" bIns="0" rtlCol="0" anchor="t"/>
          <a:lstStyle/>
          <a:p>
            <a:pPr marL="0" indent="0">
              <a:buNone/>
            </a:pPr>
            <a:r>
              <a:rPr lang="en-US" dirty="0">
                <a:solidFill>
                  <a:srgbClr val="0A3D4A"/>
                </a:solidFill>
              </a:rPr>
              <a:t>Sea turtles are marine reptiles which live in oceans and have large flippers and return to beaches where they lay eggs and eat different foods and face many threats.</a:t>
            </a:r>
            <a:endParaRPr lang="en-US" dirty="0"/>
          </a:p>
        </p:txBody>
      </p:sp>
      <p:sp>
        <p:nvSpPr>
          <p:cNvPr id="12" name="Shape 10"/>
          <p:cNvSpPr/>
          <p:nvPr/>
        </p:nvSpPr>
        <p:spPr>
          <a:xfrm>
            <a:off x="4663440" y="1371600"/>
            <a:ext cx="4023360" cy="3337560"/>
          </a:xfrm>
          <a:prstGeom prst="roundRect">
            <a:avLst>
              <a:gd name="adj" fmla="val 4110"/>
            </a:avLst>
          </a:prstGeom>
          <a:solidFill>
            <a:srgbClr val="FFFFFF"/>
          </a:solidFill>
          <a:ln/>
          <a:effectLst>
            <a:outerShdw blurRad="76200" dist="25400" dir="5400000" algn="bl" rotWithShape="0">
              <a:srgbClr val="000000">
                <a:alpha val="15000"/>
              </a:srgbClr>
            </a:outerShdw>
          </a:effectLst>
        </p:spPr>
      </p:sp>
      <p:sp>
        <p:nvSpPr>
          <p:cNvPr id="13" name="Shape 11"/>
          <p:cNvSpPr/>
          <p:nvPr/>
        </p:nvSpPr>
        <p:spPr>
          <a:xfrm>
            <a:off x="4846320" y="1554480"/>
            <a:ext cx="640080" cy="640080"/>
          </a:xfrm>
          <a:prstGeom prst="ellipse">
            <a:avLst/>
          </a:prstGeom>
          <a:solidFill>
            <a:srgbClr val="0E7C86"/>
          </a:solidFill>
          <a:ln/>
        </p:spPr>
      </p:sp>
      <p:sp>
        <p:nvSpPr>
          <p:cNvPr id="14" name="Text 12"/>
          <p:cNvSpPr txBox="1"/>
          <p:nvPr/>
        </p:nvSpPr>
        <p:spPr>
          <a:xfrm>
            <a:off x="4846320" y="1554480"/>
            <a:ext cx="640080" cy="640080"/>
          </a:xfrm>
          <a:prstGeom prst="rect">
            <a:avLst/>
          </a:prstGeom>
          <a:noFill/>
          <a:ln/>
        </p:spPr>
        <p:txBody>
          <a:bodyPr wrap="square" lIns="0" tIns="0" rIns="0" bIns="0" rtlCol="0" anchor="ctr"/>
          <a:lstStyle/>
          <a:p>
            <a:pPr marL="0" indent="0" algn="ctr">
              <a:buNone/>
            </a:pPr>
            <a:r>
              <a:rPr lang="en-US" sz="2600" b="1" dirty="0">
                <a:solidFill>
                  <a:srgbClr val="FFFFFF"/>
                </a:solidFill>
              </a:rPr>
              <a:t>B</a:t>
            </a:r>
            <a:endParaRPr lang="en-US" sz="2600" dirty="0"/>
          </a:p>
        </p:txBody>
      </p:sp>
      <p:sp>
        <p:nvSpPr>
          <p:cNvPr id="15" name="Text 13"/>
          <p:cNvSpPr txBox="1"/>
          <p:nvPr/>
        </p:nvSpPr>
        <p:spPr>
          <a:xfrm>
            <a:off x="4892040" y="2377440"/>
            <a:ext cx="3566160" cy="2194560"/>
          </a:xfrm>
          <a:prstGeom prst="rect">
            <a:avLst/>
          </a:prstGeom>
          <a:noFill/>
          <a:ln/>
        </p:spPr>
        <p:txBody>
          <a:bodyPr wrap="square" lIns="0" tIns="0" rIns="0" bIns="0" rtlCol="0" anchor="t"/>
          <a:lstStyle/>
          <a:p>
            <a:pPr marL="0" indent="0">
              <a:buNone/>
            </a:pPr>
            <a:r>
              <a:rPr lang="en-US" dirty="0">
                <a:solidFill>
                  <a:srgbClr val="0A3D4A"/>
                </a:solidFill>
              </a:rPr>
              <a:t>Sea turtles are marine reptiles that live in oceans around the world. They have large flippers and return to beaches to lay their eggs.</a:t>
            </a:r>
            <a:endParaRPr lang="en-US"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0E7C86"/>
                </a:solidFill>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7589520" y="-914400"/>
            <a:ext cx="2377440" cy="2377440"/>
          </a:xfrm>
          <a:prstGeom prst="ellipse">
            <a:avLst/>
          </a:prstGeom>
          <a:solidFill>
            <a:srgbClr val="CDEFF1">
              <a:alpha val="80000"/>
            </a:srgbClr>
          </a:solidFill>
          <a:ln/>
        </p:spPr>
      </p:sp>
      <p:sp>
        <p:nvSpPr>
          <p:cNvPr id="3" name="Shape 1"/>
          <p:cNvSpPr/>
          <p:nvPr/>
        </p:nvSpPr>
        <p:spPr>
          <a:xfrm>
            <a:off x="-548640" y="4297680"/>
            <a:ext cx="1463040" cy="1463040"/>
          </a:xfrm>
          <a:prstGeom prst="ellipse">
            <a:avLst/>
          </a:prstGeom>
          <a:solidFill>
            <a:srgbClr val="CDEFF1">
              <a:alpha val="70000"/>
            </a:srgbClr>
          </a:solidFill>
          <a:ln/>
        </p:spPr>
      </p:sp>
      <p:sp>
        <p:nvSpPr>
          <p:cNvPr id="4" name="Shape 2"/>
          <p:cNvSpPr/>
          <p:nvPr/>
        </p:nvSpPr>
        <p:spPr>
          <a:xfrm>
            <a:off x="457200" y="292608"/>
            <a:ext cx="658368" cy="658368"/>
          </a:xfrm>
          <a:prstGeom prst="ellipse">
            <a:avLst/>
          </a:prstGeom>
          <a:solidFill>
            <a:srgbClr val="2BB673"/>
          </a:solidFill>
          <a:ln/>
        </p:spPr>
      </p:sp>
      <p:sp>
        <p:nvSpPr>
          <p:cNvPr id="5" name="Text 3"/>
          <p:cNvSpPr txBox="1"/>
          <p:nvPr/>
        </p:nvSpPr>
        <p:spPr>
          <a:xfrm>
            <a:off x="457200" y="292608"/>
            <a:ext cx="658368" cy="658368"/>
          </a:xfrm>
          <a:prstGeom prst="rect">
            <a:avLst/>
          </a:prstGeom>
          <a:noFill/>
          <a:ln/>
        </p:spPr>
        <p:txBody>
          <a:bodyPr wrap="square" lIns="0" tIns="0" rIns="0" bIns="0" rtlCol="0" anchor="ctr"/>
          <a:lstStyle/>
          <a:p>
            <a:pPr marL="0" indent="0" algn="ctr">
              <a:buNone/>
            </a:pPr>
            <a:r>
              <a:rPr lang="en-US" sz="2200" b="1" dirty="0">
                <a:solidFill>
                  <a:srgbClr val="FFFFFF"/>
                </a:solidFill>
              </a:rPr>
              <a:t>✅</a:t>
            </a:r>
            <a:endParaRPr lang="en-US" sz="2200" dirty="0"/>
          </a:p>
        </p:txBody>
      </p:sp>
      <p:sp>
        <p:nvSpPr>
          <p:cNvPr id="6" name="Text 0"/>
          <p:cNvSpPr>
            <a:spLocks noGrp="1"/>
          </p:cNvSpPr>
          <p:nvPr>
            <p:ph type="title" idx="100" hasCustomPrompt="1"/>
          </p:nvPr>
        </p:nvSpPr>
        <p:spPr>
          <a:xfrm>
            <a:off x="1280160" y="274320"/>
            <a:ext cx="7315200" cy="685800"/>
          </a:xfrm>
          <a:prstGeom prst="rect">
            <a:avLst/>
          </a:prstGeom>
          <a:noFill/>
          <a:ln/>
        </p:spPr>
        <p:txBody>
          <a:bodyPr wrap="square" rtlCol="0" anchor="ctr"/>
          <a:lstStyle/>
          <a:p>
            <a:pPr marL="0" indent="0">
              <a:buNone/>
            </a:pPr>
            <a:r>
              <a:rPr lang="en-US" sz="2600" b="1" dirty="0">
                <a:solidFill>
                  <a:srgbClr val="0A3D4A"/>
                </a:solidFill>
              </a:rPr>
              <a:t>ANSWER</a:t>
            </a:r>
            <a:endParaRPr lang="en-US" sz="2600" dirty="0"/>
          </a:p>
        </p:txBody>
      </p:sp>
      <p:sp>
        <p:nvSpPr>
          <p:cNvPr id="7" name="Shape 5"/>
          <p:cNvSpPr/>
          <p:nvPr/>
        </p:nvSpPr>
        <p:spPr>
          <a:xfrm>
            <a:off x="457200" y="1234440"/>
            <a:ext cx="8229600" cy="1325880"/>
          </a:xfrm>
          <a:prstGeom prst="roundRect">
            <a:avLst>
              <a:gd name="adj" fmla="val 10345"/>
            </a:avLst>
          </a:prstGeom>
          <a:solidFill>
            <a:srgbClr val="FFFFFF"/>
          </a:solidFill>
          <a:ln/>
          <a:effectLst>
            <a:outerShdw blurRad="76200" dist="25400" dir="5400000" algn="bl" rotWithShape="0">
              <a:srgbClr val="000000">
                <a:alpha val="15000"/>
              </a:srgbClr>
            </a:outerShdw>
          </a:effectLst>
        </p:spPr>
      </p:sp>
      <p:sp>
        <p:nvSpPr>
          <p:cNvPr id="8" name="Shape 6"/>
          <p:cNvSpPr/>
          <p:nvPr/>
        </p:nvSpPr>
        <p:spPr>
          <a:xfrm>
            <a:off x="731520" y="1435608"/>
            <a:ext cx="914400" cy="914400"/>
          </a:xfrm>
          <a:prstGeom prst="ellipse">
            <a:avLst/>
          </a:prstGeom>
          <a:solidFill>
            <a:srgbClr val="2BB673"/>
          </a:solidFill>
          <a:ln/>
        </p:spPr>
      </p:sp>
      <p:sp>
        <p:nvSpPr>
          <p:cNvPr id="9" name="Text 7"/>
          <p:cNvSpPr txBox="1"/>
          <p:nvPr/>
        </p:nvSpPr>
        <p:spPr>
          <a:xfrm>
            <a:off x="731520" y="1435608"/>
            <a:ext cx="914400" cy="914400"/>
          </a:xfrm>
          <a:prstGeom prst="rect">
            <a:avLst/>
          </a:prstGeom>
          <a:noFill/>
          <a:ln/>
        </p:spPr>
        <p:txBody>
          <a:bodyPr wrap="square" lIns="0" tIns="0" rIns="0" bIns="0" rtlCol="0" anchor="ctr"/>
          <a:lstStyle/>
          <a:p>
            <a:pPr marL="0" indent="0" algn="ctr">
              <a:buNone/>
            </a:pPr>
            <a:r>
              <a:rPr lang="en-US" sz="2800" b="1" dirty="0">
                <a:solidFill>
                  <a:srgbClr val="FFFFFF"/>
                </a:solidFill>
              </a:rPr>
              <a:t>B</a:t>
            </a:r>
            <a:endParaRPr lang="en-US" sz="4000" dirty="0"/>
          </a:p>
        </p:txBody>
      </p:sp>
      <p:sp>
        <p:nvSpPr>
          <p:cNvPr id="10" name="Text 8"/>
          <p:cNvSpPr txBox="1"/>
          <p:nvPr/>
        </p:nvSpPr>
        <p:spPr>
          <a:xfrm>
            <a:off x="1920240" y="1234440"/>
            <a:ext cx="6583680" cy="1325880"/>
          </a:xfrm>
          <a:prstGeom prst="rect">
            <a:avLst/>
          </a:prstGeom>
          <a:noFill/>
          <a:ln/>
        </p:spPr>
        <p:txBody>
          <a:bodyPr wrap="square" lIns="0" tIns="0" rIns="0" bIns="0" rtlCol="0" anchor="ctr"/>
          <a:lstStyle/>
          <a:p>
            <a:pPr marL="0" indent="0">
              <a:buNone/>
            </a:pPr>
            <a:r>
              <a:rPr lang="en-US" b="1" dirty="0">
                <a:solidFill>
                  <a:srgbClr val="0A3D4A"/>
                </a:solidFill>
              </a:rPr>
              <a:t>Sentence B</a:t>
            </a:r>
            <a:endParaRPr lang="en-US" dirty="0"/>
          </a:p>
        </p:txBody>
      </p:sp>
      <p:sp>
        <p:nvSpPr>
          <p:cNvPr id="11" name="Text 9"/>
          <p:cNvSpPr txBox="1"/>
          <p:nvPr/>
        </p:nvSpPr>
        <p:spPr>
          <a:xfrm>
            <a:off x="548640" y="2624328"/>
            <a:ext cx="8046720" cy="1234440"/>
          </a:xfrm>
          <a:prstGeom prst="rect">
            <a:avLst/>
          </a:prstGeom>
          <a:noFill/>
          <a:ln/>
        </p:spPr>
        <p:txBody>
          <a:bodyPr wrap="square" lIns="0" tIns="0" rIns="0" bIns="0" rtlCol="0" anchor="t"/>
          <a:lstStyle/>
          <a:p>
            <a:pPr marL="0" indent="0">
              <a:spcAft>
                <a:spcPts val="300"/>
              </a:spcAft>
              <a:buNone/>
            </a:pPr>
            <a:r>
              <a:rPr lang="en-US" sz="1700" dirty="0">
                <a:solidFill>
                  <a:srgbClr val="0A3D4A"/>
                </a:solidFill>
              </a:rPr>
              <a:t>Good writers do not try to put everything into one sentence. </a:t>
            </a:r>
          </a:p>
          <a:p>
            <a:pPr marL="0" indent="0">
              <a:spcAft>
                <a:spcPts val="300"/>
              </a:spcAft>
              <a:buNone/>
            </a:pPr>
            <a:r>
              <a:rPr lang="en-US" sz="1700" dirty="0">
                <a:solidFill>
                  <a:srgbClr val="0A3D4A"/>
                </a:solidFill>
              </a:rPr>
              <a:t>They use: </a:t>
            </a:r>
            <a:r>
              <a:rPr lang="en-US" sz="1700" b="1" dirty="0">
                <a:solidFill>
                  <a:srgbClr val="0A3D4A"/>
                </a:solidFill>
              </a:rPr>
              <a:t>different sentences + clear connections</a:t>
            </a:r>
            <a:endParaRPr lang="en-US" sz="1700" dirty="0"/>
          </a:p>
        </p:txBody>
      </p:sp>
      <p:sp>
        <p:nvSpPr>
          <p:cNvPr id="12" name="Shape 10"/>
          <p:cNvSpPr/>
          <p:nvPr/>
        </p:nvSpPr>
        <p:spPr>
          <a:xfrm>
            <a:off x="457200" y="4023360"/>
            <a:ext cx="8229600" cy="685800"/>
          </a:xfrm>
          <a:prstGeom prst="roundRect">
            <a:avLst>
              <a:gd name="adj" fmla="val 20000"/>
            </a:avLst>
          </a:prstGeom>
          <a:solidFill>
            <a:srgbClr val="0A3D4A"/>
          </a:solidFill>
          <a:ln/>
          <a:effectLst>
            <a:outerShdw blurRad="76200" dist="25400" dir="5400000" algn="bl" rotWithShape="0">
              <a:srgbClr val="000000">
                <a:alpha val="15000"/>
              </a:srgbClr>
            </a:outerShdw>
          </a:effectLst>
        </p:spPr>
      </p:sp>
      <p:sp>
        <p:nvSpPr>
          <p:cNvPr id="13" name="Text 11"/>
          <p:cNvSpPr txBox="1"/>
          <p:nvPr/>
        </p:nvSpPr>
        <p:spPr>
          <a:xfrm>
            <a:off x="731520" y="4023360"/>
            <a:ext cx="7680960" cy="685800"/>
          </a:xfrm>
          <a:prstGeom prst="rect">
            <a:avLst/>
          </a:prstGeom>
          <a:noFill/>
          <a:ln/>
        </p:spPr>
        <p:txBody>
          <a:bodyPr wrap="square" lIns="0" tIns="0" rIns="0" bIns="0" rtlCol="0" anchor="ctr"/>
          <a:lstStyle/>
          <a:p>
            <a:pPr marL="0" indent="0">
              <a:buNone/>
            </a:pPr>
            <a:r>
              <a:rPr lang="en-US" sz="1700" b="1" dirty="0">
                <a:solidFill>
                  <a:srgbClr val="FFC857"/>
                </a:solidFill>
              </a:rPr>
              <a:t>Remember: </a:t>
            </a:r>
            <a:r>
              <a:rPr lang="en-US" sz="1700" b="1" dirty="0">
                <a:solidFill>
                  <a:srgbClr val="FFFFFF"/>
                </a:solidFill>
              </a:rPr>
              <a:t>Clear writing is more important than making every sentence long.</a:t>
            </a:r>
            <a:endParaRPr lang="en-US" sz="17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0E7C86"/>
                </a:solidFill>
              </a:defRPr>
            </a:lvl1pPr>
          </a:lstStyle>
          <a:p>
            <a:pPr algn="l"/>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7589520" y="-914400"/>
            <a:ext cx="2377440" cy="2377440"/>
          </a:xfrm>
          <a:prstGeom prst="ellipse">
            <a:avLst/>
          </a:prstGeom>
          <a:solidFill>
            <a:srgbClr val="CDEFF1">
              <a:alpha val="80000"/>
            </a:srgbClr>
          </a:solidFill>
          <a:ln/>
        </p:spPr>
      </p:sp>
      <p:sp>
        <p:nvSpPr>
          <p:cNvPr id="3" name="Shape 1"/>
          <p:cNvSpPr/>
          <p:nvPr/>
        </p:nvSpPr>
        <p:spPr>
          <a:xfrm>
            <a:off x="-548640" y="4297680"/>
            <a:ext cx="1463040" cy="1463040"/>
          </a:xfrm>
          <a:prstGeom prst="ellipse">
            <a:avLst/>
          </a:prstGeom>
          <a:solidFill>
            <a:srgbClr val="CDEFF1">
              <a:alpha val="70000"/>
            </a:srgbClr>
          </a:solidFill>
          <a:ln/>
        </p:spPr>
      </p:sp>
      <p:sp>
        <p:nvSpPr>
          <p:cNvPr id="4" name="Shape 2"/>
          <p:cNvSpPr/>
          <p:nvPr/>
        </p:nvSpPr>
        <p:spPr>
          <a:xfrm>
            <a:off x="457200" y="292608"/>
            <a:ext cx="658368" cy="658368"/>
          </a:xfrm>
          <a:prstGeom prst="ellipse">
            <a:avLst/>
          </a:prstGeom>
          <a:solidFill>
            <a:srgbClr val="FF6B5E"/>
          </a:solidFill>
          <a:ln/>
        </p:spPr>
      </p:sp>
      <p:sp>
        <p:nvSpPr>
          <p:cNvPr id="5" name="Text 3"/>
          <p:cNvSpPr txBox="1"/>
          <p:nvPr/>
        </p:nvSpPr>
        <p:spPr>
          <a:xfrm>
            <a:off x="457200" y="292608"/>
            <a:ext cx="658368" cy="658368"/>
          </a:xfrm>
          <a:prstGeom prst="rect">
            <a:avLst/>
          </a:prstGeom>
          <a:noFill/>
          <a:ln/>
        </p:spPr>
        <p:txBody>
          <a:bodyPr wrap="square" lIns="0" tIns="0" rIns="0" bIns="0" rtlCol="0" anchor="ctr"/>
          <a:lstStyle/>
          <a:p>
            <a:pPr marL="0" indent="0" algn="ctr">
              <a:buNone/>
            </a:pPr>
            <a:r>
              <a:rPr lang="en-US" sz="2200" b="1" dirty="0">
                <a:solidFill>
                  <a:srgbClr val="FFFFFF"/>
                </a:solidFill>
              </a:rPr>
              <a:t>🧱</a:t>
            </a:r>
            <a:endParaRPr lang="en-US" sz="2200" dirty="0"/>
          </a:p>
        </p:txBody>
      </p:sp>
      <p:sp>
        <p:nvSpPr>
          <p:cNvPr id="6" name="Text 0"/>
          <p:cNvSpPr>
            <a:spLocks noGrp="1"/>
          </p:cNvSpPr>
          <p:nvPr>
            <p:ph type="title" idx="100" hasCustomPrompt="1"/>
          </p:nvPr>
        </p:nvSpPr>
        <p:spPr>
          <a:xfrm>
            <a:off x="1280160" y="274320"/>
            <a:ext cx="7315200" cy="685800"/>
          </a:xfrm>
          <a:prstGeom prst="rect">
            <a:avLst/>
          </a:prstGeom>
          <a:noFill/>
          <a:ln/>
        </p:spPr>
        <p:txBody>
          <a:bodyPr wrap="square" rtlCol="0" anchor="ctr"/>
          <a:lstStyle/>
          <a:p>
            <a:pPr marL="0" indent="0">
              <a:buNone/>
            </a:pPr>
            <a:r>
              <a:rPr lang="en-US" sz="2600" b="1" dirty="0">
                <a:solidFill>
                  <a:srgbClr val="0A3D4A"/>
                </a:solidFill>
              </a:rPr>
              <a:t>BUILD DIFFERENT SENTENCES</a:t>
            </a:r>
            <a:endParaRPr lang="en-US" sz="2600" dirty="0"/>
          </a:p>
        </p:txBody>
      </p:sp>
      <p:sp>
        <p:nvSpPr>
          <p:cNvPr id="7" name="Shape 5"/>
          <p:cNvSpPr/>
          <p:nvPr/>
        </p:nvSpPr>
        <p:spPr>
          <a:xfrm>
            <a:off x="457200" y="1280160"/>
            <a:ext cx="2560320" cy="2697480"/>
          </a:xfrm>
          <a:prstGeom prst="roundRect">
            <a:avLst>
              <a:gd name="adj" fmla="val 5357"/>
            </a:avLst>
          </a:prstGeom>
          <a:solidFill>
            <a:srgbClr val="FFFFFF"/>
          </a:solidFill>
          <a:ln/>
          <a:effectLst>
            <a:outerShdw blurRad="76200" dist="25400" dir="5400000" algn="bl" rotWithShape="0">
              <a:srgbClr val="000000">
                <a:alpha val="15000"/>
              </a:srgbClr>
            </a:outerShdw>
          </a:effectLst>
        </p:spPr>
      </p:sp>
      <p:sp>
        <p:nvSpPr>
          <p:cNvPr id="8" name="Shape 6"/>
          <p:cNvSpPr/>
          <p:nvPr/>
        </p:nvSpPr>
        <p:spPr>
          <a:xfrm>
            <a:off x="640080" y="1463040"/>
            <a:ext cx="566928" cy="566928"/>
          </a:xfrm>
          <a:prstGeom prst="ellipse">
            <a:avLst/>
          </a:prstGeom>
          <a:solidFill>
            <a:srgbClr val="FF6B5E"/>
          </a:solidFill>
          <a:ln/>
        </p:spPr>
      </p:sp>
      <p:sp>
        <p:nvSpPr>
          <p:cNvPr id="9" name="Text 7"/>
          <p:cNvSpPr txBox="1"/>
          <p:nvPr/>
        </p:nvSpPr>
        <p:spPr>
          <a:xfrm>
            <a:off x="640080" y="1463040"/>
            <a:ext cx="566928" cy="566928"/>
          </a:xfrm>
          <a:prstGeom prst="rect">
            <a:avLst/>
          </a:prstGeom>
          <a:noFill/>
          <a:ln/>
        </p:spPr>
        <p:txBody>
          <a:bodyPr wrap="square" lIns="0" tIns="0" rIns="0" bIns="0" rtlCol="0" anchor="ctr"/>
          <a:lstStyle/>
          <a:p>
            <a:pPr marL="0" indent="0" algn="ctr">
              <a:buNone/>
            </a:pPr>
            <a:r>
              <a:rPr lang="en-US" sz="1800" b="1" dirty="0">
                <a:solidFill>
                  <a:srgbClr val="FFFFFF"/>
                </a:solidFill>
              </a:rPr>
              <a:t>1</a:t>
            </a:r>
            <a:endParaRPr lang="en-US" sz="1800" dirty="0"/>
          </a:p>
        </p:txBody>
      </p:sp>
      <p:sp>
        <p:nvSpPr>
          <p:cNvPr id="10" name="Text 8"/>
          <p:cNvSpPr txBox="1"/>
          <p:nvPr/>
        </p:nvSpPr>
        <p:spPr>
          <a:xfrm>
            <a:off x="1371600" y="1463040"/>
            <a:ext cx="1508760" cy="566928"/>
          </a:xfrm>
          <a:prstGeom prst="rect">
            <a:avLst/>
          </a:prstGeom>
          <a:noFill/>
          <a:ln/>
        </p:spPr>
        <p:txBody>
          <a:bodyPr wrap="square" lIns="0" tIns="0" rIns="0" bIns="0" rtlCol="0" anchor="ctr"/>
          <a:lstStyle/>
          <a:p>
            <a:pPr marL="0" indent="0">
              <a:buNone/>
            </a:pPr>
            <a:r>
              <a:rPr lang="en-US" sz="1700" b="1" dirty="0">
                <a:solidFill>
                  <a:srgbClr val="FF6B5E"/>
                </a:solidFill>
              </a:rPr>
              <a:t>SIMPLE</a:t>
            </a:r>
            <a:endParaRPr lang="en-US" sz="1700" dirty="0"/>
          </a:p>
        </p:txBody>
      </p:sp>
      <p:sp>
        <p:nvSpPr>
          <p:cNvPr id="11" name="Text 9"/>
          <p:cNvSpPr txBox="1"/>
          <p:nvPr/>
        </p:nvSpPr>
        <p:spPr>
          <a:xfrm>
            <a:off x="640080" y="2240280"/>
            <a:ext cx="2194560" cy="1645920"/>
          </a:xfrm>
          <a:prstGeom prst="rect">
            <a:avLst/>
          </a:prstGeom>
          <a:noFill/>
          <a:ln/>
        </p:spPr>
        <p:txBody>
          <a:bodyPr wrap="square" lIns="0" tIns="0" rIns="0" bIns="0" rtlCol="0" anchor="t"/>
          <a:lstStyle/>
          <a:p>
            <a:pPr marL="0" indent="0">
              <a:buNone/>
            </a:pPr>
            <a:r>
              <a:rPr lang="en-US" sz="1700" dirty="0">
                <a:solidFill>
                  <a:srgbClr val="0A3D4A"/>
                </a:solidFill>
              </a:rPr>
              <a:t>Sea turtles migrate.</a:t>
            </a:r>
            <a:endParaRPr lang="en-US" sz="1700" dirty="0"/>
          </a:p>
        </p:txBody>
      </p:sp>
      <p:sp>
        <p:nvSpPr>
          <p:cNvPr id="12" name="Shape 10"/>
          <p:cNvSpPr/>
          <p:nvPr/>
        </p:nvSpPr>
        <p:spPr>
          <a:xfrm>
            <a:off x="3291840" y="1280160"/>
            <a:ext cx="2560320" cy="2697480"/>
          </a:xfrm>
          <a:prstGeom prst="roundRect">
            <a:avLst>
              <a:gd name="adj" fmla="val 5357"/>
            </a:avLst>
          </a:prstGeom>
          <a:solidFill>
            <a:srgbClr val="FFFFFF"/>
          </a:solidFill>
          <a:ln/>
          <a:effectLst>
            <a:outerShdw blurRad="76200" dist="25400" dir="5400000" algn="bl" rotWithShape="0">
              <a:srgbClr val="000000">
                <a:alpha val="15000"/>
              </a:srgbClr>
            </a:outerShdw>
          </a:effectLst>
        </p:spPr>
      </p:sp>
      <p:sp>
        <p:nvSpPr>
          <p:cNvPr id="13" name="Shape 11"/>
          <p:cNvSpPr/>
          <p:nvPr/>
        </p:nvSpPr>
        <p:spPr>
          <a:xfrm>
            <a:off x="3474720" y="1463040"/>
            <a:ext cx="566928" cy="566928"/>
          </a:xfrm>
          <a:prstGeom prst="ellipse">
            <a:avLst/>
          </a:prstGeom>
          <a:solidFill>
            <a:srgbClr val="0E7C86"/>
          </a:solidFill>
          <a:ln/>
        </p:spPr>
      </p:sp>
      <p:sp>
        <p:nvSpPr>
          <p:cNvPr id="14" name="Text 12"/>
          <p:cNvSpPr txBox="1"/>
          <p:nvPr/>
        </p:nvSpPr>
        <p:spPr>
          <a:xfrm>
            <a:off x="3474720" y="1463040"/>
            <a:ext cx="566928" cy="566928"/>
          </a:xfrm>
          <a:prstGeom prst="rect">
            <a:avLst/>
          </a:prstGeom>
          <a:noFill/>
          <a:ln/>
        </p:spPr>
        <p:txBody>
          <a:bodyPr wrap="square" lIns="0" tIns="0" rIns="0" bIns="0" rtlCol="0" anchor="ctr"/>
          <a:lstStyle/>
          <a:p>
            <a:pPr marL="0" indent="0" algn="ctr">
              <a:buNone/>
            </a:pPr>
            <a:r>
              <a:rPr lang="en-US" sz="1800" b="1" dirty="0">
                <a:solidFill>
                  <a:srgbClr val="FFFFFF"/>
                </a:solidFill>
              </a:rPr>
              <a:t>2</a:t>
            </a:r>
            <a:endParaRPr lang="en-US" sz="1800" dirty="0"/>
          </a:p>
        </p:txBody>
      </p:sp>
      <p:sp>
        <p:nvSpPr>
          <p:cNvPr id="15" name="Text 13"/>
          <p:cNvSpPr txBox="1"/>
          <p:nvPr/>
        </p:nvSpPr>
        <p:spPr>
          <a:xfrm>
            <a:off x="4206240" y="1463040"/>
            <a:ext cx="1508760" cy="566928"/>
          </a:xfrm>
          <a:prstGeom prst="rect">
            <a:avLst/>
          </a:prstGeom>
          <a:noFill/>
          <a:ln/>
        </p:spPr>
        <p:txBody>
          <a:bodyPr wrap="square" lIns="0" tIns="0" rIns="0" bIns="0" rtlCol="0" anchor="ctr"/>
          <a:lstStyle/>
          <a:p>
            <a:pPr marL="0" indent="0">
              <a:buNone/>
            </a:pPr>
            <a:r>
              <a:rPr lang="en-US" sz="1500" b="1" dirty="0">
                <a:solidFill>
                  <a:srgbClr val="0E7C86"/>
                </a:solidFill>
              </a:rPr>
              <a:t>COMPOUND</a:t>
            </a:r>
            <a:endParaRPr lang="en-US" sz="1500" dirty="0"/>
          </a:p>
        </p:txBody>
      </p:sp>
      <p:sp>
        <p:nvSpPr>
          <p:cNvPr id="16" name="Text 14"/>
          <p:cNvSpPr txBox="1"/>
          <p:nvPr/>
        </p:nvSpPr>
        <p:spPr>
          <a:xfrm>
            <a:off x="3474720" y="2240280"/>
            <a:ext cx="2194560" cy="1645920"/>
          </a:xfrm>
          <a:prstGeom prst="rect">
            <a:avLst/>
          </a:prstGeom>
          <a:noFill/>
          <a:ln/>
        </p:spPr>
        <p:txBody>
          <a:bodyPr wrap="square" lIns="0" tIns="0" rIns="0" bIns="0" rtlCol="0" anchor="t"/>
          <a:lstStyle/>
          <a:p>
            <a:pPr marL="0" indent="0">
              <a:buNone/>
            </a:pPr>
            <a:r>
              <a:rPr lang="en-US" sz="1700" dirty="0">
                <a:solidFill>
                  <a:srgbClr val="0A3D4A"/>
                </a:solidFill>
              </a:rPr>
              <a:t>Sea turtles migrate, </a:t>
            </a:r>
            <a:r>
              <a:rPr lang="en-US" sz="1700" b="1" dirty="0">
                <a:solidFill>
                  <a:srgbClr val="0A3D4A"/>
                </a:solidFill>
              </a:rPr>
              <a:t>and</a:t>
            </a:r>
            <a:r>
              <a:rPr lang="en-US" sz="1700" dirty="0">
                <a:solidFill>
                  <a:srgbClr val="0A3D4A"/>
                </a:solidFill>
              </a:rPr>
              <a:t> they return to nesting beaches.</a:t>
            </a:r>
            <a:endParaRPr lang="en-US" sz="1700" dirty="0"/>
          </a:p>
        </p:txBody>
      </p:sp>
      <p:sp>
        <p:nvSpPr>
          <p:cNvPr id="17" name="Shape 15"/>
          <p:cNvSpPr/>
          <p:nvPr/>
        </p:nvSpPr>
        <p:spPr>
          <a:xfrm>
            <a:off x="6126480" y="1280160"/>
            <a:ext cx="2560320" cy="2697480"/>
          </a:xfrm>
          <a:prstGeom prst="roundRect">
            <a:avLst>
              <a:gd name="adj" fmla="val 5357"/>
            </a:avLst>
          </a:prstGeom>
          <a:solidFill>
            <a:srgbClr val="FFFFFF"/>
          </a:solidFill>
          <a:ln/>
          <a:effectLst>
            <a:outerShdw blurRad="76200" dist="25400" dir="5400000" algn="bl" rotWithShape="0">
              <a:srgbClr val="000000">
                <a:alpha val="15000"/>
              </a:srgbClr>
            </a:outerShdw>
          </a:effectLst>
        </p:spPr>
      </p:sp>
      <p:sp>
        <p:nvSpPr>
          <p:cNvPr id="18" name="Shape 16"/>
          <p:cNvSpPr/>
          <p:nvPr/>
        </p:nvSpPr>
        <p:spPr>
          <a:xfrm>
            <a:off x="6309360" y="1463040"/>
            <a:ext cx="566928" cy="566928"/>
          </a:xfrm>
          <a:prstGeom prst="ellipse">
            <a:avLst/>
          </a:prstGeom>
          <a:solidFill>
            <a:srgbClr val="7B5EA7"/>
          </a:solidFill>
          <a:ln/>
        </p:spPr>
      </p:sp>
      <p:sp>
        <p:nvSpPr>
          <p:cNvPr id="19" name="Text 17"/>
          <p:cNvSpPr txBox="1"/>
          <p:nvPr/>
        </p:nvSpPr>
        <p:spPr>
          <a:xfrm>
            <a:off x="6309360" y="1463040"/>
            <a:ext cx="566928" cy="566928"/>
          </a:xfrm>
          <a:prstGeom prst="rect">
            <a:avLst/>
          </a:prstGeom>
          <a:noFill/>
          <a:ln/>
        </p:spPr>
        <p:txBody>
          <a:bodyPr wrap="square" lIns="0" tIns="0" rIns="0" bIns="0" rtlCol="0" anchor="ctr"/>
          <a:lstStyle/>
          <a:p>
            <a:pPr marL="0" indent="0" algn="ctr">
              <a:buNone/>
            </a:pPr>
            <a:r>
              <a:rPr lang="en-US" sz="1800" b="1" dirty="0">
                <a:solidFill>
                  <a:srgbClr val="FFFFFF"/>
                </a:solidFill>
              </a:rPr>
              <a:t>3</a:t>
            </a:r>
            <a:endParaRPr lang="en-US" sz="1800" dirty="0"/>
          </a:p>
        </p:txBody>
      </p:sp>
      <p:sp>
        <p:nvSpPr>
          <p:cNvPr id="20" name="Text 18"/>
          <p:cNvSpPr txBox="1"/>
          <p:nvPr/>
        </p:nvSpPr>
        <p:spPr>
          <a:xfrm>
            <a:off x="7040880" y="1463040"/>
            <a:ext cx="1508760" cy="566928"/>
          </a:xfrm>
          <a:prstGeom prst="rect">
            <a:avLst/>
          </a:prstGeom>
          <a:noFill/>
          <a:ln/>
        </p:spPr>
        <p:txBody>
          <a:bodyPr wrap="square" lIns="0" tIns="0" rIns="0" bIns="0" rtlCol="0" anchor="ctr"/>
          <a:lstStyle/>
          <a:p>
            <a:pPr marL="0" indent="0">
              <a:buNone/>
            </a:pPr>
            <a:r>
              <a:rPr lang="en-US" sz="1500" b="1" dirty="0">
                <a:solidFill>
                  <a:srgbClr val="7B5EA7"/>
                </a:solidFill>
              </a:rPr>
              <a:t>COMPLEX</a:t>
            </a:r>
            <a:endParaRPr lang="en-US" sz="1500" dirty="0"/>
          </a:p>
        </p:txBody>
      </p:sp>
      <p:sp>
        <p:nvSpPr>
          <p:cNvPr id="21" name="Text 19"/>
          <p:cNvSpPr txBox="1"/>
          <p:nvPr/>
        </p:nvSpPr>
        <p:spPr>
          <a:xfrm>
            <a:off x="6309360" y="2240280"/>
            <a:ext cx="2194560" cy="1645920"/>
          </a:xfrm>
          <a:prstGeom prst="rect">
            <a:avLst/>
          </a:prstGeom>
          <a:noFill/>
          <a:ln/>
        </p:spPr>
        <p:txBody>
          <a:bodyPr wrap="square" lIns="0" tIns="0" rIns="0" bIns="0" rtlCol="0" anchor="t"/>
          <a:lstStyle/>
          <a:p>
            <a:pPr marL="0" indent="0">
              <a:buNone/>
            </a:pPr>
            <a:r>
              <a:rPr lang="en-US" sz="1700" dirty="0">
                <a:solidFill>
                  <a:srgbClr val="0A3D4A"/>
                </a:solidFill>
              </a:rPr>
              <a:t>Sea turtles return to beaches </a:t>
            </a:r>
            <a:r>
              <a:rPr lang="en-US" sz="1700" b="1" dirty="0">
                <a:solidFill>
                  <a:srgbClr val="0A3D4A"/>
                </a:solidFill>
              </a:rPr>
              <a:t>because</a:t>
            </a:r>
            <a:r>
              <a:rPr lang="en-US" sz="1700" dirty="0">
                <a:solidFill>
                  <a:srgbClr val="0A3D4A"/>
                </a:solidFill>
              </a:rPr>
              <a:t> they need to lay their eggs.</a:t>
            </a:r>
            <a:endParaRPr lang="en-US" sz="1700" dirty="0"/>
          </a:p>
        </p:txBody>
      </p:sp>
      <p:sp>
        <p:nvSpPr>
          <p:cNvPr id="22" name="Shape 20"/>
          <p:cNvSpPr/>
          <p:nvPr/>
        </p:nvSpPr>
        <p:spPr>
          <a:xfrm>
            <a:off x="92765" y="4114800"/>
            <a:ext cx="8594035" cy="594360"/>
          </a:xfrm>
          <a:prstGeom prst="roundRect">
            <a:avLst>
              <a:gd name="adj" fmla="val 23077"/>
            </a:avLst>
          </a:prstGeom>
          <a:solidFill>
            <a:srgbClr val="0A3D4A"/>
          </a:solidFill>
          <a:ln/>
          <a:effectLst>
            <a:outerShdw blurRad="76200" dist="25400" dir="5400000" algn="bl" rotWithShape="0">
              <a:srgbClr val="000000">
                <a:alpha val="15000"/>
              </a:srgbClr>
            </a:outerShdw>
          </a:effectLst>
        </p:spPr>
      </p:sp>
      <p:sp>
        <p:nvSpPr>
          <p:cNvPr id="23" name="Text 21"/>
          <p:cNvSpPr txBox="1"/>
          <p:nvPr/>
        </p:nvSpPr>
        <p:spPr>
          <a:xfrm>
            <a:off x="198783" y="4114800"/>
            <a:ext cx="8350857" cy="594360"/>
          </a:xfrm>
          <a:prstGeom prst="rect">
            <a:avLst/>
          </a:prstGeom>
          <a:noFill/>
          <a:ln/>
        </p:spPr>
        <p:txBody>
          <a:bodyPr wrap="square" lIns="0" tIns="0" rIns="0" bIns="0" rtlCol="0" anchor="ctr"/>
          <a:lstStyle/>
          <a:p>
            <a:pPr marL="0" indent="0">
              <a:buNone/>
            </a:pPr>
            <a:r>
              <a:rPr lang="en-US" b="1" dirty="0">
                <a:solidFill>
                  <a:srgbClr val="FFC857"/>
                </a:solidFill>
              </a:rPr>
              <a:t>Why use different sentence types? </a:t>
            </a:r>
          </a:p>
          <a:p>
            <a:pPr marL="0" indent="0">
              <a:buNone/>
            </a:pPr>
            <a:r>
              <a:rPr lang="en-US" b="1" dirty="0">
                <a:solidFill>
                  <a:srgbClr val="FFFFFF"/>
                </a:solidFill>
              </a:rPr>
              <a:t>To make writing more varied, precise and interesting.</a:t>
            </a:r>
            <a:endParaRPr lang="en-US"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0E7C86"/>
                </a:solidFill>
              </a:defRPr>
            </a:lvl1pPr>
          </a:lstStyle>
          <a:p>
            <a:pPr algn="l"/>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7589520" y="-914400"/>
            <a:ext cx="2377440" cy="2377440"/>
          </a:xfrm>
          <a:prstGeom prst="ellipse">
            <a:avLst/>
          </a:prstGeom>
          <a:solidFill>
            <a:srgbClr val="CDEFF1">
              <a:alpha val="80000"/>
            </a:srgbClr>
          </a:solidFill>
          <a:ln/>
        </p:spPr>
      </p:sp>
      <p:sp>
        <p:nvSpPr>
          <p:cNvPr id="3" name="Shape 1"/>
          <p:cNvSpPr/>
          <p:nvPr/>
        </p:nvSpPr>
        <p:spPr>
          <a:xfrm>
            <a:off x="-548640" y="4297680"/>
            <a:ext cx="1463040" cy="1463040"/>
          </a:xfrm>
          <a:prstGeom prst="ellipse">
            <a:avLst/>
          </a:prstGeom>
          <a:solidFill>
            <a:srgbClr val="CDEFF1">
              <a:alpha val="70000"/>
            </a:srgbClr>
          </a:solidFill>
          <a:ln/>
        </p:spPr>
      </p:sp>
      <p:sp>
        <p:nvSpPr>
          <p:cNvPr id="4" name="Shape 2"/>
          <p:cNvSpPr/>
          <p:nvPr/>
        </p:nvSpPr>
        <p:spPr>
          <a:xfrm>
            <a:off x="457200" y="292608"/>
            <a:ext cx="658368" cy="658368"/>
          </a:xfrm>
          <a:prstGeom prst="ellipse">
            <a:avLst/>
          </a:prstGeom>
          <a:solidFill>
            <a:srgbClr val="FF6B5E"/>
          </a:solidFill>
          <a:ln/>
        </p:spPr>
      </p:sp>
      <p:sp>
        <p:nvSpPr>
          <p:cNvPr id="5" name="Text 3"/>
          <p:cNvSpPr txBox="1"/>
          <p:nvPr/>
        </p:nvSpPr>
        <p:spPr>
          <a:xfrm>
            <a:off x="457200" y="292608"/>
            <a:ext cx="658368" cy="658368"/>
          </a:xfrm>
          <a:prstGeom prst="rect">
            <a:avLst/>
          </a:prstGeom>
          <a:noFill/>
          <a:ln/>
        </p:spPr>
        <p:txBody>
          <a:bodyPr wrap="square" lIns="0" tIns="0" rIns="0" bIns="0" rtlCol="0" anchor="ctr"/>
          <a:lstStyle/>
          <a:p>
            <a:pPr marL="0" indent="0" algn="ctr">
              <a:buNone/>
            </a:pPr>
            <a:r>
              <a:rPr lang="en-US" sz="2200" b="1" dirty="0">
                <a:solidFill>
                  <a:srgbClr val="FFFFFF"/>
                </a:solidFill>
              </a:rPr>
              <a:t>🔎</a:t>
            </a:r>
            <a:endParaRPr lang="en-US" sz="2200" dirty="0"/>
          </a:p>
        </p:txBody>
      </p:sp>
      <p:sp>
        <p:nvSpPr>
          <p:cNvPr id="6" name="Text 0"/>
          <p:cNvSpPr>
            <a:spLocks noGrp="1"/>
          </p:cNvSpPr>
          <p:nvPr>
            <p:ph type="title" idx="100" hasCustomPrompt="1"/>
          </p:nvPr>
        </p:nvSpPr>
        <p:spPr>
          <a:xfrm>
            <a:off x="1280160" y="274320"/>
            <a:ext cx="7315200" cy="685800"/>
          </a:xfrm>
          <a:prstGeom prst="rect">
            <a:avLst/>
          </a:prstGeom>
          <a:noFill/>
          <a:ln/>
        </p:spPr>
        <p:txBody>
          <a:bodyPr wrap="square" rtlCol="0" anchor="ctr"/>
          <a:lstStyle/>
          <a:p>
            <a:pPr marL="0" indent="0">
              <a:buNone/>
            </a:pPr>
            <a:r>
              <a:rPr lang="en-US" sz="2600" b="1" dirty="0">
                <a:solidFill>
                  <a:srgbClr val="0A3D4A"/>
                </a:solidFill>
              </a:rPr>
              <a:t>WHAT TYPE IS IT?</a:t>
            </a:r>
            <a:endParaRPr lang="en-US" sz="2600" dirty="0"/>
          </a:p>
        </p:txBody>
      </p:sp>
      <p:sp>
        <p:nvSpPr>
          <p:cNvPr id="7" name="Text 5"/>
          <p:cNvSpPr txBox="1"/>
          <p:nvPr/>
        </p:nvSpPr>
        <p:spPr>
          <a:xfrm>
            <a:off x="457200" y="1234440"/>
            <a:ext cx="8229600" cy="822960"/>
          </a:xfrm>
          <a:prstGeom prst="rect">
            <a:avLst/>
          </a:prstGeom>
          <a:noFill/>
          <a:ln/>
        </p:spPr>
        <p:txBody>
          <a:bodyPr wrap="square" lIns="0" tIns="0" rIns="0" bIns="0" rtlCol="0" anchor="t"/>
          <a:lstStyle/>
          <a:p>
            <a:pPr marL="0" indent="0">
              <a:buNone/>
            </a:pPr>
            <a:r>
              <a:rPr lang="en-US" sz="2200" b="1" dirty="0">
                <a:solidFill>
                  <a:srgbClr val="0A3D4A"/>
                </a:solidFill>
              </a:rPr>
              <a:t>Sea turtles return to beaches because they need to lay their eggs.</a:t>
            </a:r>
            <a:endParaRPr lang="en-US" sz="2200" dirty="0"/>
          </a:p>
        </p:txBody>
      </p:sp>
      <p:sp>
        <p:nvSpPr>
          <p:cNvPr id="8" name="Shape 6"/>
          <p:cNvSpPr/>
          <p:nvPr/>
        </p:nvSpPr>
        <p:spPr>
          <a:xfrm>
            <a:off x="457200" y="2148840"/>
            <a:ext cx="4023360" cy="1234440"/>
          </a:xfrm>
          <a:prstGeom prst="roundRect">
            <a:avLst>
              <a:gd name="adj" fmla="val 11111"/>
            </a:avLst>
          </a:prstGeom>
          <a:solidFill>
            <a:srgbClr val="FFFFFF"/>
          </a:solidFill>
          <a:ln/>
          <a:effectLst>
            <a:outerShdw blurRad="76200" dist="25400" dir="5400000" algn="bl" rotWithShape="0">
              <a:srgbClr val="000000">
                <a:alpha val="15000"/>
              </a:srgbClr>
            </a:outerShdw>
          </a:effectLst>
        </p:spPr>
      </p:sp>
      <p:sp>
        <p:nvSpPr>
          <p:cNvPr id="9" name="Shape 7"/>
          <p:cNvSpPr/>
          <p:nvPr/>
        </p:nvSpPr>
        <p:spPr>
          <a:xfrm>
            <a:off x="640080" y="2491740"/>
            <a:ext cx="548640" cy="548640"/>
          </a:xfrm>
          <a:prstGeom prst="ellipse">
            <a:avLst/>
          </a:prstGeom>
          <a:solidFill>
            <a:srgbClr val="FF6B5E"/>
          </a:solidFill>
          <a:ln/>
        </p:spPr>
      </p:sp>
      <p:sp>
        <p:nvSpPr>
          <p:cNvPr id="10" name="Text 8"/>
          <p:cNvSpPr txBox="1"/>
          <p:nvPr/>
        </p:nvSpPr>
        <p:spPr>
          <a:xfrm>
            <a:off x="640080" y="249174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rPr>
              <a:t>A</a:t>
            </a:r>
            <a:endParaRPr lang="en-US" sz="2000" dirty="0"/>
          </a:p>
        </p:txBody>
      </p:sp>
      <p:sp>
        <p:nvSpPr>
          <p:cNvPr id="11" name="Text 9"/>
          <p:cNvSpPr txBox="1"/>
          <p:nvPr/>
        </p:nvSpPr>
        <p:spPr>
          <a:xfrm>
            <a:off x="1371600" y="2221992"/>
            <a:ext cx="2971800" cy="1088136"/>
          </a:xfrm>
          <a:prstGeom prst="rect">
            <a:avLst/>
          </a:prstGeom>
          <a:noFill/>
          <a:ln/>
        </p:spPr>
        <p:txBody>
          <a:bodyPr wrap="square" lIns="0" tIns="0" rIns="0" bIns="0" rtlCol="0" anchor="ctr"/>
          <a:lstStyle/>
          <a:p>
            <a:pPr marL="0" indent="0">
              <a:buNone/>
            </a:pPr>
            <a:r>
              <a:rPr lang="en-US" sz="1600" dirty="0">
                <a:solidFill>
                  <a:srgbClr val="0A3D4A"/>
                </a:solidFill>
              </a:rPr>
              <a:t>Simple</a:t>
            </a:r>
            <a:endParaRPr lang="en-US" sz="1600" dirty="0"/>
          </a:p>
        </p:txBody>
      </p:sp>
      <p:sp>
        <p:nvSpPr>
          <p:cNvPr id="12" name="Shape 10"/>
          <p:cNvSpPr/>
          <p:nvPr/>
        </p:nvSpPr>
        <p:spPr>
          <a:xfrm>
            <a:off x="4663440" y="2148840"/>
            <a:ext cx="4023360" cy="1234440"/>
          </a:xfrm>
          <a:prstGeom prst="roundRect">
            <a:avLst>
              <a:gd name="adj" fmla="val 11111"/>
            </a:avLst>
          </a:prstGeom>
          <a:solidFill>
            <a:srgbClr val="FFFFFF"/>
          </a:solidFill>
          <a:ln/>
          <a:effectLst>
            <a:outerShdw blurRad="76200" dist="25400" dir="5400000" algn="bl" rotWithShape="0">
              <a:srgbClr val="000000">
                <a:alpha val="15000"/>
              </a:srgbClr>
            </a:outerShdw>
          </a:effectLst>
        </p:spPr>
      </p:sp>
      <p:sp>
        <p:nvSpPr>
          <p:cNvPr id="13" name="Shape 11"/>
          <p:cNvSpPr/>
          <p:nvPr/>
        </p:nvSpPr>
        <p:spPr>
          <a:xfrm>
            <a:off x="4846320" y="2491740"/>
            <a:ext cx="548640" cy="548640"/>
          </a:xfrm>
          <a:prstGeom prst="ellipse">
            <a:avLst/>
          </a:prstGeom>
          <a:solidFill>
            <a:srgbClr val="0E7C86"/>
          </a:solidFill>
          <a:ln/>
        </p:spPr>
      </p:sp>
      <p:sp>
        <p:nvSpPr>
          <p:cNvPr id="14" name="Text 12"/>
          <p:cNvSpPr txBox="1"/>
          <p:nvPr/>
        </p:nvSpPr>
        <p:spPr>
          <a:xfrm>
            <a:off x="4846320" y="249174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rPr>
              <a:t>B</a:t>
            </a:r>
            <a:endParaRPr lang="en-US" sz="2000" dirty="0"/>
          </a:p>
        </p:txBody>
      </p:sp>
      <p:sp>
        <p:nvSpPr>
          <p:cNvPr id="15" name="Text 13"/>
          <p:cNvSpPr txBox="1"/>
          <p:nvPr/>
        </p:nvSpPr>
        <p:spPr>
          <a:xfrm>
            <a:off x="5577840" y="2221992"/>
            <a:ext cx="2971800" cy="1088136"/>
          </a:xfrm>
          <a:prstGeom prst="rect">
            <a:avLst/>
          </a:prstGeom>
          <a:noFill/>
          <a:ln/>
        </p:spPr>
        <p:txBody>
          <a:bodyPr wrap="square" lIns="0" tIns="0" rIns="0" bIns="0" rtlCol="0" anchor="ctr"/>
          <a:lstStyle/>
          <a:p>
            <a:pPr marL="0" indent="0">
              <a:buNone/>
            </a:pPr>
            <a:r>
              <a:rPr lang="en-US" sz="1600" dirty="0">
                <a:solidFill>
                  <a:srgbClr val="0A3D4A"/>
                </a:solidFill>
              </a:rPr>
              <a:t>Compound</a:t>
            </a:r>
            <a:endParaRPr lang="en-US" sz="1600" dirty="0"/>
          </a:p>
        </p:txBody>
      </p:sp>
      <p:sp>
        <p:nvSpPr>
          <p:cNvPr id="16" name="Shape 14"/>
          <p:cNvSpPr/>
          <p:nvPr/>
        </p:nvSpPr>
        <p:spPr>
          <a:xfrm>
            <a:off x="457200" y="3520440"/>
            <a:ext cx="4023360" cy="1234440"/>
          </a:xfrm>
          <a:prstGeom prst="roundRect">
            <a:avLst>
              <a:gd name="adj" fmla="val 11111"/>
            </a:avLst>
          </a:prstGeom>
          <a:solidFill>
            <a:srgbClr val="FFFFFF"/>
          </a:solidFill>
          <a:ln/>
          <a:effectLst>
            <a:outerShdw blurRad="76200" dist="25400" dir="5400000" algn="bl" rotWithShape="0">
              <a:srgbClr val="000000">
                <a:alpha val="15000"/>
              </a:srgbClr>
            </a:outerShdw>
          </a:effectLst>
        </p:spPr>
      </p:sp>
      <p:sp>
        <p:nvSpPr>
          <p:cNvPr id="17" name="Shape 15"/>
          <p:cNvSpPr/>
          <p:nvPr/>
        </p:nvSpPr>
        <p:spPr>
          <a:xfrm>
            <a:off x="640080" y="3863340"/>
            <a:ext cx="548640" cy="548640"/>
          </a:xfrm>
          <a:prstGeom prst="ellipse">
            <a:avLst/>
          </a:prstGeom>
          <a:solidFill>
            <a:srgbClr val="3A86C8"/>
          </a:solidFill>
          <a:ln/>
        </p:spPr>
      </p:sp>
      <p:sp>
        <p:nvSpPr>
          <p:cNvPr id="18" name="Text 16"/>
          <p:cNvSpPr txBox="1"/>
          <p:nvPr/>
        </p:nvSpPr>
        <p:spPr>
          <a:xfrm>
            <a:off x="640080" y="386334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rPr>
              <a:t>C</a:t>
            </a:r>
            <a:endParaRPr lang="en-US" sz="2000" dirty="0"/>
          </a:p>
        </p:txBody>
      </p:sp>
      <p:sp>
        <p:nvSpPr>
          <p:cNvPr id="19" name="Text 17"/>
          <p:cNvSpPr txBox="1"/>
          <p:nvPr/>
        </p:nvSpPr>
        <p:spPr>
          <a:xfrm>
            <a:off x="1371600" y="3593592"/>
            <a:ext cx="2971800" cy="1088136"/>
          </a:xfrm>
          <a:prstGeom prst="rect">
            <a:avLst/>
          </a:prstGeom>
          <a:noFill/>
          <a:ln/>
        </p:spPr>
        <p:txBody>
          <a:bodyPr wrap="square" lIns="0" tIns="0" rIns="0" bIns="0" rtlCol="0" anchor="ctr"/>
          <a:lstStyle/>
          <a:p>
            <a:pPr marL="0" indent="0">
              <a:buNone/>
            </a:pPr>
            <a:r>
              <a:rPr lang="en-US" sz="1600" dirty="0">
                <a:solidFill>
                  <a:srgbClr val="0A3D4A"/>
                </a:solidFill>
              </a:rPr>
              <a:t>Complex</a:t>
            </a:r>
            <a:endParaRPr lang="en-US" sz="1600" dirty="0"/>
          </a:p>
        </p:txBody>
      </p:sp>
      <p:sp>
        <p:nvSpPr>
          <p:cNvPr id="20" name="Shape 18"/>
          <p:cNvSpPr/>
          <p:nvPr/>
        </p:nvSpPr>
        <p:spPr>
          <a:xfrm>
            <a:off x="4663440" y="3520440"/>
            <a:ext cx="4023360" cy="1234440"/>
          </a:xfrm>
          <a:prstGeom prst="roundRect">
            <a:avLst>
              <a:gd name="adj" fmla="val 11111"/>
            </a:avLst>
          </a:prstGeom>
          <a:solidFill>
            <a:srgbClr val="FFFFFF"/>
          </a:solidFill>
          <a:ln/>
          <a:effectLst>
            <a:outerShdw blurRad="76200" dist="25400" dir="5400000" algn="bl" rotWithShape="0">
              <a:srgbClr val="000000">
                <a:alpha val="15000"/>
              </a:srgbClr>
            </a:outerShdw>
          </a:effectLst>
        </p:spPr>
      </p:sp>
      <p:sp>
        <p:nvSpPr>
          <p:cNvPr id="21" name="Shape 19"/>
          <p:cNvSpPr/>
          <p:nvPr/>
        </p:nvSpPr>
        <p:spPr>
          <a:xfrm>
            <a:off x="4846320" y="3863340"/>
            <a:ext cx="548640" cy="548640"/>
          </a:xfrm>
          <a:prstGeom prst="ellipse">
            <a:avLst/>
          </a:prstGeom>
          <a:solidFill>
            <a:srgbClr val="7B5EA7"/>
          </a:solidFill>
          <a:ln/>
        </p:spPr>
      </p:sp>
      <p:sp>
        <p:nvSpPr>
          <p:cNvPr id="22" name="Text 20"/>
          <p:cNvSpPr txBox="1"/>
          <p:nvPr/>
        </p:nvSpPr>
        <p:spPr>
          <a:xfrm>
            <a:off x="4846320" y="386334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rPr>
              <a:t>D</a:t>
            </a:r>
            <a:endParaRPr lang="en-US" sz="2000" dirty="0"/>
          </a:p>
        </p:txBody>
      </p:sp>
      <p:sp>
        <p:nvSpPr>
          <p:cNvPr id="23" name="Text 21"/>
          <p:cNvSpPr txBox="1"/>
          <p:nvPr/>
        </p:nvSpPr>
        <p:spPr>
          <a:xfrm>
            <a:off x="5577840" y="3593592"/>
            <a:ext cx="2971800" cy="1088136"/>
          </a:xfrm>
          <a:prstGeom prst="rect">
            <a:avLst/>
          </a:prstGeom>
          <a:noFill/>
          <a:ln/>
        </p:spPr>
        <p:txBody>
          <a:bodyPr wrap="square" lIns="0" tIns="0" rIns="0" bIns="0" rtlCol="0" anchor="ctr"/>
          <a:lstStyle/>
          <a:p>
            <a:pPr marL="0" indent="0">
              <a:buNone/>
            </a:pPr>
            <a:r>
              <a:rPr lang="en-US" sz="1600" dirty="0">
                <a:solidFill>
                  <a:srgbClr val="0A3D4A"/>
                </a:solidFill>
              </a:rPr>
              <a:t>Fragment</a:t>
            </a:r>
            <a:endParaRPr lang="en-US" sz="16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0E7C86"/>
                </a:solidFill>
              </a:defRPr>
            </a:lvl1pPr>
          </a:lstStyle>
          <a:p>
            <a:pPr algn="l"/>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7589520" y="-914400"/>
            <a:ext cx="2377440" cy="2377440"/>
          </a:xfrm>
          <a:prstGeom prst="ellipse">
            <a:avLst/>
          </a:prstGeom>
          <a:solidFill>
            <a:srgbClr val="CDEFF1">
              <a:alpha val="80000"/>
            </a:srgbClr>
          </a:solidFill>
          <a:ln/>
        </p:spPr>
      </p:sp>
      <p:sp>
        <p:nvSpPr>
          <p:cNvPr id="3" name="Shape 1"/>
          <p:cNvSpPr/>
          <p:nvPr/>
        </p:nvSpPr>
        <p:spPr>
          <a:xfrm>
            <a:off x="-548640" y="4297680"/>
            <a:ext cx="1463040" cy="1463040"/>
          </a:xfrm>
          <a:prstGeom prst="ellipse">
            <a:avLst/>
          </a:prstGeom>
          <a:solidFill>
            <a:srgbClr val="CDEFF1">
              <a:alpha val="70000"/>
            </a:srgbClr>
          </a:solidFill>
          <a:ln/>
        </p:spPr>
      </p:sp>
      <p:sp>
        <p:nvSpPr>
          <p:cNvPr id="4" name="Shape 2"/>
          <p:cNvSpPr/>
          <p:nvPr/>
        </p:nvSpPr>
        <p:spPr>
          <a:xfrm>
            <a:off x="457200" y="292608"/>
            <a:ext cx="658368" cy="658368"/>
          </a:xfrm>
          <a:prstGeom prst="ellipse">
            <a:avLst/>
          </a:prstGeom>
          <a:solidFill>
            <a:srgbClr val="2BB673"/>
          </a:solidFill>
          <a:ln/>
        </p:spPr>
      </p:sp>
      <p:sp>
        <p:nvSpPr>
          <p:cNvPr id="5" name="Text 3"/>
          <p:cNvSpPr txBox="1"/>
          <p:nvPr/>
        </p:nvSpPr>
        <p:spPr>
          <a:xfrm>
            <a:off x="457200" y="292608"/>
            <a:ext cx="658368" cy="658368"/>
          </a:xfrm>
          <a:prstGeom prst="rect">
            <a:avLst/>
          </a:prstGeom>
          <a:noFill/>
          <a:ln/>
        </p:spPr>
        <p:txBody>
          <a:bodyPr wrap="square" lIns="0" tIns="0" rIns="0" bIns="0" rtlCol="0" anchor="ctr"/>
          <a:lstStyle/>
          <a:p>
            <a:pPr marL="0" indent="0" algn="ctr">
              <a:buNone/>
            </a:pPr>
            <a:r>
              <a:rPr lang="en-US" sz="2200" b="1" dirty="0">
                <a:solidFill>
                  <a:srgbClr val="FFFFFF"/>
                </a:solidFill>
              </a:rPr>
              <a:t>✅</a:t>
            </a:r>
            <a:endParaRPr lang="en-US" sz="2200" dirty="0"/>
          </a:p>
        </p:txBody>
      </p:sp>
      <p:sp>
        <p:nvSpPr>
          <p:cNvPr id="6" name="Text 0"/>
          <p:cNvSpPr>
            <a:spLocks noGrp="1"/>
          </p:cNvSpPr>
          <p:nvPr>
            <p:ph type="title" idx="100" hasCustomPrompt="1"/>
          </p:nvPr>
        </p:nvSpPr>
        <p:spPr>
          <a:xfrm>
            <a:off x="1280160" y="274320"/>
            <a:ext cx="7315200" cy="685800"/>
          </a:xfrm>
          <a:prstGeom prst="rect">
            <a:avLst/>
          </a:prstGeom>
          <a:noFill/>
          <a:ln/>
        </p:spPr>
        <p:txBody>
          <a:bodyPr wrap="square" rtlCol="0" anchor="ctr"/>
          <a:lstStyle/>
          <a:p>
            <a:pPr marL="0" indent="0">
              <a:buNone/>
            </a:pPr>
            <a:r>
              <a:rPr lang="en-US" sz="2600" b="1" dirty="0">
                <a:solidFill>
                  <a:srgbClr val="0A3D4A"/>
                </a:solidFill>
              </a:rPr>
              <a:t>ANSWER</a:t>
            </a:r>
            <a:endParaRPr lang="en-US" sz="2600" dirty="0"/>
          </a:p>
        </p:txBody>
      </p:sp>
      <p:sp>
        <p:nvSpPr>
          <p:cNvPr id="7" name="Shape 5"/>
          <p:cNvSpPr/>
          <p:nvPr/>
        </p:nvSpPr>
        <p:spPr>
          <a:xfrm>
            <a:off x="457200" y="1234440"/>
            <a:ext cx="8229600" cy="1325880"/>
          </a:xfrm>
          <a:prstGeom prst="roundRect">
            <a:avLst>
              <a:gd name="adj" fmla="val 10345"/>
            </a:avLst>
          </a:prstGeom>
          <a:solidFill>
            <a:srgbClr val="FFFFFF"/>
          </a:solidFill>
          <a:ln/>
          <a:effectLst>
            <a:outerShdw blurRad="76200" dist="25400" dir="5400000" algn="bl" rotWithShape="0">
              <a:srgbClr val="000000">
                <a:alpha val="15000"/>
              </a:srgbClr>
            </a:outerShdw>
          </a:effectLst>
        </p:spPr>
      </p:sp>
      <p:sp>
        <p:nvSpPr>
          <p:cNvPr id="8" name="Shape 6"/>
          <p:cNvSpPr/>
          <p:nvPr/>
        </p:nvSpPr>
        <p:spPr>
          <a:xfrm>
            <a:off x="731520" y="1435608"/>
            <a:ext cx="914400" cy="914400"/>
          </a:xfrm>
          <a:prstGeom prst="ellipse">
            <a:avLst/>
          </a:prstGeom>
          <a:solidFill>
            <a:srgbClr val="2BB673"/>
          </a:solidFill>
          <a:ln/>
        </p:spPr>
      </p:sp>
      <p:sp>
        <p:nvSpPr>
          <p:cNvPr id="9" name="Text 7"/>
          <p:cNvSpPr txBox="1"/>
          <p:nvPr/>
        </p:nvSpPr>
        <p:spPr>
          <a:xfrm>
            <a:off x="731520" y="1435608"/>
            <a:ext cx="914400" cy="914400"/>
          </a:xfrm>
          <a:prstGeom prst="rect">
            <a:avLst/>
          </a:prstGeom>
          <a:noFill/>
          <a:ln/>
        </p:spPr>
        <p:txBody>
          <a:bodyPr wrap="square" lIns="0" tIns="0" rIns="0" bIns="0" rtlCol="0" anchor="ctr"/>
          <a:lstStyle/>
          <a:p>
            <a:pPr marL="0" indent="0" algn="ctr">
              <a:buNone/>
            </a:pPr>
            <a:r>
              <a:rPr lang="en-US" sz="2800" b="1" dirty="0">
                <a:solidFill>
                  <a:srgbClr val="FFFFFF"/>
                </a:solidFill>
              </a:rPr>
              <a:t>C</a:t>
            </a:r>
            <a:endParaRPr lang="en-US" sz="4000" dirty="0"/>
          </a:p>
        </p:txBody>
      </p:sp>
      <p:sp>
        <p:nvSpPr>
          <p:cNvPr id="10" name="Text 8"/>
          <p:cNvSpPr txBox="1"/>
          <p:nvPr/>
        </p:nvSpPr>
        <p:spPr>
          <a:xfrm>
            <a:off x="1920240" y="1234440"/>
            <a:ext cx="6583680" cy="1325880"/>
          </a:xfrm>
          <a:prstGeom prst="rect">
            <a:avLst/>
          </a:prstGeom>
          <a:noFill/>
          <a:ln/>
        </p:spPr>
        <p:txBody>
          <a:bodyPr wrap="square" lIns="0" tIns="0" rIns="0" bIns="0" rtlCol="0" anchor="ctr"/>
          <a:lstStyle/>
          <a:p>
            <a:pPr marL="0" indent="0">
              <a:buNone/>
            </a:pPr>
            <a:r>
              <a:rPr lang="en-US" sz="2000" b="1" dirty="0">
                <a:solidFill>
                  <a:srgbClr val="0A3D4A"/>
                </a:solidFill>
              </a:rPr>
              <a:t>Complex</a:t>
            </a:r>
            <a:endParaRPr lang="en-US" sz="2400" dirty="0"/>
          </a:p>
        </p:txBody>
      </p:sp>
      <p:sp>
        <p:nvSpPr>
          <p:cNvPr id="11" name="Text 9"/>
          <p:cNvSpPr txBox="1"/>
          <p:nvPr/>
        </p:nvSpPr>
        <p:spPr>
          <a:xfrm>
            <a:off x="548640" y="2697480"/>
            <a:ext cx="8046720" cy="1920240"/>
          </a:xfrm>
          <a:prstGeom prst="rect">
            <a:avLst/>
          </a:prstGeom>
          <a:noFill/>
          <a:ln/>
        </p:spPr>
        <p:txBody>
          <a:bodyPr wrap="square" lIns="0" tIns="0" rIns="0" bIns="0" rtlCol="0" anchor="t"/>
          <a:lstStyle/>
          <a:p>
            <a:pPr marL="0" indent="0">
              <a:spcAft>
                <a:spcPts val="300"/>
              </a:spcAft>
              <a:buNone/>
            </a:pPr>
            <a:r>
              <a:rPr lang="en-US" sz="2000" b="1" dirty="0">
                <a:solidFill>
                  <a:srgbClr val="0A3D4A"/>
                </a:solidFill>
              </a:rPr>
              <a:t>It contains:</a:t>
            </a:r>
          </a:p>
          <a:p>
            <a:pPr marL="0" indent="0">
              <a:spcAft>
                <a:spcPts val="300"/>
              </a:spcAft>
              <a:buNone/>
            </a:pPr>
            <a:r>
              <a:rPr lang="en-US" sz="2000" dirty="0">
                <a:solidFill>
                  <a:srgbClr val="0A3D4A"/>
                </a:solidFill>
              </a:rPr>
              <a:t>
</a:t>
            </a:r>
            <a:r>
              <a:rPr lang="en-US" sz="2000" b="1" dirty="0">
                <a:solidFill>
                  <a:srgbClr val="0A3D4A"/>
                </a:solidFill>
              </a:rPr>
              <a:t>Main idea:</a:t>
            </a:r>
            <a:r>
              <a:rPr lang="en-US" sz="2000" dirty="0">
                <a:solidFill>
                  <a:srgbClr val="0A3D4A"/>
                </a:solidFill>
              </a:rPr>
              <a:t> Sea turtles return to beaches
</a:t>
            </a:r>
            <a:r>
              <a:rPr lang="en-US" sz="2000" b="1" dirty="0">
                <a:solidFill>
                  <a:srgbClr val="0A3D4A"/>
                </a:solidFill>
              </a:rPr>
              <a:t>Dependent clause:</a:t>
            </a:r>
            <a:r>
              <a:rPr lang="en-US" sz="2000" dirty="0">
                <a:solidFill>
                  <a:srgbClr val="0A3D4A"/>
                </a:solidFill>
              </a:rPr>
              <a:t> because they need to lay their eggs.</a:t>
            </a:r>
            <a:endParaRPr lang="en-US" sz="20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0E7C86"/>
                </a:solidFill>
              </a:defRPr>
            </a:lvl1pPr>
          </a:lstStyle>
          <a:p>
            <a:pPr algn="l"/>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7589520" y="-914400"/>
            <a:ext cx="2377440" cy="2377440"/>
          </a:xfrm>
          <a:prstGeom prst="ellipse">
            <a:avLst/>
          </a:prstGeom>
          <a:solidFill>
            <a:srgbClr val="CDEFF1">
              <a:alpha val="80000"/>
            </a:srgbClr>
          </a:solidFill>
          <a:ln/>
        </p:spPr>
      </p:sp>
      <p:sp>
        <p:nvSpPr>
          <p:cNvPr id="3" name="Shape 1"/>
          <p:cNvSpPr/>
          <p:nvPr/>
        </p:nvSpPr>
        <p:spPr>
          <a:xfrm>
            <a:off x="-548640" y="4297680"/>
            <a:ext cx="1463040" cy="1463040"/>
          </a:xfrm>
          <a:prstGeom prst="ellipse">
            <a:avLst/>
          </a:prstGeom>
          <a:solidFill>
            <a:srgbClr val="CDEFF1">
              <a:alpha val="70000"/>
            </a:srgbClr>
          </a:solidFill>
          <a:ln/>
        </p:spPr>
      </p:sp>
      <p:sp>
        <p:nvSpPr>
          <p:cNvPr id="4" name="Shape 2"/>
          <p:cNvSpPr/>
          <p:nvPr/>
        </p:nvSpPr>
        <p:spPr>
          <a:xfrm>
            <a:off x="457200" y="292608"/>
            <a:ext cx="658368" cy="658368"/>
          </a:xfrm>
          <a:prstGeom prst="ellipse">
            <a:avLst/>
          </a:prstGeom>
          <a:solidFill>
            <a:srgbClr val="FF6B5E"/>
          </a:solidFill>
          <a:ln/>
        </p:spPr>
      </p:sp>
      <p:sp>
        <p:nvSpPr>
          <p:cNvPr id="5" name="Text 3"/>
          <p:cNvSpPr txBox="1"/>
          <p:nvPr/>
        </p:nvSpPr>
        <p:spPr>
          <a:xfrm>
            <a:off x="457200" y="292608"/>
            <a:ext cx="658368" cy="658368"/>
          </a:xfrm>
          <a:prstGeom prst="rect">
            <a:avLst/>
          </a:prstGeom>
          <a:noFill/>
          <a:ln/>
        </p:spPr>
        <p:txBody>
          <a:bodyPr wrap="square" lIns="0" tIns="0" rIns="0" bIns="0" rtlCol="0" anchor="ctr"/>
          <a:lstStyle/>
          <a:p>
            <a:pPr marL="0" indent="0" algn="ctr">
              <a:buNone/>
            </a:pPr>
            <a:r>
              <a:rPr lang="en-US" sz="2200" b="1" dirty="0">
                <a:solidFill>
                  <a:srgbClr val="FFFFFF"/>
                </a:solidFill>
              </a:rPr>
              <a:t>🔗</a:t>
            </a:r>
            <a:endParaRPr lang="en-US" sz="2200" dirty="0"/>
          </a:p>
        </p:txBody>
      </p:sp>
      <p:sp>
        <p:nvSpPr>
          <p:cNvPr id="6" name="Text 0"/>
          <p:cNvSpPr>
            <a:spLocks noGrp="1"/>
          </p:cNvSpPr>
          <p:nvPr>
            <p:ph type="title" idx="100" hasCustomPrompt="1"/>
          </p:nvPr>
        </p:nvSpPr>
        <p:spPr>
          <a:xfrm>
            <a:off x="1280160" y="274320"/>
            <a:ext cx="7315200" cy="685800"/>
          </a:xfrm>
          <a:prstGeom prst="rect">
            <a:avLst/>
          </a:prstGeom>
          <a:noFill/>
          <a:ln/>
        </p:spPr>
        <p:txBody>
          <a:bodyPr wrap="square" rtlCol="0" anchor="ctr"/>
          <a:lstStyle/>
          <a:p>
            <a:pPr marL="0" indent="0">
              <a:buNone/>
            </a:pPr>
            <a:r>
              <a:rPr lang="en-US" sz="2600" b="1" dirty="0">
                <a:solidFill>
                  <a:srgbClr val="0A3D4A"/>
                </a:solidFill>
              </a:rPr>
              <a:t>REPORT WRITERS CONNECT IDEAS</a:t>
            </a:r>
            <a:endParaRPr lang="en-US" sz="2600" dirty="0"/>
          </a:p>
        </p:txBody>
      </p:sp>
      <p:sp>
        <p:nvSpPr>
          <p:cNvPr id="7" name="Text 5"/>
          <p:cNvSpPr txBox="1"/>
          <p:nvPr/>
        </p:nvSpPr>
        <p:spPr>
          <a:xfrm>
            <a:off x="457200" y="914400"/>
            <a:ext cx="8229600" cy="274320"/>
          </a:xfrm>
          <a:prstGeom prst="rect">
            <a:avLst/>
          </a:prstGeom>
          <a:noFill/>
          <a:ln/>
        </p:spPr>
        <p:txBody>
          <a:bodyPr wrap="square" lIns="0" tIns="0" rIns="0" bIns="0" rtlCol="0" anchor="t"/>
          <a:lstStyle/>
          <a:p>
            <a:pPr marL="0" indent="0">
              <a:buNone/>
            </a:pPr>
            <a:r>
              <a:rPr lang="en-US" b="1" i="1" dirty="0">
                <a:solidFill>
                  <a:srgbClr val="4A6B73"/>
                </a:solidFill>
              </a:rPr>
              <a:t>Look at these two sentences:</a:t>
            </a:r>
            <a:endParaRPr lang="en-US" b="1" dirty="0"/>
          </a:p>
        </p:txBody>
      </p:sp>
      <p:sp>
        <p:nvSpPr>
          <p:cNvPr id="8" name="Shape 6"/>
          <p:cNvSpPr/>
          <p:nvPr/>
        </p:nvSpPr>
        <p:spPr>
          <a:xfrm>
            <a:off x="457200" y="1234440"/>
            <a:ext cx="8229600" cy="640080"/>
          </a:xfrm>
          <a:prstGeom prst="roundRect">
            <a:avLst>
              <a:gd name="adj" fmla="val 21429"/>
            </a:avLst>
          </a:prstGeom>
          <a:solidFill>
            <a:srgbClr val="FFFFFF"/>
          </a:solidFill>
          <a:ln/>
          <a:effectLst>
            <a:outerShdw blurRad="76200" dist="25400" dir="5400000" algn="bl" rotWithShape="0">
              <a:srgbClr val="000000">
                <a:alpha val="15000"/>
              </a:srgbClr>
            </a:outerShdw>
          </a:effectLst>
        </p:spPr>
      </p:sp>
      <p:sp>
        <p:nvSpPr>
          <p:cNvPr id="9" name="Text 7"/>
          <p:cNvSpPr txBox="1"/>
          <p:nvPr/>
        </p:nvSpPr>
        <p:spPr>
          <a:xfrm>
            <a:off x="731520" y="1234440"/>
            <a:ext cx="7680960" cy="640080"/>
          </a:xfrm>
          <a:prstGeom prst="rect">
            <a:avLst/>
          </a:prstGeom>
          <a:noFill/>
          <a:ln/>
        </p:spPr>
        <p:txBody>
          <a:bodyPr wrap="square" lIns="0" tIns="0" rIns="0" bIns="0" rtlCol="0" anchor="ctr"/>
          <a:lstStyle/>
          <a:p>
            <a:pPr marL="0" indent="0">
              <a:buNone/>
            </a:pPr>
            <a:r>
              <a:rPr lang="en-US" sz="1600" b="1" dirty="0">
                <a:solidFill>
                  <a:srgbClr val="0A3D4A"/>
                </a:solidFill>
              </a:rPr>
              <a:t>Sea turtles face several threats. Plastic pollution is dangerous.</a:t>
            </a:r>
            <a:endParaRPr lang="en-US" sz="1600" dirty="0"/>
          </a:p>
        </p:txBody>
      </p:sp>
      <p:sp>
        <p:nvSpPr>
          <p:cNvPr id="10" name="Text 8"/>
          <p:cNvSpPr txBox="1"/>
          <p:nvPr/>
        </p:nvSpPr>
        <p:spPr>
          <a:xfrm>
            <a:off x="457200" y="1965960"/>
            <a:ext cx="8229600" cy="274320"/>
          </a:xfrm>
          <a:prstGeom prst="rect">
            <a:avLst/>
          </a:prstGeom>
          <a:noFill/>
          <a:ln/>
        </p:spPr>
        <p:txBody>
          <a:bodyPr wrap="square" lIns="0" tIns="0" rIns="0" bIns="0" rtlCol="0" anchor="t"/>
          <a:lstStyle/>
          <a:p>
            <a:pPr marL="0" indent="0">
              <a:buNone/>
            </a:pPr>
            <a:r>
              <a:rPr lang="en-US" i="1" dirty="0">
                <a:solidFill>
                  <a:srgbClr val="4A6B73"/>
                </a:solidFill>
              </a:rPr>
              <a:t>We can connect them:</a:t>
            </a:r>
            <a:endParaRPr lang="en-US" dirty="0"/>
          </a:p>
        </p:txBody>
      </p:sp>
      <p:sp>
        <p:nvSpPr>
          <p:cNvPr id="11" name="Shape 9"/>
          <p:cNvSpPr/>
          <p:nvPr/>
        </p:nvSpPr>
        <p:spPr>
          <a:xfrm>
            <a:off x="457200" y="2286000"/>
            <a:ext cx="8229600" cy="530352"/>
          </a:xfrm>
          <a:prstGeom prst="roundRect">
            <a:avLst>
              <a:gd name="adj" fmla="val 25862"/>
            </a:avLst>
          </a:prstGeom>
          <a:solidFill>
            <a:srgbClr val="FFFFFF"/>
          </a:solidFill>
          <a:ln/>
          <a:effectLst>
            <a:outerShdw blurRad="76200" dist="25400" dir="5400000" algn="bl" rotWithShape="0">
              <a:srgbClr val="000000">
                <a:alpha val="15000"/>
              </a:srgbClr>
            </a:outerShdw>
          </a:effectLst>
        </p:spPr>
      </p:sp>
      <p:sp>
        <p:nvSpPr>
          <p:cNvPr id="12" name="Shape 10"/>
          <p:cNvSpPr/>
          <p:nvPr/>
        </p:nvSpPr>
        <p:spPr>
          <a:xfrm>
            <a:off x="566928" y="2359152"/>
            <a:ext cx="1463040" cy="384048"/>
          </a:xfrm>
          <a:prstGeom prst="roundRect">
            <a:avLst>
              <a:gd name="adj" fmla="val 35714"/>
            </a:avLst>
          </a:prstGeom>
          <a:solidFill>
            <a:srgbClr val="FF6B5E"/>
          </a:solidFill>
          <a:ln/>
          <a:effectLst>
            <a:outerShdw blurRad="76200" dist="25400" dir="5400000" algn="bl" rotWithShape="0">
              <a:srgbClr val="000000">
                <a:alpha val="15000"/>
              </a:srgbClr>
            </a:outerShdw>
          </a:effectLst>
        </p:spPr>
      </p:sp>
      <p:sp>
        <p:nvSpPr>
          <p:cNvPr id="13" name="Text 11"/>
          <p:cNvSpPr txBox="1"/>
          <p:nvPr/>
        </p:nvSpPr>
        <p:spPr>
          <a:xfrm>
            <a:off x="566928" y="2359152"/>
            <a:ext cx="1463040" cy="384048"/>
          </a:xfrm>
          <a:prstGeom prst="rect">
            <a:avLst/>
          </a:prstGeom>
          <a:noFill/>
          <a:ln/>
        </p:spPr>
        <p:txBody>
          <a:bodyPr wrap="square" lIns="0" tIns="0" rIns="0" bIns="0" rtlCol="0" anchor="ctr"/>
          <a:lstStyle/>
          <a:p>
            <a:pPr marL="0" indent="0" algn="ctr">
              <a:buNone/>
            </a:pPr>
            <a:r>
              <a:rPr lang="en-US" sz="2000" b="1" dirty="0">
                <a:solidFill>
                  <a:srgbClr val="FFFFFF"/>
                </a:solidFill>
              </a:rPr>
              <a:t>including</a:t>
            </a:r>
            <a:endParaRPr lang="en-US" sz="2000" dirty="0"/>
          </a:p>
        </p:txBody>
      </p:sp>
      <p:sp>
        <p:nvSpPr>
          <p:cNvPr id="14" name="Text 12"/>
          <p:cNvSpPr txBox="1"/>
          <p:nvPr/>
        </p:nvSpPr>
        <p:spPr>
          <a:xfrm>
            <a:off x="2194560" y="2286000"/>
            <a:ext cx="6309360" cy="530352"/>
          </a:xfrm>
          <a:prstGeom prst="rect">
            <a:avLst/>
          </a:prstGeom>
          <a:noFill/>
          <a:ln/>
        </p:spPr>
        <p:txBody>
          <a:bodyPr wrap="square" lIns="0" tIns="0" rIns="0" bIns="0" rtlCol="0" anchor="ctr"/>
          <a:lstStyle/>
          <a:p>
            <a:pPr marL="0" indent="0">
              <a:buNone/>
            </a:pPr>
            <a:r>
              <a:rPr lang="en-US" sz="1600" dirty="0">
                <a:solidFill>
                  <a:srgbClr val="0A3D4A"/>
                </a:solidFill>
              </a:rPr>
              <a:t>Sea turtles face several threats </a:t>
            </a:r>
            <a:r>
              <a:rPr lang="en-US" sz="1600" b="1" dirty="0">
                <a:solidFill>
                  <a:srgbClr val="0A3D4A"/>
                </a:solidFill>
              </a:rPr>
              <a:t>including</a:t>
            </a:r>
            <a:r>
              <a:rPr lang="en-US" sz="1600" dirty="0">
                <a:solidFill>
                  <a:srgbClr val="0A3D4A"/>
                </a:solidFill>
              </a:rPr>
              <a:t> plastic pollution.</a:t>
            </a:r>
            <a:endParaRPr lang="en-US" sz="1600" dirty="0"/>
          </a:p>
        </p:txBody>
      </p:sp>
      <p:sp>
        <p:nvSpPr>
          <p:cNvPr id="15" name="Shape 13"/>
          <p:cNvSpPr/>
          <p:nvPr/>
        </p:nvSpPr>
        <p:spPr>
          <a:xfrm>
            <a:off x="457200" y="2907792"/>
            <a:ext cx="8229600" cy="530352"/>
          </a:xfrm>
          <a:prstGeom prst="roundRect">
            <a:avLst>
              <a:gd name="adj" fmla="val 25862"/>
            </a:avLst>
          </a:prstGeom>
          <a:solidFill>
            <a:srgbClr val="FFFFFF"/>
          </a:solidFill>
          <a:ln/>
          <a:effectLst>
            <a:outerShdw blurRad="76200" dist="25400" dir="5400000" algn="bl" rotWithShape="0">
              <a:srgbClr val="000000">
                <a:alpha val="15000"/>
              </a:srgbClr>
            </a:outerShdw>
          </a:effectLst>
        </p:spPr>
      </p:sp>
      <p:sp>
        <p:nvSpPr>
          <p:cNvPr id="16" name="Shape 14"/>
          <p:cNvSpPr/>
          <p:nvPr/>
        </p:nvSpPr>
        <p:spPr>
          <a:xfrm>
            <a:off x="566928" y="2980944"/>
            <a:ext cx="1463040" cy="384048"/>
          </a:xfrm>
          <a:prstGeom prst="roundRect">
            <a:avLst>
              <a:gd name="adj" fmla="val 35714"/>
            </a:avLst>
          </a:prstGeom>
          <a:solidFill>
            <a:srgbClr val="0E7C86"/>
          </a:solidFill>
          <a:ln/>
          <a:effectLst>
            <a:outerShdw blurRad="76200" dist="25400" dir="5400000" algn="bl" rotWithShape="0">
              <a:srgbClr val="000000">
                <a:alpha val="15000"/>
              </a:srgbClr>
            </a:outerShdw>
          </a:effectLst>
        </p:spPr>
      </p:sp>
      <p:sp>
        <p:nvSpPr>
          <p:cNvPr id="17" name="Text 15"/>
          <p:cNvSpPr txBox="1"/>
          <p:nvPr/>
        </p:nvSpPr>
        <p:spPr>
          <a:xfrm>
            <a:off x="566928" y="2980944"/>
            <a:ext cx="1463040" cy="384048"/>
          </a:xfrm>
          <a:prstGeom prst="rect">
            <a:avLst/>
          </a:prstGeom>
          <a:noFill/>
          <a:ln/>
        </p:spPr>
        <p:txBody>
          <a:bodyPr wrap="square" lIns="0" tIns="0" rIns="0" bIns="0" rtlCol="0" anchor="ctr"/>
          <a:lstStyle/>
          <a:p>
            <a:pPr marL="0" indent="0" algn="ctr">
              <a:buNone/>
            </a:pPr>
            <a:r>
              <a:rPr lang="en-US" sz="2000" b="1" dirty="0">
                <a:solidFill>
                  <a:srgbClr val="FFFFFF"/>
                </a:solidFill>
              </a:rPr>
              <a:t>because</a:t>
            </a:r>
            <a:endParaRPr lang="en-US" sz="2000" dirty="0"/>
          </a:p>
        </p:txBody>
      </p:sp>
      <p:sp>
        <p:nvSpPr>
          <p:cNvPr id="18" name="Text 16"/>
          <p:cNvSpPr txBox="1"/>
          <p:nvPr/>
        </p:nvSpPr>
        <p:spPr>
          <a:xfrm>
            <a:off x="2194560" y="2907792"/>
            <a:ext cx="6309360" cy="530352"/>
          </a:xfrm>
          <a:prstGeom prst="rect">
            <a:avLst/>
          </a:prstGeom>
          <a:noFill/>
          <a:ln/>
        </p:spPr>
        <p:txBody>
          <a:bodyPr wrap="square" lIns="0" tIns="0" rIns="0" bIns="0" rtlCol="0" anchor="ctr"/>
          <a:lstStyle/>
          <a:p>
            <a:pPr marL="0" indent="0">
              <a:buNone/>
            </a:pPr>
            <a:r>
              <a:rPr lang="en-US" sz="1600" dirty="0">
                <a:solidFill>
                  <a:srgbClr val="0A3D4A"/>
                </a:solidFill>
              </a:rPr>
              <a:t>Plastic pollution is dangerous </a:t>
            </a:r>
            <a:r>
              <a:rPr lang="en-US" sz="1600" b="1" dirty="0">
                <a:solidFill>
                  <a:srgbClr val="0A3D4A"/>
                </a:solidFill>
              </a:rPr>
              <a:t>because</a:t>
            </a:r>
            <a:r>
              <a:rPr lang="en-US" sz="1600" dirty="0">
                <a:solidFill>
                  <a:srgbClr val="0A3D4A"/>
                </a:solidFill>
              </a:rPr>
              <a:t> turtles may mistake bags for food.</a:t>
            </a:r>
            <a:endParaRPr lang="en-US" sz="1600" dirty="0"/>
          </a:p>
        </p:txBody>
      </p:sp>
      <p:sp>
        <p:nvSpPr>
          <p:cNvPr id="19" name="Shape 17"/>
          <p:cNvSpPr/>
          <p:nvPr/>
        </p:nvSpPr>
        <p:spPr>
          <a:xfrm>
            <a:off x="457200" y="3529584"/>
            <a:ext cx="8229600" cy="530352"/>
          </a:xfrm>
          <a:prstGeom prst="roundRect">
            <a:avLst>
              <a:gd name="adj" fmla="val 25862"/>
            </a:avLst>
          </a:prstGeom>
          <a:solidFill>
            <a:srgbClr val="FFFFFF"/>
          </a:solidFill>
          <a:ln/>
          <a:effectLst>
            <a:outerShdw blurRad="76200" dist="25400" dir="5400000" algn="bl" rotWithShape="0">
              <a:srgbClr val="000000">
                <a:alpha val="15000"/>
              </a:srgbClr>
            </a:outerShdw>
          </a:effectLst>
        </p:spPr>
      </p:sp>
      <p:sp>
        <p:nvSpPr>
          <p:cNvPr id="20" name="Shape 18"/>
          <p:cNvSpPr/>
          <p:nvPr/>
        </p:nvSpPr>
        <p:spPr>
          <a:xfrm>
            <a:off x="566928" y="3602736"/>
            <a:ext cx="1463040" cy="384048"/>
          </a:xfrm>
          <a:prstGeom prst="roundRect">
            <a:avLst>
              <a:gd name="adj" fmla="val 35714"/>
            </a:avLst>
          </a:prstGeom>
          <a:solidFill>
            <a:srgbClr val="3A86C8"/>
          </a:solidFill>
          <a:ln/>
          <a:effectLst>
            <a:outerShdw blurRad="76200" dist="25400" dir="5400000" algn="bl" rotWithShape="0">
              <a:srgbClr val="000000">
                <a:alpha val="15000"/>
              </a:srgbClr>
            </a:outerShdw>
          </a:effectLst>
        </p:spPr>
      </p:sp>
      <p:sp>
        <p:nvSpPr>
          <p:cNvPr id="21" name="Text 19"/>
          <p:cNvSpPr txBox="1"/>
          <p:nvPr/>
        </p:nvSpPr>
        <p:spPr>
          <a:xfrm>
            <a:off x="566928" y="3602736"/>
            <a:ext cx="1463040" cy="384048"/>
          </a:xfrm>
          <a:prstGeom prst="rect">
            <a:avLst/>
          </a:prstGeom>
          <a:noFill/>
          <a:ln/>
        </p:spPr>
        <p:txBody>
          <a:bodyPr wrap="square" lIns="0" tIns="0" rIns="0" bIns="0" rtlCol="0" anchor="ctr"/>
          <a:lstStyle/>
          <a:p>
            <a:pPr marL="0" indent="0" algn="ctr">
              <a:buNone/>
            </a:pPr>
            <a:r>
              <a:rPr lang="en-US" sz="2000" b="1" dirty="0">
                <a:solidFill>
                  <a:srgbClr val="FFFFFF"/>
                </a:solidFill>
              </a:rPr>
              <a:t>For example</a:t>
            </a:r>
            <a:endParaRPr lang="en-US" sz="2000" dirty="0"/>
          </a:p>
        </p:txBody>
      </p:sp>
      <p:sp>
        <p:nvSpPr>
          <p:cNvPr id="22" name="Text 20"/>
          <p:cNvSpPr txBox="1"/>
          <p:nvPr/>
        </p:nvSpPr>
        <p:spPr>
          <a:xfrm>
            <a:off x="2194560" y="3529584"/>
            <a:ext cx="6763910" cy="530352"/>
          </a:xfrm>
          <a:prstGeom prst="rect">
            <a:avLst/>
          </a:prstGeom>
          <a:noFill/>
          <a:ln/>
        </p:spPr>
        <p:txBody>
          <a:bodyPr wrap="square" lIns="0" tIns="0" rIns="0" bIns="0" rtlCol="0" anchor="ctr"/>
          <a:lstStyle/>
          <a:p>
            <a:pPr marL="0" indent="0">
              <a:buNone/>
            </a:pPr>
            <a:r>
              <a:rPr lang="en-US" sz="1600" dirty="0">
                <a:solidFill>
                  <a:srgbClr val="0A3D4A"/>
                </a:solidFill>
              </a:rPr>
              <a:t>Sea turtles face several threats. </a:t>
            </a:r>
            <a:r>
              <a:rPr lang="en-US" sz="1600" b="1" dirty="0">
                <a:solidFill>
                  <a:srgbClr val="0A3D4A"/>
                </a:solidFill>
              </a:rPr>
              <a:t>For example</a:t>
            </a:r>
            <a:r>
              <a:rPr lang="en-US" sz="1600" dirty="0">
                <a:solidFill>
                  <a:srgbClr val="0A3D4A"/>
                </a:solidFill>
              </a:rPr>
              <a:t>, plastic pollution can be dangerous.</a:t>
            </a:r>
            <a:endParaRPr lang="en-US" sz="1600" dirty="0"/>
          </a:p>
        </p:txBody>
      </p:sp>
      <p:sp>
        <p:nvSpPr>
          <p:cNvPr id="23" name="Shape 21"/>
          <p:cNvSpPr/>
          <p:nvPr/>
        </p:nvSpPr>
        <p:spPr>
          <a:xfrm>
            <a:off x="457200" y="4206240"/>
            <a:ext cx="8229600" cy="594360"/>
          </a:xfrm>
          <a:prstGeom prst="roundRect">
            <a:avLst>
              <a:gd name="adj" fmla="val 23077"/>
            </a:avLst>
          </a:prstGeom>
          <a:solidFill>
            <a:srgbClr val="0A3D4A"/>
          </a:solidFill>
          <a:ln/>
          <a:effectLst>
            <a:outerShdw blurRad="76200" dist="25400" dir="5400000" algn="bl" rotWithShape="0">
              <a:srgbClr val="000000">
                <a:alpha val="15000"/>
              </a:srgbClr>
            </a:outerShdw>
          </a:effectLst>
        </p:spPr>
      </p:sp>
      <p:sp>
        <p:nvSpPr>
          <p:cNvPr id="24" name="Text 22"/>
          <p:cNvSpPr txBox="1"/>
          <p:nvPr/>
        </p:nvSpPr>
        <p:spPr>
          <a:xfrm>
            <a:off x="731520" y="4206240"/>
            <a:ext cx="7680960" cy="594360"/>
          </a:xfrm>
          <a:prstGeom prst="rect">
            <a:avLst/>
          </a:prstGeom>
          <a:noFill/>
          <a:ln/>
        </p:spPr>
        <p:txBody>
          <a:bodyPr wrap="square" lIns="0" tIns="0" rIns="0" bIns="0" rtlCol="0" anchor="ctr"/>
          <a:lstStyle/>
          <a:p>
            <a:pPr marL="0" indent="0" algn="ctr">
              <a:buNone/>
            </a:pPr>
            <a:r>
              <a:rPr lang="en-US" sz="2000" b="1" dirty="0">
                <a:solidFill>
                  <a:srgbClr val="FFC857"/>
                </a:solidFill>
              </a:rPr>
              <a:t> </a:t>
            </a:r>
            <a:r>
              <a:rPr lang="en-US" sz="2000" b="1" dirty="0">
                <a:solidFill>
                  <a:srgbClr val="FFFFFF"/>
                </a:solidFill>
              </a:rPr>
              <a:t>Different connectors have different jobs.</a:t>
            </a:r>
            <a:endParaRPr lang="en-US" sz="20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0E7C86"/>
                </a:solidFill>
              </a:defRPr>
            </a:lvl1pPr>
          </a:lstStyle>
          <a:p>
            <a:pPr algn="l"/>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7589520" y="-914400"/>
            <a:ext cx="2377440" cy="2377440"/>
          </a:xfrm>
          <a:prstGeom prst="ellipse">
            <a:avLst/>
          </a:prstGeom>
          <a:solidFill>
            <a:srgbClr val="CDEFF1">
              <a:alpha val="80000"/>
            </a:srgbClr>
          </a:solidFill>
          <a:ln/>
        </p:spPr>
      </p:sp>
      <p:sp>
        <p:nvSpPr>
          <p:cNvPr id="3" name="Shape 1"/>
          <p:cNvSpPr/>
          <p:nvPr/>
        </p:nvSpPr>
        <p:spPr>
          <a:xfrm>
            <a:off x="-548640" y="4297680"/>
            <a:ext cx="1463040" cy="1463040"/>
          </a:xfrm>
          <a:prstGeom prst="ellipse">
            <a:avLst/>
          </a:prstGeom>
          <a:solidFill>
            <a:srgbClr val="CDEFF1">
              <a:alpha val="70000"/>
            </a:srgbClr>
          </a:solidFill>
          <a:ln/>
        </p:spPr>
      </p:sp>
      <p:sp>
        <p:nvSpPr>
          <p:cNvPr id="4" name="Shape 2"/>
          <p:cNvSpPr/>
          <p:nvPr/>
        </p:nvSpPr>
        <p:spPr>
          <a:xfrm>
            <a:off x="457200" y="292608"/>
            <a:ext cx="658368" cy="658368"/>
          </a:xfrm>
          <a:prstGeom prst="ellipse">
            <a:avLst/>
          </a:prstGeom>
          <a:solidFill>
            <a:srgbClr val="FF6B5E"/>
          </a:solidFill>
          <a:ln/>
        </p:spPr>
      </p:sp>
      <p:sp>
        <p:nvSpPr>
          <p:cNvPr id="5" name="Text 3"/>
          <p:cNvSpPr txBox="1"/>
          <p:nvPr/>
        </p:nvSpPr>
        <p:spPr>
          <a:xfrm>
            <a:off x="457200" y="292608"/>
            <a:ext cx="658368" cy="658368"/>
          </a:xfrm>
          <a:prstGeom prst="rect">
            <a:avLst/>
          </a:prstGeom>
          <a:noFill/>
          <a:ln/>
        </p:spPr>
        <p:txBody>
          <a:bodyPr wrap="square" lIns="0" tIns="0" rIns="0" bIns="0" rtlCol="0" anchor="ctr"/>
          <a:lstStyle/>
          <a:p>
            <a:pPr marL="0" indent="0" algn="ctr">
              <a:buNone/>
            </a:pPr>
            <a:r>
              <a:rPr lang="en-US" sz="2200" b="1" dirty="0">
                <a:solidFill>
                  <a:srgbClr val="FFFFFF"/>
                </a:solidFill>
              </a:rPr>
              <a:t>🔗</a:t>
            </a:r>
            <a:endParaRPr lang="en-US" sz="2200" dirty="0"/>
          </a:p>
        </p:txBody>
      </p:sp>
      <p:sp>
        <p:nvSpPr>
          <p:cNvPr id="6" name="Text 0"/>
          <p:cNvSpPr>
            <a:spLocks noGrp="1"/>
          </p:cNvSpPr>
          <p:nvPr>
            <p:ph type="title" idx="100" hasCustomPrompt="1"/>
          </p:nvPr>
        </p:nvSpPr>
        <p:spPr>
          <a:xfrm>
            <a:off x="1280160" y="274320"/>
            <a:ext cx="7315200" cy="685800"/>
          </a:xfrm>
          <a:prstGeom prst="rect">
            <a:avLst/>
          </a:prstGeom>
          <a:noFill/>
          <a:ln/>
        </p:spPr>
        <p:txBody>
          <a:bodyPr wrap="square" rtlCol="0" anchor="ctr"/>
          <a:lstStyle/>
          <a:p>
            <a:pPr marL="0" indent="0">
              <a:buNone/>
            </a:pPr>
            <a:r>
              <a:rPr lang="en-US" sz="2600" b="1" dirty="0">
                <a:solidFill>
                  <a:srgbClr val="0A3D4A"/>
                </a:solidFill>
              </a:rPr>
              <a:t>WHICH CONNECTOR FITS?</a:t>
            </a:r>
            <a:endParaRPr lang="en-US" sz="2600" dirty="0"/>
          </a:p>
        </p:txBody>
      </p:sp>
      <p:sp>
        <p:nvSpPr>
          <p:cNvPr id="7" name="Text 5"/>
          <p:cNvSpPr txBox="1"/>
          <p:nvPr/>
        </p:nvSpPr>
        <p:spPr>
          <a:xfrm>
            <a:off x="457200" y="1234440"/>
            <a:ext cx="8229600" cy="822960"/>
          </a:xfrm>
          <a:prstGeom prst="rect">
            <a:avLst/>
          </a:prstGeom>
          <a:noFill/>
          <a:ln/>
        </p:spPr>
        <p:txBody>
          <a:bodyPr wrap="square" lIns="0" tIns="0" rIns="0" bIns="0" rtlCol="0" anchor="t"/>
          <a:lstStyle/>
          <a:p>
            <a:pPr marL="0" indent="0">
              <a:buNone/>
            </a:pPr>
            <a:r>
              <a:rPr lang="en-US" sz="2200" b="1" dirty="0">
                <a:solidFill>
                  <a:srgbClr val="0A3D4A"/>
                </a:solidFill>
              </a:rPr>
              <a:t>Sea turtles can become trapped in fishing equipment. ______, they may be injured or killed.</a:t>
            </a:r>
            <a:endParaRPr lang="en-US" sz="2200" dirty="0"/>
          </a:p>
        </p:txBody>
      </p:sp>
      <p:sp>
        <p:nvSpPr>
          <p:cNvPr id="8" name="Shape 6"/>
          <p:cNvSpPr/>
          <p:nvPr/>
        </p:nvSpPr>
        <p:spPr>
          <a:xfrm>
            <a:off x="457200" y="2148840"/>
            <a:ext cx="4023360" cy="1234440"/>
          </a:xfrm>
          <a:prstGeom prst="roundRect">
            <a:avLst>
              <a:gd name="adj" fmla="val 11111"/>
            </a:avLst>
          </a:prstGeom>
          <a:solidFill>
            <a:srgbClr val="FFFFFF"/>
          </a:solidFill>
          <a:ln/>
          <a:effectLst>
            <a:outerShdw blurRad="76200" dist="25400" dir="5400000" algn="bl" rotWithShape="0">
              <a:srgbClr val="000000">
                <a:alpha val="15000"/>
              </a:srgbClr>
            </a:outerShdw>
          </a:effectLst>
        </p:spPr>
      </p:sp>
      <p:sp>
        <p:nvSpPr>
          <p:cNvPr id="9" name="Shape 7"/>
          <p:cNvSpPr/>
          <p:nvPr/>
        </p:nvSpPr>
        <p:spPr>
          <a:xfrm>
            <a:off x="640080" y="2491740"/>
            <a:ext cx="548640" cy="548640"/>
          </a:xfrm>
          <a:prstGeom prst="ellipse">
            <a:avLst/>
          </a:prstGeom>
          <a:solidFill>
            <a:srgbClr val="FF6B5E"/>
          </a:solidFill>
          <a:ln/>
        </p:spPr>
      </p:sp>
      <p:sp>
        <p:nvSpPr>
          <p:cNvPr id="10" name="Text 8"/>
          <p:cNvSpPr txBox="1"/>
          <p:nvPr/>
        </p:nvSpPr>
        <p:spPr>
          <a:xfrm>
            <a:off x="640080" y="249174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rPr>
              <a:t>A</a:t>
            </a:r>
            <a:endParaRPr lang="en-US" sz="2000" dirty="0"/>
          </a:p>
        </p:txBody>
      </p:sp>
      <p:sp>
        <p:nvSpPr>
          <p:cNvPr id="11" name="Text 9"/>
          <p:cNvSpPr txBox="1"/>
          <p:nvPr/>
        </p:nvSpPr>
        <p:spPr>
          <a:xfrm>
            <a:off x="1371600" y="2221992"/>
            <a:ext cx="2971800" cy="1088136"/>
          </a:xfrm>
          <a:prstGeom prst="rect">
            <a:avLst/>
          </a:prstGeom>
          <a:noFill/>
          <a:ln/>
        </p:spPr>
        <p:txBody>
          <a:bodyPr wrap="square" lIns="0" tIns="0" rIns="0" bIns="0" rtlCol="0" anchor="ctr"/>
          <a:lstStyle/>
          <a:p>
            <a:pPr marL="0" indent="0">
              <a:buNone/>
            </a:pPr>
            <a:r>
              <a:rPr lang="en-US" sz="1600" dirty="0">
                <a:solidFill>
                  <a:srgbClr val="0A3D4A"/>
                </a:solidFill>
              </a:rPr>
              <a:t>However</a:t>
            </a:r>
            <a:endParaRPr lang="en-US" sz="1600" dirty="0"/>
          </a:p>
        </p:txBody>
      </p:sp>
      <p:sp>
        <p:nvSpPr>
          <p:cNvPr id="12" name="Shape 10"/>
          <p:cNvSpPr/>
          <p:nvPr/>
        </p:nvSpPr>
        <p:spPr>
          <a:xfrm>
            <a:off x="4663440" y="2148840"/>
            <a:ext cx="4023360" cy="1234440"/>
          </a:xfrm>
          <a:prstGeom prst="roundRect">
            <a:avLst>
              <a:gd name="adj" fmla="val 11111"/>
            </a:avLst>
          </a:prstGeom>
          <a:solidFill>
            <a:srgbClr val="FFFFFF"/>
          </a:solidFill>
          <a:ln/>
          <a:effectLst>
            <a:outerShdw blurRad="76200" dist="25400" dir="5400000" algn="bl" rotWithShape="0">
              <a:srgbClr val="000000">
                <a:alpha val="15000"/>
              </a:srgbClr>
            </a:outerShdw>
          </a:effectLst>
        </p:spPr>
      </p:sp>
      <p:sp>
        <p:nvSpPr>
          <p:cNvPr id="13" name="Shape 11"/>
          <p:cNvSpPr/>
          <p:nvPr/>
        </p:nvSpPr>
        <p:spPr>
          <a:xfrm>
            <a:off x="4846320" y="2491740"/>
            <a:ext cx="548640" cy="548640"/>
          </a:xfrm>
          <a:prstGeom prst="ellipse">
            <a:avLst/>
          </a:prstGeom>
          <a:solidFill>
            <a:srgbClr val="0E7C86"/>
          </a:solidFill>
          <a:ln/>
        </p:spPr>
      </p:sp>
      <p:sp>
        <p:nvSpPr>
          <p:cNvPr id="14" name="Text 12"/>
          <p:cNvSpPr txBox="1"/>
          <p:nvPr/>
        </p:nvSpPr>
        <p:spPr>
          <a:xfrm>
            <a:off x="4846320" y="249174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rPr>
              <a:t>B</a:t>
            </a:r>
            <a:endParaRPr lang="en-US" sz="2000" dirty="0"/>
          </a:p>
        </p:txBody>
      </p:sp>
      <p:sp>
        <p:nvSpPr>
          <p:cNvPr id="15" name="Text 13"/>
          <p:cNvSpPr txBox="1"/>
          <p:nvPr/>
        </p:nvSpPr>
        <p:spPr>
          <a:xfrm>
            <a:off x="5577840" y="2221992"/>
            <a:ext cx="2971800" cy="1088136"/>
          </a:xfrm>
          <a:prstGeom prst="rect">
            <a:avLst/>
          </a:prstGeom>
          <a:noFill/>
          <a:ln/>
        </p:spPr>
        <p:txBody>
          <a:bodyPr wrap="square" lIns="0" tIns="0" rIns="0" bIns="0" rtlCol="0" anchor="ctr"/>
          <a:lstStyle/>
          <a:p>
            <a:pPr marL="0" indent="0">
              <a:buNone/>
            </a:pPr>
            <a:r>
              <a:rPr lang="en-US" sz="1600" dirty="0">
                <a:solidFill>
                  <a:srgbClr val="0A3D4A"/>
                </a:solidFill>
              </a:rPr>
              <a:t>As a result</a:t>
            </a:r>
            <a:endParaRPr lang="en-US" sz="1600" dirty="0"/>
          </a:p>
        </p:txBody>
      </p:sp>
      <p:sp>
        <p:nvSpPr>
          <p:cNvPr id="16" name="Shape 14"/>
          <p:cNvSpPr/>
          <p:nvPr/>
        </p:nvSpPr>
        <p:spPr>
          <a:xfrm>
            <a:off x="457200" y="3520440"/>
            <a:ext cx="4023360" cy="1234440"/>
          </a:xfrm>
          <a:prstGeom prst="roundRect">
            <a:avLst>
              <a:gd name="adj" fmla="val 11111"/>
            </a:avLst>
          </a:prstGeom>
          <a:solidFill>
            <a:srgbClr val="FFFFFF"/>
          </a:solidFill>
          <a:ln/>
          <a:effectLst>
            <a:outerShdw blurRad="76200" dist="25400" dir="5400000" algn="bl" rotWithShape="0">
              <a:srgbClr val="000000">
                <a:alpha val="15000"/>
              </a:srgbClr>
            </a:outerShdw>
          </a:effectLst>
        </p:spPr>
      </p:sp>
      <p:sp>
        <p:nvSpPr>
          <p:cNvPr id="17" name="Shape 15"/>
          <p:cNvSpPr/>
          <p:nvPr/>
        </p:nvSpPr>
        <p:spPr>
          <a:xfrm>
            <a:off x="640080" y="3863340"/>
            <a:ext cx="548640" cy="548640"/>
          </a:xfrm>
          <a:prstGeom prst="ellipse">
            <a:avLst/>
          </a:prstGeom>
          <a:solidFill>
            <a:srgbClr val="3A86C8"/>
          </a:solidFill>
          <a:ln/>
        </p:spPr>
      </p:sp>
      <p:sp>
        <p:nvSpPr>
          <p:cNvPr id="18" name="Text 16"/>
          <p:cNvSpPr txBox="1"/>
          <p:nvPr/>
        </p:nvSpPr>
        <p:spPr>
          <a:xfrm>
            <a:off x="640080" y="386334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rPr>
              <a:t>C</a:t>
            </a:r>
            <a:endParaRPr lang="en-US" sz="2000" dirty="0"/>
          </a:p>
        </p:txBody>
      </p:sp>
      <p:sp>
        <p:nvSpPr>
          <p:cNvPr id="19" name="Text 17"/>
          <p:cNvSpPr txBox="1"/>
          <p:nvPr/>
        </p:nvSpPr>
        <p:spPr>
          <a:xfrm>
            <a:off x="1371600" y="3593592"/>
            <a:ext cx="2971800" cy="1088136"/>
          </a:xfrm>
          <a:prstGeom prst="rect">
            <a:avLst/>
          </a:prstGeom>
          <a:noFill/>
          <a:ln/>
        </p:spPr>
        <p:txBody>
          <a:bodyPr wrap="square" lIns="0" tIns="0" rIns="0" bIns="0" rtlCol="0" anchor="ctr"/>
          <a:lstStyle/>
          <a:p>
            <a:pPr marL="0" indent="0">
              <a:buNone/>
            </a:pPr>
            <a:r>
              <a:rPr lang="en-US" sz="1600" dirty="0">
                <a:solidFill>
                  <a:srgbClr val="0A3D4A"/>
                </a:solidFill>
              </a:rPr>
              <a:t>First</a:t>
            </a:r>
            <a:endParaRPr lang="en-US" sz="1600" dirty="0"/>
          </a:p>
        </p:txBody>
      </p:sp>
      <p:sp>
        <p:nvSpPr>
          <p:cNvPr id="20" name="Shape 18"/>
          <p:cNvSpPr/>
          <p:nvPr/>
        </p:nvSpPr>
        <p:spPr>
          <a:xfrm>
            <a:off x="4663440" y="3520440"/>
            <a:ext cx="4023360" cy="1234440"/>
          </a:xfrm>
          <a:prstGeom prst="roundRect">
            <a:avLst>
              <a:gd name="adj" fmla="val 11111"/>
            </a:avLst>
          </a:prstGeom>
          <a:solidFill>
            <a:srgbClr val="FFFFFF"/>
          </a:solidFill>
          <a:ln/>
          <a:effectLst>
            <a:outerShdw blurRad="76200" dist="25400" dir="5400000" algn="bl" rotWithShape="0">
              <a:srgbClr val="000000">
                <a:alpha val="15000"/>
              </a:srgbClr>
            </a:outerShdw>
          </a:effectLst>
        </p:spPr>
      </p:sp>
      <p:sp>
        <p:nvSpPr>
          <p:cNvPr id="21" name="Shape 19"/>
          <p:cNvSpPr/>
          <p:nvPr/>
        </p:nvSpPr>
        <p:spPr>
          <a:xfrm>
            <a:off x="4846320" y="3863340"/>
            <a:ext cx="548640" cy="548640"/>
          </a:xfrm>
          <a:prstGeom prst="ellipse">
            <a:avLst/>
          </a:prstGeom>
          <a:solidFill>
            <a:srgbClr val="7B5EA7"/>
          </a:solidFill>
          <a:ln/>
        </p:spPr>
      </p:sp>
      <p:sp>
        <p:nvSpPr>
          <p:cNvPr id="22" name="Text 20"/>
          <p:cNvSpPr txBox="1"/>
          <p:nvPr/>
        </p:nvSpPr>
        <p:spPr>
          <a:xfrm>
            <a:off x="4846320" y="386334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rPr>
              <a:t>D</a:t>
            </a:r>
            <a:endParaRPr lang="en-US" sz="2000" dirty="0"/>
          </a:p>
        </p:txBody>
      </p:sp>
      <p:sp>
        <p:nvSpPr>
          <p:cNvPr id="23" name="Text 21"/>
          <p:cNvSpPr txBox="1"/>
          <p:nvPr/>
        </p:nvSpPr>
        <p:spPr>
          <a:xfrm>
            <a:off x="5577840" y="3593592"/>
            <a:ext cx="2971800" cy="1088136"/>
          </a:xfrm>
          <a:prstGeom prst="rect">
            <a:avLst/>
          </a:prstGeom>
          <a:noFill/>
          <a:ln/>
        </p:spPr>
        <p:txBody>
          <a:bodyPr wrap="square" lIns="0" tIns="0" rIns="0" bIns="0" rtlCol="0" anchor="ctr"/>
          <a:lstStyle/>
          <a:p>
            <a:pPr marL="0" indent="0">
              <a:buNone/>
            </a:pPr>
            <a:r>
              <a:rPr lang="en-US" sz="1600" dirty="0">
                <a:solidFill>
                  <a:srgbClr val="0A3D4A"/>
                </a:solidFill>
              </a:rPr>
              <a:t>For example</a:t>
            </a:r>
            <a:endParaRPr lang="en-US" sz="16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0E7C86"/>
                </a:solidFill>
              </a:defRPr>
            </a:lvl1pPr>
          </a:lstStyle>
          <a:p>
            <a:pPr algn="l"/>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7589520" y="-914400"/>
            <a:ext cx="2377440" cy="2377440"/>
          </a:xfrm>
          <a:prstGeom prst="ellipse">
            <a:avLst/>
          </a:prstGeom>
          <a:solidFill>
            <a:srgbClr val="CDEFF1">
              <a:alpha val="80000"/>
            </a:srgbClr>
          </a:solidFill>
          <a:ln/>
        </p:spPr>
      </p:sp>
      <p:sp>
        <p:nvSpPr>
          <p:cNvPr id="3" name="Shape 1"/>
          <p:cNvSpPr/>
          <p:nvPr/>
        </p:nvSpPr>
        <p:spPr>
          <a:xfrm>
            <a:off x="-548640" y="4297680"/>
            <a:ext cx="1463040" cy="1463040"/>
          </a:xfrm>
          <a:prstGeom prst="ellipse">
            <a:avLst/>
          </a:prstGeom>
          <a:solidFill>
            <a:srgbClr val="CDEFF1">
              <a:alpha val="70000"/>
            </a:srgbClr>
          </a:solidFill>
          <a:ln/>
        </p:spPr>
      </p:sp>
      <p:sp>
        <p:nvSpPr>
          <p:cNvPr id="4" name="Shape 2"/>
          <p:cNvSpPr/>
          <p:nvPr/>
        </p:nvSpPr>
        <p:spPr>
          <a:xfrm>
            <a:off x="457200" y="292608"/>
            <a:ext cx="658368" cy="658368"/>
          </a:xfrm>
          <a:prstGeom prst="ellipse">
            <a:avLst/>
          </a:prstGeom>
          <a:solidFill>
            <a:srgbClr val="2BB673"/>
          </a:solidFill>
          <a:ln/>
        </p:spPr>
      </p:sp>
      <p:sp>
        <p:nvSpPr>
          <p:cNvPr id="5" name="Text 3"/>
          <p:cNvSpPr txBox="1"/>
          <p:nvPr/>
        </p:nvSpPr>
        <p:spPr>
          <a:xfrm>
            <a:off x="457200" y="292608"/>
            <a:ext cx="658368" cy="658368"/>
          </a:xfrm>
          <a:prstGeom prst="rect">
            <a:avLst/>
          </a:prstGeom>
          <a:noFill/>
          <a:ln/>
        </p:spPr>
        <p:txBody>
          <a:bodyPr wrap="square" lIns="0" tIns="0" rIns="0" bIns="0" rtlCol="0" anchor="ctr"/>
          <a:lstStyle/>
          <a:p>
            <a:pPr marL="0" indent="0" algn="ctr">
              <a:buNone/>
            </a:pPr>
            <a:r>
              <a:rPr lang="en-US" sz="2200" b="1" dirty="0">
                <a:solidFill>
                  <a:srgbClr val="FFFFFF"/>
                </a:solidFill>
              </a:rPr>
              <a:t>✅</a:t>
            </a:r>
            <a:endParaRPr lang="en-US" sz="2200" dirty="0"/>
          </a:p>
        </p:txBody>
      </p:sp>
      <p:sp>
        <p:nvSpPr>
          <p:cNvPr id="6" name="Text 0"/>
          <p:cNvSpPr>
            <a:spLocks noGrp="1"/>
          </p:cNvSpPr>
          <p:nvPr>
            <p:ph type="title" idx="100" hasCustomPrompt="1"/>
          </p:nvPr>
        </p:nvSpPr>
        <p:spPr>
          <a:xfrm>
            <a:off x="1280160" y="274320"/>
            <a:ext cx="7315200" cy="685800"/>
          </a:xfrm>
          <a:prstGeom prst="rect">
            <a:avLst/>
          </a:prstGeom>
          <a:noFill/>
          <a:ln/>
        </p:spPr>
        <p:txBody>
          <a:bodyPr wrap="square" rtlCol="0" anchor="ctr"/>
          <a:lstStyle/>
          <a:p>
            <a:pPr marL="0" indent="0">
              <a:buNone/>
            </a:pPr>
            <a:r>
              <a:rPr lang="en-US" sz="2600" b="1" dirty="0">
                <a:solidFill>
                  <a:srgbClr val="0A3D4A"/>
                </a:solidFill>
              </a:rPr>
              <a:t>ANSWER</a:t>
            </a:r>
            <a:endParaRPr lang="en-US" sz="2600" dirty="0"/>
          </a:p>
        </p:txBody>
      </p:sp>
      <p:sp>
        <p:nvSpPr>
          <p:cNvPr id="7" name="Shape 5"/>
          <p:cNvSpPr/>
          <p:nvPr/>
        </p:nvSpPr>
        <p:spPr>
          <a:xfrm>
            <a:off x="457200" y="1234440"/>
            <a:ext cx="8229600" cy="1325880"/>
          </a:xfrm>
          <a:prstGeom prst="roundRect">
            <a:avLst>
              <a:gd name="adj" fmla="val 10345"/>
            </a:avLst>
          </a:prstGeom>
          <a:solidFill>
            <a:srgbClr val="FFFFFF"/>
          </a:solidFill>
          <a:ln/>
          <a:effectLst>
            <a:outerShdw blurRad="76200" dist="25400" dir="5400000" algn="bl" rotWithShape="0">
              <a:srgbClr val="000000">
                <a:alpha val="15000"/>
              </a:srgbClr>
            </a:outerShdw>
          </a:effectLst>
        </p:spPr>
      </p:sp>
      <p:sp>
        <p:nvSpPr>
          <p:cNvPr id="8" name="Shape 6"/>
          <p:cNvSpPr/>
          <p:nvPr/>
        </p:nvSpPr>
        <p:spPr>
          <a:xfrm>
            <a:off x="731520" y="1435608"/>
            <a:ext cx="914400" cy="914400"/>
          </a:xfrm>
          <a:prstGeom prst="ellipse">
            <a:avLst/>
          </a:prstGeom>
          <a:solidFill>
            <a:srgbClr val="2BB673"/>
          </a:solidFill>
          <a:ln/>
        </p:spPr>
      </p:sp>
      <p:sp>
        <p:nvSpPr>
          <p:cNvPr id="9" name="Text 7"/>
          <p:cNvSpPr txBox="1"/>
          <p:nvPr/>
        </p:nvSpPr>
        <p:spPr>
          <a:xfrm>
            <a:off x="731520" y="1435608"/>
            <a:ext cx="914400" cy="914400"/>
          </a:xfrm>
          <a:prstGeom prst="rect">
            <a:avLst/>
          </a:prstGeom>
          <a:noFill/>
          <a:ln/>
        </p:spPr>
        <p:txBody>
          <a:bodyPr wrap="square" lIns="0" tIns="0" rIns="0" bIns="0" rtlCol="0" anchor="ctr"/>
          <a:lstStyle/>
          <a:p>
            <a:pPr marL="0" indent="0" algn="ctr">
              <a:buNone/>
            </a:pPr>
            <a:r>
              <a:rPr lang="en-US" sz="2800" b="1" dirty="0">
                <a:solidFill>
                  <a:srgbClr val="FFFFFF"/>
                </a:solidFill>
              </a:rPr>
              <a:t>B</a:t>
            </a:r>
            <a:endParaRPr lang="en-US" sz="4000" dirty="0"/>
          </a:p>
        </p:txBody>
      </p:sp>
      <p:sp>
        <p:nvSpPr>
          <p:cNvPr id="10" name="Text 8"/>
          <p:cNvSpPr txBox="1"/>
          <p:nvPr/>
        </p:nvSpPr>
        <p:spPr>
          <a:xfrm>
            <a:off x="1920240" y="1234440"/>
            <a:ext cx="6583680" cy="1325880"/>
          </a:xfrm>
          <a:prstGeom prst="rect">
            <a:avLst/>
          </a:prstGeom>
          <a:noFill/>
          <a:ln/>
        </p:spPr>
        <p:txBody>
          <a:bodyPr wrap="square" lIns="0" tIns="0" rIns="0" bIns="0" rtlCol="0" anchor="ctr"/>
          <a:lstStyle/>
          <a:p>
            <a:pPr marL="0" indent="0">
              <a:buNone/>
            </a:pPr>
            <a:r>
              <a:rPr lang="en-US" sz="2000" b="1" dirty="0">
                <a:solidFill>
                  <a:srgbClr val="0A3D4A"/>
                </a:solidFill>
              </a:rPr>
              <a:t>As a result</a:t>
            </a:r>
            <a:endParaRPr lang="en-US" sz="2000" dirty="0"/>
          </a:p>
        </p:txBody>
      </p:sp>
      <p:sp>
        <p:nvSpPr>
          <p:cNvPr id="11" name="Text 9"/>
          <p:cNvSpPr txBox="1"/>
          <p:nvPr/>
        </p:nvSpPr>
        <p:spPr>
          <a:xfrm>
            <a:off x="72887" y="2697480"/>
            <a:ext cx="8522473" cy="1920240"/>
          </a:xfrm>
          <a:prstGeom prst="rect">
            <a:avLst/>
          </a:prstGeom>
          <a:noFill/>
          <a:ln/>
        </p:spPr>
        <p:txBody>
          <a:bodyPr wrap="square" lIns="0" tIns="0" rIns="0" bIns="0" rtlCol="0" anchor="t"/>
          <a:lstStyle/>
          <a:p>
            <a:pPr marL="0" indent="0">
              <a:spcAft>
                <a:spcPts val="300"/>
              </a:spcAft>
              <a:buNone/>
            </a:pPr>
            <a:r>
              <a:rPr lang="en-US" sz="1700" dirty="0">
                <a:solidFill>
                  <a:srgbClr val="0A3D4A"/>
                </a:solidFill>
              </a:rPr>
              <a:t>Sea turtles can become trapped in fishing equipment. </a:t>
            </a:r>
            <a:r>
              <a:rPr lang="en-US" sz="1700" b="1" dirty="0">
                <a:solidFill>
                  <a:srgbClr val="0A3D4A"/>
                </a:solidFill>
              </a:rPr>
              <a:t>As a result</a:t>
            </a:r>
            <a:r>
              <a:rPr lang="en-US" sz="1700" dirty="0">
                <a:solidFill>
                  <a:srgbClr val="0A3D4A"/>
                </a:solidFill>
              </a:rPr>
              <a:t>, they may be injured or killed.
</a:t>
            </a:r>
          </a:p>
          <a:p>
            <a:pPr marL="0" indent="0">
              <a:spcAft>
                <a:spcPts val="300"/>
              </a:spcAft>
              <a:buNone/>
            </a:pPr>
            <a:r>
              <a:rPr lang="en-US" sz="1700" b="1" dirty="0">
                <a:solidFill>
                  <a:srgbClr val="0A3D4A"/>
                </a:solidFill>
              </a:rPr>
              <a:t>As a result</a:t>
            </a:r>
            <a:r>
              <a:rPr lang="en-US" sz="1700" dirty="0">
                <a:solidFill>
                  <a:srgbClr val="0A3D4A"/>
                </a:solidFill>
              </a:rPr>
              <a:t> shows a </a:t>
            </a:r>
            <a:r>
              <a:rPr lang="en-US" sz="1700" b="1" dirty="0">
                <a:solidFill>
                  <a:srgbClr val="0A3D4A"/>
                </a:solidFill>
              </a:rPr>
              <a:t>consequence</a:t>
            </a:r>
            <a:r>
              <a:rPr lang="en-US" sz="1700" dirty="0">
                <a:solidFill>
                  <a:srgbClr val="0A3D4A"/>
                </a:solidFill>
              </a:rPr>
              <a:t>.</a:t>
            </a:r>
            <a:endParaRPr lang="en-US" sz="17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0E7C86"/>
                </a:solidFill>
              </a:defRPr>
            </a:lvl1pPr>
          </a:lstStyle>
          <a:p>
            <a:pPr algn="l"/>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7589520" y="-914400"/>
            <a:ext cx="2377440" cy="2377440"/>
          </a:xfrm>
          <a:prstGeom prst="ellipse">
            <a:avLst/>
          </a:prstGeom>
          <a:solidFill>
            <a:srgbClr val="CDEFF1">
              <a:alpha val="80000"/>
            </a:srgbClr>
          </a:solidFill>
          <a:ln/>
        </p:spPr>
      </p:sp>
      <p:sp>
        <p:nvSpPr>
          <p:cNvPr id="3" name="Shape 1"/>
          <p:cNvSpPr/>
          <p:nvPr/>
        </p:nvSpPr>
        <p:spPr>
          <a:xfrm>
            <a:off x="-548640" y="4297680"/>
            <a:ext cx="1463040" cy="1463040"/>
          </a:xfrm>
          <a:prstGeom prst="ellipse">
            <a:avLst/>
          </a:prstGeom>
          <a:solidFill>
            <a:srgbClr val="CDEFF1">
              <a:alpha val="70000"/>
            </a:srgbClr>
          </a:solidFill>
          <a:ln/>
        </p:spPr>
      </p:sp>
      <p:sp>
        <p:nvSpPr>
          <p:cNvPr id="6" name="Text 0"/>
          <p:cNvSpPr>
            <a:spLocks noGrp="1"/>
          </p:cNvSpPr>
          <p:nvPr>
            <p:ph type="title" idx="100" hasCustomPrompt="1"/>
          </p:nvPr>
        </p:nvSpPr>
        <p:spPr>
          <a:xfrm>
            <a:off x="1243717" y="16698"/>
            <a:ext cx="7315200" cy="685800"/>
          </a:xfrm>
          <a:prstGeom prst="rect">
            <a:avLst/>
          </a:prstGeom>
          <a:noFill/>
          <a:ln/>
        </p:spPr>
        <p:txBody>
          <a:bodyPr wrap="square" rtlCol="0" anchor="ctr"/>
          <a:lstStyle/>
          <a:p>
            <a:pPr marL="0" indent="0">
              <a:buNone/>
            </a:pPr>
            <a:r>
              <a:rPr lang="en-US" sz="2600" b="1" dirty="0">
                <a:solidFill>
                  <a:srgbClr val="0A3D4A"/>
                </a:solidFill>
              </a:rPr>
              <a:t>DEVELOP YOUR INFORMATION</a:t>
            </a:r>
            <a:endParaRPr lang="en-US" sz="2600" dirty="0"/>
          </a:p>
        </p:txBody>
      </p:sp>
      <p:sp>
        <p:nvSpPr>
          <p:cNvPr id="7" name="Text 5"/>
          <p:cNvSpPr txBox="1"/>
          <p:nvPr/>
        </p:nvSpPr>
        <p:spPr>
          <a:xfrm>
            <a:off x="320040" y="648429"/>
            <a:ext cx="8229600" cy="365760"/>
          </a:xfrm>
          <a:prstGeom prst="rect">
            <a:avLst/>
          </a:prstGeom>
          <a:noFill/>
          <a:ln/>
        </p:spPr>
        <p:txBody>
          <a:bodyPr wrap="square" lIns="0" tIns="0" rIns="0" bIns="0" rtlCol="0" anchor="t"/>
          <a:lstStyle/>
          <a:p>
            <a:pPr marL="0" indent="0">
              <a:buNone/>
            </a:pPr>
            <a:r>
              <a:rPr lang="en-US" sz="1500" dirty="0">
                <a:solidFill>
                  <a:srgbClr val="0A3D4A"/>
                </a:solidFill>
              </a:rPr>
              <a:t>A strong report does not simply list facts. </a:t>
            </a:r>
          </a:p>
          <a:p>
            <a:pPr marL="0" indent="0">
              <a:buNone/>
            </a:pPr>
            <a:endParaRPr lang="en-US" sz="1500" dirty="0">
              <a:solidFill>
                <a:srgbClr val="0A3D4A"/>
              </a:solidFill>
            </a:endParaRPr>
          </a:p>
          <a:p>
            <a:pPr marL="0" indent="0">
              <a:buNone/>
            </a:pPr>
            <a:r>
              <a:rPr lang="en-US" sz="1500" dirty="0">
                <a:solidFill>
                  <a:srgbClr val="0A3D4A"/>
                </a:solidFill>
              </a:rPr>
              <a:t>Use: </a:t>
            </a:r>
            <a:r>
              <a:rPr lang="en-US" sz="1500" b="1" dirty="0">
                <a:solidFill>
                  <a:srgbClr val="0A3D4A"/>
                </a:solidFill>
              </a:rPr>
              <a:t>FACT → EXPLANATION → DETAIL</a:t>
            </a:r>
            <a:endParaRPr lang="en-US" sz="1500" dirty="0"/>
          </a:p>
        </p:txBody>
      </p:sp>
      <p:sp>
        <p:nvSpPr>
          <p:cNvPr id="8" name="Shape 6"/>
          <p:cNvSpPr/>
          <p:nvPr/>
        </p:nvSpPr>
        <p:spPr>
          <a:xfrm>
            <a:off x="457200" y="1371600"/>
            <a:ext cx="2560320" cy="1828800"/>
          </a:xfrm>
          <a:prstGeom prst="roundRect">
            <a:avLst>
              <a:gd name="adj" fmla="val 7500"/>
            </a:avLst>
          </a:prstGeom>
          <a:solidFill>
            <a:srgbClr val="FFFFFF"/>
          </a:solidFill>
          <a:ln/>
          <a:effectLst>
            <a:outerShdw blurRad="76200" dist="25400" dir="5400000" algn="bl" rotWithShape="0">
              <a:srgbClr val="000000">
                <a:alpha val="15000"/>
              </a:srgbClr>
            </a:outerShdw>
          </a:effectLst>
        </p:spPr>
      </p:sp>
      <p:sp>
        <p:nvSpPr>
          <p:cNvPr id="9" name="Shape 7"/>
          <p:cNvSpPr/>
          <p:nvPr/>
        </p:nvSpPr>
        <p:spPr>
          <a:xfrm>
            <a:off x="640080" y="1554480"/>
            <a:ext cx="566928" cy="566928"/>
          </a:xfrm>
          <a:prstGeom prst="ellipse">
            <a:avLst/>
          </a:prstGeom>
          <a:solidFill>
            <a:srgbClr val="FF6B5E"/>
          </a:solidFill>
          <a:ln/>
        </p:spPr>
      </p:sp>
      <p:sp>
        <p:nvSpPr>
          <p:cNvPr id="10" name="Text 8"/>
          <p:cNvSpPr txBox="1"/>
          <p:nvPr/>
        </p:nvSpPr>
        <p:spPr>
          <a:xfrm>
            <a:off x="640080" y="1554480"/>
            <a:ext cx="566928" cy="566928"/>
          </a:xfrm>
          <a:prstGeom prst="rect">
            <a:avLst/>
          </a:prstGeom>
          <a:noFill/>
          <a:ln/>
        </p:spPr>
        <p:txBody>
          <a:bodyPr wrap="square" lIns="0" tIns="0" rIns="0" bIns="0" rtlCol="0" anchor="ctr"/>
          <a:lstStyle/>
          <a:p>
            <a:pPr marL="0" indent="0" algn="ctr">
              <a:buNone/>
            </a:pPr>
            <a:r>
              <a:rPr lang="en-US" sz="1800" b="1" dirty="0">
                <a:solidFill>
                  <a:srgbClr val="FFFFFF"/>
                </a:solidFill>
              </a:rPr>
              <a:t>1</a:t>
            </a:r>
            <a:endParaRPr lang="en-US" sz="1800" dirty="0"/>
          </a:p>
        </p:txBody>
      </p:sp>
      <p:sp>
        <p:nvSpPr>
          <p:cNvPr id="11" name="Text 9"/>
          <p:cNvSpPr txBox="1"/>
          <p:nvPr/>
        </p:nvSpPr>
        <p:spPr>
          <a:xfrm>
            <a:off x="1371600" y="1554480"/>
            <a:ext cx="1508760" cy="566928"/>
          </a:xfrm>
          <a:prstGeom prst="rect">
            <a:avLst/>
          </a:prstGeom>
          <a:noFill/>
          <a:ln/>
        </p:spPr>
        <p:txBody>
          <a:bodyPr wrap="square" lIns="0" tIns="0" rIns="0" bIns="0" rtlCol="0" anchor="ctr"/>
          <a:lstStyle/>
          <a:p>
            <a:pPr marL="0" indent="0">
              <a:buNone/>
            </a:pPr>
            <a:r>
              <a:rPr lang="en-US" sz="1700" b="1" dirty="0">
                <a:solidFill>
                  <a:srgbClr val="FF6B5E"/>
                </a:solidFill>
              </a:rPr>
              <a:t>FACT</a:t>
            </a:r>
            <a:endParaRPr lang="en-US" sz="1700" dirty="0"/>
          </a:p>
        </p:txBody>
      </p:sp>
      <p:sp>
        <p:nvSpPr>
          <p:cNvPr id="12" name="Text 10"/>
          <p:cNvSpPr txBox="1"/>
          <p:nvPr/>
        </p:nvSpPr>
        <p:spPr>
          <a:xfrm>
            <a:off x="640080" y="2331720"/>
            <a:ext cx="2194560" cy="777240"/>
          </a:xfrm>
          <a:prstGeom prst="rect">
            <a:avLst/>
          </a:prstGeom>
          <a:noFill/>
          <a:ln/>
        </p:spPr>
        <p:txBody>
          <a:bodyPr wrap="square" lIns="0" tIns="0" rIns="0" bIns="0" rtlCol="0" anchor="t"/>
          <a:lstStyle/>
          <a:p>
            <a:pPr marL="0" indent="0">
              <a:buNone/>
            </a:pPr>
            <a:r>
              <a:rPr lang="en-US" sz="1500" dirty="0">
                <a:solidFill>
                  <a:srgbClr val="0A3D4A"/>
                </a:solidFill>
              </a:rPr>
              <a:t>Plastic pollution threatens sea turtles.</a:t>
            </a:r>
            <a:endParaRPr lang="en-US" sz="1500" dirty="0"/>
          </a:p>
        </p:txBody>
      </p:sp>
      <p:sp>
        <p:nvSpPr>
          <p:cNvPr id="13" name="Shape 11"/>
          <p:cNvSpPr/>
          <p:nvPr/>
        </p:nvSpPr>
        <p:spPr>
          <a:xfrm>
            <a:off x="3291840" y="1371600"/>
            <a:ext cx="2560320" cy="1828800"/>
          </a:xfrm>
          <a:prstGeom prst="roundRect">
            <a:avLst>
              <a:gd name="adj" fmla="val 7500"/>
            </a:avLst>
          </a:prstGeom>
          <a:solidFill>
            <a:srgbClr val="FFFFFF"/>
          </a:solidFill>
          <a:ln/>
          <a:effectLst>
            <a:outerShdw blurRad="76200" dist="25400" dir="5400000" algn="bl" rotWithShape="0">
              <a:srgbClr val="000000">
                <a:alpha val="15000"/>
              </a:srgbClr>
            </a:outerShdw>
          </a:effectLst>
        </p:spPr>
      </p:sp>
      <p:sp>
        <p:nvSpPr>
          <p:cNvPr id="14" name="Shape 12"/>
          <p:cNvSpPr/>
          <p:nvPr/>
        </p:nvSpPr>
        <p:spPr>
          <a:xfrm>
            <a:off x="3474720" y="1554480"/>
            <a:ext cx="566928" cy="566928"/>
          </a:xfrm>
          <a:prstGeom prst="ellipse">
            <a:avLst/>
          </a:prstGeom>
          <a:solidFill>
            <a:srgbClr val="0E7C86"/>
          </a:solidFill>
          <a:ln/>
        </p:spPr>
      </p:sp>
      <p:sp>
        <p:nvSpPr>
          <p:cNvPr id="15" name="Text 13"/>
          <p:cNvSpPr txBox="1"/>
          <p:nvPr/>
        </p:nvSpPr>
        <p:spPr>
          <a:xfrm>
            <a:off x="3474720" y="1554480"/>
            <a:ext cx="566928" cy="566928"/>
          </a:xfrm>
          <a:prstGeom prst="rect">
            <a:avLst/>
          </a:prstGeom>
          <a:noFill/>
          <a:ln/>
        </p:spPr>
        <p:txBody>
          <a:bodyPr wrap="square" lIns="0" tIns="0" rIns="0" bIns="0" rtlCol="0" anchor="ctr"/>
          <a:lstStyle/>
          <a:p>
            <a:pPr marL="0" indent="0" algn="ctr">
              <a:buNone/>
            </a:pPr>
            <a:r>
              <a:rPr lang="en-US" sz="1800" b="1" dirty="0">
                <a:solidFill>
                  <a:srgbClr val="FFFFFF"/>
                </a:solidFill>
              </a:rPr>
              <a:t>2</a:t>
            </a:r>
            <a:endParaRPr lang="en-US" sz="1800" dirty="0"/>
          </a:p>
        </p:txBody>
      </p:sp>
      <p:sp>
        <p:nvSpPr>
          <p:cNvPr id="16" name="Text 14"/>
          <p:cNvSpPr txBox="1"/>
          <p:nvPr/>
        </p:nvSpPr>
        <p:spPr>
          <a:xfrm>
            <a:off x="4206240" y="1554480"/>
            <a:ext cx="1508760" cy="566928"/>
          </a:xfrm>
          <a:prstGeom prst="rect">
            <a:avLst/>
          </a:prstGeom>
          <a:noFill/>
          <a:ln/>
        </p:spPr>
        <p:txBody>
          <a:bodyPr wrap="square" lIns="0" tIns="0" rIns="0" bIns="0" rtlCol="0" anchor="ctr"/>
          <a:lstStyle/>
          <a:p>
            <a:pPr marL="0" indent="0">
              <a:buNone/>
            </a:pPr>
            <a:r>
              <a:rPr lang="en-US" sz="1400" b="1" dirty="0">
                <a:solidFill>
                  <a:srgbClr val="0E7C86"/>
                </a:solidFill>
              </a:rPr>
              <a:t>EXPLANATION</a:t>
            </a:r>
            <a:endParaRPr lang="en-US" sz="1400" dirty="0"/>
          </a:p>
        </p:txBody>
      </p:sp>
      <p:sp>
        <p:nvSpPr>
          <p:cNvPr id="17" name="Text 15"/>
          <p:cNvSpPr txBox="1"/>
          <p:nvPr/>
        </p:nvSpPr>
        <p:spPr>
          <a:xfrm>
            <a:off x="3474720" y="2331720"/>
            <a:ext cx="2194560" cy="777240"/>
          </a:xfrm>
          <a:prstGeom prst="rect">
            <a:avLst/>
          </a:prstGeom>
          <a:noFill/>
          <a:ln/>
        </p:spPr>
        <p:txBody>
          <a:bodyPr wrap="square" lIns="0" tIns="0" rIns="0" bIns="0" rtlCol="0" anchor="t"/>
          <a:lstStyle/>
          <a:p>
            <a:pPr marL="0" indent="0">
              <a:buNone/>
            </a:pPr>
            <a:r>
              <a:rPr lang="en-US" sz="1500" dirty="0">
                <a:solidFill>
                  <a:srgbClr val="0A3D4A"/>
                </a:solidFill>
              </a:rPr>
              <a:t>Turtles may mistake plastic bags for food.</a:t>
            </a:r>
            <a:endParaRPr lang="en-US" sz="1500" dirty="0"/>
          </a:p>
        </p:txBody>
      </p:sp>
      <p:sp>
        <p:nvSpPr>
          <p:cNvPr id="18" name="Shape 16"/>
          <p:cNvSpPr/>
          <p:nvPr/>
        </p:nvSpPr>
        <p:spPr>
          <a:xfrm>
            <a:off x="6126480" y="1371600"/>
            <a:ext cx="2560320" cy="1828800"/>
          </a:xfrm>
          <a:prstGeom prst="roundRect">
            <a:avLst>
              <a:gd name="adj" fmla="val 7500"/>
            </a:avLst>
          </a:prstGeom>
          <a:solidFill>
            <a:srgbClr val="FFFFFF"/>
          </a:solidFill>
          <a:ln/>
          <a:effectLst>
            <a:outerShdw blurRad="76200" dist="25400" dir="5400000" algn="bl" rotWithShape="0">
              <a:srgbClr val="000000">
                <a:alpha val="15000"/>
              </a:srgbClr>
            </a:outerShdw>
          </a:effectLst>
        </p:spPr>
      </p:sp>
      <p:sp>
        <p:nvSpPr>
          <p:cNvPr id="19" name="Shape 17"/>
          <p:cNvSpPr/>
          <p:nvPr/>
        </p:nvSpPr>
        <p:spPr>
          <a:xfrm>
            <a:off x="6309360" y="1554480"/>
            <a:ext cx="566928" cy="566928"/>
          </a:xfrm>
          <a:prstGeom prst="ellipse">
            <a:avLst/>
          </a:prstGeom>
          <a:solidFill>
            <a:srgbClr val="7B5EA7"/>
          </a:solidFill>
          <a:ln/>
        </p:spPr>
      </p:sp>
      <p:sp>
        <p:nvSpPr>
          <p:cNvPr id="20" name="Text 18"/>
          <p:cNvSpPr txBox="1"/>
          <p:nvPr/>
        </p:nvSpPr>
        <p:spPr>
          <a:xfrm>
            <a:off x="6309360" y="1554480"/>
            <a:ext cx="566928" cy="566928"/>
          </a:xfrm>
          <a:prstGeom prst="rect">
            <a:avLst/>
          </a:prstGeom>
          <a:noFill/>
          <a:ln/>
        </p:spPr>
        <p:txBody>
          <a:bodyPr wrap="square" lIns="0" tIns="0" rIns="0" bIns="0" rtlCol="0" anchor="ctr"/>
          <a:lstStyle/>
          <a:p>
            <a:pPr marL="0" indent="0" algn="ctr">
              <a:buNone/>
            </a:pPr>
            <a:r>
              <a:rPr lang="en-US" sz="1800" b="1" dirty="0">
                <a:solidFill>
                  <a:srgbClr val="FFFFFF"/>
                </a:solidFill>
              </a:rPr>
              <a:t>3</a:t>
            </a:r>
            <a:endParaRPr lang="en-US" sz="1800" dirty="0"/>
          </a:p>
        </p:txBody>
      </p:sp>
      <p:sp>
        <p:nvSpPr>
          <p:cNvPr id="21" name="Text 19"/>
          <p:cNvSpPr txBox="1"/>
          <p:nvPr/>
        </p:nvSpPr>
        <p:spPr>
          <a:xfrm>
            <a:off x="7040880" y="1554480"/>
            <a:ext cx="1508760" cy="566928"/>
          </a:xfrm>
          <a:prstGeom prst="rect">
            <a:avLst/>
          </a:prstGeom>
          <a:noFill/>
          <a:ln/>
        </p:spPr>
        <p:txBody>
          <a:bodyPr wrap="square" lIns="0" tIns="0" rIns="0" bIns="0" rtlCol="0" anchor="ctr"/>
          <a:lstStyle/>
          <a:p>
            <a:pPr marL="0" indent="0">
              <a:buNone/>
            </a:pPr>
            <a:r>
              <a:rPr lang="en-US" sz="1700" b="1" dirty="0">
                <a:solidFill>
                  <a:srgbClr val="7B5EA7"/>
                </a:solidFill>
              </a:rPr>
              <a:t>DETAIL</a:t>
            </a:r>
            <a:endParaRPr lang="en-US" sz="1700" dirty="0"/>
          </a:p>
        </p:txBody>
      </p:sp>
      <p:sp>
        <p:nvSpPr>
          <p:cNvPr id="22" name="Text 20"/>
          <p:cNvSpPr txBox="1"/>
          <p:nvPr/>
        </p:nvSpPr>
        <p:spPr>
          <a:xfrm>
            <a:off x="6309360" y="2331720"/>
            <a:ext cx="2194560" cy="777240"/>
          </a:xfrm>
          <a:prstGeom prst="rect">
            <a:avLst/>
          </a:prstGeom>
          <a:noFill/>
          <a:ln/>
        </p:spPr>
        <p:txBody>
          <a:bodyPr wrap="square" lIns="0" tIns="0" rIns="0" bIns="0" rtlCol="0" anchor="t"/>
          <a:lstStyle/>
          <a:p>
            <a:pPr marL="0" indent="0">
              <a:buNone/>
            </a:pPr>
            <a:r>
              <a:rPr lang="en-US" sz="1500" dirty="0">
                <a:solidFill>
                  <a:srgbClr val="0A3D4A"/>
                </a:solidFill>
              </a:rPr>
              <a:t>This can cause serious illness or death.</a:t>
            </a:r>
            <a:endParaRPr lang="en-US" sz="1500" dirty="0"/>
          </a:p>
        </p:txBody>
      </p:sp>
      <p:sp>
        <p:nvSpPr>
          <p:cNvPr id="23" name="Shape 21"/>
          <p:cNvSpPr/>
          <p:nvPr/>
        </p:nvSpPr>
        <p:spPr>
          <a:xfrm>
            <a:off x="457200" y="3337560"/>
            <a:ext cx="7381461" cy="1371600"/>
          </a:xfrm>
          <a:prstGeom prst="roundRect">
            <a:avLst>
              <a:gd name="adj" fmla="val 10000"/>
            </a:avLst>
          </a:prstGeom>
          <a:solidFill>
            <a:srgbClr val="0A3D4A"/>
          </a:solidFill>
          <a:ln/>
          <a:effectLst>
            <a:outerShdw blurRad="76200" dist="25400" dir="5400000" algn="bl" rotWithShape="0">
              <a:srgbClr val="000000">
                <a:alpha val="15000"/>
              </a:srgbClr>
            </a:outerShdw>
          </a:effectLst>
        </p:spPr>
      </p:sp>
      <p:sp>
        <p:nvSpPr>
          <p:cNvPr id="24" name="Text 22"/>
          <p:cNvSpPr txBox="1"/>
          <p:nvPr/>
        </p:nvSpPr>
        <p:spPr>
          <a:xfrm>
            <a:off x="457200" y="3337560"/>
            <a:ext cx="7315200" cy="1371600"/>
          </a:xfrm>
          <a:prstGeom prst="rect">
            <a:avLst/>
          </a:prstGeom>
          <a:noFill/>
          <a:ln/>
        </p:spPr>
        <p:txBody>
          <a:bodyPr wrap="square" lIns="0" tIns="0" rIns="0" bIns="0" rtlCol="0" anchor="ctr"/>
          <a:lstStyle/>
          <a:p>
            <a:pPr marL="0" indent="0">
              <a:buNone/>
            </a:pPr>
            <a:r>
              <a:rPr lang="en-US" b="1" dirty="0">
                <a:solidFill>
                  <a:srgbClr val="FFC857"/>
                </a:solidFill>
              </a:rPr>
              <a:t>TOGETHER</a:t>
            </a:r>
          </a:p>
          <a:p>
            <a:pPr marL="0" indent="0">
              <a:buNone/>
            </a:pPr>
            <a:endParaRPr lang="en-US" sz="1600" b="1" dirty="0"/>
          </a:p>
          <a:p>
            <a:pPr marL="0" indent="0">
              <a:buNone/>
            </a:pPr>
            <a:r>
              <a:rPr lang="en-US" sz="1600" b="1" dirty="0">
                <a:solidFill>
                  <a:srgbClr val="FFFFFF"/>
                </a:solidFill>
              </a:rPr>
              <a:t>Plastic pollution threatens sea turtles because they may mistake plastic bags for food. </a:t>
            </a:r>
          </a:p>
          <a:p>
            <a:pPr marL="0" indent="0">
              <a:buNone/>
            </a:pPr>
            <a:r>
              <a:rPr lang="en-US" sz="1600" b="1" dirty="0">
                <a:solidFill>
                  <a:srgbClr val="FFFFFF"/>
                </a:solidFill>
              </a:rPr>
              <a:t>This can cause serious illness or death.</a:t>
            </a:r>
            <a:endParaRPr lang="en-US" sz="16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0E7C86"/>
                </a:solidFill>
              </a:defRPr>
            </a:lvl1pPr>
          </a:lstStyle>
          <a:p>
            <a:pPr algn="l"/>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7589520" y="-914400"/>
            <a:ext cx="2377440" cy="2377440"/>
          </a:xfrm>
          <a:prstGeom prst="ellipse">
            <a:avLst/>
          </a:prstGeom>
          <a:solidFill>
            <a:srgbClr val="CDEFF1">
              <a:alpha val="80000"/>
            </a:srgbClr>
          </a:solidFill>
          <a:ln/>
        </p:spPr>
      </p:sp>
      <p:sp>
        <p:nvSpPr>
          <p:cNvPr id="3" name="Shape 1"/>
          <p:cNvSpPr/>
          <p:nvPr/>
        </p:nvSpPr>
        <p:spPr>
          <a:xfrm>
            <a:off x="-548640" y="4297680"/>
            <a:ext cx="1463040" cy="1463040"/>
          </a:xfrm>
          <a:prstGeom prst="ellipse">
            <a:avLst/>
          </a:prstGeom>
          <a:solidFill>
            <a:srgbClr val="CDEFF1">
              <a:alpha val="70000"/>
            </a:srgbClr>
          </a:solidFill>
          <a:ln/>
        </p:spPr>
      </p:sp>
      <p:sp>
        <p:nvSpPr>
          <p:cNvPr id="5" name="Text 3"/>
          <p:cNvSpPr txBox="1"/>
          <p:nvPr/>
        </p:nvSpPr>
        <p:spPr>
          <a:xfrm>
            <a:off x="2411896" y="148027"/>
            <a:ext cx="658368" cy="658368"/>
          </a:xfrm>
          <a:prstGeom prst="rect">
            <a:avLst/>
          </a:prstGeom>
          <a:noFill/>
          <a:ln/>
        </p:spPr>
        <p:txBody>
          <a:bodyPr wrap="square" lIns="0" tIns="0" rIns="0" bIns="0" rtlCol="0" anchor="ctr"/>
          <a:lstStyle/>
          <a:p>
            <a:pPr marL="0" indent="0" algn="ctr">
              <a:buNone/>
            </a:pPr>
            <a:r>
              <a:rPr lang="en-US" sz="2200" b="1" dirty="0">
                <a:solidFill>
                  <a:srgbClr val="FFFFFF"/>
                </a:solidFill>
              </a:rPr>
              <a:t>🧩</a:t>
            </a:r>
            <a:endParaRPr lang="en-US" sz="2200" dirty="0"/>
          </a:p>
        </p:txBody>
      </p:sp>
      <p:sp>
        <p:nvSpPr>
          <p:cNvPr id="6" name="Text 0"/>
          <p:cNvSpPr>
            <a:spLocks noGrp="1"/>
          </p:cNvSpPr>
          <p:nvPr>
            <p:ph type="title" idx="100" hasCustomPrompt="1"/>
          </p:nvPr>
        </p:nvSpPr>
        <p:spPr>
          <a:xfrm>
            <a:off x="1280160" y="120595"/>
            <a:ext cx="7315200" cy="685800"/>
          </a:xfrm>
          <a:prstGeom prst="rect">
            <a:avLst/>
          </a:prstGeom>
          <a:noFill/>
          <a:ln/>
        </p:spPr>
        <p:txBody>
          <a:bodyPr wrap="square" rtlCol="0" anchor="ctr"/>
          <a:lstStyle/>
          <a:p>
            <a:pPr marL="0" indent="0">
              <a:buNone/>
            </a:pPr>
            <a:r>
              <a:rPr lang="en-US" sz="2600" b="1" dirty="0">
                <a:solidFill>
                  <a:srgbClr val="0A3D4A"/>
                </a:solidFill>
              </a:rPr>
              <a:t>PUT THE IDEAS IN ORDER</a:t>
            </a:r>
            <a:endParaRPr lang="en-US" sz="2600" dirty="0"/>
          </a:p>
        </p:txBody>
      </p:sp>
      <p:sp>
        <p:nvSpPr>
          <p:cNvPr id="7" name="Text 5"/>
          <p:cNvSpPr txBox="1"/>
          <p:nvPr/>
        </p:nvSpPr>
        <p:spPr>
          <a:xfrm>
            <a:off x="457200" y="960120"/>
            <a:ext cx="8229600" cy="411480"/>
          </a:xfrm>
          <a:prstGeom prst="rect">
            <a:avLst/>
          </a:prstGeom>
          <a:noFill/>
          <a:ln/>
        </p:spPr>
        <p:txBody>
          <a:bodyPr wrap="square" lIns="0" tIns="0" rIns="0" bIns="0" rtlCol="0" anchor="t"/>
          <a:lstStyle/>
          <a:p>
            <a:pPr marL="0" indent="0">
              <a:buNone/>
            </a:pPr>
            <a:r>
              <a:rPr lang="en-US" sz="2200" b="1" dirty="0">
                <a:solidFill>
                  <a:srgbClr val="0A3D4A"/>
                </a:solidFill>
              </a:rPr>
              <a:t>Which order creates the strongest paragraph?</a:t>
            </a:r>
            <a:endParaRPr lang="en-US" sz="2200" dirty="0"/>
          </a:p>
        </p:txBody>
      </p:sp>
      <p:sp>
        <p:nvSpPr>
          <p:cNvPr id="8" name="Text 6"/>
          <p:cNvSpPr txBox="1"/>
          <p:nvPr/>
        </p:nvSpPr>
        <p:spPr>
          <a:xfrm>
            <a:off x="457200" y="1554480"/>
            <a:ext cx="8229600" cy="274320"/>
          </a:xfrm>
          <a:prstGeom prst="rect">
            <a:avLst/>
          </a:prstGeom>
          <a:noFill/>
          <a:ln/>
        </p:spPr>
        <p:txBody>
          <a:bodyPr wrap="square" lIns="0" tIns="0" rIns="0" bIns="0" rtlCol="0" anchor="t"/>
          <a:lstStyle/>
          <a:p>
            <a:pPr marL="0" indent="0">
              <a:buNone/>
            </a:pPr>
            <a:r>
              <a:rPr lang="en-US" b="1" i="1" dirty="0">
                <a:solidFill>
                  <a:srgbClr val="4A6B73"/>
                </a:solidFill>
              </a:rPr>
              <a:t>Choose the best order.</a:t>
            </a:r>
            <a:endParaRPr lang="en-US" b="1" dirty="0"/>
          </a:p>
        </p:txBody>
      </p:sp>
      <p:sp>
        <p:nvSpPr>
          <p:cNvPr id="9" name="Shape 7"/>
          <p:cNvSpPr/>
          <p:nvPr/>
        </p:nvSpPr>
        <p:spPr>
          <a:xfrm>
            <a:off x="457200" y="1920240"/>
            <a:ext cx="8229600" cy="777240"/>
          </a:xfrm>
          <a:prstGeom prst="roundRect">
            <a:avLst>
              <a:gd name="adj" fmla="val 17647"/>
            </a:avLst>
          </a:prstGeom>
          <a:solidFill>
            <a:srgbClr val="FFFFFF"/>
          </a:solidFill>
          <a:ln/>
          <a:effectLst>
            <a:outerShdw blurRad="76200" dist="25400" dir="5400000" algn="bl" rotWithShape="0">
              <a:srgbClr val="000000">
                <a:alpha val="15000"/>
              </a:srgbClr>
            </a:outerShdw>
          </a:effectLst>
        </p:spPr>
      </p:sp>
      <p:sp>
        <p:nvSpPr>
          <p:cNvPr id="10" name="Shape 8"/>
          <p:cNvSpPr/>
          <p:nvPr/>
        </p:nvSpPr>
        <p:spPr>
          <a:xfrm>
            <a:off x="685800" y="2057400"/>
            <a:ext cx="502920" cy="502920"/>
          </a:xfrm>
          <a:prstGeom prst="ellipse">
            <a:avLst/>
          </a:prstGeom>
          <a:solidFill>
            <a:srgbClr val="FF6B5E"/>
          </a:solidFill>
          <a:ln/>
        </p:spPr>
      </p:sp>
      <p:sp>
        <p:nvSpPr>
          <p:cNvPr id="11" name="Text 9"/>
          <p:cNvSpPr txBox="1"/>
          <p:nvPr/>
        </p:nvSpPr>
        <p:spPr>
          <a:xfrm>
            <a:off x="685800" y="205740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rPr>
              <a:t>A</a:t>
            </a:r>
            <a:endParaRPr lang="en-US" sz="2000" dirty="0"/>
          </a:p>
        </p:txBody>
      </p:sp>
      <p:sp>
        <p:nvSpPr>
          <p:cNvPr id="12" name="Text 10"/>
          <p:cNvSpPr txBox="1"/>
          <p:nvPr/>
        </p:nvSpPr>
        <p:spPr>
          <a:xfrm>
            <a:off x="1463040" y="1920240"/>
            <a:ext cx="6949440" cy="777240"/>
          </a:xfrm>
          <a:prstGeom prst="rect">
            <a:avLst/>
          </a:prstGeom>
          <a:noFill/>
          <a:ln/>
        </p:spPr>
        <p:txBody>
          <a:bodyPr wrap="square" lIns="0" tIns="0" rIns="0" bIns="0" rtlCol="0" anchor="ctr"/>
          <a:lstStyle/>
          <a:p>
            <a:pPr marL="0" indent="0">
              <a:buNone/>
            </a:pPr>
            <a:r>
              <a:rPr lang="en-US" sz="1800" dirty="0">
                <a:solidFill>
                  <a:srgbClr val="0A3D4A"/>
                </a:solidFill>
              </a:rPr>
              <a:t>This can cause serious illness or death.</a:t>
            </a:r>
            <a:endParaRPr lang="en-US" sz="1800" dirty="0"/>
          </a:p>
        </p:txBody>
      </p:sp>
      <p:sp>
        <p:nvSpPr>
          <p:cNvPr id="13" name="Shape 11"/>
          <p:cNvSpPr/>
          <p:nvPr/>
        </p:nvSpPr>
        <p:spPr>
          <a:xfrm>
            <a:off x="457200" y="2788920"/>
            <a:ext cx="8229600" cy="777240"/>
          </a:xfrm>
          <a:prstGeom prst="roundRect">
            <a:avLst>
              <a:gd name="adj" fmla="val 17647"/>
            </a:avLst>
          </a:prstGeom>
          <a:solidFill>
            <a:srgbClr val="FFFFFF"/>
          </a:solidFill>
          <a:ln/>
          <a:effectLst>
            <a:outerShdw blurRad="76200" dist="25400" dir="5400000" algn="bl" rotWithShape="0">
              <a:srgbClr val="000000">
                <a:alpha val="15000"/>
              </a:srgbClr>
            </a:outerShdw>
          </a:effectLst>
        </p:spPr>
      </p:sp>
      <p:sp>
        <p:nvSpPr>
          <p:cNvPr id="14" name="Shape 12"/>
          <p:cNvSpPr/>
          <p:nvPr/>
        </p:nvSpPr>
        <p:spPr>
          <a:xfrm>
            <a:off x="685800" y="2926080"/>
            <a:ext cx="502920" cy="502920"/>
          </a:xfrm>
          <a:prstGeom prst="ellipse">
            <a:avLst/>
          </a:prstGeom>
          <a:solidFill>
            <a:srgbClr val="0E7C86"/>
          </a:solidFill>
          <a:ln/>
        </p:spPr>
      </p:sp>
      <p:sp>
        <p:nvSpPr>
          <p:cNvPr id="15" name="Text 13"/>
          <p:cNvSpPr txBox="1"/>
          <p:nvPr/>
        </p:nvSpPr>
        <p:spPr>
          <a:xfrm>
            <a:off x="685800" y="292608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rPr>
              <a:t>B</a:t>
            </a:r>
            <a:endParaRPr lang="en-US" sz="2000" dirty="0"/>
          </a:p>
        </p:txBody>
      </p:sp>
      <p:sp>
        <p:nvSpPr>
          <p:cNvPr id="16" name="Text 14"/>
          <p:cNvSpPr txBox="1"/>
          <p:nvPr/>
        </p:nvSpPr>
        <p:spPr>
          <a:xfrm>
            <a:off x="1463040" y="2788920"/>
            <a:ext cx="6949440" cy="777240"/>
          </a:xfrm>
          <a:prstGeom prst="rect">
            <a:avLst/>
          </a:prstGeom>
          <a:noFill/>
          <a:ln/>
        </p:spPr>
        <p:txBody>
          <a:bodyPr wrap="square" lIns="0" tIns="0" rIns="0" bIns="0" rtlCol="0" anchor="ctr"/>
          <a:lstStyle/>
          <a:p>
            <a:pPr marL="0" indent="0">
              <a:buNone/>
            </a:pPr>
            <a:r>
              <a:rPr lang="en-US" sz="1800" dirty="0">
                <a:solidFill>
                  <a:srgbClr val="0A3D4A"/>
                </a:solidFill>
              </a:rPr>
              <a:t>Plastic pollution is a major threat to sea turtles.</a:t>
            </a:r>
            <a:endParaRPr lang="en-US" sz="1800" dirty="0"/>
          </a:p>
        </p:txBody>
      </p:sp>
      <p:sp>
        <p:nvSpPr>
          <p:cNvPr id="17" name="Shape 15"/>
          <p:cNvSpPr/>
          <p:nvPr/>
        </p:nvSpPr>
        <p:spPr>
          <a:xfrm>
            <a:off x="457200" y="3657600"/>
            <a:ext cx="8229600" cy="777240"/>
          </a:xfrm>
          <a:prstGeom prst="roundRect">
            <a:avLst>
              <a:gd name="adj" fmla="val 17647"/>
            </a:avLst>
          </a:prstGeom>
          <a:solidFill>
            <a:srgbClr val="FFFFFF"/>
          </a:solidFill>
          <a:ln/>
          <a:effectLst>
            <a:outerShdw blurRad="76200" dist="25400" dir="5400000" algn="bl" rotWithShape="0">
              <a:srgbClr val="000000">
                <a:alpha val="15000"/>
              </a:srgbClr>
            </a:outerShdw>
          </a:effectLst>
        </p:spPr>
      </p:sp>
      <p:sp>
        <p:nvSpPr>
          <p:cNvPr id="18" name="Shape 16"/>
          <p:cNvSpPr/>
          <p:nvPr/>
        </p:nvSpPr>
        <p:spPr>
          <a:xfrm>
            <a:off x="685800" y="3794760"/>
            <a:ext cx="502920" cy="502920"/>
          </a:xfrm>
          <a:prstGeom prst="ellipse">
            <a:avLst/>
          </a:prstGeom>
          <a:solidFill>
            <a:srgbClr val="3A86C8"/>
          </a:solidFill>
          <a:ln/>
        </p:spPr>
      </p:sp>
      <p:sp>
        <p:nvSpPr>
          <p:cNvPr id="19" name="Text 17"/>
          <p:cNvSpPr txBox="1"/>
          <p:nvPr/>
        </p:nvSpPr>
        <p:spPr>
          <a:xfrm>
            <a:off x="685800" y="379476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rPr>
              <a:t>C</a:t>
            </a:r>
            <a:endParaRPr lang="en-US" sz="2000" dirty="0"/>
          </a:p>
        </p:txBody>
      </p:sp>
      <p:sp>
        <p:nvSpPr>
          <p:cNvPr id="20" name="Text 18"/>
          <p:cNvSpPr txBox="1"/>
          <p:nvPr/>
        </p:nvSpPr>
        <p:spPr>
          <a:xfrm>
            <a:off x="1463040" y="3657600"/>
            <a:ext cx="6949440" cy="777240"/>
          </a:xfrm>
          <a:prstGeom prst="rect">
            <a:avLst/>
          </a:prstGeom>
          <a:noFill/>
          <a:ln/>
        </p:spPr>
        <p:txBody>
          <a:bodyPr wrap="square" lIns="0" tIns="0" rIns="0" bIns="0" rtlCol="0" anchor="ctr"/>
          <a:lstStyle/>
          <a:p>
            <a:pPr marL="0" indent="0">
              <a:buNone/>
            </a:pPr>
            <a:r>
              <a:rPr lang="en-US" sz="1800" dirty="0">
                <a:solidFill>
                  <a:srgbClr val="0A3D4A"/>
                </a:solidFill>
              </a:rPr>
              <a:t>Sea turtles may mistake plastic bags for food.</a:t>
            </a:r>
            <a:endParaRPr lang="en-US" sz="18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0E7C86"/>
                </a:solidFill>
              </a:defRPr>
            </a:lvl1pPr>
          </a:lstStyle>
          <a:p>
            <a:pPr algn="l"/>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7589520" y="-914400"/>
            <a:ext cx="2377440" cy="2377440"/>
          </a:xfrm>
          <a:prstGeom prst="ellipse">
            <a:avLst/>
          </a:prstGeom>
          <a:solidFill>
            <a:srgbClr val="CDEFF1">
              <a:alpha val="80000"/>
            </a:srgbClr>
          </a:solidFill>
          <a:ln/>
        </p:spPr>
      </p:sp>
      <p:sp>
        <p:nvSpPr>
          <p:cNvPr id="3" name="Shape 1"/>
          <p:cNvSpPr/>
          <p:nvPr/>
        </p:nvSpPr>
        <p:spPr>
          <a:xfrm>
            <a:off x="-548640" y="4297680"/>
            <a:ext cx="1463040" cy="1463040"/>
          </a:xfrm>
          <a:prstGeom prst="ellipse">
            <a:avLst/>
          </a:prstGeom>
          <a:solidFill>
            <a:srgbClr val="CDEFF1">
              <a:alpha val="70000"/>
            </a:srgbClr>
          </a:solidFill>
          <a:ln/>
        </p:spPr>
      </p:sp>
      <p:sp>
        <p:nvSpPr>
          <p:cNvPr id="4" name="Shape 2"/>
          <p:cNvSpPr/>
          <p:nvPr/>
        </p:nvSpPr>
        <p:spPr>
          <a:xfrm>
            <a:off x="457200" y="292608"/>
            <a:ext cx="658368" cy="658368"/>
          </a:xfrm>
          <a:prstGeom prst="ellipse">
            <a:avLst/>
          </a:prstGeom>
          <a:solidFill>
            <a:srgbClr val="2BB673"/>
          </a:solidFill>
          <a:ln/>
        </p:spPr>
      </p:sp>
      <p:sp>
        <p:nvSpPr>
          <p:cNvPr id="5" name="Text 3"/>
          <p:cNvSpPr txBox="1"/>
          <p:nvPr/>
        </p:nvSpPr>
        <p:spPr>
          <a:xfrm>
            <a:off x="457200" y="292608"/>
            <a:ext cx="658368" cy="658368"/>
          </a:xfrm>
          <a:prstGeom prst="rect">
            <a:avLst/>
          </a:prstGeom>
          <a:noFill/>
          <a:ln/>
        </p:spPr>
        <p:txBody>
          <a:bodyPr wrap="square" lIns="0" tIns="0" rIns="0" bIns="0" rtlCol="0" anchor="ctr"/>
          <a:lstStyle/>
          <a:p>
            <a:pPr marL="0" indent="0" algn="ctr">
              <a:buNone/>
            </a:pPr>
            <a:r>
              <a:rPr lang="en-US" sz="2200" b="1" dirty="0">
                <a:solidFill>
                  <a:srgbClr val="FFFFFF"/>
                </a:solidFill>
              </a:rPr>
              <a:t>✅</a:t>
            </a:r>
            <a:endParaRPr lang="en-US" sz="2200" dirty="0"/>
          </a:p>
        </p:txBody>
      </p:sp>
      <p:sp>
        <p:nvSpPr>
          <p:cNvPr id="6" name="Text 0"/>
          <p:cNvSpPr>
            <a:spLocks noGrp="1"/>
          </p:cNvSpPr>
          <p:nvPr>
            <p:ph type="title" idx="100" hasCustomPrompt="1"/>
          </p:nvPr>
        </p:nvSpPr>
        <p:spPr>
          <a:xfrm>
            <a:off x="1280160" y="274320"/>
            <a:ext cx="7315200" cy="685800"/>
          </a:xfrm>
          <a:prstGeom prst="rect">
            <a:avLst/>
          </a:prstGeom>
          <a:noFill/>
          <a:ln/>
        </p:spPr>
        <p:txBody>
          <a:bodyPr wrap="square" rtlCol="0" anchor="ctr"/>
          <a:lstStyle/>
          <a:p>
            <a:pPr marL="0" indent="0">
              <a:buNone/>
            </a:pPr>
            <a:r>
              <a:rPr lang="en-US" sz="2600" b="1" dirty="0">
                <a:solidFill>
                  <a:srgbClr val="0A3D4A"/>
                </a:solidFill>
              </a:rPr>
              <a:t>ANSWER</a:t>
            </a:r>
            <a:endParaRPr lang="en-US" sz="2600" dirty="0"/>
          </a:p>
        </p:txBody>
      </p:sp>
      <p:sp>
        <p:nvSpPr>
          <p:cNvPr id="7" name="Shape 5"/>
          <p:cNvSpPr/>
          <p:nvPr/>
        </p:nvSpPr>
        <p:spPr>
          <a:xfrm>
            <a:off x="457200" y="1234440"/>
            <a:ext cx="8229600" cy="1325880"/>
          </a:xfrm>
          <a:prstGeom prst="roundRect">
            <a:avLst>
              <a:gd name="adj" fmla="val 10345"/>
            </a:avLst>
          </a:prstGeom>
          <a:solidFill>
            <a:srgbClr val="FFFFFF"/>
          </a:solidFill>
          <a:ln/>
          <a:effectLst>
            <a:outerShdw blurRad="76200" dist="25400" dir="5400000" algn="bl" rotWithShape="0">
              <a:srgbClr val="000000">
                <a:alpha val="15000"/>
              </a:srgbClr>
            </a:outerShdw>
          </a:effectLst>
        </p:spPr>
      </p:sp>
      <p:sp>
        <p:nvSpPr>
          <p:cNvPr id="8" name="Shape 6"/>
          <p:cNvSpPr/>
          <p:nvPr/>
        </p:nvSpPr>
        <p:spPr>
          <a:xfrm>
            <a:off x="731520" y="1435608"/>
            <a:ext cx="914400" cy="914400"/>
          </a:xfrm>
          <a:prstGeom prst="ellipse">
            <a:avLst/>
          </a:prstGeom>
          <a:solidFill>
            <a:srgbClr val="2BB673"/>
          </a:solidFill>
          <a:ln/>
        </p:spPr>
      </p:sp>
      <p:sp>
        <p:nvSpPr>
          <p:cNvPr id="9" name="Text 7"/>
          <p:cNvSpPr txBox="1"/>
          <p:nvPr/>
        </p:nvSpPr>
        <p:spPr>
          <a:xfrm>
            <a:off x="731520" y="1435608"/>
            <a:ext cx="914400" cy="914400"/>
          </a:xfrm>
          <a:prstGeom prst="rect">
            <a:avLst/>
          </a:prstGeom>
          <a:noFill/>
          <a:ln/>
        </p:spPr>
        <p:txBody>
          <a:bodyPr wrap="square" lIns="0" tIns="0" rIns="0" bIns="0" rtlCol="0" anchor="ctr"/>
          <a:lstStyle/>
          <a:p>
            <a:pPr marL="0" indent="0" algn="ctr">
              <a:buNone/>
            </a:pPr>
            <a:r>
              <a:rPr lang="en-US" sz="4000" b="1" dirty="0">
                <a:solidFill>
                  <a:srgbClr val="FFFFFF"/>
                </a:solidFill>
              </a:rPr>
              <a:t>✓</a:t>
            </a:r>
            <a:endParaRPr lang="en-US" sz="4000" dirty="0"/>
          </a:p>
        </p:txBody>
      </p:sp>
      <p:sp>
        <p:nvSpPr>
          <p:cNvPr id="10" name="Text 8"/>
          <p:cNvSpPr txBox="1"/>
          <p:nvPr/>
        </p:nvSpPr>
        <p:spPr>
          <a:xfrm>
            <a:off x="1920240" y="1234440"/>
            <a:ext cx="6583680" cy="1325880"/>
          </a:xfrm>
          <a:prstGeom prst="rect">
            <a:avLst/>
          </a:prstGeom>
          <a:noFill/>
          <a:ln/>
        </p:spPr>
        <p:txBody>
          <a:bodyPr wrap="square" lIns="0" tIns="0" rIns="0" bIns="0" rtlCol="0" anchor="ctr"/>
          <a:lstStyle/>
          <a:p>
            <a:pPr marL="0" indent="0">
              <a:buNone/>
            </a:pPr>
            <a:r>
              <a:rPr lang="en-US" b="1" dirty="0">
                <a:solidFill>
                  <a:srgbClr val="0A3D4A"/>
                </a:solidFill>
              </a:rPr>
              <a:t>B → C → A</a:t>
            </a:r>
            <a:endParaRPr lang="en-US" dirty="0"/>
          </a:p>
        </p:txBody>
      </p:sp>
      <p:sp>
        <p:nvSpPr>
          <p:cNvPr id="11" name="Text 9"/>
          <p:cNvSpPr txBox="1"/>
          <p:nvPr/>
        </p:nvSpPr>
        <p:spPr>
          <a:xfrm>
            <a:off x="548640" y="2697480"/>
            <a:ext cx="8046720" cy="1234440"/>
          </a:xfrm>
          <a:prstGeom prst="rect">
            <a:avLst/>
          </a:prstGeom>
          <a:noFill/>
          <a:ln/>
        </p:spPr>
        <p:txBody>
          <a:bodyPr wrap="square" lIns="0" tIns="0" rIns="0" bIns="0" rtlCol="0" anchor="t"/>
          <a:lstStyle/>
          <a:p>
            <a:pPr marL="0" indent="0">
              <a:spcAft>
                <a:spcPts val="300"/>
              </a:spcAft>
              <a:buNone/>
            </a:pPr>
            <a:r>
              <a:rPr lang="en-US" sz="1700" dirty="0">
                <a:solidFill>
                  <a:srgbClr val="0A3D4A"/>
                </a:solidFill>
              </a:rPr>
              <a:t>Plastic pollution is a major threat to sea turtles.</a:t>
            </a:r>
            <a:endParaRPr lang="en-US" sz="1700" dirty="0"/>
          </a:p>
          <a:p>
            <a:pPr marL="0" indent="0">
              <a:spcAft>
                <a:spcPts val="300"/>
              </a:spcAft>
              <a:buNone/>
            </a:pPr>
            <a:r>
              <a:rPr lang="en-US" sz="1700" dirty="0">
                <a:solidFill>
                  <a:srgbClr val="0A3D4A"/>
                </a:solidFill>
              </a:rPr>
              <a:t>Sea turtles may mistake plastic bags for food.</a:t>
            </a:r>
            <a:endParaRPr lang="en-US" sz="1700" dirty="0"/>
          </a:p>
          <a:p>
            <a:pPr marL="0" indent="0">
              <a:spcAft>
                <a:spcPts val="300"/>
              </a:spcAft>
              <a:buNone/>
            </a:pPr>
            <a:r>
              <a:rPr lang="en-US" sz="1700" dirty="0">
                <a:solidFill>
                  <a:srgbClr val="0A3D4A"/>
                </a:solidFill>
              </a:rPr>
              <a:t>This can cause serious illness or death.</a:t>
            </a:r>
            <a:endParaRPr lang="en-US" sz="1700" dirty="0"/>
          </a:p>
        </p:txBody>
      </p:sp>
      <p:sp>
        <p:nvSpPr>
          <p:cNvPr id="12" name="Shape 10"/>
          <p:cNvSpPr/>
          <p:nvPr/>
        </p:nvSpPr>
        <p:spPr>
          <a:xfrm>
            <a:off x="457200" y="4023360"/>
            <a:ext cx="8229600" cy="685800"/>
          </a:xfrm>
          <a:prstGeom prst="roundRect">
            <a:avLst>
              <a:gd name="adj" fmla="val 20000"/>
            </a:avLst>
          </a:prstGeom>
          <a:solidFill>
            <a:srgbClr val="0A3D4A"/>
          </a:solidFill>
          <a:ln/>
          <a:effectLst>
            <a:outerShdw blurRad="76200" dist="25400" dir="5400000" algn="bl" rotWithShape="0">
              <a:srgbClr val="000000">
                <a:alpha val="15000"/>
              </a:srgbClr>
            </a:outerShdw>
          </a:effectLst>
        </p:spPr>
      </p:sp>
      <p:sp>
        <p:nvSpPr>
          <p:cNvPr id="13" name="Text 11"/>
          <p:cNvSpPr txBox="1"/>
          <p:nvPr/>
        </p:nvSpPr>
        <p:spPr>
          <a:xfrm>
            <a:off x="731520" y="4023360"/>
            <a:ext cx="7680960" cy="685800"/>
          </a:xfrm>
          <a:prstGeom prst="rect">
            <a:avLst/>
          </a:prstGeom>
          <a:noFill/>
          <a:ln/>
        </p:spPr>
        <p:txBody>
          <a:bodyPr wrap="square" lIns="0" tIns="0" rIns="0" bIns="0" rtlCol="0" anchor="ctr"/>
          <a:lstStyle/>
          <a:p>
            <a:pPr marL="0" indent="0">
              <a:buNone/>
            </a:pPr>
            <a:r>
              <a:rPr lang="en-US" sz="2000" b="1" dirty="0">
                <a:solidFill>
                  <a:srgbClr val="FFC857"/>
                </a:solidFill>
              </a:rPr>
              <a:t>Structure: </a:t>
            </a:r>
            <a:r>
              <a:rPr lang="en-US" sz="2000" b="1" dirty="0">
                <a:solidFill>
                  <a:srgbClr val="FFFFFF"/>
                </a:solidFill>
              </a:rPr>
              <a:t>FACT → EXPLANATION → CONSEQUENCE</a:t>
            </a:r>
            <a:endParaRPr lang="en-US" sz="20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0E7C86"/>
                </a:solidFill>
              </a:defRPr>
            </a:lvl1pPr>
          </a:lstStyle>
          <a:p>
            <a:pPr algn="l"/>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7589520" y="-914400"/>
            <a:ext cx="2377440" cy="2377440"/>
          </a:xfrm>
          <a:prstGeom prst="ellipse">
            <a:avLst/>
          </a:prstGeom>
          <a:solidFill>
            <a:srgbClr val="CDEFF1">
              <a:alpha val="80000"/>
            </a:srgbClr>
          </a:solidFill>
          <a:ln/>
        </p:spPr>
      </p:sp>
      <p:sp>
        <p:nvSpPr>
          <p:cNvPr id="3" name="Shape 1"/>
          <p:cNvSpPr/>
          <p:nvPr/>
        </p:nvSpPr>
        <p:spPr>
          <a:xfrm>
            <a:off x="-548640" y="4297680"/>
            <a:ext cx="1463040" cy="1463040"/>
          </a:xfrm>
          <a:prstGeom prst="ellipse">
            <a:avLst/>
          </a:prstGeom>
          <a:solidFill>
            <a:srgbClr val="CDEFF1">
              <a:alpha val="70000"/>
            </a:srgbClr>
          </a:solidFill>
          <a:ln/>
        </p:spPr>
      </p:sp>
      <p:sp>
        <p:nvSpPr>
          <p:cNvPr id="4" name="Shape 2"/>
          <p:cNvSpPr/>
          <p:nvPr/>
        </p:nvSpPr>
        <p:spPr>
          <a:xfrm>
            <a:off x="457200" y="292608"/>
            <a:ext cx="658368" cy="658368"/>
          </a:xfrm>
          <a:prstGeom prst="ellipse">
            <a:avLst/>
          </a:prstGeom>
          <a:solidFill>
            <a:srgbClr val="FF6B5E"/>
          </a:solidFill>
          <a:ln/>
        </p:spPr>
      </p:sp>
      <p:sp>
        <p:nvSpPr>
          <p:cNvPr id="5" name="Text 3"/>
          <p:cNvSpPr txBox="1"/>
          <p:nvPr/>
        </p:nvSpPr>
        <p:spPr>
          <a:xfrm>
            <a:off x="457200" y="292608"/>
            <a:ext cx="658368" cy="658368"/>
          </a:xfrm>
          <a:prstGeom prst="rect">
            <a:avLst/>
          </a:prstGeom>
          <a:noFill/>
          <a:ln/>
        </p:spPr>
        <p:txBody>
          <a:bodyPr wrap="square" lIns="0" tIns="0" rIns="0" bIns="0" rtlCol="0" anchor="ctr"/>
          <a:lstStyle/>
          <a:p>
            <a:pPr marL="0" indent="0" algn="ctr">
              <a:buNone/>
            </a:pPr>
            <a:r>
              <a:rPr lang="en-US" sz="2200" b="1" dirty="0">
                <a:solidFill>
                  <a:srgbClr val="FFFFFF"/>
                </a:solidFill>
              </a:rPr>
              <a:t>🐢</a:t>
            </a:r>
            <a:endParaRPr lang="en-US" sz="2200" dirty="0"/>
          </a:p>
        </p:txBody>
      </p:sp>
      <p:sp>
        <p:nvSpPr>
          <p:cNvPr id="6" name="Text 0"/>
          <p:cNvSpPr>
            <a:spLocks noGrp="1"/>
          </p:cNvSpPr>
          <p:nvPr>
            <p:ph type="title" idx="100" hasCustomPrompt="1"/>
          </p:nvPr>
        </p:nvSpPr>
        <p:spPr>
          <a:xfrm>
            <a:off x="1280160" y="274320"/>
            <a:ext cx="7315200" cy="685800"/>
          </a:xfrm>
          <a:prstGeom prst="rect">
            <a:avLst/>
          </a:prstGeom>
          <a:noFill/>
          <a:ln/>
        </p:spPr>
        <p:txBody>
          <a:bodyPr wrap="square" rtlCol="0" anchor="ctr"/>
          <a:lstStyle/>
          <a:p>
            <a:pPr marL="0" indent="0">
              <a:buNone/>
            </a:pPr>
            <a:r>
              <a:rPr lang="en-US" sz="2600" b="1" dirty="0">
                <a:solidFill>
                  <a:srgbClr val="0A3D4A"/>
                </a:solidFill>
              </a:rPr>
              <a:t>A STRONG REPORT PARAGRAPH</a:t>
            </a:r>
            <a:endParaRPr lang="en-US" sz="2600" dirty="0"/>
          </a:p>
        </p:txBody>
      </p:sp>
      <p:sp>
        <p:nvSpPr>
          <p:cNvPr id="7" name="Shape 5"/>
          <p:cNvSpPr/>
          <p:nvPr/>
        </p:nvSpPr>
        <p:spPr>
          <a:xfrm>
            <a:off x="457200" y="1188720"/>
            <a:ext cx="8229600" cy="2194560"/>
          </a:xfrm>
          <a:prstGeom prst="roundRect">
            <a:avLst>
              <a:gd name="adj" fmla="val 6250"/>
            </a:avLst>
          </a:prstGeom>
          <a:solidFill>
            <a:srgbClr val="FFFFFF"/>
          </a:solidFill>
          <a:ln/>
          <a:effectLst>
            <a:outerShdw blurRad="76200" dist="25400" dir="5400000" algn="bl" rotWithShape="0">
              <a:srgbClr val="000000">
                <a:alpha val="15000"/>
              </a:srgbClr>
            </a:outerShdw>
          </a:effectLst>
        </p:spPr>
      </p:sp>
      <p:sp>
        <p:nvSpPr>
          <p:cNvPr id="8" name="Text 6"/>
          <p:cNvSpPr txBox="1"/>
          <p:nvPr/>
        </p:nvSpPr>
        <p:spPr>
          <a:xfrm>
            <a:off x="731520" y="1280160"/>
            <a:ext cx="7680960" cy="2011680"/>
          </a:xfrm>
          <a:prstGeom prst="rect">
            <a:avLst/>
          </a:prstGeom>
          <a:noFill/>
          <a:ln/>
        </p:spPr>
        <p:txBody>
          <a:bodyPr wrap="square" lIns="0" tIns="0" rIns="0" bIns="0" rtlCol="0" anchor="ctr"/>
          <a:lstStyle/>
          <a:p>
            <a:pPr marL="0" indent="0">
              <a:spcAft>
                <a:spcPts val="400"/>
              </a:spcAft>
              <a:buNone/>
            </a:pPr>
            <a:r>
              <a:rPr lang="en-US" sz="2400" b="1" dirty="0">
                <a:solidFill>
                  <a:srgbClr val="0E7C86"/>
                </a:solidFill>
              </a:rPr>
              <a:t>THREATS TO SEA TURTLES</a:t>
            </a:r>
            <a:endParaRPr lang="en-US" sz="2400" dirty="0"/>
          </a:p>
          <a:p>
            <a:pPr marL="0" indent="0">
              <a:spcAft>
                <a:spcPts val="400"/>
              </a:spcAft>
              <a:buNone/>
            </a:pPr>
            <a:r>
              <a:rPr lang="en-US" sz="2000" dirty="0">
                <a:solidFill>
                  <a:srgbClr val="0A3D4A"/>
                </a:solidFill>
              </a:rPr>
              <a:t>Sea turtles face several threats in the ocean. </a:t>
            </a:r>
            <a:r>
              <a:rPr lang="en-US" sz="2000" b="1" dirty="0">
                <a:solidFill>
                  <a:srgbClr val="FF6B5E"/>
                </a:solidFill>
              </a:rPr>
              <a:t>One major danger is plastic pollution.</a:t>
            </a:r>
            <a:r>
              <a:rPr lang="en-US" sz="2000" dirty="0">
                <a:solidFill>
                  <a:srgbClr val="0A3D4A"/>
                </a:solidFill>
              </a:rPr>
              <a:t> Turtles may mistake plastic bags for food, </a:t>
            </a:r>
            <a:r>
              <a:rPr lang="en-US" sz="2000" b="1" dirty="0">
                <a:solidFill>
                  <a:srgbClr val="FF6B5E"/>
                </a:solidFill>
              </a:rPr>
              <a:t>which can cause serious illness or death</a:t>
            </a:r>
            <a:r>
              <a:rPr lang="en-US" sz="2000" dirty="0">
                <a:solidFill>
                  <a:srgbClr val="0A3D4A"/>
                </a:solidFill>
              </a:rPr>
              <a:t>. </a:t>
            </a:r>
            <a:r>
              <a:rPr lang="en-US" sz="2000" b="1" dirty="0">
                <a:solidFill>
                  <a:srgbClr val="FF6B5E"/>
                </a:solidFill>
              </a:rPr>
              <a:t>In addition</a:t>
            </a:r>
            <a:r>
              <a:rPr lang="en-US" sz="2000" dirty="0">
                <a:solidFill>
                  <a:srgbClr val="0A3D4A"/>
                </a:solidFill>
              </a:rPr>
              <a:t>, they can become trapped in fishing equipment. </a:t>
            </a:r>
            <a:r>
              <a:rPr lang="en-US" sz="2000" b="1" dirty="0">
                <a:solidFill>
                  <a:srgbClr val="FF6B5E"/>
                </a:solidFill>
              </a:rPr>
              <a:t>As a result</a:t>
            </a:r>
            <a:r>
              <a:rPr lang="en-US" sz="2000" dirty="0">
                <a:solidFill>
                  <a:srgbClr val="0A3D4A"/>
                </a:solidFill>
              </a:rPr>
              <a:t>, some turtles are seriously injured or killed.</a:t>
            </a:r>
            <a:endParaRPr lang="en-US" sz="2000" dirty="0"/>
          </a:p>
        </p:txBody>
      </p:sp>
      <p:sp>
        <p:nvSpPr>
          <p:cNvPr id="9" name="Text 7"/>
          <p:cNvSpPr txBox="1"/>
          <p:nvPr/>
        </p:nvSpPr>
        <p:spPr>
          <a:xfrm>
            <a:off x="457200" y="3430988"/>
            <a:ext cx="8229600" cy="274320"/>
          </a:xfrm>
          <a:prstGeom prst="rect">
            <a:avLst/>
          </a:prstGeom>
          <a:noFill/>
          <a:ln/>
        </p:spPr>
        <p:txBody>
          <a:bodyPr wrap="square" lIns="0" tIns="0" rIns="0" bIns="0" rtlCol="0" anchor="t"/>
          <a:lstStyle/>
          <a:p>
            <a:pPr marL="0" indent="0">
              <a:buNone/>
            </a:pPr>
            <a:r>
              <a:rPr lang="en-US" sz="2000" b="1" i="1" dirty="0">
                <a:solidFill>
                  <a:srgbClr val="4A6B73"/>
                </a:solidFill>
              </a:rPr>
              <a:t>Let's investigate:</a:t>
            </a:r>
            <a:endParaRPr lang="en-US" sz="2000" b="1" dirty="0"/>
          </a:p>
        </p:txBody>
      </p:sp>
      <p:sp>
        <p:nvSpPr>
          <p:cNvPr id="10" name="Shape 8"/>
          <p:cNvSpPr/>
          <p:nvPr/>
        </p:nvSpPr>
        <p:spPr>
          <a:xfrm>
            <a:off x="457200" y="3840480"/>
            <a:ext cx="1536192" cy="640080"/>
          </a:xfrm>
          <a:prstGeom prst="roundRect">
            <a:avLst>
              <a:gd name="adj" fmla="val 21429"/>
            </a:avLst>
          </a:prstGeom>
          <a:solidFill>
            <a:srgbClr val="FFFFFF"/>
          </a:solidFill>
          <a:ln/>
          <a:effectLst>
            <a:outerShdw blurRad="76200" dist="25400" dir="5400000" algn="bl" rotWithShape="0">
              <a:srgbClr val="000000">
                <a:alpha val="15000"/>
              </a:srgbClr>
            </a:outerShdw>
          </a:effectLst>
        </p:spPr>
      </p:sp>
      <p:sp>
        <p:nvSpPr>
          <p:cNvPr id="11" name="Text 9"/>
          <p:cNvSpPr txBox="1"/>
          <p:nvPr/>
        </p:nvSpPr>
        <p:spPr>
          <a:xfrm>
            <a:off x="548640" y="3840480"/>
            <a:ext cx="1353312" cy="640080"/>
          </a:xfrm>
          <a:prstGeom prst="rect">
            <a:avLst/>
          </a:prstGeom>
          <a:noFill/>
          <a:ln/>
        </p:spPr>
        <p:txBody>
          <a:bodyPr wrap="square" lIns="0" tIns="0" rIns="0" bIns="0" rtlCol="0" anchor="ctr"/>
          <a:lstStyle/>
          <a:p>
            <a:pPr marL="0" indent="0" algn="ctr">
              <a:buNone/>
            </a:pPr>
            <a:r>
              <a:rPr lang="en-US" sz="2400" b="1" dirty="0">
                <a:solidFill>
                  <a:srgbClr val="0A3D4A"/>
                </a:solidFill>
              </a:rPr>
              <a:t>🔎 Fact</a:t>
            </a:r>
            <a:endParaRPr lang="en-US" sz="2400" dirty="0"/>
          </a:p>
        </p:txBody>
      </p:sp>
      <p:sp>
        <p:nvSpPr>
          <p:cNvPr id="12" name="Shape 10"/>
          <p:cNvSpPr/>
          <p:nvPr/>
        </p:nvSpPr>
        <p:spPr>
          <a:xfrm>
            <a:off x="2130552" y="3840480"/>
            <a:ext cx="1536192" cy="640080"/>
          </a:xfrm>
          <a:prstGeom prst="roundRect">
            <a:avLst>
              <a:gd name="adj" fmla="val 21429"/>
            </a:avLst>
          </a:prstGeom>
          <a:solidFill>
            <a:srgbClr val="FFFFFF"/>
          </a:solidFill>
          <a:ln/>
          <a:effectLst>
            <a:outerShdw blurRad="76200" dist="25400" dir="5400000" algn="bl" rotWithShape="0">
              <a:srgbClr val="000000">
                <a:alpha val="15000"/>
              </a:srgbClr>
            </a:outerShdw>
          </a:effectLst>
        </p:spPr>
      </p:sp>
      <p:sp>
        <p:nvSpPr>
          <p:cNvPr id="13" name="Text 11"/>
          <p:cNvSpPr txBox="1"/>
          <p:nvPr/>
        </p:nvSpPr>
        <p:spPr>
          <a:xfrm>
            <a:off x="2221992" y="3840480"/>
            <a:ext cx="1353312" cy="640080"/>
          </a:xfrm>
          <a:prstGeom prst="rect">
            <a:avLst/>
          </a:prstGeom>
          <a:noFill/>
          <a:ln/>
        </p:spPr>
        <p:txBody>
          <a:bodyPr wrap="square" lIns="0" tIns="0" rIns="0" bIns="0" rtlCol="0" anchor="ctr"/>
          <a:lstStyle/>
          <a:p>
            <a:pPr marL="0" indent="0" algn="ctr">
              <a:buNone/>
            </a:pPr>
            <a:r>
              <a:rPr lang="en-US" b="1" dirty="0">
                <a:solidFill>
                  <a:srgbClr val="0A3D4A"/>
                </a:solidFill>
              </a:rPr>
              <a:t>Explanation</a:t>
            </a:r>
            <a:endParaRPr lang="en-US" dirty="0"/>
          </a:p>
        </p:txBody>
      </p:sp>
      <p:sp>
        <p:nvSpPr>
          <p:cNvPr id="14" name="Shape 12"/>
          <p:cNvSpPr/>
          <p:nvPr/>
        </p:nvSpPr>
        <p:spPr>
          <a:xfrm>
            <a:off x="3803904" y="3840480"/>
            <a:ext cx="1536192" cy="640080"/>
          </a:xfrm>
          <a:prstGeom prst="roundRect">
            <a:avLst>
              <a:gd name="adj" fmla="val 21429"/>
            </a:avLst>
          </a:prstGeom>
          <a:solidFill>
            <a:srgbClr val="FFFFFF"/>
          </a:solidFill>
          <a:ln/>
          <a:effectLst>
            <a:outerShdw blurRad="76200" dist="25400" dir="5400000" algn="bl" rotWithShape="0">
              <a:srgbClr val="000000">
                <a:alpha val="15000"/>
              </a:srgbClr>
            </a:outerShdw>
          </a:effectLst>
        </p:spPr>
      </p:sp>
      <p:sp>
        <p:nvSpPr>
          <p:cNvPr id="15" name="Text 13"/>
          <p:cNvSpPr txBox="1"/>
          <p:nvPr/>
        </p:nvSpPr>
        <p:spPr>
          <a:xfrm>
            <a:off x="3895344" y="3840480"/>
            <a:ext cx="1353312" cy="640080"/>
          </a:xfrm>
          <a:prstGeom prst="rect">
            <a:avLst/>
          </a:prstGeom>
          <a:noFill/>
          <a:ln/>
        </p:spPr>
        <p:txBody>
          <a:bodyPr wrap="square" lIns="0" tIns="0" rIns="0" bIns="0" rtlCol="0" anchor="ctr"/>
          <a:lstStyle/>
          <a:p>
            <a:pPr marL="0" indent="0" algn="ctr">
              <a:buNone/>
            </a:pPr>
            <a:r>
              <a:rPr lang="en-US" sz="1600" b="1" dirty="0">
                <a:solidFill>
                  <a:srgbClr val="0A3D4A"/>
                </a:solidFill>
              </a:rPr>
              <a:t>Relative clause</a:t>
            </a:r>
            <a:endParaRPr lang="en-US" sz="1600" dirty="0"/>
          </a:p>
        </p:txBody>
      </p:sp>
      <p:sp>
        <p:nvSpPr>
          <p:cNvPr id="16" name="Shape 14"/>
          <p:cNvSpPr/>
          <p:nvPr/>
        </p:nvSpPr>
        <p:spPr>
          <a:xfrm>
            <a:off x="5477256" y="3840480"/>
            <a:ext cx="1536192" cy="640080"/>
          </a:xfrm>
          <a:prstGeom prst="roundRect">
            <a:avLst>
              <a:gd name="adj" fmla="val 21429"/>
            </a:avLst>
          </a:prstGeom>
          <a:solidFill>
            <a:srgbClr val="FFFFFF"/>
          </a:solidFill>
          <a:ln/>
          <a:effectLst>
            <a:outerShdw blurRad="76200" dist="25400" dir="5400000" algn="bl" rotWithShape="0">
              <a:srgbClr val="000000">
                <a:alpha val="15000"/>
              </a:srgbClr>
            </a:outerShdw>
          </a:effectLst>
        </p:spPr>
      </p:sp>
      <p:sp>
        <p:nvSpPr>
          <p:cNvPr id="17" name="Text 15"/>
          <p:cNvSpPr txBox="1"/>
          <p:nvPr/>
        </p:nvSpPr>
        <p:spPr>
          <a:xfrm>
            <a:off x="5568696" y="3840480"/>
            <a:ext cx="1353312" cy="640080"/>
          </a:xfrm>
          <a:prstGeom prst="rect">
            <a:avLst/>
          </a:prstGeom>
          <a:noFill/>
          <a:ln/>
        </p:spPr>
        <p:txBody>
          <a:bodyPr wrap="square" lIns="0" tIns="0" rIns="0" bIns="0" rtlCol="0" anchor="ctr"/>
          <a:lstStyle/>
          <a:p>
            <a:pPr marL="0" indent="0" algn="ctr">
              <a:buNone/>
            </a:pPr>
            <a:r>
              <a:rPr lang="en-US" b="1" dirty="0">
                <a:solidFill>
                  <a:srgbClr val="0A3D4A"/>
                </a:solidFill>
              </a:rPr>
              <a:t>🔎 Connector</a:t>
            </a:r>
            <a:endParaRPr lang="en-US" dirty="0"/>
          </a:p>
        </p:txBody>
      </p:sp>
      <p:sp>
        <p:nvSpPr>
          <p:cNvPr id="18" name="Shape 16"/>
          <p:cNvSpPr/>
          <p:nvPr/>
        </p:nvSpPr>
        <p:spPr>
          <a:xfrm>
            <a:off x="7150608" y="3840480"/>
            <a:ext cx="1536192" cy="640080"/>
          </a:xfrm>
          <a:prstGeom prst="roundRect">
            <a:avLst>
              <a:gd name="adj" fmla="val 21429"/>
            </a:avLst>
          </a:prstGeom>
          <a:solidFill>
            <a:srgbClr val="FFFFFF"/>
          </a:solidFill>
          <a:ln/>
          <a:effectLst>
            <a:outerShdw blurRad="76200" dist="25400" dir="5400000" algn="bl" rotWithShape="0">
              <a:srgbClr val="000000">
                <a:alpha val="15000"/>
              </a:srgbClr>
            </a:outerShdw>
          </a:effectLst>
        </p:spPr>
      </p:sp>
      <p:sp>
        <p:nvSpPr>
          <p:cNvPr id="19" name="Text 17"/>
          <p:cNvSpPr txBox="1"/>
          <p:nvPr/>
        </p:nvSpPr>
        <p:spPr>
          <a:xfrm>
            <a:off x="7242048" y="3840480"/>
            <a:ext cx="1353312" cy="640080"/>
          </a:xfrm>
          <a:prstGeom prst="rect">
            <a:avLst/>
          </a:prstGeom>
          <a:noFill/>
          <a:ln/>
        </p:spPr>
        <p:txBody>
          <a:bodyPr wrap="square" lIns="0" tIns="0" rIns="0" bIns="0" rtlCol="0" anchor="ctr"/>
          <a:lstStyle/>
          <a:p>
            <a:pPr marL="0" indent="0" algn="ctr">
              <a:buNone/>
            </a:pPr>
            <a:r>
              <a:rPr lang="en-US" sz="1600" b="1" dirty="0">
                <a:solidFill>
                  <a:srgbClr val="0A3D4A"/>
                </a:solidFill>
              </a:rPr>
              <a:t> Consequence</a:t>
            </a:r>
            <a:endParaRPr lang="en-US" sz="16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0E7C86"/>
                </a:solidFill>
              </a:defRPr>
            </a:lvl1pPr>
          </a:lstStyle>
          <a:p>
            <a:pPr algn="l"/>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7589520" y="-914400"/>
            <a:ext cx="2377440" cy="2377440"/>
          </a:xfrm>
          <a:prstGeom prst="ellipse">
            <a:avLst/>
          </a:prstGeom>
          <a:solidFill>
            <a:srgbClr val="CDEFF1">
              <a:alpha val="80000"/>
            </a:srgbClr>
          </a:solidFill>
          <a:ln/>
        </p:spPr>
      </p:sp>
      <p:sp>
        <p:nvSpPr>
          <p:cNvPr id="3" name="Shape 1"/>
          <p:cNvSpPr/>
          <p:nvPr/>
        </p:nvSpPr>
        <p:spPr>
          <a:xfrm>
            <a:off x="-548640" y="4297680"/>
            <a:ext cx="1463040" cy="1463040"/>
          </a:xfrm>
          <a:prstGeom prst="ellipse">
            <a:avLst/>
          </a:prstGeom>
          <a:solidFill>
            <a:srgbClr val="CDEFF1">
              <a:alpha val="70000"/>
            </a:srgbClr>
          </a:solidFill>
          <a:ln/>
        </p:spPr>
      </p:sp>
      <p:sp>
        <p:nvSpPr>
          <p:cNvPr id="5" name="Text 3"/>
          <p:cNvSpPr txBox="1"/>
          <p:nvPr/>
        </p:nvSpPr>
        <p:spPr>
          <a:xfrm>
            <a:off x="2047461" y="257092"/>
            <a:ext cx="658368" cy="658368"/>
          </a:xfrm>
          <a:prstGeom prst="rect">
            <a:avLst/>
          </a:prstGeom>
          <a:noFill/>
          <a:ln/>
        </p:spPr>
        <p:txBody>
          <a:bodyPr wrap="square" lIns="0" tIns="0" rIns="0" bIns="0" rtlCol="0" anchor="ctr"/>
          <a:lstStyle/>
          <a:p>
            <a:pPr marL="0" indent="0" algn="ctr">
              <a:buNone/>
            </a:pPr>
            <a:r>
              <a:rPr lang="en-US" sz="2200" b="1" dirty="0">
                <a:solidFill>
                  <a:srgbClr val="FFFFFF"/>
                </a:solidFill>
              </a:rPr>
              <a:t>🕵️</a:t>
            </a:r>
            <a:endParaRPr lang="en-US" sz="2200" dirty="0"/>
          </a:p>
        </p:txBody>
      </p:sp>
      <p:sp>
        <p:nvSpPr>
          <p:cNvPr id="6" name="Text 0"/>
          <p:cNvSpPr>
            <a:spLocks noGrp="1"/>
          </p:cNvSpPr>
          <p:nvPr>
            <p:ph type="title" idx="100" hasCustomPrompt="1"/>
          </p:nvPr>
        </p:nvSpPr>
        <p:spPr>
          <a:xfrm>
            <a:off x="1280160" y="274320"/>
            <a:ext cx="7315200" cy="685800"/>
          </a:xfrm>
          <a:prstGeom prst="rect">
            <a:avLst/>
          </a:prstGeom>
          <a:noFill/>
          <a:ln/>
        </p:spPr>
        <p:txBody>
          <a:bodyPr wrap="square" rtlCol="0" anchor="ctr"/>
          <a:lstStyle/>
          <a:p>
            <a:pPr marL="0" indent="0">
              <a:buNone/>
            </a:pPr>
            <a:r>
              <a:rPr lang="en-US" sz="2600" b="1" dirty="0">
                <a:solidFill>
                  <a:srgbClr val="0A3D4A"/>
                </a:solidFill>
              </a:rPr>
              <a:t>REPORT WRITING DETECTIVE</a:t>
            </a:r>
            <a:endParaRPr lang="en-US" sz="2600" dirty="0"/>
          </a:p>
        </p:txBody>
      </p:sp>
      <p:sp>
        <p:nvSpPr>
          <p:cNvPr id="7" name="Text 5"/>
          <p:cNvSpPr txBox="1"/>
          <p:nvPr/>
        </p:nvSpPr>
        <p:spPr>
          <a:xfrm>
            <a:off x="457200" y="777240"/>
            <a:ext cx="8229600" cy="274320"/>
          </a:xfrm>
          <a:prstGeom prst="rect">
            <a:avLst/>
          </a:prstGeom>
          <a:noFill/>
          <a:ln/>
        </p:spPr>
        <p:txBody>
          <a:bodyPr wrap="square" lIns="0" tIns="0" rIns="0" bIns="0" rtlCol="0" anchor="t"/>
          <a:lstStyle/>
          <a:p>
            <a:pPr marL="0" indent="0">
              <a:buNone/>
            </a:pPr>
            <a:r>
              <a:rPr lang="en-US" sz="2800" b="1" i="1" dirty="0">
                <a:solidFill>
                  <a:srgbClr val="4A6B73"/>
                </a:solidFill>
              </a:rPr>
              <a:t>Find:</a:t>
            </a:r>
            <a:endParaRPr lang="en-US" sz="2800" b="1" dirty="0"/>
          </a:p>
        </p:txBody>
      </p:sp>
      <p:sp>
        <p:nvSpPr>
          <p:cNvPr id="8" name="Shape 6"/>
          <p:cNvSpPr/>
          <p:nvPr/>
        </p:nvSpPr>
        <p:spPr>
          <a:xfrm>
            <a:off x="457200" y="1234440"/>
            <a:ext cx="8229600" cy="566928"/>
          </a:xfrm>
          <a:prstGeom prst="roundRect">
            <a:avLst>
              <a:gd name="adj" fmla="val 24194"/>
            </a:avLst>
          </a:prstGeom>
          <a:solidFill>
            <a:srgbClr val="FFFFFF"/>
          </a:solidFill>
          <a:ln/>
          <a:effectLst>
            <a:outerShdw blurRad="76200" dist="25400" dir="5400000" algn="bl" rotWithShape="0">
              <a:srgbClr val="000000">
                <a:alpha val="15000"/>
              </a:srgbClr>
            </a:outerShdw>
          </a:effectLst>
        </p:spPr>
      </p:sp>
      <p:sp>
        <p:nvSpPr>
          <p:cNvPr id="9" name="Shape 7"/>
          <p:cNvSpPr/>
          <p:nvPr/>
        </p:nvSpPr>
        <p:spPr>
          <a:xfrm>
            <a:off x="594360" y="1325880"/>
            <a:ext cx="384048" cy="384048"/>
          </a:xfrm>
          <a:prstGeom prst="ellipse">
            <a:avLst/>
          </a:prstGeom>
          <a:solidFill>
            <a:srgbClr val="FF6B5E"/>
          </a:solidFill>
          <a:ln/>
        </p:spPr>
      </p:sp>
      <p:sp>
        <p:nvSpPr>
          <p:cNvPr id="10" name="Text 8"/>
          <p:cNvSpPr txBox="1"/>
          <p:nvPr/>
        </p:nvSpPr>
        <p:spPr>
          <a:xfrm>
            <a:off x="594360" y="132588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rPr>
              <a:t>1</a:t>
            </a:r>
            <a:endParaRPr lang="en-US" sz="1500" dirty="0"/>
          </a:p>
        </p:txBody>
      </p:sp>
      <p:sp>
        <p:nvSpPr>
          <p:cNvPr id="11" name="Text 9"/>
          <p:cNvSpPr txBox="1"/>
          <p:nvPr/>
        </p:nvSpPr>
        <p:spPr>
          <a:xfrm>
            <a:off x="1188720" y="1234440"/>
            <a:ext cx="7315200" cy="566928"/>
          </a:xfrm>
          <a:prstGeom prst="rect">
            <a:avLst/>
          </a:prstGeom>
          <a:noFill/>
          <a:ln/>
        </p:spPr>
        <p:txBody>
          <a:bodyPr wrap="square" lIns="0" tIns="0" rIns="0" bIns="0" rtlCol="0" anchor="ctr"/>
          <a:lstStyle/>
          <a:p>
            <a:pPr marL="0" indent="0">
              <a:buNone/>
            </a:pPr>
            <a:r>
              <a:rPr lang="en-US" sz="1800" dirty="0">
                <a:solidFill>
                  <a:srgbClr val="0A3D4A"/>
                </a:solidFill>
              </a:rPr>
              <a:t>The </a:t>
            </a:r>
            <a:r>
              <a:rPr lang="en-US" sz="1800" b="1" dirty="0">
                <a:solidFill>
                  <a:srgbClr val="0A3D4A"/>
                </a:solidFill>
              </a:rPr>
              <a:t>main fact</a:t>
            </a:r>
            <a:r>
              <a:rPr lang="en-US" sz="1800" dirty="0">
                <a:solidFill>
                  <a:srgbClr val="0A3D4A"/>
                </a:solidFill>
              </a:rPr>
              <a:t>.</a:t>
            </a:r>
            <a:endParaRPr lang="en-US" sz="1800" dirty="0"/>
          </a:p>
        </p:txBody>
      </p:sp>
      <p:sp>
        <p:nvSpPr>
          <p:cNvPr id="12" name="Shape 10"/>
          <p:cNvSpPr/>
          <p:nvPr/>
        </p:nvSpPr>
        <p:spPr>
          <a:xfrm>
            <a:off x="457200" y="1892808"/>
            <a:ext cx="8229600" cy="566928"/>
          </a:xfrm>
          <a:prstGeom prst="roundRect">
            <a:avLst>
              <a:gd name="adj" fmla="val 24194"/>
            </a:avLst>
          </a:prstGeom>
          <a:solidFill>
            <a:srgbClr val="FFFFFF"/>
          </a:solidFill>
          <a:ln/>
          <a:effectLst>
            <a:outerShdw blurRad="76200" dist="25400" dir="5400000" algn="bl" rotWithShape="0">
              <a:srgbClr val="000000">
                <a:alpha val="15000"/>
              </a:srgbClr>
            </a:outerShdw>
          </a:effectLst>
        </p:spPr>
      </p:sp>
      <p:sp>
        <p:nvSpPr>
          <p:cNvPr id="13" name="Shape 11"/>
          <p:cNvSpPr/>
          <p:nvPr/>
        </p:nvSpPr>
        <p:spPr>
          <a:xfrm>
            <a:off x="594360" y="1984248"/>
            <a:ext cx="384048" cy="384048"/>
          </a:xfrm>
          <a:prstGeom prst="ellipse">
            <a:avLst/>
          </a:prstGeom>
          <a:solidFill>
            <a:srgbClr val="0E7C86"/>
          </a:solidFill>
          <a:ln/>
        </p:spPr>
      </p:sp>
      <p:sp>
        <p:nvSpPr>
          <p:cNvPr id="14" name="Text 12"/>
          <p:cNvSpPr txBox="1"/>
          <p:nvPr/>
        </p:nvSpPr>
        <p:spPr>
          <a:xfrm>
            <a:off x="594360" y="198424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rPr>
              <a:t>2</a:t>
            </a:r>
            <a:endParaRPr lang="en-US" sz="1500" dirty="0"/>
          </a:p>
        </p:txBody>
      </p:sp>
      <p:sp>
        <p:nvSpPr>
          <p:cNvPr id="15" name="Text 13"/>
          <p:cNvSpPr txBox="1"/>
          <p:nvPr/>
        </p:nvSpPr>
        <p:spPr>
          <a:xfrm>
            <a:off x="1188720" y="1892808"/>
            <a:ext cx="7315200" cy="566928"/>
          </a:xfrm>
          <a:prstGeom prst="rect">
            <a:avLst/>
          </a:prstGeom>
          <a:noFill/>
          <a:ln/>
        </p:spPr>
        <p:txBody>
          <a:bodyPr wrap="square" lIns="0" tIns="0" rIns="0" bIns="0" rtlCol="0" anchor="ctr"/>
          <a:lstStyle/>
          <a:p>
            <a:pPr marL="0" indent="0">
              <a:buNone/>
            </a:pPr>
            <a:r>
              <a:rPr lang="en-US" sz="1800" dirty="0">
                <a:solidFill>
                  <a:srgbClr val="0A3D4A"/>
                </a:solidFill>
              </a:rPr>
              <a:t>An </a:t>
            </a:r>
            <a:r>
              <a:rPr lang="en-US" sz="1800" b="1" dirty="0">
                <a:solidFill>
                  <a:srgbClr val="0A3D4A"/>
                </a:solidFill>
              </a:rPr>
              <a:t>explanation</a:t>
            </a:r>
            <a:r>
              <a:rPr lang="en-US" sz="1800" dirty="0">
                <a:solidFill>
                  <a:srgbClr val="0A3D4A"/>
                </a:solidFill>
              </a:rPr>
              <a:t>.</a:t>
            </a:r>
            <a:endParaRPr lang="en-US" sz="1800" dirty="0"/>
          </a:p>
        </p:txBody>
      </p:sp>
      <p:sp>
        <p:nvSpPr>
          <p:cNvPr id="16" name="Shape 14"/>
          <p:cNvSpPr/>
          <p:nvPr/>
        </p:nvSpPr>
        <p:spPr>
          <a:xfrm>
            <a:off x="457200" y="2551176"/>
            <a:ext cx="8229600" cy="566928"/>
          </a:xfrm>
          <a:prstGeom prst="roundRect">
            <a:avLst>
              <a:gd name="adj" fmla="val 24194"/>
            </a:avLst>
          </a:prstGeom>
          <a:solidFill>
            <a:srgbClr val="FFFFFF"/>
          </a:solidFill>
          <a:ln/>
          <a:effectLst>
            <a:outerShdw blurRad="76200" dist="25400" dir="5400000" algn="bl" rotWithShape="0">
              <a:srgbClr val="000000">
                <a:alpha val="15000"/>
              </a:srgbClr>
            </a:outerShdw>
          </a:effectLst>
        </p:spPr>
      </p:sp>
      <p:sp>
        <p:nvSpPr>
          <p:cNvPr id="17" name="Shape 15"/>
          <p:cNvSpPr/>
          <p:nvPr/>
        </p:nvSpPr>
        <p:spPr>
          <a:xfrm>
            <a:off x="594360" y="2642616"/>
            <a:ext cx="384048" cy="384048"/>
          </a:xfrm>
          <a:prstGeom prst="ellipse">
            <a:avLst/>
          </a:prstGeom>
          <a:solidFill>
            <a:srgbClr val="3A86C8"/>
          </a:solidFill>
          <a:ln/>
        </p:spPr>
      </p:sp>
      <p:sp>
        <p:nvSpPr>
          <p:cNvPr id="18" name="Text 16"/>
          <p:cNvSpPr txBox="1"/>
          <p:nvPr/>
        </p:nvSpPr>
        <p:spPr>
          <a:xfrm>
            <a:off x="594360" y="2642616"/>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rPr>
              <a:t>3</a:t>
            </a:r>
            <a:endParaRPr lang="en-US" sz="1500" dirty="0"/>
          </a:p>
        </p:txBody>
      </p:sp>
      <p:sp>
        <p:nvSpPr>
          <p:cNvPr id="19" name="Text 17"/>
          <p:cNvSpPr txBox="1"/>
          <p:nvPr/>
        </p:nvSpPr>
        <p:spPr>
          <a:xfrm>
            <a:off x="1188720" y="2551176"/>
            <a:ext cx="7315200" cy="566928"/>
          </a:xfrm>
          <a:prstGeom prst="rect">
            <a:avLst/>
          </a:prstGeom>
          <a:noFill/>
          <a:ln/>
        </p:spPr>
        <p:txBody>
          <a:bodyPr wrap="square" lIns="0" tIns="0" rIns="0" bIns="0" rtlCol="0" anchor="ctr"/>
          <a:lstStyle/>
          <a:p>
            <a:pPr marL="0" indent="0">
              <a:buNone/>
            </a:pPr>
            <a:r>
              <a:rPr lang="en-US" sz="1800" dirty="0">
                <a:solidFill>
                  <a:srgbClr val="0A3D4A"/>
                </a:solidFill>
              </a:rPr>
              <a:t>A </a:t>
            </a:r>
            <a:r>
              <a:rPr lang="en-US" sz="1800" b="1" dirty="0">
                <a:solidFill>
                  <a:srgbClr val="0A3D4A"/>
                </a:solidFill>
              </a:rPr>
              <a:t>relative clause</a:t>
            </a:r>
            <a:r>
              <a:rPr lang="en-US" sz="1800" dirty="0">
                <a:solidFill>
                  <a:srgbClr val="0A3D4A"/>
                </a:solidFill>
              </a:rPr>
              <a:t>.</a:t>
            </a:r>
            <a:endParaRPr lang="en-US" sz="1800" dirty="0"/>
          </a:p>
        </p:txBody>
      </p:sp>
      <p:sp>
        <p:nvSpPr>
          <p:cNvPr id="20" name="Shape 18"/>
          <p:cNvSpPr/>
          <p:nvPr/>
        </p:nvSpPr>
        <p:spPr>
          <a:xfrm>
            <a:off x="457200" y="3209544"/>
            <a:ext cx="8229600" cy="566928"/>
          </a:xfrm>
          <a:prstGeom prst="roundRect">
            <a:avLst>
              <a:gd name="adj" fmla="val 24194"/>
            </a:avLst>
          </a:prstGeom>
          <a:solidFill>
            <a:srgbClr val="FFFFFF"/>
          </a:solidFill>
          <a:ln/>
          <a:effectLst>
            <a:outerShdw blurRad="76200" dist="25400" dir="5400000" algn="bl" rotWithShape="0">
              <a:srgbClr val="000000">
                <a:alpha val="15000"/>
              </a:srgbClr>
            </a:outerShdw>
          </a:effectLst>
        </p:spPr>
      </p:sp>
      <p:sp>
        <p:nvSpPr>
          <p:cNvPr id="21" name="Shape 19"/>
          <p:cNvSpPr/>
          <p:nvPr/>
        </p:nvSpPr>
        <p:spPr>
          <a:xfrm>
            <a:off x="594360" y="3300984"/>
            <a:ext cx="384048" cy="384048"/>
          </a:xfrm>
          <a:prstGeom prst="ellipse">
            <a:avLst/>
          </a:prstGeom>
          <a:solidFill>
            <a:srgbClr val="7B5EA7"/>
          </a:solidFill>
          <a:ln/>
        </p:spPr>
      </p:sp>
      <p:sp>
        <p:nvSpPr>
          <p:cNvPr id="22" name="Text 20"/>
          <p:cNvSpPr txBox="1"/>
          <p:nvPr/>
        </p:nvSpPr>
        <p:spPr>
          <a:xfrm>
            <a:off x="594360" y="3300984"/>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rPr>
              <a:t>4</a:t>
            </a:r>
            <a:endParaRPr lang="en-US" sz="1500" dirty="0"/>
          </a:p>
        </p:txBody>
      </p:sp>
      <p:sp>
        <p:nvSpPr>
          <p:cNvPr id="23" name="Text 21"/>
          <p:cNvSpPr txBox="1"/>
          <p:nvPr/>
        </p:nvSpPr>
        <p:spPr>
          <a:xfrm>
            <a:off x="1188720" y="3209544"/>
            <a:ext cx="7315200" cy="566928"/>
          </a:xfrm>
          <a:prstGeom prst="rect">
            <a:avLst/>
          </a:prstGeom>
          <a:noFill/>
          <a:ln/>
        </p:spPr>
        <p:txBody>
          <a:bodyPr wrap="square" lIns="0" tIns="0" rIns="0" bIns="0" rtlCol="0" anchor="ctr"/>
          <a:lstStyle/>
          <a:p>
            <a:pPr marL="0" indent="0">
              <a:buNone/>
            </a:pPr>
            <a:r>
              <a:rPr lang="en-US" sz="1800" dirty="0">
                <a:solidFill>
                  <a:srgbClr val="0A3D4A"/>
                </a:solidFill>
              </a:rPr>
              <a:t>A </a:t>
            </a:r>
            <a:r>
              <a:rPr lang="en-US" sz="1800" b="1" dirty="0">
                <a:solidFill>
                  <a:srgbClr val="0A3D4A"/>
                </a:solidFill>
              </a:rPr>
              <a:t>connector</a:t>
            </a:r>
            <a:r>
              <a:rPr lang="en-US" sz="1800" dirty="0">
                <a:solidFill>
                  <a:srgbClr val="0A3D4A"/>
                </a:solidFill>
              </a:rPr>
              <a:t>.</a:t>
            </a:r>
            <a:endParaRPr lang="en-US" sz="1800" dirty="0"/>
          </a:p>
        </p:txBody>
      </p:sp>
      <p:sp>
        <p:nvSpPr>
          <p:cNvPr id="24" name="Shape 22"/>
          <p:cNvSpPr/>
          <p:nvPr/>
        </p:nvSpPr>
        <p:spPr>
          <a:xfrm>
            <a:off x="457200" y="3867912"/>
            <a:ext cx="8229600" cy="566928"/>
          </a:xfrm>
          <a:prstGeom prst="roundRect">
            <a:avLst>
              <a:gd name="adj" fmla="val 24194"/>
            </a:avLst>
          </a:prstGeom>
          <a:solidFill>
            <a:srgbClr val="FFFFFF"/>
          </a:solidFill>
          <a:ln/>
          <a:effectLst>
            <a:outerShdw blurRad="76200" dist="25400" dir="5400000" algn="bl" rotWithShape="0">
              <a:srgbClr val="000000">
                <a:alpha val="15000"/>
              </a:srgbClr>
            </a:outerShdw>
          </a:effectLst>
        </p:spPr>
      </p:sp>
      <p:sp>
        <p:nvSpPr>
          <p:cNvPr id="25" name="Shape 23"/>
          <p:cNvSpPr/>
          <p:nvPr/>
        </p:nvSpPr>
        <p:spPr>
          <a:xfrm>
            <a:off x="594360" y="3959352"/>
            <a:ext cx="384048" cy="384048"/>
          </a:xfrm>
          <a:prstGeom prst="ellipse">
            <a:avLst/>
          </a:prstGeom>
          <a:solidFill>
            <a:srgbClr val="2BB673"/>
          </a:solidFill>
          <a:ln/>
        </p:spPr>
      </p:sp>
      <p:sp>
        <p:nvSpPr>
          <p:cNvPr id="26" name="Text 24"/>
          <p:cNvSpPr txBox="1"/>
          <p:nvPr/>
        </p:nvSpPr>
        <p:spPr>
          <a:xfrm>
            <a:off x="594360" y="3959352"/>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rPr>
              <a:t>5</a:t>
            </a:r>
            <a:endParaRPr lang="en-US" sz="1500" dirty="0"/>
          </a:p>
        </p:txBody>
      </p:sp>
      <p:sp>
        <p:nvSpPr>
          <p:cNvPr id="27" name="Text 25"/>
          <p:cNvSpPr txBox="1"/>
          <p:nvPr/>
        </p:nvSpPr>
        <p:spPr>
          <a:xfrm>
            <a:off x="1188720" y="3867912"/>
            <a:ext cx="7315200" cy="566928"/>
          </a:xfrm>
          <a:prstGeom prst="rect">
            <a:avLst/>
          </a:prstGeom>
          <a:noFill/>
          <a:ln/>
        </p:spPr>
        <p:txBody>
          <a:bodyPr wrap="square" lIns="0" tIns="0" rIns="0" bIns="0" rtlCol="0" anchor="ctr"/>
          <a:lstStyle/>
          <a:p>
            <a:pPr marL="0" indent="0">
              <a:buNone/>
            </a:pPr>
            <a:r>
              <a:rPr lang="en-US" sz="1800" dirty="0">
                <a:solidFill>
                  <a:srgbClr val="0A3D4A"/>
                </a:solidFill>
              </a:rPr>
              <a:t>A </a:t>
            </a:r>
            <a:r>
              <a:rPr lang="en-US" sz="1800" b="1" dirty="0">
                <a:solidFill>
                  <a:srgbClr val="0A3D4A"/>
                </a:solidFill>
              </a:rPr>
              <a:t>consequence</a:t>
            </a:r>
            <a:r>
              <a:rPr lang="en-US" sz="1800" dirty="0">
                <a:solidFill>
                  <a:srgbClr val="0A3D4A"/>
                </a:solidFill>
              </a:rPr>
              <a:t>.</a:t>
            </a:r>
            <a:endParaRPr lang="en-US" sz="1800" dirty="0"/>
          </a:p>
        </p:txBody>
      </p:sp>
      <p:sp>
        <p:nvSpPr>
          <p:cNvPr id="28"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0E7C86"/>
                </a:solidFill>
              </a:defRPr>
            </a:lvl1pPr>
          </a:lstStyle>
          <a:p>
            <a:pPr algn="l"/>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7589520" y="-914400"/>
            <a:ext cx="2377440" cy="2377440"/>
          </a:xfrm>
          <a:prstGeom prst="ellipse">
            <a:avLst/>
          </a:prstGeom>
          <a:solidFill>
            <a:srgbClr val="CDEFF1">
              <a:alpha val="80000"/>
            </a:srgbClr>
          </a:solidFill>
          <a:ln/>
        </p:spPr>
      </p:sp>
      <p:sp>
        <p:nvSpPr>
          <p:cNvPr id="3" name="Shape 1"/>
          <p:cNvSpPr/>
          <p:nvPr/>
        </p:nvSpPr>
        <p:spPr>
          <a:xfrm>
            <a:off x="-548640" y="4297680"/>
            <a:ext cx="1463040" cy="1463040"/>
          </a:xfrm>
          <a:prstGeom prst="ellipse">
            <a:avLst/>
          </a:prstGeom>
          <a:solidFill>
            <a:srgbClr val="CDEFF1">
              <a:alpha val="70000"/>
            </a:srgbClr>
          </a:solidFill>
          <a:ln/>
        </p:spPr>
      </p:sp>
      <p:sp>
        <p:nvSpPr>
          <p:cNvPr id="4" name="Shape 2"/>
          <p:cNvSpPr/>
          <p:nvPr/>
        </p:nvSpPr>
        <p:spPr>
          <a:xfrm>
            <a:off x="457200" y="292608"/>
            <a:ext cx="658368" cy="658368"/>
          </a:xfrm>
          <a:prstGeom prst="ellipse">
            <a:avLst/>
          </a:prstGeom>
          <a:solidFill>
            <a:srgbClr val="2BB673"/>
          </a:solidFill>
          <a:ln/>
        </p:spPr>
      </p:sp>
      <p:sp>
        <p:nvSpPr>
          <p:cNvPr id="5" name="Text 3"/>
          <p:cNvSpPr txBox="1"/>
          <p:nvPr/>
        </p:nvSpPr>
        <p:spPr>
          <a:xfrm>
            <a:off x="457200" y="292608"/>
            <a:ext cx="658368" cy="658368"/>
          </a:xfrm>
          <a:prstGeom prst="rect">
            <a:avLst/>
          </a:prstGeom>
          <a:noFill/>
          <a:ln/>
        </p:spPr>
        <p:txBody>
          <a:bodyPr wrap="square" lIns="0" tIns="0" rIns="0" bIns="0" rtlCol="0" anchor="ctr"/>
          <a:lstStyle/>
          <a:p>
            <a:pPr marL="0" indent="0" algn="ctr">
              <a:buNone/>
            </a:pPr>
            <a:r>
              <a:rPr lang="en-US" sz="2200" b="1" dirty="0">
                <a:solidFill>
                  <a:srgbClr val="FFFFFF"/>
                </a:solidFill>
              </a:rPr>
              <a:t>✅</a:t>
            </a:r>
            <a:endParaRPr lang="en-US" sz="2200" dirty="0"/>
          </a:p>
        </p:txBody>
      </p:sp>
      <p:sp>
        <p:nvSpPr>
          <p:cNvPr id="6" name="Text 0"/>
          <p:cNvSpPr>
            <a:spLocks noGrp="1"/>
          </p:cNvSpPr>
          <p:nvPr>
            <p:ph type="title" idx="100" hasCustomPrompt="1"/>
          </p:nvPr>
        </p:nvSpPr>
        <p:spPr>
          <a:xfrm>
            <a:off x="1280160" y="274320"/>
            <a:ext cx="7315200" cy="685800"/>
          </a:xfrm>
          <a:prstGeom prst="rect">
            <a:avLst/>
          </a:prstGeom>
          <a:noFill/>
          <a:ln/>
        </p:spPr>
        <p:txBody>
          <a:bodyPr wrap="square" rtlCol="0" anchor="ctr"/>
          <a:lstStyle/>
          <a:p>
            <a:pPr marL="0" indent="0">
              <a:buNone/>
            </a:pPr>
            <a:r>
              <a:rPr lang="en-US" sz="2600" b="1" dirty="0">
                <a:solidFill>
                  <a:srgbClr val="0A3D4A"/>
                </a:solidFill>
              </a:rPr>
              <a:t>FINDINGS</a:t>
            </a:r>
            <a:endParaRPr lang="en-US" sz="2600" dirty="0"/>
          </a:p>
        </p:txBody>
      </p:sp>
      <p:sp>
        <p:nvSpPr>
          <p:cNvPr id="7" name="Shape 5"/>
          <p:cNvSpPr/>
          <p:nvPr/>
        </p:nvSpPr>
        <p:spPr>
          <a:xfrm>
            <a:off x="457200" y="1234440"/>
            <a:ext cx="2621280" cy="1600200"/>
          </a:xfrm>
          <a:prstGeom prst="roundRect">
            <a:avLst>
              <a:gd name="adj" fmla="val 8571"/>
            </a:avLst>
          </a:prstGeom>
          <a:solidFill>
            <a:srgbClr val="FFFFFF"/>
          </a:solidFill>
          <a:ln/>
          <a:effectLst>
            <a:outerShdw blurRad="76200" dist="25400" dir="5400000" algn="bl" rotWithShape="0">
              <a:srgbClr val="000000">
                <a:alpha val="15000"/>
              </a:srgbClr>
            </a:outerShdw>
          </a:effectLst>
        </p:spPr>
      </p:sp>
      <p:sp>
        <p:nvSpPr>
          <p:cNvPr id="8" name="Text 6"/>
          <p:cNvSpPr txBox="1"/>
          <p:nvPr/>
        </p:nvSpPr>
        <p:spPr>
          <a:xfrm>
            <a:off x="525780" y="1316604"/>
            <a:ext cx="2346960" cy="274320"/>
          </a:xfrm>
          <a:prstGeom prst="rect">
            <a:avLst/>
          </a:prstGeom>
          <a:noFill/>
          <a:ln/>
        </p:spPr>
        <p:txBody>
          <a:bodyPr wrap="square" lIns="0" tIns="0" rIns="0" bIns="0" rtlCol="0" anchor="t"/>
          <a:lstStyle/>
          <a:p>
            <a:pPr marL="0" indent="0">
              <a:buNone/>
            </a:pPr>
            <a:r>
              <a:rPr lang="en-US" b="1" dirty="0">
                <a:solidFill>
                  <a:srgbClr val="FF6B5E"/>
                </a:solidFill>
              </a:rPr>
              <a:t>MAIN FACT</a:t>
            </a:r>
            <a:endParaRPr lang="en-US" dirty="0"/>
          </a:p>
        </p:txBody>
      </p:sp>
      <p:sp>
        <p:nvSpPr>
          <p:cNvPr id="9" name="Text 7"/>
          <p:cNvSpPr txBox="1"/>
          <p:nvPr/>
        </p:nvSpPr>
        <p:spPr>
          <a:xfrm>
            <a:off x="525780" y="1687002"/>
            <a:ext cx="2484120" cy="1051560"/>
          </a:xfrm>
          <a:prstGeom prst="rect">
            <a:avLst/>
          </a:prstGeom>
          <a:noFill/>
          <a:ln/>
        </p:spPr>
        <p:txBody>
          <a:bodyPr wrap="square" lIns="0" tIns="0" rIns="0" bIns="0" rtlCol="0" anchor="t"/>
          <a:lstStyle/>
          <a:p>
            <a:pPr marL="0" indent="0">
              <a:buNone/>
            </a:pPr>
            <a:r>
              <a:rPr lang="en-US" sz="2000" dirty="0">
                <a:solidFill>
                  <a:srgbClr val="0A3D4A"/>
                </a:solidFill>
              </a:rPr>
              <a:t>Sea turtles face several threats in the ocean.</a:t>
            </a:r>
            <a:endParaRPr lang="en-US" sz="2000" dirty="0"/>
          </a:p>
        </p:txBody>
      </p:sp>
      <p:sp>
        <p:nvSpPr>
          <p:cNvPr id="10" name="Shape 8"/>
          <p:cNvSpPr/>
          <p:nvPr/>
        </p:nvSpPr>
        <p:spPr>
          <a:xfrm>
            <a:off x="3261360" y="1234440"/>
            <a:ext cx="2621280" cy="1600200"/>
          </a:xfrm>
          <a:prstGeom prst="roundRect">
            <a:avLst>
              <a:gd name="adj" fmla="val 8571"/>
            </a:avLst>
          </a:prstGeom>
          <a:solidFill>
            <a:srgbClr val="FFFFFF"/>
          </a:solidFill>
          <a:ln/>
          <a:effectLst>
            <a:outerShdw blurRad="76200" dist="25400" dir="5400000" algn="bl" rotWithShape="0">
              <a:srgbClr val="000000">
                <a:alpha val="15000"/>
              </a:srgbClr>
            </a:outerShdw>
          </a:effectLst>
        </p:spPr>
      </p:sp>
      <p:sp>
        <p:nvSpPr>
          <p:cNvPr id="11" name="Text 9"/>
          <p:cNvSpPr txBox="1"/>
          <p:nvPr/>
        </p:nvSpPr>
        <p:spPr>
          <a:xfrm>
            <a:off x="3398520" y="1371600"/>
            <a:ext cx="2346960" cy="274320"/>
          </a:xfrm>
          <a:prstGeom prst="rect">
            <a:avLst/>
          </a:prstGeom>
          <a:noFill/>
          <a:ln/>
        </p:spPr>
        <p:txBody>
          <a:bodyPr wrap="square" lIns="0" tIns="0" rIns="0" bIns="0" rtlCol="0" anchor="t"/>
          <a:lstStyle/>
          <a:p>
            <a:pPr marL="0" indent="0">
              <a:buNone/>
            </a:pPr>
            <a:r>
              <a:rPr lang="en-US" b="1" dirty="0">
                <a:solidFill>
                  <a:srgbClr val="0E7C86"/>
                </a:solidFill>
              </a:rPr>
              <a:t>EXPLANATION</a:t>
            </a:r>
            <a:endParaRPr lang="en-US" dirty="0"/>
          </a:p>
        </p:txBody>
      </p:sp>
      <p:sp>
        <p:nvSpPr>
          <p:cNvPr id="12" name="Text 10"/>
          <p:cNvSpPr txBox="1"/>
          <p:nvPr/>
        </p:nvSpPr>
        <p:spPr>
          <a:xfrm>
            <a:off x="3398520" y="1691640"/>
            <a:ext cx="2346960" cy="1051560"/>
          </a:xfrm>
          <a:prstGeom prst="rect">
            <a:avLst/>
          </a:prstGeom>
          <a:noFill/>
          <a:ln/>
        </p:spPr>
        <p:txBody>
          <a:bodyPr wrap="square" lIns="0" tIns="0" rIns="0" bIns="0" rtlCol="0" anchor="t"/>
          <a:lstStyle/>
          <a:p>
            <a:pPr marL="0" indent="0">
              <a:buNone/>
            </a:pPr>
            <a:r>
              <a:rPr lang="en-US" sz="2000" dirty="0">
                <a:solidFill>
                  <a:srgbClr val="0A3D4A"/>
                </a:solidFill>
              </a:rPr>
              <a:t>Turtles may mistake plastic bags for food.</a:t>
            </a:r>
            <a:endParaRPr lang="en-US" sz="2000" dirty="0"/>
          </a:p>
        </p:txBody>
      </p:sp>
      <p:sp>
        <p:nvSpPr>
          <p:cNvPr id="13" name="Shape 11"/>
          <p:cNvSpPr/>
          <p:nvPr/>
        </p:nvSpPr>
        <p:spPr>
          <a:xfrm>
            <a:off x="6065520" y="1234440"/>
            <a:ext cx="2621280" cy="1600200"/>
          </a:xfrm>
          <a:prstGeom prst="roundRect">
            <a:avLst>
              <a:gd name="adj" fmla="val 8571"/>
            </a:avLst>
          </a:prstGeom>
          <a:solidFill>
            <a:srgbClr val="FFFFFF"/>
          </a:solidFill>
          <a:ln/>
          <a:effectLst>
            <a:outerShdw blurRad="76200" dist="25400" dir="5400000" algn="bl" rotWithShape="0">
              <a:srgbClr val="000000">
                <a:alpha val="15000"/>
              </a:srgbClr>
            </a:outerShdw>
          </a:effectLst>
        </p:spPr>
      </p:sp>
      <p:sp>
        <p:nvSpPr>
          <p:cNvPr id="14" name="Text 12"/>
          <p:cNvSpPr txBox="1"/>
          <p:nvPr/>
        </p:nvSpPr>
        <p:spPr>
          <a:xfrm>
            <a:off x="6202680" y="1312628"/>
            <a:ext cx="2346960" cy="274320"/>
          </a:xfrm>
          <a:prstGeom prst="rect">
            <a:avLst/>
          </a:prstGeom>
          <a:noFill/>
          <a:ln/>
        </p:spPr>
        <p:txBody>
          <a:bodyPr wrap="square" lIns="0" tIns="0" rIns="0" bIns="0" rtlCol="0" anchor="t"/>
          <a:lstStyle/>
          <a:p>
            <a:pPr marL="0" indent="0">
              <a:buNone/>
            </a:pPr>
            <a:r>
              <a:rPr lang="en-US" b="1" dirty="0">
                <a:solidFill>
                  <a:srgbClr val="7B5EA7"/>
                </a:solidFill>
              </a:rPr>
              <a:t>RELATIVE CLAUSE</a:t>
            </a:r>
            <a:endParaRPr lang="en-US" dirty="0"/>
          </a:p>
        </p:txBody>
      </p:sp>
      <p:sp>
        <p:nvSpPr>
          <p:cNvPr id="15" name="Text 13"/>
          <p:cNvSpPr txBox="1"/>
          <p:nvPr/>
        </p:nvSpPr>
        <p:spPr>
          <a:xfrm>
            <a:off x="6065520" y="1691640"/>
            <a:ext cx="2484120" cy="1051560"/>
          </a:xfrm>
          <a:prstGeom prst="rect">
            <a:avLst/>
          </a:prstGeom>
          <a:noFill/>
          <a:ln/>
        </p:spPr>
        <p:txBody>
          <a:bodyPr wrap="square" lIns="0" tIns="0" rIns="0" bIns="0" rtlCol="0" anchor="t"/>
          <a:lstStyle/>
          <a:p>
            <a:pPr marL="0" indent="0">
              <a:buNone/>
            </a:pPr>
            <a:r>
              <a:rPr lang="en-US" sz="2000" dirty="0">
                <a:solidFill>
                  <a:srgbClr val="0A3D4A"/>
                </a:solidFill>
              </a:rPr>
              <a:t>which can cause serious illness or death</a:t>
            </a:r>
            <a:endParaRPr lang="en-US" sz="2000" dirty="0"/>
          </a:p>
        </p:txBody>
      </p:sp>
      <p:sp>
        <p:nvSpPr>
          <p:cNvPr id="16" name="Shape 14"/>
          <p:cNvSpPr/>
          <p:nvPr/>
        </p:nvSpPr>
        <p:spPr>
          <a:xfrm>
            <a:off x="457200" y="3017520"/>
            <a:ext cx="2621280" cy="1600200"/>
          </a:xfrm>
          <a:prstGeom prst="roundRect">
            <a:avLst>
              <a:gd name="adj" fmla="val 8571"/>
            </a:avLst>
          </a:prstGeom>
          <a:solidFill>
            <a:srgbClr val="FFFFFF"/>
          </a:solidFill>
          <a:ln/>
          <a:effectLst>
            <a:outerShdw blurRad="76200" dist="25400" dir="5400000" algn="bl" rotWithShape="0">
              <a:srgbClr val="000000">
                <a:alpha val="15000"/>
              </a:srgbClr>
            </a:outerShdw>
          </a:effectLst>
        </p:spPr>
      </p:sp>
      <p:sp>
        <p:nvSpPr>
          <p:cNvPr id="17" name="Text 15"/>
          <p:cNvSpPr txBox="1"/>
          <p:nvPr/>
        </p:nvSpPr>
        <p:spPr>
          <a:xfrm>
            <a:off x="594360" y="3154680"/>
            <a:ext cx="2346960" cy="274320"/>
          </a:xfrm>
          <a:prstGeom prst="rect">
            <a:avLst/>
          </a:prstGeom>
          <a:noFill/>
          <a:ln/>
        </p:spPr>
        <p:txBody>
          <a:bodyPr wrap="square" lIns="0" tIns="0" rIns="0" bIns="0" rtlCol="0" anchor="t"/>
          <a:lstStyle/>
          <a:p>
            <a:pPr marL="0" indent="0">
              <a:buNone/>
            </a:pPr>
            <a:r>
              <a:rPr lang="en-US" sz="2000" b="1" dirty="0">
                <a:solidFill>
                  <a:srgbClr val="3A86C8"/>
                </a:solidFill>
              </a:rPr>
              <a:t>CONNECTOR</a:t>
            </a:r>
            <a:endParaRPr lang="en-US" sz="2000" dirty="0"/>
          </a:p>
        </p:txBody>
      </p:sp>
      <p:sp>
        <p:nvSpPr>
          <p:cNvPr id="18" name="Text 16"/>
          <p:cNvSpPr txBox="1"/>
          <p:nvPr/>
        </p:nvSpPr>
        <p:spPr>
          <a:xfrm>
            <a:off x="594360" y="3474720"/>
            <a:ext cx="2346960" cy="1051560"/>
          </a:xfrm>
          <a:prstGeom prst="rect">
            <a:avLst/>
          </a:prstGeom>
          <a:noFill/>
          <a:ln/>
        </p:spPr>
        <p:txBody>
          <a:bodyPr wrap="square" lIns="0" tIns="0" rIns="0" bIns="0" rtlCol="0" anchor="t"/>
          <a:lstStyle/>
          <a:p>
            <a:pPr marL="0" indent="0">
              <a:buNone/>
            </a:pPr>
            <a:r>
              <a:rPr lang="en-US" sz="2400" dirty="0">
                <a:solidFill>
                  <a:srgbClr val="0A3D4A"/>
                </a:solidFill>
              </a:rPr>
              <a:t>In addition</a:t>
            </a:r>
            <a:endParaRPr lang="en-US" sz="2400" dirty="0"/>
          </a:p>
        </p:txBody>
      </p:sp>
      <p:sp>
        <p:nvSpPr>
          <p:cNvPr id="19" name="Shape 17"/>
          <p:cNvSpPr/>
          <p:nvPr/>
        </p:nvSpPr>
        <p:spPr>
          <a:xfrm>
            <a:off x="3261360" y="3017520"/>
            <a:ext cx="5425440" cy="1600200"/>
          </a:xfrm>
          <a:prstGeom prst="roundRect">
            <a:avLst>
              <a:gd name="adj" fmla="val 8571"/>
            </a:avLst>
          </a:prstGeom>
          <a:solidFill>
            <a:srgbClr val="FFFFFF"/>
          </a:solidFill>
          <a:ln/>
          <a:effectLst>
            <a:outerShdw blurRad="76200" dist="25400" dir="5400000" algn="bl" rotWithShape="0">
              <a:srgbClr val="000000">
                <a:alpha val="15000"/>
              </a:srgbClr>
            </a:outerShdw>
          </a:effectLst>
        </p:spPr>
      </p:sp>
      <p:sp>
        <p:nvSpPr>
          <p:cNvPr id="20" name="Text 18"/>
          <p:cNvSpPr txBox="1"/>
          <p:nvPr/>
        </p:nvSpPr>
        <p:spPr>
          <a:xfrm>
            <a:off x="3398520" y="3154680"/>
            <a:ext cx="5151120" cy="274320"/>
          </a:xfrm>
          <a:prstGeom prst="rect">
            <a:avLst/>
          </a:prstGeom>
          <a:noFill/>
          <a:ln/>
        </p:spPr>
        <p:txBody>
          <a:bodyPr wrap="square" lIns="0" tIns="0" rIns="0" bIns="0" rtlCol="0" anchor="t"/>
          <a:lstStyle/>
          <a:p>
            <a:pPr marL="0" indent="0">
              <a:buNone/>
            </a:pPr>
            <a:r>
              <a:rPr lang="en-US" b="1" dirty="0">
                <a:solidFill>
                  <a:srgbClr val="FF6B5E"/>
                </a:solidFill>
              </a:rPr>
              <a:t>CONSEQUENCE</a:t>
            </a:r>
            <a:endParaRPr lang="en-US" dirty="0"/>
          </a:p>
        </p:txBody>
      </p:sp>
      <p:sp>
        <p:nvSpPr>
          <p:cNvPr id="21" name="Text 19"/>
          <p:cNvSpPr txBox="1"/>
          <p:nvPr/>
        </p:nvSpPr>
        <p:spPr>
          <a:xfrm>
            <a:off x="3398520" y="3474720"/>
            <a:ext cx="5151120" cy="1051560"/>
          </a:xfrm>
          <a:prstGeom prst="rect">
            <a:avLst/>
          </a:prstGeom>
          <a:noFill/>
          <a:ln/>
        </p:spPr>
        <p:txBody>
          <a:bodyPr wrap="square" lIns="0" tIns="0" rIns="0" bIns="0" rtlCol="0" anchor="t"/>
          <a:lstStyle/>
          <a:p>
            <a:pPr marL="0" indent="0">
              <a:buNone/>
            </a:pPr>
            <a:r>
              <a:rPr lang="en-US" sz="2000" dirty="0">
                <a:solidFill>
                  <a:srgbClr val="0A3D4A"/>
                </a:solidFill>
              </a:rPr>
              <a:t>As a result, some turtles are seriously injured or killed.</a:t>
            </a:r>
            <a:endParaRPr lang="en-US" sz="20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0E7C86"/>
                </a:solidFill>
              </a:defRPr>
            </a:lvl1pPr>
          </a:lstStyle>
          <a:p>
            <a:pPr algn="l"/>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7589520" y="-914400"/>
            <a:ext cx="2377440" cy="2377440"/>
          </a:xfrm>
          <a:prstGeom prst="ellipse">
            <a:avLst/>
          </a:prstGeom>
          <a:solidFill>
            <a:srgbClr val="CDEFF1">
              <a:alpha val="80000"/>
            </a:srgbClr>
          </a:solidFill>
          <a:ln/>
        </p:spPr>
      </p:sp>
      <p:sp>
        <p:nvSpPr>
          <p:cNvPr id="3" name="Shape 1"/>
          <p:cNvSpPr/>
          <p:nvPr/>
        </p:nvSpPr>
        <p:spPr>
          <a:xfrm>
            <a:off x="-548640" y="4297680"/>
            <a:ext cx="1463040" cy="1463040"/>
          </a:xfrm>
          <a:prstGeom prst="ellipse">
            <a:avLst/>
          </a:prstGeom>
          <a:solidFill>
            <a:srgbClr val="CDEFF1">
              <a:alpha val="70000"/>
            </a:srgbClr>
          </a:solidFill>
          <a:ln/>
        </p:spPr>
      </p:sp>
      <p:sp>
        <p:nvSpPr>
          <p:cNvPr id="4" name="Shape 2"/>
          <p:cNvSpPr/>
          <p:nvPr/>
        </p:nvSpPr>
        <p:spPr>
          <a:xfrm>
            <a:off x="457200" y="292608"/>
            <a:ext cx="658368" cy="658368"/>
          </a:xfrm>
          <a:prstGeom prst="ellipse">
            <a:avLst/>
          </a:prstGeom>
          <a:solidFill>
            <a:srgbClr val="FF6B5E"/>
          </a:solidFill>
          <a:ln/>
        </p:spPr>
      </p:sp>
      <p:sp>
        <p:nvSpPr>
          <p:cNvPr id="5" name="Text 3"/>
          <p:cNvSpPr txBox="1"/>
          <p:nvPr/>
        </p:nvSpPr>
        <p:spPr>
          <a:xfrm>
            <a:off x="457200" y="292608"/>
            <a:ext cx="658368" cy="658368"/>
          </a:xfrm>
          <a:prstGeom prst="rect">
            <a:avLst/>
          </a:prstGeom>
          <a:noFill/>
          <a:ln/>
        </p:spPr>
        <p:txBody>
          <a:bodyPr wrap="square" lIns="0" tIns="0" rIns="0" bIns="0" rtlCol="0" anchor="ctr"/>
          <a:lstStyle/>
          <a:p>
            <a:pPr marL="0" indent="0" algn="ctr">
              <a:buNone/>
            </a:pPr>
            <a:r>
              <a:rPr lang="en-US" sz="2200" b="1" dirty="0">
                <a:solidFill>
                  <a:srgbClr val="FFFFFF"/>
                </a:solidFill>
              </a:rPr>
              <a:t>✍️</a:t>
            </a:r>
            <a:endParaRPr lang="en-US" sz="2200" dirty="0"/>
          </a:p>
        </p:txBody>
      </p:sp>
      <p:sp>
        <p:nvSpPr>
          <p:cNvPr id="6" name="Text 0"/>
          <p:cNvSpPr>
            <a:spLocks noGrp="1"/>
          </p:cNvSpPr>
          <p:nvPr>
            <p:ph type="title" idx="100" hasCustomPrompt="1"/>
          </p:nvPr>
        </p:nvSpPr>
        <p:spPr>
          <a:xfrm>
            <a:off x="1280160" y="274320"/>
            <a:ext cx="7315200" cy="685800"/>
          </a:xfrm>
          <a:prstGeom prst="rect">
            <a:avLst/>
          </a:prstGeom>
          <a:noFill/>
          <a:ln/>
        </p:spPr>
        <p:txBody>
          <a:bodyPr wrap="square" rtlCol="0" anchor="ctr"/>
          <a:lstStyle/>
          <a:p>
            <a:pPr marL="0" indent="0">
              <a:buNone/>
            </a:pPr>
            <a:r>
              <a:rPr lang="en-US" sz="2600" b="1" dirty="0">
                <a:solidFill>
                  <a:srgbClr val="0A3D4A"/>
                </a:solidFill>
              </a:rPr>
              <a:t>LET'S BUILD ONE TOGETHER</a:t>
            </a:r>
            <a:endParaRPr lang="en-US" sz="2600" dirty="0"/>
          </a:p>
        </p:txBody>
      </p:sp>
      <p:sp>
        <p:nvSpPr>
          <p:cNvPr id="7" name="Shape 5"/>
          <p:cNvSpPr/>
          <p:nvPr/>
        </p:nvSpPr>
        <p:spPr>
          <a:xfrm>
            <a:off x="457200" y="1188720"/>
            <a:ext cx="3566160" cy="3520440"/>
          </a:xfrm>
          <a:prstGeom prst="roundRect">
            <a:avLst>
              <a:gd name="adj" fmla="val 3896"/>
            </a:avLst>
          </a:prstGeom>
          <a:solidFill>
            <a:srgbClr val="FFFFFF"/>
          </a:solidFill>
          <a:ln/>
          <a:effectLst>
            <a:outerShdw blurRad="76200" dist="25400" dir="5400000" algn="bl" rotWithShape="0">
              <a:srgbClr val="000000">
                <a:alpha val="15000"/>
              </a:srgbClr>
            </a:outerShdw>
          </a:effectLst>
        </p:spPr>
      </p:sp>
      <p:sp>
        <p:nvSpPr>
          <p:cNvPr id="8" name="Text 6"/>
          <p:cNvSpPr txBox="1"/>
          <p:nvPr/>
        </p:nvSpPr>
        <p:spPr>
          <a:xfrm>
            <a:off x="457200" y="1202436"/>
            <a:ext cx="3108960" cy="274320"/>
          </a:xfrm>
          <a:prstGeom prst="rect">
            <a:avLst/>
          </a:prstGeom>
          <a:noFill/>
          <a:ln/>
        </p:spPr>
        <p:txBody>
          <a:bodyPr wrap="square" lIns="0" tIns="0" rIns="0" bIns="0" rtlCol="0" anchor="t"/>
          <a:lstStyle/>
          <a:p>
            <a:pPr marL="0" indent="0">
              <a:buNone/>
            </a:pPr>
            <a:r>
              <a:rPr lang="en-US" b="1" i="1" dirty="0">
                <a:solidFill>
                  <a:srgbClr val="4A6B73"/>
                </a:solidFill>
              </a:rPr>
              <a:t>Notes</a:t>
            </a:r>
            <a:r>
              <a:rPr lang="en-US" i="1" dirty="0">
                <a:solidFill>
                  <a:srgbClr val="4A6B73"/>
                </a:solidFill>
              </a:rPr>
              <a:t>:</a:t>
            </a:r>
            <a:endParaRPr lang="en-US" dirty="0"/>
          </a:p>
        </p:txBody>
      </p:sp>
      <p:sp>
        <p:nvSpPr>
          <p:cNvPr id="9" name="Text 7"/>
          <p:cNvSpPr txBox="1"/>
          <p:nvPr/>
        </p:nvSpPr>
        <p:spPr>
          <a:xfrm>
            <a:off x="685800" y="1645920"/>
            <a:ext cx="3108960" cy="365760"/>
          </a:xfrm>
          <a:prstGeom prst="rect">
            <a:avLst/>
          </a:prstGeom>
          <a:noFill/>
          <a:ln/>
        </p:spPr>
        <p:txBody>
          <a:bodyPr wrap="square" lIns="0" tIns="0" rIns="0" bIns="0" rtlCol="0" anchor="t"/>
          <a:lstStyle/>
          <a:p>
            <a:pPr marL="0" indent="0">
              <a:buNone/>
            </a:pPr>
            <a:r>
              <a:rPr lang="en-US" sz="2200" b="1" dirty="0">
                <a:solidFill>
                  <a:srgbClr val="0E7C86"/>
                </a:solidFill>
              </a:rPr>
              <a:t>Giant panda</a:t>
            </a:r>
            <a:endParaRPr lang="en-US" sz="2200" dirty="0"/>
          </a:p>
        </p:txBody>
      </p:sp>
      <p:sp>
        <p:nvSpPr>
          <p:cNvPr id="10" name="Text 8"/>
          <p:cNvSpPr txBox="1"/>
          <p:nvPr/>
        </p:nvSpPr>
        <p:spPr>
          <a:xfrm>
            <a:off x="685800" y="2148840"/>
            <a:ext cx="3108960" cy="24688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0A3D4A"/>
                </a:solidFill>
              </a:rPr>
              <a:t>endangered</a:t>
            </a:r>
            <a:endParaRPr lang="en-US" sz="1500" dirty="0"/>
          </a:p>
          <a:p>
            <a:pPr marL="342900" indent="-342900">
              <a:spcAft>
                <a:spcPts val="800"/>
              </a:spcAft>
              <a:buSzPct val="100000"/>
              <a:buChar char="•"/>
            </a:pPr>
            <a:r>
              <a:rPr lang="en-US" sz="1500" dirty="0">
                <a:solidFill>
                  <a:srgbClr val="0A3D4A"/>
                </a:solidFill>
              </a:rPr>
              <a:t>lives in mountain forests</a:t>
            </a:r>
            <a:endParaRPr lang="en-US" sz="1500" dirty="0"/>
          </a:p>
          <a:p>
            <a:pPr marL="342900" indent="-342900">
              <a:spcAft>
                <a:spcPts val="800"/>
              </a:spcAft>
              <a:buSzPct val="100000"/>
              <a:buChar char="•"/>
            </a:pPr>
            <a:r>
              <a:rPr lang="en-US" sz="1500" dirty="0">
                <a:solidFill>
                  <a:srgbClr val="0A3D4A"/>
                </a:solidFill>
              </a:rPr>
              <a:t>eats mainly bamboo</a:t>
            </a:r>
            <a:endParaRPr lang="en-US" sz="1500" dirty="0"/>
          </a:p>
          <a:p>
            <a:pPr marL="342900" indent="-342900">
              <a:spcAft>
                <a:spcPts val="800"/>
              </a:spcAft>
              <a:buSzPct val="100000"/>
              <a:buChar char="•"/>
            </a:pPr>
            <a:r>
              <a:rPr lang="en-US" sz="1500" dirty="0">
                <a:solidFill>
                  <a:srgbClr val="0A3D4A"/>
                </a:solidFill>
              </a:rPr>
              <a:t>bamboo forests disappearing</a:t>
            </a:r>
            <a:endParaRPr lang="en-US" sz="1500" dirty="0"/>
          </a:p>
          <a:p>
            <a:pPr marL="342900" indent="-342900">
              <a:spcAft>
                <a:spcPts val="800"/>
              </a:spcAft>
              <a:buSzPct val="100000"/>
              <a:buChar char="•"/>
            </a:pPr>
            <a:r>
              <a:rPr lang="en-US" sz="1500" dirty="0">
                <a:solidFill>
                  <a:srgbClr val="0A3D4A"/>
                </a:solidFill>
              </a:rPr>
              <a:t>habitat loss is a major threat</a:t>
            </a:r>
            <a:endParaRPr lang="en-US" sz="1500" dirty="0"/>
          </a:p>
        </p:txBody>
      </p:sp>
      <p:sp>
        <p:nvSpPr>
          <p:cNvPr id="11" name="Shape 9"/>
          <p:cNvSpPr/>
          <p:nvPr/>
        </p:nvSpPr>
        <p:spPr>
          <a:xfrm>
            <a:off x="4206240" y="1188720"/>
            <a:ext cx="4480560" cy="1051560"/>
          </a:xfrm>
          <a:prstGeom prst="roundRect">
            <a:avLst>
              <a:gd name="adj" fmla="val 13043"/>
            </a:avLst>
          </a:prstGeom>
          <a:solidFill>
            <a:srgbClr val="FFFFFF"/>
          </a:solidFill>
          <a:ln/>
          <a:effectLst>
            <a:outerShdw blurRad="76200" dist="25400" dir="5400000" algn="bl" rotWithShape="0">
              <a:srgbClr val="000000">
                <a:alpha val="15000"/>
              </a:srgbClr>
            </a:outerShdw>
          </a:effectLst>
        </p:spPr>
      </p:sp>
      <p:sp>
        <p:nvSpPr>
          <p:cNvPr id="12" name="Text 10"/>
          <p:cNvSpPr txBox="1"/>
          <p:nvPr/>
        </p:nvSpPr>
        <p:spPr>
          <a:xfrm>
            <a:off x="4434840" y="1298448"/>
            <a:ext cx="4023360" cy="274320"/>
          </a:xfrm>
          <a:prstGeom prst="rect">
            <a:avLst/>
          </a:prstGeom>
          <a:noFill/>
          <a:ln/>
        </p:spPr>
        <p:txBody>
          <a:bodyPr wrap="square" lIns="0" tIns="0" rIns="0" bIns="0" rtlCol="0" anchor="t"/>
          <a:lstStyle/>
          <a:p>
            <a:pPr marL="0" indent="0">
              <a:buNone/>
            </a:pPr>
            <a:r>
              <a:rPr lang="en-US" sz="1200" b="1" dirty="0">
                <a:solidFill>
                  <a:srgbClr val="FF6B5E"/>
                </a:solidFill>
              </a:rPr>
              <a:t>SENTENCE 1 — FACT</a:t>
            </a:r>
            <a:endParaRPr lang="en-US" sz="1200" dirty="0"/>
          </a:p>
        </p:txBody>
      </p:sp>
      <p:sp>
        <p:nvSpPr>
          <p:cNvPr id="13" name="Text 11"/>
          <p:cNvSpPr txBox="1"/>
          <p:nvPr/>
        </p:nvSpPr>
        <p:spPr>
          <a:xfrm>
            <a:off x="4434840" y="1645920"/>
            <a:ext cx="4023360" cy="457200"/>
          </a:xfrm>
          <a:prstGeom prst="rect">
            <a:avLst/>
          </a:prstGeom>
          <a:noFill/>
          <a:ln/>
        </p:spPr>
        <p:txBody>
          <a:bodyPr wrap="square" lIns="0" tIns="0" rIns="0" bIns="0" rtlCol="0" anchor="t"/>
          <a:lstStyle/>
          <a:p>
            <a:pPr marL="0" indent="0">
              <a:buNone/>
            </a:pPr>
            <a:r>
              <a:rPr lang="en-US" sz="1700" dirty="0">
                <a:solidFill>
                  <a:srgbClr val="0A3D4A"/>
                </a:solidFill>
              </a:rPr>
              <a:t>The giant panda ______________________.</a:t>
            </a:r>
            <a:endParaRPr lang="en-US" sz="1700" dirty="0"/>
          </a:p>
        </p:txBody>
      </p:sp>
      <p:sp>
        <p:nvSpPr>
          <p:cNvPr id="14" name="Shape 12"/>
          <p:cNvSpPr/>
          <p:nvPr/>
        </p:nvSpPr>
        <p:spPr>
          <a:xfrm>
            <a:off x="4206240" y="2377440"/>
            <a:ext cx="4480560" cy="1051560"/>
          </a:xfrm>
          <a:prstGeom prst="roundRect">
            <a:avLst>
              <a:gd name="adj" fmla="val 13043"/>
            </a:avLst>
          </a:prstGeom>
          <a:solidFill>
            <a:srgbClr val="FFFFFF"/>
          </a:solidFill>
          <a:ln/>
          <a:effectLst>
            <a:outerShdw blurRad="76200" dist="25400" dir="5400000" algn="bl" rotWithShape="0">
              <a:srgbClr val="000000">
                <a:alpha val="15000"/>
              </a:srgbClr>
            </a:outerShdw>
          </a:effectLst>
        </p:spPr>
      </p:sp>
      <p:sp>
        <p:nvSpPr>
          <p:cNvPr id="15" name="Text 13"/>
          <p:cNvSpPr txBox="1"/>
          <p:nvPr/>
        </p:nvSpPr>
        <p:spPr>
          <a:xfrm>
            <a:off x="4434840" y="2487168"/>
            <a:ext cx="4023360" cy="274320"/>
          </a:xfrm>
          <a:prstGeom prst="rect">
            <a:avLst/>
          </a:prstGeom>
          <a:noFill/>
          <a:ln/>
        </p:spPr>
        <p:txBody>
          <a:bodyPr wrap="square" lIns="0" tIns="0" rIns="0" bIns="0" rtlCol="0" anchor="t"/>
          <a:lstStyle/>
          <a:p>
            <a:pPr marL="0" indent="0">
              <a:buNone/>
            </a:pPr>
            <a:r>
              <a:rPr lang="en-US" sz="1200" b="1" dirty="0">
                <a:solidFill>
                  <a:srgbClr val="0E7C86"/>
                </a:solidFill>
              </a:rPr>
              <a:t>SENTENCE 2 — EXPLANATION</a:t>
            </a:r>
            <a:endParaRPr lang="en-US" sz="1200" dirty="0"/>
          </a:p>
        </p:txBody>
      </p:sp>
      <p:sp>
        <p:nvSpPr>
          <p:cNvPr id="16" name="Text 14"/>
          <p:cNvSpPr txBox="1"/>
          <p:nvPr/>
        </p:nvSpPr>
        <p:spPr>
          <a:xfrm>
            <a:off x="4434840" y="2834640"/>
            <a:ext cx="4023360" cy="457200"/>
          </a:xfrm>
          <a:prstGeom prst="rect">
            <a:avLst/>
          </a:prstGeom>
          <a:noFill/>
          <a:ln/>
        </p:spPr>
        <p:txBody>
          <a:bodyPr wrap="square" lIns="0" tIns="0" rIns="0" bIns="0" rtlCol="0" anchor="t"/>
          <a:lstStyle/>
          <a:p>
            <a:pPr marL="0" indent="0">
              <a:buNone/>
            </a:pPr>
            <a:r>
              <a:rPr lang="en-US" sz="1700" dirty="0">
                <a:solidFill>
                  <a:srgbClr val="0A3D4A"/>
                </a:solidFill>
              </a:rPr>
              <a:t>It ____________________________.</a:t>
            </a:r>
            <a:endParaRPr lang="en-US" sz="1700" dirty="0"/>
          </a:p>
        </p:txBody>
      </p:sp>
      <p:sp>
        <p:nvSpPr>
          <p:cNvPr id="17" name="Shape 15"/>
          <p:cNvSpPr/>
          <p:nvPr/>
        </p:nvSpPr>
        <p:spPr>
          <a:xfrm>
            <a:off x="4206240" y="3566160"/>
            <a:ext cx="4480560" cy="1051560"/>
          </a:xfrm>
          <a:prstGeom prst="roundRect">
            <a:avLst>
              <a:gd name="adj" fmla="val 13043"/>
            </a:avLst>
          </a:prstGeom>
          <a:solidFill>
            <a:srgbClr val="FFFFFF"/>
          </a:solidFill>
          <a:ln/>
          <a:effectLst>
            <a:outerShdw blurRad="76200" dist="25400" dir="5400000" algn="bl" rotWithShape="0">
              <a:srgbClr val="000000">
                <a:alpha val="15000"/>
              </a:srgbClr>
            </a:outerShdw>
          </a:effectLst>
        </p:spPr>
      </p:sp>
      <p:sp>
        <p:nvSpPr>
          <p:cNvPr id="18" name="Text 16"/>
          <p:cNvSpPr txBox="1"/>
          <p:nvPr/>
        </p:nvSpPr>
        <p:spPr>
          <a:xfrm>
            <a:off x="4434840" y="3675888"/>
            <a:ext cx="4023360" cy="274320"/>
          </a:xfrm>
          <a:prstGeom prst="rect">
            <a:avLst/>
          </a:prstGeom>
          <a:noFill/>
          <a:ln/>
        </p:spPr>
        <p:txBody>
          <a:bodyPr wrap="square" lIns="0" tIns="0" rIns="0" bIns="0" rtlCol="0" anchor="t"/>
          <a:lstStyle/>
          <a:p>
            <a:pPr marL="0" indent="0">
              <a:buNone/>
            </a:pPr>
            <a:r>
              <a:rPr lang="en-US" sz="1200" b="1" dirty="0">
                <a:solidFill>
                  <a:srgbClr val="7B5EA7"/>
                </a:solidFill>
              </a:rPr>
              <a:t>SENTENCE 3 — CONSEQUENCE</a:t>
            </a:r>
            <a:endParaRPr lang="en-US" sz="1200" dirty="0"/>
          </a:p>
        </p:txBody>
      </p:sp>
      <p:sp>
        <p:nvSpPr>
          <p:cNvPr id="19" name="Text 17"/>
          <p:cNvSpPr txBox="1"/>
          <p:nvPr/>
        </p:nvSpPr>
        <p:spPr>
          <a:xfrm>
            <a:off x="4434840" y="4023360"/>
            <a:ext cx="4023360" cy="457200"/>
          </a:xfrm>
          <a:prstGeom prst="rect">
            <a:avLst/>
          </a:prstGeom>
          <a:noFill/>
          <a:ln/>
        </p:spPr>
        <p:txBody>
          <a:bodyPr wrap="square" lIns="0" tIns="0" rIns="0" bIns="0" rtlCol="0" anchor="t"/>
          <a:lstStyle/>
          <a:p>
            <a:pPr marL="0" indent="0">
              <a:buNone/>
            </a:pPr>
            <a:r>
              <a:rPr lang="en-US" sz="1700" dirty="0">
                <a:solidFill>
                  <a:srgbClr val="0A3D4A"/>
                </a:solidFill>
              </a:rPr>
              <a:t>As a result, ____________________.</a:t>
            </a:r>
            <a:endParaRPr lang="en-US" sz="17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0E7C86"/>
                </a:solidFill>
              </a:defRPr>
            </a:lvl1pPr>
          </a:lstStyle>
          <a:p>
            <a:pPr algn="l"/>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7589520" y="-914400"/>
            <a:ext cx="2377440" cy="2377440"/>
          </a:xfrm>
          <a:prstGeom prst="ellipse">
            <a:avLst/>
          </a:prstGeom>
          <a:solidFill>
            <a:srgbClr val="CDEFF1">
              <a:alpha val="80000"/>
            </a:srgbClr>
          </a:solidFill>
          <a:ln/>
        </p:spPr>
      </p:sp>
      <p:sp>
        <p:nvSpPr>
          <p:cNvPr id="3" name="Shape 1"/>
          <p:cNvSpPr/>
          <p:nvPr/>
        </p:nvSpPr>
        <p:spPr>
          <a:xfrm>
            <a:off x="-548640" y="4297680"/>
            <a:ext cx="1463040" cy="1463040"/>
          </a:xfrm>
          <a:prstGeom prst="ellipse">
            <a:avLst/>
          </a:prstGeom>
          <a:solidFill>
            <a:srgbClr val="CDEFF1">
              <a:alpha val="70000"/>
            </a:srgbClr>
          </a:solidFill>
          <a:ln/>
        </p:spPr>
      </p:sp>
      <p:sp>
        <p:nvSpPr>
          <p:cNvPr id="4" name="Shape 2"/>
          <p:cNvSpPr/>
          <p:nvPr/>
        </p:nvSpPr>
        <p:spPr>
          <a:xfrm>
            <a:off x="457200" y="292608"/>
            <a:ext cx="658368" cy="658368"/>
          </a:xfrm>
          <a:prstGeom prst="ellipse">
            <a:avLst/>
          </a:prstGeom>
          <a:solidFill>
            <a:srgbClr val="2BB673"/>
          </a:solidFill>
          <a:ln/>
        </p:spPr>
      </p:sp>
      <p:sp>
        <p:nvSpPr>
          <p:cNvPr id="5" name="Text 3"/>
          <p:cNvSpPr txBox="1"/>
          <p:nvPr/>
        </p:nvSpPr>
        <p:spPr>
          <a:xfrm>
            <a:off x="457200" y="292608"/>
            <a:ext cx="658368" cy="658368"/>
          </a:xfrm>
          <a:prstGeom prst="rect">
            <a:avLst/>
          </a:prstGeom>
          <a:noFill/>
          <a:ln/>
        </p:spPr>
        <p:txBody>
          <a:bodyPr wrap="square" lIns="0" tIns="0" rIns="0" bIns="0" rtlCol="0" anchor="ctr"/>
          <a:lstStyle/>
          <a:p>
            <a:pPr marL="0" indent="0" algn="ctr">
              <a:buNone/>
            </a:pPr>
            <a:r>
              <a:rPr lang="en-US" sz="2200" b="1" dirty="0">
                <a:solidFill>
                  <a:srgbClr val="FFFFFF"/>
                </a:solidFill>
              </a:rPr>
              <a:t>✅</a:t>
            </a:r>
            <a:endParaRPr lang="en-US" sz="2200" dirty="0"/>
          </a:p>
        </p:txBody>
      </p:sp>
      <p:sp>
        <p:nvSpPr>
          <p:cNvPr id="6" name="Text 0"/>
          <p:cNvSpPr>
            <a:spLocks noGrp="1"/>
          </p:cNvSpPr>
          <p:nvPr>
            <p:ph type="title" idx="100" hasCustomPrompt="1"/>
          </p:nvPr>
        </p:nvSpPr>
        <p:spPr>
          <a:xfrm>
            <a:off x="1280160" y="274320"/>
            <a:ext cx="7315200" cy="685800"/>
          </a:xfrm>
          <a:prstGeom prst="rect">
            <a:avLst/>
          </a:prstGeom>
          <a:noFill/>
          <a:ln/>
        </p:spPr>
        <p:txBody>
          <a:bodyPr wrap="square" rtlCol="0" anchor="ctr"/>
          <a:lstStyle/>
          <a:p>
            <a:pPr marL="0" indent="0">
              <a:buNone/>
            </a:pPr>
            <a:r>
              <a:rPr lang="en-US" sz="2600" b="1" dirty="0">
                <a:solidFill>
                  <a:srgbClr val="0A3D4A"/>
                </a:solidFill>
              </a:rPr>
              <a:t>MODEL</a:t>
            </a:r>
            <a:endParaRPr lang="en-US" sz="2600" dirty="0"/>
          </a:p>
        </p:txBody>
      </p:sp>
      <p:sp>
        <p:nvSpPr>
          <p:cNvPr id="7" name="Shape 5"/>
          <p:cNvSpPr/>
          <p:nvPr/>
        </p:nvSpPr>
        <p:spPr>
          <a:xfrm>
            <a:off x="457200" y="1188720"/>
            <a:ext cx="8229600" cy="1828800"/>
          </a:xfrm>
          <a:prstGeom prst="roundRect">
            <a:avLst>
              <a:gd name="adj" fmla="val 7500"/>
            </a:avLst>
          </a:prstGeom>
          <a:solidFill>
            <a:srgbClr val="FFFFFF"/>
          </a:solidFill>
          <a:ln/>
          <a:effectLst>
            <a:outerShdw blurRad="76200" dist="25400" dir="5400000" algn="bl" rotWithShape="0">
              <a:srgbClr val="000000">
                <a:alpha val="15000"/>
              </a:srgbClr>
            </a:outerShdw>
          </a:effectLst>
        </p:spPr>
      </p:sp>
      <p:sp>
        <p:nvSpPr>
          <p:cNvPr id="8" name="Text 6"/>
          <p:cNvSpPr txBox="1"/>
          <p:nvPr/>
        </p:nvSpPr>
        <p:spPr>
          <a:xfrm>
            <a:off x="457200" y="1188720"/>
            <a:ext cx="7955280" cy="1828800"/>
          </a:xfrm>
          <a:prstGeom prst="rect">
            <a:avLst/>
          </a:prstGeom>
          <a:noFill/>
          <a:ln/>
        </p:spPr>
        <p:txBody>
          <a:bodyPr wrap="square" lIns="0" tIns="0" rIns="0" bIns="0" rtlCol="0" anchor="ctr"/>
          <a:lstStyle/>
          <a:p>
            <a:pPr marL="0" indent="0">
              <a:spcAft>
                <a:spcPts val="800"/>
              </a:spcAft>
              <a:buNone/>
            </a:pPr>
            <a:r>
              <a:rPr lang="en-US" dirty="0">
                <a:solidFill>
                  <a:srgbClr val="0A3D4A"/>
                </a:solidFill>
              </a:rPr>
              <a:t>The giant panda is an endangered animal that lives in mountain forests.</a:t>
            </a:r>
            <a:endParaRPr lang="en-US" dirty="0"/>
          </a:p>
          <a:p>
            <a:pPr marL="0" indent="0">
              <a:spcAft>
                <a:spcPts val="800"/>
              </a:spcAft>
              <a:buNone/>
            </a:pPr>
            <a:r>
              <a:rPr lang="en-US" dirty="0">
                <a:solidFill>
                  <a:srgbClr val="0A3D4A"/>
                </a:solidFill>
              </a:rPr>
              <a:t>It depends mainly on bamboo for food, but some bamboo forests are disappearing.</a:t>
            </a:r>
            <a:endParaRPr lang="en-US" dirty="0"/>
          </a:p>
          <a:p>
            <a:pPr marL="0" indent="0">
              <a:spcAft>
                <a:spcPts val="800"/>
              </a:spcAft>
              <a:buNone/>
            </a:pPr>
            <a:r>
              <a:rPr lang="en-US" b="1" dirty="0">
                <a:solidFill>
                  <a:srgbClr val="FF6B5E"/>
                </a:solidFill>
              </a:rPr>
              <a:t>As a result</a:t>
            </a:r>
            <a:r>
              <a:rPr lang="en-US" dirty="0">
                <a:solidFill>
                  <a:srgbClr val="0A3D4A"/>
                </a:solidFill>
              </a:rPr>
              <a:t>, pandas can lose important sources of food and shelter.</a:t>
            </a:r>
            <a:endParaRPr lang="en-US" dirty="0"/>
          </a:p>
        </p:txBody>
      </p:sp>
      <p:sp>
        <p:nvSpPr>
          <p:cNvPr id="9" name="Text 7"/>
          <p:cNvSpPr txBox="1"/>
          <p:nvPr/>
        </p:nvSpPr>
        <p:spPr>
          <a:xfrm>
            <a:off x="457200" y="3063240"/>
            <a:ext cx="8229600" cy="274320"/>
          </a:xfrm>
          <a:prstGeom prst="rect">
            <a:avLst/>
          </a:prstGeom>
          <a:noFill/>
          <a:ln/>
        </p:spPr>
        <p:txBody>
          <a:bodyPr wrap="square" lIns="0" tIns="0" rIns="0" bIns="0" rtlCol="0" anchor="t"/>
          <a:lstStyle/>
          <a:p>
            <a:pPr marL="0" indent="0">
              <a:buNone/>
            </a:pPr>
            <a:r>
              <a:rPr lang="en-US" sz="2000" b="1" i="1" dirty="0">
                <a:solidFill>
                  <a:srgbClr val="4A6B73"/>
                </a:solidFill>
              </a:rPr>
              <a:t>Notice — we used:</a:t>
            </a:r>
            <a:endParaRPr lang="en-US" sz="2000" b="1" dirty="0"/>
          </a:p>
        </p:txBody>
      </p:sp>
      <p:sp>
        <p:nvSpPr>
          <p:cNvPr id="10" name="Shape 8"/>
          <p:cNvSpPr/>
          <p:nvPr/>
        </p:nvSpPr>
        <p:spPr>
          <a:xfrm>
            <a:off x="457200" y="3474720"/>
            <a:ext cx="2651760" cy="502920"/>
          </a:xfrm>
          <a:prstGeom prst="roundRect">
            <a:avLst>
              <a:gd name="adj" fmla="val 27273"/>
            </a:avLst>
          </a:prstGeom>
          <a:solidFill>
            <a:srgbClr val="FFFFFF"/>
          </a:solidFill>
          <a:ln/>
          <a:effectLst>
            <a:outerShdw blurRad="76200" dist="25400" dir="5400000" algn="bl" rotWithShape="0">
              <a:srgbClr val="000000">
                <a:alpha val="15000"/>
              </a:srgbClr>
            </a:outerShdw>
          </a:effectLst>
        </p:spPr>
      </p:sp>
      <p:sp>
        <p:nvSpPr>
          <p:cNvPr id="11" name="Text 9"/>
          <p:cNvSpPr txBox="1"/>
          <p:nvPr/>
        </p:nvSpPr>
        <p:spPr>
          <a:xfrm>
            <a:off x="548640" y="3474720"/>
            <a:ext cx="2468880" cy="502920"/>
          </a:xfrm>
          <a:prstGeom prst="rect">
            <a:avLst/>
          </a:prstGeom>
          <a:noFill/>
          <a:ln/>
        </p:spPr>
        <p:txBody>
          <a:bodyPr wrap="square" lIns="0" tIns="0" rIns="0" bIns="0" rtlCol="0" anchor="ctr"/>
          <a:lstStyle/>
          <a:p>
            <a:pPr marL="0" indent="0" algn="ctr">
              <a:buNone/>
            </a:pPr>
            <a:r>
              <a:rPr lang="en-US" b="1" dirty="0">
                <a:solidFill>
                  <a:srgbClr val="0A3D4A"/>
                </a:solidFill>
              </a:rPr>
              <a:t>✔ present tense</a:t>
            </a:r>
            <a:endParaRPr lang="en-US" dirty="0"/>
          </a:p>
        </p:txBody>
      </p:sp>
      <p:sp>
        <p:nvSpPr>
          <p:cNvPr id="12" name="Shape 10"/>
          <p:cNvSpPr/>
          <p:nvPr/>
        </p:nvSpPr>
        <p:spPr>
          <a:xfrm>
            <a:off x="3246120" y="3474720"/>
            <a:ext cx="2651760" cy="502920"/>
          </a:xfrm>
          <a:prstGeom prst="roundRect">
            <a:avLst>
              <a:gd name="adj" fmla="val 27273"/>
            </a:avLst>
          </a:prstGeom>
          <a:solidFill>
            <a:srgbClr val="FFFFFF"/>
          </a:solidFill>
          <a:ln/>
          <a:effectLst>
            <a:outerShdw blurRad="76200" dist="25400" dir="5400000" algn="bl" rotWithShape="0">
              <a:srgbClr val="000000">
                <a:alpha val="15000"/>
              </a:srgbClr>
            </a:outerShdw>
          </a:effectLst>
        </p:spPr>
      </p:sp>
      <p:sp>
        <p:nvSpPr>
          <p:cNvPr id="13" name="Text 11"/>
          <p:cNvSpPr txBox="1"/>
          <p:nvPr/>
        </p:nvSpPr>
        <p:spPr>
          <a:xfrm>
            <a:off x="3337560" y="3474720"/>
            <a:ext cx="2468880" cy="502920"/>
          </a:xfrm>
          <a:prstGeom prst="rect">
            <a:avLst/>
          </a:prstGeom>
          <a:noFill/>
          <a:ln/>
        </p:spPr>
        <p:txBody>
          <a:bodyPr wrap="square" lIns="0" tIns="0" rIns="0" bIns="0" rtlCol="0" anchor="ctr"/>
          <a:lstStyle/>
          <a:p>
            <a:pPr marL="0" indent="0" algn="ctr">
              <a:buNone/>
            </a:pPr>
            <a:r>
              <a:rPr lang="en-US" b="1" dirty="0">
                <a:solidFill>
                  <a:srgbClr val="0A3D4A"/>
                </a:solidFill>
              </a:rPr>
              <a:t>✔ third person</a:t>
            </a:r>
            <a:endParaRPr lang="en-US" dirty="0"/>
          </a:p>
        </p:txBody>
      </p:sp>
      <p:sp>
        <p:nvSpPr>
          <p:cNvPr id="14" name="Shape 12"/>
          <p:cNvSpPr/>
          <p:nvPr/>
        </p:nvSpPr>
        <p:spPr>
          <a:xfrm>
            <a:off x="6035040" y="3474720"/>
            <a:ext cx="2651760" cy="502920"/>
          </a:xfrm>
          <a:prstGeom prst="roundRect">
            <a:avLst>
              <a:gd name="adj" fmla="val 27273"/>
            </a:avLst>
          </a:prstGeom>
          <a:solidFill>
            <a:srgbClr val="FFFFFF"/>
          </a:solidFill>
          <a:ln/>
          <a:effectLst>
            <a:outerShdw blurRad="76200" dist="25400" dir="5400000" algn="bl" rotWithShape="0">
              <a:srgbClr val="000000">
                <a:alpha val="15000"/>
              </a:srgbClr>
            </a:outerShdw>
          </a:effectLst>
        </p:spPr>
      </p:sp>
      <p:sp>
        <p:nvSpPr>
          <p:cNvPr id="15" name="Text 13"/>
          <p:cNvSpPr txBox="1"/>
          <p:nvPr/>
        </p:nvSpPr>
        <p:spPr>
          <a:xfrm>
            <a:off x="6126480" y="3474720"/>
            <a:ext cx="2468880" cy="502920"/>
          </a:xfrm>
          <a:prstGeom prst="rect">
            <a:avLst/>
          </a:prstGeom>
          <a:noFill/>
          <a:ln/>
        </p:spPr>
        <p:txBody>
          <a:bodyPr wrap="square" lIns="0" tIns="0" rIns="0" bIns="0" rtlCol="0" anchor="ctr"/>
          <a:lstStyle/>
          <a:p>
            <a:pPr marL="0" indent="0" algn="ctr">
              <a:buNone/>
            </a:pPr>
            <a:r>
              <a:rPr lang="en-US" sz="1600" b="1" dirty="0">
                <a:solidFill>
                  <a:srgbClr val="0A3D4A"/>
                </a:solidFill>
              </a:rPr>
              <a:t>✔ relative clause</a:t>
            </a:r>
            <a:endParaRPr lang="en-US" sz="1600" dirty="0"/>
          </a:p>
        </p:txBody>
      </p:sp>
      <p:sp>
        <p:nvSpPr>
          <p:cNvPr id="16" name="Shape 14"/>
          <p:cNvSpPr/>
          <p:nvPr/>
        </p:nvSpPr>
        <p:spPr>
          <a:xfrm>
            <a:off x="457200" y="4114800"/>
            <a:ext cx="2651760" cy="502920"/>
          </a:xfrm>
          <a:prstGeom prst="roundRect">
            <a:avLst>
              <a:gd name="adj" fmla="val 27273"/>
            </a:avLst>
          </a:prstGeom>
          <a:solidFill>
            <a:srgbClr val="FFFFFF"/>
          </a:solidFill>
          <a:ln/>
          <a:effectLst>
            <a:outerShdw blurRad="76200" dist="25400" dir="5400000" algn="bl" rotWithShape="0">
              <a:srgbClr val="000000">
                <a:alpha val="15000"/>
              </a:srgbClr>
            </a:outerShdw>
          </a:effectLst>
        </p:spPr>
      </p:sp>
      <p:sp>
        <p:nvSpPr>
          <p:cNvPr id="17" name="Text 15"/>
          <p:cNvSpPr txBox="1"/>
          <p:nvPr/>
        </p:nvSpPr>
        <p:spPr>
          <a:xfrm>
            <a:off x="548640" y="4114800"/>
            <a:ext cx="2468880" cy="502920"/>
          </a:xfrm>
          <a:prstGeom prst="rect">
            <a:avLst/>
          </a:prstGeom>
          <a:noFill/>
          <a:ln/>
        </p:spPr>
        <p:txBody>
          <a:bodyPr wrap="square" lIns="0" tIns="0" rIns="0" bIns="0" rtlCol="0" anchor="ctr"/>
          <a:lstStyle/>
          <a:p>
            <a:pPr marL="0" indent="0" algn="ctr">
              <a:buNone/>
            </a:pPr>
            <a:r>
              <a:rPr lang="en-US" sz="1600" b="1" dirty="0">
                <a:solidFill>
                  <a:srgbClr val="0A3D4A"/>
                </a:solidFill>
              </a:rPr>
              <a:t>✔ conjunction</a:t>
            </a:r>
            <a:endParaRPr lang="en-US" sz="1600" dirty="0"/>
          </a:p>
        </p:txBody>
      </p:sp>
      <p:sp>
        <p:nvSpPr>
          <p:cNvPr id="18" name="Shape 16"/>
          <p:cNvSpPr/>
          <p:nvPr/>
        </p:nvSpPr>
        <p:spPr>
          <a:xfrm>
            <a:off x="3246120" y="4114800"/>
            <a:ext cx="2651760" cy="502920"/>
          </a:xfrm>
          <a:prstGeom prst="roundRect">
            <a:avLst>
              <a:gd name="adj" fmla="val 27273"/>
            </a:avLst>
          </a:prstGeom>
          <a:solidFill>
            <a:srgbClr val="FFFFFF"/>
          </a:solidFill>
          <a:ln/>
          <a:effectLst>
            <a:outerShdw blurRad="76200" dist="25400" dir="5400000" algn="bl" rotWithShape="0">
              <a:srgbClr val="000000">
                <a:alpha val="15000"/>
              </a:srgbClr>
            </a:outerShdw>
          </a:effectLst>
        </p:spPr>
      </p:sp>
      <p:sp>
        <p:nvSpPr>
          <p:cNvPr id="19" name="Text 17"/>
          <p:cNvSpPr txBox="1"/>
          <p:nvPr/>
        </p:nvSpPr>
        <p:spPr>
          <a:xfrm>
            <a:off x="3337560" y="4114800"/>
            <a:ext cx="2468880" cy="502920"/>
          </a:xfrm>
          <a:prstGeom prst="rect">
            <a:avLst/>
          </a:prstGeom>
          <a:noFill/>
          <a:ln/>
        </p:spPr>
        <p:txBody>
          <a:bodyPr wrap="square" lIns="0" tIns="0" rIns="0" bIns="0" rtlCol="0" anchor="ctr"/>
          <a:lstStyle/>
          <a:p>
            <a:pPr marL="0" indent="0" algn="ctr">
              <a:buNone/>
            </a:pPr>
            <a:r>
              <a:rPr lang="en-US" sz="1600" b="1" dirty="0">
                <a:solidFill>
                  <a:srgbClr val="0A3D4A"/>
                </a:solidFill>
              </a:rPr>
              <a:t>✔ cause/effect</a:t>
            </a:r>
            <a:endParaRPr lang="en-US" sz="1600" dirty="0"/>
          </a:p>
        </p:txBody>
      </p:sp>
      <p:sp>
        <p:nvSpPr>
          <p:cNvPr id="20" name="Shape 18"/>
          <p:cNvSpPr/>
          <p:nvPr/>
        </p:nvSpPr>
        <p:spPr>
          <a:xfrm>
            <a:off x="6035040" y="4114800"/>
            <a:ext cx="2651760" cy="502920"/>
          </a:xfrm>
          <a:prstGeom prst="roundRect">
            <a:avLst>
              <a:gd name="adj" fmla="val 27273"/>
            </a:avLst>
          </a:prstGeom>
          <a:solidFill>
            <a:srgbClr val="FFFFFF"/>
          </a:solidFill>
          <a:ln/>
          <a:effectLst>
            <a:outerShdw blurRad="76200" dist="25400" dir="5400000" algn="bl" rotWithShape="0">
              <a:srgbClr val="000000">
                <a:alpha val="15000"/>
              </a:srgbClr>
            </a:outerShdw>
          </a:effectLst>
        </p:spPr>
      </p:sp>
      <p:sp>
        <p:nvSpPr>
          <p:cNvPr id="21" name="Text 19"/>
          <p:cNvSpPr txBox="1"/>
          <p:nvPr/>
        </p:nvSpPr>
        <p:spPr>
          <a:xfrm>
            <a:off x="6126480" y="4114800"/>
            <a:ext cx="2468880" cy="502920"/>
          </a:xfrm>
          <a:prstGeom prst="rect">
            <a:avLst/>
          </a:prstGeom>
          <a:noFill/>
          <a:ln/>
        </p:spPr>
        <p:txBody>
          <a:bodyPr wrap="square" lIns="0" tIns="0" rIns="0" bIns="0" rtlCol="0" anchor="ctr"/>
          <a:lstStyle/>
          <a:p>
            <a:pPr marL="0" indent="0" algn="ctr">
              <a:buNone/>
            </a:pPr>
            <a:r>
              <a:rPr lang="en-US" sz="1600" b="1" dirty="0">
                <a:solidFill>
                  <a:srgbClr val="0A3D4A"/>
                </a:solidFill>
              </a:rPr>
              <a:t>✔ precise vocabulary</a:t>
            </a:r>
            <a:endParaRPr lang="en-US" sz="16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0E7C86"/>
                </a:solidFill>
              </a:defRPr>
            </a:lvl1pPr>
          </a:lstStyle>
          <a:p>
            <a:pPr algn="l"/>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7589520" y="-914400"/>
            <a:ext cx="2377440" cy="2377440"/>
          </a:xfrm>
          <a:prstGeom prst="ellipse">
            <a:avLst/>
          </a:prstGeom>
          <a:solidFill>
            <a:srgbClr val="CDEFF1">
              <a:alpha val="80000"/>
            </a:srgbClr>
          </a:solidFill>
          <a:ln/>
        </p:spPr>
      </p:sp>
      <p:sp>
        <p:nvSpPr>
          <p:cNvPr id="3" name="Shape 1"/>
          <p:cNvSpPr/>
          <p:nvPr/>
        </p:nvSpPr>
        <p:spPr>
          <a:xfrm>
            <a:off x="-548640" y="4297680"/>
            <a:ext cx="1463040" cy="1463040"/>
          </a:xfrm>
          <a:prstGeom prst="ellipse">
            <a:avLst/>
          </a:prstGeom>
          <a:solidFill>
            <a:srgbClr val="CDEFF1">
              <a:alpha val="70000"/>
            </a:srgbClr>
          </a:solidFill>
          <a:ln/>
        </p:spPr>
      </p:sp>
      <p:sp>
        <p:nvSpPr>
          <p:cNvPr id="4" name="Shape 2"/>
          <p:cNvSpPr/>
          <p:nvPr/>
        </p:nvSpPr>
        <p:spPr>
          <a:xfrm>
            <a:off x="457200" y="292608"/>
            <a:ext cx="658368" cy="658368"/>
          </a:xfrm>
          <a:prstGeom prst="ellipse">
            <a:avLst/>
          </a:prstGeom>
          <a:solidFill>
            <a:srgbClr val="FF6B5E"/>
          </a:solidFill>
          <a:ln/>
        </p:spPr>
      </p:sp>
      <p:sp>
        <p:nvSpPr>
          <p:cNvPr id="5" name="Text 3"/>
          <p:cNvSpPr txBox="1"/>
          <p:nvPr/>
        </p:nvSpPr>
        <p:spPr>
          <a:xfrm>
            <a:off x="457200" y="292608"/>
            <a:ext cx="658368" cy="658368"/>
          </a:xfrm>
          <a:prstGeom prst="rect">
            <a:avLst/>
          </a:prstGeom>
          <a:noFill/>
          <a:ln/>
        </p:spPr>
        <p:txBody>
          <a:bodyPr wrap="square" lIns="0" tIns="0" rIns="0" bIns="0" rtlCol="0" anchor="ctr"/>
          <a:lstStyle/>
          <a:p>
            <a:pPr marL="0" indent="0" algn="ctr">
              <a:buNone/>
            </a:pPr>
            <a:r>
              <a:rPr lang="en-US" sz="2200" b="1" dirty="0">
                <a:solidFill>
                  <a:srgbClr val="FFFFFF"/>
                </a:solidFill>
              </a:rPr>
              <a:t>✍️</a:t>
            </a:r>
            <a:endParaRPr lang="en-US" sz="2200" dirty="0"/>
          </a:p>
        </p:txBody>
      </p:sp>
      <p:sp>
        <p:nvSpPr>
          <p:cNvPr id="6" name="Text 0"/>
          <p:cNvSpPr>
            <a:spLocks noGrp="1"/>
          </p:cNvSpPr>
          <p:nvPr>
            <p:ph type="title" idx="100" hasCustomPrompt="1"/>
          </p:nvPr>
        </p:nvSpPr>
        <p:spPr>
          <a:xfrm>
            <a:off x="1280160" y="274320"/>
            <a:ext cx="7315200" cy="685800"/>
          </a:xfrm>
          <a:prstGeom prst="rect">
            <a:avLst/>
          </a:prstGeom>
          <a:noFill/>
          <a:ln/>
        </p:spPr>
        <p:txBody>
          <a:bodyPr wrap="square" rtlCol="0" anchor="ctr"/>
          <a:lstStyle/>
          <a:p>
            <a:pPr marL="0" indent="0">
              <a:buNone/>
            </a:pPr>
            <a:r>
              <a:rPr lang="en-US" sz="2600" b="1" dirty="0">
                <a:solidFill>
                  <a:srgbClr val="0A3D4A"/>
                </a:solidFill>
              </a:rPr>
              <a:t>YOUR TURN</a:t>
            </a:r>
            <a:endParaRPr lang="en-US" sz="2600" dirty="0"/>
          </a:p>
        </p:txBody>
      </p:sp>
      <p:sp>
        <p:nvSpPr>
          <p:cNvPr id="7" name="Shape 5"/>
          <p:cNvSpPr/>
          <p:nvPr/>
        </p:nvSpPr>
        <p:spPr>
          <a:xfrm>
            <a:off x="485030" y="1188720"/>
            <a:ext cx="3840480" cy="3520440"/>
          </a:xfrm>
          <a:prstGeom prst="roundRect">
            <a:avLst>
              <a:gd name="adj" fmla="val 3896"/>
            </a:avLst>
          </a:prstGeom>
          <a:solidFill>
            <a:srgbClr val="FFFFFF"/>
          </a:solidFill>
          <a:ln/>
          <a:effectLst>
            <a:outerShdw blurRad="76200" dist="25400" dir="5400000" algn="bl" rotWithShape="0">
              <a:srgbClr val="000000">
                <a:alpha val="15000"/>
              </a:srgbClr>
            </a:outerShdw>
          </a:effectLst>
        </p:spPr>
      </p:sp>
      <p:sp>
        <p:nvSpPr>
          <p:cNvPr id="8" name="Text 6"/>
          <p:cNvSpPr txBox="1"/>
          <p:nvPr/>
        </p:nvSpPr>
        <p:spPr>
          <a:xfrm>
            <a:off x="573157" y="1211779"/>
            <a:ext cx="3383280" cy="274320"/>
          </a:xfrm>
          <a:prstGeom prst="rect">
            <a:avLst/>
          </a:prstGeom>
          <a:noFill/>
          <a:ln/>
        </p:spPr>
        <p:txBody>
          <a:bodyPr wrap="square" lIns="0" tIns="0" rIns="0" bIns="0" rtlCol="0" anchor="t"/>
          <a:lstStyle/>
          <a:p>
            <a:pPr marL="0" indent="0">
              <a:buNone/>
            </a:pPr>
            <a:r>
              <a:rPr lang="en-US" sz="1600" b="1" i="1" dirty="0">
                <a:solidFill>
                  <a:srgbClr val="4A6B73"/>
                </a:solidFill>
              </a:rPr>
              <a:t>Use these notes:</a:t>
            </a:r>
            <a:endParaRPr lang="en-US" sz="1600" b="1" dirty="0"/>
          </a:p>
        </p:txBody>
      </p:sp>
      <p:sp>
        <p:nvSpPr>
          <p:cNvPr id="9" name="Text 7"/>
          <p:cNvSpPr txBox="1"/>
          <p:nvPr/>
        </p:nvSpPr>
        <p:spPr>
          <a:xfrm>
            <a:off x="685800" y="1645920"/>
            <a:ext cx="3383280" cy="320040"/>
          </a:xfrm>
          <a:prstGeom prst="rect">
            <a:avLst/>
          </a:prstGeom>
          <a:noFill/>
          <a:ln/>
        </p:spPr>
        <p:txBody>
          <a:bodyPr wrap="square" lIns="0" tIns="0" rIns="0" bIns="0" rtlCol="0" anchor="t"/>
          <a:lstStyle/>
          <a:p>
            <a:pPr marL="0" indent="0">
              <a:buNone/>
            </a:pPr>
            <a:r>
              <a:rPr lang="en-US" sz="1600" b="1" dirty="0">
                <a:solidFill>
                  <a:srgbClr val="0E7C86"/>
                </a:solidFill>
              </a:rPr>
              <a:t>SEA TURTLE — PROTECTION</a:t>
            </a:r>
            <a:endParaRPr lang="en-US" sz="1600" dirty="0"/>
          </a:p>
        </p:txBody>
      </p:sp>
      <p:sp>
        <p:nvSpPr>
          <p:cNvPr id="10" name="Text 8"/>
          <p:cNvSpPr txBox="1"/>
          <p:nvPr/>
        </p:nvSpPr>
        <p:spPr>
          <a:xfrm>
            <a:off x="685800" y="2103120"/>
            <a:ext cx="3383280" cy="2468880"/>
          </a:xfrm>
          <a:prstGeom prst="rect">
            <a:avLst/>
          </a:prstGeom>
          <a:noFill/>
          <a:ln/>
        </p:spPr>
        <p:txBody>
          <a:bodyPr wrap="square" lIns="0" tIns="0" rIns="0" bIns="0" rtlCol="0" anchor="t"/>
          <a:lstStyle/>
          <a:p>
            <a:pPr marL="342900" indent="-342900">
              <a:spcAft>
                <a:spcPts val="800"/>
              </a:spcAft>
              <a:buSzPct val="100000"/>
              <a:buChar char="•"/>
            </a:pPr>
            <a:r>
              <a:rPr lang="en-US" dirty="0">
                <a:solidFill>
                  <a:srgbClr val="0A3D4A"/>
                </a:solidFill>
              </a:rPr>
              <a:t>organisations help turtles</a:t>
            </a:r>
            <a:endParaRPr lang="en-US" dirty="0"/>
          </a:p>
          <a:p>
            <a:pPr marL="342900" indent="-342900">
              <a:spcAft>
                <a:spcPts val="800"/>
              </a:spcAft>
              <a:buSzPct val="100000"/>
              <a:buChar char="•"/>
            </a:pPr>
            <a:r>
              <a:rPr lang="en-US" dirty="0">
                <a:solidFill>
                  <a:srgbClr val="0A3D4A"/>
                </a:solidFill>
              </a:rPr>
              <a:t>nesting beaches protected</a:t>
            </a:r>
            <a:endParaRPr lang="en-US" dirty="0"/>
          </a:p>
          <a:p>
            <a:pPr marL="342900" indent="-342900">
              <a:spcAft>
                <a:spcPts val="800"/>
              </a:spcAft>
              <a:buSzPct val="100000"/>
              <a:buChar char="•"/>
            </a:pPr>
            <a:r>
              <a:rPr lang="en-US" dirty="0">
                <a:solidFill>
                  <a:srgbClr val="0A3D4A"/>
                </a:solidFill>
              </a:rPr>
              <a:t>plastic waste reduced</a:t>
            </a:r>
            <a:endParaRPr lang="en-US" dirty="0"/>
          </a:p>
          <a:p>
            <a:pPr marL="342900" indent="-342900">
              <a:spcAft>
                <a:spcPts val="800"/>
              </a:spcAft>
              <a:buSzPct val="100000"/>
              <a:buChar char="•"/>
            </a:pPr>
            <a:r>
              <a:rPr lang="en-US" dirty="0">
                <a:solidFill>
                  <a:srgbClr val="0A3D4A"/>
                </a:solidFill>
              </a:rPr>
              <a:t>fishing equipment improved</a:t>
            </a:r>
            <a:endParaRPr lang="en-US" dirty="0"/>
          </a:p>
          <a:p>
            <a:pPr marL="342900" indent="-342900">
              <a:spcAft>
                <a:spcPts val="800"/>
              </a:spcAft>
              <a:buSzPct val="100000"/>
              <a:buChar char="•"/>
            </a:pPr>
            <a:r>
              <a:rPr lang="en-US" dirty="0">
                <a:solidFill>
                  <a:srgbClr val="0A3D4A"/>
                </a:solidFill>
              </a:rPr>
              <a:t>fewer turtles become trapped</a:t>
            </a:r>
            <a:endParaRPr lang="en-US" dirty="0"/>
          </a:p>
        </p:txBody>
      </p:sp>
      <p:sp>
        <p:nvSpPr>
          <p:cNvPr id="11" name="Shape 9"/>
          <p:cNvSpPr/>
          <p:nvPr/>
        </p:nvSpPr>
        <p:spPr>
          <a:xfrm>
            <a:off x="4480560" y="1188720"/>
            <a:ext cx="4206240" cy="3520440"/>
          </a:xfrm>
          <a:prstGeom prst="roundRect">
            <a:avLst>
              <a:gd name="adj" fmla="val 3896"/>
            </a:avLst>
          </a:prstGeom>
          <a:solidFill>
            <a:srgbClr val="FFFFFF"/>
          </a:solidFill>
          <a:ln/>
          <a:effectLst>
            <a:outerShdw blurRad="76200" dist="25400" dir="5400000" algn="bl" rotWithShape="0">
              <a:srgbClr val="000000">
                <a:alpha val="15000"/>
              </a:srgbClr>
            </a:outerShdw>
          </a:effectLst>
        </p:spPr>
      </p:sp>
      <p:sp>
        <p:nvSpPr>
          <p:cNvPr id="12" name="Text 10"/>
          <p:cNvSpPr txBox="1"/>
          <p:nvPr/>
        </p:nvSpPr>
        <p:spPr>
          <a:xfrm>
            <a:off x="4526280" y="1197864"/>
            <a:ext cx="3749040" cy="548640"/>
          </a:xfrm>
          <a:prstGeom prst="rect">
            <a:avLst/>
          </a:prstGeom>
          <a:noFill/>
          <a:ln/>
        </p:spPr>
        <p:txBody>
          <a:bodyPr wrap="square" lIns="0" tIns="0" rIns="0" bIns="0" rtlCol="0" anchor="t"/>
          <a:lstStyle/>
          <a:p>
            <a:pPr marL="0" indent="0">
              <a:buNone/>
            </a:pPr>
            <a:r>
              <a:rPr lang="en-US" sz="1500" b="1" dirty="0">
                <a:solidFill>
                  <a:srgbClr val="0A3D4A"/>
                </a:solidFill>
              </a:rPr>
              <a:t>Write a short paragraph.</a:t>
            </a:r>
          </a:p>
          <a:p>
            <a:pPr marL="0" indent="0">
              <a:buNone/>
            </a:pPr>
            <a:r>
              <a:rPr lang="en-US" sz="1500" dirty="0">
                <a:solidFill>
                  <a:srgbClr val="0A3D4A"/>
                </a:solidFill>
              </a:rPr>
              <a:t> </a:t>
            </a:r>
          </a:p>
          <a:p>
            <a:pPr marL="0" indent="0">
              <a:buNone/>
            </a:pPr>
            <a:r>
              <a:rPr lang="en-US" sz="1500" b="1" dirty="0">
                <a:solidFill>
                  <a:srgbClr val="0A3D4A"/>
                </a:solidFill>
              </a:rPr>
              <a:t>Try to include:</a:t>
            </a:r>
            <a:endParaRPr lang="en-US" sz="1500" b="1" dirty="0"/>
          </a:p>
        </p:txBody>
      </p:sp>
      <p:sp>
        <p:nvSpPr>
          <p:cNvPr id="13" name="Shape 11"/>
          <p:cNvSpPr/>
          <p:nvPr/>
        </p:nvSpPr>
        <p:spPr>
          <a:xfrm>
            <a:off x="4709160" y="2135124"/>
            <a:ext cx="256032" cy="256032"/>
          </a:xfrm>
          <a:prstGeom prst="roundRect">
            <a:avLst>
              <a:gd name="adj" fmla="val 17857"/>
            </a:avLst>
          </a:prstGeom>
          <a:solidFill>
            <a:srgbClr val="FFFFFF"/>
          </a:solidFill>
          <a:ln w="25400">
            <a:solidFill>
              <a:srgbClr val="0E7C86"/>
            </a:solidFill>
            <a:prstDash val="solid"/>
          </a:ln>
        </p:spPr>
      </p:sp>
      <p:sp>
        <p:nvSpPr>
          <p:cNvPr id="14" name="Text 12"/>
          <p:cNvSpPr txBox="1"/>
          <p:nvPr/>
        </p:nvSpPr>
        <p:spPr>
          <a:xfrm>
            <a:off x="5120640" y="2011680"/>
            <a:ext cx="3337560" cy="502920"/>
          </a:xfrm>
          <a:prstGeom prst="rect">
            <a:avLst/>
          </a:prstGeom>
          <a:noFill/>
          <a:ln/>
        </p:spPr>
        <p:txBody>
          <a:bodyPr wrap="square" lIns="0" tIns="0" rIns="0" bIns="0" rtlCol="0" anchor="ctr"/>
          <a:lstStyle/>
          <a:p>
            <a:pPr marL="0" indent="0">
              <a:buNone/>
            </a:pPr>
            <a:r>
              <a:rPr lang="en-US" sz="2000" dirty="0">
                <a:solidFill>
                  <a:srgbClr val="0A3D4A"/>
                </a:solidFill>
              </a:rPr>
              <a:t>a clear fact</a:t>
            </a:r>
            <a:endParaRPr lang="en-US" sz="2000" dirty="0"/>
          </a:p>
        </p:txBody>
      </p:sp>
      <p:sp>
        <p:nvSpPr>
          <p:cNvPr id="15" name="Shape 13"/>
          <p:cNvSpPr/>
          <p:nvPr/>
        </p:nvSpPr>
        <p:spPr>
          <a:xfrm>
            <a:off x="4709160" y="2638044"/>
            <a:ext cx="256032" cy="256032"/>
          </a:xfrm>
          <a:prstGeom prst="roundRect">
            <a:avLst>
              <a:gd name="adj" fmla="val 17857"/>
            </a:avLst>
          </a:prstGeom>
          <a:solidFill>
            <a:srgbClr val="FFFFFF"/>
          </a:solidFill>
          <a:ln w="25400">
            <a:solidFill>
              <a:srgbClr val="0E7C86"/>
            </a:solidFill>
            <a:prstDash val="solid"/>
          </a:ln>
        </p:spPr>
      </p:sp>
      <p:sp>
        <p:nvSpPr>
          <p:cNvPr id="16" name="Text 14"/>
          <p:cNvSpPr txBox="1"/>
          <p:nvPr/>
        </p:nvSpPr>
        <p:spPr>
          <a:xfrm>
            <a:off x="5120640" y="2514600"/>
            <a:ext cx="3337560" cy="502920"/>
          </a:xfrm>
          <a:prstGeom prst="rect">
            <a:avLst/>
          </a:prstGeom>
          <a:noFill/>
          <a:ln/>
        </p:spPr>
        <p:txBody>
          <a:bodyPr wrap="square" lIns="0" tIns="0" rIns="0" bIns="0" rtlCol="0" anchor="ctr"/>
          <a:lstStyle/>
          <a:p>
            <a:pPr marL="0" indent="0">
              <a:buNone/>
            </a:pPr>
            <a:r>
              <a:rPr lang="en-US" sz="2000" dirty="0">
                <a:solidFill>
                  <a:srgbClr val="0A3D4A"/>
                </a:solidFill>
              </a:rPr>
              <a:t>an explanation</a:t>
            </a:r>
            <a:endParaRPr lang="en-US" sz="2000" dirty="0"/>
          </a:p>
        </p:txBody>
      </p:sp>
      <p:sp>
        <p:nvSpPr>
          <p:cNvPr id="17" name="Shape 15"/>
          <p:cNvSpPr/>
          <p:nvPr/>
        </p:nvSpPr>
        <p:spPr>
          <a:xfrm>
            <a:off x="4709160" y="3140964"/>
            <a:ext cx="256032" cy="256032"/>
          </a:xfrm>
          <a:prstGeom prst="roundRect">
            <a:avLst>
              <a:gd name="adj" fmla="val 17857"/>
            </a:avLst>
          </a:prstGeom>
          <a:solidFill>
            <a:srgbClr val="FFFFFF"/>
          </a:solidFill>
          <a:ln w="25400">
            <a:solidFill>
              <a:srgbClr val="0E7C86"/>
            </a:solidFill>
            <a:prstDash val="solid"/>
          </a:ln>
        </p:spPr>
      </p:sp>
      <p:sp>
        <p:nvSpPr>
          <p:cNvPr id="18" name="Text 16"/>
          <p:cNvSpPr txBox="1"/>
          <p:nvPr/>
        </p:nvSpPr>
        <p:spPr>
          <a:xfrm>
            <a:off x="5120640" y="3017520"/>
            <a:ext cx="3337560" cy="502920"/>
          </a:xfrm>
          <a:prstGeom prst="rect">
            <a:avLst/>
          </a:prstGeom>
          <a:noFill/>
          <a:ln/>
        </p:spPr>
        <p:txBody>
          <a:bodyPr wrap="square" lIns="0" tIns="0" rIns="0" bIns="0" rtlCol="0" anchor="ctr"/>
          <a:lstStyle/>
          <a:p>
            <a:pPr marL="0" indent="0">
              <a:buNone/>
            </a:pPr>
            <a:r>
              <a:rPr lang="en-US" sz="2000" dirty="0">
                <a:solidFill>
                  <a:srgbClr val="0A3D4A"/>
                </a:solidFill>
              </a:rPr>
              <a:t>a connector</a:t>
            </a:r>
            <a:endParaRPr lang="en-US" sz="2000" dirty="0"/>
          </a:p>
        </p:txBody>
      </p:sp>
      <p:sp>
        <p:nvSpPr>
          <p:cNvPr id="19" name="Shape 17"/>
          <p:cNvSpPr/>
          <p:nvPr/>
        </p:nvSpPr>
        <p:spPr>
          <a:xfrm>
            <a:off x="4709160" y="3643884"/>
            <a:ext cx="256032" cy="256032"/>
          </a:xfrm>
          <a:prstGeom prst="roundRect">
            <a:avLst>
              <a:gd name="adj" fmla="val 17857"/>
            </a:avLst>
          </a:prstGeom>
          <a:solidFill>
            <a:srgbClr val="FFFFFF"/>
          </a:solidFill>
          <a:ln w="25400">
            <a:solidFill>
              <a:srgbClr val="0E7C86"/>
            </a:solidFill>
            <a:prstDash val="solid"/>
          </a:ln>
        </p:spPr>
      </p:sp>
      <p:sp>
        <p:nvSpPr>
          <p:cNvPr id="20" name="Text 18"/>
          <p:cNvSpPr txBox="1"/>
          <p:nvPr/>
        </p:nvSpPr>
        <p:spPr>
          <a:xfrm>
            <a:off x="5120640" y="3520440"/>
            <a:ext cx="3337560" cy="502920"/>
          </a:xfrm>
          <a:prstGeom prst="rect">
            <a:avLst/>
          </a:prstGeom>
          <a:noFill/>
          <a:ln/>
        </p:spPr>
        <p:txBody>
          <a:bodyPr wrap="square" lIns="0" tIns="0" rIns="0" bIns="0" rtlCol="0" anchor="ctr"/>
          <a:lstStyle/>
          <a:p>
            <a:pPr marL="0" indent="0">
              <a:buNone/>
            </a:pPr>
            <a:r>
              <a:rPr lang="en-US" sz="2000" dirty="0">
                <a:solidFill>
                  <a:srgbClr val="0A3D4A"/>
                </a:solidFill>
              </a:rPr>
              <a:t>a consequence</a:t>
            </a:r>
            <a:endParaRPr lang="en-US" sz="2000" dirty="0"/>
          </a:p>
        </p:txBody>
      </p:sp>
      <p:sp>
        <p:nvSpPr>
          <p:cNvPr id="21" name="Shape 19"/>
          <p:cNvSpPr/>
          <p:nvPr/>
        </p:nvSpPr>
        <p:spPr>
          <a:xfrm>
            <a:off x="4709160" y="4146804"/>
            <a:ext cx="256032" cy="256032"/>
          </a:xfrm>
          <a:prstGeom prst="roundRect">
            <a:avLst>
              <a:gd name="adj" fmla="val 17857"/>
            </a:avLst>
          </a:prstGeom>
          <a:solidFill>
            <a:srgbClr val="FFFFFF"/>
          </a:solidFill>
          <a:ln w="25400">
            <a:solidFill>
              <a:srgbClr val="0E7C86"/>
            </a:solidFill>
            <a:prstDash val="solid"/>
          </a:ln>
        </p:spPr>
      </p:sp>
      <p:sp>
        <p:nvSpPr>
          <p:cNvPr id="22" name="Text 20"/>
          <p:cNvSpPr txBox="1"/>
          <p:nvPr/>
        </p:nvSpPr>
        <p:spPr>
          <a:xfrm>
            <a:off x="5120640" y="4023360"/>
            <a:ext cx="3337560" cy="502920"/>
          </a:xfrm>
          <a:prstGeom prst="rect">
            <a:avLst/>
          </a:prstGeom>
          <a:noFill/>
          <a:ln/>
        </p:spPr>
        <p:txBody>
          <a:bodyPr wrap="square" lIns="0" tIns="0" rIns="0" bIns="0" rtlCol="0" anchor="ctr"/>
          <a:lstStyle/>
          <a:p>
            <a:pPr marL="0" indent="0">
              <a:buNone/>
            </a:pPr>
            <a:r>
              <a:rPr lang="en-US" sz="2000" dirty="0">
                <a:solidFill>
                  <a:srgbClr val="0A3D4A"/>
                </a:solidFill>
              </a:rPr>
              <a:t>one complex sentence</a:t>
            </a:r>
            <a:endParaRPr lang="en-US" sz="20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0E7C86"/>
                </a:solidFill>
              </a:defRPr>
            </a:lvl1pPr>
          </a:lstStyle>
          <a:p>
            <a:pPr algn="l"/>
            <a:fld id="{F7021451-1387-4CA6-816F-3879F97B5CBC}" type="slidenum">
              <a:rPr lang="en-US" b="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32FD78-188C-1ABC-A3CE-72765A24E9A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7C9FAEF6-954E-A3F9-971D-992FA40DEFD0}"/>
              </a:ext>
            </a:extLst>
          </p:cNvPr>
          <p:cNvSpPr/>
          <p:nvPr/>
        </p:nvSpPr>
        <p:spPr>
          <a:xfrm>
            <a:off x="7589520" y="-914400"/>
            <a:ext cx="2377440" cy="2377440"/>
          </a:xfrm>
          <a:prstGeom prst="ellipse">
            <a:avLst/>
          </a:prstGeom>
          <a:solidFill>
            <a:srgbClr val="CDEFF1">
              <a:alpha val="80000"/>
            </a:srgbClr>
          </a:solidFill>
          <a:ln/>
        </p:spPr>
      </p:sp>
      <p:sp>
        <p:nvSpPr>
          <p:cNvPr id="3" name="Shape 1">
            <a:extLst>
              <a:ext uri="{FF2B5EF4-FFF2-40B4-BE49-F238E27FC236}">
                <a16:creationId xmlns:a16="http://schemas.microsoft.com/office/drawing/2014/main" id="{02FE0A16-FB96-B247-A5D0-26B23F7AF6B0}"/>
              </a:ext>
            </a:extLst>
          </p:cNvPr>
          <p:cNvSpPr/>
          <p:nvPr/>
        </p:nvSpPr>
        <p:spPr>
          <a:xfrm>
            <a:off x="-548640" y="4297680"/>
            <a:ext cx="1463040" cy="1463040"/>
          </a:xfrm>
          <a:prstGeom prst="ellipse">
            <a:avLst/>
          </a:prstGeom>
          <a:solidFill>
            <a:srgbClr val="CDEFF1">
              <a:alpha val="70000"/>
            </a:srgbClr>
          </a:solidFill>
          <a:ln/>
        </p:spPr>
      </p:sp>
      <p:sp>
        <p:nvSpPr>
          <p:cNvPr id="7" name="Shape 5">
            <a:extLst>
              <a:ext uri="{FF2B5EF4-FFF2-40B4-BE49-F238E27FC236}">
                <a16:creationId xmlns:a16="http://schemas.microsoft.com/office/drawing/2014/main" id="{2C12A354-8646-3EB0-08A3-47D0924F4FD6}"/>
              </a:ext>
            </a:extLst>
          </p:cNvPr>
          <p:cNvSpPr/>
          <p:nvPr/>
        </p:nvSpPr>
        <p:spPr>
          <a:xfrm>
            <a:off x="74815" y="42899"/>
            <a:ext cx="8969431" cy="4603915"/>
          </a:xfrm>
          <a:prstGeom prst="roundRect">
            <a:avLst>
              <a:gd name="adj" fmla="val 3896"/>
            </a:avLst>
          </a:prstGeom>
          <a:solidFill>
            <a:srgbClr val="FFFFFF"/>
          </a:solidFill>
          <a:ln/>
          <a:effectLst>
            <a:outerShdw blurRad="76200" dist="25400" dir="5400000" algn="bl" rotWithShape="0">
              <a:srgbClr val="000000">
                <a:alpha val="15000"/>
              </a:srgbClr>
            </a:outerShdw>
          </a:effectLst>
        </p:spPr>
      </p:sp>
      <p:sp>
        <p:nvSpPr>
          <p:cNvPr id="9" name="Text 7">
            <a:extLst>
              <a:ext uri="{FF2B5EF4-FFF2-40B4-BE49-F238E27FC236}">
                <a16:creationId xmlns:a16="http://schemas.microsoft.com/office/drawing/2014/main" id="{6CA4871B-DAFC-F2E8-4E0B-868AB57478D3}"/>
              </a:ext>
            </a:extLst>
          </p:cNvPr>
          <p:cNvSpPr txBox="1"/>
          <p:nvPr/>
        </p:nvSpPr>
        <p:spPr>
          <a:xfrm>
            <a:off x="685800" y="1645920"/>
            <a:ext cx="3383280" cy="320040"/>
          </a:xfrm>
          <a:prstGeom prst="rect">
            <a:avLst/>
          </a:prstGeom>
          <a:noFill/>
          <a:ln/>
        </p:spPr>
        <p:txBody>
          <a:bodyPr wrap="square" lIns="0" tIns="0" rIns="0" bIns="0" rtlCol="0" anchor="t"/>
          <a:lstStyle/>
          <a:p>
            <a:pPr marL="0" indent="0">
              <a:buNone/>
            </a:pPr>
            <a:endParaRPr lang="en-US" sz="1600" dirty="0"/>
          </a:p>
        </p:txBody>
      </p:sp>
      <p:sp>
        <p:nvSpPr>
          <p:cNvPr id="10" name="Text 8">
            <a:extLst>
              <a:ext uri="{FF2B5EF4-FFF2-40B4-BE49-F238E27FC236}">
                <a16:creationId xmlns:a16="http://schemas.microsoft.com/office/drawing/2014/main" id="{CE31436D-D787-1AB9-536A-9875D10FB5D5}"/>
              </a:ext>
            </a:extLst>
          </p:cNvPr>
          <p:cNvSpPr txBox="1"/>
          <p:nvPr/>
        </p:nvSpPr>
        <p:spPr>
          <a:xfrm>
            <a:off x="99754" y="67838"/>
            <a:ext cx="8753301" cy="3266902"/>
          </a:xfrm>
          <a:prstGeom prst="rect">
            <a:avLst/>
          </a:prstGeom>
          <a:noFill/>
          <a:ln/>
        </p:spPr>
        <p:txBody>
          <a:bodyPr wrap="square" lIns="0" tIns="0" rIns="0" bIns="0" rtlCol="0" anchor="t"/>
          <a:lstStyle/>
          <a:p>
            <a:r>
              <a:rPr lang="en-US" b="1" dirty="0"/>
              <a:t>Model: Your Turn</a:t>
            </a:r>
          </a:p>
          <a:p>
            <a:r>
              <a:rPr lang="en-US" dirty="0"/>
              <a:t>Sea turtles can be protected in several ways. Many </a:t>
            </a:r>
            <a:r>
              <a:rPr lang="en-US" dirty="0" err="1"/>
              <a:t>organisations</a:t>
            </a:r>
            <a:r>
              <a:rPr lang="en-US" dirty="0"/>
              <a:t> help turtles by protecting nesting beaches, which are the places where females lay their eggs. This is important because the eggs and baby turtles are safer when the beaches are not damaged. In addition, people are reducing plastic waste, so fewer turtles mistake plastic bags for food. Fishing equipment is also being improved. As a result, fewer turtles become trapped and injured.</a:t>
            </a:r>
          </a:p>
          <a:p>
            <a:endParaRPr lang="en-US" b="1" dirty="0"/>
          </a:p>
          <a:p>
            <a:r>
              <a:rPr lang="en-US" b="1" dirty="0"/>
              <a:t>Checklist from the slide</a:t>
            </a:r>
            <a:endParaRPr lang="en-US" dirty="0"/>
          </a:p>
          <a:p>
            <a:r>
              <a:rPr lang="en-US" b="1" dirty="0"/>
              <a:t>A clear fact:</a:t>
            </a:r>
            <a:r>
              <a:rPr lang="en-US" dirty="0"/>
              <a:t> "Sea turtles can be protected in several ways."</a:t>
            </a:r>
          </a:p>
          <a:p>
            <a:r>
              <a:rPr lang="en-US" b="1" dirty="0"/>
              <a:t>An explanation:</a:t>
            </a:r>
            <a:r>
              <a:rPr lang="en-US" dirty="0"/>
              <a:t> "This is important because the eggs and baby turtles are safer when the beaches are not damaged."</a:t>
            </a:r>
          </a:p>
          <a:p>
            <a:r>
              <a:rPr lang="en-US" b="1" dirty="0"/>
              <a:t>A connector:</a:t>
            </a:r>
            <a:r>
              <a:rPr lang="en-US" dirty="0"/>
              <a:t> "In addition" (adding) and "As a result" (consequence).</a:t>
            </a:r>
          </a:p>
          <a:p>
            <a:r>
              <a:rPr lang="en-US" b="1" dirty="0"/>
              <a:t>A consequence:</a:t>
            </a:r>
            <a:r>
              <a:rPr lang="en-US" dirty="0"/>
              <a:t> "As a result, fewer turtles become trapped and injured."</a:t>
            </a:r>
          </a:p>
          <a:p>
            <a:r>
              <a:rPr lang="en-US" b="1" dirty="0"/>
              <a:t>One complex sentence:</a:t>
            </a:r>
            <a:r>
              <a:rPr lang="en-US" dirty="0"/>
              <a:t> "…so fewer turtles mistake plastic bags for food."</a:t>
            </a:r>
          </a:p>
          <a:p>
            <a:r>
              <a:rPr lang="en-US" b="1" dirty="0"/>
              <a:t>Bonus relative clause:</a:t>
            </a:r>
            <a:r>
              <a:rPr lang="en-US" dirty="0"/>
              <a:t> </a:t>
            </a:r>
            <a:r>
              <a:rPr lang="en-US" sz="1600" dirty="0"/>
              <a:t>"…nesting beaches, which are the places where females lay their eggs."</a:t>
            </a:r>
            <a:endParaRPr lang="en-US" dirty="0"/>
          </a:p>
        </p:txBody>
      </p:sp>
      <p:sp>
        <p:nvSpPr>
          <p:cNvPr id="25" name="Slide Number Placeholder 0">
            <a:extLst>
              <a:ext uri="{FF2B5EF4-FFF2-40B4-BE49-F238E27FC236}">
                <a16:creationId xmlns:a16="http://schemas.microsoft.com/office/drawing/2014/main" id="{F45F4471-A72C-5609-748D-5FC84C1F427D}"/>
              </a:ext>
            </a:extLst>
          </p:cNvPr>
          <p:cNvSpPr>
            <a:spLocks noGrp="1"/>
          </p:cNvSpPr>
          <p:nvPr>
            <p:ph type="sldNum" sz="quarter" idx="4294967295"/>
          </p:nvPr>
        </p:nvSpPr>
        <p:spPr>
          <a:xfrm>
            <a:off x="8412480" y="4800600"/>
            <a:ext cx="800000" cy="3000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0E7C86"/>
                </a:solidFill>
              </a:defRPr>
            </a:lvl1pPr>
          </a:lstStyle>
          <a:p>
            <a:pPr algn="l"/>
            <a:fld id="{F7021451-1387-4CA6-816F-3879F97B5CBC}" type="slidenum">
              <a:rPr lang="en-US" b="0"/>
              <a:t>28</a:t>
            </a:fld>
            <a:endParaRPr lang="en-US"/>
          </a:p>
        </p:txBody>
      </p:sp>
    </p:spTree>
    <p:extLst>
      <p:ext uri="{BB962C8B-B14F-4D97-AF65-F5344CB8AC3E}">
        <p14:creationId xmlns:p14="http://schemas.microsoft.com/office/powerpoint/2010/main" val="13808595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7589520" y="-914400"/>
            <a:ext cx="2377440" cy="2377440"/>
          </a:xfrm>
          <a:prstGeom prst="ellipse">
            <a:avLst/>
          </a:prstGeom>
          <a:solidFill>
            <a:srgbClr val="CDEFF1">
              <a:alpha val="80000"/>
            </a:srgbClr>
          </a:solidFill>
          <a:ln/>
        </p:spPr>
      </p:sp>
      <p:sp>
        <p:nvSpPr>
          <p:cNvPr id="3" name="Shape 1"/>
          <p:cNvSpPr/>
          <p:nvPr/>
        </p:nvSpPr>
        <p:spPr>
          <a:xfrm>
            <a:off x="-548640" y="4297680"/>
            <a:ext cx="1463040" cy="1463040"/>
          </a:xfrm>
          <a:prstGeom prst="ellipse">
            <a:avLst/>
          </a:prstGeom>
          <a:solidFill>
            <a:srgbClr val="CDEFF1">
              <a:alpha val="70000"/>
            </a:srgbClr>
          </a:solidFill>
          <a:ln/>
        </p:spPr>
      </p:sp>
      <p:sp>
        <p:nvSpPr>
          <p:cNvPr id="4" name="Shape 2"/>
          <p:cNvSpPr/>
          <p:nvPr/>
        </p:nvSpPr>
        <p:spPr>
          <a:xfrm>
            <a:off x="457200" y="292608"/>
            <a:ext cx="658368" cy="658368"/>
          </a:xfrm>
          <a:prstGeom prst="ellipse">
            <a:avLst/>
          </a:prstGeom>
          <a:solidFill>
            <a:srgbClr val="FF6B5E"/>
          </a:solidFill>
          <a:ln/>
        </p:spPr>
      </p:sp>
      <p:sp>
        <p:nvSpPr>
          <p:cNvPr id="5" name="Text 3"/>
          <p:cNvSpPr txBox="1"/>
          <p:nvPr/>
        </p:nvSpPr>
        <p:spPr>
          <a:xfrm>
            <a:off x="457200" y="292608"/>
            <a:ext cx="658368" cy="658368"/>
          </a:xfrm>
          <a:prstGeom prst="rect">
            <a:avLst/>
          </a:prstGeom>
          <a:noFill/>
          <a:ln/>
        </p:spPr>
        <p:txBody>
          <a:bodyPr wrap="square" lIns="0" tIns="0" rIns="0" bIns="0" rtlCol="0" anchor="ctr"/>
          <a:lstStyle/>
          <a:p>
            <a:pPr marL="0" indent="0" algn="ctr">
              <a:buNone/>
            </a:pPr>
            <a:r>
              <a:rPr lang="en-US" sz="2200" b="1" dirty="0">
                <a:solidFill>
                  <a:srgbClr val="FFFFFF"/>
                </a:solidFill>
              </a:rPr>
              <a:t>🟢</a:t>
            </a:r>
            <a:endParaRPr lang="en-US" sz="2200" dirty="0"/>
          </a:p>
        </p:txBody>
      </p:sp>
      <p:sp>
        <p:nvSpPr>
          <p:cNvPr id="6" name="Text 0"/>
          <p:cNvSpPr>
            <a:spLocks noGrp="1"/>
          </p:cNvSpPr>
          <p:nvPr>
            <p:ph type="title" idx="100" hasCustomPrompt="1"/>
          </p:nvPr>
        </p:nvSpPr>
        <p:spPr>
          <a:xfrm>
            <a:off x="1280160" y="274320"/>
            <a:ext cx="7315200" cy="685800"/>
          </a:xfrm>
          <a:prstGeom prst="rect">
            <a:avLst/>
          </a:prstGeom>
          <a:noFill/>
          <a:ln/>
        </p:spPr>
        <p:txBody>
          <a:bodyPr wrap="square" rtlCol="0" anchor="ctr"/>
          <a:lstStyle/>
          <a:p>
            <a:pPr marL="0" indent="0">
              <a:buNone/>
            </a:pPr>
            <a:r>
              <a:rPr lang="en-US" sz="2600" b="1" dirty="0">
                <a:solidFill>
                  <a:srgbClr val="0A3D4A"/>
                </a:solidFill>
              </a:rPr>
              <a:t>SUPPORT</a:t>
            </a:r>
            <a:endParaRPr lang="en-US" sz="2600" dirty="0"/>
          </a:p>
        </p:txBody>
      </p:sp>
      <p:sp>
        <p:nvSpPr>
          <p:cNvPr id="7" name="Shape 5"/>
          <p:cNvSpPr/>
          <p:nvPr/>
        </p:nvSpPr>
        <p:spPr>
          <a:xfrm>
            <a:off x="457200" y="1188720"/>
            <a:ext cx="4754880" cy="3520440"/>
          </a:xfrm>
          <a:prstGeom prst="roundRect">
            <a:avLst>
              <a:gd name="adj" fmla="val 3896"/>
            </a:avLst>
          </a:prstGeom>
          <a:solidFill>
            <a:srgbClr val="FFFFFF"/>
          </a:solidFill>
          <a:ln/>
          <a:effectLst>
            <a:outerShdw blurRad="76200" dist="25400" dir="5400000" algn="bl" rotWithShape="0">
              <a:srgbClr val="000000">
                <a:alpha val="15000"/>
              </a:srgbClr>
            </a:outerShdw>
          </a:effectLst>
        </p:spPr>
      </p:sp>
      <p:sp>
        <p:nvSpPr>
          <p:cNvPr id="8" name="Text 6"/>
          <p:cNvSpPr txBox="1"/>
          <p:nvPr/>
        </p:nvSpPr>
        <p:spPr>
          <a:xfrm>
            <a:off x="640080" y="1214297"/>
            <a:ext cx="4297680" cy="274320"/>
          </a:xfrm>
          <a:prstGeom prst="rect">
            <a:avLst/>
          </a:prstGeom>
          <a:noFill/>
          <a:ln/>
        </p:spPr>
        <p:txBody>
          <a:bodyPr wrap="square" lIns="0" tIns="0" rIns="0" bIns="0" rtlCol="0" anchor="t"/>
          <a:lstStyle/>
          <a:p>
            <a:pPr marL="0" indent="0">
              <a:buNone/>
            </a:pPr>
            <a:r>
              <a:rPr lang="en-US" sz="2000" b="1" dirty="0">
                <a:solidFill>
                  <a:srgbClr val="0E7C86"/>
                </a:solidFill>
              </a:rPr>
              <a:t>USE THIS STRUCTURE</a:t>
            </a:r>
            <a:endParaRPr lang="en-US" sz="2000" dirty="0"/>
          </a:p>
        </p:txBody>
      </p:sp>
      <p:sp>
        <p:nvSpPr>
          <p:cNvPr id="9" name="Text 7"/>
          <p:cNvSpPr txBox="1"/>
          <p:nvPr/>
        </p:nvSpPr>
        <p:spPr>
          <a:xfrm>
            <a:off x="685800" y="1737360"/>
            <a:ext cx="4297680" cy="2834640"/>
          </a:xfrm>
          <a:prstGeom prst="rect">
            <a:avLst/>
          </a:prstGeom>
          <a:noFill/>
          <a:ln/>
        </p:spPr>
        <p:txBody>
          <a:bodyPr wrap="square" lIns="0" tIns="0" rIns="0" bIns="0" rtlCol="0" anchor="t"/>
          <a:lstStyle/>
          <a:p>
            <a:pPr marL="0" indent="0">
              <a:spcAft>
                <a:spcPts val="1200"/>
              </a:spcAft>
              <a:buNone/>
            </a:pPr>
            <a:r>
              <a:rPr lang="en-US" sz="1700" dirty="0">
                <a:solidFill>
                  <a:srgbClr val="0A3D4A"/>
                </a:solidFill>
              </a:rPr>
              <a:t>Sea turtles can be protected in several ways.</a:t>
            </a:r>
            <a:endParaRPr lang="en-US" sz="1700" dirty="0"/>
          </a:p>
          <a:p>
            <a:pPr marL="0" indent="0">
              <a:spcAft>
                <a:spcPts val="1200"/>
              </a:spcAft>
              <a:buNone/>
            </a:pPr>
            <a:r>
              <a:rPr lang="en-US" sz="1700" dirty="0">
                <a:solidFill>
                  <a:srgbClr val="0A3D4A"/>
                </a:solidFill>
              </a:rPr>
              <a:t>One important method is ______________.</a:t>
            </a:r>
            <a:endParaRPr lang="en-US" sz="1700" dirty="0"/>
          </a:p>
          <a:p>
            <a:pPr marL="0" indent="0">
              <a:spcAft>
                <a:spcPts val="1200"/>
              </a:spcAft>
              <a:buNone/>
            </a:pPr>
            <a:r>
              <a:rPr lang="en-US" sz="1700" dirty="0">
                <a:solidFill>
                  <a:srgbClr val="0A3D4A"/>
                </a:solidFill>
              </a:rPr>
              <a:t>This helps because ______________.</a:t>
            </a:r>
            <a:endParaRPr lang="en-US" sz="1700" dirty="0"/>
          </a:p>
          <a:p>
            <a:pPr marL="0" indent="0">
              <a:spcAft>
                <a:spcPts val="1200"/>
              </a:spcAft>
              <a:buNone/>
            </a:pPr>
            <a:r>
              <a:rPr lang="en-US" sz="1700" dirty="0">
                <a:solidFill>
                  <a:srgbClr val="0A3D4A"/>
                </a:solidFill>
              </a:rPr>
              <a:t>In addition, ______________.</a:t>
            </a:r>
            <a:endParaRPr lang="en-US" sz="1700" dirty="0"/>
          </a:p>
        </p:txBody>
      </p:sp>
      <p:sp>
        <p:nvSpPr>
          <p:cNvPr id="10" name="Shape 8"/>
          <p:cNvSpPr/>
          <p:nvPr/>
        </p:nvSpPr>
        <p:spPr>
          <a:xfrm>
            <a:off x="5394960" y="1188720"/>
            <a:ext cx="3291840" cy="3520440"/>
          </a:xfrm>
          <a:prstGeom prst="roundRect">
            <a:avLst>
              <a:gd name="adj" fmla="val 4167"/>
            </a:avLst>
          </a:prstGeom>
          <a:solidFill>
            <a:srgbClr val="0A3D4A"/>
          </a:solidFill>
          <a:ln/>
          <a:effectLst>
            <a:outerShdw blurRad="76200" dist="25400" dir="5400000" algn="bl" rotWithShape="0">
              <a:srgbClr val="000000">
                <a:alpha val="15000"/>
              </a:srgbClr>
            </a:outerShdw>
          </a:effectLst>
        </p:spPr>
      </p:sp>
      <p:sp>
        <p:nvSpPr>
          <p:cNvPr id="11" name="Text 9"/>
          <p:cNvSpPr txBox="1"/>
          <p:nvPr/>
        </p:nvSpPr>
        <p:spPr>
          <a:xfrm>
            <a:off x="5623560" y="1325880"/>
            <a:ext cx="2834640" cy="274320"/>
          </a:xfrm>
          <a:prstGeom prst="rect">
            <a:avLst/>
          </a:prstGeom>
          <a:noFill/>
          <a:ln/>
        </p:spPr>
        <p:txBody>
          <a:bodyPr wrap="square" lIns="0" tIns="0" rIns="0" bIns="0" rtlCol="0" anchor="t"/>
          <a:lstStyle/>
          <a:p>
            <a:pPr marL="0" indent="0">
              <a:buNone/>
            </a:pPr>
            <a:r>
              <a:rPr lang="en-US" sz="2000" b="1" dirty="0">
                <a:solidFill>
                  <a:srgbClr val="FFC857"/>
                </a:solidFill>
              </a:rPr>
              <a:t>WORD BANK</a:t>
            </a:r>
            <a:endParaRPr lang="en-US" sz="2000" dirty="0"/>
          </a:p>
        </p:txBody>
      </p:sp>
      <p:sp>
        <p:nvSpPr>
          <p:cNvPr id="12" name="Text 10"/>
          <p:cNvSpPr txBox="1"/>
          <p:nvPr/>
        </p:nvSpPr>
        <p:spPr>
          <a:xfrm>
            <a:off x="5623560" y="1783080"/>
            <a:ext cx="2834640" cy="2834640"/>
          </a:xfrm>
          <a:prstGeom prst="rect">
            <a:avLst/>
          </a:prstGeom>
          <a:noFill/>
          <a:ln/>
        </p:spPr>
        <p:txBody>
          <a:bodyPr wrap="square" lIns="0" tIns="0" rIns="0" bIns="0" rtlCol="0" anchor="t"/>
          <a:lstStyle/>
          <a:p>
            <a:pPr marL="0" indent="0">
              <a:spcAft>
                <a:spcPts val="500"/>
              </a:spcAft>
              <a:buNone/>
            </a:pPr>
            <a:r>
              <a:rPr lang="en-US" sz="1700" b="1" dirty="0">
                <a:solidFill>
                  <a:srgbClr val="FFFFFF"/>
                </a:solidFill>
              </a:rPr>
              <a:t>protect</a:t>
            </a:r>
            <a:endParaRPr lang="en-US" sz="1700" dirty="0"/>
          </a:p>
          <a:p>
            <a:pPr marL="0" indent="0">
              <a:spcAft>
                <a:spcPts val="500"/>
              </a:spcAft>
              <a:buNone/>
            </a:pPr>
            <a:r>
              <a:rPr lang="en-US" sz="1700" b="1" dirty="0">
                <a:solidFill>
                  <a:srgbClr val="FFFFFF"/>
                </a:solidFill>
              </a:rPr>
              <a:t>reduce</a:t>
            </a:r>
            <a:endParaRPr lang="en-US" sz="1700" dirty="0"/>
          </a:p>
          <a:p>
            <a:pPr marL="0" indent="0">
              <a:spcAft>
                <a:spcPts val="500"/>
              </a:spcAft>
              <a:buNone/>
            </a:pPr>
            <a:r>
              <a:rPr lang="en-US" sz="1700" b="1" dirty="0">
                <a:solidFill>
                  <a:srgbClr val="FFFFFF"/>
                </a:solidFill>
              </a:rPr>
              <a:t>pollution</a:t>
            </a:r>
            <a:endParaRPr lang="en-US" sz="1700" dirty="0"/>
          </a:p>
          <a:p>
            <a:pPr marL="0" indent="0">
              <a:spcAft>
                <a:spcPts val="500"/>
              </a:spcAft>
              <a:buNone/>
            </a:pPr>
            <a:r>
              <a:rPr lang="en-US" sz="1700" b="1" dirty="0">
                <a:solidFill>
                  <a:srgbClr val="FFFFFF"/>
                </a:solidFill>
              </a:rPr>
              <a:t>nesting beaches</a:t>
            </a:r>
            <a:endParaRPr lang="en-US" sz="1700" dirty="0"/>
          </a:p>
          <a:p>
            <a:pPr marL="0" indent="0">
              <a:spcAft>
                <a:spcPts val="500"/>
              </a:spcAft>
              <a:buNone/>
            </a:pPr>
            <a:r>
              <a:rPr lang="en-US" sz="1700" b="1" dirty="0">
                <a:solidFill>
                  <a:srgbClr val="FFFFFF"/>
                </a:solidFill>
              </a:rPr>
              <a:t>fishing equipment</a:t>
            </a:r>
            <a:endParaRPr lang="en-US" sz="1700" dirty="0"/>
          </a:p>
          <a:p>
            <a:pPr marL="0" indent="0">
              <a:spcAft>
                <a:spcPts val="500"/>
              </a:spcAft>
              <a:buNone/>
            </a:pPr>
            <a:r>
              <a:rPr lang="en-US" sz="1700" b="1" dirty="0">
                <a:solidFill>
                  <a:srgbClr val="FFFFFF"/>
                </a:solidFill>
              </a:rPr>
              <a:t>trapped</a:t>
            </a:r>
            <a:endParaRPr lang="en-US" sz="1700" dirty="0"/>
          </a:p>
          <a:p>
            <a:pPr marL="0" indent="0">
              <a:spcAft>
                <a:spcPts val="500"/>
              </a:spcAft>
              <a:buNone/>
            </a:pPr>
            <a:r>
              <a:rPr lang="en-US" sz="1700" b="1" dirty="0">
                <a:solidFill>
                  <a:srgbClr val="FFFFFF"/>
                </a:solidFill>
              </a:rPr>
              <a:t>danger</a:t>
            </a:r>
            <a:endParaRPr lang="en-US" sz="17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0E7C86"/>
                </a:solidFill>
              </a:defRPr>
            </a:lvl1pPr>
          </a:lstStyle>
          <a:p>
            <a:pPr algn="l"/>
            <a:fld id="{F7021451-1387-4CA6-816F-3879F97B5CBC}" type="slidenum">
              <a:rPr lang="en-US" b="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44DFE3-6F51-8B97-D67C-810A161FFFE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49B5B4E-6C65-5085-5BE0-6730C8463B0E}"/>
              </a:ext>
            </a:extLst>
          </p:cNvPr>
          <p:cNvSpPr/>
          <p:nvPr/>
        </p:nvSpPr>
        <p:spPr>
          <a:xfrm>
            <a:off x="7589520" y="-914400"/>
            <a:ext cx="2377440" cy="2377440"/>
          </a:xfrm>
          <a:prstGeom prst="ellipse">
            <a:avLst/>
          </a:prstGeom>
          <a:solidFill>
            <a:srgbClr val="CDEFF1">
              <a:alpha val="80000"/>
            </a:srgbClr>
          </a:solidFill>
          <a:ln/>
        </p:spPr>
      </p:sp>
      <p:sp>
        <p:nvSpPr>
          <p:cNvPr id="3" name="Shape 1">
            <a:extLst>
              <a:ext uri="{FF2B5EF4-FFF2-40B4-BE49-F238E27FC236}">
                <a16:creationId xmlns:a16="http://schemas.microsoft.com/office/drawing/2014/main" id="{A2AEB515-66E6-6D04-1983-9C3AD6ECEFC9}"/>
              </a:ext>
            </a:extLst>
          </p:cNvPr>
          <p:cNvSpPr/>
          <p:nvPr/>
        </p:nvSpPr>
        <p:spPr>
          <a:xfrm>
            <a:off x="-548640" y="4297680"/>
            <a:ext cx="1463040" cy="1463040"/>
          </a:xfrm>
          <a:prstGeom prst="ellipse">
            <a:avLst/>
          </a:prstGeom>
          <a:solidFill>
            <a:srgbClr val="CDEFF1">
              <a:alpha val="70000"/>
            </a:srgbClr>
          </a:solidFill>
          <a:ln/>
        </p:spPr>
      </p:sp>
      <p:sp>
        <p:nvSpPr>
          <p:cNvPr id="4" name="Shape 2">
            <a:extLst>
              <a:ext uri="{FF2B5EF4-FFF2-40B4-BE49-F238E27FC236}">
                <a16:creationId xmlns:a16="http://schemas.microsoft.com/office/drawing/2014/main" id="{226ECFC0-D966-A1C1-F859-D6B898F9E8EF}"/>
              </a:ext>
            </a:extLst>
          </p:cNvPr>
          <p:cNvSpPr/>
          <p:nvPr/>
        </p:nvSpPr>
        <p:spPr>
          <a:xfrm>
            <a:off x="457200" y="292608"/>
            <a:ext cx="658368" cy="658368"/>
          </a:xfrm>
          <a:prstGeom prst="ellipse">
            <a:avLst/>
          </a:prstGeom>
          <a:solidFill>
            <a:srgbClr val="FF6B5E"/>
          </a:solidFill>
          <a:ln/>
        </p:spPr>
      </p:sp>
      <p:sp>
        <p:nvSpPr>
          <p:cNvPr id="5" name="Text 3">
            <a:extLst>
              <a:ext uri="{FF2B5EF4-FFF2-40B4-BE49-F238E27FC236}">
                <a16:creationId xmlns:a16="http://schemas.microsoft.com/office/drawing/2014/main" id="{23DEC670-98BD-66F9-5E9A-FEE8BB9765CA}"/>
              </a:ext>
            </a:extLst>
          </p:cNvPr>
          <p:cNvSpPr txBox="1"/>
          <p:nvPr/>
        </p:nvSpPr>
        <p:spPr>
          <a:xfrm>
            <a:off x="457200" y="292608"/>
            <a:ext cx="658368" cy="658368"/>
          </a:xfrm>
          <a:prstGeom prst="rect">
            <a:avLst/>
          </a:prstGeom>
          <a:noFill/>
          <a:ln/>
        </p:spPr>
        <p:txBody>
          <a:bodyPr wrap="square" lIns="0" tIns="0" rIns="0" bIns="0" rtlCol="0" anchor="ctr"/>
          <a:lstStyle/>
          <a:p>
            <a:pPr marL="0" indent="0" algn="ctr">
              <a:buNone/>
            </a:pPr>
            <a:r>
              <a:rPr lang="en-US" sz="2200" b="1" dirty="0">
                <a:solidFill>
                  <a:srgbClr val="FFFFFF"/>
                </a:solidFill>
              </a:rPr>
              <a:t>🟢</a:t>
            </a:r>
            <a:endParaRPr lang="en-US" sz="2200" dirty="0"/>
          </a:p>
        </p:txBody>
      </p:sp>
      <p:sp>
        <p:nvSpPr>
          <p:cNvPr id="6" name="Text 0">
            <a:extLst>
              <a:ext uri="{FF2B5EF4-FFF2-40B4-BE49-F238E27FC236}">
                <a16:creationId xmlns:a16="http://schemas.microsoft.com/office/drawing/2014/main" id="{D5AC5369-5E69-FAA5-6878-D455E77A6DE2}"/>
              </a:ext>
            </a:extLst>
          </p:cNvPr>
          <p:cNvSpPr>
            <a:spLocks noGrp="1"/>
          </p:cNvSpPr>
          <p:nvPr>
            <p:ph type="title" idx="100" hasCustomPrompt="1"/>
          </p:nvPr>
        </p:nvSpPr>
        <p:spPr>
          <a:xfrm>
            <a:off x="1280160" y="274320"/>
            <a:ext cx="7315200" cy="685800"/>
          </a:xfrm>
          <a:prstGeom prst="rect">
            <a:avLst/>
          </a:prstGeom>
          <a:noFill/>
          <a:ln/>
        </p:spPr>
        <p:txBody>
          <a:bodyPr wrap="square" rtlCol="0" anchor="ctr"/>
          <a:lstStyle/>
          <a:p>
            <a:pPr marL="0" indent="0">
              <a:buNone/>
            </a:pPr>
            <a:r>
              <a:rPr lang="en-US" sz="2600" b="1" dirty="0">
                <a:solidFill>
                  <a:srgbClr val="0A3D4A"/>
                </a:solidFill>
              </a:rPr>
              <a:t>SUPPORT Model </a:t>
            </a:r>
            <a:endParaRPr lang="en-US" sz="2600" dirty="0"/>
          </a:p>
        </p:txBody>
      </p:sp>
      <p:sp>
        <p:nvSpPr>
          <p:cNvPr id="7" name="Shape 5">
            <a:extLst>
              <a:ext uri="{FF2B5EF4-FFF2-40B4-BE49-F238E27FC236}">
                <a16:creationId xmlns:a16="http://schemas.microsoft.com/office/drawing/2014/main" id="{6032C9FA-43D8-725A-BC88-BFCDBE42F64E}"/>
              </a:ext>
            </a:extLst>
          </p:cNvPr>
          <p:cNvSpPr/>
          <p:nvPr/>
        </p:nvSpPr>
        <p:spPr>
          <a:xfrm>
            <a:off x="74815" y="1188720"/>
            <a:ext cx="8695111" cy="3520440"/>
          </a:xfrm>
          <a:prstGeom prst="roundRect">
            <a:avLst>
              <a:gd name="adj" fmla="val 3896"/>
            </a:avLst>
          </a:prstGeom>
          <a:solidFill>
            <a:srgbClr val="FFFFFF"/>
          </a:solidFill>
          <a:ln/>
          <a:effectLst>
            <a:outerShdw blurRad="76200" dist="25400" dir="5400000" algn="bl" rotWithShape="0">
              <a:srgbClr val="000000">
                <a:alpha val="15000"/>
              </a:srgbClr>
            </a:outerShdw>
          </a:effectLst>
        </p:spPr>
      </p:sp>
      <p:sp>
        <p:nvSpPr>
          <p:cNvPr id="9" name="Text 7">
            <a:extLst>
              <a:ext uri="{FF2B5EF4-FFF2-40B4-BE49-F238E27FC236}">
                <a16:creationId xmlns:a16="http://schemas.microsoft.com/office/drawing/2014/main" id="{A955209A-C36B-9E61-8646-14DA20EFF63A}"/>
              </a:ext>
            </a:extLst>
          </p:cNvPr>
          <p:cNvSpPr txBox="1"/>
          <p:nvPr/>
        </p:nvSpPr>
        <p:spPr>
          <a:xfrm>
            <a:off x="224444" y="1305098"/>
            <a:ext cx="8188036" cy="3266902"/>
          </a:xfrm>
          <a:prstGeom prst="rect">
            <a:avLst/>
          </a:prstGeom>
          <a:noFill/>
          <a:ln/>
        </p:spPr>
        <p:txBody>
          <a:bodyPr wrap="square" lIns="0" tIns="0" rIns="0" bIns="0" rtlCol="0" anchor="t"/>
          <a:lstStyle/>
          <a:p>
            <a:pPr>
              <a:spcAft>
                <a:spcPts val="1200"/>
              </a:spcAft>
            </a:pPr>
            <a:r>
              <a:rPr lang="en-US" sz="2800" dirty="0"/>
              <a:t>Sea turtles can be protected in several ways. One important method is </a:t>
            </a:r>
            <a:r>
              <a:rPr lang="en-US" sz="2800" b="1" dirty="0"/>
              <a:t>protecting nesting beaches</a:t>
            </a:r>
            <a:r>
              <a:rPr lang="en-US" sz="2800" dirty="0"/>
              <a:t>. This helps because </a:t>
            </a:r>
            <a:r>
              <a:rPr lang="en-US" sz="2800" b="1" dirty="0"/>
              <a:t>female turtles can lay their eggs safely</a:t>
            </a:r>
            <a:r>
              <a:rPr lang="en-US" sz="2800" dirty="0"/>
              <a:t>. In addition, </a:t>
            </a:r>
            <a:r>
              <a:rPr lang="en-US" sz="2800" b="1" dirty="0"/>
              <a:t>people are reducing plastic pollution, so turtles are in less danger</a:t>
            </a:r>
            <a:r>
              <a:rPr lang="en-US" sz="2800" dirty="0"/>
              <a:t>.</a:t>
            </a:r>
          </a:p>
        </p:txBody>
      </p:sp>
      <p:sp>
        <p:nvSpPr>
          <p:cNvPr id="25" name="Slide Number Placeholder 0">
            <a:extLst>
              <a:ext uri="{FF2B5EF4-FFF2-40B4-BE49-F238E27FC236}">
                <a16:creationId xmlns:a16="http://schemas.microsoft.com/office/drawing/2014/main" id="{9A322486-71F1-9568-0107-BCC0A11AD163}"/>
              </a:ext>
            </a:extLst>
          </p:cNvPr>
          <p:cNvSpPr>
            <a:spLocks noGrp="1"/>
          </p:cNvSpPr>
          <p:nvPr>
            <p:ph type="sldNum" sz="quarter" idx="4294967295"/>
          </p:nvPr>
        </p:nvSpPr>
        <p:spPr>
          <a:xfrm>
            <a:off x="8412480" y="4800600"/>
            <a:ext cx="800000" cy="3000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0E7C86"/>
                </a:solidFill>
              </a:defRPr>
            </a:lvl1pPr>
          </a:lstStyle>
          <a:p>
            <a:pPr algn="l"/>
            <a:fld id="{F7021451-1387-4CA6-816F-3879F97B5CBC}" type="slidenum">
              <a:rPr lang="en-US" b="0"/>
              <a:t>30</a:t>
            </a:fld>
            <a:endParaRPr lang="en-US"/>
          </a:p>
        </p:txBody>
      </p:sp>
    </p:spTree>
    <p:extLst>
      <p:ext uri="{BB962C8B-B14F-4D97-AF65-F5344CB8AC3E}">
        <p14:creationId xmlns:p14="http://schemas.microsoft.com/office/powerpoint/2010/main" val="377026717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7589520" y="-914400"/>
            <a:ext cx="2377440" cy="2377440"/>
          </a:xfrm>
          <a:prstGeom prst="ellipse">
            <a:avLst/>
          </a:prstGeom>
          <a:solidFill>
            <a:srgbClr val="CDEFF1">
              <a:alpha val="80000"/>
            </a:srgbClr>
          </a:solidFill>
          <a:ln/>
        </p:spPr>
      </p:sp>
      <p:sp>
        <p:nvSpPr>
          <p:cNvPr id="3" name="Shape 1"/>
          <p:cNvSpPr/>
          <p:nvPr/>
        </p:nvSpPr>
        <p:spPr>
          <a:xfrm>
            <a:off x="-548640" y="4297680"/>
            <a:ext cx="1463040" cy="1463040"/>
          </a:xfrm>
          <a:prstGeom prst="ellipse">
            <a:avLst/>
          </a:prstGeom>
          <a:solidFill>
            <a:srgbClr val="CDEFF1">
              <a:alpha val="70000"/>
            </a:srgbClr>
          </a:solidFill>
          <a:ln/>
        </p:spPr>
      </p:sp>
      <p:sp>
        <p:nvSpPr>
          <p:cNvPr id="6" name="Text 0"/>
          <p:cNvSpPr>
            <a:spLocks noGrp="1"/>
          </p:cNvSpPr>
          <p:nvPr>
            <p:ph type="title" idx="100" hasCustomPrompt="1"/>
          </p:nvPr>
        </p:nvSpPr>
        <p:spPr>
          <a:xfrm>
            <a:off x="1280160" y="274320"/>
            <a:ext cx="7315200" cy="685800"/>
          </a:xfrm>
          <a:prstGeom prst="rect">
            <a:avLst/>
          </a:prstGeom>
          <a:noFill/>
          <a:ln/>
        </p:spPr>
        <p:txBody>
          <a:bodyPr wrap="square" rtlCol="0" anchor="ctr"/>
          <a:lstStyle/>
          <a:p>
            <a:pPr marL="0" indent="0">
              <a:buNone/>
            </a:pPr>
            <a:r>
              <a:rPr lang="en-US" sz="2600" b="1" dirty="0">
                <a:solidFill>
                  <a:srgbClr val="0A3D4A"/>
                </a:solidFill>
              </a:rPr>
              <a:t>CORE</a:t>
            </a:r>
            <a:endParaRPr lang="en-US" sz="2600" dirty="0"/>
          </a:p>
        </p:txBody>
      </p:sp>
      <p:sp>
        <p:nvSpPr>
          <p:cNvPr id="7" name="Text 5"/>
          <p:cNvSpPr txBox="1"/>
          <p:nvPr/>
        </p:nvSpPr>
        <p:spPr>
          <a:xfrm>
            <a:off x="365760" y="617220"/>
            <a:ext cx="8229600" cy="365760"/>
          </a:xfrm>
          <a:prstGeom prst="rect">
            <a:avLst/>
          </a:prstGeom>
          <a:noFill/>
          <a:ln/>
        </p:spPr>
        <p:txBody>
          <a:bodyPr wrap="square" lIns="0" tIns="0" rIns="0" bIns="0" rtlCol="0" anchor="t"/>
          <a:lstStyle/>
          <a:p>
            <a:pPr marL="0" indent="0">
              <a:buNone/>
            </a:pPr>
            <a:r>
              <a:rPr lang="en-US" sz="1600" dirty="0">
                <a:solidFill>
                  <a:srgbClr val="0A3D4A"/>
                </a:solidFill>
              </a:rPr>
              <a:t>Write a paragraph about </a:t>
            </a:r>
            <a:r>
              <a:rPr lang="en-US" sz="1600" b="1" dirty="0">
                <a:solidFill>
                  <a:srgbClr val="0A3D4A"/>
                </a:solidFill>
              </a:rPr>
              <a:t>protecting sea turtles</a:t>
            </a:r>
            <a:r>
              <a:rPr lang="en-US" sz="1600" dirty="0">
                <a:solidFill>
                  <a:srgbClr val="0A3D4A"/>
                </a:solidFill>
              </a:rPr>
              <a:t>.</a:t>
            </a:r>
          </a:p>
          <a:p>
            <a:pPr marL="0" indent="0">
              <a:buNone/>
            </a:pPr>
            <a:r>
              <a:rPr lang="en-US" sz="1600" dirty="0">
                <a:solidFill>
                  <a:srgbClr val="0A3D4A"/>
                </a:solidFill>
              </a:rPr>
              <a:t> </a:t>
            </a:r>
          </a:p>
          <a:p>
            <a:pPr marL="0" indent="0">
              <a:buNone/>
            </a:pPr>
            <a:r>
              <a:rPr lang="en-US" sz="1600" b="1" dirty="0">
                <a:solidFill>
                  <a:srgbClr val="0A3D4A"/>
                </a:solidFill>
              </a:rPr>
              <a:t>Include</a:t>
            </a:r>
            <a:r>
              <a:rPr lang="en-US" sz="1600" dirty="0">
                <a:solidFill>
                  <a:srgbClr val="0A3D4A"/>
                </a:solidFill>
              </a:rPr>
              <a:t>:</a:t>
            </a:r>
            <a:endParaRPr lang="en-US" sz="1600" dirty="0"/>
          </a:p>
        </p:txBody>
      </p:sp>
      <p:sp>
        <p:nvSpPr>
          <p:cNvPr id="8" name="Shape 6"/>
          <p:cNvSpPr/>
          <p:nvPr/>
        </p:nvSpPr>
        <p:spPr>
          <a:xfrm>
            <a:off x="457200" y="1371600"/>
            <a:ext cx="8229600" cy="3291840"/>
          </a:xfrm>
          <a:prstGeom prst="roundRect">
            <a:avLst>
              <a:gd name="adj" fmla="val 4167"/>
            </a:avLst>
          </a:prstGeom>
          <a:solidFill>
            <a:srgbClr val="FFFFFF"/>
          </a:solidFill>
          <a:ln/>
          <a:effectLst>
            <a:outerShdw blurRad="76200" dist="25400" dir="5400000" algn="bl" rotWithShape="0">
              <a:srgbClr val="000000">
                <a:alpha val="15000"/>
              </a:srgbClr>
            </a:outerShdw>
          </a:effectLst>
        </p:spPr>
      </p:sp>
      <p:sp>
        <p:nvSpPr>
          <p:cNvPr id="9" name="Shape 7"/>
          <p:cNvSpPr/>
          <p:nvPr/>
        </p:nvSpPr>
        <p:spPr>
          <a:xfrm>
            <a:off x="777240" y="1632204"/>
            <a:ext cx="256032" cy="256032"/>
          </a:xfrm>
          <a:prstGeom prst="roundRect">
            <a:avLst>
              <a:gd name="adj" fmla="val 17857"/>
            </a:avLst>
          </a:prstGeom>
          <a:solidFill>
            <a:srgbClr val="FFFFFF"/>
          </a:solidFill>
          <a:ln w="25400">
            <a:solidFill>
              <a:srgbClr val="0E7C86"/>
            </a:solidFill>
            <a:prstDash val="solid"/>
          </a:ln>
        </p:spPr>
      </p:sp>
      <p:sp>
        <p:nvSpPr>
          <p:cNvPr id="10" name="Text 8"/>
          <p:cNvSpPr txBox="1"/>
          <p:nvPr/>
        </p:nvSpPr>
        <p:spPr>
          <a:xfrm>
            <a:off x="1188720" y="1508760"/>
            <a:ext cx="7178040" cy="502920"/>
          </a:xfrm>
          <a:prstGeom prst="rect">
            <a:avLst/>
          </a:prstGeom>
          <a:noFill/>
          <a:ln/>
        </p:spPr>
        <p:txBody>
          <a:bodyPr wrap="square" lIns="0" tIns="0" rIns="0" bIns="0" rtlCol="0" anchor="ctr"/>
          <a:lstStyle/>
          <a:p>
            <a:pPr marL="0" indent="0">
              <a:buNone/>
            </a:pPr>
            <a:r>
              <a:rPr lang="en-US" sz="1700" dirty="0">
                <a:solidFill>
                  <a:srgbClr val="0A3D4A"/>
                </a:solidFill>
              </a:rPr>
              <a:t>3–4 relevant facts</a:t>
            </a:r>
            <a:endParaRPr lang="en-US" sz="1700" dirty="0"/>
          </a:p>
        </p:txBody>
      </p:sp>
      <p:sp>
        <p:nvSpPr>
          <p:cNvPr id="11" name="Shape 9"/>
          <p:cNvSpPr/>
          <p:nvPr/>
        </p:nvSpPr>
        <p:spPr>
          <a:xfrm>
            <a:off x="777240" y="2135124"/>
            <a:ext cx="256032" cy="256032"/>
          </a:xfrm>
          <a:prstGeom prst="roundRect">
            <a:avLst>
              <a:gd name="adj" fmla="val 17857"/>
            </a:avLst>
          </a:prstGeom>
          <a:solidFill>
            <a:srgbClr val="FFFFFF"/>
          </a:solidFill>
          <a:ln w="25400">
            <a:solidFill>
              <a:srgbClr val="0E7C86"/>
            </a:solidFill>
            <a:prstDash val="solid"/>
          </a:ln>
        </p:spPr>
      </p:sp>
      <p:sp>
        <p:nvSpPr>
          <p:cNvPr id="12" name="Text 10"/>
          <p:cNvSpPr txBox="1"/>
          <p:nvPr/>
        </p:nvSpPr>
        <p:spPr>
          <a:xfrm>
            <a:off x="1188720" y="2011680"/>
            <a:ext cx="7178040" cy="502920"/>
          </a:xfrm>
          <a:prstGeom prst="rect">
            <a:avLst/>
          </a:prstGeom>
          <a:noFill/>
          <a:ln/>
        </p:spPr>
        <p:txBody>
          <a:bodyPr wrap="square" lIns="0" tIns="0" rIns="0" bIns="0" rtlCol="0" anchor="ctr"/>
          <a:lstStyle/>
          <a:p>
            <a:pPr marL="0" indent="0">
              <a:buNone/>
            </a:pPr>
            <a:r>
              <a:rPr lang="en-US" sz="1700" dirty="0">
                <a:solidFill>
                  <a:srgbClr val="0A3D4A"/>
                </a:solidFill>
              </a:rPr>
              <a:t>present tense</a:t>
            </a:r>
            <a:endParaRPr lang="en-US" sz="1700" dirty="0"/>
          </a:p>
        </p:txBody>
      </p:sp>
      <p:sp>
        <p:nvSpPr>
          <p:cNvPr id="13" name="Shape 11"/>
          <p:cNvSpPr/>
          <p:nvPr/>
        </p:nvSpPr>
        <p:spPr>
          <a:xfrm>
            <a:off x="777240" y="2638044"/>
            <a:ext cx="256032" cy="256032"/>
          </a:xfrm>
          <a:prstGeom prst="roundRect">
            <a:avLst>
              <a:gd name="adj" fmla="val 17857"/>
            </a:avLst>
          </a:prstGeom>
          <a:solidFill>
            <a:srgbClr val="FFFFFF"/>
          </a:solidFill>
          <a:ln w="25400">
            <a:solidFill>
              <a:srgbClr val="0E7C86"/>
            </a:solidFill>
            <a:prstDash val="solid"/>
          </a:ln>
        </p:spPr>
      </p:sp>
      <p:sp>
        <p:nvSpPr>
          <p:cNvPr id="14" name="Text 12"/>
          <p:cNvSpPr txBox="1"/>
          <p:nvPr/>
        </p:nvSpPr>
        <p:spPr>
          <a:xfrm>
            <a:off x="1188720" y="2514600"/>
            <a:ext cx="7178040" cy="502920"/>
          </a:xfrm>
          <a:prstGeom prst="rect">
            <a:avLst/>
          </a:prstGeom>
          <a:noFill/>
          <a:ln/>
        </p:spPr>
        <p:txBody>
          <a:bodyPr wrap="square" lIns="0" tIns="0" rIns="0" bIns="0" rtlCol="0" anchor="ctr"/>
          <a:lstStyle/>
          <a:p>
            <a:pPr marL="0" indent="0">
              <a:buNone/>
            </a:pPr>
            <a:r>
              <a:rPr lang="en-US" sz="1700" dirty="0">
                <a:solidFill>
                  <a:srgbClr val="0A3D4A"/>
                </a:solidFill>
              </a:rPr>
              <a:t>third person</a:t>
            </a:r>
            <a:endParaRPr lang="en-US" sz="1700" dirty="0"/>
          </a:p>
        </p:txBody>
      </p:sp>
      <p:sp>
        <p:nvSpPr>
          <p:cNvPr id="15" name="Shape 13"/>
          <p:cNvSpPr/>
          <p:nvPr/>
        </p:nvSpPr>
        <p:spPr>
          <a:xfrm>
            <a:off x="777240" y="3140964"/>
            <a:ext cx="256032" cy="256032"/>
          </a:xfrm>
          <a:prstGeom prst="roundRect">
            <a:avLst>
              <a:gd name="adj" fmla="val 17857"/>
            </a:avLst>
          </a:prstGeom>
          <a:solidFill>
            <a:srgbClr val="FFFFFF"/>
          </a:solidFill>
          <a:ln w="25400">
            <a:solidFill>
              <a:srgbClr val="0E7C86"/>
            </a:solidFill>
            <a:prstDash val="solid"/>
          </a:ln>
        </p:spPr>
      </p:sp>
      <p:sp>
        <p:nvSpPr>
          <p:cNvPr id="16" name="Text 14"/>
          <p:cNvSpPr txBox="1"/>
          <p:nvPr/>
        </p:nvSpPr>
        <p:spPr>
          <a:xfrm>
            <a:off x="1188720" y="3017520"/>
            <a:ext cx="7178040" cy="502920"/>
          </a:xfrm>
          <a:prstGeom prst="rect">
            <a:avLst/>
          </a:prstGeom>
          <a:noFill/>
          <a:ln/>
        </p:spPr>
        <p:txBody>
          <a:bodyPr wrap="square" lIns="0" tIns="0" rIns="0" bIns="0" rtlCol="0" anchor="ctr"/>
          <a:lstStyle/>
          <a:p>
            <a:pPr marL="0" indent="0">
              <a:buNone/>
            </a:pPr>
            <a:r>
              <a:rPr lang="en-US" sz="1700" dirty="0">
                <a:solidFill>
                  <a:srgbClr val="0A3D4A"/>
                </a:solidFill>
              </a:rPr>
              <a:t>one complex sentence</a:t>
            </a:r>
            <a:endParaRPr lang="en-US" sz="1700" dirty="0"/>
          </a:p>
        </p:txBody>
      </p:sp>
      <p:sp>
        <p:nvSpPr>
          <p:cNvPr id="17" name="Shape 15"/>
          <p:cNvSpPr/>
          <p:nvPr/>
        </p:nvSpPr>
        <p:spPr>
          <a:xfrm>
            <a:off x="777240" y="3643884"/>
            <a:ext cx="256032" cy="256032"/>
          </a:xfrm>
          <a:prstGeom prst="roundRect">
            <a:avLst>
              <a:gd name="adj" fmla="val 17857"/>
            </a:avLst>
          </a:prstGeom>
          <a:solidFill>
            <a:srgbClr val="FFFFFF"/>
          </a:solidFill>
          <a:ln w="25400">
            <a:solidFill>
              <a:srgbClr val="0E7C86"/>
            </a:solidFill>
            <a:prstDash val="solid"/>
          </a:ln>
        </p:spPr>
      </p:sp>
      <p:sp>
        <p:nvSpPr>
          <p:cNvPr id="18" name="Text 16"/>
          <p:cNvSpPr txBox="1"/>
          <p:nvPr/>
        </p:nvSpPr>
        <p:spPr>
          <a:xfrm>
            <a:off x="1188720" y="3520440"/>
            <a:ext cx="7178040" cy="502920"/>
          </a:xfrm>
          <a:prstGeom prst="rect">
            <a:avLst/>
          </a:prstGeom>
          <a:noFill/>
          <a:ln/>
        </p:spPr>
        <p:txBody>
          <a:bodyPr wrap="square" lIns="0" tIns="0" rIns="0" bIns="0" rtlCol="0" anchor="ctr"/>
          <a:lstStyle/>
          <a:p>
            <a:pPr marL="0" indent="0">
              <a:buNone/>
            </a:pPr>
            <a:r>
              <a:rPr lang="en-US" sz="1700" dirty="0">
                <a:solidFill>
                  <a:srgbClr val="0A3D4A"/>
                </a:solidFill>
              </a:rPr>
              <a:t>one connector</a:t>
            </a:r>
            <a:endParaRPr lang="en-US" sz="1700" dirty="0"/>
          </a:p>
        </p:txBody>
      </p:sp>
      <p:sp>
        <p:nvSpPr>
          <p:cNvPr id="19" name="Shape 17"/>
          <p:cNvSpPr/>
          <p:nvPr/>
        </p:nvSpPr>
        <p:spPr>
          <a:xfrm>
            <a:off x="777240" y="4146804"/>
            <a:ext cx="256032" cy="256032"/>
          </a:xfrm>
          <a:prstGeom prst="roundRect">
            <a:avLst>
              <a:gd name="adj" fmla="val 17857"/>
            </a:avLst>
          </a:prstGeom>
          <a:solidFill>
            <a:srgbClr val="FFFFFF"/>
          </a:solidFill>
          <a:ln w="25400">
            <a:solidFill>
              <a:srgbClr val="0E7C86"/>
            </a:solidFill>
            <a:prstDash val="solid"/>
          </a:ln>
        </p:spPr>
      </p:sp>
      <p:sp>
        <p:nvSpPr>
          <p:cNvPr id="20" name="Text 18"/>
          <p:cNvSpPr txBox="1"/>
          <p:nvPr/>
        </p:nvSpPr>
        <p:spPr>
          <a:xfrm>
            <a:off x="1188720" y="4023360"/>
            <a:ext cx="7178040" cy="502920"/>
          </a:xfrm>
          <a:prstGeom prst="rect">
            <a:avLst/>
          </a:prstGeom>
          <a:noFill/>
          <a:ln/>
        </p:spPr>
        <p:txBody>
          <a:bodyPr wrap="square" lIns="0" tIns="0" rIns="0" bIns="0" rtlCol="0" anchor="ctr"/>
          <a:lstStyle/>
          <a:p>
            <a:pPr marL="0" indent="0">
              <a:buNone/>
            </a:pPr>
            <a:r>
              <a:rPr lang="en-US" sz="1700" dirty="0">
                <a:solidFill>
                  <a:srgbClr val="0A3D4A"/>
                </a:solidFill>
              </a:rPr>
              <a:t>one consequence</a:t>
            </a:r>
            <a:endParaRPr lang="en-US" sz="17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0E7C86"/>
                </a:solidFill>
              </a:defRPr>
            </a:lvl1pPr>
          </a:lstStyle>
          <a:p>
            <a:pPr algn="l"/>
            <a:fld id="{F7021451-1387-4CA6-816F-3879F97B5CBC}" type="slidenum">
              <a:rPr lang="en-US" b="0"/>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9AC882-EAC8-27B9-5D4B-A068CDDE50C0}"/>
              </a:ext>
            </a:extLst>
          </p:cNvPr>
          <p:cNvSpPr>
            <a:spLocks noGrp="1"/>
          </p:cNvSpPr>
          <p:nvPr>
            <p:ph type="title" idx="100"/>
          </p:nvPr>
        </p:nvSpPr>
        <p:spPr>
          <a:xfrm>
            <a:off x="806335" y="220540"/>
            <a:ext cx="7315200" cy="685800"/>
          </a:xfrm>
        </p:spPr>
        <p:txBody>
          <a:bodyPr/>
          <a:lstStyle/>
          <a:p>
            <a:r>
              <a:rPr lang="en-US" dirty="0"/>
              <a:t>Core Model </a:t>
            </a:r>
          </a:p>
        </p:txBody>
      </p:sp>
      <p:sp>
        <p:nvSpPr>
          <p:cNvPr id="4" name="TextBox 3">
            <a:extLst>
              <a:ext uri="{FF2B5EF4-FFF2-40B4-BE49-F238E27FC236}">
                <a16:creationId xmlns:a16="http://schemas.microsoft.com/office/drawing/2014/main" id="{CB621126-1B81-0DF8-AB26-1CB50B515785}"/>
              </a:ext>
            </a:extLst>
          </p:cNvPr>
          <p:cNvSpPr txBox="1"/>
          <p:nvPr/>
        </p:nvSpPr>
        <p:spPr>
          <a:xfrm>
            <a:off x="-1" y="681612"/>
            <a:ext cx="9144001" cy="954107"/>
          </a:xfrm>
          <a:prstGeom prst="rect">
            <a:avLst/>
          </a:prstGeom>
          <a:noFill/>
        </p:spPr>
        <p:txBody>
          <a:bodyPr wrap="square">
            <a:spAutoFit/>
          </a:bodyPr>
          <a:lstStyle/>
          <a:p>
            <a:r>
              <a:rPr lang="en-US" sz="1400" dirty="0"/>
              <a:t>Sea turtles can be protected in several ways. One important method is protecting nesting beaches, because female turtles need a safe place to lay their eggs. In addition, people are reducing plastic waste, which can harm turtles when they mistake it for food. Fishing equipment is also being made safer, so fewer turtles become trapped. As a result, more turtles survive and return to the ocean.</a:t>
            </a:r>
          </a:p>
        </p:txBody>
      </p:sp>
      <p:graphicFrame>
        <p:nvGraphicFramePr>
          <p:cNvPr id="5" name="Table 4">
            <a:extLst>
              <a:ext uri="{FF2B5EF4-FFF2-40B4-BE49-F238E27FC236}">
                <a16:creationId xmlns:a16="http://schemas.microsoft.com/office/drawing/2014/main" id="{19AA5EA2-432C-1030-AA95-84D26FB76A26}"/>
              </a:ext>
            </a:extLst>
          </p:cNvPr>
          <p:cNvGraphicFramePr>
            <a:graphicFrameLocks noGrp="1"/>
          </p:cNvGraphicFramePr>
          <p:nvPr>
            <p:extLst>
              <p:ext uri="{D42A27DB-BD31-4B8C-83A1-F6EECF244321}">
                <p14:modId xmlns:p14="http://schemas.microsoft.com/office/powerpoint/2010/main" val="438079978"/>
              </p:ext>
            </p:extLst>
          </p:nvPr>
        </p:nvGraphicFramePr>
        <p:xfrm>
          <a:off x="0" y="1635719"/>
          <a:ext cx="9144000" cy="3625952"/>
        </p:xfrm>
        <a:graphic>
          <a:graphicData uri="http://schemas.openxmlformats.org/drawingml/2006/table">
            <a:tbl>
              <a:tblPr/>
              <a:tblGrid>
                <a:gridCol w="1920240">
                  <a:extLst>
                    <a:ext uri="{9D8B030D-6E8A-4147-A177-3AD203B41FA5}">
                      <a16:colId xmlns:a16="http://schemas.microsoft.com/office/drawing/2014/main" val="3313769473"/>
                    </a:ext>
                  </a:extLst>
                </a:gridCol>
                <a:gridCol w="7223760">
                  <a:extLst>
                    <a:ext uri="{9D8B030D-6E8A-4147-A177-3AD203B41FA5}">
                      <a16:colId xmlns:a16="http://schemas.microsoft.com/office/drawing/2014/main" val="3381160152"/>
                    </a:ext>
                  </a:extLst>
                </a:gridCol>
              </a:tblGrid>
              <a:tr h="625164">
                <a:tc>
                  <a:txBody>
                    <a:bodyPr/>
                    <a:lstStyle/>
                    <a:p>
                      <a:pPr>
                        <a:buNone/>
                      </a:pPr>
                      <a:r>
                        <a:rPr lang="en-US" sz="1100" b="1" dirty="0"/>
                        <a:t>A clear topic sentence</a:t>
                      </a:r>
                    </a:p>
                  </a:txBody>
                  <a:tcPr marL="56247" marR="56247" marT="28123" marB="28123" anchor="ctr">
                    <a:lnL>
                      <a:noFill/>
                    </a:lnL>
                    <a:lnR>
                      <a:noFill/>
                    </a:lnR>
                    <a:lnT>
                      <a:noFill/>
                    </a:lnT>
                    <a:lnB>
                      <a:noFill/>
                    </a:lnB>
                    <a:noFill/>
                  </a:tcPr>
                </a:tc>
                <a:tc>
                  <a:txBody>
                    <a:bodyPr/>
                    <a:lstStyle/>
                    <a:p>
                      <a:pPr>
                        <a:buNone/>
                      </a:pPr>
                      <a:r>
                        <a:rPr lang="en-US" sz="1100" b="1"/>
                        <a:t>"Protecting sea turtles is essential because many species are now endangered."</a:t>
                      </a:r>
                    </a:p>
                  </a:txBody>
                  <a:tcPr marL="56247" marR="56247" marT="28123" marB="28123" anchor="ctr">
                    <a:lnL>
                      <a:noFill/>
                    </a:lnL>
                    <a:lnR>
                      <a:noFill/>
                    </a:lnR>
                    <a:lnT>
                      <a:noFill/>
                    </a:lnT>
                    <a:lnB>
                      <a:noFill/>
                    </a:lnB>
                    <a:noFill/>
                  </a:tcPr>
                </a:tc>
                <a:extLst>
                  <a:ext uri="{0D108BD9-81ED-4DB2-BD59-A6C34878D82A}">
                    <a16:rowId xmlns:a16="http://schemas.microsoft.com/office/drawing/2014/main" val="2739463518"/>
                  </a:ext>
                </a:extLst>
              </a:tr>
              <a:tr h="625164">
                <a:tc>
                  <a:txBody>
                    <a:bodyPr/>
                    <a:lstStyle/>
                    <a:p>
                      <a:pPr>
                        <a:buNone/>
                      </a:pPr>
                      <a:r>
                        <a:rPr lang="en-US" sz="1100" b="1" dirty="0"/>
                        <a:t>At least two supporting details</a:t>
                      </a:r>
                    </a:p>
                  </a:txBody>
                  <a:tcPr marL="56247" marR="56247" marT="28123" marB="28123" anchor="ctr">
                    <a:lnL>
                      <a:noFill/>
                    </a:lnL>
                    <a:lnR>
                      <a:noFill/>
                    </a:lnR>
                    <a:lnT>
                      <a:noFill/>
                    </a:lnT>
                    <a:lnB>
                      <a:noFill/>
                    </a:lnB>
                    <a:noFill/>
                  </a:tcPr>
                </a:tc>
                <a:tc>
                  <a:txBody>
                    <a:bodyPr/>
                    <a:lstStyle/>
                    <a:p>
                      <a:pPr>
                        <a:buNone/>
                      </a:pPr>
                      <a:r>
                        <a:rPr lang="en-US" sz="1100" b="1" dirty="0"/>
                        <a:t>Protecting nesting beaches, reducing plastic pollution, redesigning fishing nets</a:t>
                      </a:r>
                    </a:p>
                  </a:txBody>
                  <a:tcPr marL="56247" marR="56247" marT="28123" marB="28123" anchor="ctr">
                    <a:lnL>
                      <a:noFill/>
                    </a:lnL>
                    <a:lnR>
                      <a:noFill/>
                    </a:lnR>
                    <a:lnT>
                      <a:noFill/>
                    </a:lnT>
                    <a:lnB>
                      <a:noFill/>
                    </a:lnB>
                    <a:noFill/>
                  </a:tcPr>
                </a:tc>
                <a:extLst>
                  <a:ext uri="{0D108BD9-81ED-4DB2-BD59-A6C34878D82A}">
                    <a16:rowId xmlns:a16="http://schemas.microsoft.com/office/drawing/2014/main" val="2144580323"/>
                  </a:ext>
                </a:extLst>
              </a:tr>
              <a:tr h="437615">
                <a:tc>
                  <a:txBody>
                    <a:bodyPr/>
                    <a:lstStyle/>
                    <a:p>
                      <a:pPr>
                        <a:buNone/>
                      </a:pPr>
                      <a:r>
                        <a:rPr lang="en-US" sz="1100" b="1"/>
                        <a:t>Two different connectors</a:t>
                      </a:r>
                    </a:p>
                  </a:txBody>
                  <a:tcPr marL="56247" marR="56247" marT="28123" marB="28123" anchor="ctr">
                    <a:lnL>
                      <a:noFill/>
                    </a:lnL>
                    <a:lnR>
                      <a:noFill/>
                    </a:lnR>
                    <a:lnT>
                      <a:noFill/>
                    </a:lnT>
                    <a:lnB>
                      <a:noFill/>
                    </a:lnB>
                    <a:noFill/>
                  </a:tcPr>
                </a:tc>
                <a:tc>
                  <a:txBody>
                    <a:bodyPr/>
                    <a:lstStyle/>
                    <a:p>
                      <a:pPr>
                        <a:buNone/>
                      </a:pPr>
                      <a:r>
                        <a:rPr lang="en-US" sz="1100" b="1"/>
                        <a:t>"In addition" (adding), "As a result" (consequence)</a:t>
                      </a:r>
                    </a:p>
                  </a:txBody>
                  <a:tcPr marL="56247" marR="56247" marT="28123" marB="28123" anchor="ctr">
                    <a:lnL>
                      <a:noFill/>
                    </a:lnL>
                    <a:lnR>
                      <a:noFill/>
                    </a:lnR>
                    <a:lnT>
                      <a:noFill/>
                    </a:lnT>
                    <a:lnB>
                      <a:noFill/>
                    </a:lnB>
                    <a:noFill/>
                  </a:tcPr>
                </a:tc>
                <a:extLst>
                  <a:ext uri="{0D108BD9-81ED-4DB2-BD59-A6C34878D82A}">
                    <a16:rowId xmlns:a16="http://schemas.microsoft.com/office/drawing/2014/main" val="1374201241"/>
                  </a:ext>
                </a:extLst>
              </a:tr>
              <a:tr h="437615">
                <a:tc>
                  <a:txBody>
                    <a:bodyPr/>
                    <a:lstStyle/>
                    <a:p>
                      <a:pPr>
                        <a:buNone/>
                      </a:pPr>
                      <a:r>
                        <a:rPr lang="en-US" sz="1100" b="1"/>
                        <a:t>A relative clause</a:t>
                      </a:r>
                    </a:p>
                  </a:txBody>
                  <a:tcPr marL="56247" marR="56247" marT="28123" marB="28123" anchor="ctr">
                    <a:lnL>
                      <a:noFill/>
                    </a:lnL>
                    <a:lnR>
                      <a:noFill/>
                    </a:lnR>
                    <a:lnT>
                      <a:noFill/>
                    </a:lnT>
                    <a:lnB>
                      <a:noFill/>
                    </a:lnB>
                    <a:noFill/>
                  </a:tcPr>
                </a:tc>
                <a:tc>
                  <a:txBody>
                    <a:bodyPr/>
                    <a:lstStyle/>
                    <a:p>
                      <a:pPr>
                        <a:buNone/>
                      </a:pPr>
                      <a:r>
                        <a:rPr lang="en-US" sz="1100" b="1"/>
                        <a:t>"…nesting beaches, which are the habitats where females lay their eggs"</a:t>
                      </a:r>
                    </a:p>
                  </a:txBody>
                  <a:tcPr marL="56247" marR="56247" marT="28123" marB="28123" anchor="ctr">
                    <a:lnL>
                      <a:noFill/>
                    </a:lnL>
                    <a:lnR>
                      <a:noFill/>
                    </a:lnR>
                    <a:lnT>
                      <a:noFill/>
                    </a:lnT>
                    <a:lnB>
                      <a:noFill/>
                    </a:lnB>
                    <a:noFill/>
                  </a:tcPr>
                </a:tc>
                <a:extLst>
                  <a:ext uri="{0D108BD9-81ED-4DB2-BD59-A6C34878D82A}">
                    <a16:rowId xmlns:a16="http://schemas.microsoft.com/office/drawing/2014/main" val="125313969"/>
                  </a:ext>
                </a:extLst>
              </a:tr>
              <a:tr h="437615">
                <a:tc>
                  <a:txBody>
                    <a:bodyPr/>
                    <a:lstStyle/>
                    <a:p>
                      <a:pPr>
                        <a:buNone/>
                      </a:pPr>
                      <a:r>
                        <a:rPr lang="en-US" sz="1100" b="1"/>
                        <a:t>A complex sentence</a:t>
                      </a:r>
                    </a:p>
                  </a:txBody>
                  <a:tcPr marL="56247" marR="56247" marT="28123" marB="28123" anchor="ctr">
                    <a:lnL>
                      <a:noFill/>
                    </a:lnL>
                    <a:lnR>
                      <a:noFill/>
                    </a:lnR>
                    <a:lnT>
                      <a:noFill/>
                    </a:lnT>
                    <a:lnB>
                      <a:noFill/>
                    </a:lnB>
                    <a:noFill/>
                  </a:tcPr>
                </a:tc>
                <a:tc>
                  <a:txBody>
                    <a:bodyPr/>
                    <a:lstStyle/>
                    <a:p>
                      <a:pPr>
                        <a:buNone/>
                      </a:pPr>
                      <a:r>
                        <a:rPr lang="en-US" sz="1100" b="1"/>
                        <a:t>"When these areas are protected, more hatchlings can reach the ocean safely."</a:t>
                      </a:r>
                    </a:p>
                  </a:txBody>
                  <a:tcPr marL="56247" marR="56247" marT="28123" marB="28123" anchor="ctr">
                    <a:lnL>
                      <a:noFill/>
                    </a:lnL>
                    <a:lnR>
                      <a:noFill/>
                    </a:lnR>
                    <a:lnT>
                      <a:noFill/>
                    </a:lnT>
                    <a:lnB>
                      <a:noFill/>
                    </a:lnB>
                    <a:noFill/>
                  </a:tcPr>
                </a:tc>
                <a:extLst>
                  <a:ext uri="{0D108BD9-81ED-4DB2-BD59-A6C34878D82A}">
                    <a16:rowId xmlns:a16="http://schemas.microsoft.com/office/drawing/2014/main" val="3846220639"/>
                  </a:ext>
                </a:extLst>
              </a:tr>
              <a:tr h="625164">
                <a:tc>
                  <a:txBody>
                    <a:bodyPr/>
                    <a:lstStyle/>
                    <a:p>
                      <a:pPr>
                        <a:buNone/>
                      </a:pPr>
                      <a:r>
                        <a:rPr lang="en-US" sz="1100" b="1"/>
                        <a:t>Cause and effect</a:t>
                      </a:r>
                    </a:p>
                  </a:txBody>
                  <a:tcPr marL="56247" marR="56247" marT="28123" marB="28123" anchor="ctr">
                    <a:lnL>
                      <a:noFill/>
                    </a:lnL>
                    <a:lnR>
                      <a:noFill/>
                    </a:lnR>
                    <a:lnT>
                      <a:noFill/>
                    </a:lnT>
                    <a:lnB>
                      <a:noFill/>
                    </a:lnB>
                    <a:noFill/>
                  </a:tcPr>
                </a:tc>
                <a:tc>
                  <a:txBody>
                    <a:bodyPr/>
                    <a:lstStyle/>
                    <a:p>
                      <a:pPr>
                        <a:buNone/>
                      </a:pPr>
                      <a:r>
                        <a:rPr lang="en-US" sz="1100" b="1"/>
                        <a:t>Plastic pollution → turtles mistake bags for jellyfish → seriously ill; redesigned nets → turtles escape → fewer injuries</a:t>
                      </a:r>
                    </a:p>
                  </a:txBody>
                  <a:tcPr marL="56247" marR="56247" marT="28123" marB="28123" anchor="ctr">
                    <a:lnL>
                      <a:noFill/>
                    </a:lnL>
                    <a:lnR>
                      <a:noFill/>
                    </a:lnR>
                    <a:lnT>
                      <a:noFill/>
                    </a:lnT>
                    <a:lnB>
                      <a:noFill/>
                    </a:lnB>
                    <a:noFill/>
                  </a:tcPr>
                </a:tc>
                <a:extLst>
                  <a:ext uri="{0D108BD9-81ED-4DB2-BD59-A6C34878D82A}">
                    <a16:rowId xmlns:a16="http://schemas.microsoft.com/office/drawing/2014/main" val="3461917770"/>
                  </a:ext>
                </a:extLst>
              </a:tr>
              <a:tr h="437615">
                <a:tc>
                  <a:txBody>
                    <a:bodyPr/>
                    <a:lstStyle/>
                    <a:p>
                      <a:pPr>
                        <a:buNone/>
                      </a:pPr>
                      <a:r>
                        <a:rPr lang="en-US" sz="1100" b="1"/>
                        <a:t>Challenge: a precise technical word</a:t>
                      </a:r>
                    </a:p>
                  </a:txBody>
                  <a:tcPr marL="56247" marR="56247" marT="28123" marB="28123" anchor="ctr">
                    <a:lnL>
                      <a:noFill/>
                    </a:lnL>
                    <a:lnR>
                      <a:noFill/>
                    </a:lnR>
                    <a:lnT>
                      <a:noFill/>
                    </a:lnT>
                    <a:lnB>
                      <a:noFill/>
                    </a:lnB>
                    <a:noFill/>
                  </a:tcPr>
                </a:tc>
                <a:tc>
                  <a:txBody>
                    <a:bodyPr/>
                    <a:lstStyle/>
                    <a:p>
                      <a:pPr>
                        <a:buNone/>
                      </a:pPr>
                      <a:r>
                        <a:rPr lang="fr-FR" sz="1100" b="1" i="1" dirty="0" err="1"/>
                        <a:t>species</a:t>
                      </a:r>
                      <a:r>
                        <a:rPr lang="fr-FR" sz="1100" b="1" i="1" dirty="0"/>
                        <a:t>, </a:t>
                      </a:r>
                      <a:r>
                        <a:rPr lang="fr-FR" sz="1100" b="1" i="1" dirty="0" err="1"/>
                        <a:t>conserving</a:t>
                      </a:r>
                      <a:r>
                        <a:rPr lang="fr-FR" sz="1100" b="1" i="1" dirty="0"/>
                        <a:t>, habitats, </a:t>
                      </a:r>
                      <a:r>
                        <a:rPr lang="fr-FR" sz="1100" b="1" i="1" dirty="0" err="1"/>
                        <a:t>hatchlings</a:t>
                      </a:r>
                      <a:r>
                        <a:rPr lang="fr-FR" sz="1100" b="1" i="1" dirty="0"/>
                        <a:t>, populations, pollution</a:t>
                      </a:r>
                      <a:endParaRPr lang="fr-FR" sz="1100" b="1" dirty="0"/>
                    </a:p>
                  </a:txBody>
                  <a:tcPr marL="56247" marR="56247" marT="28123" marB="28123" anchor="ctr">
                    <a:lnL>
                      <a:noFill/>
                    </a:lnL>
                    <a:lnR>
                      <a:noFill/>
                    </a:lnR>
                    <a:lnT>
                      <a:noFill/>
                    </a:lnT>
                    <a:lnB>
                      <a:noFill/>
                    </a:lnB>
                    <a:noFill/>
                  </a:tcPr>
                </a:tc>
                <a:extLst>
                  <a:ext uri="{0D108BD9-81ED-4DB2-BD59-A6C34878D82A}">
                    <a16:rowId xmlns:a16="http://schemas.microsoft.com/office/drawing/2014/main" val="1070787977"/>
                  </a:ext>
                </a:extLst>
              </a:tr>
            </a:tbl>
          </a:graphicData>
        </a:graphic>
      </p:graphicFrame>
    </p:spTree>
    <p:extLst>
      <p:ext uri="{BB962C8B-B14F-4D97-AF65-F5344CB8AC3E}">
        <p14:creationId xmlns:p14="http://schemas.microsoft.com/office/powerpoint/2010/main" val="18186598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7589520" y="-914400"/>
            <a:ext cx="2377440" cy="2377440"/>
          </a:xfrm>
          <a:prstGeom prst="ellipse">
            <a:avLst/>
          </a:prstGeom>
          <a:solidFill>
            <a:srgbClr val="CDEFF1">
              <a:alpha val="80000"/>
            </a:srgbClr>
          </a:solidFill>
          <a:ln/>
        </p:spPr>
      </p:sp>
      <p:sp>
        <p:nvSpPr>
          <p:cNvPr id="3" name="Shape 1"/>
          <p:cNvSpPr/>
          <p:nvPr/>
        </p:nvSpPr>
        <p:spPr>
          <a:xfrm>
            <a:off x="-548640" y="4297680"/>
            <a:ext cx="1463040" cy="1463040"/>
          </a:xfrm>
          <a:prstGeom prst="ellipse">
            <a:avLst/>
          </a:prstGeom>
          <a:solidFill>
            <a:srgbClr val="CDEFF1">
              <a:alpha val="70000"/>
            </a:srgbClr>
          </a:solidFill>
          <a:ln/>
        </p:spPr>
      </p:sp>
      <p:sp>
        <p:nvSpPr>
          <p:cNvPr id="6" name="Text 0"/>
          <p:cNvSpPr>
            <a:spLocks noGrp="1"/>
          </p:cNvSpPr>
          <p:nvPr>
            <p:ph type="title" idx="100" hasCustomPrompt="1"/>
          </p:nvPr>
        </p:nvSpPr>
        <p:spPr>
          <a:xfrm>
            <a:off x="1280160" y="274320"/>
            <a:ext cx="7315200" cy="685800"/>
          </a:xfrm>
          <a:prstGeom prst="rect">
            <a:avLst/>
          </a:prstGeom>
          <a:noFill/>
          <a:ln/>
        </p:spPr>
        <p:txBody>
          <a:bodyPr wrap="square" rtlCol="0" anchor="ctr"/>
          <a:lstStyle/>
          <a:p>
            <a:pPr marL="0" indent="0">
              <a:buNone/>
            </a:pPr>
            <a:r>
              <a:rPr lang="en-US" sz="2600" b="1" dirty="0">
                <a:solidFill>
                  <a:srgbClr val="0A3D4A"/>
                </a:solidFill>
              </a:rPr>
              <a:t>EXTEND</a:t>
            </a:r>
            <a:endParaRPr lang="en-US" sz="2600" dirty="0"/>
          </a:p>
        </p:txBody>
      </p:sp>
      <p:sp>
        <p:nvSpPr>
          <p:cNvPr id="7" name="Text 5"/>
          <p:cNvSpPr txBox="1"/>
          <p:nvPr/>
        </p:nvSpPr>
        <p:spPr>
          <a:xfrm>
            <a:off x="457200" y="877824"/>
            <a:ext cx="8229600" cy="365760"/>
          </a:xfrm>
          <a:prstGeom prst="rect">
            <a:avLst/>
          </a:prstGeom>
          <a:noFill/>
          <a:ln/>
        </p:spPr>
        <p:txBody>
          <a:bodyPr wrap="square" lIns="0" tIns="0" rIns="0" bIns="0" rtlCol="0" anchor="t"/>
          <a:lstStyle/>
          <a:p>
            <a:pPr marL="0" indent="0">
              <a:buNone/>
            </a:pPr>
            <a:r>
              <a:rPr lang="en-US" sz="1500" dirty="0">
                <a:solidFill>
                  <a:srgbClr val="0A3D4A"/>
                </a:solidFill>
              </a:rPr>
              <a:t>Write a </a:t>
            </a:r>
            <a:r>
              <a:rPr lang="en-US" sz="1500" b="1" dirty="0">
                <a:solidFill>
                  <a:srgbClr val="0A3D4A"/>
                </a:solidFill>
              </a:rPr>
              <a:t>developed paragraph</a:t>
            </a:r>
            <a:r>
              <a:rPr lang="en-US" sz="1500" dirty="0">
                <a:solidFill>
                  <a:srgbClr val="0A3D4A"/>
                </a:solidFill>
              </a:rPr>
              <a:t> about protecting an endangered creature. </a:t>
            </a:r>
          </a:p>
          <a:p>
            <a:pPr marL="0" indent="0">
              <a:buNone/>
            </a:pPr>
            <a:r>
              <a:rPr lang="en-US" sz="1500" dirty="0">
                <a:solidFill>
                  <a:srgbClr val="0A3D4A"/>
                </a:solidFill>
              </a:rPr>
              <a:t>Include:</a:t>
            </a:r>
            <a:endParaRPr lang="en-US" sz="1500" dirty="0"/>
          </a:p>
        </p:txBody>
      </p:sp>
      <p:sp>
        <p:nvSpPr>
          <p:cNvPr id="8" name="Shape 6"/>
          <p:cNvSpPr/>
          <p:nvPr/>
        </p:nvSpPr>
        <p:spPr>
          <a:xfrm>
            <a:off x="457200" y="1325880"/>
            <a:ext cx="8229600" cy="2697480"/>
          </a:xfrm>
          <a:prstGeom prst="roundRect">
            <a:avLst>
              <a:gd name="adj" fmla="val 5085"/>
            </a:avLst>
          </a:prstGeom>
          <a:solidFill>
            <a:srgbClr val="FFFFFF"/>
          </a:solidFill>
          <a:ln/>
          <a:effectLst>
            <a:outerShdw blurRad="76200" dist="25400" dir="5400000" algn="bl" rotWithShape="0">
              <a:srgbClr val="000000">
                <a:alpha val="15000"/>
              </a:srgbClr>
            </a:outerShdw>
          </a:effectLst>
        </p:spPr>
      </p:sp>
      <p:sp>
        <p:nvSpPr>
          <p:cNvPr id="9" name="Shape 7"/>
          <p:cNvSpPr/>
          <p:nvPr/>
        </p:nvSpPr>
        <p:spPr>
          <a:xfrm>
            <a:off x="777240" y="1504188"/>
            <a:ext cx="256032" cy="256032"/>
          </a:xfrm>
          <a:prstGeom prst="roundRect">
            <a:avLst>
              <a:gd name="adj" fmla="val 17857"/>
            </a:avLst>
          </a:prstGeom>
          <a:solidFill>
            <a:srgbClr val="FFFFFF"/>
          </a:solidFill>
          <a:ln w="25400">
            <a:solidFill>
              <a:srgbClr val="0E7C86"/>
            </a:solidFill>
            <a:prstDash val="solid"/>
          </a:ln>
        </p:spPr>
      </p:sp>
      <p:sp>
        <p:nvSpPr>
          <p:cNvPr id="10" name="Text 8"/>
          <p:cNvSpPr txBox="1"/>
          <p:nvPr/>
        </p:nvSpPr>
        <p:spPr>
          <a:xfrm>
            <a:off x="1188720" y="1417320"/>
            <a:ext cx="7178040" cy="429768"/>
          </a:xfrm>
          <a:prstGeom prst="rect">
            <a:avLst/>
          </a:prstGeom>
          <a:noFill/>
          <a:ln/>
        </p:spPr>
        <p:txBody>
          <a:bodyPr wrap="square" lIns="0" tIns="0" rIns="0" bIns="0" rtlCol="0" anchor="ctr"/>
          <a:lstStyle/>
          <a:p>
            <a:pPr marL="0" indent="0">
              <a:buNone/>
            </a:pPr>
            <a:r>
              <a:rPr lang="en-US" sz="1600" dirty="0">
                <a:solidFill>
                  <a:srgbClr val="0A3D4A"/>
                </a:solidFill>
              </a:rPr>
              <a:t>a clear topic sentence</a:t>
            </a:r>
            <a:endParaRPr lang="en-US" sz="1600" dirty="0"/>
          </a:p>
        </p:txBody>
      </p:sp>
      <p:sp>
        <p:nvSpPr>
          <p:cNvPr id="11" name="Shape 9"/>
          <p:cNvSpPr/>
          <p:nvPr/>
        </p:nvSpPr>
        <p:spPr>
          <a:xfrm>
            <a:off x="777240" y="1933956"/>
            <a:ext cx="256032" cy="256032"/>
          </a:xfrm>
          <a:prstGeom prst="roundRect">
            <a:avLst>
              <a:gd name="adj" fmla="val 17857"/>
            </a:avLst>
          </a:prstGeom>
          <a:solidFill>
            <a:srgbClr val="FFFFFF"/>
          </a:solidFill>
          <a:ln w="25400">
            <a:solidFill>
              <a:srgbClr val="0E7C86"/>
            </a:solidFill>
            <a:prstDash val="solid"/>
          </a:ln>
        </p:spPr>
      </p:sp>
      <p:sp>
        <p:nvSpPr>
          <p:cNvPr id="12" name="Text 10"/>
          <p:cNvSpPr txBox="1"/>
          <p:nvPr/>
        </p:nvSpPr>
        <p:spPr>
          <a:xfrm>
            <a:off x="1188720" y="1847088"/>
            <a:ext cx="7178040" cy="429768"/>
          </a:xfrm>
          <a:prstGeom prst="rect">
            <a:avLst/>
          </a:prstGeom>
          <a:noFill/>
          <a:ln/>
        </p:spPr>
        <p:txBody>
          <a:bodyPr wrap="square" lIns="0" tIns="0" rIns="0" bIns="0" rtlCol="0" anchor="ctr"/>
          <a:lstStyle/>
          <a:p>
            <a:pPr marL="0" indent="0">
              <a:buNone/>
            </a:pPr>
            <a:r>
              <a:rPr lang="en-US" sz="1600" dirty="0">
                <a:solidFill>
                  <a:srgbClr val="0A3D4A"/>
                </a:solidFill>
              </a:rPr>
              <a:t>at least two supporting details</a:t>
            </a:r>
            <a:endParaRPr lang="en-US" sz="1600" dirty="0"/>
          </a:p>
        </p:txBody>
      </p:sp>
      <p:sp>
        <p:nvSpPr>
          <p:cNvPr id="13" name="Shape 11"/>
          <p:cNvSpPr/>
          <p:nvPr/>
        </p:nvSpPr>
        <p:spPr>
          <a:xfrm>
            <a:off x="777240" y="2363724"/>
            <a:ext cx="256032" cy="256032"/>
          </a:xfrm>
          <a:prstGeom prst="roundRect">
            <a:avLst>
              <a:gd name="adj" fmla="val 17857"/>
            </a:avLst>
          </a:prstGeom>
          <a:solidFill>
            <a:srgbClr val="FFFFFF"/>
          </a:solidFill>
          <a:ln w="25400">
            <a:solidFill>
              <a:srgbClr val="0E7C86"/>
            </a:solidFill>
            <a:prstDash val="solid"/>
          </a:ln>
        </p:spPr>
      </p:sp>
      <p:sp>
        <p:nvSpPr>
          <p:cNvPr id="14" name="Text 12"/>
          <p:cNvSpPr txBox="1"/>
          <p:nvPr/>
        </p:nvSpPr>
        <p:spPr>
          <a:xfrm>
            <a:off x="1188720" y="2276856"/>
            <a:ext cx="7178040" cy="429768"/>
          </a:xfrm>
          <a:prstGeom prst="rect">
            <a:avLst/>
          </a:prstGeom>
          <a:noFill/>
          <a:ln/>
        </p:spPr>
        <p:txBody>
          <a:bodyPr wrap="square" lIns="0" tIns="0" rIns="0" bIns="0" rtlCol="0" anchor="ctr"/>
          <a:lstStyle/>
          <a:p>
            <a:pPr marL="0" indent="0">
              <a:buNone/>
            </a:pPr>
            <a:r>
              <a:rPr lang="en-US" sz="1600" dirty="0">
                <a:solidFill>
                  <a:srgbClr val="0A3D4A"/>
                </a:solidFill>
              </a:rPr>
              <a:t>two different connectors</a:t>
            </a:r>
            <a:endParaRPr lang="en-US" sz="1600" dirty="0"/>
          </a:p>
        </p:txBody>
      </p:sp>
      <p:sp>
        <p:nvSpPr>
          <p:cNvPr id="15" name="Shape 13"/>
          <p:cNvSpPr/>
          <p:nvPr/>
        </p:nvSpPr>
        <p:spPr>
          <a:xfrm>
            <a:off x="777240" y="2793492"/>
            <a:ext cx="256032" cy="256032"/>
          </a:xfrm>
          <a:prstGeom prst="roundRect">
            <a:avLst>
              <a:gd name="adj" fmla="val 17857"/>
            </a:avLst>
          </a:prstGeom>
          <a:solidFill>
            <a:srgbClr val="FFFFFF"/>
          </a:solidFill>
          <a:ln w="25400">
            <a:solidFill>
              <a:srgbClr val="0E7C86"/>
            </a:solidFill>
            <a:prstDash val="solid"/>
          </a:ln>
        </p:spPr>
      </p:sp>
      <p:sp>
        <p:nvSpPr>
          <p:cNvPr id="16" name="Text 14"/>
          <p:cNvSpPr txBox="1"/>
          <p:nvPr/>
        </p:nvSpPr>
        <p:spPr>
          <a:xfrm>
            <a:off x="1188720" y="2706624"/>
            <a:ext cx="7178040" cy="429768"/>
          </a:xfrm>
          <a:prstGeom prst="rect">
            <a:avLst/>
          </a:prstGeom>
          <a:noFill/>
          <a:ln/>
        </p:spPr>
        <p:txBody>
          <a:bodyPr wrap="square" lIns="0" tIns="0" rIns="0" bIns="0" rtlCol="0" anchor="ctr"/>
          <a:lstStyle/>
          <a:p>
            <a:pPr marL="0" indent="0">
              <a:buNone/>
            </a:pPr>
            <a:r>
              <a:rPr lang="en-US" sz="1600" dirty="0">
                <a:solidFill>
                  <a:srgbClr val="0A3D4A"/>
                </a:solidFill>
              </a:rPr>
              <a:t>a relative clause</a:t>
            </a:r>
            <a:endParaRPr lang="en-US" sz="1600" dirty="0"/>
          </a:p>
        </p:txBody>
      </p:sp>
      <p:sp>
        <p:nvSpPr>
          <p:cNvPr id="17" name="Shape 15"/>
          <p:cNvSpPr/>
          <p:nvPr/>
        </p:nvSpPr>
        <p:spPr>
          <a:xfrm>
            <a:off x="777240" y="3223260"/>
            <a:ext cx="256032" cy="256032"/>
          </a:xfrm>
          <a:prstGeom prst="roundRect">
            <a:avLst>
              <a:gd name="adj" fmla="val 17857"/>
            </a:avLst>
          </a:prstGeom>
          <a:solidFill>
            <a:srgbClr val="FFFFFF"/>
          </a:solidFill>
          <a:ln w="25400">
            <a:solidFill>
              <a:srgbClr val="0E7C86"/>
            </a:solidFill>
            <a:prstDash val="solid"/>
          </a:ln>
        </p:spPr>
      </p:sp>
      <p:sp>
        <p:nvSpPr>
          <p:cNvPr id="18" name="Text 16"/>
          <p:cNvSpPr txBox="1"/>
          <p:nvPr/>
        </p:nvSpPr>
        <p:spPr>
          <a:xfrm>
            <a:off x="1188720" y="3136392"/>
            <a:ext cx="7178040" cy="429768"/>
          </a:xfrm>
          <a:prstGeom prst="rect">
            <a:avLst/>
          </a:prstGeom>
          <a:noFill/>
          <a:ln/>
        </p:spPr>
        <p:txBody>
          <a:bodyPr wrap="square" lIns="0" tIns="0" rIns="0" bIns="0" rtlCol="0" anchor="ctr"/>
          <a:lstStyle/>
          <a:p>
            <a:pPr marL="0" indent="0">
              <a:buNone/>
            </a:pPr>
            <a:r>
              <a:rPr lang="en-US" sz="1600" dirty="0">
                <a:solidFill>
                  <a:srgbClr val="0A3D4A"/>
                </a:solidFill>
              </a:rPr>
              <a:t>a complex sentence</a:t>
            </a:r>
            <a:endParaRPr lang="en-US" sz="1600" dirty="0"/>
          </a:p>
        </p:txBody>
      </p:sp>
      <p:sp>
        <p:nvSpPr>
          <p:cNvPr id="19" name="Shape 17"/>
          <p:cNvSpPr/>
          <p:nvPr/>
        </p:nvSpPr>
        <p:spPr>
          <a:xfrm>
            <a:off x="777240" y="3653028"/>
            <a:ext cx="256032" cy="256032"/>
          </a:xfrm>
          <a:prstGeom prst="roundRect">
            <a:avLst>
              <a:gd name="adj" fmla="val 17857"/>
            </a:avLst>
          </a:prstGeom>
          <a:solidFill>
            <a:srgbClr val="FFFFFF"/>
          </a:solidFill>
          <a:ln w="25400">
            <a:solidFill>
              <a:srgbClr val="0E7C86"/>
            </a:solidFill>
            <a:prstDash val="solid"/>
          </a:ln>
        </p:spPr>
      </p:sp>
      <p:sp>
        <p:nvSpPr>
          <p:cNvPr id="20" name="Text 18"/>
          <p:cNvSpPr txBox="1"/>
          <p:nvPr/>
        </p:nvSpPr>
        <p:spPr>
          <a:xfrm>
            <a:off x="1188720" y="3566160"/>
            <a:ext cx="7178040" cy="429768"/>
          </a:xfrm>
          <a:prstGeom prst="rect">
            <a:avLst/>
          </a:prstGeom>
          <a:noFill/>
          <a:ln/>
        </p:spPr>
        <p:txBody>
          <a:bodyPr wrap="square" lIns="0" tIns="0" rIns="0" bIns="0" rtlCol="0" anchor="ctr"/>
          <a:lstStyle/>
          <a:p>
            <a:pPr marL="0" indent="0">
              <a:buNone/>
            </a:pPr>
            <a:r>
              <a:rPr lang="en-US" sz="1600" dirty="0">
                <a:solidFill>
                  <a:srgbClr val="0A3D4A"/>
                </a:solidFill>
              </a:rPr>
              <a:t>a cause-and-effect relationship</a:t>
            </a:r>
            <a:endParaRPr lang="en-US" sz="1600" dirty="0"/>
          </a:p>
        </p:txBody>
      </p:sp>
      <p:sp>
        <p:nvSpPr>
          <p:cNvPr id="21" name="Shape 19"/>
          <p:cNvSpPr/>
          <p:nvPr/>
        </p:nvSpPr>
        <p:spPr>
          <a:xfrm>
            <a:off x="457200" y="4114800"/>
            <a:ext cx="8229600" cy="594360"/>
          </a:xfrm>
          <a:prstGeom prst="roundRect">
            <a:avLst>
              <a:gd name="adj" fmla="val 23077"/>
            </a:avLst>
          </a:prstGeom>
          <a:solidFill>
            <a:srgbClr val="0A3D4A"/>
          </a:solidFill>
          <a:ln/>
          <a:effectLst>
            <a:outerShdw blurRad="76200" dist="25400" dir="5400000" algn="bl" rotWithShape="0">
              <a:srgbClr val="000000">
                <a:alpha val="15000"/>
              </a:srgbClr>
            </a:outerShdw>
          </a:effectLst>
        </p:spPr>
      </p:sp>
      <p:sp>
        <p:nvSpPr>
          <p:cNvPr id="22" name="Text 20"/>
          <p:cNvSpPr txBox="1"/>
          <p:nvPr/>
        </p:nvSpPr>
        <p:spPr>
          <a:xfrm>
            <a:off x="731520" y="4114800"/>
            <a:ext cx="7680960" cy="594360"/>
          </a:xfrm>
          <a:prstGeom prst="rect">
            <a:avLst/>
          </a:prstGeom>
          <a:noFill/>
          <a:ln/>
        </p:spPr>
        <p:txBody>
          <a:bodyPr wrap="square" lIns="0" tIns="0" rIns="0" bIns="0" rtlCol="0" anchor="ctr"/>
          <a:lstStyle/>
          <a:p>
            <a:pPr marL="0" indent="0">
              <a:buNone/>
            </a:pPr>
            <a:r>
              <a:rPr lang="en-US" sz="2000" b="1" dirty="0">
                <a:solidFill>
                  <a:srgbClr val="FFC857"/>
                </a:solidFill>
              </a:rPr>
              <a:t>Challenge: </a:t>
            </a:r>
            <a:r>
              <a:rPr lang="en-US" sz="2000" b="1" dirty="0">
                <a:solidFill>
                  <a:srgbClr val="FFFFFF"/>
                </a:solidFill>
              </a:rPr>
              <a:t>Use a precise technical word.</a:t>
            </a:r>
            <a:endParaRPr lang="en-US" sz="20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0E7C86"/>
                </a:solidFill>
              </a:defRPr>
            </a:lvl1pPr>
          </a:lstStyle>
          <a:p>
            <a:pPr algn="l"/>
            <a:fld id="{F7021451-1387-4CA6-816F-3879F97B5CBC}" type="slidenum">
              <a:rPr lang="en-US" b="0"/>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3A43CC-8BC5-F8AA-6694-4443A67E8453}"/>
              </a:ext>
            </a:extLst>
          </p:cNvPr>
          <p:cNvSpPr>
            <a:spLocks noGrp="1"/>
          </p:cNvSpPr>
          <p:nvPr>
            <p:ph type="title" idx="100"/>
          </p:nvPr>
        </p:nvSpPr>
        <p:spPr>
          <a:xfrm>
            <a:off x="814647" y="32861"/>
            <a:ext cx="7315200" cy="685800"/>
          </a:xfrm>
        </p:spPr>
        <p:txBody>
          <a:bodyPr/>
          <a:lstStyle/>
          <a:p>
            <a:r>
              <a:rPr lang="en-US" dirty="0"/>
              <a:t>Extend Model </a:t>
            </a:r>
          </a:p>
        </p:txBody>
      </p:sp>
      <p:sp>
        <p:nvSpPr>
          <p:cNvPr id="4" name="TextBox 3">
            <a:extLst>
              <a:ext uri="{FF2B5EF4-FFF2-40B4-BE49-F238E27FC236}">
                <a16:creationId xmlns:a16="http://schemas.microsoft.com/office/drawing/2014/main" id="{FC3E3855-4490-9FA1-A1C6-D48D6A2F7377}"/>
              </a:ext>
            </a:extLst>
          </p:cNvPr>
          <p:cNvSpPr txBox="1"/>
          <p:nvPr/>
        </p:nvSpPr>
        <p:spPr>
          <a:xfrm>
            <a:off x="0" y="524659"/>
            <a:ext cx="9077498" cy="1169551"/>
          </a:xfrm>
          <a:prstGeom prst="rect">
            <a:avLst/>
          </a:prstGeom>
          <a:noFill/>
        </p:spPr>
        <p:txBody>
          <a:bodyPr wrap="square">
            <a:spAutoFit/>
          </a:bodyPr>
          <a:lstStyle/>
          <a:p>
            <a:r>
              <a:rPr lang="en-US" sz="1400" dirty="0"/>
              <a:t>Protecting sea turtles is essential because many species are now endangered. One effective method is conserving nesting beaches, which are the habitats where females lay their eggs. When these areas are protected, more hatchlings can reach the ocean safely. In addition, people are reducing plastic pollution, since turtles may mistake floating bags for jellyfish and become seriously ill. Fishing nets are also being redesigned so that trapped turtles can escape. As a result, fewer turtles are injured, and their populations have a better chance of recovering.</a:t>
            </a:r>
          </a:p>
        </p:txBody>
      </p:sp>
      <p:graphicFrame>
        <p:nvGraphicFramePr>
          <p:cNvPr id="5" name="Table 4">
            <a:extLst>
              <a:ext uri="{FF2B5EF4-FFF2-40B4-BE49-F238E27FC236}">
                <a16:creationId xmlns:a16="http://schemas.microsoft.com/office/drawing/2014/main" id="{ECE6A8B6-51B2-71B0-679F-A9227ECF6F98}"/>
              </a:ext>
            </a:extLst>
          </p:cNvPr>
          <p:cNvGraphicFramePr>
            <a:graphicFrameLocks noGrp="1"/>
          </p:cNvGraphicFramePr>
          <p:nvPr>
            <p:extLst>
              <p:ext uri="{D42A27DB-BD31-4B8C-83A1-F6EECF244321}">
                <p14:modId xmlns:p14="http://schemas.microsoft.com/office/powerpoint/2010/main" val="2679338683"/>
              </p:ext>
            </p:extLst>
          </p:nvPr>
        </p:nvGraphicFramePr>
        <p:xfrm>
          <a:off x="58189" y="1780597"/>
          <a:ext cx="9019309" cy="3287335"/>
        </p:xfrm>
        <a:graphic>
          <a:graphicData uri="http://schemas.openxmlformats.org/drawingml/2006/table">
            <a:tbl>
              <a:tblPr/>
              <a:tblGrid>
                <a:gridCol w="3328893">
                  <a:extLst>
                    <a:ext uri="{9D8B030D-6E8A-4147-A177-3AD203B41FA5}">
                      <a16:colId xmlns:a16="http://schemas.microsoft.com/office/drawing/2014/main" val="2496647515"/>
                    </a:ext>
                  </a:extLst>
                </a:gridCol>
                <a:gridCol w="5690416">
                  <a:extLst>
                    <a:ext uri="{9D8B030D-6E8A-4147-A177-3AD203B41FA5}">
                      <a16:colId xmlns:a16="http://schemas.microsoft.com/office/drawing/2014/main" val="584347775"/>
                    </a:ext>
                  </a:extLst>
                </a:gridCol>
              </a:tblGrid>
              <a:tr h="210472">
                <a:tc>
                  <a:txBody>
                    <a:bodyPr/>
                    <a:lstStyle/>
                    <a:p>
                      <a:pPr>
                        <a:buNone/>
                      </a:pPr>
                      <a:r>
                        <a:rPr lang="en-US" sz="1200" b="1"/>
                        <a:t>Requirement</a:t>
                      </a:r>
                    </a:p>
                  </a:txBody>
                  <a:tcPr marL="52618" marR="52618" marT="26309" marB="26309" anchor="ctr">
                    <a:lnL>
                      <a:noFill/>
                    </a:lnL>
                    <a:lnR>
                      <a:noFill/>
                    </a:lnR>
                    <a:lnT>
                      <a:noFill/>
                    </a:lnT>
                    <a:lnB>
                      <a:noFill/>
                    </a:lnB>
                    <a:noFill/>
                  </a:tcPr>
                </a:tc>
                <a:tc>
                  <a:txBody>
                    <a:bodyPr/>
                    <a:lstStyle/>
                    <a:p>
                      <a:pPr>
                        <a:buNone/>
                      </a:pPr>
                      <a:r>
                        <a:rPr lang="en-US" sz="1200" b="1" dirty="0"/>
                        <a:t>Evidence</a:t>
                      </a:r>
                    </a:p>
                  </a:txBody>
                  <a:tcPr marL="52618" marR="52618" marT="26309" marB="26309" anchor="ctr">
                    <a:lnL>
                      <a:noFill/>
                    </a:lnL>
                    <a:lnR>
                      <a:noFill/>
                    </a:lnR>
                    <a:lnT>
                      <a:noFill/>
                    </a:lnT>
                    <a:lnB>
                      <a:noFill/>
                    </a:lnB>
                    <a:noFill/>
                  </a:tcPr>
                </a:tc>
                <a:extLst>
                  <a:ext uri="{0D108BD9-81ED-4DB2-BD59-A6C34878D82A}">
                    <a16:rowId xmlns:a16="http://schemas.microsoft.com/office/drawing/2014/main" val="186001600"/>
                  </a:ext>
                </a:extLst>
              </a:tr>
              <a:tr h="526179">
                <a:tc>
                  <a:txBody>
                    <a:bodyPr/>
                    <a:lstStyle/>
                    <a:p>
                      <a:pPr>
                        <a:buNone/>
                      </a:pPr>
                      <a:r>
                        <a:rPr lang="en-US" sz="1200" b="1" dirty="0"/>
                        <a:t>A clear topic sentence</a:t>
                      </a:r>
                    </a:p>
                  </a:txBody>
                  <a:tcPr marL="52618" marR="52618" marT="26309" marB="26309" anchor="ctr">
                    <a:lnL>
                      <a:noFill/>
                    </a:lnL>
                    <a:lnR>
                      <a:noFill/>
                    </a:lnR>
                    <a:lnT>
                      <a:noFill/>
                    </a:lnT>
                    <a:lnB>
                      <a:noFill/>
                    </a:lnB>
                    <a:noFill/>
                  </a:tcPr>
                </a:tc>
                <a:tc>
                  <a:txBody>
                    <a:bodyPr/>
                    <a:lstStyle/>
                    <a:p>
                      <a:pPr>
                        <a:buNone/>
                      </a:pPr>
                      <a:r>
                        <a:rPr lang="en-US" sz="1200" b="1"/>
                        <a:t>"Protecting sea turtles is essential because many species are now endangered."</a:t>
                      </a:r>
                    </a:p>
                  </a:txBody>
                  <a:tcPr marL="52618" marR="52618" marT="26309" marB="26309" anchor="ctr">
                    <a:lnL>
                      <a:noFill/>
                    </a:lnL>
                    <a:lnR>
                      <a:noFill/>
                    </a:lnR>
                    <a:lnT>
                      <a:noFill/>
                    </a:lnT>
                    <a:lnB>
                      <a:noFill/>
                    </a:lnB>
                    <a:noFill/>
                  </a:tcPr>
                </a:tc>
                <a:extLst>
                  <a:ext uri="{0D108BD9-81ED-4DB2-BD59-A6C34878D82A}">
                    <a16:rowId xmlns:a16="http://schemas.microsoft.com/office/drawing/2014/main" val="38014477"/>
                  </a:ext>
                </a:extLst>
              </a:tr>
              <a:tr h="526179">
                <a:tc>
                  <a:txBody>
                    <a:bodyPr/>
                    <a:lstStyle/>
                    <a:p>
                      <a:pPr>
                        <a:buNone/>
                      </a:pPr>
                      <a:r>
                        <a:rPr lang="en-US" sz="1200" b="1"/>
                        <a:t>At least two supporting details</a:t>
                      </a:r>
                    </a:p>
                  </a:txBody>
                  <a:tcPr marL="52618" marR="52618" marT="26309" marB="26309" anchor="ctr">
                    <a:lnL>
                      <a:noFill/>
                    </a:lnL>
                    <a:lnR>
                      <a:noFill/>
                    </a:lnR>
                    <a:lnT>
                      <a:noFill/>
                    </a:lnT>
                    <a:lnB>
                      <a:noFill/>
                    </a:lnB>
                    <a:noFill/>
                  </a:tcPr>
                </a:tc>
                <a:tc>
                  <a:txBody>
                    <a:bodyPr/>
                    <a:lstStyle/>
                    <a:p>
                      <a:pPr>
                        <a:buNone/>
                      </a:pPr>
                      <a:r>
                        <a:rPr lang="en-US" sz="1200" b="1"/>
                        <a:t>Protecting nesting beaches, reducing plastic pollution, redesigning fishing nets</a:t>
                      </a:r>
                    </a:p>
                  </a:txBody>
                  <a:tcPr marL="52618" marR="52618" marT="26309" marB="26309" anchor="ctr">
                    <a:lnL>
                      <a:noFill/>
                    </a:lnL>
                    <a:lnR>
                      <a:noFill/>
                    </a:lnR>
                    <a:lnT>
                      <a:noFill/>
                    </a:lnT>
                    <a:lnB>
                      <a:noFill/>
                    </a:lnB>
                    <a:noFill/>
                  </a:tcPr>
                </a:tc>
                <a:extLst>
                  <a:ext uri="{0D108BD9-81ED-4DB2-BD59-A6C34878D82A}">
                    <a16:rowId xmlns:a16="http://schemas.microsoft.com/office/drawing/2014/main" val="2825831899"/>
                  </a:ext>
                </a:extLst>
              </a:tr>
              <a:tr h="368325">
                <a:tc>
                  <a:txBody>
                    <a:bodyPr/>
                    <a:lstStyle/>
                    <a:p>
                      <a:pPr>
                        <a:buNone/>
                      </a:pPr>
                      <a:r>
                        <a:rPr lang="en-US" sz="1200" b="1"/>
                        <a:t>Two different connectors</a:t>
                      </a:r>
                    </a:p>
                  </a:txBody>
                  <a:tcPr marL="52618" marR="52618" marT="26309" marB="26309" anchor="ctr">
                    <a:lnL>
                      <a:noFill/>
                    </a:lnL>
                    <a:lnR>
                      <a:noFill/>
                    </a:lnR>
                    <a:lnT>
                      <a:noFill/>
                    </a:lnT>
                    <a:lnB>
                      <a:noFill/>
                    </a:lnB>
                    <a:noFill/>
                  </a:tcPr>
                </a:tc>
                <a:tc>
                  <a:txBody>
                    <a:bodyPr/>
                    <a:lstStyle/>
                    <a:p>
                      <a:pPr>
                        <a:buNone/>
                      </a:pPr>
                      <a:r>
                        <a:rPr lang="en-US" sz="1200" b="1"/>
                        <a:t>"In addition" (adding), "As a result" (consequence)</a:t>
                      </a:r>
                    </a:p>
                  </a:txBody>
                  <a:tcPr marL="52618" marR="52618" marT="26309" marB="26309" anchor="ctr">
                    <a:lnL>
                      <a:noFill/>
                    </a:lnL>
                    <a:lnR>
                      <a:noFill/>
                    </a:lnR>
                    <a:lnT>
                      <a:noFill/>
                    </a:lnT>
                    <a:lnB>
                      <a:noFill/>
                    </a:lnB>
                    <a:noFill/>
                  </a:tcPr>
                </a:tc>
                <a:extLst>
                  <a:ext uri="{0D108BD9-81ED-4DB2-BD59-A6C34878D82A}">
                    <a16:rowId xmlns:a16="http://schemas.microsoft.com/office/drawing/2014/main" val="3181806060"/>
                  </a:ext>
                </a:extLst>
              </a:tr>
              <a:tr h="368325">
                <a:tc>
                  <a:txBody>
                    <a:bodyPr/>
                    <a:lstStyle/>
                    <a:p>
                      <a:pPr>
                        <a:buNone/>
                      </a:pPr>
                      <a:r>
                        <a:rPr lang="en-US" sz="1200" b="1"/>
                        <a:t>A relative clause</a:t>
                      </a:r>
                    </a:p>
                  </a:txBody>
                  <a:tcPr marL="52618" marR="52618" marT="26309" marB="26309" anchor="ctr">
                    <a:lnL>
                      <a:noFill/>
                    </a:lnL>
                    <a:lnR>
                      <a:noFill/>
                    </a:lnR>
                    <a:lnT>
                      <a:noFill/>
                    </a:lnT>
                    <a:lnB>
                      <a:noFill/>
                    </a:lnB>
                    <a:noFill/>
                  </a:tcPr>
                </a:tc>
                <a:tc>
                  <a:txBody>
                    <a:bodyPr/>
                    <a:lstStyle/>
                    <a:p>
                      <a:pPr>
                        <a:buNone/>
                      </a:pPr>
                      <a:r>
                        <a:rPr lang="en-US" sz="1200" b="1"/>
                        <a:t>"…nesting beaches, which are the habitats where females lay their eggs"</a:t>
                      </a:r>
                    </a:p>
                  </a:txBody>
                  <a:tcPr marL="52618" marR="52618" marT="26309" marB="26309" anchor="ctr">
                    <a:lnL>
                      <a:noFill/>
                    </a:lnL>
                    <a:lnR>
                      <a:noFill/>
                    </a:lnR>
                    <a:lnT>
                      <a:noFill/>
                    </a:lnT>
                    <a:lnB>
                      <a:noFill/>
                    </a:lnB>
                    <a:noFill/>
                  </a:tcPr>
                </a:tc>
                <a:extLst>
                  <a:ext uri="{0D108BD9-81ED-4DB2-BD59-A6C34878D82A}">
                    <a16:rowId xmlns:a16="http://schemas.microsoft.com/office/drawing/2014/main" val="2733723712"/>
                  </a:ext>
                </a:extLst>
              </a:tr>
              <a:tr h="368325">
                <a:tc>
                  <a:txBody>
                    <a:bodyPr/>
                    <a:lstStyle/>
                    <a:p>
                      <a:pPr>
                        <a:buNone/>
                      </a:pPr>
                      <a:r>
                        <a:rPr lang="en-US" sz="1200" b="1"/>
                        <a:t>A complex sentence</a:t>
                      </a:r>
                    </a:p>
                  </a:txBody>
                  <a:tcPr marL="52618" marR="52618" marT="26309" marB="26309" anchor="ctr">
                    <a:lnL>
                      <a:noFill/>
                    </a:lnL>
                    <a:lnR>
                      <a:noFill/>
                    </a:lnR>
                    <a:lnT>
                      <a:noFill/>
                    </a:lnT>
                    <a:lnB>
                      <a:noFill/>
                    </a:lnB>
                    <a:noFill/>
                  </a:tcPr>
                </a:tc>
                <a:tc>
                  <a:txBody>
                    <a:bodyPr/>
                    <a:lstStyle/>
                    <a:p>
                      <a:pPr>
                        <a:buNone/>
                      </a:pPr>
                      <a:r>
                        <a:rPr lang="en-US" sz="1200" b="1"/>
                        <a:t>"When these areas are protected, more hatchlings can reach the ocean safely."</a:t>
                      </a:r>
                    </a:p>
                  </a:txBody>
                  <a:tcPr marL="52618" marR="52618" marT="26309" marB="26309" anchor="ctr">
                    <a:lnL>
                      <a:noFill/>
                    </a:lnL>
                    <a:lnR>
                      <a:noFill/>
                    </a:lnR>
                    <a:lnT>
                      <a:noFill/>
                    </a:lnT>
                    <a:lnB>
                      <a:noFill/>
                    </a:lnB>
                    <a:noFill/>
                  </a:tcPr>
                </a:tc>
                <a:extLst>
                  <a:ext uri="{0D108BD9-81ED-4DB2-BD59-A6C34878D82A}">
                    <a16:rowId xmlns:a16="http://schemas.microsoft.com/office/drawing/2014/main" val="2133692044"/>
                  </a:ext>
                </a:extLst>
              </a:tr>
              <a:tr h="526179">
                <a:tc>
                  <a:txBody>
                    <a:bodyPr/>
                    <a:lstStyle/>
                    <a:p>
                      <a:pPr>
                        <a:buNone/>
                      </a:pPr>
                      <a:r>
                        <a:rPr lang="en-US" sz="1200" b="1"/>
                        <a:t>Cause and effect</a:t>
                      </a:r>
                    </a:p>
                  </a:txBody>
                  <a:tcPr marL="52618" marR="52618" marT="26309" marB="26309" anchor="ctr">
                    <a:lnL>
                      <a:noFill/>
                    </a:lnL>
                    <a:lnR>
                      <a:noFill/>
                    </a:lnR>
                    <a:lnT>
                      <a:noFill/>
                    </a:lnT>
                    <a:lnB>
                      <a:noFill/>
                    </a:lnB>
                    <a:noFill/>
                  </a:tcPr>
                </a:tc>
                <a:tc>
                  <a:txBody>
                    <a:bodyPr/>
                    <a:lstStyle/>
                    <a:p>
                      <a:pPr>
                        <a:buNone/>
                      </a:pPr>
                      <a:r>
                        <a:rPr lang="en-US" sz="1200" b="1"/>
                        <a:t>Plastic pollution → turtles mistake bags for jellyfish → seriously ill; redesigned nets → turtles escape → fewer injuries</a:t>
                      </a:r>
                    </a:p>
                  </a:txBody>
                  <a:tcPr marL="52618" marR="52618" marT="26309" marB="26309" anchor="ctr">
                    <a:lnL>
                      <a:noFill/>
                    </a:lnL>
                    <a:lnR>
                      <a:noFill/>
                    </a:lnR>
                    <a:lnT>
                      <a:noFill/>
                    </a:lnT>
                    <a:lnB>
                      <a:noFill/>
                    </a:lnB>
                    <a:noFill/>
                  </a:tcPr>
                </a:tc>
                <a:extLst>
                  <a:ext uri="{0D108BD9-81ED-4DB2-BD59-A6C34878D82A}">
                    <a16:rowId xmlns:a16="http://schemas.microsoft.com/office/drawing/2014/main" val="3712778394"/>
                  </a:ext>
                </a:extLst>
              </a:tr>
              <a:tr h="368325">
                <a:tc>
                  <a:txBody>
                    <a:bodyPr/>
                    <a:lstStyle/>
                    <a:p>
                      <a:pPr>
                        <a:buNone/>
                      </a:pPr>
                      <a:r>
                        <a:rPr lang="en-US" sz="1200" b="1"/>
                        <a:t>Challenge: a precise technical word</a:t>
                      </a:r>
                    </a:p>
                  </a:txBody>
                  <a:tcPr marL="52618" marR="52618" marT="26309" marB="26309" anchor="ctr">
                    <a:lnL>
                      <a:noFill/>
                    </a:lnL>
                    <a:lnR>
                      <a:noFill/>
                    </a:lnR>
                    <a:lnT>
                      <a:noFill/>
                    </a:lnT>
                    <a:lnB>
                      <a:noFill/>
                    </a:lnB>
                    <a:noFill/>
                  </a:tcPr>
                </a:tc>
                <a:tc>
                  <a:txBody>
                    <a:bodyPr/>
                    <a:lstStyle/>
                    <a:p>
                      <a:pPr>
                        <a:buNone/>
                      </a:pPr>
                      <a:r>
                        <a:rPr lang="fr-FR" sz="1200" b="1" i="1" dirty="0" err="1"/>
                        <a:t>species</a:t>
                      </a:r>
                      <a:r>
                        <a:rPr lang="fr-FR" sz="1200" b="1" i="1" dirty="0"/>
                        <a:t>, </a:t>
                      </a:r>
                      <a:r>
                        <a:rPr lang="fr-FR" sz="1200" b="1" i="1" dirty="0" err="1"/>
                        <a:t>conserving</a:t>
                      </a:r>
                      <a:r>
                        <a:rPr lang="fr-FR" sz="1200" b="1" i="1" dirty="0"/>
                        <a:t>, habitats, </a:t>
                      </a:r>
                      <a:r>
                        <a:rPr lang="fr-FR" sz="1200" b="1" i="1" dirty="0" err="1"/>
                        <a:t>hatchlings</a:t>
                      </a:r>
                      <a:r>
                        <a:rPr lang="fr-FR" sz="1200" b="1" i="1" dirty="0"/>
                        <a:t>, populations, pollution</a:t>
                      </a:r>
                      <a:endParaRPr lang="fr-FR" sz="1200" b="1" dirty="0"/>
                    </a:p>
                  </a:txBody>
                  <a:tcPr marL="52618" marR="52618" marT="26309" marB="26309" anchor="ctr">
                    <a:lnL>
                      <a:noFill/>
                    </a:lnL>
                    <a:lnR>
                      <a:noFill/>
                    </a:lnR>
                    <a:lnT>
                      <a:noFill/>
                    </a:lnT>
                    <a:lnB>
                      <a:noFill/>
                    </a:lnB>
                    <a:noFill/>
                  </a:tcPr>
                </a:tc>
                <a:extLst>
                  <a:ext uri="{0D108BD9-81ED-4DB2-BD59-A6C34878D82A}">
                    <a16:rowId xmlns:a16="http://schemas.microsoft.com/office/drawing/2014/main" val="2743117847"/>
                  </a:ext>
                </a:extLst>
              </a:tr>
            </a:tbl>
          </a:graphicData>
        </a:graphic>
      </p:graphicFrame>
    </p:spTree>
    <p:extLst>
      <p:ext uri="{BB962C8B-B14F-4D97-AF65-F5344CB8AC3E}">
        <p14:creationId xmlns:p14="http://schemas.microsoft.com/office/powerpoint/2010/main" val="322382517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7589520" y="-914400"/>
            <a:ext cx="2377440" cy="2377440"/>
          </a:xfrm>
          <a:prstGeom prst="ellipse">
            <a:avLst/>
          </a:prstGeom>
          <a:solidFill>
            <a:srgbClr val="CDEFF1">
              <a:alpha val="80000"/>
            </a:srgbClr>
          </a:solidFill>
          <a:ln/>
        </p:spPr>
      </p:sp>
      <p:sp>
        <p:nvSpPr>
          <p:cNvPr id="3" name="Shape 1"/>
          <p:cNvSpPr/>
          <p:nvPr/>
        </p:nvSpPr>
        <p:spPr>
          <a:xfrm>
            <a:off x="-548640" y="4297680"/>
            <a:ext cx="1463040" cy="1463040"/>
          </a:xfrm>
          <a:prstGeom prst="ellipse">
            <a:avLst/>
          </a:prstGeom>
          <a:solidFill>
            <a:srgbClr val="CDEFF1">
              <a:alpha val="70000"/>
            </a:srgbClr>
          </a:solidFill>
          <a:ln/>
        </p:spPr>
      </p:sp>
      <p:sp>
        <p:nvSpPr>
          <p:cNvPr id="5" name="Text 3"/>
          <p:cNvSpPr txBox="1"/>
          <p:nvPr/>
        </p:nvSpPr>
        <p:spPr>
          <a:xfrm>
            <a:off x="1453233" y="252056"/>
            <a:ext cx="658368" cy="658368"/>
          </a:xfrm>
          <a:prstGeom prst="rect">
            <a:avLst/>
          </a:prstGeom>
          <a:noFill/>
          <a:ln/>
        </p:spPr>
        <p:txBody>
          <a:bodyPr wrap="square" lIns="0" tIns="0" rIns="0" bIns="0" rtlCol="0" anchor="ctr"/>
          <a:lstStyle/>
          <a:p>
            <a:pPr marL="0" indent="0" algn="ctr">
              <a:buNone/>
            </a:pPr>
            <a:r>
              <a:rPr lang="en-US" sz="2200" b="1" dirty="0">
                <a:solidFill>
                  <a:srgbClr val="FFFFFF"/>
                </a:solidFill>
              </a:rPr>
              <a:t>👥</a:t>
            </a:r>
            <a:endParaRPr lang="en-US" sz="2200" dirty="0"/>
          </a:p>
        </p:txBody>
      </p:sp>
      <p:sp>
        <p:nvSpPr>
          <p:cNvPr id="6" name="Text 0"/>
          <p:cNvSpPr>
            <a:spLocks noGrp="1"/>
          </p:cNvSpPr>
          <p:nvPr>
            <p:ph type="title" idx="100" hasCustomPrompt="1"/>
          </p:nvPr>
        </p:nvSpPr>
        <p:spPr>
          <a:xfrm>
            <a:off x="1280160" y="274320"/>
            <a:ext cx="7315200" cy="685800"/>
          </a:xfrm>
          <a:prstGeom prst="rect">
            <a:avLst/>
          </a:prstGeom>
          <a:noFill/>
          <a:ln/>
        </p:spPr>
        <p:txBody>
          <a:bodyPr wrap="square" rtlCol="0" anchor="ctr"/>
          <a:lstStyle/>
          <a:p>
            <a:pPr marL="0" indent="0">
              <a:buNone/>
            </a:pPr>
            <a:r>
              <a:rPr lang="en-US" sz="2600" b="1" dirty="0">
                <a:solidFill>
                  <a:srgbClr val="0A3D4A"/>
                </a:solidFill>
              </a:rPr>
              <a:t>CHECK YOUR PARTNER'S PARAGRAPH</a:t>
            </a:r>
            <a:endParaRPr lang="en-US" sz="2600" dirty="0"/>
          </a:p>
        </p:txBody>
      </p:sp>
      <p:sp>
        <p:nvSpPr>
          <p:cNvPr id="7" name="Text 5"/>
          <p:cNvSpPr txBox="1"/>
          <p:nvPr/>
        </p:nvSpPr>
        <p:spPr>
          <a:xfrm>
            <a:off x="457200" y="896112"/>
            <a:ext cx="8229600" cy="274320"/>
          </a:xfrm>
          <a:prstGeom prst="rect">
            <a:avLst/>
          </a:prstGeom>
          <a:noFill/>
          <a:ln/>
        </p:spPr>
        <p:txBody>
          <a:bodyPr wrap="square" lIns="0" tIns="0" rIns="0" bIns="0" rtlCol="0" anchor="t"/>
          <a:lstStyle/>
          <a:p>
            <a:pPr marL="0" indent="0">
              <a:buNone/>
            </a:pPr>
            <a:r>
              <a:rPr lang="en-US" sz="2000" b="1" i="1" dirty="0">
                <a:solidFill>
                  <a:srgbClr val="4A6B73"/>
                </a:solidFill>
              </a:rPr>
              <a:t>Did the writer:</a:t>
            </a:r>
            <a:endParaRPr lang="en-US" sz="2000" b="1" dirty="0"/>
          </a:p>
        </p:txBody>
      </p:sp>
      <p:sp>
        <p:nvSpPr>
          <p:cNvPr id="8" name="Shape 6"/>
          <p:cNvSpPr/>
          <p:nvPr/>
        </p:nvSpPr>
        <p:spPr>
          <a:xfrm>
            <a:off x="457200" y="1234440"/>
            <a:ext cx="5120640" cy="3474720"/>
          </a:xfrm>
          <a:prstGeom prst="roundRect">
            <a:avLst>
              <a:gd name="adj" fmla="val 3947"/>
            </a:avLst>
          </a:prstGeom>
          <a:solidFill>
            <a:srgbClr val="FFFFFF"/>
          </a:solidFill>
          <a:ln/>
          <a:effectLst>
            <a:outerShdw blurRad="76200" dist="25400" dir="5400000" algn="bl" rotWithShape="0">
              <a:srgbClr val="000000">
                <a:alpha val="15000"/>
              </a:srgbClr>
            </a:outerShdw>
          </a:effectLst>
        </p:spPr>
      </p:sp>
      <p:sp>
        <p:nvSpPr>
          <p:cNvPr id="9" name="Shape 7"/>
          <p:cNvSpPr/>
          <p:nvPr/>
        </p:nvSpPr>
        <p:spPr>
          <a:xfrm>
            <a:off x="731520" y="1403604"/>
            <a:ext cx="256032" cy="256032"/>
          </a:xfrm>
          <a:prstGeom prst="roundRect">
            <a:avLst>
              <a:gd name="adj" fmla="val 17857"/>
            </a:avLst>
          </a:prstGeom>
          <a:solidFill>
            <a:srgbClr val="FFFFFF"/>
          </a:solidFill>
          <a:ln w="25400">
            <a:solidFill>
              <a:srgbClr val="0E7C86"/>
            </a:solidFill>
            <a:prstDash val="solid"/>
          </a:ln>
        </p:spPr>
      </p:sp>
      <p:sp>
        <p:nvSpPr>
          <p:cNvPr id="10" name="Text 8"/>
          <p:cNvSpPr txBox="1"/>
          <p:nvPr/>
        </p:nvSpPr>
        <p:spPr>
          <a:xfrm>
            <a:off x="1143000" y="1325880"/>
            <a:ext cx="4251960" cy="411480"/>
          </a:xfrm>
          <a:prstGeom prst="rect">
            <a:avLst/>
          </a:prstGeom>
          <a:noFill/>
          <a:ln/>
        </p:spPr>
        <p:txBody>
          <a:bodyPr wrap="square" lIns="0" tIns="0" rIns="0" bIns="0" rtlCol="0" anchor="ctr"/>
          <a:lstStyle/>
          <a:p>
            <a:pPr marL="0" indent="0">
              <a:buNone/>
            </a:pPr>
            <a:r>
              <a:rPr lang="en-US" dirty="0">
                <a:solidFill>
                  <a:srgbClr val="0A3D4A"/>
                </a:solidFill>
              </a:rPr>
              <a:t>write factual information?</a:t>
            </a:r>
            <a:endParaRPr lang="en-US" dirty="0"/>
          </a:p>
        </p:txBody>
      </p:sp>
      <p:sp>
        <p:nvSpPr>
          <p:cNvPr id="11" name="Shape 9"/>
          <p:cNvSpPr/>
          <p:nvPr/>
        </p:nvSpPr>
        <p:spPr>
          <a:xfrm>
            <a:off x="731520" y="1815084"/>
            <a:ext cx="256032" cy="256032"/>
          </a:xfrm>
          <a:prstGeom prst="roundRect">
            <a:avLst>
              <a:gd name="adj" fmla="val 17857"/>
            </a:avLst>
          </a:prstGeom>
          <a:solidFill>
            <a:srgbClr val="FFFFFF"/>
          </a:solidFill>
          <a:ln w="25400">
            <a:solidFill>
              <a:srgbClr val="0E7C86"/>
            </a:solidFill>
            <a:prstDash val="solid"/>
          </a:ln>
        </p:spPr>
      </p:sp>
      <p:sp>
        <p:nvSpPr>
          <p:cNvPr id="12" name="Text 10"/>
          <p:cNvSpPr txBox="1"/>
          <p:nvPr/>
        </p:nvSpPr>
        <p:spPr>
          <a:xfrm>
            <a:off x="1143000" y="1737360"/>
            <a:ext cx="4251960" cy="411480"/>
          </a:xfrm>
          <a:prstGeom prst="rect">
            <a:avLst/>
          </a:prstGeom>
          <a:noFill/>
          <a:ln/>
        </p:spPr>
        <p:txBody>
          <a:bodyPr wrap="square" lIns="0" tIns="0" rIns="0" bIns="0" rtlCol="0" anchor="ctr"/>
          <a:lstStyle/>
          <a:p>
            <a:pPr marL="0" indent="0">
              <a:buNone/>
            </a:pPr>
            <a:r>
              <a:rPr lang="en-US" dirty="0">
                <a:solidFill>
                  <a:srgbClr val="0A3D4A"/>
                </a:solidFill>
              </a:rPr>
              <a:t>use present tense?</a:t>
            </a:r>
            <a:endParaRPr lang="en-US" dirty="0"/>
          </a:p>
        </p:txBody>
      </p:sp>
      <p:sp>
        <p:nvSpPr>
          <p:cNvPr id="13" name="Shape 11"/>
          <p:cNvSpPr/>
          <p:nvPr/>
        </p:nvSpPr>
        <p:spPr>
          <a:xfrm>
            <a:off x="731520" y="2226564"/>
            <a:ext cx="256032" cy="256032"/>
          </a:xfrm>
          <a:prstGeom prst="roundRect">
            <a:avLst>
              <a:gd name="adj" fmla="val 17857"/>
            </a:avLst>
          </a:prstGeom>
          <a:solidFill>
            <a:srgbClr val="FFFFFF"/>
          </a:solidFill>
          <a:ln w="25400">
            <a:solidFill>
              <a:srgbClr val="0E7C86"/>
            </a:solidFill>
            <a:prstDash val="solid"/>
          </a:ln>
        </p:spPr>
      </p:sp>
      <p:sp>
        <p:nvSpPr>
          <p:cNvPr id="14" name="Text 12"/>
          <p:cNvSpPr txBox="1"/>
          <p:nvPr/>
        </p:nvSpPr>
        <p:spPr>
          <a:xfrm>
            <a:off x="1143000" y="2148840"/>
            <a:ext cx="4251960" cy="411480"/>
          </a:xfrm>
          <a:prstGeom prst="rect">
            <a:avLst/>
          </a:prstGeom>
          <a:noFill/>
          <a:ln/>
        </p:spPr>
        <p:txBody>
          <a:bodyPr wrap="square" lIns="0" tIns="0" rIns="0" bIns="0" rtlCol="0" anchor="ctr"/>
          <a:lstStyle/>
          <a:p>
            <a:pPr marL="0" indent="0">
              <a:buNone/>
            </a:pPr>
            <a:r>
              <a:rPr lang="en-US" dirty="0">
                <a:solidFill>
                  <a:srgbClr val="0A3D4A"/>
                </a:solidFill>
              </a:rPr>
              <a:t>use third person?</a:t>
            </a:r>
            <a:endParaRPr lang="en-US" dirty="0"/>
          </a:p>
        </p:txBody>
      </p:sp>
      <p:sp>
        <p:nvSpPr>
          <p:cNvPr id="15" name="Shape 13"/>
          <p:cNvSpPr/>
          <p:nvPr/>
        </p:nvSpPr>
        <p:spPr>
          <a:xfrm>
            <a:off x="731520" y="2638044"/>
            <a:ext cx="256032" cy="256032"/>
          </a:xfrm>
          <a:prstGeom prst="roundRect">
            <a:avLst>
              <a:gd name="adj" fmla="val 17857"/>
            </a:avLst>
          </a:prstGeom>
          <a:solidFill>
            <a:srgbClr val="FFFFFF"/>
          </a:solidFill>
          <a:ln w="25400">
            <a:solidFill>
              <a:srgbClr val="0E7C86"/>
            </a:solidFill>
            <a:prstDash val="solid"/>
          </a:ln>
        </p:spPr>
      </p:sp>
      <p:sp>
        <p:nvSpPr>
          <p:cNvPr id="16" name="Text 14"/>
          <p:cNvSpPr txBox="1"/>
          <p:nvPr/>
        </p:nvSpPr>
        <p:spPr>
          <a:xfrm>
            <a:off x="1143000" y="2560320"/>
            <a:ext cx="4251960" cy="411480"/>
          </a:xfrm>
          <a:prstGeom prst="rect">
            <a:avLst/>
          </a:prstGeom>
          <a:noFill/>
          <a:ln/>
        </p:spPr>
        <p:txBody>
          <a:bodyPr wrap="square" lIns="0" tIns="0" rIns="0" bIns="0" rtlCol="0" anchor="ctr"/>
          <a:lstStyle/>
          <a:p>
            <a:pPr marL="0" indent="0">
              <a:buNone/>
            </a:pPr>
            <a:r>
              <a:rPr lang="en-US" dirty="0">
                <a:solidFill>
                  <a:srgbClr val="0A3D4A"/>
                </a:solidFill>
              </a:rPr>
              <a:t>develop the main idea?</a:t>
            </a:r>
            <a:endParaRPr lang="en-US" dirty="0"/>
          </a:p>
        </p:txBody>
      </p:sp>
      <p:sp>
        <p:nvSpPr>
          <p:cNvPr id="17" name="Shape 15"/>
          <p:cNvSpPr/>
          <p:nvPr/>
        </p:nvSpPr>
        <p:spPr>
          <a:xfrm>
            <a:off x="731520" y="3049524"/>
            <a:ext cx="256032" cy="256032"/>
          </a:xfrm>
          <a:prstGeom prst="roundRect">
            <a:avLst>
              <a:gd name="adj" fmla="val 17857"/>
            </a:avLst>
          </a:prstGeom>
          <a:solidFill>
            <a:srgbClr val="FFFFFF"/>
          </a:solidFill>
          <a:ln w="25400">
            <a:solidFill>
              <a:srgbClr val="0E7C86"/>
            </a:solidFill>
            <a:prstDash val="solid"/>
          </a:ln>
        </p:spPr>
      </p:sp>
      <p:sp>
        <p:nvSpPr>
          <p:cNvPr id="18" name="Text 16"/>
          <p:cNvSpPr txBox="1"/>
          <p:nvPr/>
        </p:nvSpPr>
        <p:spPr>
          <a:xfrm>
            <a:off x="1143000" y="2971800"/>
            <a:ext cx="4251960" cy="411480"/>
          </a:xfrm>
          <a:prstGeom prst="rect">
            <a:avLst/>
          </a:prstGeom>
          <a:noFill/>
          <a:ln/>
        </p:spPr>
        <p:txBody>
          <a:bodyPr wrap="square" lIns="0" tIns="0" rIns="0" bIns="0" rtlCol="0" anchor="ctr"/>
          <a:lstStyle/>
          <a:p>
            <a:pPr marL="0" indent="0">
              <a:buNone/>
            </a:pPr>
            <a:r>
              <a:rPr lang="en-US" dirty="0">
                <a:solidFill>
                  <a:srgbClr val="0A3D4A"/>
                </a:solidFill>
              </a:rPr>
              <a:t>use a connector?</a:t>
            </a:r>
            <a:endParaRPr lang="en-US" dirty="0"/>
          </a:p>
        </p:txBody>
      </p:sp>
      <p:sp>
        <p:nvSpPr>
          <p:cNvPr id="19" name="Shape 17"/>
          <p:cNvSpPr/>
          <p:nvPr/>
        </p:nvSpPr>
        <p:spPr>
          <a:xfrm>
            <a:off x="731520" y="3461004"/>
            <a:ext cx="256032" cy="256032"/>
          </a:xfrm>
          <a:prstGeom prst="roundRect">
            <a:avLst>
              <a:gd name="adj" fmla="val 17857"/>
            </a:avLst>
          </a:prstGeom>
          <a:solidFill>
            <a:srgbClr val="FFFFFF"/>
          </a:solidFill>
          <a:ln w="25400">
            <a:solidFill>
              <a:srgbClr val="0E7C86"/>
            </a:solidFill>
            <a:prstDash val="solid"/>
          </a:ln>
        </p:spPr>
      </p:sp>
      <p:sp>
        <p:nvSpPr>
          <p:cNvPr id="20" name="Text 18"/>
          <p:cNvSpPr txBox="1"/>
          <p:nvPr/>
        </p:nvSpPr>
        <p:spPr>
          <a:xfrm>
            <a:off x="1143000" y="3383280"/>
            <a:ext cx="4251960" cy="411480"/>
          </a:xfrm>
          <a:prstGeom prst="rect">
            <a:avLst/>
          </a:prstGeom>
          <a:noFill/>
          <a:ln/>
        </p:spPr>
        <p:txBody>
          <a:bodyPr wrap="square" lIns="0" tIns="0" rIns="0" bIns="0" rtlCol="0" anchor="ctr"/>
          <a:lstStyle/>
          <a:p>
            <a:pPr marL="0" indent="0">
              <a:buNone/>
            </a:pPr>
            <a:r>
              <a:rPr lang="en-US" dirty="0">
                <a:solidFill>
                  <a:srgbClr val="0A3D4A"/>
                </a:solidFill>
              </a:rPr>
              <a:t>use different sentence structures?</a:t>
            </a:r>
            <a:endParaRPr lang="en-US" dirty="0"/>
          </a:p>
        </p:txBody>
      </p:sp>
      <p:sp>
        <p:nvSpPr>
          <p:cNvPr id="21" name="Shape 19"/>
          <p:cNvSpPr/>
          <p:nvPr/>
        </p:nvSpPr>
        <p:spPr>
          <a:xfrm>
            <a:off x="731520" y="3872484"/>
            <a:ext cx="256032" cy="256032"/>
          </a:xfrm>
          <a:prstGeom prst="roundRect">
            <a:avLst>
              <a:gd name="adj" fmla="val 17857"/>
            </a:avLst>
          </a:prstGeom>
          <a:solidFill>
            <a:srgbClr val="FFFFFF"/>
          </a:solidFill>
          <a:ln w="25400">
            <a:solidFill>
              <a:srgbClr val="0E7C86"/>
            </a:solidFill>
            <a:prstDash val="solid"/>
          </a:ln>
        </p:spPr>
      </p:sp>
      <p:sp>
        <p:nvSpPr>
          <p:cNvPr id="22" name="Text 20"/>
          <p:cNvSpPr txBox="1"/>
          <p:nvPr/>
        </p:nvSpPr>
        <p:spPr>
          <a:xfrm>
            <a:off x="1143000" y="3794760"/>
            <a:ext cx="4251960" cy="411480"/>
          </a:xfrm>
          <a:prstGeom prst="rect">
            <a:avLst/>
          </a:prstGeom>
          <a:noFill/>
          <a:ln/>
        </p:spPr>
        <p:txBody>
          <a:bodyPr wrap="square" lIns="0" tIns="0" rIns="0" bIns="0" rtlCol="0" anchor="ctr"/>
          <a:lstStyle/>
          <a:p>
            <a:pPr marL="0" indent="0">
              <a:buNone/>
            </a:pPr>
            <a:r>
              <a:rPr lang="en-US" dirty="0">
                <a:solidFill>
                  <a:srgbClr val="0A3D4A"/>
                </a:solidFill>
              </a:rPr>
              <a:t>use accurate punctuation?</a:t>
            </a:r>
            <a:endParaRPr lang="en-US" dirty="0"/>
          </a:p>
        </p:txBody>
      </p:sp>
      <p:sp>
        <p:nvSpPr>
          <p:cNvPr id="23" name="Shape 21"/>
          <p:cNvSpPr/>
          <p:nvPr/>
        </p:nvSpPr>
        <p:spPr>
          <a:xfrm>
            <a:off x="731520" y="4283964"/>
            <a:ext cx="256032" cy="256032"/>
          </a:xfrm>
          <a:prstGeom prst="roundRect">
            <a:avLst>
              <a:gd name="adj" fmla="val 17857"/>
            </a:avLst>
          </a:prstGeom>
          <a:solidFill>
            <a:srgbClr val="FFFFFF"/>
          </a:solidFill>
          <a:ln w="25400">
            <a:solidFill>
              <a:srgbClr val="0E7C86"/>
            </a:solidFill>
            <a:prstDash val="solid"/>
          </a:ln>
        </p:spPr>
      </p:sp>
      <p:sp>
        <p:nvSpPr>
          <p:cNvPr id="24" name="Text 22"/>
          <p:cNvSpPr txBox="1"/>
          <p:nvPr/>
        </p:nvSpPr>
        <p:spPr>
          <a:xfrm>
            <a:off x="1143000" y="4206240"/>
            <a:ext cx="4251960" cy="411480"/>
          </a:xfrm>
          <a:prstGeom prst="rect">
            <a:avLst/>
          </a:prstGeom>
          <a:noFill/>
          <a:ln/>
        </p:spPr>
        <p:txBody>
          <a:bodyPr wrap="square" lIns="0" tIns="0" rIns="0" bIns="0" rtlCol="0" anchor="ctr"/>
          <a:lstStyle/>
          <a:p>
            <a:pPr marL="0" indent="0">
              <a:buNone/>
            </a:pPr>
            <a:r>
              <a:rPr lang="en-US" dirty="0">
                <a:solidFill>
                  <a:srgbClr val="0A3D4A"/>
                </a:solidFill>
              </a:rPr>
              <a:t>avoid simply listing facts?</a:t>
            </a:r>
            <a:endParaRPr lang="en-US" dirty="0"/>
          </a:p>
        </p:txBody>
      </p:sp>
      <p:sp>
        <p:nvSpPr>
          <p:cNvPr id="25" name="Shape 23"/>
          <p:cNvSpPr/>
          <p:nvPr/>
        </p:nvSpPr>
        <p:spPr>
          <a:xfrm>
            <a:off x="5760720" y="1234440"/>
            <a:ext cx="2926080" cy="1645920"/>
          </a:xfrm>
          <a:prstGeom prst="roundRect">
            <a:avLst>
              <a:gd name="adj" fmla="val 8333"/>
            </a:avLst>
          </a:prstGeom>
          <a:solidFill>
            <a:srgbClr val="2BB673"/>
          </a:solidFill>
          <a:ln/>
          <a:effectLst>
            <a:outerShdw blurRad="76200" dist="25400" dir="5400000" algn="bl" rotWithShape="0">
              <a:srgbClr val="000000">
                <a:alpha val="15000"/>
              </a:srgbClr>
            </a:outerShdw>
          </a:effectLst>
        </p:spPr>
      </p:sp>
      <p:sp>
        <p:nvSpPr>
          <p:cNvPr id="26" name="Text 24"/>
          <p:cNvSpPr txBox="1"/>
          <p:nvPr/>
        </p:nvSpPr>
        <p:spPr>
          <a:xfrm>
            <a:off x="5760720" y="1463040"/>
            <a:ext cx="2926080" cy="548640"/>
          </a:xfrm>
          <a:prstGeom prst="rect">
            <a:avLst/>
          </a:prstGeom>
          <a:noFill/>
          <a:ln/>
        </p:spPr>
        <p:txBody>
          <a:bodyPr wrap="square" lIns="0" tIns="0" rIns="0" bIns="0" rtlCol="0" anchor="t"/>
          <a:lstStyle/>
          <a:p>
            <a:pPr marL="0" indent="0" algn="ctr">
              <a:buNone/>
            </a:pPr>
            <a:r>
              <a:rPr lang="en-US" sz="3000" dirty="0">
                <a:solidFill>
                  <a:srgbClr val="0A3D4A"/>
                </a:solidFill>
              </a:rPr>
              <a:t>⭐</a:t>
            </a:r>
            <a:endParaRPr lang="en-US" sz="3000" dirty="0"/>
          </a:p>
        </p:txBody>
      </p:sp>
      <p:sp>
        <p:nvSpPr>
          <p:cNvPr id="27" name="Text 25"/>
          <p:cNvSpPr txBox="1"/>
          <p:nvPr/>
        </p:nvSpPr>
        <p:spPr>
          <a:xfrm>
            <a:off x="5852160" y="2148840"/>
            <a:ext cx="2743200" cy="548640"/>
          </a:xfrm>
          <a:prstGeom prst="rect">
            <a:avLst/>
          </a:prstGeom>
          <a:noFill/>
          <a:ln/>
        </p:spPr>
        <p:txBody>
          <a:bodyPr wrap="square" lIns="0" tIns="0" rIns="0" bIns="0" rtlCol="0" anchor="t"/>
          <a:lstStyle/>
          <a:p>
            <a:pPr marL="0" indent="0" algn="ctr">
              <a:buNone/>
            </a:pPr>
            <a:r>
              <a:rPr lang="en-US" sz="2000" b="1" dirty="0">
                <a:solidFill>
                  <a:srgbClr val="FFFFFF"/>
                </a:solidFill>
              </a:rPr>
              <a:t>Give one strength</a:t>
            </a:r>
            <a:endParaRPr lang="en-US" sz="2000" dirty="0"/>
          </a:p>
        </p:txBody>
      </p:sp>
      <p:sp>
        <p:nvSpPr>
          <p:cNvPr id="28" name="Shape 26"/>
          <p:cNvSpPr/>
          <p:nvPr/>
        </p:nvSpPr>
        <p:spPr>
          <a:xfrm>
            <a:off x="5760720" y="3063240"/>
            <a:ext cx="2926080" cy="1645920"/>
          </a:xfrm>
          <a:prstGeom prst="roundRect">
            <a:avLst>
              <a:gd name="adj" fmla="val 8333"/>
            </a:avLst>
          </a:prstGeom>
          <a:solidFill>
            <a:srgbClr val="FF6B5E"/>
          </a:solidFill>
          <a:ln/>
          <a:effectLst>
            <a:outerShdw blurRad="76200" dist="25400" dir="5400000" algn="bl" rotWithShape="0">
              <a:srgbClr val="000000">
                <a:alpha val="15000"/>
              </a:srgbClr>
            </a:outerShdw>
          </a:effectLst>
        </p:spPr>
      </p:sp>
      <p:sp>
        <p:nvSpPr>
          <p:cNvPr id="29" name="Text 27"/>
          <p:cNvSpPr txBox="1"/>
          <p:nvPr/>
        </p:nvSpPr>
        <p:spPr>
          <a:xfrm>
            <a:off x="5760720" y="3291840"/>
            <a:ext cx="2926080" cy="548640"/>
          </a:xfrm>
          <a:prstGeom prst="rect">
            <a:avLst/>
          </a:prstGeom>
          <a:noFill/>
          <a:ln/>
        </p:spPr>
        <p:txBody>
          <a:bodyPr wrap="square" lIns="0" tIns="0" rIns="0" bIns="0" rtlCol="0" anchor="t"/>
          <a:lstStyle/>
          <a:p>
            <a:pPr marL="0" indent="0" algn="ctr">
              <a:buNone/>
            </a:pPr>
            <a:r>
              <a:rPr lang="en-US" sz="3000" dirty="0">
                <a:solidFill>
                  <a:srgbClr val="0A3D4A"/>
                </a:solidFill>
              </a:rPr>
              <a:t>💡</a:t>
            </a:r>
            <a:endParaRPr lang="en-US" sz="3000" dirty="0"/>
          </a:p>
        </p:txBody>
      </p:sp>
      <p:sp>
        <p:nvSpPr>
          <p:cNvPr id="30" name="Text 28"/>
          <p:cNvSpPr txBox="1"/>
          <p:nvPr/>
        </p:nvSpPr>
        <p:spPr>
          <a:xfrm>
            <a:off x="5852160" y="3977640"/>
            <a:ext cx="2743200" cy="548640"/>
          </a:xfrm>
          <a:prstGeom prst="rect">
            <a:avLst/>
          </a:prstGeom>
          <a:noFill/>
          <a:ln/>
        </p:spPr>
        <p:txBody>
          <a:bodyPr wrap="square" lIns="0" tIns="0" rIns="0" bIns="0" rtlCol="0" anchor="t"/>
          <a:lstStyle/>
          <a:p>
            <a:pPr marL="0" indent="0" algn="ctr">
              <a:buNone/>
            </a:pPr>
            <a:r>
              <a:rPr lang="en-US" sz="2000" b="1" dirty="0">
                <a:solidFill>
                  <a:srgbClr val="FFFFFF"/>
                </a:solidFill>
              </a:rPr>
              <a:t>Give one improvement</a:t>
            </a:r>
            <a:endParaRPr lang="en-US" sz="2000" dirty="0"/>
          </a:p>
        </p:txBody>
      </p:sp>
      <p:sp>
        <p:nvSpPr>
          <p:cNvPr id="31"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0E7C86"/>
                </a:solidFill>
              </a:defRPr>
            </a:lvl1pPr>
          </a:lstStyle>
          <a:p>
            <a:pPr algn="l"/>
            <a:fld id="{F7021451-1387-4CA6-816F-3879F97B5CBC}" type="slidenum">
              <a:rPr lang="en-US" b="0"/>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7589520" y="-914400"/>
            <a:ext cx="2377440" cy="2377440"/>
          </a:xfrm>
          <a:prstGeom prst="ellipse">
            <a:avLst/>
          </a:prstGeom>
          <a:solidFill>
            <a:srgbClr val="CDEFF1">
              <a:alpha val="80000"/>
            </a:srgbClr>
          </a:solidFill>
          <a:ln/>
        </p:spPr>
      </p:sp>
      <p:sp>
        <p:nvSpPr>
          <p:cNvPr id="3" name="Shape 1"/>
          <p:cNvSpPr/>
          <p:nvPr/>
        </p:nvSpPr>
        <p:spPr>
          <a:xfrm>
            <a:off x="-548640" y="4297680"/>
            <a:ext cx="1463040" cy="1463040"/>
          </a:xfrm>
          <a:prstGeom prst="ellipse">
            <a:avLst/>
          </a:prstGeom>
          <a:solidFill>
            <a:srgbClr val="CDEFF1">
              <a:alpha val="70000"/>
            </a:srgbClr>
          </a:solidFill>
          <a:ln/>
        </p:spPr>
      </p:sp>
      <p:sp>
        <p:nvSpPr>
          <p:cNvPr id="5" name="Text 3"/>
          <p:cNvSpPr txBox="1"/>
          <p:nvPr/>
        </p:nvSpPr>
        <p:spPr>
          <a:xfrm>
            <a:off x="1783080" y="22065"/>
            <a:ext cx="658368" cy="658368"/>
          </a:xfrm>
          <a:prstGeom prst="rect">
            <a:avLst/>
          </a:prstGeom>
          <a:noFill/>
          <a:ln/>
        </p:spPr>
        <p:txBody>
          <a:bodyPr wrap="square" lIns="0" tIns="0" rIns="0" bIns="0" rtlCol="0" anchor="ctr"/>
          <a:lstStyle/>
          <a:p>
            <a:pPr marL="0" indent="0" algn="ctr">
              <a:buNone/>
            </a:pPr>
            <a:r>
              <a:rPr lang="en-US" sz="2200" b="1" dirty="0">
                <a:solidFill>
                  <a:srgbClr val="FFFFFF"/>
                </a:solidFill>
              </a:rPr>
              <a:t>🔧</a:t>
            </a:r>
            <a:endParaRPr lang="en-US" sz="2200" dirty="0"/>
          </a:p>
        </p:txBody>
      </p:sp>
      <p:sp>
        <p:nvSpPr>
          <p:cNvPr id="6" name="Text 0"/>
          <p:cNvSpPr>
            <a:spLocks noGrp="1"/>
          </p:cNvSpPr>
          <p:nvPr>
            <p:ph type="title" idx="100" hasCustomPrompt="1"/>
          </p:nvPr>
        </p:nvSpPr>
        <p:spPr>
          <a:xfrm>
            <a:off x="1213900" y="-17426"/>
            <a:ext cx="7315200" cy="685800"/>
          </a:xfrm>
          <a:prstGeom prst="rect">
            <a:avLst/>
          </a:prstGeom>
          <a:noFill/>
          <a:ln/>
        </p:spPr>
        <p:txBody>
          <a:bodyPr wrap="square" rtlCol="0" anchor="ctr"/>
          <a:lstStyle/>
          <a:p>
            <a:pPr marL="0" indent="0">
              <a:buNone/>
            </a:pPr>
            <a:r>
              <a:rPr lang="en-US" sz="2600" b="1" dirty="0">
                <a:solidFill>
                  <a:srgbClr val="0A3D4A"/>
                </a:solidFill>
              </a:rPr>
              <a:t>MAKE YOUR WRITING STRONGER</a:t>
            </a:r>
            <a:endParaRPr lang="en-US" sz="2600" dirty="0"/>
          </a:p>
        </p:txBody>
      </p:sp>
      <p:sp>
        <p:nvSpPr>
          <p:cNvPr id="7" name="Text 5"/>
          <p:cNvSpPr txBox="1"/>
          <p:nvPr/>
        </p:nvSpPr>
        <p:spPr>
          <a:xfrm>
            <a:off x="457200" y="680433"/>
            <a:ext cx="8229600" cy="365760"/>
          </a:xfrm>
          <a:prstGeom prst="rect">
            <a:avLst/>
          </a:prstGeom>
          <a:noFill/>
          <a:ln/>
        </p:spPr>
        <p:txBody>
          <a:bodyPr wrap="square" lIns="0" tIns="0" rIns="0" bIns="0" rtlCol="0" anchor="t"/>
          <a:lstStyle/>
          <a:p>
            <a:pPr marL="0" indent="0">
              <a:buNone/>
            </a:pPr>
            <a:r>
              <a:rPr lang="en-US" sz="1500" dirty="0">
                <a:solidFill>
                  <a:srgbClr val="0A3D4A"/>
                </a:solidFill>
              </a:rPr>
              <a:t>Read your paragraph again.</a:t>
            </a:r>
          </a:p>
          <a:p>
            <a:pPr marL="0" indent="0">
              <a:buNone/>
            </a:pPr>
            <a:r>
              <a:rPr lang="en-US" sz="1500" dirty="0">
                <a:solidFill>
                  <a:srgbClr val="0A3D4A"/>
                </a:solidFill>
              </a:rPr>
              <a:t> </a:t>
            </a:r>
          </a:p>
          <a:p>
            <a:pPr marL="0" indent="0">
              <a:buNone/>
            </a:pPr>
            <a:r>
              <a:rPr lang="en-US" sz="1500" dirty="0">
                <a:solidFill>
                  <a:srgbClr val="0A3D4A"/>
                </a:solidFill>
              </a:rPr>
              <a:t>Ask: </a:t>
            </a:r>
            <a:r>
              <a:rPr lang="en-US" sz="1500" b="1" dirty="0">
                <a:solidFill>
                  <a:srgbClr val="0A3D4A"/>
                </a:solidFill>
              </a:rPr>
              <a:t>Can I...</a:t>
            </a:r>
            <a:endParaRPr lang="en-US" sz="1500" dirty="0"/>
          </a:p>
        </p:txBody>
      </p:sp>
      <p:sp>
        <p:nvSpPr>
          <p:cNvPr id="8" name="Shape 6"/>
          <p:cNvSpPr/>
          <p:nvPr/>
        </p:nvSpPr>
        <p:spPr>
          <a:xfrm>
            <a:off x="457200" y="1371600"/>
            <a:ext cx="2651760" cy="1005840"/>
          </a:xfrm>
          <a:prstGeom prst="roundRect">
            <a:avLst>
              <a:gd name="adj" fmla="val 13636"/>
            </a:avLst>
          </a:prstGeom>
          <a:solidFill>
            <a:srgbClr val="FFFFFF"/>
          </a:solidFill>
          <a:ln/>
          <a:effectLst>
            <a:outerShdw blurRad="76200" dist="25400" dir="5400000" algn="bl" rotWithShape="0">
              <a:srgbClr val="000000">
                <a:alpha val="15000"/>
              </a:srgbClr>
            </a:outerShdw>
          </a:effectLst>
        </p:spPr>
      </p:sp>
      <p:sp>
        <p:nvSpPr>
          <p:cNvPr id="9" name="Text 7"/>
          <p:cNvSpPr txBox="1"/>
          <p:nvPr/>
        </p:nvSpPr>
        <p:spPr>
          <a:xfrm>
            <a:off x="548640" y="1371600"/>
            <a:ext cx="2468880" cy="1005840"/>
          </a:xfrm>
          <a:prstGeom prst="rect">
            <a:avLst/>
          </a:prstGeom>
          <a:noFill/>
          <a:ln/>
        </p:spPr>
        <p:txBody>
          <a:bodyPr wrap="square" lIns="0" tIns="0" rIns="0" bIns="0" rtlCol="0" anchor="ctr"/>
          <a:lstStyle/>
          <a:p>
            <a:pPr marL="0" indent="0" algn="ctr">
              <a:buNone/>
            </a:pPr>
            <a:r>
              <a:rPr lang="en-US" sz="1600" b="1" dirty="0">
                <a:solidFill>
                  <a:srgbClr val="0A3D4A"/>
                </a:solidFill>
              </a:rPr>
              <a:t>add an explanation?</a:t>
            </a:r>
            <a:endParaRPr lang="en-US" sz="1600" dirty="0"/>
          </a:p>
        </p:txBody>
      </p:sp>
      <p:sp>
        <p:nvSpPr>
          <p:cNvPr id="10" name="Shape 8"/>
          <p:cNvSpPr/>
          <p:nvPr/>
        </p:nvSpPr>
        <p:spPr>
          <a:xfrm>
            <a:off x="3246120" y="1371600"/>
            <a:ext cx="2651760" cy="1005840"/>
          </a:xfrm>
          <a:prstGeom prst="roundRect">
            <a:avLst>
              <a:gd name="adj" fmla="val 13636"/>
            </a:avLst>
          </a:prstGeom>
          <a:solidFill>
            <a:srgbClr val="FFFFFF"/>
          </a:solidFill>
          <a:ln/>
          <a:effectLst>
            <a:outerShdw blurRad="76200" dist="25400" dir="5400000" algn="bl" rotWithShape="0">
              <a:srgbClr val="000000">
                <a:alpha val="15000"/>
              </a:srgbClr>
            </a:outerShdw>
          </a:effectLst>
        </p:spPr>
      </p:sp>
      <p:sp>
        <p:nvSpPr>
          <p:cNvPr id="11" name="Text 9"/>
          <p:cNvSpPr txBox="1"/>
          <p:nvPr/>
        </p:nvSpPr>
        <p:spPr>
          <a:xfrm>
            <a:off x="3337560" y="1371600"/>
            <a:ext cx="2468880" cy="1005840"/>
          </a:xfrm>
          <a:prstGeom prst="rect">
            <a:avLst/>
          </a:prstGeom>
          <a:noFill/>
          <a:ln/>
        </p:spPr>
        <p:txBody>
          <a:bodyPr wrap="square" lIns="0" tIns="0" rIns="0" bIns="0" rtlCol="0" anchor="ctr"/>
          <a:lstStyle/>
          <a:p>
            <a:pPr marL="0" indent="0" algn="ctr">
              <a:buNone/>
            </a:pPr>
            <a:r>
              <a:rPr lang="en-US" sz="1600" b="1" dirty="0">
                <a:solidFill>
                  <a:srgbClr val="0A3D4A"/>
                </a:solidFill>
              </a:rPr>
              <a:t>add a consequence?</a:t>
            </a:r>
            <a:endParaRPr lang="en-US" sz="1600" dirty="0"/>
          </a:p>
        </p:txBody>
      </p:sp>
      <p:sp>
        <p:nvSpPr>
          <p:cNvPr id="12" name="Shape 10"/>
          <p:cNvSpPr/>
          <p:nvPr/>
        </p:nvSpPr>
        <p:spPr>
          <a:xfrm>
            <a:off x="6035040" y="1371600"/>
            <a:ext cx="2651760" cy="1005840"/>
          </a:xfrm>
          <a:prstGeom prst="roundRect">
            <a:avLst>
              <a:gd name="adj" fmla="val 13636"/>
            </a:avLst>
          </a:prstGeom>
          <a:solidFill>
            <a:srgbClr val="FFFFFF"/>
          </a:solidFill>
          <a:ln/>
          <a:effectLst>
            <a:outerShdw blurRad="76200" dist="25400" dir="5400000" algn="bl" rotWithShape="0">
              <a:srgbClr val="000000">
                <a:alpha val="15000"/>
              </a:srgbClr>
            </a:outerShdw>
          </a:effectLst>
        </p:spPr>
      </p:sp>
      <p:sp>
        <p:nvSpPr>
          <p:cNvPr id="13" name="Text 11"/>
          <p:cNvSpPr txBox="1"/>
          <p:nvPr/>
        </p:nvSpPr>
        <p:spPr>
          <a:xfrm>
            <a:off x="6126480" y="1371600"/>
            <a:ext cx="2468880" cy="1005840"/>
          </a:xfrm>
          <a:prstGeom prst="rect">
            <a:avLst/>
          </a:prstGeom>
          <a:noFill/>
          <a:ln/>
        </p:spPr>
        <p:txBody>
          <a:bodyPr wrap="square" lIns="0" tIns="0" rIns="0" bIns="0" rtlCol="0" anchor="ctr"/>
          <a:lstStyle/>
          <a:p>
            <a:pPr marL="0" indent="0" algn="ctr">
              <a:buNone/>
            </a:pPr>
            <a:r>
              <a:rPr lang="en-US" sz="1600" b="1" dirty="0">
                <a:solidFill>
                  <a:srgbClr val="0A3D4A"/>
                </a:solidFill>
              </a:rPr>
              <a:t>connect two ideas?</a:t>
            </a:r>
            <a:endParaRPr lang="en-US" sz="1600" dirty="0"/>
          </a:p>
        </p:txBody>
      </p:sp>
      <p:sp>
        <p:nvSpPr>
          <p:cNvPr id="14" name="Shape 12"/>
          <p:cNvSpPr/>
          <p:nvPr/>
        </p:nvSpPr>
        <p:spPr>
          <a:xfrm>
            <a:off x="457200" y="2514600"/>
            <a:ext cx="2651760" cy="1005840"/>
          </a:xfrm>
          <a:prstGeom prst="roundRect">
            <a:avLst>
              <a:gd name="adj" fmla="val 13636"/>
            </a:avLst>
          </a:prstGeom>
          <a:solidFill>
            <a:srgbClr val="FFFFFF"/>
          </a:solidFill>
          <a:ln/>
          <a:effectLst>
            <a:outerShdw blurRad="76200" dist="25400" dir="5400000" algn="bl" rotWithShape="0">
              <a:srgbClr val="000000">
                <a:alpha val="15000"/>
              </a:srgbClr>
            </a:outerShdw>
          </a:effectLst>
        </p:spPr>
      </p:sp>
      <p:sp>
        <p:nvSpPr>
          <p:cNvPr id="15" name="Text 13"/>
          <p:cNvSpPr txBox="1"/>
          <p:nvPr/>
        </p:nvSpPr>
        <p:spPr>
          <a:xfrm>
            <a:off x="548640" y="2514600"/>
            <a:ext cx="2468880" cy="1005840"/>
          </a:xfrm>
          <a:prstGeom prst="rect">
            <a:avLst/>
          </a:prstGeom>
          <a:noFill/>
          <a:ln/>
        </p:spPr>
        <p:txBody>
          <a:bodyPr wrap="square" lIns="0" tIns="0" rIns="0" bIns="0" rtlCol="0" anchor="ctr"/>
          <a:lstStyle/>
          <a:p>
            <a:pPr marL="0" indent="0" algn="ctr">
              <a:buNone/>
            </a:pPr>
            <a:r>
              <a:rPr lang="en-US" sz="1600" b="1" dirty="0">
                <a:solidFill>
                  <a:srgbClr val="0A3D4A"/>
                </a:solidFill>
              </a:rPr>
              <a:t>replace a repeated word?</a:t>
            </a:r>
            <a:endParaRPr lang="en-US" sz="1600" dirty="0"/>
          </a:p>
        </p:txBody>
      </p:sp>
      <p:sp>
        <p:nvSpPr>
          <p:cNvPr id="16" name="Shape 14"/>
          <p:cNvSpPr/>
          <p:nvPr/>
        </p:nvSpPr>
        <p:spPr>
          <a:xfrm>
            <a:off x="3246120" y="2514600"/>
            <a:ext cx="2651760" cy="1005840"/>
          </a:xfrm>
          <a:prstGeom prst="roundRect">
            <a:avLst>
              <a:gd name="adj" fmla="val 13636"/>
            </a:avLst>
          </a:prstGeom>
          <a:solidFill>
            <a:srgbClr val="FFFFFF"/>
          </a:solidFill>
          <a:ln/>
          <a:effectLst>
            <a:outerShdw blurRad="76200" dist="25400" dir="5400000" algn="bl" rotWithShape="0">
              <a:srgbClr val="000000">
                <a:alpha val="15000"/>
              </a:srgbClr>
            </a:outerShdw>
          </a:effectLst>
        </p:spPr>
      </p:sp>
      <p:sp>
        <p:nvSpPr>
          <p:cNvPr id="17" name="Text 15"/>
          <p:cNvSpPr txBox="1"/>
          <p:nvPr/>
        </p:nvSpPr>
        <p:spPr>
          <a:xfrm>
            <a:off x="3337560" y="2514600"/>
            <a:ext cx="2468880" cy="1005840"/>
          </a:xfrm>
          <a:prstGeom prst="rect">
            <a:avLst/>
          </a:prstGeom>
          <a:noFill/>
          <a:ln/>
        </p:spPr>
        <p:txBody>
          <a:bodyPr wrap="square" lIns="0" tIns="0" rIns="0" bIns="0" rtlCol="0" anchor="ctr"/>
          <a:lstStyle/>
          <a:p>
            <a:pPr marL="0" indent="0" algn="ctr">
              <a:buNone/>
            </a:pPr>
            <a:r>
              <a:rPr lang="en-US" sz="1600" b="1" dirty="0">
                <a:solidFill>
                  <a:srgbClr val="0A3D4A"/>
                </a:solidFill>
              </a:rPr>
              <a:t>add a useful relative clause?</a:t>
            </a:r>
            <a:endParaRPr lang="en-US" sz="1600" dirty="0"/>
          </a:p>
        </p:txBody>
      </p:sp>
      <p:sp>
        <p:nvSpPr>
          <p:cNvPr id="18" name="Shape 16"/>
          <p:cNvSpPr/>
          <p:nvPr/>
        </p:nvSpPr>
        <p:spPr>
          <a:xfrm>
            <a:off x="6035040" y="2514600"/>
            <a:ext cx="2651760" cy="1005840"/>
          </a:xfrm>
          <a:prstGeom prst="roundRect">
            <a:avLst>
              <a:gd name="adj" fmla="val 13636"/>
            </a:avLst>
          </a:prstGeom>
          <a:solidFill>
            <a:srgbClr val="FFFFFF"/>
          </a:solidFill>
          <a:ln/>
          <a:effectLst>
            <a:outerShdw blurRad="76200" dist="25400" dir="5400000" algn="bl" rotWithShape="0">
              <a:srgbClr val="000000">
                <a:alpha val="15000"/>
              </a:srgbClr>
            </a:outerShdw>
          </a:effectLst>
        </p:spPr>
      </p:sp>
      <p:sp>
        <p:nvSpPr>
          <p:cNvPr id="19" name="Text 17"/>
          <p:cNvSpPr txBox="1"/>
          <p:nvPr/>
        </p:nvSpPr>
        <p:spPr>
          <a:xfrm>
            <a:off x="6126480" y="2514600"/>
            <a:ext cx="2468880" cy="1005840"/>
          </a:xfrm>
          <a:prstGeom prst="rect">
            <a:avLst/>
          </a:prstGeom>
          <a:noFill/>
          <a:ln/>
        </p:spPr>
        <p:txBody>
          <a:bodyPr wrap="square" lIns="0" tIns="0" rIns="0" bIns="0" rtlCol="0" anchor="ctr"/>
          <a:lstStyle/>
          <a:p>
            <a:pPr marL="0" indent="0" algn="ctr">
              <a:buNone/>
            </a:pPr>
            <a:r>
              <a:rPr lang="en-US" sz="1600" b="1" dirty="0">
                <a:solidFill>
                  <a:srgbClr val="0A3D4A"/>
                </a:solidFill>
              </a:rPr>
              <a:t>combine two short sentences?</a:t>
            </a:r>
            <a:endParaRPr lang="en-US" sz="1600" dirty="0"/>
          </a:p>
        </p:txBody>
      </p:sp>
      <p:sp>
        <p:nvSpPr>
          <p:cNvPr id="20" name="Shape 18"/>
          <p:cNvSpPr/>
          <p:nvPr/>
        </p:nvSpPr>
        <p:spPr>
          <a:xfrm>
            <a:off x="457200" y="3840480"/>
            <a:ext cx="8229600" cy="594360"/>
          </a:xfrm>
          <a:prstGeom prst="roundRect">
            <a:avLst>
              <a:gd name="adj" fmla="val 23077"/>
            </a:avLst>
          </a:prstGeom>
          <a:solidFill>
            <a:srgbClr val="0A3D4A"/>
          </a:solidFill>
          <a:ln/>
          <a:effectLst>
            <a:outerShdw blurRad="76200" dist="25400" dir="5400000" algn="bl" rotWithShape="0">
              <a:srgbClr val="000000">
                <a:alpha val="15000"/>
              </a:srgbClr>
            </a:outerShdw>
          </a:effectLst>
        </p:spPr>
      </p:sp>
      <p:sp>
        <p:nvSpPr>
          <p:cNvPr id="21" name="Text 19"/>
          <p:cNvSpPr txBox="1"/>
          <p:nvPr/>
        </p:nvSpPr>
        <p:spPr>
          <a:xfrm>
            <a:off x="731520" y="3840480"/>
            <a:ext cx="7680960" cy="594360"/>
          </a:xfrm>
          <a:prstGeom prst="rect">
            <a:avLst/>
          </a:prstGeom>
          <a:noFill/>
          <a:ln/>
        </p:spPr>
        <p:txBody>
          <a:bodyPr wrap="square" lIns="0" tIns="0" rIns="0" bIns="0" rtlCol="0" anchor="ctr"/>
          <a:lstStyle/>
          <a:p>
            <a:pPr marL="0" indent="0">
              <a:buNone/>
            </a:pPr>
            <a:r>
              <a:rPr lang="en-US" sz="2000" b="1" dirty="0">
                <a:solidFill>
                  <a:srgbClr val="FFC857"/>
                </a:solidFill>
              </a:rPr>
              <a:t>Remember: </a:t>
            </a:r>
            <a:r>
              <a:rPr lang="en-US" sz="2000" b="1" dirty="0">
                <a:solidFill>
                  <a:srgbClr val="FFFFFF"/>
                </a:solidFill>
              </a:rPr>
              <a:t>Good writers revise.</a:t>
            </a:r>
            <a:endParaRPr lang="en-US" sz="20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0E7C86"/>
                </a:solidFill>
              </a:defRPr>
            </a:lvl1pPr>
          </a:lstStyle>
          <a:p>
            <a:pPr algn="l"/>
            <a:fld id="{F7021451-1387-4CA6-816F-3879F97B5CBC}" type="slidenum">
              <a:rPr lang="en-US" b="0"/>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hape 0"/>
          <p:cNvSpPr/>
          <p:nvPr/>
        </p:nvSpPr>
        <p:spPr>
          <a:xfrm>
            <a:off x="7589520" y="-914400"/>
            <a:ext cx="2377440" cy="2377440"/>
          </a:xfrm>
          <a:prstGeom prst="ellipse">
            <a:avLst/>
          </a:prstGeom>
          <a:solidFill>
            <a:srgbClr val="CDEFF1">
              <a:alpha val="80000"/>
            </a:srgbClr>
          </a:solidFill>
          <a:ln/>
        </p:spPr>
      </p:sp>
      <p:sp>
        <p:nvSpPr>
          <p:cNvPr id="3" name="Shape 1"/>
          <p:cNvSpPr/>
          <p:nvPr/>
        </p:nvSpPr>
        <p:spPr>
          <a:xfrm>
            <a:off x="-548640" y="4297680"/>
            <a:ext cx="1463040" cy="1463040"/>
          </a:xfrm>
          <a:prstGeom prst="ellipse">
            <a:avLst/>
          </a:prstGeom>
          <a:solidFill>
            <a:srgbClr val="CDEFF1">
              <a:alpha val="70000"/>
            </a:srgbClr>
          </a:solidFill>
          <a:ln/>
        </p:spPr>
      </p:sp>
      <p:sp>
        <p:nvSpPr>
          <p:cNvPr id="4" name="Shape 2"/>
          <p:cNvSpPr/>
          <p:nvPr/>
        </p:nvSpPr>
        <p:spPr>
          <a:xfrm>
            <a:off x="457200" y="292608"/>
            <a:ext cx="658368" cy="658368"/>
          </a:xfrm>
          <a:prstGeom prst="ellipse">
            <a:avLst/>
          </a:prstGeom>
          <a:solidFill>
            <a:srgbClr val="FF6B5E"/>
          </a:solidFill>
          <a:ln/>
        </p:spPr>
      </p:sp>
      <p:sp>
        <p:nvSpPr>
          <p:cNvPr id="5" name="Text 3"/>
          <p:cNvSpPr txBox="1"/>
          <p:nvPr/>
        </p:nvSpPr>
        <p:spPr>
          <a:xfrm>
            <a:off x="457200" y="292608"/>
            <a:ext cx="658368" cy="658368"/>
          </a:xfrm>
          <a:prstGeom prst="rect">
            <a:avLst/>
          </a:prstGeom>
          <a:noFill/>
          <a:ln/>
        </p:spPr>
        <p:txBody>
          <a:bodyPr wrap="square" lIns="0" tIns="0" rIns="0" bIns="0" rtlCol="0" anchor="ctr"/>
          <a:lstStyle/>
          <a:p>
            <a:pPr marL="0" indent="0" algn="ctr">
              <a:buNone/>
            </a:pPr>
            <a:r>
              <a:rPr lang="en-US" sz="2200" b="1" dirty="0">
                <a:solidFill>
                  <a:srgbClr val="FFFFFF"/>
                </a:solidFill>
              </a:rPr>
              <a:t>🎫</a:t>
            </a:r>
            <a:endParaRPr lang="en-US" sz="2200" dirty="0"/>
          </a:p>
        </p:txBody>
      </p:sp>
      <p:sp>
        <p:nvSpPr>
          <p:cNvPr id="6" name="Text 0"/>
          <p:cNvSpPr>
            <a:spLocks noGrp="1"/>
          </p:cNvSpPr>
          <p:nvPr>
            <p:ph type="title" idx="100" hasCustomPrompt="1"/>
          </p:nvPr>
        </p:nvSpPr>
        <p:spPr>
          <a:xfrm>
            <a:off x="1280160" y="274320"/>
            <a:ext cx="7315200" cy="685800"/>
          </a:xfrm>
          <a:prstGeom prst="rect">
            <a:avLst/>
          </a:prstGeom>
          <a:noFill/>
          <a:ln/>
        </p:spPr>
        <p:txBody>
          <a:bodyPr wrap="square" rtlCol="0" anchor="ctr"/>
          <a:lstStyle/>
          <a:p>
            <a:pPr marL="0" indent="0">
              <a:buNone/>
            </a:pPr>
            <a:r>
              <a:rPr lang="en-US" sz="2600" b="1" dirty="0">
                <a:solidFill>
                  <a:srgbClr val="0A3D4A"/>
                </a:solidFill>
              </a:rPr>
              <a:t>EXIT TICKET</a:t>
            </a:r>
            <a:endParaRPr lang="en-US" sz="2600" dirty="0"/>
          </a:p>
        </p:txBody>
      </p:sp>
      <p:sp>
        <p:nvSpPr>
          <p:cNvPr id="7" name="Shape 5"/>
          <p:cNvSpPr/>
          <p:nvPr/>
        </p:nvSpPr>
        <p:spPr>
          <a:xfrm>
            <a:off x="457200" y="1188720"/>
            <a:ext cx="2560320" cy="3520440"/>
          </a:xfrm>
          <a:prstGeom prst="roundRect">
            <a:avLst>
              <a:gd name="adj" fmla="val 5357"/>
            </a:avLst>
          </a:prstGeom>
          <a:solidFill>
            <a:srgbClr val="FFFFFF"/>
          </a:solidFill>
          <a:ln/>
          <a:effectLst>
            <a:outerShdw blurRad="76200" dist="25400" dir="5400000" algn="bl" rotWithShape="0">
              <a:srgbClr val="000000">
                <a:alpha val="15000"/>
              </a:srgbClr>
            </a:outerShdw>
          </a:effectLst>
        </p:spPr>
      </p:sp>
      <p:sp>
        <p:nvSpPr>
          <p:cNvPr id="8" name="Shape 6"/>
          <p:cNvSpPr/>
          <p:nvPr/>
        </p:nvSpPr>
        <p:spPr>
          <a:xfrm>
            <a:off x="474958" y="1283142"/>
            <a:ext cx="457200" cy="457200"/>
          </a:xfrm>
          <a:prstGeom prst="ellipse">
            <a:avLst/>
          </a:prstGeom>
          <a:solidFill>
            <a:srgbClr val="FF6B5E"/>
          </a:solidFill>
          <a:ln/>
        </p:spPr>
        <p:txBody>
          <a:bodyPr/>
          <a:lstStyle/>
          <a:p>
            <a:endParaRPr lang="en-US" dirty="0"/>
          </a:p>
        </p:txBody>
      </p:sp>
      <p:sp>
        <p:nvSpPr>
          <p:cNvPr id="9" name="Text 7"/>
          <p:cNvSpPr txBox="1"/>
          <p:nvPr/>
        </p:nvSpPr>
        <p:spPr>
          <a:xfrm>
            <a:off x="494339" y="1284136"/>
            <a:ext cx="457200" cy="457200"/>
          </a:xfrm>
          <a:prstGeom prst="rect">
            <a:avLst/>
          </a:prstGeom>
          <a:noFill/>
          <a:ln/>
        </p:spPr>
        <p:txBody>
          <a:bodyPr wrap="square" lIns="0" tIns="0" rIns="0" bIns="0" rtlCol="0" anchor="ctr"/>
          <a:lstStyle/>
          <a:p>
            <a:pPr marL="0" indent="0" algn="ctr">
              <a:buNone/>
            </a:pPr>
            <a:r>
              <a:rPr lang="en-US" sz="1700" b="1" dirty="0">
                <a:solidFill>
                  <a:srgbClr val="FFFFFF"/>
                </a:solidFill>
              </a:rPr>
              <a:t>1</a:t>
            </a:r>
            <a:endParaRPr lang="en-US" sz="1700" dirty="0"/>
          </a:p>
        </p:txBody>
      </p:sp>
      <p:sp>
        <p:nvSpPr>
          <p:cNvPr id="10" name="Text 8"/>
          <p:cNvSpPr txBox="1"/>
          <p:nvPr/>
        </p:nvSpPr>
        <p:spPr>
          <a:xfrm>
            <a:off x="969297" y="1265583"/>
            <a:ext cx="1965960" cy="822960"/>
          </a:xfrm>
          <a:prstGeom prst="rect">
            <a:avLst/>
          </a:prstGeom>
          <a:noFill/>
          <a:ln/>
        </p:spPr>
        <p:txBody>
          <a:bodyPr wrap="square" lIns="0" tIns="0" rIns="0" bIns="0" rtlCol="0" anchor="ctr"/>
          <a:lstStyle/>
          <a:p>
            <a:pPr marL="0" indent="0">
              <a:buNone/>
            </a:pPr>
            <a:r>
              <a:rPr lang="en-US" sz="2000" b="1" dirty="0">
                <a:solidFill>
                  <a:srgbClr val="0A3D4A"/>
                </a:solidFill>
              </a:rPr>
              <a:t>What comes after a research note?</a:t>
            </a:r>
            <a:endParaRPr lang="en-US" sz="2000" dirty="0"/>
          </a:p>
        </p:txBody>
      </p:sp>
      <p:sp>
        <p:nvSpPr>
          <p:cNvPr id="11" name="Text 9"/>
          <p:cNvSpPr txBox="1"/>
          <p:nvPr/>
        </p:nvSpPr>
        <p:spPr>
          <a:xfrm>
            <a:off x="640080" y="2286000"/>
            <a:ext cx="2240280" cy="2331720"/>
          </a:xfrm>
          <a:prstGeom prst="rect">
            <a:avLst/>
          </a:prstGeom>
          <a:noFill/>
          <a:ln/>
        </p:spPr>
        <p:txBody>
          <a:bodyPr wrap="square" lIns="0" tIns="0" rIns="0" bIns="0" rtlCol="0" anchor="t"/>
          <a:lstStyle/>
          <a:p>
            <a:pPr marL="0" indent="0">
              <a:spcAft>
                <a:spcPts val="600"/>
              </a:spcAft>
              <a:buNone/>
            </a:pPr>
            <a:r>
              <a:rPr lang="en-US" dirty="0">
                <a:solidFill>
                  <a:srgbClr val="0A3D4A"/>
                </a:solidFill>
              </a:rPr>
              <a:t>A. A title only</a:t>
            </a:r>
            <a:endParaRPr lang="en-US" dirty="0"/>
          </a:p>
          <a:p>
            <a:pPr marL="0" indent="0">
              <a:spcAft>
                <a:spcPts val="600"/>
              </a:spcAft>
              <a:buNone/>
            </a:pPr>
            <a:r>
              <a:rPr lang="en-US" dirty="0">
                <a:solidFill>
                  <a:srgbClr val="0A3D4A"/>
                </a:solidFill>
              </a:rPr>
              <a:t>B. A complete sentence</a:t>
            </a:r>
            <a:endParaRPr lang="en-US" dirty="0"/>
          </a:p>
          <a:p>
            <a:pPr marL="0" indent="0">
              <a:spcAft>
                <a:spcPts val="600"/>
              </a:spcAft>
              <a:buNone/>
            </a:pPr>
            <a:r>
              <a:rPr lang="en-US" dirty="0">
                <a:solidFill>
                  <a:srgbClr val="0A3D4A"/>
                </a:solidFill>
              </a:rPr>
              <a:t>C. A photograph</a:t>
            </a:r>
            <a:endParaRPr lang="en-US" dirty="0"/>
          </a:p>
          <a:p>
            <a:pPr marL="0" indent="0">
              <a:spcAft>
                <a:spcPts val="600"/>
              </a:spcAft>
              <a:buNone/>
            </a:pPr>
            <a:r>
              <a:rPr lang="en-US" dirty="0">
                <a:solidFill>
                  <a:srgbClr val="0A3D4A"/>
                </a:solidFill>
              </a:rPr>
              <a:t>D. A question</a:t>
            </a:r>
            <a:endParaRPr lang="en-US" dirty="0"/>
          </a:p>
        </p:txBody>
      </p:sp>
      <p:sp>
        <p:nvSpPr>
          <p:cNvPr id="12" name="Shape 10"/>
          <p:cNvSpPr/>
          <p:nvPr/>
        </p:nvSpPr>
        <p:spPr>
          <a:xfrm>
            <a:off x="3124366" y="1162878"/>
            <a:ext cx="2788920" cy="3520440"/>
          </a:xfrm>
          <a:prstGeom prst="roundRect">
            <a:avLst>
              <a:gd name="adj" fmla="val 5357"/>
            </a:avLst>
          </a:prstGeom>
          <a:solidFill>
            <a:srgbClr val="FFFFFF"/>
          </a:solidFill>
          <a:ln/>
          <a:effectLst>
            <a:outerShdw blurRad="76200" dist="25400" dir="5400000" algn="bl" rotWithShape="0">
              <a:srgbClr val="000000">
                <a:alpha val="15000"/>
              </a:srgbClr>
            </a:outerShdw>
          </a:effectLst>
        </p:spPr>
      </p:sp>
      <p:sp>
        <p:nvSpPr>
          <p:cNvPr id="13" name="Shape 11"/>
          <p:cNvSpPr/>
          <p:nvPr/>
        </p:nvSpPr>
        <p:spPr>
          <a:xfrm>
            <a:off x="3147062" y="1280160"/>
            <a:ext cx="457200" cy="457200"/>
          </a:xfrm>
          <a:prstGeom prst="ellipse">
            <a:avLst/>
          </a:prstGeom>
          <a:solidFill>
            <a:srgbClr val="0E7C86"/>
          </a:solidFill>
          <a:ln/>
        </p:spPr>
        <p:txBody>
          <a:bodyPr/>
          <a:lstStyle/>
          <a:p>
            <a:endParaRPr lang="en-US" dirty="0"/>
          </a:p>
        </p:txBody>
      </p:sp>
      <p:sp>
        <p:nvSpPr>
          <p:cNvPr id="14" name="Text 12"/>
          <p:cNvSpPr txBox="1"/>
          <p:nvPr/>
        </p:nvSpPr>
        <p:spPr>
          <a:xfrm>
            <a:off x="3147390" y="1303683"/>
            <a:ext cx="457200" cy="457200"/>
          </a:xfrm>
          <a:prstGeom prst="rect">
            <a:avLst/>
          </a:prstGeom>
          <a:noFill/>
          <a:ln/>
        </p:spPr>
        <p:txBody>
          <a:bodyPr wrap="square" lIns="0" tIns="0" rIns="0" bIns="0" rtlCol="0" anchor="ctr"/>
          <a:lstStyle/>
          <a:p>
            <a:pPr marL="0" indent="0" algn="ctr">
              <a:buNone/>
            </a:pPr>
            <a:r>
              <a:rPr lang="en-US" sz="1700" b="1" dirty="0">
                <a:solidFill>
                  <a:srgbClr val="FFFFFF"/>
                </a:solidFill>
              </a:rPr>
              <a:t>2</a:t>
            </a:r>
            <a:endParaRPr lang="en-US" sz="1700" dirty="0"/>
          </a:p>
        </p:txBody>
      </p:sp>
      <p:sp>
        <p:nvSpPr>
          <p:cNvPr id="15" name="Text 13"/>
          <p:cNvSpPr txBox="1"/>
          <p:nvPr/>
        </p:nvSpPr>
        <p:spPr>
          <a:xfrm>
            <a:off x="3644018" y="1178781"/>
            <a:ext cx="2088212" cy="822960"/>
          </a:xfrm>
          <a:prstGeom prst="rect">
            <a:avLst/>
          </a:prstGeom>
          <a:noFill/>
          <a:ln/>
        </p:spPr>
        <p:txBody>
          <a:bodyPr wrap="square" lIns="0" tIns="0" rIns="0" bIns="0" rtlCol="0" anchor="ctr"/>
          <a:lstStyle/>
          <a:p>
            <a:pPr marL="0" indent="0">
              <a:buNone/>
            </a:pPr>
            <a:r>
              <a:rPr lang="en-US" b="1" dirty="0">
                <a:solidFill>
                  <a:srgbClr val="0A3D4A"/>
                </a:solidFill>
              </a:rPr>
              <a:t>Which structure helps develop information?</a:t>
            </a:r>
            <a:endParaRPr lang="en-US" dirty="0"/>
          </a:p>
        </p:txBody>
      </p:sp>
      <p:sp>
        <p:nvSpPr>
          <p:cNvPr id="16" name="Text 14"/>
          <p:cNvSpPr txBox="1"/>
          <p:nvPr/>
        </p:nvSpPr>
        <p:spPr>
          <a:xfrm>
            <a:off x="3097033" y="2266122"/>
            <a:ext cx="2971800" cy="2331720"/>
          </a:xfrm>
          <a:prstGeom prst="rect">
            <a:avLst/>
          </a:prstGeom>
          <a:noFill/>
          <a:ln/>
        </p:spPr>
        <p:txBody>
          <a:bodyPr wrap="square" lIns="0" tIns="0" rIns="0" bIns="0" rtlCol="0" anchor="t"/>
          <a:lstStyle/>
          <a:p>
            <a:pPr marL="0" indent="0">
              <a:spcAft>
                <a:spcPts val="600"/>
              </a:spcAft>
              <a:buNone/>
            </a:pPr>
            <a:r>
              <a:rPr lang="en-US" sz="1600" dirty="0">
                <a:solidFill>
                  <a:srgbClr val="0A3D4A"/>
                </a:solidFill>
              </a:rPr>
              <a:t>A. Fact → explanation → detail</a:t>
            </a:r>
            <a:endParaRPr lang="en-US" sz="1600" dirty="0"/>
          </a:p>
          <a:p>
            <a:pPr marL="0" indent="0">
              <a:spcAft>
                <a:spcPts val="600"/>
              </a:spcAft>
              <a:buNone/>
            </a:pPr>
            <a:r>
              <a:rPr lang="en-US" sz="1600" dirty="0">
                <a:solidFill>
                  <a:srgbClr val="0A3D4A"/>
                </a:solidFill>
              </a:rPr>
              <a:t>B. Title → title → title</a:t>
            </a:r>
            <a:endParaRPr lang="en-US" sz="1600" dirty="0"/>
          </a:p>
          <a:p>
            <a:pPr marL="0" indent="0">
              <a:spcAft>
                <a:spcPts val="600"/>
              </a:spcAft>
              <a:buNone/>
            </a:pPr>
            <a:r>
              <a:rPr lang="en-US" sz="1600" dirty="0">
                <a:solidFill>
                  <a:srgbClr val="0A3D4A"/>
                </a:solidFill>
              </a:rPr>
              <a:t>C. Question → question → question</a:t>
            </a:r>
            <a:endParaRPr lang="en-US" sz="1600" dirty="0"/>
          </a:p>
          <a:p>
            <a:pPr marL="0" indent="0">
              <a:spcAft>
                <a:spcPts val="600"/>
              </a:spcAft>
              <a:buNone/>
            </a:pPr>
            <a:r>
              <a:rPr lang="en-US" sz="1600" dirty="0">
                <a:solidFill>
                  <a:srgbClr val="0A3D4A"/>
                </a:solidFill>
              </a:rPr>
              <a:t>D. Ending → beginning → ending</a:t>
            </a:r>
            <a:endParaRPr lang="en-US" sz="1600" dirty="0"/>
          </a:p>
        </p:txBody>
      </p:sp>
      <p:sp>
        <p:nvSpPr>
          <p:cNvPr id="17" name="Shape 15"/>
          <p:cNvSpPr/>
          <p:nvPr/>
        </p:nvSpPr>
        <p:spPr>
          <a:xfrm>
            <a:off x="6126480" y="1188720"/>
            <a:ext cx="2560320" cy="3520440"/>
          </a:xfrm>
          <a:prstGeom prst="roundRect">
            <a:avLst>
              <a:gd name="adj" fmla="val 5357"/>
            </a:avLst>
          </a:prstGeom>
          <a:solidFill>
            <a:srgbClr val="FFFFFF"/>
          </a:solidFill>
          <a:ln/>
          <a:effectLst>
            <a:outerShdw blurRad="76200" dist="25400" dir="5400000" algn="bl" rotWithShape="0">
              <a:srgbClr val="000000">
                <a:alpha val="15000"/>
              </a:srgbClr>
            </a:outerShdw>
          </a:effectLst>
        </p:spPr>
      </p:sp>
      <p:sp>
        <p:nvSpPr>
          <p:cNvPr id="18" name="Shape 16"/>
          <p:cNvSpPr/>
          <p:nvPr/>
        </p:nvSpPr>
        <p:spPr>
          <a:xfrm>
            <a:off x="6157292" y="1294572"/>
            <a:ext cx="457200" cy="457200"/>
          </a:xfrm>
          <a:prstGeom prst="ellipse">
            <a:avLst/>
          </a:prstGeom>
          <a:solidFill>
            <a:srgbClr val="7B5EA7"/>
          </a:solidFill>
          <a:ln/>
        </p:spPr>
        <p:txBody>
          <a:bodyPr/>
          <a:lstStyle/>
          <a:p>
            <a:endParaRPr lang="en-US" dirty="0"/>
          </a:p>
        </p:txBody>
      </p:sp>
      <p:sp>
        <p:nvSpPr>
          <p:cNvPr id="19" name="Text 17"/>
          <p:cNvSpPr txBox="1"/>
          <p:nvPr/>
        </p:nvSpPr>
        <p:spPr>
          <a:xfrm>
            <a:off x="6166236" y="1305505"/>
            <a:ext cx="457200" cy="457200"/>
          </a:xfrm>
          <a:prstGeom prst="rect">
            <a:avLst/>
          </a:prstGeom>
          <a:noFill/>
          <a:ln/>
        </p:spPr>
        <p:txBody>
          <a:bodyPr wrap="square" lIns="0" tIns="0" rIns="0" bIns="0" rtlCol="0" anchor="ctr"/>
          <a:lstStyle/>
          <a:p>
            <a:pPr marL="0" indent="0" algn="ctr">
              <a:buNone/>
            </a:pPr>
            <a:r>
              <a:rPr lang="en-US" sz="1700" b="1" dirty="0">
                <a:solidFill>
                  <a:srgbClr val="FFFFFF"/>
                </a:solidFill>
              </a:rPr>
              <a:t>3</a:t>
            </a:r>
            <a:endParaRPr lang="en-US" sz="1700" dirty="0"/>
          </a:p>
        </p:txBody>
      </p:sp>
      <p:sp>
        <p:nvSpPr>
          <p:cNvPr id="20" name="Text 18"/>
          <p:cNvSpPr txBox="1"/>
          <p:nvPr/>
        </p:nvSpPr>
        <p:spPr>
          <a:xfrm>
            <a:off x="6632380" y="1280160"/>
            <a:ext cx="2074298" cy="822960"/>
          </a:xfrm>
          <a:prstGeom prst="rect">
            <a:avLst/>
          </a:prstGeom>
          <a:noFill/>
          <a:ln/>
        </p:spPr>
        <p:txBody>
          <a:bodyPr wrap="square" lIns="0" tIns="0" rIns="0" bIns="0" rtlCol="0" anchor="ctr"/>
          <a:lstStyle/>
          <a:p>
            <a:pPr marL="0" indent="0">
              <a:buNone/>
            </a:pPr>
            <a:r>
              <a:rPr lang="en-US" b="1" dirty="0">
                <a:solidFill>
                  <a:srgbClr val="0A3D4A"/>
                </a:solidFill>
              </a:rPr>
              <a:t>Which sentence contains a relative clause?</a:t>
            </a:r>
            <a:endParaRPr lang="en-US" dirty="0"/>
          </a:p>
        </p:txBody>
      </p:sp>
      <p:sp>
        <p:nvSpPr>
          <p:cNvPr id="21" name="Text 19"/>
          <p:cNvSpPr txBox="1"/>
          <p:nvPr/>
        </p:nvSpPr>
        <p:spPr>
          <a:xfrm>
            <a:off x="6241774" y="2194560"/>
            <a:ext cx="2582186" cy="2331720"/>
          </a:xfrm>
          <a:prstGeom prst="rect">
            <a:avLst/>
          </a:prstGeom>
          <a:noFill/>
          <a:ln/>
        </p:spPr>
        <p:txBody>
          <a:bodyPr wrap="square" lIns="0" tIns="0" rIns="0" bIns="0" rtlCol="0" anchor="t"/>
          <a:lstStyle/>
          <a:p>
            <a:pPr marL="0" indent="0">
              <a:spcAft>
                <a:spcPts val="600"/>
              </a:spcAft>
              <a:buNone/>
            </a:pPr>
            <a:r>
              <a:rPr lang="en-US" sz="1600" dirty="0">
                <a:solidFill>
                  <a:srgbClr val="0A3D4A"/>
                </a:solidFill>
              </a:rPr>
              <a:t>A. Sea turtles migrate.</a:t>
            </a:r>
            <a:endParaRPr lang="en-US" sz="1600" dirty="0"/>
          </a:p>
          <a:p>
            <a:pPr marL="0" indent="0">
              <a:spcAft>
                <a:spcPts val="600"/>
              </a:spcAft>
              <a:buNone/>
            </a:pPr>
            <a:r>
              <a:rPr lang="en-US" sz="1600" dirty="0">
                <a:solidFill>
                  <a:srgbClr val="0A3D4A"/>
                </a:solidFill>
              </a:rPr>
              <a:t>B. Sea turtles migrate quickly.</a:t>
            </a:r>
            <a:endParaRPr lang="en-US" sz="1600" dirty="0"/>
          </a:p>
          <a:p>
            <a:pPr marL="0" indent="0">
              <a:spcAft>
                <a:spcPts val="600"/>
              </a:spcAft>
              <a:buNone/>
            </a:pPr>
            <a:r>
              <a:rPr lang="en-US" sz="1600" dirty="0">
                <a:solidFill>
                  <a:srgbClr val="0A3D4A"/>
                </a:solidFill>
              </a:rPr>
              <a:t>C. Sea turtles, which are marine reptiles, live in oceans.</a:t>
            </a:r>
            <a:endParaRPr lang="en-US" sz="1600" dirty="0"/>
          </a:p>
          <a:p>
            <a:pPr marL="0" indent="0">
              <a:spcAft>
                <a:spcPts val="600"/>
              </a:spcAft>
              <a:buNone/>
            </a:pPr>
            <a:r>
              <a:rPr lang="en-US" sz="1600" dirty="0">
                <a:solidFill>
                  <a:srgbClr val="0A3D4A"/>
                </a:solidFill>
              </a:rPr>
              <a:t>D. Sea turtles live in oceans.</a:t>
            </a:r>
            <a:endParaRPr lang="en-US" sz="16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0E7C86"/>
                </a:solidFill>
              </a:defRPr>
            </a:lvl1pPr>
          </a:lstStyle>
          <a:p>
            <a:pPr algn="l"/>
            <a:fld id="{F7021451-1387-4CA6-816F-3879F97B5CBC}" type="slidenum">
              <a:rPr lang="en-US" b="0"/>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hape 0"/>
          <p:cNvSpPr/>
          <p:nvPr/>
        </p:nvSpPr>
        <p:spPr>
          <a:xfrm>
            <a:off x="7589520" y="-914400"/>
            <a:ext cx="2377440" cy="2377440"/>
          </a:xfrm>
          <a:prstGeom prst="ellipse">
            <a:avLst/>
          </a:prstGeom>
          <a:solidFill>
            <a:srgbClr val="CDEFF1">
              <a:alpha val="80000"/>
            </a:srgbClr>
          </a:solidFill>
          <a:ln/>
        </p:spPr>
      </p:sp>
      <p:sp>
        <p:nvSpPr>
          <p:cNvPr id="3" name="Shape 1"/>
          <p:cNvSpPr/>
          <p:nvPr/>
        </p:nvSpPr>
        <p:spPr>
          <a:xfrm>
            <a:off x="-548640" y="4297680"/>
            <a:ext cx="1463040" cy="1463040"/>
          </a:xfrm>
          <a:prstGeom prst="ellipse">
            <a:avLst/>
          </a:prstGeom>
          <a:solidFill>
            <a:srgbClr val="CDEFF1">
              <a:alpha val="70000"/>
            </a:srgbClr>
          </a:solidFill>
          <a:ln/>
        </p:spPr>
      </p:sp>
      <p:sp>
        <p:nvSpPr>
          <p:cNvPr id="4" name="Shape 2"/>
          <p:cNvSpPr/>
          <p:nvPr/>
        </p:nvSpPr>
        <p:spPr>
          <a:xfrm>
            <a:off x="457200" y="292608"/>
            <a:ext cx="658368" cy="658368"/>
          </a:xfrm>
          <a:prstGeom prst="ellipse">
            <a:avLst/>
          </a:prstGeom>
          <a:solidFill>
            <a:srgbClr val="2BB673"/>
          </a:solidFill>
          <a:ln/>
        </p:spPr>
      </p:sp>
      <p:sp>
        <p:nvSpPr>
          <p:cNvPr id="5" name="Text 3"/>
          <p:cNvSpPr txBox="1"/>
          <p:nvPr/>
        </p:nvSpPr>
        <p:spPr>
          <a:xfrm>
            <a:off x="457200" y="292608"/>
            <a:ext cx="658368" cy="658368"/>
          </a:xfrm>
          <a:prstGeom prst="rect">
            <a:avLst/>
          </a:prstGeom>
          <a:noFill/>
          <a:ln/>
        </p:spPr>
        <p:txBody>
          <a:bodyPr wrap="square" lIns="0" tIns="0" rIns="0" bIns="0" rtlCol="0" anchor="ctr"/>
          <a:lstStyle/>
          <a:p>
            <a:pPr marL="0" indent="0" algn="ctr">
              <a:buNone/>
            </a:pPr>
            <a:r>
              <a:rPr lang="en-US" sz="2200" b="1" dirty="0">
                <a:solidFill>
                  <a:srgbClr val="FFFFFF"/>
                </a:solidFill>
              </a:rPr>
              <a:t>✅</a:t>
            </a:r>
            <a:endParaRPr lang="en-US" sz="2200" dirty="0"/>
          </a:p>
        </p:txBody>
      </p:sp>
      <p:sp>
        <p:nvSpPr>
          <p:cNvPr id="6" name="Text 0"/>
          <p:cNvSpPr>
            <a:spLocks noGrp="1"/>
          </p:cNvSpPr>
          <p:nvPr>
            <p:ph type="title" idx="100" hasCustomPrompt="1"/>
          </p:nvPr>
        </p:nvSpPr>
        <p:spPr>
          <a:xfrm>
            <a:off x="1280160" y="274320"/>
            <a:ext cx="7315200" cy="685800"/>
          </a:xfrm>
          <a:prstGeom prst="rect">
            <a:avLst/>
          </a:prstGeom>
          <a:noFill/>
          <a:ln/>
        </p:spPr>
        <p:txBody>
          <a:bodyPr wrap="square" rtlCol="0" anchor="ctr"/>
          <a:lstStyle/>
          <a:p>
            <a:pPr marL="0" indent="0">
              <a:buNone/>
            </a:pPr>
            <a:r>
              <a:rPr lang="en-US" sz="2600" b="1" dirty="0">
                <a:solidFill>
                  <a:srgbClr val="0A3D4A"/>
                </a:solidFill>
              </a:rPr>
              <a:t>CHECK YOUR ANSWERS</a:t>
            </a:r>
            <a:endParaRPr lang="en-US" sz="2600" dirty="0"/>
          </a:p>
        </p:txBody>
      </p:sp>
      <p:sp>
        <p:nvSpPr>
          <p:cNvPr id="7" name="Shape 5"/>
          <p:cNvSpPr/>
          <p:nvPr/>
        </p:nvSpPr>
        <p:spPr>
          <a:xfrm>
            <a:off x="457200" y="1280160"/>
            <a:ext cx="2560320" cy="3108960"/>
          </a:xfrm>
          <a:prstGeom prst="roundRect">
            <a:avLst>
              <a:gd name="adj" fmla="val 5357"/>
            </a:avLst>
          </a:prstGeom>
          <a:solidFill>
            <a:srgbClr val="FFFFFF"/>
          </a:solidFill>
          <a:ln/>
          <a:effectLst>
            <a:outerShdw blurRad="76200" dist="25400" dir="5400000" algn="bl" rotWithShape="0">
              <a:srgbClr val="000000">
                <a:alpha val="15000"/>
              </a:srgbClr>
            </a:outerShdw>
          </a:effectLst>
        </p:spPr>
      </p:sp>
      <p:sp>
        <p:nvSpPr>
          <p:cNvPr id="8" name="Shape 6"/>
          <p:cNvSpPr/>
          <p:nvPr/>
        </p:nvSpPr>
        <p:spPr>
          <a:xfrm>
            <a:off x="640080" y="1463040"/>
            <a:ext cx="566928" cy="566928"/>
          </a:xfrm>
          <a:prstGeom prst="ellipse">
            <a:avLst/>
          </a:prstGeom>
          <a:solidFill>
            <a:srgbClr val="FF6B5E"/>
          </a:solidFill>
          <a:ln/>
        </p:spPr>
      </p:sp>
      <p:sp>
        <p:nvSpPr>
          <p:cNvPr id="9" name="Text 7"/>
          <p:cNvSpPr txBox="1"/>
          <p:nvPr/>
        </p:nvSpPr>
        <p:spPr>
          <a:xfrm>
            <a:off x="640080" y="1463040"/>
            <a:ext cx="566928" cy="566928"/>
          </a:xfrm>
          <a:prstGeom prst="rect">
            <a:avLst/>
          </a:prstGeom>
          <a:noFill/>
          <a:ln/>
        </p:spPr>
        <p:txBody>
          <a:bodyPr wrap="square" lIns="0" tIns="0" rIns="0" bIns="0" rtlCol="0" anchor="ctr"/>
          <a:lstStyle/>
          <a:p>
            <a:pPr marL="0" indent="0" algn="ctr">
              <a:buNone/>
            </a:pPr>
            <a:r>
              <a:rPr lang="en-US" sz="1800" b="1" dirty="0">
                <a:solidFill>
                  <a:srgbClr val="FFFFFF"/>
                </a:solidFill>
              </a:rPr>
              <a:t>1</a:t>
            </a:r>
            <a:endParaRPr lang="en-US" sz="1800" dirty="0"/>
          </a:p>
        </p:txBody>
      </p:sp>
      <p:sp>
        <p:nvSpPr>
          <p:cNvPr id="10" name="Text 8"/>
          <p:cNvSpPr txBox="1"/>
          <p:nvPr/>
        </p:nvSpPr>
        <p:spPr>
          <a:xfrm>
            <a:off x="1371600" y="1463040"/>
            <a:ext cx="1508760" cy="566928"/>
          </a:xfrm>
          <a:prstGeom prst="rect">
            <a:avLst/>
          </a:prstGeom>
          <a:noFill/>
          <a:ln/>
        </p:spPr>
        <p:txBody>
          <a:bodyPr wrap="square" lIns="0" tIns="0" rIns="0" bIns="0" rtlCol="0" anchor="ctr"/>
          <a:lstStyle/>
          <a:p>
            <a:pPr marL="0" indent="0">
              <a:buNone/>
            </a:pPr>
            <a:r>
              <a:rPr lang="en-US" sz="1700" b="1" dirty="0">
                <a:solidFill>
                  <a:srgbClr val="FF6B5E"/>
                </a:solidFill>
              </a:rPr>
              <a:t>B</a:t>
            </a:r>
            <a:endParaRPr lang="en-US" sz="1700" dirty="0"/>
          </a:p>
        </p:txBody>
      </p:sp>
      <p:sp>
        <p:nvSpPr>
          <p:cNvPr id="11" name="Text 9"/>
          <p:cNvSpPr txBox="1"/>
          <p:nvPr/>
        </p:nvSpPr>
        <p:spPr>
          <a:xfrm>
            <a:off x="640080" y="2240280"/>
            <a:ext cx="2194560" cy="2057400"/>
          </a:xfrm>
          <a:prstGeom prst="rect">
            <a:avLst/>
          </a:prstGeom>
          <a:noFill/>
          <a:ln/>
        </p:spPr>
        <p:txBody>
          <a:bodyPr wrap="square" lIns="0" tIns="0" rIns="0" bIns="0" rtlCol="0" anchor="t"/>
          <a:lstStyle/>
          <a:p>
            <a:pPr marL="0" indent="0">
              <a:buNone/>
            </a:pPr>
            <a:r>
              <a:rPr lang="en-US" sz="1800" b="1" dirty="0">
                <a:solidFill>
                  <a:srgbClr val="0A3D4A"/>
                </a:solidFill>
              </a:rPr>
              <a:t>A complete sentence</a:t>
            </a:r>
            <a:endParaRPr lang="en-US" sz="1800" dirty="0"/>
          </a:p>
        </p:txBody>
      </p:sp>
      <p:sp>
        <p:nvSpPr>
          <p:cNvPr id="12" name="Shape 10"/>
          <p:cNvSpPr/>
          <p:nvPr/>
        </p:nvSpPr>
        <p:spPr>
          <a:xfrm>
            <a:off x="3291840" y="1280160"/>
            <a:ext cx="2560320" cy="3108960"/>
          </a:xfrm>
          <a:prstGeom prst="roundRect">
            <a:avLst>
              <a:gd name="adj" fmla="val 5357"/>
            </a:avLst>
          </a:prstGeom>
          <a:solidFill>
            <a:srgbClr val="FFFFFF"/>
          </a:solidFill>
          <a:ln/>
          <a:effectLst>
            <a:outerShdw blurRad="76200" dist="25400" dir="5400000" algn="bl" rotWithShape="0">
              <a:srgbClr val="000000">
                <a:alpha val="15000"/>
              </a:srgbClr>
            </a:outerShdw>
          </a:effectLst>
        </p:spPr>
      </p:sp>
      <p:sp>
        <p:nvSpPr>
          <p:cNvPr id="13" name="Shape 11"/>
          <p:cNvSpPr/>
          <p:nvPr/>
        </p:nvSpPr>
        <p:spPr>
          <a:xfrm>
            <a:off x="3474720" y="1463040"/>
            <a:ext cx="566928" cy="566928"/>
          </a:xfrm>
          <a:prstGeom prst="ellipse">
            <a:avLst/>
          </a:prstGeom>
          <a:solidFill>
            <a:srgbClr val="0E7C86"/>
          </a:solidFill>
          <a:ln/>
        </p:spPr>
      </p:sp>
      <p:sp>
        <p:nvSpPr>
          <p:cNvPr id="14" name="Text 12"/>
          <p:cNvSpPr txBox="1"/>
          <p:nvPr/>
        </p:nvSpPr>
        <p:spPr>
          <a:xfrm>
            <a:off x="3474720" y="1463040"/>
            <a:ext cx="566928" cy="566928"/>
          </a:xfrm>
          <a:prstGeom prst="rect">
            <a:avLst/>
          </a:prstGeom>
          <a:noFill/>
          <a:ln/>
        </p:spPr>
        <p:txBody>
          <a:bodyPr wrap="square" lIns="0" tIns="0" rIns="0" bIns="0" rtlCol="0" anchor="ctr"/>
          <a:lstStyle/>
          <a:p>
            <a:pPr marL="0" indent="0" algn="ctr">
              <a:buNone/>
            </a:pPr>
            <a:r>
              <a:rPr lang="en-US" sz="1800" b="1" dirty="0">
                <a:solidFill>
                  <a:srgbClr val="FFFFFF"/>
                </a:solidFill>
              </a:rPr>
              <a:t>2</a:t>
            </a:r>
            <a:endParaRPr lang="en-US" sz="1800" dirty="0"/>
          </a:p>
        </p:txBody>
      </p:sp>
      <p:sp>
        <p:nvSpPr>
          <p:cNvPr id="15" name="Text 13"/>
          <p:cNvSpPr txBox="1"/>
          <p:nvPr/>
        </p:nvSpPr>
        <p:spPr>
          <a:xfrm>
            <a:off x="4206240" y="1463040"/>
            <a:ext cx="1508760" cy="566928"/>
          </a:xfrm>
          <a:prstGeom prst="rect">
            <a:avLst/>
          </a:prstGeom>
          <a:noFill/>
          <a:ln/>
        </p:spPr>
        <p:txBody>
          <a:bodyPr wrap="square" lIns="0" tIns="0" rIns="0" bIns="0" rtlCol="0" anchor="ctr"/>
          <a:lstStyle/>
          <a:p>
            <a:pPr marL="0" indent="0">
              <a:buNone/>
            </a:pPr>
            <a:r>
              <a:rPr lang="en-US" sz="1700" b="1" dirty="0">
                <a:solidFill>
                  <a:srgbClr val="0E7C86"/>
                </a:solidFill>
              </a:rPr>
              <a:t>A</a:t>
            </a:r>
            <a:endParaRPr lang="en-US" sz="1700" dirty="0"/>
          </a:p>
        </p:txBody>
      </p:sp>
      <p:sp>
        <p:nvSpPr>
          <p:cNvPr id="16" name="Text 14"/>
          <p:cNvSpPr txBox="1"/>
          <p:nvPr/>
        </p:nvSpPr>
        <p:spPr>
          <a:xfrm>
            <a:off x="3474720" y="2240280"/>
            <a:ext cx="2194560" cy="2057400"/>
          </a:xfrm>
          <a:prstGeom prst="rect">
            <a:avLst/>
          </a:prstGeom>
          <a:noFill/>
          <a:ln/>
        </p:spPr>
        <p:txBody>
          <a:bodyPr wrap="square" lIns="0" tIns="0" rIns="0" bIns="0" rtlCol="0" anchor="t"/>
          <a:lstStyle/>
          <a:p>
            <a:pPr marL="0" indent="0">
              <a:buNone/>
            </a:pPr>
            <a:r>
              <a:rPr lang="en-US" sz="1800" b="1" dirty="0">
                <a:solidFill>
                  <a:srgbClr val="0A3D4A"/>
                </a:solidFill>
              </a:rPr>
              <a:t>Fact → explanation → detail</a:t>
            </a:r>
            <a:endParaRPr lang="en-US" sz="1800" dirty="0"/>
          </a:p>
        </p:txBody>
      </p:sp>
      <p:sp>
        <p:nvSpPr>
          <p:cNvPr id="17" name="Shape 15"/>
          <p:cNvSpPr/>
          <p:nvPr/>
        </p:nvSpPr>
        <p:spPr>
          <a:xfrm>
            <a:off x="6126480" y="1280160"/>
            <a:ext cx="2560320" cy="3108960"/>
          </a:xfrm>
          <a:prstGeom prst="roundRect">
            <a:avLst>
              <a:gd name="adj" fmla="val 5357"/>
            </a:avLst>
          </a:prstGeom>
          <a:solidFill>
            <a:srgbClr val="FFFFFF"/>
          </a:solidFill>
          <a:ln/>
          <a:effectLst>
            <a:outerShdw blurRad="76200" dist="25400" dir="5400000" algn="bl" rotWithShape="0">
              <a:srgbClr val="000000">
                <a:alpha val="15000"/>
              </a:srgbClr>
            </a:outerShdw>
          </a:effectLst>
        </p:spPr>
      </p:sp>
      <p:sp>
        <p:nvSpPr>
          <p:cNvPr id="18" name="Shape 16"/>
          <p:cNvSpPr/>
          <p:nvPr/>
        </p:nvSpPr>
        <p:spPr>
          <a:xfrm>
            <a:off x="6309360" y="1463040"/>
            <a:ext cx="566928" cy="566928"/>
          </a:xfrm>
          <a:prstGeom prst="ellipse">
            <a:avLst/>
          </a:prstGeom>
          <a:solidFill>
            <a:srgbClr val="7B5EA7"/>
          </a:solidFill>
          <a:ln/>
        </p:spPr>
      </p:sp>
      <p:sp>
        <p:nvSpPr>
          <p:cNvPr id="19" name="Text 17"/>
          <p:cNvSpPr txBox="1"/>
          <p:nvPr/>
        </p:nvSpPr>
        <p:spPr>
          <a:xfrm>
            <a:off x="6309360" y="1463040"/>
            <a:ext cx="566928" cy="566928"/>
          </a:xfrm>
          <a:prstGeom prst="rect">
            <a:avLst/>
          </a:prstGeom>
          <a:noFill/>
          <a:ln/>
        </p:spPr>
        <p:txBody>
          <a:bodyPr wrap="square" lIns="0" tIns="0" rIns="0" bIns="0" rtlCol="0" anchor="ctr"/>
          <a:lstStyle/>
          <a:p>
            <a:pPr marL="0" indent="0" algn="ctr">
              <a:buNone/>
            </a:pPr>
            <a:r>
              <a:rPr lang="en-US" sz="1800" b="1" dirty="0">
                <a:solidFill>
                  <a:srgbClr val="FFFFFF"/>
                </a:solidFill>
              </a:rPr>
              <a:t>3</a:t>
            </a:r>
            <a:endParaRPr lang="en-US" sz="1800" dirty="0"/>
          </a:p>
        </p:txBody>
      </p:sp>
      <p:sp>
        <p:nvSpPr>
          <p:cNvPr id="20" name="Text 18"/>
          <p:cNvSpPr txBox="1"/>
          <p:nvPr/>
        </p:nvSpPr>
        <p:spPr>
          <a:xfrm>
            <a:off x="7040880" y="1463040"/>
            <a:ext cx="1508760" cy="566928"/>
          </a:xfrm>
          <a:prstGeom prst="rect">
            <a:avLst/>
          </a:prstGeom>
          <a:noFill/>
          <a:ln/>
        </p:spPr>
        <p:txBody>
          <a:bodyPr wrap="square" lIns="0" tIns="0" rIns="0" bIns="0" rtlCol="0" anchor="ctr"/>
          <a:lstStyle/>
          <a:p>
            <a:pPr marL="0" indent="0">
              <a:buNone/>
            </a:pPr>
            <a:r>
              <a:rPr lang="en-US" sz="1700" b="1" dirty="0">
                <a:solidFill>
                  <a:srgbClr val="7B5EA7"/>
                </a:solidFill>
              </a:rPr>
              <a:t>C</a:t>
            </a:r>
            <a:endParaRPr lang="en-US" sz="1700" dirty="0"/>
          </a:p>
        </p:txBody>
      </p:sp>
      <p:sp>
        <p:nvSpPr>
          <p:cNvPr id="21" name="Text 19"/>
          <p:cNvSpPr txBox="1"/>
          <p:nvPr/>
        </p:nvSpPr>
        <p:spPr>
          <a:xfrm>
            <a:off x="6309360" y="2240280"/>
            <a:ext cx="2194560" cy="2057400"/>
          </a:xfrm>
          <a:prstGeom prst="rect">
            <a:avLst/>
          </a:prstGeom>
          <a:noFill/>
          <a:ln/>
        </p:spPr>
        <p:txBody>
          <a:bodyPr wrap="square" lIns="0" tIns="0" rIns="0" bIns="0" rtlCol="0" anchor="t"/>
          <a:lstStyle/>
          <a:p>
            <a:pPr marL="0" indent="0">
              <a:buNone/>
            </a:pPr>
            <a:r>
              <a:rPr lang="en-US" sz="1800" b="1" dirty="0">
                <a:solidFill>
                  <a:srgbClr val="0A3D4A"/>
                </a:solidFill>
              </a:rPr>
              <a:t>Sea turtles, which are marine reptiles, live in oceans.</a:t>
            </a:r>
            <a:endParaRPr lang="en-US" sz="18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0E7C86"/>
                </a:solidFill>
              </a:defRPr>
            </a:lvl1pPr>
          </a:lstStyle>
          <a:p>
            <a:pPr algn="l"/>
            <a:fld id="{F7021451-1387-4CA6-816F-3879F97B5CBC}" type="slidenum">
              <a:rPr lang="en-US" b="0"/>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hape 0"/>
          <p:cNvSpPr/>
          <p:nvPr/>
        </p:nvSpPr>
        <p:spPr>
          <a:xfrm>
            <a:off x="7589520" y="-914400"/>
            <a:ext cx="2377440" cy="2377440"/>
          </a:xfrm>
          <a:prstGeom prst="ellipse">
            <a:avLst/>
          </a:prstGeom>
          <a:solidFill>
            <a:srgbClr val="0E7C86">
              <a:alpha val="45000"/>
            </a:srgbClr>
          </a:solidFill>
          <a:ln/>
        </p:spPr>
      </p:sp>
      <p:sp>
        <p:nvSpPr>
          <p:cNvPr id="3" name="Shape 1"/>
          <p:cNvSpPr/>
          <p:nvPr/>
        </p:nvSpPr>
        <p:spPr>
          <a:xfrm>
            <a:off x="-548640" y="4297680"/>
            <a:ext cx="1463040" cy="1463040"/>
          </a:xfrm>
          <a:prstGeom prst="ellipse">
            <a:avLst/>
          </a:prstGeom>
          <a:solidFill>
            <a:srgbClr val="0E7C86">
              <a:alpha val="40000"/>
            </a:srgbClr>
          </a:solidFill>
          <a:ln/>
        </p:spPr>
      </p:sp>
      <p:sp>
        <p:nvSpPr>
          <p:cNvPr id="5" name="Text 3"/>
          <p:cNvSpPr txBox="1"/>
          <p:nvPr/>
        </p:nvSpPr>
        <p:spPr>
          <a:xfrm>
            <a:off x="1221254" y="40950"/>
            <a:ext cx="890281" cy="489270"/>
          </a:xfrm>
          <a:prstGeom prst="rect">
            <a:avLst/>
          </a:prstGeom>
          <a:noFill/>
          <a:ln/>
        </p:spPr>
        <p:txBody>
          <a:bodyPr wrap="square" lIns="0" tIns="0" rIns="0" bIns="0" rtlCol="0" anchor="ctr"/>
          <a:lstStyle/>
          <a:p>
            <a:pPr marL="0" indent="0" algn="ctr">
              <a:buNone/>
            </a:pPr>
            <a:r>
              <a:rPr lang="en-US" sz="2200" b="1" dirty="0">
                <a:solidFill>
                  <a:srgbClr val="FFFFFF"/>
                </a:solidFill>
              </a:rPr>
              <a:t>🏠</a:t>
            </a:r>
            <a:endParaRPr lang="en-US" sz="2200" dirty="0"/>
          </a:p>
        </p:txBody>
      </p:sp>
      <p:sp>
        <p:nvSpPr>
          <p:cNvPr id="6" name="Text 0"/>
          <p:cNvSpPr>
            <a:spLocks noGrp="1"/>
          </p:cNvSpPr>
          <p:nvPr>
            <p:ph type="title" idx="100" hasCustomPrompt="1"/>
          </p:nvPr>
        </p:nvSpPr>
        <p:spPr>
          <a:xfrm>
            <a:off x="914400" y="-16101"/>
            <a:ext cx="7315200" cy="685800"/>
          </a:xfrm>
          <a:prstGeom prst="rect">
            <a:avLst/>
          </a:prstGeom>
          <a:noFill/>
          <a:ln/>
        </p:spPr>
        <p:txBody>
          <a:bodyPr wrap="square" rtlCol="0" anchor="ctr"/>
          <a:lstStyle/>
          <a:p>
            <a:pPr marL="0" indent="0">
              <a:buNone/>
            </a:pPr>
            <a:r>
              <a:rPr lang="en-US" sz="2600" b="1" dirty="0">
                <a:solidFill>
                  <a:srgbClr val="FFFFFF"/>
                </a:solidFill>
              </a:rPr>
              <a:t>HOMEWORK: BUILD A PARAGRAPH</a:t>
            </a:r>
            <a:endParaRPr lang="en-US" sz="2600" dirty="0"/>
          </a:p>
        </p:txBody>
      </p:sp>
      <p:sp>
        <p:nvSpPr>
          <p:cNvPr id="7" name="Text 5"/>
          <p:cNvSpPr txBox="1"/>
          <p:nvPr/>
        </p:nvSpPr>
        <p:spPr>
          <a:xfrm>
            <a:off x="457200" y="660422"/>
            <a:ext cx="8229600" cy="320040"/>
          </a:xfrm>
          <a:prstGeom prst="rect">
            <a:avLst/>
          </a:prstGeom>
          <a:noFill/>
          <a:ln/>
        </p:spPr>
        <p:txBody>
          <a:bodyPr wrap="square" lIns="0" tIns="0" rIns="0" bIns="0" rtlCol="0" anchor="t"/>
          <a:lstStyle/>
          <a:p>
            <a:pPr marL="0" indent="0">
              <a:buNone/>
            </a:pPr>
            <a:r>
              <a:rPr lang="en-US" sz="2000" dirty="0">
                <a:solidFill>
                  <a:srgbClr val="FFFFFF"/>
                </a:solidFill>
              </a:rPr>
              <a:t>Use your research notes from Session 2. </a:t>
            </a:r>
          </a:p>
          <a:p>
            <a:pPr marL="0" indent="0">
              <a:buNone/>
            </a:pPr>
            <a:r>
              <a:rPr lang="en-US" sz="2000" dirty="0">
                <a:solidFill>
                  <a:srgbClr val="FFFFFF"/>
                </a:solidFill>
              </a:rPr>
              <a:t>Choose </a:t>
            </a:r>
            <a:r>
              <a:rPr lang="en-US" sz="2000" b="1" dirty="0">
                <a:solidFill>
                  <a:srgbClr val="FFFFFF"/>
                </a:solidFill>
              </a:rPr>
              <a:t>ONE</a:t>
            </a:r>
            <a:r>
              <a:rPr lang="en-US" sz="2000" dirty="0">
                <a:solidFill>
                  <a:srgbClr val="FFFFFF"/>
                </a:solidFill>
              </a:rPr>
              <a:t> section:</a:t>
            </a:r>
            <a:endParaRPr lang="en-US" sz="2000" dirty="0"/>
          </a:p>
        </p:txBody>
      </p:sp>
      <p:sp>
        <p:nvSpPr>
          <p:cNvPr id="8" name="Shape 6"/>
          <p:cNvSpPr/>
          <p:nvPr/>
        </p:nvSpPr>
        <p:spPr>
          <a:xfrm>
            <a:off x="457200" y="1325880"/>
            <a:ext cx="2560320" cy="1097280"/>
          </a:xfrm>
          <a:prstGeom prst="roundRect">
            <a:avLst>
              <a:gd name="adj" fmla="val 12500"/>
            </a:avLst>
          </a:prstGeom>
          <a:solidFill>
            <a:srgbClr val="FFFFFF"/>
          </a:solidFill>
          <a:ln/>
          <a:effectLst>
            <a:outerShdw blurRad="76200" dist="25400" dir="5400000" algn="bl" rotWithShape="0">
              <a:srgbClr val="000000">
                <a:alpha val="15000"/>
              </a:srgbClr>
            </a:outerShdw>
          </a:effectLst>
        </p:spPr>
      </p:sp>
      <p:sp>
        <p:nvSpPr>
          <p:cNvPr id="9" name="Shape 7"/>
          <p:cNvSpPr/>
          <p:nvPr/>
        </p:nvSpPr>
        <p:spPr>
          <a:xfrm>
            <a:off x="640080" y="1508760"/>
            <a:ext cx="566928" cy="566928"/>
          </a:xfrm>
          <a:prstGeom prst="ellipse">
            <a:avLst/>
          </a:prstGeom>
          <a:solidFill>
            <a:srgbClr val="FF6B5E"/>
          </a:solidFill>
          <a:ln/>
        </p:spPr>
      </p:sp>
      <p:sp>
        <p:nvSpPr>
          <p:cNvPr id="10" name="Text 8"/>
          <p:cNvSpPr txBox="1"/>
          <p:nvPr/>
        </p:nvSpPr>
        <p:spPr>
          <a:xfrm>
            <a:off x="640080" y="1508760"/>
            <a:ext cx="566928" cy="566928"/>
          </a:xfrm>
          <a:prstGeom prst="rect">
            <a:avLst/>
          </a:prstGeom>
          <a:noFill/>
          <a:ln/>
        </p:spPr>
        <p:txBody>
          <a:bodyPr wrap="square" lIns="0" tIns="0" rIns="0" bIns="0" rtlCol="0" anchor="ctr"/>
          <a:lstStyle/>
          <a:p>
            <a:pPr marL="0" indent="0" algn="ctr">
              <a:buNone/>
            </a:pPr>
            <a:r>
              <a:rPr lang="en-US" sz="1800" b="1" dirty="0">
                <a:solidFill>
                  <a:srgbClr val="FFFFFF"/>
                </a:solidFill>
              </a:rPr>
              <a:t>🐾</a:t>
            </a:r>
            <a:endParaRPr lang="en-US" sz="1800" dirty="0"/>
          </a:p>
        </p:txBody>
      </p:sp>
      <p:sp>
        <p:nvSpPr>
          <p:cNvPr id="11" name="Text 9"/>
          <p:cNvSpPr txBox="1"/>
          <p:nvPr/>
        </p:nvSpPr>
        <p:spPr>
          <a:xfrm>
            <a:off x="1371600" y="1508760"/>
            <a:ext cx="1508760" cy="566928"/>
          </a:xfrm>
          <a:prstGeom prst="rect">
            <a:avLst/>
          </a:prstGeom>
          <a:noFill/>
          <a:ln/>
        </p:spPr>
        <p:txBody>
          <a:bodyPr wrap="square" lIns="0" tIns="0" rIns="0" bIns="0" rtlCol="0" anchor="ctr"/>
          <a:lstStyle/>
          <a:p>
            <a:pPr marL="0" indent="0">
              <a:buNone/>
            </a:pPr>
            <a:r>
              <a:rPr lang="en-US" b="1" dirty="0">
                <a:solidFill>
                  <a:srgbClr val="FF6B5E"/>
                </a:solidFill>
              </a:rPr>
              <a:t>ABOUT THE CREATURE</a:t>
            </a:r>
            <a:endParaRPr lang="en-US" dirty="0"/>
          </a:p>
        </p:txBody>
      </p:sp>
      <p:sp>
        <p:nvSpPr>
          <p:cNvPr id="12" name="Text 10"/>
          <p:cNvSpPr txBox="1"/>
          <p:nvPr/>
        </p:nvSpPr>
        <p:spPr>
          <a:xfrm>
            <a:off x="640080" y="2286000"/>
            <a:ext cx="2194560" cy="45720"/>
          </a:xfrm>
          <a:prstGeom prst="rect">
            <a:avLst/>
          </a:prstGeom>
          <a:noFill/>
          <a:ln/>
        </p:spPr>
        <p:txBody>
          <a:bodyPr wrap="square" lIns="0" tIns="0" rIns="0" bIns="0" rtlCol="0" anchor="t"/>
          <a:lstStyle/>
          <a:p>
            <a:pPr marL="0" indent="0">
              <a:buNone/>
            </a:pPr>
            <a:r>
              <a:rPr lang="en-US" sz="1500" dirty="0">
                <a:solidFill>
                  <a:srgbClr val="0A3D4A"/>
                </a:solidFill>
              </a:rPr>
              <a:t> </a:t>
            </a:r>
            <a:endParaRPr lang="en-US" sz="1500" dirty="0"/>
          </a:p>
        </p:txBody>
      </p:sp>
      <p:sp>
        <p:nvSpPr>
          <p:cNvPr id="13" name="Shape 11"/>
          <p:cNvSpPr/>
          <p:nvPr/>
        </p:nvSpPr>
        <p:spPr>
          <a:xfrm>
            <a:off x="3291840" y="1325880"/>
            <a:ext cx="2560320" cy="1097280"/>
          </a:xfrm>
          <a:prstGeom prst="roundRect">
            <a:avLst>
              <a:gd name="adj" fmla="val 12500"/>
            </a:avLst>
          </a:prstGeom>
          <a:solidFill>
            <a:srgbClr val="FFFFFF"/>
          </a:solidFill>
          <a:ln/>
          <a:effectLst>
            <a:outerShdw blurRad="76200" dist="25400" dir="5400000" algn="bl" rotWithShape="0">
              <a:srgbClr val="000000">
                <a:alpha val="15000"/>
              </a:srgbClr>
            </a:outerShdw>
          </a:effectLst>
        </p:spPr>
      </p:sp>
      <p:sp>
        <p:nvSpPr>
          <p:cNvPr id="14" name="Shape 12"/>
          <p:cNvSpPr/>
          <p:nvPr/>
        </p:nvSpPr>
        <p:spPr>
          <a:xfrm>
            <a:off x="3474720" y="1508760"/>
            <a:ext cx="566928" cy="566928"/>
          </a:xfrm>
          <a:prstGeom prst="ellipse">
            <a:avLst/>
          </a:prstGeom>
          <a:solidFill>
            <a:srgbClr val="0E7C86"/>
          </a:solidFill>
          <a:ln/>
        </p:spPr>
      </p:sp>
      <p:sp>
        <p:nvSpPr>
          <p:cNvPr id="15" name="Text 13"/>
          <p:cNvSpPr txBox="1"/>
          <p:nvPr/>
        </p:nvSpPr>
        <p:spPr>
          <a:xfrm>
            <a:off x="3474720" y="1508760"/>
            <a:ext cx="566928" cy="566928"/>
          </a:xfrm>
          <a:prstGeom prst="rect">
            <a:avLst/>
          </a:prstGeom>
          <a:noFill/>
          <a:ln/>
        </p:spPr>
        <p:txBody>
          <a:bodyPr wrap="square" lIns="0" tIns="0" rIns="0" bIns="0" rtlCol="0" anchor="ctr"/>
          <a:lstStyle/>
          <a:p>
            <a:pPr marL="0" indent="0" algn="ctr">
              <a:buNone/>
            </a:pPr>
            <a:r>
              <a:rPr lang="en-US" sz="1800" b="1" dirty="0">
                <a:solidFill>
                  <a:srgbClr val="FFFFFF"/>
                </a:solidFill>
              </a:rPr>
              <a:t>⚠️</a:t>
            </a:r>
            <a:endParaRPr lang="en-US" sz="1800" dirty="0"/>
          </a:p>
        </p:txBody>
      </p:sp>
      <p:sp>
        <p:nvSpPr>
          <p:cNvPr id="16" name="Text 14"/>
          <p:cNvSpPr txBox="1"/>
          <p:nvPr/>
        </p:nvSpPr>
        <p:spPr>
          <a:xfrm>
            <a:off x="4206240" y="1508760"/>
            <a:ext cx="1508760" cy="566928"/>
          </a:xfrm>
          <a:prstGeom prst="rect">
            <a:avLst/>
          </a:prstGeom>
          <a:noFill/>
          <a:ln/>
        </p:spPr>
        <p:txBody>
          <a:bodyPr wrap="square" lIns="0" tIns="0" rIns="0" bIns="0" rtlCol="0" anchor="ctr"/>
          <a:lstStyle/>
          <a:p>
            <a:pPr marL="0" indent="0">
              <a:buNone/>
            </a:pPr>
            <a:r>
              <a:rPr lang="en-US" b="1" dirty="0">
                <a:solidFill>
                  <a:srgbClr val="0E7C86"/>
                </a:solidFill>
              </a:rPr>
              <a:t>THREATS</a:t>
            </a:r>
            <a:endParaRPr lang="en-US" dirty="0"/>
          </a:p>
        </p:txBody>
      </p:sp>
      <p:sp>
        <p:nvSpPr>
          <p:cNvPr id="17" name="Text 15"/>
          <p:cNvSpPr txBox="1"/>
          <p:nvPr/>
        </p:nvSpPr>
        <p:spPr>
          <a:xfrm>
            <a:off x="3474720" y="2286000"/>
            <a:ext cx="2194560" cy="45720"/>
          </a:xfrm>
          <a:prstGeom prst="rect">
            <a:avLst/>
          </a:prstGeom>
          <a:noFill/>
          <a:ln/>
        </p:spPr>
        <p:txBody>
          <a:bodyPr wrap="square" lIns="0" tIns="0" rIns="0" bIns="0" rtlCol="0" anchor="t"/>
          <a:lstStyle/>
          <a:p>
            <a:pPr marL="0" indent="0">
              <a:buNone/>
            </a:pPr>
            <a:r>
              <a:rPr lang="en-US" sz="1500" dirty="0">
                <a:solidFill>
                  <a:srgbClr val="0A3D4A"/>
                </a:solidFill>
              </a:rPr>
              <a:t> </a:t>
            </a:r>
            <a:endParaRPr lang="en-US" sz="1500" dirty="0"/>
          </a:p>
        </p:txBody>
      </p:sp>
      <p:sp>
        <p:nvSpPr>
          <p:cNvPr id="18" name="Shape 16"/>
          <p:cNvSpPr/>
          <p:nvPr/>
        </p:nvSpPr>
        <p:spPr>
          <a:xfrm>
            <a:off x="6126480" y="1325880"/>
            <a:ext cx="2560320" cy="1097280"/>
          </a:xfrm>
          <a:prstGeom prst="roundRect">
            <a:avLst>
              <a:gd name="adj" fmla="val 12500"/>
            </a:avLst>
          </a:prstGeom>
          <a:solidFill>
            <a:srgbClr val="FFFFFF"/>
          </a:solidFill>
          <a:ln/>
          <a:effectLst>
            <a:outerShdw blurRad="76200" dist="25400" dir="5400000" algn="bl" rotWithShape="0">
              <a:srgbClr val="000000">
                <a:alpha val="15000"/>
              </a:srgbClr>
            </a:outerShdw>
          </a:effectLst>
        </p:spPr>
        <p:txBody>
          <a:bodyPr/>
          <a:lstStyle/>
          <a:p>
            <a:endParaRPr lang="en-US" dirty="0"/>
          </a:p>
        </p:txBody>
      </p:sp>
      <p:sp>
        <p:nvSpPr>
          <p:cNvPr id="19" name="Shape 17"/>
          <p:cNvSpPr/>
          <p:nvPr/>
        </p:nvSpPr>
        <p:spPr>
          <a:xfrm>
            <a:off x="6309360" y="1508760"/>
            <a:ext cx="566928" cy="566928"/>
          </a:xfrm>
          <a:prstGeom prst="ellipse">
            <a:avLst/>
          </a:prstGeom>
          <a:solidFill>
            <a:srgbClr val="7B5EA7"/>
          </a:solidFill>
          <a:ln/>
        </p:spPr>
      </p:sp>
      <p:sp>
        <p:nvSpPr>
          <p:cNvPr id="20" name="Text 18"/>
          <p:cNvSpPr txBox="1"/>
          <p:nvPr/>
        </p:nvSpPr>
        <p:spPr>
          <a:xfrm>
            <a:off x="6309360" y="1508760"/>
            <a:ext cx="566928" cy="566928"/>
          </a:xfrm>
          <a:prstGeom prst="rect">
            <a:avLst/>
          </a:prstGeom>
          <a:noFill/>
          <a:ln/>
        </p:spPr>
        <p:txBody>
          <a:bodyPr wrap="square" lIns="0" tIns="0" rIns="0" bIns="0" rtlCol="0" anchor="ctr"/>
          <a:lstStyle/>
          <a:p>
            <a:pPr marL="0" indent="0" algn="ctr">
              <a:buNone/>
            </a:pPr>
            <a:r>
              <a:rPr lang="en-US" sz="1800" b="1" dirty="0">
                <a:solidFill>
                  <a:srgbClr val="FFFFFF"/>
                </a:solidFill>
              </a:rPr>
              <a:t>🛡️</a:t>
            </a:r>
            <a:endParaRPr lang="en-US" sz="1800" dirty="0"/>
          </a:p>
        </p:txBody>
      </p:sp>
      <p:sp>
        <p:nvSpPr>
          <p:cNvPr id="21" name="Text 19"/>
          <p:cNvSpPr txBox="1"/>
          <p:nvPr/>
        </p:nvSpPr>
        <p:spPr>
          <a:xfrm>
            <a:off x="6933537" y="1508760"/>
            <a:ext cx="1508760" cy="566928"/>
          </a:xfrm>
          <a:prstGeom prst="rect">
            <a:avLst/>
          </a:prstGeom>
          <a:noFill/>
          <a:ln/>
        </p:spPr>
        <p:txBody>
          <a:bodyPr wrap="square" lIns="0" tIns="0" rIns="0" bIns="0" rtlCol="0" anchor="ctr"/>
          <a:lstStyle/>
          <a:p>
            <a:pPr marL="0" indent="0">
              <a:buNone/>
            </a:pPr>
            <a:r>
              <a:rPr lang="en-US" b="1" dirty="0">
                <a:solidFill>
                  <a:srgbClr val="7B5EA7"/>
                </a:solidFill>
              </a:rPr>
              <a:t>PROTECTION</a:t>
            </a:r>
            <a:endParaRPr lang="en-US" dirty="0"/>
          </a:p>
        </p:txBody>
      </p:sp>
      <p:sp>
        <p:nvSpPr>
          <p:cNvPr id="22" name="Text 20"/>
          <p:cNvSpPr txBox="1"/>
          <p:nvPr/>
        </p:nvSpPr>
        <p:spPr>
          <a:xfrm>
            <a:off x="6309360" y="2286000"/>
            <a:ext cx="2194560" cy="45720"/>
          </a:xfrm>
          <a:prstGeom prst="rect">
            <a:avLst/>
          </a:prstGeom>
          <a:noFill/>
          <a:ln/>
        </p:spPr>
        <p:txBody>
          <a:bodyPr wrap="square" lIns="0" tIns="0" rIns="0" bIns="0" rtlCol="0" anchor="t"/>
          <a:lstStyle/>
          <a:p>
            <a:pPr marL="0" indent="0">
              <a:buNone/>
            </a:pPr>
            <a:r>
              <a:rPr lang="en-US" sz="1500" dirty="0">
                <a:solidFill>
                  <a:srgbClr val="0A3D4A"/>
                </a:solidFill>
              </a:rPr>
              <a:t> </a:t>
            </a:r>
            <a:endParaRPr lang="en-US" sz="1500" dirty="0"/>
          </a:p>
        </p:txBody>
      </p:sp>
      <p:sp>
        <p:nvSpPr>
          <p:cNvPr id="23" name="Shape 21"/>
          <p:cNvSpPr/>
          <p:nvPr/>
        </p:nvSpPr>
        <p:spPr>
          <a:xfrm>
            <a:off x="457200" y="2468880"/>
            <a:ext cx="8229600" cy="2240280"/>
          </a:xfrm>
          <a:prstGeom prst="roundRect">
            <a:avLst>
              <a:gd name="adj" fmla="val 6522"/>
            </a:avLst>
          </a:prstGeom>
          <a:solidFill>
            <a:srgbClr val="FFFFFF"/>
          </a:solidFill>
          <a:ln/>
          <a:effectLst>
            <a:outerShdw blurRad="76200" dist="25400" dir="5400000" algn="bl" rotWithShape="0">
              <a:srgbClr val="000000">
                <a:alpha val="15000"/>
              </a:srgbClr>
            </a:outerShdw>
          </a:effectLst>
        </p:spPr>
      </p:sp>
      <p:sp>
        <p:nvSpPr>
          <p:cNvPr id="24" name="Text 22"/>
          <p:cNvSpPr txBox="1"/>
          <p:nvPr/>
        </p:nvSpPr>
        <p:spPr>
          <a:xfrm>
            <a:off x="526774" y="2446020"/>
            <a:ext cx="7772400" cy="320040"/>
          </a:xfrm>
          <a:prstGeom prst="rect">
            <a:avLst/>
          </a:prstGeom>
          <a:noFill/>
          <a:ln/>
        </p:spPr>
        <p:txBody>
          <a:bodyPr wrap="square" lIns="0" tIns="0" rIns="0" bIns="0" rtlCol="0" anchor="t"/>
          <a:lstStyle/>
          <a:p>
            <a:pPr marL="0" indent="0">
              <a:buNone/>
            </a:pPr>
            <a:r>
              <a:rPr lang="en-US" sz="2000" dirty="0">
                <a:solidFill>
                  <a:srgbClr val="0A3D4A"/>
                </a:solidFill>
              </a:rPr>
              <a:t>Write </a:t>
            </a:r>
            <a:r>
              <a:rPr lang="en-US" sz="2000" b="1" dirty="0">
                <a:solidFill>
                  <a:srgbClr val="0A3D4A"/>
                </a:solidFill>
              </a:rPr>
              <a:t>one developed paragraph</a:t>
            </a:r>
            <a:r>
              <a:rPr lang="en-US" sz="2000" dirty="0">
                <a:solidFill>
                  <a:srgbClr val="0A3D4A"/>
                </a:solidFill>
              </a:rPr>
              <a:t>. </a:t>
            </a:r>
          </a:p>
          <a:p>
            <a:pPr marL="0" indent="0">
              <a:buNone/>
            </a:pPr>
            <a:r>
              <a:rPr lang="en-US" sz="2000" dirty="0">
                <a:solidFill>
                  <a:srgbClr val="0A3D4A"/>
                </a:solidFill>
              </a:rPr>
              <a:t>It must include:</a:t>
            </a:r>
            <a:endParaRPr lang="en-US" sz="2000" dirty="0"/>
          </a:p>
        </p:txBody>
      </p:sp>
      <p:sp>
        <p:nvSpPr>
          <p:cNvPr id="25" name="Shape 23"/>
          <p:cNvSpPr/>
          <p:nvPr/>
        </p:nvSpPr>
        <p:spPr>
          <a:xfrm>
            <a:off x="685800" y="3081528"/>
            <a:ext cx="256032" cy="256032"/>
          </a:xfrm>
          <a:prstGeom prst="roundRect">
            <a:avLst>
              <a:gd name="adj" fmla="val 17857"/>
            </a:avLst>
          </a:prstGeom>
          <a:solidFill>
            <a:srgbClr val="FFFFFF"/>
          </a:solidFill>
          <a:ln w="25400">
            <a:solidFill>
              <a:srgbClr val="0E7C86"/>
            </a:solidFill>
            <a:prstDash val="solid"/>
          </a:ln>
        </p:spPr>
      </p:sp>
      <p:sp>
        <p:nvSpPr>
          <p:cNvPr id="26" name="Text 24"/>
          <p:cNvSpPr txBox="1"/>
          <p:nvPr/>
        </p:nvSpPr>
        <p:spPr>
          <a:xfrm>
            <a:off x="1097280" y="3017520"/>
            <a:ext cx="3520440" cy="384048"/>
          </a:xfrm>
          <a:prstGeom prst="rect">
            <a:avLst/>
          </a:prstGeom>
          <a:noFill/>
          <a:ln/>
        </p:spPr>
        <p:txBody>
          <a:bodyPr wrap="square" lIns="0" tIns="0" rIns="0" bIns="0" rtlCol="0" anchor="ctr"/>
          <a:lstStyle/>
          <a:p>
            <a:pPr marL="0" indent="0">
              <a:buNone/>
            </a:pPr>
            <a:r>
              <a:rPr lang="en-US" sz="1600" dirty="0">
                <a:solidFill>
                  <a:srgbClr val="0A3D4A"/>
                </a:solidFill>
              </a:rPr>
              <a:t>a clear main idea</a:t>
            </a:r>
            <a:endParaRPr lang="en-US" sz="1600" dirty="0"/>
          </a:p>
        </p:txBody>
      </p:sp>
      <p:sp>
        <p:nvSpPr>
          <p:cNvPr id="27" name="Shape 25"/>
          <p:cNvSpPr/>
          <p:nvPr/>
        </p:nvSpPr>
        <p:spPr>
          <a:xfrm>
            <a:off x="685800" y="3465576"/>
            <a:ext cx="256032" cy="256032"/>
          </a:xfrm>
          <a:prstGeom prst="roundRect">
            <a:avLst>
              <a:gd name="adj" fmla="val 17857"/>
            </a:avLst>
          </a:prstGeom>
          <a:solidFill>
            <a:srgbClr val="FFFFFF"/>
          </a:solidFill>
          <a:ln w="25400">
            <a:solidFill>
              <a:srgbClr val="0E7C86"/>
            </a:solidFill>
            <a:prstDash val="solid"/>
          </a:ln>
        </p:spPr>
      </p:sp>
      <p:sp>
        <p:nvSpPr>
          <p:cNvPr id="28" name="Text 26"/>
          <p:cNvSpPr txBox="1"/>
          <p:nvPr/>
        </p:nvSpPr>
        <p:spPr>
          <a:xfrm>
            <a:off x="1097280" y="3401568"/>
            <a:ext cx="3520440" cy="384048"/>
          </a:xfrm>
          <a:prstGeom prst="rect">
            <a:avLst/>
          </a:prstGeom>
          <a:noFill/>
          <a:ln/>
        </p:spPr>
        <p:txBody>
          <a:bodyPr wrap="square" lIns="0" tIns="0" rIns="0" bIns="0" rtlCol="0" anchor="ctr"/>
          <a:lstStyle/>
          <a:p>
            <a:pPr marL="0" indent="0">
              <a:buNone/>
            </a:pPr>
            <a:r>
              <a:rPr lang="en-US" sz="1600" dirty="0">
                <a:solidFill>
                  <a:srgbClr val="0A3D4A"/>
                </a:solidFill>
              </a:rPr>
              <a:t>at least 3 relevant facts/details</a:t>
            </a:r>
            <a:endParaRPr lang="en-US" sz="1600" dirty="0"/>
          </a:p>
        </p:txBody>
      </p:sp>
      <p:sp>
        <p:nvSpPr>
          <p:cNvPr id="29" name="Shape 27"/>
          <p:cNvSpPr/>
          <p:nvPr/>
        </p:nvSpPr>
        <p:spPr>
          <a:xfrm>
            <a:off x="685800" y="3849624"/>
            <a:ext cx="256032" cy="256032"/>
          </a:xfrm>
          <a:prstGeom prst="roundRect">
            <a:avLst>
              <a:gd name="adj" fmla="val 17857"/>
            </a:avLst>
          </a:prstGeom>
          <a:solidFill>
            <a:srgbClr val="FFFFFF"/>
          </a:solidFill>
          <a:ln w="25400">
            <a:solidFill>
              <a:srgbClr val="0E7C86"/>
            </a:solidFill>
            <a:prstDash val="solid"/>
          </a:ln>
        </p:spPr>
      </p:sp>
      <p:sp>
        <p:nvSpPr>
          <p:cNvPr id="30" name="Text 28"/>
          <p:cNvSpPr txBox="1"/>
          <p:nvPr/>
        </p:nvSpPr>
        <p:spPr>
          <a:xfrm>
            <a:off x="1097280" y="3785616"/>
            <a:ext cx="3520440" cy="384048"/>
          </a:xfrm>
          <a:prstGeom prst="rect">
            <a:avLst/>
          </a:prstGeom>
          <a:noFill/>
          <a:ln/>
        </p:spPr>
        <p:txBody>
          <a:bodyPr wrap="square" lIns="0" tIns="0" rIns="0" bIns="0" rtlCol="0" anchor="ctr"/>
          <a:lstStyle/>
          <a:p>
            <a:pPr marL="0" indent="0">
              <a:buNone/>
            </a:pPr>
            <a:r>
              <a:rPr lang="en-US" sz="1400" dirty="0">
                <a:solidFill>
                  <a:srgbClr val="0A3D4A"/>
                </a:solidFill>
              </a:rPr>
              <a:t>present tense</a:t>
            </a:r>
            <a:endParaRPr lang="en-US" sz="1400" dirty="0"/>
          </a:p>
        </p:txBody>
      </p:sp>
      <p:sp>
        <p:nvSpPr>
          <p:cNvPr id="31" name="Shape 29"/>
          <p:cNvSpPr/>
          <p:nvPr/>
        </p:nvSpPr>
        <p:spPr>
          <a:xfrm>
            <a:off x="685800" y="4233672"/>
            <a:ext cx="256032" cy="256032"/>
          </a:xfrm>
          <a:prstGeom prst="roundRect">
            <a:avLst>
              <a:gd name="adj" fmla="val 17857"/>
            </a:avLst>
          </a:prstGeom>
          <a:solidFill>
            <a:srgbClr val="FFFFFF"/>
          </a:solidFill>
          <a:ln w="25400">
            <a:solidFill>
              <a:srgbClr val="0E7C86"/>
            </a:solidFill>
            <a:prstDash val="solid"/>
          </a:ln>
        </p:spPr>
      </p:sp>
      <p:sp>
        <p:nvSpPr>
          <p:cNvPr id="32" name="Text 30"/>
          <p:cNvSpPr txBox="1"/>
          <p:nvPr/>
        </p:nvSpPr>
        <p:spPr>
          <a:xfrm>
            <a:off x="1097280" y="4169664"/>
            <a:ext cx="3520440" cy="384048"/>
          </a:xfrm>
          <a:prstGeom prst="rect">
            <a:avLst/>
          </a:prstGeom>
          <a:noFill/>
          <a:ln/>
        </p:spPr>
        <p:txBody>
          <a:bodyPr wrap="square" lIns="0" tIns="0" rIns="0" bIns="0" rtlCol="0" anchor="ctr"/>
          <a:lstStyle/>
          <a:p>
            <a:pPr marL="0" indent="0">
              <a:buNone/>
            </a:pPr>
            <a:r>
              <a:rPr lang="en-US" sz="1400" dirty="0">
                <a:solidFill>
                  <a:srgbClr val="0A3D4A"/>
                </a:solidFill>
              </a:rPr>
              <a:t>third person</a:t>
            </a:r>
            <a:endParaRPr lang="en-US" sz="1400" dirty="0"/>
          </a:p>
        </p:txBody>
      </p:sp>
      <p:sp>
        <p:nvSpPr>
          <p:cNvPr id="33" name="Shape 31"/>
          <p:cNvSpPr/>
          <p:nvPr/>
        </p:nvSpPr>
        <p:spPr>
          <a:xfrm>
            <a:off x="4754880" y="3081528"/>
            <a:ext cx="256032" cy="256032"/>
          </a:xfrm>
          <a:prstGeom prst="roundRect">
            <a:avLst>
              <a:gd name="adj" fmla="val 17857"/>
            </a:avLst>
          </a:prstGeom>
          <a:solidFill>
            <a:srgbClr val="FFFFFF"/>
          </a:solidFill>
          <a:ln w="25400">
            <a:solidFill>
              <a:srgbClr val="0E7C86"/>
            </a:solidFill>
            <a:prstDash val="solid"/>
          </a:ln>
        </p:spPr>
      </p:sp>
      <p:sp>
        <p:nvSpPr>
          <p:cNvPr id="34" name="Text 32"/>
          <p:cNvSpPr txBox="1"/>
          <p:nvPr/>
        </p:nvSpPr>
        <p:spPr>
          <a:xfrm>
            <a:off x="5166360" y="3017520"/>
            <a:ext cx="3337560" cy="384048"/>
          </a:xfrm>
          <a:prstGeom prst="rect">
            <a:avLst/>
          </a:prstGeom>
          <a:noFill/>
          <a:ln/>
        </p:spPr>
        <p:txBody>
          <a:bodyPr wrap="square" lIns="0" tIns="0" rIns="0" bIns="0" rtlCol="0" anchor="ctr"/>
          <a:lstStyle/>
          <a:p>
            <a:pPr marL="0" indent="0">
              <a:buNone/>
            </a:pPr>
            <a:r>
              <a:rPr lang="en-US" sz="1600" dirty="0">
                <a:solidFill>
                  <a:srgbClr val="0A3D4A"/>
                </a:solidFill>
              </a:rPr>
              <a:t>one connector</a:t>
            </a:r>
            <a:endParaRPr lang="en-US" sz="1600" dirty="0"/>
          </a:p>
        </p:txBody>
      </p:sp>
      <p:sp>
        <p:nvSpPr>
          <p:cNvPr id="35" name="Shape 33"/>
          <p:cNvSpPr/>
          <p:nvPr/>
        </p:nvSpPr>
        <p:spPr>
          <a:xfrm>
            <a:off x="4754880" y="3465576"/>
            <a:ext cx="256032" cy="256032"/>
          </a:xfrm>
          <a:prstGeom prst="roundRect">
            <a:avLst>
              <a:gd name="adj" fmla="val 17857"/>
            </a:avLst>
          </a:prstGeom>
          <a:solidFill>
            <a:srgbClr val="FFFFFF"/>
          </a:solidFill>
          <a:ln w="25400">
            <a:solidFill>
              <a:srgbClr val="0E7C86"/>
            </a:solidFill>
            <a:prstDash val="solid"/>
          </a:ln>
        </p:spPr>
      </p:sp>
      <p:sp>
        <p:nvSpPr>
          <p:cNvPr id="36" name="Text 34"/>
          <p:cNvSpPr txBox="1"/>
          <p:nvPr/>
        </p:nvSpPr>
        <p:spPr>
          <a:xfrm>
            <a:off x="5166360" y="3401568"/>
            <a:ext cx="3337560" cy="384048"/>
          </a:xfrm>
          <a:prstGeom prst="rect">
            <a:avLst/>
          </a:prstGeom>
          <a:noFill/>
          <a:ln/>
        </p:spPr>
        <p:txBody>
          <a:bodyPr wrap="square" lIns="0" tIns="0" rIns="0" bIns="0" rtlCol="0" anchor="ctr"/>
          <a:lstStyle/>
          <a:p>
            <a:pPr marL="0" indent="0">
              <a:buNone/>
            </a:pPr>
            <a:r>
              <a:rPr lang="en-US" sz="1600" dirty="0">
                <a:solidFill>
                  <a:srgbClr val="0A3D4A"/>
                </a:solidFill>
              </a:rPr>
              <a:t>one complex sentence</a:t>
            </a:r>
            <a:endParaRPr lang="en-US" sz="1600" dirty="0"/>
          </a:p>
        </p:txBody>
      </p:sp>
      <p:sp>
        <p:nvSpPr>
          <p:cNvPr id="37" name="Shape 35"/>
          <p:cNvSpPr/>
          <p:nvPr/>
        </p:nvSpPr>
        <p:spPr>
          <a:xfrm>
            <a:off x="4754880" y="3849624"/>
            <a:ext cx="256032" cy="256032"/>
          </a:xfrm>
          <a:prstGeom prst="roundRect">
            <a:avLst>
              <a:gd name="adj" fmla="val 17857"/>
            </a:avLst>
          </a:prstGeom>
          <a:solidFill>
            <a:srgbClr val="FFFFFF"/>
          </a:solidFill>
          <a:ln w="25400">
            <a:solidFill>
              <a:srgbClr val="0E7C86"/>
            </a:solidFill>
            <a:prstDash val="solid"/>
          </a:ln>
        </p:spPr>
      </p:sp>
      <p:sp>
        <p:nvSpPr>
          <p:cNvPr id="38" name="Text 36"/>
          <p:cNvSpPr txBox="1"/>
          <p:nvPr/>
        </p:nvSpPr>
        <p:spPr>
          <a:xfrm>
            <a:off x="5166360" y="3785616"/>
            <a:ext cx="3337560" cy="384048"/>
          </a:xfrm>
          <a:prstGeom prst="rect">
            <a:avLst/>
          </a:prstGeom>
          <a:noFill/>
          <a:ln/>
        </p:spPr>
        <p:txBody>
          <a:bodyPr wrap="square" lIns="0" tIns="0" rIns="0" bIns="0" rtlCol="0" anchor="ctr"/>
          <a:lstStyle/>
          <a:p>
            <a:pPr marL="0" indent="0">
              <a:buNone/>
            </a:pPr>
            <a:r>
              <a:rPr lang="en-US" sz="1600" dirty="0">
                <a:solidFill>
                  <a:srgbClr val="0A3D4A"/>
                </a:solidFill>
              </a:rPr>
              <a:t>accurate punctuation</a:t>
            </a:r>
            <a:endParaRPr lang="en-US" sz="1600" dirty="0"/>
          </a:p>
        </p:txBody>
      </p:sp>
      <p:sp>
        <p:nvSpPr>
          <p:cNvPr id="39" name="Text 37"/>
          <p:cNvSpPr txBox="1"/>
          <p:nvPr/>
        </p:nvSpPr>
        <p:spPr>
          <a:xfrm>
            <a:off x="4754880" y="4206240"/>
            <a:ext cx="3749040" cy="365760"/>
          </a:xfrm>
          <a:prstGeom prst="rect">
            <a:avLst/>
          </a:prstGeom>
          <a:noFill/>
          <a:ln/>
        </p:spPr>
        <p:txBody>
          <a:bodyPr wrap="square" lIns="0" tIns="0" rIns="0" bIns="0" rtlCol="0" anchor="ctr"/>
          <a:lstStyle/>
          <a:p>
            <a:pPr marL="0" indent="0">
              <a:buNone/>
            </a:pPr>
            <a:r>
              <a:rPr lang="en-US" sz="1350" b="1" dirty="0">
                <a:solidFill>
                  <a:srgbClr val="FF6B5E"/>
                </a:solidFill>
              </a:rPr>
              <a:t> include a relative clause.</a:t>
            </a:r>
            <a:endParaRPr lang="en-US" sz="1350" dirty="0"/>
          </a:p>
        </p:txBody>
      </p:sp>
      <p:sp>
        <p:nvSpPr>
          <p:cNvPr id="40"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FD3D8"/>
                </a:solidFill>
              </a:defRPr>
            </a:lvl1pPr>
          </a:lstStyle>
          <a:p>
            <a:pPr algn="l"/>
            <a:fld id="{F7021451-1387-4CA6-816F-3879F97B5CBC}" type="slidenum">
              <a:rPr lang="en-US" b="0"/>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Shape 0"/>
          <p:cNvSpPr/>
          <p:nvPr/>
        </p:nvSpPr>
        <p:spPr>
          <a:xfrm>
            <a:off x="7589520" y="-914400"/>
            <a:ext cx="2377440" cy="2377440"/>
          </a:xfrm>
          <a:prstGeom prst="ellipse">
            <a:avLst/>
          </a:prstGeom>
          <a:solidFill>
            <a:srgbClr val="0E7C86">
              <a:alpha val="45000"/>
            </a:srgbClr>
          </a:solidFill>
          <a:ln/>
        </p:spPr>
      </p:sp>
      <p:sp>
        <p:nvSpPr>
          <p:cNvPr id="3" name="Shape 1"/>
          <p:cNvSpPr/>
          <p:nvPr/>
        </p:nvSpPr>
        <p:spPr>
          <a:xfrm>
            <a:off x="-548640" y="4297680"/>
            <a:ext cx="1463040" cy="1463040"/>
          </a:xfrm>
          <a:prstGeom prst="ellipse">
            <a:avLst/>
          </a:prstGeom>
          <a:solidFill>
            <a:srgbClr val="0E7C86">
              <a:alpha val="40000"/>
            </a:srgbClr>
          </a:solidFill>
          <a:ln/>
        </p:spPr>
      </p:sp>
      <p:sp>
        <p:nvSpPr>
          <p:cNvPr id="4" name="Shape 2"/>
          <p:cNvSpPr/>
          <p:nvPr/>
        </p:nvSpPr>
        <p:spPr>
          <a:xfrm>
            <a:off x="457200" y="292608"/>
            <a:ext cx="658368" cy="658368"/>
          </a:xfrm>
          <a:prstGeom prst="ellipse">
            <a:avLst/>
          </a:prstGeom>
          <a:solidFill>
            <a:srgbClr val="FF6B5E"/>
          </a:solidFill>
          <a:ln/>
        </p:spPr>
      </p:sp>
      <p:sp>
        <p:nvSpPr>
          <p:cNvPr id="5" name="Text 3"/>
          <p:cNvSpPr txBox="1"/>
          <p:nvPr/>
        </p:nvSpPr>
        <p:spPr>
          <a:xfrm>
            <a:off x="457200" y="292608"/>
            <a:ext cx="658368" cy="658368"/>
          </a:xfrm>
          <a:prstGeom prst="rect">
            <a:avLst/>
          </a:prstGeom>
          <a:noFill/>
          <a:ln/>
        </p:spPr>
        <p:txBody>
          <a:bodyPr wrap="square" lIns="0" tIns="0" rIns="0" bIns="0" rtlCol="0" anchor="ctr"/>
          <a:lstStyle/>
          <a:p>
            <a:pPr marL="0" indent="0" algn="ctr">
              <a:buNone/>
            </a:pPr>
            <a:r>
              <a:rPr lang="en-US" sz="2200" b="1" dirty="0">
                <a:solidFill>
                  <a:srgbClr val="FFFFFF"/>
                </a:solidFill>
              </a:rPr>
              <a:t>🗂️</a:t>
            </a:r>
            <a:endParaRPr lang="en-US" sz="2200" dirty="0"/>
          </a:p>
        </p:txBody>
      </p:sp>
      <p:sp>
        <p:nvSpPr>
          <p:cNvPr id="6" name="Text 0"/>
          <p:cNvSpPr>
            <a:spLocks noGrp="1"/>
          </p:cNvSpPr>
          <p:nvPr>
            <p:ph type="title" idx="100" hasCustomPrompt="1"/>
          </p:nvPr>
        </p:nvSpPr>
        <p:spPr>
          <a:xfrm>
            <a:off x="1280160" y="274320"/>
            <a:ext cx="7315200" cy="685800"/>
          </a:xfrm>
          <a:prstGeom prst="rect">
            <a:avLst/>
          </a:prstGeom>
          <a:noFill/>
          <a:ln/>
        </p:spPr>
        <p:txBody>
          <a:bodyPr wrap="square" rtlCol="0" anchor="ctr"/>
          <a:lstStyle/>
          <a:p>
            <a:pPr marL="0" indent="0">
              <a:buNone/>
            </a:pPr>
            <a:r>
              <a:rPr lang="en-US" sz="2600" b="1" dirty="0">
                <a:solidFill>
                  <a:srgbClr val="FFFFFF"/>
                </a:solidFill>
              </a:rPr>
              <a:t>NEXT TIME…</a:t>
            </a:r>
            <a:endParaRPr lang="en-US" sz="2600" dirty="0"/>
          </a:p>
        </p:txBody>
      </p:sp>
      <p:sp>
        <p:nvSpPr>
          <p:cNvPr id="7" name="Text 5"/>
          <p:cNvSpPr txBox="1"/>
          <p:nvPr/>
        </p:nvSpPr>
        <p:spPr>
          <a:xfrm>
            <a:off x="457200" y="1005840"/>
            <a:ext cx="8229600" cy="365760"/>
          </a:xfrm>
          <a:prstGeom prst="rect">
            <a:avLst/>
          </a:prstGeom>
          <a:noFill/>
          <a:ln/>
        </p:spPr>
        <p:txBody>
          <a:bodyPr wrap="square" lIns="0" tIns="0" rIns="0" bIns="0" rtlCol="0" anchor="t"/>
          <a:lstStyle/>
          <a:p>
            <a:pPr marL="0" indent="0">
              <a:buNone/>
            </a:pPr>
            <a:r>
              <a:rPr lang="en-US" sz="2000" b="1" dirty="0">
                <a:solidFill>
                  <a:srgbClr val="FFC857"/>
                </a:solidFill>
              </a:rPr>
              <a:t>ORGANISING THE WHOLE REPORT</a:t>
            </a:r>
            <a:endParaRPr lang="en-US" sz="2000" dirty="0"/>
          </a:p>
        </p:txBody>
      </p:sp>
      <p:sp>
        <p:nvSpPr>
          <p:cNvPr id="8" name="Text 6"/>
          <p:cNvSpPr txBox="1"/>
          <p:nvPr/>
        </p:nvSpPr>
        <p:spPr>
          <a:xfrm>
            <a:off x="457200" y="1371600"/>
            <a:ext cx="8229600" cy="274320"/>
          </a:xfrm>
          <a:prstGeom prst="rect">
            <a:avLst/>
          </a:prstGeom>
          <a:noFill/>
          <a:ln/>
        </p:spPr>
        <p:txBody>
          <a:bodyPr wrap="square" lIns="0" tIns="0" rIns="0" bIns="0" rtlCol="0" anchor="t"/>
          <a:lstStyle/>
          <a:p>
            <a:pPr marL="0" indent="0">
              <a:buNone/>
            </a:pPr>
            <a:r>
              <a:rPr lang="en-US" b="1" dirty="0">
                <a:solidFill>
                  <a:srgbClr val="FFFFFF"/>
                </a:solidFill>
              </a:rPr>
              <a:t>We will learn how to move from:</a:t>
            </a:r>
            <a:endParaRPr lang="en-US" b="1" dirty="0"/>
          </a:p>
        </p:txBody>
      </p:sp>
      <p:sp>
        <p:nvSpPr>
          <p:cNvPr id="9" name="Shape 7"/>
          <p:cNvSpPr/>
          <p:nvPr/>
        </p:nvSpPr>
        <p:spPr>
          <a:xfrm>
            <a:off x="457200" y="1737360"/>
            <a:ext cx="2377440" cy="731520"/>
          </a:xfrm>
          <a:prstGeom prst="roundRect">
            <a:avLst>
              <a:gd name="adj" fmla="val 18750"/>
            </a:avLst>
          </a:prstGeom>
          <a:solidFill>
            <a:srgbClr val="FFFFFF"/>
          </a:solidFill>
          <a:ln/>
          <a:effectLst>
            <a:outerShdw blurRad="76200" dist="25400" dir="5400000" algn="bl" rotWithShape="0">
              <a:srgbClr val="000000">
                <a:alpha val="15000"/>
              </a:srgbClr>
            </a:outerShdw>
          </a:effectLst>
        </p:spPr>
      </p:sp>
      <p:sp>
        <p:nvSpPr>
          <p:cNvPr id="10" name="Text 8"/>
          <p:cNvSpPr txBox="1"/>
          <p:nvPr/>
        </p:nvSpPr>
        <p:spPr>
          <a:xfrm>
            <a:off x="457200" y="1737360"/>
            <a:ext cx="2377440" cy="731520"/>
          </a:xfrm>
          <a:prstGeom prst="rect">
            <a:avLst/>
          </a:prstGeom>
          <a:noFill/>
          <a:ln/>
        </p:spPr>
        <p:txBody>
          <a:bodyPr wrap="square" lIns="0" tIns="0" rIns="0" bIns="0" rtlCol="0" anchor="ctr"/>
          <a:lstStyle/>
          <a:p>
            <a:pPr marL="0" indent="0" algn="ctr">
              <a:buNone/>
            </a:pPr>
            <a:r>
              <a:rPr lang="en-US" sz="1700" b="1" dirty="0">
                <a:solidFill>
                  <a:srgbClr val="0A3D4A"/>
                </a:solidFill>
              </a:rPr>
              <a:t>Research notes</a:t>
            </a:r>
            <a:endParaRPr lang="en-US" sz="1700" dirty="0"/>
          </a:p>
        </p:txBody>
      </p:sp>
      <p:sp>
        <p:nvSpPr>
          <p:cNvPr id="11" name="Text 9"/>
          <p:cNvSpPr txBox="1"/>
          <p:nvPr/>
        </p:nvSpPr>
        <p:spPr>
          <a:xfrm>
            <a:off x="2834640" y="1737360"/>
            <a:ext cx="548640" cy="731520"/>
          </a:xfrm>
          <a:prstGeom prst="rect">
            <a:avLst/>
          </a:prstGeom>
          <a:noFill/>
          <a:ln/>
        </p:spPr>
        <p:txBody>
          <a:bodyPr wrap="square" lIns="0" tIns="0" rIns="0" bIns="0" rtlCol="0" anchor="ctr"/>
          <a:lstStyle/>
          <a:p>
            <a:pPr marL="0" indent="0" algn="ctr">
              <a:buNone/>
            </a:pPr>
            <a:r>
              <a:rPr lang="en-US" sz="2000" b="1" dirty="0">
                <a:solidFill>
                  <a:srgbClr val="FFC857"/>
                </a:solidFill>
              </a:rPr>
              <a:t>→</a:t>
            </a:r>
            <a:endParaRPr lang="en-US" sz="2000" dirty="0"/>
          </a:p>
        </p:txBody>
      </p:sp>
      <p:sp>
        <p:nvSpPr>
          <p:cNvPr id="12" name="Shape 10"/>
          <p:cNvSpPr/>
          <p:nvPr/>
        </p:nvSpPr>
        <p:spPr>
          <a:xfrm>
            <a:off x="3383280" y="1737360"/>
            <a:ext cx="2377440" cy="731520"/>
          </a:xfrm>
          <a:prstGeom prst="roundRect">
            <a:avLst>
              <a:gd name="adj" fmla="val 18750"/>
            </a:avLst>
          </a:prstGeom>
          <a:solidFill>
            <a:srgbClr val="FFFFFF"/>
          </a:solidFill>
          <a:ln/>
          <a:effectLst>
            <a:outerShdw blurRad="76200" dist="25400" dir="5400000" algn="bl" rotWithShape="0">
              <a:srgbClr val="000000">
                <a:alpha val="15000"/>
              </a:srgbClr>
            </a:outerShdw>
          </a:effectLst>
        </p:spPr>
      </p:sp>
      <p:sp>
        <p:nvSpPr>
          <p:cNvPr id="13" name="Text 11"/>
          <p:cNvSpPr txBox="1"/>
          <p:nvPr/>
        </p:nvSpPr>
        <p:spPr>
          <a:xfrm>
            <a:off x="3383280" y="1737360"/>
            <a:ext cx="2377440" cy="731520"/>
          </a:xfrm>
          <a:prstGeom prst="rect">
            <a:avLst/>
          </a:prstGeom>
          <a:noFill/>
          <a:ln/>
        </p:spPr>
        <p:txBody>
          <a:bodyPr wrap="square" lIns="0" tIns="0" rIns="0" bIns="0" rtlCol="0" anchor="ctr"/>
          <a:lstStyle/>
          <a:p>
            <a:pPr marL="0" indent="0" algn="ctr">
              <a:buNone/>
            </a:pPr>
            <a:r>
              <a:rPr lang="en-US" sz="1700" b="1" dirty="0">
                <a:solidFill>
                  <a:srgbClr val="0A3D4A"/>
                </a:solidFill>
              </a:rPr>
              <a:t>Paragraphs</a:t>
            </a:r>
            <a:endParaRPr lang="en-US" sz="1700" dirty="0"/>
          </a:p>
        </p:txBody>
      </p:sp>
      <p:sp>
        <p:nvSpPr>
          <p:cNvPr id="14" name="Text 12"/>
          <p:cNvSpPr txBox="1"/>
          <p:nvPr/>
        </p:nvSpPr>
        <p:spPr>
          <a:xfrm>
            <a:off x="5760720" y="1737360"/>
            <a:ext cx="548640" cy="731520"/>
          </a:xfrm>
          <a:prstGeom prst="rect">
            <a:avLst/>
          </a:prstGeom>
          <a:noFill/>
          <a:ln/>
        </p:spPr>
        <p:txBody>
          <a:bodyPr wrap="square" lIns="0" tIns="0" rIns="0" bIns="0" rtlCol="0" anchor="ctr"/>
          <a:lstStyle/>
          <a:p>
            <a:pPr marL="0" indent="0" algn="ctr">
              <a:buNone/>
            </a:pPr>
            <a:r>
              <a:rPr lang="en-US" sz="2000" b="1" dirty="0">
                <a:solidFill>
                  <a:srgbClr val="FFC857"/>
                </a:solidFill>
              </a:rPr>
              <a:t>→</a:t>
            </a:r>
            <a:endParaRPr lang="en-US" sz="2000" dirty="0"/>
          </a:p>
        </p:txBody>
      </p:sp>
      <p:sp>
        <p:nvSpPr>
          <p:cNvPr id="15" name="Shape 13"/>
          <p:cNvSpPr/>
          <p:nvPr/>
        </p:nvSpPr>
        <p:spPr>
          <a:xfrm>
            <a:off x="6309360" y="1737360"/>
            <a:ext cx="2377440" cy="731520"/>
          </a:xfrm>
          <a:prstGeom prst="roundRect">
            <a:avLst>
              <a:gd name="adj" fmla="val 18750"/>
            </a:avLst>
          </a:prstGeom>
          <a:solidFill>
            <a:srgbClr val="FFC857"/>
          </a:solidFill>
          <a:ln/>
          <a:effectLst>
            <a:outerShdw blurRad="76200" dist="25400" dir="5400000" algn="bl" rotWithShape="0">
              <a:srgbClr val="000000">
                <a:alpha val="15000"/>
              </a:srgbClr>
            </a:outerShdw>
          </a:effectLst>
        </p:spPr>
      </p:sp>
      <p:sp>
        <p:nvSpPr>
          <p:cNvPr id="16" name="Text 14"/>
          <p:cNvSpPr txBox="1"/>
          <p:nvPr/>
        </p:nvSpPr>
        <p:spPr>
          <a:xfrm>
            <a:off x="6309360" y="1737360"/>
            <a:ext cx="2377440" cy="731520"/>
          </a:xfrm>
          <a:prstGeom prst="rect">
            <a:avLst/>
          </a:prstGeom>
          <a:noFill/>
          <a:ln/>
        </p:spPr>
        <p:txBody>
          <a:bodyPr wrap="square" lIns="0" tIns="0" rIns="0" bIns="0" rtlCol="0" anchor="ctr"/>
          <a:lstStyle/>
          <a:p>
            <a:pPr marL="0" indent="0" algn="ctr">
              <a:buNone/>
            </a:pPr>
            <a:r>
              <a:rPr lang="en-US" sz="1700" b="1" dirty="0">
                <a:solidFill>
                  <a:srgbClr val="0A3D4A"/>
                </a:solidFill>
              </a:rPr>
              <a:t>REPORT PLAN</a:t>
            </a:r>
            <a:endParaRPr lang="en-US" sz="1700" dirty="0"/>
          </a:p>
        </p:txBody>
      </p:sp>
      <p:sp>
        <p:nvSpPr>
          <p:cNvPr id="17" name="Shape 15"/>
          <p:cNvSpPr/>
          <p:nvPr/>
        </p:nvSpPr>
        <p:spPr>
          <a:xfrm>
            <a:off x="457200" y="2697480"/>
            <a:ext cx="4297680" cy="2011680"/>
          </a:xfrm>
          <a:prstGeom prst="roundRect">
            <a:avLst>
              <a:gd name="adj" fmla="val 6818"/>
            </a:avLst>
          </a:prstGeom>
          <a:solidFill>
            <a:srgbClr val="FFFFFF"/>
          </a:solidFill>
          <a:ln/>
          <a:effectLst>
            <a:outerShdw blurRad="76200" dist="25400" dir="5400000" algn="bl" rotWithShape="0">
              <a:srgbClr val="000000">
                <a:alpha val="15000"/>
              </a:srgbClr>
            </a:outerShdw>
          </a:effectLst>
        </p:spPr>
      </p:sp>
      <p:sp>
        <p:nvSpPr>
          <p:cNvPr id="18" name="Text 16"/>
          <p:cNvSpPr txBox="1"/>
          <p:nvPr/>
        </p:nvSpPr>
        <p:spPr>
          <a:xfrm>
            <a:off x="579783" y="2779776"/>
            <a:ext cx="3840480" cy="1828800"/>
          </a:xfrm>
          <a:prstGeom prst="rect">
            <a:avLst/>
          </a:prstGeom>
          <a:noFill/>
          <a:ln/>
        </p:spPr>
        <p:txBody>
          <a:bodyPr wrap="square" lIns="0" tIns="0" rIns="0" bIns="0" rtlCol="0" anchor="t"/>
          <a:lstStyle/>
          <a:p>
            <a:pPr marL="0" indent="0">
              <a:buNone/>
            </a:pPr>
            <a:r>
              <a:rPr lang="en-US" b="1" dirty="0">
                <a:solidFill>
                  <a:srgbClr val="0E7C86"/>
                </a:solidFill>
                <a:highlight>
                  <a:srgbClr val="FFFF00"/>
                </a:highlight>
              </a:rPr>
              <a:t>We will decide:</a:t>
            </a:r>
            <a:endParaRPr lang="en-US" sz="2000" dirty="0">
              <a:highlight>
                <a:srgbClr val="FFFF00"/>
              </a:highlight>
            </a:endParaRPr>
          </a:p>
          <a:p>
            <a:pPr marL="342900" indent="-342900">
              <a:spcAft>
                <a:spcPts val="400"/>
              </a:spcAft>
              <a:buSzPct val="100000"/>
              <a:buChar char="•"/>
            </a:pPr>
            <a:r>
              <a:rPr lang="en-US" sz="1600" dirty="0">
                <a:solidFill>
                  <a:srgbClr val="0A3D4A"/>
                </a:solidFill>
              </a:rPr>
              <a:t>what goes in the introduction</a:t>
            </a:r>
            <a:endParaRPr lang="en-US" sz="2000" dirty="0"/>
          </a:p>
          <a:p>
            <a:pPr marL="342900" indent="-342900">
              <a:spcAft>
                <a:spcPts val="400"/>
              </a:spcAft>
              <a:buSzPct val="100000"/>
              <a:buChar char="•"/>
            </a:pPr>
            <a:r>
              <a:rPr lang="en-US" sz="1600" dirty="0">
                <a:solidFill>
                  <a:srgbClr val="0A3D4A"/>
                </a:solidFill>
              </a:rPr>
              <a:t>what belongs under each heading</a:t>
            </a:r>
            <a:endParaRPr lang="en-US" sz="2000" dirty="0"/>
          </a:p>
          <a:p>
            <a:pPr marL="342900" indent="-342900">
              <a:spcAft>
                <a:spcPts val="400"/>
              </a:spcAft>
              <a:buSzPct val="100000"/>
              <a:buChar char="•"/>
            </a:pPr>
            <a:r>
              <a:rPr lang="en-US" sz="1600" dirty="0">
                <a:solidFill>
                  <a:srgbClr val="0A3D4A"/>
                </a:solidFill>
              </a:rPr>
              <a:t>how to group information</a:t>
            </a:r>
            <a:endParaRPr lang="en-US" sz="2000" dirty="0"/>
          </a:p>
          <a:p>
            <a:pPr marL="342900" indent="-342900">
              <a:spcAft>
                <a:spcPts val="400"/>
              </a:spcAft>
              <a:buSzPct val="100000"/>
              <a:buChar char="•"/>
            </a:pPr>
            <a:r>
              <a:rPr lang="en-US" sz="1600" dirty="0">
                <a:solidFill>
                  <a:srgbClr val="0A3D4A"/>
                </a:solidFill>
              </a:rPr>
              <a:t>how to sequence ideas</a:t>
            </a:r>
            <a:endParaRPr lang="en-US" sz="2000" dirty="0"/>
          </a:p>
          <a:p>
            <a:pPr marL="342900" indent="-342900">
              <a:spcAft>
                <a:spcPts val="400"/>
              </a:spcAft>
              <a:buSzPct val="100000"/>
              <a:buChar char="•"/>
            </a:pPr>
            <a:r>
              <a:rPr lang="en-US" sz="1600" dirty="0">
                <a:solidFill>
                  <a:srgbClr val="0A3D4A"/>
                </a:solidFill>
              </a:rPr>
              <a:t>how to avoid repetition</a:t>
            </a:r>
            <a:endParaRPr lang="en-US" sz="2000" dirty="0"/>
          </a:p>
        </p:txBody>
      </p:sp>
      <p:sp>
        <p:nvSpPr>
          <p:cNvPr id="19" name="Shape 17"/>
          <p:cNvSpPr/>
          <p:nvPr/>
        </p:nvSpPr>
        <p:spPr>
          <a:xfrm>
            <a:off x="4937760" y="2697480"/>
            <a:ext cx="3749040" cy="2011680"/>
          </a:xfrm>
          <a:prstGeom prst="roundRect">
            <a:avLst>
              <a:gd name="adj" fmla="val 6818"/>
            </a:avLst>
          </a:prstGeom>
          <a:solidFill>
            <a:srgbClr val="FF6B5E"/>
          </a:solidFill>
          <a:ln/>
          <a:effectLst>
            <a:outerShdw blurRad="76200" dist="25400" dir="5400000" algn="bl" rotWithShape="0">
              <a:srgbClr val="000000">
                <a:alpha val="15000"/>
              </a:srgbClr>
            </a:outerShdw>
          </a:effectLst>
        </p:spPr>
      </p:sp>
      <p:sp>
        <p:nvSpPr>
          <p:cNvPr id="20" name="Text 18"/>
          <p:cNvSpPr txBox="1"/>
          <p:nvPr/>
        </p:nvSpPr>
        <p:spPr>
          <a:xfrm>
            <a:off x="5013960" y="2560320"/>
            <a:ext cx="3291840" cy="2011680"/>
          </a:xfrm>
          <a:prstGeom prst="rect">
            <a:avLst/>
          </a:prstGeom>
          <a:noFill/>
          <a:ln/>
        </p:spPr>
        <p:txBody>
          <a:bodyPr wrap="square" lIns="0" tIns="0" rIns="0" bIns="0" rtlCol="0" anchor="ctr"/>
          <a:lstStyle/>
          <a:p>
            <a:pPr marL="0" indent="0">
              <a:buNone/>
            </a:pPr>
            <a:r>
              <a:rPr lang="en-US" b="1" dirty="0">
                <a:solidFill>
                  <a:srgbClr val="0A3D4A"/>
                </a:solidFill>
                <a:highlight>
                  <a:srgbClr val="FFFF00"/>
                </a:highlight>
              </a:rPr>
              <a:t>BIG QUESTION</a:t>
            </a:r>
            <a:endParaRPr lang="en-US" sz="2400" b="1" dirty="0">
              <a:highlight>
                <a:srgbClr val="FFFF00"/>
              </a:highlight>
            </a:endParaRPr>
          </a:p>
          <a:p>
            <a:pPr marL="0" indent="0">
              <a:buNone/>
            </a:pPr>
            <a:r>
              <a:rPr lang="en-US" sz="2000" b="1" dirty="0">
                <a:solidFill>
                  <a:srgbClr val="FFFFFF"/>
                </a:solidFill>
              </a:rPr>
              <a:t>How can we organise our information so that the reader can follow it easily?</a:t>
            </a:r>
            <a:endParaRPr lang="en-US" sz="20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FD3D8"/>
                </a:solidFill>
              </a:defRPr>
            </a:lvl1pPr>
          </a:lstStyle>
          <a:p>
            <a:pPr algn="l"/>
            <a:fld id="{F7021451-1387-4CA6-816F-3879F97B5CBC}" type="slidenum">
              <a:rPr lang="en-US" b="0"/>
              <a:t>40</a:t>
            </a:fld>
            <a:endParaRPr lang="en-US"/>
          </a:p>
        </p:txBody>
      </p:sp>
    </p:spTree>
  </p:cSld>
  <p:clrMapOvr>
    <a:masterClrMapping/>
  </p:clrMapOvr>
</p:sld>
</file>

<file path=ppt/theme/theme1.xml><?xml version="1.0" encoding="utf-8"?>
<a:theme xmlns:a="http://schemas.openxmlformats.org/drawingml/2006/main" name="Ocean Detective">
  <a:themeElements>
    <a:clrScheme name="Ocean Detective">
      <a:dk1>
        <a:srgbClr val="0A3D4A"/>
      </a:dk1>
      <a:lt1>
        <a:srgbClr val="FFFFFF"/>
      </a:lt1>
      <a:dk2>
        <a:srgbClr val="0E7C86"/>
      </a:dk2>
      <a:lt2>
        <a:srgbClr val="EAF7F8"/>
      </a:lt2>
      <a:accent1>
        <a:srgbClr val="FF6B5E"/>
      </a:accent1>
      <a:accent2>
        <a:srgbClr val="FFC857"/>
      </a:accent2>
      <a:accent3>
        <a:srgbClr val="2BB673"/>
      </a:accent3>
      <a:accent4>
        <a:srgbClr val="7B5EA7"/>
      </a:accent4>
      <a:accent5>
        <a:srgbClr val="3A86C8"/>
      </a:accent5>
      <a:accent6>
        <a:srgbClr val="0E7C86"/>
      </a:accent6>
      <a:hlink>
        <a:srgbClr val="3A86C8"/>
      </a:hlink>
      <a:folHlink>
        <a:srgbClr val="7B5EA7"/>
      </a:folHlink>
    </a:clrScheme>
    <a:fontScheme name="Ocean Detectiv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112</TotalTime>
  <Words>2595</Words>
  <Application>Microsoft Office PowerPoint</Application>
  <PresentationFormat>On-screen Show (16:9)</PresentationFormat>
  <Paragraphs>544</Paragraphs>
  <Slides>40</Slides>
  <Notes>38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vt:i4>
      </vt:variant>
    </vt:vector>
  </HeadingPairs>
  <TitlesOfParts>
    <vt:vector size="43" baseType="lpstr">
      <vt:lpstr>Arial</vt:lpstr>
      <vt:lpstr>Calibri</vt:lpstr>
      <vt:lpstr>Ocean Detective</vt:lpstr>
      <vt:lpstr>FROM NOTES TO REPORT</vt:lpstr>
      <vt:lpstr>WHAT DO WE KNOW?</vt:lpstr>
      <vt:lpstr>ANSWER</vt:lpstr>
      <vt:lpstr>OUR CHALLENGE</vt:lpstr>
      <vt:lpstr>BUILD THE SENTENCE</vt:lpstr>
      <vt:lpstr>ANSWER</vt:lpstr>
      <vt:lpstr>ONE FACT IS NOT ALWAYS ENOUGH</vt:lpstr>
      <vt:lpstr>ADD EXTRA INFORMATION</vt:lpstr>
      <vt:lpstr>COMPLETE THE SENTENCE</vt:lpstr>
      <vt:lpstr>ANSWER</vt:lpstr>
      <vt:lpstr>STRONG WRITING ≠ LONG WRITING</vt:lpstr>
      <vt:lpstr>ANSWER</vt:lpstr>
      <vt:lpstr>BUILD DIFFERENT SENTENCES</vt:lpstr>
      <vt:lpstr>WHAT TYPE IS IT?</vt:lpstr>
      <vt:lpstr>ANSWER</vt:lpstr>
      <vt:lpstr>REPORT WRITERS CONNECT IDEAS</vt:lpstr>
      <vt:lpstr>WHICH CONNECTOR FITS?</vt:lpstr>
      <vt:lpstr>ANSWER</vt:lpstr>
      <vt:lpstr>DEVELOP YOUR INFORMATION</vt:lpstr>
      <vt:lpstr>PUT THE IDEAS IN ORDER</vt:lpstr>
      <vt:lpstr>ANSWER</vt:lpstr>
      <vt:lpstr>A STRONG REPORT PARAGRAPH</vt:lpstr>
      <vt:lpstr>REPORT WRITING DETECTIVE</vt:lpstr>
      <vt:lpstr>FINDINGS</vt:lpstr>
      <vt:lpstr>LET'S BUILD ONE TOGETHER</vt:lpstr>
      <vt:lpstr>MODEL</vt:lpstr>
      <vt:lpstr>YOUR TURN</vt:lpstr>
      <vt:lpstr>PowerPoint Presentation</vt:lpstr>
      <vt:lpstr>SUPPORT</vt:lpstr>
      <vt:lpstr>SUPPORT Model </vt:lpstr>
      <vt:lpstr>CORE</vt:lpstr>
      <vt:lpstr>Core Model </vt:lpstr>
      <vt:lpstr>EXTEND</vt:lpstr>
      <vt:lpstr>Extend Model </vt:lpstr>
      <vt:lpstr>CHECK YOUR PARTNER'S PARAGRAPH</vt:lpstr>
      <vt:lpstr>MAKE YOUR WRITING STRONGER</vt:lpstr>
      <vt:lpstr>EXIT TICKET</vt:lpstr>
      <vt:lpstr>CHECK YOUR ANSWERS</vt:lpstr>
      <vt:lpstr>HOMEWORK: BUILD A PARAGRAPH</vt:lpstr>
      <vt:lpstr>NEXT TIME…</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Notes to Report - Year 6 English</dc:title>
  <dc:subject>PptxGenJS Presentation</dc:subject>
  <dc:creator>PptxGenJS</dc:creator>
  <cp:lastModifiedBy>Rozan Zakaria@meis-eg.com</cp:lastModifiedBy>
  <cp:revision>5</cp:revision>
  <dcterms:created xsi:type="dcterms:W3CDTF">2026-10-02T21:16:24Z</dcterms:created>
  <dcterms:modified xsi:type="dcterms:W3CDTF">2026-10-07T09:50:06Z</dcterms:modified>
</cp:coreProperties>
</file>