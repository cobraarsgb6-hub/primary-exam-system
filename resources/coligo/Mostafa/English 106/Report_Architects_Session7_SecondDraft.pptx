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2" d="100"/>
          <a:sy n="112" d="100"/>
        </p:scale>
        <p:origin x="390"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Drafts</c:v>
                </c:pt>
              </c:strCache>
            </c:strRef>
          </c:tx>
          <c:spPr>
            <a:solidFill>
              <a:srgbClr val="2A9D8F"/>
            </a:solidFill>
            <a:effectLst/>
          </c:spPr>
          <c:invertIfNegative val="0"/>
          <c:dLbls>
            <c:numFmt formatCode="#,##0" sourceLinked="0"/>
            <c:spPr>
              <a:noFill/>
              <a:ln>
                <a:noFill/>
              </a:ln>
              <a:effectLst/>
            </c:spPr>
            <c:txPr>
              <a:bodyPr/>
              <a:lstStyle/>
              <a:p>
                <a:pPr>
                  <a:defRPr sz="1400" b="0" i="0" u="none" strike="noStrike">
                    <a:solidFill>
                      <a:srgbClr val="0B3C49"/>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Sheet1!$A$2:$A$10</c:f>
              <c:strCache>
                <c:ptCount val="9"/>
                <c:pt idx="0">
                  <c:v>Spelling and capital letters</c:v>
                </c:pt>
                <c:pt idx="1">
                  <c:v>Full stops and run-on sentences</c:v>
                </c:pt>
                <c:pt idx="2">
                  <c:v>Verbs do not agree</c:v>
                </c:pt>
                <c:pt idx="3">
                  <c:v>Introduction has no WHY</c:v>
                </c:pt>
                <c:pt idx="4">
                  <c:v>Headings missing</c:v>
                </c:pt>
                <c:pt idx="5">
                  <c:v>Ending missing or not a reason</c:v>
                </c:pt>
                <c:pt idx="6">
                  <c:v>Notes or one block, not paragraphs</c:v>
                </c:pt>
                <c:pt idx="7">
                  <c:v>Vague words</c:v>
                </c:pt>
                <c:pt idx="8">
                  <c:v>Feedback copied word for word</c:v>
                </c:pt>
              </c:strCache>
            </c:strRef>
          </c:cat>
          <c:val>
            <c:numRef>
              <c:f>Sheet1!$B$2:$B$10</c:f>
              <c:numCache>
                <c:formatCode>General</c:formatCode>
                <c:ptCount val="9"/>
                <c:pt idx="0">
                  <c:v>9</c:v>
                </c:pt>
                <c:pt idx="1">
                  <c:v>7</c:v>
                </c:pt>
                <c:pt idx="2">
                  <c:v>7</c:v>
                </c:pt>
                <c:pt idx="3">
                  <c:v>5</c:v>
                </c:pt>
                <c:pt idx="4">
                  <c:v>4</c:v>
                </c:pt>
                <c:pt idx="5">
                  <c:v>4</c:v>
                </c:pt>
                <c:pt idx="6">
                  <c:v>4</c:v>
                </c:pt>
                <c:pt idx="7">
                  <c:v>4</c:v>
                </c:pt>
                <c:pt idx="8">
                  <c:v>4</c:v>
                </c:pt>
              </c:numCache>
            </c:numRef>
          </c:val>
          <c:extLst>
            <c:ext xmlns:c16="http://schemas.microsoft.com/office/drawing/2014/chart" uri="{C3380CC4-5D6E-409C-BE32-E72D297353CC}">
              <c16:uniqueId val="{00000000-A569-4A96-BCDF-8B4AAB1267BB}"/>
            </c:ext>
          </c:extLst>
        </c:ser>
        <c:dLbls>
          <c:showLegendKey val="0"/>
          <c:showVal val="1"/>
          <c:showCatName val="0"/>
          <c:showSerName val="0"/>
          <c:showPercent val="0"/>
          <c:showBubbleSize val="0"/>
        </c:dLbls>
        <c:gapWidth val="35"/>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0B3C49"/>
                </a:solidFill>
                <a:latin typeface="+mn-lt"/>
              </a:defRPr>
            </a:pPr>
            <a:endParaRPr lang="en-US"/>
          </a:p>
        </c:txPr>
        <c:crossAx val="2094734552"/>
        <c:crosses val="autoZero"/>
        <c:auto val="1"/>
        <c:lblAlgn val="ctr"/>
        <c:lblOffset val="100"/>
        <c:noMultiLvlLbl val="1"/>
      </c:catAx>
      <c:valAx>
        <c:axId val="2094734552"/>
        <c:scaling>
          <c:orientation val="minMax"/>
          <c:max val="10.5"/>
          <c:min val="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82106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goal: pupils fix the problems that appeared in the first drafts and write a clearer second draft.
All examples are real sentences from the first drafts of nine pupils (Rofida, Mera, Mostafa, Bekhit, Mawadda, Renad, Yassin, Waseela, Sadeel). Hussein, Yasser and Ahmed's drafts were not in the file, so they are not shown: they use the general fixes and their Session 6 targets. Skip any example that could embarrass a pupil.
Timing guide: Starter 5 · Strengths and class problems 8 · Eight fix-it mini-lessons 20 · Own words 3 · Fix it fast 4 · Plan and editing marks 5 · Writing the second draft 25 · Partner check 4 · Plenary 3 · Exit ticket 2 · Transitions 1.
Before the lesson: pupils need their first draft, their feedback sheet from Session 6, a pencil, a purple pen and lined paper for the second draft.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goals aloud. Link: last lesson we checked the first draft and gave feedback. Today we fix the biggest problems and write the second draft.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retrieval on mini-whiteboards. Verb agreement was one of the most common problems in the first drafts. Answer B.</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 Blue whales is plural so the verb is eat. A has eats with a plural subject. C has no real verb. D mixes singular whale with the verb eat.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minutes. Read each quote aloud and name the writer. Say which skill it shows. Every pupil who handed in a draft is named for something good. These are real sentences from the first drafts.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minutes. Counts come from reading the nine first drafts, so they are approximate. Say: the more drafts needed a fix, the more likely YOUR draft needs it too. Walk through the list on the right: that is today's order. The last bar (feedback copied word for word) is a note for the teacher: some pupils copied the 'better versions' from their feedback sheets. Say it kindly and generally: use the feedback as a model, then write your own words.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minutes. Rule: capital letter, one idea, full stop. Join ideas with a joining word (because, so, and, but, which) NOT a comma alone. Read the left aloud (hard to read without full stops) then reveal the right. Cover the right column first and ask pupils to fix the left. 7 of the 9 drafts needed this.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minutes. One animal: it eats, it lives. Many animals: they eat, they live. After can or should use the base verb (it can live). 7 of the 9 drafts needed this. Ask pupils to say the rule aloud.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minutes. Formula: WHAT it is + WHY it is important to know about it. 5 of the 9 introductions had no 'why' (Mera, Bekhit, Renad, Yassin, Sadeel). Mera's why was a because sentence that did not give a reason. Rofida, Mostafa, Mawadda and Waseela already did it: praise them. Pupils write their OWN version, not these words.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minutes. Formula: Protecting ___ matters because ___. Mera, Waseela and Rofida wrote strong endings: praise them. Mostafa's ending was unfinished, Mawadda's gave no real reason, Renad's was a fact, Bekhit had no ending. Pupils write their OWN reason, not these words.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minutes. Notes are fine for a plan, but a draft needs full sentences in paragraphs under headings. Renad's whole report was one block. Bekhit wrote about several animals: a report is about ONE creature. Mostafa had no About section. Yassin's draft was still notes. 4 drafts had no headings and 4 had no clear paragraphs.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minutes. Show how Mawadda's threats paragraph (clear topic sentence, a relative clause) can be developed with an explanation, a detail and a link. Recipe: topic sentence, fact, explain, detail, link. Waseela and Rofida already develop their facts well. Many drafts have only one short sentence per fact: ask pupils to explain WHY or HOW.</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minutes. Replace vague words (amazing, danger threats, making pollution) with precise ones. Check each fact: Bekhit wrote that the lion is the fastest animal on land (my reading of his handwriting): the cheetah is. Waseela's 'greenlands' should be grasslands or savannas. 4 drafts used vague words.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minutes. Real misspellings of topic words from the first drafts (names show the writer). Pupils copy topic words from the word bank, a book or a reliable website BEFORE writing them. All nine drafts had spelling or capital letter errors. Capitals: names and places (African, Earth), the start of every sentence, never in the middle (Illegal, Plastic, Boats, Ships).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minutes. Teach this kindly and without naming anyone. In several drafts whole sentences from the 'better version' on the feedback sheet were copied word for word. That does not show what the pupil can do. The feedback shows the idea (a reason with because, a relative clause); the pupil must write their own sentence with their own facts. The example is invented (pandas). Model steps 1 to 4 with the pandas sentence.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minutes, mini-whiteboards. Real sentences from the first drafts. Read each, pupils write the corrected sentence, show boards. Answers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one at a time and name each rule. Accept any correct version.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minutes. Each pupil finds their name and reads their target. Targets come from reading the first drafts. Hussein, Yasser and Ahmed did not have a draft in the file: they use their Session 6 targets (or ask them to show you the draft). Pupils copy their target to the top of the second draft.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Pupils use this to check their second draft. Read each aloud. The first column is the structure and ideas; the second is the writing. Pupils tick only when they can show evidence.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minutes. Teach the steps and the editing marks. Pupils read their first draft with their target, mark it with pencil, then write the NEW draft on fresh paper (every other line). Keep the first draft to compare. Editing marks: circle spelling, box a missing capital, dot a missing full stop, wavy line under a verb to check, ^ for a missing word.</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minutes independent writing. Circulate: conference with pupils who need to start from a plan (Bekhit, Mostafa, Renad, Yassin). Check that pupils write in their own words and do not copy the feedback sheet. Pupils choose a level but may move up.</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slide up during writing time.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minutes. Pupils swap second drafts and use the success criteria. Each gives ONE strength and ONE improvement (spoken or on a sticky note). Remind them to name a criterion and quote the writer's words.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minutes. Take 2 or 3 pupils to read their best improved sentence aloud. Ask the class which fix it shows. Then traffic lights: pupils show a colour or put a dot on their draft. Use the results to plan the final check and publishing session.</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minutes. Answers: 1 Sea turtles are in danger. People throw plastic into the sea. 2 It eats tiny creatures called krill. 3 Because the second draft must show my own writing; the feedback is only a model.</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minutes. Answers: 1 Sea turtles are in danger. People throw plastic into the sea. 2 It eats tiny creatures called krill. 3 Because the second draft must show my own writing; the feedback is only a model.</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Homework: finish the second draft using the target, the success criteria and the partner feedback. Pupils bring both drafts to the next session. The next session title is my suggestion: change it to match your unit plan.</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2"/>
        </a:solidFill>
        <a:effectLst/>
      </p:bgPr>
    </p:bg>
    <p:spTree>
      <p:nvGrpSpPr>
        <p:cNvPr id="1" name=""/>
        <p:cNvGrpSpPr/>
        <p:nvPr/>
      </p:nvGrpSpPr>
      <p:grpSpPr>
        <a:xfrm>
          <a:off x="0" y="0"/>
          <a:ext cx="0" cy="0"/>
          <a:chOff x="0" y="0"/>
          <a:chExt cx="0" cy="0"/>
        </a:xfrm>
      </p:grpSpPr>
      <p:sp>
        <p:nvSpPr>
          <p:cNvPr id="2" name="Shape 0"/>
          <p:cNvSpPr/>
          <p:nvPr/>
        </p:nvSpPr>
        <p:spPr>
          <a:xfrm>
            <a:off x="0" y="0"/>
            <a:ext cx="12191695" cy="822960"/>
          </a:xfrm>
          <a:prstGeom prst="rect">
            <a:avLst/>
          </a:prstGeom>
          <a:solidFill>
            <a:schemeClr val="tx1"/>
          </a:solidFill>
          <a:ln/>
        </p:spPr>
      </p:sp>
      <p:sp>
        <p:nvSpPr>
          <p:cNvPr id="3" name="Text 1"/>
          <p:cNvSpPr>
            <a:spLocks noGrp="1"/>
          </p:cNvSpPr>
          <p:nvPr>
            <p:ph type="title" idx="101" hasCustomPrompt="1"/>
          </p:nvPr>
        </p:nvSpPr>
        <p:spPr>
          <a:xfrm>
            <a:off x="457200" y="0"/>
            <a:ext cx="9326880" cy="822960"/>
          </a:xfrm>
          <a:prstGeom prst="rect">
            <a:avLst/>
          </a:prstGeom>
          <a:noFill/>
          <a:ln/>
        </p:spPr>
        <p:txBody>
          <a:bodyPr wrap="square" rtlCol="0"/>
          <a:lstStyle>
            <a:lvl1pPr marL="0" indent="0" algn="l">
              <a:buNone/>
              <a:defRPr lang="en-US" sz="2600" b="1" dirty="0">
                <a:solidFill>
                  <a:schemeClr val="bg1"/>
                </a:solidFill>
                <a:latin typeface="+mj-lt" pitchFamily="34" charset="0"/>
                <a:ea typeface="+mj-lt" pitchFamily="34" charset="-122"/>
                <a:cs typeface="+mj-lt" pitchFamily="34" charset="-120"/>
              </a:defRPr>
            </a:lvl1pPr>
          </a:lstStyle>
          <a:p>
            <a:pPr marL="0" indent="0" algn="l">
              <a:buNone/>
            </a:pPr>
            <a:endParaRPr lang="en-US" sz="2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914400"/>
            <a:ext cx="9144000" cy="914400"/>
          </a:xfrm>
          <a:prstGeom prst="rect">
            <a:avLst/>
          </a:prstGeom>
          <a:noFill/>
          <a:ln/>
        </p:spPr>
        <p:txBody>
          <a:bodyPr wrap="square" rtlCol="0"/>
          <a:lstStyle>
            <a:lvl1pPr marL="0" indent="0">
              <a:buNone/>
              <a:defRPr lang="en-US" sz="4000" b="1" dirty="0">
                <a:solidFill>
                  <a:schemeClr val="bg1"/>
                </a:solidFill>
                <a:latin typeface="+mj-lt" pitchFamily="34" charset="0"/>
                <a:ea typeface="+mj-lt" pitchFamily="34" charset="-122"/>
                <a:cs typeface="+mj-lt" pitchFamily="34" charset="-120"/>
              </a:defRPr>
            </a:lvl1pPr>
          </a:lstStyle>
          <a:p>
            <a:pPr marL="0" indent="0">
              <a:buNone/>
            </a:pPr>
            <a:endParaRPr lang="en-US" sz="4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EAL">
    <p:bg>
      <p:bgPr>
        <a:solidFill>
          <a:schemeClr val="accent1"/>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9418320" y="-822960"/>
            <a:ext cx="3566160" cy="3566160"/>
          </a:xfrm>
          <a:prstGeom prst="ellipse">
            <a:avLst/>
          </a:prstGeom>
          <a:solidFill>
            <a:schemeClr val="accent1"/>
          </a:solidFill>
          <a:ln/>
        </p:spPr>
      </p:sp>
      <p:sp>
        <p:nvSpPr>
          <p:cNvPr id="3" name="Shape 1"/>
          <p:cNvSpPr/>
          <p:nvPr/>
        </p:nvSpPr>
        <p:spPr>
          <a:xfrm>
            <a:off x="9966960" y="4846320"/>
            <a:ext cx="2743200" cy="2743200"/>
          </a:xfrm>
          <a:prstGeom prst="ellipse">
            <a:avLst/>
          </a:prstGeom>
          <a:solidFill>
            <a:schemeClr val="accent3"/>
          </a:solidFill>
          <a:ln/>
        </p:spPr>
      </p:sp>
      <p:sp>
        <p:nvSpPr>
          <p:cNvPr id="4" name="Text 2"/>
          <p:cNvSpPr txBox="1"/>
          <p:nvPr/>
        </p:nvSpPr>
        <p:spPr>
          <a:xfrm>
            <a:off x="731520" y="822960"/>
            <a:ext cx="7315200" cy="365760"/>
          </a:xfrm>
          <a:prstGeom prst="rect">
            <a:avLst/>
          </a:prstGeom>
          <a:noFill/>
          <a:ln/>
        </p:spPr>
        <p:txBody>
          <a:bodyPr wrap="square" lIns="0" tIns="0" rIns="0" bIns="0" rtlCol="0" anchor="ctr"/>
          <a:lstStyle/>
          <a:p>
            <a:pPr marL="0" indent="0">
              <a:buNone/>
            </a:pPr>
            <a:r>
              <a:rPr lang="en-US" sz="1400" b="1" kern="0" spc="200" dirty="0">
                <a:solidFill>
                  <a:schemeClr val="accent2"/>
                </a:solidFill>
              </a:rPr>
              <a:t>YEAR 6 ENGLISH · UNIT 2 · SESSION 7</a:t>
            </a:r>
            <a:endParaRPr lang="en-US" sz="1400" dirty="0"/>
          </a:p>
        </p:txBody>
      </p:sp>
      <p:sp>
        <p:nvSpPr>
          <p:cNvPr id="5" name="Text 3"/>
          <p:cNvSpPr txBox="1"/>
          <p:nvPr/>
        </p:nvSpPr>
        <p:spPr>
          <a:xfrm>
            <a:off x="731520" y="1371600"/>
            <a:ext cx="8229600" cy="1005840"/>
          </a:xfrm>
          <a:prstGeom prst="rect">
            <a:avLst/>
          </a:prstGeom>
          <a:noFill/>
          <a:ln/>
        </p:spPr>
        <p:txBody>
          <a:bodyPr wrap="square" lIns="0" tIns="0" rIns="0" bIns="0" rtlCol="0" anchor="ctr"/>
          <a:lstStyle/>
          <a:p>
            <a:pPr marL="0" indent="0">
              <a:buNone/>
            </a:pPr>
            <a:r>
              <a:rPr lang="en-US" sz="4400" b="1" dirty="0">
                <a:solidFill>
                  <a:schemeClr val="bg1"/>
                </a:solidFill>
                <a:latin typeface="+mj-lt" pitchFamily="34" charset="0"/>
                <a:ea typeface="+mj-lt" pitchFamily="34" charset="-122"/>
                <a:cs typeface="+mj-lt" pitchFamily="34" charset="-120"/>
              </a:rPr>
              <a:t>Report Architects</a:t>
            </a:r>
            <a:endParaRPr lang="en-US" sz="4400" dirty="0"/>
          </a:p>
        </p:txBody>
      </p:sp>
      <p:sp>
        <p:nvSpPr>
          <p:cNvPr id="6" name="Text 4"/>
          <p:cNvSpPr txBox="1"/>
          <p:nvPr/>
        </p:nvSpPr>
        <p:spPr>
          <a:xfrm>
            <a:off x="731520" y="2560320"/>
            <a:ext cx="8229600" cy="548640"/>
          </a:xfrm>
          <a:prstGeom prst="rect">
            <a:avLst/>
          </a:prstGeom>
          <a:noFill/>
          <a:ln/>
        </p:spPr>
        <p:txBody>
          <a:bodyPr wrap="square" lIns="0" tIns="0" rIns="0" bIns="0" rtlCol="0" anchor="ctr"/>
          <a:lstStyle/>
          <a:p>
            <a:pPr marL="0" indent="0">
              <a:buNone/>
            </a:pPr>
            <a:r>
              <a:rPr lang="en-US" sz="2400" i="1" dirty="0">
                <a:solidFill>
                  <a:schemeClr val="bg2"/>
                </a:solidFill>
                <a:latin typeface="+mj-lt" pitchFamily="34" charset="0"/>
                <a:ea typeface="+mj-lt" pitchFamily="34" charset="-122"/>
                <a:cs typeface="+mj-lt" pitchFamily="34" charset="-120"/>
              </a:rPr>
              <a:t>Writing the Report – Part 3: Second Draft</a:t>
            </a:r>
            <a:endParaRPr lang="en-US" sz="2400" dirty="0"/>
          </a:p>
        </p:txBody>
      </p:sp>
      <p:sp>
        <p:nvSpPr>
          <p:cNvPr id="7" name="Shape 5"/>
          <p:cNvSpPr/>
          <p:nvPr/>
        </p:nvSpPr>
        <p:spPr>
          <a:xfrm>
            <a:off x="731520" y="3840480"/>
            <a:ext cx="7863840" cy="1325880"/>
          </a:xfrm>
          <a:prstGeom prst="rect">
            <a:avLst/>
          </a:prstGeom>
          <a:solidFill>
            <a:schemeClr val="accent1"/>
          </a:solidFill>
          <a:ln/>
        </p:spPr>
      </p:sp>
      <p:sp>
        <p:nvSpPr>
          <p:cNvPr id="8" name="Text 6"/>
          <p:cNvSpPr txBox="1"/>
          <p:nvPr/>
        </p:nvSpPr>
        <p:spPr>
          <a:xfrm>
            <a:off x="895172" y="3886200"/>
            <a:ext cx="10306228" cy="1234440"/>
          </a:xfrm>
          <a:prstGeom prst="rect">
            <a:avLst/>
          </a:prstGeom>
          <a:noFill/>
          <a:ln/>
        </p:spPr>
        <p:txBody>
          <a:bodyPr wrap="square" lIns="0" tIns="0" rIns="0" bIns="0" rtlCol="0" anchor="ctr"/>
          <a:lstStyle/>
          <a:p>
            <a:pPr marL="0" indent="0">
              <a:buNone/>
            </a:pPr>
            <a:r>
              <a:rPr lang="en-US" sz="1400" b="1" dirty="0">
                <a:solidFill>
                  <a:schemeClr val="accent2"/>
                </a:solidFill>
              </a:rPr>
              <a:t>BIG QUESTION</a:t>
            </a:r>
            <a:endParaRPr lang="en-US" sz="1400" dirty="0"/>
          </a:p>
          <a:p>
            <a:pPr marL="0" indent="0">
              <a:buNone/>
            </a:pPr>
            <a:r>
              <a:rPr lang="en-US" sz="1900" dirty="0">
                <a:solidFill>
                  <a:schemeClr val="bg1"/>
                </a:solidFill>
              </a:rPr>
              <a:t>How can we turn our first draft into a clearer, more accurate and more interesting second draft?</a:t>
            </a:r>
            <a:endParaRPr lang="en-US" sz="1400" dirty="0"/>
          </a:p>
        </p:txBody>
      </p:sp>
      <p:sp>
        <p:nvSpPr>
          <p:cNvPr id="9" name="Text 7"/>
          <p:cNvSpPr txBox="1"/>
          <p:nvPr/>
        </p:nvSpPr>
        <p:spPr>
          <a:xfrm>
            <a:off x="731520" y="5943600"/>
            <a:ext cx="6400800" cy="365760"/>
          </a:xfrm>
          <a:prstGeom prst="rect">
            <a:avLst/>
          </a:prstGeom>
          <a:noFill/>
          <a:ln/>
        </p:spPr>
        <p:txBody>
          <a:bodyPr wrap="square" lIns="0" tIns="0" rIns="0" bIns="0" rtlCol="0" anchor="ctr"/>
          <a:lstStyle/>
          <a:p>
            <a:pPr marL="0" indent="0">
              <a:buNone/>
            </a:pPr>
            <a:r>
              <a:rPr lang="en-US" sz="1400" dirty="0">
                <a:solidFill>
                  <a:schemeClr val="bg1"/>
                </a:solidFill>
              </a:rPr>
              <a:t>80 minutes · Non-chronological report</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0"/>
            <a:ext cx="9326880" cy="822960"/>
          </a:xfrm>
          <a:prstGeom prst="rect">
            <a:avLst/>
          </a:prstGeom>
          <a:noFill/>
          <a:ln/>
        </p:spPr>
        <p:txBody>
          <a:bodyPr wrap="square" lIns="0" tIns="0" rIns="0" bIns="0" rtlCol="0" anchor="ctr"/>
          <a:lstStyle/>
          <a:p>
            <a:pPr marL="0" indent="0" algn="l">
              <a:buNone/>
            </a:pPr>
            <a:r>
              <a:rPr lang="en-US" sz="2600" b="1" dirty="0">
                <a:solidFill>
                  <a:schemeClr val="bg1"/>
                </a:solidFill>
                <a:latin typeface="+mj-lt" pitchFamily="34" charset="0"/>
                <a:ea typeface="+mj-lt" pitchFamily="34" charset="-122"/>
                <a:cs typeface="+mj-lt" pitchFamily="34" charset="-120"/>
              </a:rPr>
              <a:t>Today we will learn to…</a:t>
            </a:r>
            <a:endParaRPr lang="en-US" sz="2600" dirty="0"/>
          </a:p>
        </p:txBody>
      </p:sp>
      <p:sp>
        <p:nvSpPr>
          <p:cNvPr id="3" name="Tag"/>
          <p:cNvSpPr txBox="1"/>
          <p:nvPr/>
        </p:nvSpPr>
        <p:spPr>
          <a:xfrm>
            <a:off x="10332720" y="256032"/>
            <a:ext cx="1463040" cy="310896"/>
          </a:xfrm>
          <a:prstGeom prst="rect">
            <a:avLst/>
          </a:prstGeom>
          <a:solidFill>
            <a:schemeClr val="accent2"/>
          </a:solidFill>
          <a:ln/>
        </p:spPr>
        <p:txBody>
          <a:bodyPr wrap="square" lIns="0" tIns="0" rIns="0" bIns="0" rtlCol="0" anchor="ctr"/>
          <a:lstStyle/>
          <a:p>
            <a:pPr marL="0" indent="0" algn="ctr">
              <a:buNone/>
            </a:pPr>
            <a:r>
              <a:rPr lang="en-US" sz="1100" b="1" dirty="0">
                <a:solidFill>
                  <a:schemeClr val="tx1"/>
                </a:solidFill>
              </a:rPr>
              <a:t>GOALS</a:t>
            </a:r>
            <a:endParaRPr lang="en-US" sz="1100" dirty="0"/>
          </a:p>
        </p:txBody>
      </p:sp>
      <p:sp>
        <p:nvSpPr>
          <p:cNvPr id="5" name="Shape 2"/>
          <p:cNvSpPr/>
          <p:nvPr/>
        </p:nvSpPr>
        <p:spPr>
          <a:xfrm>
            <a:off x="548640" y="1371600"/>
            <a:ext cx="3566160" cy="2194560"/>
          </a:xfrm>
          <a:prstGeom prst="rect">
            <a:avLst/>
          </a:prstGeom>
          <a:solidFill>
            <a:schemeClr val="bg1"/>
          </a:solidFill>
          <a:ln/>
          <a:effectLst>
            <a:outerShdw blurRad="76200" dist="25400" dir="5400000" algn="bl" rotWithShape="0">
              <a:srgbClr val="000000">
                <a:alpha val="12000"/>
              </a:srgbClr>
            </a:outerShdw>
          </a:effectLst>
        </p:spPr>
      </p:sp>
      <p:sp>
        <p:nvSpPr>
          <p:cNvPr id="6" name="Text 3"/>
          <p:cNvSpPr txBox="1"/>
          <p:nvPr/>
        </p:nvSpPr>
        <p:spPr>
          <a:xfrm>
            <a:off x="548640" y="1600200"/>
            <a:ext cx="3566160" cy="731520"/>
          </a:xfrm>
          <a:prstGeom prst="rect">
            <a:avLst/>
          </a:prstGeom>
          <a:noFill/>
          <a:ln/>
        </p:spPr>
        <p:txBody>
          <a:bodyPr wrap="square" lIns="0" tIns="0" rIns="0" bIns="0" rtlCol="0" anchor="ctr"/>
          <a:lstStyle/>
          <a:p>
            <a:pPr marL="0" indent="0" algn="ctr">
              <a:buNone/>
            </a:pPr>
            <a:r>
              <a:rPr lang="en-US" sz="3600" dirty="0">
                <a:solidFill>
                  <a:srgbClr val="000000"/>
                </a:solidFill>
              </a:rPr>
              <a:t>🌟</a:t>
            </a:r>
            <a:endParaRPr lang="en-US" sz="3600" dirty="0"/>
          </a:p>
        </p:txBody>
      </p:sp>
      <p:sp>
        <p:nvSpPr>
          <p:cNvPr id="7" name="Text 4"/>
          <p:cNvSpPr txBox="1"/>
          <p:nvPr/>
        </p:nvSpPr>
        <p:spPr>
          <a:xfrm>
            <a:off x="548640" y="2377440"/>
            <a:ext cx="3566159" cy="1005840"/>
          </a:xfrm>
          <a:prstGeom prst="rect">
            <a:avLst/>
          </a:prstGeom>
          <a:noFill/>
          <a:ln/>
        </p:spPr>
        <p:txBody>
          <a:bodyPr wrap="square" lIns="0" tIns="0" rIns="0" bIns="0" rtlCol="0" anchor="t"/>
          <a:lstStyle/>
          <a:p>
            <a:pPr marL="0" indent="0" algn="ctr">
              <a:buNone/>
            </a:pPr>
            <a:r>
              <a:rPr lang="en-US" sz="1800" b="1" dirty="0">
                <a:solidFill>
                  <a:schemeClr val="tx1"/>
                </a:solidFill>
              </a:rPr>
              <a:t>See what is strong in our first drafts</a:t>
            </a:r>
            <a:endParaRPr lang="en-US" sz="1800" dirty="0"/>
          </a:p>
        </p:txBody>
      </p:sp>
      <p:sp>
        <p:nvSpPr>
          <p:cNvPr id="8" name="Shape 5"/>
          <p:cNvSpPr/>
          <p:nvPr/>
        </p:nvSpPr>
        <p:spPr>
          <a:xfrm>
            <a:off x="4361688" y="1371600"/>
            <a:ext cx="3566160" cy="2194560"/>
          </a:xfrm>
          <a:prstGeom prst="rect">
            <a:avLst/>
          </a:prstGeom>
          <a:solidFill>
            <a:schemeClr val="bg1"/>
          </a:solidFill>
          <a:ln/>
          <a:effectLst>
            <a:outerShdw blurRad="76200" dist="25400" dir="5400000" algn="bl" rotWithShape="0">
              <a:srgbClr val="000000">
                <a:alpha val="12000"/>
              </a:srgbClr>
            </a:outerShdw>
          </a:effectLst>
        </p:spPr>
      </p:sp>
      <p:sp>
        <p:nvSpPr>
          <p:cNvPr id="9" name="Text 6"/>
          <p:cNvSpPr txBox="1"/>
          <p:nvPr/>
        </p:nvSpPr>
        <p:spPr>
          <a:xfrm>
            <a:off x="4361688" y="1600200"/>
            <a:ext cx="3566160" cy="731520"/>
          </a:xfrm>
          <a:prstGeom prst="rect">
            <a:avLst/>
          </a:prstGeom>
          <a:noFill/>
          <a:ln/>
        </p:spPr>
        <p:txBody>
          <a:bodyPr wrap="square" lIns="0" tIns="0" rIns="0" bIns="0" rtlCol="0" anchor="ctr"/>
          <a:lstStyle/>
          <a:p>
            <a:pPr marL="0" indent="0" algn="ctr">
              <a:buNone/>
            </a:pPr>
            <a:r>
              <a:rPr lang="en-US" sz="3600" dirty="0">
                <a:solidFill>
                  <a:srgbClr val="000000"/>
                </a:solidFill>
              </a:rPr>
              <a:t>✏️</a:t>
            </a:r>
            <a:endParaRPr lang="en-US" sz="3600" dirty="0"/>
          </a:p>
        </p:txBody>
      </p:sp>
      <p:sp>
        <p:nvSpPr>
          <p:cNvPr id="10" name="Text 7"/>
          <p:cNvSpPr txBox="1"/>
          <p:nvPr/>
        </p:nvSpPr>
        <p:spPr>
          <a:xfrm>
            <a:off x="4326991" y="2377440"/>
            <a:ext cx="3664949" cy="1005840"/>
          </a:xfrm>
          <a:prstGeom prst="rect">
            <a:avLst/>
          </a:prstGeom>
          <a:noFill/>
          <a:ln/>
        </p:spPr>
        <p:txBody>
          <a:bodyPr wrap="square" lIns="0" tIns="0" rIns="0" bIns="0" rtlCol="0" anchor="t"/>
          <a:lstStyle/>
          <a:p>
            <a:pPr marL="0" indent="0" algn="ctr">
              <a:buNone/>
            </a:pPr>
            <a:r>
              <a:rPr lang="en-US" sz="1800" b="1" dirty="0">
                <a:solidFill>
                  <a:schemeClr val="tx1"/>
                </a:solidFill>
              </a:rPr>
              <a:t>Fix full stops, capital letters and verbs</a:t>
            </a:r>
            <a:endParaRPr lang="en-US" sz="1800" dirty="0"/>
          </a:p>
        </p:txBody>
      </p:sp>
      <p:sp>
        <p:nvSpPr>
          <p:cNvPr id="11" name="Shape 8"/>
          <p:cNvSpPr/>
          <p:nvPr/>
        </p:nvSpPr>
        <p:spPr>
          <a:xfrm>
            <a:off x="8174736" y="1371600"/>
            <a:ext cx="3566160" cy="2194560"/>
          </a:xfrm>
          <a:prstGeom prst="rect">
            <a:avLst/>
          </a:prstGeom>
          <a:solidFill>
            <a:schemeClr val="bg1"/>
          </a:solidFill>
          <a:ln/>
          <a:effectLst>
            <a:outerShdw blurRad="76200" dist="25400" dir="5400000" algn="bl" rotWithShape="0">
              <a:srgbClr val="000000">
                <a:alpha val="12000"/>
              </a:srgbClr>
            </a:outerShdw>
          </a:effectLst>
        </p:spPr>
      </p:sp>
      <p:sp>
        <p:nvSpPr>
          <p:cNvPr id="12" name="Text 9"/>
          <p:cNvSpPr txBox="1"/>
          <p:nvPr/>
        </p:nvSpPr>
        <p:spPr>
          <a:xfrm>
            <a:off x="8174736" y="1600200"/>
            <a:ext cx="3566160" cy="731520"/>
          </a:xfrm>
          <a:prstGeom prst="rect">
            <a:avLst/>
          </a:prstGeom>
          <a:noFill/>
          <a:ln/>
        </p:spPr>
        <p:txBody>
          <a:bodyPr wrap="square" lIns="0" tIns="0" rIns="0" bIns="0" rtlCol="0" anchor="ctr"/>
          <a:lstStyle/>
          <a:p>
            <a:pPr marL="0" indent="0" algn="ctr">
              <a:buNone/>
            </a:pPr>
            <a:r>
              <a:rPr lang="en-US" sz="3600" dirty="0">
                <a:solidFill>
                  <a:srgbClr val="000000"/>
                </a:solidFill>
              </a:rPr>
              <a:t>🎯</a:t>
            </a:r>
            <a:endParaRPr lang="en-US" sz="3600" dirty="0"/>
          </a:p>
        </p:txBody>
      </p:sp>
      <p:sp>
        <p:nvSpPr>
          <p:cNvPr id="13" name="Text 10"/>
          <p:cNvSpPr txBox="1"/>
          <p:nvPr/>
        </p:nvSpPr>
        <p:spPr>
          <a:xfrm>
            <a:off x="8403336" y="2377440"/>
            <a:ext cx="3108960" cy="1005840"/>
          </a:xfrm>
          <a:prstGeom prst="rect">
            <a:avLst/>
          </a:prstGeom>
          <a:noFill/>
          <a:ln/>
        </p:spPr>
        <p:txBody>
          <a:bodyPr wrap="square" lIns="0" tIns="0" rIns="0" bIns="0" rtlCol="0" anchor="t"/>
          <a:lstStyle/>
          <a:p>
            <a:pPr marL="0" indent="0" algn="ctr">
              <a:buNone/>
            </a:pPr>
            <a:r>
              <a:rPr lang="en-US" sz="1800" b="1" dirty="0">
                <a:solidFill>
                  <a:schemeClr val="tx1"/>
                </a:solidFill>
              </a:rPr>
              <a:t>Say WHY in the introduction and the ending</a:t>
            </a:r>
            <a:endParaRPr lang="en-US" sz="1800" dirty="0"/>
          </a:p>
        </p:txBody>
      </p:sp>
      <p:sp>
        <p:nvSpPr>
          <p:cNvPr id="14" name="Shape 11"/>
          <p:cNvSpPr/>
          <p:nvPr/>
        </p:nvSpPr>
        <p:spPr>
          <a:xfrm>
            <a:off x="548640" y="3840480"/>
            <a:ext cx="3566160" cy="2194560"/>
          </a:xfrm>
          <a:prstGeom prst="rect">
            <a:avLst/>
          </a:prstGeom>
          <a:solidFill>
            <a:schemeClr val="bg1"/>
          </a:solidFill>
          <a:ln/>
          <a:effectLst>
            <a:outerShdw blurRad="76200" dist="25400" dir="5400000" algn="bl" rotWithShape="0">
              <a:srgbClr val="000000">
                <a:alpha val="12000"/>
              </a:srgbClr>
            </a:outerShdw>
          </a:effectLst>
        </p:spPr>
      </p:sp>
      <p:sp>
        <p:nvSpPr>
          <p:cNvPr id="15" name="Text 12"/>
          <p:cNvSpPr txBox="1"/>
          <p:nvPr/>
        </p:nvSpPr>
        <p:spPr>
          <a:xfrm>
            <a:off x="548640" y="4069080"/>
            <a:ext cx="3566160" cy="731520"/>
          </a:xfrm>
          <a:prstGeom prst="rect">
            <a:avLst/>
          </a:prstGeom>
          <a:noFill/>
          <a:ln/>
        </p:spPr>
        <p:txBody>
          <a:bodyPr wrap="square" lIns="0" tIns="0" rIns="0" bIns="0" rtlCol="0" anchor="ctr"/>
          <a:lstStyle/>
          <a:p>
            <a:pPr marL="0" indent="0" algn="ctr">
              <a:buNone/>
            </a:pPr>
            <a:r>
              <a:rPr lang="en-US" sz="3600" dirty="0">
                <a:solidFill>
                  <a:srgbClr val="000000"/>
                </a:solidFill>
              </a:rPr>
              <a:t>📄</a:t>
            </a:r>
            <a:endParaRPr lang="en-US" sz="3600" dirty="0"/>
          </a:p>
        </p:txBody>
      </p:sp>
      <p:sp>
        <p:nvSpPr>
          <p:cNvPr id="16" name="Text 13"/>
          <p:cNvSpPr txBox="1"/>
          <p:nvPr/>
        </p:nvSpPr>
        <p:spPr>
          <a:xfrm>
            <a:off x="777240" y="4846320"/>
            <a:ext cx="3108960" cy="1005840"/>
          </a:xfrm>
          <a:prstGeom prst="rect">
            <a:avLst/>
          </a:prstGeom>
          <a:noFill/>
          <a:ln/>
        </p:spPr>
        <p:txBody>
          <a:bodyPr wrap="square" lIns="0" tIns="0" rIns="0" bIns="0" rtlCol="0" anchor="t"/>
          <a:lstStyle/>
          <a:p>
            <a:pPr marL="0" indent="0" algn="ctr">
              <a:buNone/>
            </a:pPr>
            <a:r>
              <a:rPr lang="en-US" sz="1800" b="1" dirty="0">
                <a:solidFill>
                  <a:schemeClr val="tx1"/>
                </a:solidFill>
              </a:rPr>
              <a:t>Write in full sentences and clear paragraphs</a:t>
            </a:r>
            <a:endParaRPr lang="en-US" sz="1800" dirty="0"/>
          </a:p>
        </p:txBody>
      </p:sp>
      <p:sp>
        <p:nvSpPr>
          <p:cNvPr id="17" name="Shape 14"/>
          <p:cNvSpPr/>
          <p:nvPr/>
        </p:nvSpPr>
        <p:spPr>
          <a:xfrm>
            <a:off x="4361688" y="3840480"/>
            <a:ext cx="3566160" cy="2194560"/>
          </a:xfrm>
          <a:prstGeom prst="rect">
            <a:avLst/>
          </a:prstGeom>
          <a:solidFill>
            <a:schemeClr val="bg1"/>
          </a:solidFill>
          <a:ln/>
          <a:effectLst>
            <a:outerShdw blurRad="76200" dist="25400" dir="5400000" algn="bl" rotWithShape="0">
              <a:srgbClr val="000000">
                <a:alpha val="12000"/>
              </a:srgbClr>
            </a:outerShdw>
          </a:effectLst>
        </p:spPr>
      </p:sp>
      <p:sp>
        <p:nvSpPr>
          <p:cNvPr id="18" name="Text 15"/>
          <p:cNvSpPr txBox="1"/>
          <p:nvPr/>
        </p:nvSpPr>
        <p:spPr>
          <a:xfrm>
            <a:off x="4361688" y="4069080"/>
            <a:ext cx="3566160" cy="731520"/>
          </a:xfrm>
          <a:prstGeom prst="rect">
            <a:avLst/>
          </a:prstGeom>
          <a:noFill/>
          <a:ln/>
        </p:spPr>
        <p:txBody>
          <a:bodyPr wrap="square" lIns="0" tIns="0" rIns="0" bIns="0" rtlCol="0" anchor="ctr"/>
          <a:lstStyle/>
          <a:p>
            <a:pPr marL="0" indent="0" algn="ctr">
              <a:buNone/>
            </a:pPr>
            <a:r>
              <a:rPr lang="en-US" sz="3600" dirty="0">
                <a:solidFill>
                  <a:srgbClr val="000000"/>
                </a:solidFill>
              </a:rPr>
              <a:t>🔎</a:t>
            </a:r>
            <a:endParaRPr lang="en-US" sz="3600" dirty="0"/>
          </a:p>
        </p:txBody>
      </p:sp>
      <p:sp>
        <p:nvSpPr>
          <p:cNvPr id="19" name="Text 16"/>
          <p:cNvSpPr txBox="1"/>
          <p:nvPr/>
        </p:nvSpPr>
        <p:spPr>
          <a:xfrm>
            <a:off x="4590288" y="4846320"/>
            <a:ext cx="3108960" cy="1005840"/>
          </a:xfrm>
          <a:prstGeom prst="rect">
            <a:avLst/>
          </a:prstGeom>
          <a:noFill/>
          <a:ln/>
        </p:spPr>
        <p:txBody>
          <a:bodyPr wrap="square" lIns="0" tIns="0" rIns="0" bIns="0" rtlCol="0" anchor="t"/>
          <a:lstStyle/>
          <a:p>
            <a:pPr marL="0" indent="0" algn="ctr">
              <a:buNone/>
            </a:pPr>
            <a:r>
              <a:rPr lang="en-US" sz="1800" b="1" dirty="0">
                <a:solidFill>
                  <a:schemeClr val="tx1"/>
                </a:solidFill>
              </a:rPr>
              <a:t>Use precise words and true facts</a:t>
            </a:r>
            <a:endParaRPr lang="en-US" sz="1800" dirty="0"/>
          </a:p>
        </p:txBody>
      </p:sp>
      <p:sp>
        <p:nvSpPr>
          <p:cNvPr id="20" name="Shape 17"/>
          <p:cNvSpPr/>
          <p:nvPr/>
        </p:nvSpPr>
        <p:spPr>
          <a:xfrm>
            <a:off x="8174736" y="3840480"/>
            <a:ext cx="3566160" cy="2194560"/>
          </a:xfrm>
          <a:prstGeom prst="rect">
            <a:avLst/>
          </a:prstGeom>
          <a:solidFill>
            <a:schemeClr val="bg1"/>
          </a:solidFill>
          <a:ln/>
          <a:effectLst>
            <a:outerShdw blurRad="76200" dist="25400" dir="5400000" algn="bl" rotWithShape="0">
              <a:srgbClr val="000000">
                <a:alpha val="12000"/>
              </a:srgbClr>
            </a:outerShdw>
          </a:effectLst>
        </p:spPr>
      </p:sp>
      <p:sp>
        <p:nvSpPr>
          <p:cNvPr id="21" name="Text 18"/>
          <p:cNvSpPr txBox="1"/>
          <p:nvPr/>
        </p:nvSpPr>
        <p:spPr>
          <a:xfrm>
            <a:off x="8174736" y="4069080"/>
            <a:ext cx="3566160" cy="731520"/>
          </a:xfrm>
          <a:prstGeom prst="rect">
            <a:avLst/>
          </a:prstGeom>
          <a:noFill/>
          <a:ln/>
        </p:spPr>
        <p:txBody>
          <a:bodyPr wrap="square" lIns="0" tIns="0" rIns="0" bIns="0" rtlCol="0" anchor="ctr"/>
          <a:lstStyle/>
          <a:p>
            <a:pPr marL="0" indent="0" algn="ctr">
              <a:buNone/>
            </a:pPr>
            <a:r>
              <a:rPr lang="en-US" sz="3600" dirty="0">
                <a:solidFill>
                  <a:srgbClr val="000000"/>
                </a:solidFill>
              </a:rPr>
              <a:t>🗣️</a:t>
            </a:r>
            <a:endParaRPr lang="en-US" sz="3600" dirty="0"/>
          </a:p>
        </p:txBody>
      </p:sp>
      <p:sp>
        <p:nvSpPr>
          <p:cNvPr id="22" name="Text 19"/>
          <p:cNvSpPr txBox="1"/>
          <p:nvPr/>
        </p:nvSpPr>
        <p:spPr>
          <a:xfrm>
            <a:off x="8403336" y="4846320"/>
            <a:ext cx="3108960" cy="1005840"/>
          </a:xfrm>
          <a:prstGeom prst="rect">
            <a:avLst/>
          </a:prstGeom>
          <a:noFill/>
          <a:ln/>
        </p:spPr>
        <p:txBody>
          <a:bodyPr wrap="square" lIns="0" tIns="0" rIns="0" bIns="0" rtlCol="0" anchor="t"/>
          <a:lstStyle/>
          <a:p>
            <a:pPr marL="0" indent="0" algn="ctr">
              <a:buNone/>
            </a:pPr>
            <a:r>
              <a:rPr lang="en-US" sz="1800" b="1" dirty="0">
                <a:solidFill>
                  <a:schemeClr val="tx1"/>
                </a:solidFill>
              </a:rPr>
              <a:t>Write the second draft in my own words</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0"/>
            <a:ext cx="9326880" cy="822960"/>
          </a:xfrm>
          <a:prstGeom prst="rect">
            <a:avLst/>
          </a:prstGeom>
          <a:noFill/>
          <a:ln/>
        </p:spPr>
        <p:txBody>
          <a:bodyPr wrap="square" lIns="0" tIns="0" rIns="0" bIns="0" rtlCol="0" anchor="ctr"/>
          <a:lstStyle/>
          <a:p>
            <a:pPr marL="0" indent="0" algn="l">
              <a:buNone/>
            </a:pPr>
            <a:r>
              <a:rPr lang="en-US" sz="2600" b="1" dirty="0">
                <a:solidFill>
                  <a:schemeClr val="bg1"/>
                </a:solidFill>
                <a:latin typeface="+mj-lt" pitchFamily="34" charset="0"/>
                <a:ea typeface="+mj-lt" pitchFamily="34" charset="-122"/>
                <a:cs typeface="+mj-lt" pitchFamily="34" charset="-120"/>
              </a:rPr>
              <a:t>What did we learn?</a:t>
            </a:r>
            <a:endParaRPr lang="en-US" sz="2600" dirty="0"/>
          </a:p>
        </p:txBody>
      </p:sp>
      <p:sp>
        <p:nvSpPr>
          <p:cNvPr id="3" name="Tag"/>
          <p:cNvSpPr txBox="1"/>
          <p:nvPr/>
        </p:nvSpPr>
        <p:spPr>
          <a:xfrm>
            <a:off x="10332720" y="256032"/>
            <a:ext cx="1463040" cy="310896"/>
          </a:xfrm>
          <a:prstGeom prst="rect">
            <a:avLst/>
          </a:prstGeom>
          <a:solidFill>
            <a:schemeClr val="accent2"/>
          </a:solidFill>
          <a:ln/>
        </p:spPr>
        <p:txBody>
          <a:bodyPr wrap="square" lIns="0" tIns="0" rIns="0" bIns="0" rtlCol="0" anchor="ctr"/>
          <a:lstStyle/>
          <a:p>
            <a:pPr marL="0" indent="0" algn="ctr">
              <a:buNone/>
            </a:pPr>
            <a:r>
              <a:rPr lang="en-US" sz="1100" b="1" dirty="0">
                <a:solidFill>
                  <a:schemeClr val="tx1"/>
                </a:solidFill>
              </a:rPr>
              <a:t>RETRIEVE</a:t>
            </a:r>
            <a:endParaRPr lang="en-US" sz="1100" dirty="0"/>
          </a:p>
        </p:txBody>
      </p:sp>
      <p:sp>
        <p:nvSpPr>
          <p:cNvPr id="5" name="Shape 2"/>
          <p:cNvSpPr/>
          <p:nvPr/>
        </p:nvSpPr>
        <p:spPr>
          <a:xfrm>
            <a:off x="548640" y="1143000"/>
            <a:ext cx="11094415" cy="1417320"/>
          </a:xfrm>
          <a:prstGeom prst="rect">
            <a:avLst/>
          </a:prstGeom>
          <a:solidFill>
            <a:schemeClr val="bg1"/>
          </a:solidFill>
          <a:ln/>
          <a:effectLst>
            <a:outerShdw blurRad="76200" dist="25400" dir="5400000" algn="bl" rotWithShape="0">
              <a:srgbClr val="000000">
                <a:alpha val="12000"/>
              </a:srgbClr>
            </a:outerShdw>
          </a:effectLst>
        </p:spPr>
      </p:sp>
      <p:sp>
        <p:nvSpPr>
          <p:cNvPr id="6" name="Text 3"/>
          <p:cNvSpPr txBox="1"/>
          <p:nvPr/>
        </p:nvSpPr>
        <p:spPr>
          <a:xfrm>
            <a:off x="777240" y="1188720"/>
            <a:ext cx="10637215" cy="1325880"/>
          </a:xfrm>
          <a:prstGeom prst="rect">
            <a:avLst/>
          </a:prstGeom>
          <a:noFill/>
          <a:ln/>
        </p:spPr>
        <p:txBody>
          <a:bodyPr wrap="square" lIns="0" tIns="0" rIns="0" bIns="0" rtlCol="0" anchor="ctr"/>
          <a:lstStyle/>
          <a:p>
            <a:pPr marL="0" indent="0">
              <a:buNone/>
            </a:pPr>
            <a:r>
              <a:rPr lang="en-US" sz="2000" b="1" dirty="0">
                <a:solidFill>
                  <a:schemeClr val="tx1"/>
                </a:solidFill>
              </a:rPr>
              <a:t>Which sentence is correct?</a:t>
            </a:r>
            <a:endParaRPr lang="en-US" sz="2000" dirty="0"/>
          </a:p>
        </p:txBody>
      </p:sp>
      <p:sp>
        <p:nvSpPr>
          <p:cNvPr id="7" name="Shape 4"/>
          <p:cNvSpPr/>
          <p:nvPr/>
        </p:nvSpPr>
        <p:spPr>
          <a:xfrm>
            <a:off x="548640" y="2880360"/>
            <a:ext cx="5394960" cy="1371600"/>
          </a:xfrm>
          <a:prstGeom prst="rect">
            <a:avLst/>
          </a:prstGeom>
          <a:solidFill>
            <a:schemeClr val="bg1"/>
          </a:solidFill>
          <a:ln w="15875">
            <a:solidFill>
              <a:schemeClr val="accent1"/>
            </a:solidFill>
            <a:prstDash val="solid"/>
          </a:ln>
        </p:spPr>
      </p:sp>
      <p:sp>
        <p:nvSpPr>
          <p:cNvPr id="8" name="Text 5"/>
          <p:cNvSpPr txBox="1"/>
          <p:nvPr/>
        </p:nvSpPr>
        <p:spPr>
          <a:xfrm>
            <a:off x="731520" y="3291840"/>
            <a:ext cx="548640" cy="548640"/>
          </a:xfrm>
          <a:prstGeom prst="ellipse">
            <a:avLst/>
          </a:prstGeom>
          <a:solidFill>
            <a:schemeClr val="accent1"/>
          </a:solidFill>
          <a:ln/>
        </p:spPr>
        <p:txBody>
          <a:bodyPr wrap="square" lIns="0" tIns="0" rIns="0" bIns="0" rtlCol="0" anchor="ctr"/>
          <a:lstStyle/>
          <a:p>
            <a:pPr marL="0" indent="0" algn="ctr">
              <a:buNone/>
            </a:pPr>
            <a:r>
              <a:rPr lang="en-US" sz="1800" b="1" dirty="0">
                <a:solidFill>
                  <a:schemeClr val="bg1"/>
                </a:solidFill>
              </a:rPr>
              <a:t>A</a:t>
            </a:r>
            <a:endParaRPr lang="en-US" sz="1800" dirty="0"/>
          </a:p>
        </p:txBody>
      </p:sp>
      <p:sp>
        <p:nvSpPr>
          <p:cNvPr id="9" name="Text 6"/>
          <p:cNvSpPr txBox="1"/>
          <p:nvPr/>
        </p:nvSpPr>
        <p:spPr>
          <a:xfrm>
            <a:off x="1463040" y="2971800"/>
            <a:ext cx="4343400" cy="1188720"/>
          </a:xfrm>
          <a:prstGeom prst="rect">
            <a:avLst/>
          </a:prstGeom>
          <a:noFill/>
          <a:ln/>
        </p:spPr>
        <p:txBody>
          <a:bodyPr wrap="square" lIns="0" tIns="0" rIns="0" bIns="0" rtlCol="0" anchor="ctr"/>
          <a:lstStyle/>
          <a:p>
            <a:pPr marL="0" indent="0">
              <a:buNone/>
            </a:pPr>
            <a:r>
              <a:rPr lang="en-US" sz="2000" dirty="0">
                <a:solidFill>
                  <a:schemeClr val="tx1"/>
                </a:solidFill>
              </a:rPr>
              <a:t>Blue whales eats tiny sea animals called krill.</a:t>
            </a:r>
            <a:endParaRPr lang="en-US" sz="2000" dirty="0"/>
          </a:p>
        </p:txBody>
      </p:sp>
      <p:sp>
        <p:nvSpPr>
          <p:cNvPr id="10" name="Shape 7"/>
          <p:cNvSpPr/>
          <p:nvPr/>
        </p:nvSpPr>
        <p:spPr>
          <a:xfrm>
            <a:off x="6263640" y="2880360"/>
            <a:ext cx="5394960" cy="1371600"/>
          </a:xfrm>
          <a:prstGeom prst="rect">
            <a:avLst/>
          </a:prstGeom>
          <a:solidFill>
            <a:schemeClr val="bg1"/>
          </a:solidFill>
          <a:ln w="15875">
            <a:solidFill>
              <a:schemeClr val="accent1"/>
            </a:solidFill>
            <a:prstDash val="solid"/>
          </a:ln>
        </p:spPr>
      </p:sp>
      <p:sp>
        <p:nvSpPr>
          <p:cNvPr id="11" name="Text 8"/>
          <p:cNvSpPr txBox="1"/>
          <p:nvPr/>
        </p:nvSpPr>
        <p:spPr>
          <a:xfrm>
            <a:off x="6446520" y="3291840"/>
            <a:ext cx="548640" cy="548640"/>
          </a:xfrm>
          <a:prstGeom prst="ellipse">
            <a:avLst/>
          </a:prstGeom>
          <a:solidFill>
            <a:schemeClr val="accent1"/>
          </a:solidFill>
          <a:ln/>
        </p:spPr>
        <p:txBody>
          <a:bodyPr wrap="square" lIns="0" tIns="0" rIns="0" bIns="0" rtlCol="0" anchor="ctr"/>
          <a:lstStyle/>
          <a:p>
            <a:pPr marL="0" indent="0" algn="ctr">
              <a:buNone/>
            </a:pPr>
            <a:r>
              <a:rPr lang="en-US" sz="1800" b="1" dirty="0">
                <a:solidFill>
                  <a:schemeClr val="bg1"/>
                </a:solidFill>
              </a:rPr>
              <a:t>B</a:t>
            </a:r>
            <a:endParaRPr lang="en-US" sz="1800" dirty="0"/>
          </a:p>
        </p:txBody>
      </p:sp>
      <p:sp>
        <p:nvSpPr>
          <p:cNvPr id="12" name="Text 9"/>
          <p:cNvSpPr txBox="1"/>
          <p:nvPr/>
        </p:nvSpPr>
        <p:spPr>
          <a:xfrm>
            <a:off x="7178040" y="2971800"/>
            <a:ext cx="4343400" cy="1188720"/>
          </a:xfrm>
          <a:prstGeom prst="rect">
            <a:avLst/>
          </a:prstGeom>
          <a:noFill/>
          <a:ln/>
        </p:spPr>
        <p:txBody>
          <a:bodyPr wrap="square" lIns="0" tIns="0" rIns="0" bIns="0" rtlCol="0" anchor="ctr"/>
          <a:lstStyle/>
          <a:p>
            <a:pPr marL="0" indent="0">
              <a:buNone/>
            </a:pPr>
            <a:r>
              <a:rPr lang="en-US" sz="2000" dirty="0">
                <a:solidFill>
                  <a:schemeClr val="tx1"/>
                </a:solidFill>
              </a:rPr>
              <a:t>Blue whales eat tiny sea animals called krill.</a:t>
            </a:r>
            <a:endParaRPr lang="en-US" sz="2000" dirty="0"/>
          </a:p>
        </p:txBody>
      </p:sp>
      <p:sp>
        <p:nvSpPr>
          <p:cNvPr id="13" name="Shape 10"/>
          <p:cNvSpPr/>
          <p:nvPr/>
        </p:nvSpPr>
        <p:spPr>
          <a:xfrm>
            <a:off x="548640" y="4526280"/>
            <a:ext cx="5394960" cy="1371600"/>
          </a:xfrm>
          <a:prstGeom prst="rect">
            <a:avLst/>
          </a:prstGeom>
          <a:solidFill>
            <a:schemeClr val="bg1"/>
          </a:solidFill>
          <a:ln w="15875">
            <a:solidFill>
              <a:schemeClr val="accent1"/>
            </a:solidFill>
            <a:prstDash val="solid"/>
          </a:ln>
        </p:spPr>
      </p:sp>
      <p:sp>
        <p:nvSpPr>
          <p:cNvPr id="14" name="Text 11"/>
          <p:cNvSpPr txBox="1"/>
          <p:nvPr/>
        </p:nvSpPr>
        <p:spPr>
          <a:xfrm>
            <a:off x="731520" y="4937760"/>
            <a:ext cx="548640" cy="548640"/>
          </a:xfrm>
          <a:prstGeom prst="ellipse">
            <a:avLst/>
          </a:prstGeom>
          <a:solidFill>
            <a:schemeClr val="accent1"/>
          </a:solidFill>
          <a:ln/>
        </p:spPr>
        <p:txBody>
          <a:bodyPr wrap="square" lIns="0" tIns="0" rIns="0" bIns="0" rtlCol="0" anchor="ctr"/>
          <a:lstStyle/>
          <a:p>
            <a:pPr marL="0" indent="0" algn="ctr">
              <a:buNone/>
            </a:pPr>
            <a:r>
              <a:rPr lang="en-US" sz="1800" b="1" dirty="0">
                <a:solidFill>
                  <a:schemeClr val="bg1"/>
                </a:solidFill>
              </a:rPr>
              <a:t>C</a:t>
            </a:r>
            <a:endParaRPr lang="en-US" sz="1800" dirty="0"/>
          </a:p>
        </p:txBody>
      </p:sp>
      <p:sp>
        <p:nvSpPr>
          <p:cNvPr id="15" name="Text 12"/>
          <p:cNvSpPr txBox="1"/>
          <p:nvPr/>
        </p:nvSpPr>
        <p:spPr>
          <a:xfrm>
            <a:off x="1463040" y="4617720"/>
            <a:ext cx="4343400" cy="1188720"/>
          </a:xfrm>
          <a:prstGeom prst="rect">
            <a:avLst/>
          </a:prstGeom>
          <a:noFill/>
          <a:ln/>
        </p:spPr>
        <p:txBody>
          <a:bodyPr wrap="square" lIns="0" tIns="0" rIns="0" bIns="0" rtlCol="0" anchor="ctr"/>
          <a:lstStyle/>
          <a:p>
            <a:pPr marL="0" indent="0">
              <a:buNone/>
            </a:pPr>
            <a:r>
              <a:rPr lang="en-US" sz="2000" dirty="0">
                <a:solidFill>
                  <a:schemeClr val="tx1"/>
                </a:solidFill>
              </a:rPr>
              <a:t>Blue whales eating tiny sea animals called krill.</a:t>
            </a:r>
            <a:endParaRPr lang="en-US" sz="2000" dirty="0"/>
          </a:p>
        </p:txBody>
      </p:sp>
      <p:sp>
        <p:nvSpPr>
          <p:cNvPr id="16" name="Shape 13"/>
          <p:cNvSpPr/>
          <p:nvPr/>
        </p:nvSpPr>
        <p:spPr>
          <a:xfrm>
            <a:off x="6263640" y="4526280"/>
            <a:ext cx="5394960" cy="1371600"/>
          </a:xfrm>
          <a:prstGeom prst="rect">
            <a:avLst/>
          </a:prstGeom>
          <a:solidFill>
            <a:schemeClr val="bg1"/>
          </a:solidFill>
          <a:ln w="15875">
            <a:solidFill>
              <a:schemeClr val="accent1"/>
            </a:solidFill>
            <a:prstDash val="solid"/>
          </a:ln>
        </p:spPr>
      </p:sp>
      <p:sp>
        <p:nvSpPr>
          <p:cNvPr id="17" name="Text 14"/>
          <p:cNvSpPr txBox="1"/>
          <p:nvPr/>
        </p:nvSpPr>
        <p:spPr>
          <a:xfrm>
            <a:off x="6446520" y="4937760"/>
            <a:ext cx="548640" cy="548640"/>
          </a:xfrm>
          <a:prstGeom prst="ellipse">
            <a:avLst/>
          </a:prstGeom>
          <a:solidFill>
            <a:schemeClr val="accent1"/>
          </a:solidFill>
          <a:ln/>
        </p:spPr>
        <p:txBody>
          <a:bodyPr wrap="square" lIns="0" tIns="0" rIns="0" bIns="0" rtlCol="0" anchor="ctr"/>
          <a:lstStyle/>
          <a:p>
            <a:pPr marL="0" indent="0" algn="ctr">
              <a:buNone/>
            </a:pPr>
            <a:r>
              <a:rPr lang="en-US" sz="1800" b="1" dirty="0">
                <a:solidFill>
                  <a:schemeClr val="bg1"/>
                </a:solidFill>
              </a:rPr>
              <a:t>D</a:t>
            </a:r>
            <a:endParaRPr lang="en-US" sz="1800" dirty="0"/>
          </a:p>
        </p:txBody>
      </p:sp>
      <p:sp>
        <p:nvSpPr>
          <p:cNvPr id="18" name="Text 15"/>
          <p:cNvSpPr txBox="1"/>
          <p:nvPr/>
        </p:nvSpPr>
        <p:spPr>
          <a:xfrm>
            <a:off x="7178040" y="4617720"/>
            <a:ext cx="4343400" cy="1188720"/>
          </a:xfrm>
          <a:prstGeom prst="rect">
            <a:avLst/>
          </a:prstGeom>
          <a:noFill/>
          <a:ln/>
        </p:spPr>
        <p:txBody>
          <a:bodyPr wrap="square" lIns="0" tIns="0" rIns="0" bIns="0" rtlCol="0" anchor="ctr"/>
          <a:lstStyle/>
          <a:p>
            <a:pPr marL="0" indent="0">
              <a:buNone/>
            </a:pPr>
            <a:r>
              <a:rPr lang="en-US" sz="2000" dirty="0">
                <a:solidFill>
                  <a:schemeClr val="tx1"/>
                </a:solidFill>
              </a:rPr>
              <a:t>Blue whale eat tiny sea animals called krill.</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640080" y="457200"/>
            <a:ext cx="2743200" cy="365760"/>
          </a:xfrm>
          <a:prstGeom prst="rect">
            <a:avLst/>
          </a:prstGeom>
          <a:noFill/>
          <a:ln/>
        </p:spPr>
        <p:txBody>
          <a:bodyPr wrap="square" lIns="0" tIns="0" rIns="0" bIns="0" rtlCol="0" anchor="ctr"/>
          <a:lstStyle/>
          <a:p>
            <a:pPr marL="0" indent="0">
              <a:buNone/>
            </a:pPr>
            <a:r>
              <a:rPr lang="en-US" sz="1200" b="1" dirty="0">
                <a:solidFill>
                  <a:schemeClr val="bg1"/>
                </a:solidFill>
              </a:rPr>
              <a:t>✅ ANSWER</a:t>
            </a:r>
            <a:endParaRPr lang="en-US" sz="1200" dirty="0"/>
          </a:p>
        </p:txBody>
      </p:sp>
      <p:sp>
        <p:nvSpPr>
          <p:cNvPr id="3" name="Text 1"/>
          <p:cNvSpPr txBox="1"/>
          <p:nvPr/>
        </p:nvSpPr>
        <p:spPr>
          <a:xfrm>
            <a:off x="822960" y="2011680"/>
            <a:ext cx="822960" cy="822960"/>
          </a:xfrm>
          <a:prstGeom prst="ellipse">
            <a:avLst/>
          </a:prstGeom>
          <a:solidFill>
            <a:schemeClr val="bg1"/>
          </a:solidFill>
          <a:ln/>
        </p:spPr>
        <p:txBody>
          <a:bodyPr wrap="square" lIns="0" tIns="0" rIns="0" bIns="0" rtlCol="0" anchor="ctr"/>
          <a:lstStyle/>
          <a:p>
            <a:pPr marL="0" indent="0" algn="ctr">
              <a:buNone/>
            </a:pPr>
            <a:r>
              <a:rPr lang="en-US" sz="1800" b="1" dirty="0">
                <a:solidFill>
                  <a:schemeClr val="bg1"/>
                </a:solidFill>
              </a:rPr>
              <a:t>B</a:t>
            </a:r>
            <a:endParaRPr lang="en-US" sz="1800" dirty="0"/>
          </a:p>
        </p:txBody>
      </p:sp>
      <p:sp>
        <p:nvSpPr>
          <p:cNvPr id="4" name="Text 2"/>
          <p:cNvSpPr txBox="1"/>
          <p:nvPr/>
        </p:nvSpPr>
        <p:spPr>
          <a:xfrm>
            <a:off x="822960" y="2011680"/>
            <a:ext cx="822960" cy="822960"/>
          </a:xfrm>
          <a:prstGeom prst="rect">
            <a:avLst/>
          </a:prstGeom>
          <a:noFill/>
          <a:ln/>
        </p:spPr>
        <p:txBody>
          <a:bodyPr wrap="square" lIns="0" tIns="0" rIns="0" bIns="0" rtlCol="0" anchor="ctr"/>
          <a:lstStyle/>
          <a:p>
            <a:pPr marL="0" indent="0" algn="ctr">
              <a:buNone/>
            </a:pPr>
            <a:r>
              <a:rPr lang="en-US" sz="3000" b="1" dirty="0">
                <a:solidFill>
                  <a:schemeClr val="accent1"/>
                </a:solidFill>
              </a:rPr>
              <a:t>B</a:t>
            </a:r>
            <a:endParaRPr lang="en-US" sz="3000" dirty="0"/>
          </a:p>
        </p:txBody>
      </p:sp>
      <p:sp>
        <p:nvSpPr>
          <p:cNvPr id="5" name="Text 3"/>
          <p:cNvSpPr txBox="1"/>
          <p:nvPr/>
        </p:nvSpPr>
        <p:spPr>
          <a:xfrm>
            <a:off x="1920240" y="1737360"/>
            <a:ext cx="9418320" cy="1371600"/>
          </a:xfrm>
          <a:prstGeom prst="rect">
            <a:avLst/>
          </a:prstGeom>
          <a:noFill/>
          <a:ln/>
        </p:spPr>
        <p:txBody>
          <a:bodyPr wrap="square" lIns="0" tIns="0" rIns="0" bIns="0" rtlCol="0" anchor="ctr"/>
          <a:lstStyle/>
          <a:p>
            <a:pPr marL="0" indent="0">
              <a:buNone/>
            </a:pPr>
            <a:r>
              <a:rPr lang="en-US" sz="2400" b="1" dirty="0">
                <a:solidFill>
                  <a:schemeClr val="bg1"/>
                </a:solidFill>
                <a:latin typeface="+mj-lt" pitchFamily="34" charset="0"/>
                <a:ea typeface="+mj-lt" pitchFamily="34" charset="-122"/>
                <a:cs typeface="+mj-lt" pitchFamily="34" charset="-120"/>
              </a:rPr>
              <a:t>Blue whales eat tiny sea animals called krill.</a:t>
            </a:r>
            <a:endParaRPr lang="en-US" sz="2400" dirty="0"/>
          </a:p>
        </p:txBody>
      </p:sp>
      <p:sp>
        <p:nvSpPr>
          <p:cNvPr id="6" name="Shape 4"/>
          <p:cNvSpPr/>
          <p:nvPr/>
        </p:nvSpPr>
        <p:spPr>
          <a:xfrm>
            <a:off x="822960" y="3840480"/>
            <a:ext cx="10545775" cy="1463040"/>
          </a:xfrm>
          <a:prstGeom prst="rect">
            <a:avLst/>
          </a:prstGeom>
          <a:solidFill>
            <a:schemeClr val="tx1"/>
          </a:solidFill>
          <a:ln/>
        </p:spPr>
      </p:sp>
      <p:sp>
        <p:nvSpPr>
          <p:cNvPr id="7" name="Text 5"/>
          <p:cNvSpPr txBox="1"/>
          <p:nvPr/>
        </p:nvSpPr>
        <p:spPr>
          <a:xfrm>
            <a:off x="1097280" y="3886200"/>
            <a:ext cx="9997135" cy="1371600"/>
          </a:xfrm>
          <a:prstGeom prst="rect">
            <a:avLst/>
          </a:prstGeom>
          <a:noFill/>
          <a:ln/>
        </p:spPr>
        <p:txBody>
          <a:bodyPr wrap="square" lIns="0" tIns="0" rIns="0" bIns="0" rtlCol="0" anchor="ctr"/>
          <a:lstStyle/>
          <a:p>
            <a:pPr marL="0" indent="0">
              <a:buNone/>
            </a:pPr>
            <a:r>
              <a:rPr lang="en-US" sz="1800" dirty="0">
                <a:solidFill>
                  <a:schemeClr val="bg1"/>
                </a:solidFill>
              </a:rPr>
              <a:t>A plural subject (blue whales) needs a plural verb (eat). One animal: it eats. Many animals: they eat.</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0"/>
            <a:ext cx="9326880" cy="822960"/>
          </a:xfrm>
          <a:prstGeom prst="rect">
            <a:avLst/>
          </a:prstGeom>
          <a:noFill/>
          <a:ln/>
        </p:spPr>
        <p:txBody>
          <a:bodyPr wrap="square" lIns="0" tIns="0" rIns="0" bIns="0" rtlCol="0" anchor="ctr"/>
          <a:lstStyle/>
          <a:p>
            <a:pPr marL="0" indent="0" algn="l">
              <a:buNone/>
            </a:pPr>
            <a:r>
              <a:rPr lang="en-US" sz="2600" b="1" dirty="0">
                <a:solidFill>
                  <a:schemeClr val="bg1"/>
                </a:solidFill>
                <a:latin typeface="+mj-lt" pitchFamily="34" charset="0"/>
                <a:ea typeface="+mj-lt" pitchFamily="34" charset="-122"/>
                <a:cs typeface="+mj-lt" pitchFamily="34" charset="-120"/>
              </a:rPr>
              <a:t>What you did well in your first drafts</a:t>
            </a:r>
            <a:endParaRPr lang="en-US" sz="2600" dirty="0"/>
          </a:p>
        </p:txBody>
      </p:sp>
      <p:sp>
        <p:nvSpPr>
          <p:cNvPr id="3" name="Tag"/>
          <p:cNvSpPr txBox="1"/>
          <p:nvPr/>
        </p:nvSpPr>
        <p:spPr>
          <a:xfrm>
            <a:off x="10332720" y="256032"/>
            <a:ext cx="1463040" cy="310896"/>
          </a:xfrm>
          <a:prstGeom prst="rect">
            <a:avLst/>
          </a:prstGeom>
          <a:solidFill>
            <a:schemeClr val="accent2"/>
          </a:solidFill>
          <a:ln/>
        </p:spPr>
        <p:txBody>
          <a:bodyPr wrap="square" lIns="0" tIns="0" rIns="0" bIns="0" rtlCol="0" anchor="ctr"/>
          <a:lstStyle/>
          <a:p>
            <a:pPr marL="0" indent="0" algn="ctr">
              <a:buNone/>
            </a:pPr>
            <a:r>
              <a:rPr lang="en-US" sz="1100" b="1" dirty="0">
                <a:solidFill>
                  <a:schemeClr val="tx1"/>
                </a:solidFill>
              </a:rPr>
              <a:t>STRENGTHS</a:t>
            </a:r>
            <a:endParaRPr lang="en-US" sz="1100" dirty="0"/>
          </a:p>
        </p:txBody>
      </p:sp>
      <p:sp>
        <p:nvSpPr>
          <p:cNvPr id="5" name="Card MERA · RELATIVE CLAUSE"/>
          <p:cNvSpPr/>
          <p:nvPr/>
        </p:nvSpPr>
        <p:spPr>
          <a:xfrm>
            <a:off x="548640" y="1097280"/>
            <a:ext cx="3566160" cy="1508760"/>
          </a:xfrm>
          <a:prstGeom prst="rect">
            <a:avLst/>
          </a:prstGeom>
          <a:solidFill>
            <a:schemeClr val="bg1"/>
          </a:solidFill>
          <a:ln/>
          <a:effectLst>
            <a:outerShdw blurRad="76200" dist="25400" dir="5400000" algn="bl" rotWithShape="0">
              <a:srgbClr val="000000">
                <a:alpha val="12000"/>
              </a:srgbClr>
            </a:outerShdw>
          </a:effectLst>
        </p:spPr>
      </p:sp>
      <p:sp>
        <p:nvSpPr>
          <p:cNvPr id="6" name="Shape 3"/>
          <p:cNvSpPr/>
          <p:nvPr/>
        </p:nvSpPr>
        <p:spPr>
          <a:xfrm>
            <a:off x="548640" y="1097280"/>
            <a:ext cx="3566160" cy="384048"/>
          </a:xfrm>
          <a:prstGeom prst="rect">
            <a:avLst/>
          </a:prstGeom>
          <a:solidFill>
            <a:schemeClr val="accent1"/>
          </a:solidFill>
          <a:ln/>
        </p:spPr>
      </p:sp>
      <p:sp>
        <p:nvSpPr>
          <p:cNvPr id="7" name="Text 4"/>
          <p:cNvSpPr txBox="1"/>
          <p:nvPr/>
        </p:nvSpPr>
        <p:spPr>
          <a:xfrm>
            <a:off x="676656" y="1097280"/>
            <a:ext cx="3383280" cy="384048"/>
          </a:xfrm>
          <a:prstGeom prst="rect">
            <a:avLst/>
          </a:prstGeom>
          <a:noFill/>
          <a:ln/>
        </p:spPr>
        <p:txBody>
          <a:bodyPr wrap="square" lIns="0" tIns="0" rIns="0" bIns="0" rtlCol="0" anchor="ctr"/>
          <a:lstStyle/>
          <a:p>
            <a:pPr marL="0" indent="0">
              <a:buNone/>
            </a:pPr>
            <a:r>
              <a:rPr lang="en-US" b="1" dirty="0">
                <a:highlight>
                  <a:srgbClr val="FFFF00"/>
                </a:highlight>
              </a:rPr>
              <a:t>MERA · RELATIVE CLAUSE</a:t>
            </a:r>
            <a:endParaRPr lang="en-US" dirty="0">
              <a:highlight>
                <a:srgbClr val="FFFF00"/>
              </a:highlight>
            </a:endParaRPr>
          </a:p>
        </p:txBody>
      </p:sp>
      <p:sp>
        <p:nvSpPr>
          <p:cNvPr id="8" name="Text 5"/>
          <p:cNvSpPr txBox="1"/>
          <p:nvPr/>
        </p:nvSpPr>
        <p:spPr>
          <a:xfrm>
            <a:off x="658368" y="1554480"/>
            <a:ext cx="3346704" cy="978408"/>
          </a:xfrm>
          <a:prstGeom prst="rect">
            <a:avLst/>
          </a:prstGeom>
          <a:noFill/>
          <a:ln/>
        </p:spPr>
        <p:txBody>
          <a:bodyPr wrap="square" lIns="508" tIns="508" rIns="508" bIns="508" rtlCol="0" anchor="t"/>
          <a:lstStyle/>
          <a:p>
            <a:pPr marL="0" indent="0" algn="l">
              <a:buNone/>
            </a:pPr>
            <a:r>
              <a:rPr lang="en-US" i="1" dirty="0">
                <a:solidFill>
                  <a:schemeClr val="tx1"/>
                </a:solidFill>
              </a:rPr>
              <a:t>“West African lions, which are among the most endangered big cats on the planet, live only in a few isolated areas of West Africa.”</a:t>
            </a:r>
            <a:endParaRPr lang="en-US" dirty="0"/>
          </a:p>
        </p:txBody>
      </p:sp>
      <p:sp>
        <p:nvSpPr>
          <p:cNvPr id="9" name="Card WASEELA · CONNECTORS"/>
          <p:cNvSpPr/>
          <p:nvPr/>
        </p:nvSpPr>
        <p:spPr>
          <a:xfrm>
            <a:off x="4361688" y="1097280"/>
            <a:ext cx="3566160" cy="1508760"/>
          </a:xfrm>
          <a:prstGeom prst="rect">
            <a:avLst/>
          </a:prstGeom>
          <a:solidFill>
            <a:schemeClr val="bg1"/>
          </a:solidFill>
          <a:ln/>
          <a:effectLst>
            <a:outerShdw blurRad="76200" dist="25400" dir="5400000" algn="bl" rotWithShape="0">
              <a:srgbClr val="000000">
                <a:alpha val="12000"/>
              </a:srgbClr>
            </a:outerShdw>
          </a:effectLst>
        </p:spPr>
      </p:sp>
      <p:sp>
        <p:nvSpPr>
          <p:cNvPr id="10" name="Shape 7"/>
          <p:cNvSpPr/>
          <p:nvPr/>
        </p:nvSpPr>
        <p:spPr>
          <a:xfrm>
            <a:off x="4361688" y="1097280"/>
            <a:ext cx="3566160" cy="384048"/>
          </a:xfrm>
          <a:prstGeom prst="rect">
            <a:avLst/>
          </a:prstGeom>
          <a:solidFill>
            <a:schemeClr val="accent2"/>
          </a:solidFill>
          <a:ln/>
        </p:spPr>
      </p:sp>
      <p:sp>
        <p:nvSpPr>
          <p:cNvPr id="11" name="Text 8"/>
          <p:cNvSpPr txBox="1"/>
          <p:nvPr/>
        </p:nvSpPr>
        <p:spPr>
          <a:xfrm>
            <a:off x="4489704" y="1097280"/>
            <a:ext cx="3383280" cy="384048"/>
          </a:xfrm>
          <a:prstGeom prst="rect">
            <a:avLst/>
          </a:prstGeom>
          <a:noFill/>
          <a:ln/>
        </p:spPr>
        <p:txBody>
          <a:bodyPr wrap="square" lIns="0" tIns="0" rIns="0" bIns="0" rtlCol="0" anchor="ctr"/>
          <a:lstStyle/>
          <a:p>
            <a:pPr marL="0" indent="0">
              <a:buNone/>
            </a:pPr>
            <a:r>
              <a:rPr lang="en-US" b="1" dirty="0">
                <a:solidFill>
                  <a:schemeClr val="tx1"/>
                </a:solidFill>
                <a:highlight>
                  <a:srgbClr val="FFFF00"/>
                </a:highlight>
              </a:rPr>
              <a:t>WASEELA · CONNECTORS</a:t>
            </a:r>
            <a:endParaRPr lang="en-US" dirty="0">
              <a:highlight>
                <a:srgbClr val="FFFF00"/>
              </a:highlight>
            </a:endParaRPr>
          </a:p>
        </p:txBody>
      </p:sp>
      <p:sp>
        <p:nvSpPr>
          <p:cNvPr id="12" name="Text 9"/>
          <p:cNvSpPr txBox="1"/>
          <p:nvPr/>
        </p:nvSpPr>
        <p:spPr>
          <a:xfrm>
            <a:off x="4471416" y="1554480"/>
            <a:ext cx="3346704" cy="978408"/>
          </a:xfrm>
          <a:prstGeom prst="rect">
            <a:avLst/>
          </a:prstGeom>
          <a:noFill/>
          <a:ln/>
        </p:spPr>
        <p:txBody>
          <a:bodyPr wrap="square" lIns="508" tIns="508" rIns="508" bIns="508" rtlCol="0" anchor="t"/>
          <a:lstStyle/>
          <a:p>
            <a:pPr marL="0" indent="0" algn="l">
              <a:buNone/>
            </a:pPr>
            <a:r>
              <a:rPr lang="en-US" i="1" dirty="0">
                <a:solidFill>
                  <a:schemeClr val="tx1"/>
                </a:solidFill>
              </a:rPr>
              <a:t>“First, their habitat is shrinking because people build larger roads and farms. Second, there is illegal wildlife trade…”</a:t>
            </a:r>
            <a:endParaRPr lang="en-US" dirty="0"/>
          </a:p>
        </p:txBody>
      </p:sp>
      <p:sp>
        <p:nvSpPr>
          <p:cNvPr id="13" name="Card MAWADDA · TOPIC SENTENCE"/>
          <p:cNvSpPr/>
          <p:nvPr/>
        </p:nvSpPr>
        <p:spPr>
          <a:xfrm>
            <a:off x="8174736" y="1097280"/>
            <a:ext cx="3566160" cy="1508760"/>
          </a:xfrm>
          <a:prstGeom prst="rect">
            <a:avLst/>
          </a:prstGeom>
          <a:solidFill>
            <a:schemeClr val="bg1"/>
          </a:solidFill>
          <a:ln/>
          <a:effectLst>
            <a:outerShdw blurRad="76200" dist="25400" dir="5400000" algn="bl" rotWithShape="0">
              <a:srgbClr val="000000">
                <a:alpha val="12000"/>
              </a:srgbClr>
            </a:outerShdw>
          </a:effectLst>
        </p:spPr>
      </p:sp>
      <p:sp>
        <p:nvSpPr>
          <p:cNvPr id="14" name="Shape 11"/>
          <p:cNvSpPr/>
          <p:nvPr/>
        </p:nvSpPr>
        <p:spPr>
          <a:xfrm>
            <a:off x="8174736" y="1097280"/>
            <a:ext cx="3566160" cy="384048"/>
          </a:xfrm>
          <a:prstGeom prst="rect">
            <a:avLst/>
          </a:prstGeom>
          <a:solidFill>
            <a:schemeClr val="accent3"/>
          </a:solidFill>
          <a:ln/>
        </p:spPr>
      </p:sp>
      <p:sp>
        <p:nvSpPr>
          <p:cNvPr id="15" name="Text 12"/>
          <p:cNvSpPr txBox="1"/>
          <p:nvPr/>
        </p:nvSpPr>
        <p:spPr>
          <a:xfrm>
            <a:off x="8302752" y="1097280"/>
            <a:ext cx="3383280" cy="384048"/>
          </a:xfrm>
          <a:prstGeom prst="rect">
            <a:avLst/>
          </a:prstGeom>
          <a:noFill/>
          <a:ln/>
        </p:spPr>
        <p:txBody>
          <a:bodyPr wrap="square" lIns="0" tIns="0" rIns="0" bIns="0" rtlCol="0" anchor="ctr"/>
          <a:lstStyle/>
          <a:p>
            <a:pPr marL="0" indent="0">
              <a:buNone/>
            </a:pPr>
            <a:r>
              <a:rPr lang="en-US" sz="1600" b="1" dirty="0">
                <a:highlight>
                  <a:srgbClr val="FFFF00"/>
                </a:highlight>
              </a:rPr>
              <a:t>MAWADDA · TOPIC SENTENCE</a:t>
            </a:r>
            <a:endParaRPr lang="en-US" sz="1600" dirty="0">
              <a:highlight>
                <a:srgbClr val="FFFF00"/>
              </a:highlight>
            </a:endParaRPr>
          </a:p>
        </p:txBody>
      </p:sp>
      <p:sp>
        <p:nvSpPr>
          <p:cNvPr id="16" name="Text 13"/>
          <p:cNvSpPr txBox="1"/>
          <p:nvPr/>
        </p:nvSpPr>
        <p:spPr>
          <a:xfrm>
            <a:off x="8284464" y="1554480"/>
            <a:ext cx="3346704" cy="978408"/>
          </a:xfrm>
          <a:prstGeom prst="rect">
            <a:avLst/>
          </a:prstGeom>
          <a:noFill/>
          <a:ln/>
        </p:spPr>
        <p:txBody>
          <a:bodyPr wrap="square" lIns="508" tIns="508" rIns="508" bIns="508" rtlCol="0" anchor="t"/>
          <a:lstStyle/>
          <a:p>
            <a:pPr marL="0" indent="0" algn="l">
              <a:buNone/>
            </a:pPr>
            <a:r>
              <a:rPr lang="en-US" i="1" dirty="0">
                <a:solidFill>
                  <a:schemeClr val="tx1"/>
                </a:solidFill>
              </a:rPr>
              <a:t>“Giraffes face serious threats. Human cut down grasslands, which destroys their natural homes.”</a:t>
            </a:r>
            <a:endParaRPr lang="en-US" dirty="0"/>
          </a:p>
        </p:txBody>
      </p:sp>
      <p:sp>
        <p:nvSpPr>
          <p:cNvPr id="17" name="Card ROFIDA · FACTS CHECKED"/>
          <p:cNvSpPr/>
          <p:nvPr/>
        </p:nvSpPr>
        <p:spPr>
          <a:xfrm>
            <a:off x="548640" y="2743200"/>
            <a:ext cx="3566160" cy="1508760"/>
          </a:xfrm>
          <a:prstGeom prst="rect">
            <a:avLst/>
          </a:prstGeom>
          <a:solidFill>
            <a:schemeClr val="bg1"/>
          </a:solidFill>
          <a:ln/>
          <a:effectLst>
            <a:outerShdw blurRad="76200" dist="25400" dir="5400000" algn="bl" rotWithShape="0">
              <a:srgbClr val="000000">
                <a:alpha val="12000"/>
              </a:srgbClr>
            </a:outerShdw>
          </a:effectLst>
        </p:spPr>
      </p:sp>
      <p:sp>
        <p:nvSpPr>
          <p:cNvPr id="18" name="Shape 15"/>
          <p:cNvSpPr/>
          <p:nvPr/>
        </p:nvSpPr>
        <p:spPr>
          <a:xfrm>
            <a:off x="548640" y="2743200"/>
            <a:ext cx="3566160" cy="384048"/>
          </a:xfrm>
          <a:prstGeom prst="rect">
            <a:avLst/>
          </a:prstGeom>
          <a:solidFill>
            <a:schemeClr val="tx1"/>
          </a:solidFill>
          <a:ln/>
        </p:spPr>
      </p:sp>
      <p:sp>
        <p:nvSpPr>
          <p:cNvPr id="19" name="Text 16"/>
          <p:cNvSpPr txBox="1"/>
          <p:nvPr/>
        </p:nvSpPr>
        <p:spPr>
          <a:xfrm>
            <a:off x="676656" y="2743200"/>
            <a:ext cx="3383280" cy="384048"/>
          </a:xfrm>
          <a:prstGeom prst="rect">
            <a:avLst/>
          </a:prstGeom>
          <a:noFill/>
          <a:ln/>
        </p:spPr>
        <p:txBody>
          <a:bodyPr wrap="square" lIns="0" tIns="0" rIns="0" bIns="0" rtlCol="0" anchor="ctr"/>
          <a:lstStyle/>
          <a:p>
            <a:pPr marL="0" indent="0">
              <a:buNone/>
            </a:pPr>
            <a:r>
              <a:rPr lang="en-US" sz="1600" b="1" dirty="0">
                <a:highlight>
                  <a:srgbClr val="FFFF00"/>
                </a:highlight>
              </a:rPr>
              <a:t>ROFIDA · FACTS CHECKED</a:t>
            </a:r>
            <a:endParaRPr lang="en-US" sz="1600" dirty="0">
              <a:highlight>
                <a:srgbClr val="FFFF00"/>
              </a:highlight>
            </a:endParaRPr>
          </a:p>
        </p:txBody>
      </p:sp>
      <p:sp>
        <p:nvSpPr>
          <p:cNvPr id="20" name="Text 17"/>
          <p:cNvSpPr txBox="1"/>
          <p:nvPr/>
        </p:nvSpPr>
        <p:spPr>
          <a:xfrm>
            <a:off x="658368" y="3200400"/>
            <a:ext cx="3346704" cy="978408"/>
          </a:xfrm>
          <a:prstGeom prst="rect">
            <a:avLst/>
          </a:prstGeom>
          <a:noFill/>
          <a:ln/>
        </p:spPr>
        <p:txBody>
          <a:bodyPr wrap="square" lIns="508" tIns="508" rIns="508" bIns="508" rtlCol="0" anchor="t"/>
          <a:lstStyle/>
          <a:p>
            <a:pPr marL="0" indent="0" algn="l">
              <a:buNone/>
            </a:pPr>
            <a:r>
              <a:rPr lang="en-US" i="1" dirty="0">
                <a:solidFill>
                  <a:schemeClr val="tx1"/>
                </a:solidFill>
              </a:rPr>
              <a:t>“…Crocodylus porosus, which is the largest living reptile and they live in Southeast Asia, India and northern Australia.”</a:t>
            </a:r>
            <a:endParaRPr lang="en-US" dirty="0"/>
          </a:p>
        </p:txBody>
      </p:sp>
      <p:sp>
        <p:nvSpPr>
          <p:cNvPr id="21" name="Card RENAD · CONNECTORS"/>
          <p:cNvSpPr/>
          <p:nvPr/>
        </p:nvSpPr>
        <p:spPr>
          <a:xfrm>
            <a:off x="4361688" y="2743200"/>
            <a:ext cx="3566160" cy="1508760"/>
          </a:xfrm>
          <a:prstGeom prst="rect">
            <a:avLst/>
          </a:prstGeom>
          <a:solidFill>
            <a:schemeClr val="bg1"/>
          </a:solidFill>
          <a:ln/>
          <a:effectLst>
            <a:outerShdw blurRad="76200" dist="25400" dir="5400000" algn="bl" rotWithShape="0">
              <a:srgbClr val="000000">
                <a:alpha val="12000"/>
              </a:srgbClr>
            </a:outerShdw>
          </a:effectLst>
        </p:spPr>
      </p:sp>
      <p:sp>
        <p:nvSpPr>
          <p:cNvPr id="22" name="Shape 19"/>
          <p:cNvSpPr/>
          <p:nvPr/>
        </p:nvSpPr>
        <p:spPr>
          <a:xfrm>
            <a:off x="4361688" y="2743200"/>
            <a:ext cx="3566160" cy="384048"/>
          </a:xfrm>
          <a:prstGeom prst="rect">
            <a:avLst/>
          </a:prstGeom>
          <a:solidFill>
            <a:schemeClr val="accent1"/>
          </a:solidFill>
          <a:ln/>
        </p:spPr>
      </p:sp>
      <p:sp>
        <p:nvSpPr>
          <p:cNvPr id="23" name="Text 20"/>
          <p:cNvSpPr txBox="1"/>
          <p:nvPr/>
        </p:nvSpPr>
        <p:spPr>
          <a:xfrm>
            <a:off x="4489704" y="2743200"/>
            <a:ext cx="3383280" cy="384048"/>
          </a:xfrm>
          <a:prstGeom prst="rect">
            <a:avLst/>
          </a:prstGeom>
          <a:noFill/>
          <a:ln/>
        </p:spPr>
        <p:txBody>
          <a:bodyPr wrap="square" lIns="0" tIns="0" rIns="0" bIns="0" rtlCol="0" anchor="ctr"/>
          <a:lstStyle/>
          <a:p>
            <a:pPr marL="0" indent="0">
              <a:buNone/>
            </a:pPr>
            <a:r>
              <a:rPr lang="en-US" b="1" dirty="0">
                <a:highlight>
                  <a:srgbClr val="FFFF00"/>
                </a:highlight>
              </a:rPr>
              <a:t>RENAD · CONNECTORS</a:t>
            </a:r>
            <a:endParaRPr lang="en-US" dirty="0">
              <a:highlight>
                <a:srgbClr val="FFFF00"/>
              </a:highlight>
            </a:endParaRPr>
          </a:p>
        </p:txBody>
      </p:sp>
      <p:sp>
        <p:nvSpPr>
          <p:cNvPr id="24" name="Text 21"/>
          <p:cNvSpPr txBox="1"/>
          <p:nvPr/>
        </p:nvSpPr>
        <p:spPr>
          <a:xfrm>
            <a:off x="4471416" y="3200400"/>
            <a:ext cx="3346704" cy="978408"/>
          </a:xfrm>
          <a:prstGeom prst="rect">
            <a:avLst/>
          </a:prstGeom>
          <a:noFill/>
          <a:ln/>
        </p:spPr>
        <p:txBody>
          <a:bodyPr wrap="square" lIns="508" tIns="508" rIns="508" bIns="508" rtlCol="0" anchor="t"/>
          <a:lstStyle/>
          <a:p>
            <a:pPr marL="0" indent="0" algn="l">
              <a:buNone/>
            </a:pPr>
            <a:r>
              <a:rPr lang="en-US" i="1" dirty="0">
                <a:solidFill>
                  <a:schemeClr val="tx1"/>
                </a:solidFill>
              </a:rPr>
              <a:t>“However, it faces two danger threats… In addition, people hunt it… As a result,…”</a:t>
            </a:r>
            <a:endParaRPr lang="en-US" dirty="0"/>
          </a:p>
        </p:txBody>
      </p:sp>
      <p:sp>
        <p:nvSpPr>
          <p:cNvPr id="25" name="Card SADEEL · CAUSE AND RESULT"/>
          <p:cNvSpPr/>
          <p:nvPr/>
        </p:nvSpPr>
        <p:spPr>
          <a:xfrm>
            <a:off x="8174736" y="2743200"/>
            <a:ext cx="3566160" cy="1508760"/>
          </a:xfrm>
          <a:prstGeom prst="rect">
            <a:avLst/>
          </a:prstGeom>
          <a:solidFill>
            <a:schemeClr val="bg1"/>
          </a:solidFill>
          <a:ln/>
          <a:effectLst>
            <a:outerShdw blurRad="76200" dist="25400" dir="5400000" algn="bl" rotWithShape="0">
              <a:srgbClr val="000000">
                <a:alpha val="12000"/>
              </a:srgbClr>
            </a:outerShdw>
          </a:effectLst>
        </p:spPr>
      </p:sp>
      <p:sp>
        <p:nvSpPr>
          <p:cNvPr id="26" name="Shape 23"/>
          <p:cNvSpPr/>
          <p:nvPr/>
        </p:nvSpPr>
        <p:spPr>
          <a:xfrm>
            <a:off x="8174736" y="2743200"/>
            <a:ext cx="3566160" cy="384048"/>
          </a:xfrm>
          <a:prstGeom prst="rect">
            <a:avLst/>
          </a:prstGeom>
          <a:solidFill>
            <a:schemeClr val="accent2"/>
          </a:solidFill>
          <a:ln/>
        </p:spPr>
      </p:sp>
      <p:sp>
        <p:nvSpPr>
          <p:cNvPr id="27" name="Text 24"/>
          <p:cNvSpPr txBox="1"/>
          <p:nvPr/>
        </p:nvSpPr>
        <p:spPr>
          <a:xfrm>
            <a:off x="8302752" y="2743200"/>
            <a:ext cx="3383280" cy="384048"/>
          </a:xfrm>
          <a:prstGeom prst="rect">
            <a:avLst/>
          </a:prstGeom>
          <a:noFill/>
          <a:ln/>
        </p:spPr>
        <p:txBody>
          <a:bodyPr wrap="square" lIns="0" tIns="0" rIns="0" bIns="0" rtlCol="0" anchor="ctr"/>
          <a:lstStyle/>
          <a:p>
            <a:pPr marL="0" indent="0">
              <a:buNone/>
            </a:pPr>
            <a:r>
              <a:rPr lang="en-US" sz="1600" b="1" dirty="0">
                <a:solidFill>
                  <a:schemeClr val="tx1"/>
                </a:solidFill>
                <a:highlight>
                  <a:srgbClr val="FFFF00"/>
                </a:highlight>
              </a:rPr>
              <a:t>SADEEL · CAUSE AND RESULT</a:t>
            </a:r>
            <a:endParaRPr lang="en-US" sz="1600" dirty="0">
              <a:highlight>
                <a:srgbClr val="FFFF00"/>
              </a:highlight>
            </a:endParaRPr>
          </a:p>
        </p:txBody>
      </p:sp>
      <p:sp>
        <p:nvSpPr>
          <p:cNvPr id="28" name="Text 25"/>
          <p:cNvSpPr txBox="1"/>
          <p:nvPr/>
        </p:nvSpPr>
        <p:spPr>
          <a:xfrm>
            <a:off x="8284464" y="3200400"/>
            <a:ext cx="3346704" cy="978408"/>
          </a:xfrm>
          <a:prstGeom prst="rect">
            <a:avLst/>
          </a:prstGeom>
          <a:noFill/>
          <a:ln/>
        </p:spPr>
        <p:txBody>
          <a:bodyPr wrap="square" lIns="508" tIns="508" rIns="508" bIns="508" rtlCol="0" anchor="t"/>
          <a:lstStyle/>
          <a:p>
            <a:pPr marL="0" indent="0" algn="l">
              <a:buNone/>
            </a:pPr>
            <a:r>
              <a:rPr lang="en-US" i="1" dirty="0">
                <a:solidFill>
                  <a:schemeClr val="tx1"/>
                </a:solidFill>
              </a:rPr>
              <a:t>“Ships can hit them by accident… As a result, whales may find it difficult to communicate.”</a:t>
            </a:r>
            <a:endParaRPr lang="en-US" dirty="0"/>
          </a:p>
        </p:txBody>
      </p:sp>
      <p:sp>
        <p:nvSpPr>
          <p:cNvPr id="29" name="Card YASSIN · PRECISE FACTS"/>
          <p:cNvSpPr/>
          <p:nvPr/>
        </p:nvSpPr>
        <p:spPr>
          <a:xfrm>
            <a:off x="548640" y="4389120"/>
            <a:ext cx="3566160" cy="1508760"/>
          </a:xfrm>
          <a:prstGeom prst="rect">
            <a:avLst/>
          </a:prstGeom>
          <a:solidFill>
            <a:schemeClr val="bg1"/>
          </a:solidFill>
          <a:ln/>
          <a:effectLst>
            <a:outerShdw blurRad="76200" dist="25400" dir="5400000" algn="bl" rotWithShape="0">
              <a:srgbClr val="000000">
                <a:alpha val="12000"/>
              </a:srgbClr>
            </a:outerShdw>
          </a:effectLst>
        </p:spPr>
      </p:sp>
      <p:sp>
        <p:nvSpPr>
          <p:cNvPr id="30" name="Shape 27"/>
          <p:cNvSpPr/>
          <p:nvPr/>
        </p:nvSpPr>
        <p:spPr>
          <a:xfrm>
            <a:off x="548640" y="4389120"/>
            <a:ext cx="3566160" cy="384048"/>
          </a:xfrm>
          <a:prstGeom prst="rect">
            <a:avLst/>
          </a:prstGeom>
          <a:solidFill>
            <a:schemeClr val="accent3"/>
          </a:solidFill>
          <a:ln/>
        </p:spPr>
      </p:sp>
      <p:sp>
        <p:nvSpPr>
          <p:cNvPr id="31" name="Text 28"/>
          <p:cNvSpPr txBox="1"/>
          <p:nvPr/>
        </p:nvSpPr>
        <p:spPr>
          <a:xfrm>
            <a:off x="676656" y="4389120"/>
            <a:ext cx="3383280" cy="384048"/>
          </a:xfrm>
          <a:prstGeom prst="rect">
            <a:avLst/>
          </a:prstGeom>
          <a:noFill/>
          <a:ln/>
        </p:spPr>
        <p:txBody>
          <a:bodyPr wrap="square" lIns="0" tIns="0" rIns="0" bIns="0" rtlCol="0" anchor="ctr"/>
          <a:lstStyle/>
          <a:p>
            <a:pPr marL="0" indent="0">
              <a:buNone/>
            </a:pPr>
            <a:r>
              <a:rPr lang="en-US" b="1" dirty="0">
                <a:highlight>
                  <a:srgbClr val="FFFF00"/>
                </a:highlight>
              </a:rPr>
              <a:t>YASSIN · PRECISE FACTS</a:t>
            </a:r>
            <a:endParaRPr lang="en-US" dirty="0">
              <a:highlight>
                <a:srgbClr val="FFFF00"/>
              </a:highlight>
            </a:endParaRPr>
          </a:p>
        </p:txBody>
      </p:sp>
      <p:sp>
        <p:nvSpPr>
          <p:cNvPr id="32" name="Text 29"/>
          <p:cNvSpPr txBox="1"/>
          <p:nvPr/>
        </p:nvSpPr>
        <p:spPr>
          <a:xfrm>
            <a:off x="658368" y="4846320"/>
            <a:ext cx="3346704" cy="978408"/>
          </a:xfrm>
          <a:prstGeom prst="rect">
            <a:avLst/>
          </a:prstGeom>
          <a:noFill/>
          <a:ln/>
        </p:spPr>
        <p:txBody>
          <a:bodyPr wrap="square" lIns="508" tIns="508" rIns="508" bIns="508" rtlCol="0" anchor="t"/>
          <a:lstStyle/>
          <a:p>
            <a:pPr marL="0" indent="0" algn="l">
              <a:buNone/>
            </a:pPr>
            <a:r>
              <a:rPr lang="en-US" i="1" dirty="0">
                <a:solidFill>
                  <a:schemeClr val="tx1"/>
                </a:solidFill>
              </a:rPr>
              <a:t>“It can grow up to 30 m long… tiny creatures called krill… breathe air through its blowhole.”</a:t>
            </a:r>
            <a:endParaRPr lang="en-US" dirty="0"/>
          </a:p>
        </p:txBody>
      </p:sp>
      <p:sp>
        <p:nvSpPr>
          <p:cNvPr id="33" name="Card MOSTAFA · CAUSE AND EFFECT"/>
          <p:cNvSpPr/>
          <p:nvPr/>
        </p:nvSpPr>
        <p:spPr>
          <a:xfrm>
            <a:off x="4361688" y="4389120"/>
            <a:ext cx="3566160" cy="1508760"/>
          </a:xfrm>
          <a:prstGeom prst="rect">
            <a:avLst/>
          </a:prstGeom>
          <a:solidFill>
            <a:schemeClr val="bg1"/>
          </a:solidFill>
          <a:ln/>
          <a:effectLst>
            <a:outerShdw blurRad="76200" dist="25400" dir="5400000" algn="bl" rotWithShape="0">
              <a:srgbClr val="000000">
                <a:alpha val="12000"/>
              </a:srgbClr>
            </a:outerShdw>
          </a:effectLst>
        </p:spPr>
      </p:sp>
      <p:sp>
        <p:nvSpPr>
          <p:cNvPr id="34" name="Shape 31"/>
          <p:cNvSpPr/>
          <p:nvPr/>
        </p:nvSpPr>
        <p:spPr>
          <a:xfrm>
            <a:off x="4361688" y="4389120"/>
            <a:ext cx="3566160" cy="384048"/>
          </a:xfrm>
          <a:prstGeom prst="rect">
            <a:avLst/>
          </a:prstGeom>
          <a:solidFill>
            <a:schemeClr val="tx1"/>
          </a:solidFill>
          <a:ln/>
        </p:spPr>
      </p:sp>
      <p:sp>
        <p:nvSpPr>
          <p:cNvPr id="35" name="Text 32"/>
          <p:cNvSpPr txBox="1"/>
          <p:nvPr/>
        </p:nvSpPr>
        <p:spPr>
          <a:xfrm>
            <a:off x="4489704" y="4389120"/>
            <a:ext cx="3383280" cy="384048"/>
          </a:xfrm>
          <a:prstGeom prst="rect">
            <a:avLst/>
          </a:prstGeom>
          <a:noFill/>
          <a:ln/>
        </p:spPr>
        <p:txBody>
          <a:bodyPr wrap="square" lIns="0" tIns="0" rIns="0" bIns="0" rtlCol="0" anchor="ctr"/>
          <a:lstStyle/>
          <a:p>
            <a:pPr marL="0" indent="0">
              <a:buNone/>
            </a:pPr>
            <a:r>
              <a:rPr lang="en-US" sz="1600" b="1" dirty="0">
                <a:highlight>
                  <a:srgbClr val="FFFF00"/>
                </a:highlight>
              </a:rPr>
              <a:t>MOSTAFA · CAUSE AND EFFECT</a:t>
            </a:r>
            <a:endParaRPr lang="en-US" sz="1600" dirty="0">
              <a:highlight>
                <a:srgbClr val="FFFF00"/>
              </a:highlight>
            </a:endParaRPr>
          </a:p>
        </p:txBody>
      </p:sp>
      <p:sp>
        <p:nvSpPr>
          <p:cNvPr id="36" name="Text 33"/>
          <p:cNvSpPr txBox="1"/>
          <p:nvPr/>
        </p:nvSpPr>
        <p:spPr>
          <a:xfrm>
            <a:off x="4471416" y="4846320"/>
            <a:ext cx="3346704" cy="978408"/>
          </a:xfrm>
          <a:prstGeom prst="rect">
            <a:avLst/>
          </a:prstGeom>
          <a:noFill/>
          <a:ln/>
        </p:spPr>
        <p:txBody>
          <a:bodyPr wrap="square" lIns="508" tIns="508" rIns="508" bIns="508" rtlCol="0" anchor="t"/>
          <a:lstStyle/>
          <a:p>
            <a:pPr marL="0" indent="0" algn="l">
              <a:buNone/>
            </a:pPr>
            <a:r>
              <a:rPr lang="en-US" i="1" dirty="0">
                <a:solidFill>
                  <a:schemeClr val="tx1"/>
                </a:solidFill>
              </a:rPr>
              <a:t>“Sea turtles are in danger because people throw plastic.” “We can join beach clean-ups to keep nesting beaches safe.”</a:t>
            </a:r>
            <a:endParaRPr lang="en-US" dirty="0"/>
          </a:p>
        </p:txBody>
      </p:sp>
      <p:sp>
        <p:nvSpPr>
          <p:cNvPr id="37" name="Card BEKHIT · BIG KNOWLEDGE"/>
          <p:cNvSpPr/>
          <p:nvPr/>
        </p:nvSpPr>
        <p:spPr>
          <a:xfrm>
            <a:off x="8174736" y="4389120"/>
            <a:ext cx="3566160" cy="1508760"/>
          </a:xfrm>
          <a:prstGeom prst="rect">
            <a:avLst/>
          </a:prstGeom>
          <a:solidFill>
            <a:schemeClr val="bg1"/>
          </a:solidFill>
          <a:ln/>
          <a:effectLst>
            <a:outerShdw blurRad="76200" dist="25400" dir="5400000" algn="bl" rotWithShape="0">
              <a:srgbClr val="000000">
                <a:alpha val="12000"/>
              </a:srgbClr>
            </a:outerShdw>
          </a:effectLst>
        </p:spPr>
      </p:sp>
      <p:sp>
        <p:nvSpPr>
          <p:cNvPr id="38" name="Shape 35"/>
          <p:cNvSpPr/>
          <p:nvPr/>
        </p:nvSpPr>
        <p:spPr>
          <a:xfrm>
            <a:off x="8174736" y="4389120"/>
            <a:ext cx="3566160" cy="384048"/>
          </a:xfrm>
          <a:prstGeom prst="rect">
            <a:avLst/>
          </a:prstGeom>
          <a:solidFill>
            <a:schemeClr val="accent1"/>
          </a:solidFill>
          <a:ln/>
        </p:spPr>
      </p:sp>
      <p:sp>
        <p:nvSpPr>
          <p:cNvPr id="39" name="Text 36"/>
          <p:cNvSpPr txBox="1"/>
          <p:nvPr/>
        </p:nvSpPr>
        <p:spPr>
          <a:xfrm>
            <a:off x="8302752" y="4389120"/>
            <a:ext cx="3383280" cy="384048"/>
          </a:xfrm>
          <a:prstGeom prst="rect">
            <a:avLst/>
          </a:prstGeom>
          <a:noFill/>
          <a:ln/>
        </p:spPr>
        <p:txBody>
          <a:bodyPr wrap="square" lIns="0" tIns="0" rIns="0" bIns="0" rtlCol="0" anchor="ctr"/>
          <a:lstStyle/>
          <a:p>
            <a:pPr marL="0" indent="0">
              <a:buNone/>
            </a:pPr>
            <a:r>
              <a:rPr lang="en-US" b="1" dirty="0">
                <a:highlight>
                  <a:srgbClr val="FFFF00"/>
                </a:highlight>
              </a:rPr>
              <a:t>BEKHIT · BIG KNOWLEDGE</a:t>
            </a:r>
            <a:endParaRPr lang="en-US" dirty="0">
              <a:highlight>
                <a:srgbClr val="FFFF00"/>
              </a:highlight>
            </a:endParaRPr>
          </a:p>
        </p:txBody>
      </p:sp>
      <p:sp>
        <p:nvSpPr>
          <p:cNvPr id="40" name="Text 37"/>
          <p:cNvSpPr txBox="1"/>
          <p:nvPr/>
        </p:nvSpPr>
        <p:spPr>
          <a:xfrm>
            <a:off x="8284464" y="4846320"/>
            <a:ext cx="3346704" cy="978408"/>
          </a:xfrm>
          <a:prstGeom prst="rect">
            <a:avLst/>
          </a:prstGeom>
          <a:noFill/>
          <a:ln/>
        </p:spPr>
        <p:txBody>
          <a:bodyPr wrap="square" lIns="508" tIns="508" rIns="508" bIns="508" rtlCol="0" anchor="t"/>
          <a:lstStyle/>
          <a:p>
            <a:pPr marL="0" indent="0" algn="l">
              <a:buNone/>
            </a:pPr>
            <a:r>
              <a:rPr lang="en-US" i="1" dirty="0">
                <a:solidFill>
                  <a:schemeClr val="tx1"/>
                </a:solidFill>
              </a:rPr>
              <a:t>“The elephant is the largest animal in the savanna and the elephant is very smart.” You know many savanna animals.</a:t>
            </a:r>
            <a:endParaRPr lang="en-US" dirty="0"/>
          </a:p>
        </p:txBody>
      </p:sp>
      <p:sp>
        <p:nvSpPr>
          <p:cNvPr id="41" name="Text 38"/>
          <p:cNvSpPr txBox="1"/>
          <p:nvPr/>
        </p:nvSpPr>
        <p:spPr>
          <a:xfrm>
            <a:off x="548640" y="5989320"/>
            <a:ext cx="11094415" cy="548640"/>
          </a:xfrm>
          <a:prstGeom prst="rect">
            <a:avLst/>
          </a:prstGeom>
          <a:solidFill>
            <a:schemeClr val="tx1"/>
          </a:solidFill>
          <a:ln/>
        </p:spPr>
        <p:txBody>
          <a:bodyPr wrap="square" lIns="1270" tIns="1270" rIns="1270" bIns="1270" rtlCol="0" anchor="ctr"/>
          <a:lstStyle/>
          <a:p>
            <a:pPr marL="0" indent="0" algn="ctr">
              <a:buNone/>
            </a:pPr>
            <a:r>
              <a:rPr lang="en-US" sz="2400" dirty="0">
                <a:solidFill>
                  <a:schemeClr val="bg1"/>
                </a:solidFill>
              </a:rPr>
              <a:t>Real strengths in real drafts. Now let’s make every draft even stronger</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0"/>
            <a:ext cx="9326880" cy="822960"/>
          </a:xfrm>
          <a:prstGeom prst="rect">
            <a:avLst/>
          </a:prstGeom>
          <a:noFill/>
          <a:ln/>
        </p:spPr>
        <p:txBody>
          <a:bodyPr wrap="square" lIns="0" tIns="0" rIns="0" bIns="0" rtlCol="0" anchor="ctr"/>
          <a:lstStyle/>
          <a:p>
            <a:pPr marL="0" indent="0" algn="l">
              <a:buNone/>
            </a:pPr>
            <a:r>
              <a:rPr lang="en-US" sz="2600" b="1" dirty="0">
                <a:solidFill>
                  <a:schemeClr val="bg1"/>
                </a:solidFill>
                <a:latin typeface="+mj-lt" pitchFamily="34" charset="0"/>
                <a:ea typeface="+mj-lt" pitchFamily="34" charset="-122"/>
                <a:cs typeface="+mj-lt" pitchFamily="34" charset="-120"/>
              </a:rPr>
              <a:t>What to fix in the second draft</a:t>
            </a:r>
            <a:endParaRPr lang="en-US" sz="2600" dirty="0"/>
          </a:p>
        </p:txBody>
      </p:sp>
      <p:sp>
        <p:nvSpPr>
          <p:cNvPr id="3" name="Tag"/>
          <p:cNvSpPr txBox="1"/>
          <p:nvPr/>
        </p:nvSpPr>
        <p:spPr>
          <a:xfrm>
            <a:off x="10332720" y="256032"/>
            <a:ext cx="1463040" cy="310896"/>
          </a:xfrm>
          <a:prstGeom prst="rect">
            <a:avLst/>
          </a:prstGeom>
          <a:solidFill>
            <a:schemeClr val="accent2"/>
          </a:solidFill>
          <a:ln/>
        </p:spPr>
        <p:txBody>
          <a:bodyPr wrap="square" lIns="0" tIns="0" rIns="0" bIns="0" rtlCol="0" anchor="ctr"/>
          <a:lstStyle/>
          <a:p>
            <a:pPr marL="0" indent="0" algn="ctr">
              <a:buNone/>
            </a:pPr>
            <a:r>
              <a:rPr lang="en-US" sz="1100" b="1" dirty="0">
                <a:solidFill>
                  <a:schemeClr val="tx1"/>
                </a:solidFill>
              </a:rPr>
              <a:t>FEEDBACK</a:t>
            </a:r>
            <a:endParaRPr lang="en-US" sz="1100" dirty="0"/>
          </a:p>
        </p:txBody>
      </p:sp>
      <p:sp>
        <p:nvSpPr>
          <p:cNvPr id="5" name="Shape 2"/>
          <p:cNvSpPr/>
          <p:nvPr/>
        </p:nvSpPr>
        <p:spPr>
          <a:xfrm>
            <a:off x="548640" y="1097280"/>
            <a:ext cx="7223760" cy="4937760"/>
          </a:xfrm>
          <a:prstGeom prst="rect">
            <a:avLst/>
          </a:prstGeom>
          <a:solidFill>
            <a:schemeClr val="bg1"/>
          </a:solidFill>
          <a:ln/>
          <a:effectLst>
            <a:outerShdw blurRad="76200" dist="25400" dir="5400000" algn="bl" rotWithShape="0">
              <a:srgbClr val="000000">
                <a:alpha val="12000"/>
              </a:srgbClr>
            </a:outerShdw>
          </a:effectLst>
        </p:spPr>
      </p:sp>
      <p:sp>
        <p:nvSpPr>
          <p:cNvPr id="6" name="Text 3"/>
          <p:cNvSpPr txBox="1"/>
          <p:nvPr/>
        </p:nvSpPr>
        <p:spPr>
          <a:xfrm>
            <a:off x="777240" y="1170432"/>
            <a:ext cx="6766560" cy="457200"/>
          </a:xfrm>
          <a:prstGeom prst="rect">
            <a:avLst/>
          </a:prstGeom>
          <a:noFill/>
          <a:ln/>
        </p:spPr>
        <p:txBody>
          <a:bodyPr wrap="square" lIns="0" tIns="0" rIns="0" bIns="0" rtlCol="0" anchor="ctr"/>
          <a:lstStyle/>
          <a:p>
            <a:pPr marL="0" indent="0">
              <a:buNone/>
            </a:pPr>
            <a:r>
              <a:rPr lang="en-US" sz="1600" b="1" dirty="0">
                <a:solidFill>
                  <a:schemeClr val="tx1"/>
                </a:solidFill>
              </a:rPr>
              <a:t>How many of the 9 first drafts needed this fix?</a:t>
            </a:r>
            <a:endParaRPr lang="en-US" sz="1600" dirty="0"/>
          </a:p>
        </p:txBody>
      </p:sp>
      <p:graphicFrame>
        <p:nvGraphicFramePr>
          <p:cNvPr id="7" name="Chart 0"/>
          <p:cNvGraphicFramePr/>
          <p:nvPr/>
        </p:nvGraphicFramePr>
        <p:xfrm>
          <a:off x="685800" y="1645920"/>
          <a:ext cx="6949440" cy="4297680"/>
        </p:xfrm>
        <a:graphic>
          <a:graphicData uri="http://schemas.openxmlformats.org/drawingml/2006/chart">
            <c:chart xmlns:c="http://schemas.openxmlformats.org/drawingml/2006/chart" xmlns:r="http://schemas.openxmlformats.org/officeDocument/2006/relationships" r:id="rId3"/>
          </a:graphicData>
        </a:graphic>
      </p:graphicFrame>
      <p:sp>
        <p:nvSpPr>
          <p:cNvPr id="8" name="Card TODAY’S FIXES"/>
          <p:cNvSpPr/>
          <p:nvPr/>
        </p:nvSpPr>
        <p:spPr>
          <a:xfrm>
            <a:off x="8046720" y="1097280"/>
            <a:ext cx="3611880" cy="4937760"/>
          </a:xfrm>
          <a:prstGeom prst="rect">
            <a:avLst/>
          </a:prstGeom>
          <a:solidFill>
            <a:schemeClr val="bg1"/>
          </a:solidFill>
          <a:ln/>
          <a:effectLst>
            <a:outerShdw blurRad="76200" dist="25400" dir="5400000" algn="bl" rotWithShape="0">
              <a:srgbClr val="000000">
                <a:alpha val="12000"/>
              </a:srgbClr>
            </a:outerShdw>
          </a:effectLst>
        </p:spPr>
      </p:sp>
      <p:sp>
        <p:nvSpPr>
          <p:cNvPr id="9" name="Shape 5"/>
          <p:cNvSpPr/>
          <p:nvPr/>
        </p:nvSpPr>
        <p:spPr>
          <a:xfrm>
            <a:off x="8046720" y="1097280"/>
            <a:ext cx="3611880" cy="502920"/>
          </a:xfrm>
          <a:prstGeom prst="rect">
            <a:avLst/>
          </a:prstGeom>
          <a:solidFill>
            <a:schemeClr val="tx1"/>
          </a:solidFill>
          <a:ln/>
        </p:spPr>
      </p:sp>
      <p:sp>
        <p:nvSpPr>
          <p:cNvPr id="10" name="Text 6"/>
          <p:cNvSpPr txBox="1"/>
          <p:nvPr/>
        </p:nvSpPr>
        <p:spPr>
          <a:xfrm>
            <a:off x="8174736" y="1097280"/>
            <a:ext cx="3429000" cy="502920"/>
          </a:xfrm>
          <a:prstGeom prst="rect">
            <a:avLst/>
          </a:prstGeom>
          <a:noFill/>
          <a:ln/>
        </p:spPr>
        <p:txBody>
          <a:bodyPr wrap="square" lIns="0" tIns="0" rIns="0" bIns="0" rtlCol="0" anchor="ctr"/>
          <a:lstStyle/>
          <a:p>
            <a:pPr marL="0" indent="0">
              <a:buNone/>
            </a:pPr>
            <a:r>
              <a:rPr lang="en-US" sz="1500" b="1" dirty="0">
                <a:solidFill>
                  <a:schemeClr val="bg1"/>
                </a:solidFill>
              </a:rPr>
              <a:t>TODAY’S FIXES</a:t>
            </a:r>
            <a:endParaRPr lang="en-US" sz="1500" dirty="0"/>
          </a:p>
        </p:txBody>
      </p:sp>
      <p:sp>
        <p:nvSpPr>
          <p:cNvPr id="11" name="Text 7"/>
          <p:cNvSpPr txBox="1"/>
          <p:nvPr/>
        </p:nvSpPr>
        <p:spPr>
          <a:xfrm>
            <a:off x="8156448" y="1673352"/>
            <a:ext cx="3392424" cy="4288536"/>
          </a:xfrm>
          <a:prstGeom prst="rect">
            <a:avLst/>
          </a:prstGeom>
          <a:noFill/>
          <a:ln/>
        </p:spPr>
        <p:txBody>
          <a:bodyPr wrap="square" lIns="508" tIns="508" rIns="508" bIns="508" rtlCol="0" anchor="t"/>
          <a:lstStyle/>
          <a:p>
            <a:pPr marL="0" indent="0" algn="l">
              <a:spcAft>
                <a:spcPts val="800"/>
              </a:spcAft>
              <a:buNone/>
            </a:pPr>
            <a:r>
              <a:rPr lang="en-US" sz="1700" dirty="0">
                <a:solidFill>
                  <a:schemeClr val="tx1"/>
                </a:solidFill>
              </a:rPr>
              <a:t>1  Full stops, capitals</a:t>
            </a:r>
            <a:endParaRPr lang="en-US" sz="1700" dirty="0"/>
          </a:p>
          <a:p>
            <a:pPr marL="0" indent="0" algn="l">
              <a:spcAft>
                <a:spcPts val="800"/>
              </a:spcAft>
              <a:buNone/>
            </a:pPr>
            <a:r>
              <a:rPr lang="en-US" sz="1700" dirty="0">
                <a:solidFill>
                  <a:schemeClr val="tx1"/>
                </a:solidFill>
              </a:rPr>
              <a:t>2  Verbs agree</a:t>
            </a:r>
            <a:endParaRPr lang="en-US" sz="1700" dirty="0"/>
          </a:p>
          <a:p>
            <a:pPr marL="0" indent="0" algn="l">
              <a:spcAft>
                <a:spcPts val="800"/>
              </a:spcAft>
              <a:buNone/>
            </a:pPr>
            <a:r>
              <a:rPr lang="en-US" sz="1700" dirty="0">
                <a:solidFill>
                  <a:schemeClr val="tx1"/>
                </a:solidFill>
              </a:rPr>
              <a:t>3  Introduction: say WHY</a:t>
            </a:r>
            <a:endParaRPr lang="en-US" sz="1700" dirty="0"/>
          </a:p>
          <a:p>
            <a:pPr marL="0" indent="0" algn="l">
              <a:spcAft>
                <a:spcPts val="800"/>
              </a:spcAft>
              <a:buNone/>
            </a:pPr>
            <a:r>
              <a:rPr lang="en-US" sz="1700" dirty="0">
                <a:solidFill>
                  <a:schemeClr val="tx1"/>
                </a:solidFill>
              </a:rPr>
              <a:t>4  Ending: because</a:t>
            </a:r>
            <a:endParaRPr lang="en-US" sz="1700" dirty="0"/>
          </a:p>
          <a:p>
            <a:pPr marL="0" indent="0" algn="l">
              <a:spcAft>
                <a:spcPts val="800"/>
              </a:spcAft>
              <a:buNone/>
            </a:pPr>
            <a:r>
              <a:rPr lang="en-US" sz="1700" dirty="0">
                <a:solidFill>
                  <a:schemeClr val="tx1"/>
                </a:solidFill>
              </a:rPr>
              <a:t>5  Sentences, paragraphs, headings</a:t>
            </a:r>
            <a:endParaRPr lang="en-US" sz="1700" dirty="0"/>
          </a:p>
          <a:p>
            <a:pPr marL="0" indent="0" algn="l">
              <a:spcAft>
                <a:spcPts val="800"/>
              </a:spcAft>
              <a:buNone/>
            </a:pPr>
            <a:r>
              <a:rPr lang="en-US" sz="1700" dirty="0">
                <a:solidFill>
                  <a:schemeClr val="tx1"/>
                </a:solidFill>
              </a:rPr>
              <a:t>6  Develop paragraphs</a:t>
            </a:r>
            <a:endParaRPr lang="en-US" sz="1700" dirty="0"/>
          </a:p>
          <a:p>
            <a:pPr marL="0" indent="0" algn="l">
              <a:spcAft>
                <a:spcPts val="800"/>
              </a:spcAft>
              <a:buNone/>
            </a:pPr>
            <a:r>
              <a:rPr lang="en-US" sz="1700" dirty="0">
                <a:solidFill>
                  <a:schemeClr val="tx1"/>
                </a:solidFill>
              </a:rPr>
              <a:t>7  Precise words, true facts</a:t>
            </a:r>
            <a:endParaRPr lang="en-US" sz="1700" dirty="0"/>
          </a:p>
          <a:p>
            <a:pPr marL="0" indent="0" algn="l">
              <a:spcAft>
                <a:spcPts val="800"/>
              </a:spcAft>
              <a:buNone/>
            </a:pPr>
            <a:r>
              <a:rPr lang="en-US" sz="1700" dirty="0">
                <a:solidFill>
                  <a:schemeClr val="tx1"/>
                </a:solidFill>
              </a:rPr>
              <a:t>8  Spelling topic words</a:t>
            </a:r>
            <a:endParaRPr lang="en-US" sz="1700" dirty="0"/>
          </a:p>
          <a:p>
            <a:pPr marL="0" indent="0" algn="l">
              <a:spcAft>
                <a:spcPts val="800"/>
              </a:spcAft>
              <a:buNone/>
            </a:pPr>
            <a:r>
              <a:rPr lang="en-US" sz="1700" dirty="0">
                <a:solidFill>
                  <a:schemeClr val="tx1"/>
                </a:solidFill>
              </a:rPr>
              <a:t>9  Use your own words</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0"/>
            <a:ext cx="9326880" cy="822960"/>
          </a:xfrm>
          <a:prstGeom prst="rect">
            <a:avLst/>
          </a:prstGeom>
          <a:noFill/>
          <a:ln/>
        </p:spPr>
        <p:txBody>
          <a:bodyPr wrap="square" lIns="0" tIns="0" rIns="0" bIns="0" rtlCol="0" anchor="ctr"/>
          <a:lstStyle/>
          <a:p>
            <a:pPr marL="0" indent="0" algn="l">
              <a:buNone/>
            </a:pPr>
            <a:r>
              <a:rPr lang="en-US" sz="2600" b="1" dirty="0">
                <a:solidFill>
                  <a:schemeClr val="bg1"/>
                </a:solidFill>
                <a:latin typeface="+mj-lt" pitchFamily="34" charset="0"/>
                <a:ea typeface="+mj-lt" pitchFamily="34" charset="-122"/>
                <a:cs typeface="+mj-lt" pitchFamily="34" charset="-120"/>
              </a:rPr>
              <a:t>Fix 1: full stops, capitals and run-ons</a:t>
            </a:r>
            <a:endParaRPr lang="en-US" sz="2600" dirty="0"/>
          </a:p>
        </p:txBody>
      </p:sp>
      <p:sp>
        <p:nvSpPr>
          <p:cNvPr id="3" name="Tag"/>
          <p:cNvSpPr txBox="1"/>
          <p:nvPr/>
        </p:nvSpPr>
        <p:spPr>
          <a:xfrm>
            <a:off x="10332720" y="256032"/>
            <a:ext cx="1463040" cy="310896"/>
          </a:xfrm>
          <a:prstGeom prst="rect">
            <a:avLst/>
          </a:prstGeom>
          <a:solidFill>
            <a:schemeClr val="accent2"/>
          </a:solidFill>
          <a:ln/>
        </p:spPr>
        <p:txBody>
          <a:bodyPr wrap="square" lIns="0" tIns="0" rIns="0" bIns="0" rtlCol="0" anchor="ctr"/>
          <a:lstStyle/>
          <a:p>
            <a:pPr marL="0" indent="0" algn="ctr">
              <a:buNone/>
            </a:pPr>
            <a:r>
              <a:rPr lang="en-US" sz="1100" b="1" dirty="0">
                <a:solidFill>
                  <a:schemeClr val="tx1"/>
                </a:solidFill>
              </a:rPr>
              <a:t>FIX IT</a:t>
            </a:r>
            <a:endParaRPr lang="en-US" sz="1100" dirty="0"/>
          </a:p>
        </p:txBody>
      </p:sp>
      <p:sp>
        <p:nvSpPr>
          <p:cNvPr id="5" name="Shape 2"/>
          <p:cNvSpPr/>
          <p:nvPr/>
        </p:nvSpPr>
        <p:spPr>
          <a:xfrm>
            <a:off x="548640" y="1097280"/>
            <a:ext cx="5212080" cy="411480"/>
          </a:xfrm>
          <a:prstGeom prst="rect">
            <a:avLst/>
          </a:prstGeom>
          <a:solidFill>
            <a:schemeClr val="accent3"/>
          </a:solidFill>
          <a:ln/>
        </p:spPr>
      </p:sp>
      <p:sp>
        <p:nvSpPr>
          <p:cNvPr id="6" name="Text 3"/>
          <p:cNvSpPr txBox="1"/>
          <p:nvPr/>
        </p:nvSpPr>
        <p:spPr>
          <a:xfrm>
            <a:off x="676656" y="1097280"/>
            <a:ext cx="5029200" cy="411480"/>
          </a:xfrm>
          <a:prstGeom prst="rect">
            <a:avLst/>
          </a:prstGeom>
          <a:noFill/>
          <a:ln/>
        </p:spPr>
        <p:txBody>
          <a:bodyPr wrap="square" lIns="0" tIns="0" rIns="0" bIns="0" rtlCol="0" anchor="ctr"/>
          <a:lstStyle/>
          <a:p>
            <a:pPr marL="0" indent="0">
              <a:buNone/>
            </a:pPr>
            <a:r>
              <a:rPr lang="en-US" sz="2400" b="1" dirty="0">
                <a:solidFill>
                  <a:schemeClr val="bg1"/>
                </a:solidFill>
              </a:rPr>
              <a:t>FROM YOUR PLANS</a:t>
            </a:r>
            <a:endParaRPr lang="en-US" sz="2400" dirty="0"/>
          </a:p>
        </p:txBody>
      </p:sp>
      <p:sp>
        <p:nvSpPr>
          <p:cNvPr id="7" name="Shape 4"/>
          <p:cNvSpPr/>
          <p:nvPr/>
        </p:nvSpPr>
        <p:spPr>
          <a:xfrm>
            <a:off x="6400800" y="1097280"/>
            <a:ext cx="5257800" cy="411480"/>
          </a:xfrm>
          <a:prstGeom prst="rect">
            <a:avLst/>
          </a:prstGeom>
          <a:solidFill>
            <a:schemeClr val="accent1"/>
          </a:solidFill>
          <a:ln/>
        </p:spPr>
      </p:sp>
      <p:sp>
        <p:nvSpPr>
          <p:cNvPr id="8" name="Text 5"/>
          <p:cNvSpPr txBox="1"/>
          <p:nvPr/>
        </p:nvSpPr>
        <p:spPr>
          <a:xfrm>
            <a:off x="6528816" y="1097280"/>
            <a:ext cx="5029200" cy="411480"/>
          </a:xfrm>
          <a:prstGeom prst="rect">
            <a:avLst/>
          </a:prstGeom>
          <a:noFill/>
          <a:ln/>
        </p:spPr>
        <p:txBody>
          <a:bodyPr wrap="square" lIns="0" tIns="0" rIns="0" bIns="0" rtlCol="0" anchor="ctr"/>
          <a:lstStyle/>
          <a:p>
            <a:pPr marL="0" indent="0">
              <a:buNone/>
            </a:pPr>
            <a:r>
              <a:rPr lang="en-US" sz="2000" b="1" dirty="0">
                <a:solidFill>
                  <a:schemeClr val="bg1"/>
                </a:solidFill>
              </a:rPr>
              <a:t>BETTER VERSION</a:t>
            </a:r>
            <a:endParaRPr lang="en-US" sz="2000" dirty="0"/>
          </a:p>
        </p:txBody>
      </p:sp>
      <p:sp>
        <p:nvSpPr>
          <p:cNvPr id="9" name="Shape 6"/>
          <p:cNvSpPr/>
          <p:nvPr/>
        </p:nvSpPr>
        <p:spPr>
          <a:xfrm>
            <a:off x="548640" y="1600200"/>
            <a:ext cx="5212080" cy="1005840"/>
          </a:xfrm>
          <a:prstGeom prst="rect">
            <a:avLst/>
          </a:prstGeom>
          <a:solidFill>
            <a:schemeClr val="bg1"/>
          </a:solidFill>
          <a:ln/>
          <a:effectLst>
            <a:outerShdw blurRad="76200" dist="25400" dir="5400000" algn="bl" rotWithShape="0">
              <a:srgbClr val="000000">
                <a:alpha val="12000"/>
              </a:srgbClr>
            </a:outerShdw>
          </a:effectLst>
        </p:spPr>
      </p:sp>
      <p:sp>
        <p:nvSpPr>
          <p:cNvPr id="10" name="Text 7"/>
          <p:cNvSpPr txBox="1"/>
          <p:nvPr/>
        </p:nvSpPr>
        <p:spPr>
          <a:xfrm>
            <a:off x="731520" y="1600200"/>
            <a:ext cx="4846320" cy="1005840"/>
          </a:xfrm>
          <a:prstGeom prst="rect">
            <a:avLst/>
          </a:prstGeom>
          <a:noFill/>
          <a:ln/>
        </p:spPr>
        <p:txBody>
          <a:bodyPr wrap="square" lIns="0" tIns="0" rIns="0" bIns="0" rtlCol="0" anchor="ctr"/>
          <a:lstStyle/>
          <a:p>
            <a:pPr marL="0" indent="0">
              <a:buNone/>
            </a:pPr>
            <a:r>
              <a:rPr lang="en-US" sz="1200" b="1" dirty="0">
                <a:solidFill>
                  <a:schemeClr val="accent3"/>
                </a:solidFill>
              </a:rPr>
              <a:t>MOSTAFA   </a:t>
            </a:r>
            <a:endParaRPr lang="en-US" sz="1200" dirty="0"/>
          </a:p>
          <a:p>
            <a:pPr marL="0" indent="0">
              <a:buNone/>
            </a:pPr>
            <a:r>
              <a:rPr lang="en-US" i="1" dirty="0">
                <a:solidFill>
                  <a:schemeClr val="tx1"/>
                </a:solidFill>
              </a:rPr>
              <a:t>❌  Seaturtle are in danger becaus people throw Plastic The Boats and Ships are making pollution.</a:t>
            </a:r>
            <a:endParaRPr lang="en-US" sz="1600" dirty="0"/>
          </a:p>
        </p:txBody>
      </p:sp>
      <p:sp>
        <p:nvSpPr>
          <p:cNvPr id="11" name="Text 8"/>
          <p:cNvSpPr txBox="1"/>
          <p:nvPr/>
        </p:nvSpPr>
        <p:spPr>
          <a:xfrm>
            <a:off x="5806440" y="1600200"/>
            <a:ext cx="548640" cy="1005840"/>
          </a:xfrm>
          <a:prstGeom prst="rect">
            <a:avLst/>
          </a:prstGeom>
          <a:noFill/>
          <a:ln/>
        </p:spPr>
        <p:txBody>
          <a:bodyPr wrap="square" lIns="0" tIns="0" rIns="0" bIns="0" rtlCol="0" anchor="ctr"/>
          <a:lstStyle/>
          <a:p>
            <a:pPr marL="0" indent="0" algn="ctr">
              <a:buNone/>
            </a:pPr>
            <a:r>
              <a:rPr lang="en-US" sz="2400" b="1" dirty="0">
                <a:solidFill>
                  <a:schemeClr val="accent1"/>
                </a:solidFill>
              </a:rPr>
              <a:t>➜</a:t>
            </a:r>
            <a:endParaRPr lang="en-US" sz="2400" dirty="0"/>
          </a:p>
        </p:txBody>
      </p:sp>
      <p:sp>
        <p:nvSpPr>
          <p:cNvPr id="12" name="Shape 9"/>
          <p:cNvSpPr/>
          <p:nvPr/>
        </p:nvSpPr>
        <p:spPr>
          <a:xfrm>
            <a:off x="6400800" y="1600200"/>
            <a:ext cx="5257800" cy="1005840"/>
          </a:xfrm>
          <a:prstGeom prst="rect">
            <a:avLst/>
          </a:prstGeom>
          <a:solidFill>
            <a:schemeClr val="bg1"/>
          </a:solidFill>
          <a:ln/>
          <a:effectLst>
            <a:outerShdw blurRad="76200" dist="25400" dir="5400000" algn="bl" rotWithShape="0">
              <a:srgbClr val="000000">
                <a:alpha val="12000"/>
              </a:srgbClr>
            </a:outerShdw>
          </a:effectLst>
        </p:spPr>
      </p:sp>
      <p:sp>
        <p:nvSpPr>
          <p:cNvPr id="13" name="Text 10"/>
          <p:cNvSpPr txBox="1"/>
          <p:nvPr/>
        </p:nvSpPr>
        <p:spPr>
          <a:xfrm>
            <a:off x="6583680" y="1600200"/>
            <a:ext cx="4892040" cy="1005840"/>
          </a:xfrm>
          <a:prstGeom prst="rect">
            <a:avLst/>
          </a:prstGeom>
          <a:noFill/>
          <a:ln/>
        </p:spPr>
        <p:txBody>
          <a:bodyPr wrap="square" lIns="0" tIns="0" rIns="0" bIns="0" rtlCol="0" anchor="ctr"/>
          <a:lstStyle/>
          <a:p>
            <a:pPr marL="0" indent="0">
              <a:buNone/>
            </a:pPr>
            <a:r>
              <a:rPr lang="en-US" b="1" dirty="0">
                <a:solidFill>
                  <a:schemeClr val="tx1"/>
                </a:solidFill>
              </a:rPr>
              <a:t>✅  Sea turtles are in danger because people throw plastic into the sea. Boats and ships also pollute the water.</a:t>
            </a:r>
            <a:endParaRPr lang="en-US" dirty="0"/>
          </a:p>
        </p:txBody>
      </p:sp>
      <p:sp>
        <p:nvSpPr>
          <p:cNvPr id="14" name="Shape 11"/>
          <p:cNvSpPr/>
          <p:nvPr/>
        </p:nvSpPr>
        <p:spPr>
          <a:xfrm>
            <a:off x="548640" y="2743200"/>
            <a:ext cx="5212080" cy="1005840"/>
          </a:xfrm>
          <a:prstGeom prst="rect">
            <a:avLst/>
          </a:prstGeom>
          <a:solidFill>
            <a:schemeClr val="bg1"/>
          </a:solidFill>
          <a:ln/>
          <a:effectLst>
            <a:outerShdw blurRad="76200" dist="25400" dir="5400000" algn="bl" rotWithShape="0">
              <a:srgbClr val="000000">
                <a:alpha val="12000"/>
              </a:srgbClr>
            </a:outerShdw>
          </a:effectLst>
        </p:spPr>
      </p:sp>
      <p:sp>
        <p:nvSpPr>
          <p:cNvPr id="15" name="Text 12"/>
          <p:cNvSpPr txBox="1"/>
          <p:nvPr/>
        </p:nvSpPr>
        <p:spPr>
          <a:xfrm>
            <a:off x="731520" y="2743200"/>
            <a:ext cx="4846320" cy="1005840"/>
          </a:xfrm>
          <a:prstGeom prst="rect">
            <a:avLst/>
          </a:prstGeom>
          <a:noFill/>
          <a:ln/>
        </p:spPr>
        <p:txBody>
          <a:bodyPr wrap="square" lIns="0" tIns="0" rIns="0" bIns="0" rtlCol="0" anchor="ctr"/>
          <a:lstStyle/>
          <a:p>
            <a:pPr marL="0" indent="0">
              <a:buNone/>
            </a:pPr>
            <a:r>
              <a:rPr lang="en-US" sz="1200" b="1" dirty="0">
                <a:solidFill>
                  <a:schemeClr val="accent3"/>
                </a:solidFill>
              </a:rPr>
              <a:t>ROFIDA   </a:t>
            </a:r>
            <a:endParaRPr lang="en-US" sz="1200" dirty="0"/>
          </a:p>
          <a:p>
            <a:pPr marL="0" indent="0">
              <a:buNone/>
            </a:pPr>
            <a:r>
              <a:rPr lang="en-US" i="1" dirty="0">
                <a:solidFill>
                  <a:schemeClr val="tx1"/>
                </a:solidFill>
              </a:rPr>
              <a:t>❌  The crocodiles are reptiles,they live on both land and in water.</a:t>
            </a:r>
            <a:endParaRPr lang="en-US" sz="1600" dirty="0"/>
          </a:p>
        </p:txBody>
      </p:sp>
      <p:sp>
        <p:nvSpPr>
          <p:cNvPr id="16" name="Text 13"/>
          <p:cNvSpPr txBox="1"/>
          <p:nvPr/>
        </p:nvSpPr>
        <p:spPr>
          <a:xfrm>
            <a:off x="5806440" y="2743200"/>
            <a:ext cx="548640" cy="1005840"/>
          </a:xfrm>
          <a:prstGeom prst="rect">
            <a:avLst/>
          </a:prstGeom>
          <a:noFill/>
          <a:ln/>
        </p:spPr>
        <p:txBody>
          <a:bodyPr wrap="square" lIns="0" tIns="0" rIns="0" bIns="0" rtlCol="0" anchor="ctr"/>
          <a:lstStyle/>
          <a:p>
            <a:pPr marL="0" indent="0" algn="ctr">
              <a:buNone/>
            </a:pPr>
            <a:r>
              <a:rPr lang="en-US" sz="2400" b="1" dirty="0">
                <a:solidFill>
                  <a:schemeClr val="accent1"/>
                </a:solidFill>
              </a:rPr>
              <a:t>➜</a:t>
            </a:r>
            <a:endParaRPr lang="en-US" sz="2400" dirty="0"/>
          </a:p>
        </p:txBody>
      </p:sp>
      <p:sp>
        <p:nvSpPr>
          <p:cNvPr id="17" name="Shape 14"/>
          <p:cNvSpPr/>
          <p:nvPr/>
        </p:nvSpPr>
        <p:spPr>
          <a:xfrm>
            <a:off x="6400800" y="2743200"/>
            <a:ext cx="5257800" cy="1005840"/>
          </a:xfrm>
          <a:prstGeom prst="rect">
            <a:avLst/>
          </a:prstGeom>
          <a:solidFill>
            <a:schemeClr val="bg1"/>
          </a:solidFill>
          <a:ln/>
          <a:effectLst>
            <a:outerShdw blurRad="76200" dist="25400" dir="5400000" algn="bl" rotWithShape="0">
              <a:srgbClr val="000000">
                <a:alpha val="12000"/>
              </a:srgbClr>
            </a:outerShdw>
          </a:effectLst>
        </p:spPr>
      </p:sp>
      <p:sp>
        <p:nvSpPr>
          <p:cNvPr id="18" name="Text 15"/>
          <p:cNvSpPr txBox="1"/>
          <p:nvPr/>
        </p:nvSpPr>
        <p:spPr>
          <a:xfrm>
            <a:off x="6583680" y="2743200"/>
            <a:ext cx="4892040" cy="1005840"/>
          </a:xfrm>
          <a:prstGeom prst="rect">
            <a:avLst/>
          </a:prstGeom>
          <a:noFill/>
          <a:ln/>
        </p:spPr>
        <p:txBody>
          <a:bodyPr wrap="square" lIns="0" tIns="0" rIns="0" bIns="0" rtlCol="0" anchor="ctr"/>
          <a:lstStyle/>
          <a:p>
            <a:pPr marL="0" indent="0">
              <a:buNone/>
            </a:pPr>
            <a:r>
              <a:rPr lang="en-US" b="1" dirty="0">
                <a:solidFill>
                  <a:schemeClr val="tx1"/>
                </a:solidFill>
              </a:rPr>
              <a:t>✅  Crocodiles are reptiles that live on both land and in water.</a:t>
            </a:r>
            <a:endParaRPr lang="en-US" dirty="0"/>
          </a:p>
        </p:txBody>
      </p:sp>
      <p:sp>
        <p:nvSpPr>
          <p:cNvPr id="19" name="Shape 16"/>
          <p:cNvSpPr/>
          <p:nvPr/>
        </p:nvSpPr>
        <p:spPr>
          <a:xfrm>
            <a:off x="548640" y="3886200"/>
            <a:ext cx="5212080" cy="1005840"/>
          </a:xfrm>
          <a:prstGeom prst="rect">
            <a:avLst/>
          </a:prstGeom>
          <a:solidFill>
            <a:schemeClr val="bg1"/>
          </a:solidFill>
          <a:ln/>
          <a:effectLst>
            <a:outerShdw blurRad="76200" dist="25400" dir="5400000" algn="bl" rotWithShape="0">
              <a:srgbClr val="000000">
                <a:alpha val="12000"/>
              </a:srgbClr>
            </a:outerShdw>
          </a:effectLst>
        </p:spPr>
      </p:sp>
      <p:sp>
        <p:nvSpPr>
          <p:cNvPr id="20" name="Text 17"/>
          <p:cNvSpPr txBox="1"/>
          <p:nvPr/>
        </p:nvSpPr>
        <p:spPr>
          <a:xfrm>
            <a:off x="731520" y="3886200"/>
            <a:ext cx="4846320" cy="1005840"/>
          </a:xfrm>
          <a:prstGeom prst="rect">
            <a:avLst/>
          </a:prstGeom>
          <a:noFill/>
          <a:ln/>
        </p:spPr>
        <p:txBody>
          <a:bodyPr wrap="square" lIns="0" tIns="0" rIns="0" bIns="0" rtlCol="0" anchor="ctr"/>
          <a:lstStyle/>
          <a:p>
            <a:pPr marL="0" indent="0">
              <a:buNone/>
            </a:pPr>
            <a:r>
              <a:rPr lang="en-US" sz="1200" b="1" dirty="0">
                <a:solidFill>
                  <a:schemeClr val="accent3"/>
                </a:solidFill>
              </a:rPr>
              <a:t>MERA   </a:t>
            </a:r>
            <a:endParaRPr lang="en-US" sz="1200" dirty="0"/>
          </a:p>
          <a:p>
            <a:pPr marL="0" indent="0">
              <a:buNone/>
            </a:pPr>
            <a:r>
              <a:rPr lang="en-US" i="1" dirty="0">
                <a:solidFill>
                  <a:schemeClr val="tx1"/>
                </a:solidFill>
              </a:rPr>
              <a:t>❌  They especially eat meat in their died only, they don’t eat grass at all, also they look slimmer, lighter and more fitter than other lions.</a:t>
            </a:r>
            <a:endParaRPr lang="en-US" sz="1600" dirty="0"/>
          </a:p>
        </p:txBody>
      </p:sp>
      <p:sp>
        <p:nvSpPr>
          <p:cNvPr id="21" name="Text 18"/>
          <p:cNvSpPr txBox="1"/>
          <p:nvPr/>
        </p:nvSpPr>
        <p:spPr>
          <a:xfrm>
            <a:off x="5806440" y="3886200"/>
            <a:ext cx="548640" cy="1005840"/>
          </a:xfrm>
          <a:prstGeom prst="rect">
            <a:avLst/>
          </a:prstGeom>
          <a:noFill/>
          <a:ln/>
        </p:spPr>
        <p:txBody>
          <a:bodyPr wrap="square" lIns="0" tIns="0" rIns="0" bIns="0" rtlCol="0" anchor="ctr"/>
          <a:lstStyle/>
          <a:p>
            <a:pPr marL="0" indent="0" algn="ctr">
              <a:buNone/>
            </a:pPr>
            <a:r>
              <a:rPr lang="en-US" sz="2400" b="1" dirty="0">
                <a:solidFill>
                  <a:schemeClr val="accent1"/>
                </a:solidFill>
              </a:rPr>
              <a:t>➜</a:t>
            </a:r>
            <a:endParaRPr lang="en-US" sz="2400" dirty="0"/>
          </a:p>
        </p:txBody>
      </p:sp>
      <p:sp>
        <p:nvSpPr>
          <p:cNvPr id="22" name="Shape 19"/>
          <p:cNvSpPr/>
          <p:nvPr/>
        </p:nvSpPr>
        <p:spPr>
          <a:xfrm>
            <a:off x="6400800" y="3886200"/>
            <a:ext cx="5257800" cy="1005840"/>
          </a:xfrm>
          <a:prstGeom prst="rect">
            <a:avLst/>
          </a:prstGeom>
          <a:solidFill>
            <a:schemeClr val="bg1"/>
          </a:solidFill>
          <a:ln/>
          <a:effectLst>
            <a:outerShdw blurRad="76200" dist="25400" dir="5400000" algn="bl" rotWithShape="0">
              <a:srgbClr val="000000">
                <a:alpha val="12000"/>
              </a:srgbClr>
            </a:outerShdw>
          </a:effectLst>
        </p:spPr>
      </p:sp>
      <p:sp>
        <p:nvSpPr>
          <p:cNvPr id="23" name="Text 20"/>
          <p:cNvSpPr txBox="1"/>
          <p:nvPr/>
        </p:nvSpPr>
        <p:spPr>
          <a:xfrm>
            <a:off x="6583680" y="3886200"/>
            <a:ext cx="4892040" cy="1005840"/>
          </a:xfrm>
          <a:prstGeom prst="rect">
            <a:avLst/>
          </a:prstGeom>
          <a:noFill/>
          <a:ln/>
        </p:spPr>
        <p:txBody>
          <a:bodyPr wrap="square" lIns="0" tIns="0" rIns="0" bIns="0" rtlCol="0" anchor="ctr"/>
          <a:lstStyle/>
          <a:p>
            <a:pPr marL="0" indent="0">
              <a:buNone/>
            </a:pPr>
            <a:r>
              <a:rPr lang="en-US" b="1" dirty="0">
                <a:solidFill>
                  <a:schemeClr val="tx1"/>
                </a:solidFill>
              </a:rPr>
              <a:t>✅  They eat only meat and no grass. They also look slimmer, lighter and fitter than other lions.</a:t>
            </a:r>
            <a:endParaRPr lang="en-US" dirty="0"/>
          </a:p>
        </p:txBody>
      </p:sp>
      <p:sp>
        <p:nvSpPr>
          <p:cNvPr id="24" name="Shape 21"/>
          <p:cNvSpPr/>
          <p:nvPr/>
        </p:nvSpPr>
        <p:spPr>
          <a:xfrm>
            <a:off x="548640" y="5029200"/>
            <a:ext cx="5212080" cy="1005840"/>
          </a:xfrm>
          <a:prstGeom prst="rect">
            <a:avLst/>
          </a:prstGeom>
          <a:solidFill>
            <a:schemeClr val="bg1"/>
          </a:solidFill>
          <a:ln/>
          <a:effectLst>
            <a:outerShdw blurRad="76200" dist="25400" dir="5400000" algn="bl" rotWithShape="0">
              <a:srgbClr val="000000">
                <a:alpha val="12000"/>
              </a:srgbClr>
            </a:outerShdw>
          </a:effectLst>
        </p:spPr>
      </p:sp>
      <p:sp>
        <p:nvSpPr>
          <p:cNvPr id="25" name="Text 22"/>
          <p:cNvSpPr txBox="1"/>
          <p:nvPr/>
        </p:nvSpPr>
        <p:spPr>
          <a:xfrm>
            <a:off x="731520" y="5029200"/>
            <a:ext cx="4846320" cy="1005840"/>
          </a:xfrm>
          <a:prstGeom prst="rect">
            <a:avLst/>
          </a:prstGeom>
          <a:noFill/>
          <a:ln/>
        </p:spPr>
        <p:txBody>
          <a:bodyPr wrap="square" lIns="0" tIns="0" rIns="0" bIns="0" rtlCol="0" anchor="ctr"/>
          <a:lstStyle/>
          <a:p>
            <a:pPr marL="0" indent="0">
              <a:buNone/>
            </a:pPr>
            <a:r>
              <a:rPr lang="en-US" sz="1200" b="1" dirty="0">
                <a:solidFill>
                  <a:schemeClr val="accent3"/>
                </a:solidFill>
              </a:rPr>
              <a:t>RENAD   </a:t>
            </a:r>
            <a:endParaRPr lang="en-US" sz="1200" dirty="0"/>
          </a:p>
          <a:p>
            <a:pPr marL="0" indent="0">
              <a:buNone/>
            </a:pPr>
            <a:r>
              <a:rPr lang="en-US" i="1" dirty="0">
                <a:solidFill>
                  <a:schemeClr val="tx1"/>
                </a:solidFill>
              </a:rPr>
              <a:t>❌  it can lives for more than 80 years. it eats seagrass and alage.</a:t>
            </a:r>
            <a:endParaRPr lang="en-US" sz="1600" dirty="0"/>
          </a:p>
        </p:txBody>
      </p:sp>
      <p:sp>
        <p:nvSpPr>
          <p:cNvPr id="26" name="Text 23"/>
          <p:cNvSpPr txBox="1"/>
          <p:nvPr/>
        </p:nvSpPr>
        <p:spPr>
          <a:xfrm>
            <a:off x="5806440" y="5029200"/>
            <a:ext cx="548640" cy="1005840"/>
          </a:xfrm>
          <a:prstGeom prst="rect">
            <a:avLst/>
          </a:prstGeom>
          <a:noFill/>
          <a:ln/>
        </p:spPr>
        <p:txBody>
          <a:bodyPr wrap="square" lIns="0" tIns="0" rIns="0" bIns="0" rtlCol="0" anchor="ctr"/>
          <a:lstStyle/>
          <a:p>
            <a:pPr marL="0" indent="0" algn="ctr">
              <a:buNone/>
            </a:pPr>
            <a:r>
              <a:rPr lang="en-US" sz="2400" b="1" dirty="0">
                <a:solidFill>
                  <a:schemeClr val="accent1"/>
                </a:solidFill>
              </a:rPr>
              <a:t>➜</a:t>
            </a:r>
            <a:endParaRPr lang="en-US" sz="2400" dirty="0"/>
          </a:p>
        </p:txBody>
      </p:sp>
      <p:sp>
        <p:nvSpPr>
          <p:cNvPr id="27" name="Shape 24"/>
          <p:cNvSpPr/>
          <p:nvPr/>
        </p:nvSpPr>
        <p:spPr>
          <a:xfrm>
            <a:off x="6400800" y="5029200"/>
            <a:ext cx="5257800" cy="1005840"/>
          </a:xfrm>
          <a:prstGeom prst="rect">
            <a:avLst/>
          </a:prstGeom>
          <a:solidFill>
            <a:schemeClr val="bg1"/>
          </a:solidFill>
          <a:ln/>
          <a:effectLst>
            <a:outerShdw blurRad="76200" dist="25400" dir="5400000" algn="bl" rotWithShape="0">
              <a:srgbClr val="000000">
                <a:alpha val="12000"/>
              </a:srgbClr>
            </a:outerShdw>
          </a:effectLst>
        </p:spPr>
      </p:sp>
      <p:sp>
        <p:nvSpPr>
          <p:cNvPr id="28" name="Text 25"/>
          <p:cNvSpPr txBox="1"/>
          <p:nvPr/>
        </p:nvSpPr>
        <p:spPr>
          <a:xfrm>
            <a:off x="6583680" y="5029200"/>
            <a:ext cx="4892040" cy="1005840"/>
          </a:xfrm>
          <a:prstGeom prst="rect">
            <a:avLst/>
          </a:prstGeom>
          <a:noFill/>
          <a:ln/>
        </p:spPr>
        <p:txBody>
          <a:bodyPr wrap="square" lIns="0" tIns="0" rIns="0" bIns="0" rtlCol="0" anchor="ctr"/>
          <a:lstStyle/>
          <a:p>
            <a:pPr marL="0" indent="0">
              <a:buNone/>
            </a:pPr>
            <a:r>
              <a:rPr lang="en-US" b="1" dirty="0">
                <a:solidFill>
                  <a:schemeClr val="tx1"/>
                </a:solidFill>
              </a:rPr>
              <a:t>✅  It can live for more than 80 years. It eats seagrass and algae.</a:t>
            </a:r>
            <a:endParaRPr lang="en-US" dirty="0"/>
          </a:p>
        </p:txBody>
      </p:sp>
      <p:sp>
        <p:nvSpPr>
          <p:cNvPr id="29" name="Text 26"/>
          <p:cNvSpPr txBox="1"/>
          <p:nvPr/>
        </p:nvSpPr>
        <p:spPr>
          <a:xfrm>
            <a:off x="548640" y="5989320"/>
            <a:ext cx="11094415" cy="502920"/>
          </a:xfrm>
          <a:prstGeom prst="rect">
            <a:avLst/>
          </a:prstGeom>
          <a:solidFill>
            <a:schemeClr val="tx1"/>
          </a:solidFill>
          <a:ln/>
        </p:spPr>
        <p:txBody>
          <a:bodyPr wrap="square" lIns="1270" tIns="1270" rIns="1270" bIns="1270" rtlCol="0" anchor="ctr"/>
          <a:lstStyle/>
          <a:p>
            <a:pPr marL="0" indent="0" algn="ctr">
              <a:buNone/>
            </a:pPr>
            <a:r>
              <a:rPr lang="en-US" sz="2400" b="1" dirty="0">
                <a:solidFill>
                  <a:schemeClr val="bg1"/>
                </a:solidFill>
              </a:rPr>
              <a:t>Capital letter → one idea → full stop. Join ideas with because, so, and, but, which.</a:t>
            </a:r>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0"/>
            <a:ext cx="9326880" cy="822960"/>
          </a:xfrm>
          <a:prstGeom prst="rect">
            <a:avLst/>
          </a:prstGeom>
          <a:noFill/>
          <a:ln/>
        </p:spPr>
        <p:txBody>
          <a:bodyPr wrap="square" lIns="0" tIns="0" rIns="0" bIns="0" rtlCol="0" anchor="ctr"/>
          <a:lstStyle/>
          <a:p>
            <a:pPr marL="0" indent="0" algn="l">
              <a:buNone/>
            </a:pPr>
            <a:r>
              <a:rPr lang="en-US" sz="2600" b="1" dirty="0">
                <a:solidFill>
                  <a:schemeClr val="bg1"/>
                </a:solidFill>
                <a:latin typeface="+mj-lt" pitchFamily="34" charset="0"/>
                <a:ea typeface="+mj-lt" pitchFamily="34" charset="-122"/>
                <a:cs typeface="+mj-lt" pitchFamily="34" charset="-120"/>
              </a:rPr>
              <a:t>Fix 2: make the verbs agree</a:t>
            </a:r>
            <a:endParaRPr lang="en-US" sz="2600" dirty="0"/>
          </a:p>
        </p:txBody>
      </p:sp>
      <p:sp>
        <p:nvSpPr>
          <p:cNvPr id="3" name="Tag"/>
          <p:cNvSpPr txBox="1"/>
          <p:nvPr/>
        </p:nvSpPr>
        <p:spPr>
          <a:xfrm>
            <a:off x="10332720" y="256032"/>
            <a:ext cx="1463040" cy="310896"/>
          </a:xfrm>
          <a:prstGeom prst="rect">
            <a:avLst/>
          </a:prstGeom>
          <a:solidFill>
            <a:schemeClr val="accent2"/>
          </a:solidFill>
          <a:ln/>
        </p:spPr>
        <p:txBody>
          <a:bodyPr wrap="square" lIns="0" tIns="0" rIns="0" bIns="0" rtlCol="0" anchor="ctr"/>
          <a:lstStyle/>
          <a:p>
            <a:pPr marL="0" indent="0" algn="ctr">
              <a:buNone/>
            </a:pPr>
            <a:r>
              <a:rPr lang="en-US" sz="1100" b="1" dirty="0">
                <a:solidFill>
                  <a:schemeClr val="tx1"/>
                </a:solidFill>
              </a:rPr>
              <a:t>FIX IT</a:t>
            </a:r>
            <a:endParaRPr lang="en-US" sz="1100" dirty="0"/>
          </a:p>
        </p:txBody>
      </p:sp>
      <p:sp>
        <p:nvSpPr>
          <p:cNvPr id="5" name="Shape 2"/>
          <p:cNvSpPr/>
          <p:nvPr/>
        </p:nvSpPr>
        <p:spPr>
          <a:xfrm>
            <a:off x="548640" y="1097280"/>
            <a:ext cx="5212080" cy="411480"/>
          </a:xfrm>
          <a:prstGeom prst="rect">
            <a:avLst/>
          </a:prstGeom>
          <a:solidFill>
            <a:schemeClr val="accent3"/>
          </a:solidFill>
          <a:ln/>
        </p:spPr>
      </p:sp>
      <p:sp>
        <p:nvSpPr>
          <p:cNvPr id="6" name="Text 3"/>
          <p:cNvSpPr txBox="1"/>
          <p:nvPr/>
        </p:nvSpPr>
        <p:spPr>
          <a:xfrm>
            <a:off x="676656" y="1097280"/>
            <a:ext cx="5029200" cy="411480"/>
          </a:xfrm>
          <a:prstGeom prst="rect">
            <a:avLst/>
          </a:prstGeom>
          <a:noFill/>
          <a:ln/>
        </p:spPr>
        <p:txBody>
          <a:bodyPr wrap="square" lIns="0" tIns="0" rIns="0" bIns="0" rtlCol="0" anchor="ctr"/>
          <a:lstStyle/>
          <a:p>
            <a:pPr marL="0" indent="0">
              <a:buNone/>
            </a:pPr>
            <a:r>
              <a:rPr lang="en-US" sz="1400" b="1" dirty="0">
                <a:solidFill>
                  <a:schemeClr val="bg1"/>
                </a:solidFill>
              </a:rPr>
              <a:t>FROM YOUR PLANS</a:t>
            </a:r>
            <a:endParaRPr lang="en-US" sz="1400" dirty="0"/>
          </a:p>
        </p:txBody>
      </p:sp>
      <p:sp>
        <p:nvSpPr>
          <p:cNvPr id="7" name="Shape 4"/>
          <p:cNvSpPr/>
          <p:nvPr/>
        </p:nvSpPr>
        <p:spPr>
          <a:xfrm>
            <a:off x="6400800" y="1097280"/>
            <a:ext cx="5257800" cy="411480"/>
          </a:xfrm>
          <a:prstGeom prst="rect">
            <a:avLst/>
          </a:prstGeom>
          <a:solidFill>
            <a:schemeClr val="accent1"/>
          </a:solidFill>
          <a:ln/>
        </p:spPr>
      </p:sp>
      <p:sp>
        <p:nvSpPr>
          <p:cNvPr id="8" name="Text 5"/>
          <p:cNvSpPr txBox="1"/>
          <p:nvPr/>
        </p:nvSpPr>
        <p:spPr>
          <a:xfrm>
            <a:off x="6528816" y="1097280"/>
            <a:ext cx="5029200" cy="411480"/>
          </a:xfrm>
          <a:prstGeom prst="rect">
            <a:avLst/>
          </a:prstGeom>
          <a:noFill/>
          <a:ln/>
        </p:spPr>
        <p:txBody>
          <a:bodyPr wrap="square" lIns="0" tIns="0" rIns="0" bIns="0" rtlCol="0" anchor="ctr"/>
          <a:lstStyle/>
          <a:p>
            <a:pPr marL="0" indent="0">
              <a:buNone/>
            </a:pPr>
            <a:r>
              <a:rPr lang="en-US" sz="1400" b="1" dirty="0">
                <a:solidFill>
                  <a:schemeClr val="bg1"/>
                </a:solidFill>
              </a:rPr>
              <a:t>BETTER VERSION</a:t>
            </a:r>
            <a:endParaRPr lang="en-US" sz="1400" dirty="0"/>
          </a:p>
        </p:txBody>
      </p:sp>
      <p:sp>
        <p:nvSpPr>
          <p:cNvPr id="9" name="Shape 6"/>
          <p:cNvSpPr/>
          <p:nvPr/>
        </p:nvSpPr>
        <p:spPr>
          <a:xfrm>
            <a:off x="548640" y="1600200"/>
            <a:ext cx="5212080" cy="621792"/>
          </a:xfrm>
          <a:prstGeom prst="rect">
            <a:avLst/>
          </a:prstGeom>
          <a:solidFill>
            <a:schemeClr val="bg1"/>
          </a:solidFill>
          <a:ln/>
          <a:effectLst>
            <a:outerShdw blurRad="76200" dist="25400" dir="5400000" algn="bl" rotWithShape="0">
              <a:srgbClr val="000000">
                <a:alpha val="12000"/>
              </a:srgbClr>
            </a:outerShdw>
          </a:effectLst>
        </p:spPr>
      </p:sp>
      <p:sp>
        <p:nvSpPr>
          <p:cNvPr id="10" name="Text 7"/>
          <p:cNvSpPr txBox="1"/>
          <p:nvPr/>
        </p:nvSpPr>
        <p:spPr>
          <a:xfrm>
            <a:off x="731520" y="1600200"/>
            <a:ext cx="4846320" cy="621792"/>
          </a:xfrm>
          <a:prstGeom prst="rect">
            <a:avLst/>
          </a:prstGeom>
          <a:noFill/>
          <a:ln/>
        </p:spPr>
        <p:txBody>
          <a:bodyPr wrap="square" lIns="0" tIns="0" rIns="0" bIns="0" rtlCol="0" anchor="ctr"/>
          <a:lstStyle/>
          <a:p>
            <a:pPr marL="0" indent="0">
              <a:buNone/>
            </a:pPr>
            <a:r>
              <a:rPr lang="en-US" sz="1200" b="1" dirty="0">
                <a:solidFill>
                  <a:schemeClr val="accent3"/>
                </a:solidFill>
              </a:rPr>
              <a:t>YASSIN   </a:t>
            </a:r>
            <a:endParaRPr lang="en-US" sz="1200" dirty="0"/>
          </a:p>
          <a:p>
            <a:pPr marL="0" indent="0">
              <a:buNone/>
            </a:pPr>
            <a:r>
              <a:rPr lang="en-US" i="1" dirty="0">
                <a:solidFill>
                  <a:schemeClr val="tx1"/>
                </a:solidFill>
              </a:rPr>
              <a:t>❌  It eat tiny creatures called krill. It breath air through its blowhole.</a:t>
            </a:r>
            <a:endParaRPr lang="en-US" dirty="0"/>
          </a:p>
        </p:txBody>
      </p:sp>
      <p:sp>
        <p:nvSpPr>
          <p:cNvPr id="11" name="Text 8"/>
          <p:cNvSpPr txBox="1"/>
          <p:nvPr/>
        </p:nvSpPr>
        <p:spPr>
          <a:xfrm>
            <a:off x="5806440" y="1600200"/>
            <a:ext cx="548640" cy="621792"/>
          </a:xfrm>
          <a:prstGeom prst="rect">
            <a:avLst/>
          </a:prstGeom>
          <a:noFill/>
          <a:ln/>
        </p:spPr>
        <p:txBody>
          <a:bodyPr wrap="square" lIns="0" tIns="0" rIns="0" bIns="0" rtlCol="0" anchor="ctr"/>
          <a:lstStyle/>
          <a:p>
            <a:pPr marL="0" indent="0" algn="ctr">
              <a:buNone/>
            </a:pPr>
            <a:r>
              <a:rPr lang="en-US" sz="2400" b="1" dirty="0">
                <a:solidFill>
                  <a:schemeClr val="accent1"/>
                </a:solidFill>
              </a:rPr>
              <a:t>➜</a:t>
            </a:r>
            <a:endParaRPr lang="en-US" sz="2400" dirty="0"/>
          </a:p>
        </p:txBody>
      </p:sp>
      <p:sp>
        <p:nvSpPr>
          <p:cNvPr id="12" name="Shape 9"/>
          <p:cNvSpPr/>
          <p:nvPr/>
        </p:nvSpPr>
        <p:spPr>
          <a:xfrm>
            <a:off x="6400800" y="1600200"/>
            <a:ext cx="5257800" cy="621792"/>
          </a:xfrm>
          <a:prstGeom prst="rect">
            <a:avLst/>
          </a:prstGeom>
          <a:solidFill>
            <a:schemeClr val="bg1"/>
          </a:solidFill>
          <a:ln/>
          <a:effectLst>
            <a:outerShdw blurRad="76200" dist="25400" dir="5400000" algn="bl" rotWithShape="0">
              <a:srgbClr val="000000">
                <a:alpha val="12000"/>
              </a:srgbClr>
            </a:outerShdw>
          </a:effectLst>
        </p:spPr>
      </p:sp>
      <p:sp>
        <p:nvSpPr>
          <p:cNvPr id="13" name="Text 10"/>
          <p:cNvSpPr txBox="1"/>
          <p:nvPr/>
        </p:nvSpPr>
        <p:spPr>
          <a:xfrm>
            <a:off x="6583680" y="1600200"/>
            <a:ext cx="4892040" cy="621792"/>
          </a:xfrm>
          <a:prstGeom prst="rect">
            <a:avLst/>
          </a:prstGeom>
          <a:noFill/>
          <a:ln/>
        </p:spPr>
        <p:txBody>
          <a:bodyPr wrap="square" lIns="0" tIns="0" rIns="0" bIns="0" rtlCol="0" anchor="ctr"/>
          <a:lstStyle/>
          <a:p>
            <a:pPr marL="0" indent="0">
              <a:buNone/>
            </a:pPr>
            <a:r>
              <a:rPr lang="en-US" b="1" dirty="0">
                <a:solidFill>
                  <a:schemeClr val="tx1"/>
                </a:solidFill>
              </a:rPr>
              <a:t>✅  It eats tiny creatures called krill. It breathes air through its blowhole.</a:t>
            </a:r>
            <a:endParaRPr lang="en-US" dirty="0"/>
          </a:p>
        </p:txBody>
      </p:sp>
      <p:sp>
        <p:nvSpPr>
          <p:cNvPr id="14" name="Shape 11"/>
          <p:cNvSpPr/>
          <p:nvPr/>
        </p:nvSpPr>
        <p:spPr>
          <a:xfrm>
            <a:off x="548640" y="2295144"/>
            <a:ext cx="5212080" cy="621792"/>
          </a:xfrm>
          <a:prstGeom prst="rect">
            <a:avLst/>
          </a:prstGeom>
          <a:solidFill>
            <a:schemeClr val="bg1"/>
          </a:solidFill>
          <a:ln/>
          <a:effectLst>
            <a:outerShdw blurRad="76200" dist="25400" dir="5400000" algn="bl" rotWithShape="0">
              <a:srgbClr val="000000">
                <a:alpha val="12000"/>
              </a:srgbClr>
            </a:outerShdw>
          </a:effectLst>
        </p:spPr>
      </p:sp>
      <p:sp>
        <p:nvSpPr>
          <p:cNvPr id="15" name="Text 12"/>
          <p:cNvSpPr txBox="1"/>
          <p:nvPr/>
        </p:nvSpPr>
        <p:spPr>
          <a:xfrm>
            <a:off x="731520" y="2295144"/>
            <a:ext cx="4846320" cy="621792"/>
          </a:xfrm>
          <a:prstGeom prst="rect">
            <a:avLst/>
          </a:prstGeom>
          <a:noFill/>
          <a:ln/>
        </p:spPr>
        <p:txBody>
          <a:bodyPr wrap="square" lIns="0" tIns="0" rIns="0" bIns="0" rtlCol="0" anchor="ctr"/>
          <a:lstStyle/>
          <a:p>
            <a:pPr marL="0" indent="0">
              <a:buNone/>
            </a:pPr>
            <a:r>
              <a:rPr lang="en-US" sz="1200" b="1" dirty="0">
                <a:solidFill>
                  <a:schemeClr val="accent3"/>
                </a:solidFill>
              </a:rPr>
              <a:t>SADEEL   </a:t>
            </a:r>
            <a:endParaRPr lang="en-US" sz="1200" dirty="0"/>
          </a:p>
          <a:p>
            <a:pPr marL="0" indent="0">
              <a:buNone/>
            </a:pPr>
            <a:r>
              <a:rPr lang="en-US" i="1" dirty="0">
                <a:solidFill>
                  <a:schemeClr val="tx1"/>
                </a:solidFill>
              </a:rPr>
              <a:t>❌  Blue whales eats tiney sea animals called krill.</a:t>
            </a:r>
            <a:endParaRPr lang="en-US" dirty="0"/>
          </a:p>
        </p:txBody>
      </p:sp>
      <p:sp>
        <p:nvSpPr>
          <p:cNvPr id="16" name="Text 13"/>
          <p:cNvSpPr txBox="1"/>
          <p:nvPr/>
        </p:nvSpPr>
        <p:spPr>
          <a:xfrm>
            <a:off x="5806440" y="2295144"/>
            <a:ext cx="548640" cy="621792"/>
          </a:xfrm>
          <a:prstGeom prst="rect">
            <a:avLst/>
          </a:prstGeom>
          <a:noFill/>
          <a:ln/>
        </p:spPr>
        <p:txBody>
          <a:bodyPr wrap="square" lIns="0" tIns="0" rIns="0" bIns="0" rtlCol="0" anchor="ctr"/>
          <a:lstStyle/>
          <a:p>
            <a:pPr marL="0" indent="0" algn="ctr">
              <a:buNone/>
            </a:pPr>
            <a:r>
              <a:rPr lang="en-US" sz="2400" b="1" dirty="0">
                <a:solidFill>
                  <a:schemeClr val="accent1"/>
                </a:solidFill>
              </a:rPr>
              <a:t>➜</a:t>
            </a:r>
            <a:endParaRPr lang="en-US" sz="2400" dirty="0"/>
          </a:p>
        </p:txBody>
      </p:sp>
      <p:sp>
        <p:nvSpPr>
          <p:cNvPr id="17" name="Shape 14"/>
          <p:cNvSpPr/>
          <p:nvPr/>
        </p:nvSpPr>
        <p:spPr>
          <a:xfrm>
            <a:off x="6400800" y="2295144"/>
            <a:ext cx="5257800" cy="621792"/>
          </a:xfrm>
          <a:prstGeom prst="rect">
            <a:avLst/>
          </a:prstGeom>
          <a:solidFill>
            <a:schemeClr val="bg1"/>
          </a:solidFill>
          <a:ln/>
          <a:effectLst>
            <a:outerShdw blurRad="76200" dist="25400" dir="5400000" algn="bl" rotWithShape="0">
              <a:srgbClr val="000000">
                <a:alpha val="12000"/>
              </a:srgbClr>
            </a:outerShdw>
          </a:effectLst>
        </p:spPr>
      </p:sp>
      <p:sp>
        <p:nvSpPr>
          <p:cNvPr id="18" name="Text 15"/>
          <p:cNvSpPr txBox="1"/>
          <p:nvPr/>
        </p:nvSpPr>
        <p:spPr>
          <a:xfrm>
            <a:off x="6583680" y="2295144"/>
            <a:ext cx="4892040" cy="621792"/>
          </a:xfrm>
          <a:prstGeom prst="rect">
            <a:avLst/>
          </a:prstGeom>
          <a:noFill/>
          <a:ln/>
        </p:spPr>
        <p:txBody>
          <a:bodyPr wrap="square" lIns="0" tIns="0" rIns="0" bIns="0" rtlCol="0" anchor="ctr"/>
          <a:lstStyle/>
          <a:p>
            <a:pPr marL="0" indent="0">
              <a:buNone/>
            </a:pPr>
            <a:r>
              <a:rPr lang="en-US" b="1" dirty="0">
                <a:solidFill>
                  <a:schemeClr val="tx1"/>
                </a:solidFill>
              </a:rPr>
              <a:t>✅  Blue whales eat tiny sea animals called krill.</a:t>
            </a:r>
            <a:endParaRPr lang="en-US" dirty="0"/>
          </a:p>
        </p:txBody>
      </p:sp>
      <p:sp>
        <p:nvSpPr>
          <p:cNvPr id="19" name="Shape 16"/>
          <p:cNvSpPr/>
          <p:nvPr/>
        </p:nvSpPr>
        <p:spPr>
          <a:xfrm>
            <a:off x="548640" y="2990088"/>
            <a:ext cx="5212080" cy="621792"/>
          </a:xfrm>
          <a:prstGeom prst="rect">
            <a:avLst/>
          </a:prstGeom>
          <a:solidFill>
            <a:schemeClr val="bg1"/>
          </a:solidFill>
          <a:ln/>
          <a:effectLst>
            <a:outerShdw blurRad="76200" dist="25400" dir="5400000" algn="bl" rotWithShape="0">
              <a:srgbClr val="000000">
                <a:alpha val="12000"/>
              </a:srgbClr>
            </a:outerShdw>
          </a:effectLst>
        </p:spPr>
      </p:sp>
      <p:sp>
        <p:nvSpPr>
          <p:cNvPr id="20" name="Text 17"/>
          <p:cNvSpPr txBox="1"/>
          <p:nvPr/>
        </p:nvSpPr>
        <p:spPr>
          <a:xfrm>
            <a:off x="731520" y="2990088"/>
            <a:ext cx="4846320" cy="621792"/>
          </a:xfrm>
          <a:prstGeom prst="rect">
            <a:avLst/>
          </a:prstGeom>
          <a:noFill/>
          <a:ln/>
        </p:spPr>
        <p:txBody>
          <a:bodyPr wrap="square" lIns="0" tIns="0" rIns="0" bIns="0" rtlCol="0" anchor="ctr"/>
          <a:lstStyle/>
          <a:p>
            <a:pPr marL="0" indent="0">
              <a:buNone/>
            </a:pPr>
            <a:r>
              <a:rPr lang="en-US" sz="1200" b="1" dirty="0">
                <a:solidFill>
                  <a:schemeClr val="accent3"/>
                </a:solidFill>
              </a:rPr>
              <a:t>ROFIDA   </a:t>
            </a:r>
            <a:endParaRPr lang="en-US" sz="1200" dirty="0"/>
          </a:p>
          <a:p>
            <a:pPr marL="0" indent="0">
              <a:buNone/>
            </a:pPr>
            <a:r>
              <a:rPr lang="en-US" i="1" dirty="0">
                <a:solidFill>
                  <a:schemeClr val="tx1"/>
                </a:solidFill>
              </a:rPr>
              <a:t>❌  …here is some ways to protect them.</a:t>
            </a:r>
            <a:endParaRPr lang="en-US" dirty="0"/>
          </a:p>
        </p:txBody>
      </p:sp>
      <p:sp>
        <p:nvSpPr>
          <p:cNvPr id="21" name="Text 18"/>
          <p:cNvSpPr txBox="1"/>
          <p:nvPr/>
        </p:nvSpPr>
        <p:spPr>
          <a:xfrm>
            <a:off x="5806440" y="2990088"/>
            <a:ext cx="548640" cy="621792"/>
          </a:xfrm>
          <a:prstGeom prst="rect">
            <a:avLst/>
          </a:prstGeom>
          <a:noFill/>
          <a:ln/>
        </p:spPr>
        <p:txBody>
          <a:bodyPr wrap="square" lIns="0" tIns="0" rIns="0" bIns="0" rtlCol="0" anchor="ctr"/>
          <a:lstStyle/>
          <a:p>
            <a:pPr marL="0" indent="0" algn="ctr">
              <a:buNone/>
            </a:pPr>
            <a:r>
              <a:rPr lang="en-US" sz="2400" b="1" dirty="0">
                <a:solidFill>
                  <a:schemeClr val="accent1"/>
                </a:solidFill>
              </a:rPr>
              <a:t>➜</a:t>
            </a:r>
            <a:endParaRPr lang="en-US" sz="2400" dirty="0"/>
          </a:p>
        </p:txBody>
      </p:sp>
      <p:sp>
        <p:nvSpPr>
          <p:cNvPr id="22" name="Shape 19"/>
          <p:cNvSpPr/>
          <p:nvPr/>
        </p:nvSpPr>
        <p:spPr>
          <a:xfrm>
            <a:off x="6400800" y="2990088"/>
            <a:ext cx="5257800" cy="621792"/>
          </a:xfrm>
          <a:prstGeom prst="rect">
            <a:avLst/>
          </a:prstGeom>
          <a:solidFill>
            <a:schemeClr val="bg1"/>
          </a:solidFill>
          <a:ln/>
          <a:effectLst>
            <a:outerShdw blurRad="76200" dist="25400" dir="5400000" algn="bl" rotWithShape="0">
              <a:srgbClr val="000000">
                <a:alpha val="12000"/>
              </a:srgbClr>
            </a:outerShdw>
          </a:effectLst>
        </p:spPr>
      </p:sp>
      <p:sp>
        <p:nvSpPr>
          <p:cNvPr id="23" name="Text 20"/>
          <p:cNvSpPr txBox="1"/>
          <p:nvPr/>
        </p:nvSpPr>
        <p:spPr>
          <a:xfrm>
            <a:off x="6583680" y="2990088"/>
            <a:ext cx="4892040" cy="621792"/>
          </a:xfrm>
          <a:prstGeom prst="rect">
            <a:avLst/>
          </a:prstGeom>
          <a:noFill/>
          <a:ln/>
        </p:spPr>
        <p:txBody>
          <a:bodyPr wrap="square" lIns="0" tIns="0" rIns="0" bIns="0" rtlCol="0" anchor="ctr"/>
          <a:lstStyle/>
          <a:p>
            <a:pPr marL="0" indent="0">
              <a:buNone/>
            </a:pPr>
            <a:r>
              <a:rPr lang="en-US" b="1" dirty="0">
                <a:solidFill>
                  <a:schemeClr val="tx1"/>
                </a:solidFill>
              </a:rPr>
              <a:t>✅  Here are some ways to protect them.</a:t>
            </a:r>
            <a:endParaRPr lang="en-US" dirty="0"/>
          </a:p>
        </p:txBody>
      </p:sp>
      <p:sp>
        <p:nvSpPr>
          <p:cNvPr id="24" name="Shape 21"/>
          <p:cNvSpPr/>
          <p:nvPr/>
        </p:nvSpPr>
        <p:spPr>
          <a:xfrm>
            <a:off x="548640" y="3685032"/>
            <a:ext cx="5212080" cy="621792"/>
          </a:xfrm>
          <a:prstGeom prst="rect">
            <a:avLst/>
          </a:prstGeom>
          <a:solidFill>
            <a:schemeClr val="bg1"/>
          </a:solidFill>
          <a:ln/>
          <a:effectLst>
            <a:outerShdw blurRad="76200" dist="25400" dir="5400000" algn="bl" rotWithShape="0">
              <a:srgbClr val="000000">
                <a:alpha val="12000"/>
              </a:srgbClr>
            </a:outerShdw>
          </a:effectLst>
        </p:spPr>
      </p:sp>
      <p:sp>
        <p:nvSpPr>
          <p:cNvPr id="25" name="Text 22"/>
          <p:cNvSpPr txBox="1"/>
          <p:nvPr/>
        </p:nvSpPr>
        <p:spPr>
          <a:xfrm>
            <a:off x="731520" y="3685032"/>
            <a:ext cx="4846320" cy="621792"/>
          </a:xfrm>
          <a:prstGeom prst="rect">
            <a:avLst/>
          </a:prstGeom>
          <a:noFill/>
          <a:ln/>
        </p:spPr>
        <p:txBody>
          <a:bodyPr wrap="square" lIns="0" tIns="0" rIns="0" bIns="0" rtlCol="0" anchor="ctr"/>
          <a:lstStyle/>
          <a:p>
            <a:pPr marL="0" indent="0">
              <a:buNone/>
            </a:pPr>
            <a:r>
              <a:rPr lang="en-US" sz="1200" b="1" dirty="0">
                <a:solidFill>
                  <a:schemeClr val="accent3"/>
                </a:solidFill>
              </a:rPr>
              <a:t>RENAD   </a:t>
            </a:r>
            <a:endParaRPr lang="en-US" sz="1200" dirty="0"/>
          </a:p>
          <a:p>
            <a:pPr marL="0" indent="0">
              <a:buNone/>
            </a:pPr>
            <a:r>
              <a:rPr lang="en-US" i="1" dirty="0">
                <a:solidFill>
                  <a:schemeClr val="tx1"/>
                </a:solidFill>
              </a:rPr>
              <a:t>❌  it can lives for more than 80 years</a:t>
            </a:r>
            <a:endParaRPr lang="en-US" dirty="0"/>
          </a:p>
        </p:txBody>
      </p:sp>
      <p:sp>
        <p:nvSpPr>
          <p:cNvPr id="26" name="Text 23"/>
          <p:cNvSpPr txBox="1"/>
          <p:nvPr/>
        </p:nvSpPr>
        <p:spPr>
          <a:xfrm>
            <a:off x="5806440" y="3685032"/>
            <a:ext cx="548640" cy="621792"/>
          </a:xfrm>
          <a:prstGeom prst="rect">
            <a:avLst/>
          </a:prstGeom>
          <a:noFill/>
          <a:ln/>
        </p:spPr>
        <p:txBody>
          <a:bodyPr wrap="square" lIns="0" tIns="0" rIns="0" bIns="0" rtlCol="0" anchor="ctr"/>
          <a:lstStyle/>
          <a:p>
            <a:pPr marL="0" indent="0" algn="ctr">
              <a:buNone/>
            </a:pPr>
            <a:r>
              <a:rPr lang="en-US" sz="2400" b="1" dirty="0">
                <a:solidFill>
                  <a:schemeClr val="accent1"/>
                </a:solidFill>
              </a:rPr>
              <a:t>➜</a:t>
            </a:r>
            <a:endParaRPr lang="en-US" sz="2400" dirty="0"/>
          </a:p>
        </p:txBody>
      </p:sp>
      <p:sp>
        <p:nvSpPr>
          <p:cNvPr id="27" name="Shape 24"/>
          <p:cNvSpPr/>
          <p:nvPr/>
        </p:nvSpPr>
        <p:spPr>
          <a:xfrm>
            <a:off x="6400800" y="3685032"/>
            <a:ext cx="5257800" cy="621792"/>
          </a:xfrm>
          <a:prstGeom prst="rect">
            <a:avLst/>
          </a:prstGeom>
          <a:solidFill>
            <a:schemeClr val="bg1"/>
          </a:solidFill>
          <a:ln/>
          <a:effectLst>
            <a:outerShdw blurRad="76200" dist="25400" dir="5400000" algn="bl" rotWithShape="0">
              <a:srgbClr val="000000">
                <a:alpha val="12000"/>
              </a:srgbClr>
            </a:outerShdw>
          </a:effectLst>
        </p:spPr>
      </p:sp>
      <p:sp>
        <p:nvSpPr>
          <p:cNvPr id="28" name="Text 25"/>
          <p:cNvSpPr txBox="1"/>
          <p:nvPr/>
        </p:nvSpPr>
        <p:spPr>
          <a:xfrm>
            <a:off x="6583680" y="3685032"/>
            <a:ext cx="4892040" cy="621792"/>
          </a:xfrm>
          <a:prstGeom prst="rect">
            <a:avLst/>
          </a:prstGeom>
          <a:noFill/>
          <a:ln/>
        </p:spPr>
        <p:txBody>
          <a:bodyPr wrap="square" lIns="0" tIns="0" rIns="0" bIns="0" rtlCol="0" anchor="ctr"/>
          <a:lstStyle/>
          <a:p>
            <a:pPr marL="0" indent="0">
              <a:buNone/>
            </a:pPr>
            <a:r>
              <a:rPr lang="en-US" b="1" dirty="0">
                <a:solidFill>
                  <a:schemeClr val="tx1"/>
                </a:solidFill>
              </a:rPr>
              <a:t>✅  It can live for more than 80 years.</a:t>
            </a:r>
            <a:endParaRPr lang="en-US" dirty="0"/>
          </a:p>
        </p:txBody>
      </p:sp>
      <p:sp>
        <p:nvSpPr>
          <p:cNvPr id="29" name="Shape 26"/>
          <p:cNvSpPr/>
          <p:nvPr/>
        </p:nvSpPr>
        <p:spPr>
          <a:xfrm>
            <a:off x="548640" y="4379976"/>
            <a:ext cx="5212080" cy="621792"/>
          </a:xfrm>
          <a:prstGeom prst="rect">
            <a:avLst/>
          </a:prstGeom>
          <a:solidFill>
            <a:schemeClr val="bg1"/>
          </a:solidFill>
          <a:ln/>
          <a:effectLst>
            <a:outerShdw blurRad="76200" dist="25400" dir="5400000" algn="bl" rotWithShape="0">
              <a:srgbClr val="000000">
                <a:alpha val="12000"/>
              </a:srgbClr>
            </a:outerShdw>
          </a:effectLst>
        </p:spPr>
      </p:sp>
      <p:sp>
        <p:nvSpPr>
          <p:cNvPr id="30" name="Text 27"/>
          <p:cNvSpPr txBox="1"/>
          <p:nvPr/>
        </p:nvSpPr>
        <p:spPr>
          <a:xfrm>
            <a:off x="731520" y="4379976"/>
            <a:ext cx="4846320" cy="621792"/>
          </a:xfrm>
          <a:prstGeom prst="rect">
            <a:avLst/>
          </a:prstGeom>
          <a:noFill/>
          <a:ln/>
        </p:spPr>
        <p:txBody>
          <a:bodyPr wrap="square" lIns="0" tIns="0" rIns="0" bIns="0" rtlCol="0" anchor="ctr"/>
          <a:lstStyle/>
          <a:p>
            <a:pPr marL="0" indent="0">
              <a:buNone/>
            </a:pPr>
            <a:r>
              <a:rPr lang="en-US" sz="1200" b="1" dirty="0">
                <a:solidFill>
                  <a:schemeClr val="accent3"/>
                </a:solidFill>
              </a:rPr>
              <a:t>MAWADDA   </a:t>
            </a:r>
            <a:endParaRPr lang="en-US" sz="1200" dirty="0"/>
          </a:p>
          <a:p>
            <a:pPr marL="0" indent="0">
              <a:buNone/>
            </a:pPr>
            <a:r>
              <a:rPr lang="en-US" sz="1600" i="1" dirty="0">
                <a:solidFill>
                  <a:schemeClr val="tx1"/>
                </a:solidFill>
              </a:rPr>
              <a:t>❌  Human cut down grasslands, which destroys their natural homes.</a:t>
            </a:r>
            <a:endParaRPr lang="en-US" sz="1600" dirty="0"/>
          </a:p>
        </p:txBody>
      </p:sp>
      <p:sp>
        <p:nvSpPr>
          <p:cNvPr id="31" name="Text 28"/>
          <p:cNvSpPr txBox="1"/>
          <p:nvPr/>
        </p:nvSpPr>
        <p:spPr>
          <a:xfrm>
            <a:off x="5806440" y="4379976"/>
            <a:ext cx="548640" cy="621792"/>
          </a:xfrm>
          <a:prstGeom prst="rect">
            <a:avLst/>
          </a:prstGeom>
          <a:noFill/>
          <a:ln/>
        </p:spPr>
        <p:txBody>
          <a:bodyPr wrap="square" lIns="0" tIns="0" rIns="0" bIns="0" rtlCol="0" anchor="ctr"/>
          <a:lstStyle/>
          <a:p>
            <a:pPr marL="0" indent="0" algn="ctr">
              <a:buNone/>
            </a:pPr>
            <a:r>
              <a:rPr lang="en-US" sz="2400" b="1" dirty="0">
                <a:solidFill>
                  <a:schemeClr val="accent1"/>
                </a:solidFill>
              </a:rPr>
              <a:t>➜</a:t>
            </a:r>
            <a:endParaRPr lang="en-US" sz="2400" dirty="0"/>
          </a:p>
        </p:txBody>
      </p:sp>
      <p:sp>
        <p:nvSpPr>
          <p:cNvPr id="32" name="Shape 29"/>
          <p:cNvSpPr/>
          <p:nvPr/>
        </p:nvSpPr>
        <p:spPr>
          <a:xfrm>
            <a:off x="6400800" y="4379976"/>
            <a:ext cx="5257800" cy="621792"/>
          </a:xfrm>
          <a:prstGeom prst="rect">
            <a:avLst/>
          </a:prstGeom>
          <a:solidFill>
            <a:schemeClr val="bg1"/>
          </a:solidFill>
          <a:ln/>
          <a:effectLst>
            <a:outerShdw blurRad="76200" dist="25400" dir="5400000" algn="bl" rotWithShape="0">
              <a:srgbClr val="000000">
                <a:alpha val="12000"/>
              </a:srgbClr>
            </a:outerShdw>
          </a:effectLst>
        </p:spPr>
      </p:sp>
      <p:sp>
        <p:nvSpPr>
          <p:cNvPr id="33" name="Text 30"/>
          <p:cNvSpPr txBox="1"/>
          <p:nvPr/>
        </p:nvSpPr>
        <p:spPr>
          <a:xfrm>
            <a:off x="6583680" y="4379976"/>
            <a:ext cx="4892040" cy="621792"/>
          </a:xfrm>
          <a:prstGeom prst="rect">
            <a:avLst/>
          </a:prstGeom>
          <a:noFill/>
          <a:ln/>
        </p:spPr>
        <p:txBody>
          <a:bodyPr wrap="square" lIns="0" tIns="0" rIns="0" bIns="0" rtlCol="0" anchor="ctr"/>
          <a:lstStyle/>
          <a:p>
            <a:pPr marL="0" indent="0">
              <a:buNone/>
            </a:pPr>
            <a:r>
              <a:rPr lang="en-US" b="1" dirty="0">
                <a:solidFill>
                  <a:schemeClr val="tx1"/>
                </a:solidFill>
              </a:rPr>
              <a:t>✅  People cut down grasslands, which destroys their natural homes.</a:t>
            </a:r>
            <a:endParaRPr lang="en-US" dirty="0"/>
          </a:p>
        </p:txBody>
      </p:sp>
      <p:sp>
        <p:nvSpPr>
          <p:cNvPr id="34" name="Shape 31"/>
          <p:cNvSpPr/>
          <p:nvPr/>
        </p:nvSpPr>
        <p:spPr>
          <a:xfrm>
            <a:off x="548640" y="5074920"/>
            <a:ext cx="5212080" cy="621792"/>
          </a:xfrm>
          <a:prstGeom prst="rect">
            <a:avLst/>
          </a:prstGeom>
          <a:solidFill>
            <a:schemeClr val="bg1"/>
          </a:solidFill>
          <a:ln/>
          <a:effectLst>
            <a:outerShdw blurRad="76200" dist="25400" dir="5400000" algn="bl" rotWithShape="0">
              <a:srgbClr val="000000">
                <a:alpha val="12000"/>
              </a:srgbClr>
            </a:outerShdw>
          </a:effectLst>
        </p:spPr>
      </p:sp>
      <p:sp>
        <p:nvSpPr>
          <p:cNvPr id="35" name="Text 32"/>
          <p:cNvSpPr txBox="1"/>
          <p:nvPr/>
        </p:nvSpPr>
        <p:spPr>
          <a:xfrm>
            <a:off x="731520" y="5074920"/>
            <a:ext cx="4846320" cy="621792"/>
          </a:xfrm>
          <a:prstGeom prst="rect">
            <a:avLst/>
          </a:prstGeom>
          <a:noFill/>
          <a:ln/>
        </p:spPr>
        <p:txBody>
          <a:bodyPr wrap="square" lIns="0" tIns="0" rIns="0" bIns="0" rtlCol="0" anchor="ctr"/>
          <a:lstStyle/>
          <a:p>
            <a:pPr marL="0" indent="0">
              <a:buNone/>
            </a:pPr>
            <a:r>
              <a:rPr lang="en-US" sz="1200" b="1" dirty="0">
                <a:solidFill>
                  <a:schemeClr val="accent3"/>
                </a:solidFill>
              </a:rPr>
              <a:t>MOSTAFA   </a:t>
            </a:r>
            <a:endParaRPr lang="en-US" sz="1200" dirty="0"/>
          </a:p>
          <a:p>
            <a:pPr marL="0" indent="0">
              <a:buNone/>
            </a:pPr>
            <a:r>
              <a:rPr lang="en-US" i="1" dirty="0">
                <a:solidFill>
                  <a:schemeClr val="tx1"/>
                </a:solidFill>
              </a:rPr>
              <a:t>❌  protecting seatortles matter because the are an animal</a:t>
            </a:r>
            <a:endParaRPr lang="en-US" dirty="0"/>
          </a:p>
        </p:txBody>
      </p:sp>
      <p:sp>
        <p:nvSpPr>
          <p:cNvPr id="36" name="Text 33"/>
          <p:cNvSpPr txBox="1"/>
          <p:nvPr/>
        </p:nvSpPr>
        <p:spPr>
          <a:xfrm>
            <a:off x="5806440" y="5074920"/>
            <a:ext cx="548640" cy="621792"/>
          </a:xfrm>
          <a:prstGeom prst="rect">
            <a:avLst/>
          </a:prstGeom>
          <a:noFill/>
          <a:ln/>
        </p:spPr>
        <p:txBody>
          <a:bodyPr wrap="square" lIns="0" tIns="0" rIns="0" bIns="0" rtlCol="0" anchor="ctr"/>
          <a:lstStyle/>
          <a:p>
            <a:pPr marL="0" indent="0" algn="ctr">
              <a:buNone/>
            </a:pPr>
            <a:r>
              <a:rPr lang="en-US" sz="2400" b="1" dirty="0">
                <a:solidFill>
                  <a:schemeClr val="accent1"/>
                </a:solidFill>
              </a:rPr>
              <a:t>➜</a:t>
            </a:r>
            <a:endParaRPr lang="en-US" sz="2400" dirty="0"/>
          </a:p>
        </p:txBody>
      </p:sp>
      <p:sp>
        <p:nvSpPr>
          <p:cNvPr id="37" name="Shape 34"/>
          <p:cNvSpPr/>
          <p:nvPr/>
        </p:nvSpPr>
        <p:spPr>
          <a:xfrm>
            <a:off x="6400800" y="5074920"/>
            <a:ext cx="5257800" cy="621792"/>
          </a:xfrm>
          <a:prstGeom prst="rect">
            <a:avLst/>
          </a:prstGeom>
          <a:solidFill>
            <a:schemeClr val="bg1"/>
          </a:solidFill>
          <a:ln/>
          <a:effectLst>
            <a:outerShdw blurRad="76200" dist="25400" dir="5400000" algn="bl" rotWithShape="0">
              <a:srgbClr val="000000">
                <a:alpha val="12000"/>
              </a:srgbClr>
            </a:outerShdw>
          </a:effectLst>
        </p:spPr>
      </p:sp>
      <p:sp>
        <p:nvSpPr>
          <p:cNvPr id="38" name="Text 35"/>
          <p:cNvSpPr txBox="1"/>
          <p:nvPr/>
        </p:nvSpPr>
        <p:spPr>
          <a:xfrm>
            <a:off x="6583680" y="5074920"/>
            <a:ext cx="4892040" cy="621792"/>
          </a:xfrm>
          <a:prstGeom prst="rect">
            <a:avLst/>
          </a:prstGeom>
          <a:noFill/>
          <a:ln/>
        </p:spPr>
        <p:txBody>
          <a:bodyPr wrap="square" lIns="0" tIns="0" rIns="0" bIns="0" rtlCol="0" anchor="ctr"/>
          <a:lstStyle/>
          <a:p>
            <a:pPr marL="0" indent="0">
              <a:buNone/>
            </a:pPr>
            <a:r>
              <a:rPr lang="en-US" b="1" dirty="0">
                <a:solidFill>
                  <a:schemeClr val="tx1"/>
                </a:solidFill>
              </a:rPr>
              <a:t>✅  Protecting sea turtles matters because they keep the ocean clean.</a:t>
            </a:r>
            <a:endParaRPr lang="en-US" dirty="0"/>
          </a:p>
        </p:txBody>
      </p:sp>
      <p:sp>
        <p:nvSpPr>
          <p:cNvPr id="39" name="Text 36"/>
          <p:cNvSpPr txBox="1"/>
          <p:nvPr/>
        </p:nvSpPr>
        <p:spPr>
          <a:xfrm>
            <a:off x="548640" y="5989320"/>
            <a:ext cx="11094415" cy="502920"/>
          </a:xfrm>
          <a:prstGeom prst="rect">
            <a:avLst/>
          </a:prstGeom>
          <a:solidFill>
            <a:schemeClr val="tx1"/>
          </a:solidFill>
          <a:ln/>
        </p:spPr>
        <p:txBody>
          <a:bodyPr wrap="square" lIns="1270" tIns="1270" rIns="1270" bIns="1270" rtlCol="0" anchor="ctr"/>
          <a:lstStyle/>
          <a:p>
            <a:pPr marL="0" indent="0" algn="ctr">
              <a:buNone/>
            </a:pPr>
            <a:r>
              <a:rPr lang="en-US" sz="2400" b="1" dirty="0">
                <a:solidFill>
                  <a:schemeClr val="bg1"/>
                </a:solidFill>
              </a:rPr>
              <a:t>One animal: it eats.   Many animals: they eat.   After can: it can live.</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0"/>
            <a:ext cx="9326880" cy="822960"/>
          </a:xfrm>
          <a:prstGeom prst="rect">
            <a:avLst/>
          </a:prstGeom>
          <a:noFill/>
          <a:ln/>
        </p:spPr>
        <p:txBody>
          <a:bodyPr wrap="square" lIns="0" tIns="0" rIns="0" bIns="0" rtlCol="0" anchor="ctr"/>
          <a:lstStyle/>
          <a:p>
            <a:pPr marL="0" indent="0" algn="l">
              <a:buNone/>
            </a:pPr>
            <a:r>
              <a:rPr lang="en-US" sz="2600" b="1" dirty="0">
                <a:solidFill>
                  <a:schemeClr val="bg1"/>
                </a:solidFill>
                <a:latin typeface="+mj-lt" pitchFamily="34" charset="0"/>
                <a:ea typeface="+mj-lt" pitchFamily="34" charset="-122"/>
                <a:cs typeface="+mj-lt" pitchFamily="34" charset="-120"/>
              </a:rPr>
              <a:t>Fix 3: the introduction needs a WHY</a:t>
            </a:r>
            <a:endParaRPr lang="en-US" sz="2600" dirty="0"/>
          </a:p>
        </p:txBody>
      </p:sp>
      <p:sp>
        <p:nvSpPr>
          <p:cNvPr id="3" name="Tag"/>
          <p:cNvSpPr txBox="1"/>
          <p:nvPr/>
        </p:nvSpPr>
        <p:spPr>
          <a:xfrm>
            <a:off x="10332720" y="256032"/>
            <a:ext cx="1463040" cy="310896"/>
          </a:xfrm>
          <a:prstGeom prst="rect">
            <a:avLst/>
          </a:prstGeom>
          <a:solidFill>
            <a:schemeClr val="accent2"/>
          </a:solidFill>
          <a:ln/>
        </p:spPr>
        <p:txBody>
          <a:bodyPr wrap="square" lIns="0" tIns="0" rIns="0" bIns="0" rtlCol="0" anchor="ctr"/>
          <a:lstStyle/>
          <a:p>
            <a:pPr marL="0" indent="0" algn="ctr">
              <a:buNone/>
            </a:pPr>
            <a:r>
              <a:rPr lang="en-US" sz="1100" b="1" dirty="0">
                <a:solidFill>
                  <a:schemeClr val="tx1"/>
                </a:solidFill>
              </a:rPr>
              <a:t>FIX IT</a:t>
            </a:r>
            <a:endParaRPr lang="en-US" sz="1100" dirty="0"/>
          </a:p>
        </p:txBody>
      </p:sp>
      <p:sp>
        <p:nvSpPr>
          <p:cNvPr id="5" name="Shape 2"/>
          <p:cNvSpPr/>
          <p:nvPr/>
        </p:nvSpPr>
        <p:spPr>
          <a:xfrm>
            <a:off x="548640" y="1097280"/>
            <a:ext cx="5212080" cy="411480"/>
          </a:xfrm>
          <a:prstGeom prst="rect">
            <a:avLst/>
          </a:prstGeom>
          <a:solidFill>
            <a:schemeClr val="accent3"/>
          </a:solidFill>
          <a:ln/>
        </p:spPr>
      </p:sp>
      <p:sp>
        <p:nvSpPr>
          <p:cNvPr id="6" name="Text 3"/>
          <p:cNvSpPr txBox="1"/>
          <p:nvPr/>
        </p:nvSpPr>
        <p:spPr>
          <a:xfrm>
            <a:off x="676656" y="1097280"/>
            <a:ext cx="5029200" cy="411480"/>
          </a:xfrm>
          <a:prstGeom prst="rect">
            <a:avLst/>
          </a:prstGeom>
          <a:noFill/>
          <a:ln/>
        </p:spPr>
        <p:txBody>
          <a:bodyPr wrap="square" lIns="0" tIns="0" rIns="0" bIns="0" rtlCol="0" anchor="ctr"/>
          <a:lstStyle/>
          <a:p>
            <a:pPr marL="0" indent="0">
              <a:buNone/>
            </a:pPr>
            <a:r>
              <a:rPr lang="en-US" sz="1400" b="1" dirty="0">
                <a:solidFill>
                  <a:schemeClr val="bg1"/>
                </a:solidFill>
              </a:rPr>
              <a:t>FROM YOUR PLANS</a:t>
            </a:r>
            <a:endParaRPr lang="en-US" sz="1400" dirty="0"/>
          </a:p>
        </p:txBody>
      </p:sp>
      <p:sp>
        <p:nvSpPr>
          <p:cNvPr id="7" name="Shape 4"/>
          <p:cNvSpPr/>
          <p:nvPr/>
        </p:nvSpPr>
        <p:spPr>
          <a:xfrm>
            <a:off x="6400800" y="1097280"/>
            <a:ext cx="5257800" cy="411480"/>
          </a:xfrm>
          <a:prstGeom prst="rect">
            <a:avLst/>
          </a:prstGeom>
          <a:solidFill>
            <a:schemeClr val="accent1"/>
          </a:solidFill>
          <a:ln/>
        </p:spPr>
      </p:sp>
      <p:sp>
        <p:nvSpPr>
          <p:cNvPr id="8" name="Text 5"/>
          <p:cNvSpPr txBox="1"/>
          <p:nvPr/>
        </p:nvSpPr>
        <p:spPr>
          <a:xfrm>
            <a:off x="6528816" y="1097280"/>
            <a:ext cx="5029200" cy="411480"/>
          </a:xfrm>
          <a:prstGeom prst="rect">
            <a:avLst/>
          </a:prstGeom>
          <a:noFill/>
          <a:ln/>
        </p:spPr>
        <p:txBody>
          <a:bodyPr wrap="square" lIns="0" tIns="0" rIns="0" bIns="0" rtlCol="0" anchor="ctr"/>
          <a:lstStyle/>
          <a:p>
            <a:pPr marL="0" indent="0">
              <a:buNone/>
            </a:pPr>
            <a:r>
              <a:rPr lang="en-US" sz="1400" b="1" dirty="0">
                <a:solidFill>
                  <a:schemeClr val="bg1"/>
                </a:solidFill>
              </a:rPr>
              <a:t>BETTER VERSION</a:t>
            </a:r>
            <a:endParaRPr lang="en-US" sz="1400" dirty="0"/>
          </a:p>
        </p:txBody>
      </p:sp>
      <p:sp>
        <p:nvSpPr>
          <p:cNvPr id="9" name="Shape 6"/>
          <p:cNvSpPr/>
          <p:nvPr/>
        </p:nvSpPr>
        <p:spPr>
          <a:xfrm>
            <a:off x="548640" y="1600200"/>
            <a:ext cx="5212080" cy="1005840"/>
          </a:xfrm>
          <a:prstGeom prst="rect">
            <a:avLst/>
          </a:prstGeom>
          <a:solidFill>
            <a:schemeClr val="bg1"/>
          </a:solidFill>
          <a:ln/>
          <a:effectLst>
            <a:outerShdw blurRad="76200" dist="25400" dir="5400000" algn="bl" rotWithShape="0">
              <a:srgbClr val="000000">
                <a:alpha val="12000"/>
              </a:srgbClr>
            </a:outerShdw>
          </a:effectLst>
        </p:spPr>
      </p:sp>
      <p:sp>
        <p:nvSpPr>
          <p:cNvPr id="10" name="Text 7"/>
          <p:cNvSpPr txBox="1"/>
          <p:nvPr/>
        </p:nvSpPr>
        <p:spPr>
          <a:xfrm>
            <a:off x="731520" y="1600200"/>
            <a:ext cx="4846320" cy="1005840"/>
          </a:xfrm>
          <a:prstGeom prst="rect">
            <a:avLst/>
          </a:prstGeom>
          <a:noFill/>
          <a:ln/>
        </p:spPr>
        <p:txBody>
          <a:bodyPr wrap="square" lIns="0" tIns="0" rIns="0" bIns="0" rtlCol="0" anchor="ctr"/>
          <a:lstStyle/>
          <a:p>
            <a:pPr marL="0" indent="0">
              <a:buNone/>
            </a:pPr>
            <a:r>
              <a:rPr lang="en-US" sz="1200" b="1" dirty="0">
                <a:solidFill>
                  <a:schemeClr val="accent3"/>
                </a:solidFill>
              </a:rPr>
              <a:t>MERA   </a:t>
            </a:r>
            <a:endParaRPr lang="en-US" sz="1200" dirty="0"/>
          </a:p>
          <a:p>
            <a:pPr marL="0" indent="0">
              <a:buNone/>
            </a:pPr>
            <a:r>
              <a:rPr lang="en-US" i="1" dirty="0">
                <a:solidFill>
                  <a:schemeClr val="tx1"/>
                </a:solidFill>
              </a:rPr>
              <a:t>❌  …live only in a few isolated areas of West Africa because if they did not live in their natural habitat they will suffer many problems.</a:t>
            </a:r>
            <a:endParaRPr lang="en-US" dirty="0"/>
          </a:p>
        </p:txBody>
      </p:sp>
      <p:sp>
        <p:nvSpPr>
          <p:cNvPr id="11" name="Text 8"/>
          <p:cNvSpPr txBox="1"/>
          <p:nvPr/>
        </p:nvSpPr>
        <p:spPr>
          <a:xfrm>
            <a:off x="5806440" y="1600200"/>
            <a:ext cx="548640" cy="1005840"/>
          </a:xfrm>
          <a:prstGeom prst="rect">
            <a:avLst/>
          </a:prstGeom>
          <a:noFill/>
          <a:ln/>
        </p:spPr>
        <p:txBody>
          <a:bodyPr wrap="square" lIns="0" tIns="0" rIns="0" bIns="0" rtlCol="0" anchor="ctr"/>
          <a:lstStyle/>
          <a:p>
            <a:pPr marL="0" indent="0" algn="ctr">
              <a:buNone/>
            </a:pPr>
            <a:r>
              <a:rPr lang="en-US" sz="2400" b="1" dirty="0">
                <a:solidFill>
                  <a:schemeClr val="accent1"/>
                </a:solidFill>
              </a:rPr>
              <a:t>➜</a:t>
            </a:r>
            <a:endParaRPr lang="en-US" sz="2400" dirty="0"/>
          </a:p>
        </p:txBody>
      </p:sp>
      <p:sp>
        <p:nvSpPr>
          <p:cNvPr id="12" name="Shape 9"/>
          <p:cNvSpPr/>
          <p:nvPr/>
        </p:nvSpPr>
        <p:spPr>
          <a:xfrm>
            <a:off x="6400800" y="1600200"/>
            <a:ext cx="5257800" cy="1005840"/>
          </a:xfrm>
          <a:prstGeom prst="rect">
            <a:avLst/>
          </a:prstGeom>
          <a:solidFill>
            <a:schemeClr val="bg1"/>
          </a:solidFill>
          <a:ln/>
          <a:effectLst>
            <a:outerShdw blurRad="76200" dist="25400" dir="5400000" algn="bl" rotWithShape="0">
              <a:srgbClr val="000000">
                <a:alpha val="12000"/>
              </a:srgbClr>
            </a:outerShdw>
          </a:effectLst>
        </p:spPr>
      </p:sp>
      <p:sp>
        <p:nvSpPr>
          <p:cNvPr id="13" name="Text 10"/>
          <p:cNvSpPr txBox="1"/>
          <p:nvPr/>
        </p:nvSpPr>
        <p:spPr>
          <a:xfrm>
            <a:off x="6583680" y="1600200"/>
            <a:ext cx="4892040" cy="1005840"/>
          </a:xfrm>
          <a:prstGeom prst="rect">
            <a:avLst/>
          </a:prstGeom>
          <a:noFill/>
          <a:ln/>
        </p:spPr>
        <p:txBody>
          <a:bodyPr wrap="square" lIns="0" tIns="0" rIns="0" bIns="0" rtlCol="0" anchor="ctr"/>
          <a:lstStyle/>
          <a:p>
            <a:pPr marL="0" indent="0">
              <a:buNone/>
            </a:pPr>
            <a:r>
              <a:rPr lang="en-US" b="1" dirty="0">
                <a:solidFill>
                  <a:schemeClr val="tx1"/>
                </a:solidFill>
              </a:rPr>
              <a:t>✅  West African lions live in only a few isolated areas of West Africa. </a:t>
            </a:r>
            <a:r>
              <a:rPr lang="en-US" b="1" dirty="0">
                <a:solidFill>
                  <a:schemeClr val="tx1"/>
                </a:solidFill>
                <a:highlight>
                  <a:srgbClr val="FFFF00"/>
                </a:highlight>
              </a:rPr>
              <a:t>It is important to know about them</a:t>
            </a:r>
            <a:r>
              <a:rPr lang="en-US" b="1" dirty="0">
                <a:solidFill>
                  <a:schemeClr val="tx1"/>
                </a:solidFill>
              </a:rPr>
              <a:t> because very few are left.</a:t>
            </a:r>
            <a:endParaRPr lang="en-US" dirty="0"/>
          </a:p>
        </p:txBody>
      </p:sp>
      <p:sp>
        <p:nvSpPr>
          <p:cNvPr id="14" name="Shape 11"/>
          <p:cNvSpPr/>
          <p:nvPr/>
        </p:nvSpPr>
        <p:spPr>
          <a:xfrm>
            <a:off x="548640" y="2743200"/>
            <a:ext cx="5212080" cy="1005840"/>
          </a:xfrm>
          <a:prstGeom prst="rect">
            <a:avLst/>
          </a:prstGeom>
          <a:solidFill>
            <a:schemeClr val="bg1"/>
          </a:solidFill>
          <a:ln/>
          <a:effectLst>
            <a:outerShdw blurRad="76200" dist="25400" dir="5400000" algn="bl" rotWithShape="0">
              <a:srgbClr val="000000">
                <a:alpha val="12000"/>
              </a:srgbClr>
            </a:outerShdw>
          </a:effectLst>
        </p:spPr>
      </p:sp>
      <p:sp>
        <p:nvSpPr>
          <p:cNvPr id="15" name="Text 12"/>
          <p:cNvSpPr txBox="1"/>
          <p:nvPr/>
        </p:nvSpPr>
        <p:spPr>
          <a:xfrm>
            <a:off x="731520" y="2743200"/>
            <a:ext cx="4846320" cy="1005840"/>
          </a:xfrm>
          <a:prstGeom prst="rect">
            <a:avLst/>
          </a:prstGeom>
          <a:noFill/>
          <a:ln/>
        </p:spPr>
        <p:txBody>
          <a:bodyPr wrap="square" lIns="0" tIns="0" rIns="0" bIns="0" rtlCol="0" anchor="ctr"/>
          <a:lstStyle/>
          <a:p>
            <a:pPr marL="0" indent="0">
              <a:buNone/>
            </a:pPr>
            <a:r>
              <a:rPr lang="en-US" sz="1200" b="1" dirty="0">
                <a:solidFill>
                  <a:schemeClr val="accent3"/>
                </a:solidFill>
              </a:rPr>
              <a:t>RENAD   </a:t>
            </a:r>
            <a:endParaRPr lang="en-US" sz="1200" dirty="0"/>
          </a:p>
          <a:p>
            <a:pPr marL="0" indent="0">
              <a:buNone/>
            </a:pPr>
            <a:r>
              <a:rPr lang="en-US" i="1" dirty="0">
                <a:solidFill>
                  <a:schemeClr val="tx1"/>
                </a:solidFill>
              </a:rPr>
              <a:t>❌  the green sea turtles is an amazing endanger creater that lives in warm tropical seas.</a:t>
            </a:r>
            <a:endParaRPr lang="en-US" dirty="0"/>
          </a:p>
        </p:txBody>
      </p:sp>
      <p:sp>
        <p:nvSpPr>
          <p:cNvPr id="16" name="Text 13"/>
          <p:cNvSpPr txBox="1"/>
          <p:nvPr/>
        </p:nvSpPr>
        <p:spPr>
          <a:xfrm>
            <a:off x="5806440" y="2743200"/>
            <a:ext cx="548640" cy="1005840"/>
          </a:xfrm>
          <a:prstGeom prst="rect">
            <a:avLst/>
          </a:prstGeom>
          <a:noFill/>
          <a:ln/>
        </p:spPr>
        <p:txBody>
          <a:bodyPr wrap="square" lIns="0" tIns="0" rIns="0" bIns="0" rtlCol="0" anchor="ctr"/>
          <a:lstStyle/>
          <a:p>
            <a:pPr marL="0" indent="0" algn="ctr">
              <a:buNone/>
            </a:pPr>
            <a:r>
              <a:rPr lang="en-US" sz="2400" b="1" dirty="0">
                <a:solidFill>
                  <a:schemeClr val="accent1"/>
                </a:solidFill>
              </a:rPr>
              <a:t>➜</a:t>
            </a:r>
            <a:endParaRPr lang="en-US" sz="2400" dirty="0"/>
          </a:p>
        </p:txBody>
      </p:sp>
      <p:sp>
        <p:nvSpPr>
          <p:cNvPr id="17" name="Shape 14"/>
          <p:cNvSpPr/>
          <p:nvPr/>
        </p:nvSpPr>
        <p:spPr>
          <a:xfrm>
            <a:off x="6400800" y="2743200"/>
            <a:ext cx="5257800" cy="1005840"/>
          </a:xfrm>
          <a:prstGeom prst="rect">
            <a:avLst/>
          </a:prstGeom>
          <a:solidFill>
            <a:schemeClr val="bg1"/>
          </a:solidFill>
          <a:ln/>
          <a:effectLst>
            <a:outerShdw blurRad="76200" dist="25400" dir="5400000" algn="bl" rotWithShape="0">
              <a:srgbClr val="000000">
                <a:alpha val="12000"/>
              </a:srgbClr>
            </a:outerShdw>
          </a:effectLst>
        </p:spPr>
      </p:sp>
      <p:sp>
        <p:nvSpPr>
          <p:cNvPr id="18" name="Text 15"/>
          <p:cNvSpPr txBox="1"/>
          <p:nvPr/>
        </p:nvSpPr>
        <p:spPr>
          <a:xfrm>
            <a:off x="6583680" y="2743200"/>
            <a:ext cx="4892040" cy="1005840"/>
          </a:xfrm>
          <a:prstGeom prst="rect">
            <a:avLst/>
          </a:prstGeom>
          <a:noFill/>
          <a:ln/>
        </p:spPr>
        <p:txBody>
          <a:bodyPr wrap="square" lIns="0" tIns="0" rIns="0" bIns="0" rtlCol="0" anchor="ctr"/>
          <a:lstStyle/>
          <a:p>
            <a:pPr marL="0" indent="0">
              <a:buNone/>
            </a:pPr>
            <a:r>
              <a:rPr lang="en-US" b="1" dirty="0">
                <a:solidFill>
                  <a:schemeClr val="tx1"/>
                </a:solidFill>
              </a:rPr>
              <a:t>✅  Green sea turtles are endangered marine reptiles that live in warm tropical seas</a:t>
            </a:r>
            <a:r>
              <a:rPr lang="en-US" b="1" dirty="0">
                <a:solidFill>
                  <a:schemeClr val="tx1"/>
                </a:solidFill>
                <a:highlight>
                  <a:srgbClr val="FFFF00"/>
                </a:highlight>
              </a:rPr>
              <a:t>. It is important to know about them </a:t>
            </a:r>
            <a:r>
              <a:rPr lang="en-US" b="1" dirty="0">
                <a:solidFill>
                  <a:schemeClr val="tx1"/>
                </a:solidFill>
              </a:rPr>
              <a:t>because they keep seagrass beds healthy.</a:t>
            </a:r>
            <a:endParaRPr lang="en-US" dirty="0"/>
          </a:p>
        </p:txBody>
      </p:sp>
      <p:sp>
        <p:nvSpPr>
          <p:cNvPr id="19" name="Shape 16"/>
          <p:cNvSpPr/>
          <p:nvPr/>
        </p:nvSpPr>
        <p:spPr>
          <a:xfrm>
            <a:off x="548640" y="3886200"/>
            <a:ext cx="5212080" cy="1005840"/>
          </a:xfrm>
          <a:prstGeom prst="rect">
            <a:avLst/>
          </a:prstGeom>
          <a:solidFill>
            <a:schemeClr val="bg1"/>
          </a:solidFill>
          <a:ln/>
          <a:effectLst>
            <a:outerShdw blurRad="76200" dist="25400" dir="5400000" algn="bl" rotWithShape="0">
              <a:srgbClr val="000000">
                <a:alpha val="12000"/>
              </a:srgbClr>
            </a:outerShdw>
          </a:effectLst>
        </p:spPr>
      </p:sp>
      <p:sp>
        <p:nvSpPr>
          <p:cNvPr id="20" name="Text 17"/>
          <p:cNvSpPr txBox="1"/>
          <p:nvPr/>
        </p:nvSpPr>
        <p:spPr>
          <a:xfrm>
            <a:off x="731520" y="3886200"/>
            <a:ext cx="4846320" cy="1005840"/>
          </a:xfrm>
          <a:prstGeom prst="rect">
            <a:avLst/>
          </a:prstGeom>
          <a:noFill/>
          <a:ln/>
        </p:spPr>
        <p:txBody>
          <a:bodyPr wrap="square" lIns="0" tIns="0" rIns="0" bIns="0" rtlCol="0" anchor="ctr"/>
          <a:lstStyle/>
          <a:p>
            <a:pPr marL="0" indent="0">
              <a:buNone/>
            </a:pPr>
            <a:r>
              <a:rPr lang="en-US" sz="1200" b="1" dirty="0">
                <a:solidFill>
                  <a:schemeClr val="accent3"/>
                </a:solidFill>
              </a:rPr>
              <a:t>YASSIN   </a:t>
            </a:r>
            <a:endParaRPr lang="en-US" sz="1200" dirty="0"/>
          </a:p>
          <a:p>
            <a:pPr marL="0" indent="0">
              <a:buNone/>
            </a:pPr>
            <a:r>
              <a:rPr lang="en-US" i="1" dirty="0">
                <a:solidFill>
                  <a:schemeClr val="tx1"/>
                </a:solidFill>
              </a:rPr>
              <a:t>❌  The blue whale is a largest animal in the world and lives in the oceans.</a:t>
            </a:r>
            <a:endParaRPr lang="en-US" dirty="0"/>
          </a:p>
        </p:txBody>
      </p:sp>
      <p:sp>
        <p:nvSpPr>
          <p:cNvPr id="21" name="Text 18"/>
          <p:cNvSpPr txBox="1"/>
          <p:nvPr/>
        </p:nvSpPr>
        <p:spPr>
          <a:xfrm>
            <a:off x="5806440" y="3886200"/>
            <a:ext cx="548640" cy="1005840"/>
          </a:xfrm>
          <a:prstGeom prst="rect">
            <a:avLst/>
          </a:prstGeom>
          <a:noFill/>
          <a:ln/>
        </p:spPr>
        <p:txBody>
          <a:bodyPr wrap="square" lIns="0" tIns="0" rIns="0" bIns="0" rtlCol="0" anchor="ctr"/>
          <a:lstStyle/>
          <a:p>
            <a:pPr marL="0" indent="0" algn="ctr">
              <a:buNone/>
            </a:pPr>
            <a:r>
              <a:rPr lang="en-US" sz="2400" b="1" dirty="0">
                <a:solidFill>
                  <a:schemeClr val="accent1"/>
                </a:solidFill>
              </a:rPr>
              <a:t>➜</a:t>
            </a:r>
            <a:endParaRPr lang="en-US" sz="2400" dirty="0"/>
          </a:p>
        </p:txBody>
      </p:sp>
      <p:sp>
        <p:nvSpPr>
          <p:cNvPr id="22" name="Shape 19"/>
          <p:cNvSpPr/>
          <p:nvPr/>
        </p:nvSpPr>
        <p:spPr>
          <a:xfrm>
            <a:off x="6400800" y="3886200"/>
            <a:ext cx="5257800" cy="1005840"/>
          </a:xfrm>
          <a:prstGeom prst="rect">
            <a:avLst/>
          </a:prstGeom>
          <a:solidFill>
            <a:schemeClr val="bg1"/>
          </a:solidFill>
          <a:ln/>
          <a:effectLst>
            <a:outerShdw blurRad="76200" dist="25400" dir="5400000" algn="bl" rotWithShape="0">
              <a:srgbClr val="000000">
                <a:alpha val="12000"/>
              </a:srgbClr>
            </a:outerShdw>
          </a:effectLst>
        </p:spPr>
      </p:sp>
      <p:sp>
        <p:nvSpPr>
          <p:cNvPr id="23" name="Text 20"/>
          <p:cNvSpPr txBox="1"/>
          <p:nvPr/>
        </p:nvSpPr>
        <p:spPr>
          <a:xfrm>
            <a:off x="6583680" y="3886200"/>
            <a:ext cx="4892040" cy="1005840"/>
          </a:xfrm>
          <a:prstGeom prst="rect">
            <a:avLst/>
          </a:prstGeom>
          <a:noFill/>
          <a:ln/>
        </p:spPr>
        <p:txBody>
          <a:bodyPr wrap="square" lIns="0" tIns="0" rIns="0" bIns="0" rtlCol="0" anchor="ctr"/>
          <a:lstStyle/>
          <a:p>
            <a:pPr marL="0" indent="0">
              <a:buNone/>
            </a:pPr>
            <a:r>
              <a:rPr lang="en-US" b="1" dirty="0">
                <a:solidFill>
                  <a:schemeClr val="tx1"/>
                </a:solidFill>
              </a:rPr>
              <a:t>✅  The blue whale is the largest animal in the world. </a:t>
            </a:r>
            <a:r>
              <a:rPr lang="en-US" b="1" dirty="0">
                <a:solidFill>
                  <a:schemeClr val="tx1"/>
                </a:solidFill>
                <a:highlight>
                  <a:srgbClr val="FFFF00"/>
                </a:highlight>
              </a:rPr>
              <a:t>It is important to know about </a:t>
            </a:r>
            <a:r>
              <a:rPr lang="en-US" b="1" dirty="0">
                <a:solidFill>
                  <a:schemeClr val="tx1"/>
                </a:solidFill>
              </a:rPr>
              <a:t>blue whales because they are endangered.</a:t>
            </a:r>
            <a:endParaRPr lang="en-US" dirty="0"/>
          </a:p>
        </p:txBody>
      </p:sp>
      <p:sp>
        <p:nvSpPr>
          <p:cNvPr id="24" name="Shape 21"/>
          <p:cNvSpPr/>
          <p:nvPr/>
        </p:nvSpPr>
        <p:spPr>
          <a:xfrm>
            <a:off x="548640" y="5029200"/>
            <a:ext cx="5212080" cy="1005840"/>
          </a:xfrm>
          <a:prstGeom prst="rect">
            <a:avLst/>
          </a:prstGeom>
          <a:solidFill>
            <a:schemeClr val="bg1"/>
          </a:solidFill>
          <a:ln/>
          <a:effectLst>
            <a:outerShdw blurRad="76200" dist="25400" dir="5400000" algn="bl" rotWithShape="0">
              <a:srgbClr val="000000">
                <a:alpha val="12000"/>
              </a:srgbClr>
            </a:outerShdw>
          </a:effectLst>
        </p:spPr>
      </p:sp>
      <p:sp>
        <p:nvSpPr>
          <p:cNvPr id="25" name="Text 22"/>
          <p:cNvSpPr txBox="1"/>
          <p:nvPr/>
        </p:nvSpPr>
        <p:spPr>
          <a:xfrm>
            <a:off x="731520" y="5029200"/>
            <a:ext cx="4846320" cy="1005840"/>
          </a:xfrm>
          <a:prstGeom prst="rect">
            <a:avLst/>
          </a:prstGeom>
          <a:noFill/>
          <a:ln/>
        </p:spPr>
        <p:txBody>
          <a:bodyPr wrap="square" lIns="0" tIns="0" rIns="0" bIns="0" rtlCol="0" anchor="ctr"/>
          <a:lstStyle/>
          <a:p>
            <a:pPr marL="0" indent="0">
              <a:buNone/>
            </a:pPr>
            <a:r>
              <a:rPr lang="en-US" sz="1200" b="1" dirty="0">
                <a:solidFill>
                  <a:schemeClr val="accent3"/>
                </a:solidFill>
              </a:rPr>
              <a:t>BEKHIT   </a:t>
            </a:r>
            <a:endParaRPr lang="en-US" sz="1200" dirty="0"/>
          </a:p>
          <a:p>
            <a:pPr marL="0" indent="0">
              <a:buNone/>
            </a:pPr>
            <a:r>
              <a:rPr lang="en-US" i="1" dirty="0">
                <a:solidFill>
                  <a:schemeClr val="tx1"/>
                </a:solidFill>
              </a:rPr>
              <a:t>❌  (no introduction: starts “The farest animal is Liyon…”)</a:t>
            </a:r>
            <a:endParaRPr lang="en-US" dirty="0"/>
          </a:p>
        </p:txBody>
      </p:sp>
      <p:sp>
        <p:nvSpPr>
          <p:cNvPr id="26" name="Text 23"/>
          <p:cNvSpPr txBox="1"/>
          <p:nvPr/>
        </p:nvSpPr>
        <p:spPr>
          <a:xfrm>
            <a:off x="5806440" y="5029200"/>
            <a:ext cx="548640" cy="1005840"/>
          </a:xfrm>
          <a:prstGeom prst="rect">
            <a:avLst/>
          </a:prstGeom>
          <a:noFill/>
          <a:ln/>
        </p:spPr>
        <p:txBody>
          <a:bodyPr wrap="square" lIns="0" tIns="0" rIns="0" bIns="0" rtlCol="0" anchor="ctr"/>
          <a:lstStyle/>
          <a:p>
            <a:pPr marL="0" indent="0" algn="ctr">
              <a:buNone/>
            </a:pPr>
            <a:r>
              <a:rPr lang="en-US" sz="2400" b="1" dirty="0">
                <a:solidFill>
                  <a:schemeClr val="accent1"/>
                </a:solidFill>
              </a:rPr>
              <a:t>➜</a:t>
            </a:r>
            <a:endParaRPr lang="en-US" sz="2400" dirty="0"/>
          </a:p>
        </p:txBody>
      </p:sp>
      <p:sp>
        <p:nvSpPr>
          <p:cNvPr id="27" name="Shape 24"/>
          <p:cNvSpPr/>
          <p:nvPr/>
        </p:nvSpPr>
        <p:spPr>
          <a:xfrm>
            <a:off x="6400800" y="5029200"/>
            <a:ext cx="5257800" cy="1005840"/>
          </a:xfrm>
          <a:prstGeom prst="rect">
            <a:avLst/>
          </a:prstGeom>
          <a:solidFill>
            <a:schemeClr val="bg1"/>
          </a:solidFill>
          <a:ln/>
          <a:effectLst>
            <a:outerShdw blurRad="76200" dist="25400" dir="5400000" algn="bl" rotWithShape="0">
              <a:srgbClr val="000000">
                <a:alpha val="12000"/>
              </a:srgbClr>
            </a:outerShdw>
          </a:effectLst>
        </p:spPr>
      </p:sp>
      <p:sp>
        <p:nvSpPr>
          <p:cNvPr id="28" name="Text 25"/>
          <p:cNvSpPr txBox="1"/>
          <p:nvPr/>
        </p:nvSpPr>
        <p:spPr>
          <a:xfrm>
            <a:off x="6583680" y="5029200"/>
            <a:ext cx="4892040" cy="1005840"/>
          </a:xfrm>
          <a:prstGeom prst="rect">
            <a:avLst/>
          </a:prstGeom>
          <a:noFill/>
          <a:ln/>
        </p:spPr>
        <p:txBody>
          <a:bodyPr wrap="square" lIns="0" tIns="0" rIns="0" bIns="0" rtlCol="0" anchor="ctr"/>
          <a:lstStyle/>
          <a:p>
            <a:pPr marL="0" indent="0">
              <a:buNone/>
            </a:pPr>
            <a:r>
              <a:rPr lang="en-US" b="1" dirty="0">
                <a:solidFill>
                  <a:schemeClr val="tx1"/>
                </a:solidFill>
              </a:rPr>
              <a:t>✅  The lion is a large cat that lives in the African savannas. </a:t>
            </a:r>
            <a:r>
              <a:rPr lang="en-US" b="1" dirty="0">
                <a:solidFill>
                  <a:schemeClr val="tx1"/>
                </a:solidFill>
                <a:highlight>
                  <a:srgbClr val="FFFF00"/>
                </a:highlight>
              </a:rPr>
              <a:t>It is important to know about </a:t>
            </a:r>
            <a:r>
              <a:rPr lang="en-US" b="1" dirty="0">
                <a:solidFill>
                  <a:schemeClr val="tx1"/>
                </a:solidFill>
              </a:rPr>
              <a:t>lions because they are top predators.</a:t>
            </a:r>
            <a:endParaRPr lang="en-US" dirty="0"/>
          </a:p>
        </p:txBody>
      </p:sp>
      <p:sp>
        <p:nvSpPr>
          <p:cNvPr id="29" name="Text 26"/>
          <p:cNvSpPr txBox="1"/>
          <p:nvPr/>
        </p:nvSpPr>
        <p:spPr>
          <a:xfrm>
            <a:off x="548640" y="5989320"/>
            <a:ext cx="11094415" cy="502920"/>
          </a:xfrm>
          <a:prstGeom prst="rect">
            <a:avLst/>
          </a:prstGeom>
          <a:solidFill>
            <a:schemeClr val="tx1"/>
          </a:solidFill>
          <a:ln/>
        </p:spPr>
        <p:txBody>
          <a:bodyPr wrap="square" lIns="1270" tIns="1270" rIns="1270" bIns="1270" rtlCol="0" anchor="ctr"/>
          <a:lstStyle/>
          <a:p>
            <a:pPr marL="0" indent="0" algn="ctr">
              <a:buNone/>
            </a:pPr>
            <a:r>
              <a:rPr lang="en-US" sz="2400" b="1" dirty="0">
                <a:solidFill>
                  <a:schemeClr val="bg1"/>
                </a:solidFill>
              </a:rPr>
              <a:t>WHAT it is + WHY it is important to know about it</a:t>
            </a:r>
            <a:endParaRPr lang="en-US"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0"/>
            <a:ext cx="9326880" cy="822960"/>
          </a:xfrm>
          <a:prstGeom prst="rect">
            <a:avLst/>
          </a:prstGeom>
          <a:noFill/>
          <a:ln/>
        </p:spPr>
        <p:txBody>
          <a:bodyPr wrap="square" lIns="0" tIns="0" rIns="0" bIns="0" rtlCol="0" anchor="ctr"/>
          <a:lstStyle/>
          <a:p>
            <a:pPr marL="0" indent="0" algn="l">
              <a:buNone/>
            </a:pPr>
            <a:r>
              <a:rPr lang="en-US" sz="2600" b="1" dirty="0">
                <a:solidFill>
                  <a:schemeClr val="bg1"/>
                </a:solidFill>
                <a:latin typeface="+mj-lt" pitchFamily="34" charset="0"/>
                <a:ea typeface="+mj-lt" pitchFamily="34" charset="-122"/>
                <a:cs typeface="+mj-lt" pitchFamily="34" charset="-120"/>
              </a:rPr>
              <a:t>Fix 4: an ending that gives a reason</a:t>
            </a:r>
            <a:endParaRPr lang="en-US" sz="2600" dirty="0"/>
          </a:p>
        </p:txBody>
      </p:sp>
      <p:sp>
        <p:nvSpPr>
          <p:cNvPr id="3" name="Tag"/>
          <p:cNvSpPr txBox="1"/>
          <p:nvPr/>
        </p:nvSpPr>
        <p:spPr>
          <a:xfrm>
            <a:off x="10332720" y="256032"/>
            <a:ext cx="1463040" cy="310896"/>
          </a:xfrm>
          <a:prstGeom prst="rect">
            <a:avLst/>
          </a:prstGeom>
          <a:solidFill>
            <a:schemeClr val="accent2"/>
          </a:solidFill>
          <a:ln/>
        </p:spPr>
        <p:txBody>
          <a:bodyPr wrap="square" lIns="0" tIns="0" rIns="0" bIns="0" rtlCol="0" anchor="ctr"/>
          <a:lstStyle/>
          <a:p>
            <a:pPr marL="0" indent="0" algn="ctr">
              <a:buNone/>
            </a:pPr>
            <a:r>
              <a:rPr lang="en-US" sz="1100" b="1" dirty="0">
                <a:solidFill>
                  <a:schemeClr val="tx1"/>
                </a:solidFill>
              </a:rPr>
              <a:t>FIX IT</a:t>
            </a:r>
            <a:endParaRPr lang="en-US" sz="1100" dirty="0"/>
          </a:p>
        </p:txBody>
      </p:sp>
      <p:sp>
        <p:nvSpPr>
          <p:cNvPr id="5" name="Shape 2"/>
          <p:cNvSpPr/>
          <p:nvPr/>
        </p:nvSpPr>
        <p:spPr>
          <a:xfrm>
            <a:off x="548640" y="1097280"/>
            <a:ext cx="5212080" cy="411480"/>
          </a:xfrm>
          <a:prstGeom prst="rect">
            <a:avLst/>
          </a:prstGeom>
          <a:solidFill>
            <a:schemeClr val="accent3"/>
          </a:solidFill>
          <a:ln/>
        </p:spPr>
      </p:sp>
      <p:sp>
        <p:nvSpPr>
          <p:cNvPr id="6" name="Text 3"/>
          <p:cNvSpPr txBox="1"/>
          <p:nvPr/>
        </p:nvSpPr>
        <p:spPr>
          <a:xfrm>
            <a:off x="676656" y="1097280"/>
            <a:ext cx="5029200" cy="411480"/>
          </a:xfrm>
          <a:prstGeom prst="rect">
            <a:avLst/>
          </a:prstGeom>
          <a:noFill/>
          <a:ln/>
        </p:spPr>
        <p:txBody>
          <a:bodyPr wrap="square" lIns="0" tIns="0" rIns="0" bIns="0" rtlCol="0" anchor="ctr"/>
          <a:lstStyle/>
          <a:p>
            <a:pPr marL="0" indent="0">
              <a:buNone/>
            </a:pPr>
            <a:r>
              <a:rPr lang="en-US" sz="1400" b="1" dirty="0">
                <a:solidFill>
                  <a:schemeClr val="bg1"/>
                </a:solidFill>
              </a:rPr>
              <a:t>FROM YOUR PLANS</a:t>
            </a:r>
            <a:endParaRPr lang="en-US" sz="1400" dirty="0"/>
          </a:p>
        </p:txBody>
      </p:sp>
      <p:sp>
        <p:nvSpPr>
          <p:cNvPr id="7" name="Shape 4"/>
          <p:cNvSpPr/>
          <p:nvPr/>
        </p:nvSpPr>
        <p:spPr>
          <a:xfrm>
            <a:off x="6400800" y="1097280"/>
            <a:ext cx="5257800" cy="411480"/>
          </a:xfrm>
          <a:prstGeom prst="rect">
            <a:avLst/>
          </a:prstGeom>
          <a:solidFill>
            <a:schemeClr val="accent1"/>
          </a:solidFill>
          <a:ln/>
        </p:spPr>
      </p:sp>
      <p:sp>
        <p:nvSpPr>
          <p:cNvPr id="8" name="Text 5"/>
          <p:cNvSpPr txBox="1"/>
          <p:nvPr/>
        </p:nvSpPr>
        <p:spPr>
          <a:xfrm>
            <a:off x="6528816" y="1097280"/>
            <a:ext cx="5029200" cy="411480"/>
          </a:xfrm>
          <a:prstGeom prst="rect">
            <a:avLst/>
          </a:prstGeom>
          <a:noFill/>
          <a:ln/>
        </p:spPr>
        <p:txBody>
          <a:bodyPr wrap="square" lIns="0" tIns="0" rIns="0" bIns="0" rtlCol="0" anchor="ctr"/>
          <a:lstStyle/>
          <a:p>
            <a:pPr marL="0" indent="0">
              <a:buNone/>
            </a:pPr>
            <a:r>
              <a:rPr lang="en-US" sz="1400" b="1" dirty="0">
                <a:solidFill>
                  <a:schemeClr val="bg1"/>
                </a:solidFill>
              </a:rPr>
              <a:t>BETTER VERSION</a:t>
            </a:r>
            <a:endParaRPr lang="en-US" sz="1400" dirty="0"/>
          </a:p>
        </p:txBody>
      </p:sp>
      <p:sp>
        <p:nvSpPr>
          <p:cNvPr id="9" name="Shape 6"/>
          <p:cNvSpPr/>
          <p:nvPr/>
        </p:nvSpPr>
        <p:spPr>
          <a:xfrm>
            <a:off x="548640" y="1600200"/>
            <a:ext cx="5212080" cy="1005840"/>
          </a:xfrm>
          <a:prstGeom prst="rect">
            <a:avLst/>
          </a:prstGeom>
          <a:solidFill>
            <a:schemeClr val="bg1"/>
          </a:solidFill>
          <a:ln/>
          <a:effectLst>
            <a:outerShdw blurRad="76200" dist="25400" dir="5400000" algn="bl" rotWithShape="0">
              <a:srgbClr val="000000">
                <a:alpha val="12000"/>
              </a:srgbClr>
            </a:outerShdw>
          </a:effectLst>
        </p:spPr>
      </p:sp>
      <p:sp>
        <p:nvSpPr>
          <p:cNvPr id="10" name="Text 7"/>
          <p:cNvSpPr txBox="1"/>
          <p:nvPr/>
        </p:nvSpPr>
        <p:spPr>
          <a:xfrm>
            <a:off x="731520" y="1600200"/>
            <a:ext cx="4846320" cy="1005840"/>
          </a:xfrm>
          <a:prstGeom prst="rect">
            <a:avLst/>
          </a:prstGeom>
          <a:noFill/>
          <a:ln/>
        </p:spPr>
        <p:txBody>
          <a:bodyPr wrap="square" lIns="0" tIns="0" rIns="0" bIns="0" rtlCol="0" anchor="ctr"/>
          <a:lstStyle/>
          <a:p>
            <a:pPr marL="0" indent="0">
              <a:buNone/>
            </a:pPr>
            <a:r>
              <a:rPr lang="en-US" sz="1200" b="1" dirty="0">
                <a:solidFill>
                  <a:schemeClr val="accent3"/>
                </a:solidFill>
              </a:rPr>
              <a:t>MOSTAFA   </a:t>
            </a:r>
            <a:endParaRPr lang="en-US" sz="1200" dirty="0"/>
          </a:p>
          <a:p>
            <a:pPr marL="0" indent="0">
              <a:buNone/>
            </a:pPr>
            <a:r>
              <a:rPr lang="en-US" sz="2000" i="1" dirty="0">
                <a:solidFill>
                  <a:schemeClr val="tx1"/>
                </a:solidFill>
              </a:rPr>
              <a:t>❌  protecting seatortles matter because the are an animal</a:t>
            </a:r>
            <a:endParaRPr lang="en-US" sz="2000" dirty="0"/>
          </a:p>
        </p:txBody>
      </p:sp>
      <p:sp>
        <p:nvSpPr>
          <p:cNvPr id="11" name="Text 8"/>
          <p:cNvSpPr txBox="1"/>
          <p:nvPr/>
        </p:nvSpPr>
        <p:spPr>
          <a:xfrm>
            <a:off x="5806440" y="1600200"/>
            <a:ext cx="548640" cy="1005840"/>
          </a:xfrm>
          <a:prstGeom prst="rect">
            <a:avLst/>
          </a:prstGeom>
          <a:noFill/>
          <a:ln/>
        </p:spPr>
        <p:txBody>
          <a:bodyPr wrap="square" lIns="0" tIns="0" rIns="0" bIns="0" rtlCol="0" anchor="ctr"/>
          <a:lstStyle/>
          <a:p>
            <a:pPr marL="0" indent="0" algn="ctr">
              <a:buNone/>
            </a:pPr>
            <a:r>
              <a:rPr lang="en-US" sz="2400" b="1" dirty="0">
                <a:solidFill>
                  <a:schemeClr val="accent1"/>
                </a:solidFill>
              </a:rPr>
              <a:t>➜</a:t>
            </a:r>
            <a:endParaRPr lang="en-US" sz="2400" dirty="0"/>
          </a:p>
        </p:txBody>
      </p:sp>
      <p:sp>
        <p:nvSpPr>
          <p:cNvPr id="12" name="Shape 9"/>
          <p:cNvSpPr/>
          <p:nvPr/>
        </p:nvSpPr>
        <p:spPr>
          <a:xfrm>
            <a:off x="6400800" y="1600200"/>
            <a:ext cx="5257800" cy="1005840"/>
          </a:xfrm>
          <a:prstGeom prst="rect">
            <a:avLst/>
          </a:prstGeom>
          <a:solidFill>
            <a:schemeClr val="bg1"/>
          </a:solidFill>
          <a:ln/>
          <a:effectLst>
            <a:outerShdw blurRad="76200" dist="25400" dir="5400000" algn="bl" rotWithShape="0">
              <a:srgbClr val="000000">
                <a:alpha val="12000"/>
              </a:srgbClr>
            </a:outerShdw>
          </a:effectLst>
        </p:spPr>
      </p:sp>
      <p:sp>
        <p:nvSpPr>
          <p:cNvPr id="13" name="Text 10"/>
          <p:cNvSpPr txBox="1"/>
          <p:nvPr/>
        </p:nvSpPr>
        <p:spPr>
          <a:xfrm>
            <a:off x="6583680" y="1600200"/>
            <a:ext cx="4892040" cy="1005840"/>
          </a:xfrm>
          <a:prstGeom prst="rect">
            <a:avLst/>
          </a:prstGeom>
          <a:noFill/>
          <a:ln/>
        </p:spPr>
        <p:txBody>
          <a:bodyPr wrap="square" lIns="0" tIns="0" rIns="0" bIns="0" rtlCol="0" anchor="ctr"/>
          <a:lstStyle/>
          <a:p>
            <a:pPr marL="0" indent="0">
              <a:buNone/>
            </a:pPr>
            <a:r>
              <a:rPr lang="en-US" b="1" dirty="0">
                <a:solidFill>
                  <a:schemeClr val="tx1"/>
                </a:solidFill>
              </a:rPr>
              <a:t>✅  </a:t>
            </a:r>
            <a:r>
              <a:rPr lang="en-US" b="1" dirty="0">
                <a:solidFill>
                  <a:schemeClr val="tx1"/>
                </a:solidFill>
                <a:highlight>
                  <a:srgbClr val="FFFF00"/>
                </a:highlight>
              </a:rPr>
              <a:t>Protecting sea turtles matters because </a:t>
            </a:r>
            <a:r>
              <a:rPr lang="en-US" b="1" dirty="0">
                <a:solidFill>
                  <a:schemeClr val="tx1"/>
                </a:solidFill>
              </a:rPr>
              <a:t>they keep the ocean clean, and a clean ocean supports many other animals.</a:t>
            </a:r>
            <a:endParaRPr lang="en-US" dirty="0"/>
          </a:p>
        </p:txBody>
      </p:sp>
      <p:sp>
        <p:nvSpPr>
          <p:cNvPr id="14" name="Shape 11"/>
          <p:cNvSpPr/>
          <p:nvPr/>
        </p:nvSpPr>
        <p:spPr>
          <a:xfrm>
            <a:off x="548640" y="2743200"/>
            <a:ext cx="5212080" cy="1005840"/>
          </a:xfrm>
          <a:prstGeom prst="rect">
            <a:avLst/>
          </a:prstGeom>
          <a:solidFill>
            <a:schemeClr val="bg1"/>
          </a:solidFill>
          <a:ln/>
          <a:effectLst>
            <a:outerShdw blurRad="76200" dist="25400" dir="5400000" algn="bl" rotWithShape="0">
              <a:srgbClr val="000000">
                <a:alpha val="12000"/>
              </a:srgbClr>
            </a:outerShdw>
          </a:effectLst>
        </p:spPr>
      </p:sp>
      <p:sp>
        <p:nvSpPr>
          <p:cNvPr id="15" name="Text 12"/>
          <p:cNvSpPr txBox="1"/>
          <p:nvPr/>
        </p:nvSpPr>
        <p:spPr>
          <a:xfrm>
            <a:off x="731520" y="2743200"/>
            <a:ext cx="4846320" cy="1005840"/>
          </a:xfrm>
          <a:prstGeom prst="rect">
            <a:avLst/>
          </a:prstGeom>
          <a:noFill/>
          <a:ln/>
        </p:spPr>
        <p:txBody>
          <a:bodyPr wrap="square" lIns="0" tIns="0" rIns="0" bIns="0" rtlCol="0" anchor="ctr"/>
          <a:lstStyle/>
          <a:p>
            <a:pPr marL="0" indent="0">
              <a:buNone/>
            </a:pPr>
            <a:r>
              <a:rPr lang="en-US" sz="1200" b="1" dirty="0">
                <a:solidFill>
                  <a:schemeClr val="accent3"/>
                </a:solidFill>
              </a:rPr>
              <a:t>RENAD   </a:t>
            </a:r>
            <a:endParaRPr lang="en-US" sz="1200" dirty="0"/>
          </a:p>
          <a:p>
            <a:pPr marL="0" indent="0">
              <a:buNone/>
            </a:pPr>
            <a:r>
              <a:rPr lang="en-US" i="1" dirty="0">
                <a:solidFill>
                  <a:schemeClr val="tx1"/>
                </a:solidFill>
              </a:rPr>
              <a:t>❌  As a result, the green sea turtles can swim and survive in the oceans</a:t>
            </a:r>
            <a:endParaRPr lang="en-US" dirty="0"/>
          </a:p>
        </p:txBody>
      </p:sp>
      <p:sp>
        <p:nvSpPr>
          <p:cNvPr id="16" name="Text 13"/>
          <p:cNvSpPr txBox="1"/>
          <p:nvPr/>
        </p:nvSpPr>
        <p:spPr>
          <a:xfrm>
            <a:off x="5806440" y="2743200"/>
            <a:ext cx="548640" cy="1005840"/>
          </a:xfrm>
          <a:prstGeom prst="rect">
            <a:avLst/>
          </a:prstGeom>
          <a:noFill/>
          <a:ln/>
        </p:spPr>
        <p:txBody>
          <a:bodyPr wrap="square" lIns="0" tIns="0" rIns="0" bIns="0" rtlCol="0" anchor="ctr"/>
          <a:lstStyle/>
          <a:p>
            <a:pPr marL="0" indent="0" algn="ctr">
              <a:buNone/>
            </a:pPr>
            <a:r>
              <a:rPr lang="en-US" sz="2400" b="1" dirty="0">
                <a:solidFill>
                  <a:schemeClr val="accent1"/>
                </a:solidFill>
              </a:rPr>
              <a:t>➜</a:t>
            </a:r>
            <a:endParaRPr lang="en-US" sz="2400" dirty="0"/>
          </a:p>
        </p:txBody>
      </p:sp>
      <p:sp>
        <p:nvSpPr>
          <p:cNvPr id="17" name="Shape 14"/>
          <p:cNvSpPr/>
          <p:nvPr/>
        </p:nvSpPr>
        <p:spPr>
          <a:xfrm>
            <a:off x="6400800" y="2743200"/>
            <a:ext cx="5257800" cy="1005840"/>
          </a:xfrm>
          <a:prstGeom prst="rect">
            <a:avLst/>
          </a:prstGeom>
          <a:solidFill>
            <a:schemeClr val="bg1"/>
          </a:solidFill>
          <a:ln/>
          <a:effectLst>
            <a:outerShdw blurRad="76200" dist="25400" dir="5400000" algn="bl" rotWithShape="0">
              <a:srgbClr val="000000">
                <a:alpha val="12000"/>
              </a:srgbClr>
            </a:outerShdw>
          </a:effectLst>
        </p:spPr>
      </p:sp>
      <p:sp>
        <p:nvSpPr>
          <p:cNvPr id="18" name="Text 15"/>
          <p:cNvSpPr txBox="1"/>
          <p:nvPr/>
        </p:nvSpPr>
        <p:spPr>
          <a:xfrm>
            <a:off x="6583680" y="2743200"/>
            <a:ext cx="4892040" cy="1005840"/>
          </a:xfrm>
          <a:prstGeom prst="rect">
            <a:avLst/>
          </a:prstGeom>
          <a:noFill/>
          <a:ln/>
        </p:spPr>
        <p:txBody>
          <a:bodyPr wrap="square" lIns="0" tIns="0" rIns="0" bIns="0" rtlCol="0" anchor="ctr"/>
          <a:lstStyle/>
          <a:p>
            <a:pPr marL="0" indent="0">
              <a:buNone/>
            </a:pPr>
            <a:r>
              <a:rPr lang="en-US" b="1" dirty="0">
                <a:solidFill>
                  <a:schemeClr val="tx1"/>
                </a:solidFill>
              </a:rPr>
              <a:t>✅  </a:t>
            </a:r>
            <a:r>
              <a:rPr lang="en-US" b="1" dirty="0">
                <a:solidFill>
                  <a:schemeClr val="tx1"/>
                </a:solidFill>
                <a:highlight>
                  <a:srgbClr val="FFFF00"/>
                </a:highlight>
              </a:rPr>
              <a:t>Protecting green sea turtles matters because </a:t>
            </a:r>
            <a:r>
              <a:rPr lang="en-US" b="1" dirty="0">
                <a:solidFill>
                  <a:schemeClr val="tx1"/>
                </a:solidFill>
              </a:rPr>
              <a:t>they keep seagrass beds healthy, which helps many other sea animals.</a:t>
            </a:r>
            <a:endParaRPr lang="en-US" dirty="0"/>
          </a:p>
        </p:txBody>
      </p:sp>
      <p:sp>
        <p:nvSpPr>
          <p:cNvPr id="19" name="Shape 16"/>
          <p:cNvSpPr/>
          <p:nvPr/>
        </p:nvSpPr>
        <p:spPr>
          <a:xfrm>
            <a:off x="548640" y="3886200"/>
            <a:ext cx="5212080" cy="1005840"/>
          </a:xfrm>
          <a:prstGeom prst="rect">
            <a:avLst/>
          </a:prstGeom>
          <a:solidFill>
            <a:schemeClr val="bg1"/>
          </a:solidFill>
          <a:ln/>
          <a:effectLst>
            <a:outerShdw blurRad="76200" dist="25400" dir="5400000" algn="bl" rotWithShape="0">
              <a:srgbClr val="000000">
                <a:alpha val="12000"/>
              </a:srgbClr>
            </a:outerShdw>
          </a:effectLst>
        </p:spPr>
      </p:sp>
      <p:sp>
        <p:nvSpPr>
          <p:cNvPr id="20" name="Text 17"/>
          <p:cNvSpPr txBox="1"/>
          <p:nvPr/>
        </p:nvSpPr>
        <p:spPr>
          <a:xfrm>
            <a:off x="731520" y="3886200"/>
            <a:ext cx="4846320" cy="1005840"/>
          </a:xfrm>
          <a:prstGeom prst="rect">
            <a:avLst/>
          </a:prstGeom>
          <a:noFill/>
          <a:ln/>
        </p:spPr>
        <p:txBody>
          <a:bodyPr wrap="square" lIns="0" tIns="0" rIns="0" bIns="0" rtlCol="0" anchor="ctr"/>
          <a:lstStyle/>
          <a:p>
            <a:pPr marL="0" indent="0">
              <a:buNone/>
            </a:pPr>
            <a:r>
              <a:rPr lang="en-US" sz="1200" b="1" dirty="0">
                <a:solidFill>
                  <a:schemeClr val="accent3"/>
                </a:solidFill>
              </a:rPr>
              <a:t>MAWADDA   </a:t>
            </a:r>
            <a:endParaRPr lang="en-US" sz="1200" dirty="0"/>
          </a:p>
          <a:p>
            <a:pPr marL="0" indent="0">
              <a:buNone/>
            </a:pPr>
            <a:r>
              <a:rPr lang="en-US" i="1" dirty="0">
                <a:solidFill>
                  <a:schemeClr val="tx1"/>
                </a:solidFill>
              </a:rPr>
              <a:t>❌  Protecting giraffes is important so these amazing animals can survive.</a:t>
            </a:r>
            <a:endParaRPr lang="en-US" dirty="0"/>
          </a:p>
        </p:txBody>
      </p:sp>
      <p:sp>
        <p:nvSpPr>
          <p:cNvPr id="21" name="Text 18"/>
          <p:cNvSpPr txBox="1"/>
          <p:nvPr/>
        </p:nvSpPr>
        <p:spPr>
          <a:xfrm>
            <a:off x="5806440" y="3886200"/>
            <a:ext cx="548640" cy="1005840"/>
          </a:xfrm>
          <a:prstGeom prst="rect">
            <a:avLst/>
          </a:prstGeom>
          <a:noFill/>
          <a:ln/>
        </p:spPr>
        <p:txBody>
          <a:bodyPr wrap="square" lIns="0" tIns="0" rIns="0" bIns="0" rtlCol="0" anchor="ctr"/>
          <a:lstStyle/>
          <a:p>
            <a:pPr marL="0" indent="0" algn="ctr">
              <a:buNone/>
            </a:pPr>
            <a:r>
              <a:rPr lang="en-US" sz="2400" b="1" dirty="0">
                <a:solidFill>
                  <a:schemeClr val="accent1"/>
                </a:solidFill>
              </a:rPr>
              <a:t>➜</a:t>
            </a:r>
            <a:endParaRPr lang="en-US" sz="2400" dirty="0"/>
          </a:p>
        </p:txBody>
      </p:sp>
      <p:sp>
        <p:nvSpPr>
          <p:cNvPr id="22" name="Shape 19"/>
          <p:cNvSpPr/>
          <p:nvPr/>
        </p:nvSpPr>
        <p:spPr>
          <a:xfrm>
            <a:off x="6400800" y="3886200"/>
            <a:ext cx="5257800" cy="1005840"/>
          </a:xfrm>
          <a:prstGeom prst="rect">
            <a:avLst/>
          </a:prstGeom>
          <a:solidFill>
            <a:schemeClr val="bg1"/>
          </a:solidFill>
          <a:ln/>
          <a:effectLst>
            <a:outerShdw blurRad="76200" dist="25400" dir="5400000" algn="bl" rotWithShape="0">
              <a:srgbClr val="000000">
                <a:alpha val="12000"/>
              </a:srgbClr>
            </a:outerShdw>
          </a:effectLst>
        </p:spPr>
      </p:sp>
      <p:sp>
        <p:nvSpPr>
          <p:cNvPr id="23" name="Text 20"/>
          <p:cNvSpPr txBox="1"/>
          <p:nvPr/>
        </p:nvSpPr>
        <p:spPr>
          <a:xfrm>
            <a:off x="6583680" y="3886200"/>
            <a:ext cx="4892040" cy="1005840"/>
          </a:xfrm>
          <a:prstGeom prst="rect">
            <a:avLst/>
          </a:prstGeom>
          <a:noFill/>
          <a:ln/>
        </p:spPr>
        <p:txBody>
          <a:bodyPr wrap="square" lIns="0" tIns="0" rIns="0" bIns="0" rtlCol="0" anchor="ctr"/>
          <a:lstStyle/>
          <a:p>
            <a:pPr marL="0" indent="0">
              <a:buNone/>
            </a:pPr>
            <a:r>
              <a:rPr lang="en-US" b="1" dirty="0">
                <a:solidFill>
                  <a:schemeClr val="tx1"/>
                </a:solidFill>
              </a:rPr>
              <a:t>✅  </a:t>
            </a:r>
            <a:r>
              <a:rPr lang="en-US" b="1" dirty="0">
                <a:solidFill>
                  <a:schemeClr val="tx1"/>
                </a:solidFill>
                <a:highlight>
                  <a:srgbClr val="FFFF00"/>
                </a:highlight>
              </a:rPr>
              <a:t>Protecting giraffes matters because </a:t>
            </a:r>
            <a:r>
              <a:rPr lang="en-US" b="1" dirty="0">
                <a:solidFill>
                  <a:schemeClr val="tx1"/>
                </a:solidFill>
              </a:rPr>
              <a:t>they are the tallest animals on Earth. If they disappear, Africa will lose a unique animal.</a:t>
            </a:r>
            <a:endParaRPr lang="en-US" dirty="0"/>
          </a:p>
        </p:txBody>
      </p:sp>
      <p:sp>
        <p:nvSpPr>
          <p:cNvPr id="24" name="Shape 21"/>
          <p:cNvSpPr/>
          <p:nvPr/>
        </p:nvSpPr>
        <p:spPr>
          <a:xfrm>
            <a:off x="548640" y="5029200"/>
            <a:ext cx="5212080" cy="1005840"/>
          </a:xfrm>
          <a:prstGeom prst="rect">
            <a:avLst/>
          </a:prstGeom>
          <a:solidFill>
            <a:schemeClr val="bg1"/>
          </a:solidFill>
          <a:ln/>
          <a:effectLst>
            <a:outerShdw blurRad="76200" dist="25400" dir="5400000" algn="bl" rotWithShape="0">
              <a:srgbClr val="000000">
                <a:alpha val="12000"/>
              </a:srgbClr>
            </a:outerShdw>
          </a:effectLst>
        </p:spPr>
      </p:sp>
      <p:sp>
        <p:nvSpPr>
          <p:cNvPr id="25" name="Text 22"/>
          <p:cNvSpPr txBox="1"/>
          <p:nvPr/>
        </p:nvSpPr>
        <p:spPr>
          <a:xfrm>
            <a:off x="731520" y="5029200"/>
            <a:ext cx="4846320" cy="1005840"/>
          </a:xfrm>
          <a:prstGeom prst="rect">
            <a:avLst/>
          </a:prstGeom>
          <a:noFill/>
          <a:ln/>
        </p:spPr>
        <p:txBody>
          <a:bodyPr wrap="square" lIns="0" tIns="0" rIns="0" bIns="0" rtlCol="0" anchor="ctr"/>
          <a:lstStyle/>
          <a:p>
            <a:pPr marL="0" indent="0">
              <a:buNone/>
            </a:pPr>
            <a:r>
              <a:rPr lang="en-US" sz="1200" b="1" dirty="0">
                <a:solidFill>
                  <a:schemeClr val="accent3"/>
                </a:solidFill>
              </a:rPr>
              <a:t>YASSIN   </a:t>
            </a:r>
            <a:endParaRPr lang="en-US" sz="1200" dirty="0"/>
          </a:p>
          <a:p>
            <a:pPr marL="0" indent="0">
              <a:buNone/>
            </a:pPr>
            <a:r>
              <a:rPr lang="en-US" i="1" dirty="0">
                <a:solidFill>
                  <a:schemeClr val="tx1"/>
                </a:solidFill>
              </a:rPr>
              <a:t>❌  protecting this creature matters because it keep marin life balance</a:t>
            </a:r>
            <a:endParaRPr lang="en-US" dirty="0"/>
          </a:p>
        </p:txBody>
      </p:sp>
      <p:sp>
        <p:nvSpPr>
          <p:cNvPr id="26" name="Text 23"/>
          <p:cNvSpPr txBox="1"/>
          <p:nvPr/>
        </p:nvSpPr>
        <p:spPr>
          <a:xfrm>
            <a:off x="5806440" y="5029200"/>
            <a:ext cx="548640" cy="1005840"/>
          </a:xfrm>
          <a:prstGeom prst="rect">
            <a:avLst/>
          </a:prstGeom>
          <a:noFill/>
          <a:ln/>
        </p:spPr>
        <p:txBody>
          <a:bodyPr wrap="square" lIns="0" tIns="0" rIns="0" bIns="0" rtlCol="0" anchor="ctr"/>
          <a:lstStyle/>
          <a:p>
            <a:pPr marL="0" indent="0" algn="ctr">
              <a:buNone/>
            </a:pPr>
            <a:r>
              <a:rPr lang="en-US" sz="2400" b="1" dirty="0">
                <a:solidFill>
                  <a:schemeClr val="accent1"/>
                </a:solidFill>
              </a:rPr>
              <a:t>➜</a:t>
            </a:r>
            <a:endParaRPr lang="en-US" sz="2400" dirty="0"/>
          </a:p>
        </p:txBody>
      </p:sp>
      <p:sp>
        <p:nvSpPr>
          <p:cNvPr id="27" name="Shape 24"/>
          <p:cNvSpPr/>
          <p:nvPr/>
        </p:nvSpPr>
        <p:spPr>
          <a:xfrm>
            <a:off x="6400800" y="5029200"/>
            <a:ext cx="5257800" cy="1005840"/>
          </a:xfrm>
          <a:prstGeom prst="rect">
            <a:avLst/>
          </a:prstGeom>
          <a:solidFill>
            <a:schemeClr val="bg1"/>
          </a:solidFill>
          <a:ln/>
          <a:effectLst>
            <a:outerShdw blurRad="76200" dist="25400" dir="5400000" algn="bl" rotWithShape="0">
              <a:srgbClr val="000000">
                <a:alpha val="12000"/>
              </a:srgbClr>
            </a:outerShdw>
          </a:effectLst>
        </p:spPr>
      </p:sp>
      <p:sp>
        <p:nvSpPr>
          <p:cNvPr id="28" name="Text 25"/>
          <p:cNvSpPr txBox="1"/>
          <p:nvPr/>
        </p:nvSpPr>
        <p:spPr>
          <a:xfrm>
            <a:off x="6583680" y="5029200"/>
            <a:ext cx="4892040" cy="1005840"/>
          </a:xfrm>
          <a:prstGeom prst="rect">
            <a:avLst/>
          </a:prstGeom>
          <a:noFill/>
          <a:ln/>
        </p:spPr>
        <p:txBody>
          <a:bodyPr wrap="square" lIns="0" tIns="0" rIns="0" bIns="0" rtlCol="0" anchor="ctr"/>
          <a:lstStyle/>
          <a:p>
            <a:pPr marL="0" indent="0">
              <a:buNone/>
            </a:pPr>
            <a:r>
              <a:rPr lang="en-US" b="1" dirty="0">
                <a:solidFill>
                  <a:schemeClr val="tx1"/>
                </a:solidFill>
              </a:rPr>
              <a:t>✅  </a:t>
            </a:r>
            <a:r>
              <a:rPr lang="en-US" b="1" dirty="0">
                <a:solidFill>
                  <a:schemeClr val="tx1"/>
                </a:solidFill>
                <a:highlight>
                  <a:srgbClr val="FFFF00"/>
                </a:highlight>
              </a:rPr>
              <a:t>Protecting blue whales matters because </a:t>
            </a:r>
            <a:r>
              <a:rPr lang="en-US" b="1" dirty="0">
                <a:solidFill>
                  <a:schemeClr val="tx1"/>
                </a:solidFill>
              </a:rPr>
              <a:t>they help keep marine life in balance.</a:t>
            </a:r>
            <a:endParaRPr lang="en-US" dirty="0"/>
          </a:p>
        </p:txBody>
      </p:sp>
      <p:sp>
        <p:nvSpPr>
          <p:cNvPr id="29" name="Text 26"/>
          <p:cNvSpPr txBox="1"/>
          <p:nvPr/>
        </p:nvSpPr>
        <p:spPr>
          <a:xfrm>
            <a:off x="548640" y="5989320"/>
            <a:ext cx="11094415" cy="502920"/>
          </a:xfrm>
          <a:prstGeom prst="rect">
            <a:avLst/>
          </a:prstGeom>
          <a:solidFill>
            <a:schemeClr val="tx1"/>
          </a:solidFill>
          <a:ln/>
        </p:spPr>
        <p:txBody>
          <a:bodyPr wrap="square" lIns="1270" tIns="1270" rIns="1270" bIns="1270" rtlCol="0" anchor="ctr"/>
          <a:lstStyle/>
          <a:p>
            <a:pPr marL="0" indent="0" algn="ctr">
              <a:buNone/>
            </a:pPr>
            <a:r>
              <a:rPr lang="en-US" sz="2800" b="1" dirty="0">
                <a:solidFill>
                  <a:schemeClr val="bg1"/>
                </a:solidFill>
              </a:rPr>
              <a:t>Protecting ___ matters because ___. Use your own facts.</a:t>
            </a:r>
            <a:endParaRPr lang="en-US" sz="2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0"/>
            <a:ext cx="9326880" cy="822960"/>
          </a:xfrm>
          <a:prstGeom prst="rect">
            <a:avLst/>
          </a:prstGeom>
          <a:noFill/>
          <a:ln/>
        </p:spPr>
        <p:txBody>
          <a:bodyPr wrap="square" lIns="0" tIns="0" rIns="0" bIns="0" rtlCol="0" anchor="ctr"/>
          <a:lstStyle/>
          <a:p>
            <a:pPr marL="0" indent="0" algn="l">
              <a:buNone/>
            </a:pPr>
            <a:r>
              <a:rPr lang="en-US" sz="2600" b="1" dirty="0">
                <a:solidFill>
                  <a:schemeClr val="bg1"/>
                </a:solidFill>
                <a:latin typeface="+mj-lt" pitchFamily="34" charset="0"/>
                <a:ea typeface="+mj-lt" pitchFamily="34" charset="-122"/>
                <a:cs typeface="+mj-lt" pitchFamily="34" charset="-120"/>
              </a:rPr>
              <a:t>Fix 5: sentences, paragraphs and headings</a:t>
            </a:r>
            <a:endParaRPr lang="en-US" sz="2600" dirty="0"/>
          </a:p>
        </p:txBody>
      </p:sp>
      <p:sp>
        <p:nvSpPr>
          <p:cNvPr id="3" name="Tag"/>
          <p:cNvSpPr txBox="1"/>
          <p:nvPr/>
        </p:nvSpPr>
        <p:spPr>
          <a:xfrm>
            <a:off x="10332720" y="256032"/>
            <a:ext cx="1463040" cy="310896"/>
          </a:xfrm>
          <a:prstGeom prst="rect">
            <a:avLst/>
          </a:prstGeom>
          <a:solidFill>
            <a:schemeClr val="accent2"/>
          </a:solidFill>
          <a:ln/>
        </p:spPr>
        <p:txBody>
          <a:bodyPr wrap="square" lIns="0" tIns="0" rIns="0" bIns="0" rtlCol="0" anchor="ctr"/>
          <a:lstStyle/>
          <a:p>
            <a:pPr marL="0" indent="0" algn="ctr">
              <a:buNone/>
            </a:pPr>
            <a:r>
              <a:rPr lang="en-US" sz="1100" b="1" dirty="0">
                <a:solidFill>
                  <a:schemeClr val="tx1"/>
                </a:solidFill>
              </a:rPr>
              <a:t>FIX IT</a:t>
            </a:r>
            <a:endParaRPr lang="en-US" sz="1100" dirty="0"/>
          </a:p>
        </p:txBody>
      </p:sp>
      <p:sp>
        <p:nvSpPr>
          <p:cNvPr id="5" name="Shape 2"/>
          <p:cNvSpPr/>
          <p:nvPr/>
        </p:nvSpPr>
        <p:spPr>
          <a:xfrm>
            <a:off x="548640" y="1097280"/>
            <a:ext cx="5212080" cy="411480"/>
          </a:xfrm>
          <a:prstGeom prst="rect">
            <a:avLst/>
          </a:prstGeom>
          <a:solidFill>
            <a:schemeClr val="accent3"/>
          </a:solidFill>
          <a:ln/>
        </p:spPr>
      </p:sp>
      <p:sp>
        <p:nvSpPr>
          <p:cNvPr id="6" name="Text 3"/>
          <p:cNvSpPr txBox="1"/>
          <p:nvPr/>
        </p:nvSpPr>
        <p:spPr>
          <a:xfrm>
            <a:off x="676656" y="1097280"/>
            <a:ext cx="5029200" cy="411480"/>
          </a:xfrm>
          <a:prstGeom prst="rect">
            <a:avLst/>
          </a:prstGeom>
          <a:noFill/>
          <a:ln/>
        </p:spPr>
        <p:txBody>
          <a:bodyPr wrap="square" lIns="0" tIns="0" rIns="0" bIns="0" rtlCol="0" anchor="ctr"/>
          <a:lstStyle/>
          <a:p>
            <a:pPr marL="0" indent="0">
              <a:buNone/>
            </a:pPr>
            <a:r>
              <a:rPr lang="en-US" sz="1400" b="1" dirty="0">
                <a:solidFill>
                  <a:schemeClr val="bg1"/>
                </a:solidFill>
              </a:rPr>
              <a:t>FROM YOUR PLANS</a:t>
            </a:r>
            <a:endParaRPr lang="en-US" sz="1400" dirty="0"/>
          </a:p>
        </p:txBody>
      </p:sp>
      <p:sp>
        <p:nvSpPr>
          <p:cNvPr id="7" name="Shape 4"/>
          <p:cNvSpPr/>
          <p:nvPr/>
        </p:nvSpPr>
        <p:spPr>
          <a:xfrm>
            <a:off x="6400800" y="1097280"/>
            <a:ext cx="5257800" cy="411480"/>
          </a:xfrm>
          <a:prstGeom prst="rect">
            <a:avLst/>
          </a:prstGeom>
          <a:solidFill>
            <a:schemeClr val="accent1"/>
          </a:solidFill>
          <a:ln/>
        </p:spPr>
      </p:sp>
      <p:sp>
        <p:nvSpPr>
          <p:cNvPr id="8" name="Text 5"/>
          <p:cNvSpPr txBox="1"/>
          <p:nvPr/>
        </p:nvSpPr>
        <p:spPr>
          <a:xfrm>
            <a:off x="6528816" y="1097280"/>
            <a:ext cx="5029200" cy="411480"/>
          </a:xfrm>
          <a:prstGeom prst="rect">
            <a:avLst/>
          </a:prstGeom>
          <a:noFill/>
          <a:ln/>
        </p:spPr>
        <p:txBody>
          <a:bodyPr wrap="square" lIns="0" tIns="0" rIns="0" bIns="0" rtlCol="0" anchor="ctr"/>
          <a:lstStyle/>
          <a:p>
            <a:pPr marL="0" indent="0">
              <a:buNone/>
            </a:pPr>
            <a:r>
              <a:rPr lang="en-US" sz="1400" b="1" dirty="0">
                <a:solidFill>
                  <a:schemeClr val="bg1"/>
                </a:solidFill>
              </a:rPr>
              <a:t>BETTER VERSION</a:t>
            </a:r>
            <a:endParaRPr lang="en-US" sz="1400" dirty="0"/>
          </a:p>
        </p:txBody>
      </p:sp>
      <p:sp>
        <p:nvSpPr>
          <p:cNvPr id="9" name="Shape 6"/>
          <p:cNvSpPr/>
          <p:nvPr/>
        </p:nvSpPr>
        <p:spPr>
          <a:xfrm>
            <a:off x="548640" y="1600200"/>
            <a:ext cx="5212080" cy="731520"/>
          </a:xfrm>
          <a:prstGeom prst="rect">
            <a:avLst/>
          </a:prstGeom>
          <a:solidFill>
            <a:schemeClr val="bg1"/>
          </a:solidFill>
          <a:ln/>
          <a:effectLst>
            <a:outerShdw blurRad="76200" dist="25400" dir="5400000" algn="bl" rotWithShape="0">
              <a:srgbClr val="000000">
                <a:alpha val="12000"/>
              </a:srgbClr>
            </a:outerShdw>
          </a:effectLst>
        </p:spPr>
      </p:sp>
      <p:sp>
        <p:nvSpPr>
          <p:cNvPr id="10" name="Text 7"/>
          <p:cNvSpPr txBox="1"/>
          <p:nvPr/>
        </p:nvSpPr>
        <p:spPr>
          <a:xfrm>
            <a:off x="731520" y="1600200"/>
            <a:ext cx="4846320" cy="731520"/>
          </a:xfrm>
          <a:prstGeom prst="rect">
            <a:avLst/>
          </a:prstGeom>
          <a:noFill/>
          <a:ln/>
        </p:spPr>
        <p:txBody>
          <a:bodyPr wrap="square" lIns="0" tIns="0" rIns="0" bIns="0" rtlCol="0" anchor="ctr"/>
          <a:lstStyle/>
          <a:p>
            <a:pPr marL="0" indent="0">
              <a:buNone/>
            </a:pPr>
            <a:r>
              <a:rPr lang="en-US" sz="1200" b="1" dirty="0">
                <a:solidFill>
                  <a:schemeClr val="accent3"/>
                </a:solidFill>
              </a:rPr>
              <a:t>YASSIN   </a:t>
            </a:r>
            <a:endParaRPr lang="en-US" sz="1200" dirty="0"/>
          </a:p>
          <a:p>
            <a:pPr marL="0" indent="0">
              <a:buNone/>
            </a:pPr>
            <a:r>
              <a:rPr lang="en-US" sz="2000" i="1" dirty="0">
                <a:solidFill>
                  <a:schemeClr val="tx1"/>
                </a:solidFill>
              </a:rPr>
              <a:t>❌  ship strikes / ocean pollution and fishing nets</a:t>
            </a:r>
            <a:endParaRPr lang="en-US" sz="2000" dirty="0"/>
          </a:p>
        </p:txBody>
      </p:sp>
      <p:sp>
        <p:nvSpPr>
          <p:cNvPr id="11" name="Text 8"/>
          <p:cNvSpPr txBox="1"/>
          <p:nvPr/>
        </p:nvSpPr>
        <p:spPr>
          <a:xfrm>
            <a:off x="5806440" y="1600200"/>
            <a:ext cx="548640" cy="731520"/>
          </a:xfrm>
          <a:prstGeom prst="rect">
            <a:avLst/>
          </a:prstGeom>
          <a:noFill/>
          <a:ln/>
        </p:spPr>
        <p:txBody>
          <a:bodyPr wrap="square" lIns="0" tIns="0" rIns="0" bIns="0" rtlCol="0" anchor="ctr"/>
          <a:lstStyle/>
          <a:p>
            <a:pPr marL="0" indent="0" algn="ctr">
              <a:buNone/>
            </a:pPr>
            <a:r>
              <a:rPr lang="en-US" sz="2400" b="1" dirty="0">
                <a:solidFill>
                  <a:schemeClr val="accent1"/>
                </a:solidFill>
              </a:rPr>
              <a:t>➜</a:t>
            </a:r>
            <a:endParaRPr lang="en-US" sz="2400" dirty="0"/>
          </a:p>
        </p:txBody>
      </p:sp>
      <p:sp>
        <p:nvSpPr>
          <p:cNvPr id="12" name="Shape 9"/>
          <p:cNvSpPr/>
          <p:nvPr/>
        </p:nvSpPr>
        <p:spPr>
          <a:xfrm>
            <a:off x="6400800" y="1600200"/>
            <a:ext cx="5257800" cy="731520"/>
          </a:xfrm>
          <a:prstGeom prst="rect">
            <a:avLst/>
          </a:prstGeom>
          <a:solidFill>
            <a:schemeClr val="bg1"/>
          </a:solidFill>
          <a:ln/>
          <a:effectLst>
            <a:outerShdw blurRad="76200" dist="25400" dir="5400000" algn="bl" rotWithShape="0">
              <a:srgbClr val="000000">
                <a:alpha val="12000"/>
              </a:srgbClr>
            </a:outerShdw>
          </a:effectLst>
        </p:spPr>
      </p:sp>
      <p:sp>
        <p:nvSpPr>
          <p:cNvPr id="13" name="Text 10"/>
          <p:cNvSpPr txBox="1"/>
          <p:nvPr/>
        </p:nvSpPr>
        <p:spPr>
          <a:xfrm>
            <a:off x="6583680" y="1600200"/>
            <a:ext cx="4892040" cy="731520"/>
          </a:xfrm>
          <a:prstGeom prst="rect">
            <a:avLst/>
          </a:prstGeom>
          <a:noFill/>
          <a:ln/>
        </p:spPr>
        <p:txBody>
          <a:bodyPr wrap="square" lIns="0" tIns="0" rIns="0" bIns="0" rtlCol="0" anchor="ctr"/>
          <a:lstStyle/>
          <a:p>
            <a:pPr marL="0" indent="0">
              <a:buNone/>
            </a:pPr>
            <a:r>
              <a:rPr lang="en-US" b="1" dirty="0">
                <a:solidFill>
                  <a:schemeClr val="tx1"/>
                </a:solidFill>
              </a:rPr>
              <a:t>✅  Blue whales face serious threats from human activity. Ships can hit and injure them, and plastic pollution and fishing nets can harm or trap them.</a:t>
            </a:r>
            <a:endParaRPr lang="en-US" dirty="0"/>
          </a:p>
        </p:txBody>
      </p:sp>
      <p:sp>
        <p:nvSpPr>
          <p:cNvPr id="14" name="Shape 11"/>
          <p:cNvSpPr/>
          <p:nvPr/>
        </p:nvSpPr>
        <p:spPr>
          <a:xfrm>
            <a:off x="548640" y="2404872"/>
            <a:ext cx="5212080" cy="731520"/>
          </a:xfrm>
          <a:prstGeom prst="rect">
            <a:avLst/>
          </a:prstGeom>
          <a:solidFill>
            <a:schemeClr val="bg1"/>
          </a:solidFill>
          <a:ln/>
          <a:effectLst>
            <a:outerShdw blurRad="76200" dist="25400" dir="5400000" algn="bl" rotWithShape="0">
              <a:srgbClr val="000000">
                <a:alpha val="12000"/>
              </a:srgbClr>
            </a:outerShdw>
          </a:effectLst>
        </p:spPr>
      </p:sp>
      <p:sp>
        <p:nvSpPr>
          <p:cNvPr id="15" name="Text 12"/>
          <p:cNvSpPr txBox="1"/>
          <p:nvPr/>
        </p:nvSpPr>
        <p:spPr>
          <a:xfrm>
            <a:off x="731520" y="2404872"/>
            <a:ext cx="4846320" cy="731520"/>
          </a:xfrm>
          <a:prstGeom prst="rect">
            <a:avLst/>
          </a:prstGeom>
          <a:noFill/>
          <a:ln/>
        </p:spPr>
        <p:txBody>
          <a:bodyPr wrap="square" lIns="0" tIns="0" rIns="0" bIns="0" rtlCol="0" anchor="ctr"/>
          <a:lstStyle/>
          <a:p>
            <a:pPr marL="0" indent="0">
              <a:buNone/>
            </a:pPr>
            <a:r>
              <a:rPr lang="en-US" sz="1200" b="1" dirty="0">
                <a:solidFill>
                  <a:schemeClr val="accent3"/>
                </a:solidFill>
              </a:rPr>
              <a:t>YASSIN   </a:t>
            </a:r>
            <a:endParaRPr lang="en-US" sz="1200" dirty="0"/>
          </a:p>
          <a:p>
            <a:pPr marL="0" indent="0">
              <a:buNone/>
            </a:pPr>
            <a:r>
              <a:rPr lang="en-US" i="1" dirty="0">
                <a:solidFill>
                  <a:schemeClr val="tx1"/>
                </a:solidFill>
              </a:rPr>
              <a:t>❌  setting speed limits of ships / creation protected marine area</a:t>
            </a:r>
            <a:endParaRPr lang="en-US" dirty="0"/>
          </a:p>
        </p:txBody>
      </p:sp>
      <p:sp>
        <p:nvSpPr>
          <p:cNvPr id="16" name="Text 13"/>
          <p:cNvSpPr txBox="1"/>
          <p:nvPr/>
        </p:nvSpPr>
        <p:spPr>
          <a:xfrm>
            <a:off x="5806440" y="2404872"/>
            <a:ext cx="548640" cy="731520"/>
          </a:xfrm>
          <a:prstGeom prst="rect">
            <a:avLst/>
          </a:prstGeom>
          <a:noFill/>
          <a:ln/>
        </p:spPr>
        <p:txBody>
          <a:bodyPr wrap="square" lIns="0" tIns="0" rIns="0" bIns="0" rtlCol="0" anchor="ctr"/>
          <a:lstStyle/>
          <a:p>
            <a:pPr marL="0" indent="0" algn="ctr">
              <a:buNone/>
            </a:pPr>
            <a:r>
              <a:rPr lang="en-US" sz="2400" b="1" dirty="0">
                <a:solidFill>
                  <a:schemeClr val="accent1"/>
                </a:solidFill>
              </a:rPr>
              <a:t>➜</a:t>
            </a:r>
            <a:endParaRPr lang="en-US" sz="2400" dirty="0"/>
          </a:p>
        </p:txBody>
      </p:sp>
      <p:sp>
        <p:nvSpPr>
          <p:cNvPr id="17" name="Shape 14"/>
          <p:cNvSpPr/>
          <p:nvPr/>
        </p:nvSpPr>
        <p:spPr>
          <a:xfrm>
            <a:off x="6400800" y="2404872"/>
            <a:ext cx="5257800" cy="731520"/>
          </a:xfrm>
          <a:prstGeom prst="rect">
            <a:avLst/>
          </a:prstGeom>
          <a:solidFill>
            <a:schemeClr val="bg1"/>
          </a:solidFill>
          <a:ln/>
          <a:effectLst>
            <a:outerShdw blurRad="76200" dist="25400" dir="5400000" algn="bl" rotWithShape="0">
              <a:srgbClr val="000000">
                <a:alpha val="12000"/>
              </a:srgbClr>
            </a:outerShdw>
          </a:effectLst>
        </p:spPr>
      </p:sp>
      <p:sp>
        <p:nvSpPr>
          <p:cNvPr id="18" name="Text 15"/>
          <p:cNvSpPr txBox="1"/>
          <p:nvPr/>
        </p:nvSpPr>
        <p:spPr>
          <a:xfrm>
            <a:off x="6583680" y="2404872"/>
            <a:ext cx="4892040" cy="731520"/>
          </a:xfrm>
          <a:prstGeom prst="rect">
            <a:avLst/>
          </a:prstGeom>
          <a:noFill/>
          <a:ln/>
        </p:spPr>
        <p:txBody>
          <a:bodyPr wrap="square" lIns="0" tIns="0" rIns="0" bIns="0" rtlCol="0" anchor="ctr"/>
          <a:lstStyle/>
          <a:p>
            <a:pPr marL="0" indent="0">
              <a:buNone/>
            </a:pPr>
            <a:r>
              <a:rPr lang="en-US" b="1" dirty="0">
                <a:solidFill>
                  <a:schemeClr val="tx1"/>
                </a:solidFill>
              </a:rPr>
              <a:t>✅  People can protect blue whales by setting speed limits for ships and creating protected marine areas.</a:t>
            </a:r>
            <a:endParaRPr lang="en-US" dirty="0"/>
          </a:p>
        </p:txBody>
      </p:sp>
      <p:sp>
        <p:nvSpPr>
          <p:cNvPr id="19" name="Shape 16"/>
          <p:cNvSpPr/>
          <p:nvPr/>
        </p:nvSpPr>
        <p:spPr>
          <a:xfrm>
            <a:off x="548640" y="3209544"/>
            <a:ext cx="5212080" cy="731520"/>
          </a:xfrm>
          <a:prstGeom prst="rect">
            <a:avLst/>
          </a:prstGeom>
          <a:solidFill>
            <a:schemeClr val="bg1"/>
          </a:solidFill>
          <a:ln/>
          <a:effectLst>
            <a:outerShdw blurRad="76200" dist="25400" dir="5400000" algn="bl" rotWithShape="0">
              <a:srgbClr val="000000">
                <a:alpha val="12000"/>
              </a:srgbClr>
            </a:outerShdw>
          </a:effectLst>
        </p:spPr>
      </p:sp>
      <p:sp>
        <p:nvSpPr>
          <p:cNvPr id="20" name="Text 17"/>
          <p:cNvSpPr txBox="1"/>
          <p:nvPr/>
        </p:nvSpPr>
        <p:spPr>
          <a:xfrm>
            <a:off x="731520" y="3209544"/>
            <a:ext cx="4846320" cy="731520"/>
          </a:xfrm>
          <a:prstGeom prst="rect">
            <a:avLst/>
          </a:prstGeom>
          <a:noFill/>
          <a:ln/>
        </p:spPr>
        <p:txBody>
          <a:bodyPr wrap="square" lIns="0" tIns="0" rIns="0" bIns="0" rtlCol="0" anchor="ctr"/>
          <a:lstStyle/>
          <a:p>
            <a:pPr marL="0" indent="0">
              <a:buNone/>
            </a:pPr>
            <a:r>
              <a:rPr lang="en-US" sz="1200" b="1" dirty="0">
                <a:solidFill>
                  <a:schemeClr val="accent3"/>
                </a:solidFill>
              </a:rPr>
              <a:t>RENAD   </a:t>
            </a:r>
            <a:endParaRPr lang="en-US" sz="1200" dirty="0"/>
          </a:p>
          <a:p>
            <a:pPr marL="0" indent="0">
              <a:buNone/>
            </a:pPr>
            <a:r>
              <a:rPr lang="en-US" i="1" dirty="0">
                <a:solidFill>
                  <a:schemeClr val="tx1"/>
                </a:solidFill>
              </a:rPr>
              <a:t>❌  (everything in one block, no headings)</a:t>
            </a:r>
            <a:endParaRPr lang="en-US" dirty="0"/>
          </a:p>
        </p:txBody>
      </p:sp>
      <p:sp>
        <p:nvSpPr>
          <p:cNvPr id="21" name="Text 18"/>
          <p:cNvSpPr txBox="1"/>
          <p:nvPr/>
        </p:nvSpPr>
        <p:spPr>
          <a:xfrm>
            <a:off x="5806440" y="3209544"/>
            <a:ext cx="548640" cy="731520"/>
          </a:xfrm>
          <a:prstGeom prst="rect">
            <a:avLst/>
          </a:prstGeom>
          <a:noFill/>
          <a:ln/>
        </p:spPr>
        <p:txBody>
          <a:bodyPr wrap="square" lIns="0" tIns="0" rIns="0" bIns="0" rtlCol="0" anchor="ctr"/>
          <a:lstStyle/>
          <a:p>
            <a:pPr marL="0" indent="0" algn="ctr">
              <a:buNone/>
            </a:pPr>
            <a:r>
              <a:rPr lang="en-US" sz="2400" b="1" dirty="0">
                <a:solidFill>
                  <a:schemeClr val="accent1"/>
                </a:solidFill>
              </a:rPr>
              <a:t>➜</a:t>
            </a:r>
            <a:endParaRPr lang="en-US" sz="2400" dirty="0"/>
          </a:p>
        </p:txBody>
      </p:sp>
      <p:sp>
        <p:nvSpPr>
          <p:cNvPr id="22" name="Shape 19"/>
          <p:cNvSpPr/>
          <p:nvPr/>
        </p:nvSpPr>
        <p:spPr>
          <a:xfrm>
            <a:off x="6400800" y="3209544"/>
            <a:ext cx="5257800" cy="731520"/>
          </a:xfrm>
          <a:prstGeom prst="rect">
            <a:avLst/>
          </a:prstGeom>
          <a:solidFill>
            <a:schemeClr val="bg1"/>
          </a:solidFill>
          <a:ln/>
          <a:effectLst>
            <a:outerShdw blurRad="76200" dist="25400" dir="5400000" algn="bl" rotWithShape="0">
              <a:srgbClr val="000000">
                <a:alpha val="12000"/>
              </a:srgbClr>
            </a:outerShdw>
          </a:effectLst>
        </p:spPr>
      </p:sp>
      <p:sp>
        <p:nvSpPr>
          <p:cNvPr id="23" name="Text 20"/>
          <p:cNvSpPr txBox="1"/>
          <p:nvPr/>
        </p:nvSpPr>
        <p:spPr>
          <a:xfrm>
            <a:off x="6583680" y="3209544"/>
            <a:ext cx="4892040" cy="731520"/>
          </a:xfrm>
          <a:prstGeom prst="rect">
            <a:avLst/>
          </a:prstGeom>
          <a:noFill/>
          <a:ln/>
        </p:spPr>
        <p:txBody>
          <a:bodyPr wrap="square" lIns="0" tIns="0" rIns="0" bIns="0" rtlCol="0" anchor="ctr"/>
          <a:lstStyle/>
          <a:p>
            <a:pPr marL="0" indent="0">
              <a:buNone/>
            </a:pPr>
            <a:r>
              <a:rPr lang="en-US" b="1" dirty="0">
                <a:solidFill>
                  <a:schemeClr val="tx1"/>
                </a:solidFill>
              </a:rPr>
              <a:t>✅  Introduction · About · Threats · Protection · Ending: each a short paragraph under its own heading.</a:t>
            </a:r>
            <a:endParaRPr lang="en-US" dirty="0"/>
          </a:p>
        </p:txBody>
      </p:sp>
      <p:sp>
        <p:nvSpPr>
          <p:cNvPr id="24" name="Shape 21"/>
          <p:cNvSpPr/>
          <p:nvPr/>
        </p:nvSpPr>
        <p:spPr>
          <a:xfrm>
            <a:off x="548640" y="4014216"/>
            <a:ext cx="5212080" cy="731520"/>
          </a:xfrm>
          <a:prstGeom prst="rect">
            <a:avLst/>
          </a:prstGeom>
          <a:solidFill>
            <a:schemeClr val="bg1"/>
          </a:solidFill>
          <a:ln/>
          <a:effectLst>
            <a:outerShdw blurRad="76200" dist="25400" dir="5400000" algn="bl" rotWithShape="0">
              <a:srgbClr val="000000">
                <a:alpha val="12000"/>
              </a:srgbClr>
            </a:outerShdw>
          </a:effectLst>
        </p:spPr>
      </p:sp>
      <p:sp>
        <p:nvSpPr>
          <p:cNvPr id="25" name="Text 22"/>
          <p:cNvSpPr txBox="1"/>
          <p:nvPr/>
        </p:nvSpPr>
        <p:spPr>
          <a:xfrm>
            <a:off x="731520" y="4014216"/>
            <a:ext cx="4846320" cy="731520"/>
          </a:xfrm>
          <a:prstGeom prst="rect">
            <a:avLst/>
          </a:prstGeom>
          <a:noFill/>
          <a:ln/>
        </p:spPr>
        <p:txBody>
          <a:bodyPr wrap="square" lIns="0" tIns="0" rIns="0" bIns="0" rtlCol="0" anchor="ctr"/>
          <a:lstStyle/>
          <a:p>
            <a:pPr marL="0" indent="0">
              <a:buNone/>
            </a:pPr>
            <a:r>
              <a:rPr lang="en-US" sz="1200" b="1" dirty="0">
                <a:solidFill>
                  <a:schemeClr val="accent3"/>
                </a:solidFill>
              </a:rPr>
              <a:t>BEKHIT   </a:t>
            </a:r>
            <a:endParaRPr lang="en-US" sz="1200" dirty="0"/>
          </a:p>
          <a:p>
            <a:pPr marL="0" indent="0">
              <a:buNone/>
            </a:pPr>
            <a:r>
              <a:rPr lang="en-US" i="1" dirty="0">
                <a:solidFill>
                  <a:schemeClr val="tx1"/>
                </a:solidFill>
              </a:rPr>
              <a:t>❌  The fastest animal is lion… Second, an animal is cheetah… Next, elephant… Finally…</a:t>
            </a:r>
            <a:endParaRPr lang="en-US" dirty="0"/>
          </a:p>
        </p:txBody>
      </p:sp>
      <p:sp>
        <p:nvSpPr>
          <p:cNvPr id="26" name="Text 23"/>
          <p:cNvSpPr txBox="1"/>
          <p:nvPr/>
        </p:nvSpPr>
        <p:spPr>
          <a:xfrm>
            <a:off x="5806440" y="4014216"/>
            <a:ext cx="548640" cy="731520"/>
          </a:xfrm>
          <a:prstGeom prst="rect">
            <a:avLst/>
          </a:prstGeom>
          <a:noFill/>
          <a:ln/>
        </p:spPr>
        <p:txBody>
          <a:bodyPr wrap="square" lIns="0" tIns="0" rIns="0" bIns="0" rtlCol="0" anchor="ctr"/>
          <a:lstStyle/>
          <a:p>
            <a:pPr marL="0" indent="0" algn="ctr">
              <a:buNone/>
            </a:pPr>
            <a:r>
              <a:rPr lang="en-US" sz="2400" b="1" dirty="0">
                <a:solidFill>
                  <a:schemeClr val="accent1"/>
                </a:solidFill>
              </a:rPr>
              <a:t>➜</a:t>
            </a:r>
            <a:endParaRPr lang="en-US" sz="2400" dirty="0"/>
          </a:p>
        </p:txBody>
      </p:sp>
      <p:sp>
        <p:nvSpPr>
          <p:cNvPr id="27" name="Shape 24"/>
          <p:cNvSpPr/>
          <p:nvPr/>
        </p:nvSpPr>
        <p:spPr>
          <a:xfrm>
            <a:off x="6400800" y="4014216"/>
            <a:ext cx="5257800" cy="731520"/>
          </a:xfrm>
          <a:prstGeom prst="rect">
            <a:avLst/>
          </a:prstGeom>
          <a:solidFill>
            <a:schemeClr val="bg1"/>
          </a:solidFill>
          <a:ln/>
          <a:effectLst>
            <a:outerShdw blurRad="76200" dist="25400" dir="5400000" algn="bl" rotWithShape="0">
              <a:srgbClr val="000000">
                <a:alpha val="12000"/>
              </a:srgbClr>
            </a:outerShdw>
          </a:effectLst>
        </p:spPr>
      </p:sp>
      <p:sp>
        <p:nvSpPr>
          <p:cNvPr id="28" name="Text 25"/>
          <p:cNvSpPr txBox="1"/>
          <p:nvPr/>
        </p:nvSpPr>
        <p:spPr>
          <a:xfrm>
            <a:off x="6583680" y="4014216"/>
            <a:ext cx="4892040" cy="731520"/>
          </a:xfrm>
          <a:prstGeom prst="rect">
            <a:avLst/>
          </a:prstGeom>
          <a:noFill/>
          <a:ln/>
        </p:spPr>
        <p:txBody>
          <a:bodyPr wrap="square" lIns="0" tIns="0" rIns="0" bIns="0" rtlCol="0" anchor="ctr"/>
          <a:lstStyle/>
          <a:p>
            <a:pPr marL="0" indent="0">
              <a:buNone/>
            </a:pPr>
            <a:r>
              <a:rPr lang="en-US" b="1" dirty="0">
                <a:solidFill>
                  <a:schemeClr val="tx1"/>
                </a:solidFill>
              </a:rPr>
              <a:t>✅  Choose ONE creature. Plan five sections. Write each section as a paragraph.</a:t>
            </a:r>
            <a:endParaRPr lang="en-US" dirty="0"/>
          </a:p>
        </p:txBody>
      </p:sp>
      <p:sp>
        <p:nvSpPr>
          <p:cNvPr id="29" name="Shape 26"/>
          <p:cNvSpPr/>
          <p:nvPr/>
        </p:nvSpPr>
        <p:spPr>
          <a:xfrm>
            <a:off x="548640" y="4818888"/>
            <a:ext cx="5212080" cy="731520"/>
          </a:xfrm>
          <a:prstGeom prst="rect">
            <a:avLst/>
          </a:prstGeom>
          <a:solidFill>
            <a:schemeClr val="bg1"/>
          </a:solidFill>
          <a:ln/>
          <a:effectLst>
            <a:outerShdw blurRad="76200" dist="25400" dir="5400000" algn="bl" rotWithShape="0">
              <a:srgbClr val="000000">
                <a:alpha val="12000"/>
              </a:srgbClr>
            </a:outerShdw>
          </a:effectLst>
        </p:spPr>
      </p:sp>
      <p:sp>
        <p:nvSpPr>
          <p:cNvPr id="30" name="Text 27"/>
          <p:cNvSpPr txBox="1"/>
          <p:nvPr/>
        </p:nvSpPr>
        <p:spPr>
          <a:xfrm>
            <a:off x="731520" y="4818888"/>
            <a:ext cx="4846320" cy="731520"/>
          </a:xfrm>
          <a:prstGeom prst="rect">
            <a:avLst/>
          </a:prstGeom>
          <a:noFill/>
          <a:ln/>
        </p:spPr>
        <p:txBody>
          <a:bodyPr wrap="square" lIns="0" tIns="0" rIns="0" bIns="0" rtlCol="0" anchor="ctr"/>
          <a:lstStyle/>
          <a:p>
            <a:pPr marL="0" indent="0">
              <a:buNone/>
            </a:pPr>
            <a:r>
              <a:rPr lang="en-US" sz="1200" b="1" dirty="0">
                <a:solidFill>
                  <a:schemeClr val="accent3"/>
                </a:solidFill>
              </a:rPr>
              <a:t>MOSTAFA   </a:t>
            </a:r>
            <a:endParaRPr lang="en-US" sz="1200" dirty="0"/>
          </a:p>
          <a:p>
            <a:pPr marL="0" indent="0">
              <a:buNone/>
            </a:pPr>
            <a:r>
              <a:rPr lang="en-US" i="1" dirty="0">
                <a:solidFill>
                  <a:schemeClr val="tx1"/>
                </a:solidFill>
              </a:rPr>
              <a:t>❌  (no About section)</a:t>
            </a:r>
            <a:endParaRPr lang="en-US" dirty="0"/>
          </a:p>
        </p:txBody>
      </p:sp>
      <p:sp>
        <p:nvSpPr>
          <p:cNvPr id="31" name="Text 28"/>
          <p:cNvSpPr txBox="1"/>
          <p:nvPr/>
        </p:nvSpPr>
        <p:spPr>
          <a:xfrm>
            <a:off x="5806440" y="4818888"/>
            <a:ext cx="548640" cy="731520"/>
          </a:xfrm>
          <a:prstGeom prst="rect">
            <a:avLst/>
          </a:prstGeom>
          <a:noFill/>
          <a:ln/>
        </p:spPr>
        <p:txBody>
          <a:bodyPr wrap="square" lIns="0" tIns="0" rIns="0" bIns="0" rtlCol="0" anchor="ctr"/>
          <a:lstStyle/>
          <a:p>
            <a:pPr marL="0" indent="0" algn="ctr">
              <a:buNone/>
            </a:pPr>
            <a:r>
              <a:rPr lang="en-US" sz="2400" b="1" dirty="0">
                <a:solidFill>
                  <a:schemeClr val="accent1"/>
                </a:solidFill>
              </a:rPr>
              <a:t>➜</a:t>
            </a:r>
            <a:endParaRPr lang="en-US" sz="2400" dirty="0"/>
          </a:p>
        </p:txBody>
      </p:sp>
      <p:sp>
        <p:nvSpPr>
          <p:cNvPr id="32" name="Shape 29"/>
          <p:cNvSpPr/>
          <p:nvPr/>
        </p:nvSpPr>
        <p:spPr>
          <a:xfrm>
            <a:off x="6400800" y="4818888"/>
            <a:ext cx="5257800" cy="731520"/>
          </a:xfrm>
          <a:prstGeom prst="rect">
            <a:avLst/>
          </a:prstGeom>
          <a:solidFill>
            <a:schemeClr val="bg1"/>
          </a:solidFill>
          <a:ln/>
          <a:effectLst>
            <a:outerShdw blurRad="76200" dist="25400" dir="5400000" algn="bl" rotWithShape="0">
              <a:srgbClr val="000000">
                <a:alpha val="12000"/>
              </a:srgbClr>
            </a:outerShdw>
          </a:effectLst>
        </p:spPr>
      </p:sp>
      <p:sp>
        <p:nvSpPr>
          <p:cNvPr id="33" name="Text 30"/>
          <p:cNvSpPr txBox="1"/>
          <p:nvPr/>
        </p:nvSpPr>
        <p:spPr>
          <a:xfrm>
            <a:off x="6583680" y="4818888"/>
            <a:ext cx="4892040" cy="731520"/>
          </a:xfrm>
          <a:prstGeom prst="rect">
            <a:avLst/>
          </a:prstGeom>
          <a:noFill/>
          <a:ln/>
        </p:spPr>
        <p:txBody>
          <a:bodyPr wrap="square" lIns="0" tIns="0" rIns="0" bIns="0" rtlCol="0" anchor="ctr"/>
          <a:lstStyle/>
          <a:p>
            <a:pPr marL="0" indent="0">
              <a:buNone/>
            </a:pPr>
            <a:r>
              <a:rPr lang="en-US" b="1" dirty="0">
                <a:solidFill>
                  <a:schemeClr val="tx1"/>
                </a:solidFill>
              </a:rPr>
              <a:t>✅  About: Sea turtles lay their eggs on beaches. They have a hard shell and strong flippers. Some can live for many decades.</a:t>
            </a:r>
            <a:endParaRPr lang="en-US" dirty="0"/>
          </a:p>
        </p:txBody>
      </p:sp>
      <p:sp>
        <p:nvSpPr>
          <p:cNvPr id="34" name="Text 31"/>
          <p:cNvSpPr txBox="1"/>
          <p:nvPr/>
        </p:nvSpPr>
        <p:spPr>
          <a:xfrm>
            <a:off x="548640" y="5989320"/>
            <a:ext cx="11094415" cy="502920"/>
          </a:xfrm>
          <a:prstGeom prst="rect">
            <a:avLst/>
          </a:prstGeom>
          <a:solidFill>
            <a:schemeClr val="tx1"/>
          </a:solidFill>
          <a:ln/>
        </p:spPr>
        <p:txBody>
          <a:bodyPr wrap="square" lIns="1270" tIns="1270" rIns="1270" bIns="1270" rtlCol="0" anchor="ctr"/>
          <a:lstStyle/>
          <a:p>
            <a:pPr marL="0" indent="0" algn="ctr">
              <a:buNone/>
            </a:pPr>
            <a:r>
              <a:rPr lang="en-US" sz="1600" b="1" dirty="0">
                <a:solidFill>
                  <a:schemeClr val="bg1"/>
                </a:solidFill>
              </a:rPr>
              <a:t>Full sentences · one creature · five headed paragraphs</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0"/>
            <a:ext cx="9326880" cy="822960"/>
          </a:xfrm>
          <a:prstGeom prst="rect">
            <a:avLst/>
          </a:prstGeom>
          <a:noFill/>
          <a:ln/>
        </p:spPr>
        <p:txBody>
          <a:bodyPr wrap="square" lIns="0" tIns="0" rIns="0" bIns="0" rtlCol="0" anchor="ctr"/>
          <a:lstStyle/>
          <a:p>
            <a:pPr marL="0" indent="0" algn="l">
              <a:buNone/>
            </a:pPr>
            <a:r>
              <a:rPr lang="en-US" sz="2600" b="1" dirty="0">
                <a:solidFill>
                  <a:schemeClr val="bg1"/>
                </a:solidFill>
                <a:latin typeface="+mj-lt" pitchFamily="34" charset="0"/>
                <a:ea typeface="+mj-lt" pitchFamily="34" charset="-122"/>
                <a:cs typeface="+mj-lt" pitchFamily="34" charset="-120"/>
              </a:rPr>
              <a:t>Fix 6: develop your paragraphs</a:t>
            </a:r>
            <a:endParaRPr lang="en-US" sz="2600" dirty="0"/>
          </a:p>
        </p:txBody>
      </p:sp>
      <p:sp>
        <p:nvSpPr>
          <p:cNvPr id="3" name="Tag"/>
          <p:cNvSpPr txBox="1"/>
          <p:nvPr/>
        </p:nvSpPr>
        <p:spPr>
          <a:xfrm>
            <a:off x="10332720" y="256032"/>
            <a:ext cx="1463040" cy="310896"/>
          </a:xfrm>
          <a:prstGeom prst="rect">
            <a:avLst/>
          </a:prstGeom>
          <a:solidFill>
            <a:schemeClr val="accent2"/>
          </a:solidFill>
          <a:ln/>
        </p:spPr>
        <p:txBody>
          <a:bodyPr wrap="square" lIns="0" tIns="0" rIns="0" bIns="0" rtlCol="0" anchor="ctr"/>
          <a:lstStyle/>
          <a:p>
            <a:pPr marL="0" indent="0" algn="ctr">
              <a:buNone/>
            </a:pPr>
            <a:r>
              <a:rPr lang="en-US" sz="1100" b="1" dirty="0">
                <a:solidFill>
                  <a:schemeClr val="tx1"/>
                </a:solidFill>
              </a:rPr>
              <a:t>FIX IT</a:t>
            </a:r>
            <a:endParaRPr lang="en-US" sz="1100" dirty="0"/>
          </a:p>
        </p:txBody>
      </p:sp>
      <p:sp>
        <p:nvSpPr>
          <p:cNvPr id="5" name="Card FIRST DRAFT · MAWADDA"/>
          <p:cNvSpPr/>
          <p:nvPr/>
        </p:nvSpPr>
        <p:spPr>
          <a:xfrm>
            <a:off x="548640" y="1143000"/>
            <a:ext cx="4572000" cy="4023360"/>
          </a:xfrm>
          <a:prstGeom prst="rect">
            <a:avLst/>
          </a:prstGeom>
          <a:solidFill>
            <a:schemeClr val="bg1"/>
          </a:solidFill>
          <a:ln/>
          <a:effectLst>
            <a:outerShdw blurRad="76200" dist="25400" dir="5400000" algn="bl" rotWithShape="0">
              <a:srgbClr val="000000">
                <a:alpha val="12000"/>
              </a:srgbClr>
            </a:outerShdw>
          </a:effectLst>
        </p:spPr>
      </p:sp>
      <p:sp>
        <p:nvSpPr>
          <p:cNvPr id="6" name="Shape 3"/>
          <p:cNvSpPr/>
          <p:nvPr/>
        </p:nvSpPr>
        <p:spPr>
          <a:xfrm>
            <a:off x="548640" y="1143000"/>
            <a:ext cx="4572000" cy="457200"/>
          </a:xfrm>
          <a:prstGeom prst="rect">
            <a:avLst/>
          </a:prstGeom>
          <a:solidFill>
            <a:schemeClr val="accent3"/>
          </a:solidFill>
          <a:ln/>
        </p:spPr>
      </p:sp>
      <p:sp>
        <p:nvSpPr>
          <p:cNvPr id="7" name="Text 4"/>
          <p:cNvSpPr txBox="1"/>
          <p:nvPr/>
        </p:nvSpPr>
        <p:spPr>
          <a:xfrm>
            <a:off x="676656" y="1143000"/>
            <a:ext cx="4389120" cy="457200"/>
          </a:xfrm>
          <a:prstGeom prst="rect">
            <a:avLst/>
          </a:prstGeom>
          <a:noFill/>
          <a:ln/>
        </p:spPr>
        <p:txBody>
          <a:bodyPr wrap="square" lIns="0" tIns="0" rIns="0" bIns="0" rtlCol="0" anchor="ctr"/>
          <a:lstStyle/>
          <a:p>
            <a:pPr marL="0" indent="0">
              <a:buNone/>
            </a:pPr>
            <a:r>
              <a:rPr lang="en-US" sz="1300" b="1" dirty="0">
                <a:solidFill>
                  <a:schemeClr val="bg1"/>
                </a:solidFill>
              </a:rPr>
              <a:t>FIRST DRAFT · MAWADDA</a:t>
            </a:r>
            <a:endParaRPr lang="en-US" sz="1300" dirty="0"/>
          </a:p>
        </p:txBody>
      </p:sp>
      <p:sp>
        <p:nvSpPr>
          <p:cNvPr id="8" name="Text 5"/>
          <p:cNvSpPr txBox="1"/>
          <p:nvPr/>
        </p:nvSpPr>
        <p:spPr>
          <a:xfrm>
            <a:off x="658368" y="1673352"/>
            <a:ext cx="4352544" cy="3419856"/>
          </a:xfrm>
          <a:prstGeom prst="rect">
            <a:avLst/>
          </a:prstGeom>
          <a:noFill/>
          <a:ln/>
        </p:spPr>
        <p:txBody>
          <a:bodyPr wrap="square" lIns="508" tIns="508" rIns="508" bIns="508" rtlCol="0" anchor="t"/>
          <a:lstStyle/>
          <a:p>
            <a:pPr marL="0" indent="0" algn="l">
              <a:buNone/>
            </a:pPr>
            <a:r>
              <a:rPr lang="en-US" sz="2400" dirty="0">
                <a:solidFill>
                  <a:schemeClr val="tx1"/>
                </a:solidFill>
              </a:rPr>
              <a:t>Giraffes face serious threats. Human cut down grasslands, which destroys their natural homes. Some giraffes also face danger from illegal hunting</a:t>
            </a:r>
            <a:endParaRPr lang="en-US" sz="2400" dirty="0"/>
          </a:p>
        </p:txBody>
      </p:sp>
      <p:sp>
        <p:nvSpPr>
          <p:cNvPr id="9" name="Text 6"/>
          <p:cNvSpPr txBox="1"/>
          <p:nvPr/>
        </p:nvSpPr>
        <p:spPr>
          <a:xfrm>
            <a:off x="5166360" y="2743200"/>
            <a:ext cx="822960" cy="731520"/>
          </a:xfrm>
          <a:prstGeom prst="rect">
            <a:avLst/>
          </a:prstGeom>
          <a:noFill/>
          <a:ln/>
        </p:spPr>
        <p:txBody>
          <a:bodyPr wrap="square" lIns="0" tIns="0" rIns="0" bIns="0" rtlCol="0" anchor="ctr"/>
          <a:lstStyle/>
          <a:p>
            <a:pPr marL="0" indent="0" algn="ctr">
              <a:buNone/>
            </a:pPr>
            <a:r>
              <a:rPr lang="en-US" sz="3600" b="1" dirty="0">
                <a:solidFill>
                  <a:schemeClr val="accent1"/>
                </a:solidFill>
              </a:rPr>
              <a:t>➜</a:t>
            </a:r>
            <a:endParaRPr lang="en-US" sz="3600" dirty="0"/>
          </a:p>
        </p:txBody>
      </p:sp>
      <p:sp>
        <p:nvSpPr>
          <p:cNvPr id="10" name="Card SECOND DRAFT"/>
          <p:cNvSpPr/>
          <p:nvPr/>
        </p:nvSpPr>
        <p:spPr>
          <a:xfrm>
            <a:off x="6035040" y="1143000"/>
            <a:ext cx="5623560" cy="4023360"/>
          </a:xfrm>
          <a:prstGeom prst="rect">
            <a:avLst/>
          </a:prstGeom>
          <a:solidFill>
            <a:schemeClr val="bg1"/>
          </a:solidFill>
          <a:ln/>
          <a:effectLst>
            <a:outerShdw blurRad="76200" dist="25400" dir="5400000" algn="bl" rotWithShape="0">
              <a:srgbClr val="000000">
                <a:alpha val="12000"/>
              </a:srgbClr>
            </a:outerShdw>
          </a:effectLst>
        </p:spPr>
      </p:sp>
      <p:sp>
        <p:nvSpPr>
          <p:cNvPr id="11" name="Shape 8"/>
          <p:cNvSpPr/>
          <p:nvPr/>
        </p:nvSpPr>
        <p:spPr>
          <a:xfrm>
            <a:off x="6035040" y="1143000"/>
            <a:ext cx="5623560" cy="457200"/>
          </a:xfrm>
          <a:prstGeom prst="rect">
            <a:avLst/>
          </a:prstGeom>
          <a:solidFill>
            <a:schemeClr val="accent1"/>
          </a:solidFill>
          <a:ln/>
        </p:spPr>
      </p:sp>
      <p:sp>
        <p:nvSpPr>
          <p:cNvPr id="12" name="Text 9"/>
          <p:cNvSpPr txBox="1"/>
          <p:nvPr/>
        </p:nvSpPr>
        <p:spPr>
          <a:xfrm>
            <a:off x="6163056" y="1143000"/>
            <a:ext cx="5440680" cy="457200"/>
          </a:xfrm>
          <a:prstGeom prst="rect">
            <a:avLst/>
          </a:prstGeom>
          <a:noFill/>
          <a:ln/>
        </p:spPr>
        <p:txBody>
          <a:bodyPr wrap="square" lIns="0" tIns="0" rIns="0" bIns="0" rtlCol="0" anchor="ctr"/>
          <a:lstStyle/>
          <a:p>
            <a:pPr marL="0" indent="0">
              <a:buNone/>
            </a:pPr>
            <a:r>
              <a:rPr lang="en-US" sz="1300" b="1" dirty="0">
                <a:solidFill>
                  <a:schemeClr val="bg1"/>
                </a:solidFill>
              </a:rPr>
              <a:t>SECOND DRAFT</a:t>
            </a:r>
            <a:endParaRPr lang="en-US" sz="1300" dirty="0"/>
          </a:p>
        </p:txBody>
      </p:sp>
      <p:sp>
        <p:nvSpPr>
          <p:cNvPr id="13" name="Text 10"/>
          <p:cNvSpPr txBox="1"/>
          <p:nvPr/>
        </p:nvSpPr>
        <p:spPr>
          <a:xfrm>
            <a:off x="6144768" y="1673352"/>
            <a:ext cx="5404104" cy="3419856"/>
          </a:xfrm>
          <a:prstGeom prst="rect">
            <a:avLst/>
          </a:prstGeom>
          <a:noFill/>
          <a:ln/>
        </p:spPr>
        <p:txBody>
          <a:bodyPr wrap="square" lIns="508" tIns="508" rIns="508" bIns="508" rtlCol="0" anchor="t"/>
          <a:lstStyle/>
          <a:p>
            <a:pPr marL="0" indent="0" algn="l">
              <a:buNone/>
            </a:pPr>
            <a:r>
              <a:rPr lang="en-US" sz="2400" dirty="0">
                <a:solidFill>
                  <a:schemeClr val="tx1"/>
                </a:solidFill>
              </a:rPr>
              <a:t>Giraffes face serious threats from human activity. People cut down grasslands for farms and roads, which destroys their natural homes and the trees they feed on. Illegal hunting is also a danger because poachers kill giraffes for their meat and skin. </a:t>
            </a:r>
            <a:r>
              <a:rPr lang="en-US" sz="2400" b="1" dirty="0">
                <a:solidFill>
                  <a:schemeClr val="tx1"/>
                </a:solidFill>
              </a:rPr>
              <a:t>As</a:t>
            </a:r>
            <a:r>
              <a:rPr lang="en-US" sz="2400" dirty="0">
                <a:solidFill>
                  <a:schemeClr val="tx1"/>
                </a:solidFill>
              </a:rPr>
              <a:t> </a:t>
            </a:r>
            <a:r>
              <a:rPr lang="en-US" sz="2400" b="1" dirty="0">
                <a:solidFill>
                  <a:schemeClr val="tx1"/>
                </a:solidFill>
              </a:rPr>
              <a:t>a</a:t>
            </a:r>
            <a:r>
              <a:rPr lang="en-US" sz="2400" dirty="0">
                <a:solidFill>
                  <a:schemeClr val="tx1"/>
                </a:solidFill>
              </a:rPr>
              <a:t> </a:t>
            </a:r>
            <a:r>
              <a:rPr lang="en-US" sz="2400" b="1" dirty="0">
                <a:solidFill>
                  <a:schemeClr val="tx1"/>
                </a:solidFill>
              </a:rPr>
              <a:t>result</a:t>
            </a:r>
            <a:r>
              <a:rPr lang="en-US" sz="2400" dirty="0">
                <a:solidFill>
                  <a:schemeClr val="tx1"/>
                </a:solidFill>
              </a:rPr>
              <a:t>, giraffe numbers are falling.</a:t>
            </a:r>
            <a:endParaRPr lang="en-US" sz="2400" dirty="0"/>
          </a:p>
        </p:txBody>
      </p:sp>
      <p:sp>
        <p:nvSpPr>
          <p:cNvPr id="14" name="Text 11"/>
          <p:cNvSpPr txBox="1"/>
          <p:nvPr/>
        </p:nvSpPr>
        <p:spPr>
          <a:xfrm>
            <a:off x="548640" y="5303520"/>
            <a:ext cx="2523744" cy="457200"/>
          </a:xfrm>
          <a:prstGeom prst="rect">
            <a:avLst/>
          </a:prstGeom>
          <a:solidFill>
            <a:schemeClr val="accent2"/>
          </a:solidFill>
          <a:ln/>
        </p:spPr>
        <p:txBody>
          <a:bodyPr wrap="square" lIns="0" tIns="0" rIns="0" bIns="0" rtlCol="0" anchor="ctr"/>
          <a:lstStyle/>
          <a:p>
            <a:pPr marL="0" indent="0" algn="ctr">
              <a:buNone/>
            </a:pPr>
            <a:r>
              <a:rPr lang="en-US" sz="2400" b="1" dirty="0">
                <a:solidFill>
                  <a:schemeClr val="tx1"/>
                </a:solidFill>
              </a:rPr>
              <a:t>Topic sentence</a:t>
            </a:r>
            <a:endParaRPr lang="en-US" sz="2400" dirty="0"/>
          </a:p>
        </p:txBody>
      </p:sp>
      <p:sp>
        <p:nvSpPr>
          <p:cNvPr id="15" name="Text 12"/>
          <p:cNvSpPr txBox="1"/>
          <p:nvPr/>
        </p:nvSpPr>
        <p:spPr>
          <a:xfrm>
            <a:off x="3413455" y="5303520"/>
            <a:ext cx="2523744" cy="457200"/>
          </a:xfrm>
          <a:prstGeom prst="rect">
            <a:avLst/>
          </a:prstGeom>
          <a:solidFill>
            <a:schemeClr val="accent1"/>
          </a:solidFill>
          <a:ln/>
        </p:spPr>
        <p:txBody>
          <a:bodyPr wrap="square" lIns="0" tIns="0" rIns="0" bIns="0" rtlCol="0" anchor="ctr"/>
          <a:lstStyle/>
          <a:p>
            <a:pPr marL="0" indent="0" algn="ctr">
              <a:buNone/>
            </a:pPr>
            <a:r>
              <a:rPr lang="en-US" b="1" dirty="0">
                <a:solidFill>
                  <a:schemeClr val="bg1"/>
                </a:solidFill>
              </a:rPr>
              <a:t>Explain (which / because)</a:t>
            </a:r>
            <a:endParaRPr lang="en-US" dirty="0"/>
          </a:p>
        </p:txBody>
      </p:sp>
      <p:sp>
        <p:nvSpPr>
          <p:cNvPr id="16" name="Text 13"/>
          <p:cNvSpPr txBox="1"/>
          <p:nvPr/>
        </p:nvSpPr>
        <p:spPr>
          <a:xfrm>
            <a:off x="6278270" y="5303520"/>
            <a:ext cx="2523744" cy="457200"/>
          </a:xfrm>
          <a:prstGeom prst="rect">
            <a:avLst/>
          </a:prstGeom>
          <a:solidFill>
            <a:schemeClr val="accent3"/>
          </a:solidFill>
          <a:ln/>
        </p:spPr>
        <p:txBody>
          <a:bodyPr wrap="square" lIns="0" tIns="0" rIns="0" bIns="0" rtlCol="0" anchor="ctr"/>
          <a:lstStyle/>
          <a:p>
            <a:pPr marL="0" indent="0" algn="ctr">
              <a:buNone/>
            </a:pPr>
            <a:r>
              <a:rPr lang="en-US" sz="2400" b="1" dirty="0">
                <a:solidFill>
                  <a:schemeClr val="bg1"/>
                </a:solidFill>
              </a:rPr>
              <a:t>Detail</a:t>
            </a:r>
            <a:endParaRPr lang="en-US" sz="2400" dirty="0"/>
          </a:p>
        </p:txBody>
      </p:sp>
      <p:sp>
        <p:nvSpPr>
          <p:cNvPr id="17" name="Text 14"/>
          <p:cNvSpPr txBox="1"/>
          <p:nvPr/>
        </p:nvSpPr>
        <p:spPr>
          <a:xfrm>
            <a:off x="9143086" y="5303520"/>
            <a:ext cx="2523744" cy="457200"/>
          </a:xfrm>
          <a:prstGeom prst="rect">
            <a:avLst/>
          </a:prstGeom>
          <a:solidFill>
            <a:schemeClr val="tx1"/>
          </a:solidFill>
          <a:ln/>
        </p:spPr>
        <p:txBody>
          <a:bodyPr wrap="square" lIns="0" tIns="0" rIns="0" bIns="0" rtlCol="0" anchor="ctr"/>
          <a:lstStyle/>
          <a:p>
            <a:pPr marL="0" indent="0" algn="ctr">
              <a:buNone/>
            </a:pPr>
            <a:r>
              <a:rPr lang="en-US" sz="2000" b="1" dirty="0">
                <a:solidFill>
                  <a:schemeClr val="bg1"/>
                </a:solidFill>
              </a:rPr>
              <a:t>Link (As a result)</a:t>
            </a:r>
            <a:endParaRPr lang="en-US" sz="2000" dirty="0"/>
          </a:p>
        </p:txBody>
      </p:sp>
      <p:sp>
        <p:nvSpPr>
          <p:cNvPr id="18" name="Text 15"/>
          <p:cNvSpPr txBox="1"/>
          <p:nvPr/>
        </p:nvSpPr>
        <p:spPr>
          <a:xfrm>
            <a:off x="548640" y="5943600"/>
            <a:ext cx="11094415" cy="502920"/>
          </a:xfrm>
          <a:prstGeom prst="rect">
            <a:avLst/>
          </a:prstGeom>
          <a:solidFill>
            <a:schemeClr val="tx1"/>
          </a:solidFill>
          <a:ln/>
        </p:spPr>
        <p:txBody>
          <a:bodyPr wrap="square" lIns="1270" tIns="1270" rIns="1270" bIns="1270" rtlCol="0" anchor="ctr"/>
          <a:lstStyle/>
          <a:p>
            <a:pPr marL="0" indent="0" algn="ctr">
              <a:buNone/>
            </a:pPr>
            <a:r>
              <a:rPr lang="en-US" sz="2400" b="1" dirty="0">
                <a:solidFill>
                  <a:schemeClr val="bg1"/>
                </a:solidFill>
              </a:rPr>
              <a:t>Fact → explain → detail → link</a:t>
            </a:r>
            <a:endParaRPr lang="en-US" sz="2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0"/>
            <a:ext cx="9326880" cy="822960"/>
          </a:xfrm>
          <a:prstGeom prst="rect">
            <a:avLst/>
          </a:prstGeom>
          <a:noFill/>
          <a:ln/>
        </p:spPr>
        <p:txBody>
          <a:bodyPr wrap="square" lIns="0" tIns="0" rIns="0" bIns="0" rtlCol="0" anchor="ctr"/>
          <a:lstStyle/>
          <a:p>
            <a:pPr marL="0" indent="0" algn="l">
              <a:buNone/>
            </a:pPr>
            <a:r>
              <a:rPr lang="en-US" sz="2600" b="1" dirty="0">
                <a:solidFill>
                  <a:schemeClr val="bg1"/>
                </a:solidFill>
                <a:latin typeface="+mj-lt" pitchFamily="34" charset="0"/>
                <a:ea typeface="+mj-lt" pitchFamily="34" charset="-122"/>
                <a:cs typeface="+mj-lt" pitchFamily="34" charset="-120"/>
              </a:rPr>
              <a:t>Fix 7: precise words and true facts</a:t>
            </a:r>
            <a:endParaRPr lang="en-US" sz="2600" dirty="0"/>
          </a:p>
        </p:txBody>
      </p:sp>
      <p:sp>
        <p:nvSpPr>
          <p:cNvPr id="3" name="Tag"/>
          <p:cNvSpPr txBox="1"/>
          <p:nvPr/>
        </p:nvSpPr>
        <p:spPr>
          <a:xfrm>
            <a:off x="10332720" y="256032"/>
            <a:ext cx="1463040" cy="310896"/>
          </a:xfrm>
          <a:prstGeom prst="rect">
            <a:avLst/>
          </a:prstGeom>
          <a:solidFill>
            <a:schemeClr val="accent2"/>
          </a:solidFill>
          <a:ln/>
        </p:spPr>
        <p:txBody>
          <a:bodyPr wrap="square" lIns="0" tIns="0" rIns="0" bIns="0" rtlCol="0" anchor="ctr"/>
          <a:lstStyle/>
          <a:p>
            <a:pPr marL="0" indent="0" algn="ctr">
              <a:buNone/>
            </a:pPr>
            <a:r>
              <a:rPr lang="en-US" sz="1100" b="1" dirty="0">
                <a:solidFill>
                  <a:schemeClr val="tx1"/>
                </a:solidFill>
              </a:rPr>
              <a:t>FIX IT</a:t>
            </a:r>
            <a:endParaRPr lang="en-US" sz="1100" dirty="0"/>
          </a:p>
        </p:txBody>
      </p:sp>
      <p:sp>
        <p:nvSpPr>
          <p:cNvPr id="5" name="Shape 2"/>
          <p:cNvSpPr/>
          <p:nvPr/>
        </p:nvSpPr>
        <p:spPr>
          <a:xfrm>
            <a:off x="548640" y="1097280"/>
            <a:ext cx="5212080" cy="411480"/>
          </a:xfrm>
          <a:prstGeom prst="rect">
            <a:avLst/>
          </a:prstGeom>
          <a:solidFill>
            <a:schemeClr val="accent3"/>
          </a:solidFill>
          <a:ln/>
        </p:spPr>
      </p:sp>
      <p:sp>
        <p:nvSpPr>
          <p:cNvPr id="6" name="Text 3"/>
          <p:cNvSpPr txBox="1"/>
          <p:nvPr/>
        </p:nvSpPr>
        <p:spPr>
          <a:xfrm>
            <a:off x="676656" y="1097280"/>
            <a:ext cx="5029200" cy="411480"/>
          </a:xfrm>
          <a:prstGeom prst="rect">
            <a:avLst/>
          </a:prstGeom>
          <a:noFill/>
          <a:ln/>
        </p:spPr>
        <p:txBody>
          <a:bodyPr wrap="square" lIns="0" tIns="0" rIns="0" bIns="0" rtlCol="0" anchor="ctr"/>
          <a:lstStyle/>
          <a:p>
            <a:pPr marL="0" indent="0">
              <a:buNone/>
            </a:pPr>
            <a:r>
              <a:rPr lang="en-US" sz="1400" b="1" dirty="0">
                <a:solidFill>
                  <a:schemeClr val="bg1"/>
                </a:solidFill>
              </a:rPr>
              <a:t>FROM YOUR PLANS</a:t>
            </a:r>
            <a:endParaRPr lang="en-US" sz="1400" dirty="0"/>
          </a:p>
        </p:txBody>
      </p:sp>
      <p:sp>
        <p:nvSpPr>
          <p:cNvPr id="7" name="Shape 4"/>
          <p:cNvSpPr/>
          <p:nvPr/>
        </p:nvSpPr>
        <p:spPr>
          <a:xfrm>
            <a:off x="6400800" y="1097280"/>
            <a:ext cx="5257800" cy="411480"/>
          </a:xfrm>
          <a:prstGeom prst="rect">
            <a:avLst/>
          </a:prstGeom>
          <a:solidFill>
            <a:schemeClr val="accent1"/>
          </a:solidFill>
          <a:ln/>
        </p:spPr>
      </p:sp>
      <p:sp>
        <p:nvSpPr>
          <p:cNvPr id="8" name="Text 5"/>
          <p:cNvSpPr txBox="1"/>
          <p:nvPr/>
        </p:nvSpPr>
        <p:spPr>
          <a:xfrm>
            <a:off x="6528816" y="1097280"/>
            <a:ext cx="5029200" cy="411480"/>
          </a:xfrm>
          <a:prstGeom prst="rect">
            <a:avLst/>
          </a:prstGeom>
          <a:noFill/>
          <a:ln/>
        </p:spPr>
        <p:txBody>
          <a:bodyPr wrap="square" lIns="0" tIns="0" rIns="0" bIns="0" rtlCol="0" anchor="ctr"/>
          <a:lstStyle/>
          <a:p>
            <a:pPr marL="0" indent="0">
              <a:buNone/>
            </a:pPr>
            <a:r>
              <a:rPr lang="en-US" sz="1400" b="1" dirty="0">
                <a:solidFill>
                  <a:schemeClr val="bg1"/>
                </a:solidFill>
              </a:rPr>
              <a:t>BETTER VERSION</a:t>
            </a:r>
            <a:endParaRPr lang="en-US" sz="1400" dirty="0"/>
          </a:p>
        </p:txBody>
      </p:sp>
      <p:sp>
        <p:nvSpPr>
          <p:cNvPr id="9" name="Shape 6"/>
          <p:cNvSpPr/>
          <p:nvPr/>
        </p:nvSpPr>
        <p:spPr>
          <a:xfrm>
            <a:off x="548640" y="1600200"/>
            <a:ext cx="5212080" cy="731520"/>
          </a:xfrm>
          <a:prstGeom prst="rect">
            <a:avLst/>
          </a:prstGeom>
          <a:solidFill>
            <a:schemeClr val="bg1"/>
          </a:solidFill>
          <a:ln/>
          <a:effectLst>
            <a:outerShdw blurRad="76200" dist="25400" dir="5400000" algn="bl" rotWithShape="0">
              <a:srgbClr val="000000">
                <a:alpha val="12000"/>
              </a:srgbClr>
            </a:outerShdw>
          </a:effectLst>
        </p:spPr>
      </p:sp>
      <p:sp>
        <p:nvSpPr>
          <p:cNvPr id="10" name="Text 7"/>
          <p:cNvSpPr txBox="1"/>
          <p:nvPr/>
        </p:nvSpPr>
        <p:spPr>
          <a:xfrm>
            <a:off x="731520" y="1600200"/>
            <a:ext cx="4846320" cy="731520"/>
          </a:xfrm>
          <a:prstGeom prst="rect">
            <a:avLst/>
          </a:prstGeom>
          <a:noFill/>
          <a:ln/>
        </p:spPr>
        <p:txBody>
          <a:bodyPr wrap="square" lIns="0" tIns="0" rIns="0" bIns="0" rtlCol="0" anchor="ctr"/>
          <a:lstStyle/>
          <a:p>
            <a:pPr marL="0" indent="0">
              <a:buNone/>
            </a:pPr>
            <a:r>
              <a:rPr lang="en-US" sz="1200" b="1" dirty="0">
                <a:solidFill>
                  <a:schemeClr val="accent3"/>
                </a:solidFill>
              </a:rPr>
              <a:t>RENAD   </a:t>
            </a:r>
            <a:endParaRPr lang="en-US" sz="1200" dirty="0"/>
          </a:p>
          <a:p>
            <a:pPr marL="0" indent="0">
              <a:buNone/>
            </a:pPr>
            <a:r>
              <a:rPr lang="en-US" i="1" dirty="0">
                <a:solidFill>
                  <a:schemeClr val="tx1"/>
                </a:solidFill>
              </a:rPr>
              <a:t>❌  the green sea turtles is an amazing endanger creater</a:t>
            </a:r>
            <a:endParaRPr lang="en-US" dirty="0"/>
          </a:p>
        </p:txBody>
      </p:sp>
      <p:sp>
        <p:nvSpPr>
          <p:cNvPr id="11" name="Text 8"/>
          <p:cNvSpPr txBox="1"/>
          <p:nvPr/>
        </p:nvSpPr>
        <p:spPr>
          <a:xfrm>
            <a:off x="5806440" y="1600200"/>
            <a:ext cx="548640" cy="731520"/>
          </a:xfrm>
          <a:prstGeom prst="rect">
            <a:avLst/>
          </a:prstGeom>
          <a:noFill/>
          <a:ln/>
        </p:spPr>
        <p:txBody>
          <a:bodyPr wrap="square" lIns="0" tIns="0" rIns="0" bIns="0" rtlCol="0" anchor="ctr"/>
          <a:lstStyle/>
          <a:p>
            <a:pPr marL="0" indent="0" algn="ctr">
              <a:buNone/>
            </a:pPr>
            <a:r>
              <a:rPr lang="en-US" sz="2400" b="1" dirty="0">
                <a:solidFill>
                  <a:schemeClr val="accent1"/>
                </a:solidFill>
              </a:rPr>
              <a:t>➜</a:t>
            </a:r>
            <a:endParaRPr lang="en-US" sz="2400" dirty="0"/>
          </a:p>
        </p:txBody>
      </p:sp>
      <p:sp>
        <p:nvSpPr>
          <p:cNvPr id="12" name="Shape 9"/>
          <p:cNvSpPr/>
          <p:nvPr/>
        </p:nvSpPr>
        <p:spPr>
          <a:xfrm>
            <a:off x="6400800" y="1600200"/>
            <a:ext cx="5257800" cy="731520"/>
          </a:xfrm>
          <a:prstGeom prst="rect">
            <a:avLst/>
          </a:prstGeom>
          <a:solidFill>
            <a:schemeClr val="bg1"/>
          </a:solidFill>
          <a:ln/>
          <a:effectLst>
            <a:outerShdw blurRad="76200" dist="25400" dir="5400000" algn="bl" rotWithShape="0">
              <a:srgbClr val="000000">
                <a:alpha val="12000"/>
              </a:srgbClr>
            </a:outerShdw>
          </a:effectLst>
        </p:spPr>
      </p:sp>
      <p:sp>
        <p:nvSpPr>
          <p:cNvPr id="13" name="Text 10"/>
          <p:cNvSpPr txBox="1"/>
          <p:nvPr/>
        </p:nvSpPr>
        <p:spPr>
          <a:xfrm>
            <a:off x="6583680" y="1600200"/>
            <a:ext cx="4892040" cy="731520"/>
          </a:xfrm>
          <a:prstGeom prst="rect">
            <a:avLst/>
          </a:prstGeom>
          <a:noFill/>
          <a:ln/>
        </p:spPr>
        <p:txBody>
          <a:bodyPr wrap="square" lIns="0" tIns="0" rIns="0" bIns="0" rtlCol="0" anchor="ctr"/>
          <a:lstStyle/>
          <a:p>
            <a:pPr marL="0" indent="0">
              <a:buNone/>
            </a:pPr>
            <a:r>
              <a:rPr lang="en-US" b="1" dirty="0">
                <a:solidFill>
                  <a:schemeClr val="tx1"/>
                </a:solidFill>
              </a:rPr>
              <a:t>✅  Green sea turtles are endangered marine reptiles.</a:t>
            </a:r>
            <a:endParaRPr lang="en-US" dirty="0"/>
          </a:p>
        </p:txBody>
      </p:sp>
      <p:sp>
        <p:nvSpPr>
          <p:cNvPr id="14" name="Shape 11"/>
          <p:cNvSpPr/>
          <p:nvPr/>
        </p:nvSpPr>
        <p:spPr>
          <a:xfrm>
            <a:off x="548640" y="2404872"/>
            <a:ext cx="5212080" cy="731520"/>
          </a:xfrm>
          <a:prstGeom prst="rect">
            <a:avLst/>
          </a:prstGeom>
          <a:solidFill>
            <a:schemeClr val="bg1"/>
          </a:solidFill>
          <a:ln/>
          <a:effectLst>
            <a:outerShdw blurRad="76200" dist="25400" dir="5400000" algn="bl" rotWithShape="0">
              <a:srgbClr val="000000">
                <a:alpha val="12000"/>
              </a:srgbClr>
            </a:outerShdw>
          </a:effectLst>
        </p:spPr>
      </p:sp>
      <p:sp>
        <p:nvSpPr>
          <p:cNvPr id="15" name="Text 12"/>
          <p:cNvSpPr txBox="1"/>
          <p:nvPr/>
        </p:nvSpPr>
        <p:spPr>
          <a:xfrm>
            <a:off x="731520" y="2404872"/>
            <a:ext cx="4846320" cy="731520"/>
          </a:xfrm>
          <a:prstGeom prst="rect">
            <a:avLst/>
          </a:prstGeom>
          <a:noFill/>
          <a:ln/>
        </p:spPr>
        <p:txBody>
          <a:bodyPr wrap="square" lIns="0" tIns="0" rIns="0" bIns="0" rtlCol="0" anchor="ctr"/>
          <a:lstStyle/>
          <a:p>
            <a:pPr marL="0" indent="0">
              <a:buNone/>
            </a:pPr>
            <a:r>
              <a:rPr lang="en-US" sz="1200" b="1" dirty="0">
                <a:solidFill>
                  <a:schemeClr val="accent3"/>
                </a:solidFill>
              </a:rPr>
              <a:t>MOSTAFA   </a:t>
            </a:r>
            <a:endParaRPr lang="en-US" sz="1200" dirty="0"/>
          </a:p>
          <a:p>
            <a:pPr marL="0" indent="0">
              <a:buNone/>
            </a:pPr>
            <a:r>
              <a:rPr lang="en-US" i="1" dirty="0">
                <a:solidFill>
                  <a:schemeClr val="tx1"/>
                </a:solidFill>
              </a:rPr>
              <a:t>❌  The Boats and Ships are making pollution</a:t>
            </a:r>
            <a:endParaRPr lang="en-US" dirty="0"/>
          </a:p>
        </p:txBody>
      </p:sp>
      <p:sp>
        <p:nvSpPr>
          <p:cNvPr id="16" name="Text 13"/>
          <p:cNvSpPr txBox="1"/>
          <p:nvPr/>
        </p:nvSpPr>
        <p:spPr>
          <a:xfrm>
            <a:off x="5806440" y="2404872"/>
            <a:ext cx="548640" cy="731520"/>
          </a:xfrm>
          <a:prstGeom prst="rect">
            <a:avLst/>
          </a:prstGeom>
          <a:noFill/>
          <a:ln/>
        </p:spPr>
        <p:txBody>
          <a:bodyPr wrap="square" lIns="0" tIns="0" rIns="0" bIns="0" rtlCol="0" anchor="ctr"/>
          <a:lstStyle/>
          <a:p>
            <a:pPr marL="0" indent="0" algn="ctr">
              <a:buNone/>
            </a:pPr>
            <a:r>
              <a:rPr lang="en-US" sz="2400" b="1" dirty="0">
                <a:solidFill>
                  <a:schemeClr val="accent1"/>
                </a:solidFill>
              </a:rPr>
              <a:t>➜</a:t>
            </a:r>
            <a:endParaRPr lang="en-US" sz="2400" dirty="0"/>
          </a:p>
        </p:txBody>
      </p:sp>
      <p:sp>
        <p:nvSpPr>
          <p:cNvPr id="17" name="Shape 14"/>
          <p:cNvSpPr/>
          <p:nvPr/>
        </p:nvSpPr>
        <p:spPr>
          <a:xfrm>
            <a:off x="6400800" y="2404872"/>
            <a:ext cx="5257800" cy="731520"/>
          </a:xfrm>
          <a:prstGeom prst="rect">
            <a:avLst/>
          </a:prstGeom>
          <a:solidFill>
            <a:schemeClr val="bg1"/>
          </a:solidFill>
          <a:ln/>
          <a:effectLst>
            <a:outerShdw blurRad="76200" dist="25400" dir="5400000" algn="bl" rotWithShape="0">
              <a:srgbClr val="000000">
                <a:alpha val="12000"/>
              </a:srgbClr>
            </a:outerShdw>
          </a:effectLst>
        </p:spPr>
      </p:sp>
      <p:sp>
        <p:nvSpPr>
          <p:cNvPr id="18" name="Text 15"/>
          <p:cNvSpPr txBox="1"/>
          <p:nvPr/>
        </p:nvSpPr>
        <p:spPr>
          <a:xfrm>
            <a:off x="6583680" y="2404872"/>
            <a:ext cx="4892040" cy="731520"/>
          </a:xfrm>
          <a:prstGeom prst="rect">
            <a:avLst/>
          </a:prstGeom>
          <a:noFill/>
          <a:ln/>
        </p:spPr>
        <p:txBody>
          <a:bodyPr wrap="square" lIns="0" tIns="0" rIns="0" bIns="0" rtlCol="0" anchor="ctr"/>
          <a:lstStyle/>
          <a:p>
            <a:pPr marL="0" indent="0">
              <a:buNone/>
            </a:pPr>
            <a:r>
              <a:rPr lang="en-US" b="1" dirty="0">
                <a:solidFill>
                  <a:schemeClr val="tx1"/>
                </a:solidFill>
              </a:rPr>
              <a:t>✅  Boats and ships pollute the water with oil and noise.</a:t>
            </a:r>
            <a:endParaRPr lang="en-US" dirty="0"/>
          </a:p>
        </p:txBody>
      </p:sp>
      <p:sp>
        <p:nvSpPr>
          <p:cNvPr id="19" name="Shape 16"/>
          <p:cNvSpPr/>
          <p:nvPr/>
        </p:nvSpPr>
        <p:spPr>
          <a:xfrm>
            <a:off x="548640" y="3209544"/>
            <a:ext cx="5212080" cy="731520"/>
          </a:xfrm>
          <a:prstGeom prst="rect">
            <a:avLst/>
          </a:prstGeom>
          <a:solidFill>
            <a:schemeClr val="bg1"/>
          </a:solidFill>
          <a:ln/>
          <a:effectLst>
            <a:outerShdw blurRad="76200" dist="25400" dir="5400000" algn="bl" rotWithShape="0">
              <a:srgbClr val="000000">
                <a:alpha val="12000"/>
              </a:srgbClr>
            </a:outerShdw>
          </a:effectLst>
        </p:spPr>
      </p:sp>
      <p:sp>
        <p:nvSpPr>
          <p:cNvPr id="20" name="Text 17"/>
          <p:cNvSpPr txBox="1"/>
          <p:nvPr/>
        </p:nvSpPr>
        <p:spPr>
          <a:xfrm>
            <a:off x="731520" y="3209544"/>
            <a:ext cx="4846320" cy="731520"/>
          </a:xfrm>
          <a:prstGeom prst="rect">
            <a:avLst/>
          </a:prstGeom>
          <a:noFill/>
          <a:ln/>
        </p:spPr>
        <p:txBody>
          <a:bodyPr wrap="square" lIns="0" tIns="0" rIns="0" bIns="0" rtlCol="0" anchor="ctr"/>
          <a:lstStyle/>
          <a:p>
            <a:pPr marL="0" indent="0">
              <a:buNone/>
            </a:pPr>
            <a:r>
              <a:rPr lang="en-US" sz="1200" b="1" dirty="0">
                <a:solidFill>
                  <a:schemeClr val="accent3"/>
                </a:solidFill>
              </a:rPr>
              <a:t>SADEEL   </a:t>
            </a:r>
            <a:endParaRPr lang="en-US" sz="1200" dirty="0"/>
          </a:p>
          <a:p>
            <a:pPr marL="0" indent="0">
              <a:buNone/>
            </a:pPr>
            <a:r>
              <a:rPr lang="en-US" i="1" dirty="0">
                <a:solidFill>
                  <a:schemeClr val="tx1"/>
                </a:solidFill>
              </a:rPr>
              <a:t>❌  Blue whales are amazing sea animals.</a:t>
            </a:r>
            <a:endParaRPr lang="en-US" dirty="0"/>
          </a:p>
        </p:txBody>
      </p:sp>
      <p:sp>
        <p:nvSpPr>
          <p:cNvPr id="21" name="Text 18"/>
          <p:cNvSpPr txBox="1"/>
          <p:nvPr/>
        </p:nvSpPr>
        <p:spPr>
          <a:xfrm>
            <a:off x="5806440" y="3209544"/>
            <a:ext cx="548640" cy="731520"/>
          </a:xfrm>
          <a:prstGeom prst="rect">
            <a:avLst/>
          </a:prstGeom>
          <a:noFill/>
          <a:ln/>
        </p:spPr>
        <p:txBody>
          <a:bodyPr wrap="square" lIns="0" tIns="0" rIns="0" bIns="0" rtlCol="0" anchor="ctr"/>
          <a:lstStyle/>
          <a:p>
            <a:pPr marL="0" indent="0" algn="ctr">
              <a:buNone/>
            </a:pPr>
            <a:r>
              <a:rPr lang="en-US" sz="2400" b="1" dirty="0">
                <a:solidFill>
                  <a:schemeClr val="accent1"/>
                </a:solidFill>
              </a:rPr>
              <a:t>➜</a:t>
            </a:r>
            <a:endParaRPr lang="en-US" sz="2400" dirty="0"/>
          </a:p>
        </p:txBody>
      </p:sp>
      <p:sp>
        <p:nvSpPr>
          <p:cNvPr id="22" name="Shape 19"/>
          <p:cNvSpPr/>
          <p:nvPr/>
        </p:nvSpPr>
        <p:spPr>
          <a:xfrm>
            <a:off x="6400800" y="3209544"/>
            <a:ext cx="5257800" cy="731520"/>
          </a:xfrm>
          <a:prstGeom prst="rect">
            <a:avLst/>
          </a:prstGeom>
          <a:solidFill>
            <a:schemeClr val="bg1"/>
          </a:solidFill>
          <a:ln/>
          <a:effectLst>
            <a:outerShdw blurRad="76200" dist="25400" dir="5400000" algn="bl" rotWithShape="0">
              <a:srgbClr val="000000">
                <a:alpha val="12000"/>
              </a:srgbClr>
            </a:outerShdw>
          </a:effectLst>
        </p:spPr>
      </p:sp>
      <p:sp>
        <p:nvSpPr>
          <p:cNvPr id="23" name="Text 20"/>
          <p:cNvSpPr txBox="1"/>
          <p:nvPr/>
        </p:nvSpPr>
        <p:spPr>
          <a:xfrm>
            <a:off x="6583680" y="3209544"/>
            <a:ext cx="4892040" cy="731520"/>
          </a:xfrm>
          <a:prstGeom prst="rect">
            <a:avLst/>
          </a:prstGeom>
          <a:noFill/>
          <a:ln/>
        </p:spPr>
        <p:txBody>
          <a:bodyPr wrap="square" lIns="0" tIns="0" rIns="0" bIns="0" rtlCol="0" anchor="ctr"/>
          <a:lstStyle/>
          <a:p>
            <a:pPr marL="0" indent="0">
              <a:buNone/>
            </a:pPr>
            <a:r>
              <a:rPr lang="en-US" b="1" dirty="0">
                <a:solidFill>
                  <a:schemeClr val="tx1"/>
                </a:solidFill>
              </a:rPr>
              <a:t>✅  Blue whales are enormous marine mammals.</a:t>
            </a:r>
            <a:endParaRPr lang="en-US" dirty="0"/>
          </a:p>
        </p:txBody>
      </p:sp>
      <p:sp>
        <p:nvSpPr>
          <p:cNvPr id="24" name="Shape 21"/>
          <p:cNvSpPr/>
          <p:nvPr/>
        </p:nvSpPr>
        <p:spPr>
          <a:xfrm>
            <a:off x="548640" y="4014216"/>
            <a:ext cx="5212080" cy="731520"/>
          </a:xfrm>
          <a:prstGeom prst="rect">
            <a:avLst/>
          </a:prstGeom>
          <a:solidFill>
            <a:schemeClr val="bg1"/>
          </a:solidFill>
          <a:ln/>
          <a:effectLst>
            <a:outerShdw blurRad="76200" dist="25400" dir="5400000" algn="bl" rotWithShape="0">
              <a:srgbClr val="000000">
                <a:alpha val="12000"/>
              </a:srgbClr>
            </a:outerShdw>
          </a:effectLst>
        </p:spPr>
      </p:sp>
      <p:sp>
        <p:nvSpPr>
          <p:cNvPr id="25" name="Text 22"/>
          <p:cNvSpPr txBox="1"/>
          <p:nvPr/>
        </p:nvSpPr>
        <p:spPr>
          <a:xfrm>
            <a:off x="731520" y="4014216"/>
            <a:ext cx="4846320" cy="731520"/>
          </a:xfrm>
          <a:prstGeom prst="rect">
            <a:avLst/>
          </a:prstGeom>
          <a:noFill/>
          <a:ln/>
        </p:spPr>
        <p:txBody>
          <a:bodyPr wrap="square" lIns="0" tIns="0" rIns="0" bIns="0" rtlCol="0" anchor="ctr"/>
          <a:lstStyle/>
          <a:p>
            <a:pPr marL="0" indent="0">
              <a:buNone/>
            </a:pPr>
            <a:r>
              <a:rPr lang="en-US" sz="1200" b="1" dirty="0">
                <a:solidFill>
                  <a:schemeClr val="accent3"/>
                </a:solidFill>
              </a:rPr>
              <a:t>WASEELA   </a:t>
            </a:r>
            <a:endParaRPr lang="en-US" sz="1200" dirty="0"/>
          </a:p>
          <a:p>
            <a:pPr marL="0" indent="0">
              <a:buNone/>
            </a:pPr>
            <a:r>
              <a:rPr lang="en-US" i="1" dirty="0">
                <a:solidFill>
                  <a:schemeClr val="tx1"/>
                </a:solidFill>
              </a:rPr>
              <a:t>❌  sprint across open greenlands</a:t>
            </a:r>
            <a:endParaRPr lang="en-US" dirty="0"/>
          </a:p>
        </p:txBody>
      </p:sp>
      <p:sp>
        <p:nvSpPr>
          <p:cNvPr id="26" name="Text 23"/>
          <p:cNvSpPr txBox="1"/>
          <p:nvPr/>
        </p:nvSpPr>
        <p:spPr>
          <a:xfrm>
            <a:off x="5806440" y="4014216"/>
            <a:ext cx="548640" cy="731520"/>
          </a:xfrm>
          <a:prstGeom prst="rect">
            <a:avLst/>
          </a:prstGeom>
          <a:noFill/>
          <a:ln/>
        </p:spPr>
        <p:txBody>
          <a:bodyPr wrap="square" lIns="0" tIns="0" rIns="0" bIns="0" rtlCol="0" anchor="ctr"/>
          <a:lstStyle/>
          <a:p>
            <a:pPr marL="0" indent="0" algn="ctr">
              <a:buNone/>
            </a:pPr>
            <a:r>
              <a:rPr lang="en-US" sz="2400" b="1" dirty="0">
                <a:solidFill>
                  <a:schemeClr val="accent1"/>
                </a:solidFill>
              </a:rPr>
              <a:t>➜</a:t>
            </a:r>
            <a:endParaRPr lang="en-US" sz="2400" dirty="0"/>
          </a:p>
        </p:txBody>
      </p:sp>
      <p:sp>
        <p:nvSpPr>
          <p:cNvPr id="27" name="Shape 24"/>
          <p:cNvSpPr/>
          <p:nvPr/>
        </p:nvSpPr>
        <p:spPr>
          <a:xfrm>
            <a:off x="6400800" y="4014216"/>
            <a:ext cx="5257800" cy="731520"/>
          </a:xfrm>
          <a:prstGeom prst="rect">
            <a:avLst/>
          </a:prstGeom>
          <a:solidFill>
            <a:schemeClr val="bg1"/>
          </a:solidFill>
          <a:ln/>
          <a:effectLst>
            <a:outerShdw blurRad="76200" dist="25400" dir="5400000" algn="bl" rotWithShape="0">
              <a:srgbClr val="000000">
                <a:alpha val="12000"/>
              </a:srgbClr>
            </a:outerShdw>
          </a:effectLst>
        </p:spPr>
      </p:sp>
      <p:sp>
        <p:nvSpPr>
          <p:cNvPr id="28" name="Text 25"/>
          <p:cNvSpPr txBox="1"/>
          <p:nvPr/>
        </p:nvSpPr>
        <p:spPr>
          <a:xfrm>
            <a:off x="6583680" y="4014216"/>
            <a:ext cx="4892040" cy="731520"/>
          </a:xfrm>
          <a:prstGeom prst="rect">
            <a:avLst/>
          </a:prstGeom>
          <a:noFill/>
          <a:ln/>
        </p:spPr>
        <p:txBody>
          <a:bodyPr wrap="square" lIns="0" tIns="0" rIns="0" bIns="0" rtlCol="0" anchor="ctr"/>
          <a:lstStyle/>
          <a:p>
            <a:pPr marL="0" indent="0">
              <a:buNone/>
            </a:pPr>
            <a:r>
              <a:rPr lang="en-US" b="1" dirty="0">
                <a:solidFill>
                  <a:schemeClr val="tx1"/>
                </a:solidFill>
              </a:rPr>
              <a:t>✅  sprint across open grasslands</a:t>
            </a:r>
            <a:endParaRPr lang="en-US" dirty="0"/>
          </a:p>
        </p:txBody>
      </p:sp>
      <p:sp>
        <p:nvSpPr>
          <p:cNvPr id="29" name="Shape 26"/>
          <p:cNvSpPr/>
          <p:nvPr/>
        </p:nvSpPr>
        <p:spPr>
          <a:xfrm>
            <a:off x="548640" y="4818888"/>
            <a:ext cx="5212080" cy="731520"/>
          </a:xfrm>
          <a:prstGeom prst="rect">
            <a:avLst/>
          </a:prstGeom>
          <a:solidFill>
            <a:schemeClr val="bg1"/>
          </a:solidFill>
          <a:ln/>
          <a:effectLst>
            <a:outerShdw blurRad="76200" dist="25400" dir="5400000" algn="bl" rotWithShape="0">
              <a:srgbClr val="000000">
                <a:alpha val="12000"/>
              </a:srgbClr>
            </a:outerShdw>
          </a:effectLst>
        </p:spPr>
      </p:sp>
      <p:sp>
        <p:nvSpPr>
          <p:cNvPr id="30" name="Text 27"/>
          <p:cNvSpPr txBox="1"/>
          <p:nvPr/>
        </p:nvSpPr>
        <p:spPr>
          <a:xfrm>
            <a:off x="731520" y="4818888"/>
            <a:ext cx="4846320" cy="731520"/>
          </a:xfrm>
          <a:prstGeom prst="rect">
            <a:avLst/>
          </a:prstGeom>
          <a:noFill/>
          <a:ln/>
        </p:spPr>
        <p:txBody>
          <a:bodyPr wrap="square" lIns="0" tIns="0" rIns="0" bIns="0" rtlCol="0" anchor="ctr"/>
          <a:lstStyle/>
          <a:p>
            <a:pPr marL="0" indent="0">
              <a:buNone/>
            </a:pPr>
            <a:r>
              <a:rPr lang="en-US" sz="1200" b="1" dirty="0">
                <a:solidFill>
                  <a:schemeClr val="accent3"/>
                </a:solidFill>
              </a:rPr>
              <a:t>BEKHIT   </a:t>
            </a:r>
            <a:endParaRPr lang="en-US" sz="1200" dirty="0"/>
          </a:p>
          <a:p>
            <a:pPr marL="0" indent="0">
              <a:buNone/>
            </a:pPr>
            <a:r>
              <a:rPr lang="en-US" i="1" dirty="0">
                <a:solidFill>
                  <a:schemeClr val="tx1"/>
                </a:solidFill>
              </a:rPr>
              <a:t>❌  The fastest animal in the land is Lion</a:t>
            </a:r>
            <a:endParaRPr lang="en-US" dirty="0"/>
          </a:p>
        </p:txBody>
      </p:sp>
      <p:sp>
        <p:nvSpPr>
          <p:cNvPr id="31" name="Text 28"/>
          <p:cNvSpPr txBox="1"/>
          <p:nvPr/>
        </p:nvSpPr>
        <p:spPr>
          <a:xfrm>
            <a:off x="5806440" y="4818888"/>
            <a:ext cx="548640" cy="731520"/>
          </a:xfrm>
          <a:prstGeom prst="rect">
            <a:avLst/>
          </a:prstGeom>
          <a:noFill/>
          <a:ln/>
        </p:spPr>
        <p:txBody>
          <a:bodyPr wrap="square" lIns="0" tIns="0" rIns="0" bIns="0" rtlCol="0" anchor="ctr"/>
          <a:lstStyle/>
          <a:p>
            <a:pPr marL="0" indent="0" algn="ctr">
              <a:buNone/>
            </a:pPr>
            <a:r>
              <a:rPr lang="en-US" sz="2400" b="1" dirty="0">
                <a:solidFill>
                  <a:schemeClr val="accent1"/>
                </a:solidFill>
              </a:rPr>
              <a:t>➜</a:t>
            </a:r>
            <a:endParaRPr lang="en-US" sz="2400" dirty="0"/>
          </a:p>
        </p:txBody>
      </p:sp>
      <p:sp>
        <p:nvSpPr>
          <p:cNvPr id="32" name="Shape 29"/>
          <p:cNvSpPr/>
          <p:nvPr/>
        </p:nvSpPr>
        <p:spPr>
          <a:xfrm>
            <a:off x="6400800" y="4818888"/>
            <a:ext cx="5257800" cy="731520"/>
          </a:xfrm>
          <a:prstGeom prst="rect">
            <a:avLst/>
          </a:prstGeom>
          <a:solidFill>
            <a:schemeClr val="bg1"/>
          </a:solidFill>
          <a:ln/>
          <a:effectLst>
            <a:outerShdw blurRad="76200" dist="25400" dir="5400000" algn="bl" rotWithShape="0">
              <a:srgbClr val="000000">
                <a:alpha val="12000"/>
              </a:srgbClr>
            </a:outerShdw>
          </a:effectLst>
        </p:spPr>
      </p:sp>
      <p:sp>
        <p:nvSpPr>
          <p:cNvPr id="33" name="Text 30"/>
          <p:cNvSpPr txBox="1"/>
          <p:nvPr/>
        </p:nvSpPr>
        <p:spPr>
          <a:xfrm>
            <a:off x="6583680" y="4818888"/>
            <a:ext cx="4892040" cy="731520"/>
          </a:xfrm>
          <a:prstGeom prst="rect">
            <a:avLst/>
          </a:prstGeom>
          <a:noFill/>
          <a:ln/>
        </p:spPr>
        <p:txBody>
          <a:bodyPr wrap="square" lIns="0" tIns="0" rIns="0" bIns="0" rtlCol="0" anchor="ctr"/>
          <a:lstStyle/>
          <a:p>
            <a:pPr marL="0" indent="0">
              <a:buNone/>
            </a:pPr>
            <a:r>
              <a:rPr lang="en-US" b="1" dirty="0">
                <a:solidFill>
                  <a:schemeClr val="tx1"/>
                </a:solidFill>
              </a:rPr>
              <a:t>✅  The cheetah is the fastest land animal. The lion is a powerful predator.</a:t>
            </a:r>
            <a:endParaRPr lang="en-US" dirty="0"/>
          </a:p>
        </p:txBody>
      </p:sp>
      <p:sp>
        <p:nvSpPr>
          <p:cNvPr id="34" name="Text 31"/>
          <p:cNvSpPr txBox="1"/>
          <p:nvPr/>
        </p:nvSpPr>
        <p:spPr>
          <a:xfrm>
            <a:off x="548640" y="5989320"/>
            <a:ext cx="11094415" cy="502920"/>
          </a:xfrm>
          <a:prstGeom prst="rect">
            <a:avLst/>
          </a:prstGeom>
          <a:solidFill>
            <a:schemeClr val="tx1"/>
          </a:solidFill>
          <a:ln/>
        </p:spPr>
        <p:txBody>
          <a:bodyPr wrap="square" lIns="1270" tIns="1270" rIns="1270" bIns="1270" rtlCol="0" anchor="ctr"/>
          <a:lstStyle/>
          <a:p>
            <a:pPr marL="0" indent="0" algn="ctr">
              <a:buNone/>
            </a:pPr>
            <a:r>
              <a:rPr lang="en-US" sz="2400" b="1" dirty="0">
                <a:solidFill>
                  <a:schemeClr val="bg1"/>
                </a:solidFill>
              </a:rPr>
              <a:t>Vague word → precise word.  Check every fact in a reliable source.</a:t>
            </a:r>
            <a:endParaRPr lang="en-US"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0"/>
            <a:ext cx="9326880" cy="822960"/>
          </a:xfrm>
          <a:prstGeom prst="rect">
            <a:avLst/>
          </a:prstGeom>
          <a:noFill/>
          <a:ln/>
        </p:spPr>
        <p:txBody>
          <a:bodyPr wrap="square" lIns="0" tIns="0" rIns="0" bIns="0" rtlCol="0" anchor="ctr"/>
          <a:lstStyle/>
          <a:p>
            <a:pPr marL="0" indent="0" algn="l">
              <a:buNone/>
            </a:pPr>
            <a:r>
              <a:rPr lang="en-US" sz="2600" b="1" dirty="0">
                <a:solidFill>
                  <a:schemeClr val="bg1"/>
                </a:solidFill>
                <a:latin typeface="+mj-lt" pitchFamily="34" charset="0"/>
                <a:ea typeface="+mj-lt" pitchFamily="34" charset="-122"/>
                <a:cs typeface="+mj-lt" pitchFamily="34" charset="-120"/>
              </a:rPr>
              <a:t>Fix 8: spelling topic words</a:t>
            </a:r>
            <a:endParaRPr lang="en-US" sz="2600" dirty="0"/>
          </a:p>
        </p:txBody>
      </p:sp>
      <p:sp>
        <p:nvSpPr>
          <p:cNvPr id="3" name="Tag"/>
          <p:cNvSpPr txBox="1"/>
          <p:nvPr/>
        </p:nvSpPr>
        <p:spPr>
          <a:xfrm>
            <a:off x="10332720" y="256032"/>
            <a:ext cx="1463040" cy="310896"/>
          </a:xfrm>
          <a:prstGeom prst="rect">
            <a:avLst/>
          </a:prstGeom>
          <a:solidFill>
            <a:schemeClr val="accent2"/>
          </a:solidFill>
          <a:ln/>
        </p:spPr>
        <p:txBody>
          <a:bodyPr wrap="square" lIns="0" tIns="0" rIns="0" bIns="0" rtlCol="0" anchor="ctr"/>
          <a:lstStyle/>
          <a:p>
            <a:pPr marL="0" indent="0" algn="ctr">
              <a:buNone/>
            </a:pPr>
            <a:r>
              <a:rPr lang="en-US" sz="1100" b="1" dirty="0">
                <a:solidFill>
                  <a:schemeClr val="tx1"/>
                </a:solidFill>
              </a:rPr>
              <a:t>FIX IT</a:t>
            </a:r>
            <a:endParaRPr lang="en-US" sz="1100" dirty="0"/>
          </a:p>
        </p:txBody>
      </p:sp>
      <p:sp>
        <p:nvSpPr>
          <p:cNvPr id="5" name="Shape 2"/>
          <p:cNvSpPr/>
          <p:nvPr/>
        </p:nvSpPr>
        <p:spPr>
          <a:xfrm>
            <a:off x="548640" y="1097280"/>
            <a:ext cx="2331720" cy="1005840"/>
          </a:xfrm>
          <a:prstGeom prst="rect">
            <a:avLst/>
          </a:prstGeom>
          <a:solidFill>
            <a:schemeClr val="bg1"/>
          </a:solidFill>
          <a:ln/>
          <a:effectLst>
            <a:outerShdw blurRad="76200" dist="25400" dir="5400000" algn="bl" rotWithShape="0">
              <a:srgbClr val="000000">
                <a:alpha val="12000"/>
              </a:srgbClr>
            </a:outerShdw>
          </a:effectLst>
        </p:spPr>
      </p:sp>
      <p:sp>
        <p:nvSpPr>
          <p:cNvPr id="6" name="Text 3"/>
          <p:cNvSpPr txBox="1"/>
          <p:nvPr/>
        </p:nvSpPr>
        <p:spPr>
          <a:xfrm>
            <a:off x="658368" y="1097280"/>
            <a:ext cx="2103120" cy="1005840"/>
          </a:xfrm>
          <a:prstGeom prst="rect">
            <a:avLst/>
          </a:prstGeom>
          <a:noFill/>
          <a:ln/>
        </p:spPr>
        <p:txBody>
          <a:bodyPr wrap="square" lIns="0" tIns="0" rIns="0" bIns="0" rtlCol="0" anchor="ctr"/>
          <a:lstStyle/>
          <a:p>
            <a:pPr marL="0" indent="0">
              <a:buNone/>
            </a:pPr>
            <a:r>
              <a:rPr lang="en-US" sz="1400" dirty="0">
                <a:solidFill>
                  <a:schemeClr val="accent3"/>
                </a:solidFill>
              </a:rPr>
              <a:t>❌ creater</a:t>
            </a:r>
            <a:endParaRPr lang="en-US" sz="1400" dirty="0"/>
          </a:p>
          <a:p>
            <a:pPr marL="0" indent="0">
              <a:buNone/>
            </a:pPr>
            <a:r>
              <a:rPr lang="en-US" sz="2400" b="1" dirty="0">
                <a:solidFill>
                  <a:schemeClr val="accent1"/>
                </a:solidFill>
              </a:rPr>
              <a:t>✅ creature</a:t>
            </a:r>
            <a:endParaRPr lang="en-US" sz="2000" dirty="0"/>
          </a:p>
          <a:p>
            <a:pPr marL="0" indent="0">
              <a:buNone/>
            </a:pPr>
            <a:r>
              <a:rPr lang="en-US" sz="1000" b="1" dirty="0">
                <a:solidFill>
                  <a:schemeClr val="tx1"/>
                </a:solidFill>
              </a:rPr>
              <a:t>RENAD</a:t>
            </a:r>
            <a:endParaRPr lang="en-US" sz="1400" dirty="0"/>
          </a:p>
        </p:txBody>
      </p:sp>
      <p:sp>
        <p:nvSpPr>
          <p:cNvPr id="7" name="Shape 4"/>
          <p:cNvSpPr/>
          <p:nvPr/>
        </p:nvSpPr>
        <p:spPr>
          <a:xfrm>
            <a:off x="3063240" y="1097280"/>
            <a:ext cx="2331720" cy="1005840"/>
          </a:xfrm>
          <a:prstGeom prst="rect">
            <a:avLst/>
          </a:prstGeom>
          <a:solidFill>
            <a:schemeClr val="bg1"/>
          </a:solidFill>
          <a:ln/>
          <a:effectLst>
            <a:outerShdw blurRad="76200" dist="25400" dir="5400000" algn="bl" rotWithShape="0">
              <a:srgbClr val="000000">
                <a:alpha val="12000"/>
              </a:srgbClr>
            </a:outerShdw>
          </a:effectLst>
        </p:spPr>
      </p:sp>
      <p:sp>
        <p:nvSpPr>
          <p:cNvPr id="8" name="Text 5"/>
          <p:cNvSpPr txBox="1"/>
          <p:nvPr/>
        </p:nvSpPr>
        <p:spPr>
          <a:xfrm>
            <a:off x="3172968" y="1097280"/>
            <a:ext cx="2103120" cy="1005840"/>
          </a:xfrm>
          <a:prstGeom prst="rect">
            <a:avLst/>
          </a:prstGeom>
          <a:noFill/>
          <a:ln/>
        </p:spPr>
        <p:txBody>
          <a:bodyPr wrap="square" lIns="0" tIns="0" rIns="0" bIns="0" rtlCol="0" anchor="ctr"/>
          <a:lstStyle/>
          <a:p>
            <a:pPr marL="0" indent="0">
              <a:buNone/>
            </a:pPr>
            <a:r>
              <a:rPr lang="en-US" sz="1400" dirty="0">
                <a:solidFill>
                  <a:schemeClr val="accent3"/>
                </a:solidFill>
              </a:rPr>
              <a:t>❌ tropicl</a:t>
            </a:r>
            <a:endParaRPr lang="en-US" sz="1400" dirty="0"/>
          </a:p>
          <a:p>
            <a:pPr marL="0" indent="0">
              <a:buNone/>
            </a:pPr>
            <a:r>
              <a:rPr lang="en-US" sz="2000" b="1" dirty="0">
                <a:solidFill>
                  <a:schemeClr val="accent1"/>
                </a:solidFill>
              </a:rPr>
              <a:t>✅ tropical</a:t>
            </a:r>
            <a:endParaRPr lang="en-US" dirty="0"/>
          </a:p>
          <a:p>
            <a:pPr marL="0" indent="0">
              <a:buNone/>
            </a:pPr>
            <a:r>
              <a:rPr lang="en-US" sz="1000" b="1" dirty="0">
                <a:solidFill>
                  <a:schemeClr val="tx1"/>
                </a:solidFill>
              </a:rPr>
              <a:t>RENAD</a:t>
            </a:r>
            <a:endParaRPr lang="en-US" sz="1400" dirty="0"/>
          </a:p>
        </p:txBody>
      </p:sp>
      <p:sp>
        <p:nvSpPr>
          <p:cNvPr id="9" name="Shape 6"/>
          <p:cNvSpPr/>
          <p:nvPr/>
        </p:nvSpPr>
        <p:spPr>
          <a:xfrm>
            <a:off x="5577840" y="1097280"/>
            <a:ext cx="2331720" cy="1005840"/>
          </a:xfrm>
          <a:prstGeom prst="rect">
            <a:avLst/>
          </a:prstGeom>
          <a:solidFill>
            <a:schemeClr val="bg1"/>
          </a:solidFill>
          <a:ln/>
          <a:effectLst>
            <a:outerShdw blurRad="76200" dist="25400" dir="5400000" algn="bl" rotWithShape="0">
              <a:srgbClr val="000000">
                <a:alpha val="12000"/>
              </a:srgbClr>
            </a:outerShdw>
          </a:effectLst>
        </p:spPr>
      </p:sp>
      <p:sp>
        <p:nvSpPr>
          <p:cNvPr id="10" name="Text 7"/>
          <p:cNvSpPr txBox="1"/>
          <p:nvPr/>
        </p:nvSpPr>
        <p:spPr>
          <a:xfrm>
            <a:off x="5687568" y="1097280"/>
            <a:ext cx="2103120" cy="1005840"/>
          </a:xfrm>
          <a:prstGeom prst="rect">
            <a:avLst/>
          </a:prstGeom>
          <a:noFill/>
          <a:ln/>
        </p:spPr>
        <p:txBody>
          <a:bodyPr wrap="square" lIns="0" tIns="0" rIns="0" bIns="0" rtlCol="0" anchor="ctr"/>
          <a:lstStyle/>
          <a:p>
            <a:pPr marL="0" indent="0">
              <a:buNone/>
            </a:pPr>
            <a:r>
              <a:rPr lang="en-US" sz="1400" dirty="0">
                <a:solidFill>
                  <a:schemeClr val="accent3"/>
                </a:solidFill>
              </a:rPr>
              <a:t>❌ alage</a:t>
            </a:r>
            <a:endParaRPr lang="en-US" sz="1400" dirty="0"/>
          </a:p>
          <a:p>
            <a:pPr marL="0" indent="0">
              <a:buNone/>
            </a:pPr>
            <a:r>
              <a:rPr lang="en-US" sz="2400" b="1" dirty="0">
                <a:solidFill>
                  <a:schemeClr val="accent1"/>
                </a:solidFill>
              </a:rPr>
              <a:t>✅ algae</a:t>
            </a:r>
            <a:endParaRPr lang="en-US" sz="2000" dirty="0"/>
          </a:p>
          <a:p>
            <a:pPr marL="0" indent="0">
              <a:buNone/>
            </a:pPr>
            <a:r>
              <a:rPr lang="en-US" sz="1000" b="1" dirty="0">
                <a:solidFill>
                  <a:schemeClr val="tx1"/>
                </a:solidFill>
              </a:rPr>
              <a:t>RENAD</a:t>
            </a:r>
            <a:endParaRPr lang="en-US" sz="1400" dirty="0"/>
          </a:p>
        </p:txBody>
      </p:sp>
      <p:sp>
        <p:nvSpPr>
          <p:cNvPr id="11" name="Shape 8"/>
          <p:cNvSpPr/>
          <p:nvPr/>
        </p:nvSpPr>
        <p:spPr>
          <a:xfrm>
            <a:off x="548640" y="2286000"/>
            <a:ext cx="2331720" cy="1005840"/>
          </a:xfrm>
          <a:prstGeom prst="rect">
            <a:avLst/>
          </a:prstGeom>
          <a:solidFill>
            <a:schemeClr val="bg1"/>
          </a:solidFill>
          <a:ln/>
          <a:effectLst>
            <a:outerShdw blurRad="76200" dist="25400" dir="5400000" algn="bl" rotWithShape="0">
              <a:srgbClr val="000000">
                <a:alpha val="12000"/>
              </a:srgbClr>
            </a:outerShdw>
          </a:effectLst>
        </p:spPr>
      </p:sp>
      <p:sp>
        <p:nvSpPr>
          <p:cNvPr id="12" name="Text 9"/>
          <p:cNvSpPr txBox="1"/>
          <p:nvPr/>
        </p:nvSpPr>
        <p:spPr>
          <a:xfrm>
            <a:off x="658368" y="2286000"/>
            <a:ext cx="2103120" cy="1005840"/>
          </a:xfrm>
          <a:prstGeom prst="rect">
            <a:avLst/>
          </a:prstGeom>
          <a:noFill/>
          <a:ln/>
        </p:spPr>
        <p:txBody>
          <a:bodyPr wrap="square" lIns="0" tIns="0" rIns="0" bIns="0" rtlCol="0" anchor="ctr"/>
          <a:lstStyle/>
          <a:p>
            <a:pPr marL="0" indent="0">
              <a:buNone/>
            </a:pPr>
            <a:r>
              <a:rPr lang="en-US" sz="1400" dirty="0">
                <a:solidFill>
                  <a:schemeClr val="accent3"/>
                </a:solidFill>
              </a:rPr>
              <a:t>❌ ocen</a:t>
            </a:r>
            <a:endParaRPr lang="en-US" sz="1400" dirty="0"/>
          </a:p>
          <a:p>
            <a:pPr marL="0" indent="0">
              <a:buNone/>
            </a:pPr>
            <a:r>
              <a:rPr lang="en-US" sz="2000" b="1" dirty="0">
                <a:solidFill>
                  <a:schemeClr val="accent1"/>
                </a:solidFill>
              </a:rPr>
              <a:t>✅ ocean</a:t>
            </a:r>
            <a:endParaRPr lang="en-US" dirty="0"/>
          </a:p>
          <a:p>
            <a:pPr marL="0" indent="0">
              <a:buNone/>
            </a:pPr>
            <a:r>
              <a:rPr lang="en-US" sz="1000" b="1" dirty="0">
                <a:solidFill>
                  <a:schemeClr val="tx1"/>
                </a:solidFill>
              </a:rPr>
              <a:t>RENAD</a:t>
            </a:r>
            <a:endParaRPr lang="en-US" sz="1400" dirty="0"/>
          </a:p>
        </p:txBody>
      </p:sp>
      <p:sp>
        <p:nvSpPr>
          <p:cNvPr id="13" name="Shape 10"/>
          <p:cNvSpPr/>
          <p:nvPr/>
        </p:nvSpPr>
        <p:spPr>
          <a:xfrm>
            <a:off x="3063240" y="2286000"/>
            <a:ext cx="2331720" cy="1005840"/>
          </a:xfrm>
          <a:prstGeom prst="rect">
            <a:avLst/>
          </a:prstGeom>
          <a:solidFill>
            <a:schemeClr val="bg1"/>
          </a:solidFill>
          <a:ln/>
          <a:effectLst>
            <a:outerShdw blurRad="76200" dist="25400" dir="5400000" algn="bl" rotWithShape="0">
              <a:srgbClr val="000000">
                <a:alpha val="12000"/>
              </a:srgbClr>
            </a:outerShdw>
          </a:effectLst>
        </p:spPr>
      </p:sp>
      <p:sp>
        <p:nvSpPr>
          <p:cNvPr id="14" name="Text 11"/>
          <p:cNvSpPr txBox="1"/>
          <p:nvPr/>
        </p:nvSpPr>
        <p:spPr>
          <a:xfrm>
            <a:off x="3172968" y="2286000"/>
            <a:ext cx="2103120" cy="1005840"/>
          </a:xfrm>
          <a:prstGeom prst="rect">
            <a:avLst/>
          </a:prstGeom>
          <a:noFill/>
          <a:ln/>
        </p:spPr>
        <p:txBody>
          <a:bodyPr wrap="square" lIns="0" tIns="0" rIns="0" bIns="0" rtlCol="0" anchor="ctr"/>
          <a:lstStyle/>
          <a:p>
            <a:pPr marL="0" indent="0">
              <a:buNone/>
            </a:pPr>
            <a:r>
              <a:rPr lang="en-US" sz="1400" dirty="0">
                <a:solidFill>
                  <a:schemeClr val="accent3"/>
                </a:solidFill>
              </a:rPr>
              <a:t>❌ dangous</a:t>
            </a:r>
            <a:endParaRPr lang="en-US" sz="1400" dirty="0"/>
          </a:p>
          <a:p>
            <a:pPr marL="0" indent="0">
              <a:buNone/>
            </a:pPr>
            <a:r>
              <a:rPr lang="en-US" sz="2000" b="1" dirty="0">
                <a:solidFill>
                  <a:schemeClr val="accent1"/>
                </a:solidFill>
              </a:rPr>
              <a:t>✅ dangerous</a:t>
            </a:r>
            <a:endParaRPr lang="en-US" dirty="0"/>
          </a:p>
          <a:p>
            <a:pPr marL="0" indent="0">
              <a:buNone/>
            </a:pPr>
            <a:r>
              <a:rPr lang="en-US" sz="1000" b="1" dirty="0">
                <a:solidFill>
                  <a:schemeClr val="tx1"/>
                </a:solidFill>
              </a:rPr>
              <a:t>RENAD</a:t>
            </a:r>
            <a:endParaRPr lang="en-US" sz="1400" dirty="0"/>
          </a:p>
        </p:txBody>
      </p:sp>
      <p:sp>
        <p:nvSpPr>
          <p:cNvPr id="15" name="Shape 12"/>
          <p:cNvSpPr/>
          <p:nvPr/>
        </p:nvSpPr>
        <p:spPr>
          <a:xfrm>
            <a:off x="5577840" y="2286000"/>
            <a:ext cx="2331720" cy="1005840"/>
          </a:xfrm>
          <a:prstGeom prst="rect">
            <a:avLst/>
          </a:prstGeom>
          <a:solidFill>
            <a:schemeClr val="bg1"/>
          </a:solidFill>
          <a:ln/>
          <a:effectLst>
            <a:outerShdw blurRad="76200" dist="25400" dir="5400000" algn="bl" rotWithShape="0">
              <a:srgbClr val="000000">
                <a:alpha val="12000"/>
              </a:srgbClr>
            </a:outerShdw>
          </a:effectLst>
        </p:spPr>
      </p:sp>
      <p:sp>
        <p:nvSpPr>
          <p:cNvPr id="16" name="Text 13"/>
          <p:cNvSpPr txBox="1"/>
          <p:nvPr/>
        </p:nvSpPr>
        <p:spPr>
          <a:xfrm>
            <a:off x="5687568" y="2286000"/>
            <a:ext cx="2103120" cy="1005840"/>
          </a:xfrm>
          <a:prstGeom prst="rect">
            <a:avLst/>
          </a:prstGeom>
          <a:noFill/>
          <a:ln/>
        </p:spPr>
        <p:txBody>
          <a:bodyPr wrap="square" lIns="0" tIns="0" rIns="0" bIns="0" rtlCol="0" anchor="ctr"/>
          <a:lstStyle/>
          <a:p>
            <a:pPr marL="0" indent="0">
              <a:buNone/>
            </a:pPr>
            <a:r>
              <a:rPr lang="en-US" sz="1400" dirty="0">
                <a:solidFill>
                  <a:schemeClr val="accent3"/>
                </a:solidFill>
              </a:rPr>
              <a:t>❌ nessting</a:t>
            </a:r>
            <a:endParaRPr lang="en-US" sz="1400" dirty="0"/>
          </a:p>
          <a:p>
            <a:pPr marL="0" indent="0">
              <a:buNone/>
            </a:pPr>
            <a:r>
              <a:rPr lang="en-US" sz="2000" b="1" dirty="0">
                <a:solidFill>
                  <a:schemeClr val="accent1"/>
                </a:solidFill>
              </a:rPr>
              <a:t>✅ nesting</a:t>
            </a:r>
            <a:endParaRPr lang="en-US" dirty="0"/>
          </a:p>
          <a:p>
            <a:pPr marL="0" indent="0">
              <a:buNone/>
            </a:pPr>
            <a:r>
              <a:rPr lang="en-US" sz="1000" b="1" dirty="0">
                <a:solidFill>
                  <a:schemeClr val="tx1"/>
                </a:solidFill>
              </a:rPr>
              <a:t>RENAD</a:t>
            </a:r>
            <a:endParaRPr lang="en-US" sz="1400" dirty="0"/>
          </a:p>
        </p:txBody>
      </p:sp>
      <p:sp>
        <p:nvSpPr>
          <p:cNvPr id="17" name="Shape 14"/>
          <p:cNvSpPr/>
          <p:nvPr/>
        </p:nvSpPr>
        <p:spPr>
          <a:xfrm>
            <a:off x="548640" y="3474720"/>
            <a:ext cx="2331720" cy="1005840"/>
          </a:xfrm>
          <a:prstGeom prst="rect">
            <a:avLst/>
          </a:prstGeom>
          <a:solidFill>
            <a:schemeClr val="bg1"/>
          </a:solidFill>
          <a:ln/>
          <a:effectLst>
            <a:outerShdw blurRad="76200" dist="25400" dir="5400000" algn="bl" rotWithShape="0">
              <a:srgbClr val="000000">
                <a:alpha val="12000"/>
              </a:srgbClr>
            </a:outerShdw>
          </a:effectLst>
        </p:spPr>
      </p:sp>
      <p:sp>
        <p:nvSpPr>
          <p:cNvPr id="18" name="Text 15"/>
          <p:cNvSpPr txBox="1"/>
          <p:nvPr/>
        </p:nvSpPr>
        <p:spPr>
          <a:xfrm>
            <a:off x="658368" y="3474720"/>
            <a:ext cx="2103120" cy="1005840"/>
          </a:xfrm>
          <a:prstGeom prst="rect">
            <a:avLst/>
          </a:prstGeom>
          <a:noFill/>
          <a:ln/>
        </p:spPr>
        <p:txBody>
          <a:bodyPr wrap="square" lIns="0" tIns="0" rIns="0" bIns="0" rtlCol="0" anchor="ctr"/>
          <a:lstStyle/>
          <a:p>
            <a:pPr marL="0" indent="0">
              <a:buNone/>
            </a:pPr>
            <a:r>
              <a:rPr lang="en-US" sz="1400" dirty="0">
                <a:solidFill>
                  <a:schemeClr val="accent3"/>
                </a:solidFill>
              </a:rPr>
              <a:t>❌ marin</a:t>
            </a:r>
            <a:endParaRPr lang="en-US" sz="1400" dirty="0"/>
          </a:p>
          <a:p>
            <a:pPr marL="0" indent="0">
              <a:buNone/>
            </a:pPr>
            <a:r>
              <a:rPr lang="en-US" sz="2000" b="1" dirty="0">
                <a:solidFill>
                  <a:schemeClr val="accent1"/>
                </a:solidFill>
              </a:rPr>
              <a:t>✅ marine</a:t>
            </a:r>
            <a:endParaRPr lang="en-US" dirty="0"/>
          </a:p>
          <a:p>
            <a:pPr marL="0" indent="0">
              <a:buNone/>
            </a:pPr>
            <a:r>
              <a:rPr lang="en-US" sz="1000" b="1" dirty="0">
                <a:solidFill>
                  <a:schemeClr val="tx1"/>
                </a:solidFill>
              </a:rPr>
              <a:t>YASSIN</a:t>
            </a:r>
            <a:endParaRPr lang="en-US" sz="1400" dirty="0"/>
          </a:p>
        </p:txBody>
      </p:sp>
      <p:sp>
        <p:nvSpPr>
          <p:cNvPr id="19" name="Shape 16"/>
          <p:cNvSpPr/>
          <p:nvPr/>
        </p:nvSpPr>
        <p:spPr>
          <a:xfrm>
            <a:off x="3063240" y="3474720"/>
            <a:ext cx="2331720" cy="1005840"/>
          </a:xfrm>
          <a:prstGeom prst="rect">
            <a:avLst/>
          </a:prstGeom>
          <a:solidFill>
            <a:schemeClr val="bg1"/>
          </a:solidFill>
          <a:ln/>
          <a:effectLst>
            <a:outerShdw blurRad="76200" dist="25400" dir="5400000" algn="bl" rotWithShape="0">
              <a:srgbClr val="000000">
                <a:alpha val="12000"/>
              </a:srgbClr>
            </a:outerShdw>
          </a:effectLst>
        </p:spPr>
      </p:sp>
      <p:sp>
        <p:nvSpPr>
          <p:cNvPr id="20" name="Text 17"/>
          <p:cNvSpPr txBox="1"/>
          <p:nvPr/>
        </p:nvSpPr>
        <p:spPr>
          <a:xfrm>
            <a:off x="3172968" y="3474720"/>
            <a:ext cx="2103120" cy="1005840"/>
          </a:xfrm>
          <a:prstGeom prst="rect">
            <a:avLst/>
          </a:prstGeom>
          <a:noFill/>
          <a:ln/>
        </p:spPr>
        <p:txBody>
          <a:bodyPr wrap="square" lIns="0" tIns="0" rIns="0" bIns="0" rtlCol="0" anchor="ctr"/>
          <a:lstStyle/>
          <a:p>
            <a:pPr marL="0" indent="0">
              <a:buNone/>
            </a:pPr>
            <a:r>
              <a:rPr lang="en-US" sz="1400" dirty="0">
                <a:solidFill>
                  <a:schemeClr val="accent3"/>
                </a:solidFill>
              </a:rPr>
              <a:t>❌ tiney</a:t>
            </a:r>
            <a:endParaRPr lang="en-US" sz="1400" dirty="0"/>
          </a:p>
          <a:p>
            <a:pPr marL="0" indent="0">
              <a:buNone/>
            </a:pPr>
            <a:r>
              <a:rPr lang="en-US" sz="2000" b="1" dirty="0">
                <a:solidFill>
                  <a:schemeClr val="accent1"/>
                </a:solidFill>
              </a:rPr>
              <a:t>✅ tiny</a:t>
            </a:r>
            <a:endParaRPr lang="en-US" dirty="0"/>
          </a:p>
          <a:p>
            <a:pPr marL="0" indent="0">
              <a:buNone/>
            </a:pPr>
            <a:r>
              <a:rPr lang="en-US" sz="1000" b="1" dirty="0">
                <a:solidFill>
                  <a:schemeClr val="tx1"/>
                </a:solidFill>
              </a:rPr>
              <a:t>SADEEL</a:t>
            </a:r>
            <a:endParaRPr lang="en-US" sz="1400" dirty="0"/>
          </a:p>
        </p:txBody>
      </p:sp>
      <p:sp>
        <p:nvSpPr>
          <p:cNvPr id="21" name="Shape 18"/>
          <p:cNvSpPr/>
          <p:nvPr/>
        </p:nvSpPr>
        <p:spPr>
          <a:xfrm>
            <a:off x="5577840" y="3474720"/>
            <a:ext cx="2331720" cy="1005840"/>
          </a:xfrm>
          <a:prstGeom prst="rect">
            <a:avLst/>
          </a:prstGeom>
          <a:solidFill>
            <a:schemeClr val="bg1"/>
          </a:solidFill>
          <a:ln/>
          <a:effectLst>
            <a:outerShdw blurRad="76200" dist="25400" dir="5400000" algn="bl" rotWithShape="0">
              <a:srgbClr val="000000">
                <a:alpha val="12000"/>
              </a:srgbClr>
            </a:outerShdw>
          </a:effectLst>
        </p:spPr>
      </p:sp>
      <p:sp>
        <p:nvSpPr>
          <p:cNvPr id="22" name="Text 19"/>
          <p:cNvSpPr txBox="1"/>
          <p:nvPr/>
        </p:nvSpPr>
        <p:spPr>
          <a:xfrm>
            <a:off x="5687568" y="3474720"/>
            <a:ext cx="2103120" cy="1005840"/>
          </a:xfrm>
          <a:prstGeom prst="rect">
            <a:avLst/>
          </a:prstGeom>
          <a:noFill/>
          <a:ln/>
        </p:spPr>
        <p:txBody>
          <a:bodyPr wrap="square" lIns="0" tIns="0" rIns="0" bIns="0" rtlCol="0" anchor="ctr"/>
          <a:lstStyle/>
          <a:p>
            <a:pPr marL="0" indent="0">
              <a:buNone/>
            </a:pPr>
            <a:r>
              <a:rPr lang="en-US" sz="1400" dirty="0">
                <a:solidFill>
                  <a:schemeClr val="accent3"/>
                </a:solidFill>
              </a:rPr>
              <a:t>❌ Protuction</a:t>
            </a:r>
            <a:endParaRPr lang="en-US" sz="1400" dirty="0"/>
          </a:p>
          <a:p>
            <a:pPr marL="0" indent="0">
              <a:buNone/>
            </a:pPr>
            <a:r>
              <a:rPr lang="en-US" sz="2000" b="1" dirty="0">
                <a:solidFill>
                  <a:schemeClr val="accent1"/>
                </a:solidFill>
              </a:rPr>
              <a:t>✅ Protection</a:t>
            </a:r>
            <a:endParaRPr lang="en-US" dirty="0"/>
          </a:p>
          <a:p>
            <a:pPr marL="0" indent="0">
              <a:buNone/>
            </a:pPr>
            <a:r>
              <a:rPr lang="en-US" sz="1000" b="1" dirty="0">
                <a:solidFill>
                  <a:schemeClr val="tx1"/>
                </a:solidFill>
              </a:rPr>
              <a:t>SADEEL</a:t>
            </a:r>
            <a:endParaRPr lang="en-US" sz="1400" dirty="0"/>
          </a:p>
        </p:txBody>
      </p:sp>
      <p:sp>
        <p:nvSpPr>
          <p:cNvPr id="23" name="Shape 20"/>
          <p:cNvSpPr/>
          <p:nvPr/>
        </p:nvSpPr>
        <p:spPr>
          <a:xfrm>
            <a:off x="548640" y="4663440"/>
            <a:ext cx="2331720" cy="1005840"/>
          </a:xfrm>
          <a:prstGeom prst="rect">
            <a:avLst/>
          </a:prstGeom>
          <a:solidFill>
            <a:schemeClr val="bg1"/>
          </a:solidFill>
          <a:ln/>
          <a:effectLst>
            <a:outerShdw blurRad="76200" dist="25400" dir="5400000" algn="bl" rotWithShape="0">
              <a:srgbClr val="000000">
                <a:alpha val="12000"/>
              </a:srgbClr>
            </a:outerShdw>
          </a:effectLst>
        </p:spPr>
      </p:sp>
      <p:sp>
        <p:nvSpPr>
          <p:cNvPr id="24" name="Text 21"/>
          <p:cNvSpPr txBox="1"/>
          <p:nvPr/>
        </p:nvSpPr>
        <p:spPr>
          <a:xfrm>
            <a:off x="658368" y="4663440"/>
            <a:ext cx="2103120" cy="1005840"/>
          </a:xfrm>
          <a:prstGeom prst="rect">
            <a:avLst/>
          </a:prstGeom>
          <a:noFill/>
          <a:ln/>
        </p:spPr>
        <p:txBody>
          <a:bodyPr wrap="square" lIns="0" tIns="0" rIns="0" bIns="0" rtlCol="0" anchor="ctr"/>
          <a:lstStyle/>
          <a:p>
            <a:pPr marL="0" indent="0">
              <a:buNone/>
            </a:pPr>
            <a:r>
              <a:rPr lang="en-US" sz="1400" dirty="0">
                <a:solidFill>
                  <a:schemeClr val="accent3"/>
                </a:solidFill>
              </a:rPr>
              <a:t>❌ Afican</a:t>
            </a:r>
            <a:endParaRPr lang="en-US" sz="1400" dirty="0"/>
          </a:p>
          <a:p>
            <a:pPr marL="0" indent="0">
              <a:buNone/>
            </a:pPr>
            <a:r>
              <a:rPr lang="en-US" b="1" dirty="0">
                <a:solidFill>
                  <a:schemeClr val="accent1"/>
                </a:solidFill>
              </a:rPr>
              <a:t>✅ African</a:t>
            </a:r>
            <a:endParaRPr lang="en-US" sz="1600" dirty="0"/>
          </a:p>
          <a:p>
            <a:pPr marL="0" indent="0">
              <a:buNone/>
            </a:pPr>
            <a:r>
              <a:rPr lang="en-US" sz="1000" b="1" dirty="0">
                <a:solidFill>
                  <a:schemeClr val="tx1"/>
                </a:solidFill>
              </a:rPr>
              <a:t>WASEELA</a:t>
            </a:r>
            <a:endParaRPr lang="en-US" sz="1400" dirty="0"/>
          </a:p>
        </p:txBody>
      </p:sp>
      <p:sp>
        <p:nvSpPr>
          <p:cNvPr id="25" name="Shape 22"/>
          <p:cNvSpPr/>
          <p:nvPr/>
        </p:nvSpPr>
        <p:spPr>
          <a:xfrm>
            <a:off x="3063240" y="4663440"/>
            <a:ext cx="2331720" cy="1005840"/>
          </a:xfrm>
          <a:prstGeom prst="rect">
            <a:avLst/>
          </a:prstGeom>
          <a:solidFill>
            <a:schemeClr val="bg1"/>
          </a:solidFill>
          <a:ln/>
          <a:effectLst>
            <a:outerShdw blurRad="76200" dist="25400" dir="5400000" algn="bl" rotWithShape="0">
              <a:srgbClr val="000000">
                <a:alpha val="12000"/>
              </a:srgbClr>
            </a:outerShdw>
          </a:effectLst>
        </p:spPr>
      </p:sp>
      <p:sp>
        <p:nvSpPr>
          <p:cNvPr id="26" name="Text 23"/>
          <p:cNvSpPr txBox="1"/>
          <p:nvPr/>
        </p:nvSpPr>
        <p:spPr>
          <a:xfrm>
            <a:off x="3172968" y="4663440"/>
            <a:ext cx="2103120" cy="1005840"/>
          </a:xfrm>
          <a:prstGeom prst="rect">
            <a:avLst/>
          </a:prstGeom>
          <a:noFill/>
          <a:ln/>
        </p:spPr>
        <p:txBody>
          <a:bodyPr wrap="square" lIns="0" tIns="0" rIns="0" bIns="0" rtlCol="0" anchor="ctr"/>
          <a:lstStyle/>
          <a:p>
            <a:pPr marL="0" indent="0">
              <a:buNone/>
            </a:pPr>
            <a:r>
              <a:rPr lang="en-US" sz="1400" dirty="0">
                <a:solidFill>
                  <a:schemeClr val="accent3"/>
                </a:solidFill>
              </a:rPr>
              <a:t>❌ sawanas</a:t>
            </a:r>
            <a:endParaRPr lang="en-US" sz="1400" dirty="0"/>
          </a:p>
          <a:p>
            <a:pPr marL="0" indent="0">
              <a:buNone/>
            </a:pPr>
            <a:r>
              <a:rPr lang="en-US" sz="2000" b="1" dirty="0">
                <a:solidFill>
                  <a:schemeClr val="accent1"/>
                </a:solidFill>
              </a:rPr>
              <a:t>✅ savannas</a:t>
            </a:r>
            <a:endParaRPr lang="en-US" dirty="0"/>
          </a:p>
          <a:p>
            <a:pPr marL="0" indent="0">
              <a:buNone/>
            </a:pPr>
            <a:r>
              <a:rPr lang="en-US" sz="1000" b="1" dirty="0">
                <a:solidFill>
                  <a:schemeClr val="tx1"/>
                </a:solidFill>
              </a:rPr>
              <a:t>WASEELA</a:t>
            </a:r>
            <a:endParaRPr lang="en-US" sz="1400" dirty="0"/>
          </a:p>
        </p:txBody>
      </p:sp>
      <p:sp>
        <p:nvSpPr>
          <p:cNvPr id="27" name="Shape 24"/>
          <p:cNvSpPr/>
          <p:nvPr/>
        </p:nvSpPr>
        <p:spPr>
          <a:xfrm>
            <a:off x="5577840" y="4663440"/>
            <a:ext cx="2331720" cy="1005840"/>
          </a:xfrm>
          <a:prstGeom prst="rect">
            <a:avLst/>
          </a:prstGeom>
          <a:solidFill>
            <a:schemeClr val="bg1"/>
          </a:solidFill>
          <a:ln/>
          <a:effectLst>
            <a:outerShdw blurRad="76200" dist="25400" dir="5400000" algn="bl" rotWithShape="0">
              <a:srgbClr val="000000">
                <a:alpha val="12000"/>
              </a:srgbClr>
            </a:outerShdw>
          </a:effectLst>
        </p:spPr>
      </p:sp>
      <p:sp>
        <p:nvSpPr>
          <p:cNvPr id="28" name="Text 25"/>
          <p:cNvSpPr txBox="1"/>
          <p:nvPr/>
        </p:nvSpPr>
        <p:spPr>
          <a:xfrm>
            <a:off x="5687568" y="4663440"/>
            <a:ext cx="2103120" cy="1005840"/>
          </a:xfrm>
          <a:prstGeom prst="rect">
            <a:avLst/>
          </a:prstGeom>
          <a:noFill/>
          <a:ln/>
        </p:spPr>
        <p:txBody>
          <a:bodyPr wrap="square" lIns="0" tIns="0" rIns="0" bIns="0" rtlCol="0" anchor="ctr"/>
          <a:lstStyle/>
          <a:p>
            <a:pPr marL="0" indent="0">
              <a:buNone/>
            </a:pPr>
            <a:r>
              <a:rPr lang="en-US" sz="1400" dirty="0">
                <a:solidFill>
                  <a:schemeClr val="accent3"/>
                </a:solidFill>
              </a:rPr>
              <a:t>❌ anemal</a:t>
            </a:r>
            <a:endParaRPr lang="en-US" sz="1400" dirty="0"/>
          </a:p>
          <a:p>
            <a:pPr marL="0" indent="0">
              <a:buNone/>
            </a:pPr>
            <a:r>
              <a:rPr lang="en-US" sz="2000" b="1" dirty="0">
                <a:solidFill>
                  <a:schemeClr val="accent1"/>
                </a:solidFill>
              </a:rPr>
              <a:t>✅ animal</a:t>
            </a:r>
            <a:endParaRPr lang="en-US" dirty="0"/>
          </a:p>
          <a:p>
            <a:pPr marL="0" indent="0">
              <a:buNone/>
            </a:pPr>
            <a:r>
              <a:rPr lang="en-US" sz="1000" b="1" dirty="0">
                <a:solidFill>
                  <a:schemeClr val="tx1"/>
                </a:solidFill>
              </a:rPr>
              <a:t>BEKHIT</a:t>
            </a:r>
            <a:endParaRPr lang="en-US" sz="1400" dirty="0"/>
          </a:p>
        </p:txBody>
      </p:sp>
      <p:sp>
        <p:nvSpPr>
          <p:cNvPr id="29" name="Card CAPITALS AND SPACES"/>
          <p:cNvSpPr/>
          <p:nvPr/>
        </p:nvSpPr>
        <p:spPr>
          <a:xfrm>
            <a:off x="8183880" y="1097280"/>
            <a:ext cx="3474720" cy="4572000"/>
          </a:xfrm>
          <a:prstGeom prst="rect">
            <a:avLst/>
          </a:prstGeom>
          <a:solidFill>
            <a:schemeClr val="bg1"/>
          </a:solidFill>
          <a:ln/>
          <a:effectLst>
            <a:outerShdw blurRad="76200" dist="25400" dir="5400000" algn="bl" rotWithShape="0">
              <a:srgbClr val="000000">
                <a:alpha val="12000"/>
              </a:srgbClr>
            </a:outerShdw>
          </a:effectLst>
        </p:spPr>
      </p:sp>
      <p:sp>
        <p:nvSpPr>
          <p:cNvPr id="30" name="Shape 27"/>
          <p:cNvSpPr/>
          <p:nvPr/>
        </p:nvSpPr>
        <p:spPr>
          <a:xfrm>
            <a:off x="8183880" y="1097280"/>
            <a:ext cx="3474720" cy="502920"/>
          </a:xfrm>
          <a:prstGeom prst="rect">
            <a:avLst/>
          </a:prstGeom>
          <a:solidFill>
            <a:schemeClr val="tx1"/>
          </a:solidFill>
          <a:ln/>
        </p:spPr>
      </p:sp>
      <p:sp>
        <p:nvSpPr>
          <p:cNvPr id="31" name="Text 28"/>
          <p:cNvSpPr txBox="1"/>
          <p:nvPr/>
        </p:nvSpPr>
        <p:spPr>
          <a:xfrm>
            <a:off x="8311896" y="1097280"/>
            <a:ext cx="3291840" cy="502920"/>
          </a:xfrm>
          <a:prstGeom prst="rect">
            <a:avLst/>
          </a:prstGeom>
          <a:noFill/>
          <a:ln/>
        </p:spPr>
        <p:txBody>
          <a:bodyPr wrap="square" lIns="0" tIns="0" rIns="0" bIns="0" rtlCol="0" anchor="ctr"/>
          <a:lstStyle/>
          <a:p>
            <a:pPr marL="0" indent="0">
              <a:buNone/>
            </a:pPr>
            <a:r>
              <a:rPr lang="en-US" sz="1500" b="1" dirty="0">
                <a:solidFill>
                  <a:schemeClr val="bg1"/>
                </a:solidFill>
              </a:rPr>
              <a:t>CAPITALS AND SPACES</a:t>
            </a:r>
            <a:endParaRPr lang="en-US" sz="1500" dirty="0"/>
          </a:p>
        </p:txBody>
      </p:sp>
      <p:sp>
        <p:nvSpPr>
          <p:cNvPr id="32" name="Text 29"/>
          <p:cNvSpPr txBox="1"/>
          <p:nvPr/>
        </p:nvSpPr>
        <p:spPr>
          <a:xfrm>
            <a:off x="8035610" y="1673352"/>
            <a:ext cx="3639312" cy="3922776"/>
          </a:xfrm>
          <a:prstGeom prst="rect">
            <a:avLst/>
          </a:prstGeom>
          <a:noFill/>
          <a:ln/>
        </p:spPr>
        <p:txBody>
          <a:bodyPr wrap="square" lIns="508" tIns="508" rIns="508" bIns="508" rtlCol="0" anchor="t"/>
          <a:lstStyle/>
          <a:p>
            <a:pPr marL="342900" indent="-342900" algn="l">
              <a:spcAft>
                <a:spcPts val="900"/>
              </a:spcAft>
              <a:buSzPct val="100000"/>
              <a:buChar char="•"/>
            </a:pPr>
            <a:r>
              <a:rPr lang="en-US" sz="1600" dirty="0">
                <a:solidFill>
                  <a:schemeClr val="tx1"/>
                </a:solidFill>
              </a:rPr>
              <a:t>African, Earth, West Africa</a:t>
            </a:r>
            <a:endParaRPr lang="en-US" sz="1600" dirty="0"/>
          </a:p>
          <a:p>
            <a:pPr marL="342900" indent="-342900" algn="l">
              <a:spcAft>
                <a:spcPts val="900"/>
              </a:spcAft>
              <a:buSzPct val="100000"/>
              <a:buChar char="•"/>
            </a:pPr>
            <a:r>
              <a:rPr lang="en-US" sz="1600" dirty="0">
                <a:solidFill>
                  <a:schemeClr val="tx1"/>
                </a:solidFill>
              </a:rPr>
              <a:t>Capital to start every sentence</a:t>
            </a:r>
            <a:endParaRPr lang="en-US" sz="1600" dirty="0"/>
          </a:p>
          <a:p>
            <a:pPr marL="342900" indent="-342900" algn="l">
              <a:spcAft>
                <a:spcPts val="900"/>
              </a:spcAft>
              <a:buSzPct val="100000"/>
              <a:buChar char="•"/>
            </a:pPr>
            <a:r>
              <a:rPr lang="en-US" sz="1600" dirty="0">
                <a:solidFill>
                  <a:schemeClr val="tx1"/>
                </a:solidFill>
              </a:rPr>
              <a:t>No capital in the middle: illegal, plastic</a:t>
            </a:r>
            <a:endParaRPr lang="en-US" sz="1600" dirty="0"/>
          </a:p>
          <a:p>
            <a:pPr marL="342900" indent="-342900" algn="l">
              <a:spcAft>
                <a:spcPts val="900"/>
              </a:spcAft>
              <a:buSzPct val="100000"/>
              <a:buChar char="•"/>
            </a:pPr>
            <a:r>
              <a:rPr lang="en-US" sz="1600" dirty="0">
                <a:solidFill>
                  <a:schemeClr val="tx1"/>
                </a:solidFill>
              </a:rPr>
              <a:t>Check the word bank first</a:t>
            </a:r>
            <a:endParaRPr lang="en-US" sz="1600" dirty="0"/>
          </a:p>
          <a:p>
            <a:pPr marL="342900" indent="-342900" algn="l">
              <a:spcAft>
                <a:spcPts val="900"/>
              </a:spcAft>
              <a:buSzPct val="100000"/>
              <a:buChar char="•"/>
            </a:pPr>
            <a:r>
              <a:rPr lang="en-US" sz="1600" dirty="0">
                <a:solidFill>
                  <a:schemeClr val="tx1"/>
                </a:solidFill>
              </a:rPr>
              <a:t>A finger-space between words</a:t>
            </a:r>
            <a:endParaRPr lang="en-US" sz="1600" dirty="0"/>
          </a:p>
        </p:txBody>
      </p:sp>
      <p:sp>
        <p:nvSpPr>
          <p:cNvPr id="33" name="Text 30"/>
          <p:cNvSpPr txBox="1"/>
          <p:nvPr/>
        </p:nvSpPr>
        <p:spPr>
          <a:xfrm>
            <a:off x="548640" y="5989320"/>
            <a:ext cx="11094415" cy="502920"/>
          </a:xfrm>
          <a:prstGeom prst="rect">
            <a:avLst/>
          </a:prstGeom>
          <a:solidFill>
            <a:schemeClr val="tx1"/>
          </a:solidFill>
          <a:ln/>
        </p:spPr>
        <p:txBody>
          <a:bodyPr wrap="square" lIns="1270" tIns="1270" rIns="1270" bIns="1270" rtlCol="0" anchor="ctr"/>
          <a:lstStyle/>
          <a:p>
            <a:pPr marL="0" indent="0" algn="ctr">
              <a:buNone/>
            </a:pPr>
            <a:r>
              <a:rPr lang="en-US" sz="1600" b="1" dirty="0">
                <a:solidFill>
                  <a:schemeClr val="bg1"/>
                </a:solidFill>
              </a:rPr>
              <a:t>Copy topic words from a reliable source before you write them</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0"/>
            <a:ext cx="9326880" cy="822960"/>
          </a:xfrm>
          <a:prstGeom prst="rect">
            <a:avLst/>
          </a:prstGeom>
          <a:noFill/>
          <a:ln/>
        </p:spPr>
        <p:txBody>
          <a:bodyPr wrap="square" lIns="0" tIns="0" rIns="0" bIns="0" rtlCol="0" anchor="ctr"/>
          <a:lstStyle/>
          <a:p>
            <a:pPr marL="0" indent="0" algn="l">
              <a:buNone/>
            </a:pPr>
            <a:r>
              <a:rPr lang="en-US" sz="2600" b="1" dirty="0">
                <a:solidFill>
                  <a:schemeClr val="bg1"/>
                </a:solidFill>
                <a:latin typeface="+mj-lt" pitchFamily="34" charset="0"/>
                <a:ea typeface="+mj-lt" pitchFamily="34" charset="-122"/>
                <a:cs typeface="+mj-lt" pitchFamily="34" charset="-120"/>
              </a:rPr>
              <a:t>Use feedback, don’t copy it</a:t>
            </a:r>
            <a:endParaRPr lang="en-US" sz="2600" dirty="0"/>
          </a:p>
        </p:txBody>
      </p:sp>
      <p:sp>
        <p:nvSpPr>
          <p:cNvPr id="3" name="Tag"/>
          <p:cNvSpPr txBox="1"/>
          <p:nvPr/>
        </p:nvSpPr>
        <p:spPr>
          <a:xfrm>
            <a:off x="10332720" y="256032"/>
            <a:ext cx="1463040" cy="310896"/>
          </a:xfrm>
          <a:prstGeom prst="rect">
            <a:avLst/>
          </a:prstGeom>
          <a:solidFill>
            <a:schemeClr val="accent2"/>
          </a:solidFill>
          <a:ln/>
        </p:spPr>
        <p:txBody>
          <a:bodyPr wrap="square" lIns="0" tIns="0" rIns="0" bIns="0" rtlCol="0" anchor="ctr"/>
          <a:lstStyle/>
          <a:p>
            <a:pPr marL="0" indent="0" algn="ctr">
              <a:buNone/>
            </a:pPr>
            <a:r>
              <a:rPr lang="en-US" sz="1100" b="1" dirty="0">
                <a:solidFill>
                  <a:schemeClr val="tx1"/>
                </a:solidFill>
              </a:rPr>
              <a:t>OWN WORDS</a:t>
            </a:r>
            <a:endParaRPr lang="en-US" sz="1100" dirty="0"/>
          </a:p>
        </p:txBody>
      </p:sp>
      <p:sp>
        <p:nvSpPr>
          <p:cNvPr id="5" name="Shape 2"/>
          <p:cNvSpPr/>
          <p:nvPr/>
        </p:nvSpPr>
        <p:spPr>
          <a:xfrm>
            <a:off x="548640" y="1097280"/>
            <a:ext cx="11094415" cy="841248"/>
          </a:xfrm>
          <a:prstGeom prst="rect">
            <a:avLst/>
          </a:prstGeom>
          <a:solidFill>
            <a:schemeClr val="bg1"/>
          </a:solidFill>
          <a:ln/>
          <a:effectLst>
            <a:outerShdw blurRad="76200" dist="25400" dir="5400000" algn="bl" rotWithShape="0">
              <a:srgbClr val="000000">
                <a:alpha val="12000"/>
              </a:srgbClr>
            </a:outerShdw>
          </a:effectLst>
        </p:spPr>
      </p:sp>
      <p:sp>
        <p:nvSpPr>
          <p:cNvPr id="6" name="Text 3"/>
          <p:cNvSpPr txBox="1"/>
          <p:nvPr/>
        </p:nvSpPr>
        <p:spPr>
          <a:xfrm>
            <a:off x="777240" y="1225296"/>
            <a:ext cx="585216" cy="585216"/>
          </a:xfrm>
          <a:prstGeom prst="ellipse">
            <a:avLst/>
          </a:prstGeom>
          <a:solidFill>
            <a:schemeClr val="accent1"/>
          </a:solid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7" name="Text 4"/>
          <p:cNvSpPr txBox="1"/>
          <p:nvPr/>
        </p:nvSpPr>
        <p:spPr>
          <a:xfrm>
            <a:off x="1645920" y="1097280"/>
            <a:ext cx="1645920" cy="841248"/>
          </a:xfrm>
          <a:prstGeom prst="rect">
            <a:avLst/>
          </a:prstGeom>
          <a:noFill/>
          <a:ln/>
        </p:spPr>
        <p:txBody>
          <a:bodyPr wrap="square" lIns="0" tIns="0" rIns="0" bIns="0" rtlCol="0" anchor="ctr"/>
          <a:lstStyle/>
          <a:p>
            <a:pPr marL="0" indent="0">
              <a:buNone/>
            </a:pPr>
            <a:r>
              <a:rPr lang="en-US" sz="1800" b="1" dirty="0">
                <a:solidFill>
                  <a:schemeClr val="accent1"/>
                </a:solidFill>
                <a:latin typeface="+mj-lt" pitchFamily="34" charset="0"/>
                <a:ea typeface="+mj-lt" pitchFamily="34" charset="-122"/>
                <a:cs typeface="+mj-lt" pitchFamily="34" charset="-120"/>
              </a:rPr>
              <a:t>READ</a:t>
            </a:r>
            <a:endParaRPr lang="en-US" sz="1800" dirty="0"/>
          </a:p>
        </p:txBody>
      </p:sp>
      <p:sp>
        <p:nvSpPr>
          <p:cNvPr id="8" name="Text 5"/>
          <p:cNvSpPr txBox="1"/>
          <p:nvPr/>
        </p:nvSpPr>
        <p:spPr>
          <a:xfrm>
            <a:off x="3383280" y="1097280"/>
            <a:ext cx="8138160" cy="841248"/>
          </a:xfrm>
          <a:prstGeom prst="rect">
            <a:avLst/>
          </a:prstGeom>
          <a:noFill/>
          <a:ln/>
        </p:spPr>
        <p:txBody>
          <a:bodyPr wrap="square" lIns="0" tIns="0" rIns="0" bIns="0" rtlCol="0" anchor="ctr"/>
          <a:lstStyle/>
          <a:p>
            <a:pPr marL="0" indent="0">
              <a:buNone/>
            </a:pPr>
            <a:r>
              <a:rPr lang="en-US" sz="1800" dirty="0">
                <a:solidFill>
                  <a:schemeClr val="tx1"/>
                </a:solidFill>
              </a:rPr>
              <a:t>Read the feedback example. </a:t>
            </a:r>
          </a:p>
          <a:p>
            <a:pPr marL="0" indent="0">
              <a:buNone/>
            </a:pPr>
            <a:r>
              <a:rPr lang="en-US" sz="1800" dirty="0">
                <a:solidFill>
                  <a:schemeClr val="tx1"/>
                </a:solidFill>
              </a:rPr>
              <a:t>What does it teach? (a reason with because, a relative clause…)</a:t>
            </a:r>
            <a:endParaRPr lang="en-US" sz="1800" dirty="0"/>
          </a:p>
        </p:txBody>
      </p:sp>
      <p:sp>
        <p:nvSpPr>
          <p:cNvPr id="9" name="Shape 6"/>
          <p:cNvSpPr/>
          <p:nvPr/>
        </p:nvSpPr>
        <p:spPr>
          <a:xfrm>
            <a:off x="548640" y="2057400"/>
            <a:ext cx="11094415" cy="841248"/>
          </a:xfrm>
          <a:prstGeom prst="rect">
            <a:avLst/>
          </a:prstGeom>
          <a:solidFill>
            <a:schemeClr val="bg1"/>
          </a:solidFill>
          <a:ln/>
          <a:effectLst>
            <a:outerShdw blurRad="76200" dist="25400" dir="5400000" algn="bl" rotWithShape="0">
              <a:srgbClr val="000000">
                <a:alpha val="12000"/>
              </a:srgbClr>
            </a:outerShdw>
          </a:effectLst>
        </p:spPr>
      </p:sp>
      <p:sp>
        <p:nvSpPr>
          <p:cNvPr id="10" name="Text 7"/>
          <p:cNvSpPr txBox="1"/>
          <p:nvPr/>
        </p:nvSpPr>
        <p:spPr>
          <a:xfrm>
            <a:off x="777240" y="2185416"/>
            <a:ext cx="585216" cy="585216"/>
          </a:xfrm>
          <a:prstGeom prst="ellipse">
            <a:avLst/>
          </a:prstGeom>
          <a:solidFill>
            <a:schemeClr val="accent2"/>
          </a:solid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11" name="Text 8"/>
          <p:cNvSpPr txBox="1"/>
          <p:nvPr/>
        </p:nvSpPr>
        <p:spPr>
          <a:xfrm>
            <a:off x="1645920" y="2057400"/>
            <a:ext cx="1645920" cy="841248"/>
          </a:xfrm>
          <a:prstGeom prst="rect">
            <a:avLst/>
          </a:prstGeom>
          <a:noFill/>
          <a:ln/>
        </p:spPr>
        <p:txBody>
          <a:bodyPr wrap="square" lIns="0" tIns="0" rIns="0" bIns="0" rtlCol="0" anchor="ctr"/>
          <a:lstStyle/>
          <a:p>
            <a:pPr marL="0" indent="0">
              <a:buNone/>
            </a:pPr>
            <a:r>
              <a:rPr lang="en-US" sz="1800" b="1" dirty="0">
                <a:solidFill>
                  <a:schemeClr val="accent3"/>
                </a:solidFill>
                <a:latin typeface="+mj-lt" pitchFamily="34" charset="0"/>
                <a:ea typeface="+mj-lt" pitchFamily="34" charset="-122"/>
                <a:cs typeface="+mj-lt" pitchFamily="34" charset="-120"/>
              </a:rPr>
              <a:t>COVER</a:t>
            </a:r>
            <a:endParaRPr lang="en-US" sz="1800" dirty="0"/>
          </a:p>
        </p:txBody>
      </p:sp>
      <p:sp>
        <p:nvSpPr>
          <p:cNvPr id="12" name="Text 9"/>
          <p:cNvSpPr txBox="1"/>
          <p:nvPr/>
        </p:nvSpPr>
        <p:spPr>
          <a:xfrm>
            <a:off x="3383280" y="2057400"/>
            <a:ext cx="8138160" cy="841248"/>
          </a:xfrm>
          <a:prstGeom prst="rect">
            <a:avLst/>
          </a:prstGeom>
          <a:noFill/>
          <a:ln/>
        </p:spPr>
        <p:txBody>
          <a:bodyPr wrap="square" lIns="0" tIns="0" rIns="0" bIns="0" rtlCol="0" anchor="ctr"/>
          <a:lstStyle/>
          <a:p>
            <a:pPr marL="0" indent="0">
              <a:buNone/>
            </a:pPr>
            <a:r>
              <a:rPr lang="en-US" sz="1800" dirty="0">
                <a:solidFill>
                  <a:schemeClr val="tx1"/>
                </a:solidFill>
              </a:rPr>
              <a:t>Cover the example. Do not copy it.</a:t>
            </a:r>
            <a:endParaRPr lang="en-US" sz="1800" dirty="0"/>
          </a:p>
        </p:txBody>
      </p:sp>
      <p:sp>
        <p:nvSpPr>
          <p:cNvPr id="13" name="Shape 10"/>
          <p:cNvSpPr/>
          <p:nvPr/>
        </p:nvSpPr>
        <p:spPr>
          <a:xfrm>
            <a:off x="548640" y="3017520"/>
            <a:ext cx="11094415" cy="841248"/>
          </a:xfrm>
          <a:prstGeom prst="rect">
            <a:avLst/>
          </a:prstGeom>
          <a:solidFill>
            <a:schemeClr val="bg1"/>
          </a:solidFill>
          <a:ln/>
          <a:effectLst>
            <a:outerShdw blurRad="76200" dist="25400" dir="5400000" algn="bl" rotWithShape="0">
              <a:srgbClr val="000000">
                <a:alpha val="12000"/>
              </a:srgbClr>
            </a:outerShdw>
          </a:effectLst>
        </p:spPr>
      </p:sp>
      <p:sp>
        <p:nvSpPr>
          <p:cNvPr id="14" name="Text 11"/>
          <p:cNvSpPr txBox="1"/>
          <p:nvPr/>
        </p:nvSpPr>
        <p:spPr>
          <a:xfrm>
            <a:off x="777240" y="3145536"/>
            <a:ext cx="585216" cy="585216"/>
          </a:xfrm>
          <a:prstGeom prst="ellipse">
            <a:avLst/>
          </a:prstGeom>
          <a:solidFill>
            <a:schemeClr val="accent3"/>
          </a:solid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15" name="Text 12"/>
          <p:cNvSpPr txBox="1"/>
          <p:nvPr/>
        </p:nvSpPr>
        <p:spPr>
          <a:xfrm>
            <a:off x="1645920" y="3017520"/>
            <a:ext cx="1645920" cy="841248"/>
          </a:xfrm>
          <a:prstGeom prst="rect">
            <a:avLst/>
          </a:prstGeom>
          <a:noFill/>
          <a:ln/>
        </p:spPr>
        <p:txBody>
          <a:bodyPr wrap="square" lIns="0" tIns="0" rIns="0" bIns="0" rtlCol="0" anchor="ctr"/>
          <a:lstStyle/>
          <a:p>
            <a:pPr marL="0" indent="0">
              <a:buNone/>
            </a:pPr>
            <a:r>
              <a:rPr lang="en-US" sz="1800" b="1" dirty="0">
                <a:solidFill>
                  <a:schemeClr val="accent3"/>
                </a:solidFill>
                <a:latin typeface="+mj-lt" pitchFamily="34" charset="0"/>
                <a:ea typeface="+mj-lt" pitchFamily="34" charset="-122"/>
                <a:cs typeface="+mj-lt" pitchFamily="34" charset="-120"/>
              </a:rPr>
              <a:t>WRITE</a:t>
            </a:r>
            <a:endParaRPr lang="en-US" sz="1800" dirty="0"/>
          </a:p>
        </p:txBody>
      </p:sp>
      <p:sp>
        <p:nvSpPr>
          <p:cNvPr id="16" name="Text 13"/>
          <p:cNvSpPr txBox="1"/>
          <p:nvPr/>
        </p:nvSpPr>
        <p:spPr>
          <a:xfrm>
            <a:off x="3383280" y="3017520"/>
            <a:ext cx="8138160" cy="841248"/>
          </a:xfrm>
          <a:prstGeom prst="rect">
            <a:avLst/>
          </a:prstGeom>
          <a:noFill/>
          <a:ln/>
        </p:spPr>
        <p:txBody>
          <a:bodyPr wrap="square" lIns="0" tIns="0" rIns="0" bIns="0" rtlCol="0" anchor="ctr"/>
          <a:lstStyle/>
          <a:p>
            <a:pPr marL="0" indent="0">
              <a:buNone/>
            </a:pPr>
            <a:r>
              <a:rPr lang="en-US" sz="1800" dirty="0">
                <a:solidFill>
                  <a:schemeClr val="tx1"/>
                </a:solidFill>
              </a:rPr>
              <a:t>Write your own sentence with your own facts and your own words.</a:t>
            </a:r>
            <a:endParaRPr lang="en-US" sz="1800" dirty="0"/>
          </a:p>
        </p:txBody>
      </p:sp>
      <p:sp>
        <p:nvSpPr>
          <p:cNvPr id="17" name="Shape 14"/>
          <p:cNvSpPr/>
          <p:nvPr/>
        </p:nvSpPr>
        <p:spPr>
          <a:xfrm>
            <a:off x="548640" y="3977640"/>
            <a:ext cx="11094415" cy="841248"/>
          </a:xfrm>
          <a:prstGeom prst="rect">
            <a:avLst/>
          </a:prstGeom>
          <a:solidFill>
            <a:schemeClr val="bg1"/>
          </a:solidFill>
          <a:ln/>
          <a:effectLst>
            <a:outerShdw blurRad="76200" dist="25400" dir="5400000" algn="bl" rotWithShape="0">
              <a:srgbClr val="000000">
                <a:alpha val="12000"/>
              </a:srgbClr>
            </a:outerShdw>
          </a:effectLst>
        </p:spPr>
      </p:sp>
      <p:sp>
        <p:nvSpPr>
          <p:cNvPr id="18" name="Text 15"/>
          <p:cNvSpPr txBox="1"/>
          <p:nvPr/>
        </p:nvSpPr>
        <p:spPr>
          <a:xfrm>
            <a:off x="777240" y="4105656"/>
            <a:ext cx="585216" cy="585216"/>
          </a:xfrm>
          <a:prstGeom prst="ellipse">
            <a:avLst/>
          </a:prstGeom>
          <a:solidFill>
            <a:schemeClr val="tx1"/>
          </a:solidFill>
          <a:ln/>
        </p:spPr>
        <p:txBody>
          <a:bodyPr wrap="square" lIns="0" tIns="0" rIns="0" bIns="0" rtlCol="0" anchor="ctr"/>
          <a:lstStyle/>
          <a:p>
            <a:pPr marL="0" indent="0" algn="ctr">
              <a:buNone/>
            </a:pPr>
            <a:r>
              <a:rPr lang="en-US" sz="1800" b="1" dirty="0">
                <a:solidFill>
                  <a:schemeClr val="bg1"/>
                </a:solidFill>
              </a:rPr>
              <a:t>4</a:t>
            </a:r>
            <a:endParaRPr lang="en-US" sz="1800" dirty="0"/>
          </a:p>
        </p:txBody>
      </p:sp>
      <p:sp>
        <p:nvSpPr>
          <p:cNvPr id="19" name="Text 16"/>
          <p:cNvSpPr txBox="1"/>
          <p:nvPr/>
        </p:nvSpPr>
        <p:spPr>
          <a:xfrm>
            <a:off x="1645920" y="3977640"/>
            <a:ext cx="1645920" cy="841248"/>
          </a:xfrm>
          <a:prstGeom prst="rect">
            <a:avLst/>
          </a:prstGeom>
          <a:noFill/>
          <a:ln/>
        </p:spPr>
        <p:txBody>
          <a:bodyPr wrap="square" lIns="0" tIns="0" rIns="0" bIns="0" rtlCol="0" anchor="ctr"/>
          <a:lstStyle/>
          <a:p>
            <a:pPr marL="0" indent="0">
              <a:buNone/>
            </a:pPr>
            <a:r>
              <a:rPr lang="en-US" sz="1800" b="1" dirty="0">
                <a:solidFill>
                  <a:schemeClr val="tx1"/>
                </a:solidFill>
                <a:latin typeface="+mj-lt" pitchFamily="34" charset="0"/>
                <a:ea typeface="+mj-lt" pitchFamily="34" charset="-122"/>
                <a:cs typeface="+mj-lt" pitchFamily="34" charset="-120"/>
              </a:rPr>
              <a:t>CHECK</a:t>
            </a:r>
            <a:endParaRPr lang="en-US" sz="1800" dirty="0"/>
          </a:p>
        </p:txBody>
      </p:sp>
      <p:sp>
        <p:nvSpPr>
          <p:cNvPr id="20" name="Text 17"/>
          <p:cNvSpPr txBox="1"/>
          <p:nvPr/>
        </p:nvSpPr>
        <p:spPr>
          <a:xfrm>
            <a:off x="3383280" y="3977640"/>
            <a:ext cx="8138160" cy="841248"/>
          </a:xfrm>
          <a:prstGeom prst="rect">
            <a:avLst/>
          </a:prstGeom>
          <a:noFill/>
          <a:ln/>
        </p:spPr>
        <p:txBody>
          <a:bodyPr wrap="square" lIns="0" tIns="0" rIns="0" bIns="0" rtlCol="0" anchor="ctr"/>
          <a:lstStyle/>
          <a:p>
            <a:pPr marL="0" indent="0">
              <a:buNone/>
            </a:pPr>
            <a:r>
              <a:rPr lang="en-US" sz="1800" dirty="0">
                <a:solidFill>
                  <a:schemeClr val="tx1"/>
                </a:solidFill>
              </a:rPr>
              <a:t>Compare with the success criteria. Does it do the same job?</a:t>
            </a:r>
            <a:endParaRPr lang="en-US" sz="1800" dirty="0"/>
          </a:p>
        </p:txBody>
      </p:sp>
      <p:sp>
        <p:nvSpPr>
          <p:cNvPr id="21" name="Shape 18"/>
          <p:cNvSpPr/>
          <p:nvPr/>
        </p:nvSpPr>
        <p:spPr>
          <a:xfrm>
            <a:off x="548640" y="5029200"/>
            <a:ext cx="5577840" cy="822960"/>
          </a:xfrm>
          <a:prstGeom prst="rect">
            <a:avLst/>
          </a:prstGeom>
          <a:solidFill>
            <a:schemeClr val="bg1"/>
          </a:solidFill>
          <a:ln w="19050">
            <a:solidFill>
              <a:schemeClr val="accent3"/>
            </a:solidFill>
            <a:prstDash val="solid"/>
          </a:ln>
        </p:spPr>
      </p:sp>
      <p:sp>
        <p:nvSpPr>
          <p:cNvPr id="22" name="Text 19"/>
          <p:cNvSpPr txBox="1"/>
          <p:nvPr/>
        </p:nvSpPr>
        <p:spPr>
          <a:xfrm>
            <a:off x="685800" y="5029200"/>
            <a:ext cx="5303520" cy="822960"/>
          </a:xfrm>
          <a:prstGeom prst="rect">
            <a:avLst/>
          </a:prstGeom>
          <a:noFill/>
          <a:ln/>
        </p:spPr>
        <p:txBody>
          <a:bodyPr wrap="square" lIns="0" tIns="0" rIns="0" bIns="0" rtlCol="0" anchor="ctr"/>
          <a:lstStyle/>
          <a:p>
            <a:pPr marL="0" indent="0">
              <a:buNone/>
            </a:pPr>
            <a:r>
              <a:rPr lang="en-US" i="1" dirty="0">
                <a:solidFill>
                  <a:schemeClr val="tx1"/>
                </a:solidFill>
              </a:rPr>
              <a:t>❌  </a:t>
            </a:r>
            <a:r>
              <a:rPr lang="en-US" b="1" i="1" dirty="0">
                <a:solidFill>
                  <a:schemeClr val="tx1"/>
                </a:solidFill>
              </a:rPr>
              <a:t>Feedback</a:t>
            </a:r>
            <a:r>
              <a:rPr lang="en-US" i="1" dirty="0">
                <a:solidFill>
                  <a:schemeClr val="tx1"/>
                </a:solidFill>
              </a:rPr>
              <a:t>: “Protecting pandas matters because they live in only a few bamboo forests.” (copied)</a:t>
            </a:r>
            <a:endParaRPr lang="en-US" dirty="0"/>
          </a:p>
        </p:txBody>
      </p:sp>
      <p:sp>
        <p:nvSpPr>
          <p:cNvPr id="23" name="Shape 20"/>
          <p:cNvSpPr/>
          <p:nvPr/>
        </p:nvSpPr>
        <p:spPr>
          <a:xfrm>
            <a:off x="6309360" y="5029200"/>
            <a:ext cx="5349240" cy="822960"/>
          </a:xfrm>
          <a:prstGeom prst="rect">
            <a:avLst/>
          </a:prstGeom>
          <a:solidFill>
            <a:schemeClr val="bg1"/>
          </a:solidFill>
          <a:ln w="19050">
            <a:solidFill>
              <a:schemeClr val="accent1"/>
            </a:solidFill>
            <a:prstDash val="solid"/>
          </a:ln>
        </p:spPr>
      </p:sp>
      <p:sp>
        <p:nvSpPr>
          <p:cNvPr id="24" name="Text 21"/>
          <p:cNvSpPr txBox="1"/>
          <p:nvPr/>
        </p:nvSpPr>
        <p:spPr>
          <a:xfrm>
            <a:off x="6446520" y="5029200"/>
            <a:ext cx="5074920" cy="822960"/>
          </a:xfrm>
          <a:prstGeom prst="rect">
            <a:avLst/>
          </a:prstGeom>
          <a:noFill/>
          <a:ln/>
        </p:spPr>
        <p:txBody>
          <a:bodyPr wrap="square" lIns="0" tIns="0" rIns="0" bIns="0" rtlCol="0" anchor="ctr"/>
          <a:lstStyle/>
          <a:p>
            <a:pPr marL="0" indent="0">
              <a:buNone/>
            </a:pPr>
            <a:r>
              <a:rPr lang="en-US" b="1" dirty="0">
                <a:solidFill>
                  <a:schemeClr val="tx1"/>
                </a:solidFill>
              </a:rPr>
              <a:t>✅  Own words: “Pandas need our help because only small areas of bamboo forest are left.”</a:t>
            </a:r>
            <a:endParaRPr lang="en-US" dirty="0"/>
          </a:p>
        </p:txBody>
      </p:sp>
      <p:sp>
        <p:nvSpPr>
          <p:cNvPr id="25" name="Text 22"/>
          <p:cNvSpPr txBox="1"/>
          <p:nvPr/>
        </p:nvSpPr>
        <p:spPr>
          <a:xfrm>
            <a:off x="548640" y="5989320"/>
            <a:ext cx="11094415" cy="502920"/>
          </a:xfrm>
          <a:prstGeom prst="rect">
            <a:avLst/>
          </a:prstGeom>
          <a:solidFill>
            <a:schemeClr val="tx1"/>
          </a:solidFill>
          <a:ln/>
        </p:spPr>
        <p:txBody>
          <a:bodyPr wrap="square" lIns="1270" tIns="1270" rIns="1270" bIns="1270" rtlCol="0" anchor="ctr"/>
          <a:lstStyle/>
          <a:p>
            <a:pPr marL="0" indent="0" algn="ctr">
              <a:buNone/>
            </a:pPr>
            <a:r>
              <a:rPr lang="en-US" sz="1600" b="1" dirty="0">
                <a:solidFill>
                  <a:schemeClr val="bg1"/>
                </a:solidFill>
              </a:rPr>
              <a:t>The feedback is a model. The second draft is YOUR writing</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0"/>
            <a:ext cx="9326880" cy="822960"/>
          </a:xfrm>
          <a:prstGeom prst="rect">
            <a:avLst/>
          </a:prstGeom>
          <a:noFill/>
          <a:ln/>
        </p:spPr>
        <p:txBody>
          <a:bodyPr wrap="square" lIns="0" tIns="0" rIns="0" bIns="0" rtlCol="0" anchor="ctr"/>
          <a:lstStyle/>
          <a:p>
            <a:pPr marL="0" indent="0" algn="l">
              <a:buNone/>
            </a:pPr>
            <a:r>
              <a:rPr lang="en-US" sz="2600" b="1" dirty="0">
                <a:solidFill>
                  <a:schemeClr val="bg1"/>
                </a:solidFill>
                <a:latin typeface="+mj-lt" pitchFamily="34" charset="0"/>
                <a:ea typeface="+mj-lt" pitchFamily="34" charset="-122"/>
                <a:cs typeface="+mj-lt" pitchFamily="34" charset="-120"/>
              </a:rPr>
              <a:t>Fix it fast</a:t>
            </a:r>
            <a:endParaRPr lang="en-US" sz="2600" dirty="0"/>
          </a:p>
        </p:txBody>
      </p:sp>
      <p:sp>
        <p:nvSpPr>
          <p:cNvPr id="3" name="Tag"/>
          <p:cNvSpPr txBox="1"/>
          <p:nvPr/>
        </p:nvSpPr>
        <p:spPr>
          <a:xfrm>
            <a:off x="10332720" y="256032"/>
            <a:ext cx="1463040" cy="310896"/>
          </a:xfrm>
          <a:prstGeom prst="rect">
            <a:avLst/>
          </a:prstGeom>
          <a:solidFill>
            <a:schemeClr val="accent2"/>
          </a:solidFill>
          <a:ln/>
        </p:spPr>
        <p:txBody>
          <a:bodyPr wrap="square" lIns="0" tIns="0" rIns="0" bIns="0" rtlCol="0" anchor="ctr"/>
          <a:lstStyle/>
          <a:p>
            <a:pPr marL="0" indent="0" algn="ctr">
              <a:buNone/>
            </a:pPr>
            <a:r>
              <a:rPr lang="en-US" sz="1100" b="1" dirty="0">
                <a:solidFill>
                  <a:schemeClr val="tx1"/>
                </a:solidFill>
              </a:rPr>
              <a:t>PRACTISE</a:t>
            </a:r>
            <a:endParaRPr lang="en-US" sz="1100" dirty="0"/>
          </a:p>
        </p:txBody>
      </p:sp>
      <p:sp>
        <p:nvSpPr>
          <p:cNvPr id="5" name="Shape 2"/>
          <p:cNvSpPr/>
          <p:nvPr/>
        </p:nvSpPr>
        <p:spPr>
          <a:xfrm>
            <a:off x="548640" y="1143000"/>
            <a:ext cx="11094415" cy="1005840"/>
          </a:xfrm>
          <a:prstGeom prst="rect">
            <a:avLst/>
          </a:prstGeom>
          <a:solidFill>
            <a:schemeClr val="bg1"/>
          </a:solidFill>
          <a:ln/>
          <a:effectLst>
            <a:outerShdw blurRad="76200" dist="25400" dir="5400000" algn="bl" rotWithShape="0">
              <a:srgbClr val="000000">
                <a:alpha val="12000"/>
              </a:srgbClr>
            </a:outerShdw>
          </a:effectLst>
        </p:spPr>
      </p:sp>
      <p:sp>
        <p:nvSpPr>
          <p:cNvPr id="6" name="Text 3"/>
          <p:cNvSpPr txBox="1"/>
          <p:nvPr/>
        </p:nvSpPr>
        <p:spPr>
          <a:xfrm>
            <a:off x="777240" y="1371600"/>
            <a:ext cx="548640" cy="548640"/>
          </a:xfrm>
          <a:prstGeom prst="ellipse">
            <a:avLst/>
          </a:prstGeom>
          <a:solidFill>
            <a:schemeClr val="accent1"/>
          </a:solid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7" name="Text 4"/>
          <p:cNvSpPr txBox="1"/>
          <p:nvPr/>
        </p:nvSpPr>
        <p:spPr>
          <a:xfrm>
            <a:off x="1600200" y="1143000"/>
            <a:ext cx="8321040" cy="1005840"/>
          </a:xfrm>
          <a:prstGeom prst="rect">
            <a:avLst/>
          </a:prstGeom>
          <a:noFill/>
          <a:ln/>
        </p:spPr>
        <p:txBody>
          <a:bodyPr wrap="square" lIns="0" tIns="0" rIns="0" bIns="0" rtlCol="0" anchor="ctr"/>
          <a:lstStyle/>
          <a:p>
            <a:pPr marL="0" indent="0">
              <a:buNone/>
            </a:pPr>
            <a:r>
              <a:rPr lang="en-US" sz="2000" dirty="0">
                <a:solidFill>
                  <a:schemeClr val="tx1"/>
                </a:solidFill>
              </a:rPr>
              <a:t>We should not throw plastic into the sea we can join beach clean ups to keep nesting beach safe.</a:t>
            </a:r>
            <a:endParaRPr lang="en-US" sz="2000" dirty="0"/>
          </a:p>
        </p:txBody>
      </p:sp>
      <p:sp>
        <p:nvSpPr>
          <p:cNvPr id="8" name="Text 5"/>
          <p:cNvSpPr txBox="1"/>
          <p:nvPr/>
        </p:nvSpPr>
        <p:spPr>
          <a:xfrm>
            <a:off x="9966960" y="1143000"/>
            <a:ext cx="1554480" cy="1005840"/>
          </a:xfrm>
          <a:prstGeom prst="rect">
            <a:avLst/>
          </a:prstGeom>
          <a:noFill/>
          <a:ln/>
        </p:spPr>
        <p:txBody>
          <a:bodyPr wrap="square" lIns="0" tIns="0" rIns="0" bIns="0" rtlCol="0" anchor="ctr"/>
          <a:lstStyle/>
          <a:p>
            <a:pPr marL="0" indent="0" algn="r">
              <a:buNone/>
            </a:pPr>
            <a:r>
              <a:rPr lang="en-US" sz="1400" b="1" dirty="0">
                <a:solidFill>
                  <a:schemeClr val="accent3"/>
                </a:solidFill>
              </a:rPr>
              <a:t>Mostafa</a:t>
            </a:r>
            <a:endParaRPr lang="en-US" sz="1400" dirty="0"/>
          </a:p>
        </p:txBody>
      </p:sp>
      <p:sp>
        <p:nvSpPr>
          <p:cNvPr id="9" name="Shape 6"/>
          <p:cNvSpPr/>
          <p:nvPr/>
        </p:nvSpPr>
        <p:spPr>
          <a:xfrm>
            <a:off x="548640" y="2331720"/>
            <a:ext cx="11094415" cy="1005840"/>
          </a:xfrm>
          <a:prstGeom prst="rect">
            <a:avLst/>
          </a:prstGeom>
          <a:solidFill>
            <a:schemeClr val="bg1"/>
          </a:solidFill>
          <a:ln/>
          <a:effectLst>
            <a:outerShdw blurRad="76200" dist="25400" dir="5400000" algn="bl" rotWithShape="0">
              <a:srgbClr val="000000">
                <a:alpha val="12000"/>
              </a:srgbClr>
            </a:outerShdw>
          </a:effectLst>
        </p:spPr>
      </p:sp>
      <p:sp>
        <p:nvSpPr>
          <p:cNvPr id="10" name="Text 7"/>
          <p:cNvSpPr txBox="1"/>
          <p:nvPr/>
        </p:nvSpPr>
        <p:spPr>
          <a:xfrm>
            <a:off x="777240" y="2560320"/>
            <a:ext cx="548640" cy="548640"/>
          </a:xfrm>
          <a:prstGeom prst="ellipse">
            <a:avLst/>
          </a:prstGeom>
          <a:solidFill>
            <a:schemeClr val="accent1"/>
          </a:solid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11" name="Text 8"/>
          <p:cNvSpPr txBox="1"/>
          <p:nvPr/>
        </p:nvSpPr>
        <p:spPr>
          <a:xfrm>
            <a:off x="1600200" y="2331720"/>
            <a:ext cx="8859852" cy="1005840"/>
          </a:xfrm>
          <a:prstGeom prst="rect">
            <a:avLst/>
          </a:prstGeom>
          <a:noFill/>
          <a:ln/>
        </p:spPr>
        <p:txBody>
          <a:bodyPr wrap="square" lIns="0" tIns="0" rIns="0" bIns="0" rtlCol="0" anchor="ctr"/>
          <a:lstStyle/>
          <a:p>
            <a:pPr marL="0" indent="0">
              <a:buNone/>
            </a:pPr>
            <a:r>
              <a:rPr lang="en-US" sz="2000" dirty="0">
                <a:solidFill>
                  <a:schemeClr val="tx1"/>
                </a:solidFill>
              </a:rPr>
              <a:t>People could work together to protect crocodiles and here is some ways to protect them, Create protected areas, reduce plastic waste, and stop illegal hunting.</a:t>
            </a:r>
            <a:endParaRPr lang="en-US" sz="2000" dirty="0"/>
          </a:p>
        </p:txBody>
      </p:sp>
      <p:sp>
        <p:nvSpPr>
          <p:cNvPr id="12" name="Text 9"/>
          <p:cNvSpPr txBox="1"/>
          <p:nvPr/>
        </p:nvSpPr>
        <p:spPr>
          <a:xfrm>
            <a:off x="9966960" y="2331720"/>
            <a:ext cx="1554480" cy="1005840"/>
          </a:xfrm>
          <a:prstGeom prst="rect">
            <a:avLst/>
          </a:prstGeom>
          <a:noFill/>
          <a:ln/>
        </p:spPr>
        <p:txBody>
          <a:bodyPr wrap="square" lIns="0" tIns="0" rIns="0" bIns="0" rtlCol="0" anchor="ctr"/>
          <a:lstStyle/>
          <a:p>
            <a:pPr marL="0" indent="0" algn="r">
              <a:buNone/>
            </a:pPr>
            <a:r>
              <a:rPr lang="en-US" sz="1400" b="1" dirty="0">
                <a:solidFill>
                  <a:schemeClr val="accent3"/>
                </a:solidFill>
              </a:rPr>
              <a:t>Rofida</a:t>
            </a:r>
            <a:endParaRPr lang="en-US" sz="1400" dirty="0"/>
          </a:p>
        </p:txBody>
      </p:sp>
      <p:sp>
        <p:nvSpPr>
          <p:cNvPr id="13" name="Shape 10"/>
          <p:cNvSpPr/>
          <p:nvPr/>
        </p:nvSpPr>
        <p:spPr>
          <a:xfrm>
            <a:off x="548640" y="3520440"/>
            <a:ext cx="11094415" cy="1005840"/>
          </a:xfrm>
          <a:prstGeom prst="rect">
            <a:avLst/>
          </a:prstGeom>
          <a:solidFill>
            <a:schemeClr val="bg1"/>
          </a:solidFill>
          <a:ln/>
          <a:effectLst>
            <a:outerShdw blurRad="76200" dist="25400" dir="5400000" algn="bl" rotWithShape="0">
              <a:srgbClr val="000000">
                <a:alpha val="12000"/>
              </a:srgbClr>
            </a:outerShdw>
          </a:effectLst>
        </p:spPr>
      </p:sp>
      <p:sp>
        <p:nvSpPr>
          <p:cNvPr id="14" name="Text 11"/>
          <p:cNvSpPr txBox="1"/>
          <p:nvPr/>
        </p:nvSpPr>
        <p:spPr>
          <a:xfrm>
            <a:off x="777240" y="3749040"/>
            <a:ext cx="548640" cy="548640"/>
          </a:xfrm>
          <a:prstGeom prst="ellipse">
            <a:avLst/>
          </a:prstGeom>
          <a:solidFill>
            <a:schemeClr val="accent1"/>
          </a:solid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15" name="Text 12"/>
          <p:cNvSpPr txBox="1"/>
          <p:nvPr/>
        </p:nvSpPr>
        <p:spPr>
          <a:xfrm>
            <a:off x="1600200" y="3520440"/>
            <a:ext cx="8321040" cy="1005840"/>
          </a:xfrm>
          <a:prstGeom prst="rect">
            <a:avLst/>
          </a:prstGeom>
          <a:noFill/>
          <a:ln/>
        </p:spPr>
        <p:txBody>
          <a:bodyPr wrap="square" lIns="0" tIns="0" rIns="0" bIns="0" rtlCol="0" anchor="ctr"/>
          <a:lstStyle/>
          <a:p>
            <a:pPr marL="0" indent="0">
              <a:buNone/>
            </a:pPr>
            <a:r>
              <a:rPr lang="en-US" sz="2400" dirty="0">
                <a:solidFill>
                  <a:schemeClr val="tx1"/>
                </a:solidFill>
              </a:rPr>
              <a:t>Second, there is Illegal wildlife trade, because some people capture cheetahs and sell them illegally.</a:t>
            </a:r>
            <a:endParaRPr lang="en-US" sz="2400" dirty="0"/>
          </a:p>
        </p:txBody>
      </p:sp>
      <p:sp>
        <p:nvSpPr>
          <p:cNvPr id="16" name="Text 13"/>
          <p:cNvSpPr txBox="1"/>
          <p:nvPr/>
        </p:nvSpPr>
        <p:spPr>
          <a:xfrm>
            <a:off x="9966960" y="3520440"/>
            <a:ext cx="1554480" cy="1005840"/>
          </a:xfrm>
          <a:prstGeom prst="rect">
            <a:avLst/>
          </a:prstGeom>
          <a:noFill/>
          <a:ln/>
        </p:spPr>
        <p:txBody>
          <a:bodyPr wrap="square" lIns="0" tIns="0" rIns="0" bIns="0" rtlCol="0" anchor="ctr"/>
          <a:lstStyle/>
          <a:p>
            <a:pPr marL="0" indent="0" algn="r">
              <a:buNone/>
            </a:pPr>
            <a:r>
              <a:rPr lang="en-US" sz="1400" b="1" dirty="0">
                <a:solidFill>
                  <a:schemeClr val="accent3"/>
                </a:solidFill>
              </a:rPr>
              <a:t>Waseela</a:t>
            </a:r>
            <a:endParaRPr lang="en-US" sz="1400" dirty="0"/>
          </a:p>
        </p:txBody>
      </p:sp>
      <p:sp>
        <p:nvSpPr>
          <p:cNvPr id="17" name="Shape 14"/>
          <p:cNvSpPr/>
          <p:nvPr/>
        </p:nvSpPr>
        <p:spPr>
          <a:xfrm>
            <a:off x="548640" y="4709160"/>
            <a:ext cx="11094415" cy="1005840"/>
          </a:xfrm>
          <a:prstGeom prst="rect">
            <a:avLst/>
          </a:prstGeom>
          <a:solidFill>
            <a:schemeClr val="bg1"/>
          </a:solidFill>
          <a:ln/>
          <a:effectLst>
            <a:outerShdw blurRad="76200" dist="25400" dir="5400000" algn="bl" rotWithShape="0">
              <a:srgbClr val="000000">
                <a:alpha val="12000"/>
              </a:srgbClr>
            </a:outerShdw>
          </a:effectLst>
        </p:spPr>
      </p:sp>
      <p:sp>
        <p:nvSpPr>
          <p:cNvPr id="18" name="Text 15"/>
          <p:cNvSpPr txBox="1"/>
          <p:nvPr/>
        </p:nvSpPr>
        <p:spPr>
          <a:xfrm>
            <a:off x="777240" y="4937760"/>
            <a:ext cx="548640" cy="548640"/>
          </a:xfrm>
          <a:prstGeom prst="ellipse">
            <a:avLst/>
          </a:prstGeom>
          <a:solidFill>
            <a:schemeClr val="accent1"/>
          </a:solidFill>
          <a:ln/>
        </p:spPr>
        <p:txBody>
          <a:bodyPr wrap="square" lIns="0" tIns="0" rIns="0" bIns="0" rtlCol="0" anchor="ctr"/>
          <a:lstStyle/>
          <a:p>
            <a:pPr marL="0" indent="0" algn="ctr">
              <a:buNone/>
            </a:pPr>
            <a:r>
              <a:rPr lang="en-US" sz="1800" b="1" dirty="0">
                <a:solidFill>
                  <a:schemeClr val="bg1"/>
                </a:solidFill>
              </a:rPr>
              <a:t>4</a:t>
            </a:r>
            <a:endParaRPr lang="en-US" sz="1800" dirty="0"/>
          </a:p>
        </p:txBody>
      </p:sp>
      <p:sp>
        <p:nvSpPr>
          <p:cNvPr id="19" name="Text 16"/>
          <p:cNvSpPr txBox="1"/>
          <p:nvPr/>
        </p:nvSpPr>
        <p:spPr>
          <a:xfrm>
            <a:off x="1600200" y="4709160"/>
            <a:ext cx="8321040" cy="1005840"/>
          </a:xfrm>
          <a:prstGeom prst="rect">
            <a:avLst/>
          </a:prstGeom>
          <a:noFill/>
          <a:ln/>
        </p:spPr>
        <p:txBody>
          <a:bodyPr wrap="square" lIns="0" tIns="0" rIns="0" bIns="0" rtlCol="0" anchor="ctr"/>
          <a:lstStyle/>
          <a:p>
            <a:pPr marL="0" indent="0">
              <a:buNone/>
            </a:pPr>
            <a:r>
              <a:rPr lang="en-US" sz="2400" dirty="0">
                <a:solidFill>
                  <a:schemeClr val="tx1"/>
                </a:solidFill>
              </a:rPr>
              <a:t>As a resulte, whales may find it difficult to communicate.</a:t>
            </a:r>
            <a:endParaRPr lang="en-US" sz="2400" dirty="0"/>
          </a:p>
        </p:txBody>
      </p:sp>
      <p:sp>
        <p:nvSpPr>
          <p:cNvPr id="20" name="Text 17"/>
          <p:cNvSpPr txBox="1"/>
          <p:nvPr/>
        </p:nvSpPr>
        <p:spPr>
          <a:xfrm>
            <a:off x="9966960" y="4709160"/>
            <a:ext cx="1554480" cy="1005840"/>
          </a:xfrm>
          <a:prstGeom prst="rect">
            <a:avLst/>
          </a:prstGeom>
          <a:noFill/>
          <a:ln/>
        </p:spPr>
        <p:txBody>
          <a:bodyPr wrap="square" lIns="0" tIns="0" rIns="0" bIns="0" rtlCol="0" anchor="ctr"/>
          <a:lstStyle/>
          <a:p>
            <a:pPr marL="0" indent="0" algn="r">
              <a:buNone/>
            </a:pPr>
            <a:r>
              <a:rPr lang="en-US" sz="1400" b="1" dirty="0">
                <a:solidFill>
                  <a:schemeClr val="accent3"/>
                </a:solidFill>
              </a:rPr>
              <a:t>Sadeel</a:t>
            </a:r>
            <a:endParaRPr lang="en-US" sz="1400" dirty="0"/>
          </a:p>
        </p:txBody>
      </p:sp>
      <p:sp>
        <p:nvSpPr>
          <p:cNvPr id="21" name="Text 18"/>
          <p:cNvSpPr txBox="1"/>
          <p:nvPr/>
        </p:nvSpPr>
        <p:spPr>
          <a:xfrm>
            <a:off x="548640" y="5943600"/>
            <a:ext cx="11094415" cy="548640"/>
          </a:xfrm>
          <a:prstGeom prst="rect">
            <a:avLst/>
          </a:prstGeom>
          <a:solidFill>
            <a:schemeClr val="tx1"/>
          </a:solidFill>
          <a:ln/>
        </p:spPr>
        <p:txBody>
          <a:bodyPr wrap="square" lIns="1270" tIns="1270" rIns="1270" bIns="1270" rtlCol="0" anchor="ctr"/>
          <a:lstStyle/>
          <a:p>
            <a:pPr marL="0" indent="0" algn="ctr">
              <a:buNone/>
            </a:pPr>
            <a:r>
              <a:rPr lang="en-US" sz="1600" dirty="0">
                <a:solidFill>
                  <a:schemeClr val="bg1"/>
                </a:solidFill>
              </a:rPr>
              <a:t>Write the corrected sentence on your whiteboard</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0"/>
            <a:ext cx="9326880" cy="822960"/>
          </a:xfrm>
          <a:prstGeom prst="rect">
            <a:avLst/>
          </a:prstGeom>
          <a:noFill/>
          <a:ln/>
        </p:spPr>
        <p:txBody>
          <a:bodyPr wrap="square" lIns="0" tIns="0" rIns="0" bIns="0" rtlCol="0" anchor="ctr"/>
          <a:lstStyle/>
          <a:p>
            <a:pPr marL="0" indent="0" algn="l">
              <a:buNone/>
            </a:pPr>
            <a:r>
              <a:rPr lang="en-US" sz="2600" b="1" dirty="0">
                <a:solidFill>
                  <a:schemeClr val="bg1"/>
                </a:solidFill>
                <a:latin typeface="+mj-lt" pitchFamily="34" charset="0"/>
                <a:ea typeface="+mj-lt" pitchFamily="34" charset="-122"/>
                <a:cs typeface="+mj-lt" pitchFamily="34" charset="-120"/>
              </a:rPr>
              <a:t>Fix it fast: answers</a:t>
            </a:r>
            <a:endParaRPr lang="en-US" sz="2600" dirty="0"/>
          </a:p>
        </p:txBody>
      </p:sp>
      <p:sp>
        <p:nvSpPr>
          <p:cNvPr id="3" name="Tag"/>
          <p:cNvSpPr txBox="1"/>
          <p:nvPr/>
        </p:nvSpPr>
        <p:spPr>
          <a:xfrm>
            <a:off x="10332720" y="256032"/>
            <a:ext cx="1463040" cy="310896"/>
          </a:xfrm>
          <a:prstGeom prst="rect">
            <a:avLst/>
          </a:prstGeom>
          <a:solidFill>
            <a:schemeClr val="accent2"/>
          </a:solidFill>
          <a:ln/>
        </p:spPr>
        <p:txBody>
          <a:bodyPr wrap="square" lIns="0" tIns="0" rIns="0" bIns="0" rtlCol="0" anchor="ctr"/>
          <a:lstStyle/>
          <a:p>
            <a:pPr marL="0" indent="0" algn="ctr">
              <a:buNone/>
            </a:pPr>
            <a:r>
              <a:rPr lang="en-US" sz="1100" b="1" dirty="0">
                <a:solidFill>
                  <a:schemeClr val="tx1"/>
                </a:solidFill>
              </a:rPr>
              <a:t>ANSWER</a:t>
            </a:r>
            <a:endParaRPr lang="en-US" sz="1100" dirty="0"/>
          </a:p>
        </p:txBody>
      </p:sp>
      <p:sp>
        <p:nvSpPr>
          <p:cNvPr id="5" name="Shape 2"/>
          <p:cNvSpPr/>
          <p:nvPr/>
        </p:nvSpPr>
        <p:spPr>
          <a:xfrm>
            <a:off x="548640" y="1143000"/>
            <a:ext cx="11094415" cy="1005840"/>
          </a:xfrm>
          <a:prstGeom prst="rect">
            <a:avLst/>
          </a:prstGeom>
          <a:solidFill>
            <a:schemeClr val="bg1"/>
          </a:solidFill>
          <a:ln/>
          <a:effectLst>
            <a:outerShdw blurRad="76200" dist="25400" dir="5400000" algn="bl" rotWithShape="0">
              <a:srgbClr val="000000">
                <a:alpha val="12000"/>
              </a:srgbClr>
            </a:outerShdw>
          </a:effectLst>
        </p:spPr>
      </p:sp>
      <p:sp>
        <p:nvSpPr>
          <p:cNvPr id="6" name="Text 3"/>
          <p:cNvSpPr txBox="1"/>
          <p:nvPr/>
        </p:nvSpPr>
        <p:spPr>
          <a:xfrm>
            <a:off x="777240" y="1371600"/>
            <a:ext cx="548640" cy="548640"/>
          </a:xfrm>
          <a:prstGeom prst="ellipse">
            <a:avLst/>
          </a:prstGeom>
          <a:solidFill>
            <a:schemeClr val="accent1"/>
          </a:solid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7" name="Text 4"/>
          <p:cNvSpPr txBox="1"/>
          <p:nvPr/>
        </p:nvSpPr>
        <p:spPr>
          <a:xfrm>
            <a:off x="1600200" y="1143000"/>
            <a:ext cx="8321040" cy="1005840"/>
          </a:xfrm>
          <a:prstGeom prst="rect">
            <a:avLst/>
          </a:prstGeom>
          <a:noFill/>
          <a:ln/>
        </p:spPr>
        <p:txBody>
          <a:bodyPr wrap="square" lIns="0" tIns="0" rIns="0" bIns="0" rtlCol="0" anchor="ctr"/>
          <a:lstStyle/>
          <a:p>
            <a:pPr marL="0" indent="0">
              <a:buNone/>
            </a:pPr>
            <a:r>
              <a:rPr lang="en-US" sz="2000" b="1" dirty="0">
                <a:solidFill>
                  <a:schemeClr val="tx1"/>
                </a:solidFill>
              </a:rPr>
              <a:t>People should not throw plastic into the sea. They can join beach clean-ups to keep nesting beaches safe.</a:t>
            </a:r>
            <a:endParaRPr lang="en-US" sz="2000" dirty="0"/>
          </a:p>
          <a:p>
            <a:pPr marL="0" indent="0">
              <a:buNone/>
            </a:pPr>
            <a:r>
              <a:rPr lang="en-US" sz="1400" i="1" dirty="0">
                <a:solidFill>
                  <a:schemeClr val="accent1"/>
                </a:solidFill>
              </a:rPr>
              <a:t>full stop and capital; clean-ups; plural beaches</a:t>
            </a:r>
            <a:endParaRPr lang="en-US" sz="1600" dirty="0"/>
          </a:p>
        </p:txBody>
      </p:sp>
      <p:sp>
        <p:nvSpPr>
          <p:cNvPr id="8" name="Text 5"/>
          <p:cNvSpPr txBox="1"/>
          <p:nvPr/>
        </p:nvSpPr>
        <p:spPr>
          <a:xfrm>
            <a:off x="9966960" y="1143000"/>
            <a:ext cx="1554480" cy="1005840"/>
          </a:xfrm>
          <a:prstGeom prst="rect">
            <a:avLst/>
          </a:prstGeom>
          <a:noFill/>
          <a:ln/>
        </p:spPr>
        <p:txBody>
          <a:bodyPr wrap="square" lIns="0" tIns="0" rIns="0" bIns="0" rtlCol="0" anchor="ctr"/>
          <a:lstStyle/>
          <a:p>
            <a:pPr marL="0" indent="0" algn="r">
              <a:buNone/>
            </a:pPr>
            <a:r>
              <a:rPr lang="en-US" sz="1400" b="1" dirty="0">
                <a:solidFill>
                  <a:schemeClr val="accent3"/>
                </a:solidFill>
              </a:rPr>
              <a:t>Mostafa</a:t>
            </a:r>
            <a:endParaRPr lang="en-US" sz="1400" dirty="0"/>
          </a:p>
        </p:txBody>
      </p:sp>
      <p:sp>
        <p:nvSpPr>
          <p:cNvPr id="9" name="Shape 6"/>
          <p:cNvSpPr/>
          <p:nvPr/>
        </p:nvSpPr>
        <p:spPr>
          <a:xfrm>
            <a:off x="548640" y="2331720"/>
            <a:ext cx="11094415" cy="1005840"/>
          </a:xfrm>
          <a:prstGeom prst="rect">
            <a:avLst/>
          </a:prstGeom>
          <a:solidFill>
            <a:schemeClr val="bg1"/>
          </a:solidFill>
          <a:ln/>
          <a:effectLst>
            <a:outerShdw blurRad="76200" dist="25400" dir="5400000" algn="bl" rotWithShape="0">
              <a:srgbClr val="000000">
                <a:alpha val="12000"/>
              </a:srgbClr>
            </a:outerShdw>
          </a:effectLst>
        </p:spPr>
      </p:sp>
      <p:sp>
        <p:nvSpPr>
          <p:cNvPr id="10" name="Text 7"/>
          <p:cNvSpPr txBox="1"/>
          <p:nvPr/>
        </p:nvSpPr>
        <p:spPr>
          <a:xfrm>
            <a:off x="777240" y="2560320"/>
            <a:ext cx="548640" cy="548640"/>
          </a:xfrm>
          <a:prstGeom prst="ellipse">
            <a:avLst/>
          </a:prstGeom>
          <a:solidFill>
            <a:schemeClr val="accent1"/>
          </a:solid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11" name="Text 8"/>
          <p:cNvSpPr txBox="1"/>
          <p:nvPr/>
        </p:nvSpPr>
        <p:spPr>
          <a:xfrm>
            <a:off x="1600200" y="2331720"/>
            <a:ext cx="8321040" cy="1005840"/>
          </a:xfrm>
          <a:prstGeom prst="rect">
            <a:avLst/>
          </a:prstGeom>
          <a:noFill/>
          <a:ln/>
        </p:spPr>
        <p:txBody>
          <a:bodyPr wrap="square" lIns="0" tIns="0" rIns="0" bIns="0" rtlCol="0" anchor="ctr"/>
          <a:lstStyle/>
          <a:p>
            <a:pPr marL="0" indent="0">
              <a:buNone/>
            </a:pPr>
            <a:r>
              <a:rPr lang="en-US" sz="2000" b="1" dirty="0">
                <a:solidFill>
                  <a:schemeClr val="tx1"/>
                </a:solidFill>
              </a:rPr>
              <a:t>People can protect crocodiles in several ways. They can create protected areas, reduce plastic waste and stop illegal hunting.</a:t>
            </a:r>
            <a:endParaRPr lang="en-US" sz="2000" dirty="0"/>
          </a:p>
          <a:p>
            <a:pPr marL="0" indent="0">
              <a:buNone/>
            </a:pPr>
            <a:r>
              <a:rPr lang="en-US" sz="1400" i="1" dirty="0">
                <a:solidFill>
                  <a:schemeClr val="accent1"/>
                </a:solidFill>
              </a:rPr>
              <a:t>verb agreement; comma splice; capital letter</a:t>
            </a:r>
            <a:endParaRPr lang="en-US" sz="1600" dirty="0"/>
          </a:p>
        </p:txBody>
      </p:sp>
      <p:sp>
        <p:nvSpPr>
          <p:cNvPr id="12" name="Text 9"/>
          <p:cNvSpPr txBox="1"/>
          <p:nvPr/>
        </p:nvSpPr>
        <p:spPr>
          <a:xfrm>
            <a:off x="9966960" y="2331720"/>
            <a:ext cx="1554480" cy="1005840"/>
          </a:xfrm>
          <a:prstGeom prst="rect">
            <a:avLst/>
          </a:prstGeom>
          <a:noFill/>
          <a:ln/>
        </p:spPr>
        <p:txBody>
          <a:bodyPr wrap="square" lIns="0" tIns="0" rIns="0" bIns="0" rtlCol="0" anchor="ctr"/>
          <a:lstStyle/>
          <a:p>
            <a:pPr marL="0" indent="0" algn="r">
              <a:buNone/>
            </a:pPr>
            <a:r>
              <a:rPr lang="en-US" sz="1400" b="1" dirty="0">
                <a:solidFill>
                  <a:schemeClr val="accent3"/>
                </a:solidFill>
              </a:rPr>
              <a:t>Rofida</a:t>
            </a:r>
            <a:endParaRPr lang="en-US" sz="1400" dirty="0"/>
          </a:p>
        </p:txBody>
      </p:sp>
      <p:sp>
        <p:nvSpPr>
          <p:cNvPr id="13" name="Shape 10"/>
          <p:cNvSpPr/>
          <p:nvPr/>
        </p:nvSpPr>
        <p:spPr>
          <a:xfrm>
            <a:off x="548640" y="3520440"/>
            <a:ext cx="11094415" cy="1005840"/>
          </a:xfrm>
          <a:prstGeom prst="rect">
            <a:avLst/>
          </a:prstGeom>
          <a:solidFill>
            <a:schemeClr val="bg1"/>
          </a:solidFill>
          <a:ln/>
          <a:effectLst>
            <a:outerShdw blurRad="76200" dist="25400" dir="5400000" algn="bl" rotWithShape="0">
              <a:srgbClr val="000000">
                <a:alpha val="12000"/>
              </a:srgbClr>
            </a:outerShdw>
          </a:effectLst>
        </p:spPr>
      </p:sp>
      <p:sp>
        <p:nvSpPr>
          <p:cNvPr id="14" name="Text 11"/>
          <p:cNvSpPr txBox="1"/>
          <p:nvPr/>
        </p:nvSpPr>
        <p:spPr>
          <a:xfrm>
            <a:off x="777240" y="3749040"/>
            <a:ext cx="548640" cy="548640"/>
          </a:xfrm>
          <a:prstGeom prst="ellipse">
            <a:avLst/>
          </a:prstGeom>
          <a:solidFill>
            <a:schemeClr val="accent1"/>
          </a:solid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15" name="Text 12"/>
          <p:cNvSpPr txBox="1"/>
          <p:nvPr/>
        </p:nvSpPr>
        <p:spPr>
          <a:xfrm>
            <a:off x="1600200" y="3520440"/>
            <a:ext cx="8321040" cy="1005840"/>
          </a:xfrm>
          <a:prstGeom prst="rect">
            <a:avLst/>
          </a:prstGeom>
          <a:noFill/>
          <a:ln/>
        </p:spPr>
        <p:txBody>
          <a:bodyPr wrap="square" lIns="0" tIns="0" rIns="0" bIns="0" rtlCol="0" anchor="ctr"/>
          <a:lstStyle/>
          <a:p>
            <a:pPr marL="0" indent="0">
              <a:buNone/>
            </a:pPr>
            <a:r>
              <a:rPr lang="en-US" b="1" dirty="0">
                <a:solidFill>
                  <a:schemeClr val="tx1"/>
                </a:solidFill>
              </a:rPr>
              <a:t>Second, there is illegal wildlife trade because some people capture cheetahs and sell them illegally.</a:t>
            </a:r>
            <a:endParaRPr lang="en-US" dirty="0"/>
          </a:p>
          <a:p>
            <a:pPr marL="0" indent="0">
              <a:buNone/>
            </a:pPr>
            <a:r>
              <a:rPr lang="en-US" sz="1400" i="1" dirty="0">
                <a:solidFill>
                  <a:schemeClr val="accent1"/>
                </a:solidFill>
              </a:rPr>
              <a:t>no capital in the middle of a sentence</a:t>
            </a:r>
            <a:endParaRPr lang="en-US" sz="1600" dirty="0"/>
          </a:p>
        </p:txBody>
      </p:sp>
      <p:sp>
        <p:nvSpPr>
          <p:cNvPr id="16" name="Text 13"/>
          <p:cNvSpPr txBox="1"/>
          <p:nvPr/>
        </p:nvSpPr>
        <p:spPr>
          <a:xfrm>
            <a:off x="9966960" y="3520440"/>
            <a:ext cx="1554480" cy="1005840"/>
          </a:xfrm>
          <a:prstGeom prst="rect">
            <a:avLst/>
          </a:prstGeom>
          <a:noFill/>
          <a:ln/>
        </p:spPr>
        <p:txBody>
          <a:bodyPr wrap="square" lIns="0" tIns="0" rIns="0" bIns="0" rtlCol="0" anchor="ctr"/>
          <a:lstStyle/>
          <a:p>
            <a:pPr marL="0" indent="0" algn="r">
              <a:buNone/>
            </a:pPr>
            <a:r>
              <a:rPr lang="en-US" sz="1400" b="1" dirty="0">
                <a:solidFill>
                  <a:schemeClr val="accent3"/>
                </a:solidFill>
              </a:rPr>
              <a:t>Waseela</a:t>
            </a:r>
            <a:endParaRPr lang="en-US" sz="1400" dirty="0"/>
          </a:p>
        </p:txBody>
      </p:sp>
      <p:sp>
        <p:nvSpPr>
          <p:cNvPr id="17" name="Shape 14"/>
          <p:cNvSpPr/>
          <p:nvPr/>
        </p:nvSpPr>
        <p:spPr>
          <a:xfrm>
            <a:off x="548640" y="4709160"/>
            <a:ext cx="11094415" cy="1005840"/>
          </a:xfrm>
          <a:prstGeom prst="rect">
            <a:avLst/>
          </a:prstGeom>
          <a:solidFill>
            <a:schemeClr val="bg1"/>
          </a:solidFill>
          <a:ln/>
          <a:effectLst>
            <a:outerShdw blurRad="76200" dist="25400" dir="5400000" algn="bl" rotWithShape="0">
              <a:srgbClr val="000000">
                <a:alpha val="12000"/>
              </a:srgbClr>
            </a:outerShdw>
          </a:effectLst>
        </p:spPr>
      </p:sp>
      <p:sp>
        <p:nvSpPr>
          <p:cNvPr id="18" name="Text 15"/>
          <p:cNvSpPr txBox="1"/>
          <p:nvPr/>
        </p:nvSpPr>
        <p:spPr>
          <a:xfrm>
            <a:off x="777240" y="4937760"/>
            <a:ext cx="548640" cy="548640"/>
          </a:xfrm>
          <a:prstGeom prst="ellipse">
            <a:avLst/>
          </a:prstGeom>
          <a:solidFill>
            <a:schemeClr val="accent1"/>
          </a:solidFill>
          <a:ln/>
        </p:spPr>
        <p:txBody>
          <a:bodyPr wrap="square" lIns="0" tIns="0" rIns="0" bIns="0" rtlCol="0" anchor="ctr"/>
          <a:lstStyle/>
          <a:p>
            <a:pPr marL="0" indent="0" algn="ctr">
              <a:buNone/>
            </a:pPr>
            <a:r>
              <a:rPr lang="en-US" sz="1800" b="1" dirty="0">
                <a:solidFill>
                  <a:schemeClr val="bg1"/>
                </a:solidFill>
              </a:rPr>
              <a:t>4</a:t>
            </a:r>
            <a:endParaRPr lang="en-US" sz="1800" dirty="0"/>
          </a:p>
        </p:txBody>
      </p:sp>
      <p:sp>
        <p:nvSpPr>
          <p:cNvPr id="19" name="Text 16"/>
          <p:cNvSpPr txBox="1"/>
          <p:nvPr/>
        </p:nvSpPr>
        <p:spPr>
          <a:xfrm>
            <a:off x="1600200" y="4709160"/>
            <a:ext cx="8321040" cy="1005840"/>
          </a:xfrm>
          <a:prstGeom prst="rect">
            <a:avLst/>
          </a:prstGeom>
          <a:noFill/>
          <a:ln/>
        </p:spPr>
        <p:txBody>
          <a:bodyPr wrap="square" lIns="0" tIns="0" rIns="0" bIns="0" rtlCol="0" anchor="ctr"/>
          <a:lstStyle/>
          <a:p>
            <a:pPr marL="0" indent="0">
              <a:buNone/>
            </a:pPr>
            <a:r>
              <a:rPr lang="en-US" sz="2000" b="1" dirty="0">
                <a:solidFill>
                  <a:schemeClr val="tx1"/>
                </a:solidFill>
              </a:rPr>
              <a:t>As a result, whales may find it difficult to communicate.</a:t>
            </a:r>
            <a:endParaRPr lang="en-US" sz="2000" dirty="0"/>
          </a:p>
          <a:p>
            <a:pPr marL="0" indent="0">
              <a:buNone/>
            </a:pPr>
            <a:r>
              <a:rPr lang="en-US" sz="1400" i="1" dirty="0">
                <a:solidFill>
                  <a:schemeClr val="accent1"/>
                </a:solidFill>
              </a:rPr>
              <a:t>spelling: result</a:t>
            </a:r>
            <a:endParaRPr lang="en-US" sz="1600" dirty="0"/>
          </a:p>
        </p:txBody>
      </p:sp>
      <p:sp>
        <p:nvSpPr>
          <p:cNvPr id="20" name="Text 17"/>
          <p:cNvSpPr txBox="1"/>
          <p:nvPr/>
        </p:nvSpPr>
        <p:spPr>
          <a:xfrm>
            <a:off x="9966960" y="4709160"/>
            <a:ext cx="1554480" cy="1005840"/>
          </a:xfrm>
          <a:prstGeom prst="rect">
            <a:avLst/>
          </a:prstGeom>
          <a:noFill/>
          <a:ln/>
        </p:spPr>
        <p:txBody>
          <a:bodyPr wrap="square" lIns="0" tIns="0" rIns="0" bIns="0" rtlCol="0" anchor="ctr"/>
          <a:lstStyle/>
          <a:p>
            <a:pPr marL="0" indent="0" algn="r">
              <a:buNone/>
            </a:pPr>
            <a:r>
              <a:rPr lang="en-US" sz="1400" b="1" dirty="0">
                <a:solidFill>
                  <a:schemeClr val="accent3"/>
                </a:solidFill>
              </a:rPr>
              <a:t>Sadeel</a:t>
            </a:r>
            <a:endParaRPr lang="en-US" sz="1400" dirty="0"/>
          </a:p>
        </p:txBody>
      </p:sp>
      <p:sp>
        <p:nvSpPr>
          <p:cNvPr id="21" name="Text 18"/>
          <p:cNvSpPr txBox="1"/>
          <p:nvPr/>
        </p:nvSpPr>
        <p:spPr>
          <a:xfrm>
            <a:off x="548640" y="5943600"/>
            <a:ext cx="11094415" cy="548640"/>
          </a:xfrm>
          <a:prstGeom prst="rect">
            <a:avLst/>
          </a:prstGeom>
          <a:solidFill>
            <a:schemeClr val="tx1"/>
          </a:solidFill>
          <a:ln/>
        </p:spPr>
        <p:txBody>
          <a:bodyPr wrap="square" lIns="1270" tIns="1270" rIns="1270" bIns="1270" rtlCol="0" anchor="ctr"/>
          <a:lstStyle/>
          <a:p>
            <a:pPr marL="0" indent="0" algn="ctr">
              <a:buNone/>
            </a:pPr>
            <a:r>
              <a:rPr lang="en-US" sz="1600" dirty="0">
                <a:solidFill>
                  <a:schemeClr val="bg1"/>
                </a:solidFill>
              </a:rPr>
              <a:t>Now find the same problems in your own first draft</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0"/>
            <a:ext cx="9326880" cy="822960"/>
          </a:xfrm>
          <a:prstGeom prst="rect">
            <a:avLst/>
          </a:prstGeom>
          <a:noFill/>
          <a:ln/>
        </p:spPr>
        <p:txBody>
          <a:bodyPr wrap="square" lIns="0" tIns="0" rIns="0" bIns="0" rtlCol="0" anchor="ctr"/>
          <a:lstStyle/>
          <a:p>
            <a:pPr marL="0" indent="0" algn="l">
              <a:buNone/>
            </a:pPr>
            <a:r>
              <a:rPr lang="en-US" sz="2600" b="1" dirty="0">
                <a:solidFill>
                  <a:schemeClr val="bg1"/>
                </a:solidFill>
                <a:latin typeface="+mj-lt" pitchFamily="34" charset="0"/>
                <a:ea typeface="+mj-lt" pitchFamily="34" charset="-122"/>
                <a:cs typeface="+mj-lt" pitchFamily="34" charset="-120"/>
              </a:rPr>
              <a:t>Your targets for the second draft</a:t>
            </a:r>
            <a:endParaRPr lang="en-US" sz="2600" dirty="0"/>
          </a:p>
        </p:txBody>
      </p:sp>
      <p:sp>
        <p:nvSpPr>
          <p:cNvPr id="3" name="Tag"/>
          <p:cNvSpPr txBox="1"/>
          <p:nvPr/>
        </p:nvSpPr>
        <p:spPr>
          <a:xfrm>
            <a:off x="10332720" y="256032"/>
            <a:ext cx="1463040" cy="310896"/>
          </a:xfrm>
          <a:prstGeom prst="rect">
            <a:avLst/>
          </a:prstGeom>
          <a:solidFill>
            <a:schemeClr val="accent2"/>
          </a:solidFill>
          <a:ln/>
        </p:spPr>
        <p:txBody>
          <a:bodyPr wrap="square" lIns="0" tIns="0" rIns="0" bIns="0" rtlCol="0" anchor="ctr"/>
          <a:lstStyle/>
          <a:p>
            <a:pPr marL="0" indent="0" algn="ctr">
              <a:buNone/>
            </a:pPr>
            <a:r>
              <a:rPr lang="en-US" sz="1100" b="1" dirty="0">
                <a:solidFill>
                  <a:schemeClr val="tx1"/>
                </a:solidFill>
              </a:rPr>
              <a:t>TARGETS</a:t>
            </a:r>
            <a:endParaRPr lang="en-US" sz="1100" dirty="0"/>
          </a:p>
        </p:txBody>
      </p:sp>
      <p:sp>
        <p:nvSpPr>
          <p:cNvPr id="5" name="Shape 2"/>
          <p:cNvSpPr/>
          <p:nvPr/>
        </p:nvSpPr>
        <p:spPr>
          <a:xfrm>
            <a:off x="548640" y="1097280"/>
            <a:ext cx="5440680" cy="850392"/>
          </a:xfrm>
          <a:prstGeom prst="rect">
            <a:avLst/>
          </a:prstGeom>
          <a:solidFill>
            <a:schemeClr val="bg1"/>
          </a:solidFill>
          <a:ln/>
          <a:effectLst>
            <a:outerShdw blurRad="76200" dist="25400" dir="5400000" algn="bl" rotWithShape="0">
              <a:srgbClr val="000000">
                <a:alpha val="12000"/>
              </a:srgbClr>
            </a:outerShdw>
          </a:effectLst>
        </p:spPr>
      </p:sp>
      <p:sp>
        <p:nvSpPr>
          <p:cNvPr id="6" name="Text 3"/>
          <p:cNvSpPr txBox="1"/>
          <p:nvPr/>
        </p:nvSpPr>
        <p:spPr>
          <a:xfrm>
            <a:off x="685800" y="1097280"/>
            <a:ext cx="5166360" cy="850392"/>
          </a:xfrm>
          <a:prstGeom prst="rect">
            <a:avLst/>
          </a:prstGeom>
          <a:noFill/>
          <a:ln/>
        </p:spPr>
        <p:txBody>
          <a:bodyPr wrap="square" lIns="0" tIns="0" rIns="0" bIns="0" rtlCol="0" anchor="ctr"/>
          <a:lstStyle/>
          <a:p>
            <a:pPr marL="0" indent="0">
              <a:buNone/>
            </a:pPr>
            <a:r>
              <a:rPr lang="en-US" sz="1400" b="1" dirty="0">
                <a:solidFill>
                  <a:schemeClr val="accent1"/>
                </a:solidFill>
              </a:rPr>
              <a:t>MERA</a:t>
            </a:r>
            <a:r>
              <a:rPr lang="en-US" sz="1200" i="1" dirty="0">
                <a:solidFill>
                  <a:schemeClr val="tx1"/>
                </a:solidFill>
              </a:rPr>
              <a:t>  ·  West African lions</a:t>
            </a:r>
            <a:endParaRPr lang="en-US" sz="1400" dirty="0"/>
          </a:p>
          <a:p>
            <a:pPr marL="0" indent="0">
              <a:buNone/>
            </a:pPr>
            <a:r>
              <a:rPr lang="en-US" sz="1600" dirty="0">
                <a:solidFill>
                  <a:schemeClr val="tx1"/>
                </a:solidFill>
              </a:rPr>
              <a:t>Write the threats, protection and ending in your own words. Fix “more fitter” and “died” (diet).                                                         </a:t>
            </a:r>
            <a:endParaRPr lang="en-US" dirty="0"/>
          </a:p>
        </p:txBody>
      </p:sp>
      <p:sp>
        <p:nvSpPr>
          <p:cNvPr id="7" name="Shape 4"/>
          <p:cNvSpPr/>
          <p:nvPr/>
        </p:nvSpPr>
        <p:spPr>
          <a:xfrm>
            <a:off x="6217920" y="1097280"/>
            <a:ext cx="5440680" cy="850392"/>
          </a:xfrm>
          <a:prstGeom prst="rect">
            <a:avLst/>
          </a:prstGeom>
          <a:solidFill>
            <a:schemeClr val="bg1"/>
          </a:solidFill>
          <a:ln/>
          <a:effectLst>
            <a:outerShdw blurRad="76200" dist="25400" dir="5400000" algn="bl" rotWithShape="0">
              <a:srgbClr val="000000">
                <a:alpha val="12000"/>
              </a:srgbClr>
            </a:outerShdw>
          </a:effectLst>
        </p:spPr>
      </p:sp>
      <p:sp>
        <p:nvSpPr>
          <p:cNvPr id="8" name="Text 5"/>
          <p:cNvSpPr txBox="1"/>
          <p:nvPr/>
        </p:nvSpPr>
        <p:spPr>
          <a:xfrm>
            <a:off x="6355080" y="1097280"/>
            <a:ext cx="5166360" cy="850392"/>
          </a:xfrm>
          <a:prstGeom prst="rect">
            <a:avLst/>
          </a:prstGeom>
          <a:noFill/>
          <a:ln/>
        </p:spPr>
        <p:txBody>
          <a:bodyPr wrap="square" lIns="0" tIns="0" rIns="0" bIns="0" rtlCol="0" anchor="ctr"/>
          <a:lstStyle/>
          <a:p>
            <a:pPr marL="0" indent="0">
              <a:buNone/>
            </a:pPr>
            <a:r>
              <a:rPr lang="en-US" sz="1400" b="1" dirty="0">
                <a:solidFill>
                  <a:schemeClr val="accent1"/>
                </a:solidFill>
              </a:rPr>
              <a:t>MOSTAFA</a:t>
            </a:r>
            <a:r>
              <a:rPr lang="en-US" sz="1200" i="1" dirty="0">
                <a:solidFill>
                  <a:schemeClr val="tx1"/>
                </a:solidFill>
              </a:rPr>
              <a:t>  ·  Sea turtles</a:t>
            </a:r>
            <a:endParaRPr lang="en-US" sz="1400" dirty="0"/>
          </a:p>
          <a:p>
            <a:pPr marL="0" indent="0">
              <a:buNone/>
            </a:pPr>
            <a:r>
              <a:rPr lang="en-US" sz="1600" dirty="0">
                <a:solidFill>
                  <a:schemeClr val="tx1"/>
                </a:solidFill>
              </a:rPr>
              <a:t>Add an About paragraph. Use capitals and full stops. Finish your ending: Protecting sea turtles matters because…</a:t>
            </a:r>
            <a:endParaRPr lang="en-US" dirty="0"/>
          </a:p>
        </p:txBody>
      </p:sp>
      <p:sp>
        <p:nvSpPr>
          <p:cNvPr id="9" name="Shape 6"/>
          <p:cNvSpPr/>
          <p:nvPr/>
        </p:nvSpPr>
        <p:spPr>
          <a:xfrm>
            <a:off x="548640" y="2039112"/>
            <a:ext cx="5440680" cy="850392"/>
          </a:xfrm>
          <a:prstGeom prst="rect">
            <a:avLst/>
          </a:prstGeom>
          <a:solidFill>
            <a:schemeClr val="bg1"/>
          </a:solidFill>
          <a:ln/>
          <a:effectLst>
            <a:outerShdw blurRad="76200" dist="25400" dir="5400000" algn="bl" rotWithShape="0">
              <a:srgbClr val="000000">
                <a:alpha val="12000"/>
              </a:srgbClr>
            </a:outerShdw>
          </a:effectLst>
        </p:spPr>
      </p:sp>
      <p:sp>
        <p:nvSpPr>
          <p:cNvPr id="10" name="Text 7"/>
          <p:cNvSpPr txBox="1"/>
          <p:nvPr/>
        </p:nvSpPr>
        <p:spPr>
          <a:xfrm>
            <a:off x="685800" y="2039112"/>
            <a:ext cx="5166360" cy="850392"/>
          </a:xfrm>
          <a:prstGeom prst="rect">
            <a:avLst/>
          </a:prstGeom>
          <a:noFill/>
          <a:ln/>
        </p:spPr>
        <p:txBody>
          <a:bodyPr wrap="square" lIns="0" tIns="0" rIns="0" bIns="0" rtlCol="0" anchor="ctr"/>
          <a:lstStyle/>
          <a:p>
            <a:pPr marL="0" indent="0">
              <a:buNone/>
            </a:pPr>
            <a:r>
              <a:rPr lang="en-US" sz="1400" b="1" dirty="0">
                <a:solidFill>
                  <a:schemeClr val="accent3"/>
                </a:solidFill>
              </a:rPr>
              <a:t>BEKHIT</a:t>
            </a:r>
            <a:r>
              <a:rPr lang="en-US" sz="1200" i="1" dirty="0">
                <a:solidFill>
                  <a:schemeClr val="tx1"/>
                </a:solidFill>
              </a:rPr>
              <a:t>  ·  Savanna animals</a:t>
            </a:r>
            <a:endParaRPr lang="en-US" sz="1400" dirty="0"/>
          </a:p>
          <a:p>
            <a:pPr marL="0" indent="0">
              <a:buNone/>
            </a:pPr>
            <a:r>
              <a:rPr lang="en-US" dirty="0">
                <a:solidFill>
                  <a:schemeClr val="tx1"/>
                </a:solidFill>
              </a:rPr>
              <a:t>Choose ONE creature. Plan five sections. Write full sentences with capitals and full stops.</a:t>
            </a:r>
            <a:endParaRPr lang="en-US" sz="2000" dirty="0"/>
          </a:p>
        </p:txBody>
      </p:sp>
      <p:sp>
        <p:nvSpPr>
          <p:cNvPr id="11" name="Shape 8"/>
          <p:cNvSpPr/>
          <p:nvPr/>
        </p:nvSpPr>
        <p:spPr>
          <a:xfrm>
            <a:off x="6217920" y="2039112"/>
            <a:ext cx="5440680" cy="850392"/>
          </a:xfrm>
          <a:prstGeom prst="rect">
            <a:avLst/>
          </a:prstGeom>
          <a:solidFill>
            <a:schemeClr val="bg1"/>
          </a:solidFill>
          <a:ln/>
          <a:effectLst>
            <a:outerShdw blurRad="76200" dist="25400" dir="5400000" algn="bl" rotWithShape="0">
              <a:srgbClr val="000000">
                <a:alpha val="12000"/>
              </a:srgbClr>
            </a:outerShdw>
          </a:effectLst>
        </p:spPr>
      </p:sp>
      <p:sp>
        <p:nvSpPr>
          <p:cNvPr id="12" name="Text 9"/>
          <p:cNvSpPr txBox="1"/>
          <p:nvPr/>
        </p:nvSpPr>
        <p:spPr>
          <a:xfrm>
            <a:off x="6355080" y="2039112"/>
            <a:ext cx="5166360" cy="850392"/>
          </a:xfrm>
          <a:prstGeom prst="rect">
            <a:avLst/>
          </a:prstGeom>
          <a:noFill/>
          <a:ln/>
        </p:spPr>
        <p:txBody>
          <a:bodyPr wrap="square" lIns="0" tIns="0" rIns="0" bIns="0" rtlCol="0" anchor="ctr"/>
          <a:lstStyle/>
          <a:p>
            <a:pPr marL="0" indent="0">
              <a:buNone/>
            </a:pPr>
            <a:r>
              <a:rPr lang="en-US" sz="1400" b="1" dirty="0">
                <a:solidFill>
                  <a:schemeClr val="accent3"/>
                </a:solidFill>
              </a:rPr>
              <a:t>MAWADDA</a:t>
            </a:r>
            <a:r>
              <a:rPr lang="en-US" sz="1200" i="1" dirty="0">
                <a:solidFill>
                  <a:schemeClr val="tx1"/>
                </a:solidFill>
              </a:rPr>
              <a:t>  ·  Giraffes</a:t>
            </a:r>
            <a:endParaRPr lang="en-US" sz="1400" dirty="0"/>
          </a:p>
          <a:p>
            <a:pPr marL="0" indent="0">
              <a:buNone/>
            </a:pPr>
            <a:r>
              <a:rPr lang="en-US" dirty="0">
                <a:solidFill>
                  <a:schemeClr val="tx1"/>
                </a:solidFill>
              </a:rPr>
              <a:t>Add the five headings. Develop each paragraph. Make your ending a real reason with because.</a:t>
            </a:r>
            <a:endParaRPr lang="en-US" sz="2000" dirty="0"/>
          </a:p>
        </p:txBody>
      </p:sp>
      <p:sp>
        <p:nvSpPr>
          <p:cNvPr id="13" name="Shape 10"/>
          <p:cNvSpPr/>
          <p:nvPr/>
        </p:nvSpPr>
        <p:spPr>
          <a:xfrm>
            <a:off x="548640" y="2980944"/>
            <a:ext cx="5440680" cy="850392"/>
          </a:xfrm>
          <a:prstGeom prst="rect">
            <a:avLst/>
          </a:prstGeom>
          <a:solidFill>
            <a:schemeClr val="bg1"/>
          </a:solidFill>
          <a:ln/>
          <a:effectLst>
            <a:outerShdw blurRad="76200" dist="25400" dir="5400000" algn="bl" rotWithShape="0">
              <a:srgbClr val="000000">
                <a:alpha val="12000"/>
              </a:srgbClr>
            </a:outerShdw>
          </a:effectLst>
        </p:spPr>
      </p:sp>
      <p:sp>
        <p:nvSpPr>
          <p:cNvPr id="14" name="Text 11"/>
          <p:cNvSpPr txBox="1"/>
          <p:nvPr/>
        </p:nvSpPr>
        <p:spPr>
          <a:xfrm>
            <a:off x="685800" y="2980944"/>
            <a:ext cx="5166360" cy="850392"/>
          </a:xfrm>
          <a:prstGeom prst="rect">
            <a:avLst/>
          </a:prstGeom>
          <a:noFill/>
          <a:ln/>
        </p:spPr>
        <p:txBody>
          <a:bodyPr wrap="square" lIns="0" tIns="0" rIns="0" bIns="0" rtlCol="0" anchor="ctr"/>
          <a:lstStyle/>
          <a:p>
            <a:pPr marL="0" indent="0">
              <a:buNone/>
            </a:pPr>
            <a:r>
              <a:rPr lang="en-US" sz="1400" b="1" dirty="0">
                <a:solidFill>
                  <a:schemeClr val="tx1"/>
                </a:solidFill>
              </a:rPr>
              <a:t>RENAD</a:t>
            </a:r>
            <a:r>
              <a:rPr lang="en-US" sz="1200" i="1" dirty="0">
                <a:solidFill>
                  <a:schemeClr val="tx1"/>
                </a:solidFill>
              </a:rPr>
              <a:t>  ·  Green sea turtle</a:t>
            </a:r>
            <a:endParaRPr lang="en-US" sz="1400" dirty="0"/>
          </a:p>
          <a:p>
            <a:pPr marL="0" indent="0">
              <a:buNone/>
            </a:pPr>
            <a:r>
              <a:rPr lang="en-US" dirty="0">
                <a:solidFill>
                  <a:schemeClr val="tx1"/>
                </a:solidFill>
              </a:rPr>
              <a:t>Write five headed paragraphs. Start every sentence with a capital. Fix the verbs: turtles are, it can live.</a:t>
            </a:r>
            <a:endParaRPr lang="en-US" sz="2000" dirty="0"/>
          </a:p>
        </p:txBody>
      </p:sp>
      <p:sp>
        <p:nvSpPr>
          <p:cNvPr id="15" name="Shape 12"/>
          <p:cNvSpPr/>
          <p:nvPr/>
        </p:nvSpPr>
        <p:spPr>
          <a:xfrm>
            <a:off x="6217920" y="2980944"/>
            <a:ext cx="5440680" cy="850392"/>
          </a:xfrm>
          <a:prstGeom prst="rect">
            <a:avLst/>
          </a:prstGeom>
          <a:solidFill>
            <a:schemeClr val="bg1"/>
          </a:solidFill>
          <a:ln/>
          <a:effectLst>
            <a:outerShdw blurRad="76200" dist="25400" dir="5400000" algn="bl" rotWithShape="0">
              <a:srgbClr val="000000">
                <a:alpha val="12000"/>
              </a:srgbClr>
            </a:outerShdw>
          </a:effectLst>
        </p:spPr>
      </p:sp>
      <p:sp>
        <p:nvSpPr>
          <p:cNvPr id="16" name="Text 13"/>
          <p:cNvSpPr txBox="1"/>
          <p:nvPr/>
        </p:nvSpPr>
        <p:spPr>
          <a:xfrm>
            <a:off x="6355080" y="2980944"/>
            <a:ext cx="5166360" cy="850392"/>
          </a:xfrm>
          <a:prstGeom prst="rect">
            <a:avLst/>
          </a:prstGeom>
          <a:noFill/>
          <a:ln/>
        </p:spPr>
        <p:txBody>
          <a:bodyPr wrap="square" lIns="0" tIns="0" rIns="0" bIns="0" rtlCol="0" anchor="ctr"/>
          <a:lstStyle/>
          <a:p>
            <a:pPr marL="0" indent="0">
              <a:buNone/>
            </a:pPr>
            <a:r>
              <a:rPr lang="en-US" sz="1400" b="1" dirty="0">
                <a:solidFill>
                  <a:schemeClr val="tx1"/>
                </a:solidFill>
              </a:rPr>
              <a:t>YASSIN</a:t>
            </a:r>
            <a:r>
              <a:rPr lang="en-US" sz="1200" i="1" dirty="0">
                <a:solidFill>
                  <a:schemeClr val="tx1"/>
                </a:solidFill>
              </a:rPr>
              <a:t>  ·  Blue whale</a:t>
            </a:r>
            <a:endParaRPr lang="en-US" sz="1400" dirty="0"/>
          </a:p>
          <a:p>
            <a:pPr marL="0" indent="0">
              <a:buNone/>
            </a:pPr>
            <a:r>
              <a:rPr lang="en-US" dirty="0">
                <a:solidFill>
                  <a:schemeClr val="tx1"/>
                </a:solidFill>
              </a:rPr>
              <a:t>Turn your notes into full sentences and paragraphs. Fix the verbs: it eats, it breathes, it keeps. Add WHY.</a:t>
            </a:r>
            <a:endParaRPr lang="en-US" sz="2000" dirty="0"/>
          </a:p>
        </p:txBody>
      </p:sp>
      <p:sp>
        <p:nvSpPr>
          <p:cNvPr id="17" name="Shape 14"/>
          <p:cNvSpPr/>
          <p:nvPr/>
        </p:nvSpPr>
        <p:spPr>
          <a:xfrm>
            <a:off x="548640" y="3922776"/>
            <a:ext cx="5440680" cy="850392"/>
          </a:xfrm>
          <a:prstGeom prst="rect">
            <a:avLst/>
          </a:prstGeom>
          <a:solidFill>
            <a:schemeClr val="bg1"/>
          </a:solidFill>
          <a:ln/>
          <a:effectLst>
            <a:outerShdw blurRad="76200" dist="25400" dir="5400000" algn="bl" rotWithShape="0">
              <a:srgbClr val="000000">
                <a:alpha val="12000"/>
              </a:srgbClr>
            </a:outerShdw>
          </a:effectLst>
        </p:spPr>
      </p:sp>
      <p:sp>
        <p:nvSpPr>
          <p:cNvPr id="18" name="Text 15"/>
          <p:cNvSpPr txBox="1"/>
          <p:nvPr/>
        </p:nvSpPr>
        <p:spPr>
          <a:xfrm>
            <a:off x="685800" y="3922776"/>
            <a:ext cx="5166360" cy="850392"/>
          </a:xfrm>
          <a:prstGeom prst="rect">
            <a:avLst/>
          </a:prstGeom>
          <a:noFill/>
          <a:ln/>
        </p:spPr>
        <p:txBody>
          <a:bodyPr wrap="square" lIns="0" tIns="0" rIns="0" bIns="0" rtlCol="0" anchor="ctr"/>
          <a:lstStyle/>
          <a:p>
            <a:pPr marL="0" indent="0">
              <a:buNone/>
            </a:pPr>
            <a:r>
              <a:rPr lang="en-US" sz="1400" b="1" dirty="0">
                <a:solidFill>
                  <a:schemeClr val="accent1"/>
                </a:solidFill>
              </a:rPr>
              <a:t>WASEELA</a:t>
            </a:r>
            <a:r>
              <a:rPr lang="en-US" sz="1200" i="1" dirty="0">
                <a:solidFill>
                  <a:schemeClr val="tx1"/>
                </a:solidFill>
              </a:rPr>
              <a:t>  ·  Cheetahs</a:t>
            </a:r>
            <a:endParaRPr lang="en-US" sz="1400" dirty="0"/>
          </a:p>
          <a:p>
            <a:pPr marL="0" indent="0">
              <a:buNone/>
            </a:pPr>
            <a:r>
              <a:rPr lang="en-US" dirty="0">
                <a:solidFill>
                  <a:schemeClr val="tx1"/>
                </a:solidFill>
              </a:rPr>
              <a:t>Polish: check African, savannas, illegal. Remove the comma before “that help”. Add a “Did you know?” fact.</a:t>
            </a:r>
            <a:endParaRPr lang="en-US" sz="2000" dirty="0"/>
          </a:p>
        </p:txBody>
      </p:sp>
      <p:sp>
        <p:nvSpPr>
          <p:cNvPr id="19" name="Shape 16"/>
          <p:cNvSpPr/>
          <p:nvPr/>
        </p:nvSpPr>
        <p:spPr>
          <a:xfrm>
            <a:off x="6217920" y="3922776"/>
            <a:ext cx="5440680" cy="850392"/>
          </a:xfrm>
          <a:prstGeom prst="rect">
            <a:avLst/>
          </a:prstGeom>
          <a:solidFill>
            <a:schemeClr val="bg1"/>
          </a:solidFill>
          <a:ln/>
          <a:effectLst>
            <a:outerShdw blurRad="76200" dist="25400" dir="5400000" algn="bl" rotWithShape="0">
              <a:srgbClr val="000000">
                <a:alpha val="12000"/>
              </a:srgbClr>
            </a:outerShdw>
          </a:effectLst>
        </p:spPr>
      </p:sp>
      <p:sp>
        <p:nvSpPr>
          <p:cNvPr id="20" name="Text 17"/>
          <p:cNvSpPr txBox="1"/>
          <p:nvPr/>
        </p:nvSpPr>
        <p:spPr>
          <a:xfrm>
            <a:off x="6355080" y="3922776"/>
            <a:ext cx="5166360" cy="850392"/>
          </a:xfrm>
          <a:prstGeom prst="rect">
            <a:avLst/>
          </a:prstGeom>
          <a:noFill/>
          <a:ln/>
        </p:spPr>
        <p:txBody>
          <a:bodyPr wrap="square" lIns="0" tIns="0" rIns="0" bIns="0" rtlCol="0" anchor="ctr"/>
          <a:lstStyle/>
          <a:p>
            <a:pPr marL="0" indent="0">
              <a:buNone/>
            </a:pPr>
            <a:r>
              <a:rPr lang="en-US" sz="1400" b="1" dirty="0">
                <a:solidFill>
                  <a:schemeClr val="accent1"/>
                </a:solidFill>
              </a:rPr>
              <a:t>ROFIDA</a:t>
            </a:r>
            <a:r>
              <a:rPr lang="en-US" sz="1200" i="1" dirty="0">
                <a:solidFill>
                  <a:schemeClr val="tx1"/>
                </a:solidFill>
              </a:rPr>
              <a:t>  ·  Crocodile</a:t>
            </a:r>
            <a:endParaRPr lang="en-US" sz="1400" dirty="0"/>
          </a:p>
          <a:p>
            <a:pPr marL="0" indent="0">
              <a:buNone/>
            </a:pPr>
            <a:r>
              <a:rPr lang="en-US" dirty="0">
                <a:solidFill>
                  <a:schemeClr val="tx1"/>
                </a:solidFill>
              </a:rPr>
              <a:t>Fix the comma splices: reptiles, they live.                               Write “here are some ways” and “nature in balance”.</a:t>
            </a:r>
            <a:endParaRPr lang="en-US" sz="2000" dirty="0"/>
          </a:p>
        </p:txBody>
      </p:sp>
      <p:sp>
        <p:nvSpPr>
          <p:cNvPr id="21" name="Shape 18"/>
          <p:cNvSpPr/>
          <p:nvPr/>
        </p:nvSpPr>
        <p:spPr>
          <a:xfrm>
            <a:off x="548640" y="4864608"/>
            <a:ext cx="5440680" cy="850392"/>
          </a:xfrm>
          <a:prstGeom prst="rect">
            <a:avLst/>
          </a:prstGeom>
          <a:solidFill>
            <a:schemeClr val="bg1"/>
          </a:solidFill>
          <a:ln/>
          <a:effectLst>
            <a:outerShdw blurRad="76200" dist="25400" dir="5400000" algn="bl" rotWithShape="0">
              <a:srgbClr val="000000">
                <a:alpha val="12000"/>
              </a:srgbClr>
            </a:outerShdw>
          </a:effectLst>
        </p:spPr>
      </p:sp>
      <p:sp>
        <p:nvSpPr>
          <p:cNvPr id="22" name="Text 19"/>
          <p:cNvSpPr txBox="1"/>
          <p:nvPr/>
        </p:nvSpPr>
        <p:spPr>
          <a:xfrm>
            <a:off x="685800" y="4864608"/>
            <a:ext cx="5166360" cy="850392"/>
          </a:xfrm>
          <a:prstGeom prst="rect">
            <a:avLst/>
          </a:prstGeom>
          <a:noFill/>
          <a:ln/>
        </p:spPr>
        <p:txBody>
          <a:bodyPr wrap="square" lIns="0" tIns="0" rIns="0" bIns="0" rtlCol="0" anchor="ctr"/>
          <a:lstStyle/>
          <a:p>
            <a:pPr marL="0" indent="0">
              <a:buNone/>
            </a:pPr>
            <a:r>
              <a:rPr lang="en-US" sz="1400" b="1" dirty="0">
                <a:solidFill>
                  <a:schemeClr val="accent3"/>
                </a:solidFill>
              </a:rPr>
              <a:t>SADEEL</a:t>
            </a:r>
            <a:r>
              <a:rPr lang="en-US" sz="1200" i="1" dirty="0">
                <a:solidFill>
                  <a:schemeClr val="tx1"/>
                </a:solidFill>
              </a:rPr>
              <a:t>  ·  Blue whale</a:t>
            </a:r>
            <a:endParaRPr lang="en-US" sz="1400" dirty="0"/>
          </a:p>
          <a:p>
            <a:pPr marL="0" indent="0">
              <a:buNone/>
            </a:pPr>
            <a:r>
              <a:rPr lang="en-US" dirty="0">
                <a:solidFill>
                  <a:schemeClr val="tx1"/>
                </a:solidFill>
              </a:rPr>
              <a:t>Add WHY to the introduction. Write facts about size and habitat, not only food. Check you have an Ending.</a:t>
            </a:r>
            <a:endParaRPr lang="en-US" sz="2000" dirty="0"/>
          </a:p>
        </p:txBody>
      </p:sp>
      <p:sp>
        <p:nvSpPr>
          <p:cNvPr id="23" name="Shape 20"/>
          <p:cNvSpPr/>
          <p:nvPr/>
        </p:nvSpPr>
        <p:spPr>
          <a:xfrm>
            <a:off x="6217920" y="4892040"/>
            <a:ext cx="5440680" cy="850392"/>
          </a:xfrm>
          <a:prstGeom prst="rect">
            <a:avLst/>
          </a:prstGeom>
          <a:solidFill>
            <a:schemeClr val="tx1"/>
          </a:solidFill>
          <a:ln/>
        </p:spPr>
      </p:sp>
      <p:sp>
        <p:nvSpPr>
          <p:cNvPr id="24" name="Text 21"/>
          <p:cNvSpPr txBox="1"/>
          <p:nvPr/>
        </p:nvSpPr>
        <p:spPr>
          <a:xfrm>
            <a:off x="6355080" y="4892040"/>
            <a:ext cx="5166360" cy="850392"/>
          </a:xfrm>
          <a:prstGeom prst="rect">
            <a:avLst/>
          </a:prstGeom>
          <a:noFill/>
          <a:ln/>
        </p:spPr>
        <p:txBody>
          <a:bodyPr wrap="square" lIns="0" tIns="0" rIns="0" bIns="0" rtlCol="0" anchor="ctr"/>
          <a:lstStyle/>
          <a:p>
            <a:pPr marL="0" indent="0">
              <a:buNone/>
            </a:pPr>
            <a:r>
              <a:rPr lang="en-US" dirty="0">
                <a:solidFill>
                  <a:schemeClr val="bg1"/>
                </a:solidFill>
              </a:rPr>
              <a:t>Hussein, Yasser, Ahmed: </a:t>
            </a:r>
          </a:p>
          <a:p>
            <a:pPr marL="0" indent="0">
              <a:buNone/>
            </a:pPr>
            <a:r>
              <a:rPr lang="en-US" dirty="0">
                <a:solidFill>
                  <a:schemeClr val="bg1"/>
                </a:solidFill>
              </a:rPr>
              <a:t>use your Session 6 target and show me your first draft.</a:t>
            </a: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0"/>
            <a:ext cx="9326880" cy="822960"/>
          </a:xfrm>
          <a:prstGeom prst="rect">
            <a:avLst/>
          </a:prstGeom>
          <a:noFill/>
          <a:ln/>
        </p:spPr>
        <p:txBody>
          <a:bodyPr wrap="square" lIns="0" tIns="0" rIns="0" bIns="0" rtlCol="0" anchor="ctr"/>
          <a:lstStyle/>
          <a:p>
            <a:pPr marL="0" indent="0" algn="l">
              <a:buNone/>
            </a:pPr>
            <a:r>
              <a:rPr lang="en-US" sz="2600" b="1" dirty="0">
                <a:solidFill>
                  <a:schemeClr val="bg1"/>
                </a:solidFill>
                <a:latin typeface="+mj-lt" pitchFamily="34" charset="0"/>
                <a:ea typeface="+mj-lt" pitchFamily="34" charset="-122"/>
                <a:cs typeface="+mj-lt" pitchFamily="34" charset="-120"/>
              </a:rPr>
              <a:t>Success criteria for the second draft</a:t>
            </a:r>
            <a:endParaRPr lang="en-US" sz="2600" dirty="0"/>
          </a:p>
        </p:txBody>
      </p:sp>
      <p:sp>
        <p:nvSpPr>
          <p:cNvPr id="3" name="Tag"/>
          <p:cNvSpPr txBox="1"/>
          <p:nvPr/>
        </p:nvSpPr>
        <p:spPr>
          <a:xfrm>
            <a:off x="10332720" y="256032"/>
            <a:ext cx="1463040" cy="310896"/>
          </a:xfrm>
          <a:prstGeom prst="rect">
            <a:avLst/>
          </a:prstGeom>
          <a:solidFill>
            <a:schemeClr val="accent2"/>
          </a:solidFill>
          <a:ln/>
        </p:spPr>
        <p:txBody>
          <a:bodyPr wrap="square" lIns="0" tIns="0" rIns="0" bIns="0" rtlCol="0" anchor="ctr"/>
          <a:lstStyle/>
          <a:p>
            <a:pPr marL="0" indent="0" algn="ctr">
              <a:buNone/>
            </a:pPr>
            <a:r>
              <a:rPr lang="en-US" sz="1100" b="1" dirty="0">
                <a:solidFill>
                  <a:schemeClr val="tx1"/>
                </a:solidFill>
              </a:rPr>
              <a:t>SUCCESS</a:t>
            </a:r>
            <a:endParaRPr lang="en-US" sz="1100" dirty="0"/>
          </a:p>
        </p:txBody>
      </p:sp>
      <p:sp>
        <p:nvSpPr>
          <p:cNvPr id="5" name="Card MY SECOND DRAFT…"/>
          <p:cNvSpPr/>
          <p:nvPr/>
        </p:nvSpPr>
        <p:spPr>
          <a:xfrm>
            <a:off x="548640" y="1097280"/>
            <a:ext cx="5577840" cy="4480560"/>
          </a:xfrm>
          <a:prstGeom prst="rect">
            <a:avLst/>
          </a:prstGeom>
          <a:solidFill>
            <a:schemeClr val="bg1"/>
          </a:solidFill>
          <a:ln/>
          <a:effectLst>
            <a:outerShdw blurRad="76200" dist="25400" dir="5400000" algn="bl" rotWithShape="0">
              <a:srgbClr val="000000">
                <a:alpha val="12000"/>
              </a:srgbClr>
            </a:outerShdw>
          </a:effectLst>
        </p:spPr>
      </p:sp>
      <p:sp>
        <p:nvSpPr>
          <p:cNvPr id="6" name="Shape 3"/>
          <p:cNvSpPr/>
          <p:nvPr/>
        </p:nvSpPr>
        <p:spPr>
          <a:xfrm>
            <a:off x="548640" y="1097280"/>
            <a:ext cx="5577840" cy="502920"/>
          </a:xfrm>
          <a:prstGeom prst="rect">
            <a:avLst/>
          </a:prstGeom>
          <a:solidFill>
            <a:schemeClr val="accent1"/>
          </a:solidFill>
          <a:ln/>
        </p:spPr>
      </p:sp>
      <p:sp>
        <p:nvSpPr>
          <p:cNvPr id="7" name="Text 4"/>
          <p:cNvSpPr txBox="1"/>
          <p:nvPr/>
        </p:nvSpPr>
        <p:spPr>
          <a:xfrm>
            <a:off x="676656" y="1097280"/>
            <a:ext cx="5394960" cy="502920"/>
          </a:xfrm>
          <a:prstGeom prst="rect">
            <a:avLst/>
          </a:prstGeom>
          <a:noFill/>
          <a:ln/>
        </p:spPr>
        <p:txBody>
          <a:bodyPr wrap="square" lIns="0" tIns="0" rIns="0" bIns="0" rtlCol="0" anchor="ctr"/>
          <a:lstStyle/>
          <a:p>
            <a:pPr marL="0" indent="0">
              <a:buNone/>
            </a:pPr>
            <a:r>
              <a:rPr lang="en-US" sz="1500" b="1" dirty="0">
                <a:solidFill>
                  <a:schemeClr val="bg1"/>
                </a:solidFill>
              </a:rPr>
              <a:t>MY SECOND DRAFT…</a:t>
            </a:r>
            <a:endParaRPr lang="en-US" sz="1500" dirty="0"/>
          </a:p>
        </p:txBody>
      </p:sp>
      <p:sp>
        <p:nvSpPr>
          <p:cNvPr id="8" name="Text 5"/>
          <p:cNvSpPr txBox="1"/>
          <p:nvPr/>
        </p:nvSpPr>
        <p:spPr>
          <a:xfrm>
            <a:off x="658368" y="1673352"/>
            <a:ext cx="5358384" cy="3831336"/>
          </a:xfrm>
          <a:prstGeom prst="rect">
            <a:avLst/>
          </a:prstGeom>
          <a:noFill/>
          <a:ln/>
        </p:spPr>
        <p:txBody>
          <a:bodyPr wrap="square" lIns="508" tIns="508" rIns="508" bIns="508" rtlCol="0" anchor="t"/>
          <a:lstStyle/>
          <a:p>
            <a:pPr marL="0" indent="0" algn="l">
              <a:spcAft>
                <a:spcPts val="1000"/>
              </a:spcAft>
              <a:buNone/>
            </a:pPr>
            <a:r>
              <a:rPr lang="en-US" sz="1700" dirty="0">
                <a:solidFill>
                  <a:schemeClr val="tx1"/>
                </a:solidFill>
              </a:rPr>
              <a:t>☐  has a title and five headed sections</a:t>
            </a:r>
            <a:endParaRPr lang="en-US" sz="1700" dirty="0"/>
          </a:p>
          <a:p>
            <a:pPr marL="0" indent="0" algn="l">
              <a:spcAft>
                <a:spcPts val="1000"/>
              </a:spcAft>
              <a:buNone/>
            </a:pPr>
            <a:r>
              <a:rPr lang="en-US" sz="1700" dirty="0">
                <a:solidFill>
                  <a:schemeClr val="tx1"/>
                </a:solidFill>
              </a:rPr>
              <a:t>☐  introduction says WHAT and WHY</a:t>
            </a:r>
            <a:endParaRPr lang="en-US" sz="1700" dirty="0"/>
          </a:p>
          <a:p>
            <a:pPr marL="0" indent="0" algn="l">
              <a:spcAft>
                <a:spcPts val="1000"/>
              </a:spcAft>
              <a:buNone/>
            </a:pPr>
            <a:r>
              <a:rPr lang="en-US" sz="1700" dirty="0">
                <a:solidFill>
                  <a:schemeClr val="tx1"/>
                </a:solidFill>
              </a:rPr>
              <a:t>☐  every paragraph has a topic sentence</a:t>
            </a:r>
            <a:endParaRPr lang="en-US" sz="1700" dirty="0"/>
          </a:p>
          <a:p>
            <a:pPr marL="0" indent="0" algn="l">
              <a:spcAft>
                <a:spcPts val="1000"/>
              </a:spcAft>
              <a:buNone/>
            </a:pPr>
            <a:r>
              <a:rPr lang="en-US" sz="1700" dirty="0">
                <a:solidFill>
                  <a:schemeClr val="tx1"/>
                </a:solidFill>
              </a:rPr>
              <a:t>☐  facts are explained and developed</a:t>
            </a:r>
            <a:endParaRPr lang="en-US" sz="1700" dirty="0"/>
          </a:p>
          <a:p>
            <a:pPr marL="0" indent="0" algn="l">
              <a:spcAft>
                <a:spcPts val="1000"/>
              </a:spcAft>
              <a:buNone/>
            </a:pPr>
            <a:r>
              <a:rPr lang="en-US" sz="1700" dirty="0">
                <a:solidFill>
                  <a:schemeClr val="tx1"/>
                </a:solidFill>
              </a:rPr>
              <a:t>☐  ending: Protecting… matters because…</a:t>
            </a:r>
            <a:endParaRPr lang="en-US" sz="1700" dirty="0"/>
          </a:p>
        </p:txBody>
      </p:sp>
      <p:sp>
        <p:nvSpPr>
          <p:cNvPr id="9" name="Card MY WRITING…"/>
          <p:cNvSpPr/>
          <p:nvPr/>
        </p:nvSpPr>
        <p:spPr>
          <a:xfrm>
            <a:off x="6355080" y="1097280"/>
            <a:ext cx="5303520" cy="4480560"/>
          </a:xfrm>
          <a:prstGeom prst="rect">
            <a:avLst/>
          </a:prstGeom>
          <a:solidFill>
            <a:schemeClr val="bg1"/>
          </a:solidFill>
          <a:ln/>
          <a:effectLst>
            <a:outerShdw blurRad="76200" dist="25400" dir="5400000" algn="bl" rotWithShape="0">
              <a:srgbClr val="000000">
                <a:alpha val="12000"/>
              </a:srgbClr>
            </a:outerShdw>
          </a:effectLst>
        </p:spPr>
      </p:sp>
      <p:sp>
        <p:nvSpPr>
          <p:cNvPr id="10" name="Shape 7"/>
          <p:cNvSpPr/>
          <p:nvPr/>
        </p:nvSpPr>
        <p:spPr>
          <a:xfrm>
            <a:off x="6355080" y="1097280"/>
            <a:ext cx="5303520" cy="502920"/>
          </a:xfrm>
          <a:prstGeom prst="rect">
            <a:avLst/>
          </a:prstGeom>
          <a:solidFill>
            <a:schemeClr val="accent3"/>
          </a:solidFill>
          <a:ln/>
        </p:spPr>
      </p:sp>
      <p:sp>
        <p:nvSpPr>
          <p:cNvPr id="11" name="Text 8"/>
          <p:cNvSpPr txBox="1"/>
          <p:nvPr/>
        </p:nvSpPr>
        <p:spPr>
          <a:xfrm>
            <a:off x="6483096" y="1097280"/>
            <a:ext cx="5120640" cy="502920"/>
          </a:xfrm>
          <a:prstGeom prst="rect">
            <a:avLst/>
          </a:prstGeom>
          <a:noFill/>
          <a:ln/>
        </p:spPr>
        <p:txBody>
          <a:bodyPr wrap="square" lIns="0" tIns="0" rIns="0" bIns="0" rtlCol="0" anchor="ctr"/>
          <a:lstStyle/>
          <a:p>
            <a:pPr marL="0" indent="0">
              <a:buNone/>
            </a:pPr>
            <a:r>
              <a:rPr lang="en-US" sz="1500" b="1" dirty="0">
                <a:solidFill>
                  <a:schemeClr val="bg1"/>
                </a:solidFill>
              </a:rPr>
              <a:t>MY WRITING…</a:t>
            </a:r>
            <a:endParaRPr lang="en-US" sz="1500" dirty="0"/>
          </a:p>
        </p:txBody>
      </p:sp>
      <p:sp>
        <p:nvSpPr>
          <p:cNvPr id="12" name="Text 9"/>
          <p:cNvSpPr txBox="1"/>
          <p:nvPr/>
        </p:nvSpPr>
        <p:spPr>
          <a:xfrm>
            <a:off x="6464808" y="1673352"/>
            <a:ext cx="5084064" cy="3831336"/>
          </a:xfrm>
          <a:prstGeom prst="rect">
            <a:avLst/>
          </a:prstGeom>
          <a:noFill/>
          <a:ln/>
        </p:spPr>
        <p:txBody>
          <a:bodyPr wrap="square" lIns="508" tIns="508" rIns="508" bIns="508" rtlCol="0" anchor="t"/>
          <a:lstStyle/>
          <a:p>
            <a:pPr marL="0" indent="0" algn="l">
              <a:spcAft>
                <a:spcPts val="1000"/>
              </a:spcAft>
              <a:buNone/>
            </a:pPr>
            <a:r>
              <a:rPr lang="en-US" sz="1700" dirty="0">
                <a:solidFill>
                  <a:schemeClr val="tx1"/>
                </a:solidFill>
              </a:rPr>
              <a:t>☐  capital letters and full stops</a:t>
            </a:r>
            <a:endParaRPr lang="en-US" sz="1700" dirty="0"/>
          </a:p>
          <a:p>
            <a:pPr marL="0" indent="0" algn="l">
              <a:spcAft>
                <a:spcPts val="1000"/>
              </a:spcAft>
              <a:buNone/>
            </a:pPr>
            <a:r>
              <a:rPr lang="en-US" sz="1700" dirty="0">
                <a:solidFill>
                  <a:schemeClr val="tx1"/>
                </a:solidFill>
              </a:rPr>
              <a:t>☐  verbs agree: it eats, they eat</a:t>
            </a:r>
            <a:endParaRPr lang="en-US" sz="1700" dirty="0"/>
          </a:p>
          <a:p>
            <a:pPr marL="0" indent="0" algn="l">
              <a:spcAft>
                <a:spcPts val="1000"/>
              </a:spcAft>
              <a:buNone/>
            </a:pPr>
            <a:r>
              <a:rPr lang="en-US" sz="1700" dirty="0">
                <a:solidFill>
                  <a:schemeClr val="tx1"/>
                </a:solidFill>
              </a:rPr>
              <a:t>☐  one relative clause with commas</a:t>
            </a:r>
            <a:endParaRPr lang="en-US" sz="1700" dirty="0"/>
          </a:p>
          <a:p>
            <a:pPr marL="0" indent="0" algn="l">
              <a:spcAft>
                <a:spcPts val="1000"/>
              </a:spcAft>
              <a:buNone/>
            </a:pPr>
            <a:r>
              <a:rPr lang="en-US" sz="1700" dirty="0">
                <a:solidFill>
                  <a:schemeClr val="tx1"/>
                </a:solidFill>
              </a:rPr>
              <a:t>☐  precise words, true facts, spelling</a:t>
            </a:r>
            <a:endParaRPr lang="en-US" sz="1700" dirty="0"/>
          </a:p>
          <a:p>
            <a:pPr marL="0" indent="0" algn="l">
              <a:spcAft>
                <a:spcPts val="1000"/>
              </a:spcAft>
              <a:buNone/>
            </a:pPr>
            <a:r>
              <a:rPr lang="en-US" sz="1700" dirty="0">
                <a:solidFill>
                  <a:schemeClr val="tx1"/>
                </a:solidFill>
              </a:rPr>
              <a:t>☐  written in my own words</a:t>
            </a:r>
            <a:endParaRPr lang="en-US" sz="1700" dirty="0"/>
          </a:p>
        </p:txBody>
      </p:sp>
      <p:sp>
        <p:nvSpPr>
          <p:cNvPr id="13" name="Text 10"/>
          <p:cNvSpPr txBox="1"/>
          <p:nvPr/>
        </p:nvSpPr>
        <p:spPr>
          <a:xfrm>
            <a:off x="548640" y="5806440"/>
            <a:ext cx="11094415" cy="548640"/>
          </a:xfrm>
          <a:prstGeom prst="rect">
            <a:avLst/>
          </a:prstGeom>
          <a:solidFill>
            <a:schemeClr val="tx1"/>
          </a:solidFill>
          <a:ln/>
        </p:spPr>
        <p:txBody>
          <a:bodyPr wrap="square" lIns="1270" tIns="1270" rIns="1270" bIns="1270" rtlCol="0" anchor="ctr"/>
          <a:lstStyle/>
          <a:p>
            <a:pPr marL="0" indent="0" algn="ctr">
              <a:buNone/>
            </a:pPr>
            <a:r>
              <a:rPr lang="en-US" sz="2800" dirty="0">
                <a:solidFill>
                  <a:schemeClr val="bg1"/>
                </a:solidFill>
              </a:rPr>
              <a:t>✅ I have done it     ⚠️ I am not sure     ❌ Not yet</a:t>
            </a:r>
            <a:endParaRPr lang="en-US" sz="2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0"/>
            <a:ext cx="9326880" cy="822960"/>
          </a:xfrm>
          <a:prstGeom prst="rect">
            <a:avLst/>
          </a:prstGeom>
          <a:noFill/>
          <a:ln/>
        </p:spPr>
        <p:txBody>
          <a:bodyPr wrap="square" lIns="0" tIns="0" rIns="0" bIns="0" rtlCol="0" anchor="ctr"/>
          <a:lstStyle/>
          <a:p>
            <a:pPr marL="0" indent="0" algn="l">
              <a:buNone/>
            </a:pPr>
            <a:r>
              <a:rPr lang="en-US" sz="2600" b="1" dirty="0">
                <a:solidFill>
                  <a:schemeClr val="bg1"/>
                </a:solidFill>
                <a:latin typeface="+mj-lt" pitchFamily="34" charset="0"/>
                <a:ea typeface="+mj-lt" pitchFamily="34" charset="-122"/>
                <a:cs typeface="+mj-lt" pitchFamily="34" charset="-120"/>
              </a:rPr>
              <a:t>How to write the second draft</a:t>
            </a:r>
            <a:endParaRPr lang="en-US" sz="2600" dirty="0"/>
          </a:p>
        </p:txBody>
      </p:sp>
      <p:sp>
        <p:nvSpPr>
          <p:cNvPr id="3" name="Tag"/>
          <p:cNvSpPr txBox="1"/>
          <p:nvPr/>
        </p:nvSpPr>
        <p:spPr>
          <a:xfrm>
            <a:off x="10332720" y="256032"/>
            <a:ext cx="1463040" cy="310896"/>
          </a:xfrm>
          <a:prstGeom prst="rect">
            <a:avLst/>
          </a:prstGeom>
          <a:solidFill>
            <a:schemeClr val="accent2"/>
          </a:solidFill>
          <a:ln/>
        </p:spPr>
        <p:txBody>
          <a:bodyPr wrap="square" lIns="0" tIns="0" rIns="0" bIns="0" rtlCol="0" anchor="ctr"/>
          <a:lstStyle/>
          <a:p>
            <a:pPr marL="0" indent="0" algn="ctr">
              <a:buNone/>
            </a:pPr>
            <a:r>
              <a:rPr lang="en-US" sz="1100" b="1" dirty="0">
                <a:solidFill>
                  <a:schemeClr val="tx1"/>
                </a:solidFill>
              </a:rPr>
              <a:t>PLAN</a:t>
            </a:r>
            <a:endParaRPr lang="en-US" sz="1100" dirty="0"/>
          </a:p>
        </p:txBody>
      </p:sp>
      <p:sp>
        <p:nvSpPr>
          <p:cNvPr id="5" name="Shape 2"/>
          <p:cNvSpPr/>
          <p:nvPr/>
        </p:nvSpPr>
        <p:spPr>
          <a:xfrm>
            <a:off x="548640" y="1097280"/>
            <a:ext cx="11094415" cy="749808"/>
          </a:xfrm>
          <a:prstGeom prst="rect">
            <a:avLst/>
          </a:prstGeom>
          <a:solidFill>
            <a:schemeClr val="bg1"/>
          </a:solidFill>
          <a:ln/>
          <a:effectLst>
            <a:outerShdw blurRad="76200" dist="25400" dir="5400000" algn="bl" rotWithShape="0">
              <a:srgbClr val="000000">
                <a:alpha val="12000"/>
              </a:srgbClr>
            </a:outerShdw>
          </a:effectLst>
        </p:spPr>
      </p:sp>
      <p:sp>
        <p:nvSpPr>
          <p:cNvPr id="6" name="Text 3"/>
          <p:cNvSpPr txBox="1"/>
          <p:nvPr/>
        </p:nvSpPr>
        <p:spPr>
          <a:xfrm>
            <a:off x="777240" y="1188720"/>
            <a:ext cx="566928" cy="566928"/>
          </a:xfrm>
          <a:prstGeom prst="ellipse">
            <a:avLst/>
          </a:prstGeom>
          <a:solidFill>
            <a:schemeClr val="accent1"/>
          </a:solid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7" name="Text 4"/>
          <p:cNvSpPr txBox="1"/>
          <p:nvPr/>
        </p:nvSpPr>
        <p:spPr>
          <a:xfrm>
            <a:off x="1645920" y="1097280"/>
            <a:ext cx="1737360" cy="749808"/>
          </a:xfrm>
          <a:prstGeom prst="rect">
            <a:avLst/>
          </a:prstGeom>
          <a:noFill/>
          <a:ln/>
        </p:spPr>
        <p:txBody>
          <a:bodyPr wrap="square" lIns="0" tIns="0" rIns="0" bIns="0" rtlCol="0" anchor="ctr"/>
          <a:lstStyle/>
          <a:p>
            <a:pPr marL="0" indent="0">
              <a:buNone/>
            </a:pPr>
            <a:r>
              <a:rPr lang="en-US" sz="1800" b="1" dirty="0">
                <a:solidFill>
                  <a:schemeClr val="accent1"/>
                </a:solidFill>
                <a:latin typeface="+mj-lt" pitchFamily="34" charset="0"/>
                <a:ea typeface="+mj-lt" pitchFamily="34" charset="-122"/>
                <a:cs typeface="+mj-lt" pitchFamily="34" charset="-120"/>
              </a:rPr>
              <a:t>READ</a:t>
            </a:r>
            <a:endParaRPr lang="en-US" sz="1800" dirty="0"/>
          </a:p>
        </p:txBody>
      </p:sp>
      <p:sp>
        <p:nvSpPr>
          <p:cNvPr id="8" name="Text 5"/>
          <p:cNvSpPr txBox="1"/>
          <p:nvPr/>
        </p:nvSpPr>
        <p:spPr>
          <a:xfrm>
            <a:off x="3474720" y="1097280"/>
            <a:ext cx="8046720" cy="749808"/>
          </a:xfrm>
          <a:prstGeom prst="rect">
            <a:avLst/>
          </a:prstGeom>
          <a:noFill/>
          <a:ln/>
        </p:spPr>
        <p:txBody>
          <a:bodyPr wrap="square" lIns="0" tIns="0" rIns="0" bIns="0" rtlCol="0" anchor="ctr"/>
          <a:lstStyle/>
          <a:p>
            <a:pPr marL="0" indent="0">
              <a:buNone/>
            </a:pPr>
            <a:r>
              <a:rPr lang="en-US" sz="2400" dirty="0">
                <a:solidFill>
                  <a:schemeClr val="tx1"/>
                </a:solidFill>
              </a:rPr>
              <a:t>Read your first draft and your target. What will you fix first?</a:t>
            </a:r>
            <a:endParaRPr lang="en-US" sz="2400" dirty="0"/>
          </a:p>
        </p:txBody>
      </p:sp>
      <p:sp>
        <p:nvSpPr>
          <p:cNvPr id="9" name="Shape 6"/>
          <p:cNvSpPr/>
          <p:nvPr/>
        </p:nvSpPr>
        <p:spPr>
          <a:xfrm>
            <a:off x="548640" y="1965960"/>
            <a:ext cx="11094415" cy="749808"/>
          </a:xfrm>
          <a:prstGeom prst="rect">
            <a:avLst/>
          </a:prstGeom>
          <a:solidFill>
            <a:schemeClr val="bg1"/>
          </a:solidFill>
          <a:ln/>
          <a:effectLst>
            <a:outerShdw blurRad="76200" dist="25400" dir="5400000" algn="bl" rotWithShape="0">
              <a:srgbClr val="000000">
                <a:alpha val="12000"/>
              </a:srgbClr>
            </a:outerShdw>
          </a:effectLst>
        </p:spPr>
      </p:sp>
      <p:sp>
        <p:nvSpPr>
          <p:cNvPr id="10" name="Text 7"/>
          <p:cNvSpPr txBox="1"/>
          <p:nvPr/>
        </p:nvSpPr>
        <p:spPr>
          <a:xfrm>
            <a:off x="777240" y="2057400"/>
            <a:ext cx="566928" cy="566928"/>
          </a:xfrm>
          <a:prstGeom prst="ellipse">
            <a:avLst/>
          </a:prstGeom>
          <a:solidFill>
            <a:schemeClr val="accent2"/>
          </a:solid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11" name="Text 8"/>
          <p:cNvSpPr txBox="1"/>
          <p:nvPr/>
        </p:nvSpPr>
        <p:spPr>
          <a:xfrm>
            <a:off x="1645920" y="1965960"/>
            <a:ext cx="1737360" cy="749808"/>
          </a:xfrm>
          <a:prstGeom prst="rect">
            <a:avLst/>
          </a:prstGeom>
          <a:noFill/>
          <a:ln/>
        </p:spPr>
        <p:txBody>
          <a:bodyPr wrap="square" lIns="0" tIns="0" rIns="0" bIns="0" rtlCol="0" anchor="ctr"/>
          <a:lstStyle/>
          <a:p>
            <a:pPr marL="0" indent="0">
              <a:buNone/>
            </a:pPr>
            <a:r>
              <a:rPr lang="en-US" sz="1800" b="1" dirty="0">
                <a:solidFill>
                  <a:schemeClr val="accent3"/>
                </a:solidFill>
                <a:latin typeface="+mj-lt" pitchFamily="34" charset="0"/>
                <a:ea typeface="+mj-lt" pitchFamily="34" charset="-122"/>
                <a:cs typeface="+mj-lt" pitchFamily="34" charset="-120"/>
              </a:rPr>
              <a:t>MARK</a:t>
            </a:r>
            <a:endParaRPr lang="en-US" sz="1800" dirty="0"/>
          </a:p>
        </p:txBody>
      </p:sp>
      <p:sp>
        <p:nvSpPr>
          <p:cNvPr id="12" name="Text 9"/>
          <p:cNvSpPr txBox="1"/>
          <p:nvPr/>
        </p:nvSpPr>
        <p:spPr>
          <a:xfrm>
            <a:off x="3474720" y="1965960"/>
            <a:ext cx="8046720" cy="749808"/>
          </a:xfrm>
          <a:prstGeom prst="rect">
            <a:avLst/>
          </a:prstGeom>
          <a:noFill/>
          <a:ln/>
        </p:spPr>
        <p:txBody>
          <a:bodyPr wrap="square" lIns="0" tIns="0" rIns="0" bIns="0" rtlCol="0" anchor="ctr"/>
          <a:lstStyle/>
          <a:p>
            <a:pPr marL="0" indent="0">
              <a:buNone/>
            </a:pPr>
            <a:r>
              <a:rPr lang="en-US" sz="2400" dirty="0">
                <a:solidFill>
                  <a:schemeClr val="tx1"/>
                </a:solidFill>
              </a:rPr>
              <a:t>Use editing marks in pencil on your first draft.</a:t>
            </a:r>
            <a:endParaRPr lang="en-US" sz="2400" dirty="0"/>
          </a:p>
        </p:txBody>
      </p:sp>
      <p:sp>
        <p:nvSpPr>
          <p:cNvPr id="13" name="Shape 10"/>
          <p:cNvSpPr/>
          <p:nvPr/>
        </p:nvSpPr>
        <p:spPr>
          <a:xfrm>
            <a:off x="548640" y="2834640"/>
            <a:ext cx="11094415" cy="749808"/>
          </a:xfrm>
          <a:prstGeom prst="rect">
            <a:avLst/>
          </a:prstGeom>
          <a:solidFill>
            <a:schemeClr val="bg1"/>
          </a:solidFill>
          <a:ln/>
          <a:effectLst>
            <a:outerShdw blurRad="76200" dist="25400" dir="5400000" algn="bl" rotWithShape="0">
              <a:srgbClr val="000000">
                <a:alpha val="12000"/>
              </a:srgbClr>
            </a:outerShdw>
          </a:effectLst>
        </p:spPr>
      </p:sp>
      <p:sp>
        <p:nvSpPr>
          <p:cNvPr id="14" name="Text 11"/>
          <p:cNvSpPr txBox="1"/>
          <p:nvPr/>
        </p:nvSpPr>
        <p:spPr>
          <a:xfrm>
            <a:off x="777240" y="2926080"/>
            <a:ext cx="566928" cy="566928"/>
          </a:xfrm>
          <a:prstGeom prst="ellipse">
            <a:avLst/>
          </a:prstGeom>
          <a:solidFill>
            <a:schemeClr val="accent3"/>
          </a:solid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15" name="Text 12"/>
          <p:cNvSpPr txBox="1"/>
          <p:nvPr/>
        </p:nvSpPr>
        <p:spPr>
          <a:xfrm>
            <a:off x="1645920" y="2834640"/>
            <a:ext cx="1737360" cy="749808"/>
          </a:xfrm>
          <a:prstGeom prst="rect">
            <a:avLst/>
          </a:prstGeom>
          <a:noFill/>
          <a:ln/>
        </p:spPr>
        <p:txBody>
          <a:bodyPr wrap="square" lIns="0" tIns="0" rIns="0" bIns="0" rtlCol="0" anchor="ctr"/>
          <a:lstStyle/>
          <a:p>
            <a:pPr marL="0" indent="0">
              <a:buNone/>
            </a:pPr>
            <a:r>
              <a:rPr lang="en-US" sz="1800" b="1" dirty="0">
                <a:solidFill>
                  <a:schemeClr val="accent3"/>
                </a:solidFill>
                <a:latin typeface="+mj-lt" pitchFamily="34" charset="0"/>
                <a:ea typeface="+mj-lt" pitchFamily="34" charset="-122"/>
                <a:cs typeface="+mj-lt" pitchFamily="34" charset="-120"/>
              </a:rPr>
              <a:t>REWRITE</a:t>
            </a:r>
            <a:endParaRPr lang="en-US" sz="1800" dirty="0"/>
          </a:p>
        </p:txBody>
      </p:sp>
      <p:sp>
        <p:nvSpPr>
          <p:cNvPr id="16" name="Text 13"/>
          <p:cNvSpPr txBox="1"/>
          <p:nvPr/>
        </p:nvSpPr>
        <p:spPr>
          <a:xfrm>
            <a:off x="3208172" y="2834640"/>
            <a:ext cx="8396935" cy="749808"/>
          </a:xfrm>
          <a:prstGeom prst="rect">
            <a:avLst/>
          </a:prstGeom>
          <a:noFill/>
          <a:ln/>
        </p:spPr>
        <p:txBody>
          <a:bodyPr wrap="square" lIns="0" tIns="0" rIns="0" bIns="0" rtlCol="0" anchor="ctr"/>
          <a:lstStyle/>
          <a:p>
            <a:pPr marL="0" indent="0">
              <a:buNone/>
            </a:pPr>
            <a:r>
              <a:rPr lang="en-US" sz="2400" dirty="0">
                <a:solidFill>
                  <a:schemeClr val="tx1"/>
                </a:solidFill>
              </a:rPr>
              <a:t>Write the second draft paragraph by paragraph, in your own words.</a:t>
            </a:r>
            <a:endParaRPr lang="en-US" sz="2400" dirty="0"/>
          </a:p>
        </p:txBody>
      </p:sp>
      <p:sp>
        <p:nvSpPr>
          <p:cNvPr id="17" name="Shape 14"/>
          <p:cNvSpPr/>
          <p:nvPr/>
        </p:nvSpPr>
        <p:spPr>
          <a:xfrm>
            <a:off x="548640" y="3703320"/>
            <a:ext cx="11094415" cy="749808"/>
          </a:xfrm>
          <a:prstGeom prst="rect">
            <a:avLst/>
          </a:prstGeom>
          <a:solidFill>
            <a:schemeClr val="bg1"/>
          </a:solidFill>
          <a:ln/>
          <a:effectLst>
            <a:outerShdw blurRad="76200" dist="25400" dir="5400000" algn="bl" rotWithShape="0">
              <a:srgbClr val="000000">
                <a:alpha val="12000"/>
              </a:srgbClr>
            </a:outerShdw>
          </a:effectLst>
        </p:spPr>
      </p:sp>
      <p:sp>
        <p:nvSpPr>
          <p:cNvPr id="18" name="Text 15"/>
          <p:cNvSpPr txBox="1"/>
          <p:nvPr/>
        </p:nvSpPr>
        <p:spPr>
          <a:xfrm>
            <a:off x="777240" y="3794760"/>
            <a:ext cx="566928" cy="566928"/>
          </a:xfrm>
          <a:prstGeom prst="ellipse">
            <a:avLst/>
          </a:prstGeom>
          <a:solidFill>
            <a:schemeClr val="tx1"/>
          </a:solidFill>
          <a:ln/>
        </p:spPr>
        <p:txBody>
          <a:bodyPr wrap="square" lIns="0" tIns="0" rIns="0" bIns="0" rtlCol="0" anchor="ctr"/>
          <a:lstStyle/>
          <a:p>
            <a:pPr marL="0" indent="0" algn="ctr">
              <a:buNone/>
            </a:pPr>
            <a:r>
              <a:rPr lang="en-US" sz="1800" b="1" dirty="0">
                <a:solidFill>
                  <a:schemeClr val="bg1"/>
                </a:solidFill>
              </a:rPr>
              <a:t>4</a:t>
            </a:r>
            <a:endParaRPr lang="en-US" sz="1800" dirty="0"/>
          </a:p>
        </p:txBody>
      </p:sp>
      <p:sp>
        <p:nvSpPr>
          <p:cNvPr id="19" name="Text 16"/>
          <p:cNvSpPr txBox="1"/>
          <p:nvPr/>
        </p:nvSpPr>
        <p:spPr>
          <a:xfrm>
            <a:off x="1645920" y="3703320"/>
            <a:ext cx="1737360" cy="749808"/>
          </a:xfrm>
          <a:prstGeom prst="rect">
            <a:avLst/>
          </a:prstGeom>
          <a:noFill/>
          <a:ln/>
        </p:spPr>
        <p:txBody>
          <a:bodyPr wrap="square" lIns="0" tIns="0" rIns="0" bIns="0" rtlCol="0" anchor="ctr"/>
          <a:lstStyle/>
          <a:p>
            <a:pPr marL="0" indent="0">
              <a:buNone/>
            </a:pPr>
            <a:r>
              <a:rPr lang="en-US" sz="1800" b="1" dirty="0">
                <a:solidFill>
                  <a:schemeClr val="tx1"/>
                </a:solidFill>
                <a:latin typeface="+mj-lt" pitchFamily="34" charset="0"/>
                <a:ea typeface="+mj-lt" pitchFamily="34" charset="-122"/>
                <a:cs typeface="+mj-lt" pitchFamily="34" charset="-120"/>
              </a:rPr>
              <a:t>CHECK</a:t>
            </a:r>
            <a:endParaRPr lang="en-US" sz="1800" dirty="0"/>
          </a:p>
        </p:txBody>
      </p:sp>
      <p:sp>
        <p:nvSpPr>
          <p:cNvPr id="20" name="Text 17"/>
          <p:cNvSpPr txBox="1"/>
          <p:nvPr/>
        </p:nvSpPr>
        <p:spPr>
          <a:xfrm>
            <a:off x="3474720" y="3703320"/>
            <a:ext cx="8046720" cy="749808"/>
          </a:xfrm>
          <a:prstGeom prst="rect">
            <a:avLst/>
          </a:prstGeom>
          <a:noFill/>
          <a:ln/>
        </p:spPr>
        <p:txBody>
          <a:bodyPr wrap="square" lIns="0" tIns="0" rIns="0" bIns="0" rtlCol="0" anchor="ctr"/>
          <a:lstStyle/>
          <a:p>
            <a:pPr marL="0" indent="0">
              <a:buNone/>
            </a:pPr>
            <a:r>
              <a:rPr lang="en-US" sz="2400" dirty="0">
                <a:solidFill>
                  <a:schemeClr val="tx1"/>
                </a:solidFill>
              </a:rPr>
              <a:t>Tick the success criteria. Read it aloud.</a:t>
            </a:r>
            <a:endParaRPr lang="en-US" sz="2400" dirty="0"/>
          </a:p>
        </p:txBody>
      </p:sp>
      <p:sp>
        <p:nvSpPr>
          <p:cNvPr id="21" name="Text 18"/>
          <p:cNvSpPr txBox="1"/>
          <p:nvPr/>
        </p:nvSpPr>
        <p:spPr>
          <a:xfrm>
            <a:off x="548640" y="4709160"/>
            <a:ext cx="2148840" cy="548640"/>
          </a:xfrm>
          <a:prstGeom prst="rect">
            <a:avLst/>
          </a:prstGeom>
          <a:solidFill>
            <a:schemeClr val="accent1"/>
          </a:solidFill>
          <a:ln/>
        </p:spPr>
        <p:txBody>
          <a:bodyPr wrap="square" lIns="0" tIns="0" rIns="0" bIns="0" rtlCol="0" anchor="ctr"/>
          <a:lstStyle/>
          <a:p>
            <a:pPr marL="0" indent="0" algn="ctr">
              <a:buNone/>
            </a:pPr>
            <a:r>
              <a:rPr lang="en-US" sz="2000" b="1" dirty="0">
                <a:solidFill>
                  <a:schemeClr val="bg1"/>
                </a:solidFill>
              </a:rPr>
              <a:t>◯ Circle = spelling</a:t>
            </a:r>
            <a:endParaRPr lang="en-US" sz="2000" dirty="0"/>
          </a:p>
        </p:txBody>
      </p:sp>
      <p:sp>
        <p:nvSpPr>
          <p:cNvPr id="22" name="Text 19"/>
          <p:cNvSpPr txBox="1"/>
          <p:nvPr/>
        </p:nvSpPr>
        <p:spPr>
          <a:xfrm>
            <a:off x="2834640" y="4709160"/>
            <a:ext cx="2148840" cy="548640"/>
          </a:xfrm>
          <a:prstGeom prst="rect">
            <a:avLst/>
          </a:prstGeom>
          <a:solidFill>
            <a:schemeClr val="accent2"/>
          </a:solidFill>
          <a:ln/>
        </p:spPr>
        <p:txBody>
          <a:bodyPr wrap="square" lIns="0" tIns="0" rIns="0" bIns="0" rtlCol="0" anchor="ctr"/>
          <a:lstStyle/>
          <a:p>
            <a:pPr marL="0" indent="0" algn="ctr">
              <a:buNone/>
            </a:pPr>
            <a:r>
              <a:rPr lang="en-US" b="1" dirty="0">
                <a:solidFill>
                  <a:schemeClr val="tx1"/>
                </a:solidFill>
              </a:rPr>
              <a:t>▭ Box = capital letter</a:t>
            </a:r>
            <a:endParaRPr lang="en-US" dirty="0"/>
          </a:p>
        </p:txBody>
      </p:sp>
      <p:sp>
        <p:nvSpPr>
          <p:cNvPr id="23" name="Text 20"/>
          <p:cNvSpPr txBox="1"/>
          <p:nvPr/>
        </p:nvSpPr>
        <p:spPr>
          <a:xfrm>
            <a:off x="5120640" y="4709160"/>
            <a:ext cx="2148840" cy="548640"/>
          </a:xfrm>
          <a:prstGeom prst="rect">
            <a:avLst/>
          </a:prstGeom>
          <a:solidFill>
            <a:schemeClr val="accent3"/>
          </a:solidFill>
          <a:ln/>
        </p:spPr>
        <p:txBody>
          <a:bodyPr wrap="square" lIns="0" tIns="0" rIns="0" bIns="0" rtlCol="0" anchor="ctr"/>
          <a:lstStyle/>
          <a:p>
            <a:pPr marL="0" indent="0" algn="ctr">
              <a:buNone/>
            </a:pPr>
            <a:r>
              <a:rPr lang="en-US" sz="2000" b="1" dirty="0">
                <a:solidFill>
                  <a:schemeClr val="bg1"/>
                </a:solidFill>
              </a:rPr>
              <a:t>● Dot = full stop</a:t>
            </a:r>
            <a:endParaRPr lang="en-US" sz="2000" dirty="0"/>
          </a:p>
        </p:txBody>
      </p:sp>
      <p:sp>
        <p:nvSpPr>
          <p:cNvPr id="24" name="Text 21"/>
          <p:cNvSpPr txBox="1"/>
          <p:nvPr/>
        </p:nvSpPr>
        <p:spPr>
          <a:xfrm>
            <a:off x="7406640" y="4709160"/>
            <a:ext cx="2148840" cy="548640"/>
          </a:xfrm>
          <a:prstGeom prst="rect">
            <a:avLst/>
          </a:prstGeom>
          <a:solidFill>
            <a:schemeClr val="tx1"/>
          </a:solidFill>
          <a:ln/>
        </p:spPr>
        <p:txBody>
          <a:bodyPr wrap="square" lIns="0" tIns="0" rIns="0" bIns="0" rtlCol="0" anchor="ctr"/>
          <a:lstStyle/>
          <a:p>
            <a:pPr marL="0" indent="0" algn="ctr">
              <a:buNone/>
            </a:pPr>
            <a:r>
              <a:rPr lang="en-US" b="1" dirty="0">
                <a:solidFill>
                  <a:schemeClr val="bg1"/>
                </a:solidFill>
              </a:rPr>
              <a:t>〰 Wavy = check verb</a:t>
            </a:r>
            <a:endParaRPr lang="en-US" dirty="0"/>
          </a:p>
        </p:txBody>
      </p:sp>
      <p:sp>
        <p:nvSpPr>
          <p:cNvPr id="25" name="Text 22"/>
          <p:cNvSpPr txBox="1"/>
          <p:nvPr/>
        </p:nvSpPr>
        <p:spPr>
          <a:xfrm>
            <a:off x="9692640" y="4709160"/>
            <a:ext cx="2148840" cy="548640"/>
          </a:xfrm>
          <a:prstGeom prst="rect">
            <a:avLst/>
          </a:prstGeom>
          <a:solidFill>
            <a:schemeClr val="accent1"/>
          </a:solidFill>
          <a:ln/>
        </p:spPr>
        <p:txBody>
          <a:bodyPr wrap="square" lIns="0" tIns="0" rIns="0" bIns="0" rtlCol="0" anchor="ctr"/>
          <a:lstStyle/>
          <a:p>
            <a:pPr marL="0" indent="0" algn="ctr">
              <a:buNone/>
            </a:pPr>
            <a:r>
              <a:rPr lang="en-US" b="1" dirty="0">
                <a:solidFill>
                  <a:schemeClr val="bg1"/>
                </a:solidFill>
              </a:rPr>
              <a:t>^ = missing word</a:t>
            </a:r>
            <a:endParaRPr lang="en-US" dirty="0"/>
          </a:p>
        </p:txBody>
      </p:sp>
      <p:sp>
        <p:nvSpPr>
          <p:cNvPr id="26" name="Text 23"/>
          <p:cNvSpPr txBox="1"/>
          <p:nvPr/>
        </p:nvSpPr>
        <p:spPr>
          <a:xfrm>
            <a:off x="548640" y="5577840"/>
            <a:ext cx="11094415" cy="548640"/>
          </a:xfrm>
          <a:prstGeom prst="rect">
            <a:avLst/>
          </a:prstGeom>
          <a:solidFill>
            <a:schemeClr val="tx1"/>
          </a:solidFill>
          <a:ln/>
        </p:spPr>
        <p:txBody>
          <a:bodyPr wrap="square" lIns="1270" tIns="1270" rIns="1270" bIns="1270" rtlCol="0" anchor="ctr"/>
          <a:lstStyle/>
          <a:p>
            <a:pPr marL="0" indent="0" algn="ctr">
              <a:buNone/>
            </a:pPr>
            <a:r>
              <a:rPr lang="en-US" sz="2800" b="1" dirty="0">
                <a:solidFill>
                  <a:schemeClr val="bg1"/>
                </a:solidFill>
              </a:rPr>
              <a:t>Write on every other line. Keep your first draft next to you</a:t>
            </a:r>
            <a:endParaRPr lang="en-US" sz="2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0"/>
            <a:ext cx="9326880" cy="822960"/>
          </a:xfrm>
          <a:prstGeom prst="rect">
            <a:avLst/>
          </a:prstGeom>
          <a:noFill/>
          <a:ln/>
        </p:spPr>
        <p:txBody>
          <a:bodyPr wrap="square" lIns="0" tIns="0" rIns="0" bIns="0" rtlCol="0" anchor="ctr"/>
          <a:lstStyle/>
          <a:p>
            <a:pPr marL="0" indent="0" algn="l">
              <a:buNone/>
            </a:pPr>
            <a:r>
              <a:rPr lang="en-US" sz="2600" b="1" dirty="0">
                <a:solidFill>
                  <a:schemeClr val="bg1"/>
                </a:solidFill>
                <a:latin typeface="+mj-lt" pitchFamily="34" charset="0"/>
                <a:ea typeface="+mj-lt" pitchFamily="34" charset="-122"/>
                <a:cs typeface="+mj-lt" pitchFamily="34" charset="-120"/>
              </a:rPr>
              <a:t>Your turn: write the second draft</a:t>
            </a:r>
            <a:endParaRPr lang="en-US" sz="2600" dirty="0"/>
          </a:p>
        </p:txBody>
      </p:sp>
      <p:sp>
        <p:nvSpPr>
          <p:cNvPr id="3" name="Tag"/>
          <p:cNvSpPr txBox="1"/>
          <p:nvPr/>
        </p:nvSpPr>
        <p:spPr>
          <a:xfrm>
            <a:off x="10332720" y="256032"/>
            <a:ext cx="1463040" cy="310896"/>
          </a:xfrm>
          <a:prstGeom prst="rect">
            <a:avLst/>
          </a:prstGeom>
          <a:solidFill>
            <a:schemeClr val="accent2"/>
          </a:solidFill>
          <a:ln/>
        </p:spPr>
        <p:txBody>
          <a:bodyPr wrap="square" lIns="0" tIns="0" rIns="0" bIns="0" rtlCol="0" anchor="ctr"/>
          <a:lstStyle/>
          <a:p>
            <a:pPr marL="0" indent="0" algn="ctr">
              <a:buNone/>
            </a:pPr>
            <a:r>
              <a:rPr lang="en-US" sz="1100" b="1" dirty="0">
                <a:solidFill>
                  <a:schemeClr val="tx1"/>
                </a:solidFill>
              </a:rPr>
              <a:t>TASK</a:t>
            </a:r>
            <a:endParaRPr lang="en-US" sz="1100" dirty="0"/>
          </a:p>
        </p:txBody>
      </p:sp>
      <p:sp>
        <p:nvSpPr>
          <p:cNvPr id="5" name="Card 🟢 SUPPORT"/>
          <p:cNvSpPr/>
          <p:nvPr/>
        </p:nvSpPr>
        <p:spPr>
          <a:xfrm>
            <a:off x="548640" y="1143000"/>
            <a:ext cx="3566160" cy="4206240"/>
          </a:xfrm>
          <a:prstGeom prst="rect">
            <a:avLst/>
          </a:prstGeom>
          <a:solidFill>
            <a:schemeClr val="bg1"/>
          </a:solidFill>
          <a:ln/>
          <a:effectLst>
            <a:outerShdw blurRad="76200" dist="25400" dir="5400000" algn="bl" rotWithShape="0">
              <a:srgbClr val="000000">
                <a:alpha val="12000"/>
              </a:srgbClr>
            </a:outerShdw>
          </a:effectLst>
        </p:spPr>
      </p:sp>
      <p:sp>
        <p:nvSpPr>
          <p:cNvPr id="6" name="Shape 3"/>
          <p:cNvSpPr/>
          <p:nvPr/>
        </p:nvSpPr>
        <p:spPr>
          <a:xfrm>
            <a:off x="548640" y="1143000"/>
            <a:ext cx="3566160" cy="502920"/>
          </a:xfrm>
          <a:prstGeom prst="rect">
            <a:avLst/>
          </a:prstGeom>
          <a:solidFill>
            <a:schemeClr val="accent1"/>
          </a:solidFill>
          <a:ln/>
        </p:spPr>
      </p:sp>
      <p:sp>
        <p:nvSpPr>
          <p:cNvPr id="7" name="Text 4"/>
          <p:cNvSpPr txBox="1"/>
          <p:nvPr/>
        </p:nvSpPr>
        <p:spPr>
          <a:xfrm>
            <a:off x="676656" y="1143000"/>
            <a:ext cx="3383280" cy="502920"/>
          </a:xfrm>
          <a:prstGeom prst="rect">
            <a:avLst/>
          </a:prstGeom>
          <a:noFill/>
          <a:ln/>
        </p:spPr>
        <p:txBody>
          <a:bodyPr wrap="square" lIns="0" tIns="0" rIns="0" bIns="0" rtlCol="0" anchor="ctr"/>
          <a:lstStyle/>
          <a:p>
            <a:pPr marL="0" indent="0">
              <a:buNone/>
            </a:pPr>
            <a:r>
              <a:rPr lang="en-US" sz="1600" b="1" dirty="0">
                <a:solidFill>
                  <a:schemeClr val="bg1"/>
                </a:solidFill>
              </a:rPr>
              <a:t>🟢 SUPPORT</a:t>
            </a:r>
            <a:endParaRPr lang="en-US" sz="1600" dirty="0"/>
          </a:p>
        </p:txBody>
      </p:sp>
      <p:sp>
        <p:nvSpPr>
          <p:cNvPr id="8" name="Text 5"/>
          <p:cNvSpPr txBox="1"/>
          <p:nvPr/>
        </p:nvSpPr>
        <p:spPr>
          <a:xfrm>
            <a:off x="658368" y="1719072"/>
            <a:ext cx="3346704" cy="3557016"/>
          </a:xfrm>
          <a:prstGeom prst="rect">
            <a:avLst/>
          </a:prstGeom>
          <a:noFill/>
          <a:ln/>
        </p:spPr>
        <p:txBody>
          <a:bodyPr wrap="square" lIns="508" tIns="508" rIns="508" bIns="508" rtlCol="0" anchor="t"/>
          <a:lstStyle/>
          <a:p>
            <a:pPr marL="342900" indent="-342900" algn="l">
              <a:spcAft>
                <a:spcPts val="1000"/>
              </a:spcAft>
              <a:buSzPct val="100000"/>
              <a:buChar char="•"/>
            </a:pPr>
            <a:r>
              <a:rPr lang="en-US" sz="1600" dirty="0">
                <a:solidFill>
                  <a:schemeClr val="tx1"/>
                </a:solidFill>
              </a:rPr>
              <a:t>Write five headed paragraphs from your plan</a:t>
            </a:r>
            <a:endParaRPr lang="en-US" sz="1600" dirty="0"/>
          </a:p>
          <a:p>
            <a:pPr marL="342900" indent="-342900" algn="l">
              <a:spcAft>
                <a:spcPts val="1000"/>
              </a:spcAft>
              <a:buSzPct val="100000"/>
              <a:buChar char="•"/>
            </a:pPr>
            <a:r>
              <a:rPr lang="en-US" sz="1600" dirty="0">
                <a:solidFill>
                  <a:schemeClr val="tx1"/>
                </a:solidFill>
              </a:rPr>
              <a:t>Fix your target first</a:t>
            </a:r>
            <a:endParaRPr lang="en-US" sz="1600" dirty="0"/>
          </a:p>
          <a:p>
            <a:pPr marL="342900" indent="-342900" algn="l">
              <a:spcAft>
                <a:spcPts val="1000"/>
              </a:spcAft>
              <a:buSzPct val="100000"/>
              <a:buChar char="•"/>
            </a:pPr>
            <a:r>
              <a:rPr lang="en-US" sz="1600" dirty="0">
                <a:solidFill>
                  <a:schemeClr val="tx1"/>
                </a:solidFill>
              </a:rPr>
              <a:t>Capital letters and full stops in every sentence</a:t>
            </a:r>
            <a:endParaRPr lang="en-US" sz="1600" dirty="0"/>
          </a:p>
          <a:p>
            <a:pPr marL="342900" indent="-342900" algn="l">
              <a:spcAft>
                <a:spcPts val="1000"/>
              </a:spcAft>
              <a:buSzPct val="100000"/>
              <a:buChar char="•"/>
            </a:pPr>
            <a:r>
              <a:rPr lang="en-US" sz="1600" dirty="0">
                <a:solidFill>
                  <a:schemeClr val="tx1"/>
                </a:solidFill>
              </a:rPr>
              <a:t>Use the sentence starters</a:t>
            </a:r>
            <a:endParaRPr lang="en-US" sz="1600" dirty="0"/>
          </a:p>
        </p:txBody>
      </p:sp>
      <p:sp>
        <p:nvSpPr>
          <p:cNvPr id="9" name="Card 🔵 CORE"/>
          <p:cNvSpPr/>
          <p:nvPr/>
        </p:nvSpPr>
        <p:spPr>
          <a:xfrm>
            <a:off x="4361688" y="1143000"/>
            <a:ext cx="3566160" cy="4206240"/>
          </a:xfrm>
          <a:prstGeom prst="rect">
            <a:avLst/>
          </a:prstGeom>
          <a:solidFill>
            <a:schemeClr val="bg1"/>
          </a:solidFill>
          <a:ln/>
          <a:effectLst>
            <a:outerShdw blurRad="76200" dist="25400" dir="5400000" algn="bl" rotWithShape="0">
              <a:srgbClr val="000000">
                <a:alpha val="12000"/>
              </a:srgbClr>
            </a:outerShdw>
          </a:effectLst>
        </p:spPr>
      </p:sp>
      <p:sp>
        <p:nvSpPr>
          <p:cNvPr id="10" name="Shape 7"/>
          <p:cNvSpPr/>
          <p:nvPr/>
        </p:nvSpPr>
        <p:spPr>
          <a:xfrm>
            <a:off x="4361688" y="1143000"/>
            <a:ext cx="3566160" cy="502920"/>
          </a:xfrm>
          <a:prstGeom prst="rect">
            <a:avLst/>
          </a:prstGeom>
          <a:solidFill>
            <a:schemeClr val="tx1"/>
          </a:solidFill>
          <a:ln/>
        </p:spPr>
      </p:sp>
      <p:sp>
        <p:nvSpPr>
          <p:cNvPr id="11" name="Text 8"/>
          <p:cNvSpPr txBox="1"/>
          <p:nvPr/>
        </p:nvSpPr>
        <p:spPr>
          <a:xfrm>
            <a:off x="4489704" y="1143000"/>
            <a:ext cx="3383280" cy="502920"/>
          </a:xfrm>
          <a:prstGeom prst="rect">
            <a:avLst/>
          </a:prstGeom>
          <a:noFill/>
          <a:ln/>
        </p:spPr>
        <p:txBody>
          <a:bodyPr wrap="square" lIns="0" tIns="0" rIns="0" bIns="0" rtlCol="0" anchor="ctr"/>
          <a:lstStyle/>
          <a:p>
            <a:pPr marL="0" indent="0">
              <a:buNone/>
            </a:pPr>
            <a:r>
              <a:rPr lang="en-US" sz="1600" b="1" dirty="0">
                <a:solidFill>
                  <a:schemeClr val="bg1"/>
                </a:solidFill>
              </a:rPr>
              <a:t>🔵 CORE</a:t>
            </a:r>
            <a:endParaRPr lang="en-US" sz="1600" dirty="0"/>
          </a:p>
        </p:txBody>
      </p:sp>
      <p:sp>
        <p:nvSpPr>
          <p:cNvPr id="12" name="Text 9"/>
          <p:cNvSpPr txBox="1"/>
          <p:nvPr/>
        </p:nvSpPr>
        <p:spPr>
          <a:xfrm>
            <a:off x="4471416" y="1719072"/>
            <a:ext cx="3346704" cy="3557016"/>
          </a:xfrm>
          <a:prstGeom prst="rect">
            <a:avLst/>
          </a:prstGeom>
          <a:noFill/>
          <a:ln/>
        </p:spPr>
        <p:txBody>
          <a:bodyPr wrap="square" lIns="508" tIns="508" rIns="508" bIns="508" rtlCol="0" anchor="t"/>
          <a:lstStyle/>
          <a:p>
            <a:pPr marL="342900" indent="-342900" algn="l">
              <a:spcAft>
                <a:spcPts val="1000"/>
              </a:spcAft>
              <a:buSzPct val="100000"/>
              <a:buChar char="•"/>
            </a:pPr>
            <a:r>
              <a:rPr lang="en-US" sz="1600" dirty="0">
                <a:solidFill>
                  <a:schemeClr val="tx1"/>
                </a:solidFill>
              </a:rPr>
              <a:t>Write the full second draft</a:t>
            </a:r>
            <a:endParaRPr lang="en-US" sz="1600" dirty="0"/>
          </a:p>
          <a:p>
            <a:pPr marL="342900" indent="-342900" algn="l">
              <a:spcAft>
                <a:spcPts val="1000"/>
              </a:spcAft>
              <a:buSzPct val="100000"/>
              <a:buChar char="•"/>
            </a:pPr>
            <a:r>
              <a:rPr lang="en-US" sz="1600" dirty="0">
                <a:solidFill>
                  <a:schemeClr val="tx1"/>
                </a:solidFill>
              </a:rPr>
              <a:t>Fix your target and two more problems</a:t>
            </a:r>
            <a:endParaRPr lang="en-US" sz="1600" dirty="0"/>
          </a:p>
          <a:p>
            <a:pPr marL="342900" indent="-342900" algn="l">
              <a:spcAft>
                <a:spcPts val="1000"/>
              </a:spcAft>
              <a:buSzPct val="100000"/>
              <a:buChar char="•"/>
            </a:pPr>
            <a:r>
              <a:rPr lang="en-US" sz="1600" dirty="0">
                <a:solidFill>
                  <a:schemeClr val="tx1"/>
                </a:solidFill>
              </a:rPr>
              <a:t>Say WHY in the introduction and ending</a:t>
            </a:r>
            <a:endParaRPr lang="en-US" sz="1600" dirty="0"/>
          </a:p>
          <a:p>
            <a:pPr marL="342900" indent="-342900" algn="l">
              <a:spcAft>
                <a:spcPts val="1000"/>
              </a:spcAft>
              <a:buSzPct val="100000"/>
              <a:buChar char="•"/>
            </a:pPr>
            <a:r>
              <a:rPr lang="en-US" sz="1600" dirty="0">
                <a:solidFill>
                  <a:schemeClr val="tx1"/>
                </a:solidFill>
              </a:rPr>
              <a:t>Develop two paragraphs: fact, explain, detail</a:t>
            </a:r>
            <a:endParaRPr lang="en-US" sz="1600" dirty="0"/>
          </a:p>
        </p:txBody>
      </p:sp>
      <p:sp>
        <p:nvSpPr>
          <p:cNvPr id="13" name="Card 🟣 EXTEND"/>
          <p:cNvSpPr/>
          <p:nvPr/>
        </p:nvSpPr>
        <p:spPr>
          <a:xfrm>
            <a:off x="8174736" y="1143000"/>
            <a:ext cx="3566160" cy="4206240"/>
          </a:xfrm>
          <a:prstGeom prst="rect">
            <a:avLst/>
          </a:prstGeom>
          <a:solidFill>
            <a:schemeClr val="bg1"/>
          </a:solidFill>
          <a:ln/>
          <a:effectLst>
            <a:outerShdw blurRad="76200" dist="25400" dir="5400000" algn="bl" rotWithShape="0">
              <a:srgbClr val="000000">
                <a:alpha val="12000"/>
              </a:srgbClr>
            </a:outerShdw>
          </a:effectLst>
        </p:spPr>
      </p:sp>
      <p:sp>
        <p:nvSpPr>
          <p:cNvPr id="14" name="Shape 11"/>
          <p:cNvSpPr/>
          <p:nvPr/>
        </p:nvSpPr>
        <p:spPr>
          <a:xfrm>
            <a:off x="8174736" y="1143000"/>
            <a:ext cx="3566160" cy="502920"/>
          </a:xfrm>
          <a:prstGeom prst="rect">
            <a:avLst/>
          </a:prstGeom>
          <a:solidFill>
            <a:schemeClr val="accent6"/>
          </a:solidFill>
          <a:ln/>
        </p:spPr>
      </p:sp>
      <p:sp>
        <p:nvSpPr>
          <p:cNvPr id="15" name="Text 12"/>
          <p:cNvSpPr txBox="1"/>
          <p:nvPr/>
        </p:nvSpPr>
        <p:spPr>
          <a:xfrm>
            <a:off x="8302752" y="1143000"/>
            <a:ext cx="3383280" cy="502920"/>
          </a:xfrm>
          <a:prstGeom prst="rect">
            <a:avLst/>
          </a:prstGeom>
          <a:noFill/>
          <a:ln/>
        </p:spPr>
        <p:txBody>
          <a:bodyPr wrap="square" lIns="0" tIns="0" rIns="0" bIns="0" rtlCol="0" anchor="ctr"/>
          <a:lstStyle/>
          <a:p>
            <a:pPr marL="0" indent="0">
              <a:buNone/>
            </a:pPr>
            <a:r>
              <a:rPr lang="en-US" sz="1600" b="1" dirty="0">
                <a:solidFill>
                  <a:schemeClr val="bg1"/>
                </a:solidFill>
              </a:rPr>
              <a:t>🟣 EXTEND</a:t>
            </a:r>
            <a:endParaRPr lang="en-US" sz="1600" dirty="0"/>
          </a:p>
        </p:txBody>
      </p:sp>
      <p:sp>
        <p:nvSpPr>
          <p:cNvPr id="16" name="Text 13"/>
          <p:cNvSpPr txBox="1"/>
          <p:nvPr/>
        </p:nvSpPr>
        <p:spPr>
          <a:xfrm>
            <a:off x="8284464" y="1719072"/>
            <a:ext cx="3346704" cy="3557016"/>
          </a:xfrm>
          <a:prstGeom prst="rect">
            <a:avLst/>
          </a:prstGeom>
          <a:noFill/>
          <a:ln/>
        </p:spPr>
        <p:txBody>
          <a:bodyPr wrap="square" lIns="508" tIns="508" rIns="508" bIns="508" rtlCol="0" anchor="t"/>
          <a:lstStyle/>
          <a:p>
            <a:pPr marL="342900" indent="-342900" algn="l">
              <a:spcAft>
                <a:spcPts val="1000"/>
              </a:spcAft>
              <a:buSzPct val="100000"/>
              <a:buChar char="•"/>
            </a:pPr>
            <a:r>
              <a:rPr lang="en-US" sz="1600" dirty="0">
                <a:solidFill>
                  <a:schemeClr val="tx1"/>
                </a:solidFill>
              </a:rPr>
              <a:t>Improve every paragraph</a:t>
            </a:r>
            <a:endParaRPr lang="en-US" sz="1600" dirty="0"/>
          </a:p>
          <a:p>
            <a:pPr marL="342900" indent="-342900" algn="l">
              <a:spcAft>
                <a:spcPts val="1000"/>
              </a:spcAft>
              <a:buSzPct val="100000"/>
              <a:buChar char="•"/>
            </a:pPr>
            <a:r>
              <a:rPr lang="en-US" sz="1600" dirty="0">
                <a:solidFill>
                  <a:schemeClr val="tx1"/>
                </a:solidFill>
              </a:rPr>
              <a:t>Vary your sentence openings</a:t>
            </a:r>
            <a:endParaRPr lang="en-US" sz="1600" dirty="0"/>
          </a:p>
          <a:p>
            <a:pPr marL="342900" indent="-342900" algn="l">
              <a:spcAft>
                <a:spcPts val="1000"/>
              </a:spcAft>
              <a:buSzPct val="100000"/>
              <a:buChar char="•"/>
            </a:pPr>
            <a:r>
              <a:rPr lang="en-US" sz="1600" dirty="0">
                <a:solidFill>
                  <a:schemeClr val="tx1"/>
                </a:solidFill>
              </a:rPr>
              <a:t>Add a relative clause with commas</a:t>
            </a:r>
            <a:endParaRPr lang="en-US" sz="1600" dirty="0"/>
          </a:p>
          <a:p>
            <a:pPr marL="342900" indent="-342900" algn="l">
              <a:spcAft>
                <a:spcPts val="1000"/>
              </a:spcAft>
              <a:buSzPct val="100000"/>
              <a:buChar char="•"/>
            </a:pPr>
            <a:r>
              <a:rPr lang="en-US" sz="1600" dirty="0">
                <a:solidFill>
                  <a:schemeClr val="tx1"/>
                </a:solidFill>
              </a:rPr>
              <a:t>Add a “Did you know?” fact box</a:t>
            </a:r>
            <a:endParaRPr lang="en-US" sz="1600" dirty="0"/>
          </a:p>
        </p:txBody>
      </p:sp>
      <p:sp>
        <p:nvSpPr>
          <p:cNvPr id="17" name="Text 14"/>
          <p:cNvSpPr txBox="1"/>
          <p:nvPr/>
        </p:nvSpPr>
        <p:spPr>
          <a:xfrm>
            <a:off x="548640" y="5669280"/>
            <a:ext cx="11094415" cy="548640"/>
          </a:xfrm>
          <a:prstGeom prst="rect">
            <a:avLst/>
          </a:prstGeom>
          <a:solidFill>
            <a:schemeClr val="tx1"/>
          </a:solidFill>
          <a:ln/>
        </p:spPr>
        <p:txBody>
          <a:bodyPr wrap="square" lIns="1270" tIns="1270" rIns="1270" bIns="1270" rtlCol="0" anchor="ctr"/>
          <a:lstStyle/>
          <a:p>
            <a:pPr marL="0" indent="0" algn="ctr">
              <a:buNone/>
            </a:pPr>
            <a:r>
              <a:rPr lang="en-US" sz="2800" dirty="0">
                <a:solidFill>
                  <a:schemeClr val="bg1"/>
                </a:solidFill>
              </a:rPr>
              <a:t>Own words · every other line · neat handwriting</a:t>
            </a:r>
            <a:endParaRPr lang="en-US" sz="2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0"/>
            <a:ext cx="9326880" cy="822960"/>
          </a:xfrm>
          <a:prstGeom prst="rect">
            <a:avLst/>
          </a:prstGeom>
          <a:noFill/>
          <a:ln/>
        </p:spPr>
        <p:txBody>
          <a:bodyPr wrap="square" lIns="0" tIns="0" rIns="0" bIns="0" rtlCol="0" anchor="ctr"/>
          <a:lstStyle/>
          <a:p>
            <a:pPr marL="0" indent="0" algn="l">
              <a:buNone/>
            </a:pPr>
            <a:r>
              <a:rPr lang="en-US" sz="2600" b="1" dirty="0">
                <a:solidFill>
                  <a:schemeClr val="bg1"/>
                </a:solidFill>
                <a:latin typeface="+mj-lt" pitchFamily="34" charset="0"/>
                <a:ea typeface="+mj-lt" pitchFamily="34" charset="-122"/>
                <a:cs typeface="+mj-lt" pitchFamily="34" charset="-120"/>
              </a:rPr>
              <a:t>Second draft toolkit</a:t>
            </a:r>
            <a:endParaRPr lang="en-US" sz="2600" dirty="0"/>
          </a:p>
        </p:txBody>
      </p:sp>
      <p:sp>
        <p:nvSpPr>
          <p:cNvPr id="3" name="Tag"/>
          <p:cNvSpPr txBox="1"/>
          <p:nvPr/>
        </p:nvSpPr>
        <p:spPr>
          <a:xfrm>
            <a:off x="10332720" y="256032"/>
            <a:ext cx="1463040" cy="310896"/>
          </a:xfrm>
          <a:prstGeom prst="rect">
            <a:avLst/>
          </a:prstGeom>
          <a:solidFill>
            <a:schemeClr val="accent2"/>
          </a:solidFill>
          <a:ln/>
        </p:spPr>
        <p:txBody>
          <a:bodyPr wrap="square" lIns="0" tIns="0" rIns="0" bIns="0" rtlCol="0" anchor="ctr"/>
          <a:lstStyle/>
          <a:p>
            <a:pPr marL="0" indent="0" algn="ctr">
              <a:buNone/>
            </a:pPr>
            <a:r>
              <a:rPr lang="en-US" sz="1100" b="1" dirty="0">
                <a:solidFill>
                  <a:schemeClr val="tx1"/>
                </a:solidFill>
              </a:rPr>
              <a:t>TOOLKIT</a:t>
            </a:r>
            <a:endParaRPr lang="en-US" sz="1100" dirty="0"/>
          </a:p>
        </p:txBody>
      </p:sp>
      <p:sp>
        <p:nvSpPr>
          <p:cNvPr id="5" name="Card INTRODUCTION"/>
          <p:cNvSpPr/>
          <p:nvPr/>
        </p:nvSpPr>
        <p:spPr>
          <a:xfrm>
            <a:off x="548640" y="1143000"/>
            <a:ext cx="3566160" cy="2103120"/>
          </a:xfrm>
          <a:prstGeom prst="rect">
            <a:avLst/>
          </a:prstGeom>
          <a:solidFill>
            <a:schemeClr val="bg1"/>
          </a:solidFill>
          <a:ln/>
          <a:effectLst>
            <a:outerShdw blurRad="76200" dist="25400" dir="5400000" algn="bl" rotWithShape="0">
              <a:srgbClr val="000000">
                <a:alpha val="12000"/>
              </a:srgbClr>
            </a:outerShdw>
          </a:effectLst>
        </p:spPr>
      </p:sp>
      <p:sp>
        <p:nvSpPr>
          <p:cNvPr id="6" name="Shape 3"/>
          <p:cNvSpPr/>
          <p:nvPr/>
        </p:nvSpPr>
        <p:spPr>
          <a:xfrm>
            <a:off x="548640" y="1143000"/>
            <a:ext cx="3566160" cy="457200"/>
          </a:xfrm>
          <a:prstGeom prst="rect">
            <a:avLst/>
          </a:prstGeom>
          <a:solidFill>
            <a:schemeClr val="accent1"/>
          </a:solidFill>
          <a:ln/>
        </p:spPr>
      </p:sp>
      <p:sp>
        <p:nvSpPr>
          <p:cNvPr id="7" name="Text 4"/>
          <p:cNvSpPr txBox="1"/>
          <p:nvPr/>
        </p:nvSpPr>
        <p:spPr>
          <a:xfrm>
            <a:off x="676656" y="1143000"/>
            <a:ext cx="3383280" cy="457200"/>
          </a:xfrm>
          <a:prstGeom prst="rect">
            <a:avLst/>
          </a:prstGeom>
          <a:noFill/>
          <a:ln/>
        </p:spPr>
        <p:txBody>
          <a:bodyPr wrap="square" lIns="0" tIns="0" rIns="0" bIns="0" rtlCol="0" anchor="ctr"/>
          <a:lstStyle/>
          <a:p>
            <a:pPr marL="0" indent="0">
              <a:buNone/>
            </a:pPr>
            <a:r>
              <a:rPr lang="en-US" sz="1400" b="1" dirty="0">
                <a:highlight>
                  <a:srgbClr val="FFFF00"/>
                </a:highlight>
              </a:rPr>
              <a:t>INTRODUCTION</a:t>
            </a:r>
            <a:endParaRPr lang="en-US" sz="1400" dirty="0">
              <a:highlight>
                <a:srgbClr val="FFFF00"/>
              </a:highlight>
            </a:endParaRPr>
          </a:p>
        </p:txBody>
      </p:sp>
      <p:sp>
        <p:nvSpPr>
          <p:cNvPr id="8" name="Text 5"/>
          <p:cNvSpPr txBox="1"/>
          <p:nvPr/>
        </p:nvSpPr>
        <p:spPr>
          <a:xfrm>
            <a:off x="658368" y="1673352"/>
            <a:ext cx="3346704" cy="1499616"/>
          </a:xfrm>
          <a:prstGeom prst="rect">
            <a:avLst/>
          </a:prstGeom>
          <a:noFill/>
          <a:ln/>
        </p:spPr>
        <p:txBody>
          <a:bodyPr wrap="square" lIns="508" tIns="508" rIns="508" bIns="508" rtlCol="0" anchor="t"/>
          <a:lstStyle/>
          <a:p>
            <a:pPr marL="0" indent="0" algn="l">
              <a:buNone/>
            </a:pPr>
            <a:r>
              <a:rPr lang="en-US" sz="2000" dirty="0">
                <a:solidFill>
                  <a:schemeClr val="tx1"/>
                </a:solidFill>
              </a:rPr>
              <a:t>___ is a ___ that… It is important to know about ___ because…</a:t>
            </a:r>
            <a:endParaRPr lang="en-US" sz="2000" dirty="0"/>
          </a:p>
        </p:txBody>
      </p:sp>
      <p:sp>
        <p:nvSpPr>
          <p:cNvPr id="9" name="Card ENDING"/>
          <p:cNvSpPr/>
          <p:nvPr/>
        </p:nvSpPr>
        <p:spPr>
          <a:xfrm>
            <a:off x="4361688" y="1143000"/>
            <a:ext cx="3566160" cy="2103120"/>
          </a:xfrm>
          <a:prstGeom prst="rect">
            <a:avLst/>
          </a:prstGeom>
          <a:solidFill>
            <a:schemeClr val="bg1"/>
          </a:solidFill>
          <a:ln/>
          <a:effectLst>
            <a:outerShdw blurRad="76200" dist="25400" dir="5400000" algn="bl" rotWithShape="0">
              <a:srgbClr val="000000">
                <a:alpha val="12000"/>
              </a:srgbClr>
            </a:outerShdw>
          </a:effectLst>
        </p:spPr>
      </p:sp>
      <p:sp>
        <p:nvSpPr>
          <p:cNvPr id="10" name="Shape 7"/>
          <p:cNvSpPr/>
          <p:nvPr/>
        </p:nvSpPr>
        <p:spPr>
          <a:xfrm>
            <a:off x="4361688" y="1143000"/>
            <a:ext cx="3566160" cy="457200"/>
          </a:xfrm>
          <a:prstGeom prst="rect">
            <a:avLst/>
          </a:prstGeom>
          <a:solidFill>
            <a:schemeClr val="accent3"/>
          </a:solidFill>
          <a:ln/>
        </p:spPr>
      </p:sp>
      <p:sp>
        <p:nvSpPr>
          <p:cNvPr id="11" name="Text 8"/>
          <p:cNvSpPr txBox="1"/>
          <p:nvPr/>
        </p:nvSpPr>
        <p:spPr>
          <a:xfrm>
            <a:off x="4489704" y="1143000"/>
            <a:ext cx="3383280" cy="457200"/>
          </a:xfrm>
          <a:prstGeom prst="rect">
            <a:avLst/>
          </a:prstGeom>
          <a:noFill/>
          <a:ln/>
        </p:spPr>
        <p:txBody>
          <a:bodyPr wrap="square" lIns="0" tIns="0" rIns="0" bIns="0" rtlCol="0" anchor="ctr"/>
          <a:lstStyle/>
          <a:p>
            <a:pPr marL="0" indent="0">
              <a:buNone/>
            </a:pPr>
            <a:r>
              <a:rPr lang="en-US" sz="1400" b="1" dirty="0">
                <a:highlight>
                  <a:srgbClr val="FFFF00"/>
                </a:highlight>
              </a:rPr>
              <a:t>ENDING</a:t>
            </a:r>
            <a:endParaRPr lang="en-US" sz="1400" dirty="0">
              <a:highlight>
                <a:srgbClr val="FFFF00"/>
              </a:highlight>
            </a:endParaRPr>
          </a:p>
        </p:txBody>
      </p:sp>
      <p:sp>
        <p:nvSpPr>
          <p:cNvPr id="12" name="Text 9"/>
          <p:cNvSpPr txBox="1"/>
          <p:nvPr/>
        </p:nvSpPr>
        <p:spPr>
          <a:xfrm>
            <a:off x="4471416" y="1673352"/>
            <a:ext cx="3346704" cy="1499616"/>
          </a:xfrm>
          <a:prstGeom prst="rect">
            <a:avLst/>
          </a:prstGeom>
          <a:noFill/>
          <a:ln/>
        </p:spPr>
        <p:txBody>
          <a:bodyPr wrap="square" lIns="508" tIns="508" rIns="508" bIns="508" rtlCol="0" anchor="t"/>
          <a:lstStyle/>
          <a:p>
            <a:pPr marL="0" indent="0" algn="l">
              <a:buNone/>
            </a:pPr>
            <a:r>
              <a:rPr lang="en-US" sz="2000" dirty="0">
                <a:solidFill>
                  <a:schemeClr val="tx1"/>
                </a:solidFill>
              </a:rPr>
              <a:t>Protecting ___ matters because… If ___ disappears…</a:t>
            </a:r>
            <a:endParaRPr lang="en-US" sz="2000" dirty="0"/>
          </a:p>
        </p:txBody>
      </p:sp>
      <p:sp>
        <p:nvSpPr>
          <p:cNvPr id="13" name="Card DEVELOP IT"/>
          <p:cNvSpPr/>
          <p:nvPr/>
        </p:nvSpPr>
        <p:spPr>
          <a:xfrm>
            <a:off x="8174736" y="1143000"/>
            <a:ext cx="3566160" cy="2103120"/>
          </a:xfrm>
          <a:prstGeom prst="rect">
            <a:avLst/>
          </a:prstGeom>
          <a:solidFill>
            <a:schemeClr val="bg1"/>
          </a:solidFill>
          <a:ln/>
          <a:effectLst>
            <a:outerShdw blurRad="76200" dist="25400" dir="5400000" algn="bl" rotWithShape="0">
              <a:srgbClr val="000000">
                <a:alpha val="12000"/>
              </a:srgbClr>
            </a:outerShdw>
          </a:effectLst>
        </p:spPr>
      </p:sp>
      <p:sp>
        <p:nvSpPr>
          <p:cNvPr id="14" name="Shape 11"/>
          <p:cNvSpPr/>
          <p:nvPr/>
        </p:nvSpPr>
        <p:spPr>
          <a:xfrm>
            <a:off x="8174736" y="1143000"/>
            <a:ext cx="3566160" cy="457200"/>
          </a:xfrm>
          <a:prstGeom prst="rect">
            <a:avLst/>
          </a:prstGeom>
          <a:solidFill>
            <a:schemeClr val="accent2"/>
          </a:solidFill>
          <a:ln/>
        </p:spPr>
      </p:sp>
      <p:sp>
        <p:nvSpPr>
          <p:cNvPr id="15" name="Text 12"/>
          <p:cNvSpPr txBox="1"/>
          <p:nvPr/>
        </p:nvSpPr>
        <p:spPr>
          <a:xfrm>
            <a:off x="8302752" y="1143000"/>
            <a:ext cx="3383280" cy="457200"/>
          </a:xfrm>
          <a:prstGeom prst="rect">
            <a:avLst/>
          </a:prstGeom>
          <a:noFill/>
          <a:ln/>
        </p:spPr>
        <p:txBody>
          <a:bodyPr wrap="square" lIns="0" tIns="0" rIns="0" bIns="0" rtlCol="0" anchor="ctr"/>
          <a:lstStyle/>
          <a:p>
            <a:pPr marL="0" indent="0">
              <a:buNone/>
            </a:pPr>
            <a:r>
              <a:rPr lang="en-US" sz="1400" b="1" dirty="0">
                <a:solidFill>
                  <a:schemeClr val="tx1"/>
                </a:solidFill>
                <a:highlight>
                  <a:srgbClr val="FFFF00"/>
                </a:highlight>
              </a:rPr>
              <a:t>DEVELOP IT</a:t>
            </a:r>
            <a:endParaRPr lang="en-US" sz="1400" dirty="0">
              <a:highlight>
                <a:srgbClr val="FFFF00"/>
              </a:highlight>
            </a:endParaRPr>
          </a:p>
        </p:txBody>
      </p:sp>
      <p:sp>
        <p:nvSpPr>
          <p:cNvPr id="16" name="Text 13"/>
          <p:cNvSpPr txBox="1"/>
          <p:nvPr/>
        </p:nvSpPr>
        <p:spPr>
          <a:xfrm>
            <a:off x="8284464" y="1673352"/>
            <a:ext cx="3346704" cy="1499616"/>
          </a:xfrm>
          <a:prstGeom prst="rect">
            <a:avLst/>
          </a:prstGeom>
          <a:noFill/>
          <a:ln/>
        </p:spPr>
        <p:txBody>
          <a:bodyPr wrap="square" lIns="508" tIns="508" rIns="508" bIns="508" rtlCol="0" anchor="t"/>
          <a:lstStyle/>
          <a:p>
            <a:pPr marL="0" indent="0" algn="l">
              <a:buNone/>
            </a:pPr>
            <a:r>
              <a:rPr lang="en-US" sz="2000" dirty="0">
                <a:solidFill>
                  <a:schemeClr val="tx1"/>
                </a:solidFill>
              </a:rPr>
              <a:t>Topic sentence → fact → explain → detail → link</a:t>
            </a:r>
            <a:endParaRPr lang="en-US" sz="2000" dirty="0"/>
          </a:p>
        </p:txBody>
      </p:sp>
      <p:sp>
        <p:nvSpPr>
          <p:cNvPr id="17" name="Card JOINING WORDS"/>
          <p:cNvSpPr/>
          <p:nvPr/>
        </p:nvSpPr>
        <p:spPr>
          <a:xfrm>
            <a:off x="548640" y="3474720"/>
            <a:ext cx="3566160" cy="2103120"/>
          </a:xfrm>
          <a:prstGeom prst="rect">
            <a:avLst/>
          </a:prstGeom>
          <a:solidFill>
            <a:schemeClr val="bg1"/>
          </a:solidFill>
          <a:ln/>
          <a:effectLst>
            <a:outerShdw blurRad="76200" dist="25400" dir="5400000" algn="bl" rotWithShape="0">
              <a:srgbClr val="000000">
                <a:alpha val="12000"/>
              </a:srgbClr>
            </a:outerShdw>
          </a:effectLst>
        </p:spPr>
      </p:sp>
      <p:sp>
        <p:nvSpPr>
          <p:cNvPr id="18" name="Shape 15"/>
          <p:cNvSpPr/>
          <p:nvPr/>
        </p:nvSpPr>
        <p:spPr>
          <a:xfrm>
            <a:off x="548640" y="3474720"/>
            <a:ext cx="3566160" cy="457200"/>
          </a:xfrm>
          <a:prstGeom prst="rect">
            <a:avLst/>
          </a:prstGeom>
          <a:solidFill>
            <a:schemeClr val="tx1"/>
          </a:solidFill>
          <a:ln/>
        </p:spPr>
      </p:sp>
      <p:sp>
        <p:nvSpPr>
          <p:cNvPr id="19" name="Text 16"/>
          <p:cNvSpPr txBox="1"/>
          <p:nvPr/>
        </p:nvSpPr>
        <p:spPr>
          <a:xfrm>
            <a:off x="676656" y="3474720"/>
            <a:ext cx="3383280" cy="457200"/>
          </a:xfrm>
          <a:prstGeom prst="rect">
            <a:avLst/>
          </a:prstGeom>
          <a:noFill/>
          <a:ln/>
        </p:spPr>
        <p:txBody>
          <a:bodyPr wrap="square" lIns="0" tIns="0" rIns="0" bIns="0" rtlCol="0" anchor="ctr"/>
          <a:lstStyle/>
          <a:p>
            <a:pPr marL="0" indent="0">
              <a:buNone/>
            </a:pPr>
            <a:r>
              <a:rPr lang="en-US" sz="1400" b="1" dirty="0">
                <a:highlight>
                  <a:srgbClr val="FFFF00"/>
                </a:highlight>
              </a:rPr>
              <a:t>JOINING WORDS</a:t>
            </a:r>
            <a:endParaRPr lang="en-US" sz="1400" dirty="0">
              <a:highlight>
                <a:srgbClr val="FFFF00"/>
              </a:highlight>
            </a:endParaRPr>
          </a:p>
        </p:txBody>
      </p:sp>
      <p:sp>
        <p:nvSpPr>
          <p:cNvPr id="20" name="Text 17"/>
          <p:cNvSpPr txBox="1"/>
          <p:nvPr/>
        </p:nvSpPr>
        <p:spPr>
          <a:xfrm>
            <a:off x="658368" y="4005072"/>
            <a:ext cx="3346704" cy="1499616"/>
          </a:xfrm>
          <a:prstGeom prst="rect">
            <a:avLst/>
          </a:prstGeom>
          <a:noFill/>
          <a:ln/>
        </p:spPr>
        <p:txBody>
          <a:bodyPr wrap="square" lIns="508" tIns="508" rIns="508" bIns="508" rtlCol="0" anchor="t"/>
          <a:lstStyle/>
          <a:p>
            <a:pPr marL="0" indent="0" algn="l">
              <a:buNone/>
            </a:pPr>
            <a:r>
              <a:rPr lang="en-US" sz="2000" dirty="0">
                <a:solidFill>
                  <a:schemeClr val="tx1"/>
                </a:solidFill>
              </a:rPr>
              <a:t>because · so · and · but · which · as a result · however</a:t>
            </a:r>
            <a:endParaRPr lang="en-US" sz="2000" dirty="0"/>
          </a:p>
        </p:txBody>
      </p:sp>
      <p:sp>
        <p:nvSpPr>
          <p:cNvPr id="21" name="Card RELATIVE CLAUSE"/>
          <p:cNvSpPr/>
          <p:nvPr/>
        </p:nvSpPr>
        <p:spPr>
          <a:xfrm>
            <a:off x="4361688" y="3474720"/>
            <a:ext cx="3566160" cy="2103120"/>
          </a:xfrm>
          <a:prstGeom prst="rect">
            <a:avLst/>
          </a:prstGeom>
          <a:solidFill>
            <a:schemeClr val="bg1"/>
          </a:solidFill>
          <a:ln/>
          <a:effectLst>
            <a:outerShdw blurRad="76200" dist="25400" dir="5400000" algn="bl" rotWithShape="0">
              <a:srgbClr val="000000">
                <a:alpha val="12000"/>
              </a:srgbClr>
            </a:outerShdw>
          </a:effectLst>
        </p:spPr>
      </p:sp>
      <p:sp>
        <p:nvSpPr>
          <p:cNvPr id="22" name="Shape 19"/>
          <p:cNvSpPr/>
          <p:nvPr/>
        </p:nvSpPr>
        <p:spPr>
          <a:xfrm>
            <a:off x="4361688" y="3474720"/>
            <a:ext cx="3566160" cy="457200"/>
          </a:xfrm>
          <a:prstGeom prst="rect">
            <a:avLst/>
          </a:prstGeom>
          <a:solidFill>
            <a:schemeClr val="accent1"/>
          </a:solidFill>
          <a:ln/>
        </p:spPr>
      </p:sp>
      <p:sp>
        <p:nvSpPr>
          <p:cNvPr id="23" name="Text 20"/>
          <p:cNvSpPr txBox="1"/>
          <p:nvPr/>
        </p:nvSpPr>
        <p:spPr>
          <a:xfrm>
            <a:off x="4489704" y="3474720"/>
            <a:ext cx="3383280" cy="457200"/>
          </a:xfrm>
          <a:prstGeom prst="rect">
            <a:avLst/>
          </a:prstGeom>
          <a:noFill/>
          <a:ln/>
        </p:spPr>
        <p:txBody>
          <a:bodyPr wrap="square" lIns="0" tIns="0" rIns="0" bIns="0" rtlCol="0" anchor="ctr"/>
          <a:lstStyle/>
          <a:p>
            <a:pPr marL="0" indent="0">
              <a:buNone/>
            </a:pPr>
            <a:r>
              <a:rPr lang="en-US" sz="1400" b="1" dirty="0">
                <a:highlight>
                  <a:srgbClr val="FFFF00"/>
                </a:highlight>
              </a:rPr>
              <a:t>RELATIVE CLAUSE</a:t>
            </a:r>
            <a:endParaRPr lang="en-US" sz="1400" dirty="0">
              <a:highlight>
                <a:srgbClr val="FFFF00"/>
              </a:highlight>
            </a:endParaRPr>
          </a:p>
        </p:txBody>
      </p:sp>
      <p:sp>
        <p:nvSpPr>
          <p:cNvPr id="24" name="Text 21"/>
          <p:cNvSpPr txBox="1"/>
          <p:nvPr/>
        </p:nvSpPr>
        <p:spPr>
          <a:xfrm>
            <a:off x="4471416" y="4005072"/>
            <a:ext cx="3346704" cy="1499616"/>
          </a:xfrm>
          <a:prstGeom prst="rect">
            <a:avLst/>
          </a:prstGeom>
          <a:noFill/>
          <a:ln/>
        </p:spPr>
        <p:txBody>
          <a:bodyPr wrap="square" lIns="508" tIns="508" rIns="508" bIns="508" rtlCol="0" anchor="t"/>
          <a:lstStyle/>
          <a:p>
            <a:pPr marL="0" indent="0" algn="l">
              <a:buNone/>
            </a:pPr>
            <a:r>
              <a:rPr lang="en-US" dirty="0">
                <a:solidFill>
                  <a:schemeClr val="tx1"/>
                </a:solidFill>
              </a:rPr>
              <a:t>The whale, which is the largest animal on Earth, lives in…</a:t>
            </a:r>
            <a:endParaRPr lang="en-US" dirty="0"/>
          </a:p>
        </p:txBody>
      </p:sp>
      <p:sp>
        <p:nvSpPr>
          <p:cNvPr id="25" name="Card TOPIC WORDS"/>
          <p:cNvSpPr/>
          <p:nvPr/>
        </p:nvSpPr>
        <p:spPr>
          <a:xfrm>
            <a:off x="8174736" y="3474720"/>
            <a:ext cx="3566160" cy="2103120"/>
          </a:xfrm>
          <a:prstGeom prst="rect">
            <a:avLst/>
          </a:prstGeom>
          <a:solidFill>
            <a:schemeClr val="bg1"/>
          </a:solidFill>
          <a:ln/>
          <a:effectLst>
            <a:outerShdw blurRad="76200" dist="25400" dir="5400000" algn="bl" rotWithShape="0">
              <a:srgbClr val="000000">
                <a:alpha val="12000"/>
              </a:srgbClr>
            </a:outerShdw>
          </a:effectLst>
        </p:spPr>
      </p:sp>
      <p:sp>
        <p:nvSpPr>
          <p:cNvPr id="26" name="Shape 23"/>
          <p:cNvSpPr/>
          <p:nvPr/>
        </p:nvSpPr>
        <p:spPr>
          <a:xfrm>
            <a:off x="8174736" y="3474720"/>
            <a:ext cx="3566160" cy="457200"/>
          </a:xfrm>
          <a:prstGeom prst="rect">
            <a:avLst/>
          </a:prstGeom>
          <a:solidFill>
            <a:schemeClr val="accent3"/>
          </a:solidFill>
          <a:ln/>
        </p:spPr>
      </p:sp>
      <p:sp>
        <p:nvSpPr>
          <p:cNvPr id="27" name="Text 24"/>
          <p:cNvSpPr txBox="1"/>
          <p:nvPr/>
        </p:nvSpPr>
        <p:spPr>
          <a:xfrm>
            <a:off x="8302752" y="3474720"/>
            <a:ext cx="3383280" cy="457200"/>
          </a:xfrm>
          <a:prstGeom prst="rect">
            <a:avLst/>
          </a:prstGeom>
          <a:noFill/>
          <a:ln/>
        </p:spPr>
        <p:txBody>
          <a:bodyPr wrap="square" lIns="0" tIns="0" rIns="0" bIns="0" rtlCol="0" anchor="ctr"/>
          <a:lstStyle/>
          <a:p>
            <a:pPr marL="0" indent="0">
              <a:buNone/>
            </a:pPr>
            <a:r>
              <a:rPr lang="en-US" sz="1400" b="1" dirty="0">
                <a:highlight>
                  <a:srgbClr val="FFFF00"/>
                </a:highlight>
              </a:rPr>
              <a:t>TOPIC WORDS</a:t>
            </a:r>
            <a:endParaRPr lang="en-US" sz="1400" dirty="0">
              <a:highlight>
                <a:srgbClr val="FFFF00"/>
              </a:highlight>
            </a:endParaRPr>
          </a:p>
        </p:txBody>
      </p:sp>
      <p:sp>
        <p:nvSpPr>
          <p:cNvPr id="28" name="Text 25"/>
          <p:cNvSpPr txBox="1"/>
          <p:nvPr/>
        </p:nvSpPr>
        <p:spPr>
          <a:xfrm>
            <a:off x="8284464" y="4005072"/>
            <a:ext cx="3346704" cy="1499616"/>
          </a:xfrm>
          <a:prstGeom prst="rect">
            <a:avLst/>
          </a:prstGeom>
          <a:noFill/>
          <a:ln/>
        </p:spPr>
        <p:txBody>
          <a:bodyPr wrap="square" lIns="508" tIns="508" rIns="508" bIns="508" rtlCol="0" anchor="t"/>
          <a:lstStyle/>
          <a:p>
            <a:pPr marL="0" indent="0" algn="l">
              <a:buNone/>
            </a:pPr>
            <a:r>
              <a:rPr lang="en-US" dirty="0">
                <a:solidFill>
                  <a:schemeClr val="tx1"/>
                </a:solidFill>
              </a:rPr>
              <a:t>endangered · habitat · species · predator · dangerous · protection · savanna</a:t>
            </a:r>
            <a:endParaRPr lang="en-US" dirty="0"/>
          </a:p>
        </p:txBody>
      </p:sp>
      <p:sp>
        <p:nvSpPr>
          <p:cNvPr id="29" name="Text 26"/>
          <p:cNvSpPr txBox="1"/>
          <p:nvPr/>
        </p:nvSpPr>
        <p:spPr>
          <a:xfrm>
            <a:off x="548640" y="5897880"/>
            <a:ext cx="11094415" cy="548640"/>
          </a:xfrm>
          <a:prstGeom prst="rect">
            <a:avLst/>
          </a:prstGeom>
          <a:solidFill>
            <a:schemeClr val="tx1"/>
          </a:solidFill>
          <a:ln/>
        </p:spPr>
        <p:txBody>
          <a:bodyPr wrap="square" lIns="1270" tIns="1270" rIns="1270" bIns="1270" rtlCol="0" anchor="ctr"/>
          <a:lstStyle/>
          <a:p>
            <a:pPr marL="0" indent="0" algn="ctr">
              <a:buNone/>
            </a:pPr>
            <a:r>
              <a:rPr lang="en-US" sz="1600" dirty="0">
                <a:solidFill>
                  <a:schemeClr val="bg1"/>
                </a:solidFill>
              </a:rPr>
              <a:t>Check: capitals · full stops · verbs · own words</a:t>
            </a:r>
            <a:endParaRPr lang="en-US" sz="1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0"/>
            <a:ext cx="9326880" cy="822960"/>
          </a:xfrm>
          <a:prstGeom prst="rect">
            <a:avLst/>
          </a:prstGeom>
          <a:noFill/>
          <a:ln/>
        </p:spPr>
        <p:txBody>
          <a:bodyPr wrap="square" lIns="0" tIns="0" rIns="0" bIns="0" rtlCol="0" anchor="ctr"/>
          <a:lstStyle/>
          <a:p>
            <a:pPr marL="0" indent="0" algn="l">
              <a:buNone/>
            </a:pPr>
            <a:r>
              <a:rPr lang="en-US" sz="2600" b="1" dirty="0">
                <a:solidFill>
                  <a:schemeClr val="bg1"/>
                </a:solidFill>
                <a:latin typeface="+mj-lt" pitchFamily="34" charset="0"/>
                <a:ea typeface="+mj-lt" pitchFamily="34" charset="-122"/>
                <a:cs typeface="+mj-lt" pitchFamily="34" charset="-120"/>
              </a:rPr>
              <a:t>Partner check</a:t>
            </a:r>
            <a:endParaRPr lang="en-US" sz="2600" dirty="0"/>
          </a:p>
        </p:txBody>
      </p:sp>
      <p:sp>
        <p:nvSpPr>
          <p:cNvPr id="3" name="Tag"/>
          <p:cNvSpPr txBox="1"/>
          <p:nvPr/>
        </p:nvSpPr>
        <p:spPr>
          <a:xfrm>
            <a:off x="10332720" y="256032"/>
            <a:ext cx="1463040" cy="310896"/>
          </a:xfrm>
          <a:prstGeom prst="rect">
            <a:avLst/>
          </a:prstGeom>
          <a:solidFill>
            <a:schemeClr val="accent2"/>
          </a:solidFill>
          <a:ln/>
        </p:spPr>
        <p:txBody>
          <a:bodyPr wrap="square" lIns="0" tIns="0" rIns="0" bIns="0" rtlCol="0" anchor="ctr"/>
          <a:lstStyle/>
          <a:p>
            <a:pPr marL="0" indent="0" algn="ctr">
              <a:buNone/>
            </a:pPr>
            <a:r>
              <a:rPr lang="en-US" sz="1100" b="1" dirty="0">
                <a:solidFill>
                  <a:schemeClr val="tx1"/>
                </a:solidFill>
              </a:rPr>
              <a:t>PARTNER</a:t>
            </a:r>
            <a:endParaRPr lang="en-US" sz="1100" dirty="0"/>
          </a:p>
        </p:txBody>
      </p:sp>
      <p:sp>
        <p:nvSpPr>
          <p:cNvPr id="5" name="Card 👥  PARTNER CHECK"/>
          <p:cNvSpPr/>
          <p:nvPr/>
        </p:nvSpPr>
        <p:spPr>
          <a:xfrm>
            <a:off x="548640" y="1188720"/>
            <a:ext cx="5394960" cy="4023360"/>
          </a:xfrm>
          <a:prstGeom prst="rect">
            <a:avLst/>
          </a:prstGeom>
          <a:solidFill>
            <a:schemeClr val="bg1"/>
          </a:solidFill>
          <a:ln/>
          <a:effectLst>
            <a:outerShdw blurRad="76200" dist="25400" dir="5400000" algn="bl" rotWithShape="0">
              <a:srgbClr val="000000">
                <a:alpha val="12000"/>
              </a:srgbClr>
            </a:outerShdw>
          </a:effectLst>
        </p:spPr>
      </p:sp>
      <p:sp>
        <p:nvSpPr>
          <p:cNvPr id="6" name="Shape 3"/>
          <p:cNvSpPr/>
          <p:nvPr/>
        </p:nvSpPr>
        <p:spPr>
          <a:xfrm>
            <a:off x="548640" y="1188720"/>
            <a:ext cx="5394960" cy="502920"/>
          </a:xfrm>
          <a:prstGeom prst="rect">
            <a:avLst/>
          </a:prstGeom>
          <a:solidFill>
            <a:schemeClr val="accent1"/>
          </a:solidFill>
          <a:ln/>
        </p:spPr>
      </p:sp>
      <p:sp>
        <p:nvSpPr>
          <p:cNvPr id="7" name="Text 4"/>
          <p:cNvSpPr txBox="1"/>
          <p:nvPr/>
        </p:nvSpPr>
        <p:spPr>
          <a:xfrm>
            <a:off x="676656" y="1188720"/>
            <a:ext cx="5212080" cy="502920"/>
          </a:xfrm>
          <a:prstGeom prst="rect">
            <a:avLst/>
          </a:prstGeom>
          <a:noFill/>
          <a:ln/>
        </p:spPr>
        <p:txBody>
          <a:bodyPr wrap="square" lIns="0" tIns="0" rIns="0" bIns="0" rtlCol="0" anchor="ctr"/>
          <a:lstStyle/>
          <a:p>
            <a:pPr marL="0" indent="0">
              <a:buNone/>
            </a:pPr>
            <a:r>
              <a:rPr lang="en-US" sz="1600" b="1" dirty="0">
                <a:solidFill>
                  <a:schemeClr val="bg1"/>
                </a:solidFill>
              </a:rPr>
              <a:t>👥  PARTNER CHECK</a:t>
            </a:r>
            <a:endParaRPr lang="en-US" sz="1600" dirty="0"/>
          </a:p>
        </p:txBody>
      </p:sp>
      <p:sp>
        <p:nvSpPr>
          <p:cNvPr id="8" name="Text 5"/>
          <p:cNvSpPr txBox="1"/>
          <p:nvPr/>
        </p:nvSpPr>
        <p:spPr>
          <a:xfrm>
            <a:off x="658368" y="1764792"/>
            <a:ext cx="5175504" cy="3374136"/>
          </a:xfrm>
          <a:prstGeom prst="rect">
            <a:avLst/>
          </a:prstGeom>
          <a:noFill/>
          <a:ln/>
        </p:spPr>
        <p:txBody>
          <a:bodyPr wrap="square" lIns="508" tIns="508" rIns="508" bIns="508" rtlCol="0" anchor="t"/>
          <a:lstStyle/>
          <a:p>
            <a:pPr marL="342900" indent="-342900" algn="l">
              <a:spcAft>
                <a:spcPts val="800"/>
              </a:spcAft>
              <a:buSzPct val="100000"/>
              <a:buChar char="•"/>
            </a:pPr>
            <a:r>
              <a:rPr lang="en-US" sz="1700" dirty="0">
                <a:solidFill>
                  <a:schemeClr val="tx1"/>
                </a:solidFill>
              </a:rPr>
              <a:t>What is the report about?</a:t>
            </a:r>
            <a:endParaRPr lang="en-US" sz="1700" dirty="0"/>
          </a:p>
          <a:p>
            <a:pPr marL="342900" indent="-342900" algn="l">
              <a:spcAft>
                <a:spcPts val="800"/>
              </a:spcAft>
              <a:buSzPct val="100000"/>
              <a:buChar char="•"/>
            </a:pPr>
            <a:r>
              <a:rPr lang="en-US" sz="1700" dirty="0">
                <a:solidFill>
                  <a:schemeClr val="tx1"/>
                </a:solidFill>
              </a:rPr>
              <a:t>Does each paragraph have one focus?</a:t>
            </a:r>
            <a:endParaRPr lang="en-US" sz="1700" dirty="0"/>
          </a:p>
          <a:p>
            <a:pPr marL="342900" indent="-342900" algn="l">
              <a:spcAft>
                <a:spcPts val="800"/>
              </a:spcAft>
              <a:buSzPct val="100000"/>
              <a:buChar char="•"/>
            </a:pPr>
            <a:r>
              <a:rPr lang="en-US" sz="1700" dirty="0">
                <a:solidFill>
                  <a:schemeClr val="tx1"/>
                </a:solidFill>
              </a:rPr>
              <a:t>Is the introduction WHAT and WHY?</a:t>
            </a:r>
            <a:endParaRPr lang="en-US" sz="1700" dirty="0"/>
          </a:p>
          <a:p>
            <a:pPr marL="342900" indent="-342900" algn="l">
              <a:spcAft>
                <a:spcPts val="800"/>
              </a:spcAft>
              <a:buSzPct val="100000"/>
              <a:buChar char="•"/>
            </a:pPr>
            <a:r>
              <a:rPr lang="en-US" sz="1700" dirty="0">
                <a:solidFill>
                  <a:schemeClr val="tx1"/>
                </a:solidFill>
              </a:rPr>
              <a:t>Does the ending say because?</a:t>
            </a:r>
            <a:endParaRPr lang="en-US" sz="1700" dirty="0"/>
          </a:p>
          <a:p>
            <a:pPr marL="342900" indent="-342900" algn="l">
              <a:spcAft>
                <a:spcPts val="800"/>
              </a:spcAft>
              <a:buSzPct val="100000"/>
              <a:buChar char="•"/>
            </a:pPr>
            <a:r>
              <a:rPr lang="en-US" sz="1700" dirty="0">
                <a:solidFill>
                  <a:schemeClr val="tx1"/>
                </a:solidFill>
              </a:rPr>
              <a:t>Are the words their own?</a:t>
            </a:r>
            <a:endParaRPr lang="en-US" sz="1700" dirty="0"/>
          </a:p>
        </p:txBody>
      </p:sp>
      <p:sp>
        <p:nvSpPr>
          <p:cNvPr id="9" name="Card ⭐ 💡  GIVE FEEDBACK"/>
          <p:cNvSpPr/>
          <p:nvPr/>
        </p:nvSpPr>
        <p:spPr>
          <a:xfrm>
            <a:off x="6263640" y="1188720"/>
            <a:ext cx="5394960" cy="4023360"/>
          </a:xfrm>
          <a:prstGeom prst="rect">
            <a:avLst/>
          </a:prstGeom>
          <a:solidFill>
            <a:schemeClr val="bg1"/>
          </a:solidFill>
          <a:ln/>
          <a:effectLst>
            <a:outerShdw blurRad="76200" dist="25400" dir="5400000" algn="bl" rotWithShape="0">
              <a:srgbClr val="000000">
                <a:alpha val="12000"/>
              </a:srgbClr>
            </a:outerShdw>
          </a:effectLst>
        </p:spPr>
      </p:sp>
      <p:sp>
        <p:nvSpPr>
          <p:cNvPr id="10" name="Shape 7"/>
          <p:cNvSpPr/>
          <p:nvPr/>
        </p:nvSpPr>
        <p:spPr>
          <a:xfrm>
            <a:off x="6263640" y="1188720"/>
            <a:ext cx="5394960" cy="502920"/>
          </a:xfrm>
          <a:prstGeom prst="rect">
            <a:avLst/>
          </a:prstGeom>
          <a:solidFill>
            <a:schemeClr val="accent2"/>
          </a:solidFill>
          <a:ln/>
        </p:spPr>
      </p:sp>
      <p:sp>
        <p:nvSpPr>
          <p:cNvPr id="11" name="Text 8"/>
          <p:cNvSpPr txBox="1"/>
          <p:nvPr/>
        </p:nvSpPr>
        <p:spPr>
          <a:xfrm>
            <a:off x="6391656" y="1188720"/>
            <a:ext cx="5212080" cy="502920"/>
          </a:xfrm>
          <a:prstGeom prst="rect">
            <a:avLst/>
          </a:prstGeom>
          <a:noFill/>
          <a:ln/>
        </p:spPr>
        <p:txBody>
          <a:bodyPr wrap="square" lIns="0" tIns="0" rIns="0" bIns="0" rtlCol="0" anchor="ctr"/>
          <a:lstStyle/>
          <a:p>
            <a:pPr marL="0" indent="0">
              <a:buNone/>
            </a:pPr>
            <a:r>
              <a:rPr lang="en-US" sz="1600" b="1" dirty="0">
                <a:solidFill>
                  <a:schemeClr val="tx1"/>
                </a:solidFill>
              </a:rPr>
              <a:t>⭐ 💡  GIVE FEEDBACK</a:t>
            </a:r>
            <a:endParaRPr lang="en-US" sz="1600" dirty="0"/>
          </a:p>
        </p:txBody>
      </p:sp>
      <p:sp>
        <p:nvSpPr>
          <p:cNvPr id="12" name="Text 9"/>
          <p:cNvSpPr txBox="1"/>
          <p:nvPr/>
        </p:nvSpPr>
        <p:spPr>
          <a:xfrm>
            <a:off x="6053328" y="1764792"/>
            <a:ext cx="5941122" cy="3374136"/>
          </a:xfrm>
          <a:prstGeom prst="rect">
            <a:avLst/>
          </a:prstGeom>
          <a:noFill/>
          <a:ln/>
        </p:spPr>
        <p:txBody>
          <a:bodyPr wrap="square" lIns="508" tIns="508" rIns="508" bIns="508" rtlCol="0" anchor="t"/>
          <a:lstStyle/>
          <a:p>
            <a:pPr marL="342900" indent="-342900" algn="l">
              <a:spcAft>
                <a:spcPts val="800"/>
              </a:spcAft>
              <a:buSzPct val="100000"/>
              <a:buChar char="•"/>
            </a:pPr>
            <a:r>
              <a:rPr lang="en-US" sz="1700" dirty="0">
                <a:solidFill>
                  <a:schemeClr val="tx1"/>
                </a:solidFill>
              </a:rPr>
              <a:t>⭐ </a:t>
            </a:r>
            <a:r>
              <a:rPr lang="en-US" sz="1700" b="1" dirty="0">
                <a:solidFill>
                  <a:schemeClr val="tx1"/>
                </a:solidFill>
              </a:rPr>
              <a:t>One strength: </a:t>
            </a:r>
            <a:r>
              <a:rPr lang="en-US" sz="1700" dirty="0">
                <a:solidFill>
                  <a:schemeClr val="tx1"/>
                </a:solidFill>
              </a:rPr>
              <a:t>“I like how you… because…”</a:t>
            </a:r>
            <a:endParaRPr lang="en-US" sz="1700" dirty="0"/>
          </a:p>
          <a:p>
            <a:pPr marL="342900" indent="-342900" algn="l">
              <a:spcAft>
                <a:spcPts val="800"/>
              </a:spcAft>
              <a:buSzPct val="100000"/>
              <a:buChar char="•"/>
            </a:pPr>
            <a:r>
              <a:rPr lang="en-US" sz="1700" dirty="0">
                <a:solidFill>
                  <a:schemeClr val="tx1"/>
                </a:solidFill>
              </a:rPr>
              <a:t>💡 </a:t>
            </a:r>
            <a:r>
              <a:rPr lang="en-US" sz="1700" b="1" dirty="0">
                <a:solidFill>
                  <a:schemeClr val="tx1"/>
                </a:solidFill>
              </a:rPr>
              <a:t>One improvement</a:t>
            </a:r>
            <a:r>
              <a:rPr lang="en-US" sz="1700" dirty="0">
                <a:solidFill>
                  <a:schemeClr val="tx1"/>
                </a:solidFill>
              </a:rPr>
              <a:t>: “To make it even better, you could…”</a:t>
            </a:r>
            <a:endParaRPr lang="en-US" sz="1700" dirty="0"/>
          </a:p>
          <a:p>
            <a:pPr marL="342900" indent="-342900" algn="l">
              <a:spcAft>
                <a:spcPts val="800"/>
              </a:spcAft>
              <a:buSzPct val="100000"/>
              <a:buChar char="•"/>
            </a:pPr>
            <a:r>
              <a:rPr lang="en-US" sz="1700" dirty="0">
                <a:solidFill>
                  <a:schemeClr val="tx1"/>
                </a:solidFill>
              </a:rPr>
              <a:t>Quote their words</a:t>
            </a:r>
            <a:endParaRPr lang="en-US" sz="1700" dirty="0"/>
          </a:p>
          <a:p>
            <a:pPr marL="342900" indent="-342900" algn="l">
              <a:spcAft>
                <a:spcPts val="800"/>
              </a:spcAft>
              <a:buSzPct val="100000"/>
              <a:buChar char="•"/>
            </a:pPr>
            <a:r>
              <a:rPr lang="en-US" sz="1700" dirty="0">
                <a:solidFill>
                  <a:schemeClr val="tx1"/>
                </a:solidFill>
              </a:rPr>
              <a:t>Name a success criterion</a:t>
            </a:r>
            <a:endParaRPr lang="en-US" sz="1700" dirty="0"/>
          </a:p>
        </p:txBody>
      </p:sp>
      <p:sp>
        <p:nvSpPr>
          <p:cNvPr id="13" name="Text 10"/>
          <p:cNvSpPr txBox="1"/>
          <p:nvPr/>
        </p:nvSpPr>
        <p:spPr>
          <a:xfrm>
            <a:off x="548640" y="5486400"/>
            <a:ext cx="11094415" cy="548640"/>
          </a:xfrm>
          <a:prstGeom prst="rect">
            <a:avLst/>
          </a:prstGeom>
          <a:solidFill>
            <a:schemeClr val="tx1"/>
          </a:solidFill>
          <a:ln/>
        </p:spPr>
        <p:txBody>
          <a:bodyPr wrap="square" lIns="1270" tIns="1270" rIns="1270" bIns="1270" rtlCol="0" anchor="ctr"/>
          <a:lstStyle/>
          <a:p>
            <a:pPr marL="0" indent="0" algn="ctr">
              <a:buNone/>
            </a:pPr>
            <a:r>
              <a:rPr lang="en-US" sz="1700" b="1" dirty="0">
                <a:solidFill>
                  <a:schemeClr val="bg1"/>
                </a:solidFill>
              </a:rPr>
              <a:t>One strength + one improvement</a:t>
            </a:r>
            <a:endParaRPr lang="en-US" sz="17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0"/>
            <a:ext cx="9326880" cy="822960"/>
          </a:xfrm>
          <a:prstGeom prst="rect">
            <a:avLst/>
          </a:prstGeom>
          <a:noFill/>
          <a:ln/>
        </p:spPr>
        <p:txBody>
          <a:bodyPr wrap="square" lIns="0" tIns="0" rIns="0" bIns="0" rtlCol="0" anchor="ctr"/>
          <a:lstStyle/>
          <a:p>
            <a:pPr marL="0" indent="0" algn="l">
              <a:buNone/>
            </a:pPr>
            <a:r>
              <a:rPr lang="en-US" sz="2600" b="1" dirty="0">
                <a:solidFill>
                  <a:schemeClr val="bg1"/>
                </a:solidFill>
                <a:latin typeface="+mj-lt" pitchFamily="34" charset="0"/>
                <a:ea typeface="+mj-lt" pitchFamily="34" charset="-122"/>
                <a:cs typeface="+mj-lt" pitchFamily="34" charset="-120"/>
              </a:rPr>
              <a:t>Plenary: share and reflect</a:t>
            </a:r>
            <a:endParaRPr lang="en-US" sz="2600" dirty="0"/>
          </a:p>
        </p:txBody>
      </p:sp>
      <p:sp>
        <p:nvSpPr>
          <p:cNvPr id="3" name="Tag"/>
          <p:cNvSpPr txBox="1"/>
          <p:nvPr/>
        </p:nvSpPr>
        <p:spPr>
          <a:xfrm>
            <a:off x="10332720" y="256032"/>
            <a:ext cx="1463040" cy="310896"/>
          </a:xfrm>
          <a:prstGeom prst="rect">
            <a:avLst/>
          </a:prstGeom>
          <a:solidFill>
            <a:schemeClr val="accent2"/>
          </a:solidFill>
          <a:ln/>
        </p:spPr>
        <p:txBody>
          <a:bodyPr wrap="square" lIns="0" tIns="0" rIns="0" bIns="0" rtlCol="0" anchor="ctr"/>
          <a:lstStyle/>
          <a:p>
            <a:pPr marL="0" indent="0" algn="ctr">
              <a:buNone/>
            </a:pPr>
            <a:r>
              <a:rPr lang="en-US" sz="1100" b="1" dirty="0">
                <a:solidFill>
                  <a:schemeClr val="tx1"/>
                </a:solidFill>
              </a:rPr>
              <a:t>PLENARY</a:t>
            </a:r>
            <a:endParaRPr lang="en-US" sz="1100" dirty="0"/>
          </a:p>
        </p:txBody>
      </p:sp>
      <p:sp>
        <p:nvSpPr>
          <p:cNvPr id="5" name="Card 📣  SHARE"/>
          <p:cNvSpPr/>
          <p:nvPr/>
        </p:nvSpPr>
        <p:spPr>
          <a:xfrm>
            <a:off x="548640" y="1188720"/>
            <a:ext cx="3566160" cy="3566160"/>
          </a:xfrm>
          <a:prstGeom prst="rect">
            <a:avLst/>
          </a:prstGeom>
          <a:solidFill>
            <a:schemeClr val="bg1"/>
          </a:solidFill>
          <a:ln/>
          <a:effectLst>
            <a:outerShdw blurRad="76200" dist="25400" dir="5400000" algn="bl" rotWithShape="0">
              <a:srgbClr val="000000">
                <a:alpha val="12000"/>
              </a:srgbClr>
            </a:outerShdw>
          </a:effectLst>
        </p:spPr>
      </p:sp>
      <p:sp>
        <p:nvSpPr>
          <p:cNvPr id="6" name="Shape 3"/>
          <p:cNvSpPr/>
          <p:nvPr/>
        </p:nvSpPr>
        <p:spPr>
          <a:xfrm>
            <a:off x="548640" y="1188720"/>
            <a:ext cx="3566160" cy="502920"/>
          </a:xfrm>
          <a:prstGeom prst="rect">
            <a:avLst/>
          </a:prstGeom>
          <a:solidFill>
            <a:schemeClr val="accent1"/>
          </a:solidFill>
          <a:ln/>
        </p:spPr>
      </p:sp>
      <p:sp>
        <p:nvSpPr>
          <p:cNvPr id="7" name="Text 4"/>
          <p:cNvSpPr txBox="1"/>
          <p:nvPr/>
        </p:nvSpPr>
        <p:spPr>
          <a:xfrm>
            <a:off x="676656" y="1188720"/>
            <a:ext cx="3383280" cy="502920"/>
          </a:xfrm>
          <a:prstGeom prst="rect">
            <a:avLst/>
          </a:prstGeom>
          <a:noFill/>
          <a:ln/>
        </p:spPr>
        <p:txBody>
          <a:bodyPr wrap="square" lIns="0" tIns="0" rIns="0" bIns="0" rtlCol="0" anchor="ctr"/>
          <a:lstStyle/>
          <a:p>
            <a:pPr marL="0" indent="0">
              <a:buNone/>
            </a:pPr>
            <a:r>
              <a:rPr lang="en-US" sz="1500" b="1" dirty="0">
                <a:solidFill>
                  <a:schemeClr val="bg1"/>
                </a:solidFill>
              </a:rPr>
              <a:t>📣  SHARE</a:t>
            </a:r>
            <a:endParaRPr lang="en-US" sz="1500" dirty="0"/>
          </a:p>
        </p:txBody>
      </p:sp>
      <p:sp>
        <p:nvSpPr>
          <p:cNvPr id="8" name="Text 5"/>
          <p:cNvSpPr txBox="1"/>
          <p:nvPr/>
        </p:nvSpPr>
        <p:spPr>
          <a:xfrm>
            <a:off x="357556" y="1764792"/>
            <a:ext cx="3757244" cy="2916936"/>
          </a:xfrm>
          <a:prstGeom prst="rect">
            <a:avLst/>
          </a:prstGeom>
          <a:noFill/>
          <a:ln/>
        </p:spPr>
        <p:txBody>
          <a:bodyPr wrap="square" lIns="508" tIns="508" rIns="508" bIns="508" rtlCol="0" anchor="t"/>
          <a:lstStyle/>
          <a:p>
            <a:pPr marL="342900" indent="-342900" algn="l">
              <a:spcAft>
                <a:spcPts val="1000"/>
              </a:spcAft>
              <a:buSzPct val="100000"/>
              <a:buChar char="•"/>
            </a:pPr>
            <a:r>
              <a:rPr lang="en-US" sz="1600" dirty="0">
                <a:solidFill>
                  <a:schemeClr val="tx1"/>
                </a:solidFill>
              </a:rPr>
              <a:t>Read your best improved sentence aloud</a:t>
            </a:r>
            <a:endParaRPr lang="en-US" sz="1600" dirty="0"/>
          </a:p>
          <a:p>
            <a:pPr marL="342900" indent="-342900" algn="l">
              <a:spcAft>
                <a:spcPts val="1000"/>
              </a:spcAft>
              <a:buSzPct val="100000"/>
              <a:buChar char="•"/>
            </a:pPr>
            <a:r>
              <a:rPr lang="en-US" sz="1600" dirty="0">
                <a:solidFill>
                  <a:schemeClr val="tx1"/>
                </a:solidFill>
              </a:rPr>
              <a:t>Class: which fix is it?</a:t>
            </a:r>
            <a:endParaRPr lang="en-US" sz="1600" dirty="0"/>
          </a:p>
          <a:p>
            <a:pPr marL="342900" indent="-342900" algn="l">
              <a:spcAft>
                <a:spcPts val="1000"/>
              </a:spcAft>
              <a:buSzPct val="100000"/>
              <a:buChar char="•"/>
            </a:pPr>
            <a:r>
              <a:rPr lang="en-US" sz="1600" dirty="0">
                <a:solidFill>
                  <a:schemeClr val="tx1"/>
                </a:solidFill>
              </a:rPr>
              <a:t>How is it different from your first draft?</a:t>
            </a:r>
            <a:endParaRPr lang="en-US" sz="1600" dirty="0"/>
          </a:p>
        </p:txBody>
      </p:sp>
      <p:sp>
        <p:nvSpPr>
          <p:cNvPr id="9" name="Card 🚦  TRAFFIC LIGHTS"/>
          <p:cNvSpPr/>
          <p:nvPr/>
        </p:nvSpPr>
        <p:spPr>
          <a:xfrm>
            <a:off x="4315968" y="1188720"/>
            <a:ext cx="3566160" cy="3566160"/>
          </a:xfrm>
          <a:prstGeom prst="rect">
            <a:avLst/>
          </a:prstGeom>
          <a:solidFill>
            <a:schemeClr val="bg1"/>
          </a:solidFill>
          <a:ln/>
          <a:effectLst>
            <a:outerShdw blurRad="76200" dist="25400" dir="5400000" algn="bl" rotWithShape="0">
              <a:srgbClr val="000000">
                <a:alpha val="12000"/>
              </a:srgbClr>
            </a:outerShdw>
          </a:effectLst>
        </p:spPr>
      </p:sp>
      <p:sp>
        <p:nvSpPr>
          <p:cNvPr id="10" name="Shape 7"/>
          <p:cNvSpPr/>
          <p:nvPr/>
        </p:nvSpPr>
        <p:spPr>
          <a:xfrm>
            <a:off x="4315968" y="1188720"/>
            <a:ext cx="3566160" cy="502920"/>
          </a:xfrm>
          <a:prstGeom prst="rect">
            <a:avLst/>
          </a:prstGeom>
          <a:solidFill>
            <a:schemeClr val="accent2"/>
          </a:solidFill>
          <a:ln/>
        </p:spPr>
      </p:sp>
      <p:sp>
        <p:nvSpPr>
          <p:cNvPr id="11" name="Text 8"/>
          <p:cNvSpPr txBox="1"/>
          <p:nvPr/>
        </p:nvSpPr>
        <p:spPr>
          <a:xfrm>
            <a:off x="4443984" y="1188720"/>
            <a:ext cx="3383280" cy="502920"/>
          </a:xfrm>
          <a:prstGeom prst="rect">
            <a:avLst/>
          </a:prstGeom>
          <a:noFill/>
          <a:ln/>
        </p:spPr>
        <p:txBody>
          <a:bodyPr wrap="square" lIns="0" tIns="0" rIns="0" bIns="0" rtlCol="0" anchor="ctr"/>
          <a:lstStyle/>
          <a:p>
            <a:pPr marL="0" indent="0">
              <a:buNone/>
            </a:pPr>
            <a:r>
              <a:rPr lang="en-US" sz="1500" b="1" dirty="0">
                <a:solidFill>
                  <a:schemeClr val="tx1"/>
                </a:solidFill>
              </a:rPr>
              <a:t>🚦  TRAFFIC LIGHTS</a:t>
            </a:r>
            <a:endParaRPr lang="en-US" sz="1500" dirty="0"/>
          </a:p>
        </p:txBody>
      </p:sp>
      <p:sp>
        <p:nvSpPr>
          <p:cNvPr id="12" name="Text 9"/>
          <p:cNvSpPr txBox="1"/>
          <p:nvPr/>
        </p:nvSpPr>
        <p:spPr>
          <a:xfrm>
            <a:off x="4425696" y="1764792"/>
            <a:ext cx="3346704" cy="2916936"/>
          </a:xfrm>
          <a:prstGeom prst="rect">
            <a:avLst/>
          </a:prstGeom>
          <a:noFill/>
          <a:ln/>
        </p:spPr>
        <p:txBody>
          <a:bodyPr wrap="square" lIns="508" tIns="508" rIns="508" bIns="508" rtlCol="0" anchor="t"/>
          <a:lstStyle/>
          <a:p>
            <a:pPr marL="342900" indent="-342900" algn="l">
              <a:spcAft>
                <a:spcPts val="1000"/>
              </a:spcAft>
              <a:buSzPct val="100000"/>
              <a:buChar char="•"/>
            </a:pPr>
            <a:r>
              <a:rPr lang="en-US" sz="1600" dirty="0">
                <a:solidFill>
                  <a:schemeClr val="tx1"/>
                </a:solidFill>
              </a:rPr>
              <a:t>I can fix full stops, capitals and verbs</a:t>
            </a:r>
            <a:endParaRPr lang="en-US" sz="1600" dirty="0"/>
          </a:p>
          <a:p>
            <a:pPr marL="342900" indent="-342900" algn="l">
              <a:spcAft>
                <a:spcPts val="1000"/>
              </a:spcAft>
              <a:buSzPct val="100000"/>
              <a:buChar char="•"/>
            </a:pPr>
            <a:r>
              <a:rPr lang="en-US" sz="1600" dirty="0">
                <a:solidFill>
                  <a:schemeClr val="tx1"/>
                </a:solidFill>
              </a:rPr>
              <a:t>I can say WHY in the introduction and ending</a:t>
            </a:r>
            <a:endParaRPr lang="en-US" sz="1600" dirty="0"/>
          </a:p>
          <a:p>
            <a:pPr marL="342900" indent="-342900" algn="l">
              <a:spcAft>
                <a:spcPts val="1000"/>
              </a:spcAft>
              <a:buSzPct val="100000"/>
              <a:buChar char="•"/>
            </a:pPr>
            <a:r>
              <a:rPr lang="en-US" sz="1600" dirty="0">
                <a:solidFill>
                  <a:schemeClr val="tx1"/>
                </a:solidFill>
              </a:rPr>
              <a:t>I can use feedback in my own words</a:t>
            </a:r>
            <a:endParaRPr lang="en-US" sz="1600" dirty="0"/>
          </a:p>
        </p:txBody>
      </p:sp>
      <p:sp>
        <p:nvSpPr>
          <p:cNvPr id="13" name="Card 💡  LOOK AHEAD"/>
          <p:cNvSpPr/>
          <p:nvPr/>
        </p:nvSpPr>
        <p:spPr>
          <a:xfrm>
            <a:off x="8092440" y="1188720"/>
            <a:ext cx="3566160" cy="3566160"/>
          </a:xfrm>
          <a:prstGeom prst="rect">
            <a:avLst/>
          </a:prstGeom>
          <a:solidFill>
            <a:schemeClr val="bg1"/>
          </a:solidFill>
          <a:ln/>
          <a:effectLst>
            <a:outerShdw blurRad="76200" dist="25400" dir="5400000" algn="bl" rotWithShape="0">
              <a:srgbClr val="000000">
                <a:alpha val="12000"/>
              </a:srgbClr>
            </a:outerShdw>
          </a:effectLst>
        </p:spPr>
      </p:sp>
      <p:sp>
        <p:nvSpPr>
          <p:cNvPr id="14" name="Shape 11"/>
          <p:cNvSpPr/>
          <p:nvPr/>
        </p:nvSpPr>
        <p:spPr>
          <a:xfrm>
            <a:off x="8092440" y="1188720"/>
            <a:ext cx="3566160" cy="502920"/>
          </a:xfrm>
          <a:prstGeom prst="rect">
            <a:avLst/>
          </a:prstGeom>
          <a:solidFill>
            <a:schemeClr val="accent3"/>
          </a:solidFill>
          <a:ln/>
        </p:spPr>
      </p:sp>
      <p:sp>
        <p:nvSpPr>
          <p:cNvPr id="15" name="Text 12"/>
          <p:cNvSpPr txBox="1"/>
          <p:nvPr/>
        </p:nvSpPr>
        <p:spPr>
          <a:xfrm>
            <a:off x="8220456" y="1188720"/>
            <a:ext cx="3383280" cy="502920"/>
          </a:xfrm>
          <a:prstGeom prst="rect">
            <a:avLst/>
          </a:prstGeom>
          <a:noFill/>
          <a:ln/>
        </p:spPr>
        <p:txBody>
          <a:bodyPr wrap="square" lIns="0" tIns="0" rIns="0" bIns="0" rtlCol="0" anchor="ctr"/>
          <a:lstStyle/>
          <a:p>
            <a:pPr marL="0" indent="0">
              <a:buNone/>
            </a:pPr>
            <a:r>
              <a:rPr lang="en-US" sz="1500" b="1" dirty="0">
                <a:solidFill>
                  <a:schemeClr val="bg1"/>
                </a:solidFill>
              </a:rPr>
              <a:t>💡  LOOK AHEAD</a:t>
            </a:r>
            <a:endParaRPr lang="en-US" sz="1500" dirty="0"/>
          </a:p>
        </p:txBody>
      </p:sp>
      <p:sp>
        <p:nvSpPr>
          <p:cNvPr id="16" name="Text 13"/>
          <p:cNvSpPr txBox="1"/>
          <p:nvPr/>
        </p:nvSpPr>
        <p:spPr>
          <a:xfrm>
            <a:off x="7967942" y="1764792"/>
            <a:ext cx="3632276" cy="2916936"/>
          </a:xfrm>
          <a:prstGeom prst="rect">
            <a:avLst/>
          </a:prstGeom>
          <a:noFill/>
          <a:ln/>
        </p:spPr>
        <p:txBody>
          <a:bodyPr wrap="square" lIns="508" tIns="508" rIns="508" bIns="508" rtlCol="0" anchor="t"/>
          <a:lstStyle/>
          <a:p>
            <a:pPr marL="342900" indent="-342900" algn="l">
              <a:spcAft>
                <a:spcPts val="1000"/>
              </a:spcAft>
              <a:buSzPct val="100000"/>
              <a:buChar char="•"/>
            </a:pPr>
            <a:r>
              <a:rPr lang="en-US" sz="1600" dirty="0">
                <a:solidFill>
                  <a:schemeClr val="tx1"/>
                </a:solidFill>
              </a:rPr>
              <a:t>Which problem is still hardest for you?</a:t>
            </a:r>
            <a:endParaRPr lang="en-US" sz="1600" dirty="0"/>
          </a:p>
          <a:p>
            <a:pPr marL="342900" indent="-342900" algn="l">
              <a:spcAft>
                <a:spcPts val="1000"/>
              </a:spcAft>
              <a:buSzPct val="100000"/>
              <a:buChar char="•"/>
            </a:pPr>
            <a:r>
              <a:rPr lang="en-US" sz="1600" dirty="0">
                <a:solidFill>
                  <a:schemeClr val="tx1"/>
                </a:solidFill>
              </a:rPr>
              <a:t>What will you check in your final copy?</a:t>
            </a:r>
            <a:endParaRPr lang="en-US" sz="1600" dirty="0"/>
          </a:p>
        </p:txBody>
      </p:sp>
      <p:sp>
        <p:nvSpPr>
          <p:cNvPr id="17" name="Text 14"/>
          <p:cNvSpPr txBox="1"/>
          <p:nvPr/>
        </p:nvSpPr>
        <p:spPr>
          <a:xfrm>
            <a:off x="548640" y="5120640"/>
            <a:ext cx="11094415" cy="640080"/>
          </a:xfrm>
          <a:prstGeom prst="rect">
            <a:avLst/>
          </a:prstGeom>
          <a:solidFill>
            <a:schemeClr val="tx1"/>
          </a:solidFill>
          <a:ln/>
        </p:spPr>
        <p:txBody>
          <a:bodyPr wrap="square" lIns="1270" tIns="1270" rIns="1270" bIns="1270" rtlCol="0" anchor="ctr"/>
          <a:lstStyle/>
          <a:p>
            <a:pPr marL="0" indent="0" algn="ctr">
              <a:buNone/>
            </a:pPr>
            <a:r>
              <a:rPr lang="en-US" sz="2400" dirty="0">
                <a:solidFill>
                  <a:schemeClr val="bg1"/>
                </a:solidFill>
              </a:rPr>
              <a:t>🟢 I can do it     🟡 I need a little more practice     🔴 I need help</a:t>
            </a:r>
            <a:endParaRPr lang="en-US" sz="2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0"/>
            <a:ext cx="9326880" cy="822960"/>
          </a:xfrm>
          <a:prstGeom prst="rect">
            <a:avLst/>
          </a:prstGeom>
          <a:noFill/>
          <a:ln/>
        </p:spPr>
        <p:txBody>
          <a:bodyPr wrap="square" lIns="0" tIns="0" rIns="0" bIns="0" rtlCol="0" anchor="ctr"/>
          <a:lstStyle/>
          <a:p>
            <a:pPr marL="0" indent="0" algn="l">
              <a:buNone/>
            </a:pPr>
            <a:r>
              <a:rPr lang="en-US" sz="2600" b="1" dirty="0">
                <a:solidFill>
                  <a:schemeClr val="bg1"/>
                </a:solidFill>
                <a:latin typeface="+mj-lt" pitchFamily="34" charset="0"/>
                <a:ea typeface="+mj-lt" pitchFamily="34" charset="-122"/>
                <a:cs typeface="+mj-lt" pitchFamily="34" charset="-120"/>
              </a:rPr>
              <a:t>Exit ticket 🎫</a:t>
            </a:r>
            <a:endParaRPr lang="en-US" sz="2600" dirty="0"/>
          </a:p>
        </p:txBody>
      </p:sp>
      <p:sp>
        <p:nvSpPr>
          <p:cNvPr id="3" name="Tag"/>
          <p:cNvSpPr txBox="1"/>
          <p:nvPr/>
        </p:nvSpPr>
        <p:spPr>
          <a:xfrm>
            <a:off x="10332720" y="256032"/>
            <a:ext cx="1463040" cy="310896"/>
          </a:xfrm>
          <a:prstGeom prst="rect">
            <a:avLst/>
          </a:prstGeom>
          <a:solidFill>
            <a:schemeClr val="accent2"/>
          </a:solidFill>
          <a:ln/>
        </p:spPr>
        <p:txBody>
          <a:bodyPr wrap="square" lIns="0" tIns="0" rIns="0" bIns="0" rtlCol="0" anchor="ctr"/>
          <a:lstStyle/>
          <a:p>
            <a:pPr marL="0" indent="0" algn="ctr">
              <a:buNone/>
            </a:pPr>
            <a:r>
              <a:rPr lang="en-US" sz="1100" b="1" dirty="0">
                <a:solidFill>
                  <a:schemeClr val="tx1"/>
                </a:solidFill>
              </a:rPr>
              <a:t>EXIT</a:t>
            </a:r>
            <a:endParaRPr lang="en-US" sz="1100" dirty="0"/>
          </a:p>
        </p:txBody>
      </p:sp>
      <p:sp>
        <p:nvSpPr>
          <p:cNvPr id="5" name="Text 2"/>
          <p:cNvSpPr txBox="1"/>
          <p:nvPr/>
        </p:nvSpPr>
        <p:spPr>
          <a:xfrm>
            <a:off x="731520" y="1371600"/>
            <a:ext cx="548640" cy="548640"/>
          </a:xfrm>
          <a:prstGeom prst="ellipse">
            <a:avLst/>
          </a:prstGeom>
          <a:solidFill>
            <a:schemeClr val="accent1"/>
          </a:solid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6" name="Text 3"/>
          <p:cNvSpPr txBox="1"/>
          <p:nvPr/>
        </p:nvSpPr>
        <p:spPr>
          <a:xfrm>
            <a:off x="1554480" y="1280160"/>
            <a:ext cx="9966960" cy="1371600"/>
          </a:xfrm>
          <a:prstGeom prst="rect">
            <a:avLst/>
          </a:prstGeom>
          <a:noFill/>
          <a:ln/>
        </p:spPr>
        <p:txBody>
          <a:bodyPr wrap="square" lIns="0" tIns="0" rIns="0" bIns="0" rtlCol="0" anchor="t"/>
          <a:lstStyle/>
          <a:p>
            <a:pPr marL="0" indent="0">
              <a:buNone/>
            </a:pPr>
            <a:r>
              <a:rPr lang="en-US" sz="2100" b="1" dirty="0">
                <a:solidFill>
                  <a:schemeClr val="tx1"/>
                </a:solidFill>
              </a:rPr>
              <a:t>Add capitals and full stops: sea turtles are in danger people throw plastic into the sea</a:t>
            </a:r>
            <a:endParaRPr lang="en-US" sz="2100" dirty="0"/>
          </a:p>
        </p:txBody>
      </p:sp>
      <p:sp>
        <p:nvSpPr>
          <p:cNvPr id="7" name="Text 4"/>
          <p:cNvSpPr txBox="1"/>
          <p:nvPr/>
        </p:nvSpPr>
        <p:spPr>
          <a:xfrm>
            <a:off x="731520" y="2971800"/>
            <a:ext cx="548640" cy="548640"/>
          </a:xfrm>
          <a:prstGeom prst="ellipse">
            <a:avLst/>
          </a:prstGeom>
          <a:solidFill>
            <a:schemeClr val="accent1"/>
          </a:solid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8" name="Text 5"/>
          <p:cNvSpPr txBox="1"/>
          <p:nvPr/>
        </p:nvSpPr>
        <p:spPr>
          <a:xfrm>
            <a:off x="1554480" y="2880360"/>
            <a:ext cx="9966960" cy="1371600"/>
          </a:xfrm>
          <a:prstGeom prst="rect">
            <a:avLst/>
          </a:prstGeom>
          <a:noFill/>
          <a:ln/>
        </p:spPr>
        <p:txBody>
          <a:bodyPr wrap="square" lIns="0" tIns="0" rIns="0" bIns="0" rtlCol="0" anchor="t"/>
          <a:lstStyle/>
          <a:p>
            <a:pPr marL="0" indent="0">
              <a:buNone/>
            </a:pPr>
            <a:r>
              <a:rPr lang="en-US" sz="2100" b="1" dirty="0">
                <a:solidFill>
                  <a:schemeClr val="tx1"/>
                </a:solidFill>
              </a:rPr>
              <a:t>Fix the verb: It eat tiny creatures called krill.</a:t>
            </a:r>
            <a:endParaRPr lang="en-US" sz="2100" dirty="0"/>
          </a:p>
        </p:txBody>
      </p:sp>
      <p:sp>
        <p:nvSpPr>
          <p:cNvPr id="9" name="Text 6"/>
          <p:cNvSpPr txBox="1"/>
          <p:nvPr/>
        </p:nvSpPr>
        <p:spPr>
          <a:xfrm>
            <a:off x="731520" y="4572000"/>
            <a:ext cx="548640" cy="548640"/>
          </a:xfrm>
          <a:prstGeom prst="ellipse">
            <a:avLst/>
          </a:prstGeom>
          <a:solidFill>
            <a:schemeClr val="accent1"/>
          </a:solid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10" name="Text 7"/>
          <p:cNvSpPr txBox="1"/>
          <p:nvPr/>
        </p:nvSpPr>
        <p:spPr>
          <a:xfrm>
            <a:off x="1554480" y="4480560"/>
            <a:ext cx="9966960" cy="1371600"/>
          </a:xfrm>
          <a:prstGeom prst="rect">
            <a:avLst/>
          </a:prstGeom>
          <a:noFill/>
          <a:ln/>
        </p:spPr>
        <p:txBody>
          <a:bodyPr wrap="square" lIns="0" tIns="0" rIns="0" bIns="0" rtlCol="0" anchor="t"/>
          <a:lstStyle/>
          <a:p>
            <a:pPr marL="0" indent="0">
              <a:buNone/>
            </a:pPr>
            <a:r>
              <a:rPr lang="en-US" sz="2100" b="1" dirty="0">
                <a:solidFill>
                  <a:schemeClr val="tx1"/>
                </a:solidFill>
              </a:rPr>
              <a:t>Why should you not copy the feedback word for word?</a:t>
            </a:r>
            <a:endParaRPr lang="en-US" sz="2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0"/>
            <a:ext cx="9326880" cy="822960"/>
          </a:xfrm>
          <a:prstGeom prst="rect">
            <a:avLst/>
          </a:prstGeom>
          <a:noFill/>
          <a:ln/>
        </p:spPr>
        <p:txBody>
          <a:bodyPr wrap="square" lIns="0" tIns="0" rIns="0" bIns="0" rtlCol="0" anchor="ctr"/>
          <a:lstStyle/>
          <a:p>
            <a:pPr marL="0" indent="0" algn="l">
              <a:buNone/>
            </a:pPr>
            <a:r>
              <a:rPr lang="en-US" sz="2600" b="1" dirty="0">
                <a:solidFill>
                  <a:schemeClr val="bg1"/>
                </a:solidFill>
                <a:latin typeface="+mj-lt" pitchFamily="34" charset="0"/>
                <a:ea typeface="+mj-lt" pitchFamily="34" charset="-122"/>
                <a:cs typeface="+mj-lt" pitchFamily="34" charset="-120"/>
              </a:rPr>
              <a:t>Exit ticket 🎫</a:t>
            </a:r>
            <a:endParaRPr lang="en-US" sz="2600" dirty="0"/>
          </a:p>
        </p:txBody>
      </p:sp>
      <p:sp>
        <p:nvSpPr>
          <p:cNvPr id="3" name="Tag"/>
          <p:cNvSpPr txBox="1"/>
          <p:nvPr/>
        </p:nvSpPr>
        <p:spPr>
          <a:xfrm>
            <a:off x="10332720" y="256032"/>
            <a:ext cx="1463040" cy="310896"/>
          </a:xfrm>
          <a:prstGeom prst="rect">
            <a:avLst/>
          </a:prstGeom>
          <a:solidFill>
            <a:schemeClr val="accent2"/>
          </a:solidFill>
          <a:ln/>
        </p:spPr>
        <p:txBody>
          <a:bodyPr wrap="square" lIns="0" tIns="0" rIns="0" bIns="0" rtlCol="0" anchor="ctr"/>
          <a:lstStyle/>
          <a:p>
            <a:pPr marL="0" indent="0" algn="ctr">
              <a:buNone/>
            </a:pPr>
            <a:r>
              <a:rPr lang="en-US" sz="1100" b="1" dirty="0">
                <a:solidFill>
                  <a:schemeClr val="tx1"/>
                </a:solidFill>
              </a:rPr>
              <a:t>EXIT</a:t>
            </a:r>
            <a:endParaRPr lang="en-US" sz="1100" dirty="0"/>
          </a:p>
        </p:txBody>
      </p:sp>
      <p:sp>
        <p:nvSpPr>
          <p:cNvPr id="5" name="Text 2"/>
          <p:cNvSpPr txBox="1"/>
          <p:nvPr/>
        </p:nvSpPr>
        <p:spPr>
          <a:xfrm>
            <a:off x="731520" y="1371600"/>
            <a:ext cx="548640" cy="548640"/>
          </a:xfrm>
          <a:prstGeom prst="ellipse">
            <a:avLst/>
          </a:prstGeom>
          <a:solidFill>
            <a:schemeClr val="accent1"/>
          </a:solid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6" name="Text 3"/>
          <p:cNvSpPr txBox="1"/>
          <p:nvPr/>
        </p:nvSpPr>
        <p:spPr>
          <a:xfrm>
            <a:off x="1554480" y="1280160"/>
            <a:ext cx="9966960" cy="1371600"/>
          </a:xfrm>
          <a:prstGeom prst="rect">
            <a:avLst/>
          </a:prstGeom>
          <a:noFill/>
          <a:ln/>
        </p:spPr>
        <p:txBody>
          <a:bodyPr wrap="square" lIns="0" tIns="0" rIns="0" bIns="0" rtlCol="0" anchor="t"/>
          <a:lstStyle/>
          <a:p>
            <a:pPr marL="0" indent="0">
              <a:buNone/>
            </a:pPr>
            <a:r>
              <a:rPr lang="en-US" sz="2100" b="1" dirty="0">
                <a:solidFill>
                  <a:schemeClr val="tx1"/>
                </a:solidFill>
              </a:rPr>
              <a:t>Add capitals and full stops: sea turtles are in danger people throw plastic into the sea</a:t>
            </a:r>
            <a:endParaRPr lang="en-US" sz="2100" dirty="0"/>
          </a:p>
          <a:p>
            <a:pPr marL="0" indent="0">
              <a:buNone/>
            </a:pPr>
            <a:r>
              <a:rPr lang="en-US" sz="1900" i="1" dirty="0">
                <a:solidFill>
                  <a:schemeClr val="accent1"/>
                </a:solidFill>
              </a:rPr>
              <a:t>✅ Sea turtles are in danger. People throw plastic into the sea.</a:t>
            </a:r>
            <a:endParaRPr lang="en-US" sz="2100" dirty="0"/>
          </a:p>
        </p:txBody>
      </p:sp>
      <p:sp>
        <p:nvSpPr>
          <p:cNvPr id="7" name="Text 4"/>
          <p:cNvSpPr txBox="1"/>
          <p:nvPr/>
        </p:nvSpPr>
        <p:spPr>
          <a:xfrm>
            <a:off x="731520" y="2971800"/>
            <a:ext cx="548640" cy="548640"/>
          </a:xfrm>
          <a:prstGeom prst="ellipse">
            <a:avLst/>
          </a:prstGeom>
          <a:solidFill>
            <a:schemeClr val="accent1"/>
          </a:solid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8" name="Text 5"/>
          <p:cNvSpPr txBox="1"/>
          <p:nvPr/>
        </p:nvSpPr>
        <p:spPr>
          <a:xfrm>
            <a:off x="1554480" y="2880360"/>
            <a:ext cx="9966960" cy="1371600"/>
          </a:xfrm>
          <a:prstGeom prst="rect">
            <a:avLst/>
          </a:prstGeom>
          <a:noFill/>
          <a:ln/>
        </p:spPr>
        <p:txBody>
          <a:bodyPr wrap="square" lIns="0" tIns="0" rIns="0" bIns="0" rtlCol="0" anchor="t"/>
          <a:lstStyle/>
          <a:p>
            <a:pPr marL="0" indent="0">
              <a:buNone/>
            </a:pPr>
            <a:r>
              <a:rPr lang="en-US" sz="2100" b="1" dirty="0">
                <a:solidFill>
                  <a:schemeClr val="tx1"/>
                </a:solidFill>
              </a:rPr>
              <a:t>Fix the verb: It eat tiny creatures called krill.</a:t>
            </a:r>
            <a:endParaRPr lang="en-US" sz="2100" dirty="0"/>
          </a:p>
          <a:p>
            <a:pPr marL="0" indent="0">
              <a:buNone/>
            </a:pPr>
            <a:r>
              <a:rPr lang="en-US" sz="1900" i="1" dirty="0">
                <a:solidFill>
                  <a:schemeClr val="accent1"/>
                </a:solidFill>
              </a:rPr>
              <a:t>✅ It eats tiny creatures called krill.</a:t>
            </a:r>
            <a:endParaRPr lang="en-US" sz="2100" dirty="0"/>
          </a:p>
        </p:txBody>
      </p:sp>
      <p:sp>
        <p:nvSpPr>
          <p:cNvPr id="9" name="Text 6"/>
          <p:cNvSpPr txBox="1"/>
          <p:nvPr/>
        </p:nvSpPr>
        <p:spPr>
          <a:xfrm>
            <a:off x="731520" y="4572000"/>
            <a:ext cx="548640" cy="548640"/>
          </a:xfrm>
          <a:prstGeom prst="ellipse">
            <a:avLst/>
          </a:prstGeom>
          <a:solidFill>
            <a:schemeClr val="accent1"/>
          </a:solid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10" name="Text 7"/>
          <p:cNvSpPr txBox="1"/>
          <p:nvPr/>
        </p:nvSpPr>
        <p:spPr>
          <a:xfrm>
            <a:off x="1554480" y="4480560"/>
            <a:ext cx="9966960" cy="1371600"/>
          </a:xfrm>
          <a:prstGeom prst="rect">
            <a:avLst/>
          </a:prstGeom>
          <a:noFill/>
          <a:ln/>
        </p:spPr>
        <p:txBody>
          <a:bodyPr wrap="square" lIns="0" tIns="0" rIns="0" bIns="0" rtlCol="0" anchor="t"/>
          <a:lstStyle/>
          <a:p>
            <a:pPr marL="0" indent="0">
              <a:buNone/>
            </a:pPr>
            <a:r>
              <a:rPr lang="en-US" sz="2100" b="1" dirty="0">
                <a:solidFill>
                  <a:schemeClr val="tx1"/>
                </a:solidFill>
              </a:rPr>
              <a:t>Why should you not copy the feedback word for word?</a:t>
            </a:r>
            <a:endParaRPr lang="en-US" sz="2100" dirty="0"/>
          </a:p>
          <a:p>
            <a:pPr marL="0" indent="0">
              <a:buNone/>
            </a:pPr>
            <a:r>
              <a:rPr lang="en-US" sz="1900" i="1" dirty="0">
                <a:solidFill>
                  <a:schemeClr val="accent1"/>
                </a:solidFill>
              </a:rPr>
              <a:t>✅ The second draft must be in my own words. The feedback is only a model.</a:t>
            </a:r>
            <a:endParaRPr lang="en-US" sz="2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3" name="Text 0"/>
          <p:cNvSpPr txBox="1"/>
          <p:nvPr/>
        </p:nvSpPr>
        <p:spPr>
          <a:xfrm>
            <a:off x="731520" y="822960"/>
            <a:ext cx="731520" cy="731520"/>
          </a:xfrm>
          <a:prstGeom prst="rect">
            <a:avLst/>
          </a:prstGeom>
          <a:noFill/>
          <a:ln/>
        </p:spPr>
        <p:txBody>
          <a:bodyPr wrap="square" lIns="0" tIns="0" rIns="0" bIns="0" rtlCol="0" anchor="ctr"/>
          <a:lstStyle/>
          <a:p>
            <a:pPr marL="0" indent="0">
              <a:buNone/>
            </a:pPr>
            <a:r>
              <a:rPr lang="en-US" sz="3600" dirty="0">
                <a:solidFill>
                  <a:srgbClr val="000000"/>
                </a:solidFill>
              </a:rPr>
              <a:t>✍️</a:t>
            </a:r>
            <a:endParaRPr lang="en-US" sz="3600" dirty="0"/>
          </a:p>
        </p:txBody>
      </p:sp>
      <p:sp>
        <p:nvSpPr>
          <p:cNvPr id="4" name="Text 1"/>
          <p:cNvSpPr txBox="1"/>
          <p:nvPr/>
        </p:nvSpPr>
        <p:spPr>
          <a:xfrm>
            <a:off x="1645920" y="822960"/>
            <a:ext cx="9601200" cy="731520"/>
          </a:xfrm>
          <a:prstGeom prst="rect">
            <a:avLst/>
          </a:prstGeom>
          <a:noFill/>
          <a:ln/>
        </p:spPr>
        <p:txBody>
          <a:bodyPr wrap="square" lIns="0" tIns="0" rIns="0" bIns="0" rtlCol="0" anchor="ctr"/>
          <a:lstStyle/>
          <a:p>
            <a:pPr marL="0" indent="0">
              <a:buNone/>
            </a:pPr>
            <a:r>
              <a:rPr lang="en-US" sz="3400" b="1" dirty="0">
                <a:solidFill>
                  <a:schemeClr val="bg1"/>
                </a:solidFill>
                <a:latin typeface="+mj-lt" pitchFamily="34" charset="0"/>
                <a:ea typeface="+mj-lt" pitchFamily="34" charset="-122"/>
                <a:cs typeface="+mj-lt" pitchFamily="34" charset="-120"/>
              </a:rPr>
              <a:t>Homework: finish your second draft</a:t>
            </a:r>
            <a:endParaRPr lang="en-US" sz="3400" dirty="0"/>
          </a:p>
        </p:txBody>
      </p:sp>
      <p:sp>
        <p:nvSpPr>
          <p:cNvPr id="5" name="Text 2"/>
          <p:cNvSpPr txBox="1"/>
          <p:nvPr/>
        </p:nvSpPr>
        <p:spPr>
          <a:xfrm>
            <a:off x="822960" y="2011680"/>
            <a:ext cx="10058400" cy="1828800"/>
          </a:xfrm>
          <a:prstGeom prst="rect">
            <a:avLst/>
          </a:prstGeom>
          <a:noFill/>
          <a:ln/>
        </p:spPr>
        <p:txBody>
          <a:bodyPr wrap="square" lIns="0" tIns="0" rIns="0" bIns="0" rtlCol="0" anchor="t"/>
          <a:lstStyle/>
          <a:p>
            <a:pPr marL="342900" indent="-342900">
              <a:spcAft>
                <a:spcPts val="800"/>
              </a:spcAft>
              <a:buSzPct val="100000"/>
              <a:buChar char="•"/>
            </a:pPr>
            <a:r>
              <a:rPr lang="en-US" sz="2400" dirty="0">
                <a:solidFill>
                  <a:schemeClr val="bg1"/>
                </a:solidFill>
              </a:rPr>
              <a:t>Finish your second draft in your own words.</a:t>
            </a:r>
            <a:endParaRPr lang="en-US" sz="2400" dirty="0"/>
          </a:p>
          <a:p>
            <a:pPr marL="342900" indent="-342900">
              <a:spcAft>
                <a:spcPts val="800"/>
              </a:spcAft>
              <a:buSzPct val="100000"/>
              <a:buChar char="•"/>
            </a:pPr>
            <a:r>
              <a:rPr lang="en-US" sz="2400" dirty="0">
                <a:solidFill>
                  <a:schemeClr val="bg1"/>
                </a:solidFill>
              </a:rPr>
              <a:t>Fix your target and tick the success criteria.</a:t>
            </a:r>
            <a:endParaRPr lang="en-US" sz="2400" dirty="0"/>
          </a:p>
          <a:p>
            <a:pPr marL="342900" indent="-342900">
              <a:spcAft>
                <a:spcPts val="800"/>
              </a:spcAft>
              <a:buSzPct val="100000"/>
              <a:buChar char="•"/>
            </a:pPr>
            <a:r>
              <a:rPr lang="en-US" sz="2400" dirty="0">
                <a:solidFill>
                  <a:schemeClr val="bg1"/>
                </a:solidFill>
              </a:rPr>
              <a:t>Read it aloud to someone at home. Does it sound clear and well organised?</a:t>
            </a:r>
            <a:endParaRPr lang="en-US" sz="2400" dirty="0"/>
          </a:p>
        </p:txBody>
      </p:sp>
      <p:sp>
        <p:nvSpPr>
          <p:cNvPr id="6" name="Shape 3"/>
          <p:cNvSpPr/>
          <p:nvPr/>
        </p:nvSpPr>
        <p:spPr>
          <a:xfrm>
            <a:off x="731520" y="4480560"/>
            <a:ext cx="10698480" cy="1371600"/>
          </a:xfrm>
          <a:prstGeom prst="rect">
            <a:avLst/>
          </a:prstGeom>
          <a:solidFill>
            <a:schemeClr val="accent1"/>
          </a:solidFill>
          <a:ln/>
        </p:spPr>
      </p:sp>
      <p:sp>
        <p:nvSpPr>
          <p:cNvPr id="7" name="Text 4"/>
          <p:cNvSpPr txBox="1"/>
          <p:nvPr/>
        </p:nvSpPr>
        <p:spPr>
          <a:xfrm>
            <a:off x="1005840" y="4480560"/>
            <a:ext cx="10149840" cy="1371600"/>
          </a:xfrm>
          <a:prstGeom prst="rect">
            <a:avLst/>
          </a:prstGeom>
          <a:noFill/>
          <a:ln/>
        </p:spPr>
        <p:txBody>
          <a:bodyPr wrap="square" lIns="0" tIns="0" rIns="0" bIns="0" rtlCol="0" anchor="ctr"/>
          <a:lstStyle/>
          <a:p>
            <a:pPr marL="0" indent="0">
              <a:buNone/>
            </a:pPr>
            <a:r>
              <a:rPr lang="en-US" sz="1600" b="1" dirty="0">
                <a:solidFill>
                  <a:schemeClr val="accent2"/>
                </a:solidFill>
              </a:rPr>
              <a:t>NEXT SESSION  </a:t>
            </a:r>
            <a:r>
              <a:rPr lang="en-US" sz="1800" dirty="0">
                <a:solidFill>
                  <a:schemeClr val="bg1"/>
                </a:solidFill>
              </a:rPr>
              <a:t>Final check and publishing: proofreading your second draft and writing it neatly. Bring both drafts.</a:t>
            </a:r>
            <a:endParaRPr lang="en-US" sz="1600" dirty="0"/>
          </a:p>
        </p:txBody>
      </p:sp>
    </p:spTree>
  </p:cSld>
  <p:clrMapOvr>
    <a:masterClrMapping/>
  </p:clrMapOvr>
</p:sld>
</file>

<file path=ppt/theme/theme1.xml><?xml version="1.0" encoding="utf-8"?>
<a:theme xmlns:a="http://schemas.openxmlformats.org/drawingml/2006/main" name="Report Architects">
  <a:themeElements>
    <a:clrScheme name="Report Architects">
      <a:dk1>
        <a:srgbClr val="0B3C49"/>
      </a:dk1>
      <a:lt1>
        <a:srgbClr val="FFFFFF"/>
      </a:lt1>
      <a:dk2>
        <a:srgbClr val="0B3C49"/>
      </a:dk2>
      <a:lt2>
        <a:srgbClr val="F8F0E0"/>
      </a:lt2>
      <a:accent1>
        <a:srgbClr val="2A9D8F"/>
      </a:accent1>
      <a:accent2>
        <a:srgbClr val="F4A261"/>
      </a:accent2>
      <a:accent3>
        <a:srgbClr val="E76F51"/>
      </a:accent3>
      <a:accent4>
        <a:srgbClr val="0B3C49"/>
      </a:accent4>
      <a:accent5>
        <a:srgbClr val="E9C46A"/>
      </a:accent5>
      <a:accent6>
        <a:srgbClr val="7A6BA8"/>
      </a:accent6>
      <a:hlink>
        <a:srgbClr val="2A9D8F"/>
      </a:hlink>
      <a:folHlink>
        <a:srgbClr val="7A6BA8"/>
      </a:folHlink>
    </a:clrScheme>
    <a:fontScheme name="Report Architects">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52</TotalTime>
  <Words>4720</Words>
  <Application>Microsoft Office PowerPoint</Application>
  <PresentationFormat>Widescreen</PresentationFormat>
  <Paragraphs>518</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Georgia</vt:lpstr>
      <vt:lpstr>Report Architects</vt:lpstr>
      <vt:lpstr>PowerPoint Presentation</vt:lpstr>
      <vt:lpstr>Today we will learn to…</vt:lpstr>
      <vt:lpstr>What did we learn?</vt:lpstr>
      <vt:lpstr>PowerPoint Presentation</vt:lpstr>
      <vt:lpstr>What you did well in your first drafts</vt:lpstr>
      <vt:lpstr>What to fix in the second draft</vt:lpstr>
      <vt:lpstr>Fix 1: full stops, capitals and run-ons</vt:lpstr>
      <vt:lpstr>Fix 2: make the verbs agree</vt:lpstr>
      <vt:lpstr>Fix 3: the introduction needs a WHY</vt:lpstr>
      <vt:lpstr>Fix 4: an ending that gives a reason</vt:lpstr>
      <vt:lpstr>Fix 5: sentences, paragraphs and headings</vt:lpstr>
      <vt:lpstr>Fix 6: develop your paragraphs</vt:lpstr>
      <vt:lpstr>Fix 7: precise words and true facts</vt:lpstr>
      <vt:lpstr>Fix 8: spelling topic words</vt:lpstr>
      <vt:lpstr>Use feedback, don’t copy it</vt:lpstr>
      <vt:lpstr>Fix it fast</vt:lpstr>
      <vt:lpstr>Fix it fast: answers</vt:lpstr>
      <vt:lpstr>Your targets for the second draft</vt:lpstr>
      <vt:lpstr>Success criteria for the second draft</vt:lpstr>
      <vt:lpstr>How to write the second draft</vt:lpstr>
      <vt:lpstr>Your turn: write the second draft</vt:lpstr>
      <vt:lpstr>Second draft toolkit</vt:lpstr>
      <vt:lpstr>Partner check</vt:lpstr>
      <vt:lpstr>Plenary: share and reflect</vt:lpstr>
      <vt:lpstr>Exit ticket 🎫</vt:lpstr>
      <vt:lpstr>Exit ticket 🎫</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Report Architects – Session 6: Feedback</dc:title>
  <dc:subject>PptxGenJS Presentation</dc:subject>
  <dc:creator>Year 6 English</dc:creator>
  <cp:lastModifiedBy>pc</cp:lastModifiedBy>
  <cp:revision>2</cp:revision>
  <dcterms:created xsi:type="dcterms:W3CDTF">2026-10-13T20:34:51Z</dcterms:created>
  <dcterms:modified xsi:type="dcterms:W3CDTF">2026-10-13T21:31:13Z</dcterms:modified>
</cp:coreProperties>
</file>