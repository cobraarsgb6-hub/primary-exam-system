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82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LANGUAGE DETECTIVE → WRITER DETECTIVE</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1</a:t>
            </a:r>
          </a:p>
        </p:txBody>
      </p:sp>
      <p:sp>
        <p:nvSpPr>
          <p:cNvPr id="7" name="TextBox 6"/>
          <p:cNvSpPr txBox="1"/>
          <p:nvPr/>
        </p:nvSpPr>
        <p:spPr>
          <a:xfrm>
            <a:off x="731520" y="1645920"/>
            <a:ext cx="10698480" cy="548640"/>
          </a:xfrm>
          <a:prstGeom prst="rect">
            <a:avLst/>
          </a:prstGeom>
          <a:noFill/>
        </p:spPr>
        <p:txBody>
          <a:bodyPr wrap="square" anchor="t">
            <a:spAutoFit/>
          </a:bodyPr>
          <a:lstStyle/>
          <a:p>
            <a:pPr algn="ctr">
              <a:defRPr sz="2700" b="1">
                <a:solidFill>
                  <a:srgbClr val="E6AB36"/>
                </a:solidFill>
                <a:latin typeface="Aptos"/>
              </a:defRPr>
            </a:pPr>
            <a:r>
              <a:t>LANGUAGE IN CONTEXT  +  PURPOSE &amp; AUDIENCE</a:t>
            </a:r>
          </a:p>
        </p:txBody>
      </p:sp>
      <p:sp>
        <p:nvSpPr>
          <p:cNvPr id="8" name="Rounded Rectangle 7"/>
          <p:cNvSpPr/>
          <p:nvPr/>
        </p:nvSpPr>
        <p:spPr>
          <a:xfrm>
            <a:off x="1417320" y="2514600"/>
            <a:ext cx="9372600" cy="2240280"/>
          </a:xfrm>
          <a:prstGeom prst="roundRect">
            <a:avLst/>
          </a:prstGeom>
          <a:solidFill>
            <a:srgbClr val="162643"/>
          </a:solidFill>
          <a:ln>
            <a:solidFill>
              <a:srgbClr val="162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45920" y="2743200"/>
            <a:ext cx="8915400" cy="1691640"/>
          </a:xfrm>
          <a:prstGeom prst="rect">
            <a:avLst/>
          </a:prstGeom>
          <a:noFill/>
        </p:spPr>
        <p:txBody>
          <a:bodyPr wrap="square" anchor="ctr">
            <a:spAutoFit/>
          </a:bodyPr>
          <a:lstStyle/>
          <a:p>
            <a:pPr algn="ctr">
              <a:defRPr sz="2600" b="1">
                <a:solidFill>
                  <a:srgbClr val="FFFFFF"/>
                </a:solidFill>
                <a:latin typeface="Aptos"/>
              </a:defRPr>
            </a:pPr>
            <a:r>
              <a:t>First: understand the writer’s words.</a:t>
            </a:r>
            <a:br/>
            <a:r>
              <a:t>Then: understand why the writer chose them.</a:t>
            </a:r>
            <a:br/>
            <a:r>
              <a:t>Finally: identify who the writer is communicating with.</a:t>
            </a:r>
          </a:p>
        </p:txBody>
      </p:sp>
      <p:sp>
        <p:nvSpPr>
          <p:cNvPr id="10" name="TextBox 9"/>
          <p:cNvSpPr txBox="1"/>
          <p:nvPr/>
        </p:nvSpPr>
        <p:spPr>
          <a:xfrm>
            <a:off x="2011680" y="5166360"/>
            <a:ext cx="8138160" cy="411480"/>
          </a:xfrm>
          <a:prstGeom prst="rect">
            <a:avLst/>
          </a:prstGeom>
          <a:noFill/>
        </p:spPr>
        <p:txBody>
          <a:bodyPr wrap="square" anchor="t">
            <a:spAutoFit/>
          </a:bodyPr>
          <a:lstStyle/>
          <a:p>
            <a:pPr algn="ctr">
              <a:defRPr sz="1800" b="0">
                <a:solidFill>
                  <a:srgbClr val="1F2530"/>
                </a:solidFill>
                <a:latin typeface="Aptos"/>
              </a:defRPr>
            </a:pPr>
            <a:r>
              <a:t>Two running sessions • 45 + 35 minutes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TODAY'S LEARNING MISSION</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2</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74519"/>
            <a:ext cx="10378440" cy="4069080"/>
          </a:xfrm>
          <a:prstGeom prst="rect">
            <a:avLst/>
          </a:prstGeom>
          <a:noFill/>
        </p:spPr>
        <p:txBody>
          <a:bodyPr wrap="square" anchor="t">
            <a:spAutoFit/>
          </a:bodyPr>
          <a:lstStyle/>
          <a:p>
            <a:pPr algn="l">
              <a:defRPr sz="2400" b="0">
                <a:solidFill>
                  <a:srgbClr val="1F2530"/>
                </a:solidFill>
                <a:latin typeface="Aptos"/>
              </a:defRPr>
            </a:pPr>
            <a:r>
              <a:t>By the end of the two sessions, you will be able to:</a:t>
            </a:r>
            <a:br/>
            <a:br/>
            <a:r>
              <a:t>🔎 work out the meaning of unfamiliar words and phrases from context</a:t>
            </a:r>
            <a:br/>
            <a:br/>
            <a:r>
              <a:t>🧩 explain which clues helped you</a:t>
            </a:r>
            <a:br/>
            <a:br/>
            <a:r>
              <a:t>🎯 identify the writer’s main purpose</a:t>
            </a:r>
            <a:br/>
            <a:br/>
            <a:r>
              <a:t>👥 identify the most likely audience</a:t>
            </a:r>
            <a:br/>
            <a:br/>
            <a:r>
              <a:t>🧠 explain how the writer’s choices help the text reach its audience.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STARTER — A WORD YOU DON'T KNOW</a:t>
            </a:r>
          </a:p>
        </p:txBody>
      </p:sp>
      <p:sp>
        <p:nvSpPr>
          <p:cNvPr id="6" name="TextBox 5"/>
          <p:cNvSpPr txBox="1"/>
          <p:nvPr/>
        </p:nvSpPr>
        <p:spPr>
          <a:xfrm>
            <a:off x="566928" y="1234440"/>
            <a:ext cx="10972800" cy="365760"/>
          </a:xfrm>
          <a:prstGeom prst="rect">
            <a:avLst/>
          </a:prstGeom>
          <a:noFill/>
        </p:spPr>
        <p:txBody>
          <a:bodyPr wrap="square" anchor="t">
            <a:spAutoFit/>
          </a:bodyPr>
          <a:lstStyle/>
          <a:p>
            <a:pPr algn="l">
              <a:defRPr sz="1700" b="0">
                <a:solidFill>
                  <a:srgbClr val="1C7E81"/>
                </a:solidFill>
                <a:latin typeface="Aptos"/>
              </a:defRPr>
            </a:pPr>
            <a:r>
              <a:t>SESSION 1 • 5 MINUTES</a:t>
            </a:r>
          </a:p>
        </p:txBody>
      </p:sp>
      <p:sp>
        <p:nvSpPr>
          <p:cNvPr id="7" name="TextBox 6"/>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3</a:t>
            </a:r>
          </a:p>
        </p:txBody>
      </p:sp>
      <p:sp>
        <p:nvSpPr>
          <p:cNvPr id="8" name="Rounded Rectangle 7"/>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874519"/>
            <a:ext cx="10378440" cy="4069080"/>
          </a:xfrm>
          <a:prstGeom prst="rect">
            <a:avLst/>
          </a:prstGeom>
          <a:noFill/>
        </p:spPr>
        <p:txBody>
          <a:bodyPr wrap="square" anchor="t">
            <a:spAutoFit/>
          </a:bodyPr>
          <a:lstStyle/>
          <a:p>
            <a:r>
              <a:t>Read the sentence:</a:t>
            </a:r>
          </a:p>
          <a:p>
            <a:endParaRPr/>
          </a:p>
          <a:p>
            <a:r>
              <a:t>“The afternoon was sweltering, so families searched for shady places to sit.”</a:t>
            </a:r>
          </a:p>
          <a:p>
            <a:endParaRPr/>
          </a:p>
          <a:p>
            <a:r>
              <a:t>You do NOT know the word “sweltering”.</a:t>
            </a:r>
          </a:p>
          <a:p>
            <a:endParaRPr/>
          </a:p>
          <a:p>
            <a:r>
              <a:t>What does it most likely mean?</a:t>
            </a:r>
          </a:p>
          <a:p>
            <a:endParaRPr/>
          </a:p>
          <a:p>
            <a:r>
              <a:t>A. Very cold</a:t>
            </a:r>
          </a:p>
          <a:p>
            <a:r>
              <a:t>B. Extremely hot</a:t>
            </a:r>
          </a:p>
          <a:p>
            <a:r>
              <a:t>C. Very quiet</a:t>
            </a:r>
          </a:p>
          <a:p>
            <a:r>
              <a:t>D. Slightly warm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STARTER — ANSWER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4</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2103120" cy="365760"/>
          </a:xfrm>
          <a:prstGeom prst="rect">
            <a:avLst/>
          </a:prstGeom>
          <a:noFill/>
        </p:spPr>
        <p:txBody>
          <a:bodyPr wrap="square" anchor="t">
            <a:spAutoFit/>
          </a:bodyPr>
          <a:lstStyle/>
          <a:p>
            <a:pPr algn="l">
              <a:defRPr sz="1800" b="1">
                <a:solidFill>
                  <a:srgbClr val="318558"/>
                </a:solidFill>
                <a:latin typeface="Aptos"/>
              </a:defRPr>
            </a:pPr>
            <a:r>
              <a:t>✓ ANSWER</a:t>
            </a:r>
          </a:p>
        </p:txBody>
      </p:sp>
      <p:sp>
        <p:nvSpPr>
          <p:cNvPr id="9" name="TextBox 8"/>
          <p:cNvSpPr txBox="1"/>
          <p:nvPr/>
        </p:nvSpPr>
        <p:spPr>
          <a:xfrm>
            <a:off x="868680" y="2350008"/>
            <a:ext cx="10378440" cy="3611880"/>
          </a:xfrm>
          <a:prstGeom prst="rect">
            <a:avLst/>
          </a:prstGeom>
          <a:noFill/>
        </p:spPr>
        <p:txBody>
          <a:bodyPr wrap="square" anchor="t">
            <a:spAutoFit/>
          </a:bodyPr>
          <a:lstStyle/>
          <a:p>
            <a:r>
              <a:t>C. Extremely hot.</a:t>
            </a:r>
            <a:br/>
            <a:br/>
            <a:r>
              <a:t>Look at the clue: “families searched for shady places to sit.”</a:t>
            </a:r>
            <a:br/>
            <a:br/>
            <a:r>
              <a:t>People usually look for shade when the weather is very hot.</a:t>
            </a:r>
            <a:br/>
            <a:br/>
            <a:r>
              <a:t>⭐ We did not need a dictionary. We used the words around the unfamiliar word.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WHAT DOES “LANGUAGE IN CONTEXT” MEAN?</a:t>
            </a:r>
          </a:p>
        </p:txBody>
      </p:sp>
      <p:sp>
        <p:nvSpPr>
          <p:cNvPr id="6" name="TextBox 5"/>
          <p:cNvSpPr txBox="1"/>
          <p:nvPr/>
        </p:nvSpPr>
        <p:spPr>
          <a:xfrm>
            <a:off x="566928" y="1234440"/>
            <a:ext cx="10972800" cy="365760"/>
          </a:xfrm>
          <a:prstGeom prst="rect">
            <a:avLst/>
          </a:prstGeom>
          <a:noFill/>
        </p:spPr>
        <p:txBody>
          <a:bodyPr wrap="square" anchor="t">
            <a:spAutoFit/>
          </a:bodyPr>
          <a:lstStyle/>
          <a:p>
            <a:pPr algn="l">
              <a:defRPr sz="1700" b="0">
                <a:solidFill>
                  <a:srgbClr val="1C7E81"/>
                </a:solidFill>
                <a:latin typeface="Aptos"/>
              </a:defRPr>
            </a:pPr>
            <a:r>
              <a:t>EXPLICIT TEACHING</a:t>
            </a:r>
          </a:p>
        </p:txBody>
      </p:sp>
      <p:sp>
        <p:nvSpPr>
          <p:cNvPr id="7" name="TextBox 6"/>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5</a:t>
            </a:r>
          </a:p>
        </p:txBody>
      </p:sp>
      <p:sp>
        <p:nvSpPr>
          <p:cNvPr id="8" name="Rounded Rectangle 7"/>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874519"/>
            <a:ext cx="10378440" cy="3416320"/>
          </a:xfrm>
          <a:prstGeom prst="rect">
            <a:avLst/>
          </a:prstGeom>
          <a:noFill/>
        </p:spPr>
        <p:txBody>
          <a:bodyPr wrap="square" anchor="t">
            <a:spAutoFit/>
          </a:bodyPr>
          <a:lstStyle/>
          <a:p>
            <a:pPr algn="l">
              <a:defRPr sz="2400" b="0">
                <a:solidFill>
                  <a:srgbClr val="1F2530"/>
                </a:solidFill>
                <a:latin typeface="Aptos"/>
              </a:defRPr>
            </a:pPr>
            <a:r>
              <a:rPr dirty="0"/>
              <a:t>Sometimes a writer uses a word or phrase that you do not know.</a:t>
            </a:r>
            <a:br>
              <a:rPr dirty="0"/>
            </a:br>
            <a:br>
              <a:rPr dirty="0"/>
            </a:br>
            <a:r>
              <a:rPr dirty="0"/>
              <a:t>Instead of stopping immediately, use the CONTEXT — the words and ideas around it — to work out the meaning.</a:t>
            </a:r>
            <a:br>
              <a:rPr dirty="0"/>
            </a:br>
            <a:br>
              <a:rPr dirty="0"/>
            </a:br>
            <a:r>
              <a:rPr b="1" dirty="0"/>
              <a:t>Think</a:t>
            </a:r>
            <a:r>
              <a:rPr dirty="0"/>
              <a:t>:</a:t>
            </a:r>
            <a:br>
              <a:rPr dirty="0"/>
            </a:br>
            <a:br>
              <a:rPr dirty="0"/>
            </a:br>
            <a:r>
              <a:rPr dirty="0"/>
              <a:t>UNKNOWN WORD → LOOK AROUND → FIND CLUES</a:t>
            </a:r>
            <a:r>
              <a:rPr lang="en-US" dirty="0"/>
              <a:t>                                                      </a:t>
            </a:r>
            <a:r>
              <a:rPr dirty="0"/>
              <a:t> → WORK OUT MEANING → CHECK IT MAKES SENSE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WHY DO WE USE CONTEXT?</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6</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74519"/>
            <a:ext cx="10378440" cy="4069080"/>
          </a:xfrm>
          <a:prstGeom prst="rect">
            <a:avLst/>
          </a:prstGeom>
          <a:noFill/>
        </p:spPr>
        <p:txBody>
          <a:bodyPr wrap="square" anchor="t">
            <a:spAutoFit/>
          </a:bodyPr>
          <a:lstStyle/>
          <a:p>
            <a:pPr algn="l">
              <a:defRPr sz="2400" b="0">
                <a:solidFill>
                  <a:srgbClr val="1F2530"/>
                </a:solidFill>
                <a:latin typeface="Aptos"/>
              </a:defRPr>
            </a:pPr>
            <a:r>
              <a:t>A dictionary can give a definition, but in a reading question you need to understand what the word means IN THIS TEXT.</a:t>
            </a:r>
            <a:br/>
            <a:br/>
            <a:r>
              <a:t>The same word can have different meanings in different contexts.</a:t>
            </a:r>
            <a:br/>
            <a:br/>
            <a:r>
              <a:t>So ask:</a:t>
            </a:r>
            <a:br/>
            <a:br/>
            <a:r>
              <a:t>“Which meaning makes sense HERE?”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THE 5-STEP CONTEXT ROUTINE</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7</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74519"/>
            <a:ext cx="10378440" cy="4069080"/>
          </a:xfrm>
          <a:prstGeom prst="rect">
            <a:avLst/>
          </a:prstGeom>
          <a:noFill/>
        </p:spPr>
        <p:txBody>
          <a:bodyPr wrap="square" anchor="t">
            <a:spAutoFit/>
          </a:bodyPr>
          <a:lstStyle/>
          <a:p>
            <a:pPr algn="l">
              <a:defRPr sz="2400" b="0">
                <a:solidFill>
                  <a:srgbClr val="1F2530"/>
                </a:solidFill>
                <a:latin typeface="Aptos"/>
              </a:defRPr>
            </a:pPr>
            <a:r>
              <a:t>① Read the whole sentence.</a:t>
            </a:r>
            <a:br/>
            <a:br/>
            <a:r>
              <a:t>② Read the sentence before and after it.</a:t>
            </a:r>
            <a:br/>
            <a:br/>
            <a:r>
              <a:t>③ Look for clues: examples, explanations, contrasts, results or nearby words.</a:t>
            </a:r>
            <a:br/>
            <a:br/>
            <a:r>
              <a:t>④ Replace the word with your possible meaning.</a:t>
            </a:r>
            <a:br/>
            <a:br/>
            <a:r>
              <a:t>⑤ Check: Does the sentence still make sense?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CONTEXT CLUES — WHAT SHOULD I LOOK FOR?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8</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0560" y="1240112"/>
            <a:ext cx="10378440" cy="4069080"/>
          </a:xfrm>
          <a:prstGeom prst="rect">
            <a:avLst/>
          </a:prstGeom>
          <a:noFill/>
        </p:spPr>
        <p:txBody>
          <a:bodyPr wrap="square" anchor="t">
            <a:spAutoFit/>
          </a:bodyPr>
          <a:lstStyle/>
          <a:p>
            <a:pPr algn="l">
              <a:defRPr sz="2300" b="0">
                <a:solidFill>
                  <a:srgbClr val="1F2530"/>
                </a:solidFill>
                <a:latin typeface="Aptos"/>
              </a:defRPr>
            </a:pPr>
            <a:r>
              <a:rPr dirty="0"/>
              <a:t>🔹 DEFINITION / EXPLANATION</a:t>
            </a:r>
            <a:br>
              <a:rPr dirty="0"/>
            </a:br>
            <a:r>
              <a:rPr dirty="0"/>
              <a:t>The writer explains the word.</a:t>
            </a:r>
            <a:br>
              <a:rPr dirty="0"/>
            </a:br>
            <a:br>
              <a:rPr dirty="0"/>
            </a:br>
            <a:r>
              <a:rPr dirty="0"/>
              <a:t>🔹 EXAMPLE</a:t>
            </a:r>
            <a:br>
              <a:rPr dirty="0"/>
            </a:br>
            <a:r>
              <a:rPr dirty="0"/>
              <a:t>The writer gives an example of it.</a:t>
            </a:r>
            <a:br>
              <a:rPr dirty="0"/>
            </a:br>
            <a:br>
              <a:rPr dirty="0"/>
            </a:br>
            <a:r>
              <a:rPr dirty="0"/>
              <a:t>🔹 SYNONYM / SIMILAR IDEA</a:t>
            </a:r>
            <a:br>
              <a:rPr dirty="0"/>
            </a:br>
            <a:r>
              <a:rPr dirty="0"/>
              <a:t>Another word gives a similar meaning.</a:t>
            </a:r>
            <a:br>
              <a:rPr dirty="0"/>
            </a:br>
            <a:br>
              <a:rPr dirty="0"/>
            </a:br>
            <a:r>
              <a:rPr dirty="0"/>
              <a:t>🔹 CONTRAST</a:t>
            </a:r>
            <a:br>
              <a:rPr dirty="0"/>
            </a:br>
            <a:r>
              <a:rPr dirty="0"/>
              <a:t>The writer shows an opposite idea.</a:t>
            </a:r>
            <a:br>
              <a:rPr dirty="0"/>
            </a:br>
            <a:br>
              <a:rPr dirty="0"/>
            </a:br>
            <a:r>
              <a:rPr dirty="0"/>
              <a:t>🔹 CAUSE / EFFECT</a:t>
            </a:r>
            <a:br>
              <a:rPr dirty="0"/>
            </a:br>
            <a:r>
              <a:rPr dirty="0"/>
              <a:t>The result helps you understand the word.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TEACHER MODEL — THINK ALOUD</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9</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271016"/>
            <a:ext cx="11198506" cy="4693593"/>
          </a:xfrm>
          <a:prstGeom prst="rect">
            <a:avLst/>
          </a:prstGeom>
          <a:noFill/>
        </p:spPr>
        <p:txBody>
          <a:bodyPr wrap="square" anchor="t">
            <a:spAutoFit/>
          </a:bodyPr>
          <a:lstStyle/>
          <a:p>
            <a:pPr algn="l">
              <a:defRPr sz="2300" b="0">
                <a:solidFill>
                  <a:srgbClr val="1F2530"/>
                </a:solidFill>
                <a:latin typeface="Aptos"/>
              </a:defRPr>
            </a:pPr>
            <a:r>
              <a:rPr dirty="0"/>
              <a:t>Read:</a:t>
            </a:r>
            <a:br>
              <a:rPr dirty="0"/>
            </a:br>
            <a:br>
              <a:rPr dirty="0"/>
            </a:br>
            <a:r>
              <a:rPr dirty="0"/>
              <a:t>“The path was slippery after the heavy rain, so Maya walked slowly and held the railing.”</a:t>
            </a:r>
            <a:br>
              <a:rPr dirty="0"/>
            </a:br>
            <a:br>
              <a:rPr dirty="0"/>
            </a:br>
            <a:r>
              <a:rPr dirty="0"/>
              <a:t>Unknown word: SLIPPERY</a:t>
            </a:r>
            <a:br>
              <a:rPr dirty="0"/>
            </a:br>
            <a:br>
              <a:rPr dirty="0"/>
            </a:br>
            <a:r>
              <a:rPr dirty="0"/>
              <a:t>I ask myself:</a:t>
            </a:r>
            <a:br>
              <a:rPr dirty="0"/>
            </a:br>
            <a:r>
              <a:rPr dirty="0"/>
              <a:t>1. What happened before?</a:t>
            </a:r>
            <a:br>
              <a:rPr dirty="0"/>
            </a:br>
            <a:r>
              <a:rPr dirty="0"/>
              <a:t>2. What did Maya do?</a:t>
            </a:r>
            <a:br>
              <a:rPr dirty="0"/>
            </a:br>
            <a:r>
              <a:rPr dirty="0"/>
              <a:t>3. What meaning fits both clues?</a:t>
            </a:r>
            <a:br>
              <a:rPr dirty="0"/>
            </a:br>
            <a:br>
              <a:rPr dirty="0"/>
            </a:br>
            <a:r>
              <a:rPr dirty="0"/>
              <a:t>I think: If she walked slowly and held the railing, the path was probably difficult to walk on safely.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TEACHER MODEL — ANSWER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10</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2103120" cy="365760"/>
          </a:xfrm>
          <a:prstGeom prst="rect">
            <a:avLst/>
          </a:prstGeom>
          <a:noFill/>
        </p:spPr>
        <p:txBody>
          <a:bodyPr wrap="square" anchor="t">
            <a:spAutoFit/>
          </a:bodyPr>
          <a:lstStyle/>
          <a:p>
            <a:pPr algn="l">
              <a:defRPr sz="1800" b="1">
                <a:solidFill>
                  <a:srgbClr val="318558"/>
                </a:solidFill>
                <a:latin typeface="Aptos"/>
              </a:defRPr>
            </a:pPr>
            <a:r>
              <a:t>✓ ANSWER</a:t>
            </a:r>
          </a:p>
        </p:txBody>
      </p:sp>
      <p:sp>
        <p:nvSpPr>
          <p:cNvPr id="9" name="TextBox 8"/>
          <p:cNvSpPr txBox="1"/>
          <p:nvPr/>
        </p:nvSpPr>
        <p:spPr>
          <a:xfrm>
            <a:off x="868680" y="2350008"/>
            <a:ext cx="10378440" cy="3611880"/>
          </a:xfrm>
          <a:prstGeom prst="rect">
            <a:avLst/>
          </a:prstGeom>
          <a:noFill/>
        </p:spPr>
        <p:txBody>
          <a:bodyPr wrap="square" anchor="t">
            <a:spAutoFit/>
          </a:bodyPr>
          <a:lstStyle/>
          <a:p>
            <a:pPr algn="l">
              <a:defRPr sz="2300" b="0">
                <a:solidFill>
                  <a:srgbClr val="1F2530"/>
                </a:solidFill>
                <a:latin typeface="Aptos"/>
              </a:defRPr>
            </a:pPr>
            <a:r>
              <a:t>“Slippery” means difficult to walk on safely because it is easy to slide.</a:t>
            </a:r>
            <a:br/>
            <a:br/>
            <a:r>
              <a:t>CLUES:</a:t>
            </a:r>
            <a:br/>
            <a:r>
              <a:t>• heavy rain</a:t>
            </a:r>
            <a:br/>
            <a:r>
              <a:t>• Maya walked slowly</a:t>
            </a:r>
            <a:br/>
            <a:r>
              <a:t>• Maya held the railing</a:t>
            </a:r>
            <a:br/>
            <a:br/>
            <a:r>
              <a:t>⭐ The answer comes from combining the clues, not from guessing one word in isolation.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WE DO — TRY IT TOGETHER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11</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74519"/>
            <a:ext cx="10378440" cy="2585323"/>
          </a:xfrm>
          <a:prstGeom prst="rect">
            <a:avLst/>
          </a:prstGeom>
          <a:noFill/>
        </p:spPr>
        <p:txBody>
          <a:bodyPr wrap="square" anchor="t">
            <a:spAutoFit/>
          </a:bodyPr>
          <a:lstStyle/>
          <a:p>
            <a:r>
              <a:rPr dirty="0"/>
              <a:t>“The museum was </a:t>
            </a:r>
            <a:r>
              <a:rPr b="1" dirty="0"/>
              <a:t>bustling</a:t>
            </a:r>
            <a:r>
              <a:rPr dirty="0"/>
              <a:t> with visitors. People moved from room to room, children pointed at displays and guides answered questions.”</a:t>
            </a:r>
          </a:p>
          <a:p>
            <a:endParaRPr dirty="0"/>
          </a:p>
          <a:p>
            <a:r>
              <a:rPr dirty="0"/>
              <a:t>What does “</a:t>
            </a:r>
            <a:r>
              <a:rPr b="1" dirty="0"/>
              <a:t>bustling</a:t>
            </a:r>
            <a:r>
              <a:rPr dirty="0"/>
              <a:t>” most likely mean?</a:t>
            </a:r>
          </a:p>
          <a:p>
            <a:endParaRPr dirty="0"/>
          </a:p>
          <a:p>
            <a:r>
              <a:rPr dirty="0"/>
              <a:t>A. Completely empty and silent</a:t>
            </a:r>
          </a:p>
          <a:p>
            <a:r>
              <a:rPr dirty="0"/>
              <a:t>B. Closed for the day</a:t>
            </a:r>
          </a:p>
          <a:p>
            <a:r>
              <a:rPr dirty="0"/>
              <a:t>C. Difficult to find</a:t>
            </a:r>
          </a:p>
          <a:p>
            <a:r>
              <a:rPr dirty="0"/>
              <a:t>D. Busy and full of activity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WE DO — ANSWER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12</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2103120" cy="365760"/>
          </a:xfrm>
          <a:prstGeom prst="rect">
            <a:avLst/>
          </a:prstGeom>
          <a:noFill/>
        </p:spPr>
        <p:txBody>
          <a:bodyPr wrap="square" anchor="t">
            <a:spAutoFit/>
          </a:bodyPr>
          <a:lstStyle/>
          <a:p>
            <a:pPr algn="l">
              <a:defRPr sz="1800" b="1">
                <a:solidFill>
                  <a:srgbClr val="318558"/>
                </a:solidFill>
                <a:latin typeface="Aptos"/>
              </a:defRPr>
            </a:pPr>
            <a:r>
              <a:t>✓ ANSWER</a:t>
            </a:r>
          </a:p>
        </p:txBody>
      </p:sp>
      <p:sp>
        <p:nvSpPr>
          <p:cNvPr id="9" name="TextBox 8"/>
          <p:cNvSpPr txBox="1"/>
          <p:nvPr/>
        </p:nvSpPr>
        <p:spPr>
          <a:xfrm>
            <a:off x="868680" y="2350008"/>
            <a:ext cx="10378440" cy="3611880"/>
          </a:xfrm>
          <a:prstGeom prst="rect">
            <a:avLst/>
          </a:prstGeom>
          <a:noFill/>
        </p:spPr>
        <p:txBody>
          <a:bodyPr wrap="square" anchor="t">
            <a:spAutoFit/>
          </a:bodyPr>
          <a:lstStyle/>
          <a:p>
            <a:r>
              <a:t>D. Busy and full of activity.</a:t>
            </a:r>
            <a:br/>
            <a:br/>
            <a:r>
              <a:t>CLUES:</a:t>
            </a:r>
            <a:br/>
            <a:r>
              <a:t>• many visitors</a:t>
            </a:r>
            <a:br/>
            <a:r>
              <a:t>• people moving from room to room</a:t>
            </a:r>
            <a:br/>
            <a:r>
              <a:t>• children pointing</a:t>
            </a:r>
            <a:br/>
            <a:r>
              <a:t>• guides answering questions</a:t>
            </a:r>
            <a:br/>
            <a:br/>
            <a:r>
              <a:t>All the details show a place that is active and busy.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YOU DO — QUICK PRACTICE</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13</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74519"/>
            <a:ext cx="10378440" cy="2585323"/>
          </a:xfrm>
          <a:prstGeom prst="rect">
            <a:avLst/>
          </a:prstGeom>
          <a:noFill/>
        </p:spPr>
        <p:txBody>
          <a:bodyPr wrap="square" anchor="t">
            <a:spAutoFit/>
          </a:bodyPr>
          <a:lstStyle/>
          <a:p>
            <a:r>
              <a:rPr dirty="0"/>
              <a:t>“The instructions were </a:t>
            </a:r>
            <a:r>
              <a:rPr b="1" dirty="0"/>
              <a:t>vague</a:t>
            </a:r>
            <a:r>
              <a:rPr dirty="0"/>
              <a:t>, so the students were unsure what they were supposed to do. The teacher added two clear examples to make the task easier.”</a:t>
            </a:r>
          </a:p>
          <a:p>
            <a:endParaRPr dirty="0"/>
          </a:p>
          <a:p>
            <a:r>
              <a:rPr dirty="0"/>
              <a:t>What does “</a:t>
            </a:r>
            <a:r>
              <a:rPr b="1" dirty="0"/>
              <a:t>vague</a:t>
            </a:r>
            <a:r>
              <a:rPr dirty="0"/>
              <a:t>” most likely mean?</a:t>
            </a:r>
          </a:p>
          <a:p>
            <a:endParaRPr dirty="0"/>
          </a:p>
          <a:p>
            <a:r>
              <a:rPr dirty="0"/>
              <a:t>A. Unclear or not specific</a:t>
            </a:r>
          </a:p>
          <a:p>
            <a:r>
              <a:rPr dirty="0"/>
              <a:t>B. Clear and detailed</a:t>
            </a:r>
          </a:p>
          <a:p>
            <a:r>
              <a:rPr dirty="0"/>
              <a:t>C. Exciting and entertaining</a:t>
            </a:r>
          </a:p>
          <a:p>
            <a:r>
              <a:rPr dirty="0"/>
              <a:t>D. Very short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YOU DO — ANSWER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14</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2103120" cy="365760"/>
          </a:xfrm>
          <a:prstGeom prst="rect">
            <a:avLst/>
          </a:prstGeom>
          <a:noFill/>
        </p:spPr>
        <p:txBody>
          <a:bodyPr wrap="square" anchor="t">
            <a:spAutoFit/>
          </a:bodyPr>
          <a:lstStyle/>
          <a:p>
            <a:pPr algn="l">
              <a:defRPr sz="1800" b="1">
                <a:solidFill>
                  <a:srgbClr val="318558"/>
                </a:solidFill>
                <a:latin typeface="Aptos"/>
              </a:defRPr>
            </a:pPr>
            <a:r>
              <a:t>✓ ANSWER</a:t>
            </a:r>
          </a:p>
        </p:txBody>
      </p:sp>
      <p:sp>
        <p:nvSpPr>
          <p:cNvPr id="9" name="TextBox 8"/>
          <p:cNvSpPr txBox="1"/>
          <p:nvPr/>
        </p:nvSpPr>
        <p:spPr>
          <a:xfrm>
            <a:off x="868680" y="2350008"/>
            <a:ext cx="10378440" cy="3611880"/>
          </a:xfrm>
          <a:prstGeom prst="rect">
            <a:avLst/>
          </a:prstGeom>
          <a:noFill/>
        </p:spPr>
        <p:txBody>
          <a:bodyPr wrap="square" anchor="t">
            <a:spAutoFit/>
          </a:bodyPr>
          <a:lstStyle/>
          <a:p>
            <a:r>
              <a:t>A. Unclear or not specific.</a:t>
            </a:r>
            <a:br/>
            <a:br/>
            <a:r>
              <a:t>The strongest clue is:</a:t>
            </a:r>
            <a:br/>
            <a:r>
              <a:t>“the students were unsure what they were supposed to do.”</a:t>
            </a:r>
            <a:br/>
            <a:br/>
            <a:r>
              <a:t>The teacher then added “clear examples”, which contrasts with the original vague instructions.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NOW WE APPLY THE ROUTINE TO A FULL ARTICLE</a:t>
            </a:r>
          </a:p>
        </p:txBody>
      </p:sp>
      <p:sp>
        <p:nvSpPr>
          <p:cNvPr id="6" name="TextBox 5"/>
          <p:cNvSpPr txBox="1"/>
          <p:nvPr/>
        </p:nvSpPr>
        <p:spPr>
          <a:xfrm>
            <a:off x="566928" y="1234440"/>
            <a:ext cx="10972800" cy="365760"/>
          </a:xfrm>
          <a:prstGeom prst="rect">
            <a:avLst/>
          </a:prstGeom>
          <a:noFill/>
        </p:spPr>
        <p:txBody>
          <a:bodyPr wrap="square" anchor="t">
            <a:spAutoFit/>
          </a:bodyPr>
          <a:lstStyle/>
          <a:p>
            <a:pPr algn="l">
              <a:defRPr sz="1700" b="0">
                <a:solidFill>
                  <a:srgbClr val="1C7E81"/>
                </a:solidFill>
                <a:latin typeface="Aptos"/>
              </a:defRPr>
            </a:pPr>
            <a:r>
              <a:t>READING TEXT</a:t>
            </a:r>
          </a:p>
        </p:txBody>
      </p:sp>
      <p:sp>
        <p:nvSpPr>
          <p:cNvPr id="7" name="TextBox 6"/>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15</a:t>
            </a:r>
          </a:p>
        </p:txBody>
      </p:sp>
      <p:sp>
        <p:nvSpPr>
          <p:cNvPr id="8" name="Rounded Rectangle 7"/>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874519"/>
            <a:ext cx="10378440" cy="4069080"/>
          </a:xfrm>
          <a:prstGeom prst="rect">
            <a:avLst/>
          </a:prstGeom>
          <a:noFill/>
        </p:spPr>
        <p:txBody>
          <a:bodyPr wrap="square" anchor="t">
            <a:spAutoFit/>
          </a:bodyPr>
          <a:lstStyle/>
          <a:p>
            <a:pPr algn="l">
              <a:defRPr sz="2400" b="0">
                <a:solidFill>
                  <a:srgbClr val="1F2530"/>
                </a:solidFill>
                <a:latin typeface="Aptos"/>
              </a:defRPr>
            </a:pPr>
            <a:r>
              <a:t>You are now ready to use the strategy independently.</a:t>
            </a:r>
            <a:br/>
            <a:br/>
            <a:r>
              <a:t>As you read, do NOT stop at every unfamiliar word.</a:t>
            </a:r>
            <a:br/>
            <a:br/>
            <a:r>
              <a:t>Instead:</a:t>
            </a:r>
            <a:br/>
            <a:br/>
            <a:r>
              <a:t>① Read the sentence.</a:t>
            </a:r>
            <a:br/>
            <a:r>
              <a:t>② Look around it.</a:t>
            </a:r>
            <a:br/>
            <a:r>
              <a:t>③ Find the clue.</a:t>
            </a:r>
            <a:br/>
            <a:r>
              <a:t>④ Work out the meaning.</a:t>
            </a:r>
            <a:br/>
            <a:r>
              <a:t>⑤ Keep reading and check your idea.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READING TEXT — MEET THE ARTICLE</a:t>
            </a:r>
          </a:p>
        </p:txBody>
      </p:sp>
      <p:sp>
        <p:nvSpPr>
          <p:cNvPr id="6" name="TextBox 5"/>
          <p:cNvSpPr txBox="1"/>
          <p:nvPr/>
        </p:nvSpPr>
        <p:spPr>
          <a:xfrm>
            <a:off x="566928" y="1234440"/>
            <a:ext cx="10972800" cy="365760"/>
          </a:xfrm>
          <a:prstGeom prst="rect">
            <a:avLst/>
          </a:prstGeom>
          <a:noFill/>
        </p:spPr>
        <p:txBody>
          <a:bodyPr wrap="square" anchor="t">
            <a:spAutoFit/>
          </a:bodyPr>
          <a:lstStyle/>
          <a:p>
            <a:pPr algn="l">
              <a:defRPr sz="1700" b="0">
                <a:solidFill>
                  <a:srgbClr val="1C7E81"/>
                </a:solidFill>
                <a:latin typeface="Aptos"/>
              </a:defRPr>
            </a:pPr>
            <a:r>
              <a:t>NEW NON-FICTION TEXT</a:t>
            </a:r>
          </a:p>
        </p:txBody>
      </p:sp>
      <p:sp>
        <p:nvSpPr>
          <p:cNvPr id="7" name="TextBox 6"/>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16</a:t>
            </a:r>
          </a:p>
        </p:txBody>
      </p:sp>
      <p:sp>
        <p:nvSpPr>
          <p:cNvPr id="8" name="Rounded Rectangle 7"/>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874519"/>
            <a:ext cx="10378440" cy="4069080"/>
          </a:xfrm>
          <a:prstGeom prst="rect">
            <a:avLst/>
          </a:prstGeom>
          <a:noFill/>
        </p:spPr>
        <p:txBody>
          <a:bodyPr wrap="square" anchor="t">
            <a:spAutoFit/>
          </a:bodyPr>
          <a:lstStyle/>
          <a:p>
            <a:pPr algn="l">
              <a:defRPr sz="2200" b="0">
                <a:solidFill>
                  <a:srgbClr val="1F2530"/>
                </a:solidFill>
                <a:latin typeface="Aptos"/>
              </a:defRPr>
            </a:pPr>
            <a:r>
              <a:t># WHEN A SCHOOL TURNS ITS ROOFTOP INTO A GARDEN</a:t>
            </a:r>
            <a:br/>
            <a:br/>
            <a:r>
              <a:t>A rooftop can seem like an empty space, but one school discovered that it could become much more. Instead of leaving its flat roof unused, the school created a small rooftop garden where students can grow plants, observe insects and learn about the environment.</a:t>
            </a:r>
            <a:br/>
            <a:br/>
            <a:r>
              <a:t>Why did the school make this unusual change? Read on to find out.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ARTICLE — PART 1</a:t>
            </a:r>
          </a:p>
        </p:txBody>
      </p:sp>
      <p:sp>
        <p:nvSpPr>
          <p:cNvPr id="6" name="TextBox 5"/>
          <p:cNvSpPr txBox="1"/>
          <p:nvPr/>
        </p:nvSpPr>
        <p:spPr>
          <a:xfrm>
            <a:off x="566928" y="1234440"/>
            <a:ext cx="10972800" cy="365760"/>
          </a:xfrm>
          <a:prstGeom prst="rect">
            <a:avLst/>
          </a:prstGeom>
          <a:noFill/>
        </p:spPr>
        <p:txBody>
          <a:bodyPr wrap="square" anchor="t">
            <a:spAutoFit/>
          </a:bodyPr>
          <a:lstStyle/>
          <a:p>
            <a:pPr algn="l">
              <a:defRPr sz="1700" b="0">
                <a:solidFill>
                  <a:srgbClr val="1C7E81"/>
                </a:solidFill>
                <a:latin typeface="Aptos"/>
              </a:defRPr>
            </a:pPr>
            <a:r>
              <a:t>WHY USE THE ROOFTOP?</a:t>
            </a:r>
          </a:p>
        </p:txBody>
      </p:sp>
      <p:sp>
        <p:nvSpPr>
          <p:cNvPr id="7" name="TextBox 6"/>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17</a:t>
            </a:r>
          </a:p>
        </p:txBody>
      </p:sp>
      <p:sp>
        <p:nvSpPr>
          <p:cNvPr id="8" name="Rounded Rectangle 7"/>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874519"/>
            <a:ext cx="10378440" cy="4069080"/>
          </a:xfrm>
          <a:prstGeom prst="rect">
            <a:avLst/>
          </a:prstGeom>
          <a:noFill/>
        </p:spPr>
        <p:txBody>
          <a:bodyPr wrap="square" anchor="t">
            <a:spAutoFit/>
          </a:bodyPr>
          <a:lstStyle/>
          <a:p>
            <a:pPr algn="l">
              <a:defRPr sz="2200" b="0">
                <a:solidFill>
                  <a:srgbClr val="1F2530"/>
                </a:solidFill>
                <a:latin typeface="Aptos"/>
              </a:defRPr>
            </a:pPr>
            <a:r>
              <a:t>### An Empty Space</a:t>
            </a:r>
            <a:br/>
            <a:br/>
            <a:r>
              <a:t>The school building had a large flat roof that was rarely used. Teachers wanted students to have more opportunities to learn outside the classroom, but the school had very little open ground. A group of teachers suggested transforming part of the roof into a garden.</a:t>
            </a:r>
            <a:br/>
            <a:br/>
            <a:r>
              <a:t>At first, the idea seemed ambitious. The teachers needed to make sure the roof was safe, choose plants that could survive the conditions and find a way to water them. They also wanted the garden to be useful for lessons rather than simply decorative.</a:t>
            </a:r>
            <a:br/>
            <a:br/>
            <a:r>
              <a:t>After several meetings, the school agreed to begin with a small section of the roof.</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ARTICLE — PART 2</a:t>
            </a:r>
          </a:p>
        </p:txBody>
      </p:sp>
      <p:sp>
        <p:nvSpPr>
          <p:cNvPr id="6" name="TextBox 5"/>
          <p:cNvSpPr txBox="1"/>
          <p:nvPr/>
        </p:nvSpPr>
        <p:spPr>
          <a:xfrm>
            <a:off x="566928" y="1234440"/>
            <a:ext cx="10972800" cy="365760"/>
          </a:xfrm>
          <a:prstGeom prst="rect">
            <a:avLst/>
          </a:prstGeom>
          <a:noFill/>
        </p:spPr>
        <p:txBody>
          <a:bodyPr wrap="square" anchor="t">
            <a:spAutoFit/>
          </a:bodyPr>
          <a:lstStyle/>
          <a:p>
            <a:pPr algn="l">
              <a:defRPr sz="1700" b="0">
                <a:solidFill>
                  <a:srgbClr val="1C7E81"/>
                </a:solidFill>
                <a:latin typeface="Aptos"/>
              </a:defRPr>
            </a:pPr>
            <a:r>
              <a:t>A GARDEN WITH A PURPOSE</a:t>
            </a:r>
          </a:p>
        </p:txBody>
      </p:sp>
      <p:sp>
        <p:nvSpPr>
          <p:cNvPr id="7" name="TextBox 6"/>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18</a:t>
            </a:r>
          </a:p>
        </p:txBody>
      </p:sp>
      <p:sp>
        <p:nvSpPr>
          <p:cNvPr id="8" name="Rounded Rectangle 7"/>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88065" y="1627632"/>
            <a:ext cx="11585390" cy="4493538"/>
          </a:xfrm>
          <a:prstGeom prst="rect">
            <a:avLst/>
          </a:prstGeom>
          <a:noFill/>
        </p:spPr>
        <p:txBody>
          <a:bodyPr wrap="square" anchor="t">
            <a:spAutoFit/>
          </a:bodyPr>
          <a:lstStyle/>
          <a:p>
            <a:pPr algn="l">
              <a:defRPr sz="2200" b="0">
                <a:solidFill>
                  <a:srgbClr val="1F2530"/>
                </a:solidFill>
                <a:latin typeface="Aptos"/>
              </a:defRPr>
            </a:pPr>
            <a:r>
              <a:rPr dirty="0"/>
              <a:t>### More Than Plants</a:t>
            </a:r>
            <a:br>
              <a:rPr dirty="0"/>
            </a:br>
            <a:br>
              <a:rPr dirty="0"/>
            </a:br>
            <a:r>
              <a:rPr dirty="0"/>
              <a:t>The students soon discovered that the rooftop garden was not just a place to grow vegetables. Science lessons became more practical because students could observe plants changing from week to week. They measured growth, recorded rainfall and watched insects visiting the flowers.</a:t>
            </a:r>
            <a:br>
              <a:rPr dirty="0"/>
            </a:br>
            <a:br>
              <a:rPr dirty="0"/>
            </a:br>
            <a:r>
              <a:rPr dirty="0"/>
              <a:t>The garden also became a place for reading and discussion. In English lessons, students wrote short descriptions of what they could see. They compared the busy city below with the quieter space above it.</a:t>
            </a:r>
            <a:br>
              <a:rPr dirty="0"/>
            </a:br>
            <a:br>
              <a:rPr dirty="0"/>
            </a:br>
            <a:r>
              <a:rPr dirty="0"/>
              <a:t>The teachers noticed that students who were usually reluctant to speak in class often became more confident when they were talking about something they had observed themselves.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ARTICLE — PART 3</a:t>
            </a:r>
          </a:p>
        </p:txBody>
      </p:sp>
      <p:sp>
        <p:nvSpPr>
          <p:cNvPr id="6" name="TextBox 5"/>
          <p:cNvSpPr txBox="1"/>
          <p:nvPr/>
        </p:nvSpPr>
        <p:spPr>
          <a:xfrm>
            <a:off x="566928" y="1234440"/>
            <a:ext cx="10972800" cy="365760"/>
          </a:xfrm>
          <a:prstGeom prst="rect">
            <a:avLst/>
          </a:prstGeom>
          <a:noFill/>
        </p:spPr>
        <p:txBody>
          <a:bodyPr wrap="square" anchor="t">
            <a:spAutoFit/>
          </a:bodyPr>
          <a:lstStyle/>
          <a:p>
            <a:pPr algn="l">
              <a:defRPr sz="1700" b="0">
                <a:solidFill>
                  <a:srgbClr val="1C7E81"/>
                </a:solidFill>
                <a:latin typeface="Aptos"/>
              </a:defRPr>
            </a:pPr>
            <a:r>
              <a:t>A FEW PROBLEMS</a:t>
            </a:r>
          </a:p>
        </p:txBody>
      </p:sp>
      <p:sp>
        <p:nvSpPr>
          <p:cNvPr id="7" name="TextBox 6"/>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19</a:t>
            </a:r>
          </a:p>
        </p:txBody>
      </p:sp>
      <p:sp>
        <p:nvSpPr>
          <p:cNvPr id="8" name="Rounded Rectangle 7"/>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874519"/>
            <a:ext cx="10378440" cy="4069080"/>
          </a:xfrm>
          <a:prstGeom prst="rect">
            <a:avLst/>
          </a:prstGeom>
          <a:noFill/>
        </p:spPr>
        <p:txBody>
          <a:bodyPr wrap="square" anchor="t">
            <a:spAutoFit/>
          </a:bodyPr>
          <a:lstStyle/>
          <a:p>
            <a:pPr algn="l">
              <a:defRPr sz="2200" b="0">
                <a:solidFill>
                  <a:srgbClr val="1F2530"/>
                </a:solidFill>
                <a:latin typeface="Aptos"/>
              </a:defRPr>
            </a:pPr>
            <a:r>
              <a:t>### Not Always Easy</a:t>
            </a:r>
            <a:br/>
            <a:br/>
            <a:r>
              <a:t>The project was not completely straightforward. Strong sunlight sometimes damaged young plants, and the school had to find ways to protect them. Watering the garden was another challenge, especially during holidays when fewer adults were in the building.</a:t>
            </a:r>
            <a:br/>
            <a:br/>
            <a:r>
              <a:t>Instead of abandoning the project, the students and teachers looked for solutions. They added simple shade covers, collected rainwater and created a holiday watering rota. These changes made the garden more manageable.</a:t>
            </a:r>
            <a:br/>
            <a:br/>
            <a:r>
              <a:t>The experience taught students an important lesson: successful projects often need to be adjusted when real problems appear.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ARTICLE — PART 4</a:t>
            </a:r>
          </a:p>
        </p:txBody>
      </p:sp>
      <p:sp>
        <p:nvSpPr>
          <p:cNvPr id="6" name="TextBox 5"/>
          <p:cNvSpPr txBox="1"/>
          <p:nvPr/>
        </p:nvSpPr>
        <p:spPr>
          <a:xfrm>
            <a:off x="566928" y="1234440"/>
            <a:ext cx="10972800" cy="365760"/>
          </a:xfrm>
          <a:prstGeom prst="rect">
            <a:avLst/>
          </a:prstGeom>
          <a:noFill/>
        </p:spPr>
        <p:txBody>
          <a:bodyPr wrap="square" anchor="t">
            <a:spAutoFit/>
          </a:bodyPr>
          <a:lstStyle/>
          <a:p>
            <a:pPr algn="l">
              <a:defRPr sz="1700" b="0">
                <a:solidFill>
                  <a:srgbClr val="1C7E81"/>
                </a:solidFill>
                <a:latin typeface="Aptos"/>
              </a:defRPr>
            </a:pPr>
            <a:r>
              <a:t>A CHANGE PEOPLE COULD SEE</a:t>
            </a:r>
          </a:p>
        </p:txBody>
      </p:sp>
      <p:sp>
        <p:nvSpPr>
          <p:cNvPr id="7" name="TextBox 6"/>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20</a:t>
            </a:r>
          </a:p>
        </p:txBody>
      </p:sp>
      <p:sp>
        <p:nvSpPr>
          <p:cNvPr id="8" name="Rounded Rectangle 7"/>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874519"/>
            <a:ext cx="10378440" cy="4069080"/>
          </a:xfrm>
          <a:prstGeom prst="rect">
            <a:avLst/>
          </a:prstGeom>
          <a:noFill/>
        </p:spPr>
        <p:txBody>
          <a:bodyPr wrap="square" anchor="t">
            <a:spAutoFit/>
          </a:bodyPr>
          <a:lstStyle/>
          <a:p>
            <a:pPr algn="l">
              <a:defRPr sz="2200" b="0">
                <a:solidFill>
                  <a:srgbClr val="1F2530"/>
                </a:solidFill>
                <a:latin typeface="Aptos"/>
              </a:defRPr>
            </a:pPr>
            <a:r>
              <a:t>### Looking Down from Above</a:t>
            </a:r>
            <a:br/>
            <a:br/>
            <a:r>
              <a:t>By the end of the year, the rooftop looked very different. Green plants filled the growing beds, insects moved among the flowers and students regularly visited the garden during lessons.</a:t>
            </a:r>
            <a:br/>
            <a:br/>
            <a:r>
              <a:t>The project also changed the way students thought about unused spaces. A place that had once seemed empty had become a living classroom.</a:t>
            </a:r>
            <a:br/>
            <a:br/>
            <a:r>
              <a:t>The school now plans to expand the garden carefully. The teachers do not want to make it too large too quickly. Instead, they want to improve what already works and use students’ observations to decide what should happen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CHECK YOUR UNDERSTANDING</a:t>
            </a:r>
          </a:p>
        </p:txBody>
      </p:sp>
      <p:sp>
        <p:nvSpPr>
          <p:cNvPr id="6" name="TextBox 5"/>
          <p:cNvSpPr txBox="1"/>
          <p:nvPr/>
        </p:nvSpPr>
        <p:spPr>
          <a:xfrm>
            <a:off x="566928" y="1234440"/>
            <a:ext cx="10972800" cy="365760"/>
          </a:xfrm>
          <a:prstGeom prst="rect">
            <a:avLst/>
          </a:prstGeom>
          <a:noFill/>
        </p:spPr>
        <p:txBody>
          <a:bodyPr wrap="square" anchor="t">
            <a:spAutoFit/>
          </a:bodyPr>
          <a:lstStyle/>
          <a:p>
            <a:pPr algn="l">
              <a:defRPr sz="1700" b="0">
                <a:solidFill>
                  <a:srgbClr val="1C7E81"/>
                </a:solidFill>
                <a:latin typeface="Aptos"/>
              </a:defRPr>
            </a:pPr>
            <a:r>
              <a:t>USE THE CONTEXT CLUE ROUTINE</a:t>
            </a:r>
          </a:p>
        </p:txBody>
      </p:sp>
      <p:sp>
        <p:nvSpPr>
          <p:cNvPr id="7" name="TextBox 6"/>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21</a:t>
            </a:r>
          </a:p>
        </p:txBody>
      </p:sp>
      <p:sp>
        <p:nvSpPr>
          <p:cNvPr id="8" name="Rounded Rectangle 7"/>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874519"/>
            <a:ext cx="10378440" cy="4069080"/>
          </a:xfrm>
          <a:prstGeom prst="rect">
            <a:avLst/>
          </a:prstGeom>
          <a:noFill/>
        </p:spPr>
        <p:txBody>
          <a:bodyPr wrap="square" anchor="t">
            <a:spAutoFit/>
          </a:bodyPr>
          <a:lstStyle/>
          <a:p>
            <a:r>
              <a:t>What was the main reason the school created the rooftop garden?</a:t>
            </a:r>
          </a:p>
          <a:p>
            <a:endParaRPr/>
          </a:p>
          <a:p>
            <a:r>
              <a:t>A. To make the roof look expensive</a:t>
            </a:r>
          </a:p>
          <a:p>
            <a:r>
              <a:t>B. To create more opportunities for learning outside the classroom</a:t>
            </a:r>
          </a:p>
          <a:p>
            <a:r>
              <a:t>C. To stop students studying science</a:t>
            </a:r>
          </a:p>
          <a:p>
            <a:r>
              <a:t>D. To give teachers a place to relax</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CHECK YOUR UNDERSTANDING — ANSWER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22</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2103120" cy="365760"/>
          </a:xfrm>
          <a:prstGeom prst="rect">
            <a:avLst/>
          </a:prstGeom>
          <a:noFill/>
        </p:spPr>
        <p:txBody>
          <a:bodyPr wrap="square" anchor="t">
            <a:spAutoFit/>
          </a:bodyPr>
          <a:lstStyle/>
          <a:p>
            <a:pPr algn="l">
              <a:defRPr sz="1800" b="1">
                <a:solidFill>
                  <a:srgbClr val="318558"/>
                </a:solidFill>
                <a:latin typeface="Aptos"/>
              </a:defRPr>
            </a:pPr>
            <a:r>
              <a:t>✓ ANSWER</a:t>
            </a:r>
          </a:p>
        </p:txBody>
      </p:sp>
      <p:sp>
        <p:nvSpPr>
          <p:cNvPr id="9" name="TextBox 8"/>
          <p:cNvSpPr txBox="1"/>
          <p:nvPr/>
        </p:nvSpPr>
        <p:spPr>
          <a:xfrm>
            <a:off x="868680" y="2350008"/>
            <a:ext cx="10378440" cy="3611880"/>
          </a:xfrm>
          <a:prstGeom prst="rect">
            <a:avLst/>
          </a:prstGeom>
          <a:noFill/>
        </p:spPr>
        <p:txBody>
          <a:bodyPr wrap="square" anchor="t">
            <a:spAutoFit/>
          </a:bodyPr>
          <a:lstStyle/>
          <a:p>
            <a:r>
              <a:t>B. To create more opportunities for learning outside the classroom.</a:t>
            </a:r>
            <a:br/>
            <a:br/>
            <a:r>
              <a:t>Evidence: “Teachers wanted students to have more opportunities to learn outside the classroom.”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LANGUAGE IN CONTEXT — ARTICLE QUESTION 1</a:t>
            </a:r>
          </a:p>
        </p:txBody>
      </p:sp>
      <p:sp>
        <p:nvSpPr>
          <p:cNvPr id="6" name="TextBox 5"/>
          <p:cNvSpPr txBox="1"/>
          <p:nvPr/>
        </p:nvSpPr>
        <p:spPr>
          <a:xfrm>
            <a:off x="566928" y="1234440"/>
            <a:ext cx="10972800" cy="365760"/>
          </a:xfrm>
          <a:prstGeom prst="rect">
            <a:avLst/>
          </a:prstGeom>
          <a:noFill/>
        </p:spPr>
        <p:txBody>
          <a:bodyPr wrap="square" anchor="t">
            <a:spAutoFit/>
          </a:bodyPr>
          <a:lstStyle/>
          <a:p>
            <a:pPr algn="l">
              <a:defRPr sz="1700" b="0">
                <a:solidFill>
                  <a:srgbClr val="1C7E81"/>
                </a:solidFill>
                <a:latin typeface="Aptos"/>
              </a:defRPr>
            </a:pPr>
            <a:r>
              <a:t>USE THE CONTEXT CLUE ROUTINE</a:t>
            </a:r>
          </a:p>
        </p:txBody>
      </p:sp>
      <p:sp>
        <p:nvSpPr>
          <p:cNvPr id="7" name="TextBox 6"/>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23</a:t>
            </a:r>
          </a:p>
        </p:txBody>
      </p:sp>
      <p:sp>
        <p:nvSpPr>
          <p:cNvPr id="8" name="Rounded Rectangle 7"/>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874519"/>
            <a:ext cx="10378440" cy="2308324"/>
          </a:xfrm>
          <a:prstGeom prst="rect">
            <a:avLst/>
          </a:prstGeom>
          <a:noFill/>
        </p:spPr>
        <p:txBody>
          <a:bodyPr wrap="square" anchor="t">
            <a:spAutoFit/>
          </a:bodyPr>
          <a:lstStyle/>
          <a:p>
            <a:r>
              <a:rPr dirty="0"/>
              <a:t>“At first, the idea seemed </a:t>
            </a:r>
            <a:r>
              <a:rPr b="1" dirty="0"/>
              <a:t>ambitious</a:t>
            </a:r>
            <a:r>
              <a:rPr dirty="0"/>
              <a:t>.”</a:t>
            </a:r>
          </a:p>
          <a:p>
            <a:endParaRPr dirty="0"/>
          </a:p>
          <a:p>
            <a:r>
              <a:rPr dirty="0"/>
              <a:t>What does “</a:t>
            </a:r>
            <a:r>
              <a:rPr b="1" dirty="0"/>
              <a:t>ambitious</a:t>
            </a:r>
            <a:r>
              <a:rPr dirty="0"/>
              <a:t>” most likely mean in this context?</a:t>
            </a:r>
          </a:p>
          <a:p>
            <a:endParaRPr dirty="0"/>
          </a:p>
          <a:p>
            <a:r>
              <a:rPr dirty="0"/>
              <a:t>A. Very small and simple</a:t>
            </a:r>
          </a:p>
          <a:p>
            <a:r>
              <a:rPr dirty="0"/>
              <a:t>B. Completely impossible</a:t>
            </a:r>
          </a:p>
          <a:p>
            <a:r>
              <a:rPr dirty="0"/>
              <a:t>C. Unrelated to the school</a:t>
            </a:r>
          </a:p>
          <a:p>
            <a:r>
              <a:rPr dirty="0"/>
              <a:t>D. Requiring a lot of effort or planning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LANGUAGE IN CONTEXT — ARTICLE QUESTION 1 — ANSWER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24</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2103120" cy="365760"/>
          </a:xfrm>
          <a:prstGeom prst="rect">
            <a:avLst/>
          </a:prstGeom>
          <a:noFill/>
        </p:spPr>
        <p:txBody>
          <a:bodyPr wrap="square" anchor="t">
            <a:spAutoFit/>
          </a:bodyPr>
          <a:lstStyle/>
          <a:p>
            <a:pPr algn="l">
              <a:defRPr sz="1800" b="1">
                <a:solidFill>
                  <a:srgbClr val="318558"/>
                </a:solidFill>
                <a:latin typeface="Aptos"/>
              </a:defRPr>
            </a:pPr>
            <a:r>
              <a:t>✓ ANSWER</a:t>
            </a:r>
          </a:p>
        </p:txBody>
      </p:sp>
      <p:sp>
        <p:nvSpPr>
          <p:cNvPr id="9" name="TextBox 8"/>
          <p:cNvSpPr txBox="1"/>
          <p:nvPr/>
        </p:nvSpPr>
        <p:spPr>
          <a:xfrm>
            <a:off x="868680" y="2350008"/>
            <a:ext cx="10378440" cy="3611880"/>
          </a:xfrm>
          <a:prstGeom prst="rect">
            <a:avLst/>
          </a:prstGeom>
          <a:noFill/>
        </p:spPr>
        <p:txBody>
          <a:bodyPr wrap="square" anchor="t">
            <a:spAutoFit/>
          </a:bodyPr>
          <a:lstStyle/>
          <a:p>
            <a:r>
              <a:t>D. Requiring a lot of effort or planning.</a:t>
            </a:r>
            <a:br/>
            <a:br/>
            <a:r>
              <a:t>The teachers needed to make the roof safe, choose suitable plants, find a way to water them and plan how the garden would be used.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LANGUAGE IN CONTEXT — ARTICLE QUESTION 2</a:t>
            </a:r>
          </a:p>
        </p:txBody>
      </p:sp>
      <p:sp>
        <p:nvSpPr>
          <p:cNvPr id="6" name="TextBox 5"/>
          <p:cNvSpPr txBox="1"/>
          <p:nvPr/>
        </p:nvSpPr>
        <p:spPr>
          <a:xfrm>
            <a:off x="566928" y="1234440"/>
            <a:ext cx="10972800" cy="365760"/>
          </a:xfrm>
          <a:prstGeom prst="rect">
            <a:avLst/>
          </a:prstGeom>
          <a:noFill/>
        </p:spPr>
        <p:txBody>
          <a:bodyPr wrap="square" anchor="t">
            <a:spAutoFit/>
          </a:bodyPr>
          <a:lstStyle/>
          <a:p>
            <a:pPr algn="l">
              <a:defRPr sz="1700" b="0">
                <a:solidFill>
                  <a:srgbClr val="1C7E81"/>
                </a:solidFill>
                <a:latin typeface="Aptos"/>
              </a:defRPr>
            </a:pPr>
            <a:r>
              <a:t>USE THE CONTEXT CLUE ROUTINE</a:t>
            </a:r>
          </a:p>
        </p:txBody>
      </p:sp>
      <p:sp>
        <p:nvSpPr>
          <p:cNvPr id="7" name="TextBox 6"/>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25</a:t>
            </a:r>
          </a:p>
        </p:txBody>
      </p:sp>
      <p:sp>
        <p:nvSpPr>
          <p:cNvPr id="8" name="Rounded Rectangle 7"/>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874519"/>
            <a:ext cx="10378440" cy="2308324"/>
          </a:xfrm>
          <a:prstGeom prst="rect">
            <a:avLst/>
          </a:prstGeom>
          <a:noFill/>
        </p:spPr>
        <p:txBody>
          <a:bodyPr wrap="square" anchor="t">
            <a:spAutoFit/>
          </a:bodyPr>
          <a:lstStyle/>
          <a:p>
            <a:r>
              <a:rPr dirty="0"/>
              <a:t>“The garden was </a:t>
            </a:r>
            <a:r>
              <a:rPr b="1" dirty="0"/>
              <a:t>not just </a:t>
            </a:r>
            <a:r>
              <a:rPr dirty="0"/>
              <a:t>a place to grow vegetables.”</a:t>
            </a:r>
          </a:p>
          <a:p>
            <a:endParaRPr dirty="0"/>
          </a:p>
          <a:p>
            <a:r>
              <a:rPr dirty="0"/>
              <a:t>What does “</a:t>
            </a:r>
            <a:r>
              <a:rPr b="1" dirty="0"/>
              <a:t>not just</a:t>
            </a:r>
            <a:r>
              <a:rPr dirty="0"/>
              <a:t>” suggest about the garden?</a:t>
            </a:r>
          </a:p>
          <a:p>
            <a:endParaRPr dirty="0"/>
          </a:p>
          <a:p>
            <a:r>
              <a:rPr dirty="0"/>
              <a:t>A. It had several purposes.</a:t>
            </a:r>
          </a:p>
          <a:p>
            <a:r>
              <a:rPr dirty="0"/>
              <a:t>B. It had only one purpose.</a:t>
            </a:r>
          </a:p>
          <a:p>
            <a:r>
              <a:rPr dirty="0"/>
              <a:t>C. It was mainly decorative.</a:t>
            </a:r>
          </a:p>
          <a:p>
            <a:r>
              <a:rPr dirty="0"/>
              <a:t>D. It was too difficult to use.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LANGUAGE IN CONTEXT — ARTICLE QUESTION 2 — ANSWER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26</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2103120" cy="365760"/>
          </a:xfrm>
          <a:prstGeom prst="rect">
            <a:avLst/>
          </a:prstGeom>
          <a:noFill/>
        </p:spPr>
        <p:txBody>
          <a:bodyPr wrap="square" anchor="t">
            <a:spAutoFit/>
          </a:bodyPr>
          <a:lstStyle/>
          <a:p>
            <a:pPr algn="l">
              <a:defRPr sz="1800" b="1">
                <a:solidFill>
                  <a:srgbClr val="318558"/>
                </a:solidFill>
                <a:latin typeface="Aptos"/>
              </a:defRPr>
            </a:pPr>
            <a:r>
              <a:t>✓ ANSWER</a:t>
            </a:r>
          </a:p>
        </p:txBody>
      </p:sp>
      <p:sp>
        <p:nvSpPr>
          <p:cNvPr id="9" name="TextBox 8"/>
          <p:cNvSpPr txBox="1"/>
          <p:nvPr/>
        </p:nvSpPr>
        <p:spPr>
          <a:xfrm>
            <a:off x="868680" y="2350008"/>
            <a:ext cx="10378440" cy="3611880"/>
          </a:xfrm>
          <a:prstGeom prst="rect">
            <a:avLst/>
          </a:prstGeom>
          <a:noFill/>
        </p:spPr>
        <p:txBody>
          <a:bodyPr wrap="square" anchor="t">
            <a:spAutoFit/>
          </a:bodyPr>
          <a:lstStyle/>
          <a:p>
            <a:r>
              <a:t>A. It had several purposes.</a:t>
            </a:r>
            <a:br/>
            <a:br/>
            <a:r>
              <a:t>The article gives several examples: science observations, measuring growth, recording rainfall, reading, discussion and writing.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LANGUAGE IN CONTEXT — ARTICLE QUESTION 3</a:t>
            </a:r>
          </a:p>
        </p:txBody>
      </p:sp>
      <p:sp>
        <p:nvSpPr>
          <p:cNvPr id="6" name="TextBox 5"/>
          <p:cNvSpPr txBox="1"/>
          <p:nvPr/>
        </p:nvSpPr>
        <p:spPr>
          <a:xfrm>
            <a:off x="566928" y="1234440"/>
            <a:ext cx="10972800" cy="365760"/>
          </a:xfrm>
          <a:prstGeom prst="rect">
            <a:avLst/>
          </a:prstGeom>
          <a:noFill/>
        </p:spPr>
        <p:txBody>
          <a:bodyPr wrap="square" anchor="t">
            <a:spAutoFit/>
          </a:bodyPr>
          <a:lstStyle/>
          <a:p>
            <a:pPr algn="l">
              <a:defRPr sz="1700" b="0">
                <a:solidFill>
                  <a:srgbClr val="1C7E81"/>
                </a:solidFill>
                <a:latin typeface="Aptos"/>
              </a:defRPr>
            </a:pPr>
            <a:r>
              <a:t>USE THE CONTEXT CLUE ROUTINE</a:t>
            </a:r>
          </a:p>
        </p:txBody>
      </p:sp>
      <p:sp>
        <p:nvSpPr>
          <p:cNvPr id="7" name="TextBox 6"/>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27</a:t>
            </a:r>
          </a:p>
        </p:txBody>
      </p:sp>
      <p:sp>
        <p:nvSpPr>
          <p:cNvPr id="8" name="Rounded Rectangle 7"/>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874519"/>
            <a:ext cx="10378440" cy="2308324"/>
          </a:xfrm>
          <a:prstGeom prst="rect">
            <a:avLst/>
          </a:prstGeom>
          <a:noFill/>
        </p:spPr>
        <p:txBody>
          <a:bodyPr wrap="square" anchor="t">
            <a:spAutoFit/>
          </a:bodyPr>
          <a:lstStyle/>
          <a:p>
            <a:r>
              <a:rPr dirty="0"/>
              <a:t>“The project was not completely </a:t>
            </a:r>
            <a:r>
              <a:rPr b="1" dirty="0"/>
              <a:t>straightforward</a:t>
            </a:r>
            <a:r>
              <a:rPr dirty="0"/>
              <a:t>.”</a:t>
            </a:r>
          </a:p>
          <a:p>
            <a:endParaRPr dirty="0"/>
          </a:p>
          <a:p>
            <a:r>
              <a:rPr dirty="0"/>
              <a:t>What does “</a:t>
            </a:r>
            <a:r>
              <a:rPr b="1" dirty="0"/>
              <a:t>straightforward</a:t>
            </a:r>
            <a:r>
              <a:rPr dirty="0"/>
              <a:t>” most likely mean here?</a:t>
            </a:r>
          </a:p>
          <a:p>
            <a:endParaRPr dirty="0"/>
          </a:p>
          <a:p>
            <a:r>
              <a:rPr dirty="0"/>
              <a:t>A. Hidden from students</a:t>
            </a:r>
          </a:p>
          <a:p>
            <a:r>
              <a:rPr dirty="0"/>
              <a:t>B. Extremely expensive</a:t>
            </a:r>
          </a:p>
          <a:p>
            <a:r>
              <a:rPr dirty="0"/>
              <a:t>C. Easy and without difficulties</a:t>
            </a:r>
          </a:p>
          <a:p>
            <a:r>
              <a:rPr dirty="0"/>
              <a:t>D. Located in a straight line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LANGUAGE IN CONTEXT — ARTICLE QUESTION 3 — ANSWER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28</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2103120" cy="365760"/>
          </a:xfrm>
          <a:prstGeom prst="rect">
            <a:avLst/>
          </a:prstGeom>
          <a:noFill/>
        </p:spPr>
        <p:txBody>
          <a:bodyPr wrap="square" anchor="t">
            <a:spAutoFit/>
          </a:bodyPr>
          <a:lstStyle/>
          <a:p>
            <a:pPr algn="l">
              <a:defRPr sz="1800" b="1">
                <a:solidFill>
                  <a:srgbClr val="318558"/>
                </a:solidFill>
                <a:latin typeface="Aptos"/>
              </a:defRPr>
            </a:pPr>
            <a:r>
              <a:t>✓ ANSWER</a:t>
            </a:r>
          </a:p>
        </p:txBody>
      </p:sp>
      <p:sp>
        <p:nvSpPr>
          <p:cNvPr id="9" name="TextBox 8"/>
          <p:cNvSpPr txBox="1"/>
          <p:nvPr/>
        </p:nvSpPr>
        <p:spPr>
          <a:xfrm>
            <a:off x="868680" y="2350008"/>
            <a:ext cx="10378440" cy="3611880"/>
          </a:xfrm>
          <a:prstGeom prst="rect">
            <a:avLst/>
          </a:prstGeom>
          <a:noFill/>
        </p:spPr>
        <p:txBody>
          <a:bodyPr wrap="square" anchor="t">
            <a:spAutoFit/>
          </a:bodyPr>
          <a:lstStyle/>
          <a:p>
            <a:r>
              <a:t>C. Easy and without difficulties.</a:t>
            </a:r>
            <a:br/>
            <a:br/>
            <a:r>
              <a:t>The next sentences explain problems with sunlight and watering. These clues show that the project was not easy.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LANGUAGE IN CONTEXT — ARTICLE QUESTION 4</a:t>
            </a:r>
          </a:p>
        </p:txBody>
      </p:sp>
      <p:sp>
        <p:nvSpPr>
          <p:cNvPr id="6" name="TextBox 5"/>
          <p:cNvSpPr txBox="1"/>
          <p:nvPr/>
        </p:nvSpPr>
        <p:spPr>
          <a:xfrm>
            <a:off x="566928" y="1234440"/>
            <a:ext cx="10972800" cy="365760"/>
          </a:xfrm>
          <a:prstGeom prst="rect">
            <a:avLst/>
          </a:prstGeom>
          <a:noFill/>
        </p:spPr>
        <p:txBody>
          <a:bodyPr wrap="square" anchor="t">
            <a:spAutoFit/>
          </a:bodyPr>
          <a:lstStyle/>
          <a:p>
            <a:pPr algn="l">
              <a:defRPr sz="1700" b="0">
                <a:solidFill>
                  <a:srgbClr val="1C7E81"/>
                </a:solidFill>
                <a:latin typeface="Aptos"/>
              </a:defRPr>
            </a:pPr>
            <a:r>
              <a:t>USE THE CONTEXT CLUE ROUTINE</a:t>
            </a:r>
          </a:p>
        </p:txBody>
      </p:sp>
      <p:sp>
        <p:nvSpPr>
          <p:cNvPr id="7" name="TextBox 6"/>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29</a:t>
            </a:r>
          </a:p>
        </p:txBody>
      </p:sp>
      <p:sp>
        <p:nvSpPr>
          <p:cNvPr id="8" name="Rounded Rectangle 7"/>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874519"/>
            <a:ext cx="10378440" cy="2308324"/>
          </a:xfrm>
          <a:prstGeom prst="rect">
            <a:avLst/>
          </a:prstGeom>
          <a:noFill/>
        </p:spPr>
        <p:txBody>
          <a:bodyPr wrap="square" anchor="t">
            <a:spAutoFit/>
          </a:bodyPr>
          <a:lstStyle/>
          <a:p>
            <a:r>
              <a:rPr dirty="0"/>
              <a:t>“The school now plans to expand the garden </a:t>
            </a:r>
            <a:r>
              <a:rPr b="1" dirty="0"/>
              <a:t>carefully</a:t>
            </a:r>
            <a:r>
              <a:rPr dirty="0"/>
              <a:t>.”</a:t>
            </a:r>
          </a:p>
          <a:p>
            <a:endParaRPr dirty="0"/>
          </a:p>
          <a:p>
            <a:r>
              <a:rPr dirty="0"/>
              <a:t>What does “</a:t>
            </a:r>
            <a:r>
              <a:rPr b="1" dirty="0"/>
              <a:t>carefully</a:t>
            </a:r>
            <a:r>
              <a:rPr dirty="0"/>
              <a:t>” suggest about the school’s approach?</a:t>
            </a:r>
          </a:p>
          <a:p>
            <a:endParaRPr dirty="0"/>
          </a:p>
          <a:p>
            <a:r>
              <a:rPr dirty="0"/>
              <a:t>A. It wants to make changes without thinking.</a:t>
            </a:r>
          </a:p>
          <a:p>
            <a:r>
              <a:rPr dirty="0"/>
              <a:t>B. It wants to make changes gradually and thoughtfully.</a:t>
            </a:r>
          </a:p>
          <a:p>
            <a:r>
              <a:rPr dirty="0"/>
              <a:t>C. It wants to stop the project.</a:t>
            </a:r>
          </a:p>
          <a:p>
            <a:r>
              <a:rPr dirty="0"/>
              <a:t>D. It wants students to do everything alone.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LANGUAGE IN CONTEXT — ARTICLE QUESTION 4 — ANSWER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30</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2103120" cy="365760"/>
          </a:xfrm>
          <a:prstGeom prst="rect">
            <a:avLst/>
          </a:prstGeom>
          <a:noFill/>
        </p:spPr>
        <p:txBody>
          <a:bodyPr wrap="square" anchor="t">
            <a:spAutoFit/>
          </a:bodyPr>
          <a:lstStyle/>
          <a:p>
            <a:pPr algn="l">
              <a:defRPr sz="1800" b="1">
                <a:solidFill>
                  <a:srgbClr val="318558"/>
                </a:solidFill>
                <a:latin typeface="Aptos"/>
              </a:defRPr>
            </a:pPr>
            <a:r>
              <a:t>✓ ANSWER</a:t>
            </a:r>
          </a:p>
        </p:txBody>
      </p:sp>
      <p:sp>
        <p:nvSpPr>
          <p:cNvPr id="9" name="TextBox 8"/>
          <p:cNvSpPr txBox="1"/>
          <p:nvPr/>
        </p:nvSpPr>
        <p:spPr>
          <a:xfrm>
            <a:off x="868680" y="2350008"/>
            <a:ext cx="10378440" cy="3611880"/>
          </a:xfrm>
          <a:prstGeom prst="rect">
            <a:avLst/>
          </a:prstGeom>
          <a:noFill/>
        </p:spPr>
        <p:txBody>
          <a:bodyPr wrap="square" anchor="t">
            <a:spAutoFit/>
          </a:bodyPr>
          <a:lstStyle/>
          <a:p>
            <a:r>
              <a:t>B. It wants to make changes gradually and thoughtfully.</a:t>
            </a:r>
            <a:br/>
            <a:br/>
            <a:r>
              <a:t>The next sentence says the teachers do not want to make it too large too quickly.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SESSION 2 — FROM WORDS TO WRITER'S CHOICES</a:t>
            </a:r>
          </a:p>
        </p:txBody>
      </p:sp>
      <p:sp>
        <p:nvSpPr>
          <p:cNvPr id="6" name="TextBox 5"/>
          <p:cNvSpPr txBox="1"/>
          <p:nvPr/>
        </p:nvSpPr>
        <p:spPr>
          <a:xfrm>
            <a:off x="566928" y="1234440"/>
            <a:ext cx="10972800" cy="365760"/>
          </a:xfrm>
          <a:prstGeom prst="rect">
            <a:avLst/>
          </a:prstGeom>
          <a:noFill/>
        </p:spPr>
        <p:txBody>
          <a:bodyPr wrap="square" anchor="t">
            <a:spAutoFit/>
          </a:bodyPr>
          <a:lstStyle/>
          <a:p>
            <a:pPr algn="l">
              <a:defRPr sz="1700" b="0">
                <a:solidFill>
                  <a:srgbClr val="1C7E81"/>
                </a:solidFill>
                <a:latin typeface="Aptos"/>
              </a:defRPr>
            </a:pPr>
            <a:r>
              <a:t>PURPOSE &amp; AUDIENCE</a:t>
            </a:r>
          </a:p>
        </p:txBody>
      </p:sp>
      <p:sp>
        <p:nvSpPr>
          <p:cNvPr id="7" name="TextBox 6"/>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32</a:t>
            </a:r>
          </a:p>
        </p:txBody>
      </p:sp>
      <p:sp>
        <p:nvSpPr>
          <p:cNvPr id="8" name="Rounded Rectangle 7"/>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874519"/>
            <a:ext cx="10378440" cy="4069080"/>
          </a:xfrm>
          <a:prstGeom prst="rect">
            <a:avLst/>
          </a:prstGeom>
          <a:noFill/>
        </p:spPr>
        <p:txBody>
          <a:bodyPr wrap="square" anchor="t">
            <a:spAutoFit/>
          </a:bodyPr>
          <a:lstStyle/>
          <a:p>
            <a:pPr algn="l">
              <a:defRPr sz="2400" b="0">
                <a:solidFill>
                  <a:srgbClr val="1F2530"/>
                </a:solidFill>
                <a:latin typeface="Aptos"/>
              </a:defRPr>
            </a:pPr>
            <a:r>
              <a:t>Now we move from:</a:t>
            </a:r>
            <a:br/>
            <a:br/>
            <a:r>
              <a:t>“WHAT DOES THE WRITER MEAN?”</a:t>
            </a:r>
            <a:br/>
            <a:br/>
            <a:r>
              <a:t> to:</a:t>
            </a:r>
            <a:br/>
            <a:br/>
            <a:r>
              <a:t>“WHY DID THE WRITER CHOOSE TO WRITE IT THIS WAY?”</a:t>
            </a:r>
            <a:br/>
            <a:br/>
            <a:r>
              <a:t>A writer makes choices because they have a PURPOSE and a particular AUDIENCE in mind.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WHAT IS THE WRITER'S PURPOSE?</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33</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74519"/>
            <a:ext cx="10378440" cy="4069080"/>
          </a:xfrm>
          <a:prstGeom prst="rect">
            <a:avLst/>
          </a:prstGeom>
          <a:noFill/>
        </p:spPr>
        <p:txBody>
          <a:bodyPr wrap="square" anchor="t">
            <a:spAutoFit/>
          </a:bodyPr>
          <a:lstStyle/>
          <a:p>
            <a:pPr algn="l">
              <a:defRPr sz="2400" b="0">
                <a:solidFill>
                  <a:srgbClr val="1F2530"/>
                </a:solidFill>
                <a:latin typeface="Aptos"/>
              </a:defRPr>
            </a:pPr>
            <a:r>
              <a:t>PURPOSE = the writer’s main reason for creating the text.</a:t>
            </a:r>
            <a:br/>
            <a:br/>
            <a:r>
              <a:t>INFORM → give information or facts</a:t>
            </a:r>
            <a:br/>
            <a:br/>
            <a:r>
              <a:t>EXPLAIN → help the reader understand how or why</a:t>
            </a:r>
            <a:br/>
            <a:br/>
            <a:r>
              <a:t>PERSUADE → encourage the reader to agree, believe or act</a:t>
            </a:r>
            <a:br/>
            <a:br/>
            <a:r>
              <a:t>ENTERTAIN → interest or amuse the reader</a:t>
            </a:r>
            <a:br/>
            <a:br/>
            <a:r>
              <a:t>⭐ A text can have more than one purpose, but usually one is strongest.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HOW DO I FIND THE PURPOSE?</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34</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120140"/>
            <a:ext cx="10378440" cy="4069080"/>
          </a:xfrm>
          <a:prstGeom prst="rect">
            <a:avLst/>
          </a:prstGeom>
          <a:noFill/>
        </p:spPr>
        <p:txBody>
          <a:bodyPr wrap="square" anchor="t">
            <a:spAutoFit/>
          </a:bodyPr>
          <a:lstStyle/>
          <a:p>
            <a:pPr algn="l">
              <a:defRPr sz="2400" b="0">
                <a:solidFill>
                  <a:srgbClr val="1F2530"/>
                </a:solidFill>
                <a:latin typeface="Aptos"/>
              </a:defRPr>
            </a:pPr>
            <a:r>
              <a:rPr dirty="0"/>
              <a:t>Ask:</a:t>
            </a:r>
            <a:br>
              <a:rPr dirty="0"/>
            </a:br>
            <a:br>
              <a:rPr dirty="0"/>
            </a:br>
            <a:r>
              <a:rPr dirty="0"/>
              <a:t>“What is the writer mainly trying to DO?”</a:t>
            </a:r>
            <a:br>
              <a:rPr dirty="0"/>
            </a:br>
            <a:br>
              <a:rPr dirty="0"/>
            </a:br>
            <a:r>
              <a:rPr dirty="0"/>
              <a:t>Then check the whole text:</a:t>
            </a:r>
            <a:br>
              <a:rPr dirty="0"/>
            </a:br>
            <a:br>
              <a:rPr dirty="0"/>
            </a:br>
            <a:r>
              <a:rPr dirty="0"/>
              <a:t>• What information is included?</a:t>
            </a:r>
            <a:br>
              <a:rPr dirty="0"/>
            </a:br>
            <a:r>
              <a:rPr dirty="0"/>
              <a:t>• What is the writer asking the reader to think or do?</a:t>
            </a:r>
            <a:br>
              <a:rPr dirty="0"/>
            </a:br>
            <a:r>
              <a:rPr dirty="0"/>
              <a:t>• What kind of language is used?</a:t>
            </a:r>
            <a:br>
              <a:rPr dirty="0"/>
            </a:br>
            <a:r>
              <a:rPr dirty="0"/>
              <a:t>• What do the title and headings suggest?</a:t>
            </a:r>
            <a:br>
              <a:rPr dirty="0"/>
            </a:br>
            <a:r>
              <a:rPr dirty="0"/>
              <a:t>• How does the text end?</a:t>
            </a:r>
            <a:br>
              <a:rPr dirty="0"/>
            </a:br>
            <a:br>
              <a:rPr dirty="0"/>
            </a:br>
            <a:r>
              <a:rPr dirty="0"/>
              <a:t>⭐ Do not choose a purpose from one sentence. Think about the whole text.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TEACHER MODEL — FIND THE PURPOSE</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35</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74519"/>
            <a:ext cx="10378440" cy="4069080"/>
          </a:xfrm>
          <a:prstGeom prst="rect">
            <a:avLst/>
          </a:prstGeom>
          <a:noFill/>
        </p:spPr>
        <p:txBody>
          <a:bodyPr wrap="square" anchor="t">
            <a:spAutoFit/>
          </a:bodyPr>
          <a:lstStyle/>
          <a:p>
            <a:pPr algn="l">
              <a:defRPr sz="2400" b="0">
                <a:solidFill>
                  <a:srgbClr val="1F2530"/>
                </a:solidFill>
                <a:latin typeface="Aptos"/>
              </a:defRPr>
            </a:pPr>
            <a:r>
              <a:t>Think aloud about our rooftop article:</a:t>
            </a:r>
            <a:br/>
            <a:br/>
            <a:r>
              <a:t>The writer explains why the garden was created, how students use it, what problems happened and how they solved them.</a:t>
            </a:r>
            <a:br/>
            <a:br/>
            <a:r>
              <a:t>The writer is NOT mainly trying to sell something.</a:t>
            </a:r>
            <a:br/>
            <a:r>
              <a:t>The writer is NOT telling a fictional story.</a:t>
            </a:r>
            <a:br/>
            <a:br/>
            <a:r>
              <a:t>So I ask: What is the writer mainly doing?</a:t>
            </a:r>
            <a:br/>
            <a:br/>
            <a:r>
              <a:t>→ Giving information and explaining a real project.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TEACHER MODEL — ANSWER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36</a:t>
            </a:r>
          </a:p>
        </p:txBody>
      </p:sp>
      <p:sp>
        <p:nvSpPr>
          <p:cNvPr id="7" name="Rounded Rectangle 6"/>
          <p:cNvSpPr/>
          <p:nvPr/>
        </p:nvSpPr>
        <p:spPr>
          <a:xfrm>
            <a:off x="64008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4880" y="1239012"/>
            <a:ext cx="2103120" cy="365760"/>
          </a:xfrm>
          <a:prstGeom prst="rect">
            <a:avLst/>
          </a:prstGeom>
          <a:noFill/>
        </p:spPr>
        <p:txBody>
          <a:bodyPr wrap="square" anchor="t">
            <a:spAutoFit/>
          </a:bodyPr>
          <a:lstStyle/>
          <a:p>
            <a:pPr algn="l">
              <a:defRPr sz="1800" b="1">
                <a:solidFill>
                  <a:srgbClr val="318558"/>
                </a:solidFill>
                <a:latin typeface="Aptos"/>
              </a:defRPr>
            </a:pPr>
            <a:r>
              <a:rPr dirty="0"/>
              <a:t>✓ ANSWER</a:t>
            </a:r>
          </a:p>
        </p:txBody>
      </p:sp>
      <p:sp>
        <p:nvSpPr>
          <p:cNvPr id="9" name="TextBox 8"/>
          <p:cNvSpPr txBox="1"/>
          <p:nvPr/>
        </p:nvSpPr>
        <p:spPr>
          <a:xfrm>
            <a:off x="944880" y="1805940"/>
            <a:ext cx="10378440" cy="3611880"/>
          </a:xfrm>
          <a:prstGeom prst="rect">
            <a:avLst/>
          </a:prstGeom>
          <a:noFill/>
        </p:spPr>
        <p:txBody>
          <a:bodyPr wrap="square" anchor="t">
            <a:spAutoFit/>
          </a:bodyPr>
          <a:lstStyle/>
          <a:p>
            <a:pPr algn="l">
              <a:defRPr sz="2300" b="0">
                <a:solidFill>
                  <a:srgbClr val="1F2530"/>
                </a:solidFill>
                <a:latin typeface="Aptos"/>
              </a:defRPr>
            </a:pPr>
            <a:r>
              <a:rPr dirty="0"/>
              <a:t>MAIN PURPOSE:</a:t>
            </a:r>
            <a:br>
              <a:rPr dirty="0"/>
            </a:br>
            <a:br>
              <a:rPr dirty="0"/>
            </a:br>
            <a:r>
              <a:rPr dirty="0"/>
              <a:t>To INFORM and EXPLAIN how a school created and developed a rooftop garden for learning.</a:t>
            </a:r>
            <a:br>
              <a:rPr dirty="0"/>
            </a:br>
            <a:br>
              <a:rPr dirty="0"/>
            </a:br>
            <a:r>
              <a:rPr dirty="0"/>
              <a:t>Evidence across the article:</a:t>
            </a:r>
            <a:br>
              <a:rPr dirty="0"/>
            </a:br>
            <a:r>
              <a:rPr dirty="0"/>
              <a:t>• reasons for the project</a:t>
            </a:r>
            <a:br>
              <a:rPr dirty="0"/>
            </a:br>
            <a:r>
              <a:rPr dirty="0"/>
              <a:t>• how students use the garden</a:t>
            </a:r>
            <a:br>
              <a:rPr dirty="0"/>
            </a:br>
            <a:r>
              <a:rPr dirty="0"/>
              <a:t>• problems and solutions</a:t>
            </a:r>
            <a:br>
              <a:rPr dirty="0"/>
            </a:br>
            <a:r>
              <a:rPr dirty="0"/>
              <a:t>• future plans</a:t>
            </a:r>
            <a:br>
              <a:rPr dirty="0"/>
            </a:br>
            <a:br>
              <a:rPr dirty="0"/>
            </a:br>
            <a:r>
              <a:rPr dirty="0"/>
              <a:t>⭐ We decide purpose from the whole text.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2592"/>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rPr dirty="0"/>
              <a:t>WHAT IS THE AUDIENCE?</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37</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188720"/>
            <a:ext cx="10378440" cy="5632311"/>
          </a:xfrm>
          <a:prstGeom prst="rect">
            <a:avLst/>
          </a:prstGeom>
          <a:noFill/>
        </p:spPr>
        <p:txBody>
          <a:bodyPr wrap="square" anchor="t">
            <a:spAutoFit/>
          </a:bodyPr>
          <a:lstStyle/>
          <a:p>
            <a:pPr algn="l">
              <a:defRPr sz="2400" b="0">
                <a:solidFill>
                  <a:srgbClr val="1F2530"/>
                </a:solidFill>
                <a:latin typeface="Aptos"/>
              </a:defRPr>
            </a:pPr>
            <a:r>
              <a:rPr dirty="0"/>
              <a:t>AUDIENCE = the people the writer expects to read the text.</a:t>
            </a:r>
            <a:br>
              <a:rPr dirty="0"/>
            </a:br>
            <a:br>
              <a:rPr dirty="0"/>
            </a:br>
            <a:r>
              <a:rPr dirty="0"/>
              <a:t>“Who would find this text useful, interesting or appropriate?”</a:t>
            </a:r>
            <a:br>
              <a:rPr dirty="0"/>
            </a:br>
            <a:br>
              <a:rPr dirty="0"/>
            </a:br>
            <a:r>
              <a:rPr dirty="0"/>
              <a:t>Look at:</a:t>
            </a:r>
            <a:br>
              <a:rPr dirty="0"/>
            </a:br>
            <a:br>
              <a:rPr dirty="0"/>
            </a:br>
            <a:r>
              <a:rPr dirty="0"/>
              <a:t>VOCABULARY → Is it simple or highly technical?</a:t>
            </a:r>
            <a:br>
              <a:rPr dirty="0"/>
            </a:br>
            <a:br>
              <a:rPr dirty="0"/>
            </a:br>
            <a:r>
              <a:rPr dirty="0"/>
              <a:t>TONE → Friendly, formal, serious?</a:t>
            </a:r>
            <a:br>
              <a:rPr dirty="0"/>
            </a:br>
            <a:br>
              <a:rPr dirty="0"/>
            </a:br>
            <a:r>
              <a:rPr dirty="0"/>
              <a:t>EXAMPLES → Who can understand them?</a:t>
            </a:r>
            <a:br>
              <a:rPr dirty="0"/>
            </a:br>
            <a:br>
              <a:rPr dirty="0"/>
            </a:br>
            <a:r>
              <a:rPr dirty="0"/>
              <a:t>EXPLANATIONS → How much background is given?</a:t>
            </a:r>
            <a:br>
              <a:rPr dirty="0"/>
            </a:br>
            <a:br>
              <a:rPr dirty="0"/>
            </a:br>
            <a:r>
              <a:rPr dirty="0"/>
              <a:t>TEXT FEATURES → How easy is the information to follow?</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TEACHER MODEL — FIND THE AUDIENCE</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38</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7343" y="1232752"/>
            <a:ext cx="10378440" cy="4154984"/>
          </a:xfrm>
          <a:prstGeom prst="rect">
            <a:avLst/>
          </a:prstGeom>
          <a:noFill/>
        </p:spPr>
        <p:txBody>
          <a:bodyPr wrap="square" anchor="t">
            <a:spAutoFit/>
          </a:bodyPr>
          <a:lstStyle/>
          <a:p>
            <a:pPr algn="l">
              <a:defRPr sz="2400" b="0">
                <a:solidFill>
                  <a:srgbClr val="1F2530"/>
                </a:solidFill>
                <a:latin typeface="Aptos"/>
              </a:defRPr>
            </a:pPr>
            <a:r>
              <a:rPr dirty="0"/>
              <a:t>Look at our article.</a:t>
            </a:r>
            <a:br>
              <a:rPr dirty="0"/>
            </a:br>
            <a:br>
              <a:rPr dirty="0"/>
            </a:br>
            <a:r>
              <a:rPr dirty="0"/>
              <a:t>The writer uses clear explanations, familiar examples and headings. The article explains the project without using specialist scientific language that only experts would understand.</a:t>
            </a:r>
            <a:br>
              <a:rPr dirty="0"/>
            </a:br>
            <a:br>
              <a:rPr dirty="0"/>
            </a:br>
            <a:br>
              <a:rPr dirty="0"/>
            </a:br>
            <a:r>
              <a:rPr dirty="0"/>
              <a:t>“Who could understand and benefit from this article?”</a:t>
            </a:r>
            <a:br>
              <a:rPr dirty="0"/>
            </a:br>
            <a:br>
              <a:rPr dirty="0"/>
            </a:br>
            <a:r>
              <a:rPr dirty="0"/>
              <a:t>→ A broad audience, including students and readers interested in schools or environmental projects.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TEACHER MODEL — ANSWER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39</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2103120" cy="365760"/>
          </a:xfrm>
          <a:prstGeom prst="rect">
            <a:avLst/>
          </a:prstGeom>
          <a:noFill/>
        </p:spPr>
        <p:txBody>
          <a:bodyPr wrap="square" anchor="t">
            <a:spAutoFit/>
          </a:bodyPr>
          <a:lstStyle/>
          <a:p>
            <a:pPr algn="l">
              <a:defRPr sz="1800" b="1">
                <a:solidFill>
                  <a:srgbClr val="318558"/>
                </a:solidFill>
                <a:latin typeface="Aptos"/>
              </a:defRPr>
            </a:pPr>
            <a:r>
              <a:t>✓ ANSWER</a:t>
            </a:r>
          </a:p>
        </p:txBody>
      </p:sp>
      <p:sp>
        <p:nvSpPr>
          <p:cNvPr id="9" name="TextBox 8"/>
          <p:cNvSpPr txBox="1"/>
          <p:nvPr/>
        </p:nvSpPr>
        <p:spPr>
          <a:xfrm>
            <a:off x="868680" y="2350008"/>
            <a:ext cx="10378440" cy="3611880"/>
          </a:xfrm>
          <a:prstGeom prst="rect">
            <a:avLst/>
          </a:prstGeom>
          <a:noFill/>
        </p:spPr>
        <p:txBody>
          <a:bodyPr wrap="square" anchor="t">
            <a:spAutoFit/>
          </a:bodyPr>
          <a:lstStyle/>
          <a:p>
            <a:pPr algn="l">
              <a:defRPr sz="2300" b="0">
                <a:solidFill>
                  <a:srgbClr val="1F2530"/>
                </a:solidFill>
                <a:latin typeface="Aptos"/>
              </a:defRPr>
            </a:pPr>
            <a:r>
              <a:t>MOST LIKELY AUDIENCE:</a:t>
            </a:r>
            <a:br/>
            <a:br/>
            <a:r>
              <a:t>General readers, especially students or people interested in schools, learning and environmental projects.</a:t>
            </a:r>
            <a:br/>
            <a:br/>
            <a:r>
              <a:t>Why?</a:t>
            </a:r>
            <a:br/>
            <a:br/>
            <a:r>
              <a:t>The writer explains ideas clearly and gives enough background for readers who are not experts.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PURPOSE — ARTICLE QUESTION</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40</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74519"/>
            <a:ext cx="10378440" cy="4069080"/>
          </a:xfrm>
          <a:prstGeom prst="rect">
            <a:avLst/>
          </a:prstGeom>
          <a:noFill/>
        </p:spPr>
        <p:txBody>
          <a:bodyPr wrap="square" anchor="t">
            <a:spAutoFit/>
          </a:bodyPr>
          <a:lstStyle/>
          <a:p>
            <a:r>
              <a:t>What is the MAIN purpose of the rooftop garden article?</a:t>
            </a:r>
          </a:p>
          <a:p>
            <a:endParaRPr/>
          </a:p>
          <a:p>
            <a:r>
              <a:t>A. To inform and explain how a school turned an unused space into a learning garden</a:t>
            </a:r>
          </a:p>
          <a:p>
            <a:r>
              <a:t>B. To entertain readers with a fictional story about a school</a:t>
            </a:r>
          </a:p>
          <a:p>
            <a:r>
              <a:t>C. To persuade readers to buy gardening equipment</a:t>
            </a:r>
          </a:p>
          <a:p>
            <a:r>
              <a:t>D. To describe a famous tourist attraction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PURPOSE — ANSWER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41</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2103120" cy="365760"/>
          </a:xfrm>
          <a:prstGeom prst="rect">
            <a:avLst/>
          </a:prstGeom>
          <a:noFill/>
        </p:spPr>
        <p:txBody>
          <a:bodyPr wrap="square" anchor="t">
            <a:spAutoFit/>
          </a:bodyPr>
          <a:lstStyle/>
          <a:p>
            <a:pPr algn="l">
              <a:defRPr sz="1800" b="1">
                <a:solidFill>
                  <a:srgbClr val="318558"/>
                </a:solidFill>
                <a:latin typeface="Aptos"/>
              </a:defRPr>
            </a:pPr>
            <a:r>
              <a:t>✓ ANSWER</a:t>
            </a:r>
          </a:p>
        </p:txBody>
      </p:sp>
      <p:sp>
        <p:nvSpPr>
          <p:cNvPr id="9" name="TextBox 8"/>
          <p:cNvSpPr txBox="1"/>
          <p:nvPr/>
        </p:nvSpPr>
        <p:spPr>
          <a:xfrm>
            <a:off x="868680" y="2350008"/>
            <a:ext cx="10378440" cy="3611880"/>
          </a:xfrm>
          <a:prstGeom prst="rect">
            <a:avLst/>
          </a:prstGeom>
          <a:noFill/>
        </p:spPr>
        <p:txBody>
          <a:bodyPr wrap="square" anchor="t">
            <a:spAutoFit/>
          </a:bodyPr>
          <a:lstStyle/>
          <a:p>
            <a:r>
              <a:t>A. To inform and explain how a school turned an unused space into a learning garden.</a:t>
            </a:r>
            <a:br/>
            <a:br/>
            <a:r>
              <a:t>The article gives factual information about the reasons, process, problems, solutions and future plans.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AUDIENCE — ARTICLE QUESTION</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42</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74519"/>
            <a:ext cx="10378440" cy="4069080"/>
          </a:xfrm>
          <a:prstGeom prst="rect">
            <a:avLst/>
          </a:prstGeom>
          <a:noFill/>
        </p:spPr>
        <p:txBody>
          <a:bodyPr wrap="square" anchor="t">
            <a:spAutoFit/>
          </a:bodyPr>
          <a:lstStyle/>
          <a:p>
            <a:r>
              <a:t>Who is the MOST LIKELY audience?</a:t>
            </a:r>
          </a:p>
          <a:p>
            <a:endParaRPr/>
          </a:p>
          <a:p>
            <a:r>
              <a:t>A. Professional rooftop engineers only</a:t>
            </a:r>
          </a:p>
          <a:p>
            <a:r>
              <a:t>B. People looking for a fictional adventure story</a:t>
            </a:r>
          </a:p>
          <a:p>
            <a:r>
              <a:t>C. General readers, especially students or people interested in schools and environmental projects</a:t>
            </a:r>
          </a:p>
          <a:p>
            <a:r>
              <a:t>D. Only the teachers who created the garden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AUDIENCE — ANSWER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43</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2103120" cy="365760"/>
          </a:xfrm>
          <a:prstGeom prst="rect">
            <a:avLst/>
          </a:prstGeom>
          <a:noFill/>
        </p:spPr>
        <p:txBody>
          <a:bodyPr wrap="square" anchor="t">
            <a:spAutoFit/>
          </a:bodyPr>
          <a:lstStyle/>
          <a:p>
            <a:pPr algn="l">
              <a:defRPr sz="1800" b="1">
                <a:solidFill>
                  <a:srgbClr val="318558"/>
                </a:solidFill>
                <a:latin typeface="Aptos"/>
              </a:defRPr>
            </a:pPr>
            <a:r>
              <a:t>✓ ANSWER</a:t>
            </a:r>
          </a:p>
        </p:txBody>
      </p:sp>
      <p:sp>
        <p:nvSpPr>
          <p:cNvPr id="9" name="TextBox 8"/>
          <p:cNvSpPr txBox="1"/>
          <p:nvPr/>
        </p:nvSpPr>
        <p:spPr>
          <a:xfrm>
            <a:off x="868680" y="2350008"/>
            <a:ext cx="10378440" cy="3611880"/>
          </a:xfrm>
          <a:prstGeom prst="rect">
            <a:avLst/>
          </a:prstGeom>
          <a:noFill/>
        </p:spPr>
        <p:txBody>
          <a:bodyPr wrap="square" anchor="t">
            <a:spAutoFit/>
          </a:bodyPr>
          <a:lstStyle/>
          <a:p>
            <a:r>
              <a:t>C. General readers, especially students or people interested in schools and environmental projects.</a:t>
            </a:r>
            <a:br/>
            <a:br/>
            <a:r>
              <a:t>The writer uses clear explanations, familiar examples and limited technical vocabulary, so a broad audience can understand the project.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TEXT FEATURES — PURPOSE + AUDIENCE</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44</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74519"/>
            <a:ext cx="10378440" cy="4069080"/>
          </a:xfrm>
          <a:prstGeom prst="rect">
            <a:avLst/>
          </a:prstGeom>
          <a:noFill/>
        </p:spPr>
        <p:txBody>
          <a:bodyPr wrap="square" anchor="t">
            <a:spAutoFit/>
          </a:bodyPr>
          <a:lstStyle/>
          <a:p>
            <a:r>
              <a:t>Why has the writer used headings such as:</a:t>
            </a:r>
          </a:p>
          <a:p>
            <a:endParaRPr/>
          </a:p>
          <a:p>
            <a:r>
              <a:t>“An Empty Space”</a:t>
            </a:r>
          </a:p>
          <a:p>
            <a:r>
              <a:t>“A Garden with a Purpose”</a:t>
            </a:r>
          </a:p>
          <a:p>
            <a:r>
              <a:t>“A Few Problems”</a:t>
            </a:r>
          </a:p>
          <a:p>
            <a:r>
              <a:t>“A Change People Could See”?</a:t>
            </a:r>
          </a:p>
          <a:p>
            <a:endParaRPr/>
          </a:p>
          <a:p>
            <a:r>
              <a:t>A. To make the article look longer</a:t>
            </a:r>
          </a:p>
          <a:p>
            <a:r>
              <a:t>B. To hide the most important information</a:t>
            </a:r>
          </a:p>
          <a:p>
            <a:r>
              <a:t>C. To make the article fictional</a:t>
            </a:r>
          </a:p>
          <a:p>
            <a:r>
              <a:t>D. To organise information so readers can follow the different stages of the project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TEXT FEATURES — ANSWER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45</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2103120" cy="365760"/>
          </a:xfrm>
          <a:prstGeom prst="rect">
            <a:avLst/>
          </a:prstGeom>
          <a:noFill/>
        </p:spPr>
        <p:txBody>
          <a:bodyPr wrap="square" anchor="t">
            <a:spAutoFit/>
          </a:bodyPr>
          <a:lstStyle/>
          <a:p>
            <a:pPr algn="l">
              <a:defRPr sz="1800" b="1">
                <a:solidFill>
                  <a:srgbClr val="318558"/>
                </a:solidFill>
                <a:latin typeface="Aptos"/>
              </a:defRPr>
            </a:pPr>
            <a:r>
              <a:t>✓ ANSWER</a:t>
            </a:r>
          </a:p>
        </p:txBody>
      </p:sp>
      <p:sp>
        <p:nvSpPr>
          <p:cNvPr id="9" name="TextBox 8"/>
          <p:cNvSpPr txBox="1"/>
          <p:nvPr/>
        </p:nvSpPr>
        <p:spPr>
          <a:xfrm>
            <a:off x="868680" y="2350008"/>
            <a:ext cx="10378440" cy="3611880"/>
          </a:xfrm>
          <a:prstGeom prst="rect">
            <a:avLst/>
          </a:prstGeom>
          <a:noFill/>
        </p:spPr>
        <p:txBody>
          <a:bodyPr wrap="square" anchor="t">
            <a:spAutoFit/>
          </a:bodyPr>
          <a:lstStyle/>
          <a:p>
            <a:r>
              <a:t>D. To organise information so readers can follow the different stages of the project.</a:t>
            </a:r>
            <a:br/>
            <a:br/>
            <a:r>
              <a:t>The headings help readers predict and locate information quickly.</a:t>
            </a:r>
            <a:br/>
            <a:br/>
            <a:r>
              <a:t>This supports the purpose of informing and explaining and makes the article easier for the audience to follow.</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LANGUAGE CHOICE — PURPOSE + AUDIENCE</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46</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74519"/>
            <a:ext cx="10378440" cy="2862322"/>
          </a:xfrm>
          <a:prstGeom prst="rect">
            <a:avLst/>
          </a:prstGeom>
          <a:noFill/>
        </p:spPr>
        <p:txBody>
          <a:bodyPr wrap="square" anchor="t">
            <a:spAutoFit/>
          </a:bodyPr>
          <a:lstStyle/>
          <a:p>
            <a:r>
              <a:rPr dirty="0"/>
              <a:t>The writer says:</a:t>
            </a:r>
          </a:p>
          <a:p>
            <a:endParaRPr dirty="0"/>
          </a:p>
          <a:p>
            <a:r>
              <a:rPr dirty="0"/>
              <a:t>“A place that had once seemed empty had become a </a:t>
            </a:r>
            <a:r>
              <a:rPr b="1" dirty="0"/>
              <a:t>living classroom</a:t>
            </a:r>
            <a:r>
              <a:rPr dirty="0"/>
              <a:t>.”</a:t>
            </a:r>
          </a:p>
          <a:p>
            <a:endParaRPr dirty="0"/>
          </a:p>
          <a:p>
            <a:r>
              <a:rPr dirty="0"/>
              <a:t>Why is “</a:t>
            </a:r>
            <a:r>
              <a:rPr b="1" dirty="0"/>
              <a:t>living classroom</a:t>
            </a:r>
            <a:r>
              <a:rPr dirty="0"/>
              <a:t>” effective for the audience?</a:t>
            </a:r>
          </a:p>
          <a:p>
            <a:endParaRPr dirty="0"/>
          </a:p>
          <a:p>
            <a:r>
              <a:rPr dirty="0"/>
              <a:t>A. It makes the garden sound dangerous.</a:t>
            </a:r>
          </a:p>
          <a:p>
            <a:r>
              <a:rPr dirty="0"/>
              <a:t>B. It helps readers understand that the garden is a real place where learning happens.</a:t>
            </a:r>
          </a:p>
          <a:p>
            <a:r>
              <a:rPr dirty="0"/>
              <a:t>C. It proves that the garden is a normal classroom.</a:t>
            </a:r>
          </a:p>
          <a:p>
            <a:r>
              <a:rPr dirty="0"/>
              <a:t>D. It shows that lessons no longer happen indoors.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LANGUAGE CHOICE — ANSWER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47</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2103120" cy="365760"/>
          </a:xfrm>
          <a:prstGeom prst="rect">
            <a:avLst/>
          </a:prstGeom>
          <a:noFill/>
        </p:spPr>
        <p:txBody>
          <a:bodyPr wrap="square" anchor="t">
            <a:spAutoFit/>
          </a:bodyPr>
          <a:lstStyle/>
          <a:p>
            <a:pPr algn="l">
              <a:defRPr sz="1800" b="1">
                <a:solidFill>
                  <a:srgbClr val="318558"/>
                </a:solidFill>
                <a:latin typeface="Aptos"/>
              </a:defRPr>
            </a:pPr>
            <a:r>
              <a:t>✓ ANSWER</a:t>
            </a:r>
          </a:p>
        </p:txBody>
      </p:sp>
      <p:sp>
        <p:nvSpPr>
          <p:cNvPr id="9" name="TextBox 8"/>
          <p:cNvSpPr txBox="1"/>
          <p:nvPr/>
        </p:nvSpPr>
        <p:spPr>
          <a:xfrm>
            <a:off x="868680" y="2350008"/>
            <a:ext cx="10378440" cy="3611880"/>
          </a:xfrm>
          <a:prstGeom prst="rect">
            <a:avLst/>
          </a:prstGeom>
          <a:noFill/>
        </p:spPr>
        <p:txBody>
          <a:bodyPr wrap="square" anchor="t">
            <a:spAutoFit/>
          </a:bodyPr>
          <a:lstStyle/>
          <a:p>
            <a:r>
              <a:t>B. It helps readers understand that the garden is a real place where learning happens.</a:t>
            </a:r>
            <a:br/>
            <a:br/>
            <a:r>
              <a:t>The phrase is memorable and easy to understand. It connects the physical garden with the educational purpose of the project.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WE DO — CONNECT THE TWO SKILLS</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48</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74519"/>
            <a:ext cx="10378440" cy="4069080"/>
          </a:xfrm>
          <a:prstGeom prst="rect">
            <a:avLst/>
          </a:prstGeom>
          <a:noFill/>
        </p:spPr>
        <p:txBody>
          <a:bodyPr wrap="square" anchor="t">
            <a:spAutoFit/>
          </a:bodyPr>
          <a:lstStyle/>
          <a:p>
            <a:pPr algn="l">
              <a:defRPr sz="2400" b="0">
                <a:solidFill>
                  <a:srgbClr val="1F2530"/>
                </a:solidFill>
                <a:latin typeface="Aptos"/>
              </a:defRPr>
            </a:pPr>
            <a:r>
              <a:t>Complete the chain:</a:t>
            </a:r>
            <a:br/>
            <a:br/>
            <a:r>
              <a:t>The writer uses CLEAR HEADINGS</a:t>
            </a:r>
            <a:br/>
            <a:br/>
            <a:r>
              <a:t>→ because __________________________</a:t>
            </a:r>
            <a:br/>
            <a:br/>
            <a:r>
              <a:t>→ so the audience __________________________</a:t>
            </a:r>
            <a:br/>
            <a:br/>
            <a:r>
              <a:t>→ which helps the writer __________________________.</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WE DO — ANSWER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49</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2103120" cy="365760"/>
          </a:xfrm>
          <a:prstGeom prst="rect">
            <a:avLst/>
          </a:prstGeom>
          <a:noFill/>
        </p:spPr>
        <p:txBody>
          <a:bodyPr wrap="square" anchor="t">
            <a:spAutoFit/>
          </a:bodyPr>
          <a:lstStyle/>
          <a:p>
            <a:pPr algn="l">
              <a:defRPr sz="1800" b="1">
                <a:solidFill>
                  <a:srgbClr val="318558"/>
                </a:solidFill>
                <a:latin typeface="Aptos"/>
              </a:defRPr>
            </a:pPr>
            <a:r>
              <a:t>✓ ANSWER</a:t>
            </a:r>
          </a:p>
        </p:txBody>
      </p:sp>
      <p:sp>
        <p:nvSpPr>
          <p:cNvPr id="9" name="TextBox 8"/>
          <p:cNvSpPr txBox="1"/>
          <p:nvPr/>
        </p:nvSpPr>
        <p:spPr>
          <a:xfrm>
            <a:off x="868680" y="2350008"/>
            <a:ext cx="10378440" cy="3611880"/>
          </a:xfrm>
          <a:prstGeom prst="rect">
            <a:avLst/>
          </a:prstGeom>
          <a:noFill/>
        </p:spPr>
        <p:txBody>
          <a:bodyPr wrap="square" anchor="t">
            <a:spAutoFit/>
          </a:bodyPr>
          <a:lstStyle/>
          <a:p>
            <a:pPr algn="l">
              <a:defRPr sz="2300" b="0">
                <a:solidFill>
                  <a:srgbClr val="1F2530"/>
                </a:solidFill>
                <a:latin typeface="Aptos"/>
              </a:defRPr>
            </a:pPr>
            <a:r>
              <a:t>Possible answer:</a:t>
            </a:r>
            <a:br/>
            <a:br/>
            <a:r>
              <a:t>The writer uses clear headings</a:t>
            </a:r>
            <a:br/>
            <a:r>
              <a:t>→ because they organise the information</a:t>
            </a:r>
            <a:br/>
            <a:r>
              <a:t>→ so the audience can find and follow ideas easily</a:t>
            </a:r>
            <a:br/>
            <a:r>
              <a:t>→ which helps the writer inform and explain the project clearly.</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FINAL CHECKPOINT — MIXED APPLICATION</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50</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74519"/>
            <a:ext cx="10378440" cy="4069080"/>
          </a:xfrm>
          <a:prstGeom prst="rect">
            <a:avLst/>
          </a:prstGeom>
          <a:noFill/>
        </p:spPr>
        <p:txBody>
          <a:bodyPr wrap="square" anchor="t">
            <a:spAutoFit/>
          </a:bodyPr>
          <a:lstStyle/>
          <a:p>
            <a:pPr algn="l">
              <a:defRPr sz="2400" b="0">
                <a:solidFill>
                  <a:srgbClr val="1F2530"/>
                </a:solidFill>
                <a:latin typeface="Aptos"/>
              </a:defRPr>
            </a:pPr>
            <a:r>
              <a:t>Use the article to answer all four.</a:t>
            </a:r>
            <a:br/>
            <a:br/>
            <a:r>
              <a:t>1. What does “ambitious” mean in Part 1?</a:t>
            </a:r>
            <a:br/>
            <a:br/>
            <a:r>
              <a:t>2. What is the main purpose of the article?</a:t>
            </a:r>
            <a:br/>
            <a:br/>
            <a:r>
              <a:t>3. Who is the most likely audience?</a:t>
            </a:r>
            <a:br/>
            <a:br/>
            <a:r>
              <a:t>4. How do the headings help the writer achieve the purpose?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FINAL CHECKPOINT — ANSWERS</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51</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2103120" cy="365760"/>
          </a:xfrm>
          <a:prstGeom prst="rect">
            <a:avLst/>
          </a:prstGeom>
          <a:noFill/>
        </p:spPr>
        <p:txBody>
          <a:bodyPr wrap="square" anchor="t">
            <a:spAutoFit/>
          </a:bodyPr>
          <a:lstStyle/>
          <a:p>
            <a:pPr algn="l">
              <a:defRPr sz="1800" b="1">
                <a:solidFill>
                  <a:srgbClr val="318558"/>
                </a:solidFill>
                <a:latin typeface="Aptos"/>
              </a:defRPr>
            </a:pPr>
            <a:r>
              <a:t>✓ ANSWER</a:t>
            </a:r>
          </a:p>
        </p:txBody>
      </p:sp>
      <p:sp>
        <p:nvSpPr>
          <p:cNvPr id="9" name="TextBox 8"/>
          <p:cNvSpPr txBox="1"/>
          <p:nvPr/>
        </p:nvSpPr>
        <p:spPr>
          <a:xfrm>
            <a:off x="868680" y="2350008"/>
            <a:ext cx="10378440" cy="3611880"/>
          </a:xfrm>
          <a:prstGeom prst="rect">
            <a:avLst/>
          </a:prstGeom>
          <a:noFill/>
        </p:spPr>
        <p:txBody>
          <a:bodyPr wrap="square" anchor="t">
            <a:spAutoFit/>
          </a:bodyPr>
          <a:lstStyle/>
          <a:p>
            <a:pPr algn="l">
              <a:defRPr sz="2300" b="0">
                <a:solidFill>
                  <a:srgbClr val="1F2530"/>
                </a:solidFill>
                <a:latin typeface="Aptos"/>
              </a:defRPr>
            </a:pPr>
            <a:r>
              <a:t>1. “Ambitious” = requiring a lot of effort or planning.</a:t>
            </a:r>
            <a:br/>
            <a:br/>
            <a:r>
              <a:t>2. Main purpose = to inform and explain the rooftop garden project.</a:t>
            </a:r>
            <a:br/>
            <a:br/>
            <a:r>
              <a:t>3. Audience = general readers, especially students or people interested in schools/environmental projects.</a:t>
            </a:r>
            <a:br/>
            <a:br/>
            <a:r>
              <a:t>4. Headings organise information and help readers follow the project easily.</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INDEPENDENT CHALLENGE</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52</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8339" y="1271016"/>
            <a:ext cx="10378440" cy="4069080"/>
          </a:xfrm>
          <a:prstGeom prst="rect">
            <a:avLst/>
          </a:prstGeom>
          <a:noFill/>
        </p:spPr>
        <p:txBody>
          <a:bodyPr wrap="square" anchor="t">
            <a:spAutoFit/>
          </a:bodyPr>
          <a:lstStyle/>
          <a:p>
            <a:pPr algn="l">
              <a:defRPr sz="2400" b="0">
                <a:solidFill>
                  <a:srgbClr val="1F2530"/>
                </a:solidFill>
                <a:latin typeface="Aptos"/>
              </a:defRPr>
            </a:pPr>
            <a:r>
              <a:rPr dirty="0"/>
              <a:t>Write 3–4 sentences:</a:t>
            </a:r>
            <a:br>
              <a:rPr dirty="0"/>
            </a:br>
            <a:br>
              <a:rPr dirty="0"/>
            </a:br>
            <a:r>
              <a:rPr dirty="0"/>
              <a:t>Explain how the writer makes the article suitable for its audience.</a:t>
            </a:r>
            <a:br>
              <a:rPr dirty="0"/>
            </a:br>
            <a:br>
              <a:rPr dirty="0"/>
            </a:br>
            <a:r>
              <a:rPr dirty="0"/>
              <a:t>Use at least TWO pieces of evidence from the article.</a:t>
            </a:r>
            <a:br>
              <a:rPr dirty="0"/>
            </a:br>
            <a:br>
              <a:rPr dirty="0"/>
            </a:br>
            <a:r>
              <a:rPr dirty="0"/>
              <a:t>You could discuss:</a:t>
            </a:r>
            <a:br>
              <a:rPr dirty="0"/>
            </a:br>
            <a:r>
              <a:rPr dirty="0"/>
              <a:t>• vocabulary</a:t>
            </a:r>
            <a:br>
              <a:rPr dirty="0"/>
            </a:br>
            <a:r>
              <a:rPr dirty="0"/>
              <a:t>• headings</a:t>
            </a:r>
            <a:br>
              <a:rPr dirty="0"/>
            </a:br>
            <a:r>
              <a:rPr dirty="0"/>
              <a:t>• examples</a:t>
            </a:r>
            <a:br>
              <a:rPr dirty="0"/>
            </a:br>
            <a:r>
              <a:rPr dirty="0"/>
              <a:t>• explanations</a:t>
            </a:r>
            <a:br>
              <a:rPr dirty="0"/>
            </a:br>
            <a:r>
              <a:rPr dirty="0"/>
              <a:t>• tone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INDEPENDENT CHALLENGE — MODEL</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53</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2103120" cy="365760"/>
          </a:xfrm>
          <a:prstGeom prst="rect">
            <a:avLst/>
          </a:prstGeom>
          <a:noFill/>
        </p:spPr>
        <p:txBody>
          <a:bodyPr wrap="square" anchor="t">
            <a:spAutoFit/>
          </a:bodyPr>
          <a:lstStyle/>
          <a:p>
            <a:pPr algn="l">
              <a:defRPr sz="1800" b="1">
                <a:solidFill>
                  <a:srgbClr val="318558"/>
                </a:solidFill>
                <a:latin typeface="Aptos"/>
              </a:defRPr>
            </a:pPr>
            <a:r>
              <a:t>✓ ANSWER</a:t>
            </a:r>
          </a:p>
        </p:txBody>
      </p:sp>
      <p:sp>
        <p:nvSpPr>
          <p:cNvPr id="9" name="TextBox 8"/>
          <p:cNvSpPr txBox="1"/>
          <p:nvPr/>
        </p:nvSpPr>
        <p:spPr>
          <a:xfrm>
            <a:off x="868680" y="2350008"/>
            <a:ext cx="10378440" cy="3611880"/>
          </a:xfrm>
          <a:prstGeom prst="rect">
            <a:avLst/>
          </a:prstGeom>
          <a:noFill/>
        </p:spPr>
        <p:txBody>
          <a:bodyPr wrap="square" anchor="t">
            <a:spAutoFit/>
          </a:bodyPr>
          <a:lstStyle/>
          <a:p>
            <a:pPr algn="l">
              <a:defRPr sz="2300" b="0">
                <a:solidFill>
                  <a:srgbClr val="1F2530"/>
                </a:solidFill>
                <a:latin typeface="Aptos"/>
              </a:defRPr>
            </a:pPr>
            <a:r>
              <a:t>The writer makes the article suitable for a general audience by using clear headings and familiar explanations. The headings help readers find information about different stages of the project. The writer also gives concrete examples, such as students measuring plant growth and recording rainfall. These choices make the information easy to follow.</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EXIT TICKET</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54</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74519"/>
            <a:ext cx="10378440" cy="4069080"/>
          </a:xfrm>
          <a:prstGeom prst="rect">
            <a:avLst/>
          </a:prstGeom>
          <a:noFill/>
        </p:spPr>
        <p:txBody>
          <a:bodyPr wrap="square" anchor="t">
            <a:spAutoFit/>
          </a:bodyPr>
          <a:lstStyle/>
          <a:p>
            <a:pPr algn="l">
              <a:defRPr sz="2400" b="0">
                <a:solidFill>
                  <a:srgbClr val="1F2530"/>
                </a:solidFill>
                <a:latin typeface="Aptos"/>
              </a:defRPr>
            </a:pPr>
            <a:r>
              <a:t>Complete:</a:t>
            </a:r>
            <a:br/>
            <a:br/>
            <a:r>
              <a:t>1. A context clue helps me __________________________.</a:t>
            </a:r>
            <a:br/>
            <a:br/>
            <a:r>
              <a:t>2. The main purpose of this article is to __________________________.</a:t>
            </a:r>
            <a:br/>
            <a:br/>
            <a:r>
              <a:t>3. The most likely audience is __________________________.</a:t>
            </a:r>
            <a:br/>
            <a:br/>
            <a:r>
              <a:t>4. One writer’s choice that helps the audience is __________________________.</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EXIT TICKET — ANSWER</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55</a:t>
            </a:r>
          </a:p>
        </p:txBody>
      </p:sp>
      <p:sp>
        <p:nvSpPr>
          <p:cNvPr id="7" name="Rounded Rectangle 6"/>
          <p:cNvSpPr/>
          <p:nvPr/>
        </p:nvSpPr>
        <p:spPr>
          <a:xfrm>
            <a:off x="594360" y="1600200"/>
            <a:ext cx="10972800" cy="4526280"/>
          </a:xfrm>
          <a:prstGeom prst="roundRect">
            <a:avLst/>
          </a:prstGeom>
          <a:solidFill>
            <a:srgbClr val="FFFFFF"/>
          </a:solidFill>
          <a:ln>
            <a:solidFill>
              <a:srgbClr val="E6EF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28800"/>
            <a:ext cx="2103120" cy="365760"/>
          </a:xfrm>
          <a:prstGeom prst="rect">
            <a:avLst/>
          </a:prstGeom>
          <a:noFill/>
        </p:spPr>
        <p:txBody>
          <a:bodyPr wrap="square" anchor="t">
            <a:spAutoFit/>
          </a:bodyPr>
          <a:lstStyle/>
          <a:p>
            <a:pPr algn="l">
              <a:defRPr sz="1800" b="1">
                <a:solidFill>
                  <a:srgbClr val="318558"/>
                </a:solidFill>
                <a:latin typeface="Aptos"/>
              </a:defRPr>
            </a:pPr>
            <a:r>
              <a:t>✓ ANSWER</a:t>
            </a:r>
          </a:p>
        </p:txBody>
      </p:sp>
      <p:sp>
        <p:nvSpPr>
          <p:cNvPr id="9" name="TextBox 8"/>
          <p:cNvSpPr txBox="1"/>
          <p:nvPr/>
        </p:nvSpPr>
        <p:spPr>
          <a:xfrm>
            <a:off x="868680" y="2350008"/>
            <a:ext cx="10378440" cy="3611880"/>
          </a:xfrm>
          <a:prstGeom prst="rect">
            <a:avLst/>
          </a:prstGeom>
          <a:noFill/>
        </p:spPr>
        <p:txBody>
          <a:bodyPr wrap="square" anchor="t">
            <a:spAutoFit/>
          </a:bodyPr>
          <a:lstStyle/>
          <a:p>
            <a:pPr algn="l">
              <a:defRPr sz="2300" b="0">
                <a:solidFill>
                  <a:srgbClr val="1F2530"/>
                </a:solidFill>
                <a:latin typeface="Aptos"/>
              </a:defRPr>
            </a:pPr>
            <a:r>
              <a:t>1. work out the meaning of an unfamiliar word or phrase.</a:t>
            </a:r>
            <a:br/>
            <a:br/>
            <a:r>
              <a:t>2. inform and explain the school’s rooftop garden project.</a:t>
            </a:r>
            <a:br/>
            <a:br/>
            <a:r>
              <a:t>3. general readers, especially students or people interested in schools and environmental projects.</a:t>
            </a:r>
            <a:br/>
            <a:br/>
            <a:r>
              <a:t>4. Possible answers: clear headings, familiar vocabulary, explanations or examples.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EF"/>
          </a:solidFill>
          <a:ln>
            <a:solidFill>
              <a:srgbClr val="F8F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C7E81"/>
          </a:solidFill>
          <a:ln>
            <a:solidFill>
              <a:srgbClr val="1C7E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46888"/>
            <a:ext cx="2743200" cy="274320"/>
          </a:xfrm>
          <a:prstGeom prst="rect">
            <a:avLst/>
          </a:prstGeom>
          <a:noFill/>
        </p:spPr>
        <p:txBody>
          <a:bodyPr wrap="square" anchor="t">
            <a:spAutoFit/>
          </a:bodyPr>
          <a:lstStyle/>
          <a:p>
            <a:pPr algn="l">
              <a:defRPr sz="1200" b="1">
                <a:solidFill>
                  <a:srgbClr val="1C7E81"/>
                </a:solidFill>
                <a:latin typeface="Aptos"/>
              </a:defRPr>
            </a:pPr>
            <a:r>
              <a:t>YEAR 6 • UNIT 2</a:t>
            </a:r>
          </a:p>
        </p:txBody>
      </p:sp>
      <p:sp>
        <p:nvSpPr>
          <p:cNvPr id="5" name="TextBox 4"/>
          <p:cNvSpPr txBox="1"/>
          <p:nvPr/>
        </p:nvSpPr>
        <p:spPr>
          <a:xfrm>
            <a:off x="548640" y="612648"/>
            <a:ext cx="10972800" cy="658368"/>
          </a:xfrm>
          <a:prstGeom prst="rect">
            <a:avLst/>
          </a:prstGeom>
          <a:noFill/>
        </p:spPr>
        <p:txBody>
          <a:bodyPr wrap="square" anchor="t">
            <a:spAutoFit/>
          </a:bodyPr>
          <a:lstStyle/>
          <a:p>
            <a:pPr algn="l">
              <a:defRPr sz="2800" b="1">
                <a:solidFill>
                  <a:srgbClr val="162643"/>
                </a:solidFill>
                <a:latin typeface="Aptos"/>
              </a:defRPr>
            </a:pPr>
            <a:r>
              <a:t>⭐ THE THINKING JOURNEY</a:t>
            </a:r>
          </a:p>
        </p:txBody>
      </p:sp>
      <p:sp>
        <p:nvSpPr>
          <p:cNvPr id="6" name="TextBox 5"/>
          <p:cNvSpPr txBox="1"/>
          <p:nvPr/>
        </p:nvSpPr>
        <p:spPr>
          <a:xfrm>
            <a:off x="11201400" y="6428232"/>
            <a:ext cx="411480" cy="228600"/>
          </a:xfrm>
          <a:prstGeom prst="rect">
            <a:avLst/>
          </a:prstGeom>
          <a:noFill/>
        </p:spPr>
        <p:txBody>
          <a:bodyPr wrap="square" anchor="t">
            <a:spAutoFit/>
          </a:bodyPr>
          <a:lstStyle/>
          <a:p>
            <a:pPr algn="r">
              <a:defRPr sz="1000" b="1">
                <a:solidFill>
                  <a:srgbClr val="1C7E81"/>
                </a:solidFill>
                <a:latin typeface="Aptos"/>
              </a:defRPr>
            </a:pPr>
            <a:r>
              <a:t>56</a:t>
            </a:r>
          </a:p>
        </p:txBody>
      </p:sp>
      <p:sp>
        <p:nvSpPr>
          <p:cNvPr id="7" name="Rounded Rectangle 6"/>
          <p:cNvSpPr/>
          <p:nvPr/>
        </p:nvSpPr>
        <p:spPr>
          <a:xfrm>
            <a:off x="1051560" y="1508760"/>
            <a:ext cx="10058400" cy="3886200"/>
          </a:xfrm>
          <a:prstGeom prst="roundRect">
            <a:avLst/>
          </a:prstGeom>
          <a:solidFill>
            <a:srgbClr val="162643"/>
          </a:solidFill>
          <a:ln>
            <a:solidFill>
              <a:srgbClr val="162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17320" y="1874519"/>
            <a:ext cx="9326880" cy="502920"/>
          </a:xfrm>
          <a:prstGeom prst="rect">
            <a:avLst/>
          </a:prstGeom>
          <a:noFill/>
        </p:spPr>
        <p:txBody>
          <a:bodyPr wrap="square" anchor="t">
            <a:spAutoFit/>
          </a:bodyPr>
          <a:lstStyle/>
          <a:p>
            <a:pPr algn="ctr">
              <a:defRPr sz="2500" b="1">
                <a:solidFill>
                  <a:srgbClr val="E6AB36"/>
                </a:solidFill>
                <a:latin typeface="Aptos"/>
              </a:defRPr>
            </a:pPr>
            <a:r>
              <a:t>1. WHAT DOES THIS WORD MEAN?</a:t>
            </a:r>
          </a:p>
        </p:txBody>
      </p:sp>
      <p:sp>
        <p:nvSpPr>
          <p:cNvPr id="9" name="TextBox 8"/>
          <p:cNvSpPr txBox="1"/>
          <p:nvPr/>
        </p:nvSpPr>
        <p:spPr>
          <a:xfrm>
            <a:off x="5669280" y="2423160"/>
            <a:ext cx="731520" cy="411480"/>
          </a:xfrm>
          <a:prstGeom prst="rect">
            <a:avLst/>
          </a:prstGeom>
          <a:noFill/>
        </p:spPr>
        <p:txBody>
          <a:bodyPr wrap="square" anchor="t">
            <a:spAutoFit/>
          </a:bodyPr>
          <a:lstStyle/>
          <a:p>
            <a:pPr algn="ctr">
              <a:defRPr sz="2800" b="1">
                <a:solidFill>
                  <a:srgbClr val="FFFFFF"/>
                </a:solidFill>
                <a:latin typeface="Aptos"/>
              </a:defRPr>
            </a:pPr>
            <a:r>
              <a:t>↓</a:t>
            </a:r>
          </a:p>
        </p:txBody>
      </p:sp>
      <p:sp>
        <p:nvSpPr>
          <p:cNvPr id="10" name="TextBox 9"/>
          <p:cNvSpPr txBox="1"/>
          <p:nvPr/>
        </p:nvSpPr>
        <p:spPr>
          <a:xfrm>
            <a:off x="1417320" y="2788920"/>
            <a:ext cx="9326880" cy="502920"/>
          </a:xfrm>
          <a:prstGeom prst="rect">
            <a:avLst/>
          </a:prstGeom>
          <a:noFill/>
        </p:spPr>
        <p:txBody>
          <a:bodyPr wrap="square" anchor="t">
            <a:spAutoFit/>
          </a:bodyPr>
          <a:lstStyle/>
          <a:p>
            <a:pPr algn="ctr">
              <a:defRPr sz="2500" b="1">
                <a:solidFill>
                  <a:srgbClr val="FFFFFF"/>
                </a:solidFill>
                <a:latin typeface="Aptos"/>
              </a:defRPr>
            </a:pPr>
            <a:r>
              <a:t>2. WHAT CLUES HELP ME?</a:t>
            </a:r>
          </a:p>
        </p:txBody>
      </p:sp>
      <p:sp>
        <p:nvSpPr>
          <p:cNvPr id="11" name="TextBox 10"/>
          <p:cNvSpPr txBox="1"/>
          <p:nvPr/>
        </p:nvSpPr>
        <p:spPr>
          <a:xfrm>
            <a:off x="5669280" y="3337560"/>
            <a:ext cx="731520" cy="411480"/>
          </a:xfrm>
          <a:prstGeom prst="rect">
            <a:avLst/>
          </a:prstGeom>
          <a:noFill/>
        </p:spPr>
        <p:txBody>
          <a:bodyPr wrap="square" anchor="t">
            <a:spAutoFit/>
          </a:bodyPr>
          <a:lstStyle/>
          <a:p>
            <a:pPr algn="ctr">
              <a:defRPr sz="2800" b="1">
                <a:solidFill>
                  <a:srgbClr val="FFFFFF"/>
                </a:solidFill>
                <a:latin typeface="Aptos"/>
              </a:defRPr>
            </a:pPr>
            <a:r>
              <a:t>↓</a:t>
            </a:r>
          </a:p>
        </p:txBody>
      </p:sp>
      <p:sp>
        <p:nvSpPr>
          <p:cNvPr id="12" name="TextBox 11"/>
          <p:cNvSpPr txBox="1"/>
          <p:nvPr/>
        </p:nvSpPr>
        <p:spPr>
          <a:xfrm>
            <a:off x="1417320" y="3703320"/>
            <a:ext cx="9326880" cy="502920"/>
          </a:xfrm>
          <a:prstGeom prst="rect">
            <a:avLst/>
          </a:prstGeom>
          <a:noFill/>
        </p:spPr>
        <p:txBody>
          <a:bodyPr wrap="square" anchor="t">
            <a:spAutoFit/>
          </a:bodyPr>
          <a:lstStyle/>
          <a:p>
            <a:pPr algn="ctr">
              <a:defRPr sz="2500" b="1">
                <a:solidFill>
                  <a:srgbClr val="E6AB36"/>
                </a:solidFill>
                <a:latin typeface="Aptos"/>
              </a:defRPr>
            </a:pPr>
            <a:r>
              <a:t>3. WHY DID THE WRITER CHOOSE THIS?</a:t>
            </a:r>
          </a:p>
        </p:txBody>
      </p:sp>
      <p:sp>
        <p:nvSpPr>
          <p:cNvPr id="13" name="TextBox 12"/>
          <p:cNvSpPr txBox="1"/>
          <p:nvPr/>
        </p:nvSpPr>
        <p:spPr>
          <a:xfrm>
            <a:off x="5669280" y="4251960"/>
            <a:ext cx="731520" cy="411480"/>
          </a:xfrm>
          <a:prstGeom prst="rect">
            <a:avLst/>
          </a:prstGeom>
          <a:noFill/>
        </p:spPr>
        <p:txBody>
          <a:bodyPr wrap="square" anchor="t">
            <a:spAutoFit/>
          </a:bodyPr>
          <a:lstStyle/>
          <a:p>
            <a:pPr algn="ctr">
              <a:defRPr sz="2800" b="1">
                <a:solidFill>
                  <a:srgbClr val="FFFFFF"/>
                </a:solidFill>
                <a:latin typeface="Aptos"/>
              </a:defRPr>
            </a:pPr>
            <a:r>
              <a:t>↓</a:t>
            </a:r>
          </a:p>
        </p:txBody>
      </p:sp>
      <p:sp>
        <p:nvSpPr>
          <p:cNvPr id="14" name="TextBox 13"/>
          <p:cNvSpPr txBox="1"/>
          <p:nvPr/>
        </p:nvSpPr>
        <p:spPr>
          <a:xfrm>
            <a:off x="1417320" y="4617720"/>
            <a:ext cx="9326880" cy="502920"/>
          </a:xfrm>
          <a:prstGeom prst="rect">
            <a:avLst/>
          </a:prstGeom>
          <a:noFill/>
        </p:spPr>
        <p:txBody>
          <a:bodyPr wrap="square" anchor="t">
            <a:spAutoFit/>
          </a:bodyPr>
          <a:lstStyle/>
          <a:p>
            <a:pPr algn="ctr">
              <a:defRPr sz="2500" b="1">
                <a:solidFill>
                  <a:srgbClr val="FFFFFF"/>
                </a:solidFill>
                <a:latin typeface="Aptos"/>
              </a:defRPr>
            </a:pPr>
            <a:r>
              <a:t>4. WHO IS THE WRITER REACHING?</a:t>
            </a:r>
          </a:p>
        </p:txBody>
      </p:sp>
      <p:sp>
        <p:nvSpPr>
          <p:cNvPr id="15" name="TextBox 14"/>
          <p:cNvSpPr txBox="1"/>
          <p:nvPr/>
        </p:nvSpPr>
        <p:spPr>
          <a:xfrm>
            <a:off x="2011680" y="5669280"/>
            <a:ext cx="8138160" cy="365760"/>
          </a:xfrm>
          <a:prstGeom prst="rect">
            <a:avLst/>
          </a:prstGeom>
          <a:noFill/>
        </p:spPr>
        <p:txBody>
          <a:bodyPr wrap="square" anchor="t">
            <a:spAutoFit/>
          </a:bodyPr>
          <a:lstStyle/>
          <a:p>
            <a:pPr algn="ctr">
              <a:defRPr sz="1800" b="0">
                <a:solidFill>
                  <a:srgbClr val="1F2530"/>
                </a:solidFill>
                <a:latin typeface="Aptos"/>
              </a:defRPr>
            </a:pPr>
            <a:r>
              <a:t>Language → Purpose → Audience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3953</Words>
  <Application>Microsoft Office PowerPoint</Application>
  <PresentationFormat>Widescreen</PresentationFormat>
  <Paragraphs>349</Paragraphs>
  <Slides>55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Rozan Zakaria@meis-eg.com</dc:creator>
  <cp:keywords/>
  <dc:description>generated using python-pptx</dc:description>
  <cp:lastModifiedBy>Rozan Zakaria@meis-eg.com</cp:lastModifiedBy>
  <cp:revision>3</cp:revision>
  <dcterms:created xsi:type="dcterms:W3CDTF">2013-01-27T09:14:16Z</dcterms:created>
  <dcterms:modified xsi:type="dcterms:W3CDTF">2026-09-28T05:34:35Z</dcterms:modified>
  <cp:category/>
</cp:coreProperties>
</file>