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Plans</c:v>
                </c:pt>
              </c:strCache>
            </c:strRef>
          </c:tx>
          <c:spPr>
            <a:solidFill>
              <a:srgbClr val="2A9D8F"/>
            </a:solidFill>
            <a:effectLst/>
          </c:spPr>
          <c:invertIfNegative val="0"/>
          <c:dLbls>
            <c:numFmt formatCode="#,##0" sourceLinked="0"/>
            <c:spPr>
              <a:noFill/>
              <a:ln>
                <a:noFill/>
              </a:ln>
              <a:effectLst/>
            </c:spPr>
            <c:txPr>
              <a:bodyPr/>
              <a:lstStyle/>
              <a:p>
                <a:pPr>
                  <a:defRPr sz="1400" b="0" i="0" u="none" strike="noStrike">
                    <a:solidFill>
                      <a:srgbClr val="0B3C49"/>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Sheet1!$A$2:$A$12</c:f>
              <c:strCache>
                <c:ptCount val="11"/>
                <c:pt idx="0">
                  <c:v>Introduction has no WHY</c:v>
                </c:pt>
                <c:pt idx="1">
                  <c:v>Ending missing or too general</c:v>
                </c:pt>
                <c:pt idx="2">
                  <c:v>Spelling and capital letters</c:v>
                </c:pt>
                <c:pt idx="3">
                  <c:v>Verbs do not agree</c:v>
                </c:pt>
                <c:pt idx="4">
                  <c:v>Title or headings missing</c:v>
                </c:pt>
                <c:pt idx="5">
                  <c:v>Handwriting and spacing</c:v>
                </c:pt>
                <c:pt idx="6">
                  <c:v>Threat not matched to protection</c:v>
                </c:pt>
                <c:pt idx="7">
                  <c:v>Threats too vague</c:v>
                </c:pt>
                <c:pt idx="8">
                  <c:v>Commas with which</c:v>
                </c:pt>
                <c:pt idx="9">
                  <c:v>Repeated facts</c:v>
                </c:pt>
                <c:pt idx="10">
                  <c:v>Facts need checking</c:v>
                </c:pt>
              </c:strCache>
            </c:strRef>
          </c:cat>
          <c:val>
            <c:numRef>
              <c:f>Sheet1!$B$2:$B$12</c:f>
              <c:numCache>
                <c:formatCode>General</c:formatCode>
                <c:ptCount val="11"/>
                <c:pt idx="0">
                  <c:v>8</c:v>
                </c:pt>
                <c:pt idx="1">
                  <c:v>8</c:v>
                </c:pt>
                <c:pt idx="2">
                  <c:v>8</c:v>
                </c:pt>
                <c:pt idx="3">
                  <c:v>7</c:v>
                </c:pt>
                <c:pt idx="4">
                  <c:v>7</c:v>
                </c:pt>
                <c:pt idx="5">
                  <c:v>7</c:v>
                </c:pt>
                <c:pt idx="6">
                  <c:v>5</c:v>
                </c:pt>
                <c:pt idx="7">
                  <c:v>5</c:v>
                </c:pt>
                <c:pt idx="8">
                  <c:v>5</c:v>
                </c:pt>
                <c:pt idx="9">
                  <c:v>4</c:v>
                </c:pt>
                <c:pt idx="10">
                  <c:v>4</c:v>
                </c:pt>
              </c:numCache>
            </c:numRef>
          </c:val>
          <c:extLst>
            <c:ext xmlns:c16="http://schemas.microsoft.com/office/drawing/2014/chart" uri="{C3380CC4-5D6E-409C-BE32-E72D297353CC}">
              <c16:uniqueId val="{00000000-BD69-470B-99EE-9D64ECBA882C}"/>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B3C49"/>
                </a:solidFill>
                <a:latin typeface="+mn-lt"/>
              </a:defRPr>
            </a:pPr>
            <a:endParaRPr lang="en-US"/>
          </a:p>
        </c:txPr>
        <c:crossAx val="2094734552"/>
        <c:crosses val="autoZero"/>
        <c:auto val="1"/>
        <c:lblAlgn val="ctr"/>
        <c:lblOffset val="100"/>
        <c:noMultiLvlLbl val="1"/>
      </c:catAx>
      <c:valAx>
        <c:axId val="2094734552"/>
        <c:scaling>
          <c:orientation val="minMax"/>
          <c:max val="9.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3390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goal: pupils check their report against the success criteria, give partner feedback (one strength, one improvement) and fix the problems that were most common in the Session 4 homework plans.
All examples in this lesson are your pupils' real sentences from the Session 4 homework (no names shown). Skip any example that could embarrass a pupil.
Timing guide: Strengths and class problems 27 · Self-check 15 · Partner feedback 12 · Improve 15 · Plenary 5 · Exit ticket 3 · Transitions 3.
Before the lesson: pupils need their first drafts, their individual feedback sheets (Detailed feedback, homework 4), a pencil or highlighter and a purple pen.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Link: you planned in Session 4, wrote a first draft in Session 5. Today we find what still needs fixing and fix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Read each quote aloud and name the writer: they will be proud. Say which skill it shows. These are real sentences from the plans.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Same routine. Every pupil has now been named for something good.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Counts are taken from the teacher feedback on the 10 homework plans, so they are approximate. Say: the more plans needed a fix, the more likely YOUR draft needs it too. Walk through the list on the right: that is today's order.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Intro formula: WHAT it is + WHY it is important to know about it. Read the left, ask pupils what is missing (the reason), then reveal the right. 8 of the 10 plans had no 'why' in the introduction (Rofida, Ahmed, Yasser, Mera, Waseela, Mostafa, Renad and Sadeel, whose reason only appeared in her ending). Ask which words show the reason (important to know about… because).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Mera's introduction repeated the same idea twice ('critically endangered' and 'among the most endangered') and never said why we should care. Waseela's introduction held speed, claws and tear lines, which then repeated in About: keep facts for About. Mostafa had no introduction: his crossed-out sentence was trying to say 'it is important'.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Point to the chips: every plan and draft needs a title and five headings, each on its own line. Names on the strip are the pupils whose plans needed this (Hussein, Yasser and Yassin had no title; Mostafa, Waseela, Sadeel, Yasser, Renad, Ahmed and Hussein needed headings). Then the two real endings. Formula: Protecting ___ matters because ___.</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Mera's, Waseela's and Ahmed's plans stopped after Protection, so they never answered 'Why does protecting this creature matter?'. Pupils compare the endings: each uses because and names the creature.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Names on the left are the writers. Hussein, Ahmed and Waseela matched threats and protections well (✅). Sadeel and Yassin have a threat with no answer. Ask pupils to suggest a protection before revealing the right column.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Mera and Mostafa gave only one general protection (the plan needs at least two). Yasser repeated a threat in the Protection list and crossed out his best idea. Ahmed's 'feeding them' does not answer the cause.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Teach the rule on the bar. A plural subject was often followed by a singular verb, or he/it/they were mixed. Ask pupils to say the rule aloud. 7 of the 10 plans had agreement problems; five are shown here (Renad's 'it's seagrass and algae' and Yasser's 'which is' appear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Six pupils tried a relative clause, which is excellent: most needed commas (and which are / which is to agree). Mera, Mostafa and Hussein did not try one: ask them to try one today. Waseela's two separate facts about the cheetah can be joined with one. 5 of the 10 plans needed this fix.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A threat needs its cause or result: how does it harm the creature? Also point out repetition: say each fact once, then use they or it. Sadeel repeated 'hold their breath for up to five hours', Mera repeated 'critically endangered', Waseela repeated 'shrinking habitats'. 5 plans had vague threats and 4 repeated facts.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Real facts that needed checking. Ask: how could the writer find out? (a book or reliable website). Pupils must check at least one fact today. Mera's meat fact is true of every lion, so it tells the reader nothing new about West African lions. 4 plans had facts to check.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Real misspellings of topic words from the plans (names show the writer). Pupils copy topic words from a reliable source or the class word bank before writing. Capital letters: names of places, Earth, Amur, the first word of a sentence; never in the middle (Because, Illegal, Habitat). 8 plans had spelling or capital letter problems; 7 had cramped, tiny or overwritten handwriting (Mera, Hussein, Sadeel, Yasser, Renad, Yassin, Ahmed).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mini-whiteboards. Real sentences from the plans. Read each, pupils write the corrected sentence, show boards.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at a time and name each rule. Accept any correct version.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Each pupil finds their own name and reads their target from their feedback sheet. Pupils who finished their plans well still have a target. Say: your target is the first thing to check when you self-check your draft. The targets come straight from each pupil's written feedback.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use this checklist to self-check. Read each aloud. Left: the Session 5 success criteria. Right: today's class targets from the plan feedback. Remind pupils to find evidence for every tick.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Independent. Pupils read their whole draft quietly, mark it, tick the criteria and targets and choose ONE target (start with the target on the previous slide). Colour code: underline topic sentences in green, highlight relative clauses in yellow, circle connectors in orange (pencil or highlighter, not the purple pen). Circulate: conference with pupils who find it hard to give evidence.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Pair pupils so that both can give feedback. Timing: swap and read 4 min, find and talk 3 min, write slip 4 min, say thank you 1 min. Circulate and listen for quoted words and success-criteria language. Partners may pick any problem from the problem slides or a success criterion.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copy this layout on a slip or at the end of their draft. The improvement must link to a success criterion or class target. Stems are optional help.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Pupils read the feedback they received, compare it with their own target, then rewrite. Purple pen for every improvement so progress is visible. Support group first: conference on one paragraph. Move pupils up if they finish early. Remind them to write on every other line.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the improving time. It collects the formulas from the six main problems.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Take 2 or 3 pupils to read an improved sentence aloud. Ask the class: which fix was it? Then traffic lights: pupils show a colour or put a dot on their draft. Use the results to plan the editing session.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Answers: 1 What it is + why it is important to know about it. 2 The cheetah, which is the fastest land animal, lives in Africa. 3 Any ending that begins Protecting ___ matters because ___ and gives a reason.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minutes. Answers: 1 What it is + why it is important to know about it. 2 The cheetah, which is the fastest land animal, lives in Africa. 3 Any ending that begins Protecting ___ matters because ___ and gives a reason.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finish the draft using the feedback. Pupils need their feedback slip, their target and the purple pen. Drafts are edited next session.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0"/>
          </a:xfrm>
          <a:prstGeom prst="rect">
            <a:avLst/>
          </a:prstGeom>
          <a:solidFill>
            <a:schemeClr val="tx1"/>
          </a:solidFill>
          <a:ln/>
        </p:spPr>
      </p:sp>
      <p:sp>
        <p:nvSpPr>
          <p:cNvPr id="3" name="Text 1"/>
          <p:cNvSpPr>
            <a:spLocks noGrp="1"/>
          </p:cNvSpPr>
          <p:nvPr>
            <p:ph type="title" idx="101" hasCustomPrompt="1"/>
          </p:nvPr>
        </p:nvSpPr>
        <p:spPr>
          <a:xfrm>
            <a:off x="457200" y="0"/>
            <a:ext cx="9326880" cy="822960"/>
          </a:xfrm>
          <a:prstGeom prst="rect">
            <a:avLst/>
          </a:prstGeom>
          <a:noFill/>
          <a:ln/>
        </p:spPr>
        <p:txBody>
          <a:bodyPr wrap="square" rtlCol="0"/>
          <a:lstStyle>
            <a:lvl1pPr marL="0" indent="0" algn="l">
              <a:buNone/>
              <a:defRPr lang="en-US" sz="2600" b="1" dirty="0">
                <a:solidFill>
                  <a:schemeClr val="bg1"/>
                </a:solidFill>
                <a:latin typeface="+mj-lt" pitchFamily="34" charset="0"/>
                <a:ea typeface="+mj-lt" pitchFamily="34" charset="-122"/>
                <a:cs typeface="+mj-lt" pitchFamily="34" charset="-120"/>
              </a:defRPr>
            </a:lvl1pPr>
          </a:lstStyle>
          <a:p>
            <a:pPr marL="0" indent="0" algn="l">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914400"/>
            <a:ext cx="9144000" cy="914400"/>
          </a:xfrm>
          <a:prstGeom prst="rect">
            <a:avLst/>
          </a:prstGeom>
          <a:noFill/>
          <a:ln/>
        </p:spPr>
        <p:txBody>
          <a:bodyPr wrap="square" rtlCol="0"/>
          <a:lstStyle>
            <a:lvl1pPr marL="0" indent="0">
              <a:buNone/>
              <a:defRPr lang="en-US" sz="4000" b="1" dirty="0">
                <a:solidFill>
                  <a:schemeClr val="bg1"/>
                </a:solidFill>
                <a:latin typeface="+mj-lt" pitchFamily="34" charset="0"/>
                <a:ea typeface="+mj-lt" pitchFamily="34" charset="-122"/>
                <a:cs typeface="+mj-lt" pitchFamily="34" charset="-120"/>
              </a:defRPr>
            </a:lvl1pPr>
          </a:lstStyle>
          <a:p>
            <a:pPr marL="0" indent="0">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AL">
    <p:bg>
      <p:bgPr>
        <a:solidFill>
          <a:schemeClr val="accent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418320" y="-822960"/>
            <a:ext cx="3566160" cy="3566160"/>
          </a:xfrm>
          <a:prstGeom prst="ellipse">
            <a:avLst/>
          </a:prstGeom>
          <a:solidFill>
            <a:schemeClr val="accent1"/>
          </a:solidFill>
          <a:ln/>
        </p:spPr>
      </p:sp>
      <p:sp>
        <p:nvSpPr>
          <p:cNvPr id="3" name="Shape 1"/>
          <p:cNvSpPr/>
          <p:nvPr/>
        </p:nvSpPr>
        <p:spPr>
          <a:xfrm>
            <a:off x="9966960" y="4846320"/>
            <a:ext cx="2743200" cy="2743200"/>
          </a:xfrm>
          <a:prstGeom prst="ellipse">
            <a:avLst/>
          </a:prstGeom>
          <a:solidFill>
            <a:schemeClr val="accent3"/>
          </a:solidFill>
          <a:ln/>
        </p:spPr>
      </p:sp>
      <p:sp>
        <p:nvSpPr>
          <p:cNvPr id="4" name="Text 2"/>
          <p:cNvSpPr txBox="1"/>
          <p:nvPr/>
        </p:nvSpPr>
        <p:spPr>
          <a:xfrm>
            <a:off x="731520" y="822960"/>
            <a:ext cx="7315200" cy="365760"/>
          </a:xfrm>
          <a:prstGeom prst="rect">
            <a:avLst/>
          </a:prstGeom>
          <a:noFill/>
          <a:ln/>
        </p:spPr>
        <p:txBody>
          <a:bodyPr wrap="square" lIns="0" tIns="0" rIns="0" bIns="0" rtlCol="0" anchor="ctr"/>
          <a:lstStyle/>
          <a:p>
            <a:pPr marL="0" indent="0">
              <a:buNone/>
            </a:pPr>
            <a:r>
              <a:rPr lang="en-US" sz="1400" b="1" kern="0" spc="200" dirty="0">
                <a:solidFill>
                  <a:schemeClr val="accent2"/>
                </a:solidFill>
              </a:rPr>
              <a:t>YEAR 6 ENGLISH · UNIT 2 · SESSION 6</a:t>
            </a:r>
            <a:endParaRPr lang="en-US" sz="1400" dirty="0"/>
          </a:p>
        </p:txBody>
      </p:sp>
      <p:sp>
        <p:nvSpPr>
          <p:cNvPr id="5" name="Text 3"/>
          <p:cNvSpPr txBox="1"/>
          <p:nvPr/>
        </p:nvSpPr>
        <p:spPr>
          <a:xfrm>
            <a:off x="731520" y="1371600"/>
            <a:ext cx="8229600" cy="1005840"/>
          </a:xfrm>
          <a:prstGeom prst="rect">
            <a:avLst/>
          </a:prstGeom>
          <a:noFill/>
          <a:ln/>
        </p:spPr>
        <p:txBody>
          <a:bodyPr wrap="square" lIns="0" tIns="0" rIns="0" bIns="0" rtlCol="0" anchor="ctr"/>
          <a:lstStyle/>
          <a:p>
            <a:pPr marL="0" indent="0">
              <a:buNone/>
            </a:pPr>
            <a:r>
              <a:rPr lang="en-US" sz="4400" b="1" dirty="0">
                <a:solidFill>
                  <a:schemeClr val="bg1"/>
                </a:solidFill>
                <a:latin typeface="+mj-lt" pitchFamily="34" charset="0"/>
                <a:ea typeface="+mj-lt" pitchFamily="34" charset="-122"/>
                <a:cs typeface="+mj-lt" pitchFamily="34" charset="-120"/>
              </a:rPr>
              <a:t>Report Architects</a:t>
            </a:r>
            <a:endParaRPr lang="en-US" sz="4400" dirty="0"/>
          </a:p>
        </p:txBody>
      </p:sp>
      <p:sp>
        <p:nvSpPr>
          <p:cNvPr id="6" name="Text 4"/>
          <p:cNvSpPr txBox="1"/>
          <p:nvPr/>
        </p:nvSpPr>
        <p:spPr>
          <a:xfrm>
            <a:off x="731520" y="2560320"/>
            <a:ext cx="8229600" cy="548640"/>
          </a:xfrm>
          <a:prstGeom prst="rect">
            <a:avLst/>
          </a:prstGeom>
          <a:noFill/>
          <a:ln/>
        </p:spPr>
        <p:txBody>
          <a:bodyPr wrap="square" lIns="0" tIns="0" rIns="0" bIns="0" rtlCol="0" anchor="ctr"/>
          <a:lstStyle/>
          <a:p>
            <a:pPr marL="0" indent="0">
              <a:buNone/>
            </a:pPr>
            <a:r>
              <a:rPr lang="en-US" sz="2400" i="1" dirty="0">
                <a:solidFill>
                  <a:schemeClr val="bg2"/>
                </a:solidFill>
                <a:latin typeface="+mj-lt" pitchFamily="34" charset="0"/>
                <a:ea typeface="+mj-lt" pitchFamily="34" charset="-122"/>
                <a:cs typeface="+mj-lt" pitchFamily="34" charset="-120"/>
              </a:rPr>
              <a:t>Feedback: Check, Share, Improve</a:t>
            </a:r>
            <a:endParaRPr lang="en-US" sz="2400" dirty="0"/>
          </a:p>
        </p:txBody>
      </p:sp>
      <p:sp>
        <p:nvSpPr>
          <p:cNvPr id="7" name="Shape 5"/>
          <p:cNvSpPr/>
          <p:nvPr/>
        </p:nvSpPr>
        <p:spPr>
          <a:xfrm>
            <a:off x="731520" y="3840480"/>
            <a:ext cx="7680960" cy="1325880"/>
          </a:xfrm>
          <a:prstGeom prst="rect">
            <a:avLst/>
          </a:prstGeom>
          <a:solidFill>
            <a:schemeClr val="accent1"/>
          </a:solidFill>
          <a:ln/>
        </p:spPr>
      </p:sp>
      <p:sp>
        <p:nvSpPr>
          <p:cNvPr id="8" name="Text 6"/>
          <p:cNvSpPr txBox="1"/>
          <p:nvPr/>
        </p:nvSpPr>
        <p:spPr>
          <a:xfrm>
            <a:off x="960120" y="3886200"/>
            <a:ext cx="7223760" cy="1234440"/>
          </a:xfrm>
          <a:prstGeom prst="rect">
            <a:avLst/>
          </a:prstGeom>
          <a:noFill/>
          <a:ln/>
        </p:spPr>
        <p:txBody>
          <a:bodyPr wrap="square" lIns="0" tIns="0" rIns="0" bIns="0" rtlCol="0" anchor="ctr"/>
          <a:lstStyle/>
          <a:p>
            <a:pPr marL="0" indent="0">
              <a:buNone/>
            </a:pPr>
            <a:r>
              <a:rPr lang="en-US" sz="1400" b="1" dirty="0">
                <a:solidFill>
                  <a:schemeClr val="accent2"/>
                </a:solidFill>
              </a:rPr>
              <a:t>BIG QUESTION</a:t>
            </a:r>
            <a:endParaRPr lang="en-US" sz="1400" dirty="0"/>
          </a:p>
          <a:p>
            <a:pPr marL="0" indent="0">
              <a:buNone/>
            </a:pPr>
            <a:r>
              <a:rPr lang="en-US" sz="2000" dirty="0">
                <a:solidFill>
                  <a:schemeClr val="bg1"/>
                </a:solidFill>
              </a:rPr>
              <a:t>What do we need to fix in our reports, and how can we fix it?</a:t>
            </a:r>
            <a:endParaRPr lang="en-US" sz="1400" dirty="0"/>
          </a:p>
        </p:txBody>
      </p:sp>
      <p:sp>
        <p:nvSpPr>
          <p:cNvPr id="9" name="Text 7"/>
          <p:cNvSpPr txBox="1"/>
          <p:nvPr/>
        </p:nvSpPr>
        <p:spPr>
          <a:xfrm>
            <a:off x="731520" y="5943600"/>
            <a:ext cx="6400800" cy="365760"/>
          </a:xfrm>
          <a:prstGeom prst="rect">
            <a:avLst/>
          </a:prstGeom>
          <a:noFill/>
          <a:ln/>
        </p:spPr>
        <p:txBody>
          <a:bodyPr wrap="square" lIns="0" tIns="0" rIns="0" bIns="0" rtlCol="0" anchor="ctr"/>
          <a:lstStyle/>
          <a:p>
            <a:pPr marL="0" indent="0">
              <a:buNone/>
            </a:pPr>
            <a:r>
              <a:rPr lang="en-US" sz="1400" dirty="0">
                <a:solidFill>
                  <a:schemeClr val="bg1"/>
                </a:solidFill>
              </a:rPr>
              <a:t>80 minutes · Non-chronological report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Today we will learn to…</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GOALS</a:t>
            </a:r>
            <a:endParaRPr lang="en-US" sz="1100" dirty="0"/>
          </a:p>
        </p:txBody>
      </p:sp>
      <p:sp>
        <p:nvSpPr>
          <p:cNvPr id="5" name="Shape 2"/>
          <p:cNvSpPr/>
          <p:nvPr/>
        </p:nvSpPr>
        <p:spPr>
          <a:xfrm>
            <a:off x="548640" y="1371600"/>
            <a:ext cx="3566160" cy="219456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548640" y="160020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7" name="Text 4"/>
          <p:cNvSpPr txBox="1"/>
          <p:nvPr/>
        </p:nvSpPr>
        <p:spPr>
          <a:xfrm>
            <a:off x="777240" y="237744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See what we already do well</a:t>
            </a:r>
            <a:endParaRPr lang="en-US" sz="1800" dirty="0"/>
          </a:p>
        </p:txBody>
      </p:sp>
      <p:sp>
        <p:nvSpPr>
          <p:cNvPr id="8" name="Shape 5"/>
          <p:cNvSpPr/>
          <p:nvPr/>
        </p:nvSpPr>
        <p:spPr>
          <a:xfrm>
            <a:off x="4361688" y="1371600"/>
            <a:ext cx="3566160" cy="2194560"/>
          </a:xfrm>
          <a:prstGeom prst="rect">
            <a:avLst/>
          </a:prstGeom>
          <a:solidFill>
            <a:schemeClr val="bg1"/>
          </a:solidFill>
          <a:ln/>
          <a:effectLst>
            <a:outerShdw blurRad="76200" dist="25400" dir="5400000" algn="bl" rotWithShape="0">
              <a:srgbClr val="000000">
                <a:alpha val="12000"/>
              </a:srgbClr>
            </a:outerShdw>
          </a:effectLst>
        </p:spPr>
      </p:sp>
      <p:sp>
        <p:nvSpPr>
          <p:cNvPr id="9" name="Text 6"/>
          <p:cNvSpPr txBox="1"/>
          <p:nvPr/>
        </p:nvSpPr>
        <p:spPr>
          <a:xfrm>
            <a:off x="4361688" y="160020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0" name="Text 7"/>
          <p:cNvSpPr txBox="1"/>
          <p:nvPr/>
        </p:nvSpPr>
        <p:spPr>
          <a:xfrm>
            <a:off x="4590288" y="237744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Fix the most common problems in our reports</a:t>
            </a:r>
            <a:endParaRPr lang="en-US" sz="1800" dirty="0"/>
          </a:p>
        </p:txBody>
      </p:sp>
      <p:sp>
        <p:nvSpPr>
          <p:cNvPr id="11" name="Shape 8"/>
          <p:cNvSpPr/>
          <p:nvPr/>
        </p:nvSpPr>
        <p:spPr>
          <a:xfrm>
            <a:off x="8174736" y="1371600"/>
            <a:ext cx="3566160" cy="2194560"/>
          </a:xfrm>
          <a:prstGeom prst="rect">
            <a:avLst/>
          </a:prstGeom>
          <a:solidFill>
            <a:schemeClr val="bg1"/>
          </a:solidFill>
          <a:ln/>
          <a:effectLst>
            <a:outerShdw blurRad="76200" dist="25400" dir="5400000" algn="bl" rotWithShape="0">
              <a:srgbClr val="000000">
                <a:alpha val="12000"/>
              </a:srgbClr>
            </a:outerShdw>
          </a:effectLst>
        </p:spPr>
      </p:sp>
      <p:sp>
        <p:nvSpPr>
          <p:cNvPr id="12" name="Text 9"/>
          <p:cNvSpPr txBox="1"/>
          <p:nvPr/>
        </p:nvSpPr>
        <p:spPr>
          <a:xfrm>
            <a:off x="8174736" y="160020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3" name="Text 10"/>
          <p:cNvSpPr txBox="1"/>
          <p:nvPr/>
        </p:nvSpPr>
        <p:spPr>
          <a:xfrm>
            <a:off x="8403336" y="237744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Check my draft against the success criteria</a:t>
            </a:r>
            <a:endParaRPr lang="en-US" sz="1800" dirty="0"/>
          </a:p>
        </p:txBody>
      </p:sp>
      <p:sp>
        <p:nvSpPr>
          <p:cNvPr id="14" name="Shape 11"/>
          <p:cNvSpPr/>
          <p:nvPr/>
        </p:nvSpPr>
        <p:spPr>
          <a:xfrm>
            <a:off x="548640" y="3840480"/>
            <a:ext cx="3566160" cy="219456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548640" y="406908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6" name="Text 13"/>
          <p:cNvSpPr txBox="1"/>
          <p:nvPr/>
        </p:nvSpPr>
        <p:spPr>
          <a:xfrm>
            <a:off x="777240" y="484632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Give feedback: one strength, one improvement</a:t>
            </a:r>
            <a:endParaRPr lang="en-US" sz="1800" dirty="0"/>
          </a:p>
        </p:txBody>
      </p:sp>
      <p:sp>
        <p:nvSpPr>
          <p:cNvPr id="17" name="Shape 14"/>
          <p:cNvSpPr/>
          <p:nvPr/>
        </p:nvSpPr>
        <p:spPr>
          <a:xfrm>
            <a:off x="4361688" y="3840480"/>
            <a:ext cx="3566160" cy="219456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4361688" y="406908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19" name="Text 16"/>
          <p:cNvSpPr txBox="1"/>
          <p:nvPr/>
        </p:nvSpPr>
        <p:spPr>
          <a:xfrm>
            <a:off x="4590288" y="484632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Improve my draft using feedback</a:t>
            </a:r>
            <a:endParaRPr lang="en-US" sz="1800" dirty="0"/>
          </a:p>
        </p:txBody>
      </p:sp>
      <p:sp>
        <p:nvSpPr>
          <p:cNvPr id="20" name="Shape 17"/>
          <p:cNvSpPr/>
          <p:nvPr/>
        </p:nvSpPr>
        <p:spPr>
          <a:xfrm>
            <a:off x="8174736" y="3840480"/>
            <a:ext cx="3566160" cy="2194560"/>
          </a:xfrm>
          <a:prstGeom prst="rect">
            <a:avLst/>
          </a:prstGeom>
          <a:solidFill>
            <a:schemeClr val="bg1"/>
          </a:solidFill>
          <a:ln/>
          <a:effectLst>
            <a:outerShdw blurRad="76200" dist="25400" dir="5400000" algn="bl" rotWithShape="0">
              <a:srgbClr val="000000">
                <a:alpha val="12000"/>
              </a:srgbClr>
            </a:outerShdw>
          </a:effectLst>
        </p:spPr>
      </p:sp>
      <p:sp>
        <p:nvSpPr>
          <p:cNvPr id="21" name="Text 18"/>
          <p:cNvSpPr txBox="1"/>
          <p:nvPr/>
        </p:nvSpPr>
        <p:spPr>
          <a:xfrm>
            <a:off x="8174736" y="4069080"/>
            <a:ext cx="3566160" cy="731520"/>
          </a:xfrm>
          <a:prstGeom prst="rect">
            <a:avLst/>
          </a:prstGeom>
          <a:noFill/>
          <a:ln/>
        </p:spPr>
        <p:txBody>
          <a:bodyPr wrap="square" lIns="0" tIns="0" rIns="0" bIns="0" rtlCol="0" anchor="ctr"/>
          <a:lstStyle/>
          <a:p>
            <a:pPr marL="0" indent="0" algn="ctr">
              <a:buNone/>
            </a:pPr>
            <a:r>
              <a:rPr lang="en-US" sz="3600" dirty="0">
                <a:solidFill>
                  <a:srgbClr val="000000"/>
                </a:solidFill>
              </a:rPr>
              <a:t>🎯</a:t>
            </a:r>
            <a:endParaRPr lang="en-US" sz="3600" dirty="0"/>
          </a:p>
        </p:txBody>
      </p:sp>
      <p:sp>
        <p:nvSpPr>
          <p:cNvPr id="22" name="Text 19"/>
          <p:cNvSpPr txBox="1"/>
          <p:nvPr/>
        </p:nvSpPr>
        <p:spPr>
          <a:xfrm>
            <a:off x="8403336" y="4846320"/>
            <a:ext cx="3108960" cy="1005840"/>
          </a:xfrm>
          <a:prstGeom prst="rect">
            <a:avLst/>
          </a:prstGeom>
          <a:noFill/>
          <a:ln/>
        </p:spPr>
        <p:txBody>
          <a:bodyPr wrap="square" lIns="0" tIns="0" rIns="0" bIns="0" rtlCol="0" anchor="t"/>
          <a:lstStyle/>
          <a:p>
            <a:pPr marL="0" indent="0" algn="ctr">
              <a:buNone/>
            </a:pPr>
            <a:r>
              <a:rPr lang="en-US" sz="1800" b="1" dirty="0">
                <a:solidFill>
                  <a:schemeClr val="tx1"/>
                </a:solidFill>
              </a:rPr>
              <a:t>Set myself a target for editing</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What you did well (1)</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STRENGTHS</a:t>
            </a:r>
            <a:endParaRPr lang="en-US" sz="1100" dirty="0"/>
          </a:p>
        </p:txBody>
      </p:sp>
      <p:sp>
        <p:nvSpPr>
          <p:cNvPr id="5" name="Card WASEELA · SPECIFIC PROTECTION"/>
          <p:cNvSpPr/>
          <p:nvPr/>
        </p:nvSpPr>
        <p:spPr>
          <a:xfrm>
            <a:off x="548640" y="1188720"/>
            <a:ext cx="3566160" cy="214884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88720"/>
            <a:ext cx="3566160" cy="457200"/>
          </a:xfrm>
          <a:prstGeom prst="rect">
            <a:avLst/>
          </a:prstGeom>
          <a:solidFill>
            <a:schemeClr val="accent1"/>
          </a:solidFill>
          <a:ln/>
        </p:spPr>
      </p:sp>
      <p:sp>
        <p:nvSpPr>
          <p:cNvPr id="7" name="Text 4"/>
          <p:cNvSpPr txBox="1"/>
          <p:nvPr/>
        </p:nvSpPr>
        <p:spPr>
          <a:xfrm>
            <a:off x="676656" y="1188720"/>
            <a:ext cx="3383280" cy="457200"/>
          </a:xfrm>
          <a:prstGeom prst="rect">
            <a:avLst/>
          </a:prstGeom>
          <a:noFill/>
          <a:ln/>
        </p:spPr>
        <p:txBody>
          <a:bodyPr wrap="square" lIns="0" tIns="0" rIns="0" bIns="0" rtlCol="0" anchor="ctr"/>
          <a:lstStyle/>
          <a:p>
            <a:pPr marL="0" indent="0">
              <a:buNone/>
            </a:pPr>
            <a:r>
              <a:rPr lang="en-US" sz="1300" b="1" dirty="0">
                <a:solidFill>
                  <a:schemeClr val="bg1"/>
                </a:solidFill>
              </a:rPr>
              <a:t>WASEELA · SPECIFIC PROTECTION</a:t>
            </a:r>
            <a:endParaRPr lang="en-US" sz="1300" dirty="0"/>
          </a:p>
        </p:txBody>
      </p:sp>
      <p:sp>
        <p:nvSpPr>
          <p:cNvPr id="8" name="Text 5"/>
          <p:cNvSpPr txBox="1"/>
          <p:nvPr/>
        </p:nvSpPr>
        <p:spPr>
          <a:xfrm>
            <a:off x="658368" y="1719072"/>
            <a:ext cx="3346704" cy="1545336"/>
          </a:xfrm>
          <a:prstGeom prst="rect">
            <a:avLst/>
          </a:prstGeom>
          <a:noFill/>
          <a:ln/>
        </p:spPr>
        <p:txBody>
          <a:bodyPr wrap="square" lIns="508" tIns="508" rIns="508" bIns="508" rtlCol="0" anchor="t"/>
          <a:lstStyle/>
          <a:p>
            <a:pPr marL="0" indent="0" algn="l">
              <a:buNone/>
            </a:pPr>
            <a:r>
              <a:rPr lang="en-US" sz="1700" i="1" dirty="0">
                <a:solidFill>
                  <a:schemeClr val="tx1"/>
                </a:solidFill>
              </a:rPr>
              <a:t>“Organizations place trained shepherd dogs on farms to deter cheetahs safely, reducing livestock loss and preventing retaliatory killings.”</a:t>
            </a:r>
            <a:endParaRPr lang="en-US" sz="1700" dirty="0"/>
          </a:p>
        </p:txBody>
      </p:sp>
      <p:sp>
        <p:nvSpPr>
          <p:cNvPr id="9" name="Card SADEEL · THREAT SHOWS THE CAUSE"/>
          <p:cNvSpPr/>
          <p:nvPr/>
        </p:nvSpPr>
        <p:spPr>
          <a:xfrm>
            <a:off x="4361688" y="1188720"/>
            <a:ext cx="3566160" cy="214884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4361688" y="1188720"/>
            <a:ext cx="3566160" cy="457200"/>
          </a:xfrm>
          <a:prstGeom prst="rect">
            <a:avLst/>
          </a:prstGeom>
          <a:solidFill>
            <a:schemeClr val="accent2"/>
          </a:solidFill>
          <a:ln/>
        </p:spPr>
      </p:sp>
      <p:sp>
        <p:nvSpPr>
          <p:cNvPr id="11" name="Text 8"/>
          <p:cNvSpPr txBox="1"/>
          <p:nvPr/>
        </p:nvSpPr>
        <p:spPr>
          <a:xfrm>
            <a:off x="4489704" y="1188720"/>
            <a:ext cx="3383280" cy="457200"/>
          </a:xfrm>
          <a:prstGeom prst="rect">
            <a:avLst/>
          </a:prstGeom>
          <a:noFill/>
          <a:ln/>
        </p:spPr>
        <p:txBody>
          <a:bodyPr wrap="square" lIns="0" tIns="0" rIns="0" bIns="0" rtlCol="0" anchor="ctr"/>
          <a:lstStyle/>
          <a:p>
            <a:pPr marL="0" indent="0">
              <a:buNone/>
            </a:pPr>
            <a:r>
              <a:rPr lang="en-US" sz="1300" b="1" dirty="0">
                <a:solidFill>
                  <a:schemeClr val="tx1"/>
                </a:solidFill>
              </a:rPr>
              <a:t>SADEEL · THREAT SHOWS THE CAUSE</a:t>
            </a:r>
            <a:endParaRPr lang="en-US" sz="1300" dirty="0"/>
          </a:p>
        </p:txBody>
      </p:sp>
      <p:sp>
        <p:nvSpPr>
          <p:cNvPr id="12" name="Text 9"/>
          <p:cNvSpPr txBox="1"/>
          <p:nvPr/>
        </p:nvSpPr>
        <p:spPr>
          <a:xfrm>
            <a:off x="4471416" y="1719072"/>
            <a:ext cx="3346704" cy="1545336"/>
          </a:xfrm>
          <a:prstGeom prst="rect">
            <a:avLst/>
          </a:prstGeom>
          <a:noFill/>
          <a:ln/>
        </p:spPr>
        <p:txBody>
          <a:bodyPr wrap="square" lIns="508" tIns="508" rIns="508" bIns="508" rtlCol="0" anchor="t"/>
          <a:lstStyle/>
          <a:p>
            <a:pPr marL="0" indent="0" algn="l">
              <a:buNone/>
            </a:pPr>
            <a:r>
              <a:rPr lang="en-US" sz="1700" i="1" dirty="0">
                <a:solidFill>
                  <a:schemeClr val="tx1"/>
                </a:solidFill>
              </a:rPr>
              <a:t>“Plastic pollution: turtles often mistake plastic bags for jellyfish and eat them.”</a:t>
            </a:r>
            <a:endParaRPr lang="en-US" sz="1700" dirty="0"/>
          </a:p>
        </p:txBody>
      </p:sp>
      <p:sp>
        <p:nvSpPr>
          <p:cNvPr id="13" name="Card HUSSEIN · THREAT MATCHED TO PROTECTION"/>
          <p:cNvSpPr/>
          <p:nvPr/>
        </p:nvSpPr>
        <p:spPr>
          <a:xfrm>
            <a:off x="8174736" y="1188720"/>
            <a:ext cx="3566160" cy="214884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8174736" y="1188720"/>
            <a:ext cx="3566160" cy="457200"/>
          </a:xfrm>
          <a:prstGeom prst="rect">
            <a:avLst/>
          </a:prstGeom>
          <a:solidFill>
            <a:schemeClr val="accent3"/>
          </a:solidFill>
          <a:ln/>
        </p:spPr>
      </p:sp>
      <p:sp>
        <p:nvSpPr>
          <p:cNvPr id="15" name="Text 12"/>
          <p:cNvSpPr txBox="1"/>
          <p:nvPr/>
        </p:nvSpPr>
        <p:spPr>
          <a:xfrm>
            <a:off x="8302752" y="1188720"/>
            <a:ext cx="3383280" cy="457200"/>
          </a:xfrm>
          <a:prstGeom prst="rect">
            <a:avLst/>
          </a:prstGeom>
          <a:noFill/>
          <a:ln/>
        </p:spPr>
        <p:txBody>
          <a:bodyPr wrap="square" lIns="0" tIns="0" rIns="0" bIns="0" rtlCol="0" anchor="ctr"/>
          <a:lstStyle/>
          <a:p>
            <a:pPr marL="0" indent="0">
              <a:buNone/>
            </a:pPr>
            <a:r>
              <a:rPr lang="en-US" sz="1300" b="1" dirty="0">
                <a:solidFill>
                  <a:schemeClr val="bg1"/>
                </a:solidFill>
              </a:rPr>
              <a:t>HUSSEIN · THREAT MATCHED TO PROTECTION</a:t>
            </a:r>
            <a:endParaRPr lang="en-US" sz="1300" dirty="0"/>
          </a:p>
        </p:txBody>
      </p:sp>
      <p:sp>
        <p:nvSpPr>
          <p:cNvPr id="16" name="Text 13"/>
          <p:cNvSpPr txBox="1"/>
          <p:nvPr/>
        </p:nvSpPr>
        <p:spPr>
          <a:xfrm>
            <a:off x="8284464" y="1719072"/>
            <a:ext cx="3346704" cy="1545336"/>
          </a:xfrm>
          <a:prstGeom prst="rect">
            <a:avLst/>
          </a:prstGeom>
          <a:noFill/>
          <a:ln/>
        </p:spPr>
        <p:txBody>
          <a:bodyPr wrap="square" lIns="508" tIns="508" rIns="508" bIns="508" rtlCol="0" anchor="t"/>
          <a:lstStyle/>
          <a:p>
            <a:pPr marL="0" indent="0" algn="l">
              <a:buNone/>
            </a:pPr>
            <a:r>
              <a:rPr lang="en-US" sz="1700" i="1" dirty="0">
                <a:solidFill>
                  <a:schemeClr val="tx1"/>
                </a:solidFill>
              </a:rPr>
              <a:t>“Getting caught in fishing nets” ➜ “using safe fishing nets with escape doors”</a:t>
            </a:r>
            <a:endParaRPr lang="en-US" sz="1700" dirty="0"/>
          </a:p>
        </p:txBody>
      </p:sp>
      <p:sp>
        <p:nvSpPr>
          <p:cNvPr id="17" name="Card MERA · REAL, SPECIFIC THREATS"/>
          <p:cNvSpPr/>
          <p:nvPr/>
        </p:nvSpPr>
        <p:spPr>
          <a:xfrm>
            <a:off x="548640" y="3566160"/>
            <a:ext cx="3566160" cy="2148840"/>
          </a:xfrm>
          <a:prstGeom prst="rect">
            <a:avLst/>
          </a:prstGeom>
          <a:solidFill>
            <a:schemeClr val="bg1"/>
          </a:solidFill>
          <a:ln/>
          <a:effectLst>
            <a:outerShdw blurRad="76200" dist="25400" dir="5400000" algn="bl" rotWithShape="0">
              <a:srgbClr val="000000">
                <a:alpha val="12000"/>
              </a:srgbClr>
            </a:outerShdw>
          </a:effectLst>
        </p:spPr>
      </p:sp>
      <p:sp>
        <p:nvSpPr>
          <p:cNvPr id="18" name="Shape 15"/>
          <p:cNvSpPr/>
          <p:nvPr/>
        </p:nvSpPr>
        <p:spPr>
          <a:xfrm>
            <a:off x="548640" y="3566160"/>
            <a:ext cx="3566160" cy="457200"/>
          </a:xfrm>
          <a:prstGeom prst="rect">
            <a:avLst/>
          </a:prstGeom>
          <a:solidFill>
            <a:schemeClr val="tx1"/>
          </a:solidFill>
          <a:ln/>
        </p:spPr>
      </p:sp>
      <p:sp>
        <p:nvSpPr>
          <p:cNvPr id="19" name="Text 16"/>
          <p:cNvSpPr txBox="1"/>
          <p:nvPr/>
        </p:nvSpPr>
        <p:spPr>
          <a:xfrm>
            <a:off x="676656" y="3566160"/>
            <a:ext cx="3383280" cy="457200"/>
          </a:xfrm>
          <a:prstGeom prst="rect">
            <a:avLst/>
          </a:prstGeom>
          <a:noFill/>
          <a:ln/>
        </p:spPr>
        <p:txBody>
          <a:bodyPr wrap="square" lIns="0" tIns="0" rIns="0" bIns="0" rtlCol="0" anchor="ctr"/>
          <a:lstStyle/>
          <a:p>
            <a:pPr marL="0" indent="0">
              <a:buNone/>
            </a:pPr>
            <a:r>
              <a:rPr lang="en-US" sz="1300" b="1" dirty="0">
                <a:solidFill>
                  <a:schemeClr val="bg1"/>
                </a:solidFill>
              </a:rPr>
              <a:t>MERA · REAL, SPECIFIC THREATS</a:t>
            </a:r>
            <a:endParaRPr lang="en-US" sz="1300" dirty="0"/>
          </a:p>
        </p:txBody>
      </p:sp>
      <p:sp>
        <p:nvSpPr>
          <p:cNvPr id="20" name="Text 17"/>
          <p:cNvSpPr txBox="1"/>
          <p:nvPr/>
        </p:nvSpPr>
        <p:spPr>
          <a:xfrm>
            <a:off x="658368" y="4096512"/>
            <a:ext cx="3346704" cy="1545336"/>
          </a:xfrm>
          <a:prstGeom prst="rect">
            <a:avLst/>
          </a:prstGeom>
          <a:noFill/>
          <a:ln/>
        </p:spPr>
        <p:txBody>
          <a:bodyPr wrap="square" lIns="508" tIns="508" rIns="508" bIns="508" rtlCol="0" anchor="t"/>
          <a:lstStyle/>
          <a:p>
            <a:pPr marL="0" indent="0" algn="l">
              <a:buNone/>
            </a:pPr>
            <a:r>
              <a:rPr lang="en-US" sz="1700" i="1" dirty="0">
                <a:solidFill>
                  <a:schemeClr val="tx1"/>
                </a:solidFill>
              </a:rPr>
              <a:t>“Prey depletion and human wildlife conflict and retaliatory killings.” Three real threats, specific to big cats.</a:t>
            </a:r>
            <a:endParaRPr lang="en-US" sz="1700" dirty="0"/>
          </a:p>
        </p:txBody>
      </p:sp>
      <p:sp>
        <p:nvSpPr>
          <p:cNvPr id="21" name="Card AHMED · EXPLAINS WHY"/>
          <p:cNvSpPr/>
          <p:nvPr/>
        </p:nvSpPr>
        <p:spPr>
          <a:xfrm>
            <a:off x="4361688" y="3566160"/>
            <a:ext cx="3566160" cy="2148840"/>
          </a:xfrm>
          <a:prstGeom prst="rect">
            <a:avLst/>
          </a:prstGeom>
          <a:solidFill>
            <a:schemeClr val="bg1"/>
          </a:solidFill>
          <a:ln/>
          <a:effectLst>
            <a:outerShdw blurRad="76200" dist="25400" dir="5400000" algn="bl" rotWithShape="0">
              <a:srgbClr val="000000">
                <a:alpha val="12000"/>
              </a:srgbClr>
            </a:outerShdw>
          </a:effectLst>
        </p:spPr>
      </p:sp>
      <p:sp>
        <p:nvSpPr>
          <p:cNvPr id="22" name="Shape 19"/>
          <p:cNvSpPr/>
          <p:nvPr/>
        </p:nvSpPr>
        <p:spPr>
          <a:xfrm>
            <a:off x="4361688" y="3566160"/>
            <a:ext cx="3566160" cy="457200"/>
          </a:xfrm>
          <a:prstGeom prst="rect">
            <a:avLst/>
          </a:prstGeom>
          <a:solidFill>
            <a:schemeClr val="accent1"/>
          </a:solidFill>
          <a:ln/>
        </p:spPr>
      </p:sp>
      <p:sp>
        <p:nvSpPr>
          <p:cNvPr id="23" name="Text 20"/>
          <p:cNvSpPr txBox="1"/>
          <p:nvPr/>
        </p:nvSpPr>
        <p:spPr>
          <a:xfrm>
            <a:off x="4489704" y="3566160"/>
            <a:ext cx="3383280" cy="457200"/>
          </a:xfrm>
          <a:prstGeom prst="rect">
            <a:avLst/>
          </a:prstGeom>
          <a:noFill/>
          <a:ln/>
        </p:spPr>
        <p:txBody>
          <a:bodyPr wrap="square" lIns="0" tIns="0" rIns="0" bIns="0" rtlCol="0" anchor="ctr"/>
          <a:lstStyle/>
          <a:p>
            <a:pPr marL="0" indent="0">
              <a:buNone/>
            </a:pPr>
            <a:r>
              <a:rPr lang="en-US" sz="1300" b="1" dirty="0">
                <a:solidFill>
                  <a:schemeClr val="bg1"/>
                </a:solidFill>
              </a:rPr>
              <a:t>AHMED · EXPLAINS WHY</a:t>
            </a:r>
            <a:endParaRPr lang="en-US" sz="1300" dirty="0"/>
          </a:p>
        </p:txBody>
      </p:sp>
      <p:sp>
        <p:nvSpPr>
          <p:cNvPr id="24" name="Text 21"/>
          <p:cNvSpPr txBox="1"/>
          <p:nvPr/>
        </p:nvSpPr>
        <p:spPr>
          <a:xfrm>
            <a:off x="4471416" y="4096512"/>
            <a:ext cx="3346704" cy="1545336"/>
          </a:xfrm>
          <a:prstGeom prst="rect">
            <a:avLst/>
          </a:prstGeom>
          <a:noFill/>
          <a:ln/>
        </p:spPr>
        <p:txBody>
          <a:bodyPr wrap="square" lIns="508" tIns="508" rIns="508" bIns="508" rtlCol="0" anchor="t"/>
          <a:lstStyle/>
          <a:p>
            <a:pPr marL="0" indent="0" algn="l">
              <a:buNone/>
            </a:pPr>
            <a:r>
              <a:rPr lang="en-US" sz="1700" i="1" dirty="0">
                <a:solidFill>
                  <a:schemeClr val="tx1"/>
                </a:solidFill>
              </a:rPr>
              <a:t>“To survive the cold it has big paws and thick fur to survive harsh winters.”</a:t>
            </a:r>
            <a:endParaRPr lang="en-US" sz="1700" dirty="0"/>
          </a:p>
        </p:txBody>
      </p:sp>
      <p:sp>
        <p:nvSpPr>
          <p:cNvPr id="25" name="Card ROFIDA · ENDING WITH BECAUSE"/>
          <p:cNvSpPr/>
          <p:nvPr/>
        </p:nvSpPr>
        <p:spPr>
          <a:xfrm>
            <a:off x="8174736" y="3566160"/>
            <a:ext cx="3566160" cy="2148840"/>
          </a:xfrm>
          <a:prstGeom prst="rect">
            <a:avLst/>
          </a:prstGeom>
          <a:solidFill>
            <a:schemeClr val="bg1"/>
          </a:solidFill>
          <a:ln/>
          <a:effectLst>
            <a:outerShdw blurRad="76200" dist="25400" dir="5400000" algn="bl" rotWithShape="0">
              <a:srgbClr val="000000">
                <a:alpha val="12000"/>
              </a:srgbClr>
            </a:outerShdw>
          </a:effectLst>
        </p:spPr>
      </p:sp>
      <p:sp>
        <p:nvSpPr>
          <p:cNvPr id="26" name="Shape 23"/>
          <p:cNvSpPr/>
          <p:nvPr/>
        </p:nvSpPr>
        <p:spPr>
          <a:xfrm>
            <a:off x="8174736" y="3566160"/>
            <a:ext cx="3566160" cy="457200"/>
          </a:xfrm>
          <a:prstGeom prst="rect">
            <a:avLst/>
          </a:prstGeom>
          <a:solidFill>
            <a:schemeClr val="accent2"/>
          </a:solidFill>
          <a:ln/>
        </p:spPr>
      </p:sp>
      <p:sp>
        <p:nvSpPr>
          <p:cNvPr id="27" name="Text 24"/>
          <p:cNvSpPr txBox="1"/>
          <p:nvPr/>
        </p:nvSpPr>
        <p:spPr>
          <a:xfrm>
            <a:off x="8302752" y="3566160"/>
            <a:ext cx="3383280" cy="457200"/>
          </a:xfrm>
          <a:prstGeom prst="rect">
            <a:avLst/>
          </a:prstGeom>
          <a:noFill/>
          <a:ln/>
        </p:spPr>
        <p:txBody>
          <a:bodyPr wrap="square" lIns="0" tIns="0" rIns="0" bIns="0" rtlCol="0" anchor="ctr"/>
          <a:lstStyle/>
          <a:p>
            <a:pPr marL="0" indent="0">
              <a:buNone/>
            </a:pPr>
            <a:r>
              <a:rPr lang="en-US" sz="1300" b="1" dirty="0">
                <a:solidFill>
                  <a:schemeClr val="tx1"/>
                </a:solidFill>
              </a:rPr>
              <a:t>ROFIDA · ENDING WITH BECAUSE</a:t>
            </a:r>
            <a:endParaRPr lang="en-US" sz="1300" dirty="0"/>
          </a:p>
        </p:txBody>
      </p:sp>
      <p:sp>
        <p:nvSpPr>
          <p:cNvPr id="28" name="Text 25"/>
          <p:cNvSpPr txBox="1"/>
          <p:nvPr/>
        </p:nvSpPr>
        <p:spPr>
          <a:xfrm>
            <a:off x="8284464" y="4096512"/>
            <a:ext cx="3346704" cy="1545336"/>
          </a:xfrm>
          <a:prstGeom prst="rect">
            <a:avLst/>
          </a:prstGeom>
          <a:noFill/>
          <a:ln/>
        </p:spPr>
        <p:txBody>
          <a:bodyPr wrap="square" lIns="508" tIns="508" rIns="508" bIns="508" rtlCol="0" anchor="t"/>
          <a:lstStyle/>
          <a:p>
            <a:pPr marL="0" indent="0" algn="l">
              <a:buNone/>
            </a:pPr>
            <a:r>
              <a:rPr lang="en-US" sz="1700" i="1" dirty="0">
                <a:solidFill>
                  <a:schemeClr val="tx1"/>
                </a:solidFill>
              </a:rPr>
              <a:t>“People must protect them because they help keep nature balance.”</a:t>
            </a:r>
            <a:endParaRPr lang="en-US" sz="1700" dirty="0"/>
          </a:p>
        </p:txBody>
      </p:sp>
      <p:sp>
        <p:nvSpPr>
          <p:cNvPr id="29" name="Text 26"/>
          <p:cNvSpPr txBox="1"/>
          <p:nvPr/>
        </p:nvSpPr>
        <p:spPr>
          <a:xfrm>
            <a:off x="548640" y="598932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Strong ideas, strong research. Now let’s make every plan and draft even stronger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What you did well (2)</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STRENGTHS</a:t>
            </a:r>
            <a:endParaRPr lang="en-US" sz="1100" dirty="0"/>
          </a:p>
        </p:txBody>
      </p:sp>
      <p:sp>
        <p:nvSpPr>
          <p:cNvPr id="5" name="Card YASSIN · ONE SENTENCE, TWO JOBS"/>
          <p:cNvSpPr/>
          <p:nvPr/>
        </p:nvSpPr>
        <p:spPr>
          <a:xfrm>
            <a:off x="548640" y="1188720"/>
            <a:ext cx="3566160" cy="214884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88720"/>
            <a:ext cx="3566160" cy="457200"/>
          </a:xfrm>
          <a:prstGeom prst="rect">
            <a:avLst/>
          </a:prstGeom>
          <a:solidFill>
            <a:schemeClr val="accent1"/>
          </a:solidFill>
          <a:ln/>
        </p:spPr>
      </p:sp>
      <p:sp>
        <p:nvSpPr>
          <p:cNvPr id="7" name="Text 4"/>
          <p:cNvSpPr txBox="1"/>
          <p:nvPr/>
        </p:nvSpPr>
        <p:spPr>
          <a:xfrm>
            <a:off x="676656" y="1188720"/>
            <a:ext cx="3383280" cy="457200"/>
          </a:xfrm>
          <a:prstGeom prst="rect">
            <a:avLst/>
          </a:prstGeom>
          <a:noFill/>
          <a:ln/>
        </p:spPr>
        <p:txBody>
          <a:bodyPr wrap="square" lIns="0" tIns="0" rIns="0" bIns="0" rtlCol="0" anchor="ctr"/>
          <a:lstStyle/>
          <a:p>
            <a:pPr marL="0" indent="0">
              <a:buNone/>
            </a:pPr>
            <a:r>
              <a:rPr lang="en-US" sz="1300" b="1" dirty="0">
                <a:solidFill>
                  <a:schemeClr val="bg1"/>
                </a:solidFill>
              </a:rPr>
              <a:t>YASSIN · ONE SENTENCE, TWO JOBS</a:t>
            </a:r>
            <a:endParaRPr lang="en-US" sz="1300" dirty="0"/>
          </a:p>
        </p:txBody>
      </p:sp>
      <p:sp>
        <p:nvSpPr>
          <p:cNvPr id="8" name="Text 5"/>
          <p:cNvSpPr txBox="1"/>
          <p:nvPr/>
        </p:nvSpPr>
        <p:spPr>
          <a:xfrm>
            <a:off x="658368" y="1719072"/>
            <a:ext cx="3346704" cy="1545336"/>
          </a:xfrm>
          <a:prstGeom prst="rect">
            <a:avLst/>
          </a:prstGeom>
          <a:noFill/>
          <a:ln/>
        </p:spPr>
        <p:txBody>
          <a:bodyPr wrap="square" lIns="508" tIns="508" rIns="508" bIns="508" rtlCol="0" anchor="t"/>
          <a:lstStyle/>
          <a:p>
            <a:pPr marL="0" indent="0" algn="l">
              <a:buNone/>
            </a:pPr>
            <a:r>
              <a:rPr lang="en-US" sz="1700" i="1" dirty="0">
                <a:solidFill>
                  <a:schemeClr val="tx1"/>
                </a:solidFill>
              </a:rPr>
              <a:t>“The blue whale which is the largest animal on the earth is important because it keeps our oceans healthy.” (what it is + why it matters)</a:t>
            </a:r>
            <a:endParaRPr lang="en-US" sz="1700" dirty="0"/>
          </a:p>
        </p:txBody>
      </p:sp>
      <p:sp>
        <p:nvSpPr>
          <p:cNvPr id="9" name="Card YASSER · A SPECIFIC THREAT"/>
          <p:cNvSpPr/>
          <p:nvPr/>
        </p:nvSpPr>
        <p:spPr>
          <a:xfrm>
            <a:off x="4361688" y="1188720"/>
            <a:ext cx="3566160" cy="214884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4361688" y="1188720"/>
            <a:ext cx="3566160" cy="457200"/>
          </a:xfrm>
          <a:prstGeom prst="rect">
            <a:avLst/>
          </a:prstGeom>
          <a:solidFill>
            <a:schemeClr val="accent2"/>
          </a:solidFill>
          <a:ln/>
        </p:spPr>
      </p:sp>
      <p:sp>
        <p:nvSpPr>
          <p:cNvPr id="11" name="Text 8"/>
          <p:cNvSpPr txBox="1"/>
          <p:nvPr/>
        </p:nvSpPr>
        <p:spPr>
          <a:xfrm>
            <a:off x="4489704" y="1188720"/>
            <a:ext cx="3383280" cy="457200"/>
          </a:xfrm>
          <a:prstGeom prst="rect">
            <a:avLst/>
          </a:prstGeom>
          <a:noFill/>
          <a:ln/>
        </p:spPr>
        <p:txBody>
          <a:bodyPr wrap="square" lIns="0" tIns="0" rIns="0" bIns="0" rtlCol="0" anchor="ctr"/>
          <a:lstStyle/>
          <a:p>
            <a:pPr marL="0" indent="0">
              <a:buNone/>
            </a:pPr>
            <a:r>
              <a:rPr lang="en-US" sz="1300" b="1" dirty="0">
                <a:solidFill>
                  <a:schemeClr val="tx1"/>
                </a:solidFill>
              </a:rPr>
              <a:t>YASSER · A SPECIFIC THREAT</a:t>
            </a:r>
            <a:endParaRPr lang="en-US" sz="1300" dirty="0"/>
          </a:p>
        </p:txBody>
      </p:sp>
      <p:sp>
        <p:nvSpPr>
          <p:cNvPr id="12" name="Text 9"/>
          <p:cNvSpPr txBox="1"/>
          <p:nvPr/>
        </p:nvSpPr>
        <p:spPr>
          <a:xfrm>
            <a:off x="4471416" y="1719072"/>
            <a:ext cx="3346704" cy="1545336"/>
          </a:xfrm>
          <a:prstGeom prst="rect">
            <a:avLst/>
          </a:prstGeom>
          <a:noFill/>
          <a:ln/>
        </p:spPr>
        <p:txBody>
          <a:bodyPr wrap="square" lIns="508" tIns="508" rIns="508" bIns="508" rtlCol="0" anchor="t"/>
          <a:lstStyle/>
          <a:p>
            <a:pPr marL="0" indent="0" algn="l">
              <a:buNone/>
            </a:pPr>
            <a:r>
              <a:rPr lang="en-US" sz="1700" i="1" dirty="0">
                <a:solidFill>
                  <a:schemeClr val="tx1"/>
                </a:solidFill>
              </a:rPr>
              <a:t>“Ships can hit blue whales.” And his crossed-out idea, “Slow ships near whales”, was the best protection.</a:t>
            </a:r>
            <a:endParaRPr lang="en-US" sz="1700" dirty="0"/>
          </a:p>
        </p:txBody>
      </p:sp>
      <p:sp>
        <p:nvSpPr>
          <p:cNvPr id="13" name="Card RENAD · RELATIVE CLAUSE + SOLUTIONS"/>
          <p:cNvSpPr/>
          <p:nvPr/>
        </p:nvSpPr>
        <p:spPr>
          <a:xfrm>
            <a:off x="8174736" y="1188720"/>
            <a:ext cx="3566160" cy="214884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8174736" y="1188720"/>
            <a:ext cx="3566160" cy="457200"/>
          </a:xfrm>
          <a:prstGeom prst="rect">
            <a:avLst/>
          </a:prstGeom>
          <a:solidFill>
            <a:schemeClr val="accent3"/>
          </a:solidFill>
          <a:ln/>
        </p:spPr>
      </p:sp>
      <p:sp>
        <p:nvSpPr>
          <p:cNvPr id="15" name="Text 12"/>
          <p:cNvSpPr txBox="1"/>
          <p:nvPr/>
        </p:nvSpPr>
        <p:spPr>
          <a:xfrm>
            <a:off x="8302752" y="1188720"/>
            <a:ext cx="3383280" cy="457200"/>
          </a:xfrm>
          <a:prstGeom prst="rect">
            <a:avLst/>
          </a:prstGeom>
          <a:noFill/>
          <a:ln/>
        </p:spPr>
        <p:txBody>
          <a:bodyPr wrap="square" lIns="0" tIns="0" rIns="0" bIns="0" rtlCol="0" anchor="ctr"/>
          <a:lstStyle/>
          <a:p>
            <a:pPr marL="0" indent="0">
              <a:buNone/>
            </a:pPr>
            <a:r>
              <a:rPr lang="en-US" sz="1300" b="1" dirty="0">
                <a:solidFill>
                  <a:schemeClr val="bg1"/>
                </a:solidFill>
              </a:rPr>
              <a:t>RENAD · RELATIVE CLAUSE + SOLUTIONS</a:t>
            </a:r>
            <a:endParaRPr lang="en-US" sz="1300" dirty="0"/>
          </a:p>
        </p:txBody>
      </p:sp>
      <p:sp>
        <p:nvSpPr>
          <p:cNvPr id="16" name="Text 13"/>
          <p:cNvSpPr txBox="1"/>
          <p:nvPr/>
        </p:nvSpPr>
        <p:spPr>
          <a:xfrm>
            <a:off x="8284464" y="1719072"/>
            <a:ext cx="3346704" cy="1545336"/>
          </a:xfrm>
          <a:prstGeom prst="rect">
            <a:avLst/>
          </a:prstGeom>
          <a:noFill/>
          <a:ln/>
        </p:spPr>
        <p:txBody>
          <a:bodyPr wrap="square" lIns="508" tIns="508" rIns="508" bIns="508" rtlCol="0" anchor="t"/>
          <a:lstStyle/>
          <a:p>
            <a:pPr marL="0" indent="0" algn="l">
              <a:buNone/>
            </a:pPr>
            <a:r>
              <a:rPr lang="en-US" sz="1700" i="1" dirty="0">
                <a:solidFill>
                  <a:schemeClr val="tx1"/>
                </a:solidFill>
              </a:rPr>
              <a:t>“…two danger thruths wich are plastic poliontion…” (a correct “which are”) and protections that answer poaching.</a:t>
            </a:r>
            <a:endParaRPr lang="en-US" sz="1700" dirty="0"/>
          </a:p>
        </p:txBody>
      </p:sp>
      <p:sp>
        <p:nvSpPr>
          <p:cNvPr id="17" name="Card MOSTAFA · CAUSE AND EFFECT"/>
          <p:cNvSpPr/>
          <p:nvPr/>
        </p:nvSpPr>
        <p:spPr>
          <a:xfrm>
            <a:off x="548640" y="3566160"/>
            <a:ext cx="3566160" cy="2148840"/>
          </a:xfrm>
          <a:prstGeom prst="rect">
            <a:avLst/>
          </a:prstGeom>
          <a:solidFill>
            <a:schemeClr val="bg1"/>
          </a:solidFill>
          <a:ln/>
          <a:effectLst>
            <a:outerShdw blurRad="76200" dist="25400" dir="5400000" algn="bl" rotWithShape="0">
              <a:srgbClr val="000000">
                <a:alpha val="12000"/>
              </a:srgbClr>
            </a:outerShdw>
          </a:effectLst>
        </p:spPr>
      </p:sp>
      <p:sp>
        <p:nvSpPr>
          <p:cNvPr id="18" name="Shape 15"/>
          <p:cNvSpPr/>
          <p:nvPr/>
        </p:nvSpPr>
        <p:spPr>
          <a:xfrm>
            <a:off x="548640" y="3566160"/>
            <a:ext cx="3566160" cy="457200"/>
          </a:xfrm>
          <a:prstGeom prst="rect">
            <a:avLst/>
          </a:prstGeom>
          <a:solidFill>
            <a:schemeClr val="tx1"/>
          </a:solidFill>
          <a:ln/>
        </p:spPr>
      </p:sp>
      <p:sp>
        <p:nvSpPr>
          <p:cNvPr id="19" name="Text 16"/>
          <p:cNvSpPr txBox="1"/>
          <p:nvPr/>
        </p:nvSpPr>
        <p:spPr>
          <a:xfrm>
            <a:off x="676656" y="3566160"/>
            <a:ext cx="3383280" cy="457200"/>
          </a:xfrm>
          <a:prstGeom prst="rect">
            <a:avLst/>
          </a:prstGeom>
          <a:noFill/>
          <a:ln/>
        </p:spPr>
        <p:txBody>
          <a:bodyPr wrap="square" lIns="0" tIns="0" rIns="0" bIns="0" rtlCol="0" anchor="ctr"/>
          <a:lstStyle/>
          <a:p>
            <a:pPr marL="0" indent="0">
              <a:buNone/>
            </a:pPr>
            <a:r>
              <a:rPr lang="en-US" sz="1300" b="1" dirty="0">
                <a:solidFill>
                  <a:schemeClr val="bg1"/>
                </a:solidFill>
              </a:rPr>
              <a:t>MOSTAFA · CAUSE AND EFFECT</a:t>
            </a:r>
            <a:endParaRPr lang="en-US" sz="1300" dirty="0"/>
          </a:p>
        </p:txBody>
      </p:sp>
      <p:sp>
        <p:nvSpPr>
          <p:cNvPr id="20" name="Text 17"/>
          <p:cNvSpPr txBox="1"/>
          <p:nvPr/>
        </p:nvSpPr>
        <p:spPr>
          <a:xfrm>
            <a:off x="658368" y="4096512"/>
            <a:ext cx="3346704" cy="1545336"/>
          </a:xfrm>
          <a:prstGeom prst="rect">
            <a:avLst/>
          </a:prstGeom>
          <a:noFill/>
          <a:ln/>
        </p:spPr>
        <p:txBody>
          <a:bodyPr wrap="square" lIns="508" tIns="508" rIns="508" bIns="508" rtlCol="0" anchor="t"/>
          <a:lstStyle/>
          <a:p>
            <a:pPr marL="0" indent="0" algn="l">
              <a:buNone/>
            </a:pPr>
            <a:r>
              <a:rPr lang="en-US" sz="1700" i="1" dirty="0">
                <a:solidFill>
                  <a:schemeClr val="tx1"/>
                </a:solidFill>
              </a:rPr>
              <a:t>“We shouldn’t threw plastic because the Sea turtle eat it and die.” He joined action and result with because.</a:t>
            </a:r>
            <a:endParaRPr lang="en-US" sz="1700" dirty="0"/>
          </a:p>
        </p:txBody>
      </p:sp>
      <p:sp>
        <p:nvSpPr>
          <p:cNvPr id="21" name="Card SADEEL · RELATIVE CLAUSE"/>
          <p:cNvSpPr/>
          <p:nvPr/>
        </p:nvSpPr>
        <p:spPr>
          <a:xfrm>
            <a:off x="4361688" y="3566160"/>
            <a:ext cx="3566160" cy="2148840"/>
          </a:xfrm>
          <a:prstGeom prst="rect">
            <a:avLst/>
          </a:prstGeom>
          <a:solidFill>
            <a:schemeClr val="bg1"/>
          </a:solidFill>
          <a:ln/>
          <a:effectLst>
            <a:outerShdw blurRad="76200" dist="25400" dir="5400000" algn="bl" rotWithShape="0">
              <a:srgbClr val="000000">
                <a:alpha val="12000"/>
              </a:srgbClr>
            </a:outerShdw>
          </a:effectLst>
        </p:spPr>
      </p:sp>
      <p:sp>
        <p:nvSpPr>
          <p:cNvPr id="22" name="Shape 19"/>
          <p:cNvSpPr/>
          <p:nvPr/>
        </p:nvSpPr>
        <p:spPr>
          <a:xfrm>
            <a:off x="4361688" y="3566160"/>
            <a:ext cx="3566160" cy="457200"/>
          </a:xfrm>
          <a:prstGeom prst="rect">
            <a:avLst/>
          </a:prstGeom>
          <a:solidFill>
            <a:schemeClr val="accent1"/>
          </a:solidFill>
          <a:ln/>
        </p:spPr>
      </p:sp>
      <p:sp>
        <p:nvSpPr>
          <p:cNvPr id="23" name="Text 20"/>
          <p:cNvSpPr txBox="1"/>
          <p:nvPr/>
        </p:nvSpPr>
        <p:spPr>
          <a:xfrm>
            <a:off x="4489704" y="3566160"/>
            <a:ext cx="3383280" cy="457200"/>
          </a:xfrm>
          <a:prstGeom prst="rect">
            <a:avLst/>
          </a:prstGeom>
          <a:noFill/>
          <a:ln/>
        </p:spPr>
        <p:txBody>
          <a:bodyPr wrap="square" lIns="0" tIns="0" rIns="0" bIns="0" rtlCol="0" anchor="ctr"/>
          <a:lstStyle/>
          <a:p>
            <a:pPr marL="0" indent="0">
              <a:buNone/>
            </a:pPr>
            <a:r>
              <a:rPr lang="en-US" sz="1300" b="1" dirty="0">
                <a:solidFill>
                  <a:schemeClr val="bg1"/>
                </a:solidFill>
              </a:rPr>
              <a:t>SADEEL · RELATIVE CLAUSE</a:t>
            </a:r>
            <a:endParaRPr lang="en-US" sz="1300" dirty="0"/>
          </a:p>
        </p:txBody>
      </p:sp>
      <p:sp>
        <p:nvSpPr>
          <p:cNvPr id="24" name="Text 21"/>
          <p:cNvSpPr txBox="1"/>
          <p:nvPr/>
        </p:nvSpPr>
        <p:spPr>
          <a:xfrm>
            <a:off x="4471416" y="4096512"/>
            <a:ext cx="3346704" cy="1545336"/>
          </a:xfrm>
          <a:prstGeom prst="rect">
            <a:avLst/>
          </a:prstGeom>
          <a:noFill/>
          <a:ln/>
        </p:spPr>
        <p:txBody>
          <a:bodyPr wrap="square" lIns="508" tIns="508" rIns="508" bIns="508" rtlCol="0" anchor="t"/>
          <a:lstStyle/>
          <a:p>
            <a:pPr marL="0" indent="0" algn="l">
              <a:buNone/>
            </a:pPr>
            <a:r>
              <a:rPr lang="en-US" sz="1700" i="1" dirty="0">
                <a:solidFill>
                  <a:schemeClr val="tx1"/>
                </a:solidFill>
              </a:rPr>
              <a:t>“…healthy seagrass beds, wich provide essential habitats…” Correct comma before which.</a:t>
            </a:r>
            <a:endParaRPr lang="en-US" sz="1700" dirty="0"/>
          </a:p>
        </p:txBody>
      </p:sp>
      <p:sp>
        <p:nvSpPr>
          <p:cNvPr id="25" name="Card HUSSEIN · PRECISE VOCABULARY"/>
          <p:cNvSpPr/>
          <p:nvPr/>
        </p:nvSpPr>
        <p:spPr>
          <a:xfrm>
            <a:off x="8174736" y="3566160"/>
            <a:ext cx="3566160" cy="2148840"/>
          </a:xfrm>
          <a:prstGeom prst="rect">
            <a:avLst/>
          </a:prstGeom>
          <a:solidFill>
            <a:schemeClr val="bg1"/>
          </a:solidFill>
          <a:ln/>
          <a:effectLst>
            <a:outerShdw blurRad="76200" dist="25400" dir="5400000" algn="bl" rotWithShape="0">
              <a:srgbClr val="000000">
                <a:alpha val="12000"/>
              </a:srgbClr>
            </a:outerShdw>
          </a:effectLst>
        </p:spPr>
      </p:sp>
      <p:sp>
        <p:nvSpPr>
          <p:cNvPr id="26" name="Shape 23"/>
          <p:cNvSpPr/>
          <p:nvPr/>
        </p:nvSpPr>
        <p:spPr>
          <a:xfrm>
            <a:off x="8174736" y="3566160"/>
            <a:ext cx="3566160" cy="457200"/>
          </a:xfrm>
          <a:prstGeom prst="rect">
            <a:avLst/>
          </a:prstGeom>
          <a:solidFill>
            <a:schemeClr val="accent2"/>
          </a:solidFill>
          <a:ln/>
        </p:spPr>
      </p:sp>
      <p:sp>
        <p:nvSpPr>
          <p:cNvPr id="27" name="Text 24"/>
          <p:cNvSpPr txBox="1"/>
          <p:nvPr/>
        </p:nvSpPr>
        <p:spPr>
          <a:xfrm>
            <a:off x="8302752" y="3566160"/>
            <a:ext cx="3383280" cy="457200"/>
          </a:xfrm>
          <a:prstGeom prst="rect">
            <a:avLst/>
          </a:prstGeom>
          <a:noFill/>
          <a:ln/>
        </p:spPr>
        <p:txBody>
          <a:bodyPr wrap="square" lIns="0" tIns="0" rIns="0" bIns="0" rtlCol="0" anchor="ctr"/>
          <a:lstStyle/>
          <a:p>
            <a:pPr marL="0" indent="0">
              <a:buNone/>
            </a:pPr>
            <a:r>
              <a:rPr lang="en-US" sz="1300" b="1" dirty="0">
                <a:solidFill>
                  <a:schemeClr val="tx1"/>
                </a:solidFill>
              </a:rPr>
              <a:t>HUSSEIN · PRECISE VOCABULARY</a:t>
            </a:r>
            <a:endParaRPr lang="en-US" sz="1300" dirty="0"/>
          </a:p>
        </p:txBody>
      </p:sp>
      <p:sp>
        <p:nvSpPr>
          <p:cNvPr id="28" name="Text 25"/>
          <p:cNvSpPr txBox="1"/>
          <p:nvPr/>
        </p:nvSpPr>
        <p:spPr>
          <a:xfrm>
            <a:off x="8284464" y="4096512"/>
            <a:ext cx="3346704" cy="1545336"/>
          </a:xfrm>
          <a:prstGeom prst="rect">
            <a:avLst/>
          </a:prstGeom>
          <a:noFill/>
          <a:ln/>
        </p:spPr>
        <p:txBody>
          <a:bodyPr wrap="square" lIns="508" tIns="508" rIns="508" bIns="508" rtlCol="0" anchor="t"/>
          <a:lstStyle/>
          <a:p>
            <a:pPr marL="0" indent="0" algn="l">
              <a:buNone/>
            </a:pPr>
            <a:r>
              <a:rPr lang="en-US" sz="1700" i="1" dirty="0">
                <a:solidFill>
                  <a:schemeClr val="tx1"/>
                </a:solidFill>
              </a:rPr>
              <a:t>“ancient”, “marine reptiles” and “crucial” make the plan sound like a real report.</a:t>
            </a:r>
            <a:endParaRPr lang="en-US" sz="1700" dirty="0"/>
          </a:p>
        </p:txBody>
      </p:sp>
      <p:sp>
        <p:nvSpPr>
          <p:cNvPr id="29" name="Text 26"/>
          <p:cNvSpPr txBox="1"/>
          <p:nvPr/>
        </p:nvSpPr>
        <p:spPr>
          <a:xfrm>
            <a:off x="548640" y="598932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Strong ideas, strong research. Now let’s make every plan and draft even stronger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What we need to fix</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FEEDBACK</a:t>
            </a:r>
            <a:endParaRPr lang="en-US" sz="1100" dirty="0"/>
          </a:p>
        </p:txBody>
      </p:sp>
      <p:sp>
        <p:nvSpPr>
          <p:cNvPr id="5" name="Shape 2"/>
          <p:cNvSpPr/>
          <p:nvPr/>
        </p:nvSpPr>
        <p:spPr>
          <a:xfrm>
            <a:off x="548640" y="1097280"/>
            <a:ext cx="7223760" cy="493776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170432"/>
            <a:ext cx="6766560" cy="457200"/>
          </a:xfrm>
          <a:prstGeom prst="rect">
            <a:avLst/>
          </a:prstGeom>
          <a:noFill/>
          <a:ln/>
        </p:spPr>
        <p:txBody>
          <a:bodyPr wrap="square" lIns="0" tIns="0" rIns="0" bIns="0" rtlCol="0" anchor="ctr"/>
          <a:lstStyle/>
          <a:p>
            <a:pPr marL="0" indent="0">
              <a:buNone/>
            </a:pPr>
            <a:r>
              <a:rPr lang="en-US" sz="1600" b="1" dirty="0">
                <a:solidFill>
                  <a:schemeClr val="tx1"/>
                </a:solidFill>
              </a:rPr>
              <a:t>How many of the 10 plans needed this fix?</a:t>
            </a:r>
            <a:endParaRPr lang="en-US" sz="1600" dirty="0"/>
          </a:p>
        </p:txBody>
      </p:sp>
      <p:graphicFrame>
        <p:nvGraphicFramePr>
          <p:cNvPr id="7" name="Chart 0"/>
          <p:cNvGraphicFramePr/>
          <p:nvPr/>
        </p:nvGraphicFramePr>
        <p:xfrm>
          <a:off x="685800" y="1645920"/>
          <a:ext cx="694944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8" name="Card TODAY’S FIXES"/>
          <p:cNvSpPr/>
          <p:nvPr/>
        </p:nvSpPr>
        <p:spPr>
          <a:xfrm>
            <a:off x="8046720" y="1097280"/>
            <a:ext cx="3611880" cy="4937760"/>
          </a:xfrm>
          <a:prstGeom prst="rect">
            <a:avLst/>
          </a:prstGeom>
          <a:solidFill>
            <a:schemeClr val="bg1"/>
          </a:solidFill>
          <a:ln/>
          <a:effectLst>
            <a:outerShdw blurRad="76200" dist="25400" dir="5400000" algn="bl" rotWithShape="0">
              <a:srgbClr val="000000">
                <a:alpha val="12000"/>
              </a:srgbClr>
            </a:outerShdw>
          </a:effectLst>
        </p:spPr>
      </p:sp>
      <p:sp>
        <p:nvSpPr>
          <p:cNvPr id="9" name="Shape 5"/>
          <p:cNvSpPr/>
          <p:nvPr/>
        </p:nvSpPr>
        <p:spPr>
          <a:xfrm>
            <a:off x="8046720" y="1097280"/>
            <a:ext cx="3611880" cy="502920"/>
          </a:xfrm>
          <a:prstGeom prst="rect">
            <a:avLst/>
          </a:prstGeom>
          <a:solidFill>
            <a:schemeClr val="tx1"/>
          </a:solidFill>
          <a:ln/>
        </p:spPr>
      </p:sp>
      <p:sp>
        <p:nvSpPr>
          <p:cNvPr id="10" name="Text 6"/>
          <p:cNvSpPr txBox="1"/>
          <p:nvPr/>
        </p:nvSpPr>
        <p:spPr>
          <a:xfrm>
            <a:off x="8174736" y="1097280"/>
            <a:ext cx="3429000" cy="502920"/>
          </a:xfrm>
          <a:prstGeom prst="rect">
            <a:avLst/>
          </a:prstGeom>
          <a:noFill/>
          <a:ln/>
        </p:spPr>
        <p:txBody>
          <a:bodyPr wrap="square" lIns="0" tIns="0" rIns="0" bIns="0" rtlCol="0" anchor="ctr"/>
          <a:lstStyle/>
          <a:p>
            <a:pPr marL="0" indent="0">
              <a:buNone/>
            </a:pPr>
            <a:r>
              <a:rPr lang="en-US" sz="1500" b="1" dirty="0">
                <a:solidFill>
                  <a:schemeClr val="bg1"/>
                </a:solidFill>
              </a:rPr>
              <a:t>TODAY’S FIXES</a:t>
            </a:r>
            <a:endParaRPr lang="en-US" sz="1500" dirty="0"/>
          </a:p>
        </p:txBody>
      </p:sp>
      <p:sp>
        <p:nvSpPr>
          <p:cNvPr id="11" name="Text 7"/>
          <p:cNvSpPr txBox="1"/>
          <p:nvPr/>
        </p:nvSpPr>
        <p:spPr>
          <a:xfrm>
            <a:off x="8156448" y="1673352"/>
            <a:ext cx="3392424" cy="4288536"/>
          </a:xfrm>
          <a:prstGeom prst="rect">
            <a:avLst/>
          </a:prstGeom>
          <a:noFill/>
          <a:ln/>
        </p:spPr>
        <p:txBody>
          <a:bodyPr wrap="square" lIns="508" tIns="508" rIns="508" bIns="508" rtlCol="0" anchor="t"/>
          <a:lstStyle/>
          <a:p>
            <a:pPr marL="0" indent="0" algn="l">
              <a:spcAft>
                <a:spcPts val="900"/>
              </a:spcAft>
              <a:buNone/>
            </a:pPr>
            <a:r>
              <a:rPr lang="en-US" sz="1800" dirty="0">
                <a:solidFill>
                  <a:schemeClr val="tx1"/>
                </a:solidFill>
              </a:rPr>
              <a:t>1  Introduction: say WHY</a:t>
            </a:r>
            <a:endParaRPr lang="en-US" sz="1800" dirty="0"/>
          </a:p>
          <a:p>
            <a:pPr marL="0" indent="0" algn="l">
              <a:spcAft>
                <a:spcPts val="900"/>
              </a:spcAft>
              <a:buNone/>
            </a:pPr>
            <a:r>
              <a:rPr lang="en-US" sz="1800" dirty="0">
                <a:solidFill>
                  <a:schemeClr val="tx1"/>
                </a:solidFill>
              </a:rPr>
              <a:t>2  Title, headings, ending</a:t>
            </a:r>
            <a:endParaRPr lang="en-US" sz="1800" dirty="0"/>
          </a:p>
          <a:p>
            <a:pPr marL="0" indent="0" algn="l">
              <a:spcAft>
                <a:spcPts val="900"/>
              </a:spcAft>
              <a:buNone/>
            </a:pPr>
            <a:r>
              <a:rPr lang="en-US" sz="1800" dirty="0">
                <a:solidFill>
                  <a:schemeClr val="tx1"/>
                </a:solidFill>
              </a:rPr>
              <a:t>3  Match threat and protection</a:t>
            </a:r>
            <a:endParaRPr lang="en-US" sz="1800" dirty="0"/>
          </a:p>
          <a:p>
            <a:pPr marL="0" indent="0" algn="l">
              <a:spcAft>
                <a:spcPts val="900"/>
              </a:spcAft>
              <a:buNone/>
            </a:pPr>
            <a:r>
              <a:rPr lang="en-US" sz="1800" dirty="0">
                <a:solidFill>
                  <a:schemeClr val="tx1"/>
                </a:solidFill>
              </a:rPr>
              <a:t>4  Verbs agree</a:t>
            </a:r>
            <a:endParaRPr lang="en-US" sz="1800" dirty="0"/>
          </a:p>
          <a:p>
            <a:pPr marL="0" indent="0" algn="l">
              <a:spcAft>
                <a:spcPts val="900"/>
              </a:spcAft>
              <a:buNone/>
            </a:pPr>
            <a:r>
              <a:rPr lang="en-US" sz="1800" dirty="0">
                <a:solidFill>
                  <a:schemeClr val="tx1"/>
                </a:solidFill>
              </a:rPr>
              <a:t>5  Commas with which</a:t>
            </a:r>
            <a:endParaRPr lang="en-US" sz="1800" dirty="0"/>
          </a:p>
          <a:p>
            <a:pPr marL="0" indent="0" algn="l">
              <a:spcAft>
                <a:spcPts val="900"/>
              </a:spcAft>
              <a:buNone/>
            </a:pPr>
            <a:r>
              <a:rPr lang="en-US" sz="1800" dirty="0">
                <a:solidFill>
                  <a:schemeClr val="tx1"/>
                </a:solidFill>
              </a:rPr>
              <a:t>6  Explain threats</a:t>
            </a:r>
            <a:endParaRPr lang="en-US" sz="1800" dirty="0"/>
          </a:p>
          <a:p>
            <a:pPr marL="0" indent="0" algn="l">
              <a:spcAft>
                <a:spcPts val="900"/>
              </a:spcAft>
              <a:buNone/>
            </a:pPr>
            <a:r>
              <a:rPr lang="en-US" sz="1800" dirty="0">
                <a:solidFill>
                  <a:schemeClr val="tx1"/>
                </a:solidFill>
              </a:rPr>
              <a:t>7  Check facts</a:t>
            </a:r>
            <a:endParaRPr lang="en-US" sz="1800" dirty="0"/>
          </a:p>
          <a:p>
            <a:pPr marL="0" indent="0" algn="l">
              <a:spcAft>
                <a:spcPts val="900"/>
              </a:spcAft>
              <a:buNone/>
            </a:pPr>
            <a:r>
              <a:rPr lang="en-US" sz="1800" dirty="0">
                <a:solidFill>
                  <a:schemeClr val="tx1"/>
                </a:solidFill>
              </a:rPr>
              <a:t>8  Spelling, capitals, spaces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1: the introduction needs a WHY</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ROFIDA   </a:t>
            </a:r>
            <a:endParaRPr lang="en-US" sz="1200" dirty="0"/>
          </a:p>
          <a:p>
            <a:pPr marL="0" indent="0">
              <a:buNone/>
            </a:pPr>
            <a:r>
              <a:rPr lang="en-US" sz="1500" i="1" dirty="0">
                <a:solidFill>
                  <a:schemeClr val="tx1"/>
                </a:solidFill>
              </a:rPr>
              <a:t>❌  The crocodile is a type of reptile that can live both land and water.</a:t>
            </a:r>
            <a:endParaRPr lang="en-US" sz="1200" dirty="0"/>
          </a:p>
        </p:txBody>
      </p:sp>
      <p:sp>
        <p:nvSpPr>
          <p:cNvPr id="11" name="Text 8"/>
          <p:cNvSpPr txBox="1"/>
          <p:nvPr/>
        </p:nvSpPr>
        <p:spPr>
          <a:xfrm>
            <a:off x="5806440" y="160020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1280160"/>
          </a:xfrm>
          <a:prstGeom prst="rect">
            <a:avLst/>
          </a:prstGeom>
          <a:noFill/>
          <a:ln/>
        </p:spPr>
        <p:txBody>
          <a:bodyPr wrap="square" lIns="0" tIns="0" rIns="0" bIns="0" rtlCol="0" anchor="ctr"/>
          <a:lstStyle/>
          <a:p>
            <a:pPr marL="0" indent="0">
              <a:buNone/>
            </a:pPr>
            <a:r>
              <a:rPr lang="en-US" sz="1500" b="1" dirty="0">
                <a:solidFill>
                  <a:schemeClr val="tx1"/>
                </a:solidFill>
              </a:rPr>
              <a:t>✅  Crocodiles are large reptiles that can live both on land and in water. It is important to know about them because they are top predators that keep rivers and wetlands healthy.</a:t>
            </a:r>
            <a:endParaRPr lang="en-US" sz="1500" dirty="0"/>
          </a:p>
        </p:txBody>
      </p:sp>
      <p:sp>
        <p:nvSpPr>
          <p:cNvPr id="14" name="Shape 11"/>
          <p:cNvSpPr/>
          <p:nvPr/>
        </p:nvSpPr>
        <p:spPr>
          <a:xfrm>
            <a:off x="548640" y="306324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306324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AHMED   </a:t>
            </a:r>
            <a:endParaRPr lang="en-US" sz="1200" dirty="0"/>
          </a:p>
          <a:p>
            <a:pPr marL="0" indent="0">
              <a:buNone/>
            </a:pPr>
            <a:r>
              <a:rPr lang="en-US" sz="1500" i="1" dirty="0">
                <a:solidFill>
                  <a:schemeClr val="tx1"/>
                </a:solidFill>
              </a:rPr>
              <a:t>❌  The Amur Leopard is a type of Leopard</a:t>
            </a:r>
            <a:endParaRPr lang="en-US" sz="1200" dirty="0"/>
          </a:p>
        </p:txBody>
      </p:sp>
      <p:sp>
        <p:nvSpPr>
          <p:cNvPr id="16" name="Text 13"/>
          <p:cNvSpPr txBox="1"/>
          <p:nvPr/>
        </p:nvSpPr>
        <p:spPr>
          <a:xfrm>
            <a:off x="5806440" y="306324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306324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3063240"/>
            <a:ext cx="4892040" cy="1280160"/>
          </a:xfrm>
          <a:prstGeom prst="rect">
            <a:avLst/>
          </a:prstGeom>
          <a:noFill/>
          <a:ln/>
        </p:spPr>
        <p:txBody>
          <a:bodyPr wrap="square" lIns="0" tIns="0" rIns="0" bIns="0" rtlCol="0" anchor="ctr"/>
          <a:lstStyle/>
          <a:p>
            <a:pPr marL="0" indent="0">
              <a:buNone/>
            </a:pPr>
            <a:r>
              <a:rPr lang="en-US" sz="1500" b="1" dirty="0">
                <a:solidFill>
                  <a:schemeClr val="tx1"/>
                </a:solidFill>
              </a:rPr>
              <a:t>✅  The Amur leopard is a rare big cat that lives in cold forests in Russia and China. It is important to know about it because it is one of the rarest big cats in the world.</a:t>
            </a:r>
            <a:endParaRPr lang="en-US" sz="1500" dirty="0"/>
          </a:p>
        </p:txBody>
      </p:sp>
      <p:sp>
        <p:nvSpPr>
          <p:cNvPr id="19" name="Shape 16"/>
          <p:cNvSpPr/>
          <p:nvPr/>
        </p:nvSpPr>
        <p:spPr>
          <a:xfrm>
            <a:off x="548640" y="452628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452628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YASSER   </a:t>
            </a:r>
            <a:endParaRPr lang="en-US" sz="1200" dirty="0"/>
          </a:p>
          <a:p>
            <a:pPr marL="0" indent="0">
              <a:buNone/>
            </a:pPr>
            <a:r>
              <a:rPr lang="en-US" sz="1500" i="1" dirty="0">
                <a:solidFill>
                  <a:schemeClr val="tx1"/>
                </a:solidFill>
              </a:rPr>
              <a:t>❌  the blue whale is the largest it lives in oceans and needs our protection</a:t>
            </a:r>
            <a:endParaRPr lang="en-US" sz="1200" dirty="0"/>
          </a:p>
        </p:txBody>
      </p:sp>
      <p:sp>
        <p:nvSpPr>
          <p:cNvPr id="21" name="Text 18"/>
          <p:cNvSpPr txBox="1"/>
          <p:nvPr/>
        </p:nvSpPr>
        <p:spPr>
          <a:xfrm>
            <a:off x="5806440" y="452628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452628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4526280"/>
            <a:ext cx="4892040" cy="1280160"/>
          </a:xfrm>
          <a:prstGeom prst="rect">
            <a:avLst/>
          </a:prstGeom>
          <a:noFill/>
          <a:ln/>
        </p:spPr>
        <p:txBody>
          <a:bodyPr wrap="square" lIns="0" tIns="0" rIns="0" bIns="0" rtlCol="0" anchor="ctr"/>
          <a:lstStyle/>
          <a:p>
            <a:pPr marL="0" indent="0">
              <a:buNone/>
            </a:pPr>
            <a:r>
              <a:rPr lang="en-US" sz="1500" b="1" dirty="0">
                <a:solidFill>
                  <a:schemeClr val="tx1"/>
                </a:solidFill>
              </a:rPr>
              <a:t>✅  The blue whale is the largest animal on Earth. It is important to know about blue whales because they are endangered and need our protection.</a:t>
            </a:r>
            <a:endParaRPr lang="en-US" sz="1500" dirty="0"/>
          </a:p>
        </p:txBody>
      </p:sp>
      <p:sp>
        <p:nvSpPr>
          <p:cNvPr id="24" name="Text 21"/>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Introduction = WHAT it is  +  WHY it is important to know about it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1 (continued): more introductions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MERA   </a:t>
            </a:r>
            <a:endParaRPr lang="en-US" sz="1200" dirty="0"/>
          </a:p>
          <a:p>
            <a:pPr marL="0" indent="0">
              <a:buNone/>
            </a:pPr>
            <a:r>
              <a:rPr lang="en-US" sz="1400" i="1" dirty="0">
                <a:solidFill>
                  <a:schemeClr val="tx1"/>
                </a:solidFill>
              </a:rPr>
              <a:t>❌  West African lions is one of the most geographically isolated and critically endangered big cat populations… among the most endangered big cats in the plant.</a:t>
            </a:r>
            <a:endParaRPr lang="en-US" sz="1200" dirty="0"/>
          </a:p>
        </p:txBody>
      </p:sp>
      <p:sp>
        <p:nvSpPr>
          <p:cNvPr id="11" name="Text 8"/>
          <p:cNvSpPr txBox="1"/>
          <p:nvPr/>
        </p:nvSpPr>
        <p:spPr>
          <a:xfrm>
            <a:off x="5806440" y="160020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1280160"/>
          </a:xfrm>
          <a:prstGeom prst="rect">
            <a:avLst/>
          </a:prstGeom>
          <a:noFill/>
          <a:ln/>
        </p:spPr>
        <p:txBody>
          <a:bodyPr wrap="square" lIns="0" tIns="0" rIns="0" bIns="0" rtlCol="0" anchor="ctr"/>
          <a:lstStyle/>
          <a:p>
            <a:pPr marL="0" indent="0">
              <a:buNone/>
            </a:pPr>
            <a:r>
              <a:rPr lang="en-US" sz="1400" b="1" dirty="0">
                <a:solidFill>
                  <a:schemeClr val="tx1"/>
                </a:solidFill>
              </a:rPr>
              <a:t>✅  West African lions, which are among the most endangered big cats on the planet, live in only a few isolated areas of West Africa. It is important to know about them because so few are left.</a:t>
            </a:r>
            <a:endParaRPr lang="en-US" sz="1400" dirty="0"/>
          </a:p>
        </p:txBody>
      </p:sp>
      <p:sp>
        <p:nvSpPr>
          <p:cNvPr id="14" name="Shape 11"/>
          <p:cNvSpPr/>
          <p:nvPr/>
        </p:nvSpPr>
        <p:spPr>
          <a:xfrm>
            <a:off x="548640" y="306324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306324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WASEELA   </a:t>
            </a:r>
            <a:endParaRPr lang="en-US" sz="1200" dirty="0"/>
          </a:p>
          <a:p>
            <a:pPr marL="0" indent="0">
              <a:buNone/>
            </a:pPr>
            <a:r>
              <a:rPr lang="en-US" sz="1400" i="1" dirty="0">
                <a:solidFill>
                  <a:schemeClr val="tx1"/>
                </a:solidFill>
              </a:rPr>
              <a:t>❌  Introduction holds speed, claws and tear lines. Then About repeats speed and tear lines.</a:t>
            </a:r>
            <a:endParaRPr lang="en-US" sz="1200" dirty="0"/>
          </a:p>
        </p:txBody>
      </p:sp>
      <p:sp>
        <p:nvSpPr>
          <p:cNvPr id="16" name="Text 13"/>
          <p:cNvSpPr txBox="1"/>
          <p:nvPr/>
        </p:nvSpPr>
        <p:spPr>
          <a:xfrm>
            <a:off x="5806440" y="306324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306324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3063240"/>
            <a:ext cx="4892040" cy="1280160"/>
          </a:xfrm>
          <a:prstGeom prst="rect">
            <a:avLst/>
          </a:prstGeom>
          <a:noFill/>
          <a:ln/>
        </p:spPr>
        <p:txBody>
          <a:bodyPr wrap="square" lIns="0" tIns="0" rIns="0" bIns="0" rtlCol="0" anchor="ctr"/>
          <a:lstStyle/>
          <a:p>
            <a:pPr marL="0" indent="0">
              <a:buNone/>
            </a:pPr>
            <a:r>
              <a:rPr lang="en-US" sz="1400" b="1" dirty="0">
                <a:solidFill>
                  <a:schemeClr val="tx1"/>
                </a:solidFill>
              </a:rPr>
              <a:t>✅  The cheetah is a big cat that lives in the African savannas. It is important to know about cheetahs because they are the fastest land animal in the world, and they are becoming rare.</a:t>
            </a:r>
            <a:endParaRPr lang="en-US" sz="1400" dirty="0"/>
          </a:p>
        </p:txBody>
      </p:sp>
      <p:sp>
        <p:nvSpPr>
          <p:cNvPr id="19" name="Shape 16"/>
          <p:cNvSpPr/>
          <p:nvPr/>
        </p:nvSpPr>
        <p:spPr>
          <a:xfrm>
            <a:off x="548640" y="452628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452628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MOSTAFA   </a:t>
            </a:r>
            <a:endParaRPr lang="en-US" sz="1200" dirty="0"/>
          </a:p>
          <a:p>
            <a:pPr marL="0" indent="0">
              <a:buNone/>
            </a:pPr>
            <a:r>
              <a:rPr lang="en-US" sz="1400" i="1" dirty="0">
                <a:solidFill>
                  <a:schemeClr val="tx1"/>
                </a:solidFill>
              </a:rPr>
              <a:t>❌  (no introduction: “It has important thing it lives in ocean…” crossed out)</a:t>
            </a:r>
            <a:endParaRPr lang="en-US" sz="1200" dirty="0"/>
          </a:p>
        </p:txBody>
      </p:sp>
      <p:sp>
        <p:nvSpPr>
          <p:cNvPr id="21" name="Text 18"/>
          <p:cNvSpPr txBox="1"/>
          <p:nvPr/>
        </p:nvSpPr>
        <p:spPr>
          <a:xfrm>
            <a:off x="5806440" y="452628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452628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4526280"/>
            <a:ext cx="4892040" cy="1280160"/>
          </a:xfrm>
          <a:prstGeom prst="rect">
            <a:avLst/>
          </a:prstGeom>
          <a:noFill/>
          <a:ln/>
        </p:spPr>
        <p:txBody>
          <a:bodyPr wrap="square" lIns="0" tIns="0" rIns="0" bIns="0" rtlCol="0" anchor="ctr"/>
          <a:lstStyle/>
          <a:p>
            <a:pPr marL="0" indent="0">
              <a:buNone/>
            </a:pPr>
            <a:r>
              <a:rPr lang="en-US" sz="1400" b="1" dirty="0">
                <a:solidFill>
                  <a:schemeClr val="tx1"/>
                </a:solidFill>
              </a:rPr>
              <a:t>✅  Sea turtles are large reptiles that live in the ocean. It is important to know about them because they help keep the ocean healthy.</a:t>
            </a:r>
            <a:endParaRPr lang="en-US" sz="1400" dirty="0"/>
          </a:p>
        </p:txBody>
      </p:sp>
      <p:sp>
        <p:nvSpPr>
          <p:cNvPr id="24" name="Text 21"/>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WHAT it is + WHY it matters in the introduction. Keep facts for About.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2: title, headings and an ending</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2606040"/>
            <a:ext cx="5212080" cy="411480"/>
          </a:xfrm>
          <a:prstGeom prst="rect">
            <a:avLst/>
          </a:prstGeom>
          <a:solidFill>
            <a:schemeClr val="accent3"/>
          </a:solidFill>
          <a:ln/>
        </p:spPr>
      </p:sp>
      <p:sp>
        <p:nvSpPr>
          <p:cNvPr id="6" name="Text 3"/>
          <p:cNvSpPr txBox="1"/>
          <p:nvPr/>
        </p:nvSpPr>
        <p:spPr>
          <a:xfrm>
            <a:off x="676656" y="260604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2606040"/>
            <a:ext cx="5257800" cy="411480"/>
          </a:xfrm>
          <a:prstGeom prst="rect">
            <a:avLst/>
          </a:prstGeom>
          <a:solidFill>
            <a:schemeClr val="accent1"/>
          </a:solidFill>
          <a:ln/>
        </p:spPr>
      </p:sp>
      <p:sp>
        <p:nvSpPr>
          <p:cNvPr id="8" name="Text 5"/>
          <p:cNvSpPr txBox="1"/>
          <p:nvPr/>
        </p:nvSpPr>
        <p:spPr>
          <a:xfrm>
            <a:off x="6528816" y="260604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3108960"/>
            <a:ext cx="5212080" cy="109728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3108960"/>
            <a:ext cx="4846320" cy="1097280"/>
          </a:xfrm>
          <a:prstGeom prst="rect">
            <a:avLst/>
          </a:prstGeom>
          <a:noFill/>
          <a:ln/>
        </p:spPr>
        <p:txBody>
          <a:bodyPr wrap="square" lIns="0" tIns="0" rIns="0" bIns="0" rtlCol="0" anchor="ctr"/>
          <a:lstStyle/>
          <a:p>
            <a:pPr marL="0" indent="0">
              <a:buNone/>
            </a:pPr>
            <a:r>
              <a:rPr lang="en-US" sz="1200" b="1" dirty="0">
                <a:solidFill>
                  <a:schemeClr val="accent3"/>
                </a:solidFill>
              </a:rPr>
              <a:t>HUSSEIN   </a:t>
            </a:r>
            <a:endParaRPr lang="en-US" sz="1200" dirty="0"/>
          </a:p>
          <a:p>
            <a:pPr marL="0" indent="0">
              <a:buNone/>
            </a:pPr>
            <a:r>
              <a:rPr lang="en-US" sz="1500" i="1" dirty="0">
                <a:solidFill>
                  <a:schemeClr val="tx1"/>
                </a:solidFill>
              </a:rPr>
              <a:t>❌  Ending why it matters: saving seaturtles protect all ocean life</a:t>
            </a:r>
            <a:endParaRPr lang="en-US" sz="1200" dirty="0"/>
          </a:p>
        </p:txBody>
      </p:sp>
      <p:sp>
        <p:nvSpPr>
          <p:cNvPr id="11" name="Text 8"/>
          <p:cNvSpPr txBox="1"/>
          <p:nvPr/>
        </p:nvSpPr>
        <p:spPr>
          <a:xfrm>
            <a:off x="5806440" y="3108960"/>
            <a:ext cx="548640" cy="109728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3108960"/>
            <a:ext cx="5257800" cy="109728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3108960"/>
            <a:ext cx="4892040" cy="1097280"/>
          </a:xfrm>
          <a:prstGeom prst="rect">
            <a:avLst/>
          </a:prstGeom>
          <a:noFill/>
          <a:ln/>
        </p:spPr>
        <p:txBody>
          <a:bodyPr wrap="square" lIns="0" tIns="0" rIns="0" bIns="0" rtlCol="0" anchor="ctr"/>
          <a:lstStyle/>
          <a:p>
            <a:pPr marL="0" indent="0">
              <a:buNone/>
            </a:pPr>
            <a:r>
              <a:rPr lang="en-US" sz="1500" b="1" dirty="0">
                <a:solidFill>
                  <a:schemeClr val="tx1"/>
                </a:solidFill>
              </a:rPr>
              <a:t>✅  Saving sea turtles matters because they keep seagrass beds and coral reefs healthy, and a healthy ocean supports many other animals.</a:t>
            </a:r>
            <a:endParaRPr lang="en-US" sz="1500" dirty="0"/>
          </a:p>
        </p:txBody>
      </p:sp>
      <p:sp>
        <p:nvSpPr>
          <p:cNvPr id="14" name="Shape 11"/>
          <p:cNvSpPr/>
          <p:nvPr/>
        </p:nvSpPr>
        <p:spPr>
          <a:xfrm>
            <a:off x="548640" y="4343400"/>
            <a:ext cx="5212080" cy="109728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4343400"/>
            <a:ext cx="4846320" cy="1097280"/>
          </a:xfrm>
          <a:prstGeom prst="rect">
            <a:avLst/>
          </a:prstGeom>
          <a:noFill/>
          <a:ln/>
        </p:spPr>
        <p:txBody>
          <a:bodyPr wrap="square" lIns="0" tIns="0" rIns="0" bIns="0" rtlCol="0" anchor="ctr"/>
          <a:lstStyle/>
          <a:p>
            <a:pPr marL="0" indent="0">
              <a:buNone/>
            </a:pPr>
            <a:r>
              <a:rPr lang="en-US" sz="1200" b="1" dirty="0">
                <a:solidFill>
                  <a:schemeClr val="accent3"/>
                </a:solidFill>
              </a:rPr>
              <a:t>RENAD   </a:t>
            </a:r>
            <a:endParaRPr lang="en-US" sz="1200" dirty="0"/>
          </a:p>
          <a:p>
            <a:pPr marL="0" indent="0">
              <a:buNone/>
            </a:pPr>
            <a:r>
              <a:rPr lang="en-US" sz="1500" i="1" dirty="0">
                <a:solidFill>
                  <a:schemeClr val="tx1"/>
                </a:solidFill>
              </a:rPr>
              <a:t>❌  …and the green sea turtle swimes in the ocean to survive</a:t>
            </a:r>
            <a:endParaRPr lang="en-US" sz="1200" dirty="0"/>
          </a:p>
        </p:txBody>
      </p:sp>
      <p:sp>
        <p:nvSpPr>
          <p:cNvPr id="16" name="Text 13"/>
          <p:cNvSpPr txBox="1"/>
          <p:nvPr/>
        </p:nvSpPr>
        <p:spPr>
          <a:xfrm>
            <a:off x="5806440" y="4343400"/>
            <a:ext cx="548640" cy="109728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4343400"/>
            <a:ext cx="5257800" cy="109728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4343400"/>
            <a:ext cx="4892040" cy="1097280"/>
          </a:xfrm>
          <a:prstGeom prst="rect">
            <a:avLst/>
          </a:prstGeom>
          <a:noFill/>
          <a:ln/>
        </p:spPr>
        <p:txBody>
          <a:bodyPr wrap="square" lIns="0" tIns="0" rIns="0" bIns="0" rtlCol="0" anchor="ctr"/>
          <a:lstStyle/>
          <a:p>
            <a:pPr marL="0" indent="0">
              <a:buNone/>
            </a:pPr>
            <a:r>
              <a:rPr lang="en-US" sz="1500" b="1" dirty="0">
                <a:solidFill>
                  <a:schemeClr val="tx1"/>
                </a:solidFill>
              </a:rPr>
              <a:t>✅  Protecting green sea turtles matters because they keep seagrass beds healthy, which helps many other sea animals.</a:t>
            </a:r>
            <a:endParaRPr lang="en-US" sz="1500" dirty="0"/>
          </a:p>
        </p:txBody>
      </p:sp>
      <p:sp>
        <p:nvSpPr>
          <p:cNvPr id="19" name="Text 16"/>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Ending: Protecting ___ matters because ___.</a:t>
            </a:r>
            <a:endParaRPr lang="en-US" sz="1600" dirty="0"/>
          </a:p>
        </p:txBody>
      </p:sp>
      <p:sp>
        <p:nvSpPr>
          <p:cNvPr id="20" name="Text 17"/>
          <p:cNvSpPr txBox="1"/>
          <p:nvPr/>
        </p:nvSpPr>
        <p:spPr>
          <a:xfrm>
            <a:off x="548640" y="1051560"/>
            <a:ext cx="1764792" cy="502920"/>
          </a:xfrm>
          <a:prstGeom prst="rect">
            <a:avLst/>
          </a:prstGeom>
          <a:solidFill>
            <a:schemeClr val="tx1"/>
          </a:solidFill>
          <a:ln/>
        </p:spPr>
        <p:txBody>
          <a:bodyPr wrap="square" lIns="0" tIns="0" rIns="0" bIns="0" rtlCol="0" anchor="ctr"/>
          <a:lstStyle/>
          <a:p>
            <a:pPr marL="0" indent="0" algn="ctr">
              <a:buNone/>
            </a:pPr>
            <a:r>
              <a:rPr lang="en-US" sz="1400" b="1" dirty="0">
                <a:solidFill>
                  <a:schemeClr val="bg1"/>
                </a:solidFill>
              </a:rPr>
              <a:t>TITLE</a:t>
            </a:r>
            <a:endParaRPr lang="en-US" sz="1400" dirty="0"/>
          </a:p>
        </p:txBody>
      </p:sp>
      <p:sp>
        <p:nvSpPr>
          <p:cNvPr id="21" name="Text 18"/>
          <p:cNvSpPr txBox="1"/>
          <p:nvPr/>
        </p:nvSpPr>
        <p:spPr>
          <a:xfrm>
            <a:off x="2450592" y="1051560"/>
            <a:ext cx="1764792" cy="502920"/>
          </a:xfrm>
          <a:prstGeom prst="rect">
            <a:avLst/>
          </a:prstGeom>
          <a:solidFill>
            <a:schemeClr val="accent1"/>
          </a:solidFill>
          <a:ln/>
        </p:spPr>
        <p:txBody>
          <a:bodyPr wrap="square" lIns="0" tIns="0" rIns="0" bIns="0" rtlCol="0" anchor="ctr"/>
          <a:lstStyle/>
          <a:p>
            <a:pPr marL="0" indent="0" algn="ctr">
              <a:buNone/>
            </a:pPr>
            <a:r>
              <a:rPr lang="en-US" sz="1400" b="1" dirty="0">
                <a:solidFill>
                  <a:schemeClr val="bg1"/>
                </a:solidFill>
              </a:rPr>
              <a:t>INTRODUCTION</a:t>
            </a:r>
            <a:endParaRPr lang="en-US" sz="1400" dirty="0"/>
          </a:p>
        </p:txBody>
      </p:sp>
      <p:sp>
        <p:nvSpPr>
          <p:cNvPr id="22" name="Text 19"/>
          <p:cNvSpPr txBox="1"/>
          <p:nvPr/>
        </p:nvSpPr>
        <p:spPr>
          <a:xfrm>
            <a:off x="4352544" y="1051560"/>
            <a:ext cx="1764792" cy="502920"/>
          </a:xfrm>
          <a:prstGeom prst="rect">
            <a:avLst/>
          </a:prstGeom>
          <a:solidFill>
            <a:schemeClr val="accent2"/>
          </a:solidFill>
          <a:ln/>
        </p:spPr>
        <p:txBody>
          <a:bodyPr wrap="square" lIns="0" tIns="0" rIns="0" bIns="0" rtlCol="0" anchor="ctr"/>
          <a:lstStyle/>
          <a:p>
            <a:pPr marL="0" indent="0" algn="ctr">
              <a:buNone/>
            </a:pPr>
            <a:r>
              <a:rPr lang="en-US" sz="1400" b="1" dirty="0">
                <a:solidFill>
                  <a:schemeClr val="tx1"/>
                </a:solidFill>
              </a:rPr>
              <a:t>ABOUT</a:t>
            </a:r>
            <a:endParaRPr lang="en-US" sz="1400" dirty="0"/>
          </a:p>
        </p:txBody>
      </p:sp>
      <p:sp>
        <p:nvSpPr>
          <p:cNvPr id="23" name="Text 20"/>
          <p:cNvSpPr txBox="1"/>
          <p:nvPr/>
        </p:nvSpPr>
        <p:spPr>
          <a:xfrm>
            <a:off x="6254496" y="1051560"/>
            <a:ext cx="1764792" cy="502920"/>
          </a:xfrm>
          <a:prstGeom prst="rect">
            <a:avLst/>
          </a:prstGeom>
          <a:solidFill>
            <a:schemeClr val="accent3"/>
          </a:solidFill>
          <a:ln/>
        </p:spPr>
        <p:txBody>
          <a:bodyPr wrap="square" lIns="0" tIns="0" rIns="0" bIns="0" rtlCol="0" anchor="ctr"/>
          <a:lstStyle/>
          <a:p>
            <a:pPr marL="0" indent="0" algn="ctr">
              <a:buNone/>
            </a:pPr>
            <a:r>
              <a:rPr lang="en-US" sz="1400" b="1" dirty="0">
                <a:solidFill>
                  <a:schemeClr val="bg1"/>
                </a:solidFill>
              </a:rPr>
              <a:t>THREATS</a:t>
            </a:r>
            <a:endParaRPr lang="en-US" sz="1400" dirty="0"/>
          </a:p>
        </p:txBody>
      </p:sp>
      <p:sp>
        <p:nvSpPr>
          <p:cNvPr id="24" name="Text 21"/>
          <p:cNvSpPr txBox="1"/>
          <p:nvPr/>
        </p:nvSpPr>
        <p:spPr>
          <a:xfrm>
            <a:off x="8156448" y="1051560"/>
            <a:ext cx="1764792" cy="502920"/>
          </a:xfrm>
          <a:prstGeom prst="rect">
            <a:avLst/>
          </a:prstGeom>
          <a:solidFill>
            <a:schemeClr val="accent1"/>
          </a:solidFill>
          <a:ln/>
        </p:spPr>
        <p:txBody>
          <a:bodyPr wrap="square" lIns="0" tIns="0" rIns="0" bIns="0" rtlCol="0" anchor="ctr"/>
          <a:lstStyle/>
          <a:p>
            <a:pPr marL="0" indent="0" algn="ctr">
              <a:buNone/>
            </a:pPr>
            <a:r>
              <a:rPr lang="en-US" sz="1400" b="1" dirty="0">
                <a:solidFill>
                  <a:schemeClr val="bg1"/>
                </a:solidFill>
              </a:rPr>
              <a:t>PROTECTION</a:t>
            </a:r>
            <a:endParaRPr lang="en-US" sz="1400" dirty="0"/>
          </a:p>
        </p:txBody>
      </p:sp>
      <p:sp>
        <p:nvSpPr>
          <p:cNvPr id="25" name="Text 22"/>
          <p:cNvSpPr txBox="1"/>
          <p:nvPr/>
        </p:nvSpPr>
        <p:spPr>
          <a:xfrm>
            <a:off x="10058400" y="1051560"/>
            <a:ext cx="1764792" cy="502920"/>
          </a:xfrm>
          <a:prstGeom prst="rect">
            <a:avLst/>
          </a:prstGeom>
          <a:solidFill>
            <a:schemeClr val="tx1"/>
          </a:solidFill>
          <a:ln/>
        </p:spPr>
        <p:txBody>
          <a:bodyPr wrap="square" lIns="0" tIns="0" rIns="0" bIns="0" rtlCol="0" anchor="ctr"/>
          <a:lstStyle/>
          <a:p>
            <a:pPr marL="0" indent="0" algn="ctr">
              <a:buNone/>
            </a:pPr>
            <a:r>
              <a:rPr lang="en-US" sz="1400" b="1" dirty="0">
                <a:solidFill>
                  <a:schemeClr val="bg1"/>
                </a:solidFill>
              </a:rPr>
              <a:t>ENDING</a:t>
            </a:r>
            <a:endParaRPr lang="en-US" sz="1400" dirty="0"/>
          </a:p>
        </p:txBody>
      </p:sp>
      <p:sp>
        <p:nvSpPr>
          <p:cNvPr id="26" name="Shape 23"/>
          <p:cNvSpPr/>
          <p:nvPr/>
        </p:nvSpPr>
        <p:spPr>
          <a:xfrm>
            <a:off x="548640" y="1691640"/>
            <a:ext cx="11094415" cy="777240"/>
          </a:xfrm>
          <a:prstGeom prst="rect">
            <a:avLst/>
          </a:prstGeom>
          <a:solidFill>
            <a:schemeClr val="bg1"/>
          </a:solidFill>
          <a:ln/>
          <a:effectLst>
            <a:outerShdw blurRad="76200" dist="25400" dir="5400000" algn="bl" rotWithShape="0">
              <a:srgbClr val="000000">
                <a:alpha val="12000"/>
              </a:srgbClr>
            </a:outerShdw>
          </a:effectLst>
        </p:spPr>
      </p:sp>
      <p:sp>
        <p:nvSpPr>
          <p:cNvPr id="27" name="Text 24"/>
          <p:cNvSpPr txBox="1"/>
          <p:nvPr/>
        </p:nvSpPr>
        <p:spPr>
          <a:xfrm>
            <a:off x="731520" y="1691640"/>
            <a:ext cx="10728655" cy="777240"/>
          </a:xfrm>
          <a:prstGeom prst="rect">
            <a:avLst/>
          </a:prstGeom>
          <a:noFill/>
          <a:ln/>
        </p:spPr>
        <p:txBody>
          <a:bodyPr wrap="square" lIns="0" tIns="0" rIns="0" bIns="0" rtlCol="0" anchor="ctr"/>
          <a:lstStyle/>
          <a:p>
            <a:pPr marL="0" indent="0">
              <a:buNone/>
            </a:pPr>
            <a:r>
              <a:rPr lang="en-US" sz="1500" b="1" dirty="0">
                <a:solidFill>
                  <a:schemeClr val="accent3"/>
                </a:solidFill>
              </a:rPr>
              <a:t>Needs a title: </a:t>
            </a:r>
            <a:r>
              <a:rPr lang="en-US" sz="1500" dirty="0">
                <a:solidFill>
                  <a:schemeClr val="tx1"/>
                </a:solidFill>
              </a:rPr>
              <a:t>Hussein, Yasser, Yassin     </a:t>
            </a:r>
            <a:r>
              <a:rPr lang="en-US" sz="1500" b="1" dirty="0">
                <a:solidFill>
                  <a:schemeClr val="accent3"/>
                </a:solidFill>
              </a:rPr>
              <a:t>Needs headings: </a:t>
            </a:r>
            <a:r>
              <a:rPr lang="en-US" sz="1500" dirty="0">
                <a:solidFill>
                  <a:schemeClr val="tx1"/>
                </a:solidFill>
              </a:rPr>
              <a:t>Mostafa, Waseela, Sadeel, Yasser, Renad, Ahmed, Hussein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2 (continued): the missing ending</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MERA   </a:t>
            </a:r>
            <a:endParaRPr lang="en-US" sz="1200" dirty="0"/>
          </a:p>
          <a:p>
            <a:pPr marL="0" indent="0">
              <a:buNone/>
            </a:pPr>
            <a:r>
              <a:rPr lang="en-US" sz="1400" i="1" dirty="0">
                <a:solidFill>
                  <a:schemeClr val="tx1"/>
                </a:solidFill>
              </a:rPr>
              <a:t>❌  (Plan stops after Protection: no Ending)</a:t>
            </a:r>
            <a:endParaRPr lang="en-US" sz="1200" dirty="0"/>
          </a:p>
        </p:txBody>
      </p:sp>
      <p:sp>
        <p:nvSpPr>
          <p:cNvPr id="11" name="Text 8"/>
          <p:cNvSpPr txBox="1"/>
          <p:nvPr/>
        </p:nvSpPr>
        <p:spPr>
          <a:xfrm>
            <a:off x="5806440" y="160020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1280160"/>
          </a:xfrm>
          <a:prstGeom prst="rect">
            <a:avLst/>
          </a:prstGeom>
          <a:noFill/>
          <a:ln/>
        </p:spPr>
        <p:txBody>
          <a:bodyPr wrap="square" lIns="0" tIns="0" rIns="0" bIns="0" rtlCol="0" anchor="ctr"/>
          <a:lstStyle/>
          <a:p>
            <a:pPr marL="0" indent="0">
              <a:buNone/>
            </a:pPr>
            <a:r>
              <a:rPr lang="en-US" sz="1400" b="1" dirty="0">
                <a:solidFill>
                  <a:schemeClr val="tx1"/>
                </a:solidFill>
              </a:rPr>
              <a:t>✅  Protecting West African lions matters because they are top predators that help keep their habitat balanced, and if this small population disappears, it is lost forever.</a:t>
            </a:r>
            <a:endParaRPr lang="en-US" sz="1400" dirty="0"/>
          </a:p>
        </p:txBody>
      </p:sp>
      <p:sp>
        <p:nvSpPr>
          <p:cNvPr id="14" name="Shape 11"/>
          <p:cNvSpPr/>
          <p:nvPr/>
        </p:nvSpPr>
        <p:spPr>
          <a:xfrm>
            <a:off x="548640" y="306324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306324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WASEELA   </a:t>
            </a:r>
            <a:endParaRPr lang="en-US" sz="1200" dirty="0"/>
          </a:p>
          <a:p>
            <a:pPr marL="0" indent="0">
              <a:buNone/>
            </a:pPr>
            <a:r>
              <a:rPr lang="en-US" sz="1400" i="1" dirty="0">
                <a:solidFill>
                  <a:schemeClr val="tx1"/>
                </a:solidFill>
              </a:rPr>
              <a:t>❌  (Plan stops after Protection: no Ending)</a:t>
            </a:r>
            <a:endParaRPr lang="en-US" sz="1200" dirty="0"/>
          </a:p>
        </p:txBody>
      </p:sp>
      <p:sp>
        <p:nvSpPr>
          <p:cNvPr id="16" name="Text 13"/>
          <p:cNvSpPr txBox="1"/>
          <p:nvPr/>
        </p:nvSpPr>
        <p:spPr>
          <a:xfrm>
            <a:off x="5806440" y="306324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306324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3063240"/>
            <a:ext cx="4892040" cy="1280160"/>
          </a:xfrm>
          <a:prstGeom prst="rect">
            <a:avLst/>
          </a:prstGeom>
          <a:noFill/>
          <a:ln/>
        </p:spPr>
        <p:txBody>
          <a:bodyPr wrap="square" lIns="0" tIns="0" rIns="0" bIns="0" rtlCol="0" anchor="ctr"/>
          <a:lstStyle/>
          <a:p>
            <a:pPr marL="0" indent="0">
              <a:buNone/>
            </a:pPr>
            <a:r>
              <a:rPr lang="en-US" sz="1400" b="1" dirty="0">
                <a:solidFill>
                  <a:schemeClr val="tx1"/>
                </a:solidFill>
              </a:rPr>
              <a:t>✅  Protecting cheetahs matters because they are the fastest land animals on Earth. If they disappear from the African savannas, a unique species will be lost forever.</a:t>
            </a:r>
            <a:endParaRPr lang="en-US" sz="1400" dirty="0"/>
          </a:p>
        </p:txBody>
      </p:sp>
      <p:sp>
        <p:nvSpPr>
          <p:cNvPr id="19" name="Shape 16"/>
          <p:cNvSpPr/>
          <p:nvPr/>
        </p:nvSpPr>
        <p:spPr>
          <a:xfrm>
            <a:off x="548640" y="4526280"/>
            <a:ext cx="5212080" cy="128016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4526280"/>
            <a:ext cx="4846320" cy="1280160"/>
          </a:xfrm>
          <a:prstGeom prst="rect">
            <a:avLst/>
          </a:prstGeom>
          <a:noFill/>
          <a:ln/>
        </p:spPr>
        <p:txBody>
          <a:bodyPr wrap="square" lIns="0" tIns="0" rIns="0" bIns="0" rtlCol="0" anchor="ctr"/>
          <a:lstStyle/>
          <a:p>
            <a:pPr marL="0" indent="0">
              <a:buNone/>
            </a:pPr>
            <a:r>
              <a:rPr lang="en-US" sz="1200" b="1" dirty="0">
                <a:solidFill>
                  <a:schemeClr val="accent3"/>
                </a:solidFill>
              </a:rPr>
              <a:t>AHMED   </a:t>
            </a:r>
            <a:endParaRPr lang="en-US" sz="1200" dirty="0"/>
          </a:p>
          <a:p>
            <a:pPr marL="0" indent="0">
              <a:buNone/>
            </a:pPr>
            <a:r>
              <a:rPr lang="en-US" sz="1400" i="1" dirty="0">
                <a:solidFill>
                  <a:schemeClr val="tx1"/>
                </a:solidFill>
              </a:rPr>
              <a:t>❌  (Plan stops after the list of protections)</a:t>
            </a:r>
            <a:endParaRPr lang="en-US" sz="1200" dirty="0"/>
          </a:p>
        </p:txBody>
      </p:sp>
      <p:sp>
        <p:nvSpPr>
          <p:cNvPr id="21" name="Text 18"/>
          <p:cNvSpPr txBox="1"/>
          <p:nvPr/>
        </p:nvSpPr>
        <p:spPr>
          <a:xfrm>
            <a:off x="5806440" y="4526280"/>
            <a:ext cx="548640" cy="128016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4526280"/>
            <a:ext cx="5257800" cy="128016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4526280"/>
            <a:ext cx="4892040" cy="1280160"/>
          </a:xfrm>
          <a:prstGeom prst="rect">
            <a:avLst/>
          </a:prstGeom>
          <a:noFill/>
          <a:ln/>
        </p:spPr>
        <p:txBody>
          <a:bodyPr wrap="square" lIns="0" tIns="0" rIns="0" bIns="0" rtlCol="0" anchor="ctr"/>
          <a:lstStyle/>
          <a:p>
            <a:pPr marL="0" indent="0">
              <a:buNone/>
            </a:pPr>
            <a:r>
              <a:rPr lang="en-US" sz="1400" b="1" dirty="0">
                <a:solidFill>
                  <a:schemeClr val="tx1"/>
                </a:solidFill>
              </a:rPr>
              <a:t>✅  Protecting the Amur leopard matters because it is one of the rarest big cats in the world. If it disappears, nature will lose a unique animal forever.</a:t>
            </a:r>
            <a:endParaRPr lang="en-US" sz="1400" dirty="0"/>
          </a:p>
        </p:txBody>
      </p:sp>
      <p:sp>
        <p:nvSpPr>
          <p:cNvPr id="24" name="Text 21"/>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Ending: Protecting ___ matters because ___. If ___ disappears…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3: match every threat with a protection</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3383280" cy="411480"/>
          </a:xfrm>
          <a:prstGeom prst="rect">
            <a:avLst/>
          </a:prstGeom>
          <a:solidFill>
            <a:schemeClr val="accent3"/>
          </a:solidFill>
          <a:ln/>
        </p:spPr>
      </p:sp>
      <p:sp>
        <p:nvSpPr>
          <p:cNvPr id="6" name="Text 3"/>
          <p:cNvSpPr txBox="1"/>
          <p:nvPr/>
        </p:nvSpPr>
        <p:spPr>
          <a:xfrm>
            <a:off x="676656" y="1097280"/>
            <a:ext cx="3200400" cy="411480"/>
          </a:xfrm>
          <a:prstGeom prst="rect">
            <a:avLst/>
          </a:prstGeom>
          <a:noFill/>
          <a:ln/>
        </p:spPr>
        <p:txBody>
          <a:bodyPr wrap="square" lIns="0" tIns="0" rIns="0" bIns="0" rtlCol="0" anchor="ctr"/>
          <a:lstStyle/>
          <a:p>
            <a:pPr marL="0" indent="0">
              <a:buNone/>
            </a:pPr>
            <a:r>
              <a:rPr lang="en-US" sz="1400" b="1" dirty="0">
                <a:solidFill>
                  <a:schemeClr val="bg1"/>
                </a:solidFill>
              </a:rPr>
              <a:t>THREAT IN THE PLAN</a:t>
            </a:r>
            <a:endParaRPr lang="en-US" sz="1400" dirty="0"/>
          </a:p>
        </p:txBody>
      </p:sp>
      <p:sp>
        <p:nvSpPr>
          <p:cNvPr id="7" name="Shape 4"/>
          <p:cNvSpPr/>
          <p:nvPr/>
        </p:nvSpPr>
        <p:spPr>
          <a:xfrm>
            <a:off x="4069080" y="1097280"/>
            <a:ext cx="3291840" cy="411480"/>
          </a:xfrm>
          <a:prstGeom prst="rect">
            <a:avLst/>
          </a:prstGeom>
          <a:solidFill>
            <a:schemeClr val="accent2"/>
          </a:solidFill>
          <a:ln/>
        </p:spPr>
      </p:sp>
      <p:sp>
        <p:nvSpPr>
          <p:cNvPr id="8" name="Text 5"/>
          <p:cNvSpPr txBox="1"/>
          <p:nvPr/>
        </p:nvSpPr>
        <p:spPr>
          <a:xfrm>
            <a:off x="4197096" y="1097280"/>
            <a:ext cx="3108960" cy="411480"/>
          </a:xfrm>
          <a:prstGeom prst="rect">
            <a:avLst/>
          </a:prstGeom>
          <a:noFill/>
          <a:ln/>
        </p:spPr>
        <p:txBody>
          <a:bodyPr wrap="square" lIns="0" tIns="0" rIns="0" bIns="0" rtlCol="0" anchor="ctr"/>
          <a:lstStyle/>
          <a:p>
            <a:pPr marL="0" indent="0">
              <a:buNone/>
            </a:pPr>
            <a:r>
              <a:rPr lang="en-US" sz="1400" b="1" dirty="0">
                <a:solidFill>
                  <a:schemeClr val="tx1"/>
                </a:solidFill>
              </a:rPr>
              <a:t>PROTECTION IN THE PLAN</a:t>
            </a:r>
            <a:endParaRPr lang="en-US" sz="1400" dirty="0"/>
          </a:p>
        </p:txBody>
      </p:sp>
      <p:sp>
        <p:nvSpPr>
          <p:cNvPr id="9" name="Shape 6"/>
          <p:cNvSpPr/>
          <p:nvPr/>
        </p:nvSpPr>
        <p:spPr>
          <a:xfrm>
            <a:off x="7498080" y="1097280"/>
            <a:ext cx="4160520" cy="411480"/>
          </a:xfrm>
          <a:prstGeom prst="rect">
            <a:avLst/>
          </a:prstGeom>
          <a:solidFill>
            <a:schemeClr val="accent1"/>
          </a:solidFill>
          <a:ln/>
        </p:spPr>
      </p:sp>
      <p:sp>
        <p:nvSpPr>
          <p:cNvPr id="10" name="Text 7"/>
          <p:cNvSpPr txBox="1"/>
          <p:nvPr/>
        </p:nvSpPr>
        <p:spPr>
          <a:xfrm>
            <a:off x="7626096" y="1097280"/>
            <a:ext cx="3977640" cy="411480"/>
          </a:xfrm>
          <a:prstGeom prst="rect">
            <a:avLst/>
          </a:prstGeom>
          <a:noFill/>
          <a:ln/>
        </p:spPr>
        <p:txBody>
          <a:bodyPr wrap="square" lIns="0" tIns="0" rIns="0" bIns="0" rtlCol="0" anchor="ctr"/>
          <a:lstStyle/>
          <a:p>
            <a:pPr marL="0" indent="0">
              <a:buNone/>
            </a:pPr>
            <a:r>
              <a:rPr lang="en-US" sz="1400" b="1" dirty="0">
                <a:solidFill>
                  <a:schemeClr val="bg1"/>
                </a:solidFill>
              </a:rPr>
              <a:t>MATCH IT</a:t>
            </a:r>
            <a:endParaRPr lang="en-US" sz="1400" dirty="0"/>
          </a:p>
        </p:txBody>
      </p:sp>
      <p:sp>
        <p:nvSpPr>
          <p:cNvPr id="11" name="Shape 8"/>
          <p:cNvSpPr/>
          <p:nvPr/>
        </p:nvSpPr>
        <p:spPr>
          <a:xfrm>
            <a:off x="548640" y="1645920"/>
            <a:ext cx="3383280" cy="749808"/>
          </a:xfrm>
          <a:prstGeom prst="rect">
            <a:avLst/>
          </a:prstGeom>
          <a:solidFill>
            <a:schemeClr val="bg1"/>
          </a:solidFill>
          <a:ln/>
          <a:effectLst>
            <a:outerShdw blurRad="76200" dist="25400" dir="5400000" algn="bl" rotWithShape="0">
              <a:srgbClr val="000000">
                <a:alpha val="12000"/>
              </a:srgbClr>
            </a:outerShdw>
          </a:effectLst>
        </p:spPr>
      </p:sp>
      <p:sp>
        <p:nvSpPr>
          <p:cNvPr id="12" name="Text 9"/>
          <p:cNvSpPr txBox="1"/>
          <p:nvPr/>
        </p:nvSpPr>
        <p:spPr>
          <a:xfrm>
            <a:off x="685800" y="1645920"/>
            <a:ext cx="3154680" cy="749808"/>
          </a:xfrm>
          <a:prstGeom prst="rect">
            <a:avLst/>
          </a:prstGeom>
          <a:noFill/>
          <a:ln/>
        </p:spPr>
        <p:txBody>
          <a:bodyPr wrap="square" lIns="0" tIns="0" rIns="0" bIns="0" rtlCol="0" anchor="ctr"/>
          <a:lstStyle/>
          <a:p>
            <a:pPr marL="0" indent="0">
              <a:buNone/>
            </a:pPr>
            <a:r>
              <a:rPr lang="en-US" sz="1100" b="1" dirty="0">
                <a:solidFill>
                  <a:schemeClr val="accent3"/>
                </a:solidFill>
              </a:rPr>
              <a:t>HUSSEIN   </a:t>
            </a:r>
            <a:endParaRPr lang="en-US" sz="1100" dirty="0"/>
          </a:p>
          <a:p>
            <a:pPr marL="0" indent="0">
              <a:buNone/>
            </a:pPr>
            <a:r>
              <a:rPr lang="en-US" sz="1500" dirty="0">
                <a:solidFill>
                  <a:schemeClr val="tx1"/>
                </a:solidFill>
              </a:rPr>
              <a:t>Getting caught in fishing nets</a:t>
            </a:r>
            <a:endParaRPr lang="en-US" sz="1100" dirty="0"/>
          </a:p>
        </p:txBody>
      </p:sp>
      <p:sp>
        <p:nvSpPr>
          <p:cNvPr id="13" name="Shape 10"/>
          <p:cNvSpPr/>
          <p:nvPr/>
        </p:nvSpPr>
        <p:spPr>
          <a:xfrm>
            <a:off x="4069080" y="1645920"/>
            <a:ext cx="3291840" cy="749808"/>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4206240" y="1645920"/>
            <a:ext cx="3063240" cy="749808"/>
          </a:xfrm>
          <a:prstGeom prst="rect">
            <a:avLst/>
          </a:prstGeom>
          <a:noFill/>
          <a:ln/>
        </p:spPr>
        <p:txBody>
          <a:bodyPr wrap="square" lIns="0" tIns="0" rIns="0" bIns="0" rtlCol="0" anchor="ctr"/>
          <a:lstStyle/>
          <a:p>
            <a:pPr marL="0" indent="0">
              <a:buNone/>
            </a:pPr>
            <a:r>
              <a:rPr lang="en-US" sz="1500" dirty="0">
                <a:solidFill>
                  <a:schemeClr val="tx1"/>
                </a:solidFill>
              </a:rPr>
              <a:t>Using safe fishing nets with escape doors</a:t>
            </a:r>
            <a:endParaRPr lang="en-US" sz="1500" dirty="0"/>
          </a:p>
        </p:txBody>
      </p:sp>
      <p:sp>
        <p:nvSpPr>
          <p:cNvPr id="15" name="Shape 12"/>
          <p:cNvSpPr/>
          <p:nvPr/>
        </p:nvSpPr>
        <p:spPr>
          <a:xfrm>
            <a:off x="7498080" y="1645920"/>
            <a:ext cx="4160520" cy="749808"/>
          </a:xfrm>
          <a:prstGeom prst="rect">
            <a:avLst/>
          </a:prstGeom>
          <a:solidFill>
            <a:schemeClr val="bg1"/>
          </a:solidFill>
          <a:ln/>
          <a:effectLst>
            <a:outerShdw blurRad="76200" dist="25400" dir="5400000" algn="bl" rotWithShape="0">
              <a:srgbClr val="000000">
                <a:alpha val="12000"/>
              </a:srgbClr>
            </a:outerShdw>
          </a:effectLst>
        </p:spPr>
      </p:sp>
      <p:sp>
        <p:nvSpPr>
          <p:cNvPr id="16" name="Text 13"/>
          <p:cNvSpPr txBox="1"/>
          <p:nvPr/>
        </p:nvSpPr>
        <p:spPr>
          <a:xfrm>
            <a:off x="7635240" y="1645920"/>
            <a:ext cx="3931920" cy="749808"/>
          </a:xfrm>
          <a:prstGeom prst="rect">
            <a:avLst/>
          </a:prstGeom>
          <a:noFill/>
          <a:ln/>
        </p:spPr>
        <p:txBody>
          <a:bodyPr wrap="square" lIns="0" tIns="0" rIns="0" bIns="0" rtlCol="0" anchor="ctr"/>
          <a:lstStyle/>
          <a:p>
            <a:pPr marL="0" indent="0">
              <a:buNone/>
            </a:pPr>
            <a:r>
              <a:rPr lang="en-US" sz="1500" b="1" dirty="0">
                <a:solidFill>
                  <a:schemeClr val="tx1"/>
                </a:solidFill>
              </a:rPr>
              <a:t>✅ A match!</a:t>
            </a:r>
            <a:endParaRPr lang="en-US" sz="1500" dirty="0"/>
          </a:p>
        </p:txBody>
      </p:sp>
      <p:sp>
        <p:nvSpPr>
          <p:cNvPr id="17" name="Shape 14"/>
          <p:cNvSpPr/>
          <p:nvPr/>
        </p:nvSpPr>
        <p:spPr>
          <a:xfrm>
            <a:off x="548640" y="2487168"/>
            <a:ext cx="3383280" cy="749808"/>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85800" y="2487168"/>
            <a:ext cx="3154680" cy="749808"/>
          </a:xfrm>
          <a:prstGeom prst="rect">
            <a:avLst/>
          </a:prstGeom>
          <a:noFill/>
          <a:ln/>
        </p:spPr>
        <p:txBody>
          <a:bodyPr wrap="square" lIns="0" tIns="0" rIns="0" bIns="0" rtlCol="0" anchor="ctr"/>
          <a:lstStyle/>
          <a:p>
            <a:pPr marL="0" indent="0">
              <a:buNone/>
            </a:pPr>
            <a:r>
              <a:rPr lang="en-US" sz="1100" b="1" dirty="0">
                <a:solidFill>
                  <a:schemeClr val="accent3"/>
                </a:solidFill>
              </a:rPr>
              <a:t>AHMED   </a:t>
            </a:r>
            <a:endParaRPr lang="en-US" sz="1100" dirty="0"/>
          </a:p>
          <a:p>
            <a:pPr marL="0" indent="0">
              <a:buNone/>
            </a:pPr>
            <a:r>
              <a:rPr lang="en-US" sz="1500" dirty="0">
                <a:solidFill>
                  <a:schemeClr val="tx1"/>
                </a:solidFill>
              </a:rPr>
              <a:t>Human development and losing habitat</a:t>
            </a:r>
            <a:endParaRPr lang="en-US" sz="1100" dirty="0"/>
          </a:p>
        </p:txBody>
      </p:sp>
      <p:sp>
        <p:nvSpPr>
          <p:cNvPr id="19" name="Shape 16"/>
          <p:cNvSpPr/>
          <p:nvPr/>
        </p:nvSpPr>
        <p:spPr>
          <a:xfrm>
            <a:off x="4069080" y="2487168"/>
            <a:ext cx="3291840" cy="749808"/>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4206240" y="2487168"/>
            <a:ext cx="3063240" cy="749808"/>
          </a:xfrm>
          <a:prstGeom prst="rect">
            <a:avLst/>
          </a:prstGeom>
          <a:noFill/>
          <a:ln/>
        </p:spPr>
        <p:txBody>
          <a:bodyPr wrap="square" lIns="0" tIns="0" rIns="0" bIns="0" rtlCol="0" anchor="ctr"/>
          <a:lstStyle/>
          <a:p>
            <a:pPr marL="0" indent="0">
              <a:buNone/>
            </a:pPr>
            <a:r>
              <a:rPr lang="en-US" sz="1500" dirty="0">
                <a:solidFill>
                  <a:schemeClr val="tx1"/>
                </a:solidFill>
              </a:rPr>
              <a:t>Keeping parts of their habitat safe</a:t>
            </a:r>
            <a:endParaRPr lang="en-US" sz="1500" dirty="0"/>
          </a:p>
        </p:txBody>
      </p:sp>
      <p:sp>
        <p:nvSpPr>
          <p:cNvPr id="21" name="Shape 18"/>
          <p:cNvSpPr/>
          <p:nvPr/>
        </p:nvSpPr>
        <p:spPr>
          <a:xfrm>
            <a:off x="7498080" y="2487168"/>
            <a:ext cx="4160520" cy="749808"/>
          </a:xfrm>
          <a:prstGeom prst="rect">
            <a:avLst/>
          </a:prstGeom>
          <a:solidFill>
            <a:schemeClr val="bg1"/>
          </a:solidFill>
          <a:ln/>
          <a:effectLst>
            <a:outerShdw blurRad="76200" dist="25400" dir="5400000" algn="bl" rotWithShape="0">
              <a:srgbClr val="000000">
                <a:alpha val="12000"/>
              </a:srgbClr>
            </a:outerShdw>
          </a:effectLst>
        </p:spPr>
      </p:sp>
      <p:sp>
        <p:nvSpPr>
          <p:cNvPr id="22" name="Text 19"/>
          <p:cNvSpPr txBox="1"/>
          <p:nvPr/>
        </p:nvSpPr>
        <p:spPr>
          <a:xfrm>
            <a:off x="7635240" y="2487168"/>
            <a:ext cx="3931920" cy="749808"/>
          </a:xfrm>
          <a:prstGeom prst="rect">
            <a:avLst/>
          </a:prstGeom>
          <a:noFill/>
          <a:ln/>
        </p:spPr>
        <p:txBody>
          <a:bodyPr wrap="square" lIns="0" tIns="0" rIns="0" bIns="0" rtlCol="0" anchor="ctr"/>
          <a:lstStyle/>
          <a:p>
            <a:pPr marL="0" indent="0">
              <a:buNone/>
            </a:pPr>
            <a:r>
              <a:rPr lang="en-US" sz="1500" b="1" dirty="0">
                <a:solidFill>
                  <a:schemeClr val="tx1"/>
                </a:solidFill>
              </a:rPr>
              <a:t>✅ A match!</a:t>
            </a:r>
            <a:endParaRPr lang="en-US" sz="1500" dirty="0"/>
          </a:p>
        </p:txBody>
      </p:sp>
      <p:sp>
        <p:nvSpPr>
          <p:cNvPr id="23" name="Shape 20"/>
          <p:cNvSpPr/>
          <p:nvPr/>
        </p:nvSpPr>
        <p:spPr>
          <a:xfrm>
            <a:off x="548640" y="3328416"/>
            <a:ext cx="3383280" cy="749808"/>
          </a:xfrm>
          <a:prstGeom prst="rect">
            <a:avLst/>
          </a:prstGeom>
          <a:solidFill>
            <a:schemeClr val="bg1"/>
          </a:solidFill>
          <a:ln/>
          <a:effectLst>
            <a:outerShdw blurRad="76200" dist="25400" dir="5400000" algn="bl" rotWithShape="0">
              <a:srgbClr val="000000">
                <a:alpha val="12000"/>
              </a:srgbClr>
            </a:outerShdw>
          </a:effectLst>
        </p:spPr>
      </p:sp>
      <p:sp>
        <p:nvSpPr>
          <p:cNvPr id="24" name="Text 21"/>
          <p:cNvSpPr txBox="1"/>
          <p:nvPr/>
        </p:nvSpPr>
        <p:spPr>
          <a:xfrm>
            <a:off x="685800" y="3328416"/>
            <a:ext cx="3154680" cy="749808"/>
          </a:xfrm>
          <a:prstGeom prst="rect">
            <a:avLst/>
          </a:prstGeom>
          <a:noFill/>
          <a:ln/>
        </p:spPr>
        <p:txBody>
          <a:bodyPr wrap="square" lIns="0" tIns="0" rIns="0" bIns="0" rtlCol="0" anchor="ctr"/>
          <a:lstStyle/>
          <a:p>
            <a:pPr marL="0" indent="0">
              <a:buNone/>
            </a:pPr>
            <a:r>
              <a:rPr lang="en-US" sz="1100" b="1" dirty="0">
                <a:solidFill>
                  <a:schemeClr val="accent3"/>
                </a:solidFill>
              </a:rPr>
              <a:t>WASEELA   </a:t>
            </a:r>
            <a:endParaRPr lang="en-US" sz="1100" dirty="0"/>
          </a:p>
          <a:p>
            <a:pPr marL="0" indent="0">
              <a:buNone/>
            </a:pPr>
            <a:r>
              <a:rPr lang="en-US" sz="1500" dirty="0">
                <a:solidFill>
                  <a:schemeClr val="tx1"/>
                </a:solidFill>
              </a:rPr>
              <a:t>Retaliatory killings</a:t>
            </a:r>
            <a:endParaRPr lang="en-US" sz="1100" dirty="0"/>
          </a:p>
        </p:txBody>
      </p:sp>
      <p:sp>
        <p:nvSpPr>
          <p:cNvPr id="25" name="Shape 22"/>
          <p:cNvSpPr/>
          <p:nvPr/>
        </p:nvSpPr>
        <p:spPr>
          <a:xfrm>
            <a:off x="4069080" y="3328416"/>
            <a:ext cx="3291840" cy="749808"/>
          </a:xfrm>
          <a:prstGeom prst="rect">
            <a:avLst/>
          </a:prstGeom>
          <a:solidFill>
            <a:schemeClr val="bg1"/>
          </a:solidFill>
          <a:ln/>
          <a:effectLst>
            <a:outerShdw blurRad="76200" dist="25400" dir="5400000" algn="bl" rotWithShape="0">
              <a:srgbClr val="000000">
                <a:alpha val="12000"/>
              </a:srgbClr>
            </a:outerShdw>
          </a:effectLst>
        </p:spPr>
      </p:sp>
      <p:sp>
        <p:nvSpPr>
          <p:cNvPr id="26" name="Text 23"/>
          <p:cNvSpPr txBox="1"/>
          <p:nvPr/>
        </p:nvSpPr>
        <p:spPr>
          <a:xfrm>
            <a:off x="4206240" y="3328416"/>
            <a:ext cx="3063240" cy="749808"/>
          </a:xfrm>
          <a:prstGeom prst="rect">
            <a:avLst/>
          </a:prstGeom>
          <a:noFill/>
          <a:ln/>
        </p:spPr>
        <p:txBody>
          <a:bodyPr wrap="square" lIns="0" tIns="0" rIns="0" bIns="0" rtlCol="0" anchor="ctr"/>
          <a:lstStyle/>
          <a:p>
            <a:pPr marL="0" indent="0">
              <a:buNone/>
            </a:pPr>
            <a:r>
              <a:rPr lang="en-US" sz="1500" dirty="0">
                <a:solidFill>
                  <a:schemeClr val="tx1"/>
                </a:solidFill>
              </a:rPr>
              <a:t>Shepherd dogs on farms to deter cheetahs</a:t>
            </a:r>
            <a:endParaRPr lang="en-US" sz="1500" dirty="0"/>
          </a:p>
        </p:txBody>
      </p:sp>
      <p:sp>
        <p:nvSpPr>
          <p:cNvPr id="27" name="Shape 24"/>
          <p:cNvSpPr/>
          <p:nvPr/>
        </p:nvSpPr>
        <p:spPr>
          <a:xfrm>
            <a:off x="7498080" y="3328416"/>
            <a:ext cx="4160520" cy="749808"/>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7635240" y="3328416"/>
            <a:ext cx="3931920" cy="749808"/>
          </a:xfrm>
          <a:prstGeom prst="rect">
            <a:avLst/>
          </a:prstGeom>
          <a:noFill/>
          <a:ln/>
        </p:spPr>
        <p:txBody>
          <a:bodyPr wrap="square" lIns="0" tIns="0" rIns="0" bIns="0" rtlCol="0" anchor="ctr"/>
          <a:lstStyle/>
          <a:p>
            <a:pPr marL="0" indent="0">
              <a:buNone/>
            </a:pPr>
            <a:r>
              <a:rPr lang="en-US" sz="1500" b="1" dirty="0">
                <a:solidFill>
                  <a:schemeClr val="tx1"/>
                </a:solidFill>
              </a:rPr>
              <a:t>✅ A match!</a:t>
            </a:r>
            <a:endParaRPr lang="en-US" sz="1500" dirty="0"/>
          </a:p>
        </p:txBody>
      </p:sp>
      <p:sp>
        <p:nvSpPr>
          <p:cNvPr id="29" name="Shape 26"/>
          <p:cNvSpPr/>
          <p:nvPr/>
        </p:nvSpPr>
        <p:spPr>
          <a:xfrm>
            <a:off x="548640" y="4169664"/>
            <a:ext cx="3383280" cy="749808"/>
          </a:xfrm>
          <a:prstGeom prst="rect">
            <a:avLst/>
          </a:prstGeom>
          <a:solidFill>
            <a:schemeClr val="bg1"/>
          </a:solidFill>
          <a:ln/>
          <a:effectLst>
            <a:outerShdw blurRad="76200" dist="25400" dir="5400000" algn="bl" rotWithShape="0">
              <a:srgbClr val="000000">
                <a:alpha val="12000"/>
              </a:srgbClr>
            </a:outerShdw>
          </a:effectLst>
        </p:spPr>
      </p:sp>
      <p:sp>
        <p:nvSpPr>
          <p:cNvPr id="30" name="Text 27"/>
          <p:cNvSpPr txBox="1"/>
          <p:nvPr/>
        </p:nvSpPr>
        <p:spPr>
          <a:xfrm>
            <a:off x="685800" y="4169664"/>
            <a:ext cx="3154680" cy="749808"/>
          </a:xfrm>
          <a:prstGeom prst="rect">
            <a:avLst/>
          </a:prstGeom>
          <a:noFill/>
          <a:ln/>
        </p:spPr>
        <p:txBody>
          <a:bodyPr wrap="square" lIns="0" tIns="0" rIns="0" bIns="0" rtlCol="0" anchor="ctr"/>
          <a:lstStyle/>
          <a:p>
            <a:pPr marL="0" indent="0">
              <a:buNone/>
            </a:pPr>
            <a:r>
              <a:rPr lang="en-US" sz="1100" b="1" dirty="0">
                <a:solidFill>
                  <a:schemeClr val="accent3"/>
                </a:solidFill>
              </a:rPr>
              <a:t>SADEEL   </a:t>
            </a:r>
            <a:endParaRPr lang="en-US" sz="1100" dirty="0"/>
          </a:p>
          <a:p>
            <a:pPr marL="0" indent="0">
              <a:buNone/>
            </a:pPr>
            <a:r>
              <a:rPr lang="en-US" sz="1500" dirty="0">
                <a:solidFill>
                  <a:schemeClr val="tx1"/>
                </a:solidFill>
              </a:rPr>
              <a:t>Poaching and egg harvesting</a:t>
            </a:r>
            <a:endParaRPr lang="en-US" sz="1100" dirty="0"/>
          </a:p>
        </p:txBody>
      </p:sp>
      <p:sp>
        <p:nvSpPr>
          <p:cNvPr id="31" name="Shape 28"/>
          <p:cNvSpPr/>
          <p:nvPr/>
        </p:nvSpPr>
        <p:spPr>
          <a:xfrm>
            <a:off x="4069080" y="4169664"/>
            <a:ext cx="3291840" cy="749808"/>
          </a:xfrm>
          <a:prstGeom prst="rect">
            <a:avLst/>
          </a:prstGeom>
          <a:solidFill>
            <a:schemeClr val="bg1"/>
          </a:solidFill>
          <a:ln/>
          <a:effectLst>
            <a:outerShdw blurRad="76200" dist="25400" dir="5400000" algn="bl" rotWithShape="0">
              <a:srgbClr val="000000">
                <a:alpha val="12000"/>
              </a:srgbClr>
            </a:outerShdw>
          </a:effectLst>
        </p:spPr>
      </p:sp>
      <p:sp>
        <p:nvSpPr>
          <p:cNvPr id="32" name="Text 29"/>
          <p:cNvSpPr txBox="1"/>
          <p:nvPr/>
        </p:nvSpPr>
        <p:spPr>
          <a:xfrm>
            <a:off x="4206240" y="4169664"/>
            <a:ext cx="3063240" cy="749808"/>
          </a:xfrm>
          <a:prstGeom prst="rect">
            <a:avLst/>
          </a:prstGeom>
          <a:noFill/>
          <a:ln/>
        </p:spPr>
        <p:txBody>
          <a:bodyPr wrap="square" lIns="0" tIns="0" rIns="0" bIns="0" rtlCol="0" anchor="ctr"/>
          <a:lstStyle/>
          <a:p>
            <a:pPr marL="0" indent="0">
              <a:buNone/>
            </a:pPr>
            <a:r>
              <a:rPr lang="en-US" sz="1500" dirty="0">
                <a:solidFill>
                  <a:schemeClr val="tx1"/>
                </a:solidFill>
              </a:rPr>
              <a:t>Reducing plastic waste; protected areas</a:t>
            </a:r>
            <a:endParaRPr lang="en-US" sz="1500" dirty="0"/>
          </a:p>
        </p:txBody>
      </p:sp>
      <p:sp>
        <p:nvSpPr>
          <p:cNvPr id="33" name="Shape 30"/>
          <p:cNvSpPr/>
          <p:nvPr/>
        </p:nvSpPr>
        <p:spPr>
          <a:xfrm>
            <a:off x="7498080" y="4169664"/>
            <a:ext cx="4160520" cy="749808"/>
          </a:xfrm>
          <a:prstGeom prst="rect">
            <a:avLst/>
          </a:prstGeom>
          <a:solidFill>
            <a:schemeClr val="bg1"/>
          </a:solidFill>
          <a:ln/>
          <a:effectLst>
            <a:outerShdw blurRad="76200" dist="25400" dir="5400000" algn="bl" rotWithShape="0">
              <a:srgbClr val="000000">
                <a:alpha val="12000"/>
              </a:srgbClr>
            </a:outerShdw>
          </a:effectLst>
        </p:spPr>
      </p:sp>
      <p:sp>
        <p:nvSpPr>
          <p:cNvPr id="34" name="Text 31"/>
          <p:cNvSpPr txBox="1"/>
          <p:nvPr/>
        </p:nvSpPr>
        <p:spPr>
          <a:xfrm>
            <a:off x="7635240" y="4169664"/>
            <a:ext cx="3931920" cy="749808"/>
          </a:xfrm>
          <a:prstGeom prst="rect">
            <a:avLst/>
          </a:prstGeom>
          <a:noFill/>
          <a:ln/>
        </p:spPr>
        <p:txBody>
          <a:bodyPr wrap="square" lIns="0" tIns="0" rIns="0" bIns="0" rtlCol="0" anchor="ctr"/>
          <a:lstStyle/>
          <a:p>
            <a:pPr marL="0" indent="0">
              <a:buNone/>
            </a:pPr>
            <a:r>
              <a:rPr lang="en-US" sz="1500" b="1" dirty="0">
                <a:solidFill>
                  <a:schemeClr val="tx1"/>
                </a:solidFill>
              </a:rPr>
              <a:t>❌ Add: “Rangers guard nesting beaches so eggs are not taken.”</a:t>
            </a:r>
            <a:endParaRPr lang="en-US" sz="1500" dirty="0"/>
          </a:p>
        </p:txBody>
      </p:sp>
      <p:sp>
        <p:nvSpPr>
          <p:cNvPr id="35" name="Shape 32"/>
          <p:cNvSpPr/>
          <p:nvPr/>
        </p:nvSpPr>
        <p:spPr>
          <a:xfrm>
            <a:off x="548640" y="5010912"/>
            <a:ext cx="3383280" cy="749808"/>
          </a:xfrm>
          <a:prstGeom prst="rect">
            <a:avLst/>
          </a:prstGeom>
          <a:solidFill>
            <a:schemeClr val="bg1"/>
          </a:solidFill>
          <a:ln/>
          <a:effectLst>
            <a:outerShdw blurRad="76200" dist="25400" dir="5400000" algn="bl" rotWithShape="0">
              <a:srgbClr val="000000">
                <a:alpha val="12000"/>
              </a:srgbClr>
            </a:outerShdw>
          </a:effectLst>
        </p:spPr>
      </p:sp>
      <p:sp>
        <p:nvSpPr>
          <p:cNvPr id="36" name="Text 33"/>
          <p:cNvSpPr txBox="1"/>
          <p:nvPr/>
        </p:nvSpPr>
        <p:spPr>
          <a:xfrm>
            <a:off x="685800" y="5010912"/>
            <a:ext cx="3154680" cy="749808"/>
          </a:xfrm>
          <a:prstGeom prst="rect">
            <a:avLst/>
          </a:prstGeom>
          <a:noFill/>
          <a:ln/>
        </p:spPr>
        <p:txBody>
          <a:bodyPr wrap="square" lIns="0" tIns="0" rIns="0" bIns="0" rtlCol="0" anchor="ctr"/>
          <a:lstStyle/>
          <a:p>
            <a:pPr marL="0" indent="0">
              <a:buNone/>
            </a:pPr>
            <a:r>
              <a:rPr lang="en-US" sz="1100" b="1" dirty="0">
                <a:solidFill>
                  <a:schemeClr val="accent3"/>
                </a:solidFill>
              </a:rPr>
              <a:t>YASSIN   </a:t>
            </a:r>
            <a:endParaRPr lang="en-US" sz="1100" dirty="0"/>
          </a:p>
          <a:p>
            <a:pPr marL="0" indent="0">
              <a:buNone/>
            </a:pPr>
            <a:r>
              <a:rPr lang="en-US" sz="1500" dirty="0">
                <a:solidFill>
                  <a:schemeClr val="tx1"/>
                </a:solidFill>
              </a:rPr>
              <a:t>Fishing nets and ocean pollution</a:t>
            </a:r>
            <a:endParaRPr lang="en-US" sz="1100" dirty="0"/>
          </a:p>
        </p:txBody>
      </p:sp>
      <p:sp>
        <p:nvSpPr>
          <p:cNvPr id="37" name="Shape 34"/>
          <p:cNvSpPr/>
          <p:nvPr/>
        </p:nvSpPr>
        <p:spPr>
          <a:xfrm>
            <a:off x="4069080" y="5010912"/>
            <a:ext cx="3291840" cy="749808"/>
          </a:xfrm>
          <a:prstGeom prst="rect">
            <a:avLst/>
          </a:prstGeom>
          <a:solidFill>
            <a:schemeClr val="bg1"/>
          </a:solidFill>
          <a:ln/>
          <a:effectLst>
            <a:outerShdw blurRad="76200" dist="25400" dir="5400000" algn="bl" rotWithShape="0">
              <a:srgbClr val="000000">
                <a:alpha val="12000"/>
              </a:srgbClr>
            </a:outerShdw>
          </a:effectLst>
        </p:spPr>
      </p:sp>
      <p:sp>
        <p:nvSpPr>
          <p:cNvPr id="38" name="Text 35"/>
          <p:cNvSpPr txBox="1"/>
          <p:nvPr/>
        </p:nvSpPr>
        <p:spPr>
          <a:xfrm>
            <a:off x="4206240" y="5010912"/>
            <a:ext cx="3063240" cy="749808"/>
          </a:xfrm>
          <a:prstGeom prst="rect">
            <a:avLst/>
          </a:prstGeom>
          <a:noFill/>
          <a:ln/>
        </p:spPr>
        <p:txBody>
          <a:bodyPr wrap="square" lIns="0" tIns="0" rIns="0" bIns="0" rtlCol="0" anchor="ctr"/>
          <a:lstStyle/>
          <a:p>
            <a:pPr marL="0" indent="0">
              <a:buNone/>
            </a:pPr>
            <a:r>
              <a:rPr lang="en-US" sz="1500" dirty="0">
                <a:solidFill>
                  <a:schemeClr val="tx1"/>
                </a:solidFill>
              </a:rPr>
              <a:t>Speed limits for ships; protected areas</a:t>
            </a:r>
            <a:endParaRPr lang="en-US" sz="1500" dirty="0"/>
          </a:p>
        </p:txBody>
      </p:sp>
      <p:sp>
        <p:nvSpPr>
          <p:cNvPr id="39" name="Shape 36"/>
          <p:cNvSpPr/>
          <p:nvPr/>
        </p:nvSpPr>
        <p:spPr>
          <a:xfrm>
            <a:off x="7498080" y="5010912"/>
            <a:ext cx="4160520" cy="749808"/>
          </a:xfrm>
          <a:prstGeom prst="rect">
            <a:avLst/>
          </a:prstGeom>
          <a:solidFill>
            <a:schemeClr val="bg1"/>
          </a:solidFill>
          <a:ln/>
          <a:effectLst>
            <a:outerShdw blurRad="76200" dist="25400" dir="5400000" algn="bl" rotWithShape="0">
              <a:srgbClr val="000000">
                <a:alpha val="12000"/>
              </a:srgbClr>
            </a:outerShdw>
          </a:effectLst>
        </p:spPr>
      </p:sp>
      <p:sp>
        <p:nvSpPr>
          <p:cNvPr id="40" name="Text 37"/>
          <p:cNvSpPr txBox="1"/>
          <p:nvPr/>
        </p:nvSpPr>
        <p:spPr>
          <a:xfrm>
            <a:off x="7635240" y="5010912"/>
            <a:ext cx="3931920" cy="749808"/>
          </a:xfrm>
          <a:prstGeom prst="rect">
            <a:avLst/>
          </a:prstGeom>
          <a:noFill/>
          <a:ln/>
        </p:spPr>
        <p:txBody>
          <a:bodyPr wrap="square" lIns="0" tIns="0" rIns="0" bIns="0" rtlCol="0" anchor="ctr"/>
          <a:lstStyle/>
          <a:p>
            <a:pPr marL="0" indent="0">
              <a:buNone/>
            </a:pPr>
            <a:r>
              <a:rPr lang="en-US" sz="1500" b="1" dirty="0">
                <a:solidFill>
                  <a:schemeClr val="tx1"/>
                </a:solidFill>
              </a:rPr>
              <a:t>❌ Add: “Use whale-safe fishing equipment and less plastic.”</a:t>
            </a:r>
            <a:endParaRPr lang="en-US" sz="1500" dirty="0"/>
          </a:p>
        </p:txBody>
      </p:sp>
      <p:sp>
        <p:nvSpPr>
          <p:cNvPr id="41" name="Text 38"/>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Every threat needs its own way of protecting the creature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3 (continued): give two real protections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3383280" cy="411480"/>
          </a:xfrm>
          <a:prstGeom prst="rect">
            <a:avLst/>
          </a:prstGeom>
          <a:solidFill>
            <a:schemeClr val="accent3"/>
          </a:solidFill>
          <a:ln/>
        </p:spPr>
      </p:sp>
      <p:sp>
        <p:nvSpPr>
          <p:cNvPr id="6" name="Text 3"/>
          <p:cNvSpPr txBox="1"/>
          <p:nvPr/>
        </p:nvSpPr>
        <p:spPr>
          <a:xfrm>
            <a:off x="676656" y="1097280"/>
            <a:ext cx="3200400" cy="411480"/>
          </a:xfrm>
          <a:prstGeom prst="rect">
            <a:avLst/>
          </a:prstGeom>
          <a:noFill/>
          <a:ln/>
        </p:spPr>
        <p:txBody>
          <a:bodyPr wrap="square" lIns="0" tIns="0" rIns="0" bIns="0" rtlCol="0" anchor="ctr"/>
          <a:lstStyle/>
          <a:p>
            <a:pPr marL="0" indent="0">
              <a:buNone/>
            </a:pPr>
            <a:r>
              <a:rPr lang="en-US" sz="1400" b="1" dirty="0">
                <a:solidFill>
                  <a:schemeClr val="bg1"/>
                </a:solidFill>
              </a:rPr>
              <a:t>THREAT IN THE PLAN</a:t>
            </a:r>
            <a:endParaRPr lang="en-US" sz="1400" dirty="0"/>
          </a:p>
        </p:txBody>
      </p:sp>
      <p:sp>
        <p:nvSpPr>
          <p:cNvPr id="7" name="Shape 4"/>
          <p:cNvSpPr/>
          <p:nvPr/>
        </p:nvSpPr>
        <p:spPr>
          <a:xfrm>
            <a:off x="4069080" y="1097280"/>
            <a:ext cx="3291840" cy="411480"/>
          </a:xfrm>
          <a:prstGeom prst="rect">
            <a:avLst/>
          </a:prstGeom>
          <a:solidFill>
            <a:schemeClr val="accent2"/>
          </a:solidFill>
          <a:ln/>
        </p:spPr>
      </p:sp>
      <p:sp>
        <p:nvSpPr>
          <p:cNvPr id="8" name="Text 5"/>
          <p:cNvSpPr txBox="1"/>
          <p:nvPr/>
        </p:nvSpPr>
        <p:spPr>
          <a:xfrm>
            <a:off x="4197096" y="1097280"/>
            <a:ext cx="3108960" cy="411480"/>
          </a:xfrm>
          <a:prstGeom prst="rect">
            <a:avLst/>
          </a:prstGeom>
          <a:noFill/>
          <a:ln/>
        </p:spPr>
        <p:txBody>
          <a:bodyPr wrap="square" lIns="0" tIns="0" rIns="0" bIns="0" rtlCol="0" anchor="ctr"/>
          <a:lstStyle/>
          <a:p>
            <a:pPr marL="0" indent="0">
              <a:buNone/>
            </a:pPr>
            <a:r>
              <a:rPr lang="en-US" sz="1400" b="1" dirty="0">
                <a:solidFill>
                  <a:schemeClr val="tx1"/>
                </a:solidFill>
              </a:rPr>
              <a:t>PROTECTION IN THE PLAN</a:t>
            </a:r>
            <a:endParaRPr lang="en-US" sz="1400" dirty="0"/>
          </a:p>
        </p:txBody>
      </p:sp>
      <p:sp>
        <p:nvSpPr>
          <p:cNvPr id="9" name="Shape 6"/>
          <p:cNvSpPr/>
          <p:nvPr/>
        </p:nvSpPr>
        <p:spPr>
          <a:xfrm>
            <a:off x="7498080" y="1097280"/>
            <a:ext cx="4160520" cy="411480"/>
          </a:xfrm>
          <a:prstGeom prst="rect">
            <a:avLst/>
          </a:prstGeom>
          <a:solidFill>
            <a:schemeClr val="accent1"/>
          </a:solidFill>
          <a:ln/>
        </p:spPr>
      </p:sp>
      <p:sp>
        <p:nvSpPr>
          <p:cNvPr id="10" name="Text 7"/>
          <p:cNvSpPr txBox="1"/>
          <p:nvPr/>
        </p:nvSpPr>
        <p:spPr>
          <a:xfrm>
            <a:off x="7626096" y="1097280"/>
            <a:ext cx="3977640" cy="411480"/>
          </a:xfrm>
          <a:prstGeom prst="rect">
            <a:avLst/>
          </a:prstGeom>
          <a:noFill/>
          <a:ln/>
        </p:spPr>
        <p:txBody>
          <a:bodyPr wrap="square" lIns="0" tIns="0" rIns="0" bIns="0" rtlCol="0" anchor="ctr"/>
          <a:lstStyle/>
          <a:p>
            <a:pPr marL="0" indent="0">
              <a:buNone/>
            </a:pPr>
            <a:r>
              <a:rPr lang="en-US" sz="1400" b="1" dirty="0">
                <a:solidFill>
                  <a:schemeClr val="bg1"/>
                </a:solidFill>
              </a:rPr>
              <a:t>MATCH IT</a:t>
            </a:r>
            <a:endParaRPr lang="en-US" sz="1400" dirty="0"/>
          </a:p>
        </p:txBody>
      </p:sp>
      <p:sp>
        <p:nvSpPr>
          <p:cNvPr id="11" name="Shape 8"/>
          <p:cNvSpPr/>
          <p:nvPr/>
        </p:nvSpPr>
        <p:spPr>
          <a:xfrm>
            <a:off x="548640" y="1645920"/>
            <a:ext cx="3383280" cy="1005840"/>
          </a:xfrm>
          <a:prstGeom prst="rect">
            <a:avLst/>
          </a:prstGeom>
          <a:solidFill>
            <a:schemeClr val="bg1"/>
          </a:solidFill>
          <a:ln/>
          <a:effectLst>
            <a:outerShdw blurRad="76200" dist="25400" dir="5400000" algn="bl" rotWithShape="0">
              <a:srgbClr val="000000">
                <a:alpha val="12000"/>
              </a:srgbClr>
            </a:outerShdw>
          </a:effectLst>
        </p:spPr>
      </p:sp>
      <p:sp>
        <p:nvSpPr>
          <p:cNvPr id="12" name="Text 9"/>
          <p:cNvSpPr txBox="1"/>
          <p:nvPr/>
        </p:nvSpPr>
        <p:spPr>
          <a:xfrm>
            <a:off x="685800" y="1645920"/>
            <a:ext cx="3154680" cy="1005840"/>
          </a:xfrm>
          <a:prstGeom prst="rect">
            <a:avLst/>
          </a:prstGeom>
          <a:noFill/>
          <a:ln/>
        </p:spPr>
        <p:txBody>
          <a:bodyPr wrap="square" lIns="0" tIns="0" rIns="0" bIns="0" rtlCol="0" anchor="ctr"/>
          <a:lstStyle/>
          <a:p>
            <a:pPr marL="0" indent="0">
              <a:buNone/>
            </a:pPr>
            <a:r>
              <a:rPr lang="en-US" sz="1100" b="1" dirty="0">
                <a:solidFill>
                  <a:schemeClr val="accent3"/>
                </a:solidFill>
              </a:rPr>
              <a:t>MERA   </a:t>
            </a:r>
            <a:endParaRPr lang="en-US" sz="1100" dirty="0"/>
          </a:p>
          <a:p>
            <a:pPr marL="0" indent="0">
              <a:buNone/>
            </a:pPr>
            <a:r>
              <a:rPr lang="en-US" sz="1400" dirty="0">
                <a:solidFill>
                  <a:schemeClr val="tx1"/>
                </a:solidFill>
              </a:rPr>
              <a:t>Prey depletion; retaliatory killings</a:t>
            </a:r>
            <a:endParaRPr lang="en-US" sz="1100" dirty="0"/>
          </a:p>
        </p:txBody>
      </p:sp>
      <p:sp>
        <p:nvSpPr>
          <p:cNvPr id="13" name="Shape 10"/>
          <p:cNvSpPr/>
          <p:nvPr/>
        </p:nvSpPr>
        <p:spPr>
          <a:xfrm>
            <a:off x="4069080" y="1645920"/>
            <a:ext cx="3291840" cy="100584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4206240" y="1645920"/>
            <a:ext cx="3063240" cy="1005840"/>
          </a:xfrm>
          <a:prstGeom prst="rect">
            <a:avLst/>
          </a:prstGeom>
          <a:noFill/>
          <a:ln/>
        </p:spPr>
        <p:txBody>
          <a:bodyPr wrap="square" lIns="0" tIns="0" rIns="0" bIns="0" rtlCol="0" anchor="ctr"/>
          <a:lstStyle/>
          <a:p>
            <a:pPr marL="0" indent="0">
              <a:buNone/>
            </a:pPr>
            <a:r>
              <a:rPr lang="en-US" sz="1400" dirty="0">
                <a:solidFill>
                  <a:schemeClr val="tx1"/>
                </a:solidFill>
              </a:rPr>
              <a:t>“…organizations are working hard to shield the lions…” (one general idea)</a:t>
            </a:r>
            <a:endParaRPr lang="en-US" sz="1400" dirty="0"/>
          </a:p>
        </p:txBody>
      </p:sp>
      <p:sp>
        <p:nvSpPr>
          <p:cNvPr id="15" name="Shape 12"/>
          <p:cNvSpPr/>
          <p:nvPr/>
        </p:nvSpPr>
        <p:spPr>
          <a:xfrm>
            <a:off x="7498080" y="1645920"/>
            <a:ext cx="4160520" cy="1005840"/>
          </a:xfrm>
          <a:prstGeom prst="rect">
            <a:avLst/>
          </a:prstGeom>
          <a:solidFill>
            <a:schemeClr val="bg1"/>
          </a:solidFill>
          <a:ln/>
          <a:effectLst>
            <a:outerShdw blurRad="76200" dist="25400" dir="5400000" algn="bl" rotWithShape="0">
              <a:srgbClr val="000000">
                <a:alpha val="12000"/>
              </a:srgbClr>
            </a:outerShdw>
          </a:effectLst>
        </p:spPr>
      </p:sp>
      <p:sp>
        <p:nvSpPr>
          <p:cNvPr id="16" name="Text 13"/>
          <p:cNvSpPr txBox="1"/>
          <p:nvPr/>
        </p:nvSpPr>
        <p:spPr>
          <a:xfrm>
            <a:off x="7635240" y="1645920"/>
            <a:ext cx="3931920" cy="1005840"/>
          </a:xfrm>
          <a:prstGeom prst="rect">
            <a:avLst/>
          </a:prstGeom>
          <a:noFill/>
          <a:ln/>
        </p:spPr>
        <p:txBody>
          <a:bodyPr wrap="square" lIns="0" tIns="0" rIns="0" bIns="0" rtlCol="0" anchor="ctr"/>
          <a:lstStyle/>
          <a:p>
            <a:pPr marL="0" indent="0">
              <a:buNone/>
            </a:pPr>
            <a:r>
              <a:rPr lang="en-US" sz="1400" b="1" dirty="0">
                <a:solidFill>
                  <a:schemeClr val="tx1"/>
                </a:solidFill>
              </a:rPr>
              <a:t>❌ Add: “Rangers patrol protected areas to protect the lions’ prey. Conservation groups work with farmers so lions are not killed in revenge.”</a:t>
            </a:r>
            <a:endParaRPr lang="en-US" sz="1400" dirty="0"/>
          </a:p>
        </p:txBody>
      </p:sp>
      <p:sp>
        <p:nvSpPr>
          <p:cNvPr id="17" name="Shape 14"/>
          <p:cNvSpPr/>
          <p:nvPr/>
        </p:nvSpPr>
        <p:spPr>
          <a:xfrm>
            <a:off x="548640" y="2743200"/>
            <a:ext cx="3383280"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85800" y="2743200"/>
            <a:ext cx="3154680" cy="1005840"/>
          </a:xfrm>
          <a:prstGeom prst="rect">
            <a:avLst/>
          </a:prstGeom>
          <a:noFill/>
          <a:ln/>
        </p:spPr>
        <p:txBody>
          <a:bodyPr wrap="square" lIns="0" tIns="0" rIns="0" bIns="0" rtlCol="0" anchor="ctr"/>
          <a:lstStyle/>
          <a:p>
            <a:pPr marL="0" indent="0">
              <a:buNone/>
            </a:pPr>
            <a:r>
              <a:rPr lang="en-US" sz="1100" b="1" dirty="0">
                <a:solidFill>
                  <a:schemeClr val="accent3"/>
                </a:solidFill>
              </a:rPr>
              <a:t>MOSTAFA   </a:t>
            </a:r>
            <a:endParaRPr lang="en-US" sz="1100" dirty="0"/>
          </a:p>
          <a:p>
            <a:pPr marL="0" indent="0">
              <a:buNone/>
            </a:pPr>
            <a:r>
              <a:rPr lang="en-US" sz="1400" dirty="0">
                <a:solidFill>
                  <a:schemeClr val="tx1"/>
                </a:solidFill>
              </a:rPr>
              <a:t>Plastic; boats and ships make pollution</a:t>
            </a:r>
            <a:endParaRPr lang="en-US" sz="1100" dirty="0"/>
          </a:p>
        </p:txBody>
      </p:sp>
      <p:sp>
        <p:nvSpPr>
          <p:cNvPr id="19" name="Shape 16"/>
          <p:cNvSpPr/>
          <p:nvPr/>
        </p:nvSpPr>
        <p:spPr>
          <a:xfrm>
            <a:off x="4069080" y="2743200"/>
            <a:ext cx="3291840" cy="100584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4206240" y="2743200"/>
            <a:ext cx="3063240" cy="1005840"/>
          </a:xfrm>
          <a:prstGeom prst="rect">
            <a:avLst/>
          </a:prstGeom>
          <a:noFill/>
          <a:ln/>
        </p:spPr>
        <p:txBody>
          <a:bodyPr wrap="square" lIns="0" tIns="0" rIns="0" bIns="0" rtlCol="0" anchor="ctr"/>
          <a:lstStyle/>
          <a:p>
            <a:pPr marL="0" indent="0">
              <a:buNone/>
            </a:pPr>
            <a:r>
              <a:rPr lang="en-US" sz="1400" dirty="0">
                <a:solidFill>
                  <a:schemeClr val="tx1"/>
                </a:solidFill>
              </a:rPr>
              <a:t>“We shouldn’t threw plastic” (one, written as a negative)</a:t>
            </a:r>
            <a:endParaRPr lang="en-US" sz="1400" dirty="0"/>
          </a:p>
        </p:txBody>
      </p:sp>
      <p:sp>
        <p:nvSpPr>
          <p:cNvPr id="21" name="Shape 18"/>
          <p:cNvSpPr/>
          <p:nvPr/>
        </p:nvSpPr>
        <p:spPr>
          <a:xfrm>
            <a:off x="7498080" y="2743200"/>
            <a:ext cx="4160520" cy="1005840"/>
          </a:xfrm>
          <a:prstGeom prst="rect">
            <a:avLst/>
          </a:prstGeom>
          <a:solidFill>
            <a:schemeClr val="bg1"/>
          </a:solidFill>
          <a:ln/>
          <a:effectLst>
            <a:outerShdw blurRad="76200" dist="25400" dir="5400000" algn="bl" rotWithShape="0">
              <a:srgbClr val="000000">
                <a:alpha val="12000"/>
              </a:srgbClr>
            </a:outerShdw>
          </a:effectLst>
        </p:spPr>
      </p:sp>
      <p:sp>
        <p:nvSpPr>
          <p:cNvPr id="22" name="Text 19"/>
          <p:cNvSpPr txBox="1"/>
          <p:nvPr/>
        </p:nvSpPr>
        <p:spPr>
          <a:xfrm>
            <a:off x="7635240" y="2743200"/>
            <a:ext cx="3931920" cy="1005840"/>
          </a:xfrm>
          <a:prstGeom prst="rect">
            <a:avLst/>
          </a:prstGeom>
          <a:noFill/>
          <a:ln/>
        </p:spPr>
        <p:txBody>
          <a:bodyPr wrap="square" lIns="0" tIns="0" rIns="0" bIns="0" rtlCol="0" anchor="ctr"/>
          <a:lstStyle/>
          <a:p>
            <a:pPr marL="0" indent="0">
              <a:buNone/>
            </a:pPr>
            <a:r>
              <a:rPr lang="en-US" sz="1400" b="1" dirty="0">
                <a:solidFill>
                  <a:schemeClr val="tx1"/>
                </a:solidFill>
              </a:rPr>
              <a:t>❌ Add a second: “People can join beach clean-ups to keep nesting beaches safe.”</a:t>
            </a:r>
            <a:endParaRPr lang="en-US" sz="1400" dirty="0"/>
          </a:p>
        </p:txBody>
      </p:sp>
      <p:sp>
        <p:nvSpPr>
          <p:cNvPr id="23" name="Shape 20"/>
          <p:cNvSpPr/>
          <p:nvPr/>
        </p:nvSpPr>
        <p:spPr>
          <a:xfrm>
            <a:off x="548640" y="3840480"/>
            <a:ext cx="3383280" cy="1005840"/>
          </a:xfrm>
          <a:prstGeom prst="rect">
            <a:avLst/>
          </a:prstGeom>
          <a:solidFill>
            <a:schemeClr val="bg1"/>
          </a:solidFill>
          <a:ln/>
          <a:effectLst>
            <a:outerShdw blurRad="76200" dist="25400" dir="5400000" algn="bl" rotWithShape="0">
              <a:srgbClr val="000000">
                <a:alpha val="12000"/>
              </a:srgbClr>
            </a:outerShdw>
          </a:effectLst>
        </p:spPr>
      </p:sp>
      <p:sp>
        <p:nvSpPr>
          <p:cNvPr id="24" name="Text 21"/>
          <p:cNvSpPr txBox="1"/>
          <p:nvPr/>
        </p:nvSpPr>
        <p:spPr>
          <a:xfrm>
            <a:off x="685800" y="3840480"/>
            <a:ext cx="3154680" cy="1005840"/>
          </a:xfrm>
          <a:prstGeom prst="rect">
            <a:avLst/>
          </a:prstGeom>
          <a:noFill/>
          <a:ln/>
        </p:spPr>
        <p:txBody>
          <a:bodyPr wrap="square" lIns="0" tIns="0" rIns="0" bIns="0" rtlCol="0" anchor="ctr"/>
          <a:lstStyle/>
          <a:p>
            <a:pPr marL="0" indent="0">
              <a:buNone/>
            </a:pPr>
            <a:r>
              <a:rPr lang="en-US" sz="1100" b="1" dirty="0">
                <a:solidFill>
                  <a:schemeClr val="accent3"/>
                </a:solidFill>
              </a:rPr>
              <a:t>YASSER   </a:t>
            </a:r>
            <a:endParaRPr lang="en-US" sz="1100" dirty="0"/>
          </a:p>
          <a:p>
            <a:pPr marL="0" indent="0">
              <a:buNone/>
            </a:pPr>
            <a:r>
              <a:rPr lang="en-US" sz="1400" dirty="0">
                <a:solidFill>
                  <a:schemeClr val="tx1"/>
                </a:solidFill>
              </a:rPr>
              <a:t>Ships can hit blue whales</a:t>
            </a:r>
            <a:endParaRPr lang="en-US" sz="1100" dirty="0"/>
          </a:p>
        </p:txBody>
      </p:sp>
      <p:sp>
        <p:nvSpPr>
          <p:cNvPr id="25" name="Shape 22"/>
          <p:cNvSpPr/>
          <p:nvPr/>
        </p:nvSpPr>
        <p:spPr>
          <a:xfrm>
            <a:off x="4069080" y="3840480"/>
            <a:ext cx="3291840" cy="1005840"/>
          </a:xfrm>
          <a:prstGeom prst="rect">
            <a:avLst/>
          </a:prstGeom>
          <a:solidFill>
            <a:schemeClr val="bg1"/>
          </a:solidFill>
          <a:ln/>
          <a:effectLst>
            <a:outerShdw blurRad="76200" dist="25400" dir="5400000" algn="bl" rotWithShape="0">
              <a:srgbClr val="000000">
                <a:alpha val="12000"/>
              </a:srgbClr>
            </a:outerShdw>
          </a:effectLst>
        </p:spPr>
      </p:sp>
      <p:sp>
        <p:nvSpPr>
          <p:cNvPr id="26" name="Text 23"/>
          <p:cNvSpPr txBox="1"/>
          <p:nvPr/>
        </p:nvSpPr>
        <p:spPr>
          <a:xfrm>
            <a:off x="4206240" y="3840480"/>
            <a:ext cx="3063240" cy="1005840"/>
          </a:xfrm>
          <a:prstGeom prst="rect">
            <a:avLst/>
          </a:prstGeom>
          <a:noFill/>
          <a:ln/>
        </p:spPr>
        <p:txBody>
          <a:bodyPr wrap="square" lIns="0" tIns="0" rIns="0" bIns="0" rtlCol="0" anchor="ctr"/>
          <a:lstStyle/>
          <a:p>
            <a:pPr marL="0" indent="0">
              <a:buNone/>
            </a:pPr>
            <a:r>
              <a:rPr lang="en-US" sz="1400" dirty="0">
                <a:solidFill>
                  <a:schemeClr val="tx1"/>
                </a:solidFill>
              </a:rPr>
              <a:t>“Plastic pollution harms the ocean” (a threat, repeated)</a:t>
            </a:r>
            <a:endParaRPr lang="en-US" sz="1400" dirty="0"/>
          </a:p>
        </p:txBody>
      </p:sp>
      <p:sp>
        <p:nvSpPr>
          <p:cNvPr id="27" name="Shape 24"/>
          <p:cNvSpPr/>
          <p:nvPr/>
        </p:nvSpPr>
        <p:spPr>
          <a:xfrm>
            <a:off x="7498080" y="3840480"/>
            <a:ext cx="4160520" cy="1005840"/>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7635240" y="3840480"/>
            <a:ext cx="3931920" cy="1005840"/>
          </a:xfrm>
          <a:prstGeom prst="rect">
            <a:avLst/>
          </a:prstGeom>
          <a:noFill/>
          <a:ln/>
        </p:spPr>
        <p:txBody>
          <a:bodyPr wrap="square" lIns="0" tIns="0" rIns="0" bIns="0" rtlCol="0" anchor="ctr"/>
          <a:lstStyle/>
          <a:p>
            <a:pPr marL="0" indent="0">
              <a:buNone/>
            </a:pPr>
            <a:r>
              <a:rPr lang="en-US" sz="1400" b="1" dirty="0">
                <a:solidFill>
                  <a:schemeClr val="tx1"/>
                </a:solidFill>
              </a:rPr>
              <a:t>❌ Put back: “Ships slow down where whales live.” Add an action for plastic.</a:t>
            </a:r>
            <a:endParaRPr lang="en-US" sz="1400" dirty="0"/>
          </a:p>
        </p:txBody>
      </p:sp>
      <p:sp>
        <p:nvSpPr>
          <p:cNvPr id="29" name="Shape 26"/>
          <p:cNvSpPr/>
          <p:nvPr/>
        </p:nvSpPr>
        <p:spPr>
          <a:xfrm>
            <a:off x="548640" y="4937760"/>
            <a:ext cx="3383280" cy="1005840"/>
          </a:xfrm>
          <a:prstGeom prst="rect">
            <a:avLst/>
          </a:prstGeom>
          <a:solidFill>
            <a:schemeClr val="bg1"/>
          </a:solidFill>
          <a:ln/>
          <a:effectLst>
            <a:outerShdw blurRad="76200" dist="25400" dir="5400000" algn="bl" rotWithShape="0">
              <a:srgbClr val="000000">
                <a:alpha val="12000"/>
              </a:srgbClr>
            </a:outerShdw>
          </a:effectLst>
        </p:spPr>
      </p:sp>
      <p:sp>
        <p:nvSpPr>
          <p:cNvPr id="30" name="Text 27"/>
          <p:cNvSpPr txBox="1"/>
          <p:nvPr/>
        </p:nvSpPr>
        <p:spPr>
          <a:xfrm>
            <a:off x="685800" y="4937760"/>
            <a:ext cx="3154680" cy="1005840"/>
          </a:xfrm>
          <a:prstGeom prst="rect">
            <a:avLst/>
          </a:prstGeom>
          <a:noFill/>
          <a:ln/>
        </p:spPr>
        <p:txBody>
          <a:bodyPr wrap="square" lIns="0" tIns="0" rIns="0" bIns="0" rtlCol="0" anchor="ctr"/>
          <a:lstStyle/>
          <a:p>
            <a:pPr marL="0" indent="0">
              <a:buNone/>
            </a:pPr>
            <a:r>
              <a:rPr lang="en-US" sz="1100" b="1" dirty="0">
                <a:solidFill>
                  <a:schemeClr val="accent3"/>
                </a:solidFill>
              </a:rPr>
              <a:t>AHMED   </a:t>
            </a:r>
            <a:endParaRPr lang="en-US" sz="1100" dirty="0"/>
          </a:p>
          <a:p>
            <a:pPr marL="0" indent="0">
              <a:buNone/>
            </a:pPr>
            <a:r>
              <a:rPr lang="en-US" sz="1400" dirty="0">
                <a:solidFill>
                  <a:schemeClr val="tx1"/>
                </a:solidFill>
              </a:rPr>
              <a:t>Less food to eat</a:t>
            </a:r>
            <a:endParaRPr lang="en-US" sz="1100" dirty="0"/>
          </a:p>
        </p:txBody>
      </p:sp>
      <p:sp>
        <p:nvSpPr>
          <p:cNvPr id="31" name="Shape 28"/>
          <p:cNvSpPr/>
          <p:nvPr/>
        </p:nvSpPr>
        <p:spPr>
          <a:xfrm>
            <a:off x="4069080" y="4937760"/>
            <a:ext cx="3291840" cy="1005840"/>
          </a:xfrm>
          <a:prstGeom prst="rect">
            <a:avLst/>
          </a:prstGeom>
          <a:solidFill>
            <a:schemeClr val="bg1"/>
          </a:solidFill>
          <a:ln/>
          <a:effectLst>
            <a:outerShdw blurRad="76200" dist="25400" dir="5400000" algn="bl" rotWithShape="0">
              <a:srgbClr val="000000">
                <a:alpha val="12000"/>
              </a:srgbClr>
            </a:outerShdw>
          </a:effectLst>
        </p:spPr>
      </p:sp>
      <p:sp>
        <p:nvSpPr>
          <p:cNvPr id="32" name="Text 29"/>
          <p:cNvSpPr txBox="1"/>
          <p:nvPr/>
        </p:nvSpPr>
        <p:spPr>
          <a:xfrm>
            <a:off x="4206240" y="4937760"/>
            <a:ext cx="3063240" cy="1005840"/>
          </a:xfrm>
          <a:prstGeom prst="rect">
            <a:avLst/>
          </a:prstGeom>
          <a:noFill/>
          <a:ln/>
        </p:spPr>
        <p:txBody>
          <a:bodyPr wrap="square" lIns="0" tIns="0" rIns="0" bIns="0" rtlCol="0" anchor="ctr"/>
          <a:lstStyle/>
          <a:p>
            <a:pPr marL="0" indent="0">
              <a:buNone/>
            </a:pPr>
            <a:r>
              <a:rPr lang="en-US" sz="1400" dirty="0">
                <a:solidFill>
                  <a:schemeClr val="tx1"/>
                </a:solidFill>
              </a:rPr>
              <a:t>“Feeding them”</a:t>
            </a:r>
            <a:endParaRPr lang="en-US" sz="1400" dirty="0"/>
          </a:p>
        </p:txBody>
      </p:sp>
      <p:sp>
        <p:nvSpPr>
          <p:cNvPr id="33" name="Shape 30"/>
          <p:cNvSpPr/>
          <p:nvPr/>
        </p:nvSpPr>
        <p:spPr>
          <a:xfrm>
            <a:off x="7498080" y="4937760"/>
            <a:ext cx="4160520" cy="1005840"/>
          </a:xfrm>
          <a:prstGeom prst="rect">
            <a:avLst/>
          </a:prstGeom>
          <a:solidFill>
            <a:schemeClr val="bg1"/>
          </a:solidFill>
          <a:ln/>
          <a:effectLst>
            <a:outerShdw blurRad="76200" dist="25400" dir="5400000" algn="bl" rotWithShape="0">
              <a:srgbClr val="000000">
                <a:alpha val="12000"/>
              </a:srgbClr>
            </a:outerShdw>
          </a:effectLst>
        </p:spPr>
      </p:sp>
      <p:sp>
        <p:nvSpPr>
          <p:cNvPr id="34" name="Text 31"/>
          <p:cNvSpPr txBox="1"/>
          <p:nvPr/>
        </p:nvSpPr>
        <p:spPr>
          <a:xfrm>
            <a:off x="7635240" y="4937760"/>
            <a:ext cx="3931920" cy="1005840"/>
          </a:xfrm>
          <a:prstGeom prst="rect">
            <a:avLst/>
          </a:prstGeom>
          <a:noFill/>
          <a:ln/>
        </p:spPr>
        <p:txBody>
          <a:bodyPr wrap="square" lIns="0" tIns="0" rIns="0" bIns="0" rtlCol="0" anchor="ctr"/>
          <a:lstStyle/>
          <a:p>
            <a:pPr marL="0" indent="0">
              <a:buNone/>
            </a:pPr>
            <a:r>
              <a:rPr lang="en-US" sz="1400" b="1" dirty="0">
                <a:solidFill>
                  <a:schemeClr val="tx1"/>
                </a:solidFill>
              </a:rPr>
              <a:t>❌ Better: protecting the deer and other animals the leopard hunts.</a:t>
            </a:r>
            <a:endParaRPr lang="en-US" sz="1400" dirty="0"/>
          </a:p>
        </p:txBody>
      </p:sp>
      <p:sp>
        <p:nvSpPr>
          <p:cNvPr id="35" name="Text 32"/>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Every threat needs its own way of protecting the creature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4: make the verbs agree</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MOSTAFA   </a:t>
            </a:r>
            <a:endParaRPr lang="en-US" sz="1200" dirty="0"/>
          </a:p>
          <a:p>
            <a:pPr marL="0" indent="0">
              <a:buNone/>
            </a:pPr>
            <a:r>
              <a:rPr lang="en-US" sz="1400" i="1" dirty="0">
                <a:solidFill>
                  <a:schemeClr val="tx1"/>
                </a:solidFill>
              </a:rPr>
              <a:t>❌  The sea turtles is in danger</a:t>
            </a:r>
            <a:endParaRPr lang="en-US" sz="1200" dirty="0"/>
          </a:p>
        </p:txBody>
      </p:sp>
      <p:sp>
        <p:nvSpPr>
          <p:cNvPr id="11" name="Text 8"/>
          <p:cNvSpPr txBox="1"/>
          <p:nvPr/>
        </p:nvSpPr>
        <p:spPr>
          <a:xfrm>
            <a:off x="5806440" y="1600200"/>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713232"/>
          </a:xfrm>
          <a:prstGeom prst="rect">
            <a:avLst/>
          </a:prstGeom>
          <a:noFill/>
          <a:ln/>
        </p:spPr>
        <p:txBody>
          <a:bodyPr wrap="square" lIns="0" tIns="0" rIns="0" bIns="0" rtlCol="0" anchor="ctr"/>
          <a:lstStyle/>
          <a:p>
            <a:pPr marL="0" indent="0">
              <a:buNone/>
            </a:pPr>
            <a:r>
              <a:rPr lang="en-US" sz="1400" b="1" dirty="0">
                <a:solidFill>
                  <a:schemeClr val="tx1"/>
                </a:solidFill>
              </a:rPr>
              <a:t>✅  Sea turtles are in danger.</a:t>
            </a:r>
            <a:endParaRPr lang="en-US" sz="1400" dirty="0"/>
          </a:p>
        </p:txBody>
      </p:sp>
      <p:sp>
        <p:nvSpPr>
          <p:cNvPr id="14" name="Shape 11"/>
          <p:cNvSpPr/>
          <p:nvPr/>
        </p:nvSpPr>
        <p:spPr>
          <a:xfrm>
            <a:off x="548640" y="2404872"/>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2404872"/>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MERA   </a:t>
            </a:r>
            <a:endParaRPr lang="en-US" sz="1200" dirty="0"/>
          </a:p>
          <a:p>
            <a:pPr marL="0" indent="0">
              <a:buNone/>
            </a:pPr>
            <a:r>
              <a:rPr lang="en-US" sz="1400" i="1" dirty="0">
                <a:solidFill>
                  <a:schemeClr val="tx1"/>
                </a:solidFill>
              </a:rPr>
              <a:t>❌  West African lions is one of the most… endangered big cat populations</a:t>
            </a:r>
            <a:endParaRPr lang="en-US" sz="1200" dirty="0"/>
          </a:p>
        </p:txBody>
      </p:sp>
      <p:sp>
        <p:nvSpPr>
          <p:cNvPr id="16" name="Text 13"/>
          <p:cNvSpPr txBox="1"/>
          <p:nvPr/>
        </p:nvSpPr>
        <p:spPr>
          <a:xfrm>
            <a:off x="5806440" y="2404872"/>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2404872"/>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2404872"/>
            <a:ext cx="4892040" cy="713232"/>
          </a:xfrm>
          <a:prstGeom prst="rect">
            <a:avLst/>
          </a:prstGeom>
          <a:noFill/>
          <a:ln/>
        </p:spPr>
        <p:txBody>
          <a:bodyPr wrap="square" lIns="0" tIns="0" rIns="0" bIns="0" rtlCol="0" anchor="ctr"/>
          <a:lstStyle/>
          <a:p>
            <a:pPr marL="0" indent="0">
              <a:buNone/>
            </a:pPr>
            <a:r>
              <a:rPr lang="en-US" sz="1400" b="1" dirty="0">
                <a:solidFill>
                  <a:schemeClr val="tx1"/>
                </a:solidFill>
              </a:rPr>
              <a:t>✅  West African lions are among the most endangered big cats.</a:t>
            </a:r>
            <a:endParaRPr lang="en-US" sz="1400" dirty="0"/>
          </a:p>
        </p:txBody>
      </p:sp>
      <p:sp>
        <p:nvSpPr>
          <p:cNvPr id="19" name="Shape 16"/>
          <p:cNvSpPr/>
          <p:nvPr/>
        </p:nvSpPr>
        <p:spPr>
          <a:xfrm>
            <a:off x="548640" y="3209544"/>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3209544"/>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WASEELA   </a:t>
            </a:r>
            <a:endParaRPr lang="en-US" sz="1200" dirty="0"/>
          </a:p>
          <a:p>
            <a:pPr marL="0" indent="0">
              <a:buNone/>
            </a:pPr>
            <a:r>
              <a:rPr lang="en-US" sz="1400" i="1" dirty="0">
                <a:solidFill>
                  <a:schemeClr val="tx1"/>
                </a:solidFill>
              </a:rPr>
              <a:t>❌  He live in the African savannas. He also have…</a:t>
            </a:r>
            <a:endParaRPr lang="en-US" sz="1200" dirty="0"/>
          </a:p>
        </p:txBody>
      </p:sp>
      <p:sp>
        <p:nvSpPr>
          <p:cNvPr id="21" name="Text 18"/>
          <p:cNvSpPr txBox="1"/>
          <p:nvPr/>
        </p:nvSpPr>
        <p:spPr>
          <a:xfrm>
            <a:off x="5806440" y="3209544"/>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3209544"/>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3209544"/>
            <a:ext cx="4892040" cy="713232"/>
          </a:xfrm>
          <a:prstGeom prst="rect">
            <a:avLst/>
          </a:prstGeom>
          <a:noFill/>
          <a:ln/>
        </p:spPr>
        <p:txBody>
          <a:bodyPr wrap="square" lIns="0" tIns="0" rIns="0" bIns="0" rtlCol="0" anchor="ctr"/>
          <a:lstStyle/>
          <a:p>
            <a:pPr marL="0" indent="0">
              <a:buNone/>
            </a:pPr>
            <a:r>
              <a:rPr lang="en-US" sz="1400" b="1" dirty="0">
                <a:solidFill>
                  <a:schemeClr val="tx1"/>
                </a:solidFill>
              </a:rPr>
              <a:t>✅  They live in the African savannas. They also have…</a:t>
            </a:r>
            <a:endParaRPr lang="en-US" sz="1400" dirty="0"/>
          </a:p>
        </p:txBody>
      </p:sp>
      <p:sp>
        <p:nvSpPr>
          <p:cNvPr id="24" name="Shape 21"/>
          <p:cNvSpPr/>
          <p:nvPr/>
        </p:nvSpPr>
        <p:spPr>
          <a:xfrm>
            <a:off x="548640" y="4014216"/>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25" name="Text 22"/>
          <p:cNvSpPr txBox="1"/>
          <p:nvPr/>
        </p:nvSpPr>
        <p:spPr>
          <a:xfrm>
            <a:off x="731520" y="4014216"/>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HUSSEIN   </a:t>
            </a:r>
            <a:endParaRPr lang="en-US" sz="1200" dirty="0"/>
          </a:p>
          <a:p>
            <a:pPr marL="0" indent="0">
              <a:buNone/>
            </a:pPr>
            <a:r>
              <a:rPr lang="en-US" sz="1400" i="1" dirty="0">
                <a:solidFill>
                  <a:schemeClr val="tx1"/>
                </a:solidFill>
              </a:rPr>
              <a:t>❌  female travel thousand of miles to lay eggs on exact beach</a:t>
            </a:r>
            <a:endParaRPr lang="en-US" sz="1200" dirty="0"/>
          </a:p>
        </p:txBody>
      </p:sp>
      <p:sp>
        <p:nvSpPr>
          <p:cNvPr id="26" name="Text 23"/>
          <p:cNvSpPr txBox="1"/>
          <p:nvPr/>
        </p:nvSpPr>
        <p:spPr>
          <a:xfrm>
            <a:off x="5806440" y="4014216"/>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7" name="Shape 24"/>
          <p:cNvSpPr/>
          <p:nvPr/>
        </p:nvSpPr>
        <p:spPr>
          <a:xfrm>
            <a:off x="6400800" y="4014216"/>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6583680" y="4014216"/>
            <a:ext cx="4892040" cy="713232"/>
          </a:xfrm>
          <a:prstGeom prst="rect">
            <a:avLst/>
          </a:prstGeom>
          <a:noFill/>
          <a:ln/>
        </p:spPr>
        <p:txBody>
          <a:bodyPr wrap="square" lIns="0" tIns="0" rIns="0" bIns="0" rtlCol="0" anchor="ctr"/>
          <a:lstStyle/>
          <a:p>
            <a:pPr marL="0" indent="0">
              <a:buNone/>
            </a:pPr>
            <a:r>
              <a:rPr lang="en-US" sz="1400" b="1" dirty="0">
                <a:solidFill>
                  <a:schemeClr val="tx1"/>
                </a:solidFill>
              </a:rPr>
              <a:t>✅  Females travel thousands of miles to lay eggs on the exact beach.</a:t>
            </a:r>
            <a:endParaRPr lang="en-US" sz="1400" dirty="0"/>
          </a:p>
        </p:txBody>
      </p:sp>
      <p:sp>
        <p:nvSpPr>
          <p:cNvPr id="29" name="Shape 26"/>
          <p:cNvSpPr/>
          <p:nvPr/>
        </p:nvSpPr>
        <p:spPr>
          <a:xfrm>
            <a:off x="548640" y="4818888"/>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30" name="Text 27"/>
          <p:cNvSpPr txBox="1"/>
          <p:nvPr/>
        </p:nvSpPr>
        <p:spPr>
          <a:xfrm>
            <a:off x="731520" y="4818888"/>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YASSIN   </a:t>
            </a:r>
            <a:endParaRPr lang="en-US" sz="1200" dirty="0"/>
          </a:p>
          <a:p>
            <a:pPr marL="0" indent="0">
              <a:buNone/>
            </a:pPr>
            <a:r>
              <a:rPr lang="en-US" sz="1400" i="1" dirty="0">
                <a:solidFill>
                  <a:schemeClr val="tx1"/>
                </a:solidFill>
              </a:rPr>
              <a:t>❌  It eat tiny creatures called krill</a:t>
            </a:r>
            <a:endParaRPr lang="en-US" sz="1200" dirty="0"/>
          </a:p>
        </p:txBody>
      </p:sp>
      <p:sp>
        <p:nvSpPr>
          <p:cNvPr id="31" name="Text 28"/>
          <p:cNvSpPr txBox="1"/>
          <p:nvPr/>
        </p:nvSpPr>
        <p:spPr>
          <a:xfrm>
            <a:off x="5806440" y="4818888"/>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32" name="Shape 29"/>
          <p:cNvSpPr/>
          <p:nvPr/>
        </p:nvSpPr>
        <p:spPr>
          <a:xfrm>
            <a:off x="6400800" y="4818888"/>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33" name="Text 30"/>
          <p:cNvSpPr txBox="1"/>
          <p:nvPr/>
        </p:nvSpPr>
        <p:spPr>
          <a:xfrm>
            <a:off x="6583680" y="4818888"/>
            <a:ext cx="4892040" cy="713232"/>
          </a:xfrm>
          <a:prstGeom prst="rect">
            <a:avLst/>
          </a:prstGeom>
          <a:noFill/>
          <a:ln/>
        </p:spPr>
        <p:txBody>
          <a:bodyPr wrap="square" lIns="0" tIns="0" rIns="0" bIns="0" rtlCol="0" anchor="ctr"/>
          <a:lstStyle/>
          <a:p>
            <a:pPr marL="0" indent="0">
              <a:buNone/>
            </a:pPr>
            <a:r>
              <a:rPr lang="en-US" sz="1400" b="1" dirty="0">
                <a:solidFill>
                  <a:schemeClr val="tx1"/>
                </a:solidFill>
              </a:rPr>
              <a:t>✅  It eats tiny creatures called krill.</a:t>
            </a:r>
            <a:endParaRPr lang="en-US" sz="1400" dirty="0"/>
          </a:p>
        </p:txBody>
      </p:sp>
      <p:sp>
        <p:nvSpPr>
          <p:cNvPr id="34" name="Text 31"/>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One animal: it lives, it has.   Many animals: they live, they have.   Keep the same one.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5: commas with which</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621792"/>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621792"/>
          </a:xfrm>
          <a:prstGeom prst="rect">
            <a:avLst/>
          </a:prstGeom>
          <a:noFill/>
          <a:ln/>
        </p:spPr>
        <p:txBody>
          <a:bodyPr wrap="square" lIns="0" tIns="0" rIns="0" bIns="0" rtlCol="0" anchor="ctr"/>
          <a:lstStyle/>
          <a:p>
            <a:pPr marL="0" indent="0">
              <a:buNone/>
            </a:pPr>
            <a:r>
              <a:rPr lang="en-US" sz="1200" b="1" dirty="0">
                <a:solidFill>
                  <a:schemeClr val="accent3"/>
                </a:solidFill>
              </a:rPr>
              <a:t>YASSIN   </a:t>
            </a:r>
            <a:endParaRPr lang="en-US" sz="1200" dirty="0"/>
          </a:p>
          <a:p>
            <a:pPr marL="0" indent="0">
              <a:buNone/>
            </a:pPr>
            <a:r>
              <a:rPr lang="en-US" sz="1300" i="1" dirty="0">
                <a:solidFill>
                  <a:schemeClr val="tx1"/>
                </a:solidFill>
              </a:rPr>
              <a:t>❌  The blue whale which is the largest animal on the earth is important because it keeps our oceans healthy.</a:t>
            </a:r>
            <a:endParaRPr lang="en-US" sz="1200" dirty="0"/>
          </a:p>
        </p:txBody>
      </p:sp>
      <p:sp>
        <p:nvSpPr>
          <p:cNvPr id="11" name="Text 8"/>
          <p:cNvSpPr txBox="1"/>
          <p:nvPr/>
        </p:nvSpPr>
        <p:spPr>
          <a:xfrm>
            <a:off x="5806440" y="1600200"/>
            <a:ext cx="548640" cy="62179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621792"/>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621792"/>
          </a:xfrm>
          <a:prstGeom prst="rect">
            <a:avLst/>
          </a:prstGeom>
          <a:noFill/>
          <a:ln/>
        </p:spPr>
        <p:txBody>
          <a:bodyPr wrap="square" lIns="0" tIns="0" rIns="0" bIns="0" rtlCol="0" anchor="ctr"/>
          <a:lstStyle/>
          <a:p>
            <a:pPr marL="0" indent="0">
              <a:buNone/>
            </a:pPr>
            <a:r>
              <a:rPr lang="en-US" sz="1300" b="1" dirty="0">
                <a:solidFill>
                  <a:schemeClr val="tx1"/>
                </a:solidFill>
              </a:rPr>
              <a:t>✅  The blue whale, which is the largest animal on Earth, is important because it keeps our oceans healthy.</a:t>
            </a:r>
            <a:endParaRPr lang="en-US" sz="1300" dirty="0"/>
          </a:p>
        </p:txBody>
      </p:sp>
      <p:sp>
        <p:nvSpPr>
          <p:cNvPr id="14" name="Shape 11"/>
          <p:cNvSpPr/>
          <p:nvPr/>
        </p:nvSpPr>
        <p:spPr>
          <a:xfrm>
            <a:off x="548640" y="2295144"/>
            <a:ext cx="5212080" cy="621792"/>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2295144"/>
            <a:ext cx="4846320" cy="621792"/>
          </a:xfrm>
          <a:prstGeom prst="rect">
            <a:avLst/>
          </a:prstGeom>
          <a:noFill/>
          <a:ln/>
        </p:spPr>
        <p:txBody>
          <a:bodyPr wrap="square" lIns="0" tIns="0" rIns="0" bIns="0" rtlCol="0" anchor="ctr"/>
          <a:lstStyle/>
          <a:p>
            <a:pPr marL="0" indent="0">
              <a:buNone/>
            </a:pPr>
            <a:r>
              <a:rPr lang="en-US" sz="1200" b="1" dirty="0">
                <a:solidFill>
                  <a:schemeClr val="accent3"/>
                </a:solidFill>
              </a:rPr>
              <a:t>AHMED   </a:t>
            </a:r>
            <a:endParaRPr lang="en-US" sz="1200" dirty="0"/>
          </a:p>
          <a:p>
            <a:pPr marL="0" indent="0">
              <a:buNone/>
            </a:pPr>
            <a:r>
              <a:rPr lang="en-US" sz="1300" i="1" dirty="0">
                <a:solidFill>
                  <a:schemeClr val="tx1"/>
                </a:solidFill>
              </a:rPr>
              <a:t>❌  The Amur Leopard lives in southern Russia and Northern china which are known to be cold.</a:t>
            </a:r>
            <a:endParaRPr lang="en-US" sz="1200" dirty="0"/>
          </a:p>
        </p:txBody>
      </p:sp>
      <p:sp>
        <p:nvSpPr>
          <p:cNvPr id="16" name="Text 13"/>
          <p:cNvSpPr txBox="1"/>
          <p:nvPr/>
        </p:nvSpPr>
        <p:spPr>
          <a:xfrm>
            <a:off x="5806440" y="2295144"/>
            <a:ext cx="548640" cy="62179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2295144"/>
            <a:ext cx="5257800" cy="621792"/>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2295144"/>
            <a:ext cx="4892040" cy="621792"/>
          </a:xfrm>
          <a:prstGeom prst="rect">
            <a:avLst/>
          </a:prstGeom>
          <a:noFill/>
          <a:ln/>
        </p:spPr>
        <p:txBody>
          <a:bodyPr wrap="square" lIns="0" tIns="0" rIns="0" bIns="0" rtlCol="0" anchor="ctr"/>
          <a:lstStyle/>
          <a:p>
            <a:pPr marL="0" indent="0">
              <a:buNone/>
            </a:pPr>
            <a:r>
              <a:rPr lang="en-US" sz="1300" b="1" dirty="0">
                <a:solidFill>
                  <a:schemeClr val="tx1"/>
                </a:solidFill>
              </a:rPr>
              <a:t>✅  The Amur leopard lives in southern Russia and northern China, which are known to be cold.</a:t>
            </a:r>
            <a:endParaRPr lang="en-US" sz="1300" dirty="0"/>
          </a:p>
        </p:txBody>
      </p:sp>
      <p:sp>
        <p:nvSpPr>
          <p:cNvPr id="19" name="Shape 16"/>
          <p:cNvSpPr/>
          <p:nvPr/>
        </p:nvSpPr>
        <p:spPr>
          <a:xfrm>
            <a:off x="548640" y="2990088"/>
            <a:ext cx="5212080" cy="621792"/>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2990088"/>
            <a:ext cx="4846320" cy="621792"/>
          </a:xfrm>
          <a:prstGeom prst="rect">
            <a:avLst/>
          </a:prstGeom>
          <a:noFill/>
          <a:ln/>
        </p:spPr>
        <p:txBody>
          <a:bodyPr wrap="square" lIns="0" tIns="0" rIns="0" bIns="0" rtlCol="0" anchor="ctr"/>
          <a:lstStyle/>
          <a:p>
            <a:pPr marL="0" indent="0">
              <a:buNone/>
            </a:pPr>
            <a:r>
              <a:rPr lang="en-US" sz="1200" b="1" dirty="0">
                <a:solidFill>
                  <a:schemeClr val="accent3"/>
                </a:solidFill>
              </a:rPr>
              <a:t>ROFIDA   </a:t>
            </a:r>
            <a:endParaRPr lang="en-US" sz="1200" dirty="0"/>
          </a:p>
          <a:p>
            <a:pPr marL="0" indent="0">
              <a:buNone/>
            </a:pPr>
            <a:r>
              <a:rPr lang="en-US" sz="1300" i="1" dirty="0">
                <a:solidFill>
                  <a:schemeClr val="tx1"/>
                </a:solidFill>
              </a:rPr>
              <a:t>❌  …one of the famous types which is Crocodylus Porous.</a:t>
            </a:r>
            <a:endParaRPr lang="en-US" sz="1200" dirty="0"/>
          </a:p>
        </p:txBody>
      </p:sp>
      <p:sp>
        <p:nvSpPr>
          <p:cNvPr id="21" name="Text 18"/>
          <p:cNvSpPr txBox="1"/>
          <p:nvPr/>
        </p:nvSpPr>
        <p:spPr>
          <a:xfrm>
            <a:off x="5806440" y="2990088"/>
            <a:ext cx="548640" cy="62179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2990088"/>
            <a:ext cx="5257800" cy="621792"/>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2990088"/>
            <a:ext cx="4892040" cy="621792"/>
          </a:xfrm>
          <a:prstGeom prst="rect">
            <a:avLst/>
          </a:prstGeom>
          <a:noFill/>
          <a:ln/>
        </p:spPr>
        <p:txBody>
          <a:bodyPr wrap="square" lIns="0" tIns="0" rIns="0" bIns="0" rtlCol="0" anchor="ctr"/>
          <a:lstStyle/>
          <a:p>
            <a:pPr marL="0" indent="0">
              <a:buNone/>
            </a:pPr>
            <a:r>
              <a:rPr lang="en-US" sz="1300" b="1" dirty="0">
                <a:solidFill>
                  <a:schemeClr val="tx1"/>
                </a:solidFill>
              </a:rPr>
              <a:t>✅  The most famous type is the saltwater crocodile, Crocodylus porosus, which is the largest living reptile.</a:t>
            </a:r>
            <a:endParaRPr lang="en-US" sz="1300" dirty="0"/>
          </a:p>
        </p:txBody>
      </p:sp>
      <p:sp>
        <p:nvSpPr>
          <p:cNvPr id="24" name="Shape 21"/>
          <p:cNvSpPr/>
          <p:nvPr/>
        </p:nvSpPr>
        <p:spPr>
          <a:xfrm>
            <a:off x="548640" y="3685032"/>
            <a:ext cx="5212080" cy="621792"/>
          </a:xfrm>
          <a:prstGeom prst="rect">
            <a:avLst/>
          </a:prstGeom>
          <a:solidFill>
            <a:schemeClr val="bg1"/>
          </a:solidFill>
          <a:ln/>
          <a:effectLst>
            <a:outerShdw blurRad="76200" dist="25400" dir="5400000" algn="bl" rotWithShape="0">
              <a:srgbClr val="000000">
                <a:alpha val="12000"/>
              </a:srgbClr>
            </a:outerShdw>
          </a:effectLst>
        </p:spPr>
      </p:sp>
      <p:sp>
        <p:nvSpPr>
          <p:cNvPr id="25" name="Text 22"/>
          <p:cNvSpPr txBox="1"/>
          <p:nvPr/>
        </p:nvSpPr>
        <p:spPr>
          <a:xfrm>
            <a:off x="731520" y="3685032"/>
            <a:ext cx="4846320" cy="621792"/>
          </a:xfrm>
          <a:prstGeom prst="rect">
            <a:avLst/>
          </a:prstGeom>
          <a:noFill/>
          <a:ln/>
        </p:spPr>
        <p:txBody>
          <a:bodyPr wrap="square" lIns="0" tIns="0" rIns="0" bIns="0" rtlCol="0" anchor="ctr"/>
          <a:lstStyle/>
          <a:p>
            <a:pPr marL="0" indent="0">
              <a:buNone/>
            </a:pPr>
            <a:r>
              <a:rPr lang="en-US" sz="1200" b="1" dirty="0">
                <a:solidFill>
                  <a:schemeClr val="accent3"/>
                </a:solidFill>
              </a:rPr>
              <a:t>RENAD   </a:t>
            </a:r>
            <a:endParaRPr lang="en-US" sz="1200" dirty="0"/>
          </a:p>
          <a:p>
            <a:pPr marL="0" indent="0">
              <a:buNone/>
            </a:pPr>
            <a:r>
              <a:rPr lang="en-US" sz="1300" i="1" dirty="0">
                <a:solidFill>
                  <a:schemeClr val="tx1"/>
                </a:solidFill>
              </a:rPr>
              <a:t>❌  …its two danger thruths wich are plastic poliontion and pachig…</a:t>
            </a:r>
            <a:endParaRPr lang="en-US" sz="1200" dirty="0"/>
          </a:p>
        </p:txBody>
      </p:sp>
      <p:sp>
        <p:nvSpPr>
          <p:cNvPr id="26" name="Text 23"/>
          <p:cNvSpPr txBox="1"/>
          <p:nvPr/>
        </p:nvSpPr>
        <p:spPr>
          <a:xfrm>
            <a:off x="5806440" y="3685032"/>
            <a:ext cx="548640" cy="62179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7" name="Shape 24"/>
          <p:cNvSpPr/>
          <p:nvPr/>
        </p:nvSpPr>
        <p:spPr>
          <a:xfrm>
            <a:off x="6400800" y="3685032"/>
            <a:ext cx="5257800" cy="621792"/>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6583680" y="3685032"/>
            <a:ext cx="4892040" cy="621792"/>
          </a:xfrm>
          <a:prstGeom prst="rect">
            <a:avLst/>
          </a:prstGeom>
          <a:noFill/>
          <a:ln/>
        </p:spPr>
        <p:txBody>
          <a:bodyPr wrap="square" lIns="0" tIns="0" rIns="0" bIns="0" rtlCol="0" anchor="ctr"/>
          <a:lstStyle/>
          <a:p>
            <a:pPr marL="0" indent="0">
              <a:buNone/>
            </a:pPr>
            <a:r>
              <a:rPr lang="en-US" sz="1300" b="1" dirty="0">
                <a:solidFill>
                  <a:schemeClr val="tx1"/>
                </a:solidFill>
              </a:rPr>
              <a:t>✅  …two main threats, which are plastic pollution and poaching.</a:t>
            </a:r>
            <a:endParaRPr lang="en-US" sz="1300" dirty="0"/>
          </a:p>
        </p:txBody>
      </p:sp>
      <p:sp>
        <p:nvSpPr>
          <p:cNvPr id="29" name="Shape 26"/>
          <p:cNvSpPr/>
          <p:nvPr/>
        </p:nvSpPr>
        <p:spPr>
          <a:xfrm>
            <a:off x="548640" y="4379976"/>
            <a:ext cx="5212080" cy="621792"/>
          </a:xfrm>
          <a:prstGeom prst="rect">
            <a:avLst/>
          </a:prstGeom>
          <a:solidFill>
            <a:schemeClr val="bg1"/>
          </a:solidFill>
          <a:ln/>
          <a:effectLst>
            <a:outerShdw blurRad="76200" dist="25400" dir="5400000" algn="bl" rotWithShape="0">
              <a:srgbClr val="000000">
                <a:alpha val="12000"/>
              </a:srgbClr>
            </a:outerShdw>
          </a:effectLst>
        </p:spPr>
      </p:sp>
      <p:sp>
        <p:nvSpPr>
          <p:cNvPr id="30" name="Text 27"/>
          <p:cNvSpPr txBox="1"/>
          <p:nvPr/>
        </p:nvSpPr>
        <p:spPr>
          <a:xfrm>
            <a:off x="731520" y="4379976"/>
            <a:ext cx="4846320" cy="621792"/>
          </a:xfrm>
          <a:prstGeom prst="rect">
            <a:avLst/>
          </a:prstGeom>
          <a:noFill/>
          <a:ln/>
        </p:spPr>
        <p:txBody>
          <a:bodyPr wrap="square" lIns="0" tIns="0" rIns="0" bIns="0" rtlCol="0" anchor="ctr"/>
          <a:lstStyle/>
          <a:p>
            <a:pPr marL="0" indent="0">
              <a:buNone/>
            </a:pPr>
            <a:r>
              <a:rPr lang="en-US" sz="1200" b="1" dirty="0">
                <a:solidFill>
                  <a:schemeClr val="accent3"/>
                </a:solidFill>
              </a:rPr>
              <a:t>YASSER   </a:t>
            </a:r>
            <a:endParaRPr lang="en-US" sz="1200" dirty="0"/>
          </a:p>
          <a:p>
            <a:pPr marL="0" indent="0">
              <a:buNone/>
            </a:pPr>
            <a:r>
              <a:rPr lang="en-US" sz="1300" i="1" dirty="0">
                <a:solidFill>
                  <a:schemeClr val="tx1"/>
                </a:solidFill>
              </a:rPr>
              <a:t>❌  Protecting blue whales which is the largest animal in earth.</a:t>
            </a:r>
            <a:endParaRPr lang="en-US" sz="1200" dirty="0"/>
          </a:p>
        </p:txBody>
      </p:sp>
      <p:sp>
        <p:nvSpPr>
          <p:cNvPr id="31" name="Text 28"/>
          <p:cNvSpPr txBox="1"/>
          <p:nvPr/>
        </p:nvSpPr>
        <p:spPr>
          <a:xfrm>
            <a:off x="5806440" y="4379976"/>
            <a:ext cx="548640" cy="62179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32" name="Shape 29"/>
          <p:cNvSpPr/>
          <p:nvPr/>
        </p:nvSpPr>
        <p:spPr>
          <a:xfrm>
            <a:off x="6400800" y="4379976"/>
            <a:ext cx="5257800" cy="621792"/>
          </a:xfrm>
          <a:prstGeom prst="rect">
            <a:avLst/>
          </a:prstGeom>
          <a:solidFill>
            <a:schemeClr val="bg1"/>
          </a:solidFill>
          <a:ln/>
          <a:effectLst>
            <a:outerShdw blurRad="76200" dist="25400" dir="5400000" algn="bl" rotWithShape="0">
              <a:srgbClr val="000000">
                <a:alpha val="12000"/>
              </a:srgbClr>
            </a:outerShdw>
          </a:effectLst>
        </p:spPr>
      </p:sp>
      <p:sp>
        <p:nvSpPr>
          <p:cNvPr id="33" name="Text 30"/>
          <p:cNvSpPr txBox="1"/>
          <p:nvPr/>
        </p:nvSpPr>
        <p:spPr>
          <a:xfrm>
            <a:off x="6583680" y="4379976"/>
            <a:ext cx="4892040" cy="621792"/>
          </a:xfrm>
          <a:prstGeom prst="rect">
            <a:avLst/>
          </a:prstGeom>
          <a:noFill/>
          <a:ln/>
        </p:spPr>
        <p:txBody>
          <a:bodyPr wrap="square" lIns="0" tIns="0" rIns="0" bIns="0" rtlCol="0" anchor="ctr"/>
          <a:lstStyle/>
          <a:p>
            <a:pPr marL="0" indent="0">
              <a:buNone/>
            </a:pPr>
            <a:r>
              <a:rPr lang="en-US" sz="1300" b="1" dirty="0">
                <a:solidFill>
                  <a:schemeClr val="tx1"/>
                </a:solidFill>
              </a:rPr>
              <a:t>✅  Blue whales, which are the largest animals on Earth, need our protection.</a:t>
            </a:r>
            <a:endParaRPr lang="en-US" sz="1300" dirty="0"/>
          </a:p>
        </p:txBody>
      </p:sp>
      <p:sp>
        <p:nvSpPr>
          <p:cNvPr id="34" name="Shape 31"/>
          <p:cNvSpPr/>
          <p:nvPr/>
        </p:nvSpPr>
        <p:spPr>
          <a:xfrm>
            <a:off x="548640" y="5074920"/>
            <a:ext cx="5212080" cy="621792"/>
          </a:xfrm>
          <a:prstGeom prst="rect">
            <a:avLst/>
          </a:prstGeom>
          <a:solidFill>
            <a:schemeClr val="bg1"/>
          </a:solidFill>
          <a:ln/>
          <a:effectLst>
            <a:outerShdw blurRad="76200" dist="25400" dir="5400000" algn="bl" rotWithShape="0">
              <a:srgbClr val="000000">
                <a:alpha val="12000"/>
              </a:srgbClr>
            </a:outerShdw>
          </a:effectLst>
        </p:spPr>
      </p:sp>
      <p:sp>
        <p:nvSpPr>
          <p:cNvPr id="35" name="Text 32"/>
          <p:cNvSpPr txBox="1"/>
          <p:nvPr/>
        </p:nvSpPr>
        <p:spPr>
          <a:xfrm>
            <a:off x="731520" y="5074920"/>
            <a:ext cx="4846320" cy="621792"/>
          </a:xfrm>
          <a:prstGeom prst="rect">
            <a:avLst/>
          </a:prstGeom>
          <a:noFill/>
          <a:ln/>
        </p:spPr>
        <p:txBody>
          <a:bodyPr wrap="square" lIns="0" tIns="0" rIns="0" bIns="0" rtlCol="0" anchor="ctr"/>
          <a:lstStyle/>
          <a:p>
            <a:pPr marL="0" indent="0">
              <a:buNone/>
            </a:pPr>
            <a:r>
              <a:rPr lang="en-US" sz="1200" b="1" dirty="0">
                <a:solidFill>
                  <a:schemeClr val="accent3"/>
                </a:solidFill>
              </a:rPr>
              <a:t>WASEELA   </a:t>
            </a:r>
            <a:endParaRPr lang="en-US" sz="1200" dirty="0"/>
          </a:p>
          <a:p>
            <a:pPr marL="0" indent="0">
              <a:buNone/>
            </a:pPr>
            <a:r>
              <a:rPr lang="en-US" sz="1300" i="1" dirty="0">
                <a:solidFill>
                  <a:schemeClr val="tx1"/>
                </a:solidFill>
              </a:rPr>
              <a:t>❌  Cheetahs are the fastest land animal. They live in the African savannas.</a:t>
            </a:r>
            <a:endParaRPr lang="en-US" sz="1200" dirty="0"/>
          </a:p>
        </p:txBody>
      </p:sp>
      <p:sp>
        <p:nvSpPr>
          <p:cNvPr id="36" name="Text 33"/>
          <p:cNvSpPr txBox="1"/>
          <p:nvPr/>
        </p:nvSpPr>
        <p:spPr>
          <a:xfrm>
            <a:off x="5806440" y="5074920"/>
            <a:ext cx="548640" cy="62179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37" name="Shape 34"/>
          <p:cNvSpPr/>
          <p:nvPr/>
        </p:nvSpPr>
        <p:spPr>
          <a:xfrm>
            <a:off x="6400800" y="5074920"/>
            <a:ext cx="5257800" cy="621792"/>
          </a:xfrm>
          <a:prstGeom prst="rect">
            <a:avLst/>
          </a:prstGeom>
          <a:solidFill>
            <a:schemeClr val="bg1"/>
          </a:solidFill>
          <a:ln/>
          <a:effectLst>
            <a:outerShdw blurRad="76200" dist="25400" dir="5400000" algn="bl" rotWithShape="0">
              <a:srgbClr val="000000">
                <a:alpha val="12000"/>
              </a:srgbClr>
            </a:outerShdw>
          </a:effectLst>
        </p:spPr>
      </p:sp>
      <p:sp>
        <p:nvSpPr>
          <p:cNvPr id="38" name="Text 35"/>
          <p:cNvSpPr txBox="1"/>
          <p:nvPr/>
        </p:nvSpPr>
        <p:spPr>
          <a:xfrm>
            <a:off x="6583680" y="5074920"/>
            <a:ext cx="4892040" cy="621792"/>
          </a:xfrm>
          <a:prstGeom prst="rect">
            <a:avLst/>
          </a:prstGeom>
          <a:noFill/>
          <a:ln/>
        </p:spPr>
        <p:txBody>
          <a:bodyPr wrap="square" lIns="0" tIns="0" rIns="0" bIns="0" rtlCol="0" anchor="ctr"/>
          <a:lstStyle/>
          <a:p>
            <a:pPr marL="0" indent="0">
              <a:buNone/>
            </a:pPr>
            <a:r>
              <a:rPr lang="en-US" sz="1300" b="1" dirty="0">
                <a:solidFill>
                  <a:schemeClr val="tx1"/>
                </a:solidFill>
              </a:rPr>
              <a:t>✅  The cheetah, which is the fastest land animal in the world, lives in the African savannas.</a:t>
            </a:r>
            <a:endParaRPr lang="en-US" sz="1300" dirty="0"/>
          </a:p>
        </p:txBody>
      </p:sp>
      <p:sp>
        <p:nvSpPr>
          <p:cNvPr id="39" name="Text 36"/>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Extra information goes between commas:   , which …,</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6: explain threats, don’t repeat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BETTER VERSION</a:t>
            </a:r>
            <a:endParaRPr lang="en-US" sz="1400" dirty="0"/>
          </a:p>
        </p:txBody>
      </p:sp>
      <p:sp>
        <p:nvSpPr>
          <p:cNvPr id="9" name="Shape 6"/>
          <p:cNvSpPr/>
          <p:nvPr/>
        </p:nvSpPr>
        <p:spPr>
          <a:xfrm>
            <a:off x="548640" y="1600200"/>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HUSSEIN   </a:t>
            </a:r>
            <a:endParaRPr lang="en-US" sz="1200" dirty="0"/>
          </a:p>
          <a:p>
            <a:pPr marL="0" indent="0">
              <a:buNone/>
            </a:pPr>
            <a:r>
              <a:rPr lang="en-US" sz="1300" i="1" dirty="0">
                <a:solidFill>
                  <a:schemeClr val="tx1"/>
                </a:solidFill>
              </a:rPr>
              <a:t>❌  Eating ocean trash</a:t>
            </a:r>
            <a:endParaRPr lang="en-US" sz="1200" dirty="0"/>
          </a:p>
        </p:txBody>
      </p:sp>
      <p:sp>
        <p:nvSpPr>
          <p:cNvPr id="11" name="Text 8"/>
          <p:cNvSpPr txBox="1"/>
          <p:nvPr/>
        </p:nvSpPr>
        <p:spPr>
          <a:xfrm>
            <a:off x="5806440" y="1600200"/>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731520"/>
          </a:xfrm>
          <a:prstGeom prst="rect">
            <a:avLst/>
          </a:prstGeom>
          <a:noFill/>
          <a:ln/>
        </p:spPr>
        <p:txBody>
          <a:bodyPr wrap="square" lIns="0" tIns="0" rIns="0" bIns="0" rtlCol="0" anchor="ctr"/>
          <a:lstStyle/>
          <a:p>
            <a:pPr marL="0" indent="0">
              <a:buNone/>
            </a:pPr>
            <a:r>
              <a:rPr lang="en-US" sz="1300" b="1" dirty="0">
                <a:solidFill>
                  <a:schemeClr val="tx1"/>
                </a:solidFill>
              </a:rPr>
              <a:t>✅  Eating ocean trash: turtles mistake plastic bags for jellyfish and eat them.</a:t>
            </a:r>
            <a:endParaRPr lang="en-US" sz="1300" dirty="0"/>
          </a:p>
        </p:txBody>
      </p:sp>
      <p:sp>
        <p:nvSpPr>
          <p:cNvPr id="14" name="Shape 11"/>
          <p:cNvSpPr/>
          <p:nvPr/>
        </p:nvSpPr>
        <p:spPr>
          <a:xfrm>
            <a:off x="548640" y="2404872"/>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2404872"/>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ROFIDA   </a:t>
            </a:r>
            <a:endParaRPr lang="en-US" sz="1200" dirty="0"/>
          </a:p>
          <a:p>
            <a:pPr marL="0" indent="0">
              <a:buNone/>
            </a:pPr>
            <a:r>
              <a:rPr lang="en-US" sz="1300" i="1" dirty="0">
                <a:solidFill>
                  <a:schemeClr val="tx1"/>
                </a:solidFill>
              </a:rPr>
              <a:t>❌  One of the threats facing them is climate change, pollution, and human activities and much more harmful things.</a:t>
            </a:r>
            <a:endParaRPr lang="en-US" sz="1200" dirty="0"/>
          </a:p>
        </p:txBody>
      </p:sp>
      <p:sp>
        <p:nvSpPr>
          <p:cNvPr id="16" name="Text 13"/>
          <p:cNvSpPr txBox="1"/>
          <p:nvPr/>
        </p:nvSpPr>
        <p:spPr>
          <a:xfrm>
            <a:off x="5806440" y="2404872"/>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2404872"/>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2404872"/>
            <a:ext cx="4892040" cy="731520"/>
          </a:xfrm>
          <a:prstGeom prst="rect">
            <a:avLst/>
          </a:prstGeom>
          <a:noFill/>
          <a:ln/>
        </p:spPr>
        <p:txBody>
          <a:bodyPr wrap="square" lIns="0" tIns="0" rIns="0" bIns="0" rtlCol="0" anchor="ctr"/>
          <a:lstStyle/>
          <a:p>
            <a:pPr marL="0" indent="0">
              <a:buNone/>
            </a:pPr>
            <a:r>
              <a:rPr lang="en-US" sz="1300" b="1" dirty="0">
                <a:solidFill>
                  <a:schemeClr val="tx1"/>
                </a:solidFill>
              </a:rPr>
              <a:t>✅  The main threats are climate change, pollution and habitat loss when wetlands are drained for farming.</a:t>
            </a:r>
            <a:endParaRPr lang="en-US" sz="1300" dirty="0"/>
          </a:p>
        </p:txBody>
      </p:sp>
      <p:sp>
        <p:nvSpPr>
          <p:cNvPr id="19" name="Shape 16"/>
          <p:cNvSpPr/>
          <p:nvPr/>
        </p:nvSpPr>
        <p:spPr>
          <a:xfrm>
            <a:off x="548640" y="3209544"/>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3209544"/>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YASSIN   </a:t>
            </a:r>
            <a:endParaRPr lang="en-US" sz="1200" dirty="0"/>
          </a:p>
          <a:p>
            <a:pPr marL="0" indent="0">
              <a:buNone/>
            </a:pPr>
            <a:r>
              <a:rPr lang="en-US" sz="1300" i="1" dirty="0">
                <a:solidFill>
                  <a:schemeClr val="tx1"/>
                </a:solidFill>
              </a:rPr>
              <a:t>❌  ocean pollution and fishing nets</a:t>
            </a:r>
            <a:endParaRPr lang="en-US" sz="1200" dirty="0"/>
          </a:p>
        </p:txBody>
      </p:sp>
      <p:sp>
        <p:nvSpPr>
          <p:cNvPr id="21" name="Text 18"/>
          <p:cNvSpPr txBox="1"/>
          <p:nvPr/>
        </p:nvSpPr>
        <p:spPr>
          <a:xfrm>
            <a:off x="5806440" y="3209544"/>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3209544"/>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3209544"/>
            <a:ext cx="4892040" cy="731520"/>
          </a:xfrm>
          <a:prstGeom prst="rect">
            <a:avLst/>
          </a:prstGeom>
          <a:noFill/>
          <a:ln/>
        </p:spPr>
        <p:txBody>
          <a:bodyPr wrap="square" lIns="0" tIns="0" rIns="0" bIns="0" rtlCol="0" anchor="ctr"/>
          <a:lstStyle/>
          <a:p>
            <a:pPr marL="0" indent="0">
              <a:buNone/>
            </a:pPr>
            <a:r>
              <a:rPr lang="en-US" sz="1300" b="1" dirty="0">
                <a:solidFill>
                  <a:schemeClr val="tx1"/>
                </a:solidFill>
              </a:rPr>
              <a:t>✅  Ocean pollution: plastic and noise harm whales. Fishing nets: whales get tangled in them.</a:t>
            </a:r>
            <a:endParaRPr lang="en-US" sz="1300" dirty="0"/>
          </a:p>
        </p:txBody>
      </p:sp>
      <p:sp>
        <p:nvSpPr>
          <p:cNvPr id="24" name="Shape 21"/>
          <p:cNvSpPr/>
          <p:nvPr/>
        </p:nvSpPr>
        <p:spPr>
          <a:xfrm>
            <a:off x="548640" y="4014216"/>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25" name="Text 22"/>
          <p:cNvSpPr txBox="1"/>
          <p:nvPr/>
        </p:nvSpPr>
        <p:spPr>
          <a:xfrm>
            <a:off x="731520" y="4014216"/>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WASEELA   </a:t>
            </a:r>
            <a:endParaRPr lang="en-US" sz="1200" dirty="0"/>
          </a:p>
          <a:p>
            <a:pPr marL="0" indent="0">
              <a:buNone/>
            </a:pPr>
            <a:r>
              <a:rPr lang="en-US" sz="1300" i="1" dirty="0">
                <a:solidFill>
                  <a:schemeClr val="tx1"/>
                </a:solidFill>
              </a:rPr>
              <a:t>❌  Also illegal wildlife trade. Some people trade wild animals in illegal way.</a:t>
            </a:r>
            <a:endParaRPr lang="en-US" sz="1200" dirty="0"/>
          </a:p>
        </p:txBody>
      </p:sp>
      <p:sp>
        <p:nvSpPr>
          <p:cNvPr id="26" name="Text 23"/>
          <p:cNvSpPr txBox="1"/>
          <p:nvPr/>
        </p:nvSpPr>
        <p:spPr>
          <a:xfrm>
            <a:off x="5806440" y="4014216"/>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7" name="Shape 24"/>
          <p:cNvSpPr/>
          <p:nvPr/>
        </p:nvSpPr>
        <p:spPr>
          <a:xfrm>
            <a:off x="6400800" y="4014216"/>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6583680" y="4014216"/>
            <a:ext cx="4892040" cy="731520"/>
          </a:xfrm>
          <a:prstGeom prst="rect">
            <a:avLst/>
          </a:prstGeom>
          <a:noFill/>
          <a:ln/>
        </p:spPr>
        <p:txBody>
          <a:bodyPr wrap="square" lIns="0" tIns="0" rIns="0" bIns="0" rtlCol="0" anchor="ctr"/>
          <a:lstStyle/>
          <a:p>
            <a:pPr marL="0" indent="0">
              <a:buNone/>
            </a:pPr>
            <a:r>
              <a:rPr lang="en-US" sz="1300" b="1" dirty="0">
                <a:solidFill>
                  <a:schemeClr val="tx1"/>
                </a:solidFill>
              </a:rPr>
              <a:t>✅  Second, there is illegal wildlife trade, because some people capture cheetahs and sell them illegally.</a:t>
            </a:r>
            <a:endParaRPr lang="en-US" sz="1300" dirty="0"/>
          </a:p>
        </p:txBody>
      </p:sp>
      <p:sp>
        <p:nvSpPr>
          <p:cNvPr id="29" name="Shape 26"/>
          <p:cNvSpPr/>
          <p:nvPr/>
        </p:nvSpPr>
        <p:spPr>
          <a:xfrm>
            <a:off x="548640" y="4818888"/>
            <a:ext cx="5212080" cy="731520"/>
          </a:xfrm>
          <a:prstGeom prst="rect">
            <a:avLst/>
          </a:prstGeom>
          <a:solidFill>
            <a:schemeClr val="bg1"/>
          </a:solidFill>
          <a:ln/>
          <a:effectLst>
            <a:outerShdw blurRad="76200" dist="25400" dir="5400000" algn="bl" rotWithShape="0">
              <a:srgbClr val="000000">
                <a:alpha val="12000"/>
              </a:srgbClr>
            </a:outerShdw>
          </a:effectLst>
        </p:spPr>
      </p:sp>
      <p:sp>
        <p:nvSpPr>
          <p:cNvPr id="30" name="Text 27"/>
          <p:cNvSpPr txBox="1"/>
          <p:nvPr/>
        </p:nvSpPr>
        <p:spPr>
          <a:xfrm>
            <a:off x="731520" y="4818888"/>
            <a:ext cx="4846320" cy="731520"/>
          </a:xfrm>
          <a:prstGeom prst="rect">
            <a:avLst/>
          </a:prstGeom>
          <a:noFill/>
          <a:ln/>
        </p:spPr>
        <p:txBody>
          <a:bodyPr wrap="square" lIns="0" tIns="0" rIns="0" bIns="0" rtlCol="0" anchor="ctr"/>
          <a:lstStyle/>
          <a:p>
            <a:pPr marL="0" indent="0">
              <a:buNone/>
            </a:pPr>
            <a:r>
              <a:rPr lang="en-US" sz="1200" b="1" dirty="0">
                <a:solidFill>
                  <a:schemeClr val="accent3"/>
                </a:solidFill>
              </a:rPr>
              <a:t>MERA   </a:t>
            </a:r>
            <a:endParaRPr lang="en-US" sz="1200" dirty="0"/>
          </a:p>
          <a:p>
            <a:pPr marL="0" indent="0">
              <a:buNone/>
            </a:pPr>
            <a:r>
              <a:rPr lang="en-US" sz="1300" i="1" dirty="0">
                <a:solidFill>
                  <a:schemeClr val="tx1"/>
                </a:solidFill>
              </a:rPr>
              <a:t>❌  …pushing the… lions toward extinction are prey depletion and human wildlife conflict and retaliatory killings.</a:t>
            </a:r>
            <a:endParaRPr lang="en-US" sz="1200" dirty="0"/>
          </a:p>
        </p:txBody>
      </p:sp>
      <p:sp>
        <p:nvSpPr>
          <p:cNvPr id="31" name="Text 28"/>
          <p:cNvSpPr txBox="1"/>
          <p:nvPr/>
        </p:nvSpPr>
        <p:spPr>
          <a:xfrm>
            <a:off x="5806440" y="4818888"/>
            <a:ext cx="548640" cy="73152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32" name="Shape 29"/>
          <p:cNvSpPr/>
          <p:nvPr/>
        </p:nvSpPr>
        <p:spPr>
          <a:xfrm>
            <a:off x="6400800" y="4818888"/>
            <a:ext cx="5257800" cy="731520"/>
          </a:xfrm>
          <a:prstGeom prst="rect">
            <a:avLst/>
          </a:prstGeom>
          <a:solidFill>
            <a:schemeClr val="bg1"/>
          </a:solidFill>
          <a:ln/>
          <a:effectLst>
            <a:outerShdw blurRad="76200" dist="25400" dir="5400000" algn="bl" rotWithShape="0">
              <a:srgbClr val="000000">
                <a:alpha val="12000"/>
              </a:srgbClr>
            </a:outerShdw>
          </a:effectLst>
        </p:spPr>
      </p:sp>
      <p:sp>
        <p:nvSpPr>
          <p:cNvPr id="33" name="Text 30"/>
          <p:cNvSpPr txBox="1"/>
          <p:nvPr/>
        </p:nvSpPr>
        <p:spPr>
          <a:xfrm>
            <a:off x="6583680" y="4818888"/>
            <a:ext cx="4892040" cy="731520"/>
          </a:xfrm>
          <a:prstGeom prst="rect">
            <a:avLst/>
          </a:prstGeom>
          <a:noFill/>
          <a:ln/>
        </p:spPr>
        <p:txBody>
          <a:bodyPr wrap="square" lIns="0" tIns="0" rIns="0" bIns="0" rtlCol="0" anchor="ctr"/>
          <a:lstStyle/>
          <a:p>
            <a:pPr marL="0" indent="0">
              <a:buNone/>
            </a:pPr>
            <a:r>
              <a:rPr lang="en-US" sz="1300" b="1" dirty="0">
                <a:solidFill>
                  <a:schemeClr val="tx1"/>
                </a:solidFill>
              </a:rPr>
              <a:t>✅  The main threats pushing West African lions toward extinction are prey depletion (fewer animals to hunt), human–wildlife conflict and retaliatory killings.</a:t>
            </a:r>
            <a:endParaRPr lang="en-US" sz="1300" dirty="0"/>
          </a:p>
        </p:txBody>
      </p:sp>
      <p:sp>
        <p:nvSpPr>
          <p:cNvPr id="34" name="Text 31"/>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Name the threat + say HOW it harms them. Say each fact once.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7: check your facts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5212080" cy="411480"/>
          </a:xfrm>
          <a:prstGeom prst="rect">
            <a:avLst/>
          </a:prstGeom>
          <a:solidFill>
            <a:schemeClr val="accent3"/>
          </a:solidFill>
          <a:ln/>
        </p:spPr>
      </p:sp>
      <p:sp>
        <p:nvSpPr>
          <p:cNvPr id="6" name="Text 3"/>
          <p:cNvSpPr txBox="1"/>
          <p:nvPr/>
        </p:nvSpPr>
        <p:spPr>
          <a:xfrm>
            <a:off x="67665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FROM YOUR PLANS</a:t>
            </a:r>
            <a:endParaRPr lang="en-US" sz="1400" dirty="0"/>
          </a:p>
        </p:txBody>
      </p:sp>
      <p:sp>
        <p:nvSpPr>
          <p:cNvPr id="7" name="Shape 4"/>
          <p:cNvSpPr/>
          <p:nvPr/>
        </p:nvSpPr>
        <p:spPr>
          <a:xfrm>
            <a:off x="6400800" y="1097280"/>
            <a:ext cx="5257800" cy="411480"/>
          </a:xfrm>
          <a:prstGeom prst="rect">
            <a:avLst/>
          </a:prstGeom>
          <a:solidFill>
            <a:schemeClr val="accent1"/>
          </a:solidFill>
          <a:ln/>
        </p:spPr>
      </p:sp>
      <p:sp>
        <p:nvSpPr>
          <p:cNvPr id="8" name="Text 5"/>
          <p:cNvSpPr txBox="1"/>
          <p:nvPr/>
        </p:nvSpPr>
        <p:spPr>
          <a:xfrm>
            <a:off x="6528816" y="1097280"/>
            <a:ext cx="5029200" cy="411480"/>
          </a:xfrm>
          <a:prstGeom prst="rect">
            <a:avLst/>
          </a:prstGeom>
          <a:noFill/>
          <a:ln/>
        </p:spPr>
        <p:txBody>
          <a:bodyPr wrap="square" lIns="0" tIns="0" rIns="0" bIns="0" rtlCol="0" anchor="ctr"/>
          <a:lstStyle/>
          <a:p>
            <a:pPr marL="0" indent="0">
              <a:buNone/>
            </a:pPr>
            <a:r>
              <a:rPr lang="en-US" sz="1400" b="1" dirty="0">
                <a:solidFill>
                  <a:schemeClr val="bg1"/>
                </a:solidFill>
              </a:rPr>
              <a:t>AFTER CHECKING A RELIABLE SOURCE</a:t>
            </a:r>
            <a:endParaRPr lang="en-US" sz="1400" dirty="0"/>
          </a:p>
        </p:txBody>
      </p:sp>
      <p:sp>
        <p:nvSpPr>
          <p:cNvPr id="9" name="Shape 6"/>
          <p:cNvSpPr/>
          <p:nvPr/>
        </p:nvSpPr>
        <p:spPr>
          <a:xfrm>
            <a:off x="548640" y="1600200"/>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31520" y="1600200"/>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MOSTAFA   </a:t>
            </a:r>
            <a:endParaRPr lang="en-US" sz="1200" dirty="0"/>
          </a:p>
          <a:p>
            <a:pPr marL="0" indent="0">
              <a:buNone/>
            </a:pPr>
            <a:r>
              <a:rPr lang="en-US" sz="1400" i="1" dirty="0">
                <a:solidFill>
                  <a:schemeClr val="tx1"/>
                </a:solidFill>
              </a:rPr>
              <a:t>❌  Sea turtles is the slowest animal in the world.</a:t>
            </a:r>
            <a:endParaRPr lang="en-US" sz="1200" dirty="0"/>
          </a:p>
        </p:txBody>
      </p:sp>
      <p:sp>
        <p:nvSpPr>
          <p:cNvPr id="11" name="Text 8"/>
          <p:cNvSpPr txBox="1"/>
          <p:nvPr/>
        </p:nvSpPr>
        <p:spPr>
          <a:xfrm>
            <a:off x="5806440" y="1600200"/>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2" name="Shape 9"/>
          <p:cNvSpPr/>
          <p:nvPr/>
        </p:nvSpPr>
        <p:spPr>
          <a:xfrm>
            <a:off x="6400800" y="1600200"/>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13" name="Text 10"/>
          <p:cNvSpPr txBox="1"/>
          <p:nvPr/>
        </p:nvSpPr>
        <p:spPr>
          <a:xfrm>
            <a:off x="6583680" y="1600200"/>
            <a:ext cx="4892040" cy="713232"/>
          </a:xfrm>
          <a:prstGeom prst="rect">
            <a:avLst/>
          </a:prstGeom>
          <a:noFill/>
          <a:ln/>
        </p:spPr>
        <p:txBody>
          <a:bodyPr wrap="square" lIns="0" tIns="0" rIns="0" bIns="0" rtlCol="0" anchor="ctr"/>
          <a:lstStyle/>
          <a:p>
            <a:pPr marL="0" indent="0">
              <a:buNone/>
            </a:pPr>
            <a:r>
              <a:rPr lang="en-US" sz="1400" b="1" dirty="0">
                <a:solidFill>
                  <a:schemeClr val="tx1"/>
                </a:solidFill>
              </a:rPr>
              <a:t>✅  Sea turtles are strong swimmers. Slower animals exist, for example sloths and snails.</a:t>
            </a:r>
            <a:endParaRPr lang="en-US" sz="1400" dirty="0"/>
          </a:p>
        </p:txBody>
      </p:sp>
      <p:sp>
        <p:nvSpPr>
          <p:cNvPr id="14" name="Shape 11"/>
          <p:cNvSpPr/>
          <p:nvPr/>
        </p:nvSpPr>
        <p:spPr>
          <a:xfrm>
            <a:off x="548640" y="2404872"/>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15" name="Text 12"/>
          <p:cNvSpPr txBox="1"/>
          <p:nvPr/>
        </p:nvSpPr>
        <p:spPr>
          <a:xfrm>
            <a:off x="731520" y="2404872"/>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MOSTAFA   </a:t>
            </a:r>
            <a:endParaRPr lang="en-US" sz="1200" dirty="0"/>
          </a:p>
          <a:p>
            <a:pPr marL="0" indent="0">
              <a:buNone/>
            </a:pPr>
            <a:r>
              <a:rPr lang="en-US" sz="1400" i="1" dirty="0">
                <a:solidFill>
                  <a:schemeClr val="tx1"/>
                </a:solidFill>
              </a:rPr>
              <a:t>❌  It lives more than 100 years.</a:t>
            </a:r>
            <a:endParaRPr lang="en-US" sz="1200" dirty="0"/>
          </a:p>
        </p:txBody>
      </p:sp>
      <p:sp>
        <p:nvSpPr>
          <p:cNvPr id="16" name="Text 13"/>
          <p:cNvSpPr txBox="1"/>
          <p:nvPr/>
        </p:nvSpPr>
        <p:spPr>
          <a:xfrm>
            <a:off x="5806440" y="2404872"/>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17" name="Shape 14"/>
          <p:cNvSpPr/>
          <p:nvPr/>
        </p:nvSpPr>
        <p:spPr>
          <a:xfrm>
            <a:off x="6400800" y="2404872"/>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0" y="2404872"/>
            <a:ext cx="4892040" cy="713232"/>
          </a:xfrm>
          <a:prstGeom prst="rect">
            <a:avLst/>
          </a:prstGeom>
          <a:noFill/>
          <a:ln/>
        </p:spPr>
        <p:txBody>
          <a:bodyPr wrap="square" lIns="0" tIns="0" rIns="0" bIns="0" rtlCol="0" anchor="ctr"/>
          <a:lstStyle/>
          <a:p>
            <a:pPr marL="0" indent="0">
              <a:buNone/>
            </a:pPr>
            <a:r>
              <a:rPr lang="en-US" sz="1400" b="1" dirty="0">
                <a:solidFill>
                  <a:schemeClr val="tx1"/>
                </a:solidFill>
              </a:rPr>
              <a:t>✅  Some sea turtles can live for 80 years or more.</a:t>
            </a:r>
            <a:endParaRPr lang="en-US" sz="1400" dirty="0"/>
          </a:p>
        </p:txBody>
      </p:sp>
      <p:sp>
        <p:nvSpPr>
          <p:cNvPr id="19" name="Shape 16"/>
          <p:cNvSpPr/>
          <p:nvPr/>
        </p:nvSpPr>
        <p:spPr>
          <a:xfrm>
            <a:off x="548640" y="3209544"/>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731520" y="3209544"/>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ROFIDA   </a:t>
            </a:r>
            <a:endParaRPr lang="en-US" sz="1200" dirty="0"/>
          </a:p>
          <a:p>
            <a:pPr marL="0" indent="0">
              <a:buNone/>
            </a:pPr>
            <a:r>
              <a:rPr lang="en-US" sz="1400" i="1" dirty="0">
                <a:solidFill>
                  <a:schemeClr val="tx1"/>
                </a:solidFill>
              </a:rPr>
              <a:t>❌  Crocodiles live in South Africa, China, Madagascar. A famous type is Crocodylus porosus.</a:t>
            </a:r>
            <a:endParaRPr lang="en-US" sz="1200" dirty="0"/>
          </a:p>
        </p:txBody>
      </p:sp>
      <p:sp>
        <p:nvSpPr>
          <p:cNvPr id="21" name="Text 18"/>
          <p:cNvSpPr txBox="1"/>
          <p:nvPr/>
        </p:nvSpPr>
        <p:spPr>
          <a:xfrm>
            <a:off x="5806440" y="3209544"/>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2" name="Shape 19"/>
          <p:cNvSpPr/>
          <p:nvPr/>
        </p:nvSpPr>
        <p:spPr>
          <a:xfrm>
            <a:off x="6400800" y="3209544"/>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23" name="Text 20"/>
          <p:cNvSpPr txBox="1"/>
          <p:nvPr/>
        </p:nvSpPr>
        <p:spPr>
          <a:xfrm>
            <a:off x="6583680" y="3209544"/>
            <a:ext cx="4892040" cy="713232"/>
          </a:xfrm>
          <a:prstGeom prst="rect">
            <a:avLst/>
          </a:prstGeom>
          <a:noFill/>
          <a:ln/>
        </p:spPr>
        <p:txBody>
          <a:bodyPr wrap="square" lIns="0" tIns="0" rIns="0" bIns="0" rtlCol="0" anchor="ctr"/>
          <a:lstStyle/>
          <a:p>
            <a:pPr marL="0" indent="0">
              <a:buNone/>
            </a:pPr>
            <a:r>
              <a:rPr lang="en-US" sz="1400" b="1" dirty="0">
                <a:solidFill>
                  <a:schemeClr val="tx1"/>
                </a:solidFill>
              </a:rPr>
              <a:t>✅  The saltwater crocodile lives in Southeast Asia, India and northern Australia. The Nile crocodile lives in Africa.</a:t>
            </a:r>
            <a:endParaRPr lang="en-US" sz="1400" dirty="0"/>
          </a:p>
        </p:txBody>
      </p:sp>
      <p:sp>
        <p:nvSpPr>
          <p:cNvPr id="24" name="Shape 21"/>
          <p:cNvSpPr/>
          <p:nvPr/>
        </p:nvSpPr>
        <p:spPr>
          <a:xfrm>
            <a:off x="548640" y="4014216"/>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25" name="Text 22"/>
          <p:cNvSpPr txBox="1"/>
          <p:nvPr/>
        </p:nvSpPr>
        <p:spPr>
          <a:xfrm>
            <a:off x="731520" y="4014216"/>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MERA   </a:t>
            </a:r>
            <a:endParaRPr lang="en-US" sz="1200" dirty="0"/>
          </a:p>
          <a:p>
            <a:pPr marL="0" indent="0">
              <a:buNone/>
            </a:pPr>
            <a:r>
              <a:rPr lang="en-US" sz="1400" i="1" dirty="0">
                <a:solidFill>
                  <a:schemeClr val="tx1"/>
                </a:solidFill>
              </a:rPr>
              <a:t>❌  West African lions especially eat meat in there diet.</a:t>
            </a:r>
            <a:endParaRPr lang="en-US" sz="1200" dirty="0"/>
          </a:p>
        </p:txBody>
      </p:sp>
      <p:sp>
        <p:nvSpPr>
          <p:cNvPr id="26" name="Text 23"/>
          <p:cNvSpPr txBox="1"/>
          <p:nvPr/>
        </p:nvSpPr>
        <p:spPr>
          <a:xfrm>
            <a:off x="5806440" y="4014216"/>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27" name="Shape 24"/>
          <p:cNvSpPr/>
          <p:nvPr/>
        </p:nvSpPr>
        <p:spPr>
          <a:xfrm>
            <a:off x="6400800" y="4014216"/>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6583680" y="4014216"/>
            <a:ext cx="4892040" cy="713232"/>
          </a:xfrm>
          <a:prstGeom prst="rect">
            <a:avLst/>
          </a:prstGeom>
          <a:noFill/>
          <a:ln/>
        </p:spPr>
        <p:txBody>
          <a:bodyPr wrap="square" lIns="0" tIns="0" rIns="0" bIns="0" rtlCol="0" anchor="ctr"/>
          <a:lstStyle/>
          <a:p>
            <a:pPr marL="0" indent="0">
              <a:buNone/>
            </a:pPr>
            <a:r>
              <a:rPr lang="en-US" sz="1400" b="1" dirty="0">
                <a:solidFill>
                  <a:schemeClr val="tx1"/>
                </a:solidFill>
              </a:rPr>
              <a:t>✅  Use a fact only this lion has: where it lives (check the park names) or what it hunts.</a:t>
            </a:r>
            <a:endParaRPr lang="en-US" sz="1400" dirty="0"/>
          </a:p>
        </p:txBody>
      </p:sp>
      <p:sp>
        <p:nvSpPr>
          <p:cNvPr id="29" name="Shape 26"/>
          <p:cNvSpPr/>
          <p:nvPr/>
        </p:nvSpPr>
        <p:spPr>
          <a:xfrm>
            <a:off x="548640" y="4818888"/>
            <a:ext cx="5212080" cy="713232"/>
          </a:xfrm>
          <a:prstGeom prst="rect">
            <a:avLst/>
          </a:prstGeom>
          <a:solidFill>
            <a:schemeClr val="bg1"/>
          </a:solidFill>
          <a:ln/>
          <a:effectLst>
            <a:outerShdw blurRad="76200" dist="25400" dir="5400000" algn="bl" rotWithShape="0">
              <a:srgbClr val="000000">
                <a:alpha val="12000"/>
              </a:srgbClr>
            </a:outerShdw>
          </a:effectLst>
        </p:spPr>
      </p:sp>
      <p:sp>
        <p:nvSpPr>
          <p:cNvPr id="30" name="Text 27"/>
          <p:cNvSpPr txBox="1"/>
          <p:nvPr/>
        </p:nvSpPr>
        <p:spPr>
          <a:xfrm>
            <a:off x="731520" y="4818888"/>
            <a:ext cx="4846320" cy="713232"/>
          </a:xfrm>
          <a:prstGeom prst="rect">
            <a:avLst/>
          </a:prstGeom>
          <a:noFill/>
          <a:ln/>
        </p:spPr>
        <p:txBody>
          <a:bodyPr wrap="square" lIns="0" tIns="0" rIns="0" bIns="0" rtlCol="0" anchor="ctr"/>
          <a:lstStyle/>
          <a:p>
            <a:pPr marL="0" indent="0">
              <a:buNone/>
            </a:pPr>
            <a:r>
              <a:rPr lang="en-US" sz="1200" b="1" dirty="0">
                <a:solidFill>
                  <a:schemeClr val="accent3"/>
                </a:solidFill>
              </a:rPr>
              <a:t>WASEELA   </a:t>
            </a:r>
            <a:endParaRPr lang="en-US" sz="1200" dirty="0"/>
          </a:p>
          <a:p>
            <a:pPr marL="0" indent="0">
              <a:buNone/>
            </a:pPr>
            <a:r>
              <a:rPr lang="en-US" sz="1400" i="1" dirty="0">
                <a:solidFill>
                  <a:schemeClr val="tx1"/>
                </a:solidFill>
              </a:rPr>
              <a:t>❌  two piece vocal bone</a:t>
            </a:r>
            <a:endParaRPr lang="en-US" sz="1200" dirty="0"/>
          </a:p>
        </p:txBody>
      </p:sp>
      <p:sp>
        <p:nvSpPr>
          <p:cNvPr id="31" name="Text 28"/>
          <p:cNvSpPr txBox="1"/>
          <p:nvPr/>
        </p:nvSpPr>
        <p:spPr>
          <a:xfrm>
            <a:off x="5806440" y="4818888"/>
            <a:ext cx="548640" cy="713232"/>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32" name="Shape 29"/>
          <p:cNvSpPr/>
          <p:nvPr/>
        </p:nvSpPr>
        <p:spPr>
          <a:xfrm>
            <a:off x="6400800" y="4818888"/>
            <a:ext cx="5257800" cy="713232"/>
          </a:xfrm>
          <a:prstGeom prst="rect">
            <a:avLst/>
          </a:prstGeom>
          <a:solidFill>
            <a:schemeClr val="bg1"/>
          </a:solidFill>
          <a:ln/>
          <a:effectLst>
            <a:outerShdw blurRad="76200" dist="25400" dir="5400000" algn="bl" rotWithShape="0">
              <a:srgbClr val="000000">
                <a:alpha val="12000"/>
              </a:srgbClr>
            </a:outerShdw>
          </a:effectLst>
        </p:spPr>
      </p:sp>
      <p:sp>
        <p:nvSpPr>
          <p:cNvPr id="33" name="Text 30"/>
          <p:cNvSpPr txBox="1"/>
          <p:nvPr/>
        </p:nvSpPr>
        <p:spPr>
          <a:xfrm>
            <a:off x="6583680" y="4818888"/>
            <a:ext cx="4892040" cy="713232"/>
          </a:xfrm>
          <a:prstGeom prst="rect">
            <a:avLst/>
          </a:prstGeom>
          <a:noFill/>
          <a:ln/>
        </p:spPr>
        <p:txBody>
          <a:bodyPr wrap="square" lIns="0" tIns="0" rIns="0" bIns="0" rtlCol="0" anchor="ctr"/>
          <a:lstStyle/>
          <a:p>
            <a:pPr marL="0" indent="0">
              <a:buNone/>
            </a:pPr>
            <a:r>
              <a:rPr lang="en-US" sz="1400" b="1" dirty="0">
                <a:solidFill>
                  <a:schemeClr val="tx1"/>
                </a:solidFill>
              </a:rPr>
              <a:t>✅  Check the wording in a reliable source before you keep it.</a:t>
            </a:r>
            <a:endParaRPr lang="en-US" sz="1400" dirty="0"/>
          </a:p>
        </p:txBody>
      </p:sp>
      <p:sp>
        <p:nvSpPr>
          <p:cNvPr id="34" name="Text 31"/>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Use a book or a reliable website to check ONE fact today</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Problem 8: spelling, capitals and spaces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FIX IT</a:t>
            </a:r>
            <a:endParaRPr lang="en-US" sz="1100" dirty="0"/>
          </a:p>
        </p:txBody>
      </p:sp>
      <p:sp>
        <p:nvSpPr>
          <p:cNvPr id="5" name="Shape 2"/>
          <p:cNvSpPr/>
          <p:nvPr/>
        </p:nvSpPr>
        <p:spPr>
          <a:xfrm>
            <a:off x="548640" y="109728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658368" y="109728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enviroment</a:t>
            </a:r>
            <a:endParaRPr lang="en-US" sz="1400" dirty="0"/>
          </a:p>
          <a:p>
            <a:pPr marL="0" indent="0">
              <a:buNone/>
            </a:pPr>
            <a:r>
              <a:rPr lang="en-US" sz="1700" b="1" dirty="0">
                <a:solidFill>
                  <a:schemeClr val="accent1"/>
                </a:solidFill>
              </a:rPr>
              <a:t>✅ environment</a:t>
            </a:r>
            <a:endParaRPr lang="en-US" sz="1400" dirty="0"/>
          </a:p>
          <a:p>
            <a:pPr marL="0" indent="0">
              <a:buNone/>
            </a:pPr>
            <a:r>
              <a:rPr lang="en-US" sz="1000" b="1" dirty="0">
                <a:solidFill>
                  <a:schemeClr val="tx1"/>
                </a:solidFill>
              </a:rPr>
              <a:t>MERA</a:t>
            </a:r>
            <a:endParaRPr lang="en-US" sz="1400" dirty="0"/>
          </a:p>
        </p:txBody>
      </p:sp>
      <p:sp>
        <p:nvSpPr>
          <p:cNvPr id="7" name="Shape 4"/>
          <p:cNvSpPr/>
          <p:nvPr/>
        </p:nvSpPr>
        <p:spPr>
          <a:xfrm>
            <a:off x="3063240" y="109728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8" name="Text 5"/>
          <p:cNvSpPr txBox="1"/>
          <p:nvPr/>
        </p:nvSpPr>
        <p:spPr>
          <a:xfrm>
            <a:off x="3172968" y="109728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endangerd</a:t>
            </a:r>
            <a:endParaRPr lang="en-US" sz="1400" dirty="0"/>
          </a:p>
          <a:p>
            <a:pPr marL="0" indent="0">
              <a:buNone/>
            </a:pPr>
            <a:r>
              <a:rPr lang="en-US" sz="1700" b="1" dirty="0">
                <a:solidFill>
                  <a:schemeClr val="accent1"/>
                </a:solidFill>
              </a:rPr>
              <a:t>✅ endangered</a:t>
            </a:r>
            <a:endParaRPr lang="en-US" sz="1400" dirty="0"/>
          </a:p>
          <a:p>
            <a:pPr marL="0" indent="0">
              <a:buNone/>
            </a:pPr>
            <a:r>
              <a:rPr lang="en-US" sz="1000" b="1" dirty="0">
                <a:solidFill>
                  <a:schemeClr val="tx1"/>
                </a:solidFill>
              </a:rPr>
              <a:t>RENAD</a:t>
            </a:r>
            <a:endParaRPr lang="en-US" sz="1400" dirty="0"/>
          </a:p>
        </p:txBody>
      </p:sp>
      <p:sp>
        <p:nvSpPr>
          <p:cNvPr id="9" name="Shape 6"/>
          <p:cNvSpPr/>
          <p:nvPr/>
        </p:nvSpPr>
        <p:spPr>
          <a:xfrm>
            <a:off x="5577840" y="109728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5687568" y="109728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protetion</a:t>
            </a:r>
            <a:endParaRPr lang="en-US" sz="1400" dirty="0"/>
          </a:p>
          <a:p>
            <a:pPr marL="0" indent="0">
              <a:buNone/>
            </a:pPr>
            <a:r>
              <a:rPr lang="en-US" sz="1700" b="1" dirty="0">
                <a:solidFill>
                  <a:schemeClr val="accent1"/>
                </a:solidFill>
              </a:rPr>
              <a:t>✅ protection</a:t>
            </a:r>
            <a:endParaRPr lang="en-US" sz="1400" dirty="0"/>
          </a:p>
          <a:p>
            <a:pPr marL="0" indent="0">
              <a:buNone/>
            </a:pPr>
            <a:r>
              <a:rPr lang="en-US" sz="1000" b="1" dirty="0">
                <a:solidFill>
                  <a:schemeClr val="tx1"/>
                </a:solidFill>
              </a:rPr>
              <a:t>YASSER</a:t>
            </a:r>
            <a:endParaRPr lang="en-US" sz="1400" dirty="0"/>
          </a:p>
        </p:txBody>
      </p:sp>
      <p:sp>
        <p:nvSpPr>
          <p:cNvPr id="11" name="Shape 8"/>
          <p:cNvSpPr/>
          <p:nvPr/>
        </p:nvSpPr>
        <p:spPr>
          <a:xfrm>
            <a:off x="548640" y="228600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12" name="Text 9"/>
          <p:cNvSpPr txBox="1"/>
          <p:nvPr/>
        </p:nvSpPr>
        <p:spPr>
          <a:xfrm>
            <a:off x="658368" y="228600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tropcil</a:t>
            </a:r>
            <a:endParaRPr lang="en-US" sz="1400" dirty="0"/>
          </a:p>
          <a:p>
            <a:pPr marL="0" indent="0">
              <a:buNone/>
            </a:pPr>
            <a:r>
              <a:rPr lang="en-US" sz="1700" b="1" dirty="0">
                <a:solidFill>
                  <a:schemeClr val="accent1"/>
                </a:solidFill>
              </a:rPr>
              <a:t>✅ tropical</a:t>
            </a:r>
            <a:endParaRPr lang="en-US" sz="1400" dirty="0"/>
          </a:p>
          <a:p>
            <a:pPr marL="0" indent="0">
              <a:buNone/>
            </a:pPr>
            <a:r>
              <a:rPr lang="en-US" sz="1000" b="1" dirty="0">
                <a:solidFill>
                  <a:schemeClr val="tx1"/>
                </a:solidFill>
              </a:rPr>
              <a:t>RENAD</a:t>
            </a:r>
            <a:endParaRPr lang="en-US" sz="1400" dirty="0"/>
          </a:p>
        </p:txBody>
      </p:sp>
      <p:sp>
        <p:nvSpPr>
          <p:cNvPr id="13" name="Shape 10"/>
          <p:cNvSpPr/>
          <p:nvPr/>
        </p:nvSpPr>
        <p:spPr>
          <a:xfrm>
            <a:off x="3063240" y="228600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3172968" y="228600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ocen</a:t>
            </a:r>
            <a:endParaRPr lang="en-US" sz="1400" dirty="0"/>
          </a:p>
          <a:p>
            <a:pPr marL="0" indent="0">
              <a:buNone/>
            </a:pPr>
            <a:r>
              <a:rPr lang="en-US" sz="1700" b="1" dirty="0">
                <a:solidFill>
                  <a:schemeClr val="accent1"/>
                </a:solidFill>
              </a:rPr>
              <a:t>✅ ocean</a:t>
            </a:r>
            <a:endParaRPr lang="en-US" sz="1400" dirty="0"/>
          </a:p>
          <a:p>
            <a:pPr marL="0" indent="0">
              <a:buNone/>
            </a:pPr>
            <a:r>
              <a:rPr lang="en-US" sz="1000" b="1" dirty="0">
                <a:solidFill>
                  <a:schemeClr val="tx1"/>
                </a:solidFill>
              </a:rPr>
              <a:t>RENAD</a:t>
            </a:r>
            <a:endParaRPr lang="en-US" sz="1400" dirty="0"/>
          </a:p>
        </p:txBody>
      </p:sp>
      <p:sp>
        <p:nvSpPr>
          <p:cNvPr id="15" name="Shape 12"/>
          <p:cNvSpPr/>
          <p:nvPr/>
        </p:nvSpPr>
        <p:spPr>
          <a:xfrm>
            <a:off x="5577840" y="228600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16" name="Text 13"/>
          <p:cNvSpPr txBox="1"/>
          <p:nvPr/>
        </p:nvSpPr>
        <p:spPr>
          <a:xfrm>
            <a:off x="5687568" y="228600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wich</a:t>
            </a:r>
            <a:endParaRPr lang="en-US" sz="1400" dirty="0"/>
          </a:p>
          <a:p>
            <a:pPr marL="0" indent="0">
              <a:buNone/>
            </a:pPr>
            <a:r>
              <a:rPr lang="en-US" sz="1700" b="1" dirty="0">
                <a:solidFill>
                  <a:schemeClr val="accent1"/>
                </a:solidFill>
              </a:rPr>
              <a:t>✅ which</a:t>
            </a:r>
            <a:endParaRPr lang="en-US" sz="1400" dirty="0"/>
          </a:p>
          <a:p>
            <a:pPr marL="0" indent="0">
              <a:buNone/>
            </a:pPr>
            <a:r>
              <a:rPr lang="en-US" sz="1000" b="1" dirty="0">
                <a:solidFill>
                  <a:schemeClr val="tx1"/>
                </a:solidFill>
              </a:rPr>
              <a:t>SADEEL</a:t>
            </a:r>
            <a:endParaRPr lang="en-US" sz="1400" dirty="0"/>
          </a:p>
        </p:txBody>
      </p:sp>
      <p:sp>
        <p:nvSpPr>
          <p:cNvPr id="17" name="Shape 14"/>
          <p:cNvSpPr/>
          <p:nvPr/>
        </p:nvSpPr>
        <p:spPr>
          <a:xfrm>
            <a:off x="548640" y="347472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58368" y="347472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wild life</a:t>
            </a:r>
            <a:endParaRPr lang="en-US" sz="1400" dirty="0"/>
          </a:p>
          <a:p>
            <a:pPr marL="0" indent="0">
              <a:buNone/>
            </a:pPr>
            <a:r>
              <a:rPr lang="en-US" sz="1700" b="1" dirty="0">
                <a:solidFill>
                  <a:schemeClr val="accent1"/>
                </a:solidFill>
              </a:rPr>
              <a:t>✅ wildlife</a:t>
            </a:r>
            <a:endParaRPr lang="en-US" sz="1400" dirty="0"/>
          </a:p>
          <a:p>
            <a:pPr marL="0" indent="0">
              <a:buNone/>
            </a:pPr>
            <a:r>
              <a:rPr lang="en-US" sz="1000" b="1" dirty="0">
                <a:solidFill>
                  <a:schemeClr val="tx1"/>
                </a:solidFill>
              </a:rPr>
              <a:t>WASEELA</a:t>
            </a:r>
            <a:endParaRPr lang="en-US" sz="1400" dirty="0"/>
          </a:p>
        </p:txBody>
      </p:sp>
      <p:sp>
        <p:nvSpPr>
          <p:cNvPr id="19" name="Shape 16"/>
          <p:cNvSpPr/>
          <p:nvPr/>
        </p:nvSpPr>
        <p:spPr>
          <a:xfrm>
            <a:off x="3063240" y="347472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3172968" y="347472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loosing</a:t>
            </a:r>
            <a:endParaRPr lang="en-US" sz="1400" dirty="0"/>
          </a:p>
          <a:p>
            <a:pPr marL="0" indent="0">
              <a:buNone/>
            </a:pPr>
            <a:r>
              <a:rPr lang="en-US" sz="1700" b="1" dirty="0">
                <a:solidFill>
                  <a:schemeClr val="accent1"/>
                </a:solidFill>
              </a:rPr>
              <a:t>✅ losing</a:t>
            </a:r>
            <a:endParaRPr lang="en-US" sz="1400" dirty="0"/>
          </a:p>
          <a:p>
            <a:pPr marL="0" indent="0">
              <a:buNone/>
            </a:pPr>
            <a:r>
              <a:rPr lang="en-US" sz="1000" b="1" dirty="0">
                <a:solidFill>
                  <a:schemeClr val="tx1"/>
                </a:solidFill>
              </a:rPr>
              <a:t>AHMED</a:t>
            </a:r>
            <a:endParaRPr lang="en-US" sz="1400" dirty="0"/>
          </a:p>
        </p:txBody>
      </p:sp>
      <p:sp>
        <p:nvSpPr>
          <p:cNvPr id="21" name="Shape 18"/>
          <p:cNvSpPr/>
          <p:nvPr/>
        </p:nvSpPr>
        <p:spPr>
          <a:xfrm>
            <a:off x="5577840" y="347472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22" name="Text 19"/>
          <p:cNvSpPr txBox="1"/>
          <p:nvPr/>
        </p:nvSpPr>
        <p:spPr>
          <a:xfrm>
            <a:off x="5687568" y="347472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there / theire</a:t>
            </a:r>
            <a:endParaRPr lang="en-US" sz="1400" dirty="0"/>
          </a:p>
          <a:p>
            <a:pPr marL="0" indent="0">
              <a:buNone/>
            </a:pPr>
            <a:r>
              <a:rPr lang="en-US" sz="1700" b="1" dirty="0">
                <a:solidFill>
                  <a:schemeClr val="accent1"/>
                </a:solidFill>
              </a:rPr>
              <a:t>✅ their</a:t>
            </a:r>
            <a:endParaRPr lang="en-US" sz="1400" dirty="0"/>
          </a:p>
          <a:p>
            <a:pPr marL="0" indent="0">
              <a:buNone/>
            </a:pPr>
            <a:r>
              <a:rPr lang="en-US" sz="1000" b="1" dirty="0">
                <a:solidFill>
                  <a:schemeClr val="tx1"/>
                </a:solidFill>
              </a:rPr>
              <a:t>MERA</a:t>
            </a:r>
            <a:endParaRPr lang="en-US" sz="1400" dirty="0"/>
          </a:p>
        </p:txBody>
      </p:sp>
      <p:sp>
        <p:nvSpPr>
          <p:cNvPr id="23" name="Shape 20"/>
          <p:cNvSpPr/>
          <p:nvPr/>
        </p:nvSpPr>
        <p:spPr>
          <a:xfrm>
            <a:off x="548640" y="466344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24" name="Text 21"/>
          <p:cNvSpPr txBox="1"/>
          <p:nvPr/>
        </p:nvSpPr>
        <p:spPr>
          <a:xfrm>
            <a:off x="658368" y="466344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mamunal</a:t>
            </a:r>
            <a:endParaRPr lang="en-US" sz="1400" dirty="0"/>
          </a:p>
          <a:p>
            <a:pPr marL="0" indent="0">
              <a:buNone/>
            </a:pPr>
            <a:r>
              <a:rPr lang="en-US" sz="1700" b="1" dirty="0">
                <a:solidFill>
                  <a:schemeClr val="accent1"/>
                </a:solidFill>
              </a:rPr>
              <a:t>✅ mammal</a:t>
            </a:r>
            <a:endParaRPr lang="en-US" sz="1400" dirty="0"/>
          </a:p>
          <a:p>
            <a:pPr marL="0" indent="0">
              <a:buNone/>
            </a:pPr>
            <a:r>
              <a:rPr lang="en-US" sz="1000" b="1" dirty="0">
                <a:solidFill>
                  <a:schemeClr val="tx1"/>
                </a:solidFill>
              </a:rPr>
              <a:t>YASSER</a:t>
            </a:r>
            <a:endParaRPr lang="en-US" sz="1400" dirty="0"/>
          </a:p>
        </p:txBody>
      </p:sp>
      <p:sp>
        <p:nvSpPr>
          <p:cNvPr id="25" name="Shape 22"/>
          <p:cNvSpPr/>
          <p:nvPr/>
        </p:nvSpPr>
        <p:spPr>
          <a:xfrm>
            <a:off x="3063240" y="466344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26" name="Text 23"/>
          <p:cNvSpPr txBox="1"/>
          <p:nvPr/>
        </p:nvSpPr>
        <p:spPr>
          <a:xfrm>
            <a:off x="3172968" y="466344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illegel</a:t>
            </a:r>
            <a:endParaRPr lang="en-US" sz="1400" dirty="0"/>
          </a:p>
          <a:p>
            <a:pPr marL="0" indent="0">
              <a:buNone/>
            </a:pPr>
            <a:r>
              <a:rPr lang="en-US" sz="1700" b="1" dirty="0">
                <a:solidFill>
                  <a:schemeClr val="accent1"/>
                </a:solidFill>
              </a:rPr>
              <a:t>✅ illegal</a:t>
            </a:r>
            <a:endParaRPr lang="en-US" sz="1400" dirty="0"/>
          </a:p>
          <a:p>
            <a:pPr marL="0" indent="0">
              <a:buNone/>
            </a:pPr>
            <a:r>
              <a:rPr lang="en-US" sz="1000" b="1" dirty="0">
                <a:solidFill>
                  <a:schemeClr val="tx1"/>
                </a:solidFill>
              </a:rPr>
              <a:t>RENAD</a:t>
            </a:r>
            <a:endParaRPr lang="en-US" sz="1400" dirty="0"/>
          </a:p>
        </p:txBody>
      </p:sp>
      <p:sp>
        <p:nvSpPr>
          <p:cNvPr id="27" name="Shape 24"/>
          <p:cNvSpPr/>
          <p:nvPr/>
        </p:nvSpPr>
        <p:spPr>
          <a:xfrm>
            <a:off x="5577840" y="4663440"/>
            <a:ext cx="2331720" cy="1005840"/>
          </a:xfrm>
          <a:prstGeom prst="rect">
            <a:avLst/>
          </a:prstGeom>
          <a:solidFill>
            <a:schemeClr val="bg1"/>
          </a:solidFill>
          <a:ln/>
          <a:effectLst>
            <a:outerShdw blurRad="76200" dist="25400" dir="5400000" algn="bl" rotWithShape="0">
              <a:srgbClr val="000000">
                <a:alpha val="12000"/>
              </a:srgbClr>
            </a:outerShdw>
          </a:effectLst>
        </p:spPr>
      </p:sp>
      <p:sp>
        <p:nvSpPr>
          <p:cNvPr id="28" name="Text 25"/>
          <p:cNvSpPr txBox="1"/>
          <p:nvPr/>
        </p:nvSpPr>
        <p:spPr>
          <a:xfrm>
            <a:off x="5687568" y="4663440"/>
            <a:ext cx="2103120" cy="1005840"/>
          </a:xfrm>
          <a:prstGeom prst="rect">
            <a:avLst/>
          </a:prstGeom>
          <a:noFill/>
          <a:ln/>
        </p:spPr>
        <p:txBody>
          <a:bodyPr wrap="square" lIns="0" tIns="0" rIns="0" bIns="0" rtlCol="0" anchor="ctr"/>
          <a:lstStyle/>
          <a:p>
            <a:pPr marL="0" indent="0">
              <a:buNone/>
            </a:pPr>
            <a:r>
              <a:rPr lang="en-US" sz="1400" dirty="0">
                <a:solidFill>
                  <a:schemeClr val="accent3"/>
                </a:solidFill>
              </a:rPr>
              <a:t>❌ afew</a:t>
            </a:r>
            <a:endParaRPr lang="en-US" sz="1400" dirty="0"/>
          </a:p>
          <a:p>
            <a:pPr marL="0" indent="0">
              <a:buNone/>
            </a:pPr>
            <a:r>
              <a:rPr lang="en-US" sz="1700" b="1" dirty="0">
                <a:solidFill>
                  <a:schemeClr val="accent1"/>
                </a:solidFill>
              </a:rPr>
              <a:t>✅ a few</a:t>
            </a:r>
            <a:endParaRPr lang="en-US" sz="1400" dirty="0"/>
          </a:p>
          <a:p>
            <a:pPr marL="0" indent="0">
              <a:buNone/>
            </a:pPr>
            <a:r>
              <a:rPr lang="en-US" sz="1000" b="1" dirty="0">
                <a:solidFill>
                  <a:schemeClr val="tx1"/>
                </a:solidFill>
              </a:rPr>
              <a:t>MERA</a:t>
            </a:r>
            <a:endParaRPr lang="en-US" sz="1400" dirty="0"/>
          </a:p>
        </p:txBody>
      </p:sp>
      <p:sp>
        <p:nvSpPr>
          <p:cNvPr id="29" name="Card CAPITALS AND SPACES"/>
          <p:cNvSpPr/>
          <p:nvPr/>
        </p:nvSpPr>
        <p:spPr>
          <a:xfrm>
            <a:off x="8183880" y="1097280"/>
            <a:ext cx="3474720" cy="4572000"/>
          </a:xfrm>
          <a:prstGeom prst="rect">
            <a:avLst/>
          </a:prstGeom>
          <a:solidFill>
            <a:schemeClr val="bg1"/>
          </a:solidFill>
          <a:ln/>
          <a:effectLst>
            <a:outerShdw blurRad="76200" dist="25400" dir="5400000" algn="bl" rotWithShape="0">
              <a:srgbClr val="000000">
                <a:alpha val="12000"/>
              </a:srgbClr>
            </a:outerShdw>
          </a:effectLst>
        </p:spPr>
      </p:sp>
      <p:sp>
        <p:nvSpPr>
          <p:cNvPr id="30" name="Shape 27"/>
          <p:cNvSpPr/>
          <p:nvPr/>
        </p:nvSpPr>
        <p:spPr>
          <a:xfrm>
            <a:off x="8183880" y="1097280"/>
            <a:ext cx="3474720" cy="502920"/>
          </a:xfrm>
          <a:prstGeom prst="rect">
            <a:avLst/>
          </a:prstGeom>
          <a:solidFill>
            <a:schemeClr val="tx1"/>
          </a:solidFill>
          <a:ln/>
        </p:spPr>
      </p:sp>
      <p:sp>
        <p:nvSpPr>
          <p:cNvPr id="31" name="Text 28"/>
          <p:cNvSpPr txBox="1"/>
          <p:nvPr/>
        </p:nvSpPr>
        <p:spPr>
          <a:xfrm>
            <a:off x="8311896" y="1097280"/>
            <a:ext cx="3291840" cy="502920"/>
          </a:xfrm>
          <a:prstGeom prst="rect">
            <a:avLst/>
          </a:prstGeom>
          <a:noFill/>
          <a:ln/>
        </p:spPr>
        <p:txBody>
          <a:bodyPr wrap="square" lIns="0" tIns="0" rIns="0" bIns="0" rtlCol="0" anchor="ctr"/>
          <a:lstStyle/>
          <a:p>
            <a:pPr marL="0" indent="0">
              <a:buNone/>
            </a:pPr>
            <a:r>
              <a:rPr lang="en-US" sz="1500" b="1" dirty="0">
                <a:solidFill>
                  <a:schemeClr val="bg1"/>
                </a:solidFill>
              </a:rPr>
              <a:t>CAPITALS AND SPACES</a:t>
            </a:r>
            <a:endParaRPr lang="en-US" sz="1500" dirty="0"/>
          </a:p>
        </p:txBody>
      </p:sp>
      <p:sp>
        <p:nvSpPr>
          <p:cNvPr id="32" name="Text 29"/>
          <p:cNvSpPr txBox="1"/>
          <p:nvPr/>
        </p:nvSpPr>
        <p:spPr>
          <a:xfrm>
            <a:off x="8293608" y="1673352"/>
            <a:ext cx="3255264" cy="3922776"/>
          </a:xfrm>
          <a:prstGeom prst="rect">
            <a:avLst/>
          </a:prstGeom>
          <a:noFill/>
          <a:ln/>
        </p:spPr>
        <p:txBody>
          <a:bodyPr wrap="square" lIns="508" tIns="508" rIns="508" bIns="508" rtlCol="0" anchor="t"/>
          <a:lstStyle/>
          <a:p>
            <a:pPr marL="342900" indent="-342900" algn="l">
              <a:spcAft>
                <a:spcPts val="900"/>
              </a:spcAft>
              <a:buSzPct val="100000"/>
              <a:buChar char="•"/>
            </a:pPr>
            <a:r>
              <a:rPr lang="en-US" sz="1600" dirty="0">
                <a:solidFill>
                  <a:schemeClr val="tx1"/>
                </a:solidFill>
              </a:rPr>
              <a:t>Amur leopard, northern China, Earth (Ahmed, Yassin)</a:t>
            </a:r>
            <a:endParaRPr lang="en-US" sz="1600" dirty="0"/>
          </a:p>
          <a:p>
            <a:pPr marL="342900" indent="-342900" algn="l">
              <a:spcAft>
                <a:spcPts val="900"/>
              </a:spcAft>
              <a:buSzPct val="100000"/>
              <a:buChar char="•"/>
            </a:pPr>
            <a:r>
              <a:rPr lang="en-US" sz="1600" dirty="0">
                <a:solidFill>
                  <a:schemeClr val="tx1"/>
                </a:solidFill>
              </a:rPr>
              <a:t>Start every sentence with a capital</a:t>
            </a:r>
            <a:endParaRPr lang="en-US" sz="1600" dirty="0"/>
          </a:p>
          <a:p>
            <a:pPr marL="342900" indent="-342900" algn="l">
              <a:spcAft>
                <a:spcPts val="900"/>
              </a:spcAft>
              <a:buSzPct val="100000"/>
              <a:buChar char="•"/>
            </a:pPr>
            <a:r>
              <a:rPr lang="en-US" sz="1600" dirty="0">
                <a:solidFill>
                  <a:schemeClr val="tx1"/>
                </a:solidFill>
              </a:rPr>
              <a:t>No capital in the middle: because, illegal (Mostafa, Waseela)</a:t>
            </a:r>
            <a:endParaRPr lang="en-US" sz="1600" dirty="0"/>
          </a:p>
          <a:p>
            <a:pPr marL="342900" indent="-342900" algn="l">
              <a:spcAft>
                <a:spcPts val="900"/>
              </a:spcAft>
              <a:buSzPct val="100000"/>
              <a:buChar char="•"/>
            </a:pPr>
            <a:r>
              <a:rPr lang="en-US" sz="1600" dirty="0">
                <a:solidFill>
                  <a:schemeClr val="tx1"/>
                </a:solidFill>
              </a:rPr>
              <a:t>A finger-space between words (Sadeel)</a:t>
            </a:r>
            <a:endParaRPr lang="en-US" sz="1600" dirty="0"/>
          </a:p>
          <a:p>
            <a:pPr marL="342900" indent="-342900" algn="l">
              <a:spcAft>
                <a:spcPts val="900"/>
              </a:spcAft>
              <a:buSzPct val="100000"/>
              <a:buChar char="•"/>
            </a:pPr>
            <a:r>
              <a:rPr lang="en-US" sz="1600" dirty="0">
                <a:solidFill>
                  <a:schemeClr val="tx1"/>
                </a:solidFill>
              </a:rPr>
              <a:t>Write on top of the line (Renad, Mera)</a:t>
            </a:r>
            <a:endParaRPr lang="en-US" sz="1600" dirty="0"/>
          </a:p>
        </p:txBody>
      </p:sp>
      <p:sp>
        <p:nvSpPr>
          <p:cNvPr id="33" name="Text 30"/>
          <p:cNvSpPr txBox="1"/>
          <p:nvPr/>
        </p:nvSpPr>
        <p:spPr>
          <a:xfrm>
            <a:off x="548640" y="5989320"/>
            <a:ext cx="11094415" cy="502920"/>
          </a:xfrm>
          <a:prstGeom prst="rect">
            <a:avLst/>
          </a:prstGeom>
          <a:solidFill>
            <a:schemeClr val="tx1"/>
          </a:solidFill>
          <a:ln/>
        </p:spPr>
        <p:txBody>
          <a:bodyPr wrap="square" lIns="1270" tIns="1270" rIns="1270" bIns="1270" rtlCol="0" anchor="ctr"/>
          <a:lstStyle/>
          <a:p>
            <a:pPr marL="0" indent="0" algn="ctr">
              <a:buNone/>
            </a:pPr>
            <a:r>
              <a:rPr lang="en-US" sz="1600" b="1" dirty="0">
                <a:solidFill>
                  <a:schemeClr val="bg1"/>
                </a:solidFill>
              </a:rPr>
              <a:t>Copy topic words carefully from a reliable source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it fast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PRACTISE</a:t>
            </a:r>
            <a:endParaRPr lang="en-US" sz="1100" dirty="0"/>
          </a:p>
        </p:txBody>
      </p:sp>
      <p:sp>
        <p:nvSpPr>
          <p:cNvPr id="5" name="Shape 2"/>
          <p:cNvSpPr/>
          <p:nvPr/>
        </p:nvSpPr>
        <p:spPr>
          <a:xfrm>
            <a:off x="548640" y="114300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3716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600200" y="1143000"/>
            <a:ext cx="8412480" cy="1005840"/>
          </a:xfrm>
          <a:prstGeom prst="rect">
            <a:avLst/>
          </a:prstGeom>
          <a:noFill/>
          <a:ln/>
        </p:spPr>
        <p:txBody>
          <a:bodyPr wrap="square" lIns="0" tIns="0" rIns="0" bIns="0" rtlCol="0" anchor="ctr"/>
          <a:lstStyle/>
          <a:p>
            <a:pPr marL="0" indent="0">
              <a:buNone/>
            </a:pPr>
            <a:r>
              <a:rPr lang="en-US" sz="2100" dirty="0">
                <a:solidFill>
                  <a:schemeClr val="tx1"/>
                </a:solidFill>
              </a:rPr>
              <a:t>The sea turtles is in danger Because people throw plastic.</a:t>
            </a:r>
            <a:endParaRPr lang="en-US" sz="2100" dirty="0"/>
          </a:p>
        </p:txBody>
      </p:sp>
      <p:sp>
        <p:nvSpPr>
          <p:cNvPr id="8" name="Text 5"/>
          <p:cNvSpPr txBox="1"/>
          <p:nvPr/>
        </p:nvSpPr>
        <p:spPr>
          <a:xfrm>
            <a:off x="9966960" y="114300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Mostafa</a:t>
            </a:r>
            <a:endParaRPr lang="en-US" sz="1400" dirty="0"/>
          </a:p>
        </p:txBody>
      </p:sp>
      <p:sp>
        <p:nvSpPr>
          <p:cNvPr id="9" name="Shape 6"/>
          <p:cNvSpPr/>
          <p:nvPr/>
        </p:nvSpPr>
        <p:spPr>
          <a:xfrm>
            <a:off x="548640" y="233172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77240" y="256032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600200" y="2331720"/>
            <a:ext cx="8412480" cy="1005840"/>
          </a:xfrm>
          <a:prstGeom prst="rect">
            <a:avLst/>
          </a:prstGeom>
          <a:noFill/>
          <a:ln/>
        </p:spPr>
        <p:txBody>
          <a:bodyPr wrap="square" lIns="0" tIns="0" rIns="0" bIns="0" rtlCol="0" anchor="ctr"/>
          <a:lstStyle/>
          <a:p>
            <a:pPr marL="0" indent="0">
              <a:buNone/>
            </a:pPr>
            <a:r>
              <a:rPr lang="en-US" sz="2100" dirty="0">
                <a:solidFill>
                  <a:schemeClr val="tx1"/>
                </a:solidFill>
              </a:rPr>
              <a:t>We shouldn’t threw plastic because the Sea turtle eat it and die.</a:t>
            </a:r>
            <a:endParaRPr lang="en-US" sz="2100" dirty="0"/>
          </a:p>
        </p:txBody>
      </p:sp>
      <p:sp>
        <p:nvSpPr>
          <p:cNvPr id="12" name="Text 9"/>
          <p:cNvSpPr txBox="1"/>
          <p:nvPr/>
        </p:nvSpPr>
        <p:spPr>
          <a:xfrm>
            <a:off x="9966960" y="233172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Mostafa</a:t>
            </a:r>
            <a:endParaRPr lang="en-US" sz="1400" dirty="0"/>
          </a:p>
        </p:txBody>
      </p:sp>
      <p:sp>
        <p:nvSpPr>
          <p:cNvPr id="13" name="Shape 10"/>
          <p:cNvSpPr/>
          <p:nvPr/>
        </p:nvSpPr>
        <p:spPr>
          <a:xfrm>
            <a:off x="548640" y="352044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777240" y="374904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600200" y="3520440"/>
            <a:ext cx="8412480" cy="1005840"/>
          </a:xfrm>
          <a:prstGeom prst="rect">
            <a:avLst/>
          </a:prstGeom>
          <a:noFill/>
          <a:ln/>
        </p:spPr>
        <p:txBody>
          <a:bodyPr wrap="square" lIns="0" tIns="0" rIns="0" bIns="0" rtlCol="0" anchor="ctr"/>
          <a:lstStyle/>
          <a:p>
            <a:pPr marL="0" indent="0">
              <a:buNone/>
            </a:pPr>
            <a:r>
              <a:rPr lang="en-US" sz="2100" dirty="0">
                <a:solidFill>
                  <a:schemeClr val="tx1"/>
                </a:solidFill>
              </a:rPr>
              <a:t>unfortunately the Amur Leopard is under danger by poaching</a:t>
            </a:r>
            <a:endParaRPr lang="en-US" sz="2100" dirty="0"/>
          </a:p>
        </p:txBody>
      </p:sp>
      <p:sp>
        <p:nvSpPr>
          <p:cNvPr id="16" name="Text 13"/>
          <p:cNvSpPr txBox="1"/>
          <p:nvPr/>
        </p:nvSpPr>
        <p:spPr>
          <a:xfrm>
            <a:off x="9966960" y="352044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Ahmed</a:t>
            </a:r>
            <a:endParaRPr lang="en-US" sz="1400" dirty="0"/>
          </a:p>
        </p:txBody>
      </p:sp>
      <p:sp>
        <p:nvSpPr>
          <p:cNvPr id="17" name="Shape 14"/>
          <p:cNvSpPr/>
          <p:nvPr/>
        </p:nvSpPr>
        <p:spPr>
          <a:xfrm>
            <a:off x="548640" y="470916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777240" y="49377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1600200" y="4709160"/>
            <a:ext cx="8412480" cy="1005840"/>
          </a:xfrm>
          <a:prstGeom prst="rect">
            <a:avLst/>
          </a:prstGeom>
          <a:noFill/>
          <a:ln/>
        </p:spPr>
        <p:txBody>
          <a:bodyPr wrap="square" lIns="0" tIns="0" rIns="0" bIns="0" rtlCol="0" anchor="ctr"/>
          <a:lstStyle/>
          <a:p>
            <a:pPr marL="0" indent="0">
              <a:buNone/>
            </a:pPr>
            <a:r>
              <a:rPr lang="en-US" sz="2100" dirty="0">
                <a:solidFill>
                  <a:schemeClr val="tx1"/>
                </a:solidFill>
              </a:rPr>
              <a:t>the green seaturtel is an endangerd creater that lives in warm tropcil seas</a:t>
            </a:r>
            <a:endParaRPr lang="en-US" sz="2100" dirty="0"/>
          </a:p>
        </p:txBody>
      </p:sp>
      <p:sp>
        <p:nvSpPr>
          <p:cNvPr id="20" name="Text 17"/>
          <p:cNvSpPr txBox="1"/>
          <p:nvPr/>
        </p:nvSpPr>
        <p:spPr>
          <a:xfrm>
            <a:off x="9966960" y="470916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Renad</a:t>
            </a:r>
            <a:endParaRPr lang="en-US" sz="1400" dirty="0"/>
          </a:p>
        </p:txBody>
      </p:sp>
      <p:sp>
        <p:nvSpPr>
          <p:cNvPr id="21" name="Text 18"/>
          <p:cNvSpPr txBox="1"/>
          <p:nvPr/>
        </p:nvSpPr>
        <p:spPr>
          <a:xfrm>
            <a:off x="548640" y="594360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Write the corrected sentence on your whiteboard</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 it fast: answers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ANSWER</a:t>
            </a:r>
            <a:endParaRPr lang="en-US" sz="1100" dirty="0"/>
          </a:p>
        </p:txBody>
      </p:sp>
      <p:sp>
        <p:nvSpPr>
          <p:cNvPr id="5" name="Shape 2"/>
          <p:cNvSpPr/>
          <p:nvPr/>
        </p:nvSpPr>
        <p:spPr>
          <a:xfrm>
            <a:off x="548640" y="114300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3716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600200" y="1143000"/>
            <a:ext cx="8412480" cy="1005840"/>
          </a:xfrm>
          <a:prstGeom prst="rect">
            <a:avLst/>
          </a:prstGeom>
          <a:noFill/>
          <a:ln/>
        </p:spPr>
        <p:txBody>
          <a:bodyPr wrap="square" lIns="0" tIns="0" rIns="0" bIns="0" rtlCol="0" anchor="ctr"/>
          <a:lstStyle/>
          <a:p>
            <a:pPr marL="0" indent="0">
              <a:buNone/>
            </a:pPr>
            <a:r>
              <a:rPr lang="en-US" sz="2000" b="1" dirty="0">
                <a:solidFill>
                  <a:schemeClr val="tx1"/>
                </a:solidFill>
              </a:rPr>
              <a:t>Sea turtles are in danger because people throw plastic.</a:t>
            </a:r>
            <a:endParaRPr lang="en-US" sz="2000" dirty="0"/>
          </a:p>
          <a:p>
            <a:pPr marL="0" indent="0">
              <a:buNone/>
            </a:pPr>
            <a:r>
              <a:rPr lang="en-US" sz="1600" i="1" dirty="0">
                <a:solidFill>
                  <a:schemeClr val="accent1"/>
                </a:solidFill>
              </a:rPr>
              <a:t>verbs agree; no capital for because</a:t>
            </a:r>
            <a:endParaRPr lang="en-US" sz="2000" dirty="0"/>
          </a:p>
        </p:txBody>
      </p:sp>
      <p:sp>
        <p:nvSpPr>
          <p:cNvPr id="8" name="Text 5"/>
          <p:cNvSpPr txBox="1"/>
          <p:nvPr/>
        </p:nvSpPr>
        <p:spPr>
          <a:xfrm>
            <a:off x="9966960" y="114300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Mostafa</a:t>
            </a:r>
            <a:endParaRPr lang="en-US" sz="1400" dirty="0"/>
          </a:p>
        </p:txBody>
      </p:sp>
      <p:sp>
        <p:nvSpPr>
          <p:cNvPr id="9" name="Shape 6"/>
          <p:cNvSpPr/>
          <p:nvPr/>
        </p:nvSpPr>
        <p:spPr>
          <a:xfrm>
            <a:off x="548640" y="233172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77240" y="256032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600200" y="2331720"/>
            <a:ext cx="8412480" cy="1005840"/>
          </a:xfrm>
          <a:prstGeom prst="rect">
            <a:avLst/>
          </a:prstGeom>
          <a:noFill/>
          <a:ln/>
        </p:spPr>
        <p:txBody>
          <a:bodyPr wrap="square" lIns="0" tIns="0" rIns="0" bIns="0" rtlCol="0" anchor="ctr"/>
          <a:lstStyle/>
          <a:p>
            <a:pPr marL="0" indent="0">
              <a:buNone/>
            </a:pPr>
            <a:r>
              <a:rPr lang="en-US" sz="2000" b="1" dirty="0">
                <a:solidFill>
                  <a:schemeClr val="tx1"/>
                </a:solidFill>
              </a:rPr>
              <a:t>We should not throw plastic because sea turtles eat it and die.</a:t>
            </a:r>
            <a:endParaRPr lang="en-US" sz="2000" dirty="0"/>
          </a:p>
          <a:p>
            <a:pPr marL="0" indent="0">
              <a:buNone/>
            </a:pPr>
            <a:r>
              <a:rPr lang="en-US" sz="1600" i="1" dirty="0">
                <a:solidFill>
                  <a:schemeClr val="accent1"/>
                </a:solidFill>
              </a:rPr>
              <a:t>should not + base verb; plural turtles + verb</a:t>
            </a:r>
            <a:endParaRPr lang="en-US" sz="2000" dirty="0"/>
          </a:p>
        </p:txBody>
      </p:sp>
      <p:sp>
        <p:nvSpPr>
          <p:cNvPr id="12" name="Text 9"/>
          <p:cNvSpPr txBox="1"/>
          <p:nvPr/>
        </p:nvSpPr>
        <p:spPr>
          <a:xfrm>
            <a:off x="9966960" y="233172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Mostafa</a:t>
            </a:r>
            <a:endParaRPr lang="en-US" sz="1400" dirty="0"/>
          </a:p>
        </p:txBody>
      </p:sp>
      <p:sp>
        <p:nvSpPr>
          <p:cNvPr id="13" name="Shape 10"/>
          <p:cNvSpPr/>
          <p:nvPr/>
        </p:nvSpPr>
        <p:spPr>
          <a:xfrm>
            <a:off x="548640" y="352044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777240" y="374904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600200" y="3520440"/>
            <a:ext cx="8412480" cy="1005840"/>
          </a:xfrm>
          <a:prstGeom prst="rect">
            <a:avLst/>
          </a:prstGeom>
          <a:noFill/>
          <a:ln/>
        </p:spPr>
        <p:txBody>
          <a:bodyPr wrap="square" lIns="0" tIns="0" rIns="0" bIns="0" rtlCol="0" anchor="ctr"/>
          <a:lstStyle/>
          <a:p>
            <a:pPr marL="0" indent="0">
              <a:buNone/>
            </a:pPr>
            <a:r>
              <a:rPr lang="en-US" sz="2000" b="1" dirty="0">
                <a:solidFill>
                  <a:schemeClr val="tx1"/>
                </a:solidFill>
              </a:rPr>
              <a:t>Unfortunately, the Amur leopard is in danger because of poaching.</a:t>
            </a:r>
            <a:endParaRPr lang="en-US" sz="2000" dirty="0"/>
          </a:p>
          <a:p>
            <a:pPr marL="0" indent="0">
              <a:buNone/>
            </a:pPr>
            <a:r>
              <a:rPr lang="en-US" sz="1600" i="1" dirty="0">
                <a:solidFill>
                  <a:schemeClr val="accent1"/>
                </a:solidFill>
              </a:rPr>
              <a:t>capital letter; comma; Amur leopard; in danger because of</a:t>
            </a:r>
            <a:endParaRPr lang="en-US" sz="2000" dirty="0"/>
          </a:p>
        </p:txBody>
      </p:sp>
      <p:sp>
        <p:nvSpPr>
          <p:cNvPr id="16" name="Text 13"/>
          <p:cNvSpPr txBox="1"/>
          <p:nvPr/>
        </p:nvSpPr>
        <p:spPr>
          <a:xfrm>
            <a:off x="9966960" y="352044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Ahmed</a:t>
            </a:r>
            <a:endParaRPr lang="en-US" sz="1400" dirty="0"/>
          </a:p>
        </p:txBody>
      </p:sp>
      <p:sp>
        <p:nvSpPr>
          <p:cNvPr id="17" name="Shape 14"/>
          <p:cNvSpPr/>
          <p:nvPr/>
        </p:nvSpPr>
        <p:spPr>
          <a:xfrm>
            <a:off x="548640" y="470916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777240" y="49377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1600200" y="4709160"/>
            <a:ext cx="8412480" cy="1005840"/>
          </a:xfrm>
          <a:prstGeom prst="rect">
            <a:avLst/>
          </a:prstGeom>
          <a:noFill/>
          <a:ln/>
        </p:spPr>
        <p:txBody>
          <a:bodyPr wrap="square" lIns="0" tIns="0" rIns="0" bIns="0" rtlCol="0" anchor="ctr"/>
          <a:lstStyle/>
          <a:p>
            <a:pPr marL="0" indent="0">
              <a:buNone/>
            </a:pPr>
            <a:r>
              <a:rPr lang="en-US" sz="2000" b="1" dirty="0">
                <a:solidFill>
                  <a:schemeClr val="tx1"/>
                </a:solidFill>
              </a:rPr>
              <a:t>The green sea turtle is an endangered creature that lives in warm tropical seas.</a:t>
            </a:r>
            <a:endParaRPr lang="en-US" sz="2000" dirty="0"/>
          </a:p>
          <a:p>
            <a:pPr marL="0" indent="0">
              <a:buNone/>
            </a:pPr>
            <a:r>
              <a:rPr lang="en-US" sz="1600" i="1" dirty="0">
                <a:solidFill>
                  <a:schemeClr val="accent1"/>
                </a:solidFill>
              </a:rPr>
              <a:t>capitals; spell the topic words correctly</a:t>
            </a:r>
            <a:endParaRPr lang="en-US" sz="2000" dirty="0"/>
          </a:p>
        </p:txBody>
      </p:sp>
      <p:sp>
        <p:nvSpPr>
          <p:cNvPr id="20" name="Text 17"/>
          <p:cNvSpPr txBox="1"/>
          <p:nvPr/>
        </p:nvSpPr>
        <p:spPr>
          <a:xfrm>
            <a:off x="9966960" y="4709160"/>
            <a:ext cx="1554480" cy="1005840"/>
          </a:xfrm>
          <a:prstGeom prst="rect">
            <a:avLst/>
          </a:prstGeom>
          <a:noFill/>
          <a:ln/>
        </p:spPr>
        <p:txBody>
          <a:bodyPr wrap="square" lIns="0" tIns="0" rIns="0" bIns="0" rtlCol="0" anchor="ctr"/>
          <a:lstStyle/>
          <a:p>
            <a:pPr marL="0" indent="0" algn="r">
              <a:buNone/>
            </a:pPr>
            <a:r>
              <a:rPr lang="en-US" sz="1400" b="1" dirty="0">
                <a:solidFill>
                  <a:schemeClr val="accent3"/>
                </a:solidFill>
              </a:rPr>
              <a:t>Renad</a:t>
            </a:r>
            <a:endParaRPr lang="en-US" sz="1400" dirty="0"/>
          </a:p>
        </p:txBody>
      </p:sp>
      <p:sp>
        <p:nvSpPr>
          <p:cNvPr id="21" name="Text 18"/>
          <p:cNvSpPr txBox="1"/>
          <p:nvPr/>
        </p:nvSpPr>
        <p:spPr>
          <a:xfrm>
            <a:off x="548640" y="594360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Now find the same problems in your own draft</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Your next targets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TARGETS</a:t>
            </a:r>
            <a:endParaRPr lang="en-US" sz="1100" dirty="0"/>
          </a:p>
        </p:txBody>
      </p:sp>
      <p:sp>
        <p:nvSpPr>
          <p:cNvPr id="5" name="Shape 2"/>
          <p:cNvSpPr/>
          <p:nvPr/>
        </p:nvSpPr>
        <p:spPr>
          <a:xfrm>
            <a:off x="548640" y="1097280"/>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685800" y="1097280"/>
            <a:ext cx="5166360" cy="850392"/>
          </a:xfrm>
          <a:prstGeom prst="rect">
            <a:avLst/>
          </a:prstGeom>
          <a:noFill/>
          <a:ln/>
        </p:spPr>
        <p:txBody>
          <a:bodyPr wrap="square" lIns="0" tIns="0" rIns="0" bIns="0" rtlCol="0" anchor="ctr"/>
          <a:lstStyle/>
          <a:p>
            <a:pPr marL="0" indent="0">
              <a:buNone/>
            </a:pPr>
            <a:r>
              <a:rPr lang="en-US" sz="1400" b="1" dirty="0">
                <a:solidFill>
                  <a:schemeClr val="accent1"/>
                </a:solidFill>
              </a:rPr>
              <a:t>MERA</a:t>
            </a:r>
            <a:r>
              <a:rPr lang="en-US" sz="1200" i="1" dirty="0">
                <a:solidFill>
                  <a:schemeClr val="tx1"/>
                </a:solidFill>
              </a:rPr>
              <a:t>  ·  West African lions</a:t>
            </a:r>
            <a:endParaRPr lang="en-US" sz="1400" dirty="0"/>
          </a:p>
          <a:p>
            <a:pPr marL="0" indent="0">
              <a:buNone/>
            </a:pPr>
            <a:r>
              <a:rPr lang="en-US" sz="1400" dirty="0">
                <a:solidFill>
                  <a:schemeClr val="tx1"/>
                </a:solidFill>
              </a:rPr>
              <a:t>Complete every section, especially the Ending, and match each threat to one way of protecting the lions.</a:t>
            </a:r>
            <a:endParaRPr lang="en-US" sz="1400" dirty="0"/>
          </a:p>
        </p:txBody>
      </p:sp>
      <p:sp>
        <p:nvSpPr>
          <p:cNvPr id="7" name="Shape 4"/>
          <p:cNvSpPr/>
          <p:nvPr/>
        </p:nvSpPr>
        <p:spPr>
          <a:xfrm>
            <a:off x="6217920" y="1097280"/>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8" name="Text 5"/>
          <p:cNvSpPr txBox="1"/>
          <p:nvPr/>
        </p:nvSpPr>
        <p:spPr>
          <a:xfrm>
            <a:off x="6355080" y="1097280"/>
            <a:ext cx="5166360" cy="850392"/>
          </a:xfrm>
          <a:prstGeom prst="rect">
            <a:avLst/>
          </a:prstGeom>
          <a:noFill/>
          <a:ln/>
        </p:spPr>
        <p:txBody>
          <a:bodyPr wrap="square" lIns="0" tIns="0" rIns="0" bIns="0" rtlCol="0" anchor="ctr"/>
          <a:lstStyle/>
          <a:p>
            <a:pPr marL="0" indent="0">
              <a:buNone/>
            </a:pPr>
            <a:r>
              <a:rPr lang="en-US" sz="1400" b="1" dirty="0">
                <a:solidFill>
                  <a:schemeClr val="accent1"/>
                </a:solidFill>
              </a:rPr>
              <a:t>MOSTAFA</a:t>
            </a:r>
            <a:r>
              <a:rPr lang="en-US" sz="1200" i="1" dirty="0">
                <a:solidFill>
                  <a:schemeClr val="tx1"/>
                </a:solidFill>
              </a:rPr>
              <a:t>  ·  Sea turtle</a:t>
            </a:r>
            <a:endParaRPr lang="en-US" sz="1400" dirty="0"/>
          </a:p>
          <a:p>
            <a:pPr marL="0" indent="0">
              <a:buNone/>
            </a:pPr>
            <a:r>
              <a:rPr lang="en-US" sz="1400" dirty="0">
                <a:solidFill>
                  <a:schemeClr val="tx1"/>
                </a:solidFill>
              </a:rPr>
              <a:t>Use the five headings, and make every verb match its subject (turtles are, they have).</a:t>
            </a:r>
            <a:endParaRPr lang="en-US" sz="1400" dirty="0"/>
          </a:p>
        </p:txBody>
      </p:sp>
      <p:sp>
        <p:nvSpPr>
          <p:cNvPr id="9" name="Shape 6"/>
          <p:cNvSpPr/>
          <p:nvPr/>
        </p:nvSpPr>
        <p:spPr>
          <a:xfrm>
            <a:off x="548640" y="2039112"/>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685800" y="2039112"/>
            <a:ext cx="5166360" cy="850392"/>
          </a:xfrm>
          <a:prstGeom prst="rect">
            <a:avLst/>
          </a:prstGeom>
          <a:noFill/>
          <a:ln/>
        </p:spPr>
        <p:txBody>
          <a:bodyPr wrap="square" lIns="0" tIns="0" rIns="0" bIns="0" rtlCol="0" anchor="ctr"/>
          <a:lstStyle/>
          <a:p>
            <a:pPr marL="0" indent="0">
              <a:buNone/>
            </a:pPr>
            <a:r>
              <a:rPr lang="en-US" sz="1400" b="1" dirty="0">
                <a:solidFill>
                  <a:schemeClr val="accent3"/>
                </a:solidFill>
              </a:rPr>
              <a:t>WASEELA</a:t>
            </a:r>
            <a:r>
              <a:rPr lang="en-US" sz="1200" i="1" dirty="0">
                <a:solidFill>
                  <a:schemeClr val="tx1"/>
                </a:solidFill>
              </a:rPr>
              <a:t>  ·  Cheetahs</a:t>
            </a:r>
            <a:endParaRPr lang="en-US" sz="1400" dirty="0"/>
          </a:p>
          <a:p>
            <a:pPr marL="0" indent="0">
              <a:buNone/>
            </a:pPr>
            <a:r>
              <a:rPr lang="en-US" sz="1400" dirty="0">
                <a:solidFill>
                  <a:schemeClr val="tx1"/>
                </a:solidFill>
              </a:rPr>
              <a:t>Label all five sections, add the Ending, and use they + plural verb consistently.</a:t>
            </a:r>
            <a:endParaRPr lang="en-US" sz="1400" dirty="0"/>
          </a:p>
        </p:txBody>
      </p:sp>
      <p:sp>
        <p:nvSpPr>
          <p:cNvPr id="11" name="Shape 8"/>
          <p:cNvSpPr/>
          <p:nvPr/>
        </p:nvSpPr>
        <p:spPr>
          <a:xfrm>
            <a:off x="6217920" y="2039112"/>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12" name="Text 9"/>
          <p:cNvSpPr txBox="1"/>
          <p:nvPr/>
        </p:nvSpPr>
        <p:spPr>
          <a:xfrm>
            <a:off x="6355080" y="2039112"/>
            <a:ext cx="5166360" cy="850392"/>
          </a:xfrm>
          <a:prstGeom prst="rect">
            <a:avLst/>
          </a:prstGeom>
          <a:noFill/>
          <a:ln/>
        </p:spPr>
        <p:txBody>
          <a:bodyPr wrap="square" lIns="0" tIns="0" rIns="0" bIns="0" rtlCol="0" anchor="ctr"/>
          <a:lstStyle/>
          <a:p>
            <a:pPr marL="0" indent="0">
              <a:buNone/>
            </a:pPr>
            <a:r>
              <a:rPr lang="en-US" sz="1400" b="1" dirty="0">
                <a:solidFill>
                  <a:schemeClr val="accent3"/>
                </a:solidFill>
              </a:rPr>
              <a:t>HUSSEIN</a:t>
            </a:r>
            <a:r>
              <a:rPr lang="en-US" sz="1200" i="1" dirty="0">
                <a:solidFill>
                  <a:schemeClr val="tx1"/>
                </a:solidFill>
              </a:rPr>
              <a:t>  ·  Sea turtles</a:t>
            </a:r>
            <a:endParaRPr lang="en-US" sz="1400" dirty="0"/>
          </a:p>
          <a:p>
            <a:pPr marL="0" indent="0">
              <a:buNone/>
            </a:pPr>
            <a:r>
              <a:rPr lang="en-US" sz="1400" dirty="0">
                <a:solidFill>
                  <a:schemeClr val="tx1"/>
                </a:solidFill>
              </a:rPr>
              <a:t>Add a title and headings for all five sections, and explain each threat in one short phrase.</a:t>
            </a:r>
            <a:endParaRPr lang="en-US" sz="1400" dirty="0"/>
          </a:p>
        </p:txBody>
      </p:sp>
      <p:sp>
        <p:nvSpPr>
          <p:cNvPr id="13" name="Shape 10"/>
          <p:cNvSpPr/>
          <p:nvPr/>
        </p:nvSpPr>
        <p:spPr>
          <a:xfrm>
            <a:off x="548640" y="2980944"/>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685800" y="2980944"/>
            <a:ext cx="5166360" cy="850392"/>
          </a:xfrm>
          <a:prstGeom prst="rect">
            <a:avLst/>
          </a:prstGeom>
          <a:noFill/>
          <a:ln/>
        </p:spPr>
        <p:txBody>
          <a:bodyPr wrap="square" lIns="0" tIns="0" rIns="0" bIns="0" rtlCol="0" anchor="ctr"/>
          <a:lstStyle/>
          <a:p>
            <a:pPr marL="0" indent="0">
              <a:buNone/>
            </a:pPr>
            <a:r>
              <a:rPr lang="en-US" sz="1400" b="1" dirty="0">
                <a:solidFill>
                  <a:schemeClr val="tx1"/>
                </a:solidFill>
              </a:rPr>
              <a:t>ROFIDA</a:t>
            </a:r>
            <a:r>
              <a:rPr lang="en-US" sz="1200" i="1" dirty="0">
                <a:solidFill>
                  <a:schemeClr val="tx1"/>
                </a:solidFill>
              </a:rPr>
              <a:t>  ·  Crocodile</a:t>
            </a:r>
            <a:endParaRPr lang="en-US" sz="1400" dirty="0"/>
          </a:p>
          <a:p>
            <a:pPr marL="0" indent="0">
              <a:buNone/>
            </a:pPr>
            <a:r>
              <a:rPr lang="en-US" sz="1400" dirty="0">
                <a:solidFill>
                  <a:schemeClr val="tx1"/>
                </a:solidFill>
              </a:rPr>
              <a:t>Make every threat and fact specific and checked, and say why the creature is important in the introduction.</a:t>
            </a:r>
            <a:endParaRPr lang="en-US" sz="1400" dirty="0"/>
          </a:p>
        </p:txBody>
      </p:sp>
      <p:sp>
        <p:nvSpPr>
          <p:cNvPr id="15" name="Shape 12"/>
          <p:cNvSpPr/>
          <p:nvPr/>
        </p:nvSpPr>
        <p:spPr>
          <a:xfrm>
            <a:off x="6217920" y="2980944"/>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16" name="Text 13"/>
          <p:cNvSpPr txBox="1"/>
          <p:nvPr/>
        </p:nvSpPr>
        <p:spPr>
          <a:xfrm>
            <a:off x="6355080" y="2980944"/>
            <a:ext cx="5166360" cy="850392"/>
          </a:xfrm>
          <a:prstGeom prst="rect">
            <a:avLst/>
          </a:prstGeom>
          <a:noFill/>
          <a:ln/>
        </p:spPr>
        <p:txBody>
          <a:bodyPr wrap="square" lIns="0" tIns="0" rIns="0" bIns="0" rtlCol="0" anchor="ctr"/>
          <a:lstStyle/>
          <a:p>
            <a:pPr marL="0" indent="0">
              <a:buNone/>
            </a:pPr>
            <a:r>
              <a:rPr lang="en-US" sz="1400" b="1" dirty="0">
                <a:solidFill>
                  <a:schemeClr val="tx1"/>
                </a:solidFill>
              </a:rPr>
              <a:t>SADEEL</a:t>
            </a:r>
            <a:r>
              <a:rPr lang="en-US" sz="1200" i="1" dirty="0">
                <a:solidFill>
                  <a:schemeClr val="tx1"/>
                </a:solidFill>
              </a:rPr>
              <a:t>  ·  Green sea turtle</a:t>
            </a:r>
            <a:endParaRPr lang="en-US" sz="1400" dirty="0"/>
          </a:p>
          <a:p>
            <a:pPr marL="0" indent="0">
              <a:buNone/>
            </a:pPr>
            <a:r>
              <a:rPr lang="en-US" sz="1400" dirty="0">
                <a:solidFill>
                  <a:schemeClr val="tx1"/>
                </a:solidFill>
              </a:rPr>
              <a:t>Add the five headings, remove repeated facts, and match each threat with one way to protect the turtle.</a:t>
            </a:r>
            <a:endParaRPr lang="en-US" sz="1400" dirty="0"/>
          </a:p>
        </p:txBody>
      </p:sp>
      <p:sp>
        <p:nvSpPr>
          <p:cNvPr id="17" name="Shape 14"/>
          <p:cNvSpPr/>
          <p:nvPr/>
        </p:nvSpPr>
        <p:spPr>
          <a:xfrm>
            <a:off x="548640" y="3922776"/>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685800" y="3922776"/>
            <a:ext cx="5166360" cy="850392"/>
          </a:xfrm>
          <a:prstGeom prst="rect">
            <a:avLst/>
          </a:prstGeom>
          <a:noFill/>
          <a:ln/>
        </p:spPr>
        <p:txBody>
          <a:bodyPr wrap="square" lIns="0" tIns="0" rIns="0" bIns="0" rtlCol="0" anchor="ctr"/>
          <a:lstStyle/>
          <a:p>
            <a:pPr marL="0" indent="0">
              <a:buNone/>
            </a:pPr>
            <a:r>
              <a:rPr lang="en-US" sz="1400" b="1" dirty="0">
                <a:solidFill>
                  <a:schemeClr val="accent1"/>
                </a:solidFill>
              </a:rPr>
              <a:t>YASSER</a:t>
            </a:r>
            <a:r>
              <a:rPr lang="en-US" sz="1200" i="1" dirty="0">
                <a:solidFill>
                  <a:schemeClr val="tx1"/>
                </a:solidFill>
              </a:rPr>
              <a:t>  ·  Blue whale</a:t>
            </a:r>
            <a:endParaRPr lang="en-US" sz="1400" dirty="0"/>
          </a:p>
          <a:p>
            <a:pPr marL="0" indent="0">
              <a:buNone/>
            </a:pPr>
            <a:r>
              <a:rPr lang="en-US" sz="1400" dirty="0">
                <a:solidFill>
                  <a:schemeClr val="tx1"/>
                </a:solidFill>
              </a:rPr>
              <a:t>Use a title and five headings, and put each bullet under the right heading with no repeats.</a:t>
            </a:r>
            <a:endParaRPr lang="en-US" sz="1400" dirty="0"/>
          </a:p>
        </p:txBody>
      </p:sp>
      <p:sp>
        <p:nvSpPr>
          <p:cNvPr id="19" name="Shape 16"/>
          <p:cNvSpPr/>
          <p:nvPr/>
        </p:nvSpPr>
        <p:spPr>
          <a:xfrm>
            <a:off x="6217920" y="3922776"/>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20" name="Text 17"/>
          <p:cNvSpPr txBox="1"/>
          <p:nvPr/>
        </p:nvSpPr>
        <p:spPr>
          <a:xfrm>
            <a:off x="6355080" y="3922776"/>
            <a:ext cx="5166360" cy="850392"/>
          </a:xfrm>
          <a:prstGeom prst="rect">
            <a:avLst/>
          </a:prstGeom>
          <a:noFill/>
          <a:ln/>
        </p:spPr>
        <p:txBody>
          <a:bodyPr wrap="square" lIns="0" tIns="0" rIns="0" bIns="0" rtlCol="0" anchor="ctr"/>
          <a:lstStyle/>
          <a:p>
            <a:pPr marL="0" indent="0">
              <a:buNone/>
            </a:pPr>
            <a:r>
              <a:rPr lang="en-US" sz="1400" b="1" dirty="0">
                <a:solidFill>
                  <a:schemeClr val="accent1"/>
                </a:solidFill>
              </a:rPr>
              <a:t>RENAD</a:t>
            </a:r>
            <a:r>
              <a:rPr lang="en-US" sz="1200" i="1" dirty="0">
                <a:solidFill>
                  <a:schemeClr val="tx1"/>
                </a:solidFill>
              </a:rPr>
              <a:t>  ·  Green sea turtle</a:t>
            </a:r>
            <a:endParaRPr lang="en-US" sz="1400" dirty="0"/>
          </a:p>
          <a:p>
            <a:pPr marL="0" indent="0">
              <a:buNone/>
            </a:pPr>
            <a:r>
              <a:rPr lang="en-US" sz="1400" dirty="0">
                <a:solidFill>
                  <a:schemeClr val="tx1"/>
                </a:solidFill>
              </a:rPr>
              <a:t>Use five headings with short notes under each, and write an ending that says why the turtle matters.</a:t>
            </a:r>
            <a:endParaRPr lang="en-US" sz="1400" dirty="0"/>
          </a:p>
        </p:txBody>
      </p:sp>
      <p:sp>
        <p:nvSpPr>
          <p:cNvPr id="21" name="Shape 18"/>
          <p:cNvSpPr/>
          <p:nvPr/>
        </p:nvSpPr>
        <p:spPr>
          <a:xfrm>
            <a:off x="548640" y="4864608"/>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22" name="Text 19"/>
          <p:cNvSpPr txBox="1"/>
          <p:nvPr/>
        </p:nvSpPr>
        <p:spPr>
          <a:xfrm>
            <a:off x="685800" y="4864608"/>
            <a:ext cx="5166360" cy="850392"/>
          </a:xfrm>
          <a:prstGeom prst="rect">
            <a:avLst/>
          </a:prstGeom>
          <a:noFill/>
          <a:ln/>
        </p:spPr>
        <p:txBody>
          <a:bodyPr wrap="square" lIns="0" tIns="0" rIns="0" bIns="0" rtlCol="0" anchor="ctr"/>
          <a:lstStyle/>
          <a:p>
            <a:pPr marL="0" indent="0">
              <a:buNone/>
            </a:pPr>
            <a:r>
              <a:rPr lang="en-US" sz="1400" b="1" dirty="0">
                <a:solidFill>
                  <a:schemeClr val="accent3"/>
                </a:solidFill>
              </a:rPr>
              <a:t>YASSIN</a:t>
            </a:r>
            <a:r>
              <a:rPr lang="en-US" sz="1200" i="1" dirty="0">
                <a:solidFill>
                  <a:schemeClr val="tx1"/>
                </a:solidFill>
              </a:rPr>
              <a:t>  ·  Blue whale</a:t>
            </a:r>
            <a:endParaRPr lang="en-US" sz="1400" dirty="0"/>
          </a:p>
          <a:p>
            <a:pPr marL="0" indent="0">
              <a:buNone/>
            </a:pPr>
            <a:r>
              <a:rPr lang="en-US" sz="1400" dirty="0">
                <a:solidFill>
                  <a:schemeClr val="tx1"/>
                </a:solidFill>
              </a:rPr>
              <a:t>Explain how and why in your notes, and match every threat with a protection.</a:t>
            </a:r>
            <a:endParaRPr lang="en-US" sz="1400" dirty="0"/>
          </a:p>
        </p:txBody>
      </p:sp>
      <p:sp>
        <p:nvSpPr>
          <p:cNvPr id="23" name="Shape 20"/>
          <p:cNvSpPr/>
          <p:nvPr/>
        </p:nvSpPr>
        <p:spPr>
          <a:xfrm>
            <a:off x="6217920" y="4864608"/>
            <a:ext cx="5440680" cy="850392"/>
          </a:xfrm>
          <a:prstGeom prst="rect">
            <a:avLst/>
          </a:prstGeom>
          <a:solidFill>
            <a:schemeClr val="bg1"/>
          </a:solidFill>
          <a:ln/>
          <a:effectLst>
            <a:outerShdw blurRad="76200" dist="25400" dir="5400000" algn="bl" rotWithShape="0">
              <a:srgbClr val="000000">
                <a:alpha val="12000"/>
              </a:srgbClr>
            </a:outerShdw>
          </a:effectLst>
        </p:spPr>
      </p:sp>
      <p:sp>
        <p:nvSpPr>
          <p:cNvPr id="24" name="Text 21"/>
          <p:cNvSpPr txBox="1"/>
          <p:nvPr/>
        </p:nvSpPr>
        <p:spPr>
          <a:xfrm>
            <a:off x="6355080" y="4864608"/>
            <a:ext cx="5166360" cy="850392"/>
          </a:xfrm>
          <a:prstGeom prst="rect">
            <a:avLst/>
          </a:prstGeom>
          <a:noFill/>
          <a:ln/>
        </p:spPr>
        <p:txBody>
          <a:bodyPr wrap="square" lIns="0" tIns="0" rIns="0" bIns="0" rtlCol="0" anchor="ctr"/>
          <a:lstStyle/>
          <a:p>
            <a:pPr marL="0" indent="0">
              <a:buNone/>
            </a:pPr>
            <a:r>
              <a:rPr lang="en-US" sz="1400" b="1" dirty="0">
                <a:solidFill>
                  <a:schemeClr val="accent3"/>
                </a:solidFill>
              </a:rPr>
              <a:t>AHMED</a:t>
            </a:r>
            <a:r>
              <a:rPr lang="en-US" sz="1200" i="1" dirty="0">
                <a:solidFill>
                  <a:schemeClr val="tx1"/>
                </a:solidFill>
              </a:rPr>
              <a:t>  ·  Amur leopard</a:t>
            </a:r>
            <a:endParaRPr lang="en-US" sz="1400" dirty="0"/>
          </a:p>
          <a:p>
            <a:pPr marL="0" indent="0">
              <a:buNone/>
            </a:pPr>
            <a:r>
              <a:rPr lang="en-US" sz="1400" dirty="0">
                <a:solidFill>
                  <a:schemeClr val="tx1"/>
                </a:solidFill>
              </a:rPr>
              <a:t>Add an Introduction, an About heading and an Ending, and explain each threat and protection.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Check your draft: criteria and targets</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SELF-CHECK</a:t>
            </a:r>
            <a:endParaRPr lang="en-US" sz="1100" dirty="0"/>
          </a:p>
        </p:txBody>
      </p:sp>
      <p:sp>
        <p:nvSpPr>
          <p:cNvPr id="5" name="Card SUCCESS CRITERIA: MY DRAFT…"/>
          <p:cNvSpPr/>
          <p:nvPr/>
        </p:nvSpPr>
        <p:spPr>
          <a:xfrm>
            <a:off x="548640" y="1097280"/>
            <a:ext cx="5577840" cy="448056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097280"/>
            <a:ext cx="5577840" cy="502920"/>
          </a:xfrm>
          <a:prstGeom prst="rect">
            <a:avLst/>
          </a:prstGeom>
          <a:solidFill>
            <a:schemeClr val="accent1"/>
          </a:solidFill>
          <a:ln/>
        </p:spPr>
      </p:sp>
      <p:sp>
        <p:nvSpPr>
          <p:cNvPr id="7" name="Text 4"/>
          <p:cNvSpPr txBox="1"/>
          <p:nvPr/>
        </p:nvSpPr>
        <p:spPr>
          <a:xfrm>
            <a:off x="676656" y="1097280"/>
            <a:ext cx="5394960" cy="502920"/>
          </a:xfrm>
          <a:prstGeom prst="rect">
            <a:avLst/>
          </a:prstGeom>
          <a:noFill/>
          <a:ln/>
        </p:spPr>
        <p:txBody>
          <a:bodyPr wrap="square" lIns="0" tIns="0" rIns="0" bIns="0" rtlCol="0" anchor="ctr"/>
          <a:lstStyle/>
          <a:p>
            <a:pPr marL="0" indent="0">
              <a:buNone/>
            </a:pPr>
            <a:r>
              <a:rPr lang="en-US" sz="1500" b="1" dirty="0">
                <a:solidFill>
                  <a:schemeClr val="bg1"/>
                </a:solidFill>
              </a:rPr>
              <a:t>SUCCESS CRITERIA: MY DRAFT…</a:t>
            </a:r>
            <a:endParaRPr lang="en-US" sz="1500" dirty="0"/>
          </a:p>
        </p:txBody>
      </p:sp>
      <p:sp>
        <p:nvSpPr>
          <p:cNvPr id="8" name="Text 5"/>
          <p:cNvSpPr txBox="1"/>
          <p:nvPr/>
        </p:nvSpPr>
        <p:spPr>
          <a:xfrm>
            <a:off x="658368" y="1673352"/>
            <a:ext cx="5358384" cy="3831336"/>
          </a:xfrm>
          <a:prstGeom prst="rect">
            <a:avLst/>
          </a:prstGeom>
          <a:noFill/>
          <a:ln/>
        </p:spPr>
        <p:txBody>
          <a:bodyPr wrap="square" lIns="508" tIns="508" rIns="508" bIns="508" rtlCol="0" anchor="t"/>
          <a:lstStyle/>
          <a:p>
            <a:pPr marL="0" indent="0" algn="l">
              <a:spcAft>
                <a:spcPts val="800"/>
              </a:spcAft>
              <a:buNone/>
            </a:pPr>
            <a:r>
              <a:rPr lang="en-US" sz="2000" dirty="0">
                <a:solidFill>
                  <a:schemeClr val="tx1"/>
                </a:solidFill>
              </a:rPr>
              <a:t>☐  has a title and an introduction</a:t>
            </a:r>
            <a:endParaRPr lang="en-US" sz="2000" dirty="0"/>
          </a:p>
          <a:p>
            <a:pPr marL="0" indent="0" algn="l">
              <a:spcAft>
                <a:spcPts val="800"/>
              </a:spcAft>
              <a:buNone/>
            </a:pPr>
            <a:r>
              <a:rPr lang="en-US" sz="2000" dirty="0">
                <a:solidFill>
                  <a:schemeClr val="tx1"/>
                </a:solidFill>
              </a:rPr>
              <a:t>☐  has a paragraph for each section</a:t>
            </a:r>
            <a:endParaRPr lang="en-US" sz="2000" dirty="0"/>
          </a:p>
          <a:p>
            <a:pPr marL="0" indent="0" algn="l">
              <a:spcAft>
                <a:spcPts val="800"/>
              </a:spcAft>
              <a:buNone/>
            </a:pPr>
            <a:r>
              <a:rPr lang="en-US" sz="2000" dirty="0">
                <a:solidFill>
                  <a:schemeClr val="tx1"/>
                </a:solidFill>
              </a:rPr>
              <a:t>☐  follows my plan in a logical order</a:t>
            </a:r>
            <a:endParaRPr lang="en-US" sz="2000" dirty="0"/>
          </a:p>
          <a:p>
            <a:pPr marL="0" indent="0" algn="l">
              <a:spcAft>
                <a:spcPts val="800"/>
              </a:spcAft>
              <a:buNone/>
            </a:pPr>
            <a:r>
              <a:rPr lang="en-US" sz="2000" dirty="0">
                <a:solidFill>
                  <a:schemeClr val="tx1"/>
                </a:solidFill>
              </a:rPr>
              <a:t>☐  uses present tense and third person</a:t>
            </a:r>
            <a:endParaRPr lang="en-US" sz="2000" dirty="0"/>
          </a:p>
          <a:p>
            <a:pPr marL="0" indent="0" algn="l">
              <a:spcAft>
                <a:spcPts val="800"/>
              </a:spcAft>
              <a:buNone/>
            </a:pPr>
            <a:r>
              <a:rPr lang="en-US" sz="2000" dirty="0">
                <a:solidFill>
                  <a:schemeClr val="tx1"/>
                </a:solidFill>
              </a:rPr>
              <a:t>☐  includes a relative clause</a:t>
            </a:r>
            <a:endParaRPr lang="en-US" sz="2000" dirty="0"/>
          </a:p>
          <a:p>
            <a:pPr marL="0" indent="0" algn="l">
              <a:spcAft>
                <a:spcPts val="800"/>
              </a:spcAft>
              <a:buNone/>
            </a:pPr>
            <a:r>
              <a:rPr lang="en-US" sz="2000" dirty="0">
                <a:solidFill>
                  <a:schemeClr val="tx1"/>
                </a:solidFill>
              </a:rPr>
              <a:t>☐  uses connectors to join ideas</a:t>
            </a:r>
            <a:endParaRPr lang="en-US" sz="2000" dirty="0"/>
          </a:p>
          <a:p>
            <a:pPr marL="0" indent="0" algn="l">
              <a:spcAft>
                <a:spcPts val="800"/>
              </a:spcAft>
              <a:buNone/>
            </a:pPr>
            <a:r>
              <a:rPr lang="en-US" sz="2000" dirty="0">
                <a:solidFill>
                  <a:schemeClr val="tx1"/>
                </a:solidFill>
              </a:rPr>
              <a:t>☐  avoids repeating information</a:t>
            </a:r>
            <a:endParaRPr lang="en-US" sz="2000" dirty="0"/>
          </a:p>
          <a:p>
            <a:pPr marL="0" indent="0" algn="l">
              <a:spcAft>
                <a:spcPts val="800"/>
              </a:spcAft>
              <a:buNone/>
            </a:pPr>
            <a:r>
              <a:rPr lang="en-US" sz="2000" dirty="0">
                <a:solidFill>
                  <a:schemeClr val="tx1"/>
                </a:solidFill>
              </a:rPr>
              <a:t>☐  uses precise vocabulary</a:t>
            </a:r>
            <a:endParaRPr lang="en-US" sz="2000" dirty="0"/>
          </a:p>
        </p:txBody>
      </p:sp>
      <p:sp>
        <p:nvSpPr>
          <p:cNvPr id="9" name="Card CLASS TARGETS: MY DRAFT…"/>
          <p:cNvSpPr/>
          <p:nvPr/>
        </p:nvSpPr>
        <p:spPr>
          <a:xfrm>
            <a:off x="6355080" y="1097280"/>
            <a:ext cx="5303520" cy="448056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6355080" y="1097280"/>
            <a:ext cx="5303520" cy="502920"/>
          </a:xfrm>
          <a:prstGeom prst="rect">
            <a:avLst/>
          </a:prstGeom>
          <a:solidFill>
            <a:schemeClr val="accent3"/>
          </a:solidFill>
          <a:ln/>
        </p:spPr>
      </p:sp>
      <p:sp>
        <p:nvSpPr>
          <p:cNvPr id="11" name="Text 8"/>
          <p:cNvSpPr txBox="1"/>
          <p:nvPr/>
        </p:nvSpPr>
        <p:spPr>
          <a:xfrm>
            <a:off x="6483096" y="1097280"/>
            <a:ext cx="5120640" cy="502920"/>
          </a:xfrm>
          <a:prstGeom prst="rect">
            <a:avLst/>
          </a:prstGeom>
          <a:noFill/>
          <a:ln/>
        </p:spPr>
        <p:txBody>
          <a:bodyPr wrap="square" lIns="0" tIns="0" rIns="0" bIns="0" rtlCol="0" anchor="ctr"/>
          <a:lstStyle/>
          <a:p>
            <a:pPr marL="0" indent="0">
              <a:buNone/>
            </a:pPr>
            <a:r>
              <a:rPr lang="en-US" sz="1500" b="1" dirty="0">
                <a:solidFill>
                  <a:schemeClr val="bg1"/>
                </a:solidFill>
              </a:rPr>
              <a:t>CLASS TARGETS: MY DRAFT…</a:t>
            </a:r>
            <a:endParaRPr lang="en-US" sz="1500" dirty="0"/>
          </a:p>
        </p:txBody>
      </p:sp>
      <p:sp>
        <p:nvSpPr>
          <p:cNvPr id="12" name="Text 9"/>
          <p:cNvSpPr txBox="1"/>
          <p:nvPr/>
        </p:nvSpPr>
        <p:spPr>
          <a:xfrm>
            <a:off x="6464808" y="1673352"/>
            <a:ext cx="5084064" cy="3831336"/>
          </a:xfrm>
          <a:prstGeom prst="rect">
            <a:avLst/>
          </a:prstGeom>
          <a:noFill/>
          <a:ln/>
        </p:spPr>
        <p:txBody>
          <a:bodyPr wrap="square" lIns="508" tIns="508" rIns="508" bIns="508" rtlCol="0" anchor="t"/>
          <a:lstStyle/>
          <a:p>
            <a:pPr marL="0" indent="0" algn="l">
              <a:spcAft>
                <a:spcPts val="1000"/>
              </a:spcAft>
              <a:buNone/>
            </a:pPr>
            <a:r>
              <a:rPr lang="en-US" sz="2000" dirty="0">
                <a:solidFill>
                  <a:schemeClr val="tx1"/>
                </a:solidFill>
              </a:rPr>
              <a:t>☐  says WHY in the introduction</a:t>
            </a:r>
            <a:endParaRPr lang="en-US" sz="2000" dirty="0"/>
          </a:p>
          <a:p>
            <a:pPr marL="0" indent="0" algn="l">
              <a:spcAft>
                <a:spcPts val="1000"/>
              </a:spcAft>
              <a:buNone/>
            </a:pPr>
            <a:r>
              <a:rPr lang="en-US" sz="2000" dirty="0">
                <a:solidFill>
                  <a:schemeClr val="tx1"/>
                </a:solidFill>
              </a:rPr>
              <a:t>☐  has an ending: Protecting… matters because…</a:t>
            </a:r>
            <a:endParaRPr lang="en-US" sz="2000" dirty="0"/>
          </a:p>
          <a:p>
            <a:pPr marL="0" indent="0" algn="l">
              <a:spcAft>
                <a:spcPts val="1000"/>
              </a:spcAft>
              <a:buNone/>
            </a:pPr>
            <a:r>
              <a:rPr lang="en-US" sz="2000" dirty="0">
                <a:solidFill>
                  <a:schemeClr val="tx1"/>
                </a:solidFill>
              </a:rPr>
              <a:t>☐  matches every threat with a protection</a:t>
            </a:r>
            <a:endParaRPr lang="en-US" sz="2000" dirty="0"/>
          </a:p>
          <a:p>
            <a:pPr marL="0" indent="0" algn="l">
              <a:spcAft>
                <a:spcPts val="1000"/>
              </a:spcAft>
              <a:buNone/>
            </a:pPr>
            <a:r>
              <a:rPr lang="en-US" sz="2000" dirty="0">
                <a:solidFill>
                  <a:schemeClr val="tx1"/>
                </a:solidFill>
              </a:rPr>
              <a:t>☐  has verbs that agree: they live, they have</a:t>
            </a:r>
            <a:endParaRPr lang="en-US" sz="2000" dirty="0"/>
          </a:p>
          <a:p>
            <a:pPr marL="0" indent="0" algn="l">
              <a:spcAft>
                <a:spcPts val="1000"/>
              </a:spcAft>
              <a:buNone/>
            </a:pPr>
            <a:r>
              <a:rPr lang="en-US" sz="2000" dirty="0">
                <a:solidFill>
                  <a:schemeClr val="tx1"/>
                </a:solidFill>
              </a:rPr>
              <a:t>☐  puts commas around which…</a:t>
            </a:r>
            <a:endParaRPr lang="en-US" sz="2000" dirty="0"/>
          </a:p>
          <a:p>
            <a:pPr marL="0" indent="0" algn="l">
              <a:spcAft>
                <a:spcPts val="1000"/>
              </a:spcAft>
              <a:buNone/>
            </a:pPr>
            <a:r>
              <a:rPr lang="en-US" sz="2000" dirty="0">
                <a:solidFill>
                  <a:schemeClr val="tx1"/>
                </a:solidFill>
              </a:rPr>
              <a:t>☐  has checked spelling, capitals and spaces</a:t>
            </a:r>
            <a:endParaRPr lang="en-US" sz="2000" dirty="0"/>
          </a:p>
        </p:txBody>
      </p:sp>
      <p:sp>
        <p:nvSpPr>
          <p:cNvPr id="13" name="Text 10"/>
          <p:cNvSpPr txBox="1"/>
          <p:nvPr/>
        </p:nvSpPr>
        <p:spPr>
          <a:xfrm>
            <a:off x="548640" y="5806440"/>
            <a:ext cx="11094415" cy="548640"/>
          </a:xfrm>
          <a:prstGeom prst="rect">
            <a:avLst/>
          </a:prstGeom>
          <a:solidFill>
            <a:schemeClr val="tx1"/>
          </a:solidFill>
          <a:ln/>
        </p:spPr>
        <p:txBody>
          <a:bodyPr wrap="square" lIns="1270" tIns="1270" rIns="1270" bIns="1270" rtlCol="0" anchor="ctr"/>
          <a:lstStyle/>
          <a:p>
            <a:pPr marL="0" indent="0" algn="ctr">
              <a:buNone/>
            </a:pPr>
            <a:r>
              <a:rPr lang="en-US" sz="1700" dirty="0">
                <a:solidFill>
                  <a:schemeClr val="bg1"/>
                </a:solidFill>
              </a:rPr>
              <a:t>✅ I have done it     ⚠️ I am not sure     ❌ Not yet</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Step 1: check your own draft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SELF-CHECK</a:t>
            </a:r>
            <a:endParaRPr lang="en-US" sz="1100" dirty="0"/>
          </a:p>
        </p:txBody>
      </p:sp>
      <p:sp>
        <p:nvSpPr>
          <p:cNvPr id="5" name="Shape 2"/>
          <p:cNvSpPr/>
          <p:nvPr/>
        </p:nvSpPr>
        <p:spPr>
          <a:xfrm>
            <a:off x="548640" y="114300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6" name="Text 3"/>
          <p:cNvSpPr txBox="1"/>
          <p:nvPr/>
        </p:nvSpPr>
        <p:spPr>
          <a:xfrm>
            <a:off x="777240" y="1325880"/>
            <a:ext cx="640080" cy="64008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645920" y="1143000"/>
            <a:ext cx="1737360" cy="1005840"/>
          </a:xfrm>
          <a:prstGeom prst="rect">
            <a:avLst/>
          </a:prstGeom>
          <a:noFill/>
          <a:ln/>
        </p:spPr>
        <p:txBody>
          <a:bodyPr wrap="square" lIns="0" tIns="0" rIns="0" bIns="0" rtlCol="0" anchor="ctr"/>
          <a:lstStyle/>
          <a:p>
            <a:pPr marL="0" indent="0">
              <a:buNone/>
            </a:pPr>
            <a:r>
              <a:rPr lang="en-US" sz="2000" b="1" dirty="0">
                <a:solidFill>
                  <a:schemeClr val="accent1"/>
                </a:solidFill>
                <a:latin typeface="+mj-lt" pitchFamily="34" charset="0"/>
                <a:ea typeface="+mj-lt" pitchFamily="34" charset="-122"/>
                <a:cs typeface="+mj-lt" pitchFamily="34" charset="-120"/>
              </a:rPr>
              <a:t>READ</a:t>
            </a:r>
            <a:endParaRPr lang="en-US" sz="2000" dirty="0"/>
          </a:p>
        </p:txBody>
      </p:sp>
      <p:sp>
        <p:nvSpPr>
          <p:cNvPr id="8" name="Text 5"/>
          <p:cNvSpPr txBox="1"/>
          <p:nvPr/>
        </p:nvSpPr>
        <p:spPr>
          <a:xfrm>
            <a:off x="3474720" y="1143000"/>
            <a:ext cx="8046720" cy="1005840"/>
          </a:xfrm>
          <a:prstGeom prst="rect">
            <a:avLst/>
          </a:prstGeom>
          <a:noFill/>
          <a:ln/>
        </p:spPr>
        <p:txBody>
          <a:bodyPr wrap="square" lIns="0" tIns="0" rIns="0" bIns="0" rtlCol="0" anchor="ctr"/>
          <a:lstStyle/>
          <a:p>
            <a:pPr marL="0" indent="0">
              <a:buNone/>
            </a:pPr>
            <a:r>
              <a:rPr lang="en-US" sz="2100" dirty="0">
                <a:solidFill>
                  <a:schemeClr val="tx1"/>
                </a:solidFill>
              </a:rPr>
              <a:t>Read your whole draft quietly. Does it make sense? Touch each word.</a:t>
            </a:r>
            <a:endParaRPr lang="en-US" sz="2100" dirty="0"/>
          </a:p>
        </p:txBody>
      </p:sp>
      <p:sp>
        <p:nvSpPr>
          <p:cNvPr id="9" name="Shape 6"/>
          <p:cNvSpPr/>
          <p:nvPr/>
        </p:nvSpPr>
        <p:spPr>
          <a:xfrm>
            <a:off x="548640" y="228600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0" name="Text 7"/>
          <p:cNvSpPr txBox="1"/>
          <p:nvPr/>
        </p:nvSpPr>
        <p:spPr>
          <a:xfrm>
            <a:off x="777240" y="2468880"/>
            <a:ext cx="640080" cy="640080"/>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645920" y="2286000"/>
            <a:ext cx="1737360" cy="1005840"/>
          </a:xfrm>
          <a:prstGeom prst="rect">
            <a:avLst/>
          </a:prstGeom>
          <a:noFill/>
          <a:ln/>
        </p:spPr>
        <p:txBody>
          <a:bodyPr wrap="square" lIns="0" tIns="0" rIns="0" bIns="0" rtlCol="0" anchor="ctr"/>
          <a:lstStyle/>
          <a:p>
            <a:pPr marL="0" indent="0">
              <a:buNone/>
            </a:pPr>
            <a:r>
              <a:rPr lang="en-US" sz="2000" b="1" dirty="0">
                <a:solidFill>
                  <a:schemeClr val="accent3"/>
                </a:solidFill>
                <a:latin typeface="+mj-lt" pitchFamily="34" charset="0"/>
                <a:ea typeface="+mj-lt" pitchFamily="34" charset="-122"/>
                <a:cs typeface="+mj-lt" pitchFamily="34" charset="-120"/>
              </a:rPr>
              <a:t>MARK</a:t>
            </a:r>
            <a:endParaRPr lang="en-US" sz="2000" dirty="0"/>
          </a:p>
        </p:txBody>
      </p:sp>
      <p:sp>
        <p:nvSpPr>
          <p:cNvPr id="12" name="Text 9"/>
          <p:cNvSpPr txBox="1"/>
          <p:nvPr/>
        </p:nvSpPr>
        <p:spPr>
          <a:xfrm>
            <a:off x="3474720" y="2286000"/>
            <a:ext cx="8046720" cy="1005840"/>
          </a:xfrm>
          <a:prstGeom prst="rect">
            <a:avLst/>
          </a:prstGeom>
          <a:noFill/>
          <a:ln/>
        </p:spPr>
        <p:txBody>
          <a:bodyPr wrap="square" lIns="0" tIns="0" rIns="0" bIns="0" rtlCol="0" anchor="ctr"/>
          <a:lstStyle/>
          <a:p>
            <a:pPr marL="0" indent="0">
              <a:buNone/>
            </a:pPr>
            <a:r>
              <a:rPr lang="en-US" sz="2100" dirty="0">
                <a:solidFill>
                  <a:schemeClr val="tx1"/>
                </a:solidFill>
              </a:rPr>
              <a:t>Underline each topic sentence. Highlight your relative clause. Circle your connectors.</a:t>
            </a:r>
            <a:endParaRPr lang="en-US" sz="2100" dirty="0"/>
          </a:p>
        </p:txBody>
      </p:sp>
      <p:sp>
        <p:nvSpPr>
          <p:cNvPr id="13" name="Shape 10"/>
          <p:cNvSpPr/>
          <p:nvPr/>
        </p:nvSpPr>
        <p:spPr>
          <a:xfrm>
            <a:off x="548640" y="342900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4" name="Text 11"/>
          <p:cNvSpPr txBox="1"/>
          <p:nvPr/>
        </p:nvSpPr>
        <p:spPr>
          <a:xfrm>
            <a:off x="777240" y="3611880"/>
            <a:ext cx="640080" cy="640080"/>
          </a:xfrm>
          <a:prstGeom prst="ellipse">
            <a:avLst/>
          </a:prstGeom>
          <a:solidFill>
            <a:schemeClr val="accent3"/>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645920" y="3429000"/>
            <a:ext cx="1737360" cy="1005840"/>
          </a:xfrm>
          <a:prstGeom prst="rect">
            <a:avLst/>
          </a:prstGeom>
          <a:noFill/>
          <a:ln/>
        </p:spPr>
        <p:txBody>
          <a:bodyPr wrap="square" lIns="0" tIns="0" rIns="0" bIns="0" rtlCol="0" anchor="ctr"/>
          <a:lstStyle/>
          <a:p>
            <a:pPr marL="0" indent="0">
              <a:buNone/>
            </a:pPr>
            <a:r>
              <a:rPr lang="en-US" sz="2000" b="1" dirty="0">
                <a:solidFill>
                  <a:schemeClr val="accent3"/>
                </a:solidFill>
                <a:latin typeface="+mj-lt" pitchFamily="34" charset="0"/>
                <a:ea typeface="+mj-lt" pitchFamily="34" charset="-122"/>
                <a:cs typeface="+mj-lt" pitchFamily="34" charset="-120"/>
              </a:rPr>
              <a:t>TICK</a:t>
            </a:r>
            <a:endParaRPr lang="en-US" sz="2000" dirty="0"/>
          </a:p>
        </p:txBody>
      </p:sp>
      <p:sp>
        <p:nvSpPr>
          <p:cNvPr id="16" name="Text 13"/>
          <p:cNvSpPr txBox="1"/>
          <p:nvPr/>
        </p:nvSpPr>
        <p:spPr>
          <a:xfrm>
            <a:off x="3474720" y="3429000"/>
            <a:ext cx="8046720" cy="1005840"/>
          </a:xfrm>
          <a:prstGeom prst="rect">
            <a:avLst/>
          </a:prstGeom>
          <a:noFill/>
          <a:ln/>
        </p:spPr>
        <p:txBody>
          <a:bodyPr wrap="square" lIns="0" tIns="0" rIns="0" bIns="0" rtlCol="0" anchor="ctr"/>
          <a:lstStyle/>
          <a:p>
            <a:pPr marL="0" indent="0">
              <a:buNone/>
            </a:pPr>
            <a:r>
              <a:rPr lang="en-US" sz="2100" dirty="0">
                <a:solidFill>
                  <a:schemeClr val="tx1"/>
                </a:solidFill>
              </a:rPr>
              <a:t>Check each criterion and class target: ✅ ⚠️ ❌. Find evidence for every tick.</a:t>
            </a:r>
            <a:endParaRPr lang="en-US" sz="2100" dirty="0"/>
          </a:p>
        </p:txBody>
      </p:sp>
      <p:sp>
        <p:nvSpPr>
          <p:cNvPr id="17" name="Shape 14"/>
          <p:cNvSpPr/>
          <p:nvPr/>
        </p:nvSpPr>
        <p:spPr>
          <a:xfrm>
            <a:off x="548640" y="4572000"/>
            <a:ext cx="11094415" cy="1005840"/>
          </a:xfrm>
          <a:prstGeom prst="rect">
            <a:avLst/>
          </a:prstGeom>
          <a:solidFill>
            <a:schemeClr val="bg1"/>
          </a:solidFill>
          <a:ln/>
          <a:effectLst>
            <a:outerShdw blurRad="76200" dist="25400" dir="5400000" algn="bl" rotWithShape="0">
              <a:srgbClr val="000000">
                <a:alpha val="12000"/>
              </a:srgbClr>
            </a:outerShdw>
          </a:effectLst>
        </p:spPr>
      </p:sp>
      <p:sp>
        <p:nvSpPr>
          <p:cNvPr id="18" name="Text 15"/>
          <p:cNvSpPr txBox="1"/>
          <p:nvPr/>
        </p:nvSpPr>
        <p:spPr>
          <a:xfrm>
            <a:off x="777240" y="4754880"/>
            <a:ext cx="640080" cy="640080"/>
          </a:xfrm>
          <a:prstGeom prst="ellipse">
            <a:avLst/>
          </a:prstGeom>
          <a:solidFill>
            <a:schemeClr val="tx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1645920" y="4572000"/>
            <a:ext cx="1737360" cy="1005840"/>
          </a:xfrm>
          <a:prstGeom prst="rect">
            <a:avLst/>
          </a:prstGeom>
          <a:noFill/>
          <a:ln/>
        </p:spPr>
        <p:txBody>
          <a:bodyPr wrap="square" lIns="0" tIns="0" rIns="0" bIns="0" rtlCol="0" anchor="ctr"/>
          <a:lstStyle/>
          <a:p>
            <a:pPr marL="0" indent="0">
              <a:buNone/>
            </a:pPr>
            <a:r>
              <a:rPr lang="en-US" sz="2000" b="1" dirty="0">
                <a:solidFill>
                  <a:schemeClr val="tx1"/>
                </a:solidFill>
                <a:latin typeface="+mj-lt" pitchFamily="34" charset="0"/>
                <a:ea typeface="+mj-lt" pitchFamily="34" charset="-122"/>
                <a:cs typeface="+mj-lt" pitchFamily="34" charset="-120"/>
              </a:rPr>
              <a:t>TARGET</a:t>
            </a:r>
            <a:endParaRPr lang="en-US" sz="2000" dirty="0"/>
          </a:p>
        </p:txBody>
      </p:sp>
      <p:sp>
        <p:nvSpPr>
          <p:cNvPr id="20" name="Text 17"/>
          <p:cNvSpPr txBox="1"/>
          <p:nvPr/>
        </p:nvSpPr>
        <p:spPr>
          <a:xfrm>
            <a:off x="3474720" y="4572000"/>
            <a:ext cx="8046720" cy="1005840"/>
          </a:xfrm>
          <a:prstGeom prst="rect">
            <a:avLst/>
          </a:prstGeom>
          <a:noFill/>
          <a:ln/>
        </p:spPr>
        <p:txBody>
          <a:bodyPr wrap="square" lIns="0" tIns="0" rIns="0" bIns="0" rtlCol="0" anchor="ctr"/>
          <a:lstStyle/>
          <a:p>
            <a:pPr marL="0" indent="0">
              <a:buNone/>
            </a:pPr>
            <a:r>
              <a:rPr lang="en-US" sz="2100" dirty="0">
                <a:solidFill>
                  <a:schemeClr val="tx1"/>
                </a:solidFill>
              </a:rPr>
              <a:t>Choose ONE ⚠️ or ❌ (start with your own target). Write at the top: “My target is…”</a:t>
            </a:r>
            <a:endParaRPr lang="en-US" sz="2100" dirty="0"/>
          </a:p>
        </p:txBody>
      </p:sp>
      <p:sp>
        <p:nvSpPr>
          <p:cNvPr id="21" name="Text 18"/>
          <p:cNvSpPr txBox="1"/>
          <p:nvPr/>
        </p:nvSpPr>
        <p:spPr>
          <a:xfrm>
            <a:off x="548640" y="585216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Be honest: your target helps you improve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Step 2: partner feedback</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PARTNER</a:t>
            </a:r>
            <a:endParaRPr lang="en-US" sz="1100" dirty="0"/>
          </a:p>
        </p:txBody>
      </p:sp>
      <p:sp>
        <p:nvSpPr>
          <p:cNvPr id="5" name="Card 1  SWAP"/>
          <p:cNvSpPr/>
          <p:nvPr/>
        </p:nvSpPr>
        <p:spPr>
          <a:xfrm>
            <a:off x="548640" y="1188720"/>
            <a:ext cx="2651760" cy="329184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88720"/>
            <a:ext cx="2651760" cy="548640"/>
          </a:xfrm>
          <a:prstGeom prst="rect">
            <a:avLst/>
          </a:prstGeom>
          <a:solidFill>
            <a:schemeClr val="accent1"/>
          </a:solidFill>
          <a:ln/>
        </p:spPr>
      </p:sp>
      <p:sp>
        <p:nvSpPr>
          <p:cNvPr id="7" name="Text 4"/>
          <p:cNvSpPr txBox="1"/>
          <p:nvPr/>
        </p:nvSpPr>
        <p:spPr>
          <a:xfrm>
            <a:off x="676656" y="1188720"/>
            <a:ext cx="2468880" cy="548640"/>
          </a:xfrm>
          <a:prstGeom prst="rect">
            <a:avLst/>
          </a:prstGeom>
          <a:noFill/>
          <a:ln/>
        </p:spPr>
        <p:txBody>
          <a:bodyPr wrap="square" lIns="0" tIns="0" rIns="0" bIns="0" rtlCol="0" anchor="ctr"/>
          <a:lstStyle/>
          <a:p>
            <a:pPr marL="0" indent="0">
              <a:buNone/>
            </a:pPr>
            <a:r>
              <a:rPr lang="en-US" sz="1700" b="1" dirty="0">
                <a:solidFill>
                  <a:schemeClr val="bg1"/>
                </a:solidFill>
              </a:rPr>
              <a:t>1  SWAP</a:t>
            </a:r>
            <a:endParaRPr lang="en-US" sz="1700" dirty="0"/>
          </a:p>
        </p:txBody>
      </p:sp>
      <p:sp>
        <p:nvSpPr>
          <p:cNvPr id="8" name="Text 5"/>
          <p:cNvSpPr txBox="1"/>
          <p:nvPr/>
        </p:nvSpPr>
        <p:spPr>
          <a:xfrm>
            <a:off x="658368" y="1810512"/>
            <a:ext cx="2432304" cy="2596896"/>
          </a:xfrm>
          <a:prstGeom prst="rect">
            <a:avLst/>
          </a:prstGeom>
          <a:noFill/>
          <a:ln/>
        </p:spPr>
        <p:txBody>
          <a:bodyPr wrap="square" lIns="508" tIns="508" rIns="508" bIns="508" rtlCol="0" anchor="t"/>
          <a:lstStyle/>
          <a:p>
            <a:pPr marL="0" indent="0" algn="l">
              <a:buNone/>
            </a:pPr>
            <a:r>
              <a:rPr lang="en-US" sz="1800" dirty="0">
                <a:solidFill>
                  <a:schemeClr val="tx1"/>
                </a:solidFill>
              </a:rPr>
              <a:t>Swap drafts. Read your partner’s report all the way through.</a:t>
            </a:r>
            <a:endParaRPr lang="en-US" sz="1800" dirty="0"/>
          </a:p>
        </p:txBody>
      </p:sp>
      <p:sp>
        <p:nvSpPr>
          <p:cNvPr id="9" name="Card 2  FIND"/>
          <p:cNvSpPr/>
          <p:nvPr/>
        </p:nvSpPr>
        <p:spPr>
          <a:xfrm>
            <a:off x="3401568" y="1188720"/>
            <a:ext cx="2651760" cy="329184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3401568" y="1188720"/>
            <a:ext cx="2651760" cy="548640"/>
          </a:xfrm>
          <a:prstGeom prst="rect">
            <a:avLst/>
          </a:prstGeom>
          <a:solidFill>
            <a:schemeClr val="accent2"/>
          </a:solidFill>
          <a:ln/>
        </p:spPr>
      </p:sp>
      <p:sp>
        <p:nvSpPr>
          <p:cNvPr id="11" name="Text 8"/>
          <p:cNvSpPr txBox="1"/>
          <p:nvPr/>
        </p:nvSpPr>
        <p:spPr>
          <a:xfrm>
            <a:off x="3529584" y="1188720"/>
            <a:ext cx="2468880" cy="548640"/>
          </a:xfrm>
          <a:prstGeom prst="rect">
            <a:avLst/>
          </a:prstGeom>
          <a:noFill/>
          <a:ln/>
        </p:spPr>
        <p:txBody>
          <a:bodyPr wrap="square" lIns="0" tIns="0" rIns="0" bIns="0" rtlCol="0" anchor="ctr"/>
          <a:lstStyle/>
          <a:p>
            <a:pPr marL="0" indent="0">
              <a:buNone/>
            </a:pPr>
            <a:r>
              <a:rPr lang="en-US" sz="1700" b="1" dirty="0">
                <a:solidFill>
                  <a:schemeClr val="tx1"/>
                </a:solidFill>
              </a:rPr>
              <a:t>2  FIND</a:t>
            </a:r>
            <a:endParaRPr lang="en-US" sz="1700" dirty="0"/>
          </a:p>
        </p:txBody>
      </p:sp>
      <p:sp>
        <p:nvSpPr>
          <p:cNvPr id="12" name="Text 9"/>
          <p:cNvSpPr txBox="1"/>
          <p:nvPr/>
        </p:nvSpPr>
        <p:spPr>
          <a:xfrm>
            <a:off x="3511296" y="1810512"/>
            <a:ext cx="2432304" cy="2596896"/>
          </a:xfrm>
          <a:prstGeom prst="rect">
            <a:avLst/>
          </a:prstGeom>
          <a:noFill/>
          <a:ln/>
        </p:spPr>
        <p:txBody>
          <a:bodyPr wrap="square" lIns="508" tIns="508" rIns="508" bIns="508" rtlCol="0" anchor="t"/>
          <a:lstStyle/>
          <a:p>
            <a:pPr marL="0" indent="0" algn="l">
              <a:buNone/>
            </a:pPr>
            <a:r>
              <a:rPr lang="en-US" sz="1800" dirty="0">
                <a:solidFill>
                  <a:schemeClr val="tx1"/>
                </a:solidFill>
              </a:rPr>
              <a:t>Find ONE strength. Find the ONE fix that would help most (use the checklist).</a:t>
            </a:r>
            <a:endParaRPr lang="en-US" sz="1800" dirty="0"/>
          </a:p>
        </p:txBody>
      </p:sp>
      <p:sp>
        <p:nvSpPr>
          <p:cNvPr id="13" name="Card 3  TALK"/>
          <p:cNvSpPr/>
          <p:nvPr/>
        </p:nvSpPr>
        <p:spPr>
          <a:xfrm>
            <a:off x="6254496" y="1188720"/>
            <a:ext cx="2651760" cy="329184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6254496" y="1188720"/>
            <a:ext cx="2651760" cy="548640"/>
          </a:xfrm>
          <a:prstGeom prst="rect">
            <a:avLst/>
          </a:prstGeom>
          <a:solidFill>
            <a:schemeClr val="accent3"/>
          </a:solidFill>
          <a:ln/>
        </p:spPr>
      </p:sp>
      <p:sp>
        <p:nvSpPr>
          <p:cNvPr id="15" name="Text 12"/>
          <p:cNvSpPr txBox="1"/>
          <p:nvPr/>
        </p:nvSpPr>
        <p:spPr>
          <a:xfrm>
            <a:off x="6382512" y="1188720"/>
            <a:ext cx="2468880" cy="548640"/>
          </a:xfrm>
          <a:prstGeom prst="rect">
            <a:avLst/>
          </a:prstGeom>
          <a:noFill/>
          <a:ln/>
        </p:spPr>
        <p:txBody>
          <a:bodyPr wrap="square" lIns="0" tIns="0" rIns="0" bIns="0" rtlCol="0" anchor="ctr"/>
          <a:lstStyle/>
          <a:p>
            <a:pPr marL="0" indent="0">
              <a:buNone/>
            </a:pPr>
            <a:r>
              <a:rPr lang="en-US" sz="1700" b="1" dirty="0">
                <a:solidFill>
                  <a:schemeClr val="bg1"/>
                </a:solidFill>
              </a:rPr>
              <a:t>3  TALK</a:t>
            </a:r>
            <a:endParaRPr lang="en-US" sz="1700" dirty="0"/>
          </a:p>
        </p:txBody>
      </p:sp>
      <p:sp>
        <p:nvSpPr>
          <p:cNvPr id="16" name="Text 13"/>
          <p:cNvSpPr txBox="1"/>
          <p:nvPr/>
        </p:nvSpPr>
        <p:spPr>
          <a:xfrm>
            <a:off x="6364224" y="1810512"/>
            <a:ext cx="2432304" cy="2596896"/>
          </a:xfrm>
          <a:prstGeom prst="rect">
            <a:avLst/>
          </a:prstGeom>
          <a:noFill/>
          <a:ln/>
        </p:spPr>
        <p:txBody>
          <a:bodyPr wrap="square" lIns="508" tIns="508" rIns="508" bIns="508" rtlCol="0" anchor="t"/>
          <a:lstStyle/>
          <a:p>
            <a:pPr marL="0" indent="0" algn="l">
              <a:buNone/>
            </a:pPr>
            <a:r>
              <a:rPr lang="en-US" sz="1800" dirty="0">
                <a:solidFill>
                  <a:schemeClr val="tx1"/>
                </a:solidFill>
              </a:rPr>
              <a:t>Say both out loud. Quote their words. Be kind and specific.</a:t>
            </a:r>
            <a:endParaRPr lang="en-US" sz="1800" dirty="0"/>
          </a:p>
        </p:txBody>
      </p:sp>
      <p:sp>
        <p:nvSpPr>
          <p:cNvPr id="17" name="Card 4  WRITE"/>
          <p:cNvSpPr/>
          <p:nvPr/>
        </p:nvSpPr>
        <p:spPr>
          <a:xfrm>
            <a:off x="9107424" y="1188720"/>
            <a:ext cx="2651760" cy="3291840"/>
          </a:xfrm>
          <a:prstGeom prst="rect">
            <a:avLst/>
          </a:prstGeom>
          <a:solidFill>
            <a:schemeClr val="bg1"/>
          </a:solidFill>
          <a:ln/>
          <a:effectLst>
            <a:outerShdw blurRad="76200" dist="25400" dir="5400000" algn="bl" rotWithShape="0">
              <a:srgbClr val="000000">
                <a:alpha val="12000"/>
              </a:srgbClr>
            </a:outerShdw>
          </a:effectLst>
        </p:spPr>
      </p:sp>
      <p:sp>
        <p:nvSpPr>
          <p:cNvPr id="18" name="Shape 15"/>
          <p:cNvSpPr/>
          <p:nvPr/>
        </p:nvSpPr>
        <p:spPr>
          <a:xfrm>
            <a:off x="9107424" y="1188720"/>
            <a:ext cx="2651760" cy="548640"/>
          </a:xfrm>
          <a:prstGeom prst="rect">
            <a:avLst/>
          </a:prstGeom>
          <a:solidFill>
            <a:schemeClr val="tx1"/>
          </a:solidFill>
          <a:ln/>
        </p:spPr>
      </p:sp>
      <p:sp>
        <p:nvSpPr>
          <p:cNvPr id="19" name="Text 16"/>
          <p:cNvSpPr txBox="1"/>
          <p:nvPr/>
        </p:nvSpPr>
        <p:spPr>
          <a:xfrm>
            <a:off x="9235440" y="1188720"/>
            <a:ext cx="2468880" cy="548640"/>
          </a:xfrm>
          <a:prstGeom prst="rect">
            <a:avLst/>
          </a:prstGeom>
          <a:noFill/>
          <a:ln/>
        </p:spPr>
        <p:txBody>
          <a:bodyPr wrap="square" lIns="0" tIns="0" rIns="0" bIns="0" rtlCol="0" anchor="ctr"/>
          <a:lstStyle/>
          <a:p>
            <a:pPr marL="0" indent="0">
              <a:buNone/>
            </a:pPr>
            <a:r>
              <a:rPr lang="en-US" sz="1700" b="1" dirty="0">
                <a:solidFill>
                  <a:schemeClr val="bg1"/>
                </a:solidFill>
              </a:rPr>
              <a:t>4  WRITE</a:t>
            </a:r>
            <a:endParaRPr lang="en-US" sz="1700" dirty="0"/>
          </a:p>
        </p:txBody>
      </p:sp>
      <p:sp>
        <p:nvSpPr>
          <p:cNvPr id="20" name="Text 17"/>
          <p:cNvSpPr txBox="1"/>
          <p:nvPr/>
        </p:nvSpPr>
        <p:spPr>
          <a:xfrm>
            <a:off x="9217152" y="1810512"/>
            <a:ext cx="2432304" cy="2596896"/>
          </a:xfrm>
          <a:prstGeom prst="rect">
            <a:avLst/>
          </a:prstGeom>
          <a:noFill/>
          <a:ln/>
        </p:spPr>
        <p:txBody>
          <a:bodyPr wrap="square" lIns="508" tIns="508" rIns="508" bIns="508" rtlCol="0" anchor="t"/>
          <a:lstStyle/>
          <a:p>
            <a:pPr marL="0" indent="0" algn="l">
              <a:buNone/>
            </a:pPr>
            <a:r>
              <a:rPr lang="en-US" sz="1800" dirty="0">
                <a:solidFill>
                  <a:schemeClr val="tx1"/>
                </a:solidFill>
              </a:rPr>
              <a:t>Write them on the feedback slip. Say thank you.</a:t>
            </a:r>
            <a:endParaRPr lang="en-US" sz="1800" dirty="0"/>
          </a:p>
        </p:txBody>
      </p:sp>
      <p:sp>
        <p:nvSpPr>
          <p:cNvPr id="21" name="Text 18"/>
          <p:cNvSpPr txBox="1"/>
          <p:nvPr/>
        </p:nvSpPr>
        <p:spPr>
          <a:xfrm>
            <a:off x="548640" y="4754880"/>
            <a:ext cx="3566160" cy="640080"/>
          </a:xfrm>
          <a:prstGeom prst="rect">
            <a:avLst/>
          </a:prstGeom>
          <a:solidFill>
            <a:schemeClr val="bg1"/>
          </a:solidFill>
          <a:ln w="19050">
            <a:solidFill>
              <a:schemeClr val="accent1"/>
            </a:solidFill>
          </a:ln>
        </p:spPr>
        <p:txBody>
          <a:bodyPr wrap="square" lIns="0" tIns="0" rIns="0" bIns="0" rtlCol="0" anchor="ctr"/>
          <a:lstStyle/>
          <a:p>
            <a:pPr marL="0" indent="0" algn="ctr">
              <a:buNone/>
            </a:pPr>
            <a:r>
              <a:rPr lang="en-US" sz="2000" b="1" dirty="0">
                <a:solidFill>
                  <a:schemeClr val="accent1"/>
                </a:solidFill>
              </a:rPr>
              <a:t>Kind</a:t>
            </a:r>
            <a:endParaRPr lang="en-US" sz="2000" dirty="0"/>
          </a:p>
        </p:txBody>
      </p:sp>
      <p:sp>
        <p:nvSpPr>
          <p:cNvPr id="22" name="Text 19"/>
          <p:cNvSpPr txBox="1"/>
          <p:nvPr/>
        </p:nvSpPr>
        <p:spPr>
          <a:xfrm>
            <a:off x="4361688" y="4754880"/>
            <a:ext cx="3566160" cy="640080"/>
          </a:xfrm>
          <a:prstGeom prst="rect">
            <a:avLst/>
          </a:prstGeom>
          <a:solidFill>
            <a:schemeClr val="bg1"/>
          </a:solidFill>
          <a:ln w="19050">
            <a:solidFill>
              <a:schemeClr val="accent1"/>
            </a:solidFill>
          </a:ln>
        </p:spPr>
        <p:txBody>
          <a:bodyPr wrap="square" lIns="0" tIns="0" rIns="0" bIns="0" rtlCol="0" anchor="ctr"/>
          <a:lstStyle/>
          <a:p>
            <a:pPr marL="0" indent="0" algn="ctr">
              <a:buNone/>
            </a:pPr>
            <a:r>
              <a:rPr lang="en-US" sz="2000" b="1" dirty="0">
                <a:solidFill>
                  <a:schemeClr val="accent1"/>
                </a:solidFill>
              </a:rPr>
              <a:t>Specific</a:t>
            </a:r>
            <a:endParaRPr lang="en-US" sz="2000" dirty="0"/>
          </a:p>
        </p:txBody>
      </p:sp>
      <p:sp>
        <p:nvSpPr>
          <p:cNvPr id="23" name="Text 20"/>
          <p:cNvSpPr txBox="1"/>
          <p:nvPr/>
        </p:nvSpPr>
        <p:spPr>
          <a:xfrm>
            <a:off x="8174736" y="4754880"/>
            <a:ext cx="3566160" cy="640080"/>
          </a:xfrm>
          <a:prstGeom prst="rect">
            <a:avLst/>
          </a:prstGeom>
          <a:solidFill>
            <a:schemeClr val="bg1"/>
          </a:solidFill>
          <a:ln w="19050">
            <a:solidFill>
              <a:schemeClr val="accent1"/>
            </a:solidFill>
          </a:ln>
        </p:spPr>
        <p:txBody>
          <a:bodyPr wrap="square" lIns="0" tIns="0" rIns="0" bIns="0" rtlCol="0" anchor="ctr"/>
          <a:lstStyle/>
          <a:p>
            <a:pPr marL="0" indent="0" algn="ctr">
              <a:buNone/>
            </a:pPr>
            <a:r>
              <a:rPr lang="en-US" sz="2000" b="1" dirty="0">
                <a:solidFill>
                  <a:schemeClr val="accent1"/>
                </a:solidFill>
              </a:rPr>
              <a:t>Helpful</a:t>
            </a:r>
            <a:endParaRPr lang="en-US" sz="2000" dirty="0"/>
          </a:p>
        </p:txBody>
      </p:sp>
      <p:sp>
        <p:nvSpPr>
          <p:cNvPr id="24" name="Text 21"/>
          <p:cNvSpPr txBox="1"/>
          <p:nvPr/>
        </p:nvSpPr>
        <p:spPr>
          <a:xfrm>
            <a:off x="548640" y="5806440"/>
            <a:ext cx="11094415" cy="548640"/>
          </a:xfrm>
          <a:prstGeom prst="rect">
            <a:avLst/>
          </a:prstGeom>
          <a:solidFill>
            <a:schemeClr val="tx1"/>
          </a:solidFill>
          <a:ln/>
        </p:spPr>
        <p:txBody>
          <a:bodyPr wrap="square" lIns="1270" tIns="1270" rIns="1270" bIns="1270" rtlCol="0" anchor="ctr"/>
          <a:lstStyle/>
          <a:p>
            <a:pPr marL="0" indent="0" algn="ctr">
              <a:buNone/>
            </a:pPr>
            <a:r>
              <a:rPr lang="en-US" sz="1700" b="1" dirty="0">
                <a:solidFill>
                  <a:schemeClr val="bg1"/>
                </a:solidFill>
              </a:rPr>
              <a:t>One strength  +  one improvement</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Our feedback slip</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PARTNER</a:t>
            </a:r>
            <a:endParaRPr lang="en-US" sz="1100" dirty="0"/>
          </a:p>
        </p:txBody>
      </p:sp>
      <p:sp>
        <p:nvSpPr>
          <p:cNvPr id="5" name="Shape 2"/>
          <p:cNvSpPr/>
          <p:nvPr/>
        </p:nvSpPr>
        <p:spPr>
          <a:xfrm>
            <a:off x="548640" y="1143000"/>
            <a:ext cx="6949440" cy="4663440"/>
          </a:xfrm>
          <a:prstGeom prst="rect">
            <a:avLst/>
          </a:prstGeom>
          <a:solidFill>
            <a:schemeClr val="bg1"/>
          </a:solidFill>
          <a:ln w="19050">
            <a:solidFill>
              <a:schemeClr val="tx1"/>
            </a:solidFill>
            <a:prstDash val="dash"/>
          </a:ln>
        </p:spPr>
      </p:sp>
      <p:sp>
        <p:nvSpPr>
          <p:cNvPr id="6" name="Text 3"/>
          <p:cNvSpPr txBox="1"/>
          <p:nvPr/>
        </p:nvSpPr>
        <p:spPr>
          <a:xfrm>
            <a:off x="822960" y="1280160"/>
            <a:ext cx="6400800" cy="457200"/>
          </a:xfrm>
          <a:prstGeom prst="rect">
            <a:avLst/>
          </a:prstGeom>
          <a:noFill/>
          <a:ln/>
        </p:spPr>
        <p:txBody>
          <a:bodyPr wrap="square" lIns="0" tIns="0" rIns="0" bIns="0" rtlCol="0" anchor="ctr"/>
          <a:lstStyle/>
          <a:p>
            <a:pPr marL="0" indent="0">
              <a:buNone/>
            </a:pPr>
            <a:r>
              <a:rPr lang="en-US" sz="1600" dirty="0">
                <a:solidFill>
                  <a:schemeClr val="tx1"/>
                </a:solidFill>
              </a:rPr>
              <a:t>Writer: ____________     Reviewer: ____________</a:t>
            </a:r>
            <a:endParaRPr lang="en-US" sz="1600" dirty="0"/>
          </a:p>
        </p:txBody>
      </p:sp>
      <p:sp>
        <p:nvSpPr>
          <p:cNvPr id="7" name="Shape 4"/>
          <p:cNvSpPr/>
          <p:nvPr/>
        </p:nvSpPr>
        <p:spPr>
          <a:xfrm>
            <a:off x="822960" y="1920240"/>
            <a:ext cx="6400800" cy="1645920"/>
          </a:xfrm>
          <a:prstGeom prst="rect">
            <a:avLst/>
          </a:prstGeom>
          <a:solidFill>
            <a:schemeClr val="bg2"/>
          </a:solidFill>
          <a:ln/>
        </p:spPr>
      </p:sp>
      <p:sp>
        <p:nvSpPr>
          <p:cNvPr id="8" name="Text 5"/>
          <p:cNvSpPr txBox="1"/>
          <p:nvPr/>
        </p:nvSpPr>
        <p:spPr>
          <a:xfrm>
            <a:off x="1005840" y="1965960"/>
            <a:ext cx="6035040" cy="1554480"/>
          </a:xfrm>
          <a:prstGeom prst="rect">
            <a:avLst/>
          </a:prstGeom>
          <a:noFill/>
          <a:ln/>
        </p:spPr>
        <p:txBody>
          <a:bodyPr wrap="square" lIns="0" tIns="0" rIns="0" bIns="0" rtlCol="0" anchor="t"/>
          <a:lstStyle/>
          <a:p>
            <a:pPr marL="0" indent="0">
              <a:buNone/>
            </a:pPr>
            <a:r>
              <a:rPr lang="en-US" sz="1800" b="1" dirty="0">
                <a:solidFill>
                  <a:schemeClr val="accent1"/>
                </a:solidFill>
              </a:rPr>
              <a:t>⭐ One strength</a:t>
            </a:r>
            <a:endParaRPr lang="en-US" sz="1800" dirty="0"/>
          </a:p>
          <a:p>
            <a:pPr marL="0" indent="0">
              <a:buNone/>
            </a:pPr>
            <a:r>
              <a:rPr lang="en-US" sz="2000" i="1" dirty="0">
                <a:solidFill>
                  <a:schemeClr val="tx1"/>
                </a:solidFill>
              </a:rPr>
              <a:t>I like how you … because …</a:t>
            </a:r>
            <a:endParaRPr lang="en-US" sz="1800" dirty="0"/>
          </a:p>
        </p:txBody>
      </p:sp>
      <p:sp>
        <p:nvSpPr>
          <p:cNvPr id="9" name="Shape 6"/>
          <p:cNvSpPr/>
          <p:nvPr/>
        </p:nvSpPr>
        <p:spPr>
          <a:xfrm>
            <a:off x="822960" y="3749040"/>
            <a:ext cx="6400800" cy="1783080"/>
          </a:xfrm>
          <a:prstGeom prst="rect">
            <a:avLst/>
          </a:prstGeom>
          <a:solidFill>
            <a:schemeClr val="bg2"/>
          </a:solidFill>
          <a:ln/>
        </p:spPr>
      </p:sp>
      <p:sp>
        <p:nvSpPr>
          <p:cNvPr id="10" name="Text 7"/>
          <p:cNvSpPr txBox="1"/>
          <p:nvPr/>
        </p:nvSpPr>
        <p:spPr>
          <a:xfrm>
            <a:off x="1005840" y="3794760"/>
            <a:ext cx="6035040" cy="1691640"/>
          </a:xfrm>
          <a:prstGeom prst="rect">
            <a:avLst/>
          </a:prstGeom>
          <a:noFill/>
          <a:ln/>
        </p:spPr>
        <p:txBody>
          <a:bodyPr wrap="square" lIns="0" tIns="0" rIns="0" bIns="0" rtlCol="0" anchor="t"/>
          <a:lstStyle/>
          <a:p>
            <a:pPr marL="0" indent="0">
              <a:buNone/>
            </a:pPr>
            <a:r>
              <a:rPr lang="en-US" sz="1800" b="1" dirty="0">
                <a:solidFill>
                  <a:schemeClr val="accent3"/>
                </a:solidFill>
              </a:rPr>
              <a:t>💡 One improvement</a:t>
            </a:r>
            <a:endParaRPr lang="en-US" sz="1800" dirty="0"/>
          </a:p>
          <a:p>
            <a:pPr marL="0" indent="0">
              <a:buNone/>
            </a:pPr>
            <a:r>
              <a:rPr lang="en-US" sz="2000" i="1" dirty="0">
                <a:solidFill>
                  <a:schemeClr val="tx1"/>
                </a:solidFill>
              </a:rPr>
              <a:t>To make it even better, you could … (target: ___)</a:t>
            </a:r>
            <a:endParaRPr lang="en-US" sz="1800" dirty="0"/>
          </a:p>
        </p:txBody>
      </p:sp>
      <p:sp>
        <p:nvSpPr>
          <p:cNvPr id="11" name="Card SENTENCE STEMS"/>
          <p:cNvSpPr/>
          <p:nvPr/>
        </p:nvSpPr>
        <p:spPr>
          <a:xfrm>
            <a:off x="7772400" y="1143000"/>
            <a:ext cx="3886200" cy="4663440"/>
          </a:xfrm>
          <a:prstGeom prst="rect">
            <a:avLst/>
          </a:prstGeom>
          <a:solidFill>
            <a:schemeClr val="bg1"/>
          </a:solidFill>
          <a:ln/>
          <a:effectLst>
            <a:outerShdw blurRad="76200" dist="25400" dir="5400000" algn="bl" rotWithShape="0">
              <a:srgbClr val="000000">
                <a:alpha val="12000"/>
              </a:srgbClr>
            </a:outerShdw>
          </a:effectLst>
        </p:spPr>
      </p:sp>
      <p:sp>
        <p:nvSpPr>
          <p:cNvPr id="12" name="Shape 9"/>
          <p:cNvSpPr/>
          <p:nvPr/>
        </p:nvSpPr>
        <p:spPr>
          <a:xfrm>
            <a:off x="7772400" y="1143000"/>
            <a:ext cx="3886200" cy="502920"/>
          </a:xfrm>
          <a:prstGeom prst="rect">
            <a:avLst/>
          </a:prstGeom>
          <a:solidFill>
            <a:schemeClr val="tx1"/>
          </a:solidFill>
          <a:ln/>
        </p:spPr>
      </p:sp>
      <p:sp>
        <p:nvSpPr>
          <p:cNvPr id="13" name="Text 10"/>
          <p:cNvSpPr txBox="1"/>
          <p:nvPr/>
        </p:nvSpPr>
        <p:spPr>
          <a:xfrm>
            <a:off x="7900416" y="1143000"/>
            <a:ext cx="3703320" cy="502920"/>
          </a:xfrm>
          <a:prstGeom prst="rect">
            <a:avLst/>
          </a:prstGeom>
          <a:noFill/>
          <a:ln/>
        </p:spPr>
        <p:txBody>
          <a:bodyPr wrap="square" lIns="0" tIns="0" rIns="0" bIns="0" rtlCol="0" anchor="ctr"/>
          <a:lstStyle/>
          <a:p>
            <a:pPr marL="0" indent="0">
              <a:buNone/>
            </a:pPr>
            <a:r>
              <a:rPr lang="en-US" sz="1500" b="1" dirty="0">
                <a:solidFill>
                  <a:schemeClr val="bg1"/>
                </a:solidFill>
              </a:rPr>
              <a:t>SENTENCE STEMS</a:t>
            </a:r>
            <a:endParaRPr lang="en-US" sz="1500" dirty="0"/>
          </a:p>
        </p:txBody>
      </p:sp>
      <p:sp>
        <p:nvSpPr>
          <p:cNvPr id="14" name="Text 11"/>
          <p:cNvSpPr txBox="1"/>
          <p:nvPr/>
        </p:nvSpPr>
        <p:spPr>
          <a:xfrm>
            <a:off x="7882128" y="1719072"/>
            <a:ext cx="3666744" cy="4014216"/>
          </a:xfrm>
          <a:prstGeom prst="rect">
            <a:avLst/>
          </a:prstGeom>
          <a:noFill/>
          <a:ln/>
        </p:spPr>
        <p:txBody>
          <a:bodyPr wrap="square" lIns="508" tIns="508" rIns="508" bIns="508" rtlCol="0" anchor="t"/>
          <a:lstStyle/>
          <a:p>
            <a:pPr marL="342900" indent="-342900" algn="l">
              <a:spcAft>
                <a:spcPts val="800"/>
              </a:spcAft>
              <a:buSzPct val="100000"/>
              <a:buChar char="•"/>
            </a:pPr>
            <a:r>
              <a:rPr lang="en-US" sz="1600" dirty="0">
                <a:solidFill>
                  <a:schemeClr val="tx1"/>
                </a:solidFill>
              </a:rPr>
              <a:t>I like how you…</a:t>
            </a:r>
            <a:endParaRPr lang="en-US" sz="1600" dirty="0"/>
          </a:p>
          <a:p>
            <a:pPr marL="342900" indent="-342900" algn="l">
              <a:spcAft>
                <a:spcPts val="800"/>
              </a:spcAft>
              <a:buSzPct val="100000"/>
              <a:buChar char="•"/>
            </a:pPr>
            <a:r>
              <a:rPr lang="en-US" sz="1600" dirty="0">
                <a:solidFill>
                  <a:schemeClr val="tx1"/>
                </a:solidFill>
              </a:rPr>
              <a:t>Your … tells the reader…</a:t>
            </a:r>
            <a:endParaRPr lang="en-US" sz="1600" dirty="0"/>
          </a:p>
          <a:p>
            <a:pPr marL="342900" indent="-342900" algn="l">
              <a:spcAft>
                <a:spcPts val="800"/>
              </a:spcAft>
              <a:buSzPct val="100000"/>
              <a:buChar char="•"/>
            </a:pPr>
            <a:r>
              <a:rPr lang="en-US" sz="1600" dirty="0">
                <a:solidFill>
                  <a:schemeClr val="tx1"/>
                </a:solidFill>
              </a:rPr>
              <a:t>You used a relative clause when you wrote “…”</a:t>
            </a:r>
            <a:endParaRPr lang="en-US" sz="1600" dirty="0"/>
          </a:p>
          <a:p>
            <a:pPr marL="342900" indent="-342900" algn="l">
              <a:spcAft>
                <a:spcPts val="800"/>
              </a:spcAft>
              <a:buSzPct val="100000"/>
              <a:buChar char="•"/>
            </a:pPr>
            <a:r>
              <a:rPr lang="en-US" sz="1600" dirty="0">
                <a:solidFill>
                  <a:schemeClr val="tx1"/>
                </a:solidFill>
              </a:rPr>
              <a:t>To make it even better, you could…</a:t>
            </a:r>
            <a:endParaRPr lang="en-US" sz="1600" dirty="0"/>
          </a:p>
          <a:p>
            <a:pPr marL="342900" indent="-342900" algn="l">
              <a:spcAft>
                <a:spcPts val="800"/>
              </a:spcAft>
              <a:buSzPct val="100000"/>
              <a:buChar char="•"/>
            </a:pPr>
            <a:r>
              <a:rPr lang="en-US" sz="1600" dirty="0">
                <a:solidFill>
                  <a:schemeClr val="tx1"/>
                </a:solidFill>
              </a:rPr>
              <a:t>Check … It should be…</a:t>
            </a:r>
            <a:endParaRPr lang="en-US" sz="1600" dirty="0"/>
          </a:p>
          <a:p>
            <a:pPr marL="342900" indent="-342900" algn="l">
              <a:spcAft>
                <a:spcPts val="800"/>
              </a:spcAft>
              <a:buSzPct val="100000"/>
              <a:buChar char="•"/>
            </a:pPr>
            <a:r>
              <a:rPr lang="en-US" sz="1600" dirty="0">
                <a:solidFill>
                  <a:schemeClr val="tx1"/>
                </a:solidFill>
              </a:rPr>
              <a:t>Add … to match your threat</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Step 3: improve your draft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TASK</a:t>
            </a:r>
            <a:endParaRPr lang="en-US" sz="1100" dirty="0"/>
          </a:p>
        </p:txBody>
      </p:sp>
      <p:sp>
        <p:nvSpPr>
          <p:cNvPr id="5" name="Card 🟢 SUPPORT"/>
          <p:cNvSpPr/>
          <p:nvPr/>
        </p:nvSpPr>
        <p:spPr>
          <a:xfrm>
            <a:off x="548640" y="1143000"/>
            <a:ext cx="3566160" cy="420624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43000"/>
            <a:ext cx="3566160" cy="502920"/>
          </a:xfrm>
          <a:prstGeom prst="rect">
            <a:avLst/>
          </a:prstGeom>
          <a:solidFill>
            <a:schemeClr val="accent1"/>
          </a:solidFill>
          <a:ln/>
        </p:spPr>
      </p:sp>
      <p:sp>
        <p:nvSpPr>
          <p:cNvPr id="7" name="Text 4"/>
          <p:cNvSpPr txBox="1"/>
          <p:nvPr/>
        </p:nvSpPr>
        <p:spPr>
          <a:xfrm>
            <a:off x="676656" y="1143000"/>
            <a:ext cx="3383280" cy="502920"/>
          </a:xfrm>
          <a:prstGeom prst="rect">
            <a:avLst/>
          </a:prstGeom>
          <a:noFill/>
          <a:ln/>
        </p:spPr>
        <p:txBody>
          <a:bodyPr wrap="square" lIns="0" tIns="0" rIns="0" bIns="0" rtlCol="0" anchor="ctr"/>
          <a:lstStyle/>
          <a:p>
            <a:pPr marL="0" indent="0">
              <a:buNone/>
            </a:pPr>
            <a:r>
              <a:rPr lang="en-US" sz="1600" b="1" dirty="0">
                <a:solidFill>
                  <a:schemeClr val="bg1"/>
                </a:solidFill>
              </a:rPr>
              <a:t>🟢 SUPPORT</a:t>
            </a:r>
            <a:endParaRPr lang="en-US" sz="1600" dirty="0"/>
          </a:p>
        </p:txBody>
      </p:sp>
      <p:sp>
        <p:nvSpPr>
          <p:cNvPr id="8" name="Text 5"/>
          <p:cNvSpPr txBox="1"/>
          <p:nvPr/>
        </p:nvSpPr>
        <p:spPr>
          <a:xfrm>
            <a:off x="658368" y="1719072"/>
            <a:ext cx="3346704" cy="355701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Fix your target using the problem slides</a:t>
            </a:r>
            <a:endParaRPr lang="en-US" sz="1600" dirty="0"/>
          </a:p>
          <a:p>
            <a:pPr marL="342900" indent="-342900" algn="l">
              <a:spcAft>
                <a:spcPts val="1000"/>
              </a:spcAft>
              <a:buSzPct val="100000"/>
              <a:buChar char="•"/>
            </a:pPr>
            <a:r>
              <a:rPr lang="en-US" sz="1600" dirty="0">
                <a:solidFill>
                  <a:schemeClr val="tx1"/>
                </a:solidFill>
              </a:rPr>
              <a:t>Add the missing introduction WHY or ending</a:t>
            </a:r>
            <a:endParaRPr lang="en-US" sz="1600" dirty="0"/>
          </a:p>
          <a:p>
            <a:pPr marL="342900" indent="-342900" algn="l">
              <a:spcAft>
                <a:spcPts val="1000"/>
              </a:spcAft>
              <a:buSzPct val="100000"/>
              <a:buChar char="•"/>
            </a:pPr>
            <a:r>
              <a:rPr lang="en-US" sz="1600" dirty="0">
                <a:solidFill>
                  <a:schemeClr val="tx1"/>
                </a:solidFill>
              </a:rPr>
              <a:t>Check verbs: they live, they have</a:t>
            </a:r>
            <a:endParaRPr lang="en-US" sz="1600" dirty="0"/>
          </a:p>
          <a:p>
            <a:pPr marL="342900" indent="-342900" algn="l">
              <a:spcAft>
                <a:spcPts val="1000"/>
              </a:spcAft>
              <a:buSzPct val="100000"/>
              <a:buChar char="•"/>
            </a:pPr>
            <a:r>
              <a:rPr lang="en-US" sz="1600" dirty="0">
                <a:solidFill>
                  <a:schemeClr val="tx1"/>
                </a:solidFill>
              </a:rPr>
              <a:t>Copy topic words from the spelling bank</a:t>
            </a:r>
            <a:endParaRPr lang="en-US" sz="1600" dirty="0"/>
          </a:p>
        </p:txBody>
      </p:sp>
      <p:sp>
        <p:nvSpPr>
          <p:cNvPr id="9" name="Card 🔵 CORE"/>
          <p:cNvSpPr/>
          <p:nvPr/>
        </p:nvSpPr>
        <p:spPr>
          <a:xfrm>
            <a:off x="4361688" y="1143000"/>
            <a:ext cx="3566160" cy="420624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4361688" y="1143000"/>
            <a:ext cx="3566160" cy="502920"/>
          </a:xfrm>
          <a:prstGeom prst="rect">
            <a:avLst/>
          </a:prstGeom>
          <a:solidFill>
            <a:schemeClr val="tx1"/>
          </a:solidFill>
          <a:ln/>
        </p:spPr>
      </p:sp>
      <p:sp>
        <p:nvSpPr>
          <p:cNvPr id="11" name="Text 8"/>
          <p:cNvSpPr txBox="1"/>
          <p:nvPr/>
        </p:nvSpPr>
        <p:spPr>
          <a:xfrm>
            <a:off x="4489704" y="1143000"/>
            <a:ext cx="3383280" cy="502920"/>
          </a:xfrm>
          <a:prstGeom prst="rect">
            <a:avLst/>
          </a:prstGeom>
          <a:noFill/>
          <a:ln/>
        </p:spPr>
        <p:txBody>
          <a:bodyPr wrap="square" lIns="0" tIns="0" rIns="0" bIns="0" rtlCol="0" anchor="ctr"/>
          <a:lstStyle/>
          <a:p>
            <a:pPr marL="0" indent="0">
              <a:buNone/>
            </a:pPr>
            <a:r>
              <a:rPr lang="en-US" sz="1600" b="1" dirty="0">
                <a:solidFill>
                  <a:schemeClr val="bg1"/>
                </a:solidFill>
              </a:rPr>
              <a:t>🔵 CORE</a:t>
            </a:r>
            <a:endParaRPr lang="en-US" sz="1600" dirty="0"/>
          </a:p>
        </p:txBody>
      </p:sp>
      <p:sp>
        <p:nvSpPr>
          <p:cNvPr id="12" name="Text 9"/>
          <p:cNvSpPr txBox="1"/>
          <p:nvPr/>
        </p:nvSpPr>
        <p:spPr>
          <a:xfrm>
            <a:off x="4471416" y="1719072"/>
            <a:ext cx="3346704" cy="355701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Rewrite the paragraph that needs most work</a:t>
            </a:r>
            <a:endParaRPr lang="en-US" sz="1600" dirty="0"/>
          </a:p>
          <a:p>
            <a:pPr marL="342900" indent="-342900" algn="l">
              <a:spcAft>
                <a:spcPts val="1000"/>
              </a:spcAft>
              <a:buSzPct val="100000"/>
              <a:buChar char="•"/>
            </a:pPr>
            <a:r>
              <a:rPr lang="en-US" sz="1600" dirty="0">
                <a:solidFill>
                  <a:schemeClr val="tx1"/>
                </a:solidFill>
              </a:rPr>
              <a:t>Use your partner’s improvement and your target</a:t>
            </a:r>
            <a:endParaRPr lang="en-US" sz="1600" dirty="0"/>
          </a:p>
          <a:p>
            <a:pPr marL="342900" indent="-342900" algn="l">
              <a:spcAft>
                <a:spcPts val="1000"/>
              </a:spcAft>
              <a:buSzPct val="100000"/>
              <a:buChar char="•"/>
            </a:pPr>
            <a:r>
              <a:rPr lang="en-US" sz="1600" dirty="0">
                <a:solidFill>
                  <a:schemeClr val="tx1"/>
                </a:solidFill>
              </a:rPr>
              <a:t>Match every threat with a protection</a:t>
            </a:r>
            <a:endParaRPr lang="en-US" sz="1600" dirty="0"/>
          </a:p>
          <a:p>
            <a:pPr marL="342900" indent="-342900" algn="l">
              <a:spcAft>
                <a:spcPts val="1000"/>
              </a:spcAft>
              <a:buSzPct val="100000"/>
              <a:buChar char="•"/>
            </a:pPr>
            <a:r>
              <a:rPr lang="en-US" sz="1600" dirty="0">
                <a:solidFill>
                  <a:schemeClr val="tx1"/>
                </a:solidFill>
              </a:rPr>
              <a:t>Check one fact in a reliable source</a:t>
            </a:r>
            <a:endParaRPr lang="en-US" sz="1600" dirty="0"/>
          </a:p>
        </p:txBody>
      </p:sp>
      <p:sp>
        <p:nvSpPr>
          <p:cNvPr id="13" name="Card 🟣 EXTEND"/>
          <p:cNvSpPr/>
          <p:nvPr/>
        </p:nvSpPr>
        <p:spPr>
          <a:xfrm>
            <a:off x="8174736" y="1143000"/>
            <a:ext cx="3566160" cy="420624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8174736" y="1143000"/>
            <a:ext cx="3566160" cy="502920"/>
          </a:xfrm>
          <a:prstGeom prst="rect">
            <a:avLst/>
          </a:prstGeom>
          <a:solidFill>
            <a:schemeClr val="accent6"/>
          </a:solidFill>
          <a:ln/>
        </p:spPr>
      </p:sp>
      <p:sp>
        <p:nvSpPr>
          <p:cNvPr id="15" name="Text 12"/>
          <p:cNvSpPr txBox="1"/>
          <p:nvPr/>
        </p:nvSpPr>
        <p:spPr>
          <a:xfrm>
            <a:off x="8302752" y="1143000"/>
            <a:ext cx="3383280" cy="502920"/>
          </a:xfrm>
          <a:prstGeom prst="rect">
            <a:avLst/>
          </a:prstGeom>
          <a:noFill/>
          <a:ln/>
        </p:spPr>
        <p:txBody>
          <a:bodyPr wrap="square" lIns="0" tIns="0" rIns="0" bIns="0" rtlCol="0" anchor="ctr"/>
          <a:lstStyle/>
          <a:p>
            <a:pPr marL="0" indent="0">
              <a:buNone/>
            </a:pPr>
            <a:r>
              <a:rPr lang="en-US" sz="1600" b="1" dirty="0">
                <a:solidFill>
                  <a:schemeClr val="bg1"/>
                </a:solidFill>
              </a:rPr>
              <a:t>🟣 EXTEND</a:t>
            </a:r>
            <a:endParaRPr lang="en-US" sz="1600" dirty="0"/>
          </a:p>
        </p:txBody>
      </p:sp>
      <p:sp>
        <p:nvSpPr>
          <p:cNvPr id="16" name="Text 13"/>
          <p:cNvSpPr txBox="1"/>
          <p:nvPr/>
        </p:nvSpPr>
        <p:spPr>
          <a:xfrm>
            <a:off x="8284464" y="1719072"/>
            <a:ext cx="3346704" cy="355701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Improve two paragraphs</a:t>
            </a:r>
            <a:endParaRPr lang="en-US" sz="1600" dirty="0"/>
          </a:p>
          <a:p>
            <a:pPr marL="342900" indent="-342900" algn="l">
              <a:spcAft>
                <a:spcPts val="1000"/>
              </a:spcAft>
              <a:buSzPct val="100000"/>
              <a:buChar char="•"/>
            </a:pPr>
            <a:r>
              <a:rPr lang="en-US" sz="1600" dirty="0">
                <a:solidFill>
                  <a:schemeClr val="tx1"/>
                </a:solidFill>
              </a:rPr>
              <a:t>Add a relative clause with commas</a:t>
            </a:r>
            <a:endParaRPr lang="en-US" sz="1600" dirty="0"/>
          </a:p>
          <a:p>
            <a:pPr marL="342900" indent="-342900" algn="l">
              <a:spcAft>
                <a:spcPts val="1000"/>
              </a:spcAft>
              <a:buSzPct val="100000"/>
              <a:buChar char="•"/>
            </a:pPr>
            <a:r>
              <a:rPr lang="en-US" sz="1600" dirty="0">
                <a:solidFill>
                  <a:schemeClr val="tx1"/>
                </a:solidFill>
              </a:rPr>
              <a:t>Explain every threat: how does it harm them?</a:t>
            </a:r>
            <a:endParaRPr lang="en-US" sz="1600" dirty="0"/>
          </a:p>
          <a:p>
            <a:pPr marL="342900" indent="-342900" algn="l">
              <a:spcAft>
                <a:spcPts val="1000"/>
              </a:spcAft>
              <a:buSzPct val="100000"/>
              <a:buChar char="•"/>
            </a:pPr>
            <a:r>
              <a:rPr lang="en-US" sz="1600" dirty="0">
                <a:solidFill>
                  <a:schemeClr val="tx1"/>
                </a:solidFill>
              </a:rPr>
              <a:t>Make your introduction and ending match</a:t>
            </a:r>
            <a:endParaRPr lang="en-US" sz="1600" dirty="0"/>
          </a:p>
        </p:txBody>
      </p:sp>
      <p:sp>
        <p:nvSpPr>
          <p:cNvPr id="17" name="Text 14"/>
          <p:cNvSpPr txBox="1"/>
          <p:nvPr/>
        </p:nvSpPr>
        <p:spPr>
          <a:xfrm>
            <a:off x="548640" y="566928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Use a purple pen for every improvement · Write on every other line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Fix-it toolkit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TOOLKIT</a:t>
            </a:r>
            <a:endParaRPr lang="en-US" sz="1100" dirty="0"/>
          </a:p>
        </p:txBody>
      </p:sp>
      <p:sp>
        <p:nvSpPr>
          <p:cNvPr id="5" name="Card INTRODUCTION"/>
          <p:cNvSpPr/>
          <p:nvPr/>
        </p:nvSpPr>
        <p:spPr>
          <a:xfrm>
            <a:off x="548640" y="114300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43000"/>
            <a:ext cx="3566160" cy="457200"/>
          </a:xfrm>
          <a:prstGeom prst="rect">
            <a:avLst/>
          </a:prstGeom>
          <a:solidFill>
            <a:schemeClr val="accent1"/>
          </a:solidFill>
          <a:ln/>
        </p:spPr>
      </p:sp>
      <p:sp>
        <p:nvSpPr>
          <p:cNvPr id="7" name="Text 4"/>
          <p:cNvSpPr txBox="1"/>
          <p:nvPr/>
        </p:nvSpPr>
        <p:spPr>
          <a:xfrm>
            <a:off x="676656" y="1143000"/>
            <a:ext cx="3383280" cy="457200"/>
          </a:xfrm>
          <a:prstGeom prst="rect">
            <a:avLst/>
          </a:prstGeom>
          <a:noFill/>
          <a:ln/>
        </p:spPr>
        <p:txBody>
          <a:bodyPr wrap="square" lIns="0" tIns="0" rIns="0" bIns="0" rtlCol="0" anchor="ctr"/>
          <a:lstStyle/>
          <a:p>
            <a:pPr marL="0" indent="0">
              <a:buNone/>
            </a:pPr>
            <a:r>
              <a:rPr lang="en-US" sz="1400" b="1" dirty="0">
                <a:solidFill>
                  <a:schemeClr val="bg1"/>
                </a:solidFill>
              </a:rPr>
              <a:t>INTRODUCTION</a:t>
            </a:r>
            <a:endParaRPr lang="en-US" sz="1400" dirty="0"/>
          </a:p>
        </p:txBody>
      </p:sp>
      <p:sp>
        <p:nvSpPr>
          <p:cNvPr id="8" name="Text 5"/>
          <p:cNvSpPr txBox="1"/>
          <p:nvPr/>
        </p:nvSpPr>
        <p:spPr>
          <a:xfrm>
            <a:off x="658368" y="1673352"/>
            <a:ext cx="3346704" cy="1499616"/>
          </a:xfrm>
          <a:prstGeom prst="rect">
            <a:avLst/>
          </a:prstGeom>
          <a:noFill/>
          <a:ln/>
        </p:spPr>
        <p:txBody>
          <a:bodyPr wrap="square" lIns="508" tIns="508" rIns="508" bIns="508" rtlCol="0" anchor="t"/>
          <a:lstStyle/>
          <a:p>
            <a:pPr marL="0" indent="0" algn="l">
              <a:buNone/>
            </a:pPr>
            <a:r>
              <a:rPr lang="en-US" sz="1700" dirty="0">
                <a:solidFill>
                  <a:schemeClr val="tx1"/>
                </a:solidFill>
              </a:rPr>
              <a:t>___ is a ___ that… It is important to know about ___ because…</a:t>
            </a:r>
            <a:endParaRPr lang="en-US" sz="1700" dirty="0"/>
          </a:p>
        </p:txBody>
      </p:sp>
      <p:sp>
        <p:nvSpPr>
          <p:cNvPr id="9" name="Card ENDING"/>
          <p:cNvSpPr/>
          <p:nvPr/>
        </p:nvSpPr>
        <p:spPr>
          <a:xfrm>
            <a:off x="4361688" y="114300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4361688" y="1143000"/>
            <a:ext cx="3566160" cy="457200"/>
          </a:xfrm>
          <a:prstGeom prst="rect">
            <a:avLst/>
          </a:prstGeom>
          <a:solidFill>
            <a:schemeClr val="accent3"/>
          </a:solidFill>
          <a:ln/>
        </p:spPr>
      </p:sp>
      <p:sp>
        <p:nvSpPr>
          <p:cNvPr id="11" name="Text 8"/>
          <p:cNvSpPr txBox="1"/>
          <p:nvPr/>
        </p:nvSpPr>
        <p:spPr>
          <a:xfrm>
            <a:off x="4489704" y="1143000"/>
            <a:ext cx="3383280" cy="457200"/>
          </a:xfrm>
          <a:prstGeom prst="rect">
            <a:avLst/>
          </a:prstGeom>
          <a:noFill/>
          <a:ln/>
        </p:spPr>
        <p:txBody>
          <a:bodyPr wrap="square" lIns="0" tIns="0" rIns="0" bIns="0" rtlCol="0" anchor="ctr"/>
          <a:lstStyle/>
          <a:p>
            <a:pPr marL="0" indent="0">
              <a:buNone/>
            </a:pPr>
            <a:r>
              <a:rPr lang="en-US" sz="1400" b="1" dirty="0">
                <a:solidFill>
                  <a:schemeClr val="bg1"/>
                </a:solidFill>
              </a:rPr>
              <a:t>ENDING</a:t>
            </a:r>
            <a:endParaRPr lang="en-US" sz="1400" dirty="0"/>
          </a:p>
        </p:txBody>
      </p:sp>
      <p:sp>
        <p:nvSpPr>
          <p:cNvPr id="12" name="Text 9"/>
          <p:cNvSpPr txBox="1"/>
          <p:nvPr/>
        </p:nvSpPr>
        <p:spPr>
          <a:xfrm>
            <a:off x="4471416" y="1673352"/>
            <a:ext cx="3346704" cy="1499616"/>
          </a:xfrm>
          <a:prstGeom prst="rect">
            <a:avLst/>
          </a:prstGeom>
          <a:noFill/>
          <a:ln/>
        </p:spPr>
        <p:txBody>
          <a:bodyPr wrap="square" lIns="508" tIns="508" rIns="508" bIns="508" rtlCol="0" anchor="t"/>
          <a:lstStyle/>
          <a:p>
            <a:pPr marL="0" indent="0" algn="l">
              <a:buNone/>
            </a:pPr>
            <a:r>
              <a:rPr lang="en-US" sz="1700" dirty="0">
                <a:solidFill>
                  <a:schemeClr val="tx1"/>
                </a:solidFill>
              </a:rPr>
              <a:t>Protecting ___ matters because… If ___ disappears…</a:t>
            </a:r>
            <a:endParaRPr lang="en-US" sz="1700" dirty="0"/>
          </a:p>
        </p:txBody>
      </p:sp>
      <p:sp>
        <p:nvSpPr>
          <p:cNvPr id="13" name="Card THREAT ➜ PROTECTION"/>
          <p:cNvSpPr/>
          <p:nvPr/>
        </p:nvSpPr>
        <p:spPr>
          <a:xfrm>
            <a:off x="8174736" y="114300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8174736" y="1143000"/>
            <a:ext cx="3566160" cy="457200"/>
          </a:xfrm>
          <a:prstGeom prst="rect">
            <a:avLst/>
          </a:prstGeom>
          <a:solidFill>
            <a:schemeClr val="accent2"/>
          </a:solidFill>
          <a:ln/>
        </p:spPr>
      </p:sp>
      <p:sp>
        <p:nvSpPr>
          <p:cNvPr id="15" name="Text 12"/>
          <p:cNvSpPr txBox="1"/>
          <p:nvPr/>
        </p:nvSpPr>
        <p:spPr>
          <a:xfrm>
            <a:off x="8302752" y="1143000"/>
            <a:ext cx="3383280" cy="457200"/>
          </a:xfrm>
          <a:prstGeom prst="rect">
            <a:avLst/>
          </a:prstGeom>
          <a:noFill/>
          <a:ln/>
        </p:spPr>
        <p:txBody>
          <a:bodyPr wrap="square" lIns="0" tIns="0" rIns="0" bIns="0" rtlCol="0" anchor="ctr"/>
          <a:lstStyle/>
          <a:p>
            <a:pPr marL="0" indent="0">
              <a:buNone/>
            </a:pPr>
            <a:r>
              <a:rPr lang="en-US" sz="1400" b="1" dirty="0">
                <a:solidFill>
                  <a:schemeClr val="tx1"/>
                </a:solidFill>
              </a:rPr>
              <a:t>THREAT ➜ PROTECTION</a:t>
            </a:r>
            <a:endParaRPr lang="en-US" sz="1400" dirty="0"/>
          </a:p>
        </p:txBody>
      </p:sp>
      <p:sp>
        <p:nvSpPr>
          <p:cNvPr id="16" name="Text 13"/>
          <p:cNvSpPr txBox="1"/>
          <p:nvPr/>
        </p:nvSpPr>
        <p:spPr>
          <a:xfrm>
            <a:off x="8284464" y="1673352"/>
            <a:ext cx="3346704" cy="1499616"/>
          </a:xfrm>
          <a:prstGeom prst="rect">
            <a:avLst/>
          </a:prstGeom>
          <a:noFill/>
          <a:ln/>
        </p:spPr>
        <p:txBody>
          <a:bodyPr wrap="square" lIns="508" tIns="508" rIns="508" bIns="508" rtlCol="0" anchor="t"/>
          <a:lstStyle/>
          <a:p>
            <a:pPr marL="0" indent="0" algn="l">
              <a:buNone/>
            </a:pPr>
            <a:r>
              <a:rPr lang="en-US" sz="1700" dirty="0">
                <a:solidFill>
                  <a:schemeClr val="tx1"/>
                </a:solidFill>
              </a:rPr>
              <a:t>Every threat has its own way to protect: fishing nets ➜ safe nets</a:t>
            </a:r>
            <a:endParaRPr lang="en-US" sz="1700" dirty="0"/>
          </a:p>
        </p:txBody>
      </p:sp>
      <p:sp>
        <p:nvSpPr>
          <p:cNvPr id="17" name="Card VERBS"/>
          <p:cNvSpPr/>
          <p:nvPr/>
        </p:nvSpPr>
        <p:spPr>
          <a:xfrm>
            <a:off x="548640" y="347472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18" name="Shape 15"/>
          <p:cNvSpPr/>
          <p:nvPr/>
        </p:nvSpPr>
        <p:spPr>
          <a:xfrm>
            <a:off x="548640" y="3474720"/>
            <a:ext cx="3566160" cy="457200"/>
          </a:xfrm>
          <a:prstGeom prst="rect">
            <a:avLst/>
          </a:prstGeom>
          <a:solidFill>
            <a:schemeClr val="tx1"/>
          </a:solidFill>
          <a:ln/>
        </p:spPr>
      </p:sp>
      <p:sp>
        <p:nvSpPr>
          <p:cNvPr id="19" name="Text 16"/>
          <p:cNvSpPr txBox="1"/>
          <p:nvPr/>
        </p:nvSpPr>
        <p:spPr>
          <a:xfrm>
            <a:off x="676656" y="3474720"/>
            <a:ext cx="3383280" cy="457200"/>
          </a:xfrm>
          <a:prstGeom prst="rect">
            <a:avLst/>
          </a:prstGeom>
          <a:noFill/>
          <a:ln/>
        </p:spPr>
        <p:txBody>
          <a:bodyPr wrap="square" lIns="0" tIns="0" rIns="0" bIns="0" rtlCol="0" anchor="ctr"/>
          <a:lstStyle/>
          <a:p>
            <a:pPr marL="0" indent="0">
              <a:buNone/>
            </a:pPr>
            <a:r>
              <a:rPr lang="en-US" sz="1400" b="1" dirty="0">
                <a:solidFill>
                  <a:schemeClr val="bg1"/>
                </a:solidFill>
              </a:rPr>
              <a:t>VERBS</a:t>
            </a:r>
            <a:endParaRPr lang="en-US" sz="1400" dirty="0"/>
          </a:p>
        </p:txBody>
      </p:sp>
      <p:sp>
        <p:nvSpPr>
          <p:cNvPr id="20" name="Text 17"/>
          <p:cNvSpPr txBox="1"/>
          <p:nvPr/>
        </p:nvSpPr>
        <p:spPr>
          <a:xfrm>
            <a:off x="658368" y="4005072"/>
            <a:ext cx="3346704" cy="1499616"/>
          </a:xfrm>
          <a:prstGeom prst="rect">
            <a:avLst/>
          </a:prstGeom>
          <a:noFill/>
          <a:ln/>
        </p:spPr>
        <p:txBody>
          <a:bodyPr wrap="square" lIns="508" tIns="508" rIns="508" bIns="508" rtlCol="0" anchor="t"/>
          <a:lstStyle/>
          <a:p>
            <a:pPr marL="0" indent="0" algn="l">
              <a:buNone/>
            </a:pPr>
            <a:r>
              <a:rPr lang="en-US" sz="1700" dirty="0">
                <a:solidFill>
                  <a:schemeClr val="tx1"/>
                </a:solidFill>
              </a:rPr>
              <a:t>One: it lives, it has. Many: they live, they have.</a:t>
            </a:r>
            <a:endParaRPr lang="en-US" sz="1700" dirty="0"/>
          </a:p>
        </p:txBody>
      </p:sp>
      <p:sp>
        <p:nvSpPr>
          <p:cNvPr id="21" name="Card RELATIVE CLAUSE"/>
          <p:cNvSpPr/>
          <p:nvPr/>
        </p:nvSpPr>
        <p:spPr>
          <a:xfrm>
            <a:off x="4361688" y="347472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22" name="Shape 19"/>
          <p:cNvSpPr/>
          <p:nvPr/>
        </p:nvSpPr>
        <p:spPr>
          <a:xfrm>
            <a:off x="4361688" y="3474720"/>
            <a:ext cx="3566160" cy="457200"/>
          </a:xfrm>
          <a:prstGeom prst="rect">
            <a:avLst/>
          </a:prstGeom>
          <a:solidFill>
            <a:schemeClr val="accent1"/>
          </a:solidFill>
          <a:ln/>
        </p:spPr>
      </p:sp>
      <p:sp>
        <p:nvSpPr>
          <p:cNvPr id="23" name="Text 20"/>
          <p:cNvSpPr txBox="1"/>
          <p:nvPr/>
        </p:nvSpPr>
        <p:spPr>
          <a:xfrm>
            <a:off x="4489704" y="3474720"/>
            <a:ext cx="3383280" cy="457200"/>
          </a:xfrm>
          <a:prstGeom prst="rect">
            <a:avLst/>
          </a:prstGeom>
          <a:noFill/>
          <a:ln/>
        </p:spPr>
        <p:txBody>
          <a:bodyPr wrap="square" lIns="0" tIns="0" rIns="0" bIns="0" rtlCol="0" anchor="ctr"/>
          <a:lstStyle/>
          <a:p>
            <a:pPr marL="0" indent="0">
              <a:buNone/>
            </a:pPr>
            <a:r>
              <a:rPr lang="en-US" sz="1400" b="1" dirty="0">
                <a:solidFill>
                  <a:schemeClr val="bg1"/>
                </a:solidFill>
              </a:rPr>
              <a:t>RELATIVE CLAUSE</a:t>
            </a:r>
            <a:endParaRPr lang="en-US" sz="1400" dirty="0"/>
          </a:p>
        </p:txBody>
      </p:sp>
      <p:sp>
        <p:nvSpPr>
          <p:cNvPr id="24" name="Text 21"/>
          <p:cNvSpPr txBox="1"/>
          <p:nvPr/>
        </p:nvSpPr>
        <p:spPr>
          <a:xfrm>
            <a:off x="4471416" y="4005072"/>
            <a:ext cx="3346704" cy="1499616"/>
          </a:xfrm>
          <a:prstGeom prst="rect">
            <a:avLst/>
          </a:prstGeom>
          <a:noFill/>
          <a:ln/>
        </p:spPr>
        <p:txBody>
          <a:bodyPr wrap="square" lIns="508" tIns="508" rIns="508" bIns="508" rtlCol="0" anchor="t"/>
          <a:lstStyle/>
          <a:p>
            <a:pPr marL="0" indent="0" algn="l">
              <a:buNone/>
            </a:pPr>
            <a:r>
              <a:rPr lang="en-US" sz="1700" dirty="0">
                <a:solidFill>
                  <a:schemeClr val="tx1"/>
                </a:solidFill>
              </a:rPr>
              <a:t>The whale, which is the largest animal on Earth, lives in…</a:t>
            </a:r>
            <a:endParaRPr lang="en-US" sz="1700" dirty="0"/>
          </a:p>
        </p:txBody>
      </p:sp>
      <p:sp>
        <p:nvSpPr>
          <p:cNvPr id="25" name="Card CHECK"/>
          <p:cNvSpPr/>
          <p:nvPr/>
        </p:nvSpPr>
        <p:spPr>
          <a:xfrm>
            <a:off x="8174736" y="3474720"/>
            <a:ext cx="3566160" cy="2103120"/>
          </a:xfrm>
          <a:prstGeom prst="rect">
            <a:avLst/>
          </a:prstGeom>
          <a:solidFill>
            <a:schemeClr val="bg1"/>
          </a:solidFill>
          <a:ln/>
          <a:effectLst>
            <a:outerShdw blurRad="76200" dist="25400" dir="5400000" algn="bl" rotWithShape="0">
              <a:srgbClr val="000000">
                <a:alpha val="12000"/>
              </a:srgbClr>
            </a:outerShdw>
          </a:effectLst>
        </p:spPr>
      </p:sp>
      <p:sp>
        <p:nvSpPr>
          <p:cNvPr id="26" name="Shape 23"/>
          <p:cNvSpPr/>
          <p:nvPr/>
        </p:nvSpPr>
        <p:spPr>
          <a:xfrm>
            <a:off x="8174736" y="3474720"/>
            <a:ext cx="3566160" cy="457200"/>
          </a:xfrm>
          <a:prstGeom prst="rect">
            <a:avLst/>
          </a:prstGeom>
          <a:solidFill>
            <a:schemeClr val="accent3"/>
          </a:solidFill>
          <a:ln/>
        </p:spPr>
      </p:sp>
      <p:sp>
        <p:nvSpPr>
          <p:cNvPr id="27" name="Text 24"/>
          <p:cNvSpPr txBox="1"/>
          <p:nvPr/>
        </p:nvSpPr>
        <p:spPr>
          <a:xfrm>
            <a:off x="8302752" y="3474720"/>
            <a:ext cx="3383280" cy="457200"/>
          </a:xfrm>
          <a:prstGeom prst="rect">
            <a:avLst/>
          </a:prstGeom>
          <a:noFill/>
          <a:ln/>
        </p:spPr>
        <p:txBody>
          <a:bodyPr wrap="square" lIns="0" tIns="0" rIns="0" bIns="0" rtlCol="0" anchor="ctr"/>
          <a:lstStyle/>
          <a:p>
            <a:pPr marL="0" indent="0">
              <a:buNone/>
            </a:pPr>
            <a:r>
              <a:rPr lang="en-US" sz="1400" b="1" dirty="0">
                <a:solidFill>
                  <a:schemeClr val="bg1"/>
                </a:solidFill>
              </a:rPr>
              <a:t>CHECK</a:t>
            </a:r>
            <a:endParaRPr lang="en-US" sz="1400" dirty="0"/>
          </a:p>
        </p:txBody>
      </p:sp>
      <p:sp>
        <p:nvSpPr>
          <p:cNvPr id="28" name="Text 25"/>
          <p:cNvSpPr txBox="1"/>
          <p:nvPr/>
        </p:nvSpPr>
        <p:spPr>
          <a:xfrm>
            <a:off x="8284464" y="4005072"/>
            <a:ext cx="3346704" cy="1499616"/>
          </a:xfrm>
          <a:prstGeom prst="rect">
            <a:avLst/>
          </a:prstGeom>
          <a:noFill/>
          <a:ln/>
        </p:spPr>
        <p:txBody>
          <a:bodyPr wrap="square" lIns="508" tIns="508" rIns="508" bIns="508" rtlCol="0" anchor="t"/>
          <a:lstStyle/>
          <a:p>
            <a:pPr marL="0" indent="0" algn="l">
              <a:buNone/>
            </a:pPr>
            <a:r>
              <a:rPr lang="en-US" sz="1700" dirty="0">
                <a:solidFill>
                  <a:schemeClr val="tx1"/>
                </a:solidFill>
              </a:rPr>
              <a:t>Facts checked · spelling · capitals · finger-spaces</a:t>
            </a:r>
            <a:endParaRPr lang="en-US" sz="1700" dirty="0"/>
          </a:p>
        </p:txBody>
      </p:sp>
      <p:sp>
        <p:nvSpPr>
          <p:cNvPr id="29" name="Text 26"/>
          <p:cNvSpPr txBox="1"/>
          <p:nvPr/>
        </p:nvSpPr>
        <p:spPr>
          <a:xfrm>
            <a:off x="548640" y="5897880"/>
            <a:ext cx="11094415" cy="54864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Use the toolkit to fix your target</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Plenary: share and reflect</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PLENARY</a:t>
            </a:r>
            <a:endParaRPr lang="en-US" sz="1100" dirty="0"/>
          </a:p>
        </p:txBody>
      </p:sp>
      <p:sp>
        <p:nvSpPr>
          <p:cNvPr id="5" name="Card 📣  SHARE"/>
          <p:cNvSpPr/>
          <p:nvPr/>
        </p:nvSpPr>
        <p:spPr>
          <a:xfrm>
            <a:off x="548640" y="1188720"/>
            <a:ext cx="3566160" cy="3566160"/>
          </a:xfrm>
          <a:prstGeom prst="rect">
            <a:avLst/>
          </a:prstGeom>
          <a:solidFill>
            <a:schemeClr val="bg1"/>
          </a:solidFill>
          <a:ln/>
          <a:effectLst>
            <a:outerShdw blurRad="76200" dist="25400" dir="5400000" algn="bl" rotWithShape="0">
              <a:srgbClr val="000000">
                <a:alpha val="12000"/>
              </a:srgbClr>
            </a:outerShdw>
          </a:effectLst>
        </p:spPr>
      </p:sp>
      <p:sp>
        <p:nvSpPr>
          <p:cNvPr id="6" name="Shape 3"/>
          <p:cNvSpPr/>
          <p:nvPr/>
        </p:nvSpPr>
        <p:spPr>
          <a:xfrm>
            <a:off x="548640" y="1188720"/>
            <a:ext cx="3566160" cy="502920"/>
          </a:xfrm>
          <a:prstGeom prst="rect">
            <a:avLst/>
          </a:prstGeom>
          <a:solidFill>
            <a:schemeClr val="accent1"/>
          </a:solidFill>
          <a:ln/>
        </p:spPr>
      </p:sp>
      <p:sp>
        <p:nvSpPr>
          <p:cNvPr id="7" name="Text 4"/>
          <p:cNvSpPr txBox="1"/>
          <p:nvPr/>
        </p:nvSpPr>
        <p:spPr>
          <a:xfrm>
            <a:off x="676656" y="1188720"/>
            <a:ext cx="3383280" cy="502920"/>
          </a:xfrm>
          <a:prstGeom prst="rect">
            <a:avLst/>
          </a:prstGeom>
          <a:noFill/>
          <a:ln/>
        </p:spPr>
        <p:txBody>
          <a:bodyPr wrap="square" lIns="0" tIns="0" rIns="0" bIns="0" rtlCol="0" anchor="ctr"/>
          <a:lstStyle/>
          <a:p>
            <a:pPr marL="0" indent="0">
              <a:buNone/>
            </a:pPr>
            <a:r>
              <a:rPr lang="en-US" sz="1500" b="1" dirty="0">
                <a:solidFill>
                  <a:schemeClr val="bg1"/>
                </a:solidFill>
              </a:rPr>
              <a:t>📣  SHARE</a:t>
            </a:r>
            <a:endParaRPr lang="en-US" sz="1500" dirty="0"/>
          </a:p>
        </p:txBody>
      </p:sp>
      <p:sp>
        <p:nvSpPr>
          <p:cNvPr id="8" name="Text 5"/>
          <p:cNvSpPr txBox="1"/>
          <p:nvPr/>
        </p:nvSpPr>
        <p:spPr>
          <a:xfrm>
            <a:off x="658368" y="1764792"/>
            <a:ext cx="3346704" cy="291693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Read your improved sentence aloud</a:t>
            </a:r>
            <a:endParaRPr lang="en-US" sz="1600" dirty="0"/>
          </a:p>
          <a:p>
            <a:pPr marL="342900" indent="-342900" algn="l">
              <a:spcAft>
                <a:spcPts val="1000"/>
              </a:spcAft>
              <a:buSzPct val="100000"/>
              <a:buChar char="•"/>
            </a:pPr>
            <a:r>
              <a:rPr lang="en-US" sz="1600" dirty="0">
                <a:solidFill>
                  <a:schemeClr val="tx1"/>
                </a:solidFill>
              </a:rPr>
              <a:t>Class: which fix is it?</a:t>
            </a:r>
            <a:endParaRPr lang="en-US" sz="1600" dirty="0"/>
          </a:p>
          <a:p>
            <a:pPr marL="342900" indent="-342900" algn="l">
              <a:spcAft>
                <a:spcPts val="1000"/>
              </a:spcAft>
              <a:buSzPct val="100000"/>
              <a:buChar char="•"/>
            </a:pPr>
            <a:r>
              <a:rPr lang="en-US" sz="1600" dirty="0">
                <a:solidFill>
                  <a:schemeClr val="tx1"/>
                </a:solidFill>
              </a:rPr>
              <a:t>What changed from your first version?</a:t>
            </a:r>
            <a:endParaRPr lang="en-US" sz="1600" dirty="0"/>
          </a:p>
        </p:txBody>
      </p:sp>
      <p:sp>
        <p:nvSpPr>
          <p:cNvPr id="9" name="Card 🚦  TRAFFIC LIGHTS"/>
          <p:cNvSpPr/>
          <p:nvPr/>
        </p:nvSpPr>
        <p:spPr>
          <a:xfrm>
            <a:off x="4315968" y="1188720"/>
            <a:ext cx="3566160" cy="3566160"/>
          </a:xfrm>
          <a:prstGeom prst="rect">
            <a:avLst/>
          </a:prstGeom>
          <a:solidFill>
            <a:schemeClr val="bg1"/>
          </a:solidFill>
          <a:ln/>
          <a:effectLst>
            <a:outerShdw blurRad="76200" dist="25400" dir="5400000" algn="bl" rotWithShape="0">
              <a:srgbClr val="000000">
                <a:alpha val="12000"/>
              </a:srgbClr>
            </a:outerShdw>
          </a:effectLst>
        </p:spPr>
      </p:sp>
      <p:sp>
        <p:nvSpPr>
          <p:cNvPr id="10" name="Shape 7"/>
          <p:cNvSpPr/>
          <p:nvPr/>
        </p:nvSpPr>
        <p:spPr>
          <a:xfrm>
            <a:off x="4315968" y="1188720"/>
            <a:ext cx="3566160" cy="502920"/>
          </a:xfrm>
          <a:prstGeom prst="rect">
            <a:avLst/>
          </a:prstGeom>
          <a:solidFill>
            <a:schemeClr val="accent2"/>
          </a:solidFill>
          <a:ln/>
        </p:spPr>
      </p:sp>
      <p:sp>
        <p:nvSpPr>
          <p:cNvPr id="11" name="Text 8"/>
          <p:cNvSpPr txBox="1"/>
          <p:nvPr/>
        </p:nvSpPr>
        <p:spPr>
          <a:xfrm>
            <a:off x="4443984" y="1188720"/>
            <a:ext cx="3383280" cy="502920"/>
          </a:xfrm>
          <a:prstGeom prst="rect">
            <a:avLst/>
          </a:prstGeom>
          <a:noFill/>
          <a:ln/>
        </p:spPr>
        <p:txBody>
          <a:bodyPr wrap="square" lIns="0" tIns="0" rIns="0" bIns="0" rtlCol="0" anchor="ctr"/>
          <a:lstStyle/>
          <a:p>
            <a:pPr marL="0" indent="0">
              <a:buNone/>
            </a:pPr>
            <a:r>
              <a:rPr lang="en-US" sz="1500" b="1" dirty="0">
                <a:solidFill>
                  <a:schemeClr val="tx1"/>
                </a:solidFill>
              </a:rPr>
              <a:t>🚦  TRAFFIC LIGHTS</a:t>
            </a:r>
            <a:endParaRPr lang="en-US" sz="1500" dirty="0"/>
          </a:p>
        </p:txBody>
      </p:sp>
      <p:sp>
        <p:nvSpPr>
          <p:cNvPr id="12" name="Text 9"/>
          <p:cNvSpPr txBox="1"/>
          <p:nvPr/>
        </p:nvSpPr>
        <p:spPr>
          <a:xfrm>
            <a:off x="4425696" y="1764792"/>
            <a:ext cx="3346704" cy="291693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I can check my draft against the success criteria</a:t>
            </a:r>
            <a:endParaRPr lang="en-US" sz="1600" dirty="0"/>
          </a:p>
          <a:p>
            <a:pPr marL="342900" indent="-342900" algn="l">
              <a:spcAft>
                <a:spcPts val="1000"/>
              </a:spcAft>
              <a:buSzPct val="100000"/>
              <a:buChar char="•"/>
            </a:pPr>
            <a:r>
              <a:rPr lang="en-US" sz="1600" dirty="0">
                <a:solidFill>
                  <a:schemeClr val="tx1"/>
                </a:solidFill>
              </a:rPr>
              <a:t>I can give one strength and one improvement</a:t>
            </a:r>
            <a:endParaRPr lang="en-US" sz="1600" dirty="0"/>
          </a:p>
          <a:p>
            <a:pPr marL="342900" indent="-342900" algn="l">
              <a:spcAft>
                <a:spcPts val="1000"/>
              </a:spcAft>
              <a:buSzPct val="100000"/>
              <a:buChar char="•"/>
            </a:pPr>
            <a:r>
              <a:rPr lang="en-US" sz="1600" dirty="0">
                <a:solidFill>
                  <a:schemeClr val="tx1"/>
                </a:solidFill>
              </a:rPr>
              <a:t>I can use feedback to improve my writing</a:t>
            </a:r>
            <a:endParaRPr lang="en-US" sz="1600" dirty="0"/>
          </a:p>
        </p:txBody>
      </p:sp>
      <p:sp>
        <p:nvSpPr>
          <p:cNvPr id="13" name="Card 💡  LOOK AHEAD"/>
          <p:cNvSpPr/>
          <p:nvPr/>
        </p:nvSpPr>
        <p:spPr>
          <a:xfrm>
            <a:off x="8092440" y="1188720"/>
            <a:ext cx="3566160" cy="3566160"/>
          </a:xfrm>
          <a:prstGeom prst="rect">
            <a:avLst/>
          </a:prstGeom>
          <a:solidFill>
            <a:schemeClr val="bg1"/>
          </a:solidFill>
          <a:ln/>
          <a:effectLst>
            <a:outerShdw blurRad="76200" dist="25400" dir="5400000" algn="bl" rotWithShape="0">
              <a:srgbClr val="000000">
                <a:alpha val="12000"/>
              </a:srgbClr>
            </a:outerShdw>
          </a:effectLst>
        </p:spPr>
      </p:sp>
      <p:sp>
        <p:nvSpPr>
          <p:cNvPr id="14" name="Shape 11"/>
          <p:cNvSpPr/>
          <p:nvPr/>
        </p:nvSpPr>
        <p:spPr>
          <a:xfrm>
            <a:off x="8092440" y="1188720"/>
            <a:ext cx="3566160" cy="502920"/>
          </a:xfrm>
          <a:prstGeom prst="rect">
            <a:avLst/>
          </a:prstGeom>
          <a:solidFill>
            <a:schemeClr val="accent3"/>
          </a:solidFill>
          <a:ln/>
        </p:spPr>
      </p:sp>
      <p:sp>
        <p:nvSpPr>
          <p:cNvPr id="15" name="Text 12"/>
          <p:cNvSpPr txBox="1"/>
          <p:nvPr/>
        </p:nvSpPr>
        <p:spPr>
          <a:xfrm>
            <a:off x="8220456" y="1188720"/>
            <a:ext cx="3383280" cy="502920"/>
          </a:xfrm>
          <a:prstGeom prst="rect">
            <a:avLst/>
          </a:prstGeom>
          <a:noFill/>
          <a:ln/>
        </p:spPr>
        <p:txBody>
          <a:bodyPr wrap="square" lIns="0" tIns="0" rIns="0" bIns="0" rtlCol="0" anchor="ctr"/>
          <a:lstStyle/>
          <a:p>
            <a:pPr marL="0" indent="0">
              <a:buNone/>
            </a:pPr>
            <a:r>
              <a:rPr lang="en-US" sz="1500" b="1" dirty="0">
                <a:solidFill>
                  <a:schemeClr val="bg1"/>
                </a:solidFill>
              </a:rPr>
              <a:t>💡  LOOK AHEAD</a:t>
            </a:r>
            <a:endParaRPr lang="en-US" sz="1500" dirty="0"/>
          </a:p>
        </p:txBody>
      </p:sp>
      <p:sp>
        <p:nvSpPr>
          <p:cNvPr id="16" name="Text 13"/>
          <p:cNvSpPr txBox="1"/>
          <p:nvPr/>
        </p:nvSpPr>
        <p:spPr>
          <a:xfrm>
            <a:off x="8202168" y="1764792"/>
            <a:ext cx="3346704" cy="2916936"/>
          </a:xfrm>
          <a:prstGeom prst="rect">
            <a:avLst/>
          </a:prstGeom>
          <a:noFill/>
          <a:ln/>
        </p:spPr>
        <p:txBody>
          <a:bodyPr wrap="square" lIns="508" tIns="508" rIns="508" bIns="508" rtlCol="0" anchor="t"/>
          <a:lstStyle/>
          <a:p>
            <a:pPr marL="342900" indent="-342900" algn="l">
              <a:spcAft>
                <a:spcPts val="1000"/>
              </a:spcAft>
              <a:buSzPct val="100000"/>
              <a:buChar char="•"/>
            </a:pPr>
            <a:r>
              <a:rPr lang="en-US" sz="1600" dirty="0">
                <a:solidFill>
                  <a:schemeClr val="tx1"/>
                </a:solidFill>
              </a:rPr>
              <a:t>Which problem is still hardest for you?</a:t>
            </a:r>
            <a:endParaRPr lang="en-US" sz="1600" dirty="0"/>
          </a:p>
          <a:p>
            <a:pPr marL="342900" indent="-342900" algn="l">
              <a:spcAft>
                <a:spcPts val="1000"/>
              </a:spcAft>
              <a:buSzPct val="100000"/>
              <a:buChar char="•"/>
            </a:pPr>
            <a:r>
              <a:rPr lang="en-US" sz="1600" dirty="0">
                <a:solidFill>
                  <a:schemeClr val="tx1"/>
                </a:solidFill>
              </a:rPr>
              <a:t>What was your partner’s most useful feedback?</a:t>
            </a:r>
            <a:endParaRPr lang="en-US" sz="1600" dirty="0"/>
          </a:p>
        </p:txBody>
      </p:sp>
      <p:sp>
        <p:nvSpPr>
          <p:cNvPr id="17" name="Text 14"/>
          <p:cNvSpPr txBox="1"/>
          <p:nvPr/>
        </p:nvSpPr>
        <p:spPr>
          <a:xfrm>
            <a:off x="548640" y="5120640"/>
            <a:ext cx="11094415" cy="640080"/>
          </a:xfrm>
          <a:prstGeom prst="rect">
            <a:avLst/>
          </a:prstGeom>
          <a:solidFill>
            <a:schemeClr val="tx1"/>
          </a:solidFill>
          <a:ln/>
        </p:spPr>
        <p:txBody>
          <a:bodyPr wrap="square" lIns="1270" tIns="1270" rIns="1270" bIns="1270" rtlCol="0" anchor="ctr"/>
          <a:lstStyle/>
          <a:p>
            <a:pPr marL="0" indent="0" algn="ctr">
              <a:buNone/>
            </a:pPr>
            <a:r>
              <a:rPr lang="en-US" sz="1600" dirty="0">
                <a:solidFill>
                  <a:schemeClr val="bg1"/>
                </a:solidFill>
              </a:rPr>
              <a:t>🟢 I can do it     🟡 I need a little more practice     🔴 I need help</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Exit ticket 🎫</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EXIT</a:t>
            </a:r>
            <a:endParaRPr lang="en-US" sz="1100" dirty="0"/>
          </a:p>
        </p:txBody>
      </p:sp>
      <p:sp>
        <p:nvSpPr>
          <p:cNvPr id="5" name="Text 2"/>
          <p:cNvSpPr txBox="1"/>
          <p:nvPr/>
        </p:nvSpPr>
        <p:spPr>
          <a:xfrm>
            <a:off x="731520" y="13716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554480" y="1280160"/>
            <a:ext cx="9966960" cy="1371600"/>
          </a:xfrm>
          <a:prstGeom prst="rect">
            <a:avLst/>
          </a:prstGeom>
          <a:noFill/>
          <a:ln/>
        </p:spPr>
        <p:txBody>
          <a:bodyPr wrap="square" lIns="0" tIns="0" rIns="0" bIns="0" rtlCol="0" anchor="t"/>
          <a:lstStyle/>
          <a:p>
            <a:pPr marL="0" indent="0">
              <a:buNone/>
            </a:pPr>
            <a:r>
              <a:rPr lang="en-US" sz="2200" b="1" dirty="0">
                <a:solidFill>
                  <a:schemeClr val="tx1"/>
                </a:solidFill>
              </a:rPr>
              <a:t>What two things should an introduction tell the reader?</a:t>
            </a:r>
            <a:endParaRPr lang="en-US" sz="2200" dirty="0"/>
          </a:p>
        </p:txBody>
      </p:sp>
      <p:sp>
        <p:nvSpPr>
          <p:cNvPr id="7" name="Text 4"/>
          <p:cNvSpPr txBox="1"/>
          <p:nvPr/>
        </p:nvSpPr>
        <p:spPr>
          <a:xfrm>
            <a:off x="731520" y="29718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Text 5"/>
          <p:cNvSpPr txBox="1"/>
          <p:nvPr/>
        </p:nvSpPr>
        <p:spPr>
          <a:xfrm>
            <a:off x="1554480" y="2880360"/>
            <a:ext cx="9966960" cy="1371600"/>
          </a:xfrm>
          <a:prstGeom prst="rect">
            <a:avLst/>
          </a:prstGeom>
          <a:noFill/>
          <a:ln/>
        </p:spPr>
        <p:txBody>
          <a:bodyPr wrap="square" lIns="0" tIns="0" rIns="0" bIns="0" rtlCol="0" anchor="t"/>
          <a:lstStyle/>
          <a:p>
            <a:pPr marL="0" indent="0">
              <a:buNone/>
            </a:pPr>
            <a:r>
              <a:rPr lang="en-US" sz="2200" b="1" dirty="0">
                <a:solidFill>
                  <a:schemeClr val="tx1"/>
                </a:solidFill>
              </a:rPr>
              <a:t>Add the commas: The cheetah which is the fastest land animal lives in Africa.</a:t>
            </a:r>
            <a:endParaRPr lang="en-US" sz="2200" dirty="0"/>
          </a:p>
        </p:txBody>
      </p:sp>
      <p:sp>
        <p:nvSpPr>
          <p:cNvPr id="9" name="Text 6"/>
          <p:cNvSpPr txBox="1"/>
          <p:nvPr/>
        </p:nvSpPr>
        <p:spPr>
          <a:xfrm>
            <a:off x="731520" y="45720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0" name="Text 7"/>
          <p:cNvSpPr txBox="1"/>
          <p:nvPr/>
        </p:nvSpPr>
        <p:spPr>
          <a:xfrm>
            <a:off x="1554480" y="4480560"/>
            <a:ext cx="9966960" cy="1371600"/>
          </a:xfrm>
          <a:prstGeom prst="rect">
            <a:avLst/>
          </a:prstGeom>
          <a:noFill/>
          <a:ln/>
        </p:spPr>
        <p:txBody>
          <a:bodyPr wrap="square" lIns="0" tIns="0" rIns="0" bIns="0" rtlCol="0" anchor="t"/>
          <a:lstStyle/>
          <a:p>
            <a:pPr marL="0" indent="0">
              <a:buNone/>
            </a:pPr>
            <a:r>
              <a:rPr lang="en-US" sz="2200" b="1" dirty="0">
                <a:solidFill>
                  <a:schemeClr val="tx1"/>
                </a:solidFill>
              </a:rPr>
              <a:t>Finish the sentence: Protecting ___ matters because ___.</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0"/>
            <a:ext cx="9326880" cy="822960"/>
          </a:xfrm>
          <a:prstGeom prst="rect">
            <a:avLst/>
          </a:prstGeom>
          <a:noFill/>
          <a:ln/>
        </p:spPr>
        <p:txBody>
          <a:bodyPr wrap="square" lIns="0" tIns="0" rIns="0" bIns="0" rtlCol="0" anchor="ctr"/>
          <a:lstStyle/>
          <a:p>
            <a:pPr marL="0" indent="0" algn="l">
              <a:buNone/>
            </a:pPr>
            <a:r>
              <a:rPr lang="en-US" sz="2600" b="1" dirty="0">
                <a:solidFill>
                  <a:schemeClr val="bg1"/>
                </a:solidFill>
                <a:latin typeface="+mj-lt" pitchFamily="34" charset="0"/>
                <a:ea typeface="+mj-lt" pitchFamily="34" charset="-122"/>
                <a:cs typeface="+mj-lt" pitchFamily="34" charset="-120"/>
              </a:rPr>
              <a:t>Exit ticket 🎫</a:t>
            </a:r>
            <a:endParaRPr lang="en-US" sz="2600" dirty="0"/>
          </a:p>
        </p:txBody>
      </p:sp>
      <p:sp>
        <p:nvSpPr>
          <p:cNvPr id="3" name="Tag"/>
          <p:cNvSpPr txBox="1"/>
          <p:nvPr/>
        </p:nvSpPr>
        <p:spPr>
          <a:xfrm>
            <a:off x="10332720" y="256032"/>
            <a:ext cx="1463040" cy="310896"/>
          </a:xfrm>
          <a:prstGeom prst="rect">
            <a:avLst/>
          </a:prstGeom>
          <a:solidFill>
            <a:schemeClr val="accent2"/>
          </a:solidFill>
          <a:ln/>
        </p:spPr>
        <p:txBody>
          <a:bodyPr wrap="square" lIns="0" tIns="0" rIns="0" bIns="0" rtlCol="0" anchor="ctr"/>
          <a:lstStyle/>
          <a:p>
            <a:pPr marL="0" indent="0" algn="ctr">
              <a:buNone/>
            </a:pPr>
            <a:r>
              <a:rPr lang="en-US" sz="1100" b="1" dirty="0">
                <a:solidFill>
                  <a:schemeClr val="tx1"/>
                </a:solidFill>
              </a:rPr>
              <a:t>EXIT</a:t>
            </a:r>
            <a:endParaRPr lang="en-US" sz="1100" dirty="0"/>
          </a:p>
        </p:txBody>
      </p:sp>
      <p:sp>
        <p:nvSpPr>
          <p:cNvPr id="5" name="Text 2"/>
          <p:cNvSpPr txBox="1"/>
          <p:nvPr/>
        </p:nvSpPr>
        <p:spPr>
          <a:xfrm>
            <a:off x="731520" y="13716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 3"/>
          <p:cNvSpPr txBox="1"/>
          <p:nvPr/>
        </p:nvSpPr>
        <p:spPr>
          <a:xfrm>
            <a:off x="1554480" y="1280160"/>
            <a:ext cx="9966960" cy="1371600"/>
          </a:xfrm>
          <a:prstGeom prst="rect">
            <a:avLst/>
          </a:prstGeom>
          <a:noFill/>
          <a:ln/>
        </p:spPr>
        <p:txBody>
          <a:bodyPr wrap="square" lIns="0" tIns="0" rIns="0" bIns="0" rtlCol="0" anchor="t"/>
          <a:lstStyle/>
          <a:p>
            <a:pPr marL="0" indent="0">
              <a:buNone/>
            </a:pPr>
            <a:r>
              <a:rPr lang="en-US" sz="2200" b="1" dirty="0">
                <a:solidFill>
                  <a:schemeClr val="tx1"/>
                </a:solidFill>
              </a:rPr>
              <a:t>What two things should an introduction tell the reader?</a:t>
            </a:r>
            <a:endParaRPr lang="en-US" sz="2200" dirty="0"/>
          </a:p>
          <a:p>
            <a:pPr marL="0" indent="0">
              <a:buNone/>
            </a:pPr>
            <a:r>
              <a:rPr lang="en-US" sz="1900" i="1" dirty="0">
                <a:solidFill>
                  <a:schemeClr val="accent1"/>
                </a:solidFill>
              </a:rPr>
              <a:t>✅ What the creature is + why it is important to know about it.</a:t>
            </a:r>
            <a:endParaRPr lang="en-US" sz="2200" dirty="0"/>
          </a:p>
        </p:txBody>
      </p:sp>
      <p:sp>
        <p:nvSpPr>
          <p:cNvPr id="7" name="Text 4"/>
          <p:cNvSpPr txBox="1"/>
          <p:nvPr/>
        </p:nvSpPr>
        <p:spPr>
          <a:xfrm>
            <a:off x="731520" y="29718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8" name="Text 5"/>
          <p:cNvSpPr txBox="1"/>
          <p:nvPr/>
        </p:nvSpPr>
        <p:spPr>
          <a:xfrm>
            <a:off x="1554480" y="2880360"/>
            <a:ext cx="9966960" cy="1371600"/>
          </a:xfrm>
          <a:prstGeom prst="rect">
            <a:avLst/>
          </a:prstGeom>
          <a:noFill/>
          <a:ln/>
        </p:spPr>
        <p:txBody>
          <a:bodyPr wrap="square" lIns="0" tIns="0" rIns="0" bIns="0" rtlCol="0" anchor="t"/>
          <a:lstStyle/>
          <a:p>
            <a:pPr marL="0" indent="0">
              <a:buNone/>
            </a:pPr>
            <a:r>
              <a:rPr lang="en-US" sz="2200" b="1" dirty="0">
                <a:solidFill>
                  <a:schemeClr val="tx1"/>
                </a:solidFill>
              </a:rPr>
              <a:t>Add the commas: The cheetah which is the fastest land animal lives in Africa.</a:t>
            </a:r>
            <a:endParaRPr lang="en-US" sz="2200" dirty="0"/>
          </a:p>
          <a:p>
            <a:pPr marL="0" indent="0">
              <a:buNone/>
            </a:pPr>
            <a:r>
              <a:rPr lang="en-US" sz="1900" i="1" dirty="0">
                <a:solidFill>
                  <a:schemeClr val="accent1"/>
                </a:solidFill>
              </a:rPr>
              <a:t>✅ The cheetah, which is the fastest land animal, lives in Africa.</a:t>
            </a:r>
            <a:endParaRPr lang="en-US" sz="2200" dirty="0"/>
          </a:p>
        </p:txBody>
      </p:sp>
      <p:sp>
        <p:nvSpPr>
          <p:cNvPr id="9" name="Text 6"/>
          <p:cNvSpPr txBox="1"/>
          <p:nvPr/>
        </p:nvSpPr>
        <p:spPr>
          <a:xfrm>
            <a:off x="731520" y="457200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0" name="Text 7"/>
          <p:cNvSpPr txBox="1"/>
          <p:nvPr/>
        </p:nvSpPr>
        <p:spPr>
          <a:xfrm>
            <a:off x="1554480" y="4480560"/>
            <a:ext cx="9966960" cy="1371600"/>
          </a:xfrm>
          <a:prstGeom prst="rect">
            <a:avLst/>
          </a:prstGeom>
          <a:noFill/>
          <a:ln/>
        </p:spPr>
        <p:txBody>
          <a:bodyPr wrap="square" lIns="0" tIns="0" rIns="0" bIns="0" rtlCol="0" anchor="t"/>
          <a:lstStyle/>
          <a:p>
            <a:pPr marL="0" indent="0">
              <a:buNone/>
            </a:pPr>
            <a:r>
              <a:rPr lang="en-US" sz="2200" b="1" dirty="0">
                <a:solidFill>
                  <a:schemeClr val="tx1"/>
                </a:solidFill>
              </a:rPr>
              <a:t>Finish the sentence: Protecting ___ matters because ___.</a:t>
            </a:r>
            <a:endParaRPr lang="en-US" sz="2200" dirty="0"/>
          </a:p>
          <a:p>
            <a:pPr marL="0" indent="0">
              <a:buNone/>
            </a:pPr>
            <a:r>
              <a:rPr lang="en-US" sz="1900" i="1" dirty="0">
                <a:solidFill>
                  <a:schemeClr val="accent1"/>
                </a:solidFill>
              </a:rPr>
              <a:t>✅ Any reason, for example: Protecting blue whales matters because they keep the ocean in balance.</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ext 0"/>
          <p:cNvSpPr txBox="1"/>
          <p:nvPr/>
        </p:nvSpPr>
        <p:spPr>
          <a:xfrm>
            <a:off x="731520" y="822960"/>
            <a:ext cx="731520" cy="731520"/>
          </a:xfrm>
          <a:prstGeom prst="rect">
            <a:avLst/>
          </a:prstGeom>
          <a:noFill/>
          <a:ln/>
        </p:spPr>
        <p:txBody>
          <a:bodyPr wrap="square" lIns="0" tIns="0" rIns="0" bIns="0" rtlCol="0" anchor="ctr"/>
          <a:lstStyle/>
          <a:p>
            <a:pPr marL="0" indent="0">
              <a:buNone/>
            </a:pPr>
            <a:r>
              <a:rPr lang="en-US" sz="3600" dirty="0">
                <a:solidFill>
                  <a:srgbClr val="000000"/>
                </a:solidFill>
              </a:rPr>
              <a:t>✍️</a:t>
            </a:r>
            <a:endParaRPr lang="en-US" sz="3600" dirty="0"/>
          </a:p>
        </p:txBody>
      </p:sp>
      <p:sp>
        <p:nvSpPr>
          <p:cNvPr id="4" name="Text 1"/>
          <p:cNvSpPr txBox="1"/>
          <p:nvPr/>
        </p:nvSpPr>
        <p:spPr>
          <a:xfrm>
            <a:off x="1524000" y="822960"/>
            <a:ext cx="9144000" cy="731520"/>
          </a:xfrm>
          <a:prstGeom prst="rect">
            <a:avLst/>
          </a:prstGeom>
          <a:noFill/>
          <a:ln/>
        </p:spPr>
        <p:txBody>
          <a:bodyPr wrap="square" lIns="0" tIns="0" rIns="0" bIns="0" rtlCol="0" anchor="ctr"/>
          <a:lstStyle/>
          <a:p>
            <a:pPr marL="0" indent="0">
              <a:buNone/>
            </a:pPr>
            <a:r>
              <a:rPr lang="en-US" sz="3600" b="1" dirty="0">
                <a:solidFill>
                  <a:schemeClr val="bg1"/>
                </a:solidFill>
                <a:latin typeface="+mj-lt" pitchFamily="34" charset="0"/>
                <a:ea typeface="+mj-lt" pitchFamily="34" charset="-122"/>
                <a:cs typeface="+mj-lt" pitchFamily="34" charset="-120"/>
              </a:rPr>
              <a:t>Homework: finish your draft</a:t>
            </a:r>
            <a:endParaRPr lang="en-US" sz="3600" dirty="0"/>
          </a:p>
        </p:txBody>
      </p:sp>
      <p:sp>
        <p:nvSpPr>
          <p:cNvPr id="5" name="Text 2"/>
          <p:cNvSpPr txBox="1"/>
          <p:nvPr/>
        </p:nvSpPr>
        <p:spPr>
          <a:xfrm>
            <a:off x="822960" y="2011680"/>
            <a:ext cx="10058400" cy="182880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chemeClr val="bg1"/>
                </a:solidFill>
              </a:rPr>
              <a:t>Fix your target and your partner’s improvement.</a:t>
            </a:r>
            <a:endParaRPr lang="en-US" sz="2400" dirty="0"/>
          </a:p>
          <a:p>
            <a:pPr marL="342900" indent="-342900">
              <a:spcAft>
                <a:spcPts val="800"/>
              </a:spcAft>
              <a:buSzPct val="100000"/>
              <a:buChar char="•"/>
            </a:pPr>
            <a:r>
              <a:rPr lang="en-US" sz="2400" dirty="0">
                <a:solidFill>
                  <a:schemeClr val="bg1"/>
                </a:solidFill>
              </a:rPr>
              <a:t>Check one fact in a reliable source.</a:t>
            </a:r>
            <a:endParaRPr lang="en-US" sz="2400" dirty="0"/>
          </a:p>
          <a:p>
            <a:pPr marL="342900" indent="-342900">
              <a:spcAft>
                <a:spcPts val="800"/>
              </a:spcAft>
              <a:buSzPct val="100000"/>
              <a:buChar char="•"/>
            </a:pPr>
            <a:r>
              <a:rPr lang="en-US" sz="2400" dirty="0">
                <a:solidFill>
                  <a:schemeClr val="bg1"/>
                </a:solidFill>
              </a:rPr>
              <a:t>Read it aloud to someone at home. Does it sound clear and well organised?</a:t>
            </a:r>
            <a:endParaRPr lang="en-US" sz="2400" dirty="0"/>
          </a:p>
        </p:txBody>
      </p:sp>
      <p:sp>
        <p:nvSpPr>
          <p:cNvPr id="6" name="Shape 3"/>
          <p:cNvSpPr/>
          <p:nvPr/>
        </p:nvSpPr>
        <p:spPr>
          <a:xfrm>
            <a:off x="731520" y="4480560"/>
            <a:ext cx="10698480" cy="1371600"/>
          </a:xfrm>
          <a:prstGeom prst="rect">
            <a:avLst/>
          </a:prstGeom>
          <a:solidFill>
            <a:schemeClr val="accent1"/>
          </a:solidFill>
          <a:ln/>
        </p:spPr>
      </p:sp>
      <p:sp>
        <p:nvSpPr>
          <p:cNvPr id="7" name="Text 4"/>
          <p:cNvSpPr txBox="1"/>
          <p:nvPr/>
        </p:nvSpPr>
        <p:spPr>
          <a:xfrm>
            <a:off x="1005840" y="4480560"/>
            <a:ext cx="10149840" cy="1371600"/>
          </a:xfrm>
          <a:prstGeom prst="rect">
            <a:avLst/>
          </a:prstGeom>
          <a:noFill/>
          <a:ln/>
        </p:spPr>
        <p:txBody>
          <a:bodyPr wrap="square" lIns="0" tIns="0" rIns="0" bIns="0" rtlCol="0" anchor="ctr"/>
          <a:lstStyle/>
          <a:p>
            <a:pPr marL="0" indent="0">
              <a:buNone/>
            </a:pPr>
            <a:r>
              <a:rPr lang="en-US" sz="1600" b="1" dirty="0">
                <a:solidFill>
                  <a:schemeClr val="accent2"/>
                </a:solidFill>
              </a:rPr>
              <a:t>NEXT SESSION  </a:t>
            </a:r>
            <a:r>
              <a:rPr lang="en-US" sz="1800" dirty="0">
                <a:solidFill>
                  <a:schemeClr val="bg1"/>
                </a:solidFill>
              </a:rPr>
              <a:t>Editing and improving your draft</a:t>
            </a:r>
            <a:r>
              <a:rPr lang="en-US" sz="1800">
                <a:solidFill>
                  <a:schemeClr val="bg1"/>
                </a:solidFill>
              </a:rPr>
              <a:t>: </a:t>
            </a:r>
          </a:p>
          <a:p>
            <a:pPr marL="0" indent="0">
              <a:buNone/>
            </a:pPr>
            <a:r>
              <a:rPr lang="en-US" sz="1800">
                <a:solidFill>
                  <a:schemeClr val="bg1"/>
                </a:solidFill>
              </a:rPr>
              <a:t>precise </a:t>
            </a:r>
            <a:r>
              <a:rPr lang="en-US" sz="1800" dirty="0">
                <a:solidFill>
                  <a:schemeClr val="bg1"/>
                </a:solidFill>
              </a:rPr>
              <a:t>vocabulary, sentence variety, punctuation, and checking against the success criteria.</a:t>
            </a:r>
            <a:endParaRPr lang="en-US" sz="1600" dirty="0"/>
          </a:p>
        </p:txBody>
      </p:sp>
    </p:spTree>
  </p:cSld>
  <p:clrMapOvr>
    <a:masterClrMapping/>
  </p:clrMapOvr>
</p:sld>
</file>

<file path=ppt/theme/theme1.xml><?xml version="1.0" encoding="utf-8"?>
<a:theme xmlns:a="http://schemas.openxmlformats.org/drawingml/2006/main" name="Report Architects">
  <a:themeElements>
    <a:clrScheme name="Report Architects">
      <a:dk1>
        <a:srgbClr val="0B3C49"/>
      </a:dk1>
      <a:lt1>
        <a:srgbClr val="FFFFFF"/>
      </a:lt1>
      <a:dk2>
        <a:srgbClr val="0B3C49"/>
      </a:dk2>
      <a:lt2>
        <a:srgbClr val="F8F0E0"/>
      </a:lt2>
      <a:accent1>
        <a:srgbClr val="2A9D8F"/>
      </a:accent1>
      <a:accent2>
        <a:srgbClr val="F4A261"/>
      </a:accent2>
      <a:accent3>
        <a:srgbClr val="E76F51"/>
      </a:accent3>
      <a:accent4>
        <a:srgbClr val="0B3C49"/>
      </a:accent4>
      <a:accent5>
        <a:srgbClr val="E9C46A"/>
      </a:accent5>
      <a:accent6>
        <a:srgbClr val="7A6BA8"/>
      </a:accent6>
      <a:hlink>
        <a:srgbClr val="2A9D8F"/>
      </a:hlink>
      <a:folHlink>
        <a:srgbClr val="7A6BA8"/>
      </a:folHlink>
    </a:clrScheme>
    <a:fontScheme name="Report Architect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5188</Words>
  <Application>Microsoft Office PowerPoint</Application>
  <PresentationFormat>Widescreen</PresentationFormat>
  <Paragraphs>579</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Georgia</vt:lpstr>
      <vt:lpstr>Report Architects</vt:lpstr>
      <vt:lpstr>PowerPoint Presentation</vt:lpstr>
      <vt:lpstr>Today we will learn to…</vt:lpstr>
      <vt:lpstr>What you did well (1)</vt:lpstr>
      <vt:lpstr>What you did well (2)</vt:lpstr>
      <vt:lpstr>What we need to fix</vt:lpstr>
      <vt:lpstr>Problem 1: the introduction needs a WHY</vt:lpstr>
      <vt:lpstr>Problem 1 (continued): more introductions</vt:lpstr>
      <vt:lpstr>Problem 2: title, headings and an ending</vt:lpstr>
      <vt:lpstr>Problem 2 (continued): the missing ending</vt:lpstr>
      <vt:lpstr>Problem 3: match every threat with a protection</vt:lpstr>
      <vt:lpstr>Problem 3 (continued): give two real protections</vt:lpstr>
      <vt:lpstr>Problem 4: make the verbs agree</vt:lpstr>
      <vt:lpstr>Problem 5: commas with which</vt:lpstr>
      <vt:lpstr>Problem 6: explain threats, don’t repeat</vt:lpstr>
      <vt:lpstr>Problem 7: check your facts</vt:lpstr>
      <vt:lpstr>Problem 8: spelling, capitals and spaces</vt:lpstr>
      <vt:lpstr>Fix it fast</vt:lpstr>
      <vt:lpstr>Fix it fast: answers</vt:lpstr>
      <vt:lpstr>Your next targets</vt:lpstr>
      <vt:lpstr>Check your draft: criteria and targets</vt:lpstr>
      <vt:lpstr>Step 1: check your own draft</vt:lpstr>
      <vt:lpstr>Step 2: partner feedback</vt:lpstr>
      <vt:lpstr>Our feedback slip</vt:lpstr>
      <vt:lpstr>Step 3: improve your draft</vt:lpstr>
      <vt:lpstr>Fix-it toolkit</vt:lpstr>
      <vt:lpstr>Plenary: share and reflect</vt:lpstr>
      <vt:lpstr>Exit ticket 🎫</vt:lpstr>
      <vt:lpstr>Exit ticket 🎫</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 Architects – Session 6: Feedback</dc:title>
  <dc:subject>PptxGenJS Presentation</dc:subject>
  <dc:creator>Year 6 English</dc:creator>
  <cp:lastModifiedBy>pc</cp:lastModifiedBy>
  <cp:revision>2</cp:revision>
  <dcterms:created xsi:type="dcterms:W3CDTF">2026-10-12T19:07:31Z</dcterms:created>
  <dcterms:modified xsi:type="dcterms:W3CDTF">2026-10-12T19:35:25Z</dcterms:modified>
</cp:coreProperties>
</file>