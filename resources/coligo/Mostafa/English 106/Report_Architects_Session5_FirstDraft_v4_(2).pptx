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 id="269" r:id="rId15"/>
    <p:sldId id="278" r:id="rId16"/>
    <p:sldId id="270" r:id="rId17"/>
    <p:sldId id="279" r:id="rId18"/>
    <p:sldId id="271" r:id="rId19"/>
    <p:sldId id="282" r:id="rId20"/>
    <p:sldId id="283" r:id="rId21"/>
    <p:sldId id="280" r:id="rId22"/>
    <p:sldId id="274" r:id="rId23"/>
    <p:sldId id="272" r:id="rId24"/>
    <p:sldId id="273" r:id="rId25"/>
    <p:sldId id="275" r:id="rId26"/>
    <p:sldId id="276" r:id="rId27"/>
    <p:sldId id="281" r:id="rId28"/>
    <p:sldId id="277"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1872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write a first draft of the report, following the plan from Session 4. Focus on getting ideas down in clear paragraphs; editing comes later.
Timing guide: Starter 7 · Model (incl. topic sentences) 20 · Joint construction 11 · Independent writing 29 · Check 5 · Plenary 5 · Exit ticket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goals aloud. Link to last lesson: we planned; today we write.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retrieval from Session 4. Cold-call or mini-whiteboards.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today every section of the plan becomes a paragraph.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on the board: read the plan facts, then the better paragraph. Ask: what has changed? A topic sentence now opens the paragraph; connectors and a relative clause join the facts; an explanation and a new detail are added to avoid listing.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recipe. Point out the sentence types. Remind pupils: one paragraph = one main focus.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whole paragraph aloud first, then go row by row. Ask pupils: what does each sentence do? Point out the relative clause (which are one of their main foods), the connector (as a result) and the precise vocabulary (swallowed, digestive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explicitly. A topic sentence is the first sentence of a paragraph. It tells the reader the ONE main idea. Formula: subject + focus. Ask pupils: which one tells you exactly what the paragraph is about? Point out the weak ones: too vague, personal ("I"), too narrow (one fact), or announcing ("In this paragraph I will...").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can magpie these stems. Point out each sentence names the subject and signals the focus of the paragraph.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Annotate with pupils. Highlight: relative clause, present tense, third person, the "why it matters" sentence.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paragraph aloud. Ask: which sentence tells you the main idea? Then check that every other sentence supports it. Link back to the stems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Mini-whiteboards. Read the paragraph first, then show options. Discuss why each wrong answer fails.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It covers the whole paragraph. The others are vague, about food, or personal.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do not know sea turtle facts, so show the model paragraph on the next slide first. Then pupils suggest the matching idea for THEIR OWN animal for each step. Teacher scribes on the board/visualiser. Ask them to improve each sentence: Is it precise? Is anything repeated? Can we join two ideas with a connector?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writing time.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Pupils look at this model plan and compare it with their own homework plan from Session 4. Steps (3 min): 1) Link: yesterday you planned your own animal, this is a model for sea turtles. 2) Read each column aloud: intro, About, Threats, Protection, ending. These are facts, not yet a well-organised paragraph. 3) Each column becomes one improved paragraph. 4) Pupils compare their plan with a partner using the next slide. 5) Pupils add facts to any gap, then read the success criteria and start writing. They write about their own creature, not sea turtles.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in detail what pupils do in the first draft. Pupils already have a plan written as paragraphs of facts. The draft is a new, improved version of that plan, not a copy. STEP 1 Start: title and introduction. Name the creature in the first sentence, add a 'why it matters' hook (for example: although they have survived for millions of years...), and preview the sections. STEP 2 Read: take ONE paragraph of the plan. Underline its main idea. Cross out facts that are repeated or do not fit. STEP 3 Rebuild: write the paragraph again with the recipe: topic sentence, main fact, explain, detail, link. Keep the facts but change the order and wording. Every sentence must support the topic sentence. STEP 4 Join: join short sentences with because, so or as a result; add one relative clause (who, which, that); use they or it instead of repeating the creature's name. Read it aloud: does it sound like a list or a paragraph? STEP 5 Finish: repeat for Introduction, About, Threats and Protection. Write an ending about why protection matters. Check present tense and third person (no 'I'). Next slide: a worked example for the About paragraph.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example with the About paragraph. Show the plan facts on the left (short, separate sentences). Read the first draft on the right and ask pupils to spot what changed. Topic sentence (orange): 'Sea turtles have bodies that are adapted to life in the ocean.' It tells the reader the one main idea. Relative clause (green): 'that are adapted to life in the ocean' adds extra information about bodies. Connector (purple): 'while' and 'also' join ideas. Precise detail (blue): 'from seagrass to jellyfish' replaces 'they eat seagrass and jellyfish' with a more developed sentence. Ask: which facts did we keep? Which ones changed order or wording? Then pupils try the same with ONE paragraph of their own plan.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about their own creature using the plan they completed for homework after Session 4. Sea turtle slides are models only. Check pupils have their plans; pair up anyone who does not. Differentiation: pupils choose the level that suits them but may move up. Circulate; conference with the support group first. Remind pupils to write on every other line to leave room for editing.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Partner swap: one strength and one improvement. Pupils underline their relative clause and circle their connector.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Pupils swap books or read aloud. Take 2 or 3 examples and ask the class which feature made the sentence effective. Then traffic-light self-assessment: pupils show a colour or tick on their draft. Use the answers to plan the editing session.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after pupils respond: 1 B, 2 C, 3 A. Hide the green answers if presenting live.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0509B-1819-1E81-1745-BDFC606CE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5F2C3-713F-AE62-17DC-4E0D94EB3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4A636-D8A7-3812-1B00-11A4D8F2EE74}"/>
              </a:ext>
            </a:extLst>
          </p:cNvPr>
          <p:cNvSpPr>
            <a:spLocks noGrp="1"/>
          </p:cNvSpPr>
          <p:nvPr>
            <p:ph type="body" idx="1"/>
          </p:nvPr>
        </p:nvSpPr>
        <p:spPr/>
        <p:txBody>
          <a:bodyPr/>
          <a:lstStyle/>
          <a:p>
            <a:r>
              <a:rPr lang="en-US" dirty="0"/>
              <a:t>Reveal answers after pupils respond: 1 B, 2 C, 3 A. Hide the green answers if presenting live.</a:t>
            </a:r>
          </a:p>
        </p:txBody>
      </p:sp>
      <p:sp>
        <p:nvSpPr>
          <p:cNvPr id="4" name="Slide Number Placeholder 3">
            <a:extLst>
              <a:ext uri="{FF2B5EF4-FFF2-40B4-BE49-F238E27FC236}">
                <a16:creationId xmlns:a16="http://schemas.microsoft.com/office/drawing/2014/main" id="{14CE7778-09E1-11F1-1FF1-DD68B581C4E6}"/>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699340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creature draft started in class. Drafts are edited next session.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8778240" y="-914400"/>
            <a:ext cx="4114800" cy="4114800"/>
          </a:xfrm>
          <a:prstGeom prst="ellipse">
            <a:avLst/>
          </a:prstGeom>
          <a:solidFill>
            <a:srgbClr val="2A9D8F"/>
          </a:solidFill>
          <a:ln/>
        </p:spPr>
      </p:sp>
      <p:sp>
        <p:nvSpPr>
          <p:cNvPr id="3" name="Shape 1"/>
          <p:cNvSpPr/>
          <p:nvPr/>
        </p:nvSpPr>
        <p:spPr>
          <a:xfrm>
            <a:off x="9326880" y="4206240"/>
            <a:ext cx="3108960" cy="3108960"/>
          </a:xfrm>
          <a:prstGeom prst="ellipse">
            <a:avLst/>
          </a:prstGeom>
          <a:solidFill>
            <a:srgbClr val="8A5A4A"/>
          </a:solidFill>
          <a:ln/>
        </p:spPr>
      </p:sp>
      <p:sp>
        <p:nvSpPr>
          <p:cNvPr id="4" name="Text 2"/>
          <p:cNvSpPr txBox="1"/>
          <p:nvPr/>
        </p:nvSpPr>
        <p:spPr>
          <a:xfrm>
            <a:off x="731520" y="822960"/>
            <a:ext cx="7315200" cy="365760"/>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YEAR 6 ENGLISH · UNIT 2 · SESSION 5</a:t>
            </a:r>
            <a:endParaRPr lang="en-US" sz="2000" dirty="0"/>
          </a:p>
        </p:txBody>
      </p:sp>
      <p:sp>
        <p:nvSpPr>
          <p:cNvPr id="5" name="Text 3"/>
          <p:cNvSpPr txBox="1"/>
          <p:nvPr/>
        </p:nvSpPr>
        <p:spPr>
          <a:xfrm>
            <a:off x="731520" y="164592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Report Architects</a:t>
            </a:r>
            <a:endParaRPr lang="en-US" sz="4800" dirty="0"/>
          </a:p>
        </p:txBody>
      </p:sp>
      <p:sp>
        <p:nvSpPr>
          <p:cNvPr id="6" name="Text 4"/>
          <p:cNvSpPr txBox="1"/>
          <p:nvPr/>
        </p:nvSpPr>
        <p:spPr>
          <a:xfrm>
            <a:off x="731520" y="2606040"/>
            <a:ext cx="8229600" cy="548640"/>
          </a:xfrm>
          <a:prstGeom prst="rect">
            <a:avLst/>
          </a:prstGeom>
          <a:noFill/>
          <a:ln/>
        </p:spPr>
        <p:txBody>
          <a:bodyPr wrap="square" lIns="0" tIns="0" rIns="0" bIns="0" rtlCol="0" anchor="ctr"/>
          <a:lstStyle/>
          <a:p>
            <a:pPr marL="0" indent="0">
              <a:buNone/>
            </a:pPr>
            <a:r>
              <a:rPr lang="en-US" sz="2400" i="1" dirty="0">
                <a:solidFill>
                  <a:srgbClr val="FFFFFF"/>
                </a:solidFill>
                <a:latin typeface="Georgia" pitchFamily="34" charset="0"/>
                <a:ea typeface="Georgia" pitchFamily="34" charset="-122"/>
                <a:cs typeface="Georgia" pitchFamily="34" charset="-120"/>
              </a:rPr>
              <a:t>Writing the Report – Part 2: First Draft</a:t>
            </a:r>
            <a:endParaRPr lang="en-US" sz="2400" dirty="0"/>
          </a:p>
        </p:txBody>
      </p:sp>
      <p:sp>
        <p:nvSpPr>
          <p:cNvPr id="7" name="Shape 5"/>
          <p:cNvSpPr/>
          <p:nvPr/>
        </p:nvSpPr>
        <p:spPr>
          <a:xfrm>
            <a:off x="731520" y="3931920"/>
            <a:ext cx="7498080" cy="1188720"/>
          </a:xfrm>
          <a:prstGeom prst="rect">
            <a:avLst/>
          </a:prstGeom>
          <a:solidFill>
            <a:srgbClr val="2A9D8F"/>
          </a:solidFill>
          <a:ln/>
        </p:spPr>
      </p:sp>
      <p:sp>
        <p:nvSpPr>
          <p:cNvPr id="8" name="Text 6"/>
          <p:cNvSpPr txBox="1"/>
          <p:nvPr/>
        </p:nvSpPr>
        <p:spPr>
          <a:xfrm>
            <a:off x="803305" y="3931920"/>
            <a:ext cx="8315058" cy="1188720"/>
          </a:xfrm>
          <a:prstGeom prst="rect">
            <a:avLst/>
          </a:prstGeom>
          <a:noFill/>
          <a:ln/>
        </p:spPr>
        <p:txBody>
          <a:bodyPr wrap="square" lIns="0" tIns="0" rIns="0" bIns="0" rtlCol="0" anchor="ctr"/>
          <a:lstStyle/>
          <a:p>
            <a:pPr marL="0" indent="0">
              <a:buNone/>
            </a:pPr>
            <a:r>
              <a:rPr lang="en-US" sz="2800" b="1" dirty="0">
                <a:solidFill>
                  <a:srgbClr val="F4A261"/>
                </a:solidFill>
                <a:latin typeface="Calibri" pitchFamily="34" charset="0"/>
                <a:ea typeface="Calibri" pitchFamily="34" charset="-122"/>
                <a:cs typeface="Calibri" pitchFamily="34" charset="-120"/>
              </a:rPr>
              <a:t>BIG QUESTION</a:t>
            </a:r>
            <a:endParaRPr lang="en-US" sz="2800" dirty="0"/>
          </a:p>
          <a:p>
            <a:pPr marL="0" indent="0">
              <a:buNone/>
            </a:pPr>
            <a:r>
              <a:rPr lang="en-US" sz="2400" dirty="0">
                <a:solidFill>
                  <a:srgbClr val="FFFFFF"/>
                </a:solidFill>
                <a:latin typeface="Calibri" pitchFamily="34" charset="0"/>
                <a:ea typeface="Calibri" pitchFamily="34" charset="-122"/>
                <a:cs typeface="Calibri" pitchFamily="34" charset="-120"/>
              </a:rPr>
              <a:t>How can we turn our plan into clear, well-organised paragraphs?</a:t>
            </a:r>
            <a:endParaRPr lang="en-US" sz="1600" dirty="0"/>
          </a:p>
        </p:txBody>
      </p:sp>
      <p:sp>
        <p:nvSpPr>
          <p:cNvPr id="9" name="Text 7"/>
          <p:cNvSpPr txBox="1"/>
          <p:nvPr/>
        </p:nvSpPr>
        <p:spPr>
          <a:xfrm>
            <a:off x="731520" y="5943600"/>
            <a:ext cx="6400800" cy="36576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80 minutes · Non-chronological report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Today we will learn to…</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GOALS</a:t>
            </a:r>
            <a:endParaRPr lang="en-US" sz="1100" dirty="0"/>
          </a:p>
        </p:txBody>
      </p:sp>
      <p:sp>
        <p:nvSpPr>
          <p:cNvPr id="7" name="Shape 4"/>
          <p:cNvSpPr/>
          <p:nvPr/>
        </p:nvSpPr>
        <p:spPr>
          <a:xfrm>
            <a:off x="731520" y="173736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8" name="Text 5"/>
          <p:cNvSpPr txBox="1"/>
          <p:nvPr/>
        </p:nvSpPr>
        <p:spPr>
          <a:xfrm>
            <a:off x="731520" y="192024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6"/>
          <p:cNvSpPr txBox="1"/>
          <p:nvPr/>
        </p:nvSpPr>
        <p:spPr>
          <a:xfrm>
            <a:off x="914400" y="260604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Turn plan facts into clear paragraphs</a:t>
            </a:r>
            <a:endParaRPr lang="en-US" sz="1600" dirty="0"/>
          </a:p>
        </p:txBody>
      </p:sp>
      <p:sp>
        <p:nvSpPr>
          <p:cNvPr id="10" name="Shape 7"/>
          <p:cNvSpPr/>
          <p:nvPr/>
        </p:nvSpPr>
        <p:spPr>
          <a:xfrm>
            <a:off x="4389120" y="173736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11" name="Text 8"/>
          <p:cNvSpPr txBox="1"/>
          <p:nvPr/>
        </p:nvSpPr>
        <p:spPr>
          <a:xfrm>
            <a:off x="4389120" y="192024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2" name="Text 9"/>
          <p:cNvSpPr txBox="1"/>
          <p:nvPr/>
        </p:nvSpPr>
        <p:spPr>
          <a:xfrm>
            <a:off x="4572000" y="260604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Write one paragraph for each section</a:t>
            </a:r>
            <a:endParaRPr lang="en-US" sz="1600" dirty="0"/>
          </a:p>
        </p:txBody>
      </p:sp>
      <p:sp>
        <p:nvSpPr>
          <p:cNvPr id="13" name="Shape 10"/>
          <p:cNvSpPr/>
          <p:nvPr/>
        </p:nvSpPr>
        <p:spPr>
          <a:xfrm>
            <a:off x="8046720" y="173736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14" name="Text 11"/>
          <p:cNvSpPr txBox="1"/>
          <p:nvPr/>
        </p:nvSpPr>
        <p:spPr>
          <a:xfrm>
            <a:off x="8046720" y="192024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5" name="Text 12"/>
          <p:cNvSpPr txBox="1"/>
          <p:nvPr/>
        </p:nvSpPr>
        <p:spPr>
          <a:xfrm>
            <a:off x="8229600" y="260604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Open with a strong introduction</a:t>
            </a:r>
            <a:endParaRPr lang="en-US" sz="1600" dirty="0"/>
          </a:p>
        </p:txBody>
      </p:sp>
      <p:sp>
        <p:nvSpPr>
          <p:cNvPr id="16" name="Shape 13"/>
          <p:cNvSpPr/>
          <p:nvPr/>
        </p:nvSpPr>
        <p:spPr>
          <a:xfrm>
            <a:off x="731520" y="384048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17" name="Text 14"/>
          <p:cNvSpPr txBox="1"/>
          <p:nvPr/>
        </p:nvSpPr>
        <p:spPr>
          <a:xfrm>
            <a:off x="731520" y="402336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8" name="Text 15"/>
          <p:cNvSpPr txBox="1"/>
          <p:nvPr/>
        </p:nvSpPr>
        <p:spPr>
          <a:xfrm>
            <a:off x="914400" y="470916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Connect ideas with cohesive devices</a:t>
            </a:r>
            <a:endParaRPr lang="en-US" sz="1600" dirty="0"/>
          </a:p>
        </p:txBody>
      </p:sp>
      <p:sp>
        <p:nvSpPr>
          <p:cNvPr id="19" name="Shape 16"/>
          <p:cNvSpPr/>
          <p:nvPr/>
        </p:nvSpPr>
        <p:spPr>
          <a:xfrm>
            <a:off x="4389120" y="384048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20" name="Text 17"/>
          <p:cNvSpPr txBox="1"/>
          <p:nvPr/>
        </p:nvSpPr>
        <p:spPr>
          <a:xfrm>
            <a:off x="4389120" y="402336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1" name="Text 18"/>
          <p:cNvSpPr txBox="1"/>
          <p:nvPr/>
        </p:nvSpPr>
        <p:spPr>
          <a:xfrm>
            <a:off x="4572000" y="470916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Use relative clauses and precise vocabulary</a:t>
            </a:r>
            <a:endParaRPr lang="en-US" sz="1600" dirty="0"/>
          </a:p>
        </p:txBody>
      </p:sp>
      <p:sp>
        <p:nvSpPr>
          <p:cNvPr id="22" name="Shape 19"/>
          <p:cNvSpPr/>
          <p:nvPr/>
        </p:nvSpPr>
        <p:spPr>
          <a:xfrm>
            <a:off x="8046720" y="3840480"/>
            <a:ext cx="3383280" cy="1828800"/>
          </a:xfrm>
          <a:prstGeom prst="rect">
            <a:avLst/>
          </a:prstGeom>
          <a:solidFill>
            <a:srgbClr val="FFFFFF"/>
          </a:solidFill>
          <a:ln/>
          <a:effectLst>
            <a:outerShdw blurRad="76200" dist="25400" dir="5400000" algn="bl" rotWithShape="0">
              <a:srgbClr val="000000">
                <a:alpha val="15000"/>
              </a:srgbClr>
            </a:outerShdw>
          </a:effectLst>
        </p:spPr>
      </p:sp>
      <p:sp>
        <p:nvSpPr>
          <p:cNvPr id="23" name="Text 20"/>
          <p:cNvSpPr txBox="1"/>
          <p:nvPr/>
        </p:nvSpPr>
        <p:spPr>
          <a:xfrm>
            <a:off x="8046720" y="4023360"/>
            <a:ext cx="33832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4" name="Text 21"/>
          <p:cNvSpPr txBox="1"/>
          <p:nvPr/>
        </p:nvSpPr>
        <p:spPr>
          <a:xfrm>
            <a:off x="8229600" y="4709160"/>
            <a:ext cx="3017520" cy="822960"/>
          </a:xfrm>
          <a:prstGeom prst="rect">
            <a:avLst/>
          </a:prstGeom>
          <a:noFill/>
          <a:ln/>
        </p:spPr>
        <p:txBody>
          <a:bodyPr wrap="square" lIns="0" tIns="0" rIns="0" bIns="0" rtlCol="0" anchor="t"/>
          <a:lstStyle/>
          <a:p>
            <a:pPr marL="0" indent="0" algn="ctr">
              <a:buNone/>
            </a:pPr>
            <a:r>
              <a:rPr lang="en-US" sz="1600" b="1" dirty="0">
                <a:solidFill>
                  <a:srgbClr val="0B3C49"/>
                </a:solidFill>
                <a:latin typeface="Calibri" pitchFamily="34" charset="0"/>
                <a:ea typeface="Calibri" pitchFamily="34" charset="-122"/>
                <a:cs typeface="Calibri" pitchFamily="34" charset="-120"/>
              </a:rPr>
              <a:t>Keep present tense and third person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did we learn?</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RETRIEVE</a:t>
            </a:r>
            <a:endParaRPr lang="en-US" sz="1100" dirty="0"/>
          </a:p>
        </p:txBody>
      </p:sp>
      <p:sp>
        <p:nvSpPr>
          <p:cNvPr id="7" name="Text 4"/>
          <p:cNvSpPr txBox="1"/>
          <p:nvPr/>
        </p:nvSpPr>
        <p:spPr>
          <a:xfrm>
            <a:off x="731520" y="1280160"/>
            <a:ext cx="10698480" cy="6400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Which order is most logical for a report about an endangered creature?</a:t>
            </a:r>
            <a:endParaRPr lang="en-US" sz="2000" dirty="0"/>
          </a:p>
        </p:txBody>
      </p:sp>
      <p:sp>
        <p:nvSpPr>
          <p:cNvPr id="8" name="Shape 5"/>
          <p:cNvSpPr/>
          <p:nvPr/>
        </p:nvSpPr>
        <p:spPr>
          <a:xfrm>
            <a:off x="731520" y="210312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9" name="Shape 6"/>
          <p:cNvSpPr/>
          <p:nvPr/>
        </p:nvSpPr>
        <p:spPr>
          <a:xfrm>
            <a:off x="914400" y="2496312"/>
            <a:ext cx="548640" cy="548640"/>
          </a:xfrm>
          <a:prstGeom prst="ellipse">
            <a:avLst/>
          </a:prstGeom>
          <a:solidFill>
            <a:srgbClr val="2A9D8F"/>
          </a:solidFill>
          <a:ln/>
        </p:spPr>
      </p:sp>
      <p:sp>
        <p:nvSpPr>
          <p:cNvPr id="10" name="Text 7"/>
          <p:cNvSpPr txBox="1"/>
          <p:nvPr/>
        </p:nvSpPr>
        <p:spPr>
          <a:xfrm>
            <a:off x="914400" y="2496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1" name="Text 8"/>
          <p:cNvSpPr txBox="1"/>
          <p:nvPr/>
        </p:nvSpPr>
        <p:spPr>
          <a:xfrm>
            <a:off x="1645920" y="219456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Protection → Threats → Introduction → Facts</a:t>
            </a:r>
            <a:endParaRPr lang="en-US" sz="1700" dirty="0"/>
          </a:p>
        </p:txBody>
      </p:sp>
      <p:sp>
        <p:nvSpPr>
          <p:cNvPr id="12" name="Shape 9"/>
          <p:cNvSpPr/>
          <p:nvPr/>
        </p:nvSpPr>
        <p:spPr>
          <a:xfrm>
            <a:off x="6217920" y="210312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13" name="Shape 10"/>
          <p:cNvSpPr/>
          <p:nvPr/>
        </p:nvSpPr>
        <p:spPr>
          <a:xfrm>
            <a:off x="6400800" y="2496312"/>
            <a:ext cx="548640" cy="548640"/>
          </a:xfrm>
          <a:prstGeom prst="ellipse">
            <a:avLst/>
          </a:prstGeom>
          <a:solidFill>
            <a:srgbClr val="2A9D8F"/>
          </a:solidFill>
          <a:ln/>
        </p:spPr>
      </p:sp>
      <p:sp>
        <p:nvSpPr>
          <p:cNvPr id="14" name="Text 11"/>
          <p:cNvSpPr txBox="1"/>
          <p:nvPr/>
        </p:nvSpPr>
        <p:spPr>
          <a:xfrm>
            <a:off x="6400800" y="2496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5" name="Text 12"/>
          <p:cNvSpPr txBox="1"/>
          <p:nvPr/>
        </p:nvSpPr>
        <p:spPr>
          <a:xfrm>
            <a:off x="7132320" y="219456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Threats → Food → Introduction → Protection</a:t>
            </a:r>
            <a:endParaRPr lang="en-US" sz="1700" dirty="0"/>
          </a:p>
        </p:txBody>
      </p:sp>
      <p:sp>
        <p:nvSpPr>
          <p:cNvPr id="16" name="Shape 13"/>
          <p:cNvSpPr/>
          <p:nvPr/>
        </p:nvSpPr>
        <p:spPr>
          <a:xfrm>
            <a:off x="731520" y="365760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17" name="Shape 14"/>
          <p:cNvSpPr/>
          <p:nvPr/>
        </p:nvSpPr>
        <p:spPr>
          <a:xfrm>
            <a:off x="914400" y="4050792"/>
            <a:ext cx="548640" cy="548640"/>
          </a:xfrm>
          <a:prstGeom prst="ellipse">
            <a:avLst/>
          </a:prstGeom>
          <a:solidFill>
            <a:srgbClr val="2A9D8F"/>
          </a:solidFill>
          <a:ln/>
        </p:spPr>
      </p:sp>
      <p:sp>
        <p:nvSpPr>
          <p:cNvPr id="18" name="Text 15"/>
          <p:cNvSpPr txBox="1"/>
          <p:nvPr/>
        </p:nvSpPr>
        <p:spPr>
          <a:xfrm>
            <a:off x="914400" y="405079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9" name="Text 16"/>
          <p:cNvSpPr txBox="1"/>
          <p:nvPr/>
        </p:nvSpPr>
        <p:spPr>
          <a:xfrm>
            <a:off x="1645920" y="374904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Introduction → About → Threats → Protection</a:t>
            </a:r>
            <a:endParaRPr lang="en-US" sz="1700" dirty="0"/>
          </a:p>
        </p:txBody>
      </p:sp>
      <p:sp>
        <p:nvSpPr>
          <p:cNvPr id="20" name="Shape 17"/>
          <p:cNvSpPr/>
          <p:nvPr/>
        </p:nvSpPr>
        <p:spPr>
          <a:xfrm>
            <a:off x="6217920" y="365760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21" name="Shape 18"/>
          <p:cNvSpPr/>
          <p:nvPr/>
        </p:nvSpPr>
        <p:spPr>
          <a:xfrm>
            <a:off x="6400800" y="4050792"/>
            <a:ext cx="548640" cy="548640"/>
          </a:xfrm>
          <a:prstGeom prst="ellipse">
            <a:avLst/>
          </a:prstGeom>
          <a:solidFill>
            <a:srgbClr val="2A9D8F"/>
          </a:solidFill>
          <a:ln/>
        </p:spPr>
      </p:sp>
      <p:sp>
        <p:nvSpPr>
          <p:cNvPr id="22" name="Text 19"/>
          <p:cNvSpPr txBox="1"/>
          <p:nvPr/>
        </p:nvSpPr>
        <p:spPr>
          <a:xfrm>
            <a:off x="6400800" y="405079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3" name="Text 20"/>
          <p:cNvSpPr txBox="1"/>
          <p:nvPr/>
        </p:nvSpPr>
        <p:spPr>
          <a:xfrm>
            <a:off x="7132320" y="374904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Food → Protection → Introduction → Threats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A9D8F"/>
        </a:solidFill>
        <a:effectLst/>
      </p:bgPr>
    </p:bg>
    <p:spTree>
      <p:nvGrpSpPr>
        <p:cNvPr id="1" name=""/>
        <p:cNvGrpSpPr/>
        <p:nvPr/>
      </p:nvGrpSpPr>
      <p:grpSpPr>
        <a:xfrm>
          <a:off x="0" y="0"/>
          <a:ext cx="0" cy="0"/>
          <a:chOff x="0" y="0"/>
          <a:chExt cx="0" cy="0"/>
        </a:xfrm>
      </p:grpSpPr>
      <p:sp>
        <p:nvSpPr>
          <p:cNvPr id="3" name="Text 0"/>
          <p:cNvSpPr txBox="1"/>
          <p:nvPr/>
        </p:nvSpPr>
        <p:spPr>
          <a:xfrm>
            <a:off x="640080" y="457200"/>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ANSWER</a:t>
            </a:r>
            <a:endParaRPr lang="en-US" sz="1300" dirty="0"/>
          </a:p>
        </p:txBody>
      </p:sp>
      <p:sp>
        <p:nvSpPr>
          <p:cNvPr id="4" name="Shape 1"/>
          <p:cNvSpPr/>
          <p:nvPr/>
        </p:nvSpPr>
        <p:spPr>
          <a:xfrm>
            <a:off x="822960" y="1371600"/>
            <a:ext cx="1188720" cy="1188720"/>
          </a:xfrm>
          <a:prstGeom prst="ellipse">
            <a:avLst/>
          </a:prstGeom>
          <a:solidFill>
            <a:srgbClr val="FFFFFF"/>
          </a:solidFill>
          <a:ln/>
        </p:spPr>
      </p:sp>
      <p:sp>
        <p:nvSpPr>
          <p:cNvPr id="5" name="Text 2"/>
          <p:cNvSpPr txBox="1"/>
          <p:nvPr/>
        </p:nvSpPr>
        <p:spPr>
          <a:xfrm>
            <a:off x="822960" y="1371600"/>
            <a:ext cx="1188720" cy="1188720"/>
          </a:xfrm>
          <a:prstGeom prst="rect">
            <a:avLst/>
          </a:prstGeom>
          <a:noFill/>
          <a:ln/>
        </p:spPr>
        <p:txBody>
          <a:bodyPr wrap="square" lIns="0" tIns="0" rIns="0" bIns="0" rtlCol="0" anchor="ctr"/>
          <a:lstStyle/>
          <a:p>
            <a:pPr marL="0" indent="0" algn="ctr">
              <a:buNone/>
            </a:pPr>
            <a:r>
              <a:rPr lang="en-US" sz="4400" b="1" dirty="0">
                <a:solidFill>
                  <a:srgbClr val="0B3C49"/>
                </a:solidFill>
                <a:latin typeface="Georgia" pitchFamily="34" charset="0"/>
                <a:ea typeface="Georgia" pitchFamily="34" charset="-122"/>
                <a:cs typeface="Georgia" pitchFamily="34" charset="-120"/>
              </a:rPr>
              <a:t>C</a:t>
            </a:r>
            <a:endParaRPr lang="en-US" sz="4400" dirty="0"/>
          </a:p>
        </p:txBody>
      </p:sp>
      <p:sp>
        <p:nvSpPr>
          <p:cNvPr id="6" name="Text 3"/>
          <p:cNvSpPr txBox="1"/>
          <p:nvPr/>
        </p:nvSpPr>
        <p:spPr>
          <a:xfrm>
            <a:off x="2377440" y="1371600"/>
            <a:ext cx="9144000" cy="118872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Introduction → About → Threats → Protection</a:t>
            </a:r>
            <a:endParaRPr lang="en-US" sz="2800" dirty="0"/>
          </a:p>
        </p:txBody>
      </p:sp>
      <p:sp>
        <p:nvSpPr>
          <p:cNvPr id="7" name="Shape 4"/>
          <p:cNvSpPr/>
          <p:nvPr/>
        </p:nvSpPr>
        <p:spPr>
          <a:xfrm>
            <a:off x="822960" y="3200400"/>
            <a:ext cx="10515600" cy="2194560"/>
          </a:xfrm>
          <a:prstGeom prst="rect">
            <a:avLst/>
          </a:prstGeom>
          <a:solidFill>
            <a:srgbClr val="0B3C49"/>
          </a:solidFill>
          <a:ln/>
        </p:spPr>
      </p:sp>
      <p:sp>
        <p:nvSpPr>
          <p:cNvPr id="8" name="Text 5"/>
          <p:cNvSpPr txBox="1"/>
          <p:nvPr/>
        </p:nvSpPr>
        <p:spPr>
          <a:xfrm>
            <a:off x="1097280" y="3291840"/>
            <a:ext cx="9966960" cy="201168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Your plan already has this order. Today each section of your plan becomes a clear, well-organised paragraph.</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From plan facts to a better paragraph</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731520" y="1371600"/>
            <a:ext cx="4206240" cy="393192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4206240" cy="457200"/>
          </a:xfrm>
          <a:prstGeom prst="rect">
            <a:avLst/>
          </a:prstGeom>
          <a:solidFill>
            <a:srgbClr val="E76F51"/>
          </a:solidFill>
          <a:ln/>
        </p:spPr>
      </p:sp>
      <p:sp>
        <p:nvSpPr>
          <p:cNvPr id="9" name="Text 6"/>
          <p:cNvSpPr txBox="1"/>
          <p:nvPr/>
        </p:nvSpPr>
        <p:spPr>
          <a:xfrm>
            <a:off x="914400" y="1371600"/>
            <a:ext cx="36576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PLAN FACTS</a:t>
            </a:r>
            <a:endParaRPr lang="en-US" sz="1500" dirty="0"/>
          </a:p>
        </p:txBody>
      </p:sp>
      <p:sp>
        <p:nvSpPr>
          <p:cNvPr id="10" name="Text 7"/>
          <p:cNvSpPr txBox="1"/>
          <p:nvPr/>
        </p:nvSpPr>
        <p:spPr>
          <a:xfrm>
            <a:off x="914400" y="2103120"/>
            <a:ext cx="3840480" cy="29260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Plastic pollution is a danger.</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Turtles eat plastic bags.</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Fishing equipment traps turtles.</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Trapped turtles are injured.</a:t>
            </a:r>
            <a:endParaRPr lang="en-US" sz="1900" dirty="0"/>
          </a:p>
        </p:txBody>
      </p:sp>
      <p:sp>
        <p:nvSpPr>
          <p:cNvPr id="11" name="Text 8"/>
          <p:cNvSpPr txBox="1"/>
          <p:nvPr/>
        </p:nvSpPr>
        <p:spPr>
          <a:xfrm>
            <a:off x="5029200" y="2926080"/>
            <a:ext cx="731520" cy="731520"/>
          </a:xfrm>
          <a:prstGeom prst="rect">
            <a:avLst/>
          </a:prstGeom>
          <a:noFill/>
          <a:ln/>
        </p:spPr>
        <p:txBody>
          <a:bodyPr wrap="square" lIns="0" tIns="0" rIns="0" bIns="0" rtlCol="0" anchor="ctr"/>
          <a:lstStyle/>
          <a:p>
            <a:pPr marL="0" indent="0" algn="ctr">
              <a:buNone/>
            </a:pPr>
            <a:r>
              <a:rPr lang="en-US" sz="3600" b="1" dirty="0">
                <a:solidFill>
                  <a:srgbClr val="2A9D8F"/>
                </a:solidFill>
                <a:latin typeface="Calibri" pitchFamily="34" charset="0"/>
                <a:ea typeface="Calibri" pitchFamily="34" charset="-122"/>
                <a:cs typeface="Calibri" pitchFamily="34" charset="-120"/>
              </a:rPr>
              <a:t>➜</a:t>
            </a:r>
            <a:endParaRPr lang="en-US" sz="3600" dirty="0"/>
          </a:p>
        </p:txBody>
      </p:sp>
      <p:sp>
        <p:nvSpPr>
          <p:cNvPr id="12" name="Shape 9"/>
          <p:cNvSpPr/>
          <p:nvPr/>
        </p:nvSpPr>
        <p:spPr>
          <a:xfrm>
            <a:off x="5852160" y="1371600"/>
            <a:ext cx="5577840" cy="3931920"/>
          </a:xfrm>
          <a:prstGeom prst="rect">
            <a:avLst/>
          </a:prstGeom>
          <a:solidFill>
            <a:srgbClr val="FFFFFF"/>
          </a:solidFill>
          <a:ln/>
          <a:effectLst>
            <a:outerShdw blurRad="76200" dist="25400" dir="5400000" algn="bl" rotWithShape="0">
              <a:srgbClr val="000000">
                <a:alpha val="15000"/>
              </a:srgbClr>
            </a:outerShdw>
          </a:effectLst>
        </p:spPr>
      </p:sp>
      <p:sp>
        <p:nvSpPr>
          <p:cNvPr id="13" name="Shape 10"/>
          <p:cNvSpPr/>
          <p:nvPr/>
        </p:nvSpPr>
        <p:spPr>
          <a:xfrm>
            <a:off x="5852160" y="1371600"/>
            <a:ext cx="5577840" cy="457200"/>
          </a:xfrm>
          <a:prstGeom prst="rect">
            <a:avLst/>
          </a:prstGeom>
          <a:solidFill>
            <a:srgbClr val="2A9D8F"/>
          </a:solidFill>
          <a:ln/>
        </p:spPr>
      </p:sp>
      <p:sp>
        <p:nvSpPr>
          <p:cNvPr id="14" name="Text 11"/>
          <p:cNvSpPr txBox="1"/>
          <p:nvPr/>
        </p:nvSpPr>
        <p:spPr>
          <a:xfrm>
            <a:off x="6035040" y="1371600"/>
            <a:ext cx="45720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BETTER PARAGRAPH</a:t>
            </a:r>
            <a:endParaRPr lang="en-US" sz="1500" dirty="0"/>
          </a:p>
        </p:txBody>
      </p:sp>
      <p:sp>
        <p:nvSpPr>
          <p:cNvPr id="15" name="Text 12"/>
          <p:cNvSpPr txBox="1"/>
          <p:nvPr/>
        </p:nvSpPr>
        <p:spPr>
          <a:xfrm>
            <a:off x="6035040" y="2011680"/>
            <a:ext cx="5212080" cy="3200400"/>
          </a:xfrm>
          <a:prstGeom prst="rect">
            <a:avLst/>
          </a:prstGeom>
          <a:noFill/>
          <a:ln/>
        </p:spPr>
        <p:txBody>
          <a:bodyPr wrap="square" lIns="0" tIns="0" rIns="0" bIns="0" rtlCol="0" anchor="t"/>
          <a:lstStyle/>
          <a:p>
            <a:pPr marL="0" indent="0">
              <a:buNone/>
            </a:pPr>
            <a:r>
              <a:rPr lang="en-US" sz="1800" i="1" dirty="0">
                <a:solidFill>
                  <a:srgbClr val="0B3C49"/>
                </a:solidFill>
                <a:latin typeface="Calibri" pitchFamily="34" charset="0"/>
                <a:ea typeface="Calibri" pitchFamily="34" charset="-122"/>
                <a:cs typeface="Calibri" pitchFamily="34" charset="-120"/>
              </a:rPr>
              <a:t>Sea turtles face several threats. Plastic pollution is particularly dangerous because turtles may mistake floating bags for food. They can also become trapped in fishing equipment, which causes serious injuries. As a result, many turtles struggle to survive.</a:t>
            </a:r>
            <a:endParaRPr lang="en-US" sz="1800" dirty="0"/>
          </a:p>
        </p:txBody>
      </p:sp>
      <p:sp>
        <p:nvSpPr>
          <p:cNvPr id="16" name="Text 13"/>
          <p:cNvSpPr txBox="1"/>
          <p:nvPr/>
        </p:nvSpPr>
        <p:spPr>
          <a:xfrm>
            <a:off x="731520" y="5669280"/>
            <a:ext cx="10698480" cy="548640"/>
          </a:xfrm>
          <a:prstGeom prst="rect">
            <a:avLst/>
          </a:prstGeom>
          <a:noFill/>
          <a:ln/>
        </p:spPr>
        <p:txBody>
          <a:bodyPr wrap="square" lIns="0" tIns="0" rIns="0" bIns="0" rtlCol="0" anchor="ctr"/>
          <a:lstStyle/>
          <a:p>
            <a:pPr marL="0" indent="0" algn="ctr">
              <a:buNone/>
            </a:pPr>
            <a:r>
              <a:rPr lang="en-US" sz="2000" b="1" dirty="0">
                <a:solidFill>
                  <a:srgbClr val="0B3C49"/>
                </a:solidFill>
                <a:latin typeface="Georgia" pitchFamily="34" charset="0"/>
                <a:ea typeface="Georgia" pitchFamily="34" charset="-122"/>
                <a:cs typeface="Georgia" pitchFamily="34" charset="-120"/>
              </a:rPr>
              <a:t>Your facts are there. Now organise, explain and join them.</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Our paragraph recipe</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STRUCTURE</a:t>
            </a:r>
            <a:endParaRPr lang="en-US" sz="1100" dirty="0"/>
          </a:p>
        </p:txBody>
      </p:sp>
      <p:sp>
        <p:nvSpPr>
          <p:cNvPr id="7" name="Shape 4"/>
          <p:cNvSpPr/>
          <p:nvPr/>
        </p:nvSpPr>
        <p:spPr>
          <a:xfrm>
            <a:off x="548640" y="1645920"/>
            <a:ext cx="2103120" cy="3291840"/>
          </a:xfrm>
          <a:prstGeom prst="rect">
            <a:avLst/>
          </a:prstGeom>
          <a:solidFill>
            <a:srgbClr val="2A9D8F"/>
          </a:solidFill>
          <a:ln/>
          <a:effectLst>
            <a:outerShdw blurRad="76200" dist="25400" dir="5400000" algn="bl" rotWithShape="0">
              <a:srgbClr val="000000">
                <a:alpha val="15000"/>
              </a:srgbClr>
            </a:outerShdw>
          </a:effectLst>
        </p:spPr>
      </p:sp>
      <p:sp>
        <p:nvSpPr>
          <p:cNvPr id="8" name="Text 5"/>
          <p:cNvSpPr txBox="1"/>
          <p:nvPr/>
        </p:nvSpPr>
        <p:spPr>
          <a:xfrm>
            <a:off x="548640" y="1783080"/>
            <a:ext cx="21031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1</a:t>
            </a:r>
            <a:endParaRPr lang="en-US" sz="3400" dirty="0"/>
          </a:p>
        </p:txBody>
      </p:sp>
      <p:sp>
        <p:nvSpPr>
          <p:cNvPr id="9" name="Text 6"/>
          <p:cNvSpPr txBox="1"/>
          <p:nvPr/>
        </p:nvSpPr>
        <p:spPr>
          <a:xfrm>
            <a:off x="640080" y="2514600"/>
            <a:ext cx="1920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Topic sentence</a:t>
            </a:r>
            <a:endParaRPr lang="en-US" sz="1800" dirty="0"/>
          </a:p>
        </p:txBody>
      </p:sp>
      <p:sp>
        <p:nvSpPr>
          <p:cNvPr id="10" name="Text 7"/>
          <p:cNvSpPr txBox="1"/>
          <p:nvPr/>
        </p:nvSpPr>
        <p:spPr>
          <a:xfrm>
            <a:off x="731520" y="3108960"/>
            <a:ext cx="1737360" cy="164592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Subject + focus. Tell the reader the main idea.</a:t>
            </a:r>
            <a:endParaRPr lang="en-US" sz="1500" dirty="0"/>
          </a:p>
        </p:txBody>
      </p:sp>
      <p:sp>
        <p:nvSpPr>
          <p:cNvPr id="11" name="Shape 8"/>
          <p:cNvSpPr/>
          <p:nvPr/>
        </p:nvSpPr>
        <p:spPr>
          <a:xfrm>
            <a:off x="2834640" y="1645920"/>
            <a:ext cx="2103120" cy="3291840"/>
          </a:xfrm>
          <a:prstGeom prst="rect">
            <a:avLst/>
          </a:prstGeom>
          <a:solidFill>
            <a:srgbClr val="F4A261"/>
          </a:solidFill>
          <a:ln/>
          <a:effectLst>
            <a:outerShdw blurRad="76200" dist="25400" dir="5400000" algn="bl" rotWithShape="0">
              <a:srgbClr val="000000">
                <a:alpha val="15000"/>
              </a:srgbClr>
            </a:outerShdw>
          </a:effectLst>
        </p:spPr>
      </p:sp>
      <p:sp>
        <p:nvSpPr>
          <p:cNvPr id="12" name="Text 9"/>
          <p:cNvSpPr txBox="1"/>
          <p:nvPr/>
        </p:nvSpPr>
        <p:spPr>
          <a:xfrm>
            <a:off x="2834640" y="1783080"/>
            <a:ext cx="21031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2</a:t>
            </a:r>
            <a:endParaRPr lang="en-US" sz="3400" dirty="0"/>
          </a:p>
        </p:txBody>
      </p:sp>
      <p:sp>
        <p:nvSpPr>
          <p:cNvPr id="13" name="Text 10"/>
          <p:cNvSpPr txBox="1"/>
          <p:nvPr/>
        </p:nvSpPr>
        <p:spPr>
          <a:xfrm>
            <a:off x="2926080" y="2514600"/>
            <a:ext cx="1920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Main fact</a:t>
            </a:r>
            <a:endParaRPr lang="en-US" sz="1800" dirty="0"/>
          </a:p>
        </p:txBody>
      </p:sp>
      <p:sp>
        <p:nvSpPr>
          <p:cNvPr id="14" name="Text 11"/>
          <p:cNvSpPr txBox="1"/>
          <p:nvPr/>
        </p:nvSpPr>
        <p:spPr>
          <a:xfrm>
            <a:off x="3017520" y="3108960"/>
            <a:ext cx="1737360" cy="164592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State the key fact clearly.</a:t>
            </a:r>
            <a:endParaRPr lang="en-US" sz="1500" dirty="0"/>
          </a:p>
        </p:txBody>
      </p:sp>
      <p:sp>
        <p:nvSpPr>
          <p:cNvPr id="15" name="Shape 12"/>
          <p:cNvSpPr/>
          <p:nvPr/>
        </p:nvSpPr>
        <p:spPr>
          <a:xfrm>
            <a:off x="5120640" y="1645920"/>
            <a:ext cx="2103120" cy="3291840"/>
          </a:xfrm>
          <a:prstGeom prst="rect">
            <a:avLst/>
          </a:prstGeom>
          <a:solidFill>
            <a:srgbClr val="E76F51"/>
          </a:solidFill>
          <a:ln/>
          <a:effectLst>
            <a:outerShdw blurRad="76200" dist="25400" dir="5400000" algn="bl" rotWithShape="0">
              <a:srgbClr val="000000">
                <a:alpha val="15000"/>
              </a:srgbClr>
            </a:outerShdw>
          </a:effectLst>
        </p:spPr>
      </p:sp>
      <p:sp>
        <p:nvSpPr>
          <p:cNvPr id="16" name="Text 13"/>
          <p:cNvSpPr txBox="1"/>
          <p:nvPr/>
        </p:nvSpPr>
        <p:spPr>
          <a:xfrm>
            <a:off x="5120640" y="1783080"/>
            <a:ext cx="21031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a:t>
            </a:r>
            <a:endParaRPr lang="en-US" sz="3400" dirty="0"/>
          </a:p>
        </p:txBody>
      </p:sp>
      <p:sp>
        <p:nvSpPr>
          <p:cNvPr id="17" name="Text 14"/>
          <p:cNvSpPr txBox="1"/>
          <p:nvPr/>
        </p:nvSpPr>
        <p:spPr>
          <a:xfrm>
            <a:off x="5212080" y="2514600"/>
            <a:ext cx="1920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Explain</a:t>
            </a:r>
            <a:endParaRPr lang="en-US" sz="1800" dirty="0"/>
          </a:p>
        </p:txBody>
      </p:sp>
      <p:sp>
        <p:nvSpPr>
          <p:cNvPr id="18" name="Text 15"/>
          <p:cNvSpPr txBox="1"/>
          <p:nvPr/>
        </p:nvSpPr>
        <p:spPr>
          <a:xfrm>
            <a:off x="5303520" y="3108960"/>
            <a:ext cx="1737360" cy="164592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Say why or how. Use because, which or that.</a:t>
            </a:r>
            <a:endParaRPr lang="en-US" sz="1500" dirty="0"/>
          </a:p>
        </p:txBody>
      </p:sp>
      <p:sp>
        <p:nvSpPr>
          <p:cNvPr id="19" name="Shape 16"/>
          <p:cNvSpPr/>
          <p:nvPr/>
        </p:nvSpPr>
        <p:spPr>
          <a:xfrm>
            <a:off x="7406640" y="1645920"/>
            <a:ext cx="2103120" cy="3291840"/>
          </a:xfrm>
          <a:prstGeom prst="rect">
            <a:avLst/>
          </a:prstGeom>
          <a:solidFill>
            <a:srgbClr val="0B3C49"/>
          </a:solidFill>
          <a:ln/>
          <a:effectLst>
            <a:outerShdw blurRad="76200" dist="25400" dir="5400000" algn="bl" rotWithShape="0">
              <a:srgbClr val="000000">
                <a:alpha val="15000"/>
              </a:srgbClr>
            </a:outerShdw>
          </a:effectLst>
        </p:spPr>
      </p:sp>
      <p:sp>
        <p:nvSpPr>
          <p:cNvPr id="20" name="Text 17"/>
          <p:cNvSpPr txBox="1"/>
          <p:nvPr/>
        </p:nvSpPr>
        <p:spPr>
          <a:xfrm>
            <a:off x="7406640" y="1783080"/>
            <a:ext cx="21031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4</a:t>
            </a:r>
            <a:endParaRPr lang="en-US" sz="3400" dirty="0"/>
          </a:p>
        </p:txBody>
      </p:sp>
      <p:sp>
        <p:nvSpPr>
          <p:cNvPr id="21" name="Text 18"/>
          <p:cNvSpPr txBox="1"/>
          <p:nvPr/>
        </p:nvSpPr>
        <p:spPr>
          <a:xfrm>
            <a:off x="7498080" y="2514600"/>
            <a:ext cx="1920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Detail</a:t>
            </a:r>
            <a:endParaRPr lang="en-US" sz="1800" dirty="0"/>
          </a:p>
        </p:txBody>
      </p:sp>
      <p:sp>
        <p:nvSpPr>
          <p:cNvPr id="22" name="Text 19"/>
          <p:cNvSpPr txBox="1"/>
          <p:nvPr/>
        </p:nvSpPr>
        <p:spPr>
          <a:xfrm>
            <a:off x="7589520" y="3108960"/>
            <a:ext cx="1737360" cy="164592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Add an example or precise vocabulary.</a:t>
            </a:r>
            <a:endParaRPr lang="en-US" sz="1500" dirty="0"/>
          </a:p>
        </p:txBody>
      </p:sp>
      <p:sp>
        <p:nvSpPr>
          <p:cNvPr id="23" name="Shape 20"/>
          <p:cNvSpPr/>
          <p:nvPr/>
        </p:nvSpPr>
        <p:spPr>
          <a:xfrm>
            <a:off x="9692640" y="1645920"/>
            <a:ext cx="2103120" cy="3291840"/>
          </a:xfrm>
          <a:prstGeom prst="rect">
            <a:avLst/>
          </a:prstGeom>
          <a:solidFill>
            <a:srgbClr val="2A9D8F"/>
          </a:solidFill>
          <a:ln/>
          <a:effectLst>
            <a:outerShdw blurRad="76200" dist="25400" dir="5400000" algn="bl" rotWithShape="0">
              <a:srgbClr val="000000">
                <a:alpha val="15000"/>
              </a:srgbClr>
            </a:outerShdw>
          </a:effectLst>
        </p:spPr>
      </p:sp>
      <p:sp>
        <p:nvSpPr>
          <p:cNvPr id="24" name="Text 21"/>
          <p:cNvSpPr txBox="1"/>
          <p:nvPr/>
        </p:nvSpPr>
        <p:spPr>
          <a:xfrm>
            <a:off x="9692640" y="1783080"/>
            <a:ext cx="21031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5</a:t>
            </a:r>
            <a:endParaRPr lang="en-US" sz="3400" dirty="0"/>
          </a:p>
        </p:txBody>
      </p:sp>
      <p:sp>
        <p:nvSpPr>
          <p:cNvPr id="25" name="Text 22"/>
          <p:cNvSpPr txBox="1"/>
          <p:nvPr/>
        </p:nvSpPr>
        <p:spPr>
          <a:xfrm>
            <a:off x="9784080" y="2514600"/>
            <a:ext cx="1920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Link</a:t>
            </a:r>
            <a:endParaRPr lang="en-US" sz="1800" dirty="0"/>
          </a:p>
        </p:txBody>
      </p:sp>
      <p:sp>
        <p:nvSpPr>
          <p:cNvPr id="26" name="Text 23"/>
          <p:cNvSpPr txBox="1"/>
          <p:nvPr/>
        </p:nvSpPr>
        <p:spPr>
          <a:xfrm>
            <a:off x="9875520" y="3108960"/>
            <a:ext cx="1737360" cy="164592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Connect to the next idea: as a result, however.</a:t>
            </a:r>
            <a:endParaRPr lang="en-US" sz="1500" dirty="0"/>
          </a:p>
        </p:txBody>
      </p:sp>
      <p:sp>
        <p:nvSpPr>
          <p:cNvPr id="27" name="Text 24"/>
          <p:cNvSpPr txBox="1"/>
          <p:nvPr/>
        </p:nvSpPr>
        <p:spPr>
          <a:xfrm>
            <a:off x="731520" y="5394960"/>
            <a:ext cx="10698480" cy="548640"/>
          </a:xfrm>
          <a:prstGeom prst="rect">
            <a:avLst/>
          </a:prstGeom>
          <a:noFill/>
          <a:ln/>
        </p:spPr>
        <p:txBody>
          <a:bodyPr wrap="square" lIns="0" tIns="0" rIns="0" bIns="0" rtlCol="0" anchor="ctr"/>
          <a:lstStyle/>
          <a:p>
            <a:pPr marL="0" indent="0" algn="ctr">
              <a:buNone/>
            </a:pPr>
            <a:r>
              <a:rPr lang="en-US" sz="2000" b="1" dirty="0">
                <a:solidFill>
                  <a:srgbClr val="0B3C49"/>
                </a:solidFill>
                <a:latin typeface="Georgia" pitchFamily="34" charset="0"/>
                <a:ea typeface="Georgia" pitchFamily="34" charset="-122"/>
                <a:cs typeface="Georgia" pitchFamily="34" charset="-120"/>
              </a:rPr>
              <a:t>Not every paragraph needs all five. Each one needs a clear focus.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recipe in action: model paragraph</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731520" y="118872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188720"/>
            <a:ext cx="2651760" cy="822960"/>
          </a:xfrm>
          <a:prstGeom prst="rect">
            <a:avLst/>
          </a:prstGeom>
          <a:solidFill>
            <a:srgbClr val="2A9D8F"/>
          </a:solidFill>
          <a:ln/>
        </p:spPr>
      </p:sp>
      <p:sp>
        <p:nvSpPr>
          <p:cNvPr id="9" name="Text 6"/>
          <p:cNvSpPr txBox="1"/>
          <p:nvPr/>
        </p:nvSpPr>
        <p:spPr>
          <a:xfrm>
            <a:off x="868680" y="118872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  Topic sentence</a:t>
            </a:r>
            <a:endParaRPr lang="en-US" sz="1600" dirty="0"/>
          </a:p>
        </p:txBody>
      </p:sp>
      <p:sp>
        <p:nvSpPr>
          <p:cNvPr id="10" name="Text 7"/>
          <p:cNvSpPr txBox="1"/>
          <p:nvPr/>
        </p:nvSpPr>
        <p:spPr>
          <a:xfrm>
            <a:off x="3611880" y="118872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Sea turtles face several serious threats from human activity.</a:t>
            </a:r>
            <a:endParaRPr lang="en-US" sz="1700" dirty="0"/>
          </a:p>
        </p:txBody>
      </p:sp>
      <p:sp>
        <p:nvSpPr>
          <p:cNvPr id="11" name="Shape 8"/>
          <p:cNvSpPr/>
          <p:nvPr/>
        </p:nvSpPr>
        <p:spPr>
          <a:xfrm>
            <a:off x="731520" y="214884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731520" y="2148840"/>
            <a:ext cx="2651760" cy="822960"/>
          </a:xfrm>
          <a:prstGeom prst="rect">
            <a:avLst/>
          </a:prstGeom>
          <a:solidFill>
            <a:srgbClr val="F4A261"/>
          </a:solidFill>
          <a:ln/>
        </p:spPr>
      </p:sp>
      <p:sp>
        <p:nvSpPr>
          <p:cNvPr id="13" name="Text 10"/>
          <p:cNvSpPr txBox="1"/>
          <p:nvPr/>
        </p:nvSpPr>
        <p:spPr>
          <a:xfrm>
            <a:off x="868680" y="214884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  Main fact</a:t>
            </a:r>
            <a:endParaRPr lang="en-US" sz="1600" dirty="0"/>
          </a:p>
        </p:txBody>
      </p:sp>
      <p:sp>
        <p:nvSpPr>
          <p:cNvPr id="14" name="Text 11"/>
          <p:cNvSpPr txBox="1"/>
          <p:nvPr/>
        </p:nvSpPr>
        <p:spPr>
          <a:xfrm>
            <a:off x="3611880" y="214884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Plastic pollution is particularly dangerous for turtles.</a:t>
            </a:r>
            <a:endParaRPr lang="en-US" sz="1700" dirty="0"/>
          </a:p>
        </p:txBody>
      </p:sp>
      <p:sp>
        <p:nvSpPr>
          <p:cNvPr id="15" name="Shape 12"/>
          <p:cNvSpPr/>
          <p:nvPr/>
        </p:nvSpPr>
        <p:spPr>
          <a:xfrm>
            <a:off x="731520" y="310896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731520" y="3108960"/>
            <a:ext cx="2651760" cy="822960"/>
          </a:xfrm>
          <a:prstGeom prst="rect">
            <a:avLst/>
          </a:prstGeom>
          <a:solidFill>
            <a:srgbClr val="E76F51"/>
          </a:solidFill>
          <a:ln/>
        </p:spPr>
      </p:sp>
      <p:sp>
        <p:nvSpPr>
          <p:cNvPr id="17" name="Text 14"/>
          <p:cNvSpPr txBox="1"/>
          <p:nvPr/>
        </p:nvSpPr>
        <p:spPr>
          <a:xfrm>
            <a:off x="868680" y="310896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  Explain</a:t>
            </a:r>
            <a:endParaRPr lang="en-US" sz="1600" dirty="0"/>
          </a:p>
        </p:txBody>
      </p:sp>
      <p:sp>
        <p:nvSpPr>
          <p:cNvPr id="18" name="Text 15"/>
          <p:cNvSpPr txBox="1"/>
          <p:nvPr/>
        </p:nvSpPr>
        <p:spPr>
          <a:xfrm>
            <a:off x="3611880" y="310896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They may mistake floating bags for jellyfish, which are one of their main foods.</a:t>
            </a:r>
            <a:endParaRPr lang="en-US" sz="1700" dirty="0"/>
          </a:p>
        </p:txBody>
      </p:sp>
      <p:sp>
        <p:nvSpPr>
          <p:cNvPr id="19" name="Shape 16"/>
          <p:cNvSpPr/>
          <p:nvPr/>
        </p:nvSpPr>
        <p:spPr>
          <a:xfrm>
            <a:off x="731520" y="406908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20" name="Shape 17"/>
          <p:cNvSpPr/>
          <p:nvPr/>
        </p:nvSpPr>
        <p:spPr>
          <a:xfrm>
            <a:off x="731520" y="4069080"/>
            <a:ext cx="2651760" cy="822960"/>
          </a:xfrm>
          <a:prstGeom prst="rect">
            <a:avLst/>
          </a:prstGeom>
          <a:solidFill>
            <a:srgbClr val="0B3C49"/>
          </a:solidFill>
          <a:ln/>
        </p:spPr>
      </p:sp>
      <p:sp>
        <p:nvSpPr>
          <p:cNvPr id="21" name="Text 18"/>
          <p:cNvSpPr txBox="1"/>
          <p:nvPr/>
        </p:nvSpPr>
        <p:spPr>
          <a:xfrm>
            <a:off x="868680" y="406908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  Detail</a:t>
            </a:r>
            <a:endParaRPr lang="en-US" sz="1600" dirty="0"/>
          </a:p>
        </p:txBody>
      </p:sp>
      <p:sp>
        <p:nvSpPr>
          <p:cNvPr id="22" name="Text 19"/>
          <p:cNvSpPr txBox="1"/>
          <p:nvPr/>
        </p:nvSpPr>
        <p:spPr>
          <a:xfrm>
            <a:off x="3611880" y="406908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Swallowed plastic can block their digestive systems, leaving them unable to feed.</a:t>
            </a:r>
            <a:endParaRPr lang="en-US" sz="1700" dirty="0"/>
          </a:p>
        </p:txBody>
      </p:sp>
      <p:sp>
        <p:nvSpPr>
          <p:cNvPr id="23" name="Shape 20"/>
          <p:cNvSpPr/>
          <p:nvPr/>
        </p:nvSpPr>
        <p:spPr>
          <a:xfrm>
            <a:off x="731520" y="502920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24" name="Shape 21"/>
          <p:cNvSpPr/>
          <p:nvPr/>
        </p:nvSpPr>
        <p:spPr>
          <a:xfrm>
            <a:off x="731520" y="5029200"/>
            <a:ext cx="2651760" cy="822960"/>
          </a:xfrm>
          <a:prstGeom prst="rect">
            <a:avLst/>
          </a:prstGeom>
          <a:solidFill>
            <a:srgbClr val="2A9D8F"/>
          </a:solidFill>
          <a:ln/>
        </p:spPr>
      </p:sp>
      <p:sp>
        <p:nvSpPr>
          <p:cNvPr id="25" name="Text 22"/>
          <p:cNvSpPr txBox="1"/>
          <p:nvPr/>
        </p:nvSpPr>
        <p:spPr>
          <a:xfrm>
            <a:off x="868680" y="502920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  Link</a:t>
            </a:r>
            <a:endParaRPr lang="en-US" sz="1600" dirty="0"/>
          </a:p>
        </p:txBody>
      </p:sp>
      <p:sp>
        <p:nvSpPr>
          <p:cNvPr id="26" name="Text 23"/>
          <p:cNvSpPr txBox="1"/>
          <p:nvPr/>
        </p:nvSpPr>
        <p:spPr>
          <a:xfrm>
            <a:off x="3611880" y="502920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As a result, many turtles become weak and struggle to survive.</a:t>
            </a:r>
            <a:endParaRPr lang="en-US" sz="1700" dirty="0"/>
          </a:p>
        </p:txBody>
      </p:sp>
      <p:sp>
        <p:nvSpPr>
          <p:cNvPr id="27" name="Text 24"/>
          <p:cNvSpPr txBox="1"/>
          <p:nvPr/>
        </p:nvSpPr>
        <p:spPr>
          <a:xfrm>
            <a:off x="731520" y="6035040"/>
            <a:ext cx="10698480" cy="457200"/>
          </a:xfrm>
          <a:prstGeom prst="rect">
            <a:avLst/>
          </a:prstGeom>
          <a:noFill/>
          <a:ln/>
        </p:spPr>
        <p:txBody>
          <a:bodyPr wrap="square" lIns="0" tIns="0" rIns="0" bIns="0" rtlCol="0" anchor="ctr"/>
          <a:lstStyle/>
          <a:p>
            <a:pPr marL="0" indent="0" algn="ctr">
              <a:buNone/>
            </a:pPr>
            <a:r>
              <a:rPr lang="en-US" sz="1700" b="1" dirty="0">
                <a:solidFill>
                  <a:srgbClr val="0B3C49"/>
                </a:solidFill>
                <a:latin typeface="Georgia" pitchFamily="34" charset="0"/>
                <a:ea typeface="Georgia" pitchFamily="34" charset="-122"/>
                <a:cs typeface="Georgia" pitchFamily="34" charset="-120"/>
              </a:rPr>
              <a:t>One paragraph = one clear focus: the dangers sea turtles face.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How to write a topic sentence</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TOPIC SENTENCE</a:t>
            </a:r>
            <a:endParaRPr lang="en-US" sz="1100" dirty="0"/>
          </a:p>
        </p:txBody>
      </p:sp>
      <p:sp>
        <p:nvSpPr>
          <p:cNvPr id="7" name="Shape 4"/>
          <p:cNvSpPr/>
          <p:nvPr/>
        </p:nvSpPr>
        <p:spPr>
          <a:xfrm>
            <a:off x="731520" y="1280160"/>
            <a:ext cx="10698480" cy="1188720"/>
          </a:xfrm>
          <a:prstGeom prst="rect">
            <a:avLst/>
          </a:prstGeom>
          <a:solidFill>
            <a:srgbClr val="0B3C49"/>
          </a:solidFill>
          <a:ln/>
        </p:spPr>
      </p:sp>
      <p:sp>
        <p:nvSpPr>
          <p:cNvPr id="8" name="Text 5"/>
          <p:cNvSpPr txBox="1"/>
          <p:nvPr/>
        </p:nvSpPr>
        <p:spPr>
          <a:xfrm>
            <a:off x="914400" y="1280160"/>
            <a:ext cx="10332720" cy="1188720"/>
          </a:xfrm>
          <a:prstGeom prst="rect">
            <a:avLst/>
          </a:prstGeom>
          <a:noFill/>
          <a:ln/>
        </p:spPr>
        <p:txBody>
          <a:bodyPr wrap="square" lIns="0" tIns="0" rIns="0" bIns="0"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SUBJECT</a:t>
            </a:r>
            <a:r>
              <a:rPr lang="en-US" sz="2200" dirty="0">
                <a:solidFill>
                  <a:srgbClr val="FFFFFF"/>
                </a:solidFill>
                <a:latin typeface="Calibri" pitchFamily="34" charset="0"/>
                <a:ea typeface="Calibri" pitchFamily="34" charset="-122"/>
                <a:cs typeface="Calibri" pitchFamily="34" charset="-120"/>
              </a:rPr>
              <a:t>  (who or what?)   +   </a:t>
            </a:r>
            <a:r>
              <a:rPr lang="en-US" sz="2200" b="1" dirty="0">
                <a:solidFill>
                  <a:srgbClr val="F4A261"/>
                </a:solidFill>
                <a:latin typeface="Calibri" pitchFamily="34" charset="0"/>
                <a:ea typeface="Calibri" pitchFamily="34" charset="-122"/>
                <a:cs typeface="Calibri" pitchFamily="34" charset="-120"/>
              </a:rPr>
              <a:t>FOCUS</a:t>
            </a:r>
            <a:r>
              <a:rPr lang="en-US" sz="2200" dirty="0">
                <a:solidFill>
                  <a:srgbClr val="FFFFFF"/>
                </a:solidFill>
                <a:latin typeface="Calibri" pitchFamily="34" charset="0"/>
                <a:ea typeface="Calibri" pitchFamily="34" charset="-122"/>
                <a:cs typeface="Calibri" pitchFamily="34" charset="-120"/>
              </a:rPr>
              <a:t>  (what about it?)   =   topic sentence</a:t>
            </a:r>
            <a:endParaRPr lang="en-US" sz="2200" dirty="0"/>
          </a:p>
        </p:txBody>
      </p:sp>
      <p:sp>
        <p:nvSpPr>
          <p:cNvPr id="9" name="Text 6"/>
          <p:cNvSpPr txBox="1"/>
          <p:nvPr/>
        </p:nvSpPr>
        <p:spPr>
          <a:xfrm>
            <a:off x="731520" y="2606040"/>
            <a:ext cx="10698480" cy="548640"/>
          </a:xfrm>
          <a:prstGeom prst="rect">
            <a:avLst/>
          </a:prstGeom>
          <a:noFill/>
          <a:ln/>
        </p:spPr>
        <p:txBody>
          <a:bodyPr wrap="square" lIns="0" tIns="0" rIns="0" bIns="0" rtlCol="0" anchor="ctr"/>
          <a:lstStyle/>
          <a:p>
            <a:pPr marL="0" indent="0" algn="ctr">
              <a:buNone/>
            </a:pPr>
            <a:r>
              <a:rPr lang="en-US" sz="2200" b="1" i="1" dirty="0">
                <a:solidFill>
                  <a:srgbClr val="2A9D8F"/>
                </a:solidFill>
                <a:latin typeface="Georgia" pitchFamily="34" charset="0"/>
                <a:ea typeface="Georgia" pitchFamily="34" charset="-122"/>
                <a:cs typeface="Georgia" pitchFamily="34" charset="-120"/>
              </a:rPr>
              <a:t>Sea turtles  +  face several serious threats.</a:t>
            </a:r>
            <a:endParaRPr lang="en-US" sz="2200" dirty="0"/>
          </a:p>
        </p:txBody>
      </p:sp>
      <p:sp>
        <p:nvSpPr>
          <p:cNvPr id="10" name="Shape 7"/>
          <p:cNvSpPr/>
          <p:nvPr/>
        </p:nvSpPr>
        <p:spPr>
          <a:xfrm>
            <a:off x="731520" y="3474720"/>
            <a:ext cx="2560320" cy="1920240"/>
          </a:xfrm>
          <a:prstGeom prst="rect">
            <a:avLst/>
          </a:prstGeom>
          <a:solidFill>
            <a:srgbClr val="FFFFFF"/>
          </a:solidFill>
          <a:ln/>
          <a:effectLst>
            <a:outerShdw blurRad="76200" dist="25400" dir="5400000" algn="bl" rotWithShape="0">
              <a:srgbClr val="000000">
                <a:alpha val="15000"/>
              </a:srgbClr>
            </a:outerShdw>
          </a:effectLst>
        </p:spPr>
      </p:sp>
      <p:sp>
        <p:nvSpPr>
          <p:cNvPr id="11" name="Shape 8"/>
          <p:cNvSpPr/>
          <p:nvPr/>
        </p:nvSpPr>
        <p:spPr>
          <a:xfrm>
            <a:off x="731520" y="3474720"/>
            <a:ext cx="2560320" cy="411480"/>
          </a:xfrm>
          <a:prstGeom prst="rect">
            <a:avLst/>
          </a:prstGeom>
          <a:solidFill>
            <a:srgbClr val="E76F51"/>
          </a:solidFill>
          <a:ln/>
        </p:spPr>
      </p:sp>
      <p:sp>
        <p:nvSpPr>
          <p:cNvPr id="12" name="Text 9"/>
          <p:cNvSpPr txBox="1"/>
          <p:nvPr/>
        </p:nvSpPr>
        <p:spPr>
          <a:xfrm>
            <a:off x="841248" y="3474720"/>
            <a:ext cx="237744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Too vague</a:t>
            </a:r>
            <a:endParaRPr lang="en-US" sz="1400" dirty="0"/>
          </a:p>
        </p:txBody>
      </p:sp>
      <p:sp>
        <p:nvSpPr>
          <p:cNvPr id="13" name="Text 10"/>
          <p:cNvSpPr txBox="1"/>
          <p:nvPr/>
        </p:nvSpPr>
        <p:spPr>
          <a:xfrm>
            <a:off x="868680" y="3977640"/>
            <a:ext cx="2286000" cy="1325880"/>
          </a:xfrm>
          <a:prstGeom prst="rect">
            <a:avLst/>
          </a:prstGeom>
          <a:noFill/>
          <a:ln/>
        </p:spPr>
        <p:txBody>
          <a:bodyPr wrap="square" lIns="0" tIns="0" rIns="0" bIns="0" rtlCol="0" anchor="t"/>
          <a:lstStyle/>
          <a:p>
            <a:pPr marL="0" indent="0">
              <a:buNone/>
            </a:pPr>
            <a:r>
              <a:rPr lang="en-US" sz="1500" i="1" dirty="0">
                <a:solidFill>
                  <a:srgbClr val="0B3C49"/>
                </a:solidFill>
                <a:latin typeface="Calibri" pitchFamily="34" charset="0"/>
                <a:ea typeface="Calibri" pitchFamily="34" charset="-122"/>
                <a:cs typeface="Calibri" pitchFamily="34" charset="-120"/>
              </a:rPr>
              <a:t>“Sea turtles are interesting.”</a:t>
            </a:r>
            <a:endParaRPr lang="en-US" sz="1500" dirty="0"/>
          </a:p>
        </p:txBody>
      </p:sp>
      <p:sp>
        <p:nvSpPr>
          <p:cNvPr id="14" name="Shape 11"/>
          <p:cNvSpPr/>
          <p:nvPr/>
        </p:nvSpPr>
        <p:spPr>
          <a:xfrm>
            <a:off x="3474720" y="3474720"/>
            <a:ext cx="2560320" cy="1920240"/>
          </a:xfrm>
          <a:prstGeom prst="rect">
            <a:avLst/>
          </a:prstGeom>
          <a:solidFill>
            <a:srgbClr val="FFFFFF"/>
          </a:solidFill>
          <a:ln/>
          <a:effectLst>
            <a:outerShdw blurRad="76200" dist="25400" dir="5400000" algn="bl" rotWithShape="0">
              <a:srgbClr val="000000">
                <a:alpha val="15000"/>
              </a:srgbClr>
            </a:outerShdw>
          </a:effectLst>
        </p:spPr>
      </p:sp>
      <p:sp>
        <p:nvSpPr>
          <p:cNvPr id="15" name="Shape 12"/>
          <p:cNvSpPr/>
          <p:nvPr/>
        </p:nvSpPr>
        <p:spPr>
          <a:xfrm>
            <a:off x="3474720" y="3474720"/>
            <a:ext cx="2560320" cy="411480"/>
          </a:xfrm>
          <a:prstGeom prst="rect">
            <a:avLst/>
          </a:prstGeom>
          <a:solidFill>
            <a:srgbClr val="E76F51"/>
          </a:solidFill>
          <a:ln/>
        </p:spPr>
      </p:sp>
      <p:sp>
        <p:nvSpPr>
          <p:cNvPr id="16" name="Text 13"/>
          <p:cNvSpPr txBox="1"/>
          <p:nvPr/>
        </p:nvSpPr>
        <p:spPr>
          <a:xfrm>
            <a:off x="3584448" y="3474720"/>
            <a:ext cx="237744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Too personal</a:t>
            </a:r>
            <a:endParaRPr lang="en-US" sz="1400" dirty="0"/>
          </a:p>
        </p:txBody>
      </p:sp>
      <p:sp>
        <p:nvSpPr>
          <p:cNvPr id="17" name="Text 14"/>
          <p:cNvSpPr txBox="1"/>
          <p:nvPr/>
        </p:nvSpPr>
        <p:spPr>
          <a:xfrm>
            <a:off x="3611880" y="3977640"/>
            <a:ext cx="2286000" cy="1325880"/>
          </a:xfrm>
          <a:prstGeom prst="rect">
            <a:avLst/>
          </a:prstGeom>
          <a:noFill/>
          <a:ln/>
        </p:spPr>
        <p:txBody>
          <a:bodyPr wrap="square" lIns="0" tIns="0" rIns="0" bIns="0" rtlCol="0" anchor="t"/>
          <a:lstStyle/>
          <a:p>
            <a:pPr marL="0" indent="0">
              <a:buNone/>
            </a:pPr>
            <a:r>
              <a:rPr lang="en-US" sz="1500" i="1" dirty="0">
                <a:solidFill>
                  <a:srgbClr val="0B3C49"/>
                </a:solidFill>
                <a:latin typeface="Calibri" pitchFamily="34" charset="0"/>
                <a:ea typeface="Calibri" pitchFamily="34" charset="-122"/>
                <a:cs typeface="Calibri" pitchFamily="34" charset="-120"/>
              </a:rPr>
              <a:t>“I think plastic is bad.”</a:t>
            </a:r>
            <a:endParaRPr lang="en-US" sz="1500" dirty="0"/>
          </a:p>
        </p:txBody>
      </p:sp>
      <p:sp>
        <p:nvSpPr>
          <p:cNvPr id="18" name="Shape 15"/>
          <p:cNvSpPr/>
          <p:nvPr/>
        </p:nvSpPr>
        <p:spPr>
          <a:xfrm>
            <a:off x="6217920" y="3474720"/>
            <a:ext cx="2560320" cy="1920240"/>
          </a:xfrm>
          <a:prstGeom prst="rect">
            <a:avLst/>
          </a:prstGeom>
          <a:solidFill>
            <a:srgbClr val="FFFFFF"/>
          </a:solidFill>
          <a:ln/>
          <a:effectLst>
            <a:outerShdw blurRad="76200" dist="25400" dir="5400000" algn="bl" rotWithShape="0">
              <a:srgbClr val="000000">
                <a:alpha val="15000"/>
              </a:srgbClr>
            </a:outerShdw>
          </a:effectLst>
        </p:spPr>
      </p:sp>
      <p:sp>
        <p:nvSpPr>
          <p:cNvPr id="19" name="Shape 16"/>
          <p:cNvSpPr/>
          <p:nvPr/>
        </p:nvSpPr>
        <p:spPr>
          <a:xfrm>
            <a:off x="6217920" y="3474720"/>
            <a:ext cx="2560320" cy="411480"/>
          </a:xfrm>
          <a:prstGeom prst="rect">
            <a:avLst/>
          </a:prstGeom>
          <a:solidFill>
            <a:srgbClr val="E76F51"/>
          </a:solidFill>
          <a:ln/>
        </p:spPr>
      </p:sp>
      <p:sp>
        <p:nvSpPr>
          <p:cNvPr id="20" name="Text 17"/>
          <p:cNvSpPr txBox="1"/>
          <p:nvPr/>
        </p:nvSpPr>
        <p:spPr>
          <a:xfrm>
            <a:off x="6327648" y="3474720"/>
            <a:ext cx="237744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Announcing</a:t>
            </a:r>
            <a:endParaRPr lang="en-US" sz="1400" dirty="0"/>
          </a:p>
        </p:txBody>
      </p:sp>
      <p:sp>
        <p:nvSpPr>
          <p:cNvPr id="21" name="Text 18"/>
          <p:cNvSpPr txBox="1"/>
          <p:nvPr/>
        </p:nvSpPr>
        <p:spPr>
          <a:xfrm>
            <a:off x="6355080" y="3977640"/>
            <a:ext cx="2286000" cy="1325880"/>
          </a:xfrm>
          <a:prstGeom prst="rect">
            <a:avLst/>
          </a:prstGeom>
          <a:noFill/>
          <a:ln/>
        </p:spPr>
        <p:txBody>
          <a:bodyPr wrap="square" lIns="0" tIns="0" rIns="0" bIns="0" rtlCol="0" anchor="t"/>
          <a:lstStyle/>
          <a:p>
            <a:pPr marL="0" indent="0">
              <a:buNone/>
            </a:pPr>
            <a:r>
              <a:rPr lang="en-US" sz="1500" i="1" dirty="0">
                <a:solidFill>
                  <a:srgbClr val="0B3C49"/>
                </a:solidFill>
                <a:latin typeface="Calibri" pitchFamily="34" charset="0"/>
                <a:ea typeface="Calibri" pitchFamily="34" charset="-122"/>
                <a:cs typeface="Calibri" pitchFamily="34" charset="-120"/>
              </a:rPr>
              <a:t>“In this paragraph I will talk about threats.”</a:t>
            </a:r>
            <a:endParaRPr lang="en-US" sz="1500" dirty="0"/>
          </a:p>
        </p:txBody>
      </p:sp>
      <p:sp>
        <p:nvSpPr>
          <p:cNvPr id="22" name="Shape 19"/>
          <p:cNvSpPr/>
          <p:nvPr/>
        </p:nvSpPr>
        <p:spPr>
          <a:xfrm>
            <a:off x="8961120" y="3474720"/>
            <a:ext cx="2560320" cy="1920240"/>
          </a:xfrm>
          <a:prstGeom prst="rect">
            <a:avLst/>
          </a:prstGeom>
          <a:solidFill>
            <a:srgbClr val="FFFFFF"/>
          </a:solidFill>
          <a:ln/>
          <a:effectLst>
            <a:outerShdw blurRad="76200" dist="25400" dir="5400000" algn="bl" rotWithShape="0">
              <a:srgbClr val="000000">
                <a:alpha val="15000"/>
              </a:srgbClr>
            </a:outerShdw>
          </a:effectLst>
        </p:spPr>
      </p:sp>
      <p:sp>
        <p:nvSpPr>
          <p:cNvPr id="23" name="Shape 20"/>
          <p:cNvSpPr/>
          <p:nvPr/>
        </p:nvSpPr>
        <p:spPr>
          <a:xfrm>
            <a:off x="8961120" y="3474720"/>
            <a:ext cx="2560320" cy="411480"/>
          </a:xfrm>
          <a:prstGeom prst="rect">
            <a:avLst/>
          </a:prstGeom>
          <a:solidFill>
            <a:srgbClr val="E76F51"/>
          </a:solidFill>
          <a:ln/>
        </p:spPr>
      </p:sp>
      <p:sp>
        <p:nvSpPr>
          <p:cNvPr id="24" name="Text 21"/>
          <p:cNvSpPr txBox="1"/>
          <p:nvPr/>
        </p:nvSpPr>
        <p:spPr>
          <a:xfrm>
            <a:off x="9070848" y="3474720"/>
            <a:ext cx="237744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Too narrow</a:t>
            </a:r>
            <a:endParaRPr lang="en-US" sz="1400" dirty="0"/>
          </a:p>
        </p:txBody>
      </p:sp>
      <p:sp>
        <p:nvSpPr>
          <p:cNvPr id="25" name="Text 22"/>
          <p:cNvSpPr txBox="1"/>
          <p:nvPr/>
        </p:nvSpPr>
        <p:spPr>
          <a:xfrm>
            <a:off x="9098280" y="3977640"/>
            <a:ext cx="2286000" cy="1325880"/>
          </a:xfrm>
          <a:prstGeom prst="rect">
            <a:avLst/>
          </a:prstGeom>
          <a:noFill/>
          <a:ln/>
        </p:spPr>
        <p:txBody>
          <a:bodyPr wrap="square" lIns="0" tIns="0" rIns="0" bIns="0" rtlCol="0" anchor="t"/>
          <a:lstStyle/>
          <a:p>
            <a:pPr marL="0" indent="0">
              <a:buNone/>
            </a:pPr>
            <a:r>
              <a:rPr lang="en-US" sz="1500" i="1" dirty="0">
                <a:solidFill>
                  <a:srgbClr val="0B3C49"/>
                </a:solidFill>
                <a:latin typeface="Calibri" pitchFamily="34" charset="0"/>
                <a:ea typeface="Calibri" pitchFamily="34" charset="-122"/>
                <a:cs typeface="Calibri" pitchFamily="34" charset="-120"/>
              </a:rPr>
              <a:t>“Plastic bags can look like jellyfish.”</a:t>
            </a:r>
            <a:endParaRPr lang="en-US" sz="1500" dirty="0"/>
          </a:p>
        </p:txBody>
      </p:sp>
      <p:sp>
        <p:nvSpPr>
          <p:cNvPr id="26" name="Text 23"/>
          <p:cNvSpPr txBox="1"/>
          <p:nvPr/>
        </p:nvSpPr>
        <p:spPr>
          <a:xfrm>
            <a:off x="731520" y="5669280"/>
            <a:ext cx="10698480" cy="548640"/>
          </a:xfrm>
          <a:prstGeom prst="rect">
            <a:avLst/>
          </a:prstGeom>
          <a:noFill/>
          <a:ln/>
        </p:spPr>
        <p:txBody>
          <a:bodyPr wrap="square" lIns="0" tIns="0" rIns="0" bIns="0" rtlCol="0" anchor="ctr"/>
          <a:lstStyle/>
          <a:p>
            <a:pPr marL="0" indent="0" algn="ctr">
              <a:buNone/>
            </a:pPr>
            <a:r>
              <a:rPr lang="en-US" sz="1800" b="1" dirty="0">
                <a:solidFill>
                  <a:srgbClr val="0B3C49"/>
                </a:solidFill>
                <a:latin typeface="Georgia" pitchFamily="34" charset="0"/>
                <a:ea typeface="Georgia" pitchFamily="34" charset="-122"/>
                <a:cs typeface="Georgia" pitchFamily="34" charset="-120"/>
              </a:rPr>
              <a:t>A good topic sentence is clear, factual and covers the whole paragraph.</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Topic sentences for each section</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TOPIC SENTENCE</a:t>
            </a:r>
            <a:endParaRPr lang="en-US" sz="1100" dirty="0"/>
          </a:p>
        </p:txBody>
      </p:sp>
      <p:sp>
        <p:nvSpPr>
          <p:cNvPr id="7" name="Shape 4"/>
          <p:cNvSpPr/>
          <p:nvPr/>
        </p:nvSpPr>
        <p:spPr>
          <a:xfrm>
            <a:off x="457200" y="1371600"/>
            <a:ext cx="2697480" cy="44805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457200" y="1371600"/>
            <a:ext cx="2697480" cy="457200"/>
          </a:xfrm>
          <a:prstGeom prst="rect">
            <a:avLst/>
          </a:prstGeom>
          <a:solidFill>
            <a:srgbClr val="2A9D8F"/>
          </a:solidFill>
          <a:ln/>
        </p:spPr>
      </p:sp>
      <p:sp>
        <p:nvSpPr>
          <p:cNvPr id="9" name="Text 6"/>
          <p:cNvSpPr txBox="1"/>
          <p:nvPr/>
        </p:nvSpPr>
        <p:spPr>
          <a:xfrm>
            <a:off x="59436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INTRODUCTION</a:t>
            </a:r>
            <a:endParaRPr lang="en-US" sz="1500" dirty="0"/>
          </a:p>
        </p:txBody>
      </p:sp>
      <p:sp>
        <p:nvSpPr>
          <p:cNvPr id="10" name="Text 7"/>
          <p:cNvSpPr txBox="1"/>
          <p:nvPr/>
        </p:nvSpPr>
        <p:spPr>
          <a:xfrm>
            <a:off x="640080" y="1965960"/>
            <a:ext cx="233172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___ are ___ that live…</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Starter: Although…</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Sea turtles are marine reptiles that live in oceans around the world.</a:t>
            </a:r>
            <a:endParaRPr lang="en-US" sz="1400" dirty="0"/>
          </a:p>
        </p:txBody>
      </p:sp>
      <p:sp>
        <p:nvSpPr>
          <p:cNvPr id="11" name="Shape 8"/>
          <p:cNvSpPr/>
          <p:nvPr/>
        </p:nvSpPr>
        <p:spPr>
          <a:xfrm>
            <a:off x="3291840" y="1371600"/>
            <a:ext cx="2697480" cy="44805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3291840" y="1371600"/>
            <a:ext cx="2697480" cy="457200"/>
          </a:xfrm>
          <a:prstGeom prst="rect">
            <a:avLst/>
          </a:prstGeom>
          <a:solidFill>
            <a:srgbClr val="F4A261"/>
          </a:solidFill>
          <a:ln/>
        </p:spPr>
      </p:sp>
      <p:sp>
        <p:nvSpPr>
          <p:cNvPr id="13" name="Text 10"/>
          <p:cNvSpPr txBox="1"/>
          <p:nvPr/>
        </p:nvSpPr>
        <p:spPr>
          <a:xfrm>
            <a:off x="342900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ABOUT</a:t>
            </a:r>
            <a:endParaRPr lang="en-US" sz="1500" dirty="0"/>
          </a:p>
        </p:txBody>
      </p:sp>
      <p:sp>
        <p:nvSpPr>
          <p:cNvPr id="14" name="Text 11"/>
          <p:cNvSpPr txBox="1"/>
          <p:nvPr/>
        </p:nvSpPr>
        <p:spPr>
          <a:xfrm>
            <a:off x="3474720" y="1965960"/>
            <a:ext cx="233172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___ has / have…</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___ can be found…</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Sea turtles have large flippers that help them swim long distances.</a:t>
            </a:r>
            <a:endParaRPr lang="en-US" sz="1400" dirty="0"/>
          </a:p>
        </p:txBody>
      </p:sp>
      <p:sp>
        <p:nvSpPr>
          <p:cNvPr id="15" name="Shape 12"/>
          <p:cNvSpPr/>
          <p:nvPr/>
        </p:nvSpPr>
        <p:spPr>
          <a:xfrm>
            <a:off x="6126480" y="1371600"/>
            <a:ext cx="2697480" cy="448056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6126480" y="1371600"/>
            <a:ext cx="2697480" cy="457200"/>
          </a:xfrm>
          <a:prstGeom prst="rect">
            <a:avLst/>
          </a:prstGeom>
          <a:solidFill>
            <a:srgbClr val="E76F51"/>
          </a:solidFill>
          <a:ln/>
        </p:spPr>
      </p:sp>
      <p:sp>
        <p:nvSpPr>
          <p:cNvPr id="17" name="Text 14"/>
          <p:cNvSpPr txBox="1"/>
          <p:nvPr/>
        </p:nvSpPr>
        <p:spPr>
          <a:xfrm>
            <a:off x="626364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THREATS</a:t>
            </a:r>
            <a:endParaRPr lang="en-US" sz="1500" dirty="0"/>
          </a:p>
        </p:txBody>
      </p:sp>
      <p:sp>
        <p:nvSpPr>
          <p:cNvPr id="18" name="Text 15"/>
          <p:cNvSpPr txBox="1"/>
          <p:nvPr/>
        </p:nvSpPr>
        <p:spPr>
          <a:xfrm>
            <a:off x="6309360" y="1965960"/>
            <a:ext cx="233172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___ face(s) several threats.</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One serious danger is…</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Sea turtles face several serious threats from human activity.</a:t>
            </a:r>
            <a:endParaRPr lang="en-US" sz="1400" dirty="0"/>
          </a:p>
        </p:txBody>
      </p:sp>
      <p:sp>
        <p:nvSpPr>
          <p:cNvPr id="19" name="Shape 16"/>
          <p:cNvSpPr/>
          <p:nvPr/>
        </p:nvSpPr>
        <p:spPr>
          <a:xfrm>
            <a:off x="8961120" y="1371600"/>
            <a:ext cx="2743200" cy="4480560"/>
          </a:xfrm>
          <a:prstGeom prst="rect">
            <a:avLst/>
          </a:prstGeom>
          <a:solidFill>
            <a:srgbClr val="FFFFFF"/>
          </a:solidFill>
          <a:ln/>
          <a:effectLst>
            <a:outerShdw blurRad="76200" dist="25400" dir="5400000" algn="bl" rotWithShape="0">
              <a:srgbClr val="000000">
                <a:alpha val="15000"/>
              </a:srgbClr>
            </a:outerShdw>
          </a:effectLst>
        </p:spPr>
      </p:sp>
      <p:sp>
        <p:nvSpPr>
          <p:cNvPr id="20" name="Shape 17"/>
          <p:cNvSpPr/>
          <p:nvPr/>
        </p:nvSpPr>
        <p:spPr>
          <a:xfrm>
            <a:off x="8961120" y="1371600"/>
            <a:ext cx="2743200" cy="457200"/>
          </a:xfrm>
          <a:prstGeom prst="rect">
            <a:avLst/>
          </a:prstGeom>
          <a:solidFill>
            <a:srgbClr val="0B3C49"/>
          </a:solidFill>
          <a:ln/>
        </p:spPr>
      </p:sp>
      <p:sp>
        <p:nvSpPr>
          <p:cNvPr id="21" name="Text 18"/>
          <p:cNvSpPr txBox="1"/>
          <p:nvPr/>
        </p:nvSpPr>
        <p:spPr>
          <a:xfrm>
            <a:off x="9098280" y="1371600"/>
            <a:ext cx="24688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PROTECTION</a:t>
            </a:r>
            <a:endParaRPr lang="en-US" sz="1500" dirty="0"/>
          </a:p>
        </p:txBody>
      </p:sp>
      <p:sp>
        <p:nvSpPr>
          <p:cNvPr id="22" name="Text 19"/>
          <p:cNvSpPr txBox="1"/>
          <p:nvPr/>
        </p:nvSpPr>
        <p:spPr>
          <a:xfrm>
            <a:off x="9144000" y="1965960"/>
            <a:ext cx="237744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People can help by…</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___ is / are being protected…</a:t>
            </a:r>
            <a:endParaRPr lang="en-US" sz="1400" dirty="0"/>
          </a:p>
          <a:p>
            <a:pPr marL="342900" indent="-342900">
              <a:spcAft>
                <a:spcPts val="600"/>
              </a:spcAft>
              <a:buSzPct val="100000"/>
              <a:buChar char="•"/>
            </a:pPr>
            <a:r>
              <a:rPr lang="en-US" sz="1400" dirty="0">
                <a:solidFill>
                  <a:srgbClr val="0B3C49"/>
                </a:solidFill>
                <a:latin typeface="Calibri" pitchFamily="34" charset="0"/>
                <a:ea typeface="Calibri" pitchFamily="34" charset="-122"/>
                <a:cs typeface="Calibri" pitchFamily="34" charset="-120"/>
              </a:rPr>
              <a:t>Many people are working to protect sea turtles in different ways.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introduction</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731520" y="1371600"/>
            <a:ext cx="10698480" cy="1737360"/>
          </a:xfrm>
          <a:prstGeom prst="rect">
            <a:avLst/>
          </a:prstGeom>
          <a:solidFill>
            <a:srgbClr val="FFFFFF"/>
          </a:solidFill>
          <a:ln/>
          <a:effectLst>
            <a:outerShdw blurRad="76200" dist="25400" dir="5400000" algn="bl" rotWithShape="0">
              <a:srgbClr val="000000">
                <a:alpha val="15000"/>
              </a:srgbClr>
            </a:outerShdw>
          </a:effectLst>
        </p:spPr>
      </p:sp>
      <p:sp>
        <p:nvSpPr>
          <p:cNvPr id="8" name="Text 5"/>
          <p:cNvSpPr txBox="1"/>
          <p:nvPr/>
        </p:nvSpPr>
        <p:spPr>
          <a:xfrm>
            <a:off x="1005840" y="1417320"/>
            <a:ext cx="10149840" cy="1645920"/>
          </a:xfrm>
          <a:prstGeom prst="rect">
            <a:avLst/>
          </a:prstGeom>
          <a:noFill/>
          <a:ln/>
        </p:spPr>
        <p:txBody>
          <a:bodyPr wrap="square" lIns="0" tIns="0" rIns="0" bIns="0" rtlCol="0" anchor="ctr"/>
          <a:lstStyle/>
          <a:p>
            <a:pPr marL="0" indent="0">
              <a:buNone/>
            </a:pPr>
            <a:r>
              <a:rPr lang="en-US" sz="1900" i="1" dirty="0">
                <a:solidFill>
                  <a:srgbClr val="0B3C49"/>
                </a:solidFill>
                <a:latin typeface="Calibri" pitchFamily="34" charset="0"/>
                <a:ea typeface="Calibri" pitchFamily="34" charset="-122"/>
                <a:cs typeface="Calibri" pitchFamily="34" charset="-120"/>
              </a:rPr>
              <a:t>Sea turtles are marine reptiles that live in oceans around the world. Although they have survived for millions of years, many species now face serious threats. This report explores how sea turtles live, what endangers them and how people can protect them.</a:t>
            </a:r>
            <a:endParaRPr lang="en-US" sz="1900" dirty="0"/>
          </a:p>
        </p:txBody>
      </p:sp>
      <p:sp>
        <p:nvSpPr>
          <p:cNvPr id="9" name="Shape 6"/>
          <p:cNvSpPr/>
          <p:nvPr/>
        </p:nvSpPr>
        <p:spPr>
          <a:xfrm>
            <a:off x="731520" y="3474720"/>
            <a:ext cx="3383280" cy="2468880"/>
          </a:xfrm>
          <a:prstGeom prst="rect">
            <a:avLst/>
          </a:prstGeom>
          <a:solidFill>
            <a:srgbClr val="FFFFFF"/>
          </a:solidFill>
          <a:ln/>
          <a:effectLst>
            <a:outerShdw blurRad="76200" dist="25400" dir="5400000" algn="bl" rotWithShape="0">
              <a:srgbClr val="000000">
                <a:alpha val="15000"/>
              </a:srgbClr>
            </a:outerShdw>
          </a:effectLst>
        </p:spPr>
      </p:sp>
      <p:sp>
        <p:nvSpPr>
          <p:cNvPr id="10" name="Shape 7"/>
          <p:cNvSpPr/>
          <p:nvPr/>
        </p:nvSpPr>
        <p:spPr>
          <a:xfrm>
            <a:off x="731520" y="3474720"/>
            <a:ext cx="3383280" cy="457200"/>
          </a:xfrm>
          <a:prstGeom prst="rect">
            <a:avLst/>
          </a:prstGeom>
          <a:solidFill>
            <a:srgbClr val="2A9D8F"/>
          </a:solidFill>
          <a:ln/>
        </p:spPr>
      </p:sp>
      <p:sp>
        <p:nvSpPr>
          <p:cNvPr id="11" name="Text 8"/>
          <p:cNvSpPr txBox="1"/>
          <p:nvPr/>
        </p:nvSpPr>
        <p:spPr>
          <a:xfrm>
            <a:off x="868680" y="347472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IS IT?</a:t>
            </a:r>
            <a:endParaRPr lang="en-US" sz="1500" dirty="0"/>
          </a:p>
        </p:txBody>
      </p:sp>
      <p:sp>
        <p:nvSpPr>
          <p:cNvPr id="12" name="Text 9"/>
          <p:cNvSpPr txBox="1"/>
          <p:nvPr/>
        </p:nvSpPr>
        <p:spPr>
          <a:xfrm>
            <a:off x="914400" y="4069080"/>
            <a:ext cx="301752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Name the creature</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Use a relative clause</a:t>
            </a:r>
            <a:endParaRPr lang="en-US" sz="1600" dirty="0"/>
          </a:p>
        </p:txBody>
      </p:sp>
      <p:sp>
        <p:nvSpPr>
          <p:cNvPr id="13" name="Shape 10"/>
          <p:cNvSpPr/>
          <p:nvPr/>
        </p:nvSpPr>
        <p:spPr>
          <a:xfrm>
            <a:off x="4389120" y="3474720"/>
            <a:ext cx="3383280" cy="2468880"/>
          </a:xfrm>
          <a:prstGeom prst="rect">
            <a:avLst/>
          </a:prstGeom>
          <a:solidFill>
            <a:srgbClr val="FFFFFF"/>
          </a:solidFill>
          <a:ln/>
          <a:effectLst>
            <a:outerShdw blurRad="76200" dist="25400" dir="5400000" algn="bl" rotWithShape="0">
              <a:srgbClr val="000000">
                <a:alpha val="15000"/>
              </a:srgbClr>
            </a:outerShdw>
          </a:effectLst>
        </p:spPr>
      </p:sp>
      <p:sp>
        <p:nvSpPr>
          <p:cNvPr id="14" name="Shape 11"/>
          <p:cNvSpPr/>
          <p:nvPr/>
        </p:nvSpPr>
        <p:spPr>
          <a:xfrm>
            <a:off x="4389120" y="3474720"/>
            <a:ext cx="3383280" cy="457200"/>
          </a:xfrm>
          <a:prstGeom prst="rect">
            <a:avLst/>
          </a:prstGeom>
          <a:solidFill>
            <a:srgbClr val="F4A261"/>
          </a:solidFill>
          <a:ln/>
        </p:spPr>
      </p:sp>
      <p:sp>
        <p:nvSpPr>
          <p:cNvPr id="15" name="Text 12"/>
          <p:cNvSpPr txBox="1"/>
          <p:nvPr/>
        </p:nvSpPr>
        <p:spPr>
          <a:xfrm>
            <a:off x="4526280" y="347472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IT MATTERS</a:t>
            </a:r>
            <a:endParaRPr lang="en-US" sz="1500" dirty="0"/>
          </a:p>
        </p:txBody>
      </p:sp>
      <p:sp>
        <p:nvSpPr>
          <p:cNvPr id="16" name="Text 13"/>
          <p:cNvSpPr txBox="1"/>
          <p:nvPr/>
        </p:nvSpPr>
        <p:spPr>
          <a:xfrm>
            <a:off x="4572000" y="4069080"/>
            <a:ext cx="301752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Hook the reader</a:t>
            </a:r>
            <a:endParaRPr lang="en-US" sz="1600" dirty="0"/>
          </a:p>
          <a:p>
            <a:pPr marL="342900" indent="-342900">
              <a:spcAft>
                <a:spcPts val="600"/>
              </a:spcAft>
              <a:buSzPct val="100000"/>
              <a:buChar char="•"/>
            </a:pPr>
            <a:r>
              <a:rPr lang="en-US" sz="1600" b="1" dirty="0">
                <a:solidFill>
                  <a:srgbClr val="0B3C49"/>
                </a:solidFill>
                <a:latin typeface="Calibri" pitchFamily="34" charset="0"/>
                <a:ea typeface="Calibri" pitchFamily="34" charset="-122"/>
                <a:cs typeface="Calibri" pitchFamily="34" charset="-120"/>
              </a:rPr>
              <a:t>Contrast</a:t>
            </a:r>
            <a:r>
              <a:rPr lang="en-US" sz="1600" dirty="0">
                <a:solidFill>
                  <a:srgbClr val="0B3C49"/>
                </a:solidFill>
                <a:latin typeface="Calibri" pitchFamily="34" charset="0"/>
                <a:ea typeface="Calibri" pitchFamily="34" charset="-122"/>
                <a:cs typeface="Calibri" pitchFamily="34" charset="-120"/>
              </a:rPr>
              <a:t>: although…</a:t>
            </a:r>
            <a:endParaRPr lang="en-US" sz="1600" dirty="0"/>
          </a:p>
        </p:txBody>
      </p:sp>
      <p:sp>
        <p:nvSpPr>
          <p:cNvPr id="17" name="Shape 14"/>
          <p:cNvSpPr/>
          <p:nvPr/>
        </p:nvSpPr>
        <p:spPr>
          <a:xfrm>
            <a:off x="8046720" y="3474720"/>
            <a:ext cx="3383280" cy="2468880"/>
          </a:xfrm>
          <a:prstGeom prst="rect">
            <a:avLst/>
          </a:prstGeom>
          <a:solidFill>
            <a:srgbClr val="FFFFFF"/>
          </a:solidFill>
          <a:ln/>
          <a:effectLst>
            <a:outerShdw blurRad="76200" dist="25400" dir="5400000" algn="bl" rotWithShape="0">
              <a:srgbClr val="000000">
                <a:alpha val="15000"/>
              </a:srgbClr>
            </a:outerShdw>
          </a:effectLst>
        </p:spPr>
      </p:sp>
      <p:sp>
        <p:nvSpPr>
          <p:cNvPr id="18" name="Shape 15"/>
          <p:cNvSpPr/>
          <p:nvPr/>
        </p:nvSpPr>
        <p:spPr>
          <a:xfrm>
            <a:off x="8046720" y="3474720"/>
            <a:ext cx="3383280" cy="457200"/>
          </a:xfrm>
          <a:prstGeom prst="rect">
            <a:avLst/>
          </a:prstGeom>
          <a:solidFill>
            <a:srgbClr val="E76F51"/>
          </a:solidFill>
          <a:ln/>
        </p:spPr>
      </p:sp>
      <p:sp>
        <p:nvSpPr>
          <p:cNvPr id="19" name="Text 16"/>
          <p:cNvSpPr txBox="1"/>
          <p:nvPr/>
        </p:nvSpPr>
        <p:spPr>
          <a:xfrm>
            <a:off x="8183880" y="347472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NEXT?</a:t>
            </a:r>
            <a:endParaRPr lang="en-US" sz="1500" dirty="0"/>
          </a:p>
        </p:txBody>
      </p:sp>
      <p:sp>
        <p:nvSpPr>
          <p:cNvPr id="20" name="Text 17"/>
          <p:cNvSpPr txBox="1"/>
          <p:nvPr/>
        </p:nvSpPr>
        <p:spPr>
          <a:xfrm>
            <a:off x="8229600" y="4069080"/>
            <a:ext cx="301752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Preview the sections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Present tense, third person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Topic sentences in action</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54864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548640" y="1280160"/>
            <a:ext cx="3566160" cy="457200"/>
          </a:xfrm>
          <a:prstGeom prst="rect">
            <a:avLst/>
          </a:prstGeom>
          <a:solidFill>
            <a:srgbClr val="F4A261"/>
          </a:solidFill>
          <a:ln/>
        </p:spPr>
      </p:sp>
      <p:sp>
        <p:nvSpPr>
          <p:cNvPr id="9" name="Text 6"/>
          <p:cNvSpPr txBox="1"/>
          <p:nvPr/>
        </p:nvSpPr>
        <p:spPr>
          <a:xfrm>
            <a:off x="68580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ABOUT</a:t>
            </a:r>
            <a:endParaRPr lang="en-US" sz="1500" dirty="0"/>
          </a:p>
        </p:txBody>
      </p:sp>
      <p:sp>
        <p:nvSpPr>
          <p:cNvPr id="10" name="Text 7"/>
          <p:cNvSpPr txBox="1"/>
          <p:nvPr/>
        </p:nvSpPr>
        <p:spPr>
          <a:xfrm>
            <a:off x="73152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Sea turtles have bodies that are adapted to life in the ocean. </a:t>
            </a:r>
            <a:r>
              <a:rPr lang="en-US" sz="1600" dirty="0">
                <a:solidFill>
                  <a:srgbClr val="0B3C49"/>
                </a:solidFill>
                <a:latin typeface="Calibri" pitchFamily="34" charset="0"/>
                <a:ea typeface="Calibri" pitchFamily="34" charset="-122"/>
                <a:cs typeface="Calibri" pitchFamily="34" charset="-120"/>
              </a:rPr>
              <a:t>Their large flippers help them swim long distances, while their smooth shells let them move easily through water. Different species also eat different foods, from seagrass to jellyfish.</a:t>
            </a:r>
            <a:endParaRPr lang="en-US" sz="1600" dirty="0"/>
          </a:p>
        </p:txBody>
      </p:sp>
      <p:sp>
        <p:nvSpPr>
          <p:cNvPr id="11" name="Shape 8"/>
          <p:cNvSpPr/>
          <p:nvPr/>
        </p:nvSpPr>
        <p:spPr>
          <a:xfrm>
            <a:off x="429768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4297680" y="1280160"/>
            <a:ext cx="3566160" cy="457200"/>
          </a:xfrm>
          <a:prstGeom prst="rect">
            <a:avLst/>
          </a:prstGeom>
          <a:solidFill>
            <a:srgbClr val="E76F51"/>
          </a:solidFill>
          <a:ln/>
        </p:spPr>
      </p:sp>
      <p:sp>
        <p:nvSpPr>
          <p:cNvPr id="13" name="Text 10"/>
          <p:cNvSpPr txBox="1"/>
          <p:nvPr/>
        </p:nvSpPr>
        <p:spPr>
          <a:xfrm>
            <a:off x="443484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THREATS</a:t>
            </a:r>
            <a:endParaRPr lang="en-US" sz="1500" dirty="0"/>
          </a:p>
        </p:txBody>
      </p:sp>
      <p:sp>
        <p:nvSpPr>
          <p:cNvPr id="14" name="Text 11"/>
          <p:cNvSpPr txBox="1"/>
          <p:nvPr/>
        </p:nvSpPr>
        <p:spPr>
          <a:xfrm>
            <a:off x="448056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Sea turtles face several serious threats from human activity. </a:t>
            </a:r>
            <a:r>
              <a:rPr lang="en-US" sz="1600" dirty="0">
                <a:solidFill>
                  <a:srgbClr val="0B3C49"/>
                </a:solidFill>
                <a:latin typeface="Calibri" pitchFamily="34" charset="0"/>
                <a:ea typeface="Calibri" pitchFamily="34" charset="-122"/>
                <a:cs typeface="Calibri" pitchFamily="34" charset="-120"/>
              </a:rPr>
              <a:t>Plastic pollution is dangerous because turtles may mistake bags for food. Fishing equipment can also trap them, so many turtles are injured.</a:t>
            </a:r>
            <a:endParaRPr lang="en-US" sz="1600" dirty="0"/>
          </a:p>
        </p:txBody>
      </p:sp>
      <p:sp>
        <p:nvSpPr>
          <p:cNvPr id="15" name="Shape 12"/>
          <p:cNvSpPr/>
          <p:nvPr/>
        </p:nvSpPr>
        <p:spPr>
          <a:xfrm>
            <a:off x="804672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8046720" y="1280160"/>
            <a:ext cx="3566160" cy="457200"/>
          </a:xfrm>
          <a:prstGeom prst="rect">
            <a:avLst/>
          </a:prstGeom>
          <a:solidFill>
            <a:srgbClr val="0B3C49"/>
          </a:solidFill>
          <a:ln/>
        </p:spPr>
      </p:sp>
      <p:sp>
        <p:nvSpPr>
          <p:cNvPr id="17" name="Text 14"/>
          <p:cNvSpPr txBox="1"/>
          <p:nvPr/>
        </p:nvSpPr>
        <p:spPr>
          <a:xfrm>
            <a:off x="818388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PROTECTION</a:t>
            </a:r>
            <a:endParaRPr lang="en-US" sz="1500" dirty="0"/>
          </a:p>
        </p:txBody>
      </p:sp>
      <p:sp>
        <p:nvSpPr>
          <p:cNvPr id="18" name="Text 15"/>
          <p:cNvSpPr txBox="1"/>
          <p:nvPr/>
        </p:nvSpPr>
        <p:spPr>
          <a:xfrm>
            <a:off x="822960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Many people are working to protect sea turtles in different ways. </a:t>
            </a:r>
            <a:r>
              <a:rPr lang="en-US" sz="1600" dirty="0">
                <a:solidFill>
                  <a:srgbClr val="0B3C49"/>
                </a:solidFill>
                <a:latin typeface="Calibri" pitchFamily="34" charset="0"/>
                <a:ea typeface="Calibri" pitchFamily="34" charset="-122"/>
                <a:cs typeface="Calibri" pitchFamily="34" charset="-120"/>
              </a:rPr>
              <a:t>Some nesting beaches are now protected, so eggs are safer. As a result, more hatchlings reach the sea.</a:t>
            </a:r>
            <a:endParaRPr lang="en-US" sz="1600" dirty="0"/>
          </a:p>
        </p:txBody>
      </p:sp>
      <p:sp>
        <p:nvSpPr>
          <p:cNvPr id="19" name="Text 16"/>
          <p:cNvSpPr txBox="1"/>
          <p:nvPr/>
        </p:nvSpPr>
        <p:spPr>
          <a:xfrm>
            <a:off x="731520" y="5760720"/>
            <a:ext cx="10698480" cy="548640"/>
          </a:xfrm>
          <a:prstGeom prst="rect">
            <a:avLst/>
          </a:prstGeom>
          <a:noFill/>
          <a:ln/>
        </p:spPr>
        <p:txBody>
          <a:bodyPr wrap="square" lIns="0" tIns="0" rIns="0" bIns="0" rtlCol="0" anchor="ctr"/>
          <a:lstStyle/>
          <a:p>
            <a:pPr marL="0" indent="0" algn="ctr">
              <a:buNone/>
            </a:pPr>
            <a:r>
              <a:rPr lang="en-US" sz="1800" b="1" dirty="0">
                <a:solidFill>
                  <a:srgbClr val="0B3C49"/>
                </a:solidFill>
                <a:latin typeface="Georgia" pitchFamily="34" charset="0"/>
                <a:ea typeface="Georgia" pitchFamily="34" charset="-122"/>
                <a:cs typeface="Georgia" pitchFamily="34" charset="-120"/>
              </a:rPr>
              <a:t>Highlighted = topic sentence. Every other sentence supports it.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Choose the best topic sentence</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TOPIC SENTENCE</a:t>
            </a:r>
            <a:endParaRPr lang="en-US" sz="1100" dirty="0"/>
          </a:p>
        </p:txBody>
      </p:sp>
      <p:sp>
        <p:nvSpPr>
          <p:cNvPr id="7" name="Shape 4"/>
          <p:cNvSpPr/>
          <p:nvPr/>
        </p:nvSpPr>
        <p:spPr>
          <a:xfrm>
            <a:off x="731520" y="1188720"/>
            <a:ext cx="10698480" cy="1188720"/>
          </a:xfrm>
          <a:prstGeom prst="rect">
            <a:avLst/>
          </a:prstGeom>
          <a:solidFill>
            <a:srgbClr val="FFFFFF"/>
          </a:solidFill>
          <a:ln/>
          <a:effectLst>
            <a:outerShdw blurRad="76200" dist="25400" dir="5400000" algn="bl" rotWithShape="0">
              <a:srgbClr val="000000">
                <a:alpha val="15000"/>
              </a:srgbClr>
            </a:outerShdw>
          </a:effectLst>
        </p:spPr>
      </p:sp>
      <p:sp>
        <p:nvSpPr>
          <p:cNvPr id="8" name="Text 5"/>
          <p:cNvSpPr txBox="1"/>
          <p:nvPr/>
        </p:nvSpPr>
        <p:spPr>
          <a:xfrm>
            <a:off x="914400" y="1188720"/>
            <a:ext cx="10332720" cy="118872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______________. Some nesting beaches are now protected, so eggs are safer. Organisations also reduce plastic waste in the oceans, and new fishing equipment helps turtles escape from nets.</a:t>
            </a:r>
            <a:endParaRPr lang="en-US" sz="1700" dirty="0"/>
          </a:p>
        </p:txBody>
      </p:sp>
      <p:sp>
        <p:nvSpPr>
          <p:cNvPr id="9" name="Shape 6"/>
          <p:cNvSpPr/>
          <p:nvPr/>
        </p:nvSpPr>
        <p:spPr>
          <a:xfrm>
            <a:off x="731520" y="274320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10" name="Shape 7"/>
          <p:cNvSpPr/>
          <p:nvPr/>
        </p:nvSpPr>
        <p:spPr>
          <a:xfrm>
            <a:off x="914400" y="3136392"/>
            <a:ext cx="548640" cy="548640"/>
          </a:xfrm>
          <a:prstGeom prst="ellipse">
            <a:avLst/>
          </a:prstGeom>
          <a:solidFill>
            <a:srgbClr val="2A9D8F"/>
          </a:solidFill>
          <a:ln/>
        </p:spPr>
      </p:sp>
      <p:sp>
        <p:nvSpPr>
          <p:cNvPr id="11" name="Text 8"/>
          <p:cNvSpPr txBox="1"/>
          <p:nvPr/>
        </p:nvSpPr>
        <p:spPr>
          <a:xfrm>
            <a:off x="914400" y="313639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2" name="Text 9"/>
          <p:cNvSpPr txBox="1"/>
          <p:nvPr/>
        </p:nvSpPr>
        <p:spPr>
          <a:xfrm>
            <a:off x="1645920" y="283464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Sea turtles are cool animals.</a:t>
            </a:r>
            <a:endParaRPr lang="en-US" sz="1700" dirty="0"/>
          </a:p>
        </p:txBody>
      </p:sp>
      <p:sp>
        <p:nvSpPr>
          <p:cNvPr id="13" name="Shape 10"/>
          <p:cNvSpPr/>
          <p:nvPr/>
        </p:nvSpPr>
        <p:spPr>
          <a:xfrm>
            <a:off x="6217920" y="274320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14" name="Shape 11"/>
          <p:cNvSpPr/>
          <p:nvPr/>
        </p:nvSpPr>
        <p:spPr>
          <a:xfrm>
            <a:off x="6400800" y="3136392"/>
            <a:ext cx="548640" cy="548640"/>
          </a:xfrm>
          <a:prstGeom prst="ellipse">
            <a:avLst/>
          </a:prstGeom>
          <a:solidFill>
            <a:srgbClr val="2A9D8F"/>
          </a:solidFill>
          <a:ln/>
        </p:spPr>
      </p:sp>
      <p:sp>
        <p:nvSpPr>
          <p:cNvPr id="15" name="Text 12"/>
          <p:cNvSpPr txBox="1"/>
          <p:nvPr/>
        </p:nvSpPr>
        <p:spPr>
          <a:xfrm>
            <a:off x="6400800" y="313639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6" name="Text 13"/>
          <p:cNvSpPr txBox="1"/>
          <p:nvPr/>
        </p:nvSpPr>
        <p:spPr>
          <a:xfrm>
            <a:off x="7132320" y="283464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People are helping to protect sea turtles in several ways.</a:t>
            </a:r>
            <a:endParaRPr lang="en-US" sz="1700" dirty="0"/>
          </a:p>
        </p:txBody>
      </p:sp>
      <p:sp>
        <p:nvSpPr>
          <p:cNvPr id="17" name="Shape 14"/>
          <p:cNvSpPr/>
          <p:nvPr/>
        </p:nvSpPr>
        <p:spPr>
          <a:xfrm>
            <a:off x="731520" y="429768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18" name="Shape 15"/>
          <p:cNvSpPr/>
          <p:nvPr/>
        </p:nvSpPr>
        <p:spPr>
          <a:xfrm>
            <a:off x="914400" y="4690872"/>
            <a:ext cx="548640" cy="548640"/>
          </a:xfrm>
          <a:prstGeom prst="ellipse">
            <a:avLst/>
          </a:prstGeom>
          <a:solidFill>
            <a:srgbClr val="2A9D8F"/>
          </a:solidFill>
          <a:ln/>
        </p:spPr>
      </p:sp>
      <p:sp>
        <p:nvSpPr>
          <p:cNvPr id="19" name="Text 16"/>
          <p:cNvSpPr txBox="1"/>
          <p:nvPr/>
        </p:nvSpPr>
        <p:spPr>
          <a:xfrm>
            <a:off x="914400" y="469087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0" name="Text 17"/>
          <p:cNvSpPr txBox="1"/>
          <p:nvPr/>
        </p:nvSpPr>
        <p:spPr>
          <a:xfrm>
            <a:off x="1645920" y="438912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Sea turtles eat jellyfish and seagrass.</a:t>
            </a:r>
            <a:endParaRPr lang="en-US" sz="1700" dirty="0"/>
          </a:p>
        </p:txBody>
      </p:sp>
      <p:sp>
        <p:nvSpPr>
          <p:cNvPr id="21" name="Shape 18"/>
          <p:cNvSpPr/>
          <p:nvPr/>
        </p:nvSpPr>
        <p:spPr>
          <a:xfrm>
            <a:off x="6217920" y="4297680"/>
            <a:ext cx="5212080" cy="1325880"/>
          </a:xfrm>
          <a:prstGeom prst="rect">
            <a:avLst/>
          </a:prstGeom>
          <a:solidFill>
            <a:srgbClr val="FFFFFF"/>
          </a:solidFill>
          <a:ln w="19050">
            <a:solidFill>
              <a:srgbClr val="2A9D8F"/>
            </a:solidFill>
            <a:prstDash val="solid"/>
          </a:ln>
          <a:effectLst>
            <a:outerShdw blurRad="76200" dist="25400" dir="5400000" algn="bl" rotWithShape="0">
              <a:srgbClr val="000000">
                <a:alpha val="15000"/>
              </a:srgbClr>
            </a:outerShdw>
          </a:effectLst>
        </p:spPr>
      </p:sp>
      <p:sp>
        <p:nvSpPr>
          <p:cNvPr id="22" name="Shape 19"/>
          <p:cNvSpPr/>
          <p:nvPr/>
        </p:nvSpPr>
        <p:spPr>
          <a:xfrm>
            <a:off x="6400800" y="4690872"/>
            <a:ext cx="548640" cy="548640"/>
          </a:xfrm>
          <a:prstGeom prst="ellipse">
            <a:avLst/>
          </a:prstGeom>
          <a:solidFill>
            <a:srgbClr val="2A9D8F"/>
          </a:solidFill>
          <a:ln/>
        </p:spPr>
      </p:sp>
      <p:sp>
        <p:nvSpPr>
          <p:cNvPr id="23" name="Text 20"/>
          <p:cNvSpPr txBox="1"/>
          <p:nvPr/>
        </p:nvSpPr>
        <p:spPr>
          <a:xfrm>
            <a:off x="6400800" y="469087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4" name="Text 21"/>
          <p:cNvSpPr txBox="1"/>
          <p:nvPr/>
        </p:nvSpPr>
        <p:spPr>
          <a:xfrm>
            <a:off x="7132320" y="4389120"/>
            <a:ext cx="4114800" cy="114300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I like sea turtles because they are nice.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2A9D8F"/>
        </a:solidFill>
        <a:effectLst/>
      </p:bgPr>
    </p:bg>
    <p:spTree>
      <p:nvGrpSpPr>
        <p:cNvPr id="1" name=""/>
        <p:cNvGrpSpPr/>
        <p:nvPr/>
      </p:nvGrpSpPr>
      <p:grpSpPr>
        <a:xfrm>
          <a:off x="0" y="0"/>
          <a:ext cx="0" cy="0"/>
          <a:chOff x="0" y="0"/>
          <a:chExt cx="0" cy="0"/>
        </a:xfrm>
      </p:grpSpPr>
      <p:sp>
        <p:nvSpPr>
          <p:cNvPr id="3" name="Text 0"/>
          <p:cNvSpPr txBox="1"/>
          <p:nvPr/>
        </p:nvSpPr>
        <p:spPr>
          <a:xfrm>
            <a:off x="640080" y="457200"/>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ANSWER</a:t>
            </a:r>
            <a:endParaRPr lang="en-US" sz="1300" dirty="0"/>
          </a:p>
        </p:txBody>
      </p:sp>
      <p:sp>
        <p:nvSpPr>
          <p:cNvPr id="4" name="Shape 1"/>
          <p:cNvSpPr/>
          <p:nvPr/>
        </p:nvSpPr>
        <p:spPr>
          <a:xfrm>
            <a:off x="822960" y="1371600"/>
            <a:ext cx="1188720" cy="1188720"/>
          </a:xfrm>
          <a:prstGeom prst="ellipse">
            <a:avLst/>
          </a:prstGeom>
          <a:solidFill>
            <a:srgbClr val="FFFFFF"/>
          </a:solidFill>
          <a:ln/>
        </p:spPr>
      </p:sp>
      <p:sp>
        <p:nvSpPr>
          <p:cNvPr id="5" name="Text 2"/>
          <p:cNvSpPr txBox="1"/>
          <p:nvPr/>
        </p:nvSpPr>
        <p:spPr>
          <a:xfrm>
            <a:off x="822960" y="1371600"/>
            <a:ext cx="1188720" cy="1188720"/>
          </a:xfrm>
          <a:prstGeom prst="rect">
            <a:avLst/>
          </a:prstGeom>
          <a:noFill/>
          <a:ln/>
        </p:spPr>
        <p:txBody>
          <a:bodyPr wrap="square" lIns="0" tIns="0" rIns="0" bIns="0" rtlCol="0" anchor="ctr"/>
          <a:lstStyle/>
          <a:p>
            <a:pPr marL="0" indent="0" algn="ctr">
              <a:buNone/>
            </a:pPr>
            <a:r>
              <a:rPr lang="en-US" sz="4400" b="1" dirty="0">
                <a:solidFill>
                  <a:srgbClr val="0B3C49"/>
                </a:solidFill>
                <a:latin typeface="Georgia" pitchFamily="34" charset="0"/>
                <a:ea typeface="Georgia" pitchFamily="34" charset="-122"/>
                <a:cs typeface="Georgia" pitchFamily="34" charset="-120"/>
              </a:rPr>
              <a:t>B</a:t>
            </a:r>
            <a:endParaRPr lang="en-US" sz="4400" dirty="0"/>
          </a:p>
        </p:txBody>
      </p:sp>
      <p:sp>
        <p:nvSpPr>
          <p:cNvPr id="6" name="Text 3"/>
          <p:cNvSpPr txBox="1"/>
          <p:nvPr/>
        </p:nvSpPr>
        <p:spPr>
          <a:xfrm>
            <a:off x="2377440" y="1371600"/>
            <a:ext cx="9144000" cy="118872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People are helping to protect sea turtles in several ways.</a:t>
            </a:r>
            <a:endParaRPr lang="en-US" sz="2800" dirty="0"/>
          </a:p>
        </p:txBody>
      </p:sp>
      <p:sp>
        <p:nvSpPr>
          <p:cNvPr id="7" name="Shape 4"/>
          <p:cNvSpPr/>
          <p:nvPr/>
        </p:nvSpPr>
        <p:spPr>
          <a:xfrm>
            <a:off x="822960" y="3200400"/>
            <a:ext cx="10515600" cy="2194560"/>
          </a:xfrm>
          <a:prstGeom prst="rect">
            <a:avLst/>
          </a:prstGeom>
          <a:solidFill>
            <a:srgbClr val="0B3C49"/>
          </a:solidFill>
          <a:ln/>
        </p:spPr>
      </p:sp>
      <p:sp>
        <p:nvSpPr>
          <p:cNvPr id="8" name="Text 5"/>
          <p:cNvSpPr txBox="1"/>
          <p:nvPr/>
        </p:nvSpPr>
        <p:spPr>
          <a:xfrm>
            <a:off x="1097280" y="3291840"/>
            <a:ext cx="9966960" cy="201168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It names the subject (sea turtles) and the focus (protection), and it covers every sentence that follows.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Joint construction: the Protection paragraph</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TOGETHER</a:t>
            </a:r>
            <a:endParaRPr lang="en-US" sz="1100" dirty="0"/>
          </a:p>
        </p:txBody>
      </p:sp>
      <p:sp>
        <p:nvSpPr>
          <p:cNvPr id="7" name="Shape 4"/>
          <p:cNvSpPr/>
          <p:nvPr/>
        </p:nvSpPr>
        <p:spPr>
          <a:xfrm>
            <a:off x="731520" y="1371600"/>
            <a:ext cx="5120640" cy="301752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5120640" cy="457200"/>
          </a:xfrm>
          <a:prstGeom prst="rect">
            <a:avLst/>
          </a:prstGeom>
          <a:solidFill>
            <a:srgbClr val="E76F51"/>
          </a:solidFill>
          <a:ln/>
        </p:spPr>
      </p:sp>
      <p:sp>
        <p:nvSpPr>
          <p:cNvPr id="9" name="Text 6"/>
          <p:cNvSpPr txBox="1"/>
          <p:nvPr/>
        </p:nvSpPr>
        <p:spPr>
          <a:xfrm>
            <a:off x="868680" y="1371600"/>
            <a:ext cx="484632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OUR PLAN</a:t>
            </a:r>
            <a:endParaRPr lang="en-US" sz="1500" dirty="0"/>
          </a:p>
        </p:txBody>
      </p:sp>
      <p:sp>
        <p:nvSpPr>
          <p:cNvPr id="10" name="Text 7"/>
          <p:cNvSpPr txBox="1"/>
          <p:nvPr/>
        </p:nvSpPr>
        <p:spPr>
          <a:xfrm>
            <a:off x="914400" y="1965960"/>
            <a:ext cx="4754880" cy="2286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What are people doing?</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How can people help?</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Why is protection important?</a:t>
            </a:r>
            <a:endParaRPr lang="en-US" sz="1800" dirty="0"/>
          </a:p>
        </p:txBody>
      </p:sp>
      <p:sp>
        <p:nvSpPr>
          <p:cNvPr id="11" name="Shape 8"/>
          <p:cNvSpPr/>
          <p:nvPr/>
        </p:nvSpPr>
        <p:spPr>
          <a:xfrm>
            <a:off x="6126480" y="1371600"/>
            <a:ext cx="5303520" cy="301752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6126480" y="1371600"/>
            <a:ext cx="5303520" cy="457200"/>
          </a:xfrm>
          <a:prstGeom prst="rect">
            <a:avLst/>
          </a:prstGeom>
          <a:solidFill>
            <a:srgbClr val="2A9D8F"/>
          </a:solidFill>
          <a:ln/>
        </p:spPr>
      </p:sp>
      <p:sp>
        <p:nvSpPr>
          <p:cNvPr id="13" name="Text 10"/>
          <p:cNvSpPr txBox="1"/>
          <p:nvPr/>
        </p:nvSpPr>
        <p:spPr>
          <a:xfrm>
            <a:off x="6263640" y="1371600"/>
            <a:ext cx="5029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 WILL USE</a:t>
            </a:r>
            <a:endParaRPr lang="en-US" sz="1500" dirty="0"/>
          </a:p>
        </p:txBody>
      </p:sp>
      <p:sp>
        <p:nvSpPr>
          <p:cNvPr id="14" name="Text 11"/>
          <p:cNvSpPr txBox="1"/>
          <p:nvPr/>
        </p:nvSpPr>
        <p:spPr>
          <a:xfrm>
            <a:off x="6309360" y="1965960"/>
            <a:ext cx="4937760" cy="2286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one relative clause</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one cause/effect connector</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precise vocabulary</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a pronoun to avoid repetition</a:t>
            </a:r>
            <a:endParaRPr lang="en-US" sz="1800" dirty="0"/>
          </a:p>
        </p:txBody>
      </p:sp>
      <p:sp>
        <p:nvSpPr>
          <p:cNvPr id="15" name="Text 12"/>
          <p:cNvSpPr txBox="1"/>
          <p:nvPr/>
        </p:nvSpPr>
        <p:spPr>
          <a:xfrm>
            <a:off x="731520" y="4846320"/>
            <a:ext cx="10698480" cy="731520"/>
          </a:xfrm>
          <a:prstGeom prst="rect">
            <a:avLst/>
          </a:prstGeom>
          <a:noFill/>
          <a:ln/>
        </p:spPr>
        <p:txBody>
          <a:bodyPr wrap="square" lIns="0" tIns="0" rIns="0" bIns="0" rtlCol="0" anchor="ctr"/>
          <a:lstStyle/>
          <a:p>
            <a:pPr marL="0" indent="0" algn="ctr">
              <a:buNone/>
            </a:pPr>
            <a:r>
              <a:rPr lang="en-US" sz="2200" b="1" dirty="0">
                <a:solidFill>
                  <a:srgbClr val="0B3C49"/>
                </a:solidFill>
                <a:latin typeface="Georgia" pitchFamily="34" charset="0"/>
                <a:ea typeface="Georgia" pitchFamily="34" charset="-122"/>
                <a:cs typeface="Georgia" pitchFamily="34" charset="-120"/>
              </a:rPr>
              <a:t>Watch the model first. Then try each step for YOUR animal.</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the Protection paragraph</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731520" y="118872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188720"/>
            <a:ext cx="2651760" cy="822960"/>
          </a:xfrm>
          <a:prstGeom prst="rect">
            <a:avLst/>
          </a:prstGeom>
          <a:solidFill>
            <a:srgbClr val="2A9D8F"/>
          </a:solidFill>
          <a:ln/>
        </p:spPr>
      </p:sp>
      <p:sp>
        <p:nvSpPr>
          <p:cNvPr id="9" name="Text 6"/>
          <p:cNvSpPr txBox="1"/>
          <p:nvPr/>
        </p:nvSpPr>
        <p:spPr>
          <a:xfrm>
            <a:off x="868680" y="118872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  Topic sentence</a:t>
            </a:r>
            <a:endParaRPr lang="en-US" sz="1600" dirty="0"/>
          </a:p>
        </p:txBody>
      </p:sp>
      <p:sp>
        <p:nvSpPr>
          <p:cNvPr id="10" name="Text 7"/>
          <p:cNvSpPr txBox="1"/>
          <p:nvPr/>
        </p:nvSpPr>
        <p:spPr>
          <a:xfrm>
            <a:off x="3611880" y="118872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Many people are working to protect sea turtles in different ways.</a:t>
            </a:r>
            <a:endParaRPr lang="en-US" sz="1700" dirty="0"/>
          </a:p>
        </p:txBody>
      </p:sp>
      <p:sp>
        <p:nvSpPr>
          <p:cNvPr id="11" name="Shape 8"/>
          <p:cNvSpPr/>
          <p:nvPr/>
        </p:nvSpPr>
        <p:spPr>
          <a:xfrm>
            <a:off x="731520" y="214884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731520" y="2148840"/>
            <a:ext cx="2651760" cy="822960"/>
          </a:xfrm>
          <a:prstGeom prst="rect">
            <a:avLst/>
          </a:prstGeom>
          <a:solidFill>
            <a:srgbClr val="F4A261"/>
          </a:solidFill>
          <a:ln/>
        </p:spPr>
      </p:sp>
      <p:sp>
        <p:nvSpPr>
          <p:cNvPr id="13" name="Text 10"/>
          <p:cNvSpPr txBox="1"/>
          <p:nvPr/>
        </p:nvSpPr>
        <p:spPr>
          <a:xfrm>
            <a:off x="868680" y="214884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  Main fact</a:t>
            </a:r>
            <a:endParaRPr lang="en-US" sz="1600" dirty="0"/>
          </a:p>
        </p:txBody>
      </p:sp>
      <p:sp>
        <p:nvSpPr>
          <p:cNvPr id="14" name="Text 11"/>
          <p:cNvSpPr txBox="1"/>
          <p:nvPr/>
        </p:nvSpPr>
        <p:spPr>
          <a:xfrm>
            <a:off x="3611880" y="214884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Some nesting beaches are now protected so that eggs can develop safely.</a:t>
            </a:r>
            <a:endParaRPr lang="en-US" sz="1700" dirty="0"/>
          </a:p>
        </p:txBody>
      </p:sp>
      <p:sp>
        <p:nvSpPr>
          <p:cNvPr id="15" name="Shape 12"/>
          <p:cNvSpPr/>
          <p:nvPr/>
        </p:nvSpPr>
        <p:spPr>
          <a:xfrm>
            <a:off x="731520" y="310896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731520" y="3108960"/>
            <a:ext cx="2651760" cy="822960"/>
          </a:xfrm>
          <a:prstGeom prst="rect">
            <a:avLst/>
          </a:prstGeom>
          <a:solidFill>
            <a:srgbClr val="E76F51"/>
          </a:solidFill>
          <a:ln/>
        </p:spPr>
      </p:sp>
      <p:sp>
        <p:nvSpPr>
          <p:cNvPr id="17" name="Text 14"/>
          <p:cNvSpPr txBox="1"/>
          <p:nvPr/>
        </p:nvSpPr>
        <p:spPr>
          <a:xfrm>
            <a:off x="868680" y="310896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  Explain</a:t>
            </a:r>
            <a:endParaRPr lang="en-US" sz="1600" dirty="0"/>
          </a:p>
        </p:txBody>
      </p:sp>
      <p:sp>
        <p:nvSpPr>
          <p:cNvPr id="18" name="Text 15"/>
          <p:cNvSpPr txBox="1"/>
          <p:nvPr/>
        </p:nvSpPr>
        <p:spPr>
          <a:xfrm>
            <a:off x="3611880" y="310896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Volunteers move nests away from danger, which helps more hatchlings reach the sea.</a:t>
            </a:r>
            <a:endParaRPr lang="en-US" sz="1700" dirty="0"/>
          </a:p>
        </p:txBody>
      </p:sp>
      <p:sp>
        <p:nvSpPr>
          <p:cNvPr id="19" name="Shape 16"/>
          <p:cNvSpPr/>
          <p:nvPr/>
        </p:nvSpPr>
        <p:spPr>
          <a:xfrm>
            <a:off x="731520" y="406908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20" name="Shape 17"/>
          <p:cNvSpPr/>
          <p:nvPr/>
        </p:nvSpPr>
        <p:spPr>
          <a:xfrm>
            <a:off x="731520" y="4069080"/>
            <a:ext cx="2651760" cy="822960"/>
          </a:xfrm>
          <a:prstGeom prst="rect">
            <a:avLst/>
          </a:prstGeom>
          <a:solidFill>
            <a:srgbClr val="0B3C49"/>
          </a:solidFill>
          <a:ln/>
        </p:spPr>
      </p:sp>
      <p:sp>
        <p:nvSpPr>
          <p:cNvPr id="21" name="Text 18"/>
          <p:cNvSpPr txBox="1"/>
          <p:nvPr/>
        </p:nvSpPr>
        <p:spPr>
          <a:xfrm>
            <a:off x="868680" y="406908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  Detail</a:t>
            </a:r>
            <a:endParaRPr lang="en-US" sz="1600" dirty="0"/>
          </a:p>
        </p:txBody>
      </p:sp>
      <p:sp>
        <p:nvSpPr>
          <p:cNvPr id="22" name="Text 19"/>
          <p:cNvSpPr txBox="1"/>
          <p:nvPr/>
        </p:nvSpPr>
        <p:spPr>
          <a:xfrm>
            <a:off x="3611880" y="406908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Organisations also reduce plastic waste, and new fishing nets let turtles escape.</a:t>
            </a:r>
            <a:endParaRPr lang="en-US" sz="1700" dirty="0"/>
          </a:p>
        </p:txBody>
      </p:sp>
      <p:sp>
        <p:nvSpPr>
          <p:cNvPr id="23" name="Shape 20"/>
          <p:cNvSpPr/>
          <p:nvPr/>
        </p:nvSpPr>
        <p:spPr>
          <a:xfrm>
            <a:off x="731520" y="5029200"/>
            <a:ext cx="10698480" cy="822960"/>
          </a:xfrm>
          <a:prstGeom prst="rect">
            <a:avLst/>
          </a:prstGeom>
          <a:solidFill>
            <a:srgbClr val="FFFFFF"/>
          </a:solidFill>
          <a:ln/>
          <a:effectLst>
            <a:outerShdw blurRad="76200" dist="25400" dir="5400000" algn="bl" rotWithShape="0">
              <a:srgbClr val="000000">
                <a:alpha val="15000"/>
              </a:srgbClr>
            </a:outerShdw>
          </a:effectLst>
        </p:spPr>
      </p:sp>
      <p:sp>
        <p:nvSpPr>
          <p:cNvPr id="24" name="Shape 21"/>
          <p:cNvSpPr/>
          <p:nvPr/>
        </p:nvSpPr>
        <p:spPr>
          <a:xfrm>
            <a:off x="731520" y="5029200"/>
            <a:ext cx="2651760" cy="822960"/>
          </a:xfrm>
          <a:prstGeom prst="rect">
            <a:avLst/>
          </a:prstGeom>
          <a:solidFill>
            <a:srgbClr val="2A9D8F"/>
          </a:solidFill>
          <a:ln/>
        </p:spPr>
      </p:sp>
      <p:sp>
        <p:nvSpPr>
          <p:cNvPr id="25" name="Text 22"/>
          <p:cNvSpPr txBox="1"/>
          <p:nvPr/>
        </p:nvSpPr>
        <p:spPr>
          <a:xfrm>
            <a:off x="868680" y="5029200"/>
            <a:ext cx="246888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  Link</a:t>
            </a:r>
            <a:endParaRPr lang="en-US" sz="1600" dirty="0"/>
          </a:p>
        </p:txBody>
      </p:sp>
      <p:sp>
        <p:nvSpPr>
          <p:cNvPr id="26" name="Text 23"/>
          <p:cNvSpPr txBox="1"/>
          <p:nvPr/>
        </p:nvSpPr>
        <p:spPr>
          <a:xfrm>
            <a:off x="3611880" y="5029200"/>
            <a:ext cx="7680960" cy="822960"/>
          </a:xfrm>
          <a:prstGeom prst="rect">
            <a:avLst/>
          </a:prstGeom>
          <a:noFill/>
          <a:ln/>
        </p:spPr>
        <p:txBody>
          <a:bodyPr wrap="square" lIns="0" tIns="0" rIns="0" bIns="0" rtlCol="0" anchor="ctr"/>
          <a:lstStyle/>
          <a:p>
            <a:pPr marL="0" indent="0">
              <a:buNone/>
            </a:pPr>
            <a:r>
              <a:rPr lang="en-US" sz="1700" i="1" dirty="0">
                <a:solidFill>
                  <a:srgbClr val="0B3C49"/>
                </a:solidFill>
                <a:latin typeface="Calibri" pitchFamily="34" charset="0"/>
                <a:ea typeface="Calibri" pitchFamily="34" charset="-122"/>
                <a:cs typeface="Calibri" pitchFamily="34" charset="-120"/>
              </a:rPr>
              <a:t>As a result, some turtle populations are slowly beginning to recover.</a:t>
            </a:r>
            <a:endParaRPr lang="en-US" sz="1700" dirty="0"/>
          </a:p>
        </p:txBody>
      </p:sp>
      <p:sp>
        <p:nvSpPr>
          <p:cNvPr id="27" name="Text 24"/>
          <p:cNvSpPr txBox="1"/>
          <p:nvPr/>
        </p:nvSpPr>
        <p:spPr>
          <a:xfrm>
            <a:off x="731520" y="6035040"/>
            <a:ext cx="10698480" cy="457200"/>
          </a:xfrm>
          <a:prstGeom prst="rect">
            <a:avLst/>
          </a:prstGeom>
          <a:noFill/>
          <a:ln/>
        </p:spPr>
        <p:txBody>
          <a:bodyPr wrap="square" lIns="0" tIns="0" rIns="0" bIns="0" rtlCol="0" anchor="ctr"/>
          <a:lstStyle/>
          <a:p>
            <a:pPr marL="0" indent="0" algn="ctr">
              <a:buNone/>
            </a:pPr>
            <a:r>
              <a:rPr lang="en-US" sz="1700" b="1" dirty="0">
                <a:solidFill>
                  <a:srgbClr val="0B3C49"/>
                </a:solidFill>
                <a:latin typeface="Georgia" pitchFamily="34" charset="0"/>
                <a:ea typeface="Georgia" pitchFamily="34" charset="-122"/>
                <a:cs typeface="Georgia" pitchFamily="34" charset="-120"/>
              </a:rPr>
              <a:t>Now do the same for YOUR animal: topic sentence, fact, explain, detail, link.</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Writing toolkit</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TOOLKIT</a:t>
            </a:r>
            <a:endParaRPr lang="en-US" sz="1100" dirty="0"/>
          </a:p>
        </p:txBody>
      </p:sp>
      <p:sp>
        <p:nvSpPr>
          <p:cNvPr id="7" name="Shape 4"/>
          <p:cNvSpPr/>
          <p:nvPr/>
        </p:nvSpPr>
        <p:spPr>
          <a:xfrm>
            <a:off x="731520" y="1371600"/>
            <a:ext cx="3383280" cy="44805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3383280" cy="457200"/>
          </a:xfrm>
          <a:prstGeom prst="rect">
            <a:avLst/>
          </a:prstGeom>
          <a:solidFill>
            <a:srgbClr val="2A9D8F"/>
          </a:solidFill>
          <a:ln/>
        </p:spPr>
      </p:sp>
      <p:sp>
        <p:nvSpPr>
          <p:cNvPr id="9" name="Text 6"/>
          <p:cNvSpPr txBox="1"/>
          <p:nvPr/>
        </p:nvSpPr>
        <p:spPr>
          <a:xfrm>
            <a:off x="8686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STARTERS</a:t>
            </a:r>
            <a:endParaRPr lang="en-US" sz="1500" dirty="0"/>
          </a:p>
        </p:txBody>
      </p:sp>
      <p:sp>
        <p:nvSpPr>
          <p:cNvPr id="10" name="Text 7"/>
          <p:cNvSpPr txBox="1"/>
          <p:nvPr/>
        </p:nvSpPr>
        <p:spPr>
          <a:xfrm>
            <a:off x="914400" y="1965960"/>
            <a:ext cx="3017520" cy="3749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___ is a ___ that…</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One serious threat is…</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Another danger is…</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People can help by…</a:t>
            </a:r>
            <a:endParaRPr lang="en-US" sz="1700" dirty="0"/>
          </a:p>
        </p:txBody>
      </p:sp>
      <p:sp>
        <p:nvSpPr>
          <p:cNvPr id="11" name="Shape 8"/>
          <p:cNvSpPr/>
          <p:nvPr/>
        </p:nvSpPr>
        <p:spPr>
          <a:xfrm>
            <a:off x="4389120" y="1371600"/>
            <a:ext cx="3383280" cy="44805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4389120" y="1371600"/>
            <a:ext cx="3383280" cy="457200"/>
          </a:xfrm>
          <a:prstGeom prst="rect">
            <a:avLst/>
          </a:prstGeom>
          <a:solidFill>
            <a:srgbClr val="F4A261"/>
          </a:solidFill>
          <a:ln/>
        </p:spPr>
      </p:sp>
      <p:sp>
        <p:nvSpPr>
          <p:cNvPr id="13" name="Text 10"/>
          <p:cNvSpPr txBox="1"/>
          <p:nvPr/>
        </p:nvSpPr>
        <p:spPr>
          <a:xfrm>
            <a:off x="45262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CONNECTORS</a:t>
            </a:r>
            <a:endParaRPr lang="en-US" sz="1500" dirty="0"/>
          </a:p>
        </p:txBody>
      </p:sp>
      <p:sp>
        <p:nvSpPr>
          <p:cNvPr id="14" name="Text 11"/>
          <p:cNvSpPr txBox="1"/>
          <p:nvPr/>
        </p:nvSpPr>
        <p:spPr>
          <a:xfrm>
            <a:off x="4572000" y="1965960"/>
            <a:ext cx="3017520" cy="3749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also · in addition</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for example</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however · although</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because · as a result</a:t>
            </a:r>
            <a:endParaRPr lang="en-US" sz="1700" dirty="0"/>
          </a:p>
        </p:txBody>
      </p:sp>
      <p:sp>
        <p:nvSpPr>
          <p:cNvPr id="15" name="Shape 12"/>
          <p:cNvSpPr/>
          <p:nvPr/>
        </p:nvSpPr>
        <p:spPr>
          <a:xfrm>
            <a:off x="8046720" y="1371600"/>
            <a:ext cx="3383280" cy="448056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8046720" y="1371600"/>
            <a:ext cx="3383280" cy="457200"/>
          </a:xfrm>
          <a:prstGeom prst="rect">
            <a:avLst/>
          </a:prstGeom>
          <a:solidFill>
            <a:srgbClr val="E76F51"/>
          </a:solidFill>
          <a:ln/>
        </p:spPr>
      </p:sp>
      <p:sp>
        <p:nvSpPr>
          <p:cNvPr id="17" name="Text 14"/>
          <p:cNvSpPr txBox="1"/>
          <p:nvPr/>
        </p:nvSpPr>
        <p:spPr>
          <a:xfrm>
            <a:off x="81838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WORD BANK</a:t>
            </a:r>
            <a:endParaRPr lang="en-US" sz="1500" dirty="0"/>
          </a:p>
        </p:txBody>
      </p:sp>
      <p:sp>
        <p:nvSpPr>
          <p:cNvPr id="18" name="Text 15"/>
          <p:cNvSpPr txBox="1"/>
          <p:nvPr/>
        </p:nvSpPr>
        <p:spPr>
          <a:xfrm>
            <a:off x="8229600" y="1965960"/>
            <a:ext cx="3017520" cy="3749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endangered · habitat</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species · migrate</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pollution · predator</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conservation · protect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Toolkit in action: swap in your animal</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a:t>
            </a:r>
            <a:endParaRPr lang="en-US" sz="1100" dirty="0"/>
          </a:p>
        </p:txBody>
      </p:sp>
      <p:sp>
        <p:nvSpPr>
          <p:cNvPr id="7" name="Shape 4"/>
          <p:cNvSpPr/>
          <p:nvPr/>
        </p:nvSpPr>
        <p:spPr>
          <a:xfrm>
            <a:off x="54864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548640" y="1280160"/>
            <a:ext cx="3566160" cy="457200"/>
          </a:xfrm>
          <a:prstGeom prst="rect">
            <a:avLst/>
          </a:prstGeom>
          <a:solidFill>
            <a:srgbClr val="F4A261"/>
          </a:solidFill>
          <a:ln/>
        </p:spPr>
      </p:sp>
      <p:sp>
        <p:nvSpPr>
          <p:cNvPr id="9" name="Text 6"/>
          <p:cNvSpPr txBox="1"/>
          <p:nvPr/>
        </p:nvSpPr>
        <p:spPr>
          <a:xfrm>
            <a:off x="68580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SEA TURTLE</a:t>
            </a:r>
            <a:endParaRPr lang="en-US" sz="1500" dirty="0"/>
          </a:p>
        </p:txBody>
      </p:sp>
      <p:sp>
        <p:nvSpPr>
          <p:cNvPr id="10" name="Text 7"/>
          <p:cNvSpPr txBox="1"/>
          <p:nvPr/>
        </p:nvSpPr>
        <p:spPr>
          <a:xfrm>
            <a:off x="73152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Sea turtles are reptiles that live in oceans around the world. </a:t>
            </a:r>
            <a:r>
              <a:rPr lang="en-US" sz="1600" dirty="0">
                <a:solidFill>
                  <a:srgbClr val="0B3C49"/>
                </a:solidFill>
                <a:latin typeface="Calibri" pitchFamily="34" charset="0"/>
                <a:ea typeface="Calibri" pitchFamily="34" charset="-122"/>
                <a:cs typeface="Calibri" pitchFamily="34" charset="-120"/>
              </a:rPr>
              <a:t>One serious threat is plastic pollution. As a result, many turtles are injured.</a:t>
            </a:r>
            <a:endParaRPr lang="en-US" sz="1600" dirty="0"/>
          </a:p>
        </p:txBody>
      </p:sp>
      <p:sp>
        <p:nvSpPr>
          <p:cNvPr id="11" name="Shape 8"/>
          <p:cNvSpPr/>
          <p:nvPr/>
        </p:nvSpPr>
        <p:spPr>
          <a:xfrm>
            <a:off x="429768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4297680" y="1280160"/>
            <a:ext cx="3566160" cy="457200"/>
          </a:xfrm>
          <a:prstGeom prst="rect">
            <a:avLst/>
          </a:prstGeom>
          <a:solidFill>
            <a:srgbClr val="E76F51"/>
          </a:solidFill>
          <a:ln/>
        </p:spPr>
      </p:sp>
      <p:sp>
        <p:nvSpPr>
          <p:cNvPr id="13" name="Text 10"/>
          <p:cNvSpPr txBox="1"/>
          <p:nvPr/>
        </p:nvSpPr>
        <p:spPr>
          <a:xfrm>
            <a:off x="443484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BLUE WHALE</a:t>
            </a:r>
            <a:endParaRPr lang="en-US" sz="1500" dirty="0"/>
          </a:p>
        </p:txBody>
      </p:sp>
      <p:sp>
        <p:nvSpPr>
          <p:cNvPr id="14" name="Text 11"/>
          <p:cNvSpPr txBox="1"/>
          <p:nvPr/>
        </p:nvSpPr>
        <p:spPr>
          <a:xfrm>
            <a:off x="448056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Blue whales are mammals that live in oceans around the world. </a:t>
            </a:r>
            <a:r>
              <a:rPr lang="en-US" sz="1600" dirty="0">
                <a:solidFill>
                  <a:srgbClr val="0B3C49"/>
                </a:solidFill>
                <a:latin typeface="Calibri" pitchFamily="34" charset="0"/>
                <a:ea typeface="Calibri" pitchFamily="34" charset="-122"/>
                <a:cs typeface="Calibri" pitchFamily="34" charset="-120"/>
              </a:rPr>
              <a:t>One serious threat is ship collisions. As a result, many whales are injured.</a:t>
            </a:r>
            <a:endParaRPr lang="en-US" sz="1600" dirty="0"/>
          </a:p>
        </p:txBody>
      </p:sp>
      <p:sp>
        <p:nvSpPr>
          <p:cNvPr id="15" name="Shape 12"/>
          <p:cNvSpPr/>
          <p:nvPr/>
        </p:nvSpPr>
        <p:spPr>
          <a:xfrm>
            <a:off x="8046720" y="1280160"/>
            <a:ext cx="3566160" cy="420624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8046720" y="1280160"/>
            <a:ext cx="3566160" cy="457200"/>
          </a:xfrm>
          <a:prstGeom prst="rect">
            <a:avLst/>
          </a:prstGeom>
          <a:solidFill>
            <a:srgbClr val="0B3C49"/>
          </a:solidFill>
          <a:ln/>
        </p:spPr>
      </p:sp>
      <p:sp>
        <p:nvSpPr>
          <p:cNvPr id="17" name="Text 14"/>
          <p:cNvSpPr txBox="1"/>
          <p:nvPr/>
        </p:nvSpPr>
        <p:spPr>
          <a:xfrm>
            <a:off x="8183880" y="128016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YOUR ANIMAL</a:t>
            </a:r>
            <a:endParaRPr lang="en-US" sz="1500" dirty="0"/>
          </a:p>
        </p:txBody>
      </p:sp>
      <p:sp>
        <p:nvSpPr>
          <p:cNvPr id="18" name="Text 15"/>
          <p:cNvSpPr txBox="1"/>
          <p:nvPr/>
        </p:nvSpPr>
        <p:spPr>
          <a:xfrm>
            <a:off x="8229600" y="1920240"/>
            <a:ext cx="3200400" cy="3474720"/>
          </a:xfrm>
          <a:prstGeom prst="rect">
            <a:avLst/>
          </a:prstGeom>
          <a:noFill/>
          <a:ln/>
        </p:spPr>
        <p:txBody>
          <a:bodyPr wrap="square" lIns="0" tIns="0" rIns="0" bIns="0" rtlCol="0" anchor="t"/>
          <a:lstStyle/>
          <a:p>
            <a:pPr marL="0" indent="0">
              <a:buNone/>
            </a:pPr>
            <a:r>
              <a:rPr lang="en-US" sz="1600" b="1" dirty="0">
                <a:solidFill>
                  <a:srgbClr val="0B3C49"/>
                </a:solidFill>
                <a:highlight>
                  <a:srgbClr val="FFE08A"/>
                </a:highlight>
                <a:latin typeface="Calibri" pitchFamily="34" charset="0"/>
                <a:ea typeface="Calibri" pitchFamily="34" charset="-122"/>
                <a:cs typeface="Calibri" pitchFamily="34" charset="-120"/>
              </a:rPr>
              <a:t>______ are ______ that live ______. </a:t>
            </a:r>
            <a:r>
              <a:rPr lang="en-US" sz="1600" dirty="0">
                <a:solidFill>
                  <a:srgbClr val="0B3C49"/>
                </a:solidFill>
                <a:latin typeface="Calibri" pitchFamily="34" charset="0"/>
                <a:ea typeface="Calibri" pitchFamily="34" charset="-122"/>
                <a:cs typeface="Calibri" pitchFamily="34" charset="-120"/>
              </a:rPr>
              <a:t>One serious threat is ______. As a result, ______.</a:t>
            </a:r>
            <a:endParaRPr lang="en-US" sz="1600" dirty="0"/>
          </a:p>
        </p:txBody>
      </p:sp>
      <p:sp>
        <p:nvSpPr>
          <p:cNvPr id="19" name="Text 16"/>
          <p:cNvSpPr txBox="1"/>
          <p:nvPr/>
        </p:nvSpPr>
        <p:spPr>
          <a:xfrm>
            <a:off x="731520" y="5760720"/>
            <a:ext cx="10698480" cy="548640"/>
          </a:xfrm>
          <a:prstGeom prst="rect">
            <a:avLst/>
          </a:prstGeom>
          <a:noFill/>
          <a:ln/>
        </p:spPr>
        <p:txBody>
          <a:bodyPr wrap="square" lIns="0" tIns="0" rIns="0" bIns="0" rtlCol="0" anchor="ctr"/>
          <a:lstStyle/>
          <a:p>
            <a:pPr marL="0" indent="0" algn="ctr">
              <a:buNone/>
            </a:pPr>
            <a:r>
              <a:rPr lang="en-US" sz="1800" b="1" dirty="0">
                <a:solidFill>
                  <a:srgbClr val="0B3C49"/>
                </a:solidFill>
                <a:latin typeface="Georgia" pitchFamily="34" charset="0"/>
                <a:ea typeface="Georgia" pitchFamily="34" charset="-122"/>
                <a:cs typeface="Georgia" pitchFamily="34" charset="-120"/>
              </a:rPr>
              <a:t>Same starters and connectors for any animal: only the facts change.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plan: Sea Turtles in Danger</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MODEL PLAN</a:t>
            </a:r>
            <a:endParaRPr lang="en-US" sz="1100" dirty="0"/>
          </a:p>
        </p:txBody>
      </p:sp>
      <p:sp>
        <p:nvSpPr>
          <p:cNvPr id="7" name="Shape 4"/>
          <p:cNvSpPr/>
          <p:nvPr/>
        </p:nvSpPr>
        <p:spPr>
          <a:xfrm>
            <a:off x="457200" y="1371600"/>
            <a:ext cx="2697480" cy="35661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457200" y="1371600"/>
            <a:ext cx="2697480" cy="457200"/>
          </a:xfrm>
          <a:prstGeom prst="rect">
            <a:avLst/>
          </a:prstGeom>
          <a:solidFill>
            <a:srgbClr val="2A9D8F"/>
          </a:solidFill>
          <a:ln/>
        </p:spPr>
      </p:sp>
      <p:sp>
        <p:nvSpPr>
          <p:cNvPr id="9" name="Text 6"/>
          <p:cNvSpPr txBox="1"/>
          <p:nvPr/>
        </p:nvSpPr>
        <p:spPr>
          <a:xfrm>
            <a:off x="59436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INTRO</a:t>
            </a:r>
            <a:endParaRPr lang="en-US" sz="1500" dirty="0"/>
          </a:p>
        </p:txBody>
      </p:sp>
      <p:sp>
        <p:nvSpPr>
          <p:cNvPr id="10" name="Text 7"/>
          <p:cNvSpPr txBox="1"/>
          <p:nvPr/>
        </p:nvSpPr>
        <p:spPr>
          <a:xfrm>
            <a:off x="640080" y="1965960"/>
            <a:ext cx="233172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Sea turtles are marine reptiles.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They live in oceans.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Many species are threatened.</a:t>
            </a:r>
            <a:endParaRPr lang="en-US" sz="1500" dirty="0"/>
          </a:p>
        </p:txBody>
      </p:sp>
      <p:sp>
        <p:nvSpPr>
          <p:cNvPr id="11" name="Shape 8"/>
          <p:cNvSpPr/>
          <p:nvPr/>
        </p:nvSpPr>
        <p:spPr>
          <a:xfrm>
            <a:off x="3291840" y="1371600"/>
            <a:ext cx="2697480" cy="35661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3291840" y="1371600"/>
            <a:ext cx="2697480" cy="457200"/>
          </a:xfrm>
          <a:prstGeom prst="rect">
            <a:avLst/>
          </a:prstGeom>
          <a:solidFill>
            <a:srgbClr val="F4A261"/>
          </a:solidFill>
          <a:ln/>
        </p:spPr>
      </p:sp>
      <p:sp>
        <p:nvSpPr>
          <p:cNvPr id="13" name="Text 10"/>
          <p:cNvSpPr txBox="1"/>
          <p:nvPr/>
        </p:nvSpPr>
        <p:spPr>
          <a:xfrm>
            <a:off x="342900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ABOUT</a:t>
            </a:r>
            <a:endParaRPr lang="en-US" sz="1500" dirty="0"/>
          </a:p>
        </p:txBody>
      </p:sp>
      <p:sp>
        <p:nvSpPr>
          <p:cNvPr id="14" name="Text 11"/>
          <p:cNvSpPr txBox="1"/>
          <p:nvPr/>
        </p:nvSpPr>
        <p:spPr>
          <a:xfrm>
            <a:off x="3474720" y="1965960"/>
            <a:ext cx="233172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There are seven species.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They have large flippers.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Different species eat different foods.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Many nest on beaches.</a:t>
            </a:r>
            <a:endParaRPr lang="en-US" sz="1500" dirty="0"/>
          </a:p>
        </p:txBody>
      </p:sp>
      <p:sp>
        <p:nvSpPr>
          <p:cNvPr id="15" name="Shape 12"/>
          <p:cNvSpPr/>
          <p:nvPr/>
        </p:nvSpPr>
        <p:spPr>
          <a:xfrm>
            <a:off x="6126480" y="1371600"/>
            <a:ext cx="2697480" cy="356616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6126480" y="1371600"/>
            <a:ext cx="2697480" cy="457200"/>
          </a:xfrm>
          <a:prstGeom prst="rect">
            <a:avLst/>
          </a:prstGeom>
          <a:solidFill>
            <a:srgbClr val="E76F51"/>
          </a:solidFill>
          <a:ln/>
        </p:spPr>
      </p:sp>
      <p:sp>
        <p:nvSpPr>
          <p:cNvPr id="17" name="Text 14"/>
          <p:cNvSpPr txBox="1"/>
          <p:nvPr/>
        </p:nvSpPr>
        <p:spPr>
          <a:xfrm>
            <a:off x="6263640" y="1371600"/>
            <a:ext cx="24231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THREATS</a:t>
            </a:r>
            <a:endParaRPr lang="en-US" sz="1500" dirty="0"/>
          </a:p>
        </p:txBody>
      </p:sp>
      <p:sp>
        <p:nvSpPr>
          <p:cNvPr id="18" name="Text 15"/>
          <p:cNvSpPr txBox="1"/>
          <p:nvPr/>
        </p:nvSpPr>
        <p:spPr>
          <a:xfrm>
            <a:off x="6309360" y="1965960"/>
            <a:ext cx="233172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Plastic pollution harms turtles.</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Fishing equipment traps them.</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Nesting beaches are damaged.</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Turtles are injured.</a:t>
            </a:r>
            <a:endParaRPr lang="en-US" sz="1500" dirty="0"/>
          </a:p>
        </p:txBody>
      </p:sp>
      <p:sp>
        <p:nvSpPr>
          <p:cNvPr id="19" name="Shape 16"/>
          <p:cNvSpPr/>
          <p:nvPr/>
        </p:nvSpPr>
        <p:spPr>
          <a:xfrm>
            <a:off x="8961120" y="1371600"/>
            <a:ext cx="2743200" cy="3566160"/>
          </a:xfrm>
          <a:prstGeom prst="rect">
            <a:avLst/>
          </a:prstGeom>
          <a:solidFill>
            <a:srgbClr val="FFFFFF"/>
          </a:solidFill>
          <a:ln/>
          <a:effectLst>
            <a:outerShdw blurRad="76200" dist="25400" dir="5400000" algn="bl" rotWithShape="0">
              <a:srgbClr val="000000">
                <a:alpha val="15000"/>
              </a:srgbClr>
            </a:outerShdw>
          </a:effectLst>
        </p:spPr>
      </p:sp>
      <p:sp>
        <p:nvSpPr>
          <p:cNvPr id="20" name="Shape 17"/>
          <p:cNvSpPr/>
          <p:nvPr/>
        </p:nvSpPr>
        <p:spPr>
          <a:xfrm>
            <a:off x="8961120" y="1371600"/>
            <a:ext cx="2743200" cy="457200"/>
          </a:xfrm>
          <a:prstGeom prst="rect">
            <a:avLst/>
          </a:prstGeom>
          <a:solidFill>
            <a:srgbClr val="0B3C49"/>
          </a:solidFill>
          <a:ln/>
        </p:spPr>
      </p:sp>
      <p:sp>
        <p:nvSpPr>
          <p:cNvPr id="21" name="Text 18"/>
          <p:cNvSpPr txBox="1"/>
          <p:nvPr/>
        </p:nvSpPr>
        <p:spPr>
          <a:xfrm>
            <a:off x="9098280" y="1371600"/>
            <a:ext cx="24688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PROTECTION</a:t>
            </a:r>
            <a:endParaRPr lang="en-US" sz="1500" dirty="0"/>
          </a:p>
        </p:txBody>
      </p:sp>
      <p:sp>
        <p:nvSpPr>
          <p:cNvPr id="22" name="Text 19"/>
          <p:cNvSpPr txBox="1"/>
          <p:nvPr/>
        </p:nvSpPr>
        <p:spPr>
          <a:xfrm>
            <a:off x="9144000" y="1965960"/>
            <a:ext cx="237744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Beaches are protected.</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Plastic is reduced.</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Fishing gear is safer.</a:t>
            </a:r>
            <a:endParaRPr lang="en-US" sz="1500" dirty="0"/>
          </a:p>
        </p:txBody>
      </p:sp>
      <p:sp>
        <p:nvSpPr>
          <p:cNvPr id="23" name="Shape 20"/>
          <p:cNvSpPr/>
          <p:nvPr/>
        </p:nvSpPr>
        <p:spPr>
          <a:xfrm>
            <a:off x="457200" y="5257800"/>
            <a:ext cx="11247120" cy="731520"/>
          </a:xfrm>
          <a:prstGeom prst="rect">
            <a:avLst/>
          </a:prstGeom>
          <a:solidFill>
            <a:srgbClr val="2A9D8F"/>
          </a:solidFill>
          <a:ln/>
        </p:spPr>
      </p:sp>
      <p:sp>
        <p:nvSpPr>
          <p:cNvPr id="24" name="Text 21"/>
          <p:cNvSpPr txBox="1"/>
          <p:nvPr/>
        </p:nvSpPr>
        <p:spPr>
          <a:xfrm>
            <a:off x="640080" y="5257800"/>
            <a:ext cx="1088136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ENDING: protection is important · people can help      ➜  Now improve YOUR plan paragraphs like this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do I do in my first draft?</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STEPS</a:t>
            </a:r>
            <a:endParaRPr lang="en-US" sz="1100" dirty="0"/>
          </a:p>
        </p:txBody>
      </p:sp>
      <p:sp>
        <p:nvSpPr>
          <p:cNvPr id="7" name="Shape 4"/>
          <p:cNvSpPr/>
          <p:nvPr/>
        </p:nvSpPr>
        <p:spPr>
          <a:xfrm>
            <a:off x="731520" y="1097280"/>
            <a:ext cx="10698480" cy="91440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097280"/>
            <a:ext cx="2651760" cy="914400"/>
          </a:xfrm>
          <a:prstGeom prst="rect">
            <a:avLst/>
          </a:prstGeom>
          <a:solidFill>
            <a:srgbClr val="2A9D8F"/>
          </a:solidFill>
          <a:ln/>
        </p:spPr>
      </p:sp>
      <p:sp>
        <p:nvSpPr>
          <p:cNvPr id="9" name="Text 6"/>
          <p:cNvSpPr txBox="1"/>
          <p:nvPr/>
        </p:nvSpPr>
        <p:spPr>
          <a:xfrm>
            <a:off x="868680" y="1097280"/>
            <a:ext cx="246888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  Start</a:t>
            </a:r>
            <a:endParaRPr lang="en-US" sz="1600" dirty="0"/>
          </a:p>
        </p:txBody>
      </p:sp>
      <p:sp>
        <p:nvSpPr>
          <p:cNvPr id="10" name="Text 7"/>
          <p:cNvSpPr txBox="1"/>
          <p:nvPr/>
        </p:nvSpPr>
        <p:spPr>
          <a:xfrm>
            <a:off x="3611880" y="1097280"/>
            <a:ext cx="7680960" cy="914400"/>
          </a:xfrm>
          <a:prstGeom prst="rect">
            <a:avLst/>
          </a:prstGeom>
          <a:noFill/>
          <a:ln/>
        </p:spPr>
        <p:txBody>
          <a:bodyPr wrap="square" lIns="0" tIns="0" rIns="0" bIns="0" rtlCol="0" anchor="ctr"/>
          <a:lstStyle/>
          <a:p>
            <a:pPr marL="0" indent="0">
              <a:buNone/>
            </a:pPr>
            <a:r>
              <a:rPr lang="en-US" sz="1400" i="0" dirty="0">
                <a:solidFill>
                  <a:srgbClr val="0B3C49"/>
                </a:solidFill>
                <a:latin typeface="Calibri" pitchFamily="34" charset="0"/>
                <a:ea typeface="Calibri" pitchFamily="34" charset="-122"/>
                <a:cs typeface="Calibri" pitchFamily="34" charset="-120"/>
              </a:rPr>
              <a:t>Write a title and an introduction. Name the creature in your first sentence, add a hook that shows why it matters, and tell the reader what the report will explore.</a:t>
            </a:r>
            <a:endParaRPr lang="en-US" sz="1700" dirty="0"/>
          </a:p>
          <a:p>
            <a:pPr marL="0" indent="0">
              <a:spcBef>
                <a:spcPts val="300"/>
              </a:spcBef>
              <a:buNone/>
            </a:pPr>
            <a:r>
              <a:rPr lang="en-US" sz="1250" b="1" i="1" dirty="0">
                <a:solidFill>
                  <a:srgbClr val="C84B31"/>
                </a:solidFill>
                <a:latin typeface="Calibri" pitchFamily="34" charset="0"/>
                <a:ea typeface="Calibri" pitchFamily="34" charset="-122"/>
                <a:cs typeface="Calibri" pitchFamily="34" charset="-120"/>
              </a:rPr>
              <a:t>Ask yourself: Would a reader know what my report is about?</a:t>
            </a:r>
            <a:endParaRPr lang="en-US" sz="1700" dirty="0"/>
          </a:p>
        </p:txBody>
      </p:sp>
      <p:sp>
        <p:nvSpPr>
          <p:cNvPr id="11" name="Shape 8"/>
          <p:cNvSpPr/>
          <p:nvPr/>
        </p:nvSpPr>
        <p:spPr>
          <a:xfrm>
            <a:off x="731520" y="2103120"/>
            <a:ext cx="10698480" cy="91440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731520" y="2103120"/>
            <a:ext cx="2651760" cy="914400"/>
          </a:xfrm>
          <a:prstGeom prst="rect">
            <a:avLst/>
          </a:prstGeom>
          <a:solidFill>
            <a:srgbClr val="F4A261"/>
          </a:solidFill>
          <a:ln/>
        </p:spPr>
      </p:sp>
      <p:sp>
        <p:nvSpPr>
          <p:cNvPr id="13" name="Text 10"/>
          <p:cNvSpPr txBox="1"/>
          <p:nvPr/>
        </p:nvSpPr>
        <p:spPr>
          <a:xfrm>
            <a:off x="868680" y="2103120"/>
            <a:ext cx="246888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  Read</a:t>
            </a:r>
            <a:endParaRPr lang="en-US" sz="1600" dirty="0"/>
          </a:p>
        </p:txBody>
      </p:sp>
      <p:sp>
        <p:nvSpPr>
          <p:cNvPr id="14" name="Text 11"/>
          <p:cNvSpPr txBox="1"/>
          <p:nvPr/>
        </p:nvSpPr>
        <p:spPr>
          <a:xfrm>
            <a:off x="3611880" y="2103120"/>
            <a:ext cx="7680960" cy="914400"/>
          </a:xfrm>
          <a:prstGeom prst="rect">
            <a:avLst/>
          </a:prstGeom>
          <a:noFill/>
          <a:ln/>
        </p:spPr>
        <p:txBody>
          <a:bodyPr wrap="square" lIns="0" tIns="0" rIns="0" bIns="0" rtlCol="0" anchor="ctr"/>
          <a:lstStyle/>
          <a:p>
            <a:pPr marL="0" indent="0">
              <a:buNone/>
            </a:pPr>
            <a:r>
              <a:rPr lang="en-US" sz="1400" i="0" dirty="0">
                <a:solidFill>
                  <a:srgbClr val="0B3C49"/>
                </a:solidFill>
                <a:latin typeface="Calibri" pitchFamily="34" charset="0"/>
                <a:ea typeface="Calibri" pitchFamily="34" charset="-122"/>
                <a:cs typeface="Calibri" pitchFamily="34" charset="-120"/>
              </a:rPr>
              <a:t>Read one paragraph of your plan. Underline its main idea. Cross out facts that are repeated or do not belong.</a:t>
            </a:r>
            <a:endParaRPr lang="en-US" sz="1700" dirty="0"/>
          </a:p>
          <a:p>
            <a:pPr marL="0" indent="0">
              <a:spcBef>
                <a:spcPts val="300"/>
              </a:spcBef>
              <a:buNone/>
            </a:pPr>
            <a:r>
              <a:rPr lang="en-US" sz="1250" b="1" i="1" dirty="0">
                <a:solidFill>
                  <a:srgbClr val="C84B31"/>
                </a:solidFill>
                <a:latin typeface="Calibri" pitchFamily="34" charset="0"/>
                <a:ea typeface="Calibri" pitchFamily="34" charset="-122"/>
                <a:cs typeface="Calibri" pitchFamily="34" charset="-120"/>
              </a:rPr>
              <a:t>Ask yourself: What is this paragraph mostly about?</a:t>
            </a:r>
            <a:endParaRPr lang="en-US" sz="1700" dirty="0"/>
          </a:p>
        </p:txBody>
      </p:sp>
      <p:sp>
        <p:nvSpPr>
          <p:cNvPr id="15" name="Shape 12"/>
          <p:cNvSpPr/>
          <p:nvPr/>
        </p:nvSpPr>
        <p:spPr>
          <a:xfrm>
            <a:off x="731520" y="3108960"/>
            <a:ext cx="10698480" cy="91440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731520" y="3108960"/>
            <a:ext cx="2651760" cy="914400"/>
          </a:xfrm>
          <a:prstGeom prst="rect">
            <a:avLst/>
          </a:prstGeom>
          <a:solidFill>
            <a:srgbClr val="E76F51"/>
          </a:solidFill>
          <a:ln/>
        </p:spPr>
      </p:sp>
      <p:sp>
        <p:nvSpPr>
          <p:cNvPr id="17" name="Text 14"/>
          <p:cNvSpPr txBox="1"/>
          <p:nvPr/>
        </p:nvSpPr>
        <p:spPr>
          <a:xfrm>
            <a:off x="868680" y="3108960"/>
            <a:ext cx="246888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  Rebuild</a:t>
            </a:r>
            <a:endParaRPr lang="en-US" sz="1600" dirty="0"/>
          </a:p>
        </p:txBody>
      </p:sp>
      <p:sp>
        <p:nvSpPr>
          <p:cNvPr id="18" name="Text 15"/>
          <p:cNvSpPr txBox="1"/>
          <p:nvPr/>
        </p:nvSpPr>
        <p:spPr>
          <a:xfrm>
            <a:off x="3611880" y="3108960"/>
            <a:ext cx="7680960" cy="914400"/>
          </a:xfrm>
          <a:prstGeom prst="rect">
            <a:avLst/>
          </a:prstGeom>
          <a:noFill/>
          <a:ln/>
        </p:spPr>
        <p:txBody>
          <a:bodyPr wrap="square" lIns="0" tIns="0" rIns="0" bIns="0" rtlCol="0" anchor="ctr"/>
          <a:lstStyle/>
          <a:p>
            <a:pPr marL="0" indent="0">
              <a:buNone/>
            </a:pPr>
            <a:r>
              <a:rPr lang="en-US" sz="1400" i="0" dirty="0">
                <a:solidFill>
                  <a:srgbClr val="0B3C49"/>
                </a:solidFill>
                <a:latin typeface="Calibri" pitchFamily="34" charset="0"/>
                <a:ea typeface="Calibri" pitchFamily="34" charset="-122"/>
                <a:cs typeface="Calibri" pitchFamily="34" charset="-120"/>
              </a:rPr>
              <a:t>Write the paragraph again with the recipe: topic sentence, main fact, explain, detail, link. Keep your facts, but change the order and the wording.</a:t>
            </a:r>
            <a:endParaRPr lang="en-US" sz="1700" dirty="0"/>
          </a:p>
          <a:p>
            <a:pPr marL="0" indent="0">
              <a:spcBef>
                <a:spcPts val="300"/>
              </a:spcBef>
              <a:buNone/>
            </a:pPr>
            <a:r>
              <a:rPr lang="en-US" sz="1250" b="1" i="1" dirty="0">
                <a:solidFill>
                  <a:srgbClr val="C84B31"/>
                </a:solidFill>
                <a:latin typeface="Calibri" pitchFamily="34" charset="0"/>
                <a:ea typeface="Calibri" pitchFamily="34" charset="-122"/>
                <a:cs typeface="Calibri" pitchFamily="34" charset="-120"/>
              </a:rPr>
              <a:t>Ask yourself: Does every sentence support my topic sentence?</a:t>
            </a:r>
            <a:endParaRPr lang="en-US" sz="1700" dirty="0"/>
          </a:p>
        </p:txBody>
      </p:sp>
      <p:sp>
        <p:nvSpPr>
          <p:cNvPr id="19" name="Shape 16"/>
          <p:cNvSpPr/>
          <p:nvPr/>
        </p:nvSpPr>
        <p:spPr>
          <a:xfrm>
            <a:off x="731520" y="4114800"/>
            <a:ext cx="10698480" cy="914400"/>
          </a:xfrm>
          <a:prstGeom prst="rect">
            <a:avLst/>
          </a:prstGeom>
          <a:solidFill>
            <a:srgbClr val="FFFFFF"/>
          </a:solidFill>
          <a:ln/>
          <a:effectLst>
            <a:outerShdw blurRad="76200" dist="25400" dir="5400000" algn="bl" rotWithShape="0">
              <a:srgbClr val="000000">
                <a:alpha val="15000"/>
              </a:srgbClr>
            </a:outerShdw>
          </a:effectLst>
        </p:spPr>
      </p:sp>
      <p:sp>
        <p:nvSpPr>
          <p:cNvPr id="20" name="Shape 17"/>
          <p:cNvSpPr/>
          <p:nvPr/>
        </p:nvSpPr>
        <p:spPr>
          <a:xfrm>
            <a:off x="731520" y="4114800"/>
            <a:ext cx="2651760" cy="914400"/>
          </a:xfrm>
          <a:prstGeom prst="rect">
            <a:avLst/>
          </a:prstGeom>
          <a:solidFill>
            <a:srgbClr val="0B3C49"/>
          </a:solidFill>
          <a:ln/>
        </p:spPr>
      </p:sp>
      <p:sp>
        <p:nvSpPr>
          <p:cNvPr id="21" name="Text 18"/>
          <p:cNvSpPr txBox="1"/>
          <p:nvPr/>
        </p:nvSpPr>
        <p:spPr>
          <a:xfrm>
            <a:off x="868680" y="4114800"/>
            <a:ext cx="246888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  Join</a:t>
            </a:r>
            <a:endParaRPr lang="en-US" sz="1600" dirty="0"/>
          </a:p>
        </p:txBody>
      </p:sp>
      <p:sp>
        <p:nvSpPr>
          <p:cNvPr id="22" name="Text 19"/>
          <p:cNvSpPr txBox="1"/>
          <p:nvPr/>
        </p:nvSpPr>
        <p:spPr>
          <a:xfrm>
            <a:off x="3611880" y="4114800"/>
            <a:ext cx="7680960" cy="914400"/>
          </a:xfrm>
          <a:prstGeom prst="rect">
            <a:avLst/>
          </a:prstGeom>
          <a:noFill/>
          <a:ln/>
        </p:spPr>
        <p:txBody>
          <a:bodyPr wrap="square" lIns="0" tIns="0" rIns="0" bIns="0" rtlCol="0" anchor="ctr"/>
          <a:lstStyle/>
          <a:p>
            <a:pPr marL="0" indent="0">
              <a:buNone/>
            </a:pPr>
            <a:r>
              <a:rPr lang="en-US" sz="1400" i="0" dirty="0">
                <a:solidFill>
                  <a:srgbClr val="0B3C49"/>
                </a:solidFill>
                <a:latin typeface="Calibri" pitchFamily="34" charset="0"/>
                <a:ea typeface="Calibri" pitchFamily="34" charset="-122"/>
                <a:cs typeface="Calibri" pitchFamily="34" charset="-120"/>
              </a:rPr>
              <a:t>Join short sentences with because, so or as a result. Add one relative clause (who, which, that). Use they or it instead of repeating the creature’s name.</a:t>
            </a:r>
            <a:endParaRPr lang="en-US" sz="1700" dirty="0"/>
          </a:p>
          <a:p>
            <a:pPr marL="0" indent="0">
              <a:spcBef>
                <a:spcPts val="300"/>
              </a:spcBef>
              <a:buNone/>
            </a:pPr>
            <a:r>
              <a:rPr lang="en-US" sz="1250" b="1" i="1" dirty="0">
                <a:solidFill>
                  <a:srgbClr val="C84B31"/>
                </a:solidFill>
                <a:latin typeface="Calibri" pitchFamily="34" charset="0"/>
                <a:ea typeface="Calibri" pitchFamily="34" charset="-122"/>
                <a:cs typeface="Calibri" pitchFamily="34" charset="-120"/>
              </a:rPr>
              <a:t>Ask yourself: Does it read like a paragraph, or like a list?</a:t>
            </a:r>
            <a:endParaRPr lang="en-US" sz="1700" dirty="0"/>
          </a:p>
        </p:txBody>
      </p:sp>
      <p:sp>
        <p:nvSpPr>
          <p:cNvPr id="23" name="Shape 20"/>
          <p:cNvSpPr/>
          <p:nvPr/>
        </p:nvSpPr>
        <p:spPr>
          <a:xfrm>
            <a:off x="731520" y="5120640"/>
            <a:ext cx="10698480" cy="914400"/>
          </a:xfrm>
          <a:prstGeom prst="rect">
            <a:avLst/>
          </a:prstGeom>
          <a:solidFill>
            <a:srgbClr val="FFFFFF"/>
          </a:solidFill>
          <a:ln/>
          <a:effectLst>
            <a:outerShdw blurRad="76200" dist="25400" dir="5400000" algn="bl" rotWithShape="0">
              <a:srgbClr val="000000">
                <a:alpha val="15000"/>
              </a:srgbClr>
            </a:outerShdw>
          </a:effectLst>
        </p:spPr>
      </p:sp>
      <p:sp>
        <p:nvSpPr>
          <p:cNvPr id="24" name="Shape 21"/>
          <p:cNvSpPr/>
          <p:nvPr/>
        </p:nvSpPr>
        <p:spPr>
          <a:xfrm>
            <a:off x="731520" y="5120640"/>
            <a:ext cx="2651760" cy="914400"/>
          </a:xfrm>
          <a:prstGeom prst="rect">
            <a:avLst/>
          </a:prstGeom>
          <a:solidFill>
            <a:srgbClr val="2A9D8F"/>
          </a:solidFill>
          <a:ln/>
        </p:spPr>
      </p:sp>
      <p:sp>
        <p:nvSpPr>
          <p:cNvPr id="25" name="Text 22"/>
          <p:cNvSpPr txBox="1"/>
          <p:nvPr/>
        </p:nvSpPr>
        <p:spPr>
          <a:xfrm>
            <a:off x="868680" y="5120640"/>
            <a:ext cx="246888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  Finish</a:t>
            </a:r>
            <a:endParaRPr lang="en-US" sz="1600" dirty="0"/>
          </a:p>
        </p:txBody>
      </p:sp>
      <p:sp>
        <p:nvSpPr>
          <p:cNvPr id="26" name="Text 23"/>
          <p:cNvSpPr txBox="1"/>
          <p:nvPr/>
        </p:nvSpPr>
        <p:spPr>
          <a:xfrm>
            <a:off x="3611880" y="5120640"/>
            <a:ext cx="7680960" cy="914400"/>
          </a:xfrm>
          <a:prstGeom prst="rect">
            <a:avLst/>
          </a:prstGeom>
          <a:noFill/>
          <a:ln/>
        </p:spPr>
        <p:txBody>
          <a:bodyPr wrap="square" lIns="0" tIns="0" rIns="0" bIns="0" rtlCol="0" anchor="ctr"/>
          <a:lstStyle/>
          <a:p>
            <a:pPr marL="0" indent="0">
              <a:buNone/>
            </a:pPr>
            <a:r>
              <a:rPr lang="en-US" sz="1400" i="0" dirty="0">
                <a:solidFill>
                  <a:srgbClr val="0B3C49"/>
                </a:solidFill>
                <a:latin typeface="Calibri" pitchFamily="34" charset="0"/>
                <a:ea typeface="Calibri" pitchFamily="34" charset="-122"/>
                <a:cs typeface="Calibri" pitchFamily="34" charset="-120"/>
              </a:rPr>
              <a:t>Do the same for Introduction, About, Threats and Protection. Write an ending about why protection matters.</a:t>
            </a:r>
            <a:endParaRPr lang="en-US" sz="1700" dirty="0"/>
          </a:p>
          <a:p>
            <a:pPr marL="0" indent="0">
              <a:spcBef>
                <a:spcPts val="300"/>
              </a:spcBef>
              <a:buNone/>
            </a:pPr>
            <a:r>
              <a:rPr lang="en-US" sz="1250" b="1" i="1" dirty="0">
                <a:solidFill>
                  <a:srgbClr val="C84B31"/>
                </a:solidFill>
                <a:latin typeface="Calibri" pitchFamily="34" charset="0"/>
                <a:ea typeface="Calibri" pitchFamily="34" charset="-122"/>
                <a:cs typeface="Calibri" pitchFamily="34" charset="-120"/>
              </a:rPr>
              <a:t>Ask yourself: Is it all in present tense, third person? Any “I”?</a:t>
            </a:r>
            <a:endParaRPr lang="en-US" sz="1700" dirty="0"/>
          </a:p>
        </p:txBody>
      </p:sp>
      <p:sp>
        <p:nvSpPr>
          <p:cNvPr id="27" name="Text 24"/>
          <p:cNvSpPr txBox="1"/>
          <p:nvPr/>
        </p:nvSpPr>
        <p:spPr>
          <a:xfrm>
            <a:off x="731520" y="6199632"/>
            <a:ext cx="10698480" cy="365760"/>
          </a:xfrm>
          <a:prstGeom prst="rect">
            <a:avLst/>
          </a:prstGeom>
          <a:noFill/>
          <a:ln/>
        </p:spPr>
        <p:txBody>
          <a:bodyPr wrap="square" lIns="0" tIns="0" rIns="0" bIns="0" rtlCol="0" anchor="ctr"/>
          <a:lstStyle/>
          <a:p>
            <a:pPr marL="0" indent="0" algn="ctr">
              <a:buNone/>
            </a:pPr>
            <a:r>
              <a:rPr lang="en-US" sz="1500" b="1" dirty="0">
                <a:solidFill>
                  <a:srgbClr val="0B3C49"/>
                </a:solidFill>
                <a:latin typeface="Georgia" pitchFamily="34" charset="0"/>
                <a:ea typeface="Georgia" pitchFamily="34" charset="-122"/>
                <a:cs typeface="Georgia" pitchFamily="34" charset="-120"/>
              </a:rPr>
              <a:t>Same facts, better paragraph: you are improving your plan, not copying it.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Worked example: the About paragraph</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EXAMPLE</a:t>
            </a:r>
            <a:endParaRPr lang="en-US" sz="1100" dirty="0"/>
          </a:p>
        </p:txBody>
      </p:sp>
      <p:sp>
        <p:nvSpPr>
          <p:cNvPr id="7" name="Shape 4"/>
          <p:cNvSpPr/>
          <p:nvPr/>
        </p:nvSpPr>
        <p:spPr>
          <a:xfrm>
            <a:off x="731520" y="1371600"/>
            <a:ext cx="4206240" cy="301752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4206240" cy="457200"/>
          </a:xfrm>
          <a:prstGeom prst="rect">
            <a:avLst/>
          </a:prstGeom>
          <a:solidFill>
            <a:srgbClr val="E76F51"/>
          </a:solidFill>
          <a:ln/>
        </p:spPr>
      </p:sp>
      <p:sp>
        <p:nvSpPr>
          <p:cNvPr id="9" name="Text 6"/>
          <p:cNvSpPr txBox="1"/>
          <p:nvPr/>
        </p:nvSpPr>
        <p:spPr>
          <a:xfrm>
            <a:off x="914400" y="1371600"/>
            <a:ext cx="36576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MY PLAN (FACTS)</a:t>
            </a:r>
            <a:endParaRPr lang="en-US" sz="1500" dirty="0"/>
          </a:p>
        </p:txBody>
      </p:sp>
      <p:sp>
        <p:nvSpPr>
          <p:cNvPr id="10" name="Text 7"/>
          <p:cNvSpPr txBox="1"/>
          <p:nvPr/>
        </p:nvSpPr>
        <p:spPr>
          <a:xfrm>
            <a:off x="914400" y="2103120"/>
            <a:ext cx="3840480" cy="237744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Sea turtles are reptiles.</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They live in the ocean.</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They have large flippers.</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They have smooth shells.</a:t>
            </a:r>
            <a:endParaRPr lang="en-US" sz="1900" dirty="0"/>
          </a:p>
          <a:p>
            <a:pPr marL="342900" indent="-342900">
              <a:spcAft>
                <a:spcPts val="1000"/>
              </a:spcAft>
              <a:buSzPct val="100000"/>
              <a:buChar char="•"/>
            </a:pPr>
            <a:r>
              <a:rPr lang="en-US" sz="1900" dirty="0">
                <a:solidFill>
                  <a:srgbClr val="0B3C49"/>
                </a:solidFill>
                <a:latin typeface="Calibri" pitchFamily="34" charset="0"/>
                <a:ea typeface="Calibri" pitchFamily="34" charset="-122"/>
                <a:cs typeface="Calibri" pitchFamily="34" charset="-120"/>
              </a:rPr>
              <a:t>They eat seagrass and jellyfish.</a:t>
            </a:r>
            <a:endParaRPr lang="en-US" sz="1900" dirty="0"/>
          </a:p>
        </p:txBody>
      </p:sp>
      <p:sp>
        <p:nvSpPr>
          <p:cNvPr id="11" name="Text 8"/>
          <p:cNvSpPr txBox="1"/>
          <p:nvPr/>
        </p:nvSpPr>
        <p:spPr>
          <a:xfrm>
            <a:off x="5029200" y="2926080"/>
            <a:ext cx="731520" cy="731520"/>
          </a:xfrm>
          <a:prstGeom prst="rect">
            <a:avLst/>
          </a:prstGeom>
          <a:noFill/>
          <a:ln/>
        </p:spPr>
        <p:txBody>
          <a:bodyPr wrap="square" lIns="0" tIns="0" rIns="0" bIns="0" rtlCol="0" anchor="ctr"/>
          <a:lstStyle/>
          <a:p>
            <a:pPr marL="0" indent="0" algn="ctr">
              <a:buNone/>
            </a:pPr>
            <a:r>
              <a:rPr lang="en-US" sz="3600" b="1" dirty="0">
                <a:solidFill>
                  <a:srgbClr val="2A9D8F"/>
                </a:solidFill>
                <a:latin typeface="Calibri" pitchFamily="34" charset="0"/>
                <a:ea typeface="Calibri" pitchFamily="34" charset="-122"/>
                <a:cs typeface="Calibri" pitchFamily="34" charset="-120"/>
              </a:rPr>
              <a:t>➜</a:t>
            </a:r>
            <a:endParaRPr lang="en-US" sz="3600" dirty="0"/>
          </a:p>
        </p:txBody>
      </p:sp>
      <p:sp>
        <p:nvSpPr>
          <p:cNvPr id="12" name="Shape 9"/>
          <p:cNvSpPr/>
          <p:nvPr/>
        </p:nvSpPr>
        <p:spPr>
          <a:xfrm>
            <a:off x="5852160" y="1371600"/>
            <a:ext cx="5577840" cy="3017520"/>
          </a:xfrm>
          <a:prstGeom prst="rect">
            <a:avLst/>
          </a:prstGeom>
          <a:solidFill>
            <a:srgbClr val="FFFFFF"/>
          </a:solidFill>
          <a:ln/>
          <a:effectLst>
            <a:outerShdw blurRad="76200" dist="25400" dir="5400000" algn="bl" rotWithShape="0">
              <a:srgbClr val="000000">
                <a:alpha val="15000"/>
              </a:srgbClr>
            </a:outerShdw>
          </a:effectLst>
        </p:spPr>
      </p:sp>
      <p:sp>
        <p:nvSpPr>
          <p:cNvPr id="13" name="Shape 10"/>
          <p:cNvSpPr/>
          <p:nvPr/>
        </p:nvSpPr>
        <p:spPr>
          <a:xfrm>
            <a:off x="5852160" y="1371600"/>
            <a:ext cx="5577840" cy="457200"/>
          </a:xfrm>
          <a:prstGeom prst="rect">
            <a:avLst/>
          </a:prstGeom>
          <a:solidFill>
            <a:srgbClr val="2A9D8F"/>
          </a:solidFill>
          <a:ln/>
        </p:spPr>
      </p:sp>
      <p:sp>
        <p:nvSpPr>
          <p:cNvPr id="14" name="Text 11"/>
          <p:cNvSpPr txBox="1"/>
          <p:nvPr/>
        </p:nvSpPr>
        <p:spPr>
          <a:xfrm>
            <a:off x="6035040" y="1371600"/>
            <a:ext cx="45720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MY FIRST DRAFT</a:t>
            </a:r>
            <a:endParaRPr lang="en-US" sz="1500" dirty="0"/>
          </a:p>
        </p:txBody>
      </p:sp>
      <p:sp>
        <p:nvSpPr>
          <p:cNvPr id="15" name="Text 12"/>
          <p:cNvSpPr txBox="1"/>
          <p:nvPr/>
        </p:nvSpPr>
        <p:spPr>
          <a:xfrm>
            <a:off x="6035040" y="2011680"/>
            <a:ext cx="5212080" cy="2377440"/>
          </a:xfrm>
          <a:prstGeom prst="rect">
            <a:avLst/>
          </a:prstGeom>
          <a:noFill/>
          <a:ln/>
        </p:spPr>
        <p:txBody>
          <a:bodyPr wrap="square" lIns="0" tIns="0" rIns="0" bIns="0" rtlCol="0" anchor="t"/>
          <a:lstStyle/>
          <a:p>
            <a:pPr marL="0" indent="0">
              <a:buNone/>
            </a:pPr>
            <a:r>
              <a:rPr lang="en-US" sz="2000" b="1" i="0" dirty="0">
                <a:solidFill>
                  <a:srgbClr val="E76F51"/>
                </a:solidFill>
                <a:latin typeface="Calibri" pitchFamily="34" charset="0"/>
                <a:ea typeface="Calibri" pitchFamily="34" charset="-122"/>
                <a:cs typeface="Calibri" pitchFamily="34" charset="-120"/>
              </a:rPr>
              <a:t>Sea turtles have bodies </a:t>
            </a:r>
            <a:r>
              <a:rPr lang="en-US" sz="2000" b="1" i="0" dirty="0">
                <a:solidFill>
                  <a:srgbClr val="2A9D8F"/>
                </a:solidFill>
                <a:latin typeface="Calibri" pitchFamily="34" charset="0"/>
                <a:ea typeface="Calibri" pitchFamily="34" charset="-122"/>
                <a:cs typeface="Calibri" pitchFamily="34" charset="-120"/>
              </a:rPr>
              <a:t>that are adapted to life in the ocean</a:t>
            </a:r>
            <a:r>
              <a:rPr lang="en-US" sz="2000" b="1" i="0" dirty="0">
                <a:solidFill>
                  <a:srgbClr val="E76F51"/>
                </a:solidFill>
                <a:latin typeface="Calibri" pitchFamily="34" charset="0"/>
                <a:ea typeface="Calibri" pitchFamily="34" charset="-122"/>
                <a:cs typeface="Calibri" pitchFamily="34" charset="-120"/>
              </a:rPr>
              <a:t>. </a:t>
            </a:r>
            <a:r>
              <a:rPr lang="en-US" sz="2000" i="0" dirty="0">
                <a:solidFill>
                  <a:srgbClr val="0B3C49"/>
                </a:solidFill>
                <a:latin typeface="Calibri" pitchFamily="34" charset="0"/>
                <a:ea typeface="Calibri" pitchFamily="34" charset="-122"/>
                <a:cs typeface="Calibri" pitchFamily="34" charset="-120"/>
              </a:rPr>
              <a:t>Their large flippers help them swim long distances, </a:t>
            </a:r>
            <a:r>
              <a:rPr lang="en-US" sz="2000" b="1" i="0" dirty="0">
                <a:solidFill>
                  <a:srgbClr val="7B4FA3"/>
                </a:solidFill>
                <a:latin typeface="Calibri" pitchFamily="34" charset="0"/>
                <a:ea typeface="Calibri" pitchFamily="34" charset="-122"/>
                <a:cs typeface="Calibri" pitchFamily="34" charset="-120"/>
              </a:rPr>
              <a:t>while</a:t>
            </a:r>
            <a:r>
              <a:rPr lang="en-US" sz="2000" i="0" dirty="0">
                <a:solidFill>
                  <a:srgbClr val="0B3C49"/>
                </a:solidFill>
                <a:latin typeface="Calibri" pitchFamily="34" charset="0"/>
                <a:ea typeface="Calibri" pitchFamily="34" charset="-122"/>
                <a:cs typeface="Calibri" pitchFamily="34" charset="-120"/>
              </a:rPr>
              <a:t> their smooth shells let them move easily through water. Different species </a:t>
            </a:r>
            <a:r>
              <a:rPr lang="en-US" sz="2000" b="1" i="0" dirty="0">
                <a:solidFill>
                  <a:srgbClr val="7B4FA3"/>
                </a:solidFill>
                <a:latin typeface="Calibri" pitchFamily="34" charset="0"/>
                <a:ea typeface="Calibri" pitchFamily="34" charset="-122"/>
                <a:cs typeface="Calibri" pitchFamily="34" charset="-120"/>
              </a:rPr>
              <a:t>also</a:t>
            </a:r>
            <a:r>
              <a:rPr lang="en-US" sz="2000" i="0" dirty="0">
                <a:solidFill>
                  <a:srgbClr val="0B3C49"/>
                </a:solidFill>
                <a:latin typeface="Calibri" pitchFamily="34" charset="0"/>
                <a:ea typeface="Calibri" pitchFamily="34" charset="-122"/>
                <a:cs typeface="Calibri" pitchFamily="34" charset="-120"/>
              </a:rPr>
              <a:t> eat different foods, </a:t>
            </a:r>
            <a:r>
              <a:rPr lang="en-US" sz="2000" b="1" i="0" dirty="0">
                <a:solidFill>
                  <a:srgbClr val="1D6FA5"/>
                </a:solidFill>
                <a:latin typeface="Calibri" pitchFamily="34" charset="0"/>
                <a:ea typeface="Calibri" pitchFamily="34" charset="-122"/>
                <a:cs typeface="Calibri" pitchFamily="34" charset="-120"/>
              </a:rPr>
              <a:t>from seagrass to jellyfish</a:t>
            </a:r>
            <a:r>
              <a:rPr lang="en-US" sz="2000" i="0" dirty="0">
                <a:solidFill>
                  <a:srgbClr val="0B3C49"/>
                </a:solidFill>
                <a:latin typeface="Calibri" pitchFamily="34" charset="0"/>
                <a:ea typeface="Calibri" pitchFamily="34" charset="-122"/>
                <a:cs typeface="Calibri" pitchFamily="34" charset="-120"/>
              </a:rPr>
              <a:t>.</a:t>
            </a:r>
            <a:endParaRPr lang="en-US" sz="1800" dirty="0"/>
          </a:p>
        </p:txBody>
      </p:sp>
      <p:sp>
        <p:nvSpPr>
          <p:cNvPr id="16" name="Text 13"/>
          <p:cNvSpPr txBox="1"/>
          <p:nvPr/>
        </p:nvSpPr>
        <p:spPr>
          <a:xfrm>
            <a:off x="731520" y="4572000"/>
            <a:ext cx="10698480" cy="1554480"/>
          </a:xfrm>
          <a:prstGeom prst="rect">
            <a:avLst/>
          </a:prstGeom>
          <a:noFill/>
          <a:ln/>
        </p:spPr>
        <p:txBody>
          <a:bodyPr wrap="square" lIns="0" tIns="0" rIns="0" bIns="0" rtlCol="0" anchor="ctr"/>
          <a:lstStyle/>
          <a:p>
            <a:pPr marL="0" indent="0" algn="l">
              <a:spcAft>
                <a:spcPts val="400"/>
              </a:spcAft>
              <a:buNone/>
            </a:pPr>
            <a:r>
              <a:rPr lang="en-US" sz="1600" b="1" dirty="0">
                <a:solidFill>
                  <a:srgbClr val="E76F51"/>
                </a:solidFill>
                <a:latin typeface="Calibri" pitchFamily="34" charset="0"/>
                <a:ea typeface="Georgia" pitchFamily="34" charset="-122"/>
                <a:cs typeface="Georgia" pitchFamily="34" charset="-120"/>
              </a:rPr>
              <a:t>Topic sentence</a:t>
            </a:r>
            <a:r>
              <a:rPr lang="en-US" sz="1600" b="0" dirty="0">
                <a:solidFill>
                  <a:srgbClr val="0B3C49"/>
                </a:solidFill>
                <a:latin typeface="Calibri" pitchFamily="34" charset="0"/>
                <a:ea typeface="Georgia" pitchFamily="34" charset="-122"/>
                <a:cs typeface="Georgia" pitchFamily="34" charset="-120"/>
              </a:rPr>
              <a:t> – tells the reader the one main idea of the paragraph.</a:t>
            </a:r>
            <a:endParaRPr lang="en-US" sz="2000" dirty="0"/>
          </a:p>
          <a:p>
            <a:pPr marL="0" indent="0" algn="l">
              <a:spcAft>
                <a:spcPts val="400"/>
              </a:spcAft>
              <a:buNone/>
            </a:pPr>
            <a:r>
              <a:rPr lang="en-US" sz="1600" b="1" dirty="0">
                <a:solidFill>
                  <a:srgbClr val="2A9D8F"/>
                </a:solidFill>
                <a:latin typeface="Calibri" pitchFamily="34" charset="0"/>
                <a:ea typeface="Georgia" pitchFamily="34" charset="-122"/>
                <a:cs typeface="Georgia" pitchFamily="34" charset="-120"/>
              </a:rPr>
              <a:t>Relative clause</a:t>
            </a:r>
            <a:r>
              <a:rPr lang="en-US" sz="1600" b="0" dirty="0">
                <a:solidFill>
                  <a:srgbClr val="0B3C49"/>
                </a:solidFill>
                <a:latin typeface="Calibri" pitchFamily="34" charset="0"/>
                <a:ea typeface="Georgia" pitchFamily="34" charset="-122"/>
                <a:cs typeface="Georgia" pitchFamily="34" charset="-120"/>
              </a:rPr>
              <a:t> – adds extra information (“that are adapted to life in the ocean”).</a:t>
            </a:r>
            <a:endParaRPr lang="en-US" sz="2000" dirty="0"/>
          </a:p>
          <a:p>
            <a:pPr marL="0" indent="0" algn="l">
              <a:spcAft>
                <a:spcPts val="400"/>
              </a:spcAft>
              <a:buNone/>
            </a:pPr>
            <a:r>
              <a:rPr lang="en-US" sz="1600" b="1" dirty="0">
                <a:solidFill>
                  <a:srgbClr val="7B4FA3"/>
                </a:solidFill>
                <a:latin typeface="Calibri" pitchFamily="34" charset="0"/>
                <a:ea typeface="Georgia" pitchFamily="34" charset="-122"/>
                <a:cs typeface="Georgia" pitchFamily="34" charset="-120"/>
              </a:rPr>
              <a:t>Connectors</a:t>
            </a:r>
            <a:r>
              <a:rPr lang="en-US" sz="1600" b="0" dirty="0">
                <a:solidFill>
                  <a:srgbClr val="0B3C49"/>
                </a:solidFill>
                <a:latin typeface="Calibri" pitchFamily="34" charset="0"/>
                <a:ea typeface="Georgia" pitchFamily="34" charset="-122"/>
                <a:cs typeface="Georgia" pitchFamily="34" charset="-120"/>
              </a:rPr>
              <a:t> – while and also join ideas instead of listing them.</a:t>
            </a:r>
            <a:endParaRPr lang="en-US" sz="2000" dirty="0"/>
          </a:p>
          <a:p>
            <a:pPr marL="0" indent="0" algn="l">
              <a:spcAft>
                <a:spcPts val="400"/>
              </a:spcAft>
              <a:buNone/>
            </a:pPr>
            <a:r>
              <a:rPr lang="en-US" sz="1600" b="1" dirty="0">
                <a:solidFill>
                  <a:srgbClr val="1D6FA5"/>
                </a:solidFill>
                <a:latin typeface="Calibri" pitchFamily="34" charset="0"/>
                <a:ea typeface="Georgia" pitchFamily="34" charset="-122"/>
                <a:cs typeface="Georgia" pitchFamily="34" charset="-120"/>
              </a:rPr>
              <a:t>Precise detail</a:t>
            </a:r>
            <a:r>
              <a:rPr lang="en-US" sz="1600" b="0" dirty="0">
                <a:solidFill>
                  <a:srgbClr val="0B3C49"/>
                </a:solidFill>
                <a:latin typeface="Calibri" pitchFamily="34" charset="0"/>
                <a:ea typeface="Georgia" pitchFamily="34" charset="-122"/>
                <a:cs typeface="Georgia" pitchFamily="34" charset="-120"/>
              </a:rPr>
              <a:t> – “from seagrass to jellyfish” develops the fact.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Check your plan against the model</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CHECK</a:t>
            </a:r>
            <a:endParaRPr lang="en-US" sz="1100" dirty="0"/>
          </a:p>
        </p:txBody>
      </p:sp>
      <p:sp>
        <p:nvSpPr>
          <p:cNvPr id="7" name="Shape 4"/>
          <p:cNvSpPr/>
          <p:nvPr/>
        </p:nvSpPr>
        <p:spPr>
          <a:xfrm>
            <a:off x="397379" y="1371600"/>
            <a:ext cx="5454781" cy="301752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397379" y="1337502"/>
            <a:ext cx="5120640" cy="457200"/>
          </a:xfrm>
          <a:prstGeom prst="rect">
            <a:avLst/>
          </a:prstGeom>
          <a:solidFill>
            <a:srgbClr val="E76F51"/>
          </a:solidFill>
          <a:ln/>
        </p:spPr>
      </p:sp>
      <p:sp>
        <p:nvSpPr>
          <p:cNvPr id="9" name="Text 6"/>
          <p:cNvSpPr txBox="1"/>
          <p:nvPr/>
        </p:nvSpPr>
        <p:spPr>
          <a:xfrm>
            <a:off x="534539" y="1362285"/>
            <a:ext cx="484632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COMPARE WITH A PARTNER</a:t>
            </a:r>
            <a:endParaRPr lang="en-US" sz="1500" dirty="0"/>
          </a:p>
        </p:txBody>
      </p:sp>
      <p:sp>
        <p:nvSpPr>
          <p:cNvPr id="10" name="Text 7"/>
          <p:cNvSpPr txBox="1"/>
          <p:nvPr/>
        </p:nvSpPr>
        <p:spPr>
          <a:xfrm>
            <a:off x="397379" y="1965960"/>
            <a:ext cx="5546221" cy="2286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Do I have an introduction and a section for each part?</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Do I have enough facts in every section?</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Is any section empty or missing?</a:t>
            </a:r>
            <a:endParaRPr lang="en-US" sz="1800" dirty="0"/>
          </a:p>
        </p:txBody>
      </p:sp>
      <p:sp>
        <p:nvSpPr>
          <p:cNvPr id="11" name="Shape 8"/>
          <p:cNvSpPr/>
          <p:nvPr/>
        </p:nvSpPr>
        <p:spPr>
          <a:xfrm>
            <a:off x="6126480" y="1371600"/>
            <a:ext cx="5303520" cy="301752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6126480" y="1371600"/>
            <a:ext cx="5303520" cy="457200"/>
          </a:xfrm>
          <a:prstGeom prst="rect">
            <a:avLst/>
          </a:prstGeom>
          <a:solidFill>
            <a:srgbClr val="2A9D8F"/>
          </a:solidFill>
          <a:ln/>
        </p:spPr>
      </p:sp>
      <p:sp>
        <p:nvSpPr>
          <p:cNvPr id="13" name="Text 10"/>
          <p:cNvSpPr txBox="1"/>
          <p:nvPr/>
        </p:nvSpPr>
        <p:spPr>
          <a:xfrm>
            <a:off x="6263640" y="1371600"/>
            <a:ext cx="5029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THEN</a:t>
            </a:r>
            <a:endParaRPr lang="en-US" sz="1500" dirty="0"/>
          </a:p>
        </p:txBody>
      </p:sp>
      <p:sp>
        <p:nvSpPr>
          <p:cNvPr id="14" name="Text 11"/>
          <p:cNvSpPr txBox="1"/>
          <p:nvPr/>
        </p:nvSpPr>
        <p:spPr>
          <a:xfrm>
            <a:off x="6309360" y="1965960"/>
            <a:ext cx="4937760" cy="2286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Add facts to fill any gap</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Check the success criteria</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Improve each paragraph: topic sentence, explain, join</a:t>
            </a:r>
            <a:endParaRPr lang="en-US" sz="1800" dirty="0"/>
          </a:p>
          <a:p>
            <a:pPr marL="342900" indent="-342900">
              <a:spcAft>
                <a:spcPts val="600"/>
              </a:spcAft>
              <a:buSzPct val="100000"/>
              <a:buChar char="•"/>
            </a:pPr>
            <a:r>
              <a:rPr lang="en-US" sz="1800" dirty="0">
                <a:solidFill>
                  <a:srgbClr val="0B3C49"/>
                </a:solidFill>
                <a:latin typeface="Calibri" pitchFamily="34" charset="0"/>
                <a:ea typeface="Calibri" pitchFamily="34" charset="-122"/>
                <a:cs typeface="Calibri" pitchFamily="34" charset="-120"/>
              </a:rPr>
              <a:t>Start writing your first draft</a:t>
            </a:r>
            <a:endParaRPr lang="en-US" sz="1800" dirty="0"/>
          </a:p>
        </p:txBody>
      </p:sp>
      <p:sp>
        <p:nvSpPr>
          <p:cNvPr id="15" name="Text 12"/>
          <p:cNvSpPr txBox="1"/>
          <p:nvPr/>
        </p:nvSpPr>
        <p:spPr>
          <a:xfrm>
            <a:off x="731520" y="4846320"/>
            <a:ext cx="10698480" cy="731520"/>
          </a:xfrm>
          <a:prstGeom prst="rect">
            <a:avLst/>
          </a:prstGeom>
          <a:noFill/>
          <a:ln/>
        </p:spPr>
        <p:txBody>
          <a:bodyPr wrap="square" lIns="0" tIns="0" rIns="0" bIns="0" rtlCol="0" anchor="ctr"/>
          <a:lstStyle/>
          <a:p>
            <a:pPr marL="0" indent="0" algn="ctr">
              <a:buNone/>
            </a:pPr>
            <a:r>
              <a:rPr lang="en-US" sz="2200" b="1" dirty="0">
                <a:solidFill>
                  <a:srgbClr val="0B3C49"/>
                </a:solidFill>
                <a:latin typeface="Georgia" pitchFamily="34" charset="0"/>
                <a:ea typeface="Georgia" pitchFamily="34" charset="-122"/>
                <a:cs typeface="Georgia" pitchFamily="34" charset="-120"/>
              </a:rPr>
              <a:t>Your plan has the facts. Now make each paragraph clearer.</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Success criteria</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SUCCESS</a:t>
            </a:r>
            <a:endParaRPr lang="en-US" sz="1100" dirty="0"/>
          </a:p>
        </p:txBody>
      </p:sp>
      <p:sp>
        <p:nvSpPr>
          <p:cNvPr id="6" name="Text 4"/>
          <p:cNvSpPr txBox="1"/>
          <p:nvPr/>
        </p:nvSpPr>
        <p:spPr>
          <a:xfrm>
            <a:off x="731520" y="1188720"/>
            <a:ext cx="7315200" cy="457200"/>
          </a:xfrm>
          <a:prstGeom prst="rect">
            <a:avLst/>
          </a:prstGeom>
          <a:noFill/>
          <a:ln/>
        </p:spPr>
        <p:txBody>
          <a:bodyPr wrap="square" lIns="0" tIns="0" rIns="0" bIns="0" rtlCol="0" anchor="ctr"/>
          <a:lstStyle/>
          <a:p>
            <a:pPr marL="0" indent="0">
              <a:buNone/>
            </a:pPr>
            <a:r>
              <a:rPr lang="en-US" sz="2200" b="1" dirty="0">
                <a:solidFill>
                  <a:srgbClr val="0B3C49"/>
                </a:solidFill>
                <a:latin typeface="Georgia" pitchFamily="34" charset="0"/>
                <a:ea typeface="Georgia" pitchFamily="34" charset="-122"/>
                <a:cs typeface="Georgia" pitchFamily="34" charset="-120"/>
              </a:rPr>
              <a:t>My first draft…</a:t>
            </a:r>
            <a:endParaRPr lang="en-US" sz="2200" dirty="0"/>
          </a:p>
        </p:txBody>
      </p:sp>
      <p:sp>
        <p:nvSpPr>
          <p:cNvPr id="7" name="Shape 5"/>
          <p:cNvSpPr/>
          <p:nvPr/>
        </p:nvSpPr>
        <p:spPr>
          <a:xfrm>
            <a:off x="731520" y="182880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828800"/>
            <a:ext cx="109728" cy="868680"/>
          </a:xfrm>
          <a:prstGeom prst="rect">
            <a:avLst/>
          </a:prstGeom>
          <a:solidFill>
            <a:srgbClr val="2A9D8F"/>
          </a:solidFill>
          <a:ln/>
        </p:spPr>
      </p:sp>
      <p:sp>
        <p:nvSpPr>
          <p:cNvPr id="9" name="Text 7"/>
          <p:cNvSpPr txBox="1"/>
          <p:nvPr/>
        </p:nvSpPr>
        <p:spPr>
          <a:xfrm>
            <a:off x="1051560" y="182880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has a title and an introduction</a:t>
            </a:r>
            <a:endParaRPr lang="en-US" sz="1700" dirty="0"/>
          </a:p>
        </p:txBody>
      </p:sp>
      <p:sp>
        <p:nvSpPr>
          <p:cNvPr id="10" name="Shape 8"/>
          <p:cNvSpPr/>
          <p:nvPr/>
        </p:nvSpPr>
        <p:spPr>
          <a:xfrm>
            <a:off x="6217920" y="182880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6217920" y="1828800"/>
            <a:ext cx="109728" cy="868680"/>
          </a:xfrm>
          <a:prstGeom prst="rect">
            <a:avLst/>
          </a:prstGeom>
          <a:solidFill>
            <a:srgbClr val="2A9D8F"/>
          </a:solidFill>
          <a:ln/>
        </p:spPr>
      </p:sp>
      <p:sp>
        <p:nvSpPr>
          <p:cNvPr id="12" name="Text 10"/>
          <p:cNvSpPr txBox="1"/>
          <p:nvPr/>
        </p:nvSpPr>
        <p:spPr>
          <a:xfrm>
            <a:off x="6537960" y="182880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has a paragraph for each section</a:t>
            </a:r>
            <a:endParaRPr lang="en-US" sz="1700" dirty="0"/>
          </a:p>
        </p:txBody>
      </p:sp>
      <p:sp>
        <p:nvSpPr>
          <p:cNvPr id="13" name="Shape 11"/>
          <p:cNvSpPr/>
          <p:nvPr/>
        </p:nvSpPr>
        <p:spPr>
          <a:xfrm>
            <a:off x="731520" y="288036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731520" y="2880360"/>
            <a:ext cx="109728" cy="868680"/>
          </a:xfrm>
          <a:prstGeom prst="rect">
            <a:avLst/>
          </a:prstGeom>
          <a:solidFill>
            <a:srgbClr val="F4A261"/>
          </a:solidFill>
          <a:ln/>
        </p:spPr>
      </p:sp>
      <p:sp>
        <p:nvSpPr>
          <p:cNvPr id="15" name="Text 13"/>
          <p:cNvSpPr txBox="1"/>
          <p:nvPr/>
        </p:nvSpPr>
        <p:spPr>
          <a:xfrm>
            <a:off x="1051560" y="288036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follows my plan in a logical order</a:t>
            </a:r>
            <a:endParaRPr lang="en-US" sz="1700" dirty="0"/>
          </a:p>
        </p:txBody>
      </p:sp>
      <p:sp>
        <p:nvSpPr>
          <p:cNvPr id="16" name="Shape 14"/>
          <p:cNvSpPr/>
          <p:nvPr/>
        </p:nvSpPr>
        <p:spPr>
          <a:xfrm>
            <a:off x="6217920" y="288036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6217920" y="2880360"/>
            <a:ext cx="109728" cy="868680"/>
          </a:xfrm>
          <a:prstGeom prst="rect">
            <a:avLst/>
          </a:prstGeom>
          <a:solidFill>
            <a:srgbClr val="F4A261"/>
          </a:solidFill>
          <a:ln/>
        </p:spPr>
      </p:sp>
      <p:sp>
        <p:nvSpPr>
          <p:cNvPr id="18" name="Text 16"/>
          <p:cNvSpPr txBox="1"/>
          <p:nvPr/>
        </p:nvSpPr>
        <p:spPr>
          <a:xfrm>
            <a:off x="6537960" y="288036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uses present tense and third person</a:t>
            </a:r>
            <a:endParaRPr lang="en-US" sz="1700" dirty="0"/>
          </a:p>
        </p:txBody>
      </p:sp>
      <p:sp>
        <p:nvSpPr>
          <p:cNvPr id="19" name="Shape 17"/>
          <p:cNvSpPr/>
          <p:nvPr/>
        </p:nvSpPr>
        <p:spPr>
          <a:xfrm>
            <a:off x="731520" y="393192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20" name="Shape 18"/>
          <p:cNvSpPr/>
          <p:nvPr/>
        </p:nvSpPr>
        <p:spPr>
          <a:xfrm>
            <a:off x="731520" y="3931920"/>
            <a:ext cx="109728" cy="868680"/>
          </a:xfrm>
          <a:prstGeom prst="rect">
            <a:avLst/>
          </a:prstGeom>
          <a:solidFill>
            <a:srgbClr val="E76F51"/>
          </a:solidFill>
          <a:ln/>
        </p:spPr>
      </p:sp>
      <p:sp>
        <p:nvSpPr>
          <p:cNvPr id="21" name="Text 19"/>
          <p:cNvSpPr txBox="1"/>
          <p:nvPr/>
        </p:nvSpPr>
        <p:spPr>
          <a:xfrm>
            <a:off x="1051560" y="393192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includes a relative clause</a:t>
            </a:r>
            <a:endParaRPr lang="en-US" sz="1700" dirty="0"/>
          </a:p>
        </p:txBody>
      </p:sp>
      <p:sp>
        <p:nvSpPr>
          <p:cNvPr id="22" name="Shape 20"/>
          <p:cNvSpPr/>
          <p:nvPr/>
        </p:nvSpPr>
        <p:spPr>
          <a:xfrm>
            <a:off x="6217920" y="393192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6217920" y="3931920"/>
            <a:ext cx="109728" cy="868680"/>
          </a:xfrm>
          <a:prstGeom prst="rect">
            <a:avLst/>
          </a:prstGeom>
          <a:solidFill>
            <a:srgbClr val="E76F51"/>
          </a:solidFill>
          <a:ln/>
        </p:spPr>
      </p:sp>
      <p:sp>
        <p:nvSpPr>
          <p:cNvPr id="24" name="Text 22"/>
          <p:cNvSpPr txBox="1"/>
          <p:nvPr/>
        </p:nvSpPr>
        <p:spPr>
          <a:xfrm>
            <a:off x="6537960" y="393192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uses connectors to join ideas</a:t>
            </a:r>
            <a:endParaRPr lang="en-US" sz="1700" dirty="0"/>
          </a:p>
        </p:txBody>
      </p:sp>
      <p:sp>
        <p:nvSpPr>
          <p:cNvPr id="25" name="Shape 23"/>
          <p:cNvSpPr/>
          <p:nvPr/>
        </p:nvSpPr>
        <p:spPr>
          <a:xfrm>
            <a:off x="731520" y="498348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26" name="Shape 24"/>
          <p:cNvSpPr/>
          <p:nvPr/>
        </p:nvSpPr>
        <p:spPr>
          <a:xfrm>
            <a:off x="731520" y="4983480"/>
            <a:ext cx="109728" cy="868680"/>
          </a:xfrm>
          <a:prstGeom prst="rect">
            <a:avLst/>
          </a:prstGeom>
          <a:solidFill>
            <a:srgbClr val="0B3C49"/>
          </a:solidFill>
          <a:ln/>
        </p:spPr>
      </p:sp>
      <p:sp>
        <p:nvSpPr>
          <p:cNvPr id="27" name="Text 25"/>
          <p:cNvSpPr txBox="1"/>
          <p:nvPr/>
        </p:nvSpPr>
        <p:spPr>
          <a:xfrm>
            <a:off x="1051560" y="498348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avoids repeating information</a:t>
            </a:r>
            <a:endParaRPr lang="en-US" sz="1700" dirty="0"/>
          </a:p>
        </p:txBody>
      </p:sp>
      <p:sp>
        <p:nvSpPr>
          <p:cNvPr id="28" name="Shape 26"/>
          <p:cNvSpPr/>
          <p:nvPr/>
        </p:nvSpPr>
        <p:spPr>
          <a:xfrm>
            <a:off x="6217920" y="4983480"/>
            <a:ext cx="5212080" cy="868680"/>
          </a:xfrm>
          <a:prstGeom prst="rect">
            <a:avLst/>
          </a:prstGeom>
          <a:solidFill>
            <a:srgbClr val="FFFFFF"/>
          </a:solidFill>
          <a:ln/>
          <a:effectLst>
            <a:outerShdw blurRad="76200" dist="25400" dir="5400000" algn="bl" rotWithShape="0">
              <a:srgbClr val="000000">
                <a:alpha val="15000"/>
              </a:srgbClr>
            </a:outerShdw>
          </a:effectLst>
        </p:spPr>
      </p:sp>
      <p:sp>
        <p:nvSpPr>
          <p:cNvPr id="29" name="Shape 27"/>
          <p:cNvSpPr/>
          <p:nvPr/>
        </p:nvSpPr>
        <p:spPr>
          <a:xfrm>
            <a:off x="6217920" y="4983480"/>
            <a:ext cx="109728" cy="868680"/>
          </a:xfrm>
          <a:prstGeom prst="rect">
            <a:avLst/>
          </a:prstGeom>
          <a:solidFill>
            <a:srgbClr val="0B3C49"/>
          </a:solidFill>
          <a:ln/>
        </p:spPr>
      </p:sp>
      <p:sp>
        <p:nvSpPr>
          <p:cNvPr id="30" name="Text 28"/>
          <p:cNvSpPr txBox="1"/>
          <p:nvPr/>
        </p:nvSpPr>
        <p:spPr>
          <a:xfrm>
            <a:off x="6537960" y="4983480"/>
            <a:ext cx="4754880" cy="868680"/>
          </a:xfrm>
          <a:prstGeom prst="rect">
            <a:avLst/>
          </a:prstGeom>
          <a:noFill/>
          <a:ln/>
        </p:spPr>
        <p:txBody>
          <a:bodyPr wrap="square" lIns="0" tIns="0" rIns="0" bIns="0" rtlCol="0" anchor="ctr"/>
          <a:lstStyle/>
          <a:p>
            <a:pPr marL="0" indent="0">
              <a:buNone/>
            </a:pPr>
            <a:r>
              <a:rPr lang="en-US" sz="1700" dirty="0">
                <a:solidFill>
                  <a:srgbClr val="0B3C49"/>
                </a:solidFill>
                <a:latin typeface="Calibri" pitchFamily="34" charset="0"/>
                <a:ea typeface="Calibri" pitchFamily="34" charset="-122"/>
                <a:cs typeface="Calibri" pitchFamily="34" charset="-120"/>
              </a:rPr>
              <a:t>☐  uses precise vocabulary</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Your turn: write your creature report</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TASK</a:t>
            </a:r>
            <a:endParaRPr lang="en-US" sz="1100" dirty="0"/>
          </a:p>
        </p:txBody>
      </p:sp>
      <p:sp>
        <p:nvSpPr>
          <p:cNvPr id="7" name="Shape 4"/>
          <p:cNvSpPr/>
          <p:nvPr/>
        </p:nvSpPr>
        <p:spPr>
          <a:xfrm>
            <a:off x="731520" y="1371600"/>
            <a:ext cx="3383280" cy="420624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3383280" cy="457200"/>
          </a:xfrm>
          <a:prstGeom prst="rect">
            <a:avLst/>
          </a:prstGeom>
          <a:solidFill>
            <a:srgbClr val="2A9D8F"/>
          </a:solidFill>
          <a:ln/>
        </p:spPr>
      </p:sp>
      <p:sp>
        <p:nvSpPr>
          <p:cNvPr id="9" name="Text 6"/>
          <p:cNvSpPr txBox="1"/>
          <p:nvPr/>
        </p:nvSpPr>
        <p:spPr>
          <a:xfrm>
            <a:off x="8686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SUPPORT</a:t>
            </a:r>
            <a:endParaRPr lang="en-US" sz="1500" dirty="0"/>
          </a:p>
        </p:txBody>
      </p:sp>
      <p:sp>
        <p:nvSpPr>
          <p:cNvPr id="10" name="Text 7"/>
          <p:cNvSpPr txBox="1"/>
          <p:nvPr/>
        </p:nvSpPr>
        <p:spPr>
          <a:xfrm>
            <a:off x="914400" y="1965960"/>
            <a:ext cx="301752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Use the sentence starters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Write the title and introduction</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Write 1 paragraph for each section of your plan</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Use at least 2 connectors</a:t>
            </a:r>
            <a:endParaRPr lang="en-US" sz="1600" dirty="0"/>
          </a:p>
        </p:txBody>
      </p:sp>
      <p:sp>
        <p:nvSpPr>
          <p:cNvPr id="11" name="Shape 8"/>
          <p:cNvSpPr/>
          <p:nvPr/>
        </p:nvSpPr>
        <p:spPr>
          <a:xfrm>
            <a:off x="4389120" y="1371600"/>
            <a:ext cx="3383280" cy="420624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4389120" y="1371600"/>
            <a:ext cx="3383280" cy="457200"/>
          </a:xfrm>
          <a:prstGeom prst="rect">
            <a:avLst/>
          </a:prstGeom>
          <a:solidFill>
            <a:srgbClr val="0B3C49"/>
          </a:solidFill>
          <a:ln/>
        </p:spPr>
      </p:sp>
      <p:sp>
        <p:nvSpPr>
          <p:cNvPr id="13" name="Text 10"/>
          <p:cNvSpPr txBox="1"/>
          <p:nvPr/>
        </p:nvSpPr>
        <p:spPr>
          <a:xfrm>
            <a:off x="45262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CORE</a:t>
            </a:r>
            <a:endParaRPr lang="en-US" sz="1500" dirty="0"/>
          </a:p>
        </p:txBody>
      </p:sp>
      <p:sp>
        <p:nvSpPr>
          <p:cNvPr id="14" name="Text 11"/>
          <p:cNvSpPr txBox="1"/>
          <p:nvPr/>
        </p:nvSpPr>
        <p:spPr>
          <a:xfrm>
            <a:off x="4572000" y="1965960"/>
            <a:ext cx="301752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Write the full draft of your creature report from your plan</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Intro + About, Threats, Protection + ending</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Use headings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Include a relative clause and a cause/effect connector</a:t>
            </a:r>
            <a:endParaRPr lang="en-US" sz="1600" dirty="0"/>
          </a:p>
        </p:txBody>
      </p:sp>
      <p:sp>
        <p:nvSpPr>
          <p:cNvPr id="15" name="Shape 12"/>
          <p:cNvSpPr/>
          <p:nvPr/>
        </p:nvSpPr>
        <p:spPr>
          <a:xfrm>
            <a:off x="8046720" y="1371600"/>
            <a:ext cx="3383280" cy="420624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8046720" y="1371600"/>
            <a:ext cx="3383280" cy="457200"/>
          </a:xfrm>
          <a:prstGeom prst="rect">
            <a:avLst/>
          </a:prstGeom>
          <a:solidFill>
            <a:srgbClr val="E76F51"/>
          </a:solidFill>
          <a:ln/>
        </p:spPr>
      </p:sp>
      <p:sp>
        <p:nvSpPr>
          <p:cNvPr id="17" name="Text 14"/>
          <p:cNvSpPr txBox="1"/>
          <p:nvPr/>
        </p:nvSpPr>
        <p:spPr>
          <a:xfrm>
            <a:off x="81838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EXTEND</a:t>
            </a:r>
            <a:endParaRPr lang="en-US" sz="1500" dirty="0"/>
          </a:p>
        </p:txBody>
      </p:sp>
      <p:sp>
        <p:nvSpPr>
          <p:cNvPr id="18" name="Text 15"/>
          <p:cNvSpPr txBox="1"/>
          <p:nvPr/>
        </p:nvSpPr>
        <p:spPr>
          <a:xfrm>
            <a:off x="8229600" y="1965960"/>
            <a:ext cx="301752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Full draft with subheadings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Vary sentence openings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Develop facts with explanation and detail</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Challenge: add a "Did you know?" fact box</a:t>
            </a:r>
            <a:endParaRPr lang="en-US" sz="1600" dirty="0"/>
          </a:p>
        </p:txBody>
      </p:sp>
      <p:sp>
        <p:nvSpPr>
          <p:cNvPr id="19" name="Text 16"/>
          <p:cNvSpPr txBox="1"/>
          <p:nvPr/>
        </p:nvSpPr>
        <p:spPr>
          <a:xfrm>
            <a:off x="731520" y="5852160"/>
            <a:ext cx="10698480" cy="457200"/>
          </a:xfrm>
          <a:prstGeom prst="rect">
            <a:avLst/>
          </a:prstGeom>
          <a:noFill/>
          <a:ln/>
        </p:spPr>
        <p:txBody>
          <a:bodyPr wrap="square" lIns="0" tIns="0" rIns="0" bIns="0" rtlCol="0" anchor="ctr"/>
          <a:lstStyle/>
          <a:p>
            <a:pPr marL="0" indent="0" algn="ctr">
              <a:buNone/>
            </a:pPr>
            <a:r>
              <a:rPr lang="en-US" sz="1600" b="1" dirty="0">
                <a:solidFill>
                  <a:srgbClr val="0B3C49"/>
                </a:solidFill>
                <a:latin typeface="Calibri" pitchFamily="34" charset="0"/>
                <a:ea typeface="Calibri" pitchFamily="34" charset="-122"/>
                <a:cs typeface="Calibri" pitchFamily="34" charset="-120"/>
              </a:rPr>
              <a:t>Write on every other line · Aim for neat, readable handwriting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Check your draft</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CHECK</a:t>
            </a:r>
            <a:endParaRPr lang="en-US" sz="1100" dirty="0"/>
          </a:p>
        </p:txBody>
      </p:sp>
      <p:sp>
        <p:nvSpPr>
          <p:cNvPr id="7" name="Shape 4"/>
          <p:cNvSpPr/>
          <p:nvPr/>
        </p:nvSpPr>
        <p:spPr>
          <a:xfrm>
            <a:off x="731520" y="1371600"/>
            <a:ext cx="5120640" cy="448056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5120640" cy="457200"/>
          </a:xfrm>
          <a:prstGeom prst="rect">
            <a:avLst/>
          </a:prstGeom>
          <a:solidFill>
            <a:srgbClr val="2A9D8F"/>
          </a:solidFill>
          <a:ln/>
        </p:spPr>
      </p:sp>
      <p:sp>
        <p:nvSpPr>
          <p:cNvPr id="9" name="Text 6"/>
          <p:cNvSpPr txBox="1"/>
          <p:nvPr/>
        </p:nvSpPr>
        <p:spPr>
          <a:xfrm>
            <a:off x="868680" y="1371600"/>
            <a:ext cx="484632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PARTNER CHECK</a:t>
            </a:r>
            <a:endParaRPr lang="en-US" sz="1500" dirty="0"/>
          </a:p>
        </p:txBody>
      </p:sp>
      <p:sp>
        <p:nvSpPr>
          <p:cNvPr id="10" name="Text 7"/>
          <p:cNvSpPr txBox="1"/>
          <p:nvPr/>
        </p:nvSpPr>
        <p:spPr>
          <a:xfrm>
            <a:off x="914400" y="1965960"/>
            <a:ext cx="4754880" cy="3749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What is the report about?</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Does each paragraph have one focus?</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Can you find a relative clause?</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 One strength</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 One improvement</a:t>
            </a:r>
            <a:endParaRPr lang="en-US" sz="1700" dirty="0"/>
          </a:p>
        </p:txBody>
      </p:sp>
      <p:sp>
        <p:nvSpPr>
          <p:cNvPr id="11" name="Shape 8"/>
          <p:cNvSpPr/>
          <p:nvPr/>
        </p:nvSpPr>
        <p:spPr>
          <a:xfrm>
            <a:off x="6126480" y="1371600"/>
            <a:ext cx="5303520" cy="448056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6126480" y="1371600"/>
            <a:ext cx="5303520" cy="457200"/>
          </a:xfrm>
          <a:prstGeom prst="rect">
            <a:avLst/>
          </a:prstGeom>
          <a:solidFill>
            <a:srgbClr val="F4A261"/>
          </a:solidFill>
          <a:ln/>
        </p:spPr>
      </p:sp>
      <p:sp>
        <p:nvSpPr>
          <p:cNvPr id="13" name="Text 10"/>
          <p:cNvSpPr txBox="1"/>
          <p:nvPr/>
        </p:nvSpPr>
        <p:spPr>
          <a:xfrm>
            <a:off x="6263640" y="1371600"/>
            <a:ext cx="5029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BEFORE YOU FINISH</a:t>
            </a:r>
            <a:endParaRPr lang="en-US" sz="1500" dirty="0"/>
          </a:p>
        </p:txBody>
      </p:sp>
      <p:sp>
        <p:nvSpPr>
          <p:cNvPr id="14" name="Text 11"/>
          <p:cNvSpPr txBox="1"/>
          <p:nvPr/>
        </p:nvSpPr>
        <p:spPr>
          <a:xfrm>
            <a:off x="6309360" y="1965960"/>
            <a:ext cx="4937760" cy="3749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Present tense throughout?</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Facts not opinions?</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Repetition avoided?</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Connectors used?</a:t>
            </a:r>
            <a:endParaRPr lang="en-US" sz="1700" dirty="0"/>
          </a:p>
          <a:p>
            <a:pPr marL="342900" indent="-342900">
              <a:spcAft>
                <a:spcPts val="600"/>
              </a:spcAft>
              <a:buSzPct val="100000"/>
              <a:buChar char="•"/>
            </a:pPr>
            <a:r>
              <a:rPr lang="en-US" sz="1700" dirty="0">
                <a:solidFill>
                  <a:srgbClr val="0B3C49"/>
                </a:solidFill>
                <a:latin typeface="Calibri" pitchFamily="34" charset="0"/>
                <a:ea typeface="Calibri" pitchFamily="34" charset="-122"/>
                <a:cs typeface="Calibri" pitchFamily="34" charset="-120"/>
              </a:rPr>
              <a:t>Punctuation checked?</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Plenary: share and reflect</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PLENARY</a:t>
            </a:r>
            <a:endParaRPr lang="en-US" sz="1100" dirty="0"/>
          </a:p>
        </p:txBody>
      </p:sp>
      <p:sp>
        <p:nvSpPr>
          <p:cNvPr id="7" name="Shape 4"/>
          <p:cNvSpPr/>
          <p:nvPr/>
        </p:nvSpPr>
        <p:spPr>
          <a:xfrm>
            <a:off x="731520" y="1371600"/>
            <a:ext cx="3383280" cy="3383280"/>
          </a:xfrm>
          <a:prstGeom prst="rect">
            <a:avLst/>
          </a:prstGeom>
          <a:solidFill>
            <a:srgbClr val="FFFFFF"/>
          </a:solidFill>
          <a:ln/>
          <a:effectLst>
            <a:outerShdw blurRad="76200" dist="25400" dir="5400000" algn="bl" rotWithShape="0">
              <a:srgbClr val="000000">
                <a:alpha val="15000"/>
              </a:srgbClr>
            </a:outerShdw>
          </a:effectLst>
        </p:spPr>
      </p:sp>
      <p:sp>
        <p:nvSpPr>
          <p:cNvPr id="8" name="Shape 5"/>
          <p:cNvSpPr/>
          <p:nvPr/>
        </p:nvSpPr>
        <p:spPr>
          <a:xfrm>
            <a:off x="731520" y="1371600"/>
            <a:ext cx="3383280" cy="457200"/>
          </a:xfrm>
          <a:prstGeom prst="rect">
            <a:avLst/>
          </a:prstGeom>
          <a:solidFill>
            <a:srgbClr val="2A9D8F"/>
          </a:solidFill>
          <a:ln/>
        </p:spPr>
      </p:sp>
      <p:sp>
        <p:nvSpPr>
          <p:cNvPr id="9" name="Text 6"/>
          <p:cNvSpPr txBox="1"/>
          <p:nvPr/>
        </p:nvSpPr>
        <p:spPr>
          <a:xfrm>
            <a:off x="8686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SHARE</a:t>
            </a:r>
            <a:endParaRPr lang="en-US" sz="1500" dirty="0"/>
          </a:p>
        </p:txBody>
      </p:sp>
      <p:sp>
        <p:nvSpPr>
          <p:cNvPr id="10" name="Text 7"/>
          <p:cNvSpPr txBox="1"/>
          <p:nvPr/>
        </p:nvSpPr>
        <p:spPr>
          <a:xfrm>
            <a:off x="914400" y="1965960"/>
            <a:ext cx="301752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Read your best sentence aloud</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Class: what makes it effective?</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Topic sentence? Connector? Relative clause?</a:t>
            </a:r>
            <a:endParaRPr lang="en-US" sz="1600" dirty="0"/>
          </a:p>
        </p:txBody>
      </p:sp>
      <p:sp>
        <p:nvSpPr>
          <p:cNvPr id="11" name="Shape 8"/>
          <p:cNvSpPr/>
          <p:nvPr/>
        </p:nvSpPr>
        <p:spPr>
          <a:xfrm>
            <a:off x="4389120" y="1371600"/>
            <a:ext cx="3383280" cy="3383280"/>
          </a:xfrm>
          <a:prstGeom prst="rect">
            <a:avLst/>
          </a:prstGeom>
          <a:solidFill>
            <a:srgbClr val="FFFFFF"/>
          </a:solidFill>
          <a:ln/>
          <a:effectLst>
            <a:outerShdw blurRad="76200" dist="25400" dir="5400000" algn="bl" rotWithShape="0">
              <a:srgbClr val="000000">
                <a:alpha val="15000"/>
              </a:srgbClr>
            </a:outerShdw>
          </a:effectLst>
        </p:spPr>
      </p:sp>
      <p:sp>
        <p:nvSpPr>
          <p:cNvPr id="12" name="Shape 9"/>
          <p:cNvSpPr/>
          <p:nvPr/>
        </p:nvSpPr>
        <p:spPr>
          <a:xfrm>
            <a:off x="4389120" y="1371600"/>
            <a:ext cx="3383280" cy="457200"/>
          </a:xfrm>
          <a:prstGeom prst="rect">
            <a:avLst/>
          </a:prstGeom>
          <a:solidFill>
            <a:srgbClr val="F4A261"/>
          </a:solidFill>
          <a:ln/>
        </p:spPr>
      </p:sp>
      <p:sp>
        <p:nvSpPr>
          <p:cNvPr id="13" name="Text 10"/>
          <p:cNvSpPr txBox="1"/>
          <p:nvPr/>
        </p:nvSpPr>
        <p:spPr>
          <a:xfrm>
            <a:off x="45262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TRAFFIC LIGHTS</a:t>
            </a:r>
            <a:endParaRPr lang="en-US" sz="1500" dirty="0"/>
          </a:p>
        </p:txBody>
      </p:sp>
      <p:sp>
        <p:nvSpPr>
          <p:cNvPr id="14" name="Text 11"/>
          <p:cNvSpPr txBox="1"/>
          <p:nvPr/>
        </p:nvSpPr>
        <p:spPr>
          <a:xfrm>
            <a:off x="4572000" y="1965960"/>
            <a:ext cx="301752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I can write a topic sentence</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I can use connectors to join ideas</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I can use a relative clause</a:t>
            </a:r>
            <a:endParaRPr lang="en-US" sz="1600" dirty="0"/>
          </a:p>
        </p:txBody>
      </p:sp>
      <p:sp>
        <p:nvSpPr>
          <p:cNvPr id="15" name="Shape 12"/>
          <p:cNvSpPr/>
          <p:nvPr/>
        </p:nvSpPr>
        <p:spPr>
          <a:xfrm>
            <a:off x="8046720" y="1371600"/>
            <a:ext cx="3383280" cy="3383280"/>
          </a:xfrm>
          <a:prstGeom prst="rect">
            <a:avLst/>
          </a:prstGeom>
          <a:solidFill>
            <a:srgbClr val="FFFFFF"/>
          </a:solidFill>
          <a:ln/>
          <a:effectLst>
            <a:outerShdw blurRad="76200" dist="25400" dir="5400000" algn="bl" rotWithShape="0">
              <a:srgbClr val="000000">
                <a:alpha val="15000"/>
              </a:srgbClr>
            </a:outerShdw>
          </a:effectLst>
        </p:spPr>
      </p:sp>
      <p:sp>
        <p:nvSpPr>
          <p:cNvPr id="16" name="Shape 13"/>
          <p:cNvSpPr/>
          <p:nvPr/>
        </p:nvSpPr>
        <p:spPr>
          <a:xfrm>
            <a:off x="8046720" y="1371600"/>
            <a:ext cx="3383280" cy="457200"/>
          </a:xfrm>
          <a:prstGeom prst="rect">
            <a:avLst/>
          </a:prstGeom>
          <a:solidFill>
            <a:srgbClr val="E76F51"/>
          </a:solidFill>
          <a:ln/>
        </p:spPr>
      </p:sp>
      <p:sp>
        <p:nvSpPr>
          <p:cNvPr id="17" name="Text 14"/>
          <p:cNvSpPr txBox="1"/>
          <p:nvPr/>
        </p:nvSpPr>
        <p:spPr>
          <a:xfrm>
            <a:off x="8183880" y="1371600"/>
            <a:ext cx="310896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LOOK AHEAD</a:t>
            </a:r>
            <a:endParaRPr lang="en-US" sz="1500" dirty="0"/>
          </a:p>
        </p:txBody>
      </p:sp>
      <p:sp>
        <p:nvSpPr>
          <p:cNvPr id="18" name="Text 15"/>
          <p:cNvSpPr txBox="1"/>
          <p:nvPr/>
        </p:nvSpPr>
        <p:spPr>
          <a:xfrm>
            <a:off x="8229600" y="1965960"/>
            <a:ext cx="301752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What will you improve when you edit?</a:t>
            </a:r>
            <a:endParaRPr lang="en-US" sz="1600" dirty="0"/>
          </a:p>
          <a:p>
            <a:pPr marL="342900" indent="-342900">
              <a:spcAft>
                <a:spcPts val="600"/>
              </a:spcAft>
              <a:buSzPct val="100000"/>
              <a:buChar char="•"/>
            </a:pPr>
            <a:r>
              <a:rPr lang="en-US" sz="1600" dirty="0">
                <a:solidFill>
                  <a:srgbClr val="0B3C49"/>
                </a:solidFill>
                <a:latin typeface="Calibri" pitchFamily="34" charset="0"/>
                <a:ea typeface="Calibri" pitchFamily="34" charset="-122"/>
                <a:cs typeface="Calibri" pitchFamily="34" charset="-120"/>
              </a:rPr>
              <a:t>Which paragraph needs the most work?</a:t>
            </a:r>
            <a:endParaRPr lang="en-US" sz="1600" dirty="0"/>
          </a:p>
        </p:txBody>
      </p:sp>
      <p:sp>
        <p:nvSpPr>
          <p:cNvPr id="19" name="Shape 16"/>
          <p:cNvSpPr/>
          <p:nvPr/>
        </p:nvSpPr>
        <p:spPr>
          <a:xfrm>
            <a:off x="731520" y="5120640"/>
            <a:ext cx="10698480" cy="822960"/>
          </a:xfrm>
          <a:prstGeom prst="rect">
            <a:avLst/>
          </a:prstGeom>
          <a:solidFill>
            <a:srgbClr val="0B3C49"/>
          </a:solidFill>
          <a:ln/>
        </p:spPr>
      </p:sp>
      <p:sp>
        <p:nvSpPr>
          <p:cNvPr id="20" name="Text 17"/>
          <p:cNvSpPr txBox="1"/>
          <p:nvPr/>
        </p:nvSpPr>
        <p:spPr>
          <a:xfrm>
            <a:off x="914400" y="5120640"/>
            <a:ext cx="103327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 I can do it   🟡 I need a little more practice   🔴 I need help</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8F0E0"/>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3C49"/>
          </a:solidFill>
          <a:ln/>
        </p:spPr>
      </p:sp>
      <p:sp>
        <p:nvSpPr>
          <p:cNvPr id="3" name="Shape 1"/>
          <p:cNvSpPr/>
          <p:nvPr/>
        </p:nvSpPr>
        <p:spPr>
          <a:xfrm>
            <a:off x="0" y="868680"/>
            <a:ext cx="12188952" cy="45720"/>
          </a:xfrm>
          <a:prstGeom prst="rect">
            <a:avLst/>
          </a:prstGeom>
          <a:solidFill>
            <a:srgbClr val="F4A261"/>
          </a:solidFill>
          <a:ln/>
        </p:spPr>
      </p:sp>
      <p:sp>
        <p:nvSpPr>
          <p:cNvPr id="4" name="Text 2"/>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Exit ticket 🎫</a:t>
            </a:r>
            <a:endParaRPr lang="en-US" sz="2600" dirty="0"/>
          </a:p>
        </p:txBody>
      </p:sp>
      <p:sp>
        <p:nvSpPr>
          <p:cNvPr id="5" name="Text 3"/>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EXIT</a:t>
            </a:r>
            <a:endParaRPr lang="en-US" sz="1100" dirty="0"/>
          </a:p>
        </p:txBody>
      </p:sp>
      <p:sp>
        <p:nvSpPr>
          <p:cNvPr id="7" name="Shape 4"/>
          <p:cNvSpPr/>
          <p:nvPr/>
        </p:nvSpPr>
        <p:spPr>
          <a:xfrm>
            <a:off x="731520" y="1645920"/>
            <a:ext cx="640080" cy="640080"/>
          </a:xfrm>
          <a:prstGeom prst="ellipse">
            <a:avLst/>
          </a:prstGeom>
          <a:solidFill>
            <a:srgbClr val="2A9D8F"/>
          </a:solidFill>
          <a:ln/>
        </p:spPr>
      </p:sp>
      <p:sp>
        <p:nvSpPr>
          <p:cNvPr id="8" name="Text 5"/>
          <p:cNvSpPr txBox="1"/>
          <p:nvPr/>
        </p:nvSpPr>
        <p:spPr>
          <a:xfrm>
            <a:off x="731520" y="1645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6"/>
          <p:cNvSpPr txBox="1"/>
          <p:nvPr/>
        </p:nvSpPr>
        <p:spPr>
          <a:xfrm>
            <a:off x="1645920" y="13716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How to write a topic sentence? </a:t>
            </a:r>
            <a:endParaRPr lang="en-US" sz="2100" dirty="0"/>
          </a:p>
        </p:txBody>
      </p:sp>
      <p:sp>
        <p:nvSpPr>
          <p:cNvPr id="11" name="Shape 8"/>
          <p:cNvSpPr/>
          <p:nvPr/>
        </p:nvSpPr>
        <p:spPr>
          <a:xfrm>
            <a:off x="731520" y="3246120"/>
            <a:ext cx="640080" cy="640080"/>
          </a:xfrm>
          <a:prstGeom prst="ellipse">
            <a:avLst/>
          </a:prstGeom>
          <a:solidFill>
            <a:srgbClr val="2A9D8F"/>
          </a:solidFill>
          <a:ln/>
        </p:spPr>
      </p:sp>
      <p:sp>
        <p:nvSpPr>
          <p:cNvPr id="12" name="Text 9"/>
          <p:cNvSpPr txBox="1"/>
          <p:nvPr/>
        </p:nvSpPr>
        <p:spPr>
          <a:xfrm>
            <a:off x="731520" y="32461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0"/>
          <p:cNvSpPr txBox="1"/>
          <p:nvPr/>
        </p:nvSpPr>
        <p:spPr>
          <a:xfrm>
            <a:off x="1645920" y="29718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Which connector shows result?</a:t>
            </a:r>
            <a:endParaRPr lang="en-US" sz="2100" dirty="0"/>
          </a:p>
        </p:txBody>
      </p:sp>
      <p:sp>
        <p:nvSpPr>
          <p:cNvPr id="15" name="Shape 12"/>
          <p:cNvSpPr/>
          <p:nvPr/>
        </p:nvSpPr>
        <p:spPr>
          <a:xfrm>
            <a:off x="731520" y="4846320"/>
            <a:ext cx="640080" cy="640080"/>
          </a:xfrm>
          <a:prstGeom prst="ellipse">
            <a:avLst/>
          </a:prstGeom>
          <a:solidFill>
            <a:srgbClr val="2A9D8F"/>
          </a:solidFill>
          <a:ln/>
        </p:spPr>
      </p:sp>
      <p:sp>
        <p:nvSpPr>
          <p:cNvPr id="16" name="Text 13"/>
          <p:cNvSpPr txBox="1"/>
          <p:nvPr/>
        </p:nvSpPr>
        <p:spPr>
          <a:xfrm>
            <a:off x="731520" y="48463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4"/>
          <p:cNvSpPr txBox="1"/>
          <p:nvPr/>
        </p:nvSpPr>
        <p:spPr>
          <a:xfrm>
            <a:off x="1645920" y="45720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What is the purpose of a relative clause?</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6564B-8FD8-A254-0EBB-94F05D9DD9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482099-412A-C07C-9B03-C8A6643DA7F6}"/>
              </a:ext>
            </a:extLst>
          </p:cNvPr>
          <p:cNvSpPr/>
          <p:nvPr/>
        </p:nvSpPr>
        <p:spPr>
          <a:xfrm>
            <a:off x="0" y="0"/>
            <a:ext cx="12188952" cy="868680"/>
          </a:xfrm>
          <a:prstGeom prst="rect">
            <a:avLst/>
          </a:prstGeom>
          <a:solidFill>
            <a:srgbClr val="0B3C49"/>
          </a:solidFill>
          <a:ln/>
        </p:spPr>
      </p:sp>
      <p:sp>
        <p:nvSpPr>
          <p:cNvPr id="3" name="Shape 1">
            <a:extLst>
              <a:ext uri="{FF2B5EF4-FFF2-40B4-BE49-F238E27FC236}">
                <a16:creationId xmlns:a16="http://schemas.microsoft.com/office/drawing/2014/main" id="{01BF7CFA-B946-FFA8-966A-7BCC3F1C0963}"/>
              </a:ext>
            </a:extLst>
          </p:cNvPr>
          <p:cNvSpPr/>
          <p:nvPr/>
        </p:nvSpPr>
        <p:spPr>
          <a:xfrm>
            <a:off x="0" y="868680"/>
            <a:ext cx="12188952" cy="45720"/>
          </a:xfrm>
          <a:prstGeom prst="rect">
            <a:avLst/>
          </a:prstGeom>
          <a:solidFill>
            <a:srgbClr val="F4A261"/>
          </a:solidFill>
          <a:ln/>
        </p:spPr>
      </p:sp>
      <p:sp>
        <p:nvSpPr>
          <p:cNvPr id="4" name="Text 2">
            <a:extLst>
              <a:ext uri="{FF2B5EF4-FFF2-40B4-BE49-F238E27FC236}">
                <a16:creationId xmlns:a16="http://schemas.microsoft.com/office/drawing/2014/main" id="{326B09D4-CCB9-A79B-968F-08B42665B3B0}"/>
              </a:ext>
            </a:extLst>
          </p:cNvPr>
          <p:cNvSpPr txBox="1"/>
          <p:nvPr/>
        </p:nvSpPr>
        <p:spPr>
          <a:xfrm>
            <a:off x="548640" y="91440"/>
            <a:ext cx="9144000" cy="6858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Exit ticket 🎫</a:t>
            </a:r>
            <a:endParaRPr lang="en-US" sz="2600" dirty="0"/>
          </a:p>
        </p:txBody>
      </p:sp>
      <p:sp>
        <p:nvSpPr>
          <p:cNvPr id="5" name="Text 3">
            <a:extLst>
              <a:ext uri="{FF2B5EF4-FFF2-40B4-BE49-F238E27FC236}">
                <a16:creationId xmlns:a16="http://schemas.microsoft.com/office/drawing/2014/main" id="{91A45E6D-9CB8-4F77-3D8B-FBE0755DA9A4}"/>
              </a:ext>
            </a:extLst>
          </p:cNvPr>
          <p:cNvSpPr txBox="1"/>
          <p:nvPr/>
        </p:nvSpPr>
        <p:spPr>
          <a:xfrm>
            <a:off x="10058400" y="246888"/>
            <a:ext cx="1737360" cy="365760"/>
          </a:xfrm>
          <a:prstGeom prst="rect">
            <a:avLst/>
          </a:prstGeom>
          <a:solidFill>
            <a:srgbClr val="F4A261"/>
          </a:solidFill>
          <a:ln/>
        </p:spPr>
        <p:txBody>
          <a:bodyPr wrap="square" lIns="0" tIns="0" rIns="0" bIns="0" rtlCol="0" anchor="ctr"/>
          <a:lstStyle/>
          <a:p>
            <a:pPr marL="0" indent="0" algn="ctr">
              <a:buNone/>
            </a:pPr>
            <a:r>
              <a:rPr lang="en-US" sz="1100" b="1" dirty="0">
                <a:solidFill>
                  <a:srgbClr val="0B3C49"/>
                </a:solidFill>
                <a:latin typeface="Calibri" pitchFamily="34" charset="0"/>
                <a:ea typeface="Calibri" pitchFamily="34" charset="-122"/>
                <a:cs typeface="Calibri" pitchFamily="34" charset="-120"/>
              </a:rPr>
              <a:t>EXIT</a:t>
            </a:r>
            <a:endParaRPr lang="en-US" sz="1100" dirty="0"/>
          </a:p>
        </p:txBody>
      </p:sp>
      <p:sp>
        <p:nvSpPr>
          <p:cNvPr id="7" name="Shape 4">
            <a:extLst>
              <a:ext uri="{FF2B5EF4-FFF2-40B4-BE49-F238E27FC236}">
                <a16:creationId xmlns:a16="http://schemas.microsoft.com/office/drawing/2014/main" id="{65A34EBE-EF7A-1FE3-45C0-B85FEBFB33A5}"/>
              </a:ext>
            </a:extLst>
          </p:cNvPr>
          <p:cNvSpPr/>
          <p:nvPr/>
        </p:nvSpPr>
        <p:spPr>
          <a:xfrm>
            <a:off x="731520" y="1645920"/>
            <a:ext cx="640080" cy="640080"/>
          </a:xfrm>
          <a:prstGeom prst="ellipse">
            <a:avLst/>
          </a:prstGeom>
          <a:solidFill>
            <a:srgbClr val="2A9D8F"/>
          </a:solidFill>
          <a:ln/>
        </p:spPr>
      </p:sp>
      <p:sp>
        <p:nvSpPr>
          <p:cNvPr id="8" name="Text 5">
            <a:extLst>
              <a:ext uri="{FF2B5EF4-FFF2-40B4-BE49-F238E27FC236}">
                <a16:creationId xmlns:a16="http://schemas.microsoft.com/office/drawing/2014/main" id="{0674F265-E704-A138-ECE7-164D6C1D19E4}"/>
              </a:ext>
            </a:extLst>
          </p:cNvPr>
          <p:cNvSpPr txBox="1"/>
          <p:nvPr/>
        </p:nvSpPr>
        <p:spPr>
          <a:xfrm>
            <a:off x="731520" y="1645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6">
            <a:extLst>
              <a:ext uri="{FF2B5EF4-FFF2-40B4-BE49-F238E27FC236}">
                <a16:creationId xmlns:a16="http://schemas.microsoft.com/office/drawing/2014/main" id="{8A932B17-C9DC-77E0-5687-B32C54AC0759}"/>
              </a:ext>
            </a:extLst>
          </p:cNvPr>
          <p:cNvSpPr txBox="1"/>
          <p:nvPr/>
        </p:nvSpPr>
        <p:spPr>
          <a:xfrm>
            <a:off x="1645920" y="13716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How to write a topic sentence? </a:t>
            </a:r>
            <a:endParaRPr lang="en-US" sz="2100" dirty="0"/>
          </a:p>
        </p:txBody>
      </p:sp>
      <p:sp>
        <p:nvSpPr>
          <p:cNvPr id="11" name="Shape 8">
            <a:extLst>
              <a:ext uri="{FF2B5EF4-FFF2-40B4-BE49-F238E27FC236}">
                <a16:creationId xmlns:a16="http://schemas.microsoft.com/office/drawing/2014/main" id="{65423CA7-2134-ADBD-D15D-9CAC0078EDBF}"/>
              </a:ext>
            </a:extLst>
          </p:cNvPr>
          <p:cNvSpPr/>
          <p:nvPr/>
        </p:nvSpPr>
        <p:spPr>
          <a:xfrm>
            <a:off x="731520" y="3246120"/>
            <a:ext cx="640080" cy="640080"/>
          </a:xfrm>
          <a:prstGeom prst="ellipse">
            <a:avLst/>
          </a:prstGeom>
          <a:solidFill>
            <a:srgbClr val="2A9D8F"/>
          </a:solidFill>
          <a:ln/>
        </p:spPr>
      </p:sp>
      <p:sp>
        <p:nvSpPr>
          <p:cNvPr id="12" name="Text 9">
            <a:extLst>
              <a:ext uri="{FF2B5EF4-FFF2-40B4-BE49-F238E27FC236}">
                <a16:creationId xmlns:a16="http://schemas.microsoft.com/office/drawing/2014/main" id="{CF336FA6-0FE1-13E3-6A92-214DCE2975D3}"/>
              </a:ext>
            </a:extLst>
          </p:cNvPr>
          <p:cNvSpPr txBox="1"/>
          <p:nvPr/>
        </p:nvSpPr>
        <p:spPr>
          <a:xfrm>
            <a:off x="731520" y="32461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0">
            <a:extLst>
              <a:ext uri="{FF2B5EF4-FFF2-40B4-BE49-F238E27FC236}">
                <a16:creationId xmlns:a16="http://schemas.microsoft.com/office/drawing/2014/main" id="{F523DE5E-6B20-BEAB-D6A3-00D9D19FE0AA}"/>
              </a:ext>
            </a:extLst>
          </p:cNvPr>
          <p:cNvSpPr txBox="1"/>
          <p:nvPr/>
        </p:nvSpPr>
        <p:spPr>
          <a:xfrm>
            <a:off x="1645920" y="29718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Which connector shows result?</a:t>
            </a:r>
            <a:endParaRPr lang="en-US" sz="2100" dirty="0"/>
          </a:p>
        </p:txBody>
      </p:sp>
      <p:sp>
        <p:nvSpPr>
          <p:cNvPr id="15" name="Shape 12">
            <a:extLst>
              <a:ext uri="{FF2B5EF4-FFF2-40B4-BE49-F238E27FC236}">
                <a16:creationId xmlns:a16="http://schemas.microsoft.com/office/drawing/2014/main" id="{63C172F8-0665-9DE0-533C-F479B9DC881D}"/>
              </a:ext>
            </a:extLst>
          </p:cNvPr>
          <p:cNvSpPr/>
          <p:nvPr/>
        </p:nvSpPr>
        <p:spPr>
          <a:xfrm>
            <a:off x="731520" y="4846320"/>
            <a:ext cx="640080" cy="640080"/>
          </a:xfrm>
          <a:prstGeom prst="ellipse">
            <a:avLst/>
          </a:prstGeom>
          <a:solidFill>
            <a:srgbClr val="2A9D8F"/>
          </a:solidFill>
          <a:ln/>
        </p:spPr>
      </p:sp>
      <p:sp>
        <p:nvSpPr>
          <p:cNvPr id="16" name="Text 13">
            <a:extLst>
              <a:ext uri="{FF2B5EF4-FFF2-40B4-BE49-F238E27FC236}">
                <a16:creationId xmlns:a16="http://schemas.microsoft.com/office/drawing/2014/main" id="{B8F9DA56-D2B7-94B7-0FE7-9377B841074C}"/>
              </a:ext>
            </a:extLst>
          </p:cNvPr>
          <p:cNvSpPr txBox="1"/>
          <p:nvPr/>
        </p:nvSpPr>
        <p:spPr>
          <a:xfrm>
            <a:off x="731520" y="48463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4">
            <a:extLst>
              <a:ext uri="{FF2B5EF4-FFF2-40B4-BE49-F238E27FC236}">
                <a16:creationId xmlns:a16="http://schemas.microsoft.com/office/drawing/2014/main" id="{CA1177FD-C85C-14C2-8FC5-7A903B61A4A4}"/>
              </a:ext>
            </a:extLst>
          </p:cNvPr>
          <p:cNvSpPr txBox="1"/>
          <p:nvPr/>
        </p:nvSpPr>
        <p:spPr>
          <a:xfrm>
            <a:off x="1645920" y="4572000"/>
            <a:ext cx="9601200" cy="640080"/>
          </a:xfrm>
          <a:prstGeom prst="rect">
            <a:avLst/>
          </a:prstGeom>
          <a:noFill/>
          <a:ln/>
        </p:spPr>
        <p:txBody>
          <a:bodyPr wrap="square" lIns="0" tIns="0" rIns="0" bIns="0" rtlCol="0" anchor="ctr"/>
          <a:lstStyle/>
          <a:p>
            <a:pPr marL="0" indent="0">
              <a:buNone/>
            </a:pPr>
            <a:r>
              <a:rPr lang="en-US" sz="2100" b="1" dirty="0">
                <a:solidFill>
                  <a:srgbClr val="0B3C49"/>
                </a:solidFill>
                <a:latin typeface="Calibri" pitchFamily="34" charset="0"/>
                <a:ea typeface="Calibri" pitchFamily="34" charset="-122"/>
                <a:cs typeface="Calibri" pitchFamily="34" charset="-120"/>
              </a:rPr>
              <a:t>What is the purpose of a relative clause?</a:t>
            </a:r>
            <a:endParaRPr lang="en-US" sz="2100" dirty="0"/>
          </a:p>
        </p:txBody>
      </p:sp>
      <p:sp>
        <p:nvSpPr>
          <p:cNvPr id="10" name="TextBox 9">
            <a:extLst>
              <a:ext uri="{FF2B5EF4-FFF2-40B4-BE49-F238E27FC236}">
                <a16:creationId xmlns:a16="http://schemas.microsoft.com/office/drawing/2014/main" id="{49E34AF3-3B1E-4BDA-F172-0B11C95BD9C2}"/>
              </a:ext>
            </a:extLst>
          </p:cNvPr>
          <p:cNvSpPr txBox="1"/>
          <p:nvPr/>
        </p:nvSpPr>
        <p:spPr>
          <a:xfrm>
            <a:off x="1645920" y="1956839"/>
            <a:ext cx="7035900" cy="646331"/>
          </a:xfrm>
          <a:prstGeom prst="rect">
            <a:avLst/>
          </a:prstGeom>
          <a:noFill/>
        </p:spPr>
        <p:txBody>
          <a:bodyPr wrap="none" rtlCol="0">
            <a:spAutoFit/>
          </a:bodyPr>
          <a:lstStyle/>
          <a:p>
            <a:r>
              <a:rPr lang="en-US" b="1" dirty="0">
                <a:latin typeface="Calibri" pitchFamily="34" charset="0"/>
                <a:ea typeface="Calibri" pitchFamily="34" charset="-122"/>
                <a:cs typeface="Calibri" pitchFamily="34" charset="-120"/>
              </a:rPr>
              <a:t>SUBJECT</a:t>
            </a:r>
            <a:r>
              <a:rPr lang="en-US" dirty="0">
                <a:latin typeface="Calibri" pitchFamily="34" charset="0"/>
                <a:ea typeface="Calibri" pitchFamily="34" charset="-122"/>
                <a:cs typeface="Calibri" pitchFamily="34" charset="-120"/>
              </a:rPr>
              <a:t>  (who or what?)   +   </a:t>
            </a:r>
            <a:r>
              <a:rPr lang="en-US" b="1" dirty="0">
                <a:latin typeface="Calibri" pitchFamily="34" charset="0"/>
                <a:ea typeface="Calibri" pitchFamily="34" charset="-122"/>
                <a:cs typeface="Calibri" pitchFamily="34" charset="-120"/>
              </a:rPr>
              <a:t>FOCUS</a:t>
            </a:r>
            <a:r>
              <a:rPr lang="en-US" dirty="0">
                <a:latin typeface="Calibri" pitchFamily="34" charset="0"/>
                <a:ea typeface="Calibri" pitchFamily="34" charset="-122"/>
                <a:cs typeface="Calibri" pitchFamily="34" charset="-120"/>
              </a:rPr>
              <a:t>  (what about it?)   =   topic sentence</a:t>
            </a:r>
            <a:endParaRPr lang="en-US" dirty="0"/>
          </a:p>
          <a:p>
            <a:endParaRPr lang="en-US" dirty="0"/>
          </a:p>
        </p:txBody>
      </p:sp>
      <p:sp>
        <p:nvSpPr>
          <p:cNvPr id="14" name="TextBox 13">
            <a:extLst>
              <a:ext uri="{FF2B5EF4-FFF2-40B4-BE49-F238E27FC236}">
                <a16:creationId xmlns:a16="http://schemas.microsoft.com/office/drawing/2014/main" id="{8D70AD3F-83C1-B41A-91B0-052C520D232B}"/>
              </a:ext>
            </a:extLst>
          </p:cNvPr>
          <p:cNvSpPr txBox="1"/>
          <p:nvPr/>
        </p:nvSpPr>
        <p:spPr>
          <a:xfrm>
            <a:off x="1734797" y="3618289"/>
            <a:ext cx="1215397" cy="369332"/>
          </a:xfrm>
          <a:prstGeom prst="rect">
            <a:avLst/>
          </a:prstGeom>
          <a:noFill/>
        </p:spPr>
        <p:txBody>
          <a:bodyPr wrap="none" rtlCol="0">
            <a:spAutoFit/>
          </a:bodyPr>
          <a:lstStyle/>
          <a:p>
            <a:r>
              <a:rPr lang="en-US" dirty="0"/>
              <a:t>As a result,</a:t>
            </a:r>
          </a:p>
        </p:txBody>
      </p:sp>
      <p:sp>
        <p:nvSpPr>
          <p:cNvPr id="18" name="TextBox 17">
            <a:extLst>
              <a:ext uri="{FF2B5EF4-FFF2-40B4-BE49-F238E27FC236}">
                <a16:creationId xmlns:a16="http://schemas.microsoft.com/office/drawing/2014/main" id="{3F0F24D5-4CB4-9422-A789-4D804152B7AB}"/>
              </a:ext>
            </a:extLst>
          </p:cNvPr>
          <p:cNvSpPr txBox="1"/>
          <p:nvPr/>
        </p:nvSpPr>
        <p:spPr>
          <a:xfrm>
            <a:off x="1645920" y="5301734"/>
            <a:ext cx="2582758" cy="369332"/>
          </a:xfrm>
          <a:prstGeom prst="rect">
            <a:avLst/>
          </a:prstGeom>
          <a:noFill/>
        </p:spPr>
        <p:txBody>
          <a:bodyPr wrap="none" rtlCol="0">
            <a:spAutoFit/>
          </a:bodyPr>
          <a:lstStyle/>
          <a:p>
            <a:r>
              <a:rPr lang="en-US" dirty="0"/>
              <a:t>To add extra information </a:t>
            </a:r>
          </a:p>
        </p:txBody>
      </p:sp>
    </p:spTree>
    <p:extLst>
      <p:ext uri="{BB962C8B-B14F-4D97-AF65-F5344CB8AC3E}">
        <p14:creationId xmlns:p14="http://schemas.microsoft.com/office/powerpoint/2010/main" val="2721232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0B3C49"/>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1097280" cy="1097280"/>
          </a:xfrm>
          <a:prstGeom prst="rect">
            <a:avLst/>
          </a:prstGeom>
          <a:noFill/>
          <a:ln/>
        </p:spPr>
        <p:txBody>
          <a:bodyPr wrap="square" lIns="0" tIns="0" rIns="0" bIns="0" rtlCol="0" anchor="ctr"/>
          <a:lstStyle/>
          <a:p>
            <a:pPr marL="0" indent="0">
              <a:buNone/>
            </a:pPr>
            <a:r>
              <a:rPr lang="en-US" sz="5000" dirty="0">
                <a:solidFill>
                  <a:srgbClr val="000000"/>
                </a:solidFill>
              </a:rPr>
              <a:t>✍️</a:t>
            </a:r>
            <a:endParaRPr lang="en-US" sz="5000" dirty="0"/>
          </a:p>
        </p:txBody>
      </p:sp>
      <p:sp>
        <p:nvSpPr>
          <p:cNvPr id="3" name="Text 1"/>
          <p:cNvSpPr txBox="1"/>
          <p:nvPr/>
        </p:nvSpPr>
        <p:spPr>
          <a:xfrm>
            <a:off x="2011680" y="822960"/>
            <a:ext cx="9144000" cy="91440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Homework: finish your draft</a:t>
            </a:r>
            <a:endParaRPr lang="en-US" sz="4000" dirty="0"/>
          </a:p>
        </p:txBody>
      </p:sp>
      <p:sp>
        <p:nvSpPr>
          <p:cNvPr id="4" name="Text 2"/>
          <p:cNvSpPr txBox="1"/>
          <p:nvPr/>
        </p:nvSpPr>
        <p:spPr>
          <a:xfrm>
            <a:off x="731520" y="2194560"/>
            <a:ext cx="10515600" cy="118872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Finish your first draft about your creature.</a:t>
            </a:r>
            <a:endParaRPr lang="en-US" sz="2200" dirty="0"/>
          </a:p>
          <a:p>
            <a:pPr marL="0" indent="0">
              <a:buNone/>
            </a:pPr>
            <a:r>
              <a:rPr lang="en-US" sz="2200" dirty="0">
                <a:solidFill>
                  <a:srgbClr val="FFFFFF"/>
                </a:solidFill>
                <a:latin typeface="Calibri" pitchFamily="34" charset="0"/>
                <a:ea typeface="Calibri" pitchFamily="34" charset="-122"/>
                <a:cs typeface="Calibri" pitchFamily="34" charset="-120"/>
              </a:rPr>
              <a:t>Read it aloud to someone at home. Does it sound clear and well organised?</a:t>
            </a:r>
            <a:endParaRPr lang="en-US" sz="2200" dirty="0"/>
          </a:p>
        </p:txBody>
      </p:sp>
      <p:sp>
        <p:nvSpPr>
          <p:cNvPr id="5" name="Shape 3"/>
          <p:cNvSpPr/>
          <p:nvPr/>
        </p:nvSpPr>
        <p:spPr>
          <a:xfrm>
            <a:off x="731520" y="3840480"/>
            <a:ext cx="10698480" cy="1645920"/>
          </a:xfrm>
          <a:prstGeom prst="rect">
            <a:avLst/>
          </a:prstGeom>
          <a:solidFill>
            <a:srgbClr val="2A9D8F"/>
          </a:solidFill>
          <a:ln/>
        </p:spPr>
      </p:sp>
      <p:sp>
        <p:nvSpPr>
          <p:cNvPr id="6" name="Text 4"/>
          <p:cNvSpPr txBox="1"/>
          <p:nvPr/>
        </p:nvSpPr>
        <p:spPr>
          <a:xfrm>
            <a:off x="1005840" y="3840480"/>
            <a:ext cx="10149840" cy="1645920"/>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NEXT SESSION  </a:t>
            </a:r>
            <a:r>
              <a:rPr lang="en-US" sz="2000" dirty="0">
                <a:solidFill>
                  <a:srgbClr val="FFFFFF"/>
                </a:solidFill>
                <a:latin typeface="Calibri" pitchFamily="34" charset="0"/>
                <a:ea typeface="Calibri" pitchFamily="34" charset="-122"/>
                <a:cs typeface="Calibri" pitchFamily="34" charset="-120"/>
              </a:rPr>
              <a:t>Editing and improving your draft: precise vocabulary, sentence variety, punctuation, and checking against the success criteria.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3483</Words>
  <Application>Microsoft Office PowerPoint</Application>
  <PresentationFormat>Widescreen</PresentationFormat>
  <Paragraphs>391</Paragraphs>
  <Slides>28</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3</cp:revision>
  <dcterms:created xsi:type="dcterms:W3CDTF">2026-10-11T20:14:44Z</dcterms:created>
  <dcterms:modified xsi:type="dcterms:W3CDTF">2026-10-11T21:42:14Z</dcterms:modified>
</cp:coreProperties>
</file>