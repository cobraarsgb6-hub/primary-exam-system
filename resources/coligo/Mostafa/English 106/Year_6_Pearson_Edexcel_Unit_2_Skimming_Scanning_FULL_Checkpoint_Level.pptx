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448" autoAdjust="0"/>
  </p:normalViewPr>
  <p:slideViewPr>
    <p:cSldViewPr snapToGrid="0" snapToObjects="1">
      <p:cViewPr varScale="1">
        <p:scale>
          <a:sx n="74" d="100"/>
          <a:sy n="74" d="100"/>
        </p:scale>
        <p:origin x="11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42B9D8-E4B6-480C-99BA-B41E5F998C05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C57122-9685-47B2-812B-1EF730B44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180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C57122-9685-47B2-812B-1EF730B4447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328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B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READ SMARTER. FIND FASTER.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BAB36"/>
                </a:solidFill>
              </a:defRPr>
            </a:pPr>
            <a:r>
              <a:t>UNIT 2 • NON-FICTION READING • TWO RUNNING 45-MINUTE SESSIONS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EBAB36"/>
                </a:solidFill>
              </a:defRPr>
            </a:pPr>
            <a:r>
              <a:t>YEAR 6 • PEARSON EDEXCEL • UNIT 2 • BOTH SESSIONS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6583680" cy="640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3500" b="1">
                <a:solidFill>
                  <a:srgbClr val="14233A"/>
                </a:solidFill>
              </a:defRPr>
            </a:pPr>
            <a:r>
              <a:t>SKIMMING + SCANNING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6492240" cy="11430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300" b="0">
                <a:solidFill>
                  <a:srgbClr val="00808A"/>
                </a:solidFill>
              </a:defRPr>
            </a:pPr>
            <a:r>
              <a:t>From “What is this text mainly about?”</a:t>
            </a:r>
          </a:p>
          <a:p>
            <a:pPr algn="l">
              <a:spcAft>
                <a:spcPts val="400"/>
              </a:spcAft>
              <a:defRPr sz="2300" b="0">
                <a:solidFill>
                  <a:srgbClr val="00808A"/>
                </a:solidFill>
              </a:defRPr>
            </a:pPr>
            <a:r>
              <a:t>to “Where exactly is the evidence?”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554480"/>
            <a:ext cx="35661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54112" y="1636776"/>
            <a:ext cx="3328415" cy="140817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400"/>
              </a:spcAft>
              <a:defRPr sz="1900" b="1">
                <a:solidFill>
                  <a:srgbClr val="14233A"/>
                </a:solidFill>
              </a:defRPr>
            </a:pPr>
            <a:r>
              <a:t>SESSION 1</a:t>
            </a:r>
          </a:p>
          <a:p>
            <a:pPr algn="ctr">
              <a:spcAft>
                <a:spcPts val="400"/>
              </a:spcAft>
              <a:defRPr sz="1900" b="1">
                <a:solidFill>
                  <a:srgbClr val="14233A"/>
                </a:solidFill>
              </a:defRPr>
            </a:pPr>
            <a:r>
              <a:t>SKIMMING + MAIN IDEA</a:t>
            </a:r>
          </a:p>
          <a:p>
            <a:pPr algn="ctr">
              <a:spcAft>
                <a:spcPts val="400"/>
              </a:spcAft>
              <a:defRPr sz="1900" b="1">
                <a:solidFill>
                  <a:srgbClr val="14233A"/>
                </a:solidFill>
              </a:defRPr>
            </a:pPr>
            <a:r>
              <a:t>45 MINUTES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383280"/>
            <a:ext cx="35661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54112" y="3465576"/>
            <a:ext cx="3328415" cy="140817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400"/>
              </a:spcAft>
              <a:defRPr sz="1900" b="1">
                <a:solidFill>
                  <a:srgbClr val="00808A"/>
                </a:solidFill>
              </a:defRPr>
            </a:pPr>
            <a:r>
              <a:t>SESSION 2</a:t>
            </a:r>
          </a:p>
          <a:p>
            <a:pPr algn="ctr">
              <a:spcAft>
                <a:spcPts val="400"/>
              </a:spcAft>
              <a:defRPr sz="1900" b="1">
                <a:solidFill>
                  <a:srgbClr val="00808A"/>
                </a:solidFill>
              </a:defRPr>
            </a:pPr>
            <a:r>
              <a:t>SCANNING + RETRIEVAL</a:t>
            </a:r>
          </a:p>
          <a:p>
            <a:pPr algn="ctr">
              <a:spcAft>
                <a:spcPts val="400"/>
              </a:spcAft>
              <a:defRPr sz="1900" b="1">
                <a:solidFill>
                  <a:srgbClr val="00808A"/>
                </a:solidFill>
              </a:defRPr>
            </a:pPr>
            <a:r>
              <a:t>45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57800"/>
            <a:ext cx="10515600" cy="50292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400"/>
              </a:spcAft>
              <a:defRPr sz="1500" b="0">
                <a:solidFill>
                  <a:srgbClr val="14233A"/>
                </a:solidFill>
              </a:defRPr>
            </a:pPr>
            <a:r>
              <a:t>Designed from the Pearson Edexcel International Primary English Year 6 reading requirements.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B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Why this lesson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BAB36"/>
                </a:solidFill>
              </a:defRPr>
            </a:pPr>
            <a:r>
              <a:t>Specification alignment — not a generic reading lesson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EBAB36"/>
                </a:solidFill>
              </a:defRPr>
            </a:pPr>
            <a:r>
              <a:t>YEAR 6 • PEARSON EDEXCEL • UNIT 2 • BOTH SESSIONS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0352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408176"/>
            <a:ext cx="5065776" cy="177393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4233A"/>
                </a:solidFill>
              </a:defRPr>
            </a:pPr>
            <a:r>
              <a:t>READING 1.1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14233A"/>
                </a:solidFill>
              </a:defRPr>
            </a:pPr>
            <a:r>
              <a:t>Retrieve information, events or ideas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14233A"/>
                </a:solidFill>
              </a:defRPr>
            </a:pPr>
            <a:r>
              <a:t>→ Skimming and scanning to locate and retrieve information from selected sections and different points across a 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30352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6792" y="1408176"/>
            <a:ext cx="5065776" cy="177393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4233A"/>
                </a:solidFill>
              </a:defRPr>
            </a:pPr>
            <a:r>
              <a:t>READING 1.2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14233A"/>
                </a:solidFill>
              </a:defRPr>
            </a:pPr>
            <a:r>
              <a:t>Deduce, infer or interpret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14233A"/>
                </a:solidFill>
              </a:defRPr>
            </a:pPr>
            <a:r>
              <a:t>→ Use context, structure, words and phrases; support inference with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66160"/>
            <a:ext cx="530352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3648456"/>
            <a:ext cx="5065776" cy="177393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4233A"/>
                </a:solidFill>
              </a:defRPr>
            </a:pPr>
            <a:r>
              <a:t>READING 1.3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14233A"/>
                </a:solidFill>
              </a:defRPr>
            </a:pPr>
            <a:r>
              <a:t>Structure and organisation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14233A"/>
                </a:solidFill>
              </a:defRPr>
            </a:pPr>
            <a:r>
              <a:t>→ Understand how structural, presentational and organisational features are deployed.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66160"/>
            <a:ext cx="530352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36792" y="3648456"/>
            <a:ext cx="5065776" cy="177393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4233A"/>
                </a:solidFill>
              </a:defRPr>
            </a:pPr>
            <a:r>
              <a:t>READING 1.5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14233A"/>
                </a:solidFill>
              </a:defRPr>
            </a:pPr>
            <a:r>
              <a:t>Purpose and viewpoint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14233A"/>
                </a:solidFill>
              </a:defRPr>
            </a:pPr>
            <a:r>
              <a:t>→ Identify main purpose; purpose and audience of non-fiction; distinguish fact/opinion; predict themes/purposes.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10424160" cy="4114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00808A"/>
                </a:solidFill>
              </a:defRPr>
            </a:pPr>
            <a:r>
              <a:t>The official specification also expects experience with non-fiction such as newspaper/magazine articles and reports, written to inform, explain, describe, argue or persuade.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Assessment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00808A"/>
                </a:solidFill>
              </a:defRPr>
            </a:pPr>
            <a:r>
              <a:t>What we are preparing students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00808A"/>
                </a:solidFill>
              </a:defRPr>
            </a:pPr>
            <a:r>
              <a:t>YEAR 6 • PEARSON EDEXCEL • UNIT 2 • BOTH SESSIONS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1208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499616"/>
            <a:ext cx="4974336" cy="209397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Pearson reading section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• Two texts based on a theme: one non-fiction and one fiction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• 30 marks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• Closed and short-open response questions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• Students complete all questions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1208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6792" y="1499616"/>
            <a:ext cx="4974336" cy="209397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900" b="0">
                <a:solidFill>
                  <a:srgbClr val="00808A"/>
                </a:solidFill>
              </a:defRPr>
            </a:pPr>
            <a:r>
              <a:t>So our classroom practice must move beyond “find the answer”.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00808A"/>
                </a:solidFill>
              </a:defRPr>
            </a:pPr>
            <a:r>
              <a:t>Students need to: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00808A"/>
                </a:solidFill>
              </a:defRPr>
            </a:pPr>
            <a:r>
              <a:t>• locate evidence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00808A"/>
                </a:solidFill>
              </a:defRPr>
            </a:pPr>
            <a:r>
              <a:t>• retrieve across a text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00808A"/>
                </a:solidFill>
              </a:defRPr>
            </a:pPr>
            <a:r>
              <a:t>• infer from clues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00808A"/>
                </a:solidFill>
              </a:defRPr>
            </a:pPr>
            <a:r>
              <a:t>• understand purpose and organisation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00808A"/>
                </a:solidFill>
              </a:defRPr>
            </a:pPr>
            <a:r>
              <a:t>• answer precisely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10241280" cy="11430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4233A"/>
                </a:solidFill>
              </a:defRPr>
            </a:pPr>
            <a:r>
              <a:t>Today’s focus is 1.1 retrieval through skimming/scanning, while deliberately touching 1.2, 1.3 and 1.5 so the reading habit is broader than a single technique.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B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Session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BAB36"/>
                </a:solidFill>
              </a:defRPr>
            </a:pPr>
            <a:r>
              <a:t>45 minutes 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EBAB36"/>
                </a:solidFill>
              </a:defRPr>
            </a:pPr>
            <a:r>
              <a:t>YEAR 6 • PEARSON EDEXCEL • UNIT 2 • BOTH SESSIONS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0352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453896"/>
            <a:ext cx="5065776" cy="387705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SESSION 1 — SKIMMING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5 Starter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8 Explicit teaching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8 Teacher think-aloud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10 Guided text analysis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10 Independent reading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4 Exit ticket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6792" y="1453896"/>
            <a:ext cx="5065776" cy="387705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00808A"/>
                </a:solidFill>
              </a:defRPr>
            </a:pPr>
            <a:r>
              <a:t>SESSION 2 — SCANNING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00808A"/>
                </a:solidFill>
              </a:defRPr>
            </a:pPr>
            <a:r>
              <a:t>5 Retrieval starter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00808A"/>
                </a:solidFill>
              </a:defRPr>
            </a:pPr>
            <a:r>
              <a:t>8 Explicit teaching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00808A"/>
                </a:solidFill>
              </a:defRPr>
            </a:pPr>
            <a:r>
              <a:t>8 Teacher model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00808A"/>
                </a:solidFill>
              </a:defRPr>
            </a:pPr>
            <a:r>
              <a:t>10 Guided information hunt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00808A"/>
                </a:solidFill>
              </a:defRPr>
            </a:pPr>
            <a:r>
              <a:t>10 Independent Checkpoint-style set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00808A"/>
                </a:solidFill>
              </a:defRPr>
            </a:pPr>
            <a:r>
              <a:t>4 Exit ticket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B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Starter • 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BAB36"/>
                </a:solidFill>
              </a:defRPr>
            </a:pPr>
            <a:r>
              <a:t>The text is here — students must read it before answering.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EBAB36"/>
                </a:solidFill>
              </a:defRPr>
            </a:pPr>
            <a:r>
              <a:t>YEAR 6 • PEARSON EDEXCEL • UNIT 2 •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852160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408176"/>
            <a:ext cx="5614416" cy="433425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4233A"/>
                </a:solidFill>
              </a:defRPr>
            </a:pPr>
            <a:r>
              <a:t>THE CITY THAT LEARNED TO BREATHE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14233A"/>
                </a:solidFill>
              </a:defRPr>
            </a:pPr>
            <a:endParaRPr/>
          </a:p>
          <a:p>
            <a:pPr algn="l">
              <a:spcAft>
                <a:spcPts val="400"/>
              </a:spcAft>
              <a:defRPr sz="2000" b="1">
                <a:solidFill>
                  <a:srgbClr val="14233A"/>
                </a:solidFill>
              </a:defRPr>
            </a:pPr>
            <a:r>
              <a:t>Read ONLY the title and the six section headings below. Do NOT read the full article yet.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14233A"/>
                </a:solidFill>
              </a:defRPr>
            </a:pPr>
            <a:endParaRPr/>
          </a:p>
          <a:p>
            <a:pPr algn="l">
              <a:spcAft>
                <a:spcPts val="400"/>
              </a:spcAft>
              <a:defRPr sz="2000" b="1">
                <a:solidFill>
                  <a:srgbClr val="14233A"/>
                </a:solidFill>
              </a:defRPr>
            </a:pPr>
            <a:r>
              <a:t>1. A Problem Hiding in Plain Sight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14233A"/>
                </a:solidFill>
              </a:defRPr>
            </a:pPr>
            <a:r>
              <a:t>2. Why Trees Can Help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14233A"/>
                </a:solidFill>
              </a:defRPr>
            </a:pPr>
            <a:r>
              <a:t>3. More Than Trees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14233A"/>
                </a:solidFill>
              </a:defRPr>
            </a:pPr>
            <a:r>
              <a:t>4. Changing How People Travel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14233A"/>
                </a:solidFill>
              </a:defRPr>
            </a:pPr>
            <a:r>
              <a:t>5. A City-Wide Solution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325880"/>
            <a:ext cx="4800600" cy="4480560"/>
          </a:xfrm>
          <a:prstGeom prst="roundRect">
            <a:avLst/>
          </a:prstGeom>
          <a:solidFill>
            <a:srgbClr val="E3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39712" y="1408176"/>
            <a:ext cx="4562856" cy="433425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00808A"/>
                </a:solidFill>
              </a:defRPr>
            </a:pPr>
            <a:r>
              <a:t>PREDICT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00808A"/>
                </a:solidFill>
              </a:defRPr>
            </a:pPr>
            <a:r>
              <a:t>1. What is the article most likely about?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00808A"/>
                </a:solidFill>
              </a:defRPr>
            </a:pPr>
            <a:r>
              <a:t>2. Which TWO ideas do you expect to be important?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00808A"/>
                </a:solidFill>
              </a:defRPr>
            </a:pPr>
            <a:r>
              <a:t>3. Which section do you predict will discuss transport?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00808A"/>
                </a:solidFill>
              </a:defRPr>
            </a:pPr>
            <a:endParaRPr/>
          </a:p>
          <a:p>
            <a:pPr algn="l">
              <a:spcAft>
                <a:spcPts val="400"/>
              </a:spcAft>
              <a:defRPr sz="1800" b="0">
                <a:solidFill>
                  <a:srgbClr val="00808A"/>
                </a:solidFill>
              </a:defRPr>
            </a:pPr>
            <a:r>
              <a:t>THINK → PAIR → JUSTIFY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00808A"/>
                </a:solidFill>
              </a:defRPr>
            </a:pPr>
            <a:r>
              <a:t>You must point to a clue from the title or headings.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B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Starter •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BAB36"/>
                </a:solidFill>
              </a:defRPr>
            </a:pPr>
            <a:r>
              <a:t>Reveal after students justify their predictions.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EBAB36"/>
                </a:solidFill>
              </a:defRPr>
            </a:pPr>
            <a:r>
              <a:t>YEAR 6 • PEARSON EDEXCEL • UNIT 2 •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69848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453896"/>
            <a:ext cx="10460736" cy="341985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1. Likely main topic: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How cities can reduce air pollution and become healthier/greener.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endParaRPr/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2. Likely important ideas: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Possible answers include trees/vegetation, transport, pollution, green spaces, combined solutions.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endParaRPr/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3. Transport: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Section 4 — “Changing How People Travel”.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332720" cy="640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00808A"/>
                </a:solidFill>
              </a:defRPr>
            </a:pPr>
            <a:r>
              <a:t>Why this is SKIMMING: we are using the title + headings to build a map of the whole text before close reading.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Teach • What is skimming?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00808A"/>
                </a:solidFill>
              </a:defRPr>
            </a:pPr>
            <a:r>
              <a:t>8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00808A"/>
                </a:solidFill>
              </a:defRPr>
            </a:pPr>
            <a:r>
              <a:t>YEAR 6 • PEARSON EDEXCEL • UNIT 2 •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280160"/>
            <a:ext cx="10515600" cy="731520"/>
          </a:xfrm>
          <a:prstGeom prst="round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362456"/>
            <a:ext cx="10277856" cy="58521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400"/>
              </a:spcAft>
              <a:defRPr sz="2700" b="1">
                <a:solidFill>
                  <a:srgbClr val="FFFFFF"/>
                </a:solidFill>
              </a:defRPr>
            </a:pPr>
            <a:r>
              <a:t>SKIM = BUILD THE BIG PICTURE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31720"/>
            <a:ext cx="5120640" cy="2834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2414015"/>
            <a:ext cx="4882896" cy="268833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When I skim, I deliberately look at: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• title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• headings/subheadings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• opening sentences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• repeated ideas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• visual/organisational clues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• the overall direction of the 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331720"/>
            <a:ext cx="4754880" cy="2834640"/>
          </a:xfrm>
          <a:prstGeom prst="roundRect">
            <a:avLst/>
          </a:prstGeom>
          <a:solidFill>
            <a:srgbClr val="E3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414015"/>
            <a:ext cx="4517136" cy="268833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100" b="1">
                <a:solidFill>
                  <a:srgbClr val="00808A"/>
                </a:solidFill>
              </a:defRPr>
            </a:pPr>
            <a:r>
              <a:t>I am asking:</a:t>
            </a:r>
          </a:p>
          <a:p>
            <a:pPr algn="l">
              <a:spcAft>
                <a:spcPts val="400"/>
              </a:spcAft>
              <a:defRPr sz="2100" b="1">
                <a:solidFill>
                  <a:srgbClr val="00808A"/>
                </a:solidFill>
              </a:defRPr>
            </a:pPr>
            <a:r>
              <a:t>“What is this text mainly about?”</a:t>
            </a:r>
          </a:p>
          <a:p>
            <a:pPr algn="l">
              <a:spcAft>
                <a:spcPts val="400"/>
              </a:spcAft>
              <a:defRPr sz="2100" b="1">
                <a:solidFill>
                  <a:srgbClr val="00808A"/>
                </a:solidFill>
              </a:defRPr>
            </a:pPr>
            <a:endParaRPr/>
          </a:p>
          <a:p>
            <a:pPr algn="l">
              <a:spcAft>
                <a:spcPts val="400"/>
              </a:spcAft>
              <a:defRPr sz="2100" b="1">
                <a:solidFill>
                  <a:srgbClr val="00808A"/>
                </a:solidFill>
              </a:defRPr>
            </a:pPr>
            <a:r>
              <a:t>I am NOT trying to memorise every detail.</a:t>
            </a:r>
          </a:p>
          <a:p>
            <a:pPr algn="l">
              <a:spcAft>
                <a:spcPts val="400"/>
              </a:spcAft>
              <a:defRPr sz="2100" b="1">
                <a:solidFill>
                  <a:srgbClr val="00808A"/>
                </a:solidFill>
              </a:defRPr>
            </a:pPr>
            <a:endParaRPr/>
          </a:p>
          <a:p>
            <a:pPr algn="l">
              <a:spcAft>
                <a:spcPts val="400"/>
              </a:spcAft>
              <a:defRPr sz="2100" b="1">
                <a:solidFill>
                  <a:srgbClr val="00808A"/>
                </a:solidFill>
              </a:defRPr>
            </a:pPr>
            <a:r>
              <a:t>Expert readers skim with a purpose.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Teacher think-aloud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00808A"/>
                </a:solidFill>
              </a:defRPr>
            </a:pPr>
            <a:r>
              <a:t>Use the actual full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00808A"/>
                </a:solidFill>
              </a:defRPr>
            </a:pPr>
            <a:r>
              <a:t>YEAR 6 • PEARSON EDEXCEL • UNIT 2 •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80160"/>
            <a:ext cx="10972800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362456"/>
            <a:ext cx="10735056" cy="428853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LOOK 1 — TITLE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“The City That Learned to Breathe”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→ suggests a city + environment/air.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endParaRPr/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LOOK 2 — HEADINGS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Problem → trees → green spaces → transport → combined solution.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endParaRPr/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LOOK 3 — PREDICT THE STRUCTURE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The writer will probably explain a problem, consider possible responses and end with a broader solution.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806440"/>
            <a:ext cx="10149840" cy="4114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00808A"/>
                </a:solidFill>
              </a:defRPr>
            </a:pPr>
            <a:r>
              <a:t>Teacher language: “I am not guessing randomly. Every prediction must come from a visible clue.”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Guided • Pass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00808A"/>
                </a:solidFill>
              </a:defRPr>
            </a:pPr>
            <a:r>
              <a:t>Skim in 90 seconds — no close reading yet.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00808A"/>
                </a:solidFill>
              </a:defRPr>
            </a:pPr>
            <a:r>
              <a:t>YEAR 6 • PEARSON EDEXCEL • UNIT 2 •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069848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408176"/>
            <a:ext cx="10460736" cy="41970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100" b="0">
                <a:solidFill>
                  <a:srgbClr val="14233A"/>
                </a:solidFill>
              </a:defRPr>
            </a:pPr>
            <a:r>
              <a:t>Your job: create a 5-part map.</a:t>
            </a:r>
          </a:p>
          <a:p>
            <a:pPr algn="l">
              <a:spcAft>
                <a:spcPts val="400"/>
              </a:spcAft>
              <a:defRPr sz="2100" b="0">
                <a:solidFill>
                  <a:srgbClr val="14233A"/>
                </a:solidFill>
              </a:defRPr>
            </a:pPr>
            <a:endParaRPr/>
          </a:p>
          <a:p>
            <a:pPr algn="l">
              <a:spcAft>
                <a:spcPts val="400"/>
              </a:spcAft>
              <a:defRPr sz="2100" b="0">
                <a:solidFill>
                  <a:srgbClr val="14233A"/>
                </a:solidFill>
              </a:defRPr>
            </a:pPr>
            <a:r>
              <a:t>For each section, write ONE or TWO words that capture its focus.</a:t>
            </a:r>
          </a:p>
          <a:p>
            <a:pPr algn="l">
              <a:spcAft>
                <a:spcPts val="400"/>
              </a:spcAft>
              <a:defRPr sz="2100" b="0">
                <a:solidFill>
                  <a:srgbClr val="14233A"/>
                </a:solidFill>
              </a:defRPr>
            </a:pPr>
            <a:endParaRPr/>
          </a:p>
          <a:p>
            <a:pPr algn="l">
              <a:spcAft>
                <a:spcPts val="400"/>
              </a:spcAft>
              <a:defRPr sz="2100" b="0">
                <a:solidFill>
                  <a:srgbClr val="14233A"/>
                </a:solidFill>
              </a:defRPr>
            </a:pPr>
            <a:r>
              <a:t>1. A Problem Hiding in Plain Sight → ______</a:t>
            </a:r>
          </a:p>
          <a:p>
            <a:pPr algn="l">
              <a:spcAft>
                <a:spcPts val="400"/>
              </a:spcAft>
              <a:defRPr sz="2100" b="0">
                <a:solidFill>
                  <a:srgbClr val="14233A"/>
                </a:solidFill>
              </a:defRPr>
            </a:pPr>
            <a:r>
              <a:t>2. Why Trees Can Help → ______</a:t>
            </a:r>
          </a:p>
          <a:p>
            <a:pPr algn="l">
              <a:spcAft>
                <a:spcPts val="400"/>
              </a:spcAft>
              <a:defRPr sz="2100" b="0">
                <a:solidFill>
                  <a:srgbClr val="14233A"/>
                </a:solidFill>
              </a:defRPr>
            </a:pPr>
            <a:r>
              <a:t>3. More Than Trees → ______</a:t>
            </a:r>
          </a:p>
          <a:p>
            <a:pPr algn="l">
              <a:spcAft>
                <a:spcPts val="400"/>
              </a:spcAft>
              <a:defRPr sz="2100" b="0">
                <a:solidFill>
                  <a:srgbClr val="14233A"/>
                </a:solidFill>
              </a:defRPr>
            </a:pPr>
            <a:r>
              <a:t>4. Changing How People Travel → ______</a:t>
            </a:r>
          </a:p>
          <a:p>
            <a:pPr algn="l">
              <a:spcAft>
                <a:spcPts val="400"/>
              </a:spcAft>
              <a:defRPr sz="2100" b="0">
                <a:solidFill>
                  <a:srgbClr val="14233A"/>
                </a:solidFill>
              </a:defRPr>
            </a:pPr>
            <a:r>
              <a:t>5. A City-Wide Solution → 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332720" cy="4114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00808A"/>
                </a:solidFill>
              </a:defRPr>
            </a:pPr>
            <a:r>
              <a:t>PAIR CHECK: Can you explain the article’s journey from PROBLEM → RESPONSES → WIDER SOLUTION?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B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Guided •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BAB36"/>
                </a:solidFill>
              </a:defRPr>
            </a:pPr>
            <a:r>
              <a:t>Reveal after pairs complete their map.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EBAB36"/>
                </a:solidFill>
              </a:defRPr>
            </a:pPr>
            <a:r>
              <a:t>YEAR 6 • PEARSON EDEXCEL • UNIT 2 •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417320"/>
            <a:ext cx="502920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499616"/>
            <a:ext cx="4791456" cy="3328415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4233A"/>
                </a:solidFill>
              </a:defRPr>
            </a:pPr>
            <a:r>
              <a:t>1. Pollution / urban air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14233A"/>
                </a:solidFill>
              </a:defRPr>
            </a:pPr>
            <a:r>
              <a:t>2. Trees / vegetation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14233A"/>
                </a:solidFill>
              </a:defRPr>
            </a:pPr>
            <a:r>
              <a:t>3. Green spaces / wider benefits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14233A"/>
                </a:solidFill>
              </a:defRPr>
            </a:pPr>
            <a:r>
              <a:t>4. Transport / travel choices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14233A"/>
                </a:solidFill>
              </a:defRPr>
            </a:pPr>
            <a:r>
              <a:t>5. Combined city-wide 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42976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9672" y="1499616"/>
            <a:ext cx="4059936" cy="3328415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400"/>
              </a:spcAft>
              <a:defRPr sz="2300" b="1">
                <a:solidFill>
                  <a:srgbClr val="00808A"/>
                </a:solidFill>
              </a:defRPr>
            </a:pPr>
            <a:r>
              <a:t>The structure matters:</a:t>
            </a:r>
          </a:p>
          <a:p>
            <a:pPr algn="ctr">
              <a:spcAft>
                <a:spcPts val="400"/>
              </a:spcAft>
              <a:defRPr sz="2300" b="1">
                <a:solidFill>
                  <a:srgbClr val="00808A"/>
                </a:solidFill>
              </a:defRPr>
            </a:pPr>
            <a:endParaRPr/>
          </a:p>
          <a:p>
            <a:pPr algn="ctr">
              <a:spcAft>
                <a:spcPts val="400"/>
              </a:spcAft>
              <a:defRPr sz="2300" b="1">
                <a:solidFill>
                  <a:srgbClr val="00808A"/>
                </a:solidFill>
              </a:defRPr>
            </a:pPr>
            <a:r>
              <a:t>PROBLEM</a:t>
            </a:r>
          </a:p>
          <a:p>
            <a:pPr algn="ctr">
              <a:spcAft>
                <a:spcPts val="400"/>
              </a:spcAft>
              <a:defRPr sz="2300" b="1">
                <a:solidFill>
                  <a:srgbClr val="00808A"/>
                </a:solidFill>
              </a:defRPr>
            </a:pPr>
            <a:r>
              <a:t>↓</a:t>
            </a:r>
          </a:p>
          <a:p>
            <a:pPr algn="ctr">
              <a:spcAft>
                <a:spcPts val="400"/>
              </a:spcAft>
              <a:defRPr sz="2300" b="1">
                <a:solidFill>
                  <a:srgbClr val="00808A"/>
                </a:solidFill>
              </a:defRPr>
            </a:pPr>
            <a:r>
              <a:t>POSSIBLE RESPONSES</a:t>
            </a:r>
          </a:p>
          <a:p>
            <a:pPr algn="ctr">
              <a:spcAft>
                <a:spcPts val="400"/>
              </a:spcAft>
              <a:defRPr sz="2300" b="1">
                <a:solidFill>
                  <a:srgbClr val="00808A"/>
                </a:solidFill>
              </a:defRPr>
            </a:pPr>
            <a:r>
              <a:t>↓</a:t>
            </a:r>
          </a:p>
          <a:p>
            <a:pPr algn="ctr">
              <a:spcAft>
                <a:spcPts val="400"/>
              </a:spcAft>
              <a:defRPr sz="2300" b="1">
                <a:solidFill>
                  <a:srgbClr val="00808A"/>
                </a:solidFill>
              </a:defRPr>
            </a:pPr>
            <a:r>
              <a:t>LIMITS / CHALLENGES</a:t>
            </a:r>
          </a:p>
          <a:p>
            <a:pPr algn="ctr">
              <a:spcAft>
                <a:spcPts val="400"/>
              </a:spcAft>
              <a:defRPr sz="2300" b="1">
                <a:solidFill>
                  <a:srgbClr val="00808A"/>
                </a:solidFill>
              </a:defRPr>
            </a:pPr>
            <a:r>
              <a:t>↓</a:t>
            </a:r>
          </a:p>
          <a:p>
            <a:pPr algn="ctr">
              <a:spcAft>
                <a:spcPts val="400"/>
              </a:spcAft>
              <a:defRPr sz="2300" b="1">
                <a:solidFill>
                  <a:srgbClr val="00808A"/>
                </a:solidFill>
              </a:defRPr>
            </a:pPr>
            <a:r>
              <a:t>COMBINED SOLUTION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Guided • Activity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00808A"/>
                </a:solidFill>
              </a:defRPr>
            </a:pPr>
            <a:r>
              <a:t>Main idea vs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00808A"/>
                </a:solidFill>
              </a:defRPr>
            </a:pPr>
            <a:r>
              <a:t>YEAR 6 • PEARSON EDEXCEL • UNIT 2 •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1097280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408176"/>
            <a:ext cx="10735056" cy="424281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Which is the BEST overall summary?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endParaRPr/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A. Trees can trap some particles on their leaves.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B. Some schools have created small gardens.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C. Cities can reduce pollution and improve quality of life by combining greener spaces, transport changes and other practical actions.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D. Cycle lanes can make streets safer.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endParaRPr/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Explain why the other three are weaker.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332720" cy="4114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00808A"/>
                </a:solidFill>
              </a:defRPr>
            </a:pPr>
            <a:r>
              <a:t>Challenge: underline the words in the BEST answer that cover the whole article.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B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Guided •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BAB36"/>
                </a:solidFill>
              </a:defRPr>
            </a:pPr>
            <a:r>
              <a:t>Why C is the best overall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EBAB36"/>
                </a:solidFill>
              </a:defRPr>
            </a:pPr>
            <a:r>
              <a:t>YEAR 6 • PEARSON EDEXCEL • UNIT 2 •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2011680" cy="914400"/>
          </a:xfrm>
          <a:prstGeom prst="round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1499616"/>
            <a:ext cx="1773936" cy="7680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400"/>
              </a:spcAft>
              <a:defRPr sz="3100" b="1">
                <a:solidFill>
                  <a:srgbClr val="FFFFFF"/>
                </a:solidFill>
              </a:defRPr>
            </a:pPr>
            <a:r>
              <a:t>✓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25880"/>
            <a:ext cx="758952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02152" y="1408176"/>
            <a:ext cx="7351776" cy="341985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C covers the major ideas across the article: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• reducing pollution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• greener spaces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• transport changes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• combining approaches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• improving quality of life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endParaRPr/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A, B and D are accurate details, but none represents the whole 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349240"/>
            <a:ext cx="10149840" cy="54864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00808A"/>
                </a:solidFill>
              </a:defRPr>
            </a:pPr>
            <a:r>
              <a:t>Exam habit: a main-idea answer must represent the TEXT AS A WHOLE, not one interesting paragraph.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Guided • Activity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00808A"/>
                </a:solidFill>
              </a:defRPr>
            </a:pPr>
            <a:r>
              <a:t>Retrieval across different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00808A"/>
                </a:solidFill>
              </a:defRPr>
            </a:pPr>
            <a:r>
              <a:t>YEAR 6 • PEARSON EDEXCEL • UNIT 2 •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799" y="1280160"/>
            <a:ext cx="11328149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362456"/>
            <a:ext cx="11082528" cy="3387594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rPr sz="2400" dirty="0"/>
              <a:t>Answer from the full article.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endParaRPr sz="2400" dirty="0"/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rPr sz="2400" dirty="0"/>
              <a:t>1. What do monitoring stations measure?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rPr sz="2400" dirty="0"/>
              <a:t>2. Why can cities become hotter than nearby rural areas?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rPr sz="2400" dirty="0"/>
              <a:t>3. Why is planting a tree “not a magic solution”?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rPr sz="2400" dirty="0"/>
              <a:t>4. Give TWO examples of small green projects.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rPr sz="2400" dirty="0"/>
              <a:t>5. How can transport changes give people more choices?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rPr sz="2400" dirty="0"/>
              <a:t>6. Why does the writer say there is “no single action” that can solve urban air pollution?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B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Guided •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BAB36"/>
                </a:solidFill>
              </a:defRPr>
            </a:pPr>
            <a:r>
              <a:t>Evidence-based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EBAB36"/>
                </a:solidFill>
              </a:defRPr>
            </a:pPr>
            <a:r>
              <a:t>YEAR 6 • PEARSON EDEXCEL • UNIT 2 •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159764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537" y="1839843"/>
            <a:ext cx="11478463" cy="291567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r>
              <a:rPr sz="2400" dirty="0"/>
              <a:t>1. What is in the air / pollution levels and changes over time.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r>
              <a:rPr sz="2400" dirty="0"/>
              <a:t>2. Built-up areas can become much hotter, especially during heatwaves.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r>
              <a:rPr sz="2400" dirty="0"/>
              <a:t>3. Trees have different needs and need suitable conditions/space/water/protection.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r>
              <a:rPr sz="2400" dirty="0"/>
              <a:t>4. School gardens; planted unused corners / green roofs / green walls.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r>
              <a:rPr sz="2400" dirty="0"/>
              <a:t>5. They can make walking/cycling/public transport easier and reduce dependence on cars.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r>
              <a:rPr sz="2400" dirty="0"/>
              <a:t>6. Because different actions solve different parts of the problem; effective change combines approaches.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Independent • 10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00808A"/>
                </a:solidFill>
              </a:defRPr>
            </a:pPr>
            <a:r>
              <a:t>Checkpoint-style short-open responses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00808A"/>
                </a:solidFill>
              </a:defRPr>
            </a:pPr>
            <a:r>
              <a:t>YEAR 6 • PEARSON EDEXCEL • UNIT 2 •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80160"/>
            <a:ext cx="10972800" cy="4617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362456"/>
            <a:ext cx="10735056" cy="28951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rPr sz="2000" dirty="0"/>
              <a:t>Read the article again. Answer in precise sentences.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endParaRPr sz="2000" dirty="0"/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rPr sz="2000" dirty="0"/>
              <a:t>1. What is the writer’s main purpose?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rPr sz="2000" dirty="0"/>
              <a:t>2. Which section would you read to find information about green roofs and walls?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rPr sz="2000" dirty="0"/>
              <a:t>3. What does “a network of green spaces” suggest?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rPr sz="2000" dirty="0"/>
              <a:t>4. Give ONE reason why transport changes can take time.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rPr sz="2000" dirty="0"/>
              <a:t>5. Which TWO groups, apart from scientists, are mentioned as having a role in change?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rPr sz="2000" dirty="0"/>
              <a:t>6. Write ONE sentence explaining the writer’s overall viewpoint.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B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Independent •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2008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BAB36"/>
                </a:solidFill>
              </a:defRPr>
            </a:pPr>
            <a:r>
              <a:rPr sz="1600" dirty="0"/>
              <a:t>Mark for accuracy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EBAB36"/>
                </a:solidFill>
              </a:defRPr>
            </a:pPr>
            <a:r>
              <a:t>YEAR 6 • PEARSON EDEXCEL • UNIT 2 •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1064240" cy="4800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16736"/>
            <a:ext cx="10826496" cy="3654334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r>
              <a:rPr sz="2400" dirty="0"/>
              <a:t>1. To explain the problem of urban air pollution and describe practical approaches that can make cities healthier and greener.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r>
              <a:rPr sz="2400" dirty="0"/>
              <a:t>2. Section 3 — More Than Trees.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r>
              <a:rPr sz="2400" dirty="0"/>
              <a:t>3. It suggests that many separate green areas can connect/collectively provide benefits across a city.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r>
              <a:rPr sz="2400" dirty="0"/>
              <a:t>4. New routes require planning/investment OR road use may need to change.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r>
              <a:rPr sz="2400" dirty="0"/>
              <a:t>5. Any two: city planners, schools, businesses, residents.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r>
              <a:rPr sz="2400" dirty="0"/>
              <a:t>6. The writer believes there is no single perfect solution; cities should combine practical, evidence-based actions.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B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Exit ticket • 4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BAB36"/>
                </a:solidFill>
              </a:defRPr>
            </a:pPr>
            <a:r>
              <a:t>One final skimming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EBAB36"/>
                </a:solidFill>
              </a:defRPr>
            </a:pPr>
            <a:r>
              <a:t>YEAR 6 • PEARSON EDEXCEL • UNIT 2 •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459" y="1417320"/>
            <a:ext cx="11775541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16152" y="1499616"/>
            <a:ext cx="9729216" cy="323697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400"/>
              </a:spcAft>
              <a:defRPr sz="2300" b="1">
                <a:solidFill>
                  <a:srgbClr val="14233A"/>
                </a:solidFill>
              </a:defRPr>
            </a:pPr>
            <a:r>
              <a:rPr dirty="0"/>
              <a:t>You have 30 seconds before reading a long non-fiction article in an assessment.</a:t>
            </a:r>
          </a:p>
          <a:p>
            <a:pPr algn="ctr">
              <a:spcAft>
                <a:spcPts val="400"/>
              </a:spcAft>
              <a:defRPr sz="2300" b="1">
                <a:solidFill>
                  <a:srgbClr val="14233A"/>
                </a:solidFill>
              </a:defRPr>
            </a:pPr>
            <a:endParaRPr dirty="0"/>
          </a:p>
          <a:p>
            <a:pPr algn="ctr">
              <a:spcAft>
                <a:spcPts val="400"/>
              </a:spcAft>
              <a:defRPr sz="2300" b="1">
                <a:solidFill>
                  <a:srgbClr val="14233A"/>
                </a:solidFill>
              </a:defRPr>
            </a:pPr>
            <a:r>
              <a:rPr dirty="0"/>
              <a:t>What should you do FIRST?</a:t>
            </a:r>
          </a:p>
          <a:p>
            <a:pPr algn="ctr">
              <a:spcAft>
                <a:spcPts val="400"/>
              </a:spcAft>
              <a:defRPr sz="2300" b="1">
                <a:solidFill>
                  <a:srgbClr val="14233A"/>
                </a:solidFill>
              </a:defRPr>
            </a:pPr>
            <a:endParaRPr dirty="0"/>
          </a:p>
          <a:p>
            <a:pPr algn="ctr">
              <a:spcAft>
                <a:spcPts val="400"/>
              </a:spcAft>
              <a:defRPr sz="2300" b="1">
                <a:solidFill>
                  <a:srgbClr val="14233A"/>
                </a:solidFill>
              </a:defRPr>
            </a:pPr>
            <a:r>
              <a:rPr dirty="0"/>
              <a:t>A. Read every sentence carefully.</a:t>
            </a:r>
          </a:p>
          <a:p>
            <a:pPr algn="ctr">
              <a:spcAft>
                <a:spcPts val="400"/>
              </a:spcAft>
              <a:defRPr sz="2300" b="1">
                <a:solidFill>
                  <a:srgbClr val="14233A"/>
                </a:solidFill>
              </a:defRPr>
            </a:pPr>
            <a:r>
              <a:rPr dirty="0"/>
              <a:t>B. Look at the title, headings and overall structure.</a:t>
            </a:r>
          </a:p>
          <a:p>
            <a:pPr algn="ctr">
              <a:spcAft>
                <a:spcPts val="400"/>
              </a:spcAft>
              <a:defRPr sz="2300" b="1">
                <a:solidFill>
                  <a:srgbClr val="14233A"/>
                </a:solidFill>
              </a:defRPr>
            </a:pPr>
            <a:r>
              <a:rPr dirty="0"/>
              <a:t>C. Search immediately for one date.</a:t>
            </a:r>
          </a:p>
          <a:p>
            <a:pPr algn="ctr">
              <a:spcAft>
                <a:spcPts val="400"/>
              </a:spcAft>
              <a:defRPr sz="2300" b="1">
                <a:solidFill>
                  <a:srgbClr val="14233A"/>
                </a:solidFill>
              </a:defRPr>
            </a:pPr>
            <a:r>
              <a:rPr dirty="0"/>
              <a:t>D. Start writing an answer.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166360"/>
            <a:ext cx="8412480" cy="4572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00808A"/>
                </a:solidFill>
              </a:defRPr>
            </a:pPr>
            <a:r>
              <a:t>Explain your choice in ONE sentence.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B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Exit ticket •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BAB36"/>
                </a:solidFill>
              </a:defRPr>
            </a:pPr>
            <a:r>
              <a:t>Reveal after students commit.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EBAB36"/>
                </a:solidFill>
              </a:defRPr>
            </a:pPr>
            <a:r>
              <a:t>YEAR 6 • PEARSON EDEXCEL • UNIT 2 •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10332720" cy="1005840"/>
          </a:xfrm>
          <a:prstGeom prst="round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1682496"/>
            <a:ext cx="10094976" cy="85953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400"/>
              </a:spcAft>
              <a:defRPr sz="2700" b="1">
                <a:solidFill>
                  <a:srgbClr val="FFFFFF"/>
                </a:solidFill>
              </a:defRPr>
            </a:pPr>
            <a:r>
              <a:t>✓ B — Look at the title, headings and overall structure.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63240"/>
            <a:ext cx="9875520" cy="935641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400"/>
              </a:spcAft>
              <a:defRPr sz="2100" b="0">
                <a:solidFill>
                  <a:srgbClr val="14233A"/>
                </a:solidFill>
              </a:defRPr>
            </a:pPr>
            <a:r>
              <a:rPr sz="2800" dirty="0"/>
              <a:t>This gives you the BIG PICTURE and helps you predict where information may appear. That is purposeful skimming.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800600"/>
            <a:ext cx="9875520" cy="54864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00808A"/>
                </a:solidFill>
              </a:defRPr>
            </a:pPr>
            <a:r>
              <a:t>NEXT: SCANNING — finding exact information across a longer text.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B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Session 2 • Starter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BAB36"/>
                </a:solidFill>
              </a:defRPr>
            </a:pPr>
            <a:r>
              <a:t>Retrieve from yesterday’s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EBAB36"/>
                </a:solidFill>
              </a:defRPr>
            </a:pPr>
            <a:r>
              <a:t>YEAR 6 • PEARSON EDEXCEL • UNIT 2 • SESSION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64008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408176"/>
            <a:ext cx="6163056" cy="2997744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200" b="0">
                <a:solidFill>
                  <a:srgbClr val="14233A"/>
                </a:solidFill>
              </a:defRPr>
            </a:pPr>
            <a:r>
              <a:rPr sz="2800" b="1" dirty="0"/>
              <a:t>SKIM or SCAN?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14233A"/>
                </a:solidFill>
              </a:defRPr>
            </a:pPr>
            <a:endParaRPr dirty="0"/>
          </a:p>
          <a:p>
            <a:pPr algn="l">
              <a:spcAft>
                <a:spcPts val="400"/>
              </a:spcAft>
              <a:defRPr sz="2200" b="0">
                <a:solidFill>
                  <a:srgbClr val="14233A"/>
                </a:solidFill>
              </a:defRPr>
            </a:pPr>
            <a:r>
              <a:rPr dirty="0"/>
              <a:t>1. </a:t>
            </a:r>
            <a:r>
              <a:rPr sz="2400" dirty="0"/>
              <a:t>What is the overall purpose of the article?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14233A"/>
                </a:solidFill>
              </a:defRPr>
            </a:pPr>
            <a:r>
              <a:rPr sz="2400" dirty="0"/>
              <a:t>2. Which section discusses transport?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14233A"/>
                </a:solidFill>
              </a:defRPr>
            </a:pPr>
            <a:r>
              <a:rPr sz="2400" dirty="0"/>
              <a:t>3. What do monitoring stations measure?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14233A"/>
                </a:solidFill>
              </a:defRPr>
            </a:pPr>
            <a:r>
              <a:rPr sz="2400" dirty="0"/>
              <a:t>4. Which groups have a role in change?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14233A"/>
                </a:solidFill>
              </a:defRPr>
            </a:pPr>
            <a:r>
              <a:rPr sz="2400" dirty="0"/>
              <a:t>5. What is the writer’s final recommendation?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325880"/>
            <a:ext cx="3931920" cy="4114800"/>
          </a:xfrm>
          <a:prstGeom prst="roundRect">
            <a:avLst/>
          </a:prstGeom>
          <a:solidFill>
            <a:srgbClr val="E3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25512" y="1408176"/>
            <a:ext cx="3694176" cy="39684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00808A"/>
                </a:solidFill>
              </a:defRPr>
            </a:pPr>
            <a:r>
              <a:t>Before answering each one, label it:</a:t>
            </a:r>
          </a:p>
          <a:p>
            <a:pPr algn="ctr">
              <a:spcAft>
                <a:spcPts val="400"/>
              </a:spcAft>
              <a:defRPr sz="2000" b="1">
                <a:solidFill>
                  <a:srgbClr val="00808A"/>
                </a:solidFill>
              </a:defRPr>
            </a:pPr>
            <a:endParaRPr/>
          </a:p>
          <a:p>
            <a:pPr algn="ctr">
              <a:spcAft>
                <a:spcPts val="400"/>
              </a:spcAft>
              <a:defRPr sz="2000" b="1">
                <a:solidFill>
                  <a:srgbClr val="00808A"/>
                </a:solidFill>
              </a:defRPr>
            </a:pPr>
            <a:r>
              <a:t>BIG PICTURE = SKIM</a:t>
            </a:r>
          </a:p>
          <a:p>
            <a:pPr algn="ctr">
              <a:spcAft>
                <a:spcPts val="400"/>
              </a:spcAft>
              <a:defRPr sz="2000" b="1">
                <a:solidFill>
                  <a:srgbClr val="00808A"/>
                </a:solidFill>
              </a:defRPr>
            </a:pPr>
            <a:r>
              <a:t>SPECIFIC INFORMATION = SCAN</a:t>
            </a:r>
          </a:p>
          <a:p>
            <a:pPr algn="ctr">
              <a:spcAft>
                <a:spcPts val="400"/>
              </a:spcAft>
              <a:defRPr sz="2000" b="1">
                <a:solidFill>
                  <a:srgbClr val="00808A"/>
                </a:solidFill>
              </a:defRPr>
            </a:pPr>
            <a:endParaRPr/>
          </a:p>
          <a:p>
            <a:pPr algn="ctr">
              <a:spcAft>
                <a:spcPts val="400"/>
              </a:spcAft>
              <a:defRPr sz="2000" b="1">
                <a:solidFill>
                  <a:srgbClr val="00808A"/>
                </a:solidFill>
              </a:defRPr>
            </a:pPr>
            <a:r>
              <a:t>Challenge: Which questions require you to move between different parts of the article?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B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Starter •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BAB36"/>
                </a:solidFill>
              </a:defRPr>
            </a:pPr>
            <a:r>
              <a:t>Reveal after students classify the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EBAB36"/>
                </a:solidFill>
              </a:defRPr>
            </a:pPr>
            <a:r>
              <a:t>YEAR 6 • PEARSON EDEXCEL • UNIT 2 • SESSION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24128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1499616"/>
            <a:ext cx="10003536" cy="296265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4233A"/>
                </a:solidFill>
              </a:defRPr>
            </a:pPr>
            <a:r>
              <a:t>1. SKIM — overall purpose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14233A"/>
                </a:solidFill>
              </a:defRPr>
            </a:pPr>
            <a:r>
              <a:t>2. SCAN — locate the transport section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14233A"/>
                </a:solidFill>
              </a:defRPr>
            </a:pPr>
            <a:r>
              <a:t>3. SCAN — exact information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14233A"/>
                </a:solidFill>
              </a:defRPr>
            </a:pPr>
            <a:r>
              <a:t>4. SCAN — retrieve named groups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14233A"/>
                </a:solidFill>
              </a:defRPr>
            </a:pPr>
            <a:r>
              <a:t>5. SKIM + close reading — final viewpoint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983480"/>
            <a:ext cx="10149840" cy="73152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00808A"/>
                </a:solidFill>
              </a:defRPr>
            </a:pPr>
            <a:r>
              <a:t>Important: real reading questions can require MORE THAN ONE skill. Scanning gets you to the evidence; then you must read and understand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Teach • What is scanning?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00808A"/>
                </a:solidFill>
              </a:defRPr>
            </a:pPr>
            <a:r>
              <a:t>8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00808A"/>
                </a:solidFill>
              </a:defRPr>
            </a:pPr>
            <a:r>
              <a:t>YEAR 6 • PEARSON EDEXCEL • UNIT 2 • SESSION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80160"/>
            <a:ext cx="10835640" cy="731520"/>
          </a:xfrm>
          <a:prstGeom prst="round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362456"/>
            <a:ext cx="10597896" cy="58521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SCAN = LOCATE A SPECIFIC PIECE OF INFORMATION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52120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2414015"/>
            <a:ext cx="4974336" cy="30540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THE 5-STEP SCAN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1. Read the question.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2. Identify the key content word(s).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3. Predict where the information may appear.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4. Search the text for the word OR a related word/idea.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5. Read around the match and verify.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331720"/>
            <a:ext cx="4663440" cy="3200400"/>
          </a:xfrm>
          <a:prstGeom prst="roundRect">
            <a:avLst/>
          </a:prstGeom>
          <a:solidFill>
            <a:srgbClr val="E3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2414015"/>
            <a:ext cx="4425696" cy="30540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400"/>
              </a:spcAft>
              <a:defRPr sz="1900" b="1">
                <a:solidFill>
                  <a:srgbClr val="00808A"/>
                </a:solidFill>
              </a:defRPr>
            </a:pPr>
            <a:r>
              <a:t>Good scan targets:</a:t>
            </a:r>
          </a:p>
          <a:p>
            <a:pPr algn="ctr">
              <a:spcAft>
                <a:spcPts val="400"/>
              </a:spcAft>
              <a:defRPr sz="1900" b="1">
                <a:solidFill>
                  <a:srgbClr val="00808A"/>
                </a:solidFill>
              </a:defRPr>
            </a:pPr>
            <a:r>
              <a:t>DATES • NAMES • NUMBERS</a:t>
            </a:r>
          </a:p>
          <a:p>
            <a:pPr algn="ctr">
              <a:spcAft>
                <a:spcPts val="400"/>
              </a:spcAft>
              <a:defRPr sz="1900" b="1">
                <a:solidFill>
                  <a:srgbClr val="00808A"/>
                </a:solidFill>
              </a:defRPr>
            </a:pPr>
            <a:r>
              <a:t>PLACES • TERMS • CAUSES</a:t>
            </a:r>
          </a:p>
          <a:p>
            <a:pPr algn="ctr">
              <a:spcAft>
                <a:spcPts val="400"/>
              </a:spcAft>
              <a:defRPr sz="1900" b="1">
                <a:solidFill>
                  <a:srgbClr val="00808A"/>
                </a:solidFill>
              </a:defRPr>
            </a:pPr>
            <a:r>
              <a:t>EXAMPLES • SPECIFIC EVENTS</a:t>
            </a:r>
          </a:p>
          <a:p>
            <a:pPr algn="ctr">
              <a:spcAft>
                <a:spcPts val="400"/>
              </a:spcAft>
              <a:defRPr sz="1900" b="1">
                <a:solidFill>
                  <a:srgbClr val="00808A"/>
                </a:solidFill>
              </a:defRPr>
            </a:pPr>
            <a:endParaRPr/>
          </a:p>
          <a:p>
            <a:pPr algn="ctr">
              <a:spcAft>
                <a:spcPts val="400"/>
              </a:spcAft>
              <a:defRPr sz="1900" b="1">
                <a:solidFill>
                  <a:srgbClr val="00808A"/>
                </a:solidFill>
              </a:defRPr>
            </a:pPr>
            <a:r>
              <a:t>Do not stop at the first matching word. CHECK THE CONTEXT.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Teacher model • 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00808A"/>
                </a:solidFill>
              </a:defRPr>
            </a:pPr>
            <a:r>
              <a:t>Question → keyword → location → evidence →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00808A"/>
                </a:solidFill>
              </a:defRPr>
            </a:pPr>
            <a:r>
              <a:t>YEAR 6 • PEARSON EDEXCEL • UNIT 2 • SESSION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0352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408176"/>
            <a:ext cx="5065776" cy="415137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QUESTION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Why can a night train journey sometimes avoid the need for a hotel?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endParaRPr/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KEYWORDS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night train / hotel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endParaRPr/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PREDICT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Look in the section explaining how night trains work / their benefits.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endParaRPr/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SEARCH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14233A"/>
                </a:solidFill>
              </a:defRPr>
            </a:pPr>
            <a:r>
              <a:t>Find the sentence about completing the journey in one trip.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47548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91072" y="1408176"/>
            <a:ext cx="4517136" cy="415137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900" b="0">
                <a:solidFill>
                  <a:srgbClr val="00808A"/>
                </a:solidFill>
              </a:defRPr>
            </a:pPr>
            <a:r>
              <a:t>EVIDENCE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00808A"/>
                </a:solidFill>
              </a:defRPr>
            </a:pPr>
            <a:r>
              <a:t>“A journey that might otherwise require a hotel and a flight can sometimes be completed in one trip.”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00808A"/>
                </a:solidFill>
              </a:defRPr>
            </a:pPr>
            <a:endParaRPr/>
          </a:p>
          <a:p>
            <a:pPr algn="l">
              <a:spcAft>
                <a:spcPts val="400"/>
              </a:spcAft>
              <a:defRPr sz="1900" b="0">
                <a:solidFill>
                  <a:srgbClr val="00808A"/>
                </a:solidFill>
              </a:defRPr>
            </a:pPr>
            <a:r>
              <a:t>ANSWER</a:t>
            </a:r>
          </a:p>
          <a:p>
            <a:pPr algn="l">
              <a:spcAft>
                <a:spcPts val="400"/>
              </a:spcAft>
              <a:defRPr sz="1900" b="0">
                <a:solidFill>
                  <a:srgbClr val="00808A"/>
                </a:solidFill>
              </a:defRPr>
            </a:pPr>
            <a:r>
              <a:t>Because passengers can travel overnight and arrive the next day without needing a separate hotel stay.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Guided • Activity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00808A"/>
                </a:solidFill>
              </a:defRPr>
            </a:pPr>
            <a:r>
              <a:t>Keyword surgery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00808A"/>
                </a:solidFill>
              </a:defRPr>
            </a:pPr>
            <a:r>
              <a:t>YEAR 6 • PEARSON EDEXCEL • UNIT 2 • SESSION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80160"/>
            <a:ext cx="109270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362456"/>
            <a:ext cx="10689336" cy="424281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For each question, underline the BEST search word or phrase.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endParaRPr/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1. Why has interest in overnight rail travel returned?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2. Which facilities might a night train provide?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3. What can make a night-train route complicated?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4. What items might travellers bring for a night journey?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5. Why are night trains unlikely to replace every flight?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806440"/>
            <a:ext cx="10149840" cy="4114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00808A"/>
                </a:solidFill>
              </a:defRPr>
            </a:pPr>
            <a:r>
              <a:t>Do not answer yet. Your first job is to choose the search terms.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B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Guided •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BAB36"/>
                </a:solidFill>
              </a:defRPr>
            </a:pPr>
            <a:r>
              <a:t>Best search terms +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EBAB36"/>
                </a:solidFill>
              </a:defRPr>
            </a:pPr>
            <a:r>
              <a:t>YEAR 6 • PEARSON EDEXCEL • UNIT 2 • SESSION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48640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453896"/>
            <a:ext cx="5248656" cy="341985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4233A"/>
                </a:solidFill>
              </a:defRPr>
            </a:pPr>
            <a:r>
              <a:t>1. interest returned / reasons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14233A"/>
                </a:solidFill>
              </a:defRPr>
            </a:pPr>
            <a:r>
              <a:t>2. facilities / sleeping / couchettes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14233A"/>
                </a:solidFill>
              </a:defRPr>
            </a:pPr>
            <a:r>
              <a:t>3. route / borders / railway systems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14233A"/>
                </a:solidFill>
              </a:defRPr>
            </a:pPr>
            <a:r>
              <a:t>4. travellers / bring / toiletries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14233A"/>
                </a:solidFill>
              </a:defRPr>
            </a:pPr>
            <a:r>
              <a:t>5. replace every flight / too long / destinations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371600"/>
            <a:ext cx="4480560" cy="3566160"/>
          </a:xfrm>
          <a:prstGeom prst="roundRect">
            <a:avLst/>
          </a:prstGeom>
          <a:solidFill>
            <a:srgbClr val="E3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02552" y="1453896"/>
            <a:ext cx="4242816" cy="341985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00808A"/>
                </a:solidFill>
              </a:defRPr>
            </a:pPr>
            <a:r>
              <a:t>A weak keyword is often too general:</a:t>
            </a:r>
          </a:p>
          <a:p>
            <a:pPr algn="ctr">
              <a:spcAft>
                <a:spcPts val="400"/>
              </a:spcAft>
              <a:defRPr sz="2000" b="1">
                <a:solidFill>
                  <a:srgbClr val="00808A"/>
                </a:solidFill>
              </a:defRPr>
            </a:pPr>
            <a:r>
              <a:t>“train”, “travel”, “people”</a:t>
            </a:r>
          </a:p>
          <a:p>
            <a:pPr algn="ctr">
              <a:spcAft>
                <a:spcPts val="400"/>
              </a:spcAft>
              <a:defRPr sz="2000" b="1">
                <a:solidFill>
                  <a:srgbClr val="00808A"/>
                </a:solidFill>
              </a:defRPr>
            </a:pPr>
            <a:endParaRPr/>
          </a:p>
          <a:p>
            <a:pPr algn="ctr">
              <a:spcAft>
                <a:spcPts val="400"/>
              </a:spcAft>
              <a:defRPr sz="2000" b="1">
                <a:solidFill>
                  <a:srgbClr val="00808A"/>
                </a:solidFill>
              </a:defRPr>
            </a:pPr>
            <a:r>
              <a:t>A strong keyword is content-rich and likely to lead you to the relevant section.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Guided • Activity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28931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00808A"/>
                </a:solidFill>
              </a:defRPr>
            </a:pPr>
            <a:r>
              <a:rPr sz="1400" dirty="0"/>
              <a:t>Scan across the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00808A"/>
                </a:solidFill>
              </a:defRPr>
            </a:pPr>
            <a:r>
              <a:t>YEAR 6 • PEARSON EDEXCEL • UNIT 2 • SESSION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80160"/>
            <a:ext cx="10972800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362456"/>
            <a:ext cx="10735056" cy="2536079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rPr sz="2000" dirty="0"/>
              <a:t>Answer these without reading the article from beginning to end.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endParaRPr sz="2000" dirty="0"/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rPr sz="2000" dirty="0"/>
              <a:t>1. Name TWO types of accommodation/facilities passengers may use on night trains.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rPr sz="2000" dirty="0"/>
              <a:t>2. What is one environmental reason for renewed interest?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rPr sz="2000" dirty="0"/>
              <a:t>3. What TWO things can make operating night trains difficult?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rPr sz="2000" dirty="0"/>
              <a:t>4. What can passengers do to make a night journey more comfortable?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rPr sz="2000" dirty="0"/>
              <a:t>5. What does the final paragraph suggest about the future of night trains?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B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Guided •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8288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BAB36"/>
                </a:solidFill>
              </a:defRPr>
            </a:pPr>
            <a:r>
              <a:rPr dirty="0"/>
              <a:t>Evidence is spread across the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EBAB36"/>
                </a:solidFill>
              </a:defRPr>
            </a:pPr>
            <a:r>
              <a:t>YEAR 6 • PEARSON EDEXCEL • UNIT 2 • SESSION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105376"/>
            <a:ext cx="11064240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06535"/>
            <a:ext cx="10826496" cy="2864374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r>
              <a:rPr sz="2400" dirty="0"/>
              <a:t>1. Sleeping cabins and couchettes (or suitable seats designed for rest).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r>
              <a:rPr sz="2400" dirty="0"/>
              <a:t>2. Concern about the environmental impact of travel / potentially lower emissions per passenger than some air travel.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r>
              <a:rPr sz="2400" dirty="0"/>
              <a:t>3. Any two: cost of sleeping carriages, staff/routes/stations, borders and different systems, timetable/track conflicts.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r>
              <a:rPr sz="2400" dirty="0"/>
              <a:t>4. Bring toiletries, eye mask, earplugs, comfortable clothing; keep luggage close.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r>
              <a:rPr sz="2400" dirty="0"/>
              <a:t>5. Its future depends on making services reliable, affordable and comfortable.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Independent • Pearson-style reading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00808A"/>
                </a:solidFill>
              </a:defRPr>
            </a:pPr>
            <a:r>
              <a:t>Closed + short-open response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00808A"/>
                </a:solidFill>
              </a:defRPr>
            </a:pPr>
            <a:r>
              <a:t>YEAR 6 • PEARSON EDEXCEL • UNIT 2 • SESSION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88720"/>
            <a:ext cx="11478462" cy="4800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537" y="1499616"/>
            <a:ext cx="11478463" cy="397237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r>
              <a:rPr lang="en-US" sz="2000" dirty="0"/>
              <a:t>1</a:t>
            </a:r>
            <a:r>
              <a:rPr sz="2000" dirty="0"/>
              <a:t>. Which statement best explains why some </a:t>
            </a:r>
            <a:r>
              <a:rPr sz="2000" dirty="0" err="1"/>
              <a:t>travellers</a:t>
            </a:r>
            <a:r>
              <a:rPr sz="2000" dirty="0"/>
              <a:t> prefer night trains?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r>
              <a:rPr sz="2000" dirty="0"/>
              <a:t>A They always cost less than flights.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r>
              <a:rPr sz="2000" dirty="0"/>
              <a:t>B They can combine travel and overnight accommodation.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r>
              <a:rPr sz="2000" dirty="0"/>
              <a:t>C They are faster than all flights.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r>
              <a:rPr sz="2000" dirty="0"/>
              <a:t>D They always offer private rooms.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endParaRPr sz="2000" dirty="0"/>
          </a:p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r>
              <a:rPr lang="en-US" sz="2000" dirty="0"/>
              <a:t>2</a:t>
            </a:r>
            <a:r>
              <a:rPr sz="2000" dirty="0"/>
              <a:t>. Give ONE reason why the environmental benefit of rail travel can vary.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endParaRPr sz="2000" dirty="0"/>
          </a:p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r>
              <a:rPr lang="en-US" sz="2000" dirty="0"/>
              <a:t>3</a:t>
            </a:r>
            <a:r>
              <a:rPr sz="2000" dirty="0"/>
              <a:t>. Which section would you read to find information about what passengers bring with them?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endParaRPr sz="2000" dirty="0"/>
          </a:p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r>
              <a:rPr lang="en-US" sz="2000" dirty="0"/>
              <a:t>4</a:t>
            </a:r>
            <a:r>
              <a:rPr sz="2000" dirty="0"/>
              <a:t>. What does “the journey itself becomes part of the experience” suggest about some passengers’ attitudes?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B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Independent •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BAB36"/>
                </a:solidFill>
              </a:defRPr>
            </a:pPr>
            <a:r>
              <a:t>Check every answer against the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EBAB36"/>
                </a:solidFill>
              </a:defRPr>
            </a:pPr>
            <a:r>
              <a:t>YEAR 6 • PEARSON EDEXCEL • UNIT 2 • SESSION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108356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798255"/>
            <a:ext cx="10597896" cy="2843855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rPr lang="en-US" dirty="0"/>
              <a:t>1</a:t>
            </a:r>
            <a:r>
              <a:rPr dirty="0"/>
              <a:t>. ✓ B — They can combine travel and overnight accommodation.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endParaRPr dirty="0"/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rPr lang="en-US" dirty="0"/>
              <a:t>2</a:t>
            </a:r>
            <a:r>
              <a:rPr dirty="0"/>
              <a:t>. It depends on factors such as the type of train, how full it is and how electricity/fuel is produced.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endParaRPr dirty="0"/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rPr lang="en-US" dirty="0"/>
              <a:t>3</a:t>
            </a:r>
            <a:r>
              <a:rPr dirty="0"/>
              <a:t>. “What Happens on Board?”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endParaRPr dirty="0"/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rPr lang="en-US" dirty="0"/>
              <a:t>4</a:t>
            </a:r>
            <a:r>
              <a:rPr dirty="0"/>
              <a:t>. Some passengers value the experience of travelling itself, not simply arriving at the destination; they may enjoy the slower journey.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Independent •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00808A"/>
                </a:solidFill>
              </a:defRPr>
            </a:pPr>
            <a:r>
              <a:t>Locate + infer +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00808A"/>
                </a:solidFill>
              </a:defRPr>
            </a:pPr>
            <a:r>
              <a:t>YEAR 6 • PEARSON EDEXCEL • UNIT 2 • SESSION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80160"/>
            <a:ext cx="10972800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1144" y="1694616"/>
            <a:ext cx="10735056" cy="2536079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rPr lang="en-US" dirty="0"/>
              <a:t>5</a:t>
            </a:r>
            <a:r>
              <a:rPr dirty="0"/>
              <a:t>. Why might ticket prices rise if a night-train route is expensive to operate?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endParaRPr dirty="0"/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rPr lang="en-US" dirty="0"/>
              <a:t>6</a:t>
            </a:r>
            <a:r>
              <a:rPr dirty="0"/>
              <a:t>. What does the phrase “fill an important gap” mean in the final section?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endParaRPr dirty="0"/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rPr lang="en-US" dirty="0"/>
              <a:t>7</a:t>
            </a:r>
            <a:r>
              <a:rPr dirty="0"/>
              <a:t>. Give ONE reason why a flight may still be more practical for some </a:t>
            </a:r>
            <a:r>
              <a:rPr dirty="0" err="1"/>
              <a:t>travellers</a:t>
            </a:r>
            <a:r>
              <a:rPr dirty="0"/>
              <a:t>.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endParaRPr dirty="0"/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rPr lang="en-US" dirty="0"/>
              <a:t>8</a:t>
            </a:r>
            <a:r>
              <a:rPr dirty="0"/>
              <a:t>. Is the writer completely positive about night trains? Give evidence for your answer.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B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Independent • Part 2 •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BAB36"/>
                </a:solidFill>
              </a:defRPr>
            </a:pPr>
            <a:r>
              <a:t>Model precise responses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EBAB36"/>
                </a:solidFill>
              </a:defRPr>
            </a:pPr>
            <a:r>
              <a:t>YEAR 6 • PEARSON EDEXCEL • UNIT 2 • SESSION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97280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991683"/>
            <a:ext cx="10735056" cy="2874633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rPr lang="en-US" dirty="0"/>
              <a:t>5</a:t>
            </a:r>
            <a:r>
              <a:rPr dirty="0"/>
              <a:t>. If operating costs are high, the company may need to charge more to cover them.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endParaRPr dirty="0"/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rPr lang="en-US" dirty="0"/>
              <a:t>6</a:t>
            </a:r>
            <a:r>
              <a:rPr dirty="0"/>
              <a:t>. They can provide a useful travel option for people who want an alternative to a hotel + short flight.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endParaRPr dirty="0"/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rPr lang="en-US" dirty="0"/>
              <a:t>7</a:t>
            </a:r>
            <a:r>
              <a:rPr dirty="0"/>
              <a:t>. Some journeys are too long / destinations may not have suitable rail connections / time may be the main concern.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endParaRPr dirty="0"/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rPr lang="en-US" dirty="0"/>
              <a:t>8</a:t>
            </a:r>
            <a:r>
              <a:rPr dirty="0"/>
              <a:t>. No. The writer </a:t>
            </a:r>
            <a:r>
              <a:rPr dirty="0" err="1"/>
              <a:t>recognises</a:t>
            </a:r>
            <a:r>
              <a:rPr dirty="0"/>
              <a:t> benefits but also explains challenges and limitations, such as cost, routes, timetables and competition from flights.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B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Mini Checkpoint • 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BAB36"/>
                </a:solidFill>
              </a:defRPr>
            </a:pPr>
            <a:r>
              <a:t>Final timed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EBAB36"/>
                </a:solidFill>
              </a:defRPr>
            </a:pPr>
            <a:r>
              <a:t>YEAR 6 • PEARSON EDEXCEL • UNIT 2 • SESSION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459" y="1280160"/>
            <a:ext cx="11242141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362456"/>
            <a:ext cx="10735056" cy="456285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t>You have 5 minutes. Do not reread every paragraph.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endParaRPr/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t>1. Find the section that explains why night trains are returning. Write its heading.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t>2. Give TWO reasons for renewed interest.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t>3. Find ONE sentence that shows night trains are not a perfect replacement for flights.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t>4. What is the writer’s overall viewpoint in one sentence?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endParaRPr/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t>Strategy reminder: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t>SKIM → map the text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t>SCAN → locate the evidence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4233A"/>
                </a:solidFill>
              </a:defRPr>
            </a:pPr>
            <a:r>
              <a:t>READ AROUND → answer accurately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B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Mini Checkpoint •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BAB36"/>
                </a:solidFill>
              </a:defRPr>
            </a:pPr>
            <a:r>
              <a:t>Self-mark after the 5-minute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EBAB36"/>
                </a:solidFill>
              </a:defRPr>
            </a:pPr>
            <a:r>
              <a:t>YEAR 6 • PEARSON EDEXCEL • UNIT 2 • SESSION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69848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453896"/>
            <a:ext cx="10460736" cy="4059935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1. “Why Are They Returning?”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2. Any two: environmental concerns; changing passenger attitudes; convenience; avoiding airport stress; enjoyment of the journey.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3. Example: “Night trains are unlikely to replace every flight.”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14233A"/>
                </a:solidFill>
              </a:defRPr>
            </a:pPr>
            <a:r>
              <a:t>4. Night trains offer a useful alternative for some travellers, but their success depends on overcoming practical and financial challenges.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Edit &amp;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00808A"/>
                </a:solidFill>
              </a:defRPr>
            </a:pPr>
            <a:r>
              <a:t>2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00808A"/>
                </a:solidFill>
              </a:defRPr>
            </a:pPr>
            <a:r>
              <a:t>YEAR 6 • PEARSON EDEXCEL • UNIT 2 • SESSION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1280160"/>
            <a:ext cx="9784080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07592" y="1362456"/>
            <a:ext cx="9546336" cy="428853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100" b="0">
                <a:solidFill>
                  <a:srgbClr val="14233A"/>
                </a:solidFill>
              </a:defRPr>
            </a:pPr>
            <a:r>
              <a:t>Before submitting, ask:</a:t>
            </a:r>
          </a:p>
          <a:p>
            <a:pPr algn="l">
              <a:spcAft>
                <a:spcPts val="400"/>
              </a:spcAft>
              <a:defRPr sz="2100" b="0">
                <a:solidFill>
                  <a:srgbClr val="14233A"/>
                </a:solidFill>
              </a:defRPr>
            </a:pPr>
            <a:endParaRPr/>
          </a:p>
          <a:p>
            <a:pPr algn="l">
              <a:spcAft>
                <a:spcPts val="400"/>
              </a:spcAft>
              <a:defRPr sz="2100" b="0">
                <a:solidFill>
                  <a:srgbClr val="14233A"/>
                </a:solidFill>
              </a:defRPr>
            </a:pPr>
            <a:r>
              <a:t>☐ Did I answer the exact question?</a:t>
            </a:r>
          </a:p>
          <a:p>
            <a:pPr algn="l">
              <a:spcAft>
                <a:spcPts val="400"/>
              </a:spcAft>
              <a:defRPr sz="2100" b="0">
                <a:solidFill>
                  <a:srgbClr val="14233A"/>
                </a:solidFill>
              </a:defRPr>
            </a:pPr>
            <a:r>
              <a:t>☐ Did I locate the evidence rather than guess?</a:t>
            </a:r>
          </a:p>
          <a:p>
            <a:pPr algn="l">
              <a:spcAft>
                <a:spcPts val="400"/>
              </a:spcAft>
              <a:defRPr sz="2100" b="0">
                <a:solidFill>
                  <a:srgbClr val="14233A"/>
                </a:solidFill>
              </a:defRPr>
            </a:pPr>
            <a:r>
              <a:t>☐ Did I read around the matching word?</a:t>
            </a:r>
          </a:p>
          <a:p>
            <a:pPr algn="l">
              <a:spcAft>
                <a:spcPts val="400"/>
              </a:spcAft>
              <a:defRPr sz="2100" b="0">
                <a:solidFill>
                  <a:srgbClr val="14233A"/>
                </a:solidFill>
              </a:defRPr>
            </a:pPr>
            <a:r>
              <a:t>☐ Did I distinguish a main idea from a small detail?</a:t>
            </a:r>
          </a:p>
          <a:p>
            <a:pPr algn="l">
              <a:spcAft>
                <a:spcPts val="400"/>
              </a:spcAft>
              <a:defRPr sz="2100" b="0">
                <a:solidFill>
                  <a:srgbClr val="14233A"/>
                </a:solidFill>
              </a:defRPr>
            </a:pPr>
            <a:r>
              <a:t>☐ Did I use evidence for an inference?</a:t>
            </a:r>
          </a:p>
          <a:p>
            <a:pPr algn="l">
              <a:spcAft>
                <a:spcPts val="400"/>
              </a:spcAft>
              <a:defRPr sz="2100" b="0">
                <a:solidFill>
                  <a:srgbClr val="14233A"/>
                </a:solidFill>
              </a:defRPr>
            </a:pPr>
            <a:r>
              <a:t>☐ Is my answer precise and complete?</a:t>
            </a:r>
          </a:p>
          <a:p>
            <a:pPr algn="l">
              <a:spcAft>
                <a:spcPts val="400"/>
              </a:spcAft>
              <a:defRPr sz="2100" b="0">
                <a:solidFill>
                  <a:srgbClr val="14233A"/>
                </a:solidFill>
              </a:defRPr>
            </a:pPr>
            <a:r>
              <a:t>☐ Did I check spelling and punctuation?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B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Exit ticket • 4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BAB36"/>
                </a:solidFill>
              </a:defRPr>
            </a:pPr>
            <a:r>
              <a:t>The final strategy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EBAB36"/>
                </a:solidFill>
              </a:defRPr>
            </a:pPr>
            <a:r>
              <a:t>YEAR 6 • PEARSON EDEXCEL • UNIT 2 • SESSION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371600"/>
            <a:ext cx="1014984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453896"/>
            <a:ext cx="9912096" cy="3831335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14233A"/>
                </a:solidFill>
              </a:defRPr>
            </a:pPr>
            <a:r>
              <a:rPr dirty="0"/>
              <a:t>You are asked:</a:t>
            </a:r>
          </a:p>
          <a:p>
            <a:pPr algn="l">
              <a:spcAft>
                <a:spcPts val="400"/>
              </a:spcAft>
              <a:defRPr sz="2300" b="1">
                <a:solidFill>
                  <a:srgbClr val="14233A"/>
                </a:solidFill>
              </a:defRPr>
            </a:pPr>
            <a:endParaRPr dirty="0"/>
          </a:p>
          <a:p>
            <a:pPr algn="l">
              <a:spcAft>
                <a:spcPts val="400"/>
              </a:spcAft>
              <a:defRPr sz="2300" b="1">
                <a:solidFill>
                  <a:srgbClr val="14233A"/>
                </a:solidFill>
              </a:defRPr>
            </a:pPr>
            <a:r>
              <a:rPr dirty="0"/>
              <a:t>“Which two countries does the article mention?”</a:t>
            </a:r>
          </a:p>
          <a:p>
            <a:pPr algn="l">
              <a:spcAft>
                <a:spcPts val="400"/>
              </a:spcAft>
              <a:defRPr sz="2300" b="1">
                <a:solidFill>
                  <a:srgbClr val="14233A"/>
                </a:solidFill>
              </a:defRPr>
            </a:pPr>
            <a:endParaRPr dirty="0"/>
          </a:p>
          <a:p>
            <a:pPr algn="l">
              <a:spcAft>
                <a:spcPts val="400"/>
              </a:spcAft>
              <a:defRPr sz="2300" b="1">
                <a:solidFill>
                  <a:srgbClr val="14233A"/>
                </a:solidFill>
              </a:defRPr>
            </a:pPr>
            <a:r>
              <a:rPr dirty="0"/>
              <a:t>What is your process?</a:t>
            </a:r>
          </a:p>
          <a:p>
            <a:pPr algn="l">
              <a:spcAft>
                <a:spcPts val="400"/>
              </a:spcAft>
              <a:defRPr sz="2300" b="1">
                <a:solidFill>
                  <a:srgbClr val="14233A"/>
                </a:solidFill>
              </a:defRPr>
            </a:pPr>
            <a:endParaRPr dirty="0"/>
          </a:p>
          <a:p>
            <a:pPr algn="l">
              <a:spcAft>
                <a:spcPts val="400"/>
              </a:spcAft>
              <a:defRPr sz="2300" b="1">
                <a:solidFill>
                  <a:srgbClr val="14233A"/>
                </a:solidFill>
              </a:defRPr>
            </a:pPr>
            <a:r>
              <a:rPr dirty="0"/>
              <a:t>1. First, I will __________.</a:t>
            </a:r>
          </a:p>
          <a:p>
            <a:pPr algn="l">
              <a:spcAft>
                <a:spcPts val="400"/>
              </a:spcAft>
              <a:defRPr sz="2300" b="1">
                <a:solidFill>
                  <a:srgbClr val="14233A"/>
                </a:solidFill>
              </a:defRPr>
            </a:pPr>
            <a:r>
              <a:rPr dirty="0"/>
              <a:t>2. Then I will search for __________.</a:t>
            </a:r>
          </a:p>
          <a:p>
            <a:pPr algn="l">
              <a:spcAft>
                <a:spcPts val="400"/>
              </a:spcAft>
              <a:defRPr sz="2300" b="1">
                <a:solidFill>
                  <a:srgbClr val="14233A"/>
                </a:solidFill>
              </a:defRPr>
            </a:pPr>
            <a:r>
              <a:rPr dirty="0"/>
              <a:t>3. When I find a match, I will __________.</a:t>
            </a:r>
          </a:p>
          <a:p>
            <a:pPr algn="l">
              <a:spcAft>
                <a:spcPts val="400"/>
              </a:spcAft>
              <a:defRPr sz="2300" b="1">
                <a:solidFill>
                  <a:srgbClr val="14233A"/>
                </a:solidFill>
              </a:defRPr>
            </a:pPr>
            <a:r>
              <a:rPr dirty="0"/>
              <a:t>4. Finally, I will __________.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B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Exit ticket •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BAB36"/>
                </a:solidFill>
              </a:defRPr>
            </a:pPr>
            <a:r>
              <a:t>The expert-reader routine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EBAB36"/>
                </a:solidFill>
              </a:defRPr>
            </a:pPr>
            <a:r>
              <a:t>YEAR 6 • PEARSON EDEXCEL • UNIT 2 • SESSION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508760"/>
            <a:ext cx="9966960" cy="209169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0431" y="1591056"/>
            <a:ext cx="9729216" cy="319125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400"/>
              </a:spcAft>
              <a:defRPr sz="2300" b="1">
                <a:solidFill>
                  <a:srgbClr val="14233A"/>
                </a:solidFill>
              </a:defRPr>
            </a:pPr>
            <a:r>
              <a:t>1. First, I will read the question carefully.</a:t>
            </a:r>
          </a:p>
          <a:p>
            <a:pPr algn="ctr">
              <a:spcAft>
                <a:spcPts val="400"/>
              </a:spcAft>
              <a:defRPr sz="2300" b="1">
                <a:solidFill>
                  <a:srgbClr val="14233A"/>
                </a:solidFill>
              </a:defRPr>
            </a:pPr>
            <a:r>
              <a:t>2. Then I will search for strong keywords / country names.</a:t>
            </a:r>
          </a:p>
          <a:p>
            <a:pPr algn="ctr">
              <a:spcAft>
                <a:spcPts val="400"/>
              </a:spcAft>
              <a:defRPr sz="2300" b="1">
                <a:solidFill>
                  <a:srgbClr val="14233A"/>
                </a:solidFill>
              </a:defRPr>
            </a:pPr>
            <a:r>
              <a:t>3. When I find a match, I will read around it and check the context.</a:t>
            </a:r>
          </a:p>
          <a:p>
            <a:pPr algn="ctr">
              <a:spcAft>
                <a:spcPts val="400"/>
              </a:spcAft>
              <a:defRPr sz="2300" b="1">
                <a:solidFill>
                  <a:srgbClr val="14233A"/>
                </a:solidFill>
              </a:defRPr>
            </a:pPr>
            <a:r>
              <a:t>4. Finally, I will give the two countries accurately.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5212080"/>
            <a:ext cx="9601200" cy="59436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00808A"/>
                </a:solidFill>
              </a:defRPr>
            </a:pPr>
            <a:r>
              <a:t>FIND → READ AROUND → VERIFY → ANSWER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Teacher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00808A"/>
                </a:solidFill>
              </a:defRPr>
            </a:pPr>
            <a:r>
              <a:t>Use evidence from both sessions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00808A"/>
                </a:solidFill>
              </a:defRPr>
            </a:pPr>
            <a:r>
              <a:t>YEAR 6 • PEARSON EDEXCEL • UNIT 2 • BOTH SESSIONS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5661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408176"/>
            <a:ext cx="3328415" cy="3328415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r>
              <a:t>SECURE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r>
              <a:t>• distinguishes skim/scan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r>
              <a:t>• locates evidence efficiently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r>
              <a:t>• retrieves across different sections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r>
              <a:t>• gives precise short-open responses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14233A"/>
                </a:solidFill>
              </a:defRPr>
            </a:pPr>
            <a:r>
              <a:t>• supports inference with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661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62272" y="1408176"/>
            <a:ext cx="3328415" cy="3328415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00808A"/>
                </a:solidFill>
              </a:defRPr>
            </a:pPr>
            <a:r>
              <a:t>DEVELOPING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00808A"/>
                </a:solidFill>
              </a:defRPr>
            </a:pPr>
            <a:r>
              <a:t>• usually chooses the right strategy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00808A"/>
                </a:solidFill>
              </a:defRPr>
            </a:pPr>
            <a:r>
              <a:t>• needs prompts to select keywords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00808A"/>
                </a:solidFill>
              </a:defRPr>
            </a:pPr>
            <a:r>
              <a:t>• may find a word but miss the relevant context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00808A"/>
                </a:solidFill>
              </a:defRPr>
            </a:pPr>
            <a:r>
              <a:t>• answers may be too general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325880"/>
            <a:ext cx="35661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11312" y="1408176"/>
            <a:ext cx="3328415" cy="3328415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EB745C"/>
                </a:solidFill>
              </a:defRPr>
            </a:pPr>
            <a:r>
              <a:t>NEEDS SUPPORT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EB745C"/>
                </a:solidFill>
              </a:defRPr>
            </a:pPr>
            <a:r>
              <a:t>• reads every word without a plan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EB745C"/>
                </a:solidFill>
              </a:defRPr>
            </a:pPr>
            <a:r>
              <a:t>• guesses from memory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EB745C"/>
                </a:solidFill>
              </a:defRPr>
            </a:pPr>
            <a:r>
              <a:t>• cannot distinguish main idea/detail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EB745C"/>
                </a:solidFill>
              </a:defRPr>
            </a:pPr>
            <a:r>
              <a:t>• needs chunking, highlighted sections and guided keyword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57800"/>
            <a:ext cx="10515600" cy="6858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00808A"/>
                </a:solidFill>
              </a:defRPr>
            </a:pPr>
            <a:r>
              <a:t>Next Unit 2 step: ORGANISATIONAL FEATURES — headings, subheadings, captions, layout and how they help readers navigate non-fiction.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B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3035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4233A"/>
                </a:solidFill>
              </a:defRPr>
            </a:pPr>
            <a:r>
              <a:t>Student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BAB36"/>
                </a:solidFill>
              </a:defRPr>
            </a:pPr>
            <a:r>
              <a:t>Paste this into notebooks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96012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EBAB36"/>
                </a:solidFill>
              </a:defRPr>
            </a:pPr>
            <a:r>
              <a:t>YEAR 6 • PEARSON EDEXCEL • UNIT 2 • BOTH SESSIONS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14233A"/>
                </a:solidFill>
              </a:defRPr>
            </a:pPr>
            <a:r>
              <a:t>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234440"/>
            <a:ext cx="1046988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316736"/>
            <a:ext cx="10232136" cy="5394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14233A"/>
                </a:solidFill>
              </a:defRPr>
            </a:pPr>
            <a:r>
              <a:t>THE EXPERT READER ROUTINE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2148839"/>
            <a:ext cx="9509760" cy="4526281"/>
          </a:xfrm>
          <a:prstGeom prst="roundRect">
            <a:avLst/>
          </a:prstGeom>
          <a:solidFill>
            <a:srgbClr val="008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67612" y="2189790"/>
            <a:ext cx="9272016" cy="448533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FFFFFF"/>
                </a:solidFill>
              </a:defRPr>
            </a:pPr>
            <a:r>
              <a:rPr sz="2000" dirty="0"/>
              <a:t>SKIM</a:t>
            </a:r>
          </a:p>
          <a:p>
            <a:pPr algn="ctr">
              <a:spcAft>
                <a:spcPts val="400"/>
              </a:spcAft>
              <a:defRPr sz="2200" b="1">
                <a:solidFill>
                  <a:srgbClr val="FFFFFF"/>
                </a:solidFill>
              </a:defRPr>
            </a:pPr>
            <a:r>
              <a:rPr sz="2000" dirty="0"/>
              <a:t>→ title + headings + opening ideas</a:t>
            </a:r>
          </a:p>
          <a:p>
            <a:pPr algn="ctr">
              <a:spcAft>
                <a:spcPts val="400"/>
              </a:spcAft>
              <a:defRPr sz="2200" b="1">
                <a:solidFill>
                  <a:srgbClr val="FFFFFF"/>
                </a:solidFill>
              </a:defRPr>
            </a:pPr>
            <a:r>
              <a:rPr sz="2000" dirty="0"/>
              <a:t>→ build the BIG PICTURE</a:t>
            </a:r>
          </a:p>
          <a:p>
            <a:pPr algn="ctr">
              <a:spcAft>
                <a:spcPts val="400"/>
              </a:spcAft>
              <a:defRPr sz="2200" b="1">
                <a:solidFill>
                  <a:srgbClr val="FFFFFF"/>
                </a:solidFill>
              </a:defRPr>
            </a:pPr>
            <a:endParaRPr sz="2000" dirty="0"/>
          </a:p>
          <a:p>
            <a:pPr algn="ctr">
              <a:spcAft>
                <a:spcPts val="400"/>
              </a:spcAft>
              <a:defRPr sz="2200" b="1">
                <a:solidFill>
                  <a:srgbClr val="FFFFFF"/>
                </a:solidFill>
              </a:defRPr>
            </a:pPr>
            <a:r>
              <a:rPr sz="2000" dirty="0"/>
              <a:t>SCAN</a:t>
            </a:r>
          </a:p>
          <a:p>
            <a:pPr algn="ctr">
              <a:spcAft>
                <a:spcPts val="400"/>
              </a:spcAft>
              <a:defRPr sz="2200" b="1">
                <a:solidFill>
                  <a:srgbClr val="FFFFFF"/>
                </a:solidFill>
              </a:defRPr>
            </a:pPr>
            <a:r>
              <a:rPr sz="2000" dirty="0"/>
              <a:t>→ question + strong keywords</a:t>
            </a:r>
          </a:p>
          <a:p>
            <a:pPr algn="ctr">
              <a:spcAft>
                <a:spcPts val="400"/>
              </a:spcAft>
              <a:defRPr sz="2200" b="1">
                <a:solidFill>
                  <a:srgbClr val="FFFFFF"/>
                </a:solidFill>
              </a:defRPr>
            </a:pPr>
            <a:r>
              <a:rPr sz="2000" dirty="0"/>
              <a:t>→ locate the EXACT INFORMATION</a:t>
            </a:r>
          </a:p>
          <a:p>
            <a:pPr algn="ctr">
              <a:spcAft>
                <a:spcPts val="400"/>
              </a:spcAft>
              <a:defRPr sz="2200" b="1">
                <a:solidFill>
                  <a:srgbClr val="FFFFFF"/>
                </a:solidFill>
              </a:defRPr>
            </a:pPr>
            <a:endParaRPr sz="2000" dirty="0"/>
          </a:p>
          <a:p>
            <a:pPr algn="ctr">
              <a:spcAft>
                <a:spcPts val="400"/>
              </a:spcAft>
              <a:defRPr sz="2200" b="1">
                <a:solidFill>
                  <a:srgbClr val="FFFFFF"/>
                </a:solidFill>
              </a:defRPr>
            </a:pPr>
            <a:r>
              <a:rPr sz="2000" dirty="0"/>
              <a:t>THEN</a:t>
            </a:r>
          </a:p>
          <a:p>
            <a:pPr algn="ctr">
              <a:spcAft>
                <a:spcPts val="400"/>
              </a:spcAft>
              <a:defRPr sz="2200" b="1">
                <a:solidFill>
                  <a:srgbClr val="FFFFFF"/>
                </a:solidFill>
              </a:defRPr>
            </a:pPr>
            <a:r>
              <a:rPr sz="2000" dirty="0"/>
              <a:t>→ read around the match</a:t>
            </a:r>
          </a:p>
          <a:p>
            <a:pPr algn="ctr">
              <a:spcAft>
                <a:spcPts val="400"/>
              </a:spcAft>
              <a:defRPr sz="2200" b="1">
                <a:solidFill>
                  <a:srgbClr val="FFFFFF"/>
                </a:solidFill>
              </a:defRPr>
            </a:pPr>
            <a:r>
              <a:rPr sz="2000" dirty="0"/>
              <a:t>→ verify the evidence</a:t>
            </a:r>
          </a:p>
          <a:p>
            <a:pPr algn="ctr">
              <a:spcAft>
                <a:spcPts val="400"/>
              </a:spcAft>
              <a:defRPr sz="2200" b="1">
                <a:solidFill>
                  <a:srgbClr val="FFFFFF"/>
                </a:solidFill>
              </a:defRPr>
            </a:pPr>
            <a:r>
              <a:rPr sz="2000" dirty="0"/>
              <a:t>→ answer precisely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3609</Words>
  <Application>Microsoft Office PowerPoint</Application>
  <PresentationFormat>Widescreen</PresentationFormat>
  <Paragraphs>509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pc</dc:creator>
  <cp:keywords/>
  <dc:description>generated using python-pptx</dc:description>
  <cp:lastModifiedBy>Rozan Zakaria@meis-eg.com</cp:lastModifiedBy>
  <cp:revision>2</cp:revision>
  <dcterms:created xsi:type="dcterms:W3CDTF">2013-01-27T09:14:16Z</dcterms:created>
  <dcterms:modified xsi:type="dcterms:W3CDTF">2026-09-23T09:12:06Z</dcterms:modified>
  <cp:category/>
</cp:coreProperties>
</file>