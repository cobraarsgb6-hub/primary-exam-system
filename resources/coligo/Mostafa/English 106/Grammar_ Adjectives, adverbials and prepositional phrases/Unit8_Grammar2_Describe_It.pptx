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6117b023-1186-8e93-b605-482c41e5effa}">
          <p14:sldIdLst>
            <p14:sldId id="256"/>
            <p14:sldId id="257"/>
            <p14:sldId id="258"/>
            <p14:sldId id="259"/>
          </p14:sldIdLst>
        </p14:section>
        <p14:section name="Teach" id="{d9799cb0-9dcc-9c78-6234-b469548e320a}">
          <p14:sldIdLst>
            <p14:sldId id="260"/>
            <p14:sldId id="261"/>
            <p14:sldId id="262"/>
            <p14:sldId id="263"/>
          </p14:sldIdLst>
        </p14:section>
        <p14:section name="Read" id="{a15ef117-24ba-878d-d58a-d7e5571c3c6d}">
          <p14:sldIdLst>
            <p14:sldId id="264"/>
            <p14:sldId id="265"/>
            <p14:sldId id="266"/>
            <p14:sldId id="267"/>
            <p14:sldId id="268"/>
            <p14:sldId id="269"/>
            <p14:sldId id="270"/>
            <p14:sldId id="271"/>
            <p14:sldId id="272"/>
            <p14:sldId id="273"/>
            <p14:sldId id="274"/>
            <p14:sldId id="275"/>
            <p14:sldId id="276"/>
          </p14:sldIdLst>
        </p14:section>
        <p14:section name="Practise" id="{1302e713-e378-45ae-e864-24b5e5ff68f6}">
          <p14:sldIdLst>
            <p14:sldId id="277"/>
            <p14:sldId id="278"/>
            <p14:sldId id="279"/>
            <p14:sldId id="280"/>
            <p14:sldId id="281"/>
            <p14:sldId id="282"/>
            <p14:sldId id="283"/>
            <p14:sldId id="284"/>
            <p14:sldId id="285"/>
            <p14:sldId id="286"/>
            <p14:sldId id="287"/>
            <p14:sldId id="288"/>
            <p14:sldId id="289"/>
            <p14:sldId id="290"/>
          </p14:sldIdLst>
        </p14:section>
        <p14:section name="Share" id="{31940447-0339-3420-6a26-2f2900762460}">
          <p14:sldIdLst>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80-minute lesson. Timings: Recap 6 | Adjectives 6 | Adverbs and adverbials 8 | Prepositions 6 | Sentence ladder 6 | Read and questions 10 | Look back at Petronas 6 | Main activity 14 | Plenary 4 | Exam practice 8 | Exit ticket 4 | Close 2 = 80.
Teacher note: this lesson follows the Unit 8 plan lesson on descriptive language for a setting. The plan objectives are R6.5B (explain how adverbs and adverbials affect the verb) and W6.5D (use adjectives, adverbs and prepositional phrases to enrich writing). The reading paragraph and the examples are original. The look-back task uses pp. 16-17 of Petronas by Tina Shaw (short quotations only), so pupils need their copy of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Ask pupils to show a thumb for how confident they feel,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Pairs answer for two minutes, then take answers. These terms are needed all lesson. Answers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sensible example. If many pupils are unsure, spend an extra minute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left box, then the right box. Ask which gives a clearer picture and why. Point out the comma between two adjectives. Add adjectives to the class Mind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an adverb or an adverbial tells us how, where or when something happens. Read the table together. Ask how the picture of 'walked' changes in each row. Add adverbs and adverbials to the Mind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preposition shows how a noun is related to something else in place or time. A prepositional phrase is the preposition plus the noun phrase that follows it. Read the examples aloud. Ask pupils to give a new phrase for each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sentence one rung at a time on the board. Pupils say what was added each time. This is the model they use in the main activity. Rung 5 is what a good setting sentence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paragraph aloud twice. This is an original text written for the unit. Pupils follow with a finger and then answer five questions in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Then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to say which noun each adjective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'tall white'.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to try another adverb such as 'quickly' and say what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pupils the phrase starts with the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Then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could you spot an adverb?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use their own copy of the book. 6 minutes. Pairs find the three types of words and copy short quotations. Take answers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short accurate quotation of the right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minutes. Pairs. Pupils use the sentence ladder and colour code. Task 1 upgrades four plain sentences. Task 2 writes a three-sentence description of their own fantasy setting. Support: give a word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version that adds all three. Pupils label the adjective, adverb and prepositional phrase in three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write three sentences about a secret fantasy place. They underline adjectives in one colour, adverbs and adverbials in another, prepositional phrases in a third. Collect two examples to read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three sentences that meet the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Pupils hold up a green card (true) or a red card (false) and give a reason. Answers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to add one new example to the class Mind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to say what each other word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pupils to copy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the exact words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Award a mark for each correct part, not for the whole sentence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write on a sticky note and hand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answer labels all three words or phrases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out a printed copy of this slide. Collect it at the start of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Thumbs check: pupils show their confidence again. Collect exit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1B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12064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2926080"/>
            <a:ext cx="5120640" cy="109728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3B2F6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786384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2788920"/>
            <a:ext cx="7863840" cy="73152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4736592"/>
            <a:ext cx="4572000" cy="274320"/>
          </a:xfrm>
          <a:prstGeom prst="rect">
            <a:avLst/>
          </a:prstGeom>
          <a:noFill/>
          <a:ln/>
        </p:spPr>
        <p:txBody>
          <a:bodyPr wrap="square" lIns="0" tIns="0" rIns="0" bIns="0" rtlCol="0" anchor="ctr"/>
          <a:lstStyle/>
          <a:p>
            <a:pPr indent="0" marL="0">
              <a:buNone/>
            </a:pPr>
            <a:r>
              <a:rPr lang="en-US" sz="1000" dirty="0">
                <a:solidFill>
                  <a:srgbClr val="6B6784"/>
                </a:solidFill>
              </a:rPr>
              <a:t>Year 6 English  |  Unit 8  |  Grammar</a:t>
            </a:r>
            <a:endParaRPr lang="en-US" sz="10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4.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4.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120640" cy="1371600"/>
          </a:xfrm>
          <a:prstGeom prst="rect">
            <a:avLst/>
          </a:prstGeom>
          <a:noFill/>
          <a:ln/>
        </p:spPr>
        <p:txBody>
          <a:bodyPr wrap="square" lIns="0" tIns="0" rIns="0" bIns="0" rtlCol="0" anchor="b"/>
          <a:lstStyle/>
          <a:p>
            <a:pPr algn="l" indent="0" marL="0">
              <a:buNone/>
            </a:pPr>
            <a:r>
              <a:rPr lang="en-US" sz="4400" b="1" dirty="0">
                <a:solidFill>
                  <a:schemeClr val="bg1"/>
                </a:solidFill>
              </a:rPr>
              <a:t>Describe It</a:t>
            </a:r>
            <a:endParaRPr lang="en-US" sz="4400" dirty="0"/>
          </a:p>
        </p:txBody>
      </p:sp>
      <p:sp>
        <p:nvSpPr>
          <p:cNvPr id="3" name="Text 0"/>
          <p:cNvSpPr/>
          <p:nvPr>
            <p:ph idx="101" type="body" hasCustomPrompt="1"/>
          </p:nvPr>
        </p:nvSpPr>
        <p:spPr>
          <a:xfrm>
            <a:off x="640080" y="2926080"/>
            <a:ext cx="5120640" cy="1097280"/>
          </a:xfrm>
          <a:prstGeom prst="rect">
            <a:avLst/>
          </a:prstGeom>
          <a:noFill/>
          <a:ln/>
        </p:spPr>
        <p:txBody>
          <a:bodyPr wrap="square" lIns="0" tIns="0" rIns="0" bIns="0" rtlCol="0" anchor="t"/>
          <a:lstStyle/>
          <a:p>
            <a:pPr indent="0" marL="0">
              <a:buNone/>
            </a:pPr>
            <a:r>
              <a:rPr lang="en-US" sz="1800" dirty="0">
                <a:solidFill>
                  <a:schemeClr val="accent1"/>
                </a:solidFill>
              </a:rPr>
              <a:t>Unit 8 | Grammar</a:t>
            </a:r>
            <a:endParaRPr lang="en-US" sz="1800" dirty="0"/>
          </a:p>
          <a:p>
            <a:pPr indent="0" marL="0">
              <a:buNone/>
            </a:pPr>
            <a:r>
              <a:rPr lang="en-US" sz="1800" dirty="0">
                <a:solidFill>
                  <a:schemeClr val="accent1"/>
                </a:solidFill>
              </a:rPr>
              <a:t>Adjectives, adverbials and prepositional phrases</a:t>
            </a:r>
            <a:endParaRPr lang="en-US" sz="1800" dirty="0"/>
          </a:p>
        </p:txBody>
      </p:sp>
      <p:sp>
        <p:nvSpPr>
          <p:cNvPr id="4" name="motif circle"/>
          <p:cNvSpPr/>
          <p:nvPr/>
        </p:nvSpPr>
        <p:spPr>
          <a:xfrm>
            <a:off x="6126480" y="1097280"/>
            <a:ext cx="2468880" cy="2468880"/>
          </a:xfrm>
          <a:prstGeom prst="ellipse">
            <a:avLst/>
          </a:prstGeom>
          <a:solidFill>
            <a:schemeClr val="tx2"/>
          </a:solidFill>
          <a:ln w="12700">
            <a:solidFill>
              <a:schemeClr val="tx2"/>
            </a:solidFill>
            <a:prstDash val="solid"/>
          </a:ln>
        </p:spPr>
      </p:sp>
      <p:pic>
        <p:nvPicPr>
          <p:cNvPr id="5" name="city" descr="city">    </p:cNvPr>
          <p:cNvPicPr>
            <a:picLocks noChangeAspect="1"/>
          </p:cNvPicPr>
          <p:nvPr/>
        </p:nvPicPr>
        <p:blipFill>
          <a:blip r:embed="rId1"/>
          <a:stretch>
            <a:fillRect/>
          </a:stretch>
        </p:blipFill>
        <p:spPr>
          <a:xfrm>
            <a:off x="6675120" y="164592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Today we will</a:t>
            </a:r>
            <a:endParaRPr lang="en-US" sz="3000" dirty="0"/>
          </a:p>
        </p:txBody>
      </p:sp>
      <p:sp>
        <p:nvSpPr>
          <p:cNvPr id="4" name="card"/>
          <p:cNvSpPr/>
          <p:nvPr/>
        </p:nvSpPr>
        <p:spPr>
          <a:xfrm>
            <a:off x="548640" y="1188720"/>
            <a:ext cx="2560320" cy="3200400"/>
          </a:xfrm>
          <a:prstGeom prst="roundRect">
            <a:avLst>
              <a:gd name="adj" fmla="val 4286"/>
            </a:avLst>
          </a:prstGeom>
          <a:solidFill>
            <a:schemeClr val="bg2"/>
          </a:solidFill>
          <a:ln w="12700">
            <a:solidFill>
              <a:schemeClr val="bg2"/>
            </a:solidFill>
            <a:prstDash val="solid"/>
          </a:ln>
        </p:spPr>
      </p:sp>
      <p:sp>
        <p:nvSpPr>
          <p:cNvPr id="5" name="badge"/>
          <p:cNvSpPr/>
          <p:nvPr/>
        </p:nvSpPr>
        <p:spPr>
          <a:xfrm>
            <a:off x="1371600" y="1463040"/>
            <a:ext cx="914400" cy="914400"/>
          </a:xfrm>
          <a:prstGeom prst="ellipse">
            <a:avLst/>
          </a:prstGeom>
          <a:solidFill>
            <a:schemeClr val="accent4"/>
          </a:solidFill>
          <a:ln w="12700">
            <a:solidFill>
              <a:schemeClr val="accent4"/>
            </a:solidFill>
            <a:prstDash val="solid"/>
          </a:ln>
        </p:spPr>
      </p:sp>
      <p:pic>
        <p:nvPicPr>
          <p:cNvPr id="6" name="icon" descr="search">    </p:cNvPr>
          <p:cNvPicPr>
            <a:picLocks noChangeAspect="1"/>
          </p:cNvPicPr>
          <p:nvPr/>
        </p:nvPicPr>
        <p:blipFill>
          <a:blip r:embed="rId1"/>
          <a:stretch>
            <a:fillRect/>
          </a:stretch>
        </p:blipFill>
        <p:spPr>
          <a:xfrm>
            <a:off x="1609344" y="1700784"/>
            <a:ext cx="438912" cy="438912"/>
          </a:xfrm>
          <a:prstGeom prst="rect">
            <a:avLst/>
          </a:prstGeom>
        </p:spPr>
      </p:pic>
      <p:sp>
        <p:nvSpPr>
          <p:cNvPr id="7" name="Text 3"/>
          <p:cNvSpPr txBox="1"/>
          <p:nvPr/>
        </p:nvSpPr>
        <p:spPr>
          <a:xfrm>
            <a:off x="731520" y="2560320"/>
            <a:ext cx="2194560" cy="457200"/>
          </a:xfrm>
          <a:prstGeom prst="rect">
            <a:avLst/>
          </a:prstGeom>
          <a:noFill/>
          <a:ln/>
        </p:spPr>
        <p:txBody>
          <a:bodyPr wrap="square" lIns="0" tIns="0" rIns="0" bIns="0" rtlCol="0" anchor="t"/>
          <a:lstStyle/>
          <a:p>
            <a:pPr algn="ctr" indent="0" marL="0">
              <a:buNone/>
            </a:pPr>
            <a:r>
              <a:rPr lang="en-US" sz="2000" b="1" dirty="0">
                <a:solidFill>
                  <a:schemeClr val="tx1"/>
                </a:solidFill>
              </a:rPr>
              <a:t>Identify</a:t>
            </a:r>
            <a:endParaRPr lang="en-US" sz="2000" dirty="0"/>
          </a:p>
        </p:txBody>
      </p:sp>
      <p:sp>
        <p:nvSpPr>
          <p:cNvPr id="8" name="Text 4"/>
          <p:cNvSpPr txBox="1"/>
          <p:nvPr/>
        </p:nvSpPr>
        <p:spPr>
          <a:xfrm>
            <a:off x="777240" y="3108960"/>
            <a:ext cx="2103120" cy="1097280"/>
          </a:xfrm>
          <a:prstGeom prst="rect">
            <a:avLst/>
          </a:prstGeom>
          <a:noFill/>
          <a:ln/>
        </p:spPr>
        <p:txBody>
          <a:bodyPr wrap="square" lIns="0" tIns="0" rIns="0" bIns="0" rtlCol="0" anchor="t"/>
          <a:lstStyle/>
          <a:p>
            <a:pPr algn="ctr" indent="0" marL="0">
              <a:buNone/>
            </a:pPr>
            <a:r>
              <a:rPr lang="en-US" sz="1500" dirty="0">
                <a:solidFill>
                  <a:schemeClr val="tx1"/>
                </a:solidFill>
              </a:rPr>
              <a:t>I can find adjectives, adverbials and prepositional phrases in a text.</a:t>
            </a:r>
            <a:endParaRPr lang="en-US" sz="1500" dirty="0"/>
          </a:p>
        </p:txBody>
      </p:sp>
      <p:sp>
        <p:nvSpPr>
          <p:cNvPr id="9" name="card"/>
          <p:cNvSpPr/>
          <p:nvPr/>
        </p:nvSpPr>
        <p:spPr>
          <a:xfrm>
            <a:off x="3291840" y="1188720"/>
            <a:ext cx="2560320" cy="3200400"/>
          </a:xfrm>
          <a:prstGeom prst="roundRect">
            <a:avLst>
              <a:gd name="adj" fmla="val 4286"/>
            </a:avLst>
          </a:prstGeom>
          <a:solidFill>
            <a:schemeClr val="bg2"/>
          </a:solidFill>
          <a:ln w="12700">
            <a:solidFill>
              <a:schemeClr val="bg2"/>
            </a:solidFill>
            <a:prstDash val="solid"/>
          </a:ln>
        </p:spPr>
      </p:sp>
      <p:sp>
        <p:nvSpPr>
          <p:cNvPr id="10" name="badge"/>
          <p:cNvSpPr/>
          <p:nvPr/>
        </p:nvSpPr>
        <p:spPr>
          <a:xfrm>
            <a:off x="4114800" y="1463040"/>
            <a:ext cx="914400" cy="914400"/>
          </a:xfrm>
          <a:prstGeom prst="ellipse">
            <a:avLst/>
          </a:prstGeom>
          <a:solidFill>
            <a:schemeClr val="accent2"/>
          </a:solidFill>
          <a:ln w="12700">
            <a:solidFill>
              <a:schemeClr val="accent2"/>
            </a:solidFill>
            <a:prstDash val="solid"/>
          </a:ln>
        </p:spPr>
      </p:sp>
      <p:pic>
        <p:nvPicPr>
          <p:cNvPr id="11" name="icon" descr="brain">    </p:cNvPr>
          <p:cNvPicPr>
            <a:picLocks noChangeAspect="1"/>
          </p:cNvPicPr>
          <p:nvPr/>
        </p:nvPicPr>
        <p:blipFill>
          <a:blip r:embed="rId2"/>
          <a:stretch>
            <a:fillRect/>
          </a:stretch>
        </p:blipFill>
        <p:spPr>
          <a:xfrm>
            <a:off x="4352544" y="1700784"/>
            <a:ext cx="438912" cy="438912"/>
          </a:xfrm>
          <a:prstGeom prst="rect">
            <a:avLst/>
          </a:prstGeom>
        </p:spPr>
      </p:pic>
      <p:sp>
        <p:nvSpPr>
          <p:cNvPr id="12" name="Text 7"/>
          <p:cNvSpPr txBox="1"/>
          <p:nvPr/>
        </p:nvSpPr>
        <p:spPr>
          <a:xfrm>
            <a:off x="3474720" y="2560320"/>
            <a:ext cx="2194560" cy="457200"/>
          </a:xfrm>
          <a:prstGeom prst="rect">
            <a:avLst/>
          </a:prstGeom>
          <a:noFill/>
          <a:ln/>
        </p:spPr>
        <p:txBody>
          <a:bodyPr wrap="square" lIns="0" tIns="0" rIns="0" bIns="0" rtlCol="0" anchor="t"/>
          <a:lstStyle/>
          <a:p>
            <a:pPr algn="ctr" indent="0" marL="0">
              <a:buNone/>
            </a:pPr>
            <a:r>
              <a:rPr lang="en-US" sz="2000" b="1" dirty="0">
                <a:solidFill>
                  <a:schemeClr val="tx1"/>
                </a:solidFill>
              </a:rPr>
              <a:t>Explain</a:t>
            </a:r>
            <a:endParaRPr lang="en-US" sz="2000" dirty="0"/>
          </a:p>
        </p:txBody>
      </p:sp>
      <p:sp>
        <p:nvSpPr>
          <p:cNvPr id="13" name="Text 8"/>
          <p:cNvSpPr txBox="1"/>
          <p:nvPr/>
        </p:nvSpPr>
        <p:spPr>
          <a:xfrm>
            <a:off x="3520440" y="3108960"/>
            <a:ext cx="2103120" cy="1097280"/>
          </a:xfrm>
          <a:prstGeom prst="rect">
            <a:avLst/>
          </a:prstGeom>
          <a:noFill/>
          <a:ln/>
        </p:spPr>
        <p:txBody>
          <a:bodyPr wrap="square" lIns="0" tIns="0" rIns="0" bIns="0" rtlCol="0" anchor="t"/>
          <a:lstStyle/>
          <a:p>
            <a:pPr algn="ctr" indent="0" marL="0">
              <a:buNone/>
            </a:pPr>
            <a:r>
              <a:rPr lang="en-US" sz="1500" dirty="0">
                <a:solidFill>
                  <a:schemeClr val="tx1"/>
                </a:solidFill>
              </a:rPr>
              <a:t>I can explain how adverbs and adverbials change a verb.</a:t>
            </a:r>
            <a:endParaRPr lang="en-US" sz="1500" dirty="0"/>
          </a:p>
        </p:txBody>
      </p:sp>
      <p:sp>
        <p:nvSpPr>
          <p:cNvPr id="14" name="card"/>
          <p:cNvSpPr/>
          <p:nvPr/>
        </p:nvSpPr>
        <p:spPr>
          <a:xfrm>
            <a:off x="6035040" y="1188720"/>
            <a:ext cx="2560320" cy="3200400"/>
          </a:xfrm>
          <a:prstGeom prst="roundRect">
            <a:avLst>
              <a:gd name="adj" fmla="val 4286"/>
            </a:avLst>
          </a:prstGeom>
          <a:solidFill>
            <a:schemeClr val="bg2"/>
          </a:solidFill>
          <a:ln w="12700">
            <a:solidFill>
              <a:schemeClr val="bg2"/>
            </a:solidFill>
            <a:prstDash val="solid"/>
          </a:ln>
        </p:spPr>
      </p:sp>
      <p:sp>
        <p:nvSpPr>
          <p:cNvPr id="15" name="badge"/>
          <p:cNvSpPr/>
          <p:nvPr/>
        </p:nvSpPr>
        <p:spPr>
          <a:xfrm>
            <a:off x="6858000" y="1463040"/>
            <a:ext cx="914400" cy="914400"/>
          </a:xfrm>
          <a:prstGeom prst="ellipse">
            <a:avLst/>
          </a:prstGeom>
          <a:solidFill>
            <a:schemeClr val="accent3"/>
          </a:solidFill>
          <a:ln w="12700">
            <a:solidFill>
              <a:schemeClr val="accent3"/>
            </a:solidFill>
            <a:prstDash val="solid"/>
          </a:ln>
        </p:spPr>
      </p:sp>
      <p:pic>
        <p:nvPicPr>
          <p:cNvPr id="16" name="icon" descr="pencil">    </p:cNvPr>
          <p:cNvPicPr>
            <a:picLocks noChangeAspect="1"/>
          </p:cNvPicPr>
          <p:nvPr/>
        </p:nvPicPr>
        <p:blipFill>
          <a:blip r:embed="rId3"/>
          <a:stretch>
            <a:fillRect/>
          </a:stretch>
        </p:blipFill>
        <p:spPr>
          <a:xfrm>
            <a:off x="7095744" y="1700784"/>
            <a:ext cx="438912" cy="438912"/>
          </a:xfrm>
          <a:prstGeom prst="rect">
            <a:avLst/>
          </a:prstGeom>
        </p:spPr>
      </p:pic>
      <p:sp>
        <p:nvSpPr>
          <p:cNvPr id="17" name="Text 11"/>
          <p:cNvSpPr txBox="1"/>
          <p:nvPr/>
        </p:nvSpPr>
        <p:spPr>
          <a:xfrm>
            <a:off x="6217920" y="2560320"/>
            <a:ext cx="2194560" cy="457200"/>
          </a:xfrm>
          <a:prstGeom prst="rect">
            <a:avLst/>
          </a:prstGeom>
          <a:noFill/>
          <a:ln/>
        </p:spPr>
        <p:txBody>
          <a:bodyPr wrap="square" lIns="0" tIns="0" rIns="0" bIns="0" rtlCol="0" anchor="t"/>
          <a:lstStyle/>
          <a:p>
            <a:pPr algn="ctr" indent="0" marL="0">
              <a:buNone/>
            </a:pPr>
            <a:r>
              <a:rPr lang="en-US" sz="2000" b="1" dirty="0">
                <a:solidFill>
                  <a:schemeClr val="tx1"/>
                </a:solidFill>
              </a:rPr>
              <a:t>Use</a:t>
            </a:r>
            <a:endParaRPr lang="en-US" sz="2000" dirty="0"/>
          </a:p>
        </p:txBody>
      </p:sp>
      <p:sp>
        <p:nvSpPr>
          <p:cNvPr id="18" name="Text 12"/>
          <p:cNvSpPr txBox="1"/>
          <p:nvPr/>
        </p:nvSpPr>
        <p:spPr>
          <a:xfrm>
            <a:off x="6263640" y="3108960"/>
            <a:ext cx="2103120" cy="1097280"/>
          </a:xfrm>
          <a:prstGeom prst="rect">
            <a:avLst/>
          </a:prstGeom>
          <a:noFill/>
          <a:ln/>
        </p:spPr>
        <p:txBody>
          <a:bodyPr wrap="square" lIns="0" tIns="0" rIns="0" bIns="0" rtlCol="0" anchor="t"/>
          <a:lstStyle/>
          <a:p>
            <a:pPr algn="ctr" indent="0" marL="0">
              <a:buNone/>
            </a:pPr>
            <a:r>
              <a:rPr lang="en-US" sz="1500" dirty="0">
                <a:solidFill>
                  <a:schemeClr val="tx1"/>
                </a:solidFill>
              </a:rPr>
              <a:t>I can use all three to describe a setting.</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Recap: four word classes</a:t>
            </a:r>
            <a:endParaRPr lang="en-US" sz="3000" dirty="0"/>
          </a:p>
        </p:txBody>
      </p:sp>
      <p:sp>
        <p:nvSpPr>
          <p:cNvPr id="4" name="card"/>
          <p:cNvSpPr/>
          <p:nvPr/>
        </p:nvSpPr>
        <p:spPr>
          <a:xfrm>
            <a:off x="548640" y="1097280"/>
            <a:ext cx="8046720" cy="777240"/>
          </a:xfrm>
          <a:prstGeom prst="roundRect">
            <a:avLst>
              <a:gd name="adj" fmla="val 14118"/>
            </a:avLst>
          </a:prstGeom>
          <a:solidFill>
            <a:schemeClr val="bg2"/>
          </a:solidFill>
          <a:ln w="12700">
            <a:solidFill>
              <a:schemeClr val="bg2"/>
            </a:solidFill>
            <a:prstDash val="solid"/>
          </a:ln>
        </p:spPr>
      </p:sp>
      <p:sp>
        <p:nvSpPr>
          <p:cNvPr id="5" name="badge"/>
          <p:cNvSpPr/>
          <p:nvPr/>
        </p:nvSpPr>
        <p:spPr>
          <a:xfrm>
            <a:off x="685800" y="1211580"/>
            <a:ext cx="548640" cy="548640"/>
          </a:xfrm>
          <a:prstGeom prst="ellipse">
            <a:avLst/>
          </a:prstGeom>
          <a:solidFill>
            <a:schemeClr val="accent4"/>
          </a:solidFill>
          <a:ln w="12700">
            <a:solidFill>
              <a:schemeClr val="accent4"/>
            </a:solidFill>
            <a:prstDash val="solid"/>
          </a:ln>
        </p:spPr>
      </p:sp>
      <p:pic>
        <p:nvPicPr>
          <p:cNvPr id="6" name="icon" descr="question">    </p:cNvPr>
          <p:cNvPicPr>
            <a:picLocks noChangeAspect="1"/>
          </p:cNvPicPr>
          <p:nvPr/>
        </p:nvPicPr>
        <p:blipFill>
          <a:blip r:embed="rId1"/>
          <a:stretch>
            <a:fillRect/>
          </a:stretch>
        </p:blipFill>
        <p:spPr>
          <a:xfrm>
            <a:off x="828446" y="1354226"/>
            <a:ext cx="263347" cy="263347"/>
          </a:xfrm>
          <a:prstGeom prst="rect">
            <a:avLst/>
          </a:prstGeom>
        </p:spPr>
      </p:pic>
      <p:sp>
        <p:nvSpPr>
          <p:cNvPr id="7" name="Text 3"/>
          <p:cNvSpPr txBox="1"/>
          <p:nvPr/>
        </p:nvSpPr>
        <p:spPr>
          <a:xfrm>
            <a:off x="1463040" y="1097280"/>
            <a:ext cx="6949440" cy="777240"/>
          </a:xfrm>
          <a:prstGeom prst="rect">
            <a:avLst/>
          </a:prstGeom>
          <a:noFill/>
          <a:ln/>
        </p:spPr>
        <p:txBody>
          <a:bodyPr wrap="square" lIns="0" tIns="0" rIns="0" bIns="0" rtlCol="0" anchor="ctr"/>
          <a:lstStyle/>
          <a:p>
            <a:pPr indent="0" marL="0">
              <a:buNone/>
            </a:pPr>
            <a:r>
              <a:rPr lang="en-US" sz="1800" dirty="0">
                <a:solidFill>
                  <a:schemeClr val="tx1"/>
                </a:solidFill>
              </a:rPr>
              <a:t>What is a noun? Give an example.</a:t>
            </a:r>
            <a:endParaRPr lang="en-US" sz="1800" dirty="0"/>
          </a:p>
        </p:txBody>
      </p:sp>
      <p:sp>
        <p:nvSpPr>
          <p:cNvPr id="8" name="card"/>
          <p:cNvSpPr/>
          <p:nvPr/>
        </p:nvSpPr>
        <p:spPr>
          <a:xfrm>
            <a:off x="548640" y="2011680"/>
            <a:ext cx="8046720" cy="777240"/>
          </a:xfrm>
          <a:prstGeom prst="roundRect">
            <a:avLst>
              <a:gd name="adj" fmla="val 14118"/>
            </a:avLst>
          </a:prstGeom>
          <a:solidFill>
            <a:schemeClr val="bg2"/>
          </a:solidFill>
          <a:ln w="12700">
            <a:solidFill>
              <a:schemeClr val="bg2"/>
            </a:solidFill>
            <a:prstDash val="solid"/>
          </a:ln>
        </p:spPr>
      </p:sp>
      <p:sp>
        <p:nvSpPr>
          <p:cNvPr id="9" name="badge"/>
          <p:cNvSpPr/>
          <p:nvPr/>
        </p:nvSpPr>
        <p:spPr>
          <a:xfrm>
            <a:off x="685800" y="2125980"/>
            <a:ext cx="548640" cy="548640"/>
          </a:xfrm>
          <a:prstGeom prst="ellipse">
            <a:avLst/>
          </a:prstGeom>
          <a:solidFill>
            <a:schemeClr val="accent2"/>
          </a:solidFill>
          <a:ln w="12700">
            <a:solidFill>
              <a:schemeClr val="accent2"/>
            </a:solidFill>
            <a:prstDash val="solid"/>
          </a:ln>
        </p:spPr>
      </p:sp>
      <p:pic>
        <p:nvPicPr>
          <p:cNvPr id="10" name="icon" descr="question">    </p:cNvPr>
          <p:cNvPicPr>
            <a:picLocks noChangeAspect="1"/>
          </p:cNvPicPr>
          <p:nvPr/>
        </p:nvPicPr>
        <p:blipFill>
          <a:blip r:embed="rId2"/>
          <a:stretch>
            <a:fillRect/>
          </a:stretch>
        </p:blipFill>
        <p:spPr>
          <a:xfrm>
            <a:off x="828446" y="2268626"/>
            <a:ext cx="263347" cy="263347"/>
          </a:xfrm>
          <a:prstGeom prst="rect">
            <a:avLst/>
          </a:prstGeom>
        </p:spPr>
      </p:pic>
      <p:sp>
        <p:nvSpPr>
          <p:cNvPr id="11" name="Text 6"/>
          <p:cNvSpPr txBox="1"/>
          <p:nvPr/>
        </p:nvSpPr>
        <p:spPr>
          <a:xfrm>
            <a:off x="1463040" y="2011680"/>
            <a:ext cx="6949440" cy="777240"/>
          </a:xfrm>
          <a:prstGeom prst="rect">
            <a:avLst/>
          </a:prstGeom>
          <a:noFill/>
          <a:ln/>
        </p:spPr>
        <p:txBody>
          <a:bodyPr wrap="square" lIns="0" tIns="0" rIns="0" bIns="0" rtlCol="0" anchor="ctr"/>
          <a:lstStyle/>
          <a:p>
            <a:pPr indent="0" marL="0">
              <a:buNone/>
            </a:pPr>
            <a:r>
              <a:rPr lang="en-US" sz="1800" dirty="0">
                <a:solidFill>
                  <a:schemeClr val="tx1"/>
                </a:solidFill>
              </a:rPr>
              <a:t>What is a verb? Give an example.</a:t>
            </a:r>
            <a:endParaRPr lang="en-US" sz="1800" dirty="0"/>
          </a:p>
        </p:txBody>
      </p:sp>
      <p:sp>
        <p:nvSpPr>
          <p:cNvPr id="12" name="card"/>
          <p:cNvSpPr/>
          <p:nvPr/>
        </p:nvSpPr>
        <p:spPr>
          <a:xfrm>
            <a:off x="548640" y="2926080"/>
            <a:ext cx="8046720" cy="777240"/>
          </a:xfrm>
          <a:prstGeom prst="roundRect">
            <a:avLst>
              <a:gd name="adj" fmla="val 14118"/>
            </a:avLst>
          </a:prstGeom>
          <a:solidFill>
            <a:schemeClr val="bg2"/>
          </a:solidFill>
          <a:ln w="12700">
            <a:solidFill>
              <a:schemeClr val="bg2"/>
            </a:solidFill>
            <a:prstDash val="solid"/>
          </a:ln>
        </p:spPr>
      </p:sp>
      <p:sp>
        <p:nvSpPr>
          <p:cNvPr id="13" name="badge"/>
          <p:cNvSpPr/>
          <p:nvPr/>
        </p:nvSpPr>
        <p:spPr>
          <a:xfrm>
            <a:off x="685800" y="3040380"/>
            <a:ext cx="548640" cy="548640"/>
          </a:xfrm>
          <a:prstGeom prst="ellipse">
            <a:avLst/>
          </a:prstGeom>
          <a:solidFill>
            <a:schemeClr val="accent3"/>
          </a:solidFill>
          <a:ln w="12700">
            <a:solidFill>
              <a:schemeClr val="accent3"/>
            </a:solidFill>
            <a:prstDash val="solid"/>
          </a:ln>
        </p:spPr>
      </p:sp>
      <p:pic>
        <p:nvPicPr>
          <p:cNvPr id="14" name="icon" descr="question">    </p:cNvPr>
          <p:cNvPicPr>
            <a:picLocks noChangeAspect="1"/>
          </p:cNvPicPr>
          <p:nvPr/>
        </p:nvPicPr>
        <p:blipFill>
          <a:blip r:embed="rId3"/>
          <a:stretch>
            <a:fillRect/>
          </a:stretch>
        </p:blipFill>
        <p:spPr>
          <a:xfrm>
            <a:off x="828446" y="3183026"/>
            <a:ext cx="263347" cy="263347"/>
          </a:xfrm>
          <a:prstGeom prst="rect">
            <a:avLst/>
          </a:prstGeom>
        </p:spPr>
      </p:pic>
      <p:sp>
        <p:nvSpPr>
          <p:cNvPr id="15" name="Text 9"/>
          <p:cNvSpPr txBox="1"/>
          <p:nvPr/>
        </p:nvSpPr>
        <p:spPr>
          <a:xfrm>
            <a:off x="1463040" y="2926080"/>
            <a:ext cx="6949440" cy="777240"/>
          </a:xfrm>
          <a:prstGeom prst="rect">
            <a:avLst/>
          </a:prstGeom>
          <a:noFill/>
          <a:ln/>
        </p:spPr>
        <p:txBody>
          <a:bodyPr wrap="square" lIns="0" tIns="0" rIns="0" bIns="0" rtlCol="0" anchor="ctr"/>
          <a:lstStyle/>
          <a:p>
            <a:pPr indent="0" marL="0">
              <a:buNone/>
            </a:pPr>
            <a:r>
              <a:rPr lang="en-US" sz="1800" dirty="0">
                <a:solidFill>
                  <a:schemeClr val="tx1"/>
                </a:solidFill>
              </a:rPr>
              <a:t>What does an adjective do? Give an example.</a:t>
            </a:r>
            <a:endParaRPr lang="en-US" sz="1800" dirty="0"/>
          </a:p>
        </p:txBody>
      </p:sp>
      <p:sp>
        <p:nvSpPr>
          <p:cNvPr id="16" name="card"/>
          <p:cNvSpPr/>
          <p:nvPr/>
        </p:nvSpPr>
        <p:spPr>
          <a:xfrm>
            <a:off x="548640" y="3840480"/>
            <a:ext cx="8046720" cy="777240"/>
          </a:xfrm>
          <a:prstGeom prst="roundRect">
            <a:avLst>
              <a:gd name="adj" fmla="val 14118"/>
            </a:avLst>
          </a:prstGeom>
          <a:solidFill>
            <a:schemeClr val="bg2"/>
          </a:solidFill>
          <a:ln w="12700">
            <a:solidFill>
              <a:schemeClr val="bg2"/>
            </a:solidFill>
            <a:prstDash val="solid"/>
          </a:ln>
        </p:spPr>
      </p:sp>
      <p:sp>
        <p:nvSpPr>
          <p:cNvPr id="17" name="badge"/>
          <p:cNvSpPr/>
          <p:nvPr/>
        </p:nvSpPr>
        <p:spPr>
          <a:xfrm>
            <a:off x="685800" y="3954780"/>
            <a:ext cx="548640" cy="548640"/>
          </a:xfrm>
          <a:prstGeom prst="ellipse">
            <a:avLst/>
          </a:prstGeom>
          <a:solidFill>
            <a:schemeClr val="accent5"/>
          </a:solidFill>
          <a:ln w="12700">
            <a:solidFill>
              <a:schemeClr val="accent5"/>
            </a:solidFill>
            <a:prstDash val="solid"/>
          </a:ln>
        </p:spPr>
      </p:sp>
      <p:pic>
        <p:nvPicPr>
          <p:cNvPr id="18" name="icon" descr="question">    </p:cNvPr>
          <p:cNvPicPr>
            <a:picLocks noChangeAspect="1"/>
          </p:cNvPicPr>
          <p:nvPr/>
        </p:nvPicPr>
        <p:blipFill>
          <a:blip r:embed="rId4"/>
          <a:stretch>
            <a:fillRect/>
          </a:stretch>
        </p:blipFill>
        <p:spPr>
          <a:xfrm>
            <a:off x="828446" y="4097426"/>
            <a:ext cx="263347" cy="263347"/>
          </a:xfrm>
          <a:prstGeom prst="rect">
            <a:avLst/>
          </a:prstGeom>
        </p:spPr>
      </p:pic>
      <p:sp>
        <p:nvSpPr>
          <p:cNvPr id="19" name="Text 12"/>
          <p:cNvSpPr txBox="1"/>
          <p:nvPr/>
        </p:nvSpPr>
        <p:spPr>
          <a:xfrm>
            <a:off x="1463040" y="3840480"/>
            <a:ext cx="6949440" cy="777240"/>
          </a:xfrm>
          <a:prstGeom prst="rect">
            <a:avLst/>
          </a:prstGeom>
          <a:noFill/>
          <a:ln/>
        </p:spPr>
        <p:txBody>
          <a:bodyPr wrap="square" lIns="0" tIns="0" rIns="0" bIns="0" rtlCol="0" anchor="ctr"/>
          <a:lstStyle/>
          <a:p>
            <a:pPr indent="0" marL="0">
              <a:buNone/>
            </a:pPr>
            <a:r>
              <a:rPr lang="en-US" sz="1800" dirty="0">
                <a:solidFill>
                  <a:schemeClr val="tx1"/>
                </a:solidFill>
              </a:rPr>
              <a:t>What is a preposition? Give an example.</a:t>
            </a:r>
            <a:endParaRPr lang="en-US" sz="18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Answers: recap</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A word that names a person, place or thing.</a:t>
            </a:r>
            <a:pPr indent="0" marL="0">
              <a:buNone/>
            </a:pPr>
            <a:r>
              <a:rPr lang="en-US" sz="1400" dirty="0">
                <a:solidFill>
                  <a:schemeClr val="tx1"/>
                </a:solidFill>
              </a:rPr>
              <a:t> For example: tower, canal, Orrin.</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A word for an action or a state.</a:t>
            </a:r>
            <a:pPr indent="0" marL="0">
              <a:buNone/>
            </a:pPr>
            <a:r>
              <a:rPr lang="en-US" sz="1400" dirty="0">
                <a:solidFill>
                  <a:schemeClr val="tx1"/>
                </a:solidFill>
              </a:rPr>
              <a:t> For example: walked, stood, is.</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A word that describes a noun.</a:t>
            </a:r>
            <a:pPr indent="0" marL="0">
              <a:buNone/>
            </a:pPr>
            <a:r>
              <a:rPr lang="en-US" sz="1400" dirty="0">
                <a:solidFill>
                  <a:schemeClr val="tx1"/>
                </a:solidFill>
              </a:rPr>
              <a:t> For example: tall, cold, silver.</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A word that shows position, direction or time.</a:t>
            </a:r>
            <a:pPr indent="0" marL="0">
              <a:buNone/>
            </a:pPr>
            <a:r>
              <a:rPr lang="en-US" sz="1400" dirty="0">
                <a:solidFill>
                  <a:schemeClr val="tx1"/>
                </a:solidFill>
              </a:rPr>
              <a:t> For example: in, on, under, beyond, across.</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Adjectives: describe the noun</a:t>
            </a:r>
            <a:endParaRPr lang="en-US" sz="3000" dirty="0"/>
          </a:p>
        </p:txBody>
      </p:sp>
      <p:sp>
        <p:nvSpPr>
          <p:cNvPr id="4" name="card"/>
          <p:cNvSpPr/>
          <p:nvPr/>
        </p:nvSpPr>
        <p:spPr>
          <a:xfrm>
            <a:off x="548640" y="1097280"/>
            <a:ext cx="3931920" cy="2926080"/>
          </a:xfrm>
          <a:prstGeom prst="roundRect">
            <a:avLst>
              <a:gd name="adj" fmla="val 3750"/>
            </a:avLst>
          </a:prstGeom>
          <a:solidFill>
            <a:schemeClr val="bg2"/>
          </a:solidFill>
          <a:ln w="12700">
            <a:solidFill>
              <a:schemeClr val="bg2"/>
            </a:solidFill>
            <a:prstDash val="solid"/>
          </a:ln>
        </p:spPr>
      </p:sp>
      <p:sp>
        <p:nvSpPr>
          <p:cNvPr id="5" name="heading"/>
          <p:cNvSpPr/>
          <p:nvPr/>
        </p:nvSpPr>
        <p:spPr>
          <a:xfrm>
            <a:off x="731520" y="1234440"/>
            <a:ext cx="3566160" cy="502920"/>
          </a:xfrm>
          <a:prstGeom prst="roundRect">
            <a:avLst>
              <a:gd name="adj" fmla="val 21818"/>
            </a:avLst>
          </a:prstGeom>
          <a:solidFill>
            <a:schemeClr val="accent3"/>
          </a:solidFill>
          <a:ln w="12700">
            <a:solidFill>
              <a:schemeClr val="accent3"/>
            </a:solidFill>
            <a:prstDash val="solid"/>
          </a:ln>
        </p:spPr>
      </p:sp>
      <p:sp>
        <p:nvSpPr>
          <p:cNvPr id="6" name="Text 3"/>
          <p:cNvSpPr txBox="1"/>
          <p:nvPr/>
        </p:nvSpPr>
        <p:spPr>
          <a:xfrm>
            <a:off x="731520" y="1234440"/>
            <a:ext cx="3566160" cy="502920"/>
          </a:xfrm>
          <a:prstGeom prst="rect">
            <a:avLst/>
          </a:prstGeom>
          <a:noFill/>
          <a:ln/>
        </p:spPr>
        <p:txBody>
          <a:bodyPr wrap="square" lIns="0" tIns="0" rIns="0" bIns="0" rtlCol="0" anchor="ctr"/>
          <a:lstStyle/>
          <a:p>
            <a:pPr algn="ctr" indent="0" marL="0">
              <a:buNone/>
            </a:pPr>
            <a:r>
              <a:rPr lang="en-US" sz="1800" b="1" dirty="0">
                <a:solidFill>
                  <a:schemeClr val="bg1"/>
                </a:solidFill>
              </a:rPr>
              <a:t>Plain</a:t>
            </a:r>
            <a:endParaRPr lang="en-US" sz="1800" dirty="0"/>
          </a:p>
        </p:txBody>
      </p:sp>
      <p:sp>
        <p:nvSpPr>
          <p:cNvPr id="7" name="Text 4"/>
          <p:cNvSpPr txBox="1"/>
          <p:nvPr/>
        </p:nvSpPr>
        <p:spPr>
          <a:xfrm>
            <a:off x="822960" y="1874520"/>
            <a:ext cx="3383280" cy="210312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A door stood at the end of the hall.</a:t>
            </a:r>
            <a:endParaRPr lang="en-US" sz="1600" dirty="0"/>
          </a:p>
        </p:txBody>
      </p:sp>
      <p:sp>
        <p:nvSpPr>
          <p:cNvPr id="8" name="card"/>
          <p:cNvSpPr/>
          <p:nvPr/>
        </p:nvSpPr>
        <p:spPr>
          <a:xfrm>
            <a:off x="4663440" y="1097280"/>
            <a:ext cx="3931920" cy="2926080"/>
          </a:xfrm>
          <a:prstGeom prst="roundRect">
            <a:avLst>
              <a:gd name="adj" fmla="val 3750"/>
            </a:avLst>
          </a:prstGeom>
          <a:solidFill>
            <a:schemeClr val="bg2"/>
          </a:solidFill>
          <a:ln w="12700">
            <a:solidFill>
              <a:schemeClr val="bg2"/>
            </a:solidFill>
            <a:prstDash val="solid"/>
          </a:ln>
        </p:spPr>
      </p:sp>
      <p:sp>
        <p:nvSpPr>
          <p:cNvPr id="9" name="heading"/>
          <p:cNvSpPr/>
          <p:nvPr/>
        </p:nvSpPr>
        <p:spPr>
          <a:xfrm>
            <a:off x="4846320" y="1234440"/>
            <a:ext cx="3566160" cy="502920"/>
          </a:xfrm>
          <a:prstGeom prst="roundRect">
            <a:avLst>
              <a:gd name="adj" fmla="val 21818"/>
            </a:avLst>
          </a:prstGeom>
          <a:solidFill>
            <a:schemeClr val="accent2"/>
          </a:solidFill>
          <a:ln w="12700">
            <a:solidFill>
              <a:schemeClr val="accent2"/>
            </a:solidFill>
            <a:prstDash val="solid"/>
          </a:ln>
        </p:spPr>
      </p:sp>
      <p:sp>
        <p:nvSpPr>
          <p:cNvPr id="10" name="Text 7"/>
          <p:cNvSpPr txBox="1"/>
          <p:nvPr/>
        </p:nvSpPr>
        <p:spPr>
          <a:xfrm>
            <a:off x="4846320" y="1234440"/>
            <a:ext cx="3566160" cy="502920"/>
          </a:xfrm>
          <a:prstGeom prst="rect">
            <a:avLst/>
          </a:prstGeom>
          <a:noFill/>
          <a:ln/>
        </p:spPr>
        <p:txBody>
          <a:bodyPr wrap="square" lIns="0" tIns="0" rIns="0" bIns="0" rtlCol="0" anchor="ctr"/>
          <a:lstStyle/>
          <a:p>
            <a:pPr algn="ctr" indent="0" marL="0">
              <a:buNone/>
            </a:pPr>
            <a:r>
              <a:rPr lang="en-US" sz="1800" b="1" dirty="0">
                <a:solidFill>
                  <a:schemeClr val="bg1"/>
                </a:solidFill>
              </a:rPr>
              <a:t>With adjectives</a:t>
            </a:r>
            <a:endParaRPr lang="en-US" sz="1800" dirty="0"/>
          </a:p>
        </p:txBody>
      </p:sp>
      <p:sp>
        <p:nvSpPr>
          <p:cNvPr id="11" name="Text 8"/>
          <p:cNvSpPr txBox="1"/>
          <p:nvPr/>
        </p:nvSpPr>
        <p:spPr>
          <a:xfrm>
            <a:off x="4937760" y="1874520"/>
            <a:ext cx="3383280" cy="210312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A </a:t>
            </a:r>
            <a:pPr indent="0" marL="0">
              <a:spcAft>
                <a:spcPts val="800"/>
              </a:spcAft>
              <a:buNone/>
            </a:pPr>
            <a:r>
              <a:rPr lang="en-US" sz="1600" b="1" dirty="0">
                <a:solidFill>
                  <a:schemeClr val="tx1"/>
                </a:solidFill>
                <a:highlight>
                  <a:srgbClr val="FFD27F"/>
                </a:highlight>
              </a:rPr>
              <a:t>heavy, iron</a:t>
            </a:r>
            <a:pPr indent="0" marL="0">
              <a:spcAft>
                <a:spcPts val="800"/>
              </a:spcAft>
              <a:buNone/>
            </a:pPr>
            <a:r>
              <a:rPr lang="en-US" sz="1600" dirty="0">
                <a:solidFill>
                  <a:schemeClr val="tx1"/>
                </a:solidFill>
              </a:rPr>
              <a:t> door stood at the end of the </a:t>
            </a:r>
            <a:pPr indent="0" marL="0">
              <a:spcAft>
                <a:spcPts val="800"/>
              </a:spcAft>
              <a:buNone/>
            </a:pPr>
            <a:r>
              <a:rPr lang="en-US" sz="1600" b="1" dirty="0">
                <a:solidFill>
                  <a:schemeClr val="tx1"/>
                </a:solidFill>
                <a:highlight>
                  <a:srgbClr val="FFD27F"/>
                </a:highlight>
              </a:rPr>
              <a:t>long, dark</a:t>
            </a:r>
            <a:pPr indent="0" marL="0">
              <a:spcAft>
                <a:spcPts val="800"/>
              </a:spcAft>
              <a:buNone/>
            </a:pPr>
            <a:r>
              <a:rPr lang="en-US" sz="1600" dirty="0">
                <a:solidFill>
                  <a:schemeClr val="tx1"/>
                </a:solidFill>
              </a:rPr>
              <a:t> hall.</a:t>
            </a:r>
            <a:endParaRPr lang="en-US" sz="1600" dirty="0"/>
          </a:p>
        </p:txBody>
      </p:sp>
      <p:sp>
        <p:nvSpPr>
          <p:cNvPr id="12"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13" name="Text 10"/>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An adjective goes before the noun. Put a comma between two adjectives: 'a heavy, iron door'.</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Adverbs and adverbials: change the verb</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1828800"/>
                <a:gridCol w="3840480"/>
                <a:gridCol w="2377440"/>
              </a:tblGrid>
              <a:tr h="365760">
                <a:tc>
                  <a:txBody>
                    <a:bodyPr/>
                    <a:lstStyle/>
                    <a:p>
                      <a:pPr algn="ctr" indent="0" marL="0">
                        <a:buNone/>
                      </a:pPr>
                      <a:r>
                        <a:rPr lang="en-US" sz="1400" b="1" dirty="0">
                          <a:solidFill>
                            <a:srgbClr val="FFFFFF"/>
                          </a:solidFill>
                        </a:rPr>
                        <a:t>Verb</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Adverb or adverbial</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What it tells us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640080">
                <a:tc>
                  <a:txBody>
                    <a:bodyPr/>
                    <a:lstStyle/>
                    <a:p>
                      <a:pPr indent="0" marL="0">
                        <a:buNone/>
                      </a:pPr>
                      <a:r>
                        <a:rPr lang="en-US" sz="1250" b="1" dirty="0">
                          <a:solidFill>
                            <a:srgbClr val="1F1B3A"/>
                          </a:solidFill>
                        </a:rPr>
                        <a:t>Orrin walked</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Orrin walked *slowly*.</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how he walked</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640080">
                <a:tc>
                  <a:txBody>
                    <a:bodyPr/>
                    <a:lstStyle/>
                    <a:p>
                      <a:pPr indent="0" marL="0">
                        <a:buNone/>
                      </a:pPr>
                      <a:r>
                        <a:rPr lang="en-US" sz="1250" b="1" dirty="0">
                          <a:solidFill>
                            <a:srgbClr val="1F1B3A"/>
                          </a:solidFill>
                        </a:rPr>
                        <a:t>Orrin walked</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Orrin walked *without a sound*.</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how he walked</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640080">
                <a:tc>
                  <a:txBody>
                    <a:bodyPr/>
                    <a:lstStyle/>
                    <a:p>
                      <a:pPr indent="0" marL="0">
                        <a:buNone/>
                      </a:pPr>
                      <a:r>
                        <a:rPr lang="en-US" sz="1250" b="1" dirty="0">
                          <a:solidFill>
                            <a:srgbClr val="1F1B3A"/>
                          </a:solidFill>
                        </a:rPr>
                        <a:t>Orrin walked</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Orrin walked *across the courtyard*.</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where he walked</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640080">
                <a:tc>
                  <a:txBody>
                    <a:bodyPr/>
                    <a:lstStyle/>
                    <a:p>
                      <a:pPr indent="0" marL="0">
                        <a:buNone/>
                      </a:pPr>
                      <a:r>
                        <a:rPr lang="en-US" sz="1250" b="1" dirty="0">
                          <a:solidFill>
                            <a:srgbClr val="1F1B3A"/>
                          </a:solidFill>
                        </a:rPr>
                        <a:t>Orrin walked</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*Later that night*, Orrin walked.</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when he walked</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5"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6" name="Text 2"/>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Different adverbs make the same verb give a different picture. Slowly and boldly are not the same!</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Prepositions and prepositional phrases</a:t>
            </a:r>
            <a:endParaRPr lang="en-US" sz="3000" dirty="0"/>
          </a:p>
        </p:txBody>
      </p:sp>
      <p:sp>
        <p:nvSpPr>
          <p:cNvPr id="4" name="card"/>
          <p:cNvSpPr/>
          <p:nvPr/>
        </p:nvSpPr>
        <p:spPr>
          <a:xfrm>
            <a:off x="548640" y="1097280"/>
            <a:ext cx="8046720" cy="1005840"/>
          </a:xfrm>
          <a:prstGeom prst="roundRect">
            <a:avLst>
              <a:gd name="adj" fmla="val 10909"/>
            </a:avLst>
          </a:prstGeom>
          <a:solidFill>
            <a:schemeClr val="accent1"/>
          </a:solidFill>
          <a:ln w="12700">
            <a:solidFill>
              <a:schemeClr val="accent1"/>
            </a:solidFill>
            <a:prstDash val="solid"/>
          </a:ln>
        </p:spPr>
      </p:sp>
      <p:sp>
        <p:nvSpPr>
          <p:cNvPr id="5" name="Text 2"/>
          <p:cNvSpPr txBox="1"/>
          <p:nvPr/>
        </p:nvSpPr>
        <p:spPr>
          <a:xfrm>
            <a:off x="777240" y="1097280"/>
            <a:ext cx="7589520" cy="1005840"/>
          </a:xfrm>
          <a:prstGeom prst="rect">
            <a:avLst/>
          </a:prstGeom>
          <a:noFill/>
          <a:ln/>
        </p:spPr>
        <p:txBody>
          <a:bodyPr wrap="square" lIns="0" tIns="0" rIns="0" bIns="0" rtlCol="0" anchor="ctr"/>
          <a:lstStyle/>
          <a:p>
            <a:pPr indent="0" marL="0">
              <a:buNone/>
            </a:pPr>
            <a:r>
              <a:rPr lang="en-US" sz="1700" b="1" dirty="0">
                <a:solidFill>
                  <a:schemeClr val="tx1"/>
                </a:solidFill>
              </a:rPr>
              <a:t>A </a:t>
            </a:r>
            <a:pPr indent="0" marL="0">
              <a:buNone/>
            </a:pPr>
            <a:r>
              <a:rPr lang="en-US" sz="1700" b="1" dirty="0">
                <a:solidFill>
                  <a:schemeClr val="tx1"/>
                </a:solidFill>
                <a:highlight>
                  <a:srgbClr val="FFD27F"/>
                </a:highlight>
              </a:rPr>
              <a:t>preposition</a:t>
            </a:r>
            <a:pPr indent="0" marL="0">
              <a:buNone/>
            </a:pPr>
            <a:r>
              <a:rPr lang="en-US" sz="1700" b="1" dirty="0">
                <a:solidFill>
                  <a:schemeClr val="tx1"/>
                </a:solidFill>
              </a:rPr>
              <a:t> shows </a:t>
            </a:r>
            <a:pPr indent="0" marL="0">
              <a:buNone/>
            </a:pPr>
            <a:r>
              <a:rPr lang="en-US" sz="1700" b="1" dirty="0">
                <a:solidFill>
                  <a:schemeClr val="tx1"/>
                </a:solidFill>
                <a:highlight>
                  <a:srgbClr val="FFD27F"/>
                </a:highlight>
              </a:rPr>
              <a:t>where</a:t>
            </a:r>
            <a:pPr indent="0" marL="0">
              <a:buNone/>
            </a:pPr>
            <a:r>
              <a:rPr lang="en-US" sz="1700" b="1" dirty="0">
                <a:solidFill>
                  <a:schemeClr val="tx1"/>
                </a:solidFill>
              </a:rPr>
              <a:t> or </a:t>
            </a:r>
            <a:pPr indent="0" marL="0">
              <a:buNone/>
            </a:pPr>
            <a:r>
              <a:rPr lang="en-US" sz="1700" b="1" dirty="0">
                <a:solidFill>
                  <a:schemeClr val="tx1"/>
                </a:solidFill>
                <a:highlight>
                  <a:srgbClr val="FFD27F"/>
                </a:highlight>
              </a:rPr>
              <a:t>when</a:t>
            </a:r>
            <a:pPr indent="0" marL="0">
              <a:buNone/>
            </a:pPr>
            <a:r>
              <a:rPr lang="en-US" sz="1700" b="1" dirty="0">
                <a:solidFill>
                  <a:schemeClr val="tx1"/>
                </a:solidFill>
              </a:rPr>
              <a:t>: in, on, under, above, beyond, behind, across, through, between.</a:t>
            </a:r>
            <a:endParaRPr lang="en-US" sz="1600" dirty="0"/>
          </a:p>
        </p:txBody>
      </p:sp>
      <p:sp>
        <p:nvSpPr>
          <p:cNvPr id="6" name="card"/>
          <p:cNvSpPr/>
          <p:nvPr/>
        </p:nvSpPr>
        <p:spPr>
          <a:xfrm>
            <a:off x="548640" y="2286000"/>
            <a:ext cx="2560320" cy="1737360"/>
          </a:xfrm>
          <a:prstGeom prst="roundRect">
            <a:avLst>
              <a:gd name="adj" fmla="val 6316"/>
            </a:avLst>
          </a:prstGeom>
          <a:solidFill>
            <a:schemeClr val="bg2"/>
          </a:solidFill>
          <a:ln w="12700">
            <a:solidFill>
              <a:schemeClr val="bg2"/>
            </a:solidFill>
            <a:prstDash val="solid"/>
          </a:ln>
        </p:spPr>
      </p:sp>
      <p:sp>
        <p:nvSpPr>
          <p:cNvPr id="7" name="Text 4"/>
          <p:cNvSpPr txBox="1"/>
          <p:nvPr/>
        </p:nvSpPr>
        <p:spPr>
          <a:xfrm>
            <a:off x="731520" y="2377440"/>
            <a:ext cx="2194560" cy="457200"/>
          </a:xfrm>
          <a:prstGeom prst="rect">
            <a:avLst/>
          </a:prstGeom>
          <a:noFill/>
          <a:ln/>
        </p:spPr>
        <p:txBody>
          <a:bodyPr wrap="square" lIns="0" tIns="0" rIns="0" bIns="0" rtlCol="0" anchor="t"/>
          <a:lstStyle/>
          <a:p>
            <a:pPr indent="0" marL="0">
              <a:buNone/>
            </a:pPr>
            <a:r>
              <a:rPr lang="en-US" sz="1800" b="1" dirty="0">
                <a:solidFill>
                  <a:schemeClr val="accent4"/>
                </a:solidFill>
              </a:rPr>
              <a:t>above</a:t>
            </a:r>
            <a:endParaRPr lang="en-US" sz="1800" dirty="0"/>
          </a:p>
        </p:txBody>
      </p:sp>
      <p:sp>
        <p:nvSpPr>
          <p:cNvPr id="8" name="Text 5"/>
          <p:cNvSpPr txBox="1"/>
          <p:nvPr/>
        </p:nvSpPr>
        <p:spPr>
          <a:xfrm>
            <a:off x="731520" y="2926080"/>
            <a:ext cx="2194560" cy="1005840"/>
          </a:xfrm>
          <a:prstGeom prst="rect">
            <a:avLst/>
          </a:prstGeom>
          <a:noFill/>
          <a:ln/>
        </p:spPr>
        <p:txBody>
          <a:bodyPr wrap="square" lIns="0" tIns="0" rIns="0" bIns="0" rtlCol="0" anchor="t"/>
          <a:lstStyle/>
          <a:p>
            <a:pPr indent="0" marL="0">
              <a:buNone/>
            </a:pPr>
            <a:r>
              <a:rPr lang="en-US" sz="1400" dirty="0">
                <a:solidFill>
                  <a:schemeClr val="tx1"/>
                </a:solidFill>
              </a:rPr>
              <a:t>The lamp hung above the door.</a:t>
            </a:r>
            <a:endParaRPr lang="en-US" sz="1400" dirty="0"/>
          </a:p>
        </p:txBody>
      </p:sp>
      <p:sp>
        <p:nvSpPr>
          <p:cNvPr id="9" name="card"/>
          <p:cNvSpPr/>
          <p:nvPr/>
        </p:nvSpPr>
        <p:spPr>
          <a:xfrm>
            <a:off x="3291840" y="2286000"/>
            <a:ext cx="2560320" cy="1737360"/>
          </a:xfrm>
          <a:prstGeom prst="roundRect">
            <a:avLst>
              <a:gd name="adj" fmla="val 6316"/>
            </a:avLst>
          </a:prstGeom>
          <a:solidFill>
            <a:schemeClr val="bg2"/>
          </a:solidFill>
          <a:ln w="12700">
            <a:solidFill>
              <a:schemeClr val="bg2"/>
            </a:solidFill>
            <a:prstDash val="solid"/>
          </a:ln>
        </p:spPr>
      </p:sp>
      <p:sp>
        <p:nvSpPr>
          <p:cNvPr id="10" name="Text 7"/>
          <p:cNvSpPr txBox="1"/>
          <p:nvPr/>
        </p:nvSpPr>
        <p:spPr>
          <a:xfrm>
            <a:off x="3474720" y="2377440"/>
            <a:ext cx="2194560" cy="457200"/>
          </a:xfrm>
          <a:prstGeom prst="rect">
            <a:avLst/>
          </a:prstGeom>
          <a:noFill/>
          <a:ln/>
        </p:spPr>
        <p:txBody>
          <a:bodyPr wrap="square" lIns="0" tIns="0" rIns="0" bIns="0" rtlCol="0" anchor="t"/>
          <a:lstStyle/>
          <a:p>
            <a:pPr indent="0" marL="0">
              <a:buNone/>
            </a:pPr>
            <a:r>
              <a:rPr lang="en-US" sz="1800" b="1" dirty="0">
                <a:solidFill>
                  <a:schemeClr val="accent2"/>
                </a:solidFill>
              </a:rPr>
              <a:t>beyond</a:t>
            </a:r>
            <a:endParaRPr lang="en-US" sz="1800" dirty="0"/>
          </a:p>
        </p:txBody>
      </p:sp>
      <p:sp>
        <p:nvSpPr>
          <p:cNvPr id="11" name="Text 8"/>
          <p:cNvSpPr txBox="1"/>
          <p:nvPr/>
        </p:nvSpPr>
        <p:spPr>
          <a:xfrm>
            <a:off x="3474720" y="2926080"/>
            <a:ext cx="2194560" cy="1005840"/>
          </a:xfrm>
          <a:prstGeom prst="rect">
            <a:avLst/>
          </a:prstGeom>
          <a:noFill/>
          <a:ln/>
        </p:spPr>
        <p:txBody>
          <a:bodyPr wrap="square" lIns="0" tIns="0" rIns="0" bIns="0" rtlCol="0" anchor="t"/>
          <a:lstStyle/>
          <a:p>
            <a:pPr indent="0" marL="0">
              <a:buNone/>
            </a:pPr>
            <a:r>
              <a:rPr lang="en-US" sz="1400" dirty="0">
                <a:solidFill>
                  <a:schemeClr val="tx1"/>
                </a:solidFill>
              </a:rPr>
              <a:t>Beyond the ridge, a city waited.</a:t>
            </a:r>
            <a:endParaRPr lang="en-US" sz="1400" dirty="0"/>
          </a:p>
        </p:txBody>
      </p:sp>
      <p:sp>
        <p:nvSpPr>
          <p:cNvPr id="12" name="card"/>
          <p:cNvSpPr/>
          <p:nvPr/>
        </p:nvSpPr>
        <p:spPr>
          <a:xfrm>
            <a:off x="6035040" y="2286000"/>
            <a:ext cx="2560320" cy="1737360"/>
          </a:xfrm>
          <a:prstGeom prst="roundRect">
            <a:avLst>
              <a:gd name="adj" fmla="val 6316"/>
            </a:avLst>
          </a:prstGeom>
          <a:solidFill>
            <a:schemeClr val="bg2"/>
          </a:solidFill>
          <a:ln w="12700">
            <a:solidFill>
              <a:schemeClr val="bg2"/>
            </a:solidFill>
            <a:prstDash val="solid"/>
          </a:ln>
        </p:spPr>
      </p:sp>
      <p:sp>
        <p:nvSpPr>
          <p:cNvPr id="13" name="Text 10"/>
          <p:cNvSpPr txBox="1"/>
          <p:nvPr/>
        </p:nvSpPr>
        <p:spPr>
          <a:xfrm>
            <a:off x="6217920" y="2377440"/>
            <a:ext cx="2194560" cy="457200"/>
          </a:xfrm>
          <a:prstGeom prst="rect">
            <a:avLst/>
          </a:prstGeom>
          <a:noFill/>
          <a:ln/>
        </p:spPr>
        <p:txBody>
          <a:bodyPr wrap="square" lIns="0" tIns="0" rIns="0" bIns="0" rtlCol="0" anchor="t"/>
          <a:lstStyle/>
          <a:p>
            <a:pPr indent="0" marL="0">
              <a:buNone/>
            </a:pPr>
            <a:r>
              <a:rPr lang="en-US" sz="1800" b="1" dirty="0">
                <a:solidFill>
                  <a:schemeClr val="accent3"/>
                </a:solidFill>
              </a:rPr>
              <a:t>through</a:t>
            </a:r>
            <a:endParaRPr lang="en-US" sz="1800" dirty="0"/>
          </a:p>
        </p:txBody>
      </p:sp>
      <p:sp>
        <p:nvSpPr>
          <p:cNvPr id="14" name="Text 11"/>
          <p:cNvSpPr txBox="1"/>
          <p:nvPr/>
        </p:nvSpPr>
        <p:spPr>
          <a:xfrm>
            <a:off x="6217920" y="2926080"/>
            <a:ext cx="2194560" cy="1005840"/>
          </a:xfrm>
          <a:prstGeom prst="rect">
            <a:avLst/>
          </a:prstGeom>
          <a:noFill/>
          <a:ln/>
        </p:spPr>
        <p:txBody>
          <a:bodyPr wrap="square" lIns="0" tIns="0" rIns="0" bIns="0" rtlCol="0" anchor="t"/>
          <a:lstStyle/>
          <a:p>
            <a:pPr indent="0" marL="0">
              <a:buNone/>
            </a:pPr>
            <a:r>
              <a:rPr lang="en-US" sz="1400" dirty="0">
                <a:solidFill>
                  <a:schemeClr val="tx1"/>
                </a:solidFill>
              </a:rPr>
              <a:t>Wind whistled through the empty windows.</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The sentence ladder</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500" b="1" dirty="0">
                <a:solidFill>
                  <a:schemeClr val="tx1"/>
                </a:solidFill>
              </a:rPr>
              <a:t>Start:</a:t>
            </a:r>
            <a:pPr indent="0" marL="0">
              <a:buNone/>
            </a:pPr>
            <a:r>
              <a:rPr lang="en-US" sz="1500" dirty="0">
                <a:solidFill>
                  <a:schemeClr val="tx1"/>
                </a:solidFill>
              </a:rPr>
              <a:t> A tower stood.</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500" b="1" dirty="0">
                <a:solidFill>
                  <a:schemeClr val="tx1"/>
                </a:solidFill>
              </a:rPr>
              <a:t>Add an adjective:</a:t>
            </a:r>
            <a:pPr indent="0" marL="0">
              <a:buNone/>
            </a:pPr>
            <a:r>
              <a:rPr lang="en-US" sz="1500" dirty="0">
                <a:solidFill>
                  <a:schemeClr val="tx1"/>
                </a:solidFill>
              </a:rPr>
              <a:t> A </a:t>
            </a:r>
            <a:pPr indent="0" marL="0">
              <a:buNone/>
            </a:pPr>
            <a:r>
              <a:rPr lang="en-US" sz="1500" b="1" dirty="0">
                <a:solidFill>
                  <a:schemeClr val="tx1"/>
                </a:solidFill>
              </a:rPr>
              <a:t>tall</a:t>
            </a:r>
            <a:pPr indent="0" marL="0">
              <a:buNone/>
            </a:pPr>
            <a:r>
              <a:rPr lang="en-US" sz="1500" dirty="0">
                <a:solidFill>
                  <a:schemeClr val="tx1"/>
                </a:solidFill>
              </a:rPr>
              <a:t> tower stood.</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500" b="1" dirty="0">
                <a:solidFill>
                  <a:schemeClr val="tx1"/>
                </a:solidFill>
              </a:rPr>
              <a:t>Add an adverb:</a:t>
            </a:r>
            <a:pPr indent="0" marL="0">
              <a:buNone/>
            </a:pPr>
            <a:r>
              <a:rPr lang="en-US" sz="1500" dirty="0">
                <a:solidFill>
                  <a:schemeClr val="tx1"/>
                </a:solidFill>
              </a:rPr>
              <a:t> A tall tower stood </a:t>
            </a:r>
            <a:pPr indent="0" marL="0">
              <a:buNone/>
            </a:pPr>
            <a:r>
              <a:rPr lang="en-US" sz="1500" b="1" dirty="0">
                <a:solidFill>
                  <a:schemeClr val="tx1"/>
                </a:solidFill>
              </a:rPr>
              <a:t>silently</a:t>
            </a:r>
            <a:pPr indent="0" marL="0">
              <a:buNone/>
            </a:pPr>
            <a:r>
              <a:rPr lang="en-US" sz="1500" dirty="0">
                <a:solidFill>
                  <a:schemeClr val="tx1"/>
                </a:solidFill>
              </a:rPr>
              <a:t>.</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500" b="1" dirty="0">
                <a:solidFill>
                  <a:schemeClr val="tx1"/>
                </a:solidFill>
              </a:rPr>
              <a:t>Add a prepositional phrase:</a:t>
            </a:r>
            <a:pPr indent="0" marL="0">
              <a:buNone/>
            </a:pPr>
            <a:r>
              <a:rPr lang="en-US" sz="1500" dirty="0">
                <a:solidFill>
                  <a:schemeClr val="tx1"/>
                </a:solidFill>
              </a:rPr>
              <a:t> A tall tower stood silently </a:t>
            </a:r>
            <a:pPr indent="0" marL="0">
              <a:buNone/>
            </a:pPr>
            <a:r>
              <a:rPr lang="en-US" sz="1500" b="1" dirty="0">
                <a:solidFill>
                  <a:schemeClr val="tx1"/>
                </a:solidFill>
              </a:rPr>
              <a:t>beside the frozen canal</a:t>
            </a:r>
            <a:pPr indent="0" marL="0">
              <a:buNone/>
            </a:pPr>
            <a:r>
              <a:rPr lang="en-US" sz="1500" dirty="0">
                <a:solidFill>
                  <a:schemeClr val="tx1"/>
                </a:solidFill>
              </a:rPr>
              <a: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Read: describing a setting</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34440"/>
            <a:ext cx="7498080" cy="3200400"/>
          </a:xfrm>
          <a:prstGeom prst="rect">
            <a:avLst/>
          </a:prstGeom>
          <a:noFill/>
          <a:ln/>
        </p:spPr>
        <p:txBody>
          <a:bodyPr wrap="square" lIns="0" tIns="0" rIns="0" bIns="0" rtlCol="0" anchor="ctr"/>
          <a:lstStyle/>
          <a:p>
            <a:pPr indent="0" marL="0">
              <a:buNone/>
            </a:pPr>
            <a:r>
              <a:rPr lang="en-US" sz="1800" dirty="0">
                <a:solidFill>
                  <a:schemeClr val="tx1"/>
                </a:solidFill>
              </a:rPr>
              <a:t>Beyond the ridge, the abandoned city of Aurelia rose from the sand. Tall white towers leaned against the pale sky. A narrow canal wound slowly between the crumbling walls, and a cold wind whispered through the empty windows. Orrin stepped carefully across the cracked stone courtyard.</a:t>
            </a:r>
            <a:endParaRPr lang="en-US" sz="18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1 of 5</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Which word in the first sentence is an adjective?</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rose</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abandoned</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beyond</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from</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indent="0" marL="0">
              <a:buNone/>
            </a:pPr>
            <a:r>
              <a:rPr lang="en-US" sz="1200" i="1" dirty="0">
                <a:solidFill>
                  <a:srgbClr val="4A4668"/>
                </a:solidFill>
              </a:rPr>
              <a:t>Put a cross in one box.</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1 of 5</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abandoned</a:t>
            </a:r>
            <a:pPr indent="0" marL="0">
              <a:buNone/>
            </a:pP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'Abandoned' describes the noun 'city'. 'Rose' is a verb, and 'beyond' and 'from' are prepositions.</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2 of 5</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Find and copy two adjectives from the second sentence that describe the towers.</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2 of 5</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tall, white</a:t>
            </a:r>
            <a:pPr indent="0" marL="0">
              <a:buNone/>
            </a:pP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'Tall white towers leaned against the pale sky.' Tall and white both describe 'towers'. 'Pale' describes the sky, not the towers. Both words are needed for the mark.</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3 of 5</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3"/>
          </a:solidFill>
          <a:ln w="12700">
            <a:solidFill>
              <a:schemeClr val="accent3"/>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'A narrow canal wound slowly between the crumbling walls.' What does the adverb 'slowly' tell us about the verb 'wound'?</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3 of 5</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It tells us how the canal moved: gently and without hurry.</a:t>
            </a:r>
            <a:pPr indent="0" marL="0">
              <a:buNone/>
            </a:pP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An adverb tells us more about a verb. Here it shows the manner of the movement: the canal curves slowly. Accept any answer about how the canal moved.</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4 of 5</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5"/>
          </a:solidFill>
          <a:ln w="12700">
            <a:solidFill>
              <a:schemeClr val="accent5"/>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Find and copy a prepositional phrase from the last sentence that tells us where Orrin walked.</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4 of 5</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across the cracked stone courtyard</a:t>
            </a:r>
            <a:pPr indent="0" marL="0">
              <a:buNone/>
            </a:pP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'Across' is the preposition and 'the cracked stone courtyard' is the noun phrase that follows it. Together they tell us where.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5 of 5</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What type of word is 'carefully' in the last sentence?</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adjective</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adverb</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preposition</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pronoun</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indent="0" marL="0">
              <a:buNone/>
            </a:pPr>
            <a:r>
              <a:rPr lang="en-US" sz="1200" i="1" dirty="0">
                <a:solidFill>
                  <a:srgbClr val="4A4668"/>
                </a:solidFill>
              </a:rPr>
              <a:t>Put a cross in one box.</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5 of 5</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adverb</a:t>
            </a:r>
            <a:pPr indent="0" marL="0">
              <a:buNone/>
            </a:pP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'Carefully' tells us how Orrin stepped, so it is an adverb. It describes the verb 'stepped'.</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Look back at Petronas (pp. 16-17)</a:t>
            </a:r>
            <a:endParaRPr lang="en-US" sz="3000" dirty="0"/>
          </a:p>
        </p:txBody>
      </p:sp>
      <p:sp>
        <p:nvSpPr>
          <p:cNvPr id="4" name="card"/>
          <p:cNvSpPr/>
          <p:nvPr/>
        </p:nvSpPr>
        <p:spPr>
          <a:xfrm>
            <a:off x="548640" y="1097280"/>
            <a:ext cx="8046720" cy="1097280"/>
          </a:xfrm>
          <a:prstGeom prst="roundRect">
            <a:avLst>
              <a:gd name="adj" fmla="val 10000"/>
            </a:avLst>
          </a:prstGeom>
          <a:solidFill>
            <a:schemeClr val="accent1"/>
          </a:solidFill>
          <a:ln w="12700">
            <a:solidFill>
              <a:schemeClr val="accent1"/>
            </a:solidFill>
            <a:prstDash val="solid"/>
          </a:ln>
        </p:spPr>
      </p:sp>
      <p:sp>
        <p:nvSpPr>
          <p:cNvPr id="5" name="Text 2"/>
          <p:cNvSpPr txBox="1"/>
          <p:nvPr/>
        </p:nvSpPr>
        <p:spPr>
          <a:xfrm>
            <a:off x="777240" y="1097280"/>
            <a:ext cx="7589520" cy="1097280"/>
          </a:xfrm>
          <a:prstGeom prst="rect">
            <a:avLst/>
          </a:prstGeom>
          <a:noFill/>
          <a:ln/>
        </p:spPr>
        <p:txBody>
          <a:bodyPr wrap="square" lIns="0" tIns="0" rIns="0" bIns="0" rtlCol="0" anchor="ctr"/>
          <a:lstStyle/>
          <a:p>
            <a:pPr indent="0" marL="0">
              <a:buNone/>
            </a:pPr>
            <a:r>
              <a:rPr lang="en-US" sz="1800" b="1" dirty="0">
                <a:solidFill>
                  <a:schemeClr val="tx1"/>
                </a:solidFill>
              </a:rPr>
              <a:t>Open your book at </a:t>
            </a:r>
            <a:pPr indent="0" marL="0">
              <a:buNone/>
            </a:pPr>
            <a:r>
              <a:rPr lang="en-US" sz="1800" b="1" dirty="0">
                <a:solidFill>
                  <a:schemeClr val="tx1"/>
                </a:solidFill>
                <a:highlight>
                  <a:srgbClr val="FFD27F"/>
                </a:highlight>
              </a:rPr>
              <a:t>pages 16 and 17</a:t>
            </a:r>
            <a:pPr indent="0" marL="0">
              <a:buNone/>
            </a:pPr>
            <a:r>
              <a:rPr lang="en-US" sz="1800" b="1" dirty="0">
                <a:solidFill>
                  <a:schemeClr val="tx1"/>
                </a:solidFill>
              </a:rPr>
              <a:t>. Find </a:t>
            </a:r>
            <a:pPr indent="0" marL="0">
              <a:buNone/>
            </a:pPr>
            <a:r>
              <a:rPr lang="en-US" sz="1800" b="1" dirty="0">
                <a:solidFill>
                  <a:schemeClr val="tx1"/>
                </a:solidFill>
                <a:highlight>
                  <a:srgbClr val="FFD27F"/>
                </a:highlight>
              </a:rPr>
              <a:t>one adjective phrase</a:t>
            </a:r>
            <a:pPr indent="0" marL="0">
              <a:buNone/>
            </a:pPr>
            <a:r>
              <a:rPr lang="en-US" sz="1800" b="1" dirty="0">
                <a:solidFill>
                  <a:schemeClr val="tx1"/>
                </a:solidFill>
              </a:rPr>
              <a:t>, </a:t>
            </a:r>
            <a:pPr indent="0" marL="0">
              <a:buNone/>
            </a:pPr>
            <a:r>
              <a:rPr lang="en-US" sz="1800" b="1" dirty="0">
                <a:solidFill>
                  <a:schemeClr val="tx1"/>
                </a:solidFill>
                <a:highlight>
                  <a:srgbClr val="FFD27F"/>
                </a:highlight>
              </a:rPr>
              <a:t>one adverbial</a:t>
            </a:r>
            <a:pPr indent="0" marL="0">
              <a:buNone/>
            </a:pPr>
            <a:r>
              <a:rPr lang="en-US" sz="1800" b="1" dirty="0">
                <a:solidFill>
                  <a:schemeClr val="tx1"/>
                </a:solidFill>
              </a:rPr>
              <a:t> and </a:t>
            </a:r>
            <a:pPr indent="0" marL="0">
              <a:buNone/>
            </a:pPr>
            <a:r>
              <a:rPr lang="en-US" sz="1800" b="1" dirty="0">
                <a:solidFill>
                  <a:schemeClr val="tx1"/>
                </a:solidFill>
                <a:highlight>
                  <a:srgbClr val="FFD27F"/>
                </a:highlight>
              </a:rPr>
              <a:t>one prepositional phrase</a:t>
            </a:r>
            <a:pPr indent="0" marL="0">
              <a:buNone/>
            </a:pPr>
            <a:r>
              <a:rPr lang="en-US" sz="1800" b="1" dirty="0">
                <a:solidFill>
                  <a:schemeClr val="tx1"/>
                </a:solidFill>
              </a:rPr>
              <a:t> that describe the setting.</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8046720" cy="914400"/>
        </p:xfrm>
        <a:graphic>
          <a:graphicData uri="http://schemas.openxmlformats.org/drawingml/2006/table">
            <a:tbl>
              <a:tblPr/>
              <a:tblGrid>
                <a:gridCol w="2560320"/>
                <a:gridCol w="5486400"/>
              </a:tblGrid>
              <a:tr h="411480">
                <a:tc>
                  <a:txBody>
                    <a:bodyPr/>
                    <a:lstStyle/>
                    <a:p>
                      <a:pPr algn="ctr" indent="0" marL="0">
                        <a:buNone/>
                      </a:pPr>
                      <a:r>
                        <a:rPr lang="en-US" sz="1400" b="1" dirty="0">
                          <a:solidFill>
                            <a:srgbClr val="FFFFFF"/>
                          </a:solidFill>
                        </a:rPr>
                        <a:t>Type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Short quotation from the book</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548640">
                <a:tc>
                  <a:txBody>
                    <a:bodyPr/>
                    <a:lstStyle/>
                    <a:p>
                      <a:pPr indent="0" marL="0">
                        <a:buNone/>
                      </a:pPr>
                      <a:r>
                        <a:rPr lang="en-US" sz="1200" b="1" dirty="0">
                          <a:solidFill>
                            <a:srgbClr val="1F1B3A"/>
                          </a:solidFill>
                        </a:rPr>
                        <a:t>Adjectives</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548640">
                <a:tc>
                  <a:txBody>
                    <a:bodyPr/>
                    <a:lstStyle/>
                    <a:p>
                      <a:pPr indent="0" marL="0">
                        <a:buNone/>
                      </a:pPr>
                      <a:r>
                        <a:rPr lang="en-US" sz="1200" b="1" dirty="0">
                          <a:solidFill>
                            <a:srgbClr val="1F1B3A"/>
                          </a:solidFill>
                        </a:rPr>
                        <a:t>Prepositional phrase</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7"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8" name="Text 4"/>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Hint: look at how the author describes the grass and where Baba is hiding.</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Model answers: Petronas pp. 16-17</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2011680"/>
                <a:gridCol w="2560320"/>
                <a:gridCol w="3474720"/>
              </a:tblGrid>
              <a:tr h="411480">
                <a:tc>
                  <a:txBody>
                    <a:bodyPr/>
                    <a:lstStyle/>
                    <a:p>
                      <a:pPr algn="ctr" indent="0" marL="0">
                        <a:buNone/>
                      </a:pPr>
                      <a:r>
                        <a:rPr lang="en-US" sz="1400" b="1" dirty="0">
                          <a:solidFill>
                            <a:srgbClr val="FFFFFF"/>
                          </a:solidFill>
                        </a:rPr>
                        <a:t>Type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Short quotation</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What it does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914400">
                <a:tc>
                  <a:txBody>
                    <a:bodyPr/>
                    <a:lstStyle/>
                    <a:p>
                      <a:pPr indent="0" marL="0">
                        <a:buNone/>
                      </a:pPr>
                      <a:r>
                        <a:rPr lang="en-US" sz="1250" b="1" dirty="0">
                          <a:solidFill>
                            <a:srgbClr val="1F1B3A"/>
                          </a:solidFill>
                        </a:rPr>
                        <a:t>Adjectives</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'long, luxurious grass'</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Two adjectives describe the grass and show how wonderful the new world is.</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914400">
                <a:tc>
                  <a:txBody>
                    <a:bodyPr/>
                    <a:lstStyle/>
                    <a:p>
                      <a:pPr indent="0" marL="0">
                        <a:buNone/>
                      </a:pPr>
                      <a:r>
                        <a:rPr lang="en-US" sz="1250" b="1" dirty="0">
                          <a:solidFill>
                            <a:srgbClr val="1F1B3A"/>
                          </a:solidFill>
                        </a:rPr>
                        <a:t>Prepositional phrase</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'behind a large rock'</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It tells us where Baba is hiding.</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914400">
                <a:tc>
                  <a:txBody>
                    <a:bodyPr/>
                    <a:lstStyle/>
                    <a:p>
                      <a:pPr indent="0" marL="0">
                        <a:buNone/>
                      </a:pPr>
                      <a:r>
                        <a:rPr lang="en-US" sz="1250" b="1" dirty="0">
                          <a:solidFill>
                            <a:srgbClr val="1F1B3A"/>
                          </a:solidFill>
                        </a:rPr>
                        <a:t>Prepositional phrase</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'to the horizon'</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50" dirty="0">
                          <a:solidFill>
                            <a:srgbClr val="1F1B3A"/>
                          </a:solidFill>
                        </a:rPr>
                        <a:t>It shows how far the grass stretches.</a:t>
                      </a:r>
                      <a:endParaRPr lang="en-US" sz="125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Main activity: setting makeover</a:t>
            </a:r>
            <a:endParaRPr lang="en-US" sz="3000" dirty="0"/>
          </a:p>
        </p:txBody>
      </p:sp>
      <p:sp>
        <p:nvSpPr>
          <p:cNvPr id="4" name="card"/>
          <p:cNvSpPr/>
          <p:nvPr/>
        </p:nvSpPr>
        <p:spPr>
          <a:xfrm>
            <a:off x="548640" y="1051560"/>
            <a:ext cx="8046720" cy="777240"/>
          </a:xfrm>
          <a:prstGeom prst="roundRect">
            <a:avLst>
              <a:gd name="adj" fmla="val 14118"/>
            </a:avLst>
          </a:prstGeom>
          <a:solidFill>
            <a:schemeClr val="accent1"/>
          </a:solidFill>
          <a:ln w="12700">
            <a:solidFill>
              <a:schemeClr val="accent1"/>
            </a:solidFill>
            <a:prstDash val="solid"/>
          </a:ln>
        </p:spPr>
      </p:sp>
      <p:sp>
        <p:nvSpPr>
          <p:cNvPr id="5" name="Text 2"/>
          <p:cNvSpPr txBox="1"/>
          <p:nvPr/>
        </p:nvSpPr>
        <p:spPr>
          <a:xfrm>
            <a:off x="777240" y="1051560"/>
            <a:ext cx="7589520" cy="777240"/>
          </a:xfrm>
          <a:prstGeom prst="rect">
            <a:avLst/>
          </a:prstGeom>
          <a:noFill/>
          <a:ln/>
        </p:spPr>
        <p:txBody>
          <a:bodyPr wrap="square" lIns="0" tIns="0" rIns="0" bIns="0" rtlCol="0" anchor="ctr"/>
          <a:lstStyle/>
          <a:p>
            <a:pPr indent="0" marL="0">
              <a:buNone/>
            </a:pPr>
            <a:r>
              <a:rPr lang="en-US" sz="1800" b="1" dirty="0">
                <a:solidFill>
                  <a:schemeClr val="tx1"/>
                </a:solidFill>
              </a:rPr>
              <a:t>Make each plain sentence </a:t>
            </a:r>
            <a:pPr indent="0" marL="0">
              <a:buNone/>
            </a:pPr>
            <a:r>
              <a:rPr lang="en-US" sz="1800" b="1" dirty="0">
                <a:solidFill>
                  <a:schemeClr val="tx1"/>
                </a:solidFill>
                <a:highlight>
                  <a:srgbClr val="FFD27F"/>
                </a:highlight>
              </a:rPr>
              <a:t>more exciting</a:t>
            </a:r>
            <a:pPr indent="0" marL="0">
              <a:buNone/>
            </a:pPr>
            <a:r>
              <a:rPr lang="en-US" sz="1800" b="1" dirty="0">
                <a:solidFill>
                  <a:schemeClr val="tx1"/>
                </a:solidFill>
              </a:rPr>
              <a:t>. Add </a:t>
            </a:r>
            <a:pPr indent="0" marL="0">
              <a:buNone/>
            </a:pPr>
            <a:r>
              <a:rPr lang="en-US" sz="1800" b="1" dirty="0">
                <a:solidFill>
                  <a:schemeClr val="tx1"/>
                </a:solidFill>
                <a:highlight>
                  <a:srgbClr val="FFD27F"/>
                </a:highlight>
              </a:rPr>
              <a:t>one adjective</a:t>
            </a:r>
            <a:pPr indent="0" marL="0">
              <a:buNone/>
            </a:pPr>
            <a:r>
              <a:rPr lang="en-US" sz="1800" b="1" dirty="0">
                <a:solidFill>
                  <a:schemeClr val="tx1"/>
                </a:solidFill>
              </a:rPr>
              <a:t>, </a:t>
            </a:r>
            <a:pPr indent="0" marL="0">
              <a:buNone/>
            </a:pPr>
            <a:r>
              <a:rPr lang="en-US" sz="1800" b="1" dirty="0">
                <a:solidFill>
                  <a:schemeClr val="tx1"/>
                </a:solidFill>
                <a:highlight>
                  <a:srgbClr val="FFD27F"/>
                </a:highlight>
              </a:rPr>
              <a:t>one adverb</a:t>
            </a:r>
            <a:pPr indent="0" marL="0">
              <a:buNone/>
            </a:pPr>
            <a:r>
              <a:rPr lang="en-US" sz="1800" b="1" dirty="0">
                <a:solidFill>
                  <a:schemeClr val="tx1"/>
                </a:solidFill>
              </a:rPr>
              <a:t> and </a:t>
            </a:r>
            <a:pPr indent="0" marL="0">
              <a:buNone/>
            </a:pPr>
            <a:r>
              <a:rPr lang="en-US" sz="1800" b="1" dirty="0">
                <a:solidFill>
                  <a:schemeClr val="tx1"/>
                </a:solidFill>
                <a:highlight>
                  <a:srgbClr val="FFD27F"/>
                </a:highlight>
              </a:rPr>
              <a:t>one prepositional phrase</a:t>
            </a:r>
            <a:pPr indent="0" marL="0">
              <a:buNone/>
            </a:pPr>
            <a:r>
              <a:rPr lang="en-US" sz="1800" b="1" dirty="0">
                <a:solidFill>
                  <a:schemeClr val="tx1"/>
                </a:solidFill>
              </a:rPr>
              <a:t>.</a:t>
            </a:r>
            <a:endParaRPr lang="en-US" sz="1600" dirty="0"/>
          </a:p>
        </p:txBody>
      </p:sp>
      <p:sp>
        <p:nvSpPr>
          <p:cNvPr id="6" name="card"/>
          <p:cNvSpPr/>
          <p:nvPr/>
        </p:nvSpPr>
        <p:spPr>
          <a:xfrm>
            <a:off x="548640" y="2011680"/>
            <a:ext cx="8046720" cy="402336"/>
          </a:xfrm>
          <a:prstGeom prst="roundRect">
            <a:avLst>
              <a:gd name="adj" fmla="val 27273"/>
            </a:avLst>
          </a:prstGeom>
          <a:solidFill>
            <a:schemeClr val="bg2"/>
          </a:solidFill>
          <a:ln w="12700">
            <a:solidFill>
              <a:schemeClr val="bg2"/>
            </a:solidFill>
            <a:prstDash val="solid"/>
          </a:ln>
        </p:spPr>
      </p:sp>
      <p:sp>
        <p:nvSpPr>
          <p:cNvPr id="7" name="Text 4"/>
          <p:cNvSpPr txBox="1"/>
          <p:nvPr/>
        </p:nvSpPr>
        <p:spPr>
          <a:xfrm>
            <a:off x="777240" y="2011680"/>
            <a:ext cx="457200" cy="402336"/>
          </a:xfrm>
          <a:prstGeom prst="rect">
            <a:avLst/>
          </a:prstGeom>
          <a:noFill/>
          <a:ln/>
        </p:spPr>
        <p:txBody>
          <a:bodyPr wrap="square" lIns="0" tIns="0" rIns="0" bIns="0" rtlCol="0" anchor="ctr"/>
          <a:lstStyle/>
          <a:p>
            <a:pPr indent="0" marL="0">
              <a:buNone/>
            </a:pPr>
            <a:r>
              <a:rPr lang="en-US" sz="1600" b="1" dirty="0">
                <a:solidFill>
                  <a:schemeClr val="accent4"/>
                </a:solidFill>
              </a:rPr>
              <a:t>1</a:t>
            </a:r>
            <a:endParaRPr lang="en-US" sz="1600" dirty="0"/>
          </a:p>
        </p:txBody>
      </p:sp>
      <p:sp>
        <p:nvSpPr>
          <p:cNvPr id="8" name="Text 5"/>
          <p:cNvSpPr txBox="1"/>
          <p:nvPr/>
        </p:nvSpPr>
        <p:spPr>
          <a:xfrm>
            <a:off x="1280160" y="2011680"/>
            <a:ext cx="7132320" cy="402336"/>
          </a:xfrm>
          <a:prstGeom prst="rect">
            <a:avLst/>
          </a:prstGeom>
          <a:noFill/>
          <a:ln/>
        </p:spPr>
        <p:txBody>
          <a:bodyPr wrap="square" lIns="0" tIns="0" rIns="0" bIns="0" rtlCol="0" anchor="ctr"/>
          <a:lstStyle/>
          <a:p>
            <a:pPr indent="0" marL="0">
              <a:buNone/>
            </a:pPr>
            <a:r>
              <a:rPr lang="en-US" sz="1600" dirty="0">
                <a:solidFill>
                  <a:schemeClr val="tx1"/>
                </a:solidFill>
              </a:rPr>
              <a:t>A tower stood.</a:t>
            </a:r>
            <a:endParaRPr lang="en-US" sz="1600" dirty="0"/>
          </a:p>
        </p:txBody>
      </p:sp>
      <p:sp>
        <p:nvSpPr>
          <p:cNvPr id="9" name="card"/>
          <p:cNvSpPr/>
          <p:nvPr/>
        </p:nvSpPr>
        <p:spPr>
          <a:xfrm>
            <a:off x="548640" y="2487168"/>
            <a:ext cx="8046720" cy="402336"/>
          </a:xfrm>
          <a:prstGeom prst="roundRect">
            <a:avLst>
              <a:gd name="adj" fmla="val 27273"/>
            </a:avLst>
          </a:prstGeom>
          <a:solidFill>
            <a:schemeClr val="bg2"/>
          </a:solidFill>
          <a:ln w="12700">
            <a:solidFill>
              <a:schemeClr val="bg2"/>
            </a:solidFill>
            <a:prstDash val="solid"/>
          </a:ln>
        </p:spPr>
      </p:sp>
      <p:sp>
        <p:nvSpPr>
          <p:cNvPr id="10" name="Text 7"/>
          <p:cNvSpPr txBox="1"/>
          <p:nvPr/>
        </p:nvSpPr>
        <p:spPr>
          <a:xfrm>
            <a:off x="777240" y="2487168"/>
            <a:ext cx="457200" cy="402336"/>
          </a:xfrm>
          <a:prstGeom prst="rect">
            <a:avLst/>
          </a:prstGeom>
          <a:noFill/>
          <a:ln/>
        </p:spPr>
        <p:txBody>
          <a:bodyPr wrap="square" lIns="0" tIns="0" rIns="0" bIns="0" rtlCol="0" anchor="ctr"/>
          <a:lstStyle/>
          <a:p>
            <a:pPr indent="0" marL="0">
              <a:buNone/>
            </a:pPr>
            <a:r>
              <a:rPr lang="en-US" sz="1600" b="1" dirty="0">
                <a:solidFill>
                  <a:schemeClr val="accent2"/>
                </a:solidFill>
              </a:rPr>
              <a:t>2</a:t>
            </a:r>
            <a:endParaRPr lang="en-US" sz="1600" dirty="0"/>
          </a:p>
        </p:txBody>
      </p:sp>
      <p:sp>
        <p:nvSpPr>
          <p:cNvPr id="11" name="Text 8"/>
          <p:cNvSpPr txBox="1"/>
          <p:nvPr/>
        </p:nvSpPr>
        <p:spPr>
          <a:xfrm>
            <a:off x="1280160" y="2487168"/>
            <a:ext cx="7132320" cy="402336"/>
          </a:xfrm>
          <a:prstGeom prst="rect">
            <a:avLst/>
          </a:prstGeom>
          <a:noFill/>
          <a:ln/>
        </p:spPr>
        <p:txBody>
          <a:bodyPr wrap="square" lIns="0" tIns="0" rIns="0" bIns="0" rtlCol="0" anchor="ctr"/>
          <a:lstStyle/>
          <a:p>
            <a:pPr indent="0" marL="0">
              <a:buNone/>
            </a:pPr>
            <a:r>
              <a:rPr lang="en-US" sz="1600" dirty="0">
                <a:solidFill>
                  <a:schemeClr val="tx1"/>
                </a:solidFill>
              </a:rPr>
              <a:t>The wind blew.</a:t>
            </a:r>
            <a:endParaRPr lang="en-US" sz="1600" dirty="0"/>
          </a:p>
        </p:txBody>
      </p:sp>
      <p:sp>
        <p:nvSpPr>
          <p:cNvPr id="12" name="card"/>
          <p:cNvSpPr/>
          <p:nvPr/>
        </p:nvSpPr>
        <p:spPr>
          <a:xfrm>
            <a:off x="548640" y="2962656"/>
            <a:ext cx="8046720" cy="402336"/>
          </a:xfrm>
          <a:prstGeom prst="roundRect">
            <a:avLst>
              <a:gd name="adj" fmla="val 27273"/>
            </a:avLst>
          </a:prstGeom>
          <a:solidFill>
            <a:schemeClr val="bg2"/>
          </a:solidFill>
          <a:ln w="12700">
            <a:solidFill>
              <a:schemeClr val="bg2"/>
            </a:solidFill>
            <a:prstDash val="solid"/>
          </a:ln>
        </p:spPr>
      </p:sp>
      <p:sp>
        <p:nvSpPr>
          <p:cNvPr id="13" name="Text 10"/>
          <p:cNvSpPr txBox="1"/>
          <p:nvPr/>
        </p:nvSpPr>
        <p:spPr>
          <a:xfrm>
            <a:off x="777240" y="2962656"/>
            <a:ext cx="457200" cy="402336"/>
          </a:xfrm>
          <a:prstGeom prst="rect">
            <a:avLst/>
          </a:prstGeom>
          <a:noFill/>
          <a:ln/>
        </p:spPr>
        <p:txBody>
          <a:bodyPr wrap="square" lIns="0" tIns="0" rIns="0" bIns="0" rtlCol="0" anchor="ctr"/>
          <a:lstStyle/>
          <a:p>
            <a:pPr indent="0" marL="0">
              <a:buNone/>
            </a:pPr>
            <a:r>
              <a:rPr lang="en-US" sz="1600" b="1" dirty="0">
                <a:solidFill>
                  <a:schemeClr val="accent3"/>
                </a:solidFill>
              </a:rPr>
              <a:t>3</a:t>
            </a:r>
            <a:endParaRPr lang="en-US" sz="1600" dirty="0"/>
          </a:p>
        </p:txBody>
      </p:sp>
      <p:sp>
        <p:nvSpPr>
          <p:cNvPr id="14" name="Text 11"/>
          <p:cNvSpPr txBox="1"/>
          <p:nvPr/>
        </p:nvSpPr>
        <p:spPr>
          <a:xfrm>
            <a:off x="1280160" y="2962656"/>
            <a:ext cx="7132320" cy="402336"/>
          </a:xfrm>
          <a:prstGeom prst="rect">
            <a:avLst/>
          </a:prstGeom>
          <a:noFill/>
          <a:ln/>
        </p:spPr>
        <p:txBody>
          <a:bodyPr wrap="square" lIns="0" tIns="0" rIns="0" bIns="0" rtlCol="0" anchor="ctr"/>
          <a:lstStyle/>
          <a:p>
            <a:pPr indent="0" marL="0">
              <a:buNone/>
            </a:pPr>
            <a:r>
              <a:rPr lang="en-US" sz="1600" dirty="0">
                <a:solidFill>
                  <a:schemeClr val="tx1"/>
                </a:solidFill>
              </a:rPr>
              <a:t>Tamsin walked.</a:t>
            </a:r>
            <a:endParaRPr lang="en-US" sz="1600" dirty="0"/>
          </a:p>
        </p:txBody>
      </p:sp>
      <p:sp>
        <p:nvSpPr>
          <p:cNvPr id="15" name="card"/>
          <p:cNvSpPr/>
          <p:nvPr/>
        </p:nvSpPr>
        <p:spPr>
          <a:xfrm>
            <a:off x="548640" y="3438144"/>
            <a:ext cx="8046720" cy="402336"/>
          </a:xfrm>
          <a:prstGeom prst="roundRect">
            <a:avLst>
              <a:gd name="adj" fmla="val 27273"/>
            </a:avLst>
          </a:prstGeom>
          <a:solidFill>
            <a:schemeClr val="bg2"/>
          </a:solidFill>
          <a:ln w="12700">
            <a:solidFill>
              <a:schemeClr val="bg2"/>
            </a:solidFill>
            <a:prstDash val="solid"/>
          </a:ln>
        </p:spPr>
      </p:sp>
      <p:sp>
        <p:nvSpPr>
          <p:cNvPr id="16" name="Text 13"/>
          <p:cNvSpPr txBox="1"/>
          <p:nvPr/>
        </p:nvSpPr>
        <p:spPr>
          <a:xfrm>
            <a:off x="777240" y="3438144"/>
            <a:ext cx="457200" cy="402336"/>
          </a:xfrm>
          <a:prstGeom prst="rect">
            <a:avLst/>
          </a:prstGeom>
          <a:noFill/>
          <a:ln/>
        </p:spPr>
        <p:txBody>
          <a:bodyPr wrap="square" lIns="0" tIns="0" rIns="0" bIns="0" rtlCol="0" anchor="ctr"/>
          <a:lstStyle/>
          <a:p>
            <a:pPr indent="0" marL="0">
              <a:buNone/>
            </a:pPr>
            <a:r>
              <a:rPr lang="en-US" sz="1600" b="1" dirty="0">
                <a:solidFill>
                  <a:schemeClr val="accent5"/>
                </a:solidFill>
              </a:rPr>
              <a:t>4</a:t>
            </a:r>
            <a:endParaRPr lang="en-US" sz="1600" dirty="0"/>
          </a:p>
        </p:txBody>
      </p:sp>
      <p:sp>
        <p:nvSpPr>
          <p:cNvPr id="17" name="Text 14"/>
          <p:cNvSpPr txBox="1"/>
          <p:nvPr/>
        </p:nvSpPr>
        <p:spPr>
          <a:xfrm>
            <a:off x="1280160" y="3438144"/>
            <a:ext cx="7132320" cy="402336"/>
          </a:xfrm>
          <a:prstGeom prst="rect">
            <a:avLst/>
          </a:prstGeom>
          <a:noFill/>
          <a:ln/>
        </p:spPr>
        <p:txBody>
          <a:bodyPr wrap="square" lIns="0" tIns="0" rIns="0" bIns="0" rtlCol="0" anchor="ctr"/>
          <a:lstStyle/>
          <a:p>
            <a:pPr indent="0" marL="0">
              <a:buNone/>
            </a:pPr>
            <a:r>
              <a:rPr lang="en-US" sz="1600" dirty="0">
                <a:solidFill>
                  <a:schemeClr val="tx1"/>
                </a:solidFill>
              </a:rPr>
              <a:t>A bell rang.</a:t>
            </a:r>
            <a:endParaRPr lang="en-US" sz="1600" dirty="0"/>
          </a:p>
        </p:txBody>
      </p:sp>
      <p:sp>
        <p:nvSpPr>
          <p:cNvPr id="18"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19" name="Text 16"/>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Use the ladder: adjective, adverb, prepositional phrase.</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Model answers: setting makeover</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A tall, crooked tower stood silently beside the frozen canal.</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The cold wind blew fiercely through the empty streets.</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Tamsin walked nervously across the dusty courtyard.</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A silver bell rang softly in the distance.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Task 2: describe your own setting</a:t>
            </a:r>
            <a:endParaRPr lang="en-US" sz="3000" dirty="0"/>
          </a:p>
        </p:txBody>
      </p:sp>
      <p:sp>
        <p:nvSpPr>
          <p:cNvPr id="4" name="card"/>
          <p:cNvSpPr/>
          <p:nvPr/>
        </p:nvSpPr>
        <p:spPr>
          <a:xfrm>
            <a:off x="548640" y="1097280"/>
            <a:ext cx="8046720" cy="1188720"/>
          </a:xfrm>
          <a:prstGeom prst="roundRect">
            <a:avLst>
              <a:gd name="adj" fmla="val 9231"/>
            </a:avLst>
          </a:prstGeom>
          <a:solidFill>
            <a:schemeClr val="accent1"/>
          </a:solidFill>
          <a:ln w="12700">
            <a:solidFill>
              <a:schemeClr val="accent1"/>
            </a:solidFill>
            <a:prstDash val="solid"/>
          </a:ln>
        </p:spPr>
      </p:sp>
      <p:sp>
        <p:nvSpPr>
          <p:cNvPr id="5" name="Text 2"/>
          <p:cNvSpPr txBox="1"/>
          <p:nvPr/>
        </p:nvSpPr>
        <p:spPr>
          <a:xfrm>
            <a:off x="777240" y="1097280"/>
            <a:ext cx="7589520" cy="1188720"/>
          </a:xfrm>
          <a:prstGeom prst="rect">
            <a:avLst/>
          </a:prstGeom>
          <a:noFill/>
          <a:ln/>
        </p:spPr>
        <p:txBody>
          <a:bodyPr wrap="square" lIns="0" tIns="0" rIns="0" bIns="0" rtlCol="0" anchor="ctr"/>
          <a:lstStyle/>
          <a:p>
            <a:pPr indent="0" marL="0">
              <a:buNone/>
            </a:pPr>
            <a:r>
              <a:rPr lang="en-US" sz="1800" b="1" dirty="0">
                <a:solidFill>
                  <a:schemeClr val="tx1"/>
                </a:solidFill>
              </a:rPr>
              <a:t>Write </a:t>
            </a:r>
            <a:pPr indent="0" marL="0">
              <a:buNone/>
            </a:pPr>
            <a:r>
              <a:rPr lang="en-US" sz="1800" b="1" dirty="0">
                <a:solidFill>
                  <a:schemeClr val="tx1"/>
                </a:solidFill>
                <a:highlight>
                  <a:srgbClr val="FFD27F"/>
                </a:highlight>
              </a:rPr>
              <a:t>three sentences</a:t>
            </a:r>
            <a:pPr indent="0" marL="0">
              <a:buNone/>
            </a:pPr>
            <a:r>
              <a:rPr lang="en-US" sz="1800" b="1" dirty="0">
                <a:solidFill>
                  <a:schemeClr val="tx1"/>
                </a:solidFill>
              </a:rPr>
              <a:t> about the </a:t>
            </a:r>
            <a:pPr indent="0" marL="0">
              <a:buNone/>
            </a:pPr>
            <a:r>
              <a:rPr lang="en-US" sz="1800" b="1" dirty="0">
                <a:solidFill>
                  <a:schemeClr val="tx1"/>
                </a:solidFill>
                <a:highlight>
                  <a:srgbClr val="FFD27F"/>
                </a:highlight>
              </a:rPr>
              <a:t>entrance to a hidden world</a:t>
            </a:r>
            <a:pPr indent="0" marL="0">
              <a:buNone/>
            </a:pPr>
            <a:r>
              <a:rPr lang="en-US" sz="1800" b="1" dirty="0">
                <a:solidFill>
                  <a:schemeClr val="tx1"/>
                </a:solidFill>
              </a:rPr>
              <a:t>. Use </a:t>
            </a:r>
            <a:pPr indent="0" marL="0">
              <a:buNone/>
            </a:pPr>
            <a:r>
              <a:rPr lang="en-US" sz="1800" b="1" dirty="0">
                <a:solidFill>
                  <a:schemeClr val="tx1"/>
                </a:solidFill>
                <a:highlight>
                  <a:srgbClr val="FFD27F"/>
                </a:highlight>
              </a:rPr>
              <a:t>at least two adjectives</a:t>
            </a:r>
            <a:pPr indent="0" marL="0">
              <a:buNone/>
            </a:pPr>
            <a:r>
              <a:rPr lang="en-US" sz="1800" b="1" dirty="0">
                <a:solidFill>
                  <a:schemeClr val="tx1"/>
                </a:solidFill>
              </a:rPr>
              <a:t>, </a:t>
            </a:r>
            <a:pPr indent="0" marL="0">
              <a:buNone/>
            </a:pPr>
            <a:r>
              <a:rPr lang="en-US" sz="1800" b="1" dirty="0">
                <a:solidFill>
                  <a:schemeClr val="tx1"/>
                </a:solidFill>
                <a:highlight>
                  <a:srgbClr val="FFD27F"/>
                </a:highlight>
              </a:rPr>
              <a:t>one adverb</a:t>
            </a:r>
            <a:pPr indent="0" marL="0">
              <a:buNone/>
            </a:pPr>
            <a:r>
              <a:rPr lang="en-US" sz="1800" b="1" dirty="0">
                <a:solidFill>
                  <a:schemeClr val="tx1"/>
                </a:solidFill>
              </a:rPr>
              <a:t> and </a:t>
            </a:r>
            <a:pPr indent="0" marL="0">
              <a:buNone/>
            </a:pPr>
            <a:r>
              <a:rPr lang="en-US" sz="1800" b="1" dirty="0">
                <a:solidFill>
                  <a:schemeClr val="tx1"/>
                </a:solidFill>
                <a:highlight>
                  <a:srgbClr val="FFD27F"/>
                </a:highlight>
              </a:rPr>
              <a:t>one prepositional phrase</a:t>
            </a:r>
            <a:pPr indent="0" marL="0">
              <a:buNone/>
            </a:pPr>
            <a:r>
              <a:rPr lang="en-US" sz="1800" b="1" dirty="0">
                <a:solidFill>
                  <a:schemeClr val="tx1"/>
                </a:solidFill>
              </a:rPr>
              <a:t>.</a:t>
            </a:r>
            <a:endParaRPr lang="en-US" sz="1600" dirty="0"/>
          </a:p>
        </p:txBody>
      </p:sp>
      <p:sp>
        <p:nvSpPr>
          <p:cNvPr id="6" name="card"/>
          <p:cNvSpPr/>
          <p:nvPr/>
        </p:nvSpPr>
        <p:spPr>
          <a:xfrm>
            <a:off x="548640" y="2468880"/>
            <a:ext cx="8046720" cy="1371600"/>
          </a:xfrm>
          <a:prstGeom prst="roundRect">
            <a:avLst>
              <a:gd name="adj" fmla="val 8000"/>
            </a:avLst>
          </a:prstGeom>
          <a:solidFill>
            <a:schemeClr val="bg2"/>
          </a:solidFill>
          <a:ln w="12700">
            <a:solidFill>
              <a:schemeClr val="bg2"/>
            </a:solidFill>
            <a:prstDash val="solid"/>
          </a:ln>
        </p:spPr>
      </p:sp>
      <p:sp>
        <p:nvSpPr>
          <p:cNvPr id="7" name="answer line"/>
          <p:cNvSpPr/>
          <p:nvPr/>
        </p:nvSpPr>
        <p:spPr>
          <a:xfrm>
            <a:off x="822960" y="2880360"/>
            <a:ext cx="7498080" cy="0"/>
          </a:xfrm>
          <a:prstGeom prst="line">
            <a:avLst/>
          </a:prstGeom>
          <a:noFill/>
          <a:ln w="12700">
            <a:solidFill>
              <a:srgbClr val="BDB6D9"/>
            </a:solidFill>
            <a:prstDash val="solid"/>
          </a:ln>
        </p:spPr>
      </p:sp>
      <p:sp>
        <p:nvSpPr>
          <p:cNvPr id="8" name="answer line"/>
          <p:cNvSpPr/>
          <p:nvPr/>
        </p:nvSpPr>
        <p:spPr>
          <a:xfrm>
            <a:off x="822960" y="3246120"/>
            <a:ext cx="7498080" cy="0"/>
          </a:xfrm>
          <a:prstGeom prst="line">
            <a:avLst/>
          </a:prstGeom>
          <a:noFill/>
          <a:ln w="12700">
            <a:solidFill>
              <a:srgbClr val="BDB6D9"/>
            </a:solidFill>
            <a:prstDash val="solid"/>
          </a:ln>
        </p:spPr>
      </p:sp>
      <p:sp>
        <p:nvSpPr>
          <p:cNvPr id="9" name="answer line"/>
          <p:cNvSpPr/>
          <p:nvPr/>
        </p:nvSpPr>
        <p:spPr>
          <a:xfrm>
            <a:off x="822960" y="3611880"/>
            <a:ext cx="7498080" cy="0"/>
          </a:xfrm>
          <a:prstGeom prst="line">
            <a:avLst/>
          </a:prstGeom>
          <a:noFill/>
          <a:ln w="12700">
            <a:solidFill>
              <a:srgbClr val="BDB6D9"/>
            </a:solidFill>
            <a:prstDash val="solid"/>
          </a:ln>
        </p:spPr>
      </p:sp>
      <p:sp>
        <p:nvSpPr>
          <p:cNvPr id="10"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11" name="Text 8"/>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Think: what can you see, hear and feel?</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Model answer: a hidden world</a:t>
            </a:r>
            <a:endParaRPr lang="en-US" sz="3000" dirty="0"/>
          </a:p>
        </p:txBody>
      </p:sp>
      <p:sp>
        <p:nvSpPr>
          <p:cNvPr id="4" name="card"/>
          <p:cNvSpPr/>
          <p:nvPr/>
        </p:nvSpPr>
        <p:spPr>
          <a:xfrm>
            <a:off x="548640" y="1097280"/>
            <a:ext cx="8046720" cy="2011680"/>
          </a:xfrm>
          <a:prstGeom prst="roundRect">
            <a:avLst>
              <a:gd name="adj" fmla="val 5455"/>
            </a:avLst>
          </a:prstGeom>
          <a:solidFill>
            <a:schemeClr val="bg2"/>
          </a:solidFill>
          <a:ln w="12700">
            <a:solidFill>
              <a:schemeClr val="bg2"/>
            </a:solidFill>
            <a:prstDash val="solid"/>
          </a:ln>
        </p:spPr>
      </p:sp>
      <p:sp>
        <p:nvSpPr>
          <p:cNvPr id="5" name="Text 2"/>
          <p:cNvSpPr txBox="1"/>
          <p:nvPr/>
        </p:nvSpPr>
        <p:spPr>
          <a:xfrm>
            <a:off x="777240" y="1188720"/>
            <a:ext cx="7589520" cy="1828800"/>
          </a:xfrm>
          <a:prstGeom prst="rect">
            <a:avLst/>
          </a:prstGeom>
          <a:noFill/>
          <a:ln/>
        </p:spPr>
        <p:txBody>
          <a:bodyPr wrap="square" lIns="0" tIns="0" rIns="0" bIns="0" rtlCol="0" anchor="ctr"/>
          <a:lstStyle/>
          <a:p>
            <a:pPr indent="0" marL="0">
              <a:buNone/>
            </a:pPr>
            <a:r>
              <a:rPr lang="en-US" sz="1600" b="1" dirty="0">
                <a:solidFill>
                  <a:schemeClr val="tx1"/>
                </a:solidFill>
                <a:highlight>
                  <a:srgbClr val="FFD27F"/>
                </a:highlight>
              </a:rPr>
              <a:t>Model:</a:t>
            </a:r>
            <a:pPr indent="0" marL="0">
              <a:buNone/>
            </a:pPr>
            <a:r>
              <a:rPr lang="en-US" sz="1600" dirty="0">
                <a:solidFill>
                  <a:schemeClr val="tx1"/>
                </a:solidFill>
              </a:rPr>
              <a:t> Behind the roaring waterfall, a </a:t>
            </a:r>
            <a:pPr indent="0" marL="0">
              <a:buNone/>
            </a:pPr>
            <a:r>
              <a:rPr lang="en-US" sz="1600" b="1" dirty="0">
                <a:solidFill>
                  <a:schemeClr val="tx1"/>
                </a:solidFill>
                <a:highlight>
                  <a:srgbClr val="FFD27F"/>
                </a:highlight>
              </a:rPr>
              <a:t>narrow, glowing</a:t>
            </a:r>
            <a:pPr indent="0" marL="0">
              <a:buNone/>
            </a:pPr>
            <a:r>
              <a:rPr lang="en-US" sz="1600" dirty="0">
                <a:solidFill>
                  <a:schemeClr val="tx1"/>
                </a:solidFill>
              </a:rPr>
              <a:t> tunnel opened. Moss </a:t>
            </a:r>
            <a:pPr indent="0" marL="0">
              <a:buNone/>
            </a:pPr>
            <a:r>
              <a:rPr lang="en-US" sz="1600" b="1" dirty="0">
                <a:solidFill>
                  <a:schemeClr val="tx1"/>
                </a:solidFill>
                <a:highlight>
                  <a:srgbClr val="FFD27F"/>
                </a:highlight>
              </a:rPr>
              <a:t>glistened</a:t>
            </a:r>
            <a:pPr indent="0" marL="0">
              <a:buNone/>
            </a:pPr>
            <a:r>
              <a:rPr lang="en-US" sz="1600" dirty="0">
                <a:solidFill>
                  <a:schemeClr val="tx1"/>
                </a:solidFill>
              </a:rPr>
              <a:t> on the slippery walls. I stepped </a:t>
            </a:r>
            <a:pPr indent="0" marL="0">
              <a:buNone/>
            </a:pPr>
            <a:r>
              <a:rPr lang="en-US" sz="1600" b="1" dirty="0">
                <a:solidFill>
                  <a:schemeClr val="tx1"/>
                </a:solidFill>
                <a:highlight>
                  <a:srgbClr val="FFD27F"/>
                </a:highlight>
              </a:rPr>
              <a:t>nervously</a:t>
            </a:r>
            <a:pPr indent="0" marL="0">
              <a:buNone/>
            </a:pPr>
            <a:r>
              <a:rPr lang="en-US" sz="1600" dirty="0">
                <a:solidFill>
                  <a:schemeClr val="tx1"/>
                </a:solidFill>
              </a:rPr>
              <a:t> into the golden light.</a:t>
            </a:r>
            <a:endParaRPr lang="en-US" sz="1600" dirty="0"/>
          </a:p>
        </p:txBody>
      </p:sp>
      <p:sp>
        <p:nvSpPr>
          <p:cNvPr id="6" name="card"/>
          <p:cNvSpPr/>
          <p:nvPr/>
        </p:nvSpPr>
        <p:spPr>
          <a:xfrm>
            <a:off x="548640" y="3291840"/>
            <a:ext cx="8046720" cy="1280160"/>
          </a:xfrm>
          <a:prstGeom prst="roundRect">
            <a:avLst>
              <a:gd name="adj" fmla="val 8571"/>
            </a:avLst>
          </a:prstGeom>
          <a:solidFill>
            <a:schemeClr val="accent1"/>
          </a:solidFill>
          <a:ln w="12700">
            <a:solidFill>
              <a:schemeClr val="accent1"/>
            </a:solidFill>
            <a:prstDash val="solid"/>
          </a:ln>
        </p:spPr>
      </p:sp>
      <p:sp>
        <p:nvSpPr>
          <p:cNvPr id="7" name="Text 4"/>
          <p:cNvSpPr txBox="1"/>
          <p:nvPr/>
        </p:nvSpPr>
        <p:spPr>
          <a:xfrm>
            <a:off x="777240" y="3291840"/>
            <a:ext cx="7589520" cy="1280160"/>
          </a:xfrm>
          <a:prstGeom prst="rect">
            <a:avLst/>
          </a:prstGeom>
          <a:noFill/>
          <a:ln/>
        </p:spPr>
        <p:txBody>
          <a:bodyPr wrap="square" lIns="0" tIns="0" rIns="0" bIns="0" rtlCol="0" anchor="ctr"/>
          <a:lstStyle/>
          <a:p>
            <a:pPr indent="0" marL="0">
              <a:buNone/>
            </a:pPr>
            <a:r>
              <a:rPr lang="en-US" sz="1400" b="1" dirty="0">
                <a:solidFill>
                  <a:schemeClr val="tx1"/>
                </a:solidFill>
              </a:rPr>
              <a:t>Check: adjectives (</a:t>
            </a:r>
            <a:pPr indent="0" marL="0">
              <a:buNone/>
            </a:pPr>
            <a:r>
              <a:rPr lang="en-US" sz="1400" b="1" dirty="0">
                <a:solidFill>
                  <a:schemeClr val="tx1"/>
                </a:solidFill>
                <a:highlight>
                  <a:srgbClr val="FFD27F"/>
                </a:highlight>
              </a:rPr>
              <a:t>narrow, glowing, slippery, golden</a:t>
            </a:r>
            <a:pPr indent="0" marL="0">
              <a:buNone/>
            </a:pPr>
            <a:r>
              <a:rPr lang="en-US" sz="1400" b="1" dirty="0">
                <a:solidFill>
                  <a:schemeClr val="tx1"/>
                </a:solidFill>
              </a:rPr>
              <a:t>), adverb (</a:t>
            </a:r>
            <a:pPr indent="0" marL="0">
              <a:buNone/>
            </a:pPr>
            <a:r>
              <a:rPr lang="en-US" sz="1400" b="1" dirty="0">
                <a:solidFill>
                  <a:schemeClr val="tx1"/>
                </a:solidFill>
                <a:highlight>
                  <a:srgbClr val="FFD27F"/>
                </a:highlight>
              </a:rPr>
              <a:t>nervously</a:t>
            </a:r>
            <a:pPr indent="0" marL="0">
              <a:buNone/>
            </a:pPr>
            <a:r>
              <a:rPr lang="en-US" sz="1400" b="1" dirty="0">
                <a:solidFill>
                  <a:schemeClr val="tx1"/>
                </a:solidFill>
              </a:rPr>
              <a:t>), prepositional phrases (</a:t>
            </a:r>
            <a:pPr indent="0" marL="0">
              <a:buNone/>
            </a:pPr>
            <a:r>
              <a:rPr lang="en-US" sz="1400" b="1" dirty="0">
                <a:solidFill>
                  <a:schemeClr val="tx1"/>
                </a:solidFill>
                <a:highlight>
                  <a:srgbClr val="FFD27F"/>
                </a:highlight>
              </a:rPr>
              <a:t>behind the roaring waterfall, on the slippery walls, into the golden light</a:t>
            </a:r>
            <a:pPr indent="0" marL="0">
              <a:buNone/>
            </a:pPr>
            <a:r>
              <a:rPr lang="en-US" sz="1400" b="1" dirty="0">
                <a:solidFill>
                  <a:schemeClr val="tx1"/>
                </a:solidFill>
              </a:rPr>
              <a: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Plenary: true or false?</a:t>
            </a:r>
            <a:endParaRPr lang="en-US" sz="3000" dirty="0"/>
          </a:p>
        </p:txBody>
      </p:sp>
      <p:sp>
        <p:nvSpPr>
          <p:cNvPr id="4" name="card"/>
          <p:cNvSpPr/>
          <p:nvPr/>
        </p:nvSpPr>
        <p:spPr>
          <a:xfrm>
            <a:off x="548640" y="1097280"/>
            <a:ext cx="8046720" cy="777240"/>
          </a:xfrm>
          <a:prstGeom prst="roundRect">
            <a:avLst>
              <a:gd name="adj" fmla="val 14118"/>
            </a:avLst>
          </a:prstGeom>
          <a:solidFill>
            <a:schemeClr val="bg2"/>
          </a:solidFill>
          <a:ln w="12700">
            <a:solidFill>
              <a:schemeClr val="bg2"/>
            </a:solidFill>
            <a:prstDash val="solid"/>
          </a:ln>
        </p:spPr>
      </p:sp>
      <p:sp>
        <p:nvSpPr>
          <p:cNvPr id="5" name="badge"/>
          <p:cNvSpPr/>
          <p:nvPr/>
        </p:nvSpPr>
        <p:spPr>
          <a:xfrm>
            <a:off x="685800" y="1211580"/>
            <a:ext cx="548640" cy="548640"/>
          </a:xfrm>
          <a:prstGeom prst="ellipse">
            <a:avLst/>
          </a:prstGeom>
          <a:solidFill>
            <a:schemeClr val="accent4"/>
          </a:solidFill>
          <a:ln w="12700">
            <a:solidFill>
              <a:schemeClr val="accent4"/>
            </a:solidFill>
            <a:prstDash val="solid"/>
          </a:ln>
        </p:spPr>
      </p:sp>
      <p:pic>
        <p:nvPicPr>
          <p:cNvPr id="6" name="icon" descr="question">    </p:cNvPr>
          <p:cNvPicPr>
            <a:picLocks noChangeAspect="1"/>
          </p:cNvPicPr>
          <p:nvPr/>
        </p:nvPicPr>
        <p:blipFill>
          <a:blip r:embed="rId1"/>
          <a:stretch>
            <a:fillRect/>
          </a:stretch>
        </p:blipFill>
        <p:spPr>
          <a:xfrm>
            <a:off x="828446" y="1354226"/>
            <a:ext cx="263347" cy="263347"/>
          </a:xfrm>
          <a:prstGeom prst="rect">
            <a:avLst/>
          </a:prstGeom>
        </p:spPr>
      </p:pic>
      <p:sp>
        <p:nvSpPr>
          <p:cNvPr id="7" name="Text 3"/>
          <p:cNvSpPr txBox="1"/>
          <p:nvPr/>
        </p:nvSpPr>
        <p:spPr>
          <a:xfrm>
            <a:off x="1463040" y="1097280"/>
            <a:ext cx="6949440" cy="777240"/>
          </a:xfrm>
          <a:prstGeom prst="rect">
            <a:avLst/>
          </a:prstGeom>
          <a:noFill/>
          <a:ln/>
        </p:spPr>
        <p:txBody>
          <a:bodyPr wrap="square" lIns="0" tIns="0" rIns="0" bIns="0" rtlCol="0" anchor="ctr"/>
          <a:lstStyle/>
          <a:p>
            <a:pPr indent="0" marL="0">
              <a:buNone/>
            </a:pPr>
            <a:r>
              <a:rPr lang="en-US" sz="1600" dirty="0">
                <a:solidFill>
                  <a:schemeClr val="tx1"/>
                </a:solidFill>
              </a:rPr>
              <a:t>An adjective describes a noun.</a:t>
            </a:r>
            <a:endParaRPr lang="en-US" sz="1600" dirty="0"/>
          </a:p>
        </p:txBody>
      </p:sp>
      <p:sp>
        <p:nvSpPr>
          <p:cNvPr id="8" name="card"/>
          <p:cNvSpPr/>
          <p:nvPr/>
        </p:nvSpPr>
        <p:spPr>
          <a:xfrm>
            <a:off x="548640" y="2011680"/>
            <a:ext cx="8046720" cy="777240"/>
          </a:xfrm>
          <a:prstGeom prst="roundRect">
            <a:avLst>
              <a:gd name="adj" fmla="val 14118"/>
            </a:avLst>
          </a:prstGeom>
          <a:solidFill>
            <a:schemeClr val="bg2"/>
          </a:solidFill>
          <a:ln w="12700">
            <a:solidFill>
              <a:schemeClr val="bg2"/>
            </a:solidFill>
            <a:prstDash val="solid"/>
          </a:ln>
        </p:spPr>
      </p:sp>
      <p:sp>
        <p:nvSpPr>
          <p:cNvPr id="9" name="badge"/>
          <p:cNvSpPr/>
          <p:nvPr/>
        </p:nvSpPr>
        <p:spPr>
          <a:xfrm>
            <a:off x="685800" y="2125980"/>
            <a:ext cx="548640" cy="548640"/>
          </a:xfrm>
          <a:prstGeom prst="ellipse">
            <a:avLst/>
          </a:prstGeom>
          <a:solidFill>
            <a:schemeClr val="accent2"/>
          </a:solidFill>
          <a:ln w="12700">
            <a:solidFill>
              <a:schemeClr val="accent2"/>
            </a:solidFill>
            <a:prstDash val="solid"/>
          </a:ln>
        </p:spPr>
      </p:sp>
      <p:pic>
        <p:nvPicPr>
          <p:cNvPr id="10" name="icon" descr="question">    </p:cNvPr>
          <p:cNvPicPr>
            <a:picLocks noChangeAspect="1"/>
          </p:cNvPicPr>
          <p:nvPr/>
        </p:nvPicPr>
        <p:blipFill>
          <a:blip r:embed="rId2"/>
          <a:stretch>
            <a:fillRect/>
          </a:stretch>
        </p:blipFill>
        <p:spPr>
          <a:xfrm>
            <a:off x="828446" y="2268626"/>
            <a:ext cx="263347" cy="263347"/>
          </a:xfrm>
          <a:prstGeom prst="rect">
            <a:avLst/>
          </a:prstGeom>
        </p:spPr>
      </p:pic>
      <p:sp>
        <p:nvSpPr>
          <p:cNvPr id="11" name="Text 6"/>
          <p:cNvSpPr txBox="1"/>
          <p:nvPr/>
        </p:nvSpPr>
        <p:spPr>
          <a:xfrm>
            <a:off x="1463040" y="2011680"/>
            <a:ext cx="6949440" cy="777240"/>
          </a:xfrm>
          <a:prstGeom prst="rect">
            <a:avLst/>
          </a:prstGeom>
          <a:noFill/>
          <a:ln/>
        </p:spPr>
        <p:txBody>
          <a:bodyPr wrap="square" lIns="0" tIns="0" rIns="0" bIns="0" rtlCol="0" anchor="ctr"/>
          <a:lstStyle/>
          <a:p>
            <a:pPr indent="0" marL="0">
              <a:buNone/>
            </a:pPr>
            <a:r>
              <a:rPr lang="en-US" sz="1600" dirty="0">
                <a:solidFill>
                  <a:schemeClr val="tx1"/>
                </a:solidFill>
              </a:rPr>
              <a:t>An adverb can only tell us how something happens.</a:t>
            </a:r>
            <a:endParaRPr lang="en-US" sz="1600" dirty="0"/>
          </a:p>
        </p:txBody>
      </p:sp>
      <p:sp>
        <p:nvSpPr>
          <p:cNvPr id="12" name="card"/>
          <p:cNvSpPr/>
          <p:nvPr/>
        </p:nvSpPr>
        <p:spPr>
          <a:xfrm>
            <a:off x="548640" y="2926080"/>
            <a:ext cx="8046720" cy="777240"/>
          </a:xfrm>
          <a:prstGeom prst="roundRect">
            <a:avLst>
              <a:gd name="adj" fmla="val 14118"/>
            </a:avLst>
          </a:prstGeom>
          <a:solidFill>
            <a:schemeClr val="bg2"/>
          </a:solidFill>
          <a:ln w="12700">
            <a:solidFill>
              <a:schemeClr val="bg2"/>
            </a:solidFill>
            <a:prstDash val="solid"/>
          </a:ln>
        </p:spPr>
      </p:sp>
      <p:sp>
        <p:nvSpPr>
          <p:cNvPr id="13" name="badge"/>
          <p:cNvSpPr/>
          <p:nvPr/>
        </p:nvSpPr>
        <p:spPr>
          <a:xfrm>
            <a:off x="685800" y="3040380"/>
            <a:ext cx="548640" cy="548640"/>
          </a:xfrm>
          <a:prstGeom prst="ellipse">
            <a:avLst/>
          </a:prstGeom>
          <a:solidFill>
            <a:schemeClr val="accent3"/>
          </a:solidFill>
          <a:ln w="12700">
            <a:solidFill>
              <a:schemeClr val="accent3"/>
            </a:solidFill>
            <a:prstDash val="solid"/>
          </a:ln>
        </p:spPr>
      </p:sp>
      <p:pic>
        <p:nvPicPr>
          <p:cNvPr id="14" name="icon" descr="question">    </p:cNvPr>
          <p:cNvPicPr>
            <a:picLocks noChangeAspect="1"/>
          </p:cNvPicPr>
          <p:nvPr/>
        </p:nvPicPr>
        <p:blipFill>
          <a:blip r:embed="rId3"/>
          <a:stretch>
            <a:fillRect/>
          </a:stretch>
        </p:blipFill>
        <p:spPr>
          <a:xfrm>
            <a:off x="828446" y="3183026"/>
            <a:ext cx="263347" cy="263347"/>
          </a:xfrm>
          <a:prstGeom prst="rect">
            <a:avLst/>
          </a:prstGeom>
        </p:spPr>
      </p:pic>
      <p:sp>
        <p:nvSpPr>
          <p:cNvPr id="15" name="Text 9"/>
          <p:cNvSpPr txBox="1"/>
          <p:nvPr/>
        </p:nvSpPr>
        <p:spPr>
          <a:xfrm>
            <a:off x="1463040" y="2926080"/>
            <a:ext cx="6949440" cy="777240"/>
          </a:xfrm>
          <a:prstGeom prst="rect">
            <a:avLst/>
          </a:prstGeom>
          <a:noFill/>
          <a:ln/>
        </p:spPr>
        <p:txBody>
          <a:bodyPr wrap="square" lIns="0" tIns="0" rIns="0" bIns="0" rtlCol="0" anchor="ctr"/>
          <a:lstStyle/>
          <a:p>
            <a:pPr indent="0" marL="0">
              <a:buNone/>
            </a:pPr>
            <a:r>
              <a:rPr lang="en-US" sz="1600" dirty="0">
                <a:solidFill>
                  <a:schemeClr val="tx1"/>
                </a:solidFill>
              </a:rPr>
              <a:t>'Beyond the ridge' is a prepositional phrase.</a:t>
            </a:r>
            <a:endParaRPr lang="en-US" sz="1600" dirty="0"/>
          </a:p>
        </p:txBody>
      </p:sp>
      <p:sp>
        <p:nvSpPr>
          <p:cNvPr id="16" name="card"/>
          <p:cNvSpPr/>
          <p:nvPr/>
        </p:nvSpPr>
        <p:spPr>
          <a:xfrm>
            <a:off x="548640" y="3840480"/>
            <a:ext cx="8046720" cy="777240"/>
          </a:xfrm>
          <a:prstGeom prst="roundRect">
            <a:avLst>
              <a:gd name="adj" fmla="val 14118"/>
            </a:avLst>
          </a:prstGeom>
          <a:solidFill>
            <a:schemeClr val="bg2"/>
          </a:solidFill>
          <a:ln w="12700">
            <a:solidFill>
              <a:schemeClr val="bg2"/>
            </a:solidFill>
            <a:prstDash val="solid"/>
          </a:ln>
        </p:spPr>
      </p:sp>
      <p:sp>
        <p:nvSpPr>
          <p:cNvPr id="17" name="badge"/>
          <p:cNvSpPr/>
          <p:nvPr/>
        </p:nvSpPr>
        <p:spPr>
          <a:xfrm>
            <a:off x="685800" y="3954780"/>
            <a:ext cx="548640" cy="548640"/>
          </a:xfrm>
          <a:prstGeom prst="ellipse">
            <a:avLst/>
          </a:prstGeom>
          <a:solidFill>
            <a:schemeClr val="accent5"/>
          </a:solidFill>
          <a:ln w="12700">
            <a:solidFill>
              <a:schemeClr val="accent5"/>
            </a:solidFill>
            <a:prstDash val="solid"/>
          </a:ln>
        </p:spPr>
      </p:sp>
      <p:pic>
        <p:nvPicPr>
          <p:cNvPr id="18" name="icon" descr="question">    </p:cNvPr>
          <p:cNvPicPr>
            <a:picLocks noChangeAspect="1"/>
          </p:cNvPicPr>
          <p:nvPr/>
        </p:nvPicPr>
        <p:blipFill>
          <a:blip r:embed="rId4"/>
          <a:stretch>
            <a:fillRect/>
          </a:stretch>
        </p:blipFill>
        <p:spPr>
          <a:xfrm>
            <a:off x="828446" y="4097426"/>
            <a:ext cx="263347" cy="263347"/>
          </a:xfrm>
          <a:prstGeom prst="rect">
            <a:avLst/>
          </a:prstGeom>
        </p:spPr>
      </p:pic>
      <p:sp>
        <p:nvSpPr>
          <p:cNvPr id="19" name="Text 12"/>
          <p:cNvSpPr txBox="1"/>
          <p:nvPr/>
        </p:nvSpPr>
        <p:spPr>
          <a:xfrm>
            <a:off x="1463040" y="3840480"/>
            <a:ext cx="6949440" cy="777240"/>
          </a:xfrm>
          <a:prstGeom prst="rect">
            <a:avLst/>
          </a:prstGeom>
          <a:noFill/>
          <a:ln/>
        </p:spPr>
        <p:txBody>
          <a:bodyPr wrap="square" lIns="0" tIns="0" rIns="0" bIns="0" rtlCol="0" anchor="ctr"/>
          <a:lstStyle/>
          <a:p>
            <a:pPr indent="0" marL="0">
              <a:buNone/>
            </a:pPr>
            <a:r>
              <a:rPr lang="en-US" sz="1600" dirty="0">
                <a:solidFill>
                  <a:schemeClr val="tx1"/>
                </a:solidFill>
              </a:rPr>
              <a:t>'Slowly' and 'boldly' make a verb give the same picture.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Answers: true or false?</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True.</a:t>
            </a:r>
            <a:pPr indent="0" marL="0">
              <a:buNone/>
            </a:pPr>
            <a:r>
              <a:rPr lang="en-US" sz="1400" dirty="0">
                <a:solidFill>
                  <a:schemeClr val="tx1"/>
                </a:solidFill>
              </a:rPr>
              <a:t> For example: tall tower.</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False.</a:t>
            </a:r>
            <a:pPr indent="0" marL="0">
              <a:buNone/>
            </a:pPr>
            <a:r>
              <a:rPr lang="en-US" sz="1400" dirty="0">
                <a:solidFill>
                  <a:schemeClr val="tx1"/>
                </a:solidFill>
              </a:rPr>
              <a:t> An adverb or adverbial can also tell us where or when.</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True.</a:t>
            </a:r>
            <a:pPr indent="0" marL="0">
              <a:buNone/>
            </a:pPr>
            <a:r>
              <a:rPr lang="en-US" sz="1400" dirty="0">
                <a:solidFill>
                  <a:schemeClr val="tx1"/>
                </a:solidFill>
              </a:rPr>
              <a:t> 'Beyond' is the preposition and 'the ridge' follows it.</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400" b="1" dirty="0">
                <a:solidFill>
                  <a:schemeClr val="tx1"/>
                </a:solidFill>
              </a:rPr>
              <a:t>False.</a:t>
            </a:r>
            <a:pPr indent="0" marL="0">
              <a:buNone/>
            </a:pPr>
            <a:r>
              <a:rPr lang="en-US" sz="1400" dirty="0">
                <a:solidFill>
                  <a:schemeClr val="tx1"/>
                </a:solidFill>
              </a:rPr>
              <a:t> They give very different pictures: slowly feels calm, boldly feels brave.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Exam practice: question 1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'The ancient door creaked loudly.' Which word is an adverb?</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ancient</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door</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creaked</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loudly</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indent="0" marL="0">
              <a:buNone/>
            </a:pPr>
            <a:r>
              <a:rPr lang="en-US" sz="1200" i="1" dirty="0">
                <a:solidFill>
                  <a:srgbClr val="4A4668"/>
                </a:solidFill>
              </a:rPr>
              <a:t>Put a cross in one box.</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1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D</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loudly</a:t>
            </a:r>
            <a:pPr indent="0" marL="0">
              <a:buNone/>
            </a:pP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'Loudly' tells us how the door creaked, so it is an adverb. 'Ancient' is an adjective, 'door' is a noun and 'creaked' is a verb.</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Exam practice: question 2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'The silver bell rang above the empty city.' Find and copy two adjectives.</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2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silver, empty</a:t>
            </a:r>
            <a:pPr indent="0" marL="0">
              <a:buNone/>
            </a:pP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'Silver' describes the bell and 'empty' describes the city. Both are needed for the mark.</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Exam practice: question 3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3"/>
          </a:solidFill>
          <a:ln w="12700">
            <a:solidFill>
              <a:schemeClr val="accent3"/>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'Kesh hid behind the broken wall.' Find and copy the prepositional phrase.</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3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behind the broken wall</a:t>
            </a:r>
            <a:pPr indent="0" marL="0">
              <a:buNone/>
            </a:pP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It starts with the preposition 'behind' and includes the noun phrase 'the broken wall'. It tells us where Kesh hid.</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Exam practice: question 4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(2 marks)</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5"/>
          </a:solidFill>
          <a:ln w="12700">
            <a:solidFill>
              <a:schemeClr val="accent5"/>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Rewrite 'The dragon flew.' Add an adjective, an adverb and a prepositional phrase.</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4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A sentence with all three.</a:t>
            </a:r>
            <a:pPr indent="0" marL="0">
              <a:buNone/>
            </a:pPr>
            <a:r>
              <a:rPr lang="en-US" sz="2200" dirty="0">
                <a:solidFill>
                  <a:schemeClr val="tx1"/>
                </a:solidFill>
              </a:rPr>
              <a:t>  (2 marks)</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1 mark: a correct adjective and a correct adverb are added.</a:t>
            </a:r>
            <a:endParaRPr lang="en-US" sz="1600" dirty="0"/>
          </a:p>
          <a:p>
            <a:pPr indent="0" marL="0">
              <a:spcAft>
                <a:spcPts val="600"/>
              </a:spcAft>
              <a:buNone/>
            </a:pPr>
            <a:r>
              <a:rPr lang="en-US" sz="1600" dirty="0">
                <a:solidFill>
                  <a:schemeClr val="tx1"/>
                </a:solidFill>
              </a:rPr>
              <a:t>1 mark: a correct prepositional phrase is added.</a:t>
            </a:r>
            <a:endParaRPr lang="en-US" sz="1600" dirty="0"/>
          </a:p>
          <a:p>
            <a:pPr indent="0" marL="0">
              <a:spcAft>
                <a:spcPts val="600"/>
              </a:spcAft>
              <a:buNone/>
            </a:pPr>
            <a:r>
              <a:rPr lang="en-US" sz="1600" dirty="0">
                <a:solidFill>
                  <a:schemeClr val="tx1"/>
                </a:solidFill>
              </a:rPr>
              <a:t>Example: The huge green dragon flew silently over the mountains.</a:t>
            </a:r>
            <a:endParaRPr lang="en-US" sz="1600" dirty="0"/>
          </a:p>
          <a:p>
            <a:pPr indent="0" marL="0">
              <a:spcAft>
                <a:spcPts val="600"/>
              </a:spcAft>
              <a:buNone/>
            </a:pPr>
            <a:r>
              <a:rPr lang="en-US" sz="1600" dirty="0">
                <a:solidFill>
                  <a:schemeClr val="tx1"/>
                </a:solidFill>
              </a:rPr>
              <a:t>Total for exam practice: ____ / 5</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Exit ticket</a:t>
            </a:r>
            <a:endParaRPr lang="en-US" sz="3000" dirty="0"/>
          </a:p>
        </p:txBody>
      </p:sp>
      <p:sp>
        <p:nvSpPr>
          <p:cNvPr id="4" name="card"/>
          <p:cNvSpPr/>
          <p:nvPr/>
        </p:nvSpPr>
        <p:spPr>
          <a:xfrm>
            <a:off x="548640" y="1143000"/>
            <a:ext cx="8046720" cy="1005840"/>
          </a:xfrm>
          <a:prstGeom prst="roundRect">
            <a:avLst>
              <a:gd name="adj" fmla="val 10909"/>
            </a:avLst>
          </a:prstGeom>
          <a:solidFill>
            <a:schemeClr val="bg2"/>
          </a:solidFill>
          <a:ln w="12700">
            <a:solidFill>
              <a:schemeClr val="bg2"/>
            </a:solidFill>
            <a:prstDash val="solid"/>
          </a:ln>
        </p:spPr>
      </p:sp>
      <p:sp>
        <p:nvSpPr>
          <p:cNvPr id="5" name="badge"/>
          <p:cNvSpPr/>
          <p:nvPr/>
        </p:nvSpPr>
        <p:spPr>
          <a:xfrm>
            <a:off x="731520" y="1325880"/>
            <a:ext cx="640080" cy="640080"/>
          </a:xfrm>
          <a:prstGeom prst="ellipse">
            <a:avLst/>
          </a:prstGeom>
          <a:solidFill>
            <a:schemeClr val="accent4"/>
          </a:solidFill>
          <a:ln w="12700">
            <a:solidFill>
              <a:schemeClr val="accent4"/>
            </a:solidFill>
            <a:prstDash val="solid"/>
          </a:ln>
        </p:spPr>
      </p:sp>
      <p:pic>
        <p:nvPicPr>
          <p:cNvPr id="6" name="icon" descr="pencil">    </p:cNvPr>
          <p:cNvPicPr>
            <a:picLocks noChangeAspect="1"/>
          </p:cNvPicPr>
          <p:nvPr/>
        </p:nvPicPr>
        <p:blipFill>
          <a:blip r:embed="rId1"/>
          <a:stretch>
            <a:fillRect/>
          </a:stretch>
        </p:blipFill>
        <p:spPr>
          <a:xfrm>
            <a:off x="897941" y="1492301"/>
            <a:ext cx="307238" cy="307238"/>
          </a:xfrm>
          <a:prstGeom prst="rect">
            <a:avLst/>
          </a:prstGeom>
        </p:spPr>
      </p:pic>
      <p:sp>
        <p:nvSpPr>
          <p:cNvPr id="7" name="Text 3"/>
          <p:cNvSpPr txBox="1"/>
          <p:nvPr/>
        </p:nvSpPr>
        <p:spPr>
          <a:xfrm>
            <a:off x="1600200" y="1143000"/>
            <a:ext cx="6766560" cy="1005840"/>
          </a:xfrm>
          <a:prstGeom prst="rect">
            <a:avLst/>
          </a:prstGeom>
          <a:noFill/>
          <a:ln/>
        </p:spPr>
        <p:txBody>
          <a:bodyPr wrap="square" lIns="0" tIns="0" rIns="0" bIns="0" rtlCol="0" anchor="ctr"/>
          <a:lstStyle/>
          <a:p>
            <a:pPr indent="0" marL="0">
              <a:buNone/>
            </a:pPr>
            <a:r>
              <a:rPr lang="en-US" sz="1600" dirty="0">
                <a:solidFill>
                  <a:schemeClr val="tx1"/>
                </a:solidFill>
              </a:rPr>
              <a:t>Write one sentence about a cave. Use an adjective, an adverb and a prepositional phrase. Label them.</a:t>
            </a:r>
            <a:endParaRPr lang="en-US" sz="1600" dirty="0"/>
          </a:p>
        </p:txBody>
      </p:sp>
      <p:sp>
        <p:nvSpPr>
          <p:cNvPr id="8" name="card"/>
          <p:cNvSpPr/>
          <p:nvPr/>
        </p:nvSpPr>
        <p:spPr>
          <a:xfrm>
            <a:off x="548640" y="2286000"/>
            <a:ext cx="8046720" cy="1005840"/>
          </a:xfrm>
          <a:prstGeom prst="roundRect">
            <a:avLst>
              <a:gd name="adj" fmla="val 10909"/>
            </a:avLst>
          </a:prstGeom>
          <a:solidFill>
            <a:schemeClr val="bg2"/>
          </a:solidFill>
          <a:ln w="12700">
            <a:solidFill>
              <a:schemeClr val="bg2"/>
            </a:solidFill>
            <a:prstDash val="solid"/>
          </a:ln>
        </p:spPr>
      </p:sp>
      <p:sp>
        <p:nvSpPr>
          <p:cNvPr id="9" name="badge"/>
          <p:cNvSpPr/>
          <p:nvPr/>
        </p:nvSpPr>
        <p:spPr>
          <a:xfrm>
            <a:off x="731520" y="2468880"/>
            <a:ext cx="640080" cy="640080"/>
          </a:xfrm>
          <a:prstGeom prst="ellipse">
            <a:avLst/>
          </a:prstGeom>
          <a:solidFill>
            <a:schemeClr val="accent2"/>
          </a:solidFill>
          <a:ln w="12700">
            <a:solidFill>
              <a:schemeClr val="accent2"/>
            </a:solidFill>
            <a:prstDash val="solid"/>
          </a:ln>
        </p:spPr>
      </p:sp>
      <p:pic>
        <p:nvPicPr>
          <p:cNvPr id="10" name="icon" descr="brain">    </p:cNvPr>
          <p:cNvPicPr>
            <a:picLocks noChangeAspect="1"/>
          </p:cNvPicPr>
          <p:nvPr/>
        </p:nvPicPr>
        <p:blipFill>
          <a:blip r:embed="rId2"/>
          <a:stretch>
            <a:fillRect/>
          </a:stretch>
        </p:blipFill>
        <p:spPr>
          <a:xfrm>
            <a:off x="897941" y="2635301"/>
            <a:ext cx="307238" cy="307238"/>
          </a:xfrm>
          <a:prstGeom prst="rect">
            <a:avLst/>
          </a:prstGeom>
        </p:spPr>
      </p:pic>
      <p:sp>
        <p:nvSpPr>
          <p:cNvPr id="11" name="Text 6"/>
          <p:cNvSpPr txBox="1"/>
          <p:nvPr/>
        </p:nvSpPr>
        <p:spPr>
          <a:xfrm>
            <a:off x="1600200" y="2286000"/>
            <a:ext cx="6766560" cy="1005840"/>
          </a:xfrm>
          <a:prstGeom prst="rect">
            <a:avLst/>
          </a:prstGeom>
          <a:noFill/>
          <a:ln/>
        </p:spPr>
        <p:txBody>
          <a:bodyPr wrap="square" lIns="0" tIns="0" rIns="0" bIns="0" rtlCol="0" anchor="ctr"/>
          <a:lstStyle/>
          <a:p>
            <a:pPr indent="0" marL="0">
              <a:buNone/>
            </a:pPr>
            <a:r>
              <a:rPr lang="en-US" sz="1600" dirty="0">
                <a:solidFill>
                  <a:schemeClr val="tx1"/>
                </a:solidFill>
              </a:rPr>
              <a:t>What does an adverb tell us about a verb?</a:t>
            </a:r>
            <a:endParaRPr lang="en-US" sz="1600" dirty="0"/>
          </a:p>
        </p:txBody>
      </p:sp>
      <p:sp>
        <p:nvSpPr>
          <p:cNvPr id="12" name="card"/>
          <p:cNvSpPr/>
          <p:nvPr/>
        </p:nvSpPr>
        <p:spPr>
          <a:xfrm>
            <a:off x="548640" y="3429000"/>
            <a:ext cx="8046720" cy="1005840"/>
          </a:xfrm>
          <a:prstGeom prst="roundRect">
            <a:avLst>
              <a:gd name="adj" fmla="val 10909"/>
            </a:avLst>
          </a:prstGeom>
          <a:solidFill>
            <a:schemeClr val="bg2"/>
          </a:solidFill>
          <a:ln w="12700">
            <a:solidFill>
              <a:schemeClr val="bg2"/>
            </a:solidFill>
            <a:prstDash val="solid"/>
          </a:ln>
        </p:spPr>
      </p:sp>
      <p:sp>
        <p:nvSpPr>
          <p:cNvPr id="13" name="badge"/>
          <p:cNvSpPr/>
          <p:nvPr/>
        </p:nvSpPr>
        <p:spPr>
          <a:xfrm>
            <a:off x="731520" y="3611880"/>
            <a:ext cx="640080" cy="640080"/>
          </a:xfrm>
          <a:prstGeom prst="ellipse">
            <a:avLst/>
          </a:prstGeom>
          <a:solidFill>
            <a:schemeClr val="accent3"/>
          </a:solidFill>
          <a:ln w="12700">
            <a:solidFill>
              <a:schemeClr val="accent3"/>
            </a:solidFill>
            <a:prstDash val="solid"/>
          </a:ln>
        </p:spPr>
      </p:sp>
      <p:pic>
        <p:nvPicPr>
          <p:cNvPr id="14" name="icon" descr="hand">    </p:cNvPr>
          <p:cNvPicPr>
            <a:picLocks noChangeAspect="1"/>
          </p:cNvPicPr>
          <p:nvPr/>
        </p:nvPicPr>
        <p:blipFill>
          <a:blip r:embed="rId3"/>
          <a:stretch>
            <a:fillRect/>
          </a:stretch>
        </p:blipFill>
        <p:spPr>
          <a:xfrm>
            <a:off x="897941" y="3778301"/>
            <a:ext cx="307238" cy="307238"/>
          </a:xfrm>
          <a:prstGeom prst="rect">
            <a:avLst/>
          </a:prstGeom>
        </p:spPr>
      </p:pic>
      <p:sp>
        <p:nvSpPr>
          <p:cNvPr id="15" name="Text 9"/>
          <p:cNvSpPr txBox="1"/>
          <p:nvPr/>
        </p:nvSpPr>
        <p:spPr>
          <a:xfrm>
            <a:off x="1600200" y="3429000"/>
            <a:ext cx="6766560" cy="1005840"/>
          </a:xfrm>
          <a:prstGeom prst="rect">
            <a:avLst/>
          </a:prstGeom>
          <a:noFill/>
          <a:ln/>
        </p:spPr>
        <p:txBody>
          <a:bodyPr wrap="square" lIns="0" tIns="0" rIns="0" bIns="0" rtlCol="0" anchor="ctr"/>
          <a:lstStyle/>
          <a:p>
            <a:pPr indent="0" marL="0">
              <a:buNone/>
            </a:pPr>
            <a:r>
              <a:rPr lang="en-US" sz="1600" dirty="0">
                <a:solidFill>
                  <a:schemeClr val="tx1"/>
                </a:solidFill>
              </a:rPr>
              <a:t>How confident do I feel? 1 star = I need help, 2 stars = nearly there, 3 stars = I can teach it.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Model answers: exit ticket</a:t>
            </a:r>
            <a:endParaRPr lang="en-US" sz="3000" dirty="0"/>
          </a:p>
        </p:txBody>
      </p:sp>
      <p:sp>
        <p:nvSpPr>
          <p:cNvPr id="4" name="card"/>
          <p:cNvSpPr/>
          <p:nvPr/>
        </p:nvSpPr>
        <p:spPr>
          <a:xfrm>
            <a:off x="548640" y="1097280"/>
            <a:ext cx="8046720" cy="1097280"/>
          </a:xfrm>
          <a:prstGeom prst="roundRect">
            <a:avLst>
              <a:gd name="adj" fmla="val 10000"/>
            </a:avLst>
          </a:prstGeom>
          <a:solidFill>
            <a:schemeClr val="bg2"/>
          </a:solidFill>
          <a:ln w="12700">
            <a:solidFill>
              <a:schemeClr val="bg2"/>
            </a:solidFill>
            <a:prstDash val="solid"/>
          </a:ln>
        </p:spPr>
      </p:sp>
      <p:sp>
        <p:nvSpPr>
          <p:cNvPr id="5" name="number"/>
          <p:cNvSpPr/>
          <p:nvPr/>
        </p:nvSpPr>
        <p:spPr>
          <a:xfrm>
            <a:off x="685800" y="141732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1097280"/>
          </a:xfrm>
          <a:prstGeom prst="rect">
            <a:avLst/>
          </a:prstGeom>
          <a:noFill/>
          <a:ln/>
        </p:spPr>
        <p:txBody>
          <a:bodyPr wrap="square" lIns="0" tIns="0" rIns="0" bIns="0" rtlCol="0" anchor="ctr"/>
          <a:lstStyle/>
          <a:p>
            <a:pPr indent="0" marL="0">
              <a:buNone/>
            </a:pPr>
            <a:r>
              <a:rPr lang="en-US" sz="1400" b="1" dirty="0">
                <a:solidFill>
                  <a:schemeClr val="tx1"/>
                </a:solidFill>
              </a:rPr>
              <a:t>Example:</a:t>
            </a:r>
            <a:pPr indent="0" marL="0">
              <a:buNone/>
            </a:pPr>
            <a:r>
              <a:rPr lang="en-US" sz="1400" dirty="0">
                <a:solidFill>
                  <a:schemeClr val="tx1"/>
                </a:solidFill>
              </a:rPr>
              <a:t> The </a:t>
            </a:r>
            <a:pPr indent="0" marL="0">
              <a:buNone/>
            </a:pPr>
            <a:r>
              <a:rPr lang="en-US" sz="1400" b="1" dirty="0">
                <a:solidFill>
                  <a:schemeClr val="tx1"/>
                </a:solidFill>
              </a:rPr>
              <a:t>damp</a:t>
            </a:r>
            <a:pPr indent="0" marL="0">
              <a:buNone/>
            </a:pPr>
            <a:r>
              <a:rPr lang="en-US" sz="1400" dirty="0">
                <a:solidFill>
                  <a:schemeClr val="tx1"/>
                </a:solidFill>
              </a:rPr>
              <a:t> cave echoed </a:t>
            </a:r>
            <a:pPr indent="0" marL="0">
              <a:buNone/>
            </a:pPr>
            <a:r>
              <a:rPr lang="en-US" sz="1400" b="1" dirty="0">
                <a:solidFill>
                  <a:schemeClr val="tx1"/>
                </a:solidFill>
              </a:rPr>
              <a:t>eerily</a:t>
            </a:r>
            <a:pPr indent="0" marL="0">
              <a:buNone/>
            </a:pPr>
            <a:r>
              <a:rPr lang="en-US" sz="1400" dirty="0">
                <a:solidFill>
                  <a:schemeClr val="tx1"/>
                </a:solidFill>
              </a:rPr>
              <a:t> </a:t>
            </a:r>
            <a:pPr indent="0" marL="0">
              <a:buNone/>
            </a:pPr>
            <a:r>
              <a:rPr lang="en-US" sz="1400" b="1" dirty="0">
                <a:solidFill>
                  <a:schemeClr val="tx1"/>
                </a:solidFill>
              </a:rPr>
              <a:t>beneath the mountain</a:t>
            </a:r>
            <a:pPr indent="0" marL="0">
              <a:buNone/>
            </a:pPr>
            <a:r>
              <a:rPr lang="en-US" sz="1400" dirty="0">
                <a:solidFill>
                  <a:schemeClr val="tx1"/>
                </a:solidFill>
              </a:rPr>
              <a:t>. (adjective, adverb, prepositional phrase)</a:t>
            </a:r>
            <a:endParaRPr lang="en-US" sz="1600" dirty="0"/>
          </a:p>
        </p:txBody>
      </p:sp>
      <p:sp>
        <p:nvSpPr>
          <p:cNvPr id="8" name="card"/>
          <p:cNvSpPr/>
          <p:nvPr/>
        </p:nvSpPr>
        <p:spPr>
          <a:xfrm>
            <a:off x="548640" y="2286000"/>
            <a:ext cx="8046720" cy="1097280"/>
          </a:xfrm>
          <a:prstGeom prst="roundRect">
            <a:avLst>
              <a:gd name="adj" fmla="val 10000"/>
            </a:avLst>
          </a:prstGeom>
          <a:solidFill>
            <a:schemeClr val="bg2"/>
          </a:solidFill>
          <a:ln w="12700">
            <a:solidFill>
              <a:schemeClr val="bg2"/>
            </a:solidFill>
            <a:prstDash val="solid"/>
          </a:ln>
        </p:spPr>
      </p:sp>
      <p:sp>
        <p:nvSpPr>
          <p:cNvPr id="9" name="number"/>
          <p:cNvSpPr/>
          <p:nvPr/>
        </p:nvSpPr>
        <p:spPr>
          <a:xfrm>
            <a:off x="685800" y="260604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606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2286000"/>
            <a:ext cx="7040880" cy="1097280"/>
          </a:xfrm>
          <a:prstGeom prst="rect">
            <a:avLst/>
          </a:prstGeom>
          <a:noFill/>
          <a:ln/>
        </p:spPr>
        <p:txBody>
          <a:bodyPr wrap="square" lIns="0" tIns="0" rIns="0" bIns="0" rtlCol="0" anchor="ctr"/>
          <a:lstStyle/>
          <a:p>
            <a:pPr indent="0" marL="0">
              <a:buNone/>
            </a:pPr>
            <a:r>
              <a:rPr lang="en-US" sz="1400" b="1" dirty="0">
                <a:solidFill>
                  <a:schemeClr val="tx1"/>
                </a:solidFill>
              </a:rPr>
              <a:t>It tells us more about the verb:</a:t>
            </a:r>
            <a:pPr indent="0" marL="0">
              <a:buNone/>
            </a:pPr>
            <a:r>
              <a:rPr lang="en-US" sz="1400" dirty="0">
                <a:solidFill>
                  <a:schemeClr val="tx1"/>
                </a:solidFill>
              </a:rPr>
              <a:t> how, where or when the action happens.</a:t>
            </a:r>
            <a:endParaRPr lang="en-US" sz="1600" dirty="0"/>
          </a:p>
        </p:txBody>
      </p:sp>
      <p:sp>
        <p:nvSpPr>
          <p:cNvPr id="12" name="card"/>
          <p:cNvSpPr/>
          <p:nvPr/>
        </p:nvSpPr>
        <p:spPr>
          <a:xfrm>
            <a:off x="548640" y="3474720"/>
            <a:ext cx="8046720" cy="1097280"/>
          </a:xfrm>
          <a:prstGeom prst="roundRect">
            <a:avLst>
              <a:gd name="adj" fmla="val 10000"/>
            </a:avLst>
          </a:prstGeom>
          <a:solidFill>
            <a:schemeClr val="bg2"/>
          </a:solidFill>
          <a:ln w="12700">
            <a:solidFill>
              <a:schemeClr val="bg2"/>
            </a:solidFill>
            <a:prstDash val="solid"/>
          </a:ln>
        </p:spPr>
      </p:sp>
      <p:sp>
        <p:nvSpPr>
          <p:cNvPr id="13" name="number"/>
          <p:cNvSpPr/>
          <p:nvPr/>
        </p:nvSpPr>
        <p:spPr>
          <a:xfrm>
            <a:off x="685800" y="379476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3474720"/>
            <a:ext cx="7040880" cy="1097280"/>
          </a:xfrm>
          <a:prstGeom prst="rect">
            <a:avLst/>
          </a:prstGeom>
          <a:noFill/>
          <a:ln/>
        </p:spPr>
        <p:txBody>
          <a:bodyPr wrap="square" lIns="0" tIns="0" rIns="0" bIns="0" rtlCol="0" anchor="ctr"/>
          <a:lstStyle/>
          <a:p>
            <a:pPr indent="0" marL="0">
              <a:buNone/>
            </a:pPr>
            <a:r>
              <a:rPr lang="en-US" sz="1400" b="1" dirty="0">
                <a:solidFill>
                  <a:schemeClr val="tx1"/>
                </a:solidFill>
              </a:rPr>
              <a:t>Pupils with 1 star</a:t>
            </a:r>
            <a:pPr indent="0" marL="0">
              <a:buNone/>
            </a:pPr>
            <a:r>
              <a:rPr lang="en-US" sz="1400" dirty="0">
                <a:solidFill>
                  <a:schemeClr val="tx1"/>
                </a:solidFill>
              </a:rPr>
              <a:t> need the sentence ladder again. </a:t>
            </a:r>
            <a:pPr indent="0" marL="0">
              <a:buNone/>
            </a:pPr>
            <a:r>
              <a:rPr lang="en-US" sz="1400" b="1" dirty="0">
                <a:solidFill>
                  <a:schemeClr val="tx1"/>
                </a:solidFill>
              </a:rPr>
              <a:t>Pupils with 3 stars</a:t>
            </a:r>
            <a:pPr indent="0" marL="0">
              <a:buNone/>
            </a:pPr>
            <a:r>
              <a:rPr lang="en-US" sz="1400" dirty="0">
                <a:solidFill>
                  <a:schemeClr val="tx1"/>
                </a:solidFill>
              </a:rPr>
              <a:t> can help a partner next lesson.</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Homework</a:t>
            </a:r>
            <a:endParaRPr lang="en-US" sz="3000" dirty="0"/>
          </a:p>
        </p:txBody>
      </p:sp>
      <p:sp>
        <p:nvSpPr>
          <p:cNvPr id="4" name="Text 1"/>
          <p:cNvSpPr txBox="1"/>
          <p:nvPr/>
        </p:nvSpPr>
        <p:spPr>
          <a:xfrm>
            <a:off x="548640" y="1097280"/>
            <a:ext cx="8046720" cy="914400"/>
          </a:xfrm>
          <a:prstGeom prst="rect">
            <a:avLst/>
          </a:prstGeom>
          <a:noFill/>
          <a:ln/>
        </p:spPr>
        <p:txBody>
          <a:bodyPr wrap="square" lIns="0" tIns="0" rIns="0" bIns="0" rtlCol="0" anchor="t"/>
          <a:lstStyle/>
          <a:p>
            <a:pPr indent="0" marL="0">
              <a:buNone/>
            </a:pPr>
            <a:r>
              <a:rPr lang="en-US" sz="1600" dirty="0">
                <a:solidFill>
                  <a:schemeClr val="tx1"/>
                </a:solidFill>
              </a:rPr>
              <a:t>Describe the setting of a secret garden in four sentences. Use two adjectives, two adverbs or adverbials and two prepositional phrases. Underline each type in a different colour.</a:t>
            </a:r>
            <a:endParaRPr lang="en-US" sz="1600" dirty="0"/>
          </a:p>
        </p:txBody>
      </p:sp>
      <p:sp>
        <p:nvSpPr>
          <p:cNvPr id="5" name="card"/>
          <p:cNvSpPr/>
          <p:nvPr/>
        </p:nvSpPr>
        <p:spPr>
          <a:xfrm>
            <a:off x="548640" y="2194560"/>
            <a:ext cx="8046720" cy="2377440"/>
          </a:xfrm>
          <a:prstGeom prst="roundRect">
            <a:avLst>
              <a:gd name="adj" fmla="val 4615"/>
            </a:avLst>
          </a:prstGeom>
          <a:solidFill>
            <a:schemeClr val="bg2"/>
          </a:solidFill>
          <a:ln w="12700">
            <a:solidFill>
              <a:schemeClr val="bg2"/>
            </a:solidFill>
            <a:prstDash val="solid"/>
          </a:ln>
        </p:spPr>
      </p:sp>
      <p:sp>
        <p:nvSpPr>
          <p:cNvPr id="6" name="answer line"/>
          <p:cNvSpPr/>
          <p:nvPr/>
        </p:nvSpPr>
        <p:spPr>
          <a:xfrm>
            <a:off x="822960" y="2743200"/>
            <a:ext cx="7498080" cy="0"/>
          </a:xfrm>
          <a:prstGeom prst="line">
            <a:avLst/>
          </a:prstGeom>
          <a:noFill/>
          <a:ln w="12700">
            <a:solidFill>
              <a:srgbClr val="BDB6D9"/>
            </a:solidFill>
            <a:prstDash val="solid"/>
          </a:ln>
        </p:spPr>
      </p:sp>
      <p:sp>
        <p:nvSpPr>
          <p:cNvPr id="7" name="answer line"/>
          <p:cNvSpPr/>
          <p:nvPr/>
        </p:nvSpPr>
        <p:spPr>
          <a:xfrm>
            <a:off x="822960" y="3200400"/>
            <a:ext cx="7498080" cy="0"/>
          </a:xfrm>
          <a:prstGeom prst="line">
            <a:avLst/>
          </a:prstGeom>
          <a:noFill/>
          <a:ln w="12700">
            <a:solidFill>
              <a:srgbClr val="BDB6D9"/>
            </a:solidFill>
            <a:prstDash val="solid"/>
          </a:ln>
        </p:spPr>
      </p:sp>
      <p:sp>
        <p:nvSpPr>
          <p:cNvPr id="8" name="answer line"/>
          <p:cNvSpPr/>
          <p:nvPr/>
        </p:nvSpPr>
        <p:spPr>
          <a:xfrm>
            <a:off x="822960" y="3657600"/>
            <a:ext cx="7498080" cy="0"/>
          </a:xfrm>
          <a:prstGeom prst="line">
            <a:avLst/>
          </a:prstGeom>
          <a:noFill/>
          <a:ln w="12700">
            <a:solidFill>
              <a:srgbClr val="BDB6D9"/>
            </a:solidFill>
            <a:prstDash val="solid"/>
          </a:ln>
        </p:spPr>
      </p:sp>
      <p:sp>
        <p:nvSpPr>
          <p:cNvPr id="9" name="answer line"/>
          <p:cNvSpPr/>
          <p:nvPr/>
        </p:nvSpPr>
        <p:spPr>
          <a:xfrm>
            <a:off x="822960" y="411480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120640" cy="1371600"/>
          </a:xfrm>
          <a:prstGeom prst="rect">
            <a:avLst/>
          </a:prstGeom>
          <a:noFill/>
          <a:ln/>
        </p:spPr>
        <p:txBody>
          <a:bodyPr wrap="square" lIns="0" tIns="0" rIns="0" bIns="0" rtlCol="0" anchor="b"/>
          <a:lstStyle/>
          <a:p>
            <a:pPr algn="l" indent="0" marL="0">
              <a:buNone/>
            </a:pPr>
            <a:r>
              <a:rPr lang="en-US" sz="4400" b="1" dirty="0">
                <a:solidFill>
                  <a:schemeClr val="bg1"/>
                </a:solidFill>
              </a:rPr>
              <a:t>Describe the world</a:t>
            </a:r>
            <a:endParaRPr lang="en-US" sz="4400" dirty="0"/>
          </a:p>
        </p:txBody>
      </p:sp>
      <p:sp>
        <p:nvSpPr>
          <p:cNvPr id="3" name="Text 0"/>
          <p:cNvSpPr/>
          <p:nvPr>
            <p:ph idx="101" type="body" hasCustomPrompt="1"/>
          </p:nvPr>
        </p:nvSpPr>
        <p:spPr>
          <a:xfrm>
            <a:off x="640080" y="2926080"/>
            <a:ext cx="5120640" cy="1097280"/>
          </a:xfrm>
          <a:prstGeom prst="rect">
            <a:avLst/>
          </a:prstGeom>
          <a:noFill/>
          <a:ln/>
        </p:spPr>
        <p:txBody>
          <a:bodyPr wrap="square" lIns="0" tIns="0" rIns="0" bIns="0" rtlCol="0" anchor="t"/>
          <a:lstStyle/>
          <a:p>
            <a:pPr indent="0" marL="0">
              <a:buNone/>
            </a:pPr>
            <a:r>
              <a:rPr lang="en-US" sz="1800" dirty="0">
                <a:solidFill>
                  <a:schemeClr val="accent1"/>
                </a:solidFill>
              </a:rPr>
              <a:t>Next: planning our fantasy story</a:t>
            </a:r>
            <a:endParaRPr lang="en-US" sz="1800" dirty="0"/>
          </a:p>
        </p:txBody>
      </p:sp>
      <p:sp>
        <p:nvSpPr>
          <p:cNvPr id="4" name="motif circle"/>
          <p:cNvSpPr/>
          <p:nvPr/>
        </p:nvSpPr>
        <p:spPr>
          <a:xfrm>
            <a:off x="6126480" y="1097280"/>
            <a:ext cx="2468880" cy="2468880"/>
          </a:xfrm>
          <a:prstGeom prst="ellipse">
            <a:avLst/>
          </a:prstGeom>
          <a:solidFill>
            <a:schemeClr val="tx2"/>
          </a:solidFill>
          <a:ln w="12700">
            <a:solidFill>
              <a:schemeClr val="tx2"/>
            </a:solidFill>
            <a:prstDash val="solid"/>
          </a:ln>
        </p:spPr>
      </p:sp>
      <p:pic>
        <p:nvPicPr>
          <p:cNvPr id="5" name="city" descr="city">    </p:cNvPr>
          <p:cNvPicPr>
            <a:picLocks noChangeAspect="1"/>
          </p:cNvPicPr>
          <p:nvPr/>
        </p:nvPicPr>
        <p:blipFill>
          <a:blip r:embed="rId1"/>
          <a:stretch>
            <a:fillRect/>
          </a:stretch>
        </p:blipFill>
        <p:spPr>
          <a:xfrm>
            <a:off x="6675120" y="1645920"/>
            <a:ext cx="1371600" cy="1371600"/>
          </a:xfrm>
          <a:prstGeom prst="rect">
            <a:avLst/>
          </a:prstGeom>
        </p:spPr>
      </p:pic>
    </p:spTree>
  </p:cSld>
  <p:clrMapOvr>
    <a:masterClrMapping/>
  </p:clrMapOvr>
</p:sld>
</file>

<file path=ppt/theme/theme1.xml><?xml version="1.0" encoding="utf-8"?>
<a:theme xmlns:a="http://schemas.openxmlformats.org/drawingml/2006/main" name="Fantasy Explorers">
  <a:themeElements>
    <a:clrScheme name="Fantasy Explorers">
      <a:dk1>
        <a:srgbClr val="1F1B3A"/>
      </a:dk1>
      <a:lt1>
        <a:srgbClr val="FFFFFF"/>
      </a:lt1>
      <a:dk2>
        <a:srgbClr val="3B2F63"/>
      </a:dk2>
      <a:lt2>
        <a:srgbClr val="F1EEFA"/>
      </a:lt2>
      <a:accent1>
        <a:srgbClr val="F2A541"/>
      </a:accent1>
      <a:accent2>
        <a:srgbClr val="1E7F74"/>
      </a:accent2>
      <a:accent3>
        <a:srgbClr val="C8553A"/>
      </a:accent3>
      <a:accent4>
        <a:srgbClr val="6A55B8"/>
      </a:accent4>
      <a:accent5>
        <a:srgbClr val="5E8C4F"/>
      </a:accent5>
      <a:accent6>
        <a:srgbClr val="B5851A"/>
      </a:accent6>
      <a:hlink>
        <a:srgbClr val="6A55B8"/>
      </a:hlink>
      <a:folHlink>
        <a:srgbClr val="3B2F63"/>
      </a:folHlink>
    </a:clrScheme>
    <a:fontScheme name="Fantasy Explor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8 - Grammar: Describe It</dc:title>
  <dc:subject>PptxGenJS Presentation</dc:subject>
  <dc:creator>Year 6 English</dc:creator>
  <cp:lastModifiedBy>Year 6 English</cp:lastModifiedBy>
  <cp:revision>1</cp:revision>
  <dcterms:created xsi:type="dcterms:W3CDTF">2026-10-28T05:11:35Z</dcterms:created>
  <dcterms:modified xsi:type="dcterms:W3CDTF">2026-10-28T05:11:35Z</dcterms:modified>
</cp:coreProperties>
</file>