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90" r:id="rId34"/>
    <p:sldId id="292" r:id="rId35"/>
    <p:sldId id="294" r:id="rId36"/>
    <p:sldId id="295" r:id="rId37"/>
    <p:sldId id="296" r:id="rId38"/>
    <p:sldId id="297"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C2A832C-76D8-D011-17EA-539F9575999A}">
          <p14:sldIdLst>
            <p14:sldId id="256"/>
            <p14:sldId id="257"/>
            <p14:sldId id="258"/>
            <p14:sldId id="259"/>
            <p14:sldId id="260"/>
            <p14:sldId id="261"/>
            <p14:sldId id="262"/>
          </p14:sldIdLst>
        </p14:section>
        <p14:section name="Read" id="{C926C5DA-4D97-2E42-5D10-41A77B3DC731}">
          <p14:sldIdLst>
            <p14:sldId id="263"/>
            <p14:sldId id="264"/>
            <p14:sldId id="265"/>
            <p14:sldId id="266"/>
            <p14:sldId id="267"/>
            <p14:sldId id="268"/>
            <p14:sldId id="269"/>
            <p14:sldId id="270"/>
            <p14:sldId id="271"/>
            <p14:sldId id="272"/>
            <p14:sldId id="273"/>
            <p14:sldId id="274"/>
            <p14:sldId id="275"/>
          </p14:sldIdLst>
        </p14:section>
        <p14:section name="Make" id="{7A3D5BB6-D0E8-BB2A-365A-0EB578D8AC8F}">
          <p14:sldIdLst>
            <p14:sldId id="276"/>
            <p14:sldId id="277"/>
            <p14:sldId id="278"/>
            <p14:sldId id="279"/>
            <p14:sldId id="280"/>
            <p14:sldId id="281"/>
          </p14:sldIdLst>
        </p14:section>
        <p14:section name="Share" id="{EFC4165A-CA03-5A84-F96A-D8D68B29D2B3}">
          <p14:sldIdLst>
            <p14:sldId id="282"/>
            <p14:sldId id="283"/>
            <p14:sldId id="284"/>
            <p14:sldId id="285"/>
            <p14:sldId id="286"/>
            <p14:sldId id="288"/>
            <p14:sldId id="290"/>
            <p14:sldId id="292"/>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6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138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80-minute lesson. Timings: Recap 8 | Feelings words and evidence method 17 | Reading part 4 with pauses 15 | Evidence chart 20 | Plenary 8 | Exam practice 10 | Exit ticket 4.
Part 4 of 'The City That Waited' is new today. Pupils should have parts 1 to 3 from Lesson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Ask pupils to rate their confidence with a thumb now and again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Pairs answer in two minutes, then take answers. Answers are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alternative wording.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place words on each ladder and to explain why one rung is stronger than another. Collect new words on the Learning Wall. The stronger the word, the more precise the explanation.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writers rarely say 'he was afraid'. They show it through what a character does, says or looks like. Pupils say what each clue tells us, then check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three-part sentence. Pupils will use it for every character in the main activity. Display it on the wall.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part 4 aloud with expression, then share the reading. Pause after each 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Ask pupils what they notice about the body language: hand shook, jaw tight, snapped, trembling. Ask for the meaning of 'ancestors' (people in your family who lived long ago) and 'trembling' (shaking).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does Tamsin feel two things at once? Which words show it? Note 'her voice small' and 'stared at the ground and said nothing at 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answers from pairs. Push for evidence every time: which words tell us?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at a time after pupils have shared theirs.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choose one box and write the letter in their book. Take answers by show of fingers (1 to 4 for A to D), then reveal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who chose a different option to explain their thinking before you move 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choose one box and write the letter in their book. Take answers by show of fingers (1 to 4 for A to D), then reveal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who chose a different option to explain their thinking before you move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choose one box and write the letter in their book. Take answers by show of fingers (1 to 4 for A to D), then reveal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who chose a different option to explain their thinking before you move 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choose one box and write the letter in their book. Take answers by show of fingers (1 to 4 for A to D), then reveal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who chose a different option to explain their thinking before you move 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Core and Extend: mixed-ability pairs. Support: work with this group, read each quote together and match it to a feeling before they write sentences. Next: the feelings chart (worksheet), then its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first row with the class. Pupils complete the other rows in pairs, using the Feeling, Proof, Because sentence. Extend: add a fifth row for the way Kesh feels in the last line. Support: use the quote bank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Accept any feeling word that fits the evidence. Praise pupils who explain WHY the words show the feeling. Pupils tick correct parts and add missing evidence in a different colour.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underlined words (step 2) and the ladder choice (step 4). The chart answers were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pupils who need support, and a quick check for everyone. Match each quote to the character and the feeling it shows.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close alternatives (for example 'upset' for defeated). Ask: which word in the quote told you?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Pupils think for 30 seconds, then stand by a character's name (Orrin, Kesh, Tamsin) and tell a partner their reason with evidence. Ask: has anyone changed their mind? Model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single right answer. Any character is correct if the pupil gives evidence. These are model arguments.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pairs to read their strongest piece of evidence. The class votes: is it proof? Does it show the feeling clearly?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on a sticky note and hand it in. Use it to plan Lesson 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answer names a feeling, quotes the exact words, and explains what they show.</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out a printed copy of part 4 (slides 9 and 10) so pupils can complete this at home. Collect it at the start of the next lesson.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pupils show their confidence again. Collect exit tickets.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B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3B2F6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4736592"/>
            <a:ext cx="4572000" cy="274320"/>
          </a:xfrm>
          <a:prstGeom prst="rect">
            <a:avLst/>
          </a:prstGeom>
          <a:noFill/>
          <a:ln/>
        </p:spPr>
        <p:txBody>
          <a:bodyPr wrap="square" lIns="0" tIns="0" rIns="0" bIns="0" rtlCol="0" anchor="ctr"/>
          <a:lstStyle/>
          <a:p>
            <a:pPr marL="0" indent="0">
              <a:buNone/>
            </a:pPr>
            <a:r>
              <a:rPr lang="en-US" sz="1000" dirty="0">
                <a:solidFill>
                  <a:srgbClr val="6B6784"/>
                </a:solidFill>
              </a:rPr>
              <a:t>Year 6 English  |  Unit 8  |  Lesson 2</a:t>
            </a:r>
            <a:endParaRPr lang="en-US" sz="10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lIns="0" tIns="0" rIns="0" bIns="0" rtlCol="0" anchor="b"/>
          <a:lstStyle/>
          <a:p>
            <a:pPr marL="0" indent="0" algn="l">
              <a:buNone/>
            </a:pPr>
            <a:r>
              <a:rPr lang="en-US" sz="4400" b="1" dirty="0">
                <a:solidFill>
                  <a:schemeClr val="bg1"/>
                </a:solidFill>
              </a:rPr>
              <a:t>Feelings Detectives</a:t>
            </a: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lIns="0" tIns="0" rIns="0" bIns="0" rtlCol="0" anchor="t"/>
          <a:lstStyle/>
          <a:p>
            <a:pPr marL="0" indent="0">
              <a:buNone/>
            </a:pPr>
            <a:r>
              <a:rPr lang="en-US" sz="1800" dirty="0">
                <a:solidFill>
                  <a:schemeClr val="accent1"/>
                </a:solidFill>
              </a:rPr>
              <a:t>Unit 8 | Lesson 2</a:t>
            </a:r>
            <a:endParaRPr lang="en-US" sz="1800" dirty="0"/>
          </a:p>
          <a:p>
            <a:pPr marL="0" indent="0">
              <a:buNone/>
            </a:pPr>
            <a:r>
              <a:rPr lang="en-US" sz="1800" dirty="0">
                <a:solidFill>
                  <a:schemeClr val="accent1"/>
                </a:solidFill>
              </a:rPr>
              <a:t>Fantasy reading: explaining the characters' feelings with evidence</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dragon" descr="dragon"/>
          <p:cNvPicPr>
            <a:picLocks noChangeAspect="1"/>
          </p:cNvPicPr>
          <p:nvPr/>
        </p:nvPicPr>
        <p:blipFill>
          <a:blip r:embed="rId3"/>
          <a:stretch>
            <a:fillRect/>
          </a:stretch>
        </p:blipFill>
        <p:spPr>
          <a:xfrm>
            <a:off x="6675120" y="16459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Today we will</a:t>
            </a:r>
            <a:endParaRPr lang="en-US" sz="3000" dirty="0"/>
          </a:p>
        </p:txBody>
      </p:sp>
      <p:sp>
        <p:nvSpPr>
          <p:cNvPr id="4" name="card"/>
          <p:cNvSpPr/>
          <p:nvPr/>
        </p:nvSpPr>
        <p:spPr>
          <a:xfrm>
            <a:off x="548640" y="1188720"/>
            <a:ext cx="2560320" cy="3200400"/>
          </a:xfrm>
          <a:prstGeom prst="roundRect">
            <a:avLst>
              <a:gd name="adj" fmla="val 4286"/>
            </a:avLst>
          </a:prstGeom>
          <a:solidFill>
            <a:schemeClr val="bg2"/>
          </a:solidFill>
          <a:ln w="12700">
            <a:solidFill>
              <a:schemeClr val="bg2"/>
            </a:solidFill>
            <a:prstDash val="solid"/>
          </a:ln>
        </p:spPr>
      </p:sp>
      <p:sp>
        <p:nvSpPr>
          <p:cNvPr id="5" name="badge"/>
          <p:cNvSpPr/>
          <p:nvPr/>
        </p:nvSpPr>
        <p:spPr>
          <a:xfrm>
            <a:off x="1371600" y="1463040"/>
            <a:ext cx="914400" cy="914400"/>
          </a:xfrm>
          <a:prstGeom prst="ellipse">
            <a:avLst/>
          </a:prstGeom>
          <a:solidFill>
            <a:schemeClr val="accent4"/>
          </a:solidFill>
          <a:ln w="12700">
            <a:solidFill>
              <a:schemeClr val="accent4"/>
            </a:solidFill>
            <a:prstDash val="solid"/>
          </a:ln>
        </p:spPr>
      </p:sp>
      <p:pic>
        <p:nvPicPr>
          <p:cNvPr id="6" name="icon" descr="eye"/>
          <p:cNvPicPr>
            <a:picLocks noChangeAspect="1"/>
          </p:cNvPicPr>
          <p:nvPr/>
        </p:nvPicPr>
        <p:blipFill>
          <a:blip r:embed="rId3"/>
          <a:stretch>
            <a:fillRect/>
          </a:stretch>
        </p:blipFill>
        <p:spPr>
          <a:xfrm>
            <a:off x="1609344" y="1700784"/>
            <a:ext cx="438912" cy="438912"/>
          </a:xfrm>
          <a:prstGeom prst="rect">
            <a:avLst/>
          </a:prstGeom>
        </p:spPr>
      </p:pic>
      <p:sp>
        <p:nvSpPr>
          <p:cNvPr id="7" name="Text 3"/>
          <p:cNvSpPr txBox="1"/>
          <p:nvPr/>
        </p:nvSpPr>
        <p:spPr>
          <a:xfrm>
            <a:off x="7315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Spot feelings</a:t>
            </a:r>
            <a:endParaRPr lang="en-US" sz="2000" dirty="0"/>
          </a:p>
        </p:txBody>
      </p:sp>
      <p:sp>
        <p:nvSpPr>
          <p:cNvPr id="8" name="Text 4"/>
          <p:cNvSpPr txBox="1"/>
          <p:nvPr/>
        </p:nvSpPr>
        <p:spPr>
          <a:xfrm>
            <a:off x="777240" y="3108960"/>
            <a:ext cx="2103120" cy="1097280"/>
          </a:xfrm>
          <a:prstGeom prst="rect">
            <a:avLst/>
          </a:prstGeom>
          <a:noFill/>
          <a:ln/>
        </p:spPr>
        <p:txBody>
          <a:bodyPr wrap="square" lIns="0" tIns="0" rIns="0" bIns="0" rtlCol="0" anchor="t"/>
          <a:lstStyle/>
          <a:p>
            <a:pPr marL="0" indent="0" algn="ctr">
              <a:buNone/>
            </a:pPr>
            <a:r>
              <a:rPr lang="en-US" sz="1600" dirty="0">
                <a:solidFill>
                  <a:schemeClr val="tx1"/>
                </a:solidFill>
              </a:rPr>
              <a:t>I can work out how a character feels from what they do and say.</a:t>
            </a:r>
            <a:endParaRPr lang="en-US" sz="1600" dirty="0"/>
          </a:p>
        </p:txBody>
      </p:sp>
      <p:sp>
        <p:nvSpPr>
          <p:cNvPr id="9" name="card"/>
          <p:cNvSpPr/>
          <p:nvPr/>
        </p:nvSpPr>
        <p:spPr>
          <a:xfrm>
            <a:off x="3291840" y="1188720"/>
            <a:ext cx="2560320" cy="3200400"/>
          </a:xfrm>
          <a:prstGeom prst="roundRect">
            <a:avLst>
              <a:gd name="adj" fmla="val 4286"/>
            </a:avLst>
          </a:prstGeom>
          <a:solidFill>
            <a:schemeClr val="bg2"/>
          </a:solidFill>
          <a:ln w="12700">
            <a:solidFill>
              <a:schemeClr val="bg2"/>
            </a:solidFill>
            <a:prstDash val="solid"/>
          </a:ln>
        </p:spPr>
      </p:sp>
      <p:sp>
        <p:nvSpPr>
          <p:cNvPr id="10" name="badge"/>
          <p:cNvSpPr/>
          <p:nvPr/>
        </p:nvSpPr>
        <p:spPr>
          <a:xfrm>
            <a:off x="4114800" y="1463040"/>
            <a:ext cx="914400" cy="914400"/>
          </a:xfrm>
          <a:prstGeom prst="ellipse">
            <a:avLst/>
          </a:prstGeom>
          <a:solidFill>
            <a:schemeClr val="accent2"/>
          </a:solidFill>
          <a:ln w="12700">
            <a:solidFill>
              <a:schemeClr val="accent2"/>
            </a:solidFill>
            <a:prstDash val="solid"/>
          </a:ln>
        </p:spPr>
      </p:sp>
      <p:pic>
        <p:nvPicPr>
          <p:cNvPr id="11" name="icon" descr="key"/>
          <p:cNvPicPr>
            <a:picLocks noChangeAspect="1"/>
          </p:cNvPicPr>
          <p:nvPr/>
        </p:nvPicPr>
        <p:blipFill>
          <a:blip r:embed="rId4"/>
          <a:stretch>
            <a:fillRect/>
          </a:stretch>
        </p:blipFill>
        <p:spPr>
          <a:xfrm>
            <a:off x="4352544" y="1700784"/>
            <a:ext cx="438912" cy="438912"/>
          </a:xfrm>
          <a:prstGeom prst="rect">
            <a:avLst/>
          </a:prstGeom>
        </p:spPr>
      </p:pic>
      <p:sp>
        <p:nvSpPr>
          <p:cNvPr id="12" name="Text 7"/>
          <p:cNvSpPr txBox="1"/>
          <p:nvPr/>
        </p:nvSpPr>
        <p:spPr>
          <a:xfrm>
            <a:off x="34747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Find evidence</a:t>
            </a:r>
            <a:endParaRPr lang="en-US" sz="2000" dirty="0"/>
          </a:p>
        </p:txBody>
      </p:sp>
      <p:sp>
        <p:nvSpPr>
          <p:cNvPr id="13" name="Text 8"/>
          <p:cNvSpPr txBox="1"/>
          <p:nvPr/>
        </p:nvSpPr>
        <p:spPr>
          <a:xfrm>
            <a:off x="3520440" y="3108960"/>
            <a:ext cx="2103120" cy="1097280"/>
          </a:xfrm>
          <a:prstGeom prst="rect">
            <a:avLst/>
          </a:prstGeom>
          <a:noFill/>
          <a:ln/>
        </p:spPr>
        <p:txBody>
          <a:bodyPr wrap="square" lIns="0" tIns="0" rIns="0" bIns="0" rtlCol="0" anchor="t"/>
          <a:lstStyle/>
          <a:p>
            <a:pPr marL="0" indent="0" algn="ctr">
              <a:buNone/>
            </a:pPr>
            <a:r>
              <a:rPr lang="en-US" sz="1600" dirty="0">
                <a:solidFill>
                  <a:schemeClr val="tx1"/>
                </a:solidFill>
              </a:rPr>
              <a:t>I can find words in the text that prove how a character feels.</a:t>
            </a:r>
            <a:endParaRPr lang="en-US" sz="1600" dirty="0"/>
          </a:p>
        </p:txBody>
      </p:sp>
      <p:sp>
        <p:nvSpPr>
          <p:cNvPr id="14" name="card"/>
          <p:cNvSpPr/>
          <p:nvPr/>
        </p:nvSpPr>
        <p:spPr>
          <a:xfrm>
            <a:off x="6035040" y="1188720"/>
            <a:ext cx="2560320" cy="3200400"/>
          </a:xfrm>
          <a:prstGeom prst="roundRect">
            <a:avLst>
              <a:gd name="adj" fmla="val 4286"/>
            </a:avLst>
          </a:prstGeom>
          <a:solidFill>
            <a:schemeClr val="bg2"/>
          </a:solidFill>
          <a:ln w="12700">
            <a:solidFill>
              <a:schemeClr val="bg2"/>
            </a:solidFill>
            <a:prstDash val="solid"/>
          </a:ln>
        </p:spPr>
      </p:sp>
      <p:sp>
        <p:nvSpPr>
          <p:cNvPr id="15" name="badge"/>
          <p:cNvSpPr/>
          <p:nvPr/>
        </p:nvSpPr>
        <p:spPr>
          <a:xfrm>
            <a:off x="6858000" y="1463040"/>
            <a:ext cx="914400" cy="914400"/>
          </a:xfrm>
          <a:prstGeom prst="ellipse">
            <a:avLst/>
          </a:prstGeom>
          <a:solidFill>
            <a:schemeClr val="accent3"/>
          </a:solidFill>
          <a:ln w="12700">
            <a:solidFill>
              <a:schemeClr val="accent3"/>
            </a:solidFill>
            <a:prstDash val="solid"/>
          </a:ln>
        </p:spPr>
      </p:sp>
      <p:pic>
        <p:nvPicPr>
          <p:cNvPr id="16" name="icon" descr="comment"/>
          <p:cNvPicPr>
            <a:picLocks noChangeAspect="1"/>
          </p:cNvPicPr>
          <p:nvPr/>
        </p:nvPicPr>
        <p:blipFill>
          <a:blip r:embed="rId5"/>
          <a:stretch>
            <a:fillRect/>
          </a:stretch>
        </p:blipFill>
        <p:spPr>
          <a:xfrm>
            <a:off x="7095744" y="1700784"/>
            <a:ext cx="438912" cy="438912"/>
          </a:xfrm>
          <a:prstGeom prst="rect">
            <a:avLst/>
          </a:prstGeom>
        </p:spPr>
      </p:pic>
      <p:sp>
        <p:nvSpPr>
          <p:cNvPr id="17" name="Text 11"/>
          <p:cNvSpPr txBox="1"/>
          <p:nvPr/>
        </p:nvSpPr>
        <p:spPr>
          <a:xfrm>
            <a:off x="62179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Explain it</a:t>
            </a:r>
            <a:endParaRPr lang="en-US" sz="2000" dirty="0"/>
          </a:p>
        </p:txBody>
      </p:sp>
      <p:sp>
        <p:nvSpPr>
          <p:cNvPr id="18" name="Text 12"/>
          <p:cNvSpPr txBox="1"/>
          <p:nvPr/>
        </p:nvSpPr>
        <p:spPr>
          <a:xfrm>
            <a:off x="6263640" y="3108960"/>
            <a:ext cx="2103120" cy="1097280"/>
          </a:xfrm>
          <a:prstGeom prst="rect">
            <a:avLst/>
          </a:prstGeom>
          <a:noFill/>
          <a:ln/>
        </p:spPr>
        <p:txBody>
          <a:bodyPr wrap="square" lIns="0" tIns="0" rIns="0" bIns="0" rtlCol="0" anchor="t"/>
          <a:lstStyle/>
          <a:p>
            <a:pPr marL="0" indent="0" algn="ctr">
              <a:buNone/>
            </a:pPr>
            <a:r>
              <a:rPr lang="en-US" sz="1600" dirty="0">
                <a:solidFill>
                  <a:schemeClr val="tx1"/>
                </a:solidFill>
              </a:rPr>
              <a:t>I can explain my idea using 'because' and the words from the text.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Recap: what do we remember?</a:t>
            </a:r>
            <a:endParaRPr lang="en-US" sz="3000" dirty="0"/>
          </a:p>
        </p:txBody>
      </p:sp>
      <p:sp>
        <p:nvSpPr>
          <p:cNvPr id="4" name="card"/>
          <p:cNvSpPr/>
          <p:nvPr/>
        </p:nvSpPr>
        <p:spPr>
          <a:xfrm>
            <a:off x="548640" y="1143000"/>
            <a:ext cx="8046720" cy="731520"/>
          </a:xfrm>
          <a:prstGeom prst="roundRect">
            <a:avLst>
              <a:gd name="adj" fmla="val 15000"/>
            </a:avLst>
          </a:prstGeom>
          <a:solidFill>
            <a:schemeClr val="bg2"/>
          </a:solidFill>
          <a:ln w="12700">
            <a:solidFill>
              <a:schemeClr val="bg2"/>
            </a:solidFill>
            <a:prstDash val="solid"/>
          </a:ln>
        </p:spPr>
      </p:sp>
      <p:sp>
        <p:nvSpPr>
          <p:cNvPr id="5" name="badge"/>
          <p:cNvSpPr/>
          <p:nvPr/>
        </p:nvSpPr>
        <p:spPr>
          <a:xfrm>
            <a:off x="685800" y="1234440"/>
            <a:ext cx="548640" cy="548640"/>
          </a:xfrm>
          <a:prstGeom prst="ellipse">
            <a:avLst/>
          </a:prstGeom>
          <a:solidFill>
            <a:schemeClr val="accent4"/>
          </a:solidFill>
          <a:ln w="12700">
            <a:solidFill>
              <a:schemeClr val="accent4"/>
            </a:solidFill>
            <a:prstDash val="solid"/>
          </a:ln>
        </p:spPr>
      </p:sp>
      <p:pic>
        <p:nvPicPr>
          <p:cNvPr id="6" name="icon" descr="question"/>
          <p:cNvPicPr>
            <a:picLocks noChangeAspect="1"/>
          </p:cNvPicPr>
          <p:nvPr/>
        </p:nvPicPr>
        <p:blipFill>
          <a:blip r:embed="rId3"/>
          <a:stretch>
            <a:fillRect/>
          </a:stretch>
        </p:blipFill>
        <p:spPr>
          <a:xfrm>
            <a:off x="828446" y="1377086"/>
            <a:ext cx="263347" cy="263347"/>
          </a:xfrm>
          <a:prstGeom prst="rect">
            <a:avLst/>
          </a:prstGeom>
        </p:spPr>
      </p:pic>
      <p:sp>
        <p:nvSpPr>
          <p:cNvPr id="7" name="Text 3"/>
          <p:cNvSpPr txBox="1"/>
          <p:nvPr/>
        </p:nvSpPr>
        <p:spPr>
          <a:xfrm>
            <a:off x="1463040" y="114300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Where is the story set?</a:t>
            </a:r>
            <a:endParaRPr lang="en-US" sz="1800" dirty="0"/>
          </a:p>
        </p:txBody>
      </p:sp>
      <p:sp>
        <p:nvSpPr>
          <p:cNvPr id="8" name="card"/>
          <p:cNvSpPr/>
          <p:nvPr/>
        </p:nvSpPr>
        <p:spPr>
          <a:xfrm>
            <a:off x="548640" y="2011680"/>
            <a:ext cx="8046720" cy="731520"/>
          </a:xfrm>
          <a:prstGeom prst="roundRect">
            <a:avLst>
              <a:gd name="adj" fmla="val 15000"/>
            </a:avLst>
          </a:prstGeom>
          <a:solidFill>
            <a:schemeClr val="bg2"/>
          </a:solidFill>
          <a:ln w="12700">
            <a:solidFill>
              <a:schemeClr val="bg2"/>
            </a:solidFill>
            <a:prstDash val="solid"/>
          </a:ln>
        </p:spPr>
      </p:sp>
      <p:sp>
        <p:nvSpPr>
          <p:cNvPr id="9" name="badge"/>
          <p:cNvSpPr/>
          <p:nvPr/>
        </p:nvSpPr>
        <p:spPr>
          <a:xfrm>
            <a:off x="685800" y="2103120"/>
            <a:ext cx="548640" cy="548640"/>
          </a:xfrm>
          <a:prstGeom prst="ellipse">
            <a:avLst/>
          </a:prstGeom>
          <a:solidFill>
            <a:schemeClr val="accent2"/>
          </a:solidFill>
          <a:ln w="12700">
            <a:solidFill>
              <a:schemeClr val="accent2"/>
            </a:solidFill>
            <a:prstDash val="solid"/>
          </a:ln>
        </p:spPr>
      </p:sp>
      <p:pic>
        <p:nvPicPr>
          <p:cNvPr id="10" name="icon" descr="question"/>
          <p:cNvPicPr>
            <a:picLocks noChangeAspect="1"/>
          </p:cNvPicPr>
          <p:nvPr/>
        </p:nvPicPr>
        <p:blipFill>
          <a:blip r:embed="rId3"/>
          <a:stretch>
            <a:fillRect/>
          </a:stretch>
        </p:blipFill>
        <p:spPr>
          <a:xfrm>
            <a:off x="828446" y="2245766"/>
            <a:ext cx="263347" cy="263347"/>
          </a:xfrm>
          <a:prstGeom prst="rect">
            <a:avLst/>
          </a:prstGeom>
        </p:spPr>
      </p:pic>
      <p:sp>
        <p:nvSpPr>
          <p:cNvPr id="11" name="Text 6"/>
          <p:cNvSpPr txBox="1"/>
          <p:nvPr/>
        </p:nvSpPr>
        <p:spPr>
          <a:xfrm>
            <a:off x="1463040" y="201168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Who is Kesh, and what does wary mean?</a:t>
            </a:r>
            <a:endParaRPr lang="en-US" sz="1800" dirty="0"/>
          </a:p>
        </p:txBody>
      </p:sp>
      <p:sp>
        <p:nvSpPr>
          <p:cNvPr id="12" name="card"/>
          <p:cNvSpPr/>
          <p:nvPr/>
        </p:nvSpPr>
        <p:spPr>
          <a:xfrm>
            <a:off x="548640" y="2880360"/>
            <a:ext cx="8046720" cy="731520"/>
          </a:xfrm>
          <a:prstGeom prst="roundRect">
            <a:avLst>
              <a:gd name="adj" fmla="val 15000"/>
            </a:avLst>
          </a:prstGeom>
          <a:solidFill>
            <a:schemeClr val="bg2"/>
          </a:solidFill>
          <a:ln w="12700">
            <a:solidFill>
              <a:schemeClr val="bg2"/>
            </a:solidFill>
            <a:prstDash val="solid"/>
          </a:ln>
        </p:spPr>
      </p:sp>
      <p:sp>
        <p:nvSpPr>
          <p:cNvPr id="13" name="badge"/>
          <p:cNvSpPr/>
          <p:nvPr/>
        </p:nvSpPr>
        <p:spPr>
          <a:xfrm>
            <a:off x="685800" y="2971800"/>
            <a:ext cx="548640" cy="548640"/>
          </a:xfrm>
          <a:prstGeom prst="ellipse">
            <a:avLst/>
          </a:prstGeom>
          <a:solidFill>
            <a:schemeClr val="accent3"/>
          </a:solidFill>
          <a:ln w="12700">
            <a:solidFill>
              <a:schemeClr val="accent3"/>
            </a:solidFill>
            <a:prstDash val="solid"/>
          </a:ln>
        </p:spPr>
      </p:sp>
      <p:pic>
        <p:nvPicPr>
          <p:cNvPr id="14" name="icon" descr="question"/>
          <p:cNvPicPr>
            <a:picLocks noChangeAspect="1"/>
          </p:cNvPicPr>
          <p:nvPr/>
        </p:nvPicPr>
        <p:blipFill>
          <a:blip r:embed="rId3"/>
          <a:stretch>
            <a:fillRect/>
          </a:stretch>
        </p:blipFill>
        <p:spPr>
          <a:xfrm>
            <a:off x="828446" y="3114446"/>
            <a:ext cx="263347" cy="263347"/>
          </a:xfrm>
          <a:prstGeom prst="rect">
            <a:avLst/>
          </a:prstGeom>
        </p:spPr>
      </p:pic>
      <p:sp>
        <p:nvSpPr>
          <p:cNvPr id="15" name="Text 9"/>
          <p:cNvSpPr txBox="1"/>
          <p:nvPr/>
        </p:nvSpPr>
        <p:spPr>
          <a:xfrm>
            <a:off x="1463040" y="288036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What did the travellers find, and what did they see beyond the ridge?</a:t>
            </a:r>
            <a:endParaRPr lang="en-US" sz="1800" dirty="0"/>
          </a:p>
        </p:txBody>
      </p:sp>
      <p:sp>
        <p:nvSpPr>
          <p:cNvPr id="16" name="card"/>
          <p:cNvSpPr/>
          <p:nvPr/>
        </p:nvSpPr>
        <p:spPr>
          <a:xfrm>
            <a:off x="548640" y="3749040"/>
            <a:ext cx="8046720" cy="731520"/>
          </a:xfrm>
          <a:prstGeom prst="roundRect">
            <a:avLst>
              <a:gd name="adj" fmla="val 15000"/>
            </a:avLst>
          </a:prstGeom>
          <a:solidFill>
            <a:schemeClr val="bg2"/>
          </a:solidFill>
          <a:ln w="12700">
            <a:solidFill>
              <a:schemeClr val="bg2"/>
            </a:solidFill>
            <a:prstDash val="solid"/>
          </a:ln>
        </p:spPr>
      </p:sp>
      <p:sp>
        <p:nvSpPr>
          <p:cNvPr id="17" name="badge"/>
          <p:cNvSpPr/>
          <p:nvPr/>
        </p:nvSpPr>
        <p:spPr>
          <a:xfrm>
            <a:off x="685800" y="3840480"/>
            <a:ext cx="548640" cy="548640"/>
          </a:xfrm>
          <a:prstGeom prst="ellipse">
            <a:avLst/>
          </a:prstGeom>
          <a:solidFill>
            <a:schemeClr val="accent5"/>
          </a:solidFill>
          <a:ln w="12700">
            <a:solidFill>
              <a:schemeClr val="accent5"/>
            </a:solidFill>
            <a:prstDash val="solid"/>
          </a:ln>
        </p:spPr>
      </p:sp>
      <p:pic>
        <p:nvPicPr>
          <p:cNvPr id="18" name="icon" descr="question"/>
          <p:cNvPicPr>
            <a:picLocks noChangeAspect="1"/>
          </p:cNvPicPr>
          <p:nvPr/>
        </p:nvPicPr>
        <p:blipFill>
          <a:blip r:embed="rId3"/>
          <a:stretch>
            <a:fillRect/>
          </a:stretch>
        </p:blipFill>
        <p:spPr>
          <a:xfrm>
            <a:off x="828446" y="3983126"/>
            <a:ext cx="263347" cy="263347"/>
          </a:xfrm>
          <a:prstGeom prst="rect">
            <a:avLst/>
          </a:prstGeom>
        </p:spPr>
      </p:pic>
      <p:sp>
        <p:nvSpPr>
          <p:cNvPr id="19" name="Text 12"/>
          <p:cNvSpPr txBox="1"/>
          <p:nvPr/>
        </p:nvSpPr>
        <p:spPr>
          <a:xfrm>
            <a:off x="1463040" y="374904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Which word tells us Tamsin was very thirsty?</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recap</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The Ashen Plain:</a:t>
            </a:r>
            <a:r>
              <a:rPr lang="en-US" sz="1500" dirty="0">
                <a:solidFill>
                  <a:schemeClr val="tx1"/>
                </a:solidFill>
              </a:rPr>
              <a:t> a dry land with cracked earth. A pale stone city, Aurelia, shimmers beyond the ridge.</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Kesh</a:t>
            </a:r>
            <a:r>
              <a:rPr lang="en-US" sz="1500" dirty="0">
                <a:solidFill>
                  <a:schemeClr val="tx1"/>
                </a:solidFill>
              </a:rPr>
              <a:t> is one of the travellers. </a:t>
            </a:r>
            <a:r>
              <a:rPr lang="en-US" sz="1500" b="1" dirty="0">
                <a:solidFill>
                  <a:schemeClr val="tx1"/>
                </a:solidFill>
              </a:rPr>
              <a:t>Wary</a:t>
            </a:r>
            <a:r>
              <a:rPr lang="en-US" sz="1500" dirty="0">
                <a:solidFill>
                  <a:schemeClr val="tx1"/>
                </a:solidFill>
              </a:rPr>
              <a:t> means careful and watching for danger.</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A seep</a:t>
            </a:r>
            <a:r>
              <a:rPr lang="en-US" sz="1500" dirty="0">
                <a:solidFill>
                  <a:schemeClr val="tx1"/>
                </a:solidFill>
              </a:rPr>
              <a:t> (water coming out of the ground). Beyond the ridge, they saw a </a:t>
            </a:r>
            <a:r>
              <a:rPr lang="en-US" sz="1500" b="1" dirty="0">
                <a:solidFill>
                  <a:schemeClr val="tx1"/>
                </a:solidFill>
              </a:rPr>
              <a:t>city</a:t>
            </a:r>
            <a:r>
              <a:rPr lang="en-US" sz="1500" dirty="0">
                <a:solidFill>
                  <a:schemeClr val="tx1"/>
                </a:solidFill>
              </a:rPr>
              <a:t>.</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Parched.</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Feelings ladder</a:t>
            </a:r>
            <a:endParaRPr lang="en-US" sz="3000" dirty="0"/>
          </a:p>
        </p:txBody>
      </p:sp>
      <p:sp>
        <p:nvSpPr>
          <p:cNvPr id="4" name="badge"/>
          <p:cNvSpPr/>
          <p:nvPr/>
        </p:nvSpPr>
        <p:spPr>
          <a:xfrm>
            <a:off x="640080" y="1097280"/>
            <a:ext cx="548640" cy="548640"/>
          </a:xfrm>
          <a:prstGeom prst="ellipse">
            <a:avLst/>
          </a:prstGeom>
          <a:solidFill>
            <a:schemeClr val="accent4"/>
          </a:solidFill>
          <a:ln w="12700">
            <a:solidFill>
              <a:schemeClr val="accent4"/>
            </a:solidFill>
            <a:prstDash val="solid"/>
          </a:ln>
        </p:spPr>
      </p:sp>
      <p:pic>
        <p:nvPicPr>
          <p:cNvPr id="5" name="icon" descr="frown"/>
          <p:cNvPicPr>
            <a:picLocks noChangeAspect="1"/>
          </p:cNvPicPr>
          <p:nvPr/>
        </p:nvPicPr>
        <p:blipFill>
          <a:blip r:embed="rId3"/>
          <a:stretch>
            <a:fillRect/>
          </a:stretch>
        </p:blipFill>
        <p:spPr>
          <a:xfrm>
            <a:off x="782726" y="1239926"/>
            <a:ext cx="263347" cy="263347"/>
          </a:xfrm>
          <a:prstGeom prst="rect">
            <a:avLst/>
          </a:prstGeom>
        </p:spPr>
      </p:pic>
      <p:sp>
        <p:nvSpPr>
          <p:cNvPr id="6" name="Text 2"/>
          <p:cNvSpPr txBox="1"/>
          <p:nvPr/>
        </p:nvSpPr>
        <p:spPr>
          <a:xfrm>
            <a:off x="1325880" y="1097280"/>
            <a:ext cx="1737360" cy="548640"/>
          </a:xfrm>
          <a:prstGeom prst="rect">
            <a:avLst/>
          </a:prstGeom>
          <a:noFill/>
          <a:ln/>
        </p:spPr>
        <p:txBody>
          <a:bodyPr wrap="square" lIns="0" tIns="0" rIns="0" bIns="0" rtlCol="0" anchor="ctr"/>
          <a:lstStyle/>
          <a:p>
            <a:pPr marL="0" indent="0">
              <a:buNone/>
            </a:pPr>
            <a:r>
              <a:rPr lang="en-US" sz="2000" b="1" dirty="0">
                <a:solidFill>
                  <a:schemeClr val="tx1"/>
                </a:solidFill>
              </a:rPr>
              <a:t>Scared</a:t>
            </a:r>
            <a:endParaRPr lang="en-US" sz="2000" dirty="0"/>
          </a:p>
        </p:txBody>
      </p:sp>
      <p:sp>
        <p:nvSpPr>
          <p:cNvPr id="7" name="rung"/>
          <p:cNvSpPr/>
          <p:nvPr/>
        </p:nvSpPr>
        <p:spPr>
          <a:xfrm>
            <a:off x="548640" y="1737360"/>
            <a:ext cx="2560320" cy="594360"/>
          </a:xfrm>
          <a:prstGeom prst="roundRect">
            <a:avLst>
              <a:gd name="adj" fmla="val 18462"/>
            </a:avLst>
          </a:prstGeom>
          <a:solidFill>
            <a:schemeClr val="accent4"/>
          </a:solidFill>
          <a:ln w="12700">
            <a:solidFill>
              <a:schemeClr val="bg1"/>
            </a:solidFill>
            <a:prstDash val="solid"/>
          </a:ln>
        </p:spPr>
      </p:sp>
      <p:sp>
        <p:nvSpPr>
          <p:cNvPr id="8" name="Text 4"/>
          <p:cNvSpPr txBox="1"/>
          <p:nvPr/>
        </p:nvSpPr>
        <p:spPr>
          <a:xfrm>
            <a:off x="548640" y="1737360"/>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terrified</a:t>
            </a:r>
            <a:endParaRPr lang="en-US" sz="1800" dirty="0"/>
          </a:p>
        </p:txBody>
      </p:sp>
      <p:sp>
        <p:nvSpPr>
          <p:cNvPr id="9" name="rung"/>
          <p:cNvSpPr/>
          <p:nvPr/>
        </p:nvSpPr>
        <p:spPr>
          <a:xfrm>
            <a:off x="548640" y="2395728"/>
            <a:ext cx="2560320" cy="594360"/>
          </a:xfrm>
          <a:prstGeom prst="roundRect">
            <a:avLst>
              <a:gd name="adj" fmla="val 18462"/>
            </a:avLst>
          </a:prstGeom>
          <a:solidFill>
            <a:schemeClr val="accent4"/>
          </a:solidFill>
          <a:ln w="12700">
            <a:solidFill>
              <a:schemeClr val="bg1"/>
            </a:solidFill>
            <a:prstDash val="solid"/>
          </a:ln>
        </p:spPr>
      </p:sp>
      <p:sp>
        <p:nvSpPr>
          <p:cNvPr id="10" name="Text 6"/>
          <p:cNvSpPr txBox="1"/>
          <p:nvPr/>
        </p:nvSpPr>
        <p:spPr>
          <a:xfrm>
            <a:off x="548640" y="2395728"/>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frightened</a:t>
            </a:r>
            <a:endParaRPr lang="en-US" sz="1800" dirty="0"/>
          </a:p>
        </p:txBody>
      </p:sp>
      <p:sp>
        <p:nvSpPr>
          <p:cNvPr id="11" name="rung"/>
          <p:cNvSpPr/>
          <p:nvPr/>
        </p:nvSpPr>
        <p:spPr>
          <a:xfrm>
            <a:off x="548640" y="3054096"/>
            <a:ext cx="2560320" cy="594360"/>
          </a:xfrm>
          <a:prstGeom prst="roundRect">
            <a:avLst>
              <a:gd name="adj" fmla="val 18462"/>
            </a:avLst>
          </a:prstGeom>
          <a:solidFill>
            <a:schemeClr val="accent4"/>
          </a:solidFill>
          <a:ln w="12700">
            <a:solidFill>
              <a:schemeClr val="bg1"/>
            </a:solidFill>
            <a:prstDash val="solid"/>
          </a:ln>
        </p:spPr>
      </p:sp>
      <p:sp>
        <p:nvSpPr>
          <p:cNvPr id="12" name="Text 8"/>
          <p:cNvSpPr txBox="1"/>
          <p:nvPr/>
        </p:nvSpPr>
        <p:spPr>
          <a:xfrm>
            <a:off x="548640" y="3054096"/>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nervous</a:t>
            </a:r>
            <a:endParaRPr lang="en-US" sz="1800" dirty="0"/>
          </a:p>
        </p:txBody>
      </p:sp>
      <p:sp>
        <p:nvSpPr>
          <p:cNvPr id="13" name="rung"/>
          <p:cNvSpPr/>
          <p:nvPr/>
        </p:nvSpPr>
        <p:spPr>
          <a:xfrm>
            <a:off x="548640" y="3712464"/>
            <a:ext cx="2560320" cy="594360"/>
          </a:xfrm>
          <a:prstGeom prst="roundRect">
            <a:avLst>
              <a:gd name="adj" fmla="val 18462"/>
            </a:avLst>
          </a:prstGeom>
          <a:solidFill>
            <a:schemeClr val="accent4"/>
          </a:solidFill>
          <a:ln w="12700">
            <a:solidFill>
              <a:schemeClr val="bg1"/>
            </a:solidFill>
            <a:prstDash val="solid"/>
          </a:ln>
        </p:spPr>
      </p:sp>
      <p:sp>
        <p:nvSpPr>
          <p:cNvPr id="14" name="Text 10"/>
          <p:cNvSpPr txBox="1"/>
          <p:nvPr/>
        </p:nvSpPr>
        <p:spPr>
          <a:xfrm>
            <a:off x="548640" y="3712464"/>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uneasy</a:t>
            </a:r>
            <a:endParaRPr lang="en-US" sz="1800" dirty="0"/>
          </a:p>
        </p:txBody>
      </p:sp>
      <p:sp>
        <p:nvSpPr>
          <p:cNvPr id="15" name="badge"/>
          <p:cNvSpPr/>
          <p:nvPr/>
        </p:nvSpPr>
        <p:spPr>
          <a:xfrm>
            <a:off x="3383280" y="1097280"/>
            <a:ext cx="548640" cy="548640"/>
          </a:xfrm>
          <a:prstGeom prst="ellipse">
            <a:avLst/>
          </a:prstGeom>
          <a:solidFill>
            <a:schemeClr val="accent3"/>
          </a:solidFill>
          <a:ln w="12700">
            <a:solidFill>
              <a:schemeClr val="accent3"/>
            </a:solidFill>
            <a:prstDash val="solid"/>
          </a:ln>
        </p:spPr>
      </p:sp>
      <p:pic>
        <p:nvPicPr>
          <p:cNvPr id="16" name="icon" descr="angry"/>
          <p:cNvPicPr>
            <a:picLocks noChangeAspect="1"/>
          </p:cNvPicPr>
          <p:nvPr/>
        </p:nvPicPr>
        <p:blipFill>
          <a:blip r:embed="rId4"/>
          <a:stretch>
            <a:fillRect/>
          </a:stretch>
        </p:blipFill>
        <p:spPr>
          <a:xfrm>
            <a:off x="3525926" y="1239926"/>
            <a:ext cx="263347" cy="263347"/>
          </a:xfrm>
          <a:prstGeom prst="rect">
            <a:avLst/>
          </a:prstGeom>
        </p:spPr>
      </p:pic>
      <p:sp>
        <p:nvSpPr>
          <p:cNvPr id="17" name="Text 12"/>
          <p:cNvSpPr txBox="1"/>
          <p:nvPr/>
        </p:nvSpPr>
        <p:spPr>
          <a:xfrm>
            <a:off x="4069080" y="1097280"/>
            <a:ext cx="1737360" cy="548640"/>
          </a:xfrm>
          <a:prstGeom prst="rect">
            <a:avLst/>
          </a:prstGeom>
          <a:noFill/>
          <a:ln/>
        </p:spPr>
        <p:txBody>
          <a:bodyPr wrap="square" lIns="0" tIns="0" rIns="0" bIns="0" rtlCol="0" anchor="ctr"/>
          <a:lstStyle/>
          <a:p>
            <a:pPr marL="0" indent="0">
              <a:buNone/>
            </a:pPr>
            <a:r>
              <a:rPr lang="en-US" sz="2000" b="1" dirty="0">
                <a:solidFill>
                  <a:schemeClr val="tx1"/>
                </a:solidFill>
              </a:rPr>
              <a:t>Angry</a:t>
            </a:r>
            <a:endParaRPr lang="en-US" sz="2000" dirty="0"/>
          </a:p>
        </p:txBody>
      </p:sp>
      <p:sp>
        <p:nvSpPr>
          <p:cNvPr id="18" name="rung"/>
          <p:cNvSpPr/>
          <p:nvPr/>
        </p:nvSpPr>
        <p:spPr>
          <a:xfrm>
            <a:off x="3291840" y="1737360"/>
            <a:ext cx="2560320" cy="594360"/>
          </a:xfrm>
          <a:prstGeom prst="roundRect">
            <a:avLst>
              <a:gd name="adj" fmla="val 18462"/>
            </a:avLst>
          </a:prstGeom>
          <a:solidFill>
            <a:schemeClr val="accent3"/>
          </a:solidFill>
          <a:ln w="12700">
            <a:solidFill>
              <a:schemeClr val="bg1"/>
            </a:solidFill>
            <a:prstDash val="solid"/>
          </a:ln>
        </p:spPr>
      </p:sp>
      <p:sp>
        <p:nvSpPr>
          <p:cNvPr id="19" name="Text 14"/>
          <p:cNvSpPr txBox="1"/>
          <p:nvPr/>
        </p:nvSpPr>
        <p:spPr>
          <a:xfrm>
            <a:off x="3291840" y="1737360"/>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enraged</a:t>
            </a:r>
            <a:endParaRPr lang="en-US" sz="1800" dirty="0"/>
          </a:p>
        </p:txBody>
      </p:sp>
      <p:sp>
        <p:nvSpPr>
          <p:cNvPr id="20" name="rung"/>
          <p:cNvSpPr/>
          <p:nvPr/>
        </p:nvSpPr>
        <p:spPr>
          <a:xfrm>
            <a:off x="3291840" y="2395728"/>
            <a:ext cx="2560320" cy="594360"/>
          </a:xfrm>
          <a:prstGeom prst="roundRect">
            <a:avLst>
              <a:gd name="adj" fmla="val 18462"/>
            </a:avLst>
          </a:prstGeom>
          <a:solidFill>
            <a:schemeClr val="accent3"/>
          </a:solidFill>
          <a:ln w="12700">
            <a:solidFill>
              <a:schemeClr val="bg1"/>
            </a:solidFill>
            <a:prstDash val="solid"/>
          </a:ln>
        </p:spPr>
      </p:sp>
      <p:sp>
        <p:nvSpPr>
          <p:cNvPr id="21" name="Text 16"/>
          <p:cNvSpPr txBox="1"/>
          <p:nvPr/>
        </p:nvSpPr>
        <p:spPr>
          <a:xfrm>
            <a:off x="3291840" y="2395728"/>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furious</a:t>
            </a:r>
            <a:endParaRPr lang="en-US" sz="1800" dirty="0"/>
          </a:p>
        </p:txBody>
      </p:sp>
      <p:sp>
        <p:nvSpPr>
          <p:cNvPr id="22" name="rung"/>
          <p:cNvSpPr/>
          <p:nvPr/>
        </p:nvSpPr>
        <p:spPr>
          <a:xfrm>
            <a:off x="3291840" y="3054096"/>
            <a:ext cx="2560320" cy="594360"/>
          </a:xfrm>
          <a:prstGeom prst="roundRect">
            <a:avLst>
              <a:gd name="adj" fmla="val 18462"/>
            </a:avLst>
          </a:prstGeom>
          <a:solidFill>
            <a:schemeClr val="accent3"/>
          </a:solidFill>
          <a:ln w="12700">
            <a:solidFill>
              <a:schemeClr val="bg1"/>
            </a:solidFill>
            <a:prstDash val="solid"/>
          </a:ln>
        </p:spPr>
      </p:sp>
      <p:sp>
        <p:nvSpPr>
          <p:cNvPr id="23" name="Text 18"/>
          <p:cNvSpPr txBox="1"/>
          <p:nvPr/>
        </p:nvSpPr>
        <p:spPr>
          <a:xfrm>
            <a:off x="3291840" y="3054096"/>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cross</a:t>
            </a:r>
            <a:endParaRPr lang="en-US" sz="1800" dirty="0"/>
          </a:p>
        </p:txBody>
      </p:sp>
      <p:sp>
        <p:nvSpPr>
          <p:cNvPr id="24" name="rung"/>
          <p:cNvSpPr/>
          <p:nvPr/>
        </p:nvSpPr>
        <p:spPr>
          <a:xfrm>
            <a:off x="3291840" y="3712464"/>
            <a:ext cx="2560320" cy="594360"/>
          </a:xfrm>
          <a:prstGeom prst="roundRect">
            <a:avLst>
              <a:gd name="adj" fmla="val 18462"/>
            </a:avLst>
          </a:prstGeom>
          <a:solidFill>
            <a:schemeClr val="accent3"/>
          </a:solidFill>
          <a:ln w="12700">
            <a:solidFill>
              <a:schemeClr val="bg1"/>
            </a:solidFill>
            <a:prstDash val="solid"/>
          </a:ln>
        </p:spPr>
      </p:sp>
      <p:sp>
        <p:nvSpPr>
          <p:cNvPr id="25" name="Text 20"/>
          <p:cNvSpPr txBox="1"/>
          <p:nvPr/>
        </p:nvSpPr>
        <p:spPr>
          <a:xfrm>
            <a:off x="3291840" y="3712464"/>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annoyed</a:t>
            </a:r>
            <a:endParaRPr lang="en-US" sz="1800" dirty="0"/>
          </a:p>
        </p:txBody>
      </p:sp>
      <p:sp>
        <p:nvSpPr>
          <p:cNvPr id="26" name="badge"/>
          <p:cNvSpPr/>
          <p:nvPr/>
        </p:nvSpPr>
        <p:spPr>
          <a:xfrm>
            <a:off x="6126480" y="1097280"/>
            <a:ext cx="548640" cy="548640"/>
          </a:xfrm>
          <a:prstGeom prst="ellipse">
            <a:avLst/>
          </a:prstGeom>
          <a:solidFill>
            <a:schemeClr val="accent2"/>
          </a:solidFill>
          <a:ln w="12700">
            <a:solidFill>
              <a:schemeClr val="accent2"/>
            </a:solidFill>
            <a:prstDash val="solid"/>
          </a:ln>
        </p:spPr>
      </p:sp>
      <p:pic>
        <p:nvPicPr>
          <p:cNvPr id="27" name="icon" descr="smile"/>
          <p:cNvPicPr>
            <a:picLocks noChangeAspect="1"/>
          </p:cNvPicPr>
          <p:nvPr/>
        </p:nvPicPr>
        <p:blipFill>
          <a:blip r:embed="rId5"/>
          <a:stretch>
            <a:fillRect/>
          </a:stretch>
        </p:blipFill>
        <p:spPr>
          <a:xfrm>
            <a:off x="6269126" y="1239926"/>
            <a:ext cx="263347" cy="263347"/>
          </a:xfrm>
          <a:prstGeom prst="rect">
            <a:avLst/>
          </a:prstGeom>
        </p:spPr>
      </p:pic>
      <p:sp>
        <p:nvSpPr>
          <p:cNvPr id="28" name="Text 22"/>
          <p:cNvSpPr txBox="1"/>
          <p:nvPr/>
        </p:nvSpPr>
        <p:spPr>
          <a:xfrm>
            <a:off x="6812280" y="1097280"/>
            <a:ext cx="1737360" cy="548640"/>
          </a:xfrm>
          <a:prstGeom prst="rect">
            <a:avLst/>
          </a:prstGeom>
          <a:noFill/>
          <a:ln/>
        </p:spPr>
        <p:txBody>
          <a:bodyPr wrap="square" lIns="0" tIns="0" rIns="0" bIns="0" rtlCol="0" anchor="ctr"/>
          <a:lstStyle/>
          <a:p>
            <a:pPr marL="0" indent="0">
              <a:buNone/>
            </a:pPr>
            <a:r>
              <a:rPr lang="en-US" sz="2000" b="1" dirty="0">
                <a:solidFill>
                  <a:schemeClr val="tx1"/>
                </a:solidFill>
              </a:rPr>
              <a:t>Happy</a:t>
            </a:r>
            <a:endParaRPr lang="en-US" sz="2000" dirty="0"/>
          </a:p>
        </p:txBody>
      </p:sp>
      <p:sp>
        <p:nvSpPr>
          <p:cNvPr id="29" name="rung"/>
          <p:cNvSpPr/>
          <p:nvPr/>
        </p:nvSpPr>
        <p:spPr>
          <a:xfrm>
            <a:off x="6035040" y="1737360"/>
            <a:ext cx="2560320" cy="594360"/>
          </a:xfrm>
          <a:prstGeom prst="roundRect">
            <a:avLst>
              <a:gd name="adj" fmla="val 18462"/>
            </a:avLst>
          </a:prstGeom>
          <a:solidFill>
            <a:schemeClr val="accent2"/>
          </a:solidFill>
          <a:ln w="12700">
            <a:solidFill>
              <a:schemeClr val="bg1"/>
            </a:solidFill>
            <a:prstDash val="solid"/>
          </a:ln>
        </p:spPr>
      </p:sp>
      <p:sp>
        <p:nvSpPr>
          <p:cNvPr id="30" name="Text 24"/>
          <p:cNvSpPr txBox="1"/>
          <p:nvPr/>
        </p:nvSpPr>
        <p:spPr>
          <a:xfrm>
            <a:off x="6035040" y="1737360"/>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thrilled</a:t>
            </a:r>
            <a:endParaRPr lang="en-US" sz="1800" dirty="0"/>
          </a:p>
        </p:txBody>
      </p:sp>
      <p:sp>
        <p:nvSpPr>
          <p:cNvPr id="31" name="rung"/>
          <p:cNvSpPr/>
          <p:nvPr/>
        </p:nvSpPr>
        <p:spPr>
          <a:xfrm>
            <a:off x="6035040" y="2395728"/>
            <a:ext cx="2560320" cy="594360"/>
          </a:xfrm>
          <a:prstGeom prst="roundRect">
            <a:avLst>
              <a:gd name="adj" fmla="val 18462"/>
            </a:avLst>
          </a:prstGeom>
          <a:solidFill>
            <a:schemeClr val="accent2"/>
          </a:solidFill>
          <a:ln w="12700">
            <a:solidFill>
              <a:schemeClr val="bg1"/>
            </a:solidFill>
            <a:prstDash val="solid"/>
          </a:ln>
        </p:spPr>
      </p:sp>
      <p:sp>
        <p:nvSpPr>
          <p:cNvPr id="32" name="Text 26"/>
          <p:cNvSpPr txBox="1"/>
          <p:nvPr/>
        </p:nvSpPr>
        <p:spPr>
          <a:xfrm>
            <a:off x="6035040" y="2395728"/>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delighted</a:t>
            </a:r>
            <a:endParaRPr lang="en-US" sz="1800" dirty="0"/>
          </a:p>
        </p:txBody>
      </p:sp>
      <p:sp>
        <p:nvSpPr>
          <p:cNvPr id="33" name="rung"/>
          <p:cNvSpPr/>
          <p:nvPr/>
        </p:nvSpPr>
        <p:spPr>
          <a:xfrm>
            <a:off x="6035040" y="3054096"/>
            <a:ext cx="2560320" cy="594360"/>
          </a:xfrm>
          <a:prstGeom prst="roundRect">
            <a:avLst>
              <a:gd name="adj" fmla="val 18462"/>
            </a:avLst>
          </a:prstGeom>
          <a:solidFill>
            <a:schemeClr val="accent2"/>
          </a:solidFill>
          <a:ln w="12700">
            <a:solidFill>
              <a:schemeClr val="bg1"/>
            </a:solidFill>
            <a:prstDash val="solid"/>
          </a:ln>
        </p:spPr>
      </p:sp>
      <p:sp>
        <p:nvSpPr>
          <p:cNvPr id="34" name="Text 28"/>
          <p:cNvSpPr txBox="1"/>
          <p:nvPr/>
        </p:nvSpPr>
        <p:spPr>
          <a:xfrm>
            <a:off x="6035040" y="3054096"/>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glad</a:t>
            </a:r>
            <a:endParaRPr lang="en-US" sz="1800" dirty="0"/>
          </a:p>
        </p:txBody>
      </p:sp>
      <p:sp>
        <p:nvSpPr>
          <p:cNvPr id="35" name="rung"/>
          <p:cNvSpPr/>
          <p:nvPr/>
        </p:nvSpPr>
        <p:spPr>
          <a:xfrm>
            <a:off x="6035040" y="3712464"/>
            <a:ext cx="2560320" cy="594360"/>
          </a:xfrm>
          <a:prstGeom prst="roundRect">
            <a:avLst>
              <a:gd name="adj" fmla="val 18462"/>
            </a:avLst>
          </a:prstGeom>
          <a:solidFill>
            <a:schemeClr val="accent2"/>
          </a:solidFill>
          <a:ln w="12700">
            <a:solidFill>
              <a:schemeClr val="bg1"/>
            </a:solidFill>
            <a:prstDash val="solid"/>
          </a:ln>
        </p:spPr>
      </p:sp>
      <p:sp>
        <p:nvSpPr>
          <p:cNvPr id="36" name="Text 30"/>
          <p:cNvSpPr txBox="1"/>
          <p:nvPr/>
        </p:nvSpPr>
        <p:spPr>
          <a:xfrm>
            <a:off x="6035040" y="3712464"/>
            <a:ext cx="2560320" cy="594360"/>
          </a:xfrm>
          <a:prstGeom prst="rect">
            <a:avLst/>
          </a:prstGeom>
          <a:noFill/>
          <a:ln/>
        </p:spPr>
        <p:txBody>
          <a:bodyPr wrap="square" lIns="0" tIns="0" rIns="0" bIns="0" rtlCol="0" anchor="ctr"/>
          <a:lstStyle/>
          <a:p>
            <a:pPr marL="0" indent="0" algn="ctr">
              <a:buNone/>
            </a:pPr>
            <a:r>
              <a:rPr lang="en-US" sz="1800" b="1" dirty="0">
                <a:solidFill>
                  <a:schemeClr val="bg1"/>
                </a:solidFill>
              </a:rPr>
              <a:t>pleased</a:t>
            </a:r>
            <a:endParaRPr lang="en-US" sz="1800" dirty="0"/>
          </a:p>
        </p:txBody>
      </p:sp>
      <p:sp>
        <p:nvSpPr>
          <p:cNvPr id="37" name="Text 31"/>
          <p:cNvSpPr txBox="1"/>
          <p:nvPr/>
        </p:nvSpPr>
        <p:spPr>
          <a:xfrm>
            <a:off x="548640" y="4434840"/>
            <a:ext cx="6400800" cy="274320"/>
          </a:xfrm>
          <a:prstGeom prst="rect">
            <a:avLst/>
          </a:prstGeom>
          <a:noFill/>
          <a:ln/>
        </p:spPr>
        <p:txBody>
          <a:bodyPr wrap="square" lIns="0" tIns="0" rIns="0" bIns="0" rtlCol="0" anchor="t"/>
          <a:lstStyle/>
          <a:p>
            <a:pPr marL="0" indent="0">
              <a:buNone/>
            </a:pPr>
            <a:r>
              <a:rPr lang="en-US" sz="1200" i="1" dirty="0">
                <a:solidFill>
                  <a:srgbClr val="4A4668"/>
                </a:solidFill>
              </a:rPr>
              <a:t>The strongest feeling is at the top of each ladder.</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writer shows, not tells</a:t>
            </a:r>
            <a:endParaRPr lang="en-US" sz="3000" dirty="0"/>
          </a:p>
        </p:txBody>
      </p:sp>
      <p:sp>
        <p:nvSpPr>
          <p:cNvPr id="4" name="card"/>
          <p:cNvSpPr/>
          <p:nvPr/>
        </p:nvSpPr>
        <p:spPr>
          <a:xfrm>
            <a:off x="548640" y="1188720"/>
            <a:ext cx="4480560" cy="914400"/>
          </a:xfrm>
          <a:prstGeom prst="roundRect">
            <a:avLst>
              <a:gd name="adj" fmla="val 12000"/>
            </a:avLst>
          </a:prstGeom>
          <a:solidFill>
            <a:schemeClr val="bg2"/>
          </a:solidFill>
          <a:ln w="12700">
            <a:solidFill>
              <a:schemeClr val="bg2"/>
            </a:solidFill>
            <a:prstDash val="solid"/>
          </a:ln>
        </p:spPr>
      </p:sp>
      <p:sp>
        <p:nvSpPr>
          <p:cNvPr id="5" name="Text 2"/>
          <p:cNvSpPr txBox="1"/>
          <p:nvPr/>
        </p:nvSpPr>
        <p:spPr>
          <a:xfrm>
            <a:off x="777240" y="1188720"/>
            <a:ext cx="4114800" cy="914400"/>
          </a:xfrm>
          <a:prstGeom prst="rect">
            <a:avLst/>
          </a:prstGeom>
          <a:noFill/>
          <a:ln/>
        </p:spPr>
        <p:txBody>
          <a:bodyPr wrap="square" lIns="0" tIns="0" rIns="0" bIns="0" rtlCol="0" anchor="ctr"/>
          <a:lstStyle/>
          <a:p>
            <a:pPr marL="0" indent="0">
              <a:buNone/>
            </a:pPr>
            <a:r>
              <a:rPr lang="en-US" sz="1700" i="1" dirty="0">
                <a:solidFill>
                  <a:schemeClr val="tx1"/>
                </a:solidFill>
              </a:rPr>
              <a:t>His hands were shaking.</a:t>
            </a:r>
            <a:endParaRPr lang="en-US" sz="1700" dirty="0"/>
          </a:p>
        </p:txBody>
      </p:sp>
      <p:sp>
        <p:nvSpPr>
          <p:cNvPr id="6" name="arrow"/>
          <p:cNvSpPr/>
          <p:nvPr/>
        </p:nvSpPr>
        <p:spPr>
          <a:xfrm>
            <a:off x="5166360" y="1463040"/>
            <a:ext cx="457200" cy="365760"/>
          </a:xfrm>
          <a:prstGeom prst="rightArrow">
            <a:avLst/>
          </a:prstGeom>
          <a:solidFill>
            <a:schemeClr val="accent1"/>
          </a:solidFill>
          <a:ln w="12700">
            <a:solidFill>
              <a:schemeClr val="accent1"/>
            </a:solidFill>
            <a:prstDash val="solid"/>
          </a:ln>
        </p:spPr>
      </p:sp>
      <p:sp>
        <p:nvSpPr>
          <p:cNvPr id="7" name="card"/>
          <p:cNvSpPr/>
          <p:nvPr/>
        </p:nvSpPr>
        <p:spPr>
          <a:xfrm>
            <a:off x="5760720" y="1188720"/>
            <a:ext cx="2834640" cy="914400"/>
          </a:xfrm>
          <a:prstGeom prst="roundRect">
            <a:avLst>
              <a:gd name="adj" fmla="val 12000"/>
            </a:avLst>
          </a:prstGeom>
          <a:solidFill>
            <a:schemeClr val="tx1"/>
          </a:solidFill>
          <a:ln w="12700">
            <a:solidFill>
              <a:schemeClr val="tx1"/>
            </a:solidFill>
            <a:prstDash val="solid"/>
          </a:ln>
        </p:spPr>
      </p:sp>
      <p:sp>
        <p:nvSpPr>
          <p:cNvPr id="8" name="Text 5"/>
          <p:cNvSpPr txBox="1"/>
          <p:nvPr/>
        </p:nvSpPr>
        <p:spPr>
          <a:xfrm>
            <a:off x="5943600" y="1188720"/>
            <a:ext cx="2468880" cy="914400"/>
          </a:xfrm>
          <a:prstGeom prst="rect">
            <a:avLst/>
          </a:prstGeom>
          <a:noFill/>
          <a:ln/>
        </p:spPr>
        <p:txBody>
          <a:bodyPr wrap="square" lIns="0" tIns="0" rIns="0" bIns="0" rtlCol="0" anchor="ctr"/>
          <a:lstStyle/>
          <a:p>
            <a:pPr marL="0" indent="0">
              <a:buNone/>
            </a:pPr>
            <a:r>
              <a:rPr lang="en-US" sz="1500" b="1" dirty="0">
                <a:solidFill>
                  <a:schemeClr val="bg1"/>
                </a:solidFill>
              </a:rPr>
              <a:t>He feels nervous or afraid.</a:t>
            </a:r>
            <a:endParaRPr lang="en-US" sz="1500" dirty="0"/>
          </a:p>
        </p:txBody>
      </p:sp>
      <p:sp>
        <p:nvSpPr>
          <p:cNvPr id="9" name="card"/>
          <p:cNvSpPr/>
          <p:nvPr/>
        </p:nvSpPr>
        <p:spPr>
          <a:xfrm>
            <a:off x="548640" y="2286000"/>
            <a:ext cx="4480560" cy="914400"/>
          </a:xfrm>
          <a:prstGeom prst="roundRect">
            <a:avLst>
              <a:gd name="adj" fmla="val 12000"/>
            </a:avLst>
          </a:prstGeom>
          <a:solidFill>
            <a:schemeClr val="bg2"/>
          </a:solidFill>
          <a:ln w="12700">
            <a:solidFill>
              <a:schemeClr val="bg2"/>
            </a:solidFill>
            <a:prstDash val="solid"/>
          </a:ln>
        </p:spPr>
      </p:sp>
      <p:sp>
        <p:nvSpPr>
          <p:cNvPr id="10" name="Text 7"/>
          <p:cNvSpPr txBox="1"/>
          <p:nvPr/>
        </p:nvSpPr>
        <p:spPr>
          <a:xfrm>
            <a:off x="777240" y="2286000"/>
            <a:ext cx="4114800" cy="914400"/>
          </a:xfrm>
          <a:prstGeom prst="rect">
            <a:avLst/>
          </a:prstGeom>
          <a:noFill/>
          <a:ln/>
        </p:spPr>
        <p:txBody>
          <a:bodyPr wrap="square" lIns="0" tIns="0" rIns="0" bIns="0" rtlCol="0" anchor="ctr"/>
          <a:lstStyle/>
          <a:p>
            <a:pPr marL="0" indent="0">
              <a:buNone/>
            </a:pPr>
            <a:r>
              <a:rPr lang="en-US" sz="1700" i="1" dirty="0">
                <a:solidFill>
                  <a:schemeClr val="tx1"/>
                </a:solidFill>
              </a:rPr>
              <a:t>She stamped her foot and slammed the door.</a:t>
            </a:r>
            <a:endParaRPr lang="en-US" sz="1700" dirty="0"/>
          </a:p>
        </p:txBody>
      </p:sp>
      <p:sp>
        <p:nvSpPr>
          <p:cNvPr id="11" name="arrow"/>
          <p:cNvSpPr/>
          <p:nvPr/>
        </p:nvSpPr>
        <p:spPr>
          <a:xfrm>
            <a:off x="5166360" y="2560320"/>
            <a:ext cx="457200" cy="365760"/>
          </a:xfrm>
          <a:prstGeom prst="rightArrow">
            <a:avLst/>
          </a:prstGeom>
          <a:solidFill>
            <a:schemeClr val="accent1"/>
          </a:solidFill>
          <a:ln w="12700">
            <a:solidFill>
              <a:schemeClr val="accent1"/>
            </a:solidFill>
            <a:prstDash val="solid"/>
          </a:ln>
        </p:spPr>
      </p:sp>
      <p:sp>
        <p:nvSpPr>
          <p:cNvPr id="12" name="card"/>
          <p:cNvSpPr/>
          <p:nvPr/>
        </p:nvSpPr>
        <p:spPr>
          <a:xfrm>
            <a:off x="5760720" y="2286000"/>
            <a:ext cx="2834640" cy="914400"/>
          </a:xfrm>
          <a:prstGeom prst="roundRect">
            <a:avLst>
              <a:gd name="adj" fmla="val 12000"/>
            </a:avLst>
          </a:prstGeom>
          <a:solidFill>
            <a:schemeClr val="tx1"/>
          </a:solidFill>
          <a:ln w="12700">
            <a:solidFill>
              <a:schemeClr val="tx1"/>
            </a:solidFill>
            <a:prstDash val="solid"/>
          </a:ln>
        </p:spPr>
      </p:sp>
      <p:sp>
        <p:nvSpPr>
          <p:cNvPr id="13" name="Text 10"/>
          <p:cNvSpPr txBox="1"/>
          <p:nvPr/>
        </p:nvSpPr>
        <p:spPr>
          <a:xfrm>
            <a:off x="5943600" y="2286000"/>
            <a:ext cx="2468880" cy="914400"/>
          </a:xfrm>
          <a:prstGeom prst="rect">
            <a:avLst/>
          </a:prstGeom>
          <a:noFill/>
          <a:ln/>
        </p:spPr>
        <p:txBody>
          <a:bodyPr wrap="square" lIns="0" tIns="0" rIns="0" bIns="0" rtlCol="0" anchor="ctr"/>
          <a:lstStyle/>
          <a:p>
            <a:pPr marL="0" indent="0">
              <a:buNone/>
            </a:pPr>
            <a:r>
              <a:rPr lang="en-US" sz="1500" b="1" dirty="0">
                <a:solidFill>
                  <a:schemeClr val="bg1"/>
                </a:solidFill>
              </a:rPr>
              <a:t>She feels angry.</a:t>
            </a:r>
            <a:endParaRPr lang="en-US" sz="1500" dirty="0"/>
          </a:p>
        </p:txBody>
      </p:sp>
      <p:sp>
        <p:nvSpPr>
          <p:cNvPr id="14" name="card"/>
          <p:cNvSpPr/>
          <p:nvPr/>
        </p:nvSpPr>
        <p:spPr>
          <a:xfrm>
            <a:off x="548640" y="3383280"/>
            <a:ext cx="4480560" cy="914400"/>
          </a:xfrm>
          <a:prstGeom prst="roundRect">
            <a:avLst>
              <a:gd name="adj" fmla="val 12000"/>
            </a:avLst>
          </a:prstGeom>
          <a:solidFill>
            <a:schemeClr val="bg2"/>
          </a:solidFill>
          <a:ln w="12700">
            <a:solidFill>
              <a:schemeClr val="bg2"/>
            </a:solidFill>
            <a:prstDash val="solid"/>
          </a:ln>
        </p:spPr>
      </p:sp>
      <p:sp>
        <p:nvSpPr>
          <p:cNvPr id="15" name="Text 12"/>
          <p:cNvSpPr txBox="1"/>
          <p:nvPr/>
        </p:nvSpPr>
        <p:spPr>
          <a:xfrm>
            <a:off x="777240" y="3383280"/>
            <a:ext cx="4114800" cy="914400"/>
          </a:xfrm>
          <a:prstGeom prst="rect">
            <a:avLst/>
          </a:prstGeom>
          <a:noFill/>
          <a:ln/>
        </p:spPr>
        <p:txBody>
          <a:bodyPr wrap="square" lIns="0" tIns="0" rIns="0" bIns="0" rtlCol="0" anchor="ctr"/>
          <a:lstStyle/>
          <a:p>
            <a:pPr marL="0" indent="0">
              <a:buNone/>
            </a:pPr>
            <a:r>
              <a:rPr lang="en-US" sz="1700" i="1" dirty="0">
                <a:solidFill>
                  <a:schemeClr val="tx1"/>
                </a:solidFill>
              </a:rPr>
              <a:t>He grinned and ran across the sand.</a:t>
            </a:r>
            <a:endParaRPr lang="en-US" sz="1700" dirty="0"/>
          </a:p>
        </p:txBody>
      </p:sp>
      <p:sp>
        <p:nvSpPr>
          <p:cNvPr id="16" name="arrow"/>
          <p:cNvSpPr/>
          <p:nvPr/>
        </p:nvSpPr>
        <p:spPr>
          <a:xfrm>
            <a:off x="5166360" y="3657600"/>
            <a:ext cx="457200" cy="365760"/>
          </a:xfrm>
          <a:prstGeom prst="rightArrow">
            <a:avLst/>
          </a:prstGeom>
          <a:solidFill>
            <a:schemeClr val="accent1"/>
          </a:solidFill>
          <a:ln w="12700">
            <a:solidFill>
              <a:schemeClr val="accent1"/>
            </a:solidFill>
            <a:prstDash val="solid"/>
          </a:ln>
        </p:spPr>
      </p:sp>
      <p:sp>
        <p:nvSpPr>
          <p:cNvPr id="17" name="card"/>
          <p:cNvSpPr/>
          <p:nvPr/>
        </p:nvSpPr>
        <p:spPr>
          <a:xfrm>
            <a:off x="5760720" y="3383280"/>
            <a:ext cx="2834640" cy="914400"/>
          </a:xfrm>
          <a:prstGeom prst="roundRect">
            <a:avLst>
              <a:gd name="adj" fmla="val 12000"/>
            </a:avLst>
          </a:prstGeom>
          <a:solidFill>
            <a:schemeClr val="tx1"/>
          </a:solidFill>
          <a:ln w="12700">
            <a:solidFill>
              <a:schemeClr val="tx1"/>
            </a:solidFill>
            <a:prstDash val="solid"/>
          </a:ln>
        </p:spPr>
      </p:sp>
      <p:sp>
        <p:nvSpPr>
          <p:cNvPr id="18" name="Text 15"/>
          <p:cNvSpPr txBox="1"/>
          <p:nvPr/>
        </p:nvSpPr>
        <p:spPr>
          <a:xfrm>
            <a:off x="5943600" y="3383280"/>
            <a:ext cx="2468880" cy="914400"/>
          </a:xfrm>
          <a:prstGeom prst="rect">
            <a:avLst/>
          </a:prstGeom>
          <a:noFill/>
          <a:ln/>
        </p:spPr>
        <p:txBody>
          <a:bodyPr wrap="square" lIns="0" tIns="0" rIns="0" bIns="0" rtlCol="0" anchor="ctr"/>
          <a:lstStyle/>
          <a:p>
            <a:pPr marL="0" indent="0">
              <a:buNone/>
            </a:pPr>
            <a:r>
              <a:rPr lang="en-US" sz="1500" b="1" dirty="0">
                <a:solidFill>
                  <a:schemeClr val="bg1"/>
                </a:solidFill>
              </a:rPr>
              <a:t>He feels happy and excited.</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Feeling, proof, because</a:t>
            </a:r>
            <a:endParaRPr lang="en-US" sz="3000" dirty="0"/>
          </a:p>
        </p:txBody>
      </p:sp>
      <p:sp>
        <p:nvSpPr>
          <p:cNvPr id="4" name="card"/>
          <p:cNvSpPr/>
          <p:nvPr/>
        </p:nvSpPr>
        <p:spPr>
          <a:xfrm>
            <a:off x="548640" y="1188720"/>
            <a:ext cx="2560320" cy="3246120"/>
          </a:xfrm>
          <a:prstGeom prst="roundRect">
            <a:avLst>
              <a:gd name="adj" fmla="val 4286"/>
            </a:avLst>
          </a:prstGeom>
          <a:solidFill>
            <a:schemeClr val="bg2"/>
          </a:solidFill>
          <a:ln w="12700">
            <a:solidFill>
              <a:schemeClr val="bg2"/>
            </a:solidFill>
            <a:prstDash val="solid"/>
          </a:ln>
        </p:spPr>
      </p:sp>
      <p:sp>
        <p:nvSpPr>
          <p:cNvPr id="5" name="step number"/>
          <p:cNvSpPr/>
          <p:nvPr/>
        </p:nvSpPr>
        <p:spPr>
          <a:xfrm>
            <a:off x="1463040" y="1371600"/>
            <a:ext cx="731520" cy="731520"/>
          </a:xfrm>
          <a:prstGeom prst="ellipse">
            <a:avLst/>
          </a:prstGeom>
          <a:solidFill>
            <a:schemeClr val="accent4"/>
          </a:solidFill>
          <a:ln w="12700">
            <a:solidFill>
              <a:schemeClr val="bg1"/>
            </a:solidFill>
            <a:prstDash val="solid"/>
          </a:ln>
        </p:spPr>
      </p:sp>
      <p:sp>
        <p:nvSpPr>
          <p:cNvPr id="6" name="Text 3"/>
          <p:cNvSpPr txBox="1"/>
          <p:nvPr/>
        </p:nvSpPr>
        <p:spPr>
          <a:xfrm>
            <a:off x="1463040" y="137160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1</a:t>
            </a:r>
            <a:endParaRPr lang="en-US" sz="2800" dirty="0"/>
          </a:p>
        </p:txBody>
      </p:sp>
      <p:sp>
        <p:nvSpPr>
          <p:cNvPr id="7" name="Text 4"/>
          <p:cNvSpPr txBox="1"/>
          <p:nvPr/>
        </p:nvSpPr>
        <p:spPr>
          <a:xfrm>
            <a:off x="685800" y="2240280"/>
            <a:ext cx="2286000" cy="411480"/>
          </a:xfrm>
          <a:prstGeom prst="rect">
            <a:avLst/>
          </a:prstGeom>
          <a:noFill/>
          <a:ln/>
        </p:spPr>
        <p:txBody>
          <a:bodyPr wrap="square" lIns="0" tIns="0" rIns="0" bIns="0" rtlCol="0" anchor="t"/>
          <a:lstStyle/>
          <a:p>
            <a:pPr marL="0" indent="0" algn="ctr">
              <a:buNone/>
            </a:pPr>
            <a:r>
              <a:rPr lang="en-US" sz="2000" b="1" dirty="0">
                <a:solidFill>
                  <a:schemeClr val="tx1"/>
                </a:solidFill>
              </a:rPr>
              <a:t>Feeling</a:t>
            </a:r>
            <a:endParaRPr lang="en-US" sz="2000" dirty="0"/>
          </a:p>
        </p:txBody>
      </p:sp>
      <p:sp>
        <p:nvSpPr>
          <p:cNvPr id="8" name="Text 5"/>
          <p:cNvSpPr txBox="1"/>
          <p:nvPr/>
        </p:nvSpPr>
        <p:spPr>
          <a:xfrm>
            <a:off x="731520" y="2697480"/>
            <a:ext cx="2194560" cy="548640"/>
          </a:xfrm>
          <a:prstGeom prst="rect">
            <a:avLst/>
          </a:prstGeom>
          <a:noFill/>
          <a:ln/>
        </p:spPr>
        <p:txBody>
          <a:bodyPr wrap="square" lIns="0" tIns="0" rIns="0" bIns="0" rtlCol="0" anchor="t"/>
          <a:lstStyle/>
          <a:p>
            <a:pPr marL="0" indent="0" algn="ctr">
              <a:buNone/>
            </a:pPr>
            <a:r>
              <a:rPr lang="en-US" sz="1400" dirty="0">
                <a:solidFill>
                  <a:schemeClr val="tx1"/>
                </a:solidFill>
              </a:rPr>
              <a:t>Say how the character feels.</a:t>
            </a:r>
            <a:endParaRPr lang="en-US" sz="1400" dirty="0"/>
          </a:p>
        </p:txBody>
      </p:sp>
      <p:sp>
        <p:nvSpPr>
          <p:cNvPr id="9" name="Text 6"/>
          <p:cNvSpPr txBox="1"/>
          <p:nvPr/>
        </p:nvSpPr>
        <p:spPr>
          <a:xfrm>
            <a:off x="731520" y="3337560"/>
            <a:ext cx="2194560" cy="1005840"/>
          </a:xfrm>
          <a:prstGeom prst="rect">
            <a:avLst/>
          </a:prstGeom>
          <a:noFill/>
          <a:ln/>
        </p:spPr>
        <p:txBody>
          <a:bodyPr wrap="square" lIns="0" tIns="0" rIns="0" bIns="0" rtlCol="0" anchor="t"/>
          <a:lstStyle/>
          <a:p>
            <a:pPr marL="0" indent="0" algn="ctr">
              <a:buNone/>
            </a:pPr>
            <a:r>
              <a:rPr lang="en-US" sz="1400" i="1" dirty="0">
                <a:solidFill>
                  <a:schemeClr val="accent4"/>
                </a:solidFill>
              </a:rPr>
              <a:t>Orrin feels torn.</a:t>
            </a:r>
            <a:endParaRPr lang="en-US" sz="1400" dirty="0"/>
          </a:p>
        </p:txBody>
      </p:sp>
      <p:sp>
        <p:nvSpPr>
          <p:cNvPr id="10" name="card"/>
          <p:cNvSpPr/>
          <p:nvPr/>
        </p:nvSpPr>
        <p:spPr>
          <a:xfrm>
            <a:off x="3291840" y="1188720"/>
            <a:ext cx="2560320" cy="3246120"/>
          </a:xfrm>
          <a:prstGeom prst="roundRect">
            <a:avLst>
              <a:gd name="adj" fmla="val 4286"/>
            </a:avLst>
          </a:prstGeom>
          <a:solidFill>
            <a:schemeClr val="bg2"/>
          </a:solidFill>
          <a:ln w="12700">
            <a:solidFill>
              <a:schemeClr val="bg2"/>
            </a:solidFill>
            <a:prstDash val="solid"/>
          </a:ln>
        </p:spPr>
      </p:sp>
      <p:sp>
        <p:nvSpPr>
          <p:cNvPr id="11" name="step number"/>
          <p:cNvSpPr/>
          <p:nvPr/>
        </p:nvSpPr>
        <p:spPr>
          <a:xfrm>
            <a:off x="4206240" y="1371600"/>
            <a:ext cx="731520" cy="731520"/>
          </a:xfrm>
          <a:prstGeom prst="ellipse">
            <a:avLst/>
          </a:prstGeom>
          <a:solidFill>
            <a:schemeClr val="accent2"/>
          </a:solidFill>
          <a:ln w="12700">
            <a:solidFill>
              <a:schemeClr val="bg1"/>
            </a:solidFill>
            <a:prstDash val="solid"/>
          </a:ln>
        </p:spPr>
      </p:sp>
      <p:sp>
        <p:nvSpPr>
          <p:cNvPr id="12" name="Text 9"/>
          <p:cNvSpPr txBox="1"/>
          <p:nvPr/>
        </p:nvSpPr>
        <p:spPr>
          <a:xfrm>
            <a:off x="4206240" y="137160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3" name="Text 10"/>
          <p:cNvSpPr txBox="1"/>
          <p:nvPr/>
        </p:nvSpPr>
        <p:spPr>
          <a:xfrm>
            <a:off x="3429000" y="2240280"/>
            <a:ext cx="2286000" cy="411480"/>
          </a:xfrm>
          <a:prstGeom prst="rect">
            <a:avLst/>
          </a:prstGeom>
          <a:noFill/>
          <a:ln/>
        </p:spPr>
        <p:txBody>
          <a:bodyPr wrap="square" lIns="0" tIns="0" rIns="0" bIns="0" rtlCol="0" anchor="t"/>
          <a:lstStyle/>
          <a:p>
            <a:pPr marL="0" indent="0" algn="ctr">
              <a:buNone/>
            </a:pPr>
            <a:r>
              <a:rPr lang="en-US" sz="2000" b="1" dirty="0">
                <a:solidFill>
                  <a:schemeClr val="tx1"/>
                </a:solidFill>
              </a:rPr>
              <a:t>Proof</a:t>
            </a:r>
            <a:endParaRPr lang="en-US" sz="2000" dirty="0"/>
          </a:p>
        </p:txBody>
      </p:sp>
      <p:sp>
        <p:nvSpPr>
          <p:cNvPr id="14" name="Text 11"/>
          <p:cNvSpPr txBox="1"/>
          <p:nvPr/>
        </p:nvSpPr>
        <p:spPr>
          <a:xfrm>
            <a:off x="3474720" y="2697480"/>
            <a:ext cx="2194560" cy="548640"/>
          </a:xfrm>
          <a:prstGeom prst="rect">
            <a:avLst/>
          </a:prstGeom>
          <a:noFill/>
          <a:ln/>
        </p:spPr>
        <p:txBody>
          <a:bodyPr wrap="square" lIns="0" tIns="0" rIns="0" bIns="0" rtlCol="0" anchor="t"/>
          <a:lstStyle/>
          <a:p>
            <a:pPr marL="0" indent="0" algn="ctr">
              <a:buNone/>
            </a:pPr>
            <a:r>
              <a:rPr lang="en-US" sz="1400" dirty="0">
                <a:solidFill>
                  <a:schemeClr val="tx1"/>
                </a:solidFill>
              </a:rPr>
              <a:t>Copy the exact words from the text.</a:t>
            </a:r>
            <a:endParaRPr lang="en-US" sz="1400" dirty="0"/>
          </a:p>
        </p:txBody>
      </p:sp>
      <p:sp>
        <p:nvSpPr>
          <p:cNvPr id="15" name="Text 12"/>
          <p:cNvSpPr txBox="1"/>
          <p:nvPr/>
        </p:nvSpPr>
        <p:spPr>
          <a:xfrm>
            <a:off x="3474720" y="3337560"/>
            <a:ext cx="2194560" cy="1005840"/>
          </a:xfrm>
          <a:prstGeom prst="rect">
            <a:avLst/>
          </a:prstGeom>
          <a:noFill/>
          <a:ln/>
        </p:spPr>
        <p:txBody>
          <a:bodyPr wrap="square" lIns="0" tIns="0" rIns="0" bIns="0" rtlCol="0" anchor="t"/>
          <a:lstStyle/>
          <a:p>
            <a:pPr marL="0" indent="0" algn="ctr">
              <a:buNone/>
            </a:pPr>
            <a:r>
              <a:rPr lang="en-US" sz="1400" i="1" dirty="0">
                <a:solidFill>
                  <a:schemeClr val="accent2"/>
                </a:solidFill>
              </a:rPr>
              <a:t>The text says his 'hand shook on the hazel stick'.</a:t>
            </a:r>
            <a:endParaRPr lang="en-US" sz="1400" dirty="0"/>
          </a:p>
        </p:txBody>
      </p:sp>
      <p:sp>
        <p:nvSpPr>
          <p:cNvPr id="16" name="card"/>
          <p:cNvSpPr/>
          <p:nvPr/>
        </p:nvSpPr>
        <p:spPr>
          <a:xfrm>
            <a:off x="6035040" y="1188720"/>
            <a:ext cx="2560320" cy="3246120"/>
          </a:xfrm>
          <a:prstGeom prst="roundRect">
            <a:avLst>
              <a:gd name="adj" fmla="val 4286"/>
            </a:avLst>
          </a:prstGeom>
          <a:solidFill>
            <a:schemeClr val="bg2"/>
          </a:solidFill>
          <a:ln w="12700">
            <a:solidFill>
              <a:schemeClr val="bg2"/>
            </a:solidFill>
            <a:prstDash val="solid"/>
          </a:ln>
        </p:spPr>
      </p:sp>
      <p:sp>
        <p:nvSpPr>
          <p:cNvPr id="17" name="step number"/>
          <p:cNvSpPr/>
          <p:nvPr/>
        </p:nvSpPr>
        <p:spPr>
          <a:xfrm>
            <a:off x="6949440" y="1371600"/>
            <a:ext cx="731520" cy="731520"/>
          </a:xfrm>
          <a:prstGeom prst="ellipse">
            <a:avLst/>
          </a:prstGeom>
          <a:solidFill>
            <a:schemeClr val="accent3"/>
          </a:solidFill>
          <a:ln w="12700">
            <a:solidFill>
              <a:schemeClr val="bg1"/>
            </a:solidFill>
            <a:prstDash val="solid"/>
          </a:ln>
        </p:spPr>
      </p:sp>
      <p:sp>
        <p:nvSpPr>
          <p:cNvPr id="18" name="Text 15"/>
          <p:cNvSpPr txBox="1"/>
          <p:nvPr/>
        </p:nvSpPr>
        <p:spPr>
          <a:xfrm>
            <a:off x="6949440" y="137160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9" name="Text 16"/>
          <p:cNvSpPr txBox="1"/>
          <p:nvPr/>
        </p:nvSpPr>
        <p:spPr>
          <a:xfrm>
            <a:off x="6172200" y="2240280"/>
            <a:ext cx="2286000" cy="411480"/>
          </a:xfrm>
          <a:prstGeom prst="rect">
            <a:avLst/>
          </a:prstGeom>
          <a:noFill/>
          <a:ln/>
        </p:spPr>
        <p:txBody>
          <a:bodyPr wrap="square" lIns="0" tIns="0" rIns="0" bIns="0" rtlCol="0" anchor="t"/>
          <a:lstStyle/>
          <a:p>
            <a:pPr marL="0" indent="0" algn="ctr">
              <a:buNone/>
            </a:pPr>
            <a:r>
              <a:rPr lang="en-US" sz="2000" b="1" dirty="0">
                <a:solidFill>
                  <a:schemeClr val="tx1"/>
                </a:solidFill>
              </a:rPr>
              <a:t>Because</a:t>
            </a:r>
            <a:endParaRPr lang="en-US" sz="2000" dirty="0"/>
          </a:p>
        </p:txBody>
      </p:sp>
      <p:sp>
        <p:nvSpPr>
          <p:cNvPr id="20" name="Text 17"/>
          <p:cNvSpPr txBox="1"/>
          <p:nvPr/>
        </p:nvSpPr>
        <p:spPr>
          <a:xfrm>
            <a:off x="6217920" y="2697480"/>
            <a:ext cx="2194560" cy="548640"/>
          </a:xfrm>
          <a:prstGeom prst="rect">
            <a:avLst/>
          </a:prstGeom>
          <a:noFill/>
          <a:ln/>
        </p:spPr>
        <p:txBody>
          <a:bodyPr wrap="square" lIns="0" tIns="0" rIns="0" bIns="0" rtlCol="0" anchor="t"/>
          <a:lstStyle/>
          <a:p>
            <a:pPr marL="0" indent="0" algn="ctr">
              <a:buNone/>
            </a:pPr>
            <a:r>
              <a:rPr lang="en-US" sz="1400" dirty="0">
                <a:solidFill>
                  <a:schemeClr val="tx1"/>
                </a:solidFill>
              </a:rPr>
              <a:t>Explain what the words tell us.</a:t>
            </a:r>
            <a:endParaRPr lang="en-US" sz="1400" dirty="0"/>
          </a:p>
        </p:txBody>
      </p:sp>
      <p:sp>
        <p:nvSpPr>
          <p:cNvPr id="21" name="Text 18"/>
          <p:cNvSpPr txBox="1"/>
          <p:nvPr/>
        </p:nvSpPr>
        <p:spPr>
          <a:xfrm>
            <a:off x="6217920" y="3337560"/>
            <a:ext cx="2194560" cy="1005840"/>
          </a:xfrm>
          <a:prstGeom prst="rect">
            <a:avLst/>
          </a:prstGeom>
          <a:noFill/>
          <a:ln/>
        </p:spPr>
        <p:txBody>
          <a:bodyPr wrap="square" lIns="0" tIns="0" rIns="0" bIns="0" rtlCol="0" anchor="t"/>
          <a:lstStyle/>
          <a:p>
            <a:pPr marL="0" indent="0" algn="ctr">
              <a:buNone/>
            </a:pPr>
            <a:r>
              <a:rPr lang="en-US" sz="1400" i="1" dirty="0">
                <a:solidFill>
                  <a:schemeClr val="accent3"/>
                </a:solidFill>
              </a:rPr>
              <a:t>This shows he is amazed and afraid at the same time.</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lIns="0" tIns="0" rIns="0" bIns="0" rtlCol="0" anchor="ctr"/>
          <a:lstStyle/>
          <a:p>
            <a:pPr marL="0" indent="0" algn="l">
              <a:buNone/>
            </a:pPr>
            <a:r>
              <a:rPr lang="en-US" sz="4000" b="1" dirty="0">
                <a:solidFill>
                  <a:schemeClr val="bg1"/>
                </a:solidFill>
              </a:rPr>
              <a:t>Part 4: the gates of Aurelia</a:t>
            </a: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lIns="0" tIns="0" rIns="0" bIns="0" rtlCol="0" anchor="t"/>
          <a:lstStyle/>
          <a:p>
            <a:pPr marL="0" indent="0">
              <a:buNone/>
            </a:pPr>
            <a:r>
              <a:rPr lang="en-US" sz="1800" dirty="0">
                <a:solidFill>
                  <a:schemeClr val="accent1"/>
                </a:solidFill>
              </a:rPr>
              <a:t>Read like a detective: how does each character feel?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City That Waited: part 4 (a)</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777240" y="1234440"/>
            <a:ext cx="7589520" cy="3200400"/>
          </a:xfrm>
          <a:prstGeom prst="rect">
            <a:avLst/>
          </a:prstGeom>
          <a:noFill/>
          <a:ln/>
        </p:spPr>
        <p:txBody>
          <a:bodyPr wrap="square" lIns="0" tIns="0" rIns="0" bIns="0" rtlCol="0" anchor="ctr"/>
          <a:lstStyle/>
          <a:p>
            <a:pPr marL="0" indent="0">
              <a:spcAft>
                <a:spcPts val="800"/>
              </a:spcAft>
              <a:buNone/>
            </a:pPr>
            <a:r>
              <a:rPr lang="en-US" sz="1700" dirty="0">
                <a:solidFill>
                  <a:schemeClr val="tx1"/>
                </a:solidFill>
              </a:rPr>
              <a:t>Orrin stood very still at the open gates. His hand shook on the hazel stick, and for a long moment he said nothing. Then he whispered, "Water, shelter, and a city built by our </a:t>
            </a:r>
            <a:r>
              <a:rPr lang="en-US" sz="1700" b="1" dirty="0">
                <a:solidFill>
                  <a:schemeClr val="tx1"/>
                </a:solidFill>
                <a:highlight>
                  <a:srgbClr val="FFD27F"/>
                </a:highlight>
              </a:rPr>
              <a:t>ancestors</a:t>
            </a:r>
            <a:r>
              <a:rPr lang="en-US" sz="1700" dirty="0">
                <a:solidFill>
                  <a:schemeClr val="tx1"/>
                </a:solidFill>
              </a:rPr>
              <a:t>. After eleven days, how can I turn away?"</a:t>
            </a:r>
            <a:endParaRPr lang="en-US" sz="1600" dirty="0"/>
          </a:p>
          <a:p>
            <a:pPr marL="0" indent="0">
              <a:spcAft>
                <a:spcPts val="800"/>
              </a:spcAft>
              <a:buNone/>
            </a:pPr>
            <a:r>
              <a:rPr lang="en-US" sz="1700" dirty="0">
                <a:solidFill>
                  <a:schemeClr val="tx1"/>
                </a:solidFill>
              </a:rPr>
              <a:t>Kesh stepped in front of him, his jaw tight. "Turn away? Of course you can!" he snapped. "Look at the dustwyrm. It is </a:t>
            </a:r>
            <a:r>
              <a:rPr lang="en-US" sz="1700" b="1" dirty="0">
                <a:solidFill>
                  <a:schemeClr val="tx1"/>
                </a:solidFill>
                <a:highlight>
                  <a:srgbClr val="FFD27F"/>
                </a:highlight>
              </a:rPr>
              <a:t>trembling</a:t>
            </a:r>
            <a:r>
              <a:rPr lang="en-US" sz="1700" dirty="0">
                <a:solidFill>
                  <a:schemeClr val="tx1"/>
                </a:solidFill>
              </a:rPr>
              <a:t> from head to tail. Animals know when a place is wrong."</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City That Waited: part 4 (b)</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777240" y="1234440"/>
            <a:ext cx="7589520" cy="3200400"/>
          </a:xfrm>
          <a:prstGeom prst="rect">
            <a:avLst/>
          </a:prstGeom>
          <a:noFill/>
          <a:ln/>
        </p:spPr>
        <p:txBody>
          <a:bodyPr wrap="square" lIns="0" tIns="0" rIns="0" bIns="0" rtlCol="0" anchor="ctr"/>
          <a:lstStyle/>
          <a:p>
            <a:pPr marL="0" indent="0">
              <a:spcAft>
                <a:spcPts val="800"/>
              </a:spcAft>
              <a:buNone/>
            </a:pPr>
            <a:r>
              <a:rPr lang="en-US" sz="1700" dirty="0">
                <a:solidFill>
                  <a:schemeClr val="tx1"/>
                </a:solidFill>
              </a:rPr>
              <a:t>Tamsin looked from one to the other. Her heart was pounding, yet she could not stop smiling at the sparkling fountain. She wanted to run inside and, at the same moment, to run all the way back to the plain.</a:t>
            </a:r>
            <a:endParaRPr lang="en-US" sz="1600" dirty="0"/>
          </a:p>
          <a:p>
            <a:pPr marL="0" indent="0">
              <a:spcAft>
                <a:spcPts val="800"/>
              </a:spcAft>
              <a:buNone/>
            </a:pPr>
            <a:r>
              <a:rPr lang="en-US" sz="1700" dirty="0">
                <a:solidFill>
                  <a:schemeClr val="tx1"/>
                </a:solidFill>
              </a:rPr>
              <a:t>"We could send one person to look," she said at last, her voice small. "Just one. Just for a little while."</a:t>
            </a:r>
            <a:endParaRPr lang="en-US" sz="1600" dirty="0"/>
          </a:p>
          <a:p>
            <a:pPr marL="0" indent="0">
              <a:spcAft>
                <a:spcPts val="800"/>
              </a:spcAft>
              <a:buNone/>
            </a:pPr>
            <a:r>
              <a:rPr lang="en-US" sz="1700" dirty="0">
                <a:solidFill>
                  <a:schemeClr val="tx1"/>
                </a:solidFill>
              </a:rPr>
              <a:t>Orrin lowered his stick. Kesh stared at the ground and said nothing at all.</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Stop and think</a:t>
            </a:r>
            <a:endParaRPr lang="en-US" sz="3000" dirty="0"/>
          </a:p>
        </p:txBody>
      </p:sp>
      <p:sp>
        <p:nvSpPr>
          <p:cNvPr id="4" name="card"/>
          <p:cNvSpPr/>
          <p:nvPr/>
        </p:nvSpPr>
        <p:spPr>
          <a:xfrm>
            <a:off x="548640" y="1143000"/>
            <a:ext cx="8046720" cy="731520"/>
          </a:xfrm>
          <a:prstGeom prst="roundRect">
            <a:avLst>
              <a:gd name="adj" fmla="val 15000"/>
            </a:avLst>
          </a:prstGeom>
          <a:solidFill>
            <a:schemeClr val="bg2"/>
          </a:solidFill>
          <a:ln w="12700">
            <a:solidFill>
              <a:schemeClr val="bg2"/>
            </a:solidFill>
            <a:prstDash val="solid"/>
          </a:ln>
        </p:spPr>
      </p:sp>
      <p:sp>
        <p:nvSpPr>
          <p:cNvPr id="5" name="badge"/>
          <p:cNvSpPr/>
          <p:nvPr/>
        </p:nvSpPr>
        <p:spPr>
          <a:xfrm>
            <a:off x="685800" y="1234440"/>
            <a:ext cx="548640" cy="548640"/>
          </a:xfrm>
          <a:prstGeom prst="ellipse">
            <a:avLst/>
          </a:prstGeom>
          <a:solidFill>
            <a:schemeClr val="accent4"/>
          </a:solidFill>
          <a:ln w="12700">
            <a:solidFill>
              <a:schemeClr val="accent4"/>
            </a:solidFill>
            <a:prstDash val="solid"/>
          </a:ln>
        </p:spPr>
      </p:sp>
      <p:pic>
        <p:nvPicPr>
          <p:cNvPr id="6" name="icon" descr="question"/>
          <p:cNvPicPr>
            <a:picLocks noChangeAspect="1"/>
          </p:cNvPicPr>
          <p:nvPr/>
        </p:nvPicPr>
        <p:blipFill>
          <a:blip r:embed="rId3"/>
          <a:stretch>
            <a:fillRect/>
          </a:stretch>
        </p:blipFill>
        <p:spPr>
          <a:xfrm>
            <a:off x="828446" y="1377086"/>
            <a:ext cx="263347" cy="263347"/>
          </a:xfrm>
          <a:prstGeom prst="rect">
            <a:avLst/>
          </a:prstGeom>
        </p:spPr>
      </p:pic>
      <p:sp>
        <p:nvSpPr>
          <p:cNvPr id="7" name="Text 3"/>
          <p:cNvSpPr txBox="1"/>
          <p:nvPr/>
        </p:nvSpPr>
        <p:spPr>
          <a:xfrm>
            <a:off x="1463040" y="1143000"/>
            <a:ext cx="6949440" cy="731520"/>
          </a:xfrm>
          <a:prstGeom prst="rect">
            <a:avLst/>
          </a:prstGeom>
          <a:noFill/>
          <a:ln/>
        </p:spPr>
        <p:txBody>
          <a:bodyPr wrap="square" lIns="0" tIns="0" rIns="0" bIns="0" rtlCol="0" anchor="ctr"/>
          <a:lstStyle/>
          <a:p>
            <a:pPr marL="0" indent="0">
              <a:buNone/>
            </a:pPr>
            <a:r>
              <a:rPr lang="en-US" sz="1800" dirty="0">
                <a:solidFill>
                  <a:schemeClr val="tx1"/>
                </a:solidFill>
              </a:rPr>
              <a:t>How does Orrin feel at the gates? Which words show it?</a:t>
            </a:r>
            <a:endParaRPr lang="en-US" sz="1800" dirty="0"/>
          </a:p>
        </p:txBody>
      </p:sp>
      <p:sp>
        <p:nvSpPr>
          <p:cNvPr id="8" name="card"/>
          <p:cNvSpPr/>
          <p:nvPr/>
        </p:nvSpPr>
        <p:spPr>
          <a:xfrm>
            <a:off x="548640" y="2011680"/>
            <a:ext cx="8046720" cy="731520"/>
          </a:xfrm>
          <a:prstGeom prst="roundRect">
            <a:avLst>
              <a:gd name="adj" fmla="val 15000"/>
            </a:avLst>
          </a:prstGeom>
          <a:solidFill>
            <a:schemeClr val="bg2"/>
          </a:solidFill>
          <a:ln w="12700">
            <a:solidFill>
              <a:schemeClr val="bg2"/>
            </a:solidFill>
            <a:prstDash val="solid"/>
          </a:ln>
        </p:spPr>
      </p:sp>
      <p:sp>
        <p:nvSpPr>
          <p:cNvPr id="9" name="badge"/>
          <p:cNvSpPr/>
          <p:nvPr/>
        </p:nvSpPr>
        <p:spPr>
          <a:xfrm>
            <a:off x="685800" y="2103120"/>
            <a:ext cx="548640" cy="548640"/>
          </a:xfrm>
          <a:prstGeom prst="ellipse">
            <a:avLst/>
          </a:prstGeom>
          <a:solidFill>
            <a:schemeClr val="accent2"/>
          </a:solidFill>
          <a:ln w="12700">
            <a:solidFill>
              <a:schemeClr val="accent2"/>
            </a:solidFill>
            <a:prstDash val="solid"/>
          </a:ln>
        </p:spPr>
      </p:sp>
      <p:pic>
        <p:nvPicPr>
          <p:cNvPr id="10" name="icon" descr="question"/>
          <p:cNvPicPr>
            <a:picLocks noChangeAspect="1"/>
          </p:cNvPicPr>
          <p:nvPr/>
        </p:nvPicPr>
        <p:blipFill>
          <a:blip r:embed="rId3"/>
          <a:stretch>
            <a:fillRect/>
          </a:stretch>
        </p:blipFill>
        <p:spPr>
          <a:xfrm>
            <a:off x="828446" y="2245766"/>
            <a:ext cx="263347" cy="263347"/>
          </a:xfrm>
          <a:prstGeom prst="rect">
            <a:avLst/>
          </a:prstGeom>
        </p:spPr>
      </p:pic>
      <p:sp>
        <p:nvSpPr>
          <p:cNvPr id="11" name="Text 6"/>
          <p:cNvSpPr txBox="1"/>
          <p:nvPr/>
        </p:nvSpPr>
        <p:spPr>
          <a:xfrm>
            <a:off x="1463040" y="2011680"/>
            <a:ext cx="6949440" cy="731520"/>
          </a:xfrm>
          <a:prstGeom prst="rect">
            <a:avLst/>
          </a:prstGeom>
          <a:noFill/>
          <a:ln/>
        </p:spPr>
        <p:txBody>
          <a:bodyPr wrap="square" lIns="0" tIns="0" rIns="0" bIns="0" rtlCol="0" anchor="ctr"/>
          <a:lstStyle/>
          <a:p>
            <a:pPr marL="0" indent="0">
              <a:buNone/>
            </a:pPr>
            <a:r>
              <a:rPr lang="en-US" sz="1800" dirty="0">
                <a:solidFill>
                  <a:schemeClr val="tx1"/>
                </a:solidFill>
              </a:rPr>
              <a:t>Is Kesh happy with the idea of entering? How do you know?</a:t>
            </a:r>
            <a:endParaRPr lang="en-US" sz="1800" dirty="0"/>
          </a:p>
        </p:txBody>
      </p:sp>
      <p:sp>
        <p:nvSpPr>
          <p:cNvPr id="12" name="card"/>
          <p:cNvSpPr/>
          <p:nvPr/>
        </p:nvSpPr>
        <p:spPr>
          <a:xfrm>
            <a:off x="548640" y="2880360"/>
            <a:ext cx="8046720" cy="731520"/>
          </a:xfrm>
          <a:prstGeom prst="roundRect">
            <a:avLst>
              <a:gd name="adj" fmla="val 15000"/>
            </a:avLst>
          </a:prstGeom>
          <a:solidFill>
            <a:schemeClr val="bg2"/>
          </a:solidFill>
          <a:ln w="12700">
            <a:solidFill>
              <a:schemeClr val="bg2"/>
            </a:solidFill>
            <a:prstDash val="solid"/>
          </a:ln>
        </p:spPr>
      </p:sp>
      <p:sp>
        <p:nvSpPr>
          <p:cNvPr id="13" name="badge"/>
          <p:cNvSpPr/>
          <p:nvPr/>
        </p:nvSpPr>
        <p:spPr>
          <a:xfrm>
            <a:off x="685800" y="2971800"/>
            <a:ext cx="548640" cy="548640"/>
          </a:xfrm>
          <a:prstGeom prst="ellipse">
            <a:avLst/>
          </a:prstGeom>
          <a:solidFill>
            <a:schemeClr val="accent3"/>
          </a:solidFill>
          <a:ln w="12700">
            <a:solidFill>
              <a:schemeClr val="accent3"/>
            </a:solidFill>
            <a:prstDash val="solid"/>
          </a:ln>
        </p:spPr>
      </p:sp>
      <p:pic>
        <p:nvPicPr>
          <p:cNvPr id="14" name="icon" descr="question"/>
          <p:cNvPicPr>
            <a:picLocks noChangeAspect="1"/>
          </p:cNvPicPr>
          <p:nvPr/>
        </p:nvPicPr>
        <p:blipFill>
          <a:blip r:embed="rId3"/>
          <a:stretch>
            <a:fillRect/>
          </a:stretch>
        </p:blipFill>
        <p:spPr>
          <a:xfrm>
            <a:off x="828446" y="3114446"/>
            <a:ext cx="263347" cy="263347"/>
          </a:xfrm>
          <a:prstGeom prst="rect">
            <a:avLst/>
          </a:prstGeom>
        </p:spPr>
      </p:pic>
      <p:sp>
        <p:nvSpPr>
          <p:cNvPr id="15" name="Text 9"/>
          <p:cNvSpPr txBox="1"/>
          <p:nvPr/>
        </p:nvSpPr>
        <p:spPr>
          <a:xfrm>
            <a:off x="1463040" y="288036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Why is the dustwyrm trembling important to the story?</a:t>
            </a:r>
            <a:endParaRPr lang="en-US" sz="1800" dirty="0"/>
          </a:p>
        </p:txBody>
      </p:sp>
      <p:sp>
        <p:nvSpPr>
          <p:cNvPr id="16" name="card"/>
          <p:cNvSpPr/>
          <p:nvPr/>
        </p:nvSpPr>
        <p:spPr>
          <a:xfrm>
            <a:off x="548640" y="3749040"/>
            <a:ext cx="8046720" cy="731520"/>
          </a:xfrm>
          <a:prstGeom prst="roundRect">
            <a:avLst>
              <a:gd name="adj" fmla="val 15000"/>
            </a:avLst>
          </a:prstGeom>
          <a:solidFill>
            <a:schemeClr val="bg2"/>
          </a:solidFill>
          <a:ln w="12700">
            <a:solidFill>
              <a:schemeClr val="bg2"/>
            </a:solidFill>
            <a:prstDash val="solid"/>
          </a:ln>
        </p:spPr>
      </p:sp>
      <p:sp>
        <p:nvSpPr>
          <p:cNvPr id="17" name="badge"/>
          <p:cNvSpPr/>
          <p:nvPr/>
        </p:nvSpPr>
        <p:spPr>
          <a:xfrm>
            <a:off x="685800" y="3840480"/>
            <a:ext cx="548640" cy="548640"/>
          </a:xfrm>
          <a:prstGeom prst="ellipse">
            <a:avLst/>
          </a:prstGeom>
          <a:solidFill>
            <a:schemeClr val="accent5"/>
          </a:solidFill>
          <a:ln w="12700">
            <a:solidFill>
              <a:schemeClr val="accent5"/>
            </a:solidFill>
            <a:prstDash val="solid"/>
          </a:ln>
        </p:spPr>
      </p:sp>
      <p:pic>
        <p:nvPicPr>
          <p:cNvPr id="18" name="icon" descr="question"/>
          <p:cNvPicPr>
            <a:picLocks noChangeAspect="1"/>
          </p:cNvPicPr>
          <p:nvPr/>
        </p:nvPicPr>
        <p:blipFill>
          <a:blip r:embed="rId3"/>
          <a:stretch>
            <a:fillRect/>
          </a:stretch>
        </p:blipFill>
        <p:spPr>
          <a:xfrm>
            <a:off x="828446" y="3983126"/>
            <a:ext cx="263347" cy="263347"/>
          </a:xfrm>
          <a:prstGeom prst="rect">
            <a:avLst/>
          </a:prstGeom>
        </p:spPr>
      </p:pic>
      <p:sp>
        <p:nvSpPr>
          <p:cNvPr id="19" name="Text 12"/>
          <p:cNvSpPr txBox="1"/>
          <p:nvPr/>
        </p:nvSpPr>
        <p:spPr>
          <a:xfrm>
            <a:off x="1463040" y="374904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Why does Tamsin feel two different things at once?</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stop and think</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Torn: amazed and sad.</a:t>
            </a:r>
            <a:r>
              <a:rPr lang="en-US" sz="1400" dirty="0">
                <a:solidFill>
                  <a:schemeClr val="tx1"/>
                </a:solidFill>
              </a:rPr>
              <a:t> 'His hand shook on the hazel stick' and he 'whispered', 'how can I turn away?'</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No, he is angry and afraid.</a:t>
            </a:r>
            <a:r>
              <a:rPr lang="en-US" sz="1400" dirty="0">
                <a:solidFill>
                  <a:schemeClr val="tx1"/>
                </a:solidFill>
              </a:rPr>
              <a:t> 'His jaw tight', he 'snapped', and he stared at the ground.</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It is a clue that the city is dangerous.</a:t>
            </a:r>
            <a:r>
              <a:rPr lang="en-US" sz="1400" dirty="0">
                <a:solidFill>
                  <a:schemeClr val="tx1"/>
                </a:solidFill>
              </a:rPr>
              <a:t> Animals sense danger, and 'trembling from head to tail' shows it is afraid.</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She is excited and nervous.</a:t>
            </a:r>
            <a:r>
              <a:rPr lang="en-US" sz="1400" dirty="0">
                <a:solidFill>
                  <a:schemeClr val="tx1"/>
                </a:solidFill>
              </a:rPr>
              <a:t> 'Her heart was pounding' and she 'could not stop smiling' but wanted to 'run all the way back'.</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Choose the best answer: question 1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Which word shows how Kesh spoke to Orrin?</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whispered</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snapped</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sang</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laughed</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1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snapped</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Kesh 'snapped'. Orrin 'whispered'. Nobody sang or laughed in this part of the story. 'Snapped' is a short, sharp way of speaking, so it shows Kesh is angry.</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Choose the best answer: question 2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Why is the dustwyrm trembling?</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it is cold</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it is hungry</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it is tired</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it is afraid</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2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D</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it is afraid</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The text does not say 'afraid'. We work it out: 'trembling from head to tail' and Kesh says 'animals know when a place is wrong'. The dustwyrm senses danger.</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Choose the best answer: question 3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'Her heart was pounding.' What does this show about Tamsin?</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she is bored</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she is tired</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she is excited and nervous</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she is angry</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3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C</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she is excited and nervous</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A pounding heart shows strong feeling. She is also smiling at the fountain (excited), but wants to run back to the plain (nervous). Bored or tired would not make a heart pound.</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Choose the best answer: question 4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How does Orrin feel when he sees the open gates?</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amazed and torn</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bored</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furious</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cheerful</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4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A</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amazed and torn</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'His hand shook' and he 'whispered' show strong feeling. He wants water and shelter, but he also hesitates ('how can I turn away?'). Furious and cheerful do not match his words.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Your mission</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Time: 20 minutes</a:t>
            </a:r>
            <a:endParaRPr lang="en-US" sz="1400" dirty="0"/>
          </a:p>
        </p:txBody>
      </p:sp>
      <p:sp>
        <p:nvSpPr>
          <p:cNvPr id="5" name="card"/>
          <p:cNvSpPr/>
          <p:nvPr/>
        </p:nvSpPr>
        <p:spPr>
          <a:xfrm>
            <a:off x="548640" y="1097280"/>
            <a:ext cx="8046720" cy="749808"/>
          </a:xfrm>
          <a:prstGeom prst="roundRect">
            <a:avLst>
              <a:gd name="adj" fmla="val 14634"/>
            </a:avLst>
          </a:prstGeom>
          <a:solidFill>
            <a:schemeClr val="bg2"/>
          </a:solidFill>
          <a:ln w="12700">
            <a:solidFill>
              <a:schemeClr val="bg2"/>
            </a:solidFill>
            <a:prstDash val="solid"/>
          </a:ln>
        </p:spPr>
      </p:sp>
      <p:sp>
        <p:nvSpPr>
          <p:cNvPr id="6" name="badge"/>
          <p:cNvSpPr/>
          <p:nvPr/>
        </p:nvSpPr>
        <p:spPr>
          <a:xfrm>
            <a:off x="685800" y="1197864"/>
            <a:ext cx="548640" cy="548640"/>
          </a:xfrm>
          <a:prstGeom prst="ellipse">
            <a:avLst/>
          </a:prstGeom>
          <a:solidFill>
            <a:schemeClr val="accent4"/>
          </a:solidFill>
          <a:ln w="12700">
            <a:solidFill>
              <a:schemeClr val="accent4"/>
            </a:solidFill>
            <a:prstDash val="solid"/>
          </a:ln>
        </p:spPr>
      </p:sp>
      <p:pic>
        <p:nvPicPr>
          <p:cNvPr id="7" name="icon" descr="users"/>
          <p:cNvPicPr>
            <a:picLocks noChangeAspect="1"/>
          </p:cNvPicPr>
          <p:nvPr/>
        </p:nvPicPr>
        <p:blipFill>
          <a:blip r:embed="rId3"/>
          <a:stretch>
            <a:fillRect/>
          </a:stretch>
        </p:blipFill>
        <p:spPr>
          <a:xfrm>
            <a:off x="828446" y="1340510"/>
            <a:ext cx="263347" cy="263347"/>
          </a:xfrm>
          <a:prstGeom prst="rect">
            <a:avLst/>
          </a:prstGeom>
        </p:spPr>
      </p:pic>
      <p:sp>
        <p:nvSpPr>
          <p:cNvPr id="8" name="Text 4"/>
          <p:cNvSpPr txBox="1"/>
          <p:nvPr/>
        </p:nvSpPr>
        <p:spPr>
          <a:xfrm>
            <a:off x="1463040" y="1097280"/>
            <a:ext cx="6949440" cy="749808"/>
          </a:xfrm>
          <a:prstGeom prst="rect">
            <a:avLst/>
          </a:prstGeom>
          <a:noFill/>
          <a:ln/>
        </p:spPr>
        <p:txBody>
          <a:bodyPr wrap="square" lIns="0" tIns="0" rIns="0" bIns="0" rtlCol="0" anchor="ctr"/>
          <a:lstStyle/>
          <a:p>
            <a:pPr marL="0" indent="0">
              <a:buNone/>
            </a:pPr>
            <a:r>
              <a:rPr lang="en-US" sz="1600" dirty="0">
                <a:solidFill>
                  <a:schemeClr val="tx1"/>
                </a:solidFill>
              </a:rPr>
              <a:t>Step 1. Work in pairs. Reread part 4 (slides 9 and 10) aloud, a paragraph each.</a:t>
            </a:r>
            <a:endParaRPr lang="en-US" sz="1600" dirty="0"/>
          </a:p>
        </p:txBody>
      </p:sp>
      <p:sp>
        <p:nvSpPr>
          <p:cNvPr id="9" name="card"/>
          <p:cNvSpPr/>
          <p:nvPr/>
        </p:nvSpPr>
        <p:spPr>
          <a:xfrm>
            <a:off x="548640" y="1965960"/>
            <a:ext cx="8046720" cy="749808"/>
          </a:xfrm>
          <a:prstGeom prst="roundRect">
            <a:avLst>
              <a:gd name="adj" fmla="val 14634"/>
            </a:avLst>
          </a:prstGeom>
          <a:solidFill>
            <a:schemeClr val="bg2"/>
          </a:solidFill>
          <a:ln w="12700">
            <a:solidFill>
              <a:schemeClr val="bg2"/>
            </a:solidFill>
            <a:prstDash val="solid"/>
          </a:ln>
        </p:spPr>
      </p:sp>
      <p:sp>
        <p:nvSpPr>
          <p:cNvPr id="10" name="badge"/>
          <p:cNvSpPr/>
          <p:nvPr/>
        </p:nvSpPr>
        <p:spPr>
          <a:xfrm>
            <a:off x="685800" y="2066544"/>
            <a:ext cx="548640" cy="548640"/>
          </a:xfrm>
          <a:prstGeom prst="ellipse">
            <a:avLst/>
          </a:prstGeom>
          <a:solidFill>
            <a:schemeClr val="accent2"/>
          </a:solidFill>
          <a:ln w="12700">
            <a:solidFill>
              <a:schemeClr val="accent2"/>
            </a:solidFill>
            <a:prstDash val="solid"/>
          </a:ln>
        </p:spPr>
      </p:sp>
      <p:pic>
        <p:nvPicPr>
          <p:cNvPr id="11" name="icon" descr="key"/>
          <p:cNvPicPr>
            <a:picLocks noChangeAspect="1"/>
          </p:cNvPicPr>
          <p:nvPr/>
        </p:nvPicPr>
        <p:blipFill>
          <a:blip r:embed="rId4"/>
          <a:stretch>
            <a:fillRect/>
          </a:stretch>
        </p:blipFill>
        <p:spPr>
          <a:xfrm>
            <a:off x="828446" y="2209190"/>
            <a:ext cx="263347" cy="263347"/>
          </a:xfrm>
          <a:prstGeom prst="rect">
            <a:avLst/>
          </a:prstGeom>
        </p:spPr>
      </p:pic>
      <p:sp>
        <p:nvSpPr>
          <p:cNvPr id="12" name="Text 7"/>
          <p:cNvSpPr txBox="1"/>
          <p:nvPr/>
        </p:nvSpPr>
        <p:spPr>
          <a:xfrm>
            <a:off x="1463040" y="1965960"/>
            <a:ext cx="6949440" cy="749808"/>
          </a:xfrm>
          <a:prstGeom prst="rect">
            <a:avLst/>
          </a:prstGeom>
          <a:noFill/>
          <a:ln/>
        </p:spPr>
        <p:txBody>
          <a:bodyPr wrap="square" lIns="0" tIns="0" rIns="0" bIns="0" rtlCol="0" anchor="ctr"/>
          <a:lstStyle/>
          <a:p>
            <a:pPr marL="0" indent="0">
              <a:buNone/>
            </a:pPr>
            <a:r>
              <a:rPr lang="en-US" sz="1600" dirty="0">
                <a:solidFill>
                  <a:schemeClr val="tx1"/>
                </a:solidFill>
              </a:rPr>
              <a:t>Step 2. Underline the words that show how Kesh, Tamsin and the dustwyrm feel.</a:t>
            </a:r>
            <a:endParaRPr lang="en-US" sz="1600" dirty="0"/>
          </a:p>
        </p:txBody>
      </p:sp>
      <p:sp>
        <p:nvSpPr>
          <p:cNvPr id="13" name="card"/>
          <p:cNvSpPr/>
          <p:nvPr/>
        </p:nvSpPr>
        <p:spPr>
          <a:xfrm>
            <a:off x="548640" y="2834640"/>
            <a:ext cx="8046720" cy="749808"/>
          </a:xfrm>
          <a:prstGeom prst="roundRect">
            <a:avLst>
              <a:gd name="adj" fmla="val 14634"/>
            </a:avLst>
          </a:prstGeom>
          <a:solidFill>
            <a:schemeClr val="bg2"/>
          </a:solidFill>
          <a:ln w="12700">
            <a:solidFill>
              <a:schemeClr val="bg2"/>
            </a:solidFill>
            <a:prstDash val="solid"/>
          </a:ln>
        </p:spPr>
      </p:sp>
      <p:sp>
        <p:nvSpPr>
          <p:cNvPr id="14" name="badge"/>
          <p:cNvSpPr/>
          <p:nvPr/>
        </p:nvSpPr>
        <p:spPr>
          <a:xfrm>
            <a:off x="685800" y="2935224"/>
            <a:ext cx="548640" cy="548640"/>
          </a:xfrm>
          <a:prstGeom prst="ellipse">
            <a:avLst/>
          </a:prstGeom>
          <a:solidFill>
            <a:schemeClr val="accent3"/>
          </a:solidFill>
          <a:ln w="12700">
            <a:solidFill>
              <a:schemeClr val="accent3"/>
            </a:solidFill>
            <a:prstDash val="solid"/>
          </a:ln>
        </p:spPr>
      </p:sp>
      <p:pic>
        <p:nvPicPr>
          <p:cNvPr id="15" name="icon" descr="pencil"/>
          <p:cNvPicPr>
            <a:picLocks noChangeAspect="1"/>
          </p:cNvPicPr>
          <p:nvPr/>
        </p:nvPicPr>
        <p:blipFill>
          <a:blip r:embed="rId5"/>
          <a:stretch>
            <a:fillRect/>
          </a:stretch>
        </p:blipFill>
        <p:spPr>
          <a:xfrm>
            <a:off x="828446" y="3077870"/>
            <a:ext cx="263347" cy="263347"/>
          </a:xfrm>
          <a:prstGeom prst="rect">
            <a:avLst/>
          </a:prstGeom>
        </p:spPr>
      </p:pic>
      <p:sp>
        <p:nvSpPr>
          <p:cNvPr id="16" name="Text 10"/>
          <p:cNvSpPr txBox="1"/>
          <p:nvPr/>
        </p:nvSpPr>
        <p:spPr>
          <a:xfrm>
            <a:off x="1463040" y="2834640"/>
            <a:ext cx="6949440" cy="749808"/>
          </a:xfrm>
          <a:prstGeom prst="rect">
            <a:avLst/>
          </a:prstGeom>
          <a:noFill/>
          <a:ln/>
        </p:spPr>
        <p:txBody>
          <a:bodyPr wrap="square" lIns="0" tIns="0" rIns="0" bIns="0" rtlCol="0" anchor="ctr"/>
          <a:lstStyle/>
          <a:p>
            <a:pPr marL="0" indent="0">
              <a:buNone/>
            </a:pPr>
            <a:r>
              <a:rPr lang="en-US" sz="1600" dirty="0">
                <a:solidFill>
                  <a:schemeClr val="tx1"/>
                </a:solidFill>
              </a:rPr>
              <a:t>Step 3. Complete the chart on the next slide for those three: how they feel, proof, because.</a:t>
            </a:r>
            <a:endParaRPr lang="en-US" sz="1600" dirty="0"/>
          </a:p>
        </p:txBody>
      </p:sp>
      <p:sp>
        <p:nvSpPr>
          <p:cNvPr id="17" name="card"/>
          <p:cNvSpPr/>
          <p:nvPr/>
        </p:nvSpPr>
        <p:spPr>
          <a:xfrm>
            <a:off x="548640" y="3703320"/>
            <a:ext cx="8046720" cy="749808"/>
          </a:xfrm>
          <a:prstGeom prst="roundRect">
            <a:avLst>
              <a:gd name="adj" fmla="val 14634"/>
            </a:avLst>
          </a:prstGeom>
          <a:solidFill>
            <a:schemeClr val="bg2"/>
          </a:solidFill>
          <a:ln w="12700">
            <a:solidFill>
              <a:schemeClr val="bg2"/>
            </a:solidFill>
            <a:prstDash val="solid"/>
          </a:ln>
        </p:spPr>
      </p:sp>
      <p:sp>
        <p:nvSpPr>
          <p:cNvPr id="18" name="badge"/>
          <p:cNvSpPr/>
          <p:nvPr/>
        </p:nvSpPr>
        <p:spPr>
          <a:xfrm>
            <a:off x="685800" y="3803904"/>
            <a:ext cx="548640" cy="548640"/>
          </a:xfrm>
          <a:prstGeom prst="ellipse">
            <a:avLst/>
          </a:prstGeom>
          <a:solidFill>
            <a:schemeClr val="accent5"/>
          </a:solidFill>
          <a:ln w="12700">
            <a:solidFill>
              <a:schemeClr val="accent5"/>
            </a:solidFill>
            <a:prstDash val="solid"/>
          </a:ln>
        </p:spPr>
      </p:sp>
      <p:pic>
        <p:nvPicPr>
          <p:cNvPr id="19" name="icon" descr="star"/>
          <p:cNvPicPr>
            <a:picLocks noChangeAspect="1"/>
          </p:cNvPicPr>
          <p:nvPr/>
        </p:nvPicPr>
        <p:blipFill>
          <a:blip r:embed="rId6"/>
          <a:stretch>
            <a:fillRect/>
          </a:stretch>
        </p:blipFill>
        <p:spPr>
          <a:xfrm>
            <a:off x="828446" y="3946550"/>
            <a:ext cx="263347" cy="263347"/>
          </a:xfrm>
          <a:prstGeom prst="rect">
            <a:avLst/>
          </a:prstGeom>
        </p:spPr>
      </p:pic>
      <p:sp>
        <p:nvSpPr>
          <p:cNvPr id="20" name="Text 13"/>
          <p:cNvSpPr txBox="1"/>
          <p:nvPr/>
        </p:nvSpPr>
        <p:spPr>
          <a:xfrm>
            <a:off x="1463040" y="3703320"/>
            <a:ext cx="6949440" cy="749808"/>
          </a:xfrm>
          <a:prstGeom prst="rect">
            <a:avLst/>
          </a:prstGeom>
          <a:noFill/>
          <a:ln/>
        </p:spPr>
        <p:txBody>
          <a:bodyPr wrap="square" lIns="0" tIns="0" rIns="0" bIns="0" rtlCol="0" anchor="ctr"/>
          <a:lstStyle/>
          <a:p>
            <a:pPr marL="0" indent="0">
              <a:buNone/>
            </a:pPr>
            <a:r>
              <a:rPr lang="en-US" sz="1600" dirty="0">
                <a:solidFill>
                  <a:schemeClr val="tx1"/>
                </a:solidFill>
              </a:rPr>
              <a:t>Step 4. Choose the strongest feeling word from the ladder for each character.</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Feelings detective chart</a:t>
            </a:r>
            <a:endParaRPr lang="en-US" sz="3000" dirty="0"/>
          </a:p>
        </p:txBody>
      </p:sp>
      <p:graphicFrame>
        <p:nvGraphicFramePr>
          <p:cNvPr id="23" name="feelings chart"/>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Character</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How they feel</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Proof from the text</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Because ...</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685800">
                <a:tc>
                  <a:txBody>
                    <a:bodyPr/>
                    <a:lstStyle/>
                    <a:p>
                      <a:pPr marL="0" indent="0">
                        <a:buNone/>
                      </a:pPr>
                      <a:r>
                        <a:rPr lang="en-US" sz="1300" b="1" dirty="0">
                          <a:solidFill>
                            <a:srgbClr val="1F1B3A"/>
                          </a:solidFill>
                        </a:rPr>
                        <a:t>Orrin</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300" dirty="0">
                          <a:solidFill>
                            <a:srgbClr val="1F1B3A"/>
                          </a:solidFill>
                        </a:rPr>
                        <a:t>torn: amazed and afraid</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300" dirty="0">
                          <a:solidFill>
                            <a:srgbClr val="1F1B3A"/>
                          </a:solidFill>
                        </a:rPr>
                        <a:t>"His hand shook on the hazel stick"</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300" dirty="0">
                          <a:solidFill>
                            <a:srgbClr val="1F1B3A"/>
                          </a:solidFill>
                        </a:rPr>
                        <a:t>A shaking hand shows strong feeling.</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685800">
                <a:tc>
                  <a:txBody>
                    <a:bodyPr/>
                    <a:lstStyle/>
                    <a:p>
                      <a:pPr marL="0" indent="0">
                        <a:buNone/>
                      </a:pPr>
                      <a:r>
                        <a:rPr lang="en-US" sz="1300" b="1" dirty="0">
                          <a:solidFill>
                            <a:srgbClr val="1F1B3A"/>
                          </a:solidFill>
                        </a:rPr>
                        <a:t>Kesh</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r h="685800">
                <a:tc>
                  <a:txBody>
                    <a:bodyPr/>
                    <a:lstStyle/>
                    <a:p>
                      <a:pPr marL="0" indent="0">
                        <a:buNone/>
                      </a:pPr>
                      <a:r>
                        <a:rPr lang="en-US" sz="1300" b="1" dirty="0">
                          <a:solidFill>
                            <a:srgbClr val="1F1B3A"/>
                          </a:solidFill>
                        </a:rPr>
                        <a:t>Tamsin</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3"/>
                  </a:ext>
                </a:extLst>
              </a:tr>
              <a:tr h="685800">
                <a:tc>
                  <a:txBody>
                    <a:bodyPr/>
                    <a:lstStyle/>
                    <a:p>
                      <a:pPr marL="0" indent="0">
                        <a:buNone/>
                      </a:pPr>
                      <a:r>
                        <a:rPr lang="en-US" sz="1300" b="1" dirty="0">
                          <a:solidFill>
                            <a:srgbClr val="1F1B3A"/>
                          </a:solidFill>
                        </a:rPr>
                        <a:t>The dustwyrm</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feelings detective chart</a:t>
            </a:r>
            <a:endParaRPr lang="en-US" sz="3000" dirty="0"/>
          </a:p>
        </p:txBody>
      </p:sp>
      <p:graphicFrame>
        <p:nvGraphicFramePr>
          <p:cNvPr id="24" name="feelings chart answers"/>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11480">
                <a:tc>
                  <a:txBody>
                    <a:bodyPr/>
                    <a:lstStyle/>
                    <a:p>
                      <a:pPr marL="0" indent="0" algn="ctr">
                        <a:buNone/>
                      </a:pPr>
                      <a:r>
                        <a:rPr lang="en-US" sz="1300" b="1" dirty="0">
                          <a:solidFill>
                            <a:srgbClr val="FFFFFF"/>
                          </a:solidFill>
                        </a:rPr>
                        <a:t>Character</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300" b="1" dirty="0">
                          <a:solidFill>
                            <a:srgbClr val="FFFFFF"/>
                          </a:solidFill>
                        </a:rPr>
                        <a:t>How they feel</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300" b="1" dirty="0">
                          <a:solidFill>
                            <a:srgbClr val="FFFFFF"/>
                          </a:solidFill>
                        </a:rPr>
                        <a:t>Proof from the text</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300" b="1" dirty="0">
                          <a:solidFill>
                            <a:srgbClr val="FFFFFF"/>
                          </a:solidFill>
                        </a:rPr>
                        <a:t>Because ...</a:t>
                      </a:r>
                      <a:endParaRPr lang="en-US" sz="13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640080">
                <a:tc>
                  <a:txBody>
                    <a:bodyPr/>
                    <a:lstStyle/>
                    <a:p>
                      <a:pPr marL="0" indent="0">
                        <a:buNone/>
                      </a:pPr>
                      <a:r>
                        <a:rPr lang="en-US" sz="1100" b="1" dirty="0">
                          <a:solidFill>
                            <a:srgbClr val="1F1B3A"/>
                          </a:solidFill>
                        </a:rPr>
                        <a:t>Orrin</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torn: amazed and afraid</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"His hand shook on the hazel stick"</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A shaking hand shows strong feeling.</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731520">
                <a:tc>
                  <a:txBody>
                    <a:bodyPr/>
                    <a:lstStyle/>
                    <a:p>
                      <a:pPr marL="0" indent="0">
                        <a:buNone/>
                      </a:pPr>
                      <a:r>
                        <a:rPr lang="en-US" sz="1100" b="1" dirty="0">
                          <a:solidFill>
                            <a:srgbClr val="1F1B3A"/>
                          </a:solidFill>
                        </a:rPr>
                        <a:t>Kesh</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angry and afraid</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"his jaw tight"; "he snapped"</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A tight jaw and snapping show anger. He fears the city.</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1F1B3A"/>
                          </a:solidFill>
                        </a:rPr>
                        <a:t>Tamsin</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excited but nervous</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"Her heart was pounding"; "could not stop smiling"</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A pounding heart shows she is afraid, but she keeps smiling at the fountain.</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3"/>
                  </a:ext>
                </a:extLst>
              </a:tr>
              <a:tr h="731520">
                <a:tc>
                  <a:txBody>
                    <a:bodyPr/>
                    <a:lstStyle/>
                    <a:p>
                      <a:pPr marL="0" indent="0">
                        <a:buNone/>
                      </a:pPr>
                      <a:r>
                        <a:rPr lang="en-US" sz="1100" b="1" dirty="0">
                          <a:solidFill>
                            <a:srgbClr val="1F1B3A"/>
                          </a:solidFill>
                        </a:rPr>
                        <a:t>The dustwyrm</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terrified</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"trembling from head to tail"</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100" dirty="0">
                          <a:solidFill>
                            <a:srgbClr val="1F1B3A"/>
                          </a:solidFill>
                        </a:rPr>
                        <a:t>Shaking all over shows great fear. It warns that the city is dangerous.</a:t>
                      </a:r>
                      <a:endParaRPr lang="en-US" sz="11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your mission</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Kesh:</a:t>
            </a:r>
            <a:r>
              <a:rPr lang="en-US" sz="1400" dirty="0">
                <a:solidFill>
                  <a:schemeClr val="tx1"/>
                </a:solidFill>
              </a:rPr>
              <a:t> underline 'his jaw tight', 'he snapped', 'stared at the ground'. Ladder word: furious (or cross).</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Tamsin:</a:t>
            </a:r>
            <a:r>
              <a:rPr lang="en-US" sz="1400" dirty="0">
                <a:solidFill>
                  <a:schemeClr val="tx1"/>
                </a:solidFill>
              </a:rPr>
              <a:t> underline 'her heart was pounding', 'could not stop smiling', 'her voice small'. Ladder word: nervous (or thrilled for the fountain).</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The dustwyrm:</a:t>
            </a:r>
            <a:r>
              <a:rPr lang="en-US" sz="1400" dirty="0">
                <a:solidFill>
                  <a:schemeClr val="tx1"/>
                </a:solidFill>
              </a:rPr>
              <a:t> underline 'trembling from head to tail'. Ladder word: terrified.</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Any ladder word that fits the evidence is fine.</a:t>
            </a:r>
            <a:r>
              <a:rPr lang="en-US" sz="1400" dirty="0">
                <a:solidFill>
                  <a:schemeClr val="tx1"/>
                </a:solidFill>
              </a:rPr>
              <a:t> The stronger the evidence, the stronger the word should be.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Quote bank: match each quote</a:t>
            </a:r>
            <a:endParaRPr lang="en-US" sz="3000" dirty="0"/>
          </a:p>
        </p:txBody>
      </p:sp>
      <p:sp>
        <p:nvSpPr>
          <p:cNvPr id="4" name="card"/>
          <p:cNvSpPr/>
          <p:nvPr/>
        </p:nvSpPr>
        <p:spPr>
          <a:xfrm>
            <a:off x="548640" y="1097280"/>
            <a:ext cx="3931920" cy="749808"/>
          </a:xfrm>
          <a:prstGeom prst="roundRect">
            <a:avLst>
              <a:gd name="adj" fmla="val 14634"/>
            </a:avLst>
          </a:prstGeom>
          <a:solidFill>
            <a:schemeClr val="bg2"/>
          </a:solidFill>
          <a:ln w="12700">
            <a:solidFill>
              <a:schemeClr val="bg2"/>
            </a:solidFill>
            <a:prstDash val="solid"/>
          </a:ln>
        </p:spPr>
      </p:sp>
      <p:sp>
        <p:nvSpPr>
          <p:cNvPr id="5" name="quote number"/>
          <p:cNvSpPr/>
          <p:nvPr/>
        </p:nvSpPr>
        <p:spPr>
          <a:xfrm>
            <a:off x="658368" y="1243584"/>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58368" y="124358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234440" y="1097280"/>
            <a:ext cx="3154680" cy="749808"/>
          </a:xfrm>
          <a:prstGeom prst="rect">
            <a:avLst/>
          </a:prstGeom>
          <a:noFill/>
          <a:ln/>
        </p:spPr>
        <p:txBody>
          <a:bodyPr wrap="square" lIns="0" tIns="0" rIns="0" bIns="0" rtlCol="0" anchor="ctr"/>
          <a:lstStyle/>
          <a:p>
            <a:pPr marL="0" indent="0">
              <a:buNone/>
            </a:pPr>
            <a:r>
              <a:rPr lang="en-US" sz="1400" i="1" dirty="0">
                <a:solidFill>
                  <a:schemeClr val="tx1"/>
                </a:solidFill>
              </a:rPr>
              <a:t>"his jaw tight"</a:t>
            </a:r>
            <a:endParaRPr lang="en-US" sz="1400" dirty="0"/>
          </a:p>
        </p:txBody>
      </p:sp>
      <p:sp>
        <p:nvSpPr>
          <p:cNvPr id="8" name="card"/>
          <p:cNvSpPr/>
          <p:nvPr/>
        </p:nvSpPr>
        <p:spPr>
          <a:xfrm>
            <a:off x="4663440" y="1097280"/>
            <a:ext cx="3931920" cy="749808"/>
          </a:xfrm>
          <a:prstGeom prst="roundRect">
            <a:avLst>
              <a:gd name="adj" fmla="val 14634"/>
            </a:avLst>
          </a:prstGeom>
          <a:solidFill>
            <a:schemeClr val="bg2"/>
          </a:solidFill>
          <a:ln w="12700">
            <a:solidFill>
              <a:schemeClr val="bg2"/>
            </a:solidFill>
            <a:prstDash val="solid"/>
          </a:ln>
        </p:spPr>
      </p:sp>
      <p:sp>
        <p:nvSpPr>
          <p:cNvPr id="9" name="quote number"/>
          <p:cNvSpPr/>
          <p:nvPr/>
        </p:nvSpPr>
        <p:spPr>
          <a:xfrm>
            <a:off x="4773168" y="1243584"/>
            <a:ext cx="457200" cy="457200"/>
          </a:xfrm>
          <a:prstGeom prst="ellipse">
            <a:avLst/>
          </a:prstGeom>
          <a:solidFill>
            <a:schemeClr val="accent4"/>
          </a:solidFill>
          <a:ln w="12700">
            <a:solidFill>
              <a:schemeClr val="bg1"/>
            </a:solidFill>
            <a:prstDash val="solid"/>
          </a:ln>
        </p:spPr>
      </p:sp>
      <p:sp>
        <p:nvSpPr>
          <p:cNvPr id="10" name="Text 7"/>
          <p:cNvSpPr txBox="1"/>
          <p:nvPr/>
        </p:nvSpPr>
        <p:spPr>
          <a:xfrm>
            <a:off x="4773168" y="124358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5349240" y="1097280"/>
            <a:ext cx="3154680" cy="749808"/>
          </a:xfrm>
          <a:prstGeom prst="rect">
            <a:avLst/>
          </a:prstGeom>
          <a:noFill/>
          <a:ln/>
        </p:spPr>
        <p:txBody>
          <a:bodyPr wrap="square" lIns="0" tIns="0" rIns="0" bIns="0" rtlCol="0" anchor="ctr"/>
          <a:lstStyle/>
          <a:p>
            <a:pPr marL="0" indent="0">
              <a:buNone/>
            </a:pPr>
            <a:r>
              <a:rPr lang="en-US" sz="1400" i="1" dirty="0">
                <a:solidFill>
                  <a:schemeClr val="tx1"/>
                </a:solidFill>
              </a:rPr>
              <a:t>"he snapped"</a:t>
            </a:r>
            <a:endParaRPr lang="en-US" sz="1400" dirty="0"/>
          </a:p>
        </p:txBody>
      </p:sp>
      <p:sp>
        <p:nvSpPr>
          <p:cNvPr id="12" name="card"/>
          <p:cNvSpPr/>
          <p:nvPr/>
        </p:nvSpPr>
        <p:spPr>
          <a:xfrm>
            <a:off x="548640" y="1965960"/>
            <a:ext cx="3931920" cy="749808"/>
          </a:xfrm>
          <a:prstGeom prst="roundRect">
            <a:avLst>
              <a:gd name="adj" fmla="val 14634"/>
            </a:avLst>
          </a:prstGeom>
          <a:solidFill>
            <a:schemeClr val="bg2"/>
          </a:solidFill>
          <a:ln w="12700">
            <a:solidFill>
              <a:schemeClr val="bg2"/>
            </a:solidFill>
            <a:prstDash val="solid"/>
          </a:ln>
        </p:spPr>
      </p:sp>
      <p:sp>
        <p:nvSpPr>
          <p:cNvPr id="13" name="quote number"/>
          <p:cNvSpPr/>
          <p:nvPr/>
        </p:nvSpPr>
        <p:spPr>
          <a:xfrm>
            <a:off x="658368" y="2112264"/>
            <a:ext cx="457200" cy="457200"/>
          </a:xfrm>
          <a:prstGeom prst="ellipse">
            <a:avLst/>
          </a:prstGeom>
          <a:solidFill>
            <a:schemeClr val="accent2"/>
          </a:solidFill>
          <a:ln w="12700">
            <a:solidFill>
              <a:schemeClr val="bg1"/>
            </a:solidFill>
            <a:prstDash val="solid"/>
          </a:ln>
        </p:spPr>
      </p:sp>
      <p:sp>
        <p:nvSpPr>
          <p:cNvPr id="14" name="Text 11"/>
          <p:cNvSpPr txBox="1"/>
          <p:nvPr/>
        </p:nvSpPr>
        <p:spPr>
          <a:xfrm>
            <a:off x="658368" y="211226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234440" y="1965960"/>
            <a:ext cx="3154680" cy="749808"/>
          </a:xfrm>
          <a:prstGeom prst="rect">
            <a:avLst/>
          </a:prstGeom>
          <a:noFill/>
          <a:ln/>
        </p:spPr>
        <p:txBody>
          <a:bodyPr wrap="square" lIns="0" tIns="0" rIns="0" bIns="0" rtlCol="0" anchor="ctr"/>
          <a:lstStyle/>
          <a:p>
            <a:pPr marL="0" indent="0">
              <a:buNone/>
            </a:pPr>
            <a:r>
              <a:rPr lang="en-US" sz="1400" i="1" dirty="0">
                <a:solidFill>
                  <a:schemeClr val="tx1"/>
                </a:solidFill>
              </a:rPr>
              <a:t>"trembling from head to tail"</a:t>
            </a:r>
            <a:endParaRPr lang="en-US" sz="1400" dirty="0"/>
          </a:p>
        </p:txBody>
      </p:sp>
      <p:sp>
        <p:nvSpPr>
          <p:cNvPr id="16" name="card"/>
          <p:cNvSpPr/>
          <p:nvPr/>
        </p:nvSpPr>
        <p:spPr>
          <a:xfrm>
            <a:off x="4663440" y="1965960"/>
            <a:ext cx="3931920" cy="749808"/>
          </a:xfrm>
          <a:prstGeom prst="roundRect">
            <a:avLst>
              <a:gd name="adj" fmla="val 14634"/>
            </a:avLst>
          </a:prstGeom>
          <a:solidFill>
            <a:schemeClr val="bg2"/>
          </a:solidFill>
          <a:ln w="12700">
            <a:solidFill>
              <a:schemeClr val="bg2"/>
            </a:solidFill>
            <a:prstDash val="solid"/>
          </a:ln>
        </p:spPr>
      </p:sp>
      <p:sp>
        <p:nvSpPr>
          <p:cNvPr id="17" name="quote number"/>
          <p:cNvSpPr/>
          <p:nvPr/>
        </p:nvSpPr>
        <p:spPr>
          <a:xfrm>
            <a:off x="4773168" y="2112264"/>
            <a:ext cx="457200" cy="457200"/>
          </a:xfrm>
          <a:prstGeom prst="ellipse">
            <a:avLst/>
          </a:prstGeom>
          <a:solidFill>
            <a:schemeClr val="accent2"/>
          </a:solidFill>
          <a:ln w="12700">
            <a:solidFill>
              <a:schemeClr val="bg1"/>
            </a:solidFill>
            <a:prstDash val="solid"/>
          </a:ln>
        </p:spPr>
      </p:sp>
      <p:sp>
        <p:nvSpPr>
          <p:cNvPr id="18" name="Text 15"/>
          <p:cNvSpPr txBox="1"/>
          <p:nvPr/>
        </p:nvSpPr>
        <p:spPr>
          <a:xfrm>
            <a:off x="4773168" y="211226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5349240" y="1965960"/>
            <a:ext cx="3154680" cy="749808"/>
          </a:xfrm>
          <a:prstGeom prst="rect">
            <a:avLst/>
          </a:prstGeom>
          <a:noFill/>
          <a:ln/>
        </p:spPr>
        <p:txBody>
          <a:bodyPr wrap="square" lIns="0" tIns="0" rIns="0" bIns="0" rtlCol="0" anchor="ctr"/>
          <a:lstStyle/>
          <a:p>
            <a:pPr marL="0" indent="0">
              <a:buNone/>
            </a:pPr>
            <a:r>
              <a:rPr lang="en-US" sz="1400" i="1" dirty="0">
                <a:solidFill>
                  <a:schemeClr val="tx1"/>
                </a:solidFill>
              </a:rPr>
              <a:t>"her heart was pounding"</a:t>
            </a:r>
            <a:endParaRPr lang="en-US" sz="1400" dirty="0"/>
          </a:p>
        </p:txBody>
      </p:sp>
      <p:sp>
        <p:nvSpPr>
          <p:cNvPr id="20" name="card"/>
          <p:cNvSpPr/>
          <p:nvPr/>
        </p:nvSpPr>
        <p:spPr>
          <a:xfrm>
            <a:off x="548640" y="2834640"/>
            <a:ext cx="3931920" cy="749808"/>
          </a:xfrm>
          <a:prstGeom prst="roundRect">
            <a:avLst>
              <a:gd name="adj" fmla="val 14634"/>
            </a:avLst>
          </a:prstGeom>
          <a:solidFill>
            <a:schemeClr val="bg2"/>
          </a:solidFill>
          <a:ln w="12700">
            <a:solidFill>
              <a:schemeClr val="bg2"/>
            </a:solidFill>
            <a:prstDash val="solid"/>
          </a:ln>
        </p:spPr>
      </p:sp>
      <p:sp>
        <p:nvSpPr>
          <p:cNvPr id="21" name="quote number"/>
          <p:cNvSpPr/>
          <p:nvPr/>
        </p:nvSpPr>
        <p:spPr>
          <a:xfrm>
            <a:off x="658368" y="2980944"/>
            <a:ext cx="457200" cy="457200"/>
          </a:xfrm>
          <a:prstGeom prst="ellipse">
            <a:avLst/>
          </a:prstGeom>
          <a:solidFill>
            <a:schemeClr val="accent3"/>
          </a:solidFill>
          <a:ln w="12700">
            <a:solidFill>
              <a:schemeClr val="bg1"/>
            </a:solidFill>
            <a:prstDash val="solid"/>
          </a:ln>
        </p:spPr>
      </p:sp>
      <p:sp>
        <p:nvSpPr>
          <p:cNvPr id="22" name="Text 19"/>
          <p:cNvSpPr txBox="1"/>
          <p:nvPr/>
        </p:nvSpPr>
        <p:spPr>
          <a:xfrm>
            <a:off x="658368" y="298094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3" name="Text 20"/>
          <p:cNvSpPr txBox="1"/>
          <p:nvPr/>
        </p:nvSpPr>
        <p:spPr>
          <a:xfrm>
            <a:off x="1234440" y="2834640"/>
            <a:ext cx="3154680" cy="749808"/>
          </a:xfrm>
          <a:prstGeom prst="rect">
            <a:avLst/>
          </a:prstGeom>
          <a:noFill/>
          <a:ln/>
        </p:spPr>
        <p:txBody>
          <a:bodyPr wrap="square" lIns="0" tIns="0" rIns="0" bIns="0" rtlCol="0" anchor="ctr"/>
          <a:lstStyle/>
          <a:p>
            <a:pPr marL="0" indent="0">
              <a:buNone/>
            </a:pPr>
            <a:r>
              <a:rPr lang="en-US" sz="1400" i="1" dirty="0">
                <a:solidFill>
                  <a:schemeClr val="tx1"/>
                </a:solidFill>
              </a:rPr>
              <a:t>"her voice small"</a:t>
            </a:r>
            <a:endParaRPr lang="en-US" sz="1400" dirty="0"/>
          </a:p>
        </p:txBody>
      </p:sp>
      <p:sp>
        <p:nvSpPr>
          <p:cNvPr id="24" name="card"/>
          <p:cNvSpPr/>
          <p:nvPr/>
        </p:nvSpPr>
        <p:spPr>
          <a:xfrm>
            <a:off x="4663440" y="2834640"/>
            <a:ext cx="3931920" cy="749808"/>
          </a:xfrm>
          <a:prstGeom prst="roundRect">
            <a:avLst>
              <a:gd name="adj" fmla="val 14634"/>
            </a:avLst>
          </a:prstGeom>
          <a:solidFill>
            <a:schemeClr val="bg2"/>
          </a:solidFill>
          <a:ln w="12700">
            <a:solidFill>
              <a:schemeClr val="bg2"/>
            </a:solidFill>
            <a:prstDash val="solid"/>
          </a:ln>
        </p:spPr>
      </p:sp>
      <p:sp>
        <p:nvSpPr>
          <p:cNvPr id="25" name="quote number"/>
          <p:cNvSpPr/>
          <p:nvPr/>
        </p:nvSpPr>
        <p:spPr>
          <a:xfrm>
            <a:off x="4773168" y="2980944"/>
            <a:ext cx="457200" cy="457200"/>
          </a:xfrm>
          <a:prstGeom prst="ellipse">
            <a:avLst/>
          </a:prstGeom>
          <a:solidFill>
            <a:schemeClr val="accent3"/>
          </a:solidFill>
          <a:ln w="12700">
            <a:solidFill>
              <a:schemeClr val="bg1"/>
            </a:solidFill>
            <a:prstDash val="solid"/>
          </a:ln>
        </p:spPr>
      </p:sp>
      <p:sp>
        <p:nvSpPr>
          <p:cNvPr id="26" name="Text 23"/>
          <p:cNvSpPr txBox="1"/>
          <p:nvPr/>
        </p:nvSpPr>
        <p:spPr>
          <a:xfrm>
            <a:off x="4773168" y="298094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7" name="Text 24"/>
          <p:cNvSpPr txBox="1"/>
          <p:nvPr/>
        </p:nvSpPr>
        <p:spPr>
          <a:xfrm>
            <a:off x="5349240" y="2834640"/>
            <a:ext cx="3154680" cy="749808"/>
          </a:xfrm>
          <a:prstGeom prst="rect">
            <a:avLst/>
          </a:prstGeom>
          <a:noFill/>
          <a:ln/>
        </p:spPr>
        <p:txBody>
          <a:bodyPr wrap="square" lIns="0" tIns="0" rIns="0" bIns="0" rtlCol="0" anchor="ctr"/>
          <a:lstStyle/>
          <a:p>
            <a:pPr marL="0" indent="0">
              <a:buNone/>
            </a:pPr>
            <a:r>
              <a:rPr lang="en-US" sz="1400" i="1" dirty="0">
                <a:solidFill>
                  <a:schemeClr val="tx1"/>
                </a:solidFill>
              </a:rPr>
              <a:t>"stared at the ground and said nothing at all"</a:t>
            </a:r>
            <a:endParaRPr lang="en-US" sz="1400" dirty="0"/>
          </a:p>
        </p:txBody>
      </p:sp>
      <p:sp>
        <p:nvSpPr>
          <p:cNvPr id="28" name="card"/>
          <p:cNvSpPr/>
          <p:nvPr/>
        </p:nvSpPr>
        <p:spPr>
          <a:xfrm>
            <a:off x="548640" y="3840480"/>
            <a:ext cx="8046720" cy="777240"/>
          </a:xfrm>
          <a:prstGeom prst="roundRect">
            <a:avLst>
              <a:gd name="adj" fmla="val 14118"/>
            </a:avLst>
          </a:prstGeom>
          <a:solidFill>
            <a:schemeClr val="accent1"/>
          </a:solidFill>
          <a:ln w="12700">
            <a:solidFill>
              <a:schemeClr val="accent1"/>
            </a:solidFill>
            <a:prstDash val="solid"/>
          </a:ln>
        </p:spPr>
      </p:sp>
      <p:sp>
        <p:nvSpPr>
          <p:cNvPr id="29" name="Text 26"/>
          <p:cNvSpPr txBox="1"/>
          <p:nvPr/>
        </p:nvSpPr>
        <p:spPr>
          <a:xfrm>
            <a:off x="731520" y="3840480"/>
            <a:ext cx="7680960" cy="777240"/>
          </a:xfrm>
          <a:prstGeom prst="rect">
            <a:avLst/>
          </a:prstGeom>
          <a:noFill/>
          <a:ln/>
        </p:spPr>
        <p:txBody>
          <a:bodyPr wrap="square" lIns="0" tIns="0" rIns="0" bIns="0" rtlCol="0" anchor="ctr"/>
          <a:lstStyle/>
          <a:p>
            <a:pPr marL="0" indent="0">
              <a:buNone/>
            </a:pPr>
            <a:r>
              <a:rPr lang="en-US" sz="1300" b="1" dirty="0">
                <a:solidFill>
                  <a:schemeClr val="tx1"/>
                </a:solidFill>
              </a:rPr>
              <a:t>For each quote, write who it is about and how they feel.</a:t>
            </a:r>
            <a:endParaRPr lang="en-US" sz="1300" dirty="0"/>
          </a:p>
          <a:p>
            <a:pPr marL="0" indent="0">
              <a:buNone/>
            </a:pPr>
            <a:r>
              <a:rPr lang="en-US" sz="1300" b="1" dirty="0">
                <a:solidFill>
                  <a:schemeClr val="tx1"/>
                </a:solidFill>
              </a:rPr>
              <a:t>Who: Orrin, Kesh, Tamsin, the dustwyrm.   Feeling: angry, terrified, nervous, defeated.</a:t>
            </a:r>
            <a:endParaRPr lang="en-US" sz="13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quote bank</a:t>
            </a:r>
            <a:endParaRPr lang="en-US" sz="3000" dirty="0"/>
          </a:p>
        </p:txBody>
      </p:sp>
      <p:sp>
        <p:nvSpPr>
          <p:cNvPr id="4" name="card"/>
          <p:cNvSpPr/>
          <p:nvPr/>
        </p:nvSpPr>
        <p:spPr>
          <a:xfrm>
            <a:off x="548640" y="1097280"/>
            <a:ext cx="8046720" cy="502920"/>
          </a:xfrm>
          <a:prstGeom prst="roundRect">
            <a:avLst>
              <a:gd name="adj" fmla="val 21818"/>
            </a:avLst>
          </a:prstGeom>
          <a:solidFill>
            <a:schemeClr val="bg2"/>
          </a:solidFill>
          <a:ln w="12700">
            <a:solidFill>
              <a:schemeClr val="bg2"/>
            </a:solidFill>
            <a:prstDash val="solid"/>
          </a:ln>
        </p:spPr>
      </p:sp>
      <p:sp>
        <p:nvSpPr>
          <p:cNvPr id="5" name="number"/>
          <p:cNvSpPr/>
          <p:nvPr/>
        </p:nvSpPr>
        <p:spPr>
          <a:xfrm>
            <a:off x="685800" y="112014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1201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502920"/>
          </a:xfrm>
          <a:prstGeom prst="rect">
            <a:avLst/>
          </a:prstGeom>
          <a:noFill/>
          <a:ln/>
        </p:spPr>
        <p:txBody>
          <a:bodyPr wrap="square" lIns="0" tIns="0" rIns="0" bIns="0" rtlCol="0" anchor="ctr"/>
          <a:lstStyle/>
          <a:p>
            <a:pPr marL="0" indent="0">
              <a:buNone/>
            </a:pPr>
            <a:r>
              <a:rPr lang="en-US" sz="1200" b="1" dirty="0">
                <a:solidFill>
                  <a:schemeClr val="tx1"/>
                </a:solidFill>
              </a:rPr>
              <a:t>1 'his jaw tight'</a:t>
            </a:r>
            <a:r>
              <a:rPr lang="en-US" sz="1200" dirty="0">
                <a:solidFill>
                  <a:schemeClr val="tx1"/>
                </a:solidFill>
              </a:rPr>
              <a:t> = Kesh, angry. A tight jaw shows he is holding in strong feeling.</a:t>
            </a:r>
            <a:endParaRPr lang="en-US" sz="1600" dirty="0"/>
          </a:p>
        </p:txBody>
      </p:sp>
      <p:sp>
        <p:nvSpPr>
          <p:cNvPr id="8" name="card"/>
          <p:cNvSpPr/>
          <p:nvPr/>
        </p:nvSpPr>
        <p:spPr>
          <a:xfrm>
            <a:off x="548640" y="1691640"/>
            <a:ext cx="8046720" cy="502920"/>
          </a:xfrm>
          <a:prstGeom prst="roundRect">
            <a:avLst>
              <a:gd name="adj" fmla="val 21818"/>
            </a:avLst>
          </a:prstGeom>
          <a:solidFill>
            <a:schemeClr val="bg2"/>
          </a:solidFill>
          <a:ln w="12700">
            <a:solidFill>
              <a:schemeClr val="bg2"/>
            </a:solidFill>
            <a:prstDash val="solid"/>
          </a:ln>
        </p:spPr>
      </p:sp>
      <p:sp>
        <p:nvSpPr>
          <p:cNvPr id="9" name="number"/>
          <p:cNvSpPr/>
          <p:nvPr/>
        </p:nvSpPr>
        <p:spPr>
          <a:xfrm>
            <a:off x="685800" y="171450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17145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1691640"/>
            <a:ext cx="7040880" cy="502920"/>
          </a:xfrm>
          <a:prstGeom prst="rect">
            <a:avLst/>
          </a:prstGeom>
          <a:noFill/>
          <a:ln/>
        </p:spPr>
        <p:txBody>
          <a:bodyPr wrap="square" lIns="0" tIns="0" rIns="0" bIns="0" rtlCol="0" anchor="ctr"/>
          <a:lstStyle/>
          <a:p>
            <a:pPr marL="0" indent="0">
              <a:buNone/>
            </a:pPr>
            <a:r>
              <a:rPr lang="en-US" sz="1200" b="1" dirty="0">
                <a:solidFill>
                  <a:schemeClr val="tx1"/>
                </a:solidFill>
              </a:rPr>
              <a:t>2 'he snapped'</a:t>
            </a:r>
            <a:r>
              <a:rPr lang="en-US" sz="1200" dirty="0">
                <a:solidFill>
                  <a:schemeClr val="tx1"/>
                </a:solidFill>
              </a:rPr>
              <a:t> = Kesh, angry. Snapping is a sharp, cross way of speaking.</a:t>
            </a:r>
            <a:endParaRPr lang="en-US" sz="1600" dirty="0"/>
          </a:p>
        </p:txBody>
      </p:sp>
      <p:sp>
        <p:nvSpPr>
          <p:cNvPr id="12" name="card"/>
          <p:cNvSpPr/>
          <p:nvPr/>
        </p:nvSpPr>
        <p:spPr>
          <a:xfrm>
            <a:off x="548640" y="2286000"/>
            <a:ext cx="8046720" cy="502920"/>
          </a:xfrm>
          <a:prstGeom prst="roundRect">
            <a:avLst>
              <a:gd name="adj" fmla="val 21818"/>
            </a:avLst>
          </a:prstGeom>
          <a:solidFill>
            <a:schemeClr val="bg2"/>
          </a:solidFill>
          <a:ln w="12700">
            <a:solidFill>
              <a:schemeClr val="bg2"/>
            </a:solidFill>
            <a:prstDash val="solid"/>
          </a:ln>
        </p:spPr>
      </p:sp>
      <p:sp>
        <p:nvSpPr>
          <p:cNvPr id="13" name="number"/>
          <p:cNvSpPr/>
          <p:nvPr/>
        </p:nvSpPr>
        <p:spPr>
          <a:xfrm>
            <a:off x="685800" y="23088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23088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2286000"/>
            <a:ext cx="7040880" cy="502920"/>
          </a:xfrm>
          <a:prstGeom prst="rect">
            <a:avLst/>
          </a:prstGeom>
          <a:noFill/>
          <a:ln/>
        </p:spPr>
        <p:txBody>
          <a:bodyPr wrap="square" lIns="0" tIns="0" rIns="0" bIns="0" rtlCol="0" anchor="ctr"/>
          <a:lstStyle/>
          <a:p>
            <a:pPr marL="0" indent="0">
              <a:buNone/>
            </a:pPr>
            <a:r>
              <a:rPr lang="en-US" sz="1200" b="1" dirty="0">
                <a:solidFill>
                  <a:schemeClr val="tx1"/>
                </a:solidFill>
              </a:rPr>
              <a:t>3 'trembling from head to tail'</a:t>
            </a:r>
            <a:r>
              <a:rPr lang="en-US" sz="1200" dirty="0">
                <a:solidFill>
                  <a:schemeClr val="tx1"/>
                </a:solidFill>
              </a:rPr>
              <a:t> = the dustwyrm, terrified. Shaking all over shows great fear.</a:t>
            </a:r>
            <a:endParaRPr lang="en-US" sz="1600" dirty="0"/>
          </a:p>
        </p:txBody>
      </p:sp>
      <p:sp>
        <p:nvSpPr>
          <p:cNvPr id="16" name="card"/>
          <p:cNvSpPr/>
          <p:nvPr/>
        </p:nvSpPr>
        <p:spPr>
          <a:xfrm>
            <a:off x="548640" y="2880360"/>
            <a:ext cx="8046720" cy="502920"/>
          </a:xfrm>
          <a:prstGeom prst="roundRect">
            <a:avLst>
              <a:gd name="adj" fmla="val 21818"/>
            </a:avLst>
          </a:prstGeom>
          <a:solidFill>
            <a:schemeClr val="bg2"/>
          </a:solidFill>
          <a:ln w="12700">
            <a:solidFill>
              <a:schemeClr val="bg2"/>
            </a:solidFill>
            <a:prstDash val="solid"/>
          </a:ln>
        </p:spPr>
      </p:sp>
      <p:sp>
        <p:nvSpPr>
          <p:cNvPr id="17" name="number"/>
          <p:cNvSpPr/>
          <p:nvPr/>
        </p:nvSpPr>
        <p:spPr>
          <a:xfrm>
            <a:off x="685800" y="290322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29032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371600" y="2880360"/>
            <a:ext cx="7040880" cy="502920"/>
          </a:xfrm>
          <a:prstGeom prst="rect">
            <a:avLst/>
          </a:prstGeom>
          <a:noFill/>
          <a:ln/>
        </p:spPr>
        <p:txBody>
          <a:bodyPr wrap="square" lIns="0" tIns="0" rIns="0" bIns="0" rtlCol="0" anchor="ctr"/>
          <a:lstStyle/>
          <a:p>
            <a:pPr marL="0" indent="0">
              <a:buNone/>
            </a:pPr>
            <a:r>
              <a:rPr lang="en-US" sz="1200" b="1" dirty="0">
                <a:solidFill>
                  <a:schemeClr val="tx1"/>
                </a:solidFill>
              </a:rPr>
              <a:t>4 'her heart was pounding'</a:t>
            </a:r>
            <a:r>
              <a:rPr lang="en-US" sz="1200" dirty="0">
                <a:solidFill>
                  <a:schemeClr val="tx1"/>
                </a:solidFill>
              </a:rPr>
              <a:t> = Tamsin, nervous (and excited). A pounding heart shows strong feeling.</a:t>
            </a:r>
            <a:endParaRPr lang="en-US" sz="1600" dirty="0"/>
          </a:p>
        </p:txBody>
      </p:sp>
      <p:sp>
        <p:nvSpPr>
          <p:cNvPr id="20" name="card"/>
          <p:cNvSpPr/>
          <p:nvPr/>
        </p:nvSpPr>
        <p:spPr>
          <a:xfrm>
            <a:off x="548640" y="3474720"/>
            <a:ext cx="8046720" cy="502920"/>
          </a:xfrm>
          <a:prstGeom prst="roundRect">
            <a:avLst>
              <a:gd name="adj" fmla="val 21818"/>
            </a:avLst>
          </a:prstGeom>
          <a:solidFill>
            <a:schemeClr val="bg2"/>
          </a:solidFill>
          <a:ln w="12700">
            <a:solidFill>
              <a:schemeClr val="bg2"/>
            </a:solidFill>
            <a:prstDash val="solid"/>
          </a:ln>
        </p:spPr>
      </p:sp>
      <p:sp>
        <p:nvSpPr>
          <p:cNvPr id="21" name="number"/>
          <p:cNvSpPr/>
          <p:nvPr/>
        </p:nvSpPr>
        <p:spPr>
          <a:xfrm>
            <a:off x="685800" y="3497580"/>
            <a:ext cx="457200" cy="457200"/>
          </a:xfrm>
          <a:prstGeom prst="ellipse">
            <a:avLst/>
          </a:prstGeom>
          <a:solidFill>
            <a:schemeClr val="accent4"/>
          </a:solidFill>
          <a:ln w="12700">
            <a:solidFill>
              <a:schemeClr val="bg1"/>
            </a:solidFill>
            <a:prstDash val="solid"/>
          </a:ln>
        </p:spPr>
      </p:sp>
      <p:sp>
        <p:nvSpPr>
          <p:cNvPr id="22" name="Text 19"/>
          <p:cNvSpPr txBox="1"/>
          <p:nvPr/>
        </p:nvSpPr>
        <p:spPr>
          <a:xfrm>
            <a:off x="685800" y="34975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3" name="Text 20"/>
          <p:cNvSpPr txBox="1"/>
          <p:nvPr/>
        </p:nvSpPr>
        <p:spPr>
          <a:xfrm>
            <a:off x="1371600" y="3474720"/>
            <a:ext cx="7040880" cy="502920"/>
          </a:xfrm>
          <a:prstGeom prst="rect">
            <a:avLst/>
          </a:prstGeom>
          <a:noFill/>
          <a:ln/>
        </p:spPr>
        <p:txBody>
          <a:bodyPr wrap="square" lIns="0" tIns="0" rIns="0" bIns="0" rtlCol="0" anchor="ctr"/>
          <a:lstStyle/>
          <a:p>
            <a:pPr marL="0" indent="0">
              <a:buNone/>
            </a:pPr>
            <a:r>
              <a:rPr lang="en-US" sz="1200" b="1" dirty="0">
                <a:solidFill>
                  <a:schemeClr val="tx1"/>
                </a:solidFill>
              </a:rPr>
              <a:t>5 'her voice small'</a:t>
            </a:r>
            <a:r>
              <a:rPr lang="en-US" sz="1200" dirty="0">
                <a:solidFill>
                  <a:schemeClr val="tx1"/>
                </a:solidFill>
              </a:rPr>
              <a:t> = Tamsin, nervous. She is unsure, so she speaks quietly.</a:t>
            </a:r>
            <a:endParaRPr lang="en-US" sz="1600" dirty="0"/>
          </a:p>
        </p:txBody>
      </p:sp>
      <p:sp>
        <p:nvSpPr>
          <p:cNvPr id="24" name="card"/>
          <p:cNvSpPr/>
          <p:nvPr/>
        </p:nvSpPr>
        <p:spPr>
          <a:xfrm>
            <a:off x="548640" y="4069080"/>
            <a:ext cx="8046720" cy="502920"/>
          </a:xfrm>
          <a:prstGeom prst="roundRect">
            <a:avLst>
              <a:gd name="adj" fmla="val 21818"/>
            </a:avLst>
          </a:prstGeom>
          <a:solidFill>
            <a:schemeClr val="bg2"/>
          </a:solidFill>
          <a:ln w="12700">
            <a:solidFill>
              <a:schemeClr val="bg2"/>
            </a:solidFill>
            <a:prstDash val="solid"/>
          </a:ln>
        </p:spPr>
      </p:sp>
      <p:sp>
        <p:nvSpPr>
          <p:cNvPr id="25" name="number"/>
          <p:cNvSpPr/>
          <p:nvPr/>
        </p:nvSpPr>
        <p:spPr>
          <a:xfrm>
            <a:off x="685800" y="4091940"/>
            <a:ext cx="457200" cy="457200"/>
          </a:xfrm>
          <a:prstGeom prst="ellipse">
            <a:avLst/>
          </a:prstGeom>
          <a:solidFill>
            <a:schemeClr val="accent2"/>
          </a:solidFill>
          <a:ln w="12700">
            <a:solidFill>
              <a:schemeClr val="bg1"/>
            </a:solidFill>
            <a:prstDash val="solid"/>
          </a:ln>
        </p:spPr>
      </p:sp>
      <p:sp>
        <p:nvSpPr>
          <p:cNvPr id="26" name="Text 23"/>
          <p:cNvSpPr txBox="1"/>
          <p:nvPr/>
        </p:nvSpPr>
        <p:spPr>
          <a:xfrm>
            <a:off x="685800" y="40919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7" name="Text 24"/>
          <p:cNvSpPr txBox="1"/>
          <p:nvPr/>
        </p:nvSpPr>
        <p:spPr>
          <a:xfrm>
            <a:off x="1371600" y="4069080"/>
            <a:ext cx="7040880" cy="502920"/>
          </a:xfrm>
          <a:prstGeom prst="rect">
            <a:avLst/>
          </a:prstGeom>
          <a:noFill/>
          <a:ln/>
        </p:spPr>
        <p:txBody>
          <a:bodyPr wrap="square" lIns="0" tIns="0" rIns="0" bIns="0" rtlCol="0" anchor="ctr"/>
          <a:lstStyle/>
          <a:p>
            <a:pPr marL="0" indent="0">
              <a:buNone/>
            </a:pPr>
            <a:r>
              <a:rPr lang="en-US" sz="1200" b="1" dirty="0">
                <a:solidFill>
                  <a:schemeClr val="tx1"/>
                </a:solidFill>
              </a:rPr>
              <a:t>6 'stared at the ground and said nothing at all'</a:t>
            </a:r>
            <a:r>
              <a:rPr lang="en-US" sz="1200" dirty="0">
                <a:solidFill>
                  <a:schemeClr val="tx1"/>
                </a:solidFill>
              </a:rPr>
              <a:t> = Kesh, defeated. He has given up arguing.</a:t>
            </a:r>
            <a:endParaRPr lang="en-US" sz="16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lIns="0" tIns="0" rIns="0" bIns="0" rtlCol="0" anchor="ctr"/>
          <a:lstStyle/>
          <a:p>
            <a:pPr marL="0" indent="0" algn="l">
              <a:buNone/>
            </a:pPr>
            <a:r>
              <a:rPr lang="en-US" sz="4000" b="1" dirty="0">
                <a:solidFill>
                  <a:schemeClr val="bg1"/>
                </a:solidFill>
              </a:rPr>
              <a:t>Share what you know</a:t>
            </a: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lIns="0" tIns="0" rIns="0" bIns="0" rtlCol="0" anchor="t"/>
          <a:lstStyle/>
          <a:p>
            <a:pPr marL="0" indent="0">
              <a:buNone/>
            </a:pPr>
            <a:r>
              <a:rPr lang="en-US" sz="1800" dirty="0">
                <a:solidFill>
                  <a:schemeClr val="accent1"/>
                </a:solidFill>
              </a:rPr>
              <a:t>Plenary</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Plenary: whose feelings change most?</a:t>
            </a:r>
            <a:endParaRPr lang="en-US" sz="3000" dirty="0"/>
          </a:p>
        </p:txBody>
      </p:sp>
      <p:sp>
        <p:nvSpPr>
          <p:cNvPr id="4" name="card"/>
          <p:cNvSpPr/>
          <p:nvPr/>
        </p:nvSpPr>
        <p:spPr>
          <a:xfrm>
            <a:off x="548640" y="1097280"/>
            <a:ext cx="2560320" cy="1737360"/>
          </a:xfrm>
          <a:prstGeom prst="roundRect">
            <a:avLst>
              <a:gd name="adj" fmla="val 6316"/>
            </a:avLst>
          </a:prstGeom>
          <a:solidFill>
            <a:schemeClr val="bg2"/>
          </a:solidFill>
          <a:ln w="12700">
            <a:solidFill>
              <a:schemeClr val="bg2"/>
            </a:solidFill>
            <a:prstDash val="solid"/>
          </a:ln>
        </p:spPr>
      </p:sp>
      <p:sp>
        <p:nvSpPr>
          <p:cNvPr id="5" name="badge"/>
          <p:cNvSpPr/>
          <p:nvPr/>
        </p:nvSpPr>
        <p:spPr>
          <a:xfrm>
            <a:off x="1463040" y="1188720"/>
            <a:ext cx="731520" cy="731520"/>
          </a:xfrm>
          <a:prstGeom prst="ellipse">
            <a:avLst/>
          </a:prstGeom>
          <a:solidFill>
            <a:schemeClr val="accent4"/>
          </a:solidFill>
          <a:ln w="12700">
            <a:solidFill>
              <a:schemeClr val="accent4"/>
            </a:solidFill>
            <a:prstDash val="solid"/>
          </a:ln>
        </p:spPr>
      </p:sp>
      <p:pic>
        <p:nvPicPr>
          <p:cNvPr id="6" name="icon" descr="heart"/>
          <p:cNvPicPr>
            <a:picLocks noChangeAspect="1"/>
          </p:cNvPicPr>
          <p:nvPr/>
        </p:nvPicPr>
        <p:blipFill>
          <a:blip r:embed="rId3"/>
          <a:stretch>
            <a:fillRect/>
          </a:stretch>
        </p:blipFill>
        <p:spPr>
          <a:xfrm>
            <a:off x="1653235" y="1378915"/>
            <a:ext cx="351130" cy="351130"/>
          </a:xfrm>
          <a:prstGeom prst="rect">
            <a:avLst/>
          </a:prstGeom>
        </p:spPr>
      </p:pic>
      <p:sp>
        <p:nvSpPr>
          <p:cNvPr id="7" name="Text 3"/>
          <p:cNvSpPr txBox="1"/>
          <p:nvPr/>
        </p:nvSpPr>
        <p:spPr>
          <a:xfrm>
            <a:off x="731520" y="2011680"/>
            <a:ext cx="2194560" cy="548640"/>
          </a:xfrm>
          <a:prstGeom prst="rect">
            <a:avLst/>
          </a:prstGeom>
          <a:noFill/>
          <a:ln/>
        </p:spPr>
        <p:txBody>
          <a:bodyPr wrap="square" lIns="0" tIns="0" rIns="0" bIns="0" rtlCol="0" anchor="t"/>
          <a:lstStyle/>
          <a:p>
            <a:pPr marL="0" indent="0" algn="ctr">
              <a:buNone/>
            </a:pPr>
            <a:r>
              <a:rPr lang="en-US" sz="2200" b="1" dirty="0">
                <a:solidFill>
                  <a:schemeClr val="tx1"/>
                </a:solidFill>
              </a:rPr>
              <a:t>Orrin</a:t>
            </a:r>
            <a:endParaRPr lang="en-US" sz="2200" dirty="0"/>
          </a:p>
        </p:txBody>
      </p:sp>
      <p:sp>
        <p:nvSpPr>
          <p:cNvPr id="8" name="card"/>
          <p:cNvSpPr/>
          <p:nvPr/>
        </p:nvSpPr>
        <p:spPr>
          <a:xfrm>
            <a:off x="3291840" y="1097280"/>
            <a:ext cx="2560320" cy="1737360"/>
          </a:xfrm>
          <a:prstGeom prst="roundRect">
            <a:avLst>
              <a:gd name="adj" fmla="val 6316"/>
            </a:avLst>
          </a:prstGeom>
          <a:solidFill>
            <a:schemeClr val="bg2"/>
          </a:solidFill>
          <a:ln w="12700">
            <a:solidFill>
              <a:schemeClr val="bg2"/>
            </a:solidFill>
            <a:prstDash val="solid"/>
          </a:ln>
        </p:spPr>
      </p:sp>
      <p:sp>
        <p:nvSpPr>
          <p:cNvPr id="9" name="badge"/>
          <p:cNvSpPr/>
          <p:nvPr/>
        </p:nvSpPr>
        <p:spPr>
          <a:xfrm>
            <a:off x="4206240" y="1188720"/>
            <a:ext cx="731520" cy="731520"/>
          </a:xfrm>
          <a:prstGeom prst="ellipse">
            <a:avLst/>
          </a:prstGeom>
          <a:solidFill>
            <a:schemeClr val="accent3"/>
          </a:solidFill>
          <a:ln w="12700">
            <a:solidFill>
              <a:schemeClr val="accent3"/>
            </a:solidFill>
            <a:prstDash val="solid"/>
          </a:ln>
        </p:spPr>
      </p:sp>
      <p:pic>
        <p:nvPicPr>
          <p:cNvPr id="10" name="icon" descr="angry"/>
          <p:cNvPicPr>
            <a:picLocks noChangeAspect="1"/>
          </p:cNvPicPr>
          <p:nvPr/>
        </p:nvPicPr>
        <p:blipFill>
          <a:blip r:embed="rId4"/>
          <a:stretch>
            <a:fillRect/>
          </a:stretch>
        </p:blipFill>
        <p:spPr>
          <a:xfrm>
            <a:off x="4396435" y="1378915"/>
            <a:ext cx="351130" cy="351130"/>
          </a:xfrm>
          <a:prstGeom prst="rect">
            <a:avLst/>
          </a:prstGeom>
        </p:spPr>
      </p:pic>
      <p:sp>
        <p:nvSpPr>
          <p:cNvPr id="11" name="Text 6"/>
          <p:cNvSpPr txBox="1"/>
          <p:nvPr/>
        </p:nvSpPr>
        <p:spPr>
          <a:xfrm>
            <a:off x="3474720" y="2011680"/>
            <a:ext cx="2194560" cy="548640"/>
          </a:xfrm>
          <a:prstGeom prst="rect">
            <a:avLst/>
          </a:prstGeom>
          <a:noFill/>
          <a:ln/>
        </p:spPr>
        <p:txBody>
          <a:bodyPr wrap="square" lIns="0" tIns="0" rIns="0" bIns="0" rtlCol="0" anchor="t"/>
          <a:lstStyle/>
          <a:p>
            <a:pPr marL="0" indent="0" algn="ctr">
              <a:buNone/>
            </a:pPr>
            <a:r>
              <a:rPr lang="en-US" sz="2200" b="1" dirty="0">
                <a:solidFill>
                  <a:schemeClr val="tx1"/>
                </a:solidFill>
              </a:rPr>
              <a:t>Kesh</a:t>
            </a:r>
            <a:endParaRPr lang="en-US" sz="2200" dirty="0"/>
          </a:p>
        </p:txBody>
      </p:sp>
      <p:sp>
        <p:nvSpPr>
          <p:cNvPr id="12" name="card"/>
          <p:cNvSpPr/>
          <p:nvPr/>
        </p:nvSpPr>
        <p:spPr>
          <a:xfrm>
            <a:off x="6035040" y="1097280"/>
            <a:ext cx="2560320" cy="1737360"/>
          </a:xfrm>
          <a:prstGeom prst="roundRect">
            <a:avLst>
              <a:gd name="adj" fmla="val 6316"/>
            </a:avLst>
          </a:prstGeom>
          <a:solidFill>
            <a:schemeClr val="bg2"/>
          </a:solidFill>
          <a:ln w="12700">
            <a:solidFill>
              <a:schemeClr val="bg2"/>
            </a:solidFill>
            <a:prstDash val="solid"/>
          </a:ln>
        </p:spPr>
      </p:sp>
      <p:sp>
        <p:nvSpPr>
          <p:cNvPr id="13" name="badge"/>
          <p:cNvSpPr/>
          <p:nvPr/>
        </p:nvSpPr>
        <p:spPr>
          <a:xfrm>
            <a:off x="6949440" y="1188720"/>
            <a:ext cx="731520" cy="731520"/>
          </a:xfrm>
          <a:prstGeom prst="ellipse">
            <a:avLst/>
          </a:prstGeom>
          <a:solidFill>
            <a:schemeClr val="accent2"/>
          </a:solidFill>
          <a:ln w="12700">
            <a:solidFill>
              <a:schemeClr val="accent2"/>
            </a:solidFill>
            <a:prstDash val="solid"/>
          </a:ln>
        </p:spPr>
      </p:sp>
      <p:pic>
        <p:nvPicPr>
          <p:cNvPr id="14" name="icon" descr="smile"/>
          <p:cNvPicPr>
            <a:picLocks noChangeAspect="1"/>
          </p:cNvPicPr>
          <p:nvPr/>
        </p:nvPicPr>
        <p:blipFill>
          <a:blip r:embed="rId5"/>
          <a:stretch>
            <a:fillRect/>
          </a:stretch>
        </p:blipFill>
        <p:spPr>
          <a:xfrm>
            <a:off x="7139635" y="1378915"/>
            <a:ext cx="351130" cy="351130"/>
          </a:xfrm>
          <a:prstGeom prst="rect">
            <a:avLst/>
          </a:prstGeom>
        </p:spPr>
      </p:pic>
      <p:sp>
        <p:nvSpPr>
          <p:cNvPr id="15" name="Text 9"/>
          <p:cNvSpPr txBox="1"/>
          <p:nvPr/>
        </p:nvSpPr>
        <p:spPr>
          <a:xfrm>
            <a:off x="6217920" y="2011680"/>
            <a:ext cx="2194560" cy="548640"/>
          </a:xfrm>
          <a:prstGeom prst="rect">
            <a:avLst/>
          </a:prstGeom>
          <a:noFill/>
          <a:ln/>
        </p:spPr>
        <p:txBody>
          <a:bodyPr wrap="square" lIns="0" tIns="0" rIns="0" bIns="0" rtlCol="0" anchor="t"/>
          <a:lstStyle/>
          <a:p>
            <a:pPr marL="0" indent="0" algn="ctr">
              <a:buNone/>
            </a:pPr>
            <a:r>
              <a:rPr lang="en-US" sz="2200" b="1" dirty="0">
                <a:solidFill>
                  <a:schemeClr val="tx1"/>
                </a:solidFill>
              </a:rPr>
              <a:t>Tamsin</a:t>
            </a:r>
            <a:endParaRPr lang="en-US" sz="2200" dirty="0"/>
          </a:p>
        </p:txBody>
      </p:sp>
      <p:sp>
        <p:nvSpPr>
          <p:cNvPr id="16" name="card"/>
          <p:cNvSpPr/>
          <p:nvPr/>
        </p:nvSpPr>
        <p:spPr>
          <a:xfrm>
            <a:off x="548640" y="3017520"/>
            <a:ext cx="8046720" cy="1600200"/>
          </a:xfrm>
          <a:prstGeom prst="roundRect">
            <a:avLst>
              <a:gd name="adj" fmla="val 6857"/>
            </a:avLst>
          </a:prstGeom>
          <a:solidFill>
            <a:schemeClr val="accent1"/>
          </a:solidFill>
          <a:ln w="12700">
            <a:solidFill>
              <a:schemeClr val="accent1"/>
            </a:solidFill>
            <a:prstDash val="solid"/>
          </a:ln>
        </p:spPr>
      </p:sp>
      <p:sp>
        <p:nvSpPr>
          <p:cNvPr id="17" name="Text 11"/>
          <p:cNvSpPr txBox="1"/>
          <p:nvPr/>
        </p:nvSpPr>
        <p:spPr>
          <a:xfrm>
            <a:off x="822960" y="3017520"/>
            <a:ext cx="7498080" cy="1600200"/>
          </a:xfrm>
          <a:prstGeom prst="rect">
            <a:avLst/>
          </a:prstGeom>
          <a:noFill/>
          <a:ln/>
        </p:spPr>
        <p:txBody>
          <a:bodyPr wrap="square" lIns="0" tIns="0" rIns="0" bIns="0" rtlCol="0" anchor="ctr"/>
          <a:lstStyle/>
          <a:p>
            <a:pPr marL="0" indent="0">
              <a:spcAft>
                <a:spcPts val="300"/>
              </a:spcAft>
              <a:buNone/>
            </a:pPr>
            <a:r>
              <a:rPr lang="en-US" sz="1600" b="1" dirty="0">
                <a:solidFill>
                  <a:schemeClr val="tx1"/>
                </a:solidFill>
              </a:rPr>
              <a:t>Question: in part 4, whose feelings change the most?</a:t>
            </a:r>
            <a:endParaRPr lang="en-US" sz="1600" dirty="0"/>
          </a:p>
          <a:p>
            <a:pPr marL="0" indent="0">
              <a:spcAft>
                <a:spcPts val="300"/>
              </a:spcAft>
              <a:buNone/>
            </a:pPr>
            <a:r>
              <a:rPr lang="en-US" sz="1600" b="1" dirty="0">
                <a:solidFill>
                  <a:schemeClr val="tx1"/>
                </a:solidFill>
              </a:rPr>
              <a:t>1. Think for 30 seconds.</a:t>
            </a:r>
            <a:endParaRPr lang="en-US" sz="1600" dirty="0"/>
          </a:p>
          <a:p>
            <a:pPr marL="0" indent="0">
              <a:spcAft>
                <a:spcPts val="300"/>
              </a:spcAft>
              <a:buNone/>
            </a:pPr>
            <a:r>
              <a:rPr lang="en-US" sz="1600" b="1" dirty="0">
                <a:solidFill>
                  <a:schemeClr val="tx1"/>
                </a:solidFill>
              </a:rPr>
              <a:t>2. Stand by that character.</a:t>
            </a:r>
            <a:endParaRPr lang="en-US" sz="1600" dirty="0"/>
          </a:p>
          <a:p>
            <a:pPr marL="0" indent="0">
              <a:spcAft>
                <a:spcPts val="300"/>
              </a:spcAft>
              <a:buNone/>
            </a:pPr>
            <a:r>
              <a:rPr lang="en-US" sz="1600" b="1" dirty="0">
                <a:solidFill>
                  <a:schemeClr val="tx1"/>
                </a:solidFill>
              </a:rPr>
              <a:t>3. Tell your partner: Feeling, Proof, Because.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plenary</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Orrin:</a:t>
            </a:r>
            <a:r>
              <a:rPr lang="en-US" sz="1400" dirty="0">
                <a:solidFill>
                  <a:schemeClr val="tx1"/>
                </a:solidFill>
              </a:rPr>
              <a:t> amazed, then torn, then he gives in. 'His hand shook', 'how can I turn away?', then he 'lowered his stick'.</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Kesh:</a:t>
            </a:r>
            <a:r>
              <a:rPr lang="en-US" sz="1400" dirty="0">
                <a:solidFill>
                  <a:schemeClr val="tx1"/>
                </a:solidFill>
              </a:rPr>
              <a:t> angry and afraid, then silent and defeated. 'He snapped', then he 'stared at the ground and said nothing at all'.</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Tamsin:</a:t>
            </a:r>
            <a:r>
              <a:rPr lang="en-US" sz="1400" dirty="0">
                <a:solidFill>
                  <a:schemeClr val="tx1"/>
                </a:solidFill>
              </a:rPr>
              <a:t> excited, then nervous, then she offers a compromise. 'Could not stop smiling', 'her heart was pounding', 'send one person to look'.</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Plenary: the best evidence</a:t>
            </a:r>
            <a:endParaRPr lang="en-US" sz="3000" dirty="0"/>
          </a:p>
        </p:txBody>
      </p:sp>
      <p:sp>
        <p:nvSpPr>
          <p:cNvPr id="4" name="card"/>
          <p:cNvSpPr/>
          <p:nvPr/>
        </p:nvSpPr>
        <p:spPr>
          <a:xfrm>
            <a:off x="548640" y="1188720"/>
            <a:ext cx="8046720" cy="3246120"/>
          </a:xfrm>
          <a:prstGeom prst="roundRect">
            <a:avLst>
              <a:gd name="adj" fmla="val 3380"/>
            </a:avLst>
          </a:prstGeom>
          <a:solidFill>
            <a:schemeClr val="bg2"/>
          </a:solidFill>
          <a:ln w="12700">
            <a:solidFill>
              <a:schemeClr val="bg2"/>
            </a:solidFill>
            <a:prstDash val="solid"/>
          </a:ln>
        </p:spPr>
      </p:sp>
      <p:sp>
        <p:nvSpPr>
          <p:cNvPr id="5" name="badge"/>
          <p:cNvSpPr/>
          <p:nvPr/>
        </p:nvSpPr>
        <p:spPr>
          <a:xfrm>
            <a:off x="822960" y="1463040"/>
            <a:ext cx="822960" cy="822960"/>
          </a:xfrm>
          <a:prstGeom prst="ellipse">
            <a:avLst/>
          </a:prstGeom>
          <a:solidFill>
            <a:schemeClr val="accent3"/>
          </a:solidFill>
          <a:ln w="12700">
            <a:solidFill>
              <a:schemeClr val="accent3"/>
            </a:solidFill>
            <a:prstDash val="solid"/>
          </a:ln>
        </p:spPr>
      </p:sp>
      <p:pic>
        <p:nvPicPr>
          <p:cNvPr id="6" name="icon" descr="star"/>
          <p:cNvPicPr>
            <a:picLocks noChangeAspect="1"/>
          </p:cNvPicPr>
          <p:nvPr/>
        </p:nvPicPr>
        <p:blipFill>
          <a:blip r:embed="rId3"/>
          <a:stretch>
            <a:fillRect/>
          </a:stretch>
        </p:blipFill>
        <p:spPr>
          <a:xfrm>
            <a:off x="1036930" y="1677010"/>
            <a:ext cx="395021" cy="395021"/>
          </a:xfrm>
          <a:prstGeom prst="rect">
            <a:avLst/>
          </a:prstGeom>
        </p:spPr>
      </p:pic>
      <p:sp>
        <p:nvSpPr>
          <p:cNvPr id="7" name="Text 3"/>
          <p:cNvSpPr txBox="1"/>
          <p:nvPr/>
        </p:nvSpPr>
        <p:spPr>
          <a:xfrm>
            <a:off x="1920240" y="1463040"/>
            <a:ext cx="6400800" cy="822960"/>
          </a:xfrm>
          <a:prstGeom prst="rect">
            <a:avLst/>
          </a:prstGeom>
          <a:noFill/>
          <a:ln/>
        </p:spPr>
        <p:txBody>
          <a:bodyPr wrap="square" lIns="0" tIns="0" rIns="0" bIns="0" rtlCol="0" anchor="ctr"/>
          <a:lstStyle/>
          <a:p>
            <a:pPr marL="0" indent="0">
              <a:buNone/>
            </a:pPr>
            <a:r>
              <a:rPr lang="en-US" sz="2000" b="1" dirty="0">
                <a:solidFill>
                  <a:schemeClr val="tx1"/>
                </a:solidFill>
              </a:rPr>
              <a:t>Read your best piece of evidence to the class.</a:t>
            </a:r>
            <a:endParaRPr lang="en-US" sz="2000" dirty="0"/>
          </a:p>
        </p:txBody>
      </p:sp>
      <p:sp>
        <p:nvSpPr>
          <p:cNvPr id="8" name="Text 4"/>
          <p:cNvSpPr txBox="1"/>
          <p:nvPr/>
        </p:nvSpPr>
        <p:spPr>
          <a:xfrm>
            <a:off x="1920240" y="2468880"/>
            <a:ext cx="6400800" cy="1645920"/>
          </a:xfrm>
          <a:prstGeom prst="rect">
            <a:avLst/>
          </a:prstGeom>
          <a:noFill/>
          <a:ln/>
        </p:spPr>
        <p:txBody>
          <a:bodyPr wrap="square" lIns="0" tIns="0" rIns="0" bIns="0" rtlCol="0" anchor="t"/>
          <a:lstStyle/>
          <a:p>
            <a:pPr marL="0" indent="0">
              <a:spcAft>
                <a:spcPts val="800"/>
              </a:spcAft>
              <a:buNone/>
            </a:pPr>
            <a:r>
              <a:rPr lang="en-US" sz="1700" dirty="0">
                <a:solidFill>
                  <a:schemeClr val="tx1"/>
                </a:solidFill>
              </a:rPr>
              <a:t>Is it exact words from the text?</a:t>
            </a:r>
            <a:endParaRPr lang="en-US" sz="1700" dirty="0"/>
          </a:p>
          <a:p>
            <a:pPr marL="0" indent="0">
              <a:spcAft>
                <a:spcPts val="800"/>
              </a:spcAft>
              <a:buNone/>
            </a:pPr>
            <a:r>
              <a:rPr lang="en-US" sz="1700" dirty="0">
                <a:solidFill>
                  <a:schemeClr val="tx1"/>
                </a:solidFill>
              </a:rPr>
              <a:t>Does it prove the feeling?</a:t>
            </a:r>
            <a:endParaRPr lang="en-US" sz="1700" dirty="0"/>
          </a:p>
          <a:p>
            <a:pPr marL="0" indent="0">
              <a:spcAft>
                <a:spcPts val="800"/>
              </a:spcAft>
              <a:buNone/>
            </a:pPr>
            <a:r>
              <a:rPr lang="en-US" sz="1700" dirty="0">
                <a:solidFill>
                  <a:schemeClr val="tx1"/>
                </a:solidFill>
              </a:rPr>
              <a:t>Did the 'because' explain it?</a:t>
            </a:r>
            <a:endParaRPr lang="en-US" sz="17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1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Find and copy one word from part 4 that shows Kesh is angry.</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2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'her voice small'. What does this suggest about Tamsin?</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confident</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nervous</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bored</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angry</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3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'Kesh stared at the ground and said nothing at all.' What does this suggest about how Kesh feels?</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4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How does the writer show that Tamsin has mixed feelings? Use evidence from the text.</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Exit ticket</a:t>
            </a:r>
            <a:endParaRPr lang="en-US" sz="3000" dirty="0"/>
          </a:p>
        </p:txBody>
      </p:sp>
      <p:sp>
        <p:nvSpPr>
          <p:cNvPr id="4" name="card"/>
          <p:cNvSpPr/>
          <p:nvPr/>
        </p:nvSpPr>
        <p:spPr>
          <a:xfrm>
            <a:off x="548640" y="1143000"/>
            <a:ext cx="8046720" cy="1005840"/>
          </a:xfrm>
          <a:prstGeom prst="roundRect">
            <a:avLst>
              <a:gd name="adj" fmla="val 10909"/>
            </a:avLst>
          </a:prstGeom>
          <a:solidFill>
            <a:schemeClr val="bg2"/>
          </a:solidFill>
          <a:ln w="12700">
            <a:solidFill>
              <a:schemeClr val="bg2"/>
            </a:solidFill>
            <a:prstDash val="solid"/>
          </a:ln>
        </p:spPr>
      </p:sp>
      <p:sp>
        <p:nvSpPr>
          <p:cNvPr id="5" name="badge"/>
          <p:cNvSpPr/>
          <p:nvPr/>
        </p:nvSpPr>
        <p:spPr>
          <a:xfrm>
            <a:off x="731520" y="1325880"/>
            <a:ext cx="640080" cy="640080"/>
          </a:xfrm>
          <a:prstGeom prst="ellipse">
            <a:avLst/>
          </a:prstGeom>
          <a:solidFill>
            <a:schemeClr val="accent4"/>
          </a:solidFill>
          <a:ln w="12700">
            <a:solidFill>
              <a:schemeClr val="accent4"/>
            </a:solidFill>
            <a:prstDash val="solid"/>
          </a:ln>
        </p:spPr>
      </p:sp>
      <p:pic>
        <p:nvPicPr>
          <p:cNvPr id="6" name="icon" descr="pencil"/>
          <p:cNvPicPr>
            <a:picLocks noChangeAspect="1"/>
          </p:cNvPicPr>
          <p:nvPr/>
        </p:nvPicPr>
        <p:blipFill>
          <a:blip r:embed="rId3"/>
          <a:stretch>
            <a:fillRect/>
          </a:stretch>
        </p:blipFill>
        <p:spPr>
          <a:xfrm>
            <a:off x="897941" y="1492301"/>
            <a:ext cx="307238" cy="307238"/>
          </a:xfrm>
          <a:prstGeom prst="rect">
            <a:avLst/>
          </a:prstGeom>
        </p:spPr>
      </p:pic>
      <p:sp>
        <p:nvSpPr>
          <p:cNvPr id="7" name="Text 3"/>
          <p:cNvSpPr txBox="1"/>
          <p:nvPr/>
        </p:nvSpPr>
        <p:spPr>
          <a:xfrm>
            <a:off x="1600200" y="1143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Complete: _____ feels _____ because the text says '_____'.</a:t>
            </a:r>
            <a:endParaRPr lang="en-US" sz="1600" dirty="0"/>
          </a:p>
        </p:txBody>
      </p:sp>
      <p:sp>
        <p:nvSpPr>
          <p:cNvPr id="8" name="card"/>
          <p:cNvSpPr/>
          <p:nvPr/>
        </p:nvSpPr>
        <p:spPr>
          <a:xfrm>
            <a:off x="548640" y="2286000"/>
            <a:ext cx="8046720" cy="1005840"/>
          </a:xfrm>
          <a:prstGeom prst="roundRect">
            <a:avLst>
              <a:gd name="adj" fmla="val 10909"/>
            </a:avLst>
          </a:prstGeom>
          <a:solidFill>
            <a:schemeClr val="bg2"/>
          </a:solidFill>
          <a:ln w="12700">
            <a:solidFill>
              <a:schemeClr val="bg2"/>
            </a:solidFill>
            <a:prstDash val="solid"/>
          </a:ln>
        </p:spPr>
      </p:sp>
      <p:sp>
        <p:nvSpPr>
          <p:cNvPr id="9" name="badge"/>
          <p:cNvSpPr/>
          <p:nvPr/>
        </p:nvSpPr>
        <p:spPr>
          <a:xfrm>
            <a:off x="731520" y="2468880"/>
            <a:ext cx="640080" cy="640080"/>
          </a:xfrm>
          <a:prstGeom prst="ellipse">
            <a:avLst/>
          </a:prstGeom>
          <a:solidFill>
            <a:schemeClr val="accent2"/>
          </a:solidFill>
          <a:ln w="12700">
            <a:solidFill>
              <a:schemeClr val="accent2"/>
            </a:solidFill>
            <a:prstDash val="solid"/>
          </a:ln>
        </p:spPr>
      </p:sp>
      <p:pic>
        <p:nvPicPr>
          <p:cNvPr id="10" name="icon" descr="star"/>
          <p:cNvPicPr>
            <a:picLocks noChangeAspect="1"/>
          </p:cNvPicPr>
          <p:nvPr/>
        </p:nvPicPr>
        <p:blipFill>
          <a:blip r:embed="rId4"/>
          <a:stretch>
            <a:fillRect/>
          </a:stretch>
        </p:blipFill>
        <p:spPr>
          <a:xfrm>
            <a:off x="897941" y="2635301"/>
            <a:ext cx="307238" cy="307238"/>
          </a:xfrm>
          <a:prstGeom prst="rect">
            <a:avLst/>
          </a:prstGeom>
        </p:spPr>
      </p:pic>
      <p:sp>
        <p:nvSpPr>
          <p:cNvPr id="11" name="Text 6"/>
          <p:cNvSpPr txBox="1"/>
          <p:nvPr/>
        </p:nvSpPr>
        <p:spPr>
          <a:xfrm>
            <a:off x="1600200" y="2286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Write one new feeling word you learnt from the ladder.</a:t>
            </a:r>
            <a:endParaRPr lang="en-US" sz="1600" dirty="0"/>
          </a:p>
        </p:txBody>
      </p:sp>
      <p:sp>
        <p:nvSpPr>
          <p:cNvPr id="12" name="card"/>
          <p:cNvSpPr/>
          <p:nvPr/>
        </p:nvSpPr>
        <p:spPr>
          <a:xfrm>
            <a:off x="548640" y="3429000"/>
            <a:ext cx="8046720" cy="1005840"/>
          </a:xfrm>
          <a:prstGeom prst="roundRect">
            <a:avLst>
              <a:gd name="adj" fmla="val 10909"/>
            </a:avLst>
          </a:prstGeom>
          <a:solidFill>
            <a:schemeClr val="bg2"/>
          </a:solidFill>
          <a:ln w="12700">
            <a:solidFill>
              <a:schemeClr val="bg2"/>
            </a:solidFill>
            <a:prstDash val="solid"/>
          </a:ln>
        </p:spPr>
      </p:sp>
      <p:sp>
        <p:nvSpPr>
          <p:cNvPr id="13" name="badge"/>
          <p:cNvSpPr/>
          <p:nvPr/>
        </p:nvSpPr>
        <p:spPr>
          <a:xfrm>
            <a:off x="731520" y="3611880"/>
            <a:ext cx="640080" cy="640080"/>
          </a:xfrm>
          <a:prstGeom prst="ellipse">
            <a:avLst/>
          </a:prstGeom>
          <a:solidFill>
            <a:schemeClr val="accent3"/>
          </a:solidFill>
          <a:ln w="12700">
            <a:solidFill>
              <a:schemeClr val="accent3"/>
            </a:solidFill>
            <a:prstDash val="solid"/>
          </a:ln>
        </p:spPr>
      </p:sp>
      <p:pic>
        <p:nvPicPr>
          <p:cNvPr id="14" name="icon" descr="hand"/>
          <p:cNvPicPr>
            <a:picLocks noChangeAspect="1"/>
          </p:cNvPicPr>
          <p:nvPr/>
        </p:nvPicPr>
        <p:blipFill>
          <a:blip r:embed="rId5"/>
          <a:stretch>
            <a:fillRect/>
          </a:stretch>
        </p:blipFill>
        <p:spPr>
          <a:xfrm>
            <a:off x="897941" y="3778301"/>
            <a:ext cx="307238" cy="307238"/>
          </a:xfrm>
          <a:prstGeom prst="rect">
            <a:avLst/>
          </a:prstGeom>
        </p:spPr>
      </p:pic>
      <p:sp>
        <p:nvSpPr>
          <p:cNvPr id="15" name="Text 9"/>
          <p:cNvSpPr txBox="1"/>
          <p:nvPr/>
        </p:nvSpPr>
        <p:spPr>
          <a:xfrm>
            <a:off x="1600200" y="3429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How confident do I feel? 1 star = I need help, 2 stars = nearly there, 3 stars = I can teach it.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Model answers: exit ticket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Orrin feels torn</a:t>
            </a:r>
            <a:r>
              <a:rPr lang="en-US" sz="1400" dirty="0">
                <a:solidFill>
                  <a:schemeClr val="tx1"/>
                </a:solidFill>
              </a:rPr>
              <a:t> because the text says 'his hand shook on the hazel stick'. This shows he is amazed and afraid.</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Any feeling word from the ladder,</a:t>
            </a:r>
            <a:r>
              <a:rPr lang="en-US" sz="1400" dirty="0">
                <a:solidFill>
                  <a:schemeClr val="tx1"/>
                </a:solidFill>
              </a:rPr>
              <a:t> for example furious, delighted, uneasy, thrilled.</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Pupils with 1 star</a:t>
            </a:r>
            <a:r>
              <a:rPr lang="en-US" sz="1400" dirty="0">
                <a:solidFill>
                  <a:schemeClr val="tx1"/>
                </a:solidFill>
              </a:rPr>
              <a:t> need the three-part sentence again. </a:t>
            </a:r>
            <a:r>
              <a:rPr lang="en-US" sz="1400" b="1" dirty="0">
                <a:solidFill>
                  <a:schemeClr val="tx1"/>
                </a:solidFill>
              </a:rPr>
              <a:t>Pupils with 3 stars</a:t>
            </a:r>
            <a:r>
              <a:rPr lang="en-US" sz="1400" dirty="0">
                <a:solidFill>
                  <a:schemeClr val="tx1"/>
                </a:solidFill>
              </a:rPr>
              <a:t> can lead a pair in Lesson 3.</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Homework</a:t>
            </a:r>
            <a:endParaRPr lang="en-US" sz="3000" dirty="0"/>
          </a:p>
        </p:txBody>
      </p:sp>
      <p:sp>
        <p:nvSpPr>
          <p:cNvPr id="4" name="Text 1"/>
          <p:cNvSpPr txBox="1"/>
          <p:nvPr/>
        </p:nvSpPr>
        <p:spPr>
          <a:xfrm>
            <a:off x="548640" y="1097280"/>
            <a:ext cx="8046720" cy="548640"/>
          </a:xfrm>
          <a:prstGeom prst="rect">
            <a:avLst/>
          </a:prstGeom>
          <a:noFill/>
          <a:ln/>
        </p:spPr>
        <p:txBody>
          <a:bodyPr wrap="square" lIns="0" tIns="0" rIns="0" bIns="0" rtlCol="0" anchor="t"/>
          <a:lstStyle/>
          <a:p>
            <a:pPr marL="0" indent="0">
              <a:buNone/>
            </a:pPr>
            <a:r>
              <a:rPr lang="en-US" sz="1600" dirty="0">
                <a:solidFill>
                  <a:schemeClr val="tx1"/>
                </a:solidFill>
              </a:rPr>
              <a:t>Choose one character from part 4 and complete the table. Then write the full Feeling, Proof, Because sentence.</a:t>
            </a:r>
            <a:endParaRPr lang="en-US" sz="1600" dirty="0"/>
          </a:p>
        </p:txBody>
      </p:sp>
      <p:graphicFrame>
        <p:nvGraphicFramePr>
          <p:cNvPr id="42" name="homework table"/>
          <p:cNvGraphicFramePr>
            <a:graphicFrameLocks noGrp="1"/>
          </p:cNvGraphicFramePr>
          <p:nvPr>
            <p:extLst>
              <p:ext uri="{D42A27DB-BD31-4B8C-83A1-F6EECF244321}">
                <p14:modId xmlns:p14="http://schemas.microsoft.com/office/powerpoint/2010/main" val="1579011935"/>
              </p:ext>
            </p:extLst>
          </p:nvPr>
        </p:nvGraphicFramePr>
        <p:xfrm>
          <a:off x="548640" y="1737360"/>
          <a:ext cx="80467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Character</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How they feel</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Proof from the text</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Because ...</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685800">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685800">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bl>
          </a:graphicData>
        </a:graphic>
      </p:graphicFrame>
      <p:sp>
        <p:nvSpPr>
          <p:cNvPr id="6" name="card"/>
          <p:cNvSpPr/>
          <p:nvPr/>
        </p:nvSpPr>
        <p:spPr>
          <a:xfrm>
            <a:off x="548640" y="3749040"/>
            <a:ext cx="8046720" cy="822960"/>
          </a:xfrm>
          <a:prstGeom prst="roundRect">
            <a:avLst>
              <a:gd name="adj" fmla="val 13333"/>
            </a:avLst>
          </a:prstGeom>
          <a:solidFill>
            <a:schemeClr val="accent1"/>
          </a:solidFill>
          <a:ln w="12700">
            <a:solidFill>
              <a:schemeClr val="accent1"/>
            </a:solidFill>
            <a:prstDash val="solid"/>
          </a:ln>
        </p:spPr>
      </p:sp>
      <p:sp>
        <p:nvSpPr>
          <p:cNvPr id="7" name="Text 3"/>
          <p:cNvSpPr txBox="1"/>
          <p:nvPr/>
        </p:nvSpPr>
        <p:spPr>
          <a:xfrm>
            <a:off x="731520" y="3749040"/>
            <a:ext cx="7680960" cy="822960"/>
          </a:xfrm>
          <a:prstGeom prst="rect">
            <a:avLst/>
          </a:prstGeom>
          <a:noFill/>
          <a:ln/>
        </p:spPr>
        <p:txBody>
          <a:bodyPr wrap="square" lIns="0" tIns="0" rIns="0" bIns="0" rtlCol="0" anchor="ctr"/>
          <a:lstStyle/>
          <a:p>
            <a:pPr marL="0" indent="0">
              <a:buNone/>
            </a:pPr>
            <a:r>
              <a:rPr lang="en-US" sz="1500" b="1" dirty="0">
                <a:solidFill>
                  <a:schemeClr val="tx1"/>
                </a:solidFill>
              </a:rPr>
              <a:t>Then add one new feeling word to the ladder, and use it in a sentence about the city.</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4"/>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lIns="0" tIns="0" rIns="0" bIns="0" rtlCol="0" anchor="b"/>
          <a:lstStyle/>
          <a:p>
            <a:pPr marL="0" indent="0" algn="l">
              <a:buNone/>
            </a:pPr>
            <a:r>
              <a:rPr lang="en-US" sz="4400" b="1" dirty="0">
                <a:solidFill>
                  <a:schemeClr val="bg1"/>
                </a:solidFill>
              </a:rPr>
              <a:t>Great detective work</a:t>
            </a: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lIns="0" tIns="0" rIns="0" bIns="0" rtlCol="0" anchor="t"/>
          <a:lstStyle/>
          <a:p>
            <a:pPr marL="0" indent="0">
              <a:buNone/>
            </a:pPr>
            <a:r>
              <a:rPr lang="en-US" sz="1800" dirty="0">
                <a:solidFill>
                  <a:schemeClr val="accent1"/>
                </a:solidFill>
              </a:rPr>
              <a:t>Next lesson: reading between the lines</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icPr>
            <a:picLocks noChangeAspect="1"/>
          </p:cNvPicPr>
          <p:nvPr/>
        </p:nvPicPr>
        <p:blipFill>
          <a:blip r:embed="rId3"/>
          <a:stretch>
            <a:fillRect/>
          </a:stretch>
        </p:blipFill>
        <p:spPr>
          <a:xfrm>
            <a:off x="6675120" y="1645920"/>
            <a:ext cx="1371600" cy="1371600"/>
          </a:xfrm>
          <a:prstGeom prst="rect">
            <a:avLst/>
          </a:prstGeom>
        </p:spPr>
      </p:pic>
    </p:spTree>
  </p:cSld>
  <p:clrMapOvr>
    <a:masterClrMapping/>
  </p:clrMapOvr>
</p:sld>
</file>

<file path=ppt/theme/theme1.xml><?xml version="1.0" encoding="utf-8"?>
<a:theme xmlns:a="http://schemas.openxmlformats.org/drawingml/2006/main" name="Fantasy Explorers">
  <a:themeElements>
    <a:clrScheme name="Fantasy Explorers">
      <a:dk1>
        <a:srgbClr val="1F1B3A"/>
      </a:dk1>
      <a:lt1>
        <a:srgbClr val="FFFFFF"/>
      </a:lt1>
      <a:dk2>
        <a:srgbClr val="3B2F63"/>
      </a:dk2>
      <a:lt2>
        <a:srgbClr val="F1EEFA"/>
      </a:lt2>
      <a:accent1>
        <a:srgbClr val="F2A541"/>
      </a:accent1>
      <a:accent2>
        <a:srgbClr val="1E7F74"/>
      </a:accent2>
      <a:accent3>
        <a:srgbClr val="C8553A"/>
      </a:accent3>
      <a:accent4>
        <a:srgbClr val="6A55B8"/>
      </a:accent4>
      <a:accent5>
        <a:srgbClr val="5E8C4F"/>
      </a:accent5>
      <a:accent6>
        <a:srgbClr val="B5851A"/>
      </a:accent6>
      <a:hlink>
        <a:srgbClr val="6A55B8"/>
      </a:hlink>
      <a:folHlink>
        <a:srgbClr val="3B2F63"/>
      </a:folHlink>
    </a:clrScheme>
    <a:fontScheme name="Fantasy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3224</Words>
  <Application>Microsoft Office PowerPoint</Application>
  <PresentationFormat>On-screen Show (16:9)</PresentationFormat>
  <Paragraphs>407</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Fantasy Explorers</vt:lpstr>
      <vt:lpstr>Feelings Detectives</vt:lpstr>
      <vt:lpstr>Today we will</vt:lpstr>
      <vt:lpstr>Recap: what do we remember?</vt:lpstr>
      <vt:lpstr>Answers: recap</vt:lpstr>
      <vt:lpstr>Feelings ladder</vt:lpstr>
      <vt:lpstr>The writer shows, not tells</vt:lpstr>
      <vt:lpstr>Feeling, proof, because</vt:lpstr>
      <vt:lpstr>Part 4: the gates of Aurelia</vt:lpstr>
      <vt:lpstr>The City That Waited: part 4 (a)</vt:lpstr>
      <vt:lpstr>The City That Waited: part 4 (b)</vt:lpstr>
      <vt:lpstr>Stop and think</vt:lpstr>
      <vt:lpstr>Answers: stop and think</vt:lpstr>
      <vt:lpstr>Choose the best answer: question 1 of 4</vt:lpstr>
      <vt:lpstr>Answer: question 1 of 4</vt:lpstr>
      <vt:lpstr>Choose the best answer: question 2 of 4</vt:lpstr>
      <vt:lpstr>Answer: question 2 of 4</vt:lpstr>
      <vt:lpstr>Choose the best answer: question 3 of 4</vt:lpstr>
      <vt:lpstr>Answer: question 3 of 4</vt:lpstr>
      <vt:lpstr>Choose the best answer: question 4 of 4</vt:lpstr>
      <vt:lpstr>Answer: question 4 of 4</vt:lpstr>
      <vt:lpstr>Your mission</vt:lpstr>
      <vt:lpstr>Feelings detective chart</vt:lpstr>
      <vt:lpstr>Answers: feelings detective chart</vt:lpstr>
      <vt:lpstr>Answers: your mission</vt:lpstr>
      <vt:lpstr>Quote bank: match each quote</vt:lpstr>
      <vt:lpstr>Answers: quote bank</vt:lpstr>
      <vt:lpstr>Share what you know</vt:lpstr>
      <vt:lpstr>Plenary: whose feelings change most?</vt:lpstr>
      <vt:lpstr>Answers: plenary</vt:lpstr>
      <vt:lpstr>Plenary: the best evidence</vt:lpstr>
      <vt:lpstr>Exam practice: question 1 of 4</vt:lpstr>
      <vt:lpstr>Exam practice: question 2 of 4</vt:lpstr>
      <vt:lpstr>Exam practice: question 3 of 4</vt:lpstr>
      <vt:lpstr>Exam practice: question 4 of 4</vt:lpstr>
      <vt:lpstr>Exit ticket</vt:lpstr>
      <vt:lpstr>Model answers: exit ticket</vt:lpstr>
      <vt:lpstr>Homework</vt:lpstr>
      <vt:lpstr>Great detective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Lesson 2 - Fantasy reading</dc:title>
  <dc:subject>PptxGenJS Presentation</dc:subject>
  <dc:creator>Year 6 English</dc:creator>
  <cp:lastModifiedBy>Rozan Zakaria@meis-eg.com</cp:lastModifiedBy>
  <cp:revision>2</cp:revision>
  <dcterms:created xsi:type="dcterms:W3CDTF">2026-10-18T22:11:16Z</dcterms:created>
  <dcterms:modified xsi:type="dcterms:W3CDTF">2026-10-19T10:21:20Z</dcterms:modified>
</cp:coreProperties>
</file>