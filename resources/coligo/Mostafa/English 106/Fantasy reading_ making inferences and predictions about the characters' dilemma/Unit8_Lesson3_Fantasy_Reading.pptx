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3" r:id="rId37"/>
    <p:sldId id="295" r:id="rId38"/>
    <p:sldId id="297" r:id="rId39"/>
    <p:sldId id="298" r:id="rId40"/>
    <p:sldId id="299" r:id="rId41"/>
    <p:sldId id="300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43EDFB6-7233-CCC4-D00A-A327F8BC7D2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Read" id="{E61439A8-B92D-A8CD-02B9-B1D51DDD0643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Make" id="{21EA6F15-9A27-1804-BD6B-D39B1EC63108}">
          <p14:sldIdLst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Share" id="{21C62D73-EACD-0B6F-542A-007961C8E7A7}">
          <p14:sldIdLst>
            <p14:sldId id="284"/>
            <p14:sldId id="285"/>
            <p14:sldId id="286"/>
            <p14:sldId id="287"/>
            <p14:sldId id="288"/>
            <p14:sldId id="289"/>
            <p14:sldId id="291"/>
            <p14:sldId id="293"/>
            <p14:sldId id="295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52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80-minute lesson. Timings: Recap 8 | Inference and prediction teaching 14 | Reading part 5 and questions 22 | Main activity 18 | Plenary 6 | Exam practice 8 | Exit ticket 4.
Part 5 of 'The City That Waited' is new today. Pupils need a printed copy for homework (slides 10 and 11 in this deck).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objectives aloud. Ask pupils to rate their confidence with a thumb now and again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minutes. Pairs answer for two minutes, then take answers. Answers are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 any sensible alternative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with the example. Stress: the writer does not tell us, we work it out. Always use a clue from the text plus something we already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Pairs. Say the clue, what you know, and the inference.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clue plus what we know, not just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Contrast: an inference is about what is true now; a prediction is about what will happen next. Both need a reason from the text. Read the sentence frame aloud and ask pupils to complete it orally.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part 5 aloud with expression, then share the reading. Pause after each part. Check 'flask' (a bottle for water) and 'gripped' (held tightly).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aloud. Ask: what is strange about lamps burning but no footprints? Why would a bell ring by itself?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is Orrin's choice? What are the clues on each side? Note the time pressure: until sunset.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answers from pairs. Push for evidence every time.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at a time after pupils have shared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one box and write the letter in their book. Take answers by fingers (1 to 4 for A to D), then reveal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who chose a different option to explain their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one box and write the letter in their book. Take answers by fingers (1 to 4 for A to D), then reveal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who chose a different option to explain their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one box and write the letter in their book. Take answers by fingers (1 to 4 for A to D), then reveal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who chose a different option to explain their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choose one box and write the letter in their book. Take answers by fingers (1 to 4 for A to D), then reveal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pupils who chose a different option to explain their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minutes. Core and Extend: mixed-ability pairs. Support: work with this group and complete the first inference together. Answers follow each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first row with the class. Pupils complete the other rows.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 sensible alternatives. Praise pupils who say what they know, not just the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write two reasons for each side, using the text.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reason that uses the text is acceptable. Ask pupils which side has the strongest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write in their books using the frame. Extend: a second prediction about what they find inside.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predictions are possible. A good one has a decision, a reason from the text, and a result. Do not accept predictions with no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Pupils move to the Stay side or the Leave side of the room, then tell a partner their strongest reason with evidence. Ask: has anyone changed their mind? Model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single right answer. Any choice is correct if the pupil gives evidence from the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Pupils write F (fact stated in the text) or I (inference) for each.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fact is written in the text. An inference is worked out from clues.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question. Pupils write in their books. Reveal the answer slide, then pupils mark and write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question. Pupils write in their books. Reveal the answer slide, then pupils mark and write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question. Pupils write in their books. Reveal the answer slide, then pupils mark and write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minutes per question. Pupils write in their books. Reveal the answer slide, then pupils mark and write the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Pupils write on a sticky note and hand it in. Use it to plan Lesson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strong answer uses an exact quotation and a reason, not just an opinion.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out a printed copy of part 5 (slides 10 and 11) so pupils can complete this at home. Collect it at the start of the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Thumbs check: pupils show their confidence again. Collect exit tickets.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3B2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784"/>
                </a:solidFill>
              </a:rPr>
              <a:t>Year 6 English  |  Unit 8  |  Lesson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Reading Between the Lines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Unit 8 | Lesson 3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Fantasy reading: making inferences and predictions about the characters' dilemma</a:t>
            </a:r>
            <a:endParaRPr lang="en-US" sz="1800" dirty="0"/>
          </a:p>
        </p:txBody>
      </p:sp>
      <p:sp>
        <p:nvSpPr>
          <p:cNvPr id="4" name="motif circle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dragon" descr="drag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 we will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700784"/>
            <a:ext cx="438912" cy="438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Infer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I can use clues in the text to work out what the writer does not say.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" descr="compa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70078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Predict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35204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I can say what might happen next and give a reason from the text.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03504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6858000" y="14630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" descr="ques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1700784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179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Explain a dilemma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62636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I can explain the hard choice a character faces and give reasons for each side.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Recap: what do we remember?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85800" y="12115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542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097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Which word in part 4 showed that Kesh was angry?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85800" y="21259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22686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'Her voice small.' What does this suggest about Tamsin?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685800" y="30403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18302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2926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are the three parts of our evidence sentence?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85800" y="39547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0974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did the dustwyrm's trembling show?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recap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26873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8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snapped</a:t>
            </a:r>
            <a:r>
              <a:rPr lang="en-US" sz="1500" dirty="0">
                <a:solidFill>
                  <a:schemeClr val="tx1"/>
                </a:solidFill>
              </a:rPr>
              <a:t> (accept 'jaw tight').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198882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1602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60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98882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She is nervous or unsure.</a:t>
            </a:r>
            <a:r>
              <a:rPr lang="en-US" sz="1500" dirty="0">
                <a:solidFill>
                  <a:schemeClr val="tx1"/>
                </a:solidFill>
              </a:rPr>
              <a:t> A small voice is quiet.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88036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05181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518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88036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Feeling, Proof, Because.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77190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685800" y="394335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433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7190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It was afraid,</a:t>
            </a:r>
            <a:r>
              <a:rPr lang="en-US" sz="1500" dirty="0">
                <a:solidFill>
                  <a:schemeClr val="tx1"/>
                </a:solidFill>
              </a:rPr>
              <a:t> and it warned that the city was dangerous.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an inference?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abel"/>
          <p:cNvSpPr/>
          <p:nvPr/>
        </p:nvSpPr>
        <p:spPr>
          <a:xfrm>
            <a:off x="68580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Clue from the text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745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</a:rPr>
              <a:t>Sam shivered and pulled his coat tight. His breath made clouds in the air.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291840" y="11430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abel"/>
          <p:cNvSpPr/>
          <p:nvPr/>
        </p:nvSpPr>
        <p:spPr>
          <a:xfrm>
            <a:off x="342900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290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+ What I know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745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People shiver and wear coats when it is very cold.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6035040" y="11430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label"/>
          <p:cNvSpPr/>
          <p:nvPr/>
        </p:nvSpPr>
        <p:spPr>
          <a:xfrm>
            <a:off x="617220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= My inference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18745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a very cold day.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 inference is an idea we work out from clues. The writer does not say it directly.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Inference practice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1082040"/>
          </a:xfrm>
          <a:prstGeom prst="roundRect">
            <a:avLst>
              <a:gd name="adj" fmla="val 101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85800" y="13639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5066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097280"/>
            <a:ext cx="694944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He wiped his forehead and gulped down the whole bottle of water.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What can we infer?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316480"/>
            <a:ext cx="8046720" cy="1082040"/>
          </a:xfrm>
          <a:prstGeom prst="roundRect">
            <a:avLst>
              <a:gd name="adj" fmla="val 101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85800" y="25831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27258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316480"/>
            <a:ext cx="694944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door was open, but the house was silent and dust lay thick on the floor.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What can we infer?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463040" y="3535680"/>
            <a:ext cx="694944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inference practice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 is hot and he is very thirsty.</a:t>
            </a:r>
            <a:r>
              <a:rPr lang="en-US" sz="1400" dirty="0">
                <a:solidFill>
                  <a:schemeClr val="tx1"/>
                </a:solidFill>
              </a:rPr>
              <a:t> Wiping his forehead shows heat, and gulping shows thirst.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286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Nobody has lived there for a long time.</a:t>
            </a:r>
            <a:r>
              <a:rPr lang="en-US" sz="1400" dirty="0">
                <a:solidFill>
                  <a:schemeClr val="tx1"/>
                </a:solidFill>
              </a:rPr>
              <a:t> Silence and thick dust show the house is empty.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a prediction?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39319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Inference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Works out what is true now, using clues.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The dog is afraid of the cave.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663440" y="1143000"/>
            <a:ext cx="39319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Prediction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Says what might happen next, using clues.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560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I predict the dog will run away, because it backed away from the cave.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490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Sentence frame:  I predict that ______ because the text says '______'.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Part 5: the dilemma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Read like a detective: what are the clues, and what will happen next?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City That Waited: part 5 (a)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3444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Orrin tied a rope around Tamsin's waist and held the other end tightly. Step by step, she crossed the gates. Inside, lamps burned in every window, yet there was not a single footprint in the dust. Not one.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"Hello?" she called. Her voice rolled along the empty walls and came back to her, softer each time. Beside the fountain, a silver bell began to ring all by itself.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City That Waited: part 5 (b)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234440"/>
            <a:ext cx="7589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Tamsin hurried back, her face pale. "The water is real," she said, "and the lamps are warm. But nobody has walked here for a very long time. So who lit them?"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Behind them, a dark wall of dust rose over the plain, rolling closer. The last flask was nearly empty. The dustwyrm pressed against Kesh and would not look at the gates.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Orrin gripped his stick. Stay, or run? He had until sunset to choose.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Stop and think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85800" y="12115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542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097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is strange about the city's streets? Which words show it?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85800" y="21259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22686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Why does Tamsin ask, 'So who lit them?'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685800" y="30403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18302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2926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Why is the wall of dust important to Orrin's decision?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85800" y="39547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0974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is Orrin's dilemma?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stop and think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26873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8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Lamps burn but there are no footprints.</a:t>
            </a:r>
            <a:r>
              <a:rPr lang="en-US" sz="1300" dirty="0">
                <a:solidFill>
                  <a:schemeClr val="tx1"/>
                </a:solidFill>
              </a:rPr>
              <a:t> 'Lamps burned in every window' and 'not a single footprint'. Someone lit the lamps, yet nobody walks there.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198882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1602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60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98882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She suspects someone or something unseen is looking after the city.</a:t>
            </a:r>
            <a:r>
              <a:rPr lang="en-US" sz="1300" dirty="0">
                <a:solidFill>
                  <a:schemeClr val="tx1"/>
                </a:solidFill>
              </a:rPr>
              <a:t> Lamps do not light themselves, and she says nobody has walked there for a long time.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88036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05181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518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88036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It makes leaving dangerous and gives them little time.</a:t>
            </a:r>
            <a:r>
              <a:rPr lang="en-US" sz="1300" dirty="0">
                <a:solidFill>
                  <a:schemeClr val="tx1"/>
                </a:solidFill>
              </a:rPr>
              <a:t> The dust is 'rolling closer' and the flask is 'nearly empty'.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77190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685800" y="394335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433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7190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 must choose between two hard options:</a:t>
            </a:r>
            <a:r>
              <a:rPr lang="en-US" sz="1300" dirty="0">
                <a:solidFill>
                  <a:schemeClr val="tx1"/>
                </a:solidFill>
              </a:rPr>
              <a:t> stay in a strange city that may be dangerous, or leave into a dust storm with almost no water.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best answer: question 1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does 'not a single footprint' suggest about the city?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full of travellers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ground is wet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nobody has walked there for a long time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people walk there every day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Answer: question 1 of 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ect letter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C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FD27F"/>
                </a:highlight>
              </a:rPr>
              <a:t>nobody has walked there for a long time</a:t>
            </a:r>
            <a:r>
              <a:rPr lang="en-US" sz="2200" dirty="0">
                <a:solidFill>
                  <a:schemeClr val="tx1"/>
                </a:solidFill>
              </a:rPr>
              <a:t>  (1 mark)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If people walked there, there would be footprints. The writer repeats 'Not one' to stress that the street is empty.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best answer: question 2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does Tamsin return with a pale face?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she is frightened by what she found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she is tired of walking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she is happy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she is hungry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Answer: question 2 of 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ect letter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A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FD27F"/>
                </a:highlight>
              </a:rPr>
              <a:t>she is frightened by what she found</a:t>
            </a:r>
            <a:r>
              <a:rPr lang="en-US" sz="2200" dirty="0">
                <a:solidFill>
                  <a:schemeClr val="tx1"/>
                </a:solidFill>
              </a:rPr>
              <a:t>  (1 mark)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pale face shows fear. She found lamps burning, a bell ringing by itself and no people. Happy or hungry people would not turn pale.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best answer: question 3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does the wall of dust rolling closer show?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weather is perfect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help is coming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travellers have plenty of time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leaving the city will be dangerous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Answer: question 3 of 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ect letter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D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FD27F"/>
                </a:highlight>
              </a:rPr>
              <a:t>leaving the city will be dangerous</a:t>
            </a:r>
            <a:r>
              <a:rPr lang="en-US" sz="2200" dirty="0">
                <a:solidFill>
                  <a:schemeClr val="tx1"/>
                </a:solidFill>
              </a:rPr>
              <a:t>  (1 mark)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dust storm is hard to cross. 'Rolling closer' tells us time is running out, so the choice is urgent.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the best answer: question 4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'The dustwyrm would not look at the gates.' What does this suggest?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excited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afraid of the city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sleepy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is thirsty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Answer: question 4 of 4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rrect letter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B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highlight>
                  <a:srgbClr val="FFD27F"/>
                </a:highlight>
              </a:rPr>
              <a:t>it is afraid of the city</a:t>
            </a:r>
            <a:r>
              <a:rPr lang="en-US" sz="2200" dirty="0">
                <a:solidFill>
                  <a:schemeClr val="tx1"/>
                </a:solidFill>
              </a:rPr>
              <a:t>  (1 mark)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Animals sense danger. The dustwyrm trembled in part 4 and now it turns away. Both clues show fear.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mission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Time: 18 minutes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"/>
          <p:cNvSpPr/>
          <p:nvPr/>
        </p:nvSpPr>
        <p:spPr>
          <a:xfrm>
            <a:off x="685800" y="1197864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con" descr="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40510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0972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Task 1. Work in pairs. Complete the inference chart (next slide): clue, what I know, my inference.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196596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685800" y="206654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on" descr="scrol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2209190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19659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Task 2. Complete the dilemma table: reasons for staying and for leaving.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548640" y="283464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85800" y="293522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" descr="compa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" y="3077870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63040" y="28346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Task 3. Write a prediction about what Orrin will decide, using the sentence frame.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804672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"/>
          <p:cNvSpPr/>
          <p:nvPr/>
        </p:nvSpPr>
        <p:spPr>
          <a:xfrm>
            <a:off x="685800" y="3803904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con" descr="st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" y="3946550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37033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Extend: write a second prediction about what they will find in the city.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Task 1: inference chart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3337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Clue from the text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 know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My inference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'not a single footprint in the dust'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Footprints show people have walked there.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Nobody has walked there for a long time.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'lamps burned in every window'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'a silver bell began to ring all by itself'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'the dustwyrm would not look at the gates'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inference chart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3337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Clue from the text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 know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My inference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'not a single footprint in the dust'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Footprints show people have walked there.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Nobody has walked there for a long time.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'lamps burned in every window'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Someone has to light lamps.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Someone or something unseen is looking after the city.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'a silver bell began to ring all by itself'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Bells need a person or the wind to ring.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The city is magical, or an unseen presence is there.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B3A"/>
                          </a:solidFill>
                        </a:rPr>
                        <a:t>'the dustwyrm would not look at the gates'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Animals sense danger.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B3A"/>
                          </a:solidFill>
                        </a:rPr>
                        <a:t>The dustwyrm is afraid. The city may be dangerous.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Task 2: Orrin's dilemma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39319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ding"/>
          <p:cNvSpPr/>
          <p:nvPr/>
        </p:nvSpPr>
        <p:spPr>
          <a:xfrm>
            <a:off x="731520" y="1280160"/>
            <a:ext cx="356616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Stay in Aurelia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Reasons from the text: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1. ______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2. ______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4663440" y="1143000"/>
            <a:ext cx="39319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eading"/>
          <p:cNvSpPr/>
          <p:nvPr/>
        </p:nvSpPr>
        <p:spPr>
          <a:xfrm>
            <a:off x="4846320" y="1280160"/>
            <a:ext cx="356616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Leave the city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Reasons from the text: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1. ______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2. ______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Orrin's dilemma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39319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ading"/>
          <p:cNvSpPr/>
          <p:nvPr/>
        </p:nvSpPr>
        <p:spPr>
          <a:xfrm>
            <a:off x="731520" y="1280160"/>
            <a:ext cx="356616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Stay in Aurelia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The water is real</a:t>
            </a:r>
            <a:r>
              <a:rPr lang="en-US" sz="1400" dirty="0">
                <a:solidFill>
                  <a:schemeClr val="tx1"/>
                </a:solidFill>
              </a:rPr>
              <a:t> (the fountain).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The lamps are warm,</a:t>
            </a:r>
            <a:r>
              <a:rPr lang="en-US" sz="1400" dirty="0">
                <a:solidFill>
                  <a:schemeClr val="tx1"/>
                </a:solidFill>
              </a:rPr>
              <a:t> so there is shelter and light.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A storm is coming</a:t>
            </a:r>
            <a:r>
              <a:rPr lang="en-US" sz="1400" dirty="0">
                <a:solidFill>
                  <a:schemeClr val="tx1"/>
                </a:solidFill>
              </a:rPr>
              <a:t> and the flask is nearly empty.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663440" y="1143000"/>
            <a:ext cx="393192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eading"/>
          <p:cNvSpPr/>
          <p:nvPr/>
        </p:nvSpPr>
        <p:spPr>
          <a:xfrm>
            <a:off x="4846320" y="1280160"/>
            <a:ext cx="356616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Leave the city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0116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Nobody has walked there for a long time,</a:t>
            </a:r>
            <a:r>
              <a:rPr lang="en-US" sz="1400" dirty="0">
                <a:solidFill>
                  <a:schemeClr val="tx1"/>
                </a:solidFill>
              </a:rPr>
              <a:t> so who lit the lamps?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The bell rang by itself.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highlight>
                  <a:srgbClr val="FFD27F"/>
                </a:highlight>
              </a:rPr>
              <a:t>The dustwyrm is afraid</a:t>
            </a:r>
            <a:r>
              <a:rPr lang="en-US" sz="1400" dirty="0">
                <a:solidFill>
                  <a:schemeClr val="tx1"/>
                </a:solidFill>
              </a:rPr>
              <a:t> and Kesh says animals know when a place is wrong.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Task 3: make a prediction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430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What will Orrin decide? What might happen next?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2423160"/>
            <a:ext cx="80467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423160"/>
            <a:ext cx="7498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 predict that ______ because the text says '______'.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This might lead to ______.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predictions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Stay:</a:t>
            </a:r>
            <a:r>
              <a:rPr lang="en-US" sz="1200" dirty="0">
                <a:solidFill>
                  <a:schemeClr val="tx1"/>
                </a:solidFill>
              </a:rPr>
              <a:t> I predict that Orrin will lead them into the city, because the text says the 'flask was nearly empty' and a wall of dust was 'rolling closer'. This might lead to them meeting whoever lit the lamps.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286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Leave:</a:t>
            </a:r>
            <a:r>
              <a:rPr lang="en-US" sz="1200" dirty="0">
                <a:solidFill>
                  <a:schemeClr val="tx1"/>
                </a:solidFill>
              </a:rPr>
              <a:t> I predict that Orrin will turn back, because 'the dustwyrm would not look at the gates' and Kesh warns it is wrong. This might lead to a dangerous journey in the storm.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47472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7472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Extend:</a:t>
            </a:r>
            <a:r>
              <a:rPr lang="en-US" sz="1200" dirty="0">
                <a:solidFill>
                  <a:schemeClr val="tx1"/>
                </a:solidFill>
              </a:rPr>
              <a:t> I predict that the city will test them, because the bell 'began to ring all by itself'. This might lead to a secret being revealed.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Share what you know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Plenary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Plenary: stay or leave?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2148840" y="11887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con" descr="he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035" y="1378915"/>
            <a:ext cx="351130" cy="3511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Stay</a:t>
            </a:r>
            <a:endParaRPr lang="en-US" sz="220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263640" y="11887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ang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835" y="1378915"/>
            <a:ext cx="351130" cy="3511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4632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Leave</a:t>
            </a:r>
            <a:endParaRPr lang="en-US" sz="2200" dirty="0"/>
          </a:p>
        </p:txBody>
      </p:sp>
      <p:sp>
        <p:nvSpPr>
          <p:cNvPr id="12" name="card"/>
          <p:cNvSpPr/>
          <p:nvPr/>
        </p:nvSpPr>
        <p:spPr>
          <a:xfrm>
            <a:off x="548640" y="2743200"/>
            <a:ext cx="804672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2960" y="27432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If you were Orrin, would you stay or leave?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 Think for 30 seconds.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 Move to your side.</a:t>
            </a:r>
            <a:endParaRPr lang="en-US" sz="16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 Tell your partner: I would ______ because the text says ______.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plenary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7145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7145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Stay:</a:t>
            </a:r>
            <a:r>
              <a:rPr lang="en-US" sz="1500" dirty="0">
                <a:solidFill>
                  <a:schemeClr val="tx1"/>
                </a:solidFill>
              </a:rPr>
              <a:t> I would stay because the text says 'the water is real' and a 'wall of dust' is coming. We would not survive the storm without shelter.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880360"/>
            <a:ext cx="80467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34975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880360"/>
            <a:ext cx="7040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Leave:</a:t>
            </a:r>
            <a:r>
              <a:rPr lang="en-US" sz="1500" dirty="0">
                <a:solidFill>
                  <a:schemeClr val="tx1"/>
                </a:solidFill>
              </a:rPr>
              <a:t> I would leave because the text says 'nobody has walked here for a very long time' and the dustwyrm 'would not look at the gates'. The city is not safe.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Plenary: fact or inference?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685800" y="12115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135422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097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'There was not a single footprint in the dust.'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85800" y="21259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226862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0116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'Nobody has walked there for a long time.'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548640" y="29260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685800" y="30403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18302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2926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'The last flask was nearly empty.'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804672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85800" y="39547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" descr="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40974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3840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'The city is magical.'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Answers: fact or inference?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26873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687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Fact.</a:t>
            </a:r>
            <a:r>
              <a:rPr lang="en-US" sz="1500" dirty="0">
                <a:solidFill>
                  <a:schemeClr val="tx1"/>
                </a:solidFill>
              </a:rPr>
              <a:t> The text says it directly.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198882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16027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602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98882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Inference.</a:t>
            </a:r>
            <a:r>
              <a:rPr lang="en-US" sz="1500" dirty="0">
                <a:solidFill>
                  <a:schemeClr val="tx1"/>
                </a:solidFill>
              </a:rPr>
              <a:t> Footprints are missing, so we work out that no one has walked there.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288036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05181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518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88036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Fact.</a:t>
            </a:r>
            <a:r>
              <a:rPr lang="en-US" sz="1500" dirty="0">
                <a:solidFill>
                  <a:schemeClr val="tx1"/>
                </a:solidFill>
              </a:rPr>
              <a:t> The text says it directly.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771900"/>
            <a:ext cx="8046720" cy="800100"/>
          </a:xfrm>
          <a:prstGeom prst="roundRect">
            <a:avLst>
              <a:gd name="adj" fmla="val 13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"/>
          <p:cNvSpPr/>
          <p:nvPr/>
        </p:nvSpPr>
        <p:spPr>
          <a:xfrm>
            <a:off x="685800" y="394335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433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71900"/>
            <a:ext cx="70408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Inference.</a:t>
            </a:r>
            <a:r>
              <a:rPr lang="en-US" sz="1500" dirty="0">
                <a:solidFill>
                  <a:schemeClr val="tx1"/>
                </a:solidFill>
              </a:rPr>
              <a:t> The bell rang by itself and lamps burn with nobody there, so we infer magic.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Exam practice: question 1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 and copy one phrase from part 5 that shows nobody has walked in the city.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8046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743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4668"/>
                </a:solidFill>
              </a:rPr>
              <a:t>Write your answer in your book.</a:t>
            </a:r>
            <a:endParaRPr lang="en-US" sz="1300" dirty="0"/>
          </a:p>
        </p:txBody>
      </p:sp>
      <p:sp>
        <p:nvSpPr>
          <p:cNvPr id="11" name="answer line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2" name="answer line"/>
          <p:cNvSpPr/>
          <p:nvPr/>
        </p:nvSpPr>
        <p:spPr>
          <a:xfrm>
            <a:off x="822960" y="384048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3" name="answer line"/>
          <p:cNvSpPr/>
          <p:nvPr/>
        </p:nvSpPr>
        <p:spPr>
          <a:xfrm>
            <a:off x="822960" y="425196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Exam practice: question 2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'Tamsin hurried back, her face pale.' What does this suggest about how Tamsin feels?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ick box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calm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2697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ick box"/>
          <p:cNvSpPr/>
          <p:nvPr/>
        </p:nvSpPr>
        <p:spPr>
          <a:xfrm>
            <a:off x="4846320" y="294436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49240" y="26974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frightened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5486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ick box"/>
          <p:cNvSpPr/>
          <p:nvPr/>
        </p:nvSpPr>
        <p:spPr>
          <a:xfrm>
            <a:off x="7315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344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bored</a:t>
            </a:r>
            <a:endParaRPr lang="en-US" sz="1600" dirty="0"/>
          </a:p>
        </p:txBody>
      </p:sp>
      <p:sp>
        <p:nvSpPr>
          <p:cNvPr id="21" name="card"/>
          <p:cNvSpPr/>
          <p:nvPr/>
        </p:nvSpPr>
        <p:spPr>
          <a:xfrm>
            <a:off x="4663440" y="37033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ick box"/>
          <p:cNvSpPr/>
          <p:nvPr/>
        </p:nvSpPr>
        <p:spPr>
          <a:xfrm>
            <a:off x="4846320" y="3950208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49240" y="3703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760720" y="3703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proud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A4668"/>
                </a:solidFill>
              </a:rPr>
              <a:t>Put a cross in one box.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Exam practice: question 3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(1 mark)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'The dustwyrm pressed against Kesh and would not look at the gates.' What does this suggest about the city?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8046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743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4668"/>
                </a:solidFill>
              </a:rPr>
              <a:t>Write your answer in your book.</a:t>
            </a:r>
            <a:endParaRPr lang="en-US" sz="1300" dirty="0"/>
          </a:p>
        </p:txBody>
      </p:sp>
      <p:sp>
        <p:nvSpPr>
          <p:cNvPr id="11" name="answer line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2" name="answer line"/>
          <p:cNvSpPr/>
          <p:nvPr/>
        </p:nvSpPr>
        <p:spPr>
          <a:xfrm>
            <a:off x="822960" y="384048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3" name="answer line"/>
          <p:cNvSpPr/>
          <p:nvPr/>
        </p:nvSpPr>
        <p:spPr>
          <a:xfrm>
            <a:off x="822960" y="425196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Exam practice: question 4 of 4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/>
                </a:solidFill>
              </a:rPr>
              <a:t>(2 marks)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097280"/>
            <a:ext cx="8046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question number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097280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 you think Orrin will decide to do? Use evidence from the text to explain your answer.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80467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743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4668"/>
                </a:solidFill>
              </a:rPr>
              <a:t>Write your answer in your book.</a:t>
            </a:r>
            <a:endParaRPr lang="en-US" sz="1300" dirty="0"/>
          </a:p>
        </p:txBody>
      </p:sp>
      <p:sp>
        <p:nvSpPr>
          <p:cNvPr id="11" name="answer line"/>
          <p:cNvSpPr/>
          <p:nvPr/>
        </p:nvSpPr>
        <p:spPr>
          <a:xfrm>
            <a:off x="822960" y="342900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2" name="answer line"/>
          <p:cNvSpPr/>
          <p:nvPr/>
        </p:nvSpPr>
        <p:spPr>
          <a:xfrm>
            <a:off x="822960" y="384048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13" name="answer line"/>
          <p:cNvSpPr/>
          <p:nvPr/>
        </p:nvSpPr>
        <p:spPr>
          <a:xfrm>
            <a:off x="822960" y="4251960"/>
            <a:ext cx="7498080" cy="0"/>
          </a:xfrm>
          <a:prstGeom prst="line">
            <a:avLst/>
          </a:prstGeom>
          <a:noFill/>
          <a:ln w="12700">
            <a:solidFill>
              <a:srgbClr val="BDB6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Exit ticket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14300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on" descr="penc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49230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1430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Complete: The text says '_____', so I infer that _____.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" descr="compa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263530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2860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Complete: I predict that _____ because _____.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731520" y="36118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" descr="han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77830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0200" y="34290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How confident do I feel? 1 star = I need help, 2 stars = nearly there, 3 stars = I can teach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 answers: exit ticket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09728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09728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text says 'a silver bell began to ring all by itself', so I infer that the city is magical.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228600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2860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 predict that Orrin will lead them into the city because a wall of dust is rolling closer.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474720"/>
            <a:ext cx="80467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47472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Pupils with 1 star</a:t>
            </a:r>
            <a:r>
              <a:rPr lang="en-US" sz="1400" dirty="0">
                <a:solidFill>
                  <a:schemeClr val="tx1"/>
                </a:solidFill>
              </a:rPr>
              <a:t> need the clue plus what I know again. </a:t>
            </a:r>
            <a:r>
              <a:rPr lang="en-US" sz="1400" b="1" dirty="0">
                <a:solidFill>
                  <a:schemeClr val="tx1"/>
                </a:solidFill>
              </a:rPr>
              <a:t>Pupils with 3 stars</a:t>
            </a:r>
            <a:r>
              <a:rPr lang="en-US" sz="1400" dirty="0">
                <a:solidFill>
                  <a:schemeClr val="tx1"/>
                </a:solidFill>
              </a:rPr>
              <a:t> can lead a pair in Lesson 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Homework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Complete the inference table with two clues from part 5. Then write your own prediction.</a:t>
            </a:r>
            <a:endParaRPr lang="en-US" sz="1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Clue from the text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 know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My inference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3749040"/>
            <a:ext cx="80467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 predict that ______ because the text says '______'. This might lead to ______.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36592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78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Great detective work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926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Next lesson: how writers choose their words</a:t>
            </a:r>
            <a:endParaRPr lang="en-US" sz="1800" dirty="0"/>
          </a:p>
        </p:txBody>
      </p:sp>
      <p:sp>
        <p:nvSpPr>
          <p:cNvPr id="4" name="motif circle"/>
          <p:cNvSpPr/>
          <p:nvPr/>
        </p:nvSpPr>
        <p:spPr>
          <a:xfrm>
            <a:off x="6126480" y="1097280"/>
            <a:ext cx="2468880" cy="24688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city" descr="c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ntasy Explorers">
  <a:themeElements>
    <a:clrScheme name="Fantasy Explorers">
      <a:dk1>
        <a:srgbClr val="1F1B3A"/>
      </a:dk1>
      <a:lt1>
        <a:srgbClr val="FFFFFF"/>
      </a:lt1>
      <a:dk2>
        <a:srgbClr val="3B2F63"/>
      </a:dk2>
      <a:lt2>
        <a:srgbClr val="F1EEFA"/>
      </a:lt2>
      <a:accent1>
        <a:srgbClr val="F2A541"/>
      </a:accent1>
      <a:accent2>
        <a:srgbClr val="1E7F74"/>
      </a:accent2>
      <a:accent3>
        <a:srgbClr val="C8553A"/>
      </a:accent3>
      <a:accent4>
        <a:srgbClr val="6A55B8"/>
      </a:accent4>
      <a:accent5>
        <a:srgbClr val="5E8C4F"/>
      </a:accent5>
      <a:accent6>
        <a:srgbClr val="B5851A"/>
      </a:accent6>
      <a:hlink>
        <a:srgbClr val="6A55B8"/>
      </a:hlink>
      <a:folHlink>
        <a:srgbClr val="3B2F63"/>
      </a:folHlink>
    </a:clrScheme>
    <a:fontScheme name="Fantasy Explor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3238</Words>
  <Application>Microsoft Office PowerPoint</Application>
  <PresentationFormat>On-screen Show (16:9)</PresentationFormat>
  <Paragraphs>395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Fantasy Explorers</vt:lpstr>
      <vt:lpstr>Reading Between the Lines</vt:lpstr>
      <vt:lpstr>Today we will</vt:lpstr>
      <vt:lpstr>Recap: what do we remember?</vt:lpstr>
      <vt:lpstr>Answers: recap</vt:lpstr>
      <vt:lpstr>What is an inference?</vt:lpstr>
      <vt:lpstr>Inference practice</vt:lpstr>
      <vt:lpstr>Answers: inference practice</vt:lpstr>
      <vt:lpstr>What is a prediction?</vt:lpstr>
      <vt:lpstr>Part 5: the dilemma</vt:lpstr>
      <vt:lpstr>The City That Waited: part 5 (a)</vt:lpstr>
      <vt:lpstr>The City That Waited: part 5 (b)</vt:lpstr>
      <vt:lpstr>Stop and think</vt:lpstr>
      <vt:lpstr>Answers: stop and think</vt:lpstr>
      <vt:lpstr>Choose the best answer: question 1 of 4</vt:lpstr>
      <vt:lpstr>Answer: question 1 of 4</vt:lpstr>
      <vt:lpstr>Choose the best answer: question 2 of 4</vt:lpstr>
      <vt:lpstr>Answer: question 2 of 4</vt:lpstr>
      <vt:lpstr>Choose the best answer: question 3 of 4</vt:lpstr>
      <vt:lpstr>Answer: question 3 of 4</vt:lpstr>
      <vt:lpstr>Choose the best answer: question 4 of 4</vt:lpstr>
      <vt:lpstr>Answer: question 4 of 4</vt:lpstr>
      <vt:lpstr>Your mission</vt:lpstr>
      <vt:lpstr>Task 1: inference chart</vt:lpstr>
      <vt:lpstr>Answers: inference chart</vt:lpstr>
      <vt:lpstr>Task 2: Orrin's dilemma</vt:lpstr>
      <vt:lpstr>Answers: Orrin's dilemma</vt:lpstr>
      <vt:lpstr>Task 3: make a prediction</vt:lpstr>
      <vt:lpstr>Answers: predictions</vt:lpstr>
      <vt:lpstr>Share what you know</vt:lpstr>
      <vt:lpstr>Plenary: stay or leave?</vt:lpstr>
      <vt:lpstr>Answers: plenary</vt:lpstr>
      <vt:lpstr>Plenary: fact or inference?</vt:lpstr>
      <vt:lpstr>Answers: fact or inference?</vt:lpstr>
      <vt:lpstr>Exam practice: question 1 of 4</vt:lpstr>
      <vt:lpstr>Exam practice: question 2 of 4</vt:lpstr>
      <vt:lpstr>Exam practice: question 3 of 4</vt:lpstr>
      <vt:lpstr>Exam practice: question 4 of 4</vt:lpstr>
      <vt:lpstr>Exit ticket</vt:lpstr>
      <vt:lpstr>Model answers: exit ticket</vt:lpstr>
      <vt:lpstr>Homework</vt:lpstr>
      <vt:lpstr>Great detective 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Lesson 3 - Fantasy reading</dc:title>
  <dc:subject>PptxGenJS Presentation</dc:subject>
  <dc:creator>Year 6 English</dc:creator>
  <cp:lastModifiedBy>Rozan Zakaria@meis-eg.com</cp:lastModifiedBy>
  <cp:revision>3</cp:revision>
  <dcterms:created xsi:type="dcterms:W3CDTF">2026-10-18T22:16:34Z</dcterms:created>
  <dcterms:modified xsi:type="dcterms:W3CDTF">2026-10-20T07:46:04Z</dcterms:modified>
</cp:coreProperties>
</file>