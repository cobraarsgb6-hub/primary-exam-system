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1026"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7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8046720" y="914400"/>
            <a:ext cx="3108960" cy="1828800"/>
          </a:xfrm>
          <a:prstGeom prst="roundRect">
            <a:avLst/>
          </a:prstGeom>
          <a:solidFill>
            <a:srgbClr val="22918F"/>
          </a:solidFill>
          <a:ln w="12700">
            <a:solidFill>
              <a:srgbClr val="22918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8869680" y="3063240"/>
            <a:ext cx="2468880" cy="1371600"/>
          </a:xfrm>
          <a:prstGeom prst="roundRect">
            <a:avLst/>
          </a:prstGeom>
          <a:solidFill>
            <a:srgbClr val="F0B248"/>
          </a:solidFill>
          <a:ln w="12700">
            <a:solidFill>
              <a:srgbClr val="F0B2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040880" y="4526280"/>
            <a:ext cx="3291840" cy="1097280"/>
          </a:xfrm>
          <a:prstGeom prst="roundRect">
            <a:avLst/>
          </a:prstGeom>
          <a:solidFill>
            <a:srgbClr val="43526E"/>
          </a:solidFill>
          <a:ln w="12700">
            <a:solidFill>
              <a:srgbClr val="4352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1051560"/>
            <a:ext cx="6126480" cy="2286000"/>
          </a:xfrm>
          <a:prstGeom prst="rect">
            <a:avLst/>
          </a:prstGeom>
          <a:noFill/>
        </p:spPr>
        <p:txBody>
          <a:bodyPr wrap="square" lIns="73152" rIns="73152">
            <a:spAutoFit/>
          </a:bodyPr>
          <a:lstStyle/>
          <a:p>
            <a:pPr algn="l">
              <a:defRPr sz="3400" b="1">
                <a:solidFill>
                  <a:srgbClr val="FFFFFF"/>
                </a:solidFill>
                <a:latin typeface="Aptos"/>
              </a:defRPr>
            </a:pPr>
            <a:r>
              <a:rPr dirty="0"/>
              <a:t>FICTION</a:t>
            </a:r>
            <a:br>
              <a:rPr dirty="0"/>
            </a:br>
            <a:r>
              <a:rPr dirty="0"/>
              <a:t>vs</a:t>
            </a:r>
            <a:br>
              <a:rPr dirty="0"/>
            </a:br>
            <a:r>
              <a:rPr dirty="0"/>
              <a:t>NON-FICTION</a:t>
            </a:r>
          </a:p>
        </p:txBody>
      </p:sp>
      <p:sp>
        <p:nvSpPr>
          <p:cNvPr id="7" name="TextBox 6"/>
          <p:cNvSpPr txBox="1"/>
          <p:nvPr/>
        </p:nvSpPr>
        <p:spPr>
          <a:xfrm>
            <a:off x="-7772" y="3258271"/>
            <a:ext cx="7330744" cy="954107"/>
          </a:xfrm>
          <a:prstGeom prst="rect">
            <a:avLst/>
          </a:prstGeom>
          <a:noFill/>
        </p:spPr>
        <p:txBody>
          <a:bodyPr wrap="square" lIns="73152" rIns="73152">
            <a:spAutoFit/>
          </a:bodyPr>
          <a:lstStyle/>
          <a:p>
            <a:pPr algn="l">
              <a:defRPr sz="1900" b="0">
                <a:solidFill>
                  <a:srgbClr val="DAE2EF"/>
                </a:solidFill>
                <a:latin typeface="Aptos"/>
              </a:defRPr>
            </a:pPr>
            <a:r>
              <a:rPr sz="2800" dirty="0"/>
              <a:t>The same subject. Two different purposes.</a:t>
            </a:r>
            <a:br>
              <a:rPr sz="2800" dirty="0"/>
            </a:br>
            <a:r>
              <a:rPr sz="2800" dirty="0"/>
              <a:t>A Checkpoint Reading Detective lesson</a:t>
            </a:r>
          </a:p>
        </p:txBody>
      </p:sp>
      <p:sp>
        <p:nvSpPr>
          <p:cNvPr id="8" name="Rounded Rectangle 7"/>
          <p:cNvSpPr/>
          <p:nvPr/>
        </p:nvSpPr>
        <p:spPr>
          <a:xfrm>
            <a:off x="731520" y="4983479"/>
            <a:ext cx="4062902" cy="560791"/>
          </a:xfrm>
          <a:prstGeom prst="roundRect">
            <a:avLst/>
          </a:prstGeom>
          <a:solidFill>
            <a:srgbClr val="22918F"/>
          </a:solidFill>
          <a:ln w="12700">
            <a:solidFill>
              <a:srgbClr val="22918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58952" y="5056632"/>
            <a:ext cx="3479416" cy="461665"/>
          </a:xfrm>
          <a:prstGeom prst="rect">
            <a:avLst/>
          </a:prstGeom>
          <a:noFill/>
        </p:spPr>
        <p:txBody>
          <a:bodyPr wrap="square" lIns="73152" rIns="73152">
            <a:spAutoFit/>
          </a:bodyPr>
          <a:lstStyle/>
          <a:p>
            <a:pPr algn="ctr">
              <a:defRPr sz="1000" b="1">
                <a:solidFill>
                  <a:srgbClr val="FFFFFF"/>
                </a:solidFill>
                <a:latin typeface="Aptos"/>
              </a:defRPr>
            </a:pPr>
            <a:r>
              <a:rPr sz="2400" dirty="0"/>
              <a:t>YEAR 6 • CHECKPOINT</a:t>
            </a:r>
          </a:p>
        </p:txBody>
      </p:sp>
      <p:sp>
        <p:nvSpPr>
          <p:cNvPr id="10" name="TextBox 9"/>
          <p:cNvSpPr txBox="1"/>
          <p:nvPr/>
        </p:nvSpPr>
        <p:spPr>
          <a:xfrm>
            <a:off x="685800" y="5753713"/>
            <a:ext cx="5852160" cy="830997"/>
          </a:xfrm>
          <a:prstGeom prst="rect">
            <a:avLst/>
          </a:prstGeom>
          <a:noFill/>
        </p:spPr>
        <p:txBody>
          <a:bodyPr wrap="square" lIns="73152" rIns="73152">
            <a:spAutoFit/>
          </a:bodyPr>
          <a:lstStyle/>
          <a:p>
            <a:pPr algn="l">
              <a:defRPr sz="1300" b="1">
                <a:solidFill>
                  <a:srgbClr val="F0B248"/>
                </a:solidFill>
                <a:latin typeface="Aptos"/>
              </a:defRPr>
            </a:pPr>
            <a:r>
              <a:rPr sz="2400" dirty="0"/>
              <a:t>Lesson focus: </a:t>
            </a:r>
            <a:endParaRPr lang="ar-EG" sz="2400" dirty="0"/>
          </a:p>
          <a:p>
            <a:pPr algn="l">
              <a:defRPr sz="1300" b="1">
                <a:solidFill>
                  <a:srgbClr val="F0B248"/>
                </a:solidFill>
                <a:latin typeface="Aptos"/>
              </a:defRPr>
            </a:pPr>
            <a:r>
              <a:rPr sz="2400" dirty="0"/>
              <a:t>identify • compare • justify with evidence</a:t>
            </a:r>
          </a:p>
        </p:txBody>
      </p:sp>
      <p:sp>
        <p:nvSpPr>
          <p:cNvPr id="11" name="Rounded Rectangle 10"/>
          <p:cNvSpPr/>
          <p:nvPr/>
        </p:nvSpPr>
        <p:spPr>
          <a:xfrm>
            <a:off x="7818120" y="1143000"/>
            <a:ext cx="2468880" cy="1371600"/>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955279" y="1371600"/>
            <a:ext cx="2194560" cy="320040"/>
          </a:xfrm>
          <a:prstGeom prst="rect">
            <a:avLst/>
          </a:prstGeom>
          <a:noFill/>
        </p:spPr>
        <p:txBody>
          <a:bodyPr wrap="square" lIns="73152" rIns="73152">
            <a:spAutoFit/>
          </a:bodyPr>
          <a:lstStyle/>
          <a:p>
            <a:pPr algn="ctr">
              <a:defRPr sz="1700" b="1">
                <a:solidFill>
                  <a:srgbClr val="17233B"/>
                </a:solidFill>
                <a:latin typeface="Aptos"/>
              </a:defRPr>
            </a:pPr>
            <a:r>
              <a:t>FICTION</a:t>
            </a:r>
          </a:p>
        </p:txBody>
      </p:sp>
      <p:sp>
        <p:nvSpPr>
          <p:cNvPr id="13" name="TextBox 12"/>
          <p:cNvSpPr txBox="1"/>
          <p:nvPr/>
        </p:nvSpPr>
        <p:spPr>
          <a:xfrm>
            <a:off x="8100212" y="1783080"/>
            <a:ext cx="2194560" cy="707886"/>
          </a:xfrm>
          <a:prstGeom prst="rect">
            <a:avLst/>
          </a:prstGeom>
          <a:noFill/>
        </p:spPr>
        <p:txBody>
          <a:bodyPr wrap="square" lIns="73152" rIns="73152">
            <a:spAutoFit/>
          </a:bodyPr>
          <a:lstStyle/>
          <a:p>
            <a:pPr algn="ctr">
              <a:defRPr sz="1100" b="0">
                <a:solidFill>
                  <a:srgbClr val="5C6570"/>
                </a:solidFill>
                <a:latin typeface="Aptos"/>
              </a:defRPr>
            </a:pPr>
            <a:r>
              <a:rPr sz="2000" dirty="0">
                <a:highlight>
                  <a:srgbClr val="FFFF00"/>
                </a:highlight>
              </a:rPr>
              <a:t>characters • </a:t>
            </a:r>
            <a:endParaRPr lang="ar-EG" sz="2000" dirty="0">
              <a:highlight>
                <a:srgbClr val="FFFF00"/>
              </a:highlight>
            </a:endParaRPr>
          </a:p>
          <a:p>
            <a:pPr algn="ctr">
              <a:defRPr sz="1100" b="0">
                <a:solidFill>
                  <a:srgbClr val="5C6570"/>
                </a:solidFill>
                <a:latin typeface="Aptos"/>
              </a:defRPr>
            </a:pPr>
            <a:r>
              <a:rPr sz="2000" dirty="0">
                <a:highlight>
                  <a:srgbClr val="FFFF00"/>
                </a:highlight>
              </a:rPr>
              <a:t>plot • </a:t>
            </a:r>
            <a:r>
              <a:rPr lang="en-US" sz="2000" dirty="0">
                <a:highlight>
                  <a:srgbClr val="FFFF00"/>
                </a:highlight>
              </a:rPr>
              <a:t>i</a:t>
            </a:r>
            <a:r>
              <a:rPr sz="2000" dirty="0">
                <a:highlight>
                  <a:srgbClr val="FFFF00"/>
                </a:highlight>
              </a:rPr>
              <a:t>magination</a:t>
            </a:r>
          </a:p>
        </p:txBody>
      </p:sp>
      <p:sp>
        <p:nvSpPr>
          <p:cNvPr id="14" name="Rounded Rectangle 13"/>
          <p:cNvSpPr/>
          <p:nvPr/>
        </p:nvSpPr>
        <p:spPr>
          <a:xfrm>
            <a:off x="8275320" y="3310128"/>
            <a:ext cx="1828800" cy="868680"/>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66760" y="3502152"/>
            <a:ext cx="1645920" cy="228600"/>
          </a:xfrm>
          <a:prstGeom prst="rect">
            <a:avLst/>
          </a:prstGeom>
          <a:noFill/>
        </p:spPr>
        <p:txBody>
          <a:bodyPr wrap="square" lIns="73152" rIns="73152">
            <a:spAutoFit/>
          </a:bodyPr>
          <a:lstStyle/>
          <a:p>
            <a:pPr algn="ctr">
              <a:defRPr sz="1600" b="1">
                <a:solidFill>
                  <a:srgbClr val="17233B"/>
                </a:solidFill>
                <a:latin typeface="Aptos"/>
              </a:defRPr>
            </a:pPr>
            <a:r>
              <a:t>FACTS</a:t>
            </a:r>
          </a:p>
        </p:txBody>
      </p:sp>
      <p:sp>
        <p:nvSpPr>
          <p:cNvPr id="16" name="TextBox 15"/>
          <p:cNvSpPr txBox="1"/>
          <p:nvPr/>
        </p:nvSpPr>
        <p:spPr>
          <a:xfrm>
            <a:off x="9392371" y="3703320"/>
            <a:ext cx="2011680" cy="830997"/>
          </a:xfrm>
          <a:prstGeom prst="rect">
            <a:avLst/>
          </a:prstGeom>
          <a:noFill/>
        </p:spPr>
        <p:txBody>
          <a:bodyPr wrap="square" lIns="73152" rIns="73152">
            <a:spAutoFit/>
          </a:bodyPr>
          <a:lstStyle/>
          <a:p>
            <a:pPr algn="ctr">
              <a:defRPr sz="1100" b="0">
                <a:solidFill>
                  <a:srgbClr val="FFFFFF"/>
                </a:solidFill>
                <a:latin typeface="Aptos"/>
              </a:defRPr>
            </a:pPr>
            <a:r>
              <a:rPr sz="2400" dirty="0">
                <a:solidFill>
                  <a:schemeClr val="accent2">
                    <a:lumMod val="50000"/>
                  </a:schemeClr>
                </a:solidFill>
                <a:highlight>
                  <a:srgbClr val="FFFF00"/>
                </a:highlight>
              </a:rPr>
              <a:t>evidence • information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47472"/>
            <a:ext cx="914400" cy="73152"/>
          </a:xfrm>
          <a:prstGeom prst="rect">
            <a:avLst/>
          </a:prstGeom>
          <a:solidFill>
            <a:srgbClr val="2291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457200"/>
            <a:ext cx="5029200" cy="320040"/>
          </a:xfrm>
          <a:prstGeom prst="rect">
            <a:avLst/>
          </a:prstGeom>
          <a:noFill/>
        </p:spPr>
        <p:txBody>
          <a:bodyPr wrap="none">
            <a:spAutoFit/>
          </a:bodyPr>
          <a:lstStyle/>
          <a:p>
            <a:pPr>
              <a:defRPr sz="1000" b="1">
                <a:solidFill>
                  <a:srgbClr val="22918F"/>
                </a:solidFill>
              </a:defRPr>
            </a:pPr>
            <a:r>
              <a:rPr dirty="0"/>
              <a:t>LESSON LAUNCH</a:t>
            </a:r>
          </a:p>
        </p:txBody>
      </p:sp>
      <p:sp>
        <p:nvSpPr>
          <p:cNvPr id="5" name="TextBox 4"/>
          <p:cNvSpPr txBox="1"/>
          <p:nvPr/>
        </p:nvSpPr>
        <p:spPr>
          <a:xfrm>
            <a:off x="11292840" y="384048"/>
            <a:ext cx="411480" cy="274320"/>
          </a:xfrm>
          <a:prstGeom prst="rect">
            <a:avLst/>
          </a:prstGeom>
          <a:noFill/>
        </p:spPr>
        <p:txBody>
          <a:bodyPr wrap="none">
            <a:spAutoFit/>
          </a:bodyPr>
          <a:lstStyle/>
          <a:p>
            <a:pPr algn="r">
              <a:defRPr sz="1000">
                <a:solidFill>
                  <a:srgbClr val="5C6570"/>
                </a:solidFill>
              </a:defRPr>
            </a:pPr>
            <a:r>
              <a:t>2</a:t>
            </a:r>
          </a:p>
        </p:txBody>
      </p:sp>
      <p:sp>
        <p:nvSpPr>
          <p:cNvPr id="6" name="TextBox 5"/>
          <p:cNvSpPr txBox="1"/>
          <p:nvPr/>
        </p:nvSpPr>
        <p:spPr>
          <a:xfrm>
            <a:off x="594360" y="6473952"/>
            <a:ext cx="7315200" cy="201168"/>
          </a:xfrm>
          <a:prstGeom prst="rect">
            <a:avLst/>
          </a:prstGeom>
          <a:noFill/>
        </p:spPr>
        <p:txBody>
          <a:bodyPr wrap="square" lIns="73152" rIns="73152">
            <a:spAutoFit/>
          </a:bodyPr>
          <a:lstStyle/>
          <a:p>
            <a:pPr algn="l">
              <a:defRPr sz="900" b="0">
                <a:solidFill>
                  <a:srgbClr val="5C6570"/>
                </a:solidFill>
                <a:latin typeface="Aptos"/>
              </a:defRPr>
            </a:pPr>
            <a:r>
              <a:t>Year 6 • Cambridge Primary Checkpoint preparation</a:t>
            </a:r>
          </a:p>
        </p:txBody>
      </p:sp>
      <p:sp>
        <p:nvSpPr>
          <p:cNvPr id="7" name="TextBox 6"/>
          <p:cNvSpPr txBox="1"/>
          <p:nvPr/>
        </p:nvSpPr>
        <p:spPr>
          <a:xfrm>
            <a:off x="594360" y="822960"/>
            <a:ext cx="10972800" cy="685800"/>
          </a:xfrm>
          <a:prstGeom prst="rect">
            <a:avLst/>
          </a:prstGeom>
          <a:noFill/>
        </p:spPr>
        <p:txBody>
          <a:bodyPr wrap="square">
            <a:spAutoFit/>
          </a:bodyPr>
          <a:lstStyle/>
          <a:p>
            <a:pPr>
              <a:defRPr sz="2800" b="1">
                <a:solidFill>
                  <a:srgbClr val="17233B"/>
                </a:solidFill>
                <a:latin typeface="Aptos Display"/>
              </a:defRPr>
            </a:pPr>
            <a:r>
              <a:t>Today’s Big Question</a:t>
            </a:r>
          </a:p>
        </p:txBody>
      </p:sp>
      <p:sp>
        <p:nvSpPr>
          <p:cNvPr id="8" name="TextBox 7"/>
          <p:cNvSpPr txBox="1"/>
          <p:nvPr/>
        </p:nvSpPr>
        <p:spPr>
          <a:xfrm>
            <a:off x="621792" y="1508760"/>
            <a:ext cx="7707623" cy="461665"/>
          </a:xfrm>
          <a:prstGeom prst="rect">
            <a:avLst/>
          </a:prstGeom>
          <a:noFill/>
        </p:spPr>
        <p:txBody>
          <a:bodyPr wrap="none">
            <a:spAutoFit/>
          </a:bodyPr>
          <a:lstStyle/>
          <a:p>
            <a:pPr>
              <a:defRPr sz="1300">
                <a:solidFill>
                  <a:srgbClr val="5C6570"/>
                </a:solidFill>
                <a:latin typeface="Aptos"/>
              </a:defRPr>
            </a:pPr>
            <a:r>
              <a:rPr sz="2400" dirty="0"/>
              <a:t>How can we prove whether a text is fiction or non-fiction?</a:t>
            </a:r>
          </a:p>
        </p:txBody>
      </p:sp>
      <p:sp>
        <p:nvSpPr>
          <p:cNvPr id="9" name="Rounded Rectangle 8"/>
          <p:cNvSpPr/>
          <p:nvPr/>
        </p:nvSpPr>
        <p:spPr>
          <a:xfrm>
            <a:off x="731520" y="2098548"/>
            <a:ext cx="10698480" cy="2468880"/>
          </a:xfrm>
          <a:prstGeom prst="roundRect">
            <a:avLst/>
          </a:prstGeom>
          <a:solidFill>
            <a:srgbClr val="FFFFFF"/>
          </a:solidFill>
          <a:ln w="12700">
            <a:solidFill>
              <a:srgbClr val="E6ED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51560" y="2331720"/>
            <a:ext cx="4572000" cy="548640"/>
          </a:xfrm>
          <a:prstGeom prst="rect">
            <a:avLst/>
          </a:prstGeom>
          <a:noFill/>
        </p:spPr>
        <p:txBody>
          <a:bodyPr wrap="square" lIns="73152" rIns="73152">
            <a:spAutoFit/>
          </a:bodyPr>
          <a:lstStyle/>
          <a:p>
            <a:pPr algn="l">
              <a:defRPr sz="3100" b="1">
                <a:solidFill>
                  <a:srgbClr val="22918F"/>
                </a:solidFill>
                <a:latin typeface="Aptos"/>
              </a:defRPr>
            </a:pPr>
            <a:r>
              <a:t>DON’T GUESS.</a:t>
            </a:r>
          </a:p>
        </p:txBody>
      </p:sp>
      <p:sp>
        <p:nvSpPr>
          <p:cNvPr id="11" name="TextBox 10"/>
          <p:cNvSpPr txBox="1"/>
          <p:nvPr/>
        </p:nvSpPr>
        <p:spPr>
          <a:xfrm>
            <a:off x="1051560" y="2971800"/>
            <a:ext cx="7132320" cy="640080"/>
          </a:xfrm>
          <a:prstGeom prst="rect">
            <a:avLst/>
          </a:prstGeom>
          <a:noFill/>
        </p:spPr>
        <p:txBody>
          <a:bodyPr wrap="square" lIns="73152" rIns="73152">
            <a:spAutoFit/>
          </a:bodyPr>
          <a:lstStyle/>
          <a:p>
            <a:pPr algn="l">
              <a:defRPr sz="2900" b="1">
                <a:solidFill>
                  <a:srgbClr val="17233B"/>
                </a:solidFill>
                <a:latin typeface="Aptos"/>
              </a:defRPr>
            </a:pPr>
            <a:r>
              <a:t>PROVE IT FROM THE TEXT.</a:t>
            </a:r>
          </a:p>
        </p:txBody>
      </p:sp>
      <p:sp>
        <p:nvSpPr>
          <p:cNvPr id="12" name="TextBox 11"/>
          <p:cNvSpPr txBox="1"/>
          <p:nvPr/>
        </p:nvSpPr>
        <p:spPr>
          <a:xfrm>
            <a:off x="1078992" y="3703320"/>
            <a:ext cx="8046720" cy="461665"/>
          </a:xfrm>
          <a:prstGeom prst="rect">
            <a:avLst/>
          </a:prstGeom>
          <a:noFill/>
        </p:spPr>
        <p:txBody>
          <a:bodyPr wrap="square" lIns="73152" rIns="73152">
            <a:spAutoFit/>
          </a:bodyPr>
          <a:lstStyle/>
          <a:p>
            <a:pPr algn="l">
              <a:defRPr sz="1500" b="0">
                <a:solidFill>
                  <a:srgbClr val="5C6570"/>
                </a:solidFill>
                <a:latin typeface="Aptos"/>
              </a:defRPr>
            </a:pPr>
            <a:r>
              <a:rPr sz="2400" dirty="0"/>
              <a:t>We will look at purpose, language, structure and evidence.</a:t>
            </a:r>
          </a:p>
        </p:txBody>
      </p:sp>
      <p:sp>
        <p:nvSpPr>
          <p:cNvPr id="13" name="Rounded Rectangle 12"/>
          <p:cNvSpPr/>
          <p:nvPr/>
        </p:nvSpPr>
        <p:spPr>
          <a:xfrm>
            <a:off x="8732520" y="2395728"/>
            <a:ext cx="2057400" cy="384048"/>
          </a:xfrm>
          <a:prstGeom prst="roundRect">
            <a:avLst/>
          </a:prstGeom>
          <a:solidFill>
            <a:srgbClr val="FCF0D5"/>
          </a:solidFill>
          <a:ln w="12700">
            <a:solidFill>
              <a:srgbClr val="FCF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759952" y="2468880"/>
            <a:ext cx="2002536" cy="201168"/>
          </a:xfrm>
          <a:prstGeom prst="rect">
            <a:avLst/>
          </a:prstGeom>
          <a:noFill/>
        </p:spPr>
        <p:txBody>
          <a:bodyPr wrap="square" lIns="73152" rIns="73152">
            <a:spAutoFit/>
          </a:bodyPr>
          <a:lstStyle/>
          <a:p>
            <a:pPr algn="ctr">
              <a:defRPr sz="1000" b="1">
                <a:solidFill>
                  <a:srgbClr val="F0B248"/>
                </a:solidFill>
                <a:latin typeface="Aptos"/>
              </a:defRPr>
            </a:pPr>
            <a:r>
              <a:t>CHECKPOINT HABIT</a:t>
            </a:r>
          </a:p>
        </p:txBody>
      </p:sp>
      <p:sp>
        <p:nvSpPr>
          <p:cNvPr id="15" name="TextBox 14"/>
          <p:cNvSpPr txBox="1"/>
          <p:nvPr/>
        </p:nvSpPr>
        <p:spPr>
          <a:xfrm>
            <a:off x="1078992" y="5359867"/>
            <a:ext cx="9875520" cy="461665"/>
          </a:xfrm>
          <a:prstGeom prst="rect">
            <a:avLst/>
          </a:prstGeom>
          <a:noFill/>
        </p:spPr>
        <p:txBody>
          <a:bodyPr wrap="square" lIns="73152" rIns="73152">
            <a:spAutoFit/>
          </a:bodyPr>
          <a:lstStyle/>
          <a:p>
            <a:pPr algn="l">
              <a:defRPr sz="1200" b="1">
                <a:solidFill>
                  <a:srgbClr val="5C6570"/>
                </a:solidFill>
                <a:latin typeface="Aptos"/>
              </a:defRPr>
            </a:pPr>
            <a:r>
              <a:rPr sz="2400" dirty="0"/>
              <a:t>Teacher note: keep this phrase visible throughout the lesson.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47472"/>
            <a:ext cx="914400" cy="73152"/>
          </a:xfrm>
          <a:prstGeom prst="rect">
            <a:avLst/>
          </a:prstGeom>
          <a:solidFill>
            <a:srgbClr val="2291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457200"/>
            <a:ext cx="5029200" cy="320040"/>
          </a:xfrm>
          <a:prstGeom prst="rect">
            <a:avLst/>
          </a:prstGeom>
          <a:noFill/>
        </p:spPr>
        <p:txBody>
          <a:bodyPr wrap="none">
            <a:spAutoFit/>
          </a:bodyPr>
          <a:lstStyle/>
          <a:p>
            <a:pPr>
              <a:defRPr sz="1000" b="1">
                <a:solidFill>
                  <a:srgbClr val="22918F"/>
                </a:solidFill>
              </a:defRPr>
            </a:pPr>
            <a:r>
              <a:t>LEARNING GOALS</a:t>
            </a:r>
          </a:p>
        </p:txBody>
      </p:sp>
      <p:sp>
        <p:nvSpPr>
          <p:cNvPr id="5" name="TextBox 4"/>
          <p:cNvSpPr txBox="1"/>
          <p:nvPr/>
        </p:nvSpPr>
        <p:spPr>
          <a:xfrm>
            <a:off x="11292840" y="384048"/>
            <a:ext cx="411480" cy="274320"/>
          </a:xfrm>
          <a:prstGeom prst="rect">
            <a:avLst/>
          </a:prstGeom>
          <a:noFill/>
        </p:spPr>
        <p:txBody>
          <a:bodyPr wrap="none">
            <a:spAutoFit/>
          </a:bodyPr>
          <a:lstStyle/>
          <a:p>
            <a:pPr algn="r">
              <a:defRPr sz="1000">
                <a:solidFill>
                  <a:srgbClr val="5C6570"/>
                </a:solidFill>
              </a:defRPr>
            </a:pPr>
            <a:r>
              <a:t>3</a:t>
            </a:r>
          </a:p>
        </p:txBody>
      </p:sp>
      <p:sp>
        <p:nvSpPr>
          <p:cNvPr id="6" name="TextBox 5"/>
          <p:cNvSpPr txBox="1"/>
          <p:nvPr/>
        </p:nvSpPr>
        <p:spPr>
          <a:xfrm>
            <a:off x="594360" y="6473952"/>
            <a:ext cx="7315200" cy="201168"/>
          </a:xfrm>
          <a:prstGeom prst="rect">
            <a:avLst/>
          </a:prstGeom>
          <a:noFill/>
        </p:spPr>
        <p:txBody>
          <a:bodyPr wrap="square" lIns="73152" rIns="73152">
            <a:spAutoFit/>
          </a:bodyPr>
          <a:lstStyle/>
          <a:p>
            <a:pPr algn="l">
              <a:defRPr sz="900" b="0">
                <a:solidFill>
                  <a:srgbClr val="5C6570"/>
                </a:solidFill>
                <a:latin typeface="Aptos"/>
              </a:defRPr>
            </a:pPr>
            <a:r>
              <a:t>Year 6 • Cambridge Primary Checkpoint preparation</a:t>
            </a:r>
          </a:p>
        </p:txBody>
      </p:sp>
      <p:sp>
        <p:nvSpPr>
          <p:cNvPr id="7" name="TextBox 6"/>
          <p:cNvSpPr txBox="1"/>
          <p:nvPr/>
        </p:nvSpPr>
        <p:spPr>
          <a:xfrm>
            <a:off x="594360" y="822960"/>
            <a:ext cx="10972800" cy="685800"/>
          </a:xfrm>
          <a:prstGeom prst="rect">
            <a:avLst/>
          </a:prstGeom>
          <a:noFill/>
        </p:spPr>
        <p:txBody>
          <a:bodyPr wrap="square">
            <a:spAutoFit/>
          </a:bodyPr>
          <a:lstStyle/>
          <a:p>
            <a:pPr>
              <a:defRPr sz="2800" b="1">
                <a:solidFill>
                  <a:srgbClr val="17233B"/>
                </a:solidFill>
                <a:latin typeface="Aptos Display"/>
              </a:defRPr>
            </a:pPr>
            <a:r>
              <a:t>What will a Checkpoint reader be able to do?</a:t>
            </a:r>
          </a:p>
        </p:txBody>
      </p:sp>
      <p:sp>
        <p:nvSpPr>
          <p:cNvPr id="8" name="Rounded Rectangle 7"/>
          <p:cNvSpPr/>
          <p:nvPr/>
        </p:nvSpPr>
        <p:spPr>
          <a:xfrm>
            <a:off x="685800" y="1783080"/>
            <a:ext cx="3246120" cy="1600200"/>
          </a:xfrm>
          <a:prstGeom prst="roundRect">
            <a:avLst/>
          </a:prstGeom>
          <a:solidFill>
            <a:srgbClr val="FFFFFF"/>
          </a:solidFill>
          <a:ln w="12700">
            <a:solidFill>
              <a:srgbClr val="E6ED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68680" y="1947672"/>
            <a:ext cx="411480" cy="384048"/>
          </a:xfrm>
          <a:prstGeom prst="roundRect">
            <a:avLst/>
          </a:prstGeom>
          <a:solidFill>
            <a:srgbClr val="FCF0D5"/>
          </a:solidFill>
          <a:ln w="12700">
            <a:solidFill>
              <a:srgbClr val="FCF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96112" y="2020824"/>
            <a:ext cx="356616" cy="201168"/>
          </a:xfrm>
          <a:prstGeom prst="rect">
            <a:avLst/>
          </a:prstGeom>
          <a:noFill/>
        </p:spPr>
        <p:txBody>
          <a:bodyPr wrap="square" lIns="73152" rIns="73152">
            <a:spAutoFit/>
          </a:bodyPr>
          <a:lstStyle/>
          <a:p>
            <a:pPr algn="ctr">
              <a:defRPr sz="1000" b="1">
                <a:solidFill>
                  <a:srgbClr val="F0B248"/>
                </a:solidFill>
                <a:latin typeface="Aptos"/>
              </a:defRPr>
            </a:pPr>
            <a:r>
              <a:t>1</a:t>
            </a:r>
          </a:p>
        </p:txBody>
      </p:sp>
      <p:sp>
        <p:nvSpPr>
          <p:cNvPr id="11" name="TextBox 10"/>
          <p:cNvSpPr txBox="1"/>
          <p:nvPr/>
        </p:nvSpPr>
        <p:spPr>
          <a:xfrm>
            <a:off x="1399032" y="1938528"/>
            <a:ext cx="2240280" cy="274320"/>
          </a:xfrm>
          <a:prstGeom prst="rect">
            <a:avLst/>
          </a:prstGeom>
          <a:noFill/>
        </p:spPr>
        <p:txBody>
          <a:bodyPr wrap="square" lIns="73152" rIns="73152">
            <a:spAutoFit/>
          </a:bodyPr>
          <a:lstStyle/>
          <a:p>
            <a:pPr algn="l">
              <a:defRPr sz="1300" b="1">
                <a:solidFill>
                  <a:srgbClr val="22918F"/>
                </a:solidFill>
                <a:latin typeface="Aptos"/>
              </a:defRPr>
            </a:pPr>
            <a:r>
              <a:t>REMEMBER</a:t>
            </a:r>
          </a:p>
        </p:txBody>
      </p:sp>
      <p:sp>
        <p:nvSpPr>
          <p:cNvPr id="12" name="TextBox 11"/>
          <p:cNvSpPr txBox="1"/>
          <p:nvPr/>
        </p:nvSpPr>
        <p:spPr>
          <a:xfrm>
            <a:off x="886968" y="2377440"/>
            <a:ext cx="2834640" cy="707886"/>
          </a:xfrm>
          <a:prstGeom prst="rect">
            <a:avLst/>
          </a:prstGeom>
          <a:noFill/>
        </p:spPr>
        <p:txBody>
          <a:bodyPr wrap="square" lIns="73152" rIns="73152">
            <a:spAutoFit/>
          </a:bodyPr>
          <a:lstStyle/>
          <a:p>
            <a:pPr algn="l">
              <a:defRPr sz="1500" b="0">
                <a:solidFill>
                  <a:srgbClr val="252B33"/>
                </a:solidFill>
                <a:latin typeface="Aptos"/>
              </a:defRPr>
            </a:pPr>
            <a:r>
              <a:rPr sz="2000" dirty="0"/>
              <a:t>Define fiction and non-fiction.</a:t>
            </a:r>
          </a:p>
        </p:txBody>
      </p:sp>
      <p:sp>
        <p:nvSpPr>
          <p:cNvPr id="13" name="Rounded Rectangle 12"/>
          <p:cNvSpPr/>
          <p:nvPr/>
        </p:nvSpPr>
        <p:spPr>
          <a:xfrm>
            <a:off x="4389120" y="1783080"/>
            <a:ext cx="3246120" cy="1600200"/>
          </a:xfrm>
          <a:prstGeom prst="roundRect">
            <a:avLst/>
          </a:prstGeom>
          <a:solidFill>
            <a:srgbClr val="FFFFFF"/>
          </a:solidFill>
          <a:ln w="12700">
            <a:solidFill>
              <a:srgbClr val="E6ED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4572000" y="1947672"/>
            <a:ext cx="411480" cy="384048"/>
          </a:xfrm>
          <a:prstGeom prst="roundRect">
            <a:avLst/>
          </a:prstGeom>
          <a:solidFill>
            <a:srgbClr val="FCF0D5"/>
          </a:solidFill>
          <a:ln w="12700">
            <a:solidFill>
              <a:srgbClr val="FCF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99432" y="2020824"/>
            <a:ext cx="356616" cy="201168"/>
          </a:xfrm>
          <a:prstGeom prst="rect">
            <a:avLst/>
          </a:prstGeom>
          <a:noFill/>
        </p:spPr>
        <p:txBody>
          <a:bodyPr wrap="square" lIns="73152" rIns="73152">
            <a:spAutoFit/>
          </a:bodyPr>
          <a:lstStyle/>
          <a:p>
            <a:pPr algn="ctr">
              <a:defRPr sz="1000" b="1">
                <a:solidFill>
                  <a:srgbClr val="F0B248"/>
                </a:solidFill>
                <a:latin typeface="Aptos"/>
              </a:defRPr>
            </a:pPr>
            <a:r>
              <a:t>2</a:t>
            </a:r>
          </a:p>
        </p:txBody>
      </p:sp>
      <p:sp>
        <p:nvSpPr>
          <p:cNvPr id="16" name="TextBox 15"/>
          <p:cNvSpPr txBox="1"/>
          <p:nvPr/>
        </p:nvSpPr>
        <p:spPr>
          <a:xfrm>
            <a:off x="5102352" y="1938528"/>
            <a:ext cx="2240280" cy="274320"/>
          </a:xfrm>
          <a:prstGeom prst="rect">
            <a:avLst/>
          </a:prstGeom>
          <a:noFill/>
        </p:spPr>
        <p:txBody>
          <a:bodyPr wrap="square" lIns="73152" rIns="73152">
            <a:spAutoFit/>
          </a:bodyPr>
          <a:lstStyle/>
          <a:p>
            <a:pPr algn="l">
              <a:defRPr sz="1300" b="1">
                <a:solidFill>
                  <a:srgbClr val="22918F"/>
                </a:solidFill>
                <a:latin typeface="Aptos"/>
              </a:defRPr>
            </a:pPr>
            <a:r>
              <a:t>UNDERSTAND</a:t>
            </a:r>
          </a:p>
        </p:txBody>
      </p:sp>
      <p:sp>
        <p:nvSpPr>
          <p:cNvPr id="17" name="TextBox 16"/>
          <p:cNvSpPr txBox="1"/>
          <p:nvPr/>
        </p:nvSpPr>
        <p:spPr>
          <a:xfrm>
            <a:off x="4590288" y="2377440"/>
            <a:ext cx="2834640" cy="707886"/>
          </a:xfrm>
          <a:prstGeom prst="rect">
            <a:avLst/>
          </a:prstGeom>
          <a:noFill/>
        </p:spPr>
        <p:txBody>
          <a:bodyPr wrap="square" lIns="73152" rIns="73152">
            <a:spAutoFit/>
          </a:bodyPr>
          <a:lstStyle/>
          <a:p>
            <a:pPr algn="l">
              <a:defRPr sz="1500" b="0">
                <a:solidFill>
                  <a:srgbClr val="252B33"/>
                </a:solidFill>
                <a:latin typeface="Aptos"/>
              </a:defRPr>
            </a:pPr>
            <a:r>
              <a:rPr sz="2000" dirty="0"/>
              <a:t>Explain purpose and key features.</a:t>
            </a:r>
          </a:p>
        </p:txBody>
      </p:sp>
      <p:sp>
        <p:nvSpPr>
          <p:cNvPr id="18" name="Rounded Rectangle 17"/>
          <p:cNvSpPr/>
          <p:nvPr/>
        </p:nvSpPr>
        <p:spPr>
          <a:xfrm>
            <a:off x="8092440" y="1783080"/>
            <a:ext cx="3246120" cy="1600200"/>
          </a:xfrm>
          <a:prstGeom prst="roundRect">
            <a:avLst/>
          </a:prstGeom>
          <a:solidFill>
            <a:srgbClr val="FFFFFF"/>
          </a:solidFill>
          <a:ln w="12700">
            <a:solidFill>
              <a:srgbClr val="E6ED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275319" y="1947672"/>
            <a:ext cx="411480" cy="384048"/>
          </a:xfrm>
          <a:prstGeom prst="roundRect">
            <a:avLst/>
          </a:prstGeom>
          <a:solidFill>
            <a:srgbClr val="FCF0D5"/>
          </a:solidFill>
          <a:ln w="12700">
            <a:solidFill>
              <a:srgbClr val="FCF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02751" y="2020824"/>
            <a:ext cx="356616" cy="201168"/>
          </a:xfrm>
          <a:prstGeom prst="rect">
            <a:avLst/>
          </a:prstGeom>
          <a:noFill/>
        </p:spPr>
        <p:txBody>
          <a:bodyPr wrap="square" lIns="73152" rIns="73152">
            <a:spAutoFit/>
          </a:bodyPr>
          <a:lstStyle/>
          <a:p>
            <a:pPr algn="ctr">
              <a:defRPr sz="1000" b="1">
                <a:solidFill>
                  <a:srgbClr val="F0B248"/>
                </a:solidFill>
                <a:latin typeface="Aptos"/>
              </a:defRPr>
            </a:pPr>
            <a:r>
              <a:t>3</a:t>
            </a:r>
          </a:p>
        </p:txBody>
      </p:sp>
      <p:sp>
        <p:nvSpPr>
          <p:cNvPr id="21" name="TextBox 20"/>
          <p:cNvSpPr txBox="1"/>
          <p:nvPr/>
        </p:nvSpPr>
        <p:spPr>
          <a:xfrm>
            <a:off x="8805672" y="1938528"/>
            <a:ext cx="2240280" cy="274320"/>
          </a:xfrm>
          <a:prstGeom prst="rect">
            <a:avLst/>
          </a:prstGeom>
          <a:noFill/>
        </p:spPr>
        <p:txBody>
          <a:bodyPr wrap="square" lIns="73152" rIns="73152">
            <a:spAutoFit/>
          </a:bodyPr>
          <a:lstStyle/>
          <a:p>
            <a:pPr algn="l">
              <a:defRPr sz="1300" b="1">
                <a:solidFill>
                  <a:srgbClr val="22918F"/>
                </a:solidFill>
                <a:latin typeface="Aptos"/>
              </a:defRPr>
            </a:pPr>
            <a:r>
              <a:t>APPLY</a:t>
            </a:r>
          </a:p>
        </p:txBody>
      </p:sp>
      <p:sp>
        <p:nvSpPr>
          <p:cNvPr id="22" name="TextBox 21"/>
          <p:cNvSpPr txBox="1"/>
          <p:nvPr/>
        </p:nvSpPr>
        <p:spPr>
          <a:xfrm>
            <a:off x="8293608" y="2377440"/>
            <a:ext cx="2834640" cy="707886"/>
          </a:xfrm>
          <a:prstGeom prst="rect">
            <a:avLst/>
          </a:prstGeom>
          <a:noFill/>
        </p:spPr>
        <p:txBody>
          <a:bodyPr wrap="square" lIns="73152" rIns="73152">
            <a:spAutoFit/>
          </a:bodyPr>
          <a:lstStyle/>
          <a:p>
            <a:pPr algn="l">
              <a:defRPr sz="1500" b="0">
                <a:solidFill>
                  <a:srgbClr val="252B33"/>
                </a:solidFill>
                <a:latin typeface="Aptos"/>
              </a:defRPr>
            </a:pPr>
            <a:r>
              <a:rPr sz="2000" dirty="0"/>
              <a:t>Spot evidence in a passage.</a:t>
            </a:r>
          </a:p>
        </p:txBody>
      </p:sp>
      <p:sp>
        <p:nvSpPr>
          <p:cNvPr id="23" name="Rounded Rectangle 22"/>
          <p:cNvSpPr/>
          <p:nvPr/>
        </p:nvSpPr>
        <p:spPr>
          <a:xfrm>
            <a:off x="685800" y="3749039"/>
            <a:ext cx="3246120" cy="1600200"/>
          </a:xfrm>
          <a:prstGeom prst="roundRect">
            <a:avLst/>
          </a:prstGeom>
          <a:solidFill>
            <a:srgbClr val="FFFFFF"/>
          </a:solidFill>
          <a:ln w="12700">
            <a:solidFill>
              <a:srgbClr val="E6ED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868680" y="3913631"/>
            <a:ext cx="411480" cy="384048"/>
          </a:xfrm>
          <a:prstGeom prst="roundRect">
            <a:avLst/>
          </a:prstGeom>
          <a:solidFill>
            <a:srgbClr val="FCF0D5"/>
          </a:solidFill>
          <a:ln w="12700">
            <a:solidFill>
              <a:srgbClr val="FCF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96112" y="3986783"/>
            <a:ext cx="356616" cy="201168"/>
          </a:xfrm>
          <a:prstGeom prst="rect">
            <a:avLst/>
          </a:prstGeom>
          <a:noFill/>
        </p:spPr>
        <p:txBody>
          <a:bodyPr wrap="square" lIns="73152" rIns="73152">
            <a:spAutoFit/>
          </a:bodyPr>
          <a:lstStyle/>
          <a:p>
            <a:pPr algn="ctr">
              <a:defRPr sz="1000" b="1">
                <a:solidFill>
                  <a:srgbClr val="F0B248"/>
                </a:solidFill>
                <a:latin typeface="Aptos"/>
              </a:defRPr>
            </a:pPr>
            <a:r>
              <a:t>4</a:t>
            </a:r>
          </a:p>
        </p:txBody>
      </p:sp>
      <p:sp>
        <p:nvSpPr>
          <p:cNvPr id="26" name="TextBox 25"/>
          <p:cNvSpPr txBox="1"/>
          <p:nvPr/>
        </p:nvSpPr>
        <p:spPr>
          <a:xfrm>
            <a:off x="1399032" y="3904487"/>
            <a:ext cx="2240280" cy="274320"/>
          </a:xfrm>
          <a:prstGeom prst="rect">
            <a:avLst/>
          </a:prstGeom>
          <a:noFill/>
        </p:spPr>
        <p:txBody>
          <a:bodyPr wrap="square" lIns="73152" rIns="73152">
            <a:spAutoFit/>
          </a:bodyPr>
          <a:lstStyle/>
          <a:p>
            <a:pPr algn="l">
              <a:defRPr sz="1300" b="1">
                <a:solidFill>
                  <a:srgbClr val="22918F"/>
                </a:solidFill>
                <a:latin typeface="Aptos"/>
              </a:defRPr>
            </a:pPr>
            <a:r>
              <a:t>ANALYSE</a:t>
            </a:r>
          </a:p>
        </p:txBody>
      </p:sp>
      <p:sp>
        <p:nvSpPr>
          <p:cNvPr id="27" name="TextBox 26"/>
          <p:cNvSpPr txBox="1"/>
          <p:nvPr/>
        </p:nvSpPr>
        <p:spPr>
          <a:xfrm>
            <a:off x="886968" y="4343400"/>
            <a:ext cx="2834640" cy="830997"/>
          </a:xfrm>
          <a:prstGeom prst="rect">
            <a:avLst/>
          </a:prstGeom>
          <a:noFill/>
        </p:spPr>
        <p:txBody>
          <a:bodyPr wrap="square" lIns="73152" rIns="73152">
            <a:spAutoFit/>
          </a:bodyPr>
          <a:lstStyle/>
          <a:p>
            <a:pPr algn="l">
              <a:defRPr sz="1500" b="0">
                <a:solidFill>
                  <a:srgbClr val="252B33"/>
                </a:solidFill>
                <a:latin typeface="Aptos"/>
              </a:defRPr>
            </a:pPr>
            <a:r>
              <a:rPr sz="2400" dirty="0"/>
              <a:t>Compare two texts on the same topic.</a:t>
            </a:r>
          </a:p>
        </p:txBody>
      </p:sp>
      <p:sp>
        <p:nvSpPr>
          <p:cNvPr id="28" name="Rounded Rectangle 27"/>
          <p:cNvSpPr/>
          <p:nvPr/>
        </p:nvSpPr>
        <p:spPr>
          <a:xfrm>
            <a:off x="4389120" y="3749039"/>
            <a:ext cx="3246120" cy="1600200"/>
          </a:xfrm>
          <a:prstGeom prst="roundRect">
            <a:avLst/>
          </a:prstGeom>
          <a:solidFill>
            <a:srgbClr val="FFFFFF"/>
          </a:solidFill>
          <a:ln w="12700">
            <a:solidFill>
              <a:srgbClr val="E6ED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4572000" y="3913631"/>
            <a:ext cx="411480" cy="384048"/>
          </a:xfrm>
          <a:prstGeom prst="roundRect">
            <a:avLst/>
          </a:prstGeom>
          <a:solidFill>
            <a:srgbClr val="FCF0D5"/>
          </a:solidFill>
          <a:ln w="12700">
            <a:solidFill>
              <a:srgbClr val="FCF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599432" y="3986783"/>
            <a:ext cx="356616" cy="201168"/>
          </a:xfrm>
          <a:prstGeom prst="rect">
            <a:avLst/>
          </a:prstGeom>
          <a:noFill/>
        </p:spPr>
        <p:txBody>
          <a:bodyPr wrap="square" lIns="73152" rIns="73152">
            <a:spAutoFit/>
          </a:bodyPr>
          <a:lstStyle/>
          <a:p>
            <a:pPr algn="ctr">
              <a:defRPr sz="1000" b="1">
                <a:solidFill>
                  <a:srgbClr val="F0B248"/>
                </a:solidFill>
                <a:latin typeface="Aptos"/>
              </a:defRPr>
            </a:pPr>
            <a:r>
              <a:t>5</a:t>
            </a:r>
          </a:p>
        </p:txBody>
      </p:sp>
      <p:sp>
        <p:nvSpPr>
          <p:cNvPr id="31" name="TextBox 30"/>
          <p:cNvSpPr txBox="1"/>
          <p:nvPr/>
        </p:nvSpPr>
        <p:spPr>
          <a:xfrm>
            <a:off x="5102352" y="3904487"/>
            <a:ext cx="2240280" cy="274320"/>
          </a:xfrm>
          <a:prstGeom prst="rect">
            <a:avLst/>
          </a:prstGeom>
          <a:noFill/>
        </p:spPr>
        <p:txBody>
          <a:bodyPr wrap="square" lIns="73152" rIns="73152">
            <a:spAutoFit/>
          </a:bodyPr>
          <a:lstStyle/>
          <a:p>
            <a:pPr algn="l">
              <a:defRPr sz="1300" b="1">
                <a:solidFill>
                  <a:srgbClr val="22918F"/>
                </a:solidFill>
                <a:latin typeface="Aptos"/>
              </a:defRPr>
            </a:pPr>
            <a:r>
              <a:t>EVALUATE</a:t>
            </a:r>
          </a:p>
        </p:txBody>
      </p:sp>
      <p:sp>
        <p:nvSpPr>
          <p:cNvPr id="32" name="TextBox 31"/>
          <p:cNvSpPr txBox="1"/>
          <p:nvPr/>
        </p:nvSpPr>
        <p:spPr>
          <a:xfrm>
            <a:off x="4590288" y="4343400"/>
            <a:ext cx="2834640" cy="707886"/>
          </a:xfrm>
          <a:prstGeom prst="rect">
            <a:avLst/>
          </a:prstGeom>
          <a:noFill/>
        </p:spPr>
        <p:txBody>
          <a:bodyPr wrap="square" lIns="73152" rIns="73152">
            <a:spAutoFit/>
          </a:bodyPr>
          <a:lstStyle/>
          <a:p>
            <a:pPr algn="l">
              <a:defRPr sz="1500" b="0">
                <a:solidFill>
                  <a:srgbClr val="252B33"/>
                </a:solidFill>
                <a:latin typeface="Aptos"/>
              </a:defRPr>
            </a:pPr>
            <a:r>
              <a:rPr sz="2000" dirty="0"/>
              <a:t>Justify a classification with evidence.</a:t>
            </a:r>
          </a:p>
        </p:txBody>
      </p:sp>
      <p:sp>
        <p:nvSpPr>
          <p:cNvPr id="33" name="Rounded Rectangle 32"/>
          <p:cNvSpPr/>
          <p:nvPr/>
        </p:nvSpPr>
        <p:spPr>
          <a:xfrm>
            <a:off x="8092440" y="3749039"/>
            <a:ext cx="3246120" cy="1600200"/>
          </a:xfrm>
          <a:prstGeom prst="roundRect">
            <a:avLst/>
          </a:prstGeom>
          <a:solidFill>
            <a:srgbClr val="FFFFFF"/>
          </a:solidFill>
          <a:ln w="12700">
            <a:solidFill>
              <a:srgbClr val="E6ED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8275319" y="3913631"/>
            <a:ext cx="411480" cy="384048"/>
          </a:xfrm>
          <a:prstGeom prst="roundRect">
            <a:avLst/>
          </a:prstGeom>
          <a:solidFill>
            <a:srgbClr val="FCF0D5"/>
          </a:solidFill>
          <a:ln w="12700">
            <a:solidFill>
              <a:srgbClr val="FCF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302751" y="3986783"/>
            <a:ext cx="356616" cy="201168"/>
          </a:xfrm>
          <a:prstGeom prst="rect">
            <a:avLst/>
          </a:prstGeom>
          <a:noFill/>
        </p:spPr>
        <p:txBody>
          <a:bodyPr wrap="square" lIns="73152" rIns="73152">
            <a:spAutoFit/>
          </a:bodyPr>
          <a:lstStyle/>
          <a:p>
            <a:pPr algn="ctr">
              <a:defRPr sz="1000" b="1">
                <a:solidFill>
                  <a:srgbClr val="F0B248"/>
                </a:solidFill>
                <a:latin typeface="Aptos"/>
              </a:defRPr>
            </a:pPr>
            <a:r>
              <a:t>6</a:t>
            </a:r>
          </a:p>
        </p:txBody>
      </p:sp>
      <p:sp>
        <p:nvSpPr>
          <p:cNvPr id="36" name="TextBox 35"/>
          <p:cNvSpPr txBox="1"/>
          <p:nvPr/>
        </p:nvSpPr>
        <p:spPr>
          <a:xfrm>
            <a:off x="8805672" y="3904487"/>
            <a:ext cx="2240280" cy="274320"/>
          </a:xfrm>
          <a:prstGeom prst="rect">
            <a:avLst/>
          </a:prstGeom>
          <a:noFill/>
        </p:spPr>
        <p:txBody>
          <a:bodyPr wrap="square" lIns="73152" rIns="73152">
            <a:spAutoFit/>
          </a:bodyPr>
          <a:lstStyle/>
          <a:p>
            <a:pPr algn="l">
              <a:defRPr sz="1300" b="1">
                <a:solidFill>
                  <a:srgbClr val="22918F"/>
                </a:solidFill>
                <a:latin typeface="Aptos"/>
              </a:defRPr>
            </a:pPr>
            <a:r>
              <a:t>CREATE</a:t>
            </a:r>
          </a:p>
        </p:txBody>
      </p:sp>
      <p:sp>
        <p:nvSpPr>
          <p:cNvPr id="37" name="TextBox 36"/>
          <p:cNvSpPr txBox="1"/>
          <p:nvPr/>
        </p:nvSpPr>
        <p:spPr>
          <a:xfrm>
            <a:off x="8293608" y="4343400"/>
            <a:ext cx="2834640" cy="707886"/>
          </a:xfrm>
          <a:prstGeom prst="rect">
            <a:avLst/>
          </a:prstGeom>
          <a:noFill/>
        </p:spPr>
        <p:txBody>
          <a:bodyPr wrap="square" lIns="73152" rIns="73152">
            <a:spAutoFit/>
          </a:bodyPr>
          <a:lstStyle/>
          <a:p>
            <a:pPr algn="l">
              <a:defRPr sz="1500" b="0">
                <a:solidFill>
                  <a:srgbClr val="252B33"/>
                </a:solidFill>
                <a:latin typeface="Aptos"/>
              </a:defRPr>
            </a:pPr>
            <a:r>
              <a:rPr sz="2000" dirty="0"/>
              <a:t>Write a clear evidence-based response.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47472"/>
            <a:ext cx="914400" cy="73152"/>
          </a:xfrm>
          <a:prstGeom prst="rect">
            <a:avLst/>
          </a:prstGeom>
          <a:solidFill>
            <a:srgbClr val="2291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90255" y="-41041"/>
            <a:ext cx="2528449" cy="461665"/>
          </a:xfrm>
          <a:prstGeom prst="rect">
            <a:avLst/>
          </a:prstGeom>
          <a:noFill/>
        </p:spPr>
        <p:txBody>
          <a:bodyPr wrap="none">
            <a:spAutoFit/>
          </a:bodyPr>
          <a:lstStyle/>
          <a:p>
            <a:pPr>
              <a:defRPr sz="1000" b="1">
                <a:solidFill>
                  <a:srgbClr val="22918F"/>
                </a:solidFill>
              </a:defRPr>
            </a:pPr>
            <a:r>
              <a:rPr sz="2400" dirty="0"/>
              <a:t>SUCCESS CRITERIA</a:t>
            </a:r>
          </a:p>
        </p:txBody>
      </p:sp>
      <p:sp>
        <p:nvSpPr>
          <p:cNvPr id="5" name="TextBox 4"/>
          <p:cNvSpPr txBox="1"/>
          <p:nvPr/>
        </p:nvSpPr>
        <p:spPr>
          <a:xfrm>
            <a:off x="11292840" y="384048"/>
            <a:ext cx="411480" cy="274320"/>
          </a:xfrm>
          <a:prstGeom prst="rect">
            <a:avLst/>
          </a:prstGeom>
          <a:noFill/>
        </p:spPr>
        <p:txBody>
          <a:bodyPr wrap="none">
            <a:spAutoFit/>
          </a:bodyPr>
          <a:lstStyle/>
          <a:p>
            <a:pPr algn="r">
              <a:defRPr sz="1000">
                <a:solidFill>
                  <a:srgbClr val="5C6570"/>
                </a:solidFill>
              </a:defRPr>
            </a:pPr>
            <a:r>
              <a:t>4</a:t>
            </a:r>
          </a:p>
        </p:txBody>
      </p:sp>
      <p:sp>
        <p:nvSpPr>
          <p:cNvPr id="6" name="TextBox 5"/>
          <p:cNvSpPr txBox="1"/>
          <p:nvPr/>
        </p:nvSpPr>
        <p:spPr>
          <a:xfrm>
            <a:off x="594360" y="6473952"/>
            <a:ext cx="7315200" cy="201168"/>
          </a:xfrm>
          <a:prstGeom prst="rect">
            <a:avLst/>
          </a:prstGeom>
          <a:noFill/>
        </p:spPr>
        <p:txBody>
          <a:bodyPr wrap="square" lIns="73152" rIns="73152">
            <a:spAutoFit/>
          </a:bodyPr>
          <a:lstStyle/>
          <a:p>
            <a:pPr algn="l">
              <a:defRPr sz="900" b="0">
                <a:solidFill>
                  <a:srgbClr val="5C6570"/>
                </a:solidFill>
                <a:latin typeface="Aptos"/>
              </a:defRPr>
            </a:pPr>
            <a:r>
              <a:t>Year 6 • Cambridge Primary Checkpoint preparation</a:t>
            </a:r>
          </a:p>
        </p:txBody>
      </p:sp>
      <p:sp>
        <p:nvSpPr>
          <p:cNvPr id="7" name="TextBox 6"/>
          <p:cNvSpPr txBox="1"/>
          <p:nvPr/>
        </p:nvSpPr>
        <p:spPr>
          <a:xfrm>
            <a:off x="594360" y="822960"/>
            <a:ext cx="10972800" cy="685800"/>
          </a:xfrm>
          <a:prstGeom prst="rect">
            <a:avLst/>
          </a:prstGeom>
          <a:noFill/>
        </p:spPr>
        <p:txBody>
          <a:bodyPr wrap="square">
            <a:spAutoFit/>
          </a:bodyPr>
          <a:lstStyle/>
          <a:p>
            <a:pPr>
              <a:defRPr sz="2800" b="1">
                <a:solidFill>
                  <a:srgbClr val="17233B"/>
                </a:solidFill>
                <a:latin typeface="Aptos Display"/>
              </a:defRPr>
            </a:pPr>
            <a:r>
              <a:t>By the end, I can…</a:t>
            </a:r>
          </a:p>
        </p:txBody>
      </p:sp>
      <p:sp>
        <p:nvSpPr>
          <p:cNvPr id="8" name="Rounded Rectangle 7"/>
          <p:cNvSpPr/>
          <p:nvPr/>
        </p:nvSpPr>
        <p:spPr>
          <a:xfrm>
            <a:off x="822960" y="1645920"/>
            <a:ext cx="10332720" cy="4160520"/>
          </a:xfrm>
          <a:prstGeom prst="roundRect">
            <a:avLst/>
          </a:prstGeom>
          <a:solidFill>
            <a:srgbClr val="FFFFFF"/>
          </a:solidFill>
          <a:ln w="12700">
            <a:solidFill>
              <a:srgbClr val="E1F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1143000" y="1938528"/>
            <a:ext cx="411480" cy="384048"/>
          </a:xfrm>
          <a:prstGeom prst="roundRect">
            <a:avLst/>
          </a:prstGeom>
          <a:solidFill>
            <a:srgbClr val="E1F2F0"/>
          </a:solidFill>
          <a:ln w="12700">
            <a:solidFill>
              <a:srgbClr val="E1F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70432" y="2011680"/>
            <a:ext cx="356616" cy="201168"/>
          </a:xfrm>
          <a:prstGeom prst="rect">
            <a:avLst/>
          </a:prstGeom>
          <a:noFill/>
        </p:spPr>
        <p:txBody>
          <a:bodyPr wrap="square" lIns="73152" rIns="73152">
            <a:spAutoFit/>
          </a:bodyPr>
          <a:lstStyle/>
          <a:p>
            <a:pPr algn="ctr">
              <a:defRPr sz="1000" b="1">
                <a:solidFill>
                  <a:srgbClr val="22918F"/>
                </a:solidFill>
                <a:latin typeface="Aptos"/>
              </a:defRPr>
            </a:pPr>
            <a:r>
              <a:t>✓</a:t>
            </a:r>
          </a:p>
        </p:txBody>
      </p:sp>
      <p:sp>
        <p:nvSpPr>
          <p:cNvPr id="11" name="TextBox 10"/>
          <p:cNvSpPr txBox="1"/>
          <p:nvPr/>
        </p:nvSpPr>
        <p:spPr>
          <a:xfrm>
            <a:off x="1737360" y="1920240"/>
            <a:ext cx="8503920" cy="457200"/>
          </a:xfrm>
          <a:prstGeom prst="rect">
            <a:avLst/>
          </a:prstGeom>
          <a:noFill/>
        </p:spPr>
        <p:txBody>
          <a:bodyPr wrap="square" lIns="73152" rIns="73152">
            <a:spAutoFit/>
          </a:bodyPr>
          <a:lstStyle/>
          <a:p>
            <a:pPr algn="l">
              <a:defRPr sz="1700" b="0">
                <a:solidFill>
                  <a:srgbClr val="252B33"/>
                </a:solidFill>
                <a:latin typeface="Aptos"/>
              </a:defRPr>
            </a:pPr>
            <a:r>
              <a:rPr sz="2400" dirty="0"/>
              <a:t>identify whether a text is fiction or non-fiction;</a:t>
            </a:r>
          </a:p>
        </p:txBody>
      </p:sp>
      <p:sp>
        <p:nvSpPr>
          <p:cNvPr id="12" name="Rounded Rectangle 11"/>
          <p:cNvSpPr/>
          <p:nvPr/>
        </p:nvSpPr>
        <p:spPr>
          <a:xfrm>
            <a:off x="1143000" y="2624328"/>
            <a:ext cx="411480" cy="384048"/>
          </a:xfrm>
          <a:prstGeom prst="roundRect">
            <a:avLst/>
          </a:prstGeom>
          <a:solidFill>
            <a:srgbClr val="E1F2F0"/>
          </a:solidFill>
          <a:ln w="12700">
            <a:solidFill>
              <a:srgbClr val="E1F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70432" y="2697480"/>
            <a:ext cx="356616" cy="201168"/>
          </a:xfrm>
          <a:prstGeom prst="rect">
            <a:avLst/>
          </a:prstGeom>
          <a:noFill/>
        </p:spPr>
        <p:txBody>
          <a:bodyPr wrap="square" lIns="73152" rIns="73152">
            <a:spAutoFit/>
          </a:bodyPr>
          <a:lstStyle/>
          <a:p>
            <a:pPr algn="ctr">
              <a:defRPr sz="1000" b="1">
                <a:solidFill>
                  <a:srgbClr val="22918F"/>
                </a:solidFill>
                <a:latin typeface="Aptos"/>
              </a:defRPr>
            </a:pPr>
            <a:r>
              <a:t>✓</a:t>
            </a:r>
          </a:p>
        </p:txBody>
      </p:sp>
      <p:sp>
        <p:nvSpPr>
          <p:cNvPr id="14" name="TextBox 13"/>
          <p:cNvSpPr txBox="1"/>
          <p:nvPr/>
        </p:nvSpPr>
        <p:spPr>
          <a:xfrm>
            <a:off x="1737360" y="2606040"/>
            <a:ext cx="8503920" cy="461665"/>
          </a:xfrm>
          <a:prstGeom prst="rect">
            <a:avLst/>
          </a:prstGeom>
          <a:noFill/>
        </p:spPr>
        <p:txBody>
          <a:bodyPr wrap="square" lIns="73152" rIns="73152">
            <a:spAutoFit/>
          </a:bodyPr>
          <a:lstStyle/>
          <a:p>
            <a:pPr algn="l">
              <a:defRPr sz="1700" b="0">
                <a:solidFill>
                  <a:srgbClr val="252B33"/>
                </a:solidFill>
                <a:latin typeface="Aptos"/>
              </a:defRPr>
            </a:pPr>
            <a:r>
              <a:rPr sz="2400" dirty="0"/>
              <a:t>give at least TWO pieces of textual evidence;</a:t>
            </a:r>
          </a:p>
        </p:txBody>
      </p:sp>
      <p:sp>
        <p:nvSpPr>
          <p:cNvPr id="15" name="Rounded Rectangle 14"/>
          <p:cNvSpPr/>
          <p:nvPr/>
        </p:nvSpPr>
        <p:spPr>
          <a:xfrm>
            <a:off x="1143000" y="3310128"/>
            <a:ext cx="411480" cy="384048"/>
          </a:xfrm>
          <a:prstGeom prst="roundRect">
            <a:avLst/>
          </a:prstGeom>
          <a:solidFill>
            <a:srgbClr val="E1F2F0"/>
          </a:solidFill>
          <a:ln w="12700">
            <a:solidFill>
              <a:srgbClr val="E1F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170432" y="3383280"/>
            <a:ext cx="356616" cy="201168"/>
          </a:xfrm>
          <a:prstGeom prst="rect">
            <a:avLst/>
          </a:prstGeom>
          <a:noFill/>
        </p:spPr>
        <p:txBody>
          <a:bodyPr wrap="square" lIns="73152" rIns="73152">
            <a:spAutoFit/>
          </a:bodyPr>
          <a:lstStyle/>
          <a:p>
            <a:pPr algn="ctr">
              <a:defRPr sz="1000" b="1">
                <a:solidFill>
                  <a:srgbClr val="22918F"/>
                </a:solidFill>
                <a:latin typeface="Aptos"/>
              </a:defRPr>
            </a:pPr>
            <a:r>
              <a:t>✓</a:t>
            </a:r>
          </a:p>
        </p:txBody>
      </p:sp>
      <p:sp>
        <p:nvSpPr>
          <p:cNvPr id="17" name="TextBox 16"/>
          <p:cNvSpPr txBox="1"/>
          <p:nvPr/>
        </p:nvSpPr>
        <p:spPr>
          <a:xfrm>
            <a:off x="1737360" y="3291840"/>
            <a:ext cx="8503920" cy="457200"/>
          </a:xfrm>
          <a:prstGeom prst="rect">
            <a:avLst/>
          </a:prstGeom>
          <a:noFill/>
        </p:spPr>
        <p:txBody>
          <a:bodyPr wrap="square" lIns="73152" rIns="73152">
            <a:spAutoFit/>
          </a:bodyPr>
          <a:lstStyle/>
          <a:p>
            <a:pPr algn="l">
              <a:defRPr sz="1700" b="0">
                <a:solidFill>
                  <a:srgbClr val="252B33"/>
                </a:solidFill>
                <a:latin typeface="Aptos"/>
              </a:defRPr>
            </a:pPr>
            <a:r>
              <a:rPr sz="2400" dirty="0"/>
              <a:t>explain the writer’s purpose;</a:t>
            </a:r>
          </a:p>
        </p:txBody>
      </p:sp>
      <p:sp>
        <p:nvSpPr>
          <p:cNvPr id="18" name="Rounded Rectangle 17"/>
          <p:cNvSpPr/>
          <p:nvPr/>
        </p:nvSpPr>
        <p:spPr>
          <a:xfrm>
            <a:off x="1143000" y="3995928"/>
            <a:ext cx="411480" cy="384048"/>
          </a:xfrm>
          <a:prstGeom prst="roundRect">
            <a:avLst/>
          </a:prstGeom>
          <a:solidFill>
            <a:srgbClr val="E1F2F0"/>
          </a:solidFill>
          <a:ln w="12700">
            <a:solidFill>
              <a:srgbClr val="E1F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170432" y="4069080"/>
            <a:ext cx="356616" cy="201168"/>
          </a:xfrm>
          <a:prstGeom prst="rect">
            <a:avLst/>
          </a:prstGeom>
          <a:noFill/>
        </p:spPr>
        <p:txBody>
          <a:bodyPr wrap="square" lIns="73152" rIns="73152">
            <a:spAutoFit/>
          </a:bodyPr>
          <a:lstStyle/>
          <a:p>
            <a:pPr algn="ctr">
              <a:defRPr sz="1000" b="1">
                <a:solidFill>
                  <a:srgbClr val="22918F"/>
                </a:solidFill>
                <a:latin typeface="Aptos"/>
              </a:defRPr>
            </a:pPr>
            <a:r>
              <a:t>✓</a:t>
            </a:r>
          </a:p>
        </p:txBody>
      </p:sp>
      <p:sp>
        <p:nvSpPr>
          <p:cNvPr id="20" name="TextBox 19"/>
          <p:cNvSpPr txBox="1"/>
          <p:nvPr/>
        </p:nvSpPr>
        <p:spPr>
          <a:xfrm>
            <a:off x="1737360" y="3977639"/>
            <a:ext cx="8503920" cy="457200"/>
          </a:xfrm>
          <a:prstGeom prst="rect">
            <a:avLst/>
          </a:prstGeom>
          <a:noFill/>
        </p:spPr>
        <p:txBody>
          <a:bodyPr wrap="square" lIns="73152" rIns="73152">
            <a:spAutoFit/>
          </a:bodyPr>
          <a:lstStyle/>
          <a:p>
            <a:pPr algn="l">
              <a:defRPr sz="1700" b="0">
                <a:solidFill>
                  <a:srgbClr val="252B33"/>
                </a:solidFill>
                <a:latin typeface="Aptos"/>
              </a:defRPr>
            </a:pPr>
            <a:r>
              <a:rPr sz="2400" dirty="0"/>
              <a:t>compare language and structure;</a:t>
            </a:r>
          </a:p>
        </p:txBody>
      </p:sp>
      <p:sp>
        <p:nvSpPr>
          <p:cNvPr id="21" name="Rounded Rectangle 20"/>
          <p:cNvSpPr/>
          <p:nvPr/>
        </p:nvSpPr>
        <p:spPr>
          <a:xfrm>
            <a:off x="1143000" y="4681728"/>
            <a:ext cx="411480" cy="384048"/>
          </a:xfrm>
          <a:prstGeom prst="roundRect">
            <a:avLst/>
          </a:prstGeom>
          <a:solidFill>
            <a:srgbClr val="E1F2F0"/>
          </a:solidFill>
          <a:ln w="12700">
            <a:solidFill>
              <a:srgbClr val="E1F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170432" y="4754880"/>
            <a:ext cx="356616" cy="201168"/>
          </a:xfrm>
          <a:prstGeom prst="rect">
            <a:avLst/>
          </a:prstGeom>
          <a:noFill/>
        </p:spPr>
        <p:txBody>
          <a:bodyPr wrap="square" lIns="73152" rIns="73152">
            <a:spAutoFit/>
          </a:bodyPr>
          <a:lstStyle/>
          <a:p>
            <a:pPr algn="ctr">
              <a:defRPr sz="1000" b="1">
                <a:solidFill>
                  <a:srgbClr val="22918F"/>
                </a:solidFill>
                <a:latin typeface="Aptos"/>
              </a:defRPr>
            </a:pPr>
            <a:r>
              <a:t>✓</a:t>
            </a:r>
          </a:p>
        </p:txBody>
      </p:sp>
      <p:sp>
        <p:nvSpPr>
          <p:cNvPr id="23" name="TextBox 22"/>
          <p:cNvSpPr txBox="1"/>
          <p:nvPr/>
        </p:nvSpPr>
        <p:spPr>
          <a:xfrm>
            <a:off x="1737360" y="4663440"/>
            <a:ext cx="8503920" cy="457200"/>
          </a:xfrm>
          <a:prstGeom prst="rect">
            <a:avLst/>
          </a:prstGeom>
          <a:noFill/>
        </p:spPr>
        <p:txBody>
          <a:bodyPr wrap="square" lIns="73152" rIns="73152">
            <a:spAutoFit/>
          </a:bodyPr>
          <a:lstStyle/>
          <a:p>
            <a:pPr algn="l">
              <a:defRPr sz="1700" b="0">
                <a:solidFill>
                  <a:srgbClr val="252B33"/>
                </a:solidFill>
                <a:latin typeface="Aptos"/>
              </a:defRPr>
            </a:pPr>
            <a:r>
              <a:rPr sz="2400" dirty="0"/>
              <a:t>use words such as fact, narrator, setting, evidence and purpose.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47472"/>
            <a:ext cx="914400" cy="73152"/>
          </a:xfrm>
          <a:prstGeom prst="rect">
            <a:avLst/>
          </a:prstGeom>
          <a:solidFill>
            <a:srgbClr val="2291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457200"/>
            <a:ext cx="5029200" cy="320040"/>
          </a:xfrm>
          <a:prstGeom prst="rect">
            <a:avLst/>
          </a:prstGeom>
          <a:noFill/>
        </p:spPr>
        <p:txBody>
          <a:bodyPr wrap="none">
            <a:spAutoFit/>
          </a:bodyPr>
          <a:lstStyle/>
          <a:p>
            <a:pPr>
              <a:defRPr sz="1000" b="1">
                <a:solidFill>
                  <a:srgbClr val="22918F"/>
                </a:solidFill>
              </a:defRPr>
            </a:pPr>
            <a:r>
              <a:t>VOCABULARY</a:t>
            </a:r>
          </a:p>
        </p:txBody>
      </p:sp>
      <p:sp>
        <p:nvSpPr>
          <p:cNvPr id="5" name="TextBox 4"/>
          <p:cNvSpPr txBox="1"/>
          <p:nvPr/>
        </p:nvSpPr>
        <p:spPr>
          <a:xfrm>
            <a:off x="11292840" y="384048"/>
            <a:ext cx="411480" cy="274320"/>
          </a:xfrm>
          <a:prstGeom prst="rect">
            <a:avLst/>
          </a:prstGeom>
          <a:noFill/>
        </p:spPr>
        <p:txBody>
          <a:bodyPr wrap="none">
            <a:spAutoFit/>
          </a:bodyPr>
          <a:lstStyle/>
          <a:p>
            <a:pPr algn="r">
              <a:defRPr sz="1000">
                <a:solidFill>
                  <a:srgbClr val="5C6570"/>
                </a:solidFill>
              </a:defRPr>
            </a:pPr>
            <a:r>
              <a:t>5</a:t>
            </a:r>
          </a:p>
        </p:txBody>
      </p:sp>
      <p:sp>
        <p:nvSpPr>
          <p:cNvPr id="6" name="TextBox 5"/>
          <p:cNvSpPr txBox="1"/>
          <p:nvPr/>
        </p:nvSpPr>
        <p:spPr>
          <a:xfrm>
            <a:off x="594360" y="6473952"/>
            <a:ext cx="7315200" cy="201168"/>
          </a:xfrm>
          <a:prstGeom prst="rect">
            <a:avLst/>
          </a:prstGeom>
          <a:noFill/>
        </p:spPr>
        <p:txBody>
          <a:bodyPr wrap="square" lIns="73152" rIns="73152">
            <a:spAutoFit/>
          </a:bodyPr>
          <a:lstStyle/>
          <a:p>
            <a:pPr algn="l">
              <a:defRPr sz="900" b="0">
                <a:solidFill>
                  <a:srgbClr val="5C6570"/>
                </a:solidFill>
                <a:latin typeface="Aptos"/>
              </a:defRPr>
            </a:pPr>
            <a:r>
              <a:t>Year 6 • Cambridge Primary Checkpoint preparation</a:t>
            </a:r>
          </a:p>
        </p:txBody>
      </p:sp>
      <p:sp>
        <p:nvSpPr>
          <p:cNvPr id="7" name="TextBox 6"/>
          <p:cNvSpPr txBox="1"/>
          <p:nvPr/>
        </p:nvSpPr>
        <p:spPr>
          <a:xfrm>
            <a:off x="594360" y="822960"/>
            <a:ext cx="10972800" cy="685800"/>
          </a:xfrm>
          <a:prstGeom prst="rect">
            <a:avLst/>
          </a:prstGeom>
          <a:noFill/>
        </p:spPr>
        <p:txBody>
          <a:bodyPr wrap="square">
            <a:spAutoFit/>
          </a:bodyPr>
          <a:lstStyle/>
          <a:p>
            <a:pPr>
              <a:defRPr sz="2800" b="1">
                <a:solidFill>
                  <a:srgbClr val="17233B"/>
                </a:solidFill>
                <a:latin typeface="Aptos Display"/>
              </a:defRPr>
            </a:pPr>
            <a:r>
              <a:t>Checkpoint vocabulary: know the language of the question</a:t>
            </a:r>
          </a:p>
        </p:txBody>
      </p:sp>
      <p:sp>
        <p:nvSpPr>
          <p:cNvPr id="8" name="Rounded Rectangle 7"/>
          <p:cNvSpPr/>
          <p:nvPr/>
        </p:nvSpPr>
        <p:spPr>
          <a:xfrm>
            <a:off x="594360" y="1554480"/>
            <a:ext cx="5288280" cy="694944"/>
          </a:xfrm>
          <a:prstGeom prst="roundRect">
            <a:avLst/>
          </a:prstGeom>
          <a:solidFill>
            <a:srgbClr val="FFFFFF"/>
          </a:solidFill>
          <a:ln w="12700">
            <a:solidFill>
              <a:srgbClr val="E6ED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5939" y="1624162"/>
            <a:ext cx="1508760" cy="461665"/>
          </a:xfrm>
          <a:prstGeom prst="rect">
            <a:avLst/>
          </a:prstGeom>
          <a:noFill/>
        </p:spPr>
        <p:txBody>
          <a:bodyPr wrap="square" lIns="73152" rIns="73152">
            <a:spAutoFit/>
          </a:bodyPr>
          <a:lstStyle/>
          <a:p>
            <a:pPr algn="l">
              <a:defRPr sz="1200" b="1">
                <a:solidFill>
                  <a:srgbClr val="22918F"/>
                </a:solidFill>
                <a:latin typeface="Aptos"/>
              </a:defRPr>
            </a:pPr>
            <a:r>
              <a:rPr sz="2400" dirty="0"/>
              <a:t>FICTION</a:t>
            </a:r>
          </a:p>
        </p:txBody>
      </p:sp>
      <p:sp>
        <p:nvSpPr>
          <p:cNvPr id="10" name="TextBox 9"/>
          <p:cNvSpPr txBox="1"/>
          <p:nvPr/>
        </p:nvSpPr>
        <p:spPr>
          <a:xfrm>
            <a:off x="2240280" y="1655064"/>
            <a:ext cx="3867912" cy="461665"/>
          </a:xfrm>
          <a:prstGeom prst="rect">
            <a:avLst/>
          </a:prstGeom>
          <a:noFill/>
        </p:spPr>
        <p:txBody>
          <a:bodyPr wrap="square" lIns="73152" rIns="73152">
            <a:spAutoFit/>
          </a:bodyPr>
          <a:lstStyle/>
          <a:p>
            <a:pPr algn="l">
              <a:defRPr sz="1300" b="0">
                <a:solidFill>
                  <a:srgbClr val="252B33"/>
                </a:solidFill>
                <a:latin typeface="Aptos"/>
              </a:defRPr>
            </a:pPr>
            <a:r>
              <a:rPr sz="2400" dirty="0"/>
              <a:t>created from imagination</a:t>
            </a:r>
          </a:p>
        </p:txBody>
      </p:sp>
      <p:sp>
        <p:nvSpPr>
          <p:cNvPr id="11" name="Rounded Rectangle 10"/>
          <p:cNvSpPr/>
          <p:nvPr/>
        </p:nvSpPr>
        <p:spPr>
          <a:xfrm>
            <a:off x="6096000" y="1554480"/>
            <a:ext cx="5288280" cy="694944"/>
          </a:xfrm>
          <a:prstGeom prst="roundRect">
            <a:avLst/>
          </a:prstGeom>
          <a:solidFill>
            <a:srgbClr val="FFFFFF"/>
          </a:solidFill>
          <a:ln w="12700">
            <a:solidFill>
              <a:srgbClr val="E6ED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096000" y="1682495"/>
            <a:ext cx="1795272" cy="400110"/>
          </a:xfrm>
          <a:prstGeom prst="rect">
            <a:avLst/>
          </a:prstGeom>
          <a:noFill/>
        </p:spPr>
        <p:txBody>
          <a:bodyPr wrap="square" lIns="73152" rIns="73152">
            <a:spAutoFit/>
          </a:bodyPr>
          <a:lstStyle/>
          <a:p>
            <a:pPr algn="l">
              <a:defRPr sz="1200" b="1">
                <a:solidFill>
                  <a:srgbClr val="22918F"/>
                </a:solidFill>
                <a:latin typeface="Aptos"/>
              </a:defRPr>
            </a:pPr>
            <a:r>
              <a:rPr sz="2000" dirty="0"/>
              <a:t>NON-FICTION</a:t>
            </a:r>
          </a:p>
        </p:txBody>
      </p:sp>
      <p:sp>
        <p:nvSpPr>
          <p:cNvPr id="13" name="TextBox 12"/>
          <p:cNvSpPr txBox="1"/>
          <p:nvPr/>
        </p:nvSpPr>
        <p:spPr>
          <a:xfrm>
            <a:off x="8046720" y="1682495"/>
            <a:ext cx="3246120" cy="400110"/>
          </a:xfrm>
          <a:prstGeom prst="rect">
            <a:avLst/>
          </a:prstGeom>
          <a:noFill/>
        </p:spPr>
        <p:txBody>
          <a:bodyPr wrap="square" lIns="73152" rIns="73152">
            <a:spAutoFit/>
          </a:bodyPr>
          <a:lstStyle/>
          <a:p>
            <a:pPr algn="l">
              <a:defRPr sz="1300" b="0">
                <a:solidFill>
                  <a:srgbClr val="252B33"/>
                </a:solidFill>
                <a:latin typeface="Aptos"/>
              </a:defRPr>
            </a:pPr>
            <a:r>
              <a:rPr sz="2000" dirty="0"/>
              <a:t>based on real information</a:t>
            </a:r>
          </a:p>
        </p:txBody>
      </p:sp>
      <p:sp>
        <p:nvSpPr>
          <p:cNvPr id="14" name="Rounded Rectangle 13"/>
          <p:cNvSpPr/>
          <p:nvPr/>
        </p:nvSpPr>
        <p:spPr>
          <a:xfrm>
            <a:off x="594360" y="2432304"/>
            <a:ext cx="5349240" cy="694944"/>
          </a:xfrm>
          <a:prstGeom prst="roundRect">
            <a:avLst/>
          </a:prstGeom>
          <a:solidFill>
            <a:srgbClr val="FFFFFF"/>
          </a:solidFill>
          <a:ln w="12700">
            <a:solidFill>
              <a:srgbClr val="E6ED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48640" y="2477011"/>
            <a:ext cx="1508760" cy="461665"/>
          </a:xfrm>
          <a:prstGeom prst="rect">
            <a:avLst/>
          </a:prstGeom>
          <a:noFill/>
        </p:spPr>
        <p:txBody>
          <a:bodyPr wrap="square" lIns="73152" rIns="73152">
            <a:spAutoFit/>
          </a:bodyPr>
          <a:lstStyle/>
          <a:p>
            <a:pPr algn="l">
              <a:defRPr sz="1200" b="1">
                <a:solidFill>
                  <a:srgbClr val="22918F"/>
                </a:solidFill>
                <a:latin typeface="Aptos"/>
              </a:defRPr>
            </a:pPr>
            <a:r>
              <a:rPr sz="2400" dirty="0"/>
              <a:t>FACT</a:t>
            </a:r>
          </a:p>
        </p:txBody>
      </p:sp>
      <p:sp>
        <p:nvSpPr>
          <p:cNvPr id="16" name="TextBox 15"/>
          <p:cNvSpPr txBox="1"/>
          <p:nvPr/>
        </p:nvSpPr>
        <p:spPr>
          <a:xfrm>
            <a:off x="1569308" y="2549212"/>
            <a:ext cx="4420010" cy="461665"/>
          </a:xfrm>
          <a:prstGeom prst="rect">
            <a:avLst/>
          </a:prstGeom>
          <a:noFill/>
        </p:spPr>
        <p:txBody>
          <a:bodyPr wrap="square" lIns="73152" rIns="73152">
            <a:spAutoFit/>
          </a:bodyPr>
          <a:lstStyle/>
          <a:p>
            <a:pPr algn="l">
              <a:defRPr sz="1300" b="0">
                <a:solidFill>
                  <a:srgbClr val="252B33"/>
                </a:solidFill>
                <a:latin typeface="Aptos"/>
              </a:defRPr>
            </a:pPr>
            <a:r>
              <a:rPr sz="2400" dirty="0"/>
              <a:t>something that can be checked</a:t>
            </a:r>
          </a:p>
        </p:txBody>
      </p:sp>
      <p:sp>
        <p:nvSpPr>
          <p:cNvPr id="17" name="Rounded Rectangle 16"/>
          <p:cNvSpPr/>
          <p:nvPr/>
        </p:nvSpPr>
        <p:spPr>
          <a:xfrm>
            <a:off x="6096000" y="2432304"/>
            <a:ext cx="5288280" cy="694944"/>
          </a:xfrm>
          <a:prstGeom prst="roundRect">
            <a:avLst/>
          </a:prstGeom>
          <a:solidFill>
            <a:srgbClr val="FFFFFF"/>
          </a:solidFill>
          <a:ln w="12700">
            <a:solidFill>
              <a:srgbClr val="E6ED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108192" y="2549212"/>
            <a:ext cx="1508760" cy="400110"/>
          </a:xfrm>
          <a:prstGeom prst="rect">
            <a:avLst/>
          </a:prstGeom>
          <a:noFill/>
        </p:spPr>
        <p:txBody>
          <a:bodyPr wrap="square" lIns="73152" rIns="73152">
            <a:spAutoFit/>
          </a:bodyPr>
          <a:lstStyle/>
          <a:p>
            <a:pPr algn="l">
              <a:defRPr sz="1200" b="1">
                <a:solidFill>
                  <a:srgbClr val="22918F"/>
                </a:solidFill>
                <a:latin typeface="Aptos"/>
              </a:defRPr>
            </a:pPr>
            <a:r>
              <a:rPr sz="2000" dirty="0"/>
              <a:t>EVIDENCE</a:t>
            </a:r>
          </a:p>
        </p:txBody>
      </p:sp>
      <p:sp>
        <p:nvSpPr>
          <p:cNvPr id="19" name="TextBox 18"/>
          <p:cNvSpPr txBox="1"/>
          <p:nvPr/>
        </p:nvSpPr>
        <p:spPr>
          <a:xfrm>
            <a:off x="7863840" y="2532888"/>
            <a:ext cx="3246120" cy="400110"/>
          </a:xfrm>
          <a:prstGeom prst="rect">
            <a:avLst/>
          </a:prstGeom>
          <a:noFill/>
        </p:spPr>
        <p:txBody>
          <a:bodyPr wrap="square" lIns="73152" rIns="73152">
            <a:spAutoFit/>
          </a:bodyPr>
          <a:lstStyle/>
          <a:p>
            <a:pPr algn="l">
              <a:defRPr sz="1300" b="0">
                <a:solidFill>
                  <a:srgbClr val="252B33"/>
                </a:solidFill>
                <a:latin typeface="Aptos"/>
              </a:defRPr>
            </a:pPr>
            <a:r>
              <a:rPr sz="2000" dirty="0"/>
              <a:t>detail that supports an idea</a:t>
            </a:r>
          </a:p>
        </p:txBody>
      </p:sp>
      <p:sp>
        <p:nvSpPr>
          <p:cNvPr id="20" name="Rounded Rectangle 19"/>
          <p:cNvSpPr/>
          <p:nvPr/>
        </p:nvSpPr>
        <p:spPr>
          <a:xfrm>
            <a:off x="594359" y="3310128"/>
            <a:ext cx="5349239" cy="694944"/>
          </a:xfrm>
          <a:prstGeom prst="roundRect">
            <a:avLst/>
          </a:prstGeom>
          <a:solidFill>
            <a:srgbClr val="FFFFFF"/>
          </a:solidFill>
          <a:ln w="12700">
            <a:solidFill>
              <a:srgbClr val="E6ED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94360" y="3362759"/>
            <a:ext cx="1508760" cy="461665"/>
          </a:xfrm>
          <a:prstGeom prst="rect">
            <a:avLst/>
          </a:prstGeom>
          <a:noFill/>
        </p:spPr>
        <p:txBody>
          <a:bodyPr wrap="square" lIns="73152" rIns="73152">
            <a:spAutoFit/>
          </a:bodyPr>
          <a:lstStyle/>
          <a:p>
            <a:pPr algn="l">
              <a:defRPr sz="1200" b="1">
                <a:solidFill>
                  <a:srgbClr val="22918F"/>
                </a:solidFill>
                <a:latin typeface="Aptos"/>
              </a:defRPr>
            </a:pPr>
            <a:r>
              <a:rPr sz="2400" dirty="0"/>
              <a:t>PURPOSE</a:t>
            </a:r>
          </a:p>
        </p:txBody>
      </p:sp>
      <p:sp>
        <p:nvSpPr>
          <p:cNvPr id="22" name="TextBox 21"/>
          <p:cNvSpPr txBox="1"/>
          <p:nvPr/>
        </p:nvSpPr>
        <p:spPr>
          <a:xfrm>
            <a:off x="2514600" y="3426767"/>
            <a:ext cx="3246120" cy="461665"/>
          </a:xfrm>
          <a:prstGeom prst="rect">
            <a:avLst/>
          </a:prstGeom>
          <a:noFill/>
        </p:spPr>
        <p:txBody>
          <a:bodyPr wrap="square" lIns="73152" rIns="73152">
            <a:spAutoFit/>
          </a:bodyPr>
          <a:lstStyle/>
          <a:p>
            <a:pPr algn="l">
              <a:defRPr sz="1300" b="0">
                <a:solidFill>
                  <a:srgbClr val="252B33"/>
                </a:solidFill>
                <a:latin typeface="Aptos"/>
              </a:defRPr>
            </a:pPr>
            <a:r>
              <a:rPr sz="2400" dirty="0"/>
              <a:t>the writer’s reason</a:t>
            </a:r>
          </a:p>
        </p:txBody>
      </p:sp>
      <p:sp>
        <p:nvSpPr>
          <p:cNvPr id="23" name="Rounded Rectangle 22"/>
          <p:cNvSpPr/>
          <p:nvPr/>
        </p:nvSpPr>
        <p:spPr>
          <a:xfrm>
            <a:off x="6096000" y="3310128"/>
            <a:ext cx="5288280" cy="694944"/>
          </a:xfrm>
          <a:prstGeom prst="roundRect">
            <a:avLst/>
          </a:prstGeom>
          <a:solidFill>
            <a:srgbClr val="FFFFFF"/>
          </a:solidFill>
          <a:ln w="12700">
            <a:solidFill>
              <a:srgbClr val="E6ED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234849" y="3449514"/>
            <a:ext cx="1508760" cy="400110"/>
          </a:xfrm>
          <a:prstGeom prst="rect">
            <a:avLst/>
          </a:prstGeom>
          <a:noFill/>
        </p:spPr>
        <p:txBody>
          <a:bodyPr wrap="square" lIns="73152" rIns="73152">
            <a:spAutoFit/>
          </a:bodyPr>
          <a:lstStyle/>
          <a:p>
            <a:pPr algn="l">
              <a:defRPr sz="1200" b="1">
                <a:solidFill>
                  <a:srgbClr val="22918F"/>
                </a:solidFill>
                <a:latin typeface="Aptos"/>
              </a:defRPr>
            </a:pPr>
            <a:r>
              <a:rPr sz="2000" dirty="0"/>
              <a:t>NARRATOR</a:t>
            </a:r>
          </a:p>
        </p:txBody>
      </p:sp>
      <p:sp>
        <p:nvSpPr>
          <p:cNvPr id="25" name="TextBox 24"/>
          <p:cNvSpPr txBox="1"/>
          <p:nvPr/>
        </p:nvSpPr>
        <p:spPr>
          <a:xfrm>
            <a:off x="7863840" y="3410712"/>
            <a:ext cx="3246120" cy="400110"/>
          </a:xfrm>
          <a:prstGeom prst="rect">
            <a:avLst/>
          </a:prstGeom>
          <a:noFill/>
        </p:spPr>
        <p:txBody>
          <a:bodyPr wrap="square" lIns="73152" rIns="73152">
            <a:spAutoFit/>
          </a:bodyPr>
          <a:lstStyle/>
          <a:p>
            <a:pPr algn="l">
              <a:defRPr sz="1300" b="0">
                <a:solidFill>
                  <a:srgbClr val="252B33"/>
                </a:solidFill>
                <a:latin typeface="Aptos"/>
              </a:defRPr>
            </a:pPr>
            <a:r>
              <a:rPr sz="2000" dirty="0"/>
              <a:t>the voice telling a story</a:t>
            </a:r>
          </a:p>
        </p:txBody>
      </p:sp>
      <p:sp>
        <p:nvSpPr>
          <p:cNvPr id="26" name="Rounded Rectangle 25"/>
          <p:cNvSpPr/>
          <p:nvPr/>
        </p:nvSpPr>
        <p:spPr>
          <a:xfrm>
            <a:off x="594360" y="4187952"/>
            <a:ext cx="5349240" cy="694944"/>
          </a:xfrm>
          <a:prstGeom prst="roundRect">
            <a:avLst/>
          </a:prstGeom>
          <a:solidFill>
            <a:srgbClr val="FFFFFF"/>
          </a:solidFill>
          <a:ln w="12700">
            <a:solidFill>
              <a:srgbClr val="E6ED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94360" y="4205729"/>
            <a:ext cx="1508760" cy="461665"/>
          </a:xfrm>
          <a:prstGeom prst="rect">
            <a:avLst/>
          </a:prstGeom>
          <a:noFill/>
        </p:spPr>
        <p:txBody>
          <a:bodyPr wrap="square" lIns="73152" rIns="73152">
            <a:spAutoFit/>
          </a:bodyPr>
          <a:lstStyle/>
          <a:p>
            <a:pPr algn="l">
              <a:defRPr sz="1200" b="1">
                <a:solidFill>
                  <a:srgbClr val="22918F"/>
                </a:solidFill>
                <a:latin typeface="Aptos"/>
              </a:defRPr>
            </a:pPr>
            <a:r>
              <a:rPr sz="2400" dirty="0"/>
              <a:t>SETTING</a:t>
            </a:r>
          </a:p>
        </p:txBody>
      </p:sp>
      <p:sp>
        <p:nvSpPr>
          <p:cNvPr id="28" name="TextBox 27"/>
          <p:cNvSpPr txBox="1"/>
          <p:nvPr/>
        </p:nvSpPr>
        <p:spPr>
          <a:xfrm>
            <a:off x="1458096" y="4499095"/>
            <a:ext cx="4642434" cy="461665"/>
          </a:xfrm>
          <a:prstGeom prst="rect">
            <a:avLst/>
          </a:prstGeom>
          <a:noFill/>
        </p:spPr>
        <p:txBody>
          <a:bodyPr wrap="square" lIns="73152" rIns="73152">
            <a:spAutoFit/>
          </a:bodyPr>
          <a:lstStyle/>
          <a:p>
            <a:pPr algn="l">
              <a:defRPr sz="1300" b="0">
                <a:solidFill>
                  <a:srgbClr val="252B33"/>
                </a:solidFill>
                <a:latin typeface="Aptos"/>
              </a:defRPr>
            </a:pPr>
            <a:r>
              <a:rPr sz="2400" dirty="0"/>
              <a:t>where and when a story happens</a:t>
            </a:r>
          </a:p>
        </p:txBody>
      </p:sp>
      <p:sp>
        <p:nvSpPr>
          <p:cNvPr id="29" name="Rounded Rectangle 28"/>
          <p:cNvSpPr/>
          <p:nvPr/>
        </p:nvSpPr>
        <p:spPr>
          <a:xfrm>
            <a:off x="6217920" y="4187952"/>
            <a:ext cx="5166360" cy="694944"/>
          </a:xfrm>
          <a:prstGeom prst="roundRect">
            <a:avLst/>
          </a:prstGeom>
          <a:solidFill>
            <a:srgbClr val="FFFFFF"/>
          </a:solidFill>
          <a:ln w="12700">
            <a:solidFill>
              <a:srgbClr val="E6ED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245352" y="4271361"/>
            <a:ext cx="1508760" cy="400110"/>
          </a:xfrm>
          <a:prstGeom prst="rect">
            <a:avLst/>
          </a:prstGeom>
          <a:noFill/>
        </p:spPr>
        <p:txBody>
          <a:bodyPr wrap="square" lIns="73152" rIns="73152">
            <a:spAutoFit/>
          </a:bodyPr>
          <a:lstStyle/>
          <a:p>
            <a:pPr algn="l">
              <a:defRPr sz="1200" b="1">
                <a:solidFill>
                  <a:srgbClr val="22918F"/>
                </a:solidFill>
                <a:latin typeface="Aptos"/>
              </a:defRPr>
            </a:pPr>
            <a:r>
              <a:rPr sz="2000" dirty="0"/>
              <a:t>INFORM</a:t>
            </a:r>
          </a:p>
        </p:txBody>
      </p:sp>
      <p:sp>
        <p:nvSpPr>
          <p:cNvPr id="31" name="TextBox 30"/>
          <p:cNvSpPr txBox="1"/>
          <p:nvPr/>
        </p:nvSpPr>
        <p:spPr>
          <a:xfrm>
            <a:off x="7863840" y="4288536"/>
            <a:ext cx="3246120" cy="400110"/>
          </a:xfrm>
          <a:prstGeom prst="rect">
            <a:avLst/>
          </a:prstGeom>
          <a:noFill/>
        </p:spPr>
        <p:txBody>
          <a:bodyPr wrap="square" lIns="73152" rIns="73152">
            <a:spAutoFit/>
          </a:bodyPr>
          <a:lstStyle/>
          <a:p>
            <a:pPr algn="l">
              <a:defRPr sz="1300" b="0">
                <a:solidFill>
                  <a:srgbClr val="252B33"/>
                </a:solidFill>
                <a:latin typeface="Aptos"/>
              </a:defRPr>
            </a:pPr>
            <a:r>
              <a:rPr sz="2000" dirty="0"/>
              <a:t>to give information</a:t>
            </a:r>
          </a:p>
        </p:txBody>
      </p:sp>
      <p:sp>
        <p:nvSpPr>
          <p:cNvPr id="32" name="Rounded Rectangle 31"/>
          <p:cNvSpPr/>
          <p:nvPr/>
        </p:nvSpPr>
        <p:spPr>
          <a:xfrm>
            <a:off x="594360" y="5065776"/>
            <a:ext cx="5166360" cy="694944"/>
          </a:xfrm>
          <a:prstGeom prst="roundRect">
            <a:avLst/>
          </a:prstGeom>
          <a:solidFill>
            <a:srgbClr val="FFFFFF"/>
          </a:solidFill>
          <a:ln w="12700">
            <a:solidFill>
              <a:srgbClr val="E6ED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94360" y="5180571"/>
            <a:ext cx="1508760" cy="400110"/>
          </a:xfrm>
          <a:prstGeom prst="rect">
            <a:avLst/>
          </a:prstGeom>
          <a:noFill/>
        </p:spPr>
        <p:txBody>
          <a:bodyPr wrap="square" lIns="73152" rIns="73152">
            <a:spAutoFit/>
          </a:bodyPr>
          <a:lstStyle/>
          <a:p>
            <a:pPr algn="l">
              <a:defRPr sz="1200" b="1">
                <a:solidFill>
                  <a:srgbClr val="22918F"/>
                </a:solidFill>
                <a:latin typeface="Aptos"/>
              </a:defRPr>
            </a:pPr>
            <a:r>
              <a:rPr sz="2000" dirty="0"/>
              <a:t>DESCRIBE</a:t>
            </a:r>
          </a:p>
        </p:txBody>
      </p:sp>
      <p:sp>
        <p:nvSpPr>
          <p:cNvPr id="34" name="TextBox 33"/>
          <p:cNvSpPr txBox="1"/>
          <p:nvPr/>
        </p:nvSpPr>
        <p:spPr>
          <a:xfrm>
            <a:off x="3054096" y="5213193"/>
            <a:ext cx="3246120" cy="461665"/>
          </a:xfrm>
          <a:prstGeom prst="rect">
            <a:avLst/>
          </a:prstGeom>
          <a:noFill/>
        </p:spPr>
        <p:txBody>
          <a:bodyPr wrap="square" lIns="73152" rIns="73152">
            <a:spAutoFit/>
          </a:bodyPr>
          <a:lstStyle/>
          <a:p>
            <a:pPr algn="l">
              <a:defRPr sz="1300" b="0">
                <a:solidFill>
                  <a:srgbClr val="252B33"/>
                </a:solidFill>
                <a:latin typeface="Aptos"/>
              </a:defRPr>
            </a:pPr>
            <a:r>
              <a:rPr sz="2400" dirty="0"/>
              <a:t>to give details</a:t>
            </a:r>
          </a:p>
        </p:txBody>
      </p:sp>
      <p:sp>
        <p:nvSpPr>
          <p:cNvPr id="35" name="Rounded Rectangle 34"/>
          <p:cNvSpPr/>
          <p:nvPr/>
        </p:nvSpPr>
        <p:spPr>
          <a:xfrm>
            <a:off x="6217920" y="5065776"/>
            <a:ext cx="5166360" cy="694944"/>
          </a:xfrm>
          <a:prstGeom prst="roundRect">
            <a:avLst/>
          </a:prstGeom>
          <a:solidFill>
            <a:srgbClr val="FFFFFF"/>
          </a:solidFill>
          <a:ln w="12700">
            <a:solidFill>
              <a:srgbClr val="E6ED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245352" y="5180571"/>
            <a:ext cx="1508760" cy="400110"/>
          </a:xfrm>
          <a:prstGeom prst="rect">
            <a:avLst/>
          </a:prstGeom>
          <a:noFill/>
        </p:spPr>
        <p:txBody>
          <a:bodyPr wrap="square" lIns="73152" rIns="73152">
            <a:spAutoFit/>
          </a:bodyPr>
          <a:lstStyle/>
          <a:p>
            <a:pPr algn="l">
              <a:defRPr sz="1200" b="1">
                <a:solidFill>
                  <a:srgbClr val="22918F"/>
                </a:solidFill>
                <a:latin typeface="Aptos"/>
              </a:defRPr>
            </a:pPr>
            <a:r>
              <a:rPr sz="2000" dirty="0"/>
              <a:t>IMAGINE</a:t>
            </a:r>
          </a:p>
        </p:txBody>
      </p:sp>
      <p:sp>
        <p:nvSpPr>
          <p:cNvPr id="37" name="TextBox 36"/>
          <p:cNvSpPr txBox="1"/>
          <p:nvPr/>
        </p:nvSpPr>
        <p:spPr>
          <a:xfrm>
            <a:off x="7854696" y="5213193"/>
            <a:ext cx="3429000" cy="400110"/>
          </a:xfrm>
          <a:prstGeom prst="rect">
            <a:avLst/>
          </a:prstGeom>
          <a:noFill/>
        </p:spPr>
        <p:txBody>
          <a:bodyPr wrap="square" lIns="73152" rIns="73152">
            <a:spAutoFit/>
          </a:bodyPr>
          <a:lstStyle/>
          <a:p>
            <a:pPr algn="l">
              <a:defRPr sz="1300" b="0">
                <a:solidFill>
                  <a:srgbClr val="252B33"/>
                </a:solidFill>
                <a:latin typeface="Aptos"/>
              </a:defRPr>
            </a:pPr>
            <a:r>
              <a:rPr sz="2000" dirty="0"/>
              <a:t>to create an idea in your mind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47472"/>
            <a:ext cx="914400" cy="73152"/>
          </a:xfrm>
          <a:prstGeom prst="rect">
            <a:avLst/>
          </a:prstGeom>
          <a:solidFill>
            <a:srgbClr val="2291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87680" y="11307"/>
            <a:ext cx="3802644" cy="400110"/>
          </a:xfrm>
          <a:prstGeom prst="rect">
            <a:avLst/>
          </a:prstGeom>
          <a:noFill/>
        </p:spPr>
        <p:txBody>
          <a:bodyPr wrap="none">
            <a:spAutoFit/>
          </a:bodyPr>
          <a:lstStyle/>
          <a:p>
            <a:pPr>
              <a:defRPr sz="1000" b="1">
                <a:solidFill>
                  <a:srgbClr val="22918F"/>
                </a:solidFill>
              </a:defRPr>
            </a:pPr>
            <a:r>
              <a:rPr sz="2000" dirty="0"/>
              <a:t>STARTER • FACT, STORY OR BOTH?</a:t>
            </a:r>
          </a:p>
        </p:txBody>
      </p:sp>
      <p:sp>
        <p:nvSpPr>
          <p:cNvPr id="5" name="TextBox 4"/>
          <p:cNvSpPr txBox="1"/>
          <p:nvPr/>
        </p:nvSpPr>
        <p:spPr>
          <a:xfrm>
            <a:off x="11292840" y="384048"/>
            <a:ext cx="411480" cy="274320"/>
          </a:xfrm>
          <a:prstGeom prst="rect">
            <a:avLst/>
          </a:prstGeom>
          <a:noFill/>
        </p:spPr>
        <p:txBody>
          <a:bodyPr wrap="none">
            <a:spAutoFit/>
          </a:bodyPr>
          <a:lstStyle/>
          <a:p>
            <a:pPr algn="r">
              <a:defRPr sz="1000">
                <a:solidFill>
                  <a:srgbClr val="5C6570"/>
                </a:solidFill>
              </a:defRPr>
            </a:pPr>
            <a:r>
              <a:t>6</a:t>
            </a:r>
          </a:p>
        </p:txBody>
      </p:sp>
      <p:sp>
        <p:nvSpPr>
          <p:cNvPr id="6" name="TextBox 5"/>
          <p:cNvSpPr txBox="1"/>
          <p:nvPr/>
        </p:nvSpPr>
        <p:spPr>
          <a:xfrm>
            <a:off x="594360" y="6473952"/>
            <a:ext cx="7315200" cy="201168"/>
          </a:xfrm>
          <a:prstGeom prst="rect">
            <a:avLst/>
          </a:prstGeom>
          <a:noFill/>
        </p:spPr>
        <p:txBody>
          <a:bodyPr wrap="square" lIns="73152" rIns="73152">
            <a:spAutoFit/>
          </a:bodyPr>
          <a:lstStyle/>
          <a:p>
            <a:pPr algn="l">
              <a:defRPr sz="900" b="0">
                <a:solidFill>
                  <a:srgbClr val="5C6570"/>
                </a:solidFill>
                <a:latin typeface="Aptos"/>
              </a:defRPr>
            </a:pPr>
            <a:r>
              <a:t>Year 6 • Cambridge Primary Checkpoint preparation</a:t>
            </a:r>
          </a:p>
        </p:txBody>
      </p:sp>
      <p:sp>
        <p:nvSpPr>
          <p:cNvPr id="7" name="TextBox 6"/>
          <p:cNvSpPr txBox="1"/>
          <p:nvPr/>
        </p:nvSpPr>
        <p:spPr>
          <a:xfrm>
            <a:off x="487680" y="576009"/>
            <a:ext cx="10972800" cy="685800"/>
          </a:xfrm>
          <a:prstGeom prst="rect">
            <a:avLst/>
          </a:prstGeom>
          <a:noFill/>
        </p:spPr>
        <p:txBody>
          <a:bodyPr wrap="square">
            <a:spAutoFit/>
          </a:bodyPr>
          <a:lstStyle/>
          <a:p>
            <a:pPr>
              <a:defRPr sz="2800" b="1">
                <a:solidFill>
                  <a:srgbClr val="17233B"/>
                </a:solidFill>
                <a:latin typeface="Aptos Display"/>
              </a:defRPr>
            </a:pPr>
            <a:r>
              <a:rPr dirty="0"/>
              <a:t>STARTER: Fact, Story… or Both?</a:t>
            </a:r>
          </a:p>
        </p:txBody>
      </p:sp>
      <p:sp>
        <p:nvSpPr>
          <p:cNvPr id="8" name="TextBox 7"/>
          <p:cNvSpPr txBox="1"/>
          <p:nvPr/>
        </p:nvSpPr>
        <p:spPr>
          <a:xfrm>
            <a:off x="502920" y="1035498"/>
            <a:ext cx="5911298" cy="400110"/>
          </a:xfrm>
          <a:prstGeom prst="rect">
            <a:avLst/>
          </a:prstGeom>
          <a:noFill/>
        </p:spPr>
        <p:txBody>
          <a:bodyPr wrap="none">
            <a:spAutoFit/>
          </a:bodyPr>
          <a:lstStyle/>
          <a:p>
            <a:pPr>
              <a:defRPr sz="1300">
                <a:solidFill>
                  <a:srgbClr val="5C6570"/>
                </a:solidFill>
                <a:latin typeface="Aptos"/>
              </a:defRPr>
            </a:pPr>
            <a:r>
              <a:rPr sz="2000" dirty="0"/>
              <a:t>Move to Fiction / Non-fiction / I need more evidence.</a:t>
            </a:r>
          </a:p>
        </p:txBody>
      </p:sp>
      <p:sp>
        <p:nvSpPr>
          <p:cNvPr id="9" name="Rounded Rectangle 8"/>
          <p:cNvSpPr/>
          <p:nvPr/>
        </p:nvSpPr>
        <p:spPr>
          <a:xfrm>
            <a:off x="822960" y="1600200"/>
            <a:ext cx="10515600" cy="713232"/>
          </a:xfrm>
          <a:prstGeom prst="roundRect">
            <a:avLst/>
          </a:prstGeom>
          <a:solidFill>
            <a:srgbClr val="FFFFFF"/>
          </a:solidFill>
          <a:ln w="12700">
            <a:solidFill>
              <a:srgbClr val="E6ED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1024128" y="1764792"/>
            <a:ext cx="411480" cy="384048"/>
          </a:xfrm>
          <a:prstGeom prst="roundRect">
            <a:avLst/>
          </a:prstGeom>
          <a:solidFill>
            <a:srgbClr val="FCF0D5"/>
          </a:solidFill>
          <a:ln w="12700">
            <a:solidFill>
              <a:srgbClr val="FCF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51560" y="1837943"/>
            <a:ext cx="356616" cy="201168"/>
          </a:xfrm>
          <a:prstGeom prst="rect">
            <a:avLst/>
          </a:prstGeom>
          <a:noFill/>
        </p:spPr>
        <p:txBody>
          <a:bodyPr wrap="square" lIns="73152" rIns="73152">
            <a:spAutoFit/>
          </a:bodyPr>
          <a:lstStyle/>
          <a:p>
            <a:pPr algn="ctr">
              <a:defRPr sz="1000" b="1">
                <a:solidFill>
                  <a:srgbClr val="F0B248"/>
                </a:solidFill>
                <a:latin typeface="Aptos"/>
              </a:defRPr>
            </a:pPr>
            <a:r>
              <a:t>1</a:t>
            </a:r>
          </a:p>
        </p:txBody>
      </p:sp>
      <p:sp>
        <p:nvSpPr>
          <p:cNvPr id="12" name="TextBox 11"/>
          <p:cNvSpPr txBox="1"/>
          <p:nvPr/>
        </p:nvSpPr>
        <p:spPr>
          <a:xfrm>
            <a:off x="1664208" y="1719072"/>
            <a:ext cx="9052560" cy="461665"/>
          </a:xfrm>
          <a:prstGeom prst="rect">
            <a:avLst/>
          </a:prstGeom>
          <a:noFill/>
        </p:spPr>
        <p:txBody>
          <a:bodyPr wrap="square" lIns="73152" rIns="73152">
            <a:spAutoFit/>
          </a:bodyPr>
          <a:lstStyle/>
          <a:p>
            <a:pPr algn="l">
              <a:defRPr sz="1600" b="0">
                <a:solidFill>
                  <a:srgbClr val="252B33"/>
                </a:solidFill>
                <a:latin typeface="Aptos"/>
              </a:defRPr>
            </a:pPr>
            <a:r>
              <a:rPr sz="2400" dirty="0"/>
              <a:t>A young girl discovers an injured fox behind her school.</a:t>
            </a:r>
          </a:p>
        </p:txBody>
      </p:sp>
      <p:sp>
        <p:nvSpPr>
          <p:cNvPr id="13" name="Rounded Rectangle 12"/>
          <p:cNvSpPr/>
          <p:nvPr/>
        </p:nvSpPr>
        <p:spPr>
          <a:xfrm>
            <a:off x="822960" y="2606040"/>
            <a:ext cx="10515600" cy="713232"/>
          </a:xfrm>
          <a:prstGeom prst="roundRect">
            <a:avLst/>
          </a:prstGeom>
          <a:solidFill>
            <a:srgbClr val="FFFFFF"/>
          </a:solidFill>
          <a:ln w="12700">
            <a:solidFill>
              <a:srgbClr val="E6ED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1024128" y="2770632"/>
            <a:ext cx="411480" cy="384048"/>
          </a:xfrm>
          <a:prstGeom prst="roundRect">
            <a:avLst/>
          </a:prstGeom>
          <a:solidFill>
            <a:srgbClr val="FCF0D5"/>
          </a:solidFill>
          <a:ln w="12700">
            <a:solidFill>
              <a:srgbClr val="FCF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51560" y="2843784"/>
            <a:ext cx="356616" cy="201168"/>
          </a:xfrm>
          <a:prstGeom prst="rect">
            <a:avLst/>
          </a:prstGeom>
          <a:noFill/>
        </p:spPr>
        <p:txBody>
          <a:bodyPr wrap="square" lIns="73152" rIns="73152">
            <a:spAutoFit/>
          </a:bodyPr>
          <a:lstStyle/>
          <a:p>
            <a:pPr algn="ctr">
              <a:defRPr sz="1000" b="1">
                <a:solidFill>
                  <a:srgbClr val="F0B248"/>
                </a:solidFill>
                <a:latin typeface="Aptos"/>
              </a:defRPr>
            </a:pPr>
            <a:r>
              <a:t>2</a:t>
            </a:r>
          </a:p>
        </p:txBody>
      </p:sp>
      <p:sp>
        <p:nvSpPr>
          <p:cNvPr id="16" name="TextBox 15"/>
          <p:cNvSpPr txBox="1"/>
          <p:nvPr/>
        </p:nvSpPr>
        <p:spPr>
          <a:xfrm>
            <a:off x="1664208" y="2724912"/>
            <a:ext cx="9052560" cy="461665"/>
          </a:xfrm>
          <a:prstGeom prst="rect">
            <a:avLst/>
          </a:prstGeom>
          <a:noFill/>
        </p:spPr>
        <p:txBody>
          <a:bodyPr wrap="square" lIns="73152" rIns="73152">
            <a:spAutoFit/>
          </a:bodyPr>
          <a:lstStyle/>
          <a:p>
            <a:pPr algn="l">
              <a:defRPr sz="1600" b="0">
                <a:solidFill>
                  <a:srgbClr val="252B33"/>
                </a:solidFill>
                <a:latin typeface="Aptos"/>
              </a:defRPr>
            </a:pPr>
            <a:r>
              <a:rPr sz="2400" dirty="0"/>
              <a:t>Red foxes are found in many parts of the Northern Hemisphere.</a:t>
            </a:r>
          </a:p>
        </p:txBody>
      </p:sp>
      <p:sp>
        <p:nvSpPr>
          <p:cNvPr id="17" name="Rounded Rectangle 16"/>
          <p:cNvSpPr/>
          <p:nvPr/>
        </p:nvSpPr>
        <p:spPr>
          <a:xfrm>
            <a:off x="822960" y="3611880"/>
            <a:ext cx="10515600" cy="713232"/>
          </a:xfrm>
          <a:prstGeom prst="roundRect">
            <a:avLst/>
          </a:prstGeom>
          <a:solidFill>
            <a:srgbClr val="FFFFFF"/>
          </a:solidFill>
          <a:ln w="12700">
            <a:solidFill>
              <a:srgbClr val="E6ED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1024128" y="3776472"/>
            <a:ext cx="411480" cy="384048"/>
          </a:xfrm>
          <a:prstGeom prst="roundRect">
            <a:avLst/>
          </a:prstGeom>
          <a:solidFill>
            <a:srgbClr val="FCF0D5"/>
          </a:solidFill>
          <a:ln w="12700">
            <a:solidFill>
              <a:srgbClr val="FCF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51560" y="3849624"/>
            <a:ext cx="356616" cy="201168"/>
          </a:xfrm>
          <a:prstGeom prst="rect">
            <a:avLst/>
          </a:prstGeom>
          <a:noFill/>
        </p:spPr>
        <p:txBody>
          <a:bodyPr wrap="square" lIns="73152" rIns="73152">
            <a:spAutoFit/>
          </a:bodyPr>
          <a:lstStyle/>
          <a:p>
            <a:pPr algn="ctr">
              <a:defRPr sz="1000" b="1">
                <a:solidFill>
                  <a:srgbClr val="F0B248"/>
                </a:solidFill>
                <a:latin typeface="Aptos"/>
              </a:defRPr>
            </a:pPr>
            <a:r>
              <a:t>3</a:t>
            </a:r>
          </a:p>
        </p:txBody>
      </p:sp>
      <p:sp>
        <p:nvSpPr>
          <p:cNvPr id="20" name="TextBox 19"/>
          <p:cNvSpPr txBox="1"/>
          <p:nvPr/>
        </p:nvSpPr>
        <p:spPr>
          <a:xfrm>
            <a:off x="1664208" y="3730752"/>
            <a:ext cx="9052560" cy="461665"/>
          </a:xfrm>
          <a:prstGeom prst="rect">
            <a:avLst/>
          </a:prstGeom>
          <a:noFill/>
        </p:spPr>
        <p:txBody>
          <a:bodyPr wrap="square" lIns="73152" rIns="73152">
            <a:spAutoFit/>
          </a:bodyPr>
          <a:lstStyle/>
          <a:p>
            <a:pPr algn="l">
              <a:defRPr sz="1600" b="0">
                <a:solidFill>
                  <a:srgbClr val="252B33"/>
                </a:solidFill>
                <a:latin typeface="Aptos"/>
              </a:defRPr>
            </a:pPr>
            <a:r>
              <a:rPr sz="2400" dirty="0"/>
              <a:t>The fox looked at Maya with bright, frightened eyes.</a:t>
            </a:r>
          </a:p>
        </p:txBody>
      </p:sp>
      <p:sp>
        <p:nvSpPr>
          <p:cNvPr id="21" name="Rounded Rectangle 20"/>
          <p:cNvSpPr/>
          <p:nvPr/>
        </p:nvSpPr>
        <p:spPr>
          <a:xfrm>
            <a:off x="822960" y="4617720"/>
            <a:ext cx="10515600" cy="713232"/>
          </a:xfrm>
          <a:prstGeom prst="roundRect">
            <a:avLst/>
          </a:prstGeom>
          <a:solidFill>
            <a:srgbClr val="FFFFFF"/>
          </a:solidFill>
          <a:ln w="12700">
            <a:solidFill>
              <a:srgbClr val="E6ED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1024128" y="4782312"/>
            <a:ext cx="411480" cy="384048"/>
          </a:xfrm>
          <a:prstGeom prst="roundRect">
            <a:avLst/>
          </a:prstGeom>
          <a:solidFill>
            <a:srgbClr val="FCF0D5"/>
          </a:solidFill>
          <a:ln w="12700">
            <a:solidFill>
              <a:srgbClr val="FCF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51560" y="4855464"/>
            <a:ext cx="356616" cy="201168"/>
          </a:xfrm>
          <a:prstGeom prst="rect">
            <a:avLst/>
          </a:prstGeom>
          <a:noFill/>
        </p:spPr>
        <p:txBody>
          <a:bodyPr wrap="square" lIns="73152" rIns="73152">
            <a:spAutoFit/>
          </a:bodyPr>
          <a:lstStyle/>
          <a:p>
            <a:pPr algn="ctr">
              <a:defRPr sz="1000" b="1">
                <a:solidFill>
                  <a:srgbClr val="F0B248"/>
                </a:solidFill>
                <a:latin typeface="Aptos"/>
              </a:defRPr>
            </a:pPr>
            <a:r>
              <a:t>4</a:t>
            </a:r>
          </a:p>
        </p:txBody>
      </p:sp>
      <p:sp>
        <p:nvSpPr>
          <p:cNvPr id="24" name="TextBox 23"/>
          <p:cNvSpPr txBox="1"/>
          <p:nvPr/>
        </p:nvSpPr>
        <p:spPr>
          <a:xfrm>
            <a:off x="1664208" y="4736592"/>
            <a:ext cx="9052560" cy="461665"/>
          </a:xfrm>
          <a:prstGeom prst="rect">
            <a:avLst/>
          </a:prstGeom>
          <a:noFill/>
        </p:spPr>
        <p:txBody>
          <a:bodyPr wrap="square" lIns="73152" rIns="73152">
            <a:spAutoFit/>
          </a:bodyPr>
          <a:lstStyle/>
          <a:p>
            <a:pPr algn="l">
              <a:defRPr sz="1600" b="0">
                <a:solidFill>
                  <a:srgbClr val="252B33"/>
                </a:solidFill>
                <a:latin typeface="Aptos"/>
              </a:defRPr>
            </a:pPr>
            <a:r>
              <a:rPr sz="2400" dirty="0"/>
              <a:t>Foxes are omnivores and may eat small mammals, insects and fruit.</a:t>
            </a:r>
          </a:p>
        </p:txBody>
      </p:sp>
      <p:sp>
        <p:nvSpPr>
          <p:cNvPr id="25" name="TextBox 24"/>
          <p:cNvSpPr txBox="1"/>
          <p:nvPr/>
        </p:nvSpPr>
        <p:spPr>
          <a:xfrm>
            <a:off x="980149" y="5560892"/>
            <a:ext cx="10231395" cy="523220"/>
          </a:xfrm>
          <a:prstGeom prst="rect">
            <a:avLst/>
          </a:prstGeom>
          <a:noFill/>
        </p:spPr>
        <p:txBody>
          <a:bodyPr wrap="square" lIns="73152" rIns="73152">
            <a:spAutoFit/>
          </a:bodyPr>
          <a:lstStyle/>
          <a:p>
            <a:pPr algn="l">
              <a:defRPr sz="1400" b="1">
                <a:solidFill>
                  <a:srgbClr val="17233B"/>
                </a:solidFill>
                <a:latin typeface="Aptos"/>
              </a:defRPr>
            </a:pPr>
            <a:r>
              <a:rPr sz="2800" dirty="0"/>
              <a:t>QUESTION → Which clues made you choose?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47472"/>
            <a:ext cx="914400" cy="73152"/>
          </a:xfrm>
          <a:prstGeom prst="rect">
            <a:avLst/>
          </a:prstGeom>
          <a:solidFill>
            <a:srgbClr val="2291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457200"/>
            <a:ext cx="5029200" cy="320040"/>
          </a:xfrm>
          <a:prstGeom prst="rect">
            <a:avLst/>
          </a:prstGeom>
          <a:noFill/>
        </p:spPr>
        <p:txBody>
          <a:bodyPr wrap="none">
            <a:spAutoFit/>
          </a:bodyPr>
          <a:lstStyle/>
          <a:p>
            <a:pPr>
              <a:defRPr sz="1000" b="1">
                <a:solidFill>
                  <a:srgbClr val="22918F"/>
                </a:solidFill>
              </a:defRPr>
            </a:pPr>
            <a:r>
              <a:t>STARTER • ANSWER</a:t>
            </a:r>
          </a:p>
        </p:txBody>
      </p:sp>
      <p:sp>
        <p:nvSpPr>
          <p:cNvPr id="5" name="TextBox 4"/>
          <p:cNvSpPr txBox="1"/>
          <p:nvPr/>
        </p:nvSpPr>
        <p:spPr>
          <a:xfrm>
            <a:off x="11292840" y="384048"/>
            <a:ext cx="411480" cy="274320"/>
          </a:xfrm>
          <a:prstGeom prst="rect">
            <a:avLst/>
          </a:prstGeom>
          <a:noFill/>
        </p:spPr>
        <p:txBody>
          <a:bodyPr wrap="none">
            <a:spAutoFit/>
          </a:bodyPr>
          <a:lstStyle/>
          <a:p>
            <a:pPr algn="r">
              <a:defRPr sz="1000">
                <a:solidFill>
                  <a:srgbClr val="5C6570"/>
                </a:solidFill>
              </a:defRPr>
            </a:pPr>
            <a:r>
              <a:t>7</a:t>
            </a:r>
          </a:p>
        </p:txBody>
      </p:sp>
      <p:sp>
        <p:nvSpPr>
          <p:cNvPr id="6" name="TextBox 5"/>
          <p:cNvSpPr txBox="1"/>
          <p:nvPr/>
        </p:nvSpPr>
        <p:spPr>
          <a:xfrm>
            <a:off x="594360" y="6473952"/>
            <a:ext cx="7315200" cy="201168"/>
          </a:xfrm>
          <a:prstGeom prst="rect">
            <a:avLst/>
          </a:prstGeom>
          <a:noFill/>
        </p:spPr>
        <p:txBody>
          <a:bodyPr wrap="square" lIns="73152" rIns="73152">
            <a:spAutoFit/>
          </a:bodyPr>
          <a:lstStyle/>
          <a:p>
            <a:pPr algn="l">
              <a:defRPr sz="900" b="0">
                <a:solidFill>
                  <a:srgbClr val="5C6570"/>
                </a:solidFill>
                <a:latin typeface="Aptos"/>
              </a:defRPr>
            </a:pPr>
            <a:r>
              <a:t>Year 6 • Cambridge Primary Checkpoint preparation</a:t>
            </a:r>
          </a:p>
        </p:txBody>
      </p:sp>
      <p:sp>
        <p:nvSpPr>
          <p:cNvPr id="7" name="TextBox 6"/>
          <p:cNvSpPr txBox="1"/>
          <p:nvPr/>
        </p:nvSpPr>
        <p:spPr>
          <a:xfrm>
            <a:off x="594360" y="822960"/>
            <a:ext cx="10972800" cy="685800"/>
          </a:xfrm>
          <a:prstGeom prst="rect">
            <a:avLst/>
          </a:prstGeom>
          <a:noFill/>
        </p:spPr>
        <p:txBody>
          <a:bodyPr wrap="square">
            <a:spAutoFit/>
          </a:bodyPr>
          <a:lstStyle/>
          <a:p>
            <a:pPr>
              <a:defRPr sz="2800" b="1">
                <a:solidFill>
                  <a:srgbClr val="17233B"/>
                </a:solidFill>
                <a:latin typeface="Aptos Display"/>
              </a:defRPr>
            </a:pPr>
            <a:r>
              <a:t>STARTER: What should we notice?</a:t>
            </a:r>
          </a:p>
        </p:txBody>
      </p:sp>
      <p:sp>
        <p:nvSpPr>
          <p:cNvPr id="8" name="Rounded Rectangle 7"/>
          <p:cNvSpPr/>
          <p:nvPr/>
        </p:nvSpPr>
        <p:spPr>
          <a:xfrm>
            <a:off x="777240" y="1691640"/>
            <a:ext cx="5074920" cy="1600200"/>
          </a:xfrm>
          <a:prstGeom prst="roundRect">
            <a:avLst/>
          </a:prstGeom>
          <a:solidFill>
            <a:srgbClr val="FFFFFF"/>
          </a:solidFill>
          <a:ln w="12700">
            <a:solidFill>
              <a:srgbClr val="E1F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960120" y="1874520"/>
            <a:ext cx="411480" cy="384048"/>
          </a:xfrm>
          <a:prstGeom prst="roundRect">
            <a:avLst/>
          </a:prstGeom>
          <a:solidFill>
            <a:srgbClr val="FCF0D5"/>
          </a:solidFill>
          <a:ln w="12700">
            <a:solidFill>
              <a:srgbClr val="FCF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87552" y="1947672"/>
            <a:ext cx="356616" cy="201168"/>
          </a:xfrm>
          <a:prstGeom prst="rect">
            <a:avLst/>
          </a:prstGeom>
          <a:noFill/>
        </p:spPr>
        <p:txBody>
          <a:bodyPr wrap="square" lIns="73152" rIns="73152">
            <a:spAutoFit/>
          </a:bodyPr>
          <a:lstStyle/>
          <a:p>
            <a:pPr algn="ctr">
              <a:defRPr sz="1000" b="1">
                <a:solidFill>
                  <a:srgbClr val="F0B248"/>
                </a:solidFill>
                <a:latin typeface="Aptos"/>
              </a:defRPr>
            </a:pPr>
            <a:r>
              <a:t>1</a:t>
            </a:r>
          </a:p>
        </p:txBody>
      </p:sp>
      <p:sp>
        <p:nvSpPr>
          <p:cNvPr id="11" name="TextBox 10"/>
          <p:cNvSpPr txBox="1"/>
          <p:nvPr/>
        </p:nvSpPr>
        <p:spPr>
          <a:xfrm>
            <a:off x="1527048" y="1874520"/>
            <a:ext cx="3931920" cy="461665"/>
          </a:xfrm>
          <a:prstGeom prst="rect">
            <a:avLst/>
          </a:prstGeom>
          <a:noFill/>
        </p:spPr>
        <p:txBody>
          <a:bodyPr wrap="square" lIns="73152" rIns="73152">
            <a:spAutoFit/>
          </a:bodyPr>
          <a:lstStyle/>
          <a:p>
            <a:pPr algn="l">
              <a:defRPr sz="1300" b="1">
                <a:solidFill>
                  <a:srgbClr val="22918F"/>
                </a:solidFill>
                <a:latin typeface="Aptos"/>
              </a:defRPr>
            </a:pPr>
            <a:r>
              <a:rPr sz="2400" dirty="0"/>
              <a:t>FICTION-LIKELY</a:t>
            </a:r>
          </a:p>
        </p:txBody>
      </p:sp>
      <p:sp>
        <p:nvSpPr>
          <p:cNvPr id="12" name="TextBox 11"/>
          <p:cNvSpPr txBox="1"/>
          <p:nvPr/>
        </p:nvSpPr>
        <p:spPr>
          <a:xfrm>
            <a:off x="1005840" y="2350008"/>
            <a:ext cx="4526280" cy="830997"/>
          </a:xfrm>
          <a:prstGeom prst="rect">
            <a:avLst/>
          </a:prstGeom>
          <a:noFill/>
        </p:spPr>
        <p:txBody>
          <a:bodyPr wrap="square" lIns="73152" rIns="73152">
            <a:spAutoFit/>
          </a:bodyPr>
          <a:lstStyle/>
          <a:p>
            <a:pPr algn="l">
              <a:defRPr sz="1500" b="0">
                <a:solidFill>
                  <a:srgbClr val="252B33"/>
                </a:solidFill>
                <a:latin typeface="Aptos"/>
              </a:defRPr>
            </a:pPr>
            <a:r>
              <a:rPr sz="2400" dirty="0"/>
              <a:t>A specific character + an event that sounds like a story.</a:t>
            </a:r>
          </a:p>
        </p:txBody>
      </p:sp>
      <p:sp>
        <p:nvSpPr>
          <p:cNvPr id="13" name="Rounded Rectangle 12"/>
          <p:cNvSpPr/>
          <p:nvPr/>
        </p:nvSpPr>
        <p:spPr>
          <a:xfrm>
            <a:off x="6309359" y="1691640"/>
            <a:ext cx="5074920" cy="1600200"/>
          </a:xfrm>
          <a:prstGeom prst="roundRect">
            <a:avLst/>
          </a:prstGeom>
          <a:solidFill>
            <a:srgbClr val="FFFFFF"/>
          </a:solidFill>
          <a:ln w="12700">
            <a:solidFill>
              <a:srgbClr val="E1F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492240" y="1874520"/>
            <a:ext cx="411480" cy="384048"/>
          </a:xfrm>
          <a:prstGeom prst="roundRect">
            <a:avLst/>
          </a:prstGeom>
          <a:solidFill>
            <a:srgbClr val="FCF0D5"/>
          </a:solidFill>
          <a:ln w="12700">
            <a:solidFill>
              <a:srgbClr val="FCF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19672" y="1947672"/>
            <a:ext cx="356616" cy="201168"/>
          </a:xfrm>
          <a:prstGeom prst="rect">
            <a:avLst/>
          </a:prstGeom>
          <a:noFill/>
        </p:spPr>
        <p:txBody>
          <a:bodyPr wrap="square" lIns="73152" rIns="73152">
            <a:spAutoFit/>
          </a:bodyPr>
          <a:lstStyle/>
          <a:p>
            <a:pPr algn="ctr">
              <a:defRPr sz="1000" b="1">
                <a:solidFill>
                  <a:srgbClr val="F0B248"/>
                </a:solidFill>
                <a:latin typeface="Aptos"/>
              </a:defRPr>
            </a:pPr>
            <a:r>
              <a:t>2</a:t>
            </a:r>
          </a:p>
        </p:txBody>
      </p:sp>
      <p:sp>
        <p:nvSpPr>
          <p:cNvPr id="16" name="TextBox 15"/>
          <p:cNvSpPr txBox="1"/>
          <p:nvPr/>
        </p:nvSpPr>
        <p:spPr>
          <a:xfrm>
            <a:off x="7059168" y="1874520"/>
            <a:ext cx="3931920" cy="461665"/>
          </a:xfrm>
          <a:prstGeom prst="rect">
            <a:avLst/>
          </a:prstGeom>
          <a:noFill/>
        </p:spPr>
        <p:txBody>
          <a:bodyPr wrap="square" lIns="73152" rIns="73152">
            <a:spAutoFit/>
          </a:bodyPr>
          <a:lstStyle/>
          <a:p>
            <a:pPr algn="l">
              <a:defRPr sz="1300" b="1">
                <a:solidFill>
                  <a:srgbClr val="22918F"/>
                </a:solidFill>
                <a:latin typeface="Aptos"/>
              </a:defRPr>
            </a:pPr>
            <a:r>
              <a:rPr sz="2400" dirty="0"/>
              <a:t>NON-FICTION</a:t>
            </a:r>
          </a:p>
        </p:txBody>
      </p:sp>
      <p:sp>
        <p:nvSpPr>
          <p:cNvPr id="17" name="TextBox 16"/>
          <p:cNvSpPr txBox="1"/>
          <p:nvPr/>
        </p:nvSpPr>
        <p:spPr>
          <a:xfrm>
            <a:off x="6537959" y="2350008"/>
            <a:ext cx="4526280" cy="830997"/>
          </a:xfrm>
          <a:prstGeom prst="rect">
            <a:avLst/>
          </a:prstGeom>
          <a:noFill/>
        </p:spPr>
        <p:txBody>
          <a:bodyPr wrap="square" lIns="73152" rIns="73152">
            <a:spAutoFit/>
          </a:bodyPr>
          <a:lstStyle/>
          <a:p>
            <a:pPr algn="l">
              <a:defRPr sz="1500" b="0">
                <a:solidFill>
                  <a:srgbClr val="252B33"/>
                </a:solidFill>
                <a:latin typeface="Aptos"/>
              </a:defRPr>
            </a:pPr>
            <a:r>
              <a:rPr sz="2400" dirty="0"/>
              <a:t>A general statement about real animals.</a:t>
            </a:r>
          </a:p>
        </p:txBody>
      </p:sp>
      <p:sp>
        <p:nvSpPr>
          <p:cNvPr id="18" name="Rounded Rectangle 17"/>
          <p:cNvSpPr/>
          <p:nvPr/>
        </p:nvSpPr>
        <p:spPr>
          <a:xfrm>
            <a:off x="777240" y="3657600"/>
            <a:ext cx="5074920" cy="1600200"/>
          </a:xfrm>
          <a:prstGeom prst="roundRect">
            <a:avLst/>
          </a:prstGeom>
          <a:solidFill>
            <a:srgbClr val="FFFFFF"/>
          </a:solidFill>
          <a:ln w="12700">
            <a:solidFill>
              <a:srgbClr val="E1F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960120" y="3840480"/>
            <a:ext cx="411480" cy="384048"/>
          </a:xfrm>
          <a:prstGeom prst="roundRect">
            <a:avLst/>
          </a:prstGeom>
          <a:solidFill>
            <a:srgbClr val="FCF0D5"/>
          </a:solidFill>
          <a:ln w="12700">
            <a:solidFill>
              <a:srgbClr val="FCF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87552" y="3913632"/>
            <a:ext cx="356616" cy="201168"/>
          </a:xfrm>
          <a:prstGeom prst="rect">
            <a:avLst/>
          </a:prstGeom>
          <a:noFill/>
        </p:spPr>
        <p:txBody>
          <a:bodyPr wrap="square" lIns="73152" rIns="73152">
            <a:spAutoFit/>
          </a:bodyPr>
          <a:lstStyle/>
          <a:p>
            <a:pPr algn="ctr">
              <a:defRPr sz="1000" b="1">
                <a:solidFill>
                  <a:srgbClr val="F0B248"/>
                </a:solidFill>
                <a:latin typeface="Aptos"/>
              </a:defRPr>
            </a:pPr>
            <a:r>
              <a:t>3</a:t>
            </a:r>
          </a:p>
        </p:txBody>
      </p:sp>
      <p:sp>
        <p:nvSpPr>
          <p:cNvPr id="21" name="TextBox 20"/>
          <p:cNvSpPr txBox="1"/>
          <p:nvPr/>
        </p:nvSpPr>
        <p:spPr>
          <a:xfrm>
            <a:off x="1527048" y="3840480"/>
            <a:ext cx="3931920" cy="461665"/>
          </a:xfrm>
          <a:prstGeom prst="rect">
            <a:avLst/>
          </a:prstGeom>
          <a:noFill/>
        </p:spPr>
        <p:txBody>
          <a:bodyPr wrap="square" lIns="73152" rIns="73152">
            <a:spAutoFit/>
          </a:bodyPr>
          <a:lstStyle/>
          <a:p>
            <a:pPr algn="l">
              <a:defRPr sz="1300" b="1">
                <a:solidFill>
                  <a:srgbClr val="22918F"/>
                </a:solidFill>
                <a:latin typeface="Aptos"/>
              </a:defRPr>
            </a:pPr>
            <a:r>
              <a:rPr sz="2400" dirty="0"/>
              <a:t>FICTION-LIKELY</a:t>
            </a:r>
          </a:p>
        </p:txBody>
      </p:sp>
      <p:sp>
        <p:nvSpPr>
          <p:cNvPr id="22" name="TextBox 21"/>
          <p:cNvSpPr txBox="1"/>
          <p:nvPr/>
        </p:nvSpPr>
        <p:spPr>
          <a:xfrm>
            <a:off x="1005840" y="4315968"/>
            <a:ext cx="4526280" cy="830997"/>
          </a:xfrm>
          <a:prstGeom prst="rect">
            <a:avLst/>
          </a:prstGeom>
          <a:noFill/>
        </p:spPr>
        <p:txBody>
          <a:bodyPr wrap="square" lIns="73152" rIns="73152">
            <a:spAutoFit/>
          </a:bodyPr>
          <a:lstStyle/>
          <a:p>
            <a:pPr algn="l">
              <a:defRPr sz="1500" b="0">
                <a:solidFill>
                  <a:srgbClr val="252B33"/>
                </a:solidFill>
                <a:latin typeface="Aptos"/>
              </a:defRPr>
            </a:pPr>
            <a:r>
              <a:rPr sz="2400" dirty="0"/>
              <a:t>A character-focused, descriptive moment.</a:t>
            </a:r>
          </a:p>
        </p:txBody>
      </p:sp>
      <p:sp>
        <p:nvSpPr>
          <p:cNvPr id="23" name="Rounded Rectangle 22"/>
          <p:cNvSpPr/>
          <p:nvPr/>
        </p:nvSpPr>
        <p:spPr>
          <a:xfrm>
            <a:off x="6309359" y="3657600"/>
            <a:ext cx="5074920" cy="1600200"/>
          </a:xfrm>
          <a:prstGeom prst="roundRect">
            <a:avLst/>
          </a:prstGeom>
          <a:solidFill>
            <a:srgbClr val="FFFFFF"/>
          </a:solidFill>
          <a:ln w="12700">
            <a:solidFill>
              <a:srgbClr val="E1F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6492240" y="3840480"/>
            <a:ext cx="411480" cy="384048"/>
          </a:xfrm>
          <a:prstGeom prst="roundRect">
            <a:avLst/>
          </a:prstGeom>
          <a:solidFill>
            <a:srgbClr val="FCF0D5"/>
          </a:solidFill>
          <a:ln w="12700">
            <a:solidFill>
              <a:srgbClr val="FCF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519672" y="3913632"/>
            <a:ext cx="356616" cy="201168"/>
          </a:xfrm>
          <a:prstGeom prst="rect">
            <a:avLst/>
          </a:prstGeom>
          <a:noFill/>
        </p:spPr>
        <p:txBody>
          <a:bodyPr wrap="square" lIns="73152" rIns="73152">
            <a:spAutoFit/>
          </a:bodyPr>
          <a:lstStyle/>
          <a:p>
            <a:pPr algn="ctr">
              <a:defRPr sz="1000" b="1">
                <a:solidFill>
                  <a:srgbClr val="F0B248"/>
                </a:solidFill>
                <a:latin typeface="Aptos"/>
              </a:defRPr>
            </a:pPr>
            <a:r>
              <a:t>4</a:t>
            </a:r>
          </a:p>
        </p:txBody>
      </p:sp>
      <p:sp>
        <p:nvSpPr>
          <p:cNvPr id="26" name="TextBox 25"/>
          <p:cNvSpPr txBox="1"/>
          <p:nvPr/>
        </p:nvSpPr>
        <p:spPr>
          <a:xfrm>
            <a:off x="7059168" y="3840480"/>
            <a:ext cx="3931920" cy="461665"/>
          </a:xfrm>
          <a:prstGeom prst="rect">
            <a:avLst/>
          </a:prstGeom>
          <a:noFill/>
        </p:spPr>
        <p:txBody>
          <a:bodyPr wrap="square" lIns="73152" rIns="73152">
            <a:spAutoFit/>
          </a:bodyPr>
          <a:lstStyle/>
          <a:p>
            <a:pPr algn="l">
              <a:defRPr sz="1300" b="1">
                <a:solidFill>
                  <a:srgbClr val="22918F"/>
                </a:solidFill>
                <a:latin typeface="Aptos"/>
              </a:defRPr>
            </a:pPr>
            <a:r>
              <a:rPr sz="2400" dirty="0"/>
              <a:t>NON-FICTION</a:t>
            </a:r>
          </a:p>
        </p:txBody>
      </p:sp>
      <p:sp>
        <p:nvSpPr>
          <p:cNvPr id="27" name="TextBox 26"/>
          <p:cNvSpPr txBox="1"/>
          <p:nvPr/>
        </p:nvSpPr>
        <p:spPr>
          <a:xfrm>
            <a:off x="6537959" y="4315968"/>
            <a:ext cx="4526280" cy="830997"/>
          </a:xfrm>
          <a:prstGeom prst="rect">
            <a:avLst/>
          </a:prstGeom>
          <a:noFill/>
        </p:spPr>
        <p:txBody>
          <a:bodyPr wrap="square" lIns="73152" rIns="73152">
            <a:spAutoFit/>
          </a:bodyPr>
          <a:lstStyle/>
          <a:p>
            <a:pPr algn="l">
              <a:defRPr sz="1500" b="0">
                <a:solidFill>
                  <a:srgbClr val="252B33"/>
                </a:solidFill>
                <a:latin typeface="Aptos"/>
              </a:defRPr>
            </a:pPr>
            <a:r>
              <a:rPr sz="2400" dirty="0"/>
              <a:t>A general factual statement about diet.</a:t>
            </a:r>
          </a:p>
        </p:txBody>
      </p:sp>
      <p:sp>
        <p:nvSpPr>
          <p:cNvPr id="28" name="TextBox 27"/>
          <p:cNvSpPr txBox="1"/>
          <p:nvPr/>
        </p:nvSpPr>
        <p:spPr>
          <a:xfrm>
            <a:off x="914400" y="5897880"/>
            <a:ext cx="8229600" cy="320040"/>
          </a:xfrm>
          <a:prstGeom prst="rect">
            <a:avLst/>
          </a:prstGeom>
          <a:noFill/>
        </p:spPr>
        <p:txBody>
          <a:bodyPr wrap="square" lIns="73152" rIns="73152">
            <a:spAutoFit/>
          </a:bodyPr>
          <a:lstStyle/>
          <a:p>
            <a:pPr algn="l">
              <a:defRPr sz="1500" b="1">
                <a:solidFill>
                  <a:srgbClr val="17233B"/>
                </a:solidFill>
                <a:latin typeface="Aptos"/>
              </a:defRPr>
            </a:pPr>
            <a:r>
              <a:t>Key idea: classification needs evidence, not a guess.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47472"/>
            <a:ext cx="914400" cy="73152"/>
          </a:xfrm>
          <a:prstGeom prst="rect">
            <a:avLst/>
          </a:prstGeom>
          <a:solidFill>
            <a:srgbClr val="2291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457200"/>
            <a:ext cx="5029200" cy="320040"/>
          </a:xfrm>
          <a:prstGeom prst="rect">
            <a:avLst/>
          </a:prstGeom>
          <a:noFill/>
        </p:spPr>
        <p:txBody>
          <a:bodyPr wrap="none">
            <a:spAutoFit/>
          </a:bodyPr>
          <a:lstStyle/>
          <a:p>
            <a:pPr>
              <a:defRPr sz="1000" b="1">
                <a:solidFill>
                  <a:srgbClr val="22918F"/>
                </a:solidFill>
              </a:defRPr>
            </a:pPr>
            <a:r>
              <a:t>MINI-TEACHING</a:t>
            </a:r>
          </a:p>
        </p:txBody>
      </p:sp>
      <p:sp>
        <p:nvSpPr>
          <p:cNvPr id="5" name="TextBox 4"/>
          <p:cNvSpPr txBox="1"/>
          <p:nvPr/>
        </p:nvSpPr>
        <p:spPr>
          <a:xfrm>
            <a:off x="11292840" y="384048"/>
            <a:ext cx="411480" cy="274320"/>
          </a:xfrm>
          <a:prstGeom prst="rect">
            <a:avLst/>
          </a:prstGeom>
          <a:noFill/>
        </p:spPr>
        <p:txBody>
          <a:bodyPr wrap="none">
            <a:spAutoFit/>
          </a:bodyPr>
          <a:lstStyle/>
          <a:p>
            <a:pPr algn="r">
              <a:defRPr sz="1000">
                <a:solidFill>
                  <a:srgbClr val="5C6570"/>
                </a:solidFill>
              </a:defRPr>
            </a:pPr>
            <a:r>
              <a:t>8</a:t>
            </a:r>
          </a:p>
        </p:txBody>
      </p:sp>
      <p:sp>
        <p:nvSpPr>
          <p:cNvPr id="6" name="TextBox 5"/>
          <p:cNvSpPr txBox="1"/>
          <p:nvPr/>
        </p:nvSpPr>
        <p:spPr>
          <a:xfrm>
            <a:off x="594360" y="6473952"/>
            <a:ext cx="7315200" cy="201168"/>
          </a:xfrm>
          <a:prstGeom prst="rect">
            <a:avLst/>
          </a:prstGeom>
          <a:noFill/>
        </p:spPr>
        <p:txBody>
          <a:bodyPr wrap="square" lIns="73152" rIns="73152">
            <a:spAutoFit/>
          </a:bodyPr>
          <a:lstStyle/>
          <a:p>
            <a:pPr algn="l">
              <a:defRPr sz="900" b="0">
                <a:solidFill>
                  <a:srgbClr val="5C6570"/>
                </a:solidFill>
                <a:latin typeface="Aptos"/>
              </a:defRPr>
            </a:pPr>
            <a:r>
              <a:t>Year 6 • Cambridge Primary Checkpoint preparation</a:t>
            </a:r>
          </a:p>
        </p:txBody>
      </p:sp>
      <p:sp>
        <p:nvSpPr>
          <p:cNvPr id="7" name="TextBox 6"/>
          <p:cNvSpPr txBox="1"/>
          <p:nvPr/>
        </p:nvSpPr>
        <p:spPr>
          <a:xfrm>
            <a:off x="594360" y="822960"/>
            <a:ext cx="10972800" cy="685800"/>
          </a:xfrm>
          <a:prstGeom prst="rect">
            <a:avLst/>
          </a:prstGeom>
          <a:noFill/>
        </p:spPr>
        <p:txBody>
          <a:bodyPr wrap="square">
            <a:spAutoFit/>
          </a:bodyPr>
          <a:lstStyle/>
          <a:p>
            <a:pPr>
              <a:defRPr sz="2800" b="1">
                <a:solidFill>
                  <a:srgbClr val="17233B"/>
                </a:solidFill>
                <a:latin typeface="Aptos Display"/>
              </a:defRPr>
            </a:pPr>
            <a:r>
              <a:t>What makes a text fiction or non-fiction?</a:t>
            </a:r>
          </a:p>
        </p:txBody>
      </p:sp>
      <p:sp>
        <p:nvSpPr>
          <p:cNvPr id="8" name="Rounded Rectangle 7"/>
          <p:cNvSpPr/>
          <p:nvPr/>
        </p:nvSpPr>
        <p:spPr>
          <a:xfrm>
            <a:off x="685800" y="1600200"/>
            <a:ext cx="5349240" cy="4297680"/>
          </a:xfrm>
          <a:prstGeom prst="roundRect">
            <a:avLst/>
          </a:prstGeom>
          <a:solidFill>
            <a:srgbClr val="FFFFFF"/>
          </a:solidFill>
          <a:ln w="12700">
            <a:solidFill>
              <a:srgbClr val="E1F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172200" y="1600200"/>
            <a:ext cx="5349240" cy="4297680"/>
          </a:xfrm>
          <a:prstGeom prst="roundRect">
            <a:avLst/>
          </a:prstGeom>
          <a:solidFill>
            <a:srgbClr val="FFFFFF"/>
          </a:solidFill>
          <a:ln w="12700">
            <a:solidFill>
              <a:srgbClr val="FCF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1828800"/>
            <a:ext cx="4846320" cy="411480"/>
          </a:xfrm>
          <a:prstGeom prst="rect">
            <a:avLst/>
          </a:prstGeom>
          <a:noFill/>
        </p:spPr>
        <p:txBody>
          <a:bodyPr wrap="square" lIns="73152" rIns="73152">
            <a:spAutoFit/>
          </a:bodyPr>
          <a:lstStyle/>
          <a:p>
            <a:pPr algn="ctr">
              <a:defRPr sz="2400" b="1">
                <a:solidFill>
                  <a:srgbClr val="22918F"/>
                </a:solidFill>
                <a:latin typeface="Aptos"/>
              </a:defRPr>
            </a:pPr>
            <a:r>
              <a:t>FICTION</a:t>
            </a:r>
          </a:p>
        </p:txBody>
      </p:sp>
      <p:sp>
        <p:nvSpPr>
          <p:cNvPr id="11" name="TextBox 10"/>
          <p:cNvSpPr txBox="1"/>
          <p:nvPr/>
        </p:nvSpPr>
        <p:spPr>
          <a:xfrm>
            <a:off x="1051560" y="2468880"/>
            <a:ext cx="4572000" cy="3170099"/>
          </a:xfrm>
          <a:prstGeom prst="rect">
            <a:avLst/>
          </a:prstGeom>
          <a:noFill/>
        </p:spPr>
        <p:txBody>
          <a:bodyPr wrap="square">
            <a:spAutoFit/>
          </a:bodyPr>
          <a:lstStyle/>
          <a:p>
            <a:pPr>
              <a:spcAft>
                <a:spcPts val="800"/>
              </a:spcAft>
              <a:defRPr sz="1600">
                <a:solidFill>
                  <a:srgbClr val="252B33"/>
                </a:solidFill>
                <a:latin typeface="Aptos"/>
              </a:defRPr>
            </a:pPr>
            <a:r>
              <a:rPr sz="2000" dirty="0"/>
              <a:t>• created / imagined</a:t>
            </a:r>
          </a:p>
          <a:p>
            <a:pPr>
              <a:spcAft>
                <a:spcPts val="800"/>
              </a:spcAft>
              <a:defRPr sz="1600">
                <a:solidFill>
                  <a:srgbClr val="252B33"/>
                </a:solidFill>
                <a:latin typeface="Aptos"/>
              </a:defRPr>
            </a:pPr>
            <a:r>
              <a:rPr sz="2000" dirty="0"/>
              <a:t>• characters</a:t>
            </a:r>
          </a:p>
          <a:p>
            <a:pPr>
              <a:spcAft>
                <a:spcPts val="800"/>
              </a:spcAft>
              <a:defRPr sz="1600">
                <a:solidFill>
                  <a:srgbClr val="252B33"/>
                </a:solidFill>
                <a:latin typeface="Aptos"/>
              </a:defRPr>
            </a:pPr>
            <a:r>
              <a:rPr sz="2000" dirty="0"/>
              <a:t>• plot or sequence of events</a:t>
            </a:r>
          </a:p>
          <a:p>
            <a:pPr>
              <a:spcAft>
                <a:spcPts val="800"/>
              </a:spcAft>
              <a:defRPr sz="1600">
                <a:solidFill>
                  <a:srgbClr val="252B33"/>
                </a:solidFill>
                <a:latin typeface="Aptos"/>
              </a:defRPr>
            </a:pPr>
            <a:r>
              <a:rPr sz="2000" dirty="0"/>
              <a:t>• narrator</a:t>
            </a:r>
          </a:p>
          <a:p>
            <a:pPr>
              <a:spcAft>
                <a:spcPts val="800"/>
              </a:spcAft>
              <a:defRPr sz="1600">
                <a:solidFill>
                  <a:srgbClr val="252B33"/>
                </a:solidFill>
                <a:latin typeface="Aptos"/>
              </a:defRPr>
            </a:pPr>
            <a:r>
              <a:rPr sz="2000" dirty="0"/>
              <a:t>• setting</a:t>
            </a:r>
          </a:p>
          <a:p>
            <a:pPr>
              <a:spcAft>
                <a:spcPts val="800"/>
              </a:spcAft>
              <a:defRPr sz="1600">
                <a:solidFill>
                  <a:srgbClr val="252B33"/>
                </a:solidFill>
                <a:latin typeface="Aptos"/>
              </a:defRPr>
            </a:pPr>
            <a:r>
              <a:rPr sz="2000" dirty="0"/>
              <a:t>• may use dialogue</a:t>
            </a:r>
          </a:p>
          <a:p>
            <a:pPr>
              <a:spcAft>
                <a:spcPts val="800"/>
              </a:spcAft>
              <a:defRPr sz="1600">
                <a:solidFill>
                  <a:srgbClr val="252B33"/>
                </a:solidFill>
                <a:latin typeface="Aptos"/>
              </a:defRPr>
            </a:pPr>
            <a:r>
              <a:rPr sz="2000" dirty="0"/>
              <a:t>• often entertains or creates an experience</a:t>
            </a:r>
          </a:p>
        </p:txBody>
      </p:sp>
      <p:sp>
        <p:nvSpPr>
          <p:cNvPr id="12" name="TextBox 11"/>
          <p:cNvSpPr txBox="1"/>
          <p:nvPr/>
        </p:nvSpPr>
        <p:spPr>
          <a:xfrm>
            <a:off x="6400800" y="1828800"/>
            <a:ext cx="4846320" cy="411480"/>
          </a:xfrm>
          <a:prstGeom prst="rect">
            <a:avLst/>
          </a:prstGeom>
          <a:noFill/>
        </p:spPr>
        <p:txBody>
          <a:bodyPr wrap="square" lIns="73152" rIns="73152">
            <a:spAutoFit/>
          </a:bodyPr>
          <a:lstStyle/>
          <a:p>
            <a:pPr algn="ctr">
              <a:defRPr sz="2400" b="1">
                <a:solidFill>
                  <a:srgbClr val="F0B248"/>
                </a:solidFill>
                <a:latin typeface="Aptos"/>
              </a:defRPr>
            </a:pPr>
            <a:r>
              <a:t>NON-FICTION</a:t>
            </a:r>
          </a:p>
        </p:txBody>
      </p:sp>
      <p:sp>
        <p:nvSpPr>
          <p:cNvPr id="13" name="TextBox 12"/>
          <p:cNvSpPr txBox="1"/>
          <p:nvPr/>
        </p:nvSpPr>
        <p:spPr>
          <a:xfrm>
            <a:off x="6537960" y="2468880"/>
            <a:ext cx="4572000" cy="2862322"/>
          </a:xfrm>
          <a:prstGeom prst="rect">
            <a:avLst/>
          </a:prstGeom>
          <a:noFill/>
        </p:spPr>
        <p:txBody>
          <a:bodyPr wrap="square">
            <a:spAutoFit/>
          </a:bodyPr>
          <a:lstStyle/>
          <a:p>
            <a:pPr>
              <a:spcAft>
                <a:spcPts val="800"/>
              </a:spcAft>
              <a:defRPr sz="1600">
                <a:solidFill>
                  <a:srgbClr val="252B33"/>
                </a:solidFill>
                <a:latin typeface="Aptos"/>
              </a:defRPr>
            </a:pPr>
            <a:r>
              <a:rPr sz="2000" dirty="0"/>
              <a:t>• real information</a:t>
            </a:r>
          </a:p>
          <a:p>
            <a:pPr>
              <a:spcAft>
                <a:spcPts val="800"/>
              </a:spcAft>
              <a:defRPr sz="1600">
                <a:solidFill>
                  <a:srgbClr val="252B33"/>
                </a:solidFill>
                <a:latin typeface="Aptos"/>
              </a:defRPr>
            </a:pPr>
            <a:r>
              <a:rPr sz="2000" dirty="0"/>
              <a:t>• facts / evidence</a:t>
            </a:r>
          </a:p>
          <a:p>
            <a:pPr>
              <a:spcAft>
                <a:spcPts val="800"/>
              </a:spcAft>
              <a:defRPr sz="1600">
                <a:solidFill>
                  <a:srgbClr val="252B33"/>
                </a:solidFill>
                <a:latin typeface="Aptos"/>
              </a:defRPr>
            </a:pPr>
            <a:r>
              <a:rPr sz="2000" dirty="0"/>
              <a:t>• general information</a:t>
            </a:r>
          </a:p>
          <a:p>
            <a:pPr>
              <a:spcAft>
                <a:spcPts val="800"/>
              </a:spcAft>
              <a:defRPr sz="1600">
                <a:solidFill>
                  <a:srgbClr val="252B33"/>
                </a:solidFill>
                <a:latin typeface="Aptos"/>
              </a:defRPr>
            </a:pPr>
            <a:r>
              <a:rPr sz="2000" dirty="0"/>
              <a:t>• explanations</a:t>
            </a:r>
          </a:p>
          <a:p>
            <a:pPr>
              <a:spcAft>
                <a:spcPts val="800"/>
              </a:spcAft>
              <a:defRPr sz="1600">
                <a:solidFill>
                  <a:srgbClr val="252B33"/>
                </a:solidFill>
                <a:latin typeface="Aptos"/>
              </a:defRPr>
            </a:pPr>
            <a:r>
              <a:rPr sz="2000" dirty="0"/>
              <a:t>• precise vocabulary</a:t>
            </a:r>
          </a:p>
          <a:p>
            <a:pPr>
              <a:spcAft>
                <a:spcPts val="800"/>
              </a:spcAft>
              <a:defRPr sz="1600">
                <a:solidFill>
                  <a:srgbClr val="252B33"/>
                </a:solidFill>
                <a:latin typeface="Aptos"/>
              </a:defRPr>
            </a:pPr>
            <a:r>
              <a:rPr sz="2000" dirty="0"/>
              <a:t>• may give advice or instructions</a:t>
            </a:r>
          </a:p>
          <a:p>
            <a:pPr>
              <a:spcAft>
                <a:spcPts val="800"/>
              </a:spcAft>
              <a:defRPr sz="1600">
                <a:solidFill>
                  <a:srgbClr val="252B33"/>
                </a:solidFill>
                <a:latin typeface="Aptos"/>
              </a:defRPr>
            </a:pPr>
            <a:r>
              <a:rPr sz="2000" dirty="0"/>
              <a:t>• often informs or explains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47472"/>
            <a:ext cx="914400" cy="73152"/>
          </a:xfrm>
          <a:prstGeom prst="rect">
            <a:avLst/>
          </a:prstGeom>
          <a:solidFill>
            <a:srgbClr val="2291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457200"/>
            <a:ext cx="5029200" cy="320040"/>
          </a:xfrm>
          <a:prstGeom prst="rect">
            <a:avLst/>
          </a:prstGeom>
          <a:noFill/>
        </p:spPr>
        <p:txBody>
          <a:bodyPr wrap="none">
            <a:spAutoFit/>
          </a:bodyPr>
          <a:lstStyle/>
          <a:p>
            <a:pPr>
              <a:defRPr sz="1000" b="1">
                <a:solidFill>
                  <a:srgbClr val="22918F"/>
                </a:solidFill>
              </a:defRPr>
            </a:pPr>
            <a:r>
              <a:t>THINK DEEPER</a:t>
            </a:r>
          </a:p>
        </p:txBody>
      </p:sp>
      <p:sp>
        <p:nvSpPr>
          <p:cNvPr id="5" name="TextBox 4"/>
          <p:cNvSpPr txBox="1"/>
          <p:nvPr/>
        </p:nvSpPr>
        <p:spPr>
          <a:xfrm>
            <a:off x="11292840" y="384048"/>
            <a:ext cx="411480" cy="274320"/>
          </a:xfrm>
          <a:prstGeom prst="rect">
            <a:avLst/>
          </a:prstGeom>
          <a:noFill/>
        </p:spPr>
        <p:txBody>
          <a:bodyPr wrap="none">
            <a:spAutoFit/>
          </a:bodyPr>
          <a:lstStyle/>
          <a:p>
            <a:pPr algn="r">
              <a:defRPr sz="1000">
                <a:solidFill>
                  <a:srgbClr val="5C6570"/>
                </a:solidFill>
              </a:defRPr>
            </a:pPr>
            <a:r>
              <a:t>9</a:t>
            </a:r>
          </a:p>
        </p:txBody>
      </p:sp>
      <p:sp>
        <p:nvSpPr>
          <p:cNvPr id="6" name="TextBox 5"/>
          <p:cNvSpPr txBox="1"/>
          <p:nvPr/>
        </p:nvSpPr>
        <p:spPr>
          <a:xfrm>
            <a:off x="594360" y="6473952"/>
            <a:ext cx="7315200" cy="201168"/>
          </a:xfrm>
          <a:prstGeom prst="rect">
            <a:avLst/>
          </a:prstGeom>
          <a:noFill/>
        </p:spPr>
        <p:txBody>
          <a:bodyPr wrap="square" lIns="73152" rIns="73152">
            <a:spAutoFit/>
          </a:bodyPr>
          <a:lstStyle/>
          <a:p>
            <a:pPr algn="l">
              <a:defRPr sz="900" b="0">
                <a:solidFill>
                  <a:srgbClr val="5C6570"/>
                </a:solidFill>
                <a:latin typeface="Aptos"/>
              </a:defRPr>
            </a:pPr>
            <a:r>
              <a:t>Year 6 • Cambridge Primary Checkpoint preparation</a:t>
            </a:r>
          </a:p>
        </p:txBody>
      </p:sp>
      <p:sp>
        <p:nvSpPr>
          <p:cNvPr id="7" name="TextBox 6"/>
          <p:cNvSpPr txBox="1"/>
          <p:nvPr/>
        </p:nvSpPr>
        <p:spPr>
          <a:xfrm>
            <a:off x="594360" y="822960"/>
            <a:ext cx="10972800" cy="685800"/>
          </a:xfrm>
          <a:prstGeom prst="rect">
            <a:avLst/>
          </a:prstGeom>
          <a:noFill/>
        </p:spPr>
        <p:txBody>
          <a:bodyPr wrap="square">
            <a:spAutoFit/>
          </a:bodyPr>
          <a:lstStyle/>
          <a:p>
            <a:pPr>
              <a:defRPr sz="2800" b="1">
                <a:solidFill>
                  <a:srgbClr val="17233B"/>
                </a:solidFill>
                <a:latin typeface="Aptos Display"/>
              </a:defRPr>
            </a:pPr>
            <a:r>
              <a:t>But wait… can fiction contain facts?</a:t>
            </a:r>
          </a:p>
        </p:txBody>
      </p:sp>
      <p:sp>
        <p:nvSpPr>
          <p:cNvPr id="8" name="Rounded Rectangle 7"/>
          <p:cNvSpPr/>
          <p:nvPr/>
        </p:nvSpPr>
        <p:spPr>
          <a:xfrm>
            <a:off x="1005840" y="1828800"/>
            <a:ext cx="10058400" cy="1600200"/>
          </a:xfrm>
          <a:prstGeom prst="roundRect">
            <a:avLst/>
          </a:prstGeom>
          <a:solidFill>
            <a:srgbClr val="FFFFFF"/>
          </a:solidFill>
          <a:ln w="12700">
            <a:solidFill>
              <a:srgbClr val="E6ED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417320" y="2151846"/>
            <a:ext cx="9235440" cy="954107"/>
          </a:xfrm>
          <a:prstGeom prst="rect">
            <a:avLst/>
          </a:prstGeom>
          <a:noFill/>
        </p:spPr>
        <p:txBody>
          <a:bodyPr wrap="square" lIns="73152" rIns="73152">
            <a:spAutoFit/>
          </a:bodyPr>
          <a:lstStyle/>
          <a:p>
            <a:pPr algn="ctr">
              <a:defRPr sz="2300" b="1">
                <a:solidFill>
                  <a:srgbClr val="17233B"/>
                </a:solidFill>
                <a:latin typeface="Aptos"/>
              </a:defRPr>
            </a:pPr>
            <a:r>
              <a:rPr sz="2800" dirty="0"/>
              <a:t>A story about a polar bear might contain accurate information about polar bears.</a:t>
            </a:r>
          </a:p>
        </p:txBody>
      </p:sp>
      <p:sp>
        <p:nvSpPr>
          <p:cNvPr id="10" name="TextBox 9"/>
          <p:cNvSpPr txBox="1"/>
          <p:nvPr/>
        </p:nvSpPr>
        <p:spPr>
          <a:xfrm>
            <a:off x="640080" y="3831010"/>
            <a:ext cx="11064240" cy="584775"/>
          </a:xfrm>
          <a:prstGeom prst="rect">
            <a:avLst/>
          </a:prstGeom>
          <a:noFill/>
        </p:spPr>
        <p:txBody>
          <a:bodyPr wrap="square" lIns="73152" rIns="73152">
            <a:spAutoFit/>
          </a:bodyPr>
          <a:lstStyle/>
          <a:p>
            <a:pPr algn="ctr">
              <a:defRPr sz="1800" b="1">
                <a:solidFill>
                  <a:srgbClr val="22918F"/>
                </a:solidFill>
                <a:latin typeface="Aptos"/>
              </a:defRPr>
            </a:pPr>
            <a:r>
              <a:rPr sz="3200" dirty="0"/>
              <a:t>Does that automatically make the whole text non-fiction?</a:t>
            </a:r>
          </a:p>
        </p:txBody>
      </p:sp>
      <p:sp>
        <p:nvSpPr>
          <p:cNvPr id="11" name="Rounded Rectangle 10"/>
          <p:cNvSpPr/>
          <p:nvPr/>
        </p:nvSpPr>
        <p:spPr>
          <a:xfrm>
            <a:off x="4251960" y="4800600"/>
            <a:ext cx="3657600" cy="384048"/>
          </a:xfrm>
          <a:prstGeom prst="roundRect">
            <a:avLst/>
          </a:prstGeom>
          <a:solidFill>
            <a:srgbClr val="FCF0D5"/>
          </a:solidFill>
          <a:ln w="12700">
            <a:solidFill>
              <a:srgbClr val="FCF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279392" y="4873752"/>
            <a:ext cx="3602736" cy="201168"/>
          </a:xfrm>
          <a:prstGeom prst="rect">
            <a:avLst/>
          </a:prstGeom>
          <a:noFill/>
        </p:spPr>
        <p:txBody>
          <a:bodyPr wrap="square" lIns="73152" rIns="73152">
            <a:spAutoFit/>
          </a:bodyPr>
          <a:lstStyle/>
          <a:p>
            <a:pPr algn="ctr">
              <a:defRPr sz="1000" b="1">
                <a:solidFill>
                  <a:srgbClr val="F0B248"/>
                </a:solidFill>
                <a:latin typeface="Aptos"/>
              </a:defRPr>
            </a:pPr>
            <a:r>
              <a:t>THINK • PAIR • SHARE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47472"/>
            <a:ext cx="914400" cy="73152"/>
          </a:xfrm>
          <a:prstGeom prst="rect">
            <a:avLst/>
          </a:prstGeom>
          <a:solidFill>
            <a:srgbClr val="2291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457200"/>
            <a:ext cx="5029200" cy="320040"/>
          </a:xfrm>
          <a:prstGeom prst="rect">
            <a:avLst/>
          </a:prstGeom>
          <a:noFill/>
        </p:spPr>
        <p:txBody>
          <a:bodyPr wrap="none">
            <a:spAutoFit/>
          </a:bodyPr>
          <a:lstStyle/>
          <a:p>
            <a:pPr>
              <a:defRPr sz="1000" b="1">
                <a:solidFill>
                  <a:srgbClr val="22918F"/>
                </a:solidFill>
              </a:defRPr>
            </a:pPr>
            <a:r>
              <a:t>THINK DEEPER • ANSWER</a:t>
            </a:r>
          </a:p>
        </p:txBody>
      </p:sp>
      <p:sp>
        <p:nvSpPr>
          <p:cNvPr id="5" name="TextBox 4"/>
          <p:cNvSpPr txBox="1"/>
          <p:nvPr/>
        </p:nvSpPr>
        <p:spPr>
          <a:xfrm>
            <a:off x="11292840" y="384048"/>
            <a:ext cx="411480" cy="274320"/>
          </a:xfrm>
          <a:prstGeom prst="rect">
            <a:avLst/>
          </a:prstGeom>
          <a:noFill/>
        </p:spPr>
        <p:txBody>
          <a:bodyPr wrap="none">
            <a:spAutoFit/>
          </a:bodyPr>
          <a:lstStyle/>
          <a:p>
            <a:pPr algn="r">
              <a:defRPr sz="1000">
                <a:solidFill>
                  <a:srgbClr val="5C6570"/>
                </a:solidFill>
              </a:defRPr>
            </a:pPr>
            <a:r>
              <a:t>10</a:t>
            </a:r>
          </a:p>
        </p:txBody>
      </p:sp>
      <p:sp>
        <p:nvSpPr>
          <p:cNvPr id="6" name="TextBox 5"/>
          <p:cNvSpPr txBox="1"/>
          <p:nvPr/>
        </p:nvSpPr>
        <p:spPr>
          <a:xfrm>
            <a:off x="594360" y="6473952"/>
            <a:ext cx="7315200" cy="201168"/>
          </a:xfrm>
          <a:prstGeom prst="rect">
            <a:avLst/>
          </a:prstGeom>
          <a:noFill/>
        </p:spPr>
        <p:txBody>
          <a:bodyPr wrap="square" lIns="73152" rIns="73152">
            <a:spAutoFit/>
          </a:bodyPr>
          <a:lstStyle/>
          <a:p>
            <a:pPr algn="l">
              <a:defRPr sz="900" b="0">
                <a:solidFill>
                  <a:srgbClr val="5C6570"/>
                </a:solidFill>
                <a:latin typeface="Aptos"/>
              </a:defRPr>
            </a:pPr>
            <a:r>
              <a:t>Year 6 • Cambridge Primary Checkpoint preparation</a:t>
            </a:r>
          </a:p>
        </p:txBody>
      </p:sp>
      <p:sp>
        <p:nvSpPr>
          <p:cNvPr id="7" name="TextBox 6"/>
          <p:cNvSpPr txBox="1"/>
          <p:nvPr/>
        </p:nvSpPr>
        <p:spPr>
          <a:xfrm>
            <a:off x="594360" y="822960"/>
            <a:ext cx="10972800" cy="685800"/>
          </a:xfrm>
          <a:prstGeom prst="rect">
            <a:avLst/>
          </a:prstGeom>
          <a:noFill/>
        </p:spPr>
        <p:txBody>
          <a:bodyPr wrap="square">
            <a:spAutoFit/>
          </a:bodyPr>
          <a:lstStyle/>
          <a:p>
            <a:pPr>
              <a:defRPr sz="2800" b="1">
                <a:solidFill>
                  <a:srgbClr val="17233B"/>
                </a:solidFill>
                <a:latin typeface="Aptos Display"/>
              </a:defRPr>
            </a:pPr>
            <a:r>
              <a:t>Answer: one feature is not enough</a:t>
            </a:r>
          </a:p>
        </p:txBody>
      </p:sp>
      <p:sp>
        <p:nvSpPr>
          <p:cNvPr id="8" name="Rounded Rectangle 7"/>
          <p:cNvSpPr/>
          <p:nvPr/>
        </p:nvSpPr>
        <p:spPr>
          <a:xfrm>
            <a:off x="914400" y="1645920"/>
            <a:ext cx="10332720" cy="3108960"/>
          </a:xfrm>
          <a:prstGeom prst="roundRect">
            <a:avLst/>
          </a:prstGeom>
          <a:solidFill>
            <a:srgbClr val="FFFFFF"/>
          </a:solidFill>
          <a:ln w="12700">
            <a:solidFill>
              <a:srgbClr val="E1F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325880" y="2011680"/>
            <a:ext cx="1828800" cy="502920"/>
          </a:xfrm>
          <a:prstGeom prst="rect">
            <a:avLst/>
          </a:prstGeom>
          <a:noFill/>
        </p:spPr>
        <p:txBody>
          <a:bodyPr wrap="square" lIns="73152" rIns="73152">
            <a:spAutoFit/>
          </a:bodyPr>
          <a:lstStyle/>
          <a:p>
            <a:pPr algn="l">
              <a:defRPr sz="3000" b="1">
                <a:solidFill>
                  <a:srgbClr val="22918F"/>
                </a:solidFill>
                <a:latin typeface="Aptos"/>
              </a:defRPr>
            </a:pPr>
            <a:r>
              <a:t>NO.</a:t>
            </a:r>
          </a:p>
        </p:txBody>
      </p:sp>
      <p:sp>
        <p:nvSpPr>
          <p:cNvPr id="10" name="TextBox 9"/>
          <p:cNvSpPr txBox="1"/>
          <p:nvPr/>
        </p:nvSpPr>
        <p:spPr>
          <a:xfrm>
            <a:off x="1325880" y="2651760"/>
            <a:ext cx="9052560" cy="830997"/>
          </a:xfrm>
          <a:prstGeom prst="rect">
            <a:avLst/>
          </a:prstGeom>
          <a:noFill/>
        </p:spPr>
        <p:txBody>
          <a:bodyPr wrap="square" lIns="73152" rIns="73152">
            <a:spAutoFit/>
          </a:bodyPr>
          <a:lstStyle/>
          <a:p>
            <a:pPr algn="l">
              <a:defRPr sz="2100" b="1">
                <a:solidFill>
                  <a:srgbClr val="17233B"/>
                </a:solidFill>
                <a:latin typeface="Aptos"/>
              </a:defRPr>
            </a:pPr>
            <a:r>
              <a:rPr sz="2400" dirty="0"/>
              <a:t>Fiction can include real facts, and non-fiction can use descriptive language.</a:t>
            </a:r>
          </a:p>
        </p:txBody>
      </p:sp>
      <p:sp>
        <p:nvSpPr>
          <p:cNvPr id="11" name="TextBox 10"/>
          <p:cNvSpPr txBox="1"/>
          <p:nvPr/>
        </p:nvSpPr>
        <p:spPr>
          <a:xfrm>
            <a:off x="1325879" y="3920543"/>
            <a:ext cx="9758131" cy="461665"/>
          </a:xfrm>
          <a:prstGeom prst="rect">
            <a:avLst/>
          </a:prstGeom>
          <a:noFill/>
        </p:spPr>
        <p:txBody>
          <a:bodyPr wrap="square" lIns="73152" rIns="73152">
            <a:spAutoFit/>
          </a:bodyPr>
          <a:lstStyle/>
          <a:p>
            <a:pPr algn="l">
              <a:defRPr sz="1700" b="0">
                <a:solidFill>
                  <a:srgbClr val="252B33"/>
                </a:solidFill>
                <a:latin typeface="Aptos"/>
              </a:defRPr>
            </a:pPr>
            <a:r>
              <a:rPr sz="2400" dirty="0"/>
              <a:t>Look at the WHOLE text: its purpose, structure, viewpoint and evidence.</a:t>
            </a:r>
          </a:p>
        </p:txBody>
      </p:sp>
      <p:sp>
        <p:nvSpPr>
          <p:cNvPr id="12" name="TextBox 11"/>
          <p:cNvSpPr txBox="1"/>
          <p:nvPr/>
        </p:nvSpPr>
        <p:spPr>
          <a:xfrm>
            <a:off x="1325880" y="5166360"/>
            <a:ext cx="8686800" cy="411480"/>
          </a:xfrm>
          <a:prstGeom prst="rect">
            <a:avLst/>
          </a:prstGeom>
          <a:noFill/>
        </p:spPr>
        <p:txBody>
          <a:bodyPr wrap="square" lIns="73152" rIns="73152">
            <a:spAutoFit/>
          </a:bodyPr>
          <a:lstStyle/>
          <a:p>
            <a:pPr algn="l">
              <a:defRPr sz="1600" b="1">
                <a:solidFill>
                  <a:srgbClr val="F0B248"/>
                </a:solidFill>
                <a:latin typeface="Aptos"/>
              </a:defRPr>
            </a:pPr>
            <a:r>
              <a:t>Checkpoint rule → Never rely on one clue alone.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47472"/>
            <a:ext cx="914400" cy="73152"/>
          </a:xfrm>
          <a:prstGeom prst="rect">
            <a:avLst/>
          </a:prstGeom>
          <a:solidFill>
            <a:srgbClr val="2291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417320" y="146358"/>
            <a:ext cx="3397533" cy="461665"/>
          </a:xfrm>
          <a:prstGeom prst="rect">
            <a:avLst/>
          </a:prstGeom>
          <a:noFill/>
        </p:spPr>
        <p:txBody>
          <a:bodyPr wrap="none">
            <a:spAutoFit/>
          </a:bodyPr>
          <a:lstStyle/>
          <a:p>
            <a:pPr>
              <a:defRPr sz="1000" b="1">
                <a:solidFill>
                  <a:srgbClr val="22918F"/>
                </a:solidFill>
              </a:defRPr>
            </a:pPr>
            <a:r>
              <a:rPr sz="2400" dirty="0"/>
              <a:t>CLOSE READING • TEXT A</a:t>
            </a:r>
          </a:p>
        </p:txBody>
      </p:sp>
      <p:sp>
        <p:nvSpPr>
          <p:cNvPr id="5" name="TextBox 4"/>
          <p:cNvSpPr txBox="1"/>
          <p:nvPr/>
        </p:nvSpPr>
        <p:spPr>
          <a:xfrm>
            <a:off x="11292840" y="384048"/>
            <a:ext cx="411480" cy="274320"/>
          </a:xfrm>
          <a:prstGeom prst="rect">
            <a:avLst/>
          </a:prstGeom>
          <a:noFill/>
        </p:spPr>
        <p:txBody>
          <a:bodyPr wrap="none">
            <a:spAutoFit/>
          </a:bodyPr>
          <a:lstStyle/>
          <a:p>
            <a:pPr algn="r">
              <a:defRPr sz="1000">
                <a:solidFill>
                  <a:srgbClr val="5C6570"/>
                </a:solidFill>
              </a:defRPr>
            </a:pPr>
            <a:r>
              <a:t>11</a:t>
            </a:r>
          </a:p>
        </p:txBody>
      </p:sp>
      <p:sp>
        <p:nvSpPr>
          <p:cNvPr id="6" name="TextBox 5"/>
          <p:cNvSpPr txBox="1"/>
          <p:nvPr/>
        </p:nvSpPr>
        <p:spPr>
          <a:xfrm>
            <a:off x="594360" y="6473952"/>
            <a:ext cx="7315200" cy="201168"/>
          </a:xfrm>
          <a:prstGeom prst="rect">
            <a:avLst/>
          </a:prstGeom>
          <a:noFill/>
        </p:spPr>
        <p:txBody>
          <a:bodyPr wrap="square" lIns="73152" rIns="73152">
            <a:spAutoFit/>
          </a:bodyPr>
          <a:lstStyle/>
          <a:p>
            <a:pPr algn="l">
              <a:defRPr sz="900" b="0">
                <a:solidFill>
                  <a:srgbClr val="5C6570"/>
                </a:solidFill>
                <a:latin typeface="Aptos"/>
              </a:defRPr>
            </a:pPr>
            <a:r>
              <a:t>Year 6 • Cambridge Primary Checkpoint preparation</a:t>
            </a:r>
          </a:p>
        </p:txBody>
      </p:sp>
      <p:sp>
        <p:nvSpPr>
          <p:cNvPr id="7" name="TextBox 6"/>
          <p:cNvSpPr txBox="1"/>
          <p:nvPr/>
        </p:nvSpPr>
        <p:spPr>
          <a:xfrm>
            <a:off x="481914" y="617220"/>
            <a:ext cx="10972800" cy="685800"/>
          </a:xfrm>
          <a:prstGeom prst="rect">
            <a:avLst/>
          </a:prstGeom>
          <a:noFill/>
        </p:spPr>
        <p:txBody>
          <a:bodyPr wrap="square">
            <a:spAutoFit/>
          </a:bodyPr>
          <a:lstStyle/>
          <a:p>
            <a:pPr>
              <a:defRPr sz="2800" b="1">
                <a:solidFill>
                  <a:srgbClr val="17233B"/>
                </a:solidFill>
                <a:latin typeface="Aptos Display"/>
              </a:defRPr>
            </a:pPr>
            <a:r>
              <a:t>TEXT A — Teacher-created fiction</a:t>
            </a:r>
          </a:p>
        </p:txBody>
      </p:sp>
      <p:sp>
        <p:nvSpPr>
          <p:cNvPr id="8" name="TextBox 7"/>
          <p:cNvSpPr txBox="1"/>
          <p:nvPr/>
        </p:nvSpPr>
        <p:spPr>
          <a:xfrm>
            <a:off x="556054" y="1097280"/>
            <a:ext cx="9139361" cy="461665"/>
          </a:xfrm>
          <a:prstGeom prst="rect">
            <a:avLst/>
          </a:prstGeom>
          <a:noFill/>
        </p:spPr>
        <p:txBody>
          <a:bodyPr wrap="none">
            <a:spAutoFit/>
          </a:bodyPr>
          <a:lstStyle/>
          <a:p>
            <a:pPr>
              <a:defRPr sz="1300">
                <a:solidFill>
                  <a:srgbClr val="5C6570"/>
                </a:solidFill>
                <a:latin typeface="Aptos"/>
              </a:defRPr>
            </a:pPr>
            <a:r>
              <a:rPr sz="2400" dirty="0"/>
              <a:t>Read like a detective: underline clues that make this feel like a story.</a:t>
            </a:r>
          </a:p>
        </p:txBody>
      </p:sp>
      <p:sp>
        <p:nvSpPr>
          <p:cNvPr id="9" name="Rounded Rectangle 8"/>
          <p:cNvSpPr/>
          <p:nvPr/>
        </p:nvSpPr>
        <p:spPr>
          <a:xfrm>
            <a:off x="-1" y="1508760"/>
            <a:ext cx="12294974" cy="4434840"/>
          </a:xfrm>
          <a:prstGeom prst="roundRect">
            <a:avLst/>
          </a:prstGeom>
          <a:solidFill>
            <a:srgbClr val="FFFFFF"/>
          </a:solidFill>
          <a:ln w="12700">
            <a:solidFill>
              <a:srgbClr val="E6ED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24662" y="1633835"/>
            <a:ext cx="10548138" cy="4401205"/>
          </a:xfrm>
          <a:prstGeom prst="rect">
            <a:avLst/>
          </a:prstGeom>
          <a:noFill/>
        </p:spPr>
        <p:txBody>
          <a:bodyPr wrap="square" lIns="73152" rIns="73152">
            <a:spAutoFit/>
          </a:bodyPr>
          <a:lstStyle/>
          <a:p>
            <a:pPr algn="l">
              <a:defRPr sz="1500" b="0">
                <a:solidFill>
                  <a:srgbClr val="252B33"/>
                </a:solidFill>
                <a:latin typeface="Aptos"/>
              </a:defRPr>
            </a:pPr>
            <a:r>
              <a:rPr sz="2000" dirty="0"/>
              <a:t>Maya was walking home when she noticed something moving behind the school gate. She stopped and listened. A small fox stepped cautiously from the </a:t>
            </a:r>
            <a:r>
              <a:rPr lang="en-US" sz="2000" dirty="0"/>
              <a:t>bushes;</a:t>
            </a:r>
            <a:r>
              <a:rPr sz="2000" dirty="0"/>
              <a:t> its tail covered in leaves.</a:t>
            </a:r>
            <a:br>
              <a:rPr sz="2000" dirty="0"/>
            </a:br>
            <a:br>
              <a:rPr sz="2000" dirty="0"/>
            </a:br>
            <a:r>
              <a:rPr sz="2000" dirty="0"/>
              <a:t>For a moment, Maya did not move. The fox looked at her, then quickly disappeared beneath a wooden bench.</a:t>
            </a:r>
            <a:br>
              <a:rPr sz="2000" dirty="0"/>
            </a:br>
            <a:br>
              <a:rPr sz="2000" dirty="0"/>
            </a:br>
            <a:r>
              <a:rPr sz="2000" dirty="0"/>
              <a:t>Maya wanted to follow it, but she remembered her teacher’s warning not to approach wild animals. Instead, she called her mother and waited quietly at the gate.</a:t>
            </a:r>
            <a:br>
              <a:rPr sz="2000" dirty="0"/>
            </a:br>
            <a:br>
              <a:rPr sz="2000" dirty="0"/>
            </a:br>
            <a:r>
              <a:rPr sz="2000" dirty="0"/>
              <a:t>As the sun began to set, the fox finally slipped through a gap in the fence and vanished into the trees.</a:t>
            </a:r>
            <a:br>
              <a:rPr sz="2000" dirty="0"/>
            </a:br>
            <a:br>
              <a:rPr sz="2000" dirty="0"/>
            </a:br>
            <a:r>
              <a:rPr sz="2000" dirty="0"/>
              <a:t>Maya smiled. She knew she would never forget the strange visitor she had discovered that afternoon.</a:t>
            </a:r>
          </a:p>
        </p:txBody>
      </p:sp>
      <p:sp>
        <p:nvSpPr>
          <p:cNvPr id="11" name="TextBox 10"/>
          <p:cNvSpPr txBox="1"/>
          <p:nvPr/>
        </p:nvSpPr>
        <p:spPr>
          <a:xfrm>
            <a:off x="424662" y="5943600"/>
            <a:ext cx="11701957" cy="461665"/>
          </a:xfrm>
          <a:prstGeom prst="rect">
            <a:avLst/>
          </a:prstGeom>
          <a:noFill/>
        </p:spPr>
        <p:txBody>
          <a:bodyPr wrap="square" lIns="73152" rIns="73152">
            <a:spAutoFit/>
          </a:bodyPr>
          <a:lstStyle/>
          <a:p>
            <a:pPr algn="l">
              <a:defRPr sz="1200" b="1">
                <a:solidFill>
                  <a:srgbClr val="17233B"/>
                </a:solidFill>
                <a:latin typeface="Aptos"/>
              </a:defRPr>
            </a:pPr>
            <a:r>
              <a:rPr sz="2400" dirty="0"/>
              <a:t>Questions → Who? Where? What happens? Who is telling us? What is the purpose?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47472"/>
            <a:ext cx="914400" cy="73152"/>
          </a:xfrm>
          <a:prstGeom prst="rect">
            <a:avLst/>
          </a:prstGeom>
          <a:solidFill>
            <a:srgbClr val="2291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457200"/>
            <a:ext cx="5029200" cy="320040"/>
          </a:xfrm>
          <a:prstGeom prst="rect">
            <a:avLst/>
          </a:prstGeom>
          <a:noFill/>
        </p:spPr>
        <p:txBody>
          <a:bodyPr wrap="none">
            <a:spAutoFit/>
          </a:bodyPr>
          <a:lstStyle/>
          <a:p>
            <a:pPr>
              <a:defRPr sz="1000" b="1">
                <a:solidFill>
                  <a:srgbClr val="22918F"/>
                </a:solidFill>
              </a:defRPr>
            </a:pPr>
            <a:r>
              <a:t>CLOSE READING • TEXT A • ANSWER</a:t>
            </a:r>
          </a:p>
        </p:txBody>
      </p:sp>
      <p:sp>
        <p:nvSpPr>
          <p:cNvPr id="5" name="TextBox 4"/>
          <p:cNvSpPr txBox="1"/>
          <p:nvPr/>
        </p:nvSpPr>
        <p:spPr>
          <a:xfrm>
            <a:off x="11292840" y="384048"/>
            <a:ext cx="411480" cy="274320"/>
          </a:xfrm>
          <a:prstGeom prst="rect">
            <a:avLst/>
          </a:prstGeom>
          <a:noFill/>
        </p:spPr>
        <p:txBody>
          <a:bodyPr wrap="none">
            <a:spAutoFit/>
          </a:bodyPr>
          <a:lstStyle/>
          <a:p>
            <a:pPr algn="r">
              <a:defRPr sz="1000">
                <a:solidFill>
                  <a:srgbClr val="5C6570"/>
                </a:solidFill>
              </a:defRPr>
            </a:pPr>
            <a:r>
              <a:t>12</a:t>
            </a:r>
          </a:p>
        </p:txBody>
      </p:sp>
      <p:sp>
        <p:nvSpPr>
          <p:cNvPr id="6" name="TextBox 5"/>
          <p:cNvSpPr txBox="1"/>
          <p:nvPr/>
        </p:nvSpPr>
        <p:spPr>
          <a:xfrm>
            <a:off x="594360" y="6473952"/>
            <a:ext cx="7315200" cy="201168"/>
          </a:xfrm>
          <a:prstGeom prst="rect">
            <a:avLst/>
          </a:prstGeom>
          <a:noFill/>
        </p:spPr>
        <p:txBody>
          <a:bodyPr wrap="square" lIns="73152" rIns="73152">
            <a:spAutoFit/>
          </a:bodyPr>
          <a:lstStyle/>
          <a:p>
            <a:pPr algn="l">
              <a:defRPr sz="900" b="0">
                <a:solidFill>
                  <a:srgbClr val="5C6570"/>
                </a:solidFill>
                <a:latin typeface="Aptos"/>
              </a:defRPr>
            </a:pPr>
            <a:r>
              <a:t>Year 6 • Cambridge Primary Checkpoint preparation</a:t>
            </a:r>
          </a:p>
        </p:txBody>
      </p:sp>
      <p:sp>
        <p:nvSpPr>
          <p:cNvPr id="7" name="TextBox 6"/>
          <p:cNvSpPr txBox="1"/>
          <p:nvPr/>
        </p:nvSpPr>
        <p:spPr>
          <a:xfrm>
            <a:off x="594360" y="822960"/>
            <a:ext cx="10972800" cy="685800"/>
          </a:xfrm>
          <a:prstGeom prst="rect">
            <a:avLst/>
          </a:prstGeom>
          <a:noFill/>
        </p:spPr>
        <p:txBody>
          <a:bodyPr wrap="square">
            <a:spAutoFit/>
          </a:bodyPr>
          <a:lstStyle/>
          <a:p>
            <a:pPr>
              <a:defRPr sz="2800" b="1">
                <a:solidFill>
                  <a:srgbClr val="17233B"/>
                </a:solidFill>
                <a:latin typeface="Aptos Display"/>
              </a:defRPr>
            </a:pPr>
            <a:r>
              <a:t>Text A — What evidence did we find?</a:t>
            </a:r>
          </a:p>
        </p:txBody>
      </p:sp>
      <p:sp>
        <p:nvSpPr>
          <p:cNvPr id="8" name="Rounded Rectangle 7"/>
          <p:cNvSpPr/>
          <p:nvPr/>
        </p:nvSpPr>
        <p:spPr>
          <a:xfrm>
            <a:off x="914400" y="1554480"/>
            <a:ext cx="10149840" cy="621792"/>
          </a:xfrm>
          <a:prstGeom prst="roundRect">
            <a:avLst/>
          </a:prstGeom>
          <a:solidFill>
            <a:srgbClr val="FFFFFF"/>
          </a:solidFill>
          <a:ln w="12700">
            <a:solidFill>
              <a:srgbClr val="E1F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43000" y="1682495"/>
            <a:ext cx="1920240" cy="400110"/>
          </a:xfrm>
          <a:prstGeom prst="rect">
            <a:avLst/>
          </a:prstGeom>
          <a:noFill/>
        </p:spPr>
        <p:txBody>
          <a:bodyPr wrap="square" lIns="73152" rIns="73152">
            <a:spAutoFit/>
          </a:bodyPr>
          <a:lstStyle/>
          <a:p>
            <a:pPr algn="l">
              <a:defRPr sz="1200" b="1">
                <a:solidFill>
                  <a:srgbClr val="22918F"/>
                </a:solidFill>
                <a:latin typeface="Aptos"/>
              </a:defRPr>
            </a:pPr>
            <a:r>
              <a:rPr sz="2000" dirty="0"/>
              <a:t>Main character</a:t>
            </a:r>
          </a:p>
        </p:txBody>
      </p:sp>
      <p:sp>
        <p:nvSpPr>
          <p:cNvPr id="10" name="TextBox 9"/>
          <p:cNvSpPr txBox="1"/>
          <p:nvPr/>
        </p:nvSpPr>
        <p:spPr>
          <a:xfrm>
            <a:off x="3200400" y="1655064"/>
            <a:ext cx="7498079" cy="461665"/>
          </a:xfrm>
          <a:prstGeom prst="rect">
            <a:avLst/>
          </a:prstGeom>
          <a:noFill/>
        </p:spPr>
        <p:txBody>
          <a:bodyPr wrap="square" lIns="73152" rIns="73152">
            <a:spAutoFit/>
          </a:bodyPr>
          <a:lstStyle/>
          <a:p>
            <a:pPr algn="l">
              <a:defRPr sz="1400" b="0">
                <a:solidFill>
                  <a:srgbClr val="252B33"/>
                </a:solidFill>
                <a:latin typeface="Aptos"/>
              </a:defRPr>
            </a:pPr>
            <a:r>
              <a:rPr sz="2400" dirty="0"/>
              <a:t>Maya</a:t>
            </a:r>
          </a:p>
        </p:txBody>
      </p:sp>
      <p:sp>
        <p:nvSpPr>
          <p:cNvPr id="11" name="Rounded Rectangle 10"/>
          <p:cNvSpPr/>
          <p:nvPr/>
        </p:nvSpPr>
        <p:spPr>
          <a:xfrm>
            <a:off x="914400" y="2377440"/>
            <a:ext cx="10149840" cy="621792"/>
          </a:xfrm>
          <a:prstGeom prst="roundRect">
            <a:avLst/>
          </a:prstGeom>
          <a:solidFill>
            <a:srgbClr val="FFFFFF"/>
          </a:solidFill>
          <a:ln w="12700">
            <a:solidFill>
              <a:srgbClr val="E1F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43000" y="2505456"/>
            <a:ext cx="1920240" cy="461665"/>
          </a:xfrm>
          <a:prstGeom prst="rect">
            <a:avLst/>
          </a:prstGeom>
          <a:noFill/>
        </p:spPr>
        <p:txBody>
          <a:bodyPr wrap="square" lIns="73152" rIns="73152">
            <a:spAutoFit/>
          </a:bodyPr>
          <a:lstStyle/>
          <a:p>
            <a:pPr algn="l">
              <a:defRPr sz="1200" b="1">
                <a:solidFill>
                  <a:srgbClr val="22918F"/>
                </a:solidFill>
                <a:latin typeface="Aptos"/>
              </a:defRPr>
            </a:pPr>
            <a:r>
              <a:rPr sz="2400" dirty="0"/>
              <a:t>Setting</a:t>
            </a:r>
          </a:p>
        </p:txBody>
      </p:sp>
      <p:sp>
        <p:nvSpPr>
          <p:cNvPr id="13" name="TextBox 12"/>
          <p:cNvSpPr txBox="1"/>
          <p:nvPr/>
        </p:nvSpPr>
        <p:spPr>
          <a:xfrm>
            <a:off x="3200400" y="2478024"/>
            <a:ext cx="7498079" cy="461665"/>
          </a:xfrm>
          <a:prstGeom prst="rect">
            <a:avLst/>
          </a:prstGeom>
          <a:noFill/>
        </p:spPr>
        <p:txBody>
          <a:bodyPr wrap="square" lIns="73152" rIns="73152">
            <a:spAutoFit/>
          </a:bodyPr>
          <a:lstStyle/>
          <a:p>
            <a:pPr algn="l">
              <a:defRPr sz="1400" b="0">
                <a:solidFill>
                  <a:srgbClr val="252B33"/>
                </a:solidFill>
                <a:latin typeface="Aptos"/>
              </a:defRPr>
            </a:pPr>
            <a:r>
              <a:rPr sz="2400" dirty="0"/>
              <a:t>near / behind the school, on her way home</a:t>
            </a:r>
          </a:p>
        </p:txBody>
      </p:sp>
      <p:sp>
        <p:nvSpPr>
          <p:cNvPr id="14" name="Rounded Rectangle 13"/>
          <p:cNvSpPr/>
          <p:nvPr/>
        </p:nvSpPr>
        <p:spPr>
          <a:xfrm>
            <a:off x="914400" y="3200400"/>
            <a:ext cx="10149840" cy="621792"/>
          </a:xfrm>
          <a:prstGeom prst="roundRect">
            <a:avLst/>
          </a:prstGeom>
          <a:solidFill>
            <a:srgbClr val="FFFFFF"/>
          </a:solidFill>
          <a:ln w="12700">
            <a:solidFill>
              <a:srgbClr val="E1F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143000" y="3328416"/>
            <a:ext cx="1920240" cy="461665"/>
          </a:xfrm>
          <a:prstGeom prst="rect">
            <a:avLst/>
          </a:prstGeom>
          <a:noFill/>
        </p:spPr>
        <p:txBody>
          <a:bodyPr wrap="square" lIns="73152" rIns="73152">
            <a:spAutoFit/>
          </a:bodyPr>
          <a:lstStyle/>
          <a:p>
            <a:pPr algn="l">
              <a:defRPr sz="1200" b="1">
                <a:solidFill>
                  <a:srgbClr val="22918F"/>
                </a:solidFill>
                <a:latin typeface="Aptos"/>
              </a:defRPr>
            </a:pPr>
            <a:r>
              <a:rPr sz="2400" dirty="0"/>
              <a:t>Narrator</a:t>
            </a:r>
          </a:p>
        </p:txBody>
      </p:sp>
      <p:sp>
        <p:nvSpPr>
          <p:cNvPr id="16" name="TextBox 15"/>
          <p:cNvSpPr txBox="1"/>
          <p:nvPr/>
        </p:nvSpPr>
        <p:spPr>
          <a:xfrm>
            <a:off x="3200400" y="3300984"/>
            <a:ext cx="7498079" cy="400110"/>
          </a:xfrm>
          <a:prstGeom prst="rect">
            <a:avLst/>
          </a:prstGeom>
          <a:noFill/>
        </p:spPr>
        <p:txBody>
          <a:bodyPr wrap="square" lIns="73152" rIns="73152">
            <a:spAutoFit/>
          </a:bodyPr>
          <a:lstStyle/>
          <a:p>
            <a:pPr algn="l">
              <a:defRPr sz="1400" b="0">
                <a:solidFill>
                  <a:srgbClr val="252B33"/>
                </a:solidFill>
                <a:latin typeface="Aptos"/>
              </a:defRPr>
            </a:pPr>
            <a:r>
              <a:rPr sz="2000" dirty="0"/>
              <a:t>a third-person narrator</a:t>
            </a:r>
          </a:p>
        </p:txBody>
      </p:sp>
      <p:sp>
        <p:nvSpPr>
          <p:cNvPr id="17" name="Rounded Rectangle 16"/>
          <p:cNvSpPr/>
          <p:nvPr/>
        </p:nvSpPr>
        <p:spPr>
          <a:xfrm>
            <a:off x="914400" y="4023360"/>
            <a:ext cx="10149840" cy="621792"/>
          </a:xfrm>
          <a:prstGeom prst="roundRect">
            <a:avLst/>
          </a:prstGeom>
          <a:solidFill>
            <a:srgbClr val="FFFFFF"/>
          </a:solidFill>
          <a:ln w="12700">
            <a:solidFill>
              <a:srgbClr val="E1F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143000" y="4151376"/>
            <a:ext cx="1920240" cy="400110"/>
          </a:xfrm>
          <a:prstGeom prst="rect">
            <a:avLst/>
          </a:prstGeom>
          <a:noFill/>
        </p:spPr>
        <p:txBody>
          <a:bodyPr wrap="square" lIns="73152" rIns="73152">
            <a:spAutoFit/>
          </a:bodyPr>
          <a:lstStyle/>
          <a:p>
            <a:pPr algn="l">
              <a:defRPr sz="1200" b="1">
                <a:solidFill>
                  <a:srgbClr val="22918F"/>
                </a:solidFill>
                <a:latin typeface="Aptos"/>
              </a:defRPr>
            </a:pPr>
            <a:r>
              <a:rPr sz="2000" dirty="0"/>
              <a:t>Story clues</a:t>
            </a:r>
          </a:p>
        </p:txBody>
      </p:sp>
      <p:sp>
        <p:nvSpPr>
          <p:cNvPr id="19" name="TextBox 18"/>
          <p:cNvSpPr txBox="1"/>
          <p:nvPr/>
        </p:nvSpPr>
        <p:spPr>
          <a:xfrm>
            <a:off x="2693774" y="4123944"/>
            <a:ext cx="8370466" cy="400110"/>
          </a:xfrm>
          <a:prstGeom prst="rect">
            <a:avLst/>
          </a:prstGeom>
          <a:noFill/>
        </p:spPr>
        <p:txBody>
          <a:bodyPr wrap="square" lIns="73152" rIns="73152">
            <a:spAutoFit/>
          </a:bodyPr>
          <a:lstStyle/>
          <a:p>
            <a:pPr algn="l">
              <a:defRPr sz="1400" b="0">
                <a:solidFill>
                  <a:srgbClr val="252B33"/>
                </a:solidFill>
                <a:latin typeface="Aptos"/>
              </a:defRPr>
            </a:pPr>
            <a:r>
              <a:rPr sz="2000" dirty="0"/>
              <a:t>a sequence of events, character actions and a beginning-to-end episode</a:t>
            </a:r>
          </a:p>
        </p:txBody>
      </p:sp>
      <p:sp>
        <p:nvSpPr>
          <p:cNvPr id="20" name="Rounded Rectangle 19"/>
          <p:cNvSpPr/>
          <p:nvPr/>
        </p:nvSpPr>
        <p:spPr>
          <a:xfrm>
            <a:off x="914400" y="4846320"/>
            <a:ext cx="10149840" cy="621792"/>
          </a:xfrm>
          <a:prstGeom prst="roundRect">
            <a:avLst/>
          </a:prstGeom>
          <a:solidFill>
            <a:srgbClr val="FFFFFF"/>
          </a:solidFill>
          <a:ln w="12700">
            <a:solidFill>
              <a:srgbClr val="E1F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143000" y="4974336"/>
            <a:ext cx="1920240" cy="461665"/>
          </a:xfrm>
          <a:prstGeom prst="rect">
            <a:avLst/>
          </a:prstGeom>
          <a:noFill/>
        </p:spPr>
        <p:txBody>
          <a:bodyPr wrap="square" lIns="73152" rIns="73152">
            <a:spAutoFit/>
          </a:bodyPr>
          <a:lstStyle/>
          <a:p>
            <a:pPr algn="l">
              <a:defRPr sz="1200" b="1">
                <a:solidFill>
                  <a:srgbClr val="22918F"/>
                </a:solidFill>
                <a:latin typeface="Aptos"/>
              </a:defRPr>
            </a:pPr>
            <a:r>
              <a:rPr sz="2400" dirty="0"/>
              <a:t>Purpose</a:t>
            </a:r>
          </a:p>
        </p:txBody>
      </p:sp>
      <p:sp>
        <p:nvSpPr>
          <p:cNvPr id="22" name="TextBox 21"/>
          <p:cNvSpPr txBox="1"/>
          <p:nvPr/>
        </p:nvSpPr>
        <p:spPr>
          <a:xfrm>
            <a:off x="3200400" y="4946904"/>
            <a:ext cx="7498079" cy="400110"/>
          </a:xfrm>
          <a:prstGeom prst="rect">
            <a:avLst/>
          </a:prstGeom>
          <a:noFill/>
        </p:spPr>
        <p:txBody>
          <a:bodyPr wrap="square" lIns="73152" rIns="73152">
            <a:spAutoFit/>
          </a:bodyPr>
          <a:lstStyle/>
          <a:p>
            <a:pPr algn="l">
              <a:defRPr sz="1400" b="0">
                <a:solidFill>
                  <a:srgbClr val="252B33"/>
                </a:solidFill>
                <a:latin typeface="Aptos"/>
              </a:defRPr>
            </a:pPr>
            <a:r>
              <a:rPr sz="2000" dirty="0"/>
              <a:t>mainly to entertain and help the reader imagine the experience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47472"/>
            <a:ext cx="914400" cy="73152"/>
          </a:xfrm>
          <a:prstGeom prst="rect">
            <a:avLst/>
          </a:prstGeom>
          <a:solidFill>
            <a:srgbClr val="2291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457200"/>
            <a:ext cx="5029200" cy="320040"/>
          </a:xfrm>
          <a:prstGeom prst="rect">
            <a:avLst/>
          </a:prstGeom>
          <a:noFill/>
        </p:spPr>
        <p:txBody>
          <a:bodyPr wrap="none">
            <a:spAutoFit/>
          </a:bodyPr>
          <a:lstStyle/>
          <a:p>
            <a:pPr>
              <a:defRPr sz="1000" b="1">
                <a:solidFill>
                  <a:srgbClr val="22918F"/>
                </a:solidFill>
              </a:defRPr>
            </a:pPr>
            <a:r>
              <a:t>CLOSE READING • TEXT B</a:t>
            </a:r>
          </a:p>
        </p:txBody>
      </p:sp>
      <p:sp>
        <p:nvSpPr>
          <p:cNvPr id="5" name="TextBox 4"/>
          <p:cNvSpPr txBox="1"/>
          <p:nvPr/>
        </p:nvSpPr>
        <p:spPr>
          <a:xfrm>
            <a:off x="11292840" y="384048"/>
            <a:ext cx="411480" cy="274320"/>
          </a:xfrm>
          <a:prstGeom prst="rect">
            <a:avLst/>
          </a:prstGeom>
          <a:noFill/>
        </p:spPr>
        <p:txBody>
          <a:bodyPr wrap="none">
            <a:spAutoFit/>
          </a:bodyPr>
          <a:lstStyle/>
          <a:p>
            <a:pPr algn="r">
              <a:defRPr sz="1000">
                <a:solidFill>
                  <a:srgbClr val="5C6570"/>
                </a:solidFill>
              </a:defRPr>
            </a:pPr>
            <a:r>
              <a:t>13</a:t>
            </a:r>
          </a:p>
        </p:txBody>
      </p:sp>
      <p:sp>
        <p:nvSpPr>
          <p:cNvPr id="6" name="TextBox 5"/>
          <p:cNvSpPr txBox="1"/>
          <p:nvPr/>
        </p:nvSpPr>
        <p:spPr>
          <a:xfrm>
            <a:off x="594360" y="6473952"/>
            <a:ext cx="7315200" cy="201168"/>
          </a:xfrm>
          <a:prstGeom prst="rect">
            <a:avLst/>
          </a:prstGeom>
          <a:noFill/>
        </p:spPr>
        <p:txBody>
          <a:bodyPr wrap="square" lIns="73152" rIns="73152">
            <a:spAutoFit/>
          </a:bodyPr>
          <a:lstStyle/>
          <a:p>
            <a:pPr algn="l">
              <a:defRPr sz="900" b="0">
                <a:solidFill>
                  <a:srgbClr val="5C6570"/>
                </a:solidFill>
                <a:latin typeface="Aptos"/>
              </a:defRPr>
            </a:pPr>
            <a:r>
              <a:t>Year 6 • Cambridge Primary Checkpoint preparation</a:t>
            </a:r>
          </a:p>
        </p:txBody>
      </p:sp>
      <p:sp>
        <p:nvSpPr>
          <p:cNvPr id="7" name="TextBox 6"/>
          <p:cNvSpPr txBox="1"/>
          <p:nvPr/>
        </p:nvSpPr>
        <p:spPr>
          <a:xfrm>
            <a:off x="617220" y="624634"/>
            <a:ext cx="10972800" cy="685800"/>
          </a:xfrm>
          <a:prstGeom prst="rect">
            <a:avLst/>
          </a:prstGeom>
          <a:noFill/>
        </p:spPr>
        <p:txBody>
          <a:bodyPr wrap="square">
            <a:spAutoFit/>
          </a:bodyPr>
          <a:lstStyle/>
          <a:p>
            <a:pPr>
              <a:defRPr sz="2800" b="1">
                <a:solidFill>
                  <a:srgbClr val="17233B"/>
                </a:solidFill>
                <a:latin typeface="Aptos Display"/>
              </a:defRPr>
            </a:pPr>
            <a:r>
              <a:rPr dirty="0"/>
              <a:t>TEXT B — Teacher-created non-fiction</a:t>
            </a:r>
          </a:p>
        </p:txBody>
      </p:sp>
      <p:sp>
        <p:nvSpPr>
          <p:cNvPr id="8" name="TextBox 7"/>
          <p:cNvSpPr txBox="1"/>
          <p:nvPr/>
        </p:nvSpPr>
        <p:spPr>
          <a:xfrm>
            <a:off x="617220" y="1079601"/>
            <a:ext cx="5070234" cy="461665"/>
          </a:xfrm>
          <a:prstGeom prst="rect">
            <a:avLst/>
          </a:prstGeom>
          <a:noFill/>
        </p:spPr>
        <p:txBody>
          <a:bodyPr wrap="none">
            <a:spAutoFit/>
          </a:bodyPr>
          <a:lstStyle/>
          <a:p>
            <a:pPr>
              <a:defRPr sz="1300">
                <a:solidFill>
                  <a:srgbClr val="5C6570"/>
                </a:solidFill>
                <a:latin typeface="Aptos"/>
              </a:defRPr>
            </a:pPr>
            <a:r>
              <a:rPr sz="2400" dirty="0"/>
              <a:t>Same broad topic. Different purpose.</a:t>
            </a:r>
          </a:p>
        </p:txBody>
      </p:sp>
      <p:sp>
        <p:nvSpPr>
          <p:cNvPr id="9" name="Rounded Rectangle 8"/>
          <p:cNvSpPr/>
          <p:nvPr/>
        </p:nvSpPr>
        <p:spPr>
          <a:xfrm>
            <a:off x="321276" y="1508760"/>
            <a:ext cx="11383044" cy="4434840"/>
          </a:xfrm>
          <a:prstGeom prst="roundRect">
            <a:avLst/>
          </a:prstGeom>
          <a:solidFill>
            <a:srgbClr val="FFFFFF"/>
          </a:solidFill>
          <a:ln w="12700">
            <a:solidFill>
              <a:srgbClr val="FCF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1902446"/>
            <a:ext cx="10511028" cy="3477875"/>
          </a:xfrm>
          <a:prstGeom prst="rect">
            <a:avLst/>
          </a:prstGeom>
          <a:noFill/>
        </p:spPr>
        <p:txBody>
          <a:bodyPr wrap="square" lIns="73152" rIns="73152">
            <a:spAutoFit/>
          </a:bodyPr>
          <a:lstStyle/>
          <a:p>
            <a:pPr algn="l">
              <a:defRPr sz="1500" b="0">
                <a:solidFill>
                  <a:srgbClr val="252B33"/>
                </a:solidFill>
                <a:latin typeface="Aptos"/>
              </a:defRPr>
            </a:pPr>
            <a:r>
              <a:rPr sz="2000" dirty="0"/>
              <a:t>Foxes are wild mammals that can live in a variety of environments, including areas close to towns and cities. They are usually most active during the evening and at night.</a:t>
            </a:r>
            <a:br>
              <a:rPr sz="2000" dirty="0"/>
            </a:br>
            <a:br>
              <a:rPr sz="2000" dirty="0"/>
            </a:br>
            <a:r>
              <a:rPr sz="2000" dirty="0"/>
              <a:t>Foxes have adapted to human environments because they can find food in gardens, parks and other places. Their diet may include small animals, insects, fruit and other available food.</a:t>
            </a:r>
            <a:br>
              <a:rPr sz="2000" dirty="0"/>
            </a:br>
            <a:br>
              <a:rPr sz="2000" dirty="0"/>
            </a:br>
            <a:r>
              <a:rPr sz="2000" dirty="0"/>
              <a:t>If a fox is seen near a school or home, people should observe it from a safe distance and avoid trying to touch or feed it. Wild animals may behave unpredictably when they feel threatened.</a:t>
            </a:r>
            <a:br>
              <a:rPr sz="2000" dirty="0"/>
            </a:br>
            <a:br>
              <a:rPr sz="2000" dirty="0"/>
            </a:br>
            <a:r>
              <a:rPr sz="2000" dirty="0"/>
              <a:t>Fox sightings in urban areas can therefore be an opportunity for people to learn more about how animals adapt to changing environments.</a:t>
            </a:r>
          </a:p>
        </p:txBody>
      </p:sp>
      <p:sp>
        <p:nvSpPr>
          <p:cNvPr id="11" name="TextBox 10"/>
          <p:cNvSpPr txBox="1"/>
          <p:nvPr/>
        </p:nvSpPr>
        <p:spPr>
          <a:xfrm>
            <a:off x="914399" y="6035040"/>
            <a:ext cx="10898659" cy="400110"/>
          </a:xfrm>
          <a:prstGeom prst="rect">
            <a:avLst/>
          </a:prstGeom>
          <a:noFill/>
        </p:spPr>
        <p:txBody>
          <a:bodyPr wrap="square" lIns="73152" rIns="73152">
            <a:spAutoFit/>
          </a:bodyPr>
          <a:lstStyle/>
          <a:p>
            <a:pPr algn="l">
              <a:defRPr sz="1200" b="1">
                <a:solidFill>
                  <a:srgbClr val="17233B"/>
                </a:solidFill>
                <a:latin typeface="Aptos"/>
              </a:defRPr>
            </a:pPr>
            <a:r>
              <a:rPr sz="2000" dirty="0"/>
              <a:t>Questions → Is there a main character? What information is given? What is the purpose?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47472"/>
            <a:ext cx="914400" cy="73152"/>
          </a:xfrm>
          <a:prstGeom prst="rect">
            <a:avLst/>
          </a:prstGeom>
          <a:solidFill>
            <a:srgbClr val="2291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457200"/>
            <a:ext cx="5029200" cy="320040"/>
          </a:xfrm>
          <a:prstGeom prst="rect">
            <a:avLst/>
          </a:prstGeom>
          <a:noFill/>
        </p:spPr>
        <p:txBody>
          <a:bodyPr wrap="none">
            <a:spAutoFit/>
          </a:bodyPr>
          <a:lstStyle/>
          <a:p>
            <a:pPr>
              <a:defRPr sz="1000" b="1">
                <a:solidFill>
                  <a:srgbClr val="22918F"/>
                </a:solidFill>
              </a:defRPr>
            </a:pPr>
            <a:r>
              <a:t>CLOSE READING • TEXT B • ANSWER</a:t>
            </a:r>
          </a:p>
        </p:txBody>
      </p:sp>
      <p:sp>
        <p:nvSpPr>
          <p:cNvPr id="5" name="TextBox 4"/>
          <p:cNvSpPr txBox="1"/>
          <p:nvPr/>
        </p:nvSpPr>
        <p:spPr>
          <a:xfrm>
            <a:off x="11292840" y="384048"/>
            <a:ext cx="411480" cy="274320"/>
          </a:xfrm>
          <a:prstGeom prst="rect">
            <a:avLst/>
          </a:prstGeom>
          <a:noFill/>
        </p:spPr>
        <p:txBody>
          <a:bodyPr wrap="none">
            <a:spAutoFit/>
          </a:bodyPr>
          <a:lstStyle/>
          <a:p>
            <a:pPr algn="r">
              <a:defRPr sz="1000">
                <a:solidFill>
                  <a:srgbClr val="5C6570"/>
                </a:solidFill>
              </a:defRPr>
            </a:pPr>
            <a:r>
              <a:t>14</a:t>
            </a:r>
          </a:p>
        </p:txBody>
      </p:sp>
      <p:sp>
        <p:nvSpPr>
          <p:cNvPr id="6" name="TextBox 5"/>
          <p:cNvSpPr txBox="1"/>
          <p:nvPr/>
        </p:nvSpPr>
        <p:spPr>
          <a:xfrm>
            <a:off x="594360" y="6473952"/>
            <a:ext cx="7315200" cy="201168"/>
          </a:xfrm>
          <a:prstGeom prst="rect">
            <a:avLst/>
          </a:prstGeom>
          <a:noFill/>
        </p:spPr>
        <p:txBody>
          <a:bodyPr wrap="square" lIns="73152" rIns="73152">
            <a:spAutoFit/>
          </a:bodyPr>
          <a:lstStyle/>
          <a:p>
            <a:pPr algn="l">
              <a:defRPr sz="900" b="0">
                <a:solidFill>
                  <a:srgbClr val="5C6570"/>
                </a:solidFill>
                <a:latin typeface="Aptos"/>
              </a:defRPr>
            </a:pPr>
            <a:r>
              <a:t>Year 6 • Cambridge Primary Checkpoint preparation</a:t>
            </a:r>
          </a:p>
        </p:txBody>
      </p:sp>
      <p:sp>
        <p:nvSpPr>
          <p:cNvPr id="7" name="TextBox 6"/>
          <p:cNvSpPr txBox="1"/>
          <p:nvPr/>
        </p:nvSpPr>
        <p:spPr>
          <a:xfrm>
            <a:off x="594360" y="822960"/>
            <a:ext cx="10972800" cy="685800"/>
          </a:xfrm>
          <a:prstGeom prst="rect">
            <a:avLst/>
          </a:prstGeom>
          <a:noFill/>
        </p:spPr>
        <p:txBody>
          <a:bodyPr wrap="square">
            <a:spAutoFit/>
          </a:bodyPr>
          <a:lstStyle/>
          <a:p>
            <a:pPr>
              <a:defRPr sz="2800" b="1">
                <a:solidFill>
                  <a:srgbClr val="17233B"/>
                </a:solidFill>
                <a:latin typeface="Aptos Display"/>
              </a:defRPr>
            </a:pPr>
            <a:r>
              <a:t>Text B — What evidence did we find?</a:t>
            </a:r>
          </a:p>
        </p:txBody>
      </p:sp>
      <p:sp>
        <p:nvSpPr>
          <p:cNvPr id="8" name="Rounded Rectangle 7"/>
          <p:cNvSpPr/>
          <p:nvPr/>
        </p:nvSpPr>
        <p:spPr>
          <a:xfrm>
            <a:off x="914400" y="1554480"/>
            <a:ext cx="10149840" cy="621792"/>
          </a:xfrm>
          <a:prstGeom prst="roundRect">
            <a:avLst/>
          </a:prstGeom>
          <a:solidFill>
            <a:srgbClr val="FFFFFF"/>
          </a:solidFill>
          <a:ln w="12700">
            <a:solidFill>
              <a:srgbClr val="FCF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43000" y="1682495"/>
            <a:ext cx="2194560" cy="400110"/>
          </a:xfrm>
          <a:prstGeom prst="rect">
            <a:avLst/>
          </a:prstGeom>
          <a:noFill/>
        </p:spPr>
        <p:txBody>
          <a:bodyPr wrap="square" lIns="73152" rIns="73152">
            <a:spAutoFit/>
          </a:bodyPr>
          <a:lstStyle/>
          <a:p>
            <a:pPr algn="l">
              <a:defRPr sz="1200" b="1">
                <a:solidFill>
                  <a:srgbClr val="F0B248"/>
                </a:solidFill>
                <a:latin typeface="Aptos"/>
              </a:defRPr>
            </a:pPr>
            <a:r>
              <a:rPr sz="2000" dirty="0"/>
              <a:t>Main character?</a:t>
            </a:r>
          </a:p>
        </p:txBody>
      </p:sp>
      <p:sp>
        <p:nvSpPr>
          <p:cNvPr id="10" name="TextBox 9"/>
          <p:cNvSpPr txBox="1"/>
          <p:nvPr/>
        </p:nvSpPr>
        <p:spPr>
          <a:xfrm>
            <a:off x="3429000" y="1655064"/>
            <a:ext cx="7223760" cy="461665"/>
          </a:xfrm>
          <a:prstGeom prst="rect">
            <a:avLst/>
          </a:prstGeom>
          <a:noFill/>
        </p:spPr>
        <p:txBody>
          <a:bodyPr wrap="square" lIns="73152" rIns="73152">
            <a:spAutoFit/>
          </a:bodyPr>
          <a:lstStyle/>
          <a:p>
            <a:pPr algn="l">
              <a:defRPr sz="1400" b="0">
                <a:solidFill>
                  <a:srgbClr val="252B33"/>
                </a:solidFill>
                <a:latin typeface="Aptos"/>
              </a:defRPr>
            </a:pPr>
            <a:r>
              <a:rPr sz="2400" dirty="0"/>
              <a:t>No. The text discusses foxes generally.</a:t>
            </a:r>
          </a:p>
        </p:txBody>
      </p:sp>
      <p:sp>
        <p:nvSpPr>
          <p:cNvPr id="11" name="Rounded Rectangle 10"/>
          <p:cNvSpPr/>
          <p:nvPr/>
        </p:nvSpPr>
        <p:spPr>
          <a:xfrm>
            <a:off x="914400" y="2377440"/>
            <a:ext cx="10149840" cy="621792"/>
          </a:xfrm>
          <a:prstGeom prst="roundRect">
            <a:avLst/>
          </a:prstGeom>
          <a:solidFill>
            <a:srgbClr val="FFFFFF"/>
          </a:solidFill>
          <a:ln w="12700">
            <a:solidFill>
              <a:srgbClr val="FCF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43000" y="2505456"/>
            <a:ext cx="2194560" cy="461665"/>
          </a:xfrm>
          <a:prstGeom prst="rect">
            <a:avLst/>
          </a:prstGeom>
          <a:noFill/>
        </p:spPr>
        <p:txBody>
          <a:bodyPr wrap="square" lIns="73152" rIns="73152">
            <a:spAutoFit/>
          </a:bodyPr>
          <a:lstStyle/>
          <a:p>
            <a:pPr algn="l">
              <a:defRPr sz="1200" b="1">
                <a:solidFill>
                  <a:srgbClr val="F0B248"/>
                </a:solidFill>
                <a:latin typeface="Aptos"/>
              </a:defRPr>
            </a:pPr>
            <a:r>
              <a:rPr sz="2400" dirty="0"/>
              <a:t>Information</a:t>
            </a:r>
          </a:p>
        </p:txBody>
      </p:sp>
      <p:sp>
        <p:nvSpPr>
          <p:cNvPr id="13" name="TextBox 12"/>
          <p:cNvSpPr txBox="1"/>
          <p:nvPr/>
        </p:nvSpPr>
        <p:spPr>
          <a:xfrm>
            <a:off x="3429000" y="2478024"/>
            <a:ext cx="7223760" cy="461665"/>
          </a:xfrm>
          <a:prstGeom prst="rect">
            <a:avLst/>
          </a:prstGeom>
          <a:noFill/>
        </p:spPr>
        <p:txBody>
          <a:bodyPr wrap="square" lIns="73152" rIns="73152">
            <a:spAutoFit/>
          </a:bodyPr>
          <a:lstStyle/>
          <a:p>
            <a:pPr algn="l">
              <a:defRPr sz="1400" b="0">
                <a:solidFill>
                  <a:srgbClr val="252B33"/>
                </a:solidFill>
                <a:latin typeface="Aptos"/>
              </a:defRPr>
            </a:pPr>
            <a:r>
              <a:rPr sz="2400" dirty="0"/>
              <a:t>habitat, activity, diet and safe </a:t>
            </a:r>
            <a:r>
              <a:rPr sz="2400" dirty="0" err="1"/>
              <a:t>behaviour</a:t>
            </a:r>
            <a:r>
              <a:rPr sz="2400" dirty="0"/>
              <a:t>.</a:t>
            </a:r>
          </a:p>
        </p:txBody>
      </p:sp>
      <p:sp>
        <p:nvSpPr>
          <p:cNvPr id="14" name="Rounded Rectangle 13"/>
          <p:cNvSpPr/>
          <p:nvPr/>
        </p:nvSpPr>
        <p:spPr>
          <a:xfrm>
            <a:off x="914400" y="3200400"/>
            <a:ext cx="10149840" cy="621792"/>
          </a:xfrm>
          <a:prstGeom prst="roundRect">
            <a:avLst/>
          </a:prstGeom>
          <a:solidFill>
            <a:srgbClr val="FFFFFF"/>
          </a:solidFill>
          <a:ln w="12700">
            <a:solidFill>
              <a:srgbClr val="FCF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143000" y="3328416"/>
            <a:ext cx="2194560" cy="461665"/>
          </a:xfrm>
          <a:prstGeom prst="rect">
            <a:avLst/>
          </a:prstGeom>
          <a:noFill/>
        </p:spPr>
        <p:txBody>
          <a:bodyPr wrap="square" lIns="73152" rIns="73152">
            <a:spAutoFit/>
          </a:bodyPr>
          <a:lstStyle/>
          <a:p>
            <a:pPr algn="l">
              <a:defRPr sz="1200" b="1">
                <a:solidFill>
                  <a:srgbClr val="F0B248"/>
                </a:solidFill>
                <a:latin typeface="Aptos"/>
              </a:defRPr>
            </a:pPr>
            <a:r>
              <a:rPr sz="2400" dirty="0"/>
              <a:t>Language</a:t>
            </a:r>
          </a:p>
        </p:txBody>
      </p:sp>
      <p:sp>
        <p:nvSpPr>
          <p:cNvPr id="16" name="TextBox 15"/>
          <p:cNvSpPr txBox="1"/>
          <p:nvPr/>
        </p:nvSpPr>
        <p:spPr>
          <a:xfrm>
            <a:off x="3429000" y="3300984"/>
            <a:ext cx="7223760" cy="461665"/>
          </a:xfrm>
          <a:prstGeom prst="rect">
            <a:avLst/>
          </a:prstGeom>
          <a:noFill/>
        </p:spPr>
        <p:txBody>
          <a:bodyPr wrap="square" lIns="73152" rIns="73152">
            <a:spAutoFit/>
          </a:bodyPr>
          <a:lstStyle/>
          <a:p>
            <a:pPr algn="l">
              <a:defRPr sz="1400" b="0">
                <a:solidFill>
                  <a:srgbClr val="252B33"/>
                </a:solidFill>
                <a:latin typeface="Aptos"/>
              </a:defRPr>
            </a:pPr>
            <a:r>
              <a:rPr sz="2400" dirty="0"/>
              <a:t>general statements and precise information.</a:t>
            </a:r>
          </a:p>
        </p:txBody>
      </p:sp>
      <p:sp>
        <p:nvSpPr>
          <p:cNvPr id="17" name="Rounded Rectangle 16"/>
          <p:cNvSpPr/>
          <p:nvPr/>
        </p:nvSpPr>
        <p:spPr>
          <a:xfrm>
            <a:off x="914400" y="4023360"/>
            <a:ext cx="10149840" cy="621792"/>
          </a:xfrm>
          <a:prstGeom prst="roundRect">
            <a:avLst/>
          </a:prstGeom>
          <a:solidFill>
            <a:srgbClr val="FFFFFF"/>
          </a:solidFill>
          <a:ln w="12700">
            <a:solidFill>
              <a:srgbClr val="FCF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143000" y="4151376"/>
            <a:ext cx="2194560" cy="523220"/>
          </a:xfrm>
          <a:prstGeom prst="rect">
            <a:avLst/>
          </a:prstGeom>
          <a:noFill/>
        </p:spPr>
        <p:txBody>
          <a:bodyPr wrap="square" lIns="73152" rIns="73152">
            <a:spAutoFit/>
          </a:bodyPr>
          <a:lstStyle/>
          <a:p>
            <a:pPr algn="l">
              <a:defRPr sz="1200" b="1">
                <a:solidFill>
                  <a:srgbClr val="F0B248"/>
                </a:solidFill>
                <a:latin typeface="Aptos"/>
              </a:defRPr>
            </a:pPr>
            <a:r>
              <a:rPr sz="2800" dirty="0"/>
              <a:t>Structure</a:t>
            </a:r>
          </a:p>
        </p:txBody>
      </p:sp>
      <p:sp>
        <p:nvSpPr>
          <p:cNvPr id="19" name="TextBox 18"/>
          <p:cNvSpPr txBox="1"/>
          <p:nvPr/>
        </p:nvSpPr>
        <p:spPr>
          <a:xfrm>
            <a:off x="3429000" y="4123944"/>
            <a:ext cx="7223760" cy="400110"/>
          </a:xfrm>
          <a:prstGeom prst="rect">
            <a:avLst/>
          </a:prstGeom>
          <a:noFill/>
        </p:spPr>
        <p:txBody>
          <a:bodyPr wrap="square" lIns="73152" rIns="73152">
            <a:spAutoFit/>
          </a:bodyPr>
          <a:lstStyle/>
          <a:p>
            <a:pPr algn="l">
              <a:defRPr sz="1400" b="0">
                <a:solidFill>
                  <a:srgbClr val="252B33"/>
                </a:solidFill>
                <a:latin typeface="Aptos"/>
              </a:defRPr>
            </a:pPr>
            <a:r>
              <a:rPr sz="2000" dirty="0"/>
              <a:t>information is grouped into clear ideas rather than a plot.</a:t>
            </a:r>
          </a:p>
        </p:txBody>
      </p:sp>
      <p:sp>
        <p:nvSpPr>
          <p:cNvPr id="20" name="Rounded Rectangle 19"/>
          <p:cNvSpPr/>
          <p:nvPr/>
        </p:nvSpPr>
        <p:spPr>
          <a:xfrm>
            <a:off x="914400" y="4846320"/>
            <a:ext cx="10149840" cy="621792"/>
          </a:xfrm>
          <a:prstGeom prst="roundRect">
            <a:avLst/>
          </a:prstGeom>
          <a:solidFill>
            <a:srgbClr val="FFFFFF"/>
          </a:solidFill>
          <a:ln w="12700">
            <a:solidFill>
              <a:srgbClr val="FCF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143000" y="4974336"/>
            <a:ext cx="2194560" cy="461665"/>
          </a:xfrm>
          <a:prstGeom prst="rect">
            <a:avLst/>
          </a:prstGeom>
          <a:noFill/>
        </p:spPr>
        <p:txBody>
          <a:bodyPr wrap="square" lIns="73152" rIns="73152">
            <a:spAutoFit/>
          </a:bodyPr>
          <a:lstStyle/>
          <a:p>
            <a:pPr algn="l">
              <a:defRPr sz="1200" b="1">
                <a:solidFill>
                  <a:srgbClr val="F0B248"/>
                </a:solidFill>
                <a:latin typeface="Aptos"/>
              </a:defRPr>
            </a:pPr>
            <a:r>
              <a:rPr sz="2400" dirty="0"/>
              <a:t>Purpose</a:t>
            </a:r>
          </a:p>
        </p:txBody>
      </p:sp>
      <p:sp>
        <p:nvSpPr>
          <p:cNvPr id="22" name="TextBox 21"/>
          <p:cNvSpPr txBox="1"/>
          <p:nvPr/>
        </p:nvSpPr>
        <p:spPr>
          <a:xfrm>
            <a:off x="3429000" y="4946904"/>
            <a:ext cx="7223760" cy="461665"/>
          </a:xfrm>
          <a:prstGeom prst="rect">
            <a:avLst/>
          </a:prstGeom>
          <a:noFill/>
        </p:spPr>
        <p:txBody>
          <a:bodyPr wrap="square" lIns="73152" rIns="73152">
            <a:spAutoFit/>
          </a:bodyPr>
          <a:lstStyle/>
          <a:p>
            <a:pPr algn="l">
              <a:defRPr sz="1400" b="0">
                <a:solidFill>
                  <a:srgbClr val="252B33"/>
                </a:solidFill>
                <a:latin typeface="Aptos"/>
              </a:defRPr>
            </a:pPr>
            <a:r>
              <a:rPr sz="2400" dirty="0"/>
              <a:t>mainly to inform and explain.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47472"/>
            <a:ext cx="914400" cy="73152"/>
          </a:xfrm>
          <a:prstGeom prst="rect">
            <a:avLst/>
          </a:prstGeom>
          <a:solidFill>
            <a:srgbClr val="2291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457200"/>
            <a:ext cx="5029200" cy="320040"/>
          </a:xfrm>
          <a:prstGeom prst="rect">
            <a:avLst/>
          </a:prstGeom>
          <a:noFill/>
        </p:spPr>
        <p:txBody>
          <a:bodyPr wrap="none">
            <a:spAutoFit/>
          </a:bodyPr>
          <a:lstStyle/>
          <a:p>
            <a:pPr>
              <a:defRPr sz="1000" b="1">
                <a:solidFill>
                  <a:srgbClr val="22918F"/>
                </a:solidFill>
              </a:defRPr>
            </a:pPr>
            <a:r>
              <a:t>COMPARE</a:t>
            </a:r>
          </a:p>
        </p:txBody>
      </p:sp>
      <p:sp>
        <p:nvSpPr>
          <p:cNvPr id="5" name="TextBox 4"/>
          <p:cNvSpPr txBox="1"/>
          <p:nvPr/>
        </p:nvSpPr>
        <p:spPr>
          <a:xfrm>
            <a:off x="11292840" y="384048"/>
            <a:ext cx="411480" cy="274320"/>
          </a:xfrm>
          <a:prstGeom prst="rect">
            <a:avLst/>
          </a:prstGeom>
          <a:noFill/>
        </p:spPr>
        <p:txBody>
          <a:bodyPr wrap="none">
            <a:spAutoFit/>
          </a:bodyPr>
          <a:lstStyle/>
          <a:p>
            <a:pPr algn="r">
              <a:defRPr sz="1000">
                <a:solidFill>
                  <a:srgbClr val="5C6570"/>
                </a:solidFill>
              </a:defRPr>
            </a:pPr>
            <a:r>
              <a:t>15</a:t>
            </a:r>
          </a:p>
        </p:txBody>
      </p:sp>
      <p:sp>
        <p:nvSpPr>
          <p:cNvPr id="6" name="TextBox 5"/>
          <p:cNvSpPr txBox="1"/>
          <p:nvPr/>
        </p:nvSpPr>
        <p:spPr>
          <a:xfrm>
            <a:off x="594360" y="6473952"/>
            <a:ext cx="7315200" cy="201168"/>
          </a:xfrm>
          <a:prstGeom prst="rect">
            <a:avLst/>
          </a:prstGeom>
          <a:noFill/>
        </p:spPr>
        <p:txBody>
          <a:bodyPr wrap="square" lIns="73152" rIns="73152">
            <a:spAutoFit/>
          </a:bodyPr>
          <a:lstStyle/>
          <a:p>
            <a:pPr algn="l">
              <a:defRPr sz="900" b="0">
                <a:solidFill>
                  <a:srgbClr val="5C6570"/>
                </a:solidFill>
                <a:latin typeface="Aptos"/>
              </a:defRPr>
            </a:pPr>
            <a:r>
              <a:t>Year 6 • Cambridge Primary Checkpoint preparation</a:t>
            </a:r>
          </a:p>
        </p:txBody>
      </p:sp>
      <p:sp>
        <p:nvSpPr>
          <p:cNvPr id="7" name="TextBox 6"/>
          <p:cNvSpPr txBox="1"/>
          <p:nvPr/>
        </p:nvSpPr>
        <p:spPr>
          <a:xfrm>
            <a:off x="594360" y="822960"/>
            <a:ext cx="10972800" cy="685800"/>
          </a:xfrm>
          <a:prstGeom prst="rect">
            <a:avLst/>
          </a:prstGeom>
          <a:noFill/>
        </p:spPr>
        <p:txBody>
          <a:bodyPr wrap="square">
            <a:spAutoFit/>
          </a:bodyPr>
          <a:lstStyle/>
          <a:p>
            <a:pPr>
              <a:defRPr sz="2800" b="1">
                <a:solidFill>
                  <a:srgbClr val="17233B"/>
                </a:solidFill>
                <a:latin typeface="Aptos Display"/>
              </a:defRPr>
            </a:pPr>
            <a:r>
              <a:t>One topic. Two purposes.</a:t>
            </a:r>
          </a:p>
        </p:txBody>
      </p:sp>
      <p:sp>
        <p:nvSpPr>
          <p:cNvPr id="8" name="Rounded Rectangle 7"/>
          <p:cNvSpPr/>
          <p:nvPr/>
        </p:nvSpPr>
        <p:spPr>
          <a:xfrm>
            <a:off x="594360" y="1554480"/>
            <a:ext cx="5394960" cy="4343400"/>
          </a:xfrm>
          <a:prstGeom prst="roundRect">
            <a:avLst/>
          </a:prstGeom>
          <a:solidFill>
            <a:srgbClr val="FFFFFF"/>
          </a:solidFill>
          <a:ln w="12700">
            <a:solidFill>
              <a:srgbClr val="E1F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217920" y="1554480"/>
            <a:ext cx="5394960" cy="4343400"/>
          </a:xfrm>
          <a:prstGeom prst="roundRect">
            <a:avLst/>
          </a:prstGeom>
          <a:solidFill>
            <a:srgbClr val="FFFFFF"/>
          </a:solidFill>
          <a:ln w="12700">
            <a:solidFill>
              <a:srgbClr val="FCF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1828800"/>
            <a:ext cx="4846320" cy="365760"/>
          </a:xfrm>
          <a:prstGeom prst="rect">
            <a:avLst/>
          </a:prstGeom>
          <a:noFill/>
        </p:spPr>
        <p:txBody>
          <a:bodyPr wrap="square" lIns="73152" rIns="73152">
            <a:spAutoFit/>
          </a:bodyPr>
          <a:lstStyle/>
          <a:p>
            <a:pPr algn="ctr">
              <a:defRPr sz="2100" b="1">
                <a:solidFill>
                  <a:srgbClr val="22918F"/>
                </a:solidFill>
                <a:latin typeface="Aptos"/>
              </a:defRPr>
            </a:pPr>
            <a:r>
              <a:t>TEXT A • FICTION</a:t>
            </a:r>
          </a:p>
        </p:txBody>
      </p:sp>
      <p:sp>
        <p:nvSpPr>
          <p:cNvPr id="11" name="TextBox 10"/>
          <p:cNvSpPr txBox="1"/>
          <p:nvPr/>
        </p:nvSpPr>
        <p:spPr>
          <a:xfrm>
            <a:off x="6492240" y="1828800"/>
            <a:ext cx="4846320" cy="365760"/>
          </a:xfrm>
          <a:prstGeom prst="rect">
            <a:avLst/>
          </a:prstGeom>
          <a:noFill/>
        </p:spPr>
        <p:txBody>
          <a:bodyPr wrap="square" lIns="73152" rIns="73152">
            <a:spAutoFit/>
          </a:bodyPr>
          <a:lstStyle/>
          <a:p>
            <a:pPr algn="ctr">
              <a:defRPr sz="2100" b="1">
                <a:solidFill>
                  <a:srgbClr val="F0B248"/>
                </a:solidFill>
                <a:latin typeface="Aptos"/>
              </a:defRPr>
            </a:pPr>
            <a:r>
              <a:t>TEXT B • NON-FICTION</a:t>
            </a:r>
          </a:p>
        </p:txBody>
      </p:sp>
      <p:sp>
        <p:nvSpPr>
          <p:cNvPr id="12" name="TextBox 11"/>
          <p:cNvSpPr txBox="1"/>
          <p:nvPr/>
        </p:nvSpPr>
        <p:spPr>
          <a:xfrm>
            <a:off x="960120" y="2514600"/>
            <a:ext cx="4572000" cy="2349361"/>
          </a:xfrm>
          <a:prstGeom prst="rect">
            <a:avLst/>
          </a:prstGeom>
          <a:noFill/>
        </p:spPr>
        <p:txBody>
          <a:bodyPr wrap="square">
            <a:spAutoFit/>
          </a:bodyPr>
          <a:lstStyle/>
          <a:p>
            <a:pPr>
              <a:spcAft>
                <a:spcPts val="800"/>
              </a:spcAft>
              <a:defRPr sz="1600">
                <a:solidFill>
                  <a:srgbClr val="252B33"/>
                </a:solidFill>
                <a:latin typeface="Aptos"/>
              </a:defRPr>
            </a:pPr>
            <a:r>
              <a:rPr sz="2400" dirty="0"/>
              <a:t>• Maya = character</a:t>
            </a:r>
          </a:p>
          <a:p>
            <a:pPr>
              <a:spcAft>
                <a:spcPts val="800"/>
              </a:spcAft>
              <a:defRPr sz="1600">
                <a:solidFill>
                  <a:srgbClr val="252B33"/>
                </a:solidFill>
                <a:latin typeface="Aptos"/>
              </a:defRPr>
            </a:pPr>
            <a:r>
              <a:rPr sz="2400" dirty="0"/>
              <a:t>• events form a story</a:t>
            </a:r>
          </a:p>
          <a:p>
            <a:pPr>
              <a:spcAft>
                <a:spcPts val="800"/>
              </a:spcAft>
              <a:defRPr sz="1600">
                <a:solidFill>
                  <a:srgbClr val="252B33"/>
                </a:solidFill>
                <a:latin typeface="Aptos"/>
              </a:defRPr>
            </a:pPr>
            <a:r>
              <a:rPr sz="2400" dirty="0"/>
              <a:t>• descriptive details</a:t>
            </a:r>
          </a:p>
          <a:p>
            <a:pPr>
              <a:spcAft>
                <a:spcPts val="800"/>
              </a:spcAft>
              <a:defRPr sz="1600">
                <a:solidFill>
                  <a:srgbClr val="252B33"/>
                </a:solidFill>
                <a:latin typeface="Aptos"/>
              </a:defRPr>
            </a:pPr>
            <a:r>
              <a:rPr sz="2400" dirty="0"/>
              <a:t>• imagined experience</a:t>
            </a:r>
          </a:p>
          <a:p>
            <a:pPr>
              <a:spcAft>
                <a:spcPts val="800"/>
              </a:spcAft>
              <a:defRPr sz="1600">
                <a:solidFill>
                  <a:srgbClr val="252B33"/>
                </a:solidFill>
                <a:latin typeface="Aptos"/>
              </a:defRPr>
            </a:pPr>
            <a:r>
              <a:rPr sz="2400" dirty="0"/>
              <a:t>• entertain / engage</a:t>
            </a:r>
          </a:p>
        </p:txBody>
      </p:sp>
      <p:sp>
        <p:nvSpPr>
          <p:cNvPr id="13" name="TextBox 12"/>
          <p:cNvSpPr txBox="1"/>
          <p:nvPr/>
        </p:nvSpPr>
        <p:spPr>
          <a:xfrm>
            <a:off x="6355080" y="2481237"/>
            <a:ext cx="4572000" cy="2349361"/>
          </a:xfrm>
          <a:prstGeom prst="rect">
            <a:avLst/>
          </a:prstGeom>
          <a:noFill/>
        </p:spPr>
        <p:txBody>
          <a:bodyPr wrap="square">
            <a:spAutoFit/>
          </a:bodyPr>
          <a:lstStyle/>
          <a:p>
            <a:pPr>
              <a:spcAft>
                <a:spcPts val="800"/>
              </a:spcAft>
              <a:defRPr sz="1600">
                <a:solidFill>
                  <a:srgbClr val="252B33"/>
                </a:solidFill>
                <a:latin typeface="Aptos"/>
              </a:defRPr>
            </a:pPr>
            <a:r>
              <a:rPr sz="2400" dirty="0"/>
              <a:t>• foxes = general subject</a:t>
            </a:r>
          </a:p>
          <a:p>
            <a:pPr>
              <a:spcAft>
                <a:spcPts val="800"/>
              </a:spcAft>
              <a:defRPr sz="1600">
                <a:solidFill>
                  <a:srgbClr val="252B33"/>
                </a:solidFill>
                <a:latin typeface="Aptos"/>
              </a:defRPr>
            </a:pPr>
            <a:r>
              <a:rPr sz="2400" dirty="0"/>
              <a:t>• facts / information</a:t>
            </a:r>
          </a:p>
          <a:p>
            <a:pPr>
              <a:spcAft>
                <a:spcPts val="800"/>
              </a:spcAft>
              <a:defRPr sz="1600">
                <a:solidFill>
                  <a:srgbClr val="252B33"/>
                </a:solidFill>
                <a:latin typeface="Aptos"/>
              </a:defRPr>
            </a:pPr>
            <a:r>
              <a:rPr sz="2400" dirty="0"/>
              <a:t>• precise wording</a:t>
            </a:r>
          </a:p>
          <a:p>
            <a:pPr>
              <a:spcAft>
                <a:spcPts val="800"/>
              </a:spcAft>
              <a:defRPr sz="1600">
                <a:solidFill>
                  <a:srgbClr val="252B33"/>
                </a:solidFill>
                <a:latin typeface="Aptos"/>
              </a:defRPr>
            </a:pPr>
            <a:r>
              <a:rPr sz="2400" dirty="0"/>
              <a:t>• advice about </a:t>
            </a:r>
            <a:r>
              <a:rPr sz="2400" dirty="0" err="1"/>
              <a:t>behaviour</a:t>
            </a:r>
            <a:endParaRPr sz="2400" dirty="0"/>
          </a:p>
          <a:p>
            <a:pPr>
              <a:spcAft>
                <a:spcPts val="800"/>
              </a:spcAft>
              <a:defRPr sz="1600">
                <a:solidFill>
                  <a:srgbClr val="252B33"/>
                </a:solidFill>
                <a:latin typeface="Aptos"/>
              </a:defRPr>
            </a:pPr>
            <a:r>
              <a:rPr sz="2400" dirty="0"/>
              <a:t>• inform / explain</a:t>
            </a:r>
          </a:p>
        </p:txBody>
      </p:sp>
      <p:sp>
        <p:nvSpPr>
          <p:cNvPr id="14" name="TextBox 13"/>
          <p:cNvSpPr txBox="1"/>
          <p:nvPr/>
        </p:nvSpPr>
        <p:spPr>
          <a:xfrm>
            <a:off x="3017520" y="6089393"/>
            <a:ext cx="7315200" cy="461665"/>
          </a:xfrm>
          <a:prstGeom prst="rect">
            <a:avLst/>
          </a:prstGeom>
          <a:noFill/>
        </p:spPr>
        <p:txBody>
          <a:bodyPr wrap="square" lIns="73152" rIns="73152">
            <a:spAutoFit/>
          </a:bodyPr>
          <a:lstStyle/>
          <a:p>
            <a:pPr algn="l">
              <a:defRPr sz="1300" b="1">
                <a:solidFill>
                  <a:srgbClr val="17233B"/>
                </a:solidFill>
                <a:latin typeface="Aptos"/>
              </a:defRPr>
            </a:pPr>
            <a:r>
              <a:rPr sz="2400" dirty="0"/>
              <a:t>Question → Which TWO clues are strongest?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47472"/>
            <a:ext cx="914400" cy="73152"/>
          </a:xfrm>
          <a:prstGeom prst="rect">
            <a:avLst/>
          </a:prstGeom>
          <a:solidFill>
            <a:srgbClr val="2291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457200"/>
            <a:ext cx="5029200" cy="320040"/>
          </a:xfrm>
          <a:prstGeom prst="rect">
            <a:avLst/>
          </a:prstGeom>
          <a:noFill/>
        </p:spPr>
        <p:txBody>
          <a:bodyPr wrap="none">
            <a:spAutoFit/>
          </a:bodyPr>
          <a:lstStyle/>
          <a:p>
            <a:pPr>
              <a:defRPr sz="1000" b="1">
                <a:solidFill>
                  <a:srgbClr val="22918F"/>
                </a:solidFill>
              </a:defRPr>
            </a:pPr>
            <a:r>
              <a:t>COMPARE • ANSWER</a:t>
            </a:r>
          </a:p>
        </p:txBody>
      </p:sp>
      <p:sp>
        <p:nvSpPr>
          <p:cNvPr id="5" name="TextBox 4"/>
          <p:cNvSpPr txBox="1"/>
          <p:nvPr/>
        </p:nvSpPr>
        <p:spPr>
          <a:xfrm>
            <a:off x="11292840" y="384048"/>
            <a:ext cx="411480" cy="274320"/>
          </a:xfrm>
          <a:prstGeom prst="rect">
            <a:avLst/>
          </a:prstGeom>
          <a:noFill/>
        </p:spPr>
        <p:txBody>
          <a:bodyPr wrap="none">
            <a:spAutoFit/>
          </a:bodyPr>
          <a:lstStyle/>
          <a:p>
            <a:pPr algn="r">
              <a:defRPr sz="1000">
                <a:solidFill>
                  <a:srgbClr val="5C6570"/>
                </a:solidFill>
              </a:defRPr>
            </a:pPr>
            <a:r>
              <a:t>16</a:t>
            </a:r>
          </a:p>
        </p:txBody>
      </p:sp>
      <p:sp>
        <p:nvSpPr>
          <p:cNvPr id="6" name="TextBox 5"/>
          <p:cNvSpPr txBox="1"/>
          <p:nvPr/>
        </p:nvSpPr>
        <p:spPr>
          <a:xfrm>
            <a:off x="594360" y="6473952"/>
            <a:ext cx="7315200" cy="201168"/>
          </a:xfrm>
          <a:prstGeom prst="rect">
            <a:avLst/>
          </a:prstGeom>
          <a:noFill/>
        </p:spPr>
        <p:txBody>
          <a:bodyPr wrap="square" lIns="73152" rIns="73152">
            <a:spAutoFit/>
          </a:bodyPr>
          <a:lstStyle/>
          <a:p>
            <a:pPr algn="l">
              <a:defRPr sz="900" b="0">
                <a:solidFill>
                  <a:srgbClr val="5C6570"/>
                </a:solidFill>
                <a:latin typeface="Aptos"/>
              </a:defRPr>
            </a:pPr>
            <a:r>
              <a:t>Year 6 • Cambridge Primary Checkpoint preparation</a:t>
            </a:r>
          </a:p>
        </p:txBody>
      </p:sp>
      <p:sp>
        <p:nvSpPr>
          <p:cNvPr id="7" name="TextBox 6"/>
          <p:cNvSpPr txBox="1"/>
          <p:nvPr/>
        </p:nvSpPr>
        <p:spPr>
          <a:xfrm>
            <a:off x="594360" y="822960"/>
            <a:ext cx="10972800" cy="685800"/>
          </a:xfrm>
          <a:prstGeom prst="rect">
            <a:avLst/>
          </a:prstGeom>
          <a:noFill/>
        </p:spPr>
        <p:txBody>
          <a:bodyPr wrap="square">
            <a:spAutoFit/>
          </a:bodyPr>
          <a:lstStyle/>
          <a:p>
            <a:pPr>
              <a:defRPr sz="2800" b="1">
                <a:solidFill>
                  <a:srgbClr val="17233B"/>
                </a:solidFill>
                <a:latin typeface="Aptos Display"/>
              </a:defRPr>
            </a:pPr>
            <a:r>
              <a:t>Strongest evidence: what would you choose?</a:t>
            </a:r>
          </a:p>
        </p:txBody>
      </p:sp>
      <p:sp>
        <p:nvSpPr>
          <p:cNvPr id="8" name="Rounded Rectangle 7"/>
          <p:cNvSpPr/>
          <p:nvPr/>
        </p:nvSpPr>
        <p:spPr>
          <a:xfrm>
            <a:off x="914400" y="1600200"/>
            <a:ext cx="10332720" cy="4206240"/>
          </a:xfrm>
          <a:prstGeom prst="roundRect">
            <a:avLst/>
          </a:prstGeom>
          <a:solidFill>
            <a:srgbClr val="FFFFFF"/>
          </a:solidFill>
          <a:ln w="12700">
            <a:solidFill>
              <a:srgbClr val="E6ED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280160" y="1965960"/>
            <a:ext cx="2286000" cy="320040"/>
          </a:xfrm>
          <a:prstGeom prst="rect">
            <a:avLst/>
          </a:prstGeom>
          <a:noFill/>
        </p:spPr>
        <p:txBody>
          <a:bodyPr wrap="square" lIns="73152" rIns="73152">
            <a:spAutoFit/>
          </a:bodyPr>
          <a:lstStyle/>
          <a:p>
            <a:pPr algn="l">
              <a:defRPr sz="1600" b="1">
                <a:solidFill>
                  <a:srgbClr val="22918F"/>
                </a:solidFill>
                <a:latin typeface="Aptos"/>
              </a:defRPr>
            </a:pPr>
            <a:r>
              <a:t>FOR TEXT A</a:t>
            </a:r>
          </a:p>
        </p:txBody>
      </p:sp>
      <p:sp>
        <p:nvSpPr>
          <p:cNvPr id="10" name="TextBox 9"/>
          <p:cNvSpPr txBox="1"/>
          <p:nvPr/>
        </p:nvSpPr>
        <p:spPr>
          <a:xfrm>
            <a:off x="914400" y="2423160"/>
            <a:ext cx="5394960" cy="707886"/>
          </a:xfrm>
          <a:prstGeom prst="rect">
            <a:avLst/>
          </a:prstGeom>
          <a:noFill/>
        </p:spPr>
        <p:txBody>
          <a:bodyPr wrap="square" lIns="73152" rIns="73152">
            <a:spAutoFit/>
          </a:bodyPr>
          <a:lstStyle/>
          <a:p>
            <a:pPr algn="l">
              <a:defRPr sz="1600" b="0">
                <a:solidFill>
                  <a:srgbClr val="252B33"/>
                </a:solidFill>
                <a:latin typeface="Aptos"/>
              </a:defRPr>
            </a:pPr>
            <a:r>
              <a:rPr sz="2000" dirty="0"/>
              <a:t>① A named character experiencing events</a:t>
            </a:r>
            <a:br>
              <a:rPr sz="2000" dirty="0"/>
            </a:br>
            <a:r>
              <a:rPr sz="2000" dirty="0"/>
              <a:t>② A sequence of actions that creates a story</a:t>
            </a:r>
          </a:p>
        </p:txBody>
      </p:sp>
      <p:sp>
        <p:nvSpPr>
          <p:cNvPr id="11" name="TextBox 10"/>
          <p:cNvSpPr txBox="1"/>
          <p:nvPr/>
        </p:nvSpPr>
        <p:spPr>
          <a:xfrm>
            <a:off x="6309360" y="1965960"/>
            <a:ext cx="2286000" cy="320040"/>
          </a:xfrm>
          <a:prstGeom prst="rect">
            <a:avLst/>
          </a:prstGeom>
          <a:noFill/>
        </p:spPr>
        <p:txBody>
          <a:bodyPr wrap="square" lIns="73152" rIns="73152">
            <a:spAutoFit/>
          </a:bodyPr>
          <a:lstStyle/>
          <a:p>
            <a:pPr algn="l">
              <a:defRPr sz="1600" b="1">
                <a:solidFill>
                  <a:srgbClr val="F0B248"/>
                </a:solidFill>
                <a:latin typeface="Aptos"/>
              </a:defRPr>
            </a:pPr>
            <a:r>
              <a:t>FOR TEXT B</a:t>
            </a:r>
          </a:p>
        </p:txBody>
      </p:sp>
      <p:sp>
        <p:nvSpPr>
          <p:cNvPr id="12" name="TextBox 11"/>
          <p:cNvSpPr txBox="1"/>
          <p:nvPr/>
        </p:nvSpPr>
        <p:spPr>
          <a:xfrm>
            <a:off x="6309359" y="2423160"/>
            <a:ext cx="4811721" cy="707886"/>
          </a:xfrm>
          <a:prstGeom prst="rect">
            <a:avLst/>
          </a:prstGeom>
          <a:noFill/>
        </p:spPr>
        <p:txBody>
          <a:bodyPr wrap="square" lIns="73152" rIns="73152">
            <a:spAutoFit/>
          </a:bodyPr>
          <a:lstStyle/>
          <a:p>
            <a:pPr algn="l">
              <a:defRPr sz="1600" b="0">
                <a:solidFill>
                  <a:srgbClr val="252B33"/>
                </a:solidFill>
                <a:latin typeface="Aptos"/>
              </a:defRPr>
            </a:pPr>
            <a:r>
              <a:rPr sz="2000" dirty="0"/>
              <a:t>① General factual information about foxes</a:t>
            </a:r>
            <a:br>
              <a:rPr sz="2000" dirty="0"/>
            </a:br>
            <a:r>
              <a:rPr sz="2000" dirty="0"/>
              <a:t>② Advice / explanation rather than a plot</a:t>
            </a:r>
          </a:p>
        </p:txBody>
      </p:sp>
      <p:sp>
        <p:nvSpPr>
          <p:cNvPr id="13" name="TextBox 12"/>
          <p:cNvSpPr txBox="1"/>
          <p:nvPr/>
        </p:nvSpPr>
        <p:spPr>
          <a:xfrm>
            <a:off x="1280160" y="4251960"/>
            <a:ext cx="8961120" cy="502920"/>
          </a:xfrm>
          <a:prstGeom prst="rect">
            <a:avLst/>
          </a:prstGeom>
          <a:noFill/>
        </p:spPr>
        <p:txBody>
          <a:bodyPr wrap="square" lIns="73152" rIns="73152">
            <a:spAutoFit/>
          </a:bodyPr>
          <a:lstStyle/>
          <a:p>
            <a:pPr algn="l">
              <a:defRPr sz="1800" b="1">
                <a:solidFill>
                  <a:srgbClr val="17233B"/>
                </a:solidFill>
                <a:latin typeface="Aptos"/>
              </a:defRPr>
            </a:pPr>
            <a:r>
              <a:t>The best evidence is specific and connected to the text’s purpose.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47472"/>
            <a:ext cx="914400" cy="73152"/>
          </a:xfrm>
          <a:prstGeom prst="rect">
            <a:avLst/>
          </a:prstGeom>
          <a:solidFill>
            <a:srgbClr val="2291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457200"/>
            <a:ext cx="5029200" cy="320040"/>
          </a:xfrm>
          <a:prstGeom prst="rect">
            <a:avLst/>
          </a:prstGeom>
          <a:noFill/>
        </p:spPr>
        <p:txBody>
          <a:bodyPr wrap="none">
            <a:spAutoFit/>
          </a:bodyPr>
          <a:lstStyle/>
          <a:p>
            <a:pPr>
              <a:defRPr sz="1000" b="1">
                <a:solidFill>
                  <a:srgbClr val="22918F"/>
                </a:solidFill>
              </a:defRPr>
            </a:pPr>
            <a:r>
              <a:t>CHECKPOINT DETECTIVE CHALLENGE</a:t>
            </a:r>
          </a:p>
        </p:txBody>
      </p:sp>
      <p:sp>
        <p:nvSpPr>
          <p:cNvPr id="5" name="TextBox 4"/>
          <p:cNvSpPr txBox="1"/>
          <p:nvPr/>
        </p:nvSpPr>
        <p:spPr>
          <a:xfrm>
            <a:off x="11292840" y="384048"/>
            <a:ext cx="411480" cy="274320"/>
          </a:xfrm>
          <a:prstGeom prst="rect">
            <a:avLst/>
          </a:prstGeom>
          <a:noFill/>
        </p:spPr>
        <p:txBody>
          <a:bodyPr wrap="none">
            <a:spAutoFit/>
          </a:bodyPr>
          <a:lstStyle/>
          <a:p>
            <a:pPr algn="r">
              <a:defRPr sz="1000">
                <a:solidFill>
                  <a:srgbClr val="5C6570"/>
                </a:solidFill>
              </a:defRPr>
            </a:pPr>
            <a:r>
              <a:t>17</a:t>
            </a:r>
          </a:p>
        </p:txBody>
      </p:sp>
      <p:sp>
        <p:nvSpPr>
          <p:cNvPr id="6" name="TextBox 5"/>
          <p:cNvSpPr txBox="1"/>
          <p:nvPr/>
        </p:nvSpPr>
        <p:spPr>
          <a:xfrm>
            <a:off x="594360" y="6473952"/>
            <a:ext cx="7315200" cy="201168"/>
          </a:xfrm>
          <a:prstGeom prst="rect">
            <a:avLst/>
          </a:prstGeom>
          <a:noFill/>
        </p:spPr>
        <p:txBody>
          <a:bodyPr wrap="square" lIns="73152" rIns="73152">
            <a:spAutoFit/>
          </a:bodyPr>
          <a:lstStyle/>
          <a:p>
            <a:pPr algn="l">
              <a:defRPr sz="900" b="0">
                <a:solidFill>
                  <a:srgbClr val="5C6570"/>
                </a:solidFill>
                <a:latin typeface="Aptos"/>
              </a:defRPr>
            </a:pPr>
            <a:r>
              <a:t>Year 6 • Cambridge Primary Checkpoint preparation</a:t>
            </a:r>
          </a:p>
        </p:txBody>
      </p:sp>
      <p:sp>
        <p:nvSpPr>
          <p:cNvPr id="7" name="TextBox 6"/>
          <p:cNvSpPr txBox="1"/>
          <p:nvPr/>
        </p:nvSpPr>
        <p:spPr>
          <a:xfrm>
            <a:off x="594360" y="822960"/>
            <a:ext cx="10972800" cy="685800"/>
          </a:xfrm>
          <a:prstGeom prst="rect">
            <a:avLst/>
          </a:prstGeom>
          <a:noFill/>
        </p:spPr>
        <p:txBody>
          <a:bodyPr wrap="square">
            <a:spAutoFit/>
          </a:bodyPr>
          <a:lstStyle/>
          <a:p>
            <a:pPr>
              <a:defRPr sz="2800" b="1">
                <a:solidFill>
                  <a:srgbClr val="17233B"/>
                </a:solidFill>
                <a:latin typeface="Aptos Display"/>
              </a:defRPr>
            </a:pPr>
            <a:r>
              <a:t>Checkpoint Detective: classify the features</a:t>
            </a:r>
          </a:p>
        </p:txBody>
      </p:sp>
      <p:sp>
        <p:nvSpPr>
          <p:cNvPr id="8" name="Rounded Rectangle 7"/>
          <p:cNvSpPr/>
          <p:nvPr/>
        </p:nvSpPr>
        <p:spPr>
          <a:xfrm>
            <a:off x="777240" y="1508760"/>
            <a:ext cx="10607040" cy="4389120"/>
          </a:xfrm>
          <a:prstGeom prst="roundRect">
            <a:avLst/>
          </a:prstGeom>
          <a:solidFill>
            <a:srgbClr val="FFFFFF"/>
          </a:solidFill>
          <a:ln w="12700">
            <a:solidFill>
              <a:srgbClr val="E6ED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43000" y="1559884"/>
            <a:ext cx="2743200" cy="523220"/>
          </a:xfrm>
          <a:prstGeom prst="rect">
            <a:avLst/>
          </a:prstGeom>
          <a:noFill/>
        </p:spPr>
        <p:txBody>
          <a:bodyPr wrap="square" lIns="73152" rIns="73152">
            <a:spAutoFit/>
          </a:bodyPr>
          <a:lstStyle/>
          <a:p>
            <a:pPr algn="l">
              <a:defRPr sz="1200" b="1">
                <a:solidFill>
                  <a:srgbClr val="5C6570"/>
                </a:solidFill>
                <a:latin typeface="Aptos"/>
              </a:defRPr>
            </a:pPr>
            <a:r>
              <a:rPr sz="2800" dirty="0"/>
              <a:t>FEATURE</a:t>
            </a:r>
          </a:p>
        </p:txBody>
      </p:sp>
      <p:sp>
        <p:nvSpPr>
          <p:cNvPr id="10" name="TextBox 9"/>
          <p:cNvSpPr txBox="1"/>
          <p:nvPr/>
        </p:nvSpPr>
        <p:spPr>
          <a:xfrm>
            <a:off x="5074920" y="1611790"/>
            <a:ext cx="1371600" cy="461665"/>
          </a:xfrm>
          <a:prstGeom prst="rect">
            <a:avLst/>
          </a:prstGeom>
          <a:noFill/>
        </p:spPr>
        <p:txBody>
          <a:bodyPr wrap="square" lIns="73152" rIns="73152">
            <a:spAutoFit/>
          </a:bodyPr>
          <a:lstStyle/>
          <a:p>
            <a:pPr algn="ctr">
              <a:defRPr sz="1200" b="1">
                <a:solidFill>
                  <a:srgbClr val="22918F"/>
                </a:solidFill>
                <a:latin typeface="Aptos"/>
              </a:defRPr>
            </a:pPr>
            <a:r>
              <a:rPr sz="2400" dirty="0"/>
              <a:t>TEXT A</a:t>
            </a:r>
          </a:p>
        </p:txBody>
      </p:sp>
      <p:sp>
        <p:nvSpPr>
          <p:cNvPr id="11" name="TextBox 10"/>
          <p:cNvSpPr txBox="1"/>
          <p:nvPr/>
        </p:nvSpPr>
        <p:spPr>
          <a:xfrm>
            <a:off x="7620002" y="1611790"/>
            <a:ext cx="1371600" cy="461665"/>
          </a:xfrm>
          <a:prstGeom prst="rect">
            <a:avLst/>
          </a:prstGeom>
          <a:noFill/>
        </p:spPr>
        <p:txBody>
          <a:bodyPr wrap="square" lIns="73152" rIns="73152">
            <a:spAutoFit/>
          </a:bodyPr>
          <a:lstStyle/>
          <a:p>
            <a:pPr algn="ctr">
              <a:defRPr sz="1200" b="1">
                <a:solidFill>
                  <a:srgbClr val="F0B248"/>
                </a:solidFill>
                <a:latin typeface="Aptos"/>
              </a:defRPr>
            </a:pPr>
            <a:r>
              <a:rPr sz="2400" dirty="0"/>
              <a:t>TEXT B</a:t>
            </a:r>
          </a:p>
        </p:txBody>
      </p:sp>
      <p:sp>
        <p:nvSpPr>
          <p:cNvPr id="12" name="TextBox 11"/>
          <p:cNvSpPr txBox="1"/>
          <p:nvPr/>
        </p:nvSpPr>
        <p:spPr>
          <a:xfrm>
            <a:off x="1051560" y="2148840"/>
            <a:ext cx="3657600" cy="461665"/>
          </a:xfrm>
          <a:prstGeom prst="rect">
            <a:avLst/>
          </a:prstGeom>
          <a:noFill/>
        </p:spPr>
        <p:txBody>
          <a:bodyPr wrap="square" lIns="73152" rIns="73152">
            <a:spAutoFit/>
          </a:bodyPr>
          <a:lstStyle/>
          <a:p>
            <a:pPr algn="l">
              <a:defRPr sz="1400" b="0">
                <a:solidFill>
                  <a:srgbClr val="252B33"/>
                </a:solidFill>
                <a:latin typeface="Aptos"/>
              </a:defRPr>
            </a:pPr>
            <a:r>
              <a:rPr sz="2400" dirty="0"/>
              <a:t>Main character</a:t>
            </a:r>
          </a:p>
        </p:txBody>
      </p:sp>
      <p:sp>
        <p:nvSpPr>
          <p:cNvPr id="13" name="TextBox 12"/>
          <p:cNvSpPr txBox="1"/>
          <p:nvPr/>
        </p:nvSpPr>
        <p:spPr>
          <a:xfrm>
            <a:off x="5257800" y="2148840"/>
            <a:ext cx="1005840" cy="274320"/>
          </a:xfrm>
          <a:prstGeom prst="rect">
            <a:avLst/>
          </a:prstGeom>
          <a:noFill/>
        </p:spPr>
        <p:txBody>
          <a:bodyPr wrap="square" lIns="73152" rIns="73152">
            <a:spAutoFit/>
          </a:bodyPr>
          <a:lstStyle/>
          <a:p>
            <a:pPr algn="ctr">
              <a:defRPr sz="1800" b="1">
                <a:solidFill>
                  <a:srgbClr val="22918F"/>
                </a:solidFill>
                <a:latin typeface="Aptos"/>
              </a:defRPr>
            </a:pPr>
            <a:r>
              <a:t>✓</a:t>
            </a:r>
          </a:p>
        </p:txBody>
      </p:sp>
      <p:sp>
        <p:nvSpPr>
          <p:cNvPr id="14" name="TextBox 13"/>
          <p:cNvSpPr txBox="1"/>
          <p:nvPr/>
        </p:nvSpPr>
        <p:spPr>
          <a:xfrm>
            <a:off x="7818120" y="2148840"/>
            <a:ext cx="1005840" cy="274320"/>
          </a:xfrm>
          <a:prstGeom prst="rect">
            <a:avLst/>
          </a:prstGeom>
          <a:noFill/>
        </p:spPr>
        <p:txBody>
          <a:bodyPr wrap="square" lIns="73152" rIns="73152">
            <a:spAutoFit/>
          </a:bodyPr>
          <a:lstStyle/>
          <a:p>
            <a:pPr algn="ctr">
              <a:defRPr sz="1800" b="1">
                <a:solidFill>
                  <a:srgbClr val="F0B248"/>
                </a:solidFill>
                <a:latin typeface="Aptos"/>
              </a:defRPr>
            </a:pPr>
            <a:r>
              <a:t>—</a:t>
            </a:r>
          </a:p>
        </p:txBody>
      </p:sp>
      <p:sp>
        <p:nvSpPr>
          <p:cNvPr id="15" name="TextBox 14"/>
          <p:cNvSpPr txBox="1"/>
          <p:nvPr/>
        </p:nvSpPr>
        <p:spPr>
          <a:xfrm>
            <a:off x="1051560" y="2624328"/>
            <a:ext cx="3657600" cy="461665"/>
          </a:xfrm>
          <a:prstGeom prst="rect">
            <a:avLst/>
          </a:prstGeom>
          <a:noFill/>
        </p:spPr>
        <p:txBody>
          <a:bodyPr wrap="square" lIns="73152" rIns="73152">
            <a:spAutoFit/>
          </a:bodyPr>
          <a:lstStyle/>
          <a:p>
            <a:pPr algn="l">
              <a:defRPr sz="1400" b="0">
                <a:solidFill>
                  <a:srgbClr val="252B33"/>
                </a:solidFill>
                <a:latin typeface="Aptos"/>
              </a:defRPr>
            </a:pPr>
            <a:r>
              <a:rPr sz="2400" dirty="0"/>
              <a:t>Gives general information</a:t>
            </a:r>
          </a:p>
        </p:txBody>
      </p:sp>
      <p:sp>
        <p:nvSpPr>
          <p:cNvPr id="16" name="TextBox 15"/>
          <p:cNvSpPr txBox="1"/>
          <p:nvPr/>
        </p:nvSpPr>
        <p:spPr>
          <a:xfrm>
            <a:off x="5257800" y="2624328"/>
            <a:ext cx="1005840" cy="274320"/>
          </a:xfrm>
          <a:prstGeom prst="rect">
            <a:avLst/>
          </a:prstGeom>
          <a:noFill/>
        </p:spPr>
        <p:txBody>
          <a:bodyPr wrap="square" lIns="73152" rIns="73152">
            <a:spAutoFit/>
          </a:bodyPr>
          <a:lstStyle/>
          <a:p>
            <a:pPr algn="ctr">
              <a:defRPr sz="1800" b="1">
                <a:solidFill>
                  <a:srgbClr val="22918F"/>
                </a:solidFill>
                <a:latin typeface="Aptos"/>
              </a:defRPr>
            </a:pPr>
            <a:r>
              <a:t>—</a:t>
            </a:r>
          </a:p>
        </p:txBody>
      </p:sp>
      <p:sp>
        <p:nvSpPr>
          <p:cNvPr id="17" name="TextBox 16"/>
          <p:cNvSpPr txBox="1"/>
          <p:nvPr/>
        </p:nvSpPr>
        <p:spPr>
          <a:xfrm>
            <a:off x="7818120" y="2624328"/>
            <a:ext cx="1005840" cy="274320"/>
          </a:xfrm>
          <a:prstGeom prst="rect">
            <a:avLst/>
          </a:prstGeom>
          <a:noFill/>
        </p:spPr>
        <p:txBody>
          <a:bodyPr wrap="square" lIns="73152" rIns="73152">
            <a:spAutoFit/>
          </a:bodyPr>
          <a:lstStyle/>
          <a:p>
            <a:pPr algn="ctr">
              <a:defRPr sz="1800" b="1">
                <a:solidFill>
                  <a:srgbClr val="F0B248"/>
                </a:solidFill>
                <a:latin typeface="Aptos"/>
              </a:defRPr>
            </a:pPr>
            <a:r>
              <a:t>✓</a:t>
            </a:r>
          </a:p>
        </p:txBody>
      </p:sp>
      <p:sp>
        <p:nvSpPr>
          <p:cNvPr id="18" name="TextBox 17"/>
          <p:cNvSpPr txBox="1"/>
          <p:nvPr/>
        </p:nvSpPr>
        <p:spPr>
          <a:xfrm>
            <a:off x="1051560" y="3099816"/>
            <a:ext cx="3657600" cy="400110"/>
          </a:xfrm>
          <a:prstGeom prst="rect">
            <a:avLst/>
          </a:prstGeom>
          <a:noFill/>
        </p:spPr>
        <p:txBody>
          <a:bodyPr wrap="square" lIns="73152" rIns="73152">
            <a:spAutoFit/>
          </a:bodyPr>
          <a:lstStyle/>
          <a:p>
            <a:pPr algn="l">
              <a:defRPr sz="1400" b="0">
                <a:solidFill>
                  <a:srgbClr val="252B33"/>
                </a:solidFill>
                <a:latin typeface="Aptos"/>
              </a:defRPr>
            </a:pPr>
            <a:r>
              <a:rPr sz="2000" dirty="0"/>
              <a:t>Sequence of events</a:t>
            </a:r>
          </a:p>
        </p:txBody>
      </p:sp>
      <p:sp>
        <p:nvSpPr>
          <p:cNvPr id="19" name="TextBox 18"/>
          <p:cNvSpPr txBox="1"/>
          <p:nvPr/>
        </p:nvSpPr>
        <p:spPr>
          <a:xfrm>
            <a:off x="5257800" y="3099816"/>
            <a:ext cx="1005840" cy="274320"/>
          </a:xfrm>
          <a:prstGeom prst="rect">
            <a:avLst/>
          </a:prstGeom>
          <a:noFill/>
        </p:spPr>
        <p:txBody>
          <a:bodyPr wrap="square" lIns="73152" rIns="73152">
            <a:spAutoFit/>
          </a:bodyPr>
          <a:lstStyle/>
          <a:p>
            <a:pPr algn="ctr">
              <a:defRPr sz="1800" b="1">
                <a:solidFill>
                  <a:srgbClr val="22918F"/>
                </a:solidFill>
                <a:latin typeface="Aptos"/>
              </a:defRPr>
            </a:pPr>
            <a:r>
              <a:t>✓</a:t>
            </a:r>
          </a:p>
        </p:txBody>
      </p:sp>
      <p:sp>
        <p:nvSpPr>
          <p:cNvPr id="20" name="TextBox 19"/>
          <p:cNvSpPr txBox="1"/>
          <p:nvPr/>
        </p:nvSpPr>
        <p:spPr>
          <a:xfrm>
            <a:off x="7818120" y="3099816"/>
            <a:ext cx="1005840" cy="274320"/>
          </a:xfrm>
          <a:prstGeom prst="rect">
            <a:avLst/>
          </a:prstGeom>
          <a:noFill/>
        </p:spPr>
        <p:txBody>
          <a:bodyPr wrap="square" lIns="73152" rIns="73152">
            <a:spAutoFit/>
          </a:bodyPr>
          <a:lstStyle/>
          <a:p>
            <a:pPr algn="ctr">
              <a:defRPr sz="1800" b="1">
                <a:solidFill>
                  <a:srgbClr val="F0B248"/>
                </a:solidFill>
                <a:latin typeface="Aptos"/>
              </a:defRPr>
            </a:pPr>
            <a:r>
              <a:t>—</a:t>
            </a:r>
          </a:p>
        </p:txBody>
      </p:sp>
      <p:sp>
        <p:nvSpPr>
          <p:cNvPr id="21" name="TextBox 20"/>
          <p:cNvSpPr txBox="1"/>
          <p:nvPr/>
        </p:nvSpPr>
        <p:spPr>
          <a:xfrm>
            <a:off x="1051560" y="3575304"/>
            <a:ext cx="3657600" cy="461665"/>
          </a:xfrm>
          <a:prstGeom prst="rect">
            <a:avLst/>
          </a:prstGeom>
          <a:noFill/>
        </p:spPr>
        <p:txBody>
          <a:bodyPr wrap="square" lIns="73152" rIns="73152">
            <a:spAutoFit/>
          </a:bodyPr>
          <a:lstStyle/>
          <a:p>
            <a:pPr algn="l">
              <a:defRPr sz="1400" b="0">
                <a:solidFill>
                  <a:srgbClr val="252B33"/>
                </a:solidFill>
                <a:latin typeface="Aptos"/>
              </a:defRPr>
            </a:pPr>
            <a:r>
              <a:rPr sz="2400" dirty="0"/>
              <a:t>Descriptive language</a:t>
            </a:r>
          </a:p>
        </p:txBody>
      </p:sp>
      <p:sp>
        <p:nvSpPr>
          <p:cNvPr id="22" name="TextBox 21"/>
          <p:cNvSpPr txBox="1"/>
          <p:nvPr/>
        </p:nvSpPr>
        <p:spPr>
          <a:xfrm>
            <a:off x="5257800" y="3575304"/>
            <a:ext cx="1005840" cy="274320"/>
          </a:xfrm>
          <a:prstGeom prst="rect">
            <a:avLst/>
          </a:prstGeom>
          <a:noFill/>
        </p:spPr>
        <p:txBody>
          <a:bodyPr wrap="square" lIns="73152" rIns="73152">
            <a:spAutoFit/>
          </a:bodyPr>
          <a:lstStyle/>
          <a:p>
            <a:pPr algn="ctr">
              <a:defRPr sz="1800" b="1">
                <a:solidFill>
                  <a:srgbClr val="22918F"/>
                </a:solidFill>
                <a:latin typeface="Aptos"/>
              </a:defRPr>
            </a:pPr>
            <a:r>
              <a:t>✓</a:t>
            </a:r>
          </a:p>
        </p:txBody>
      </p:sp>
      <p:sp>
        <p:nvSpPr>
          <p:cNvPr id="23" name="TextBox 22"/>
          <p:cNvSpPr txBox="1"/>
          <p:nvPr/>
        </p:nvSpPr>
        <p:spPr>
          <a:xfrm>
            <a:off x="7818120" y="3575304"/>
            <a:ext cx="1005840" cy="274320"/>
          </a:xfrm>
          <a:prstGeom prst="rect">
            <a:avLst/>
          </a:prstGeom>
          <a:noFill/>
        </p:spPr>
        <p:txBody>
          <a:bodyPr wrap="square" lIns="73152" rIns="73152">
            <a:spAutoFit/>
          </a:bodyPr>
          <a:lstStyle/>
          <a:p>
            <a:pPr algn="ctr">
              <a:defRPr sz="1800" b="1">
                <a:solidFill>
                  <a:srgbClr val="F0B248"/>
                </a:solidFill>
                <a:latin typeface="Aptos"/>
              </a:defRPr>
            </a:pPr>
            <a:r>
              <a:t>✓</a:t>
            </a:r>
          </a:p>
        </p:txBody>
      </p:sp>
      <p:sp>
        <p:nvSpPr>
          <p:cNvPr id="24" name="TextBox 23"/>
          <p:cNvSpPr txBox="1"/>
          <p:nvPr/>
        </p:nvSpPr>
        <p:spPr>
          <a:xfrm>
            <a:off x="1051560" y="4050791"/>
            <a:ext cx="3657600" cy="461665"/>
          </a:xfrm>
          <a:prstGeom prst="rect">
            <a:avLst/>
          </a:prstGeom>
          <a:noFill/>
        </p:spPr>
        <p:txBody>
          <a:bodyPr wrap="square" lIns="73152" rIns="73152">
            <a:spAutoFit/>
          </a:bodyPr>
          <a:lstStyle/>
          <a:p>
            <a:pPr algn="l">
              <a:defRPr sz="1400" b="0">
                <a:solidFill>
                  <a:srgbClr val="252B33"/>
                </a:solidFill>
                <a:latin typeface="Aptos"/>
              </a:defRPr>
            </a:pPr>
            <a:r>
              <a:rPr sz="2400" dirty="0"/>
              <a:t>Advice / information</a:t>
            </a:r>
          </a:p>
        </p:txBody>
      </p:sp>
      <p:sp>
        <p:nvSpPr>
          <p:cNvPr id="25" name="TextBox 24"/>
          <p:cNvSpPr txBox="1"/>
          <p:nvPr/>
        </p:nvSpPr>
        <p:spPr>
          <a:xfrm>
            <a:off x="5257800" y="4050791"/>
            <a:ext cx="1005840" cy="274320"/>
          </a:xfrm>
          <a:prstGeom prst="rect">
            <a:avLst/>
          </a:prstGeom>
          <a:noFill/>
        </p:spPr>
        <p:txBody>
          <a:bodyPr wrap="square" lIns="73152" rIns="73152">
            <a:spAutoFit/>
          </a:bodyPr>
          <a:lstStyle/>
          <a:p>
            <a:pPr algn="ctr">
              <a:defRPr sz="1800" b="1">
                <a:solidFill>
                  <a:srgbClr val="22918F"/>
                </a:solidFill>
                <a:latin typeface="Aptos"/>
              </a:defRPr>
            </a:pPr>
            <a:r>
              <a:t>—</a:t>
            </a:r>
          </a:p>
        </p:txBody>
      </p:sp>
      <p:sp>
        <p:nvSpPr>
          <p:cNvPr id="26" name="TextBox 25"/>
          <p:cNvSpPr txBox="1"/>
          <p:nvPr/>
        </p:nvSpPr>
        <p:spPr>
          <a:xfrm>
            <a:off x="7818120" y="4050791"/>
            <a:ext cx="1005840" cy="274320"/>
          </a:xfrm>
          <a:prstGeom prst="rect">
            <a:avLst/>
          </a:prstGeom>
          <a:noFill/>
        </p:spPr>
        <p:txBody>
          <a:bodyPr wrap="square" lIns="73152" rIns="73152">
            <a:spAutoFit/>
          </a:bodyPr>
          <a:lstStyle/>
          <a:p>
            <a:pPr algn="ctr">
              <a:defRPr sz="1800" b="1">
                <a:solidFill>
                  <a:srgbClr val="F0B248"/>
                </a:solidFill>
                <a:latin typeface="Aptos"/>
              </a:defRPr>
            </a:pPr>
            <a:r>
              <a:t>✓</a:t>
            </a:r>
          </a:p>
        </p:txBody>
      </p:sp>
      <p:sp>
        <p:nvSpPr>
          <p:cNvPr id="27" name="TextBox 26"/>
          <p:cNvSpPr txBox="1"/>
          <p:nvPr/>
        </p:nvSpPr>
        <p:spPr>
          <a:xfrm>
            <a:off x="1051560" y="4526280"/>
            <a:ext cx="3657600" cy="400110"/>
          </a:xfrm>
          <a:prstGeom prst="rect">
            <a:avLst/>
          </a:prstGeom>
          <a:noFill/>
        </p:spPr>
        <p:txBody>
          <a:bodyPr wrap="square" lIns="73152" rIns="73152">
            <a:spAutoFit/>
          </a:bodyPr>
          <a:lstStyle/>
          <a:p>
            <a:pPr algn="l">
              <a:defRPr sz="1400" b="0">
                <a:solidFill>
                  <a:srgbClr val="252B33"/>
                </a:solidFill>
                <a:latin typeface="Aptos"/>
              </a:defRPr>
            </a:pPr>
            <a:r>
              <a:rPr sz="2000" dirty="0"/>
              <a:t>Designed mainly to entertain</a:t>
            </a:r>
          </a:p>
        </p:txBody>
      </p:sp>
      <p:sp>
        <p:nvSpPr>
          <p:cNvPr id="28" name="TextBox 27"/>
          <p:cNvSpPr txBox="1"/>
          <p:nvPr/>
        </p:nvSpPr>
        <p:spPr>
          <a:xfrm>
            <a:off x="5257800" y="4526280"/>
            <a:ext cx="1005840" cy="274320"/>
          </a:xfrm>
          <a:prstGeom prst="rect">
            <a:avLst/>
          </a:prstGeom>
          <a:noFill/>
        </p:spPr>
        <p:txBody>
          <a:bodyPr wrap="square" lIns="73152" rIns="73152">
            <a:spAutoFit/>
          </a:bodyPr>
          <a:lstStyle/>
          <a:p>
            <a:pPr algn="ctr">
              <a:defRPr sz="1800" b="1">
                <a:solidFill>
                  <a:srgbClr val="22918F"/>
                </a:solidFill>
                <a:latin typeface="Aptos"/>
              </a:defRPr>
            </a:pPr>
            <a:r>
              <a:t>✓</a:t>
            </a:r>
          </a:p>
        </p:txBody>
      </p:sp>
      <p:sp>
        <p:nvSpPr>
          <p:cNvPr id="29" name="TextBox 28"/>
          <p:cNvSpPr txBox="1"/>
          <p:nvPr/>
        </p:nvSpPr>
        <p:spPr>
          <a:xfrm>
            <a:off x="7818120" y="4526280"/>
            <a:ext cx="1005840" cy="274320"/>
          </a:xfrm>
          <a:prstGeom prst="rect">
            <a:avLst/>
          </a:prstGeom>
          <a:noFill/>
        </p:spPr>
        <p:txBody>
          <a:bodyPr wrap="square" lIns="73152" rIns="73152">
            <a:spAutoFit/>
          </a:bodyPr>
          <a:lstStyle/>
          <a:p>
            <a:pPr algn="ctr">
              <a:defRPr sz="1800" b="1">
                <a:solidFill>
                  <a:srgbClr val="F0B248"/>
                </a:solidFill>
                <a:latin typeface="Aptos"/>
              </a:defRPr>
            </a:pPr>
            <a:r>
              <a:t>—</a:t>
            </a:r>
          </a:p>
        </p:txBody>
      </p:sp>
      <p:sp>
        <p:nvSpPr>
          <p:cNvPr id="30" name="TextBox 29"/>
          <p:cNvSpPr txBox="1"/>
          <p:nvPr/>
        </p:nvSpPr>
        <p:spPr>
          <a:xfrm>
            <a:off x="1051560" y="5001768"/>
            <a:ext cx="3657600" cy="461665"/>
          </a:xfrm>
          <a:prstGeom prst="rect">
            <a:avLst/>
          </a:prstGeom>
          <a:noFill/>
        </p:spPr>
        <p:txBody>
          <a:bodyPr wrap="square" lIns="73152" rIns="73152">
            <a:spAutoFit/>
          </a:bodyPr>
          <a:lstStyle/>
          <a:p>
            <a:pPr algn="l">
              <a:defRPr sz="1400" b="0">
                <a:solidFill>
                  <a:srgbClr val="252B33"/>
                </a:solidFill>
                <a:latin typeface="Aptos"/>
              </a:defRPr>
            </a:pPr>
            <a:r>
              <a:rPr sz="2400" dirty="0"/>
              <a:t>Factual information</a:t>
            </a:r>
          </a:p>
        </p:txBody>
      </p:sp>
      <p:sp>
        <p:nvSpPr>
          <p:cNvPr id="31" name="TextBox 30"/>
          <p:cNvSpPr txBox="1"/>
          <p:nvPr/>
        </p:nvSpPr>
        <p:spPr>
          <a:xfrm>
            <a:off x="5257800" y="5001768"/>
            <a:ext cx="1005840" cy="274320"/>
          </a:xfrm>
          <a:prstGeom prst="rect">
            <a:avLst/>
          </a:prstGeom>
          <a:noFill/>
        </p:spPr>
        <p:txBody>
          <a:bodyPr wrap="square" lIns="73152" rIns="73152">
            <a:spAutoFit/>
          </a:bodyPr>
          <a:lstStyle/>
          <a:p>
            <a:pPr algn="ctr">
              <a:defRPr sz="1800" b="1">
                <a:solidFill>
                  <a:srgbClr val="22918F"/>
                </a:solidFill>
                <a:latin typeface="Aptos"/>
              </a:defRPr>
            </a:pPr>
            <a:r>
              <a:t>—</a:t>
            </a:r>
          </a:p>
        </p:txBody>
      </p:sp>
      <p:sp>
        <p:nvSpPr>
          <p:cNvPr id="32" name="TextBox 31"/>
          <p:cNvSpPr txBox="1"/>
          <p:nvPr/>
        </p:nvSpPr>
        <p:spPr>
          <a:xfrm>
            <a:off x="7818120" y="5001768"/>
            <a:ext cx="1005840" cy="274320"/>
          </a:xfrm>
          <a:prstGeom prst="rect">
            <a:avLst/>
          </a:prstGeom>
          <a:noFill/>
        </p:spPr>
        <p:txBody>
          <a:bodyPr wrap="square" lIns="73152" rIns="73152">
            <a:spAutoFit/>
          </a:bodyPr>
          <a:lstStyle/>
          <a:p>
            <a:pPr algn="ctr">
              <a:defRPr sz="1800" b="1">
                <a:solidFill>
                  <a:srgbClr val="F0B248"/>
                </a:solidFill>
                <a:latin typeface="Aptos"/>
              </a:defRPr>
            </a:pPr>
            <a:r>
              <a:t>✓</a:t>
            </a:r>
          </a:p>
        </p:txBody>
      </p:sp>
      <p:sp>
        <p:nvSpPr>
          <p:cNvPr id="33" name="TextBox 32"/>
          <p:cNvSpPr txBox="1"/>
          <p:nvPr/>
        </p:nvSpPr>
        <p:spPr>
          <a:xfrm>
            <a:off x="914400" y="6080760"/>
            <a:ext cx="8229600" cy="274320"/>
          </a:xfrm>
          <a:prstGeom prst="rect">
            <a:avLst/>
          </a:prstGeom>
          <a:noFill/>
        </p:spPr>
        <p:txBody>
          <a:bodyPr wrap="square" lIns="73152" rIns="73152">
            <a:spAutoFit/>
          </a:bodyPr>
          <a:lstStyle/>
          <a:p>
            <a:pPr algn="l">
              <a:defRPr sz="1300" b="1">
                <a:solidFill>
                  <a:srgbClr val="17233B"/>
                </a:solidFill>
                <a:latin typeface="Aptos"/>
              </a:defRPr>
            </a:pPr>
            <a:r>
              <a:t>Question → Which TWO pieces of evidence are strongest?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47472"/>
            <a:ext cx="914400" cy="73152"/>
          </a:xfrm>
          <a:prstGeom prst="rect">
            <a:avLst/>
          </a:prstGeom>
          <a:solidFill>
            <a:srgbClr val="2291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457200"/>
            <a:ext cx="5029200" cy="320040"/>
          </a:xfrm>
          <a:prstGeom prst="rect">
            <a:avLst/>
          </a:prstGeom>
          <a:noFill/>
        </p:spPr>
        <p:txBody>
          <a:bodyPr wrap="none">
            <a:spAutoFit/>
          </a:bodyPr>
          <a:lstStyle/>
          <a:p>
            <a:pPr>
              <a:defRPr sz="1000" b="1">
                <a:solidFill>
                  <a:srgbClr val="22918F"/>
                </a:solidFill>
              </a:defRPr>
            </a:pPr>
            <a:r>
              <a:t>CHECKPOINT DETECTIVE • ANSWER</a:t>
            </a:r>
          </a:p>
        </p:txBody>
      </p:sp>
      <p:sp>
        <p:nvSpPr>
          <p:cNvPr id="5" name="TextBox 4"/>
          <p:cNvSpPr txBox="1"/>
          <p:nvPr/>
        </p:nvSpPr>
        <p:spPr>
          <a:xfrm>
            <a:off x="11292840" y="384048"/>
            <a:ext cx="411480" cy="274320"/>
          </a:xfrm>
          <a:prstGeom prst="rect">
            <a:avLst/>
          </a:prstGeom>
          <a:noFill/>
        </p:spPr>
        <p:txBody>
          <a:bodyPr wrap="none">
            <a:spAutoFit/>
          </a:bodyPr>
          <a:lstStyle/>
          <a:p>
            <a:pPr algn="r">
              <a:defRPr sz="1000">
                <a:solidFill>
                  <a:srgbClr val="5C6570"/>
                </a:solidFill>
              </a:defRPr>
            </a:pPr>
            <a:r>
              <a:t>18</a:t>
            </a:r>
          </a:p>
        </p:txBody>
      </p:sp>
      <p:sp>
        <p:nvSpPr>
          <p:cNvPr id="6" name="TextBox 5"/>
          <p:cNvSpPr txBox="1"/>
          <p:nvPr/>
        </p:nvSpPr>
        <p:spPr>
          <a:xfrm>
            <a:off x="594360" y="6473952"/>
            <a:ext cx="7315200" cy="201168"/>
          </a:xfrm>
          <a:prstGeom prst="rect">
            <a:avLst/>
          </a:prstGeom>
          <a:noFill/>
        </p:spPr>
        <p:txBody>
          <a:bodyPr wrap="square" lIns="73152" rIns="73152">
            <a:spAutoFit/>
          </a:bodyPr>
          <a:lstStyle/>
          <a:p>
            <a:pPr algn="l">
              <a:defRPr sz="900" b="0">
                <a:solidFill>
                  <a:srgbClr val="5C6570"/>
                </a:solidFill>
                <a:latin typeface="Aptos"/>
              </a:defRPr>
            </a:pPr>
            <a:r>
              <a:t>Year 6 • Cambridge Primary Checkpoint preparation</a:t>
            </a:r>
          </a:p>
        </p:txBody>
      </p:sp>
      <p:sp>
        <p:nvSpPr>
          <p:cNvPr id="7" name="TextBox 6"/>
          <p:cNvSpPr txBox="1"/>
          <p:nvPr/>
        </p:nvSpPr>
        <p:spPr>
          <a:xfrm>
            <a:off x="594360" y="822960"/>
            <a:ext cx="10972800" cy="685800"/>
          </a:xfrm>
          <a:prstGeom prst="rect">
            <a:avLst/>
          </a:prstGeom>
          <a:noFill/>
        </p:spPr>
        <p:txBody>
          <a:bodyPr wrap="square">
            <a:spAutoFit/>
          </a:bodyPr>
          <a:lstStyle/>
          <a:p>
            <a:pPr>
              <a:defRPr sz="2800" b="1">
                <a:solidFill>
                  <a:srgbClr val="17233B"/>
                </a:solidFill>
                <a:latin typeface="Aptos Display"/>
              </a:defRPr>
            </a:pPr>
            <a:r>
              <a:t>How to choose strong evidence</a:t>
            </a:r>
          </a:p>
        </p:txBody>
      </p:sp>
      <p:sp>
        <p:nvSpPr>
          <p:cNvPr id="8" name="Rounded Rectangle 7"/>
          <p:cNvSpPr/>
          <p:nvPr/>
        </p:nvSpPr>
        <p:spPr>
          <a:xfrm>
            <a:off x="960120" y="1549784"/>
            <a:ext cx="10332720" cy="4251960"/>
          </a:xfrm>
          <a:prstGeom prst="roundRect">
            <a:avLst/>
          </a:prstGeom>
          <a:solidFill>
            <a:srgbClr val="FFFFFF"/>
          </a:solidFill>
          <a:ln w="12700">
            <a:solidFill>
              <a:srgbClr val="E1F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325880" y="1920240"/>
            <a:ext cx="2743200" cy="320040"/>
          </a:xfrm>
          <a:prstGeom prst="rect">
            <a:avLst/>
          </a:prstGeom>
          <a:noFill/>
        </p:spPr>
        <p:txBody>
          <a:bodyPr wrap="square" lIns="73152" rIns="73152">
            <a:spAutoFit/>
          </a:bodyPr>
          <a:lstStyle/>
          <a:p>
            <a:pPr algn="l">
              <a:defRPr sz="1800" b="1">
                <a:solidFill>
                  <a:srgbClr val="22918F"/>
                </a:solidFill>
                <a:latin typeface="Aptos"/>
              </a:defRPr>
            </a:pPr>
            <a:r>
              <a:t>STRONG EVIDENCE</a:t>
            </a:r>
          </a:p>
        </p:txBody>
      </p:sp>
      <p:sp>
        <p:nvSpPr>
          <p:cNvPr id="10" name="TextBox 9"/>
          <p:cNvSpPr txBox="1"/>
          <p:nvPr/>
        </p:nvSpPr>
        <p:spPr>
          <a:xfrm>
            <a:off x="1325880" y="2468880"/>
            <a:ext cx="8686800" cy="1631216"/>
          </a:xfrm>
          <a:prstGeom prst="rect">
            <a:avLst/>
          </a:prstGeom>
          <a:noFill/>
        </p:spPr>
        <p:txBody>
          <a:bodyPr wrap="square">
            <a:spAutoFit/>
          </a:bodyPr>
          <a:lstStyle/>
          <a:p>
            <a:pPr>
              <a:spcAft>
                <a:spcPts val="800"/>
              </a:spcAft>
              <a:defRPr sz="1600">
                <a:solidFill>
                  <a:srgbClr val="252B33"/>
                </a:solidFill>
                <a:latin typeface="Aptos"/>
              </a:defRPr>
            </a:pPr>
            <a:r>
              <a:rPr sz="2000" dirty="0"/>
              <a:t>• points to a clear feature of the text;</a:t>
            </a:r>
          </a:p>
          <a:p>
            <a:pPr>
              <a:spcAft>
                <a:spcPts val="800"/>
              </a:spcAft>
              <a:defRPr sz="1600">
                <a:solidFill>
                  <a:srgbClr val="252B33"/>
                </a:solidFill>
                <a:latin typeface="Aptos"/>
              </a:defRPr>
            </a:pPr>
            <a:r>
              <a:rPr sz="2000" dirty="0"/>
              <a:t>• can be found directly in the passage;</a:t>
            </a:r>
          </a:p>
          <a:p>
            <a:pPr>
              <a:spcAft>
                <a:spcPts val="800"/>
              </a:spcAft>
              <a:defRPr sz="1600">
                <a:solidFill>
                  <a:srgbClr val="252B33"/>
                </a:solidFill>
                <a:latin typeface="Aptos"/>
              </a:defRPr>
            </a:pPr>
            <a:r>
              <a:rPr sz="2000" dirty="0"/>
              <a:t>• helps explain the writer’s purpose;</a:t>
            </a:r>
          </a:p>
          <a:p>
            <a:pPr>
              <a:spcAft>
                <a:spcPts val="800"/>
              </a:spcAft>
              <a:defRPr sz="1600">
                <a:solidFill>
                  <a:srgbClr val="252B33"/>
                </a:solidFill>
                <a:latin typeface="Aptos"/>
              </a:defRPr>
            </a:pPr>
            <a:r>
              <a:rPr sz="2000" dirty="0"/>
              <a:t>• is more convincing than a vague impression.</a:t>
            </a:r>
          </a:p>
        </p:txBody>
      </p:sp>
      <p:sp>
        <p:nvSpPr>
          <p:cNvPr id="11" name="TextBox 10"/>
          <p:cNvSpPr txBox="1"/>
          <p:nvPr/>
        </p:nvSpPr>
        <p:spPr>
          <a:xfrm>
            <a:off x="899160" y="4641759"/>
            <a:ext cx="1463040" cy="461665"/>
          </a:xfrm>
          <a:prstGeom prst="rect">
            <a:avLst/>
          </a:prstGeom>
          <a:noFill/>
        </p:spPr>
        <p:txBody>
          <a:bodyPr wrap="square" lIns="73152" rIns="73152">
            <a:spAutoFit/>
          </a:bodyPr>
          <a:lstStyle/>
          <a:p>
            <a:pPr algn="l">
              <a:defRPr sz="1300" b="1">
                <a:solidFill>
                  <a:srgbClr val="5C6570"/>
                </a:solidFill>
                <a:latin typeface="Aptos"/>
              </a:defRPr>
            </a:pPr>
            <a:r>
              <a:rPr sz="2400" dirty="0"/>
              <a:t>Example:</a:t>
            </a:r>
          </a:p>
        </p:txBody>
      </p:sp>
      <p:sp>
        <p:nvSpPr>
          <p:cNvPr id="12" name="TextBox 11"/>
          <p:cNvSpPr txBox="1"/>
          <p:nvPr/>
        </p:nvSpPr>
        <p:spPr>
          <a:xfrm>
            <a:off x="2331720" y="4526280"/>
            <a:ext cx="8138160" cy="707886"/>
          </a:xfrm>
          <a:prstGeom prst="rect">
            <a:avLst/>
          </a:prstGeom>
          <a:noFill/>
        </p:spPr>
        <p:txBody>
          <a:bodyPr wrap="square" lIns="73152" rIns="73152">
            <a:spAutoFit/>
          </a:bodyPr>
          <a:lstStyle/>
          <a:p>
            <a:pPr algn="l">
              <a:defRPr sz="1500" b="1">
                <a:solidFill>
                  <a:srgbClr val="17233B"/>
                </a:solidFill>
                <a:latin typeface="Aptos"/>
              </a:defRPr>
            </a:pPr>
            <a:r>
              <a:rPr sz="2000" dirty="0"/>
              <a:t>“Maya” + the sequence of events are stronger evidence than simply saying “it sounds like a story.”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47472"/>
            <a:ext cx="914400" cy="73152"/>
          </a:xfrm>
          <a:prstGeom prst="rect">
            <a:avLst/>
          </a:prstGeom>
          <a:solidFill>
            <a:srgbClr val="2291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457200"/>
            <a:ext cx="5029200" cy="320040"/>
          </a:xfrm>
          <a:prstGeom prst="rect">
            <a:avLst/>
          </a:prstGeom>
          <a:noFill/>
        </p:spPr>
        <p:txBody>
          <a:bodyPr wrap="none">
            <a:spAutoFit/>
          </a:bodyPr>
          <a:lstStyle/>
          <a:p>
            <a:pPr>
              <a:defRPr sz="1000" b="1">
                <a:solidFill>
                  <a:srgbClr val="22918F"/>
                </a:solidFill>
              </a:defRPr>
            </a:pPr>
            <a:r>
              <a:t>DISCUSSION</a:t>
            </a:r>
          </a:p>
        </p:txBody>
      </p:sp>
      <p:sp>
        <p:nvSpPr>
          <p:cNvPr id="5" name="TextBox 4"/>
          <p:cNvSpPr txBox="1"/>
          <p:nvPr/>
        </p:nvSpPr>
        <p:spPr>
          <a:xfrm>
            <a:off x="11292840" y="384048"/>
            <a:ext cx="411480" cy="274320"/>
          </a:xfrm>
          <a:prstGeom prst="rect">
            <a:avLst/>
          </a:prstGeom>
          <a:noFill/>
        </p:spPr>
        <p:txBody>
          <a:bodyPr wrap="none">
            <a:spAutoFit/>
          </a:bodyPr>
          <a:lstStyle/>
          <a:p>
            <a:pPr algn="r">
              <a:defRPr sz="1000">
                <a:solidFill>
                  <a:srgbClr val="5C6570"/>
                </a:solidFill>
              </a:defRPr>
            </a:pPr>
            <a:r>
              <a:t>19</a:t>
            </a:r>
          </a:p>
        </p:txBody>
      </p:sp>
      <p:sp>
        <p:nvSpPr>
          <p:cNvPr id="6" name="TextBox 5"/>
          <p:cNvSpPr txBox="1"/>
          <p:nvPr/>
        </p:nvSpPr>
        <p:spPr>
          <a:xfrm>
            <a:off x="594360" y="6473952"/>
            <a:ext cx="7315200" cy="201168"/>
          </a:xfrm>
          <a:prstGeom prst="rect">
            <a:avLst/>
          </a:prstGeom>
          <a:noFill/>
        </p:spPr>
        <p:txBody>
          <a:bodyPr wrap="square" lIns="73152" rIns="73152">
            <a:spAutoFit/>
          </a:bodyPr>
          <a:lstStyle/>
          <a:p>
            <a:pPr algn="l">
              <a:defRPr sz="900" b="0">
                <a:solidFill>
                  <a:srgbClr val="5C6570"/>
                </a:solidFill>
                <a:latin typeface="Aptos"/>
              </a:defRPr>
            </a:pPr>
            <a:r>
              <a:t>Year 6 • Cambridge Primary Checkpoint preparation</a:t>
            </a:r>
          </a:p>
        </p:txBody>
      </p:sp>
      <p:sp>
        <p:nvSpPr>
          <p:cNvPr id="7" name="TextBox 6"/>
          <p:cNvSpPr txBox="1"/>
          <p:nvPr/>
        </p:nvSpPr>
        <p:spPr>
          <a:xfrm>
            <a:off x="594360" y="822960"/>
            <a:ext cx="10972800" cy="685800"/>
          </a:xfrm>
          <a:prstGeom prst="rect">
            <a:avLst/>
          </a:prstGeom>
          <a:noFill/>
        </p:spPr>
        <p:txBody>
          <a:bodyPr wrap="square">
            <a:spAutoFit/>
          </a:bodyPr>
          <a:lstStyle/>
          <a:p>
            <a:pPr>
              <a:defRPr sz="2800" b="1">
                <a:solidFill>
                  <a:srgbClr val="17233B"/>
                </a:solidFill>
                <a:latin typeface="Aptos Display"/>
              </a:defRPr>
            </a:pPr>
            <a:r>
              <a:t>Could it be both?</a:t>
            </a:r>
          </a:p>
        </p:txBody>
      </p:sp>
      <p:sp>
        <p:nvSpPr>
          <p:cNvPr id="8" name="Rounded Rectangle 7"/>
          <p:cNvSpPr/>
          <p:nvPr/>
        </p:nvSpPr>
        <p:spPr>
          <a:xfrm>
            <a:off x="914400" y="1737360"/>
            <a:ext cx="10332720" cy="2039112"/>
          </a:xfrm>
          <a:prstGeom prst="roundRect">
            <a:avLst/>
          </a:prstGeom>
          <a:solidFill>
            <a:srgbClr val="FFFFFF"/>
          </a:solidFill>
          <a:ln w="12700">
            <a:solidFill>
              <a:srgbClr val="FCF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371600" y="2240280"/>
            <a:ext cx="9326880" cy="523220"/>
          </a:xfrm>
          <a:prstGeom prst="rect">
            <a:avLst/>
          </a:prstGeom>
          <a:noFill/>
        </p:spPr>
        <p:txBody>
          <a:bodyPr wrap="square" lIns="73152" rIns="73152">
            <a:spAutoFit/>
          </a:bodyPr>
          <a:lstStyle/>
          <a:p>
            <a:pPr algn="ctr">
              <a:defRPr sz="2300" b="1">
                <a:solidFill>
                  <a:srgbClr val="17233B"/>
                </a:solidFill>
                <a:latin typeface="Aptos"/>
              </a:defRPr>
            </a:pPr>
            <a:r>
              <a:rPr sz="2800" dirty="0"/>
              <a:t>“A story about a real fox can still be fiction.”</a:t>
            </a:r>
          </a:p>
        </p:txBody>
      </p:sp>
      <p:sp>
        <p:nvSpPr>
          <p:cNvPr id="10" name="TextBox 9"/>
          <p:cNvSpPr txBox="1"/>
          <p:nvPr/>
        </p:nvSpPr>
        <p:spPr>
          <a:xfrm>
            <a:off x="1371600" y="2971800"/>
            <a:ext cx="9326880" cy="461665"/>
          </a:xfrm>
          <a:prstGeom prst="rect">
            <a:avLst/>
          </a:prstGeom>
          <a:noFill/>
        </p:spPr>
        <p:txBody>
          <a:bodyPr wrap="square" lIns="73152" rIns="73152">
            <a:spAutoFit/>
          </a:bodyPr>
          <a:lstStyle/>
          <a:p>
            <a:pPr algn="ctr">
              <a:defRPr sz="2000" b="1">
                <a:solidFill>
                  <a:srgbClr val="22918F"/>
                </a:solidFill>
                <a:latin typeface="Aptos"/>
              </a:defRPr>
            </a:pPr>
            <a:r>
              <a:rPr sz="2400" dirty="0"/>
              <a:t>“A non-fiction text can use interesting and descriptive language.”</a:t>
            </a:r>
          </a:p>
        </p:txBody>
      </p:sp>
      <p:sp>
        <p:nvSpPr>
          <p:cNvPr id="11" name="TextBox 10"/>
          <p:cNvSpPr txBox="1"/>
          <p:nvPr/>
        </p:nvSpPr>
        <p:spPr>
          <a:xfrm>
            <a:off x="1519881" y="4996190"/>
            <a:ext cx="9326880" cy="523220"/>
          </a:xfrm>
          <a:prstGeom prst="rect">
            <a:avLst/>
          </a:prstGeom>
          <a:noFill/>
        </p:spPr>
        <p:txBody>
          <a:bodyPr wrap="square" lIns="73152" rIns="73152">
            <a:spAutoFit/>
          </a:bodyPr>
          <a:lstStyle/>
          <a:p>
            <a:pPr algn="ctr">
              <a:defRPr sz="1700" b="1">
                <a:solidFill>
                  <a:srgbClr val="5C6570"/>
                </a:solidFill>
                <a:latin typeface="Aptos"/>
              </a:defRPr>
            </a:pPr>
            <a:r>
              <a:rPr sz="2800" dirty="0"/>
              <a:t>Discuss: How can both statements be true?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47472"/>
            <a:ext cx="914400" cy="73152"/>
          </a:xfrm>
          <a:prstGeom prst="rect">
            <a:avLst/>
          </a:prstGeom>
          <a:solidFill>
            <a:srgbClr val="2291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457200"/>
            <a:ext cx="5029200" cy="320040"/>
          </a:xfrm>
          <a:prstGeom prst="rect">
            <a:avLst/>
          </a:prstGeom>
          <a:noFill/>
        </p:spPr>
        <p:txBody>
          <a:bodyPr wrap="none">
            <a:spAutoFit/>
          </a:bodyPr>
          <a:lstStyle/>
          <a:p>
            <a:pPr>
              <a:defRPr sz="1000" b="1">
                <a:solidFill>
                  <a:srgbClr val="22918F"/>
                </a:solidFill>
              </a:defRPr>
            </a:pPr>
            <a:r>
              <a:t>DISCUSSION • ANSWER</a:t>
            </a:r>
          </a:p>
        </p:txBody>
      </p:sp>
      <p:sp>
        <p:nvSpPr>
          <p:cNvPr id="5" name="TextBox 4"/>
          <p:cNvSpPr txBox="1"/>
          <p:nvPr/>
        </p:nvSpPr>
        <p:spPr>
          <a:xfrm>
            <a:off x="11292840" y="384048"/>
            <a:ext cx="411480" cy="274320"/>
          </a:xfrm>
          <a:prstGeom prst="rect">
            <a:avLst/>
          </a:prstGeom>
          <a:noFill/>
        </p:spPr>
        <p:txBody>
          <a:bodyPr wrap="none">
            <a:spAutoFit/>
          </a:bodyPr>
          <a:lstStyle/>
          <a:p>
            <a:pPr algn="r">
              <a:defRPr sz="1000">
                <a:solidFill>
                  <a:srgbClr val="5C6570"/>
                </a:solidFill>
              </a:defRPr>
            </a:pPr>
            <a:r>
              <a:t>20</a:t>
            </a:r>
          </a:p>
        </p:txBody>
      </p:sp>
      <p:sp>
        <p:nvSpPr>
          <p:cNvPr id="6" name="TextBox 5"/>
          <p:cNvSpPr txBox="1"/>
          <p:nvPr/>
        </p:nvSpPr>
        <p:spPr>
          <a:xfrm>
            <a:off x="594360" y="6473952"/>
            <a:ext cx="7315200" cy="201168"/>
          </a:xfrm>
          <a:prstGeom prst="rect">
            <a:avLst/>
          </a:prstGeom>
          <a:noFill/>
        </p:spPr>
        <p:txBody>
          <a:bodyPr wrap="square" lIns="73152" rIns="73152">
            <a:spAutoFit/>
          </a:bodyPr>
          <a:lstStyle/>
          <a:p>
            <a:pPr algn="l">
              <a:defRPr sz="900" b="0">
                <a:solidFill>
                  <a:srgbClr val="5C6570"/>
                </a:solidFill>
                <a:latin typeface="Aptos"/>
              </a:defRPr>
            </a:pPr>
            <a:r>
              <a:t>Year 6 • Cambridge Primary Checkpoint preparation</a:t>
            </a:r>
          </a:p>
        </p:txBody>
      </p:sp>
      <p:sp>
        <p:nvSpPr>
          <p:cNvPr id="7" name="TextBox 6"/>
          <p:cNvSpPr txBox="1"/>
          <p:nvPr/>
        </p:nvSpPr>
        <p:spPr>
          <a:xfrm>
            <a:off x="594360" y="822960"/>
            <a:ext cx="10972800" cy="685800"/>
          </a:xfrm>
          <a:prstGeom prst="rect">
            <a:avLst/>
          </a:prstGeom>
          <a:noFill/>
        </p:spPr>
        <p:txBody>
          <a:bodyPr wrap="square">
            <a:spAutoFit/>
          </a:bodyPr>
          <a:lstStyle/>
          <a:p>
            <a:pPr>
              <a:defRPr sz="2800" b="1">
                <a:solidFill>
                  <a:srgbClr val="17233B"/>
                </a:solidFill>
                <a:latin typeface="Aptos Display"/>
              </a:defRPr>
            </a:pPr>
            <a:r>
              <a:t>Yes — because features can overlap</a:t>
            </a:r>
          </a:p>
        </p:txBody>
      </p:sp>
      <p:sp>
        <p:nvSpPr>
          <p:cNvPr id="8" name="Rounded Rectangle 7"/>
          <p:cNvSpPr/>
          <p:nvPr/>
        </p:nvSpPr>
        <p:spPr>
          <a:xfrm>
            <a:off x="914400" y="1600200"/>
            <a:ext cx="10332720" cy="4114800"/>
          </a:xfrm>
          <a:prstGeom prst="roundRect">
            <a:avLst/>
          </a:prstGeom>
          <a:solidFill>
            <a:srgbClr val="FFFFFF"/>
          </a:solidFill>
          <a:ln w="12700">
            <a:solidFill>
              <a:srgbClr val="E6ED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44880" y="2011680"/>
            <a:ext cx="10302240" cy="2246769"/>
          </a:xfrm>
          <a:prstGeom prst="rect">
            <a:avLst/>
          </a:prstGeom>
          <a:noFill/>
        </p:spPr>
        <p:txBody>
          <a:bodyPr wrap="square">
            <a:spAutoFit/>
          </a:bodyPr>
          <a:lstStyle/>
          <a:p>
            <a:pPr>
              <a:spcAft>
                <a:spcPts val="800"/>
              </a:spcAft>
              <a:defRPr sz="1700">
                <a:solidFill>
                  <a:srgbClr val="252B33"/>
                </a:solidFill>
                <a:latin typeface="Aptos"/>
              </a:defRPr>
            </a:pPr>
            <a:r>
              <a:rPr sz="2400" dirty="0"/>
              <a:t>• Fiction may use real facts to make an imagined story believable.</a:t>
            </a:r>
          </a:p>
          <a:p>
            <a:pPr>
              <a:spcAft>
                <a:spcPts val="800"/>
              </a:spcAft>
              <a:defRPr sz="1700">
                <a:solidFill>
                  <a:srgbClr val="252B33"/>
                </a:solidFill>
                <a:latin typeface="Aptos"/>
              </a:defRPr>
            </a:pPr>
            <a:r>
              <a:rPr sz="2400" dirty="0"/>
              <a:t>• Non-fiction may use descriptive language to make information clear or engaging.</a:t>
            </a:r>
          </a:p>
          <a:p>
            <a:pPr>
              <a:spcAft>
                <a:spcPts val="800"/>
              </a:spcAft>
              <a:defRPr sz="1700">
                <a:solidFill>
                  <a:srgbClr val="252B33"/>
                </a:solidFill>
                <a:latin typeface="Aptos"/>
              </a:defRPr>
            </a:pPr>
            <a:r>
              <a:rPr sz="2400" dirty="0"/>
              <a:t>• Therefore, no single feature proves the text type.</a:t>
            </a:r>
          </a:p>
          <a:p>
            <a:pPr>
              <a:spcAft>
                <a:spcPts val="800"/>
              </a:spcAft>
              <a:defRPr sz="1700">
                <a:solidFill>
                  <a:srgbClr val="252B33"/>
                </a:solidFill>
                <a:latin typeface="Aptos"/>
              </a:defRPr>
            </a:pPr>
            <a:r>
              <a:rPr sz="2400" dirty="0"/>
              <a:t>• The strongest decision considers purpose + structure + evidence together.</a:t>
            </a:r>
          </a:p>
        </p:txBody>
      </p:sp>
      <p:sp>
        <p:nvSpPr>
          <p:cNvPr id="10" name="Rounded Rectangle 9"/>
          <p:cNvSpPr/>
          <p:nvPr/>
        </p:nvSpPr>
        <p:spPr>
          <a:xfrm>
            <a:off x="4800600" y="5166360"/>
            <a:ext cx="2560320" cy="384048"/>
          </a:xfrm>
          <a:prstGeom prst="roundRect">
            <a:avLst/>
          </a:prstGeom>
          <a:solidFill>
            <a:srgbClr val="FCF0D5"/>
          </a:solidFill>
          <a:ln w="12700">
            <a:solidFill>
              <a:srgbClr val="FCF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800600" y="5096774"/>
            <a:ext cx="2505456" cy="523220"/>
          </a:xfrm>
          <a:prstGeom prst="rect">
            <a:avLst/>
          </a:prstGeom>
          <a:noFill/>
        </p:spPr>
        <p:txBody>
          <a:bodyPr wrap="square" lIns="73152" rIns="73152">
            <a:spAutoFit/>
          </a:bodyPr>
          <a:lstStyle/>
          <a:p>
            <a:pPr algn="ctr">
              <a:defRPr sz="1000" b="1">
                <a:solidFill>
                  <a:srgbClr val="F0B248"/>
                </a:solidFill>
                <a:latin typeface="Aptos"/>
              </a:defRPr>
            </a:pPr>
            <a:r>
              <a:rPr sz="2800" dirty="0"/>
              <a:t>REMEMBER</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47472"/>
            <a:ext cx="914400" cy="73152"/>
          </a:xfrm>
          <a:prstGeom prst="rect">
            <a:avLst/>
          </a:prstGeom>
          <a:solidFill>
            <a:srgbClr val="2291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457200"/>
            <a:ext cx="5029200" cy="320040"/>
          </a:xfrm>
          <a:prstGeom prst="rect">
            <a:avLst/>
          </a:prstGeom>
          <a:noFill/>
        </p:spPr>
        <p:txBody>
          <a:bodyPr wrap="none">
            <a:spAutoFit/>
          </a:bodyPr>
          <a:lstStyle/>
          <a:p>
            <a:pPr>
              <a:defRPr sz="1000" b="1">
                <a:solidFill>
                  <a:srgbClr val="22918F"/>
                </a:solidFill>
              </a:defRPr>
            </a:pPr>
            <a:r>
              <a:t>MODEL RESPONSE</a:t>
            </a:r>
          </a:p>
        </p:txBody>
      </p:sp>
      <p:sp>
        <p:nvSpPr>
          <p:cNvPr id="5" name="TextBox 4"/>
          <p:cNvSpPr txBox="1"/>
          <p:nvPr/>
        </p:nvSpPr>
        <p:spPr>
          <a:xfrm>
            <a:off x="11292840" y="384048"/>
            <a:ext cx="411480" cy="274320"/>
          </a:xfrm>
          <a:prstGeom prst="rect">
            <a:avLst/>
          </a:prstGeom>
          <a:noFill/>
        </p:spPr>
        <p:txBody>
          <a:bodyPr wrap="none">
            <a:spAutoFit/>
          </a:bodyPr>
          <a:lstStyle/>
          <a:p>
            <a:pPr algn="r">
              <a:defRPr sz="1000">
                <a:solidFill>
                  <a:srgbClr val="5C6570"/>
                </a:solidFill>
              </a:defRPr>
            </a:pPr>
            <a:r>
              <a:t>21</a:t>
            </a:r>
          </a:p>
        </p:txBody>
      </p:sp>
      <p:sp>
        <p:nvSpPr>
          <p:cNvPr id="6" name="TextBox 5"/>
          <p:cNvSpPr txBox="1"/>
          <p:nvPr/>
        </p:nvSpPr>
        <p:spPr>
          <a:xfrm>
            <a:off x="594360" y="6473952"/>
            <a:ext cx="7315200" cy="201168"/>
          </a:xfrm>
          <a:prstGeom prst="rect">
            <a:avLst/>
          </a:prstGeom>
          <a:noFill/>
        </p:spPr>
        <p:txBody>
          <a:bodyPr wrap="square" lIns="73152" rIns="73152">
            <a:spAutoFit/>
          </a:bodyPr>
          <a:lstStyle/>
          <a:p>
            <a:pPr algn="l">
              <a:defRPr sz="900" b="0">
                <a:solidFill>
                  <a:srgbClr val="5C6570"/>
                </a:solidFill>
                <a:latin typeface="Aptos"/>
              </a:defRPr>
            </a:pPr>
            <a:r>
              <a:t>Year 6 • Cambridge Primary Checkpoint preparation</a:t>
            </a:r>
          </a:p>
        </p:txBody>
      </p:sp>
      <p:sp>
        <p:nvSpPr>
          <p:cNvPr id="7" name="TextBox 6"/>
          <p:cNvSpPr txBox="1"/>
          <p:nvPr/>
        </p:nvSpPr>
        <p:spPr>
          <a:xfrm>
            <a:off x="594360" y="822960"/>
            <a:ext cx="10972800" cy="685800"/>
          </a:xfrm>
          <a:prstGeom prst="rect">
            <a:avLst/>
          </a:prstGeom>
          <a:noFill/>
        </p:spPr>
        <p:txBody>
          <a:bodyPr wrap="square">
            <a:spAutoFit/>
          </a:bodyPr>
          <a:lstStyle/>
          <a:p>
            <a:pPr>
              <a:defRPr sz="2800" b="1">
                <a:solidFill>
                  <a:srgbClr val="17233B"/>
                </a:solidFill>
                <a:latin typeface="Aptos Display"/>
              </a:defRPr>
            </a:pPr>
            <a:r>
              <a:t>Checkpoint-style question</a:t>
            </a:r>
          </a:p>
        </p:txBody>
      </p:sp>
      <p:sp>
        <p:nvSpPr>
          <p:cNvPr id="8" name="Rounded Rectangle 7"/>
          <p:cNvSpPr/>
          <p:nvPr/>
        </p:nvSpPr>
        <p:spPr>
          <a:xfrm>
            <a:off x="914400" y="1737360"/>
            <a:ext cx="10332720" cy="2103120"/>
          </a:xfrm>
          <a:prstGeom prst="roundRect">
            <a:avLst/>
          </a:prstGeom>
          <a:solidFill>
            <a:srgbClr val="FFFFFF"/>
          </a:solidFill>
          <a:ln w="12700">
            <a:solidFill>
              <a:srgbClr val="E1F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325880" y="2148840"/>
            <a:ext cx="9052560" cy="461665"/>
          </a:xfrm>
          <a:prstGeom prst="rect">
            <a:avLst/>
          </a:prstGeom>
          <a:noFill/>
        </p:spPr>
        <p:txBody>
          <a:bodyPr wrap="square" lIns="73152" rIns="73152">
            <a:spAutoFit/>
          </a:bodyPr>
          <a:lstStyle/>
          <a:p>
            <a:pPr algn="ctr">
              <a:defRPr sz="2200" b="1">
                <a:solidFill>
                  <a:srgbClr val="17233B"/>
                </a:solidFill>
                <a:latin typeface="Aptos"/>
              </a:defRPr>
            </a:pPr>
            <a:r>
              <a:rPr sz="2400" dirty="0"/>
              <a:t>How can you tell that Text A is fiction?</a:t>
            </a:r>
          </a:p>
        </p:txBody>
      </p:sp>
      <p:sp>
        <p:nvSpPr>
          <p:cNvPr id="10" name="TextBox 9"/>
          <p:cNvSpPr txBox="1"/>
          <p:nvPr/>
        </p:nvSpPr>
        <p:spPr>
          <a:xfrm>
            <a:off x="1325880" y="2834640"/>
            <a:ext cx="9052560" cy="461665"/>
          </a:xfrm>
          <a:prstGeom prst="rect">
            <a:avLst/>
          </a:prstGeom>
          <a:noFill/>
        </p:spPr>
        <p:txBody>
          <a:bodyPr wrap="square" lIns="73152" rIns="73152">
            <a:spAutoFit/>
          </a:bodyPr>
          <a:lstStyle/>
          <a:p>
            <a:pPr algn="ctr">
              <a:defRPr sz="1700" b="1">
                <a:solidFill>
                  <a:srgbClr val="22918F"/>
                </a:solidFill>
                <a:latin typeface="Aptos"/>
              </a:defRPr>
            </a:pPr>
            <a:r>
              <a:rPr sz="2400" dirty="0"/>
              <a:t>Give TWO pieces of evidence from the text.</a:t>
            </a:r>
          </a:p>
        </p:txBody>
      </p:sp>
      <p:sp>
        <p:nvSpPr>
          <p:cNvPr id="11" name="TextBox 10"/>
          <p:cNvSpPr txBox="1"/>
          <p:nvPr/>
        </p:nvSpPr>
        <p:spPr>
          <a:xfrm>
            <a:off x="1540887" y="4483253"/>
            <a:ext cx="9555480" cy="461665"/>
          </a:xfrm>
          <a:prstGeom prst="rect">
            <a:avLst/>
          </a:prstGeom>
          <a:noFill/>
        </p:spPr>
        <p:txBody>
          <a:bodyPr wrap="square" lIns="73152" rIns="73152">
            <a:spAutoFit/>
          </a:bodyPr>
          <a:lstStyle/>
          <a:p>
            <a:pPr algn="ctr">
              <a:defRPr sz="1300" b="0">
                <a:solidFill>
                  <a:srgbClr val="5C6570"/>
                </a:solidFill>
                <a:latin typeface="Aptos"/>
              </a:defRPr>
            </a:pPr>
            <a:r>
              <a:rPr sz="2400" dirty="0"/>
              <a:t>Before revealing the model: students identify evidence independently.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47472"/>
            <a:ext cx="914400" cy="73152"/>
          </a:xfrm>
          <a:prstGeom prst="rect">
            <a:avLst/>
          </a:prstGeom>
          <a:solidFill>
            <a:srgbClr val="2291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457200"/>
            <a:ext cx="5029200" cy="320040"/>
          </a:xfrm>
          <a:prstGeom prst="rect">
            <a:avLst/>
          </a:prstGeom>
          <a:noFill/>
        </p:spPr>
        <p:txBody>
          <a:bodyPr wrap="none">
            <a:spAutoFit/>
          </a:bodyPr>
          <a:lstStyle/>
          <a:p>
            <a:pPr>
              <a:defRPr sz="1000" b="1">
                <a:solidFill>
                  <a:srgbClr val="22918F"/>
                </a:solidFill>
              </a:defRPr>
            </a:pPr>
            <a:r>
              <a:t>MODEL RESPONSE • ANSWER</a:t>
            </a:r>
          </a:p>
        </p:txBody>
      </p:sp>
      <p:sp>
        <p:nvSpPr>
          <p:cNvPr id="5" name="TextBox 4"/>
          <p:cNvSpPr txBox="1"/>
          <p:nvPr/>
        </p:nvSpPr>
        <p:spPr>
          <a:xfrm>
            <a:off x="11292840" y="384048"/>
            <a:ext cx="411480" cy="274320"/>
          </a:xfrm>
          <a:prstGeom prst="rect">
            <a:avLst/>
          </a:prstGeom>
          <a:noFill/>
        </p:spPr>
        <p:txBody>
          <a:bodyPr wrap="none">
            <a:spAutoFit/>
          </a:bodyPr>
          <a:lstStyle/>
          <a:p>
            <a:pPr algn="r">
              <a:defRPr sz="1000">
                <a:solidFill>
                  <a:srgbClr val="5C6570"/>
                </a:solidFill>
              </a:defRPr>
            </a:pPr>
            <a:r>
              <a:t>22</a:t>
            </a:r>
          </a:p>
        </p:txBody>
      </p:sp>
      <p:sp>
        <p:nvSpPr>
          <p:cNvPr id="6" name="TextBox 5"/>
          <p:cNvSpPr txBox="1"/>
          <p:nvPr/>
        </p:nvSpPr>
        <p:spPr>
          <a:xfrm>
            <a:off x="594360" y="6473952"/>
            <a:ext cx="7315200" cy="201168"/>
          </a:xfrm>
          <a:prstGeom prst="rect">
            <a:avLst/>
          </a:prstGeom>
          <a:noFill/>
        </p:spPr>
        <p:txBody>
          <a:bodyPr wrap="square" lIns="73152" rIns="73152">
            <a:spAutoFit/>
          </a:bodyPr>
          <a:lstStyle/>
          <a:p>
            <a:pPr algn="l">
              <a:defRPr sz="900" b="0">
                <a:solidFill>
                  <a:srgbClr val="5C6570"/>
                </a:solidFill>
                <a:latin typeface="Aptos"/>
              </a:defRPr>
            </a:pPr>
            <a:r>
              <a:t>Year 6 • Cambridge Primary Checkpoint preparation</a:t>
            </a:r>
          </a:p>
        </p:txBody>
      </p:sp>
      <p:sp>
        <p:nvSpPr>
          <p:cNvPr id="7" name="TextBox 6"/>
          <p:cNvSpPr txBox="1"/>
          <p:nvPr/>
        </p:nvSpPr>
        <p:spPr>
          <a:xfrm>
            <a:off x="594360" y="822960"/>
            <a:ext cx="10972800" cy="685800"/>
          </a:xfrm>
          <a:prstGeom prst="rect">
            <a:avLst/>
          </a:prstGeom>
          <a:noFill/>
        </p:spPr>
        <p:txBody>
          <a:bodyPr wrap="square">
            <a:spAutoFit/>
          </a:bodyPr>
          <a:lstStyle/>
          <a:p>
            <a:pPr>
              <a:defRPr sz="2800" b="1">
                <a:solidFill>
                  <a:srgbClr val="17233B"/>
                </a:solidFill>
                <a:latin typeface="Aptos Display"/>
              </a:defRPr>
            </a:pPr>
            <a:r>
              <a:t>A strong model response</a:t>
            </a:r>
          </a:p>
        </p:txBody>
      </p:sp>
      <p:sp>
        <p:nvSpPr>
          <p:cNvPr id="8" name="Rounded Rectangle 7"/>
          <p:cNvSpPr/>
          <p:nvPr/>
        </p:nvSpPr>
        <p:spPr>
          <a:xfrm>
            <a:off x="777239" y="1508760"/>
            <a:ext cx="11159387" cy="4480560"/>
          </a:xfrm>
          <a:prstGeom prst="roundRect">
            <a:avLst/>
          </a:prstGeom>
          <a:solidFill>
            <a:srgbClr val="FFFFFF"/>
          </a:solidFill>
          <a:ln w="12700">
            <a:solidFill>
              <a:srgbClr val="E6ED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62322" y="1777890"/>
            <a:ext cx="10067050" cy="2308324"/>
          </a:xfrm>
          <a:prstGeom prst="rect">
            <a:avLst/>
          </a:prstGeom>
          <a:noFill/>
        </p:spPr>
        <p:txBody>
          <a:bodyPr wrap="square" lIns="73152" rIns="73152">
            <a:spAutoFit/>
          </a:bodyPr>
          <a:lstStyle/>
          <a:p>
            <a:pPr algn="l">
              <a:defRPr sz="1700" b="0">
                <a:solidFill>
                  <a:srgbClr val="252B33"/>
                </a:solidFill>
                <a:latin typeface="Aptos"/>
              </a:defRPr>
            </a:pPr>
            <a:r>
              <a:rPr sz="2400" dirty="0"/>
              <a:t>Text A is fiction because it focuses on an imagined character and a sequence of events. Maya is presented as the main character, and the passage describes what happens when she discovers the fox. The writer also uses descriptive details, such as the fox’s tail being covered in leaves, to help the reader imagine the scene. The main purpose is to entertain the reader rather than provide general information about foxes.</a:t>
            </a:r>
          </a:p>
        </p:txBody>
      </p:sp>
      <p:sp>
        <p:nvSpPr>
          <p:cNvPr id="10" name="Rounded Rectangle 9"/>
          <p:cNvSpPr/>
          <p:nvPr/>
        </p:nvSpPr>
        <p:spPr>
          <a:xfrm>
            <a:off x="1143000" y="4617720"/>
            <a:ext cx="1234440" cy="384048"/>
          </a:xfrm>
          <a:prstGeom prst="roundRect">
            <a:avLst/>
          </a:prstGeom>
          <a:solidFill>
            <a:srgbClr val="E1F2F0"/>
          </a:solidFill>
          <a:ln w="12700">
            <a:solidFill>
              <a:srgbClr val="E1F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170432" y="4690872"/>
            <a:ext cx="1179576" cy="201168"/>
          </a:xfrm>
          <a:prstGeom prst="rect">
            <a:avLst/>
          </a:prstGeom>
          <a:noFill/>
        </p:spPr>
        <p:txBody>
          <a:bodyPr wrap="square" lIns="73152" rIns="73152">
            <a:spAutoFit/>
          </a:bodyPr>
          <a:lstStyle/>
          <a:p>
            <a:pPr algn="ctr">
              <a:defRPr sz="1000" b="1">
                <a:solidFill>
                  <a:srgbClr val="22918F"/>
                </a:solidFill>
                <a:latin typeface="Aptos"/>
              </a:defRPr>
            </a:pPr>
            <a:r>
              <a:t>CLASSIFY</a:t>
            </a:r>
          </a:p>
        </p:txBody>
      </p:sp>
      <p:sp>
        <p:nvSpPr>
          <p:cNvPr id="12" name="Rounded Rectangle 11"/>
          <p:cNvSpPr/>
          <p:nvPr/>
        </p:nvSpPr>
        <p:spPr>
          <a:xfrm>
            <a:off x="2560320" y="4617720"/>
            <a:ext cx="1234440" cy="384048"/>
          </a:xfrm>
          <a:prstGeom prst="roundRect">
            <a:avLst/>
          </a:prstGeom>
          <a:solidFill>
            <a:srgbClr val="FCF0D5"/>
          </a:solidFill>
          <a:ln w="12700">
            <a:solidFill>
              <a:srgbClr val="FCF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587751" y="4690872"/>
            <a:ext cx="1179576" cy="201168"/>
          </a:xfrm>
          <a:prstGeom prst="rect">
            <a:avLst/>
          </a:prstGeom>
          <a:noFill/>
        </p:spPr>
        <p:txBody>
          <a:bodyPr wrap="square" lIns="73152" rIns="73152">
            <a:spAutoFit/>
          </a:bodyPr>
          <a:lstStyle/>
          <a:p>
            <a:pPr algn="ctr">
              <a:defRPr sz="1000" b="1">
                <a:solidFill>
                  <a:srgbClr val="F0B248"/>
                </a:solidFill>
                <a:latin typeface="Aptos"/>
              </a:defRPr>
            </a:pPr>
            <a:r>
              <a:t>EVIDENCE</a:t>
            </a:r>
          </a:p>
        </p:txBody>
      </p:sp>
      <p:sp>
        <p:nvSpPr>
          <p:cNvPr id="14" name="Rounded Rectangle 13"/>
          <p:cNvSpPr/>
          <p:nvPr/>
        </p:nvSpPr>
        <p:spPr>
          <a:xfrm>
            <a:off x="3977639" y="4617720"/>
            <a:ext cx="1234440" cy="384048"/>
          </a:xfrm>
          <a:prstGeom prst="roundRect">
            <a:avLst/>
          </a:prstGeom>
          <a:solidFill>
            <a:srgbClr val="E6EDF7"/>
          </a:solidFill>
          <a:ln w="12700">
            <a:solidFill>
              <a:srgbClr val="E6ED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005072" y="4690872"/>
            <a:ext cx="1179576" cy="201168"/>
          </a:xfrm>
          <a:prstGeom prst="rect">
            <a:avLst/>
          </a:prstGeom>
          <a:noFill/>
        </p:spPr>
        <p:txBody>
          <a:bodyPr wrap="square" lIns="73152" rIns="73152">
            <a:spAutoFit/>
          </a:bodyPr>
          <a:lstStyle/>
          <a:p>
            <a:pPr algn="ctr">
              <a:defRPr sz="1000" b="1">
                <a:solidFill>
                  <a:srgbClr val="17233B"/>
                </a:solidFill>
                <a:latin typeface="Aptos"/>
              </a:defRPr>
            </a:pPr>
            <a:r>
              <a:t>PURPOSE</a:t>
            </a:r>
          </a:p>
        </p:txBody>
      </p:sp>
      <p:sp>
        <p:nvSpPr>
          <p:cNvPr id="16" name="TextBox 15"/>
          <p:cNvSpPr txBox="1"/>
          <p:nvPr/>
        </p:nvSpPr>
        <p:spPr>
          <a:xfrm>
            <a:off x="1143000" y="5230368"/>
            <a:ext cx="10707130" cy="400110"/>
          </a:xfrm>
          <a:prstGeom prst="rect">
            <a:avLst/>
          </a:prstGeom>
          <a:noFill/>
        </p:spPr>
        <p:txBody>
          <a:bodyPr wrap="square" lIns="73152" rIns="73152">
            <a:spAutoFit/>
          </a:bodyPr>
          <a:lstStyle/>
          <a:p>
            <a:pPr algn="l">
              <a:defRPr sz="1300" b="0">
                <a:solidFill>
                  <a:srgbClr val="5C6570"/>
                </a:solidFill>
                <a:latin typeface="Aptos"/>
              </a:defRPr>
            </a:pPr>
            <a:r>
              <a:rPr sz="2000" b="1" dirty="0"/>
              <a:t>Teacher move: </a:t>
            </a:r>
            <a:r>
              <a:rPr sz="2000" dirty="0"/>
              <a:t>highlight each part and show students how the answer proves the classification.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47472"/>
            <a:ext cx="914400" cy="73152"/>
          </a:xfrm>
          <a:prstGeom prst="rect">
            <a:avLst/>
          </a:prstGeom>
          <a:solidFill>
            <a:srgbClr val="2291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457200"/>
            <a:ext cx="5029200" cy="320040"/>
          </a:xfrm>
          <a:prstGeom prst="rect">
            <a:avLst/>
          </a:prstGeom>
          <a:noFill/>
        </p:spPr>
        <p:txBody>
          <a:bodyPr wrap="none">
            <a:spAutoFit/>
          </a:bodyPr>
          <a:lstStyle/>
          <a:p>
            <a:pPr>
              <a:defRPr sz="1000" b="1">
                <a:solidFill>
                  <a:srgbClr val="22918F"/>
                </a:solidFill>
              </a:defRPr>
            </a:pPr>
            <a:r>
              <a:t>INDEPENDENT TASK</a:t>
            </a:r>
          </a:p>
        </p:txBody>
      </p:sp>
      <p:sp>
        <p:nvSpPr>
          <p:cNvPr id="5" name="TextBox 4"/>
          <p:cNvSpPr txBox="1"/>
          <p:nvPr/>
        </p:nvSpPr>
        <p:spPr>
          <a:xfrm>
            <a:off x="11292840" y="384048"/>
            <a:ext cx="411480" cy="274320"/>
          </a:xfrm>
          <a:prstGeom prst="rect">
            <a:avLst/>
          </a:prstGeom>
          <a:noFill/>
        </p:spPr>
        <p:txBody>
          <a:bodyPr wrap="none">
            <a:spAutoFit/>
          </a:bodyPr>
          <a:lstStyle/>
          <a:p>
            <a:pPr algn="r">
              <a:defRPr sz="1000">
                <a:solidFill>
                  <a:srgbClr val="5C6570"/>
                </a:solidFill>
              </a:defRPr>
            </a:pPr>
            <a:r>
              <a:t>23</a:t>
            </a:r>
          </a:p>
        </p:txBody>
      </p:sp>
      <p:sp>
        <p:nvSpPr>
          <p:cNvPr id="6" name="TextBox 5"/>
          <p:cNvSpPr txBox="1"/>
          <p:nvPr/>
        </p:nvSpPr>
        <p:spPr>
          <a:xfrm>
            <a:off x="594360" y="6473952"/>
            <a:ext cx="7315200" cy="201168"/>
          </a:xfrm>
          <a:prstGeom prst="rect">
            <a:avLst/>
          </a:prstGeom>
          <a:noFill/>
        </p:spPr>
        <p:txBody>
          <a:bodyPr wrap="square" lIns="73152" rIns="73152">
            <a:spAutoFit/>
          </a:bodyPr>
          <a:lstStyle/>
          <a:p>
            <a:pPr algn="l">
              <a:defRPr sz="900" b="0">
                <a:solidFill>
                  <a:srgbClr val="5C6570"/>
                </a:solidFill>
                <a:latin typeface="Aptos"/>
              </a:defRPr>
            </a:pPr>
            <a:r>
              <a:t>Year 6 • Cambridge Primary Checkpoint preparation</a:t>
            </a:r>
          </a:p>
        </p:txBody>
      </p:sp>
      <p:sp>
        <p:nvSpPr>
          <p:cNvPr id="7" name="TextBox 6"/>
          <p:cNvSpPr txBox="1"/>
          <p:nvPr/>
        </p:nvSpPr>
        <p:spPr>
          <a:xfrm>
            <a:off x="594360" y="822960"/>
            <a:ext cx="10972800" cy="685800"/>
          </a:xfrm>
          <a:prstGeom prst="rect">
            <a:avLst/>
          </a:prstGeom>
          <a:noFill/>
        </p:spPr>
        <p:txBody>
          <a:bodyPr wrap="square">
            <a:spAutoFit/>
          </a:bodyPr>
          <a:lstStyle/>
          <a:p>
            <a:pPr>
              <a:defRPr sz="2800" b="1">
                <a:solidFill>
                  <a:srgbClr val="17233B"/>
                </a:solidFill>
                <a:latin typeface="Aptos Display"/>
              </a:defRPr>
            </a:pPr>
            <a:r>
              <a:t>You are the Checkpoint reader</a:t>
            </a:r>
          </a:p>
        </p:txBody>
      </p:sp>
      <p:sp>
        <p:nvSpPr>
          <p:cNvPr id="8" name="Rounded Rectangle 7"/>
          <p:cNvSpPr/>
          <p:nvPr/>
        </p:nvSpPr>
        <p:spPr>
          <a:xfrm>
            <a:off x="777240" y="1417320"/>
            <a:ext cx="10607040" cy="4800600"/>
          </a:xfrm>
          <a:prstGeom prst="roundRect">
            <a:avLst/>
          </a:prstGeom>
          <a:solidFill>
            <a:srgbClr val="FFFFFF"/>
          </a:solidFill>
          <a:ln w="12700">
            <a:solidFill>
              <a:srgbClr val="E6ED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07720" y="1783080"/>
            <a:ext cx="10073640" cy="1569660"/>
          </a:xfrm>
          <a:prstGeom prst="rect">
            <a:avLst/>
          </a:prstGeom>
          <a:noFill/>
        </p:spPr>
        <p:txBody>
          <a:bodyPr wrap="square" lIns="73152" rIns="73152">
            <a:spAutoFit/>
          </a:bodyPr>
          <a:lstStyle/>
          <a:p>
            <a:pPr algn="l">
              <a:defRPr sz="1500" b="0">
                <a:solidFill>
                  <a:srgbClr val="252B33"/>
                </a:solidFill>
                <a:latin typeface="Aptos"/>
              </a:defRPr>
            </a:pPr>
            <a:r>
              <a:rPr sz="2400" b="1" dirty="0"/>
              <a:t>PASSAGE</a:t>
            </a:r>
            <a:r>
              <a:rPr sz="2400" dirty="0"/>
              <a:t> </a:t>
            </a:r>
            <a:r>
              <a:rPr sz="2400" b="1" dirty="0"/>
              <a:t>1</a:t>
            </a:r>
            <a:br>
              <a:rPr sz="2400" dirty="0"/>
            </a:br>
            <a:r>
              <a:rPr sz="2400" dirty="0"/>
              <a:t>Omar opened the old box and found a tiny compass inside. He turned it over in his hands. A faded map was hidden underneath it. “Where does this lead?” he wondered.</a:t>
            </a:r>
          </a:p>
        </p:txBody>
      </p:sp>
      <p:sp>
        <p:nvSpPr>
          <p:cNvPr id="10" name="TextBox 9"/>
          <p:cNvSpPr txBox="1"/>
          <p:nvPr/>
        </p:nvSpPr>
        <p:spPr>
          <a:xfrm>
            <a:off x="777240" y="3497670"/>
            <a:ext cx="9784080" cy="1569660"/>
          </a:xfrm>
          <a:prstGeom prst="rect">
            <a:avLst/>
          </a:prstGeom>
          <a:noFill/>
        </p:spPr>
        <p:txBody>
          <a:bodyPr wrap="square" lIns="73152" rIns="73152">
            <a:spAutoFit/>
          </a:bodyPr>
          <a:lstStyle/>
          <a:p>
            <a:pPr algn="l">
              <a:defRPr sz="1500" b="0">
                <a:solidFill>
                  <a:srgbClr val="252B33"/>
                </a:solidFill>
                <a:latin typeface="Aptos"/>
              </a:defRPr>
            </a:pPr>
            <a:r>
              <a:rPr sz="2400" b="1" dirty="0"/>
              <a:t>PASSAGE 2</a:t>
            </a:r>
            <a:br>
              <a:rPr sz="2400" dirty="0"/>
            </a:br>
            <a:r>
              <a:rPr sz="2400" dirty="0"/>
              <a:t>A compass is an instrument used to help people find direction. A magnetic compass usually has a needle that points towards magnetic north. Compasses have been used for navigation for many centuries.</a:t>
            </a:r>
          </a:p>
        </p:txBody>
      </p:sp>
      <p:sp>
        <p:nvSpPr>
          <p:cNvPr id="11" name="TextBox 10"/>
          <p:cNvSpPr txBox="1"/>
          <p:nvPr/>
        </p:nvSpPr>
        <p:spPr>
          <a:xfrm>
            <a:off x="1600200" y="5542377"/>
            <a:ext cx="9692640" cy="400110"/>
          </a:xfrm>
          <a:prstGeom prst="rect">
            <a:avLst/>
          </a:prstGeom>
          <a:noFill/>
        </p:spPr>
        <p:txBody>
          <a:bodyPr wrap="square" lIns="73152" rIns="73152">
            <a:spAutoFit/>
          </a:bodyPr>
          <a:lstStyle/>
          <a:p>
            <a:pPr algn="l">
              <a:defRPr sz="1300" b="1">
                <a:solidFill>
                  <a:srgbClr val="17233B"/>
                </a:solidFill>
                <a:latin typeface="Aptos"/>
              </a:defRPr>
            </a:pPr>
            <a:r>
              <a:rPr sz="2000" dirty="0"/>
              <a:t>Questions → 1–2 classify. 3–4 give evidence. 5–6 identify purpose.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47472"/>
            <a:ext cx="914400" cy="73152"/>
          </a:xfrm>
          <a:prstGeom prst="rect">
            <a:avLst/>
          </a:prstGeom>
          <a:solidFill>
            <a:srgbClr val="2291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457200"/>
            <a:ext cx="5029200" cy="320040"/>
          </a:xfrm>
          <a:prstGeom prst="rect">
            <a:avLst/>
          </a:prstGeom>
          <a:noFill/>
        </p:spPr>
        <p:txBody>
          <a:bodyPr wrap="none">
            <a:spAutoFit/>
          </a:bodyPr>
          <a:lstStyle/>
          <a:p>
            <a:pPr>
              <a:defRPr sz="1000" b="1">
                <a:solidFill>
                  <a:srgbClr val="22918F"/>
                </a:solidFill>
              </a:defRPr>
            </a:pPr>
            <a:r>
              <a:t>INDEPENDENT TASK • QUESTIONS</a:t>
            </a:r>
          </a:p>
        </p:txBody>
      </p:sp>
      <p:sp>
        <p:nvSpPr>
          <p:cNvPr id="5" name="TextBox 4"/>
          <p:cNvSpPr txBox="1"/>
          <p:nvPr/>
        </p:nvSpPr>
        <p:spPr>
          <a:xfrm>
            <a:off x="11292840" y="384048"/>
            <a:ext cx="411480" cy="274320"/>
          </a:xfrm>
          <a:prstGeom prst="rect">
            <a:avLst/>
          </a:prstGeom>
          <a:noFill/>
        </p:spPr>
        <p:txBody>
          <a:bodyPr wrap="none">
            <a:spAutoFit/>
          </a:bodyPr>
          <a:lstStyle/>
          <a:p>
            <a:pPr algn="r">
              <a:defRPr sz="1000">
                <a:solidFill>
                  <a:srgbClr val="5C6570"/>
                </a:solidFill>
              </a:defRPr>
            </a:pPr>
            <a:r>
              <a:t>24</a:t>
            </a:r>
          </a:p>
        </p:txBody>
      </p:sp>
      <p:sp>
        <p:nvSpPr>
          <p:cNvPr id="6" name="TextBox 5"/>
          <p:cNvSpPr txBox="1"/>
          <p:nvPr/>
        </p:nvSpPr>
        <p:spPr>
          <a:xfrm>
            <a:off x="594360" y="6473952"/>
            <a:ext cx="7315200" cy="201168"/>
          </a:xfrm>
          <a:prstGeom prst="rect">
            <a:avLst/>
          </a:prstGeom>
          <a:noFill/>
        </p:spPr>
        <p:txBody>
          <a:bodyPr wrap="square" lIns="73152" rIns="73152">
            <a:spAutoFit/>
          </a:bodyPr>
          <a:lstStyle/>
          <a:p>
            <a:pPr algn="l">
              <a:defRPr sz="900" b="0">
                <a:solidFill>
                  <a:srgbClr val="5C6570"/>
                </a:solidFill>
                <a:latin typeface="Aptos"/>
              </a:defRPr>
            </a:pPr>
            <a:r>
              <a:t>Year 6 • Cambridge Primary Checkpoint preparation</a:t>
            </a:r>
          </a:p>
        </p:txBody>
      </p:sp>
      <p:sp>
        <p:nvSpPr>
          <p:cNvPr id="7" name="TextBox 6"/>
          <p:cNvSpPr txBox="1"/>
          <p:nvPr/>
        </p:nvSpPr>
        <p:spPr>
          <a:xfrm>
            <a:off x="594360" y="822960"/>
            <a:ext cx="10972800" cy="685800"/>
          </a:xfrm>
          <a:prstGeom prst="rect">
            <a:avLst/>
          </a:prstGeom>
          <a:noFill/>
        </p:spPr>
        <p:txBody>
          <a:bodyPr wrap="square">
            <a:spAutoFit/>
          </a:bodyPr>
          <a:lstStyle/>
          <a:p>
            <a:pPr>
              <a:defRPr sz="2800" b="1">
                <a:solidFill>
                  <a:srgbClr val="17233B"/>
                </a:solidFill>
                <a:latin typeface="Aptos Display"/>
              </a:defRPr>
            </a:pPr>
            <a:r>
              <a:t>Answer independently</a:t>
            </a:r>
          </a:p>
        </p:txBody>
      </p:sp>
      <p:sp>
        <p:nvSpPr>
          <p:cNvPr id="8" name="Rounded Rectangle 7"/>
          <p:cNvSpPr/>
          <p:nvPr/>
        </p:nvSpPr>
        <p:spPr>
          <a:xfrm>
            <a:off x="777240" y="1554480"/>
            <a:ext cx="5074920" cy="1051560"/>
          </a:xfrm>
          <a:prstGeom prst="roundRect">
            <a:avLst/>
          </a:prstGeom>
          <a:solidFill>
            <a:srgbClr val="FFFFFF"/>
          </a:solidFill>
          <a:ln w="12700">
            <a:solidFill>
              <a:srgbClr val="E6ED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07721" y="1810512"/>
            <a:ext cx="4904234" cy="461665"/>
          </a:xfrm>
          <a:prstGeom prst="rect">
            <a:avLst/>
          </a:prstGeom>
          <a:noFill/>
        </p:spPr>
        <p:txBody>
          <a:bodyPr wrap="square" lIns="73152" rIns="73152">
            <a:spAutoFit/>
          </a:bodyPr>
          <a:lstStyle/>
          <a:p>
            <a:pPr algn="l">
              <a:defRPr sz="1500" b="0">
                <a:solidFill>
                  <a:srgbClr val="252B33"/>
                </a:solidFill>
                <a:latin typeface="Aptos"/>
              </a:defRPr>
            </a:pPr>
            <a:r>
              <a:rPr sz="2400" dirty="0"/>
              <a:t>1. Which passage is fiction? A or B?</a:t>
            </a:r>
          </a:p>
        </p:txBody>
      </p:sp>
      <p:sp>
        <p:nvSpPr>
          <p:cNvPr id="10" name="Rounded Rectangle 9"/>
          <p:cNvSpPr/>
          <p:nvPr/>
        </p:nvSpPr>
        <p:spPr>
          <a:xfrm>
            <a:off x="6309359" y="1554480"/>
            <a:ext cx="5074920" cy="1051560"/>
          </a:xfrm>
          <a:prstGeom prst="roundRect">
            <a:avLst/>
          </a:prstGeom>
          <a:solidFill>
            <a:srgbClr val="FFFFFF"/>
          </a:solidFill>
          <a:ln w="12700">
            <a:solidFill>
              <a:srgbClr val="E6ED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10527" y="1755648"/>
            <a:ext cx="4873752" cy="830997"/>
          </a:xfrm>
          <a:prstGeom prst="rect">
            <a:avLst/>
          </a:prstGeom>
          <a:noFill/>
        </p:spPr>
        <p:txBody>
          <a:bodyPr wrap="square" lIns="73152" rIns="73152">
            <a:spAutoFit/>
          </a:bodyPr>
          <a:lstStyle/>
          <a:p>
            <a:pPr algn="l">
              <a:defRPr sz="1500" b="0">
                <a:solidFill>
                  <a:srgbClr val="252B33"/>
                </a:solidFill>
                <a:latin typeface="Aptos"/>
              </a:defRPr>
            </a:pPr>
            <a:r>
              <a:rPr sz="2400" dirty="0"/>
              <a:t>2. Which passage is non-fiction? </a:t>
            </a:r>
            <a:endParaRPr lang="ar-EG" sz="2400" dirty="0"/>
          </a:p>
          <a:p>
            <a:pPr algn="l">
              <a:defRPr sz="1500" b="0">
                <a:solidFill>
                  <a:srgbClr val="252B33"/>
                </a:solidFill>
                <a:latin typeface="Aptos"/>
              </a:defRPr>
            </a:pPr>
            <a:r>
              <a:rPr sz="2400" dirty="0"/>
              <a:t>A or B?</a:t>
            </a:r>
          </a:p>
        </p:txBody>
      </p:sp>
      <p:sp>
        <p:nvSpPr>
          <p:cNvPr id="12" name="Rounded Rectangle 11"/>
          <p:cNvSpPr/>
          <p:nvPr/>
        </p:nvSpPr>
        <p:spPr>
          <a:xfrm>
            <a:off x="777240" y="2971800"/>
            <a:ext cx="5074920" cy="1051560"/>
          </a:xfrm>
          <a:prstGeom prst="roundRect">
            <a:avLst/>
          </a:prstGeom>
          <a:solidFill>
            <a:srgbClr val="FFFFFF"/>
          </a:solidFill>
          <a:ln w="12700">
            <a:solidFill>
              <a:srgbClr val="E6ED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78408" y="3172968"/>
            <a:ext cx="4663440" cy="830997"/>
          </a:xfrm>
          <a:prstGeom prst="rect">
            <a:avLst/>
          </a:prstGeom>
          <a:noFill/>
        </p:spPr>
        <p:txBody>
          <a:bodyPr wrap="square" lIns="73152" rIns="73152">
            <a:spAutoFit/>
          </a:bodyPr>
          <a:lstStyle/>
          <a:p>
            <a:pPr algn="l">
              <a:defRPr sz="1500" b="0">
                <a:solidFill>
                  <a:srgbClr val="252B33"/>
                </a:solidFill>
                <a:latin typeface="Aptos"/>
              </a:defRPr>
            </a:pPr>
            <a:r>
              <a:rPr sz="2400" dirty="0"/>
              <a:t>3. Give ONE piece of evidence from Passage 1.</a:t>
            </a:r>
          </a:p>
        </p:txBody>
      </p:sp>
      <p:sp>
        <p:nvSpPr>
          <p:cNvPr id="14" name="Rounded Rectangle 13"/>
          <p:cNvSpPr/>
          <p:nvPr/>
        </p:nvSpPr>
        <p:spPr>
          <a:xfrm>
            <a:off x="6309359" y="2971800"/>
            <a:ext cx="5074920" cy="1051560"/>
          </a:xfrm>
          <a:prstGeom prst="roundRect">
            <a:avLst/>
          </a:prstGeom>
          <a:solidFill>
            <a:srgbClr val="FFFFFF"/>
          </a:solidFill>
          <a:ln w="12700">
            <a:solidFill>
              <a:srgbClr val="E6ED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10527" y="3172968"/>
            <a:ext cx="4663440" cy="707886"/>
          </a:xfrm>
          <a:prstGeom prst="rect">
            <a:avLst/>
          </a:prstGeom>
          <a:noFill/>
        </p:spPr>
        <p:txBody>
          <a:bodyPr wrap="square" lIns="73152" rIns="73152">
            <a:spAutoFit/>
          </a:bodyPr>
          <a:lstStyle/>
          <a:p>
            <a:pPr algn="l">
              <a:defRPr sz="1500" b="0">
                <a:solidFill>
                  <a:srgbClr val="252B33"/>
                </a:solidFill>
                <a:latin typeface="Aptos"/>
              </a:defRPr>
            </a:pPr>
            <a:r>
              <a:rPr sz="2000" dirty="0"/>
              <a:t>4. Give ONE piece of evidence from Passage 2.</a:t>
            </a:r>
          </a:p>
        </p:txBody>
      </p:sp>
      <p:sp>
        <p:nvSpPr>
          <p:cNvPr id="16" name="Rounded Rectangle 15"/>
          <p:cNvSpPr/>
          <p:nvPr/>
        </p:nvSpPr>
        <p:spPr>
          <a:xfrm>
            <a:off x="777240" y="4389120"/>
            <a:ext cx="5074920" cy="1051560"/>
          </a:xfrm>
          <a:prstGeom prst="roundRect">
            <a:avLst/>
          </a:prstGeom>
          <a:solidFill>
            <a:srgbClr val="FFFFFF"/>
          </a:solidFill>
          <a:ln w="12700">
            <a:solidFill>
              <a:srgbClr val="E6ED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78408" y="4590288"/>
            <a:ext cx="4663440" cy="830997"/>
          </a:xfrm>
          <a:prstGeom prst="rect">
            <a:avLst/>
          </a:prstGeom>
          <a:noFill/>
        </p:spPr>
        <p:txBody>
          <a:bodyPr wrap="square" lIns="73152" rIns="73152">
            <a:spAutoFit/>
          </a:bodyPr>
          <a:lstStyle/>
          <a:p>
            <a:pPr algn="l">
              <a:defRPr sz="1500" b="0">
                <a:solidFill>
                  <a:srgbClr val="252B33"/>
                </a:solidFill>
                <a:latin typeface="Aptos"/>
              </a:defRPr>
            </a:pPr>
            <a:r>
              <a:rPr sz="2400" dirty="0"/>
              <a:t>5. What is the main purpose of Passage 1?</a:t>
            </a:r>
          </a:p>
        </p:txBody>
      </p:sp>
      <p:sp>
        <p:nvSpPr>
          <p:cNvPr id="18" name="Rounded Rectangle 17"/>
          <p:cNvSpPr/>
          <p:nvPr/>
        </p:nvSpPr>
        <p:spPr>
          <a:xfrm>
            <a:off x="6309359" y="4389120"/>
            <a:ext cx="5074920" cy="1051560"/>
          </a:xfrm>
          <a:prstGeom prst="roundRect">
            <a:avLst/>
          </a:prstGeom>
          <a:solidFill>
            <a:srgbClr val="FFFFFF"/>
          </a:solidFill>
          <a:ln w="12700">
            <a:solidFill>
              <a:srgbClr val="E6ED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510527" y="4590288"/>
            <a:ext cx="4663440" cy="830997"/>
          </a:xfrm>
          <a:prstGeom prst="rect">
            <a:avLst/>
          </a:prstGeom>
          <a:noFill/>
        </p:spPr>
        <p:txBody>
          <a:bodyPr wrap="square" lIns="73152" rIns="73152">
            <a:spAutoFit/>
          </a:bodyPr>
          <a:lstStyle/>
          <a:p>
            <a:pPr algn="l">
              <a:defRPr sz="1500" b="0">
                <a:solidFill>
                  <a:srgbClr val="252B33"/>
                </a:solidFill>
                <a:latin typeface="Aptos"/>
              </a:defRPr>
            </a:pPr>
            <a:r>
              <a:rPr sz="2400" dirty="0"/>
              <a:t>6. What is the main purpose of Passage 2?</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47472"/>
            <a:ext cx="914400" cy="73152"/>
          </a:xfrm>
          <a:prstGeom prst="rect">
            <a:avLst/>
          </a:prstGeom>
          <a:solidFill>
            <a:srgbClr val="2291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508760" y="148520"/>
            <a:ext cx="4699556" cy="461665"/>
          </a:xfrm>
          <a:prstGeom prst="rect">
            <a:avLst/>
          </a:prstGeom>
          <a:noFill/>
        </p:spPr>
        <p:txBody>
          <a:bodyPr wrap="none">
            <a:spAutoFit/>
          </a:bodyPr>
          <a:lstStyle/>
          <a:p>
            <a:pPr>
              <a:defRPr sz="1000" b="1">
                <a:solidFill>
                  <a:srgbClr val="22918F"/>
                </a:solidFill>
              </a:defRPr>
            </a:pPr>
            <a:r>
              <a:rPr sz="2400" dirty="0"/>
              <a:t>INDEPENDENT TASK • ANSWER KEY</a:t>
            </a:r>
          </a:p>
        </p:txBody>
      </p:sp>
      <p:sp>
        <p:nvSpPr>
          <p:cNvPr id="5" name="TextBox 4"/>
          <p:cNvSpPr txBox="1"/>
          <p:nvPr/>
        </p:nvSpPr>
        <p:spPr>
          <a:xfrm>
            <a:off x="11292840" y="384048"/>
            <a:ext cx="411480" cy="274320"/>
          </a:xfrm>
          <a:prstGeom prst="rect">
            <a:avLst/>
          </a:prstGeom>
          <a:noFill/>
        </p:spPr>
        <p:txBody>
          <a:bodyPr wrap="none">
            <a:spAutoFit/>
          </a:bodyPr>
          <a:lstStyle/>
          <a:p>
            <a:pPr algn="r">
              <a:defRPr sz="1000">
                <a:solidFill>
                  <a:srgbClr val="5C6570"/>
                </a:solidFill>
              </a:defRPr>
            </a:pPr>
            <a:r>
              <a:t>25</a:t>
            </a:r>
          </a:p>
        </p:txBody>
      </p:sp>
      <p:sp>
        <p:nvSpPr>
          <p:cNvPr id="6" name="TextBox 5"/>
          <p:cNvSpPr txBox="1"/>
          <p:nvPr/>
        </p:nvSpPr>
        <p:spPr>
          <a:xfrm>
            <a:off x="594360" y="6473952"/>
            <a:ext cx="7315200" cy="201168"/>
          </a:xfrm>
          <a:prstGeom prst="rect">
            <a:avLst/>
          </a:prstGeom>
          <a:noFill/>
        </p:spPr>
        <p:txBody>
          <a:bodyPr wrap="square" lIns="73152" rIns="73152">
            <a:spAutoFit/>
          </a:bodyPr>
          <a:lstStyle/>
          <a:p>
            <a:pPr algn="l">
              <a:defRPr sz="900" b="0">
                <a:solidFill>
                  <a:srgbClr val="5C6570"/>
                </a:solidFill>
                <a:latin typeface="Aptos"/>
              </a:defRPr>
            </a:pPr>
            <a:r>
              <a:t>Year 6 • Cambridge Primary Checkpoint preparation</a:t>
            </a:r>
          </a:p>
        </p:txBody>
      </p:sp>
      <p:sp>
        <p:nvSpPr>
          <p:cNvPr id="7" name="TextBox 6"/>
          <p:cNvSpPr txBox="1"/>
          <p:nvPr/>
        </p:nvSpPr>
        <p:spPr>
          <a:xfrm>
            <a:off x="525780" y="662586"/>
            <a:ext cx="10972800" cy="685800"/>
          </a:xfrm>
          <a:prstGeom prst="rect">
            <a:avLst/>
          </a:prstGeom>
          <a:noFill/>
        </p:spPr>
        <p:txBody>
          <a:bodyPr wrap="square">
            <a:spAutoFit/>
          </a:bodyPr>
          <a:lstStyle/>
          <a:p>
            <a:pPr>
              <a:defRPr sz="2800" b="1">
                <a:solidFill>
                  <a:srgbClr val="17233B"/>
                </a:solidFill>
                <a:latin typeface="Aptos Display"/>
              </a:defRPr>
            </a:pPr>
            <a:r>
              <a:rPr dirty="0"/>
              <a:t>Self-check: answers</a:t>
            </a:r>
          </a:p>
        </p:txBody>
      </p:sp>
      <p:sp>
        <p:nvSpPr>
          <p:cNvPr id="8" name="Rounded Rectangle 7"/>
          <p:cNvSpPr/>
          <p:nvPr/>
        </p:nvSpPr>
        <p:spPr>
          <a:xfrm>
            <a:off x="914400" y="1463040"/>
            <a:ext cx="411480" cy="384048"/>
          </a:xfrm>
          <a:prstGeom prst="roundRect">
            <a:avLst/>
          </a:prstGeom>
          <a:solidFill>
            <a:srgbClr val="FCF0D5"/>
          </a:solidFill>
          <a:ln w="12700">
            <a:solidFill>
              <a:srgbClr val="FCF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41832" y="1536192"/>
            <a:ext cx="356616" cy="201168"/>
          </a:xfrm>
          <a:prstGeom prst="rect">
            <a:avLst/>
          </a:prstGeom>
          <a:noFill/>
        </p:spPr>
        <p:txBody>
          <a:bodyPr wrap="square" lIns="73152" rIns="73152">
            <a:spAutoFit/>
          </a:bodyPr>
          <a:lstStyle/>
          <a:p>
            <a:pPr algn="ctr">
              <a:defRPr sz="1000" b="1">
                <a:solidFill>
                  <a:srgbClr val="F0B248"/>
                </a:solidFill>
                <a:latin typeface="Aptos"/>
              </a:defRPr>
            </a:pPr>
            <a:r>
              <a:t>1</a:t>
            </a:r>
          </a:p>
        </p:txBody>
      </p:sp>
      <p:sp>
        <p:nvSpPr>
          <p:cNvPr id="10" name="TextBox 9"/>
          <p:cNvSpPr txBox="1"/>
          <p:nvPr/>
        </p:nvSpPr>
        <p:spPr>
          <a:xfrm>
            <a:off x="1508760" y="1490472"/>
            <a:ext cx="2651760" cy="400110"/>
          </a:xfrm>
          <a:prstGeom prst="rect">
            <a:avLst/>
          </a:prstGeom>
          <a:noFill/>
        </p:spPr>
        <p:txBody>
          <a:bodyPr wrap="square" lIns="73152" rIns="73152">
            <a:spAutoFit/>
          </a:bodyPr>
          <a:lstStyle/>
          <a:p>
            <a:pPr algn="l">
              <a:defRPr sz="1300" b="1">
                <a:solidFill>
                  <a:srgbClr val="22918F"/>
                </a:solidFill>
                <a:latin typeface="Aptos"/>
              </a:defRPr>
            </a:pPr>
            <a:r>
              <a:rPr sz="2000" dirty="0"/>
              <a:t>Passage 1 — fiction.</a:t>
            </a:r>
          </a:p>
        </p:txBody>
      </p:sp>
      <p:sp>
        <p:nvSpPr>
          <p:cNvPr id="11" name="TextBox 10"/>
          <p:cNvSpPr txBox="1"/>
          <p:nvPr/>
        </p:nvSpPr>
        <p:spPr>
          <a:xfrm>
            <a:off x="4069080" y="1472184"/>
            <a:ext cx="6858000" cy="461665"/>
          </a:xfrm>
          <a:prstGeom prst="rect">
            <a:avLst/>
          </a:prstGeom>
          <a:noFill/>
        </p:spPr>
        <p:txBody>
          <a:bodyPr wrap="square" lIns="73152" rIns="73152">
            <a:spAutoFit/>
          </a:bodyPr>
          <a:lstStyle/>
          <a:p>
            <a:pPr algn="l">
              <a:defRPr sz="1300" b="0">
                <a:solidFill>
                  <a:srgbClr val="252B33"/>
                </a:solidFill>
                <a:latin typeface="Aptos"/>
              </a:defRPr>
            </a:pPr>
            <a:r>
              <a:rPr sz="2400" dirty="0"/>
              <a:t>It </a:t>
            </a:r>
            <a:r>
              <a:rPr sz="2400" dirty="0" err="1"/>
              <a:t>centres</a:t>
            </a:r>
            <a:r>
              <a:rPr sz="2400" dirty="0"/>
              <a:t> on Omar and an imagined discovery.</a:t>
            </a:r>
          </a:p>
        </p:txBody>
      </p:sp>
      <p:sp>
        <p:nvSpPr>
          <p:cNvPr id="12" name="Rounded Rectangle 11"/>
          <p:cNvSpPr/>
          <p:nvPr/>
        </p:nvSpPr>
        <p:spPr>
          <a:xfrm>
            <a:off x="914400" y="2221992"/>
            <a:ext cx="411480" cy="384048"/>
          </a:xfrm>
          <a:prstGeom prst="roundRect">
            <a:avLst/>
          </a:prstGeom>
          <a:solidFill>
            <a:srgbClr val="FCF0D5"/>
          </a:solidFill>
          <a:ln w="12700">
            <a:solidFill>
              <a:srgbClr val="FCF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41832" y="2295144"/>
            <a:ext cx="356616" cy="201168"/>
          </a:xfrm>
          <a:prstGeom prst="rect">
            <a:avLst/>
          </a:prstGeom>
          <a:noFill/>
        </p:spPr>
        <p:txBody>
          <a:bodyPr wrap="square" lIns="73152" rIns="73152">
            <a:spAutoFit/>
          </a:bodyPr>
          <a:lstStyle/>
          <a:p>
            <a:pPr algn="ctr">
              <a:defRPr sz="1000" b="1">
                <a:solidFill>
                  <a:srgbClr val="F0B248"/>
                </a:solidFill>
                <a:latin typeface="Aptos"/>
              </a:defRPr>
            </a:pPr>
            <a:r>
              <a:t>2</a:t>
            </a:r>
          </a:p>
        </p:txBody>
      </p:sp>
      <p:sp>
        <p:nvSpPr>
          <p:cNvPr id="14" name="TextBox 13"/>
          <p:cNvSpPr txBox="1"/>
          <p:nvPr/>
        </p:nvSpPr>
        <p:spPr>
          <a:xfrm>
            <a:off x="1099751" y="2249424"/>
            <a:ext cx="3060769" cy="400110"/>
          </a:xfrm>
          <a:prstGeom prst="rect">
            <a:avLst/>
          </a:prstGeom>
          <a:noFill/>
        </p:spPr>
        <p:txBody>
          <a:bodyPr wrap="square" lIns="73152" rIns="73152">
            <a:spAutoFit/>
          </a:bodyPr>
          <a:lstStyle/>
          <a:p>
            <a:pPr algn="l">
              <a:defRPr sz="1300" b="1">
                <a:solidFill>
                  <a:srgbClr val="22918F"/>
                </a:solidFill>
                <a:latin typeface="Aptos"/>
              </a:defRPr>
            </a:pPr>
            <a:r>
              <a:rPr sz="2000" dirty="0"/>
              <a:t>Passage 2 — non-fiction.</a:t>
            </a:r>
          </a:p>
        </p:txBody>
      </p:sp>
      <p:sp>
        <p:nvSpPr>
          <p:cNvPr id="15" name="TextBox 14"/>
          <p:cNvSpPr txBox="1"/>
          <p:nvPr/>
        </p:nvSpPr>
        <p:spPr>
          <a:xfrm>
            <a:off x="4069080" y="2231136"/>
            <a:ext cx="7635240" cy="461665"/>
          </a:xfrm>
          <a:prstGeom prst="rect">
            <a:avLst/>
          </a:prstGeom>
          <a:noFill/>
        </p:spPr>
        <p:txBody>
          <a:bodyPr wrap="square" lIns="73152" rIns="73152">
            <a:spAutoFit/>
          </a:bodyPr>
          <a:lstStyle/>
          <a:p>
            <a:pPr algn="l">
              <a:defRPr sz="1300" b="0">
                <a:solidFill>
                  <a:srgbClr val="252B33"/>
                </a:solidFill>
                <a:latin typeface="Aptos"/>
              </a:defRPr>
            </a:pPr>
            <a:r>
              <a:rPr sz="2400" dirty="0"/>
              <a:t>It gives general factual information about compasses.</a:t>
            </a:r>
          </a:p>
        </p:txBody>
      </p:sp>
      <p:sp>
        <p:nvSpPr>
          <p:cNvPr id="16" name="Rounded Rectangle 15"/>
          <p:cNvSpPr/>
          <p:nvPr/>
        </p:nvSpPr>
        <p:spPr>
          <a:xfrm>
            <a:off x="914400" y="2980944"/>
            <a:ext cx="411480" cy="384048"/>
          </a:xfrm>
          <a:prstGeom prst="roundRect">
            <a:avLst/>
          </a:prstGeom>
          <a:solidFill>
            <a:srgbClr val="FCF0D5"/>
          </a:solidFill>
          <a:ln w="12700">
            <a:solidFill>
              <a:srgbClr val="FCF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41832" y="3054096"/>
            <a:ext cx="356616" cy="201168"/>
          </a:xfrm>
          <a:prstGeom prst="rect">
            <a:avLst/>
          </a:prstGeom>
          <a:noFill/>
        </p:spPr>
        <p:txBody>
          <a:bodyPr wrap="square" lIns="73152" rIns="73152">
            <a:spAutoFit/>
          </a:bodyPr>
          <a:lstStyle/>
          <a:p>
            <a:pPr algn="ctr">
              <a:defRPr sz="1000" b="1">
                <a:solidFill>
                  <a:srgbClr val="F0B248"/>
                </a:solidFill>
                <a:latin typeface="Aptos"/>
              </a:defRPr>
            </a:pPr>
            <a:r>
              <a:t>3</a:t>
            </a:r>
          </a:p>
        </p:txBody>
      </p:sp>
      <p:sp>
        <p:nvSpPr>
          <p:cNvPr id="18" name="TextBox 17"/>
          <p:cNvSpPr txBox="1"/>
          <p:nvPr/>
        </p:nvSpPr>
        <p:spPr>
          <a:xfrm>
            <a:off x="1508760" y="3008375"/>
            <a:ext cx="2651760" cy="400110"/>
          </a:xfrm>
          <a:prstGeom prst="rect">
            <a:avLst/>
          </a:prstGeom>
          <a:noFill/>
        </p:spPr>
        <p:txBody>
          <a:bodyPr wrap="square" lIns="73152" rIns="73152">
            <a:spAutoFit/>
          </a:bodyPr>
          <a:lstStyle/>
          <a:p>
            <a:pPr algn="l">
              <a:defRPr sz="1300" b="1">
                <a:solidFill>
                  <a:srgbClr val="22918F"/>
                </a:solidFill>
                <a:latin typeface="Aptos"/>
              </a:defRPr>
            </a:pPr>
            <a:r>
              <a:rPr sz="2000" dirty="0"/>
              <a:t>Example evidence:</a:t>
            </a:r>
          </a:p>
        </p:txBody>
      </p:sp>
      <p:sp>
        <p:nvSpPr>
          <p:cNvPr id="19" name="TextBox 18"/>
          <p:cNvSpPr txBox="1"/>
          <p:nvPr/>
        </p:nvSpPr>
        <p:spPr>
          <a:xfrm>
            <a:off x="4082491" y="2880607"/>
            <a:ext cx="8122920" cy="830997"/>
          </a:xfrm>
          <a:prstGeom prst="rect">
            <a:avLst/>
          </a:prstGeom>
          <a:noFill/>
        </p:spPr>
        <p:txBody>
          <a:bodyPr wrap="square" lIns="73152" rIns="73152">
            <a:spAutoFit/>
          </a:bodyPr>
          <a:lstStyle/>
          <a:p>
            <a:pPr algn="l">
              <a:defRPr sz="1300" b="0">
                <a:solidFill>
                  <a:srgbClr val="252B33"/>
                </a:solidFill>
                <a:latin typeface="Aptos"/>
              </a:defRPr>
            </a:pPr>
            <a:r>
              <a:rPr sz="2400" dirty="0"/>
              <a:t>Omar is a character and the passage presents a sequence of events.</a:t>
            </a:r>
          </a:p>
        </p:txBody>
      </p:sp>
      <p:sp>
        <p:nvSpPr>
          <p:cNvPr id="20" name="Rounded Rectangle 19"/>
          <p:cNvSpPr/>
          <p:nvPr/>
        </p:nvSpPr>
        <p:spPr>
          <a:xfrm>
            <a:off x="914400" y="3739896"/>
            <a:ext cx="411480" cy="384048"/>
          </a:xfrm>
          <a:prstGeom prst="roundRect">
            <a:avLst/>
          </a:prstGeom>
          <a:solidFill>
            <a:srgbClr val="FCF0D5"/>
          </a:solidFill>
          <a:ln w="12700">
            <a:solidFill>
              <a:srgbClr val="FCF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41832" y="3813048"/>
            <a:ext cx="356616" cy="201168"/>
          </a:xfrm>
          <a:prstGeom prst="rect">
            <a:avLst/>
          </a:prstGeom>
          <a:noFill/>
        </p:spPr>
        <p:txBody>
          <a:bodyPr wrap="square" lIns="73152" rIns="73152">
            <a:spAutoFit/>
          </a:bodyPr>
          <a:lstStyle/>
          <a:p>
            <a:pPr algn="ctr">
              <a:defRPr sz="1000" b="1">
                <a:solidFill>
                  <a:srgbClr val="F0B248"/>
                </a:solidFill>
                <a:latin typeface="Aptos"/>
              </a:defRPr>
            </a:pPr>
            <a:r>
              <a:t>4</a:t>
            </a:r>
          </a:p>
        </p:txBody>
      </p:sp>
      <p:sp>
        <p:nvSpPr>
          <p:cNvPr id="22" name="TextBox 21"/>
          <p:cNvSpPr txBox="1"/>
          <p:nvPr/>
        </p:nvSpPr>
        <p:spPr>
          <a:xfrm>
            <a:off x="1508760" y="3767328"/>
            <a:ext cx="2651760" cy="400110"/>
          </a:xfrm>
          <a:prstGeom prst="rect">
            <a:avLst/>
          </a:prstGeom>
          <a:noFill/>
        </p:spPr>
        <p:txBody>
          <a:bodyPr wrap="square" lIns="73152" rIns="73152">
            <a:spAutoFit/>
          </a:bodyPr>
          <a:lstStyle/>
          <a:p>
            <a:pPr algn="l">
              <a:defRPr sz="1300" b="1">
                <a:solidFill>
                  <a:srgbClr val="22918F"/>
                </a:solidFill>
                <a:latin typeface="Aptos"/>
              </a:defRPr>
            </a:pPr>
            <a:r>
              <a:rPr sz="2000" dirty="0"/>
              <a:t>Example evidence:</a:t>
            </a:r>
          </a:p>
        </p:txBody>
      </p:sp>
      <p:sp>
        <p:nvSpPr>
          <p:cNvPr id="23" name="TextBox 22"/>
          <p:cNvSpPr txBox="1"/>
          <p:nvPr/>
        </p:nvSpPr>
        <p:spPr>
          <a:xfrm>
            <a:off x="4069080" y="3749039"/>
            <a:ext cx="6858000" cy="461665"/>
          </a:xfrm>
          <a:prstGeom prst="rect">
            <a:avLst/>
          </a:prstGeom>
          <a:noFill/>
        </p:spPr>
        <p:txBody>
          <a:bodyPr wrap="square" lIns="73152" rIns="73152">
            <a:spAutoFit/>
          </a:bodyPr>
          <a:lstStyle/>
          <a:p>
            <a:pPr algn="l">
              <a:defRPr sz="1300" b="0">
                <a:solidFill>
                  <a:srgbClr val="252B33"/>
                </a:solidFill>
                <a:latin typeface="Aptos"/>
              </a:defRPr>
            </a:pPr>
            <a:r>
              <a:rPr sz="2400" dirty="0"/>
              <a:t>It explains what a compass is and how it is used.</a:t>
            </a:r>
          </a:p>
        </p:txBody>
      </p:sp>
      <p:sp>
        <p:nvSpPr>
          <p:cNvPr id="24" name="Rounded Rectangle 23"/>
          <p:cNvSpPr/>
          <p:nvPr/>
        </p:nvSpPr>
        <p:spPr>
          <a:xfrm>
            <a:off x="914400" y="4498848"/>
            <a:ext cx="411480" cy="384048"/>
          </a:xfrm>
          <a:prstGeom prst="roundRect">
            <a:avLst/>
          </a:prstGeom>
          <a:solidFill>
            <a:srgbClr val="FCF0D5"/>
          </a:solidFill>
          <a:ln w="12700">
            <a:solidFill>
              <a:srgbClr val="FCF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41832" y="4572000"/>
            <a:ext cx="356616" cy="201168"/>
          </a:xfrm>
          <a:prstGeom prst="rect">
            <a:avLst/>
          </a:prstGeom>
          <a:noFill/>
        </p:spPr>
        <p:txBody>
          <a:bodyPr wrap="square" lIns="73152" rIns="73152">
            <a:spAutoFit/>
          </a:bodyPr>
          <a:lstStyle/>
          <a:p>
            <a:pPr algn="ctr">
              <a:defRPr sz="1000" b="1">
                <a:solidFill>
                  <a:srgbClr val="F0B248"/>
                </a:solidFill>
                <a:latin typeface="Aptos"/>
              </a:defRPr>
            </a:pPr>
            <a:r>
              <a:t>5</a:t>
            </a:r>
          </a:p>
        </p:txBody>
      </p:sp>
      <p:sp>
        <p:nvSpPr>
          <p:cNvPr id="26" name="TextBox 25"/>
          <p:cNvSpPr txBox="1"/>
          <p:nvPr/>
        </p:nvSpPr>
        <p:spPr>
          <a:xfrm>
            <a:off x="1508760" y="4526280"/>
            <a:ext cx="2651760" cy="461665"/>
          </a:xfrm>
          <a:prstGeom prst="rect">
            <a:avLst/>
          </a:prstGeom>
          <a:noFill/>
        </p:spPr>
        <p:txBody>
          <a:bodyPr wrap="square" lIns="73152" rIns="73152">
            <a:spAutoFit/>
          </a:bodyPr>
          <a:lstStyle/>
          <a:p>
            <a:pPr algn="l">
              <a:defRPr sz="1300" b="1">
                <a:solidFill>
                  <a:srgbClr val="22918F"/>
                </a:solidFill>
                <a:latin typeface="Aptos"/>
              </a:defRPr>
            </a:pPr>
            <a:r>
              <a:rPr sz="2400" dirty="0"/>
              <a:t>A — to entertain.</a:t>
            </a:r>
          </a:p>
        </p:txBody>
      </p:sp>
      <p:sp>
        <p:nvSpPr>
          <p:cNvPr id="27" name="TextBox 26"/>
          <p:cNvSpPr txBox="1"/>
          <p:nvPr/>
        </p:nvSpPr>
        <p:spPr>
          <a:xfrm>
            <a:off x="4069080" y="4507992"/>
            <a:ext cx="6858000" cy="461665"/>
          </a:xfrm>
          <a:prstGeom prst="rect">
            <a:avLst/>
          </a:prstGeom>
          <a:noFill/>
        </p:spPr>
        <p:txBody>
          <a:bodyPr wrap="square" lIns="73152" rIns="73152">
            <a:spAutoFit/>
          </a:bodyPr>
          <a:lstStyle/>
          <a:p>
            <a:pPr algn="l">
              <a:defRPr sz="1300" b="0">
                <a:solidFill>
                  <a:srgbClr val="252B33"/>
                </a:solidFill>
                <a:latin typeface="Aptos"/>
              </a:defRPr>
            </a:pPr>
            <a:r>
              <a:rPr sz="2400" dirty="0"/>
              <a:t>It creates an imagined situation.</a:t>
            </a:r>
          </a:p>
        </p:txBody>
      </p:sp>
      <p:sp>
        <p:nvSpPr>
          <p:cNvPr id="28" name="Rounded Rectangle 27"/>
          <p:cNvSpPr/>
          <p:nvPr/>
        </p:nvSpPr>
        <p:spPr>
          <a:xfrm>
            <a:off x="914400" y="5257800"/>
            <a:ext cx="411480" cy="384048"/>
          </a:xfrm>
          <a:prstGeom prst="roundRect">
            <a:avLst/>
          </a:prstGeom>
          <a:solidFill>
            <a:srgbClr val="FCF0D5"/>
          </a:solidFill>
          <a:ln w="12700">
            <a:solidFill>
              <a:srgbClr val="FCF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41832" y="5330952"/>
            <a:ext cx="356616" cy="201168"/>
          </a:xfrm>
          <a:prstGeom prst="rect">
            <a:avLst/>
          </a:prstGeom>
          <a:noFill/>
        </p:spPr>
        <p:txBody>
          <a:bodyPr wrap="square" lIns="73152" rIns="73152">
            <a:spAutoFit/>
          </a:bodyPr>
          <a:lstStyle/>
          <a:p>
            <a:pPr algn="ctr">
              <a:defRPr sz="1000" b="1">
                <a:solidFill>
                  <a:srgbClr val="F0B248"/>
                </a:solidFill>
                <a:latin typeface="Aptos"/>
              </a:defRPr>
            </a:pPr>
            <a:r>
              <a:t>6</a:t>
            </a:r>
          </a:p>
        </p:txBody>
      </p:sp>
      <p:sp>
        <p:nvSpPr>
          <p:cNvPr id="30" name="TextBox 29"/>
          <p:cNvSpPr txBox="1"/>
          <p:nvPr/>
        </p:nvSpPr>
        <p:spPr>
          <a:xfrm>
            <a:off x="1508760" y="5285232"/>
            <a:ext cx="2651760" cy="461665"/>
          </a:xfrm>
          <a:prstGeom prst="rect">
            <a:avLst/>
          </a:prstGeom>
          <a:noFill/>
        </p:spPr>
        <p:txBody>
          <a:bodyPr wrap="square" lIns="73152" rIns="73152">
            <a:spAutoFit/>
          </a:bodyPr>
          <a:lstStyle/>
          <a:p>
            <a:pPr algn="l">
              <a:defRPr sz="1300" b="1">
                <a:solidFill>
                  <a:srgbClr val="22918F"/>
                </a:solidFill>
                <a:latin typeface="Aptos"/>
              </a:defRPr>
            </a:pPr>
            <a:r>
              <a:rPr sz="2400" dirty="0"/>
              <a:t>B — to inform.</a:t>
            </a:r>
          </a:p>
        </p:txBody>
      </p:sp>
      <p:sp>
        <p:nvSpPr>
          <p:cNvPr id="31" name="TextBox 30"/>
          <p:cNvSpPr txBox="1"/>
          <p:nvPr/>
        </p:nvSpPr>
        <p:spPr>
          <a:xfrm>
            <a:off x="4069080" y="5266944"/>
            <a:ext cx="6858000" cy="461665"/>
          </a:xfrm>
          <a:prstGeom prst="rect">
            <a:avLst/>
          </a:prstGeom>
          <a:noFill/>
        </p:spPr>
        <p:txBody>
          <a:bodyPr wrap="square" lIns="73152" rIns="73152">
            <a:spAutoFit/>
          </a:bodyPr>
          <a:lstStyle/>
          <a:p>
            <a:pPr algn="l">
              <a:defRPr sz="1300" b="0">
                <a:solidFill>
                  <a:srgbClr val="252B33"/>
                </a:solidFill>
                <a:latin typeface="Aptos"/>
              </a:defRPr>
            </a:pPr>
            <a:r>
              <a:rPr sz="2400" dirty="0"/>
              <a:t>It provides factual information.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47472"/>
            <a:ext cx="914400" cy="73152"/>
          </a:xfrm>
          <a:prstGeom prst="rect">
            <a:avLst/>
          </a:prstGeom>
          <a:solidFill>
            <a:srgbClr val="2291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53940" y="-70705"/>
            <a:ext cx="1686680" cy="461665"/>
          </a:xfrm>
          <a:prstGeom prst="rect">
            <a:avLst/>
          </a:prstGeom>
          <a:noFill/>
        </p:spPr>
        <p:txBody>
          <a:bodyPr wrap="none">
            <a:spAutoFit/>
          </a:bodyPr>
          <a:lstStyle/>
          <a:p>
            <a:pPr>
              <a:defRPr sz="1000" b="1">
                <a:solidFill>
                  <a:srgbClr val="22918F"/>
                </a:solidFill>
              </a:defRPr>
            </a:pPr>
            <a:r>
              <a:rPr sz="2400" dirty="0"/>
              <a:t>CHALLENGE</a:t>
            </a:r>
          </a:p>
        </p:txBody>
      </p:sp>
      <p:sp>
        <p:nvSpPr>
          <p:cNvPr id="5" name="TextBox 4"/>
          <p:cNvSpPr txBox="1"/>
          <p:nvPr/>
        </p:nvSpPr>
        <p:spPr>
          <a:xfrm>
            <a:off x="11292840" y="384048"/>
            <a:ext cx="411480" cy="274320"/>
          </a:xfrm>
          <a:prstGeom prst="rect">
            <a:avLst/>
          </a:prstGeom>
          <a:noFill/>
        </p:spPr>
        <p:txBody>
          <a:bodyPr wrap="none">
            <a:spAutoFit/>
          </a:bodyPr>
          <a:lstStyle/>
          <a:p>
            <a:pPr algn="r">
              <a:defRPr sz="1000">
                <a:solidFill>
                  <a:srgbClr val="5C6570"/>
                </a:solidFill>
              </a:defRPr>
            </a:pPr>
            <a:r>
              <a:t>26</a:t>
            </a:r>
          </a:p>
        </p:txBody>
      </p:sp>
      <p:sp>
        <p:nvSpPr>
          <p:cNvPr id="6" name="TextBox 5"/>
          <p:cNvSpPr txBox="1"/>
          <p:nvPr/>
        </p:nvSpPr>
        <p:spPr>
          <a:xfrm>
            <a:off x="594360" y="6473952"/>
            <a:ext cx="7315200" cy="201168"/>
          </a:xfrm>
          <a:prstGeom prst="rect">
            <a:avLst/>
          </a:prstGeom>
          <a:noFill/>
        </p:spPr>
        <p:txBody>
          <a:bodyPr wrap="square" lIns="73152" rIns="73152">
            <a:spAutoFit/>
          </a:bodyPr>
          <a:lstStyle/>
          <a:p>
            <a:pPr algn="l">
              <a:defRPr sz="900" b="0">
                <a:solidFill>
                  <a:srgbClr val="5C6570"/>
                </a:solidFill>
                <a:latin typeface="Aptos"/>
              </a:defRPr>
            </a:pPr>
            <a:r>
              <a:t>Year 6 • Cambridge Primary Checkpoint preparation</a:t>
            </a:r>
          </a:p>
        </p:txBody>
      </p:sp>
      <p:sp>
        <p:nvSpPr>
          <p:cNvPr id="7" name="TextBox 6"/>
          <p:cNvSpPr txBox="1"/>
          <p:nvPr/>
        </p:nvSpPr>
        <p:spPr>
          <a:xfrm>
            <a:off x="594360" y="822960"/>
            <a:ext cx="10972800" cy="685800"/>
          </a:xfrm>
          <a:prstGeom prst="rect">
            <a:avLst/>
          </a:prstGeom>
          <a:noFill/>
        </p:spPr>
        <p:txBody>
          <a:bodyPr wrap="square">
            <a:spAutoFit/>
          </a:bodyPr>
          <a:lstStyle/>
          <a:p>
            <a:pPr>
              <a:defRPr sz="2800" b="1">
                <a:solidFill>
                  <a:srgbClr val="17233B"/>
                </a:solidFill>
                <a:latin typeface="Aptos Display"/>
              </a:defRPr>
            </a:pPr>
            <a:r>
              <a:t>Stretch question: think like a Checkpoint examiner</a:t>
            </a:r>
          </a:p>
        </p:txBody>
      </p:sp>
      <p:sp>
        <p:nvSpPr>
          <p:cNvPr id="8" name="Rounded Rectangle 7"/>
          <p:cNvSpPr/>
          <p:nvPr/>
        </p:nvSpPr>
        <p:spPr>
          <a:xfrm>
            <a:off x="914400" y="1645920"/>
            <a:ext cx="10332720" cy="2926080"/>
          </a:xfrm>
          <a:prstGeom prst="roundRect">
            <a:avLst/>
          </a:prstGeom>
          <a:solidFill>
            <a:srgbClr val="FFFFFF"/>
          </a:solidFill>
          <a:ln w="12700">
            <a:solidFill>
              <a:srgbClr val="FCF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325880" y="2057400"/>
            <a:ext cx="9326880" cy="411480"/>
          </a:xfrm>
          <a:prstGeom prst="rect">
            <a:avLst/>
          </a:prstGeom>
          <a:noFill/>
        </p:spPr>
        <p:txBody>
          <a:bodyPr wrap="square" lIns="73152" rIns="73152">
            <a:spAutoFit/>
          </a:bodyPr>
          <a:lstStyle/>
          <a:p>
            <a:pPr algn="ctr">
              <a:defRPr sz="2100" b="1">
                <a:solidFill>
                  <a:srgbClr val="17233B"/>
                </a:solidFill>
                <a:latin typeface="Aptos"/>
              </a:defRPr>
            </a:pPr>
            <a:r>
              <a:t>Both passages are about a compass.</a:t>
            </a:r>
          </a:p>
        </p:txBody>
      </p:sp>
      <p:sp>
        <p:nvSpPr>
          <p:cNvPr id="10" name="TextBox 9"/>
          <p:cNvSpPr txBox="1"/>
          <p:nvPr/>
        </p:nvSpPr>
        <p:spPr>
          <a:xfrm>
            <a:off x="1325880" y="2743200"/>
            <a:ext cx="9326880" cy="777240"/>
          </a:xfrm>
          <a:prstGeom prst="rect">
            <a:avLst/>
          </a:prstGeom>
          <a:noFill/>
        </p:spPr>
        <p:txBody>
          <a:bodyPr wrap="square" lIns="73152" rIns="73152">
            <a:spAutoFit/>
          </a:bodyPr>
          <a:lstStyle/>
          <a:p>
            <a:pPr algn="ctr">
              <a:defRPr sz="2000" b="1">
                <a:solidFill>
                  <a:srgbClr val="22918F"/>
                </a:solidFill>
                <a:latin typeface="Aptos"/>
              </a:defRPr>
            </a:pPr>
            <a:r>
              <a:t>Explain why the subject alone cannot tell you whether a text is fiction or non-fiction.</a:t>
            </a:r>
          </a:p>
        </p:txBody>
      </p:sp>
      <p:sp>
        <p:nvSpPr>
          <p:cNvPr id="11" name="TextBox 10"/>
          <p:cNvSpPr txBox="1"/>
          <p:nvPr/>
        </p:nvSpPr>
        <p:spPr>
          <a:xfrm>
            <a:off x="1325880" y="3794760"/>
            <a:ext cx="9326880" cy="461665"/>
          </a:xfrm>
          <a:prstGeom prst="rect">
            <a:avLst/>
          </a:prstGeom>
          <a:noFill/>
        </p:spPr>
        <p:txBody>
          <a:bodyPr wrap="square" lIns="73152" rIns="73152">
            <a:spAutoFit/>
          </a:bodyPr>
          <a:lstStyle/>
          <a:p>
            <a:pPr algn="ctr">
              <a:defRPr sz="1600" b="1">
                <a:solidFill>
                  <a:srgbClr val="F0B248"/>
                </a:solidFill>
                <a:latin typeface="Aptos"/>
              </a:defRPr>
            </a:pPr>
            <a:r>
              <a:rPr sz="2400" dirty="0"/>
              <a:t>Use evidence from BOTH passages.</a:t>
            </a:r>
          </a:p>
        </p:txBody>
      </p:sp>
      <p:sp>
        <p:nvSpPr>
          <p:cNvPr id="12" name="TextBox 11"/>
          <p:cNvSpPr txBox="1"/>
          <p:nvPr/>
        </p:nvSpPr>
        <p:spPr>
          <a:xfrm>
            <a:off x="1143000" y="5074920"/>
            <a:ext cx="9875520" cy="461665"/>
          </a:xfrm>
          <a:prstGeom prst="rect">
            <a:avLst/>
          </a:prstGeom>
          <a:noFill/>
        </p:spPr>
        <p:txBody>
          <a:bodyPr wrap="square" lIns="73152" rIns="73152">
            <a:spAutoFit/>
          </a:bodyPr>
          <a:lstStyle/>
          <a:p>
            <a:pPr algn="ctr">
              <a:defRPr sz="1300" b="1">
                <a:solidFill>
                  <a:srgbClr val="5C6570"/>
                </a:solidFill>
                <a:latin typeface="Aptos"/>
              </a:defRPr>
            </a:pPr>
            <a:r>
              <a:rPr sz="2400" dirty="0"/>
              <a:t>Challenge: write 3–4 precise sentences.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47472"/>
            <a:ext cx="914400" cy="73152"/>
          </a:xfrm>
          <a:prstGeom prst="rect">
            <a:avLst/>
          </a:prstGeom>
          <a:solidFill>
            <a:srgbClr val="2291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457200"/>
            <a:ext cx="5029200" cy="320040"/>
          </a:xfrm>
          <a:prstGeom prst="rect">
            <a:avLst/>
          </a:prstGeom>
          <a:noFill/>
        </p:spPr>
        <p:txBody>
          <a:bodyPr wrap="none">
            <a:spAutoFit/>
          </a:bodyPr>
          <a:lstStyle/>
          <a:p>
            <a:pPr>
              <a:defRPr sz="1000" b="1">
                <a:solidFill>
                  <a:srgbClr val="22918F"/>
                </a:solidFill>
              </a:defRPr>
            </a:pPr>
            <a:r>
              <a:t>CHALLENGE • ANSWER</a:t>
            </a:r>
          </a:p>
        </p:txBody>
      </p:sp>
      <p:sp>
        <p:nvSpPr>
          <p:cNvPr id="5" name="TextBox 4"/>
          <p:cNvSpPr txBox="1"/>
          <p:nvPr/>
        </p:nvSpPr>
        <p:spPr>
          <a:xfrm>
            <a:off x="11292840" y="384048"/>
            <a:ext cx="411480" cy="274320"/>
          </a:xfrm>
          <a:prstGeom prst="rect">
            <a:avLst/>
          </a:prstGeom>
          <a:noFill/>
        </p:spPr>
        <p:txBody>
          <a:bodyPr wrap="none">
            <a:spAutoFit/>
          </a:bodyPr>
          <a:lstStyle/>
          <a:p>
            <a:pPr algn="r">
              <a:defRPr sz="1000">
                <a:solidFill>
                  <a:srgbClr val="5C6570"/>
                </a:solidFill>
              </a:defRPr>
            </a:pPr>
            <a:r>
              <a:t>27</a:t>
            </a:r>
          </a:p>
        </p:txBody>
      </p:sp>
      <p:sp>
        <p:nvSpPr>
          <p:cNvPr id="6" name="TextBox 5"/>
          <p:cNvSpPr txBox="1"/>
          <p:nvPr/>
        </p:nvSpPr>
        <p:spPr>
          <a:xfrm>
            <a:off x="594360" y="6473952"/>
            <a:ext cx="7315200" cy="201168"/>
          </a:xfrm>
          <a:prstGeom prst="rect">
            <a:avLst/>
          </a:prstGeom>
          <a:noFill/>
        </p:spPr>
        <p:txBody>
          <a:bodyPr wrap="square" lIns="73152" rIns="73152">
            <a:spAutoFit/>
          </a:bodyPr>
          <a:lstStyle/>
          <a:p>
            <a:pPr algn="l">
              <a:defRPr sz="900" b="0">
                <a:solidFill>
                  <a:srgbClr val="5C6570"/>
                </a:solidFill>
                <a:latin typeface="Aptos"/>
              </a:defRPr>
            </a:pPr>
            <a:r>
              <a:t>Year 6 • Cambridge Primary Checkpoint preparation</a:t>
            </a:r>
          </a:p>
        </p:txBody>
      </p:sp>
      <p:sp>
        <p:nvSpPr>
          <p:cNvPr id="7" name="TextBox 6"/>
          <p:cNvSpPr txBox="1"/>
          <p:nvPr/>
        </p:nvSpPr>
        <p:spPr>
          <a:xfrm>
            <a:off x="594360" y="822960"/>
            <a:ext cx="10972800" cy="685800"/>
          </a:xfrm>
          <a:prstGeom prst="rect">
            <a:avLst/>
          </a:prstGeom>
          <a:noFill/>
        </p:spPr>
        <p:txBody>
          <a:bodyPr wrap="square">
            <a:spAutoFit/>
          </a:bodyPr>
          <a:lstStyle/>
          <a:p>
            <a:pPr>
              <a:defRPr sz="2800" b="1">
                <a:solidFill>
                  <a:srgbClr val="17233B"/>
                </a:solidFill>
                <a:latin typeface="Aptos Display"/>
              </a:defRPr>
            </a:pPr>
            <a:r>
              <a:t>What a strong answer should include</a:t>
            </a:r>
          </a:p>
        </p:txBody>
      </p:sp>
      <p:sp>
        <p:nvSpPr>
          <p:cNvPr id="8" name="Rounded Rectangle 7"/>
          <p:cNvSpPr/>
          <p:nvPr/>
        </p:nvSpPr>
        <p:spPr>
          <a:xfrm>
            <a:off x="868680" y="1600200"/>
            <a:ext cx="10424160" cy="4206240"/>
          </a:xfrm>
          <a:prstGeom prst="roundRect">
            <a:avLst/>
          </a:prstGeom>
          <a:solidFill>
            <a:srgbClr val="FFFFFF"/>
          </a:solidFill>
          <a:ln w="12700">
            <a:solidFill>
              <a:srgbClr val="E1F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99160" y="1696421"/>
            <a:ext cx="10393680" cy="2677656"/>
          </a:xfrm>
          <a:prstGeom prst="rect">
            <a:avLst/>
          </a:prstGeom>
          <a:noFill/>
        </p:spPr>
        <p:txBody>
          <a:bodyPr wrap="square" lIns="73152" rIns="73152">
            <a:spAutoFit/>
          </a:bodyPr>
          <a:lstStyle/>
          <a:p>
            <a:pPr algn="l">
              <a:defRPr sz="1700" b="0">
                <a:solidFill>
                  <a:srgbClr val="252B33"/>
                </a:solidFill>
                <a:latin typeface="Aptos"/>
              </a:defRPr>
            </a:pPr>
            <a:r>
              <a:rPr sz="2800" dirty="0"/>
              <a:t>The subject alone does not decide whether a text is fiction or non-fiction because the same topic can be presented for different purposes. Passage 1 uses a character, an imagined event and a question to create a story. Passage 2 gives general information about what a compass is and how it works. Therefore, we need to examine the writer’s purpose, structure and evidence.</a:t>
            </a:r>
          </a:p>
        </p:txBody>
      </p:sp>
      <p:sp>
        <p:nvSpPr>
          <p:cNvPr id="10" name="Rounded Rectangle 9"/>
          <p:cNvSpPr/>
          <p:nvPr/>
        </p:nvSpPr>
        <p:spPr>
          <a:xfrm>
            <a:off x="1234440" y="4754880"/>
            <a:ext cx="1234440" cy="384048"/>
          </a:xfrm>
          <a:prstGeom prst="roundRect">
            <a:avLst/>
          </a:prstGeom>
          <a:solidFill>
            <a:srgbClr val="FCF0D5"/>
          </a:solidFill>
          <a:ln w="12700">
            <a:solidFill>
              <a:srgbClr val="FCF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61872" y="4828032"/>
            <a:ext cx="1179576" cy="201168"/>
          </a:xfrm>
          <a:prstGeom prst="rect">
            <a:avLst/>
          </a:prstGeom>
          <a:noFill/>
        </p:spPr>
        <p:txBody>
          <a:bodyPr wrap="square" lIns="73152" rIns="73152">
            <a:spAutoFit/>
          </a:bodyPr>
          <a:lstStyle/>
          <a:p>
            <a:pPr algn="ctr">
              <a:defRPr sz="1000" b="1">
                <a:solidFill>
                  <a:srgbClr val="F0B248"/>
                </a:solidFill>
                <a:latin typeface="Aptos"/>
              </a:defRPr>
            </a:pPr>
            <a:r>
              <a:t>TOP TIP</a:t>
            </a:r>
          </a:p>
        </p:txBody>
      </p:sp>
      <p:sp>
        <p:nvSpPr>
          <p:cNvPr id="12" name="TextBox 11"/>
          <p:cNvSpPr txBox="1"/>
          <p:nvPr/>
        </p:nvSpPr>
        <p:spPr>
          <a:xfrm>
            <a:off x="2651760" y="4754880"/>
            <a:ext cx="6858000" cy="461665"/>
          </a:xfrm>
          <a:prstGeom prst="rect">
            <a:avLst/>
          </a:prstGeom>
          <a:noFill/>
        </p:spPr>
        <p:txBody>
          <a:bodyPr wrap="square" lIns="73152" rIns="73152">
            <a:spAutoFit/>
          </a:bodyPr>
          <a:lstStyle/>
          <a:p>
            <a:pPr algn="l">
              <a:defRPr sz="1500" b="1">
                <a:solidFill>
                  <a:srgbClr val="17233B"/>
                </a:solidFill>
                <a:latin typeface="Aptos"/>
              </a:defRPr>
            </a:pPr>
            <a:r>
              <a:rPr sz="2400" dirty="0"/>
              <a:t>Compare the texts — don’t just label them.</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47472"/>
            <a:ext cx="914400" cy="73152"/>
          </a:xfrm>
          <a:prstGeom prst="rect">
            <a:avLst/>
          </a:prstGeom>
          <a:solidFill>
            <a:srgbClr val="2291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457200"/>
            <a:ext cx="5029200" cy="320040"/>
          </a:xfrm>
          <a:prstGeom prst="rect">
            <a:avLst/>
          </a:prstGeom>
          <a:noFill/>
        </p:spPr>
        <p:txBody>
          <a:bodyPr wrap="none">
            <a:spAutoFit/>
          </a:bodyPr>
          <a:lstStyle/>
          <a:p>
            <a:pPr>
              <a:defRPr sz="1000" b="1">
                <a:solidFill>
                  <a:srgbClr val="22918F"/>
                </a:solidFill>
              </a:defRPr>
            </a:pPr>
            <a:r>
              <a:t>PLENARY</a:t>
            </a:r>
          </a:p>
        </p:txBody>
      </p:sp>
      <p:sp>
        <p:nvSpPr>
          <p:cNvPr id="5" name="TextBox 4"/>
          <p:cNvSpPr txBox="1"/>
          <p:nvPr/>
        </p:nvSpPr>
        <p:spPr>
          <a:xfrm>
            <a:off x="11292840" y="384048"/>
            <a:ext cx="411480" cy="274320"/>
          </a:xfrm>
          <a:prstGeom prst="rect">
            <a:avLst/>
          </a:prstGeom>
          <a:noFill/>
        </p:spPr>
        <p:txBody>
          <a:bodyPr wrap="none">
            <a:spAutoFit/>
          </a:bodyPr>
          <a:lstStyle/>
          <a:p>
            <a:pPr algn="r">
              <a:defRPr sz="1000">
                <a:solidFill>
                  <a:srgbClr val="5C6570"/>
                </a:solidFill>
              </a:defRPr>
            </a:pPr>
            <a:r>
              <a:t>28</a:t>
            </a:r>
          </a:p>
        </p:txBody>
      </p:sp>
      <p:sp>
        <p:nvSpPr>
          <p:cNvPr id="6" name="TextBox 5"/>
          <p:cNvSpPr txBox="1"/>
          <p:nvPr/>
        </p:nvSpPr>
        <p:spPr>
          <a:xfrm>
            <a:off x="594360" y="6473952"/>
            <a:ext cx="7315200" cy="201168"/>
          </a:xfrm>
          <a:prstGeom prst="rect">
            <a:avLst/>
          </a:prstGeom>
          <a:noFill/>
        </p:spPr>
        <p:txBody>
          <a:bodyPr wrap="square" lIns="73152" rIns="73152">
            <a:spAutoFit/>
          </a:bodyPr>
          <a:lstStyle/>
          <a:p>
            <a:pPr algn="l">
              <a:defRPr sz="900" b="0">
                <a:solidFill>
                  <a:srgbClr val="5C6570"/>
                </a:solidFill>
                <a:latin typeface="Aptos"/>
              </a:defRPr>
            </a:pPr>
            <a:r>
              <a:t>Year 6 • Cambridge Primary Checkpoint preparation</a:t>
            </a:r>
          </a:p>
        </p:txBody>
      </p:sp>
      <p:sp>
        <p:nvSpPr>
          <p:cNvPr id="7" name="TextBox 6"/>
          <p:cNvSpPr txBox="1"/>
          <p:nvPr/>
        </p:nvSpPr>
        <p:spPr>
          <a:xfrm>
            <a:off x="594360" y="822960"/>
            <a:ext cx="10972800" cy="685800"/>
          </a:xfrm>
          <a:prstGeom prst="rect">
            <a:avLst/>
          </a:prstGeom>
          <a:noFill/>
        </p:spPr>
        <p:txBody>
          <a:bodyPr wrap="square">
            <a:spAutoFit/>
          </a:bodyPr>
          <a:lstStyle/>
          <a:p>
            <a:pPr>
              <a:defRPr sz="2800" b="1">
                <a:solidFill>
                  <a:srgbClr val="17233B"/>
                </a:solidFill>
                <a:latin typeface="Aptos Display"/>
              </a:defRPr>
            </a:pPr>
            <a:r>
              <a:t>20-Second Proof</a:t>
            </a:r>
          </a:p>
        </p:txBody>
      </p:sp>
      <p:sp>
        <p:nvSpPr>
          <p:cNvPr id="8" name="Rounded Rectangle 7"/>
          <p:cNvSpPr/>
          <p:nvPr/>
        </p:nvSpPr>
        <p:spPr>
          <a:xfrm>
            <a:off x="914400" y="2148840"/>
            <a:ext cx="10332720" cy="1014490"/>
          </a:xfrm>
          <a:prstGeom prst="roundRect">
            <a:avLst/>
          </a:prstGeom>
          <a:solidFill>
            <a:srgbClr val="FFFFFF"/>
          </a:solidFill>
          <a:ln w="12700">
            <a:solidFill>
              <a:srgbClr val="E6ED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325880" y="2148840"/>
            <a:ext cx="9326880" cy="830997"/>
          </a:xfrm>
          <a:prstGeom prst="rect">
            <a:avLst/>
          </a:prstGeom>
          <a:noFill/>
        </p:spPr>
        <p:txBody>
          <a:bodyPr wrap="square" lIns="73152" rIns="73152">
            <a:spAutoFit/>
          </a:bodyPr>
          <a:lstStyle/>
          <a:p>
            <a:pPr algn="ctr">
              <a:defRPr sz="2000" b="1">
                <a:solidFill>
                  <a:srgbClr val="17233B"/>
                </a:solidFill>
                <a:latin typeface="Aptos"/>
              </a:defRPr>
            </a:pPr>
            <a:r>
              <a:rPr sz="2400" dirty="0"/>
              <a:t>“The enormous blue whale travelled thousands of </a:t>
            </a:r>
            <a:r>
              <a:rPr sz="2400" dirty="0" err="1"/>
              <a:t>kilometres</a:t>
            </a:r>
            <a:r>
              <a:rPr sz="2400" dirty="0"/>
              <a:t> across the ocean before returning to its feeding grounds.”</a:t>
            </a:r>
          </a:p>
        </p:txBody>
      </p:sp>
      <p:sp>
        <p:nvSpPr>
          <p:cNvPr id="10" name="TextBox 9"/>
          <p:cNvSpPr txBox="1"/>
          <p:nvPr/>
        </p:nvSpPr>
        <p:spPr>
          <a:xfrm>
            <a:off x="1417320" y="3488415"/>
            <a:ext cx="9326880" cy="523220"/>
          </a:xfrm>
          <a:prstGeom prst="rect">
            <a:avLst/>
          </a:prstGeom>
          <a:noFill/>
        </p:spPr>
        <p:txBody>
          <a:bodyPr wrap="square" lIns="73152" rIns="73152">
            <a:spAutoFit/>
          </a:bodyPr>
          <a:lstStyle/>
          <a:p>
            <a:pPr algn="ctr">
              <a:defRPr sz="2000" b="1">
                <a:solidFill>
                  <a:srgbClr val="22918F"/>
                </a:solidFill>
                <a:latin typeface="Aptos"/>
              </a:defRPr>
            </a:pPr>
            <a:r>
              <a:rPr sz="2800" dirty="0"/>
              <a:t>Can you decide immediately?</a:t>
            </a:r>
          </a:p>
        </p:txBody>
      </p:sp>
      <p:sp>
        <p:nvSpPr>
          <p:cNvPr id="11" name="TextBox 10"/>
          <p:cNvSpPr txBox="1"/>
          <p:nvPr/>
        </p:nvSpPr>
        <p:spPr>
          <a:xfrm>
            <a:off x="1325880" y="4526280"/>
            <a:ext cx="9326880" cy="461665"/>
          </a:xfrm>
          <a:prstGeom prst="rect">
            <a:avLst/>
          </a:prstGeom>
          <a:noFill/>
        </p:spPr>
        <p:txBody>
          <a:bodyPr wrap="square" lIns="73152" rIns="73152">
            <a:spAutoFit/>
          </a:bodyPr>
          <a:lstStyle/>
          <a:p>
            <a:pPr algn="ctr">
              <a:defRPr sz="1600" b="1">
                <a:solidFill>
                  <a:srgbClr val="5C6570"/>
                </a:solidFill>
                <a:latin typeface="Aptos"/>
              </a:defRPr>
            </a:pPr>
            <a:r>
              <a:rPr sz="2400" dirty="0"/>
              <a:t>Think: What evidence would you need?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47472"/>
            <a:ext cx="914400" cy="73152"/>
          </a:xfrm>
          <a:prstGeom prst="rect">
            <a:avLst/>
          </a:prstGeom>
          <a:solidFill>
            <a:srgbClr val="2291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457200"/>
            <a:ext cx="5029200" cy="320040"/>
          </a:xfrm>
          <a:prstGeom prst="rect">
            <a:avLst/>
          </a:prstGeom>
          <a:noFill/>
        </p:spPr>
        <p:txBody>
          <a:bodyPr wrap="none">
            <a:spAutoFit/>
          </a:bodyPr>
          <a:lstStyle/>
          <a:p>
            <a:pPr>
              <a:defRPr sz="1000" b="1">
                <a:solidFill>
                  <a:srgbClr val="22918F"/>
                </a:solidFill>
              </a:defRPr>
            </a:pPr>
            <a:r>
              <a:t>PLENARY • ANSWER</a:t>
            </a:r>
          </a:p>
        </p:txBody>
      </p:sp>
      <p:sp>
        <p:nvSpPr>
          <p:cNvPr id="5" name="TextBox 4"/>
          <p:cNvSpPr txBox="1"/>
          <p:nvPr/>
        </p:nvSpPr>
        <p:spPr>
          <a:xfrm>
            <a:off x="11292840" y="384048"/>
            <a:ext cx="411480" cy="274320"/>
          </a:xfrm>
          <a:prstGeom prst="rect">
            <a:avLst/>
          </a:prstGeom>
          <a:noFill/>
        </p:spPr>
        <p:txBody>
          <a:bodyPr wrap="none">
            <a:spAutoFit/>
          </a:bodyPr>
          <a:lstStyle/>
          <a:p>
            <a:pPr algn="r">
              <a:defRPr sz="1000">
                <a:solidFill>
                  <a:srgbClr val="5C6570"/>
                </a:solidFill>
              </a:defRPr>
            </a:pPr>
            <a:r>
              <a:t>29</a:t>
            </a:r>
          </a:p>
        </p:txBody>
      </p:sp>
      <p:sp>
        <p:nvSpPr>
          <p:cNvPr id="6" name="TextBox 5"/>
          <p:cNvSpPr txBox="1"/>
          <p:nvPr/>
        </p:nvSpPr>
        <p:spPr>
          <a:xfrm>
            <a:off x="594360" y="6473952"/>
            <a:ext cx="7315200" cy="201168"/>
          </a:xfrm>
          <a:prstGeom prst="rect">
            <a:avLst/>
          </a:prstGeom>
          <a:noFill/>
        </p:spPr>
        <p:txBody>
          <a:bodyPr wrap="square" lIns="73152" rIns="73152">
            <a:spAutoFit/>
          </a:bodyPr>
          <a:lstStyle/>
          <a:p>
            <a:pPr algn="l">
              <a:defRPr sz="900" b="0">
                <a:solidFill>
                  <a:srgbClr val="5C6570"/>
                </a:solidFill>
                <a:latin typeface="Aptos"/>
              </a:defRPr>
            </a:pPr>
            <a:r>
              <a:t>Year 6 • Cambridge Primary Checkpoint preparation</a:t>
            </a:r>
          </a:p>
        </p:txBody>
      </p:sp>
      <p:sp>
        <p:nvSpPr>
          <p:cNvPr id="7" name="TextBox 6"/>
          <p:cNvSpPr txBox="1"/>
          <p:nvPr/>
        </p:nvSpPr>
        <p:spPr>
          <a:xfrm>
            <a:off x="594360" y="822960"/>
            <a:ext cx="10972800" cy="685800"/>
          </a:xfrm>
          <a:prstGeom prst="rect">
            <a:avLst/>
          </a:prstGeom>
          <a:noFill/>
        </p:spPr>
        <p:txBody>
          <a:bodyPr wrap="square">
            <a:spAutoFit/>
          </a:bodyPr>
          <a:lstStyle/>
          <a:p>
            <a:pPr>
              <a:defRPr sz="2800" b="1">
                <a:solidFill>
                  <a:srgbClr val="17233B"/>
                </a:solidFill>
                <a:latin typeface="Aptos Display"/>
              </a:defRPr>
            </a:pPr>
            <a:r>
              <a:t>Not yet — we need context</a:t>
            </a:r>
          </a:p>
        </p:txBody>
      </p:sp>
      <p:sp>
        <p:nvSpPr>
          <p:cNvPr id="8" name="Rounded Rectangle 7"/>
          <p:cNvSpPr/>
          <p:nvPr/>
        </p:nvSpPr>
        <p:spPr>
          <a:xfrm>
            <a:off x="98855" y="1645920"/>
            <a:ext cx="11899556" cy="3246120"/>
          </a:xfrm>
          <a:prstGeom prst="roundRect">
            <a:avLst/>
          </a:prstGeom>
          <a:solidFill>
            <a:srgbClr val="FFFFFF"/>
          </a:solidFill>
          <a:ln w="12700">
            <a:solidFill>
              <a:srgbClr val="FCF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93589" y="2194560"/>
            <a:ext cx="11510731" cy="954107"/>
          </a:xfrm>
          <a:prstGeom prst="rect">
            <a:avLst/>
          </a:prstGeom>
          <a:noFill/>
        </p:spPr>
        <p:txBody>
          <a:bodyPr wrap="square" lIns="73152" rIns="73152">
            <a:spAutoFit/>
          </a:bodyPr>
          <a:lstStyle/>
          <a:p>
            <a:pPr algn="ctr">
              <a:defRPr sz="1800" b="1">
                <a:solidFill>
                  <a:srgbClr val="17233B"/>
                </a:solidFill>
                <a:latin typeface="Aptos"/>
              </a:defRPr>
            </a:pPr>
            <a:r>
              <a:rPr sz="2800" dirty="0"/>
              <a:t>If the sentence appears in a factual article about whale migration → non-fiction.</a:t>
            </a:r>
          </a:p>
        </p:txBody>
      </p:sp>
      <p:sp>
        <p:nvSpPr>
          <p:cNvPr id="10" name="TextBox 9"/>
          <p:cNvSpPr txBox="1"/>
          <p:nvPr/>
        </p:nvSpPr>
        <p:spPr>
          <a:xfrm>
            <a:off x="358346" y="3207362"/>
            <a:ext cx="11208814" cy="954107"/>
          </a:xfrm>
          <a:prstGeom prst="rect">
            <a:avLst/>
          </a:prstGeom>
          <a:noFill/>
        </p:spPr>
        <p:txBody>
          <a:bodyPr wrap="square" lIns="73152" rIns="73152">
            <a:spAutoFit/>
          </a:bodyPr>
          <a:lstStyle/>
          <a:p>
            <a:pPr algn="ctr">
              <a:defRPr sz="1800" b="1">
                <a:solidFill>
                  <a:srgbClr val="22918F"/>
                </a:solidFill>
                <a:latin typeface="Aptos"/>
              </a:defRPr>
            </a:pPr>
            <a:r>
              <a:rPr sz="2800" dirty="0"/>
              <a:t>If it appears in a story about a character watching a whale </a:t>
            </a:r>
            <a:endParaRPr lang="ar-EG" sz="2800" dirty="0"/>
          </a:p>
          <a:p>
            <a:pPr algn="ctr">
              <a:defRPr sz="1800" b="1">
                <a:solidFill>
                  <a:srgbClr val="22918F"/>
                </a:solidFill>
                <a:latin typeface="Aptos"/>
              </a:defRPr>
            </a:pPr>
            <a:r>
              <a:rPr sz="2800" dirty="0"/>
              <a:t>→ it could be fiction.</a:t>
            </a:r>
          </a:p>
        </p:txBody>
      </p:sp>
      <p:sp>
        <p:nvSpPr>
          <p:cNvPr id="11" name="TextBox 10"/>
          <p:cNvSpPr txBox="1"/>
          <p:nvPr/>
        </p:nvSpPr>
        <p:spPr>
          <a:xfrm>
            <a:off x="422860" y="4394953"/>
            <a:ext cx="11345974" cy="461665"/>
          </a:xfrm>
          <a:prstGeom prst="rect">
            <a:avLst/>
          </a:prstGeom>
          <a:noFill/>
        </p:spPr>
        <p:txBody>
          <a:bodyPr wrap="square" lIns="73152" rIns="73152">
            <a:spAutoFit/>
          </a:bodyPr>
          <a:lstStyle/>
          <a:p>
            <a:pPr algn="ctr">
              <a:defRPr sz="1600" b="1">
                <a:solidFill>
                  <a:srgbClr val="F0B248"/>
                </a:solidFill>
                <a:latin typeface="Aptos"/>
              </a:defRPr>
            </a:pPr>
            <a:r>
              <a:rPr sz="2400" dirty="0"/>
              <a:t>The words alone are not always enough. Context + purpose + evidence matter.</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47472"/>
            <a:ext cx="914400" cy="73152"/>
          </a:xfrm>
          <a:prstGeom prst="rect">
            <a:avLst/>
          </a:prstGeom>
          <a:solidFill>
            <a:srgbClr val="2291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457200"/>
            <a:ext cx="5029200" cy="320040"/>
          </a:xfrm>
          <a:prstGeom prst="rect">
            <a:avLst/>
          </a:prstGeom>
          <a:noFill/>
        </p:spPr>
        <p:txBody>
          <a:bodyPr wrap="none">
            <a:spAutoFit/>
          </a:bodyPr>
          <a:lstStyle/>
          <a:p>
            <a:pPr>
              <a:defRPr sz="1000" b="1">
                <a:solidFill>
                  <a:srgbClr val="22918F"/>
                </a:solidFill>
              </a:defRPr>
            </a:pPr>
            <a:r>
              <a:t>EXIT TICKET</a:t>
            </a:r>
          </a:p>
        </p:txBody>
      </p:sp>
      <p:sp>
        <p:nvSpPr>
          <p:cNvPr id="5" name="TextBox 4"/>
          <p:cNvSpPr txBox="1"/>
          <p:nvPr/>
        </p:nvSpPr>
        <p:spPr>
          <a:xfrm>
            <a:off x="11292840" y="384048"/>
            <a:ext cx="411480" cy="274320"/>
          </a:xfrm>
          <a:prstGeom prst="rect">
            <a:avLst/>
          </a:prstGeom>
          <a:noFill/>
        </p:spPr>
        <p:txBody>
          <a:bodyPr wrap="none">
            <a:spAutoFit/>
          </a:bodyPr>
          <a:lstStyle/>
          <a:p>
            <a:pPr algn="r">
              <a:defRPr sz="1000">
                <a:solidFill>
                  <a:srgbClr val="5C6570"/>
                </a:solidFill>
              </a:defRPr>
            </a:pPr>
            <a:r>
              <a:t>30</a:t>
            </a:r>
          </a:p>
        </p:txBody>
      </p:sp>
      <p:sp>
        <p:nvSpPr>
          <p:cNvPr id="6" name="TextBox 5"/>
          <p:cNvSpPr txBox="1"/>
          <p:nvPr/>
        </p:nvSpPr>
        <p:spPr>
          <a:xfrm>
            <a:off x="594360" y="6473952"/>
            <a:ext cx="7315200" cy="201168"/>
          </a:xfrm>
          <a:prstGeom prst="rect">
            <a:avLst/>
          </a:prstGeom>
          <a:noFill/>
        </p:spPr>
        <p:txBody>
          <a:bodyPr wrap="square" lIns="73152" rIns="73152">
            <a:spAutoFit/>
          </a:bodyPr>
          <a:lstStyle/>
          <a:p>
            <a:pPr algn="l">
              <a:defRPr sz="900" b="0">
                <a:solidFill>
                  <a:srgbClr val="5C6570"/>
                </a:solidFill>
                <a:latin typeface="Aptos"/>
              </a:defRPr>
            </a:pPr>
            <a:r>
              <a:t>Year 6 • Cambridge Primary Checkpoint preparation</a:t>
            </a:r>
          </a:p>
        </p:txBody>
      </p:sp>
      <p:sp>
        <p:nvSpPr>
          <p:cNvPr id="7" name="TextBox 6"/>
          <p:cNvSpPr txBox="1"/>
          <p:nvPr/>
        </p:nvSpPr>
        <p:spPr>
          <a:xfrm>
            <a:off x="594360" y="822960"/>
            <a:ext cx="10972800" cy="685800"/>
          </a:xfrm>
          <a:prstGeom prst="rect">
            <a:avLst/>
          </a:prstGeom>
          <a:noFill/>
        </p:spPr>
        <p:txBody>
          <a:bodyPr wrap="square">
            <a:spAutoFit/>
          </a:bodyPr>
          <a:lstStyle/>
          <a:p>
            <a:pPr>
              <a:defRPr sz="2800" b="1">
                <a:solidFill>
                  <a:srgbClr val="17233B"/>
                </a:solidFill>
                <a:latin typeface="Aptos Display"/>
              </a:defRPr>
            </a:pPr>
            <a:r>
              <a:t>Exit Ticket • Show what you know</a:t>
            </a:r>
          </a:p>
        </p:txBody>
      </p:sp>
      <p:sp>
        <p:nvSpPr>
          <p:cNvPr id="8" name="Rounded Rectangle 7"/>
          <p:cNvSpPr/>
          <p:nvPr/>
        </p:nvSpPr>
        <p:spPr>
          <a:xfrm>
            <a:off x="914400" y="1645920"/>
            <a:ext cx="10332720" cy="914400"/>
          </a:xfrm>
          <a:prstGeom prst="roundRect">
            <a:avLst/>
          </a:prstGeom>
          <a:solidFill>
            <a:srgbClr val="FFFFFF"/>
          </a:solidFill>
          <a:ln w="12700">
            <a:solidFill>
              <a:srgbClr val="E1F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234440" y="1828800"/>
            <a:ext cx="9052560" cy="523220"/>
          </a:xfrm>
          <a:prstGeom prst="rect">
            <a:avLst/>
          </a:prstGeom>
          <a:noFill/>
        </p:spPr>
        <p:txBody>
          <a:bodyPr wrap="square" lIns="73152" rIns="73152">
            <a:spAutoFit/>
          </a:bodyPr>
          <a:lstStyle/>
          <a:p>
            <a:pPr algn="l">
              <a:defRPr sz="1700" b="0">
                <a:solidFill>
                  <a:srgbClr val="252B33"/>
                </a:solidFill>
                <a:latin typeface="Aptos"/>
              </a:defRPr>
            </a:pPr>
            <a:r>
              <a:rPr sz="2800" dirty="0"/>
              <a:t>The most important thing I learned today is…</a:t>
            </a:r>
          </a:p>
        </p:txBody>
      </p:sp>
      <p:sp>
        <p:nvSpPr>
          <p:cNvPr id="10" name="TextBox 9"/>
          <p:cNvSpPr txBox="1"/>
          <p:nvPr/>
        </p:nvSpPr>
        <p:spPr>
          <a:xfrm>
            <a:off x="1234440" y="2212848"/>
            <a:ext cx="8686800" cy="228600"/>
          </a:xfrm>
          <a:prstGeom prst="rect">
            <a:avLst/>
          </a:prstGeom>
          <a:noFill/>
        </p:spPr>
        <p:txBody>
          <a:bodyPr wrap="square" lIns="73152" rIns="73152">
            <a:spAutoFit/>
          </a:bodyPr>
          <a:lstStyle/>
          <a:p>
            <a:pPr algn="l">
              <a:defRPr sz="1100" b="0">
                <a:solidFill>
                  <a:srgbClr val="5C6570"/>
                </a:solidFill>
                <a:latin typeface="Aptos"/>
              </a:defRPr>
            </a:pPr>
            <a:r>
              <a:t>____________________________________________</a:t>
            </a:r>
          </a:p>
        </p:txBody>
      </p:sp>
      <p:sp>
        <p:nvSpPr>
          <p:cNvPr id="11" name="Rounded Rectangle 10"/>
          <p:cNvSpPr/>
          <p:nvPr/>
        </p:nvSpPr>
        <p:spPr>
          <a:xfrm>
            <a:off x="914400" y="2880360"/>
            <a:ext cx="10332720" cy="914400"/>
          </a:xfrm>
          <a:prstGeom prst="roundRect">
            <a:avLst/>
          </a:prstGeom>
          <a:solidFill>
            <a:srgbClr val="FFFFFF"/>
          </a:solidFill>
          <a:ln w="12700">
            <a:solidFill>
              <a:srgbClr val="E1F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234440" y="3063240"/>
            <a:ext cx="9052560" cy="461665"/>
          </a:xfrm>
          <a:prstGeom prst="rect">
            <a:avLst/>
          </a:prstGeom>
          <a:noFill/>
        </p:spPr>
        <p:txBody>
          <a:bodyPr wrap="square" lIns="73152" rIns="73152">
            <a:spAutoFit/>
          </a:bodyPr>
          <a:lstStyle/>
          <a:p>
            <a:pPr algn="l">
              <a:defRPr sz="1700" b="0">
                <a:solidFill>
                  <a:srgbClr val="252B33"/>
                </a:solidFill>
                <a:latin typeface="Aptos"/>
              </a:defRPr>
            </a:pPr>
            <a:r>
              <a:rPr sz="2400" dirty="0"/>
              <a:t>One piece of evidence that can identify fiction is…</a:t>
            </a:r>
          </a:p>
        </p:txBody>
      </p:sp>
      <p:sp>
        <p:nvSpPr>
          <p:cNvPr id="13" name="TextBox 12"/>
          <p:cNvSpPr txBox="1"/>
          <p:nvPr/>
        </p:nvSpPr>
        <p:spPr>
          <a:xfrm>
            <a:off x="1234440" y="3447288"/>
            <a:ext cx="8686800" cy="228600"/>
          </a:xfrm>
          <a:prstGeom prst="rect">
            <a:avLst/>
          </a:prstGeom>
          <a:noFill/>
        </p:spPr>
        <p:txBody>
          <a:bodyPr wrap="square" lIns="73152" rIns="73152">
            <a:spAutoFit/>
          </a:bodyPr>
          <a:lstStyle/>
          <a:p>
            <a:pPr algn="l">
              <a:defRPr sz="1100" b="0">
                <a:solidFill>
                  <a:srgbClr val="5C6570"/>
                </a:solidFill>
                <a:latin typeface="Aptos"/>
              </a:defRPr>
            </a:pPr>
            <a:r>
              <a:t>____________________________________________</a:t>
            </a:r>
          </a:p>
        </p:txBody>
      </p:sp>
      <p:sp>
        <p:nvSpPr>
          <p:cNvPr id="14" name="Rounded Rectangle 13"/>
          <p:cNvSpPr/>
          <p:nvPr/>
        </p:nvSpPr>
        <p:spPr>
          <a:xfrm>
            <a:off x="914400" y="4114800"/>
            <a:ext cx="10332720" cy="914400"/>
          </a:xfrm>
          <a:prstGeom prst="roundRect">
            <a:avLst/>
          </a:prstGeom>
          <a:solidFill>
            <a:srgbClr val="FFFFFF"/>
          </a:solidFill>
          <a:ln w="12700">
            <a:solidFill>
              <a:srgbClr val="E1F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234440" y="4297680"/>
            <a:ext cx="9052560" cy="461665"/>
          </a:xfrm>
          <a:prstGeom prst="rect">
            <a:avLst/>
          </a:prstGeom>
          <a:noFill/>
        </p:spPr>
        <p:txBody>
          <a:bodyPr wrap="square" lIns="73152" rIns="73152">
            <a:spAutoFit/>
          </a:bodyPr>
          <a:lstStyle/>
          <a:p>
            <a:pPr algn="l">
              <a:defRPr sz="1700" b="0">
                <a:solidFill>
                  <a:srgbClr val="252B33"/>
                </a:solidFill>
                <a:latin typeface="Aptos"/>
              </a:defRPr>
            </a:pPr>
            <a:r>
              <a:rPr sz="2400" dirty="0"/>
              <a:t>One piece of evidence that can identify non-fiction is…</a:t>
            </a:r>
          </a:p>
        </p:txBody>
      </p:sp>
      <p:sp>
        <p:nvSpPr>
          <p:cNvPr id="16" name="TextBox 15"/>
          <p:cNvSpPr txBox="1"/>
          <p:nvPr/>
        </p:nvSpPr>
        <p:spPr>
          <a:xfrm>
            <a:off x="1234440" y="4681728"/>
            <a:ext cx="8686800" cy="228600"/>
          </a:xfrm>
          <a:prstGeom prst="rect">
            <a:avLst/>
          </a:prstGeom>
          <a:noFill/>
        </p:spPr>
        <p:txBody>
          <a:bodyPr wrap="square" lIns="73152" rIns="73152">
            <a:spAutoFit/>
          </a:bodyPr>
          <a:lstStyle/>
          <a:p>
            <a:pPr algn="l">
              <a:defRPr sz="1100" b="0">
                <a:solidFill>
                  <a:srgbClr val="5C6570"/>
                </a:solidFill>
                <a:latin typeface="Aptos"/>
              </a:defRPr>
            </a:pPr>
            <a:r>
              <a:t>____________________________________________</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47472"/>
            <a:ext cx="914400" cy="73152"/>
          </a:xfrm>
          <a:prstGeom prst="rect">
            <a:avLst/>
          </a:prstGeom>
          <a:solidFill>
            <a:srgbClr val="2291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457200"/>
            <a:ext cx="5029200" cy="320040"/>
          </a:xfrm>
          <a:prstGeom prst="rect">
            <a:avLst/>
          </a:prstGeom>
          <a:noFill/>
        </p:spPr>
        <p:txBody>
          <a:bodyPr wrap="none">
            <a:spAutoFit/>
          </a:bodyPr>
          <a:lstStyle/>
          <a:p>
            <a:pPr>
              <a:defRPr sz="1000" b="1">
                <a:solidFill>
                  <a:srgbClr val="22918F"/>
                </a:solidFill>
              </a:defRPr>
            </a:pPr>
            <a:r>
              <a:t>HOMEWORK</a:t>
            </a:r>
          </a:p>
        </p:txBody>
      </p:sp>
      <p:sp>
        <p:nvSpPr>
          <p:cNvPr id="5" name="TextBox 4"/>
          <p:cNvSpPr txBox="1"/>
          <p:nvPr/>
        </p:nvSpPr>
        <p:spPr>
          <a:xfrm>
            <a:off x="11292840" y="384048"/>
            <a:ext cx="411480" cy="274320"/>
          </a:xfrm>
          <a:prstGeom prst="rect">
            <a:avLst/>
          </a:prstGeom>
          <a:noFill/>
        </p:spPr>
        <p:txBody>
          <a:bodyPr wrap="none">
            <a:spAutoFit/>
          </a:bodyPr>
          <a:lstStyle/>
          <a:p>
            <a:pPr algn="r">
              <a:defRPr sz="1000">
                <a:solidFill>
                  <a:srgbClr val="5C6570"/>
                </a:solidFill>
              </a:defRPr>
            </a:pPr>
            <a:r>
              <a:t>31</a:t>
            </a:r>
          </a:p>
        </p:txBody>
      </p:sp>
      <p:sp>
        <p:nvSpPr>
          <p:cNvPr id="6" name="TextBox 5"/>
          <p:cNvSpPr txBox="1"/>
          <p:nvPr/>
        </p:nvSpPr>
        <p:spPr>
          <a:xfrm>
            <a:off x="594360" y="6473952"/>
            <a:ext cx="7315200" cy="201168"/>
          </a:xfrm>
          <a:prstGeom prst="rect">
            <a:avLst/>
          </a:prstGeom>
          <a:noFill/>
        </p:spPr>
        <p:txBody>
          <a:bodyPr wrap="square" lIns="73152" rIns="73152">
            <a:spAutoFit/>
          </a:bodyPr>
          <a:lstStyle/>
          <a:p>
            <a:pPr algn="l">
              <a:defRPr sz="900" b="0">
                <a:solidFill>
                  <a:srgbClr val="5C6570"/>
                </a:solidFill>
                <a:latin typeface="Aptos"/>
              </a:defRPr>
            </a:pPr>
            <a:r>
              <a:t>Year 6 • Cambridge Primary Checkpoint preparation</a:t>
            </a:r>
          </a:p>
        </p:txBody>
      </p:sp>
      <p:sp>
        <p:nvSpPr>
          <p:cNvPr id="7" name="TextBox 6"/>
          <p:cNvSpPr txBox="1"/>
          <p:nvPr/>
        </p:nvSpPr>
        <p:spPr>
          <a:xfrm>
            <a:off x="594360" y="822960"/>
            <a:ext cx="10972800" cy="685800"/>
          </a:xfrm>
          <a:prstGeom prst="rect">
            <a:avLst/>
          </a:prstGeom>
          <a:noFill/>
        </p:spPr>
        <p:txBody>
          <a:bodyPr wrap="square">
            <a:spAutoFit/>
          </a:bodyPr>
          <a:lstStyle/>
          <a:p>
            <a:pPr>
              <a:defRPr sz="2800" b="1">
                <a:solidFill>
                  <a:srgbClr val="17233B"/>
                </a:solidFill>
                <a:latin typeface="Aptos Display"/>
              </a:defRPr>
            </a:pPr>
            <a:r>
              <a:t>Homework • Same topic, two text types</a:t>
            </a:r>
          </a:p>
        </p:txBody>
      </p:sp>
      <p:sp>
        <p:nvSpPr>
          <p:cNvPr id="8" name="Rounded Rectangle 7"/>
          <p:cNvSpPr/>
          <p:nvPr/>
        </p:nvSpPr>
        <p:spPr>
          <a:xfrm>
            <a:off x="502920" y="1645920"/>
            <a:ext cx="11201400" cy="4069080"/>
          </a:xfrm>
          <a:prstGeom prst="roundRect">
            <a:avLst/>
          </a:prstGeom>
          <a:solidFill>
            <a:srgbClr val="FFFFFF"/>
          </a:solidFill>
          <a:ln w="12700">
            <a:solidFill>
              <a:srgbClr val="E6ED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325880" y="2057400"/>
            <a:ext cx="3657600" cy="365760"/>
          </a:xfrm>
          <a:prstGeom prst="rect">
            <a:avLst/>
          </a:prstGeom>
          <a:noFill/>
        </p:spPr>
        <p:txBody>
          <a:bodyPr wrap="square" lIns="73152" rIns="73152">
            <a:spAutoFit/>
          </a:bodyPr>
          <a:lstStyle/>
          <a:p>
            <a:pPr algn="l">
              <a:defRPr sz="1800" b="1">
                <a:solidFill>
                  <a:srgbClr val="22918F"/>
                </a:solidFill>
                <a:latin typeface="Aptos"/>
              </a:defRPr>
            </a:pPr>
            <a:r>
              <a:t>Choose ONE familiar topic.</a:t>
            </a:r>
          </a:p>
        </p:txBody>
      </p:sp>
      <p:sp>
        <p:nvSpPr>
          <p:cNvPr id="10" name="TextBox 9"/>
          <p:cNvSpPr txBox="1"/>
          <p:nvPr/>
        </p:nvSpPr>
        <p:spPr>
          <a:xfrm>
            <a:off x="1325880" y="2560320"/>
            <a:ext cx="8686800" cy="461665"/>
          </a:xfrm>
          <a:prstGeom prst="rect">
            <a:avLst/>
          </a:prstGeom>
          <a:noFill/>
        </p:spPr>
        <p:txBody>
          <a:bodyPr wrap="square" lIns="73152" rIns="73152">
            <a:spAutoFit/>
          </a:bodyPr>
          <a:lstStyle/>
          <a:p>
            <a:pPr algn="l">
              <a:defRPr sz="1600" b="0">
                <a:solidFill>
                  <a:srgbClr val="252B33"/>
                </a:solidFill>
                <a:latin typeface="Aptos"/>
              </a:defRPr>
            </a:pPr>
            <a:r>
              <a:rPr sz="2400" b="1" dirty="0"/>
              <a:t>Examples</a:t>
            </a:r>
            <a:r>
              <a:rPr sz="2400" dirty="0"/>
              <a:t>: space • animals • sport • inventions • school life</a:t>
            </a:r>
          </a:p>
        </p:txBody>
      </p:sp>
      <p:sp>
        <p:nvSpPr>
          <p:cNvPr id="11" name="TextBox 10"/>
          <p:cNvSpPr txBox="1"/>
          <p:nvPr/>
        </p:nvSpPr>
        <p:spPr>
          <a:xfrm>
            <a:off x="1239383" y="3034819"/>
            <a:ext cx="2743200" cy="365760"/>
          </a:xfrm>
          <a:prstGeom prst="rect">
            <a:avLst/>
          </a:prstGeom>
          <a:noFill/>
        </p:spPr>
        <p:txBody>
          <a:bodyPr wrap="square" lIns="73152" rIns="73152">
            <a:spAutoFit/>
          </a:bodyPr>
          <a:lstStyle/>
          <a:p>
            <a:pPr algn="l">
              <a:defRPr sz="1800" b="1">
                <a:solidFill>
                  <a:srgbClr val="F0B248"/>
                </a:solidFill>
                <a:latin typeface="Aptos"/>
              </a:defRPr>
            </a:pPr>
            <a:r>
              <a:rPr dirty="0"/>
              <a:t>Find or create:</a:t>
            </a:r>
          </a:p>
        </p:txBody>
      </p:sp>
      <p:sp>
        <p:nvSpPr>
          <p:cNvPr id="12" name="TextBox 11"/>
          <p:cNvSpPr txBox="1"/>
          <p:nvPr/>
        </p:nvSpPr>
        <p:spPr>
          <a:xfrm>
            <a:off x="1325880" y="3376755"/>
            <a:ext cx="8961120" cy="1877437"/>
          </a:xfrm>
          <a:prstGeom prst="rect">
            <a:avLst/>
          </a:prstGeom>
          <a:noFill/>
        </p:spPr>
        <p:txBody>
          <a:bodyPr wrap="square">
            <a:spAutoFit/>
          </a:bodyPr>
          <a:lstStyle/>
          <a:p>
            <a:pPr>
              <a:spcAft>
                <a:spcPts val="800"/>
              </a:spcAft>
              <a:defRPr sz="1600">
                <a:solidFill>
                  <a:srgbClr val="252B33"/>
                </a:solidFill>
                <a:latin typeface="Aptos"/>
              </a:defRPr>
            </a:pPr>
            <a:r>
              <a:rPr sz="2400" dirty="0"/>
              <a:t>• one short fiction passage;</a:t>
            </a:r>
          </a:p>
          <a:p>
            <a:pPr>
              <a:spcAft>
                <a:spcPts val="800"/>
              </a:spcAft>
              <a:defRPr sz="1600">
                <a:solidFill>
                  <a:srgbClr val="252B33"/>
                </a:solidFill>
                <a:latin typeface="Aptos"/>
              </a:defRPr>
            </a:pPr>
            <a:r>
              <a:rPr sz="2400" dirty="0"/>
              <a:t>• one short non-fiction passage;</a:t>
            </a:r>
          </a:p>
          <a:p>
            <a:pPr>
              <a:spcAft>
                <a:spcPts val="800"/>
              </a:spcAft>
              <a:defRPr sz="1600">
                <a:solidFill>
                  <a:srgbClr val="252B33"/>
                </a:solidFill>
                <a:latin typeface="Aptos"/>
              </a:defRPr>
            </a:pPr>
            <a:r>
              <a:rPr sz="2400" dirty="0"/>
              <a:t>• two pieces of evidence for each;</a:t>
            </a:r>
          </a:p>
          <a:p>
            <a:pPr>
              <a:spcAft>
                <a:spcPts val="800"/>
              </a:spcAft>
              <a:defRPr sz="1600">
                <a:solidFill>
                  <a:srgbClr val="252B33"/>
                </a:solidFill>
                <a:latin typeface="Aptos"/>
              </a:defRPr>
            </a:pPr>
            <a:r>
              <a:rPr sz="2400" dirty="0"/>
              <a:t>• one sentence explaining the different purposes.</a:t>
            </a:r>
          </a:p>
        </p:txBody>
      </p:sp>
      <p:sp>
        <p:nvSpPr>
          <p:cNvPr id="13" name="TextBox 12"/>
          <p:cNvSpPr txBox="1"/>
          <p:nvPr/>
        </p:nvSpPr>
        <p:spPr>
          <a:xfrm>
            <a:off x="1325880" y="5292220"/>
            <a:ext cx="9966960" cy="400110"/>
          </a:xfrm>
          <a:prstGeom prst="rect">
            <a:avLst/>
          </a:prstGeom>
          <a:noFill/>
        </p:spPr>
        <p:txBody>
          <a:bodyPr wrap="square" lIns="73152" rIns="73152">
            <a:spAutoFit/>
          </a:bodyPr>
          <a:lstStyle/>
          <a:p>
            <a:pPr algn="l">
              <a:defRPr sz="1100" b="0">
                <a:solidFill>
                  <a:srgbClr val="5C6570"/>
                </a:solidFill>
                <a:latin typeface="Aptos"/>
              </a:defRPr>
            </a:pPr>
            <a:r>
              <a:rPr sz="2000" dirty="0"/>
              <a:t>Do not copy copyrighted text. Use short excerpts only when permitted, or write your own.</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47472"/>
            <a:ext cx="914400" cy="73152"/>
          </a:xfrm>
          <a:prstGeom prst="rect">
            <a:avLst/>
          </a:prstGeom>
          <a:solidFill>
            <a:srgbClr val="2291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457200"/>
            <a:ext cx="5029200" cy="320040"/>
          </a:xfrm>
          <a:prstGeom prst="rect">
            <a:avLst/>
          </a:prstGeom>
          <a:noFill/>
        </p:spPr>
        <p:txBody>
          <a:bodyPr wrap="none">
            <a:spAutoFit/>
          </a:bodyPr>
          <a:lstStyle/>
          <a:p>
            <a:pPr>
              <a:defRPr sz="1000" b="1">
                <a:solidFill>
                  <a:srgbClr val="22918F"/>
                </a:solidFill>
              </a:defRPr>
            </a:pPr>
            <a:r>
              <a:t>ASSESSMENT &amp; DIFFERENTIATION</a:t>
            </a:r>
          </a:p>
        </p:txBody>
      </p:sp>
      <p:sp>
        <p:nvSpPr>
          <p:cNvPr id="5" name="TextBox 4"/>
          <p:cNvSpPr txBox="1"/>
          <p:nvPr/>
        </p:nvSpPr>
        <p:spPr>
          <a:xfrm>
            <a:off x="11292840" y="384048"/>
            <a:ext cx="411480" cy="274320"/>
          </a:xfrm>
          <a:prstGeom prst="rect">
            <a:avLst/>
          </a:prstGeom>
          <a:noFill/>
        </p:spPr>
        <p:txBody>
          <a:bodyPr wrap="none">
            <a:spAutoFit/>
          </a:bodyPr>
          <a:lstStyle/>
          <a:p>
            <a:pPr algn="r">
              <a:defRPr sz="1000">
                <a:solidFill>
                  <a:srgbClr val="5C6570"/>
                </a:solidFill>
              </a:defRPr>
            </a:pPr>
            <a:r>
              <a:t>32</a:t>
            </a:r>
          </a:p>
        </p:txBody>
      </p:sp>
      <p:sp>
        <p:nvSpPr>
          <p:cNvPr id="6" name="TextBox 5"/>
          <p:cNvSpPr txBox="1"/>
          <p:nvPr/>
        </p:nvSpPr>
        <p:spPr>
          <a:xfrm>
            <a:off x="594360" y="6473952"/>
            <a:ext cx="7315200" cy="201168"/>
          </a:xfrm>
          <a:prstGeom prst="rect">
            <a:avLst/>
          </a:prstGeom>
          <a:noFill/>
        </p:spPr>
        <p:txBody>
          <a:bodyPr wrap="square" lIns="73152" rIns="73152">
            <a:spAutoFit/>
          </a:bodyPr>
          <a:lstStyle/>
          <a:p>
            <a:pPr algn="l">
              <a:defRPr sz="900" b="0">
                <a:solidFill>
                  <a:srgbClr val="5C6570"/>
                </a:solidFill>
                <a:latin typeface="Aptos"/>
              </a:defRPr>
            </a:pPr>
            <a:r>
              <a:t>Year 6 • Cambridge Primary Checkpoint preparation</a:t>
            </a:r>
          </a:p>
        </p:txBody>
      </p:sp>
      <p:sp>
        <p:nvSpPr>
          <p:cNvPr id="7" name="TextBox 6"/>
          <p:cNvSpPr txBox="1"/>
          <p:nvPr/>
        </p:nvSpPr>
        <p:spPr>
          <a:xfrm>
            <a:off x="594360" y="822960"/>
            <a:ext cx="10972800" cy="685800"/>
          </a:xfrm>
          <a:prstGeom prst="rect">
            <a:avLst/>
          </a:prstGeom>
          <a:noFill/>
        </p:spPr>
        <p:txBody>
          <a:bodyPr wrap="square">
            <a:spAutoFit/>
          </a:bodyPr>
          <a:lstStyle/>
          <a:p>
            <a:pPr>
              <a:defRPr sz="2800" b="1">
                <a:solidFill>
                  <a:srgbClr val="17233B"/>
                </a:solidFill>
                <a:latin typeface="Aptos Display"/>
              </a:defRPr>
            </a:pPr>
            <a:r>
              <a:t>Teacher assessment snapshot</a:t>
            </a:r>
          </a:p>
        </p:txBody>
      </p:sp>
      <p:sp>
        <p:nvSpPr>
          <p:cNvPr id="8" name="Rounded Rectangle 7"/>
          <p:cNvSpPr/>
          <p:nvPr/>
        </p:nvSpPr>
        <p:spPr>
          <a:xfrm>
            <a:off x="640080" y="1508760"/>
            <a:ext cx="5394960" cy="4434840"/>
          </a:xfrm>
          <a:prstGeom prst="roundRect">
            <a:avLst/>
          </a:prstGeom>
          <a:solidFill>
            <a:srgbClr val="FFFFFF"/>
          </a:solidFill>
          <a:ln w="12700">
            <a:solidFill>
              <a:srgbClr val="E1F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172200" y="1508760"/>
            <a:ext cx="5989320" cy="4434840"/>
          </a:xfrm>
          <a:prstGeom prst="roundRect">
            <a:avLst/>
          </a:prstGeom>
          <a:solidFill>
            <a:srgbClr val="FFFFFF"/>
          </a:solidFill>
          <a:ln w="12700">
            <a:solidFill>
              <a:srgbClr val="FCF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1783080"/>
            <a:ext cx="4846320" cy="320040"/>
          </a:xfrm>
          <a:prstGeom prst="rect">
            <a:avLst/>
          </a:prstGeom>
          <a:noFill/>
        </p:spPr>
        <p:txBody>
          <a:bodyPr wrap="square" lIns="73152" rIns="73152">
            <a:spAutoFit/>
          </a:bodyPr>
          <a:lstStyle/>
          <a:p>
            <a:pPr algn="ctr">
              <a:defRPr sz="1900" b="1">
                <a:solidFill>
                  <a:srgbClr val="22918F"/>
                </a:solidFill>
                <a:latin typeface="Aptos"/>
              </a:defRPr>
            </a:pPr>
            <a:r>
              <a:t>LOOK FOR</a:t>
            </a:r>
          </a:p>
        </p:txBody>
      </p:sp>
      <p:sp>
        <p:nvSpPr>
          <p:cNvPr id="11" name="TextBox 10"/>
          <p:cNvSpPr txBox="1"/>
          <p:nvPr/>
        </p:nvSpPr>
        <p:spPr>
          <a:xfrm>
            <a:off x="1051560" y="2423160"/>
            <a:ext cx="4480560" cy="2349361"/>
          </a:xfrm>
          <a:prstGeom prst="rect">
            <a:avLst/>
          </a:prstGeom>
          <a:noFill/>
        </p:spPr>
        <p:txBody>
          <a:bodyPr wrap="square">
            <a:spAutoFit/>
          </a:bodyPr>
          <a:lstStyle/>
          <a:p>
            <a:pPr>
              <a:spcAft>
                <a:spcPts val="800"/>
              </a:spcAft>
              <a:defRPr sz="1600">
                <a:solidFill>
                  <a:srgbClr val="252B33"/>
                </a:solidFill>
                <a:latin typeface="Aptos"/>
              </a:defRPr>
            </a:pPr>
            <a:r>
              <a:rPr sz="2400" dirty="0"/>
              <a:t>• correct classification</a:t>
            </a:r>
          </a:p>
          <a:p>
            <a:pPr>
              <a:spcAft>
                <a:spcPts val="800"/>
              </a:spcAft>
              <a:defRPr sz="1600">
                <a:solidFill>
                  <a:srgbClr val="252B33"/>
                </a:solidFill>
                <a:latin typeface="Aptos"/>
              </a:defRPr>
            </a:pPr>
            <a:r>
              <a:rPr sz="2400" dirty="0"/>
              <a:t>• specific textual evidence</a:t>
            </a:r>
          </a:p>
          <a:p>
            <a:pPr>
              <a:spcAft>
                <a:spcPts val="800"/>
              </a:spcAft>
              <a:defRPr sz="1600">
                <a:solidFill>
                  <a:srgbClr val="252B33"/>
                </a:solidFill>
                <a:latin typeface="Aptos"/>
              </a:defRPr>
            </a:pPr>
            <a:r>
              <a:rPr sz="2400" dirty="0"/>
              <a:t>• purpose identified</a:t>
            </a:r>
          </a:p>
          <a:p>
            <a:pPr>
              <a:spcAft>
                <a:spcPts val="800"/>
              </a:spcAft>
              <a:defRPr sz="1600">
                <a:solidFill>
                  <a:srgbClr val="252B33"/>
                </a:solidFill>
                <a:latin typeface="Aptos"/>
              </a:defRPr>
            </a:pPr>
            <a:r>
              <a:rPr sz="2400" dirty="0"/>
              <a:t>• comparison language</a:t>
            </a:r>
          </a:p>
          <a:p>
            <a:pPr>
              <a:spcAft>
                <a:spcPts val="800"/>
              </a:spcAft>
              <a:defRPr sz="1600">
                <a:solidFill>
                  <a:srgbClr val="252B33"/>
                </a:solidFill>
                <a:latin typeface="Aptos"/>
              </a:defRPr>
            </a:pPr>
            <a:r>
              <a:rPr sz="2400" dirty="0"/>
              <a:t>• complete explanations</a:t>
            </a:r>
          </a:p>
        </p:txBody>
      </p:sp>
      <p:sp>
        <p:nvSpPr>
          <p:cNvPr id="12" name="TextBox 11"/>
          <p:cNvSpPr txBox="1"/>
          <p:nvPr/>
        </p:nvSpPr>
        <p:spPr>
          <a:xfrm>
            <a:off x="6446520" y="1783080"/>
            <a:ext cx="4846320" cy="320040"/>
          </a:xfrm>
          <a:prstGeom prst="rect">
            <a:avLst/>
          </a:prstGeom>
          <a:noFill/>
        </p:spPr>
        <p:txBody>
          <a:bodyPr wrap="square" lIns="73152" rIns="73152">
            <a:spAutoFit/>
          </a:bodyPr>
          <a:lstStyle/>
          <a:p>
            <a:pPr algn="ctr">
              <a:defRPr sz="1900" b="1">
                <a:solidFill>
                  <a:srgbClr val="F0B248"/>
                </a:solidFill>
                <a:latin typeface="Aptos"/>
              </a:defRPr>
            </a:pPr>
            <a:r>
              <a:t>DIFFERENTIATE</a:t>
            </a:r>
          </a:p>
        </p:txBody>
      </p:sp>
      <p:sp>
        <p:nvSpPr>
          <p:cNvPr id="13" name="TextBox 12"/>
          <p:cNvSpPr txBox="1"/>
          <p:nvPr/>
        </p:nvSpPr>
        <p:spPr>
          <a:xfrm>
            <a:off x="6156962" y="2423160"/>
            <a:ext cx="6225334" cy="1877437"/>
          </a:xfrm>
          <a:prstGeom prst="rect">
            <a:avLst/>
          </a:prstGeom>
          <a:noFill/>
        </p:spPr>
        <p:txBody>
          <a:bodyPr wrap="square">
            <a:spAutoFit/>
          </a:bodyPr>
          <a:lstStyle/>
          <a:p>
            <a:pPr>
              <a:spcAft>
                <a:spcPts val="800"/>
              </a:spcAft>
              <a:defRPr sz="1600">
                <a:solidFill>
                  <a:srgbClr val="252B33"/>
                </a:solidFill>
                <a:latin typeface="Aptos"/>
              </a:defRPr>
            </a:pPr>
            <a:r>
              <a:rPr sz="2400" dirty="0"/>
              <a:t>• </a:t>
            </a:r>
            <a:r>
              <a:rPr sz="2400" b="1" dirty="0"/>
              <a:t>Support</a:t>
            </a:r>
            <a:r>
              <a:rPr sz="2400" dirty="0"/>
              <a:t>: evidence bank + sentence frames</a:t>
            </a:r>
          </a:p>
          <a:p>
            <a:pPr>
              <a:spcAft>
                <a:spcPts val="800"/>
              </a:spcAft>
              <a:defRPr sz="1600">
                <a:solidFill>
                  <a:srgbClr val="252B33"/>
                </a:solidFill>
                <a:latin typeface="Aptos"/>
              </a:defRPr>
            </a:pPr>
            <a:r>
              <a:rPr sz="2400" dirty="0"/>
              <a:t>• </a:t>
            </a:r>
            <a:r>
              <a:rPr sz="2400" b="1" dirty="0"/>
              <a:t>Core</a:t>
            </a:r>
            <a:r>
              <a:rPr sz="2400" dirty="0"/>
              <a:t>: two pieces of evidence</a:t>
            </a:r>
          </a:p>
          <a:p>
            <a:pPr>
              <a:spcAft>
                <a:spcPts val="800"/>
              </a:spcAft>
              <a:defRPr sz="1600">
                <a:solidFill>
                  <a:srgbClr val="252B33"/>
                </a:solidFill>
                <a:latin typeface="Aptos"/>
              </a:defRPr>
            </a:pPr>
            <a:r>
              <a:rPr sz="2400" dirty="0"/>
              <a:t>• </a:t>
            </a:r>
            <a:r>
              <a:rPr sz="2400" b="1" dirty="0"/>
              <a:t>Challenge</a:t>
            </a:r>
            <a:r>
              <a:rPr sz="2400" dirty="0"/>
              <a:t>: explain overlap / ambiguity</a:t>
            </a:r>
          </a:p>
          <a:p>
            <a:pPr>
              <a:spcAft>
                <a:spcPts val="800"/>
              </a:spcAft>
              <a:defRPr sz="1600">
                <a:solidFill>
                  <a:srgbClr val="252B33"/>
                </a:solidFill>
                <a:latin typeface="Aptos"/>
              </a:defRPr>
            </a:pPr>
            <a:r>
              <a:rPr sz="2400" dirty="0"/>
              <a:t>• </a:t>
            </a:r>
            <a:r>
              <a:rPr sz="2400" b="1" dirty="0"/>
              <a:t>Extension</a:t>
            </a:r>
            <a:r>
              <a:rPr sz="2400" dirty="0"/>
              <a:t>: compare purpose + structure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47472"/>
            <a:ext cx="914400" cy="73152"/>
          </a:xfrm>
          <a:prstGeom prst="rect">
            <a:avLst/>
          </a:prstGeom>
          <a:solidFill>
            <a:srgbClr val="2291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457200"/>
            <a:ext cx="5029200" cy="320040"/>
          </a:xfrm>
          <a:prstGeom prst="rect">
            <a:avLst/>
          </a:prstGeom>
          <a:noFill/>
        </p:spPr>
        <p:txBody>
          <a:bodyPr wrap="none">
            <a:spAutoFit/>
          </a:bodyPr>
          <a:lstStyle/>
          <a:p>
            <a:pPr>
              <a:defRPr sz="1000" b="1">
                <a:solidFill>
                  <a:srgbClr val="22918F"/>
                </a:solidFill>
              </a:defRPr>
            </a:pPr>
            <a:r>
              <a:t>WHOLE LESSON FRAMEWORK</a:t>
            </a:r>
          </a:p>
        </p:txBody>
      </p:sp>
      <p:sp>
        <p:nvSpPr>
          <p:cNvPr id="5" name="TextBox 4"/>
          <p:cNvSpPr txBox="1"/>
          <p:nvPr/>
        </p:nvSpPr>
        <p:spPr>
          <a:xfrm>
            <a:off x="11292840" y="384048"/>
            <a:ext cx="411480" cy="274320"/>
          </a:xfrm>
          <a:prstGeom prst="rect">
            <a:avLst/>
          </a:prstGeom>
          <a:noFill/>
        </p:spPr>
        <p:txBody>
          <a:bodyPr wrap="none">
            <a:spAutoFit/>
          </a:bodyPr>
          <a:lstStyle/>
          <a:p>
            <a:pPr algn="r">
              <a:defRPr sz="1000">
                <a:solidFill>
                  <a:srgbClr val="5C6570"/>
                </a:solidFill>
              </a:defRPr>
            </a:pPr>
            <a:r>
              <a:t>33</a:t>
            </a:r>
          </a:p>
        </p:txBody>
      </p:sp>
      <p:sp>
        <p:nvSpPr>
          <p:cNvPr id="6" name="TextBox 5"/>
          <p:cNvSpPr txBox="1"/>
          <p:nvPr/>
        </p:nvSpPr>
        <p:spPr>
          <a:xfrm>
            <a:off x="594360" y="6473952"/>
            <a:ext cx="7315200" cy="201168"/>
          </a:xfrm>
          <a:prstGeom prst="rect">
            <a:avLst/>
          </a:prstGeom>
          <a:noFill/>
        </p:spPr>
        <p:txBody>
          <a:bodyPr wrap="square" lIns="73152" rIns="73152">
            <a:spAutoFit/>
          </a:bodyPr>
          <a:lstStyle/>
          <a:p>
            <a:pPr algn="l">
              <a:defRPr sz="900" b="0">
                <a:solidFill>
                  <a:srgbClr val="5C6570"/>
                </a:solidFill>
                <a:latin typeface="Aptos"/>
              </a:defRPr>
            </a:pPr>
            <a:r>
              <a:t>Year 6 • Cambridge Primary Checkpoint preparation</a:t>
            </a:r>
          </a:p>
        </p:txBody>
      </p:sp>
      <p:sp>
        <p:nvSpPr>
          <p:cNvPr id="7" name="TextBox 6"/>
          <p:cNvSpPr txBox="1"/>
          <p:nvPr/>
        </p:nvSpPr>
        <p:spPr>
          <a:xfrm>
            <a:off x="594360" y="822960"/>
            <a:ext cx="10972800" cy="685800"/>
          </a:xfrm>
          <a:prstGeom prst="rect">
            <a:avLst/>
          </a:prstGeom>
          <a:noFill/>
        </p:spPr>
        <p:txBody>
          <a:bodyPr wrap="square">
            <a:spAutoFit/>
          </a:bodyPr>
          <a:lstStyle/>
          <a:p>
            <a:pPr>
              <a:defRPr sz="2800" b="1">
                <a:solidFill>
                  <a:srgbClr val="17233B"/>
                </a:solidFill>
                <a:latin typeface="Aptos Display"/>
              </a:defRPr>
            </a:pPr>
            <a:r>
              <a:t>Cambridge-style learning framework</a:t>
            </a:r>
          </a:p>
        </p:txBody>
      </p:sp>
      <p:sp>
        <p:nvSpPr>
          <p:cNvPr id="8" name="Rounded Rectangle 7"/>
          <p:cNvSpPr/>
          <p:nvPr/>
        </p:nvSpPr>
        <p:spPr>
          <a:xfrm>
            <a:off x="914400" y="1600200"/>
            <a:ext cx="2011680" cy="384048"/>
          </a:xfrm>
          <a:prstGeom prst="roundRect">
            <a:avLst/>
          </a:prstGeom>
          <a:solidFill>
            <a:srgbClr val="E1F2F0"/>
          </a:solidFill>
          <a:ln w="12700">
            <a:solidFill>
              <a:srgbClr val="E1F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41832" y="1673352"/>
            <a:ext cx="1956816" cy="400110"/>
          </a:xfrm>
          <a:prstGeom prst="rect">
            <a:avLst/>
          </a:prstGeom>
          <a:noFill/>
        </p:spPr>
        <p:txBody>
          <a:bodyPr wrap="square" lIns="73152" rIns="73152">
            <a:spAutoFit/>
          </a:bodyPr>
          <a:lstStyle/>
          <a:p>
            <a:pPr algn="ctr">
              <a:defRPr sz="1000" b="1">
                <a:solidFill>
                  <a:srgbClr val="22918F"/>
                </a:solidFill>
                <a:latin typeface="Aptos"/>
              </a:defRPr>
            </a:pPr>
            <a:r>
              <a:rPr sz="2000" dirty="0"/>
              <a:t>INQUIRING</a:t>
            </a:r>
          </a:p>
        </p:txBody>
      </p:sp>
      <p:sp>
        <p:nvSpPr>
          <p:cNvPr id="10" name="TextBox 9"/>
          <p:cNvSpPr txBox="1"/>
          <p:nvPr/>
        </p:nvSpPr>
        <p:spPr>
          <a:xfrm>
            <a:off x="3246120" y="1664208"/>
            <a:ext cx="7498079" cy="461665"/>
          </a:xfrm>
          <a:prstGeom prst="rect">
            <a:avLst/>
          </a:prstGeom>
          <a:noFill/>
        </p:spPr>
        <p:txBody>
          <a:bodyPr wrap="square" lIns="73152" rIns="73152">
            <a:spAutoFit/>
          </a:bodyPr>
          <a:lstStyle/>
          <a:p>
            <a:pPr algn="l">
              <a:defRPr sz="1500" b="0">
                <a:solidFill>
                  <a:srgbClr val="252B33"/>
                </a:solidFill>
                <a:latin typeface="Aptos"/>
              </a:defRPr>
            </a:pPr>
            <a:r>
              <a:rPr sz="2400" dirty="0"/>
              <a:t>Investigate clues that reveal text type.</a:t>
            </a:r>
          </a:p>
        </p:txBody>
      </p:sp>
      <p:sp>
        <p:nvSpPr>
          <p:cNvPr id="11" name="Rounded Rectangle 10"/>
          <p:cNvSpPr/>
          <p:nvPr/>
        </p:nvSpPr>
        <p:spPr>
          <a:xfrm>
            <a:off x="914400" y="2404872"/>
            <a:ext cx="2011680" cy="384048"/>
          </a:xfrm>
          <a:prstGeom prst="roundRect">
            <a:avLst/>
          </a:prstGeom>
          <a:solidFill>
            <a:srgbClr val="FCF0D5"/>
          </a:solidFill>
          <a:ln w="12700">
            <a:solidFill>
              <a:srgbClr val="FCF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41832" y="2478024"/>
            <a:ext cx="1956816" cy="461665"/>
          </a:xfrm>
          <a:prstGeom prst="rect">
            <a:avLst/>
          </a:prstGeom>
          <a:noFill/>
        </p:spPr>
        <p:txBody>
          <a:bodyPr wrap="square" lIns="73152" rIns="73152">
            <a:spAutoFit/>
          </a:bodyPr>
          <a:lstStyle/>
          <a:p>
            <a:pPr algn="ctr">
              <a:defRPr sz="1000" b="1">
                <a:solidFill>
                  <a:srgbClr val="F0B248"/>
                </a:solidFill>
                <a:latin typeface="Aptos"/>
              </a:defRPr>
            </a:pPr>
            <a:r>
              <a:rPr sz="2400" dirty="0"/>
              <a:t>ACQUIRING</a:t>
            </a:r>
          </a:p>
        </p:txBody>
      </p:sp>
      <p:sp>
        <p:nvSpPr>
          <p:cNvPr id="13" name="TextBox 12"/>
          <p:cNvSpPr txBox="1"/>
          <p:nvPr/>
        </p:nvSpPr>
        <p:spPr>
          <a:xfrm>
            <a:off x="3246120" y="2468879"/>
            <a:ext cx="7498079" cy="461665"/>
          </a:xfrm>
          <a:prstGeom prst="rect">
            <a:avLst/>
          </a:prstGeom>
          <a:noFill/>
        </p:spPr>
        <p:txBody>
          <a:bodyPr wrap="square" lIns="73152" rIns="73152">
            <a:spAutoFit/>
          </a:bodyPr>
          <a:lstStyle/>
          <a:p>
            <a:pPr algn="l">
              <a:defRPr sz="1500" b="0">
                <a:solidFill>
                  <a:srgbClr val="252B33"/>
                </a:solidFill>
                <a:latin typeface="Aptos"/>
              </a:defRPr>
            </a:pPr>
            <a:r>
              <a:rPr sz="2400" dirty="0"/>
              <a:t>Learn key concepts, vocabulary and features.</a:t>
            </a:r>
          </a:p>
        </p:txBody>
      </p:sp>
      <p:sp>
        <p:nvSpPr>
          <p:cNvPr id="14" name="Rounded Rectangle 13"/>
          <p:cNvSpPr/>
          <p:nvPr/>
        </p:nvSpPr>
        <p:spPr>
          <a:xfrm>
            <a:off x="914400" y="3209544"/>
            <a:ext cx="2011680" cy="384048"/>
          </a:xfrm>
          <a:prstGeom prst="roundRect">
            <a:avLst/>
          </a:prstGeom>
          <a:solidFill>
            <a:srgbClr val="E1F2F0"/>
          </a:solidFill>
          <a:ln w="12700">
            <a:solidFill>
              <a:srgbClr val="E1F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41832" y="3282696"/>
            <a:ext cx="1956816" cy="461665"/>
          </a:xfrm>
          <a:prstGeom prst="rect">
            <a:avLst/>
          </a:prstGeom>
          <a:noFill/>
        </p:spPr>
        <p:txBody>
          <a:bodyPr wrap="square" lIns="73152" rIns="73152">
            <a:spAutoFit/>
          </a:bodyPr>
          <a:lstStyle/>
          <a:p>
            <a:pPr algn="ctr">
              <a:defRPr sz="1000" b="1">
                <a:solidFill>
                  <a:srgbClr val="22918F"/>
                </a:solidFill>
                <a:latin typeface="Aptos"/>
              </a:defRPr>
            </a:pPr>
            <a:r>
              <a:rPr sz="2400" dirty="0"/>
              <a:t>DISCUSSING</a:t>
            </a:r>
          </a:p>
        </p:txBody>
      </p:sp>
      <p:sp>
        <p:nvSpPr>
          <p:cNvPr id="16" name="TextBox 15"/>
          <p:cNvSpPr txBox="1"/>
          <p:nvPr/>
        </p:nvSpPr>
        <p:spPr>
          <a:xfrm>
            <a:off x="3246120" y="3273551"/>
            <a:ext cx="7498079" cy="461665"/>
          </a:xfrm>
          <a:prstGeom prst="rect">
            <a:avLst/>
          </a:prstGeom>
          <a:noFill/>
        </p:spPr>
        <p:txBody>
          <a:bodyPr wrap="square" lIns="73152" rIns="73152">
            <a:spAutoFit/>
          </a:bodyPr>
          <a:lstStyle/>
          <a:p>
            <a:pPr algn="l">
              <a:defRPr sz="1500" b="0">
                <a:solidFill>
                  <a:srgbClr val="252B33"/>
                </a:solidFill>
                <a:latin typeface="Aptos"/>
              </a:defRPr>
            </a:pPr>
            <a:r>
              <a:rPr sz="2400" dirty="0"/>
              <a:t>Justify choices with a partner.</a:t>
            </a:r>
          </a:p>
        </p:txBody>
      </p:sp>
      <p:sp>
        <p:nvSpPr>
          <p:cNvPr id="17" name="Rounded Rectangle 16"/>
          <p:cNvSpPr/>
          <p:nvPr/>
        </p:nvSpPr>
        <p:spPr>
          <a:xfrm>
            <a:off x="914400" y="4014216"/>
            <a:ext cx="2011680" cy="384048"/>
          </a:xfrm>
          <a:prstGeom prst="roundRect">
            <a:avLst/>
          </a:prstGeom>
          <a:solidFill>
            <a:srgbClr val="FCF0D5"/>
          </a:solidFill>
          <a:ln w="12700">
            <a:solidFill>
              <a:srgbClr val="FCF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41832" y="4087368"/>
            <a:ext cx="1956816" cy="461665"/>
          </a:xfrm>
          <a:prstGeom prst="rect">
            <a:avLst/>
          </a:prstGeom>
          <a:noFill/>
        </p:spPr>
        <p:txBody>
          <a:bodyPr wrap="square" lIns="73152" rIns="73152">
            <a:spAutoFit/>
          </a:bodyPr>
          <a:lstStyle/>
          <a:p>
            <a:pPr algn="ctr">
              <a:defRPr sz="1000" b="1">
                <a:solidFill>
                  <a:srgbClr val="F0B248"/>
                </a:solidFill>
                <a:latin typeface="Aptos"/>
              </a:defRPr>
            </a:pPr>
            <a:r>
              <a:rPr sz="2400" dirty="0"/>
              <a:t>PRODUCING</a:t>
            </a:r>
          </a:p>
        </p:txBody>
      </p:sp>
      <p:sp>
        <p:nvSpPr>
          <p:cNvPr id="19" name="TextBox 18"/>
          <p:cNvSpPr txBox="1"/>
          <p:nvPr/>
        </p:nvSpPr>
        <p:spPr>
          <a:xfrm>
            <a:off x="3246120" y="4078224"/>
            <a:ext cx="7498079" cy="461665"/>
          </a:xfrm>
          <a:prstGeom prst="rect">
            <a:avLst/>
          </a:prstGeom>
          <a:noFill/>
        </p:spPr>
        <p:txBody>
          <a:bodyPr wrap="square" lIns="73152" rIns="73152">
            <a:spAutoFit/>
          </a:bodyPr>
          <a:lstStyle/>
          <a:p>
            <a:pPr algn="l">
              <a:defRPr sz="1500" b="0">
                <a:solidFill>
                  <a:srgbClr val="252B33"/>
                </a:solidFill>
                <a:latin typeface="Aptos"/>
              </a:defRPr>
            </a:pPr>
            <a:r>
              <a:rPr sz="2400" dirty="0"/>
              <a:t>Write evidence-based responses.</a:t>
            </a:r>
          </a:p>
        </p:txBody>
      </p:sp>
      <p:sp>
        <p:nvSpPr>
          <p:cNvPr id="20" name="Rounded Rectangle 19"/>
          <p:cNvSpPr/>
          <p:nvPr/>
        </p:nvSpPr>
        <p:spPr>
          <a:xfrm>
            <a:off x="311637" y="4818888"/>
            <a:ext cx="2614443" cy="493776"/>
          </a:xfrm>
          <a:prstGeom prst="roundRect">
            <a:avLst/>
          </a:prstGeom>
          <a:solidFill>
            <a:srgbClr val="E1F2F0"/>
          </a:solidFill>
          <a:ln w="12700">
            <a:solidFill>
              <a:srgbClr val="E1F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84205" y="4892040"/>
            <a:ext cx="2614443" cy="461665"/>
          </a:xfrm>
          <a:prstGeom prst="rect">
            <a:avLst/>
          </a:prstGeom>
          <a:noFill/>
        </p:spPr>
        <p:txBody>
          <a:bodyPr wrap="square" lIns="73152" rIns="73152">
            <a:spAutoFit/>
          </a:bodyPr>
          <a:lstStyle/>
          <a:p>
            <a:pPr algn="ctr">
              <a:defRPr sz="1000" b="1">
                <a:solidFill>
                  <a:srgbClr val="22918F"/>
                </a:solidFill>
                <a:latin typeface="Aptos"/>
              </a:defRPr>
            </a:pPr>
            <a:r>
              <a:rPr sz="2400" dirty="0"/>
              <a:t>COLLABORATING</a:t>
            </a:r>
          </a:p>
        </p:txBody>
      </p:sp>
      <p:sp>
        <p:nvSpPr>
          <p:cNvPr id="22" name="TextBox 21"/>
          <p:cNvSpPr txBox="1"/>
          <p:nvPr/>
        </p:nvSpPr>
        <p:spPr>
          <a:xfrm>
            <a:off x="3246120" y="4882896"/>
            <a:ext cx="7498079" cy="461665"/>
          </a:xfrm>
          <a:prstGeom prst="rect">
            <a:avLst/>
          </a:prstGeom>
          <a:noFill/>
        </p:spPr>
        <p:txBody>
          <a:bodyPr wrap="square" lIns="73152" rIns="73152">
            <a:spAutoFit/>
          </a:bodyPr>
          <a:lstStyle/>
          <a:p>
            <a:pPr algn="l">
              <a:defRPr sz="1500" b="0">
                <a:solidFill>
                  <a:srgbClr val="252B33"/>
                </a:solidFill>
                <a:latin typeface="Aptos"/>
              </a:defRPr>
            </a:pPr>
            <a:r>
              <a:rPr sz="2400" dirty="0"/>
              <a:t>Compare interpretations and evidence.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72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1143000"/>
            <a:ext cx="10515600" cy="523220"/>
          </a:xfrm>
          <a:prstGeom prst="rect">
            <a:avLst/>
          </a:prstGeom>
          <a:noFill/>
        </p:spPr>
        <p:txBody>
          <a:bodyPr wrap="square" lIns="73152" rIns="73152">
            <a:spAutoFit/>
          </a:bodyPr>
          <a:lstStyle/>
          <a:p>
            <a:pPr algn="ctr">
              <a:defRPr sz="1700" b="1">
                <a:solidFill>
                  <a:srgbClr val="F0B248"/>
                </a:solidFill>
                <a:latin typeface="Aptos"/>
              </a:defRPr>
            </a:pPr>
            <a:r>
              <a:rPr sz="2800" dirty="0"/>
              <a:t>THE CHECKPOINT READER’S RULE</a:t>
            </a:r>
          </a:p>
        </p:txBody>
      </p:sp>
      <p:sp>
        <p:nvSpPr>
          <p:cNvPr id="4" name="TextBox 3"/>
          <p:cNvSpPr txBox="1"/>
          <p:nvPr/>
        </p:nvSpPr>
        <p:spPr>
          <a:xfrm>
            <a:off x="914400" y="1965960"/>
            <a:ext cx="10332720" cy="1828800"/>
          </a:xfrm>
          <a:prstGeom prst="rect">
            <a:avLst/>
          </a:prstGeom>
          <a:noFill/>
        </p:spPr>
        <p:txBody>
          <a:bodyPr wrap="square" lIns="73152" rIns="73152">
            <a:spAutoFit/>
          </a:bodyPr>
          <a:lstStyle/>
          <a:p>
            <a:pPr algn="ctr">
              <a:defRPr sz="3400" b="1">
                <a:solidFill>
                  <a:srgbClr val="FFFFFF"/>
                </a:solidFill>
                <a:latin typeface="Aptos"/>
              </a:defRPr>
            </a:pPr>
            <a:r>
              <a:t>DON’T GUESS.</a:t>
            </a:r>
            <a:br/>
            <a:r>
              <a:t>PROVE IT FROM THE TEXT.</a:t>
            </a:r>
          </a:p>
        </p:txBody>
      </p:sp>
      <p:sp>
        <p:nvSpPr>
          <p:cNvPr id="5" name="TextBox 4"/>
          <p:cNvSpPr txBox="1"/>
          <p:nvPr/>
        </p:nvSpPr>
        <p:spPr>
          <a:xfrm>
            <a:off x="1097280" y="4251960"/>
            <a:ext cx="9966960" cy="523220"/>
          </a:xfrm>
          <a:prstGeom prst="rect">
            <a:avLst/>
          </a:prstGeom>
          <a:noFill/>
        </p:spPr>
        <p:txBody>
          <a:bodyPr wrap="square" lIns="73152" rIns="73152">
            <a:spAutoFit/>
          </a:bodyPr>
          <a:lstStyle/>
          <a:p>
            <a:pPr algn="ctr">
              <a:defRPr sz="1800" b="0">
                <a:solidFill>
                  <a:srgbClr val="DAE2EF"/>
                </a:solidFill>
                <a:latin typeface="Aptos"/>
              </a:defRPr>
            </a:pPr>
            <a:r>
              <a:rPr sz="2800" dirty="0"/>
              <a:t>Purpose • Structure • Language • Evidence</a:t>
            </a:r>
          </a:p>
        </p:txBody>
      </p:sp>
      <p:sp>
        <p:nvSpPr>
          <p:cNvPr id="6" name="TextBox 5"/>
          <p:cNvSpPr txBox="1"/>
          <p:nvPr/>
        </p:nvSpPr>
        <p:spPr>
          <a:xfrm>
            <a:off x="914400" y="5806440"/>
            <a:ext cx="10332720" cy="365760"/>
          </a:xfrm>
          <a:prstGeom prst="rect">
            <a:avLst/>
          </a:prstGeom>
          <a:noFill/>
        </p:spPr>
        <p:txBody>
          <a:bodyPr wrap="square" lIns="73152" rIns="73152">
            <a:spAutoFit/>
          </a:bodyPr>
          <a:lstStyle/>
          <a:p>
            <a:pPr algn="ctr">
              <a:defRPr sz="1300" b="1">
                <a:solidFill>
                  <a:srgbClr val="22918F"/>
                </a:solidFill>
                <a:latin typeface="Aptos"/>
              </a:defRPr>
            </a:pPr>
            <a:r>
              <a:t>Year 6 English • Fiction vs Non-Fiction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57</TotalTime>
  <Words>2516</Words>
  <Application>Microsoft Office PowerPoint</Application>
  <PresentationFormat>Widescreen</PresentationFormat>
  <Paragraphs>411</Paragraphs>
  <Slides>34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Rozan Zakaria@meis-eg.com</dc:creator>
  <cp:keywords/>
  <dc:description>generated using python-pptx</dc:description>
  <cp:lastModifiedBy>Rozan Zakaria@meis-eg.com</cp:lastModifiedBy>
  <cp:revision>4</cp:revision>
  <dcterms:created xsi:type="dcterms:W3CDTF">2013-01-27T09:14:16Z</dcterms:created>
  <dcterms:modified xsi:type="dcterms:W3CDTF">2026-09-21T07:03:09Z</dcterms:modified>
  <cp:category/>
</cp:coreProperties>
</file>