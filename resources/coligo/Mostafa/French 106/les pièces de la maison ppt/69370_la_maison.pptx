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0" r:id="rId6"/>
    <p:sldMasterId id="2147483732" r:id="rId7"/>
    <p:sldMasterId id="2147483744" r:id="rId8"/>
  </p:sldMasterIdLst>
  <p:notesMasterIdLst>
    <p:notesMasterId r:id="rId36"/>
  </p:notesMasterIdLst>
  <p:sldIdLst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3" r:id="rId23"/>
    <p:sldId id="274" r:id="rId24"/>
    <p:sldId id="275" r:id="rId25"/>
    <p:sldId id="284" r:id="rId26"/>
    <p:sldId id="280" r:id="rId27"/>
    <p:sldId id="283" r:id="rId28"/>
    <p:sldId id="281" r:id="rId29"/>
    <p:sldId id="282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64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42FE1B-491C-4E93-9E56-4B8AC30DB843}" type="datetimeFigureOut">
              <a:rPr lang="es-ES" smtClean="0"/>
              <a:pPr/>
              <a:t>20/02/2017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A0ABF5-081A-4625-A881-1866EA321F40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845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90A12-0AB4-4338-9E72-7C3435B61380}" type="slidenum">
              <a:rPr lang="es-ES" smtClean="0">
                <a:solidFill>
                  <a:prstClr val="black"/>
                </a:solidFill>
              </a:rPr>
              <a:pPr/>
              <a:t>12</a:t>
            </a:fld>
            <a:endParaRPr lang="es-E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90A12-0AB4-4338-9E72-7C3435B61380}" type="slidenum">
              <a:rPr lang="es-ES">
                <a:solidFill>
                  <a:prstClr val="black"/>
                </a:solidFill>
              </a:rPr>
              <a:pPr/>
              <a:t>13</a:t>
            </a:fld>
            <a:endParaRPr lang="es-E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90A12-0AB4-4338-9E72-7C3435B61380}" type="slidenum">
              <a:rPr lang="es-ES">
                <a:solidFill>
                  <a:prstClr val="black"/>
                </a:solidFill>
              </a:rPr>
              <a:pPr/>
              <a:t>14</a:t>
            </a:fld>
            <a:endParaRPr lang="es-E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90A12-0AB4-4338-9E72-7C3435B61380}" type="slidenum">
              <a:rPr lang="es-ES">
                <a:solidFill>
                  <a:prstClr val="black"/>
                </a:solidFill>
              </a:rPr>
              <a:pPr/>
              <a:t>15</a:t>
            </a:fld>
            <a:endParaRPr lang="es-E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90A12-0AB4-4338-9E72-7C3435B61380}" type="slidenum">
              <a:rPr lang="es-ES">
                <a:solidFill>
                  <a:prstClr val="black"/>
                </a:solidFill>
              </a:rPr>
              <a:pPr/>
              <a:t>16</a:t>
            </a:fld>
            <a:endParaRPr lang="es-E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A0ABF5-081A-4625-A881-1866EA321F40}" type="slidenum">
              <a:rPr lang="es-ES" smtClean="0"/>
              <a:pPr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8996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DE3B-4761-4C6E-B375-D7DEC904930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20/02/2017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A61C-573D-424A-AB66-395020ED087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DE3B-4761-4C6E-B375-D7DEC904930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20/02/2017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A61C-573D-424A-AB66-395020ED087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DE3B-4761-4C6E-B375-D7DEC904930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20/02/2017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A61C-573D-424A-AB66-395020ED087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DE3B-4761-4C6E-B375-D7DEC904930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20/02/2017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A61C-573D-424A-AB66-395020ED087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DE3B-4761-4C6E-B375-D7DEC904930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20/02/2017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A61C-573D-424A-AB66-395020ED087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DE3B-4761-4C6E-B375-D7DEC904930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20/02/2017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A61C-573D-424A-AB66-395020ED087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DE3B-4761-4C6E-B375-D7DEC904930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20/02/2017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A61C-573D-424A-AB66-395020ED087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DE3B-4761-4C6E-B375-D7DEC904930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20/02/2017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A61C-573D-424A-AB66-395020ED087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DE3B-4761-4C6E-B375-D7DEC904930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20/02/2017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A61C-573D-424A-AB66-395020ED087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DE3B-4761-4C6E-B375-D7DEC904930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20/02/2017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A61C-573D-424A-AB66-395020ED087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6DE3B-4761-4C6E-B375-D7DEC904930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20/02/2017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4A61C-573D-424A-AB66-395020ED087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3F1A3-B7D7-4548-838E-5ED732B1FC4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069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61FB0-5D7C-4807-AC6B-BB8D17B351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3268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6AA5B-779D-4EF9-BEF4-F402C2588233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948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448199-63DB-4CC9-9AF3-ACF0960997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530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A9DB7C-D0F3-4331-9C56-12DAD0B27A61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254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0C1A5-CE25-43CE-B42B-AAC658E8B832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5900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29406-4DF9-44C2-9CA1-DBF44314E8A7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55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CE7C0-BE6E-43A3-924D-43F1FB25BB5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020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84159-58FF-4CE0-AF72-5A8B381BF15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5471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40B82-1E01-4824-AC2C-104C7F2266C0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227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9FF51-0E4D-4C6A-A0CA-1D33C5A3125F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6775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3F1A3-B7D7-4548-838E-5ED732B1FC4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6366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61FB0-5D7C-4807-AC6B-BB8D17B351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069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6AA5B-779D-4EF9-BEF4-F402C2588233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7116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448199-63DB-4CC9-9AF3-ACF0960997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503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A9DB7C-D0F3-4331-9C56-12DAD0B27A61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3598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0C1A5-CE25-43CE-B42B-AAC658E8B832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4019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29406-4DF9-44C2-9CA1-DBF44314E8A7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0314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CE7C0-BE6E-43A3-924D-43F1FB25BB5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200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84159-58FF-4CE0-AF72-5A8B381BF15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009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40B82-1E01-4824-AC2C-104C7F2266C0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27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9FF51-0E4D-4C6A-A0CA-1D33C5A3125F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2365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3F1A3-B7D7-4548-838E-5ED732B1FC4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3640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61FB0-5D7C-4807-AC6B-BB8D17B351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34977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6AA5B-779D-4EF9-BEF4-F402C2588233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0136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448199-63DB-4CC9-9AF3-ACF0960997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4099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A9DB7C-D0F3-4331-9C56-12DAD0B27A61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5636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0C1A5-CE25-43CE-B42B-AAC658E8B832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7865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29406-4DF9-44C2-9CA1-DBF44314E8A7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0040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CE7C0-BE6E-43A3-924D-43F1FB25BB5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2123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84159-58FF-4CE0-AF72-5A8B381BF15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95465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40B82-1E01-4824-AC2C-104C7F2266C0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922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9FF51-0E4D-4C6A-A0CA-1D33C5A3125F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8251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3F1A3-B7D7-4548-838E-5ED732B1FC4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0443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61FB0-5D7C-4807-AC6B-BB8D17B351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82745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6AA5B-779D-4EF9-BEF4-F402C2588233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4263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448199-63DB-4CC9-9AF3-ACF0960997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0020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A9DB7C-D0F3-4331-9C56-12DAD0B27A61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563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0C1A5-CE25-43CE-B42B-AAC658E8B832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5272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29406-4DF9-44C2-9CA1-DBF44314E8A7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0292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CE7C0-BE6E-43A3-924D-43F1FB25BB5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5034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84159-58FF-4CE0-AF72-5A8B381BF15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147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40B82-1E01-4824-AC2C-104C7F2266C0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49316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9FF51-0E4D-4C6A-A0CA-1D33C5A3125F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21861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3F1A3-B7D7-4548-838E-5ED732B1FC4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2582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61FB0-5D7C-4807-AC6B-BB8D17B351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7479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6AA5B-779D-4EF9-BEF4-F402C2588233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8021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448199-63DB-4CC9-9AF3-ACF0960997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8578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A9DB7C-D0F3-4331-9C56-12DAD0B27A61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949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0C1A5-CE25-43CE-B42B-AAC658E8B832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52997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29406-4DF9-44C2-9CA1-DBF44314E8A7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7129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CE7C0-BE6E-43A3-924D-43F1FB25BB5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49983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84159-58FF-4CE0-AF72-5A8B381BF15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58220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40B82-1E01-4824-AC2C-104C7F2266C0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2815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9FF51-0E4D-4C6A-A0CA-1D33C5A3125F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93676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3F1A3-B7D7-4548-838E-5ED732B1FC4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80785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61FB0-5D7C-4807-AC6B-BB8D17B351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86541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6AA5B-779D-4EF9-BEF4-F402C2588233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88528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448199-63DB-4CC9-9AF3-ACF0960997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377182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A9DB7C-D0F3-4331-9C56-12DAD0B27A61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80854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0C1A5-CE25-43CE-B42B-AAC658E8B832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6712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29406-4DF9-44C2-9CA1-DBF44314E8A7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25589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CE7C0-BE6E-43A3-924D-43F1FB25BB5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8304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84159-58FF-4CE0-AF72-5A8B381BF15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61178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40B82-1E01-4824-AC2C-104C7F2266C0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46202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9FF51-0E4D-4C6A-A0CA-1D33C5A3125F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37375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3F1A3-B7D7-4548-838E-5ED732B1FC4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8420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61FB0-5D7C-4807-AC6B-BB8D17B351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1630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6AA5B-779D-4EF9-BEF4-F402C2588233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36747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448199-63DB-4CC9-9AF3-ACF0960997F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24826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A9DB7C-D0F3-4331-9C56-12DAD0B27A61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89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0C1A5-CE25-43CE-B42B-AAC658E8B832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92473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529406-4DF9-44C2-9CA1-DBF44314E8A7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0411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FCE7C0-BE6E-43A3-924D-43F1FB25BB5B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42499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D84159-58FF-4CE0-AF72-5A8B381BF15E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42421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40B82-1E01-4824-AC2C-104C7F2266C0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60227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9FF51-0E4D-4C6A-A0CA-1D33C5A3125F}" type="slidenum">
              <a:rPr lang="es-ES">
                <a:solidFill>
                  <a:srgbClr val="000000"/>
                </a:solidFill>
              </a:rPr>
              <a:pPr/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363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6DE3B-4761-4C6E-B375-D7DEC904930D}" type="datetimeFigureOut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20/02/2017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4A61C-573D-424A-AB66-395020ED0878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E6D6466-620C-4A93-9A91-237E97B2FB92}" type="slidenum">
              <a:rPr lang="es-E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15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E6D6466-620C-4A93-9A91-237E97B2FB92}" type="slidenum">
              <a:rPr lang="es-E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92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E6D6466-620C-4A93-9A91-237E97B2FB92}" type="slidenum">
              <a:rPr lang="es-E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253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E6D6466-620C-4A93-9A91-237E97B2FB92}" type="slidenum">
              <a:rPr lang="es-E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255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E6D6466-620C-4A93-9A91-237E97B2FB92}" type="slidenum">
              <a:rPr lang="es-E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4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E6D6466-620C-4A93-9A91-237E97B2FB92}" type="slidenum">
              <a:rPr lang="es-E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48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s-ES" dirty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E6D6466-620C-4A93-9A91-237E97B2FB92}" type="slidenum">
              <a:rPr lang="es-E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s-E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62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gif"/><Relationship Id="rId3" Type="http://schemas.openxmlformats.org/officeDocument/2006/relationships/audio" Target="../media/audio2.wav"/><Relationship Id="rId7" Type="http://schemas.openxmlformats.org/officeDocument/2006/relationships/audio" Target="../media/audio6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7.xml"/><Relationship Id="rId6" Type="http://schemas.openxmlformats.org/officeDocument/2006/relationships/audio" Target="../media/audio5.wav"/><Relationship Id="rId5" Type="http://schemas.openxmlformats.org/officeDocument/2006/relationships/audio" Target="../media/audio4.wav"/><Relationship Id="rId4" Type="http://schemas.openxmlformats.org/officeDocument/2006/relationships/audio" Target="../media/audio3.wav"/><Relationship Id="rId9" Type="http://schemas.openxmlformats.org/officeDocument/2006/relationships/image" Target="../media/image20.gi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gif"/><Relationship Id="rId3" Type="http://schemas.openxmlformats.org/officeDocument/2006/relationships/audio" Target="../media/audio8.wav"/><Relationship Id="rId7" Type="http://schemas.openxmlformats.org/officeDocument/2006/relationships/image" Target="../media/image21.gif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13.xml"/><Relationship Id="rId6" Type="http://schemas.openxmlformats.org/officeDocument/2006/relationships/audio" Target="../media/audio11.wav"/><Relationship Id="rId5" Type="http://schemas.openxmlformats.org/officeDocument/2006/relationships/audio" Target="../media/audio10.wav"/><Relationship Id="rId4" Type="http://schemas.openxmlformats.org/officeDocument/2006/relationships/audio" Target="../media/audio9.wav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audio" Target="../media/audio18.wav"/><Relationship Id="rId3" Type="http://schemas.openxmlformats.org/officeDocument/2006/relationships/audio" Target="../media/audio13.wav"/><Relationship Id="rId7" Type="http://schemas.openxmlformats.org/officeDocument/2006/relationships/audio" Target="../media/audio17.wav"/><Relationship Id="rId12" Type="http://schemas.openxmlformats.org/officeDocument/2006/relationships/image" Target="../media/image25.gif"/><Relationship Id="rId2" Type="http://schemas.openxmlformats.org/officeDocument/2006/relationships/audio" Target="../media/audio12.wav"/><Relationship Id="rId1" Type="http://schemas.openxmlformats.org/officeDocument/2006/relationships/slideLayout" Target="../slideLayouts/slideLayout46.xml"/><Relationship Id="rId6" Type="http://schemas.openxmlformats.org/officeDocument/2006/relationships/audio" Target="../media/audio16.wav"/><Relationship Id="rId11" Type="http://schemas.openxmlformats.org/officeDocument/2006/relationships/image" Target="../media/image24.png"/><Relationship Id="rId5" Type="http://schemas.openxmlformats.org/officeDocument/2006/relationships/audio" Target="../media/audio15.wav"/><Relationship Id="rId10" Type="http://schemas.openxmlformats.org/officeDocument/2006/relationships/image" Target="../media/image23.gif"/><Relationship Id="rId4" Type="http://schemas.openxmlformats.org/officeDocument/2006/relationships/audio" Target="../media/audio14.wav"/><Relationship Id="rId9" Type="http://schemas.openxmlformats.org/officeDocument/2006/relationships/audio" Target="../media/audio19.wav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gif"/><Relationship Id="rId3" Type="http://schemas.openxmlformats.org/officeDocument/2006/relationships/audio" Target="../media/audio21.wav"/><Relationship Id="rId7" Type="http://schemas.openxmlformats.org/officeDocument/2006/relationships/audio" Target="../media/audio25.wav"/><Relationship Id="rId2" Type="http://schemas.openxmlformats.org/officeDocument/2006/relationships/audio" Target="../media/audio20.wav"/><Relationship Id="rId1" Type="http://schemas.openxmlformats.org/officeDocument/2006/relationships/slideLayout" Target="../slideLayouts/slideLayout24.xml"/><Relationship Id="rId6" Type="http://schemas.openxmlformats.org/officeDocument/2006/relationships/audio" Target="../media/audio24.wav"/><Relationship Id="rId5" Type="http://schemas.openxmlformats.org/officeDocument/2006/relationships/audio" Target="../media/audio23.wav"/><Relationship Id="rId4" Type="http://schemas.openxmlformats.org/officeDocument/2006/relationships/audio" Target="../media/audio22.wav"/><Relationship Id="rId9" Type="http://schemas.openxmlformats.org/officeDocument/2006/relationships/image" Target="../media/image27.gi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gif"/><Relationship Id="rId3" Type="http://schemas.openxmlformats.org/officeDocument/2006/relationships/audio" Target="../media/audio27.wav"/><Relationship Id="rId7" Type="http://schemas.openxmlformats.org/officeDocument/2006/relationships/image" Target="../media/image28.jpeg"/><Relationship Id="rId2" Type="http://schemas.openxmlformats.org/officeDocument/2006/relationships/audio" Target="../media/audio26.wav"/><Relationship Id="rId1" Type="http://schemas.openxmlformats.org/officeDocument/2006/relationships/slideLayout" Target="../slideLayouts/slideLayout35.xml"/><Relationship Id="rId6" Type="http://schemas.openxmlformats.org/officeDocument/2006/relationships/audio" Target="../media/audio30.wav"/><Relationship Id="rId5" Type="http://schemas.openxmlformats.org/officeDocument/2006/relationships/audio" Target="../media/audio29.wav"/><Relationship Id="rId4" Type="http://schemas.openxmlformats.org/officeDocument/2006/relationships/audio" Target="../media/audio28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8.xml"/><Relationship Id="rId5" Type="http://schemas.openxmlformats.org/officeDocument/2006/relationships/image" Target="../media/image20.gif"/><Relationship Id="rId4" Type="http://schemas.openxmlformats.org/officeDocument/2006/relationships/image" Target="../media/image19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audio" Target="../media/audio31.wav"/><Relationship Id="rId1" Type="http://schemas.openxmlformats.org/officeDocument/2006/relationships/slideLayout" Target="../slideLayouts/slideLayout6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audio" Target="../media/audio31.wav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9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audio" Target="../media/audio31.wav"/><Relationship Id="rId1" Type="http://schemas.openxmlformats.org/officeDocument/2006/relationships/slideLayout" Target="../slideLayouts/slideLayout6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31.wav"/><Relationship Id="rId2" Type="http://schemas.openxmlformats.org/officeDocument/2006/relationships/audio" Target="../media/audio18.wav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25.gif"/><Relationship Id="rId5" Type="http://schemas.openxmlformats.org/officeDocument/2006/relationships/image" Target="../media/image24.png"/><Relationship Id="rId4" Type="http://schemas.openxmlformats.org/officeDocument/2006/relationships/image" Target="../media/image2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628800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s-ES" sz="8000" b="1" dirty="0" smtClean="0">
                <a:latin typeface="Comic Sans MS" pitchFamily="66" charset="0"/>
              </a:rPr>
              <a:t>LA MAISON</a:t>
            </a:r>
            <a:endParaRPr lang="es-ES" sz="8000" b="1" dirty="0">
              <a:latin typeface="Comic Sans MS" pitchFamily="66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4" name="Picture 2" descr="http://poster.4teachers.org/imgFileWizard/77942_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28800"/>
            <a:ext cx="9144000" cy="5229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31640"/>
          </a:xfrm>
          <a:solidFill>
            <a:schemeClr val="accent2"/>
          </a:solidFill>
        </p:spPr>
        <p:txBody>
          <a:bodyPr/>
          <a:lstStyle/>
          <a:p>
            <a:r>
              <a:rPr lang="es-ES" b="1" dirty="0" smtClean="0">
                <a:latin typeface="Comic Sans MS" pitchFamily="66" charset="0"/>
              </a:rPr>
              <a:t>LES PIÈCES DE LA MAISON</a:t>
            </a: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4" name="Picture 4" descr="http://www.google.com.tr/url?source=imglanding&amp;ct=img&amp;q=http://3.bp.blogspot.com/-vMRHYLz_hls/TdUPm9DltzI/AAAAAAAAAB0/LtPzYxO0r_s/s1600/House.jpg&amp;sa=X&amp;ei=NiehToiqJ4eG-wbF1umKBQ&amp;ved=0CAwQ8wc&amp;usg=AFQjCNHwl9MUD7vLic2jr1w3nA9rEpyhW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22387"/>
            <a:ext cx="9144000" cy="553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Rectángulo"/>
          <p:cNvSpPr/>
          <p:nvPr/>
        </p:nvSpPr>
        <p:spPr>
          <a:xfrm>
            <a:off x="4067944" y="6453336"/>
            <a:ext cx="1368152" cy="2606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smtClean="0">
                <a:solidFill>
                  <a:prstClr val="black"/>
                </a:solidFill>
                <a:latin typeface="Comic Sans MS" pitchFamily="66" charset="0"/>
              </a:rPr>
              <a:t>L’ENTRÉE</a:t>
            </a:r>
            <a:endParaRPr lang="es-ES" b="1" dirty="0">
              <a:solidFill>
                <a:prstClr val="black"/>
              </a:solidFill>
              <a:latin typeface="Comic Sans MS" pitchFamily="66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6084168" y="6453336"/>
            <a:ext cx="194421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smtClean="0">
                <a:solidFill>
                  <a:prstClr val="black"/>
                </a:solidFill>
                <a:latin typeface="Comic Sans MS" pitchFamily="66" charset="0"/>
              </a:rPr>
              <a:t>LA CUISINE</a:t>
            </a:r>
            <a:endParaRPr lang="es-ES" b="1" dirty="0">
              <a:solidFill>
                <a:prstClr val="black"/>
              </a:solidFill>
              <a:latin typeface="Comic Sans MS" pitchFamily="66" charset="0"/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1403648" y="6453336"/>
            <a:ext cx="1872208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smtClean="0">
                <a:solidFill>
                  <a:prstClr val="black"/>
                </a:solidFill>
                <a:latin typeface="Comic Sans MS" pitchFamily="66" charset="0"/>
              </a:rPr>
              <a:t>LE SALON</a:t>
            </a:r>
            <a:endParaRPr lang="es-ES" b="1" dirty="0">
              <a:solidFill>
                <a:prstClr val="black"/>
              </a:solidFill>
              <a:latin typeface="Comic Sans MS" pitchFamily="66" charset="0"/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1331640" y="4869160"/>
            <a:ext cx="1944216" cy="2880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smtClean="0">
                <a:solidFill>
                  <a:prstClr val="black"/>
                </a:solidFill>
                <a:latin typeface="Comic Sans MS" pitchFamily="66" charset="0"/>
              </a:rPr>
              <a:t>LA CHAMBRE</a:t>
            </a:r>
            <a:endParaRPr lang="es-ES" b="1" dirty="0">
              <a:solidFill>
                <a:prstClr val="black"/>
              </a:solidFill>
              <a:latin typeface="Comic Sans MS" pitchFamily="66" charset="0"/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5940152" y="4797152"/>
            <a:ext cx="2736304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smtClean="0">
                <a:solidFill>
                  <a:prstClr val="black"/>
                </a:solidFill>
                <a:latin typeface="Comic Sans MS" pitchFamily="66" charset="0"/>
              </a:rPr>
              <a:t>LA SALLE DE BAINS</a:t>
            </a:r>
            <a:endParaRPr lang="es-ES" b="1" dirty="0">
              <a:solidFill>
                <a:prstClr val="black"/>
              </a:solidFill>
              <a:latin typeface="Comic Sans MS" pitchFamily="66" charset="0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3851920" y="4509120"/>
            <a:ext cx="1584176" cy="6480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smtClean="0">
                <a:solidFill>
                  <a:prstClr val="black"/>
                </a:solidFill>
                <a:latin typeface="Comic Sans MS" pitchFamily="66" charset="0"/>
              </a:rPr>
              <a:t>LES ESCALIERS</a:t>
            </a:r>
            <a:endParaRPr lang="es-ES" b="1" dirty="0">
              <a:solidFill>
                <a:prstClr val="black"/>
              </a:solidFill>
              <a:latin typeface="Comic Sans MS" pitchFamily="66" charset="0"/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1613622" y="1844824"/>
            <a:ext cx="1260140" cy="3326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 smtClean="0">
                <a:solidFill>
                  <a:prstClr val="black"/>
                </a:solidFill>
                <a:latin typeface="Comic Sans MS" pitchFamily="66" charset="0"/>
              </a:rPr>
              <a:t>Le </a:t>
            </a:r>
            <a:r>
              <a:rPr lang="es-ES" b="1" dirty="0" err="1" smtClean="0">
                <a:solidFill>
                  <a:prstClr val="black"/>
                </a:solidFill>
                <a:latin typeface="Comic Sans MS" pitchFamily="66" charset="0"/>
              </a:rPr>
              <a:t>toit</a:t>
            </a:r>
            <a:endParaRPr lang="es-ES" b="1" dirty="0">
              <a:solidFill>
                <a:prstClr val="black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65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r>
              <a:rPr lang="en-US" b="1" dirty="0" err="1" smtClean="0">
                <a:latin typeface="Comic Sans MS" pitchFamily="66" charset="0"/>
              </a:rPr>
              <a:t>L’entrée</a:t>
            </a:r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Picture 16" descr="http://hookedonhouses.net/wp-content/uploads/2010/05/Daryl-Hall-house-3-611x48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01328"/>
            <a:ext cx="8208912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rgbClr val="7AE1F6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r>
              <a:rPr lang="en-US" b="1" dirty="0" smtClean="0">
                <a:latin typeface="Comic Sans MS" pitchFamily="66" charset="0"/>
              </a:rPr>
              <a:t>Le salon</a:t>
            </a:r>
            <a:br>
              <a:rPr lang="en-US" b="1" dirty="0" smtClean="0">
                <a:latin typeface="Comic Sans MS" pitchFamily="66" charset="0"/>
              </a:rPr>
            </a:b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Picture 22" descr="https://encrypted-tbn0.gstatic.com/images?q=tbn:ANd9GcSLPabuZzgNA-m_s6l_Dxbel12Xoa7KyjqDKjPo2RXRHLGZ-24K4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8280920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r>
              <a:rPr lang="en-US" b="1" dirty="0" smtClean="0">
                <a:latin typeface="Comic Sans MS" pitchFamily="66" charset="0"/>
              </a:rPr>
              <a:t>La </a:t>
            </a:r>
            <a:r>
              <a:rPr lang="en-US" b="1" dirty="0" err="1" smtClean="0">
                <a:latin typeface="Comic Sans MS" pitchFamily="66" charset="0"/>
              </a:rPr>
              <a:t>salle</a:t>
            </a:r>
            <a:r>
              <a:rPr lang="en-US" b="1" dirty="0" smtClean="0">
                <a:latin typeface="Comic Sans MS" pitchFamily="66" charset="0"/>
              </a:rPr>
              <a:t> à manger</a:t>
            </a:r>
            <a:br>
              <a:rPr lang="en-US" b="1" dirty="0" smtClean="0">
                <a:latin typeface="Comic Sans MS" pitchFamily="66" charset="0"/>
              </a:rPr>
            </a:b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Picture 10" descr="https://encrypted-tbn2.gstatic.com/images?q=tbn:ANd9GcTL-vBqbteFuF3zZPjjNVkkHHz1wwgDlZfsRvjxQNDgdjc1k1TV9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00808"/>
            <a:ext cx="8208912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b="1" dirty="0" smtClean="0">
                <a:latin typeface="Comic Sans MS" pitchFamily="66" charset="0"/>
              </a:rPr>
              <a:t>La cuisine</a:t>
            </a: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3010" name="Picture 2" descr="http://img4-2.coastalliving.timeinc.net/i/2003/03/larcher-kitchen-l.jpg?400:4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8208912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r>
              <a:rPr lang="en-US" b="1" dirty="0" smtClean="0">
                <a:latin typeface="Comic Sans MS" pitchFamily="66" charset="0"/>
              </a:rPr>
              <a:t>Les </a:t>
            </a:r>
            <a:r>
              <a:rPr lang="en-US" b="1" dirty="0" err="1" smtClean="0">
                <a:latin typeface="Comic Sans MS" pitchFamily="66" charset="0"/>
              </a:rPr>
              <a:t>escaliers</a:t>
            </a:r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Picture 24" descr="http://www.atccontractors.co.uk/images/recent_projects/stairs/full_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8136904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r>
              <a:rPr lang="en-US" b="1" dirty="0" smtClean="0">
                <a:latin typeface="Comic Sans MS" pitchFamily="66" charset="0"/>
              </a:rPr>
              <a:t>Le </a:t>
            </a:r>
            <a:r>
              <a:rPr lang="en-US" b="1" dirty="0" err="1" smtClean="0">
                <a:latin typeface="Comic Sans MS" pitchFamily="66" charset="0"/>
              </a:rPr>
              <a:t>couloir</a:t>
            </a:r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Picture 8" descr="https://encrypted-tbn3.gstatic.com/images?q=tbn:ANd9GcT2aEqMf5oO3YnJLnlC6pjBH-wqS3RGgc5RjtxfCp7gote9sei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8136904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r>
              <a:rPr lang="en-US" b="1" dirty="0" smtClean="0">
                <a:latin typeface="Comic Sans MS" pitchFamily="66" charset="0"/>
              </a:rPr>
              <a:t>La </a:t>
            </a:r>
            <a:r>
              <a:rPr lang="en-US" b="1" dirty="0" err="1" smtClean="0">
                <a:latin typeface="Comic Sans MS" pitchFamily="66" charset="0"/>
              </a:rPr>
              <a:t>chambre</a:t>
            </a:r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Picture 6" descr="https://encrypted-tbn1.gstatic.com/images?q=tbn:ANd9GcQajm4bQzpLe1lQTYn0I9brrx0cHJUY1q_HNd66iu58MdliM-M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8208912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r>
              <a:rPr lang="en-US" b="1" dirty="0" smtClean="0">
                <a:latin typeface="Comic Sans MS" pitchFamily="66" charset="0"/>
              </a:rPr>
              <a:t>La </a:t>
            </a:r>
            <a:r>
              <a:rPr lang="en-US" b="1" dirty="0" err="1" smtClean="0">
                <a:latin typeface="Comic Sans MS" pitchFamily="66" charset="0"/>
              </a:rPr>
              <a:t>salle</a:t>
            </a:r>
            <a:r>
              <a:rPr lang="en-US" b="1" dirty="0" smtClean="0">
                <a:latin typeface="Comic Sans MS" pitchFamily="66" charset="0"/>
              </a:rPr>
              <a:t> de </a:t>
            </a:r>
            <a:r>
              <a:rPr lang="en-US" b="1" dirty="0" err="1" smtClean="0">
                <a:latin typeface="Comic Sans MS" pitchFamily="66" charset="0"/>
              </a:rPr>
              <a:t>bains</a:t>
            </a:r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Picture 4" descr="http://www.bathroomfitter.org.uk/uploads/1/2/3/2/12324014/3351154_orig.jpg?133891689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8208912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rgbClr val="F357E0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r>
              <a:rPr lang="en-US" b="1" dirty="0" smtClean="0">
                <a:latin typeface="Comic Sans MS" pitchFamily="66" charset="0"/>
              </a:rPr>
              <a:t>Les toilettes</a:t>
            </a:r>
            <a:br>
              <a:rPr lang="en-US" b="1" dirty="0" smtClean="0">
                <a:latin typeface="Comic Sans MS" pitchFamily="66" charset="0"/>
              </a:rPr>
            </a:b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Picture 20" descr="http://designinspiration.typepad.com/design_inspiration_planet/images/2008/02/11/lavatory_of_no_restraint_0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28800"/>
            <a:ext cx="8136904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r>
              <a:rPr lang="en-US" b="1" dirty="0" smtClean="0">
                <a:latin typeface="Comic Sans MS" pitchFamily="66" charset="0"/>
              </a:rPr>
              <a:t>Le bureau</a:t>
            </a:r>
            <a:br>
              <a:rPr lang="en-US" b="1" dirty="0" smtClean="0">
                <a:latin typeface="Comic Sans MS" pitchFamily="66" charset="0"/>
              </a:rPr>
            </a:b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7108" name="Picture 4" descr="http://www.saposyprincesas.com/wp-content/uploads/2012/06/habitaci%C3%B3n-de-estudio-636x30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5" y="1628800"/>
            <a:ext cx="8208911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b="1" dirty="0" smtClean="0">
                <a:latin typeface="Comic Sans MS" pitchFamily="66" charset="0"/>
              </a:rPr>
              <a:t>Le </a:t>
            </a:r>
            <a:r>
              <a:rPr lang="en-US" b="1" dirty="0" err="1" smtClean="0">
                <a:latin typeface="Comic Sans MS" pitchFamily="66" charset="0"/>
              </a:rPr>
              <a:t>balcon</a:t>
            </a: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Picture 2" descr="http://www.pikemanforge.ie/images/Balcony_4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628800"/>
            <a:ext cx="8208912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r>
              <a:rPr lang="en-US" b="1" dirty="0" smtClean="0">
                <a:latin typeface="Comic Sans MS" pitchFamily="66" charset="0"/>
              </a:rPr>
              <a:t>La </a:t>
            </a:r>
            <a:r>
              <a:rPr lang="en-US" b="1" dirty="0" err="1" smtClean="0">
                <a:latin typeface="Comic Sans MS" pitchFamily="66" charset="0"/>
              </a:rPr>
              <a:t>terrasse</a:t>
            </a:r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6324" name="Picture 4" descr="http://fotos0.mundofotos.net/2009/04_10_2009/aldabra1254608436/terraz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700808"/>
            <a:ext cx="8136904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r>
              <a:rPr lang="en-US" b="1" dirty="0" smtClean="0">
                <a:latin typeface="Comic Sans MS" pitchFamily="66" charset="0"/>
              </a:rPr>
              <a:t>Le garage</a:t>
            </a:r>
            <a:br>
              <a:rPr lang="en-US" b="1" dirty="0" smtClean="0">
                <a:latin typeface="Comic Sans MS" pitchFamily="66" charset="0"/>
              </a:rPr>
            </a:b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12" descr="http://joshsworld.com/eweezer/garage/garage-stack-0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628800"/>
            <a:ext cx="8136904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Comic Sans MS" pitchFamily="66" charset="0"/>
              </a:rPr>
              <a:t/>
            </a:r>
            <a:br>
              <a:rPr lang="en-US" b="1" dirty="0" smtClean="0">
                <a:latin typeface="Comic Sans MS" pitchFamily="66" charset="0"/>
              </a:rPr>
            </a:br>
            <a:r>
              <a:rPr lang="en-US" b="1" dirty="0" smtClean="0">
                <a:latin typeface="Comic Sans MS" pitchFamily="66" charset="0"/>
              </a:rPr>
              <a:t>Le </a:t>
            </a:r>
            <a:r>
              <a:rPr lang="en-US" b="1" dirty="0" err="1" smtClean="0">
                <a:latin typeface="Comic Sans MS" pitchFamily="66" charset="0"/>
              </a:rPr>
              <a:t>sous</a:t>
            </a:r>
            <a:r>
              <a:rPr lang="en-US" b="1" dirty="0" smtClean="0">
                <a:latin typeface="Comic Sans MS" pitchFamily="66" charset="0"/>
              </a:rPr>
              <a:t>-sol</a:t>
            </a:r>
            <a:br>
              <a:rPr lang="en-US" b="1" dirty="0" smtClean="0">
                <a:latin typeface="Comic Sans MS" pitchFamily="66" charset="0"/>
              </a:rPr>
            </a:br>
            <a:endParaRPr lang="es-ES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4514" name="Picture 2" descr="http://www.martinezreformas.es/wp-content/uploads/2013/06/Reforma-s%C3%B3tano-gran-alacant-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773336"/>
            <a:ext cx="8352928" cy="46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556792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s-ES" sz="6000" b="1" smtClean="0">
                <a:latin typeface="Comic Sans MS" pitchFamily="66" charset="0"/>
              </a:rPr>
              <a:t>LE MOBILIER</a:t>
            </a:r>
            <a:endParaRPr lang="es-ES" sz="6000" b="1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7586" name="Picture 2" descr="http://freewareme.com/uploads/posts/2010-05/furniture-vecto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56793"/>
            <a:ext cx="9144000" cy="53012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 descr="http://photoimpact-international.com/web-user/pixels-showroom/showroom-images/baye/livingroom.gif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656"/>
            <a:ext cx="9144000" cy="626469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4 Rectángulo redondeado"/>
          <p:cNvSpPr/>
          <p:nvPr/>
        </p:nvSpPr>
        <p:spPr>
          <a:xfrm>
            <a:off x="5742278" y="1700808"/>
            <a:ext cx="1152128" cy="315274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La télé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7236296" y="2276872"/>
            <a:ext cx="1584176" cy="315274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La bibliothèque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5675131" y="4293096"/>
            <a:ext cx="1219276" cy="315274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La table 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9" name="8 Rectángulo redondeado"/>
          <p:cNvSpPr/>
          <p:nvPr/>
        </p:nvSpPr>
        <p:spPr>
          <a:xfrm>
            <a:off x="2383589" y="5013176"/>
            <a:ext cx="1152128" cy="315274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Le </a:t>
            </a:r>
            <a:r>
              <a:rPr lang="fr-FR" sz="1600" b="1" dirty="0" err="1" smtClean="0">
                <a:solidFill>
                  <a:srgbClr val="FFFFFF"/>
                </a:solidFill>
              </a:rPr>
              <a:t>canape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10" name="9 Rectángulo redondeado"/>
          <p:cNvSpPr/>
          <p:nvPr/>
        </p:nvSpPr>
        <p:spPr>
          <a:xfrm>
            <a:off x="6660232" y="5707978"/>
            <a:ext cx="1152128" cy="315274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Le fauteuil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2959653" y="27733"/>
            <a:ext cx="3291542" cy="830997"/>
          </a:xfrm>
          <a:prstGeom prst="rect">
            <a:avLst/>
          </a:prstGeom>
          <a:noFill/>
          <a:effectLst>
            <a:glow rad="127000">
              <a:srgbClr val="FFC000"/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4800" b="1" dirty="0" smtClean="0">
                <a:ln w="17780" cmpd="sng">
                  <a:solidFill>
                    <a:srgbClr val="BBE0E3">
                      <a:tint val="3000"/>
                    </a:srgbClr>
                  </a:solidFill>
                  <a:prstDash val="solid"/>
                  <a:miter lim="800000"/>
                </a:ln>
                <a:solidFill>
                  <a:srgbClr val="00CC00"/>
                </a:solidFill>
                <a:effectLst>
                  <a:glow rad="127000">
                    <a:srgbClr val="333399"/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Broadway" pitchFamily="82" charset="0"/>
              </a:rPr>
              <a:t>LE SALON</a:t>
            </a:r>
            <a:endParaRPr lang="es-ES" sz="4800" b="1" dirty="0">
              <a:ln w="17780" cmpd="sng">
                <a:solidFill>
                  <a:srgbClr val="BBE0E3">
                    <a:tint val="3000"/>
                  </a:srgbClr>
                </a:solidFill>
                <a:prstDash val="solid"/>
                <a:miter lim="800000"/>
              </a:ln>
              <a:solidFill>
                <a:srgbClr val="00CC00"/>
              </a:solidFill>
              <a:effectLst>
                <a:glow rad="127000">
                  <a:srgbClr val="333399"/>
                </a:glow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Broadway" pitchFamily="82" charset="0"/>
            </a:endParaRPr>
          </a:p>
        </p:txBody>
      </p:sp>
      <p:pic>
        <p:nvPicPr>
          <p:cNvPr id="1030" name="Picture 6" descr="http://heathersanimations.com/girl/doll052.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471" y="2276873"/>
            <a:ext cx="1583845" cy="1467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89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alo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e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ibli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ab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sof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fauteui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7001">
              <a:srgbClr val="E6E6E6"/>
            </a:gs>
            <a:gs pos="32001">
              <a:srgbClr val="7D8496"/>
            </a:gs>
            <a:gs pos="47000">
              <a:srgbClr val="E6E6E6"/>
            </a:gs>
            <a:gs pos="85001">
              <a:srgbClr val="7D8496"/>
            </a:gs>
            <a:gs pos="100000">
              <a:srgbClr val="E6E6E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 descr="http://www.shreveportla.gov/dept/dos/graphics/house%20and%20rooms/bedroom/bedroom.gif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52736"/>
            <a:ext cx="8496944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4 Rectángulo redondeado"/>
          <p:cNvSpPr/>
          <p:nvPr/>
        </p:nvSpPr>
        <p:spPr>
          <a:xfrm>
            <a:off x="2699792" y="4769910"/>
            <a:ext cx="1152128" cy="315274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Le lit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5872223" y="5085184"/>
            <a:ext cx="1152128" cy="315274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Le tapis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7327513" y="4221088"/>
            <a:ext cx="1152128" cy="315274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L’armoire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9" name="8 Rectángulo redondeado"/>
          <p:cNvSpPr/>
          <p:nvPr/>
        </p:nvSpPr>
        <p:spPr>
          <a:xfrm>
            <a:off x="35496" y="5409396"/>
            <a:ext cx="2016224" cy="315274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La commode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2335959" y="27733"/>
            <a:ext cx="4538935" cy="830997"/>
          </a:xfrm>
          <a:prstGeom prst="rect">
            <a:avLst/>
          </a:prstGeom>
          <a:noFill/>
          <a:effectLst>
            <a:glow rad="127000">
              <a:srgbClr val="FFC000"/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4800" b="1" dirty="0" smtClean="0">
                <a:ln w="17780" cmpd="sng">
                  <a:solidFill>
                    <a:srgbClr val="BBE0E3">
                      <a:tint val="3000"/>
                    </a:srgbClr>
                  </a:solidFill>
                  <a:prstDash val="solid"/>
                  <a:miter lim="800000"/>
                </a:ln>
                <a:solidFill>
                  <a:srgbClr val="00CC00"/>
                </a:solidFill>
                <a:effectLst>
                  <a:glow rad="127000">
                    <a:srgbClr val="333399"/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Broadway" pitchFamily="82" charset="0"/>
              </a:rPr>
              <a:t>LA CHAMBRE</a:t>
            </a:r>
            <a:endParaRPr lang="es-ES" sz="4800" b="1" dirty="0">
              <a:ln w="17780" cmpd="sng">
                <a:solidFill>
                  <a:srgbClr val="BBE0E3">
                    <a:tint val="3000"/>
                  </a:srgbClr>
                </a:solidFill>
                <a:prstDash val="solid"/>
                <a:miter lim="800000"/>
              </a:ln>
              <a:solidFill>
                <a:srgbClr val="00CC00"/>
              </a:solidFill>
              <a:effectLst>
                <a:glow rad="127000">
                  <a:srgbClr val="333399"/>
                </a:glow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Broadway" pitchFamily="82" charset="0"/>
            </a:endParaRPr>
          </a:p>
        </p:txBody>
      </p:sp>
      <p:pic>
        <p:nvPicPr>
          <p:cNvPr id="2050" name="Picture 2" descr="http://heathersanimations.com/girl/listen.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722" y="2999492"/>
            <a:ext cx="2758461" cy="137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87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mb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ablecheve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e lit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api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armoi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http://www.michellehenry.fr/bathroom.gif"/>
          <p:cNvPicPr/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6" r="24585"/>
          <a:stretch/>
        </p:blipFill>
        <p:spPr bwMode="auto">
          <a:xfrm>
            <a:off x="0" y="1340768"/>
            <a:ext cx="5508104" cy="551723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4 Imagen" descr="http://www.bonjourdefrance.com/n7/images/toilette.gif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810" y="2636913"/>
            <a:ext cx="3430190" cy="42360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5 Rectángulo"/>
          <p:cNvSpPr/>
          <p:nvPr/>
        </p:nvSpPr>
        <p:spPr>
          <a:xfrm>
            <a:off x="1364894" y="260647"/>
            <a:ext cx="6483121" cy="830997"/>
          </a:xfrm>
          <a:prstGeom prst="rect">
            <a:avLst/>
          </a:prstGeom>
          <a:noFill/>
          <a:effectLst>
            <a:glow rad="127000">
              <a:srgbClr val="FFC000"/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4800" b="1" dirty="0" smtClean="0">
                <a:ln w="17780" cmpd="sng">
                  <a:solidFill>
                    <a:srgbClr val="BBE0E3">
                      <a:tint val="3000"/>
                    </a:srgbClr>
                  </a:solidFill>
                  <a:prstDash val="solid"/>
                  <a:miter lim="800000"/>
                </a:ln>
                <a:solidFill>
                  <a:srgbClr val="FFC000"/>
                </a:solidFill>
                <a:effectLst>
                  <a:glow rad="127000">
                    <a:srgbClr val="00CC00"/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Broadway" pitchFamily="82" charset="0"/>
              </a:rPr>
              <a:t>LA SALLE DE BAINS</a:t>
            </a:r>
            <a:endParaRPr lang="es-ES" sz="4800" b="1" dirty="0">
              <a:ln w="17780" cmpd="sng">
                <a:solidFill>
                  <a:srgbClr val="BBE0E3">
                    <a:tint val="3000"/>
                  </a:srgbClr>
                </a:solidFill>
                <a:prstDash val="solid"/>
                <a:miter lim="800000"/>
              </a:ln>
              <a:solidFill>
                <a:srgbClr val="FFC000"/>
              </a:solidFill>
              <a:effectLst>
                <a:glow rad="127000">
                  <a:srgbClr val="00CC00"/>
                </a:glow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Broadway" pitchFamily="82" charset="0"/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0" y="2488229"/>
            <a:ext cx="1264884" cy="29736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La douche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5247119" y="1951089"/>
            <a:ext cx="3867662" cy="646331"/>
          </a:xfrm>
          <a:prstGeom prst="rect">
            <a:avLst/>
          </a:prstGeom>
          <a:noFill/>
          <a:effectLst>
            <a:glow rad="127000">
              <a:srgbClr val="FFC000"/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3600" b="1" dirty="0" smtClean="0">
                <a:ln w="17780" cmpd="sng">
                  <a:solidFill>
                    <a:srgbClr val="BBE0E3">
                      <a:tint val="3000"/>
                    </a:srgbClr>
                  </a:solidFill>
                  <a:prstDash val="solid"/>
                  <a:miter lim="800000"/>
                </a:ln>
                <a:solidFill>
                  <a:srgbClr val="FFC000"/>
                </a:solidFill>
                <a:effectLst>
                  <a:glow rad="127000">
                    <a:srgbClr val="00CC00"/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Broadway" pitchFamily="82" charset="0"/>
              </a:rPr>
              <a:t>LES TOILETTES</a:t>
            </a:r>
            <a:endParaRPr lang="es-ES" sz="3600" b="1" dirty="0">
              <a:ln w="17780" cmpd="sng">
                <a:solidFill>
                  <a:srgbClr val="BBE0E3">
                    <a:tint val="3000"/>
                  </a:srgbClr>
                </a:solidFill>
                <a:prstDash val="solid"/>
                <a:miter lim="800000"/>
              </a:ln>
              <a:solidFill>
                <a:srgbClr val="FFC000"/>
              </a:solidFill>
              <a:effectLst>
                <a:glow rad="127000">
                  <a:srgbClr val="00CC00"/>
                </a:glow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Broadway" pitchFamily="82" charset="0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732452" y="5593908"/>
            <a:ext cx="1400010" cy="29736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La baignoire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1907704" y="3068960"/>
            <a:ext cx="1489642" cy="29736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La serviette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17" name="16 Rectángulo redondeado"/>
          <p:cNvSpPr/>
          <p:nvPr/>
        </p:nvSpPr>
        <p:spPr>
          <a:xfrm>
            <a:off x="3145886" y="2125570"/>
            <a:ext cx="1264884" cy="29736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Le miroir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3266614" y="4035535"/>
            <a:ext cx="1264884" cy="29736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Le lavabo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19" name="18 Rectángulo redondeado"/>
          <p:cNvSpPr/>
          <p:nvPr/>
        </p:nvSpPr>
        <p:spPr>
          <a:xfrm>
            <a:off x="5274841" y="4073056"/>
            <a:ext cx="1933831" cy="29736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Le papier toilette</a:t>
            </a:r>
            <a:endParaRPr lang="fr-FR" sz="1600" b="1" dirty="0">
              <a:solidFill>
                <a:srgbClr val="FFFFFF"/>
              </a:solidFill>
            </a:endParaRPr>
          </a:p>
        </p:txBody>
      </p:sp>
      <p:pic>
        <p:nvPicPr>
          <p:cNvPr id="6146" name="Picture 2" descr="http://heathersanimations.com/girl/89.gif"/>
          <p:cNvPicPr>
            <a:picLocks noChangeAspect="1" noChangeArrowheads="1" noCrop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951089"/>
            <a:ext cx="1645866" cy="382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03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ain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ouch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aignoi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serviett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miroi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lavab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toilett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papi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animBg="1"/>
      <p:bldP spid="8" grpId="0" build="p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 descr="http://www2.arnes.si/%7Eoskplucija4/younglearners/kitchen.gif"/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3" b="9859"/>
          <a:stretch/>
        </p:blipFill>
        <p:spPr bwMode="auto">
          <a:xfrm>
            <a:off x="251520" y="1124745"/>
            <a:ext cx="8496944" cy="5400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3 Rectángulo redondeado"/>
          <p:cNvSpPr/>
          <p:nvPr/>
        </p:nvSpPr>
        <p:spPr>
          <a:xfrm>
            <a:off x="2498105" y="809471"/>
            <a:ext cx="1428253" cy="315274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Le placard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5" name="4 Rectángulo redondeado"/>
          <p:cNvSpPr/>
          <p:nvPr/>
        </p:nvSpPr>
        <p:spPr>
          <a:xfrm>
            <a:off x="1291416" y="3825045"/>
            <a:ext cx="1264884" cy="297368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Le tiroir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6" name="5 Rectángulo redondeado"/>
          <p:cNvSpPr/>
          <p:nvPr/>
        </p:nvSpPr>
        <p:spPr>
          <a:xfrm>
            <a:off x="2662780" y="2477795"/>
            <a:ext cx="1287760" cy="364518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L’évier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4605426" y="3807139"/>
            <a:ext cx="1046693" cy="315274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Le frigo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5759762" y="2969710"/>
            <a:ext cx="1404526" cy="315274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La cuisinière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2662780" y="27733"/>
            <a:ext cx="3885294" cy="830997"/>
          </a:xfrm>
          <a:prstGeom prst="rect">
            <a:avLst/>
          </a:prstGeom>
          <a:noFill/>
          <a:effectLst>
            <a:glow rad="127000">
              <a:srgbClr val="FFC000"/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4800" b="1" dirty="0" smtClean="0">
                <a:ln w="17780" cmpd="sng">
                  <a:solidFill>
                    <a:srgbClr val="BBE0E3">
                      <a:tint val="3000"/>
                    </a:srgbClr>
                  </a:solidFill>
                  <a:prstDash val="solid"/>
                  <a:miter lim="800000"/>
                </a:ln>
                <a:solidFill>
                  <a:srgbClr val="00CC00"/>
                </a:solidFill>
                <a:effectLst>
                  <a:glow rad="127000">
                    <a:srgbClr val="333399"/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Broadway" pitchFamily="82" charset="0"/>
              </a:rPr>
              <a:t>LA CUISINE</a:t>
            </a:r>
            <a:endParaRPr lang="es-ES" sz="4800" b="1" dirty="0">
              <a:ln w="17780" cmpd="sng">
                <a:solidFill>
                  <a:srgbClr val="BBE0E3">
                    <a:tint val="3000"/>
                  </a:srgbClr>
                </a:solidFill>
                <a:prstDash val="solid"/>
                <a:miter lim="800000"/>
              </a:ln>
              <a:solidFill>
                <a:srgbClr val="00CC00"/>
              </a:solidFill>
              <a:effectLst>
                <a:glow rad="127000">
                  <a:srgbClr val="333399"/>
                </a:glow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Broadway" pitchFamily="82" charset="0"/>
            </a:endParaRPr>
          </a:p>
        </p:txBody>
      </p:sp>
      <p:pic>
        <p:nvPicPr>
          <p:cNvPr id="3084" name="Picture 12" descr="http://heathersanimations.com/girl/l14_1255_b.gif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589" y="2927868"/>
            <a:ext cx="2373411" cy="395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495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uisin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placar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evi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iroi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frigo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uisinie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25600"/>
            </a:gs>
            <a:gs pos="13000">
              <a:srgbClr val="FFA800"/>
            </a:gs>
            <a:gs pos="28000">
              <a:srgbClr val="825600"/>
            </a:gs>
            <a:gs pos="42999">
              <a:srgbClr val="FFA800"/>
            </a:gs>
            <a:gs pos="58000">
              <a:srgbClr val="825600"/>
            </a:gs>
            <a:gs pos="72000">
              <a:srgbClr val="FFA800"/>
            </a:gs>
            <a:gs pos="87000">
              <a:srgbClr val="825600"/>
            </a:gs>
            <a:gs pos="100000">
              <a:srgbClr val="FFA8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 descr="http://4h1g.files.wordpress.com/2011/04/21diningroom.jpg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785"/>
            <a:ext cx="9144000" cy="537321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3 Rectángulo"/>
          <p:cNvSpPr/>
          <p:nvPr/>
        </p:nvSpPr>
        <p:spPr>
          <a:xfrm>
            <a:off x="1115853" y="260648"/>
            <a:ext cx="6981207" cy="830997"/>
          </a:xfrm>
          <a:prstGeom prst="rect">
            <a:avLst/>
          </a:prstGeom>
          <a:noFill/>
          <a:effectLst>
            <a:glow rad="127000">
              <a:srgbClr val="FFC000"/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4800" b="1" dirty="0" smtClean="0">
                <a:ln w="17780" cmpd="sng">
                  <a:solidFill>
                    <a:srgbClr val="BBE0E3">
                      <a:tint val="3000"/>
                    </a:srgbClr>
                  </a:solidFill>
                  <a:prstDash val="solid"/>
                  <a:miter lim="800000"/>
                </a:ln>
                <a:solidFill>
                  <a:srgbClr val="00CC00"/>
                </a:solidFill>
                <a:effectLst>
                  <a:glow rad="127000">
                    <a:srgbClr val="333399"/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Broadway" pitchFamily="82" charset="0"/>
              </a:rPr>
              <a:t>LA SALLE À MANGER</a:t>
            </a:r>
            <a:endParaRPr lang="es-ES" sz="4800" b="1" dirty="0">
              <a:ln w="17780" cmpd="sng">
                <a:solidFill>
                  <a:srgbClr val="BBE0E3">
                    <a:tint val="3000"/>
                  </a:srgbClr>
                </a:solidFill>
                <a:prstDash val="solid"/>
                <a:miter lim="800000"/>
              </a:ln>
              <a:solidFill>
                <a:srgbClr val="00CC00"/>
              </a:solidFill>
              <a:effectLst>
                <a:glow rad="127000">
                  <a:srgbClr val="333399"/>
                </a:glow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Broadway" pitchFamily="82" charset="0"/>
            </a:endParaRPr>
          </a:p>
        </p:txBody>
      </p:sp>
      <p:sp>
        <p:nvSpPr>
          <p:cNvPr id="5" name="4 Rectángulo redondeado"/>
          <p:cNvSpPr/>
          <p:nvPr/>
        </p:nvSpPr>
        <p:spPr>
          <a:xfrm>
            <a:off x="3972986" y="2492896"/>
            <a:ext cx="1264884" cy="297368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La fenêtre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6" name="5 Rectángulo redondeado"/>
          <p:cNvSpPr/>
          <p:nvPr/>
        </p:nvSpPr>
        <p:spPr>
          <a:xfrm>
            <a:off x="6300192" y="1772816"/>
            <a:ext cx="1264884" cy="297368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Le rideau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7" name="6 Rectángulo redondeado"/>
          <p:cNvSpPr/>
          <p:nvPr/>
        </p:nvSpPr>
        <p:spPr>
          <a:xfrm>
            <a:off x="1053381" y="4228329"/>
            <a:ext cx="1264884" cy="297368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La chaise</a:t>
            </a:r>
            <a:endParaRPr lang="fr-FR" sz="1600" b="1" dirty="0">
              <a:solidFill>
                <a:srgbClr val="FFFFFF"/>
              </a:solidFill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2837700" y="5582551"/>
            <a:ext cx="1264884" cy="297368"/>
          </a:xfrm>
          <a:prstGeom prst="roundRect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sz="1600" b="1" dirty="0" smtClean="0">
                <a:solidFill>
                  <a:srgbClr val="FFFFFF"/>
                </a:solidFill>
              </a:rPr>
              <a:t>La table</a:t>
            </a:r>
            <a:endParaRPr lang="fr-FR" sz="1600" b="1" dirty="0">
              <a:solidFill>
                <a:srgbClr val="FFFFFF"/>
              </a:solidFill>
            </a:endParaRPr>
          </a:p>
        </p:txBody>
      </p:sp>
      <p:pic>
        <p:nvPicPr>
          <p:cNvPr id="4098" name="Picture 2" descr="http://heathersanimations.com/girl/z13.gif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745174"/>
            <a:ext cx="2621807" cy="3752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993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ang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fenetr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ideau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ai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tab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EAC7"/>
            </a:gs>
            <a:gs pos="17999">
              <a:srgbClr val="FEE7F2"/>
            </a:gs>
            <a:gs pos="36000">
              <a:srgbClr val="FAC77D"/>
            </a:gs>
            <a:gs pos="61000">
              <a:srgbClr val="FBA97D"/>
            </a:gs>
            <a:gs pos="82001">
              <a:srgbClr val="FBD49C"/>
            </a:gs>
            <a:gs pos="100000">
              <a:srgbClr val="FEE7F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 descr="http://photoimpact-international.com/web-user/pixels-showroom/showroom-images/baye/livingroom.gif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656"/>
            <a:ext cx="9144000" cy="6264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Picture 6" descr="http://heathersanimations.com/girl/doll052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471" y="2276873"/>
            <a:ext cx="1583845" cy="1467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/>
          <p:cNvSpPr/>
          <p:nvPr/>
        </p:nvSpPr>
        <p:spPr>
          <a:xfrm>
            <a:off x="443390" y="182236"/>
            <a:ext cx="709200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3600" b="1" dirty="0" smtClean="0">
                <a:ln w="1905"/>
                <a:gradFill>
                  <a:gsLst>
                    <a:gs pos="0">
                      <a:srgbClr val="2D2D8A">
                        <a:shade val="20000"/>
                        <a:satMod val="200000"/>
                      </a:srgbClr>
                    </a:gs>
                    <a:gs pos="78000">
                      <a:srgbClr val="2D2D8A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2D2D8A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Qu’est-ce que tu fais au salon?</a:t>
            </a:r>
            <a:endParaRPr lang="fr-FR" sz="3600" b="1" dirty="0">
              <a:ln w="1905"/>
              <a:gradFill>
                <a:gsLst>
                  <a:gs pos="0">
                    <a:srgbClr val="2D2D8A">
                      <a:shade val="20000"/>
                      <a:satMod val="200000"/>
                    </a:srgbClr>
                  </a:gs>
                  <a:gs pos="78000">
                    <a:srgbClr val="2D2D8A">
                      <a:tint val="90000"/>
                      <a:shade val="89000"/>
                      <a:satMod val="220000"/>
                    </a:srgbClr>
                  </a:gs>
                  <a:gs pos="100000">
                    <a:srgbClr val="2D2D8A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Kristen ITC" pitchFamily="66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874954" y="880406"/>
            <a:ext cx="4237058" cy="646331"/>
            <a:chOff x="4874954" y="880406"/>
            <a:chExt cx="4237058" cy="646331"/>
          </a:xfrm>
        </p:grpSpPr>
        <p:sp>
          <p:nvSpPr>
            <p:cNvPr id="2" name="Rounded Rectangle 1"/>
            <p:cNvSpPr/>
            <p:nvPr/>
          </p:nvSpPr>
          <p:spPr>
            <a:xfrm>
              <a:off x="4874954" y="900575"/>
              <a:ext cx="4237058" cy="58420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21"/>
            <p:cNvSpPr/>
            <p:nvPr/>
          </p:nvSpPr>
          <p:spPr>
            <a:xfrm>
              <a:off x="4874954" y="880406"/>
              <a:ext cx="4237058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fr-FR" sz="36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Je regarde la télé.</a:t>
              </a:r>
              <a:endParaRPr lang="fr-FR" sz="36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07504" y="5036983"/>
            <a:ext cx="3800035" cy="1248530"/>
            <a:chOff x="107504" y="5036983"/>
            <a:chExt cx="3800035" cy="1248530"/>
          </a:xfrm>
        </p:grpSpPr>
        <p:sp>
          <p:nvSpPr>
            <p:cNvPr id="3" name="Rounded Rectangle 2"/>
            <p:cNvSpPr/>
            <p:nvPr/>
          </p:nvSpPr>
          <p:spPr>
            <a:xfrm>
              <a:off x="107504" y="5036983"/>
              <a:ext cx="3800035" cy="1200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21"/>
            <p:cNvSpPr/>
            <p:nvPr/>
          </p:nvSpPr>
          <p:spPr>
            <a:xfrm>
              <a:off x="189358" y="5085184"/>
              <a:ext cx="3696845" cy="120032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fr-FR" sz="36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Je li</a:t>
              </a:r>
              <a:r>
                <a:rPr lang="fr-FR" sz="3600" b="1" dirty="0" smtClean="0">
                  <a:ln w="1905"/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s</a:t>
              </a:r>
              <a:r>
                <a:rPr lang="fr-FR" sz="36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 le journal.</a:t>
              </a:r>
            </a:p>
            <a:p>
              <a:pPr algn="ctr">
                <a:defRPr/>
              </a:pPr>
              <a:r>
                <a:rPr lang="fr-FR" sz="36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Il li</a:t>
              </a:r>
              <a:r>
                <a:rPr lang="fr-FR" sz="3600" b="1" dirty="0" smtClean="0">
                  <a:ln w="1905"/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t</a:t>
              </a:r>
              <a:r>
                <a:rPr lang="fr-FR" sz="36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 le journal.</a:t>
              </a:r>
              <a:endParaRPr lang="fr-FR" sz="36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080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qu'estcequ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 descr="http://www2.arnes.si/%7Eoskplucija4/younglearners/kitchen.gif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63" b="9859"/>
          <a:stretch/>
        </p:blipFill>
        <p:spPr bwMode="auto">
          <a:xfrm>
            <a:off x="268959" y="980728"/>
            <a:ext cx="8508970" cy="554461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21"/>
          <p:cNvSpPr/>
          <p:nvPr/>
        </p:nvSpPr>
        <p:spPr>
          <a:xfrm>
            <a:off x="135223" y="160107"/>
            <a:ext cx="77251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3200" b="1" dirty="0" smtClean="0">
                <a:ln w="1905"/>
                <a:gradFill>
                  <a:gsLst>
                    <a:gs pos="0">
                      <a:srgbClr val="2D2D8A">
                        <a:shade val="20000"/>
                        <a:satMod val="200000"/>
                      </a:srgbClr>
                    </a:gs>
                    <a:gs pos="78000">
                      <a:srgbClr val="2D2D8A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2D2D8A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Qu’est-ce que tu fais dans la cuisine ?</a:t>
            </a:r>
            <a:endParaRPr lang="fr-FR" sz="3200" b="1" dirty="0">
              <a:ln w="1905"/>
              <a:gradFill>
                <a:gsLst>
                  <a:gs pos="0">
                    <a:srgbClr val="2D2D8A">
                      <a:shade val="20000"/>
                      <a:satMod val="200000"/>
                    </a:srgbClr>
                  </a:gs>
                  <a:gs pos="78000">
                    <a:srgbClr val="2D2D8A">
                      <a:tint val="90000"/>
                      <a:shade val="89000"/>
                      <a:satMod val="220000"/>
                    </a:srgbClr>
                  </a:gs>
                  <a:gs pos="100000">
                    <a:srgbClr val="2D2D8A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Kristen ITC" pitchFamily="66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968732" y="823622"/>
            <a:ext cx="4049507" cy="703115"/>
            <a:chOff x="4968732" y="823622"/>
            <a:chExt cx="4049507" cy="703115"/>
          </a:xfrm>
        </p:grpSpPr>
        <p:sp>
          <p:nvSpPr>
            <p:cNvPr id="2" name="Rounded Rectangle 1"/>
            <p:cNvSpPr/>
            <p:nvPr/>
          </p:nvSpPr>
          <p:spPr>
            <a:xfrm>
              <a:off x="4968732" y="823622"/>
              <a:ext cx="4049507" cy="64633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21"/>
            <p:cNvSpPr/>
            <p:nvPr/>
          </p:nvSpPr>
          <p:spPr>
            <a:xfrm>
              <a:off x="4968732" y="880406"/>
              <a:ext cx="4049507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fr-FR" sz="36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Je fais la cuisine.</a:t>
              </a:r>
              <a:endParaRPr lang="fr-FR" sz="36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704378" y="4915034"/>
            <a:ext cx="4073551" cy="1780460"/>
            <a:chOff x="4704378" y="4915034"/>
            <a:chExt cx="4073551" cy="1780460"/>
          </a:xfrm>
        </p:grpSpPr>
        <p:sp>
          <p:nvSpPr>
            <p:cNvPr id="4" name="Rounded Rectangle 3"/>
            <p:cNvSpPr/>
            <p:nvPr/>
          </p:nvSpPr>
          <p:spPr>
            <a:xfrm>
              <a:off x="4704378" y="4941168"/>
              <a:ext cx="4073551" cy="175432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21"/>
            <p:cNvSpPr/>
            <p:nvPr/>
          </p:nvSpPr>
          <p:spPr>
            <a:xfrm>
              <a:off x="4704378" y="4915034"/>
              <a:ext cx="4073551" cy="175432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fr-FR" sz="36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Je ferme le frigo.</a:t>
              </a:r>
            </a:p>
            <a:p>
              <a:pPr algn="ctr">
                <a:defRPr/>
              </a:pPr>
              <a:r>
                <a:rPr lang="fr-FR" sz="36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Je boi</a:t>
              </a:r>
              <a:r>
                <a:rPr lang="fr-FR" sz="3600" b="1" dirty="0" smtClean="0">
                  <a:ln w="1905"/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s</a:t>
              </a:r>
              <a:r>
                <a:rPr lang="fr-FR" sz="36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 de l’eau.</a:t>
              </a:r>
            </a:p>
            <a:p>
              <a:pPr algn="ctr">
                <a:defRPr/>
              </a:pPr>
              <a:r>
                <a:rPr lang="fr-FR" sz="36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Il boi</a:t>
              </a:r>
              <a:r>
                <a:rPr lang="fr-FR" sz="3600" b="1" dirty="0" smtClean="0">
                  <a:ln w="1905"/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t </a:t>
              </a:r>
              <a:r>
                <a:rPr lang="fr-FR" sz="36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de l’eau.</a:t>
              </a:r>
              <a:endParaRPr lang="fr-FR" sz="3600" b="1" dirty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616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qu'estcequ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 descr="http://4h1g.files.wordpress.com/2011/04/21diningroom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785"/>
            <a:ext cx="9144000" cy="5373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http://heathersanimations.com/girl/z13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2745174"/>
            <a:ext cx="2621807" cy="3752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21"/>
          <p:cNvSpPr/>
          <p:nvPr/>
        </p:nvSpPr>
        <p:spPr>
          <a:xfrm>
            <a:off x="179512" y="182236"/>
            <a:ext cx="79720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2800" b="1" dirty="0" smtClean="0">
                <a:ln w="1905"/>
                <a:solidFill>
                  <a:srgbClr val="00FFCC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Qu’est-ce que tu fais dans la salle a manger ?</a:t>
            </a:r>
            <a:endParaRPr lang="fr-FR" sz="2800" b="1" dirty="0">
              <a:ln w="1905"/>
              <a:solidFill>
                <a:srgbClr val="00FFCC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Kristen ITC" pitchFamily="66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619407" y="5085184"/>
            <a:ext cx="3924472" cy="1149226"/>
            <a:chOff x="2619407" y="5085184"/>
            <a:chExt cx="3924472" cy="1149226"/>
          </a:xfrm>
        </p:grpSpPr>
        <p:sp>
          <p:nvSpPr>
            <p:cNvPr id="2" name="Rounded Rectangle 1"/>
            <p:cNvSpPr/>
            <p:nvPr/>
          </p:nvSpPr>
          <p:spPr>
            <a:xfrm>
              <a:off x="2619407" y="5085184"/>
              <a:ext cx="3924472" cy="114922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FFFFFF"/>
                </a:solidFill>
              </a:endParaRPr>
            </a:p>
          </p:txBody>
        </p:sp>
        <p:sp>
          <p:nvSpPr>
            <p:cNvPr id="8" name="Rectangle 21"/>
            <p:cNvSpPr/>
            <p:nvPr/>
          </p:nvSpPr>
          <p:spPr>
            <a:xfrm>
              <a:off x="2619407" y="5085184"/>
              <a:ext cx="3924472" cy="10772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fr-FR" sz="3200" b="1" dirty="0" smtClean="0">
                  <a:ln w="1905"/>
                  <a:solidFill>
                    <a:srgbClr val="00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Je mange.</a:t>
              </a:r>
            </a:p>
            <a:p>
              <a:pPr algn="ctr">
                <a:defRPr/>
              </a:pPr>
              <a:r>
                <a:rPr lang="fr-FR" sz="3200" b="1" dirty="0" smtClean="0">
                  <a:ln w="1905"/>
                  <a:solidFill>
                    <a:srgbClr val="00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Je prépare la table</a:t>
              </a:r>
              <a:endParaRPr lang="fr-FR" sz="3200" b="1" dirty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750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qu'estcequ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7001">
              <a:srgbClr val="E6E6E6"/>
            </a:gs>
            <a:gs pos="32001">
              <a:srgbClr val="7D8496"/>
            </a:gs>
            <a:gs pos="47000">
              <a:srgbClr val="E6E6E6"/>
            </a:gs>
            <a:gs pos="85001">
              <a:srgbClr val="7D8496"/>
            </a:gs>
            <a:gs pos="100000">
              <a:srgbClr val="E6E6E6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 descr="http://www.shreveportla.gov/dept/dos/graphics/house%20and%20rooms/bedroom/bedroom.gif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40" y="1005494"/>
            <a:ext cx="8496944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1"/>
          <p:cNvSpPr/>
          <p:nvPr/>
        </p:nvSpPr>
        <p:spPr>
          <a:xfrm>
            <a:off x="-37509" y="182236"/>
            <a:ext cx="805380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3200" b="1" dirty="0" smtClean="0">
                <a:ln w="1905"/>
                <a:gradFill>
                  <a:gsLst>
                    <a:gs pos="0">
                      <a:srgbClr val="2D2D8A">
                        <a:shade val="20000"/>
                        <a:satMod val="200000"/>
                      </a:srgbClr>
                    </a:gs>
                    <a:gs pos="78000">
                      <a:srgbClr val="2D2D8A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2D2D8A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Qu’est-ce que tu fais dans la chambre ?</a:t>
            </a:r>
            <a:endParaRPr lang="fr-FR" sz="3200" b="1" dirty="0">
              <a:ln w="1905"/>
              <a:gradFill>
                <a:gsLst>
                  <a:gs pos="0">
                    <a:srgbClr val="2D2D8A">
                      <a:shade val="20000"/>
                      <a:satMod val="200000"/>
                    </a:srgbClr>
                  </a:gs>
                  <a:gs pos="78000">
                    <a:srgbClr val="2D2D8A">
                      <a:tint val="90000"/>
                      <a:shade val="89000"/>
                      <a:satMod val="220000"/>
                    </a:srgbClr>
                  </a:gs>
                  <a:gs pos="100000">
                    <a:srgbClr val="2D2D8A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Kristen ITC" pitchFamily="66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148064" y="3645024"/>
            <a:ext cx="3894358" cy="617395"/>
            <a:chOff x="5295704" y="2785284"/>
            <a:chExt cx="3894358" cy="617395"/>
          </a:xfrm>
        </p:grpSpPr>
        <p:sp>
          <p:nvSpPr>
            <p:cNvPr id="12" name="Rounded Rectangle 11"/>
            <p:cNvSpPr/>
            <p:nvPr/>
          </p:nvSpPr>
          <p:spPr>
            <a:xfrm>
              <a:off x="5334518" y="2785284"/>
              <a:ext cx="3855544" cy="58477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FFFFFF"/>
                </a:solidFill>
              </a:endParaRPr>
            </a:p>
          </p:txBody>
        </p:sp>
        <p:sp>
          <p:nvSpPr>
            <p:cNvPr id="14" name="Rectangle 21"/>
            <p:cNvSpPr/>
            <p:nvPr/>
          </p:nvSpPr>
          <p:spPr>
            <a:xfrm>
              <a:off x="5295704" y="2817904"/>
              <a:ext cx="3855544" cy="5847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fr-FR" sz="3200" b="1" dirty="0" smtClean="0">
                  <a:ln w="1905"/>
                  <a:solidFill>
                    <a:srgbClr val="00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Je range l’armoire.</a:t>
              </a:r>
              <a:endParaRPr lang="fr-FR" sz="3200" b="1" dirty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88464" y="5085184"/>
            <a:ext cx="3855544" cy="1077218"/>
            <a:chOff x="788464" y="5085184"/>
            <a:chExt cx="3855544" cy="1077218"/>
          </a:xfrm>
        </p:grpSpPr>
        <p:sp>
          <p:nvSpPr>
            <p:cNvPr id="15" name="Rounded Rectangle 14"/>
            <p:cNvSpPr/>
            <p:nvPr/>
          </p:nvSpPr>
          <p:spPr>
            <a:xfrm>
              <a:off x="788464" y="5085184"/>
              <a:ext cx="3855544" cy="10772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FFFFFF"/>
                </a:solidFill>
              </a:endParaRPr>
            </a:p>
          </p:txBody>
        </p:sp>
        <p:sp>
          <p:nvSpPr>
            <p:cNvPr id="16" name="Rectangle 21"/>
            <p:cNvSpPr/>
            <p:nvPr/>
          </p:nvSpPr>
          <p:spPr>
            <a:xfrm>
              <a:off x="790069" y="5085184"/>
              <a:ext cx="3853939" cy="10772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fr-FR" sz="3200" b="1" dirty="0" smtClean="0">
                  <a:ln w="1905"/>
                  <a:solidFill>
                    <a:srgbClr val="00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Je dor</a:t>
              </a:r>
              <a:r>
                <a:rPr lang="fr-FR" sz="32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s</a:t>
              </a:r>
              <a:r>
                <a:rPr lang="fr-FR" sz="3200" b="1" dirty="0" smtClean="0">
                  <a:ln w="1905"/>
                  <a:solidFill>
                    <a:srgbClr val="00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 dans le lit.</a:t>
              </a:r>
            </a:p>
            <a:p>
              <a:pPr algn="ctr">
                <a:defRPr/>
              </a:pPr>
              <a:r>
                <a:rPr lang="fr-FR" sz="3200" b="1" dirty="0" smtClean="0">
                  <a:ln w="1905"/>
                  <a:solidFill>
                    <a:srgbClr val="00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Il dor</a:t>
              </a:r>
              <a:r>
                <a:rPr lang="fr-FR" sz="3200" b="1" dirty="0" smtClean="0">
                  <a:ln w="1905"/>
                  <a:solidFill>
                    <a:srgbClr val="FF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t</a:t>
              </a:r>
              <a:r>
                <a:rPr lang="fr-FR" sz="3200" b="1" dirty="0" smtClean="0">
                  <a:ln w="1905"/>
                  <a:solidFill>
                    <a:srgbClr val="000000"/>
                  </a:solidFill>
                  <a:effectLst>
                    <a:innerShdw blurRad="69850" dist="43180" dir="5400000">
                      <a:srgbClr val="000000">
                        <a:alpha val="65000"/>
                      </a:srgbClr>
                    </a:innerShdw>
                  </a:effectLst>
                  <a:latin typeface="Kristen ITC" pitchFamily="66" charset="0"/>
                </a:rPr>
                <a:t> dans le lit.</a:t>
              </a:r>
              <a:endParaRPr lang="fr-FR" sz="3200" b="1" dirty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112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qu'estcequ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http://www.michellehenry.fr/bathroom.gif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6" r="24585"/>
          <a:stretch/>
        </p:blipFill>
        <p:spPr bwMode="auto">
          <a:xfrm>
            <a:off x="0" y="1340768"/>
            <a:ext cx="5508104" cy="551723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4 Imagen" descr="http://www.bonjourdefrance.com/n7/images/toilette.gif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810" y="2636913"/>
            <a:ext cx="3430190" cy="42360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7 Rectángulo"/>
          <p:cNvSpPr/>
          <p:nvPr/>
        </p:nvSpPr>
        <p:spPr>
          <a:xfrm>
            <a:off x="5247119" y="1951089"/>
            <a:ext cx="3867662" cy="646331"/>
          </a:xfrm>
          <a:prstGeom prst="rect">
            <a:avLst/>
          </a:prstGeom>
          <a:noFill/>
          <a:effectLst>
            <a:glow rad="127000">
              <a:srgbClr val="FFC000"/>
            </a:glow>
          </a:effectLst>
        </p:spPr>
        <p:txBody>
          <a:bodyPr wrap="none" lIns="91440" tIns="45720" rIns="91440" bIns="4572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3600" b="1" dirty="0" smtClean="0">
                <a:ln w="17780" cmpd="sng">
                  <a:solidFill>
                    <a:srgbClr val="BBE0E3">
                      <a:tint val="3000"/>
                    </a:srgbClr>
                  </a:solidFill>
                  <a:prstDash val="solid"/>
                  <a:miter lim="800000"/>
                </a:ln>
                <a:solidFill>
                  <a:srgbClr val="FFC000"/>
                </a:solidFill>
                <a:effectLst>
                  <a:glow rad="127000">
                    <a:srgbClr val="00CC00"/>
                  </a:glow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Broadway" pitchFamily="82" charset="0"/>
              </a:rPr>
              <a:t>LES TOILETTES</a:t>
            </a:r>
            <a:endParaRPr lang="es-ES" sz="3600" b="1" dirty="0">
              <a:ln w="17780" cmpd="sng">
                <a:solidFill>
                  <a:srgbClr val="BBE0E3">
                    <a:tint val="3000"/>
                  </a:srgbClr>
                </a:solidFill>
                <a:prstDash val="solid"/>
                <a:miter lim="800000"/>
              </a:ln>
              <a:solidFill>
                <a:srgbClr val="FFC000"/>
              </a:solidFill>
              <a:effectLst>
                <a:glow rad="127000">
                  <a:srgbClr val="00CC00"/>
                </a:glow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Broadway" pitchFamily="82" charset="0"/>
            </a:endParaRPr>
          </a:p>
        </p:txBody>
      </p:sp>
      <p:pic>
        <p:nvPicPr>
          <p:cNvPr id="6146" name="Picture 2" descr="http://heathersanimations.com/girl/89.gif"/>
          <p:cNvPicPr>
            <a:picLocks noChangeAspect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951089"/>
            <a:ext cx="1645866" cy="382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1"/>
          <p:cNvSpPr/>
          <p:nvPr/>
        </p:nvSpPr>
        <p:spPr>
          <a:xfrm>
            <a:off x="221988" y="323945"/>
            <a:ext cx="78470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2800" b="1" dirty="0" smtClean="0">
                <a:ln w="1905"/>
                <a:gradFill>
                  <a:gsLst>
                    <a:gs pos="0">
                      <a:srgbClr val="2D2D8A">
                        <a:shade val="20000"/>
                        <a:satMod val="200000"/>
                      </a:srgbClr>
                    </a:gs>
                    <a:gs pos="78000">
                      <a:srgbClr val="2D2D8A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2D2D8A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Qu’est-ce que tu fais dans la </a:t>
            </a:r>
            <a:r>
              <a:rPr lang="fr-FR" sz="2800" b="1" dirty="0" smtClean="0">
                <a:ln w="1905"/>
                <a:gradFill>
                  <a:gsLst>
                    <a:gs pos="0">
                      <a:srgbClr val="2D2D8A">
                        <a:shade val="20000"/>
                        <a:satMod val="200000"/>
                      </a:srgbClr>
                    </a:gs>
                    <a:gs pos="78000">
                      <a:srgbClr val="2D2D8A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2D2D8A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salle de bains </a:t>
            </a:r>
            <a:r>
              <a:rPr lang="fr-FR" sz="2800" b="1" dirty="0" smtClean="0">
                <a:ln w="1905"/>
                <a:gradFill>
                  <a:gsLst>
                    <a:gs pos="0">
                      <a:srgbClr val="2D2D8A">
                        <a:shade val="20000"/>
                        <a:satMod val="200000"/>
                      </a:srgbClr>
                    </a:gs>
                    <a:gs pos="78000">
                      <a:srgbClr val="2D2D8A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2D2D8A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?</a:t>
            </a:r>
            <a:endParaRPr lang="fr-FR" sz="2800" b="1" dirty="0">
              <a:ln w="1905"/>
              <a:gradFill>
                <a:gsLst>
                  <a:gs pos="0">
                    <a:srgbClr val="2D2D8A">
                      <a:shade val="20000"/>
                      <a:satMod val="200000"/>
                    </a:srgbClr>
                  </a:gs>
                  <a:gs pos="78000">
                    <a:srgbClr val="2D2D8A">
                      <a:tint val="90000"/>
                      <a:shade val="89000"/>
                      <a:satMod val="220000"/>
                    </a:srgbClr>
                  </a:gs>
                  <a:gs pos="100000">
                    <a:srgbClr val="2D2D8A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Kristen ITC" pitchFamily="66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7544" y="5186384"/>
            <a:ext cx="4287592" cy="10772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20" name="Rectangle 21"/>
          <p:cNvSpPr/>
          <p:nvPr/>
        </p:nvSpPr>
        <p:spPr>
          <a:xfrm>
            <a:off x="467544" y="5247939"/>
            <a:ext cx="4196982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fr-FR" sz="2800" b="1" dirty="0" smtClean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Je </a:t>
            </a:r>
            <a:r>
              <a:rPr lang="fr-FR" sz="2800" b="1" dirty="0" smtClean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prend</a:t>
            </a:r>
            <a:r>
              <a:rPr lang="fr-FR" sz="28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s</a:t>
            </a:r>
            <a:r>
              <a:rPr lang="fr-FR" sz="2800" b="1" dirty="0" smtClean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 une douche.</a:t>
            </a:r>
            <a:endParaRPr lang="fr-FR" sz="2800" b="1" dirty="0" smtClean="0">
              <a:ln w="1905"/>
              <a:solidFill>
                <a:srgbClr val="00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Kristen ITC" pitchFamily="66" charset="0"/>
            </a:endParaRPr>
          </a:p>
          <a:p>
            <a:pPr algn="ctr">
              <a:defRPr/>
            </a:pPr>
            <a:r>
              <a:rPr lang="fr-FR" sz="2800" b="1" dirty="0" smtClean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Il </a:t>
            </a:r>
            <a:r>
              <a:rPr lang="fr-FR" sz="2800" b="1" dirty="0" smtClean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prend </a:t>
            </a:r>
            <a:r>
              <a:rPr lang="fr-FR" sz="2800" b="1" dirty="0">
                <a:ln w="1905"/>
                <a:solidFill>
                  <a:srgbClr val="00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Kristen ITC" pitchFamily="66" charset="0"/>
              </a:rPr>
              <a:t>une douche.</a:t>
            </a:r>
          </a:p>
        </p:txBody>
      </p:sp>
    </p:spTree>
    <p:extLst>
      <p:ext uri="{BB962C8B-B14F-4D97-AF65-F5344CB8AC3E}">
        <p14:creationId xmlns:p14="http://schemas.microsoft.com/office/powerpoint/2010/main" val="80264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oilett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qu'estcequ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qu'estcequ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3" grpId="0"/>
      <p:bldP spid="20" grpId="0"/>
    </p:bld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5_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6_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210</Words>
  <Application>Microsoft Office PowerPoint</Application>
  <PresentationFormat>On-screen Show (4:3)</PresentationFormat>
  <Paragraphs>80</Paragraphs>
  <Slides>27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1_Tema de Office</vt:lpstr>
      <vt:lpstr>Diseño predeterminado</vt:lpstr>
      <vt:lpstr>1_Diseño predeterminado</vt:lpstr>
      <vt:lpstr>2_Diseño predeterminado</vt:lpstr>
      <vt:lpstr>3_Diseño predeterminado</vt:lpstr>
      <vt:lpstr>4_Diseño predeterminado</vt:lpstr>
      <vt:lpstr>5_Diseño predeterminado</vt:lpstr>
      <vt:lpstr>6_Diseño predeterminado</vt:lpstr>
      <vt:lpstr>LA MAISON</vt:lpstr>
      <vt:lpstr>LES PIÈCES DE LA MAISON</vt:lpstr>
      <vt:lpstr> L’entrée </vt:lpstr>
      <vt:lpstr> Le salon </vt:lpstr>
      <vt:lpstr> La salle à manger </vt:lpstr>
      <vt:lpstr>La cuisine</vt:lpstr>
      <vt:lpstr> Les escaliers </vt:lpstr>
      <vt:lpstr> Le couloir </vt:lpstr>
      <vt:lpstr> La chambre </vt:lpstr>
      <vt:lpstr> La salle de bains </vt:lpstr>
      <vt:lpstr> Les toilettes </vt:lpstr>
      <vt:lpstr> Le bureau </vt:lpstr>
      <vt:lpstr>Le balcon</vt:lpstr>
      <vt:lpstr> La terrasse </vt:lpstr>
      <vt:lpstr> Le garage </vt:lpstr>
      <vt:lpstr> Le sous-sol </vt:lpstr>
      <vt:lpstr>LE MOBILIER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MAISON</dc:title>
  <dc:creator>PAULA</dc:creator>
  <cp:lastModifiedBy>Heba</cp:lastModifiedBy>
  <cp:revision>9</cp:revision>
  <dcterms:created xsi:type="dcterms:W3CDTF">2014-04-27T14:31:10Z</dcterms:created>
  <dcterms:modified xsi:type="dcterms:W3CDTF">2017-02-20T06:42:51Z</dcterms:modified>
</cp:coreProperties>
</file>