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302" r:id="rId4"/>
    <p:sldId id="259" r:id="rId5"/>
    <p:sldId id="260" r:id="rId6"/>
    <p:sldId id="285" r:id="rId7"/>
    <p:sldId id="266" r:id="rId8"/>
    <p:sldId id="267" r:id="rId9"/>
    <p:sldId id="282" r:id="rId10"/>
    <p:sldId id="294" r:id="rId11"/>
    <p:sldId id="283" r:id="rId12"/>
    <p:sldId id="293" r:id="rId13"/>
    <p:sldId id="295" r:id="rId14"/>
    <p:sldId id="296" r:id="rId15"/>
    <p:sldId id="303" r:id="rId16"/>
    <p:sldId id="304" r:id="rId17"/>
    <p:sldId id="301" r:id="rId18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073"/>
    <p:restoredTop sz="94660"/>
  </p:normalViewPr>
  <p:slideViewPr>
    <p:cSldViewPr showGuides="1">
      <p:cViewPr>
        <p:scale>
          <a:sx n="76" d="100"/>
          <a:sy n="76" d="100"/>
        </p:scale>
        <p:origin x="-1224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Oval 13"/>
          <p:cNvSpPr/>
          <p:nvPr/>
        </p:nvSpPr>
        <p:spPr>
          <a:xfrm>
            <a:off x="1157288" y="1344613"/>
            <a:ext cx="63500" cy="6508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305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6" name="Date Placeholder 6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7B8637-C2FE-40DD-880B-578A146B03D2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shade val="50000"/>
                    <a:satMod val="20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Footer Placeholder 1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anchor="b"/>
          <a:p>
            <a:pPr algn="ctr" eaLnBrk="1" hangingPunct="1">
              <a:buNone/>
            </a:pPr>
            <a:fld id="{9A0DB2DC-4C9A-4742-B13C-FB6460FD3503}" type="slidenum">
              <a:rPr lang="en-US" altLang="ar-EG" dirty="0"/>
            </a:fld>
            <a:endParaRPr lang="en-US" altLang="ar-EG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B023996-9F7E-4EFF-AB0A-FD92514FFEF1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shade val="50000"/>
                    <a:satMod val="20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ar-EG" dirty="0">
                <a:latin typeface="Arial" panose="020B0604020202020204" pitchFamily="34" charset="0"/>
              </a:rPr>
            </a:fld>
            <a:endParaRPr lang="en-US" altLang="ar-EG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2282825" y="0"/>
            <a:ext cx="68580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 bwMode="invGray">
          <a:xfrm>
            <a:off x="2286000" y="0"/>
            <a:ext cx="762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2408238" y="2746375"/>
            <a:ext cx="63500" cy="63500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415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EC550CA-C1B7-4768-84E7-530B3CC74E5D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shade val="50000"/>
                    <a:satMod val="20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anchor="b"/>
          <a:p>
            <a:pPr algn="ctr" eaLnBrk="1" hangingPunct="1">
              <a:buNone/>
            </a:pPr>
            <a:fld id="{9A0DB2DC-4C9A-4742-B13C-FB6460FD3503}" type="slidenum">
              <a:rPr lang="en-US" altLang="ar-EG" dirty="0"/>
            </a:fld>
            <a:endParaRPr lang="en-US" altLang="ar-EG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B023996-9F7E-4EFF-AB0A-FD92514FFEF1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shade val="50000"/>
                    <a:satMod val="20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ar-EG" dirty="0">
                <a:latin typeface="Arial" panose="020B0604020202020204" pitchFamily="34" charset="0"/>
              </a:rPr>
            </a:fld>
            <a:endParaRPr lang="en-US" altLang="ar-EG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/>
          <a:lstStyle>
            <a:lvl1pPr algn="ctr">
              <a:defRPr sz="4500" b="1" cap="none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135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135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065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065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Date Placeholder 6"/>
          <p:cNvSpPr>
            <a:spLocks noGrp="1"/>
          </p:cNvSpPr>
          <p:nvPr>
            <p:ph type="dt" sz="half" idx="1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3725D4-D825-4EFE-B356-8E2B1B3177D8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shade val="50000"/>
                    <a:satMod val="20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Footer Placeholder 7"/>
          <p:cNvSpPr>
            <a:spLocks noGrp="1"/>
          </p:cNvSpPr>
          <p:nvPr>
            <p:ph type="ftr" sz="quarter" idx="1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Slide Number Placeholder 8"/>
          <p:cNvSpPr>
            <a:spLocks noGrp="1"/>
          </p:cNvSpPr>
          <p:nvPr>
            <p:ph type="sldNum" sz="quarter" idx="1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anchor="b"/>
          <a:p>
            <a:pPr algn="ctr" eaLnBrk="1" hangingPunct="1">
              <a:buNone/>
            </a:pPr>
            <a:fld id="{9A0DB2DC-4C9A-4742-B13C-FB6460FD3503}" type="slidenum">
              <a:rPr lang="en-US" altLang="ar-EG" dirty="0"/>
            </a:fld>
            <a:endParaRPr lang="en-US" altLang="ar-EG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B023996-9F7E-4EFF-AB0A-FD92514FFEF1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shade val="50000"/>
                    <a:satMod val="20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ar-EG" dirty="0">
                <a:latin typeface="Arial" panose="020B0604020202020204" pitchFamily="34" charset="0"/>
              </a:rPr>
            </a:fld>
            <a:endParaRPr lang="en-US" altLang="ar-EG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14413" y="0"/>
            <a:ext cx="8129588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Date Placeholder 1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1AFB28B-344F-47CB-9710-6D3194C2DA13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shade val="50000"/>
                    <a:satMod val="20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anchor="b"/>
          <a:p>
            <a:pPr algn="ctr" eaLnBrk="1" hangingPunct="1">
              <a:buNone/>
            </a:pPr>
            <a:fld id="{9A0DB2DC-4C9A-4742-B13C-FB6460FD3503}" type="slidenum">
              <a:rPr lang="en-US" altLang="ar-EG" dirty="0"/>
            </a:fld>
            <a:endParaRPr lang="en-US" altLang="ar-EG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562D888-4071-48E4-B07C-A9CB3A777B40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shade val="50000"/>
                    <a:satMod val="20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anchor="b"/>
          <a:p>
            <a:pPr algn="ctr" eaLnBrk="1" hangingPunct="1">
              <a:buNone/>
            </a:pPr>
            <a:fld id="{9A0DB2DC-4C9A-4742-B13C-FB6460FD3503}" type="slidenum">
              <a:rPr lang="en-US" altLang="ar-EG" dirty="0"/>
            </a:fld>
            <a:endParaRPr lang="en-US" altLang="ar-EG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tIns="274320">
            <a:normAutofit/>
          </a:bodyPr>
          <a:lstStyle/>
          <a:p>
            <a:pPr marL="0" marR="0" lvl="0" indent="-283210" algn="l" defTabSz="914400" rtl="0" eaLnBrk="1" fontAlgn="base" latinLnBrk="0" hangingPunct="1">
              <a:lnSpc>
                <a:spcPts val="3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Flowchart: Process 13"/>
          <p:cNvSpPr/>
          <p:nvPr/>
        </p:nvSpPr>
        <p:spPr>
          <a:xfrm rot="19468671">
            <a:off x="396875" y="954088"/>
            <a:ext cx="685800" cy="204788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Flowchart: Process 15"/>
          <p:cNvSpPr/>
          <p:nvPr/>
        </p:nvSpPr>
        <p:spPr>
          <a:xfrm rot="2103354" flipH="1">
            <a:off x="5003800" y="936625"/>
            <a:ext cx="649288" cy="204788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vert="horz" wrap="square" lIns="91440" tIns="274320" rIns="91440" bIns="45720" numCol="1" anchor="t" anchorCtr="0" compatLnSpc="1">
            <a:normAutofit/>
          </a:bodyPr>
          <a:lstStyle>
            <a:lvl1pPr indent="0">
              <a:buNone/>
              <a:defRPr sz="3200"/>
            </a:lvl1pPr>
          </a:lstStyle>
          <a:p>
            <a:pPr marL="365125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7" name="Date Placeholder 4"/>
          <p:cNvSpPr>
            <a:spLocks noGrp="1"/>
          </p:cNvSpPr>
          <p:nvPr>
            <p:ph type="dt" sz="half" idx="1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2AD33B-054A-4E1D-B5C9-5E33A2A97DD8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shade val="50000"/>
                    <a:satMod val="20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anchor="b"/>
          <a:p>
            <a:pPr algn="ctr" eaLnBrk="1" hangingPunct="1">
              <a:buNone/>
            </a:pPr>
            <a:fld id="{9A0DB2DC-4C9A-4742-B13C-FB6460FD3503}" type="slidenum">
              <a:rPr lang="en-US" altLang="ar-EG" dirty="0"/>
            </a:fld>
            <a:endParaRPr lang="en-US" altLang="ar-EG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B023996-9F7E-4EFF-AB0A-FD92514FFEF1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shade val="50000"/>
                    <a:satMod val="20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ar-EG" dirty="0">
                <a:latin typeface="Arial" panose="020B0604020202020204" pitchFamily="34" charset="0"/>
              </a:rPr>
            </a:fld>
            <a:endParaRPr lang="en-US" altLang="ar-EG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B023996-9F7E-4EFF-AB0A-FD92514FFEF1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shade val="50000"/>
                    <a:satMod val="20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ar-EG" dirty="0">
                <a:latin typeface="Arial" panose="020B0604020202020204" pitchFamily="34" charset="0"/>
              </a:rPr>
            </a:fld>
            <a:endParaRPr lang="en-US" altLang="ar-EG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3" name="Date Placeholder 4"/>
          <p:cNvSpPr>
            <a:spLocks noGrp="1" noChangeArrowheads="1"/>
          </p:cNvSpPr>
          <p:nvPr>
            <p:ph type="dt" sz="half" idx="1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Footer Placeholder 5"/>
          <p:cNvSpPr>
            <a:spLocks noGrp="1" noChangeArrowheads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Slide Number Placeholder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anchor="b"/>
          <a:p>
            <a:pPr algn="ctr" eaLnBrk="1" hangingPunct="1">
              <a:buNone/>
            </a:pPr>
            <a:fld id="{9A0DB2DC-4C9A-4742-B13C-FB6460FD3503}" type="slidenum">
              <a:rPr lang="en-US" altLang="ar-EG" dirty="0"/>
            </a:fld>
            <a:endParaRPr lang="en-US" altLang="ar-EG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/>
      <p:sp>
        <p:nvSpPr>
          <p:cNvPr id="7" name="Pie 6"/>
          <p:cNvSpPr/>
          <p:nvPr/>
        </p:nvSpPr>
        <p:spPr>
          <a:xfrm>
            <a:off x="-815975" y="-815975"/>
            <a:ext cx="1638300" cy="16383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168275" y="20638"/>
            <a:ext cx="1703388" cy="1703388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12825" y="0"/>
            <a:ext cx="813117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33" name="Text Placeholder 8"/>
          <p:cNvSpPr>
            <a:spLocks noGrp="1"/>
          </p:cNvSpPr>
          <p:nvPr>
            <p:ph type="body" idx="1"/>
          </p:nvPr>
        </p:nvSpPr>
        <p:spPr>
          <a:xfrm>
            <a:off x="1435100" y="1447800"/>
            <a:ext cx="7499350" cy="4800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dirty="0"/>
              <a:t>Click to edit Master text styles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dirty="0"/>
          </a:p>
          <a:p>
            <a:pPr lvl="4"/>
            <a:r>
              <a:rPr dirty="0"/>
              <a:t>Fifth level</a:t>
            </a:r>
            <a:endParaRPr dirty="0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B023996-9F7E-4EFF-AB0A-FD92514FFEF1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shade val="50000"/>
                    <a:satMod val="20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>
              <a:defRPr sz="1200">
                <a:solidFill>
                  <a:srgbClr val="B5A788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ar-EG" dirty="0">
                <a:latin typeface="Arial" panose="020B0604020202020204" pitchFamily="34" charset="0"/>
              </a:rPr>
            </a:fld>
            <a:endParaRPr lang="en-US" altLang="ar-EG" dirty="0">
              <a:latin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300" kern="1200">
          <a:solidFill>
            <a:srgbClr val="572314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anose="020B0502020104020203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anose="020B0502020104020203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anose="020B0502020104020203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anose="020B0502020104020203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anose="020B0502020104020203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anose="020B0502020104020203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anose="020B0502020104020203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anose="020B0502020104020203" pitchFamily="34" charset="0"/>
        </a:defRPr>
      </a:lvl9pPr>
    </p:titleStyle>
    <p:bodyStyle>
      <a:lvl1pPr marL="365125" indent="-282575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6855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5825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355" algn="l" rtl="0" eaLnBrk="0" fontAlgn="base" hangingPunct="0">
        <a:spcBef>
          <a:spcPct val="20000"/>
        </a:spcBef>
        <a:spcAft>
          <a:spcPct val="0"/>
        </a:spcAft>
        <a:buClr>
          <a:srgbClr val="C32D2E"/>
        </a:buClr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7305" indent="-182880" algn="l" rtl="0" eaLnBrk="0" fontAlgn="base" hangingPunct="0">
        <a:spcBef>
          <a:spcPct val="20000"/>
        </a:spcBef>
        <a:spcAft>
          <a:spcPct val="0"/>
        </a:spcAft>
        <a:buClr>
          <a:srgbClr val="84AA33"/>
        </a:buClr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8945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425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Title 1"/>
          <p:cNvSpPr>
            <a:spLocks noGrp="1"/>
          </p:cNvSpPr>
          <p:nvPr>
            <p:ph type="ctrTitle"/>
          </p:nvPr>
        </p:nvSpPr>
        <p:spPr>
          <a:xfrm>
            <a:off x="1431925" y="360363"/>
            <a:ext cx="7407275" cy="1471613"/>
          </a:xfrm>
        </p:spPr>
        <p:txBody>
          <a:bodyPr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ar-EG" sz="4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Chemistry </a:t>
            </a:r>
            <a:br>
              <a:rPr kumimoji="0" lang="en-US" altLang="ar-EG" sz="4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endParaRPr kumimoji="0" lang="en-US" altLang="ar-EG" sz="4300" b="0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1925" y="1849438"/>
            <a:ext cx="7407275" cy="1752600"/>
          </a:xfrm>
        </p:spPr>
        <p:txBody>
          <a:bodyPr vert="horz" wrap="square" lIns="91440" tIns="0" rIns="91440" bIns="45720" numCol="1" rtlCol="0" anchor="t" anchorCtr="0" compatLnSpc="1">
            <a:normAutofit/>
          </a:bodyPr>
          <a:lstStyle/>
          <a:p>
            <a:pPr marL="27305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2" panose="05020102010507070707"/>
              <a:buNone/>
              <a:defRPr/>
            </a:pPr>
            <a:r>
              <a:rPr kumimoji="0" 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hade val="30000"/>
                    <a:satMod val="1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Mixtures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shade val="30000"/>
                  <a:satMod val="1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220" name="Picture 8" descr="Introduction to Mixtures and Solutions | eMedia"/>
          <p:cNvPicPr>
            <a:picLocks noChangeAspect="1"/>
          </p:cNvPicPr>
          <p:nvPr/>
        </p:nvPicPr>
        <p:blipFill>
          <a:blip r:embed="rId1"/>
          <a:srcRect l="27734" t="45477" r="29276"/>
          <a:stretch>
            <a:fillRect/>
          </a:stretch>
        </p:blipFill>
        <p:spPr>
          <a:xfrm>
            <a:off x="3714750" y="1524000"/>
            <a:ext cx="4911725" cy="4743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comb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3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Mixtures can be made by :</a:t>
            </a:r>
            <a:br>
              <a:rPr kumimoji="0" lang="en-US" sz="43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endParaRPr kumimoji="0" lang="en-US" sz="43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990600"/>
            <a:ext cx="7497763" cy="4800600"/>
          </a:xfrm>
        </p:spPr>
        <p:txBody>
          <a:bodyPr vert="horz" wrap="square" lIns="91440" tIns="45720" rIns="91440" bIns="45720" numCol="1" anchor="t" anchorCtr="0" compatLnSpc="1">
            <a:normAutofit fontScale="92500" lnSpcReduction="20000"/>
          </a:bodyPr>
          <a:lstStyle/>
          <a:p>
            <a:pPr marL="365760" marR="0" lvl="0" indent="-28321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Mixing two solids together, sometimes it can be easily separated.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255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 panose="05020102010507070707"/>
              <a:buNone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Examples: a bowl of salad.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255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 panose="05020102010507070707"/>
              <a:buNone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8321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Mixing a solid and a liquid together.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255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 panose="05020102010507070707"/>
              <a:buNone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255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 panose="05020102010507070707"/>
              <a:buNone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Sugar in water 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255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 panose="05020102010507070707"/>
              <a:buNone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Sand in water.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255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 panose="05020102010507070707"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255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 panose="05020102010507070707"/>
              <a:buNone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255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 panose="05020102010507070707"/>
              <a:buNone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8321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Mixing two liquids together.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255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 panose="05020102010507070707"/>
              <a:buNone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Water with oil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4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9900" y="1282700"/>
            <a:ext cx="1990725" cy="1384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5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819400"/>
            <a:ext cx="1198563" cy="1581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5675" y="3962400"/>
            <a:ext cx="1509713" cy="22669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1" name="Title 2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4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Dissolving</a:t>
            </a:r>
            <a:endParaRPr kumimoji="0" lang="en-US" altLang="en-US" sz="4300" b="0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7631113" cy="4195763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en-US" sz="2400" b="1" dirty="0">
                <a:latin typeface="Muli-SemiBold"/>
              </a:rPr>
              <a:t>Tea is a liquid. Sugar is solid. When you put sugar in your tea and stir it, the sugar seems to disappear. </a:t>
            </a:r>
            <a:endParaRPr lang="en-US" altLang="en-US" sz="2400" b="1" dirty="0">
              <a:latin typeface="Muli-SemiBold"/>
            </a:endParaRPr>
          </a:p>
          <a:p>
            <a:pPr eaLnBrk="1" hangingPunct="1"/>
            <a:r>
              <a:rPr lang="en-US" altLang="en-US" sz="2400" b="1" dirty="0">
                <a:latin typeface="Muli-SemiBold"/>
              </a:rPr>
              <a:t>You know the sugar is there because you can taste it in the tea. What happened to the sugar?</a:t>
            </a:r>
            <a:endParaRPr lang="en-US" altLang="en-US" sz="3600" dirty="0">
              <a:solidFill>
                <a:srgbClr val="FF0000"/>
              </a:solidFill>
            </a:endParaRPr>
          </a:p>
        </p:txBody>
      </p:sp>
      <p:pic>
        <p:nvPicPr>
          <p:cNvPr id="11268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2600" y="3733800"/>
            <a:ext cx="3219450" cy="23590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wheel spokes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xfrm>
            <a:off x="838200" y="304800"/>
            <a:ext cx="8153400" cy="1981200"/>
          </a:xfrm>
        </p:spPr>
        <p:txBody>
          <a:bodyPr anchor="ctr">
            <a:normAutofit fontScale="9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uli-SemiBold"/>
                <a:ea typeface="+mj-ea"/>
                <a:cs typeface="+mj-cs"/>
              </a:rPr>
              <a:t>   The sugar has dissolved in the tea. This means that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uli-SemiBold"/>
                <a:ea typeface="+mj-ea"/>
                <a:cs typeface="+mj-cs"/>
              </a:rPr>
              <a:t>the particles of sugar have spread out </a:t>
            </a:r>
            <a:b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uli-SemiBold"/>
                <a:ea typeface="+mj-ea"/>
                <a:cs typeface="+mj-cs"/>
              </a:rPr>
            </a:b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uli-SemiBold"/>
                <a:ea typeface="+mj-ea"/>
                <a:cs typeface="+mj-cs"/>
              </a:rPr>
              <a:t>into the spaces between the particles of the </a:t>
            </a: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uli-SemiBold"/>
                <a:ea typeface="+mj-ea"/>
                <a:cs typeface="+mj-cs"/>
              </a:rPr>
              <a:t>tea forming a </a:t>
            </a:r>
            <a:r>
              <a:rPr kumimoji="0" lang="en-US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uli-SemiBold"/>
                <a:ea typeface="+mj-ea"/>
                <a:cs typeface="+mj-cs"/>
              </a:rPr>
              <a:t>solution.</a:t>
            </a:r>
            <a:b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uli-SemiBold"/>
                <a:ea typeface="+mj-ea"/>
                <a:cs typeface="+mj-cs"/>
              </a:rPr>
            </a:br>
            <a:endParaRPr kumimoji="0" lang="en-US" altLang="ar-EG" sz="43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2291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1828800"/>
            <a:ext cx="7721600" cy="4343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blinds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xfrm>
            <a:off x="1143000" y="2590800"/>
            <a:ext cx="3200400" cy="1981200"/>
          </a:xfrm>
        </p:spPr>
        <p:txBody>
          <a:bodyPr anchor="ctr">
            <a:normAutofit fontScale="9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  <a:t>Solids that can dissolve in a liquid are called </a:t>
            </a:r>
            <a:r>
              <a:rPr kumimoji="0" lang="en-US" altLang="en-US" sz="3600" b="1" i="0" u="sng" strike="noStrike" kern="1200" cap="none" spc="0" normalizeH="0" baseline="0" noProof="0" dirty="0" smtClean="0">
                <a:ln>
                  <a:noFill/>
                </a:ln>
                <a:solidFill>
                  <a:srgbClr val="FF520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  <a:t>soluble </a:t>
            </a:r>
            <a:r>
              <a:rPr kumimoji="0" lang="en-US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  <a:t>solids.</a:t>
            </a:r>
            <a:br>
              <a:rPr kumimoji="0" lang="en-US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</a:br>
            <a:br>
              <a:rPr kumimoji="0" lang="en-US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</a:br>
            <a:r>
              <a:rPr kumimoji="0" lang="en-US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  <a:t>Not all solids can dissolve. These solids are </a:t>
            </a:r>
            <a:r>
              <a:rPr kumimoji="0" lang="en-US" altLang="en-US" sz="3600" b="1" i="0" u="sng" strike="noStrike" kern="1200" cap="none" spc="0" normalizeH="0" baseline="0" noProof="0" dirty="0" smtClean="0">
                <a:ln>
                  <a:noFill/>
                </a:ln>
                <a:solidFill>
                  <a:srgbClr val="FF520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  <a:t>insoluble</a:t>
            </a:r>
            <a:r>
              <a:rPr kumimoji="0" lang="en-US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  <a:t>.</a:t>
            </a:r>
            <a:br>
              <a:rPr kumimoji="0" lang="en-US" alt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endParaRPr kumimoji="0" lang="en-US" altLang="ar-EG" sz="3600" b="0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3315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8600" y="1447800"/>
            <a:ext cx="4987925" cy="4267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check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ar-EG" sz="4300" b="0" i="0" u="none" strike="noStrike" kern="1200" cap="none" spc="0" normalizeH="0" baseline="0" noProof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Dissolving is a type of </a:t>
            </a:r>
            <a:r>
              <a:rPr kumimoji="0" lang="en-US" altLang="ar-EG" sz="43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mixing.</a:t>
            </a:r>
            <a:br>
              <a:rPr kumimoji="0" lang="en-US" altLang="ar-EG" sz="4300" b="0" i="0" u="none" strike="noStrike" kern="1200" cap="none" spc="0" normalizeH="0" baseline="0" noProof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altLang="ar-EG" sz="4300" b="0" i="0" u="none" strike="noStrike" kern="1200" cap="none" spc="0" normalizeH="0" baseline="0" noProof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We call the mixture a </a:t>
            </a:r>
            <a:r>
              <a:rPr kumimoji="0" lang="en-US" altLang="ar-EG" sz="4300" b="1" i="0" u="sng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solution.</a:t>
            </a:r>
            <a:endParaRPr kumimoji="0" lang="en-US" altLang="ar-EG" sz="4300" b="1" i="0" u="sng" strike="noStrike" kern="1200" cap="none" spc="0" normalizeH="0" baseline="0" noProof="0" smtClean="0">
              <a:ln>
                <a:noFill/>
              </a:ln>
              <a:solidFill>
                <a:srgbClr val="C00000"/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339" name="Content Placeholder 1"/>
          <p:cNvSpPr>
            <a:spLocks noGrp="1"/>
          </p:cNvSpPr>
          <p:nvPr>
            <p:ph idx="1"/>
          </p:nvPr>
        </p:nvSpPr>
        <p:spPr>
          <a:xfrm>
            <a:off x="827088" y="3886200"/>
            <a:ext cx="6711950" cy="23622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  <p:pic>
        <p:nvPicPr>
          <p:cNvPr id="14340" name="Picture 1"/>
          <p:cNvPicPr>
            <a:picLocks noChangeAspect="1"/>
          </p:cNvPicPr>
          <p:nvPr/>
        </p:nvPicPr>
        <p:blipFill>
          <a:blip r:embed="rId1"/>
          <a:srcRect t="17073" b="38110"/>
          <a:stretch>
            <a:fillRect/>
          </a:stretch>
        </p:blipFill>
        <p:spPr>
          <a:xfrm>
            <a:off x="1143000" y="1828800"/>
            <a:ext cx="7543800" cy="3581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dissolv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7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600200"/>
            <a:ext cx="4953000" cy="46482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 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  <p:sp>
        <p:nvSpPr>
          <p:cNvPr id="15363" name="Content Placeholder 1"/>
          <p:cNvSpPr>
            <a:spLocks noGrp="1"/>
          </p:cNvSpPr>
          <p:nvPr>
            <p:ph sz="half" idx="2"/>
          </p:nvPr>
        </p:nvSpPr>
        <p:spPr>
          <a:xfrm>
            <a:off x="1143000" y="152400"/>
            <a:ext cx="7885113" cy="3124200"/>
          </a:xfrm>
          <a:ln/>
        </p:spPr>
        <p:txBody>
          <a:bodyPr vert="horz" wrap="square" lIns="91440" tIns="45720" rIns="91440" bIns="45720" anchor="t" anchorCtr="0"/>
          <a:p>
            <a:pPr marL="0" indent="0" eaLnBrk="1" hangingPunct="1">
              <a:buClr>
                <a:schemeClr val="accent1"/>
              </a:buClr>
              <a:buSzPct val="80000"/>
              <a:buFont typeface="Wingdings 3" panose="05040102010807070707" pitchFamily="18" charset="2"/>
              <a:buNone/>
            </a:pPr>
            <a:r>
              <a:rPr lang="en-US" altLang="en-US" sz="2800" dirty="0"/>
              <a:t>The solid in the solution is called the </a:t>
            </a:r>
            <a:r>
              <a:rPr lang="en-US" altLang="en-US" sz="2800" b="1" u="sng" dirty="0">
                <a:solidFill>
                  <a:srgbClr val="C00000"/>
                </a:solidFill>
              </a:rPr>
              <a:t>solute, </a:t>
            </a:r>
            <a:r>
              <a:rPr lang="en-US" altLang="en-US" sz="2800" dirty="0"/>
              <a:t>for example, </a:t>
            </a:r>
            <a:r>
              <a:rPr lang="en-US" altLang="en-US" sz="2800" b="1" u="sng" dirty="0">
                <a:solidFill>
                  <a:srgbClr val="C00000"/>
                </a:solidFill>
              </a:rPr>
              <a:t>sugar.</a:t>
            </a:r>
            <a:endParaRPr lang="en-US" altLang="en-US" sz="2800" b="1" u="sng" dirty="0">
              <a:solidFill>
                <a:srgbClr val="C00000"/>
              </a:solidFill>
            </a:endParaRPr>
          </a:p>
          <a:p>
            <a:pPr marL="0" indent="0" eaLnBrk="1" hangingPunct="1">
              <a:buClr>
                <a:schemeClr val="accent1"/>
              </a:buClr>
              <a:buSzPct val="80000"/>
              <a:buFont typeface="Wingdings 3" panose="05040102010807070707" pitchFamily="18" charset="2"/>
              <a:buNone/>
            </a:pPr>
            <a:endParaRPr lang="en-US" altLang="en-US" sz="2800" b="1" u="sng" dirty="0">
              <a:solidFill>
                <a:srgbClr val="C00000"/>
              </a:solidFill>
            </a:endParaRPr>
          </a:p>
          <a:p>
            <a:pPr marL="0" indent="0" eaLnBrk="1" hangingPunct="1">
              <a:buClr>
                <a:schemeClr val="accent1"/>
              </a:buClr>
              <a:buSzPct val="80000"/>
              <a:buFont typeface="Wingdings 3" panose="05040102010807070707" pitchFamily="18" charset="2"/>
              <a:buNone/>
            </a:pPr>
            <a:r>
              <a:rPr lang="en-US" altLang="en-US" sz="2800" dirty="0"/>
              <a:t>The liquid is called </a:t>
            </a:r>
            <a:r>
              <a:rPr lang="en-US" altLang="en-US" sz="2800" b="1" u="sng" dirty="0">
                <a:solidFill>
                  <a:srgbClr val="C00000"/>
                </a:solidFill>
              </a:rPr>
              <a:t>the solvent</a:t>
            </a:r>
            <a:r>
              <a:rPr lang="en-US" altLang="en-US" sz="2800" dirty="0"/>
              <a:t>, </a:t>
            </a:r>
            <a:endParaRPr lang="en-US" altLang="en-US" sz="2800" dirty="0"/>
          </a:p>
          <a:p>
            <a:pPr marL="0" indent="0" eaLnBrk="1" hangingPunct="1">
              <a:buClr>
                <a:schemeClr val="accent1"/>
              </a:buClr>
              <a:buSzPct val="80000"/>
              <a:buFont typeface="Wingdings 3" panose="05040102010807070707" pitchFamily="18" charset="2"/>
              <a:buNone/>
            </a:pPr>
            <a:endParaRPr lang="en-US" altLang="en-US" sz="2800" dirty="0"/>
          </a:p>
          <a:p>
            <a:pPr marL="0" indent="0" eaLnBrk="1" hangingPunct="1">
              <a:buClr>
                <a:schemeClr val="accent1"/>
              </a:buClr>
              <a:buSzPct val="80000"/>
              <a:buFont typeface="Wingdings 3" panose="05040102010807070707" pitchFamily="18" charset="2"/>
              <a:buNone/>
            </a:pPr>
            <a:r>
              <a:rPr lang="en-US" altLang="en-US" sz="2800" dirty="0"/>
              <a:t>A solution will always contain </a:t>
            </a:r>
            <a:r>
              <a:rPr lang="en-US" altLang="en-US" sz="2800" dirty="0">
                <a:solidFill>
                  <a:srgbClr val="C00000"/>
                </a:solidFill>
              </a:rPr>
              <a:t>a solute and a solvent.</a:t>
            </a:r>
            <a:endParaRPr lang="en-US" altLang="en-US" sz="2800" dirty="0">
              <a:solidFill>
                <a:srgbClr val="C00000"/>
              </a:solidFill>
            </a:endParaRPr>
          </a:p>
        </p:txBody>
      </p:sp>
      <p:pic>
        <p:nvPicPr>
          <p:cNvPr id="15364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7738" y="3048000"/>
            <a:ext cx="4818062" cy="31813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7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7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Title 5"/>
          <p:cNvSpPr>
            <a:spLocks noGrp="1"/>
          </p:cNvSpPr>
          <p:nvPr>
            <p:ph type="title"/>
          </p:nvPr>
        </p:nvSpPr>
        <p:spPr>
          <a:xfrm>
            <a:off x="1143000" y="1219200"/>
            <a:ext cx="7498080" cy="1143000"/>
          </a:xfrm>
          <a:noFill/>
          <a:ln>
            <a:noFill/>
          </a:ln>
          <a:effectLst/>
          <a:scene3d>
            <a:camera prst="orthographicFront"/>
            <a:lightRig rig="balanced" dir="t"/>
          </a:scene3d>
          <a:sp3d prstMaterial="plastic"/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  <a:t>Sea water is another </a:t>
            </a:r>
            <a:r>
              <a:rPr kumimoji="0" lang="en-US" alt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highlight>
                  <a:srgbClr val="00FFFF"/>
                </a:highlight>
                <a:uLnTx/>
                <a:uFillTx/>
                <a:latin typeface="Muli-SemiBold"/>
                <a:ea typeface="+mj-ea"/>
                <a:cs typeface="+mj-cs"/>
              </a:rPr>
              <a:t>solution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  <a:t>. The salt dissolves in the water to make the solution. The </a:t>
            </a:r>
            <a:r>
              <a:rPr kumimoji="0" lang="en-US" alt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  <a:t>salt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  <a:t>is the </a:t>
            </a:r>
            <a:r>
              <a:rPr kumimoji="0" lang="en-US" alt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  <a:t>solute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  <a:t> and the </a:t>
            </a:r>
            <a:r>
              <a:rPr kumimoji="0" lang="en-US" alt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  <a:t>water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  <a:t> </a:t>
            </a:r>
            <a:r>
              <a:rPr kumimoji="0" lang="en-US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  <a:t>is the </a:t>
            </a:r>
            <a:r>
              <a:rPr kumimoji="0" lang="en-US" alt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  <a:t>solvent.</a:t>
            </a:r>
            <a:br>
              <a:rPr kumimoji="0" lang="en-US" altLang="ar-EG" sz="2800" b="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b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</a:br>
            <a:endParaRPr kumimoji="0" lang="en-US" altLang="ar-EG" sz="2800" b="0" i="0" u="sng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6387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00" y="2667000"/>
            <a:ext cx="6858000" cy="3429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1371600" y="1143000"/>
            <a:ext cx="7498080" cy="1143000"/>
          </a:xfrm>
          <a:noFill/>
          <a:ln>
            <a:noFill/>
          </a:ln>
          <a:effectLst/>
          <a:scene3d>
            <a:camera prst="orthographicFront"/>
            <a:lightRig rig="balanced" dir="t"/>
          </a:scene3d>
          <a:sp3d prstMaterial="plastic"/>
        </p:spPr>
        <p:txBody>
          <a:bodyPr anchor="ctr">
            <a:normAutofit fontScale="9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  <a:t>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  <a:t>particles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  <a:t>of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  <a:t>solute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  <a:t>move between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  <a:t>solvent particles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  <a:t> when they dissolve. </a:t>
            </a:r>
            <a:b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</a:b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  <a:t>The solute particles spread evenly in the solvent. </a:t>
            </a:r>
            <a:b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</a:b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  <a:t>We say that a solution has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520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  <a:t>uniform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  <a:t>appearance.</a:t>
            </a:r>
            <a:b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</a:b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  <a:t>This means that it looks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Muli-SemiBold"/>
                <a:ea typeface="+mj-ea"/>
                <a:cs typeface="+mj-cs"/>
              </a:rPr>
              <a:t>same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  <a:t>throughout. The picture shows how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Muli-SemiBold"/>
                <a:ea typeface="+mj-ea"/>
                <a:cs typeface="+mj-cs"/>
              </a:rPr>
              <a:t>solute particles spread when they dissolve in water.</a:t>
            </a:r>
            <a:endParaRPr kumimoji="0" lang="ar-EG" altLang="ar-EG" sz="48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highlight>
                <a:srgbClr val="FFFF00"/>
              </a:highligh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7411" name="Content Placeholder 2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1435100" y="3063875"/>
            <a:ext cx="7499350" cy="1568450"/>
          </a:xfrm>
          <a:ln/>
        </p:spPr>
      </p:pic>
    </p:spTree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143000" y="685800"/>
            <a:ext cx="7497763" cy="1143000"/>
          </a:xfrm>
        </p:spPr>
        <p:txBody>
          <a:bodyPr anchor="ctr">
            <a:normAutofit fontScale="9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ar-EG" sz="3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Many substances dissolve in water. This is another one of water’s properties. Water is sometimes called the </a:t>
            </a:r>
            <a:r>
              <a:rPr kumimoji="0" lang="en-US" altLang="ar-EG" sz="3200" b="1" i="1" u="sng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universal </a:t>
            </a:r>
            <a:r>
              <a:rPr kumimoji="0" lang="en-US" altLang="ar-EG" sz="3200" b="1" i="1" u="sng" strike="noStrike" kern="1200" cap="none" spc="0" normalizeH="0" baseline="0" noProof="0" dirty="0" smtClean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(common) solvent </a:t>
            </a:r>
            <a:r>
              <a:rPr kumimoji="0" lang="en-US" altLang="ar-EG" sz="3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because so many substances can dissolve in water.</a:t>
            </a:r>
            <a:endParaRPr kumimoji="0" lang="ar-EG" altLang="ar-EG" sz="32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8435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0" y="2171700"/>
            <a:ext cx="5105400" cy="4254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circl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ar-EG" sz="43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Suspension</a:t>
            </a:r>
            <a:endParaRPr kumimoji="0" lang="ar-EG" altLang="ar-EG" sz="4300" b="1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9459" name="Picture 1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5029200" y="1524000"/>
            <a:ext cx="3962400" cy="3429000"/>
          </a:xfrm>
          <a:ln/>
        </p:spPr>
      </p:pic>
      <p:sp>
        <p:nvSpPr>
          <p:cNvPr id="19460" name="TextBox 2"/>
          <p:cNvSpPr txBox="1"/>
          <p:nvPr/>
        </p:nvSpPr>
        <p:spPr>
          <a:xfrm>
            <a:off x="1303338" y="1371600"/>
            <a:ext cx="6878637" cy="4524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dirty="0">
                <a:latin typeface="Arial" panose="020B0604020202020204" pitchFamily="34" charset="0"/>
              </a:rPr>
              <a:t>When solid does not dissolve in a </a:t>
            </a:r>
            <a:endParaRPr dirty="0">
              <a:latin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</a:rPr>
              <a:t>liquid It can form:</a:t>
            </a:r>
            <a:endParaRPr dirty="0">
              <a:latin typeface="Arial" panose="020B0604020202020204" pitchFamily="34" charset="0"/>
            </a:endParaRPr>
          </a:p>
          <a:p>
            <a:endParaRPr dirty="0">
              <a:latin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</a:rPr>
              <a:t>1-  A suspension which is</a:t>
            </a:r>
            <a:endParaRPr dirty="0">
              <a:latin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</a:rPr>
              <a:t>cloudy and you can see the </a:t>
            </a:r>
            <a:endParaRPr dirty="0">
              <a:latin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</a:rPr>
              <a:t>floating solid particles through out </a:t>
            </a:r>
            <a:endParaRPr dirty="0">
              <a:latin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</a:rPr>
              <a:t>the liquid.</a:t>
            </a:r>
            <a:endParaRPr dirty="0">
              <a:latin typeface="Arial" panose="020B0604020202020204" pitchFamily="34" charset="0"/>
            </a:endParaRPr>
          </a:p>
          <a:p>
            <a:endParaRPr dirty="0">
              <a:latin typeface="Arial" panose="020B0604020202020204" pitchFamily="34" charset="0"/>
            </a:endParaRPr>
          </a:p>
          <a:p>
            <a:r>
              <a:rPr dirty="0">
                <a:solidFill>
                  <a:srgbClr val="FF0000"/>
                </a:solidFill>
                <a:latin typeface="Arial" panose="020B0604020202020204" pitchFamily="34" charset="0"/>
              </a:rPr>
              <a:t>Example:</a:t>
            </a:r>
            <a:endParaRPr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</a:rPr>
              <a:t>- Flour in water.</a:t>
            </a:r>
            <a:endParaRPr dirty="0">
              <a:latin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</a:rPr>
              <a:t>- Mud in water</a:t>
            </a:r>
            <a:endParaRPr dirty="0">
              <a:latin typeface="Arial" panose="020B0604020202020204" pitchFamily="34" charset="0"/>
            </a:endParaRPr>
          </a:p>
          <a:p>
            <a:endParaRPr dirty="0">
              <a:latin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</a:rPr>
              <a:t>2- Insoluble</a:t>
            </a:r>
            <a:endParaRPr dirty="0">
              <a:latin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</a:rPr>
              <a:t> </a:t>
            </a:r>
            <a:r>
              <a:rPr dirty="0">
                <a:solidFill>
                  <a:srgbClr val="FF0000"/>
                </a:solidFill>
                <a:latin typeface="Arial" panose="020B0604020202020204" pitchFamily="34" charset="0"/>
              </a:rPr>
              <a:t>Example:</a:t>
            </a:r>
            <a:endParaRPr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</a:rPr>
              <a:t>   sand drops down at the bottom of the liquid so sand in insoluble.</a:t>
            </a:r>
            <a:endParaRPr dirty="0">
              <a:latin typeface="Arial" panose="020B0604020202020204" pitchFamily="34" charset="0"/>
            </a:endParaRPr>
          </a:p>
          <a:p>
            <a:endParaRPr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1371600" y="-152400"/>
            <a:ext cx="7497763" cy="1143000"/>
          </a:xfr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  <a:t>Separating a solution</a:t>
            </a:r>
            <a:endParaRPr kumimoji="0" lang="ar-EG" altLang="ar-EG" sz="4300" b="0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955675" y="630238"/>
            <a:ext cx="8164513" cy="2646362"/>
          </a:xfrm>
          <a:ln/>
        </p:spPr>
        <p:txBody>
          <a:bodyPr vert="horz" wrap="square" lIns="91440" tIns="45720" rIns="91440" bIns="45720" anchor="t" anchorCtr="0"/>
          <a:p>
            <a:pPr marL="81280" indent="0" eaLnBrk="1" hangingPunct="1">
              <a:buNone/>
            </a:pPr>
            <a:r>
              <a:rPr lang="en-US" altLang="ar-EG" b="1" u="sng" dirty="0">
                <a:solidFill>
                  <a:srgbClr val="FF0000"/>
                </a:solidFill>
                <a:ea typeface="Majalla UI"/>
              </a:rPr>
              <a:t>A solution is a mixture of the solute and the solvent</a:t>
            </a:r>
            <a:r>
              <a:rPr lang="en-US" altLang="ar-EG" dirty="0">
                <a:ea typeface="Majalla UI"/>
              </a:rPr>
              <a:t>. We can separate most mixtures because the particles of the substances in the mixture are </a:t>
            </a:r>
            <a:r>
              <a:rPr lang="en-US" altLang="ar-EG" b="1" u="sng" dirty="0">
                <a:solidFill>
                  <a:srgbClr val="FF0000"/>
                </a:solidFill>
                <a:ea typeface="Majalla UI"/>
              </a:rPr>
              <a:t>not chemically </a:t>
            </a:r>
            <a:r>
              <a:rPr lang="en-US" altLang="ar-EG" dirty="0">
                <a:ea typeface="Majalla UI"/>
              </a:rPr>
              <a:t>joined together. </a:t>
            </a:r>
            <a:endParaRPr lang="en-US" altLang="ar-EG" dirty="0">
              <a:ea typeface="Majalla UI"/>
            </a:endParaRPr>
          </a:p>
          <a:p>
            <a:pPr marL="81280" indent="0" eaLnBrk="1" hangingPunct="1">
              <a:buNone/>
            </a:pPr>
            <a:r>
              <a:rPr lang="en-US" altLang="ar-EG" b="1" u="sng" dirty="0">
                <a:solidFill>
                  <a:srgbClr val="FF0000"/>
                </a:solidFill>
                <a:ea typeface="Majalla UI"/>
              </a:rPr>
              <a:t>(Not permanent not chemical not irreversible change) </a:t>
            </a:r>
            <a:endParaRPr lang="en-US" altLang="ar-EG" b="1" u="sng" dirty="0">
              <a:solidFill>
                <a:srgbClr val="FF0000"/>
              </a:solidFill>
              <a:ea typeface="Majalla UI"/>
            </a:endParaRPr>
          </a:p>
          <a:p>
            <a:pPr marL="81280" indent="0" eaLnBrk="1" hangingPunct="1">
              <a:buNone/>
            </a:pPr>
            <a:r>
              <a:rPr lang="en-US" altLang="ar-EG" dirty="0">
                <a:ea typeface="Majalla UI"/>
              </a:rPr>
              <a:t> </a:t>
            </a:r>
            <a:r>
              <a:rPr lang="en-US" altLang="ar-EG" sz="4000" b="1" dirty="0">
                <a:solidFill>
                  <a:srgbClr val="00B050"/>
                </a:solidFill>
                <a:ea typeface="Majalla UI"/>
              </a:rPr>
              <a:t>Can we separate a solution?</a:t>
            </a:r>
            <a:endParaRPr lang="en-US" altLang="ar-EG" sz="4000" b="1" dirty="0">
              <a:solidFill>
                <a:srgbClr val="00B050"/>
              </a:solidFill>
              <a:ea typeface="Majalla UI"/>
            </a:endParaRPr>
          </a:p>
          <a:p>
            <a:pPr marL="81280" indent="0" eaLnBrk="1" hangingPunct="1">
              <a:buNone/>
            </a:pPr>
            <a:r>
              <a:rPr lang="en-US" altLang="ar-EG" dirty="0">
                <a:ea typeface="Majalla UI"/>
              </a:rPr>
              <a:t>Yes, Because It is </a:t>
            </a:r>
            <a:r>
              <a:rPr lang="en-US" altLang="ar-EG" b="1" u="sng" dirty="0">
                <a:solidFill>
                  <a:srgbClr val="FF0000"/>
                </a:solidFill>
                <a:ea typeface="Majalla UI"/>
              </a:rPr>
              <a:t>reversible temporary physical </a:t>
            </a:r>
            <a:r>
              <a:rPr lang="en-US" altLang="ar-EG" dirty="0">
                <a:ea typeface="Majalla UI"/>
              </a:rPr>
              <a:t>change.</a:t>
            </a:r>
            <a:endParaRPr lang="ar-EG" altLang="ar-EG" dirty="0">
              <a:ea typeface="Majalla UI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1219200" y="762000"/>
            <a:ext cx="7497763" cy="1143000"/>
          </a:xfrm>
        </p:spPr>
        <p:txBody>
          <a:bodyPr anchor="ctr">
            <a:normAutofit fontScale="9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  <a:t>We can separate the dissolved solute from a solution by </a:t>
            </a:r>
            <a:r>
              <a:rPr kumimoji="0" lang="en-US" altLang="en-US" sz="3600" b="1" i="0" u="sng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  <a:t>evaporation.</a:t>
            </a:r>
            <a:br>
              <a:rPr kumimoji="0" lang="en-US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</a:br>
            <a:r>
              <a:rPr kumimoji="0" lang="en-US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  <a:t>We call this a </a:t>
            </a:r>
            <a:r>
              <a:rPr kumimoji="0" lang="en-US" altLang="en-US" sz="3600" b="1" i="0" u="sng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  <a:t>reversible process</a:t>
            </a:r>
            <a:r>
              <a:rPr kumimoji="0" lang="en-US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li-SemiBold"/>
                <a:ea typeface="+mj-ea"/>
                <a:cs typeface="+mj-cs"/>
              </a:rPr>
              <a:t> because we can get back the dissolved solute from the solution.</a:t>
            </a:r>
            <a:endParaRPr kumimoji="0" lang="en-US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1507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1828800" y="2971800"/>
            <a:ext cx="6129338" cy="2895600"/>
          </a:xfrm>
          <a:ln/>
        </p:spPr>
      </p:pic>
    </p:spTree>
  </p:cSld>
  <p:clrMapOvr>
    <a:masterClrMapping/>
  </p:clrMapOvr>
  <p:transition spd="slow">
    <p:check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52400"/>
            <a:ext cx="7924800" cy="1143000"/>
          </a:xfr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Filtration can be applies on insoluble or suspensions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2531" name="Picture 4"/>
          <p:cNvPicPr>
            <a:picLocks noGrp="1" noChangeAspect="1"/>
          </p:cNvPicPr>
          <p:nvPr>
            <p:ph idx="1"/>
          </p:nvPr>
        </p:nvPicPr>
        <p:blipFill>
          <a:blip r:embed="rId1">
            <a:lum bright="-20001" contrast="40000"/>
          </a:blip>
          <a:srcRect/>
          <a:stretch>
            <a:fillRect/>
          </a:stretch>
        </p:blipFill>
        <p:spPr>
          <a:xfrm>
            <a:off x="1066800" y="1143000"/>
            <a:ext cx="7935913" cy="4267200"/>
          </a:xfrm>
          <a:ln/>
        </p:spPr>
      </p:pic>
      <p:sp>
        <p:nvSpPr>
          <p:cNvPr id="22532" name="TextBox 2"/>
          <p:cNvSpPr txBox="1"/>
          <p:nvPr/>
        </p:nvSpPr>
        <p:spPr>
          <a:xfrm>
            <a:off x="1735138" y="5334000"/>
            <a:ext cx="6762750" cy="1200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dirty="0">
                <a:latin typeface="Arial" panose="020B0604020202020204" pitchFamily="34" charset="0"/>
              </a:rPr>
              <a:t>Particles of the residue is bigger than the holes in the filter paper</a:t>
            </a:r>
            <a:endParaRPr dirty="0">
              <a:latin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</a:rPr>
              <a:t>so it cannot pass though them but the particles </a:t>
            </a:r>
            <a:endParaRPr dirty="0">
              <a:latin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</a:rPr>
              <a:t>Of the liquid is smaller then the holes in the filter paper</a:t>
            </a:r>
            <a:endParaRPr dirty="0">
              <a:latin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</a:rPr>
              <a:t>so it can pass through them.</a:t>
            </a:r>
            <a:endParaRPr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Magnetic separation can be applied on solid - solid mixtures, one of the solid is a magnetic material.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572314"/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3555" name="Picture 2"/>
          <p:cNvPicPr>
            <a:picLocks noGrp="1" noChangeAspect="1"/>
          </p:cNvPicPr>
          <p:nvPr>
            <p:ph idx="1"/>
          </p:nvPr>
        </p:nvPicPr>
        <p:blipFill>
          <a:blip r:embed="rId1"/>
          <a:srcRect t="14461" b="2045"/>
          <a:stretch>
            <a:fillRect/>
          </a:stretch>
        </p:blipFill>
        <p:spPr>
          <a:xfrm>
            <a:off x="1295400" y="1752600"/>
            <a:ext cx="6400800" cy="4540250"/>
          </a:xfrm>
          <a:ln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br>
              <a:rPr kumimoji="0" lang="en-US" altLang="en-US" sz="4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br>
              <a:rPr kumimoji="0" lang="en-US" altLang="en-US" sz="43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br>
              <a:rPr kumimoji="0" lang="en-US" altLang="en-US" sz="4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br>
              <a:rPr kumimoji="0" lang="en-US" altLang="en-US" sz="43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br>
              <a:rPr kumimoji="0" lang="en-US" altLang="en-US" sz="4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br>
              <a:rPr kumimoji="0" lang="en-US" altLang="en-US" sz="43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br>
              <a:rPr kumimoji="0" lang="en-US" altLang="en-US" sz="4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altLang="en-US" sz="4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Thank You.</a:t>
            </a:r>
            <a:endParaRPr kumimoji="0" lang="en-US" altLang="en-US" sz="4300" b="0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slow">
    <p:split orient="vert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0</TotalTime>
  <Words>2766</Words>
  <Application>WPS Presentation</Application>
  <PresentationFormat>On-screen Show (4:3)</PresentationFormat>
  <Paragraphs>85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2" baseType="lpstr">
      <vt:lpstr>Arial</vt:lpstr>
      <vt:lpstr>SimSun</vt:lpstr>
      <vt:lpstr>Wingdings</vt:lpstr>
      <vt:lpstr>Gill Sans MT</vt:lpstr>
      <vt:lpstr>Wingdings 2</vt:lpstr>
      <vt:lpstr>Verdana</vt:lpstr>
      <vt:lpstr>Calibri</vt:lpstr>
      <vt:lpstr>Majalla UI</vt:lpstr>
      <vt:lpstr>Segoe Print</vt:lpstr>
      <vt:lpstr>Muli-SemiBold</vt:lpstr>
      <vt:lpstr>Arial Black</vt:lpstr>
      <vt:lpstr>Wingdings 3</vt:lpstr>
      <vt:lpstr>Wingdings 2</vt:lpstr>
      <vt:lpstr>Microsoft YaHei</vt:lpstr>
      <vt:lpstr>Arial Unicode MS</vt:lpstr>
      <vt:lpstr>Solstice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Evaporation</dc:title>
  <dc:creator>Dina</dc:creator>
  <cp:lastModifiedBy>Melina Mahdy</cp:lastModifiedBy>
  <cp:revision>61</cp:revision>
  <dcterms:created xsi:type="dcterms:W3CDTF">2015-01-10T10:39:16Z</dcterms:created>
  <dcterms:modified xsi:type="dcterms:W3CDTF">2026-09-24T03:58:50Z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DAF1994DC145417EBF23B8C035F8A89E_13</vt:lpwstr>
  </property>
  <property fmtid="{D5CDD505-2E9C-101B-9397-08002B2CF9AE}" pid="3" name="KSOProductBuildVer">
    <vt:lpwstr>1033-12.1.0.28485</vt:lpwstr>
  </property>
</Properties>
</file>