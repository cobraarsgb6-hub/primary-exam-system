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96" r:id="rId3"/>
    <p:sldId id="257" r:id="rId4"/>
    <p:sldId id="258" r:id="rId5"/>
    <p:sldId id="256" r:id="rId6"/>
    <p:sldId id="282" r:id="rId7"/>
    <p:sldId id="263" r:id="rId8"/>
    <p:sldId id="260" r:id="rId9"/>
    <p:sldId id="283" r:id="rId10"/>
    <p:sldId id="285" r:id="rId11"/>
    <p:sldId id="286" r:id="rId12"/>
    <p:sldId id="287" r:id="rId13"/>
    <p:sldId id="262" r:id="rId14"/>
    <p:sldId id="288" r:id="rId15"/>
    <p:sldId id="289" r:id="rId16"/>
    <p:sldId id="277" r:id="rId17"/>
    <p:sldId id="278" r:id="rId18"/>
    <p:sldId id="290" r:id="rId19"/>
    <p:sldId id="291" r:id="rId20"/>
    <p:sldId id="292" r:id="rId21"/>
    <p:sldId id="264" r:id="rId22"/>
    <p:sldId id="295" r:id="rId23"/>
    <p:sldId id="270" r:id="rId24"/>
    <p:sldId id="273" r:id="rId25"/>
    <p:sldId id="271" r:id="rId26"/>
    <p:sldId id="272" r:id="rId27"/>
    <p:sldId id="275" r:id="rId28"/>
    <p:sldId id="279" r:id="rId29"/>
    <p:sldId id="280" r:id="rId30"/>
    <p:sldId id="281" r:id="rId31"/>
    <p:sldId id="259" r:id="rId32"/>
    <p:sldId id="27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7A341-2F01-452A-BAEE-BD9EEB4D6B7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A359C-5065-4A32-8527-8ABC76B2564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175" y="715617"/>
            <a:ext cx="10797208" cy="5499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0" y="711890"/>
            <a:ext cx="10709579" cy="54342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30" y="580090"/>
            <a:ext cx="11060939" cy="5697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CIRCULATORY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CLASS V 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8034" y="749576"/>
            <a:ext cx="4803913" cy="5358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7897" y="1296474"/>
            <a:ext cx="54201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/>
              <a:t>Circulatory system is made up </a:t>
            </a:r>
            <a:r>
              <a:rPr lang="en-IN" sz="3600" b="1" dirty="0" smtClean="0"/>
              <a:t>of:</a:t>
            </a:r>
            <a:endParaRPr lang="en-IN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 smtClean="0"/>
              <a:t>Heart</a:t>
            </a:r>
            <a:endParaRPr lang="en-IN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 smtClean="0"/>
              <a:t>Blood</a:t>
            </a:r>
            <a:endParaRPr lang="en-IN" sz="3600" b="1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 smtClean="0"/>
              <a:t>Blood </a:t>
            </a:r>
            <a:r>
              <a:rPr lang="en-IN" sz="3600" b="1" dirty="0" err="1" smtClean="0"/>
              <a:t>vessls</a:t>
            </a:r>
            <a:endParaRPr lang="en-IN" sz="3600" b="1" dirty="0"/>
          </a:p>
          <a:p>
            <a:r>
              <a:rPr lang="en-IN" sz="2800" b="1" dirty="0"/>
              <a:t>It carries oxygen and nutrients to the cell and removes waste products like carbon dioxide.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370" y="1473876"/>
            <a:ext cx="3329753" cy="35580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099" y="800721"/>
            <a:ext cx="5129627" cy="41461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22" y="5116865"/>
            <a:ext cx="98380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Heart is located in the middle of the chest cavity and protected by rib cage. In humans, it is about the size of a </a:t>
            </a:r>
            <a:r>
              <a:rPr lang="en-IN" sz="2800" b="1" dirty="0" smtClean="0"/>
              <a:t>fist</a:t>
            </a:r>
            <a:r>
              <a:rPr lang="en-IN" sz="2800" b="1" dirty="0"/>
              <a:t>.</a:t>
            </a:r>
            <a:endParaRPr lang="en-IN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27583" y="718354"/>
            <a:ext cx="2981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HEART</a:t>
            </a:r>
            <a:endParaRPr lang="en-IN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0865" y="894534"/>
            <a:ext cx="5399847" cy="5068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4156" y="1139687"/>
            <a:ext cx="47177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 Heart is one of the most important organs in the human body. It is made up of special muscles called cardiac muscles</a:t>
            </a:r>
            <a:r>
              <a:rPr lang="en-IN" sz="2400" b="1" dirty="0" smtClean="0"/>
              <a:t>.</a:t>
            </a:r>
            <a:endParaRPr lang="en-IN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 right side of the heart receives the blood from the body and pumps it to the lungs. </a:t>
            </a:r>
            <a:endParaRPr lang="en-IN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 left side of the heart receives blood from the lungs and pumps it all the parts of the body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84" y="528042"/>
            <a:ext cx="11074573" cy="5755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ood Flow through the Heart in 2 MINUTE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12417" y="530087"/>
            <a:ext cx="11162747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4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21" y="597877"/>
            <a:ext cx="11051950" cy="57741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37846" y="2883877"/>
            <a:ext cx="2579077" cy="468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B0F0"/>
                </a:solidFill>
              </a:rPr>
              <a:t>Vein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7846" y="808892"/>
            <a:ext cx="3024554" cy="773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0B0F0"/>
                </a:solidFill>
              </a:rPr>
              <a:t>Pulmonary circulation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25107" y="5310553"/>
            <a:ext cx="2532185" cy="797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Systemic</a:t>
            </a:r>
            <a:r>
              <a:rPr lang="en-US" sz="2800" b="1" dirty="0" smtClean="0">
                <a:solidFill>
                  <a:srgbClr val="00B0F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circulation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13" y="531743"/>
            <a:ext cx="11061502" cy="57762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857250"/>
            <a:ext cx="5143500" cy="51435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233530" y="2173357"/>
            <a:ext cx="17625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31234" y="1696303"/>
            <a:ext cx="1802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superior vena cava</a:t>
            </a:r>
            <a:endParaRPr lang="en-IN" sz="2800" b="1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33529" y="3429000"/>
            <a:ext cx="19281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1149" y="3167390"/>
            <a:ext cx="2187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right atrium</a:t>
            </a:r>
            <a:endParaRPr lang="en-IN" sz="2800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233529" y="5237922"/>
            <a:ext cx="2130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1233" y="4760868"/>
            <a:ext cx="1802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Inferior vena cava</a:t>
            </a:r>
            <a:endParaRPr lang="en-IN" sz="2800" b="1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233528" y="4316896"/>
            <a:ext cx="28624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1778" y="4055286"/>
            <a:ext cx="2426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right ventricle</a:t>
            </a:r>
            <a:endParaRPr lang="en-IN" sz="2800" b="1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222436" y="5000919"/>
            <a:ext cx="18813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03831" y="4695236"/>
            <a:ext cx="2584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Cardiac muscle</a:t>
            </a:r>
            <a:endParaRPr lang="en-IN" sz="2800" b="1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7043531" y="4185910"/>
            <a:ext cx="18813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58470" y="3924300"/>
            <a:ext cx="2426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left ventricle</a:t>
            </a:r>
            <a:endParaRPr lang="en-IN" sz="2800" b="1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786356" y="3115917"/>
            <a:ext cx="21721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24926" y="2847681"/>
            <a:ext cx="2187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left atrium</a:t>
            </a:r>
            <a:endParaRPr lang="en-IN" sz="2800" b="1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898254" y="1333500"/>
            <a:ext cx="30602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78155" y="1071890"/>
            <a:ext cx="2187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aorta</a:t>
            </a:r>
            <a:endParaRPr lang="en-IN" sz="2800" b="1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6938966" y="2029239"/>
            <a:ext cx="21391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78155" y="1829184"/>
            <a:ext cx="218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Pulmonary artery</a:t>
            </a:r>
            <a:endParaRPr lang="en-IN" sz="2000" b="1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7222437" y="2650410"/>
            <a:ext cx="18813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03830" y="2463368"/>
            <a:ext cx="2426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Pulmonary vein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9" grpId="0"/>
      <p:bldP spid="21" grpId="0"/>
      <p:bldP spid="24" grpId="0"/>
      <p:bldP spid="28" grpId="0"/>
      <p:bldP spid="31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2452" y="781878"/>
            <a:ext cx="9554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u="sng" dirty="0"/>
              <a:t>Pulse Rate or Heart Rate</a:t>
            </a:r>
            <a:endParaRPr lang="en-IN" sz="36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921138"/>
            <a:ext cx="518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The number of times the heart beats in a minute is called Pulse rate or Heart rate.</a:t>
            </a:r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Unit to measure heart rate is beats per minute (BPM)</a:t>
            </a:r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 smtClean="0"/>
              <a:t>A </a:t>
            </a:r>
            <a:r>
              <a:rPr lang="en-IN" sz="2400" b="1" dirty="0"/>
              <a:t>normal resting heart rate for adults ranges from 60 to 100 beats per minute (for children: 70-100 beats per minute).</a:t>
            </a:r>
            <a:endParaRPr lang="en-IN" sz="2400" b="1" dirty="0"/>
          </a:p>
        </p:txBody>
      </p:sp>
      <p:pic>
        <p:nvPicPr>
          <p:cNvPr id="1026" name="Picture 2" descr="Image result for stethoscop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742" y="1921138"/>
            <a:ext cx="3814762" cy="381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054" y="1025076"/>
            <a:ext cx="5287223" cy="4807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0417" y="3687608"/>
            <a:ext cx="4161183" cy="1866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Arial Black" panose="020B0A04020102020204" pitchFamily="34" charset="0"/>
                <a:ea typeface="Calibri" panose="020F0502020204030204" charset="0"/>
                <a:cs typeface="Times New Roman" panose="02020603050405020304" pitchFamily="18" charset="0"/>
              </a:rPr>
              <a:t>There are three major types of blood vessels:</a:t>
            </a:r>
            <a:endParaRPr lang="en-IN" sz="11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Segoe UI Symbol" panose="020B0502040204020203" pitchFamily="34" charset="0"/>
                <a:ea typeface="Calibri" panose="020F0502020204030204" charset="0"/>
                <a:cs typeface="Segoe UI Symbol" panose="020B0502040204020203" pitchFamily="34" charset="0"/>
              </a:rPr>
              <a:t>✘</a:t>
            </a:r>
            <a:r>
              <a:rPr lang="en-IN" sz="1800" b="1" dirty="0">
                <a:effectLst/>
                <a:latin typeface="Arial Black" panose="020B0A04020102020204" pitchFamily="34" charset="0"/>
                <a:ea typeface="Calibri" panose="020F0502020204030204" charset="0"/>
                <a:cs typeface="Times New Roman" panose="02020603050405020304" pitchFamily="18" charset="0"/>
              </a:rPr>
              <a:t> Arteries</a:t>
            </a:r>
            <a:endParaRPr lang="en-IN" sz="11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Segoe UI Symbol" panose="020B0502040204020203" pitchFamily="34" charset="0"/>
                <a:ea typeface="Calibri" panose="020F0502020204030204" charset="0"/>
                <a:cs typeface="Segoe UI Symbol" panose="020B0502040204020203" pitchFamily="34" charset="0"/>
              </a:rPr>
              <a:t>✘</a:t>
            </a:r>
            <a:r>
              <a:rPr lang="en-IN" sz="1800" b="1" dirty="0">
                <a:effectLst/>
                <a:latin typeface="Arial Black" panose="020B0A04020102020204" pitchFamily="34" charset="0"/>
                <a:ea typeface="Calibri" panose="020F0502020204030204" charset="0"/>
                <a:cs typeface="Times New Roman" panose="02020603050405020304" pitchFamily="18" charset="0"/>
              </a:rPr>
              <a:t> Veins</a:t>
            </a:r>
            <a:endParaRPr lang="en-IN" sz="11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effectLst/>
                <a:latin typeface="Segoe UI Symbol" panose="020B0502040204020203" pitchFamily="34" charset="0"/>
                <a:ea typeface="Calibri" panose="020F0502020204030204" charset="0"/>
                <a:cs typeface="Segoe UI Symbol" panose="020B0502040204020203" pitchFamily="34" charset="0"/>
              </a:rPr>
              <a:t>✘</a:t>
            </a:r>
            <a:r>
              <a:rPr lang="en-IN" sz="1800" b="1" dirty="0">
                <a:effectLst/>
                <a:latin typeface="Arial Black" panose="020B0A04020102020204" pitchFamily="34" charset="0"/>
                <a:ea typeface="Calibri" panose="020F0502020204030204" charset="0"/>
                <a:cs typeface="Times New Roman" panose="02020603050405020304" pitchFamily="18" charset="0"/>
              </a:rPr>
              <a:t> Capillaries</a:t>
            </a:r>
            <a:endParaRPr lang="en-IN" sz="11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8957" y="1025076"/>
            <a:ext cx="3922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BLOOD VESSELS</a:t>
            </a:r>
            <a:endParaRPr lang="en-IN" sz="3200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1020417" y="1871726"/>
            <a:ext cx="44792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Blood vessels are a network of hollow tubes that transport blood all over our body. 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6434" y="848139"/>
            <a:ext cx="2319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ARTERIES</a:t>
            </a:r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168348" y="1556716"/>
            <a:ext cx="6029739" cy="463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charset="0"/>
                <a:ea typeface="Calibri" panose="020F0502020204030204" charset="0"/>
                <a:cs typeface="Times New Roman" panose="02020603050405020304" pitchFamily="18" charset="0"/>
              </a:rPr>
              <a:t>Arteries carry oxygenated blood from the heart to the various parts of the body.</a:t>
            </a:r>
            <a:endParaRPr lang="en-IN" sz="2800" b="1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/>
              <a:t>Arteries carry oxygenated blood away from heart. </a:t>
            </a:r>
            <a:endParaRPr lang="en-IN" sz="2800" b="1" dirty="0"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/>
              <a:t>They have thick elastic wall.</a:t>
            </a:r>
            <a:endParaRPr lang="en-IN" sz="2800" b="1" dirty="0"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/>
              <a:t>Pulmonary artery is the only artery which carry deoxygenated blood. </a:t>
            </a:r>
            <a:endParaRPr lang="en-IN" sz="2800" b="1" dirty="0"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/>
              <a:t>Valves are not present</a:t>
            </a:r>
            <a:endParaRPr lang="en-IN" sz="2800" b="1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375" y="1715742"/>
            <a:ext cx="3379511" cy="408625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6434" y="875916"/>
            <a:ext cx="2319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VEINS</a:t>
            </a:r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791201" y="1566197"/>
            <a:ext cx="5420138" cy="463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ea typeface="Calibri" panose="020F0502020204030204" charset="0"/>
                <a:cs typeface="Aharoni" panose="02010803020104030203" pitchFamily="2" charset="-79"/>
              </a:rPr>
              <a:t>Veins bring deoxygenated blood from the various parts of the body to the heart.</a:t>
            </a:r>
            <a:endParaRPr lang="en-IN" sz="2800" b="1" dirty="0">
              <a:effectLst/>
              <a:ea typeface="Calibri" panose="020F0502020204030204" charset="0"/>
              <a:cs typeface="Aharoni" panose="02010803020104030203" pitchFamily="2" charset="-79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cs typeface="Aharoni" panose="02010803020104030203" pitchFamily="2" charset="-79"/>
              </a:rPr>
              <a:t>Veins carry deoxygenated blood towards heart. </a:t>
            </a:r>
            <a:endParaRPr lang="en-IN" sz="2800" b="1" dirty="0">
              <a:cs typeface="Aharoni" panose="02010803020104030203" pitchFamily="2" charset="-79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cs typeface="Aharoni" panose="02010803020104030203" pitchFamily="2" charset="-79"/>
              </a:rPr>
              <a:t>They have thin walls</a:t>
            </a:r>
            <a:endParaRPr lang="en-IN" sz="2800" b="1" dirty="0">
              <a:cs typeface="Aharoni" panose="02010803020104030203" pitchFamily="2" charset="-79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cs typeface="Aharoni" panose="02010803020104030203" pitchFamily="2" charset="-79"/>
              </a:rPr>
              <a:t>Pulmonary vein is the only vein that carry oxygenated blood.</a:t>
            </a:r>
            <a:endParaRPr lang="en-IN" sz="2800" b="1" dirty="0">
              <a:cs typeface="Aharoni" panose="02010803020104030203" pitchFamily="2" charset="-79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cs typeface="Aharoni" panose="02010803020104030203" pitchFamily="2" charset="-79"/>
              </a:rPr>
              <a:t>Valves are present.</a:t>
            </a:r>
            <a:endParaRPr lang="en-IN" sz="2800" b="1" dirty="0">
              <a:effectLst/>
              <a:ea typeface="Calibri" panose="020F0502020204030204" charset="0"/>
              <a:cs typeface="Aharoni" panose="02010803020104030203" pitchFamily="2" charset="-79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261" y="1694000"/>
            <a:ext cx="3346173" cy="420927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7999" y="795130"/>
            <a:ext cx="61059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i="1" dirty="0">
                <a:latin typeface="Algerian" panose="04020705040A02060702" pitchFamily="82" charset="0"/>
              </a:rPr>
              <a:t>Capillaries</a:t>
            </a:r>
            <a:endParaRPr lang="en-IN" sz="4000" b="1" i="1" dirty="0">
              <a:latin typeface="Algerian" panose="04020705040A02060702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636" y="3429000"/>
            <a:ext cx="3731648" cy="24181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41" y="1503016"/>
            <a:ext cx="1754919" cy="15128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5312" y="1503016"/>
            <a:ext cx="62318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Capillaries are the smallest blood vessel.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They connect veins to arteries.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They have walls thinner than veins.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They allow nutrients from digested food, oxygen and water to pass easily into the cells.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Carbon dioxide and other waste materials are also exchanged through the thin walls of the capillaries.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796" y="895944"/>
            <a:ext cx="9642407" cy="5066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969" y="982140"/>
            <a:ext cx="9896061" cy="4893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t="6022"/>
          <a:stretch>
            <a:fillRect/>
          </a:stretch>
        </p:blipFill>
        <p:spPr>
          <a:xfrm>
            <a:off x="516835" y="530087"/>
            <a:ext cx="11158330" cy="5791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0355" y="841609"/>
            <a:ext cx="53969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i="1" dirty="0" smtClean="0"/>
              <a:t>One </a:t>
            </a:r>
            <a:r>
              <a:rPr lang="en-IN" sz="2800" b="1" i="1" dirty="0"/>
              <a:t>of the main functions is to supply oxygen and nutrients to the cells in our body. </a:t>
            </a:r>
            <a:endParaRPr lang="en-IN" sz="2800" b="1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i="1" dirty="0"/>
              <a:t>It also removes waste such as carbon dioxide from them</a:t>
            </a:r>
            <a:r>
              <a:rPr lang="en-IN" sz="2800" b="1" i="1" dirty="0" smtClean="0"/>
              <a:t>.</a:t>
            </a:r>
            <a:endParaRPr lang="en-IN" sz="2800" b="1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i="1" dirty="0" smtClean="0"/>
              <a:t>It keeps our body temperature constant.</a:t>
            </a:r>
            <a:endParaRPr lang="en-IN" sz="2800" b="1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i="1" dirty="0"/>
              <a:t>Blood lacking in oxygen is dark red in </a:t>
            </a:r>
            <a:r>
              <a:rPr lang="en-IN" sz="2800" b="1" i="1" dirty="0" smtClean="0"/>
              <a:t>colour not blue.</a:t>
            </a:r>
            <a:endParaRPr lang="en-IN" sz="2800" b="1" i="1" dirty="0"/>
          </a:p>
        </p:txBody>
      </p:sp>
      <p:pic>
        <p:nvPicPr>
          <p:cNvPr id="4" name="Picture 4" descr="Image result for bloo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424" y="2150310"/>
            <a:ext cx="4385219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106477" y="1074509"/>
            <a:ext cx="405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latin typeface="Algerian" panose="04020705040A02060702" pitchFamily="82" charset="0"/>
              </a:rPr>
              <a:t>BLOOD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1965" y="940905"/>
            <a:ext cx="9568070" cy="6758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4400" b="1" dirty="0">
                <a:solidFill>
                  <a:schemeClr val="accent3"/>
                </a:solidFill>
              </a:rPr>
              <a:t>What is the circulatory system?</a:t>
            </a:r>
            <a:endParaRPr lang="en-IN" sz="4400" b="1" dirty="0">
              <a:solidFill>
                <a:schemeClr val="accent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89043" y="2398646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body’s breathing system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9043" y="3372678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body’s food-processing system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9043" y="4346710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body’s blood-transporting system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2452" y="795131"/>
            <a:ext cx="9727096" cy="14444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4400" b="1" dirty="0">
                <a:solidFill>
                  <a:schemeClr val="accent3"/>
                </a:solidFill>
              </a:rPr>
              <a:t>What is the main function of the circulatory system?</a:t>
            </a:r>
            <a:endParaRPr lang="en-IN" sz="4400" b="1" dirty="0">
              <a:solidFill>
                <a:schemeClr val="accent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02904" y="2673627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control the blood flow around the body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02904" y="3664226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supply blood to the body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2904" y="4668075"/>
            <a:ext cx="8786192" cy="42407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help us to breathe</a:t>
            </a:r>
            <a:endParaRPr lang="en-IN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eating foo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18" y="2477328"/>
            <a:ext cx="4874315" cy="283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exercise childr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369" y="2477328"/>
            <a:ext cx="5038499" cy="283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22690" y="1019576"/>
            <a:ext cx="9597887" cy="99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Arial Black" panose="020B0A04020102020204" pitchFamily="34" charset="0"/>
                <a:ea typeface="Calibri" panose="020F0502020204030204" charset="0"/>
                <a:cs typeface="Times New Roman" panose="02020603050405020304" pitchFamily="18" charset="0"/>
              </a:rPr>
              <a:t>We should take care of our heart by eating right food and doing regular exercise.</a:t>
            </a:r>
            <a:endParaRPr lang="en-IN" sz="16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31165" y="927652"/>
            <a:ext cx="7129670" cy="5565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RECAP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338470" y="1987826"/>
            <a:ext cx="960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/>
              <a:t>Heart is the muscular organ that pumps blood to the various parts of the body.</a:t>
            </a:r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38470" y="4447062"/>
            <a:ext cx="960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/>
              <a:t>Arteries carry oxygenated blood from the heart to the various parts of the body.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31165" y="927652"/>
            <a:ext cx="7129670" cy="5565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RECAP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338470" y="1987826"/>
            <a:ext cx="960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/>
              <a:t>Veins bring deoxygenated blood from the various parts of the body to the heart.</a:t>
            </a:r>
            <a:endParaRPr lang="en-IN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38470" y="3217444"/>
            <a:ext cx="960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/>
              <a:t>We should take care of our heart by eating right food. </a:t>
            </a:r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38470" y="4447062"/>
            <a:ext cx="9607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 dirty="0"/>
              <a:t>We should take care of our heart by doing regular exercise.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7787" y="660363"/>
            <a:ext cx="983642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200" b="1" u="sng" dirty="0">
                <a:effectLst/>
                <a:latin typeface="Calibri" panose="020F0502020204030204" charset="0"/>
                <a:ea typeface="Calibri" panose="020F0502020204030204" charset="0"/>
                <a:cs typeface="Times New Roman" panose="02020603050405020304" pitchFamily="18" charset="0"/>
              </a:rPr>
              <a:t>MEMORY MAP</a:t>
            </a:r>
            <a:endParaRPr lang="en-IN" sz="3200" b="1" u="sng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6678" y="1550504"/>
          <a:ext cx="3949148" cy="4383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9148"/>
              </a:tblGrid>
              <a:tr h="9934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The circulatory system is made up of 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/>
                </a:tc>
              </a:tr>
              <a:tr h="9226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Heart and blood vessels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/>
                </a:tc>
              </a:tr>
              <a:tr h="972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The heart keeps pumping the blood 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/>
                </a:tc>
              </a:tr>
              <a:tr h="9727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Blood vessels carry oxygen, nutrients and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/>
                </a:tc>
              </a:tr>
              <a:tr h="5217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</a:rPr>
                        <a:t>When we run or play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23596" y="1521339"/>
          <a:ext cx="4174491" cy="44438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4491"/>
              </a:tblGrid>
              <a:tr h="872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pump blood throughout the body</a:t>
                      </a:r>
                      <a:endParaRPr lang="en-IN" sz="2800" dirty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72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carbon dioxide</a:t>
                      </a:r>
                      <a:endParaRPr lang="en-IN" sz="2800" dirty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72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the heart beat increases</a:t>
                      </a:r>
                      <a:endParaRPr lang="en-IN" sz="2800" dirty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72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even when we are sleeping</a:t>
                      </a:r>
                      <a:endParaRPr lang="en-IN" sz="2800" dirty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725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dirty="0">
                          <a:effectLst/>
                        </a:rPr>
                        <a:t>the heart and blood vessels</a:t>
                      </a:r>
                      <a:endParaRPr lang="en-IN" sz="2800" dirty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035826" y="1974574"/>
            <a:ext cx="1987770" cy="35383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035826" y="1974574"/>
            <a:ext cx="1987770" cy="10402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035826" y="3843131"/>
            <a:ext cx="1987770" cy="7951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035826" y="2789909"/>
            <a:ext cx="1987770" cy="21266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5" idx="1"/>
          </p:cNvCxnSpPr>
          <p:nvPr/>
        </p:nvCxnSpPr>
        <p:spPr>
          <a:xfrm flipV="1">
            <a:off x="5049078" y="3743256"/>
            <a:ext cx="1974518" cy="19241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1670" y="675861"/>
            <a:ext cx="3790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DRAG AND DROP</a:t>
            </a:r>
            <a:endParaRPr lang="en-IN" sz="2800" b="1" u="sng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1095" y="1246493"/>
          <a:ext cx="9961218" cy="258228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20406"/>
                <a:gridCol w="3320406"/>
                <a:gridCol w="33204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Heart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Veins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Arteries</a:t>
                      </a:r>
                      <a:endParaRPr lang="en-IN" sz="2000" dirty="0"/>
                    </a:p>
                  </a:txBody>
                  <a:tcPr/>
                </a:tc>
              </a:tr>
              <a:tr h="218604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563757" y="4002157"/>
            <a:ext cx="2517913" cy="39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Carries oxygenated blood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050696" y="1638020"/>
            <a:ext cx="2517913" cy="39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Carries oxygenated blood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563757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pure blood from the heart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944678" y="2095220"/>
            <a:ext cx="2729947" cy="62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pure blood from the heart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63757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Supplies to all parts of the body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7944678" y="2743201"/>
            <a:ext cx="2729947" cy="62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Supplies to all parts of the body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563757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Size of the fist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351723" y="1669775"/>
            <a:ext cx="2729947" cy="425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Size of the fist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563757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Reddish brown in colour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351723" y="2142632"/>
            <a:ext cx="2729947" cy="375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Reddish brown in colour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563757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Pumps blood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351722" y="2585202"/>
            <a:ext cx="2729947" cy="425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Pumps blood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563756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deoxygenated blood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4648199" y="1643270"/>
            <a:ext cx="2729947" cy="62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deoxygenated blood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1563755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nutrients 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7944678" y="3399769"/>
            <a:ext cx="2729947" cy="271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nutrients 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563755" y="4002157"/>
            <a:ext cx="2729947" cy="1073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impure blood to the heart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4648198" y="2342323"/>
            <a:ext cx="2729947" cy="668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Carries impure blood to the heart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5722" y="702365"/>
            <a:ext cx="6308035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u="sng" dirty="0"/>
              <a:t>CIRCULATORY SYSTEM</a:t>
            </a:r>
            <a:endParaRPr lang="en-IN" sz="2800" b="1" u="sng" dirty="0"/>
          </a:p>
        </p:txBody>
      </p:sp>
      <p:cxnSp>
        <p:nvCxnSpPr>
          <p:cNvPr id="5" name="Straight Connector 4"/>
          <p:cNvCxnSpPr>
            <a:stCxn id="2" idx="2"/>
          </p:cNvCxnSpPr>
          <p:nvPr/>
        </p:nvCxnSpPr>
        <p:spPr>
          <a:xfrm flipH="1">
            <a:off x="3896139" y="1285461"/>
            <a:ext cx="2133601" cy="6891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29739" y="1285461"/>
            <a:ext cx="2014331" cy="6891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14332" y="1974574"/>
            <a:ext cx="2842591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Heart</a:t>
            </a:r>
            <a:endParaRPr lang="en-IN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6622774" y="2001078"/>
            <a:ext cx="2842591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Blood vessels</a:t>
            </a:r>
            <a:endParaRPr lang="en-IN" sz="2800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8130209" y="2584175"/>
            <a:ext cx="0" cy="3047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29739" y="2845904"/>
            <a:ext cx="4094911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Kinds of blood vessels</a:t>
            </a:r>
            <a:endParaRPr lang="en-IN" sz="2800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176591" y="3455504"/>
            <a:ext cx="1179444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7209183" y="3455504"/>
            <a:ext cx="967408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77609" y="4015408"/>
            <a:ext cx="1663148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Arteries</a:t>
            </a:r>
            <a:endParaRPr lang="en-IN" sz="2800" b="1" dirty="0"/>
          </a:p>
        </p:txBody>
      </p:sp>
      <p:sp>
        <p:nvSpPr>
          <p:cNvPr id="21" name="Rectangle 20"/>
          <p:cNvSpPr/>
          <p:nvPr/>
        </p:nvSpPr>
        <p:spPr>
          <a:xfrm>
            <a:off x="8839200" y="4015408"/>
            <a:ext cx="1663148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Veins</a:t>
            </a:r>
            <a:endParaRPr lang="en-IN" sz="2800" b="1" dirty="0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6139070" y="4625008"/>
            <a:ext cx="967408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839200" y="4625007"/>
            <a:ext cx="967408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263886" y="5158407"/>
            <a:ext cx="3077818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Oxygenated blood</a:t>
            </a:r>
            <a:endParaRPr lang="en-IN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7677978" y="5158407"/>
            <a:ext cx="3453848" cy="583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Deoxygenated blood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3" grpId="0" animBg="1"/>
      <p:bldP spid="20" grpId="0" animBg="1"/>
      <p:bldP spid="21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playback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56260" y="556591"/>
            <a:ext cx="11043572" cy="57249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9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548" y="798444"/>
            <a:ext cx="10084904" cy="5261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3831</Words>
  <Application>WPS Presentation</Application>
  <PresentationFormat>Custom</PresentationFormat>
  <Paragraphs>210</Paragraphs>
  <Slides>31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SimSun</vt:lpstr>
      <vt:lpstr>Wingdings</vt:lpstr>
      <vt:lpstr>Arial</vt:lpstr>
      <vt:lpstr>Microsoft YaHei</vt:lpstr>
      <vt:lpstr>Arial Unicode MS</vt:lpstr>
      <vt:lpstr>Garamond</vt:lpstr>
      <vt:lpstr>Calibri</vt:lpstr>
      <vt:lpstr>Arial Black</vt:lpstr>
      <vt:lpstr>Times New Roman</vt:lpstr>
      <vt:lpstr>Segoe UI Symbol</vt:lpstr>
      <vt:lpstr>Aharoni</vt:lpstr>
      <vt:lpstr>Yu Gothic UI Semibold</vt:lpstr>
      <vt:lpstr>Algerian</vt:lpstr>
      <vt:lpstr>Calibri Light</vt:lpstr>
      <vt:lpstr>Organic</vt:lpstr>
      <vt:lpstr>PowerPoint 演示文稿</vt:lpstr>
      <vt:lpstr>PowerPoint 演示文稿</vt:lpstr>
      <vt:lpstr>PowerPoint 演示文稿</vt:lpstr>
      <vt:lpstr>CIRCULATORY SYSTEM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CIRCULATORY SYSTEM</dc:title>
  <dc:creator>Pooja</dc:creator>
  <cp:lastModifiedBy>Melina Mahdy</cp:lastModifiedBy>
  <cp:revision>39</cp:revision>
  <dcterms:created xsi:type="dcterms:W3CDTF">2021-02-05T14:07:00Z</dcterms:created>
  <dcterms:modified xsi:type="dcterms:W3CDTF">2026-09-24T04:03:54Z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0D9C018D1DD94E08BD0647A40AE9EEA3_13</vt:lpwstr>
  </property>
  <property fmtid="{D5CDD505-2E9C-101B-9397-08002B2CF9AE}" pid="3" name="KSOProductBuildVer">
    <vt:lpwstr>1033-12.1.0.28485</vt:lpwstr>
  </property>
</Properties>
</file>