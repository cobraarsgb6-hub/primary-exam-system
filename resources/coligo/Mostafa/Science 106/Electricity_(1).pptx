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8" r:id="rId4"/>
    <p:sldMasterId id="2147483696" r:id="rId5"/>
    <p:sldMasterId id="2147483708" r:id="rId6"/>
  </p:sldMasterIdLst>
  <p:notesMasterIdLst>
    <p:notesMasterId r:id="rId21"/>
  </p:notesMasterIdLst>
  <p:sldIdLst>
    <p:sldId id="256" r:id="rId7"/>
    <p:sldId id="270" r:id="rId8"/>
    <p:sldId id="269" r:id="rId9"/>
    <p:sldId id="265" r:id="rId10"/>
    <p:sldId id="264" r:id="rId11"/>
    <p:sldId id="257" r:id="rId12"/>
    <p:sldId id="258" r:id="rId13"/>
    <p:sldId id="260" r:id="rId14"/>
    <p:sldId id="262" r:id="rId15"/>
    <p:sldId id="271" r:id="rId16"/>
    <p:sldId id="272" r:id="rId17"/>
    <p:sldId id="273" r:id="rId18"/>
    <p:sldId id="298" r:id="rId19"/>
    <p:sldId id="277" r:id="rId20"/>
    <p:sldId id="299" r:id="rId22"/>
    <p:sldId id="291" r:id="rId23"/>
    <p:sldId id="292" r:id="rId24"/>
    <p:sldId id="278" r:id="rId25"/>
    <p:sldId id="279" r:id="rId26"/>
    <p:sldId id="300" r:id="rId27"/>
    <p:sldId id="294" r:id="rId28"/>
    <p:sldId id="295" r:id="rId29"/>
    <p:sldId id="296" r:id="rId30"/>
    <p:sldId id="297" r:id="rId31"/>
    <p:sldId id="280" r:id="rId32"/>
    <p:sldId id="282" r:id="rId33"/>
    <p:sldId id="301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74" r:id="rId42"/>
    <p:sldId id="27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78" autoAdjust="0"/>
    <p:restoredTop sz="94660"/>
  </p:normalViewPr>
  <p:slideViewPr>
    <p:cSldViewPr snapToGrid="0">
      <p:cViewPr>
        <p:scale>
          <a:sx n="81" d="100"/>
          <a:sy n="81" d="100"/>
        </p:scale>
        <p:origin x="-420" y="66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36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0" Type="http://schemas.openxmlformats.org/officeDocument/2006/relationships/slide" Target="slides/slide3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3C1AE-2A2B-4D48-8154-760A27BBF79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BC589-E1D3-4701-B328-3539542263E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SG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C9E8D4-644B-4C37-A713-B8054C8493AC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37C6212-1753-4ECF-AA49-949172D93C6A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5F4D185-9519-43C3-BA45-7643D0CAE080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SG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7B8F56-BD54-4D36-A744-445C88D96D15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SG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6BD3E8-4A8C-49A0-B31A-F53023B4A2C1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CAF1BCD-6DE3-41BA-BAA2-5AB030441AEA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09CD2F0-A026-4202-84D8-736987C2C35D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7266CBC-ED5B-4420-9F84-4E6AED425B3A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9FE67EA-32AC-4665-89F6-1A85E5E53C27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SG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914596-99BE-48FB-8A84-BCC1C206326E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E11FCFF-5BD5-4142-BBCD-DA7EB26BC80D}" type="slidenum">
              <a:rPr lang="en-PH">
                <a:solidFill>
                  <a:prstClr val="black"/>
                </a:solidFill>
              </a:rPr>
            </a:fld>
            <a:endParaRPr lang="en-PH">
              <a:solidFill>
                <a:prstClr val="black"/>
              </a:solidFill>
            </a:endParaRPr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E11FCFF-5BD5-4142-BBCD-DA7EB26BC80D}" type="slidenum">
              <a:rPr lang="en-PH">
                <a:solidFill>
                  <a:prstClr val="black"/>
                </a:solidFill>
              </a:rPr>
            </a:fld>
            <a:endParaRPr lang="en-PH">
              <a:solidFill>
                <a:prstClr val="black"/>
              </a:solidFill>
            </a:endParaRPr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SG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23CBBE-7F3B-457D-A7B1-79491CBB5620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SG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888182-0FF2-4A7F-9620-A8DF559A8EB2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80F67AC-FD25-483A-B8B9-CAAD8F0B4487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A59AA22-EE9D-4A65-8B7C-3DAE22E69901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0B27C02-FE65-4A03-8BCB-F080128BDF0C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6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8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3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3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4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2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4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2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5" y="365125"/>
            <a:ext cx="2628899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29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7" y="1769562"/>
            <a:ext cx="9440035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7" y="3598339"/>
            <a:ext cx="9440035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14" y="1761089"/>
            <a:ext cx="9590551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14" y="3589879"/>
            <a:ext cx="9590551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809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5" y="1732456"/>
            <a:ext cx="5064664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9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9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3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3" y="2380145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8" y="1835276"/>
            <a:ext cx="4895331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8" y="2380145"/>
            <a:ext cx="4895331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7" y="609600"/>
            <a:ext cx="3706891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5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7" y="2431518"/>
            <a:ext cx="3706891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79" y="609600"/>
            <a:ext cx="3584167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0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65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800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97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19" y="4565255"/>
            <a:ext cx="10355327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51" y="695031"/>
            <a:ext cx="9845348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7" y="5108728"/>
            <a:ext cx="10353763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7" y="608437"/>
            <a:ext cx="10353763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7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7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7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13" y="884796"/>
            <a:ext cx="60959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04729" y="2928258"/>
            <a:ext cx="60959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7" y="2126964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7" y="4650556"/>
            <a:ext cx="10352200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7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09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3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3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3" y="1818236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3" y="1818236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36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7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4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90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89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6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700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3" y="4480387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83" y="609621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7" y="609621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7" y="1769562"/>
            <a:ext cx="9440035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7" y="3598339"/>
            <a:ext cx="9440035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14" y="1761089"/>
            <a:ext cx="9590551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14" y="3589879"/>
            <a:ext cx="9590551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809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5" y="1732456"/>
            <a:ext cx="5064664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9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9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3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3" y="2380145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8" y="1835276"/>
            <a:ext cx="4895331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8" y="2380145"/>
            <a:ext cx="4895331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7" y="609600"/>
            <a:ext cx="3706891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5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7" y="2431518"/>
            <a:ext cx="3706891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79" y="609600"/>
            <a:ext cx="3584167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0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65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800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97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19" y="4565255"/>
            <a:ext cx="10355327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51" y="695031"/>
            <a:ext cx="9845348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7" y="5108728"/>
            <a:ext cx="10353763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7" y="608437"/>
            <a:ext cx="10353763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7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7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7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13" y="884796"/>
            <a:ext cx="60959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04729" y="2928258"/>
            <a:ext cx="60959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7" y="2126964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7" y="4650556"/>
            <a:ext cx="10352200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7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09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3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3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3" y="1818236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3" y="1818236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36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7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4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90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89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6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700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3" y="4480387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83" y="609621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7" y="609621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54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2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6F29A0-4A4E-4CFF-85FF-7274387743FD}" type="datetimeFigureOut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142FC-10F6-4714-AEE2-D5C7BF144537}" type="slidenum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E4DEA-1235-48C5-B3A7-6AE926A7246D}" type="datetimeFigureOut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EA9B93-01F0-4A2B-B596-8DD3721A2AF4}" type="slidenum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2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A4704F-8F1C-4579-97DA-C03024497F2F}" type="datetimeFigureOut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DE32A-A817-4184-AE93-4F76C3C052FE}" type="slidenum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53E134-7018-489F-B699-CAC10CF69696}" type="datetimeFigureOut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1A337-6576-440D-8A96-AE11A51D3BC2}" type="slidenum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13"/>
            <a:ext cx="5386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75"/>
            <a:ext cx="5386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8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8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ECAC4F-160C-46A9-8FE2-C23A1DA27B6B}" type="datetimeFigureOut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C2E2D1-090F-4CE9-B395-6F79DE518A0F}" type="slidenum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20680B-3B75-43A8-B583-18855CA49D3F}" type="datetimeFigureOut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69B13-F224-42F3-B79E-5678E17FD148}" type="slidenum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A023C-31C3-43C0-8CD6-225E41380724}" type="datetimeFigureOut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059FF-672F-4000-87DF-B3BA0FB4F1CF}" type="slidenum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7" y="273079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F5E6E-7487-468D-9C4B-91A23C8AC209}" type="datetimeFigureOut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433D6-FB79-4D9A-BEBD-8B25395F5BB9}" type="slidenum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9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9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9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3E543-E14F-4BC5-ADB9-AF0816821168}" type="datetimeFigureOut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83455-4AC1-457A-8AC0-8D65F3889979}" type="slidenum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99036B-7740-4D4E-9168-579BC1D6BB2D}" type="datetimeFigureOut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8081AF-C77A-4B42-8762-AB8974348FEF}" type="slidenum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67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14" y="274667"/>
            <a:ext cx="802639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8ED10-0740-41A4-AFA2-EA28DF5AB7A1}" type="datetimeFigureOut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401B95-BC55-4DCA-BEA4-EAB2C5C71704}" type="slidenum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80000" y="2895600"/>
            <a:ext cx="6502400" cy="704850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080000" y="3962400"/>
            <a:ext cx="6502400" cy="685800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r>
              <a:rPr lang="en-US" smtClean="0"/>
              <a:t>Click to edit Master subtitle style</a:t>
            </a:r>
            <a:endParaRPr lang="en-PH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1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25600" y="1676400"/>
            <a:ext cx="44704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676400"/>
            <a:ext cx="44704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8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8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69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21800" y="350838"/>
            <a:ext cx="2565400" cy="58213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50838"/>
            <a:ext cx="7493000" cy="58213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8" Type="http://schemas.openxmlformats.org/officeDocument/2006/relationships/theme" Target="../theme/theme3.xml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12" Type="http://schemas.openxmlformats.org/officeDocument/2006/relationships/image" Target="../media/image7.jpeg"/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7" y="609600"/>
            <a:ext cx="10353763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7" y="1732456"/>
            <a:ext cx="10353763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809" y="5883297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28" y="5883297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 panose="020B0603020202020204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90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160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205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3860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85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57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8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4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7" y="609600"/>
            <a:ext cx="10353763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7" y="1732456"/>
            <a:ext cx="10353763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55466D2-2F18-4732-8A8D-20F7F804D4A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809" y="5883297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28" y="5883297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E4E3533-15F9-47B8-82B6-181C7FA749E5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 panose="020B0603020202020204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90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160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205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3860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85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57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8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4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495" y="274638"/>
            <a:ext cx="1097301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495" y="1600206"/>
            <a:ext cx="10973012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93" y="6356369"/>
            <a:ext cx="28443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3BE197E-75FD-465B-9519-98CD24FA313A}" type="datetimeFigureOut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889" y="6356369"/>
            <a:ext cx="38622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8201" y="6356369"/>
            <a:ext cx="28443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E64987E-E30A-4B95-AD1E-374479ABD7B2}" type="slidenum">
              <a:rPr lang="en-ZA">
                <a:solidFill>
                  <a:prstClr val="black">
                    <a:tint val="75000"/>
                  </a:prstClr>
                </a:solidFill>
              </a:rPr>
            </a:fld>
            <a:endParaRPr lang="en-ZA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350838"/>
            <a:ext cx="10058400" cy="7159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PH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25600" y="1676400"/>
            <a:ext cx="91440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PH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2.xml"/><Relationship Id="rId8" Type="http://schemas.openxmlformats.org/officeDocument/2006/relationships/image" Target="../media/image28.jpeg"/><Relationship Id="rId7" Type="http://schemas.openxmlformats.org/officeDocument/2006/relationships/image" Target="../media/image27.jpeg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2.xml"/><Relationship Id="rId8" Type="http://schemas.openxmlformats.org/officeDocument/2006/relationships/image" Target="../media/image25.jpeg"/><Relationship Id="rId7" Type="http://schemas.openxmlformats.org/officeDocument/2006/relationships/image" Target="../media/image24.jpeg"/><Relationship Id="rId6" Type="http://schemas.openxmlformats.org/officeDocument/2006/relationships/image" Target="../media/image34.jpeg"/><Relationship Id="rId5" Type="http://schemas.openxmlformats.org/officeDocument/2006/relationships/image" Target="../media/image33.emf"/><Relationship Id="rId4" Type="http://schemas.openxmlformats.org/officeDocument/2006/relationships/image" Target="../media/image32.jpeg"/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36.jpeg"/><Relationship Id="rId3" Type="http://schemas.openxmlformats.org/officeDocument/2006/relationships/image" Target="../media/image35.jpeg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3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8.xml"/><Relationship Id="rId1" Type="http://schemas.openxmlformats.org/officeDocument/2006/relationships/image" Target="../media/image3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39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8.xml"/><Relationship Id="rId2" Type="http://schemas.openxmlformats.org/officeDocument/2006/relationships/image" Target="../media/image41.png"/><Relationship Id="rId1" Type="http://schemas.openxmlformats.org/officeDocument/2006/relationships/image" Target="../media/image40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58.xml"/><Relationship Id="rId2" Type="http://schemas.openxmlformats.org/officeDocument/2006/relationships/image" Target="../media/image41.png"/><Relationship Id="rId1" Type="http://schemas.openxmlformats.org/officeDocument/2006/relationships/image" Target="../media/image4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8.xml"/><Relationship Id="rId1" Type="http://schemas.openxmlformats.org/officeDocument/2006/relationships/image" Target="../media/image4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8.xml"/><Relationship Id="rId1" Type="http://schemas.openxmlformats.org/officeDocument/2006/relationships/image" Target="../media/image4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8.xml"/><Relationship Id="rId1" Type="http://schemas.openxmlformats.org/officeDocument/2006/relationships/image" Target="../media/image44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58.xml"/><Relationship Id="rId2" Type="http://schemas.openxmlformats.org/officeDocument/2006/relationships/image" Target="../media/image41.png"/><Relationship Id="rId1" Type="http://schemas.openxmlformats.org/officeDocument/2006/relationships/image" Target="../media/image40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58.xml"/><Relationship Id="rId2" Type="http://schemas.openxmlformats.org/officeDocument/2006/relationships/image" Target="../media/image41.png"/><Relationship Id="rId1" Type="http://schemas.openxmlformats.org/officeDocument/2006/relationships/image" Target="../media/image40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58.xml"/><Relationship Id="rId2" Type="http://schemas.openxmlformats.org/officeDocument/2006/relationships/image" Target="../media/image41.png"/><Relationship Id="rId1" Type="http://schemas.openxmlformats.org/officeDocument/2006/relationships/image" Target="../media/image40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58.xml"/><Relationship Id="rId2" Type="http://schemas.openxmlformats.org/officeDocument/2006/relationships/image" Target="../media/image41.png"/><Relationship Id="rId1" Type="http://schemas.openxmlformats.org/officeDocument/2006/relationships/image" Target="../media/image4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8.xml"/><Relationship Id="rId1" Type="http://schemas.openxmlformats.org/officeDocument/2006/relationships/image" Target="../media/image45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3.xml"/><Relationship Id="rId2" Type="http://schemas.openxmlformats.org/officeDocument/2006/relationships/image" Target="../media/image47.GIF"/><Relationship Id="rId1" Type="http://schemas.openxmlformats.org/officeDocument/2006/relationships/image" Target="../media/image4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3.xml"/><Relationship Id="rId1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3.xml"/><Relationship Id="rId2" Type="http://schemas.openxmlformats.org/officeDocument/2006/relationships/image" Target="../media/image47.GIF"/><Relationship Id="rId1" Type="http://schemas.openxmlformats.org/officeDocument/2006/relationships/image" Target="../media/image46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8.xml"/><Relationship Id="rId1" Type="http://schemas.openxmlformats.org/officeDocument/2006/relationships/image" Target="../media/image49.jpe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51.png"/><Relationship Id="rId3" Type="http://schemas.openxmlformats.org/officeDocument/2006/relationships/image" Target="../media/image50.jpeg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53.png"/><Relationship Id="rId3" Type="http://schemas.openxmlformats.org/officeDocument/2006/relationships/image" Target="../media/image52.jpeg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ther Board"/>
          <p:cNvPicPr>
            <a:picLocks noChangeAspect="1"/>
          </p:cNvPicPr>
          <p:nvPr/>
        </p:nvPicPr>
        <p:blipFill rotWithShape="1">
          <a:blip r:embed="rId1"/>
          <a:srcRect t="9091" r="23298"/>
          <a:stretch>
            <a:fillRect/>
          </a:stretch>
        </p:blipFill>
        <p:spPr>
          <a:xfrm>
            <a:off x="3523489" y="17"/>
            <a:ext cx="8668512" cy="6857991"/>
          </a:xfrm>
          <a:prstGeom prst="rect">
            <a:avLst/>
          </a:prstGeom>
        </p:spPr>
      </p:pic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" y="0"/>
            <a:ext cx="9339207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83"/>
            <a:ext cx="4023360" cy="3204135"/>
          </a:xfrm>
        </p:spPr>
        <p:txBody>
          <a:bodyPr anchor="b">
            <a:normAutofit/>
          </a:bodyPr>
          <a:lstStyle/>
          <a:p>
            <a:pPr algn="l"/>
            <a:r>
              <a:rPr lang="en-IN" sz="7200" b="1" dirty="0"/>
              <a:t>Electricity and Circuits</a:t>
            </a:r>
            <a:endParaRPr lang="en-IN" sz="7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95" y="4872943"/>
            <a:ext cx="4023359" cy="1208141"/>
          </a:xfrm>
        </p:spPr>
        <p:txBody>
          <a:bodyPr>
            <a:normAutofit fontScale="92500"/>
          </a:bodyPr>
          <a:lstStyle/>
          <a:p>
            <a:pPr algn="l">
              <a:tabLst>
                <a:tab pos="2694940" algn="l"/>
              </a:tabLst>
            </a:pPr>
            <a:r>
              <a:rPr lang="en-IN" sz="4800" b="1" dirty="0">
                <a:solidFill>
                  <a:schemeClr val="accent2"/>
                </a:solidFill>
              </a:rPr>
              <a:t>Class 6 </a:t>
            </a:r>
            <a:r>
              <a:rPr lang="en-IN" sz="4800" b="1" dirty="0"/>
              <a:t>| </a:t>
            </a:r>
            <a:r>
              <a:rPr lang="en-IN" sz="4800" b="1" dirty="0">
                <a:solidFill>
                  <a:srgbClr val="FFFF00"/>
                </a:solidFill>
              </a:rPr>
              <a:t>Science</a:t>
            </a:r>
            <a:endParaRPr lang="en-IN" sz="4800" b="1" dirty="0">
              <a:solidFill>
                <a:srgbClr val="FFFF00"/>
              </a:solidFill>
            </a:endParaRPr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1028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242" name="Picture 2" descr="Light Bulb PNG Images - FreeIcons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487" y="2501024"/>
            <a:ext cx="1781708" cy="2371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8" name="Rectangle 19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9" name="Rectangle 19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7540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0" name="Rectangle 19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-158494" y="266048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Rectangle 19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-1180882" y="163810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6" name="Freeform: Shape 19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-747355" y="1201320"/>
            <a:ext cx="4808302" cy="4088667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891" y="2484163"/>
            <a:ext cx="2880828" cy="30719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b="1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Inside View of a Torch</a:t>
            </a:r>
            <a:endParaRPr lang="en-US" sz="6000" b="1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8196" name="Picture 4" descr="NCERT Class 6 Science Chapter 12: Electricity and Circuits: Static  Electricity- Examrac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5153511" y="1619618"/>
            <a:ext cx="5923584" cy="361877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>
            <a:normAutofit fontScale="90000"/>
          </a:bodyPr>
          <a:lstStyle/>
          <a:p>
            <a:r>
              <a:rPr lang="en-IN" sz="5400" b="1" dirty="0">
                <a:solidFill>
                  <a:schemeClr val="bg1"/>
                </a:solidFill>
                <a:latin typeface="Verdana" panose="020B0604030504040204" pitchFamily="34" charset="0"/>
              </a:rPr>
              <a:t>Electric Bulb</a:t>
            </a:r>
            <a:endParaRPr lang="en-IN" sz="5400" b="1" dirty="0">
              <a:solidFill>
                <a:schemeClr val="bg1"/>
              </a:solidFill>
            </a:endParaRPr>
          </a:p>
        </p:txBody>
      </p:sp>
      <p:sp>
        <p:nvSpPr>
          <p:cNvPr id="11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293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9" y="5353833"/>
            <a:ext cx="5955436" cy="1287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An electric bulb is a small and simple light source that uses a wire filament to glow when electricity passes through it.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CLASS 6 SCIENCE – Electricity and Circuits – Soaring Hig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17527" y="640080"/>
            <a:ext cx="4643551" cy="557784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" y="2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161" y="901901"/>
            <a:ext cx="5096251" cy="1128068"/>
          </a:xfrm>
        </p:spPr>
        <p:txBody>
          <a:bodyPr anchor="ctr">
            <a:normAutofit fontScale="90000"/>
          </a:bodyPr>
          <a:lstStyle/>
          <a:p>
            <a:r>
              <a:rPr lang="en-IN" b="1" i="0" dirty="0">
                <a:effectLst/>
                <a:latin typeface="Verdana" panose="020B0604030504040204" pitchFamily="34" charset="0"/>
              </a:rPr>
              <a:t>Electrical Energy</a:t>
            </a:r>
            <a:endParaRPr lang="en-IN" b="1" dirty="0"/>
          </a:p>
        </p:txBody>
      </p:sp>
      <p:grpSp>
        <p:nvGrpSpPr>
          <p:cNvPr id="73" name="Group 72"/>
          <p:cNvGrpSpPr>
            <a:grpSpLocks noGrp="1" noRot="1" noChangeAspect="1" noMove="1" noResize="1" noUngrp="1"/>
          </p:cNvGrpSpPr>
          <p:nvPr/>
        </p:nvGrpSpPr>
        <p:grpSpPr>
          <a:xfrm>
            <a:off x="3" y="1083485"/>
            <a:ext cx="355196" cy="673460"/>
            <a:chOff x="0" y="823811"/>
            <a:chExt cx="355196" cy="673460"/>
          </a:xfrm>
        </p:grpSpPr>
        <p:sp>
          <p:nvSpPr>
            <p:cNvPr id="74" name="Rectangle 73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Rectangle 7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721" y="2330526"/>
            <a:ext cx="4559427" cy="3979585"/>
          </a:xfrm>
        </p:spPr>
        <p:txBody>
          <a:bodyPr anchor="ctr">
            <a:normAutofit/>
          </a:bodyPr>
          <a:lstStyle/>
          <a:p>
            <a:r>
              <a:rPr lang="en-US" dirty="0"/>
              <a:t>Electrical energy is caused by moving electric charges called electrons. </a:t>
            </a:r>
            <a:endParaRPr lang="en-US" dirty="0"/>
          </a:p>
          <a:p>
            <a:r>
              <a:rPr lang="en-US" dirty="0"/>
              <a:t>The faster the charges move, the more electrical energy they carry.</a:t>
            </a:r>
            <a:endParaRPr lang="en-IN" dirty="0"/>
          </a:p>
        </p:txBody>
      </p:sp>
      <p:sp>
        <p:nvSpPr>
          <p:cNvPr id="79" name="Rectangle 7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10697673" y="0"/>
            <a:ext cx="1494331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85822" y="513860"/>
            <a:ext cx="6009367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ow do electrons figure out which is the path of least resistance?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" r="918" b="2"/>
          <a:stretch>
            <a:fillRect/>
          </a:stretch>
        </p:blipFill>
        <p:spPr bwMode="auto">
          <a:xfrm>
            <a:off x="5977789" y="799352"/>
            <a:ext cx="5425411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ltGray">
          <a:xfrm>
            <a:off x="396897" y="280375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365" y="433547"/>
            <a:ext cx="11139855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>
                <a:solidFill>
                  <a:srgbClr val="FFFFFF"/>
                </a:solidFill>
              </a:rPr>
              <a:t>Electric cell</a:t>
            </a:r>
            <a:endParaRPr lang="en-US" sz="54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055" y="1626033"/>
            <a:ext cx="11234448" cy="420001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00"/>
                </a:solidFill>
              </a:rPr>
              <a:t>An electric cell is a device, which converts chemical energy into electrical energy. </a:t>
            </a:r>
            <a:endParaRPr lang="en-US" b="1" dirty="0">
              <a:solidFill>
                <a:srgbClr val="FFFF00"/>
              </a:solidFill>
            </a:endParaRPr>
          </a:p>
        </p:txBody>
      </p:sp>
      <p:cxnSp>
        <p:nvCxnSpPr>
          <p:cNvPr id="75" name="Straight Connector 7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2230079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Metal cap of an electric cell - Science - Electricity and Circuits -  12381687 | Meritnation.co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571" y="2788882"/>
            <a:ext cx="5455916" cy="327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7" name="Straight Connector 7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6116279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 descr="Electric Cell: Definition, Bulb, Videos, Examples and Solved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45079" y="3061678"/>
            <a:ext cx="5455916" cy="2727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" y="2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5" y="386931"/>
            <a:ext cx="10066123" cy="1298448"/>
          </a:xfrm>
        </p:spPr>
        <p:txBody>
          <a:bodyPr anchor="b">
            <a:normAutofit/>
          </a:bodyPr>
          <a:lstStyle/>
          <a:p>
            <a:r>
              <a:rPr lang="en-IN" sz="7200" b="1" dirty="0">
                <a:latin typeface="Calibri (Body)"/>
              </a:rPr>
              <a:t>Electric Circuit</a:t>
            </a:r>
            <a:endParaRPr lang="en-IN" sz="7200" b="1" dirty="0">
              <a:latin typeface="Calibri (Body)"/>
            </a:endParaRPr>
          </a:p>
        </p:txBody>
      </p:sp>
      <p:sp>
        <p:nvSpPr>
          <p:cNvPr id="73" name="Rectangle 7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 flipV="1">
            <a:off x="1" y="199886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2203099"/>
            <a:ext cx="11383363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61" y="2599529"/>
            <a:ext cx="4530899" cy="3639451"/>
          </a:xfrm>
        </p:spPr>
        <p:txBody>
          <a:bodyPr anchor="ctr">
            <a:normAutofit/>
          </a:bodyPr>
          <a:lstStyle/>
          <a:p>
            <a:r>
              <a:rPr lang="en-US" b="0" i="0" dirty="0">
                <a:effectLst/>
                <a:latin typeface="Calibri (Body)"/>
              </a:rPr>
              <a:t>An electric circuit is a path along which electricity can flow.</a:t>
            </a:r>
            <a:endParaRPr lang="en-US" b="0" i="0" dirty="0">
              <a:effectLst/>
              <a:latin typeface="Calibri (Body)"/>
            </a:endParaRPr>
          </a:p>
          <a:p>
            <a:r>
              <a:rPr lang="en-US" b="0" i="0" dirty="0">
                <a:effectLst/>
                <a:latin typeface="Calibri (Body)"/>
              </a:rPr>
              <a:t>A simple electric circuit consist of a cell, torch bulb and two pieces of wire (called connecting wires).</a:t>
            </a:r>
            <a:endParaRPr lang="en-IN" dirty="0">
              <a:latin typeface="Calibri (Body)"/>
            </a:endParaRPr>
          </a:p>
          <a:p>
            <a:endParaRPr lang="en-IN" sz="2400" dirty="0">
              <a:latin typeface="Calibri (Body)"/>
            </a:endParaRPr>
          </a:p>
        </p:txBody>
      </p:sp>
      <p:pic>
        <p:nvPicPr>
          <p:cNvPr id="6146" name="Picture 2" descr="Electric Circuits: Components, Types, and Related Concepts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5" r="4655" b="1"/>
          <a:stretch>
            <a:fillRect/>
          </a:stretch>
        </p:blipFill>
        <p:spPr bwMode="auto">
          <a:xfrm>
            <a:off x="5911543" y="2484255"/>
            <a:ext cx="5150279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Rectangle 7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11228042" y="2313047"/>
            <a:ext cx="781700" cy="1523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solidFill>
                  <a:srgbClr val="FFFF00"/>
                </a:solidFill>
                <a:effectLst/>
                <a:latin typeface="Verdana" panose="020B0604030504040204" pitchFamily="34" charset="0"/>
              </a:rPr>
              <a:t>Types of Circuit</a:t>
            </a:r>
            <a:endParaRPr lang="en-IN" sz="5400" b="1" dirty="0">
              <a:solidFill>
                <a:srgbClr val="FFFF0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005873" y="1978947"/>
            <a:ext cx="4876344" cy="544884"/>
          </a:xfrm>
        </p:spPr>
        <p:txBody>
          <a:bodyPr/>
          <a:lstStyle/>
          <a:p>
            <a:r>
              <a:rPr lang="en-IN" sz="3600" b="1" dirty="0"/>
              <a:t>Open Circuit</a:t>
            </a:r>
            <a:endParaRPr lang="en-IN" sz="3600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1005873" y="2641418"/>
            <a:ext cx="4876344" cy="3411063"/>
          </a:xfrm>
        </p:spPr>
        <p:txBody>
          <a:bodyPr>
            <a:normAutofit/>
          </a:bodyPr>
          <a:lstStyle/>
          <a:p>
            <a:r>
              <a:rPr lang="en-US" sz="2400" dirty="0"/>
              <a:t>It is not a closed and continuous path.</a:t>
            </a:r>
            <a:endParaRPr lang="en-US" sz="2400" dirty="0"/>
          </a:p>
          <a:p>
            <a:r>
              <a:rPr lang="en-US" sz="2400" dirty="0"/>
              <a:t>Electric current doesn't flow in an open circuit</a:t>
            </a:r>
            <a:endParaRPr lang="en-US" sz="2400" dirty="0"/>
          </a:p>
          <a:p>
            <a:r>
              <a:rPr lang="en-US" sz="2400" dirty="0"/>
              <a:t>The key in an open circuit is shown as ()</a:t>
            </a:r>
            <a:endParaRPr lang="en-IN" sz="24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6294968" y="1978968"/>
            <a:ext cx="4895331" cy="544883"/>
          </a:xfrm>
        </p:spPr>
        <p:txBody>
          <a:bodyPr/>
          <a:lstStyle/>
          <a:p>
            <a:r>
              <a:rPr lang="en-IN" sz="3600" b="1" dirty="0"/>
              <a:t>Closed Circuit</a:t>
            </a:r>
            <a:endParaRPr lang="en-IN" sz="3600" b="1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6294968" y="2641418"/>
            <a:ext cx="4895331" cy="3411063"/>
          </a:xfrm>
        </p:spPr>
        <p:txBody>
          <a:bodyPr>
            <a:normAutofit/>
          </a:bodyPr>
          <a:lstStyle/>
          <a:p>
            <a:r>
              <a:rPr lang="en-US" sz="2400" dirty="0"/>
              <a:t>It is a closed and continuous path.</a:t>
            </a:r>
            <a:endParaRPr lang="en-US" sz="2400" dirty="0"/>
          </a:p>
          <a:p>
            <a:r>
              <a:rPr lang="en-US" sz="2400" dirty="0"/>
              <a:t>Electric current flows in a closed circuit</a:t>
            </a:r>
            <a:endParaRPr lang="en-US" sz="2400" dirty="0"/>
          </a:p>
          <a:p>
            <a:r>
              <a:rPr lang="en-US" sz="2400" dirty="0"/>
              <a:t>The key in a closed circuit is shown as (.)</a:t>
            </a:r>
            <a:endParaRPr lang="en-IN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FFFF00"/>
                </a:solidFill>
                <a:effectLst/>
                <a:latin typeface="Verdana" panose="020B0604030504040204" pitchFamily="34" charset="0"/>
              </a:rPr>
              <a:t>Switch</a:t>
            </a:r>
            <a:endParaRPr lang="en-IN" sz="4800" b="1" dirty="0">
              <a:solidFill>
                <a:srgbClr val="FFFF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047141" y="1935461"/>
            <a:ext cx="4825157" cy="576263"/>
          </a:xfrm>
        </p:spPr>
        <p:txBody>
          <a:bodyPr/>
          <a:lstStyle/>
          <a:p>
            <a:pPr algn="ctr"/>
            <a:r>
              <a:rPr lang="en-IN" sz="2800" b="1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Open Switch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047141" y="2644187"/>
            <a:ext cx="1905067" cy="2840039"/>
          </a:xfrm>
        </p:spPr>
        <p:txBody>
          <a:bodyPr/>
          <a:lstStyle/>
          <a:p>
            <a:r>
              <a:rPr lang="en-US" dirty="0"/>
              <a:t>A switch is said to be open when no current is drawn from the cell, and the circuit is open or incomplete.</a:t>
            </a:r>
            <a:endParaRPr lang="en-I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6442413" y="1980446"/>
            <a:ext cx="4825159" cy="576263"/>
          </a:xfrm>
        </p:spPr>
        <p:txBody>
          <a:bodyPr/>
          <a:lstStyle/>
          <a:p>
            <a:pPr algn="ctr"/>
            <a:r>
              <a:rPr lang="en-IN" sz="2800" b="1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Closed Switch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6319703" y="2644178"/>
            <a:ext cx="1809816" cy="2840039"/>
          </a:xfrm>
        </p:spPr>
        <p:txBody>
          <a:bodyPr/>
          <a:lstStyle/>
          <a:p>
            <a:r>
              <a:rPr lang="en-US" dirty="0"/>
              <a:t>A switch is said to be closed when current is drawn from the cell and the circuit is closed or complete.</a:t>
            </a:r>
            <a:endParaRPr lang="en-US" dirty="0"/>
          </a:p>
        </p:txBody>
      </p:sp>
      <p:pic>
        <p:nvPicPr>
          <p:cNvPr id="10" name="Picture 9" descr="Diagram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839" y="2647870"/>
            <a:ext cx="2612572" cy="2968831"/>
          </a:xfrm>
          <a:prstGeom prst="rect">
            <a:avLst/>
          </a:prstGeom>
        </p:spPr>
      </p:pic>
      <p:pic>
        <p:nvPicPr>
          <p:cNvPr id="12" name="Picture 11" descr="Diagram, schematic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717" y="2698234"/>
            <a:ext cx="2567939" cy="2918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13797" y="387532"/>
            <a:ext cx="10353763" cy="970451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FFFF00"/>
                </a:solidFill>
              </a:rPr>
              <a:t>Type of Substances</a:t>
            </a:r>
            <a:endParaRPr lang="en-IN" sz="5400" b="1" dirty="0">
              <a:solidFill>
                <a:srgbClr val="FFFF00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005873" y="1900570"/>
            <a:ext cx="4876344" cy="544884"/>
          </a:xfrm>
        </p:spPr>
        <p:txBody>
          <a:bodyPr/>
          <a:lstStyle/>
          <a:p>
            <a:r>
              <a:rPr lang="en-IN" sz="3600" b="1" dirty="0"/>
              <a:t>Conductors</a:t>
            </a:r>
            <a:endParaRPr lang="en-IN" sz="3600" b="1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1005873" y="2563041"/>
            <a:ext cx="2287947" cy="3411063"/>
          </a:xfrm>
        </p:spPr>
        <p:txBody>
          <a:bodyPr/>
          <a:lstStyle/>
          <a:p>
            <a:r>
              <a:rPr lang="en-US" dirty="0"/>
              <a:t>They are the substance which allow the electricity to pass through them.</a:t>
            </a:r>
            <a:endParaRPr lang="en-US" dirty="0"/>
          </a:p>
          <a:p>
            <a:r>
              <a:rPr lang="en-US" dirty="0"/>
              <a:t>allow free flow of electrons</a:t>
            </a:r>
            <a:endParaRPr lang="en-US" dirty="0"/>
          </a:p>
          <a:p>
            <a:r>
              <a:rPr lang="en-US" dirty="0"/>
              <a:t>Examples: iron rods, steel etc.</a:t>
            </a:r>
            <a:endParaRPr lang="en-IN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6294968" y="1900589"/>
            <a:ext cx="4895331" cy="544883"/>
          </a:xfrm>
        </p:spPr>
        <p:txBody>
          <a:bodyPr/>
          <a:lstStyle/>
          <a:p>
            <a:r>
              <a:rPr lang="en-IN" sz="3600" b="1" dirty="0"/>
              <a:t>Insulators</a:t>
            </a:r>
            <a:endParaRPr lang="en-IN" sz="3600" b="1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>
          <a:xfrm>
            <a:off x="6294969" y="2563041"/>
            <a:ext cx="2305051" cy="341106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They are the substance which do not allow the electricity to pass through them.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resist free flow of electrons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Examples: </a:t>
            </a:r>
            <a:r>
              <a:rPr lang="en-IN" b="0" i="0" dirty="0">
                <a:solidFill>
                  <a:schemeClr val="tx1"/>
                </a:solidFill>
                <a:effectLst/>
                <a:latin typeface="ProximaNova"/>
              </a:rPr>
              <a:t>plastic, wood etc.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21" y="2988048"/>
            <a:ext cx="2486027" cy="21812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13" descr="A picture containing diagram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633" y="2949948"/>
            <a:ext cx="2305051" cy="22574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29160" y="188934"/>
            <a:ext cx="1076284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ZA" sz="3200" dirty="0">
                <a:solidFill>
                  <a:srgbClr val="FF0000"/>
                </a:solidFill>
                <a:cs typeface="Arial" panose="020B0604020202020204" pitchFamily="34" charset="0"/>
              </a:rPr>
              <a:t>Symbols used to represent different components in a simple circuit</a:t>
            </a:r>
            <a:endParaRPr lang="en-ZA" sz="32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pic>
        <p:nvPicPr>
          <p:cNvPr id="16388" name="Picture 10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535273" y="1662116"/>
            <a:ext cx="1269779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1" name="Picture 10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>
            <a:off x="5102456" y="1580093"/>
            <a:ext cx="2461984" cy="1083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3" name="Picture 6" descr="pic  90 7-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34484" y="3811916"/>
            <a:ext cx="1777691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6" name="Rectangle 17"/>
          <p:cNvSpPr>
            <a:spLocks noChangeArrowheads="1"/>
          </p:cNvSpPr>
          <p:nvPr/>
        </p:nvSpPr>
        <p:spPr bwMode="auto">
          <a:xfrm>
            <a:off x="547675" y="4915755"/>
            <a:ext cx="11500431" cy="107721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ZA" sz="3200" dirty="0">
                <a:solidFill>
                  <a:srgbClr val="FF0000"/>
                </a:solidFill>
                <a:cs typeface="Arial" panose="020B0604020202020204" pitchFamily="34" charset="0"/>
              </a:rPr>
              <a:t>  battery</a:t>
            </a:r>
            <a:r>
              <a:rPr lang="en-ZA" sz="3200" dirty="0">
                <a:solidFill>
                  <a:prstClr val="black"/>
                </a:solidFill>
                <a:cs typeface="Arial" panose="020B0604020202020204" pitchFamily="34" charset="0"/>
              </a:rPr>
              <a:t>  	                    </a:t>
            </a:r>
            <a:r>
              <a:rPr lang="en-ZA" sz="3200" dirty="0">
                <a:solidFill>
                  <a:srgbClr val="FF0000"/>
                </a:solidFill>
                <a:cs typeface="Arial" panose="020B0604020202020204" pitchFamily="34" charset="0"/>
              </a:rPr>
              <a:t>cell              </a:t>
            </a:r>
            <a:r>
              <a:rPr lang="en-ZA" sz="3200" dirty="0">
                <a:solidFill>
                  <a:srgbClr val="33CC33"/>
                </a:solidFill>
                <a:cs typeface="Arial" panose="020B0604020202020204" pitchFamily="34" charset="0"/>
              </a:rPr>
              <a:t>wire/conductor</a:t>
            </a:r>
            <a:r>
              <a:rPr lang="en-ZA" sz="3200" dirty="0">
                <a:solidFill>
                  <a:srgbClr val="FF0000"/>
                </a:solidFill>
                <a:cs typeface="Arial" panose="020B0604020202020204" pitchFamily="34" charset="0"/>
              </a:rPr>
              <a:t>   </a:t>
            </a:r>
            <a:endParaRPr lang="en-ZA" sz="3200" dirty="0">
              <a:solidFill>
                <a:srgbClr val="0033CC"/>
              </a:solidFill>
              <a:cs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ZA" sz="3200" dirty="0">
                <a:solidFill>
                  <a:prstClr val="black"/>
                </a:solidFill>
                <a:cs typeface="Arial" panose="020B0604020202020204" pitchFamily="34" charset="0"/>
              </a:rPr>
              <a:t>   	</a:t>
            </a:r>
            <a:endParaRPr lang="en-ZA" sz="3200" dirty="0">
              <a:solidFill>
                <a:srgbClr val="0033CC"/>
              </a:solidFill>
              <a:cs typeface="Arial" panose="020B0604020202020204" pitchFamily="34" charset="0"/>
            </a:endParaRPr>
          </a:p>
        </p:txBody>
      </p:sp>
      <p:pic>
        <p:nvPicPr>
          <p:cNvPr id="16397" name="Picture 18" descr="TTS Square.jpg"/>
          <p:cNvPicPr>
            <a:picLocks noChangeAspect="1" noChangeArrowheads="1"/>
          </p:cNvPicPr>
          <p:nvPr/>
        </p:nvPicPr>
        <p:blipFill>
          <a:blip r:embed="rId4" cstate="print"/>
          <a:srcRect l="9543" r="14624" b="23566"/>
          <a:stretch>
            <a:fillRect/>
          </a:stretch>
        </p:blipFill>
        <p:spPr bwMode="auto">
          <a:xfrm>
            <a:off x="239143" y="5805488"/>
            <a:ext cx="1248616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/>
          <p:cNvSpPr txBox="1"/>
          <p:nvPr/>
        </p:nvSpPr>
        <p:spPr>
          <a:xfrm>
            <a:off x="2158627" y="6308725"/>
            <a:ext cx="9311716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ZA" i="1" dirty="0">
                <a:solidFill>
                  <a:srgbClr val="8064A2">
                    <a:lumMod val="75000"/>
                  </a:srgbClr>
                </a:solidFill>
                <a:cs typeface="Arial" panose="020B0604020202020204" pitchFamily="34" charset="0"/>
              </a:rPr>
              <a:t>Natural Sciences and Technology - Grade 6</a:t>
            </a:r>
            <a:endParaRPr lang="en-ZA" i="1" dirty="0">
              <a:solidFill>
                <a:srgbClr val="8064A2">
                  <a:lumMod val="75000"/>
                </a:srgbClr>
              </a:solidFill>
              <a:cs typeface="Arial" panose="020B0604020202020204" pitchFamily="34" charset="0"/>
            </a:endParaRPr>
          </a:p>
        </p:txBody>
      </p:sp>
      <p:pic>
        <p:nvPicPr>
          <p:cNvPr id="16399" name="Picture 21" descr="C:\Documents and Settings\Administrator\My Documents\St Luke Worship &amp; Y.P.M 2012\YOUTH\Youth Ministry\Tasha\GM\2015 Adele\New Reworking Grade 6 Terms 1-4\Illustrations for Terms\Term 3\3 Syst to solve problems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8318" y="236483"/>
            <a:ext cx="893079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898" y="3399873"/>
            <a:ext cx="2539559" cy="1590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81" y="3079363"/>
            <a:ext cx="3123659" cy="19526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09" y="1730964"/>
            <a:ext cx="2916031" cy="13595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29160" y="188934"/>
            <a:ext cx="1076284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ZA" sz="3200" dirty="0">
                <a:solidFill>
                  <a:srgbClr val="FF0000"/>
                </a:solidFill>
                <a:cs typeface="Arial" panose="020B0604020202020204" pitchFamily="34" charset="0"/>
              </a:rPr>
              <a:t>Symbols used to represent different components in a simple circuit</a:t>
            </a:r>
            <a:endParaRPr lang="en-ZA" sz="32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pic>
        <p:nvPicPr>
          <p:cNvPr id="16387" name="Picture 92" descr="Description: CIR 002.jpg"/>
          <p:cNvPicPr>
            <a:picLocks noChangeAspect="1" noChangeArrowheads="1"/>
          </p:cNvPicPr>
          <p:nvPr/>
        </p:nvPicPr>
        <p:blipFill>
          <a:blip r:embed="rId1" cstate="print"/>
          <a:srcRect l="60995" t="44681" r="17496"/>
          <a:stretch>
            <a:fillRect/>
          </a:stretch>
        </p:blipFill>
        <p:spPr bwMode="auto">
          <a:xfrm>
            <a:off x="1021189" y="1636713"/>
            <a:ext cx="1464479" cy="1303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10" descr="pic  90 4-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18854" y="1636713"/>
            <a:ext cx="1246767" cy="986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0" name="Picture 9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44916" y="1636734"/>
            <a:ext cx="2473309" cy="1135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2" name="Picture 7" descr="pic  90 6-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3258" y="3285441"/>
            <a:ext cx="1680343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4" name="Picture 10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18841" y="3012263"/>
            <a:ext cx="1254323" cy="1427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5" name="Picture 8" descr="pic  90 5-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flipV="1">
            <a:off x="9110713" y="3778839"/>
            <a:ext cx="1741715" cy="149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6" name="Rectangle 17"/>
          <p:cNvSpPr>
            <a:spLocks noChangeArrowheads="1"/>
          </p:cNvSpPr>
          <p:nvPr/>
        </p:nvSpPr>
        <p:spPr bwMode="auto">
          <a:xfrm>
            <a:off x="689008" y="4960833"/>
            <a:ext cx="11359097" cy="107721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ZA" sz="3200" dirty="0">
                <a:solidFill>
                  <a:srgbClr val="0033CC"/>
                </a:solidFill>
                <a:cs typeface="Arial" panose="020B0604020202020204" pitchFamily="34" charset="0"/>
              </a:rPr>
              <a:t>Open switch</a:t>
            </a:r>
            <a:r>
              <a:rPr lang="en-ZA" sz="3200" dirty="0">
                <a:solidFill>
                  <a:prstClr val="black"/>
                </a:solidFill>
                <a:cs typeface="Arial" panose="020B0604020202020204" pitchFamily="34" charset="0"/>
              </a:rPr>
              <a:t>          </a:t>
            </a:r>
            <a:r>
              <a:rPr lang="en-ZA" sz="3200" dirty="0">
                <a:solidFill>
                  <a:srgbClr val="FF0000"/>
                </a:solidFill>
                <a:cs typeface="Arial" panose="020B0604020202020204" pitchFamily="34" charset="0"/>
              </a:rPr>
              <a:t>light</a:t>
            </a:r>
            <a:r>
              <a:rPr lang="en-ZA" sz="3200" dirty="0">
                <a:solidFill>
                  <a:prstClr val="black"/>
                </a:solidFill>
                <a:cs typeface="Arial" panose="020B0604020202020204" pitchFamily="34" charset="0"/>
              </a:rPr>
              <a:t> </a:t>
            </a:r>
            <a:r>
              <a:rPr lang="en-ZA" sz="3200" dirty="0">
                <a:solidFill>
                  <a:srgbClr val="FF0000"/>
                </a:solidFill>
                <a:cs typeface="Arial" panose="020B0604020202020204" pitchFamily="34" charset="0"/>
              </a:rPr>
              <a:t>bulb</a:t>
            </a:r>
            <a:r>
              <a:rPr lang="en-ZA" sz="3200" dirty="0">
                <a:solidFill>
                  <a:prstClr val="black"/>
                </a:solidFill>
                <a:cs typeface="Arial" panose="020B0604020202020204" pitchFamily="34" charset="0"/>
              </a:rPr>
              <a:t>               </a:t>
            </a:r>
            <a:r>
              <a:rPr lang="en-ZA" sz="3200" dirty="0">
                <a:solidFill>
                  <a:srgbClr val="0033CC"/>
                </a:solidFill>
                <a:cs typeface="Arial" panose="020B0604020202020204" pitchFamily="34" charset="0"/>
              </a:rPr>
              <a:t>closed switch</a:t>
            </a:r>
            <a:endParaRPr lang="en-ZA" sz="3200" dirty="0">
              <a:solidFill>
                <a:srgbClr val="0033CC"/>
              </a:solidFill>
              <a:cs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ZA" sz="3200" dirty="0">
                <a:solidFill>
                  <a:prstClr val="black"/>
                </a:solidFill>
                <a:cs typeface="Arial" panose="020B0604020202020204" pitchFamily="34" charset="0"/>
              </a:rPr>
              <a:t> </a:t>
            </a:r>
            <a:endParaRPr lang="en-ZA" sz="3200" dirty="0">
              <a:solidFill>
                <a:srgbClr val="0033CC"/>
              </a:solidFill>
              <a:cs typeface="Arial" panose="020B0604020202020204" pitchFamily="34" charset="0"/>
            </a:endParaRPr>
          </a:p>
        </p:txBody>
      </p:sp>
      <p:pic>
        <p:nvPicPr>
          <p:cNvPr id="16397" name="Picture 18" descr="TTS Square.jpg"/>
          <p:cNvPicPr>
            <a:picLocks noChangeAspect="1" noChangeArrowheads="1"/>
          </p:cNvPicPr>
          <p:nvPr/>
        </p:nvPicPr>
        <p:blipFill>
          <a:blip r:embed="rId7" cstate="print"/>
          <a:srcRect l="9543" r="14624" b="23566"/>
          <a:stretch>
            <a:fillRect/>
          </a:stretch>
        </p:blipFill>
        <p:spPr bwMode="auto">
          <a:xfrm>
            <a:off x="239143" y="5805488"/>
            <a:ext cx="1248616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/>
          <p:cNvSpPr txBox="1"/>
          <p:nvPr/>
        </p:nvSpPr>
        <p:spPr>
          <a:xfrm>
            <a:off x="2158627" y="6308725"/>
            <a:ext cx="9311716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ZA" i="1" dirty="0">
                <a:solidFill>
                  <a:srgbClr val="8064A2">
                    <a:lumMod val="75000"/>
                  </a:srgbClr>
                </a:solidFill>
                <a:cs typeface="Arial" panose="020B0604020202020204" pitchFamily="34" charset="0"/>
              </a:rPr>
              <a:t>Natural Sciences and Technology - Grade 6</a:t>
            </a:r>
            <a:endParaRPr lang="en-ZA" i="1" dirty="0">
              <a:solidFill>
                <a:srgbClr val="8064A2">
                  <a:lumMod val="75000"/>
                </a:srgbClr>
              </a:solidFill>
              <a:cs typeface="Arial" panose="020B0604020202020204" pitchFamily="34" charset="0"/>
            </a:endParaRPr>
          </a:p>
        </p:txBody>
      </p:sp>
      <p:pic>
        <p:nvPicPr>
          <p:cNvPr id="16399" name="Picture 21" descr="C:\Documents and Settings\Administrator\My Documents\St Luke Worship &amp; Y.P.M 2012\YOUTH\Youth Ministry\Tasha\GM\2015 Adele\New Reworking Grade 6 Terms 1-4\Illustrations for Terms\Term 3\3 Syst to solve problems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78318" y="236483"/>
            <a:ext cx="893079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1472" y="489334"/>
            <a:ext cx="9356159" cy="768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ZA" sz="4400" dirty="0">
                <a:solidFill>
                  <a:srgbClr val="33CC33"/>
                </a:solidFill>
                <a:cs typeface="Arial" panose="020B0604020202020204" pitchFamily="34" charset="0"/>
              </a:rPr>
              <a:t>A cell</a:t>
            </a:r>
            <a:r>
              <a:rPr lang="en-ZA" sz="4400" dirty="0">
                <a:solidFill>
                  <a:prstClr val="black"/>
                </a:solidFill>
                <a:cs typeface="Arial" panose="020B0604020202020204" pitchFamily="34" charset="0"/>
              </a:rPr>
              <a:t> and </a:t>
            </a:r>
            <a:r>
              <a:rPr lang="en-ZA" sz="4400" dirty="0">
                <a:solidFill>
                  <a:srgbClr val="FF0000"/>
                </a:solidFill>
                <a:cs typeface="Arial" panose="020B0604020202020204" pitchFamily="34" charset="0"/>
              </a:rPr>
              <a:t>a light bulb</a:t>
            </a:r>
            <a:endParaRPr lang="en-ZA" sz="44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pic>
        <p:nvPicPr>
          <p:cNvPr id="17412" name="Picture 4" descr="TTS Square.jpg"/>
          <p:cNvPicPr>
            <a:picLocks noChangeAspect="1" noChangeArrowheads="1"/>
          </p:cNvPicPr>
          <p:nvPr/>
        </p:nvPicPr>
        <p:blipFill>
          <a:blip r:embed="rId1" cstate="print"/>
          <a:srcRect l="9543" r="14624" b="23566"/>
          <a:stretch>
            <a:fillRect/>
          </a:stretch>
        </p:blipFill>
        <p:spPr bwMode="auto">
          <a:xfrm>
            <a:off x="239143" y="5805488"/>
            <a:ext cx="1248616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158627" y="6308725"/>
            <a:ext cx="9311716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ZA" i="1" dirty="0">
                <a:solidFill>
                  <a:srgbClr val="8064A2">
                    <a:lumMod val="75000"/>
                  </a:srgbClr>
                </a:solidFill>
                <a:cs typeface="Arial" panose="020B0604020202020204" pitchFamily="34" charset="0"/>
              </a:rPr>
              <a:t>Natural Sciences and Technology - Grade 6</a:t>
            </a:r>
            <a:endParaRPr lang="en-ZA" i="1" dirty="0">
              <a:solidFill>
                <a:srgbClr val="8064A2">
                  <a:lumMod val="75000"/>
                </a:srgbClr>
              </a:solidFill>
              <a:cs typeface="Arial" panose="020B0604020202020204" pitchFamily="34" charset="0"/>
            </a:endParaRPr>
          </a:p>
        </p:txBody>
      </p:sp>
      <p:pic>
        <p:nvPicPr>
          <p:cNvPr id="17414" name="Picture 8" descr="C:\Documents and Settings\Administrator\My Documents\St Luke Worship &amp; Y.P.M 2012\YOUTH\Youth Ministry\Tasha\GM\2015 Adele\New Reworking Grade 6 Terms 1-4\Illustrations for Terms\Term 3\3 Syst to solve problem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369" y="331075"/>
            <a:ext cx="893079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C:\Users\Adele\Documents\MEGA\GMSAF 2016\TTS PE\1 Material Dev TTS\Gr 6 Working docs\GR 6 IMAGES\TERM 3\T3 SYSTEMS TO SOLVE PROBLEMS\78_NEW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9157" y="2363230"/>
            <a:ext cx="5118455" cy="2062998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127" y="2104112"/>
            <a:ext cx="4241063" cy="25812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135255" y="162560"/>
            <a:ext cx="11873865" cy="6694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</a:rPr>
              <a:t>Series Circuit</a:t>
            </a:r>
            <a:endParaRPr lang="en-US" dirty="0" smtClean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08000" y="1785922"/>
            <a:ext cx="5791200" cy="4462485"/>
          </a:xfrm>
        </p:spPr>
        <p:txBody>
          <a:bodyPr/>
          <a:lstStyle/>
          <a:p>
            <a:pPr eaLnBrk="1" hangingPunct="1">
              <a:buNone/>
            </a:pPr>
            <a:r>
              <a:rPr lang="en-US" sz="3600" dirty="0" smtClean="0">
                <a:latin typeface="Cambria" panose="02040503050406030204" pitchFamily="18" charset="0"/>
              </a:rPr>
              <a:t>    A series circuit is one that connects an electrical source with its components one after another, forming </a:t>
            </a:r>
            <a:r>
              <a:rPr lang="en-US" sz="3600" u="sng" dirty="0" smtClean="0">
                <a:latin typeface="Cambria" panose="02040503050406030204" pitchFamily="18" charset="0"/>
              </a:rPr>
              <a:t>one single loop</a:t>
            </a:r>
            <a:r>
              <a:rPr lang="en-US" sz="3600" dirty="0" smtClean="0">
                <a:latin typeface="Cambria" panose="02040503050406030204" pitchFamily="18" charset="0"/>
              </a:rPr>
              <a:t>. </a:t>
            </a:r>
            <a:endParaRPr lang="en-US" sz="3600" dirty="0" smtClean="0">
              <a:latin typeface="Cambria" panose="02040503050406030204" pitchFamily="18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604000" y="0"/>
            <a:ext cx="5588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273050" y="369570"/>
            <a:ext cx="9401810" cy="62147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422400" y="381001"/>
            <a:ext cx="10464800" cy="17851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3800" dirty="0">
                <a:solidFill>
                  <a:srgbClr val="9C007F">
                    <a:lumMod val="50000"/>
                  </a:srgbClr>
                </a:solidFill>
                <a:latin typeface="Cambria" panose="02040503050406030204" pitchFamily="18" charset="0"/>
              </a:rPr>
              <a:t>If there is only one path for the current you have </a:t>
            </a:r>
            <a:r>
              <a:rPr lang="en-US" sz="3800" dirty="0" smtClean="0">
                <a:solidFill>
                  <a:srgbClr val="9C007F">
                    <a:lumMod val="50000"/>
                  </a:srgbClr>
                </a:solidFill>
                <a:latin typeface="Cambria" panose="02040503050406030204" pitchFamily="18" charset="0"/>
              </a:rPr>
              <a:t>a </a:t>
            </a:r>
            <a:endParaRPr lang="en-US" sz="3800" dirty="0" smtClean="0">
              <a:solidFill>
                <a:srgbClr val="9C007F">
                  <a:lumMod val="50000"/>
                </a:srgbClr>
              </a:solidFill>
              <a:latin typeface="Cambria" panose="02040503050406030204" pitchFamily="18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4800" b="1" dirty="0" smtClean="0">
                <a:solidFill>
                  <a:srgbClr val="9C007F">
                    <a:lumMod val="50000"/>
                  </a:srgbClr>
                </a:solidFill>
                <a:latin typeface="Cambria" panose="02040503050406030204" pitchFamily="18" charset="0"/>
              </a:rPr>
              <a:t>series </a:t>
            </a:r>
            <a:r>
              <a:rPr lang="en-US" sz="4800" b="1" dirty="0">
                <a:solidFill>
                  <a:srgbClr val="9C007F">
                    <a:lumMod val="50000"/>
                  </a:srgbClr>
                </a:solidFill>
                <a:latin typeface="Cambria" panose="02040503050406030204" pitchFamily="18" charset="0"/>
              </a:rPr>
              <a:t>circuit.</a:t>
            </a:r>
            <a:endParaRPr lang="en-US" sz="4800" b="1" dirty="0">
              <a:solidFill>
                <a:srgbClr val="9C007F">
                  <a:lumMod val="50000"/>
                </a:srgbClr>
              </a:solidFill>
              <a:latin typeface="Cambria" panose="02040503050406030204" pitchFamily="18" charset="0"/>
            </a:endParaRPr>
          </a:p>
        </p:txBody>
      </p:sp>
      <p:pic>
        <p:nvPicPr>
          <p:cNvPr id="27651" name="Picture 3" descr="e9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320800" y="4800600"/>
            <a:ext cx="2641600" cy="1079500"/>
          </a:xfrm>
          <a:prstGeom prst="rect">
            <a:avLst/>
          </a:prstGeom>
          <a:noFill/>
        </p:spPr>
      </p:pic>
      <p:pic>
        <p:nvPicPr>
          <p:cNvPr id="27652" name="Picture 4" descr="385px-Incandescent_light_bulb_(no_labels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8001" y="3352800"/>
            <a:ext cx="1303867" cy="1524000"/>
          </a:xfrm>
          <a:prstGeom prst="rect">
            <a:avLst/>
          </a:prstGeom>
          <a:noFill/>
        </p:spPr>
      </p:pic>
      <p:sp>
        <p:nvSpPr>
          <p:cNvPr id="27653" name="Freeform 5"/>
          <p:cNvSpPr/>
          <p:nvPr/>
        </p:nvSpPr>
        <p:spPr bwMode="auto">
          <a:xfrm>
            <a:off x="1104901" y="4425959"/>
            <a:ext cx="4961467" cy="900113"/>
          </a:xfrm>
          <a:custGeom>
            <a:avLst/>
            <a:gdLst/>
            <a:ahLst/>
            <a:cxnLst>
              <a:cxn ang="0">
                <a:pos x="147" y="567"/>
              </a:cxn>
              <a:cxn ang="0">
                <a:pos x="77" y="543"/>
              </a:cxn>
              <a:cxn ang="0">
                <a:pos x="46" y="497"/>
              </a:cxn>
              <a:cxn ang="0">
                <a:pos x="0" y="388"/>
              </a:cxn>
              <a:cxn ang="0">
                <a:pos x="7" y="333"/>
              </a:cxn>
              <a:cxn ang="0">
                <a:pos x="31" y="310"/>
              </a:cxn>
              <a:cxn ang="0">
                <a:pos x="124" y="240"/>
              </a:cxn>
              <a:cxn ang="0">
                <a:pos x="202" y="193"/>
              </a:cxn>
              <a:cxn ang="0">
                <a:pos x="793" y="108"/>
              </a:cxn>
              <a:cxn ang="0">
                <a:pos x="879" y="84"/>
              </a:cxn>
              <a:cxn ang="0">
                <a:pos x="2047" y="53"/>
              </a:cxn>
              <a:cxn ang="0">
                <a:pos x="2148" y="6"/>
              </a:cxn>
              <a:cxn ang="0">
                <a:pos x="2280" y="14"/>
              </a:cxn>
              <a:cxn ang="0">
                <a:pos x="2311" y="61"/>
              </a:cxn>
              <a:cxn ang="0">
                <a:pos x="2335" y="69"/>
              </a:cxn>
              <a:cxn ang="0">
                <a:pos x="2342" y="76"/>
              </a:cxn>
            </a:cxnLst>
            <a:rect l="0" t="0" r="r" b="b"/>
            <a:pathLst>
              <a:path w="2344" h="567">
                <a:moveTo>
                  <a:pt x="147" y="567"/>
                </a:moveTo>
                <a:cubicBezTo>
                  <a:pt x="120" y="562"/>
                  <a:pt x="96" y="565"/>
                  <a:pt x="77" y="543"/>
                </a:cubicBezTo>
                <a:cubicBezTo>
                  <a:pt x="65" y="529"/>
                  <a:pt x="46" y="497"/>
                  <a:pt x="46" y="497"/>
                </a:cubicBezTo>
                <a:cubicBezTo>
                  <a:pt x="33" y="459"/>
                  <a:pt x="12" y="426"/>
                  <a:pt x="0" y="388"/>
                </a:cubicBezTo>
                <a:cubicBezTo>
                  <a:pt x="2" y="370"/>
                  <a:pt x="0" y="350"/>
                  <a:pt x="7" y="333"/>
                </a:cubicBezTo>
                <a:cubicBezTo>
                  <a:pt x="11" y="323"/>
                  <a:pt x="24" y="318"/>
                  <a:pt x="31" y="310"/>
                </a:cubicBezTo>
                <a:cubicBezTo>
                  <a:pt x="60" y="276"/>
                  <a:pt x="81" y="255"/>
                  <a:pt x="124" y="240"/>
                </a:cubicBezTo>
                <a:cubicBezTo>
                  <a:pt x="150" y="214"/>
                  <a:pt x="170" y="212"/>
                  <a:pt x="202" y="193"/>
                </a:cubicBezTo>
                <a:cubicBezTo>
                  <a:pt x="398" y="75"/>
                  <a:pt x="530" y="113"/>
                  <a:pt x="793" y="108"/>
                </a:cubicBezTo>
                <a:cubicBezTo>
                  <a:pt x="864" y="90"/>
                  <a:pt x="836" y="99"/>
                  <a:pt x="879" y="84"/>
                </a:cubicBezTo>
                <a:cubicBezTo>
                  <a:pt x="1259" y="139"/>
                  <a:pt x="1670" y="150"/>
                  <a:pt x="2047" y="53"/>
                </a:cubicBezTo>
                <a:cubicBezTo>
                  <a:pt x="2089" y="25"/>
                  <a:pt x="2103" y="21"/>
                  <a:pt x="2148" y="6"/>
                </a:cubicBezTo>
                <a:cubicBezTo>
                  <a:pt x="2192" y="9"/>
                  <a:pt x="2238" y="0"/>
                  <a:pt x="2280" y="14"/>
                </a:cubicBezTo>
                <a:cubicBezTo>
                  <a:pt x="2298" y="20"/>
                  <a:pt x="2293" y="55"/>
                  <a:pt x="2311" y="61"/>
                </a:cubicBezTo>
                <a:cubicBezTo>
                  <a:pt x="2319" y="64"/>
                  <a:pt x="2327" y="66"/>
                  <a:pt x="2335" y="69"/>
                </a:cubicBezTo>
                <a:cubicBezTo>
                  <a:pt x="2344" y="97"/>
                  <a:pt x="2342" y="100"/>
                  <a:pt x="2342" y="76"/>
                </a:cubicBezTo>
              </a:path>
            </a:pathLst>
          </a:custGeom>
          <a:noFill/>
          <a:ln w="28575" cmpd="sng">
            <a:solidFill>
              <a:srgbClr val="C00000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54" name="Freeform 6"/>
          <p:cNvSpPr/>
          <p:nvPr/>
        </p:nvSpPr>
        <p:spPr bwMode="auto">
          <a:xfrm>
            <a:off x="3759200" y="4800609"/>
            <a:ext cx="5080000" cy="506413"/>
          </a:xfrm>
          <a:custGeom>
            <a:avLst/>
            <a:gdLst/>
            <a:ahLst/>
            <a:cxnLst>
              <a:cxn ang="0">
                <a:pos x="1158" y="0"/>
              </a:cxn>
              <a:cxn ang="0">
                <a:pos x="1072" y="233"/>
              </a:cxn>
              <a:cxn ang="0">
                <a:pos x="956" y="311"/>
              </a:cxn>
              <a:cxn ang="0">
                <a:pos x="162" y="303"/>
              </a:cxn>
              <a:cxn ang="0">
                <a:pos x="22" y="311"/>
              </a:cxn>
              <a:cxn ang="0">
                <a:pos x="6" y="319"/>
              </a:cxn>
            </a:cxnLst>
            <a:rect l="0" t="0" r="r" b="b"/>
            <a:pathLst>
              <a:path w="1166" h="319">
                <a:moveTo>
                  <a:pt x="1158" y="0"/>
                </a:moveTo>
                <a:cubicBezTo>
                  <a:pt x="1154" y="71"/>
                  <a:pt x="1166" y="206"/>
                  <a:pt x="1072" y="233"/>
                </a:cubicBezTo>
                <a:cubicBezTo>
                  <a:pt x="1033" y="260"/>
                  <a:pt x="1002" y="295"/>
                  <a:pt x="956" y="311"/>
                </a:cubicBezTo>
                <a:cubicBezTo>
                  <a:pt x="691" y="308"/>
                  <a:pt x="427" y="303"/>
                  <a:pt x="162" y="303"/>
                </a:cubicBezTo>
                <a:cubicBezTo>
                  <a:pt x="115" y="303"/>
                  <a:pt x="69" y="306"/>
                  <a:pt x="22" y="311"/>
                </a:cubicBezTo>
                <a:cubicBezTo>
                  <a:pt x="16" y="312"/>
                  <a:pt x="0" y="319"/>
                  <a:pt x="6" y="319"/>
                </a:cubicBezTo>
              </a:path>
            </a:pathLst>
          </a:custGeom>
          <a:noFill/>
          <a:ln w="38100" cmpd="sng">
            <a:solidFill>
              <a:schemeClr val="accent6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>
            <a:off x="2235200" y="4419600"/>
            <a:ext cx="28448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 flipH="1">
            <a:off x="6299200" y="5410200"/>
            <a:ext cx="1727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pic>
        <p:nvPicPr>
          <p:cNvPr id="27657" name="Picture 9" descr="385px-Incandescent_light_bulb_(no_labels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28001" y="3429000"/>
            <a:ext cx="1303867" cy="1524000"/>
          </a:xfrm>
          <a:prstGeom prst="rect">
            <a:avLst/>
          </a:prstGeom>
          <a:noFill/>
        </p:spPr>
      </p:pic>
      <p:sp>
        <p:nvSpPr>
          <p:cNvPr id="27658" name="Freeform 10"/>
          <p:cNvSpPr/>
          <p:nvPr/>
        </p:nvSpPr>
        <p:spPr bwMode="auto">
          <a:xfrm>
            <a:off x="6292857" y="4670434"/>
            <a:ext cx="2355849" cy="339725"/>
          </a:xfrm>
          <a:custGeom>
            <a:avLst/>
            <a:gdLst/>
            <a:ahLst/>
            <a:cxnLst>
              <a:cxn ang="0">
                <a:pos x="0" y="78"/>
              </a:cxn>
              <a:cxn ang="0">
                <a:pos x="156" y="148"/>
              </a:cxn>
              <a:cxn ang="0">
                <a:pos x="997" y="125"/>
              </a:cxn>
              <a:cxn ang="0">
                <a:pos x="1005" y="101"/>
              </a:cxn>
              <a:cxn ang="0">
                <a:pos x="1012" y="39"/>
              </a:cxn>
              <a:cxn ang="0">
                <a:pos x="1113" y="0"/>
              </a:cxn>
            </a:cxnLst>
            <a:rect l="0" t="0" r="r" b="b"/>
            <a:pathLst>
              <a:path w="1113" h="214">
                <a:moveTo>
                  <a:pt x="0" y="78"/>
                </a:moveTo>
                <a:cubicBezTo>
                  <a:pt x="13" y="194"/>
                  <a:pt x="19" y="157"/>
                  <a:pt x="156" y="148"/>
                </a:cubicBezTo>
                <a:cubicBezTo>
                  <a:pt x="429" y="78"/>
                  <a:pt x="729" y="214"/>
                  <a:pt x="997" y="125"/>
                </a:cubicBezTo>
                <a:cubicBezTo>
                  <a:pt x="1000" y="117"/>
                  <a:pt x="1004" y="109"/>
                  <a:pt x="1005" y="101"/>
                </a:cubicBezTo>
                <a:cubicBezTo>
                  <a:pt x="1009" y="81"/>
                  <a:pt x="1007" y="59"/>
                  <a:pt x="1012" y="39"/>
                </a:cubicBezTo>
                <a:cubicBezTo>
                  <a:pt x="1023" y="0"/>
                  <a:pt x="1082" y="0"/>
                  <a:pt x="1113" y="0"/>
                </a:cubicBezTo>
              </a:path>
            </a:pathLst>
          </a:custGeom>
          <a:noFill/>
          <a:ln w="38100" cmpd="sng">
            <a:solidFill>
              <a:srgbClr val="B92D14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59" name="Line 11"/>
          <p:cNvSpPr>
            <a:spLocks noChangeShapeType="1"/>
          </p:cNvSpPr>
          <p:nvPr/>
        </p:nvSpPr>
        <p:spPr bwMode="auto">
          <a:xfrm>
            <a:off x="6502400" y="4800600"/>
            <a:ext cx="18288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 flipH="1" flipV="1">
            <a:off x="5080000" y="3505200"/>
            <a:ext cx="508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 flipH="1" flipV="1">
            <a:off x="5588000" y="3124200"/>
            <a:ext cx="203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63" name="Line 15"/>
          <p:cNvSpPr>
            <a:spLocks noChangeShapeType="1"/>
          </p:cNvSpPr>
          <p:nvPr/>
        </p:nvSpPr>
        <p:spPr bwMode="auto">
          <a:xfrm flipH="1" flipV="1">
            <a:off x="62992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64" name="Line 16"/>
          <p:cNvSpPr>
            <a:spLocks noChangeShapeType="1"/>
          </p:cNvSpPr>
          <p:nvPr/>
        </p:nvSpPr>
        <p:spPr bwMode="auto">
          <a:xfrm flipV="1">
            <a:off x="6705600" y="32004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65" name="Line 17"/>
          <p:cNvSpPr>
            <a:spLocks noChangeShapeType="1"/>
          </p:cNvSpPr>
          <p:nvPr/>
        </p:nvSpPr>
        <p:spPr bwMode="auto">
          <a:xfrm flipH="1">
            <a:off x="6908800" y="3429000"/>
            <a:ext cx="508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 flipH="1" flipV="1">
            <a:off x="7620000" y="3657600"/>
            <a:ext cx="508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67" name="Line 19"/>
          <p:cNvSpPr>
            <a:spLocks noChangeShapeType="1"/>
          </p:cNvSpPr>
          <p:nvPr/>
        </p:nvSpPr>
        <p:spPr bwMode="auto">
          <a:xfrm flipH="1">
            <a:off x="9245600" y="32004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 flipH="1" flipV="1">
            <a:off x="88392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 flipH="1">
            <a:off x="9448800" y="3581400"/>
            <a:ext cx="508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70" name="Line 22"/>
          <p:cNvSpPr>
            <a:spLocks noChangeShapeType="1"/>
          </p:cNvSpPr>
          <p:nvPr/>
        </p:nvSpPr>
        <p:spPr bwMode="auto">
          <a:xfrm flipH="1" flipV="1">
            <a:off x="8128000" y="3200400"/>
            <a:ext cx="203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71" name="Freeform 23"/>
          <p:cNvSpPr/>
          <p:nvPr/>
        </p:nvSpPr>
        <p:spPr bwMode="auto">
          <a:xfrm>
            <a:off x="6000752" y="3749675"/>
            <a:ext cx="448733" cy="147638"/>
          </a:xfrm>
          <a:custGeom>
            <a:avLst/>
            <a:gdLst/>
            <a:ahLst/>
            <a:cxnLst>
              <a:cxn ang="0">
                <a:pos x="14" y="67"/>
              </a:cxn>
              <a:cxn ang="0">
                <a:pos x="53" y="51"/>
              </a:cxn>
              <a:cxn ang="0">
                <a:pos x="61" y="20"/>
              </a:cxn>
              <a:cxn ang="0">
                <a:pos x="76" y="43"/>
              </a:cxn>
              <a:cxn ang="0">
                <a:pos x="53" y="35"/>
              </a:cxn>
              <a:cxn ang="0">
                <a:pos x="107" y="43"/>
              </a:cxn>
              <a:cxn ang="0">
                <a:pos x="92" y="67"/>
              </a:cxn>
              <a:cxn ang="0">
                <a:pos x="68" y="59"/>
              </a:cxn>
              <a:cxn ang="0">
                <a:pos x="92" y="43"/>
              </a:cxn>
              <a:cxn ang="0">
                <a:pos x="131" y="51"/>
              </a:cxn>
              <a:cxn ang="0">
                <a:pos x="123" y="82"/>
              </a:cxn>
              <a:cxn ang="0">
                <a:pos x="154" y="28"/>
              </a:cxn>
              <a:cxn ang="0">
                <a:pos x="162" y="28"/>
              </a:cxn>
              <a:cxn ang="0">
                <a:pos x="201" y="35"/>
              </a:cxn>
              <a:cxn ang="0">
                <a:pos x="193" y="67"/>
              </a:cxn>
              <a:cxn ang="0">
                <a:pos x="177" y="43"/>
              </a:cxn>
              <a:cxn ang="0">
                <a:pos x="193" y="20"/>
              </a:cxn>
              <a:cxn ang="0">
                <a:pos x="115" y="35"/>
              </a:cxn>
              <a:cxn ang="0">
                <a:pos x="92" y="51"/>
              </a:cxn>
              <a:cxn ang="0">
                <a:pos x="14" y="67"/>
              </a:cxn>
            </a:cxnLst>
            <a:rect l="0" t="0" r="r" b="b"/>
            <a:pathLst>
              <a:path w="212" h="93">
                <a:moveTo>
                  <a:pt x="14" y="67"/>
                </a:moveTo>
                <a:cubicBezTo>
                  <a:pt x="36" y="0"/>
                  <a:pt x="0" y="82"/>
                  <a:pt x="53" y="51"/>
                </a:cubicBezTo>
                <a:cubicBezTo>
                  <a:pt x="62" y="46"/>
                  <a:pt x="58" y="30"/>
                  <a:pt x="61" y="20"/>
                </a:cubicBezTo>
                <a:cubicBezTo>
                  <a:pt x="66" y="28"/>
                  <a:pt x="80" y="35"/>
                  <a:pt x="76" y="43"/>
                </a:cubicBezTo>
                <a:cubicBezTo>
                  <a:pt x="72" y="50"/>
                  <a:pt x="45" y="35"/>
                  <a:pt x="53" y="35"/>
                </a:cubicBezTo>
                <a:cubicBezTo>
                  <a:pt x="71" y="35"/>
                  <a:pt x="89" y="40"/>
                  <a:pt x="107" y="43"/>
                </a:cubicBezTo>
                <a:cubicBezTo>
                  <a:pt x="102" y="51"/>
                  <a:pt x="101" y="63"/>
                  <a:pt x="92" y="67"/>
                </a:cubicBezTo>
                <a:cubicBezTo>
                  <a:pt x="84" y="70"/>
                  <a:pt x="68" y="67"/>
                  <a:pt x="68" y="59"/>
                </a:cubicBezTo>
                <a:cubicBezTo>
                  <a:pt x="68" y="49"/>
                  <a:pt x="84" y="48"/>
                  <a:pt x="92" y="43"/>
                </a:cubicBezTo>
                <a:cubicBezTo>
                  <a:pt x="105" y="46"/>
                  <a:pt x="123" y="41"/>
                  <a:pt x="131" y="51"/>
                </a:cubicBezTo>
                <a:cubicBezTo>
                  <a:pt x="138" y="59"/>
                  <a:pt x="123" y="93"/>
                  <a:pt x="123" y="82"/>
                </a:cubicBezTo>
                <a:cubicBezTo>
                  <a:pt x="123" y="30"/>
                  <a:pt x="121" y="38"/>
                  <a:pt x="154" y="28"/>
                </a:cubicBezTo>
                <a:cubicBezTo>
                  <a:pt x="197" y="89"/>
                  <a:pt x="154" y="32"/>
                  <a:pt x="162" y="28"/>
                </a:cubicBezTo>
                <a:cubicBezTo>
                  <a:pt x="174" y="22"/>
                  <a:pt x="188" y="33"/>
                  <a:pt x="201" y="35"/>
                </a:cubicBezTo>
                <a:cubicBezTo>
                  <a:pt x="198" y="46"/>
                  <a:pt x="203" y="64"/>
                  <a:pt x="193" y="67"/>
                </a:cubicBezTo>
                <a:cubicBezTo>
                  <a:pt x="184" y="70"/>
                  <a:pt x="177" y="53"/>
                  <a:pt x="177" y="43"/>
                </a:cubicBezTo>
                <a:cubicBezTo>
                  <a:pt x="177" y="34"/>
                  <a:pt x="188" y="28"/>
                  <a:pt x="193" y="20"/>
                </a:cubicBezTo>
                <a:cubicBezTo>
                  <a:pt x="212" y="74"/>
                  <a:pt x="204" y="28"/>
                  <a:pt x="115" y="35"/>
                </a:cubicBezTo>
                <a:cubicBezTo>
                  <a:pt x="106" y="36"/>
                  <a:pt x="100" y="46"/>
                  <a:pt x="92" y="51"/>
                </a:cubicBezTo>
                <a:cubicBezTo>
                  <a:pt x="38" y="40"/>
                  <a:pt x="57" y="44"/>
                  <a:pt x="14" y="67"/>
                </a:cubicBezTo>
                <a:close/>
              </a:path>
            </a:pathLst>
          </a:custGeom>
          <a:solidFill>
            <a:schemeClr val="accent1"/>
          </a:solidFill>
          <a:ln w="38100" cmpd="sng">
            <a:solidFill>
              <a:srgbClr val="FFFF00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7672" name="Freeform 24"/>
          <p:cNvSpPr/>
          <p:nvPr/>
        </p:nvSpPr>
        <p:spPr bwMode="auto">
          <a:xfrm>
            <a:off x="8534400" y="3733800"/>
            <a:ext cx="508000" cy="228600"/>
          </a:xfrm>
          <a:custGeom>
            <a:avLst/>
            <a:gdLst/>
            <a:ahLst/>
            <a:cxnLst>
              <a:cxn ang="0">
                <a:pos x="14" y="67"/>
              </a:cxn>
              <a:cxn ang="0">
                <a:pos x="53" y="51"/>
              </a:cxn>
              <a:cxn ang="0">
                <a:pos x="61" y="20"/>
              </a:cxn>
              <a:cxn ang="0">
                <a:pos x="76" y="43"/>
              </a:cxn>
              <a:cxn ang="0">
                <a:pos x="53" y="35"/>
              </a:cxn>
              <a:cxn ang="0">
                <a:pos x="107" y="43"/>
              </a:cxn>
              <a:cxn ang="0">
                <a:pos x="92" y="67"/>
              </a:cxn>
              <a:cxn ang="0">
                <a:pos x="68" y="59"/>
              </a:cxn>
              <a:cxn ang="0">
                <a:pos x="92" y="43"/>
              </a:cxn>
              <a:cxn ang="0">
                <a:pos x="131" y="51"/>
              </a:cxn>
              <a:cxn ang="0">
                <a:pos x="123" y="82"/>
              </a:cxn>
              <a:cxn ang="0">
                <a:pos x="154" y="28"/>
              </a:cxn>
              <a:cxn ang="0">
                <a:pos x="162" y="28"/>
              </a:cxn>
              <a:cxn ang="0">
                <a:pos x="201" y="35"/>
              </a:cxn>
              <a:cxn ang="0">
                <a:pos x="193" y="67"/>
              </a:cxn>
              <a:cxn ang="0">
                <a:pos x="177" y="43"/>
              </a:cxn>
              <a:cxn ang="0">
                <a:pos x="193" y="20"/>
              </a:cxn>
              <a:cxn ang="0">
                <a:pos x="115" y="35"/>
              </a:cxn>
              <a:cxn ang="0">
                <a:pos x="92" y="51"/>
              </a:cxn>
              <a:cxn ang="0">
                <a:pos x="14" y="67"/>
              </a:cxn>
            </a:cxnLst>
            <a:rect l="0" t="0" r="r" b="b"/>
            <a:pathLst>
              <a:path w="212" h="93">
                <a:moveTo>
                  <a:pt x="14" y="67"/>
                </a:moveTo>
                <a:cubicBezTo>
                  <a:pt x="36" y="0"/>
                  <a:pt x="0" y="82"/>
                  <a:pt x="53" y="51"/>
                </a:cubicBezTo>
                <a:cubicBezTo>
                  <a:pt x="62" y="46"/>
                  <a:pt x="58" y="30"/>
                  <a:pt x="61" y="20"/>
                </a:cubicBezTo>
                <a:cubicBezTo>
                  <a:pt x="66" y="28"/>
                  <a:pt x="80" y="35"/>
                  <a:pt x="76" y="43"/>
                </a:cubicBezTo>
                <a:cubicBezTo>
                  <a:pt x="72" y="50"/>
                  <a:pt x="45" y="35"/>
                  <a:pt x="53" y="35"/>
                </a:cubicBezTo>
                <a:cubicBezTo>
                  <a:pt x="71" y="35"/>
                  <a:pt x="89" y="40"/>
                  <a:pt x="107" y="43"/>
                </a:cubicBezTo>
                <a:cubicBezTo>
                  <a:pt x="102" y="51"/>
                  <a:pt x="101" y="63"/>
                  <a:pt x="92" y="67"/>
                </a:cubicBezTo>
                <a:cubicBezTo>
                  <a:pt x="84" y="70"/>
                  <a:pt x="68" y="67"/>
                  <a:pt x="68" y="59"/>
                </a:cubicBezTo>
                <a:cubicBezTo>
                  <a:pt x="68" y="49"/>
                  <a:pt x="84" y="48"/>
                  <a:pt x="92" y="43"/>
                </a:cubicBezTo>
                <a:cubicBezTo>
                  <a:pt x="105" y="46"/>
                  <a:pt x="123" y="41"/>
                  <a:pt x="131" y="51"/>
                </a:cubicBezTo>
                <a:cubicBezTo>
                  <a:pt x="138" y="59"/>
                  <a:pt x="123" y="93"/>
                  <a:pt x="123" y="82"/>
                </a:cubicBezTo>
                <a:cubicBezTo>
                  <a:pt x="123" y="30"/>
                  <a:pt x="121" y="38"/>
                  <a:pt x="154" y="28"/>
                </a:cubicBezTo>
                <a:cubicBezTo>
                  <a:pt x="197" y="89"/>
                  <a:pt x="154" y="32"/>
                  <a:pt x="162" y="28"/>
                </a:cubicBezTo>
                <a:cubicBezTo>
                  <a:pt x="174" y="22"/>
                  <a:pt x="188" y="33"/>
                  <a:pt x="201" y="35"/>
                </a:cubicBezTo>
                <a:cubicBezTo>
                  <a:pt x="198" y="46"/>
                  <a:pt x="203" y="64"/>
                  <a:pt x="193" y="67"/>
                </a:cubicBezTo>
                <a:cubicBezTo>
                  <a:pt x="184" y="70"/>
                  <a:pt x="177" y="53"/>
                  <a:pt x="177" y="43"/>
                </a:cubicBezTo>
                <a:cubicBezTo>
                  <a:pt x="177" y="34"/>
                  <a:pt x="188" y="28"/>
                  <a:pt x="193" y="20"/>
                </a:cubicBezTo>
                <a:cubicBezTo>
                  <a:pt x="212" y="74"/>
                  <a:pt x="204" y="28"/>
                  <a:pt x="115" y="35"/>
                </a:cubicBezTo>
                <a:cubicBezTo>
                  <a:pt x="106" y="36"/>
                  <a:pt x="100" y="46"/>
                  <a:pt x="92" y="51"/>
                </a:cubicBezTo>
                <a:cubicBezTo>
                  <a:pt x="38" y="40"/>
                  <a:pt x="57" y="44"/>
                  <a:pt x="14" y="67"/>
                </a:cubicBezTo>
                <a:close/>
              </a:path>
            </a:pathLst>
          </a:custGeom>
          <a:solidFill>
            <a:schemeClr val="accent1"/>
          </a:solidFill>
          <a:ln w="38100" cmpd="sng">
            <a:solidFill>
              <a:srgbClr val="FFFF00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1524000" y="152407"/>
            <a:ext cx="10464800" cy="2554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4000" dirty="0">
                <a:solidFill>
                  <a:srgbClr val="E40059">
                    <a:lumMod val="50000"/>
                  </a:srgbClr>
                </a:solidFill>
                <a:latin typeface="Cambria" panose="02040503050406030204" pitchFamily="18" charset="0"/>
              </a:rPr>
              <a:t>With a </a:t>
            </a:r>
            <a:r>
              <a:rPr lang="en-US" sz="4000" b="1" dirty="0">
                <a:solidFill>
                  <a:srgbClr val="E40059">
                    <a:lumMod val="50000"/>
                  </a:srgbClr>
                </a:solidFill>
                <a:latin typeface="Cambria" panose="02040503050406030204" pitchFamily="18" charset="0"/>
              </a:rPr>
              <a:t>series circuit, </a:t>
            </a:r>
            <a:r>
              <a:rPr lang="en-US" sz="4000" dirty="0">
                <a:solidFill>
                  <a:srgbClr val="E40059">
                    <a:lumMod val="50000"/>
                  </a:srgbClr>
                </a:solidFill>
                <a:latin typeface="Cambria" panose="02040503050406030204" pitchFamily="18" charset="0"/>
              </a:rPr>
              <a:t>if one appliance is removed the circuit is opened by a gap.   The other appliance goes off  because current can’t flow to it.</a:t>
            </a:r>
            <a:endParaRPr lang="en-US" sz="4000" dirty="0">
              <a:solidFill>
                <a:srgbClr val="E40059">
                  <a:lumMod val="50000"/>
                </a:srgbClr>
              </a:solidFill>
              <a:latin typeface="Cambria" panose="02040503050406030204" pitchFamily="18" charset="0"/>
            </a:endParaRPr>
          </a:p>
        </p:txBody>
      </p:sp>
      <p:pic>
        <p:nvPicPr>
          <p:cNvPr id="29699" name="Picture 3" descr="e9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320800" y="4800600"/>
            <a:ext cx="2641600" cy="1079500"/>
          </a:xfrm>
          <a:prstGeom prst="rect">
            <a:avLst/>
          </a:prstGeom>
          <a:noFill/>
        </p:spPr>
      </p:pic>
      <p:pic>
        <p:nvPicPr>
          <p:cNvPr id="29700" name="Picture 4" descr="385px-Incandescent_light_bulb_(no_labels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8001" y="3352800"/>
            <a:ext cx="1303867" cy="1524000"/>
          </a:xfrm>
          <a:prstGeom prst="rect">
            <a:avLst/>
          </a:prstGeom>
          <a:noFill/>
        </p:spPr>
      </p:pic>
      <p:sp>
        <p:nvSpPr>
          <p:cNvPr id="29701" name="Freeform 5"/>
          <p:cNvSpPr/>
          <p:nvPr/>
        </p:nvSpPr>
        <p:spPr bwMode="auto">
          <a:xfrm>
            <a:off x="1104901" y="4425959"/>
            <a:ext cx="4961467" cy="900113"/>
          </a:xfrm>
          <a:custGeom>
            <a:avLst/>
            <a:gdLst/>
            <a:ahLst/>
            <a:cxnLst>
              <a:cxn ang="0">
                <a:pos x="147" y="567"/>
              </a:cxn>
              <a:cxn ang="0">
                <a:pos x="77" y="543"/>
              </a:cxn>
              <a:cxn ang="0">
                <a:pos x="46" y="497"/>
              </a:cxn>
              <a:cxn ang="0">
                <a:pos x="0" y="388"/>
              </a:cxn>
              <a:cxn ang="0">
                <a:pos x="7" y="333"/>
              </a:cxn>
              <a:cxn ang="0">
                <a:pos x="31" y="310"/>
              </a:cxn>
              <a:cxn ang="0">
                <a:pos x="124" y="240"/>
              </a:cxn>
              <a:cxn ang="0">
                <a:pos x="202" y="193"/>
              </a:cxn>
              <a:cxn ang="0">
                <a:pos x="793" y="108"/>
              </a:cxn>
              <a:cxn ang="0">
                <a:pos x="879" y="84"/>
              </a:cxn>
              <a:cxn ang="0">
                <a:pos x="2047" y="53"/>
              </a:cxn>
              <a:cxn ang="0">
                <a:pos x="2148" y="6"/>
              </a:cxn>
              <a:cxn ang="0">
                <a:pos x="2280" y="14"/>
              </a:cxn>
              <a:cxn ang="0">
                <a:pos x="2311" y="61"/>
              </a:cxn>
              <a:cxn ang="0">
                <a:pos x="2335" y="69"/>
              </a:cxn>
              <a:cxn ang="0">
                <a:pos x="2342" y="76"/>
              </a:cxn>
            </a:cxnLst>
            <a:rect l="0" t="0" r="r" b="b"/>
            <a:pathLst>
              <a:path w="2344" h="567">
                <a:moveTo>
                  <a:pt x="147" y="567"/>
                </a:moveTo>
                <a:cubicBezTo>
                  <a:pt x="120" y="562"/>
                  <a:pt x="96" y="565"/>
                  <a:pt x="77" y="543"/>
                </a:cubicBezTo>
                <a:cubicBezTo>
                  <a:pt x="65" y="529"/>
                  <a:pt x="46" y="497"/>
                  <a:pt x="46" y="497"/>
                </a:cubicBezTo>
                <a:cubicBezTo>
                  <a:pt x="33" y="459"/>
                  <a:pt x="12" y="426"/>
                  <a:pt x="0" y="388"/>
                </a:cubicBezTo>
                <a:cubicBezTo>
                  <a:pt x="2" y="370"/>
                  <a:pt x="0" y="350"/>
                  <a:pt x="7" y="333"/>
                </a:cubicBezTo>
                <a:cubicBezTo>
                  <a:pt x="11" y="323"/>
                  <a:pt x="24" y="318"/>
                  <a:pt x="31" y="310"/>
                </a:cubicBezTo>
                <a:cubicBezTo>
                  <a:pt x="60" y="276"/>
                  <a:pt x="81" y="255"/>
                  <a:pt x="124" y="240"/>
                </a:cubicBezTo>
                <a:cubicBezTo>
                  <a:pt x="150" y="214"/>
                  <a:pt x="170" y="212"/>
                  <a:pt x="202" y="193"/>
                </a:cubicBezTo>
                <a:cubicBezTo>
                  <a:pt x="398" y="75"/>
                  <a:pt x="530" y="113"/>
                  <a:pt x="793" y="108"/>
                </a:cubicBezTo>
                <a:cubicBezTo>
                  <a:pt x="864" y="90"/>
                  <a:pt x="836" y="99"/>
                  <a:pt x="879" y="84"/>
                </a:cubicBezTo>
                <a:cubicBezTo>
                  <a:pt x="1259" y="139"/>
                  <a:pt x="1670" y="150"/>
                  <a:pt x="2047" y="53"/>
                </a:cubicBezTo>
                <a:cubicBezTo>
                  <a:pt x="2089" y="25"/>
                  <a:pt x="2103" y="21"/>
                  <a:pt x="2148" y="6"/>
                </a:cubicBezTo>
                <a:cubicBezTo>
                  <a:pt x="2192" y="9"/>
                  <a:pt x="2238" y="0"/>
                  <a:pt x="2280" y="14"/>
                </a:cubicBezTo>
                <a:cubicBezTo>
                  <a:pt x="2298" y="20"/>
                  <a:pt x="2293" y="55"/>
                  <a:pt x="2311" y="61"/>
                </a:cubicBezTo>
                <a:cubicBezTo>
                  <a:pt x="2319" y="64"/>
                  <a:pt x="2327" y="66"/>
                  <a:pt x="2335" y="69"/>
                </a:cubicBezTo>
                <a:cubicBezTo>
                  <a:pt x="2344" y="97"/>
                  <a:pt x="2342" y="100"/>
                  <a:pt x="2342" y="76"/>
                </a:cubicBezTo>
              </a:path>
            </a:pathLst>
          </a:custGeom>
          <a:noFill/>
          <a:ln w="28575" cmpd="sng">
            <a:solidFill>
              <a:srgbClr val="B92D14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9702" name="Freeform 6"/>
          <p:cNvSpPr/>
          <p:nvPr/>
        </p:nvSpPr>
        <p:spPr bwMode="auto">
          <a:xfrm>
            <a:off x="3759200" y="4800609"/>
            <a:ext cx="5080000" cy="506413"/>
          </a:xfrm>
          <a:custGeom>
            <a:avLst/>
            <a:gdLst/>
            <a:ahLst/>
            <a:cxnLst>
              <a:cxn ang="0">
                <a:pos x="1158" y="0"/>
              </a:cxn>
              <a:cxn ang="0">
                <a:pos x="1072" y="233"/>
              </a:cxn>
              <a:cxn ang="0">
                <a:pos x="956" y="311"/>
              </a:cxn>
              <a:cxn ang="0">
                <a:pos x="162" y="303"/>
              </a:cxn>
              <a:cxn ang="0">
                <a:pos x="22" y="311"/>
              </a:cxn>
              <a:cxn ang="0">
                <a:pos x="6" y="319"/>
              </a:cxn>
            </a:cxnLst>
            <a:rect l="0" t="0" r="r" b="b"/>
            <a:pathLst>
              <a:path w="1166" h="319">
                <a:moveTo>
                  <a:pt x="1158" y="0"/>
                </a:moveTo>
                <a:cubicBezTo>
                  <a:pt x="1154" y="71"/>
                  <a:pt x="1166" y="206"/>
                  <a:pt x="1072" y="233"/>
                </a:cubicBezTo>
                <a:cubicBezTo>
                  <a:pt x="1033" y="260"/>
                  <a:pt x="1002" y="295"/>
                  <a:pt x="956" y="311"/>
                </a:cubicBezTo>
                <a:cubicBezTo>
                  <a:pt x="691" y="308"/>
                  <a:pt x="427" y="303"/>
                  <a:pt x="162" y="303"/>
                </a:cubicBezTo>
                <a:cubicBezTo>
                  <a:pt x="115" y="303"/>
                  <a:pt x="69" y="306"/>
                  <a:pt x="22" y="311"/>
                </a:cubicBezTo>
                <a:cubicBezTo>
                  <a:pt x="16" y="312"/>
                  <a:pt x="0" y="319"/>
                  <a:pt x="6" y="319"/>
                </a:cubicBezTo>
              </a:path>
            </a:pathLst>
          </a:custGeom>
          <a:noFill/>
          <a:ln w="38100" cmpd="sng">
            <a:solidFill>
              <a:schemeClr val="accent6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9706" name="Freeform 10"/>
          <p:cNvSpPr/>
          <p:nvPr/>
        </p:nvSpPr>
        <p:spPr bwMode="auto">
          <a:xfrm>
            <a:off x="6292857" y="4670434"/>
            <a:ext cx="2355849" cy="339725"/>
          </a:xfrm>
          <a:custGeom>
            <a:avLst/>
            <a:gdLst/>
            <a:ahLst/>
            <a:cxnLst>
              <a:cxn ang="0">
                <a:pos x="0" y="78"/>
              </a:cxn>
              <a:cxn ang="0">
                <a:pos x="156" y="148"/>
              </a:cxn>
              <a:cxn ang="0">
                <a:pos x="997" y="125"/>
              </a:cxn>
              <a:cxn ang="0">
                <a:pos x="1005" y="101"/>
              </a:cxn>
              <a:cxn ang="0">
                <a:pos x="1012" y="39"/>
              </a:cxn>
              <a:cxn ang="0">
                <a:pos x="1113" y="0"/>
              </a:cxn>
            </a:cxnLst>
            <a:rect l="0" t="0" r="r" b="b"/>
            <a:pathLst>
              <a:path w="1113" h="214">
                <a:moveTo>
                  <a:pt x="0" y="78"/>
                </a:moveTo>
                <a:cubicBezTo>
                  <a:pt x="13" y="194"/>
                  <a:pt x="19" y="157"/>
                  <a:pt x="156" y="148"/>
                </a:cubicBezTo>
                <a:cubicBezTo>
                  <a:pt x="429" y="78"/>
                  <a:pt x="729" y="214"/>
                  <a:pt x="997" y="125"/>
                </a:cubicBezTo>
                <a:cubicBezTo>
                  <a:pt x="1000" y="117"/>
                  <a:pt x="1004" y="109"/>
                  <a:pt x="1005" y="101"/>
                </a:cubicBezTo>
                <a:cubicBezTo>
                  <a:pt x="1009" y="81"/>
                  <a:pt x="1007" y="59"/>
                  <a:pt x="1012" y="39"/>
                </a:cubicBezTo>
                <a:cubicBezTo>
                  <a:pt x="1023" y="0"/>
                  <a:pt x="1082" y="0"/>
                  <a:pt x="1113" y="0"/>
                </a:cubicBezTo>
              </a:path>
            </a:pathLst>
          </a:custGeom>
          <a:noFill/>
          <a:ln w="38100" cmpd="sng">
            <a:solidFill>
              <a:schemeClr val="accent6">
                <a:lumMod val="40000"/>
                <a:lumOff val="60000"/>
              </a:schemeClr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9709" name="Line 13"/>
          <p:cNvSpPr>
            <a:spLocks noChangeShapeType="1"/>
          </p:cNvSpPr>
          <p:nvPr/>
        </p:nvSpPr>
        <p:spPr bwMode="auto">
          <a:xfrm flipH="1">
            <a:off x="8839200" y="4419600"/>
            <a:ext cx="406400" cy="228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9245600" y="3429000"/>
            <a:ext cx="2133600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A gap opens the circuit and stops the flow of current</a:t>
            </a:r>
            <a:endParaRPr lang="en-US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9711" name="Text Box 15"/>
          <p:cNvSpPr txBox="1">
            <a:spLocks noChangeArrowheads="1"/>
          </p:cNvSpPr>
          <p:nvPr/>
        </p:nvSpPr>
        <p:spPr bwMode="auto">
          <a:xfrm>
            <a:off x="6807200" y="3581407"/>
            <a:ext cx="1320800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Light is off</a:t>
            </a:r>
            <a:endParaRPr lang="en-US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</a:rPr>
              <a:t>Series Circuit</a:t>
            </a:r>
            <a:endParaRPr lang="en-US" dirty="0" smtClean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46719" y="1600200"/>
            <a:ext cx="9410700" cy="3773488"/>
          </a:xfrm>
        </p:spPr>
        <p:txBody>
          <a:bodyPr/>
          <a:lstStyle/>
          <a:p>
            <a:pPr eaLnBrk="1" hangingPunct="1"/>
            <a:r>
              <a:rPr lang="en-US" sz="2800" dirty="0" smtClean="0">
                <a:latin typeface="Cambria" panose="02040503050406030204" pitchFamily="18" charset="0"/>
              </a:rPr>
              <a:t>There is </a:t>
            </a:r>
            <a:r>
              <a:rPr lang="en-US" sz="2800" u="sng" dirty="0" smtClean="0">
                <a:latin typeface="Cambria" panose="02040503050406030204" pitchFamily="18" charset="0"/>
              </a:rPr>
              <a:t>only one path</a:t>
            </a:r>
            <a:r>
              <a:rPr lang="en-US" sz="2800" dirty="0" smtClean="0">
                <a:latin typeface="Cambria" panose="02040503050406030204" pitchFamily="18" charset="0"/>
              </a:rPr>
              <a:t> for the current to flow through. </a:t>
            </a:r>
            <a:endParaRPr lang="en-US" sz="2800" dirty="0" smtClean="0">
              <a:latin typeface="Cambria" panose="02040503050406030204" pitchFamily="18" charset="0"/>
            </a:endParaRPr>
          </a:p>
          <a:p>
            <a:pPr eaLnBrk="1" hangingPunct="1"/>
            <a:r>
              <a:rPr lang="en-US" sz="2800" dirty="0" smtClean="0">
                <a:latin typeface="Cambria" panose="02040503050406030204" pitchFamily="18" charset="0"/>
              </a:rPr>
              <a:t>The current flows through the </a:t>
            </a:r>
            <a:r>
              <a:rPr lang="en-US" sz="2800" u="sng" dirty="0" smtClean="0">
                <a:latin typeface="Cambria" panose="02040503050406030204" pitchFamily="18" charset="0"/>
              </a:rPr>
              <a:t>first bulb, then through the next bulb</a:t>
            </a:r>
            <a:r>
              <a:rPr lang="en-US" sz="2800" dirty="0" smtClean="0">
                <a:latin typeface="Cambria" panose="02040503050406030204" pitchFamily="18" charset="0"/>
              </a:rPr>
              <a:t>, to light up all the bulbs.</a:t>
            </a:r>
            <a:endParaRPr lang="en-US" sz="2800" dirty="0" smtClean="0">
              <a:latin typeface="Cambria" panose="02040503050406030204" pitchFamily="18" charset="0"/>
            </a:endParaRPr>
          </a:p>
        </p:txBody>
      </p:sp>
      <p:pic>
        <p:nvPicPr>
          <p:cNvPr id="6148" name="Picture 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3962400"/>
            <a:ext cx="121920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614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57200"/>
            <a:ext cx="5080000" cy="715962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</a:rPr>
              <a:t>Parallel circuit </a:t>
            </a:r>
            <a:endParaRPr lang="en-US" dirty="0" smtClean="0">
              <a:solidFill>
                <a:schemeClr val="accent4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151469" y="2057405"/>
            <a:ext cx="5520267" cy="3100387"/>
          </a:xfrm>
        </p:spPr>
        <p:txBody>
          <a:bodyPr/>
          <a:lstStyle/>
          <a:p>
            <a:pPr eaLnBrk="1" hangingPunct="1">
              <a:buNone/>
            </a:pPr>
            <a:r>
              <a:rPr lang="en-US" sz="3600" dirty="0" smtClean="0">
                <a:latin typeface="Cambria" panose="02040503050406030204" pitchFamily="18" charset="0"/>
              </a:rPr>
              <a:t>    A parallel circuit is one that splits into </a:t>
            </a:r>
            <a:r>
              <a:rPr lang="en-US" sz="3600" u="sng" dirty="0" smtClean="0">
                <a:latin typeface="Cambria" panose="02040503050406030204" pitchFamily="18" charset="0"/>
              </a:rPr>
              <a:t>two or more branches</a:t>
            </a:r>
            <a:r>
              <a:rPr lang="en-US" sz="3600" dirty="0" smtClean="0">
                <a:latin typeface="Cambria" panose="02040503050406030204" pitchFamily="18" charset="0"/>
              </a:rPr>
              <a:t>.</a:t>
            </a:r>
            <a:endParaRPr lang="en-US" sz="3600" dirty="0" smtClean="0">
              <a:latin typeface="Cambria" panose="02040503050406030204" pitchFamily="18" charset="0"/>
            </a:endParaRPr>
          </a:p>
          <a:p>
            <a:pPr eaLnBrk="1" hangingPunct="1"/>
            <a:endParaRPr lang="en-US" dirty="0" smtClean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807200" y="0"/>
            <a:ext cx="5384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402715" y="351155"/>
            <a:ext cx="9143365" cy="62782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1828800" y="457200"/>
            <a:ext cx="9855200" cy="13234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4000" dirty="0">
                <a:solidFill>
                  <a:srgbClr val="E40059">
                    <a:lumMod val="50000"/>
                  </a:srgbClr>
                </a:solidFill>
                <a:latin typeface="Cambria" panose="02040503050406030204" pitchFamily="18" charset="0"/>
              </a:rPr>
              <a:t>But we could make a circuit with more than one path for the current.  </a:t>
            </a:r>
            <a:endParaRPr lang="en-US" sz="4000" dirty="0">
              <a:solidFill>
                <a:srgbClr val="E40059">
                  <a:lumMod val="50000"/>
                </a:srgbClr>
              </a:solidFill>
              <a:latin typeface="Cambria" panose="02040503050406030204" pitchFamily="18" charset="0"/>
            </a:endParaRPr>
          </a:p>
        </p:txBody>
      </p:sp>
      <p:pic>
        <p:nvPicPr>
          <p:cNvPr id="31747" name="Picture 3" descr="e9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320800" y="4800600"/>
            <a:ext cx="2641600" cy="1079500"/>
          </a:xfrm>
          <a:prstGeom prst="rect">
            <a:avLst/>
          </a:prstGeom>
          <a:noFill/>
        </p:spPr>
      </p:pic>
      <p:pic>
        <p:nvPicPr>
          <p:cNvPr id="31748" name="Picture 4" descr="385px-Incandescent_light_bulb_(no_labels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8000" y="3352800"/>
            <a:ext cx="1303867" cy="1524000"/>
          </a:xfrm>
          <a:prstGeom prst="rect">
            <a:avLst/>
          </a:prstGeom>
          <a:noFill/>
        </p:spPr>
      </p:pic>
      <p:sp>
        <p:nvSpPr>
          <p:cNvPr id="31749" name="Freeform 5"/>
          <p:cNvSpPr/>
          <p:nvPr/>
        </p:nvSpPr>
        <p:spPr bwMode="auto">
          <a:xfrm>
            <a:off x="1104900" y="4425951"/>
            <a:ext cx="4961467" cy="900113"/>
          </a:xfrm>
          <a:custGeom>
            <a:avLst/>
            <a:gdLst/>
            <a:ahLst/>
            <a:cxnLst>
              <a:cxn ang="0">
                <a:pos x="147" y="567"/>
              </a:cxn>
              <a:cxn ang="0">
                <a:pos x="77" y="543"/>
              </a:cxn>
              <a:cxn ang="0">
                <a:pos x="46" y="497"/>
              </a:cxn>
              <a:cxn ang="0">
                <a:pos x="0" y="388"/>
              </a:cxn>
              <a:cxn ang="0">
                <a:pos x="7" y="333"/>
              </a:cxn>
              <a:cxn ang="0">
                <a:pos x="31" y="310"/>
              </a:cxn>
              <a:cxn ang="0">
                <a:pos x="124" y="240"/>
              </a:cxn>
              <a:cxn ang="0">
                <a:pos x="202" y="193"/>
              </a:cxn>
              <a:cxn ang="0">
                <a:pos x="793" y="108"/>
              </a:cxn>
              <a:cxn ang="0">
                <a:pos x="879" y="84"/>
              </a:cxn>
              <a:cxn ang="0">
                <a:pos x="2047" y="53"/>
              </a:cxn>
              <a:cxn ang="0">
                <a:pos x="2148" y="6"/>
              </a:cxn>
              <a:cxn ang="0">
                <a:pos x="2280" y="14"/>
              </a:cxn>
              <a:cxn ang="0">
                <a:pos x="2311" y="61"/>
              </a:cxn>
              <a:cxn ang="0">
                <a:pos x="2335" y="69"/>
              </a:cxn>
              <a:cxn ang="0">
                <a:pos x="2342" y="76"/>
              </a:cxn>
            </a:cxnLst>
            <a:rect l="0" t="0" r="r" b="b"/>
            <a:pathLst>
              <a:path w="2344" h="567">
                <a:moveTo>
                  <a:pt x="147" y="567"/>
                </a:moveTo>
                <a:cubicBezTo>
                  <a:pt x="120" y="562"/>
                  <a:pt x="96" y="565"/>
                  <a:pt x="77" y="543"/>
                </a:cubicBezTo>
                <a:cubicBezTo>
                  <a:pt x="65" y="529"/>
                  <a:pt x="46" y="497"/>
                  <a:pt x="46" y="497"/>
                </a:cubicBezTo>
                <a:cubicBezTo>
                  <a:pt x="33" y="459"/>
                  <a:pt x="12" y="426"/>
                  <a:pt x="0" y="388"/>
                </a:cubicBezTo>
                <a:cubicBezTo>
                  <a:pt x="2" y="370"/>
                  <a:pt x="0" y="350"/>
                  <a:pt x="7" y="333"/>
                </a:cubicBezTo>
                <a:cubicBezTo>
                  <a:pt x="11" y="323"/>
                  <a:pt x="24" y="318"/>
                  <a:pt x="31" y="310"/>
                </a:cubicBezTo>
                <a:cubicBezTo>
                  <a:pt x="60" y="276"/>
                  <a:pt x="81" y="255"/>
                  <a:pt x="124" y="240"/>
                </a:cubicBezTo>
                <a:cubicBezTo>
                  <a:pt x="150" y="214"/>
                  <a:pt x="170" y="212"/>
                  <a:pt x="202" y="193"/>
                </a:cubicBezTo>
                <a:cubicBezTo>
                  <a:pt x="398" y="75"/>
                  <a:pt x="530" y="113"/>
                  <a:pt x="793" y="108"/>
                </a:cubicBezTo>
                <a:cubicBezTo>
                  <a:pt x="864" y="90"/>
                  <a:pt x="836" y="99"/>
                  <a:pt x="879" y="84"/>
                </a:cubicBezTo>
                <a:cubicBezTo>
                  <a:pt x="1259" y="139"/>
                  <a:pt x="1670" y="150"/>
                  <a:pt x="2047" y="53"/>
                </a:cubicBezTo>
                <a:cubicBezTo>
                  <a:pt x="2089" y="25"/>
                  <a:pt x="2103" y="21"/>
                  <a:pt x="2148" y="6"/>
                </a:cubicBezTo>
                <a:cubicBezTo>
                  <a:pt x="2192" y="9"/>
                  <a:pt x="2238" y="0"/>
                  <a:pt x="2280" y="14"/>
                </a:cubicBezTo>
                <a:cubicBezTo>
                  <a:pt x="2298" y="20"/>
                  <a:pt x="2293" y="55"/>
                  <a:pt x="2311" y="61"/>
                </a:cubicBezTo>
                <a:cubicBezTo>
                  <a:pt x="2319" y="64"/>
                  <a:pt x="2327" y="66"/>
                  <a:pt x="2335" y="69"/>
                </a:cubicBezTo>
                <a:cubicBezTo>
                  <a:pt x="2344" y="97"/>
                  <a:pt x="2342" y="100"/>
                  <a:pt x="2342" y="76"/>
                </a:cubicBezTo>
              </a:path>
            </a:pathLst>
          </a:custGeom>
          <a:noFill/>
          <a:ln w="28575" cmpd="sng">
            <a:solidFill>
              <a:srgbClr val="B92D14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50" name="Freeform 6"/>
          <p:cNvSpPr/>
          <p:nvPr/>
        </p:nvSpPr>
        <p:spPr bwMode="auto">
          <a:xfrm>
            <a:off x="3793068" y="4806951"/>
            <a:ext cx="2468033" cy="506413"/>
          </a:xfrm>
          <a:custGeom>
            <a:avLst/>
            <a:gdLst/>
            <a:ahLst/>
            <a:cxnLst>
              <a:cxn ang="0">
                <a:pos x="1158" y="0"/>
              </a:cxn>
              <a:cxn ang="0">
                <a:pos x="1072" y="233"/>
              </a:cxn>
              <a:cxn ang="0">
                <a:pos x="956" y="311"/>
              </a:cxn>
              <a:cxn ang="0">
                <a:pos x="162" y="303"/>
              </a:cxn>
              <a:cxn ang="0">
                <a:pos x="22" y="311"/>
              </a:cxn>
              <a:cxn ang="0">
                <a:pos x="6" y="319"/>
              </a:cxn>
            </a:cxnLst>
            <a:rect l="0" t="0" r="r" b="b"/>
            <a:pathLst>
              <a:path w="1166" h="319">
                <a:moveTo>
                  <a:pt x="1158" y="0"/>
                </a:moveTo>
                <a:cubicBezTo>
                  <a:pt x="1154" y="71"/>
                  <a:pt x="1166" y="206"/>
                  <a:pt x="1072" y="233"/>
                </a:cubicBezTo>
                <a:cubicBezTo>
                  <a:pt x="1033" y="260"/>
                  <a:pt x="1002" y="295"/>
                  <a:pt x="956" y="311"/>
                </a:cubicBezTo>
                <a:cubicBezTo>
                  <a:pt x="691" y="308"/>
                  <a:pt x="427" y="303"/>
                  <a:pt x="162" y="303"/>
                </a:cubicBezTo>
                <a:cubicBezTo>
                  <a:pt x="115" y="303"/>
                  <a:pt x="69" y="306"/>
                  <a:pt x="22" y="311"/>
                </a:cubicBezTo>
                <a:cubicBezTo>
                  <a:pt x="16" y="312"/>
                  <a:pt x="0" y="319"/>
                  <a:pt x="6" y="319"/>
                </a:cubicBezTo>
              </a:path>
            </a:pathLst>
          </a:custGeom>
          <a:noFill/>
          <a:ln w="38100" cmpd="sng">
            <a:solidFill>
              <a:srgbClr val="B92D14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 flipH="1" flipV="1">
            <a:off x="6604000" y="4800600"/>
            <a:ext cx="1524000" cy="2286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 flipH="1">
            <a:off x="3962400" y="5410200"/>
            <a:ext cx="1727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pic>
        <p:nvPicPr>
          <p:cNvPr id="31753" name="Picture 9" descr="385px-Incandescent_light_bulb_(no_labels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28000" y="3429000"/>
            <a:ext cx="1303867" cy="1524000"/>
          </a:xfrm>
          <a:prstGeom prst="rect">
            <a:avLst/>
          </a:prstGeom>
          <a:noFill/>
        </p:spPr>
      </p:pic>
      <p:sp>
        <p:nvSpPr>
          <p:cNvPr id="31755" name="Freeform 11"/>
          <p:cNvSpPr/>
          <p:nvPr/>
        </p:nvSpPr>
        <p:spPr bwMode="auto">
          <a:xfrm>
            <a:off x="5588001" y="3352801"/>
            <a:ext cx="2992967" cy="1279525"/>
          </a:xfrm>
          <a:custGeom>
            <a:avLst/>
            <a:gdLst/>
            <a:ahLst/>
            <a:cxnLst>
              <a:cxn ang="0">
                <a:pos x="223" y="751"/>
              </a:cxn>
              <a:cxn ang="0">
                <a:pos x="91" y="642"/>
              </a:cxn>
              <a:cxn ang="0">
                <a:pos x="76" y="619"/>
              </a:cxn>
              <a:cxn ang="0">
                <a:pos x="52" y="596"/>
              </a:cxn>
              <a:cxn ang="0">
                <a:pos x="21" y="541"/>
              </a:cxn>
              <a:cxn ang="0">
                <a:pos x="21" y="253"/>
              </a:cxn>
              <a:cxn ang="0">
                <a:pos x="60" y="144"/>
              </a:cxn>
              <a:cxn ang="0">
                <a:pos x="216" y="43"/>
              </a:cxn>
              <a:cxn ang="0">
                <a:pos x="527" y="66"/>
              </a:cxn>
              <a:cxn ang="0">
                <a:pos x="543" y="90"/>
              </a:cxn>
              <a:cxn ang="0">
                <a:pos x="636" y="136"/>
              </a:cxn>
              <a:cxn ang="0">
                <a:pos x="714" y="183"/>
              </a:cxn>
              <a:cxn ang="0">
                <a:pos x="784" y="237"/>
              </a:cxn>
              <a:cxn ang="0">
                <a:pos x="846" y="308"/>
              </a:cxn>
              <a:cxn ang="0">
                <a:pos x="908" y="339"/>
              </a:cxn>
              <a:cxn ang="0">
                <a:pos x="932" y="362"/>
              </a:cxn>
              <a:cxn ang="0">
                <a:pos x="986" y="385"/>
              </a:cxn>
              <a:cxn ang="0">
                <a:pos x="1072" y="417"/>
              </a:cxn>
              <a:cxn ang="0">
                <a:pos x="1204" y="549"/>
              </a:cxn>
              <a:cxn ang="0">
                <a:pos x="1274" y="642"/>
              </a:cxn>
              <a:cxn ang="0">
                <a:pos x="1344" y="743"/>
              </a:cxn>
              <a:cxn ang="0">
                <a:pos x="1391" y="806"/>
              </a:cxn>
              <a:cxn ang="0">
                <a:pos x="1414" y="790"/>
              </a:cxn>
            </a:cxnLst>
            <a:rect l="0" t="0" r="r" b="b"/>
            <a:pathLst>
              <a:path w="1414" h="806">
                <a:moveTo>
                  <a:pt x="223" y="751"/>
                </a:moveTo>
                <a:cubicBezTo>
                  <a:pt x="175" y="703"/>
                  <a:pt x="155" y="675"/>
                  <a:pt x="91" y="642"/>
                </a:cubicBezTo>
                <a:cubicBezTo>
                  <a:pt x="86" y="634"/>
                  <a:pt x="82" y="626"/>
                  <a:pt x="76" y="619"/>
                </a:cubicBezTo>
                <a:cubicBezTo>
                  <a:pt x="69" y="611"/>
                  <a:pt x="58" y="605"/>
                  <a:pt x="52" y="596"/>
                </a:cubicBezTo>
                <a:cubicBezTo>
                  <a:pt x="40" y="579"/>
                  <a:pt x="33" y="558"/>
                  <a:pt x="21" y="541"/>
                </a:cubicBezTo>
                <a:cubicBezTo>
                  <a:pt x="0" y="419"/>
                  <a:pt x="9" y="489"/>
                  <a:pt x="21" y="253"/>
                </a:cubicBezTo>
                <a:cubicBezTo>
                  <a:pt x="24" y="200"/>
                  <a:pt x="20" y="172"/>
                  <a:pt x="60" y="144"/>
                </a:cubicBezTo>
                <a:cubicBezTo>
                  <a:pt x="108" y="74"/>
                  <a:pt x="129" y="56"/>
                  <a:pt x="216" y="43"/>
                </a:cubicBezTo>
                <a:cubicBezTo>
                  <a:pt x="320" y="48"/>
                  <a:pt x="447" y="0"/>
                  <a:pt x="527" y="66"/>
                </a:cubicBezTo>
                <a:cubicBezTo>
                  <a:pt x="534" y="72"/>
                  <a:pt x="536" y="83"/>
                  <a:pt x="543" y="90"/>
                </a:cubicBezTo>
                <a:cubicBezTo>
                  <a:pt x="570" y="117"/>
                  <a:pt x="603" y="122"/>
                  <a:pt x="636" y="136"/>
                </a:cubicBezTo>
                <a:cubicBezTo>
                  <a:pt x="664" y="148"/>
                  <a:pt x="714" y="183"/>
                  <a:pt x="714" y="183"/>
                </a:cubicBezTo>
                <a:cubicBezTo>
                  <a:pt x="735" y="215"/>
                  <a:pt x="746" y="228"/>
                  <a:pt x="784" y="237"/>
                </a:cubicBezTo>
                <a:cubicBezTo>
                  <a:pt x="795" y="271"/>
                  <a:pt x="822" y="283"/>
                  <a:pt x="846" y="308"/>
                </a:cubicBezTo>
                <a:cubicBezTo>
                  <a:pt x="863" y="356"/>
                  <a:pt x="840" y="312"/>
                  <a:pt x="908" y="339"/>
                </a:cubicBezTo>
                <a:cubicBezTo>
                  <a:pt x="918" y="343"/>
                  <a:pt x="923" y="355"/>
                  <a:pt x="932" y="362"/>
                </a:cubicBezTo>
                <a:cubicBezTo>
                  <a:pt x="957" y="382"/>
                  <a:pt x="954" y="378"/>
                  <a:pt x="986" y="385"/>
                </a:cubicBezTo>
                <a:cubicBezTo>
                  <a:pt x="1015" y="400"/>
                  <a:pt x="1042" y="407"/>
                  <a:pt x="1072" y="417"/>
                </a:cubicBezTo>
                <a:cubicBezTo>
                  <a:pt x="1124" y="455"/>
                  <a:pt x="1151" y="512"/>
                  <a:pt x="1204" y="549"/>
                </a:cubicBezTo>
                <a:cubicBezTo>
                  <a:pt x="1217" y="587"/>
                  <a:pt x="1252" y="608"/>
                  <a:pt x="1274" y="642"/>
                </a:cubicBezTo>
                <a:cubicBezTo>
                  <a:pt x="1286" y="690"/>
                  <a:pt x="1303" y="716"/>
                  <a:pt x="1344" y="743"/>
                </a:cubicBezTo>
                <a:cubicBezTo>
                  <a:pt x="1360" y="774"/>
                  <a:pt x="1358" y="795"/>
                  <a:pt x="1391" y="806"/>
                </a:cubicBezTo>
                <a:cubicBezTo>
                  <a:pt x="1399" y="801"/>
                  <a:pt x="1414" y="790"/>
                  <a:pt x="1414" y="790"/>
                </a:cubicBezTo>
              </a:path>
            </a:pathLst>
          </a:custGeom>
          <a:noFill/>
          <a:ln w="38100" cmpd="sng">
            <a:solidFill>
              <a:srgbClr val="0000FF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56" name="Freeform 12"/>
          <p:cNvSpPr/>
          <p:nvPr/>
        </p:nvSpPr>
        <p:spPr bwMode="auto">
          <a:xfrm>
            <a:off x="6261100" y="4794250"/>
            <a:ext cx="2540000" cy="438150"/>
          </a:xfrm>
          <a:custGeom>
            <a:avLst/>
            <a:gdLst/>
            <a:ahLst/>
            <a:cxnLst>
              <a:cxn ang="0">
                <a:pos x="1191" y="55"/>
              </a:cxn>
              <a:cxn ang="0">
                <a:pos x="1160" y="94"/>
              </a:cxn>
              <a:cxn ang="0">
                <a:pos x="1152" y="117"/>
              </a:cxn>
              <a:cxn ang="0">
                <a:pos x="1128" y="132"/>
              </a:cxn>
              <a:cxn ang="0">
                <a:pos x="887" y="218"/>
              </a:cxn>
              <a:cxn ang="0">
                <a:pos x="428" y="187"/>
              </a:cxn>
              <a:cxn ang="0">
                <a:pos x="156" y="86"/>
              </a:cxn>
              <a:cxn ang="0">
                <a:pos x="101" y="55"/>
              </a:cxn>
              <a:cxn ang="0">
                <a:pos x="54" y="39"/>
              </a:cxn>
              <a:cxn ang="0">
                <a:pos x="0" y="0"/>
              </a:cxn>
            </a:cxnLst>
            <a:rect l="0" t="0" r="r" b="b"/>
            <a:pathLst>
              <a:path w="1200" h="276">
                <a:moveTo>
                  <a:pt x="1191" y="55"/>
                </a:moveTo>
                <a:cubicBezTo>
                  <a:pt x="1171" y="113"/>
                  <a:pt x="1200" y="44"/>
                  <a:pt x="1160" y="94"/>
                </a:cubicBezTo>
                <a:cubicBezTo>
                  <a:pt x="1155" y="100"/>
                  <a:pt x="1157" y="111"/>
                  <a:pt x="1152" y="117"/>
                </a:cubicBezTo>
                <a:cubicBezTo>
                  <a:pt x="1146" y="124"/>
                  <a:pt x="1136" y="127"/>
                  <a:pt x="1128" y="132"/>
                </a:cubicBezTo>
                <a:cubicBezTo>
                  <a:pt x="1049" y="188"/>
                  <a:pt x="984" y="207"/>
                  <a:pt x="887" y="218"/>
                </a:cubicBezTo>
                <a:cubicBezTo>
                  <a:pt x="720" y="276"/>
                  <a:pt x="579" y="226"/>
                  <a:pt x="428" y="187"/>
                </a:cubicBezTo>
                <a:cubicBezTo>
                  <a:pt x="351" y="130"/>
                  <a:pt x="251" y="102"/>
                  <a:pt x="156" y="86"/>
                </a:cubicBezTo>
                <a:cubicBezTo>
                  <a:pt x="133" y="71"/>
                  <a:pt x="128" y="66"/>
                  <a:pt x="101" y="55"/>
                </a:cubicBezTo>
                <a:cubicBezTo>
                  <a:pt x="86" y="49"/>
                  <a:pt x="54" y="39"/>
                  <a:pt x="54" y="39"/>
                </a:cubicBezTo>
                <a:cubicBezTo>
                  <a:pt x="33" y="24"/>
                  <a:pt x="11" y="23"/>
                  <a:pt x="0" y="0"/>
                </a:cubicBezTo>
              </a:path>
            </a:pathLst>
          </a:custGeom>
          <a:noFill/>
          <a:ln w="38100" cmpd="sng">
            <a:solidFill>
              <a:srgbClr val="0000FF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57" name="Line 13"/>
          <p:cNvSpPr>
            <a:spLocks noChangeShapeType="1"/>
          </p:cNvSpPr>
          <p:nvPr/>
        </p:nvSpPr>
        <p:spPr bwMode="auto">
          <a:xfrm>
            <a:off x="2438400" y="4572000"/>
            <a:ext cx="28448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58" name="Line 14"/>
          <p:cNvSpPr>
            <a:spLocks noChangeShapeType="1"/>
          </p:cNvSpPr>
          <p:nvPr/>
        </p:nvSpPr>
        <p:spPr bwMode="auto">
          <a:xfrm>
            <a:off x="6807200" y="3352800"/>
            <a:ext cx="1320800" cy="6096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59" name="Freeform 15"/>
          <p:cNvSpPr/>
          <p:nvPr/>
        </p:nvSpPr>
        <p:spPr bwMode="auto">
          <a:xfrm>
            <a:off x="5994401" y="3733800"/>
            <a:ext cx="427567" cy="125413"/>
          </a:xfrm>
          <a:custGeom>
            <a:avLst/>
            <a:gdLst/>
            <a:ahLst/>
            <a:cxnLst>
              <a:cxn ang="0">
                <a:pos x="23" y="79"/>
              </a:cxn>
              <a:cxn ang="0">
                <a:pos x="7" y="55"/>
              </a:cxn>
              <a:cxn ang="0">
                <a:pos x="46" y="24"/>
              </a:cxn>
              <a:cxn ang="0">
                <a:pos x="108" y="40"/>
              </a:cxn>
              <a:cxn ang="0">
                <a:pos x="132" y="32"/>
              </a:cxn>
              <a:cxn ang="0">
                <a:pos x="163" y="40"/>
              </a:cxn>
              <a:cxn ang="0">
                <a:pos x="178" y="63"/>
              </a:cxn>
              <a:cxn ang="0">
                <a:pos x="202" y="47"/>
              </a:cxn>
              <a:cxn ang="0">
                <a:pos x="178" y="40"/>
              </a:cxn>
              <a:cxn ang="0">
                <a:pos x="155" y="32"/>
              </a:cxn>
              <a:cxn ang="0">
                <a:pos x="77" y="40"/>
              </a:cxn>
              <a:cxn ang="0">
                <a:pos x="23" y="79"/>
              </a:cxn>
            </a:cxnLst>
            <a:rect l="0" t="0" r="r" b="b"/>
            <a:pathLst>
              <a:path w="202" h="79">
                <a:moveTo>
                  <a:pt x="23" y="79"/>
                </a:moveTo>
                <a:cubicBezTo>
                  <a:pt x="18" y="71"/>
                  <a:pt x="8" y="65"/>
                  <a:pt x="7" y="55"/>
                </a:cubicBezTo>
                <a:cubicBezTo>
                  <a:pt x="0" y="0"/>
                  <a:pt x="16" y="17"/>
                  <a:pt x="46" y="24"/>
                </a:cubicBezTo>
                <a:cubicBezTo>
                  <a:pt x="102" y="37"/>
                  <a:pt x="67" y="26"/>
                  <a:pt x="108" y="40"/>
                </a:cubicBezTo>
                <a:cubicBezTo>
                  <a:pt x="116" y="37"/>
                  <a:pt x="124" y="28"/>
                  <a:pt x="132" y="32"/>
                </a:cubicBezTo>
                <a:cubicBezTo>
                  <a:pt x="166" y="49"/>
                  <a:pt x="103" y="77"/>
                  <a:pt x="163" y="40"/>
                </a:cubicBezTo>
                <a:cubicBezTo>
                  <a:pt x="168" y="48"/>
                  <a:pt x="169" y="61"/>
                  <a:pt x="178" y="63"/>
                </a:cubicBezTo>
                <a:cubicBezTo>
                  <a:pt x="187" y="65"/>
                  <a:pt x="202" y="57"/>
                  <a:pt x="202" y="47"/>
                </a:cubicBezTo>
                <a:cubicBezTo>
                  <a:pt x="202" y="39"/>
                  <a:pt x="186" y="43"/>
                  <a:pt x="178" y="40"/>
                </a:cubicBezTo>
                <a:cubicBezTo>
                  <a:pt x="170" y="38"/>
                  <a:pt x="163" y="35"/>
                  <a:pt x="155" y="32"/>
                </a:cubicBezTo>
                <a:cubicBezTo>
                  <a:pt x="125" y="42"/>
                  <a:pt x="107" y="30"/>
                  <a:pt x="77" y="40"/>
                </a:cubicBezTo>
                <a:cubicBezTo>
                  <a:pt x="28" y="30"/>
                  <a:pt x="23" y="26"/>
                  <a:pt x="23" y="79"/>
                </a:cubicBezTo>
                <a:close/>
              </a:path>
            </a:pathLst>
          </a:custGeom>
          <a:solidFill>
            <a:schemeClr val="accent1"/>
          </a:solidFill>
          <a:ln w="57150" cmpd="sng">
            <a:solidFill>
              <a:srgbClr val="FFFF00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60" name="Freeform 16"/>
          <p:cNvSpPr/>
          <p:nvPr/>
        </p:nvSpPr>
        <p:spPr bwMode="auto">
          <a:xfrm>
            <a:off x="8534401" y="3810001"/>
            <a:ext cx="427567" cy="125413"/>
          </a:xfrm>
          <a:custGeom>
            <a:avLst/>
            <a:gdLst/>
            <a:ahLst/>
            <a:cxnLst>
              <a:cxn ang="0">
                <a:pos x="23" y="79"/>
              </a:cxn>
              <a:cxn ang="0">
                <a:pos x="7" y="55"/>
              </a:cxn>
              <a:cxn ang="0">
                <a:pos x="46" y="24"/>
              </a:cxn>
              <a:cxn ang="0">
                <a:pos x="108" y="40"/>
              </a:cxn>
              <a:cxn ang="0">
                <a:pos x="132" y="32"/>
              </a:cxn>
              <a:cxn ang="0">
                <a:pos x="163" y="40"/>
              </a:cxn>
              <a:cxn ang="0">
                <a:pos x="178" y="63"/>
              </a:cxn>
              <a:cxn ang="0">
                <a:pos x="202" y="47"/>
              </a:cxn>
              <a:cxn ang="0">
                <a:pos x="178" y="40"/>
              </a:cxn>
              <a:cxn ang="0">
                <a:pos x="155" y="32"/>
              </a:cxn>
              <a:cxn ang="0">
                <a:pos x="77" y="40"/>
              </a:cxn>
              <a:cxn ang="0">
                <a:pos x="23" y="79"/>
              </a:cxn>
            </a:cxnLst>
            <a:rect l="0" t="0" r="r" b="b"/>
            <a:pathLst>
              <a:path w="202" h="79">
                <a:moveTo>
                  <a:pt x="23" y="79"/>
                </a:moveTo>
                <a:cubicBezTo>
                  <a:pt x="18" y="71"/>
                  <a:pt x="8" y="65"/>
                  <a:pt x="7" y="55"/>
                </a:cubicBezTo>
                <a:cubicBezTo>
                  <a:pt x="0" y="0"/>
                  <a:pt x="16" y="17"/>
                  <a:pt x="46" y="24"/>
                </a:cubicBezTo>
                <a:cubicBezTo>
                  <a:pt x="102" y="37"/>
                  <a:pt x="67" y="26"/>
                  <a:pt x="108" y="40"/>
                </a:cubicBezTo>
                <a:cubicBezTo>
                  <a:pt x="116" y="37"/>
                  <a:pt x="124" y="28"/>
                  <a:pt x="132" y="32"/>
                </a:cubicBezTo>
                <a:cubicBezTo>
                  <a:pt x="166" y="49"/>
                  <a:pt x="103" y="77"/>
                  <a:pt x="163" y="40"/>
                </a:cubicBezTo>
                <a:cubicBezTo>
                  <a:pt x="168" y="48"/>
                  <a:pt x="169" y="61"/>
                  <a:pt x="178" y="63"/>
                </a:cubicBezTo>
                <a:cubicBezTo>
                  <a:pt x="187" y="65"/>
                  <a:pt x="202" y="57"/>
                  <a:pt x="202" y="47"/>
                </a:cubicBezTo>
                <a:cubicBezTo>
                  <a:pt x="202" y="39"/>
                  <a:pt x="186" y="43"/>
                  <a:pt x="178" y="40"/>
                </a:cubicBezTo>
                <a:cubicBezTo>
                  <a:pt x="170" y="38"/>
                  <a:pt x="163" y="35"/>
                  <a:pt x="155" y="32"/>
                </a:cubicBezTo>
                <a:cubicBezTo>
                  <a:pt x="125" y="42"/>
                  <a:pt x="107" y="30"/>
                  <a:pt x="77" y="40"/>
                </a:cubicBezTo>
                <a:cubicBezTo>
                  <a:pt x="28" y="30"/>
                  <a:pt x="23" y="26"/>
                  <a:pt x="23" y="79"/>
                </a:cubicBezTo>
                <a:close/>
              </a:path>
            </a:pathLst>
          </a:custGeom>
          <a:solidFill>
            <a:schemeClr val="accent1"/>
          </a:solidFill>
          <a:ln w="57150" cmpd="sng">
            <a:solidFill>
              <a:srgbClr val="FFFF00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 flipH="1" flipV="1">
            <a:off x="5892800" y="2895600"/>
            <a:ext cx="101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62" name="Line 18"/>
          <p:cNvSpPr>
            <a:spLocks noChangeShapeType="1"/>
          </p:cNvSpPr>
          <p:nvPr/>
        </p:nvSpPr>
        <p:spPr bwMode="auto">
          <a:xfrm flipH="1" flipV="1">
            <a:off x="5384800" y="31242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63" name="Line 19"/>
          <p:cNvSpPr>
            <a:spLocks noChangeShapeType="1"/>
          </p:cNvSpPr>
          <p:nvPr/>
        </p:nvSpPr>
        <p:spPr bwMode="auto">
          <a:xfrm flipV="1">
            <a:off x="6502400" y="2895600"/>
            <a:ext cx="101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64" name="Line 20"/>
          <p:cNvSpPr>
            <a:spLocks noChangeShapeType="1"/>
          </p:cNvSpPr>
          <p:nvPr/>
        </p:nvSpPr>
        <p:spPr bwMode="auto">
          <a:xfrm flipV="1">
            <a:off x="9245600" y="3276600"/>
            <a:ext cx="406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65" name="Line 21"/>
          <p:cNvSpPr>
            <a:spLocks noChangeShapeType="1"/>
          </p:cNvSpPr>
          <p:nvPr/>
        </p:nvSpPr>
        <p:spPr bwMode="auto">
          <a:xfrm>
            <a:off x="8229600" y="3048000"/>
            <a:ext cx="203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66" name="Line 22"/>
          <p:cNvSpPr>
            <a:spLocks noChangeShapeType="1"/>
          </p:cNvSpPr>
          <p:nvPr/>
        </p:nvSpPr>
        <p:spPr bwMode="auto">
          <a:xfrm flipV="1">
            <a:off x="8839200" y="2971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67" name="Line 23"/>
          <p:cNvSpPr>
            <a:spLocks noChangeShapeType="1"/>
          </p:cNvSpPr>
          <p:nvPr/>
        </p:nvSpPr>
        <p:spPr bwMode="auto">
          <a:xfrm flipV="1">
            <a:off x="9448800" y="3505200"/>
            <a:ext cx="508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68" name="Line 24"/>
          <p:cNvSpPr>
            <a:spLocks noChangeShapeType="1"/>
          </p:cNvSpPr>
          <p:nvPr/>
        </p:nvSpPr>
        <p:spPr bwMode="auto">
          <a:xfrm flipH="1" flipV="1">
            <a:off x="5181600" y="3581400"/>
            <a:ext cx="406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69" name="Line 25"/>
          <p:cNvSpPr>
            <a:spLocks noChangeShapeType="1"/>
          </p:cNvSpPr>
          <p:nvPr/>
        </p:nvSpPr>
        <p:spPr bwMode="auto">
          <a:xfrm flipV="1">
            <a:off x="6807200" y="30480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1770" name="Line 26"/>
          <p:cNvSpPr>
            <a:spLocks noChangeShapeType="1"/>
          </p:cNvSpPr>
          <p:nvPr/>
        </p:nvSpPr>
        <p:spPr bwMode="auto">
          <a:xfrm>
            <a:off x="7721600" y="3352800"/>
            <a:ext cx="508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3" descr="e9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320800" y="4800600"/>
            <a:ext cx="2641600" cy="1079500"/>
          </a:xfrm>
          <a:prstGeom prst="rect">
            <a:avLst/>
          </a:prstGeom>
          <a:noFill/>
        </p:spPr>
      </p:pic>
      <p:pic>
        <p:nvPicPr>
          <p:cNvPr id="35844" name="Picture 4" descr="385px-Incandescent_light_bulb_(no_labels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8000" y="3352800"/>
            <a:ext cx="1303867" cy="1524000"/>
          </a:xfrm>
          <a:prstGeom prst="rect">
            <a:avLst/>
          </a:prstGeom>
          <a:noFill/>
        </p:spPr>
      </p:pic>
      <p:sp>
        <p:nvSpPr>
          <p:cNvPr id="35845" name="Freeform 5"/>
          <p:cNvSpPr/>
          <p:nvPr/>
        </p:nvSpPr>
        <p:spPr bwMode="auto">
          <a:xfrm>
            <a:off x="1104900" y="4425951"/>
            <a:ext cx="4961467" cy="900113"/>
          </a:xfrm>
          <a:custGeom>
            <a:avLst/>
            <a:gdLst/>
            <a:ahLst/>
            <a:cxnLst>
              <a:cxn ang="0">
                <a:pos x="147" y="567"/>
              </a:cxn>
              <a:cxn ang="0">
                <a:pos x="77" y="543"/>
              </a:cxn>
              <a:cxn ang="0">
                <a:pos x="46" y="497"/>
              </a:cxn>
              <a:cxn ang="0">
                <a:pos x="0" y="388"/>
              </a:cxn>
              <a:cxn ang="0">
                <a:pos x="7" y="333"/>
              </a:cxn>
              <a:cxn ang="0">
                <a:pos x="31" y="310"/>
              </a:cxn>
              <a:cxn ang="0">
                <a:pos x="124" y="240"/>
              </a:cxn>
              <a:cxn ang="0">
                <a:pos x="202" y="193"/>
              </a:cxn>
              <a:cxn ang="0">
                <a:pos x="793" y="108"/>
              </a:cxn>
              <a:cxn ang="0">
                <a:pos x="879" y="84"/>
              </a:cxn>
              <a:cxn ang="0">
                <a:pos x="2047" y="53"/>
              </a:cxn>
              <a:cxn ang="0">
                <a:pos x="2148" y="6"/>
              </a:cxn>
              <a:cxn ang="0">
                <a:pos x="2280" y="14"/>
              </a:cxn>
              <a:cxn ang="0">
                <a:pos x="2311" y="61"/>
              </a:cxn>
              <a:cxn ang="0">
                <a:pos x="2335" y="69"/>
              </a:cxn>
              <a:cxn ang="0">
                <a:pos x="2342" y="76"/>
              </a:cxn>
            </a:cxnLst>
            <a:rect l="0" t="0" r="r" b="b"/>
            <a:pathLst>
              <a:path w="2344" h="567">
                <a:moveTo>
                  <a:pt x="147" y="567"/>
                </a:moveTo>
                <a:cubicBezTo>
                  <a:pt x="120" y="562"/>
                  <a:pt x="96" y="565"/>
                  <a:pt x="77" y="543"/>
                </a:cubicBezTo>
                <a:cubicBezTo>
                  <a:pt x="65" y="529"/>
                  <a:pt x="46" y="497"/>
                  <a:pt x="46" y="497"/>
                </a:cubicBezTo>
                <a:cubicBezTo>
                  <a:pt x="33" y="459"/>
                  <a:pt x="12" y="426"/>
                  <a:pt x="0" y="388"/>
                </a:cubicBezTo>
                <a:cubicBezTo>
                  <a:pt x="2" y="370"/>
                  <a:pt x="0" y="350"/>
                  <a:pt x="7" y="333"/>
                </a:cubicBezTo>
                <a:cubicBezTo>
                  <a:pt x="11" y="323"/>
                  <a:pt x="24" y="318"/>
                  <a:pt x="31" y="310"/>
                </a:cubicBezTo>
                <a:cubicBezTo>
                  <a:pt x="60" y="276"/>
                  <a:pt x="81" y="255"/>
                  <a:pt x="124" y="240"/>
                </a:cubicBezTo>
                <a:cubicBezTo>
                  <a:pt x="150" y="214"/>
                  <a:pt x="170" y="212"/>
                  <a:pt x="202" y="193"/>
                </a:cubicBezTo>
                <a:cubicBezTo>
                  <a:pt x="398" y="75"/>
                  <a:pt x="530" y="113"/>
                  <a:pt x="793" y="108"/>
                </a:cubicBezTo>
                <a:cubicBezTo>
                  <a:pt x="864" y="90"/>
                  <a:pt x="836" y="99"/>
                  <a:pt x="879" y="84"/>
                </a:cubicBezTo>
                <a:cubicBezTo>
                  <a:pt x="1259" y="139"/>
                  <a:pt x="1670" y="150"/>
                  <a:pt x="2047" y="53"/>
                </a:cubicBezTo>
                <a:cubicBezTo>
                  <a:pt x="2089" y="25"/>
                  <a:pt x="2103" y="21"/>
                  <a:pt x="2148" y="6"/>
                </a:cubicBezTo>
                <a:cubicBezTo>
                  <a:pt x="2192" y="9"/>
                  <a:pt x="2238" y="0"/>
                  <a:pt x="2280" y="14"/>
                </a:cubicBezTo>
                <a:cubicBezTo>
                  <a:pt x="2298" y="20"/>
                  <a:pt x="2293" y="55"/>
                  <a:pt x="2311" y="61"/>
                </a:cubicBezTo>
                <a:cubicBezTo>
                  <a:pt x="2319" y="64"/>
                  <a:pt x="2327" y="66"/>
                  <a:pt x="2335" y="69"/>
                </a:cubicBezTo>
                <a:cubicBezTo>
                  <a:pt x="2344" y="97"/>
                  <a:pt x="2342" y="100"/>
                  <a:pt x="2342" y="76"/>
                </a:cubicBezTo>
              </a:path>
            </a:pathLst>
          </a:custGeom>
          <a:noFill/>
          <a:ln w="28575" cmpd="sng">
            <a:solidFill>
              <a:srgbClr val="B92D14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5846" name="Freeform 6"/>
          <p:cNvSpPr/>
          <p:nvPr/>
        </p:nvSpPr>
        <p:spPr bwMode="auto">
          <a:xfrm>
            <a:off x="3793068" y="4806951"/>
            <a:ext cx="2468033" cy="506413"/>
          </a:xfrm>
          <a:custGeom>
            <a:avLst/>
            <a:gdLst/>
            <a:ahLst/>
            <a:cxnLst>
              <a:cxn ang="0">
                <a:pos x="1158" y="0"/>
              </a:cxn>
              <a:cxn ang="0">
                <a:pos x="1072" y="233"/>
              </a:cxn>
              <a:cxn ang="0">
                <a:pos x="956" y="311"/>
              </a:cxn>
              <a:cxn ang="0">
                <a:pos x="162" y="303"/>
              </a:cxn>
              <a:cxn ang="0">
                <a:pos x="22" y="311"/>
              </a:cxn>
              <a:cxn ang="0">
                <a:pos x="6" y="319"/>
              </a:cxn>
            </a:cxnLst>
            <a:rect l="0" t="0" r="r" b="b"/>
            <a:pathLst>
              <a:path w="1166" h="319">
                <a:moveTo>
                  <a:pt x="1158" y="0"/>
                </a:moveTo>
                <a:cubicBezTo>
                  <a:pt x="1154" y="71"/>
                  <a:pt x="1166" y="206"/>
                  <a:pt x="1072" y="233"/>
                </a:cubicBezTo>
                <a:cubicBezTo>
                  <a:pt x="1033" y="260"/>
                  <a:pt x="1002" y="295"/>
                  <a:pt x="956" y="311"/>
                </a:cubicBezTo>
                <a:cubicBezTo>
                  <a:pt x="691" y="308"/>
                  <a:pt x="427" y="303"/>
                  <a:pt x="162" y="303"/>
                </a:cubicBezTo>
                <a:cubicBezTo>
                  <a:pt x="115" y="303"/>
                  <a:pt x="69" y="306"/>
                  <a:pt x="22" y="311"/>
                </a:cubicBezTo>
                <a:cubicBezTo>
                  <a:pt x="16" y="312"/>
                  <a:pt x="0" y="319"/>
                  <a:pt x="6" y="319"/>
                </a:cubicBezTo>
              </a:path>
            </a:pathLst>
          </a:custGeom>
          <a:noFill/>
          <a:ln w="38100" cmpd="sng">
            <a:solidFill>
              <a:srgbClr val="B92D14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962400" y="5410200"/>
            <a:ext cx="1727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5850" name="Freeform 10"/>
          <p:cNvSpPr/>
          <p:nvPr/>
        </p:nvSpPr>
        <p:spPr bwMode="auto">
          <a:xfrm>
            <a:off x="5588001" y="3352801"/>
            <a:ext cx="2992967" cy="1279525"/>
          </a:xfrm>
          <a:custGeom>
            <a:avLst/>
            <a:gdLst/>
            <a:ahLst/>
            <a:cxnLst>
              <a:cxn ang="0">
                <a:pos x="223" y="751"/>
              </a:cxn>
              <a:cxn ang="0">
                <a:pos x="91" y="642"/>
              </a:cxn>
              <a:cxn ang="0">
                <a:pos x="76" y="619"/>
              </a:cxn>
              <a:cxn ang="0">
                <a:pos x="52" y="596"/>
              </a:cxn>
              <a:cxn ang="0">
                <a:pos x="21" y="541"/>
              </a:cxn>
              <a:cxn ang="0">
                <a:pos x="21" y="253"/>
              </a:cxn>
              <a:cxn ang="0">
                <a:pos x="60" y="144"/>
              </a:cxn>
              <a:cxn ang="0">
                <a:pos x="216" y="43"/>
              </a:cxn>
              <a:cxn ang="0">
                <a:pos x="527" y="66"/>
              </a:cxn>
              <a:cxn ang="0">
                <a:pos x="543" y="90"/>
              </a:cxn>
              <a:cxn ang="0">
                <a:pos x="636" y="136"/>
              </a:cxn>
              <a:cxn ang="0">
                <a:pos x="714" y="183"/>
              </a:cxn>
              <a:cxn ang="0">
                <a:pos x="784" y="237"/>
              </a:cxn>
              <a:cxn ang="0">
                <a:pos x="846" y="308"/>
              </a:cxn>
              <a:cxn ang="0">
                <a:pos x="908" y="339"/>
              </a:cxn>
              <a:cxn ang="0">
                <a:pos x="932" y="362"/>
              </a:cxn>
              <a:cxn ang="0">
                <a:pos x="986" y="385"/>
              </a:cxn>
              <a:cxn ang="0">
                <a:pos x="1072" y="417"/>
              </a:cxn>
              <a:cxn ang="0">
                <a:pos x="1204" y="549"/>
              </a:cxn>
              <a:cxn ang="0">
                <a:pos x="1274" y="642"/>
              </a:cxn>
              <a:cxn ang="0">
                <a:pos x="1344" y="743"/>
              </a:cxn>
              <a:cxn ang="0">
                <a:pos x="1391" y="806"/>
              </a:cxn>
              <a:cxn ang="0">
                <a:pos x="1414" y="790"/>
              </a:cxn>
            </a:cxnLst>
            <a:rect l="0" t="0" r="r" b="b"/>
            <a:pathLst>
              <a:path w="1414" h="806">
                <a:moveTo>
                  <a:pt x="223" y="751"/>
                </a:moveTo>
                <a:cubicBezTo>
                  <a:pt x="175" y="703"/>
                  <a:pt x="155" y="675"/>
                  <a:pt x="91" y="642"/>
                </a:cubicBezTo>
                <a:cubicBezTo>
                  <a:pt x="86" y="634"/>
                  <a:pt x="82" y="626"/>
                  <a:pt x="76" y="619"/>
                </a:cubicBezTo>
                <a:cubicBezTo>
                  <a:pt x="69" y="611"/>
                  <a:pt x="58" y="605"/>
                  <a:pt x="52" y="596"/>
                </a:cubicBezTo>
                <a:cubicBezTo>
                  <a:pt x="40" y="579"/>
                  <a:pt x="33" y="558"/>
                  <a:pt x="21" y="541"/>
                </a:cubicBezTo>
                <a:cubicBezTo>
                  <a:pt x="0" y="419"/>
                  <a:pt x="9" y="489"/>
                  <a:pt x="21" y="253"/>
                </a:cubicBezTo>
                <a:cubicBezTo>
                  <a:pt x="24" y="200"/>
                  <a:pt x="20" y="172"/>
                  <a:pt x="60" y="144"/>
                </a:cubicBezTo>
                <a:cubicBezTo>
                  <a:pt x="108" y="74"/>
                  <a:pt x="129" y="56"/>
                  <a:pt x="216" y="43"/>
                </a:cubicBezTo>
                <a:cubicBezTo>
                  <a:pt x="320" y="48"/>
                  <a:pt x="447" y="0"/>
                  <a:pt x="527" y="66"/>
                </a:cubicBezTo>
                <a:cubicBezTo>
                  <a:pt x="534" y="72"/>
                  <a:pt x="536" y="83"/>
                  <a:pt x="543" y="90"/>
                </a:cubicBezTo>
                <a:cubicBezTo>
                  <a:pt x="570" y="117"/>
                  <a:pt x="603" y="122"/>
                  <a:pt x="636" y="136"/>
                </a:cubicBezTo>
                <a:cubicBezTo>
                  <a:pt x="664" y="148"/>
                  <a:pt x="714" y="183"/>
                  <a:pt x="714" y="183"/>
                </a:cubicBezTo>
                <a:cubicBezTo>
                  <a:pt x="735" y="215"/>
                  <a:pt x="746" y="228"/>
                  <a:pt x="784" y="237"/>
                </a:cubicBezTo>
                <a:cubicBezTo>
                  <a:pt x="795" y="271"/>
                  <a:pt x="822" y="283"/>
                  <a:pt x="846" y="308"/>
                </a:cubicBezTo>
                <a:cubicBezTo>
                  <a:pt x="863" y="356"/>
                  <a:pt x="840" y="312"/>
                  <a:pt x="908" y="339"/>
                </a:cubicBezTo>
                <a:cubicBezTo>
                  <a:pt x="918" y="343"/>
                  <a:pt x="923" y="355"/>
                  <a:pt x="932" y="362"/>
                </a:cubicBezTo>
                <a:cubicBezTo>
                  <a:pt x="957" y="382"/>
                  <a:pt x="954" y="378"/>
                  <a:pt x="986" y="385"/>
                </a:cubicBezTo>
                <a:cubicBezTo>
                  <a:pt x="1015" y="400"/>
                  <a:pt x="1042" y="407"/>
                  <a:pt x="1072" y="417"/>
                </a:cubicBezTo>
                <a:cubicBezTo>
                  <a:pt x="1124" y="455"/>
                  <a:pt x="1151" y="512"/>
                  <a:pt x="1204" y="549"/>
                </a:cubicBezTo>
                <a:cubicBezTo>
                  <a:pt x="1217" y="587"/>
                  <a:pt x="1252" y="608"/>
                  <a:pt x="1274" y="642"/>
                </a:cubicBezTo>
                <a:cubicBezTo>
                  <a:pt x="1286" y="690"/>
                  <a:pt x="1303" y="716"/>
                  <a:pt x="1344" y="743"/>
                </a:cubicBezTo>
                <a:cubicBezTo>
                  <a:pt x="1360" y="774"/>
                  <a:pt x="1358" y="795"/>
                  <a:pt x="1391" y="806"/>
                </a:cubicBezTo>
                <a:cubicBezTo>
                  <a:pt x="1399" y="801"/>
                  <a:pt x="1414" y="790"/>
                  <a:pt x="1414" y="790"/>
                </a:cubicBezTo>
              </a:path>
            </a:pathLst>
          </a:custGeom>
          <a:noFill/>
          <a:ln w="38100" cmpd="sng">
            <a:solidFill>
              <a:srgbClr val="0000FF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5851" name="Freeform 11"/>
          <p:cNvSpPr/>
          <p:nvPr/>
        </p:nvSpPr>
        <p:spPr bwMode="auto">
          <a:xfrm>
            <a:off x="6261100" y="4794250"/>
            <a:ext cx="2540000" cy="438150"/>
          </a:xfrm>
          <a:custGeom>
            <a:avLst/>
            <a:gdLst/>
            <a:ahLst/>
            <a:cxnLst>
              <a:cxn ang="0">
                <a:pos x="1191" y="55"/>
              </a:cxn>
              <a:cxn ang="0">
                <a:pos x="1160" y="94"/>
              </a:cxn>
              <a:cxn ang="0">
                <a:pos x="1152" y="117"/>
              </a:cxn>
              <a:cxn ang="0">
                <a:pos x="1128" y="132"/>
              </a:cxn>
              <a:cxn ang="0">
                <a:pos x="887" y="218"/>
              </a:cxn>
              <a:cxn ang="0">
                <a:pos x="428" y="187"/>
              </a:cxn>
              <a:cxn ang="0">
                <a:pos x="156" y="86"/>
              </a:cxn>
              <a:cxn ang="0">
                <a:pos x="101" y="55"/>
              </a:cxn>
              <a:cxn ang="0">
                <a:pos x="54" y="39"/>
              </a:cxn>
              <a:cxn ang="0">
                <a:pos x="0" y="0"/>
              </a:cxn>
            </a:cxnLst>
            <a:rect l="0" t="0" r="r" b="b"/>
            <a:pathLst>
              <a:path w="1200" h="276">
                <a:moveTo>
                  <a:pt x="1191" y="55"/>
                </a:moveTo>
                <a:cubicBezTo>
                  <a:pt x="1171" y="113"/>
                  <a:pt x="1200" y="44"/>
                  <a:pt x="1160" y="94"/>
                </a:cubicBezTo>
                <a:cubicBezTo>
                  <a:pt x="1155" y="100"/>
                  <a:pt x="1157" y="111"/>
                  <a:pt x="1152" y="117"/>
                </a:cubicBezTo>
                <a:cubicBezTo>
                  <a:pt x="1146" y="124"/>
                  <a:pt x="1136" y="127"/>
                  <a:pt x="1128" y="132"/>
                </a:cubicBezTo>
                <a:cubicBezTo>
                  <a:pt x="1049" y="188"/>
                  <a:pt x="984" y="207"/>
                  <a:pt x="887" y="218"/>
                </a:cubicBezTo>
                <a:cubicBezTo>
                  <a:pt x="720" y="276"/>
                  <a:pt x="579" y="226"/>
                  <a:pt x="428" y="187"/>
                </a:cubicBezTo>
                <a:cubicBezTo>
                  <a:pt x="351" y="130"/>
                  <a:pt x="251" y="102"/>
                  <a:pt x="156" y="86"/>
                </a:cubicBezTo>
                <a:cubicBezTo>
                  <a:pt x="133" y="71"/>
                  <a:pt x="128" y="66"/>
                  <a:pt x="101" y="55"/>
                </a:cubicBezTo>
                <a:cubicBezTo>
                  <a:pt x="86" y="49"/>
                  <a:pt x="54" y="39"/>
                  <a:pt x="54" y="39"/>
                </a:cubicBezTo>
                <a:cubicBezTo>
                  <a:pt x="33" y="24"/>
                  <a:pt x="11" y="23"/>
                  <a:pt x="0" y="0"/>
                </a:cubicBezTo>
              </a:path>
            </a:pathLst>
          </a:custGeom>
          <a:noFill/>
          <a:ln w="38100" cmpd="sng">
            <a:solidFill>
              <a:srgbClr val="0000FF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5852" name="Line 12"/>
          <p:cNvSpPr>
            <a:spLocks noChangeShapeType="1"/>
          </p:cNvSpPr>
          <p:nvPr/>
        </p:nvSpPr>
        <p:spPr bwMode="auto">
          <a:xfrm>
            <a:off x="2438400" y="4572000"/>
            <a:ext cx="28448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5854" name="Freeform 14"/>
          <p:cNvSpPr/>
          <p:nvPr/>
        </p:nvSpPr>
        <p:spPr bwMode="auto">
          <a:xfrm>
            <a:off x="5994401" y="3733800"/>
            <a:ext cx="427567" cy="125413"/>
          </a:xfrm>
          <a:custGeom>
            <a:avLst/>
            <a:gdLst/>
            <a:ahLst/>
            <a:cxnLst>
              <a:cxn ang="0">
                <a:pos x="23" y="79"/>
              </a:cxn>
              <a:cxn ang="0">
                <a:pos x="7" y="55"/>
              </a:cxn>
              <a:cxn ang="0">
                <a:pos x="46" y="24"/>
              </a:cxn>
              <a:cxn ang="0">
                <a:pos x="108" y="40"/>
              </a:cxn>
              <a:cxn ang="0">
                <a:pos x="132" y="32"/>
              </a:cxn>
              <a:cxn ang="0">
                <a:pos x="163" y="40"/>
              </a:cxn>
              <a:cxn ang="0">
                <a:pos x="178" y="63"/>
              </a:cxn>
              <a:cxn ang="0">
                <a:pos x="202" y="47"/>
              </a:cxn>
              <a:cxn ang="0">
                <a:pos x="178" y="40"/>
              </a:cxn>
              <a:cxn ang="0">
                <a:pos x="155" y="32"/>
              </a:cxn>
              <a:cxn ang="0">
                <a:pos x="77" y="40"/>
              </a:cxn>
              <a:cxn ang="0">
                <a:pos x="23" y="79"/>
              </a:cxn>
            </a:cxnLst>
            <a:rect l="0" t="0" r="r" b="b"/>
            <a:pathLst>
              <a:path w="202" h="79">
                <a:moveTo>
                  <a:pt x="23" y="79"/>
                </a:moveTo>
                <a:cubicBezTo>
                  <a:pt x="18" y="71"/>
                  <a:pt x="8" y="65"/>
                  <a:pt x="7" y="55"/>
                </a:cubicBezTo>
                <a:cubicBezTo>
                  <a:pt x="0" y="0"/>
                  <a:pt x="16" y="17"/>
                  <a:pt x="46" y="24"/>
                </a:cubicBezTo>
                <a:cubicBezTo>
                  <a:pt x="102" y="37"/>
                  <a:pt x="67" y="26"/>
                  <a:pt x="108" y="40"/>
                </a:cubicBezTo>
                <a:cubicBezTo>
                  <a:pt x="116" y="37"/>
                  <a:pt x="124" y="28"/>
                  <a:pt x="132" y="32"/>
                </a:cubicBezTo>
                <a:cubicBezTo>
                  <a:pt x="166" y="49"/>
                  <a:pt x="103" y="77"/>
                  <a:pt x="163" y="40"/>
                </a:cubicBezTo>
                <a:cubicBezTo>
                  <a:pt x="168" y="48"/>
                  <a:pt x="169" y="61"/>
                  <a:pt x="178" y="63"/>
                </a:cubicBezTo>
                <a:cubicBezTo>
                  <a:pt x="187" y="65"/>
                  <a:pt x="202" y="57"/>
                  <a:pt x="202" y="47"/>
                </a:cubicBezTo>
                <a:cubicBezTo>
                  <a:pt x="202" y="39"/>
                  <a:pt x="186" y="43"/>
                  <a:pt x="178" y="40"/>
                </a:cubicBezTo>
                <a:cubicBezTo>
                  <a:pt x="170" y="38"/>
                  <a:pt x="163" y="35"/>
                  <a:pt x="155" y="32"/>
                </a:cubicBezTo>
                <a:cubicBezTo>
                  <a:pt x="125" y="42"/>
                  <a:pt x="107" y="30"/>
                  <a:pt x="77" y="40"/>
                </a:cubicBezTo>
                <a:cubicBezTo>
                  <a:pt x="28" y="30"/>
                  <a:pt x="23" y="26"/>
                  <a:pt x="23" y="79"/>
                </a:cubicBezTo>
                <a:close/>
              </a:path>
            </a:pathLst>
          </a:custGeom>
          <a:solidFill>
            <a:schemeClr val="accent1"/>
          </a:solidFill>
          <a:ln w="57150" cmpd="sng">
            <a:solidFill>
              <a:srgbClr val="FFFF00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5856" name="Line 16"/>
          <p:cNvSpPr>
            <a:spLocks noChangeShapeType="1"/>
          </p:cNvSpPr>
          <p:nvPr/>
        </p:nvSpPr>
        <p:spPr bwMode="auto">
          <a:xfrm flipH="1" flipV="1">
            <a:off x="5892800" y="2895600"/>
            <a:ext cx="101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5857" name="Line 17"/>
          <p:cNvSpPr>
            <a:spLocks noChangeShapeType="1"/>
          </p:cNvSpPr>
          <p:nvPr/>
        </p:nvSpPr>
        <p:spPr bwMode="auto">
          <a:xfrm flipH="1" flipV="1">
            <a:off x="5384800" y="31242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5858" name="Line 18"/>
          <p:cNvSpPr>
            <a:spLocks noChangeShapeType="1"/>
          </p:cNvSpPr>
          <p:nvPr/>
        </p:nvSpPr>
        <p:spPr bwMode="auto">
          <a:xfrm flipV="1">
            <a:off x="6502400" y="2895600"/>
            <a:ext cx="101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5863" name="Line 23"/>
          <p:cNvSpPr>
            <a:spLocks noChangeShapeType="1"/>
          </p:cNvSpPr>
          <p:nvPr/>
        </p:nvSpPr>
        <p:spPr bwMode="auto">
          <a:xfrm flipH="1" flipV="1">
            <a:off x="5181600" y="3581400"/>
            <a:ext cx="406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5864" name="Line 24"/>
          <p:cNvSpPr>
            <a:spLocks noChangeShapeType="1"/>
          </p:cNvSpPr>
          <p:nvPr/>
        </p:nvSpPr>
        <p:spPr bwMode="auto">
          <a:xfrm flipV="1">
            <a:off x="6807200" y="30480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5868" name="Text Box 28"/>
          <p:cNvSpPr txBox="1">
            <a:spLocks noChangeArrowheads="1"/>
          </p:cNvSpPr>
          <p:nvPr/>
        </p:nvSpPr>
        <p:spPr bwMode="auto">
          <a:xfrm>
            <a:off x="1422400" y="609601"/>
            <a:ext cx="10464800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4000" dirty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  <a:t>Then if one light is gone the other can stay on.</a:t>
            </a:r>
            <a:endParaRPr lang="en-US" sz="4000" dirty="0">
              <a:solidFill>
                <a:srgbClr val="68007F">
                  <a:lumMod val="50000"/>
                </a:srgbClr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1727200" y="685801"/>
            <a:ext cx="10464800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4000" dirty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  <a:t>Then if one light is gone the other can stay on.</a:t>
            </a:r>
            <a:endParaRPr lang="en-US" sz="4000" dirty="0">
              <a:solidFill>
                <a:srgbClr val="68007F">
                  <a:lumMod val="50000"/>
                </a:srgbClr>
              </a:solidFill>
              <a:latin typeface="Cambria" panose="02040503050406030204" pitchFamily="18" charset="0"/>
            </a:endParaRPr>
          </a:p>
        </p:txBody>
      </p:sp>
      <p:pic>
        <p:nvPicPr>
          <p:cNvPr id="33795" name="Picture 3" descr="e9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320800" y="4800600"/>
            <a:ext cx="2641600" cy="1079500"/>
          </a:xfrm>
          <a:prstGeom prst="rect">
            <a:avLst/>
          </a:prstGeom>
          <a:noFill/>
        </p:spPr>
      </p:pic>
      <p:sp>
        <p:nvSpPr>
          <p:cNvPr id="33797" name="Freeform 5"/>
          <p:cNvSpPr/>
          <p:nvPr/>
        </p:nvSpPr>
        <p:spPr bwMode="auto">
          <a:xfrm>
            <a:off x="1104900" y="4425951"/>
            <a:ext cx="4961467" cy="900113"/>
          </a:xfrm>
          <a:custGeom>
            <a:avLst/>
            <a:gdLst/>
            <a:ahLst/>
            <a:cxnLst>
              <a:cxn ang="0">
                <a:pos x="147" y="567"/>
              </a:cxn>
              <a:cxn ang="0">
                <a:pos x="77" y="543"/>
              </a:cxn>
              <a:cxn ang="0">
                <a:pos x="46" y="497"/>
              </a:cxn>
              <a:cxn ang="0">
                <a:pos x="0" y="388"/>
              </a:cxn>
              <a:cxn ang="0">
                <a:pos x="7" y="333"/>
              </a:cxn>
              <a:cxn ang="0">
                <a:pos x="31" y="310"/>
              </a:cxn>
              <a:cxn ang="0">
                <a:pos x="124" y="240"/>
              </a:cxn>
              <a:cxn ang="0">
                <a:pos x="202" y="193"/>
              </a:cxn>
              <a:cxn ang="0">
                <a:pos x="793" y="108"/>
              </a:cxn>
              <a:cxn ang="0">
                <a:pos x="879" y="84"/>
              </a:cxn>
              <a:cxn ang="0">
                <a:pos x="2047" y="53"/>
              </a:cxn>
              <a:cxn ang="0">
                <a:pos x="2148" y="6"/>
              </a:cxn>
              <a:cxn ang="0">
                <a:pos x="2280" y="14"/>
              </a:cxn>
              <a:cxn ang="0">
                <a:pos x="2311" y="61"/>
              </a:cxn>
              <a:cxn ang="0">
                <a:pos x="2335" y="69"/>
              </a:cxn>
              <a:cxn ang="0">
                <a:pos x="2342" y="76"/>
              </a:cxn>
            </a:cxnLst>
            <a:rect l="0" t="0" r="r" b="b"/>
            <a:pathLst>
              <a:path w="2344" h="567">
                <a:moveTo>
                  <a:pt x="147" y="567"/>
                </a:moveTo>
                <a:cubicBezTo>
                  <a:pt x="120" y="562"/>
                  <a:pt x="96" y="565"/>
                  <a:pt x="77" y="543"/>
                </a:cubicBezTo>
                <a:cubicBezTo>
                  <a:pt x="65" y="529"/>
                  <a:pt x="46" y="497"/>
                  <a:pt x="46" y="497"/>
                </a:cubicBezTo>
                <a:cubicBezTo>
                  <a:pt x="33" y="459"/>
                  <a:pt x="12" y="426"/>
                  <a:pt x="0" y="388"/>
                </a:cubicBezTo>
                <a:cubicBezTo>
                  <a:pt x="2" y="370"/>
                  <a:pt x="0" y="350"/>
                  <a:pt x="7" y="333"/>
                </a:cubicBezTo>
                <a:cubicBezTo>
                  <a:pt x="11" y="323"/>
                  <a:pt x="24" y="318"/>
                  <a:pt x="31" y="310"/>
                </a:cubicBezTo>
                <a:cubicBezTo>
                  <a:pt x="60" y="276"/>
                  <a:pt x="81" y="255"/>
                  <a:pt x="124" y="240"/>
                </a:cubicBezTo>
                <a:cubicBezTo>
                  <a:pt x="150" y="214"/>
                  <a:pt x="170" y="212"/>
                  <a:pt x="202" y="193"/>
                </a:cubicBezTo>
                <a:cubicBezTo>
                  <a:pt x="398" y="75"/>
                  <a:pt x="530" y="113"/>
                  <a:pt x="793" y="108"/>
                </a:cubicBezTo>
                <a:cubicBezTo>
                  <a:pt x="864" y="90"/>
                  <a:pt x="836" y="99"/>
                  <a:pt x="879" y="84"/>
                </a:cubicBezTo>
                <a:cubicBezTo>
                  <a:pt x="1259" y="139"/>
                  <a:pt x="1670" y="150"/>
                  <a:pt x="2047" y="53"/>
                </a:cubicBezTo>
                <a:cubicBezTo>
                  <a:pt x="2089" y="25"/>
                  <a:pt x="2103" y="21"/>
                  <a:pt x="2148" y="6"/>
                </a:cubicBezTo>
                <a:cubicBezTo>
                  <a:pt x="2192" y="9"/>
                  <a:pt x="2238" y="0"/>
                  <a:pt x="2280" y="14"/>
                </a:cubicBezTo>
                <a:cubicBezTo>
                  <a:pt x="2298" y="20"/>
                  <a:pt x="2293" y="55"/>
                  <a:pt x="2311" y="61"/>
                </a:cubicBezTo>
                <a:cubicBezTo>
                  <a:pt x="2319" y="64"/>
                  <a:pt x="2327" y="66"/>
                  <a:pt x="2335" y="69"/>
                </a:cubicBezTo>
                <a:cubicBezTo>
                  <a:pt x="2344" y="97"/>
                  <a:pt x="2342" y="100"/>
                  <a:pt x="2342" y="76"/>
                </a:cubicBezTo>
              </a:path>
            </a:pathLst>
          </a:custGeom>
          <a:noFill/>
          <a:ln w="28575" cmpd="sng">
            <a:solidFill>
              <a:schemeClr val="accent4">
                <a:lumMod val="50000"/>
              </a:schemeClr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3798" name="Freeform 6"/>
          <p:cNvSpPr/>
          <p:nvPr/>
        </p:nvSpPr>
        <p:spPr bwMode="auto">
          <a:xfrm>
            <a:off x="3793068" y="4806951"/>
            <a:ext cx="2468033" cy="506413"/>
          </a:xfrm>
          <a:custGeom>
            <a:avLst/>
            <a:gdLst/>
            <a:ahLst/>
            <a:cxnLst>
              <a:cxn ang="0">
                <a:pos x="1158" y="0"/>
              </a:cxn>
              <a:cxn ang="0">
                <a:pos x="1072" y="233"/>
              </a:cxn>
              <a:cxn ang="0">
                <a:pos x="956" y="311"/>
              </a:cxn>
              <a:cxn ang="0">
                <a:pos x="162" y="303"/>
              </a:cxn>
              <a:cxn ang="0">
                <a:pos x="22" y="311"/>
              </a:cxn>
              <a:cxn ang="0">
                <a:pos x="6" y="319"/>
              </a:cxn>
            </a:cxnLst>
            <a:rect l="0" t="0" r="r" b="b"/>
            <a:pathLst>
              <a:path w="1166" h="319">
                <a:moveTo>
                  <a:pt x="1158" y="0"/>
                </a:moveTo>
                <a:cubicBezTo>
                  <a:pt x="1154" y="71"/>
                  <a:pt x="1166" y="206"/>
                  <a:pt x="1072" y="233"/>
                </a:cubicBezTo>
                <a:cubicBezTo>
                  <a:pt x="1033" y="260"/>
                  <a:pt x="1002" y="295"/>
                  <a:pt x="956" y="311"/>
                </a:cubicBezTo>
                <a:cubicBezTo>
                  <a:pt x="691" y="308"/>
                  <a:pt x="427" y="303"/>
                  <a:pt x="162" y="303"/>
                </a:cubicBezTo>
                <a:cubicBezTo>
                  <a:pt x="115" y="303"/>
                  <a:pt x="69" y="306"/>
                  <a:pt x="22" y="311"/>
                </a:cubicBezTo>
                <a:cubicBezTo>
                  <a:pt x="16" y="312"/>
                  <a:pt x="0" y="319"/>
                  <a:pt x="6" y="319"/>
                </a:cubicBezTo>
              </a:path>
            </a:pathLst>
          </a:custGeom>
          <a:noFill/>
          <a:ln w="38100" cmpd="sng">
            <a:solidFill>
              <a:schemeClr val="accent4">
                <a:lumMod val="50000"/>
              </a:schemeClr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>
            <a:off x="2235200" y="4419600"/>
            <a:ext cx="28448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3800" name="Line 8"/>
          <p:cNvSpPr>
            <a:spLocks noChangeShapeType="1"/>
          </p:cNvSpPr>
          <p:nvPr/>
        </p:nvSpPr>
        <p:spPr bwMode="auto">
          <a:xfrm flipH="1">
            <a:off x="3962400" y="5410200"/>
            <a:ext cx="1727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pic>
        <p:nvPicPr>
          <p:cNvPr id="33801" name="Picture 9" descr="385px-Incandescent_light_bulb_(no_labels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28000" y="3429000"/>
            <a:ext cx="1303867" cy="1524000"/>
          </a:xfrm>
          <a:prstGeom prst="rect">
            <a:avLst/>
          </a:prstGeom>
          <a:noFill/>
        </p:spPr>
      </p:pic>
      <p:sp>
        <p:nvSpPr>
          <p:cNvPr id="33802" name="Freeform 10"/>
          <p:cNvSpPr/>
          <p:nvPr/>
        </p:nvSpPr>
        <p:spPr bwMode="auto">
          <a:xfrm>
            <a:off x="5588001" y="3352801"/>
            <a:ext cx="2992967" cy="1279525"/>
          </a:xfrm>
          <a:custGeom>
            <a:avLst/>
            <a:gdLst/>
            <a:ahLst/>
            <a:cxnLst>
              <a:cxn ang="0">
                <a:pos x="223" y="751"/>
              </a:cxn>
              <a:cxn ang="0">
                <a:pos x="91" y="642"/>
              </a:cxn>
              <a:cxn ang="0">
                <a:pos x="76" y="619"/>
              </a:cxn>
              <a:cxn ang="0">
                <a:pos x="52" y="596"/>
              </a:cxn>
              <a:cxn ang="0">
                <a:pos x="21" y="541"/>
              </a:cxn>
              <a:cxn ang="0">
                <a:pos x="21" y="253"/>
              </a:cxn>
              <a:cxn ang="0">
                <a:pos x="60" y="144"/>
              </a:cxn>
              <a:cxn ang="0">
                <a:pos x="216" y="43"/>
              </a:cxn>
              <a:cxn ang="0">
                <a:pos x="527" y="66"/>
              </a:cxn>
              <a:cxn ang="0">
                <a:pos x="543" y="90"/>
              </a:cxn>
              <a:cxn ang="0">
                <a:pos x="636" y="136"/>
              </a:cxn>
              <a:cxn ang="0">
                <a:pos x="714" y="183"/>
              </a:cxn>
              <a:cxn ang="0">
                <a:pos x="784" y="237"/>
              </a:cxn>
              <a:cxn ang="0">
                <a:pos x="846" y="308"/>
              </a:cxn>
              <a:cxn ang="0">
                <a:pos x="908" y="339"/>
              </a:cxn>
              <a:cxn ang="0">
                <a:pos x="932" y="362"/>
              </a:cxn>
              <a:cxn ang="0">
                <a:pos x="986" y="385"/>
              </a:cxn>
              <a:cxn ang="0">
                <a:pos x="1072" y="417"/>
              </a:cxn>
              <a:cxn ang="0">
                <a:pos x="1204" y="549"/>
              </a:cxn>
              <a:cxn ang="0">
                <a:pos x="1274" y="642"/>
              </a:cxn>
              <a:cxn ang="0">
                <a:pos x="1344" y="743"/>
              </a:cxn>
              <a:cxn ang="0">
                <a:pos x="1391" y="806"/>
              </a:cxn>
              <a:cxn ang="0">
                <a:pos x="1414" y="790"/>
              </a:cxn>
            </a:cxnLst>
            <a:rect l="0" t="0" r="r" b="b"/>
            <a:pathLst>
              <a:path w="1414" h="806">
                <a:moveTo>
                  <a:pt x="223" y="751"/>
                </a:moveTo>
                <a:cubicBezTo>
                  <a:pt x="175" y="703"/>
                  <a:pt x="155" y="675"/>
                  <a:pt x="91" y="642"/>
                </a:cubicBezTo>
                <a:cubicBezTo>
                  <a:pt x="86" y="634"/>
                  <a:pt x="82" y="626"/>
                  <a:pt x="76" y="619"/>
                </a:cubicBezTo>
                <a:cubicBezTo>
                  <a:pt x="69" y="611"/>
                  <a:pt x="58" y="605"/>
                  <a:pt x="52" y="596"/>
                </a:cubicBezTo>
                <a:cubicBezTo>
                  <a:pt x="40" y="579"/>
                  <a:pt x="33" y="558"/>
                  <a:pt x="21" y="541"/>
                </a:cubicBezTo>
                <a:cubicBezTo>
                  <a:pt x="0" y="419"/>
                  <a:pt x="9" y="489"/>
                  <a:pt x="21" y="253"/>
                </a:cubicBezTo>
                <a:cubicBezTo>
                  <a:pt x="24" y="200"/>
                  <a:pt x="20" y="172"/>
                  <a:pt x="60" y="144"/>
                </a:cubicBezTo>
                <a:cubicBezTo>
                  <a:pt x="108" y="74"/>
                  <a:pt x="129" y="56"/>
                  <a:pt x="216" y="43"/>
                </a:cubicBezTo>
                <a:cubicBezTo>
                  <a:pt x="320" y="48"/>
                  <a:pt x="447" y="0"/>
                  <a:pt x="527" y="66"/>
                </a:cubicBezTo>
                <a:cubicBezTo>
                  <a:pt x="534" y="72"/>
                  <a:pt x="536" y="83"/>
                  <a:pt x="543" y="90"/>
                </a:cubicBezTo>
                <a:cubicBezTo>
                  <a:pt x="570" y="117"/>
                  <a:pt x="603" y="122"/>
                  <a:pt x="636" y="136"/>
                </a:cubicBezTo>
                <a:cubicBezTo>
                  <a:pt x="664" y="148"/>
                  <a:pt x="714" y="183"/>
                  <a:pt x="714" y="183"/>
                </a:cubicBezTo>
                <a:cubicBezTo>
                  <a:pt x="735" y="215"/>
                  <a:pt x="746" y="228"/>
                  <a:pt x="784" y="237"/>
                </a:cubicBezTo>
                <a:cubicBezTo>
                  <a:pt x="795" y="271"/>
                  <a:pt x="822" y="283"/>
                  <a:pt x="846" y="308"/>
                </a:cubicBezTo>
                <a:cubicBezTo>
                  <a:pt x="863" y="356"/>
                  <a:pt x="840" y="312"/>
                  <a:pt x="908" y="339"/>
                </a:cubicBezTo>
                <a:cubicBezTo>
                  <a:pt x="918" y="343"/>
                  <a:pt x="923" y="355"/>
                  <a:pt x="932" y="362"/>
                </a:cubicBezTo>
                <a:cubicBezTo>
                  <a:pt x="957" y="382"/>
                  <a:pt x="954" y="378"/>
                  <a:pt x="986" y="385"/>
                </a:cubicBezTo>
                <a:cubicBezTo>
                  <a:pt x="1015" y="400"/>
                  <a:pt x="1042" y="407"/>
                  <a:pt x="1072" y="417"/>
                </a:cubicBezTo>
                <a:cubicBezTo>
                  <a:pt x="1124" y="455"/>
                  <a:pt x="1151" y="512"/>
                  <a:pt x="1204" y="549"/>
                </a:cubicBezTo>
                <a:cubicBezTo>
                  <a:pt x="1217" y="587"/>
                  <a:pt x="1252" y="608"/>
                  <a:pt x="1274" y="642"/>
                </a:cubicBezTo>
                <a:cubicBezTo>
                  <a:pt x="1286" y="690"/>
                  <a:pt x="1303" y="716"/>
                  <a:pt x="1344" y="743"/>
                </a:cubicBezTo>
                <a:cubicBezTo>
                  <a:pt x="1360" y="774"/>
                  <a:pt x="1358" y="795"/>
                  <a:pt x="1391" y="806"/>
                </a:cubicBezTo>
                <a:cubicBezTo>
                  <a:pt x="1399" y="801"/>
                  <a:pt x="1414" y="790"/>
                  <a:pt x="1414" y="790"/>
                </a:cubicBezTo>
              </a:path>
            </a:pathLst>
          </a:custGeom>
          <a:noFill/>
          <a:ln w="38100" cmpd="sng">
            <a:solidFill>
              <a:srgbClr val="0000FF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3803" name="Freeform 11"/>
          <p:cNvSpPr/>
          <p:nvPr/>
        </p:nvSpPr>
        <p:spPr bwMode="auto">
          <a:xfrm>
            <a:off x="6261100" y="4794250"/>
            <a:ext cx="2540000" cy="438150"/>
          </a:xfrm>
          <a:custGeom>
            <a:avLst/>
            <a:gdLst/>
            <a:ahLst/>
            <a:cxnLst>
              <a:cxn ang="0">
                <a:pos x="1191" y="55"/>
              </a:cxn>
              <a:cxn ang="0">
                <a:pos x="1160" y="94"/>
              </a:cxn>
              <a:cxn ang="0">
                <a:pos x="1152" y="117"/>
              </a:cxn>
              <a:cxn ang="0">
                <a:pos x="1128" y="132"/>
              </a:cxn>
              <a:cxn ang="0">
                <a:pos x="887" y="218"/>
              </a:cxn>
              <a:cxn ang="0">
                <a:pos x="428" y="187"/>
              </a:cxn>
              <a:cxn ang="0">
                <a:pos x="156" y="86"/>
              </a:cxn>
              <a:cxn ang="0">
                <a:pos x="101" y="55"/>
              </a:cxn>
              <a:cxn ang="0">
                <a:pos x="54" y="39"/>
              </a:cxn>
              <a:cxn ang="0">
                <a:pos x="0" y="0"/>
              </a:cxn>
            </a:cxnLst>
            <a:rect l="0" t="0" r="r" b="b"/>
            <a:pathLst>
              <a:path w="1200" h="276">
                <a:moveTo>
                  <a:pt x="1191" y="55"/>
                </a:moveTo>
                <a:cubicBezTo>
                  <a:pt x="1171" y="113"/>
                  <a:pt x="1200" y="44"/>
                  <a:pt x="1160" y="94"/>
                </a:cubicBezTo>
                <a:cubicBezTo>
                  <a:pt x="1155" y="100"/>
                  <a:pt x="1157" y="111"/>
                  <a:pt x="1152" y="117"/>
                </a:cubicBezTo>
                <a:cubicBezTo>
                  <a:pt x="1146" y="124"/>
                  <a:pt x="1136" y="127"/>
                  <a:pt x="1128" y="132"/>
                </a:cubicBezTo>
                <a:cubicBezTo>
                  <a:pt x="1049" y="188"/>
                  <a:pt x="984" y="207"/>
                  <a:pt x="887" y="218"/>
                </a:cubicBezTo>
                <a:cubicBezTo>
                  <a:pt x="720" y="276"/>
                  <a:pt x="579" y="226"/>
                  <a:pt x="428" y="187"/>
                </a:cubicBezTo>
                <a:cubicBezTo>
                  <a:pt x="351" y="130"/>
                  <a:pt x="251" y="102"/>
                  <a:pt x="156" y="86"/>
                </a:cubicBezTo>
                <a:cubicBezTo>
                  <a:pt x="133" y="71"/>
                  <a:pt x="128" y="66"/>
                  <a:pt x="101" y="55"/>
                </a:cubicBezTo>
                <a:cubicBezTo>
                  <a:pt x="86" y="49"/>
                  <a:pt x="54" y="39"/>
                  <a:pt x="54" y="39"/>
                </a:cubicBezTo>
                <a:cubicBezTo>
                  <a:pt x="33" y="24"/>
                  <a:pt x="11" y="23"/>
                  <a:pt x="0" y="0"/>
                </a:cubicBezTo>
              </a:path>
            </a:pathLst>
          </a:custGeom>
          <a:noFill/>
          <a:ln w="38100" cmpd="sng">
            <a:solidFill>
              <a:srgbClr val="0000FF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3804" name="Line 12"/>
          <p:cNvSpPr>
            <a:spLocks noChangeShapeType="1"/>
          </p:cNvSpPr>
          <p:nvPr/>
        </p:nvSpPr>
        <p:spPr bwMode="auto">
          <a:xfrm flipH="1" flipV="1">
            <a:off x="6807200" y="4876800"/>
            <a:ext cx="1422400" cy="762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3805" name="Line 13"/>
          <p:cNvSpPr>
            <a:spLocks noChangeShapeType="1"/>
          </p:cNvSpPr>
          <p:nvPr/>
        </p:nvSpPr>
        <p:spPr bwMode="auto">
          <a:xfrm flipV="1">
            <a:off x="5791200" y="3505200"/>
            <a:ext cx="101600" cy="7620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3806" name="Line 14"/>
          <p:cNvSpPr>
            <a:spLocks noChangeShapeType="1"/>
          </p:cNvSpPr>
          <p:nvPr/>
        </p:nvSpPr>
        <p:spPr bwMode="auto">
          <a:xfrm>
            <a:off x="6908800" y="3352800"/>
            <a:ext cx="1117600" cy="6096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3807" name="Freeform 15"/>
          <p:cNvSpPr/>
          <p:nvPr/>
        </p:nvSpPr>
        <p:spPr bwMode="auto">
          <a:xfrm>
            <a:off x="8572501" y="3851275"/>
            <a:ext cx="421217" cy="77788"/>
          </a:xfrm>
          <a:custGeom>
            <a:avLst/>
            <a:gdLst/>
            <a:ahLst/>
            <a:cxnLst>
              <a:cxn ang="0">
                <a:pos x="5" y="34"/>
              </a:cxn>
              <a:cxn ang="0">
                <a:pos x="60" y="10"/>
              </a:cxn>
              <a:cxn ang="0">
                <a:pos x="36" y="26"/>
              </a:cxn>
              <a:cxn ang="0">
                <a:pos x="83" y="10"/>
              </a:cxn>
              <a:cxn ang="0">
                <a:pos x="184" y="41"/>
              </a:cxn>
              <a:cxn ang="0">
                <a:pos x="192" y="18"/>
              </a:cxn>
              <a:cxn ang="0">
                <a:pos x="169" y="34"/>
              </a:cxn>
              <a:cxn ang="0">
                <a:pos x="75" y="26"/>
              </a:cxn>
              <a:cxn ang="0">
                <a:pos x="29" y="34"/>
              </a:cxn>
              <a:cxn ang="0">
                <a:pos x="5" y="49"/>
              </a:cxn>
              <a:cxn ang="0">
                <a:pos x="5" y="34"/>
              </a:cxn>
            </a:cxnLst>
            <a:rect l="0" t="0" r="r" b="b"/>
            <a:pathLst>
              <a:path w="199" h="49">
                <a:moveTo>
                  <a:pt x="5" y="34"/>
                </a:moveTo>
                <a:cubicBezTo>
                  <a:pt x="16" y="0"/>
                  <a:pt x="27" y="0"/>
                  <a:pt x="60" y="10"/>
                </a:cubicBezTo>
                <a:cubicBezTo>
                  <a:pt x="52" y="15"/>
                  <a:pt x="26" y="26"/>
                  <a:pt x="36" y="26"/>
                </a:cubicBezTo>
                <a:cubicBezTo>
                  <a:pt x="53" y="26"/>
                  <a:pt x="83" y="10"/>
                  <a:pt x="83" y="10"/>
                </a:cubicBezTo>
                <a:cubicBezTo>
                  <a:pt x="117" y="21"/>
                  <a:pt x="150" y="31"/>
                  <a:pt x="184" y="41"/>
                </a:cubicBezTo>
                <a:cubicBezTo>
                  <a:pt x="187" y="33"/>
                  <a:pt x="199" y="21"/>
                  <a:pt x="192" y="18"/>
                </a:cubicBezTo>
                <a:cubicBezTo>
                  <a:pt x="184" y="14"/>
                  <a:pt x="178" y="33"/>
                  <a:pt x="169" y="34"/>
                </a:cubicBezTo>
                <a:cubicBezTo>
                  <a:pt x="138" y="36"/>
                  <a:pt x="106" y="29"/>
                  <a:pt x="75" y="26"/>
                </a:cubicBezTo>
                <a:cubicBezTo>
                  <a:pt x="60" y="29"/>
                  <a:pt x="44" y="29"/>
                  <a:pt x="29" y="34"/>
                </a:cubicBezTo>
                <a:cubicBezTo>
                  <a:pt x="20" y="37"/>
                  <a:pt x="14" y="49"/>
                  <a:pt x="5" y="49"/>
                </a:cubicBezTo>
                <a:cubicBezTo>
                  <a:pt x="0" y="49"/>
                  <a:pt x="5" y="39"/>
                  <a:pt x="5" y="34"/>
                </a:cubicBezTo>
                <a:close/>
              </a:path>
            </a:pathLst>
          </a:custGeom>
          <a:solidFill>
            <a:schemeClr val="accent1"/>
          </a:solidFill>
          <a:ln w="57150" cmpd="sng">
            <a:solidFill>
              <a:srgbClr val="FFFF00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3808" name="Line 16"/>
          <p:cNvSpPr>
            <a:spLocks noChangeShapeType="1"/>
          </p:cNvSpPr>
          <p:nvPr/>
        </p:nvSpPr>
        <p:spPr bwMode="auto">
          <a:xfrm flipV="1">
            <a:off x="87376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3809" name="Line 17"/>
          <p:cNvSpPr>
            <a:spLocks noChangeShapeType="1"/>
          </p:cNvSpPr>
          <p:nvPr/>
        </p:nvSpPr>
        <p:spPr bwMode="auto">
          <a:xfrm flipH="1" flipV="1">
            <a:off x="8229600" y="3124200"/>
            <a:ext cx="203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3810" name="Line 18"/>
          <p:cNvSpPr>
            <a:spLocks noChangeShapeType="1"/>
          </p:cNvSpPr>
          <p:nvPr/>
        </p:nvSpPr>
        <p:spPr bwMode="auto">
          <a:xfrm flipV="1">
            <a:off x="9144000" y="3124200"/>
            <a:ext cx="203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3811" name="Line 19"/>
          <p:cNvSpPr>
            <a:spLocks noChangeShapeType="1"/>
          </p:cNvSpPr>
          <p:nvPr/>
        </p:nvSpPr>
        <p:spPr bwMode="auto">
          <a:xfrm flipH="1" flipV="1">
            <a:off x="7924800" y="35052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3812" name="Line 20"/>
          <p:cNvSpPr>
            <a:spLocks noChangeShapeType="1"/>
          </p:cNvSpPr>
          <p:nvPr/>
        </p:nvSpPr>
        <p:spPr bwMode="auto">
          <a:xfrm flipV="1">
            <a:off x="9347200" y="3505200"/>
            <a:ext cx="406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1524000" y="609601"/>
            <a:ext cx="10464800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4000" dirty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  <a:t>Then if one light is gone the other can stay on.</a:t>
            </a:r>
            <a:endParaRPr lang="en-US" sz="4000" dirty="0">
              <a:solidFill>
                <a:srgbClr val="68007F">
                  <a:lumMod val="50000"/>
                </a:srgbClr>
              </a:solidFill>
              <a:latin typeface="Cambria" panose="02040503050406030204" pitchFamily="18" charset="0"/>
            </a:endParaRPr>
          </a:p>
        </p:txBody>
      </p:sp>
      <p:pic>
        <p:nvPicPr>
          <p:cNvPr id="37891" name="Picture 3" descr="e9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320800" y="4800600"/>
            <a:ext cx="2641600" cy="1079500"/>
          </a:xfrm>
          <a:prstGeom prst="rect">
            <a:avLst/>
          </a:prstGeom>
          <a:noFill/>
        </p:spPr>
      </p:pic>
      <p:sp>
        <p:nvSpPr>
          <p:cNvPr id="37892" name="Freeform 4"/>
          <p:cNvSpPr/>
          <p:nvPr/>
        </p:nvSpPr>
        <p:spPr bwMode="auto">
          <a:xfrm>
            <a:off x="1104900" y="4425951"/>
            <a:ext cx="4961467" cy="900113"/>
          </a:xfrm>
          <a:custGeom>
            <a:avLst/>
            <a:gdLst/>
            <a:ahLst/>
            <a:cxnLst>
              <a:cxn ang="0">
                <a:pos x="147" y="567"/>
              </a:cxn>
              <a:cxn ang="0">
                <a:pos x="77" y="543"/>
              </a:cxn>
              <a:cxn ang="0">
                <a:pos x="46" y="497"/>
              </a:cxn>
              <a:cxn ang="0">
                <a:pos x="0" y="388"/>
              </a:cxn>
              <a:cxn ang="0">
                <a:pos x="7" y="333"/>
              </a:cxn>
              <a:cxn ang="0">
                <a:pos x="31" y="310"/>
              </a:cxn>
              <a:cxn ang="0">
                <a:pos x="124" y="240"/>
              </a:cxn>
              <a:cxn ang="0">
                <a:pos x="202" y="193"/>
              </a:cxn>
              <a:cxn ang="0">
                <a:pos x="793" y="108"/>
              </a:cxn>
              <a:cxn ang="0">
                <a:pos x="879" y="84"/>
              </a:cxn>
              <a:cxn ang="0">
                <a:pos x="2047" y="53"/>
              </a:cxn>
              <a:cxn ang="0">
                <a:pos x="2148" y="6"/>
              </a:cxn>
              <a:cxn ang="0">
                <a:pos x="2280" y="14"/>
              </a:cxn>
              <a:cxn ang="0">
                <a:pos x="2311" y="61"/>
              </a:cxn>
              <a:cxn ang="0">
                <a:pos x="2335" y="69"/>
              </a:cxn>
              <a:cxn ang="0">
                <a:pos x="2342" y="76"/>
              </a:cxn>
            </a:cxnLst>
            <a:rect l="0" t="0" r="r" b="b"/>
            <a:pathLst>
              <a:path w="2344" h="567">
                <a:moveTo>
                  <a:pt x="147" y="567"/>
                </a:moveTo>
                <a:cubicBezTo>
                  <a:pt x="120" y="562"/>
                  <a:pt x="96" y="565"/>
                  <a:pt x="77" y="543"/>
                </a:cubicBezTo>
                <a:cubicBezTo>
                  <a:pt x="65" y="529"/>
                  <a:pt x="46" y="497"/>
                  <a:pt x="46" y="497"/>
                </a:cubicBezTo>
                <a:cubicBezTo>
                  <a:pt x="33" y="459"/>
                  <a:pt x="12" y="426"/>
                  <a:pt x="0" y="388"/>
                </a:cubicBezTo>
                <a:cubicBezTo>
                  <a:pt x="2" y="370"/>
                  <a:pt x="0" y="350"/>
                  <a:pt x="7" y="333"/>
                </a:cubicBezTo>
                <a:cubicBezTo>
                  <a:pt x="11" y="323"/>
                  <a:pt x="24" y="318"/>
                  <a:pt x="31" y="310"/>
                </a:cubicBezTo>
                <a:cubicBezTo>
                  <a:pt x="60" y="276"/>
                  <a:pt x="81" y="255"/>
                  <a:pt x="124" y="240"/>
                </a:cubicBezTo>
                <a:cubicBezTo>
                  <a:pt x="150" y="214"/>
                  <a:pt x="170" y="212"/>
                  <a:pt x="202" y="193"/>
                </a:cubicBezTo>
                <a:cubicBezTo>
                  <a:pt x="398" y="75"/>
                  <a:pt x="530" y="113"/>
                  <a:pt x="793" y="108"/>
                </a:cubicBezTo>
                <a:cubicBezTo>
                  <a:pt x="864" y="90"/>
                  <a:pt x="836" y="99"/>
                  <a:pt x="879" y="84"/>
                </a:cubicBezTo>
                <a:cubicBezTo>
                  <a:pt x="1259" y="139"/>
                  <a:pt x="1670" y="150"/>
                  <a:pt x="2047" y="53"/>
                </a:cubicBezTo>
                <a:cubicBezTo>
                  <a:pt x="2089" y="25"/>
                  <a:pt x="2103" y="21"/>
                  <a:pt x="2148" y="6"/>
                </a:cubicBezTo>
                <a:cubicBezTo>
                  <a:pt x="2192" y="9"/>
                  <a:pt x="2238" y="0"/>
                  <a:pt x="2280" y="14"/>
                </a:cubicBezTo>
                <a:cubicBezTo>
                  <a:pt x="2298" y="20"/>
                  <a:pt x="2293" y="55"/>
                  <a:pt x="2311" y="61"/>
                </a:cubicBezTo>
                <a:cubicBezTo>
                  <a:pt x="2319" y="64"/>
                  <a:pt x="2327" y="66"/>
                  <a:pt x="2335" y="69"/>
                </a:cubicBezTo>
                <a:cubicBezTo>
                  <a:pt x="2344" y="97"/>
                  <a:pt x="2342" y="100"/>
                  <a:pt x="2342" y="76"/>
                </a:cubicBezTo>
              </a:path>
            </a:pathLst>
          </a:custGeom>
          <a:noFill/>
          <a:ln w="28575" cmpd="sng">
            <a:solidFill>
              <a:srgbClr val="C00000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893" name="Freeform 5"/>
          <p:cNvSpPr/>
          <p:nvPr/>
        </p:nvSpPr>
        <p:spPr bwMode="auto">
          <a:xfrm>
            <a:off x="3793068" y="4806951"/>
            <a:ext cx="2468033" cy="506413"/>
          </a:xfrm>
          <a:custGeom>
            <a:avLst/>
            <a:gdLst/>
            <a:ahLst/>
            <a:cxnLst>
              <a:cxn ang="0">
                <a:pos x="1158" y="0"/>
              </a:cxn>
              <a:cxn ang="0">
                <a:pos x="1072" y="233"/>
              </a:cxn>
              <a:cxn ang="0">
                <a:pos x="956" y="311"/>
              </a:cxn>
              <a:cxn ang="0">
                <a:pos x="162" y="303"/>
              </a:cxn>
              <a:cxn ang="0">
                <a:pos x="22" y="311"/>
              </a:cxn>
              <a:cxn ang="0">
                <a:pos x="6" y="319"/>
              </a:cxn>
            </a:cxnLst>
            <a:rect l="0" t="0" r="r" b="b"/>
            <a:pathLst>
              <a:path w="1166" h="319">
                <a:moveTo>
                  <a:pt x="1158" y="0"/>
                </a:moveTo>
                <a:cubicBezTo>
                  <a:pt x="1154" y="71"/>
                  <a:pt x="1166" y="206"/>
                  <a:pt x="1072" y="233"/>
                </a:cubicBezTo>
                <a:cubicBezTo>
                  <a:pt x="1033" y="260"/>
                  <a:pt x="1002" y="295"/>
                  <a:pt x="956" y="311"/>
                </a:cubicBezTo>
                <a:cubicBezTo>
                  <a:pt x="691" y="308"/>
                  <a:pt x="427" y="303"/>
                  <a:pt x="162" y="303"/>
                </a:cubicBezTo>
                <a:cubicBezTo>
                  <a:pt x="115" y="303"/>
                  <a:pt x="69" y="306"/>
                  <a:pt x="22" y="311"/>
                </a:cubicBezTo>
                <a:cubicBezTo>
                  <a:pt x="16" y="312"/>
                  <a:pt x="0" y="319"/>
                  <a:pt x="6" y="319"/>
                </a:cubicBezTo>
              </a:path>
            </a:pathLst>
          </a:custGeom>
          <a:noFill/>
          <a:ln w="38100" cmpd="sng">
            <a:solidFill>
              <a:srgbClr val="C00000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894" name="Line 6"/>
          <p:cNvSpPr>
            <a:spLocks noChangeShapeType="1"/>
          </p:cNvSpPr>
          <p:nvPr/>
        </p:nvSpPr>
        <p:spPr bwMode="auto">
          <a:xfrm>
            <a:off x="2235200" y="4419600"/>
            <a:ext cx="28448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895" name="Line 7"/>
          <p:cNvSpPr>
            <a:spLocks noChangeShapeType="1"/>
          </p:cNvSpPr>
          <p:nvPr/>
        </p:nvSpPr>
        <p:spPr bwMode="auto">
          <a:xfrm flipH="1">
            <a:off x="3962400" y="5410200"/>
            <a:ext cx="1727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pic>
        <p:nvPicPr>
          <p:cNvPr id="37896" name="Picture 8" descr="385px-Incandescent_light_bulb_(no_labels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28000" y="3429000"/>
            <a:ext cx="1303867" cy="1524000"/>
          </a:xfrm>
          <a:prstGeom prst="rect">
            <a:avLst/>
          </a:prstGeom>
          <a:noFill/>
        </p:spPr>
      </p:pic>
      <p:sp>
        <p:nvSpPr>
          <p:cNvPr id="37897" name="Freeform 9"/>
          <p:cNvSpPr/>
          <p:nvPr/>
        </p:nvSpPr>
        <p:spPr bwMode="auto">
          <a:xfrm>
            <a:off x="5588001" y="3352801"/>
            <a:ext cx="2992967" cy="1279525"/>
          </a:xfrm>
          <a:custGeom>
            <a:avLst/>
            <a:gdLst/>
            <a:ahLst/>
            <a:cxnLst>
              <a:cxn ang="0">
                <a:pos x="223" y="751"/>
              </a:cxn>
              <a:cxn ang="0">
                <a:pos x="91" y="642"/>
              </a:cxn>
              <a:cxn ang="0">
                <a:pos x="76" y="619"/>
              </a:cxn>
              <a:cxn ang="0">
                <a:pos x="52" y="596"/>
              </a:cxn>
              <a:cxn ang="0">
                <a:pos x="21" y="541"/>
              </a:cxn>
              <a:cxn ang="0">
                <a:pos x="21" y="253"/>
              </a:cxn>
              <a:cxn ang="0">
                <a:pos x="60" y="144"/>
              </a:cxn>
              <a:cxn ang="0">
                <a:pos x="216" y="43"/>
              </a:cxn>
              <a:cxn ang="0">
                <a:pos x="527" y="66"/>
              </a:cxn>
              <a:cxn ang="0">
                <a:pos x="543" y="90"/>
              </a:cxn>
              <a:cxn ang="0">
                <a:pos x="636" y="136"/>
              </a:cxn>
              <a:cxn ang="0">
                <a:pos x="714" y="183"/>
              </a:cxn>
              <a:cxn ang="0">
                <a:pos x="784" y="237"/>
              </a:cxn>
              <a:cxn ang="0">
                <a:pos x="846" y="308"/>
              </a:cxn>
              <a:cxn ang="0">
                <a:pos x="908" y="339"/>
              </a:cxn>
              <a:cxn ang="0">
                <a:pos x="932" y="362"/>
              </a:cxn>
              <a:cxn ang="0">
                <a:pos x="986" y="385"/>
              </a:cxn>
              <a:cxn ang="0">
                <a:pos x="1072" y="417"/>
              </a:cxn>
              <a:cxn ang="0">
                <a:pos x="1204" y="549"/>
              </a:cxn>
              <a:cxn ang="0">
                <a:pos x="1274" y="642"/>
              </a:cxn>
              <a:cxn ang="0">
                <a:pos x="1344" y="743"/>
              </a:cxn>
              <a:cxn ang="0">
                <a:pos x="1391" y="806"/>
              </a:cxn>
              <a:cxn ang="0">
                <a:pos x="1414" y="790"/>
              </a:cxn>
            </a:cxnLst>
            <a:rect l="0" t="0" r="r" b="b"/>
            <a:pathLst>
              <a:path w="1414" h="806">
                <a:moveTo>
                  <a:pt x="223" y="751"/>
                </a:moveTo>
                <a:cubicBezTo>
                  <a:pt x="175" y="703"/>
                  <a:pt x="155" y="675"/>
                  <a:pt x="91" y="642"/>
                </a:cubicBezTo>
                <a:cubicBezTo>
                  <a:pt x="86" y="634"/>
                  <a:pt x="82" y="626"/>
                  <a:pt x="76" y="619"/>
                </a:cubicBezTo>
                <a:cubicBezTo>
                  <a:pt x="69" y="611"/>
                  <a:pt x="58" y="605"/>
                  <a:pt x="52" y="596"/>
                </a:cubicBezTo>
                <a:cubicBezTo>
                  <a:pt x="40" y="579"/>
                  <a:pt x="33" y="558"/>
                  <a:pt x="21" y="541"/>
                </a:cubicBezTo>
                <a:cubicBezTo>
                  <a:pt x="0" y="419"/>
                  <a:pt x="9" y="489"/>
                  <a:pt x="21" y="253"/>
                </a:cubicBezTo>
                <a:cubicBezTo>
                  <a:pt x="24" y="200"/>
                  <a:pt x="20" y="172"/>
                  <a:pt x="60" y="144"/>
                </a:cubicBezTo>
                <a:cubicBezTo>
                  <a:pt x="108" y="74"/>
                  <a:pt x="129" y="56"/>
                  <a:pt x="216" y="43"/>
                </a:cubicBezTo>
                <a:cubicBezTo>
                  <a:pt x="320" y="48"/>
                  <a:pt x="447" y="0"/>
                  <a:pt x="527" y="66"/>
                </a:cubicBezTo>
                <a:cubicBezTo>
                  <a:pt x="534" y="72"/>
                  <a:pt x="536" y="83"/>
                  <a:pt x="543" y="90"/>
                </a:cubicBezTo>
                <a:cubicBezTo>
                  <a:pt x="570" y="117"/>
                  <a:pt x="603" y="122"/>
                  <a:pt x="636" y="136"/>
                </a:cubicBezTo>
                <a:cubicBezTo>
                  <a:pt x="664" y="148"/>
                  <a:pt x="714" y="183"/>
                  <a:pt x="714" y="183"/>
                </a:cubicBezTo>
                <a:cubicBezTo>
                  <a:pt x="735" y="215"/>
                  <a:pt x="746" y="228"/>
                  <a:pt x="784" y="237"/>
                </a:cubicBezTo>
                <a:cubicBezTo>
                  <a:pt x="795" y="271"/>
                  <a:pt x="822" y="283"/>
                  <a:pt x="846" y="308"/>
                </a:cubicBezTo>
                <a:cubicBezTo>
                  <a:pt x="863" y="356"/>
                  <a:pt x="840" y="312"/>
                  <a:pt x="908" y="339"/>
                </a:cubicBezTo>
                <a:cubicBezTo>
                  <a:pt x="918" y="343"/>
                  <a:pt x="923" y="355"/>
                  <a:pt x="932" y="362"/>
                </a:cubicBezTo>
                <a:cubicBezTo>
                  <a:pt x="957" y="382"/>
                  <a:pt x="954" y="378"/>
                  <a:pt x="986" y="385"/>
                </a:cubicBezTo>
                <a:cubicBezTo>
                  <a:pt x="1015" y="400"/>
                  <a:pt x="1042" y="407"/>
                  <a:pt x="1072" y="417"/>
                </a:cubicBezTo>
                <a:cubicBezTo>
                  <a:pt x="1124" y="455"/>
                  <a:pt x="1151" y="512"/>
                  <a:pt x="1204" y="549"/>
                </a:cubicBezTo>
                <a:cubicBezTo>
                  <a:pt x="1217" y="587"/>
                  <a:pt x="1252" y="608"/>
                  <a:pt x="1274" y="642"/>
                </a:cubicBezTo>
                <a:cubicBezTo>
                  <a:pt x="1286" y="690"/>
                  <a:pt x="1303" y="716"/>
                  <a:pt x="1344" y="743"/>
                </a:cubicBezTo>
                <a:cubicBezTo>
                  <a:pt x="1360" y="774"/>
                  <a:pt x="1358" y="795"/>
                  <a:pt x="1391" y="806"/>
                </a:cubicBezTo>
                <a:cubicBezTo>
                  <a:pt x="1399" y="801"/>
                  <a:pt x="1414" y="790"/>
                  <a:pt x="1414" y="790"/>
                </a:cubicBezTo>
              </a:path>
            </a:pathLst>
          </a:custGeom>
          <a:noFill/>
          <a:ln w="38100" cmpd="sng">
            <a:solidFill>
              <a:srgbClr val="0000FF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898" name="Freeform 10"/>
          <p:cNvSpPr/>
          <p:nvPr/>
        </p:nvSpPr>
        <p:spPr bwMode="auto">
          <a:xfrm>
            <a:off x="6261100" y="4794250"/>
            <a:ext cx="2540000" cy="438150"/>
          </a:xfrm>
          <a:custGeom>
            <a:avLst/>
            <a:gdLst/>
            <a:ahLst/>
            <a:cxnLst>
              <a:cxn ang="0">
                <a:pos x="1191" y="55"/>
              </a:cxn>
              <a:cxn ang="0">
                <a:pos x="1160" y="94"/>
              </a:cxn>
              <a:cxn ang="0">
                <a:pos x="1152" y="117"/>
              </a:cxn>
              <a:cxn ang="0">
                <a:pos x="1128" y="132"/>
              </a:cxn>
              <a:cxn ang="0">
                <a:pos x="887" y="218"/>
              </a:cxn>
              <a:cxn ang="0">
                <a:pos x="428" y="187"/>
              </a:cxn>
              <a:cxn ang="0">
                <a:pos x="156" y="86"/>
              </a:cxn>
              <a:cxn ang="0">
                <a:pos x="101" y="55"/>
              </a:cxn>
              <a:cxn ang="0">
                <a:pos x="54" y="39"/>
              </a:cxn>
              <a:cxn ang="0">
                <a:pos x="0" y="0"/>
              </a:cxn>
            </a:cxnLst>
            <a:rect l="0" t="0" r="r" b="b"/>
            <a:pathLst>
              <a:path w="1200" h="276">
                <a:moveTo>
                  <a:pt x="1191" y="55"/>
                </a:moveTo>
                <a:cubicBezTo>
                  <a:pt x="1171" y="113"/>
                  <a:pt x="1200" y="44"/>
                  <a:pt x="1160" y="94"/>
                </a:cubicBezTo>
                <a:cubicBezTo>
                  <a:pt x="1155" y="100"/>
                  <a:pt x="1157" y="111"/>
                  <a:pt x="1152" y="117"/>
                </a:cubicBezTo>
                <a:cubicBezTo>
                  <a:pt x="1146" y="124"/>
                  <a:pt x="1136" y="127"/>
                  <a:pt x="1128" y="132"/>
                </a:cubicBezTo>
                <a:cubicBezTo>
                  <a:pt x="1049" y="188"/>
                  <a:pt x="984" y="207"/>
                  <a:pt x="887" y="218"/>
                </a:cubicBezTo>
                <a:cubicBezTo>
                  <a:pt x="720" y="276"/>
                  <a:pt x="579" y="226"/>
                  <a:pt x="428" y="187"/>
                </a:cubicBezTo>
                <a:cubicBezTo>
                  <a:pt x="351" y="130"/>
                  <a:pt x="251" y="102"/>
                  <a:pt x="156" y="86"/>
                </a:cubicBezTo>
                <a:cubicBezTo>
                  <a:pt x="133" y="71"/>
                  <a:pt x="128" y="66"/>
                  <a:pt x="101" y="55"/>
                </a:cubicBezTo>
                <a:cubicBezTo>
                  <a:pt x="86" y="49"/>
                  <a:pt x="54" y="39"/>
                  <a:pt x="54" y="39"/>
                </a:cubicBezTo>
                <a:cubicBezTo>
                  <a:pt x="33" y="24"/>
                  <a:pt x="11" y="23"/>
                  <a:pt x="0" y="0"/>
                </a:cubicBezTo>
              </a:path>
            </a:pathLst>
          </a:custGeom>
          <a:noFill/>
          <a:ln w="38100" cmpd="sng">
            <a:solidFill>
              <a:srgbClr val="0000FF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899" name="Line 11"/>
          <p:cNvSpPr>
            <a:spLocks noChangeShapeType="1"/>
          </p:cNvSpPr>
          <p:nvPr/>
        </p:nvSpPr>
        <p:spPr bwMode="auto">
          <a:xfrm flipH="1" flipV="1">
            <a:off x="6807200" y="4876800"/>
            <a:ext cx="1422400" cy="762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900" name="Line 12"/>
          <p:cNvSpPr>
            <a:spLocks noChangeShapeType="1"/>
          </p:cNvSpPr>
          <p:nvPr/>
        </p:nvSpPr>
        <p:spPr bwMode="auto">
          <a:xfrm flipV="1">
            <a:off x="5791200" y="3505200"/>
            <a:ext cx="101600" cy="7620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>
            <a:off x="6908800" y="3352800"/>
            <a:ext cx="1117600" cy="6096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902" name="Freeform 14"/>
          <p:cNvSpPr/>
          <p:nvPr/>
        </p:nvSpPr>
        <p:spPr bwMode="auto">
          <a:xfrm>
            <a:off x="8572501" y="3851275"/>
            <a:ext cx="421217" cy="77788"/>
          </a:xfrm>
          <a:custGeom>
            <a:avLst/>
            <a:gdLst/>
            <a:ahLst/>
            <a:cxnLst>
              <a:cxn ang="0">
                <a:pos x="5" y="34"/>
              </a:cxn>
              <a:cxn ang="0">
                <a:pos x="60" y="10"/>
              </a:cxn>
              <a:cxn ang="0">
                <a:pos x="36" y="26"/>
              </a:cxn>
              <a:cxn ang="0">
                <a:pos x="83" y="10"/>
              </a:cxn>
              <a:cxn ang="0">
                <a:pos x="184" y="41"/>
              </a:cxn>
              <a:cxn ang="0">
                <a:pos x="192" y="18"/>
              </a:cxn>
              <a:cxn ang="0">
                <a:pos x="169" y="34"/>
              </a:cxn>
              <a:cxn ang="0">
                <a:pos x="75" y="26"/>
              </a:cxn>
              <a:cxn ang="0">
                <a:pos x="29" y="34"/>
              </a:cxn>
              <a:cxn ang="0">
                <a:pos x="5" y="49"/>
              </a:cxn>
              <a:cxn ang="0">
                <a:pos x="5" y="34"/>
              </a:cxn>
            </a:cxnLst>
            <a:rect l="0" t="0" r="r" b="b"/>
            <a:pathLst>
              <a:path w="199" h="49">
                <a:moveTo>
                  <a:pt x="5" y="34"/>
                </a:moveTo>
                <a:cubicBezTo>
                  <a:pt x="16" y="0"/>
                  <a:pt x="27" y="0"/>
                  <a:pt x="60" y="10"/>
                </a:cubicBezTo>
                <a:cubicBezTo>
                  <a:pt x="52" y="15"/>
                  <a:pt x="26" y="26"/>
                  <a:pt x="36" y="26"/>
                </a:cubicBezTo>
                <a:cubicBezTo>
                  <a:pt x="53" y="26"/>
                  <a:pt x="83" y="10"/>
                  <a:pt x="83" y="10"/>
                </a:cubicBezTo>
                <a:cubicBezTo>
                  <a:pt x="117" y="21"/>
                  <a:pt x="150" y="31"/>
                  <a:pt x="184" y="41"/>
                </a:cubicBezTo>
                <a:cubicBezTo>
                  <a:pt x="187" y="33"/>
                  <a:pt x="199" y="21"/>
                  <a:pt x="192" y="18"/>
                </a:cubicBezTo>
                <a:cubicBezTo>
                  <a:pt x="184" y="14"/>
                  <a:pt x="178" y="33"/>
                  <a:pt x="169" y="34"/>
                </a:cubicBezTo>
                <a:cubicBezTo>
                  <a:pt x="138" y="36"/>
                  <a:pt x="106" y="29"/>
                  <a:pt x="75" y="26"/>
                </a:cubicBezTo>
                <a:cubicBezTo>
                  <a:pt x="60" y="29"/>
                  <a:pt x="44" y="29"/>
                  <a:pt x="29" y="34"/>
                </a:cubicBezTo>
                <a:cubicBezTo>
                  <a:pt x="20" y="37"/>
                  <a:pt x="14" y="49"/>
                  <a:pt x="5" y="49"/>
                </a:cubicBezTo>
                <a:cubicBezTo>
                  <a:pt x="0" y="49"/>
                  <a:pt x="5" y="39"/>
                  <a:pt x="5" y="34"/>
                </a:cubicBezTo>
                <a:close/>
              </a:path>
            </a:pathLst>
          </a:custGeom>
          <a:solidFill>
            <a:schemeClr val="accent1"/>
          </a:solidFill>
          <a:ln w="57150" cmpd="sng">
            <a:solidFill>
              <a:srgbClr val="FFFF00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903" name="Line 15"/>
          <p:cNvSpPr>
            <a:spLocks noChangeShapeType="1"/>
          </p:cNvSpPr>
          <p:nvPr/>
        </p:nvSpPr>
        <p:spPr bwMode="auto">
          <a:xfrm flipV="1">
            <a:off x="87376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904" name="Line 16"/>
          <p:cNvSpPr>
            <a:spLocks noChangeShapeType="1"/>
          </p:cNvSpPr>
          <p:nvPr/>
        </p:nvSpPr>
        <p:spPr bwMode="auto">
          <a:xfrm flipH="1" flipV="1">
            <a:off x="8229600" y="3124200"/>
            <a:ext cx="203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905" name="Line 17"/>
          <p:cNvSpPr>
            <a:spLocks noChangeShapeType="1"/>
          </p:cNvSpPr>
          <p:nvPr/>
        </p:nvSpPr>
        <p:spPr bwMode="auto">
          <a:xfrm flipV="1">
            <a:off x="9144000" y="3124200"/>
            <a:ext cx="203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906" name="Line 18"/>
          <p:cNvSpPr>
            <a:spLocks noChangeShapeType="1"/>
          </p:cNvSpPr>
          <p:nvPr/>
        </p:nvSpPr>
        <p:spPr bwMode="auto">
          <a:xfrm flipH="1" flipV="1">
            <a:off x="7924800" y="35052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907" name="Line 19"/>
          <p:cNvSpPr>
            <a:spLocks noChangeShapeType="1"/>
          </p:cNvSpPr>
          <p:nvPr/>
        </p:nvSpPr>
        <p:spPr bwMode="auto">
          <a:xfrm flipV="1">
            <a:off x="9347200" y="3505200"/>
            <a:ext cx="406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908" name="Text Box 20"/>
          <p:cNvSpPr txBox="1">
            <a:spLocks noChangeArrowheads="1"/>
          </p:cNvSpPr>
          <p:nvPr/>
        </p:nvSpPr>
        <p:spPr bwMode="auto">
          <a:xfrm>
            <a:off x="5283200" y="5181600"/>
            <a:ext cx="6908800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3200" dirty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  <a:t>        This is called a</a:t>
            </a:r>
            <a:r>
              <a:rPr lang="en-US" sz="2400" dirty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  <a:t> </a:t>
            </a:r>
            <a:r>
              <a:rPr lang="en-US" sz="6000" dirty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  <a:t>parallel circuit.</a:t>
            </a:r>
            <a:endParaRPr lang="en-US" sz="6000" dirty="0">
              <a:solidFill>
                <a:srgbClr val="68007F">
                  <a:lumMod val="50000"/>
                </a:srgbClr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50838"/>
            <a:ext cx="7315200" cy="715962"/>
          </a:xfrm>
        </p:spPr>
        <p:txBody>
          <a:bodyPr/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</a:rPr>
              <a:t>Parallel circuit </a:t>
            </a:r>
            <a:endParaRPr lang="en-US" dirty="0" smtClean="0">
              <a:solidFill>
                <a:schemeClr val="accent4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58851" y="1600200"/>
            <a:ext cx="9793816" cy="2260600"/>
          </a:xfrm>
        </p:spPr>
        <p:txBody>
          <a:bodyPr/>
          <a:lstStyle/>
          <a:p>
            <a:pPr eaLnBrk="1" hangingPunct="1"/>
            <a:r>
              <a:rPr lang="en-US" sz="2800" dirty="0" smtClean="0">
                <a:latin typeface="Cambria" panose="02040503050406030204" pitchFamily="18" charset="0"/>
              </a:rPr>
              <a:t>There is </a:t>
            </a:r>
            <a:r>
              <a:rPr lang="en-US" sz="2800" u="sng" dirty="0" smtClean="0">
                <a:latin typeface="Cambria" panose="02040503050406030204" pitchFamily="18" charset="0"/>
              </a:rPr>
              <a:t>more than one path</a:t>
            </a:r>
            <a:r>
              <a:rPr lang="en-US" sz="2800" dirty="0" smtClean="0">
                <a:latin typeface="Cambria" panose="02040503050406030204" pitchFamily="18" charset="0"/>
              </a:rPr>
              <a:t> for the current to flow through. </a:t>
            </a:r>
            <a:endParaRPr lang="en-US" sz="2800" dirty="0" smtClean="0">
              <a:latin typeface="Cambria" panose="02040503050406030204" pitchFamily="18" charset="0"/>
            </a:endParaRPr>
          </a:p>
          <a:p>
            <a:pPr eaLnBrk="1" hangingPunct="1"/>
            <a:r>
              <a:rPr lang="en-US" sz="2800" u="sng" dirty="0" smtClean="0">
                <a:latin typeface="Cambria" panose="02040503050406030204" pitchFamily="18" charset="0"/>
              </a:rPr>
              <a:t>Some</a:t>
            </a:r>
            <a:r>
              <a:rPr lang="en-US" sz="2800" dirty="0" smtClean="0">
                <a:latin typeface="Cambria" panose="02040503050406030204" pitchFamily="18" charset="0"/>
              </a:rPr>
              <a:t> current </a:t>
            </a:r>
            <a:r>
              <a:rPr lang="en-US" sz="2800" u="sng" dirty="0" smtClean="0">
                <a:latin typeface="Cambria" panose="02040503050406030204" pitchFamily="18" charset="0"/>
              </a:rPr>
              <a:t>passes through one bulb</a:t>
            </a:r>
            <a:r>
              <a:rPr lang="en-US" sz="2800" dirty="0" smtClean="0">
                <a:latin typeface="Cambria" panose="02040503050406030204" pitchFamily="18" charset="0"/>
              </a:rPr>
              <a:t> and </a:t>
            </a:r>
            <a:r>
              <a:rPr lang="en-US" sz="2800" u="sng" dirty="0" smtClean="0">
                <a:latin typeface="Cambria" panose="02040503050406030204" pitchFamily="18" charset="0"/>
              </a:rPr>
              <a:t>the rest flows through the other bulb</a:t>
            </a:r>
            <a:r>
              <a:rPr lang="en-US" sz="2800" dirty="0" smtClean="0">
                <a:latin typeface="Cambria" panose="02040503050406030204" pitchFamily="18" charset="0"/>
              </a:rPr>
              <a:t>. </a:t>
            </a:r>
            <a:endParaRPr lang="en-US" sz="2800" dirty="0" smtClean="0">
              <a:latin typeface="Cambria" panose="02040503050406030204" pitchFamily="18" charset="0"/>
            </a:endParaRPr>
          </a:p>
          <a:p>
            <a:pPr eaLnBrk="1" hangingPunct="1"/>
            <a:endParaRPr lang="en-US" sz="2800" dirty="0" smtClean="0"/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3581400"/>
            <a:ext cx="12192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physicsclassroom.com/class/circuits/u9l4b7.gif"/>
          <p:cNvPicPr>
            <a:picLocks noChangeAspect="1" noChangeArrowheads="1"/>
          </p:cNvPicPr>
          <p:nvPr/>
        </p:nvPicPr>
        <p:blipFill>
          <a:blip r:embed="rId2" cstate="print"/>
          <a:srcRect l="61003" t="12500"/>
          <a:stretch>
            <a:fillRect/>
          </a:stretch>
        </p:blipFill>
        <p:spPr bwMode="auto">
          <a:xfrm>
            <a:off x="0" y="3200400"/>
            <a:ext cx="2438400" cy="3657600"/>
          </a:xfrm>
          <a:prstGeom prst="rect">
            <a:avLst/>
          </a:prstGeom>
          <a:noFill/>
        </p:spPr>
      </p:pic>
      <p:sp>
        <p:nvSpPr>
          <p:cNvPr id="3" name="مربع نص 2"/>
          <p:cNvSpPr txBox="1"/>
          <p:nvPr/>
        </p:nvSpPr>
        <p:spPr>
          <a:xfrm>
            <a:off x="2540000" y="1"/>
            <a:ext cx="9652000" cy="63863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id-ID" sz="27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Disadventages</a:t>
            </a:r>
            <a:r>
              <a:rPr lang="en-US" sz="27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id-ID" sz="27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of</a:t>
            </a:r>
            <a:r>
              <a:rPr lang="en-US" sz="27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 series circuit are:</a:t>
            </a:r>
            <a:endParaRPr lang="en-US" sz="2700" b="1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z="2700" b="1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700" dirty="0" smtClean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  <a:t>If one lamp removed (dropped) then other</a:t>
            </a:r>
            <a:br>
              <a:rPr lang="id-ID" sz="2700" dirty="0" smtClean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</a:br>
            <a:r>
              <a:rPr lang="en-US" sz="2700" dirty="0" smtClean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  <a:t>lights </a:t>
            </a:r>
            <a:r>
              <a:rPr lang="id-ID" sz="2700" dirty="0" smtClean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  <a:t> </a:t>
            </a:r>
            <a:r>
              <a:rPr lang="en-US" sz="2700" dirty="0" smtClean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  <a:t>go out.</a:t>
            </a:r>
            <a:endParaRPr lang="id-ID" sz="2700" dirty="0" smtClean="0">
              <a:solidFill>
                <a:srgbClr val="68007F">
                  <a:lumMod val="50000"/>
                </a:srgbClr>
              </a:solidFill>
              <a:latin typeface="Cambria" panose="020405030504060302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700" dirty="0" smtClean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  <a:t>Flame lights with each other is not as obvious.</a:t>
            </a:r>
            <a:endParaRPr lang="id-ID" sz="2700" dirty="0" smtClean="0">
              <a:solidFill>
                <a:srgbClr val="68007F">
                  <a:lumMod val="50000"/>
                </a:srgbClr>
              </a:solidFill>
              <a:latin typeface="Cambria" panose="020405030504060302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700" dirty="0" smtClean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  <a:t>The farther from the </a:t>
            </a:r>
            <a:r>
              <a:rPr lang="id-ID" sz="2700" dirty="0" smtClean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  <a:t>power source</a:t>
            </a:r>
            <a:r>
              <a:rPr lang="en-US" sz="2700" dirty="0" smtClean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  <a:t> increasingly dim lights.</a:t>
            </a:r>
            <a:endParaRPr lang="en-US" sz="2700" b="1" dirty="0" smtClean="0">
              <a:solidFill>
                <a:srgbClr val="68007F">
                  <a:lumMod val="50000"/>
                </a:srgbClr>
              </a:solidFill>
              <a:latin typeface="Cambria" panose="020405030504060302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z="2700" b="1" dirty="0" smtClean="0">
              <a:solidFill>
                <a:srgbClr val="68007F">
                  <a:lumMod val="50000"/>
                </a:srgbClr>
              </a:solidFill>
              <a:latin typeface="Cambria" panose="020405030504060302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id-ID" sz="2700" b="1" dirty="0" smtClean="0">
                <a:solidFill>
                  <a:srgbClr val="00B050"/>
                </a:solidFill>
                <a:latin typeface="Cambria" panose="02040503050406030204" pitchFamily="18" charset="0"/>
              </a:rPr>
              <a:t>Adventage of </a:t>
            </a:r>
            <a:r>
              <a:rPr lang="en-US" sz="2700" b="1" dirty="0" smtClean="0">
                <a:solidFill>
                  <a:srgbClr val="00B050"/>
                </a:solidFill>
                <a:latin typeface="Cambria" panose="02040503050406030204" pitchFamily="18" charset="0"/>
              </a:rPr>
              <a:t>series circuit </a:t>
            </a:r>
            <a:r>
              <a:rPr lang="id-ID" sz="2700" b="1" dirty="0" smtClean="0">
                <a:solidFill>
                  <a:srgbClr val="00B050"/>
                </a:solidFill>
                <a:latin typeface="Cambria" panose="02040503050406030204" pitchFamily="18" charset="0"/>
              </a:rPr>
              <a:t>is</a:t>
            </a:r>
            <a:r>
              <a:rPr lang="en-US" sz="2700" b="1" dirty="0" smtClean="0">
                <a:solidFill>
                  <a:srgbClr val="00B050"/>
                </a:solidFill>
                <a:latin typeface="Cambria" panose="02040503050406030204" pitchFamily="18" charset="0"/>
              </a:rPr>
              <a:t>:</a:t>
            </a:r>
            <a:endParaRPr lang="en-US" sz="2700" b="1" dirty="0" smtClean="0">
              <a:solidFill>
                <a:srgbClr val="00B050"/>
              </a:solidFill>
              <a:latin typeface="Cambria" panose="020405030504060302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id-ID" sz="2700" b="1" dirty="0" smtClean="0">
              <a:solidFill>
                <a:srgbClr val="00B050"/>
              </a:solidFill>
              <a:latin typeface="Cambria" panose="020405030504060302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700" dirty="0" smtClean="0">
                <a:solidFill>
                  <a:srgbClr val="68007F">
                    <a:lumMod val="50000"/>
                  </a:srgbClr>
                </a:solidFill>
                <a:latin typeface="Cambria" panose="02040503050406030204" pitchFamily="18" charset="0"/>
              </a:rPr>
              <a:t>Saving wiring and switch (cost-effective).</a:t>
            </a:r>
            <a:endParaRPr lang="en-US" sz="2700" dirty="0" smtClean="0">
              <a:solidFill>
                <a:srgbClr val="68007F">
                  <a:lumMod val="50000"/>
                </a:srgbClr>
              </a:solidFill>
              <a:latin typeface="Cambria" panose="020405030504060302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rgbClr val="68007F">
                    <a:lumMod val="50000"/>
                  </a:srgbClr>
                </a:solidFill>
                <a:latin typeface="Arial" panose="020B0604020202020204" pitchFamily="34" charset="0"/>
              </a:rPr>
              <a:t>If several lamps are connected in series they will all be switched on and off together by a switch connected anywhere in the circuit.</a:t>
            </a:r>
            <a:endParaRPr lang="en-US" sz="2800" dirty="0" smtClean="0">
              <a:solidFill>
                <a:srgbClr val="68007F">
                  <a:lumMod val="50000"/>
                </a:srgbClr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id-ID" sz="2700" dirty="0" smtClean="0">
              <a:solidFill>
                <a:srgbClr val="68007F">
                  <a:lumMod val="50000"/>
                </a:srgbClr>
              </a:solidFill>
              <a:latin typeface="Cambria" panose="020405030504060302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800" dirty="0">
              <a:solidFill>
                <a:srgbClr val="68007F">
                  <a:lumMod val="50000"/>
                </a:srgbClr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400" y="316865"/>
            <a:ext cx="10501630" cy="63404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www.physicsclassroom.com/class/circuits/u9l4b7.gif"/>
          <p:cNvPicPr>
            <a:picLocks noChangeAspect="1" noChangeArrowheads="1"/>
          </p:cNvPicPr>
          <p:nvPr/>
        </p:nvPicPr>
        <p:blipFill>
          <a:blip r:embed="rId2" cstate="print"/>
          <a:srcRect t="12500" r="52228"/>
          <a:stretch>
            <a:fillRect/>
          </a:stretch>
        </p:blipFill>
        <p:spPr bwMode="auto">
          <a:xfrm>
            <a:off x="0" y="2590800"/>
            <a:ext cx="2438400" cy="4267200"/>
          </a:xfrm>
          <a:prstGeom prst="rect">
            <a:avLst/>
          </a:prstGeom>
          <a:noFill/>
        </p:spPr>
      </p:pic>
      <p:sp>
        <p:nvSpPr>
          <p:cNvPr id="3" name="Content Placeholder 2"/>
          <p:cNvSpPr txBox="1"/>
          <p:nvPr/>
        </p:nvSpPr>
        <p:spPr>
          <a:xfrm>
            <a:off x="2336800" y="0"/>
            <a:ext cx="9855200" cy="6858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/>
            </a:pPr>
            <a:r>
              <a:rPr lang="id-ID" sz="2700" b="1" kern="0" dirty="0" smtClean="0">
                <a:solidFill>
                  <a:srgbClr val="FF0000"/>
                </a:solidFill>
              </a:rPr>
              <a:t>Disadventage </a:t>
            </a:r>
            <a:r>
              <a:rPr lang="en-US" sz="2700" b="1" kern="0" dirty="0" smtClean="0">
                <a:solidFill>
                  <a:srgbClr val="FF0000"/>
                </a:solidFill>
              </a:rPr>
              <a:t>of parallel electrical circuit </a:t>
            </a:r>
            <a:r>
              <a:rPr lang="id-ID" sz="2700" b="1" kern="0" dirty="0" smtClean="0">
                <a:solidFill>
                  <a:srgbClr val="FF0000"/>
                </a:solidFill>
              </a:rPr>
              <a:t>is</a:t>
            </a:r>
            <a:r>
              <a:rPr lang="en-US" sz="2700" b="1" kern="0" dirty="0" smtClean="0">
                <a:solidFill>
                  <a:srgbClr val="FF0000"/>
                </a:solidFill>
              </a:rPr>
              <a:t>:</a:t>
            </a:r>
            <a:endParaRPr lang="en-US" sz="2700" b="1" kern="0" dirty="0" smtClean="0">
              <a:solidFill>
                <a:srgbClr val="FF0000"/>
              </a:solidFill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endParaRPr lang="id-ID" sz="2700" b="1" kern="0" dirty="0" smtClean="0">
              <a:solidFill>
                <a:srgbClr val="FF0000"/>
              </a:solidFill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700" kern="0" dirty="0" smtClean="0">
                <a:solidFill>
                  <a:srgbClr val="68007F">
                    <a:lumMod val="50000"/>
                  </a:srgbClr>
                </a:solidFill>
              </a:rPr>
              <a:t> Wasteful cable and switch.</a:t>
            </a:r>
            <a:endParaRPr lang="en-US" sz="2700" kern="0" dirty="0" smtClean="0">
              <a:solidFill>
                <a:srgbClr val="68007F">
                  <a:lumMod val="50000"/>
                </a:srgbClr>
              </a:solidFill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defRPr/>
            </a:pPr>
            <a:br>
              <a:rPr lang="en-US" sz="2700" kern="0" dirty="0" smtClean="0">
                <a:solidFill>
                  <a:srgbClr val="68007F">
                    <a:lumMod val="50000"/>
                  </a:srgbClr>
                </a:solidFill>
              </a:rPr>
            </a:br>
            <a:endParaRPr lang="id-ID" sz="2700" kern="0" dirty="0" smtClean="0">
              <a:solidFill>
                <a:srgbClr val="68007F">
                  <a:lumMod val="50000"/>
                </a:srgbClr>
              </a:solidFill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/>
            </a:pPr>
            <a:r>
              <a:rPr lang="id-ID" sz="2700" b="1" kern="0" dirty="0" smtClean="0">
                <a:solidFill>
                  <a:srgbClr val="00B050"/>
                </a:solidFill>
              </a:rPr>
              <a:t>Adventages of </a:t>
            </a:r>
            <a:r>
              <a:rPr lang="en-US" sz="2700" b="1" kern="0" dirty="0" smtClean="0">
                <a:solidFill>
                  <a:srgbClr val="00B050"/>
                </a:solidFill>
              </a:rPr>
              <a:t>parallel circuit</a:t>
            </a:r>
            <a:r>
              <a:rPr lang="id-ID" sz="2700" b="1" kern="0" dirty="0" smtClean="0">
                <a:solidFill>
                  <a:srgbClr val="00B050"/>
                </a:solidFill>
              </a:rPr>
              <a:t> are:</a:t>
            </a:r>
            <a:endParaRPr lang="en-US" sz="2700" b="1" kern="0" dirty="0" smtClean="0">
              <a:solidFill>
                <a:srgbClr val="00B05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US" sz="2800" dirty="0" smtClean="0">
                <a:solidFill>
                  <a:srgbClr val="68007F">
                    <a:lumMod val="50000"/>
                  </a:srgbClr>
                </a:solidFill>
                <a:latin typeface="Arial" panose="020B0604020202020204" pitchFamily="34" charset="0"/>
              </a:rPr>
              <a:t>It allows each lamp to be turned on or off without affecting the others. </a:t>
            </a:r>
            <a:endParaRPr lang="en-US" sz="2800" dirty="0" smtClean="0">
              <a:solidFill>
                <a:srgbClr val="68007F">
                  <a:lumMod val="50000"/>
                </a:srgbClr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rgbClr val="68007F">
                    <a:lumMod val="50000"/>
                  </a:srgbClr>
                </a:solidFill>
                <a:latin typeface="Arial" panose="020B0604020202020204" pitchFamily="34" charset="0"/>
              </a:rPr>
              <a:t>  If one lamp blows, the others stay on. </a:t>
            </a:r>
            <a:endParaRPr lang="en-US" sz="2800" dirty="0" smtClean="0">
              <a:solidFill>
                <a:srgbClr val="68007F">
                  <a:lumMod val="50000"/>
                </a:srgbClr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rgbClr val="68007F">
                    <a:lumMod val="50000"/>
                  </a:srgbClr>
                </a:solidFill>
                <a:latin typeface="Arial" panose="020B0604020202020204" pitchFamily="34" charset="0"/>
              </a:rPr>
              <a:t> Each lamp has the same (full) voltage; this may be important if you have a 110V supply say, and each lamp is designed for 110V.</a:t>
            </a:r>
            <a:endParaRPr lang="id-ID" sz="3200" kern="0" dirty="0">
              <a:solidFill>
                <a:srgbClr val="68007F">
                  <a:lumMod val="5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447800"/>
            <a:ext cx="10972800" cy="1828800"/>
          </a:xfrm>
        </p:spPr>
        <p:txBody>
          <a:bodyPr/>
          <a:lstStyle/>
          <a:p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What kind of circuit is more commonly used?</a:t>
            </a:r>
            <a:endParaRPr lang="en-US" sz="4000" dirty="0" smtClean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641600" y="3810013"/>
            <a:ext cx="6807200" cy="20240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4800" b="1" dirty="0" smtClean="0">
                <a:latin typeface="Cambria" panose="02040503050406030204" pitchFamily="18" charset="0"/>
              </a:rPr>
              <a:t>Parallel circuit</a:t>
            </a:r>
            <a:endParaRPr lang="en-US" sz="4800" b="1" dirty="0" smtClean="0">
              <a:latin typeface="Cambria" panose="02040503050406030204" pitchFamily="18" charset="0"/>
            </a:endParaRPr>
          </a:p>
          <a:p>
            <a:pPr eaLnBrk="1" hangingPunct="1">
              <a:buFontTx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5529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85906"/>
            <a:ext cx="12192000" cy="1258886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Why use parallel circuit in the household lighting?</a:t>
            </a:r>
            <a:endParaRPr lang="en-US" sz="4000" dirty="0" smtClean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3581400"/>
            <a:ext cx="11277600" cy="2660654"/>
          </a:xfrm>
        </p:spPr>
        <p:txBody>
          <a:bodyPr/>
          <a:lstStyle/>
          <a:p>
            <a:pPr eaLnBrk="1" hangingPunct="1">
              <a:buNone/>
            </a:pPr>
            <a:r>
              <a:rPr lang="en-US" sz="4000" dirty="0" smtClean="0">
                <a:latin typeface="Cambria" panose="02040503050406030204" pitchFamily="18" charset="0"/>
              </a:rPr>
              <a:t>If one bulb is damaged or switched off, the other bulb can still work.</a:t>
            </a:r>
            <a:endParaRPr lang="en-US" sz="4000" dirty="0" smtClean="0">
              <a:latin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1536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320800" y="1981200"/>
            <a:ext cx="10058400" cy="7159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Which type of lighting  circuit connection has voltage is divided equally between the lamps? ( assuming they are all identical).</a:t>
            </a:r>
            <a:b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</a:br>
            <a:b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</a:br>
            <a:endParaRPr lang="ar-SA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5" name="مستطيل 4"/>
          <p:cNvSpPr/>
          <p:nvPr/>
        </p:nvSpPr>
        <p:spPr>
          <a:xfrm>
            <a:off x="2946412" y="4191000"/>
            <a:ext cx="434901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5400" b="1" dirty="0" smtClean="0">
                <a:solidFill>
                  <a:prstClr val="white"/>
                </a:solidFill>
                <a:latin typeface="Cambria" panose="02040503050406030204" pitchFamily="18" charset="0"/>
              </a:rPr>
              <a:t>Series circuit</a:t>
            </a:r>
            <a:endParaRPr lang="en-US" sz="5400" b="1" dirty="0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0"/>
            <a:ext cx="10972800" cy="1143000"/>
          </a:xfrm>
        </p:spPr>
        <p:txBody>
          <a:bodyPr/>
          <a:lstStyle/>
          <a:p>
            <a:pPr algn="l"/>
            <a:r>
              <a:rPr lang="en-US" sz="1800" dirty="0">
                <a:solidFill>
                  <a:srgbClr val="FF0000"/>
                </a:solidFill>
              </a:rPr>
              <a:t>Review: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812800" y="1524013"/>
            <a:ext cx="11074400" cy="13234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4000" dirty="0">
                <a:solidFill>
                  <a:prstClr val="black"/>
                </a:solidFill>
                <a:latin typeface="Cambria" panose="02040503050406030204" pitchFamily="18" charset="0"/>
              </a:rPr>
              <a:t>What is the name for a circuit that has only one path for current to flow?</a:t>
            </a:r>
            <a:endParaRPr lang="en-US" sz="40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2133600" y="3886213"/>
            <a:ext cx="77216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6000" b="1" dirty="0">
                <a:solidFill>
                  <a:prstClr val="white"/>
                </a:solidFill>
                <a:latin typeface="Cambria" panose="02040503050406030204" pitchFamily="18" charset="0"/>
              </a:rPr>
              <a:t>Series circuit</a:t>
            </a:r>
            <a:endParaRPr lang="en-US" sz="6000" b="1" dirty="0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  <p:bldP spid="50180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0"/>
            <a:ext cx="10972800" cy="1143000"/>
          </a:xfrm>
        </p:spPr>
        <p:txBody>
          <a:bodyPr/>
          <a:lstStyle/>
          <a:p>
            <a:pPr algn="l"/>
            <a:r>
              <a:rPr lang="en-US" sz="1800" dirty="0">
                <a:solidFill>
                  <a:srgbClr val="FF0000"/>
                </a:solidFill>
              </a:rPr>
              <a:t>Review: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812800" y="1295407"/>
            <a:ext cx="11379200" cy="13234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4000" dirty="0">
                <a:solidFill>
                  <a:prstClr val="black"/>
                </a:solidFill>
                <a:latin typeface="Cambria" panose="02040503050406030204" pitchFamily="18" charset="0"/>
              </a:rPr>
              <a:t>What happens to the lights in a series circuit if one light goes off</a:t>
            </a:r>
            <a:r>
              <a:rPr lang="en-US" sz="4000" dirty="0" smtClean="0">
                <a:solidFill>
                  <a:prstClr val="black"/>
                </a:solidFill>
                <a:latin typeface="Cambria" panose="02040503050406030204" pitchFamily="18" charset="0"/>
              </a:rPr>
              <a:t>? And why?</a:t>
            </a:r>
            <a:endParaRPr lang="en-US" sz="40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sp>
        <p:nvSpPr>
          <p:cNvPr id="8" name="مربع نص 7"/>
          <p:cNvSpPr txBox="1"/>
          <p:nvPr/>
        </p:nvSpPr>
        <p:spPr>
          <a:xfrm>
            <a:off x="1016000" y="3124211"/>
            <a:ext cx="10566400" cy="210826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500" b="1" dirty="0" smtClean="0">
                <a:solidFill>
                  <a:prstClr val="white"/>
                </a:solidFill>
                <a:latin typeface="Arial" panose="020B0604020202020204" pitchFamily="34" charset="0"/>
              </a:rPr>
              <a:t>All the lights go off. </a:t>
            </a:r>
            <a:r>
              <a:rPr lang="en-US" sz="3600" b="1" dirty="0" smtClean="0">
                <a:solidFill>
                  <a:prstClr val="white"/>
                </a:solidFill>
                <a:latin typeface="Arial" panose="020B0604020202020204" pitchFamily="34" charset="0"/>
              </a:rPr>
              <a:t>Because of the gap.  There is no other path for the current.</a:t>
            </a:r>
            <a:endParaRPr lang="en-US" sz="3500" b="1" dirty="0" smtClean="0">
              <a:solidFill>
                <a:prstClr val="white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3500" b="1" dirty="0" smtClean="0">
              <a:solidFill>
                <a:prstClr val="white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  <p:bldP spid="8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 descr="parallel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181600" y="4267200"/>
            <a:ext cx="5359400" cy="1847850"/>
          </a:xfrm>
          <a:prstGeom prst="rect">
            <a:avLst/>
          </a:prstGeom>
          <a:noFill/>
        </p:spPr>
      </p:pic>
      <p:sp>
        <p:nvSpPr>
          <p:cNvPr id="66563" name="Rectangle 3"/>
          <p:cNvSpPr>
            <a:spLocks noGrp="1" noChangeArrowheads="1"/>
          </p:cNvSpPr>
          <p:nvPr>
            <p:ph type="title"/>
          </p:nvPr>
        </p:nvSpPr>
        <p:spPr>
          <a:xfrm>
            <a:off x="508000" y="0"/>
            <a:ext cx="10972800" cy="1143000"/>
          </a:xfrm>
        </p:spPr>
        <p:txBody>
          <a:bodyPr/>
          <a:lstStyle/>
          <a:p>
            <a:pPr algn="l"/>
            <a:r>
              <a:rPr lang="en-US" sz="1800"/>
              <a:t>Review:</a:t>
            </a:r>
            <a:endParaRPr lang="en-US" sz="1800"/>
          </a:p>
        </p:txBody>
      </p:sp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1117600" y="1066804"/>
            <a:ext cx="10769600" cy="1311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4000" dirty="0">
                <a:solidFill>
                  <a:prstClr val="black"/>
                </a:solidFill>
                <a:latin typeface="Cambria" panose="02040503050406030204" pitchFamily="18" charset="0"/>
              </a:rPr>
              <a:t>What happens when one light goes out in a parallel circuit?</a:t>
            </a:r>
            <a:endParaRPr lang="en-US" sz="40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pic>
        <p:nvPicPr>
          <p:cNvPr id="66565" name="Picture 5" descr="parallel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12800" y="4267200"/>
            <a:ext cx="5359400" cy="1847850"/>
          </a:xfrm>
          <a:prstGeom prst="rect">
            <a:avLst/>
          </a:prstGeom>
          <a:noFill/>
        </p:spPr>
      </p:pic>
      <p:sp>
        <p:nvSpPr>
          <p:cNvPr id="66566" name="Line 6"/>
          <p:cNvSpPr>
            <a:spLocks noChangeShapeType="1"/>
          </p:cNvSpPr>
          <p:nvPr/>
        </p:nvSpPr>
        <p:spPr bwMode="auto">
          <a:xfrm flipH="1">
            <a:off x="5994400" y="4724400"/>
            <a:ext cx="203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>
            <a:off x="5791200" y="5791200"/>
            <a:ext cx="406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6568" name="Oval 8"/>
          <p:cNvSpPr>
            <a:spLocks noChangeArrowheads="1"/>
          </p:cNvSpPr>
          <p:nvPr/>
        </p:nvSpPr>
        <p:spPr bwMode="auto">
          <a:xfrm>
            <a:off x="9042400" y="5029200"/>
            <a:ext cx="914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6569" name="Oval 9"/>
          <p:cNvSpPr>
            <a:spLocks noChangeArrowheads="1"/>
          </p:cNvSpPr>
          <p:nvPr/>
        </p:nvSpPr>
        <p:spPr bwMode="auto">
          <a:xfrm>
            <a:off x="1828800" y="5029200"/>
            <a:ext cx="914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6570" name="Oval 10"/>
          <p:cNvSpPr>
            <a:spLocks noChangeArrowheads="1"/>
          </p:cNvSpPr>
          <p:nvPr/>
        </p:nvSpPr>
        <p:spPr bwMode="auto">
          <a:xfrm>
            <a:off x="3251200" y="5029200"/>
            <a:ext cx="914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6572" name="Oval 12"/>
          <p:cNvSpPr>
            <a:spLocks noChangeArrowheads="1"/>
          </p:cNvSpPr>
          <p:nvPr/>
        </p:nvSpPr>
        <p:spPr bwMode="auto">
          <a:xfrm>
            <a:off x="6197600" y="5029200"/>
            <a:ext cx="914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6573" name="Oval 13"/>
          <p:cNvSpPr>
            <a:spLocks noChangeArrowheads="1"/>
          </p:cNvSpPr>
          <p:nvPr/>
        </p:nvSpPr>
        <p:spPr bwMode="auto">
          <a:xfrm>
            <a:off x="7620000" y="5029200"/>
            <a:ext cx="914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ar-SA" sz="24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6574" name="Text Box 14"/>
          <p:cNvSpPr txBox="1">
            <a:spLocks noChangeArrowheads="1"/>
          </p:cNvSpPr>
          <p:nvPr/>
        </p:nvSpPr>
        <p:spPr bwMode="auto">
          <a:xfrm>
            <a:off x="508000" y="2743213"/>
            <a:ext cx="11480800" cy="8239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4800" b="1" dirty="0">
                <a:solidFill>
                  <a:prstClr val="white"/>
                </a:solidFill>
                <a:latin typeface="Cambria" panose="02040503050406030204" pitchFamily="18" charset="0"/>
              </a:rPr>
              <a:t>The other lights can stay on.</a:t>
            </a:r>
            <a:endParaRPr lang="en-US" sz="4800" b="1" dirty="0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6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6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6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 build="p"/>
      <p:bldP spid="66568" grpId="0" animBg="1"/>
      <p:bldP spid="66569" grpId="0" animBg="1"/>
      <p:bldP spid="66570" grpId="0" animBg="1"/>
      <p:bldP spid="66572" grpId="0" animBg="1"/>
      <p:bldP spid="66573" grpId="0" animBg="1"/>
      <p:bldP spid="6657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34313" y="333375"/>
            <a:ext cx="9730743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ZA" sz="2800" dirty="0">
                <a:solidFill>
                  <a:srgbClr val="FF0000"/>
                </a:solidFill>
                <a:cs typeface="Arial" panose="020B0604020202020204" pitchFamily="34" charset="0"/>
              </a:rPr>
              <a:t>Two light bulbs in parallel and two cells in series</a:t>
            </a:r>
            <a:endParaRPr lang="en-ZA" sz="28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pic>
        <p:nvPicPr>
          <p:cNvPr id="18436" name="Picture 5" descr="TTS Square.jpg"/>
          <p:cNvPicPr>
            <a:picLocks noChangeAspect="1" noChangeArrowheads="1"/>
          </p:cNvPicPr>
          <p:nvPr/>
        </p:nvPicPr>
        <p:blipFill>
          <a:blip r:embed="rId1" cstate="print"/>
          <a:srcRect l="9543" r="14624" b="23566"/>
          <a:stretch>
            <a:fillRect/>
          </a:stretch>
        </p:blipFill>
        <p:spPr bwMode="auto">
          <a:xfrm>
            <a:off x="239143" y="5805488"/>
            <a:ext cx="1248616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158627" y="6308725"/>
            <a:ext cx="9311716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ZA" i="1" dirty="0">
                <a:solidFill>
                  <a:srgbClr val="8064A2">
                    <a:lumMod val="75000"/>
                  </a:srgbClr>
                </a:solidFill>
                <a:cs typeface="Arial" panose="020B0604020202020204" pitchFamily="34" charset="0"/>
              </a:rPr>
              <a:t>Natural Sciences and Technology - Grade 6</a:t>
            </a:r>
            <a:endParaRPr lang="en-ZA" i="1" dirty="0">
              <a:solidFill>
                <a:srgbClr val="8064A2">
                  <a:lumMod val="75000"/>
                </a:srgbClr>
              </a:solidFill>
              <a:cs typeface="Arial" panose="020B0604020202020204" pitchFamily="34" charset="0"/>
            </a:endParaRPr>
          </a:p>
        </p:txBody>
      </p:sp>
      <p:pic>
        <p:nvPicPr>
          <p:cNvPr id="18438" name="Picture 8" descr="C:\Documents and Settings\Administrator\My Documents\St Luke Worship &amp; Y.P.M 2012\YOUTH\Youth Ministry\Tasha\GM\2015 Adele\New Reworking Grade 6 Terms 1-4\Illustrations for Terms\Term 3\3 Syst to solve problem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303" y="220717"/>
            <a:ext cx="893079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 descr="C:\Users\Adele\Documents\MEGA\GMSAF 2016\TTS PE\1 Material Dev TTS\Gr 6 Working docs\GR 6 IMAGES\TERM 3\T3 SYSTEMS TO SOLVE PROBLEMS\79_NEW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4977" y="2317538"/>
            <a:ext cx="6037299" cy="2328369"/>
          </a:xfrm>
          <a:prstGeom prst="rect">
            <a:avLst/>
          </a:prstGeom>
          <a:noFill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453" y="2317531"/>
            <a:ext cx="4241063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50241" y="440686"/>
            <a:ext cx="9855607" cy="646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ZA" sz="3600" dirty="0">
                <a:solidFill>
                  <a:srgbClr val="0033CC"/>
                </a:solidFill>
                <a:cs typeface="Arial" panose="020B0604020202020204" pitchFamily="34" charset="0"/>
              </a:rPr>
              <a:t>Two parallel cells and two parallel light bulbs</a:t>
            </a:r>
            <a:endParaRPr lang="en-ZA" sz="2400" dirty="0">
              <a:solidFill>
                <a:srgbClr val="0033CC"/>
              </a:solidFill>
              <a:cs typeface="Arial" panose="020B0604020202020204" pitchFamily="34" charset="0"/>
            </a:endParaRPr>
          </a:p>
        </p:txBody>
      </p:sp>
      <p:pic>
        <p:nvPicPr>
          <p:cNvPr id="19460" name="Picture 4" descr="TTS Square.jpg"/>
          <p:cNvPicPr>
            <a:picLocks noChangeAspect="1" noChangeArrowheads="1"/>
          </p:cNvPicPr>
          <p:nvPr/>
        </p:nvPicPr>
        <p:blipFill>
          <a:blip r:embed="rId1" cstate="print"/>
          <a:srcRect l="9543" r="14624" b="23566"/>
          <a:stretch>
            <a:fillRect/>
          </a:stretch>
        </p:blipFill>
        <p:spPr bwMode="auto">
          <a:xfrm>
            <a:off x="239143" y="5805488"/>
            <a:ext cx="1248616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158627" y="6308725"/>
            <a:ext cx="9311716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ZA" i="1" dirty="0">
                <a:solidFill>
                  <a:srgbClr val="8064A2">
                    <a:lumMod val="75000"/>
                  </a:srgbClr>
                </a:solidFill>
                <a:cs typeface="Arial" panose="020B0604020202020204" pitchFamily="34" charset="0"/>
              </a:rPr>
              <a:t>Natural Sciences and Technology - Grade 6</a:t>
            </a:r>
            <a:endParaRPr lang="en-ZA" i="1" dirty="0">
              <a:solidFill>
                <a:srgbClr val="8064A2">
                  <a:lumMod val="75000"/>
                </a:srgbClr>
              </a:solidFill>
              <a:cs typeface="Arial" panose="020B0604020202020204" pitchFamily="34" charset="0"/>
            </a:endParaRPr>
          </a:p>
        </p:txBody>
      </p:sp>
      <p:pic>
        <p:nvPicPr>
          <p:cNvPr id="19462" name="Picture 7" descr="C:\Documents and Settings\Administrator\My Documents\St Luke Worship &amp; Y.P.M 2012\YOUTH\Youth Ministry\Tasha\GM\2015 Adele\New Reworking Grade 6 Terms 1-4\Illustrations for Terms\Term 3\3 Syst to solve problem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421" y="283779"/>
            <a:ext cx="893079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 descr="C:\Users\Adele\Documents\MEGA\GMSAF 2016\TTS PE\1 Material Dev TTS\Gr 6 Working docs\GR 6 IMAGES\TERM 3\T3 SYSTEMS TO SOLVE PROBLEMS\80_NEW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" y="2011364"/>
            <a:ext cx="6533015" cy="3749675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043" y="2533650"/>
            <a:ext cx="4114087" cy="2705100"/>
          </a:xfrm>
          <a:prstGeom prst="rect">
            <a:avLst/>
          </a:prstGeom>
        </p:spPr>
      </p:pic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owerpoint-templat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powerpoint-template-24">
      <a:majorFont>
        <a:latin typeface="Microsoft Sans Serif"/>
        <a:ea typeface=""/>
        <a:cs typeface=""/>
      </a:majorFont>
      <a:minorFont>
        <a:latin typeface="Microsoft Sans Seri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PH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PH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powerpoint-template-24 1">
        <a:dk1>
          <a:srgbClr val="4D4D4D"/>
        </a:dk1>
        <a:lt1>
          <a:srgbClr val="FFFFFF"/>
        </a:lt1>
        <a:dk2>
          <a:srgbClr val="4D4D4D"/>
        </a:dk2>
        <a:lt2>
          <a:srgbClr val="CC0000"/>
        </a:lt2>
        <a:accent1>
          <a:srgbClr val="FF9933"/>
        </a:accent1>
        <a:accent2>
          <a:srgbClr val="009900"/>
        </a:accent2>
        <a:accent3>
          <a:srgbClr val="FFFFFF"/>
        </a:accent3>
        <a:accent4>
          <a:srgbClr val="404040"/>
        </a:accent4>
        <a:accent5>
          <a:srgbClr val="FFCAAD"/>
        </a:accent5>
        <a:accent6>
          <a:srgbClr val="008A00"/>
        </a:accent6>
        <a:hlink>
          <a:srgbClr val="3366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2">
        <a:dk1>
          <a:srgbClr val="4D4D4D"/>
        </a:dk1>
        <a:lt1>
          <a:srgbClr val="FFFFFF"/>
        </a:lt1>
        <a:dk2>
          <a:srgbClr val="4D4D4D"/>
        </a:dk2>
        <a:lt2>
          <a:srgbClr val="B92D14"/>
        </a:lt2>
        <a:accent1>
          <a:srgbClr val="D34E13"/>
        </a:accent1>
        <a:accent2>
          <a:srgbClr val="DC9009"/>
        </a:accent2>
        <a:accent3>
          <a:srgbClr val="FFFFFF"/>
        </a:accent3>
        <a:accent4>
          <a:srgbClr val="404040"/>
        </a:accent4>
        <a:accent5>
          <a:srgbClr val="E6B2AA"/>
        </a:accent5>
        <a:accent6>
          <a:srgbClr val="C78207"/>
        </a:accent6>
        <a:hlink>
          <a:srgbClr val="EEC633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3">
        <a:dk1>
          <a:srgbClr val="4D4D4D"/>
        </a:dk1>
        <a:lt1>
          <a:srgbClr val="FFFFFF"/>
        </a:lt1>
        <a:dk2>
          <a:srgbClr val="4D4D4D"/>
        </a:dk2>
        <a:lt2>
          <a:srgbClr val="AE6310"/>
        </a:lt2>
        <a:accent1>
          <a:srgbClr val="E79613"/>
        </a:accent1>
        <a:accent2>
          <a:srgbClr val="E1720D"/>
        </a:accent2>
        <a:accent3>
          <a:srgbClr val="FFFFFF"/>
        </a:accent3>
        <a:accent4>
          <a:srgbClr val="404040"/>
        </a:accent4>
        <a:accent5>
          <a:srgbClr val="F1C9AA"/>
        </a:accent5>
        <a:accent6>
          <a:srgbClr val="CC670B"/>
        </a:accent6>
        <a:hlink>
          <a:srgbClr val="C6470A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4">
        <a:dk1>
          <a:srgbClr val="4D4D4D"/>
        </a:dk1>
        <a:lt1>
          <a:srgbClr val="FFFFFF"/>
        </a:lt1>
        <a:dk2>
          <a:srgbClr val="4D4D4D"/>
        </a:dk2>
        <a:lt2>
          <a:srgbClr val="C75F06"/>
        </a:lt2>
        <a:accent1>
          <a:srgbClr val="E07D06"/>
        </a:accent1>
        <a:accent2>
          <a:srgbClr val="F2A016"/>
        </a:accent2>
        <a:accent3>
          <a:srgbClr val="FFFFFF"/>
        </a:accent3>
        <a:accent4>
          <a:srgbClr val="404040"/>
        </a:accent4>
        <a:accent5>
          <a:srgbClr val="EDBFAA"/>
        </a:accent5>
        <a:accent6>
          <a:srgbClr val="DB9113"/>
        </a:accent6>
        <a:hlink>
          <a:srgbClr val="F7C91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5">
        <a:dk1>
          <a:srgbClr val="4D4D4D"/>
        </a:dk1>
        <a:lt1>
          <a:srgbClr val="FFFFFF"/>
        </a:lt1>
        <a:dk2>
          <a:srgbClr val="4D4D4D"/>
        </a:dk2>
        <a:lt2>
          <a:srgbClr val="CE5C16"/>
        </a:lt2>
        <a:accent1>
          <a:srgbClr val="E3852B"/>
        </a:accent1>
        <a:accent2>
          <a:srgbClr val="E79235"/>
        </a:accent2>
        <a:accent3>
          <a:srgbClr val="FFFFFF"/>
        </a:accent3>
        <a:accent4>
          <a:srgbClr val="404040"/>
        </a:accent4>
        <a:accent5>
          <a:srgbClr val="EFC2AC"/>
        </a:accent5>
        <a:accent6>
          <a:srgbClr val="D1842F"/>
        </a:accent6>
        <a:hlink>
          <a:srgbClr val="F09E38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6">
        <a:dk1>
          <a:srgbClr val="4D4D4D"/>
        </a:dk1>
        <a:lt1>
          <a:srgbClr val="FFFFFF"/>
        </a:lt1>
        <a:dk2>
          <a:srgbClr val="4D4D4D"/>
        </a:dk2>
        <a:lt2>
          <a:srgbClr val="BD5D16"/>
        </a:lt2>
        <a:accent1>
          <a:srgbClr val="ED5B10"/>
        </a:accent1>
        <a:accent2>
          <a:srgbClr val="F5A526"/>
        </a:accent2>
        <a:accent3>
          <a:srgbClr val="FFFFFF"/>
        </a:accent3>
        <a:accent4>
          <a:srgbClr val="404040"/>
        </a:accent4>
        <a:accent5>
          <a:srgbClr val="F4B5AA"/>
        </a:accent5>
        <a:accent6>
          <a:srgbClr val="DE9521"/>
        </a:accent6>
        <a:hlink>
          <a:srgbClr val="FABD4B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7">
        <a:dk1>
          <a:srgbClr val="4D4D4D"/>
        </a:dk1>
        <a:lt1>
          <a:srgbClr val="FFFFFF"/>
        </a:lt1>
        <a:dk2>
          <a:srgbClr val="4D4D4D"/>
        </a:dk2>
        <a:lt2>
          <a:srgbClr val="B33617"/>
        </a:lt2>
        <a:accent1>
          <a:srgbClr val="DC6900"/>
        </a:accent1>
        <a:accent2>
          <a:srgbClr val="ED9500"/>
        </a:accent2>
        <a:accent3>
          <a:srgbClr val="FFFFFF"/>
        </a:accent3>
        <a:accent4>
          <a:srgbClr val="404040"/>
        </a:accent4>
        <a:accent5>
          <a:srgbClr val="EBB9AA"/>
        </a:accent5>
        <a:accent6>
          <a:srgbClr val="D78700"/>
        </a:accent6>
        <a:hlink>
          <a:srgbClr val="F8BE17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8">
        <a:dk1>
          <a:srgbClr val="4D4D4D"/>
        </a:dk1>
        <a:lt1>
          <a:srgbClr val="FFFFFF"/>
        </a:lt1>
        <a:dk2>
          <a:srgbClr val="4D4D4D"/>
        </a:dk2>
        <a:lt2>
          <a:srgbClr val="FE3902"/>
        </a:lt2>
        <a:accent1>
          <a:srgbClr val="FF6B03"/>
        </a:accent1>
        <a:accent2>
          <a:srgbClr val="FF8308"/>
        </a:accent2>
        <a:accent3>
          <a:srgbClr val="FFFFFF"/>
        </a:accent3>
        <a:accent4>
          <a:srgbClr val="404040"/>
        </a:accent4>
        <a:accent5>
          <a:srgbClr val="FFBAAA"/>
        </a:accent5>
        <a:accent6>
          <a:srgbClr val="E77606"/>
        </a:accent6>
        <a:hlink>
          <a:srgbClr val="FFA90B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9">
        <a:dk1>
          <a:srgbClr val="4D4D4D"/>
        </a:dk1>
        <a:lt1>
          <a:srgbClr val="FFFFFF"/>
        </a:lt1>
        <a:dk2>
          <a:srgbClr val="4D4D4D"/>
        </a:dk2>
        <a:lt2>
          <a:srgbClr val="C75F06"/>
        </a:lt2>
        <a:accent1>
          <a:srgbClr val="E07D06"/>
        </a:accent1>
        <a:accent2>
          <a:srgbClr val="E5930D"/>
        </a:accent2>
        <a:accent3>
          <a:srgbClr val="FFFFFF"/>
        </a:accent3>
        <a:accent4>
          <a:srgbClr val="404040"/>
        </a:accent4>
        <a:accent5>
          <a:srgbClr val="EDBFAA"/>
        </a:accent5>
        <a:accent6>
          <a:srgbClr val="CF850B"/>
        </a:accent6>
        <a:hlink>
          <a:srgbClr val="F99F1B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0">
        <a:dk1>
          <a:srgbClr val="4D4D4D"/>
        </a:dk1>
        <a:lt1>
          <a:srgbClr val="FFFFFF"/>
        </a:lt1>
        <a:dk2>
          <a:srgbClr val="4D4D4D"/>
        </a:dk2>
        <a:lt2>
          <a:srgbClr val="DD6705"/>
        </a:lt2>
        <a:accent1>
          <a:srgbClr val="EB8B09"/>
        </a:accent1>
        <a:accent2>
          <a:srgbClr val="F5A437"/>
        </a:accent2>
        <a:accent3>
          <a:srgbClr val="FFFFFF"/>
        </a:accent3>
        <a:accent4>
          <a:srgbClr val="404040"/>
        </a:accent4>
        <a:accent5>
          <a:srgbClr val="F3C4AA"/>
        </a:accent5>
        <a:accent6>
          <a:srgbClr val="DE9431"/>
        </a:accent6>
        <a:hlink>
          <a:srgbClr val="FAB55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1">
        <a:dk1>
          <a:srgbClr val="4D4D4D"/>
        </a:dk1>
        <a:lt1>
          <a:srgbClr val="FFFFFF"/>
        </a:lt1>
        <a:dk2>
          <a:srgbClr val="4D4D4D"/>
        </a:dk2>
        <a:lt2>
          <a:srgbClr val="DD6705"/>
        </a:lt2>
        <a:accent1>
          <a:srgbClr val="EB8B09"/>
        </a:accent1>
        <a:accent2>
          <a:srgbClr val="F5A437"/>
        </a:accent2>
        <a:accent3>
          <a:srgbClr val="FFFFFF"/>
        </a:accent3>
        <a:accent4>
          <a:srgbClr val="404040"/>
        </a:accent4>
        <a:accent5>
          <a:srgbClr val="F3C4AA"/>
        </a:accent5>
        <a:accent6>
          <a:srgbClr val="DE9431"/>
        </a:accent6>
        <a:hlink>
          <a:srgbClr val="F42C9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2">
        <a:dk1>
          <a:srgbClr val="4D4D4D"/>
        </a:dk1>
        <a:lt1>
          <a:srgbClr val="FFFFFF"/>
        </a:lt1>
        <a:dk2>
          <a:srgbClr val="4D4D4D"/>
        </a:dk2>
        <a:lt2>
          <a:srgbClr val="DD6705"/>
        </a:lt2>
        <a:accent1>
          <a:srgbClr val="EB8B09"/>
        </a:accent1>
        <a:accent2>
          <a:srgbClr val="F5A437"/>
        </a:accent2>
        <a:accent3>
          <a:srgbClr val="FFFFFF"/>
        </a:accent3>
        <a:accent4>
          <a:srgbClr val="404040"/>
        </a:accent4>
        <a:accent5>
          <a:srgbClr val="F3C4AA"/>
        </a:accent5>
        <a:accent6>
          <a:srgbClr val="DE9431"/>
        </a:accent6>
        <a:hlink>
          <a:srgbClr val="E90D0D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3">
        <a:dk1>
          <a:srgbClr val="4D4D4D"/>
        </a:dk1>
        <a:lt1>
          <a:srgbClr val="FFFFFF"/>
        </a:lt1>
        <a:dk2>
          <a:srgbClr val="4D4D4D"/>
        </a:dk2>
        <a:lt2>
          <a:srgbClr val="DD6705"/>
        </a:lt2>
        <a:accent1>
          <a:srgbClr val="EB8B09"/>
        </a:accent1>
        <a:accent2>
          <a:srgbClr val="F5A437"/>
        </a:accent2>
        <a:accent3>
          <a:srgbClr val="FFFFFF"/>
        </a:accent3>
        <a:accent4>
          <a:srgbClr val="404040"/>
        </a:accent4>
        <a:accent5>
          <a:srgbClr val="F3C4AA"/>
        </a:accent5>
        <a:accent6>
          <a:srgbClr val="DE9431"/>
        </a:accent6>
        <a:hlink>
          <a:srgbClr val="1099DE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4">
        <a:dk1>
          <a:srgbClr val="4D4D4D"/>
        </a:dk1>
        <a:lt1>
          <a:srgbClr val="FFFFFF"/>
        </a:lt1>
        <a:dk2>
          <a:srgbClr val="4D4D4D"/>
        </a:dk2>
        <a:lt2>
          <a:srgbClr val="DD6705"/>
        </a:lt2>
        <a:accent1>
          <a:srgbClr val="EB8B09"/>
        </a:accent1>
        <a:accent2>
          <a:srgbClr val="F5A437"/>
        </a:accent2>
        <a:accent3>
          <a:srgbClr val="FFFFFF"/>
        </a:accent3>
        <a:accent4>
          <a:srgbClr val="404040"/>
        </a:accent4>
        <a:accent5>
          <a:srgbClr val="F3C4AA"/>
        </a:accent5>
        <a:accent6>
          <a:srgbClr val="DE9431"/>
        </a:accent6>
        <a:hlink>
          <a:srgbClr val="B7ED2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4585</Words>
  <Application>WPS Presentation</Application>
  <PresentationFormat>Custom</PresentationFormat>
  <Paragraphs>184</Paragraphs>
  <Slides>36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36</vt:i4>
      </vt:variant>
    </vt:vector>
  </HeadingPairs>
  <TitlesOfParts>
    <vt:vector size="58" baseType="lpstr">
      <vt:lpstr>Arial</vt:lpstr>
      <vt:lpstr>SimSun</vt:lpstr>
      <vt:lpstr>Wingdings</vt:lpstr>
      <vt:lpstr>Trebuchet MS</vt:lpstr>
      <vt:lpstr>Wingdings 2</vt:lpstr>
      <vt:lpstr>Calibri</vt:lpstr>
      <vt:lpstr>Microsoft Sans Serif</vt:lpstr>
      <vt:lpstr>Calibri</vt:lpstr>
      <vt:lpstr>Verdana</vt:lpstr>
      <vt:lpstr>Calibri (Body)</vt:lpstr>
      <vt:lpstr>ProximaNova</vt:lpstr>
      <vt:lpstr>Segoe Print</vt:lpstr>
      <vt:lpstr>Calibri Light</vt:lpstr>
      <vt:lpstr>Microsoft YaHei</vt:lpstr>
      <vt:lpstr>Arial Unicode MS</vt:lpstr>
      <vt:lpstr>Cambria</vt:lpstr>
      <vt:lpstr>Calisto MT</vt:lpstr>
      <vt:lpstr>Office Theme</vt:lpstr>
      <vt:lpstr>Slate</vt:lpstr>
      <vt:lpstr>1_Slate</vt:lpstr>
      <vt:lpstr>1_Office Theme</vt:lpstr>
      <vt:lpstr>powerpoint-template</vt:lpstr>
      <vt:lpstr>Electricity and Circuits</vt:lpstr>
      <vt:lpstr>Inside View of a Torch</vt:lpstr>
      <vt:lpstr>Electric Bulb</vt:lpstr>
      <vt:lpstr>Electrical Energy</vt:lpstr>
      <vt:lpstr>Electric cell</vt:lpstr>
      <vt:lpstr>Electric Circuit</vt:lpstr>
      <vt:lpstr>Types of Circuit</vt:lpstr>
      <vt:lpstr>Switch</vt:lpstr>
      <vt:lpstr>Type of Substances</vt:lpstr>
      <vt:lpstr>PowerPoint 演示文稿</vt:lpstr>
      <vt:lpstr>PowerPoint 演示文稿</vt:lpstr>
      <vt:lpstr>PowerPoint 演示文稿</vt:lpstr>
      <vt:lpstr>PowerPoint 演示文稿</vt:lpstr>
      <vt:lpstr>Series Circuit</vt:lpstr>
      <vt:lpstr>PowerPoint 演示文稿</vt:lpstr>
      <vt:lpstr>PowerPoint 演示文稿</vt:lpstr>
      <vt:lpstr>PowerPoint 演示文稿</vt:lpstr>
      <vt:lpstr>Series Circuit</vt:lpstr>
      <vt:lpstr>Parallel circuit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Parallel circuit </vt:lpstr>
      <vt:lpstr>PowerPoint 演示文稿</vt:lpstr>
      <vt:lpstr>PowerPoint 演示文稿</vt:lpstr>
      <vt:lpstr>PowerPoint 演示文稿</vt:lpstr>
      <vt:lpstr>What kind of circuit is more commonly used?</vt:lpstr>
      <vt:lpstr>Why use parallel circuit in the household lighting?</vt:lpstr>
      <vt:lpstr>Which type of lighting  circuit connection has voltage is divided equally between the lamps? ( assuming they are all identical).  </vt:lpstr>
      <vt:lpstr>Review:</vt:lpstr>
      <vt:lpstr>Review:</vt:lpstr>
      <vt:lpstr>Review: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and Circuits</dc:title>
  <dc:creator>manik bhola</dc:creator>
  <cp:lastModifiedBy>Melina Mahdy</cp:lastModifiedBy>
  <cp:revision>4</cp:revision>
  <dcterms:created xsi:type="dcterms:W3CDTF">2021-11-06T12:16:00Z</dcterms:created>
  <dcterms:modified xsi:type="dcterms:W3CDTF">2026-10-20T12:53:16Z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224F31CA06EF47C888B4CE3722D49EB8_13</vt:lpwstr>
  </property>
</Properties>
</file>