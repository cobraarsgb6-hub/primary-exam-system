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9" r:id="rId2"/>
  </p:sldMasterIdLst>
  <p:sldIdLst>
    <p:sldId id="256" r:id="rId3"/>
    <p:sldId id="257" r:id="rId4"/>
    <p:sldId id="266" r:id="rId5"/>
    <p:sldId id="267" r:id="rId6"/>
    <p:sldId id="261" r:id="rId7"/>
    <p:sldId id="258" r:id="rId8"/>
    <p:sldId id="259" r:id="rId9"/>
    <p:sldId id="260" r:id="rId10"/>
    <p:sldId id="265" r:id="rId11"/>
    <p:sldId id="268" r:id="rId12"/>
    <p:sldId id="269" r:id="rId13"/>
    <p:sldId id="275" r:id="rId14"/>
    <p:sldId id="276" r:id="rId15"/>
    <p:sldId id="274" r:id="rId16"/>
    <p:sldId id="270" r:id="rId17"/>
    <p:sldId id="273" r:id="rId18"/>
    <p:sldId id="272" r:id="rId19"/>
    <p:sldId id="271" r:id="rId20"/>
    <p:sldId id="277" r:id="rId21"/>
    <p:sldId id="278" r:id="rId22"/>
    <p:sldId id="281" r:id="rId23"/>
    <p:sldId id="279" r:id="rId24"/>
    <p:sldId id="280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300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>
                <a:solidFill>
                  <a:srgbClr val="FFFFFF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19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417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>
                <a:solidFill>
                  <a:srgbClr val="FFFFFF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40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139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16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560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2217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561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pPr/>
              <a:t>11/30/2023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435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6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68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>
                <a:solidFill>
                  <a:srgbClr val="000000">
                    <a:alpha val="70000"/>
                  </a:srgbClr>
                </a:solidFill>
              </a:rPr>
              <a:pPr/>
              <a:t>11/30/2023</a:t>
            </a:fld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>
              <a:solidFill>
                <a:srgbClr val="000000">
                  <a:alpha val="7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4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305AD6-8FE0-DC70-7B10-78A0CBD31E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Forces </a:t>
            </a:r>
          </a:p>
        </p:txBody>
      </p:sp>
    </p:spTree>
    <p:extLst>
      <p:ext uri="{BB962C8B-B14F-4D97-AF65-F5344CB8AC3E}">
        <p14:creationId xmlns:p14="http://schemas.microsoft.com/office/powerpoint/2010/main" val="3487082749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B3DD40-2FE3-ED3E-FE04-32E0BDF0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06D9B988-B9C2-8A59-B95F-E188E0A34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7850" y="3453146"/>
            <a:ext cx="5449072" cy="2375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1CBCB3-BA50-52E2-3619-F9E5E4709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5593" y="581123"/>
            <a:ext cx="7000009" cy="23496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323" y="3176954"/>
            <a:ext cx="487735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From this picture you can </a:t>
            </a:r>
          </a:p>
          <a:p>
            <a:r>
              <a:rPr lang="en-US" sz="3200" b="1" dirty="0" smtClean="0"/>
              <a:t>find that force used to :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1- speed up the object movement.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2- slow down the object movement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3- change the direction of the moving object.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4- start and stop movement of objects.</a:t>
            </a:r>
          </a:p>
        </p:txBody>
      </p:sp>
    </p:spTree>
    <p:extLst>
      <p:ext uri="{BB962C8B-B14F-4D97-AF65-F5344CB8AC3E}">
        <p14:creationId xmlns:p14="http://schemas.microsoft.com/office/powerpoint/2010/main" val="325612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Applied Force: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force applied to an object by a person such as pushing and pulling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358" y="3186846"/>
            <a:ext cx="499110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9312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 Force: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acts when objects are touching.</a:t>
            </a:r>
          </a:p>
          <a:p>
            <a:pPr marL="0" indent="0">
              <a:buNone/>
            </a:pPr>
            <a:r>
              <a:rPr lang="en-US" dirty="0" smtClean="0"/>
              <a:t>Example:</a:t>
            </a:r>
          </a:p>
          <a:p>
            <a:pPr marL="0" indent="0">
              <a:buNone/>
            </a:pPr>
            <a:r>
              <a:rPr lang="en-US" dirty="0" smtClean="0"/>
              <a:t>The force pushing back the wall if you are</a:t>
            </a:r>
          </a:p>
          <a:p>
            <a:pPr marL="0" indent="0">
              <a:buNone/>
            </a:pPr>
            <a:r>
              <a:rPr lang="en-US" dirty="0" smtClean="0"/>
              <a:t>Pushing it.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771" y="2467342"/>
            <a:ext cx="326707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138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0873E-2C99-E358-3E42-DB365605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Force Diagrams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18F0AA-BD23-31A8-CEA7-FFE52B7BB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/>
              <a:t>Forces act in pairs.</a:t>
            </a:r>
          </a:p>
          <a:p>
            <a:r>
              <a:rPr lang="en-US" sz="2800" dirty="0" smtClean="0"/>
              <a:t>Each </a:t>
            </a:r>
            <a:r>
              <a:rPr lang="en-US" sz="2800" dirty="0"/>
              <a:t>force is shown as an arrow.</a:t>
            </a:r>
          </a:p>
          <a:p>
            <a:r>
              <a:rPr lang="en-US" sz="2800" dirty="0" smtClean="0"/>
              <a:t>We </a:t>
            </a:r>
            <a:r>
              <a:rPr lang="en-US" sz="2800" dirty="0"/>
              <a:t>can show the direction of forces on a force </a:t>
            </a:r>
            <a:r>
              <a:rPr lang="en-US" sz="2800" dirty="0" smtClean="0"/>
              <a:t>diagram by the direction of the arrow.</a:t>
            </a:r>
          </a:p>
          <a:p>
            <a:r>
              <a:rPr lang="en-US" sz="2800" dirty="0" smtClean="0"/>
              <a:t>The stronger the force, the longer the arrow.</a:t>
            </a:r>
            <a:endParaRPr lang="en-US" sz="2800" dirty="0"/>
          </a:p>
          <a:p>
            <a:r>
              <a:rPr lang="en-US" sz="2800" dirty="0" smtClean="0"/>
              <a:t>If the </a:t>
            </a:r>
            <a:r>
              <a:rPr lang="en-US" sz="2800" dirty="0"/>
              <a:t>two forces are equal so the arrows are </a:t>
            </a:r>
          </a:p>
          <a:p>
            <a:pPr marL="0" indent="0">
              <a:buNone/>
            </a:pPr>
            <a:r>
              <a:rPr lang="en-US" sz="2800" dirty="0"/>
              <a:t>the same size</a:t>
            </a:r>
            <a:r>
              <a:rPr lang="en-US" sz="2800" dirty="0" smtClean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26E5E18-6BFC-26FB-B525-0BAB0ABF2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05925" y="2949380"/>
            <a:ext cx="2151784" cy="390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2632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3A464A-F0FA-C88F-8755-E9296EC2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D09082-C242-8A27-1041-243756A3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11927"/>
            <a:ext cx="9905999" cy="3879274"/>
          </a:xfrm>
        </p:spPr>
        <p:txBody>
          <a:bodyPr>
            <a:normAutofit/>
          </a:bodyPr>
          <a:lstStyle/>
          <a:p>
            <a:r>
              <a:rPr lang="en-US" sz="2800" dirty="0"/>
              <a:t>Gravity is very important to our everyday lives. Without gravity we would fly off the Earth! We would all have to be tied down all the time. If you kicked a ball, it would fly off forever.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FE76D5A-8159-4672-B542-CB0D328F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509" y="3631623"/>
            <a:ext cx="5735782" cy="322637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4321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241DC6-1DB6-8A8A-D675-2A00E601D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2" y="2097088"/>
            <a:ext cx="10465520" cy="3694113"/>
          </a:xfrm>
        </p:spPr>
        <p:txBody>
          <a:bodyPr/>
          <a:lstStyle/>
          <a:p>
            <a:r>
              <a:rPr lang="en-US" sz="2800" dirty="0"/>
              <a:t>Gravity works on both objects at rest and objects that are moving. </a:t>
            </a:r>
          </a:p>
          <a:p>
            <a:r>
              <a:rPr lang="en-US" sz="2800" dirty="0"/>
              <a:t>Gravity is the force which attracts or pulls all objects towards the </a:t>
            </a:r>
            <a:r>
              <a:rPr lang="en-US" sz="2800" dirty="0" smtClean="0"/>
              <a:t>Earth</a:t>
            </a:r>
            <a:r>
              <a:rPr lang="ar-EG" sz="2800" dirty="0" smtClean="0"/>
              <a:t>’</a:t>
            </a:r>
            <a:r>
              <a:rPr lang="en-US" sz="2800" dirty="0" smtClean="0"/>
              <a:t>s center.</a:t>
            </a:r>
            <a:endParaRPr lang="en-US" sz="28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37E19F0-1DE1-9430-E8C6-EBD08EC7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429000"/>
            <a:ext cx="57150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67655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BF172D-D735-4C6B-098E-6FE53CC51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2" y="3046656"/>
            <a:ext cx="9905999" cy="3541714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Muli-SemiBold"/>
              </a:rPr>
              <a:t>I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f you put a book on a table the book is at rest. Are there any forces acting on the book?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The book will make or </a:t>
            </a:r>
            <a:r>
              <a:rPr lang="en-US" sz="2400" b="1" i="0" u="none" strike="noStrike" baseline="0" dirty="0">
                <a:solidFill>
                  <a:srgbClr val="FF5200"/>
                </a:solidFill>
                <a:latin typeface="Muli-SemiBold"/>
              </a:rPr>
              <a:t>exert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a downward force on the table.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This force is 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Muli-SemiBold"/>
              </a:rPr>
              <a:t>gravity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Muli-SemiBold"/>
              </a:rPr>
              <a:t>(weight) </a:t>
            </a:r>
            <a:r>
              <a:rPr lang="en-US" sz="2400" b="1" i="0" u="none" strike="noStrike" baseline="0" dirty="0" smtClean="0">
                <a:solidFill>
                  <a:srgbClr val="000000"/>
                </a:solidFill>
                <a:latin typeface="Muli-SemiBold"/>
              </a:rPr>
              <a:t>pulling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the book </a:t>
            </a:r>
            <a:r>
              <a:rPr lang="en-US" sz="2400" b="1" i="0" u="none" strike="noStrike" baseline="0" dirty="0" smtClean="0">
                <a:solidFill>
                  <a:srgbClr val="000000"/>
                </a:solidFill>
                <a:latin typeface="Muli-SemiBold"/>
              </a:rPr>
              <a:t>downwards, This force is measured in </a:t>
            </a:r>
            <a:r>
              <a:rPr lang="en-US" b="1" dirty="0">
                <a:solidFill>
                  <a:srgbClr val="FF0000"/>
                </a:solidFill>
                <a:latin typeface="Muli-SemiBold"/>
              </a:rPr>
              <a:t>Newton (N).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But the</a:t>
            </a:r>
            <a:r>
              <a:rPr lang="en-US" sz="2400" b="1" i="0" u="none" strike="noStrike" dirty="0">
                <a:solidFill>
                  <a:srgbClr val="000000"/>
                </a:solidFill>
                <a:latin typeface="Muli-SemiBold"/>
              </a:rPr>
              <a:t>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Muli-SemiBold"/>
              </a:rPr>
              <a:t>book does not fall, so something must be pushing it up. This is called the </a:t>
            </a:r>
            <a:r>
              <a:rPr lang="en-US" sz="2800" b="1" i="0" u="sng" strike="noStrike" baseline="0" dirty="0">
                <a:solidFill>
                  <a:srgbClr val="FF0000"/>
                </a:solidFill>
                <a:latin typeface="Muli-SemiBold"/>
              </a:rPr>
              <a:t>normal </a:t>
            </a:r>
            <a:r>
              <a:rPr lang="en-US" sz="2800" b="1" i="0" u="sng" strike="noStrike" baseline="0" dirty="0" smtClean="0">
                <a:solidFill>
                  <a:srgbClr val="FF0000"/>
                </a:solidFill>
                <a:latin typeface="Muli-SemiBold"/>
              </a:rPr>
              <a:t>force</a:t>
            </a:r>
            <a:r>
              <a:rPr lang="en-US" sz="2800" b="1" i="0" u="sng" strike="noStrike" dirty="0" smtClean="0">
                <a:solidFill>
                  <a:srgbClr val="FF0000"/>
                </a:solidFill>
                <a:latin typeface="Muli-SemiBold"/>
              </a:rPr>
              <a:t> - </a:t>
            </a:r>
            <a:r>
              <a:rPr lang="en-US" sz="2800" b="1" i="0" u="sng" strike="noStrike" baseline="0" dirty="0" smtClean="0">
                <a:solidFill>
                  <a:srgbClr val="FF0000"/>
                </a:solidFill>
                <a:latin typeface="Muli-SemiBold"/>
              </a:rPr>
              <a:t>reaction force-</a:t>
            </a:r>
            <a:r>
              <a:rPr lang="en-US" sz="2800" b="1" i="0" u="sng" strike="noStrike" dirty="0" smtClean="0">
                <a:solidFill>
                  <a:srgbClr val="FF0000"/>
                </a:solidFill>
                <a:latin typeface="Muli-SemiBold"/>
              </a:rPr>
              <a:t> support force.</a:t>
            </a:r>
            <a:endParaRPr lang="en-US" sz="2800" b="1" i="0" u="sng" strike="noStrike" baseline="0" dirty="0">
              <a:solidFill>
                <a:srgbClr val="FF0000"/>
              </a:solidFill>
              <a:latin typeface="Muli-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AB3B9E3-91C9-3A63-4787-51AE3AB63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7735" y="691663"/>
            <a:ext cx="3850266" cy="235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024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9A3823-6D55-2CE3-93EB-52E9E19F4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Applied force and friction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725" y="2661139"/>
            <a:ext cx="4453743" cy="2239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08" y="1804988"/>
            <a:ext cx="6288331" cy="496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223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089" y="1048543"/>
            <a:ext cx="6276649" cy="470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77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103" y="983396"/>
            <a:ext cx="10409819" cy="4737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758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352" y="2249488"/>
            <a:ext cx="6808122" cy="354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1910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30AE84-5E24-C9F3-8960-15ECA26C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i="0" u="none" strike="noStrike" baseline="0" dirty="0">
                <a:solidFill>
                  <a:srgbClr val="FF0000"/>
                </a:solidFill>
                <a:latin typeface="Muli-SemiBold"/>
              </a:rPr>
              <a:t>Swimmers try to copy the streamlined shape of fish</a:t>
            </a:r>
            <a:r>
              <a:rPr lang="en-US" sz="2800" b="1" i="0" u="none" strike="noStrike" baseline="0" dirty="0">
                <a:latin typeface="Muli-SemiBold"/>
              </a:rPr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1D5BAF7-A274-C7F6-9675-4439D779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473" y="2656714"/>
            <a:ext cx="6331526" cy="4201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674B38F-30CB-61D6-195D-8AFE1727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72771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863" y="2249488"/>
            <a:ext cx="6101100" cy="354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0949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392" y="948226"/>
            <a:ext cx="10013855" cy="4948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4051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49" y="863665"/>
            <a:ext cx="8759151" cy="4927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2332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177" y="514473"/>
            <a:ext cx="9059058" cy="582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481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01" y="1062831"/>
            <a:ext cx="10105836" cy="4177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9799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7AB97C-9D20-E704-0678-E693AEAA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145" y="346365"/>
            <a:ext cx="8450719" cy="1274618"/>
          </a:xfrm>
        </p:spPr>
        <p:txBody>
          <a:bodyPr>
            <a:normAutofit fontScale="90000"/>
          </a:bodyPr>
          <a:lstStyle/>
          <a:p>
            <a:r>
              <a:rPr lang="en-US" dirty="0"/>
              <a:t>Third Topic :</a:t>
            </a:r>
            <a:br>
              <a:rPr lang="en-US" dirty="0"/>
            </a:br>
            <a:r>
              <a:rPr lang="en-US" sz="2800" b="1" i="0" u="none" strike="noStrike" baseline="0" dirty="0">
                <a:solidFill>
                  <a:srgbClr val="FF0000"/>
                </a:solidFill>
                <a:latin typeface="Muli-SemiBold"/>
              </a:rPr>
              <a:t>Many (MULTIPLE) forces act together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47151D-0FC6-9D24-2B95-B13DC0B3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91" y="1911928"/>
            <a:ext cx="9836174" cy="38281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Muli-SemiBold"/>
              </a:rPr>
              <a:t>All objects are affected by </a:t>
            </a:r>
            <a:r>
              <a:rPr lang="en-US" sz="2000" b="1" i="0" u="none" strike="noStrike" baseline="0" dirty="0">
                <a:solidFill>
                  <a:srgbClr val="FF0000"/>
                </a:solidFill>
                <a:latin typeface="Muli-SemiBold"/>
              </a:rPr>
              <a:t>several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Muli-SemiBold"/>
              </a:rPr>
              <a:t> different forces or </a:t>
            </a:r>
            <a:r>
              <a:rPr lang="en-US" sz="2000" b="1" i="0" u="none" strike="noStrike" baseline="0" dirty="0">
                <a:solidFill>
                  <a:srgbClr val="FF5200"/>
                </a:solidFill>
                <a:latin typeface="Muli-SemiBold"/>
              </a:rPr>
              <a:t>multiple 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Muli-SemiBold"/>
              </a:rPr>
              <a:t>forces at once.</a:t>
            </a:r>
          </a:p>
          <a:p>
            <a:pPr marL="0" indent="0" algn="l">
              <a:buNone/>
            </a:pPr>
            <a:r>
              <a:rPr lang="en-US" sz="2000" b="1" i="0" u="sng" strike="noStrike" baseline="0" dirty="0">
                <a:solidFill>
                  <a:srgbClr val="00B050"/>
                </a:solidFill>
                <a:latin typeface="Muli-SemiBold"/>
              </a:rPr>
              <a:t>Look at this example of Sofia rolling a ball.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latin typeface="Muli-SemiBold"/>
              </a:rPr>
              <a:t>There are </a:t>
            </a:r>
            <a:r>
              <a:rPr lang="en-US" sz="2000" b="1" i="0" u="sng" strike="noStrike" baseline="0" dirty="0">
                <a:solidFill>
                  <a:srgbClr val="FF0000"/>
                </a:solidFill>
                <a:latin typeface="Muli-SemiBold"/>
              </a:rPr>
              <a:t>multiple</a:t>
            </a:r>
            <a:r>
              <a:rPr lang="en-US" sz="2000" b="1" i="0" u="none" strike="noStrike" baseline="0" dirty="0">
                <a:latin typeface="Muli-SemiBold"/>
              </a:rPr>
              <a:t> forces acting on the ball:</a:t>
            </a:r>
          </a:p>
          <a:p>
            <a:pPr marL="0" indent="0">
              <a:buNone/>
            </a:pPr>
            <a:r>
              <a:rPr lang="en-US" sz="2000" b="1" i="0" u="none" strike="noStrike" baseline="0" dirty="0">
                <a:latin typeface="Muli-SemiBold"/>
              </a:rPr>
              <a:t>• Applied force, as Sofia pushes the ball.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latin typeface="Muli-SemiBold"/>
              </a:rPr>
              <a:t>• Gravity pulls the ball down towards the Earth.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latin typeface="Muli-SemiBold"/>
              </a:rPr>
              <a:t>• Air resistance slows the ball down once it is moving.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latin typeface="Muli-SemiBold"/>
              </a:rPr>
              <a:t>• Friction with the floor slows the ball down once it is moving.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095D525-E695-8170-1603-92027C6094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69"/>
          <a:stretch/>
        </p:blipFill>
        <p:spPr>
          <a:xfrm>
            <a:off x="7232073" y="2313709"/>
            <a:ext cx="4959927" cy="454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7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656208-C3AC-86AA-1FDF-C8C132B6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091" y="374074"/>
            <a:ext cx="7994073" cy="1440872"/>
          </a:xfrm>
        </p:spPr>
        <p:txBody>
          <a:bodyPr/>
          <a:lstStyle/>
          <a:p>
            <a:r>
              <a:rPr lang="en-US" dirty="0"/>
              <a:t>Which forces are acting when you ride a bicycle?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90D2A7-C7B0-359F-8E87-17DCB0B9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64" y="2105891"/>
            <a:ext cx="9462100" cy="4156363"/>
          </a:xfrm>
        </p:spPr>
        <p:txBody>
          <a:bodyPr/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Muli-SemiBold"/>
              </a:rPr>
              <a:t>Gravity</a:t>
            </a:r>
            <a:r>
              <a:rPr lang="en-US" sz="1800" b="1" i="0" u="none" strike="noStrike" baseline="0" dirty="0">
                <a:latin typeface="Muli-SemiBold"/>
              </a:rPr>
              <a:t> is pulling Marcus and the bicycle towards </a:t>
            </a:r>
          </a:p>
          <a:p>
            <a:pPr marL="0" indent="0">
              <a:buNone/>
            </a:pPr>
            <a:r>
              <a:rPr lang="en-US" sz="1800" b="1" i="0" u="none" strike="noStrike" baseline="0" dirty="0">
                <a:latin typeface="Muli-SemiBold"/>
              </a:rPr>
              <a:t>the </a:t>
            </a:r>
            <a:r>
              <a:rPr lang="en-US" sz="1800" b="1" i="0" u="none" strike="noStrike" baseline="0" dirty="0" err="1">
                <a:latin typeface="Muli-SemiBold"/>
              </a:rPr>
              <a:t>centre</a:t>
            </a:r>
            <a:r>
              <a:rPr lang="en-US" sz="1800" b="1" i="0" u="none" strike="noStrike" baseline="0" dirty="0">
                <a:latin typeface="Muli-SemiBold"/>
              </a:rPr>
              <a:t> of the Earth.</a:t>
            </a:r>
          </a:p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Muli-SemiBold"/>
              </a:rPr>
              <a:t>Friction</a:t>
            </a:r>
            <a:r>
              <a:rPr lang="en-US" sz="1800" b="1" i="0" u="none" strike="noStrike" baseline="0" dirty="0">
                <a:latin typeface="Muli-SemiBold"/>
              </a:rPr>
              <a:t> between the </a:t>
            </a:r>
            <a:r>
              <a:rPr lang="en-US" sz="1800" b="1" i="0" u="none" strike="noStrike" baseline="0" dirty="0" err="1">
                <a:latin typeface="Muli-SemiBold"/>
              </a:rPr>
              <a:t>tyres</a:t>
            </a:r>
            <a:r>
              <a:rPr lang="en-US" sz="1800" b="1" i="0" u="none" strike="noStrike" baseline="0" dirty="0">
                <a:latin typeface="Muli-SemiBold"/>
              </a:rPr>
              <a:t> and the road is pulling him back.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00"/>
                </a:solidFill>
                <a:latin typeface="Muli-SemiBold"/>
              </a:rPr>
              <a:t>Air resistance </a:t>
            </a:r>
            <a:r>
              <a:rPr lang="en-US" sz="1800" b="1" i="0" u="none" strike="noStrike" baseline="0" dirty="0">
                <a:latin typeface="Muli-SemiBold"/>
              </a:rPr>
              <a:t>is also pulling him back.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Muli-SemiBold"/>
              </a:rPr>
              <a:t>To overcome the air resistance and friction, 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Muli-SemiBold"/>
              </a:rPr>
              <a:t>Marcus must push on the pedals to push the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Muli-SemiBold"/>
              </a:rPr>
              <a:t>bicycle forwards. 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Muli-SemiBold"/>
              </a:rPr>
              <a:t>This is called </a:t>
            </a:r>
            <a:r>
              <a:rPr lang="en-US" sz="1800" b="1" i="0" u="none" strike="noStrike" baseline="0" dirty="0">
                <a:solidFill>
                  <a:srgbClr val="FF5200"/>
                </a:solidFill>
                <a:latin typeface="Muli-SemiBold"/>
              </a:rPr>
              <a:t>thrust or push</a:t>
            </a:r>
            <a:r>
              <a:rPr lang="en-US" b="1" dirty="0">
                <a:solidFill>
                  <a:srgbClr val="000000"/>
                </a:solidFill>
                <a:latin typeface="Muli-SemiBold"/>
              </a:rPr>
              <a:t>. </a:t>
            </a:r>
            <a:r>
              <a:rPr lang="en-US" sz="1800" b="1" i="0" u="sng" strike="noStrike" baseline="0" dirty="0">
                <a:solidFill>
                  <a:srgbClr val="00B050"/>
                </a:solidFill>
                <a:latin typeface="Muli-SemiBold"/>
              </a:rPr>
              <a:t>Thrust is an applied force.</a:t>
            </a:r>
            <a:endParaRPr lang="en-US" u="sng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0459602-65DC-9163-5C07-8B22B11F4A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66" t="-4768" r="4362" b="4768"/>
          <a:stretch/>
        </p:blipFill>
        <p:spPr>
          <a:xfrm>
            <a:off x="7295048" y="1246908"/>
            <a:ext cx="4896952" cy="56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87598"/>
      </p:ext>
    </p:extLst>
  </p:cSld>
  <p:clrMapOvr>
    <a:masterClrMapping/>
  </p:clrMapOvr>
  <p:transition spd="slow"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401F76-3023-583E-5987-8E32DE06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notes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1180BA-1EDA-E891-BEBC-B3CEE818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u="none" strike="noStrike" baseline="0" dirty="0">
                <a:solidFill>
                  <a:srgbClr val="FF0000"/>
                </a:solidFill>
                <a:latin typeface="Muli-Regular"/>
              </a:rPr>
              <a:t>Upthrust force is called  (Lift) </a:t>
            </a:r>
          </a:p>
          <a:p>
            <a:r>
              <a:rPr lang="en-US" sz="2000" b="0" i="0" u="none" strike="noStrike" baseline="0" dirty="0">
                <a:solidFill>
                  <a:srgbClr val="00B0F0"/>
                </a:solidFill>
                <a:latin typeface="Muli-Regular"/>
              </a:rPr>
              <a:t>Air resistance is called (Drag)</a:t>
            </a:r>
          </a:p>
          <a:p>
            <a:r>
              <a:rPr lang="en-US" sz="2000" dirty="0">
                <a:solidFill>
                  <a:srgbClr val="7030A0"/>
                </a:solidFill>
                <a:latin typeface="Muli-Regular"/>
              </a:rPr>
              <a:t>Push force is called (Thrust)</a:t>
            </a:r>
          </a:p>
          <a:p>
            <a:r>
              <a:rPr lang="en-US" sz="2000" dirty="0">
                <a:latin typeface="Muli-Regular"/>
              </a:rPr>
              <a:t>Water resistance is a </a:t>
            </a:r>
            <a:r>
              <a:rPr lang="en-US" sz="2000" dirty="0">
                <a:solidFill>
                  <a:srgbClr val="C00000"/>
                </a:solidFill>
                <a:latin typeface="Muli-Regular"/>
              </a:rPr>
              <a:t>friction force </a:t>
            </a:r>
            <a:r>
              <a:rPr lang="en-US" sz="2000" dirty="0">
                <a:latin typeface="Muli-Regular"/>
              </a:rPr>
              <a:t>that is opposite in direction to the moving object,                                                                               while the </a:t>
            </a:r>
            <a:r>
              <a:rPr lang="en-US" sz="2000" dirty="0">
                <a:solidFill>
                  <a:srgbClr val="C00000"/>
                </a:solidFill>
                <a:latin typeface="Muli-Regular"/>
              </a:rPr>
              <a:t>upthrust force </a:t>
            </a:r>
            <a:r>
              <a:rPr lang="en-US" sz="2000" dirty="0">
                <a:latin typeface="Muli-Regular"/>
              </a:rPr>
              <a:t>is a force in water that pushes objects up. 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4820829" y="4280060"/>
            <a:ext cx="4294908" cy="424529"/>
            <a:chOff x="4252791" y="4189035"/>
            <a:chExt cx="4294908" cy="424529"/>
          </a:xfrm>
        </p:grpSpPr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xmlns="" id="{4145D5F0-AA6E-B004-61BF-1CD6549ED244}"/>
                </a:ext>
              </a:extLst>
            </p:cNvPr>
            <p:cNvSpPr/>
            <p:nvPr/>
          </p:nvSpPr>
          <p:spPr>
            <a:xfrm>
              <a:off x="4252791" y="4189035"/>
              <a:ext cx="2147454" cy="4245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00B050"/>
                  </a:solidFill>
                </a:rPr>
                <a:t>Water resistance</a:t>
              </a:r>
            </a:p>
          </p:txBody>
        </p:sp>
        <p:sp>
          <p:nvSpPr>
            <p:cNvPr id="6" name="Arrow: Left 5">
              <a:extLst>
                <a:ext uri="{FF2B5EF4-FFF2-40B4-BE49-F238E27FC236}">
                  <a16:creationId xmlns:a16="http://schemas.microsoft.com/office/drawing/2014/main" xmlns="" id="{65959435-6FFC-AD9B-8D56-6BD37E90844A}"/>
                </a:ext>
              </a:extLst>
            </p:cNvPr>
            <p:cNvSpPr/>
            <p:nvPr/>
          </p:nvSpPr>
          <p:spPr>
            <a:xfrm>
              <a:off x="6400245" y="4189035"/>
              <a:ext cx="2147454" cy="424529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The moving object</a:t>
              </a:r>
            </a:p>
          </p:txBody>
        </p:sp>
      </p:grpSp>
      <p:sp>
        <p:nvSpPr>
          <p:cNvPr id="8" name="Arrow: Up 7">
            <a:extLst>
              <a:ext uri="{FF2B5EF4-FFF2-40B4-BE49-F238E27FC236}">
                <a16:creationId xmlns:a16="http://schemas.microsoft.com/office/drawing/2014/main" xmlns="" id="{B2136031-71AB-031F-7D7A-36971F904582}"/>
              </a:ext>
            </a:extLst>
          </p:cNvPr>
          <p:cNvSpPr/>
          <p:nvPr/>
        </p:nvSpPr>
        <p:spPr>
          <a:xfrm>
            <a:off x="8270610" y="4704589"/>
            <a:ext cx="1690254" cy="11887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Upthrust force</a:t>
            </a:r>
          </a:p>
        </p:txBody>
      </p:sp>
    </p:spTree>
    <p:extLst>
      <p:ext uri="{BB962C8B-B14F-4D97-AF65-F5344CB8AC3E}">
        <p14:creationId xmlns:p14="http://schemas.microsoft.com/office/powerpoint/2010/main" val="225771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09268F-AE5D-C0B5-23FA-A803D3B0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Muli-SemiBold"/>
              </a:rPr>
              <a:t>Forces acting on </a:t>
            </a:r>
            <a:r>
              <a:rPr lang="en-US" sz="1800" b="1" i="0" u="none" strike="noStrike" baseline="0" dirty="0" err="1">
                <a:solidFill>
                  <a:srgbClr val="FF0000"/>
                </a:solidFill>
                <a:latin typeface="Muli-SemiBold"/>
              </a:rPr>
              <a:t>aeroplanes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515F1F-8D56-5EE6-6ECC-1845EB622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solidFill>
                  <a:srgbClr val="00B050"/>
                </a:solidFill>
                <a:latin typeface="Muli-SemiBold"/>
              </a:rPr>
              <a:t>Air resistance and gravity </a:t>
            </a:r>
            <a:r>
              <a:rPr lang="en-US" sz="1800" b="1" i="0" u="none" strike="noStrike" baseline="0" dirty="0">
                <a:latin typeface="Muli-SemiBold"/>
              </a:rPr>
              <a:t>are the two forces acting on </a:t>
            </a:r>
            <a:r>
              <a:rPr lang="en-US" sz="1800" b="1" i="0" u="none" strike="noStrike" baseline="0" dirty="0" err="1">
                <a:latin typeface="Muli-SemiBold"/>
              </a:rPr>
              <a:t>aeroplanes</a:t>
            </a:r>
            <a:r>
              <a:rPr lang="en-US" b="1" dirty="0">
                <a:latin typeface="Muli-SemiBold"/>
              </a:rPr>
              <a:t> while trying to fly.</a:t>
            </a:r>
            <a:endParaRPr lang="en-US" sz="1800" b="1" i="0" u="none" strike="noStrike" baseline="0" dirty="0">
              <a:latin typeface="Muli-SemiBold"/>
            </a:endParaRPr>
          </a:p>
          <a:p>
            <a:pPr algn="l"/>
            <a:r>
              <a:rPr lang="en-US" sz="1800" b="1" i="0" u="none" strike="noStrike" baseline="0" dirty="0">
                <a:latin typeface="Muli-SemiBold"/>
              </a:rPr>
              <a:t>To overcome these forces we have to create our own forces of thrust and lifting up .. The engine and wings help with that.</a:t>
            </a:r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8F08E64-B1DB-4313-B670-1E4F41B4E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0110"/>
            <a:ext cx="5292436" cy="28678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5ED7CF3-28D7-8588-FE1C-CB82FDA6E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196" y="3990110"/>
            <a:ext cx="5102803" cy="277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1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1878ED-9334-3B4B-BD0F-382B574E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CFD757-70CB-7719-B4A5-6896B5038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8B2EB8F-F5C3-8371-1A7B-36EA357BD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26663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 smtClean="0"/>
              <a:t>Thank you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0521902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366</TotalTime>
  <Words>581</Words>
  <Application>Microsoft Office PowerPoint</Application>
  <PresentationFormat>Custom</PresentationFormat>
  <Paragraphs>59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Circuit</vt:lpstr>
      <vt:lpstr>Parcel</vt:lpstr>
      <vt:lpstr>Forces </vt:lpstr>
      <vt:lpstr>PowerPoint Presentation</vt:lpstr>
      <vt:lpstr>Applied Force:</vt:lpstr>
      <vt:lpstr>Normal  Force:</vt:lpstr>
      <vt:lpstr>Force Diagrams.</vt:lpstr>
      <vt:lpstr>Gravity</vt:lpstr>
      <vt:lpstr>PowerPoint Presentation</vt:lpstr>
      <vt:lpstr>PowerPoint Presentation</vt:lpstr>
      <vt:lpstr>Applied force and friction</vt:lpstr>
      <vt:lpstr>PowerPoint Presentation</vt:lpstr>
      <vt:lpstr>PowerPoint Presentation</vt:lpstr>
      <vt:lpstr>PowerPoint Presentation</vt:lpstr>
      <vt:lpstr>Swimmers try to copy the streamlined shape of fish.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Third Topic : Many (MULTIPLE) forces act together</vt:lpstr>
      <vt:lpstr>Which forces are acting when you ride a bicycle?</vt:lpstr>
      <vt:lpstr>Important notes :</vt:lpstr>
      <vt:lpstr>Forces acting on aeroplanes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Forces and magnetism</dc:title>
  <dc:creator>user</dc:creator>
  <cp:lastModifiedBy>OPtions</cp:lastModifiedBy>
  <cp:revision>14</cp:revision>
  <dcterms:created xsi:type="dcterms:W3CDTF">2023-04-10T06:23:53Z</dcterms:created>
  <dcterms:modified xsi:type="dcterms:W3CDTF">2023-11-30T14:53:49Z</dcterms:modified>
</cp:coreProperties>
</file>