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1804-3A49-B528-4234-038766B85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2618F-8E6A-4C68-B9EA-1A2D9A34D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E905-C08B-9F93-64D3-1BE96EBC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2FEE0-2183-5C4D-8461-0C629BE5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53E84-93AB-EC10-C3DB-B2EE964C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8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741F-6C27-C98F-A1CF-DCEA4973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E468F-1361-24C6-1859-AAE2703A9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DDC89-B17F-7C71-F3F6-8E5B11C0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F1D81-3144-8C56-6F5E-8CFEE683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7224-B532-5777-C057-BD63D9C2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6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1BCE-C98C-0D23-6F64-8F4D70D0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4DBC0-095C-B1D2-C730-1543DD3C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7DE9-BFDF-75AC-0777-A3790AAA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78096-6DF6-95A3-E8E9-AA9B410F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5FABF-CEF2-32DD-58BA-F6056333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5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947D-C94E-D081-630A-5D5066AC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9459-E566-8905-8B61-6DEDC64E9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AAA2C-85FC-1110-120A-531A3105A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DDF4E-9A01-1315-5E96-6A5E5D0A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9C53-F66B-0BDD-44E9-5E4E0D55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39D43-05EC-40B7-D2D4-8DFA152D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9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08E6-6424-184F-BA41-F246D3FB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E564C-FA28-480D-290D-BAE90CAA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BE767-BB54-211A-6315-6D460D49F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343BD-05D2-B995-A1F6-E432728CE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ADC1E-5A59-7934-E939-BB9BEE325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D0C06-A16C-6903-24E7-DA47693C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78958-062D-4226-DD64-834174BA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77994-5215-6EF8-EF90-D2E22443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0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65E4-0897-6D9E-C122-F303631B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8067A-3D56-4AE4-B7FF-44472A9A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DD4D4-1BF8-737E-6209-8D7D5999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209D7-DAD3-531D-83B2-9029A7A1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6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FFA5F-F8D7-8072-9BBA-F4508693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066788-8B90-F132-6F42-9A34BC98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6B633-5487-6380-1538-8A6AC18F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3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A71D-094C-770F-EE7D-9A78D809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C2F2F-8EE4-7BFB-DFB4-75EA29609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2C878-4962-0CE1-F3FF-A540BF74E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CBC42-F5DF-4DF5-E0EA-5E840BF7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19240-5404-5AE3-390B-90C9E11F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6D55D-04CE-E052-30A9-7E856719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2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A9F6-F3C4-5F1E-102C-83A25EBA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95999-F8D1-8C76-D983-7A7D954D64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FEC71-0C3C-F59C-DC72-8A0661583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12E6E-189B-3A1C-44F6-66FC9C52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C48D8-7257-B176-BF6D-A0A230BC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10F8D-7098-53E1-2FF7-121F1423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8BB4-CE56-F773-C1EB-0F472F04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A1FBF-1534-E410-3983-F9B212A82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1B4C1-AF1E-D80E-B18C-9281748B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105E-D66E-3DCF-B769-1808BF42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D143-429F-B5B6-5A79-4F30AB99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2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B79DF-67C7-73E0-8660-1396A33CB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8727C-5E5E-188E-B30A-0BB463110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D04E-C859-6050-40DF-56A7C2E9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B01E6-964E-20A8-7E28-7782EEC5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7972-5E12-208D-13FB-EA19D962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9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E78CD-1AFE-BC12-62A6-64D83607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BBA0A-36A0-19B1-D78A-84B0CA78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AB69D-7ECF-4222-5D9A-C502325CB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E084B-7DD2-7341-9EB0-C2C665D89FC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3F42B-8EEF-8522-A8C6-5815F256F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B330-15DD-F633-B240-AEBEF6FBC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E44B2-6E35-BC45-861B-7F9A751C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1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D968-BC03-5887-5CF7-E387E6965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43860" y="-1189276"/>
            <a:ext cx="13309601" cy="1865871"/>
          </a:xfrm>
        </p:spPr>
        <p:txBody>
          <a:bodyPr>
            <a:normAutofit/>
          </a:bodyPr>
          <a:lstStyle/>
          <a:p>
            <a:r>
              <a:rPr lang="en-GB" sz="4400" b="1" i="1" dirty="0">
                <a:solidFill>
                  <a:srgbClr val="7030A0"/>
                </a:solidFill>
              </a:rPr>
              <a:t>Unite1: Computational Thinking and programming</a:t>
            </a:r>
            <a:r>
              <a:rPr lang="en-GB" sz="4400" dirty="0"/>
              <a:t> 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DA486-85BF-6DF4-7A74-5BC8586D9B9B}"/>
              </a:ext>
            </a:extLst>
          </p:cNvPr>
          <p:cNvSpPr txBox="1"/>
          <p:nvPr/>
        </p:nvSpPr>
        <p:spPr>
          <a:xfrm>
            <a:off x="149412" y="1058439"/>
            <a:ext cx="5038165" cy="7330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chemeClr val="accent5"/>
                </a:solidFill>
              </a:rPr>
              <a:t>Learning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C4988-E729-3840-7407-1BD29A1D079F}"/>
              </a:ext>
            </a:extLst>
          </p:cNvPr>
          <p:cNvSpPr txBox="1"/>
          <p:nvPr/>
        </p:nvSpPr>
        <p:spPr>
          <a:xfrm>
            <a:off x="2169458" y="1804169"/>
            <a:ext cx="8241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/>
                </a:solidFill>
              </a:rPr>
              <a:t>By the end of the lesson, students will be able to: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C886B-F2A1-AB33-E0F0-B93B68F9F578}"/>
              </a:ext>
            </a:extLst>
          </p:cNvPr>
          <p:cNvSpPr txBox="1"/>
          <p:nvPr/>
        </p:nvSpPr>
        <p:spPr>
          <a:xfrm>
            <a:off x="280896" y="2391074"/>
            <a:ext cx="4273176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Explain what an algorithm is.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81F32-58B4-D9C8-EC5E-8E80858135FD}"/>
              </a:ext>
            </a:extLst>
          </p:cNvPr>
          <p:cNvSpPr txBox="1"/>
          <p:nvPr/>
        </p:nvSpPr>
        <p:spPr>
          <a:xfrm>
            <a:off x="149412" y="3053723"/>
            <a:ext cx="4921623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Identify the steps in an algorithm.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1E6B4B-37ED-39A8-90D2-E2B202C61386}"/>
              </a:ext>
            </a:extLst>
          </p:cNvPr>
          <p:cNvSpPr txBox="1"/>
          <p:nvPr/>
        </p:nvSpPr>
        <p:spPr>
          <a:xfrm>
            <a:off x="149412" y="3658981"/>
            <a:ext cx="5961529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Understand that instructions need to be followed in the correct order.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384A6-EA91-AFE2-8C45-119AC41217A6}"/>
              </a:ext>
            </a:extLst>
          </p:cNvPr>
          <p:cNvSpPr txBox="1"/>
          <p:nvPr/>
        </p:nvSpPr>
        <p:spPr>
          <a:xfrm>
            <a:off x="149412" y="4633571"/>
            <a:ext cx="6505388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Create a simple algorithm for a familiar task.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5C618A-EE47-CF44-4872-37E5BDE7E2E0}"/>
              </a:ext>
            </a:extLst>
          </p:cNvPr>
          <p:cNvSpPr txBox="1"/>
          <p:nvPr/>
        </p:nvSpPr>
        <p:spPr>
          <a:xfrm>
            <a:off x="7004425" y="1058439"/>
            <a:ext cx="5038165" cy="7330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chemeClr val="accent5"/>
                </a:solidFill>
              </a:rPr>
              <a:t>Key Concepts</a:t>
            </a:r>
            <a:endParaRPr lang="en-US" sz="4000" b="1" i="1" dirty="0">
              <a:solidFill>
                <a:schemeClr val="accent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8A3BD5-0C3C-CF7F-D391-47EE2FFC6822}"/>
              </a:ext>
            </a:extLst>
          </p:cNvPr>
          <p:cNvSpPr txBox="1"/>
          <p:nvPr/>
        </p:nvSpPr>
        <p:spPr>
          <a:xfrm>
            <a:off x="8223624" y="2327389"/>
            <a:ext cx="2856752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Algorithm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053DA-F78E-00F0-0662-2F25EBF4E7B3}"/>
              </a:ext>
            </a:extLst>
          </p:cNvPr>
          <p:cNvSpPr txBox="1"/>
          <p:nvPr/>
        </p:nvSpPr>
        <p:spPr>
          <a:xfrm>
            <a:off x="7965142" y="3227164"/>
            <a:ext cx="3373716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rgbClr val="7030A0"/>
                </a:solidFill>
              </a:rPr>
              <a:t>Instructions</a:t>
            </a:r>
            <a:endParaRPr lang="en-US" sz="4000" b="1" i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82F52-E625-AE58-3D41-8BDDFE1FCDFD}"/>
              </a:ext>
            </a:extLst>
          </p:cNvPr>
          <p:cNvSpPr txBox="1"/>
          <p:nvPr/>
        </p:nvSpPr>
        <p:spPr>
          <a:xfrm>
            <a:off x="8223624" y="4074479"/>
            <a:ext cx="2856752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rgbClr val="7030A0"/>
                </a:solidFill>
              </a:rPr>
              <a:t>Steps</a:t>
            </a:r>
            <a:endParaRPr lang="en-US" sz="4000" b="1" i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417F36-1444-EF7C-3114-D52C77DE1696}"/>
              </a:ext>
            </a:extLst>
          </p:cNvPr>
          <p:cNvSpPr txBox="1"/>
          <p:nvPr/>
        </p:nvSpPr>
        <p:spPr>
          <a:xfrm>
            <a:off x="7153837" y="5016824"/>
            <a:ext cx="4888751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rgbClr val="7030A0"/>
                </a:solidFill>
              </a:rPr>
              <a:t>Sequence / Order</a:t>
            </a:r>
            <a:endParaRPr lang="en-US" sz="4000" b="1" i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9458F-CD74-2038-D58A-E1B537BABB1C}"/>
              </a:ext>
            </a:extLst>
          </p:cNvPr>
          <p:cNvSpPr txBox="1"/>
          <p:nvPr/>
        </p:nvSpPr>
        <p:spPr>
          <a:xfrm>
            <a:off x="3556000" y="533089"/>
            <a:ext cx="6657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/>
                </a:solidFill>
              </a:rPr>
              <a:t>1:1 </a:t>
            </a:r>
            <a:r>
              <a:rPr lang="en-GB" sz="2800" b="1" i="1" dirty="0" err="1">
                <a:solidFill>
                  <a:schemeClr val="accent2"/>
                </a:solidFill>
              </a:rPr>
              <a:t>Planing</a:t>
            </a:r>
            <a:r>
              <a:rPr lang="en-GB" sz="2800" b="1" i="1" dirty="0">
                <a:solidFill>
                  <a:schemeClr val="accent2"/>
                </a:solidFill>
              </a:rPr>
              <a:t>  </a:t>
            </a:r>
            <a:r>
              <a:rPr lang="en-GB" sz="2800" b="1" i="1" dirty="0" err="1">
                <a:solidFill>
                  <a:schemeClr val="accent2"/>
                </a:solidFill>
              </a:rPr>
              <a:t>Flowcharacters</a:t>
            </a:r>
            <a:r>
              <a:rPr lang="en-GB" sz="2800" b="1" i="1" dirty="0">
                <a:solidFill>
                  <a:schemeClr val="accent2"/>
                </a:solidFill>
              </a:rPr>
              <a:t> </a:t>
            </a:r>
            <a:endParaRPr lang="en-US" sz="28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9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E7CFD4-C668-63E6-510D-78F1CD41218C}"/>
              </a:ext>
            </a:extLst>
          </p:cNvPr>
          <p:cNvSpPr txBox="1"/>
          <p:nvPr/>
        </p:nvSpPr>
        <p:spPr>
          <a:xfrm>
            <a:off x="394447" y="341264"/>
            <a:ext cx="4434541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chemeClr val="accent5"/>
                </a:solidFill>
              </a:rPr>
              <a:t>Key Vocabulary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4B01B-C5C2-24A0-5C00-42BEBACE6BC0}"/>
              </a:ext>
            </a:extLst>
          </p:cNvPr>
          <p:cNvSpPr txBox="1"/>
          <p:nvPr/>
        </p:nvSpPr>
        <p:spPr>
          <a:xfrm>
            <a:off x="286871" y="1488746"/>
            <a:ext cx="5593976" cy="5432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7030A0"/>
                </a:solidFill>
              </a:rPr>
              <a:t>Algorithm — a set of instructions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8BFFE-E70C-CA33-FDA2-C3AC77EDCF5F}"/>
              </a:ext>
            </a:extLst>
          </p:cNvPr>
          <p:cNvSpPr txBox="1"/>
          <p:nvPr/>
        </p:nvSpPr>
        <p:spPr>
          <a:xfrm>
            <a:off x="394447" y="2322465"/>
            <a:ext cx="7927788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Instruction — something that tells us what to do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9EF7A-DBB3-BC3F-1A96-B31EF297A167}"/>
              </a:ext>
            </a:extLst>
          </p:cNvPr>
          <p:cNvSpPr txBox="1"/>
          <p:nvPr/>
        </p:nvSpPr>
        <p:spPr>
          <a:xfrm>
            <a:off x="394447" y="3157373"/>
            <a:ext cx="5593976" cy="5432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Step — one action in an algorithm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83E068-0E01-8497-BDE3-1B5C20DCCD7F}"/>
              </a:ext>
            </a:extLst>
          </p:cNvPr>
          <p:cNvSpPr txBox="1"/>
          <p:nvPr/>
        </p:nvSpPr>
        <p:spPr>
          <a:xfrm>
            <a:off x="286871" y="4012315"/>
            <a:ext cx="6526306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Sequence — the order of the steps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0D2BE-ED71-7A8D-5498-7F4A86DD613E}"/>
              </a:ext>
            </a:extLst>
          </p:cNvPr>
          <p:cNvSpPr txBox="1"/>
          <p:nvPr/>
        </p:nvSpPr>
        <p:spPr>
          <a:xfrm>
            <a:off x="7216589" y="341264"/>
            <a:ext cx="4434541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chemeClr val="accent5"/>
                </a:solidFill>
              </a:rPr>
              <a:t>Skills</a:t>
            </a:r>
            <a:endParaRPr lang="en-US" sz="4000" b="1" i="1" dirty="0">
              <a:solidFill>
                <a:schemeClr val="accent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F53693-B974-6C65-B5C1-D2C2D859DEEA}"/>
              </a:ext>
            </a:extLst>
          </p:cNvPr>
          <p:cNvSpPr txBox="1"/>
          <p:nvPr/>
        </p:nvSpPr>
        <p:spPr>
          <a:xfrm>
            <a:off x="8171330" y="1255633"/>
            <a:ext cx="2897094" cy="5432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Logical thinking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674090-1732-30A9-3375-A5FFB36D0671}"/>
              </a:ext>
            </a:extLst>
          </p:cNvPr>
          <p:cNvSpPr txBox="1"/>
          <p:nvPr/>
        </p:nvSpPr>
        <p:spPr>
          <a:xfrm>
            <a:off x="8600887" y="2032000"/>
            <a:ext cx="2339788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Sequencing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CCBAE-3636-4E17-3050-69FA9FC69DBB}"/>
              </a:ext>
            </a:extLst>
          </p:cNvPr>
          <p:cNvSpPr txBox="1"/>
          <p:nvPr/>
        </p:nvSpPr>
        <p:spPr>
          <a:xfrm>
            <a:off x="8429812" y="2806449"/>
            <a:ext cx="2897094" cy="5432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Problem-solving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C993B6-2757-45F7-AFA1-0C95F7205D6A}"/>
              </a:ext>
            </a:extLst>
          </p:cNvPr>
          <p:cNvSpPr txBox="1"/>
          <p:nvPr/>
        </p:nvSpPr>
        <p:spPr>
          <a:xfrm>
            <a:off x="7786594" y="3637300"/>
            <a:ext cx="4118535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Following instructions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61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4CFB-E4C6-F249-E032-C35C62F8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4106" y="-220568"/>
            <a:ext cx="7612529" cy="1296334"/>
          </a:xfrm>
        </p:spPr>
        <p:txBody>
          <a:bodyPr>
            <a:normAutofit/>
          </a:bodyPr>
          <a:lstStyle/>
          <a:p>
            <a:r>
              <a:rPr lang="en-GB" sz="6000" b="1" i="1" dirty="0">
                <a:solidFill>
                  <a:srgbClr val="7030A0"/>
                </a:solidFill>
              </a:rPr>
              <a:t>What is an Algorithm?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BF762-C414-2D43-024B-4CFECA618BBC}"/>
              </a:ext>
            </a:extLst>
          </p:cNvPr>
          <p:cNvSpPr txBox="1"/>
          <p:nvPr/>
        </p:nvSpPr>
        <p:spPr>
          <a:xfrm>
            <a:off x="2894106" y="800413"/>
            <a:ext cx="730324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/>
                </a:solidFill>
              </a:rPr>
              <a:t>Algorithm = a set of instructions that tells us how to complete a task or solve a problem.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9ADFEF-C7B7-B4CF-AE38-00E788BFCB3B}"/>
              </a:ext>
            </a:extLst>
          </p:cNvPr>
          <p:cNvSpPr txBox="1"/>
          <p:nvPr/>
        </p:nvSpPr>
        <p:spPr>
          <a:xfrm>
            <a:off x="3963894" y="1865914"/>
            <a:ext cx="5163671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Algorithm = Steps to do something.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47AF3-5876-6E22-1469-214DE3F12721}"/>
              </a:ext>
            </a:extLst>
          </p:cNvPr>
          <p:cNvSpPr txBox="1"/>
          <p:nvPr/>
        </p:nvSpPr>
        <p:spPr>
          <a:xfrm>
            <a:off x="19423" y="1891428"/>
            <a:ext cx="3742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</a:rPr>
              <a:t>Example: Printing a Document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C5DF0-BB89-5322-B926-679C710D5C55}"/>
              </a:ext>
            </a:extLst>
          </p:cNvPr>
          <p:cNvSpPr txBox="1"/>
          <p:nvPr/>
        </p:nvSpPr>
        <p:spPr>
          <a:xfrm>
            <a:off x="0" y="2233654"/>
            <a:ext cx="5163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2"/>
                </a:solidFill>
              </a:rPr>
              <a:t>Algorithm: How to print a document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D4E17-D571-9F59-BCE5-E56A8603C420}"/>
              </a:ext>
            </a:extLst>
          </p:cNvPr>
          <p:cNvSpPr txBox="1"/>
          <p:nvPr/>
        </p:nvSpPr>
        <p:spPr>
          <a:xfrm>
            <a:off x="19423" y="2670542"/>
            <a:ext cx="6526306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7030A0"/>
                </a:solidFill>
              </a:rPr>
              <a:t>Send or open the file you want to print.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22345-7983-EAE1-6C19-25A4035E33D0}"/>
              </a:ext>
            </a:extLst>
          </p:cNvPr>
          <p:cNvSpPr txBox="1"/>
          <p:nvPr/>
        </p:nvSpPr>
        <p:spPr>
          <a:xfrm>
            <a:off x="1069039" y="3261037"/>
            <a:ext cx="3856318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Open the Print menu.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0C3375-9B63-6DE0-96B4-EDA7D76D7113}"/>
              </a:ext>
            </a:extLst>
          </p:cNvPr>
          <p:cNvSpPr txBox="1"/>
          <p:nvPr/>
        </p:nvSpPr>
        <p:spPr>
          <a:xfrm>
            <a:off x="1069039" y="3831559"/>
            <a:ext cx="3856318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Select the printer.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82473-ED03-B46E-2D18-7564580D56D3}"/>
              </a:ext>
            </a:extLst>
          </p:cNvPr>
          <p:cNvSpPr txBox="1"/>
          <p:nvPr/>
        </p:nvSpPr>
        <p:spPr>
          <a:xfrm>
            <a:off x="497541" y="4423951"/>
            <a:ext cx="5658224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Choose the number of copies.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387371-F677-A9D9-655E-11886EE2FCFD}"/>
              </a:ext>
            </a:extLst>
          </p:cNvPr>
          <p:cNvSpPr txBox="1"/>
          <p:nvPr/>
        </p:nvSpPr>
        <p:spPr>
          <a:xfrm>
            <a:off x="174065" y="5014446"/>
            <a:ext cx="6526305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Choose the pages you want to print.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2E06FB-71A1-AF8B-F72A-BAFDE7B1DFE4}"/>
              </a:ext>
            </a:extLst>
          </p:cNvPr>
          <p:cNvSpPr txBox="1"/>
          <p:nvPr/>
        </p:nvSpPr>
        <p:spPr>
          <a:xfrm>
            <a:off x="2108946" y="5604941"/>
            <a:ext cx="265654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Click Print.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0563D-1F5D-A606-948D-8353A121F98A}"/>
              </a:ext>
            </a:extLst>
          </p:cNvPr>
          <p:cNvSpPr txBox="1"/>
          <p:nvPr/>
        </p:nvSpPr>
        <p:spPr>
          <a:xfrm>
            <a:off x="1069039" y="6209514"/>
            <a:ext cx="4875306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Collect the printed paper.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E0728EB-6FF2-FAE6-ECE2-0531ACF19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03" y="2327578"/>
            <a:ext cx="5320656" cy="440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61CB-79E4-B9EC-A8E3-34E8E409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199" y="-286287"/>
            <a:ext cx="10515600" cy="1325563"/>
          </a:xfrm>
        </p:spPr>
        <p:txBody>
          <a:bodyPr>
            <a:normAutofit/>
          </a:bodyPr>
          <a:lstStyle/>
          <a:p>
            <a:r>
              <a:rPr lang="en-GB" sz="6000" b="1" i="1" dirty="0">
                <a:solidFill>
                  <a:srgbClr val="7030A0"/>
                </a:solidFill>
              </a:rPr>
              <a:t>Sequence / Correct Order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42FC0-7584-F69C-FDB6-06C3024A4BA4}"/>
              </a:ext>
            </a:extLst>
          </p:cNvPr>
          <p:cNvSpPr txBox="1"/>
          <p:nvPr/>
        </p:nvSpPr>
        <p:spPr>
          <a:xfrm>
            <a:off x="3860801" y="777167"/>
            <a:ext cx="6096000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/>
                </a:solidFill>
              </a:rPr>
              <a:t>Sequence = the order in which the instructions are followed.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09BE2-C9EA-74F2-55BE-BF2250EFA55A}"/>
              </a:ext>
            </a:extLst>
          </p:cNvPr>
          <p:cNvSpPr txBox="1"/>
          <p:nvPr/>
        </p:nvSpPr>
        <p:spPr>
          <a:xfrm>
            <a:off x="290606" y="1171604"/>
            <a:ext cx="2696884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Open the file.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01B73-9DD9-03DE-EB2E-D095F29987A8}"/>
              </a:ext>
            </a:extLst>
          </p:cNvPr>
          <p:cNvSpPr txBox="1"/>
          <p:nvPr/>
        </p:nvSpPr>
        <p:spPr>
          <a:xfrm>
            <a:off x="36606" y="1755479"/>
            <a:ext cx="355301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Open the Print menu.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0A723-E917-3E05-1C4C-500E759F758C}"/>
              </a:ext>
            </a:extLst>
          </p:cNvPr>
          <p:cNvSpPr txBox="1"/>
          <p:nvPr/>
        </p:nvSpPr>
        <p:spPr>
          <a:xfrm>
            <a:off x="168089" y="2288809"/>
            <a:ext cx="3206376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Select the printer.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393F9-24BB-72D8-BD14-323033BE8BFA}"/>
              </a:ext>
            </a:extLst>
          </p:cNvPr>
          <p:cNvSpPr txBox="1"/>
          <p:nvPr/>
        </p:nvSpPr>
        <p:spPr>
          <a:xfrm>
            <a:off x="287619" y="2840383"/>
            <a:ext cx="3016623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Choose the pages.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1DEA2-782B-0211-FEAA-402FE633D49C}"/>
              </a:ext>
            </a:extLst>
          </p:cNvPr>
          <p:cNvSpPr txBox="1"/>
          <p:nvPr/>
        </p:nvSpPr>
        <p:spPr>
          <a:xfrm>
            <a:off x="759759" y="3355252"/>
            <a:ext cx="202303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Click Print.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AA88B3-0DEA-A4BC-0F2D-46673ECD8AC2}"/>
              </a:ext>
            </a:extLst>
          </p:cNvPr>
          <p:cNvSpPr txBox="1"/>
          <p:nvPr/>
        </p:nvSpPr>
        <p:spPr>
          <a:xfrm>
            <a:off x="100106" y="3861100"/>
            <a:ext cx="389964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Collect the printed paper.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C3EE78-9ABF-73F9-A102-8A98D8B85455}"/>
              </a:ext>
            </a:extLst>
          </p:cNvPr>
          <p:cNvSpPr txBox="1"/>
          <p:nvPr/>
        </p:nvSpPr>
        <p:spPr>
          <a:xfrm>
            <a:off x="319740" y="4274501"/>
            <a:ext cx="3680013" cy="70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Correct Order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73640E-0F57-AA54-887A-7A80E97CD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87" y="4000838"/>
            <a:ext cx="1251130" cy="12511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0A7814B-59F7-5438-EB3E-7F1C66DF4608}"/>
              </a:ext>
            </a:extLst>
          </p:cNvPr>
          <p:cNvSpPr txBox="1"/>
          <p:nvPr/>
        </p:nvSpPr>
        <p:spPr>
          <a:xfrm>
            <a:off x="964455" y="4904889"/>
            <a:ext cx="202303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Click Print.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EF400E-9949-8489-68AF-760DA526B2F3}"/>
              </a:ext>
            </a:extLst>
          </p:cNvPr>
          <p:cNvSpPr txBox="1"/>
          <p:nvPr/>
        </p:nvSpPr>
        <p:spPr>
          <a:xfrm>
            <a:off x="36606" y="5430177"/>
            <a:ext cx="389964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Collect the printed paper.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3BB614-684C-B911-F68C-B5866D552BAA}"/>
              </a:ext>
            </a:extLst>
          </p:cNvPr>
          <p:cNvSpPr txBox="1"/>
          <p:nvPr/>
        </p:nvSpPr>
        <p:spPr>
          <a:xfrm>
            <a:off x="607358" y="5963507"/>
            <a:ext cx="2696884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5"/>
                </a:solidFill>
              </a:rPr>
              <a:t>Open the file.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207F0F-4DDD-04DB-DE6C-D804565CE666}"/>
              </a:ext>
            </a:extLst>
          </p:cNvPr>
          <p:cNvSpPr txBox="1"/>
          <p:nvPr/>
        </p:nvSpPr>
        <p:spPr>
          <a:xfrm>
            <a:off x="-77695" y="699829"/>
            <a:ext cx="3753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accent2"/>
                </a:solidFill>
              </a:rPr>
              <a:t>Example: Printing a Document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5B997D-7427-E726-190B-731F1C25A375}"/>
              </a:ext>
            </a:extLst>
          </p:cNvPr>
          <p:cNvSpPr txBox="1"/>
          <p:nvPr/>
        </p:nvSpPr>
        <p:spPr>
          <a:xfrm>
            <a:off x="95997" y="6322064"/>
            <a:ext cx="3780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Incorrect Order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502246F-F9FF-A7A6-FB23-084098F97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19387" y="5963507"/>
            <a:ext cx="829195" cy="82919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53BC973-0A06-FE24-783E-2BD62BDD9300}"/>
              </a:ext>
            </a:extLst>
          </p:cNvPr>
          <p:cNvSpPr txBox="1"/>
          <p:nvPr/>
        </p:nvSpPr>
        <p:spPr>
          <a:xfrm>
            <a:off x="7714502" y="1776228"/>
            <a:ext cx="3731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Errors / Bugs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5CD5B8-04E3-A4A7-6702-563ED289824D}"/>
              </a:ext>
            </a:extLst>
          </p:cNvPr>
          <p:cNvSpPr txBox="1"/>
          <p:nvPr/>
        </p:nvSpPr>
        <p:spPr>
          <a:xfrm>
            <a:off x="6713817" y="2460823"/>
            <a:ext cx="5310094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5"/>
                </a:solidFill>
              </a:rPr>
              <a:t>What happens if there is a mistake in the algorithm?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0F00D0-99D7-7A84-A511-E6BDC2E3593A}"/>
              </a:ext>
            </a:extLst>
          </p:cNvPr>
          <p:cNvSpPr txBox="1"/>
          <p:nvPr/>
        </p:nvSpPr>
        <p:spPr>
          <a:xfrm>
            <a:off x="8749175" y="3299688"/>
            <a:ext cx="2696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i="1" dirty="0">
                <a:solidFill>
                  <a:srgbClr val="7030A0"/>
                </a:solidFill>
              </a:rPr>
              <a:t>Bug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367C6E-3BB0-8651-4181-9CEAC4753558}"/>
              </a:ext>
            </a:extLst>
          </p:cNvPr>
          <p:cNvSpPr txBox="1"/>
          <p:nvPr/>
        </p:nvSpPr>
        <p:spPr>
          <a:xfrm>
            <a:off x="7492998" y="4306069"/>
            <a:ext cx="4174564" cy="9776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/>
                </a:solidFill>
              </a:rPr>
              <a:t>A bug is an error in an algorithm or a program.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C2552C-6293-3ABF-2A37-F2BD19504AFA}"/>
              </a:ext>
            </a:extLst>
          </p:cNvPr>
          <p:cNvSpPr txBox="1"/>
          <p:nvPr/>
        </p:nvSpPr>
        <p:spPr>
          <a:xfrm>
            <a:off x="6188635" y="5526798"/>
            <a:ext cx="5835276" cy="7300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4000" b="1" i="1" dirty="0">
                <a:solidFill>
                  <a:srgbClr val="7030A0"/>
                </a:solidFill>
              </a:rPr>
              <a:t>Bug = a mistake or error.</a:t>
            </a:r>
            <a:endParaRPr lang="en-US" sz="4000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50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Unite1: Computational Thinking and programming </vt:lpstr>
      <vt:lpstr>PowerPoint Presentation</vt:lpstr>
      <vt:lpstr>What is an Algorithm?</vt:lpstr>
      <vt:lpstr>Sequence / Correct Order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Unite1: Computational Thinking and programming </dc:title>
  <dc:creator>Habiba Hassan</dc:creator>
  <cp:lastModifiedBy>Habiba Hassan</cp:lastModifiedBy>
  <cp:revision>5</cp:revision>
  <dcterms:created xsi:type="dcterms:W3CDTF">2026-09-19T08:22:53Z</dcterms:created>
  <dcterms:modified xsi:type="dcterms:W3CDTF">2026-09-19T11:21:20Z</dcterms:modified>
</cp:coreProperties>
</file>