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A34FB-6CA2-3B4D-9315-4904D141BFB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541C4-7B2D-3248-ACE3-75867E079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2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Planning Flowcharts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D3F2"/>
                </a:solidFill>
              </a:rPr>
              <a:t>Computational Thinking &amp; Programming — Topic 1.1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BD3F2"/>
                </a:solidFill>
              </a:rPr>
              <a:t>Shapes, activities and predicting outcomes</a:t>
            </a:r>
            <a:endParaRPr lang="en-US" sz="1600" dirty="0"/>
          </a:p>
        </p:txBody>
      </p:sp>
      <p:pic>
        <p:nvPicPr>
          <p:cNvPr id="4" name="Image 0" descr="ch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09037"/>
            <a:ext cx="3291840" cy="2445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a Flowchart?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05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</a:rPr>
              <a:t>A flowchart is a diagram that shows the steps of an algorithm in order.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</a:rPr>
              <a:t>Each step is inside a shape. Arrows show which step comes next.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</a:rPr>
              <a:t>Flowcharts help us plan, explain and test an idea before we build it (e.g. in Scratch).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B45"/>
                </a:solidFill>
              </a:rPr>
              <a:t>Everyday example: a morning routine – wake up, brush teeth, get dressed, eat breakfast.</a:t>
            </a:r>
            <a:endParaRPr lang="en-US" sz="1600" dirty="0"/>
          </a:p>
        </p:txBody>
      </p:sp>
      <p:pic>
        <p:nvPicPr>
          <p:cNvPr id="5" name="Image 0" descr="gir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206573"/>
            <a:ext cx="3474720" cy="22502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DE"/>
                </a:solidFill>
              </a:rPr>
              <a:t>Morning routine = an algorithm!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Flowchart Shapes: Meaning &amp; When to 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188720" cy="493776"/>
          </a:xfrm>
          <a:prstGeom prst="flowChartTerminator">
            <a:avLst/>
          </a:prstGeom>
          <a:solidFill>
            <a:srgbClr val="10B981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914400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A"/>
                </a:solidFill>
              </a:rPr>
              <a:t>Oval / Rounded rectangle – Terminator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22B45"/>
                </a:solidFill>
              </a:rPr>
              <a:t>Start and End of the flowchart. Use it only at the beginning and the end.  e.g. “Start / End”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82496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73936"/>
            <a:ext cx="1188720" cy="493776"/>
          </a:xfrm>
          <a:prstGeom prst="rect">
            <a:avLst/>
          </a:prstGeom>
          <a:solidFill>
            <a:srgbClr val="2E86DE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1682496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A"/>
                </a:solidFill>
              </a:rPr>
              <a:t>Rectangle – Process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22B45"/>
                </a:solidFill>
              </a:rPr>
              <a:t>An action or step to do. Use it for most instructions.  e.g. “Brush your teeth”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42032"/>
            <a:ext cx="1188720" cy="493776"/>
          </a:xfrm>
          <a:prstGeom prst="diamond">
            <a:avLst/>
          </a:prstGeom>
          <a:solidFill>
            <a:srgbClr val="F59E0B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83080" y="2450592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A"/>
                </a:solidFill>
              </a:rPr>
              <a:t>Diamond – Decision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22B45"/>
                </a:solidFill>
              </a:rPr>
              <a:t>A Yes/No question. Two arrows leave it, labelled Yes and No.  e.g. “Is it a school day?”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218688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310128"/>
            <a:ext cx="1188720" cy="493776"/>
          </a:xfrm>
          <a:prstGeom prst="flowChartInputOutput">
            <a:avLst/>
          </a:prstGeom>
          <a:solidFill>
            <a:srgbClr val="E5484D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83080" y="3218688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A"/>
                </a:solidFill>
              </a:rPr>
              <a:t>Parallelogram – Input / Output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22B45"/>
                </a:solidFill>
              </a:rPr>
              <a:t>Asking the user for information, or displaying a message.  e.g. “Ask for username”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986784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25112"/>
            <a:ext cx="1097280" cy="0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783080" y="3986784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A"/>
                </a:solidFill>
              </a:rPr>
              <a:t>Arrow – Flow line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22B45"/>
                </a:solidFill>
              </a:rPr>
              <a:t>Joins the shapes and shows the direction to follow.  e.g. “Step 1 → Step 2”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to Read &amp; Draw a Flowchart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Reading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Start at the Start shape and follow the arrows with your finger.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Do every step in order until you reach End.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At a diamond, answer the question and follow the Yes or No arrow.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Drawing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Always begin and end with an oval (rounded rectangle).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Use a diamond for every decision and label both arrows Yes / No.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Arrows must point in the correct direction – a “No” arrow can go back to an earlier step (a loop) or join another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005840"/>
            <a:ext cx="1463040" cy="457200"/>
          </a:xfrm>
          <a:prstGeom prst="flowChartTerminator">
            <a:avLst/>
          </a:prstGeom>
          <a:solidFill>
            <a:srgbClr val="10B981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3A"/>
                </a:solidFill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0" y="1463040"/>
            <a:ext cx="0" cy="274320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09360" y="1737360"/>
            <a:ext cx="1463040" cy="457200"/>
          </a:xfrm>
          <a:prstGeom prst="rect">
            <a:avLst/>
          </a:prstGeom>
          <a:solidFill>
            <a:srgbClr val="DCEBFA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3A"/>
                </a:solidFill>
              </a:rPr>
              <a:t>Do a 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2194560"/>
            <a:ext cx="0" cy="274320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26480" y="2468880"/>
            <a:ext cx="1828800" cy="1005840"/>
          </a:xfrm>
          <a:prstGeom prst="diamond">
            <a:avLst/>
          </a:prstGeom>
          <a:solidFill>
            <a:srgbClr val="F59E0B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3A"/>
                </a:solidFill>
              </a:rPr>
              <a:t>Question?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3474720"/>
            <a:ext cx="0" cy="365760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086600" y="3493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Yes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971800"/>
            <a:ext cx="640080" cy="0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840480"/>
            <a:ext cx="1463040" cy="457200"/>
          </a:xfrm>
          <a:prstGeom prst="flowChartTerminator">
            <a:avLst/>
          </a:prstGeom>
          <a:solidFill>
            <a:srgbClr val="10B981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B3A"/>
                </a:solidFill>
              </a:rPr>
              <a:t>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Unplugged Activity 2: Morning Routine</a:t>
            </a:r>
            <a:endParaRPr lang="en-US" sz="2600" dirty="0"/>
          </a:p>
        </p:txBody>
      </p:sp>
      <p:pic>
        <p:nvPicPr>
          <p:cNvPr id="4" name="Image 0" descr="ac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54" y="914400"/>
            <a:ext cx="4313412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91440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49240" y="100584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What we 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Work with a partner.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Follow the flowchart twice: once as a school day and once as a weekend.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Use your finger to trace the arrows.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Then ask: What do you notice?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Activity 2: What Do We Notice?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Observations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Both runs start and end the same way.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The diamond “Is it a school day?” sends us down a different path.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Yes → Take out your school uniform. No → Take out your weekend clothes.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Both paths join again at “Get dressed”, then continue.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So a flowchart can have different routes but one ending.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05156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</a:rPr>
              <a:t>Question 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What is the difference between the cereal flowchart and the morning routine flowchart?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</a:rPr>
              <a:t>Answer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The cereal flowchart is a simple sequence – steps one after another with no decisions. The morning routine has a decision diamond with Yes/No branches, so there are two possible paths.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Unplugged Activity 3: Two Flowcharts</a:t>
            </a:r>
            <a:endParaRPr lang="en-US" sz="2600" dirty="0"/>
          </a:p>
        </p:txBody>
      </p:sp>
      <p:pic>
        <p:nvPicPr>
          <p:cNvPr id="4" name="Image 0" descr="act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868680"/>
            <a:ext cx="327152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63440" y="96012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What we 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With a partner, take turns following each flowchart with your finger.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Discuss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1) What is happening in each flowchart?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2) Can you remind your partner what each shape means?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86DE"/>
                </a:solidFill>
              </a:rPr>
              <a:t>Tip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Look at the colours: red = number trick, blue = login.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Activity 3: What Is Happening?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91440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0058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5484D"/>
                </a:solidFill>
              </a:rPr>
              <a:t>Red: Number trick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Pick a number between 1 and 10 (input).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×2 → +6 → halve it → subtract your original number.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Example: 4 → 8 → 14 → 7 → 3.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Answer is always 3, so the question “Are you left with the number 3?” always works!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No decisions: just a sequence.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0058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86DE"/>
                </a:solidFill>
              </a:rPr>
              <a:t>Blue: Login system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Ask for username (parallelogram) → check database.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Diamond: is there a record? No → display “Username not found” and ask again. Yes → continue.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Ask for password → check it.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Diamond: correct? No → “Password incorrect”, try again. Yes → let user into account.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Uses loops: the No arrows go back.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Unplugged Activity 4: Arun’s Tea Flowchart</a:t>
            </a:r>
            <a:endParaRPr lang="en-US" sz="2600" dirty="0"/>
          </a:p>
        </p:txBody>
      </p:sp>
      <p:pic>
        <p:nvPicPr>
          <p:cNvPr id="4" name="Image 0" descr="act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92" y="868680"/>
            <a:ext cx="3054417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11880" y="9601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What we 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Arun drew a flowchart for how his dad makes tea but used no shapes.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With a partner, decide which shape goes with each step.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Use Worksheet 1.1 to redraw it with the correct shapes and arrows.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Remember: a decision needs Yes and No arrows – think carefully where “No” should point!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86DE"/>
                </a:solidFill>
              </a:rPr>
              <a:t>Swap and check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Oval for start/end? Decision diamond with Yes/No labels? Arrows pointing correctly?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Activity 4: The Completed Flowchart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7440" y="896112"/>
            <a:ext cx="1737360" cy="347472"/>
          </a:xfrm>
          <a:prstGeom prst="flowChartTerminator">
            <a:avLst/>
          </a:prstGeom>
          <a:solidFill>
            <a:srgbClr val="10B981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0" y="89611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3A"/>
                </a:solidFill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243584"/>
            <a:ext cx="0" cy="128016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1371600"/>
            <a:ext cx="1737360" cy="347472"/>
          </a:xfrm>
          <a:prstGeom prst="rect">
            <a:avLst/>
          </a:prstGeom>
          <a:solidFill>
            <a:srgbClr val="DCEBFA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3A"/>
                </a:solidFill>
              </a:rPr>
              <a:t>Turn the kettle 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719072"/>
            <a:ext cx="0" cy="128016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77440" y="1847088"/>
            <a:ext cx="1737360" cy="347472"/>
          </a:xfrm>
          <a:prstGeom prst="rect">
            <a:avLst/>
          </a:prstGeom>
          <a:solidFill>
            <a:srgbClr val="DCEBFA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184708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3A"/>
                </a:solidFill>
              </a:rPr>
              <a:t>Wait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0" cy="128016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0" y="2322576"/>
            <a:ext cx="1920240" cy="685800"/>
          </a:xfrm>
          <a:prstGeom prst="diamond">
            <a:avLst/>
          </a:prstGeom>
          <a:solidFill>
            <a:srgbClr val="F59E0B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322576"/>
            <a:ext cx="1920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3A"/>
                </a:solidFill>
              </a:rPr>
              <a:t>Has the kettle boiled?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3008376"/>
            <a:ext cx="0" cy="155448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29184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Yes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665476"/>
            <a:ext cx="274320" cy="0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480560" y="2020824"/>
            <a:ext cx="0" cy="644652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4114800" y="2020824"/>
            <a:ext cx="365760" cy="0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160520" y="24140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3163824"/>
            <a:ext cx="1737360" cy="347472"/>
          </a:xfrm>
          <a:prstGeom prst="rect">
            <a:avLst/>
          </a:prstGeom>
          <a:solidFill>
            <a:srgbClr val="DCEBFA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77440" y="3163824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1B3A"/>
                </a:solidFill>
              </a:rPr>
              <a:t>Pour the water onto the tea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511296"/>
            <a:ext cx="0" cy="109728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77440" y="3621024"/>
            <a:ext cx="1737360" cy="347472"/>
          </a:xfrm>
          <a:prstGeom prst="rect">
            <a:avLst/>
          </a:prstGeom>
          <a:solidFill>
            <a:srgbClr val="DCEBFA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3621024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1B3A"/>
                </a:solidFill>
              </a:rPr>
              <a:t>Add one spoonful of sugar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968496"/>
            <a:ext cx="0" cy="109728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377440" y="4078224"/>
            <a:ext cx="1737360" cy="347472"/>
          </a:xfrm>
          <a:prstGeom prst="rect">
            <a:avLst/>
          </a:prstGeom>
          <a:solidFill>
            <a:srgbClr val="DCEBFA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77440" y="4078224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3A"/>
                </a:solidFill>
              </a:rPr>
              <a:t>Stir well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4425696"/>
            <a:ext cx="0" cy="109728"/>
          </a:xfrm>
          <a:prstGeom prst="line">
            <a:avLst/>
          </a:prstGeom>
          <a:noFill/>
          <a:ln w="19050">
            <a:solidFill>
              <a:srgbClr val="1F2A5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377440" y="4535424"/>
            <a:ext cx="1737360" cy="347472"/>
          </a:xfrm>
          <a:prstGeom prst="flowChartTerminator">
            <a:avLst/>
          </a:prstGeom>
          <a:solidFill>
            <a:srgbClr val="10B981"/>
          </a:solidFill>
          <a:ln w="15240">
            <a:solidFill>
              <a:srgbClr val="1F2A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77440" y="4535424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B3A"/>
                </a:solidFill>
              </a:rPr>
              <a:t>End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91440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1005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</a:rPr>
              <a:t>Why these shapes?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Start / End → oval.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Turn on, Wait, Pour, Add, Stir → rectangles (actions).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Has the kettle boiled? → diamond (Yes/No question).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Yes → go on to pour the water.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No → arrow goes back to “Wait”, so we wait and check again (a loop).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Questions 2–4 and Activity 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00584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5A"/>
                </a:solidFill>
              </a:rPr>
              <a:t>Answers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Q2. What shape at the start and end? An oval or rectangle with rounded corners (terminator).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Q3. When use a rectangle? For a process – an action or instruction step.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Q4. Why a diamond? For a decision – a Yes/No question that splits the path in two.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00584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B981"/>
                </a:solidFill>
              </a:rPr>
              <a:t>Activity 5: Make a poster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Need: computer, laptop or tablet + Word, PowerPoint or Canva.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Create a poster that explains what each flowchart shape means.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Add pictures and colour to make it interesting.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</a:rPr>
              <a:t>Include: oval, rectangle, diamond, parallelogram, arrow – with a short example for each.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Programming Task 1: Following a Flowchart</a:t>
            </a:r>
            <a:endParaRPr lang="en-US" sz="2600" dirty="0"/>
          </a:p>
        </p:txBody>
      </p:sp>
      <p:pic>
        <p:nvPicPr>
          <p:cNvPr id="4" name="Image 0" descr="task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25413"/>
            <a:ext cx="4480560" cy="28126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91440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A5A"/>
                </a:solidFill>
              </a:rPr>
              <a:t>What we do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Marcus drew a flowchart for a space animation. Build it in Scratch.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Open source file 1.1_space_animation_template.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Some blocks are already given – put them in a sequence.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86DE"/>
                </a:solidFill>
              </a:rPr>
              <a:t>Flowchart → Scratch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Fly across screen → glide block.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Land on planet → glide / move to planet.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Astronaut appears → show block.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Says “This is the wrong planet!” → say block.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931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A5A"/>
                </a:solidFill>
              </a:rPr>
              <a:t>Rectangle steps = blocks; the order of the arrows = the order of the blocks.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Am I Doing? &amp; Predicting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987552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5A"/>
                </a:solidFill>
              </a:rPr>
              <a:t>Check your Scratch code: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</a:rPr>
              <a:t>Spaceship flies across the stage.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</a:rPr>
              <a:t>Spaceship looks like it lands on a planet.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</a:rPr>
              <a:t>Astronaut appears after landing.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</a:rPr>
              <a:t>Astronaut says something. (1 point each)</a:t>
            </a:r>
            <a:endParaRPr lang="en-US" sz="1200" dirty="0"/>
          </a:p>
        </p:txBody>
      </p:sp>
      <p:pic>
        <p:nvPicPr>
          <p:cNvPr id="6" name="Image 0" descr="ch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917" y="914400"/>
            <a:ext cx="2461846" cy="1828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292608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5A"/>
                </a:solidFill>
              </a:rPr>
              <a:t>Prediction = saying what you think will happen in the future.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If you understand a flowchart, you can predict a robot’s next chess move.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People use complex flowcharts to predict real things: who needs healthcare, or if the price of gold will rise or fall.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</a:rPr>
              <a:t>To predict the outcome: follow every step to the end.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Unplugged Activity 6: Fix the Computer</a:t>
            </a:r>
            <a:endParaRPr lang="en-US" sz="2600" dirty="0"/>
          </a:p>
        </p:txBody>
      </p:sp>
      <p:pic>
        <p:nvPicPr>
          <p:cNvPr id="4" name="Image 0" descr="act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69" y="868680"/>
            <a:ext cx="4654141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914400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A5A"/>
                </a:solidFill>
              </a:rPr>
              <a:t>What we do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Use the flowchart to fix a computer that is not working.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Predict the outcome when the computer is plugged into the mains and the power cable is plugged into the computer.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0B981"/>
                </a:solidFill>
              </a:rPr>
              <a:t>Prediction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Plugged into mains? Yes. Power cable plugged in? Yes.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</a:rPr>
              <a:t>Both No branches are skipped → “Ask an adult for help” → End.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86DE"/>
                </a:solidFill>
              </a:rPr>
              <a:t>Think: where else could flowcharts predict outcomes?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Look What I Can Do!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5A"/>
                </a:solidFill>
              </a:rPr>
              <a:t>Present algorithms as flowcharts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5A"/>
                </a:solidFill>
              </a:rPr>
              <a:t>Know the meaning of different flowchart shapes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5A"/>
                </a:solidFill>
              </a:rPr>
              <a:t>Predict the outcome of a flowchart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</a:rPr>
              <a:t>Terminator (oval): Start / End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</a:rPr>
              <a:t>Process (rectangle): an action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</a:rPr>
              <a:t>Decision (diamond): Yes / No question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</a:rPr>
              <a:t>Input / Output (parallelogram): ask or display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22B45"/>
                </a:solidFill>
              </a:rPr>
              <a:t>Arrows: show the direction of the flow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Habiba Hassan</cp:lastModifiedBy>
  <cp:revision>3</cp:revision>
  <dcterms:created xsi:type="dcterms:W3CDTF">2026-10-04T12:49:54Z</dcterms:created>
  <dcterms:modified xsi:type="dcterms:W3CDTF">2026-10-13T11:03:18Z</dcterms:modified>
</cp:coreProperties>
</file>