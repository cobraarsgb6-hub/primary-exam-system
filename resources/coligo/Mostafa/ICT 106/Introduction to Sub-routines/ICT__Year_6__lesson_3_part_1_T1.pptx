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103F7-15A7-BE43-9EB2-C2987954FDF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F26A3-AB4E-6F47-8CD8-98291DED6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14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learn how programmers avoid repeating themselves by using sub-routines, and how variables work inside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and tell students that by the end of the lesson they should be able to tick every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Pre-teach the vocabulary. Students will meet each word again in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recall. Ask students to answer in pairs for one minute, then take answers. Answers: sub-routines = reusable sections of code; IF THEN ELSE chooses between two paths; a variable such as Score is changed with 'change Score by 1'; the 'ask' block stores the reply in the 'answer'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– Now try this. HOW IT IS DONE: students work with a partner, read the Scratch code, and predict what happens before running it. ANSWER: When the green flag is clicked the Score variable is shown and set to 0. The dinosaur jumps to a random position and waits 1 second, repeated 10 times. Each time the player clicks the dinosaur, the second script runs and adds 1 to Score. After 10 jumps the dinosaur goes to the centre, the Score is hidden and the dinosaur says 'You scored' followed by the final Score (0–10).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sub-routine is a named block of code that does one job. Defining = writing it once. Calling = using it. Use the playground analogy: calling someone's name makes them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gymnast's routine contains moves we already know. Handstand = 4 steps, forward roll = 3 steps. Writing every step each time makes the instructions very long. Instead, define each move as a sub-routine and use it many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1 – how it is done: students circle repeated blocks in the 17-step list. The handstand block (steps 1-4 and 14-17) and the forward roll block (7-9 and 11-13) each appear twice. They write DEFINE sections once, then rewrite the routine using CALL. The 17 steps shrink to 7 lines plus the two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handstand 2 times, forward roll 2 times. Q2: you would only write each move once, then call it. Total length shrinks a lot, fewer chances for mistakes, easier to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sub-routine can be used in two or more different algorithms. Here Routine 1 and Routine 2 both call handstand and forward roll, but add their own extra moves (Routine 1: turn around, star jump; Routine 2: star jump, clap hands, turn around).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2 – any correct answer is fine as long as both routines CALL the same two sub-routines and the DEFINE sections are written only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variable stores data that can change. A quiz game often needs two variables: Score to count points and Lives to limit wrong answers. More variables allow more complex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Algorithm: when green flag clicked; Set Score to 0; Set Lives to 3; Say 'Welcome to this quiz!' for 2 seconds; Ask 'What is 3 + 4?' and wait; IF answer = 7 THEN change Score by 1 ELSE change Lives by 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 – the 'ask' block stores the user's reply in the built-in answer variable. Both sprites can read the same variable. Temi: says 'Amazing! I love ' joined with answer. Hanif: after 'when I receive reply' says 'Oh no! I'm not very good at ' joined with answer. Extension ideas: 'What is your favourite food?', 'What is your favourite colour?'.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Scratch the 'broadcast' and 'receive' blocks create sub-routine-like behaviour. Broadcast sends a message like a radio mast sending a signal; every script with a matching 'when I receive' block runs. Block-based languages such as Scratch are covered in Unit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– ask students to explain each point to a partner.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E6D9"/>
                </a:solidFill>
              </a:rPr>
              <a:t>Unit 1: Computational Thinking and Programming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1.3 Sub-routines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D166"/>
                </a:solidFill>
              </a:rPr>
              <a:t>Write it once. Use it many times.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651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going to…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that a sub-routine can be used multiple times in an algorithm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 sub-routine can be used across different algorithms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to create algorithms with more than one variable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variables can be used in different algorithms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quiz program that uses sub-routines and variables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program where two sprites interrelate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6F7F3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143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sub-routine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section of code that does one specific task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6F7F3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1143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sub-routine a name and write its instructions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6F7F3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286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(use) a sub-routine by using its name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63440" y="2240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6F7F3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0600" y="2286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 to all sprites and scripts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" y="3383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6F7F3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429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a variable to its starting value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63440" y="3383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6F7F3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00600" y="3429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interrelate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things (e.g. sprites) affect or respond to each other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started: what do you already know?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0972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sub-routines are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conditional statements (IF THEN ELSE) can be used in an algorithm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a variable to keep a score, and how to add or remove points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‘ask’ block stores a response in the answer variable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577840" y="128016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3B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77840" y="1280160"/>
            <a:ext cx="30175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answer = 7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change Score by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change Lives by -1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577840" y="283464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6F7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57784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– Pair – Share (1 min)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this! Predict the program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029200" cy="27614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397764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FFF3B0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36576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with a partner, predict what happens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10972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clicked: Score is shown and set to 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Dinosaur jumps to a random place, waits 1 second – 10 times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click on the dinosaur: Score +1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the Score is hidden and the dinosaur says “You scored …”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sub-routine?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572000" cy="16367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03520" y="10972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sub-routine is a section of code, separate from the main code, that performs a specific task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used many times in one algorithm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use sub-routines to make code easier to understand and to reduce repetition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92608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3B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5720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= give it a name and write its instructions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61188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E6F7F3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57200" y="3611880"/>
            <a:ext cx="4572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= use it by its name (as often as you need)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sub-routines within the same algorithm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</a:rPr>
              <a:t>Handstand (4 steps)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931920" cy="1344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</a:rPr>
              <a:t>Forward roll (3 steps)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80160"/>
            <a:ext cx="3931920" cy="1344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sub-routines the instructions are very long, especially when moves repeat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sub-routines each move is written once and called whenever it is needed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2011680" y="393192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FFF3B0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2011680" y="3931920"/>
            <a:ext cx="5120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lines + easier to read + fewer mistakes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Unplugged Activity 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A44"/>
                </a:solidFill>
              </a:rPr>
              <a:t>You will need: a pen and paper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44"/>
                </a:solidFill>
              </a:rPr>
              <a:t>Task: Look at the 17-step gymnastics routine. Find the repeated moves, replace them with sub-routines and write the new algorithm.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12E"/>
                </a:solidFill>
              </a:rPr>
              <a:t>HOW TO DO 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and 14–17 are the same: HANDSTAND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7–9 and 11–13 are the same: FORWARD ROLL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both moves once, then CALL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unique moves: step right, step left, star jump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3B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1737360"/>
            <a:ext cx="393192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ALGORITHM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handstand (4 steps)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forward roll (3 steps)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 handstand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Step to the right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Step to the left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CALL forward roll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 a star jump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CALL forward roll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CALL handstand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answers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6F7F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How many times is each sub-routine called in your new algorithm?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83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9D8A"/>
                </a:solidFill>
              </a:rPr>
              <a:t>Answer: handstand is called 2 times and forward roll is called 2 times.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6F7F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How would sub-routines help for 5 different moves, each called many times?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200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 is written only once, then called by name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 are much shorter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read, and to fix: change the move in one place only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sub-routines in different algorithms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120640" cy="2103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0" y="1097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DEFINE can be called from different routines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1: forward roll ×2, handstand, turn around, star jump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2: star jump, handstand, clap, forward roll, handstand, forward roll, turn around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65760" y="338328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FFF3B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6576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once – use in many algorithms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Unplugged Activity 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A44"/>
                </a:solidFill>
              </a:rPr>
              <a:t>You will need: a pen and paper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44"/>
                </a:solidFill>
              </a:rPr>
              <a:t>Task: Write algorithms for two different gymnastics routines that both use the handstand and forward roll sub-routines. You may create more sub-routines.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12E"/>
                </a:solidFill>
              </a:rPr>
              <a:t>HOW TO DO 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DEFINE handstand and DEFINE forward roll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Routine A using CALL for both moves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Routine B with a different order and new moves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DEFINE star jump too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3B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2011680"/>
            <a:ext cx="393192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ANSWER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A: CALL handstand, CALL forward roll, star jump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B: clap hands, CALL forward roll, CALL handstand, turn around, CALL handstand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more than one variable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572000" cy="13898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03520" y="10972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stores data that can change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programs need more than one variable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– counts the points scored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– limits how many wrong answers are allowed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283464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FF3B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57200" y="2834640"/>
            <a:ext cx="45720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values are set at the start: Set Score to 0, Set Lives to 3 (initialisation)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algorithm: questions and answers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6F7F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097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12E"/>
                </a:solidFill>
              </a:rPr>
              <a:t>3  Names of the variables?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</a:rPr>
              <a:t>Score and Lives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3B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00600" y="1097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12E"/>
                </a:solidFill>
              </a:rPr>
              <a:t>4  Starting data?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</a:rPr>
              <a:t>Score = 0, Lives = 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6F7F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2240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12E"/>
                </a:solidFill>
              </a:rPr>
              <a:t>5  Player enters 5?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</a:rPr>
              <a:t>Wrong: Lives becomes 2, Score stays 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2240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3B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00600" y="2240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12E"/>
                </a:solidFill>
              </a:rPr>
              <a:t>6  Player enters 7?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</a:rPr>
              <a:t>Correct: Score becomes 1, Lives stays 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383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6F7F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12E"/>
                </a:solidFill>
              </a:rPr>
              <a:t>7  Start with 5 lives?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</a:rPr>
              <a:t>Change to: Set Lives to 5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3383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3B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0060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12E"/>
                </a:solidFill>
              </a:rPr>
              <a:t>8  2 points per answer?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</a:rPr>
              <a:t>Change to: change Score by 2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Unplugged Activity 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44"/>
                </a:solidFill>
              </a:rPr>
              <a:t>Hanif and Temi are two sprites. Both use the answer variable. What does each sprite say if the user enters ‘basketball’?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4206240" cy="1737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12E"/>
                </a:solidFill>
              </a:rPr>
              <a:t>HOW TO DO IT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0116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 asks “What’s your favourite sport?” – the reply is stored in answer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 says “Amazing! I love basketball”, then broadcasts reply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Hanif receives reply and says “Oh no! I’m not very good at basketball”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3B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partner: think of another question and how both sprites could use the answer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programs with sub-routines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4389120" cy="18013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0" y="109728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languages let you drag and drop code blocks (e.g. Scratch)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= send a message to all sprites and scripts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receive = the script that runs when it hears that message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calling a sub-routine: the message is the name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65760" y="320040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E6F7F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65760" y="3200400"/>
            <a:ext cx="43891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reply  →  when I receive reply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274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412E"/>
                </a:solidFill>
              </a:rPr>
              <a:t>1.3 Sub-routines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E841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5156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6F7F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05156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12E"/>
                </a:solidFill>
              </a:rPr>
              <a:t>Sub-routine:  </a:t>
            </a:r>
            <a:r>
              <a:rPr lang="en-US" sz="1500" dirty="0">
                <a:solidFill>
                  <a:srgbClr val="1F2A44"/>
                </a:solidFill>
              </a:rPr>
              <a:t>a named section of code that does one task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76479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3B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17647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12E"/>
                </a:solidFill>
              </a:rPr>
              <a:t>DEFINE:  </a:t>
            </a:r>
            <a:r>
              <a:rPr lang="en-US" sz="1500" dirty="0">
                <a:solidFill>
                  <a:srgbClr val="1F2A44"/>
                </a:solidFill>
              </a:rPr>
              <a:t>write the sub-routine once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47802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6F7F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247802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12E"/>
                </a:solidFill>
              </a:rPr>
              <a:t>CALL:  </a:t>
            </a:r>
            <a:r>
              <a:rPr lang="en-US" sz="1500" dirty="0">
                <a:solidFill>
                  <a:srgbClr val="1F2A44"/>
                </a:solidFill>
              </a:rPr>
              <a:t>use it as many times as needed, in any algorithm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319125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3B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19125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12E"/>
                </a:solidFill>
              </a:rPr>
              <a:t>Variables:  </a:t>
            </a:r>
            <a:r>
              <a:rPr lang="en-US" sz="1500" dirty="0">
                <a:solidFill>
                  <a:srgbClr val="1F2A44"/>
                </a:solidFill>
              </a:rPr>
              <a:t>several can be used together (Score, Lives); the same one can be shared by sprites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390448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6F7F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90448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12E"/>
                </a:solidFill>
              </a:rPr>
              <a:t>broadcast / receive:  </a:t>
            </a:r>
            <a:r>
              <a:rPr lang="en-US" sz="1500" dirty="0">
                <a:solidFill>
                  <a:srgbClr val="1F2A44"/>
                </a:solidFill>
              </a:rPr>
              <a:t>sprites send and respond to messages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1.3 Sub-routines</dc:title>
  <dc:subject>PptxGenJS Presentation</dc:subject>
  <dc:creator>PptxGenJS</dc:creator>
  <cp:lastModifiedBy>Habiba Hassan</cp:lastModifiedBy>
  <cp:revision>2</cp:revision>
  <dcterms:created xsi:type="dcterms:W3CDTF">2026-10-26T16:29:20Z</dcterms:created>
  <dcterms:modified xsi:type="dcterms:W3CDTF">2026-10-27T07:15:47Z</dcterms:modified>
</cp:coreProperties>
</file>