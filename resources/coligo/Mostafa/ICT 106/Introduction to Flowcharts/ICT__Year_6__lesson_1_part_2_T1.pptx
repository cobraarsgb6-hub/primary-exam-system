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openxmlformats.org/officedocument/2006/relationships/metadata/core-properties" Target="docProps/core0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0D25FF-E76D-4961-A0A8-9E3529AC53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4F2FCF-C460-4851-B042-6F65AB5C84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3BD72D-A650-4C68-8D4D-005BF1A98A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87D096-6556-4720-A4D8-0D29F708FA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7426FB-9BDA-470F-9A78-A242ACA861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565D79-BAEB-469B-BB46-8387F74265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D35D93-77B9-4F89-B0C1-957940389C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827881-8EA0-46BC-963C-4D4315E9BF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625579-24BA-4B1B-A471-2ECFD5F285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41A67B-D4C3-44F3-A748-06CE54106E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4419E5-5825-4AD4-9322-1BB9E9FDA1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2742840" cy="68576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502920" y="56700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1.1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290801" y="1179236"/>
            <a:ext cx="228420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Planning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Flowcharts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502920" y="2880360"/>
            <a:ext cx="19198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Computational Thinking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and Programming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3840480" y="1051560"/>
            <a:ext cx="1645560" cy="50256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3886200" y="1088280"/>
            <a:ext cx="15541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7"/>
          <p:cNvCxnSpPr/>
          <p:nvPr/>
        </p:nvCxnSpPr>
        <p:spPr>
          <a:xfrm>
            <a:off x="4663440" y="1572480"/>
            <a:ext cx="360" cy="30204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66" name="Rounded Rectangle 8"/>
          <p:cNvSpPr/>
          <p:nvPr/>
        </p:nvSpPr>
        <p:spPr>
          <a:xfrm>
            <a:off x="3840480" y="1874520"/>
            <a:ext cx="1645560" cy="5482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3886200" y="1911240"/>
            <a:ext cx="15541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Do a task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" name="Connector 10"/>
          <p:cNvCxnSpPr/>
          <p:nvPr/>
        </p:nvCxnSpPr>
        <p:spPr>
          <a:xfrm>
            <a:off x="4663440" y="2441160"/>
            <a:ext cx="360" cy="30240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69" name="Diamond 11"/>
          <p:cNvSpPr/>
          <p:nvPr/>
        </p:nvSpPr>
        <p:spPr>
          <a:xfrm>
            <a:off x="3908880" y="2747880"/>
            <a:ext cx="1508400" cy="868320"/>
          </a:xfrm>
          <a:prstGeom prst="diamond">
            <a:avLst/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4046400" y="2912400"/>
            <a:ext cx="123408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Choose?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3"/>
          <p:cNvCxnSpPr>
            <a:cxnSpLocks/>
          </p:cNvCxnSpPr>
          <p:nvPr/>
        </p:nvCxnSpPr>
        <p:spPr>
          <a:xfrm flipH="1">
            <a:off x="3204307" y="3456360"/>
            <a:ext cx="837413" cy="816272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cxnSp>
        <p:nvCxnSpPr>
          <p:cNvPr id="72" name="Connector 14"/>
          <p:cNvCxnSpPr/>
          <p:nvPr/>
        </p:nvCxnSpPr>
        <p:spPr>
          <a:xfrm>
            <a:off x="5285160" y="3456360"/>
            <a:ext cx="933120" cy="70452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73" name="Rounded Rectangle 15"/>
          <p:cNvSpPr/>
          <p:nvPr/>
        </p:nvSpPr>
        <p:spPr>
          <a:xfrm>
            <a:off x="3011359" y="4253040"/>
            <a:ext cx="1554120" cy="5482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2946778" y="4272632"/>
            <a:ext cx="146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Option 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5440680" y="4160520"/>
            <a:ext cx="1554120" cy="548280"/>
          </a:xfrm>
          <a:prstGeom prst="roundRect">
            <a:avLst>
              <a:gd name="adj" fmla="val 16667"/>
            </a:avLst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5486400" y="4197240"/>
            <a:ext cx="146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Option 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7772400" y="102384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visual way to show an algorithm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7749720" y="191124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Shapes + arrows + steps + decisions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21"/>
          <p:cNvSpPr/>
          <p:nvPr/>
        </p:nvSpPr>
        <p:spPr>
          <a:xfrm>
            <a:off x="7904424" y="3006514"/>
            <a:ext cx="4118087" cy="197964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2"/>
          <p:cNvSpPr/>
          <p:nvPr/>
        </p:nvSpPr>
        <p:spPr>
          <a:xfrm flipH="1">
            <a:off x="7736434" y="2793600"/>
            <a:ext cx="136801" cy="256032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8095920" y="3075274"/>
            <a:ext cx="3593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Today we will learn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4"/>
          <p:cNvSpPr/>
          <p:nvPr/>
        </p:nvSpPr>
        <p:spPr>
          <a:xfrm>
            <a:off x="8179244" y="3472046"/>
            <a:ext cx="35931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How algorithms can be represented as flowcharts, what the common flowchart shapes mean, and how to follow a flowchart to predict its result.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5"/>
          <p:cNvSpPr/>
          <p:nvPr/>
        </p:nvSpPr>
        <p:spPr>
          <a:xfrm>
            <a:off x="663300" y="6564044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6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Learning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By the end of the lesson, students will be able to: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Oval 6"/>
          <p:cNvSpPr/>
          <p:nvPr/>
        </p:nvSpPr>
        <p:spPr>
          <a:xfrm>
            <a:off x="685800" y="1417320"/>
            <a:ext cx="658080" cy="65808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685800" y="144468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1600200" y="139896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Represent algorithms as flowcharts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1600200" y="2157840"/>
            <a:ext cx="8960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Show an algorithm using a clear sequence of flowchart steps.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10"/>
          <p:cNvSpPr/>
          <p:nvPr/>
        </p:nvSpPr>
        <p:spPr>
          <a:xfrm>
            <a:off x="685800" y="2926080"/>
            <a:ext cx="658080" cy="65808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685800" y="295344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1600200" y="290772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Understand flowchart shapes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1600200" y="3319200"/>
            <a:ext cx="8960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Recognise the shapes used to show steps and decisions.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14"/>
          <p:cNvSpPr/>
          <p:nvPr/>
        </p:nvSpPr>
        <p:spPr>
          <a:xfrm>
            <a:off x="685800" y="4434840"/>
            <a:ext cx="658080" cy="65808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5"/>
          <p:cNvSpPr/>
          <p:nvPr/>
        </p:nvSpPr>
        <p:spPr>
          <a:xfrm>
            <a:off x="685800" y="446220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1600200" y="441648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Predict flowchart results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1600200" y="4827960"/>
            <a:ext cx="8960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Follow arrows from Start to End and work out what will happen.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8"/>
          <p:cNvSpPr/>
          <p:nvPr/>
        </p:nvSpPr>
        <p:spPr>
          <a:xfrm>
            <a:off x="8686800" y="1508760"/>
            <a:ext cx="1554120" cy="50256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8732520" y="1545480"/>
            <a:ext cx="14626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Connector 20"/>
          <p:cNvCxnSpPr/>
          <p:nvPr/>
        </p:nvCxnSpPr>
        <p:spPr>
          <a:xfrm>
            <a:off x="9464040" y="2029680"/>
            <a:ext cx="360" cy="30240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05" name="Rounded Rectangle 21"/>
          <p:cNvSpPr/>
          <p:nvPr/>
        </p:nvSpPr>
        <p:spPr>
          <a:xfrm>
            <a:off x="8686800" y="2331720"/>
            <a:ext cx="1554120" cy="52992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8732520" y="236844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STEP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23"/>
          <p:cNvCxnSpPr/>
          <p:nvPr/>
        </p:nvCxnSpPr>
        <p:spPr>
          <a:xfrm>
            <a:off x="9464040" y="2880360"/>
            <a:ext cx="360" cy="30204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08" name="Diamond 24"/>
          <p:cNvSpPr/>
          <p:nvPr/>
        </p:nvSpPr>
        <p:spPr>
          <a:xfrm>
            <a:off x="8778240" y="3200400"/>
            <a:ext cx="1371240" cy="822600"/>
          </a:xfrm>
          <a:prstGeom prst="diamond">
            <a:avLst/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8915400" y="3364920"/>
            <a:ext cx="1096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7909380" y="465444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7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Follow the arrows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and predict the result.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7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8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What Do You Already Know?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Before learning flowcharts, connect the idea to algorithms you already know.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6"/>
          <p:cNvSpPr/>
          <p:nvPr/>
        </p:nvSpPr>
        <p:spPr>
          <a:xfrm>
            <a:off x="594360" y="1325880"/>
            <a:ext cx="3397140" cy="191124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7"/>
          <p:cNvSpPr/>
          <p:nvPr/>
        </p:nvSpPr>
        <p:spPr>
          <a:xfrm>
            <a:off x="594360" y="1325880"/>
            <a:ext cx="72720" cy="187416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828694" y="132552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1  Algorithms use a sequence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726433" y="1791652"/>
            <a:ext cx="3362965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600" b="0" u="none" strike="noStrike" dirty="0">
                <a:solidFill>
                  <a:srgbClr val="243038"/>
                </a:solidFill>
                <a:effectLst/>
                <a:uFillTx/>
                <a:latin typeface="Aptos"/>
              </a:rPr>
              <a:t>An algorithm has steps that must be followed in order.</a:t>
            </a:r>
            <a:endParaRPr lang="en-GB" sz="1600" dirty="0">
              <a:solidFill>
                <a:srgbClr val="000000"/>
              </a:solidFill>
              <a:latin typeface="Arial"/>
            </a:endParaRPr>
          </a:p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 dirty="0">
                <a:solidFill>
                  <a:srgbClr val="243038"/>
                </a:solidFill>
                <a:effectLst/>
                <a:uFillTx/>
                <a:latin typeface="Aptos"/>
              </a:rPr>
              <a:t>Common reading directions: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 dirty="0">
                <a:solidFill>
                  <a:srgbClr val="243038"/>
                </a:solidFill>
                <a:effectLst/>
                <a:uFillTx/>
                <a:latin typeface="Aptos"/>
              </a:rPr>
              <a:t>Top → bottom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43038"/>
                </a:solidFill>
                <a:effectLst/>
                <a:uFillTx/>
                <a:latin typeface="Aptos"/>
              </a:rPr>
              <a:t>Left → right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0"/>
          <p:cNvSpPr/>
          <p:nvPr/>
        </p:nvSpPr>
        <p:spPr>
          <a:xfrm>
            <a:off x="4389120" y="1325880"/>
            <a:ext cx="3428640" cy="187416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11"/>
          <p:cNvSpPr/>
          <p:nvPr/>
        </p:nvSpPr>
        <p:spPr>
          <a:xfrm>
            <a:off x="4389120" y="1325880"/>
            <a:ext cx="72720" cy="187416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2"/>
          <p:cNvSpPr/>
          <p:nvPr/>
        </p:nvSpPr>
        <p:spPr>
          <a:xfrm>
            <a:off x="4590360" y="149040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2  Algorithms can use input &amp;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3"/>
          <p:cNvSpPr/>
          <p:nvPr/>
        </p:nvSpPr>
        <p:spPr>
          <a:xfrm>
            <a:off x="4617540" y="2135160"/>
            <a:ext cx="304452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An algorithm may receive information (input) and produce a result (output).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14"/>
          <p:cNvSpPr/>
          <p:nvPr/>
        </p:nvSpPr>
        <p:spPr>
          <a:xfrm>
            <a:off x="8183880" y="1325880"/>
            <a:ext cx="3428640" cy="187416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15"/>
          <p:cNvSpPr/>
          <p:nvPr/>
        </p:nvSpPr>
        <p:spPr>
          <a:xfrm>
            <a:off x="8183880" y="1325880"/>
            <a:ext cx="72720" cy="1874160"/>
          </a:xfrm>
          <a:prstGeom prst="rect">
            <a:avLst/>
          </a:prstGeom>
          <a:solidFill>
            <a:srgbClr val="EF46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8385120" y="149040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F4641"/>
                </a:solidFill>
                <a:effectLst/>
                <a:uFillTx/>
                <a:latin typeface="Aptos"/>
              </a:rPr>
              <a:t>3  Algorithms can make choices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8437371" y="2167200"/>
            <a:ext cx="304452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conditional such as IF / THEN / ELSE can make an algorithm do one thing or another.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8"/>
          <p:cNvSpPr/>
          <p:nvPr/>
        </p:nvSpPr>
        <p:spPr>
          <a:xfrm>
            <a:off x="685800" y="35578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Example: Getting Ready for School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9"/>
          <p:cNvSpPr/>
          <p:nvPr/>
        </p:nvSpPr>
        <p:spPr>
          <a:xfrm>
            <a:off x="685800" y="43434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0"/>
          <p:cNvSpPr/>
          <p:nvPr/>
        </p:nvSpPr>
        <p:spPr>
          <a:xfrm>
            <a:off x="731520" y="4380120"/>
            <a:ext cx="13255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Wake up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21"/>
          <p:cNvCxnSpPr/>
          <p:nvPr/>
        </p:nvCxnSpPr>
        <p:spPr>
          <a:xfrm>
            <a:off x="2130480" y="4626720"/>
            <a:ext cx="24732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34" name="Rounded Rectangle 22"/>
          <p:cNvSpPr/>
          <p:nvPr/>
        </p:nvSpPr>
        <p:spPr>
          <a:xfrm>
            <a:off x="2423160" y="43434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3"/>
          <p:cNvSpPr/>
          <p:nvPr/>
        </p:nvSpPr>
        <p:spPr>
          <a:xfrm>
            <a:off x="2468880" y="4380120"/>
            <a:ext cx="13255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Get dressed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Connector 24"/>
          <p:cNvCxnSpPr/>
          <p:nvPr/>
        </p:nvCxnSpPr>
        <p:spPr>
          <a:xfrm>
            <a:off x="3867840" y="4626720"/>
            <a:ext cx="24732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37" name="Rounded Rectangle 25"/>
          <p:cNvSpPr/>
          <p:nvPr/>
        </p:nvSpPr>
        <p:spPr>
          <a:xfrm>
            <a:off x="4160520" y="43434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6"/>
          <p:cNvSpPr/>
          <p:nvPr/>
        </p:nvSpPr>
        <p:spPr>
          <a:xfrm>
            <a:off x="4206240" y="4380120"/>
            <a:ext cx="13255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Prepare bag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nector 27"/>
          <p:cNvCxnSpPr/>
          <p:nvPr/>
        </p:nvCxnSpPr>
        <p:spPr>
          <a:xfrm>
            <a:off x="5605200" y="4626720"/>
            <a:ext cx="24732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40" name="Rounded Rectangle 28"/>
          <p:cNvSpPr/>
          <p:nvPr/>
        </p:nvSpPr>
        <p:spPr>
          <a:xfrm>
            <a:off x="5897880" y="43434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29"/>
          <p:cNvSpPr/>
          <p:nvPr/>
        </p:nvSpPr>
        <p:spPr>
          <a:xfrm>
            <a:off x="5943600" y="4380120"/>
            <a:ext cx="13255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Put on shoes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0"/>
          <p:cNvSpPr/>
          <p:nvPr/>
        </p:nvSpPr>
        <p:spPr>
          <a:xfrm>
            <a:off x="7818120" y="41605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EF4641"/>
                </a:solidFill>
                <a:effectLst/>
                <a:uFillTx/>
                <a:latin typeface="Aptos"/>
              </a:rPr>
              <a:t>The order matters.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1"/>
          <p:cNvSpPr/>
          <p:nvPr/>
        </p:nvSpPr>
        <p:spPr>
          <a:xfrm>
            <a:off x="7818120" y="4572000"/>
            <a:ext cx="3428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If we change the order, the algorithm may not work correctly.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2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3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Algorithms: Input and Output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An algorithm can use information and produce a result.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6"/>
          <p:cNvSpPr/>
          <p:nvPr/>
        </p:nvSpPr>
        <p:spPr>
          <a:xfrm>
            <a:off x="1005840" y="2148840"/>
            <a:ext cx="1828440" cy="685440"/>
          </a:xfrm>
          <a:prstGeom prst="roundRect">
            <a:avLst>
              <a:gd name="adj" fmla="val 16667"/>
            </a:avLst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1051560" y="2185560"/>
            <a:ext cx="17370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INPUT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Connector 8"/>
          <p:cNvCxnSpPr/>
          <p:nvPr/>
        </p:nvCxnSpPr>
        <p:spPr>
          <a:xfrm>
            <a:off x="2880360" y="2496240"/>
            <a:ext cx="109728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54" name="Rounded Rectangle 9"/>
          <p:cNvSpPr/>
          <p:nvPr/>
        </p:nvSpPr>
        <p:spPr>
          <a:xfrm>
            <a:off x="3977640" y="192024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4023360" y="1956960"/>
            <a:ext cx="265140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r>
              <a:rPr lang="en-US" sz="17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ALGORITHM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Process the input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Connector 11"/>
          <p:cNvCxnSpPr/>
          <p:nvPr/>
        </p:nvCxnSpPr>
        <p:spPr>
          <a:xfrm>
            <a:off x="6766560" y="2496240"/>
            <a:ext cx="109764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57" name="Rounded Rectangle 12"/>
          <p:cNvSpPr/>
          <p:nvPr/>
        </p:nvSpPr>
        <p:spPr>
          <a:xfrm>
            <a:off x="7863840" y="2148840"/>
            <a:ext cx="1828440" cy="68544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7909560" y="2185560"/>
            <a:ext cx="17370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OUTPUT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4"/>
          <p:cNvSpPr/>
          <p:nvPr/>
        </p:nvSpPr>
        <p:spPr>
          <a:xfrm>
            <a:off x="914400" y="3886200"/>
            <a:ext cx="4708800" cy="141696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15"/>
          <p:cNvSpPr/>
          <p:nvPr/>
        </p:nvSpPr>
        <p:spPr>
          <a:xfrm>
            <a:off x="914400" y="3886200"/>
            <a:ext cx="72720" cy="141696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6"/>
          <p:cNvSpPr/>
          <p:nvPr/>
        </p:nvSpPr>
        <p:spPr>
          <a:xfrm>
            <a:off x="1115640" y="4050720"/>
            <a:ext cx="4324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Example 1: Adding numbers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7"/>
          <p:cNvSpPr/>
          <p:nvPr/>
        </p:nvSpPr>
        <p:spPr>
          <a:xfrm>
            <a:off x="1115640" y="4480560"/>
            <a:ext cx="43246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Input: two numbers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Algorithm: add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Output: the total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8"/>
          <p:cNvSpPr/>
          <p:nvPr/>
        </p:nvSpPr>
        <p:spPr>
          <a:xfrm>
            <a:off x="5943600" y="3886200"/>
            <a:ext cx="4708800" cy="141696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19"/>
          <p:cNvSpPr/>
          <p:nvPr/>
        </p:nvSpPr>
        <p:spPr>
          <a:xfrm>
            <a:off x="5943600" y="3886200"/>
            <a:ext cx="72720" cy="1416960"/>
          </a:xfrm>
          <a:prstGeom prst="rect">
            <a:avLst/>
          </a:prstGeom>
          <a:solidFill>
            <a:srgbClr val="51A46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0"/>
          <p:cNvSpPr/>
          <p:nvPr/>
        </p:nvSpPr>
        <p:spPr>
          <a:xfrm>
            <a:off x="6144840" y="4050720"/>
            <a:ext cx="4324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51A467"/>
                </a:solidFill>
                <a:effectLst/>
                <a:uFillTx/>
                <a:latin typeface="Aptos"/>
              </a:rPr>
              <a:t>Example 2: Washing clothes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1"/>
          <p:cNvSpPr/>
          <p:nvPr/>
        </p:nvSpPr>
        <p:spPr>
          <a:xfrm>
            <a:off x="6144840" y="4480560"/>
            <a:ext cx="43246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Input: dirty clothes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Algorithm: wash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Output: clean clothes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2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3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Conditionals: IF / THEN / ELSE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Sometimes an algorithm needs to make a decision.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6"/>
          <p:cNvSpPr/>
          <p:nvPr/>
        </p:nvSpPr>
        <p:spPr>
          <a:xfrm>
            <a:off x="4754880" y="1143000"/>
            <a:ext cx="1645560" cy="50256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7"/>
          <p:cNvSpPr/>
          <p:nvPr/>
        </p:nvSpPr>
        <p:spPr>
          <a:xfrm>
            <a:off x="4800600" y="1179720"/>
            <a:ext cx="15541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Connector 8"/>
          <p:cNvCxnSpPr/>
          <p:nvPr/>
        </p:nvCxnSpPr>
        <p:spPr>
          <a:xfrm>
            <a:off x="5577840" y="1663920"/>
            <a:ext cx="360" cy="30240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77" name="Rounded Rectangle 9"/>
          <p:cNvSpPr/>
          <p:nvPr/>
        </p:nvSpPr>
        <p:spPr>
          <a:xfrm>
            <a:off x="4754880" y="1965960"/>
            <a:ext cx="1645560" cy="52992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0"/>
          <p:cNvSpPr/>
          <p:nvPr/>
        </p:nvSpPr>
        <p:spPr>
          <a:xfrm>
            <a:off x="4800600" y="20026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Look outside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Connector 11"/>
          <p:cNvCxnSpPr/>
          <p:nvPr/>
        </p:nvCxnSpPr>
        <p:spPr>
          <a:xfrm>
            <a:off x="5577840" y="2523600"/>
            <a:ext cx="360" cy="32940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80" name="Diamond 12"/>
          <p:cNvSpPr/>
          <p:nvPr/>
        </p:nvSpPr>
        <p:spPr>
          <a:xfrm>
            <a:off x="4663440" y="2857680"/>
            <a:ext cx="1828440" cy="959760"/>
          </a:xfrm>
          <a:prstGeom prst="diamond">
            <a:avLst/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3"/>
          <p:cNvSpPr/>
          <p:nvPr/>
        </p:nvSpPr>
        <p:spPr>
          <a:xfrm>
            <a:off x="4978610" y="3008991"/>
            <a:ext cx="155412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raining?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2" name="Connector 14"/>
          <p:cNvCxnSpPr/>
          <p:nvPr/>
        </p:nvCxnSpPr>
        <p:spPr>
          <a:xfrm flipH="1">
            <a:off x="3154680" y="3337560"/>
            <a:ext cx="1600560" cy="82332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cxnSp>
        <p:nvCxnSpPr>
          <p:cNvPr id="183" name="Connector 15"/>
          <p:cNvCxnSpPr/>
          <p:nvPr/>
        </p:nvCxnSpPr>
        <p:spPr>
          <a:xfrm>
            <a:off x="6400800" y="3337560"/>
            <a:ext cx="1600560" cy="82332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184" name="TextBox 16"/>
          <p:cNvSpPr/>
          <p:nvPr/>
        </p:nvSpPr>
        <p:spPr>
          <a:xfrm>
            <a:off x="3146045" y="36529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YES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7"/>
          <p:cNvSpPr/>
          <p:nvPr/>
        </p:nvSpPr>
        <p:spPr>
          <a:xfrm>
            <a:off x="7452360" y="37033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F4641"/>
                </a:solidFill>
                <a:effectLst/>
                <a:uFillTx/>
                <a:latin typeface="Aptos"/>
              </a:rPr>
              <a:t>NO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8"/>
          <p:cNvSpPr/>
          <p:nvPr/>
        </p:nvSpPr>
        <p:spPr>
          <a:xfrm>
            <a:off x="2331720" y="4160520"/>
            <a:ext cx="1645560" cy="712800"/>
          </a:xfrm>
          <a:prstGeom prst="roundRect">
            <a:avLst>
              <a:gd name="adj" fmla="val 16667"/>
            </a:avLst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9"/>
          <p:cNvSpPr/>
          <p:nvPr/>
        </p:nvSpPr>
        <p:spPr>
          <a:xfrm>
            <a:off x="2377440" y="419724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Take 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umbrella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20"/>
          <p:cNvSpPr/>
          <p:nvPr/>
        </p:nvSpPr>
        <p:spPr>
          <a:xfrm>
            <a:off x="7178040" y="4160520"/>
            <a:ext cx="1965600" cy="71280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1"/>
          <p:cNvSpPr/>
          <p:nvPr/>
        </p:nvSpPr>
        <p:spPr>
          <a:xfrm>
            <a:off x="7223760" y="4197240"/>
            <a:ext cx="1874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Go without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an umbrella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2"/>
          <p:cNvSpPr/>
          <p:nvPr/>
        </p:nvSpPr>
        <p:spPr>
          <a:xfrm>
            <a:off x="2971800" y="5257800"/>
            <a:ext cx="5668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7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IF the condition is true → follow the THEN path.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ELSE → follow the other path.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3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4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Getting Started: Build an Algorithm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Work with a partner and describe a familiar everyday task.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6"/>
          <p:cNvSpPr/>
          <p:nvPr/>
        </p:nvSpPr>
        <p:spPr>
          <a:xfrm>
            <a:off x="640080" y="1325880"/>
            <a:ext cx="5166000" cy="356580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7"/>
          <p:cNvSpPr/>
          <p:nvPr/>
        </p:nvSpPr>
        <p:spPr>
          <a:xfrm>
            <a:off x="640080" y="1325880"/>
            <a:ext cx="72720" cy="356580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841320" y="149040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Your task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841320" y="1920240"/>
            <a:ext cx="4781880" cy="28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Choose something you do every day.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1. Write or say every step in the correct order.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2. Include small steps that a computer would need to follow.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3. Add at least one conditional (IF / THEN / ELSE).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4. Let your partner check whether the instructions are clear.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0"/>
          <p:cNvSpPr/>
          <p:nvPr/>
        </p:nvSpPr>
        <p:spPr>
          <a:xfrm>
            <a:off x="6172200" y="1325880"/>
            <a:ext cx="5348880" cy="15998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1"/>
          <p:cNvSpPr/>
          <p:nvPr/>
        </p:nvSpPr>
        <p:spPr>
          <a:xfrm>
            <a:off x="6172200" y="1325880"/>
            <a:ext cx="72720" cy="1599840"/>
          </a:xfrm>
          <a:prstGeom prst="rect">
            <a:avLst/>
          </a:prstGeom>
          <a:solidFill>
            <a:srgbClr val="FFD3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6373440" y="1490400"/>
            <a:ext cx="4964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D35C"/>
                </a:solidFill>
                <a:effectLst/>
                <a:uFillTx/>
                <a:latin typeface="Aptos"/>
              </a:rPr>
              <a:t>Example: Choosing clothes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3"/>
          <p:cNvSpPr/>
          <p:nvPr/>
        </p:nvSpPr>
        <p:spPr>
          <a:xfrm>
            <a:off x="6373440" y="1920240"/>
            <a:ext cx="496476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IF it is a school day → get your school clothes.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ELSE → get your weekend clothes.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4"/>
          <p:cNvSpPr/>
          <p:nvPr/>
        </p:nvSpPr>
        <p:spPr>
          <a:xfrm>
            <a:off x="6172200" y="3154680"/>
            <a:ext cx="5348880" cy="1737000"/>
          </a:xfrm>
          <a:prstGeom prst="roundRect">
            <a:avLst>
              <a:gd name="adj" fmla="val 16667"/>
            </a:avLst>
          </a:prstGeom>
          <a:solidFill>
            <a:srgbClr val="E8F3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15"/>
          <p:cNvSpPr/>
          <p:nvPr/>
        </p:nvSpPr>
        <p:spPr>
          <a:xfrm>
            <a:off x="6172200" y="3154680"/>
            <a:ext cx="72720" cy="173700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6"/>
          <p:cNvSpPr/>
          <p:nvPr/>
        </p:nvSpPr>
        <p:spPr>
          <a:xfrm>
            <a:off x="6373440" y="3319200"/>
            <a:ext cx="4964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Another conditional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7"/>
          <p:cNvSpPr/>
          <p:nvPr/>
        </p:nvSpPr>
        <p:spPr>
          <a:xfrm>
            <a:off x="6373440" y="3749040"/>
            <a:ext cx="496476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IF it is raining → take an umbrella.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ELSE → leave the umbrella at home.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960120" y="52578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Key idea: a good algorithm includes enough detail for someone else to follow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9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0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From Algorithms to Flowcharts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There are different ways to represent the same algorithm.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6"/>
          <p:cNvSpPr/>
          <p:nvPr/>
        </p:nvSpPr>
        <p:spPr>
          <a:xfrm>
            <a:off x="594360" y="1325880"/>
            <a:ext cx="3428640" cy="356580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7"/>
          <p:cNvSpPr/>
          <p:nvPr/>
        </p:nvSpPr>
        <p:spPr>
          <a:xfrm>
            <a:off x="594360" y="1325880"/>
            <a:ext cx="72720" cy="356580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795600" y="149040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1 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795600" y="1920240"/>
            <a:ext cx="3044520" cy="28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Write the instructions as sentences or numbered steps.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Example: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1. Get a bowl.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2. Add cereal.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3. Add milk.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4. Eat breakfast.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0"/>
          <p:cNvSpPr/>
          <p:nvPr/>
        </p:nvSpPr>
        <p:spPr>
          <a:xfrm>
            <a:off x="4389120" y="1325880"/>
            <a:ext cx="3428640" cy="356580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11"/>
          <p:cNvSpPr/>
          <p:nvPr/>
        </p:nvSpPr>
        <p:spPr>
          <a:xfrm>
            <a:off x="4389120" y="1325880"/>
            <a:ext cx="72720" cy="356580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4590360" y="149040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2  Scratch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4590360" y="1920240"/>
            <a:ext cx="3044520" cy="28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Use programming blocks to represent the instructions.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Blocks can be joined together to show the sequence.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4"/>
          <p:cNvSpPr/>
          <p:nvPr/>
        </p:nvSpPr>
        <p:spPr>
          <a:xfrm>
            <a:off x="8183880" y="1325880"/>
            <a:ext cx="3428640" cy="356580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15"/>
          <p:cNvSpPr/>
          <p:nvPr/>
        </p:nvSpPr>
        <p:spPr>
          <a:xfrm>
            <a:off x="8183880" y="1325880"/>
            <a:ext cx="72720" cy="3565800"/>
          </a:xfrm>
          <a:prstGeom prst="rect">
            <a:avLst/>
          </a:prstGeom>
          <a:solidFill>
            <a:srgbClr val="EF46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8385120" y="1490400"/>
            <a:ext cx="3044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F4641"/>
                </a:solidFill>
                <a:effectLst/>
                <a:uFillTx/>
                <a:latin typeface="Aptos"/>
              </a:rPr>
              <a:t>3  Flowchart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7"/>
          <p:cNvSpPr/>
          <p:nvPr/>
        </p:nvSpPr>
        <p:spPr>
          <a:xfrm>
            <a:off x="8385120" y="1920240"/>
            <a:ext cx="3044520" cy="28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Use shapes and arrows to represent the algorithm visually.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flowchart makes the order easy to see.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1188720" y="5349240"/>
            <a:ext cx="978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The algorithm is the same idea — only the representation changes.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9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0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What Is a Flowchart?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A flowchart is another way to represent an algorithm.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822960" y="13258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flowchart is a diagram that shows each step of an algorithm.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7"/>
          <p:cNvSpPr/>
          <p:nvPr/>
        </p:nvSpPr>
        <p:spPr>
          <a:xfrm>
            <a:off x="4892040" y="2240280"/>
            <a:ext cx="1919880" cy="56664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8"/>
          <p:cNvSpPr/>
          <p:nvPr/>
        </p:nvSpPr>
        <p:spPr>
          <a:xfrm>
            <a:off x="4937760" y="2277000"/>
            <a:ext cx="18284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1" name="Connector 9"/>
          <p:cNvCxnSpPr/>
          <p:nvPr/>
        </p:nvCxnSpPr>
        <p:spPr>
          <a:xfrm>
            <a:off x="5852160" y="2834640"/>
            <a:ext cx="360" cy="3477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42" name="Rounded Rectangle 10"/>
          <p:cNvSpPr/>
          <p:nvPr/>
        </p:nvSpPr>
        <p:spPr>
          <a:xfrm>
            <a:off x="4663440" y="3182040"/>
            <a:ext cx="2377080" cy="63972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1"/>
          <p:cNvSpPr/>
          <p:nvPr/>
        </p:nvSpPr>
        <p:spPr>
          <a:xfrm>
            <a:off x="4709160" y="321876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step / 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Connector 12"/>
          <p:cNvCxnSpPr/>
          <p:nvPr/>
        </p:nvCxnSpPr>
        <p:spPr>
          <a:xfrm>
            <a:off x="5852160" y="3840480"/>
            <a:ext cx="360" cy="3477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45" name="Diamond 13"/>
          <p:cNvSpPr/>
          <p:nvPr/>
        </p:nvSpPr>
        <p:spPr>
          <a:xfrm>
            <a:off x="4915080" y="4160520"/>
            <a:ext cx="1874160" cy="914040"/>
          </a:xfrm>
          <a:prstGeom prst="diamond">
            <a:avLst/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5052240" y="4325040"/>
            <a:ext cx="159984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Decision?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5"/>
          <p:cNvSpPr/>
          <p:nvPr/>
        </p:nvSpPr>
        <p:spPr>
          <a:xfrm>
            <a:off x="822960" y="24231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Shapes show what is happening.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6"/>
          <p:cNvSpPr/>
          <p:nvPr/>
        </p:nvSpPr>
        <p:spPr>
          <a:xfrm>
            <a:off x="8001000" y="33375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Arrows show where to go next.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7"/>
          <p:cNvSpPr/>
          <p:nvPr/>
        </p:nvSpPr>
        <p:spPr>
          <a:xfrm>
            <a:off x="2286000" y="5806440"/>
            <a:ext cx="7589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Start → steps → decisions (when needed) → 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8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9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Flowchart Shapes and What They Mean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Recognise the main shapes used to represent an algorithm.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6"/>
          <p:cNvSpPr/>
          <p:nvPr/>
        </p:nvSpPr>
        <p:spPr>
          <a:xfrm>
            <a:off x="914400" y="1508760"/>
            <a:ext cx="2148480" cy="63972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960120" y="154548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 / END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3429000" y="1600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Shows where the algorithm begins or finishes.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9"/>
          <p:cNvSpPr/>
          <p:nvPr/>
        </p:nvSpPr>
        <p:spPr>
          <a:xfrm>
            <a:off x="914400" y="2788920"/>
            <a:ext cx="2148480" cy="639720"/>
          </a:xfrm>
          <a:prstGeom prst="rect">
            <a:avLst/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0"/>
          <p:cNvSpPr/>
          <p:nvPr/>
        </p:nvSpPr>
        <p:spPr>
          <a:xfrm>
            <a:off x="960120" y="282564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STEP / PROCESS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3429000" y="28803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Shows an action or instruction.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Diamond 12"/>
          <p:cNvSpPr/>
          <p:nvPr/>
        </p:nvSpPr>
        <p:spPr>
          <a:xfrm>
            <a:off x="891360" y="3908880"/>
            <a:ext cx="2148480" cy="1051200"/>
          </a:xfrm>
          <a:prstGeom prst="diamond">
            <a:avLst/>
          </a:prstGeom>
          <a:solidFill>
            <a:srgbClr val="E8F3FA"/>
          </a:solidFill>
          <a:ln w="19050">
            <a:solidFill>
              <a:srgbClr val="4F90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3"/>
          <p:cNvSpPr/>
          <p:nvPr/>
        </p:nvSpPr>
        <p:spPr>
          <a:xfrm>
            <a:off x="1028520" y="4073760"/>
            <a:ext cx="187416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DECISION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4"/>
          <p:cNvSpPr/>
          <p:nvPr/>
        </p:nvSpPr>
        <p:spPr>
          <a:xfrm>
            <a:off x="3429000" y="416052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Shows a question or condition with different possible paths.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6" name="Connector 15"/>
          <p:cNvCxnSpPr/>
          <p:nvPr/>
        </p:nvCxnSpPr>
        <p:spPr>
          <a:xfrm>
            <a:off x="7909560" y="1874160"/>
            <a:ext cx="1874880" cy="360"/>
          </a:xfrm>
          <a:prstGeom prst="straightConnector1">
            <a:avLst/>
          </a:prstGeom>
          <a:ln w="38100">
            <a:solidFill>
              <a:srgbClr val="007465"/>
            </a:solidFill>
            <a:round/>
          </a:ln>
        </p:spPr>
      </p:cxnSp>
      <p:sp>
        <p:nvSpPr>
          <p:cNvPr id="267" name="TextBox 16"/>
          <p:cNvSpPr/>
          <p:nvPr/>
        </p:nvSpPr>
        <p:spPr>
          <a:xfrm>
            <a:off x="8229600" y="135324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7465"/>
                </a:solidFill>
                <a:effectLst/>
                <a:uFillTx/>
                <a:latin typeface="Aptos"/>
              </a:rPr>
              <a:t>ARROW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7360920" y="23317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Shows the direction and the next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8"/>
          <p:cNvSpPr/>
          <p:nvPr/>
        </p:nvSpPr>
        <p:spPr>
          <a:xfrm>
            <a:off x="7315200" y="3337560"/>
            <a:ext cx="3840120" cy="159984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19"/>
          <p:cNvSpPr/>
          <p:nvPr/>
        </p:nvSpPr>
        <p:spPr>
          <a:xfrm>
            <a:off x="7315200" y="3337560"/>
            <a:ext cx="72720" cy="1599840"/>
          </a:xfrm>
          <a:prstGeom prst="rect">
            <a:avLst/>
          </a:prstGeom>
          <a:solidFill>
            <a:srgbClr val="EF46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0"/>
          <p:cNvSpPr/>
          <p:nvPr/>
        </p:nvSpPr>
        <p:spPr>
          <a:xfrm>
            <a:off x="7516440" y="3502080"/>
            <a:ext cx="3456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F4641"/>
                </a:solidFill>
                <a:effectLst/>
                <a:uFillTx/>
                <a:latin typeface="Aptos"/>
              </a:rPr>
              <a:t>Remember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1"/>
          <p:cNvSpPr/>
          <p:nvPr/>
        </p:nvSpPr>
        <p:spPr>
          <a:xfrm>
            <a:off x="7516440" y="3931920"/>
            <a:ext cx="345600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Follow the arrows. Do not jump from one shape to another.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2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3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Example Flowchart: Eating Breakfast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Follow the flowchart from Start to End.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6"/>
          <p:cNvSpPr/>
          <p:nvPr/>
        </p:nvSpPr>
        <p:spPr>
          <a:xfrm>
            <a:off x="4663440" y="114300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7"/>
          <p:cNvSpPr/>
          <p:nvPr/>
        </p:nvSpPr>
        <p:spPr>
          <a:xfrm>
            <a:off x="4709160" y="117972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ctor 8"/>
          <p:cNvCxnSpPr/>
          <p:nvPr/>
        </p:nvCxnSpPr>
        <p:spPr>
          <a:xfrm>
            <a:off x="6035040" y="1719000"/>
            <a:ext cx="360" cy="19224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83" name="Rounded Rectangle 9"/>
          <p:cNvSpPr/>
          <p:nvPr/>
        </p:nvSpPr>
        <p:spPr>
          <a:xfrm>
            <a:off x="4663440" y="193860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4709160" y="197496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Get a bowl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ctor 11"/>
          <p:cNvCxnSpPr/>
          <p:nvPr/>
        </p:nvCxnSpPr>
        <p:spPr>
          <a:xfrm>
            <a:off x="6035040" y="2514600"/>
            <a:ext cx="360" cy="19224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86" name="Rounded Rectangle 12"/>
          <p:cNvSpPr/>
          <p:nvPr/>
        </p:nvSpPr>
        <p:spPr>
          <a:xfrm>
            <a:off x="4663440" y="273420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3"/>
          <p:cNvSpPr/>
          <p:nvPr/>
        </p:nvSpPr>
        <p:spPr>
          <a:xfrm>
            <a:off x="4709160" y="277056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Pour in some cereal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Connector 14"/>
          <p:cNvCxnSpPr/>
          <p:nvPr/>
        </p:nvCxnSpPr>
        <p:spPr>
          <a:xfrm>
            <a:off x="6035040" y="3309840"/>
            <a:ext cx="360" cy="19260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89" name="Rounded Rectangle 15"/>
          <p:cNvSpPr/>
          <p:nvPr/>
        </p:nvSpPr>
        <p:spPr>
          <a:xfrm>
            <a:off x="4663440" y="352944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16"/>
          <p:cNvSpPr/>
          <p:nvPr/>
        </p:nvSpPr>
        <p:spPr>
          <a:xfrm>
            <a:off x="4709160" y="356616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Add milk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Connector 17"/>
          <p:cNvCxnSpPr/>
          <p:nvPr/>
        </p:nvCxnSpPr>
        <p:spPr>
          <a:xfrm>
            <a:off x="6035040" y="4105440"/>
            <a:ext cx="360" cy="19260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92" name="Rounded Rectangle 18"/>
          <p:cNvSpPr/>
          <p:nvPr/>
        </p:nvSpPr>
        <p:spPr>
          <a:xfrm>
            <a:off x="4663440" y="432504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19"/>
          <p:cNvSpPr/>
          <p:nvPr/>
        </p:nvSpPr>
        <p:spPr>
          <a:xfrm>
            <a:off x="4709160" y="436176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Eat your breakfast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ctor 20"/>
          <p:cNvCxnSpPr/>
          <p:nvPr/>
        </p:nvCxnSpPr>
        <p:spPr>
          <a:xfrm>
            <a:off x="6035040" y="4901040"/>
            <a:ext cx="360" cy="19224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295" name="Rounded Rectangle 21"/>
          <p:cNvSpPr/>
          <p:nvPr/>
        </p:nvSpPr>
        <p:spPr>
          <a:xfrm>
            <a:off x="4663440" y="512064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22"/>
          <p:cNvSpPr/>
          <p:nvPr/>
        </p:nvSpPr>
        <p:spPr>
          <a:xfrm>
            <a:off x="4709160" y="515736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23"/>
          <p:cNvSpPr/>
          <p:nvPr/>
        </p:nvSpPr>
        <p:spPr>
          <a:xfrm>
            <a:off x="685800" y="1828800"/>
            <a:ext cx="3245760" cy="246852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24"/>
          <p:cNvSpPr/>
          <p:nvPr/>
        </p:nvSpPr>
        <p:spPr>
          <a:xfrm>
            <a:off x="685800" y="1828800"/>
            <a:ext cx="72720" cy="246852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5"/>
          <p:cNvSpPr/>
          <p:nvPr/>
        </p:nvSpPr>
        <p:spPr>
          <a:xfrm>
            <a:off x="887040" y="1826893"/>
            <a:ext cx="286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How to read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6"/>
          <p:cNvSpPr/>
          <p:nvPr/>
        </p:nvSpPr>
        <p:spPr>
          <a:xfrm>
            <a:off x="887040" y="2157840"/>
            <a:ext cx="2861640" cy="17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 at START.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Follow each arrow to the next box.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Read every step in order.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Stop when you reach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27"/>
          <p:cNvSpPr/>
          <p:nvPr/>
        </p:nvSpPr>
        <p:spPr>
          <a:xfrm>
            <a:off x="7955280" y="1828800"/>
            <a:ext cx="3245760" cy="2468520"/>
          </a:xfrm>
          <a:prstGeom prst="roundRect">
            <a:avLst>
              <a:gd name="adj" fmla="val 16667"/>
            </a:avLst>
          </a:prstGeom>
          <a:solidFill>
            <a:srgbClr val="F7F9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28"/>
          <p:cNvSpPr/>
          <p:nvPr/>
        </p:nvSpPr>
        <p:spPr>
          <a:xfrm>
            <a:off x="7955280" y="1828800"/>
            <a:ext cx="72720" cy="246852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29"/>
          <p:cNvSpPr/>
          <p:nvPr/>
        </p:nvSpPr>
        <p:spPr>
          <a:xfrm>
            <a:off x="8156520" y="1993320"/>
            <a:ext cx="286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What does it show?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0"/>
          <p:cNvSpPr/>
          <p:nvPr/>
        </p:nvSpPr>
        <p:spPr>
          <a:xfrm>
            <a:off x="8156520" y="2423160"/>
            <a:ext cx="2861640" cy="17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It represents an algorithm for eating breakfast.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The arrows make the sequence clear.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1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2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Follow the Flowchart: Predict the Result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Use your finger or eyes to trace the arrows step by step.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6"/>
          <p:cNvSpPr/>
          <p:nvPr/>
        </p:nvSpPr>
        <p:spPr>
          <a:xfrm>
            <a:off x="914400" y="2148840"/>
            <a:ext cx="1325520" cy="65808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7"/>
          <p:cNvSpPr/>
          <p:nvPr/>
        </p:nvSpPr>
        <p:spPr>
          <a:xfrm>
            <a:off x="960120" y="2185560"/>
            <a:ext cx="12340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Connector 8"/>
          <p:cNvCxnSpPr/>
          <p:nvPr/>
        </p:nvCxnSpPr>
        <p:spPr>
          <a:xfrm>
            <a:off x="2267640" y="2477880"/>
            <a:ext cx="27468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315" name="Rounded Rectangle 9"/>
          <p:cNvSpPr/>
          <p:nvPr/>
        </p:nvSpPr>
        <p:spPr>
          <a:xfrm>
            <a:off x="2606040" y="2148840"/>
            <a:ext cx="1325520" cy="6580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0"/>
          <p:cNvSpPr/>
          <p:nvPr/>
        </p:nvSpPr>
        <p:spPr>
          <a:xfrm>
            <a:off x="2651760" y="2185560"/>
            <a:ext cx="12340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Get a bowl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Connector 11"/>
          <p:cNvCxnSpPr/>
          <p:nvPr/>
        </p:nvCxnSpPr>
        <p:spPr>
          <a:xfrm>
            <a:off x="3959280" y="2477880"/>
            <a:ext cx="27468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318" name="Rounded Rectangle 12"/>
          <p:cNvSpPr/>
          <p:nvPr/>
        </p:nvSpPr>
        <p:spPr>
          <a:xfrm>
            <a:off x="4297680" y="2148840"/>
            <a:ext cx="1325520" cy="6580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13"/>
          <p:cNvSpPr/>
          <p:nvPr/>
        </p:nvSpPr>
        <p:spPr>
          <a:xfrm>
            <a:off x="4343400" y="2185560"/>
            <a:ext cx="12340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Pour cereal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14"/>
          <p:cNvCxnSpPr/>
          <p:nvPr/>
        </p:nvCxnSpPr>
        <p:spPr>
          <a:xfrm>
            <a:off x="5650920" y="2477880"/>
            <a:ext cx="27468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321" name="Rounded Rectangle 15"/>
          <p:cNvSpPr/>
          <p:nvPr/>
        </p:nvSpPr>
        <p:spPr>
          <a:xfrm>
            <a:off x="5989320" y="2148840"/>
            <a:ext cx="1325520" cy="6580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16"/>
          <p:cNvSpPr/>
          <p:nvPr/>
        </p:nvSpPr>
        <p:spPr>
          <a:xfrm>
            <a:off x="6035040" y="2185560"/>
            <a:ext cx="12340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Add milk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3" name="Connector 17"/>
          <p:cNvCxnSpPr/>
          <p:nvPr/>
        </p:nvCxnSpPr>
        <p:spPr>
          <a:xfrm>
            <a:off x="7342560" y="2477880"/>
            <a:ext cx="27468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324" name="Rounded Rectangle 18"/>
          <p:cNvSpPr/>
          <p:nvPr/>
        </p:nvSpPr>
        <p:spPr>
          <a:xfrm>
            <a:off x="7680960" y="2148840"/>
            <a:ext cx="1325520" cy="6580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19050">
            <a:solidFill>
              <a:srgbClr val="FFD3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19"/>
          <p:cNvSpPr/>
          <p:nvPr/>
        </p:nvSpPr>
        <p:spPr>
          <a:xfrm>
            <a:off x="7726680" y="2185560"/>
            <a:ext cx="12340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Eat breakfast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6" name="Connector 20"/>
          <p:cNvCxnSpPr/>
          <p:nvPr/>
        </p:nvCxnSpPr>
        <p:spPr>
          <a:xfrm>
            <a:off x="9034200" y="2477880"/>
            <a:ext cx="274680" cy="360"/>
          </a:xfrm>
          <a:prstGeom prst="straightConnector1">
            <a:avLst/>
          </a:prstGeom>
          <a:ln>
            <a:solidFill>
              <a:srgbClr val="007465"/>
            </a:solidFill>
            <a:round/>
          </a:ln>
        </p:spPr>
      </p:cxnSp>
      <p:sp>
        <p:nvSpPr>
          <p:cNvPr id="327" name="Rounded Rectangle 21"/>
          <p:cNvSpPr/>
          <p:nvPr/>
        </p:nvSpPr>
        <p:spPr>
          <a:xfrm>
            <a:off x="9372600" y="2148840"/>
            <a:ext cx="1325520" cy="65808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22"/>
          <p:cNvSpPr/>
          <p:nvPr/>
        </p:nvSpPr>
        <p:spPr>
          <a:xfrm>
            <a:off x="9418320" y="2185560"/>
            <a:ext cx="12340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3"/>
          <p:cNvSpPr/>
          <p:nvPr/>
        </p:nvSpPr>
        <p:spPr>
          <a:xfrm>
            <a:off x="777240" y="3657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Prediction Questions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4"/>
          <p:cNvSpPr/>
          <p:nvPr/>
        </p:nvSpPr>
        <p:spPr>
          <a:xfrm>
            <a:off x="822960" y="4160520"/>
            <a:ext cx="5668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 defTabSz="457200">
              <a:lnSpc>
                <a:spcPct val="100000"/>
              </a:lnSpc>
              <a:spcAft>
                <a:spcPts val="601"/>
              </a:spcAft>
              <a:buClr>
                <a:srgbClr val="243038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What happens after “Get a bowl”?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spcAft>
                <a:spcPts val="601"/>
              </a:spcAft>
              <a:buClr>
                <a:srgbClr val="243038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Which step comes before “Add milk”?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spcAft>
                <a:spcPts val="601"/>
              </a:spcAft>
              <a:buClr>
                <a:srgbClr val="243038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What is the last step before END?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25"/>
          <p:cNvSpPr/>
          <p:nvPr/>
        </p:nvSpPr>
        <p:spPr>
          <a:xfrm>
            <a:off x="6903720" y="3657600"/>
            <a:ext cx="4068720" cy="1874160"/>
          </a:xfrm>
          <a:prstGeom prst="roundRect">
            <a:avLst>
              <a:gd name="adj" fmla="val 16667"/>
            </a:avLst>
          </a:prstGeom>
          <a:solidFill>
            <a:srgbClr val="E8F3FA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26"/>
          <p:cNvSpPr/>
          <p:nvPr/>
        </p:nvSpPr>
        <p:spPr>
          <a:xfrm>
            <a:off x="6903720" y="3657600"/>
            <a:ext cx="72720" cy="187416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7"/>
          <p:cNvSpPr/>
          <p:nvPr/>
        </p:nvSpPr>
        <p:spPr>
          <a:xfrm>
            <a:off x="7132140" y="3735540"/>
            <a:ext cx="368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Key rule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8"/>
          <p:cNvSpPr/>
          <p:nvPr/>
        </p:nvSpPr>
        <p:spPr>
          <a:xfrm>
            <a:off x="7132140" y="4124160"/>
            <a:ext cx="368460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flowchart can be followed like a path.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The arrows tell you which step to read next.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9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30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Putting It All Together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The main ideas from this lesson.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Oval 6"/>
          <p:cNvSpPr/>
          <p:nvPr/>
        </p:nvSpPr>
        <p:spPr>
          <a:xfrm>
            <a:off x="685800" y="1188720"/>
            <a:ext cx="475200" cy="47520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7"/>
          <p:cNvSpPr/>
          <p:nvPr/>
        </p:nvSpPr>
        <p:spPr>
          <a:xfrm>
            <a:off x="685800" y="1207080"/>
            <a:ext cx="475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8"/>
          <p:cNvSpPr/>
          <p:nvPr/>
        </p:nvSpPr>
        <p:spPr>
          <a:xfrm>
            <a:off x="1417320" y="11703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ALGORITHM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9"/>
          <p:cNvSpPr/>
          <p:nvPr/>
        </p:nvSpPr>
        <p:spPr>
          <a:xfrm>
            <a:off x="3383280" y="117036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set of steps used to complete a task.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Oval 10"/>
          <p:cNvSpPr/>
          <p:nvPr/>
        </p:nvSpPr>
        <p:spPr>
          <a:xfrm>
            <a:off x="685800" y="2121480"/>
            <a:ext cx="475200" cy="47520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1"/>
          <p:cNvSpPr/>
          <p:nvPr/>
        </p:nvSpPr>
        <p:spPr>
          <a:xfrm>
            <a:off x="685800" y="2139840"/>
            <a:ext cx="475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2"/>
          <p:cNvSpPr/>
          <p:nvPr/>
        </p:nvSpPr>
        <p:spPr>
          <a:xfrm>
            <a:off x="1417320" y="21031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SEQUENCE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3"/>
          <p:cNvSpPr/>
          <p:nvPr/>
        </p:nvSpPr>
        <p:spPr>
          <a:xfrm>
            <a:off x="3383280" y="210312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Steps must be followed in the correct order.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Oval 14"/>
          <p:cNvSpPr/>
          <p:nvPr/>
        </p:nvSpPr>
        <p:spPr>
          <a:xfrm>
            <a:off x="685800" y="3054240"/>
            <a:ext cx="475200" cy="47520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15"/>
          <p:cNvSpPr/>
          <p:nvPr/>
        </p:nvSpPr>
        <p:spPr>
          <a:xfrm>
            <a:off x="685800" y="3072240"/>
            <a:ext cx="475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6"/>
          <p:cNvSpPr/>
          <p:nvPr/>
        </p:nvSpPr>
        <p:spPr>
          <a:xfrm>
            <a:off x="1417320" y="30358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INPUT / OUTPUT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7"/>
          <p:cNvSpPr/>
          <p:nvPr/>
        </p:nvSpPr>
        <p:spPr>
          <a:xfrm>
            <a:off x="3383280" y="30358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Algorithms can receive information and produce results.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Oval 18"/>
          <p:cNvSpPr/>
          <p:nvPr/>
        </p:nvSpPr>
        <p:spPr>
          <a:xfrm>
            <a:off x="685800" y="3986640"/>
            <a:ext cx="475200" cy="47520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19"/>
          <p:cNvSpPr/>
          <p:nvPr/>
        </p:nvSpPr>
        <p:spPr>
          <a:xfrm>
            <a:off x="685800" y="4005000"/>
            <a:ext cx="475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0"/>
          <p:cNvSpPr/>
          <p:nvPr/>
        </p:nvSpPr>
        <p:spPr>
          <a:xfrm>
            <a:off x="1417320" y="396864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CONDITION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21"/>
          <p:cNvSpPr/>
          <p:nvPr/>
        </p:nvSpPr>
        <p:spPr>
          <a:xfrm>
            <a:off x="3383280" y="396864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IF / THEN / ELSE can make an algorithm choose between paths.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Oval 22"/>
          <p:cNvSpPr/>
          <p:nvPr/>
        </p:nvSpPr>
        <p:spPr>
          <a:xfrm>
            <a:off x="685800" y="4919400"/>
            <a:ext cx="475200" cy="475200"/>
          </a:xfrm>
          <a:prstGeom prst="ellipse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23"/>
          <p:cNvSpPr/>
          <p:nvPr/>
        </p:nvSpPr>
        <p:spPr>
          <a:xfrm>
            <a:off x="685800" y="4937760"/>
            <a:ext cx="475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24"/>
          <p:cNvSpPr/>
          <p:nvPr/>
        </p:nvSpPr>
        <p:spPr>
          <a:xfrm>
            <a:off x="1417320" y="490104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FLOWCHART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5"/>
          <p:cNvSpPr/>
          <p:nvPr/>
        </p:nvSpPr>
        <p:spPr>
          <a:xfrm>
            <a:off x="3383280" y="490104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A diagram that represents the steps using shapes and arrows.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26"/>
          <p:cNvSpPr/>
          <p:nvPr/>
        </p:nvSpPr>
        <p:spPr>
          <a:xfrm>
            <a:off x="9372600" y="5440680"/>
            <a:ext cx="1325520" cy="456840"/>
          </a:xfrm>
          <a:prstGeom prst="roundRect">
            <a:avLst>
              <a:gd name="adj" fmla="val 16667"/>
            </a:avLst>
          </a:prstGeom>
          <a:solidFill>
            <a:srgbClr val="E9F7EC"/>
          </a:solidFill>
          <a:ln w="19050">
            <a:solidFill>
              <a:srgbClr val="51A46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27"/>
          <p:cNvSpPr/>
          <p:nvPr/>
        </p:nvSpPr>
        <p:spPr>
          <a:xfrm>
            <a:off x="9418320" y="547740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START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28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9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ounded Rectangle 2"/>
          <p:cNvSpPr/>
          <p:nvPr/>
        </p:nvSpPr>
        <p:spPr>
          <a:xfrm>
            <a:off x="411480" y="347400"/>
            <a:ext cx="529920" cy="438480"/>
          </a:xfrm>
          <a:prstGeom prst="roundRect">
            <a:avLst>
              <a:gd name="adj" fmla="val 16667"/>
            </a:avLst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3"/>
          <p:cNvSpPr/>
          <p:nvPr/>
        </p:nvSpPr>
        <p:spPr>
          <a:xfrm>
            <a:off x="411480" y="356760"/>
            <a:ext cx="529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4"/>
          <p:cNvSpPr/>
          <p:nvPr/>
        </p:nvSpPr>
        <p:spPr>
          <a:xfrm>
            <a:off x="1078920" y="2926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Quick Check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5"/>
          <p:cNvSpPr/>
          <p:nvPr/>
        </p:nvSpPr>
        <p:spPr>
          <a:xfrm>
            <a:off x="1078920" y="8046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Show what you understand before moving 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6"/>
          <p:cNvSpPr/>
          <p:nvPr/>
        </p:nvSpPr>
        <p:spPr>
          <a:xfrm>
            <a:off x="685800" y="1325880"/>
            <a:ext cx="51660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 7"/>
          <p:cNvSpPr/>
          <p:nvPr/>
        </p:nvSpPr>
        <p:spPr>
          <a:xfrm>
            <a:off x="685800" y="1325880"/>
            <a:ext cx="72720" cy="11426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8"/>
          <p:cNvSpPr/>
          <p:nvPr/>
        </p:nvSpPr>
        <p:spPr>
          <a:xfrm>
            <a:off x="887040" y="149040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Question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9"/>
          <p:cNvSpPr/>
          <p:nvPr/>
        </p:nvSpPr>
        <p:spPr>
          <a:xfrm>
            <a:off x="887040" y="1920240"/>
            <a:ext cx="4781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1. What is a flowchart?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10"/>
          <p:cNvSpPr/>
          <p:nvPr/>
        </p:nvSpPr>
        <p:spPr>
          <a:xfrm>
            <a:off x="6309360" y="1325880"/>
            <a:ext cx="51660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Rectangle 11"/>
          <p:cNvSpPr/>
          <p:nvPr/>
        </p:nvSpPr>
        <p:spPr>
          <a:xfrm>
            <a:off x="6309360" y="1325880"/>
            <a:ext cx="72720" cy="114264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12"/>
          <p:cNvSpPr/>
          <p:nvPr/>
        </p:nvSpPr>
        <p:spPr>
          <a:xfrm>
            <a:off x="6510600" y="149040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Question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3"/>
          <p:cNvSpPr/>
          <p:nvPr/>
        </p:nvSpPr>
        <p:spPr>
          <a:xfrm>
            <a:off x="6510600" y="1920240"/>
            <a:ext cx="4781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2. What do arrows show in a flowchart?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14"/>
          <p:cNvSpPr/>
          <p:nvPr/>
        </p:nvSpPr>
        <p:spPr>
          <a:xfrm>
            <a:off x="685800" y="2743200"/>
            <a:ext cx="51660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15"/>
          <p:cNvSpPr/>
          <p:nvPr/>
        </p:nvSpPr>
        <p:spPr>
          <a:xfrm>
            <a:off x="685800" y="2743200"/>
            <a:ext cx="72720" cy="11426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16"/>
          <p:cNvSpPr/>
          <p:nvPr/>
        </p:nvSpPr>
        <p:spPr>
          <a:xfrm>
            <a:off x="887040" y="290772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Question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7"/>
          <p:cNvSpPr/>
          <p:nvPr/>
        </p:nvSpPr>
        <p:spPr>
          <a:xfrm>
            <a:off x="887040" y="3337560"/>
            <a:ext cx="4781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3. Which shape is used for a decision?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ounded Rectangle 18"/>
          <p:cNvSpPr/>
          <p:nvPr/>
        </p:nvSpPr>
        <p:spPr>
          <a:xfrm>
            <a:off x="6309360" y="2743200"/>
            <a:ext cx="51660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 19"/>
          <p:cNvSpPr/>
          <p:nvPr/>
        </p:nvSpPr>
        <p:spPr>
          <a:xfrm>
            <a:off x="6309360" y="2743200"/>
            <a:ext cx="72720" cy="1142640"/>
          </a:xfrm>
          <a:prstGeom prst="rect">
            <a:avLst/>
          </a:prstGeom>
          <a:solidFill>
            <a:srgbClr val="4F90B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20"/>
          <p:cNvSpPr/>
          <p:nvPr/>
        </p:nvSpPr>
        <p:spPr>
          <a:xfrm>
            <a:off x="6510600" y="290772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F90BE"/>
                </a:solidFill>
                <a:effectLst/>
                <a:uFillTx/>
                <a:latin typeface="Aptos"/>
              </a:rPr>
              <a:t>Question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21"/>
          <p:cNvSpPr/>
          <p:nvPr/>
        </p:nvSpPr>
        <p:spPr>
          <a:xfrm>
            <a:off x="6510600" y="3337560"/>
            <a:ext cx="4781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4. Why must the steps of an algorithm be in the correct order?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22"/>
          <p:cNvSpPr/>
          <p:nvPr/>
        </p:nvSpPr>
        <p:spPr>
          <a:xfrm>
            <a:off x="685800" y="4160520"/>
            <a:ext cx="51660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ectangle 23"/>
          <p:cNvSpPr/>
          <p:nvPr/>
        </p:nvSpPr>
        <p:spPr>
          <a:xfrm>
            <a:off x="685800" y="4160520"/>
            <a:ext cx="72720" cy="1142640"/>
          </a:xfrm>
          <a:prstGeom prst="rect">
            <a:avLst/>
          </a:prstGeom>
          <a:solidFill>
            <a:srgbClr val="00B2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24"/>
          <p:cNvSpPr/>
          <p:nvPr/>
        </p:nvSpPr>
        <p:spPr>
          <a:xfrm>
            <a:off x="887040" y="432504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291"/>
                </a:solidFill>
                <a:effectLst/>
                <a:uFillTx/>
                <a:latin typeface="Aptos"/>
              </a:rPr>
              <a:t>Question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25"/>
          <p:cNvSpPr/>
          <p:nvPr/>
        </p:nvSpPr>
        <p:spPr>
          <a:xfrm>
            <a:off x="887040" y="4754880"/>
            <a:ext cx="4781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5. How are a Scratch algorithm and a flowchart similar?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26"/>
          <p:cNvSpPr/>
          <p:nvPr/>
        </p:nvSpPr>
        <p:spPr>
          <a:xfrm>
            <a:off x="3268800" y="5532120"/>
            <a:ext cx="5166000" cy="68544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>
            <a:solidFill>
              <a:srgbClr val="DCE2E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ectangle 27"/>
          <p:cNvSpPr/>
          <p:nvPr/>
        </p:nvSpPr>
        <p:spPr>
          <a:xfrm>
            <a:off x="3520440" y="5532120"/>
            <a:ext cx="72720" cy="685440"/>
          </a:xfrm>
          <a:prstGeom prst="rect">
            <a:avLst/>
          </a:prstGeom>
          <a:solidFill>
            <a:srgbClr val="FFD3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28"/>
          <p:cNvSpPr/>
          <p:nvPr/>
        </p:nvSpPr>
        <p:spPr>
          <a:xfrm>
            <a:off x="3721680" y="5696640"/>
            <a:ext cx="478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D35C"/>
                </a:solidFill>
                <a:effectLst/>
                <a:uFillTx/>
                <a:latin typeface="Aptos"/>
              </a:rPr>
              <a:t>Challenge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29"/>
          <p:cNvSpPr/>
          <p:nvPr/>
        </p:nvSpPr>
        <p:spPr>
          <a:xfrm>
            <a:off x="8503560" y="6126480"/>
            <a:ext cx="4781880" cy="2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43038"/>
                </a:solidFill>
                <a:effectLst/>
                <a:uFillTx/>
                <a:latin typeface="Aptos"/>
              </a:rPr>
              <a:t>Create a simple flowchart for an everyday task.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30"/>
          <p:cNvSpPr/>
          <p:nvPr/>
        </p:nvSpPr>
        <p:spPr>
          <a:xfrm>
            <a:off x="502920" y="6510600"/>
            <a:ext cx="896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Computational Thinking and Programming  •  1.1 Planning Flowcharts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31"/>
          <p:cNvSpPr/>
          <p:nvPr/>
        </p:nvSpPr>
        <p:spPr>
          <a:xfrm>
            <a:off x="11292840" y="64738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676E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Habiba Hassan</cp:lastModifiedBy>
  <cp:revision>4</cp:revision>
  <dcterms:modified xsi:type="dcterms:W3CDTF">2026-10-13T11:02:10Z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ICT Department</dc:creator>
  <dc:description>generated using python-pptx</dc:description>
  <cp:keywords>Algorithms Flowcharts Sequence Input Output IF THEN ELSE Computational Thinking</cp:keywords>
  <dc:language>en-US</dc:language>
  <cp:lastModifiedBy>Steve Canny</cp:lastModifiedBy>
  <dcterms:modified xsi:type="dcterms:W3CDTF">2013-01-27T09:15:58Z</dcterms:modified>
  <cp:revision>1</cp:revision>
  <dc:subject>Professional classroom presentation based on Cambridge pages 9–10</dc:subject>
  <dc:title>Planning Flowcharts — Computational Thinking and Programming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