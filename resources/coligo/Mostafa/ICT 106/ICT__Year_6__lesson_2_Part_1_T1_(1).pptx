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00EECC4-0321-70B7-05DE-D1E984303787}">
          <p14:sldIdLst>
            <p14:sldId id="256"/>
            <p14:sldId id="257"/>
            <p14:sldId id="258"/>
            <p14:sldId id="259"/>
          </p14:sldIdLst>
        </p14:section>
        <p14:section name="Constructs" id="{6B46CBBC-BE01-F0C1-8B35-6541597C0F3F}">
          <p14:sldIdLst>
            <p14:sldId id="260"/>
            <p14:sldId id="261"/>
            <p14:sldId id="262"/>
            <p14:sldId id="263"/>
            <p14:sldId id="264"/>
            <p14:sldId id="265"/>
            <p14:sldId id="266"/>
          </p14:sldIdLst>
        </p14:section>
        <p14:section name="Variables, operators and types" id="{9349F8DD-FDD0-7B7C-5F33-802C6C4BBF6C}">
          <p14:sldIdLst>
            <p14:sldId id="267"/>
            <p14:sldId id="268"/>
            <p14:sldId id="269"/>
            <p14:sldId id="270"/>
            <p14:sldId id="271"/>
            <p14:sldId id="272"/>
          </p14:sldIdLst>
        </p14:section>
        <p14:section name="Wrap-up" id="{A5244121-B688-46D3-E0B8-5BAB97B9841E}">
          <p14:sldIdLst>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3" Type="http://schemas.openxmlformats.org/officeDocument/2006/relationships/slide" Target="slides/slide2.xml" /><Relationship Id="rId21" Type="http://schemas.openxmlformats.org/officeDocument/2006/relationships/presProps" Target="presProp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notesMaster" Target="notesMasters/notesMaster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tableStyles" Target="tableStyle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theme" Target="theme/theme1.xml" /><Relationship Id="rId10" Type="http://schemas.openxmlformats.org/officeDocument/2006/relationships/slide" Target="slides/slide9.xml" /><Relationship Id="rId19" Type="http://schemas.openxmlformats.org/officeDocument/2006/relationships/slide" Target="slides/slide18.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viewProps" Target="view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0FDCB805-634B-0F42-9E8D-FB20F77FE6AD}" type="datetimeFigureOut">
              <a:rPr lang="en-US" smtClean="0"/>
              <a:t>10/13/2026</a:t>
            </a:fld>
            <a:endParaRPr lang="en-US"/>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2FE596F0-9392-FB49-8B07-C8ABF248DF83}" type="slidenum">
              <a:rPr lang="en-US" smtClean="0"/>
              <a:t>‹#›</a:t>
            </a:fld>
            <a:endParaRPr lang="en-US"/>
          </a:p>
        </p:txBody>
      </p:sp>
    </p:spTree>
    <p:extLst>
      <p:ext uri="{BB962C8B-B14F-4D97-AF65-F5344CB8AC3E}">
        <p14:creationId xmlns:p14="http://schemas.microsoft.com/office/powerpoint/2010/main" val="19166352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In this lesson we revise the three big programming ideas (sequence, selection, iteration) and then learn about variables, operators, procedures, interaction and data types. The blocks on the right are Scratch blocks: a sequence, wrapped inside a repeat loop.</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learning goals for the whole topic. Read them out and tick them off at the end of the unit. The first two goals are covered in these slides; the chatbot and talking clock are the projects that come later.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17 key words of the topic. We will meet each of them in the next slides. Ask students to guess which ones they already know. The colours group the words by topic.</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new content, check prior knowledge. Ask students to give a thumbs up for each point they feel confident about. If many students are unsure, spend a little longer revising loops, variables and debugging.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1) when green flag clicked. 2) repeat until (player one wins OR player two wins). Inside the loop, in this order: Player one rolls the dice, Player one moves their piece, Player two rolls the dice, Player two moves their piece. 3) After the loop: say "We have a winner!". This one program uses all three constructs: sequence (the order of the blocks), iteration (repeat until) and a condition (the winner check). Students can drag the blocks into order on paper or in Scratch.</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Programming constructs are the building blocks of every program. You learnt about them in the previous chapter. There are three main ones: sequence, selection and iteration. Next we recap each one with an example.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Sequence means the order of instructions. A computer follows instructions exactly, one after the other. The flowchart shows an algorithm for breakfast: start, get a bowl, pour cereal, add milk, eat, end. If we swapped the steps (milk before bowl) the algorithm would not work. Ask students: what other everyday sequences can they think of (brushing teeth, making tea)?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Selection means the program chooses. A condition is a situation that tells the computer what to do next. In the example the program asks the user for a number between 1 and 20. IF the answer is less than 10 THEN it says "You picked a one-digit number", ELSE it says "You picked a two-digit number". We do not know which number the user will pick, but the program can still decide which instruction to follow.</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Iteration means repeating. Sequence A uses ten separate move blocks: no iterator. Sequence B uses repeat 10: an iterator that repeats a set number of times. Sequence C uses forever: an iterator that never stops. So the answer is B and C. All three make the sprite move, but B and C are shorter.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(pairs, computers needed). How it will be done: 1) Students work in pairs and open PowerPoint or Google Slides. 2) They create three slides, one each for sequence, selection and iteration. 3) Each slide has a definition in their own words, an example from their own Scratch programs (screenshot of the blocks) and a picture. 4) Pairs present to the class. Success criteria: definitions are correct, each example matches the construct.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Iterators repeat code, so programmers do not have to write the same instructions many times. This saves time, makes programs shorter and easier to read, reduces mistakes, and lets a program repeat something forever or until a condition is met.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variable is like a labelled box. The label is the name (score) and the box holds a value (25). The value can change, but the name stays the same. An input variable gets its value from the user: in Scratch the ask block stores what the user types in the answer variable. Ask students: what else could we store in variables in a game? (lives, level, player name).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Arithmetic operators do calculations. The four main ones are plus, minus, multiply and divide. In Scratch they are green blocks with two empty slots. Remember: in code, multiply is the star * and divide is the slash /. Students often type x or the division sign by mistake.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Unplugged means no computer. With a partner, write an algorithm for a simple Scratch program that uses an arithmetic operator. Follow the example: 1) When the green flag is clicked. 2) Say "What is 5 times 4?" for 5 seconds. 3) Say "The answer is " followed by 5 * 4 (which equals 20) for 5 seconds. Students then make their own, for example 12 / 3 = 4. Swap with your partner and check that the steps are in the right order and use * and / correctly. Extension: build the program in Scratch.</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Comparison operators compare two numbers and give a true or false answer. In Scratch the left slot is empty and the right slot shows 50 in the book example. Greater than: 60 &gt; 50 is true, 30 &gt; 50 is false. Less than: 30 &lt; 50 is true, 60 &lt; 50 is false. Equal to: 50 = 50 is true, 49 = 50 is false. These true/false answers are what an if block uses as its condition.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procedure is a mini-program with a name. In Scratch you make it with My Blocks. For example, "draw square" is defined once and can be used three times. Interaction is when one thing in the program affects another: in the picture the cat touches the dog and a sound plays. These are used in the talking clock and the game projects.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Integer: a whole number such as 3. 3.14 is not an integer because it has a decimal part, and the word "three" is text, not a number. Character: one letter, symbol or number, such as A, ! or 4. Characters make up passwords, so a strong password mixes letters, symbols and numbers. String: the next page of the book covers it; a string is a series of characters, like a word or sentence, for example "Hello". Strings are used in the chatbot project.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six ideas. Quick quiz: Which construct repeats code? Which operator gives true or false? Is 3.14 an integer? (Iteration; comparison operators; no.)</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ONLY">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rtlCol="0"/>
          <a:lstStyle>
            <a:lvl1pPr marL="0" indent="0" algn="l">
              <a:buNone/>
              <a:defRPr lang="en-US" sz="3000" b="1" dirty="0">
                <a:solidFill>
                  <a:schemeClr val="tx1"/>
                </a:solidFill>
              </a:defRPr>
            </a:lvl1pPr>
          </a:lstStyle>
          <a:p>
            <a:pPr marL="0" indent="0" algn="l">
              <a:buNone/>
            </a:pPr>
            <a:endParaRPr lang="en-US" sz="3000" dirty="0"/>
          </a:p>
        </p:txBody>
      </p:sp>
      <p:sp>
        <p:nvSpPr>
          <p:cNvPr id="3" name="Text 0"/>
          <p:cNvSpPr/>
          <p:nvPr/>
        </p:nvSpPr>
        <p:spPr>
          <a:xfrm>
            <a:off x="457200" y="4754880"/>
            <a:ext cx="4572000" cy="274320"/>
          </a:xfrm>
          <a:prstGeom prst="rect">
            <a:avLst/>
          </a:prstGeom>
          <a:noFill/>
          <a:ln/>
        </p:spPr>
        <p:txBody>
          <a:bodyPr wrap="square" lIns="0" tIns="0" rIns="0" bIns="0" rtlCol="0" anchor="ctr"/>
          <a:lstStyle/>
          <a:p>
            <a:pPr marL="0" indent="0">
              <a:buNone/>
            </a:pPr>
            <a:r>
              <a:rPr lang="en-US" sz="1000" dirty="0">
                <a:solidFill>
                  <a:schemeClr val="tx2"/>
                </a:solidFill>
              </a:rPr>
              <a:t>1.2 Programming constructs</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_TITLE">
    <p:bg>
      <p:bgPr>
        <a:solidFill>
          <a:srgbClr val="1F2A44"/>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234440"/>
            <a:ext cx="4480560" cy="155448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
        <p:nvSpPr>
          <p:cNvPr id="3" name="Text 0"/>
          <p:cNvSpPr>
            <a:spLocks noGrp="1"/>
          </p:cNvSpPr>
          <p:nvPr>
            <p:ph type="body" idx="101" hasCustomPrompt="1"/>
          </p:nvPr>
        </p:nvSpPr>
        <p:spPr>
          <a:xfrm>
            <a:off x="548640" y="2971800"/>
            <a:ext cx="4206240" cy="822960"/>
          </a:xfrm>
          <a:prstGeom prst="rect">
            <a:avLst/>
          </a:prstGeom>
          <a:noFill/>
          <a:ln/>
        </p:spPr>
        <p:txBody>
          <a:bodyPr wrap="square" rtlCol="0"/>
          <a:lstStyle>
            <a:lvl1pPr marL="0" indent="0" algn="l">
              <a:buNone/>
              <a:defRPr lang="en-US" sz="1800" dirty="0">
                <a:solidFill>
                  <a:schemeClr val="bg2"/>
                </a:solidFill>
              </a:defRPr>
            </a:lvl1pPr>
          </a:lstStyle>
          <a:p>
            <a:pPr marL="0" indent="0" algn="l">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CONTENT">
    <p:bg>
      <p:bgPr>
        <a:solidFill>
          <a:srgbClr val="1F2A44"/>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rtlCol="0"/>
          <a:lstStyle>
            <a:lvl1pPr marL="0" indent="0" algn="l">
              <a:buNone/>
              <a:defRPr lang="en-US" sz="3000" b="1" dirty="0">
                <a:solidFill>
                  <a:schemeClr val="bg1"/>
                </a:solidFill>
              </a:defRPr>
            </a:lvl1pPr>
          </a:lstStyle>
          <a:p>
            <a:pPr marL="0" indent="0" algn="l">
              <a:buNone/>
            </a:pPr>
            <a:endParaRPr lang="en-US" sz="30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5" Type="http://schemas.openxmlformats.org/officeDocument/2006/relationships/theme" Target="../theme/theme1.xml" /><Relationship Id="rId4" Type="http://schemas.openxmlformats.org/officeDocument/2006/relationships/slideLayout" Target="../slideLayouts/slideLayout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xml" /><Relationship Id="rId1" Type="http://schemas.openxmlformats.org/officeDocument/2006/relationships/slideLayout" Target="../slideLayouts/slideLayout3.xml" /></Relationships>
</file>

<file path=ppt/slides/_rels/slide2.xml.rels><?xml version="1.0" encoding="UTF-8" standalone="yes"?>
<Relationships xmlns="http://schemas.openxmlformats.org/package/2006/relationships"><Relationship Id="rId8" Type="http://schemas.openxmlformats.org/officeDocument/2006/relationships/image" Target="../media/image7.png" /><Relationship Id="rId3" Type="http://schemas.openxmlformats.org/officeDocument/2006/relationships/image" Target="../media/image2.png" /><Relationship Id="rId7" Type="http://schemas.openxmlformats.org/officeDocument/2006/relationships/image" Target="../media/image6.png" /><Relationship Id="rId2" Type="http://schemas.openxmlformats.org/officeDocument/2006/relationships/notesSlide" Target="../notesSlides/notesSlide2.xml" /><Relationship Id="rId1" Type="http://schemas.openxmlformats.org/officeDocument/2006/relationships/slideLayout" Target="../slideLayouts/slideLayout2.xml" /><Relationship Id="rId6" Type="http://schemas.openxmlformats.org/officeDocument/2006/relationships/image" Target="../media/image5.png" /><Relationship Id="rId5" Type="http://schemas.openxmlformats.org/officeDocument/2006/relationships/image" Target="../media/image4.png" /><Relationship Id="rId4" Type="http://schemas.openxmlformats.org/officeDocument/2006/relationships/image" Target="../media/image3.png"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3" Type="http://schemas.openxmlformats.org/officeDocument/2006/relationships/image" Target="../media/image8.png" /><Relationship Id="rId7" Type="http://schemas.openxmlformats.org/officeDocument/2006/relationships/image" Target="../media/image11.png" /><Relationship Id="rId2" Type="http://schemas.openxmlformats.org/officeDocument/2006/relationships/notesSlide" Target="../notesSlides/notesSlide4.xml" /><Relationship Id="rId1" Type="http://schemas.openxmlformats.org/officeDocument/2006/relationships/slideLayout" Target="../slideLayouts/slideLayout2.xml" /><Relationship Id="rId6" Type="http://schemas.openxmlformats.org/officeDocument/2006/relationships/image" Target="../media/image10.png" /><Relationship Id="rId5" Type="http://schemas.openxmlformats.org/officeDocument/2006/relationships/image" Target="../media/image9.png" /><Relationship Id="rId4" Type="http://schemas.openxmlformats.org/officeDocument/2006/relationships/image" Target="../media/image3.png" /></Relationships>
</file>

<file path=ppt/slides/_rels/slide5.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5.xml"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6.xml" /><Relationship Id="rId1" Type="http://schemas.openxmlformats.org/officeDocument/2006/relationships/slideLayout" Target="../slideLayouts/slideLayout2.xml" /><Relationship Id="rId5" Type="http://schemas.openxmlformats.org/officeDocument/2006/relationships/image" Target="../media/image8.png" /><Relationship Id="rId4" Type="http://schemas.openxmlformats.org/officeDocument/2006/relationships/image" Target="../media/image12.png" /></Relationships>
</file>

<file path=ppt/slides/_rels/slide7.xml.rels><?xml version="1.0" encoding="UTF-8" standalone="yes"?>
<Relationships xmlns="http://schemas.openxmlformats.org/package/2006/relationships"><Relationship Id="rId3" Type="http://schemas.openxmlformats.org/officeDocument/2006/relationships/image" Target="../media/image13.png" /><Relationship Id="rId2" Type="http://schemas.openxmlformats.org/officeDocument/2006/relationships/notesSlide" Target="../notesSlides/notesSlide7.xml"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8.xml"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9.xml" /><Relationship Id="rId1" Type="http://schemas.openxmlformats.org/officeDocument/2006/relationships/slideLayout" Target="../slideLayouts/slideLayout2.xml" /><Relationship Id="rId5" Type="http://schemas.openxmlformats.org/officeDocument/2006/relationships/image" Target="../media/image15.png" /><Relationship Id="rId4" Type="http://schemas.openxmlformats.org/officeDocument/2006/relationships/image" Target="../media/image14.png" /></Relationships>
</file>

<file path=ppt/slides/_rels/slide10.xml.rels><?xml version="1.0" encoding="UTF-8" standalone="yes"?>
<Relationships xmlns="http://schemas.openxmlformats.org/package/2006/relationships"><Relationship Id="rId3" Type="http://schemas.openxmlformats.org/officeDocument/2006/relationships/image" Target="../media/image16.png" /><Relationship Id="rId2" Type="http://schemas.openxmlformats.org/officeDocument/2006/relationships/notesSlide" Target="../notesSlides/notesSlide10.xml" /><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3" Type="http://schemas.openxmlformats.org/officeDocument/2006/relationships/image" Target="../media/image17.png" /><Relationship Id="rId2" Type="http://schemas.openxmlformats.org/officeDocument/2006/relationships/notesSlide" Target="../notesSlides/notesSlide11.xml" /><Relationship Id="rId1" Type="http://schemas.openxmlformats.org/officeDocument/2006/relationships/slideLayout" Target="../slideLayouts/slideLayout2.xml" /><Relationship Id="rId6" Type="http://schemas.openxmlformats.org/officeDocument/2006/relationships/image" Target="../media/image19.png" /><Relationship Id="rId5" Type="http://schemas.openxmlformats.org/officeDocument/2006/relationships/image" Target="../media/image10.png" /><Relationship Id="rId4" Type="http://schemas.openxmlformats.org/officeDocument/2006/relationships/image" Target="../media/image18.png" /></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 /><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 /><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3" Type="http://schemas.openxmlformats.org/officeDocument/2006/relationships/image" Target="../media/image20.png" /><Relationship Id="rId2" Type="http://schemas.openxmlformats.org/officeDocument/2006/relationships/notesSlide" Target="../notesSlides/notesSlide14.xml" /><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 /><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3" Type="http://schemas.openxmlformats.org/officeDocument/2006/relationships/image" Target="../media/image21.png" /><Relationship Id="rId2" Type="http://schemas.openxmlformats.org/officeDocument/2006/relationships/notesSlide" Target="../notesSlides/notesSlide16.xml" /><Relationship Id="rId1" Type="http://schemas.openxmlformats.org/officeDocument/2006/relationships/slideLayout" Target="../slideLayouts/slideLayout2.xml" /><Relationship Id="rId5" Type="http://schemas.openxmlformats.org/officeDocument/2006/relationships/image" Target="../media/image23.png" /><Relationship Id="rId4" Type="http://schemas.openxmlformats.org/officeDocument/2006/relationships/image" Target="../media/image22.png" /></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 /><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8" Type="http://schemas.openxmlformats.org/officeDocument/2006/relationships/image" Target="../media/image4.png" /><Relationship Id="rId3" Type="http://schemas.openxmlformats.org/officeDocument/2006/relationships/image" Target="../media/image2.png" /><Relationship Id="rId7" Type="http://schemas.openxmlformats.org/officeDocument/2006/relationships/image" Target="../media/image3.png" /><Relationship Id="rId2" Type="http://schemas.openxmlformats.org/officeDocument/2006/relationships/notesSlide" Target="../notesSlides/notesSlide18.xml" /><Relationship Id="rId1" Type="http://schemas.openxmlformats.org/officeDocument/2006/relationships/slideLayout" Target="../slideLayouts/slideLayout4.xml" /><Relationship Id="rId6" Type="http://schemas.openxmlformats.org/officeDocument/2006/relationships/image" Target="../media/image9.png" /><Relationship Id="rId5" Type="http://schemas.openxmlformats.org/officeDocument/2006/relationships/image" Target="../media/image8.png" /><Relationship Id="rId4" Type="http://schemas.openxmlformats.org/officeDocument/2006/relationships/image" Target="../media/image12.png" /></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234440"/>
            <a:ext cx="4480560" cy="1554480"/>
          </a:xfrm>
          <a:prstGeom prst="rect">
            <a:avLst/>
          </a:prstGeom>
          <a:noFill/>
          <a:ln/>
        </p:spPr>
        <p:txBody>
          <a:bodyPr wrap="square" lIns="0" tIns="0" rIns="0" bIns="0" rtlCol="0" anchor="b"/>
          <a:lstStyle/>
          <a:p>
            <a:pPr marL="0" indent="0" algn="l">
              <a:buNone/>
            </a:pPr>
            <a:r>
              <a:rPr lang="en-US" sz="4000" b="1" dirty="0">
                <a:solidFill>
                  <a:schemeClr val="bg1"/>
                </a:solidFill>
              </a:rPr>
              <a:t>1.2 Programming constructs</a:t>
            </a:r>
            <a:endParaRPr lang="en-US" sz="4000" dirty="0"/>
          </a:p>
        </p:txBody>
      </p:sp>
      <p:sp>
        <p:nvSpPr>
          <p:cNvPr id="3" name="Text 0"/>
          <p:cNvSpPr>
            <a:spLocks noGrp="1"/>
          </p:cNvSpPr>
          <p:nvPr>
            <p:ph type="body" idx="101" hasCustomPrompt="1"/>
          </p:nvPr>
        </p:nvSpPr>
        <p:spPr>
          <a:xfrm>
            <a:off x="548640" y="2971800"/>
            <a:ext cx="4206240" cy="822960"/>
          </a:xfrm>
          <a:prstGeom prst="rect">
            <a:avLst/>
          </a:prstGeom>
          <a:noFill/>
          <a:ln/>
        </p:spPr>
        <p:txBody>
          <a:bodyPr wrap="square" lIns="0" tIns="0" rIns="0" bIns="0" rtlCol="0" anchor="t"/>
          <a:lstStyle/>
          <a:p>
            <a:pPr marL="0" indent="0" algn="l">
              <a:buNone/>
            </a:pPr>
            <a:r>
              <a:rPr lang="en-GB" dirty="0"/>
              <a:t>Unit </a:t>
            </a:r>
            <a:r>
              <a:rPr lang="en-US" sz="1800" dirty="0">
                <a:solidFill>
                  <a:schemeClr val="bg2"/>
                </a:solidFill>
              </a:rPr>
              <a:t>1: Computational thinking and programming</a:t>
            </a:r>
            <a:endParaRPr lang="en-US" sz="1800" dirty="0"/>
          </a:p>
        </p:txBody>
      </p:sp>
      <p:sp>
        <p:nvSpPr>
          <p:cNvPr id="4" name="Visual panel"/>
          <p:cNvSpPr/>
          <p:nvPr/>
        </p:nvSpPr>
        <p:spPr>
          <a:xfrm>
            <a:off x="5120640" y="914400"/>
            <a:ext cx="3566160" cy="3291840"/>
          </a:xfrm>
          <a:prstGeom prst="roundRect">
            <a:avLst>
              <a:gd name="adj" fmla="val 3333"/>
            </a:avLst>
          </a:prstGeom>
          <a:solidFill>
            <a:schemeClr val="tx2"/>
          </a:solidFill>
          <a:ln/>
        </p:spPr>
      </p:sp>
      <p:sp>
        <p:nvSpPr>
          <p:cNvPr id="5" name="Scratch block"/>
          <p:cNvSpPr/>
          <p:nvPr/>
        </p:nvSpPr>
        <p:spPr>
          <a:xfrm>
            <a:off x="5394960" y="1188720"/>
            <a:ext cx="1650492" cy="365760"/>
          </a:xfrm>
          <a:prstGeom prst="roundRect">
            <a:avLst>
              <a:gd name="adj" fmla="val 17500"/>
            </a:avLst>
          </a:prstGeom>
          <a:solidFill>
            <a:schemeClr val="accent6"/>
          </a:solidFill>
          <a:ln w="9525">
            <a:solidFill>
              <a:schemeClr val="bg1"/>
            </a:solidFill>
            <a:prstDash val="solid"/>
          </a:ln>
        </p:spPr>
      </p:sp>
      <p:sp>
        <p:nvSpPr>
          <p:cNvPr id="6" name="Text 4"/>
          <p:cNvSpPr txBox="1"/>
          <p:nvPr/>
        </p:nvSpPr>
        <p:spPr>
          <a:xfrm>
            <a:off x="5513832" y="1188720"/>
            <a:ext cx="374904" cy="365760"/>
          </a:xfrm>
          <a:prstGeom prst="rect">
            <a:avLst/>
          </a:prstGeom>
          <a:noFill/>
          <a:ln/>
        </p:spPr>
        <p:txBody>
          <a:bodyPr wrap="none" lIns="0" tIns="0" rIns="0" bIns="0" rtlCol="0" anchor="ctr"/>
          <a:lstStyle/>
          <a:p>
            <a:pPr marL="0" indent="0">
              <a:buNone/>
            </a:pPr>
            <a:r>
              <a:rPr lang="en-US" sz="1200" b="1" dirty="0">
                <a:solidFill>
                  <a:srgbClr val="1F2A44"/>
                </a:solidFill>
              </a:rPr>
              <a:t>when</a:t>
            </a:r>
            <a:endParaRPr lang="en-US" sz="1200" dirty="0"/>
          </a:p>
        </p:txBody>
      </p:sp>
      <p:pic>
        <p:nvPicPr>
          <p:cNvPr id="7" name="Image 0" descr="green flag"/>
          <p:cNvPicPr>
            <a:picLocks noChangeAspect="1"/>
          </p:cNvPicPr>
          <p:nvPr/>
        </p:nvPicPr>
        <p:blipFill>
          <a:blip r:embed="rId3"/>
          <a:stretch>
            <a:fillRect/>
          </a:stretch>
        </p:blipFill>
        <p:spPr>
          <a:xfrm>
            <a:off x="5980176" y="1261872"/>
            <a:ext cx="219456" cy="219456"/>
          </a:xfrm>
          <a:prstGeom prst="rect">
            <a:avLst/>
          </a:prstGeom>
        </p:spPr>
      </p:pic>
      <p:sp>
        <p:nvSpPr>
          <p:cNvPr id="8" name="Text 5"/>
          <p:cNvSpPr txBox="1"/>
          <p:nvPr/>
        </p:nvSpPr>
        <p:spPr>
          <a:xfrm>
            <a:off x="6291072" y="1188720"/>
            <a:ext cx="635508" cy="365760"/>
          </a:xfrm>
          <a:prstGeom prst="rect">
            <a:avLst/>
          </a:prstGeom>
          <a:noFill/>
          <a:ln/>
        </p:spPr>
        <p:txBody>
          <a:bodyPr wrap="none" lIns="0" tIns="0" rIns="0" bIns="0" rtlCol="0" anchor="ctr"/>
          <a:lstStyle/>
          <a:p>
            <a:pPr marL="0" indent="0">
              <a:buNone/>
            </a:pPr>
            <a:r>
              <a:rPr lang="en-US" sz="1200" b="1" dirty="0">
                <a:solidFill>
                  <a:srgbClr val="1F2A44"/>
                </a:solidFill>
              </a:rPr>
              <a:t>clicked</a:t>
            </a:r>
            <a:endParaRPr lang="en-US" sz="1200" dirty="0"/>
          </a:p>
        </p:txBody>
      </p:sp>
      <p:sp>
        <p:nvSpPr>
          <p:cNvPr id="9" name="Scratch block"/>
          <p:cNvSpPr/>
          <p:nvPr/>
        </p:nvSpPr>
        <p:spPr>
          <a:xfrm>
            <a:off x="5394960" y="1627632"/>
            <a:ext cx="2565806" cy="384048"/>
          </a:xfrm>
          <a:prstGeom prst="roundRect">
            <a:avLst>
              <a:gd name="adj" fmla="val 16667"/>
            </a:avLst>
          </a:prstGeom>
          <a:solidFill>
            <a:schemeClr val="accent2"/>
          </a:solidFill>
          <a:ln w="9525">
            <a:solidFill>
              <a:schemeClr val="bg1"/>
            </a:solidFill>
            <a:prstDash val="solid"/>
          </a:ln>
        </p:spPr>
      </p:sp>
      <p:sp>
        <p:nvSpPr>
          <p:cNvPr id="10" name="Text 7"/>
          <p:cNvSpPr txBox="1"/>
          <p:nvPr/>
        </p:nvSpPr>
        <p:spPr>
          <a:xfrm>
            <a:off x="5513832" y="1627632"/>
            <a:ext cx="548640" cy="384048"/>
          </a:xfrm>
          <a:prstGeom prst="rect">
            <a:avLst/>
          </a:prstGeom>
          <a:noFill/>
          <a:ln/>
        </p:spPr>
        <p:txBody>
          <a:bodyPr wrap="none" lIns="0" tIns="0" rIns="0" bIns="0" rtlCol="0" anchor="ctr"/>
          <a:lstStyle/>
          <a:p>
            <a:pPr marL="0" indent="0">
              <a:buNone/>
            </a:pPr>
            <a:r>
              <a:rPr lang="en-US" sz="1200" b="1" dirty="0">
                <a:solidFill>
                  <a:srgbClr val="1F2A44"/>
                </a:solidFill>
              </a:rPr>
              <a:t>repeat</a:t>
            </a:r>
            <a:endParaRPr lang="en-US" sz="1200" dirty="0"/>
          </a:p>
        </p:txBody>
      </p:sp>
      <p:sp>
        <p:nvSpPr>
          <p:cNvPr id="11" name="Text 8"/>
          <p:cNvSpPr txBox="1"/>
          <p:nvPr/>
        </p:nvSpPr>
        <p:spPr>
          <a:xfrm>
            <a:off x="6126480" y="1673352"/>
            <a:ext cx="343814" cy="292608"/>
          </a:xfrm>
          <a:prstGeom prst="roundRect">
            <a:avLst>
              <a:gd name="adj" fmla="val 31250"/>
            </a:avLst>
          </a:prstGeom>
          <a:solidFill>
            <a:schemeClr val="bg1"/>
          </a:solidFill>
          <a:ln/>
        </p:spPr>
        <p:txBody>
          <a:bodyPr wrap="none" lIns="0" tIns="0" rIns="0" bIns="0" rtlCol="0" anchor="ctr"/>
          <a:lstStyle/>
          <a:p>
            <a:pPr marL="0" indent="0" algn="ctr">
              <a:buNone/>
            </a:pPr>
            <a:r>
              <a:rPr lang="en-US" sz="1100" dirty="0">
                <a:solidFill>
                  <a:schemeClr val="tx1"/>
                </a:solidFill>
              </a:rPr>
              <a:t>10</a:t>
            </a:r>
            <a:endParaRPr lang="en-US" sz="1100" dirty="0"/>
          </a:p>
        </p:txBody>
      </p:sp>
      <p:sp>
        <p:nvSpPr>
          <p:cNvPr id="12" name="Shape 9"/>
          <p:cNvSpPr/>
          <p:nvPr/>
        </p:nvSpPr>
        <p:spPr>
          <a:xfrm>
            <a:off x="5394960" y="2011680"/>
            <a:ext cx="219456" cy="914400"/>
          </a:xfrm>
          <a:prstGeom prst="rect">
            <a:avLst/>
          </a:prstGeom>
          <a:solidFill>
            <a:schemeClr val="accent2"/>
          </a:solidFill>
          <a:ln/>
        </p:spPr>
      </p:sp>
      <p:sp>
        <p:nvSpPr>
          <p:cNvPr id="13" name="Scratch block"/>
          <p:cNvSpPr/>
          <p:nvPr/>
        </p:nvSpPr>
        <p:spPr>
          <a:xfrm>
            <a:off x="5614416" y="2048256"/>
            <a:ext cx="1546250" cy="347472"/>
          </a:xfrm>
          <a:prstGeom prst="roundRect">
            <a:avLst>
              <a:gd name="adj" fmla="val 18421"/>
            </a:avLst>
          </a:prstGeom>
          <a:solidFill>
            <a:schemeClr val="accent1"/>
          </a:solidFill>
          <a:ln w="9525">
            <a:solidFill>
              <a:schemeClr val="bg1"/>
            </a:solidFill>
            <a:prstDash val="solid"/>
          </a:ln>
        </p:spPr>
      </p:sp>
      <p:sp>
        <p:nvSpPr>
          <p:cNvPr id="14" name="Text 11"/>
          <p:cNvSpPr txBox="1"/>
          <p:nvPr/>
        </p:nvSpPr>
        <p:spPr>
          <a:xfrm>
            <a:off x="5733288" y="2048256"/>
            <a:ext cx="374904" cy="347472"/>
          </a:xfrm>
          <a:prstGeom prst="rect">
            <a:avLst/>
          </a:prstGeom>
          <a:noFill/>
          <a:ln/>
        </p:spPr>
        <p:txBody>
          <a:bodyPr wrap="none" lIns="0" tIns="0" rIns="0" bIns="0" rtlCol="0" anchor="ctr"/>
          <a:lstStyle/>
          <a:p>
            <a:pPr marL="0" indent="0">
              <a:buNone/>
            </a:pPr>
            <a:r>
              <a:rPr lang="en-US" sz="1200" b="1" dirty="0">
                <a:solidFill>
                  <a:srgbClr val="1F2A44"/>
                </a:solidFill>
              </a:rPr>
              <a:t>move</a:t>
            </a:r>
            <a:endParaRPr lang="en-US" sz="1200" dirty="0"/>
          </a:p>
        </p:txBody>
      </p:sp>
      <p:sp>
        <p:nvSpPr>
          <p:cNvPr id="15" name="Text 12"/>
          <p:cNvSpPr txBox="1"/>
          <p:nvPr/>
        </p:nvSpPr>
        <p:spPr>
          <a:xfrm>
            <a:off x="6172200" y="2093976"/>
            <a:ext cx="343814" cy="256032"/>
          </a:xfrm>
          <a:prstGeom prst="roundRect">
            <a:avLst>
              <a:gd name="adj" fmla="val 35714"/>
            </a:avLst>
          </a:prstGeom>
          <a:solidFill>
            <a:schemeClr val="bg1"/>
          </a:solidFill>
          <a:ln/>
        </p:spPr>
        <p:txBody>
          <a:bodyPr wrap="none" lIns="0" tIns="0" rIns="0" bIns="0" rtlCol="0" anchor="ctr"/>
          <a:lstStyle/>
          <a:p>
            <a:pPr marL="0" indent="0" algn="ctr">
              <a:buNone/>
            </a:pPr>
            <a:r>
              <a:rPr lang="en-US" sz="1100" dirty="0">
                <a:solidFill>
                  <a:schemeClr val="tx1"/>
                </a:solidFill>
              </a:rPr>
              <a:t>10</a:t>
            </a:r>
            <a:endParaRPr lang="en-US" sz="1100" dirty="0"/>
          </a:p>
        </p:txBody>
      </p:sp>
      <p:sp>
        <p:nvSpPr>
          <p:cNvPr id="16" name="Text 13"/>
          <p:cNvSpPr txBox="1"/>
          <p:nvPr/>
        </p:nvSpPr>
        <p:spPr>
          <a:xfrm>
            <a:off x="6580022" y="2048256"/>
            <a:ext cx="461772" cy="347472"/>
          </a:xfrm>
          <a:prstGeom prst="rect">
            <a:avLst/>
          </a:prstGeom>
          <a:noFill/>
          <a:ln/>
        </p:spPr>
        <p:txBody>
          <a:bodyPr wrap="none" lIns="0" tIns="0" rIns="0" bIns="0" rtlCol="0" anchor="ctr"/>
          <a:lstStyle/>
          <a:p>
            <a:pPr marL="0" indent="0">
              <a:buNone/>
            </a:pPr>
            <a:r>
              <a:rPr lang="en-US" sz="1200" b="1" dirty="0">
                <a:solidFill>
                  <a:srgbClr val="1F2A44"/>
                </a:solidFill>
              </a:rPr>
              <a:t>steps</a:t>
            </a:r>
            <a:endParaRPr lang="en-US" sz="1200" dirty="0"/>
          </a:p>
        </p:txBody>
      </p:sp>
      <p:sp>
        <p:nvSpPr>
          <p:cNvPr id="17" name="Scratch block"/>
          <p:cNvSpPr/>
          <p:nvPr/>
        </p:nvSpPr>
        <p:spPr>
          <a:xfrm>
            <a:off x="5614416" y="2468880"/>
            <a:ext cx="2346350" cy="347472"/>
          </a:xfrm>
          <a:prstGeom prst="roundRect">
            <a:avLst>
              <a:gd name="adj" fmla="val 18421"/>
            </a:avLst>
          </a:prstGeom>
          <a:solidFill>
            <a:schemeClr val="accent4"/>
          </a:solidFill>
          <a:ln w="9525">
            <a:solidFill>
              <a:schemeClr val="bg1"/>
            </a:solidFill>
            <a:prstDash val="solid"/>
          </a:ln>
        </p:spPr>
      </p:sp>
      <p:sp>
        <p:nvSpPr>
          <p:cNvPr id="18" name="Text 15"/>
          <p:cNvSpPr txBox="1"/>
          <p:nvPr/>
        </p:nvSpPr>
        <p:spPr>
          <a:xfrm>
            <a:off x="5733288" y="2468880"/>
            <a:ext cx="288036" cy="347472"/>
          </a:xfrm>
          <a:prstGeom prst="rect">
            <a:avLst/>
          </a:prstGeom>
          <a:noFill/>
          <a:ln/>
        </p:spPr>
        <p:txBody>
          <a:bodyPr wrap="none" lIns="0" tIns="0" rIns="0" bIns="0" rtlCol="0" anchor="ctr"/>
          <a:lstStyle/>
          <a:p>
            <a:pPr marL="0" indent="0">
              <a:buNone/>
            </a:pPr>
            <a:r>
              <a:rPr lang="en-US" sz="1200" b="1" dirty="0">
                <a:solidFill>
                  <a:schemeClr val="bg1"/>
                </a:solidFill>
              </a:rPr>
              <a:t>say</a:t>
            </a:r>
            <a:endParaRPr lang="en-US" sz="1200" dirty="0"/>
          </a:p>
        </p:txBody>
      </p:sp>
      <p:sp>
        <p:nvSpPr>
          <p:cNvPr id="19" name="Text 16"/>
          <p:cNvSpPr txBox="1"/>
          <p:nvPr/>
        </p:nvSpPr>
        <p:spPr>
          <a:xfrm>
            <a:off x="6085332" y="2514600"/>
            <a:ext cx="629107" cy="256032"/>
          </a:xfrm>
          <a:prstGeom prst="roundRect">
            <a:avLst>
              <a:gd name="adj" fmla="val 35714"/>
            </a:avLst>
          </a:prstGeom>
          <a:solidFill>
            <a:schemeClr val="bg1"/>
          </a:solidFill>
          <a:ln/>
        </p:spPr>
        <p:txBody>
          <a:bodyPr wrap="none" lIns="0" tIns="0" rIns="0" bIns="0" rtlCol="0" anchor="ctr"/>
          <a:lstStyle/>
          <a:p>
            <a:pPr marL="0" indent="0" algn="ctr">
              <a:buNone/>
            </a:pPr>
            <a:r>
              <a:rPr lang="en-US" sz="1100" dirty="0">
                <a:solidFill>
                  <a:schemeClr val="tx1"/>
                </a:solidFill>
              </a:rPr>
              <a:t>Hello!</a:t>
            </a:r>
            <a:endParaRPr lang="en-US" sz="1100" dirty="0"/>
          </a:p>
        </p:txBody>
      </p:sp>
      <p:sp>
        <p:nvSpPr>
          <p:cNvPr id="20" name="Text 17"/>
          <p:cNvSpPr txBox="1"/>
          <p:nvPr/>
        </p:nvSpPr>
        <p:spPr>
          <a:xfrm>
            <a:off x="6778447" y="2468880"/>
            <a:ext cx="288036" cy="347472"/>
          </a:xfrm>
          <a:prstGeom prst="rect">
            <a:avLst/>
          </a:prstGeom>
          <a:noFill/>
          <a:ln/>
        </p:spPr>
        <p:txBody>
          <a:bodyPr wrap="none" lIns="0" tIns="0" rIns="0" bIns="0" rtlCol="0" anchor="ctr"/>
          <a:lstStyle/>
          <a:p>
            <a:pPr marL="0" indent="0">
              <a:buNone/>
            </a:pPr>
            <a:r>
              <a:rPr lang="en-US" sz="1200" b="1" dirty="0">
                <a:solidFill>
                  <a:schemeClr val="bg1"/>
                </a:solidFill>
              </a:rPr>
              <a:t>for</a:t>
            </a:r>
            <a:endParaRPr lang="en-US" sz="1200" dirty="0"/>
          </a:p>
        </p:txBody>
      </p:sp>
      <p:sp>
        <p:nvSpPr>
          <p:cNvPr id="21" name="Text 18"/>
          <p:cNvSpPr txBox="1"/>
          <p:nvPr/>
        </p:nvSpPr>
        <p:spPr>
          <a:xfrm>
            <a:off x="7130491" y="2514600"/>
            <a:ext cx="272491" cy="256032"/>
          </a:xfrm>
          <a:prstGeom prst="roundRect">
            <a:avLst>
              <a:gd name="adj" fmla="val 35714"/>
            </a:avLst>
          </a:prstGeom>
          <a:solidFill>
            <a:schemeClr val="bg1"/>
          </a:solidFill>
          <a:ln/>
        </p:spPr>
        <p:txBody>
          <a:bodyPr wrap="none" lIns="0" tIns="0" rIns="0" bIns="0" rtlCol="0" anchor="ctr"/>
          <a:lstStyle/>
          <a:p>
            <a:pPr marL="0" indent="0" algn="ctr">
              <a:buNone/>
            </a:pPr>
            <a:r>
              <a:rPr lang="en-US" sz="1100" dirty="0">
                <a:solidFill>
                  <a:schemeClr val="tx1"/>
                </a:solidFill>
              </a:rPr>
              <a:t>2</a:t>
            </a:r>
            <a:endParaRPr lang="en-US" sz="1100" dirty="0"/>
          </a:p>
        </p:txBody>
      </p:sp>
      <p:sp>
        <p:nvSpPr>
          <p:cNvPr id="22" name="Text 19"/>
          <p:cNvSpPr txBox="1"/>
          <p:nvPr/>
        </p:nvSpPr>
        <p:spPr>
          <a:xfrm>
            <a:off x="7466990" y="2468880"/>
            <a:ext cx="374904" cy="347472"/>
          </a:xfrm>
          <a:prstGeom prst="rect">
            <a:avLst/>
          </a:prstGeom>
          <a:noFill/>
          <a:ln/>
        </p:spPr>
        <p:txBody>
          <a:bodyPr wrap="none" lIns="0" tIns="0" rIns="0" bIns="0" rtlCol="0" anchor="ctr"/>
          <a:lstStyle/>
          <a:p>
            <a:pPr marL="0" indent="0">
              <a:buNone/>
            </a:pPr>
            <a:r>
              <a:rPr lang="en-US" sz="1200" b="1" dirty="0">
                <a:solidFill>
                  <a:schemeClr val="bg1"/>
                </a:solidFill>
              </a:rPr>
              <a:t>secs</a:t>
            </a:r>
            <a:endParaRPr lang="en-US" sz="1200" dirty="0"/>
          </a:p>
        </p:txBody>
      </p:sp>
      <p:sp>
        <p:nvSpPr>
          <p:cNvPr id="23" name="Shape 20"/>
          <p:cNvSpPr/>
          <p:nvPr/>
        </p:nvSpPr>
        <p:spPr>
          <a:xfrm>
            <a:off x="5394960" y="2926080"/>
            <a:ext cx="2565806" cy="219456"/>
          </a:xfrm>
          <a:prstGeom prst="roundRect">
            <a:avLst>
              <a:gd name="adj" fmla="val 25000"/>
            </a:avLst>
          </a:prstGeom>
          <a:solidFill>
            <a:schemeClr val="accent2"/>
          </a:solidFill>
          <a:ln/>
        </p:spPr>
      </p:sp>
      <p:sp>
        <p:nvSpPr>
          <p:cNvPr id="24" name="Text 21"/>
          <p:cNvSpPr txBox="1"/>
          <p:nvPr/>
        </p:nvSpPr>
        <p:spPr>
          <a:xfrm>
            <a:off x="5394960" y="3703320"/>
            <a:ext cx="3017520" cy="320040"/>
          </a:xfrm>
          <a:prstGeom prst="rect">
            <a:avLst/>
          </a:prstGeom>
          <a:noFill/>
          <a:ln/>
        </p:spPr>
        <p:txBody>
          <a:bodyPr wrap="square" lIns="0" tIns="0" rIns="0" bIns="0" rtlCol="0" anchor="t"/>
          <a:lstStyle/>
          <a:p>
            <a:pPr marL="0" indent="0" algn="ctr">
              <a:buNone/>
            </a:pPr>
            <a:r>
              <a:rPr lang="en-US" sz="1400" b="1" dirty="0">
                <a:solidFill>
                  <a:schemeClr val="bg2"/>
                </a:solidFill>
              </a:rPr>
              <a:t>Sequence · Selection · Iteration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1"/>
                </a:solidFill>
              </a:rPr>
              <a:t>What we will learn</a:t>
            </a:r>
            <a:endParaRPr lang="en-US" sz="3000" dirty="0"/>
          </a:p>
        </p:txBody>
      </p:sp>
      <p:sp>
        <p:nvSpPr>
          <p:cNvPr id="3" name="Card"/>
          <p:cNvSpPr/>
          <p:nvPr/>
        </p:nvSpPr>
        <p:spPr>
          <a:xfrm>
            <a:off x="457200" y="1188720"/>
            <a:ext cx="2606040" cy="1554480"/>
          </a:xfrm>
          <a:prstGeom prst="roundRect">
            <a:avLst>
              <a:gd name="adj" fmla="val 7059"/>
            </a:avLst>
          </a:prstGeom>
          <a:solidFill>
            <a:schemeClr val="bg2"/>
          </a:solidFill>
          <a:ln/>
        </p:spPr>
      </p:sp>
      <p:sp>
        <p:nvSpPr>
          <p:cNvPr id="4" name="Icon circle"/>
          <p:cNvSpPr/>
          <p:nvPr/>
        </p:nvSpPr>
        <p:spPr>
          <a:xfrm>
            <a:off x="640080" y="1371600"/>
            <a:ext cx="548640" cy="548640"/>
          </a:xfrm>
          <a:prstGeom prst="ellipse">
            <a:avLst/>
          </a:prstGeom>
          <a:solidFill>
            <a:schemeClr val="accent1"/>
          </a:solidFill>
          <a:ln/>
        </p:spPr>
      </p:sp>
      <p:pic>
        <p:nvPicPr>
          <p:cNvPr id="5" name="Image 0" descr="FaListOl"/>
          <p:cNvPicPr>
            <a:picLocks noChangeAspect="1"/>
          </p:cNvPicPr>
          <p:nvPr/>
        </p:nvPicPr>
        <p:blipFill>
          <a:blip r:embed="rId3"/>
          <a:stretch>
            <a:fillRect/>
          </a:stretch>
        </p:blipFill>
        <p:spPr>
          <a:xfrm>
            <a:off x="777240" y="1508760"/>
            <a:ext cx="274320" cy="274320"/>
          </a:xfrm>
          <a:prstGeom prst="rect">
            <a:avLst/>
          </a:prstGeom>
        </p:spPr>
      </p:pic>
      <p:sp>
        <p:nvSpPr>
          <p:cNvPr id="6" name="Text 3"/>
          <p:cNvSpPr txBox="1"/>
          <p:nvPr/>
        </p:nvSpPr>
        <p:spPr>
          <a:xfrm>
            <a:off x="640080" y="2011680"/>
            <a:ext cx="2240280" cy="685800"/>
          </a:xfrm>
          <a:prstGeom prst="rect">
            <a:avLst/>
          </a:prstGeom>
          <a:noFill/>
          <a:ln/>
        </p:spPr>
        <p:txBody>
          <a:bodyPr wrap="square" lIns="0" tIns="0" rIns="0" bIns="0" rtlCol="0" anchor="t"/>
          <a:lstStyle/>
          <a:p>
            <a:pPr marL="0" indent="0">
              <a:buNone/>
            </a:pPr>
            <a:r>
              <a:rPr lang="en-US" sz="1400" dirty="0">
                <a:solidFill>
                  <a:schemeClr val="tx1"/>
                </a:solidFill>
              </a:rPr>
              <a:t>Explore sequence, selection and iteration in our algorithms</a:t>
            </a:r>
            <a:endParaRPr lang="en-US" sz="1400" dirty="0"/>
          </a:p>
        </p:txBody>
      </p:sp>
      <p:sp>
        <p:nvSpPr>
          <p:cNvPr id="7" name="Card"/>
          <p:cNvSpPr/>
          <p:nvPr/>
        </p:nvSpPr>
        <p:spPr>
          <a:xfrm>
            <a:off x="3268980" y="1188720"/>
            <a:ext cx="2606040" cy="1554480"/>
          </a:xfrm>
          <a:prstGeom prst="roundRect">
            <a:avLst>
              <a:gd name="adj" fmla="val 7059"/>
            </a:avLst>
          </a:prstGeom>
          <a:solidFill>
            <a:schemeClr val="bg2"/>
          </a:solidFill>
          <a:ln/>
        </p:spPr>
      </p:sp>
      <p:sp>
        <p:nvSpPr>
          <p:cNvPr id="8" name="Icon circle"/>
          <p:cNvSpPr/>
          <p:nvPr/>
        </p:nvSpPr>
        <p:spPr>
          <a:xfrm>
            <a:off x="3451860" y="1371600"/>
            <a:ext cx="548640" cy="548640"/>
          </a:xfrm>
          <a:prstGeom prst="ellipse">
            <a:avLst/>
          </a:prstGeom>
          <a:solidFill>
            <a:schemeClr val="accent2"/>
          </a:solidFill>
          <a:ln/>
        </p:spPr>
      </p:sp>
      <p:pic>
        <p:nvPicPr>
          <p:cNvPr id="9" name="Image 1" descr="FaCalculator"/>
          <p:cNvPicPr>
            <a:picLocks noChangeAspect="1"/>
          </p:cNvPicPr>
          <p:nvPr/>
        </p:nvPicPr>
        <p:blipFill>
          <a:blip r:embed="rId4"/>
          <a:stretch>
            <a:fillRect/>
          </a:stretch>
        </p:blipFill>
        <p:spPr>
          <a:xfrm>
            <a:off x="3589020" y="1508760"/>
            <a:ext cx="274320" cy="274320"/>
          </a:xfrm>
          <a:prstGeom prst="rect">
            <a:avLst/>
          </a:prstGeom>
        </p:spPr>
      </p:pic>
      <p:sp>
        <p:nvSpPr>
          <p:cNvPr id="10" name="Text 6"/>
          <p:cNvSpPr txBox="1"/>
          <p:nvPr/>
        </p:nvSpPr>
        <p:spPr>
          <a:xfrm>
            <a:off x="3451860" y="2011680"/>
            <a:ext cx="2240280" cy="685800"/>
          </a:xfrm>
          <a:prstGeom prst="rect">
            <a:avLst/>
          </a:prstGeom>
          <a:noFill/>
          <a:ln/>
        </p:spPr>
        <p:txBody>
          <a:bodyPr wrap="square" lIns="0" tIns="0" rIns="0" bIns="0" rtlCol="0" anchor="t"/>
          <a:lstStyle/>
          <a:p>
            <a:pPr marL="0" indent="0">
              <a:buNone/>
            </a:pPr>
            <a:r>
              <a:rPr lang="en-US" sz="1400" dirty="0">
                <a:solidFill>
                  <a:schemeClr val="tx1"/>
                </a:solidFill>
              </a:rPr>
              <a:t>Use arithmetic operators in our algorithms</a:t>
            </a:r>
            <a:endParaRPr lang="en-US" sz="1400" dirty="0"/>
          </a:p>
        </p:txBody>
      </p:sp>
      <p:sp>
        <p:nvSpPr>
          <p:cNvPr id="11" name="Card"/>
          <p:cNvSpPr/>
          <p:nvPr/>
        </p:nvSpPr>
        <p:spPr>
          <a:xfrm>
            <a:off x="6080760" y="1188720"/>
            <a:ext cx="2606040" cy="1554480"/>
          </a:xfrm>
          <a:prstGeom prst="roundRect">
            <a:avLst>
              <a:gd name="adj" fmla="val 7059"/>
            </a:avLst>
          </a:prstGeom>
          <a:solidFill>
            <a:schemeClr val="bg2"/>
          </a:solidFill>
          <a:ln/>
        </p:spPr>
      </p:sp>
      <p:sp>
        <p:nvSpPr>
          <p:cNvPr id="12" name="Icon circle"/>
          <p:cNvSpPr/>
          <p:nvPr/>
        </p:nvSpPr>
        <p:spPr>
          <a:xfrm>
            <a:off x="6263640" y="1371600"/>
            <a:ext cx="548640" cy="548640"/>
          </a:xfrm>
          <a:prstGeom prst="ellipse">
            <a:avLst/>
          </a:prstGeom>
          <a:solidFill>
            <a:schemeClr val="accent3"/>
          </a:solidFill>
          <a:ln/>
        </p:spPr>
      </p:sp>
      <p:pic>
        <p:nvPicPr>
          <p:cNvPr id="13" name="Image 2" descr="FaDatabase"/>
          <p:cNvPicPr>
            <a:picLocks noChangeAspect="1"/>
          </p:cNvPicPr>
          <p:nvPr/>
        </p:nvPicPr>
        <p:blipFill>
          <a:blip r:embed="rId5"/>
          <a:stretch>
            <a:fillRect/>
          </a:stretch>
        </p:blipFill>
        <p:spPr>
          <a:xfrm>
            <a:off x="6400800" y="1508760"/>
            <a:ext cx="274320" cy="274320"/>
          </a:xfrm>
          <a:prstGeom prst="rect">
            <a:avLst/>
          </a:prstGeom>
        </p:spPr>
      </p:pic>
      <p:sp>
        <p:nvSpPr>
          <p:cNvPr id="14" name="Text 9"/>
          <p:cNvSpPr txBox="1"/>
          <p:nvPr/>
        </p:nvSpPr>
        <p:spPr>
          <a:xfrm>
            <a:off x="6263640" y="2011680"/>
            <a:ext cx="2240280" cy="685800"/>
          </a:xfrm>
          <a:prstGeom prst="rect">
            <a:avLst/>
          </a:prstGeom>
          <a:noFill/>
          <a:ln/>
        </p:spPr>
        <p:txBody>
          <a:bodyPr wrap="square" lIns="0" tIns="0" rIns="0" bIns="0" rtlCol="0" anchor="t"/>
          <a:lstStyle/>
          <a:p>
            <a:pPr marL="0" indent="0">
              <a:buNone/>
            </a:pPr>
            <a:r>
              <a:rPr lang="en-US" sz="1400" dirty="0">
                <a:solidFill>
                  <a:schemeClr val="tx1"/>
                </a:solidFill>
              </a:rPr>
              <a:t>Create programs using different data types</a:t>
            </a:r>
            <a:endParaRPr lang="en-US" sz="1400" dirty="0"/>
          </a:p>
        </p:txBody>
      </p:sp>
      <p:sp>
        <p:nvSpPr>
          <p:cNvPr id="15" name="Card"/>
          <p:cNvSpPr/>
          <p:nvPr/>
        </p:nvSpPr>
        <p:spPr>
          <a:xfrm>
            <a:off x="457200" y="2926080"/>
            <a:ext cx="2606040" cy="1554480"/>
          </a:xfrm>
          <a:prstGeom prst="roundRect">
            <a:avLst>
              <a:gd name="adj" fmla="val 7059"/>
            </a:avLst>
          </a:prstGeom>
          <a:solidFill>
            <a:schemeClr val="bg2"/>
          </a:solidFill>
          <a:ln/>
        </p:spPr>
      </p:sp>
      <p:sp>
        <p:nvSpPr>
          <p:cNvPr id="16" name="Icon circle"/>
          <p:cNvSpPr/>
          <p:nvPr/>
        </p:nvSpPr>
        <p:spPr>
          <a:xfrm>
            <a:off x="640080" y="3108960"/>
            <a:ext cx="548640" cy="548640"/>
          </a:xfrm>
          <a:prstGeom prst="ellipse">
            <a:avLst/>
          </a:prstGeom>
          <a:solidFill>
            <a:schemeClr val="accent4"/>
          </a:solidFill>
          <a:ln/>
        </p:spPr>
      </p:sp>
      <p:pic>
        <p:nvPicPr>
          <p:cNvPr id="17" name="Image 3" descr="FaComments"/>
          <p:cNvPicPr>
            <a:picLocks noChangeAspect="1"/>
          </p:cNvPicPr>
          <p:nvPr/>
        </p:nvPicPr>
        <p:blipFill>
          <a:blip r:embed="rId6"/>
          <a:stretch>
            <a:fillRect/>
          </a:stretch>
        </p:blipFill>
        <p:spPr>
          <a:xfrm>
            <a:off x="777240" y="3246120"/>
            <a:ext cx="274320" cy="274320"/>
          </a:xfrm>
          <a:prstGeom prst="rect">
            <a:avLst/>
          </a:prstGeom>
        </p:spPr>
      </p:pic>
      <p:sp>
        <p:nvSpPr>
          <p:cNvPr id="18" name="Text 12"/>
          <p:cNvSpPr txBox="1"/>
          <p:nvPr/>
        </p:nvSpPr>
        <p:spPr>
          <a:xfrm>
            <a:off x="640080" y="3749040"/>
            <a:ext cx="2240280" cy="685800"/>
          </a:xfrm>
          <a:prstGeom prst="rect">
            <a:avLst/>
          </a:prstGeom>
          <a:noFill/>
          <a:ln/>
        </p:spPr>
        <p:txBody>
          <a:bodyPr wrap="square" lIns="0" tIns="0" rIns="0" bIns="0" rtlCol="0" anchor="t"/>
          <a:lstStyle/>
          <a:p>
            <a:pPr marL="0" indent="0">
              <a:buNone/>
            </a:pPr>
            <a:r>
              <a:rPr lang="en-US" sz="1400" dirty="0">
                <a:solidFill>
                  <a:schemeClr val="tx1"/>
                </a:solidFill>
              </a:rPr>
              <a:t>Develop a chatbot that uses different data types</a:t>
            </a:r>
            <a:endParaRPr lang="en-US" sz="1400" dirty="0"/>
          </a:p>
        </p:txBody>
      </p:sp>
      <p:sp>
        <p:nvSpPr>
          <p:cNvPr id="19" name="Card"/>
          <p:cNvSpPr/>
          <p:nvPr/>
        </p:nvSpPr>
        <p:spPr>
          <a:xfrm>
            <a:off x="3268980" y="2926080"/>
            <a:ext cx="2606040" cy="1554480"/>
          </a:xfrm>
          <a:prstGeom prst="roundRect">
            <a:avLst>
              <a:gd name="adj" fmla="val 7059"/>
            </a:avLst>
          </a:prstGeom>
          <a:solidFill>
            <a:schemeClr val="bg2"/>
          </a:solidFill>
          <a:ln/>
        </p:spPr>
      </p:sp>
      <p:sp>
        <p:nvSpPr>
          <p:cNvPr id="20" name="Icon circle"/>
          <p:cNvSpPr/>
          <p:nvPr/>
        </p:nvSpPr>
        <p:spPr>
          <a:xfrm>
            <a:off x="3451860" y="3108960"/>
            <a:ext cx="548640" cy="548640"/>
          </a:xfrm>
          <a:prstGeom prst="ellipse">
            <a:avLst/>
          </a:prstGeom>
          <a:solidFill>
            <a:schemeClr val="accent6"/>
          </a:solidFill>
          <a:ln/>
        </p:spPr>
      </p:sp>
      <p:pic>
        <p:nvPicPr>
          <p:cNvPr id="21" name="Image 4" descr="FaClock"/>
          <p:cNvPicPr>
            <a:picLocks noChangeAspect="1"/>
          </p:cNvPicPr>
          <p:nvPr/>
        </p:nvPicPr>
        <p:blipFill>
          <a:blip r:embed="rId7"/>
          <a:stretch>
            <a:fillRect/>
          </a:stretch>
        </p:blipFill>
        <p:spPr>
          <a:xfrm>
            <a:off x="3589020" y="3246120"/>
            <a:ext cx="274320" cy="274320"/>
          </a:xfrm>
          <a:prstGeom prst="rect">
            <a:avLst/>
          </a:prstGeom>
        </p:spPr>
      </p:pic>
      <p:sp>
        <p:nvSpPr>
          <p:cNvPr id="22" name="Text 15"/>
          <p:cNvSpPr txBox="1"/>
          <p:nvPr/>
        </p:nvSpPr>
        <p:spPr>
          <a:xfrm>
            <a:off x="3451860" y="3749040"/>
            <a:ext cx="2240280" cy="685800"/>
          </a:xfrm>
          <a:prstGeom prst="rect">
            <a:avLst/>
          </a:prstGeom>
          <a:noFill/>
          <a:ln/>
        </p:spPr>
        <p:txBody>
          <a:bodyPr wrap="square" lIns="0" tIns="0" rIns="0" bIns="0" rtlCol="0" anchor="t"/>
          <a:lstStyle/>
          <a:p>
            <a:pPr marL="0" indent="0">
              <a:buNone/>
            </a:pPr>
            <a:r>
              <a:rPr lang="en-US" sz="1400" dirty="0">
                <a:solidFill>
                  <a:schemeClr val="tx1"/>
                </a:solidFill>
              </a:rPr>
              <a:t>Program a talking clock that solves a real-life problem</a:t>
            </a:r>
            <a:endParaRPr lang="en-US" sz="1400" dirty="0"/>
          </a:p>
        </p:txBody>
      </p:sp>
      <p:sp>
        <p:nvSpPr>
          <p:cNvPr id="23" name="Card"/>
          <p:cNvSpPr/>
          <p:nvPr/>
        </p:nvSpPr>
        <p:spPr>
          <a:xfrm>
            <a:off x="6080760" y="2926080"/>
            <a:ext cx="2606040" cy="1554480"/>
          </a:xfrm>
          <a:prstGeom prst="roundRect">
            <a:avLst>
              <a:gd name="adj" fmla="val 7059"/>
            </a:avLst>
          </a:prstGeom>
          <a:solidFill>
            <a:schemeClr val="bg2"/>
          </a:solidFill>
          <a:ln/>
        </p:spPr>
      </p:sp>
      <p:sp>
        <p:nvSpPr>
          <p:cNvPr id="24" name="Icon circle"/>
          <p:cNvSpPr/>
          <p:nvPr/>
        </p:nvSpPr>
        <p:spPr>
          <a:xfrm>
            <a:off x="6263640" y="3108960"/>
            <a:ext cx="548640" cy="548640"/>
          </a:xfrm>
          <a:prstGeom prst="ellipse">
            <a:avLst/>
          </a:prstGeom>
          <a:solidFill>
            <a:schemeClr val="accent5"/>
          </a:solidFill>
          <a:ln/>
        </p:spPr>
      </p:sp>
      <p:pic>
        <p:nvPicPr>
          <p:cNvPr id="25" name="Image 5" descr="FaPuzzlePiece"/>
          <p:cNvPicPr>
            <a:picLocks noChangeAspect="1"/>
          </p:cNvPicPr>
          <p:nvPr/>
        </p:nvPicPr>
        <p:blipFill>
          <a:blip r:embed="rId8"/>
          <a:stretch>
            <a:fillRect/>
          </a:stretch>
        </p:blipFill>
        <p:spPr>
          <a:xfrm>
            <a:off x="6400800" y="3246120"/>
            <a:ext cx="274320" cy="274320"/>
          </a:xfrm>
          <a:prstGeom prst="rect">
            <a:avLst/>
          </a:prstGeom>
        </p:spPr>
      </p:pic>
      <p:sp>
        <p:nvSpPr>
          <p:cNvPr id="26" name="Text 18"/>
          <p:cNvSpPr txBox="1"/>
          <p:nvPr/>
        </p:nvSpPr>
        <p:spPr>
          <a:xfrm>
            <a:off x="6263640" y="3749040"/>
            <a:ext cx="2240280" cy="685800"/>
          </a:xfrm>
          <a:prstGeom prst="rect">
            <a:avLst/>
          </a:prstGeom>
          <a:noFill/>
          <a:ln/>
        </p:spPr>
        <p:txBody>
          <a:bodyPr wrap="square" lIns="0" tIns="0" rIns="0" bIns="0" rtlCol="0" anchor="t"/>
          <a:lstStyle/>
          <a:p>
            <a:pPr marL="0" indent="0">
              <a:buNone/>
            </a:pPr>
            <a:r>
              <a:rPr lang="en-US" sz="1400" dirty="0">
                <a:solidFill>
                  <a:schemeClr val="tx1"/>
                </a:solidFill>
              </a:rPr>
              <a:t>Create a program with interaction that uses multiple programming ideas</a:t>
            </a:r>
            <a:endParaRPr lang="en-US" sz="1400" dirty="0"/>
          </a:p>
        </p:txBody>
      </p:sp>
      <p:sp>
        <p:nvSpPr>
          <p:cNvPr id="27"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1"/>
                </a:solidFill>
              </a:rPr>
              <a:t>Key words</a:t>
            </a:r>
            <a:endParaRPr lang="en-US" sz="3000" dirty="0"/>
          </a:p>
        </p:txBody>
      </p:sp>
      <p:sp>
        <p:nvSpPr>
          <p:cNvPr id="3" name="Key word chip"/>
          <p:cNvSpPr txBox="1"/>
          <p:nvPr/>
        </p:nvSpPr>
        <p:spPr>
          <a:xfrm>
            <a:off x="457200" y="1188720"/>
            <a:ext cx="2468880" cy="420624"/>
          </a:xfrm>
          <a:prstGeom prst="roundRect">
            <a:avLst>
              <a:gd name="adj" fmla="val 43478"/>
            </a:avLst>
          </a:prstGeom>
          <a:solidFill>
            <a:schemeClr val="accent2"/>
          </a:solidFill>
          <a:ln/>
        </p:spPr>
        <p:txBody>
          <a:bodyPr wrap="square" lIns="0" tIns="0" rIns="0" bIns="0" rtlCol="0" anchor="ctr"/>
          <a:lstStyle/>
          <a:p>
            <a:pPr marL="0" indent="0" algn="ctr">
              <a:buNone/>
            </a:pPr>
            <a:r>
              <a:rPr lang="en-US" sz="1400" b="1" dirty="0">
                <a:solidFill>
                  <a:schemeClr val="tx1"/>
                </a:solidFill>
              </a:rPr>
              <a:t>programming constructs</a:t>
            </a:r>
            <a:endParaRPr lang="en-US" sz="1400" dirty="0"/>
          </a:p>
        </p:txBody>
      </p:sp>
      <p:sp>
        <p:nvSpPr>
          <p:cNvPr id="4" name="Key word chip"/>
          <p:cNvSpPr txBox="1"/>
          <p:nvPr/>
        </p:nvSpPr>
        <p:spPr>
          <a:xfrm>
            <a:off x="3063240" y="1188720"/>
            <a:ext cx="1188720" cy="420624"/>
          </a:xfrm>
          <a:prstGeom prst="roundRect">
            <a:avLst>
              <a:gd name="adj" fmla="val 43478"/>
            </a:avLst>
          </a:prstGeom>
          <a:solidFill>
            <a:schemeClr val="accent2"/>
          </a:solidFill>
          <a:ln/>
        </p:spPr>
        <p:txBody>
          <a:bodyPr wrap="square" lIns="0" tIns="0" rIns="0" bIns="0" rtlCol="0" anchor="ctr"/>
          <a:lstStyle/>
          <a:p>
            <a:pPr marL="0" indent="0" algn="ctr">
              <a:buNone/>
            </a:pPr>
            <a:r>
              <a:rPr lang="en-US" sz="1400" b="1" dirty="0">
                <a:solidFill>
                  <a:schemeClr val="tx1"/>
                </a:solidFill>
              </a:rPr>
              <a:t>sequence</a:t>
            </a:r>
            <a:endParaRPr lang="en-US" sz="1400" dirty="0"/>
          </a:p>
        </p:txBody>
      </p:sp>
      <p:sp>
        <p:nvSpPr>
          <p:cNvPr id="5" name="Key word chip"/>
          <p:cNvSpPr txBox="1"/>
          <p:nvPr/>
        </p:nvSpPr>
        <p:spPr>
          <a:xfrm>
            <a:off x="4389120" y="1188720"/>
            <a:ext cx="1280160" cy="420624"/>
          </a:xfrm>
          <a:prstGeom prst="roundRect">
            <a:avLst>
              <a:gd name="adj" fmla="val 43478"/>
            </a:avLst>
          </a:prstGeom>
          <a:solidFill>
            <a:schemeClr val="accent2"/>
          </a:solidFill>
          <a:ln/>
        </p:spPr>
        <p:txBody>
          <a:bodyPr wrap="square" lIns="0" tIns="0" rIns="0" bIns="0" rtlCol="0" anchor="ctr"/>
          <a:lstStyle/>
          <a:p>
            <a:pPr marL="0" indent="0" algn="ctr">
              <a:buNone/>
            </a:pPr>
            <a:r>
              <a:rPr lang="en-US" sz="1400" b="1" dirty="0">
                <a:solidFill>
                  <a:schemeClr val="tx1"/>
                </a:solidFill>
              </a:rPr>
              <a:t>selection</a:t>
            </a:r>
            <a:endParaRPr lang="en-US" sz="1400" dirty="0"/>
          </a:p>
        </p:txBody>
      </p:sp>
      <p:sp>
        <p:nvSpPr>
          <p:cNvPr id="6" name="Key word chip"/>
          <p:cNvSpPr txBox="1"/>
          <p:nvPr/>
        </p:nvSpPr>
        <p:spPr>
          <a:xfrm>
            <a:off x="5806440" y="1188720"/>
            <a:ext cx="1280160" cy="420624"/>
          </a:xfrm>
          <a:prstGeom prst="roundRect">
            <a:avLst>
              <a:gd name="adj" fmla="val 43478"/>
            </a:avLst>
          </a:prstGeom>
          <a:solidFill>
            <a:schemeClr val="accent2"/>
          </a:solidFill>
          <a:ln/>
        </p:spPr>
        <p:txBody>
          <a:bodyPr wrap="square" lIns="0" tIns="0" rIns="0" bIns="0" rtlCol="0" anchor="ctr"/>
          <a:lstStyle/>
          <a:p>
            <a:pPr marL="0" indent="0" algn="ctr">
              <a:buNone/>
            </a:pPr>
            <a:r>
              <a:rPr lang="en-US" sz="1400" b="1" dirty="0">
                <a:solidFill>
                  <a:schemeClr val="tx1"/>
                </a:solidFill>
              </a:rPr>
              <a:t>iteration</a:t>
            </a:r>
            <a:endParaRPr lang="en-US" sz="1400" dirty="0"/>
          </a:p>
        </p:txBody>
      </p:sp>
      <p:sp>
        <p:nvSpPr>
          <p:cNvPr id="7" name="Key word chip"/>
          <p:cNvSpPr txBox="1"/>
          <p:nvPr/>
        </p:nvSpPr>
        <p:spPr>
          <a:xfrm>
            <a:off x="7223760" y="1188720"/>
            <a:ext cx="1280160" cy="420624"/>
          </a:xfrm>
          <a:prstGeom prst="roundRect">
            <a:avLst>
              <a:gd name="adj" fmla="val 43478"/>
            </a:avLst>
          </a:prstGeom>
          <a:solidFill>
            <a:schemeClr val="accent2"/>
          </a:solidFill>
          <a:ln/>
        </p:spPr>
        <p:txBody>
          <a:bodyPr wrap="square" lIns="0" tIns="0" rIns="0" bIns="0" rtlCol="0" anchor="ctr"/>
          <a:lstStyle/>
          <a:p>
            <a:pPr marL="0" indent="0" algn="ctr">
              <a:buNone/>
            </a:pPr>
            <a:r>
              <a:rPr lang="en-US" sz="1400" b="1" dirty="0">
                <a:solidFill>
                  <a:schemeClr val="tx1"/>
                </a:solidFill>
              </a:rPr>
              <a:t>condition</a:t>
            </a:r>
            <a:endParaRPr lang="en-US" sz="1400" dirty="0"/>
          </a:p>
        </p:txBody>
      </p:sp>
      <p:sp>
        <p:nvSpPr>
          <p:cNvPr id="8" name="Key word chip"/>
          <p:cNvSpPr txBox="1"/>
          <p:nvPr/>
        </p:nvSpPr>
        <p:spPr>
          <a:xfrm>
            <a:off x="457200" y="1755648"/>
            <a:ext cx="2377440" cy="420624"/>
          </a:xfrm>
          <a:prstGeom prst="roundRect">
            <a:avLst>
              <a:gd name="adj" fmla="val 43478"/>
            </a:avLst>
          </a:prstGeom>
          <a:solidFill>
            <a:schemeClr val="accent2"/>
          </a:solidFill>
          <a:ln/>
        </p:spPr>
        <p:txBody>
          <a:bodyPr wrap="square" lIns="0" tIns="0" rIns="0" bIns="0" rtlCol="0" anchor="ctr"/>
          <a:lstStyle/>
          <a:p>
            <a:pPr marL="0" indent="0" algn="ctr">
              <a:buNone/>
            </a:pPr>
            <a:r>
              <a:rPr lang="en-US" sz="1400" b="1" dirty="0">
                <a:solidFill>
                  <a:schemeClr val="tx1"/>
                </a:solidFill>
              </a:rPr>
              <a:t>conditional statement</a:t>
            </a:r>
            <a:endParaRPr lang="en-US" sz="1400" dirty="0"/>
          </a:p>
        </p:txBody>
      </p:sp>
      <p:sp>
        <p:nvSpPr>
          <p:cNvPr id="9" name="Key word chip"/>
          <p:cNvSpPr txBox="1"/>
          <p:nvPr/>
        </p:nvSpPr>
        <p:spPr>
          <a:xfrm>
            <a:off x="2971800" y="1755648"/>
            <a:ext cx="1280160" cy="420624"/>
          </a:xfrm>
          <a:prstGeom prst="roundRect">
            <a:avLst>
              <a:gd name="adj" fmla="val 43478"/>
            </a:avLst>
          </a:prstGeom>
          <a:solidFill>
            <a:schemeClr val="accent2"/>
          </a:solidFill>
          <a:ln/>
        </p:spPr>
        <p:txBody>
          <a:bodyPr wrap="square" lIns="0" tIns="0" rIns="0" bIns="0" rtlCol="0" anchor="ctr"/>
          <a:lstStyle/>
          <a:p>
            <a:pPr marL="0" indent="0" algn="ctr">
              <a:buNone/>
            </a:pPr>
            <a:r>
              <a:rPr lang="en-US" sz="1400" b="1" dirty="0">
                <a:solidFill>
                  <a:schemeClr val="tx1"/>
                </a:solidFill>
              </a:rPr>
              <a:t>procedure</a:t>
            </a:r>
            <a:endParaRPr lang="en-US" sz="1400" dirty="0"/>
          </a:p>
        </p:txBody>
      </p:sp>
      <p:sp>
        <p:nvSpPr>
          <p:cNvPr id="10" name="Key word chip"/>
          <p:cNvSpPr txBox="1"/>
          <p:nvPr/>
        </p:nvSpPr>
        <p:spPr>
          <a:xfrm>
            <a:off x="4389120" y="1755648"/>
            <a:ext cx="1463040" cy="420624"/>
          </a:xfrm>
          <a:prstGeom prst="roundRect">
            <a:avLst>
              <a:gd name="adj" fmla="val 43478"/>
            </a:avLst>
          </a:prstGeom>
          <a:solidFill>
            <a:schemeClr val="accent2"/>
          </a:solidFill>
          <a:ln/>
        </p:spPr>
        <p:txBody>
          <a:bodyPr wrap="square" lIns="0" tIns="0" rIns="0" bIns="0" rtlCol="0" anchor="ctr"/>
          <a:lstStyle/>
          <a:p>
            <a:pPr marL="0" indent="0" algn="ctr">
              <a:buNone/>
            </a:pPr>
            <a:r>
              <a:rPr lang="en-US" sz="1400" b="1" dirty="0">
                <a:solidFill>
                  <a:schemeClr val="tx1"/>
                </a:solidFill>
              </a:rPr>
              <a:t>interaction</a:t>
            </a:r>
            <a:endParaRPr lang="en-US" sz="1400" dirty="0"/>
          </a:p>
        </p:txBody>
      </p:sp>
      <p:sp>
        <p:nvSpPr>
          <p:cNvPr id="11" name="Key word chip"/>
          <p:cNvSpPr txBox="1"/>
          <p:nvPr/>
        </p:nvSpPr>
        <p:spPr>
          <a:xfrm>
            <a:off x="5989320" y="1755648"/>
            <a:ext cx="1188720" cy="420624"/>
          </a:xfrm>
          <a:prstGeom prst="roundRect">
            <a:avLst>
              <a:gd name="adj" fmla="val 43478"/>
            </a:avLst>
          </a:prstGeom>
          <a:solidFill>
            <a:schemeClr val="accent3"/>
          </a:solidFill>
          <a:ln/>
        </p:spPr>
        <p:txBody>
          <a:bodyPr wrap="square" lIns="0" tIns="0" rIns="0" bIns="0" rtlCol="0" anchor="ctr"/>
          <a:lstStyle/>
          <a:p>
            <a:pPr marL="0" indent="0" algn="ctr">
              <a:buNone/>
            </a:pPr>
            <a:r>
              <a:rPr lang="en-US" sz="1400" b="1" dirty="0">
                <a:solidFill>
                  <a:schemeClr val="tx1"/>
                </a:solidFill>
              </a:rPr>
              <a:t>operator</a:t>
            </a:r>
            <a:endParaRPr lang="en-US" sz="1400" dirty="0"/>
          </a:p>
        </p:txBody>
      </p:sp>
      <p:sp>
        <p:nvSpPr>
          <p:cNvPr id="12" name="Key word chip"/>
          <p:cNvSpPr txBox="1"/>
          <p:nvPr/>
        </p:nvSpPr>
        <p:spPr>
          <a:xfrm>
            <a:off x="457200" y="2322576"/>
            <a:ext cx="2194560" cy="420624"/>
          </a:xfrm>
          <a:prstGeom prst="roundRect">
            <a:avLst>
              <a:gd name="adj" fmla="val 43478"/>
            </a:avLst>
          </a:prstGeom>
          <a:solidFill>
            <a:schemeClr val="accent3"/>
          </a:solidFill>
          <a:ln/>
        </p:spPr>
        <p:txBody>
          <a:bodyPr wrap="square" lIns="0" tIns="0" rIns="0" bIns="0" rtlCol="0" anchor="ctr"/>
          <a:lstStyle/>
          <a:p>
            <a:pPr marL="0" indent="0" algn="ctr">
              <a:buNone/>
            </a:pPr>
            <a:r>
              <a:rPr lang="en-US" sz="1400" b="1" dirty="0">
                <a:solidFill>
                  <a:schemeClr val="tx1"/>
                </a:solidFill>
              </a:rPr>
              <a:t>arithmetic operator</a:t>
            </a:r>
            <a:endParaRPr lang="en-US" sz="1400" dirty="0"/>
          </a:p>
        </p:txBody>
      </p:sp>
      <p:sp>
        <p:nvSpPr>
          <p:cNvPr id="13" name="Key word chip"/>
          <p:cNvSpPr txBox="1"/>
          <p:nvPr/>
        </p:nvSpPr>
        <p:spPr>
          <a:xfrm>
            <a:off x="2788920" y="2322576"/>
            <a:ext cx="2194560" cy="420624"/>
          </a:xfrm>
          <a:prstGeom prst="roundRect">
            <a:avLst>
              <a:gd name="adj" fmla="val 43478"/>
            </a:avLst>
          </a:prstGeom>
          <a:solidFill>
            <a:schemeClr val="accent3"/>
          </a:solidFill>
          <a:ln/>
        </p:spPr>
        <p:txBody>
          <a:bodyPr wrap="square" lIns="0" tIns="0" rIns="0" bIns="0" rtlCol="0" anchor="ctr"/>
          <a:lstStyle/>
          <a:p>
            <a:pPr marL="0" indent="0" algn="ctr">
              <a:buNone/>
            </a:pPr>
            <a:r>
              <a:rPr lang="en-US" sz="1400" b="1" dirty="0">
                <a:solidFill>
                  <a:schemeClr val="tx1"/>
                </a:solidFill>
              </a:rPr>
              <a:t>comparison operator</a:t>
            </a:r>
            <a:endParaRPr lang="en-US" sz="1400" dirty="0"/>
          </a:p>
        </p:txBody>
      </p:sp>
      <p:sp>
        <p:nvSpPr>
          <p:cNvPr id="14" name="Key word chip"/>
          <p:cNvSpPr txBox="1"/>
          <p:nvPr/>
        </p:nvSpPr>
        <p:spPr>
          <a:xfrm>
            <a:off x="5120640" y="2322576"/>
            <a:ext cx="1188720" cy="420624"/>
          </a:xfrm>
          <a:prstGeom prst="roundRect">
            <a:avLst>
              <a:gd name="adj" fmla="val 43478"/>
            </a:avLst>
          </a:prstGeom>
          <a:solidFill>
            <a:schemeClr val="accent1"/>
          </a:solidFill>
          <a:ln/>
        </p:spPr>
        <p:txBody>
          <a:bodyPr wrap="square" lIns="0" tIns="0" rIns="0" bIns="0" rtlCol="0" anchor="ctr"/>
          <a:lstStyle/>
          <a:p>
            <a:pPr marL="0" indent="0" algn="ctr">
              <a:buNone/>
            </a:pPr>
            <a:r>
              <a:rPr lang="en-US" sz="1400" b="1" dirty="0">
                <a:solidFill>
                  <a:schemeClr val="tx1"/>
                </a:solidFill>
              </a:rPr>
              <a:t>variable</a:t>
            </a:r>
            <a:endParaRPr lang="en-US" sz="1400" dirty="0"/>
          </a:p>
        </p:txBody>
      </p:sp>
      <p:sp>
        <p:nvSpPr>
          <p:cNvPr id="15" name="Key word chip"/>
          <p:cNvSpPr txBox="1"/>
          <p:nvPr/>
        </p:nvSpPr>
        <p:spPr>
          <a:xfrm>
            <a:off x="6446520" y="2322576"/>
            <a:ext cx="1737360" cy="420624"/>
          </a:xfrm>
          <a:prstGeom prst="roundRect">
            <a:avLst>
              <a:gd name="adj" fmla="val 43478"/>
            </a:avLst>
          </a:prstGeom>
          <a:solidFill>
            <a:schemeClr val="accent1"/>
          </a:solidFill>
          <a:ln/>
        </p:spPr>
        <p:txBody>
          <a:bodyPr wrap="square" lIns="0" tIns="0" rIns="0" bIns="0" rtlCol="0" anchor="ctr"/>
          <a:lstStyle/>
          <a:p>
            <a:pPr marL="0" indent="0" algn="ctr">
              <a:buNone/>
            </a:pPr>
            <a:r>
              <a:rPr lang="en-US" sz="1400" b="1" dirty="0">
                <a:solidFill>
                  <a:schemeClr val="tx1"/>
                </a:solidFill>
              </a:rPr>
              <a:t>input variable</a:t>
            </a:r>
            <a:endParaRPr lang="en-US" sz="1400" dirty="0"/>
          </a:p>
        </p:txBody>
      </p:sp>
      <p:sp>
        <p:nvSpPr>
          <p:cNvPr id="16" name="Key word chip"/>
          <p:cNvSpPr txBox="1"/>
          <p:nvPr/>
        </p:nvSpPr>
        <p:spPr>
          <a:xfrm>
            <a:off x="457200" y="2889504"/>
            <a:ext cx="1097280" cy="420624"/>
          </a:xfrm>
          <a:prstGeom prst="roundRect">
            <a:avLst>
              <a:gd name="adj" fmla="val 43478"/>
            </a:avLst>
          </a:prstGeom>
          <a:solidFill>
            <a:schemeClr val="accent1"/>
          </a:solidFill>
          <a:ln/>
        </p:spPr>
        <p:txBody>
          <a:bodyPr wrap="square" lIns="0" tIns="0" rIns="0" bIns="0" rtlCol="0" anchor="ctr"/>
          <a:lstStyle/>
          <a:p>
            <a:pPr marL="0" indent="0" algn="ctr">
              <a:buNone/>
            </a:pPr>
            <a:r>
              <a:rPr lang="en-US" sz="1400" b="1" dirty="0">
                <a:solidFill>
                  <a:schemeClr val="tx1"/>
                </a:solidFill>
              </a:rPr>
              <a:t>integer</a:t>
            </a:r>
            <a:endParaRPr lang="en-US" sz="1400" dirty="0"/>
          </a:p>
        </p:txBody>
      </p:sp>
      <p:sp>
        <p:nvSpPr>
          <p:cNvPr id="17" name="Key word chip"/>
          <p:cNvSpPr txBox="1"/>
          <p:nvPr/>
        </p:nvSpPr>
        <p:spPr>
          <a:xfrm>
            <a:off x="1691640" y="2889504"/>
            <a:ext cx="1280160" cy="420624"/>
          </a:xfrm>
          <a:prstGeom prst="roundRect">
            <a:avLst>
              <a:gd name="adj" fmla="val 43478"/>
            </a:avLst>
          </a:prstGeom>
          <a:solidFill>
            <a:schemeClr val="accent1"/>
          </a:solidFill>
          <a:ln/>
        </p:spPr>
        <p:txBody>
          <a:bodyPr wrap="square" lIns="0" tIns="0" rIns="0" bIns="0" rtlCol="0" anchor="ctr"/>
          <a:lstStyle/>
          <a:p>
            <a:pPr marL="0" indent="0" algn="ctr">
              <a:buNone/>
            </a:pPr>
            <a:r>
              <a:rPr lang="en-US" sz="1400" b="1" dirty="0">
                <a:solidFill>
                  <a:schemeClr val="tx1"/>
                </a:solidFill>
              </a:rPr>
              <a:t>character</a:t>
            </a:r>
            <a:endParaRPr lang="en-US" sz="1400" dirty="0"/>
          </a:p>
        </p:txBody>
      </p:sp>
      <p:sp>
        <p:nvSpPr>
          <p:cNvPr id="18" name="Key word chip"/>
          <p:cNvSpPr txBox="1"/>
          <p:nvPr/>
        </p:nvSpPr>
        <p:spPr>
          <a:xfrm>
            <a:off x="3108960" y="2889504"/>
            <a:ext cx="1005840" cy="420624"/>
          </a:xfrm>
          <a:prstGeom prst="roundRect">
            <a:avLst>
              <a:gd name="adj" fmla="val 43478"/>
            </a:avLst>
          </a:prstGeom>
          <a:solidFill>
            <a:schemeClr val="accent1"/>
          </a:solidFill>
          <a:ln/>
        </p:spPr>
        <p:txBody>
          <a:bodyPr wrap="square" lIns="0" tIns="0" rIns="0" bIns="0" rtlCol="0" anchor="ctr"/>
          <a:lstStyle/>
          <a:p>
            <a:pPr marL="0" indent="0" algn="ctr">
              <a:buNone/>
            </a:pPr>
            <a:r>
              <a:rPr lang="en-US" sz="1400" b="1" dirty="0">
                <a:solidFill>
                  <a:schemeClr val="tx1"/>
                </a:solidFill>
              </a:rPr>
              <a:t>string</a:t>
            </a:r>
            <a:endParaRPr lang="en-US" sz="1400" dirty="0"/>
          </a:p>
        </p:txBody>
      </p:sp>
      <p:sp>
        <p:nvSpPr>
          <p:cNvPr id="19" name="Key word chip"/>
          <p:cNvSpPr txBox="1"/>
          <p:nvPr/>
        </p:nvSpPr>
        <p:spPr>
          <a:xfrm>
            <a:off x="4251960" y="2889504"/>
            <a:ext cx="1097280" cy="420624"/>
          </a:xfrm>
          <a:prstGeom prst="roundRect">
            <a:avLst>
              <a:gd name="adj" fmla="val 43478"/>
            </a:avLst>
          </a:prstGeom>
          <a:solidFill>
            <a:schemeClr val="accent4"/>
          </a:solidFill>
          <a:ln/>
        </p:spPr>
        <p:txBody>
          <a:bodyPr wrap="square" lIns="0" tIns="0" rIns="0" bIns="0" rtlCol="0" anchor="ctr"/>
          <a:lstStyle/>
          <a:p>
            <a:pPr marL="0" indent="0" algn="ctr">
              <a:buNone/>
            </a:pPr>
            <a:r>
              <a:rPr lang="en-US" sz="1400" b="1" dirty="0">
                <a:solidFill>
                  <a:schemeClr val="bg1"/>
                </a:solidFill>
              </a:rPr>
              <a:t>chatbot</a:t>
            </a:r>
            <a:endParaRPr lang="en-US" sz="1400" dirty="0"/>
          </a:p>
        </p:txBody>
      </p:sp>
      <p:sp>
        <p:nvSpPr>
          <p:cNvPr id="20" name="Text 18"/>
          <p:cNvSpPr txBox="1"/>
          <p:nvPr/>
        </p:nvSpPr>
        <p:spPr>
          <a:xfrm>
            <a:off x="457200" y="4114800"/>
            <a:ext cx="8229600" cy="457200"/>
          </a:xfrm>
          <a:prstGeom prst="rect">
            <a:avLst/>
          </a:prstGeom>
          <a:noFill/>
          <a:ln/>
        </p:spPr>
        <p:txBody>
          <a:bodyPr wrap="square" lIns="0" tIns="0" rIns="0" bIns="0" rtlCol="0" anchor="t"/>
          <a:lstStyle/>
          <a:p>
            <a:pPr marL="0" indent="0">
              <a:buNone/>
            </a:pPr>
            <a:r>
              <a:rPr lang="en-US" sz="1400" dirty="0">
                <a:solidFill>
                  <a:schemeClr val="tx1"/>
                </a:solidFill>
              </a:rPr>
              <a:t>Colours show the topic: orange = programming ideas, green = operators, blue = variables and data, purple = chatbot.</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1"/>
                </a:solidFill>
              </a:rPr>
              <a:t>Getting started: what do you already know?</a:t>
            </a:r>
            <a:endParaRPr lang="en-US" sz="3000" dirty="0"/>
          </a:p>
        </p:txBody>
      </p:sp>
      <p:sp>
        <p:nvSpPr>
          <p:cNvPr id="3" name="Card"/>
          <p:cNvSpPr/>
          <p:nvPr/>
        </p:nvSpPr>
        <p:spPr>
          <a:xfrm>
            <a:off x="457200" y="1188720"/>
            <a:ext cx="5212080" cy="731520"/>
          </a:xfrm>
          <a:prstGeom prst="roundRect">
            <a:avLst>
              <a:gd name="adj" fmla="val 15000"/>
            </a:avLst>
          </a:prstGeom>
          <a:solidFill>
            <a:schemeClr val="bg2"/>
          </a:solidFill>
          <a:ln/>
        </p:spPr>
      </p:sp>
      <p:sp>
        <p:nvSpPr>
          <p:cNvPr id="4" name="Icon circle"/>
          <p:cNvSpPr/>
          <p:nvPr/>
        </p:nvSpPr>
        <p:spPr>
          <a:xfrm>
            <a:off x="594360" y="1280160"/>
            <a:ext cx="548640" cy="548640"/>
          </a:xfrm>
          <a:prstGeom prst="ellipse">
            <a:avLst/>
          </a:prstGeom>
          <a:solidFill>
            <a:schemeClr val="accent1"/>
          </a:solidFill>
          <a:ln/>
        </p:spPr>
      </p:sp>
      <p:pic>
        <p:nvPicPr>
          <p:cNvPr id="5" name="Image 0" descr="FaRedo"/>
          <p:cNvPicPr>
            <a:picLocks noChangeAspect="1"/>
          </p:cNvPicPr>
          <p:nvPr/>
        </p:nvPicPr>
        <p:blipFill>
          <a:blip r:embed="rId3"/>
          <a:stretch>
            <a:fillRect/>
          </a:stretch>
        </p:blipFill>
        <p:spPr>
          <a:xfrm>
            <a:off x="731520" y="1417320"/>
            <a:ext cx="274320" cy="274320"/>
          </a:xfrm>
          <a:prstGeom prst="rect">
            <a:avLst/>
          </a:prstGeom>
        </p:spPr>
      </p:pic>
      <p:sp>
        <p:nvSpPr>
          <p:cNvPr id="6" name="Text 3"/>
          <p:cNvSpPr txBox="1"/>
          <p:nvPr/>
        </p:nvSpPr>
        <p:spPr>
          <a:xfrm>
            <a:off x="1325880" y="1188720"/>
            <a:ext cx="4206240" cy="731520"/>
          </a:xfrm>
          <a:prstGeom prst="rect">
            <a:avLst/>
          </a:prstGeom>
          <a:noFill/>
          <a:ln/>
        </p:spPr>
        <p:txBody>
          <a:bodyPr wrap="square" lIns="0" tIns="0" rIns="0" bIns="0" rtlCol="0" anchor="ctr"/>
          <a:lstStyle/>
          <a:p>
            <a:pPr marL="0" indent="0">
              <a:buNone/>
            </a:pPr>
            <a:r>
              <a:rPr lang="en-US" sz="1500" dirty="0">
                <a:solidFill>
                  <a:schemeClr val="tx1"/>
                </a:solidFill>
              </a:rPr>
              <a:t>How to use ‘repeat’ loops and conditionals in code</a:t>
            </a:r>
            <a:endParaRPr lang="en-US" sz="1500" dirty="0"/>
          </a:p>
        </p:txBody>
      </p:sp>
      <p:sp>
        <p:nvSpPr>
          <p:cNvPr id="7" name="Card"/>
          <p:cNvSpPr/>
          <p:nvPr/>
        </p:nvSpPr>
        <p:spPr>
          <a:xfrm>
            <a:off x="457200" y="2057400"/>
            <a:ext cx="5212080" cy="731520"/>
          </a:xfrm>
          <a:prstGeom prst="roundRect">
            <a:avLst>
              <a:gd name="adj" fmla="val 15000"/>
            </a:avLst>
          </a:prstGeom>
          <a:solidFill>
            <a:schemeClr val="bg2"/>
          </a:solidFill>
          <a:ln/>
        </p:spPr>
      </p:sp>
      <p:sp>
        <p:nvSpPr>
          <p:cNvPr id="8" name="Icon circle"/>
          <p:cNvSpPr/>
          <p:nvPr/>
        </p:nvSpPr>
        <p:spPr>
          <a:xfrm>
            <a:off x="594360" y="2148840"/>
            <a:ext cx="548640" cy="548640"/>
          </a:xfrm>
          <a:prstGeom prst="ellipse">
            <a:avLst/>
          </a:prstGeom>
          <a:solidFill>
            <a:schemeClr val="accent2"/>
          </a:solidFill>
          <a:ln/>
        </p:spPr>
      </p:sp>
      <p:pic>
        <p:nvPicPr>
          <p:cNvPr id="9" name="Image 1" descr="FaCalculator"/>
          <p:cNvPicPr>
            <a:picLocks noChangeAspect="1"/>
          </p:cNvPicPr>
          <p:nvPr/>
        </p:nvPicPr>
        <p:blipFill>
          <a:blip r:embed="rId4"/>
          <a:stretch>
            <a:fillRect/>
          </a:stretch>
        </p:blipFill>
        <p:spPr>
          <a:xfrm>
            <a:off x="731520" y="2286000"/>
            <a:ext cx="274320" cy="274320"/>
          </a:xfrm>
          <a:prstGeom prst="rect">
            <a:avLst/>
          </a:prstGeom>
        </p:spPr>
      </p:pic>
      <p:sp>
        <p:nvSpPr>
          <p:cNvPr id="10" name="Text 6"/>
          <p:cNvSpPr txBox="1"/>
          <p:nvPr/>
        </p:nvSpPr>
        <p:spPr>
          <a:xfrm>
            <a:off x="1325880" y="2057400"/>
            <a:ext cx="4206240" cy="731520"/>
          </a:xfrm>
          <a:prstGeom prst="rect">
            <a:avLst/>
          </a:prstGeom>
          <a:noFill/>
          <a:ln/>
        </p:spPr>
        <p:txBody>
          <a:bodyPr wrap="square" lIns="0" tIns="0" rIns="0" bIns="0" rtlCol="0" anchor="ctr"/>
          <a:lstStyle/>
          <a:p>
            <a:pPr marL="0" indent="0">
              <a:buNone/>
            </a:pPr>
            <a:r>
              <a:rPr lang="en-US" sz="1500" dirty="0">
                <a:solidFill>
                  <a:schemeClr val="tx1"/>
                </a:solidFill>
              </a:rPr>
              <a:t>How to use mathematical operators for addition and subtraction</a:t>
            </a:r>
            <a:endParaRPr lang="en-US" sz="1500" dirty="0"/>
          </a:p>
        </p:txBody>
      </p:sp>
      <p:sp>
        <p:nvSpPr>
          <p:cNvPr id="11" name="Card"/>
          <p:cNvSpPr/>
          <p:nvPr/>
        </p:nvSpPr>
        <p:spPr>
          <a:xfrm>
            <a:off x="457200" y="2926080"/>
            <a:ext cx="5212080" cy="731520"/>
          </a:xfrm>
          <a:prstGeom prst="roundRect">
            <a:avLst>
              <a:gd name="adj" fmla="val 15000"/>
            </a:avLst>
          </a:prstGeom>
          <a:solidFill>
            <a:schemeClr val="bg2"/>
          </a:solidFill>
          <a:ln/>
        </p:spPr>
      </p:sp>
      <p:sp>
        <p:nvSpPr>
          <p:cNvPr id="12" name="Icon circle"/>
          <p:cNvSpPr/>
          <p:nvPr/>
        </p:nvSpPr>
        <p:spPr>
          <a:xfrm>
            <a:off x="594360" y="3017520"/>
            <a:ext cx="548640" cy="548640"/>
          </a:xfrm>
          <a:prstGeom prst="ellipse">
            <a:avLst/>
          </a:prstGeom>
          <a:solidFill>
            <a:schemeClr val="accent3"/>
          </a:solidFill>
          <a:ln/>
        </p:spPr>
      </p:sp>
      <p:pic>
        <p:nvPicPr>
          <p:cNvPr id="13" name="Image 2" descr="FaBox"/>
          <p:cNvPicPr>
            <a:picLocks noChangeAspect="1"/>
          </p:cNvPicPr>
          <p:nvPr/>
        </p:nvPicPr>
        <p:blipFill>
          <a:blip r:embed="rId5"/>
          <a:stretch>
            <a:fillRect/>
          </a:stretch>
        </p:blipFill>
        <p:spPr>
          <a:xfrm>
            <a:off x="731520" y="3154680"/>
            <a:ext cx="274320" cy="274320"/>
          </a:xfrm>
          <a:prstGeom prst="rect">
            <a:avLst/>
          </a:prstGeom>
        </p:spPr>
      </p:pic>
      <p:sp>
        <p:nvSpPr>
          <p:cNvPr id="14" name="Text 9"/>
          <p:cNvSpPr txBox="1"/>
          <p:nvPr/>
        </p:nvSpPr>
        <p:spPr>
          <a:xfrm>
            <a:off x="1325880" y="2926080"/>
            <a:ext cx="4206240" cy="731520"/>
          </a:xfrm>
          <a:prstGeom prst="rect">
            <a:avLst/>
          </a:prstGeom>
          <a:noFill/>
          <a:ln/>
        </p:spPr>
        <p:txBody>
          <a:bodyPr wrap="square" lIns="0" tIns="0" rIns="0" bIns="0" rtlCol="0" anchor="ctr"/>
          <a:lstStyle/>
          <a:p>
            <a:pPr marL="0" indent="0">
              <a:buNone/>
            </a:pPr>
            <a:r>
              <a:rPr lang="en-US" sz="1500" dirty="0">
                <a:solidFill>
                  <a:schemeClr val="tx1"/>
                </a:solidFill>
              </a:rPr>
              <a:t>What variables are and how to use them in programs</a:t>
            </a:r>
            <a:endParaRPr lang="en-US" sz="1500" dirty="0"/>
          </a:p>
        </p:txBody>
      </p:sp>
      <p:sp>
        <p:nvSpPr>
          <p:cNvPr id="15" name="Card"/>
          <p:cNvSpPr/>
          <p:nvPr/>
        </p:nvSpPr>
        <p:spPr>
          <a:xfrm>
            <a:off x="457200" y="3794760"/>
            <a:ext cx="5212080" cy="731520"/>
          </a:xfrm>
          <a:prstGeom prst="roundRect">
            <a:avLst>
              <a:gd name="adj" fmla="val 15000"/>
            </a:avLst>
          </a:prstGeom>
          <a:solidFill>
            <a:schemeClr val="bg2"/>
          </a:solidFill>
          <a:ln/>
        </p:spPr>
      </p:sp>
      <p:sp>
        <p:nvSpPr>
          <p:cNvPr id="16" name="Icon circle"/>
          <p:cNvSpPr/>
          <p:nvPr/>
        </p:nvSpPr>
        <p:spPr>
          <a:xfrm>
            <a:off x="594360" y="3886200"/>
            <a:ext cx="548640" cy="548640"/>
          </a:xfrm>
          <a:prstGeom prst="ellipse">
            <a:avLst/>
          </a:prstGeom>
          <a:solidFill>
            <a:schemeClr val="accent4"/>
          </a:solidFill>
          <a:ln/>
        </p:spPr>
      </p:sp>
      <p:pic>
        <p:nvPicPr>
          <p:cNvPr id="17" name="Image 3" descr="FaBug"/>
          <p:cNvPicPr>
            <a:picLocks noChangeAspect="1"/>
          </p:cNvPicPr>
          <p:nvPr/>
        </p:nvPicPr>
        <p:blipFill>
          <a:blip r:embed="rId6"/>
          <a:stretch>
            <a:fillRect/>
          </a:stretch>
        </p:blipFill>
        <p:spPr>
          <a:xfrm>
            <a:off x="731520" y="4023360"/>
            <a:ext cx="274320" cy="274320"/>
          </a:xfrm>
          <a:prstGeom prst="rect">
            <a:avLst/>
          </a:prstGeom>
        </p:spPr>
      </p:pic>
      <p:sp>
        <p:nvSpPr>
          <p:cNvPr id="18" name="Text 12"/>
          <p:cNvSpPr txBox="1"/>
          <p:nvPr/>
        </p:nvSpPr>
        <p:spPr>
          <a:xfrm>
            <a:off x="1325880" y="3794760"/>
            <a:ext cx="4206240" cy="731520"/>
          </a:xfrm>
          <a:prstGeom prst="rect">
            <a:avLst/>
          </a:prstGeom>
          <a:noFill/>
          <a:ln/>
        </p:spPr>
        <p:txBody>
          <a:bodyPr wrap="square" lIns="0" tIns="0" rIns="0" bIns="0" rtlCol="0" anchor="ctr"/>
          <a:lstStyle/>
          <a:p>
            <a:pPr marL="0" indent="0">
              <a:buNone/>
            </a:pPr>
            <a:r>
              <a:rPr lang="en-US" sz="1500" dirty="0">
                <a:solidFill>
                  <a:schemeClr val="tx1"/>
                </a:solidFill>
              </a:rPr>
              <a:t>How to debug errors in code</a:t>
            </a:r>
            <a:endParaRPr lang="en-US" sz="1500" dirty="0"/>
          </a:p>
        </p:txBody>
      </p:sp>
      <p:sp>
        <p:nvSpPr>
          <p:cNvPr id="19" name="Quick check panel"/>
          <p:cNvSpPr/>
          <p:nvPr/>
        </p:nvSpPr>
        <p:spPr>
          <a:xfrm>
            <a:off x="5943600" y="1188720"/>
            <a:ext cx="2743200" cy="3337560"/>
          </a:xfrm>
          <a:prstGeom prst="roundRect">
            <a:avLst>
              <a:gd name="adj" fmla="val 4000"/>
            </a:avLst>
          </a:prstGeom>
          <a:solidFill>
            <a:schemeClr val="tx2"/>
          </a:solidFill>
          <a:ln/>
        </p:spPr>
      </p:sp>
      <p:pic>
        <p:nvPicPr>
          <p:cNvPr id="20" name="Image 4" descr="Laptop with code"/>
          <p:cNvPicPr>
            <a:picLocks noChangeAspect="1"/>
          </p:cNvPicPr>
          <p:nvPr/>
        </p:nvPicPr>
        <p:blipFill>
          <a:blip r:embed="rId7"/>
          <a:stretch>
            <a:fillRect/>
          </a:stretch>
        </p:blipFill>
        <p:spPr>
          <a:xfrm>
            <a:off x="6720840" y="1554480"/>
            <a:ext cx="1188720" cy="1188720"/>
          </a:xfrm>
          <a:prstGeom prst="rect">
            <a:avLst/>
          </a:prstGeom>
        </p:spPr>
      </p:pic>
      <p:sp>
        <p:nvSpPr>
          <p:cNvPr id="21" name="Text 14"/>
          <p:cNvSpPr txBox="1"/>
          <p:nvPr/>
        </p:nvSpPr>
        <p:spPr>
          <a:xfrm>
            <a:off x="6172200" y="3017520"/>
            <a:ext cx="2286000" cy="1097280"/>
          </a:xfrm>
          <a:prstGeom prst="rect">
            <a:avLst/>
          </a:prstGeom>
          <a:noFill/>
          <a:ln/>
        </p:spPr>
        <p:txBody>
          <a:bodyPr wrap="square" lIns="0" tIns="0" rIns="0" bIns="0" rtlCol="0" anchor="t"/>
          <a:lstStyle/>
          <a:p>
            <a:pPr marL="0" indent="0" algn="ctr">
              <a:buNone/>
            </a:pPr>
            <a:r>
              <a:rPr lang="en-US" sz="1800" b="1" dirty="0">
                <a:solidFill>
                  <a:schemeClr val="bg1"/>
                </a:solidFill>
              </a:rPr>
              <a:t>Quick check: can you do all four?</a:t>
            </a: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1"/>
                </a:solidFill>
              </a:rPr>
              <a:t>Now try this: snakes and ladders</a:t>
            </a:r>
            <a:endParaRPr lang="en-US" sz="3000" dirty="0"/>
          </a:p>
        </p:txBody>
      </p:sp>
      <p:sp>
        <p:nvSpPr>
          <p:cNvPr id="3" name="Text 1"/>
          <p:cNvSpPr txBox="1"/>
          <p:nvPr/>
        </p:nvSpPr>
        <p:spPr>
          <a:xfrm>
            <a:off x="457200" y="1143000"/>
            <a:ext cx="3749040" cy="1188720"/>
          </a:xfrm>
          <a:prstGeom prst="rect">
            <a:avLst/>
          </a:prstGeom>
          <a:noFill/>
          <a:ln/>
        </p:spPr>
        <p:txBody>
          <a:bodyPr wrap="square" lIns="0" tIns="0" rIns="0" bIns="0" rtlCol="0" anchor="t"/>
          <a:lstStyle/>
          <a:p>
            <a:pPr marL="0" indent="0">
              <a:buNone/>
            </a:pPr>
            <a:r>
              <a:rPr lang="en-US" sz="1400" dirty="0">
                <a:solidFill>
                  <a:schemeClr val="tx1"/>
                </a:solidFill>
              </a:rPr>
              <a:t>Task: look at the Scratch blocks. How could you arrange them in a sequence to show how to play a simple two-player game like snakes and ladders?</a:t>
            </a:r>
            <a:endParaRPr lang="en-US" sz="1400" dirty="0"/>
          </a:p>
        </p:txBody>
      </p:sp>
      <p:sp>
        <p:nvSpPr>
          <p:cNvPr id="4" name="Shape 2"/>
          <p:cNvSpPr/>
          <p:nvPr/>
        </p:nvSpPr>
        <p:spPr>
          <a:xfrm>
            <a:off x="457200" y="2450592"/>
            <a:ext cx="365760" cy="365760"/>
          </a:xfrm>
          <a:prstGeom prst="ellipse">
            <a:avLst/>
          </a:prstGeom>
          <a:solidFill>
            <a:schemeClr val="accent1"/>
          </a:solidFill>
          <a:ln/>
        </p:spPr>
      </p:sp>
      <p:sp>
        <p:nvSpPr>
          <p:cNvPr id="5" name="Text 3"/>
          <p:cNvSpPr txBox="1"/>
          <p:nvPr/>
        </p:nvSpPr>
        <p:spPr>
          <a:xfrm>
            <a:off x="457200" y="2450592"/>
            <a:ext cx="365760" cy="365760"/>
          </a:xfrm>
          <a:prstGeom prst="rect">
            <a:avLst/>
          </a:prstGeom>
          <a:noFill/>
          <a:ln/>
        </p:spPr>
        <p:txBody>
          <a:bodyPr wrap="square" lIns="0" tIns="0" rIns="0" bIns="0" rtlCol="0" anchor="ctr"/>
          <a:lstStyle/>
          <a:p>
            <a:pPr marL="0" indent="0" algn="ctr">
              <a:buNone/>
            </a:pPr>
            <a:r>
              <a:rPr lang="en-US" sz="1400" b="1" dirty="0">
                <a:solidFill>
                  <a:schemeClr val="tx1"/>
                </a:solidFill>
              </a:rPr>
              <a:t>1</a:t>
            </a:r>
            <a:endParaRPr lang="en-US" sz="1400" dirty="0"/>
          </a:p>
        </p:txBody>
      </p:sp>
      <p:sp>
        <p:nvSpPr>
          <p:cNvPr id="6" name="Text 4"/>
          <p:cNvSpPr txBox="1"/>
          <p:nvPr/>
        </p:nvSpPr>
        <p:spPr>
          <a:xfrm>
            <a:off x="960120" y="2423160"/>
            <a:ext cx="3291840" cy="457200"/>
          </a:xfrm>
          <a:prstGeom prst="rect">
            <a:avLst/>
          </a:prstGeom>
          <a:noFill/>
          <a:ln/>
        </p:spPr>
        <p:txBody>
          <a:bodyPr wrap="square" lIns="0" tIns="0" rIns="0" bIns="0" rtlCol="0" anchor="ctr"/>
          <a:lstStyle/>
          <a:p>
            <a:pPr marL="0" indent="0">
              <a:buNone/>
            </a:pPr>
            <a:r>
              <a:rPr lang="en-US" sz="1300" dirty="0">
                <a:solidFill>
                  <a:schemeClr val="tx1"/>
                </a:solidFill>
              </a:rPr>
              <a:t>Start with the event block (when flag clicked).</a:t>
            </a:r>
            <a:endParaRPr lang="en-US" sz="1300" dirty="0"/>
          </a:p>
        </p:txBody>
      </p:sp>
      <p:sp>
        <p:nvSpPr>
          <p:cNvPr id="7" name="Shape 5"/>
          <p:cNvSpPr/>
          <p:nvPr/>
        </p:nvSpPr>
        <p:spPr>
          <a:xfrm>
            <a:off x="457200" y="3017520"/>
            <a:ext cx="365760" cy="365760"/>
          </a:xfrm>
          <a:prstGeom prst="ellipse">
            <a:avLst/>
          </a:prstGeom>
          <a:solidFill>
            <a:schemeClr val="accent1"/>
          </a:solidFill>
          <a:ln/>
        </p:spPr>
      </p:sp>
      <p:sp>
        <p:nvSpPr>
          <p:cNvPr id="8" name="Text 6"/>
          <p:cNvSpPr txBox="1"/>
          <p:nvPr/>
        </p:nvSpPr>
        <p:spPr>
          <a:xfrm>
            <a:off x="457200" y="3017520"/>
            <a:ext cx="365760" cy="365760"/>
          </a:xfrm>
          <a:prstGeom prst="rect">
            <a:avLst/>
          </a:prstGeom>
          <a:noFill/>
          <a:ln/>
        </p:spPr>
        <p:txBody>
          <a:bodyPr wrap="square" lIns="0" tIns="0" rIns="0" bIns="0" rtlCol="0" anchor="ctr"/>
          <a:lstStyle/>
          <a:p>
            <a:pPr marL="0" indent="0" algn="ctr">
              <a:buNone/>
            </a:pPr>
            <a:r>
              <a:rPr lang="en-US" sz="1400" b="1" dirty="0">
                <a:solidFill>
                  <a:schemeClr val="tx1"/>
                </a:solidFill>
              </a:rPr>
              <a:t>2</a:t>
            </a:r>
            <a:endParaRPr lang="en-US" sz="1400" dirty="0"/>
          </a:p>
        </p:txBody>
      </p:sp>
      <p:sp>
        <p:nvSpPr>
          <p:cNvPr id="9" name="Text 7"/>
          <p:cNvSpPr txBox="1"/>
          <p:nvPr/>
        </p:nvSpPr>
        <p:spPr>
          <a:xfrm>
            <a:off x="960120" y="2990088"/>
            <a:ext cx="3291840" cy="457200"/>
          </a:xfrm>
          <a:prstGeom prst="rect">
            <a:avLst/>
          </a:prstGeom>
          <a:noFill/>
          <a:ln/>
        </p:spPr>
        <p:txBody>
          <a:bodyPr wrap="square" lIns="0" tIns="0" rIns="0" bIns="0" rtlCol="0" anchor="ctr"/>
          <a:lstStyle/>
          <a:p>
            <a:pPr marL="0" indent="0">
              <a:buNone/>
            </a:pPr>
            <a:r>
              <a:rPr lang="en-US" sz="1300" dirty="0">
                <a:solidFill>
                  <a:schemeClr val="tx1"/>
                </a:solidFill>
              </a:rPr>
              <a:t>Put the two players’ turns inside a loop: roll the dice, then move.</a:t>
            </a:r>
            <a:endParaRPr lang="en-US" sz="1300" dirty="0"/>
          </a:p>
        </p:txBody>
      </p:sp>
      <p:sp>
        <p:nvSpPr>
          <p:cNvPr id="10" name="Shape 8"/>
          <p:cNvSpPr/>
          <p:nvPr/>
        </p:nvSpPr>
        <p:spPr>
          <a:xfrm>
            <a:off x="457200" y="3584448"/>
            <a:ext cx="365760" cy="365760"/>
          </a:xfrm>
          <a:prstGeom prst="ellipse">
            <a:avLst/>
          </a:prstGeom>
          <a:solidFill>
            <a:schemeClr val="accent1"/>
          </a:solidFill>
          <a:ln/>
        </p:spPr>
      </p:sp>
      <p:sp>
        <p:nvSpPr>
          <p:cNvPr id="11" name="Text 9"/>
          <p:cNvSpPr txBox="1"/>
          <p:nvPr/>
        </p:nvSpPr>
        <p:spPr>
          <a:xfrm>
            <a:off x="457200" y="3584448"/>
            <a:ext cx="365760" cy="365760"/>
          </a:xfrm>
          <a:prstGeom prst="rect">
            <a:avLst/>
          </a:prstGeom>
          <a:noFill/>
          <a:ln/>
        </p:spPr>
        <p:txBody>
          <a:bodyPr wrap="square" lIns="0" tIns="0" rIns="0" bIns="0" rtlCol="0" anchor="ctr"/>
          <a:lstStyle/>
          <a:p>
            <a:pPr marL="0" indent="0" algn="ctr">
              <a:buNone/>
            </a:pPr>
            <a:r>
              <a:rPr lang="en-US" sz="1400" b="1" dirty="0">
                <a:solidFill>
                  <a:schemeClr val="tx1"/>
                </a:solidFill>
              </a:rPr>
              <a:t>3</a:t>
            </a:r>
            <a:endParaRPr lang="en-US" sz="1400" dirty="0"/>
          </a:p>
        </p:txBody>
      </p:sp>
      <p:sp>
        <p:nvSpPr>
          <p:cNvPr id="12" name="Text 10"/>
          <p:cNvSpPr txBox="1"/>
          <p:nvPr/>
        </p:nvSpPr>
        <p:spPr>
          <a:xfrm>
            <a:off x="960120" y="3557016"/>
            <a:ext cx="3291840" cy="457200"/>
          </a:xfrm>
          <a:prstGeom prst="rect">
            <a:avLst/>
          </a:prstGeom>
          <a:noFill/>
          <a:ln/>
        </p:spPr>
        <p:txBody>
          <a:bodyPr wrap="square" lIns="0" tIns="0" rIns="0" bIns="0" rtlCol="0" anchor="ctr"/>
          <a:lstStyle/>
          <a:p>
            <a:pPr marL="0" indent="0">
              <a:buNone/>
            </a:pPr>
            <a:r>
              <a:rPr lang="en-US" sz="1300" dirty="0">
                <a:solidFill>
                  <a:schemeClr val="tx1"/>
                </a:solidFill>
              </a:rPr>
              <a:t>Repeat until player one or player two is the winner.</a:t>
            </a:r>
            <a:endParaRPr lang="en-US" sz="1300" dirty="0"/>
          </a:p>
        </p:txBody>
      </p:sp>
      <p:sp>
        <p:nvSpPr>
          <p:cNvPr id="13" name="Shape 11"/>
          <p:cNvSpPr/>
          <p:nvPr/>
        </p:nvSpPr>
        <p:spPr>
          <a:xfrm>
            <a:off x="457200" y="4151376"/>
            <a:ext cx="365760" cy="365760"/>
          </a:xfrm>
          <a:prstGeom prst="ellipse">
            <a:avLst/>
          </a:prstGeom>
          <a:solidFill>
            <a:schemeClr val="accent1"/>
          </a:solidFill>
          <a:ln/>
        </p:spPr>
      </p:sp>
      <p:sp>
        <p:nvSpPr>
          <p:cNvPr id="14" name="Text 12"/>
          <p:cNvSpPr txBox="1"/>
          <p:nvPr/>
        </p:nvSpPr>
        <p:spPr>
          <a:xfrm>
            <a:off x="457200" y="4151376"/>
            <a:ext cx="365760" cy="365760"/>
          </a:xfrm>
          <a:prstGeom prst="rect">
            <a:avLst/>
          </a:prstGeom>
          <a:noFill/>
          <a:ln/>
        </p:spPr>
        <p:txBody>
          <a:bodyPr wrap="square" lIns="0" tIns="0" rIns="0" bIns="0" rtlCol="0" anchor="ctr"/>
          <a:lstStyle/>
          <a:p>
            <a:pPr marL="0" indent="0" algn="ctr">
              <a:buNone/>
            </a:pPr>
            <a:r>
              <a:rPr lang="en-US" sz="1400" b="1" dirty="0">
                <a:solidFill>
                  <a:schemeClr val="tx1"/>
                </a:solidFill>
              </a:rPr>
              <a:t>4</a:t>
            </a:r>
            <a:endParaRPr lang="en-US" sz="1400" dirty="0"/>
          </a:p>
        </p:txBody>
      </p:sp>
      <p:sp>
        <p:nvSpPr>
          <p:cNvPr id="15" name="Text 13"/>
          <p:cNvSpPr txBox="1"/>
          <p:nvPr/>
        </p:nvSpPr>
        <p:spPr>
          <a:xfrm>
            <a:off x="960120" y="4123944"/>
            <a:ext cx="3291840" cy="457200"/>
          </a:xfrm>
          <a:prstGeom prst="rect">
            <a:avLst/>
          </a:prstGeom>
          <a:noFill/>
          <a:ln/>
        </p:spPr>
        <p:txBody>
          <a:bodyPr wrap="square" lIns="0" tIns="0" rIns="0" bIns="0" rtlCol="0" anchor="ctr"/>
          <a:lstStyle/>
          <a:p>
            <a:pPr marL="0" indent="0">
              <a:buNone/>
            </a:pPr>
            <a:r>
              <a:rPr lang="en-US" sz="1300" dirty="0">
                <a:solidFill>
                  <a:schemeClr val="tx1"/>
                </a:solidFill>
              </a:rPr>
              <a:t>After the loop, say “We have a winner!”</a:t>
            </a:r>
            <a:endParaRPr lang="en-US" sz="1300" dirty="0"/>
          </a:p>
        </p:txBody>
      </p:sp>
      <p:sp>
        <p:nvSpPr>
          <p:cNvPr id="16" name="Solution panel"/>
          <p:cNvSpPr/>
          <p:nvPr/>
        </p:nvSpPr>
        <p:spPr>
          <a:xfrm>
            <a:off x="4389120" y="1097280"/>
            <a:ext cx="4297680" cy="3520440"/>
          </a:xfrm>
          <a:prstGeom prst="roundRect">
            <a:avLst>
              <a:gd name="adj" fmla="val 3117"/>
            </a:avLst>
          </a:prstGeom>
          <a:solidFill>
            <a:schemeClr val="bg2"/>
          </a:solidFill>
          <a:ln/>
        </p:spPr>
      </p:sp>
      <p:sp>
        <p:nvSpPr>
          <p:cNvPr id="17" name="Scratch block"/>
          <p:cNvSpPr/>
          <p:nvPr/>
        </p:nvSpPr>
        <p:spPr>
          <a:xfrm>
            <a:off x="4572000" y="1234440"/>
            <a:ext cx="1650492" cy="365760"/>
          </a:xfrm>
          <a:prstGeom prst="roundRect">
            <a:avLst>
              <a:gd name="adj" fmla="val 17500"/>
            </a:avLst>
          </a:prstGeom>
          <a:solidFill>
            <a:schemeClr val="accent6"/>
          </a:solidFill>
          <a:ln w="9525">
            <a:solidFill>
              <a:schemeClr val="bg1"/>
            </a:solidFill>
            <a:prstDash val="solid"/>
          </a:ln>
        </p:spPr>
      </p:sp>
      <p:sp>
        <p:nvSpPr>
          <p:cNvPr id="18" name="Text 16"/>
          <p:cNvSpPr txBox="1"/>
          <p:nvPr/>
        </p:nvSpPr>
        <p:spPr>
          <a:xfrm>
            <a:off x="4690872" y="1234440"/>
            <a:ext cx="374904" cy="365760"/>
          </a:xfrm>
          <a:prstGeom prst="rect">
            <a:avLst/>
          </a:prstGeom>
          <a:noFill/>
          <a:ln/>
        </p:spPr>
        <p:txBody>
          <a:bodyPr wrap="none" lIns="0" tIns="0" rIns="0" bIns="0" rtlCol="0" anchor="ctr"/>
          <a:lstStyle/>
          <a:p>
            <a:pPr marL="0" indent="0">
              <a:buNone/>
            </a:pPr>
            <a:r>
              <a:rPr lang="en-US" sz="1200" b="1" dirty="0">
                <a:solidFill>
                  <a:srgbClr val="1F2A44"/>
                </a:solidFill>
              </a:rPr>
              <a:t>when</a:t>
            </a:r>
            <a:endParaRPr lang="en-US" sz="1200" dirty="0"/>
          </a:p>
        </p:txBody>
      </p:sp>
      <p:pic>
        <p:nvPicPr>
          <p:cNvPr id="19" name="Image 0" descr="green flag"/>
          <p:cNvPicPr>
            <a:picLocks noChangeAspect="1"/>
          </p:cNvPicPr>
          <p:nvPr/>
        </p:nvPicPr>
        <p:blipFill>
          <a:blip r:embed="rId3"/>
          <a:stretch>
            <a:fillRect/>
          </a:stretch>
        </p:blipFill>
        <p:spPr>
          <a:xfrm>
            <a:off x="5157216" y="1307592"/>
            <a:ext cx="219456" cy="219456"/>
          </a:xfrm>
          <a:prstGeom prst="rect">
            <a:avLst/>
          </a:prstGeom>
        </p:spPr>
      </p:pic>
      <p:sp>
        <p:nvSpPr>
          <p:cNvPr id="20" name="Text 17"/>
          <p:cNvSpPr txBox="1"/>
          <p:nvPr/>
        </p:nvSpPr>
        <p:spPr>
          <a:xfrm>
            <a:off x="5468112" y="1234440"/>
            <a:ext cx="635508" cy="365760"/>
          </a:xfrm>
          <a:prstGeom prst="rect">
            <a:avLst/>
          </a:prstGeom>
          <a:noFill/>
          <a:ln/>
        </p:spPr>
        <p:txBody>
          <a:bodyPr wrap="none" lIns="0" tIns="0" rIns="0" bIns="0" rtlCol="0" anchor="ctr"/>
          <a:lstStyle/>
          <a:p>
            <a:pPr marL="0" indent="0">
              <a:buNone/>
            </a:pPr>
            <a:r>
              <a:rPr lang="en-US" sz="1200" b="1" dirty="0">
                <a:solidFill>
                  <a:srgbClr val="1F2A44"/>
                </a:solidFill>
              </a:rPr>
              <a:t>clicked</a:t>
            </a:r>
            <a:endParaRPr lang="en-US" sz="1200" dirty="0"/>
          </a:p>
        </p:txBody>
      </p:sp>
      <p:sp>
        <p:nvSpPr>
          <p:cNvPr id="21" name="Scratch block"/>
          <p:cNvSpPr/>
          <p:nvPr/>
        </p:nvSpPr>
        <p:spPr>
          <a:xfrm>
            <a:off x="4572000" y="1645920"/>
            <a:ext cx="4134917" cy="384048"/>
          </a:xfrm>
          <a:prstGeom prst="roundRect">
            <a:avLst>
              <a:gd name="adj" fmla="val 16667"/>
            </a:avLst>
          </a:prstGeom>
          <a:solidFill>
            <a:schemeClr val="accent2"/>
          </a:solidFill>
          <a:ln w="9525">
            <a:solidFill>
              <a:schemeClr val="bg1"/>
            </a:solidFill>
            <a:prstDash val="solid"/>
          </a:ln>
        </p:spPr>
      </p:sp>
      <p:sp>
        <p:nvSpPr>
          <p:cNvPr id="22" name="Text 19"/>
          <p:cNvSpPr txBox="1"/>
          <p:nvPr/>
        </p:nvSpPr>
        <p:spPr>
          <a:xfrm>
            <a:off x="4690872" y="1645920"/>
            <a:ext cx="1069848" cy="384048"/>
          </a:xfrm>
          <a:prstGeom prst="rect">
            <a:avLst/>
          </a:prstGeom>
          <a:noFill/>
          <a:ln/>
        </p:spPr>
        <p:txBody>
          <a:bodyPr wrap="none" lIns="0" tIns="0" rIns="0" bIns="0" rtlCol="0" anchor="ctr"/>
          <a:lstStyle/>
          <a:p>
            <a:pPr marL="0" indent="0">
              <a:buNone/>
            </a:pPr>
            <a:r>
              <a:rPr lang="en-US" sz="1200" b="1" dirty="0">
                <a:solidFill>
                  <a:srgbClr val="1F2A44"/>
                </a:solidFill>
              </a:rPr>
              <a:t>repeat until</a:t>
            </a:r>
            <a:endParaRPr lang="en-US" sz="1200" dirty="0"/>
          </a:p>
        </p:txBody>
      </p:sp>
      <p:sp>
        <p:nvSpPr>
          <p:cNvPr id="23" name="Text 20"/>
          <p:cNvSpPr txBox="1"/>
          <p:nvPr/>
        </p:nvSpPr>
        <p:spPr>
          <a:xfrm>
            <a:off x="5824728" y="1691640"/>
            <a:ext cx="2340864" cy="292608"/>
          </a:xfrm>
          <a:prstGeom prst="roundRect">
            <a:avLst>
              <a:gd name="adj" fmla="val 31250"/>
            </a:avLst>
          </a:prstGeom>
          <a:solidFill>
            <a:schemeClr val="accent3"/>
          </a:solidFill>
          <a:ln/>
        </p:spPr>
        <p:txBody>
          <a:bodyPr wrap="none" lIns="0" tIns="0" rIns="0" bIns="0" rtlCol="0" anchor="ctr"/>
          <a:lstStyle/>
          <a:p>
            <a:pPr marL="0" indent="0" algn="ctr">
              <a:buNone/>
            </a:pPr>
            <a:r>
              <a:rPr lang="en-US" sz="1100" dirty="0">
                <a:solidFill>
                  <a:schemeClr val="tx1"/>
                </a:solidFill>
              </a:rPr>
              <a:t>player 1 wins or player 2 wins</a:t>
            </a:r>
            <a:endParaRPr lang="en-US" sz="1100" dirty="0"/>
          </a:p>
        </p:txBody>
      </p:sp>
      <p:sp>
        <p:nvSpPr>
          <p:cNvPr id="24" name="Shape 21"/>
          <p:cNvSpPr/>
          <p:nvPr/>
        </p:nvSpPr>
        <p:spPr>
          <a:xfrm>
            <a:off x="4572000" y="2029968"/>
            <a:ext cx="219456" cy="1755648"/>
          </a:xfrm>
          <a:prstGeom prst="rect">
            <a:avLst/>
          </a:prstGeom>
          <a:solidFill>
            <a:schemeClr val="accent2"/>
          </a:solidFill>
          <a:ln/>
        </p:spPr>
      </p:sp>
      <p:sp>
        <p:nvSpPr>
          <p:cNvPr id="25" name="Scratch block"/>
          <p:cNvSpPr/>
          <p:nvPr/>
        </p:nvSpPr>
        <p:spPr>
          <a:xfrm>
            <a:off x="4791456" y="2066544"/>
            <a:ext cx="3701491" cy="347472"/>
          </a:xfrm>
          <a:prstGeom prst="roundRect">
            <a:avLst>
              <a:gd name="adj" fmla="val 18421"/>
            </a:avLst>
          </a:prstGeom>
          <a:solidFill>
            <a:schemeClr val="accent4"/>
          </a:solidFill>
          <a:ln w="9525">
            <a:solidFill>
              <a:schemeClr val="bg1"/>
            </a:solidFill>
            <a:prstDash val="solid"/>
          </a:ln>
        </p:spPr>
      </p:sp>
      <p:sp>
        <p:nvSpPr>
          <p:cNvPr id="26" name="Text 23"/>
          <p:cNvSpPr txBox="1"/>
          <p:nvPr/>
        </p:nvSpPr>
        <p:spPr>
          <a:xfrm>
            <a:off x="4910328" y="2066544"/>
            <a:ext cx="288036" cy="347472"/>
          </a:xfrm>
          <a:prstGeom prst="rect">
            <a:avLst/>
          </a:prstGeom>
          <a:noFill/>
          <a:ln/>
        </p:spPr>
        <p:txBody>
          <a:bodyPr wrap="none" lIns="0" tIns="0" rIns="0" bIns="0" rtlCol="0" anchor="ctr"/>
          <a:lstStyle/>
          <a:p>
            <a:pPr marL="0" indent="0">
              <a:buNone/>
            </a:pPr>
            <a:r>
              <a:rPr lang="en-US" sz="1200" b="1" dirty="0">
                <a:solidFill>
                  <a:schemeClr val="bg1"/>
                </a:solidFill>
              </a:rPr>
              <a:t>say</a:t>
            </a:r>
            <a:endParaRPr lang="en-US" sz="1200" dirty="0"/>
          </a:p>
        </p:txBody>
      </p:sp>
      <p:sp>
        <p:nvSpPr>
          <p:cNvPr id="27" name="Text 24"/>
          <p:cNvSpPr txBox="1"/>
          <p:nvPr/>
        </p:nvSpPr>
        <p:spPr>
          <a:xfrm>
            <a:off x="5262372" y="2112264"/>
            <a:ext cx="1984248" cy="256032"/>
          </a:xfrm>
          <a:prstGeom prst="roundRect">
            <a:avLst>
              <a:gd name="adj" fmla="val 35714"/>
            </a:avLst>
          </a:prstGeom>
          <a:solidFill>
            <a:schemeClr val="bg1"/>
          </a:solidFill>
          <a:ln/>
        </p:spPr>
        <p:txBody>
          <a:bodyPr wrap="none" lIns="0" tIns="0" rIns="0" bIns="0" rtlCol="0" anchor="ctr"/>
          <a:lstStyle/>
          <a:p>
            <a:pPr marL="0" indent="0" algn="ctr">
              <a:buNone/>
            </a:pPr>
            <a:r>
              <a:rPr lang="en-US" sz="1100" dirty="0">
                <a:solidFill>
                  <a:schemeClr val="tx1"/>
                </a:solidFill>
              </a:rPr>
              <a:t>Player one rolls the dice</a:t>
            </a:r>
            <a:endParaRPr lang="en-US" sz="1100" dirty="0"/>
          </a:p>
        </p:txBody>
      </p:sp>
      <p:sp>
        <p:nvSpPr>
          <p:cNvPr id="28" name="Text 25"/>
          <p:cNvSpPr txBox="1"/>
          <p:nvPr/>
        </p:nvSpPr>
        <p:spPr>
          <a:xfrm>
            <a:off x="7310628" y="2066544"/>
            <a:ext cx="288036" cy="347472"/>
          </a:xfrm>
          <a:prstGeom prst="rect">
            <a:avLst/>
          </a:prstGeom>
          <a:noFill/>
          <a:ln/>
        </p:spPr>
        <p:txBody>
          <a:bodyPr wrap="none" lIns="0" tIns="0" rIns="0" bIns="0" rtlCol="0" anchor="ctr"/>
          <a:lstStyle/>
          <a:p>
            <a:pPr marL="0" indent="0">
              <a:buNone/>
            </a:pPr>
            <a:r>
              <a:rPr lang="en-US" sz="1200" b="1" dirty="0">
                <a:solidFill>
                  <a:schemeClr val="bg1"/>
                </a:solidFill>
              </a:rPr>
              <a:t>for</a:t>
            </a:r>
            <a:endParaRPr lang="en-US" sz="1200" dirty="0"/>
          </a:p>
        </p:txBody>
      </p:sp>
      <p:sp>
        <p:nvSpPr>
          <p:cNvPr id="29" name="Text 26"/>
          <p:cNvSpPr txBox="1"/>
          <p:nvPr/>
        </p:nvSpPr>
        <p:spPr>
          <a:xfrm>
            <a:off x="7662672" y="2112264"/>
            <a:ext cx="272491" cy="256032"/>
          </a:xfrm>
          <a:prstGeom prst="roundRect">
            <a:avLst>
              <a:gd name="adj" fmla="val 35714"/>
            </a:avLst>
          </a:prstGeom>
          <a:solidFill>
            <a:schemeClr val="bg1"/>
          </a:solidFill>
          <a:ln/>
        </p:spPr>
        <p:txBody>
          <a:bodyPr wrap="none" lIns="0" tIns="0" rIns="0" bIns="0" rtlCol="0" anchor="ctr"/>
          <a:lstStyle/>
          <a:p>
            <a:pPr marL="0" indent="0" algn="ctr">
              <a:buNone/>
            </a:pPr>
            <a:r>
              <a:rPr lang="en-US" sz="1100" dirty="0">
                <a:solidFill>
                  <a:schemeClr val="tx1"/>
                </a:solidFill>
              </a:rPr>
              <a:t>2</a:t>
            </a:r>
            <a:endParaRPr lang="en-US" sz="1100" dirty="0"/>
          </a:p>
        </p:txBody>
      </p:sp>
      <p:sp>
        <p:nvSpPr>
          <p:cNvPr id="30" name="Text 27"/>
          <p:cNvSpPr txBox="1"/>
          <p:nvPr/>
        </p:nvSpPr>
        <p:spPr>
          <a:xfrm>
            <a:off x="7999171" y="2066544"/>
            <a:ext cx="374904" cy="347472"/>
          </a:xfrm>
          <a:prstGeom prst="rect">
            <a:avLst/>
          </a:prstGeom>
          <a:noFill/>
          <a:ln/>
        </p:spPr>
        <p:txBody>
          <a:bodyPr wrap="none" lIns="0" tIns="0" rIns="0" bIns="0" rtlCol="0" anchor="ctr"/>
          <a:lstStyle/>
          <a:p>
            <a:pPr marL="0" indent="0">
              <a:buNone/>
            </a:pPr>
            <a:r>
              <a:rPr lang="en-US" sz="1200" b="1" dirty="0">
                <a:solidFill>
                  <a:schemeClr val="bg1"/>
                </a:solidFill>
              </a:rPr>
              <a:t>secs</a:t>
            </a:r>
            <a:endParaRPr lang="en-US" sz="1200" dirty="0"/>
          </a:p>
        </p:txBody>
      </p:sp>
      <p:sp>
        <p:nvSpPr>
          <p:cNvPr id="31" name="Scratch block"/>
          <p:cNvSpPr/>
          <p:nvPr/>
        </p:nvSpPr>
        <p:spPr>
          <a:xfrm>
            <a:off x="4791456" y="2487168"/>
            <a:ext cx="3915461" cy="347472"/>
          </a:xfrm>
          <a:prstGeom prst="roundRect">
            <a:avLst>
              <a:gd name="adj" fmla="val 18421"/>
            </a:avLst>
          </a:prstGeom>
          <a:solidFill>
            <a:schemeClr val="accent4"/>
          </a:solidFill>
          <a:ln w="9525">
            <a:solidFill>
              <a:schemeClr val="bg1"/>
            </a:solidFill>
            <a:prstDash val="solid"/>
          </a:ln>
        </p:spPr>
      </p:sp>
      <p:sp>
        <p:nvSpPr>
          <p:cNvPr id="32" name="Text 29"/>
          <p:cNvSpPr txBox="1"/>
          <p:nvPr/>
        </p:nvSpPr>
        <p:spPr>
          <a:xfrm>
            <a:off x="4910328" y="2487168"/>
            <a:ext cx="288036" cy="347472"/>
          </a:xfrm>
          <a:prstGeom prst="rect">
            <a:avLst/>
          </a:prstGeom>
          <a:noFill/>
          <a:ln/>
        </p:spPr>
        <p:txBody>
          <a:bodyPr wrap="none" lIns="0" tIns="0" rIns="0" bIns="0" rtlCol="0" anchor="ctr"/>
          <a:lstStyle/>
          <a:p>
            <a:pPr marL="0" indent="0">
              <a:buNone/>
            </a:pPr>
            <a:r>
              <a:rPr lang="en-US" sz="1200" b="1" dirty="0">
                <a:solidFill>
                  <a:schemeClr val="bg1"/>
                </a:solidFill>
              </a:rPr>
              <a:t>say</a:t>
            </a:r>
            <a:endParaRPr lang="en-US" sz="1200" dirty="0"/>
          </a:p>
        </p:txBody>
      </p:sp>
      <p:sp>
        <p:nvSpPr>
          <p:cNvPr id="33" name="Text 30"/>
          <p:cNvSpPr txBox="1"/>
          <p:nvPr/>
        </p:nvSpPr>
        <p:spPr>
          <a:xfrm>
            <a:off x="5262372" y="2532888"/>
            <a:ext cx="2198218" cy="256032"/>
          </a:xfrm>
          <a:prstGeom prst="roundRect">
            <a:avLst>
              <a:gd name="adj" fmla="val 35714"/>
            </a:avLst>
          </a:prstGeom>
          <a:solidFill>
            <a:schemeClr val="bg1"/>
          </a:solidFill>
          <a:ln/>
        </p:spPr>
        <p:txBody>
          <a:bodyPr wrap="none" lIns="0" tIns="0" rIns="0" bIns="0" rtlCol="0" anchor="ctr"/>
          <a:lstStyle/>
          <a:p>
            <a:pPr marL="0" indent="0" algn="ctr">
              <a:buNone/>
            </a:pPr>
            <a:r>
              <a:rPr lang="en-US" sz="1100" dirty="0">
                <a:solidFill>
                  <a:schemeClr val="tx1"/>
                </a:solidFill>
              </a:rPr>
              <a:t>Player one moves their piece</a:t>
            </a:r>
            <a:endParaRPr lang="en-US" sz="1100" dirty="0"/>
          </a:p>
        </p:txBody>
      </p:sp>
      <p:sp>
        <p:nvSpPr>
          <p:cNvPr id="34" name="Text 31"/>
          <p:cNvSpPr txBox="1"/>
          <p:nvPr/>
        </p:nvSpPr>
        <p:spPr>
          <a:xfrm>
            <a:off x="7524598" y="2487168"/>
            <a:ext cx="288036" cy="347472"/>
          </a:xfrm>
          <a:prstGeom prst="rect">
            <a:avLst/>
          </a:prstGeom>
          <a:noFill/>
          <a:ln/>
        </p:spPr>
        <p:txBody>
          <a:bodyPr wrap="none" lIns="0" tIns="0" rIns="0" bIns="0" rtlCol="0" anchor="ctr"/>
          <a:lstStyle/>
          <a:p>
            <a:pPr marL="0" indent="0">
              <a:buNone/>
            </a:pPr>
            <a:r>
              <a:rPr lang="en-US" sz="1200" b="1" dirty="0">
                <a:solidFill>
                  <a:schemeClr val="bg1"/>
                </a:solidFill>
              </a:rPr>
              <a:t>for</a:t>
            </a:r>
            <a:endParaRPr lang="en-US" sz="1200" dirty="0"/>
          </a:p>
        </p:txBody>
      </p:sp>
      <p:sp>
        <p:nvSpPr>
          <p:cNvPr id="35" name="Text 32"/>
          <p:cNvSpPr txBox="1"/>
          <p:nvPr/>
        </p:nvSpPr>
        <p:spPr>
          <a:xfrm>
            <a:off x="7876642" y="2532888"/>
            <a:ext cx="272491" cy="256032"/>
          </a:xfrm>
          <a:prstGeom prst="roundRect">
            <a:avLst>
              <a:gd name="adj" fmla="val 35714"/>
            </a:avLst>
          </a:prstGeom>
          <a:solidFill>
            <a:schemeClr val="bg1"/>
          </a:solidFill>
          <a:ln/>
        </p:spPr>
        <p:txBody>
          <a:bodyPr wrap="none" lIns="0" tIns="0" rIns="0" bIns="0" rtlCol="0" anchor="ctr"/>
          <a:lstStyle/>
          <a:p>
            <a:pPr marL="0" indent="0" algn="ctr">
              <a:buNone/>
            </a:pPr>
            <a:r>
              <a:rPr lang="en-US" sz="1100" dirty="0">
                <a:solidFill>
                  <a:schemeClr val="tx1"/>
                </a:solidFill>
              </a:rPr>
              <a:t>2</a:t>
            </a:r>
            <a:endParaRPr lang="en-US" sz="1100" dirty="0"/>
          </a:p>
        </p:txBody>
      </p:sp>
      <p:sp>
        <p:nvSpPr>
          <p:cNvPr id="36" name="Text 33"/>
          <p:cNvSpPr txBox="1"/>
          <p:nvPr/>
        </p:nvSpPr>
        <p:spPr>
          <a:xfrm>
            <a:off x="8213141" y="2487168"/>
            <a:ext cx="374904" cy="347472"/>
          </a:xfrm>
          <a:prstGeom prst="rect">
            <a:avLst/>
          </a:prstGeom>
          <a:noFill/>
          <a:ln/>
        </p:spPr>
        <p:txBody>
          <a:bodyPr wrap="none" lIns="0" tIns="0" rIns="0" bIns="0" rtlCol="0" anchor="ctr"/>
          <a:lstStyle/>
          <a:p>
            <a:pPr marL="0" indent="0">
              <a:buNone/>
            </a:pPr>
            <a:r>
              <a:rPr lang="en-US" sz="1200" b="1" dirty="0">
                <a:solidFill>
                  <a:schemeClr val="bg1"/>
                </a:solidFill>
              </a:rPr>
              <a:t>secs</a:t>
            </a:r>
            <a:endParaRPr lang="en-US" sz="1200" dirty="0"/>
          </a:p>
        </p:txBody>
      </p:sp>
      <p:sp>
        <p:nvSpPr>
          <p:cNvPr id="37" name="Scratch block"/>
          <p:cNvSpPr/>
          <p:nvPr/>
        </p:nvSpPr>
        <p:spPr>
          <a:xfrm>
            <a:off x="4791456" y="2907792"/>
            <a:ext cx="3701491" cy="347472"/>
          </a:xfrm>
          <a:prstGeom prst="roundRect">
            <a:avLst>
              <a:gd name="adj" fmla="val 18421"/>
            </a:avLst>
          </a:prstGeom>
          <a:solidFill>
            <a:schemeClr val="accent4"/>
          </a:solidFill>
          <a:ln w="9525">
            <a:solidFill>
              <a:schemeClr val="bg1"/>
            </a:solidFill>
            <a:prstDash val="solid"/>
          </a:ln>
        </p:spPr>
      </p:sp>
      <p:sp>
        <p:nvSpPr>
          <p:cNvPr id="38" name="Text 35"/>
          <p:cNvSpPr txBox="1"/>
          <p:nvPr/>
        </p:nvSpPr>
        <p:spPr>
          <a:xfrm>
            <a:off x="4910328" y="2907792"/>
            <a:ext cx="288036" cy="347472"/>
          </a:xfrm>
          <a:prstGeom prst="rect">
            <a:avLst/>
          </a:prstGeom>
          <a:noFill/>
          <a:ln/>
        </p:spPr>
        <p:txBody>
          <a:bodyPr wrap="none" lIns="0" tIns="0" rIns="0" bIns="0" rtlCol="0" anchor="ctr"/>
          <a:lstStyle/>
          <a:p>
            <a:pPr marL="0" indent="0">
              <a:buNone/>
            </a:pPr>
            <a:r>
              <a:rPr lang="en-US" sz="1200" b="1" dirty="0">
                <a:solidFill>
                  <a:schemeClr val="bg1"/>
                </a:solidFill>
              </a:rPr>
              <a:t>say</a:t>
            </a:r>
            <a:endParaRPr lang="en-US" sz="1200" dirty="0"/>
          </a:p>
        </p:txBody>
      </p:sp>
      <p:sp>
        <p:nvSpPr>
          <p:cNvPr id="39" name="Text 36"/>
          <p:cNvSpPr txBox="1"/>
          <p:nvPr/>
        </p:nvSpPr>
        <p:spPr>
          <a:xfrm>
            <a:off x="5262372" y="2953512"/>
            <a:ext cx="1984248" cy="256032"/>
          </a:xfrm>
          <a:prstGeom prst="roundRect">
            <a:avLst>
              <a:gd name="adj" fmla="val 35714"/>
            </a:avLst>
          </a:prstGeom>
          <a:solidFill>
            <a:schemeClr val="bg1"/>
          </a:solidFill>
          <a:ln/>
        </p:spPr>
        <p:txBody>
          <a:bodyPr wrap="none" lIns="0" tIns="0" rIns="0" bIns="0" rtlCol="0" anchor="ctr"/>
          <a:lstStyle/>
          <a:p>
            <a:pPr marL="0" indent="0" algn="ctr">
              <a:buNone/>
            </a:pPr>
            <a:r>
              <a:rPr lang="en-US" sz="1100" dirty="0">
                <a:solidFill>
                  <a:schemeClr val="tx1"/>
                </a:solidFill>
              </a:rPr>
              <a:t>Player two rolls the dice</a:t>
            </a:r>
            <a:endParaRPr lang="en-US" sz="1100" dirty="0"/>
          </a:p>
        </p:txBody>
      </p:sp>
      <p:sp>
        <p:nvSpPr>
          <p:cNvPr id="40" name="Text 37"/>
          <p:cNvSpPr txBox="1"/>
          <p:nvPr/>
        </p:nvSpPr>
        <p:spPr>
          <a:xfrm>
            <a:off x="7310628" y="2907792"/>
            <a:ext cx="288036" cy="347472"/>
          </a:xfrm>
          <a:prstGeom prst="rect">
            <a:avLst/>
          </a:prstGeom>
          <a:noFill/>
          <a:ln/>
        </p:spPr>
        <p:txBody>
          <a:bodyPr wrap="none" lIns="0" tIns="0" rIns="0" bIns="0" rtlCol="0" anchor="ctr"/>
          <a:lstStyle/>
          <a:p>
            <a:pPr marL="0" indent="0">
              <a:buNone/>
            </a:pPr>
            <a:r>
              <a:rPr lang="en-US" sz="1200" b="1" dirty="0">
                <a:solidFill>
                  <a:schemeClr val="bg1"/>
                </a:solidFill>
              </a:rPr>
              <a:t>for</a:t>
            </a:r>
            <a:endParaRPr lang="en-US" sz="1200" dirty="0"/>
          </a:p>
        </p:txBody>
      </p:sp>
      <p:sp>
        <p:nvSpPr>
          <p:cNvPr id="41" name="Text 38"/>
          <p:cNvSpPr txBox="1"/>
          <p:nvPr/>
        </p:nvSpPr>
        <p:spPr>
          <a:xfrm>
            <a:off x="7662672" y="2953512"/>
            <a:ext cx="272491" cy="256032"/>
          </a:xfrm>
          <a:prstGeom prst="roundRect">
            <a:avLst>
              <a:gd name="adj" fmla="val 35714"/>
            </a:avLst>
          </a:prstGeom>
          <a:solidFill>
            <a:schemeClr val="bg1"/>
          </a:solidFill>
          <a:ln/>
        </p:spPr>
        <p:txBody>
          <a:bodyPr wrap="none" lIns="0" tIns="0" rIns="0" bIns="0" rtlCol="0" anchor="ctr"/>
          <a:lstStyle/>
          <a:p>
            <a:pPr marL="0" indent="0" algn="ctr">
              <a:buNone/>
            </a:pPr>
            <a:r>
              <a:rPr lang="en-US" sz="1100" dirty="0">
                <a:solidFill>
                  <a:schemeClr val="tx1"/>
                </a:solidFill>
              </a:rPr>
              <a:t>2</a:t>
            </a:r>
            <a:endParaRPr lang="en-US" sz="1100" dirty="0"/>
          </a:p>
        </p:txBody>
      </p:sp>
      <p:sp>
        <p:nvSpPr>
          <p:cNvPr id="42" name="Text 39"/>
          <p:cNvSpPr txBox="1"/>
          <p:nvPr/>
        </p:nvSpPr>
        <p:spPr>
          <a:xfrm>
            <a:off x="7999171" y="2907792"/>
            <a:ext cx="374904" cy="347472"/>
          </a:xfrm>
          <a:prstGeom prst="rect">
            <a:avLst/>
          </a:prstGeom>
          <a:noFill/>
          <a:ln/>
        </p:spPr>
        <p:txBody>
          <a:bodyPr wrap="none" lIns="0" tIns="0" rIns="0" bIns="0" rtlCol="0" anchor="ctr"/>
          <a:lstStyle/>
          <a:p>
            <a:pPr marL="0" indent="0">
              <a:buNone/>
            </a:pPr>
            <a:r>
              <a:rPr lang="en-US" sz="1200" b="1" dirty="0">
                <a:solidFill>
                  <a:schemeClr val="bg1"/>
                </a:solidFill>
              </a:rPr>
              <a:t>secs</a:t>
            </a:r>
            <a:endParaRPr lang="en-US" sz="1200" dirty="0"/>
          </a:p>
        </p:txBody>
      </p:sp>
      <p:sp>
        <p:nvSpPr>
          <p:cNvPr id="43" name="Scratch block"/>
          <p:cNvSpPr/>
          <p:nvPr/>
        </p:nvSpPr>
        <p:spPr>
          <a:xfrm>
            <a:off x="4791456" y="3328416"/>
            <a:ext cx="3915461" cy="347472"/>
          </a:xfrm>
          <a:prstGeom prst="roundRect">
            <a:avLst>
              <a:gd name="adj" fmla="val 18421"/>
            </a:avLst>
          </a:prstGeom>
          <a:solidFill>
            <a:schemeClr val="accent4"/>
          </a:solidFill>
          <a:ln w="9525">
            <a:solidFill>
              <a:schemeClr val="bg1"/>
            </a:solidFill>
            <a:prstDash val="solid"/>
          </a:ln>
        </p:spPr>
      </p:sp>
      <p:sp>
        <p:nvSpPr>
          <p:cNvPr id="44" name="Text 41"/>
          <p:cNvSpPr txBox="1"/>
          <p:nvPr/>
        </p:nvSpPr>
        <p:spPr>
          <a:xfrm>
            <a:off x="4910328" y="3328416"/>
            <a:ext cx="288036" cy="347472"/>
          </a:xfrm>
          <a:prstGeom prst="rect">
            <a:avLst/>
          </a:prstGeom>
          <a:noFill/>
          <a:ln/>
        </p:spPr>
        <p:txBody>
          <a:bodyPr wrap="none" lIns="0" tIns="0" rIns="0" bIns="0" rtlCol="0" anchor="ctr"/>
          <a:lstStyle/>
          <a:p>
            <a:pPr marL="0" indent="0">
              <a:buNone/>
            </a:pPr>
            <a:r>
              <a:rPr lang="en-US" sz="1200" b="1" dirty="0">
                <a:solidFill>
                  <a:schemeClr val="bg1"/>
                </a:solidFill>
              </a:rPr>
              <a:t>say</a:t>
            </a:r>
            <a:endParaRPr lang="en-US" sz="1200" dirty="0"/>
          </a:p>
        </p:txBody>
      </p:sp>
      <p:sp>
        <p:nvSpPr>
          <p:cNvPr id="45" name="Text 42"/>
          <p:cNvSpPr txBox="1"/>
          <p:nvPr/>
        </p:nvSpPr>
        <p:spPr>
          <a:xfrm>
            <a:off x="5262372" y="3374136"/>
            <a:ext cx="2198218" cy="256032"/>
          </a:xfrm>
          <a:prstGeom prst="roundRect">
            <a:avLst>
              <a:gd name="adj" fmla="val 35714"/>
            </a:avLst>
          </a:prstGeom>
          <a:solidFill>
            <a:schemeClr val="bg1"/>
          </a:solidFill>
          <a:ln/>
        </p:spPr>
        <p:txBody>
          <a:bodyPr wrap="none" lIns="0" tIns="0" rIns="0" bIns="0" rtlCol="0" anchor="ctr"/>
          <a:lstStyle/>
          <a:p>
            <a:pPr marL="0" indent="0" algn="ctr">
              <a:buNone/>
            </a:pPr>
            <a:r>
              <a:rPr lang="en-US" sz="1100" dirty="0">
                <a:solidFill>
                  <a:schemeClr val="tx1"/>
                </a:solidFill>
              </a:rPr>
              <a:t>Player two moves their piece</a:t>
            </a:r>
            <a:endParaRPr lang="en-US" sz="1100" dirty="0"/>
          </a:p>
        </p:txBody>
      </p:sp>
      <p:sp>
        <p:nvSpPr>
          <p:cNvPr id="46" name="Text 43"/>
          <p:cNvSpPr txBox="1"/>
          <p:nvPr/>
        </p:nvSpPr>
        <p:spPr>
          <a:xfrm>
            <a:off x="7524598" y="3328416"/>
            <a:ext cx="288036" cy="347472"/>
          </a:xfrm>
          <a:prstGeom prst="rect">
            <a:avLst/>
          </a:prstGeom>
          <a:noFill/>
          <a:ln/>
        </p:spPr>
        <p:txBody>
          <a:bodyPr wrap="none" lIns="0" tIns="0" rIns="0" bIns="0" rtlCol="0" anchor="ctr"/>
          <a:lstStyle/>
          <a:p>
            <a:pPr marL="0" indent="0">
              <a:buNone/>
            </a:pPr>
            <a:r>
              <a:rPr lang="en-US" sz="1200" b="1" dirty="0">
                <a:solidFill>
                  <a:schemeClr val="bg1"/>
                </a:solidFill>
              </a:rPr>
              <a:t>for</a:t>
            </a:r>
            <a:endParaRPr lang="en-US" sz="1200" dirty="0"/>
          </a:p>
        </p:txBody>
      </p:sp>
      <p:sp>
        <p:nvSpPr>
          <p:cNvPr id="47" name="Text 44"/>
          <p:cNvSpPr txBox="1"/>
          <p:nvPr/>
        </p:nvSpPr>
        <p:spPr>
          <a:xfrm>
            <a:off x="7876642" y="3374136"/>
            <a:ext cx="272491" cy="256032"/>
          </a:xfrm>
          <a:prstGeom prst="roundRect">
            <a:avLst>
              <a:gd name="adj" fmla="val 35714"/>
            </a:avLst>
          </a:prstGeom>
          <a:solidFill>
            <a:schemeClr val="bg1"/>
          </a:solidFill>
          <a:ln/>
        </p:spPr>
        <p:txBody>
          <a:bodyPr wrap="none" lIns="0" tIns="0" rIns="0" bIns="0" rtlCol="0" anchor="ctr"/>
          <a:lstStyle/>
          <a:p>
            <a:pPr marL="0" indent="0" algn="ctr">
              <a:buNone/>
            </a:pPr>
            <a:r>
              <a:rPr lang="en-US" sz="1100" dirty="0">
                <a:solidFill>
                  <a:schemeClr val="tx1"/>
                </a:solidFill>
              </a:rPr>
              <a:t>2</a:t>
            </a:r>
            <a:endParaRPr lang="en-US" sz="1100" dirty="0"/>
          </a:p>
        </p:txBody>
      </p:sp>
      <p:sp>
        <p:nvSpPr>
          <p:cNvPr id="48" name="Text 45"/>
          <p:cNvSpPr txBox="1"/>
          <p:nvPr/>
        </p:nvSpPr>
        <p:spPr>
          <a:xfrm>
            <a:off x="8213141" y="3328416"/>
            <a:ext cx="374904" cy="347472"/>
          </a:xfrm>
          <a:prstGeom prst="rect">
            <a:avLst/>
          </a:prstGeom>
          <a:noFill/>
          <a:ln/>
        </p:spPr>
        <p:txBody>
          <a:bodyPr wrap="none" lIns="0" tIns="0" rIns="0" bIns="0" rtlCol="0" anchor="ctr"/>
          <a:lstStyle/>
          <a:p>
            <a:pPr marL="0" indent="0">
              <a:buNone/>
            </a:pPr>
            <a:r>
              <a:rPr lang="en-US" sz="1200" b="1" dirty="0">
                <a:solidFill>
                  <a:schemeClr val="bg1"/>
                </a:solidFill>
              </a:rPr>
              <a:t>secs</a:t>
            </a:r>
            <a:endParaRPr lang="en-US" sz="1200" dirty="0"/>
          </a:p>
        </p:txBody>
      </p:sp>
      <p:sp>
        <p:nvSpPr>
          <p:cNvPr id="49" name="Shape 46"/>
          <p:cNvSpPr/>
          <p:nvPr/>
        </p:nvSpPr>
        <p:spPr>
          <a:xfrm>
            <a:off x="4572000" y="3785616"/>
            <a:ext cx="4134917" cy="219456"/>
          </a:xfrm>
          <a:prstGeom prst="roundRect">
            <a:avLst>
              <a:gd name="adj" fmla="val 25000"/>
            </a:avLst>
          </a:prstGeom>
          <a:solidFill>
            <a:schemeClr val="accent2"/>
          </a:solidFill>
          <a:ln/>
        </p:spPr>
      </p:sp>
      <p:sp>
        <p:nvSpPr>
          <p:cNvPr id="50" name="Scratch block"/>
          <p:cNvSpPr/>
          <p:nvPr/>
        </p:nvSpPr>
        <p:spPr>
          <a:xfrm>
            <a:off x="4572000" y="4023360"/>
            <a:ext cx="3130906" cy="365760"/>
          </a:xfrm>
          <a:prstGeom prst="roundRect">
            <a:avLst>
              <a:gd name="adj" fmla="val 17500"/>
            </a:avLst>
          </a:prstGeom>
          <a:solidFill>
            <a:schemeClr val="accent4"/>
          </a:solidFill>
          <a:ln w="9525">
            <a:solidFill>
              <a:schemeClr val="bg1"/>
            </a:solidFill>
            <a:prstDash val="solid"/>
          </a:ln>
        </p:spPr>
      </p:sp>
      <p:sp>
        <p:nvSpPr>
          <p:cNvPr id="51" name="Text 48"/>
          <p:cNvSpPr txBox="1"/>
          <p:nvPr/>
        </p:nvSpPr>
        <p:spPr>
          <a:xfrm>
            <a:off x="4690872" y="4023360"/>
            <a:ext cx="288036" cy="365760"/>
          </a:xfrm>
          <a:prstGeom prst="rect">
            <a:avLst/>
          </a:prstGeom>
          <a:noFill/>
          <a:ln/>
        </p:spPr>
        <p:txBody>
          <a:bodyPr wrap="none" lIns="0" tIns="0" rIns="0" bIns="0" rtlCol="0" anchor="ctr"/>
          <a:lstStyle/>
          <a:p>
            <a:pPr marL="0" indent="0">
              <a:buNone/>
            </a:pPr>
            <a:r>
              <a:rPr lang="en-US" sz="1200" b="1" dirty="0">
                <a:solidFill>
                  <a:schemeClr val="bg1"/>
                </a:solidFill>
              </a:rPr>
              <a:t>say</a:t>
            </a:r>
            <a:endParaRPr lang="en-US" sz="1200" dirty="0"/>
          </a:p>
        </p:txBody>
      </p:sp>
      <p:sp>
        <p:nvSpPr>
          <p:cNvPr id="52" name="Text 49"/>
          <p:cNvSpPr txBox="1"/>
          <p:nvPr/>
        </p:nvSpPr>
        <p:spPr>
          <a:xfrm>
            <a:off x="5042916" y="4069080"/>
            <a:ext cx="1413662" cy="274320"/>
          </a:xfrm>
          <a:prstGeom prst="roundRect">
            <a:avLst>
              <a:gd name="adj" fmla="val 33333"/>
            </a:avLst>
          </a:prstGeom>
          <a:solidFill>
            <a:schemeClr val="bg1"/>
          </a:solidFill>
          <a:ln/>
        </p:spPr>
        <p:txBody>
          <a:bodyPr wrap="none" lIns="0" tIns="0" rIns="0" bIns="0" rtlCol="0" anchor="ctr"/>
          <a:lstStyle/>
          <a:p>
            <a:pPr marL="0" indent="0" algn="ctr">
              <a:buNone/>
            </a:pPr>
            <a:r>
              <a:rPr lang="en-US" sz="1100" dirty="0">
                <a:solidFill>
                  <a:schemeClr val="tx1"/>
                </a:solidFill>
              </a:rPr>
              <a:t>We have a winner!</a:t>
            </a:r>
            <a:endParaRPr lang="en-US" sz="1100" dirty="0"/>
          </a:p>
        </p:txBody>
      </p:sp>
      <p:sp>
        <p:nvSpPr>
          <p:cNvPr id="53" name="Text 50"/>
          <p:cNvSpPr txBox="1"/>
          <p:nvPr/>
        </p:nvSpPr>
        <p:spPr>
          <a:xfrm>
            <a:off x="6520586" y="4023360"/>
            <a:ext cx="288036" cy="365760"/>
          </a:xfrm>
          <a:prstGeom prst="rect">
            <a:avLst/>
          </a:prstGeom>
          <a:noFill/>
          <a:ln/>
        </p:spPr>
        <p:txBody>
          <a:bodyPr wrap="none" lIns="0" tIns="0" rIns="0" bIns="0" rtlCol="0" anchor="ctr"/>
          <a:lstStyle/>
          <a:p>
            <a:pPr marL="0" indent="0">
              <a:buNone/>
            </a:pPr>
            <a:r>
              <a:rPr lang="en-US" sz="1200" b="1" dirty="0">
                <a:solidFill>
                  <a:schemeClr val="bg1"/>
                </a:solidFill>
              </a:rPr>
              <a:t>for</a:t>
            </a:r>
            <a:endParaRPr lang="en-US" sz="1200" dirty="0"/>
          </a:p>
        </p:txBody>
      </p:sp>
      <p:sp>
        <p:nvSpPr>
          <p:cNvPr id="54" name="Text 51"/>
          <p:cNvSpPr txBox="1"/>
          <p:nvPr/>
        </p:nvSpPr>
        <p:spPr>
          <a:xfrm>
            <a:off x="6872630" y="4069080"/>
            <a:ext cx="272491" cy="274320"/>
          </a:xfrm>
          <a:prstGeom prst="roundRect">
            <a:avLst>
              <a:gd name="adj" fmla="val 33557"/>
            </a:avLst>
          </a:prstGeom>
          <a:solidFill>
            <a:schemeClr val="bg1"/>
          </a:solidFill>
          <a:ln/>
        </p:spPr>
        <p:txBody>
          <a:bodyPr wrap="none" lIns="0" tIns="0" rIns="0" bIns="0" rtlCol="0" anchor="ctr"/>
          <a:lstStyle/>
          <a:p>
            <a:pPr marL="0" indent="0" algn="ctr">
              <a:buNone/>
            </a:pPr>
            <a:r>
              <a:rPr lang="en-US" sz="1100" dirty="0">
                <a:solidFill>
                  <a:schemeClr val="tx1"/>
                </a:solidFill>
              </a:rPr>
              <a:t>2</a:t>
            </a:r>
            <a:endParaRPr lang="en-US" sz="1100" dirty="0"/>
          </a:p>
        </p:txBody>
      </p:sp>
      <p:sp>
        <p:nvSpPr>
          <p:cNvPr id="55" name="Text 52"/>
          <p:cNvSpPr txBox="1"/>
          <p:nvPr/>
        </p:nvSpPr>
        <p:spPr>
          <a:xfrm>
            <a:off x="7209130" y="4023360"/>
            <a:ext cx="374904" cy="365760"/>
          </a:xfrm>
          <a:prstGeom prst="rect">
            <a:avLst/>
          </a:prstGeom>
          <a:noFill/>
          <a:ln/>
        </p:spPr>
        <p:txBody>
          <a:bodyPr wrap="none" lIns="0" tIns="0" rIns="0" bIns="0" rtlCol="0" anchor="ctr"/>
          <a:lstStyle/>
          <a:p>
            <a:pPr marL="0" indent="0">
              <a:buNone/>
            </a:pPr>
            <a:r>
              <a:rPr lang="en-US" sz="1200" b="1" dirty="0">
                <a:solidFill>
                  <a:schemeClr val="bg1"/>
                </a:solidFill>
              </a:rPr>
              <a:t>secs</a:t>
            </a:r>
            <a:endParaRPr lang="en-US" sz="1200" dirty="0"/>
          </a:p>
        </p:txBody>
      </p:sp>
      <p:sp>
        <p:nvSpPr>
          <p:cNvPr id="56"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1"/>
                </a:solidFill>
              </a:rPr>
              <a:t>Programming constructs</a:t>
            </a:r>
            <a:endParaRPr lang="en-US" sz="3000" dirty="0"/>
          </a:p>
        </p:txBody>
      </p:sp>
      <p:sp>
        <p:nvSpPr>
          <p:cNvPr id="3" name="Text 1"/>
          <p:cNvSpPr txBox="1"/>
          <p:nvPr/>
        </p:nvSpPr>
        <p:spPr>
          <a:xfrm>
            <a:off x="457200" y="1097280"/>
            <a:ext cx="8229600" cy="457200"/>
          </a:xfrm>
          <a:prstGeom prst="rect">
            <a:avLst/>
          </a:prstGeom>
          <a:noFill/>
          <a:ln/>
        </p:spPr>
        <p:txBody>
          <a:bodyPr wrap="square" lIns="0" tIns="0" rIns="0" bIns="0" rtlCol="0" anchor="t"/>
          <a:lstStyle/>
          <a:p>
            <a:pPr marL="0" indent="0">
              <a:buNone/>
            </a:pPr>
            <a:r>
              <a:rPr lang="en-US" sz="1600" dirty="0">
                <a:solidFill>
                  <a:schemeClr val="tx1"/>
                </a:solidFill>
              </a:rPr>
              <a:t>Programming ideas, called programming constructs, are used to create programs that solve problems.</a:t>
            </a:r>
            <a:endParaRPr lang="en-US" sz="1600" dirty="0"/>
          </a:p>
        </p:txBody>
      </p:sp>
      <p:sp>
        <p:nvSpPr>
          <p:cNvPr id="4" name="Card"/>
          <p:cNvSpPr/>
          <p:nvPr/>
        </p:nvSpPr>
        <p:spPr>
          <a:xfrm>
            <a:off x="457200" y="1783080"/>
            <a:ext cx="2606040" cy="2743200"/>
          </a:xfrm>
          <a:prstGeom prst="roundRect">
            <a:avLst>
              <a:gd name="adj" fmla="val 4211"/>
            </a:avLst>
          </a:prstGeom>
          <a:solidFill>
            <a:schemeClr val="bg2"/>
          </a:solidFill>
          <a:ln/>
        </p:spPr>
      </p:sp>
      <p:sp>
        <p:nvSpPr>
          <p:cNvPr id="5" name="Icon circle"/>
          <p:cNvSpPr/>
          <p:nvPr/>
        </p:nvSpPr>
        <p:spPr>
          <a:xfrm>
            <a:off x="640080" y="1965960"/>
            <a:ext cx="731520" cy="731520"/>
          </a:xfrm>
          <a:prstGeom prst="ellipse">
            <a:avLst/>
          </a:prstGeom>
          <a:solidFill>
            <a:schemeClr val="accent1"/>
          </a:solidFill>
          <a:ln/>
        </p:spPr>
      </p:sp>
      <p:pic>
        <p:nvPicPr>
          <p:cNvPr id="6" name="Image 0" descr="FaListOl"/>
          <p:cNvPicPr>
            <a:picLocks noChangeAspect="1"/>
          </p:cNvPicPr>
          <p:nvPr/>
        </p:nvPicPr>
        <p:blipFill>
          <a:blip r:embed="rId3"/>
          <a:stretch>
            <a:fillRect/>
          </a:stretch>
        </p:blipFill>
        <p:spPr>
          <a:xfrm>
            <a:off x="822960" y="2148840"/>
            <a:ext cx="365760" cy="365760"/>
          </a:xfrm>
          <a:prstGeom prst="rect">
            <a:avLst/>
          </a:prstGeom>
        </p:spPr>
      </p:pic>
      <p:sp>
        <p:nvSpPr>
          <p:cNvPr id="7" name="Text 4"/>
          <p:cNvSpPr txBox="1"/>
          <p:nvPr/>
        </p:nvSpPr>
        <p:spPr>
          <a:xfrm>
            <a:off x="640080" y="2834640"/>
            <a:ext cx="2240280" cy="365760"/>
          </a:xfrm>
          <a:prstGeom prst="rect">
            <a:avLst/>
          </a:prstGeom>
          <a:noFill/>
          <a:ln/>
        </p:spPr>
        <p:txBody>
          <a:bodyPr wrap="square" lIns="0" tIns="0" rIns="0" bIns="0" rtlCol="0" anchor="t"/>
          <a:lstStyle/>
          <a:p>
            <a:pPr marL="0" indent="0">
              <a:buNone/>
            </a:pPr>
            <a:r>
              <a:rPr lang="en-US" sz="2200" b="1" dirty="0">
                <a:solidFill>
                  <a:schemeClr val="tx1"/>
                </a:solidFill>
              </a:rPr>
              <a:t>Sequence</a:t>
            </a:r>
            <a:endParaRPr lang="en-US" sz="2200" dirty="0"/>
          </a:p>
        </p:txBody>
      </p:sp>
      <p:sp>
        <p:nvSpPr>
          <p:cNvPr id="8" name="Text 5"/>
          <p:cNvSpPr txBox="1"/>
          <p:nvPr/>
        </p:nvSpPr>
        <p:spPr>
          <a:xfrm>
            <a:off x="640080" y="3291840"/>
            <a:ext cx="2240280" cy="1097280"/>
          </a:xfrm>
          <a:prstGeom prst="rect">
            <a:avLst/>
          </a:prstGeom>
          <a:noFill/>
          <a:ln/>
        </p:spPr>
        <p:txBody>
          <a:bodyPr wrap="square" lIns="0" tIns="0" rIns="0" bIns="0" rtlCol="0" anchor="t"/>
          <a:lstStyle/>
          <a:p>
            <a:pPr marL="0" indent="0">
              <a:buNone/>
            </a:pPr>
            <a:r>
              <a:rPr lang="en-US" sz="1400" dirty="0">
                <a:solidFill>
                  <a:schemeClr val="tx1"/>
                </a:solidFill>
              </a:rPr>
              <a:t>The order in which instructions run in algorithms and programs.</a:t>
            </a:r>
            <a:endParaRPr lang="en-US" sz="1400" dirty="0"/>
          </a:p>
        </p:txBody>
      </p:sp>
      <p:sp>
        <p:nvSpPr>
          <p:cNvPr id="9" name="Card"/>
          <p:cNvSpPr/>
          <p:nvPr/>
        </p:nvSpPr>
        <p:spPr>
          <a:xfrm>
            <a:off x="3268980" y="1783080"/>
            <a:ext cx="2606040" cy="2743200"/>
          </a:xfrm>
          <a:prstGeom prst="roundRect">
            <a:avLst>
              <a:gd name="adj" fmla="val 4211"/>
            </a:avLst>
          </a:prstGeom>
          <a:solidFill>
            <a:schemeClr val="bg2"/>
          </a:solidFill>
          <a:ln/>
        </p:spPr>
      </p:sp>
      <p:sp>
        <p:nvSpPr>
          <p:cNvPr id="10" name="Icon circle"/>
          <p:cNvSpPr/>
          <p:nvPr/>
        </p:nvSpPr>
        <p:spPr>
          <a:xfrm>
            <a:off x="3451860" y="1965960"/>
            <a:ext cx="731520" cy="731520"/>
          </a:xfrm>
          <a:prstGeom prst="ellipse">
            <a:avLst/>
          </a:prstGeom>
          <a:solidFill>
            <a:schemeClr val="accent2"/>
          </a:solidFill>
          <a:ln/>
        </p:spPr>
      </p:sp>
      <p:pic>
        <p:nvPicPr>
          <p:cNvPr id="11" name="Image 1" descr="FaCodeBranch"/>
          <p:cNvPicPr>
            <a:picLocks noChangeAspect="1"/>
          </p:cNvPicPr>
          <p:nvPr/>
        </p:nvPicPr>
        <p:blipFill>
          <a:blip r:embed="rId4"/>
          <a:stretch>
            <a:fillRect/>
          </a:stretch>
        </p:blipFill>
        <p:spPr>
          <a:xfrm>
            <a:off x="3634740" y="2148840"/>
            <a:ext cx="365760" cy="365760"/>
          </a:xfrm>
          <a:prstGeom prst="rect">
            <a:avLst/>
          </a:prstGeom>
        </p:spPr>
      </p:pic>
      <p:sp>
        <p:nvSpPr>
          <p:cNvPr id="12" name="Text 8"/>
          <p:cNvSpPr txBox="1"/>
          <p:nvPr/>
        </p:nvSpPr>
        <p:spPr>
          <a:xfrm>
            <a:off x="3451860" y="2834640"/>
            <a:ext cx="2240280" cy="365760"/>
          </a:xfrm>
          <a:prstGeom prst="rect">
            <a:avLst/>
          </a:prstGeom>
          <a:noFill/>
          <a:ln/>
        </p:spPr>
        <p:txBody>
          <a:bodyPr wrap="square" lIns="0" tIns="0" rIns="0" bIns="0" rtlCol="0" anchor="t"/>
          <a:lstStyle/>
          <a:p>
            <a:pPr marL="0" indent="0">
              <a:buNone/>
            </a:pPr>
            <a:r>
              <a:rPr lang="en-US" sz="2200" b="1" dirty="0">
                <a:solidFill>
                  <a:schemeClr val="tx1"/>
                </a:solidFill>
              </a:rPr>
              <a:t>Selection</a:t>
            </a:r>
            <a:endParaRPr lang="en-US" sz="2200" dirty="0"/>
          </a:p>
        </p:txBody>
      </p:sp>
      <p:sp>
        <p:nvSpPr>
          <p:cNvPr id="13" name="Text 9"/>
          <p:cNvSpPr txBox="1"/>
          <p:nvPr/>
        </p:nvSpPr>
        <p:spPr>
          <a:xfrm>
            <a:off x="3451860" y="3291840"/>
            <a:ext cx="2240280" cy="1097280"/>
          </a:xfrm>
          <a:prstGeom prst="rect">
            <a:avLst/>
          </a:prstGeom>
          <a:noFill/>
          <a:ln/>
        </p:spPr>
        <p:txBody>
          <a:bodyPr wrap="square" lIns="0" tIns="0" rIns="0" bIns="0" rtlCol="0" anchor="t"/>
          <a:lstStyle/>
          <a:p>
            <a:pPr marL="0" indent="0">
              <a:buNone/>
            </a:pPr>
            <a:r>
              <a:rPr lang="en-US" sz="1400" dirty="0">
                <a:solidFill>
                  <a:schemeClr val="tx1"/>
                </a:solidFill>
              </a:rPr>
              <a:t>Choosing which commands to run, using a conditional statement.</a:t>
            </a:r>
            <a:endParaRPr lang="en-US" sz="1400" dirty="0"/>
          </a:p>
        </p:txBody>
      </p:sp>
      <p:sp>
        <p:nvSpPr>
          <p:cNvPr id="14" name="Card"/>
          <p:cNvSpPr/>
          <p:nvPr/>
        </p:nvSpPr>
        <p:spPr>
          <a:xfrm>
            <a:off x="6080760" y="1783080"/>
            <a:ext cx="2606040" cy="2743200"/>
          </a:xfrm>
          <a:prstGeom prst="roundRect">
            <a:avLst>
              <a:gd name="adj" fmla="val 4211"/>
            </a:avLst>
          </a:prstGeom>
          <a:solidFill>
            <a:schemeClr val="bg2"/>
          </a:solidFill>
          <a:ln/>
        </p:spPr>
      </p:sp>
      <p:sp>
        <p:nvSpPr>
          <p:cNvPr id="15" name="Icon circle"/>
          <p:cNvSpPr/>
          <p:nvPr/>
        </p:nvSpPr>
        <p:spPr>
          <a:xfrm>
            <a:off x="6263640" y="1965960"/>
            <a:ext cx="731520" cy="731520"/>
          </a:xfrm>
          <a:prstGeom prst="ellipse">
            <a:avLst/>
          </a:prstGeom>
          <a:solidFill>
            <a:schemeClr val="accent3"/>
          </a:solidFill>
          <a:ln/>
        </p:spPr>
      </p:sp>
      <p:pic>
        <p:nvPicPr>
          <p:cNvPr id="16" name="Image 2" descr="FaRedo"/>
          <p:cNvPicPr>
            <a:picLocks noChangeAspect="1"/>
          </p:cNvPicPr>
          <p:nvPr/>
        </p:nvPicPr>
        <p:blipFill>
          <a:blip r:embed="rId5"/>
          <a:stretch>
            <a:fillRect/>
          </a:stretch>
        </p:blipFill>
        <p:spPr>
          <a:xfrm>
            <a:off x="6446520" y="2148840"/>
            <a:ext cx="365760" cy="365760"/>
          </a:xfrm>
          <a:prstGeom prst="rect">
            <a:avLst/>
          </a:prstGeom>
        </p:spPr>
      </p:pic>
      <p:sp>
        <p:nvSpPr>
          <p:cNvPr id="17" name="Text 12"/>
          <p:cNvSpPr txBox="1"/>
          <p:nvPr/>
        </p:nvSpPr>
        <p:spPr>
          <a:xfrm>
            <a:off x="6263640" y="2834640"/>
            <a:ext cx="2240280" cy="365760"/>
          </a:xfrm>
          <a:prstGeom prst="rect">
            <a:avLst/>
          </a:prstGeom>
          <a:noFill/>
          <a:ln/>
        </p:spPr>
        <p:txBody>
          <a:bodyPr wrap="square" lIns="0" tIns="0" rIns="0" bIns="0" rtlCol="0" anchor="t"/>
          <a:lstStyle/>
          <a:p>
            <a:pPr marL="0" indent="0">
              <a:buNone/>
            </a:pPr>
            <a:r>
              <a:rPr lang="en-US" sz="2200" b="1" dirty="0">
                <a:solidFill>
                  <a:schemeClr val="tx1"/>
                </a:solidFill>
              </a:rPr>
              <a:t>Iteration</a:t>
            </a:r>
            <a:endParaRPr lang="en-US" sz="2200" dirty="0"/>
          </a:p>
        </p:txBody>
      </p:sp>
      <p:sp>
        <p:nvSpPr>
          <p:cNvPr id="18" name="Text 13"/>
          <p:cNvSpPr txBox="1"/>
          <p:nvPr/>
        </p:nvSpPr>
        <p:spPr>
          <a:xfrm>
            <a:off x="6263640" y="3291840"/>
            <a:ext cx="2240280" cy="1097280"/>
          </a:xfrm>
          <a:prstGeom prst="rect">
            <a:avLst/>
          </a:prstGeom>
          <a:noFill/>
          <a:ln/>
        </p:spPr>
        <p:txBody>
          <a:bodyPr wrap="square" lIns="0" tIns="0" rIns="0" bIns="0" rtlCol="0" anchor="t"/>
          <a:lstStyle/>
          <a:p>
            <a:pPr marL="0" indent="0">
              <a:buNone/>
            </a:pPr>
            <a:r>
              <a:rPr lang="en-US" sz="1400" dirty="0">
                <a:solidFill>
                  <a:schemeClr val="tx1"/>
                </a:solidFill>
              </a:rPr>
              <a:t>Repeating something, using ‘repeat’ blocks or loops.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1"/>
                </a:solidFill>
              </a:rPr>
              <a:t>Sequence: order matters</a:t>
            </a:r>
            <a:endParaRPr lang="en-US" sz="3000" dirty="0"/>
          </a:p>
        </p:txBody>
      </p:sp>
      <p:sp>
        <p:nvSpPr>
          <p:cNvPr id="3" name="Text 1"/>
          <p:cNvSpPr txBox="1"/>
          <p:nvPr/>
        </p:nvSpPr>
        <p:spPr>
          <a:xfrm>
            <a:off x="457200" y="1188720"/>
            <a:ext cx="4297680" cy="822960"/>
          </a:xfrm>
          <a:prstGeom prst="rect">
            <a:avLst/>
          </a:prstGeom>
          <a:noFill/>
          <a:ln/>
        </p:spPr>
        <p:txBody>
          <a:bodyPr wrap="square" lIns="0" tIns="0" rIns="0" bIns="0" rtlCol="0" anchor="t"/>
          <a:lstStyle/>
          <a:p>
            <a:pPr marL="0" indent="0">
              <a:buNone/>
            </a:pPr>
            <a:r>
              <a:rPr lang="en-US" sz="1600" dirty="0">
                <a:solidFill>
                  <a:schemeClr val="tx1"/>
                </a:solidFill>
              </a:rPr>
              <a:t>Sequence is the order in which instructions run in algorithms and programs.</a:t>
            </a:r>
            <a:endParaRPr lang="en-US" sz="1600" dirty="0"/>
          </a:p>
        </p:txBody>
      </p:sp>
      <p:sp>
        <p:nvSpPr>
          <p:cNvPr id="4" name="Wrong order callout"/>
          <p:cNvSpPr/>
          <p:nvPr/>
        </p:nvSpPr>
        <p:spPr>
          <a:xfrm>
            <a:off x="457200" y="2240280"/>
            <a:ext cx="4297680" cy="2286000"/>
          </a:xfrm>
          <a:prstGeom prst="roundRect">
            <a:avLst>
              <a:gd name="adj" fmla="val 4800"/>
            </a:avLst>
          </a:prstGeom>
          <a:solidFill>
            <a:schemeClr val="bg2"/>
          </a:solidFill>
          <a:ln/>
        </p:spPr>
      </p:sp>
      <p:sp>
        <p:nvSpPr>
          <p:cNvPr id="5" name="Text 3"/>
          <p:cNvSpPr txBox="1"/>
          <p:nvPr/>
        </p:nvSpPr>
        <p:spPr>
          <a:xfrm>
            <a:off x="640080" y="2377440"/>
            <a:ext cx="3931920" cy="822960"/>
          </a:xfrm>
          <a:prstGeom prst="rect">
            <a:avLst/>
          </a:prstGeom>
          <a:noFill/>
          <a:ln/>
        </p:spPr>
        <p:txBody>
          <a:bodyPr wrap="square" lIns="0" tIns="0" rIns="0" bIns="0" rtlCol="0" anchor="t"/>
          <a:lstStyle/>
          <a:p>
            <a:pPr marL="0" indent="0">
              <a:buNone/>
            </a:pPr>
            <a:r>
              <a:rPr lang="en-US" sz="1400" dirty="0">
                <a:solidFill>
                  <a:schemeClr val="tx1"/>
                </a:solidFill>
              </a:rPr>
              <a:t>If the instructions are in the wrong order, the algorithm or program may not work the way you want it to!</a:t>
            </a:r>
            <a:endParaRPr lang="en-US" sz="1400" dirty="0"/>
          </a:p>
        </p:txBody>
      </p:sp>
      <p:sp>
        <p:nvSpPr>
          <p:cNvPr id="6" name="Text 4"/>
          <p:cNvSpPr txBox="1"/>
          <p:nvPr/>
        </p:nvSpPr>
        <p:spPr>
          <a:xfrm>
            <a:off x="640080" y="3337560"/>
            <a:ext cx="3931920" cy="548640"/>
          </a:xfrm>
          <a:prstGeom prst="rect">
            <a:avLst/>
          </a:prstGeom>
          <a:noFill/>
          <a:ln/>
        </p:spPr>
        <p:txBody>
          <a:bodyPr wrap="square" lIns="0" tIns="0" rIns="0" bIns="0" rtlCol="0" anchor="t"/>
          <a:lstStyle/>
          <a:p>
            <a:pPr marL="0" indent="0">
              <a:buNone/>
            </a:pPr>
            <a:r>
              <a:rPr lang="en-US" sz="1400" b="1" dirty="0">
                <a:solidFill>
                  <a:schemeClr val="tx1"/>
                </a:solidFill>
              </a:rPr>
              <a:t>Try it: what happens if “Add milk” comes before “Get a bowl”?</a:t>
            </a:r>
            <a:endParaRPr lang="en-US" sz="1400" dirty="0"/>
          </a:p>
        </p:txBody>
      </p:sp>
      <p:pic>
        <p:nvPicPr>
          <p:cNvPr id="7" name="Image 0" descr="Warning"/>
          <p:cNvPicPr>
            <a:picLocks noChangeAspect="1"/>
          </p:cNvPicPr>
          <p:nvPr/>
        </p:nvPicPr>
        <p:blipFill>
          <a:blip r:embed="rId3"/>
          <a:stretch>
            <a:fillRect/>
          </a:stretch>
        </p:blipFill>
        <p:spPr>
          <a:xfrm>
            <a:off x="640080" y="3977640"/>
            <a:ext cx="365760" cy="365760"/>
          </a:xfrm>
          <a:prstGeom prst="rect">
            <a:avLst/>
          </a:prstGeom>
        </p:spPr>
      </p:pic>
      <p:sp>
        <p:nvSpPr>
          <p:cNvPr id="8" name="Text 5"/>
          <p:cNvSpPr txBox="1"/>
          <p:nvPr/>
        </p:nvSpPr>
        <p:spPr>
          <a:xfrm>
            <a:off x="1143000" y="3977640"/>
            <a:ext cx="2743200" cy="365760"/>
          </a:xfrm>
          <a:prstGeom prst="rect">
            <a:avLst/>
          </a:prstGeom>
          <a:noFill/>
          <a:ln/>
        </p:spPr>
        <p:txBody>
          <a:bodyPr wrap="square" lIns="0" tIns="0" rIns="0" bIns="0" rtlCol="0" anchor="ctr"/>
          <a:lstStyle/>
          <a:p>
            <a:pPr marL="0" indent="0">
              <a:buNone/>
            </a:pPr>
            <a:r>
              <a:rPr lang="en-US" sz="1400" dirty="0">
                <a:solidFill>
                  <a:schemeClr val="tx1"/>
                </a:solidFill>
              </a:rPr>
              <a:t>A messy breakfast!</a:t>
            </a:r>
            <a:endParaRPr lang="en-US" sz="1400" dirty="0"/>
          </a:p>
        </p:txBody>
      </p:sp>
      <p:sp>
        <p:nvSpPr>
          <p:cNvPr id="9" name="Flowchart step"/>
          <p:cNvSpPr txBox="1"/>
          <p:nvPr/>
        </p:nvSpPr>
        <p:spPr>
          <a:xfrm>
            <a:off x="5760720" y="1097280"/>
            <a:ext cx="2560320" cy="420624"/>
          </a:xfrm>
          <a:prstGeom prst="roundRect">
            <a:avLst>
              <a:gd name="adj" fmla="val 50000"/>
            </a:avLst>
          </a:prstGeom>
          <a:solidFill>
            <a:schemeClr val="accent6"/>
          </a:solidFill>
          <a:ln/>
        </p:spPr>
        <p:txBody>
          <a:bodyPr wrap="square" lIns="0" tIns="0" rIns="0" bIns="0" rtlCol="0" anchor="ctr"/>
          <a:lstStyle/>
          <a:p>
            <a:pPr marL="0" indent="0" algn="ctr">
              <a:buNone/>
            </a:pPr>
            <a:r>
              <a:rPr lang="en-US" sz="1400" b="1" dirty="0">
                <a:solidFill>
                  <a:schemeClr val="tx1"/>
                </a:solidFill>
              </a:rPr>
              <a:t>Start</a:t>
            </a:r>
            <a:endParaRPr lang="en-US" sz="1400" dirty="0"/>
          </a:p>
        </p:txBody>
      </p:sp>
      <p:sp>
        <p:nvSpPr>
          <p:cNvPr id="10" name="Shape 7"/>
          <p:cNvSpPr/>
          <p:nvPr/>
        </p:nvSpPr>
        <p:spPr>
          <a:xfrm>
            <a:off x="7040880" y="1517904"/>
            <a:ext cx="0" cy="182880"/>
          </a:xfrm>
          <a:prstGeom prst="line">
            <a:avLst/>
          </a:prstGeom>
          <a:noFill/>
          <a:ln w="22225">
            <a:solidFill>
              <a:schemeClr val="tx2"/>
            </a:solidFill>
            <a:prstDash val="solid"/>
            <a:tailEnd type="triangle"/>
          </a:ln>
        </p:spPr>
      </p:sp>
      <p:sp>
        <p:nvSpPr>
          <p:cNvPr id="11" name="Flowchart step"/>
          <p:cNvSpPr txBox="1"/>
          <p:nvPr/>
        </p:nvSpPr>
        <p:spPr>
          <a:xfrm>
            <a:off x="5760720" y="1700784"/>
            <a:ext cx="2560320" cy="420624"/>
          </a:xfrm>
          <a:prstGeom prst="roundRect">
            <a:avLst>
              <a:gd name="adj" fmla="val 10870"/>
            </a:avLst>
          </a:prstGeom>
          <a:solidFill>
            <a:schemeClr val="accent6"/>
          </a:solidFill>
          <a:ln/>
        </p:spPr>
        <p:txBody>
          <a:bodyPr wrap="square" lIns="0" tIns="0" rIns="0" bIns="0" rtlCol="0" anchor="ctr"/>
          <a:lstStyle/>
          <a:p>
            <a:pPr marL="0" indent="0" algn="ctr">
              <a:buNone/>
            </a:pPr>
            <a:r>
              <a:rPr lang="en-US" sz="1400" b="1" dirty="0">
                <a:solidFill>
                  <a:schemeClr val="tx1"/>
                </a:solidFill>
              </a:rPr>
              <a:t>Get a bowl</a:t>
            </a:r>
            <a:endParaRPr lang="en-US" sz="1400" dirty="0"/>
          </a:p>
        </p:txBody>
      </p:sp>
      <p:sp>
        <p:nvSpPr>
          <p:cNvPr id="12" name="Shape 9"/>
          <p:cNvSpPr/>
          <p:nvPr/>
        </p:nvSpPr>
        <p:spPr>
          <a:xfrm>
            <a:off x="7040880" y="2121408"/>
            <a:ext cx="0" cy="182880"/>
          </a:xfrm>
          <a:prstGeom prst="line">
            <a:avLst/>
          </a:prstGeom>
          <a:noFill/>
          <a:ln w="22225">
            <a:solidFill>
              <a:schemeClr val="tx2"/>
            </a:solidFill>
            <a:prstDash val="solid"/>
            <a:tailEnd type="triangle"/>
          </a:ln>
        </p:spPr>
      </p:sp>
      <p:sp>
        <p:nvSpPr>
          <p:cNvPr id="13" name="Flowchart step"/>
          <p:cNvSpPr txBox="1"/>
          <p:nvPr/>
        </p:nvSpPr>
        <p:spPr>
          <a:xfrm>
            <a:off x="5760720" y="2304288"/>
            <a:ext cx="2560320" cy="420624"/>
          </a:xfrm>
          <a:prstGeom prst="roundRect">
            <a:avLst>
              <a:gd name="adj" fmla="val 10870"/>
            </a:avLst>
          </a:prstGeom>
          <a:solidFill>
            <a:schemeClr val="accent6"/>
          </a:solidFill>
          <a:ln/>
        </p:spPr>
        <p:txBody>
          <a:bodyPr wrap="square" lIns="0" tIns="0" rIns="0" bIns="0" rtlCol="0" anchor="ctr"/>
          <a:lstStyle/>
          <a:p>
            <a:pPr marL="0" indent="0" algn="ctr">
              <a:buNone/>
            </a:pPr>
            <a:r>
              <a:rPr lang="en-US" sz="1400" b="1" dirty="0">
                <a:solidFill>
                  <a:schemeClr val="tx1"/>
                </a:solidFill>
              </a:rPr>
              <a:t>Pour in some cereal</a:t>
            </a:r>
            <a:endParaRPr lang="en-US" sz="1400" dirty="0"/>
          </a:p>
        </p:txBody>
      </p:sp>
      <p:sp>
        <p:nvSpPr>
          <p:cNvPr id="14" name="Shape 11"/>
          <p:cNvSpPr/>
          <p:nvPr/>
        </p:nvSpPr>
        <p:spPr>
          <a:xfrm>
            <a:off x="7040880" y="2724912"/>
            <a:ext cx="0" cy="182880"/>
          </a:xfrm>
          <a:prstGeom prst="line">
            <a:avLst/>
          </a:prstGeom>
          <a:noFill/>
          <a:ln w="22225">
            <a:solidFill>
              <a:schemeClr val="tx2"/>
            </a:solidFill>
            <a:prstDash val="solid"/>
            <a:tailEnd type="triangle"/>
          </a:ln>
        </p:spPr>
      </p:sp>
      <p:sp>
        <p:nvSpPr>
          <p:cNvPr id="15" name="Flowchart step"/>
          <p:cNvSpPr txBox="1"/>
          <p:nvPr/>
        </p:nvSpPr>
        <p:spPr>
          <a:xfrm>
            <a:off x="5760720" y="2907792"/>
            <a:ext cx="2560320" cy="420624"/>
          </a:xfrm>
          <a:prstGeom prst="roundRect">
            <a:avLst>
              <a:gd name="adj" fmla="val 10870"/>
            </a:avLst>
          </a:prstGeom>
          <a:solidFill>
            <a:schemeClr val="accent6"/>
          </a:solidFill>
          <a:ln/>
        </p:spPr>
        <p:txBody>
          <a:bodyPr wrap="square" lIns="0" tIns="0" rIns="0" bIns="0" rtlCol="0" anchor="ctr"/>
          <a:lstStyle/>
          <a:p>
            <a:pPr marL="0" indent="0" algn="ctr">
              <a:buNone/>
            </a:pPr>
            <a:r>
              <a:rPr lang="en-US" sz="1400" b="1" dirty="0">
                <a:solidFill>
                  <a:schemeClr val="tx1"/>
                </a:solidFill>
              </a:rPr>
              <a:t>Add milk</a:t>
            </a:r>
            <a:endParaRPr lang="en-US" sz="1400" dirty="0"/>
          </a:p>
        </p:txBody>
      </p:sp>
      <p:sp>
        <p:nvSpPr>
          <p:cNvPr id="16" name="Shape 13"/>
          <p:cNvSpPr/>
          <p:nvPr/>
        </p:nvSpPr>
        <p:spPr>
          <a:xfrm>
            <a:off x="7040880" y="3328416"/>
            <a:ext cx="0" cy="182880"/>
          </a:xfrm>
          <a:prstGeom prst="line">
            <a:avLst/>
          </a:prstGeom>
          <a:noFill/>
          <a:ln w="22225">
            <a:solidFill>
              <a:schemeClr val="tx2"/>
            </a:solidFill>
            <a:prstDash val="solid"/>
            <a:tailEnd type="triangle"/>
          </a:ln>
        </p:spPr>
      </p:sp>
      <p:sp>
        <p:nvSpPr>
          <p:cNvPr id="17" name="Flowchart step"/>
          <p:cNvSpPr txBox="1"/>
          <p:nvPr/>
        </p:nvSpPr>
        <p:spPr>
          <a:xfrm>
            <a:off x="5760720" y="3511296"/>
            <a:ext cx="2560320" cy="420624"/>
          </a:xfrm>
          <a:prstGeom prst="roundRect">
            <a:avLst>
              <a:gd name="adj" fmla="val 10870"/>
            </a:avLst>
          </a:prstGeom>
          <a:solidFill>
            <a:schemeClr val="accent6"/>
          </a:solidFill>
          <a:ln/>
        </p:spPr>
        <p:txBody>
          <a:bodyPr wrap="square" lIns="0" tIns="0" rIns="0" bIns="0" rtlCol="0" anchor="ctr"/>
          <a:lstStyle/>
          <a:p>
            <a:pPr marL="0" indent="0" algn="ctr">
              <a:buNone/>
            </a:pPr>
            <a:r>
              <a:rPr lang="en-US" sz="1400" b="1" dirty="0">
                <a:solidFill>
                  <a:schemeClr val="tx1"/>
                </a:solidFill>
              </a:rPr>
              <a:t>Eat your breakfast</a:t>
            </a:r>
            <a:endParaRPr lang="en-US" sz="1400" dirty="0"/>
          </a:p>
        </p:txBody>
      </p:sp>
      <p:sp>
        <p:nvSpPr>
          <p:cNvPr id="18" name="Shape 15"/>
          <p:cNvSpPr/>
          <p:nvPr/>
        </p:nvSpPr>
        <p:spPr>
          <a:xfrm>
            <a:off x="7040880" y="3931920"/>
            <a:ext cx="0" cy="182880"/>
          </a:xfrm>
          <a:prstGeom prst="line">
            <a:avLst/>
          </a:prstGeom>
          <a:noFill/>
          <a:ln w="22225">
            <a:solidFill>
              <a:schemeClr val="tx2"/>
            </a:solidFill>
            <a:prstDash val="solid"/>
            <a:tailEnd type="triangle"/>
          </a:ln>
        </p:spPr>
      </p:sp>
      <p:sp>
        <p:nvSpPr>
          <p:cNvPr id="19" name="Flowchart step"/>
          <p:cNvSpPr txBox="1"/>
          <p:nvPr/>
        </p:nvSpPr>
        <p:spPr>
          <a:xfrm>
            <a:off x="5760720" y="4114800"/>
            <a:ext cx="2560320" cy="420624"/>
          </a:xfrm>
          <a:prstGeom prst="roundRect">
            <a:avLst>
              <a:gd name="adj" fmla="val 50000"/>
            </a:avLst>
          </a:prstGeom>
          <a:solidFill>
            <a:schemeClr val="accent6"/>
          </a:solidFill>
          <a:ln/>
        </p:spPr>
        <p:txBody>
          <a:bodyPr wrap="square" lIns="0" tIns="0" rIns="0" bIns="0" rtlCol="0" anchor="ctr"/>
          <a:lstStyle/>
          <a:p>
            <a:pPr marL="0" indent="0" algn="ctr">
              <a:buNone/>
            </a:pPr>
            <a:r>
              <a:rPr lang="en-US" sz="1400" b="1" dirty="0">
                <a:solidFill>
                  <a:schemeClr val="tx1"/>
                </a:solidFill>
              </a:rPr>
              <a:t>End</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1"/>
                </a:solidFill>
              </a:rPr>
              <a:t>Selection: choosing what to run</a:t>
            </a:r>
            <a:endParaRPr lang="en-US" sz="3000" dirty="0"/>
          </a:p>
        </p:txBody>
      </p:sp>
      <p:sp>
        <p:nvSpPr>
          <p:cNvPr id="3" name="Text 1"/>
          <p:cNvSpPr txBox="1"/>
          <p:nvPr/>
        </p:nvSpPr>
        <p:spPr>
          <a:xfrm>
            <a:off x="457200" y="1143000"/>
            <a:ext cx="3566160" cy="1737360"/>
          </a:xfrm>
          <a:prstGeom prst="rect">
            <a:avLst/>
          </a:prstGeom>
          <a:noFill/>
          <a:ln/>
        </p:spPr>
        <p:txBody>
          <a:bodyPr wrap="square" lIns="0" tIns="0" rIns="0" bIns="0" rtlCol="0" anchor="t"/>
          <a:lstStyle/>
          <a:p>
            <a:pPr marL="0" indent="0">
              <a:buNone/>
            </a:pPr>
            <a:r>
              <a:rPr lang="en-US" sz="1400" dirty="0">
                <a:solidFill>
                  <a:schemeClr val="tx1"/>
                </a:solidFill>
              </a:rPr>
              <a:t>Selection means choosing which commands to run. A conditional statement runs one set of instructions or another, depending on whether a condition is true or false.</a:t>
            </a:r>
            <a:endParaRPr lang="en-US" sz="1400" dirty="0"/>
          </a:p>
        </p:txBody>
      </p:sp>
      <p:sp>
        <p:nvSpPr>
          <p:cNvPr id="4" name="Example 1"/>
          <p:cNvSpPr/>
          <p:nvPr/>
        </p:nvSpPr>
        <p:spPr>
          <a:xfrm>
            <a:off x="457200" y="3017520"/>
            <a:ext cx="3566160" cy="640080"/>
          </a:xfrm>
          <a:prstGeom prst="roundRect">
            <a:avLst>
              <a:gd name="adj" fmla="val 17143"/>
            </a:avLst>
          </a:prstGeom>
          <a:solidFill>
            <a:schemeClr val="bg2"/>
          </a:solidFill>
          <a:ln/>
        </p:spPr>
      </p:sp>
      <p:sp>
        <p:nvSpPr>
          <p:cNvPr id="5" name="Text 3"/>
          <p:cNvSpPr txBox="1"/>
          <p:nvPr/>
        </p:nvSpPr>
        <p:spPr>
          <a:xfrm>
            <a:off x="594360" y="3017520"/>
            <a:ext cx="3291840" cy="640080"/>
          </a:xfrm>
          <a:prstGeom prst="rect">
            <a:avLst/>
          </a:prstGeom>
          <a:noFill/>
          <a:ln/>
        </p:spPr>
        <p:txBody>
          <a:bodyPr wrap="square" lIns="0" tIns="0" rIns="0" bIns="0" rtlCol="0" anchor="ctr"/>
          <a:lstStyle/>
          <a:p>
            <a:pPr marL="0" indent="0">
              <a:buNone/>
            </a:pPr>
            <a:r>
              <a:rPr lang="en-US" sz="1300" dirty="0">
                <a:solidFill>
                  <a:schemeClr val="tx1"/>
                </a:solidFill>
              </a:rPr>
              <a:t>User picks 7 → condition is true → “one-digit number”</a:t>
            </a:r>
            <a:endParaRPr lang="en-US" sz="1300" dirty="0"/>
          </a:p>
        </p:txBody>
      </p:sp>
      <p:sp>
        <p:nvSpPr>
          <p:cNvPr id="6" name="Example 2"/>
          <p:cNvSpPr/>
          <p:nvPr/>
        </p:nvSpPr>
        <p:spPr>
          <a:xfrm>
            <a:off x="457200" y="3794760"/>
            <a:ext cx="3566160" cy="640080"/>
          </a:xfrm>
          <a:prstGeom prst="roundRect">
            <a:avLst>
              <a:gd name="adj" fmla="val 17143"/>
            </a:avLst>
          </a:prstGeom>
          <a:solidFill>
            <a:schemeClr val="bg2"/>
          </a:solidFill>
          <a:ln/>
        </p:spPr>
      </p:sp>
      <p:sp>
        <p:nvSpPr>
          <p:cNvPr id="7" name="Text 5"/>
          <p:cNvSpPr txBox="1"/>
          <p:nvPr/>
        </p:nvSpPr>
        <p:spPr>
          <a:xfrm>
            <a:off x="594360" y="3794760"/>
            <a:ext cx="3291840" cy="640080"/>
          </a:xfrm>
          <a:prstGeom prst="rect">
            <a:avLst/>
          </a:prstGeom>
          <a:noFill/>
          <a:ln/>
        </p:spPr>
        <p:txBody>
          <a:bodyPr wrap="square" lIns="0" tIns="0" rIns="0" bIns="0" rtlCol="0" anchor="ctr"/>
          <a:lstStyle/>
          <a:p>
            <a:pPr marL="0" indent="0">
              <a:buNone/>
            </a:pPr>
            <a:r>
              <a:rPr lang="en-US" sz="1300" dirty="0">
                <a:solidFill>
                  <a:schemeClr val="tx1"/>
                </a:solidFill>
              </a:rPr>
              <a:t>User picks 15 → condition is false → “two-digit number”</a:t>
            </a:r>
            <a:endParaRPr lang="en-US" sz="1300" dirty="0"/>
          </a:p>
        </p:txBody>
      </p:sp>
      <p:sp>
        <p:nvSpPr>
          <p:cNvPr id="8" name="Blocks panel"/>
          <p:cNvSpPr/>
          <p:nvPr/>
        </p:nvSpPr>
        <p:spPr>
          <a:xfrm>
            <a:off x="4160520" y="1097280"/>
            <a:ext cx="4526280" cy="3520440"/>
          </a:xfrm>
          <a:prstGeom prst="roundRect">
            <a:avLst>
              <a:gd name="adj" fmla="val 3117"/>
            </a:avLst>
          </a:prstGeom>
          <a:solidFill>
            <a:schemeClr val="bg2"/>
          </a:solidFill>
          <a:ln/>
        </p:spPr>
      </p:sp>
      <p:sp>
        <p:nvSpPr>
          <p:cNvPr id="9" name="Scratch block"/>
          <p:cNvSpPr/>
          <p:nvPr/>
        </p:nvSpPr>
        <p:spPr>
          <a:xfrm>
            <a:off x="4297680" y="1234440"/>
            <a:ext cx="1650492" cy="365760"/>
          </a:xfrm>
          <a:prstGeom prst="roundRect">
            <a:avLst>
              <a:gd name="adj" fmla="val 17500"/>
            </a:avLst>
          </a:prstGeom>
          <a:solidFill>
            <a:schemeClr val="accent6"/>
          </a:solidFill>
          <a:ln w="9525">
            <a:solidFill>
              <a:schemeClr val="bg1"/>
            </a:solidFill>
            <a:prstDash val="solid"/>
          </a:ln>
        </p:spPr>
      </p:sp>
      <p:sp>
        <p:nvSpPr>
          <p:cNvPr id="10" name="Text 8"/>
          <p:cNvSpPr txBox="1"/>
          <p:nvPr/>
        </p:nvSpPr>
        <p:spPr>
          <a:xfrm>
            <a:off x="4416552" y="1234440"/>
            <a:ext cx="374904" cy="365760"/>
          </a:xfrm>
          <a:prstGeom prst="rect">
            <a:avLst/>
          </a:prstGeom>
          <a:noFill/>
          <a:ln/>
        </p:spPr>
        <p:txBody>
          <a:bodyPr wrap="none" lIns="0" tIns="0" rIns="0" bIns="0" rtlCol="0" anchor="ctr"/>
          <a:lstStyle/>
          <a:p>
            <a:pPr marL="0" indent="0">
              <a:buNone/>
            </a:pPr>
            <a:r>
              <a:rPr lang="en-US" sz="1200" b="1" dirty="0">
                <a:solidFill>
                  <a:srgbClr val="1F2A44"/>
                </a:solidFill>
              </a:rPr>
              <a:t>when</a:t>
            </a:r>
            <a:endParaRPr lang="en-US" sz="1200" dirty="0"/>
          </a:p>
        </p:txBody>
      </p:sp>
      <p:pic>
        <p:nvPicPr>
          <p:cNvPr id="11" name="Image 0" descr="green flag"/>
          <p:cNvPicPr>
            <a:picLocks noChangeAspect="1"/>
          </p:cNvPicPr>
          <p:nvPr/>
        </p:nvPicPr>
        <p:blipFill>
          <a:blip r:embed="rId3"/>
          <a:stretch>
            <a:fillRect/>
          </a:stretch>
        </p:blipFill>
        <p:spPr>
          <a:xfrm>
            <a:off x="4882896" y="1307592"/>
            <a:ext cx="219456" cy="219456"/>
          </a:xfrm>
          <a:prstGeom prst="rect">
            <a:avLst/>
          </a:prstGeom>
        </p:spPr>
      </p:pic>
      <p:sp>
        <p:nvSpPr>
          <p:cNvPr id="12" name="Text 9"/>
          <p:cNvSpPr txBox="1"/>
          <p:nvPr/>
        </p:nvSpPr>
        <p:spPr>
          <a:xfrm>
            <a:off x="5193792" y="1234440"/>
            <a:ext cx="635508" cy="365760"/>
          </a:xfrm>
          <a:prstGeom prst="rect">
            <a:avLst/>
          </a:prstGeom>
          <a:noFill/>
          <a:ln/>
        </p:spPr>
        <p:txBody>
          <a:bodyPr wrap="none" lIns="0" tIns="0" rIns="0" bIns="0" rtlCol="0" anchor="ctr"/>
          <a:lstStyle/>
          <a:p>
            <a:pPr marL="0" indent="0">
              <a:buNone/>
            </a:pPr>
            <a:r>
              <a:rPr lang="en-US" sz="1200" b="1" dirty="0">
                <a:solidFill>
                  <a:srgbClr val="1F2A44"/>
                </a:solidFill>
              </a:rPr>
              <a:t>clicked</a:t>
            </a:r>
            <a:endParaRPr lang="en-US" sz="1200" dirty="0"/>
          </a:p>
        </p:txBody>
      </p:sp>
      <p:sp>
        <p:nvSpPr>
          <p:cNvPr id="13" name="Scratch block"/>
          <p:cNvSpPr/>
          <p:nvPr/>
        </p:nvSpPr>
        <p:spPr>
          <a:xfrm>
            <a:off x="4297680" y="1664208"/>
            <a:ext cx="4216298" cy="365760"/>
          </a:xfrm>
          <a:prstGeom prst="roundRect">
            <a:avLst>
              <a:gd name="adj" fmla="val 17500"/>
            </a:avLst>
          </a:prstGeom>
          <a:solidFill>
            <a:schemeClr val="accent1"/>
          </a:solidFill>
          <a:ln w="9525">
            <a:solidFill>
              <a:schemeClr val="bg1"/>
            </a:solidFill>
            <a:prstDash val="solid"/>
          </a:ln>
        </p:spPr>
      </p:sp>
      <p:sp>
        <p:nvSpPr>
          <p:cNvPr id="14" name="Text 11"/>
          <p:cNvSpPr txBox="1"/>
          <p:nvPr/>
        </p:nvSpPr>
        <p:spPr>
          <a:xfrm>
            <a:off x="4416552" y="1664208"/>
            <a:ext cx="288036" cy="365760"/>
          </a:xfrm>
          <a:prstGeom prst="rect">
            <a:avLst/>
          </a:prstGeom>
          <a:noFill/>
          <a:ln/>
        </p:spPr>
        <p:txBody>
          <a:bodyPr wrap="none" lIns="0" tIns="0" rIns="0" bIns="0" rtlCol="0" anchor="ctr"/>
          <a:lstStyle/>
          <a:p>
            <a:pPr marL="0" indent="0">
              <a:buNone/>
            </a:pPr>
            <a:r>
              <a:rPr lang="en-US" sz="1200" b="1" dirty="0">
                <a:solidFill>
                  <a:srgbClr val="1F2A44"/>
                </a:solidFill>
              </a:rPr>
              <a:t>ask</a:t>
            </a:r>
            <a:endParaRPr lang="en-US" sz="1200" dirty="0"/>
          </a:p>
        </p:txBody>
      </p:sp>
      <p:sp>
        <p:nvSpPr>
          <p:cNvPr id="15" name="Text 12"/>
          <p:cNvSpPr txBox="1"/>
          <p:nvPr/>
        </p:nvSpPr>
        <p:spPr>
          <a:xfrm>
            <a:off x="4768596" y="1709928"/>
            <a:ext cx="2840126" cy="274320"/>
          </a:xfrm>
          <a:prstGeom prst="roundRect">
            <a:avLst>
              <a:gd name="adj" fmla="val 33333"/>
            </a:avLst>
          </a:prstGeom>
          <a:solidFill>
            <a:schemeClr val="bg1"/>
          </a:solidFill>
          <a:ln/>
        </p:spPr>
        <p:txBody>
          <a:bodyPr wrap="none" lIns="0" tIns="0" rIns="0" bIns="0" rtlCol="0" anchor="ctr"/>
          <a:lstStyle/>
          <a:p>
            <a:pPr marL="0" indent="0" algn="ctr">
              <a:buNone/>
            </a:pPr>
            <a:r>
              <a:rPr lang="en-US" sz="1100" dirty="0">
                <a:solidFill>
                  <a:schemeClr val="tx1"/>
                </a:solidFill>
              </a:rPr>
              <a:t>Pick a random number between 1 and 20</a:t>
            </a:r>
            <a:endParaRPr lang="en-US" sz="1100" dirty="0"/>
          </a:p>
        </p:txBody>
      </p:sp>
      <p:sp>
        <p:nvSpPr>
          <p:cNvPr id="16" name="Text 13"/>
          <p:cNvSpPr txBox="1"/>
          <p:nvPr/>
        </p:nvSpPr>
        <p:spPr>
          <a:xfrm>
            <a:off x="7672730" y="1664208"/>
            <a:ext cx="722376" cy="365760"/>
          </a:xfrm>
          <a:prstGeom prst="rect">
            <a:avLst/>
          </a:prstGeom>
          <a:noFill/>
          <a:ln/>
        </p:spPr>
        <p:txBody>
          <a:bodyPr wrap="none" lIns="0" tIns="0" rIns="0" bIns="0" rtlCol="0" anchor="ctr"/>
          <a:lstStyle/>
          <a:p>
            <a:pPr marL="0" indent="0">
              <a:buNone/>
            </a:pPr>
            <a:r>
              <a:rPr lang="en-US" sz="1200" b="1" dirty="0">
                <a:solidFill>
                  <a:srgbClr val="1F2A44"/>
                </a:solidFill>
              </a:rPr>
              <a:t>and wait</a:t>
            </a:r>
            <a:endParaRPr lang="en-US" sz="1200" dirty="0"/>
          </a:p>
        </p:txBody>
      </p:sp>
      <p:sp>
        <p:nvSpPr>
          <p:cNvPr id="17" name="Scratch block"/>
          <p:cNvSpPr/>
          <p:nvPr/>
        </p:nvSpPr>
        <p:spPr>
          <a:xfrm>
            <a:off x="4297680" y="2121408"/>
            <a:ext cx="4206240" cy="384048"/>
          </a:xfrm>
          <a:prstGeom prst="roundRect">
            <a:avLst>
              <a:gd name="adj" fmla="val 16667"/>
            </a:avLst>
          </a:prstGeom>
          <a:solidFill>
            <a:schemeClr val="accent2"/>
          </a:solidFill>
          <a:ln w="9525">
            <a:solidFill>
              <a:schemeClr val="bg1"/>
            </a:solidFill>
            <a:prstDash val="solid"/>
          </a:ln>
        </p:spPr>
      </p:sp>
      <p:sp>
        <p:nvSpPr>
          <p:cNvPr id="18" name="Text 15"/>
          <p:cNvSpPr txBox="1"/>
          <p:nvPr/>
        </p:nvSpPr>
        <p:spPr>
          <a:xfrm>
            <a:off x="4416552" y="2121408"/>
            <a:ext cx="201168" cy="384048"/>
          </a:xfrm>
          <a:prstGeom prst="rect">
            <a:avLst/>
          </a:prstGeom>
          <a:noFill/>
          <a:ln/>
        </p:spPr>
        <p:txBody>
          <a:bodyPr wrap="none" lIns="0" tIns="0" rIns="0" bIns="0" rtlCol="0" anchor="ctr"/>
          <a:lstStyle/>
          <a:p>
            <a:pPr marL="0" indent="0">
              <a:buNone/>
            </a:pPr>
            <a:r>
              <a:rPr lang="en-US" sz="1200" b="1" dirty="0">
                <a:solidFill>
                  <a:srgbClr val="1F2A44"/>
                </a:solidFill>
              </a:rPr>
              <a:t>if</a:t>
            </a:r>
            <a:endParaRPr lang="en-US" sz="1200" dirty="0"/>
          </a:p>
        </p:txBody>
      </p:sp>
      <p:sp>
        <p:nvSpPr>
          <p:cNvPr id="19" name="Text 16"/>
          <p:cNvSpPr txBox="1"/>
          <p:nvPr/>
        </p:nvSpPr>
        <p:spPr>
          <a:xfrm>
            <a:off x="4681728" y="2167128"/>
            <a:ext cx="985723" cy="292608"/>
          </a:xfrm>
          <a:prstGeom prst="roundRect">
            <a:avLst>
              <a:gd name="adj" fmla="val 31250"/>
            </a:avLst>
          </a:prstGeom>
          <a:solidFill>
            <a:schemeClr val="accent3"/>
          </a:solidFill>
          <a:ln/>
        </p:spPr>
        <p:txBody>
          <a:bodyPr wrap="none" lIns="0" tIns="0" rIns="0" bIns="0" rtlCol="0" anchor="ctr"/>
          <a:lstStyle/>
          <a:p>
            <a:pPr marL="0" indent="0" algn="ctr">
              <a:buNone/>
            </a:pPr>
            <a:r>
              <a:rPr lang="en-US" sz="1100" dirty="0">
                <a:solidFill>
                  <a:schemeClr val="tx1"/>
                </a:solidFill>
              </a:rPr>
              <a:t>answer &lt; 10</a:t>
            </a:r>
            <a:endParaRPr lang="en-US" sz="1100" dirty="0"/>
          </a:p>
        </p:txBody>
      </p:sp>
      <p:sp>
        <p:nvSpPr>
          <p:cNvPr id="20" name="Text 17"/>
          <p:cNvSpPr txBox="1"/>
          <p:nvPr/>
        </p:nvSpPr>
        <p:spPr>
          <a:xfrm>
            <a:off x="5731459" y="2121408"/>
            <a:ext cx="374904" cy="384048"/>
          </a:xfrm>
          <a:prstGeom prst="rect">
            <a:avLst/>
          </a:prstGeom>
          <a:noFill/>
          <a:ln/>
        </p:spPr>
        <p:txBody>
          <a:bodyPr wrap="none" lIns="0" tIns="0" rIns="0" bIns="0" rtlCol="0" anchor="ctr"/>
          <a:lstStyle/>
          <a:p>
            <a:pPr marL="0" indent="0">
              <a:buNone/>
            </a:pPr>
            <a:r>
              <a:rPr lang="en-US" sz="1200" b="1" dirty="0">
                <a:solidFill>
                  <a:srgbClr val="1F2A44"/>
                </a:solidFill>
              </a:rPr>
              <a:t>then</a:t>
            </a:r>
            <a:endParaRPr lang="en-US" sz="1200" dirty="0"/>
          </a:p>
        </p:txBody>
      </p:sp>
      <p:sp>
        <p:nvSpPr>
          <p:cNvPr id="21" name="Shape 18"/>
          <p:cNvSpPr/>
          <p:nvPr/>
        </p:nvSpPr>
        <p:spPr>
          <a:xfrm>
            <a:off x="4297680" y="2505456"/>
            <a:ext cx="219456" cy="493776"/>
          </a:xfrm>
          <a:prstGeom prst="rect">
            <a:avLst/>
          </a:prstGeom>
          <a:solidFill>
            <a:schemeClr val="accent2"/>
          </a:solidFill>
          <a:ln/>
        </p:spPr>
      </p:sp>
      <p:sp>
        <p:nvSpPr>
          <p:cNvPr id="22" name="Scratch block"/>
          <p:cNvSpPr/>
          <p:nvPr/>
        </p:nvSpPr>
        <p:spPr>
          <a:xfrm>
            <a:off x="4517136" y="2542032"/>
            <a:ext cx="3986784" cy="347472"/>
          </a:xfrm>
          <a:prstGeom prst="roundRect">
            <a:avLst>
              <a:gd name="adj" fmla="val 18421"/>
            </a:avLst>
          </a:prstGeom>
          <a:solidFill>
            <a:schemeClr val="accent4"/>
          </a:solidFill>
          <a:ln w="9525">
            <a:solidFill>
              <a:schemeClr val="bg1"/>
            </a:solidFill>
            <a:prstDash val="solid"/>
          </a:ln>
        </p:spPr>
      </p:sp>
      <p:sp>
        <p:nvSpPr>
          <p:cNvPr id="23" name="Text 20"/>
          <p:cNvSpPr txBox="1"/>
          <p:nvPr/>
        </p:nvSpPr>
        <p:spPr>
          <a:xfrm>
            <a:off x="4636008" y="2542032"/>
            <a:ext cx="288036" cy="347472"/>
          </a:xfrm>
          <a:prstGeom prst="rect">
            <a:avLst/>
          </a:prstGeom>
          <a:noFill/>
          <a:ln/>
        </p:spPr>
        <p:txBody>
          <a:bodyPr wrap="none" lIns="0" tIns="0" rIns="0" bIns="0" rtlCol="0" anchor="ctr"/>
          <a:lstStyle/>
          <a:p>
            <a:pPr marL="0" indent="0">
              <a:buNone/>
            </a:pPr>
            <a:r>
              <a:rPr lang="en-US" sz="1200" b="1" dirty="0">
                <a:solidFill>
                  <a:schemeClr val="bg1"/>
                </a:solidFill>
              </a:rPr>
              <a:t>say</a:t>
            </a:r>
            <a:endParaRPr lang="en-US" sz="1200" dirty="0"/>
          </a:p>
        </p:txBody>
      </p:sp>
      <p:sp>
        <p:nvSpPr>
          <p:cNvPr id="24" name="Text 21"/>
          <p:cNvSpPr txBox="1"/>
          <p:nvPr/>
        </p:nvSpPr>
        <p:spPr>
          <a:xfrm>
            <a:off x="4988052" y="2587752"/>
            <a:ext cx="2269541" cy="256032"/>
          </a:xfrm>
          <a:prstGeom prst="roundRect">
            <a:avLst>
              <a:gd name="adj" fmla="val 35714"/>
            </a:avLst>
          </a:prstGeom>
          <a:solidFill>
            <a:schemeClr val="bg1"/>
          </a:solidFill>
          <a:ln/>
        </p:spPr>
        <p:txBody>
          <a:bodyPr wrap="none" lIns="0" tIns="0" rIns="0" bIns="0" rtlCol="0" anchor="ctr"/>
          <a:lstStyle/>
          <a:p>
            <a:pPr marL="0" indent="0" algn="ctr">
              <a:buNone/>
            </a:pPr>
            <a:r>
              <a:rPr lang="en-US" sz="1100" dirty="0">
                <a:solidFill>
                  <a:schemeClr val="tx1"/>
                </a:solidFill>
              </a:rPr>
              <a:t>You picked a one-digit number</a:t>
            </a:r>
            <a:endParaRPr lang="en-US" sz="1100" dirty="0"/>
          </a:p>
        </p:txBody>
      </p:sp>
      <p:sp>
        <p:nvSpPr>
          <p:cNvPr id="25" name="Text 22"/>
          <p:cNvSpPr txBox="1"/>
          <p:nvPr/>
        </p:nvSpPr>
        <p:spPr>
          <a:xfrm>
            <a:off x="7321601" y="2542032"/>
            <a:ext cx="288036" cy="347472"/>
          </a:xfrm>
          <a:prstGeom prst="rect">
            <a:avLst/>
          </a:prstGeom>
          <a:noFill/>
          <a:ln/>
        </p:spPr>
        <p:txBody>
          <a:bodyPr wrap="none" lIns="0" tIns="0" rIns="0" bIns="0" rtlCol="0" anchor="ctr"/>
          <a:lstStyle/>
          <a:p>
            <a:pPr marL="0" indent="0">
              <a:buNone/>
            </a:pPr>
            <a:r>
              <a:rPr lang="en-US" sz="1200" b="1" dirty="0">
                <a:solidFill>
                  <a:schemeClr val="bg1"/>
                </a:solidFill>
              </a:rPr>
              <a:t>for</a:t>
            </a:r>
            <a:endParaRPr lang="en-US" sz="1200" dirty="0"/>
          </a:p>
        </p:txBody>
      </p:sp>
      <p:sp>
        <p:nvSpPr>
          <p:cNvPr id="26" name="Text 23"/>
          <p:cNvSpPr txBox="1"/>
          <p:nvPr/>
        </p:nvSpPr>
        <p:spPr>
          <a:xfrm>
            <a:off x="7673645" y="2587752"/>
            <a:ext cx="272491" cy="256032"/>
          </a:xfrm>
          <a:prstGeom prst="roundRect">
            <a:avLst>
              <a:gd name="adj" fmla="val 35714"/>
            </a:avLst>
          </a:prstGeom>
          <a:solidFill>
            <a:schemeClr val="bg1"/>
          </a:solidFill>
          <a:ln/>
        </p:spPr>
        <p:txBody>
          <a:bodyPr wrap="none" lIns="0" tIns="0" rIns="0" bIns="0" rtlCol="0" anchor="ctr"/>
          <a:lstStyle/>
          <a:p>
            <a:pPr marL="0" indent="0" algn="ctr">
              <a:buNone/>
            </a:pPr>
            <a:r>
              <a:rPr lang="en-US" sz="1100" dirty="0">
                <a:solidFill>
                  <a:schemeClr val="tx1"/>
                </a:solidFill>
              </a:rPr>
              <a:t>2</a:t>
            </a:r>
            <a:endParaRPr lang="en-US" sz="1100" dirty="0"/>
          </a:p>
        </p:txBody>
      </p:sp>
      <p:sp>
        <p:nvSpPr>
          <p:cNvPr id="27" name="Text 24"/>
          <p:cNvSpPr txBox="1"/>
          <p:nvPr/>
        </p:nvSpPr>
        <p:spPr>
          <a:xfrm>
            <a:off x="8010144" y="2542032"/>
            <a:ext cx="374904" cy="347472"/>
          </a:xfrm>
          <a:prstGeom prst="rect">
            <a:avLst/>
          </a:prstGeom>
          <a:noFill/>
          <a:ln/>
        </p:spPr>
        <p:txBody>
          <a:bodyPr wrap="none" lIns="0" tIns="0" rIns="0" bIns="0" rtlCol="0" anchor="ctr"/>
          <a:lstStyle/>
          <a:p>
            <a:pPr marL="0" indent="0">
              <a:buNone/>
            </a:pPr>
            <a:r>
              <a:rPr lang="en-US" sz="1200" b="1" dirty="0">
                <a:solidFill>
                  <a:schemeClr val="bg1"/>
                </a:solidFill>
              </a:rPr>
              <a:t>secs</a:t>
            </a:r>
            <a:endParaRPr lang="en-US" sz="1200" dirty="0"/>
          </a:p>
        </p:txBody>
      </p:sp>
      <p:sp>
        <p:nvSpPr>
          <p:cNvPr id="28" name="Scratch block"/>
          <p:cNvSpPr/>
          <p:nvPr/>
        </p:nvSpPr>
        <p:spPr>
          <a:xfrm>
            <a:off x="4297680" y="2999232"/>
            <a:ext cx="4206240" cy="384048"/>
          </a:xfrm>
          <a:prstGeom prst="roundRect">
            <a:avLst>
              <a:gd name="adj" fmla="val 16667"/>
            </a:avLst>
          </a:prstGeom>
          <a:solidFill>
            <a:schemeClr val="accent2"/>
          </a:solidFill>
          <a:ln w="9525">
            <a:solidFill>
              <a:schemeClr val="bg1"/>
            </a:solidFill>
            <a:prstDash val="solid"/>
          </a:ln>
        </p:spPr>
      </p:sp>
      <p:sp>
        <p:nvSpPr>
          <p:cNvPr id="29" name="Text 26"/>
          <p:cNvSpPr txBox="1"/>
          <p:nvPr/>
        </p:nvSpPr>
        <p:spPr>
          <a:xfrm>
            <a:off x="4416552" y="2999232"/>
            <a:ext cx="374904" cy="384048"/>
          </a:xfrm>
          <a:prstGeom prst="rect">
            <a:avLst/>
          </a:prstGeom>
          <a:noFill/>
          <a:ln/>
        </p:spPr>
        <p:txBody>
          <a:bodyPr wrap="none" lIns="0" tIns="0" rIns="0" bIns="0" rtlCol="0" anchor="ctr"/>
          <a:lstStyle/>
          <a:p>
            <a:pPr marL="0" indent="0">
              <a:buNone/>
            </a:pPr>
            <a:r>
              <a:rPr lang="en-US" sz="1200" b="1" dirty="0">
                <a:solidFill>
                  <a:srgbClr val="1F2A44"/>
                </a:solidFill>
              </a:rPr>
              <a:t>else</a:t>
            </a:r>
            <a:endParaRPr lang="en-US" sz="1200" dirty="0"/>
          </a:p>
        </p:txBody>
      </p:sp>
      <p:sp>
        <p:nvSpPr>
          <p:cNvPr id="30" name="Shape 27"/>
          <p:cNvSpPr/>
          <p:nvPr/>
        </p:nvSpPr>
        <p:spPr>
          <a:xfrm>
            <a:off x="4297680" y="3383280"/>
            <a:ext cx="219456" cy="493776"/>
          </a:xfrm>
          <a:prstGeom prst="rect">
            <a:avLst/>
          </a:prstGeom>
          <a:solidFill>
            <a:schemeClr val="accent2"/>
          </a:solidFill>
          <a:ln/>
        </p:spPr>
      </p:sp>
      <p:sp>
        <p:nvSpPr>
          <p:cNvPr id="31" name="Scratch block"/>
          <p:cNvSpPr/>
          <p:nvPr/>
        </p:nvSpPr>
        <p:spPr>
          <a:xfrm>
            <a:off x="4517136" y="3419856"/>
            <a:ext cx="3986784" cy="347472"/>
          </a:xfrm>
          <a:prstGeom prst="roundRect">
            <a:avLst>
              <a:gd name="adj" fmla="val 18421"/>
            </a:avLst>
          </a:prstGeom>
          <a:solidFill>
            <a:schemeClr val="accent4"/>
          </a:solidFill>
          <a:ln w="9525">
            <a:solidFill>
              <a:schemeClr val="bg1"/>
            </a:solidFill>
            <a:prstDash val="solid"/>
          </a:ln>
        </p:spPr>
      </p:sp>
      <p:sp>
        <p:nvSpPr>
          <p:cNvPr id="32" name="Text 29"/>
          <p:cNvSpPr txBox="1"/>
          <p:nvPr/>
        </p:nvSpPr>
        <p:spPr>
          <a:xfrm>
            <a:off x="4636008" y="3419856"/>
            <a:ext cx="288036" cy="347472"/>
          </a:xfrm>
          <a:prstGeom prst="rect">
            <a:avLst/>
          </a:prstGeom>
          <a:noFill/>
          <a:ln/>
        </p:spPr>
        <p:txBody>
          <a:bodyPr wrap="none" lIns="0" tIns="0" rIns="0" bIns="0" rtlCol="0" anchor="ctr"/>
          <a:lstStyle/>
          <a:p>
            <a:pPr marL="0" indent="0">
              <a:buNone/>
            </a:pPr>
            <a:r>
              <a:rPr lang="en-US" sz="1200" b="1" dirty="0">
                <a:solidFill>
                  <a:schemeClr val="bg1"/>
                </a:solidFill>
              </a:rPr>
              <a:t>say</a:t>
            </a:r>
            <a:endParaRPr lang="en-US" sz="1200" dirty="0"/>
          </a:p>
        </p:txBody>
      </p:sp>
      <p:sp>
        <p:nvSpPr>
          <p:cNvPr id="33" name="Text 30"/>
          <p:cNvSpPr txBox="1"/>
          <p:nvPr/>
        </p:nvSpPr>
        <p:spPr>
          <a:xfrm>
            <a:off x="4988052" y="3465576"/>
            <a:ext cx="2269541" cy="256032"/>
          </a:xfrm>
          <a:prstGeom prst="roundRect">
            <a:avLst>
              <a:gd name="adj" fmla="val 35714"/>
            </a:avLst>
          </a:prstGeom>
          <a:solidFill>
            <a:schemeClr val="bg1"/>
          </a:solidFill>
          <a:ln/>
        </p:spPr>
        <p:txBody>
          <a:bodyPr wrap="none" lIns="0" tIns="0" rIns="0" bIns="0" rtlCol="0" anchor="ctr"/>
          <a:lstStyle/>
          <a:p>
            <a:pPr marL="0" indent="0" algn="ctr">
              <a:buNone/>
            </a:pPr>
            <a:r>
              <a:rPr lang="en-US" sz="1100" dirty="0">
                <a:solidFill>
                  <a:schemeClr val="tx1"/>
                </a:solidFill>
              </a:rPr>
              <a:t>You picked a two-digit number</a:t>
            </a:r>
            <a:endParaRPr lang="en-US" sz="1100" dirty="0"/>
          </a:p>
        </p:txBody>
      </p:sp>
      <p:sp>
        <p:nvSpPr>
          <p:cNvPr id="34" name="Text 31"/>
          <p:cNvSpPr txBox="1"/>
          <p:nvPr/>
        </p:nvSpPr>
        <p:spPr>
          <a:xfrm>
            <a:off x="7321601" y="3419856"/>
            <a:ext cx="288036" cy="347472"/>
          </a:xfrm>
          <a:prstGeom prst="rect">
            <a:avLst/>
          </a:prstGeom>
          <a:noFill/>
          <a:ln/>
        </p:spPr>
        <p:txBody>
          <a:bodyPr wrap="none" lIns="0" tIns="0" rIns="0" bIns="0" rtlCol="0" anchor="ctr"/>
          <a:lstStyle/>
          <a:p>
            <a:pPr marL="0" indent="0">
              <a:buNone/>
            </a:pPr>
            <a:r>
              <a:rPr lang="en-US" sz="1200" b="1" dirty="0">
                <a:solidFill>
                  <a:schemeClr val="bg1"/>
                </a:solidFill>
              </a:rPr>
              <a:t>for</a:t>
            </a:r>
            <a:endParaRPr lang="en-US" sz="1200" dirty="0"/>
          </a:p>
        </p:txBody>
      </p:sp>
      <p:sp>
        <p:nvSpPr>
          <p:cNvPr id="35" name="Text 32"/>
          <p:cNvSpPr txBox="1"/>
          <p:nvPr/>
        </p:nvSpPr>
        <p:spPr>
          <a:xfrm>
            <a:off x="7673645" y="3465576"/>
            <a:ext cx="272491" cy="256032"/>
          </a:xfrm>
          <a:prstGeom prst="roundRect">
            <a:avLst>
              <a:gd name="adj" fmla="val 35714"/>
            </a:avLst>
          </a:prstGeom>
          <a:solidFill>
            <a:schemeClr val="bg1"/>
          </a:solidFill>
          <a:ln/>
        </p:spPr>
        <p:txBody>
          <a:bodyPr wrap="none" lIns="0" tIns="0" rIns="0" bIns="0" rtlCol="0" anchor="ctr"/>
          <a:lstStyle/>
          <a:p>
            <a:pPr marL="0" indent="0" algn="ctr">
              <a:buNone/>
            </a:pPr>
            <a:r>
              <a:rPr lang="en-US" sz="1100" dirty="0">
                <a:solidFill>
                  <a:schemeClr val="tx1"/>
                </a:solidFill>
              </a:rPr>
              <a:t>2</a:t>
            </a:r>
            <a:endParaRPr lang="en-US" sz="1100" dirty="0"/>
          </a:p>
        </p:txBody>
      </p:sp>
      <p:sp>
        <p:nvSpPr>
          <p:cNvPr id="36" name="Text 33"/>
          <p:cNvSpPr txBox="1"/>
          <p:nvPr/>
        </p:nvSpPr>
        <p:spPr>
          <a:xfrm>
            <a:off x="8010144" y="3419856"/>
            <a:ext cx="374904" cy="347472"/>
          </a:xfrm>
          <a:prstGeom prst="rect">
            <a:avLst/>
          </a:prstGeom>
          <a:noFill/>
          <a:ln/>
        </p:spPr>
        <p:txBody>
          <a:bodyPr wrap="none" lIns="0" tIns="0" rIns="0" bIns="0" rtlCol="0" anchor="ctr"/>
          <a:lstStyle/>
          <a:p>
            <a:pPr marL="0" indent="0">
              <a:buNone/>
            </a:pPr>
            <a:r>
              <a:rPr lang="en-US" sz="1200" b="1" dirty="0">
                <a:solidFill>
                  <a:schemeClr val="bg1"/>
                </a:solidFill>
              </a:rPr>
              <a:t>secs</a:t>
            </a:r>
            <a:endParaRPr lang="en-US" sz="1200" dirty="0"/>
          </a:p>
        </p:txBody>
      </p:sp>
      <p:sp>
        <p:nvSpPr>
          <p:cNvPr id="37" name="Shape 34"/>
          <p:cNvSpPr/>
          <p:nvPr/>
        </p:nvSpPr>
        <p:spPr>
          <a:xfrm>
            <a:off x="4297680" y="3877056"/>
            <a:ext cx="4206240" cy="219456"/>
          </a:xfrm>
          <a:prstGeom prst="roundRect">
            <a:avLst>
              <a:gd name="adj" fmla="val 25000"/>
            </a:avLst>
          </a:prstGeom>
          <a:solidFill>
            <a:schemeClr val="accent2"/>
          </a:solidFill>
          <a:ln/>
        </p:spPr>
      </p:sp>
      <p:sp>
        <p:nvSpPr>
          <p:cNvPr id="38"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1"/>
                </a:solidFill>
              </a:rPr>
              <a:t>Iteration: repeating code</a:t>
            </a:r>
            <a:endParaRPr lang="en-US" sz="3000" dirty="0"/>
          </a:p>
        </p:txBody>
      </p:sp>
      <p:sp>
        <p:nvSpPr>
          <p:cNvPr id="3" name="Text 1"/>
          <p:cNvSpPr txBox="1"/>
          <p:nvPr/>
        </p:nvSpPr>
        <p:spPr>
          <a:xfrm>
            <a:off x="457200" y="1097280"/>
            <a:ext cx="8229600" cy="548640"/>
          </a:xfrm>
          <a:prstGeom prst="rect">
            <a:avLst/>
          </a:prstGeom>
          <a:noFill/>
          <a:ln/>
        </p:spPr>
        <p:txBody>
          <a:bodyPr wrap="square" lIns="0" tIns="0" rIns="0" bIns="0" rtlCol="0" anchor="t"/>
          <a:lstStyle/>
          <a:p>
            <a:pPr marL="0" indent="0">
              <a:buNone/>
            </a:pPr>
            <a:r>
              <a:rPr lang="en-US" sz="1500" dirty="0">
                <a:solidFill>
                  <a:schemeClr val="tx1"/>
                </a:solidFill>
              </a:rPr>
              <a:t>Iteration means repeating something. In Scratch we call iterators ‘repeat’ blocks or loops.  Which of these sequences use an iterator?</a:t>
            </a:r>
            <a:endParaRPr lang="en-US" sz="1500" dirty="0"/>
          </a:p>
        </p:txBody>
      </p:sp>
      <p:sp>
        <p:nvSpPr>
          <p:cNvPr id="4" name="Sequence A"/>
          <p:cNvSpPr/>
          <p:nvPr/>
        </p:nvSpPr>
        <p:spPr>
          <a:xfrm>
            <a:off x="457200" y="1783080"/>
            <a:ext cx="2651760" cy="2788920"/>
          </a:xfrm>
          <a:prstGeom prst="roundRect">
            <a:avLst>
              <a:gd name="adj" fmla="val 4138"/>
            </a:avLst>
          </a:prstGeom>
          <a:solidFill>
            <a:schemeClr val="bg2"/>
          </a:solidFill>
          <a:ln/>
        </p:spPr>
      </p:sp>
      <p:sp>
        <p:nvSpPr>
          <p:cNvPr id="5" name="Text 3"/>
          <p:cNvSpPr txBox="1"/>
          <p:nvPr/>
        </p:nvSpPr>
        <p:spPr>
          <a:xfrm>
            <a:off x="594360" y="1828800"/>
            <a:ext cx="365760" cy="320040"/>
          </a:xfrm>
          <a:prstGeom prst="rect">
            <a:avLst/>
          </a:prstGeom>
          <a:noFill/>
          <a:ln/>
        </p:spPr>
        <p:txBody>
          <a:bodyPr wrap="square" lIns="0" tIns="0" rIns="0" bIns="0" rtlCol="0" anchor="t"/>
          <a:lstStyle/>
          <a:p>
            <a:pPr marL="0" indent="0">
              <a:buNone/>
            </a:pPr>
            <a:r>
              <a:rPr lang="en-US" sz="1400" b="1" dirty="0">
                <a:solidFill>
                  <a:schemeClr val="tx1"/>
                </a:solidFill>
              </a:rPr>
              <a:t>A</a:t>
            </a:r>
            <a:endParaRPr lang="en-US" sz="1400" dirty="0"/>
          </a:p>
        </p:txBody>
      </p:sp>
      <p:sp>
        <p:nvSpPr>
          <p:cNvPr id="6" name="Scratch block"/>
          <p:cNvSpPr/>
          <p:nvPr/>
        </p:nvSpPr>
        <p:spPr>
          <a:xfrm>
            <a:off x="594360" y="2148840"/>
            <a:ext cx="1650492" cy="365760"/>
          </a:xfrm>
          <a:prstGeom prst="roundRect">
            <a:avLst>
              <a:gd name="adj" fmla="val 17500"/>
            </a:avLst>
          </a:prstGeom>
          <a:solidFill>
            <a:schemeClr val="accent6"/>
          </a:solidFill>
          <a:ln w="9525">
            <a:solidFill>
              <a:schemeClr val="bg1"/>
            </a:solidFill>
            <a:prstDash val="solid"/>
          </a:ln>
        </p:spPr>
      </p:sp>
      <p:sp>
        <p:nvSpPr>
          <p:cNvPr id="7" name="Text 5"/>
          <p:cNvSpPr txBox="1"/>
          <p:nvPr/>
        </p:nvSpPr>
        <p:spPr>
          <a:xfrm>
            <a:off x="713232" y="2148840"/>
            <a:ext cx="374904" cy="365760"/>
          </a:xfrm>
          <a:prstGeom prst="rect">
            <a:avLst/>
          </a:prstGeom>
          <a:noFill/>
          <a:ln/>
        </p:spPr>
        <p:txBody>
          <a:bodyPr wrap="none" lIns="0" tIns="0" rIns="0" bIns="0" rtlCol="0" anchor="ctr"/>
          <a:lstStyle/>
          <a:p>
            <a:pPr marL="0" indent="0">
              <a:buNone/>
            </a:pPr>
            <a:r>
              <a:rPr lang="en-US" sz="1200" b="1" dirty="0">
                <a:solidFill>
                  <a:srgbClr val="1F2A44"/>
                </a:solidFill>
              </a:rPr>
              <a:t>when</a:t>
            </a:r>
            <a:endParaRPr lang="en-US" sz="1200" dirty="0"/>
          </a:p>
        </p:txBody>
      </p:sp>
      <p:pic>
        <p:nvPicPr>
          <p:cNvPr id="8" name="Image 0" descr="green flag"/>
          <p:cNvPicPr>
            <a:picLocks noChangeAspect="1"/>
          </p:cNvPicPr>
          <p:nvPr/>
        </p:nvPicPr>
        <p:blipFill>
          <a:blip r:embed="rId3"/>
          <a:stretch>
            <a:fillRect/>
          </a:stretch>
        </p:blipFill>
        <p:spPr>
          <a:xfrm>
            <a:off x="1179576" y="2221992"/>
            <a:ext cx="219456" cy="219456"/>
          </a:xfrm>
          <a:prstGeom prst="rect">
            <a:avLst/>
          </a:prstGeom>
        </p:spPr>
      </p:pic>
      <p:sp>
        <p:nvSpPr>
          <p:cNvPr id="9" name="Text 6"/>
          <p:cNvSpPr txBox="1"/>
          <p:nvPr/>
        </p:nvSpPr>
        <p:spPr>
          <a:xfrm>
            <a:off x="1490472" y="2148840"/>
            <a:ext cx="635508" cy="365760"/>
          </a:xfrm>
          <a:prstGeom prst="rect">
            <a:avLst/>
          </a:prstGeom>
          <a:noFill/>
          <a:ln/>
        </p:spPr>
        <p:txBody>
          <a:bodyPr wrap="none" lIns="0" tIns="0" rIns="0" bIns="0" rtlCol="0" anchor="ctr"/>
          <a:lstStyle/>
          <a:p>
            <a:pPr marL="0" indent="0">
              <a:buNone/>
            </a:pPr>
            <a:r>
              <a:rPr lang="en-US" sz="1200" b="1" dirty="0">
                <a:solidFill>
                  <a:srgbClr val="1F2A44"/>
                </a:solidFill>
              </a:rPr>
              <a:t>clicked</a:t>
            </a:r>
            <a:endParaRPr lang="en-US" sz="1200" dirty="0"/>
          </a:p>
        </p:txBody>
      </p:sp>
      <p:sp>
        <p:nvSpPr>
          <p:cNvPr id="10" name="Sequence B"/>
          <p:cNvSpPr/>
          <p:nvPr/>
        </p:nvSpPr>
        <p:spPr>
          <a:xfrm>
            <a:off x="3246120" y="1783080"/>
            <a:ext cx="2651760" cy="2788920"/>
          </a:xfrm>
          <a:prstGeom prst="roundRect">
            <a:avLst>
              <a:gd name="adj" fmla="val 4138"/>
            </a:avLst>
          </a:prstGeom>
          <a:solidFill>
            <a:schemeClr val="bg2"/>
          </a:solidFill>
          <a:ln/>
        </p:spPr>
      </p:sp>
      <p:sp>
        <p:nvSpPr>
          <p:cNvPr id="11" name="Text 8"/>
          <p:cNvSpPr txBox="1"/>
          <p:nvPr/>
        </p:nvSpPr>
        <p:spPr>
          <a:xfrm>
            <a:off x="3383280" y="1828800"/>
            <a:ext cx="365760" cy="320040"/>
          </a:xfrm>
          <a:prstGeom prst="rect">
            <a:avLst/>
          </a:prstGeom>
          <a:noFill/>
          <a:ln/>
        </p:spPr>
        <p:txBody>
          <a:bodyPr wrap="square" lIns="0" tIns="0" rIns="0" bIns="0" rtlCol="0" anchor="t"/>
          <a:lstStyle/>
          <a:p>
            <a:pPr marL="0" indent="0">
              <a:buNone/>
            </a:pPr>
            <a:r>
              <a:rPr lang="en-US" sz="1400" b="1" dirty="0">
                <a:solidFill>
                  <a:schemeClr val="tx1"/>
                </a:solidFill>
              </a:rPr>
              <a:t>B</a:t>
            </a:r>
            <a:endParaRPr lang="en-US" sz="1400" dirty="0"/>
          </a:p>
        </p:txBody>
      </p:sp>
      <p:sp>
        <p:nvSpPr>
          <p:cNvPr id="12" name="Scratch block"/>
          <p:cNvSpPr/>
          <p:nvPr/>
        </p:nvSpPr>
        <p:spPr>
          <a:xfrm>
            <a:off x="3383280" y="2148840"/>
            <a:ext cx="1650492" cy="365760"/>
          </a:xfrm>
          <a:prstGeom prst="roundRect">
            <a:avLst>
              <a:gd name="adj" fmla="val 17500"/>
            </a:avLst>
          </a:prstGeom>
          <a:solidFill>
            <a:schemeClr val="accent6"/>
          </a:solidFill>
          <a:ln w="9525">
            <a:solidFill>
              <a:schemeClr val="bg1"/>
            </a:solidFill>
            <a:prstDash val="solid"/>
          </a:ln>
        </p:spPr>
      </p:sp>
      <p:sp>
        <p:nvSpPr>
          <p:cNvPr id="13" name="Text 10"/>
          <p:cNvSpPr txBox="1"/>
          <p:nvPr/>
        </p:nvSpPr>
        <p:spPr>
          <a:xfrm>
            <a:off x="3502152" y="2148840"/>
            <a:ext cx="374904" cy="365760"/>
          </a:xfrm>
          <a:prstGeom prst="rect">
            <a:avLst/>
          </a:prstGeom>
          <a:noFill/>
          <a:ln/>
        </p:spPr>
        <p:txBody>
          <a:bodyPr wrap="none" lIns="0" tIns="0" rIns="0" bIns="0" rtlCol="0" anchor="ctr"/>
          <a:lstStyle/>
          <a:p>
            <a:pPr marL="0" indent="0">
              <a:buNone/>
            </a:pPr>
            <a:r>
              <a:rPr lang="en-US" sz="1200" b="1" dirty="0">
                <a:solidFill>
                  <a:srgbClr val="1F2A44"/>
                </a:solidFill>
              </a:rPr>
              <a:t>when</a:t>
            </a:r>
            <a:endParaRPr lang="en-US" sz="1200" dirty="0"/>
          </a:p>
        </p:txBody>
      </p:sp>
      <p:pic>
        <p:nvPicPr>
          <p:cNvPr id="14" name="Image 1" descr="green flag"/>
          <p:cNvPicPr>
            <a:picLocks noChangeAspect="1"/>
          </p:cNvPicPr>
          <p:nvPr/>
        </p:nvPicPr>
        <p:blipFill>
          <a:blip r:embed="rId3"/>
          <a:stretch>
            <a:fillRect/>
          </a:stretch>
        </p:blipFill>
        <p:spPr>
          <a:xfrm>
            <a:off x="3968496" y="2221992"/>
            <a:ext cx="219456" cy="219456"/>
          </a:xfrm>
          <a:prstGeom prst="rect">
            <a:avLst/>
          </a:prstGeom>
        </p:spPr>
      </p:pic>
      <p:sp>
        <p:nvSpPr>
          <p:cNvPr id="15" name="Text 11"/>
          <p:cNvSpPr txBox="1"/>
          <p:nvPr/>
        </p:nvSpPr>
        <p:spPr>
          <a:xfrm>
            <a:off x="4279392" y="2148840"/>
            <a:ext cx="635508" cy="365760"/>
          </a:xfrm>
          <a:prstGeom prst="rect">
            <a:avLst/>
          </a:prstGeom>
          <a:noFill/>
          <a:ln/>
        </p:spPr>
        <p:txBody>
          <a:bodyPr wrap="none" lIns="0" tIns="0" rIns="0" bIns="0" rtlCol="0" anchor="ctr"/>
          <a:lstStyle/>
          <a:p>
            <a:pPr marL="0" indent="0">
              <a:buNone/>
            </a:pPr>
            <a:r>
              <a:rPr lang="en-US" sz="1200" b="1" dirty="0">
                <a:solidFill>
                  <a:srgbClr val="1F2A44"/>
                </a:solidFill>
              </a:rPr>
              <a:t>clicked</a:t>
            </a:r>
            <a:endParaRPr lang="en-US" sz="1200" dirty="0"/>
          </a:p>
        </p:txBody>
      </p:sp>
      <p:sp>
        <p:nvSpPr>
          <p:cNvPr id="16" name="Sequence C"/>
          <p:cNvSpPr/>
          <p:nvPr/>
        </p:nvSpPr>
        <p:spPr>
          <a:xfrm>
            <a:off x="6035040" y="1783080"/>
            <a:ext cx="2651760" cy="2788920"/>
          </a:xfrm>
          <a:prstGeom prst="roundRect">
            <a:avLst>
              <a:gd name="adj" fmla="val 4138"/>
            </a:avLst>
          </a:prstGeom>
          <a:solidFill>
            <a:schemeClr val="bg2"/>
          </a:solidFill>
          <a:ln/>
        </p:spPr>
      </p:sp>
      <p:sp>
        <p:nvSpPr>
          <p:cNvPr id="17" name="Text 13"/>
          <p:cNvSpPr txBox="1"/>
          <p:nvPr/>
        </p:nvSpPr>
        <p:spPr>
          <a:xfrm>
            <a:off x="6172200" y="1828800"/>
            <a:ext cx="365760" cy="320040"/>
          </a:xfrm>
          <a:prstGeom prst="rect">
            <a:avLst/>
          </a:prstGeom>
          <a:noFill/>
          <a:ln/>
        </p:spPr>
        <p:txBody>
          <a:bodyPr wrap="square" lIns="0" tIns="0" rIns="0" bIns="0" rtlCol="0" anchor="t"/>
          <a:lstStyle/>
          <a:p>
            <a:pPr marL="0" indent="0">
              <a:buNone/>
            </a:pPr>
            <a:r>
              <a:rPr lang="en-US" sz="1400" b="1" dirty="0">
                <a:solidFill>
                  <a:schemeClr val="tx1"/>
                </a:solidFill>
              </a:rPr>
              <a:t>C</a:t>
            </a:r>
            <a:endParaRPr lang="en-US" sz="1400" dirty="0"/>
          </a:p>
        </p:txBody>
      </p:sp>
      <p:sp>
        <p:nvSpPr>
          <p:cNvPr id="18" name="Scratch block"/>
          <p:cNvSpPr/>
          <p:nvPr/>
        </p:nvSpPr>
        <p:spPr>
          <a:xfrm>
            <a:off x="6172200" y="2148840"/>
            <a:ext cx="1650492" cy="365760"/>
          </a:xfrm>
          <a:prstGeom prst="roundRect">
            <a:avLst>
              <a:gd name="adj" fmla="val 17500"/>
            </a:avLst>
          </a:prstGeom>
          <a:solidFill>
            <a:schemeClr val="accent6"/>
          </a:solidFill>
          <a:ln w="9525">
            <a:solidFill>
              <a:schemeClr val="bg1"/>
            </a:solidFill>
            <a:prstDash val="solid"/>
          </a:ln>
        </p:spPr>
      </p:sp>
      <p:sp>
        <p:nvSpPr>
          <p:cNvPr id="19" name="Text 15"/>
          <p:cNvSpPr txBox="1"/>
          <p:nvPr/>
        </p:nvSpPr>
        <p:spPr>
          <a:xfrm>
            <a:off x="6291072" y="2148840"/>
            <a:ext cx="374904" cy="365760"/>
          </a:xfrm>
          <a:prstGeom prst="rect">
            <a:avLst/>
          </a:prstGeom>
          <a:noFill/>
          <a:ln/>
        </p:spPr>
        <p:txBody>
          <a:bodyPr wrap="none" lIns="0" tIns="0" rIns="0" bIns="0" rtlCol="0" anchor="ctr"/>
          <a:lstStyle/>
          <a:p>
            <a:pPr marL="0" indent="0">
              <a:buNone/>
            </a:pPr>
            <a:r>
              <a:rPr lang="en-US" sz="1200" b="1" dirty="0">
                <a:solidFill>
                  <a:srgbClr val="1F2A44"/>
                </a:solidFill>
              </a:rPr>
              <a:t>when</a:t>
            </a:r>
            <a:endParaRPr lang="en-US" sz="1200" dirty="0"/>
          </a:p>
        </p:txBody>
      </p:sp>
      <p:pic>
        <p:nvPicPr>
          <p:cNvPr id="20" name="Image 2" descr="green flag"/>
          <p:cNvPicPr>
            <a:picLocks noChangeAspect="1"/>
          </p:cNvPicPr>
          <p:nvPr/>
        </p:nvPicPr>
        <p:blipFill>
          <a:blip r:embed="rId3"/>
          <a:stretch>
            <a:fillRect/>
          </a:stretch>
        </p:blipFill>
        <p:spPr>
          <a:xfrm>
            <a:off x="6757416" y="2221992"/>
            <a:ext cx="219456" cy="219456"/>
          </a:xfrm>
          <a:prstGeom prst="rect">
            <a:avLst/>
          </a:prstGeom>
        </p:spPr>
      </p:pic>
      <p:sp>
        <p:nvSpPr>
          <p:cNvPr id="21" name="Text 16"/>
          <p:cNvSpPr txBox="1"/>
          <p:nvPr/>
        </p:nvSpPr>
        <p:spPr>
          <a:xfrm>
            <a:off x="7068312" y="2148840"/>
            <a:ext cx="635508" cy="365760"/>
          </a:xfrm>
          <a:prstGeom prst="rect">
            <a:avLst/>
          </a:prstGeom>
          <a:noFill/>
          <a:ln/>
        </p:spPr>
        <p:txBody>
          <a:bodyPr wrap="none" lIns="0" tIns="0" rIns="0" bIns="0" rtlCol="0" anchor="ctr"/>
          <a:lstStyle/>
          <a:p>
            <a:pPr marL="0" indent="0">
              <a:buNone/>
            </a:pPr>
            <a:r>
              <a:rPr lang="en-US" sz="1200" b="1" dirty="0">
                <a:solidFill>
                  <a:srgbClr val="1F2A44"/>
                </a:solidFill>
              </a:rPr>
              <a:t>clicked</a:t>
            </a:r>
            <a:endParaRPr lang="en-US" sz="1200" dirty="0"/>
          </a:p>
        </p:txBody>
      </p:sp>
      <p:sp>
        <p:nvSpPr>
          <p:cNvPr id="22" name="Scratch block"/>
          <p:cNvSpPr/>
          <p:nvPr/>
        </p:nvSpPr>
        <p:spPr>
          <a:xfrm>
            <a:off x="594360" y="2578608"/>
            <a:ext cx="1546250" cy="292608"/>
          </a:xfrm>
          <a:prstGeom prst="roundRect">
            <a:avLst>
              <a:gd name="adj" fmla="val 21875"/>
            </a:avLst>
          </a:prstGeom>
          <a:solidFill>
            <a:schemeClr val="accent1"/>
          </a:solidFill>
          <a:ln w="9525">
            <a:solidFill>
              <a:schemeClr val="bg1"/>
            </a:solidFill>
            <a:prstDash val="solid"/>
          </a:ln>
        </p:spPr>
      </p:sp>
      <p:sp>
        <p:nvSpPr>
          <p:cNvPr id="23" name="Text 18"/>
          <p:cNvSpPr txBox="1"/>
          <p:nvPr/>
        </p:nvSpPr>
        <p:spPr>
          <a:xfrm>
            <a:off x="713232" y="2578608"/>
            <a:ext cx="374904" cy="292608"/>
          </a:xfrm>
          <a:prstGeom prst="rect">
            <a:avLst/>
          </a:prstGeom>
          <a:noFill/>
          <a:ln/>
        </p:spPr>
        <p:txBody>
          <a:bodyPr wrap="none" lIns="0" tIns="0" rIns="0" bIns="0" rtlCol="0" anchor="ctr"/>
          <a:lstStyle/>
          <a:p>
            <a:pPr marL="0" indent="0">
              <a:buNone/>
            </a:pPr>
            <a:r>
              <a:rPr lang="en-US" sz="1200" b="1" dirty="0">
                <a:solidFill>
                  <a:srgbClr val="1F2A44"/>
                </a:solidFill>
              </a:rPr>
              <a:t>move</a:t>
            </a:r>
            <a:endParaRPr lang="en-US" sz="1200" dirty="0"/>
          </a:p>
        </p:txBody>
      </p:sp>
      <p:sp>
        <p:nvSpPr>
          <p:cNvPr id="24" name="Text 19"/>
          <p:cNvSpPr txBox="1"/>
          <p:nvPr/>
        </p:nvSpPr>
        <p:spPr>
          <a:xfrm>
            <a:off x="1152144" y="2624328"/>
            <a:ext cx="343814" cy="201168"/>
          </a:xfrm>
          <a:prstGeom prst="roundRect">
            <a:avLst>
              <a:gd name="adj" fmla="val 45455"/>
            </a:avLst>
          </a:prstGeom>
          <a:solidFill>
            <a:schemeClr val="bg1"/>
          </a:solidFill>
          <a:ln/>
        </p:spPr>
        <p:txBody>
          <a:bodyPr wrap="none" lIns="0" tIns="0" rIns="0" bIns="0" rtlCol="0" anchor="ctr"/>
          <a:lstStyle/>
          <a:p>
            <a:pPr marL="0" indent="0" algn="ctr">
              <a:buNone/>
            </a:pPr>
            <a:r>
              <a:rPr lang="en-US" sz="1100" dirty="0">
                <a:solidFill>
                  <a:schemeClr val="tx1"/>
                </a:solidFill>
              </a:rPr>
              <a:t>10</a:t>
            </a:r>
            <a:endParaRPr lang="en-US" sz="1100" dirty="0"/>
          </a:p>
        </p:txBody>
      </p:sp>
      <p:sp>
        <p:nvSpPr>
          <p:cNvPr id="25" name="Text 20"/>
          <p:cNvSpPr txBox="1"/>
          <p:nvPr/>
        </p:nvSpPr>
        <p:spPr>
          <a:xfrm>
            <a:off x="1559966" y="2578608"/>
            <a:ext cx="461772" cy="292608"/>
          </a:xfrm>
          <a:prstGeom prst="rect">
            <a:avLst/>
          </a:prstGeom>
          <a:noFill/>
          <a:ln/>
        </p:spPr>
        <p:txBody>
          <a:bodyPr wrap="none" lIns="0" tIns="0" rIns="0" bIns="0" rtlCol="0" anchor="ctr"/>
          <a:lstStyle/>
          <a:p>
            <a:pPr marL="0" indent="0">
              <a:buNone/>
            </a:pPr>
            <a:r>
              <a:rPr lang="en-US" sz="1200" b="1" dirty="0">
                <a:solidFill>
                  <a:srgbClr val="1F2A44"/>
                </a:solidFill>
              </a:rPr>
              <a:t>steps</a:t>
            </a:r>
            <a:endParaRPr lang="en-US" sz="1200" dirty="0"/>
          </a:p>
        </p:txBody>
      </p:sp>
      <p:sp>
        <p:nvSpPr>
          <p:cNvPr id="26" name="Scratch block"/>
          <p:cNvSpPr/>
          <p:nvPr/>
        </p:nvSpPr>
        <p:spPr>
          <a:xfrm>
            <a:off x="594360" y="2907792"/>
            <a:ext cx="1546250" cy="292608"/>
          </a:xfrm>
          <a:prstGeom prst="roundRect">
            <a:avLst>
              <a:gd name="adj" fmla="val 21875"/>
            </a:avLst>
          </a:prstGeom>
          <a:solidFill>
            <a:schemeClr val="accent1"/>
          </a:solidFill>
          <a:ln w="9525">
            <a:solidFill>
              <a:schemeClr val="bg1"/>
            </a:solidFill>
            <a:prstDash val="solid"/>
          </a:ln>
        </p:spPr>
      </p:sp>
      <p:sp>
        <p:nvSpPr>
          <p:cNvPr id="27" name="Text 22"/>
          <p:cNvSpPr txBox="1"/>
          <p:nvPr/>
        </p:nvSpPr>
        <p:spPr>
          <a:xfrm>
            <a:off x="713232" y="2907792"/>
            <a:ext cx="374904" cy="292608"/>
          </a:xfrm>
          <a:prstGeom prst="rect">
            <a:avLst/>
          </a:prstGeom>
          <a:noFill/>
          <a:ln/>
        </p:spPr>
        <p:txBody>
          <a:bodyPr wrap="none" lIns="0" tIns="0" rIns="0" bIns="0" rtlCol="0" anchor="ctr"/>
          <a:lstStyle/>
          <a:p>
            <a:pPr marL="0" indent="0">
              <a:buNone/>
            </a:pPr>
            <a:r>
              <a:rPr lang="en-US" sz="1200" b="1" dirty="0">
                <a:solidFill>
                  <a:srgbClr val="1F2A44"/>
                </a:solidFill>
              </a:rPr>
              <a:t>move</a:t>
            </a:r>
            <a:endParaRPr lang="en-US" sz="1200" dirty="0"/>
          </a:p>
        </p:txBody>
      </p:sp>
      <p:sp>
        <p:nvSpPr>
          <p:cNvPr id="28" name="Text 23"/>
          <p:cNvSpPr txBox="1"/>
          <p:nvPr/>
        </p:nvSpPr>
        <p:spPr>
          <a:xfrm>
            <a:off x="1152144" y="2953512"/>
            <a:ext cx="343814" cy="201168"/>
          </a:xfrm>
          <a:prstGeom prst="roundRect">
            <a:avLst>
              <a:gd name="adj" fmla="val 45455"/>
            </a:avLst>
          </a:prstGeom>
          <a:solidFill>
            <a:schemeClr val="bg1"/>
          </a:solidFill>
          <a:ln/>
        </p:spPr>
        <p:txBody>
          <a:bodyPr wrap="none" lIns="0" tIns="0" rIns="0" bIns="0" rtlCol="0" anchor="ctr"/>
          <a:lstStyle/>
          <a:p>
            <a:pPr marL="0" indent="0" algn="ctr">
              <a:buNone/>
            </a:pPr>
            <a:r>
              <a:rPr lang="en-US" sz="1100" dirty="0">
                <a:solidFill>
                  <a:schemeClr val="tx1"/>
                </a:solidFill>
              </a:rPr>
              <a:t>10</a:t>
            </a:r>
            <a:endParaRPr lang="en-US" sz="1100" dirty="0"/>
          </a:p>
        </p:txBody>
      </p:sp>
      <p:sp>
        <p:nvSpPr>
          <p:cNvPr id="29" name="Text 24"/>
          <p:cNvSpPr txBox="1"/>
          <p:nvPr/>
        </p:nvSpPr>
        <p:spPr>
          <a:xfrm>
            <a:off x="1559966" y="2907792"/>
            <a:ext cx="461772" cy="292608"/>
          </a:xfrm>
          <a:prstGeom prst="rect">
            <a:avLst/>
          </a:prstGeom>
          <a:noFill/>
          <a:ln/>
        </p:spPr>
        <p:txBody>
          <a:bodyPr wrap="none" lIns="0" tIns="0" rIns="0" bIns="0" rtlCol="0" anchor="ctr"/>
          <a:lstStyle/>
          <a:p>
            <a:pPr marL="0" indent="0">
              <a:buNone/>
            </a:pPr>
            <a:r>
              <a:rPr lang="en-US" sz="1200" b="1" dirty="0">
                <a:solidFill>
                  <a:srgbClr val="1F2A44"/>
                </a:solidFill>
              </a:rPr>
              <a:t>steps</a:t>
            </a:r>
            <a:endParaRPr lang="en-US" sz="1200" dirty="0"/>
          </a:p>
        </p:txBody>
      </p:sp>
      <p:sp>
        <p:nvSpPr>
          <p:cNvPr id="30" name="Scratch block"/>
          <p:cNvSpPr/>
          <p:nvPr/>
        </p:nvSpPr>
        <p:spPr>
          <a:xfrm>
            <a:off x="594360" y="3236976"/>
            <a:ext cx="1546250" cy="292608"/>
          </a:xfrm>
          <a:prstGeom prst="roundRect">
            <a:avLst>
              <a:gd name="adj" fmla="val 21875"/>
            </a:avLst>
          </a:prstGeom>
          <a:solidFill>
            <a:schemeClr val="accent1"/>
          </a:solidFill>
          <a:ln w="9525">
            <a:solidFill>
              <a:schemeClr val="bg1"/>
            </a:solidFill>
            <a:prstDash val="solid"/>
          </a:ln>
        </p:spPr>
      </p:sp>
      <p:sp>
        <p:nvSpPr>
          <p:cNvPr id="31" name="Text 26"/>
          <p:cNvSpPr txBox="1"/>
          <p:nvPr/>
        </p:nvSpPr>
        <p:spPr>
          <a:xfrm>
            <a:off x="713232" y="3236976"/>
            <a:ext cx="374904" cy="292608"/>
          </a:xfrm>
          <a:prstGeom prst="rect">
            <a:avLst/>
          </a:prstGeom>
          <a:noFill/>
          <a:ln/>
        </p:spPr>
        <p:txBody>
          <a:bodyPr wrap="none" lIns="0" tIns="0" rIns="0" bIns="0" rtlCol="0" anchor="ctr"/>
          <a:lstStyle/>
          <a:p>
            <a:pPr marL="0" indent="0">
              <a:buNone/>
            </a:pPr>
            <a:r>
              <a:rPr lang="en-US" sz="1200" b="1" dirty="0">
                <a:solidFill>
                  <a:srgbClr val="1F2A44"/>
                </a:solidFill>
              </a:rPr>
              <a:t>move</a:t>
            </a:r>
            <a:endParaRPr lang="en-US" sz="1200" dirty="0"/>
          </a:p>
        </p:txBody>
      </p:sp>
      <p:sp>
        <p:nvSpPr>
          <p:cNvPr id="32" name="Text 27"/>
          <p:cNvSpPr txBox="1"/>
          <p:nvPr/>
        </p:nvSpPr>
        <p:spPr>
          <a:xfrm>
            <a:off x="1152144" y="3282696"/>
            <a:ext cx="343814" cy="201168"/>
          </a:xfrm>
          <a:prstGeom prst="roundRect">
            <a:avLst>
              <a:gd name="adj" fmla="val 45455"/>
            </a:avLst>
          </a:prstGeom>
          <a:solidFill>
            <a:schemeClr val="bg1"/>
          </a:solidFill>
          <a:ln/>
        </p:spPr>
        <p:txBody>
          <a:bodyPr wrap="none" lIns="0" tIns="0" rIns="0" bIns="0" rtlCol="0" anchor="ctr"/>
          <a:lstStyle/>
          <a:p>
            <a:pPr marL="0" indent="0" algn="ctr">
              <a:buNone/>
            </a:pPr>
            <a:r>
              <a:rPr lang="en-US" sz="1100" dirty="0">
                <a:solidFill>
                  <a:schemeClr val="tx1"/>
                </a:solidFill>
              </a:rPr>
              <a:t>10</a:t>
            </a:r>
            <a:endParaRPr lang="en-US" sz="1100" dirty="0"/>
          </a:p>
        </p:txBody>
      </p:sp>
      <p:sp>
        <p:nvSpPr>
          <p:cNvPr id="33" name="Text 28"/>
          <p:cNvSpPr txBox="1"/>
          <p:nvPr/>
        </p:nvSpPr>
        <p:spPr>
          <a:xfrm>
            <a:off x="1559966" y="3236976"/>
            <a:ext cx="461772" cy="292608"/>
          </a:xfrm>
          <a:prstGeom prst="rect">
            <a:avLst/>
          </a:prstGeom>
          <a:noFill/>
          <a:ln/>
        </p:spPr>
        <p:txBody>
          <a:bodyPr wrap="none" lIns="0" tIns="0" rIns="0" bIns="0" rtlCol="0" anchor="ctr"/>
          <a:lstStyle/>
          <a:p>
            <a:pPr marL="0" indent="0">
              <a:buNone/>
            </a:pPr>
            <a:r>
              <a:rPr lang="en-US" sz="1200" b="1" dirty="0">
                <a:solidFill>
                  <a:srgbClr val="1F2A44"/>
                </a:solidFill>
              </a:rPr>
              <a:t>steps</a:t>
            </a:r>
            <a:endParaRPr lang="en-US" sz="1200" dirty="0"/>
          </a:p>
        </p:txBody>
      </p:sp>
      <p:sp>
        <p:nvSpPr>
          <p:cNvPr id="34" name="Text 29"/>
          <p:cNvSpPr txBox="1"/>
          <p:nvPr/>
        </p:nvSpPr>
        <p:spPr>
          <a:xfrm>
            <a:off x="594360" y="3566160"/>
            <a:ext cx="2286000" cy="274320"/>
          </a:xfrm>
          <a:prstGeom prst="rect">
            <a:avLst/>
          </a:prstGeom>
          <a:noFill/>
          <a:ln/>
        </p:spPr>
        <p:txBody>
          <a:bodyPr wrap="square" lIns="0" tIns="0" rIns="0" bIns="0" rtlCol="0" anchor="t"/>
          <a:lstStyle/>
          <a:p>
            <a:pPr marL="0" indent="0">
              <a:buNone/>
            </a:pPr>
            <a:r>
              <a:rPr lang="en-US" sz="1300" dirty="0">
                <a:solidFill>
                  <a:schemeClr val="tx1"/>
                </a:solidFill>
              </a:rPr>
              <a:t>… 10 move blocks</a:t>
            </a:r>
            <a:endParaRPr lang="en-US" sz="1300" dirty="0"/>
          </a:p>
        </p:txBody>
      </p:sp>
      <p:sp>
        <p:nvSpPr>
          <p:cNvPr id="35" name="Scratch block"/>
          <p:cNvSpPr/>
          <p:nvPr/>
        </p:nvSpPr>
        <p:spPr>
          <a:xfrm>
            <a:off x="3383280" y="2578608"/>
            <a:ext cx="1765706" cy="384048"/>
          </a:xfrm>
          <a:prstGeom prst="roundRect">
            <a:avLst>
              <a:gd name="adj" fmla="val 16667"/>
            </a:avLst>
          </a:prstGeom>
          <a:solidFill>
            <a:schemeClr val="accent2"/>
          </a:solidFill>
          <a:ln w="9525">
            <a:solidFill>
              <a:schemeClr val="bg1"/>
            </a:solidFill>
            <a:prstDash val="solid"/>
          </a:ln>
        </p:spPr>
      </p:sp>
      <p:sp>
        <p:nvSpPr>
          <p:cNvPr id="36" name="Text 31"/>
          <p:cNvSpPr txBox="1"/>
          <p:nvPr/>
        </p:nvSpPr>
        <p:spPr>
          <a:xfrm>
            <a:off x="3502152" y="2578608"/>
            <a:ext cx="548640" cy="384048"/>
          </a:xfrm>
          <a:prstGeom prst="rect">
            <a:avLst/>
          </a:prstGeom>
          <a:noFill/>
          <a:ln/>
        </p:spPr>
        <p:txBody>
          <a:bodyPr wrap="none" lIns="0" tIns="0" rIns="0" bIns="0" rtlCol="0" anchor="ctr"/>
          <a:lstStyle/>
          <a:p>
            <a:pPr marL="0" indent="0">
              <a:buNone/>
            </a:pPr>
            <a:r>
              <a:rPr lang="en-US" sz="1200" b="1" dirty="0">
                <a:solidFill>
                  <a:srgbClr val="1F2A44"/>
                </a:solidFill>
              </a:rPr>
              <a:t>repeat</a:t>
            </a:r>
            <a:endParaRPr lang="en-US" sz="1200" dirty="0"/>
          </a:p>
        </p:txBody>
      </p:sp>
      <p:sp>
        <p:nvSpPr>
          <p:cNvPr id="37" name="Text 32"/>
          <p:cNvSpPr txBox="1"/>
          <p:nvPr/>
        </p:nvSpPr>
        <p:spPr>
          <a:xfrm>
            <a:off x="4114800" y="2624328"/>
            <a:ext cx="343814" cy="292608"/>
          </a:xfrm>
          <a:prstGeom prst="roundRect">
            <a:avLst>
              <a:gd name="adj" fmla="val 31250"/>
            </a:avLst>
          </a:prstGeom>
          <a:solidFill>
            <a:schemeClr val="bg1"/>
          </a:solidFill>
          <a:ln/>
        </p:spPr>
        <p:txBody>
          <a:bodyPr wrap="none" lIns="0" tIns="0" rIns="0" bIns="0" rtlCol="0" anchor="ctr"/>
          <a:lstStyle/>
          <a:p>
            <a:pPr marL="0" indent="0" algn="ctr">
              <a:buNone/>
            </a:pPr>
            <a:r>
              <a:rPr lang="en-US" sz="1100" dirty="0">
                <a:solidFill>
                  <a:schemeClr val="tx1"/>
                </a:solidFill>
              </a:rPr>
              <a:t>10</a:t>
            </a:r>
            <a:endParaRPr lang="en-US" sz="1100" dirty="0"/>
          </a:p>
        </p:txBody>
      </p:sp>
      <p:sp>
        <p:nvSpPr>
          <p:cNvPr id="38" name="Shape 33"/>
          <p:cNvSpPr/>
          <p:nvPr/>
        </p:nvSpPr>
        <p:spPr>
          <a:xfrm>
            <a:off x="3383280" y="2962656"/>
            <a:ext cx="219456" cy="493776"/>
          </a:xfrm>
          <a:prstGeom prst="rect">
            <a:avLst/>
          </a:prstGeom>
          <a:solidFill>
            <a:schemeClr val="accent2"/>
          </a:solidFill>
          <a:ln/>
        </p:spPr>
      </p:sp>
      <p:sp>
        <p:nvSpPr>
          <p:cNvPr id="39" name="Scratch block"/>
          <p:cNvSpPr/>
          <p:nvPr/>
        </p:nvSpPr>
        <p:spPr>
          <a:xfrm>
            <a:off x="3602736" y="2999232"/>
            <a:ext cx="1546250" cy="347472"/>
          </a:xfrm>
          <a:prstGeom prst="roundRect">
            <a:avLst>
              <a:gd name="adj" fmla="val 18421"/>
            </a:avLst>
          </a:prstGeom>
          <a:solidFill>
            <a:schemeClr val="accent1"/>
          </a:solidFill>
          <a:ln w="9525">
            <a:solidFill>
              <a:schemeClr val="bg1"/>
            </a:solidFill>
            <a:prstDash val="solid"/>
          </a:ln>
        </p:spPr>
      </p:sp>
      <p:sp>
        <p:nvSpPr>
          <p:cNvPr id="40" name="Text 35"/>
          <p:cNvSpPr txBox="1"/>
          <p:nvPr/>
        </p:nvSpPr>
        <p:spPr>
          <a:xfrm>
            <a:off x="3721608" y="2999232"/>
            <a:ext cx="374904" cy="347472"/>
          </a:xfrm>
          <a:prstGeom prst="rect">
            <a:avLst/>
          </a:prstGeom>
          <a:noFill/>
          <a:ln/>
        </p:spPr>
        <p:txBody>
          <a:bodyPr wrap="none" lIns="0" tIns="0" rIns="0" bIns="0" rtlCol="0" anchor="ctr"/>
          <a:lstStyle/>
          <a:p>
            <a:pPr marL="0" indent="0">
              <a:buNone/>
            </a:pPr>
            <a:r>
              <a:rPr lang="en-US" sz="1200" b="1" dirty="0">
                <a:solidFill>
                  <a:srgbClr val="1F2A44"/>
                </a:solidFill>
              </a:rPr>
              <a:t>move</a:t>
            </a:r>
            <a:endParaRPr lang="en-US" sz="1200" dirty="0"/>
          </a:p>
        </p:txBody>
      </p:sp>
      <p:sp>
        <p:nvSpPr>
          <p:cNvPr id="41" name="Text 36"/>
          <p:cNvSpPr txBox="1"/>
          <p:nvPr/>
        </p:nvSpPr>
        <p:spPr>
          <a:xfrm>
            <a:off x="4160520" y="3044952"/>
            <a:ext cx="343814" cy="256032"/>
          </a:xfrm>
          <a:prstGeom prst="roundRect">
            <a:avLst>
              <a:gd name="adj" fmla="val 35714"/>
            </a:avLst>
          </a:prstGeom>
          <a:solidFill>
            <a:schemeClr val="bg1"/>
          </a:solidFill>
          <a:ln/>
        </p:spPr>
        <p:txBody>
          <a:bodyPr wrap="none" lIns="0" tIns="0" rIns="0" bIns="0" rtlCol="0" anchor="ctr"/>
          <a:lstStyle/>
          <a:p>
            <a:pPr marL="0" indent="0" algn="ctr">
              <a:buNone/>
            </a:pPr>
            <a:r>
              <a:rPr lang="en-US" sz="1100" dirty="0">
                <a:solidFill>
                  <a:schemeClr val="tx1"/>
                </a:solidFill>
              </a:rPr>
              <a:t>10</a:t>
            </a:r>
            <a:endParaRPr lang="en-US" sz="1100" dirty="0"/>
          </a:p>
        </p:txBody>
      </p:sp>
      <p:sp>
        <p:nvSpPr>
          <p:cNvPr id="42" name="Text 37"/>
          <p:cNvSpPr txBox="1"/>
          <p:nvPr/>
        </p:nvSpPr>
        <p:spPr>
          <a:xfrm>
            <a:off x="4568342" y="2999232"/>
            <a:ext cx="461772" cy="347472"/>
          </a:xfrm>
          <a:prstGeom prst="rect">
            <a:avLst/>
          </a:prstGeom>
          <a:noFill/>
          <a:ln/>
        </p:spPr>
        <p:txBody>
          <a:bodyPr wrap="none" lIns="0" tIns="0" rIns="0" bIns="0" rtlCol="0" anchor="ctr"/>
          <a:lstStyle/>
          <a:p>
            <a:pPr marL="0" indent="0">
              <a:buNone/>
            </a:pPr>
            <a:r>
              <a:rPr lang="en-US" sz="1200" b="1" dirty="0">
                <a:solidFill>
                  <a:srgbClr val="1F2A44"/>
                </a:solidFill>
              </a:rPr>
              <a:t>steps</a:t>
            </a:r>
            <a:endParaRPr lang="en-US" sz="1200" dirty="0"/>
          </a:p>
        </p:txBody>
      </p:sp>
      <p:sp>
        <p:nvSpPr>
          <p:cNvPr id="43" name="Shape 38"/>
          <p:cNvSpPr/>
          <p:nvPr/>
        </p:nvSpPr>
        <p:spPr>
          <a:xfrm>
            <a:off x="3383280" y="3456432"/>
            <a:ext cx="1765706" cy="219456"/>
          </a:xfrm>
          <a:prstGeom prst="roundRect">
            <a:avLst>
              <a:gd name="adj" fmla="val 25000"/>
            </a:avLst>
          </a:prstGeom>
          <a:solidFill>
            <a:schemeClr val="accent2"/>
          </a:solidFill>
          <a:ln/>
        </p:spPr>
      </p:sp>
      <p:sp>
        <p:nvSpPr>
          <p:cNvPr id="44" name="Scratch block"/>
          <p:cNvSpPr/>
          <p:nvPr/>
        </p:nvSpPr>
        <p:spPr>
          <a:xfrm>
            <a:off x="6172200" y="2578608"/>
            <a:ext cx="1765706" cy="384048"/>
          </a:xfrm>
          <a:prstGeom prst="roundRect">
            <a:avLst>
              <a:gd name="adj" fmla="val 16667"/>
            </a:avLst>
          </a:prstGeom>
          <a:solidFill>
            <a:schemeClr val="accent2"/>
          </a:solidFill>
          <a:ln w="9525">
            <a:solidFill>
              <a:schemeClr val="bg1"/>
            </a:solidFill>
            <a:prstDash val="solid"/>
          </a:ln>
        </p:spPr>
      </p:sp>
      <p:sp>
        <p:nvSpPr>
          <p:cNvPr id="45" name="Text 40"/>
          <p:cNvSpPr txBox="1"/>
          <p:nvPr/>
        </p:nvSpPr>
        <p:spPr>
          <a:xfrm>
            <a:off x="6291072" y="2578608"/>
            <a:ext cx="635508" cy="384048"/>
          </a:xfrm>
          <a:prstGeom prst="rect">
            <a:avLst/>
          </a:prstGeom>
          <a:noFill/>
          <a:ln/>
        </p:spPr>
        <p:txBody>
          <a:bodyPr wrap="none" lIns="0" tIns="0" rIns="0" bIns="0" rtlCol="0" anchor="ctr"/>
          <a:lstStyle/>
          <a:p>
            <a:pPr marL="0" indent="0">
              <a:buNone/>
            </a:pPr>
            <a:r>
              <a:rPr lang="en-US" sz="1200" b="1" dirty="0">
                <a:solidFill>
                  <a:srgbClr val="1F2A44"/>
                </a:solidFill>
              </a:rPr>
              <a:t>forever</a:t>
            </a:r>
            <a:endParaRPr lang="en-US" sz="1200" dirty="0"/>
          </a:p>
        </p:txBody>
      </p:sp>
      <p:sp>
        <p:nvSpPr>
          <p:cNvPr id="46" name="Shape 41"/>
          <p:cNvSpPr/>
          <p:nvPr/>
        </p:nvSpPr>
        <p:spPr>
          <a:xfrm>
            <a:off x="6172200" y="2962656"/>
            <a:ext cx="219456" cy="493776"/>
          </a:xfrm>
          <a:prstGeom prst="rect">
            <a:avLst/>
          </a:prstGeom>
          <a:solidFill>
            <a:schemeClr val="accent2"/>
          </a:solidFill>
          <a:ln/>
        </p:spPr>
      </p:sp>
      <p:sp>
        <p:nvSpPr>
          <p:cNvPr id="47" name="Scratch block"/>
          <p:cNvSpPr/>
          <p:nvPr/>
        </p:nvSpPr>
        <p:spPr>
          <a:xfrm>
            <a:off x="6391656" y="2999232"/>
            <a:ext cx="1546250" cy="347472"/>
          </a:xfrm>
          <a:prstGeom prst="roundRect">
            <a:avLst>
              <a:gd name="adj" fmla="val 18421"/>
            </a:avLst>
          </a:prstGeom>
          <a:solidFill>
            <a:schemeClr val="accent1"/>
          </a:solidFill>
          <a:ln w="9525">
            <a:solidFill>
              <a:schemeClr val="bg1"/>
            </a:solidFill>
            <a:prstDash val="solid"/>
          </a:ln>
        </p:spPr>
      </p:sp>
      <p:sp>
        <p:nvSpPr>
          <p:cNvPr id="48" name="Text 43"/>
          <p:cNvSpPr txBox="1"/>
          <p:nvPr/>
        </p:nvSpPr>
        <p:spPr>
          <a:xfrm>
            <a:off x="6510528" y="2999232"/>
            <a:ext cx="374904" cy="347472"/>
          </a:xfrm>
          <a:prstGeom prst="rect">
            <a:avLst/>
          </a:prstGeom>
          <a:noFill/>
          <a:ln/>
        </p:spPr>
        <p:txBody>
          <a:bodyPr wrap="none" lIns="0" tIns="0" rIns="0" bIns="0" rtlCol="0" anchor="ctr"/>
          <a:lstStyle/>
          <a:p>
            <a:pPr marL="0" indent="0">
              <a:buNone/>
            </a:pPr>
            <a:r>
              <a:rPr lang="en-US" sz="1200" b="1" dirty="0">
                <a:solidFill>
                  <a:srgbClr val="1F2A44"/>
                </a:solidFill>
              </a:rPr>
              <a:t>move</a:t>
            </a:r>
            <a:endParaRPr lang="en-US" sz="1200" dirty="0"/>
          </a:p>
        </p:txBody>
      </p:sp>
      <p:sp>
        <p:nvSpPr>
          <p:cNvPr id="49" name="Text 44"/>
          <p:cNvSpPr txBox="1"/>
          <p:nvPr/>
        </p:nvSpPr>
        <p:spPr>
          <a:xfrm>
            <a:off x="6949440" y="3044952"/>
            <a:ext cx="343814" cy="256032"/>
          </a:xfrm>
          <a:prstGeom prst="roundRect">
            <a:avLst>
              <a:gd name="adj" fmla="val 35714"/>
            </a:avLst>
          </a:prstGeom>
          <a:solidFill>
            <a:schemeClr val="bg1"/>
          </a:solidFill>
          <a:ln/>
        </p:spPr>
        <p:txBody>
          <a:bodyPr wrap="none" lIns="0" tIns="0" rIns="0" bIns="0" rtlCol="0" anchor="ctr"/>
          <a:lstStyle/>
          <a:p>
            <a:pPr marL="0" indent="0" algn="ctr">
              <a:buNone/>
            </a:pPr>
            <a:r>
              <a:rPr lang="en-US" sz="1100" dirty="0">
                <a:solidFill>
                  <a:schemeClr val="tx1"/>
                </a:solidFill>
              </a:rPr>
              <a:t>10</a:t>
            </a:r>
            <a:endParaRPr lang="en-US" sz="1100" dirty="0"/>
          </a:p>
        </p:txBody>
      </p:sp>
      <p:sp>
        <p:nvSpPr>
          <p:cNvPr id="50" name="Text 45"/>
          <p:cNvSpPr txBox="1"/>
          <p:nvPr/>
        </p:nvSpPr>
        <p:spPr>
          <a:xfrm>
            <a:off x="7357262" y="2999232"/>
            <a:ext cx="461772" cy="347472"/>
          </a:xfrm>
          <a:prstGeom prst="rect">
            <a:avLst/>
          </a:prstGeom>
          <a:noFill/>
          <a:ln/>
        </p:spPr>
        <p:txBody>
          <a:bodyPr wrap="none" lIns="0" tIns="0" rIns="0" bIns="0" rtlCol="0" anchor="ctr"/>
          <a:lstStyle/>
          <a:p>
            <a:pPr marL="0" indent="0">
              <a:buNone/>
            </a:pPr>
            <a:r>
              <a:rPr lang="en-US" sz="1200" b="1" dirty="0">
                <a:solidFill>
                  <a:srgbClr val="1F2A44"/>
                </a:solidFill>
              </a:rPr>
              <a:t>steps</a:t>
            </a:r>
            <a:endParaRPr lang="en-US" sz="1200" dirty="0"/>
          </a:p>
        </p:txBody>
      </p:sp>
      <p:sp>
        <p:nvSpPr>
          <p:cNvPr id="51" name="Shape 46"/>
          <p:cNvSpPr/>
          <p:nvPr/>
        </p:nvSpPr>
        <p:spPr>
          <a:xfrm>
            <a:off x="6172200" y="3456432"/>
            <a:ext cx="1765706" cy="219456"/>
          </a:xfrm>
          <a:prstGeom prst="roundRect">
            <a:avLst>
              <a:gd name="adj" fmla="val 25000"/>
            </a:avLst>
          </a:prstGeom>
          <a:solidFill>
            <a:schemeClr val="accent2"/>
          </a:solidFill>
          <a:ln/>
        </p:spPr>
      </p:sp>
      <p:pic>
        <p:nvPicPr>
          <p:cNvPr id="52" name="Image 3" descr="No"/>
          <p:cNvPicPr>
            <a:picLocks noChangeAspect="1"/>
          </p:cNvPicPr>
          <p:nvPr/>
        </p:nvPicPr>
        <p:blipFill>
          <a:blip r:embed="rId4"/>
          <a:stretch>
            <a:fillRect/>
          </a:stretch>
        </p:blipFill>
        <p:spPr>
          <a:xfrm>
            <a:off x="594360" y="3977640"/>
            <a:ext cx="274320" cy="274320"/>
          </a:xfrm>
          <a:prstGeom prst="rect">
            <a:avLst/>
          </a:prstGeom>
        </p:spPr>
      </p:pic>
      <p:sp>
        <p:nvSpPr>
          <p:cNvPr id="53" name="Text 47"/>
          <p:cNvSpPr txBox="1"/>
          <p:nvPr/>
        </p:nvSpPr>
        <p:spPr>
          <a:xfrm>
            <a:off x="960120" y="3886200"/>
            <a:ext cx="2057400" cy="640080"/>
          </a:xfrm>
          <a:prstGeom prst="rect">
            <a:avLst/>
          </a:prstGeom>
          <a:noFill/>
          <a:ln/>
        </p:spPr>
        <p:txBody>
          <a:bodyPr wrap="square" lIns="0" tIns="0" rIns="0" bIns="0" rtlCol="0" anchor="t"/>
          <a:lstStyle/>
          <a:p>
            <a:pPr marL="0" indent="0">
              <a:buNone/>
            </a:pPr>
            <a:r>
              <a:rPr lang="en-US" sz="1200" b="1" dirty="0">
                <a:solidFill>
                  <a:schemeClr val="tx1"/>
                </a:solidFill>
              </a:rPr>
              <a:t>No iterator: the same block is written 10 times</a:t>
            </a:r>
            <a:endParaRPr lang="en-US" sz="1200" dirty="0"/>
          </a:p>
        </p:txBody>
      </p:sp>
      <p:pic>
        <p:nvPicPr>
          <p:cNvPr id="54" name="Image 4" descr="Yes"/>
          <p:cNvPicPr>
            <a:picLocks noChangeAspect="1"/>
          </p:cNvPicPr>
          <p:nvPr/>
        </p:nvPicPr>
        <p:blipFill>
          <a:blip r:embed="rId5"/>
          <a:stretch>
            <a:fillRect/>
          </a:stretch>
        </p:blipFill>
        <p:spPr>
          <a:xfrm>
            <a:off x="3383280" y="3977640"/>
            <a:ext cx="274320" cy="274320"/>
          </a:xfrm>
          <a:prstGeom prst="rect">
            <a:avLst/>
          </a:prstGeom>
        </p:spPr>
      </p:pic>
      <p:sp>
        <p:nvSpPr>
          <p:cNvPr id="55" name="Text 48"/>
          <p:cNvSpPr txBox="1"/>
          <p:nvPr/>
        </p:nvSpPr>
        <p:spPr>
          <a:xfrm>
            <a:off x="3749040" y="3886200"/>
            <a:ext cx="2057400" cy="640080"/>
          </a:xfrm>
          <a:prstGeom prst="rect">
            <a:avLst/>
          </a:prstGeom>
          <a:noFill/>
          <a:ln/>
        </p:spPr>
        <p:txBody>
          <a:bodyPr wrap="square" lIns="0" tIns="0" rIns="0" bIns="0" rtlCol="0" anchor="t"/>
          <a:lstStyle/>
          <a:p>
            <a:pPr marL="0" indent="0">
              <a:buNone/>
            </a:pPr>
            <a:r>
              <a:rPr lang="en-US" sz="1200" b="1" dirty="0">
                <a:solidFill>
                  <a:schemeClr val="tx1"/>
                </a:solidFill>
              </a:rPr>
              <a:t>Iterator: repeat 10 runs the code a set number of times</a:t>
            </a:r>
            <a:endParaRPr lang="en-US" sz="1200" dirty="0"/>
          </a:p>
        </p:txBody>
      </p:sp>
      <p:pic>
        <p:nvPicPr>
          <p:cNvPr id="56" name="Image 5" descr="Yes"/>
          <p:cNvPicPr>
            <a:picLocks noChangeAspect="1"/>
          </p:cNvPicPr>
          <p:nvPr/>
        </p:nvPicPr>
        <p:blipFill>
          <a:blip r:embed="rId5"/>
          <a:stretch>
            <a:fillRect/>
          </a:stretch>
        </p:blipFill>
        <p:spPr>
          <a:xfrm>
            <a:off x="6172200" y="3977640"/>
            <a:ext cx="274320" cy="274320"/>
          </a:xfrm>
          <a:prstGeom prst="rect">
            <a:avLst/>
          </a:prstGeom>
        </p:spPr>
      </p:pic>
      <p:sp>
        <p:nvSpPr>
          <p:cNvPr id="57" name="Text 49"/>
          <p:cNvSpPr txBox="1"/>
          <p:nvPr/>
        </p:nvSpPr>
        <p:spPr>
          <a:xfrm>
            <a:off x="6537960" y="3886200"/>
            <a:ext cx="2057400" cy="640080"/>
          </a:xfrm>
          <a:prstGeom prst="rect">
            <a:avLst/>
          </a:prstGeom>
          <a:noFill/>
          <a:ln/>
        </p:spPr>
        <p:txBody>
          <a:bodyPr wrap="square" lIns="0" tIns="0" rIns="0" bIns="0" rtlCol="0" anchor="t"/>
          <a:lstStyle/>
          <a:p>
            <a:pPr marL="0" indent="0">
              <a:buNone/>
            </a:pPr>
            <a:r>
              <a:rPr lang="en-US" sz="1200" b="1" dirty="0">
                <a:solidFill>
                  <a:schemeClr val="tx1"/>
                </a:solidFill>
              </a:rPr>
              <a:t>Iterator: forever repeats the code non-stop</a:t>
            </a:r>
            <a:endParaRPr lang="en-US" sz="1200" dirty="0"/>
          </a:p>
        </p:txBody>
      </p:sp>
      <p:sp>
        <p:nvSpPr>
          <p:cNvPr id="58"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1"/>
                </a:solidFill>
              </a:rPr>
              <a:t>Activity 1: teach the constructs</a:t>
            </a:r>
            <a:endParaRPr lang="en-US" sz="3000" dirty="0"/>
          </a:p>
        </p:txBody>
      </p:sp>
      <p:sp>
        <p:nvSpPr>
          <p:cNvPr id="3" name="Activity brief"/>
          <p:cNvSpPr/>
          <p:nvPr/>
        </p:nvSpPr>
        <p:spPr>
          <a:xfrm>
            <a:off x="457200" y="1188720"/>
            <a:ext cx="3749040" cy="3337560"/>
          </a:xfrm>
          <a:prstGeom prst="roundRect">
            <a:avLst>
              <a:gd name="adj" fmla="val 3288"/>
            </a:avLst>
          </a:prstGeom>
          <a:solidFill>
            <a:schemeClr val="accent1"/>
          </a:solidFill>
          <a:ln/>
        </p:spPr>
      </p:sp>
      <p:pic>
        <p:nvPicPr>
          <p:cNvPr id="4" name="Image 0" descr="Computer"/>
          <p:cNvPicPr>
            <a:picLocks noChangeAspect="1"/>
          </p:cNvPicPr>
          <p:nvPr/>
        </p:nvPicPr>
        <p:blipFill>
          <a:blip r:embed="rId3"/>
          <a:stretch>
            <a:fillRect/>
          </a:stretch>
        </p:blipFill>
        <p:spPr>
          <a:xfrm>
            <a:off x="685800" y="1371600"/>
            <a:ext cx="457200" cy="457200"/>
          </a:xfrm>
          <a:prstGeom prst="rect">
            <a:avLst/>
          </a:prstGeom>
        </p:spPr>
      </p:pic>
      <p:sp>
        <p:nvSpPr>
          <p:cNvPr id="5" name="Text 2"/>
          <p:cNvSpPr txBox="1"/>
          <p:nvPr/>
        </p:nvSpPr>
        <p:spPr>
          <a:xfrm>
            <a:off x="1280160" y="1325880"/>
            <a:ext cx="2743200" cy="731520"/>
          </a:xfrm>
          <a:prstGeom prst="rect">
            <a:avLst/>
          </a:prstGeom>
          <a:noFill/>
          <a:ln/>
        </p:spPr>
        <p:txBody>
          <a:bodyPr wrap="square" lIns="0" tIns="0" rIns="0" bIns="0" rtlCol="0" anchor="t"/>
          <a:lstStyle/>
          <a:p>
            <a:pPr marL="0" indent="0">
              <a:buNone/>
            </a:pPr>
            <a:r>
              <a:rPr lang="en-US" sz="1300" b="1" dirty="0">
                <a:solidFill>
                  <a:schemeClr val="tx1"/>
                </a:solidFill>
              </a:rPr>
              <a:t>You will need: a desktop computer, laptop or tablet with presentation software.</a:t>
            </a:r>
            <a:endParaRPr lang="en-US" sz="1300" dirty="0"/>
          </a:p>
        </p:txBody>
      </p:sp>
      <p:sp>
        <p:nvSpPr>
          <p:cNvPr id="6" name="Text 3"/>
          <p:cNvSpPr txBox="1"/>
          <p:nvPr/>
        </p:nvSpPr>
        <p:spPr>
          <a:xfrm>
            <a:off x="685800" y="2194560"/>
            <a:ext cx="3337560" cy="2194560"/>
          </a:xfrm>
          <a:prstGeom prst="rect">
            <a:avLst/>
          </a:prstGeom>
          <a:noFill/>
          <a:ln/>
        </p:spPr>
        <p:txBody>
          <a:bodyPr wrap="square" lIns="0" tIns="0" rIns="0" bIns="0" rtlCol="0" anchor="t"/>
          <a:lstStyle/>
          <a:p>
            <a:pPr marL="0" indent="0">
              <a:buNone/>
            </a:pPr>
            <a:r>
              <a:rPr lang="en-US" sz="1400" dirty="0">
                <a:solidFill>
                  <a:schemeClr val="tx1"/>
                </a:solidFill>
              </a:rPr>
              <a:t>Imagine you are teaching someone about important programming constructs. Work with a partner to create a digital presentation to explain what sequence, selection and iteration are. Try to use examples from your own programming.</a:t>
            </a:r>
            <a:endParaRPr lang="en-US" sz="1400" dirty="0"/>
          </a:p>
        </p:txBody>
      </p:sp>
      <p:sp>
        <p:nvSpPr>
          <p:cNvPr id="7" name="Text 4"/>
          <p:cNvSpPr txBox="1"/>
          <p:nvPr/>
        </p:nvSpPr>
        <p:spPr>
          <a:xfrm>
            <a:off x="4526280" y="1188720"/>
            <a:ext cx="4114800" cy="365760"/>
          </a:xfrm>
          <a:prstGeom prst="rect">
            <a:avLst/>
          </a:prstGeom>
          <a:noFill/>
          <a:ln/>
        </p:spPr>
        <p:txBody>
          <a:bodyPr wrap="square" lIns="0" tIns="0" rIns="0" bIns="0" rtlCol="0" anchor="t"/>
          <a:lstStyle/>
          <a:p>
            <a:pPr marL="0" indent="0">
              <a:buNone/>
            </a:pPr>
            <a:r>
              <a:rPr lang="en-US" sz="2000" b="1" dirty="0">
                <a:solidFill>
                  <a:schemeClr val="tx1"/>
                </a:solidFill>
              </a:rPr>
              <a:t>How we will do it</a:t>
            </a:r>
            <a:endParaRPr lang="en-US" sz="2000" dirty="0"/>
          </a:p>
        </p:txBody>
      </p:sp>
      <p:sp>
        <p:nvSpPr>
          <p:cNvPr id="8" name="Shape 5"/>
          <p:cNvSpPr/>
          <p:nvPr/>
        </p:nvSpPr>
        <p:spPr>
          <a:xfrm>
            <a:off x="4526280" y="1691640"/>
            <a:ext cx="411480" cy="411480"/>
          </a:xfrm>
          <a:prstGeom prst="ellipse">
            <a:avLst/>
          </a:prstGeom>
          <a:solidFill>
            <a:schemeClr val="accent1"/>
          </a:solidFill>
          <a:ln/>
        </p:spPr>
      </p:sp>
      <p:sp>
        <p:nvSpPr>
          <p:cNvPr id="9" name="Text 6"/>
          <p:cNvSpPr txBox="1"/>
          <p:nvPr/>
        </p:nvSpPr>
        <p:spPr>
          <a:xfrm>
            <a:off x="4526280" y="1691640"/>
            <a:ext cx="411480" cy="411480"/>
          </a:xfrm>
          <a:prstGeom prst="rect">
            <a:avLst/>
          </a:prstGeom>
          <a:noFill/>
          <a:ln/>
        </p:spPr>
        <p:txBody>
          <a:bodyPr wrap="square" lIns="0" tIns="0" rIns="0" bIns="0" rtlCol="0" anchor="ctr"/>
          <a:lstStyle/>
          <a:p>
            <a:pPr marL="0" indent="0" algn="ctr">
              <a:buNone/>
            </a:pPr>
            <a:r>
              <a:rPr lang="en-US" sz="1500" b="1" dirty="0">
                <a:solidFill>
                  <a:schemeClr val="tx1"/>
                </a:solidFill>
              </a:rPr>
              <a:t>1</a:t>
            </a:r>
            <a:endParaRPr lang="en-US" sz="1500" dirty="0"/>
          </a:p>
        </p:txBody>
      </p:sp>
      <p:sp>
        <p:nvSpPr>
          <p:cNvPr id="10" name="Text 7"/>
          <p:cNvSpPr txBox="1"/>
          <p:nvPr/>
        </p:nvSpPr>
        <p:spPr>
          <a:xfrm>
            <a:off x="5074920" y="1691640"/>
            <a:ext cx="3611880" cy="548640"/>
          </a:xfrm>
          <a:prstGeom prst="rect">
            <a:avLst/>
          </a:prstGeom>
          <a:noFill/>
          <a:ln/>
        </p:spPr>
        <p:txBody>
          <a:bodyPr wrap="square" lIns="0" tIns="0" rIns="0" bIns="0" rtlCol="0" anchor="t"/>
          <a:lstStyle/>
          <a:p>
            <a:pPr marL="0" indent="0">
              <a:buNone/>
            </a:pPr>
            <a:r>
              <a:rPr lang="en-US" sz="1400" dirty="0">
                <a:solidFill>
                  <a:schemeClr val="tx1"/>
                </a:solidFill>
              </a:rPr>
              <a:t>Pair up and open your presentation software.</a:t>
            </a:r>
            <a:endParaRPr lang="en-US" sz="1400" dirty="0"/>
          </a:p>
        </p:txBody>
      </p:sp>
      <p:sp>
        <p:nvSpPr>
          <p:cNvPr id="11" name="Shape 8"/>
          <p:cNvSpPr/>
          <p:nvPr/>
        </p:nvSpPr>
        <p:spPr>
          <a:xfrm>
            <a:off x="4526280" y="2423160"/>
            <a:ext cx="411480" cy="411480"/>
          </a:xfrm>
          <a:prstGeom prst="ellipse">
            <a:avLst/>
          </a:prstGeom>
          <a:solidFill>
            <a:schemeClr val="accent2"/>
          </a:solidFill>
          <a:ln/>
        </p:spPr>
      </p:sp>
      <p:sp>
        <p:nvSpPr>
          <p:cNvPr id="12" name="Text 9"/>
          <p:cNvSpPr txBox="1"/>
          <p:nvPr/>
        </p:nvSpPr>
        <p:spPr>
          <a:xfrm>
            <a:off x="4526280" y="2423160"/>
            <a:ext cx="411480" cy="411480"/>
          </a:xfrm>
          <a:prstGeom prst="rect">
            <a:avLst/>
          </a:prstGeom>
          <a:noFill/>
          <a:ln/>
        </p:spPr>
        <p:txBody>
          <a:bodyPr wrap="square" lIns="0" tIns="0" rIns="0" bIns="0" rtlCol="0" anchor="ctr"/>
          <a:lstStyle/>
          <a:p>
            <a:pPr marL="0" indent="0" algn="ctr">
              <a:buNone/>
            </a:pPr>
            <a:r>
              <a:rPr lang="en-US" sz="1500" b="1" dirty="0">
                <a:solidFill>
                  <a:schemeClr val="tx1"/>
                </a:solidFill>
              </a:rPr>
              <a:t>2</a:t>
            </a:r>
            <a:endParaRPr lang="en-US" sz="1500" dirty="0"/>
          </a:p>
        </p:txBody>
      </p:sp>
      <p:sp>
        <p:nvSpPr>
          <p:cNvPr id="13" name="Text 10"/>
          <p:cNvSpPr txBox="1"/>
          <p:nvPr/>
        </p:nvSpPr>
        <p:spPr>
          <a:xfrm>
            <a:off x="5074920" y="2423160"/>
            <a:ext cx="3611880" cy="548640"/>
          </a:xfrm>
          <a:prstGeom prst="rect">
            <a:avLst/>
          </a:prstGeom>
          <a:noFill/>
          <a:ln/>
        </p:spPr>
        <p:txBody>
          <a:bodyPr wrap="square" lIns="0" tIns="0" rIns="0" bIns="0" rtlCol="0" anchor="t"/>
          <a:lstStyle/>
          <a:p>
            <a:pPr marL="0" indent="0">
              <a:buNone/>
            </a:pPr>
            <a:r>
              <a:rPr lang="en-US" sz="1400" dirty="0">
                <a:solidFill>
                  <a:schemeClr val="tx1"/>
                </a:solidFill>
              </a:rPr>
              <a:t>Make three slides: Sequence, Selection and Iteration.</a:t>
            </a:r>
            <a:endParaRPr lang="en-US" sz="1400" dirty="0"/>
          </a:p>
        </p:txBody>
      </p:sp>
      <p:sp>
        <p:nvSpPr>
          <p:cNvPr id="14" name="Shape 11"/>
          <p:cNvSpPr/>
          <p:nvPr/>
        </p:nvSpPr>
        <p:spPr>
          <a:xfrm>
            <a:off x="4526280" y="3154680"/>
            <a:ext cx="411480" cy="411480"/>
          </a:xfrm>
          <a:prstGeom prst="ellipse">
            <a:avLst/>
          </a:prstGeom>
          <a:solidFill>
            <a:schemeClr val="accent3"/>
          </a:solidFill>
          <a:ln/>
        </p:spPr>
      </p:sp>
      <p:sp>
        <p:nvSpPr>
          <p:cNvPr id="15" name="Text 12"/>
          <p:cNvSpPr txBox="1"/>
          <p:nvPr/>
        </p:nvSpPr>
        <p:spPr>
          <a:xfrm>
            <a:off x="4526280" y="3154680"/>
            <a:ext cx="411480" cy="411480"/>
          </a:xfrm>
          <a:prstGeom prst="rect">
            <a:avLst/>
          </a:prstGeom>
          <a:noFill/>
          <a:ln/>
        </p:spPr>
        <p:txBody>
          <a:bodyPr wrap="square" lIns="0" tIns="0" rIns="0" bIns="0" rtlCol="0" anchor="ctr"/>
          <a:lstStyle/>
          <a:p>
            <a:pPr marL="0" indent="0" algn="ctr">
              <a:buNone/>
            </a:pPr>
            <a:r>
              <a:rPr lang="en-US" sz="1500" b="1" dirty="0">
                <a:solidFill>
                  <a:schemeClr val="tx1"/>
                </a:solidFill>
              </a:rPr>
              <a:t>3</a:t>
            </a:r>
            <a:endParaRPr lang="en-US" sz="1500" dirty="0"/>
          </a:p>
        </p:txBody>
      </p:sp>
      <p:sp>
        <p:nvSpPr>
          <p:cNvPr id="16" name="Text 13"/>
          <p:cNvSpPr txBox="1"/>
          <p:nvPr/>
        </p:nvSpPr>
        <p:spPr>
          <a:xfrm>
            <a:off x="5074920" y="3154680"/>
            <a:ext cx="3611880" cy="960120"/>
          </a:xfrm>
          <a:prstGeom prst="rect">
            <a:avLst/>
          </a:prstGeom>
          <a:noFill/>
          <a:ln/>
        </p:spPr>
        <p:txBody>
          <a:bodyPr wrap="square" lIns="0" tIns="0" rIns="0" bIns="0" rtlCol="0" anchor="t"/>
          <a:lstStyle/>
          <a:p>
            <a:pPr marL="0" indent="0">
              <a:buNone/>
            </a:pPr>
            <a:r>
              <a:rPr lang="en-US" sz="1400" dirty="0">
                <a:solidFill>
                  <a:schemeClr val="tx1"/>
                </a:solidFill>
              </a:rPr>
              <a:t>On each slide: explain it in your own words, add an example from your own Scratch programs and a picture of the blocks.</a:t>
            </a:r>
            <a:endParaRPr lang="en-US" sz="1400" dirty="0"/>
          </a:p>
        </p:txBody>
      </p:sp>
      <p:sp>
        <p:nvSpPr>
          <p:cNvPr id="17" name="Shape 14"/>
          <p:cNvSpPr/>
          <p:nvPr/>
        </p:nvSpPr>
        <p:spPr>
          <a:xfrm>
            <a:off x="4526280" y="4297680"/>
            <a:ext cx="411480" cy="411480"/>
          </a:xfrm>
          <a:prstGeom prst="ellipse">
            <a:avLst/>
          </a:prstGeom>
          <a:solidFill>
            <a:schemeClr val="accent4"/>
          </a:solidFill>
          <a:ln/>
        </p:spPr>
      </p:sp>
      <p:sp>
        <p:nvSpPr>
          <p:cNvPr id="18" name="Text 15"/>
          <p:cNvSpPr txBox="1"/>
          <p:nvPr/>
        </p:nvSpPr>
        <p:spPr>
          <a:xfrm>
            <a:off x="4526280" y="4297680"/>
            <a:ext cx="411480" cy="411480"/>
          </a:xfrm>
          <a:prstGeom prst="rect">
            <a:avLst/>
          </a:prstGeom>
          <a:noFill/>
          <a:ln/>
        </p:spPr>
        <p:txBody>
          <a:bodyPr wrap="square" lIns="0" tIns="0" rIns="0" bIns="0" rtlCol="0" anchor="ctr"/>
          <a:lstStyle/>
          <a:p>
            <a:pPr marL="0" indent="0" algn="ctr">
              <a:buNone/>
            </a:pPr>
            <a:r>
              <a:rPr lang="en-US" sz="1500" b="1" dirty="0">
                <a:solidFill>
                  <a:schemeClr val="bg1"/>
                </a:solidFill>
              </a:rPr>
              <a:t>4</a:t>
            </a:r>
            <a:endParaRPr lang="en-US" sz="1500" dirty="0"/>
          </a:p>
        </p:txBody>
      </p:sp>
      <p:sp>
        <p:nvSpPr>
          <p:cNvPr id="19" name="Text 16"/>
          <p:cNvSpPr txBox="1"/>
          <p:nvPr/>
        </p:nvSpPr>
        <p:spPr>
          <a:xfrm>
            <a:off x="5074920" y="4297680"/>
            <a:ext cx="3611880" cy="548640"/>
          </a:xfrm>
          <a:prstGeom prst="rect">
            <a:avLst/>
          </a:prstGeom>
          <a:noFill/>
          <a:ln/>
        </p:spPr>
        <p:txBody>
          <a:bodyPr wrap="square" lIns="0" tIns="0" rIns="0" bIns="0" rtlCol="0" anchor="t"/>
          <a:lstStyle/>
          <a:p>
            <a:pPr marL="0" indent="0">
              <a:buNone/>
            </a:pPr>
            <a:r>
              <a:rPr lang="en-US" sz="1400" dirty="0">
                <a:solidFill>
                  <a:schemeClr val="tx1"/>
                </a:solidFill>
              </a:rPr>
              <a:t>Share your presentation with the class and compare ideas.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1"/>
                </a:solidFill>
              </a:rPr>
              <a:t>Question 1: why are iterators useful?</a:t>
            </a:r>
            <a:endParaRPr lang="en-US" sz="3000" dirty="0"/>
          </a:p>
        </p:txBody>
      </p:sp>
      <p:sp>
        <p:nvSpPr>
          <p:cNvPr id="3" name="Stat panel"/>
          <p:cNvSpPr/>
          <p:nvPr/>
        </p:nvSpPr>
        <p:spPr>
          <a:xfrm>
            <a:off x="457200" y="1188720"/>
            <a:ext cx="3291840" cy="3337560"/>
          </a:xfrm>
          <a:prstGeom prst="roundRect">
            <a:avLst>
              <a:gd name="adj" fmla="val 3333"/>
            </a:avLst>
          </a:prstGeom>
          <a:solidFill>
            <a:schemeClr val="tx2"/>
          </a:solidFill>
          <a:ln/>
        </p:spPr>
      </p:sp>
      <p:sp>
        <p:nvSpPr>
          <p:cNvPr id="4" name="Text 2"/>
          <p:cNvSpPr txBox="1"/>
          <p:nvPr/>
        </p:nvSpPr>
        <p:spPr>
          <a:xfrm>
            <a:off x="457200" y="1600200"/>
            <a:ext cx="3291840" cy="1005840"/>
          </a:xfrm>
          <a:prstGeom prst="rect">
            <a:avLst/>
          </a:prstGeom>
          <a:noFill/>
          <a:ln/>
        </p:spPr>
        <p:txBody>
          <a:bodyPr wrap="square" lIns="0" tIns="0" rIns="0" bIns="0" rtlCol="0" anchor="t"/>
          <a:lstStyle/>
          <a:p>
            <a:pPr marL="0" indent="0" algn="ctr">
              <a:buNone/>
            </a:pPr>
            <a:r>
              <a:rPr lang="en-US" sz="6000" b="1" dirty="0">
                <a:solidFill>
                  <a:schemeClr val="bg1"/>
                </a:solidFill>
              </a:rPr>
              <a:t>10 → 1</a:t>
            </a:r>
            <a:endParaRPr lang="en-US" sz="6000" dirty="0"/>
          </a:p>
        </p:txBody>
      </p:sp>
      <p:sp>
        <p:nvSpPr>
          <p:cNvPr id="5" name="Text 3"/>
          <p:cNvSpPr txBox="1"/>
          <p:nvPr/>
        </p:nvSpPr>
        <p:spPr>
          <a:xfrm>
            <a:off x="731520" y="2834640"/>
            <a:ext cx="2743200" cy="914400"/>
          </a:xfrm>
          <a:prstGeom prst="rect">
            <a:avLst/>
          </a:prstGeom>
          <a:noFill/>
          <a:ln/>
        </p:spPr>
        <p:txBody>
          <a:bodyPr wrap="square" lIns="0" tIns="0" rIns="0" bIns="0" rtlCol="0" anchor="t"/>
          <a:lstStyle/>
          <a:p>
            <a:pPr marL="0" indent="0" algn="ctr">
              <a:buNone/>
            </a:pPr>
            <a:r>
              <a:rPr lang="en-US" sz="1600" dirty="0">
                <a:solidFill>
                  <a:schemeClr val="bg2"/>
                </a:solidFill>
              </a:rPr>
              <a:t>ten move blocks can be replaced by one repeat block</a:t>
            </a:r>
            <a:endParaRPr lang="en-US" sz="1600" dirty="0"/>
          </a:p>
        </p:txBody>
      </p:sp>
      <p:sp>
        <p:nvSpPr>
          <p:cNvPr id="6" name="Icon circle"/>
          <p:cNvSpPr/>
          <p:nvPr/>
        </p:nvSpPr>
        <p:spPr>
          <a:xfrm>
            <a:off x="4114800" y="1234440"/>
            <a:ext cx="594360" cy="594360"/>
          </a:xfrm>
          <a:prstGeom prst="ellipse">
            <a:avLst/>
          </a:prstGeom>
          <a:solidFill>
            <a:schemeClr val="accent2"/>
          </a:solidFill>
          <a:ln/>
        </p:spPr>
      </p:sp>
      <p:pic>
        <p:nvPicPr>
          <p:cNvPr id="7" name="Image 0" descr="FaBolt"/>
          <p:cNvPicPr>
            <a:picLocks noChangeAspect="1"/>
          </p:cNvPicPr>
          <p:nvPr/>
        </p:nvPicPr>
        <p:blipFill>
          <a:blip r:embed="rId3"/>
          <a:stretch>
            <a:fillRect/>
          </a:stretch>
        </p:blipFill>
        <p:spPr>
          <a:xfrm>
            <a:off x="4263390" y="1383030"/>
            <a:ext cx="297180" cy="297180"/>
          </a:xfrm>
          <a:prstGeom prst="rect">
            <a:avLst/>
          </a:prstGeom>
        </p:spPr>
      </p:pic>
      <p:sp>
        <p:nvSpPr>
          <p:cNvPr id="8" name="Text 5"/>
          <p:cNvSpPr txBox="1"/>
          <p:nvPr/>
        </p:nvSpPr>
        <p:spPr>
          <a:xfrm>
            <a:off x="4892040" y="1188720"/>
            <a:ext cx="3794760" cy="365760"/>
          </a:xfrm>
          <a:prstGeom prst="rect">
            <a:avLst/>
          </a:prstGeom>
          <a:noFill/>
          <a:ln/>
        </p:spPr>
        <p:txBody>
          <a:bodyPr wrap="square" lIns="0" tIns="0" rIns="0" bIns="0" rtlCol="0" anchor="t"/>
          <a:lstStyle/>
          <a:p>
            <a:pPr marL="0" indent="0">
              <a:buNone/>
            </a:pPr>
            <a:r>
              <a:rPr lang="en-US" sz="1600" b="1" dirty="0">
                <a:solidFill>
                  <a:schemeClr val="tx1"/>
                </a:solidFill>
              </a:rPr>
              <a:t>Saves time</a:t>
            </a:r>
            <a:endParaRPr lang="en-US" sz="1600" dirty="0"/>
          </a:p>
        </p:txBody>
      </p:sp>
      <p:sp>
        <p:nvSpPr>
          <p:cNvPr id="9" name="Text 6"/>
          <p:cNvSpPr txBox="1"/>
          <p:nvPr/>
        </p:nvSpPr>
        <p:spPr>
          <a:xfrm>
            <a:off x="4892040" y="1554480"/>
            <a:ext cx="3794760" cy="411480"/>
          </a:xfrm>
          <a:prstGeom prst="rect">
            <a:avLst/>
          </a:prstGeom>
          <a:noFill/>
          <a:ln/>
        </p:spPr>
        <p:txBody>
          <a:bodyPr wrap="square" lIns="0" tIns="0" rIns="0" bIns="0" rtlCol="0" anchor="t"/>
          <a:lstStyle/>
          <a:p>
            <a:pPr marL="0" indent="0">
              <a:buNone/>
            </a:pPr>
            <a:r>
              <a:rPr lang="en-US" sz="1400" dirty="0">
                <a:solidFill>
                  <a:schemeClr val="tx1"/>
                </a:solidFill>
              </a:rPr>
              <a:t>You write the code once, not again and again.</a:t>
            </a:r>
            <a:endParaRPr lang="en-US" sz="1400" dirty="0"/>
          </a:p>
        </p:txBody>
      </p:sp>
      <p:sp>
        <p:nvSpPr>
          <p:cNvPr id="10" name="Icon circle"/>
          <p:cNvSpPr/>
          <p:nvPr/>
        </p:nvSpPr>
        <p:spPr>
          <a:xfrm>
            <a:off x="4114800" y="2084832"/>
            <a:ext cx="594360" cy="594360"/>
          </a:xfrm>
          <a:prstGeom prst="ellipse">
            <a:avLst/>
          </a:prstGeom>
          <a:solidFill>
            <a:schemeClr val="accent1"/>
          </a:solidFill>
          <a:ln/>
        </p:spPr>
      </p:sp>
      <p:pic>
        <p:nvPicPr>
          <p:cNvPr id="11" name="Image 1" descr="FaCompress"/>
          <p:cNvPicPr>
            <a:picLocks noChangeAspect="1"/>
          </p:cNvPicPr>
          <p:nvPr/>
        </p:nvPicPr>
        <p:blipFill>
          <a:blip r:embed="rId4"/>
          <a:stretch>
            <a:fillRect/>
          </a:stretch>
        </p:blipFill>
        <p:spPr>
          <a:xfrm>
            <a:off x="4263390" y="2233422"/>
            <a:ext cx="297180" cy="297180"/>
          </a:xfrm>
          <a:prstGeom prst="rect">
            <a:avLst/>
          </a:prstGeom>
        </p:spPr>
      </p:pic>
      <p:sp>
        <p:nvSpPr>
          <p:cNvPr id="12" name="Text 8"/>
          <p:cNvSpPr txBox="1"/>
          <p:nvPr/>
        </p:nvSpPr>
        <p:spPr>
          <a:xfrm>
            <a:off x="4892040" y="2039112"/>
            <a:ext cx="3794760" cy="365760"/>
          </a:xfrm>
          <a:prstGeom prst="rect">
            <a:avLst/>
          </a:prstGeom>
          <a:noFill/>
          <a:ln/>
        </p:spPr>
        <p:txBody>
          <a:bodyPr wrap="square" lIns="0" tIns="0" rIns="0" bIns="0" rtlCol="0" anchor="t"/>
          <a:lstStyle/>
          <a:p>
            <a:pPr marL="0" indent="0">
              <a:buNone/>
            </a:pPr>
            <a:r>
              <a:rPr lang="en-US" sz="1600" b="1" dirty="0">
                <a:solidFill>
                  <a:schemeClr val="tx1"/>
                </a:solidFill>
              </a:rPr>
              <a:t>Shorter programs</a:t>
            </a:r>
            <a:endParaRPr lang="en-US" sz="1600" dirty="0"/>
          </a:p>
        </p:txBody>
      </p:sp>
      <p:sp>
        <p:nvSpPr>
          <p:cNvPr id="13" name="Text 9"/>
          <p:cNvSpPr txBox="1"/>
          <p:nvPr/>
        </p:nvSpPr>
        <p:spPr>
          <a:xfrm>
            <a:off x="4892040" y="2404872"/>
            <a:ext cx="3794760" cy="411480"/>
          </a:xfrm>
          <a:prstGeom prst="rect">
            <a:avLst/>
          </a:prstGeom>
          <a:noFill/>
          <a:ln/>
        </p:spPr>
        <p:txBody>
          <a:bodyPr wrap="square" lIns="0" tIns="0" rIns="0" bIns="0" rtlCol="0" anchor="t"/>
          <a:lstStyle/>
          <a:p>
            <a:pPr marL="0" indent="0">
              <a:buNone/>
            </a:pPr>
            <a:r>
              <a:rPr lang="en-US" sz="1400" dirty="0">
                <a:solidFill>
                  <a:schemeClr val="tx1"/>
                </a:solidFill>
              </a:rPr>
              <a:t>Fewer blocks make code easier to read.</a:t>
            </a:r>
            <a:endParaRPr lang="en-US" sz="1400" dirty="0"/>
          </a:p>
        </p:txBody>
      </p:sp>
      <p:sp>
        <p:nvSpPr>
          <p:cNvPr id="14" name="Icon circle"/>
          <p:cNvSpPr/>
          <p:nvPr/>
        </p:nvSpPr>
        <p:spPr>
          <a:xfrm>
            <a:off x="4114800" y="2935224"/>
            <a:ext cx="594360" cy="594360"/>
          </a:xfrm>
          <a:prstGeom prst="ellipse">
            <a:avLst/>
          </a:prstGeom>
          <a:solidFill>
            <a:schemeClr val="accent3"/>
          </a:solidFill>
          <a:ln/>
        </p:spPr>
      </p:sp>
      <p:pic>
        <p:nvPicPr>
          <p:cNvPr id="15" name="Image 2" descr="FaBug"/>
          <p:cNvPicPr>
            <a:picLocks noChangeAspect="1"/>
          </p:cNvPicPr>
          <p:nvPr/>
        </p:nvPicPr>
        <p:blipFill>
          <a:blip r:embed="rId5"/>
          <a:stretch>
            <a:fillRect/>
          </a:stretch>
        </p:blipFill>
        <p:spPr>
          <a:xfrm>
            <a:off x="4263390" y="3083814"/>
            <a:ext cx="297180" cy="297180"/>
          </a:xfrm>
          <a:prstGeom prst="rect">
            <a:avLst/>
          </a:prstGeom>
        </p:spPr>
      </p:pic>
      <p:sp>
        <p:nvSpPr>
          <p:cNvPr id="16" name="Text 11"/>
          <p:cNvSpPr txBox="1"/>
          <p:nvPr/>
        </p:nvSpPr>
        <p:spPr>
          <a:xfrm>
            <a:off x="4892040" y="2889504"/>
            <a:ext cx="3794760" cy="365760"/>
          </a:xfrm>
          <a:prstGeom prst="rect">
            <a:avLst/>
          </a:prstGeom>
          <a:noFill/>
          <a:ln/>
        </p:spPr>
        <p:txBody>
          <a:bodyPr wrap="square" lIns="0" tIns="0" rIns="0" bIns="0" rtlCol="0" anchor="t"/>
          <a:lstStyle/>
          <a:p>
            <a:pPr marL="0" indent="0">
              <a:buNone/>
            </a:pPr>
            <a:r>
              <a:rPr lang="en-US" sz="1600" b="1" dirty="0">
                <a:solidFill>
                  <a:schemeClr val="tx1"/>
                </a:solidFill>
              </a:rPr>
              <a:t>Easier to change and debug</a:t>
            </a:r>
            <a:endParaRPr lang="en-US" sz="1600" dirty="0"/>
          </a:p>
        </p:txBody>
      </p:sp>
      <p:sp>
        <p:nvSpPr>
          <p:cNvPr id="17" name="Text 12"/>
          <p:cNvSpPr txBox="1"/>
          <p:nvPr/>
        </p:nvSpPr>
        <p:spPr>
          <a:xfrm>
            <a:off x="4892040" y="3255264"/>
            <a:ext cx="3794760" cy="411480"/>
          </a:xfrm>
          <a:prstGeom prst="rect">
            <a:avLst/>
          </a:prstGeom>
          <a:noFill/>
          <a:ln/>
        </p:spPr>
        <p:txBody>
          <a:bodyPr wrap="square" lIns="0" tIns="0" rIns="0" bIns="0" rtlCol="0" anchor="t"/>
          <a:lstStyle/>
          <a:p>
            <a:pPr marL="0" indent="0">
              <a:buNone/>
            </a:pPr>
            <a:r>
              <a:rPr lang="en-US" sz="1400" dirty="0">
                <a:solidFill>
                  <a:schemeClr val="tx1"/>
                </a:solidFill>
              </a:rPr>
              <a:t>Change one number to update the loop.</a:t>
            </a:r>
            <a:endParaRPr lang="en-US" sz="1400" dirty="0"/>
          </a:p>
        </p:txBody>
      </p:sp>
      <p:sp>
        <p:nvSpPr>
          <p:cNvPr id="18" name="Icon circle"/>
          <p:cNvSpPr/>
          <p:nvPr/>
        </p:nvSpPr>
        <p:spPr>
          <a:xfrm>
            <a:off x="4114800" y="3785616"/>
            <a:ext cx="594360" cy="594360"/>
          </a:xfrm>
          <a:prstGeom prst="ellipse">
            <a:avLst/>
          </a:prstGeom>
          <a:solidFill>
            <a:schemeClr val="accent4"/>
          </a:solidFill>
          <a:ln/>
        </p:spPr>
      </p:sp>
      <p:pic>
        <p:nvPicPr>
          <p:cNvPr id="19" name="Image 3" descr="FaInfinity"/>
          <p:cNvPicPr>
            <a:picLocks noChangeAspect="1"/>
          </p:cNvPicPr>
          <p:nvPr/>
        </p:nvPicPr>
        <p:blipFill>
          <a:blip r:embed="rId6"/>
          <a:stretch>
            <a:fillRect/>
          </a:stretch>
        </p:blipFill>
        <p:spPr>
          <a:xfrm>
            <a:off x="4263390" y="3934206"/>
            <a:ext cx="297180" cy="297180"/>
          </a:xfrm>
          <a:prstGeom prst="rect">
            <a:avLst/>
          </a:prstGeom>
        </p:spPr>
      </p:pic>
      <p:sp>
        <p:nvSpPr>
          <p:cNvPr id="20" name="Text 14"/>
          <p:cNvSpPr txBox="1"/>
          <p:nvPr/>
        </p:nvSpPr>
        <p:spPr>
          <a:xfrm>
            <a:off x="4892040" y="3739896"/>
            <a:ext cx="3794760" cy="365760"/>
          </a:xfrm>
          <a:prstGeom prst="rect">
            <a:avLst/>
          </a:prstGeom>
          <a:noFill/>
          <a:ln/>
        </p:spPr>
        <p:txBody>
          <a:bodyPr wrap="square" lIns="0" tIns="0" rIns="0" bIns="0" rtlCol="0" anchor="t"/>
          <a:lstStyle/>
          <a:p>
            <a:pPr marL="0" indent="0">
              <a:buNone/>
            </a:pPr>
            <a:r>
              <a:rPr lang="en-US" sz="1600" b="1" dirty="0">
                <a:solidFill>
                  <a:schemeClr val="tx1"/>
                </a:solidFill>
              </a:rPr>
              <a:t>Repeats any number of times</a:t>
            </a:r>
            <a:endParaRPr lang="en-US" sz="1600" dirty="0"/>
          </a:p>
        </p:txBody>
      </p:sp>
      <p:sp>
        <p:nvSpPr>
          <p:cNvPr id="21" name="Text 15"/>
          <p:cNvSpPr txBox="1"/>
          <p:nvPr/>
        </p:nvSpPr>
        <p:spPr>
          <a:xfrm>
            <a:off x="4892040" y="4105656"/>
            <a:ext cx="3794760" cy="411480"/>
          </a:xfrm>
          <a:prstGeom prst="rect">
            <a:avLst/>
          </a:prstGeom>
          <a:noFill/>
          <a:ln/>
        </p:spPr>
        <p:txBody>
          <a:bodyPr wrap="square" lIns="0" tIns="0" rIns="0" bIns="0" rtlCol="0" anchor="t"/>
          <a:lstStyle/>
          <a:p>
            <a:pPr marL="0" indent="0">
              <a:buNone/>
            </a:pPr>
            <a:r>
              <a:rPr lang="en-US" sz="1400" dirty="0">
                <a:solidFill>
                  <a:schemeClr val="tx1"/>
                </a:solidFill>
              </a:rPr>
              <a:t>Use forever, or repeat until a condition is true.</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1"/>
                </a:solidFill>
              </a:rPr>
              <a:t>Variables and input variables</a:t>
            </a:r>
            <a:endParaRPr lang="en-US" sz="3000" dirty="0"/>
          </a:p>
        </p:txBody>
      </p:sp>
      <p:sp>
        <p:nvSpPr>
          <p:cNvPr id="3" name="Card"/>
          <p:cNvSpPr/>
          <p:nvPr/>
        </p:nvSpPr>
        <p:spPr>
          <a:xfrm>
            <a:off x="457200" y="1143000"/>
            <a:ext cx="4023360" cy="3429000"/>
          </a:xfrm>
          <a:prstGeom prst="roundRect">
            <a:avLst>
              <a:gd name="adj" fmla="val 3200"/>
            </a:avLst>
          </a:prstGeom>
          <a:solidFill>
            <a:schemeClr val="bg2"/>
          </a:solidFill>
          <a:ln/>
        </p:spPr>
      </p:sp>
      <p:sp>
        <p:nvSpPr>
          <p:cNvPr id="4" name="Card"/>
          <p:cNvSpPr/>
          <p:nvPr/>
        </p:nvSpPr>
        <p:spPr>
          <a:xfrm>
            <a:off x="4663440" y="1143000"/>
            <a:ext cx="4023360" cy="3429000"/>
          </a:xfrm>
          <a:prstGeom prst="roundRect">
            <a:avLst>
              <a:gd name="adj" fmla="val 3200"/>
            </a:avLst>
          </a:prstGeom>
          <a:solidFill>
            <a:schemeClr val="bg2"/>
          </a:solidFill>
          <a:ln/>
        </p:spPr>
      </p:sp>
      <p:sp>
        <p:nvSpPr>
          <p:cNvPr id="5" name="Text 3"/>
          <p:cNvSpPr txBox="1"/>
          <p:nvPr/>
        </p:nvSpPr>
        <p:spPr>
          <a:xfrm>
            <a:off x="640080" y="1234440"/>
            <a:ext cx="3657600" cy="365760"/>
          </a:xfrm>
          <a:prstGeom prst="rect">
            <a:avLst/>
          </a:prstGeom>
          <a:noFill/>
          <a:ln/>
        </p:spPr>
        <p:txBody>
          <a:bodyPr wrap="square" lIns="0" tIns="0" rIns="0" bIns="0" rtlCol="0" anchor="t"/>
          <a:lstStyle/>
          <a:p>
            <a:pPr marL="0" indent="0">
              <a:buNone/>
            </a:pPr>
            <a:r>
              <a:rPr lang="en-US" sz="2000" b="1" dirty="0">
                <a:solidFill>
                  <a:schemeClr val="tx1"/>
                </a:solidFill>
              </a:rPr>
              <a:t>Variable</a:t>
            </a:r>
            <a:endParaRPr lang="en-US" sz="2000" dirty="0"/>
          </a:p>
        </p:txBody>
      </p:sp>
      <p:sp>
        <p:nvSpPr>
          <p:cNvPr id="6" name="Variable box"/>
          <p:cNvSpPr/>
          <p:nvPr/>
        </p:nvSpPr>
        <p:spPr>
          <a:xfrm>
            <a:off x="1371600" y="1783080"/>
            <a:ext cx="2194560" cy="1051560"/>
          </a:xfrm>
          <a:prstGeom prst="roundRect">
            <a:avLst>
              <a:gd name="adj" fmla="val 8696"/>
            </a:avLst>
          </a:prstGeom>
          <a:solidFill>
            <a:schemeClr val="accent5"/>
          </a:solidFill>
          <a:ln/>
        </p:spPr>
      </p:sp>
      <p:sp>
        <p:nvSpPr>
          <p:cNvPr id="7" name="Text 5"/>
          <p:cNvSpPr txBox="1"/>
          <p:nvPr/>
        </p:nvSpPr>
        <p:spPr>
          <a:xfrm>
            <a:off x="1737360" y="1645920"/>
            <a:ext cx="1463040" cy="329184"/>
          </a:xfrm>
          <a:prstGeom prst="roundRect">
            <a:avLst>
              <a:gd name="adj" fmla="val 27778"/>
            </a:avLst>
          </a:prstGeom>
          <a:solidFill>
            <a:schemeClr val="bg1"/>
          </a:solidFill>
          <a:ln/>
        </p:spPr>
        <p:txBody>
          <a:bodyPr wrap="square" lIns="0" tIns="0" rIns="0" bIns="0" rtlCol="0" anchor="ctr"/>
          <a:lstStyle/>
          <a:p>
            <a:pPr marL="0" indent="0" algn="ctr">
              <a:buNone/>
            </a:pPr>
            <a:r>
              <a:rPr lang="en-US" sz="1300" b="1" dirty="0">
                <a:solidFill>
                  <a:schemeClr val="tx1"/>
                </a:solidFill>
              </a:rPr>
              <a:t>score</a:t>
            </a:r>
            <a:endParaRPr lang="en-US" sz="1300" dirty="0"/>
          </a:p>
        </p:txBody>
      </p:sp>
      <p:sp>
        <p:nvSpPr>
          <p:cNvPr id="8" name="Text 6"/>
          <p:cNvSpPr txBox="1"/>
          <p:nvPr/>
        </p:nvSpPr>
        <p:spPr>
          <a:xfrm>
            <a:off x="1371600" y="2057400"/>
            <a:ext cx="2194560" cy="731520"/>
          </a:xfrm>
          <a:prstGeom prst="rect">
            <a:avLst/>
          </a:prstGeom>
          <a:noFill/>
          <a:ln/>
        </p:spPr>
        <p:txBody>
          <a:bodyPr wrap="square" lIns="0" tIns="0" rIns="0" bIns="0" rtlCol="0" anchor="ctr"/>
          <a:lstStyle/>
          <a:p>
            <a:pPr marL="0" indent="0" algn="ctr">
              <a:buNone/>
            </a:pPr>
            <a:r>
              <a:rPr lang="en-US" sz="3600" b="1" dirty="0">
                <a:solidFill>
                  <a:schemeClr val="tx1"/>
                </a:solidFill>
              </a:rPr>
              <a:t>25</a:t>
            </a:r>
            <a:endParaRPr lang="en-US" sz="3600" dirty="0"/>
          </a:p>
        </p:txBody>
      </p:sp>
      <p:sp>
        <p:nvSpPr>
          <p:cNvPr id="9" name="Text 7"/>
          <p:cNvSpPr txBox="1"/>
          <p:nvPr/>
        </p:nvSpPr>
        <p:spPr>
          <a:xfrm>
            <a:off x="640080" y="2971800"/>
            <a:ext cx="3657600" cy="1554480"/>
          </a:xfrm>
          <a:prstGeom prst="rect">
            <a:avLst/>
          </a:prstGeom>
          <a:noFill/>
          <a:ln/>
        </p:spPr>
        <p:txBody>
          <a:bodyPr wrap="square" lIns="0" tIns="0" rIns="0" bIns="0" rtlCol="0" anchor="t"/>
          <a:lstStyle/>
          <a:p>
            <a:pPr marL="0" indent="0">
              <a:buNone/>
            </a:pPr>
            <a:r>
              <a:rPr lang="en-US" sz="1300" dirty="0">
                <a:solidFill>
                  <a:schemeClr val="tx1"/>
                </a:solidFill>
              </a:rPr>
              <a:t>A named container (like a box) that stores a piece of data. The value may change each time you run the program, but the program does the same thing with it. Use it for a game score or the user’s name.</a:t>
            </a:r>
            <a:endParaRPr lang="en-US" sz="1300" dirty="0"/>
          </a:p>
        </p:txBody>
      </p:sp>
      <p:sp>
        <p:nvSpPr>
          <p:cNvPr id="10" name="Text 8"/>
          <p:cNvSpPr txBox="1"/>
          <p:nvPr/>
        </p:nvSpPr>
        <p:spPr>
          <a:xfrm>
            <a:off x="4846320" y="1234440"/>
            <a:ext cx="3657600" cy="365760"/>
          </a:xfrm>
          <a:prstGeom prst="rect">
            <a:avLst/>
          </a:prstGeom>
          <a:noFill/>
          <a:ln/>
        </p:spPr>
        <p:txBody>
          <a:bodyPr wrap="square" lIns="0" tIns="0" rIns="0" bIns="0" rtlCol="0" anchor="t"/>
          <a:lstStyle/>
          <a:p>
            <a:pPr marL="0" indent="0">
              <a:buNone/>
            </a:pPr>
            <a:r>
              <a:rPr lang="en-US" sz="2000" b="1" dirty="0">
                <a:solidFill>
                  <a:schemeClr val="tx1"/>
                </a:solidFill>
              </a:rPr>
              <a:t>Input variable</a:t>
            </a:r>
            <a:endParaRPr lang="en-US" sz="2000" dirty="0"/>
          </a:p>
        </p:txBody>
      </p:sp>
      <p:sp>
        <p:nvSpPr>
          <p:cNvPr id="11" name="Scratch block"/>
          <p:cNvSpPr/>
          <p:nvPr/>
        </p:nvSpPr>
        <p:spPr>
          <a:xfrm>
            <a:off x="4846320" y="1828800"/>
            <a:ext cx="2861158" cy="365760"/>
          </a:xfrm>
          <a:prstGeom prst="roundRect">
            <a:avLst>
              <a:gd name="adj" fmla="val 17500"/>
            </a:avLst>
          </a:prstGeom>
          <a:solidFill>
            <a:schemeClr val="accent1"/>
          </a:solidFill>
          <a:ln w="9525">
            <a:solidFill>
              <a:schemeClr val="bg1"/>
            </a:solidFill>
            <a:prstDash val="solid"/>
          </a:ln>
        </p:spPr>
      </p:sp>
      <p:sp>
        <p:nvSpPr>
          <p:cNvPr id="12" name="Text 10"/>
          <p:cNvSpPr txBox="1"/>
          <p:nvPr/>
        </p:nvSpPr>
        <p:spPr>
          <a:xfrm>
            <a:off x="4965192" y="1828800"/>
            <a:ext cx="288036" cy="365760"/>
          </a:xfrm>
          <a:prstGeom prst="rect">
            <a:avLst/>
          </a:prstGeom>
          <a:noFill/>
          <a:ln/>
        </p:spPr>
        <p:txBody>
          <a:bodyPr wrap="none" lIns="0" tIns="0" rIns="0" bIns="0" rtlCol="0" anchor="ctr"/>
          <a:lstStyle/>
          <a:p>
            <a:pPr marL="0" indent="0">
              <a:buNone/>
            </a:pPr>
            <a:r>
              <a:rPr lang="en-US" sz="1200" b="1" dirty="0">
                <a:solidFill>
                  <a:srgbClr val="1F2A44"/>
                </a:solidFill>
              </a:rPr>
              <a:t>ask</a:t>
            </a:r>
            <a:endParaRPr lang="en-US" sz="1200" dirty="0"/>
          </a:p>
        </p:txBody>
      </p:sp>
      <p:sp>
        <p:nvSpPr>
          <p:cNvPr id="13" name="Text 11"/>
          <p:cNvSpPr txBox="1"/>
          <p:nvPr/>
        </p:nvSpPr>
        <p:spPr>
          <a:xfrm>
            <a:off x="5317236" y="1874520"/>
            <a:ext cx="1484986" cy="274320"/>
          </a:xfrm>
          <a:prstGeom prst="roundRect">
            <a:avLst>
              <a:gd name="adj" fmla="val 33333"/>
            </a:avLst>
          </a:prstGeom>
          <a:solidFill>
            <a:schemeClr val="bg1"/>
          </a:solidFill>
          <a:ln/>
        </p:spPr>
        <p:txBody>
          <a:bodyPr wrap="none" lIns="0" tIns="0" rIns="0" bIns="0" rtlCol="0" anchor="ctr"/>
          <a:lstStyle/>
          <a:p>
            <a:pPr marL="0" indent="0" algn="ctr">
              <a:buNone/>
            </a:pPr>
            <a:r>
              <a:rPr lang="en-US" sz="1100" dirty="0">
                <a:solidFill>
                  <a:schemeClr val="tx1"/>
                </a:solidFill>
              </a:rPr>
              <a:t>What is your name?</a:t>
            </a:r>
            <a:endParaRPr lang="en-US" sz="1100" dirty="0"/>
          </a:p>
        </p:txBody>
      </p:sp>
      <p:sp>
        <p:nvSpPr>
          <p:cNvPr id="14" name="Text 12"/>
          <p:cNvSpPr txBox="1"/>
          <p:nvPr/>
        </p:nvSpPr>
        <p:spPr>
          <a:xfrm>
            <a:off x="6866230" y="1828800"/>
            <a:ext cx="722376" cy="365760"/>
          </a:xfrm>
          <a:prstGeom prst="rect">
            <a:avLst/>
          </a:prstGeom>
          <a:noFill/>
          <a:ln/>
        </p:spPr>
        <p:txBody>
          <a:bodyPr wrap="none" lIns="0" tIns="0" rIns="0" bIns="0" rtlCol="0" anchor="ctr"/>
          <a:lstStyle/>
          <a:p>
            <a:pPr marL="0" indent="0">
              <a:buNone/>
            </a:pPr>
            <a:r>
              <a:rPr lang="en-US" sz="1200" b="1" dirty="0">
                <a:solidFill>
                  <a:srgbClr val="1F2A44"/>
                </a:solidFill>
              </a:rPr>
              <a:t>and wait</a:t>
            </a:r>
            <a:endParaRPr lang="en-US" sz="1200" dirty="0"/>
          </a:p>
        </p:txBody>
      </p:sp>
      <p:sp>
        <p:nvSpPr>
          <p:cNvPr id="15" name="Shape 13"/>
          <p:cNvSpPr/>
          <p:nvPr/>
        </p:nvSpPr>
        <p:spPr>
          <a:xfrm>
            <a:off x="6583680" y="2240280"/>
            <a:ext cx="0" cy="274320"/>
          </a:xfrm>
          <a:prstGeom prst="line">
            <a:avLst/>
          </a:prstGeom>
          <a:noFill/>
          <a:ln w="22225">
            <a:solidFill>
              <a:schemeClr val="tx2"/>
            </a:solidFill>
            <a:prstDash val="solid"/>
            <a:tailEnd type="triangle"/>
          </a:ln>
        </p:spPr>
      </p:sp>
      <p:sp>
        <p:nvSpPr>
          <p:cNvPr id="16" name="Text 14"/>
          <p:cNvSpPr txBox="1"/>
          <p:nvPr/>
        </p:nvSpPr>
        <p:spPr>
          <a:xfrm>
            <a:off x="5577840" y="2560320"/>
            <a:ext cx="2011680" cy="411480"/>
          </a:xfrm>
          <a:prstGeom prst="roundRect">
            <a:avLst>
              <a:gd name="adj" fmla="val 44444"/>
            </a:avLst>
          </a:prstGeom>
          <a:solidFill>
            <a:schemeClr val="accent5"/>
          </a:solidFill>
          <a:ln/>
        </p:spPr>
        <p:txBody>
          <a:bodyPr wrap="square" lIns="0" tIns="0" rIns="0" bIns="0" rtlCol="0" anchor="ctr"/>
          <a:lstStyle/>
          <a:p>
            <a:pPr marL="0" indent="0" algn="ctr">
              <a:buNone/>
            </a:pPr>
            <a:r>
              <a:rPr lang="en-US" sz="1400" b="1" dirty="0">
                <a:solidFill>
                  <a:schemeClr val="tx1"/>
                </a:solidFill>
              </a:rPr>
              <a:t>answer = Sara</a:t>
            </a:r>
            <a:endParaRPr lang="en-US" sz="1400" dirty="0"/>
          </a:p>
        </p:txBody>
      </p:sp>
      <p:sp>
        <p:nvSpPr>
          <p:cNvPr id="17" name="Text 15"/>
          <p:cNvSpPr txBox="1"/>
          <p:nvPr/>
        </p:nvSpPr>
        <p:spPr>
          <a:xfrm>
            <a:off x="4846320" y="3200400"/>
            <a:ext cx="3657600" cy="1325880"/>
          </a:xfrm>
          <a:prstGeom prst="rect">
            <a:avLst/>
          </a:prstGeom>
          <a:noFill/>
          <a:ln/>
        </p:spPr>
        <p:txBody>
          <a:bodyPr wrap="square" lIns="0" tIns="0" rIns="0" bIns="0" rtlCol="0" anchor="t"/>
          <a:lstStyle/>
          <a:p>
            <a:pPr marL="0" indent="0">
              <a:buNone/>
            </a:pPr>
            <a:r>
              <a:rPr lang="en-US" sz="1300" dirty="0">
                <a:solidFill>
                  <a:schemeClr val="tx1"/>
                </a:solidFill>
              </a:rPr>
              <a:t>A type of variable that asks the user for information. In Scratch, use the ‘ask’ block to create an input variable.</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1"/>
                </a:solidFill>
              </a:rPr>
              <a:t>Operators: arithmetic</a:t>
            </a:r>
            <a:endParaRPr lang="en-US" sz="3000" dirty="0"/>
          </a:p>
        </p:txBody>
      </p:sp>
      <p:sp>
        <p:nvSpPr>
          <p:cNvPr id="3" name="Text 1"/>
          <p:cNvSpPr txBox="1"/>
          <p:nvPr/>
        </p:nvSpPr>
        <p:spPr>
          <a:xfrm>
            <a:off x="457200" y="1143000"/>
            <a:ext cx="3931920" cy="1463040"/>
          </a:xfrm>
          <a:prstGeom prst="rect">
            <a:avLst/>
          </a:prstGeom>
          <a:noFill/>
          <a:ln/>
        </p:spPr>
        <p:txBody>
          <a:bodyPr wrap="square" lIns="0" tIns="0" rIns="0" bIns="0" rtlCol="0" anchor="t"/>
          <a:lstStyle/>
          <a:p>
            <a:pPr marL="0" indent="0">
              <a:buNone/>
            </a:pPr>
            <a:r>
              <a:rPr lang="en-US" sz="1400" dirty="0">
                <a:solidFill>
                  <a:schemeClr val="tx1"/>
                </a:solidFill>
              </a:rPr>
              <a:t>An operator is a symbol that tells the program to do a certain action with the information around it, such as comparing, adding, or working out if a statement is true or false.</a:t>
            </a:r>
            <a:endParaRPr lang="en-US" sz="1400" dirty="0"/>
          </a:p>
        </p:txBody>
      </p:sp>
      <p:sp>
        <p:nvSpPr>
          <p:cNvPr id="4" name="Speech bubble"/>
          <p:cNvSpPr/>
          <p:nvPr/>
        </p:nvSpPr>
        <p:spPr>
          <a:xfrm>
            <a:off x="457200" y="2743200"/>
            <a:ext cx="3931920" cy="1783080"/>
          </a:xfrm>
          <a:prstGeom prst="roundRect">
            <a:avLst>
              <a:gd name="adj" fmla="val 6154"/>
            </a:avLst>
          </a:prstGeom>
          <a:solidFill>
            <a:schemeClr val="accent6"/>
          </a:solidFill>
          <a:ln/>
        </p:spPr>
      </p:sp>
      <p:sp>
        <p:nvSpPr>
          <p:cNvPr id="5" name="Text 3"/>
          <p:cNvSpPr txBox="1"/>
          <p:nvPr/>
        </p:nvSpPr>
        <p:spPr>
          <a:xfrm>
            <a:off x="640080" y="2880360"/>
            <a:ext cx="3566160" cy="1097280"/>
          </a:xfrm>
          <a:prstGeom prst="rect">
            <a:avLst/>
          </a:prstGeom>
          <a:noFill/>
          <a:ln/>
        </p:spPr>
        <p:txBody>
          <a:bodyPr wrap="square" lIns="0" tIns="0" rIns="0" bIns="0" rtlCol="0" anchor="t"/>
          <a:lstStyle/>
          <a:p>
            <a:pPr marL="0" indent="0">
              <a:buNone/>
            </a:pPr>
            <a:r>
              <a:rPr lang="en-US" sz="1500" b="1" dirty="0">
                <a:solidFill>
                  <a:schemeClr val="tx1"/>
                </a:solidFill>
              </a:rPr>
              <a:t>In programming we use * for multiply instead of x, and / for divide instead of ÷.</a:t>
            </a:r>
            <a:endParaRPr lang="en-US" sz="1500" dirty="0"/>
          </a:p>
        </p:txBody>
      </p:sp>
      <p:sp>
        <p:nvSpPr>
          <p:cNvPr id="6" name="Operator block"/>
          <p:cNvSpPr/>
          <p:nvPr/>
        </p:nvSpPr>
        <p:spPr>
          <a:xfrm>
            <a:off x="4663440" y="1143000"/>
            <a:ext cx="1920240" cy="566928"/>
          </a:xfrm>
          <a:prstGeom prst="roundRect">
            <a:avLst>
              <a:gd name="adj" fmla="val 48387"/>
            </a:avLst>
          </a:prstGeom>
          <a:solidFill>
            <a:schemeClr val="accent3"/>
          </a:solidFill>
          <a:ln w="12700">
            <a:solidFill>
              <a:schemeClr val="bg1"/>
            </a:solidFill>
            <a:prstDash val="solid"/>
          </a:ln>
        </p:spPr>
      </p:sp>
      <p:sp>
        <p:nvSpPr>
          <p:cNvPr id="7" name="Shape 5"/>
          <p:cNvSpPr/>
          <p:nvPr/>
        </p:nvSpPr>
        <p:spPr>
          <a:xfrm>
            <a:off x="4800600" y="1234440"/>
            <a:ext cx="384048" cy="384048"/>
          </a:xfrm>
          <a:prstGeom prst="ellipse">
            <a:avLst/>
          </a:prstGeom>
          <a:solidFill>
            <a:schemeClr val="bg1"/>
          </a:solidFill>
          <a:ln/>
        </p:spPr>
      </p:sp>
      <p:sp>
        <p:nvSpPr>
          <p:cNvPr id="8" name="Shape 6"/>
          <p:cNvSpPr/>
          <p:nvPr/>
        </p:nvSpPr>
        <p:spPr>
          <a:xfrm>
            <a:off x="6062472" y="1234440"/>
            <a:ext cx="384048" cy="384048"/>
          </a:xfrm>
          <a:prstGeom prst="ellipse">
            <a:avLst/>
          </a:prstGeom>
          <a:solidFill>
            <a:schemeClr val="bg1"/>
          </a:solidFill>
          <a:ln/>
        </p:spPr>
      </p:sp>
      <p:sp>
        <p:nvSpPr>
          <p:cNvPr id="9" name="Text 7"/>
          <p:cNvSpPr txBox="1"/>
          <p:nvPr/>
        </p:nvSpPr>
        <p:spPr>
          <a:xfrm>
            <a:off x="5184648" y="1143000"/>
            <a:ext cx="877824" cy="566928"/>
          </a:xfrm>
          <a:prstGeom prst="rect">
            <a:avLst/>
          </a:prstGeom>
          <a:noFill/>
          <a:ln/>
        </p:spPr>
        <p:txBody>
          <a:bodyPr wrap="square" lIns="0" tIns="0" rIns="0" bIns="0" rtlCol="0" anchor="ctr"/>
          <a:lstStyle/>
          <a:p>
            <a:pPr marL="0" indent="0" algn="ctr">
              <a:buNone/>
            </a:pPr>
            <a:r>
              <a:rPr lang="en-US" sz="2200" b="1" dirty="0">
                <a:solidFill>
                  <a:schemeClr val="tx1"/>
                </a:solidFill>
              </a:rPr>
              <a:t>+</a:t>
            </a:r>
            <a:endParaRPr lang="en-US" sz="2200" dirty="0"/>
          </a:p>
        </p:txBody>
      </p:sp>
      <p:sp>
        <p:nvSpPr>
          <p:cNvPr id="10" name="Text 8"/>
          <p:cNvSpPr txBox="1"/>
          <p:nvPr/>
        </p:nvSpPr>
        <p:spPr>
          <a:xfrm>
            <a:off x="6812280" y="1143000"/>
            <a:ext cx="1828800" cy="292608"/>
          </a:xfrm>
          <a:prstGeom prst="rect">
            <a:avLst/>
          </a:prstGeom>
          <a:noFill/>
          <a:ln/>
        </p:spPr>
        <p:txBody>
          <a:bodyPr wrap="square" lIns="0" tIns="0" rIns="0" bIns="0" rtlCol="0" anchor="t"/>
          <a:lstStyle/>
          <a:p>
            <a:pPr marL="0" indent="0">
              <a:buNone/>
            </a:pPr>
            <a:r>
              <a:rPr lang="en-US" sz="1600" b="1" dirty="0">
                <a:solidFill>
                  <a:schemeClr val="tx1"/>
                </a:solidFill>
              </a:rPr>
              <a:t>plus</a:t>
            </a:r>
            <a:endParaRPr lang="en-US" sz="1600" dirty="0"/>
          </a:p>
        </p:txBody>
      </p:sp>
      <p:sp>
        <p:nvSpPr>
          <p:cNvPr id="11" name="Text 9"/>
          <p:cNvSpPr txBox="1"/>
          <p:nvPr/>
        </p:nvSpPr>
        <p:spPr>
          <a:xfrm>
            <a:off x="6812280" y="1435608"/>
            <a:ext cx="1828800" cy="274320"/>
          </a:xfrm>
          <a:prstGeom prst="rect">
            <a:avLst/>
          </a:prstGeom>
          <a:noFill/>
          <a:ln/>
        </p:spPr>
        <p:txBody>
          <a:bodyPr wrap="square" lIns="0" tIns="0" rIns="0" bIns="0" rtlCol="0" anchor="t"/>
          <a:lstStyle/>
          <a:p>
            <a:pPr marL="0" indent="0">
              <a:buNone/>
            </a:pPr>
            <a:r>
              <a:rPr lang="en-US" sz="1400" dirty="0">
                <a:solidFill>
                  <a:schemeClr val="tx1"/>
                </a:solidFill>
              </a:rPr>
              <a:t>5 + 4 = 9</a:t>
            </a:r>
            <a:endParaRPr lang="en-US" sz="1400" dirty="0"/>
          </a:p>
        </p:txBody>
      </p:sp>
      <p:sp>
        <p:nvSpPr>
          <p:cNvPr id="12" name="Operator block"/>
          <p:cNvSpPr/>
          <p:nvPr/>
        </p:nvSpPr>
        <p:spPr>
          <a:xfrm>
            <a:off x="4663440" y="2020824"/>
            <a:ext cx="1920240" cy="566928"/>
          </a:xfrm>
          <a:prstGeom prst="roundRect">
            <a:avLst>
              <a:gd name="adj" fmla="val 48387"/>
            </a:avLst>
          </a:prstGeom>
          <a:solidFill>
            <a:schemeClr val="accent3"/>
          </a:solidFill>
          <a:ln w="12700">
            <a:solidFill>
              <a:schemeClr val="bg1"/>
            </a:solidFill>
            <a:prstDash val="solid"/>
          </a:ln>
        </p:spPr>
      </p:sp>
      <p:sp>
        <p:nvSpPr>
          <p:cNvPr id="13" name="Shape 11"/>
          <p:cNvSpPr/>
          <p:nvPr/>
        </p:nvSpPr>
        <p:spPr>
          <a:xfrm>
            <a:off x="4800600" y="2112264"/>
            <a:ext cx="384048" cy="384048"/>
          </a:xfrm>
          <a:prstGeom prst="ellipse">
            <a:avLst/>
          </a:prstGeom>
          <a:solidFill>
            <a:schemeClr val="bg1"/>
          </a:solidFill>
          <a:ln/>
        </p:spPr>
      </p:sp>
      <p:sp>
        <p:nvSpPr>
          <p:cNvPr id="14" name="Shape 12"/>
          <p:cNvSpPr/>
          <p:nvPr/>
        </p:nvSpPr>
        <p:spPr>
          <a:xfrm>
            <a:off x="6062472" y="2112264"/>
            <a:ext cx="384048" cy="384048"/>
          </a:xfrm>
          <a:prstGeom prst="ellipse">
            <a:avLst/>
          </a:prstGeom>
          <a:solidFill>
            <a:schemeClr val="bg1"/>
          </a:solidFill>
          <a:ln/>
        </p:spPr>
      </p:sp>
      <p:sp>
        <p:nvSpPr>
          <p:cNvPr id="15" name="Text 13"/>
          <p:cNvSpPr txBox="1"/>
          <p:nvPr/>
        </p:nvSpPr>
        <p:spPr>
          <a:xfrm>
            <a:off x="5184648" y="2020824"/>
            <a:ext cx="877824" cy="566928"/>
          </a:xfrm>
          <a:prstGeom prst="rect">
            <a:avLst/>
          </a:prstGeom>
          <a:noFill/>
          <a:ln/>
        </p:spPr>
        <p:txBody>
          <a:bodyPr wrap="square" lIns="0" tIns="0" rIns="0" bIns="0" rtlCol="0" anchor="ctr"/>
          <a:lstStyle/>
          <a:p>
            <a:pPr marL="0" indent="0" algn="ctr">
              <a:buNone/>
            </a:pPr>
            <a:r>
              <a:rPr lang="en-US" sz="2200" b="1" dirty="0">
                <a:solidFill>
                  <a:schemeClr val="tx1"/>
                </a:solidFill>
              </a:rPr>
              <a:t>−</a:t>
            </a:r>
            <a:endParaRPr lang="en-US" sz="2200" dirty="0"/>
          </a:p>
        </p:txBody>
      </p:sp>
      <p:sp>
        <p:nvSpPr>
          <p:cNvPr id="16" name="Text 14"/>
          <p:cNvSpPr txBox="1"/>
          <p:nvPr/>
        </p:nvSpPr>
        <p:spPr>
          <a:xfrm>
            <a:off x="6812280" y="2020824"/>
            <a:ext cx="1828800" cy="292608"/>
          </a:xfrm>
          <a:prstGeom prst="rect">
            <a:avLst/>
          </a:prstGeom>
          <a:noFill/>
          <a:ln/>
        </p:spPr>
        <p:txBody>
          <a:bodyPr wrap="square" lIns="0" tIns="0" rIns="0" bIns="0" rtlCol="0" anchor="t"/>
          <a:lstStyle/>
          <a:p>
            <a:pPr marL="0" indent="0">
              <a:buNone/>
            </a:pPr>
            <a:r>
              <a:rPr lang="en-US" sz="1600" b="1" dirty="0">
                <a:solidFill>
                  <a:schemeClr val="tx1"/>
                </a:solidFill>
              </a:rPr>
              <a:t>minus</a:t>
            </a:r>
            <a:endParaRPr lang="en-US" sz="1600" dirty="0"/>
          </a:p>
        </p:txBody>
      </p:sp>
      <p:sp>
        <p:nvSpPr>
          <p:cNvPr id="17" name="Text 15"/>
          <p:cNvSpPr txBox="1"/>
          <p:nvPr/>
        </p:nvSpPr>
        <p:spPr>
          <a:xfrm>
            <a:off x="6812280" y="2313432"/>
            <a:ext cx="1828800" cy="274320"/>
          </a:xfrm>
          <a:prstGeom prst="rect">
            <a:avLst/>
          </a:prstGeom>
          <a:noFill/>
          <a:ln/>
        </p:spPr>
        <p:txBody>
          <a:bodyPr wrap="square" lIns="0" tIns="0" rIns="0" bIns="0" rtlCol="0" anchor="t"/>
          <a:lstStyle/>
          <a:p>
            <a:pPr marL="0" indent="0">
              <a:buNone/>
            </a:pPr>
            <a:r>
              <a:rPr lang="en-US" sz="1400" dirty="0">
                <a:solidFill>
                  <a:schemeClr val="tx1"/>
                </a:solidFill>
              </a:rPr>
              <a:t>5 − 4 = 1</a:t>
            </a:r>
            <a:endParaRPr lang="en-US" sz="1400" dirty="0"/>
          </a:p>
        </p:txBody>
      </p:sp>
      <p:sp>
        <p:nvSpPr>
          <p:cNvPr id="18" name="Operator block"/>
          <p:cNvSpPr/>
          <p:nvPr/>
        </p:nvSpPr>
        <p:spPr>
          <a:xfrm>
            <a:off x="4663440" y="2898648"/>
            <a:ext cx="1920240" cy="566928"/>
          </a:xfrm>
          <a:prstGeom prst="roundRect">
            <a:avLst>
              <a:gd name="adj" fmla="val 48387"/>
            </a:avLst>
          </a:prstGeom>
          <a:solidFill>
            <a:schemeClr val="accent3"/>
          </a:solidFill>
          <a:ln w="12700">
            <a:solidFill>
              <a:schemeClr val="bg1"/>
            </a:solidFill>
            <a:prstDash val="solid"/>
          </a:ln>
        </p:spPr>
      </p:sp>
      <p:sp>
        <p:nvSpPr>
          <p:cNvPr id="19" name="Shape 17"/>
          <p:cNvSpPr/>
          <p:nvPr/>
        </p:nvSpPr>
        <p:spPr>
          <a:xfrm>
            <a:off x="4800600" y="2990088"/>
            <a:ext cx="384048" cy="384048"/>
          </a:xfrm>
          <a:prstGeom prst="ellipse">
            <a:avLst/>
          </a:prstGeom>
          <a:solidFill>
            <a:schemeClr val="bg1"/>
          </a:solidFill>
          <a:ln/>
        </p:spPr>
      </p:sp>
      <p:sp>
        <p:nvSpPr>
          <p:cNvPr id="20" name="Shape 18"/>
          <p:cNvSpPr/>
          <p:nvPr/>
        </p:nvSpPr>
        <p:spPr>
          <a:xfrm>
            <a:off x="6062472" y="2990088"/>
            <a:ext cx="384048" cy="384048"/>
          </a:xfrm>
          <a:prstGeom prst="ellipse">
            <a:avLst/>
          </a:prstGeom>
          <a:solidFill>
            <a:schemeClr val="bg1"/>
          </a:solidFill>
          <a:ln/>
        </p:spPr>
      </p:sp>
      <p:sp>
        <p:nvSpPr>
          <p:cNvPr id="21" name="Text 19"/>
          <p:cNvSpPr txBox="1"/>
          <p:nvPr/>
        </p:nvSpPr>
        <p:spPr>
          <a:xfrm>
            <a:off x="5184648" y="2898648"/>
            <a:ext cx="877824" cy="566928"/>
          </a:xfrm>
          <a:prstGeom prst="rect">
            <a:avLst/>
          </a:prstGeom>
          <a:noFill/>
          <a:ln/>
        </p:spPr>
        <p:txBody>
          <a:bodyPr wrap="square" lIns="0" tIns="0" rIns="0" bIns="0" rtlCol="0" anchor="ctr"/>
          <a:lstStyle/>
          <a:p>
            <a:pPr marL="0" indent="0" algn="ctr">
              <a:buNone/>
            </a:pPr>
            <a:r>
              <a:rPr lang="en-US" sz="2200" b="1" dirty="0">
                <a:solidFill>
                  <a:schemeClr val="tx1"/>
                </a:solidFill>
              </a:rPr>
              <a:t>*</a:t>
            </a:r>
            <a:endParaRPr lang="en-US" sz="2200" dirty="0"/>
          </a:p>
        </p:txBody>
      </p:sp>
      <p:sp>
        <p:nvSpPr>
          <p:cNvPr id="22" name="Text 20"/>
          <p:cNvSpPr txBox="1"/>
          <p:nvPr/>
        </p:nvSpPr>
        <p:spPr>
          <a:xfrm>
            <a:off x="6812280" y="2898648"/>
            <a:ext cx="1828800" cy="292608"/>
          </a:xfrm>
          <a:prstGeom prst="rect">
            <a:avLst/>
          </a:prstGeom>
          <a:noFill/>
          <a:ln/>
        </p:spPr>
        <p:txBody>
          <a:bodyPr wrap="square" lIns="0" tIns="0" rIns="0" bIns="0" rtlCol="0" anchor="t"/>
          <a:lstStyle/>
          <a:p>
            <a:pPr marL="0" indent="0">
              <a:buNone/>
            </a:pPr>
            <a:r>
              <a:rPr lang="en-US" sz="1600" b="1" dirty="0">
                <a:solidFill>
                  <a:schemeClr val="tx1"/>
                </a:solidFill>
              </a:rPr>
              <a:t>multiply</a:t>
            </a:r>
            <a:endParaRPr lang="en-US" sz="1600" dirty="0"/>
          </a:p>
        </p:txBody>
      </p:sp>
      <p:sp>
        <p:nvSpPr>
          <p:cNvPr id="23" name="Text 21"/>
          <p:cNvSpPr txBox="1"/>
          <p:nvPr/>
        </p:nvSpPr>
        <p:spPr>
          <a:xfrm>
            <a:off x="6812280" y="3191256"/>
            <a:ext cx="1828800" cy="274320"/>
          </a:xfrm>
          <a:prstGeom prst="rect">
            <a:avLst/>
          </a:prstGeom>
          <a:noFill/>
          <a:ln/>
        </p:spPr>
        <p:txBody>
          <a:bodyPr wrap="square" lIns="0" tIns="0" rIns="0" bIns="0" rtlCol="0" anchor="t"/>
          <a:lstStyle/>
          <a:p>
            <a:pPr marL="0" indent="0">
              <a:buNone/>
            </a:pPr>
            <a:r>
              <a:rPr lang="en-US" sz="1400" dirty="0">
                <a:solidFill>
                  <a:schemeClr val="tx1"/>
                </a:solidFill>
              </a:rPr>
              <a:t>5 * 4 = 20</a:t>
            </a:r>
            <a:endParaRPr lang="en-US" sz="1400" dirty="0"/>
          </a:p>
        </p:txBody>
      </p:sp>
      <p:sp>
        <p:nvSpPr>
          <p:cNvPr id="24" name="Operator block"/>
          <p:cNvSpPr/>
          <p:nvPr/>
        </p:nvSpPr>
        <p:spPr>
          <a:xfrm>
            <a:off x="4663440" y="3776472"/>
            <a:ext cx="1920240" cy="566928"/>
          </a:xfrm>
          <a:prstGeom prst="roundRect">
            <a:avLst>
              <a:gd name="adj" fmla="val 48387"/>
            </a:avLst>
          </a:prstGeom>
          <a:solidFill>
            <a:schemeClr val="accent3"/>
          </a:solidFill>
          <a:ln w="12700">
            <a:solidFill>
              <a:schemeClr val="bg1"/>
            </a:solidFill>
            <a:prstDash val="solid"/>
          </a:ln>
        </p:spPr>
      </p:sp>
      <p:sp>
        <p:nvSpPr>
          <p:cNvPr id="25" name="Shape 23"/>
          <p:cNvSpPr/>
          <p:nvPr/>
        </p:nvSpPr>
        <p:spPr>
          <a:xfrm>
            <a:off x="4800600" y="3867912"/>
            <a:ext cx="384048" cy="384048"/>
          </a:xfrm>
          <a:prstGeom prst="ellipse">
            <a:avLst/>
          </a:prstGeom>
          <a:solidFill>
            <a:schemeClr val="bg1"/>
          </a:solidFill>
          <a:ln/>
        </p:spPr>
      </p:sp>
      <p:sp>
        <p:nvSpPr>
          <p:cNvPr id="26" name="Shape 24"/>
          <p:cNvSpPr/>
          <p:nvPr/>
        </p:nvSpPr>
        <p:spPr>
          <a:xfrm>
            <a:off x="6062472" y="3867912"/>
            <a:ext cx="384048" cy="384048"/>
          </a:xfrm>
          <a:prstGeom prst="ellipse">
            <a:avLst/>
          </a:prstGeom>
          <a:solidFill>
            <a:schemeClr val="bg1"/>
          </a:solidFill>
          <a:ln/>
        </p:spPr>
      </p:sp>
      <p:sp>
        <p:nvSpPr>
          <p:cNvPr id="27" name="Text 25"/>
          <p:cNvSpPr txBox="1"/>
          <p:nvPr/>
        </p:nvSpPr>
        <p:spPr>
          <a:xfrm>
            <a:off x="5184648" y="3776472"/>
            <a:ext cx="877824" cy="566928"/>
          </a:xfrm>
          <a:prstGeom prst="rect">
            <a:avLst/>
          </a:prstGeom>
          <a:noFill/>
          <a:ln/>
        </p:spPr>
        <p:txBody>
          <a:bodyPr wrap="square" lIns="0" tIns="0" rIns="0" bIns="0" rtlCol="0" anchor="ctr"/>
          <a:lstStyle/>
          <a:p>
            <a:pPr marL="0" indent="0" algn="ctr">
              <a:buNone/>
            </a:pPr>
            <a:r>
              <a:rPr lang="en-US" sz="2200" b="1" dirty="0">
                <a:solidFill>
                  <a:schemeClr val="tx1"/>
                </a:solidFill>
              </a:rPr>
              <a:t>/</a:t>
            </a:r>
            <a:endParaRPr lang="en-US" sz="2200" dirty="0"/>
          </a:p>
        </p:txBody>
      </p:sp>
      <p:sp>
        <p:nvSpPr>
          <p:cNvPr id="28" name="Text 26"/>
          <p:cNvSpPr txBox="1"/>
          <p:nvPr/>
        </p:nvSpPr>
        <p:spPr>
          <a:xfrm>
            <a:off x="6812280" y="3776472"/>
            <a:ext cx="1828800" cy="292608"/>
          </a:xfrm>
          <a:prstGeom prst="rect">
            <a:avLst/>
          </a:prstGeom>
          <a:noFill/>
          <a:ln/>
        </p:spPr>
        <p:txBody>
          <a:bodyPr wrap="square" lIns="0" tIns="0" rIns="0" bIns="0" rtlCol="0" anchor="t"/>
          <a:lstStyle/>
          <a:p>
            <a:pPr marL="0" indent="0">
              <a:buNone/>
            </a:pPr>
            <a:r>
              <a:rPr lang="en-US" sz="1600" b="1" dirty="0">
                <a:solidFill>
                  <a:schemeClr val="tx1"/>
                </a:solidFill>
              </a:rPr>
              <a:t>divide</a:t>
            </a:r>
            <a:endParaRPr lang="en-US" sz="1600" dirty="0"/>
          </a:p>
        </p:txBody>
      </p:sp>
      <p:sp>
        <p:nvSpPr>
          <p:cNvPr id="29" name="Text 27"/>
          <p:cNvSpPr txBox="1"/>
          <p:nvPr/>
        </p:nvSpPr>
        <p:spPr>
          <a:xfrm>
            <a:off x="6812280" y="4069080"/>
            <a:ext cx="1828800" cy="274320"/>
          </a:xfrm>
          <a:prstGeom prst="rect">
            <a:avLst/>
          </a:prstGeom>
          <a:noFill/>
          <a:ln/>
        </p:spPr>
        <p:txBody>
          <a:bodyPr wrap="square" lIns="0" tIns="0" rIns="0" bIns="0" rtlCol="0" anchor="t"/>
          <a:lstStyle/>
          <a:p>
            <a:pPr marL="0" indent="0">
              <a:buNone/>
            </a:pPr>
            <a:r>
              <a:rPr lang="en-US" sz="1400" dirty="0">
                <a:solidFill>
                  <a:schemeClr val="tx1"/>
                </a:solidFill>
              </a:rPr>
              <a:t>8 / 2 = 4</a:t>
            </a:r>
            <a:endParaRPr lang="en-US" sz="1400" dirty="0"/>
          </a:p>
        </p:txBody>
      </p:sp>
      <p:sp>
        <p:nvSpPr>
          <p:cNvPr id="30"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1"/>
                </a:solidFill>
              </a:rPr>
              <a:t>Unplugged activity 2: write an algorithm</a:t>
            </a:r>
            <a:endParaRPr lang="en-US" sz="3000" dirty="0"/>
          </a:p>
        </p:txBody>
      </p:sp>
      <p:sp>
        <p:nvSpPr>
          <p:cNvPr id="3" name="Needs banner"/>
          <p:cNvSpPr/>
          <p:nvPr/>
        </p:nvSpPr>
        <p:spPr>
          <a:xfrm>
            <a:off x="457200" y="1143000"/>
            <a:ext cx="4206240" cy="457200"/>
          </a:xfrm>
          <a:prstGeom prst="roundRect">
            <a:avLst>
              <a:gd name="adj" fmla="val 24000"/>
            </a:avLst>
          </a:prstGeom>
          <a:solidFill>
            <a:schemeClr val="accent1"/>
          </a:solidFill>
          <a:ln/>
        </p:spPr>
      </p:sp>
      <p:pic>
        <p:nvPicPr>
          <p:cNvPr id="4" name="Image 0" descr="Pencil"/>
          <p:cNvPicPr>
            <a:picLocks noChangeAspect="1"/>
          </p:cNvPicPr>
          <p:nvPr/>
        </p:nvPicPr>
        <p:blipFill>
          <a:blip r:embed="rId3"/>
          <a:stretch>
            <a:fillRect/>
          </a:stretch>
        </p:blipFill>
        <p:spPr>
          <a:xfrm>
            <a:off x="594360" y="1234440"/>
            <a:ext cx="274320" cy="274320"/>
          </a:xfrm>
          <a:prstGeom prst="rect">
            <a:avLst/>
          </a:prstGeom>
        </p:spPr>
      </p:pic>
      <p:sp>
        <p:nvSpPr>
          <p:cNvPr id="5" name="Text 2"/>
          <p:cNvSpPr txBox="1"/>
          <p:nvPr/>
        </p:nvSpPr>
        <p:spPr>
          <a:xfrm>
            <a:off x="1005840" y="1143000"/>
            <a:ext cx="3566160" cy="457200"/>
          </a:xfrm>
          <a:prstGeom prst="rect">
            <a:avLst/>
          </a:prstGeom>
          <a:noFill/>
          <a:ln/>
        </p:spPr>
        <p:txBody>
          <a:bodyPr wrap="square" lIns="0" tIns="0" rIns="0" bIns="0" rtlCol="0" anchor="ctr"/>
          <a:lstStyle/>
          <a:p>
            <a:pPr marL="0" indent="0">
              <a:buNone/>
            </a:pPr>
            <a:r>
              <a:rPr lang="en-US" sz="1400" b="1" dirty="0">
                <a:solidFill>
                  <a:schemeClr val="tx1"/>
                </a:solidFill>
              </a:rPr>
              <a:t>You will need: a pen and paper (no computer)</a:t>
            </a:r>
            <a:endParaRPr lang="en-US" sz="1400" dirty="0"/>
          </a:p>
        </p:txBody>
      </p:sp>
      <p:sp>
        <p:nvSpPr>
          <p:cNvPr id="6" name="Example algorithm"/>
          <p:cNvSpPr/>
          <p:nvPr/>
        </p:nvSpPr>
        <p:spPr>
          <a:xfrm>
            <a:off x="457200" y="1783080"/>
            <a:ext cx="4206240" cy="2743200"/>
          </a:xfrm>
          <a:prstGeom prst="roundRect">
            <a:avLst>
              <a:gd name="adj" fmla="val 4000"/>
            </a:avLst>
          </a:prstGeom>
          <a:solidFill>
            <a:schemeClr val="bg2"/>
          </a:solidFill>
          <a:ln/>
        </p:spPr>
      </p:sp>
      <p:sp>
        <p:nvSpPr>
          <p:cNvPr id="7" name="Text 4"/>
          <p:cNvSpPr txBox="1"/>
          <p:nvPr/>
        </p:nvSpPr>
        <p:spPr>
          <a:xfrm>
            <a:off x="640080" y="1874520"/>
            <a:ext cx="3840480" cy="320040"/>
          </a:xfrm>
          <a:prstGeom prst="rect">
            <a:avLst/>
          </a:prstGeom>
          <a:noFill/>
          <a:ln/>
        </p:spPr>
        <p:txBody>
          <a:bodyPr wrap="square" lIns="0" tIns="0" rIns="0" bIns="0" rtlCol="0" anchor="t"/>
          <a:lstStyle/>
          <a:p>
            <a:pPr marL="0" indent="0">
              <a:buNone/>
            </a:pPr>
            <a:r>
              <a:rPr lang="en-US" sz="1600" b="1" dirty="0">
                <a:solidFill>
                  <a:schemeClr val="tx1"/>
                </a:solidFill>
              </a:rPr>
              <a:t>Example algorithm</a:t>
            </a:r>
            <a:endParaRPr lang="en-US" sz="1600" dirty="0"/>
          </a:p>
        </p:txBody>
      </p:sp>
      <p:sp>
        <p:nvSpPr>
          <p:cNvPr id="8" name="Text 5"/>
          <p:cNvSpPr txBox="1"/>
          <p:nvPr/>
        </p:nvSpPr>
        <p:spPr>
          <a:xfrm>
            <a:off x="640080" y="2359152"/>
            <a:ext cx="384048" cy="384048"/>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tx1"/>
                </a:solidFill>
              </a:rPr>
              <a:t>1</a:t>
            </a:r>
            <a:endParaRPr lang="en-US" sz="1400" dirty="0"/>
          </a:p>
        </p:txBody>
      </p:sp>
      <p:sp>
        <p:nvSpPr>
          <p:cNvPr id="9" name="Text 6"/>
          <p:cNvSpPr txBox="1"/>
          <p:nvPr/>
        </p:nvSpPr>
        <p:spPr>
          <a:xfrm>
            <a:off x="1188720" y="2286000"/>
            <a:ext cx="3291840" cy="548640"/>
          </a:xfrm>
          <a:prstGeom prst="rect">
            <a:avLst/>
          </a:prstGeom>
          <a:noFill/>
          <a:ln/>
        </p:spPr>
        <p:txBody>
          <a:bodyPr wrap="square" lIns="0" tIns="0" rIns="0" bIns="0" rtlCol="0" anchor="ctr"/>
          <a:lstStyle/>
          <a:p>
            <a:pPr marL="0" indent="0">
              <a:buNone/>
            </a:pPr>
            <a:r>
              <a:rPr lang="en-US" sz="1400" dirty="0">
                <a:solidFill>
                  <a:schemeClr val="tx1"/>
                </a:solidFill>
              </a:rPr>
              <a:t>When the green flag is clicked</a:t>
            </a:r>
            <a:endParaRPr lang="en-US" sz="1400" dirty="0"/>
          </a:p>
        </p:txBody>
      </p:sp>
      <p:sp>
        <p:nvSpPr>
          <p:cNvPr id="10" name="Text 7"/>
          <p:cNvSpPr txBox="1"/>
          <p:nvPr/>
        </p:nvSpPr>
        <p:spPr>
          <a:xfrm>
            <a:off x="640080" y="3072384"/>
            <a:ext cx="384048" cy="384048"/>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tx1"/>
                </a:solidFill>
              </a:rPr>
              <a:t>2</a:t>
            </a:r>
            <a:endParaRPr lang="en-US" sz="1400" dirty="0"/>
          </a:p>
        </p:txBody>
      </p:sp>
      <p:sp>
        <p:nvSpPr>
          <p:cNvPr id="11" name="Text 8"/>
          <p:cNvSpPr txBox="1"/>
          <p:nvPr/>
        </p:nvSpPr>
        <p:spPr>
          <a:xfrm>
            <a:off x="1188720" y="2999232"/>
            <a:ext cx="3291840" cy="548640"/>
          </a:xfrm>
          <a:prstGeom prst="rect">
            <a:avLst/>
          </a:prstGeom>
          <a:noFill/>
          <a:ln/>
        </p:spPr>
        <p:txBody>
          <a:bodyPr wrap="square" lIns="0" tIns="0" rIns="0" bIns="0" rtlCol="0" anchor="ctr"/>
          <a:lstStyle/>
          <a:p>
            <a:pPr marL="0" indent="0">
              <a:buNone/>
            </a:pPr>
            <a:r>
              <a:rPr lang="en-US" sz="1400" dirty="0">
                <a:solidFill>
                  <a:schemeClr val="tx1"/>
                </a:solidFill>
              </a:rPr>
              <a:t>Say ‘What is 5 times 4?’ for 5 seconds</a:t>
            </a:r>
            <a:endParaRPr lang="en-US" sz="1400" dirty="0"/>
          </a:p>
        </p:txBody>
      </p:sp>
      <p:sp>
        <p:nvSpPr>
          <p:cNvPr id="12" name="Text 9"/>
          <p:cNvSpPr txBox="1"/>
          <p:nvPr/>
        </p:nvSpPr>
        <p:spPr>
          <a:xfrm>
            <a:off x="640080" y="3785616"/>
            <a:ext cx="384048" cy="384048"/>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tx1"/>
                </a:solidFill>
              </a:rPr>
              <a:t>3</a:t>
            </a:r>
            <a:endParaRPr lang="en-US" sz="1400" dirty="0"/>
          </a:p>
        </p:txBody>
      </p:sp>
      <p:sp>
        <p:nvSpPr>
          <p:cNvPr id="13" name="Text 10"/>
          <p:cNvSpPr txBox="1"/>
          <p:nvPr/>
        </p:nvSpPr>
        <p:spPr>
          <a:xfrm>
            <a:off x="1188720" y="3712464"/>
            <a:ext cx="3291840" cy="548640"/>
          </a:xfrm>
          <a:prstGeom prst="rect">
            <a:avLst/>
          </a:prstGeom>
          <a:noFill/>
          <a:ln/>
        </p:spPr>
        <p:txBody>
          <a:bodyPr wrap="square" lIns="0" tIns="0" rIns="0" bIns="0" rtlCol="0" anchor="ctr"/>
          <a:lstStyle/>
          <a:p>
            <a:pPr marL="0" indent="0">
              <a:buNone/>
            </a:pPr>
            <a:r>
              <a:rPr lang="en-US" sz="1400" dirty="0">
                <a:solidFill>
                  <a:schemeClr val="tx1"/>
                </a:solidFill>
              </a:rPr>
              <a:t>Say ‘The answer is ’ [5 * 4] for 5 seconds</a:t>
            </a:r>
            <a:endParaRPr lang="en-US" sz="1400" dirty="0"/>
          </a:p>
        </p:txBody>
      </p:sp>
      <p:sp>
        <p:nvSpPr>
          <p:cNvPr id="14" name="Text 11"/>
          <p:cNvSpPr txBox="1"/>
          <p:nvPr/>
        </p:nvSpPr>
        <p:spPr>
          <a:xfrm>
            <a:off x="4937760" y="1143000"/>
            <a:ext cx="3749040" cy="365760"/>
          </a:xfrm>
          <a:prstGeom prst="rect">
            <a:avLst/>
          </a:prstGeom>
          <a:noFill/>
          <a:ln/>
        </p:spPr>
        <p:txBody>
          <a:bodyPr wrap="square" lIns="0" tIns="0" rIns="0" bIns="0" rtlCol="0" anchor="t"/>
          <a:lstStyle/>
          <a:p>
            <a:pPr marL="0" indent="0">
              <a:buNone/>
            </a:pPr>
            <a:r>
              <a:rPr lang="en-US" sz="2000" b="1" dirty="0">
                <a:solidFill>
                  <a:schemeClr val="tx1"/>
                </a:solidFill>
              </a:rPr>
              <a:t>How we will do it</a:t>
            </a:r>
            <a:endParaRPr lang="en-US" sz="2000" dirty="0"/>
          </a:p>
        </p:txBody>
      </p:sp>
      <p:sp>
        <p:nvSpPr>
          <p:cNvPr id="15" name="Shape 12"/>
          <p:cNvSpPr/>
          <p:nvPr/>
        </p:nvSpPr>
        <p:spPr>
          <a:xfrm>
            <a:off x="4937760" y="1645920"/>
            <a:ext cx="384048" cy="384048"/>
          </a:xfrm>
          <a:prstGeom prst="ellipse">
            <a:avLst/>
          </a:prstGeom>
          <a:solidFill>
            <a:schemeClr val="accent1"/>
          </a:solidFill>
          <a:ln/>
        </p:spPr>
      </p:sp>
      <p:sp>
        <p:nvSpPr>
          <p:cNvPr id="16" name="Text 13"/>
          <p:cNvSpPr txBox="1"/>
          <p:nvPr/>
        </p:nvSpPr>
        <p:spPr>
          <a:xfrm>
            <a:off x="4937760" y="1645920"/>
            <a:ext cx="384048" cy="384048"/>
          </a:xfrm>
          <a:prstGeom prst="rect">
            <a:avLst/>
          </a:prstGeom>
          <a:noFill/>
          <a:ln/>
        </p:spPr>
        <p:txBody>
          <a:bodyPr wrap="square" lIns="0" tIns="0" rIns="0" bIns="0" rtlCol="0" anchor="ctr"/>
          <a:lstStyle/>
          <a:p>
            <a:pPr marL="0" indent="0" algn="ctr">
              <a:buNone/>
            </a:pPr>
            <a:r>
              <a:rPr lang="en-US" sz="1400" b="1" dirty="0">
                <a:solidFill>
                  <a:schemeClr val="tx1"/>
                </a:solidFill>
              </a:rPr>
              <a:t>1</a:t>
            </a:r>
            <a:endParaRPr lang="en-US" sz="1400" dirty="0"/>
          </a:p>
        </p:txBody>
      </p:sp>
      <p:sp>
        <p:nvSpPr>
          <p:cNvPr id="17" name="Text 14"/>
          <p:cNvSpPr txBox="1"/>
          <p:nvPr/>
        </p:nvSpPr>
        <p:spPr>
          <a:xfrm>
            <a:off x="5486400" y="1618488"/>
            <a:ext cx="3200400" cy="640080"/>
          </a:xfrm>
          <a:prstGeom prst="rect">
            <a:avLst/>
          </a:prstGeom>
          <a:noFill/>
          <a:ln/>
        </p:spPr>
        <p:txBody>
          <a:bodyPr wrap="square" lIns="0" tIns="0" rIns="0" bIns="0" rtlCol="0" anchor="t"/>
          <a:lstStyle/>
          <a:p>
            <a:pPr marL="0" indent="0">
              <a:buNone/>
            </a:pPr>
            <a:r>
              <a:rPr lang="en-US" sz="1400" dirty="0">
                <a:solidFill>
                  <a:schemeClr val="tx1"/>
                </a:solidFill>
              </a:rPr>
              <a:t>Sit with a partner and take a pen and paper.</a:t>
            </a:r>
            <a:endParaRPr lang="en-US" sz="1400" dirty="0"/>
          </a:p>
        </p:txBody>
      </p:sp>
      <p:sp>
        <p:nvSpPr>
          <p:cNvPr id="18" name="Shape 15"/>
          <p:cNvSpPr/>
          <p:nvPr/>
        </p:nvSpPr>
        <p:spPr>
          <a:xfrm>
            <a:off x="4937760" y="2377440"/>
            <a:ext cx="384048" cy="384048"/>
          </a:xfrm>
          <a:prstGeom prst="ellipse">
            <a:avLst/>
          </a:prstGeom>
          <a:solidFill>
            <a:schemeClr val="accent2"/>
          </a:solidFill>
          <a:ln/>
        </p:spPr>
      </p:sp>
      <p:sp>
        <p:nvSpPr>
          <p:cNvPr id="19" name="Text 16"/>
          <p:cNvSpPr txBox="1"/>
          <p:nvPr/>
        </p:nvSpPr>
        <p:spPr>
          <a:xfrm>
            <a:off x="4937760" y="2377440"/>
            <a:ext cx="384048" cy="384048"/>
          </a:xfrm>
          <a:prstGeom prst="rect">
            <a:avLst/>
          </a:prstGeom>
          <a:noFill/>
          <a:ln/>
        </p:spPr>
        <p:txBody>
          <a:bodyPr wrap="square" lIns="0" tIns="0" rIns="0" bIns="0" rtlCol="0" anchor="ctr"/>
          <a:lstStyle/>
          <a:p>
            <a:pPr marL="0" indent="0" algn="ctr">
              <a:buNone/>
            </a:pPr>
            <a:r>
              <a:rPr lang="en-US" sz="1400" b="1" dirty="0">
                <a:solidFill>
                  <a:schemeClr val="tx1"/>
                </a:solidFill>
              </a:rPr>
              <a:t>2</a:t>
            </a:r>
            <a:endParaRPr lang="en-US" sz="1400" dirty="0"/>
          </a:p>
        </p:txBody>
      </p:sp>
      <p:sp>
        <p:nvSpPr>
          <p:cNvPr id="20" name="Text 17"/>
          <p:cNvSpPr txBox="1"/>
          <p:nvPr/>
        </p:nvSpPr>
        <p:spPr>
          <a:xfrm>
            <a:off x="5486400" y="2350008"/>
            <a:ext cx="3200400" cy="640080"/>
          </a:xfrm>
          <a:prstGeom prst="rect">
            <a:avLst/>
          </a:prstGeom>
          <a:noFill/>
          <a:ln/>
        </p:spPr>
        <p:txBody>
          <a:bodyPr wrap="square" lIns="0" tIns="0" rIns="0" bIns="0" rtlCol="0" anchor="t"/>
          <a:lstStyle/>
          <a:p>
            <a:pPr marL="0" indent="0">
              <a:buNone/>
            </a:pPr>
            <a:r>
              <a:rPr lang="en-US" sz="1400" dirty="0">
                <a:solidFill>
                  <a:schemeClr val="tx1"/>
                </a:solidFill>
              </a:rPr>
              <a:t>Choose a calculation, for example 12 / 3, 9 + 6 or 10 − 4.</a:t>
            </a:r>
            <a:endParaRPr lang="en-US" sz="1400" dirty="0"/>
          </a:p>
        </p:txBody>
      </p:sp>
      <p:sp>
        <p:nvSpPr>
          <p:cNvPr id="21" name="Shape 18"/>
          <p:cNvSpPr/>
          <p:nvPr/>
        </p:nvSpPr>
        <p:spPr>
          <a:xfrm>
            <a:off x="4937760" y="3108960"/>
            <a:ext cx="384048" cy="384048"/>
          </a:xfrm>
          <a:prstGeom prst="ellipse">
            <a:avLst/>
          </a:prstGeom>
          <a:solidFill>
            <a:schemeClr val="accent3"/>
          </a:solidFill>
          <a:ln/>
        </p:spPr>
      </p:sp>
      <p:sp>
        <p:nvSpPr>
          <p:cNvPr id="22" name="Text 19"/>
          <p:cNvSpPr txBox="1"/>
          <p:nvPr/>
        </p:nvSpPr>
        <p:spPr>
          <a:xfrm>
            <a:off x="4937760" y="3108960"/>
            <a:ext cx="384048" cy="384048"/>
          </a:xfrm>
          <a:prstGeom prst="rect">
            <a:avLst/>
          </a:prstGeom>
          <a:noFill/>
          <a:ln/>
        </p:spPr>
        <p:txBody>
          <a:bodyPr wrap="square" lIns="0" tIns="0" rIns="0" bIns="0" rtlCol="0" anchor="ctr"/>
          <a:lstStyle/>
          <a:p>
            <a:pPr marL="0" indent="0" algn="ctr">
              <a:buNone/>
            </a:pPr>
            <a:r>
              <a:rPr lang="en-US" sz="1400" b="1" dirty="0">
                <a:solidFill>
                  <a:schemeClr val="tx1"/>
                </a:solidFill>
              </a:rPr>
              <a:t>3</a:t>
            </a:r>
            <a:endParaRPr lang="en-US" sz="1400" dirty="0"/>
          </a:p>
        </p:txBody>
      </p:sp>
      <p:sp>
        <p:nvSpPr>
          <p:cNvPr id="23" name="Text 20"/>
          <p:cNvSpPr txBox="1"/>
          <p:nvPr/>
        </p:nvSpPr>
        <p:spPr>
          <a:xfrm>
            <a:off x="5486400" y="3081528"/>
            <a:ext cx="3200400" cy="640080"/>
          </a:xfrm>
          <a:prstGeom prst="rect">
            <a:avLst/>
          </a:prstGeom>
          <a:noFill/>
          <a:ln/>
        </p:spPr>
        <p:txBody>
          <a:bodyPr wrap="square" lIns="0" tIns="0" rIns="0" bIns="0" rtlCol="0" anchor="t"/>
          <a:lstStyle/>
          <a:p>
            <a:pPr marL="0" indent="0">
              <a:buNone/>
            </a:pPr>
            <a:r>
              <a:rPr lang="en-US" sz="1400" dirty="0">
                <a:solidFill>
                  <a:schemeClr val="tx1"/>
                </a:solidFill>
              </a:rPr>
              <a:t>Write a numbered algorithm like the example, using an arithmetic operator.</a:t>
            </a:r>
            <a:endParaRPr lang="en-US" sz="1400" dirty="0"/>
          </a:p>
        </p:txBody>
      </p:sp>
      <p:sp>
        <p:nvSpPr>
          <p:cNvPr id="24" name="Shape 21"/>
          <p:cNvSpPr/>
          <p:nvPr/>
        </p:nvSpPr>
        <p:spPr>
          <a:xfrm>
            <a:off x="4937760" y="3840480"/>
            <a:ext cx="384048" cy="384048"/>
          </a:xfrm>
          <a:prstGeom prst="ellipse">
            <a:avLst/>
          </a:prstGeom>
          <a:solidFill>
            <a:schemeClr val="accent4"/>
          </a:solidFill>
          <a:ln/>
        </p:spPr>
      </p:sp>
      <p:sp>
        <p:nvSpPr>
          <p:cNvPr id="25" name="Text 22"/>
          <p:cNvSpPr txBox="1"/>
          <p:nvPr/>
        </p:nvSpPr>
        <p:spPr>
          <a:xfrm>
            <a:off x="4937760" y="3840480"/>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26" name="Text 23"/>
          <p:cNvSpPr txBox="1"/>
          <p:nvPr/>
        </p:nvSpPr>
        <p:spPr>
          <a:xfrm>
            <a:off x="5486400" y="3813048"/>
            <a:ext cx="3200400" cy="640080"/>
          </a:xfrm>
          <a:prstGeom prst="rect">
            <a:avLst/>
          </a:prstGeom>
          <a:noFill/>
          <a:ln/>
        </p:spPr>
        <p:txBody>
          <a:bodyPr wrap="square" lIns="0" tIns="0" rIns="0" bIns="0" rtlCol="0" anchor="t"/>
          <a:lstStyle/>
          <a:p>
            <a:pPr marL="0" indent="0">
              <a:buNone/>
            </a:pPr>
            <a:r>
              <a:rPr lang="en-US" sz="1400" dirty="0">
                <a:solidFill>
                  <a:schemeClr val="tx1"/>
                </a:solidFill>
              </a:rPr>
              <a:t>Swap with your partner and check each other’s steps.</a:t>
            </a:r>
            <a:endParaRPr lang="en-US" sz="1400" dirty="0"/>
          </a:p>
        </p:txBody>
      </p:sp>
      <p:sp>
        <p:nvSpPr>
          <p:cNvPr id="27"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1"/>
                </a:solidFill>
              </a:rPr>
              <a:t>Operators: comparison</a:t>
            </a:r>
            <a:endParaRPr lang="en-US" sz="3000" dirty="0"/>
          </a:p>
        </p:txBody>
      </p:sp>
      <p:sp>
        <p:nvSpPr>
          <p:cNvPr id="3" name="Text 1"/>
          <p:cNvSpPr txBox="1"/>
          <p:nvPr/>
        </p:nvSpPr>
        <p:spPr>
          <a:xfrm>
            <a:off x="457200" y="1097280"/>
            <a:ext cx="8229600" cy="640080"/>
          </a:xfrm>
          <a:prstGeom prst="rect">
            <a:avLst/>
          </a:prstGeom>
          <a:noFill/>
          <a:ln/>
        </p:spPr>
        <p:txBody>
          <a:bodyPr wrap="square" lIns="0" tIns="0" rIns="0" bIns="0" rtlCol="0" anchor="t"/>
          <a:lstStyle/>
          <a:p>
            <a:pPr marL="0" indent="0">
              <a:buNone/>
            </a:pPr>
            <a:r>
              <a:rPr lang="en-US" sz="1500" dirty="0">
                <a:solidFill>
                  <a:schemeClr val="tx1"/>
                </a:solidFill>
              </a:rPr>
              <a:t>Comparison operators compare the first number with the second and output either true or false. Scratch has three: greater than, less than and equal to.</a:t>
            </a:r>
            <a:endParaRPr lang="en-US" sz="1500" dirty="0"/>
          </a:p>
        </p:txBody>
      </p:sp>
      <p:sp>
        <p:nvSpPr>
          <p:cNvPr id="4" name="Card"/>
          <p:cNvSpPr/>
          <p:nvPr/>
        </p:nvSpPr>
        <p:spPr>
          <a:xfrm>
            <a:off x="457200" y="1874520"/>
            <a:ext cx="2606040" cy="2697480"/>
          </a:xfrm>
          <a:prstGeom prst="roundRect">
            <a:avLst>
              <a:gd name="adj" fmla="val 4211"/>
            </a:avLst>
          </a:prstGeom>
          <a:solidFill>
            <a:schemeClr val="bg2"/>
          </a:solidFill>
          <a:ln/>
        </p:spPr>
      </p:sp>
      <p:sp>
        <p:nvSpPr>
          <p:cNvPr id="5" name="Comparison block"/>
          <p:cNvSpPr/>
          <p:nvPr/>
        </p:nvSpPr>
        <p:spPr>
          <a:xfrm>
            <a:off x="640080" y="2011680"/>
            <a:ext cx="2240280" cy="685800"/>
          </a:xfrm>
          <a:prstGeom prst="hexagon">
            <a:avLst/>
          </a:prstGeom>
          <a:solidFill>
            <a:schemeClr val="accent3"/>
          </a:solidFill>
          <a:ln w="12700">
            <a:solidFill>
              <a:schemeClr val="bg1"/>
            </a:solidFill>
            <a:prstDash val="solid"/>
          </a:ln>
        </p:spPr>
      </p:sp>
      <p:sp>
        <p:nvSpPr>
          <p:cNvPr id="6" name="Shape 4"/>
          <p:cNvSpPr/>
          <p:nvPr/>
        </p:nvSpPr>
        <p:spPr>
          <a:xfrm>
            <a:off x="914400" y="2212848"/>
            <a:ext cx="502920" cy="292608"/>
          </a:xfrm>
          <a:prstGeom prst="roundRect">
            <a:avLst>
              <a:gd name="adj" fmla="val 31250"/>
            </a:avLst>
          </a:prstGeom>
          <a:solidFill>
            <a:schemeClr val="bg1"/>
          </a:solidFill>
          <a:ln/>
        </p:spPr>
      </p:sp>
      <p:sp>
        <p:nvSpPr>
          <p:cNvPr id="7" name="Text 5"/>
          <p:cNvSpPr txBox="1"/>
          <p:nvPr/>
        </p:nvSpPr>
        <p:spPr>
          <a:xfrm>
            <a:off x="1463040" y="2011680"/>
            <a:ext cx="411480" cy="685800"/>
          </a:xfrm>
          <a:prstGeom prst="rect">
            <a:avLst/>
          </a:prstGeom>
          <a:noFill/>
          <a:ln/>
        </p:spPr>
        <p:txBody>
          <a:bodyPr wrap="square" lIns="0" tIns="0" rIns="0" bIns="0" rtlCol="0" anchor="ctr"/>
          <a:lstStyle/>
          <a:p>
            <a:pPr marL="0" indent="0" algn="ctr">
              <a:buNone/>
            </a:pPr>
            <a:r>
              <a:rPr lang="en-US" sz="2000" b="1" dirty="0">
                <a:solidFill>
                  <a:schemeClr val="tx1"/>
                </a:solidFill>
              </a:rPr>
              <a:t>&gt;</a:t>
            </a:r>
            <a:endParaRPr lang="en-US" sz="2000" dirty="0"/>
          </a:p>
        </p:txBody>
      </p:sp>
      <p:sp>
        <p:nvSpPr>
          <p:cNvPr id="8" name="Text 6"/>
          <p:cNvSpPr txBox="1"/>
          <p:nvPr/>
        </p:nvSpPr>
        <p:spPr>
          <a:xfrm>
            <a:off x="1920240" y="2212848"/>
            <a:ext cx="502920" cy="292608"/>
          </a:xfrm>
          <a:prstGeom prst="roundRect">
            <a:avLst>
              <a:gd name="adj" fmla="val 31250"/>
            </a:avLst>
          </a:prstGeom>
          <a:solidFill>
            <a:schemeClr val="bg1"/>
          </a:solidFill>
          <a:ln/>
        </p:spPr>
        <p:txBody>
          <a:bodyPr wrap="square" lIns="0" tIns="0" rIns="0" bIns="0" rtlCol="0" anchor="ctr"/>
          <a:lstStyle/>
          <a:p>
            <a:pPr marL="0" indent="0" algn="ctr">
              <a:buNone/>
            </a:pPr>
            <a:r>
              <a:rPr lang="en-US" sz="1200" b="1" dirty="0">
                <a:solidFill>
                  <a:schemeClr val="tx1"/>
                </a:solidFill>
              </a:rPr>
              <a:t>50</a:t>
            </a:r>
            <a:endParaRPr lang="en-US" sz="1200" dirty="0"/>
          </a:p>
        </p:txBody>
      </p:sp>
      <p:sp>
        <p:nvSpPr>
          <p:cNvPr id="9" name="Text 7"/>
          <p:cNvSpPr txBox="1"/>
          <p:nvPr/>
        </p:nvSpPr>
        <p:spPr>
          <a:xfrm>
            <a:off x="640080" y="2834640"/>
            <a:ext cx="2240280" cy="320040"/>
          </a:xfrm>
          <a:prstGeom prst="rect">
            <a:avLst/>
          </a:prstGeom>
          <a:noFill/>
          <a:ln/>
        </p:spPr>
        <p:txBody>
          <a:bodyPr wrap="square" lIns="0" tIns="0" rIns="0" bIns="0" rtlCol="0" anchor="t"/>
          <a:lstStyle/>
          <a:p>
            <a:pPr marL="0" indent="0">
              <a:buNone/>
            </a:pPr>
            <a:r>
              <a:rPr lang="en-US" sz="1600" b="1" dirty="0">
                <a:solidFill>
                  <a:schemeClr val="tx1"/>
                </a:solidFill>
              </a:rPr>
              <a:t>greater than</a:t>
            </a:r>
            <a:endParaRPr lang="en-US" sz="1600" dirty="0"/>
          </a:p>
        </p:txBody>
      </p:sp>
      <p:sp>
        <p:nvSpPr>
          <p:cNvPr id="10" name="Shape 8"/>
          <p:cNvSpPr/>
          <p:nvPr/>
        </p:nvSpPr>
        <p:spPr>
          <a:xfrm>
            <a:off x="640080" y="3246120"/>
            <a:ext cx="2240280" cy="502920"/>
          </a:xfrm>
          <a:prstGeom prst="roundRect">
            <a:avLst>
              <a:gd name="adj" fmla="val 18182"/>
            </a:avLst>
          </a:prstGeom>
          <a:solidFill>
            <a:schemeClr val="bg1"/>
          </a:solidFill>
          <a:ln/>
        </p:spPr>
      </p:sp>
      <p:sp>
        <p:nvSpPr>
          <p:cNvPr id="11" name="Text 9"/>
          <p:cNvSpPr txBox="1"/>
          <p:nvPr/>
        </p:nvSpPr>
        <p:spPr>
          <a:xfrm>
            <a:off x="777240" y="3246120"/>
            <a:ext cx="1097280" cy="502920"/>
          </a:xfrm>
          <a:prstGeom prst="rect">
            <a:avLst/>
          </a:prstGeom>
          <a:noFill/>
          <a:ln/>
        </p:spPr>
        <p:txBody>
          <a:bodyPr wrap="square" lIns="0" tIns="0" rIns="0" bIns="0" rtlCol="0" anchor="ctr"/>
          <a:lstStyle/>
          <a:p>
            <a:pPr marL="0" indent="0">
              <a:buNone/>
            </a:pPr>
            <a:r>
              <a:rPr lang="en-US" sz="1400" b="1" dirty="0">
                <a:solidFill>
                  <a:schemeClr val="tx1"/>
                </a:solidFill>
              </a:rPr>
              <a:t>60 &gt; 50</a:t>
            </a:r>
            <a:endParaRPr lang="en-US" sz="1400" dirty="0"/>
          </a:p>
        </p:txBody>
      </p:sp>
      <p:sp>
        <p:nvSpPr>
          <p:cNvPr id="12" name="Text 10"/>
          <p:cNvSpPr txBox="1"/>
          <p:nvPr/>
        </p:nvSpPr>
        <p:spPr>
          <a:xfrm>
            <a:off x="1965960" y="3346704"/>
            <a:ext cx="777240" cy="301752"/>
          </a:xfrm>
          <a:prstGeom prst="roundRect">
            <a:avLst>
              <a:gd name="adj" fmla="val 45455"/>
            </a:avLst>
          </a:prstGeom>
          <a:solidFill>
            <a:schemeClr val="accent3"/>
          </a:solidFill>
          <a:ln/>
        </p:spPr>
        <p:txBody>
          <a:bodyPr wrap="square" lIns="0" tIns="0" rIns="0" bIns="0" rtlCol="0" anchor="ctr"/>
          <a:lstStyle/>
          <a:p>
            <a:pPr marL="0" indent="0" algn="ctr">
              <a:buNone/>
            </a:pPr>
            <a:r>
              <a:rPr lang="en-US" sz="1200" b="1" dirty="0">
                <a:solidFill>
                  <a:schemeClr val="tx1"/>
                </a:solidFill>
              </a:rPr>
              <a:t>true</a:t>
            </a:r>
            <a:endParaRPr lang="en-US" sz="1200" dirty="0"/>
          </a:p>
        </p:txBody>
      </p:sp>
      <p:sp>
        <p:nvSpPr>
          <p:cNvPr id="13" name="Shape 11"/>
          <p:cNvSpPr/>
          <p:nvPr/>
        </p:nvSpPr>
        <p:spPr>
          <a:xfrm>
            <a:off x="640080" y="3886200"/>
            <a:ext cx="2240280" cy="502920"/>
          </a:xfrm>
          <a:prstGeom prst="roundRect">
            <a:avLst>
              <a:gd name="adj" fmla="val 18182"/>
            </a:avLst>
          </a:prstGeom>
          <a:solidFill>
            <a:schemeClr val="bg1"/>
          </a:solidFill>
          <a:ln/>
        </p:spPr>
      </p:sp>
      <p:sp>
        <p:nvSpPr>
          <p:cNvPr id="14" name="Text 12"/>
          <p:cNvSpPr txBox="1"/>
          <p:nvPr/>
        </p:nvSpPr>
        <p:spPr>
          <a:xfrm>
            <a:off x="777240" y="3886200"/>
            <a:ext cx="1097280" cy="502920"/>
          </a:xfrm>
          <a:prstGeom prst="rect">
            <a:avLst/>
          </a:prstGeom>
          <a:noFill/>
          <a:ln/>
        </p:spPr>
        <p:txBody>
          <a:bodyPr wrap="square" lIns="0" tIns="0" rIns="0" bIns="0" rtlCol="0" anchor="ctr"/>
          <a:lstStyle/>
          <a:p>
            <a:pPr marL="0" indent="0">
              <a:buNone/>
            </a:pPr>
            <a:r>
              <a:rPr lang="en-US" sz="1400" b="1" dirty="0">
                <a:solidFill>
                  <a:schemeClr val="tx1"/>
                </a:solidFill>
              </a:rPr>
              <a:t>30 &gt; 50</a:t>
            </a:r>
            <a:endParaRPr lang="en-US" sz="1400" dirty="0"/>
          </a:p>
        </p:txBody>
      </p:sp>
      <p:sp>
        <p:nvSpPr>
          <p:cNvPr id="15" name="Text 13"/>
          <p:cNvSpPr txBox="1"/>
          <p:nvPr/>
        </p:nvSpPr>
        <p:spPr>
          <a:xfrm>
            <a:off x="1965960" y="3986784"/>
            <a:ext cx="777240" cy="301752"/>
          </a:xfrm>
          <a:prstGeom prst="roundRect">
            <a:avLst>
              <a:gd name="adj" fmla="val 45455"/>
            </a:avLst>
          </a:prstGeom>
          <a:solidFill>
            <a:srgbClr val="E5484D"/>
          </a:solidFill>
          <a:ln/>
        </p:spPr>
        <p:txBody>
          <a:bodyPr wrap="square" lIns="0" tIns="0" rIns="0" bIns="0" rtlCol="0" anchor="ctr"/>
          <a:lstStyle/>
          <a:p>
            <a:pPr marL="0" indent="0" algn="ctr">
              <a:buNone/>
            </a:pPr>
            <a:r>
              <a:rPr lang="en-US" sz="1200" b="1" dirty="0">
                <a:solidFill>
                  <a:schemeClr val="bg1"/>
                </a:solidFill>
              </a:rPr>
              <a:t>false</a:t>
            </a:r>
            <a:endParaRPr lang="en-US" sz="1200" dirty="0"/>
          </a:p>
        </p:txBody>
      </p:sp>
      <p:sp>
        <p:nvSpPr>
          <p:cNvPr id="16" name="Card"/>
          <p:cNvSpPr/>
          <p:nvPr/>
        </p:nvSpPr>
        <p:spPr>
          <a:xfrm>
            <a:off x="3268980" y="1874520"/>
            <a:ext cx="2606040" cy="2697480"/>
          </a:xfrm>
          <a:prstGeom prst="roundRect">
            <a:avLst>
              <a:gd name="adj" fmla="val 4211"/>
            </a:avLst>
          </a:prstGeom>
          <a:solidFill>
            <a:schemeClr val="bg2"/>
          </a:solidFill>
          <a:ln/>
        </p:spPr>
      </p:sp>
      <p:sp>
        <p:nvSpPr>
          <p:cNvPr id="17" name="Comparison block"/>
          <p:cNvSpPr/>
          <p:nvPr/>
        </p:nvSpPr>
        <p:spPr>
          <a:xfrm>
            <a:off x="3451860" y="2011680"/>
            <a:ext cx="2240280" cy="685800"/>
          </a:xfrm>
          <a:prstGeom prst="hexagon">
            <a:avLst/>
          </a:prstGeom>
          <a:solidFill>
            <a:schemeClr val="accent3"/>
          </a:solidFill>
          <a:ln w="12700">
            <a:solidFill>
              <a:schemeClr val="bg1"/>
            </a:solidFill>
            <a:prstDash val="solid"/>
          </a:ln>
        </p:spPr>
      </p:sp>
      <p:sp>
        <p:nvSpPr>
          <p:cNvPr id="18" name="Shape 16"/>
          <p:cNvSpPr/>
          <p:nvPr/>
        </p:nvSpPr>
        <p:spPr>
          <a:xfrm>
            <a:off x="3726180" y="2212848"/>
            <a:ext cx="502920" cy="292608"/>
          </a:xfrm>
          <a:prstGeom prst="roundRect">
            <a:avLst>
              <a:gd name="adj" fmla="val 31250"/>
            </a:avLst>
          </a:prstGeom>
          <a:solidFill>
            <a:schemeClr val="bg1"/>
          </a:solidFill>
          <a:ln/>
        </p:spPr>
      </p:sp>
      <p:sp>
        <p:nvSpPr>
          <p:cNvPr id="19" name="Text 17"/>
          <p:cNvSpPr txBox="1"/>
          <p:nvPr/>
        </p:nvSpPr>
        <p:spPr>
          <a:xfrm>
            <a:off x="4274820" y="2011680"/>
            <a:ext cx="411480" cy="685800"/>
          </a:xfrm>
          <a:prstGeom prst="rect">
            <a:avLst/>
          </a:prstGeom>
          <a:noFill/>
          <a:ln/>
        </p:spPr>
        <p:txBody>
          <a:bodyPr wrap="square" lIns="0" tIns="0" rIns="0" bIns="0" rtlCol="0" anchor="ctr"/>
          <a:lstStyle/>
          <a:p>
            <a:pPr marL="0" indent="0" algn="ctr">
              <a:buNone/>
            </a:pPr>
            <a:r>
              <a:rPr lang="en-US" sz="2000" b="1" dirty="0">
                <a:solidFill>
                  <a:schemeClr val="tx1"/>
                </a:solidFill>
              </a:rPr>
              <a:t>&lt;</a:t>
            </a:r>
            <a:endParaRPr lang="en-US" sz="2000" dirty="0"/>
          </a:p>
        </p:txBody>
      </p:sp>
      <p:sp>
        <p:nvSpPr>
          <p:cNvPr id="20" name="Text 18"/>
          <p:cNvSpPr txBox="1"/>
          <p:nvPr/>
        </p:nvSpPr>
        <p:spPr>
          <a:xfrm>
            <a:off x="4732020" y="2212848"/>
            <a:ext cx="502920" cy="292608"/>
          </a:xfrm>
          <a:prstGeom prst="roundRect">
            <a:avLst>
              <a:gd name="adj" fmla="val 31250"/>
            </a:avLst>
          </a:prstGeom>
          <a:solidFill>
            <a:schemeClr val="bg1"/>
          </a:solidFill>
          <a:ln/>
        </p:spPr>
        <p:txBody>
          <a:bodyPr wrap="square" lIns="0" tIns="0" rIns="0" bIns="0" rtlCol="0" anchor="ctr"/>
          <a:lstStyle/>
          <a:p>
            <a:pPr marL="0" indent="0" algn="ctr">
              <a:buNone/>
            </a:pPr>
            <a:r>
              <a:rPr lang="en-US" sz="1200" b="1" dirty="0">
                <a:solidFill>
                  <a:schemeClr val="tx1"/>
                </a:solidFill>
              </a:rPr>
              <a:t>50</a:t>
            </a:r>
            <a:endParaRPr lang="en-US" sz="1200" dirty="0"/>
          </a:p>
        </p:txBody>
      </p:sp>
      <p:sp>
        <p:nvSpPr>
          <p:cNvPr id="21" name="Text 19"/>
          <p:cNvSpPr txBox="1"/>
          <p:nvPr/>
        </p:nvSpPr>
        <p:spPr>
          <a:xfrm>
            <a:off x="3451860" y="2834640"/>
            <a:ext cx="2240280" cy="320040"/>
          </a:xfrm>
          <a:prstGeom prst="rect">
            <a:avLst/>
          </a:prstGeom>
          <a:noFill/>
          <a:ln/>
        </p:spPr>
        <p:txBody>
          <a:bodyPr wrap="square" lIns="0" tIns="0" rIns="0" bIns="0" rtlCol="0" anchor="t"/>
          <a:lstStyle/>
          <a:p>
            <a:pPr marL="0" indent="0">
              <a:buNone/>
            </a:pPr>
            <a:r>
              <a:rPr lang="en-US" sz="1600" b="1" dirty="0">
                <a:solidFill>
                  <a:schemeClr val="tx1"/>
                </a:solidFill>
              </a:rPr>
              <a:t>less than</a:t>
            </a:r>
            <a:endParaRPr lang="en-US" sz="1600" dirty="0"/>
          </a:p>
        </p:txBody>
      </p:sp>
      <p:sp>
        <p:nvSpPr>
          <p:cNvPr id="22" name="Shape 20"/>
          <p:cNvSpPr/>
          <p:nvPr/>
        </p:nvSpPr>
        <p:spPr>
          <a:xfrm>
            <a:off x="3451860" y="3246120"/>
            <a:ext cx="2240280" cy="502920"/>
          </a:xfrm>
          <a:prstGeom prst="roundRect">
            <a:avLst>
              <a:gd name="adj" fmla="val 18182"/>
            </a:avLst>
          </a:prstGeom>
          <a:solidFill>
            <a:schemeClr val="bg1"/>
          </a:solidFill>
          <a:ln/>
        </p:spPr>
      </p:sp>
      <p:sp>
        <p:nvSpPr>
          <p:cNvPr id="23" name="Text 21"/>
          <p:cNvSpPr txBox="1"/>
          <p:nvPr/>
        </p:nvSpPr>
        <p:spPr>
          <a:xfrm>
            <a:off x="3589020" y="3246120"/>
            <a:ext cx="1097280" cy="502920"/>
          </a:xfrm>
          <a:prstGeom prst="rect">
            <a:avLst/>
          </a:prstGeom>
          <a:noFill/>
          <a:ln/>
        </p:spPr>
        <p:txBody>
          <a:bodyPr wrap="square" lIns="0" tIns="0" rIns="0" bIns="0" rtlCol="0" anchor="ctr"/>
          <a:lstStyle/>
          <a:p>
            <a:pPr marL="0" indent="0">
              <a:buNone/>
            </a:pPr>
            <a:r>
              <a:rPr lang="en-US" sz="1400" b="1" dirty="0">
                <a:solidFill>
                  <a:schemeClr val="tx1"/>
                </a:solidFill>
              </a:rPr>
              <a:t>30 &lt; 50</a:t>
            </a:r>
            <a:endParaRPr lang="en-US" sz="1400" dirty="0"/>
          </a:p>
        </p:txBody>
      </p:sp>
      <p:sp>
        <p:nvSpPr>
          <p:cNvPr id="24" name="Text 22"/>
          <p:cNvSpPr txBox="1"/>
          <p:nvPr/>
        </p:nvSpPr>
        <p:spPr>
          <a:xfrm>
            <a:off x="4777740" y="3346704"/>
            <a:ext cx="777240" cy="301752"/>
          </a:xfrm>
          <a:prstGeom prst="roundRect">
            <a:avLst>
              <a:gd name="adj" fmla="val 45455"/>
            </a:avLst>
          </a:prstGeom>
          <a:solidFill>
            <a:schemeClr val="accent3"/>
          </a:solidFill>
          <a:ln/>
        </p:spPr>
        <p:txBody>
          <a:bodyPr wrap="square" lIns="0" tIns="0" rIns="0" bIns="0" rtlCol="0" anchor="ctr"/>
          <a:lstStyle/>
          <a:p>
            <a:pPr marL="0" indent="0" algn="ctr">
              <a:buNone/>
            </a:pPr>
            <a:r>
              <a:rPr lang="en-US" sz="1200" b="1" dirty="0">
                <a:solidFill>
                  <a:schemeClr val="tx1"/>
                </a:solidFill>
              </a:rPr>
              <a:t>true</a:t>
            </a:r>
            <a:endParaRPr lang="en-US" sz="1200" dirty="0"/>
          </a:p>
        </p:txBody>
      </p:sp>
      <p:sp>
        <p:nvSpPr>
          <p:cNvPr id="25" name="Shape 23"/>
          <p:cNvSpPr/>
          <p:nvPr/>
        </p:nvSpPr>
        <p:spPr>
          <a:xfrm>
            <a:off x="3451860" y="3886200"/>
            <a:ext cx="2240280" cy="502920"/>
          </a:xfrm>
          <a:prstGeom prst="roundRect">
            <a:avLst>
              <a:gd name="adj" fmla="val 18182"/>
            </a:avLst>
          </a:prstGeom>
          <a:solidFill>
            <a:schemeClr val="bg1"/>
          </a:solidFill>
          <a:ln/>
        </p:spPr>
      </p:sp>
      <p:sp>
        <p:nvSpPr>
          <p:cNvPr id="26" name="Text 24"/>
          <p:cNvSpPr txBox="1"/>
          <p:nvPr/>
        </p:nvSpPr>
        <p:spPr>
          <a:xfrm>
            <a:off x="3589020" y="3886200"/>
            <a:ext cx="1097280" cy="502920"/>
          </a:xfrm>
          <a:prstGeom prst="rect">
            <a:avLst/>
          </a:prstGeom>
          <a:noFill/>
          <a:ln/>
        </p:spPr>
        <p:txBody>
          <a:bodyPr wrap="square" lIns="0" tIns="0" rIns="0" bIns="0" rtlCol="0" anchor="ctr"/>
          <a:lstStyle/>
          <a:p>
            <a:pPr marL="0" indent="0">
              <a:buNone/>
            </a:pPr>
            <a:r>
              <a:rPr lang="en-US" sz="1400" b="1" dirty="0">
                <a:solidFill>
                  <a:schemeClr val="tx1"/>
                </a:solidFill>
              </a:rPr>
              <a:t>60 &lt; 50</a:t>
            </a:r>
            <a:endParaRPr lang="en-US" sz="1400" dirty="0"/>
          </a:p>
        </p:txBody>
      </p:sp>
      <p:sp>
        <p:nvSpPr>
          <p:cNvPr id="27" name="Text 25"/>
          <p:cNvSpPr txBox="1"/>
          <p:nvPr/>
        </p:nvSpPr>
        <p:spPr>
          <a:xfrm>
            <a:off x="4777740" y="3986784"/>
            <a:ext cx="777240" cy="301752"/>
          </a:xfrm>
          <a:prstGeom prst="roundRect">
            <a:avLst>
              <a:gd name="adj" fmla="val 45455"/>
            </a:avLst>
          </a:prstGeom>
          <a:solidFill>
            <a:srgbClr val="E5484D"/>
          </a:solidFill>
          <a:ln/>
        </p:spPr>
        <p:txBody>
          <a:bodyPr wrap="square" lIns="0" tIns="0" rIns="0" bIns="0" rtlCol="0" anchor="ctr"/>
          <a:lstStyle/>
          <a:p>
            <a:pPr marL="0" indent="0" algn="ctr">
              <a:buNone/>
            </a:pPr>
            <a:r>
              <a:rPr lang="en-US" sz="1200" b="1" dirty="0">
                <a:solidFill>
                  <a:schemeClr val="bg1"/>
                </a:solidFill>
              </a:rPr>
              <a:t>false</a:t>
            </a:r>
            <a:endParaRPr lang="en-US" sz="1200" dirty="0"/>
          </a:p>
        </p:txBody>
      </p:sp>
      <p:sp>
        <p:nvSpPr>
          <p:cNvPr id="28" name="Card"/>
          <p:cNvSpPr/>
          <p:nvPr/>
        </p:nvSpPr>
        <p:spPr>
          <a:xfrm>
            <a:off x="6080760" y="1874520"/>
            <a:ext cx="2606040" cy="2697480"/>
          </a:xfrm>
          <a:prstGeom prst="roundRect">
            <a:avLst>
              <a:gd name="adj" fmla="val 4211"/>
            </a:avLst>
          </a:prstGeom>
          <a:solidFill>
            <a:schemeClr val="bg2"/>
          </a:solidFill>
          <a:ln/>
        </p:spPr>
      </p:sp>
      <p:sp>
        <p:nvSpPr>
          <p:cNvPr id="29" name="Comparison block"/>
          <p:cNvSpPr/>
          <p:nvPr/>
        </p:nvSpPr>
        <p:spPr>
          <a:xfrm>
            <a:off x="6263640" y="2011680"/>
            <a:ext cx="2240280" cy="685800"/>
          </a:xfrm>
          <a:prstGeom prst="hexagon">
            <a:avLst/>
          </a:prstGeom>
          <a:solidFill>
            <a:schemeClr val="accent3"/>
          </a:solidFill>
          <a:ln w="12700">
            <a:solidFill>
              <a:schemeClr val="bg1"/>
            </a:solidFill>
            <a:prstDash val="solid"/>
          </a:ln>
        </p:spPr>
      </p:sp>
      <p:sp>
        <p:nvSpPr>
          <p:cNvPr id="30" name="Shape 28"/>
          <p:cNvSpPr/>
          <p:nvPr/>
        </p:nvSpPr>
        <p:spPr>
          <a:xfrm>
            <a:off x="6537960" y="2212848"/>
            <a:ext cx="502920" cy="292608"/>
          </a:xfrm>
          <a:prstGeom prst="roundRect">
            <a:avLst>
              <a:gd name="adj" fmla="val 31250"/>
            </a:avLst>
          </a:prstGeom>
          <a:solidFill>
            <a:schemeClr val="bg1"/>
          </a:solidFill>
          <a:ln/>
        </p:spPr>
      </p:sp>
      <p:sp>
        <p:nvSpPr>
          <p:cNvPr id="31" name="Text 29"/>
          <p:cNvSpPr txBox="1"/>
          <p:nvPr/>
        </p:nvSpPr>
        <p:spPr>
          <a:xfrm>
            <a:off x="7086600" y="2011680"/>
            <a:ext cx="411480" cy="685800"/>
          </a:xfrm>
          <a:prstGeom prst="rect">
            <a:avLst/>
          </a:prstGeom>
          <a:noFill/>
          <a:ln/>
        </p:spPr>
        <p:txBody>
          <a:bodyPr wrap="square" lIns="0" tIns="0" rIns="0" bIns="0" rtlCol="0" anchor="ctr"/>
          <a:lstStyle/>
          <a:p>
            <a:pPr marL="0" indent="0" algn="ctr">
              <a:buNone/>
            </a:pPr>
            <a:r>
              <a:rPr lang="en-US" sz="2000" b="1" dirty="0">
                <a:solidFill>
                  <a:schemeClr val="tx1"/>
                </a:solidFill>
              </a:rPr>
              <a:t>=</a:t>
            </a:r>
            <a:endParaRPr lang="en-US" sz="2000" dirty="0"/>
          </a:p>
        </p:txBody>
      </p:sp>
      <p:sp>
        <p:nvSpPr>
          <p:cNvPr id="32" name="Text 30"/>
          <p:cNvSpPr txBox="1"/>
          <p:nvPr/>
        </p:nvSpPr>
        <p:spPr>
          <a:xfrm>
            <a:off x="7543800" y="2212848"/>
            <a:ext cx="502920" cy="292608"/>
          </a:xfrm>
          <a:prstGeom prst="roundRect">
            <a:avLst>
              <a:gd name="adj" fmla="val 31250"/>
            </a:avLst>
          </a:prstGeom>
          <a:solidFill>
            <a:schemeClr val="bg1"/>
          </a:solidFill>
          <a:ln/>
        </p:spPr>
        <p:txBody>
          <a:bodyPr wrap="square" lIns="0" tIns="0" rIns="0" bIns="0" rtlCol="0" anchor="ctr"/>
          <a:lstStyle/>
          <a:p>
            <a:pPr marL="0" indent="0" algn="ctr">
              <a:buNone/>
            </a:pPr>
            <a:r>
              <a:rPr lang="en-US" sz="1200" b="1" dirty="0">
                <a:solidFill>
                  <a:schemeClr val="tx1"/>
                </a:solidFill>
              </a:rPr>
              <a:t>50</a:t>
            </a:r>
            <a:endParaRPr lang="en-US" sz="1200" dirty="0"/>
          </a:p>
        </p:txBody>
      </p:sp>
      <p:sp>
        <p:nvSpPr>
          <p:cNvPr id="33" name="Text 31"/>
          <p:cNvSpPr txBox="1"/>
          <p:nvPr/>
        </p:nvSpPr>
        <p:spPr>
          <a:xfrm>
            <a:off x="6263640" y="2834640"/>
            <a:ext cx="2240280" cy="320040"/>
          </a:xfrm>
          <a:prstGeom prst="rect">
            <a:avLst/>
          </a:prstGeom>
          <a:noFill/>
          <a:ln/>
        </p:spPr>
        <p:txBody>
          <a:bodyPr wrap="square" lIns="0" tIns="0" rIns="0" bIns="0" rtlCol="0" anchor="t"/>
          <a:lstStyle/>
          <a:p>
            <a:pPr marL="0" indent="0">
              <a:buNone/>
            </a:pPr>
            <a:r>
              <a:rPr lang="en-US" sz="1600" b="1" dirty="0">
                <a:solidFill>
                  <a:schemeClr val="tx1"/>
                </a:solidFill>
              </a:rPr>
              <a:t>equal to</a:t>
            </a:r>
            <a:endParaRPr lang="en-US" sz="1600" dirty="0"/>
          </a:p>
        </p:txBody>
      </p:sp>
      <p:sp>
        <p:nvSpPr>
          <p:cNvPr id="34" name="Shape 32"/>
          <p:cNvSpPr/>
          <p:nvPr/>
        </p:nvSpPr>
        <p:spPr>
          <a:xfrm>
            <a:off x="6263640" y="3246120"/>
            <a:ext cx="2240280" cy="502920"/>
          </a:xfrm>
          <a:prstGeom prst="roundRect">
            <a:avLst>
              <a:gd name="adj" fmla="val 18182"/>
            </a:avLst>
          </a:prstGeom>
          <a:solidFill>
            <a:schemeClr val="bg1"/>
          </a:solidFill>
          <a:ln/>
        </p:spPr>
      </p:sp>
      <p:sp>
        <p:nvSpPr>
          <p:cNvPr id="35" name="Text 33"/>
          <p:cNvSpPr txBox="1"/>
          <p:nvPr/>
        </p:nvSpPr>
        <p:spPr>
          <a:xfrm>
            <a:off x="6400800" y="3246120"/>
            <a:ext cx="1097280" cy="502920"/>
          </a:xfrm>
          <a:prstGeom prst="rect">
            <a:avLst/>
          </a:prstGeom>
          <a:noFill/>
          <a:ln/>
        </p:spPr>
        <p:txBody>
          <a:bodyPr wrap="square" lIns="0" tIns="0" rIns="0" bIns="0" rtlCol="0" anchor="ctr"/>
          <a:lstStyle/>
          <a:p>
            <a:pPr marL="0" indent="0">
              <a:buNone/>
            </a:pPr>
            <a:r>
              <a:rPr lang="en-US" sz="1400" b="1" dirty="0">
                <a:solidFill>
                  <a:schemeClr val="tx1"/>
                </a:solidFill>
              </a:rPr>
              <a:t>50 = 50</a:t>
            </a:r>
            <a:endParaRPr lang="en-US" sz="1400" dirty="0"/>
          </a:p>
        </p:txBody>
      </p:sp>
      <p:sp>
        <p:nvSpPr>
          <p:cNvPr id="36" name="Text 34"/>
          <p:cNvSpPr txBox="1"/>
          <p:nvPr/>
        </p:nvSpPr>
        <p:spPr>
          <a:xfrm>
            <a:off x="7589520" y="3346704"/>
            <a:ext cx="777240" cy="301752"/>
          </a:xfrm>
          <a:prstGeom prst="roundRect">
            <a:avLst>
              <a:gd name="adj" fmla="val 45455"/>
            </a:avLst>
          </a:prstGeom>
          <a:solidFill>
            <a:schemeClr val="accent3"/>
          </a:solidFill>
          <a:ln/>
        </p:spPr>
        <p:txBody>
          <a:bodyPr wrap="square" lIns="0" tIns="0" rIns="0" bIns="0" rtlCol="0" anchor="ctr"/>
          <a:lstStyle/>
          <a:p>
            <a:pPr marL="0" indent="0" algn="ctr">
              <a:buNone/>
            </a:pPr>
            <a:r>
              <a:rPr lang="en-US" sz="1200" b="1" dirty="0">
                <a:solidFill>
                  <a:schemeClr val="tx1"/>
                </a:solidFill>
              </a:rPr>
              <a:t>true</a:t>
            </a:r>
            <a:endParaRPr lang="en-US" sz="1200" dirty="0"/>
          </a:p>
        </p:txBody>
      </p:sp>
      <p:sp>
        <p:nvSpPr>
          <p:cNvPr id="37" name="Shape 35"/>
          <p:cNvSpPr/>
          <p:nvPr/>
        </p:nvSpPr>
        <p:spPr>
          <a:xfrm>
            <a:off x="6263640" y="3886200"/>
            <a:ext cx="2240280" cy="502920"/>
          </a:xfrm>
          <a:prstGeom prst="roundRect">
            <a:avLst>
              <a:gd name="adj" fmla="val 18182"/>
            </a:avLst>
          </a:prstGeom>
          <a:solidFill>
            <a:schemeClr val="bg1"/>
          </a:solidFill>
          <a:ln/>
        </p:spPr>
      </p:sp>
      <p:sp>
        <p:nvSpPr>
          <p:cNvPr id="38" name="Text 36"/>
          <p:cNvSpPr txBox="1"/>
          <p:nvPr/>
        </p:nvSpPr>
        <p:spPr>
          <a:xfrm>
            <a:off x="6400800" y="3886200"/>
            <a:ext cx="1097280" cy="502920"/>
          </a:xfrm>
          <a:prstGeom prst="rect">
            <a:avLst/>
          </a:prstGeom>
          <a:noFill/>
          <a:ln/>
        </p:spPr>
        <p:txBody>
          <a:bodyPr wrap="square" lIns="0" tIns="0" rIns="0" bIns="0" rtlCol="0" anchor="ctr"/>
          <a:lstStyle/>
          <a:p>
            <a:pPr marL="0" indent="0">
              <a:buNone/>
            </a:pPr>
            <a:r>
              <a:rPr lang="en-US" sz="1400" b="1" dirty="0">
                <a:solidFill>
                  <a:schemeClr val="tx1"/>
                </a:solidFill>
              </a:rPr>
              <a:t>49 = 50</a:t>
            </a:r>
            <a:endParaRPr lang="en-US" sz="1400" dirty="0"/>
          </a:p>
        </p:txBody>
      </p:sp>
      <p:sp>
        <p:nvSpPr>
          <p:cNvPr id="39" name="Text 37"/>
          <p:cNvSpPr txBox="1"/>
          <p:nvPr/>
        </p:nvSpPr>
        <p:spPr>
          <a:xfrm>
            <a:off x="7589520" y="3986784"/>
            <a:ext cx="777240" cy="301752"/>
          </a:xfrm>
          <a:prstGeom prst="roundRect">
            <a:avLst>
              <a:gd name="adj" fmla="val 45455"/>
            </a:avLst>
          </a:prstGeom>
          <a:solidFill>
            <a:srgbClr val="E5484D"/>
          </a:solidFill>
          <a:ln/>
        </p:spPr>
        <p:txBody>
          <a:bodyPr wrap="square" lIns="0" tIns="0" rIns="0" bIns="0" rtlCol="0" anchor="ctr"/>
          <a:lstStyle/>
          <a:p>
            <a:pPr marL="0" indent="0" algn="ctr">
              <a:buNone/>
            </a:pPr>
            <a:r>
              <a:rPr lang="en-US" sz="1200" b="1" dirty="0">
                <a:solidFill>
                  <a:schemeClr val="bg1"/>
                </a:solidFill>
              </a:rPr>
              <a:t>false</a:t>
            </a:r>
            <a:endParaRPr lang="en-US" sz="1200" dirty="0"/>
          </a:p>
        </p:txBody>
      </p:sp>
      <p:sp>
        <p:nvSpPr>
          <p:cNvPr id="40"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1"/>
                </a:solidFill>
              </a:rPr>
              <a:t>Procedures and interaction</a:t>
            </a:r>
            <a:endParaRPr lang="en-US" sz="3000" dirty="0"/>
          </a:p>
        </p:txBody>
      </p:sp>
      <p:sp>
        <p:nvSpPr>
          <p:cNvPr id="3" name="Card"/>
          <p:cNvSpPr/>
          <p:nvPr/>
        </p:nvSpPr>
        <p:spPr>
          <a:xfrm>
            <a:off x="457200" y="1143000"/>
            <a:ext cx="4023360" cy="3429000"/>
          </a:xfrm>
          <a:prstGeom prst="roundRect">
            <a:avLst>
              <a:gd name="adj" fmla="val 3200"/>
            </a:avLst>
          </a:prstGeom>
          <a:solidFill>
            <a:schemeClr val="bg2"/>
          </a:solidFill>
          <a:ln/>
        </p:spPr>
      </p:sp>
      <p:sp>
        <p:nvSpPr>
          <p:cNvPr id="4" name="Card"/>
          <p:cNvSpPr/>
          <p:nvPr/>
        </p:nvSpPr>
        <p:spPr>
          <a:xfrm>
            <a:off x="4663440" y="1143000"/>
            <a:ext cx="4023360" cy="3429000"/>
          </a:xfrm>
          <a:prstGeom prst="roundRect">
            <a:avLst>
              <a:gd name="adj" fmla="val 3200"/>
            </a:avLst>
          </a:prstGeom>
          <a:solidFill>
            <a:schemeClr val="bg2"/>
          </a:solidFill>
          <a:ln/>
        </p:spPr>
      </p:sp>
      <p:sp>
        <p:nvSpPr>
          <p:cNvPr id="5" name="Text 3"/>
          <p:cNvSpPr txBox="1"/>
          <p:nvPr/>
        </p:nvSpPr>
        <p:spPr>
          <a:xfrm>
            <a:off x="640080" y="1234440"/>
            <a:ext cx="3657600" cy="365760"/>
          </a:xfrm>
          <a:prstGeom prst="rect">
            <a:avLst/>
          </a:prstGeom>
          <a:noFill/>
          <a:ln/>
        </p:spPr>
        <p:txBody>
          <a:bodyPr wrap="square" lIns="0" tIns="0" rIns="0" bIns="0" rtlCol="0" anchor="t"/>
          <a:lstStyle/>
          <a:p>
            <a:pPr marL="0" indent="0">
              <a:buNone/>
            </a:pPr>
            <a:r>
              <a:rPr lang="en-US" sz="2000" b="1" dirty="0">
                <a:solidFill>
                  <a:schemeClr val="tx1"/>
                </a:solidFill>
              </a:rPr>
              <a:t>Procedure</a:t>
            </a:r>
            <a:endParaRPr lang="en-US" sz="2000" dirty="0"/>
          </a:p>
        </p:txBody>
      </p:sp>
      <p:sp>
        <p:nvSpPr>
          <p:cNvPr id="6" name="Scratch block"/>
          <p:cNvSpPr/>
          <p:nvPr/>
        </p:nvSpPr>
        <p:spPr>
          <a:xfrm>
            <a:off x="640080" y="1737360"/>
            <a:ext cx="1836115" cy="365760"/>
          </a:xfrm>
          <a:prstGeom prst="roundRect">
            <a:avLst>
              <a:gd name="adj" fmla="val 17500"/>
            </a:avLst>
          </a:prstGeom>
          <a:solidFill>
            <a:schemeClr val="accent4"/>
          </a:solidFill>
          <a:ln w="9525">
            <a:solidFill>
              <a:schemeClr val="bg1"/>
            </a:solidFill>
            <a:prstDash val="solid"/>
          </a:ln>
        </p:spPr>
      </p:sp>
      <p:sp>
        <p:nvSpPr>
          <p:cNvPr id="7" name="Text 5"/>
          <p:cNvSpPr txBox="1"/>
          <p:nvPr/>
        </p:nvSpPr>
        <p:spPr>
          <a:xfrm>
            <a:off x="758952" y="1737360"/>
            <a:ext cx="548640" cy="365760"/>
          </a:xfrm>
          <a:prstGeom prst="rect">
            <a:avLst/>
          </a:prstGeom>
          <a:noFill/>
          <a:ln/>
        </p:spPr>
        <p:txBody>
          <a:bodyPr wrap="none" lIns="0" tIns="0" rIns="0" bIns="0" rtlCol="0" anchor="ctr"/>
          <a:lstStyle/>
          <a:p>
            <a:pPr marL="0" indent="0">
              <a:buNone/>
            </a:pPr>
            <a:r>
              <a:rPr lang="en-US" sz="1200" b="1" dirty="0">
                <a:solidFill>
                  <a:schemeClr val="bg1"/>
                </a:solidFill>
              </a:rPr>
              <a:t>define</a:t>
            </a:r>
            <a:endParaRPr lang="en-US" sz="1200" dirty="0"/>
          </a:p>
        </p:txBody>
      </p:sp>
      <p:sp>
        <p:nvSpPr>
          <p:cNvPr id="8" name="Text 6"/>
          <p:cNvSpPr txBox="1"/>
          <p:nvPr/>
        </p:nvSpPr>
        <p:spPr>
          <a:xfrm>
            <a:off x="1371600" y="1783080"/>
            <a:ext cx="985723" cy="274320"/>
          </a:xfrm>
          <a:prstGeom prst="roundRect">
            <a:avLst>
              <a:gd name="adj" fmla="val 33333"/>
            </a:avLst>
          </a:prstGeom>
          <a:solidFill>
            <a:schemeClr val="bg1"/>
          </a:solidFill>
          <a:ln/>
        </p:spPr>
        <p:txBody>
          <a:bodyPr wrap="none" lIns="0" tIns="0" rIns="0" bIns="0" rtlCol="0" anchor="ctr"/>
          <a:lstStyle/>
          <a:p>
            <a:pPr marL="0" indent="0" algn="ctr">
              <a:buNone/>
            </a:pPr>
            <a:r>
              <a:rPr lang="en-US" sz="1100" dirty="0">
                <a:solidFill>
                  <a:schemeClr val="tx1"/>
                </a:solidFill>
              </a:rPr>
              <a:t>draw square</a:t>
            </a:r>
            <a:endParaRPr lang="en-US" sz="1100" dirty="0"/>
          </a:p>
        </p:txBody>
      </p:sp>
      <p:sp>
        <p:nvSpPr>
          <p:cNvPr id="9" name="Scratch block"/>
          <p:cNvSpPr/>
          <p:nvPr/>
        </p:nvSpPr>
        <p:spPr>
          <a:xfrm>
            <a:off x="2011680" y="2331720"/>
            <a:ext cx="1220724" cy="365760"/>
          </a:xfrm>
          <a:prstGeom prst="roundRect">
            <a:avLst>
              <a:gd name="adj" fmla="val 17500"/>
            </a:avLst>
          </a:prstGeom>
          <a:solidFill>
            <a:schemeClr val="accent4"/>
          </a:solidFill>
          <a:ln w="9525">
            <a:solidFill>
              <a:schemeClr val="bg1"/>
            </a:solidFill>
            <a:prstDash val="solid"/>
          </a:ln>
        </p:spPr>
      </p:sp>
      <p:sp>
        <p:nvSpPr>
          <p:cNvPr id="10" name="Text 8"/>
          <p:cNvSpPr txBox="1"/>
          <p:nvPr/>
        </p:nvSpPr>
        <p:spPr>
          <a:xfrm>
            <a:off x="2130552" y="2331720"/>
            <a:ext cx="982980" cy="365760"/>
          </a:xfrm>
          <a:prstGeom prst="rect">
            <a:avLst/>
          </a:prstGeom>
          <a:noFill/>
          <a:ln/>
        </p:spPr>
        <p:txBody>
          <a:bodyPr wrap="none" lIns="0" tIns="0" rIns="0" bIns="0" rtlCol="0" anchor="ctr"/>
          <a:lstStyle/>
          <a:p>
            <a:pPr marL="0" indent="0">
              <a:buNone/>
            </a:pPr>
            <a:r>
              <a:rPr lang="en-US" sz="1200" b="1" dirty="0">
                <a:solidFill>
                  <a:schemeClr val="bg1"/>
                </a:solidFill>
              </a:rPr>
              <a:t>draw square</a:t>
            </a:r>
            <a:endParaRPr lang="en-US" sz="1200" dirty="0"/>
          </a:p>
        </p:txBody>
      </p:sp>
      <p:sp>
        <p:nvSpPr>
          <p:cNvPr id="11" name="Scratch block"/>
          <p:cNvSpPr/>
          <p:nvPr/>
        </p:nvSpPr>
        <p:spPr>
          <a:xfrm>
            <a:off x="2011680" y="2715768"/>
            <a:ext cx="1220724" cy="365760"/>
          </a:xfrm>
          <a:prstGeom prst="roundRect">
            <a:avLst>
              <a:gd name="adj" fmla="val 17500"/>
            </a:avLst>
          </a:prstGeom>
          <a:solidFill>
            <a:schemeClr val="accent4"/>
          </a:solidFill>
          <a:ln w="9525">
            <a:solidFill>
              <a:schemeClr val="bg1"/>
            </a:solidFill>
            <a:prstDash val="solid"/>
          </a:ln>
        </p:spPr>
      </p:sp>
      <p:sp>
        <p:nvSpPr>
          <p:cNvPr id="12" name="Text 10"/>
          <p:cNvSpPr txBox="1"/>
          <p:nvPr/>
        </p:nvSpPr>
        <p:spPr>
          <a:xfrm>
            <a:off x="2130552" y="2715768"/>
            <a:ext cx="982980" cy="365760"/>
          </a:xfrm>
          <a:prstGeom prst="rect">
            <a:avLst/>
          </a:prstGeom>
          <a:noFill/>
          <a:ln/>
        </p:spPr>
        <p:txBody>
          <a:bodyPr wrap="none" lIns="0" tIns="0" rIns="0" bIns="0" rtlCol="0" anchor="ctr"/>
          <a:lstStyle/>
          <a:p>
            <a:pPr marL="0" indent="0">
              <a:buNone/>
            </a:pPr>
            <a:r>
              <a:rPr lang="en-US" sz="1200" b="1" dirty="0">
                <a:solidFill>
                  <a:schemeClr val="bg1"/>
                </a:solidFill>
              </a:rPr>
              <a:t>draw square</a:t>
            </a:r>
            <a:endParaRPr lang="en-US" sz="1200" dirty="0"/>
          </a:p>
        </p:txBody>
      </p:sp>
      <p:sp>
        <p:nvSpPr>
          <p:cNvPr id="13" name="Scratch block"/>
          <p:cNvSpPr/>
          <p:nvPr/>
        </p:nvSpPr>
        <p:spPr>
          <a:xfrm>
            <a:off x="2011680" y="3099816"/>
            <a:ext cx="1220724" cy="365760"/>
          </a:xfrm>
          <a:prstGeom prst="roundRect">
            <a:avLst>
              <a:gd name="adj" fmla="val 17500"/>
            </a:avLst>
          </a:prstGeom>
          <a:solidFill>
            <a:schemeClr val="accent4"/>
          </a:solidFill>
          <a:ln w="9525">
            <a:solidFill>
              <a:schemeClr val="bg1"/>
            </a:solidFill>
            <a:prstDash val="solid"/>
          </a:ln>
        </p:spPr>
      </p:sp>
      <p:sp>
        <p:nvSpPr>
          <p:cNvPr id="14" name="Text 12"/>
          <p:cNvSpPr txBox="1"/>
          <p:nvPr/>
        </p:nvSpPr>
        <p:spPr>
          <a:xfrm>
            <a:off x="2130552" y="3099816"/>
            <a:ext cx="982980" cy="365760"/>
          </a:xfrm>
          <a:prstGeom prst="rect">
            <a:avLst/>
          </a:prstGeom>
          <a:noFill/>
          <a:ln/>
        </p:spPr>
        <p:txBody>
          <a:bodyPr wrap="none" lIns="0" tIns="0" rIns="0" bIns="0" rtlCol="0" anchor="ctr"/>
          <a:lstStyle/>
          <a:p>
            <a:pPr marL="0" indent="0">
              <a:buNone/>
            </a:pPr>
            <a:r>
              <a:rPr lang="en-US" sz="1200" b="1" dirty="0">
                <a:solidFill>
                  <a:schemeClr val="bg1"/>
                </a:solidFill>
              </a:rPr>
              <a:t>draw square</a:t>
            </a:r>
            <a:endParaRPr lang="en-US" sz="1200" dirty="0"/>
          </a:p>
        </p:txBody>
      </p:sp>
      <p:sp>
        <p:nvSpPr>
          <p:cNvPr id="15" name="Text 13"/>
          <p:cNvSpPr txBox="1"/>
          <p:nvPr/>
        </p:nvSpPr>
        <p:spPr>
          <a:xfrm>
            <a:off x="3429000" y="2834640"/>
            <a:ext cx="1005840" cy="365760"/>
          </a:xfrm>
          <a:prstGeom prst="rect">
            <a:avLst/>
          </a:prstGeom>
          <a:noFill/>
          <a:ln/>
        </p:spPr>
        <p:txBody>
          <a:bodyPr wrap="square" lIns="0" tIns="0" rIns="0" bIns="0" rtlCol="0" anchor="t"/>
          <a:lstStyle/>
          <a:p>
            <a:pPr marL="0" indent="0">
              <a:buNone/>
            </a:pPr>
            <a:r>
              <a:rPr lang="en-US" sz="1300" b="1" dirty="0">
                <a:solidFill>
                  <a:schemeClr val="tx1"/>
                </a:solidFill>
              </a:rPr>
              <a:t>used 3 times</a:t>
            </a:r>
            <a:endParaRPr lang="en-US" sz="1300" dirty="0"/>
          </a:p>
        </p:txBody>
      </p:sp>
      <p:sp>
        <p:nvSpPr>
          <p:cNvPr id="16" name="Text 14"/>
          <p:cNvSpPr txBox="1"/>
          <p:nvPr/>
        </p:nvSpPr>
        <p:spPr>
          <a:xfrm>
            <a:off x="640080" y="3611880"/>
            <a:ext cx="3657600" cy="914400"/>
          </a:xfrm>
          <a:prstGeom prst="rect">
            <a:avLst/>
          </a:prstGeom>
          <a:noFill/>
          <a:ln/>
        </p:spPr>
        <p:txBody>
          <a:bodyPr wrap="square" lIns="0" tIns="0" rIns="0" bIns="0" rtlCol="0" anchor="t"/>
          <a:lstStyle/>
          <a:p>
            <a:pPr marL="0" indent="0">
              <a:buNone/>
            </a:pPr>
            <a:r>
              <a:rPr lang="en-US" sz="1300" dirty="0">
                <a:solidFill>
                  <a:schemeClr val="tx1"/>
                </a:solidFill>
              </a:rPr>
              <a:t>A small section of code that we can use many times in a program. It saves time because we do not rewrite the same commands.</a:t>
            </a:r>
            <a:endParaRPr lang="en-US" sz="1300" dirty="0"/>
          </a:p>
        </p:txBody>
      </p:sp>
      <p:sp>
        <p:nvSpPr>
          <p:cNvPr id="17" name="Text 15"/>
          <p:cNvSpPr txBox="1"/>
          <p:nvPr/>
        </p:nvSpPr>
        <p:spPr>
          <a:xfrm>
            <a:off x="4846320" y="1234440"/>
            <a:ext cx="3657600" cy="365760"/>
          </a:xfrm>
          <a:prstGeom prst="rect">
            <a:avLst/>
          </a:prstGeom>
          <a:noFill/>
          <a:ln/>
        </p:spPr>
        <p:txBody>
          <a:bodyPr wrap="square" lIns="0" tIns="0" rIns="0" bIns="0" rtlCol="0" anchor="t"/>
          <a:lstStyle/>
          <a:p>
            <a:pPr marL="0" indent="0">
              <a:buNone/>
            </a:pPr>
            <a:r>
              <a:rPr lang="en-US" sz="2000" b="1" dirty="0">
                <a:solidFill>
                  <a:schemeClr val="tx1"/>
                </a:solidFill>
              </a:rPr>
              <a:t>Interaction</a:t>
            </a:r>
            <a:endParaRPr lang="en-US" sz="2000" dirty="0"/>
          </a:p>
        </p:txBody>
      </p:sp>
      <p:sp>
        <p:nvSpPr>
          <p:cNvPr id="18" name="Icon circle"/>
          <p:cNvSpPr/>
          <p:nvPr/>
        </p:nvSpPr>
        <p:spPr>
          <a:xfrm>
            <a:off x="4983480" y="1920240"/>
            <a:ext cx="777240" cy="777240"/>
          </a:xfrm>
          <a:prstGeom prst="ellipse">
            <a:avLst/>
          </a:prstGeom>
          <a:solidFill>
            <a:schemeClr val="accent2"/>
          </a:solidFill>
          <a:ln/>
        </p:spPr>
      </p:sp>
      <p:pic>
        <p:nvPicPr>
          <p:cNvPr id="19" name="Image 0" descr="FaCat"/>
          <p:cNvPicPr>
            <a:picLocks noChangeAspect="1"/>
          </p:cNvPicPr>
          <p:nvPr/>
        </p:nvPicPr>
        <p:blipFill>
          <a:blip r:embed="rId3"/>
          <a:stretch>
            <a:fillRect/>
          </a:stretch>
        </p:blipFill>
        <p:spPr>
          <a:xfrm>
            <a:off x="5177790" y="2114550"/>
            <a:ext cx="388620" cy="388620"/>
          </a:xfrm>
          <a:prstGeom prst="rect">
            <a:avLst/>
          </a:prstGeom>
        </p:spPr>
      </p:pic>
      <p:sp>
        <p:nvSpPr>
          <p:cNvPr id="20" name="Icon circle"/>
          <p:cNvSpPr/>
          <p:nvPr/>
        </p:nvSpPr>
        <p:spPr>
          <a:xfrm>
            <a:off x="7406640" y="1920240"/>
            <a:ext cx="777240" cy="777240"/>
          </a:xfrm>
          <a:prstGeom prst="ellipse">
            <a:avLst/>
          </a:prstGeom>
          <a:solidFill>
            <a:schemeClr val="accent1"/>
          </a:solidFill>
          <a:ln/>
        </p:spPr>
      </p:sp>
      <p:pic>
        <p:nvPicPr>
          <p:cNvPr id="21" name="Image 1" descr="FaDog"/>
          <p:cNvPicPr>
            <a:picLocks noChangeAspect="1"/>
          </p:cNvPicPr>
          <p:nvPr/>
        </p:nvPicPr>
        <p:blipFill>
          <a:blip r:embed="rId4"/>
          <a:stretch>
            <a:fillRect/>
          </a:stretch>
        </p:blipFill>
        <p:spPr>
          <a:xfrm>
            <a:off x="7600950" y="2114550"/>
            <a:ext cx="388620" cy="388620"/>
          </a:xfrm>
          <a:prstGeom prst="rect">
            <a:avLst/>
          </a:prstGeom>
        </p:spPr>
      </p:pic>
      <p:sp>
        <p:nvSpPr>
          <p:cNvPr id="22" name="Shape 18"/>
          <p:cNvSpPr/>
          <p:nvPr/>
        </p:nvSpPr>
        <p:spPr>
          <a:xfrm>
            <a:off x="5852160" y="2304288"/>
            <a:ext cx="1463040" cy="0"/>
          </a:xfrm>
          <a:prstGeom prst="line">
            <a:avLst/>
          </a:prstGeom>
          <a:noFill/>
          <a:ln w="22225">
            <a:solidFill>
              <a:schemeClr val="tx2"/>
            </a:solidFill>
            <a:prstDash val="solid"/>
            <a:tailEnd type="triangle"/>
          </a:ln>
        </p:spPr>
      </p:sp>
      <p:sp>
        <p:nvSpPr>
          <p:cNvPr id="23" name="Text 19"/>
          <p:cNvSpPr txBox="1"/>
          <p:nvPr/>
        </p:nvSpPr>
        <p:spPr>
          <a:xfrm>
            <a:off x="5943600" y="1965960"/>
            <a:ext cx="1280160" cy="274320"/>
          </a:xfrm>
          <a:prstGeom prst="rect">
            <a:avLst/>
          </a:prstGeom>
          <a:noFill/>
          <a:ln/>
        </p:spPr>
        <p:txBody>
          <a:bodyPr wrap="square" lIns="0" tIns="0" rIns="0" bIns="0" rtlCol="0" anchor="t"/>
          <a:lstStyle/>
          <a:p>
            <a:pPr marL="0" indent="0" algn="ctr">
              <a:buNone/>
            </a:pPr>
            <a:r>
              <a:rPr lang="en-US" sz="1300" b="1" dirty="0">
                <a:solidFill>
                  <a:schemeClr val="tx1"/>
                </a:solidFill>
              </a:rPr>
              <a:t>touches</a:t>
            </a:r>
            <a:endParaRPr lang="en-US" sz="1300" dirty="0"/>
          </a:p>
        </p:txBody>
      </p:sp>
      <p:pic>
        <p:nvPicPr>
          <p:cNvPr id="24" name="Image 2" descr="Sound plays"/>
          <p:cNvPicPr>
            <a:picLocks noChangeAspect="1"/>
          </p:cNvPicPr>
          <p:nvPr/>
        </p:nvPicPr>
        <p:blipFill>
          <a:blip r:embed="rId5"/>
          <a:stretch>
            <a:fillRect/>
          </a:stretch>
        </p:blipFill>
        <p:spPr>
          <a:xfrm>
            <a:off x="6400800" y="2788920"/>
            <a:ext cx="411480" cy="411480"/>
          </a:xfrm>
          <a:prstGeom prst="rect">
            <a:avLst/>
          </a:prstGeom>
        </p:spPr>
      </p:pic>
      <p:sp>
        <p:nvSpPr>
          <p:cNvPr id="25" name="Text 20"/>
          <p:cNvSpPr txBox="1"/>
          <p:nvPr/>
        </p:nvSpPr>
        <p:spPr>
          <a:xfrm>
            <a:off x="5943600" y="3200400"/>
            <a:ext cx="1280160" cy="274320"/>
          </a:xfrm>
          <a:prstGeom prst="rect">
            <a:avLst/>
          </a:prstGeom>
          <a:noFill/>
          <a:ln/>
        </p:spPr>
        <p:txBody>
          <a:bodyPr wrap="square" lIns="0" tIns="0" rIns="0" bIns="0" rtlCol="0" anchor="t"/>
          <a:lstStyle/>
          <a:p>
            <a:pPr marL="0" indent="0" algn="ctr">
              <a:buNone/>
            </a:pPr>
            <a:r>
              <a:rPr lang="en-US" sz="1300" b="1" dirty="0">
                <a:solidFill>
                  <a:schemeClr val="tx1"/>
                </a:solidFill>
              </a:rPr>
              <a:t>sound plays</a:t>
            </a:r>
            <a:endParaRPr lang="en-US" sz="1300" dirty="0"/>
          </a:p>
        </p:txBody>
      </p:sp>
      <p:sp>
        <p:nvSpPr>
          <p:cNvPr id="26" name="Text 21"/>
          <p:cNvSpPr txBox="1"/>
          <p:nvPr/>
        </p:nvSpPr>
        <p:spPr>
          <a:xfrm>
            <a:off x="4846320" y="3611880"/>
            <a:ext cx="3657600" cy="914400"/>
          </a:xfrm>
          <a:prstGeom prst="rect">
            <a:avLst/>
          </a:prstGeom>
          <a:noFill/>
          <a:ln/>
        </p:spPr>
        <p:txBody>
          <a:bodyPr wrap="square" lIns="0" tIns="0" rIns="0" bIns="0" rtlCol="0" anchor="t"/>
          <a:lstStyle/>
          <a:p>
            <a:pPr marL="0" indent="0">
              <a:buNone/>
            </a:pPr>
            <a:r>
              <a:rPr lang="en-US" sz="1300" dirty="0">
                <a:solidFill>
                  <a:schemeClr val="tx1"/>
                </a:solidFill>
              </a:rPr>
              <a:t>When one part of a program changes or affects another, for example two sprites touch and one disappears or plays a sound.</a:t>
            </a:r>
            <a:endParaRPr lang="en-US" sz="1300" dirty="0"/>
          </a:p>
        </p:txBody>
      </p:sp>
      <p:sp>
        <p:nvSpPr>
          <p:cNvPr id="27"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tx1"/>
                </a:solidFill>
              </a:rPr>
              <a:t>Data types</a:t>
            </a:r>
            <a:endParaRPr lang="en-US" sz="3000" dirty="0"/>
          </a:p>
        </p:txBody>
      </p:sp>
      <p:sp>
        <p:nvSpPr>
          <p:cNvPr id="3" name="Text 1"/>
          <p:cNvSpPr txBox="1"/>
          <p:nvPr/>
        </p:nvSpPr>
        <p:spPr>
          <a:xfrm>
            <a:off x="457200" y="1097280"/>
            <a:ext cx="8229600" cy="640080"/>
          </a:xfrm>
          <a:prstGeom prst="rect">
            <a:avLst/>
          </a:prstGeom>
          <a:noFill/>
          <a:ln/>
        </p:spPr>
        <p:txBody>
          <a:bodyPr wrap="square" lIns="0" tIns="0" rIns="0" bIns="0" rtlCol="0" anchor="t"/>
          <a:lstStyle/>
          <a:p>
            <a:pPr marL="0" indent="0">
              <a:buNone/>
            </a:pPr>
            <a:r>
              <a:rPr lang="en-US" sz="1500" dirty="0">
                <a:solidFill>
                  <a:schemeClr val="tx1"/>
                </a:solidFill>
              </a:rPr>
              <a:t>Computers store data in an organised way. Categorising data into different types makes it easy to find. We look at three: integer, character and string.</a:t>
            </a:r>
            <a:endParaRPr lang="en-US" sz="1500" dirty="0"/>
          </a:p>
        </p:txBody>
      </p:sp>
      <p:sp>
        <p:nvSpPr>
          <p:cNvPr id="4" name="Card"/>
          <p:cNvSpPr/>
          <p:nvPr/>
        </p:nvSpPr>
        <p:spPr>
          <a:xfrm>
            <a:off x="457200" y="1828800"/>
            <a:ext cx="2606040" cy="2743200"/>
          </a:xfrm>
          <a:prstGeom prst="roundRect">
            <a:avLst>
              <a:gd name="adj" fmla="val 4211"/>
            </a:avLst>
          </a:prstGeom>
          <a:solidFill>
            <a:schemeClr val="bg2"/>
          </a:solidFill>
          <a:ln/>
        </p:spPr>
      </p:sp>
      <p:sp>
        <p:nvSpPr>
          <p:cNvPr id="5" name="Text 3"/>
          <p:cNvSpPr txBox="1"/>
          <p:nvPr/>
        </p:nvSpPr>
        <p:spPr>
          <a:xfrm>
            <a:off x="640080" y="1965960"/>
            <a:ext cx="777240" cy="777240"/>
          </a:xfrm>
          <a:prstGeom prst="ellipse">
            <a:avLst/>
          </a:prstGeom>
          <a:solidFill>
            <a:schemeClr val="accent1"/>
          </a:solidFill>
          <a:ln/>
        </p:spPr>
        <p:txBody>
          <a:bodyPr wrap="square" lIns="0" tIns="0" rIns="0" bIns="0" rtlCol="0" anchor="ctr"/>
          <a:lstStyle/>
          <a:p>
            <a:pPr marL="0" indent="0" algn="ctr">
              <a:buNone/>
            </a:pPr>
            <a:r>
              <a:rPr lang="en-US" sz="2800" b="1" dirty="0">
                <a:solidFill>
                  <a:schemeClr val="tx1"/>
                </a:solidFill>
              </a:rPr>
              <a:t>3</a:t>
            </a:r>
            <a:endParaRPr lang="en-US" sz="2800" dirty="0"/>
          </a:p>
        </p:txBody>
      </p:sp>
      <p:sp>
        <p:nvSpPr>
          <p:cNvPr id="6" name="Text 4"/>
          <p:cNvSpPr txBox="1"/>
          <p:nvPr/>
        </p:nvSpPr>
        <p:spPr>
          <a:xfrm>
            <a:off x="1554480" y="2103120"/>
            <a:ext cx="1371600" cy="457200"/>
          </a:xfrm>
          <a:prstGeom prst="rect">
            <a:avLst/>
          </a:prstGeom>
          <a:noFill/>
          <a:ln/>
        </p:spPr>
        <p:txBody>
          <a:bodyPr wrap="square" lIns="0" tIns="0" rIns="0" bIns="0" rtlCol="0" anchor="ctr"/>
          <a:lstStyle/>
          <a:p>
            <a:pPr marL="0" indent="0">
              <a:buNone/>
            </a:pPr>
            <a:r>
              <a:rPr lang="en-US" sz="2200" b="1" dirty="0">
                <a:solidFill>
                  <a:schemeClr val="tx1"/>
                </a:solidFill>
              </a:rPr>
              <a:t>Integer</a:t>
            </a:r>
            <a:endParaRPr lang="en-US" sz="2200" dirty="0"/>
          </a:p>
        </p:txBody>
      </p:sp>
      <p:sp>
        <p:nvSpPr>
          <p:cNvPr id="7" name="Text 5"/>
          <p:cNvSpPr txBox="1"/>
          <p:nvPr/>
        </p:nvSpPr>
        <p:spPr>
          <a:xfrm>
            <a:off x="640080" y="2834640"/>
            <a:ext cx="2240280" cy="822960"/>
          </a:xfrm>
          <a:prstGeom prst="rect">
            <a:avLst/>
          </a:prstGeom>
          <a:noFill/>
          <a:ln/>
        </p:spPr>
        <p:txBody>
          <a:bodyPr wrap="square" lIns="0" tIns="0" rIns="0" bIns="0" rtlCol="0" anchor="t"/>
          <a:lstStyle/>
          <a:p>
            <a:pPr marL="0" indent="0">
              <a:buNone/>
            </a:pPr>
            <a:r>
              <a:rPr lang="en-US" sz="1300" dirty="0">
                <a:solidFill>
                  <a:schemeClr val="tx1"/>
                </a:solidFill>
              </a:rPr>
              <a:t>A whole number. Programs can do maths with integers.</a:t>
            </a:r>
            <a:endParaRPr lang="en-US" sz="1300" dirty="0"/>
          </a:p>
        </p:txBody>
      </p:sp>
      <p:sp>
        <p:nvSpPr>
          <p:cNvPr id="8" name="Text 6"/>
          <p:cNvSpPr txBox="1"/>
          <p:nvPr/>
        </p:nvSpPr>
        <p:spPr>
          <a:xfrm>
            <a:off x="640080" y="3977640"/>
            <a:ext cx="2286000" cy="365760"/>
          </a:xfrm>
          <a:prstGeom prst="rect">
            <a:avLst/>
          </a:prstGeom>
          <a:noFill/>
          <a:ln/>
        </p:spPr>
        <p:txBody>
          <a:bodyPr wrap="square" lIns="0" tIns="0" rIns="0" bIns="0" rtlCol="0" anchor="t"/>
          <a:lstStyle/>
          <a:p>
            <a:pPr marL="0" indent="0">
              <a:buNone/>
            </a:pPr>
            <a:r>
              <a:rPr lang="en-US" sz="1300" b="1" dirty="0">
                <a:solidFill>
                  <a:schemeClr val="tx2"/>
                </a:solidFill>
              </a:rPr>
              <a:t>3  ✓     3.14  ✗     three  ✗</a:t>
            </a:r>
            <a:endParaRPr lang="en-US" sz="1300" dirty="0"/>
          </a:p>
        </p:txBody>
      </p:sp>
      <p:sp>
        <p:nvSpPr>
          <p:cNvPr id="9" name="Card"/>
          <p:cNvSpPr/>
          <p:nvPr/>
        </p:nvSpPr>
        <p:spPr>
          <a:xfrm>
            <a:off x="3268980" y="1828800"/>
            <a:ext cx="2606040" cy="2743200"/>
          </a:xfrm>
          <a:prstGeom prst="roundRect">
            <a:avLst>
              <a:gd name="adj" fmla="val 4211"/>
            </a:avLst>
          </a:prstGeom>
          <a:solidFill>
            <a:schemeClr val="bg2"/>
          </a:solidFill>
          <a:ln/>
        </p:spPr>
      </p:sp>
      <p:sp>
        <p:nvSpPr>
          <p:cNvPr id="10" name="Text 8"/>
          <p:cNvSpPr txBox="1"/>
          <p:nvPr/>
        </p:nvSpPr>
        <p:spPr>
          <a:xfrm>
            <a:off x="3451860" y="1965960"/>
            <a:ext cx="777240" cy="777240"/>
          </a:xfrm>
          <a:prstGeom prst="ellipse">
            <a:avLst/>
          </a:prstGeom>
          <a:solidFill>
            <a:schemeClr val="accent2"/>
          </a:solidFill>
          <a:ln/>
        </p:spPr>
        <p:txBody>
          <a:bodyPr wrap="square" lIns="0" tIns="0" rIns="0" bIns="0" rtlCol="0" anchor="ctr"/>
          <a:lstStyle/>
          <a:p>
            <a:pPr marL="0" indent="0" algn="ctr">
              <a:buNone/>
            </a:pPr>
            <a:r>
              <a:rPr lang="en-US" sz="2800" b="1" dirty="0">
                <a:solidFill>
                  <a:schemeClr val="tx1"/>
                </a:solidFill>
              </a:rPr>
              <a:t>A</a:t>
            </a:r>
            <a:endParaRPr lang="en-US" sz="2800" dirty="0"/>
          </a:p>
        </p:txBody>
      </p:sp>
      <p:sp>
        <p:nvSpPr>
          <p:cNvPr id="11" name="Text 9"/>
          <p:cNvSpPr txBox="1"/>
          <p:nvPr/>
        </p:nvSpPr>
        <p:spPr>
          <a:xfrm>
            <a:off x="4366260" y="2103120"/>
            <a:ext cx="1371600" cy="457200"/>
          </a:xfrm>
          <a:prstGeom prst="rect">
            <a:avLst/>
          </a:prstGeom>
          <a:noFill/>
          <a:ln/>
        </p:spPr>
        <p:txBody>
          <a:bodyPr wrap="square" lIns="0" tIns="0" rIns="0" bIns="0" rtlCol="0" anchor="ctr"/>
          <a:lstStyle/>
          <a:p>
            <a:pPr marL="0" indent="0">
              <a:buNone/>
            </a:pPr>
            <a:r>
              <a:rPr lang="en-US" sz="2200" b="1" dirty="0">
                <a:solidFill>
                  <a:schemeClr val="tx1"/>
                </a:solidFill>
              </a:rPr>
              <a:t>Character</a:t>
            </a:r>
            <a:endParaRPr lang="en-US" sz="2200" dirty="0"/>
          </a:p>
        </p:txBody>
      </p:sp>
      <p:sp>
        <p:nvSpPr>
          <p:cNvPr id="12" name="Text 10"/>
          <p:cNvSpPr txBox="1"/>
          <p:nvPr/>
        </p:nvSpPr>
        <p:spPr>
          <a:xfrm>
            <a:off x="3451860" y="2834640"/>
            <a:ext cx="2240280" cy="822960"/>
          </a:xfrm>
          <a:prstGeom prst="rect">
            <a:avLst/>
          </a:prstGeom>
          <a:noFill/>
          <a:ln/>
        </p:spPr>
        <p:txBody>
          <a:bodyPr wrap="square" lIns="0" tIns="0" rIns="0" bIns="0" rtlCol="0" anchor="t"/>
          <a:lstStyle/>
          <a:p>
            <a:pPr marL="0" indent="0">
              <a:buNone/>
            </a:pPr>
            <a:r>
              <a:rPr lang="en-US" sz="1300" dirty="0">
                <a:solidFill>
                  <a:schemeClr val="tx1"/>
                </a:solidFill>
              </a:rPr>
              <a:t>Any single letter, symbol or number, like A, ! or 4. Used in passwords.</a:t>
            </a:r>
            <a:endParaRPr lang="en-US" sz="1300" dirty="0"/>
          </a:p>
        </p:txBody>
      </p:sp>
      <p:sp>
        <p:nvSpPr>
          <p:cNvPr id="13" name="Text 11"/>
          <p:cNvSpPr txBox="1"/>
          <p:nvPr/>
        </p:nvSpPr>
        <p:spPr>
          <a:xfrm>
            <a:off x="3451860" y="3977640"/>
            <a:ext cx="2286000" cy="365760"/>
          </a:xfrm>
          <a:prstGeom prst="rect">
            <a:avLst/>
          </a:prstGeom>
          <a:noFill/>
          <a:ln/>
        </p:spPr>
        <p:txBody>
          <a:bodyPr wrap="square" lIns="0" tIns="0" rIns="0" bIns="0" rtlCol="0" anchor="t"/>
          <a:lstStyle/>
          <a:p>
            <a:pPr marL="0" indent="0">
              <a:buNone/>
            </a:pPr>
            <a:r>
              <a:rPr lang="en-US" sz="1300" b="1" dirty="0">
                <a:solidFill>
                  <a:schemeClr val="tx2"/>
                </a:solidFill>
              </a:rPr>
              <a:t>A  ✓     !  ✓     4  ✓</a:t>
            </a:r>
            <a:endParaRPr lang="en-US" sz="1300" dirty="0"/>
          </a:p>
        </p:txBody>
      </p:sp>
      <p:sp>
        <p:nvSpPr>
          <p:cNvPr id="14" name="Card"/>
          <p:cNvSpPr/>
          <p:nvPr/>
        </p:nvSpPr>
        <p:spPr>
          <a:xfrm>
            <a:off x="6080760" y="1828800"/>
            <a:ext cx="2606040" cy="2743200"/>
          </a:xfrm>
          <a:prstGeom prst="roundRect">
            <a:avLst>
              <a:gd name="adj" fmla="val 4211"/>
            </a:avLst>
          </a:prstGeom>
          <a:solidFill>
            <a:schemeClr val="bg2"/>
          </a:solidFill>
          <a:ln/>
        </p:spPr>
      </p:sp>
      <p:sp>
        <p:nvSpPr>
          <p:cNvPr id="15" name="Text 13"/>
          <p:cNvSpPr txBox="1"/>
          <p:nvPr/>
        </p:nvSpPr>
        <p:spPr>
          <a:xfrm>
            <a:off x="6263640" y="1965960"/>
            <a:ext cx="777240" cy="777240"/>
          </a:xfrm>
          <a:prstGeom prst="ellipse">
            <a:avLst/>
          </a:prstGeom>
          <a:solidFill>
            <a:schemeClr val="accent4"/>
          </a:solidFill>
          <a:ln/>
        </p:spPr>
        <p:txBody>
          <a:bodyPr wrap="square" lIns="0" tIns="0" rIns="0" bIns="0" rtlCol="0" anchor="ctr"/>
          <a:lstStyle/>
          <a:p>
            <a:pPr marL="0" indent="0" algn="ctr">
              <a:buNone/>
            </a:pPr>
            <a:r>
              <a:rPr lang="en-US" sz="2000" b="1" dirty="0">
                <a:solidFill>
                  <a:schemeClr val="bg1"/>
                </a:solidFill>
              </a:rPr>
              <a:t>abc</a:t>
            </a:r>
            <a:endParaRPr lang="en-US" sz="2000" dirty="0"/>
          </a:p>
        </p:txBody>
      </p:sp>
      <p:sp>
        <p:nvSpPr>
          <p:cNvPr id="16" name="Text 14"/>
          <p:cNvSpPr txBox="1"/>
          <p:nvPr/>
        </p:nvSpPr>
        <p:spPr>
          <a:xfrm>
            <a:off x="7178040" y="2103120"/>
            <a:ext cx="1371600" cy="457200"/>
          </a:xfrm>
          <a:prstGeom prst="rect">
            <a:avLst/>
          </a:prstGeom>
          <a:noFill/>
          <a:ln/>
        </p:spPr>
        <p:txBody>
          <a:bodyPr wrap="square" lIns="0" tIns="0" rIns="0" bIns="0" rtlCol="0" anchor="ctr"/>
          <a:lstStyle/>
          <a:p>
            <a:pPr marL="0" indent="0">
              <a:buNone/>
            </a:pPr>
            <a:r>
              <a:rPr lang="en-US" sz="2200" b="1" dirty="0">
                <a:solidFill>
                  <a:schemeClr val="tx1"/>
                </a:solidFill>
              </a:rPr>
              <a:t>String</a:t>
            </a:r>
            <a:endParaRPr lang="en-US" sz="2200" dirty="0"/>
          </a:p>
        </p:txBody>
      </p:sp>
      <p:sp>
        <p:nvSpPr>
          <p:cNvPr id="17" name="Text 15"/>
          <p:cNvSpPr txBox="1"/>
          <p:nvPr/>
        </p:nvSpPr>
        <p:spPr>
          <a:xfrm>
            <a:off x="6263640" y="2834640"/>
            <a:ext cx="2240280" cy="822960"/>
          </a:xfrm>
          <a:prstGeom prst="rect">
            <a:avLst/>
          </a:prstGeom>
          <a:noFill/>
          <a:ln/>
        </p:spPr>
        <p:txBody>
          <a:bodyPr wrap="square" lIns="0" tIns="0" rIns="0" bIns="0" rtlCol="0" anchor="t"/>
          <a:lstStyle/>
          <a:p>
            <a:pPr marL="0" indent="0">
              <a:buNone/>
            </a:pPr>
            <a:r>
              <a:rPr lang="en-US" sz="1300" dirty="0">
                <a:solidFill>
                  <a:schemeClr val="tx1"/>
                </a:solidFill>
              </a:rPr>
              <a:t>A series of characters, such as a word or a sentence.</a:t>
            </a:r>
            <a:endParaRPr lang="en-US" sz="1300" dirty="0"/>
          </a:p>
        </p:txBody>
      </p:sp>
      <p:sp>
        <p:nvSpPr>
          <p:cNvPr id="18" name="Text 16"/>
          <p:cNvSpPr txBox="1"/>
          <p:nvPr/>
        </p:nvSpPr>
        <p:spPr>
          <a:xfrm>
            <a:off x="6263640" y="3977640"/>
            <a:ext cx="2286000" cy="365760"/>
          </a:xfrm>
          <a:prstGeom prst="rect">
            <a:avLst/>
          </a:prstGeom>
          <a:noFill/>
          <a:ln/>
        </p:spPr>
        <p:txBody>
          <a:bodyPr wrap="square" lIns="0" tIns="0" rIns="0" bIns="0" rtlCol="0" anchor="t"/>
          <a:lstStyle/>
          <a:p>
            <a:pPr marL="0" indent="0">
              <a:buNone/>
            </a:pPr>
            <a:r>
              <a:rPr lang="en-US" sz="1300" b="1" dirty="0">
                <a:solidFill>
                  <a:schemeClr val="tx2"/>
                </a:solidFill>
              </a:rPr>
              <a:t>“Hello”     “Sara123”     “I am 12”</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000" b="1" dirty="0">
                <a:solidFill>
                  <a:schemeClr val="bg1"/>
                </a:solidFill>
              </a:rPr>
              <a:t>Key takeaways</a:t>
            </a:r>
            <a:endParaRPr lang="en-US" sz="3000" dirty="0"/>
          </a:p>
        </p:txBody>
      </p:sp>
      <p:sp>
        <p:nvSpPr>
          <p:cNvPr id="3" name="Takeaway card"/>
          <p:cNvSpPr/>
          <p:nvPr/>
        </p:nvSpPr>
        <p:spPr>
          <a:xfrm>
            <a:off x="457200" y="1188720"/>
            <a:ext cx="2606040" cy="1554480"/>
          </a:xfrm>
          <a:prstGeom prst="roundRect">
            <a:avLst>
              <a:gd name="adj" fmla="val 7059"/>
            </a:avLst>
          </a:prstGeom>
          <a:solidFill>
            <a:schemeClr val="tx2"/>
          </a:solidFill>
          <a:ln/>
        </p:spPr>
      </p:sp>
      <p:sp>
        <p:nvSpPr>
          <p:cNvPr id="4" name="Icon circle"/>
          <p:cNvSpPr/>
          <p:nvPr/>
        </p:nvSpPr>
        <p:spPr>
          <a:xfrm>
            <a:off x="640080" y="1371600"/>
            <a:ext cx="548640" cy="548640"/>
          </a:xfrm>
          <a:prstGeom prst="ellipse">
            <a:avLst/>
          </a:prstGeom>
          <a:solidFill>
            <a:schemeClr val="accent1"/>
          </a:solidFill>
          <a:ln/>
        </p:spPr>
      </p:sp>
      <p:pic>
        <p:nvPicPr>
          <p:cNvPr id="5" name="Image 0" descr="FaListOl"/>
          <p:cNvPicPr>
            <a:picLocks noChangeAspect="1"/>
          </p:cNvPicPr>
          <p:nvPr/>
        </p:nvPicPr>
        <p:blipFill>
          <a:blip r:embed="rId3"/>
          <a:stretch>
            <a:fillRect/>
          </a:stretch>
        </p:blipFill>
        <p:spPr>
          <a:xfrm>
            <a:off x="777240" y="1508760"/>
            <a:ext cx="274320" cy="274320"/>
          </a:xfrm>
          <a:prstGeom prst="rect">
            <a:avLst/>
          </a:prstGeom>
        </p:spPr>
      </p:pic>
      <p:sp>
        <p:nvSpPr>
          <p:cNvPr id="6" name="Text 3"/>
          <p:cNvSpPr txBox="1"/>
          <p:nvPr/>
        </p:nvSpPr>
        <p:spPr>
          <a:xfrm>
            <a:off x="1325880" y="1371600"/>
            <a:ext cx="1645920" cy="548640"/>
          </a:xfrm>
          <a:prstGeom prst="rect">
            <a:avLst/>
          </a:prstGeom>
          <a:noFill/>
          <a:ln/>
        </p:spPr>
        <p:txBody>
          <a:bodyPr wrap="square" lIns="0" tIns="0" rIns="0" bIns="0" rtlCol="0" anchor="ctr"/>
          <a:lstStyle/>
          <a:p>
            <a:pPr marL="0" indent="0">
              <a:buNone/>
            </a:pPr>
            <a:r>
              <a:rPr lang="en-US" sz="1800" b="1" dirty="0">
                <a:solidFill>
                  <a:schemeClr val="bg1"/>
                </a:solidFill>
              </a:rPr>
              <a:t>Sequence</a:t>
            </a:r>
            <a:endParaRPr lang="en-US" sz="1800" dirty="0"/>
          </a:p>
        </p:txBody>
      </p:sp>
      <p:sp>
        <p:nvSpPr>
          <p:cNvPr id="7" name="Text 4"/>
          <p:cNvSpPr txBox="1"/>
          <p:nvPr/>
        </p:nvSpPr>
        <p:spPr>
          <a:xfrm>
            <a:off x="640080" y="2103120"/>
            <a:ext cx="2240280" cy="548640"/>
          </a:xfrm>
          <a:prstGeom prst="rect">
            <a:avLst/>
          </a:prstGeom>
          <a:noFill/>
          <a:ln/>
        </p:spPr>
        <p:txBody>
          <a:bodyPr wrap="square" lIns="0" tIns="0" rIns="0" bIns="0" rtlCol="0" anchor="t"/>
          <a:lstStyle/>
          <a:p>
            <a:pPr marL="0" indent="0">
              <a:buNone/>
            </a:pPr>
            <a:r>
              <a:rPr lang="en-US" sz="1400" dirty="0">
                <a:solidFill>
                  <a:schemeClr val="bg2"/>
                </a:solidFill>
              </a:rPr>
              <a:t>Instructions run in order</a:t>
            </a:r>
            <a:endParaRPr lang="en-US" sz="1400" dirty="0"/>
          </a:p>
        </p:txBody>
      </p:sp>
      <p:sp>
        <p:nvSpPr>
          <p:cNvPr id="8" name="Takeaway card"/>
          <p:cNvSpPr/>
          <p:nvPr/>
        </p:nvSpPr>
        <p:spPr>
          <a:xfrm>
            <a:off x="3268980" y="1188720"/>
            <a:ext cx="2606040" cy="1554480"/>
          </a:xfrm>
          <a:prstGeom prst="roundRect">
            <a:avLst>
              <a:gd name="adj" fmla="val 7059"/>
            </a:avLst>
          </a:prstGeom>
          <a:solidFill>
            <a:schemeClr val="tx2"/>
          </a:solidFill>
          <a:ln/>
        </p:spPr>
      </p:sp>
      <p:sp>
        <p:nvSpPr>
          <p:cNvPr id="9" name="Icon circle"/>
          <p:cNvSpPr/>
          <p:nvPr/>
        </p:nvSpPr>
        <p:spPr>
          <a:xfrm>
            <a:off x="3451860" y="1371600"/>
            <a:ext cx="548640" cy="548640"/>
          </a:xfrm>
          <a:prstGeom prst="ellipse">
            <a:avLst/>
          </a:prstGeom>
          <a:solidFill>
            <a:schemeClr val="accent2"/>
          </a:solidFill>
          <a:ln/>
        </p:spPr>
      </p:sp>
      <p:pic>
        <p:nvPicPr>
          <p:cNvPr id="10" name="Image 1" descr="FaCodeBranch"/>
          <p:cNvPicPr>
            <a:picLocks noChangeAspect="1"/>
          </p:cNvPicPr>
          <p:nvPr/>
        </p:nvPicPr>
        <p:blipFill>
          <a:blip r:embed="rId4"/>
          <a:stretch>
            <a:fillRect/>
          </a:stretch>
        </p:blipFill>
        <p:spPr>
          <a:xfrm>
            <a:off x="3589020" y="1508760"/>
            <a:ext cx="274320" cy="274320"/>
          </a:xfrm>
          <a:prstGeom prst="rect">
            <a:avLst/>
          </a:prstGeom>
        </p:spPr>
      </p:pic>
      <p:sp>
        <p:nvSpPr>
          <p:cNvPr id="11" name="Text 7"/>
          <p:cNvSpPr txBox="1"/>
          <p:nvPr/>
        </p:nvSpPr>
        <p:spPr>
          <a:xfrm>
            <a:off x="4137660" y="1371600"/>
            <a:ext cx="1645920" cy="548640"/>
          </a:xfrm>
          <a:prstGeom prst="rect">
            <a:avLst/>
          </a:prstGeom>
          <a:noFill/>
          <a:ln/>
        </p:spPr>
        <p:txBody>
          <a:bodyPr wrap="square" lIns="0" tIns="0" rIns="0" bIns="0" rtlCol="0" anchor="ctr"/>
          <a:lstStyle/>
          <a:p>
            <a:pPr marL="0" indent="0">
              <a:buNone/>
            </a:pPr>
            <a:r>
              <a:rPr lang="en-US" sz="1800" b="1" dirty="0">
                <a:solidFill>
                  <a:schemeClr val="bg1"/>
                </a:solidFill>
              </a:rPr>
              <a:t>Selection</a:t>
            </a:r>
            <a:endParaRPr lang="en-US" sz="1800" dirty="0"/>
          </a:p>
        </p:txBody>
      </p:sp>
      <p:sp>
        <p:nvSpPr>
          <p:cNvPr id="12" name="Text 8"/>
          <p:cNvSpPr txBox="1"/>
          <p:nvPr/>
        </p:nvSpPr>
        <p:spPr>
          <a:xfrm>
            <a:off x="3451860" y="2103120"/>
            <a:ext cx="2240280" cy="548640"/>
          </a:xfrm>
          <a:prstGeom prst="rect">
            <a:avLst/>
          </a:prstGeom>
          <a:noFill/>
          <a:ln/>
        </p:spPr>
        <p:txBody>
          <a:bodyPr wrap="square" lIns="0" tIns="0" rIns="0" bIns="0" rtlCol="0" anchor="t"/>
          <a:lstStyle/>
          <a:p>
            <a:pPr marL="0" indent="0">
              <a:buNone/>
            </a:pPr>
            <a:r>
              <a:rPr lang="en-US" sz="1400" dirty="0">
                <a:solidFill>
                  <a:schemeClr val="bg2"/>
                </a:solidFill>
              </a:rPr>
              <a:t>Choose with a true/false condition</a:t>
            </a:r>
            <a:endParaRPr lang="en-US" sz="1400" dirty="0"/>
          </a:p>
        </p:txBody>
      </p:sp>
      <p:sp>
        <p:nvSpPr>
          <p:cNvPr id="13" name="Takeaway card"/>
          <p:cNvSpPr/>
          <p:nvPr/>
        </p:nvSpPr>
        <p:spPr>
          <a:xfrm>
            <a:off x="6080760" y="1188720"/>
            <a:ext cx="2606040" cy="1554480"/>
          </a:xfrm>
          <a:prstGeom prst="roundRect">
            <a:avLst>
              <a:gd name="adj" fmla="val 7059"/>
            </a:avLst>
          </a:prstGeom>
          <a:solidFill>
            <a:schemeClr val="tx2"/>
          </a:solidFill>
          <a:ln/>
        </p:spPr>
      </p:sp>
      <p:sp>
        <p:nvSpPr>
          <p:cNvPr id="14" name="Icon circle"/>
          <p:cNvSpPr/>
          <p:nvPr/>
        </p:nvSpPr>
        <p:spPr>
          <a:xfrm>
            <a:off x="6263640" y="1371600"/>
            <a:ext cx="548640" cy="548640"/>
          </a:xfrm>
          <a:prstGeom prst="ellipse">
            <a:avLst/>
          </a:prstGeom>
          <a:solidFill>
            <a:schemeClr val="accent3"/>
          </a:solidFill>
          <a:ln/>
        </p:spPr>
      </p:sp>
      <p:pic>
        <p:nvPicPr>
          <p:cNvPr id="15" name="Image 2" descr="FaRedo"/>
          <p:cNvPicPr>
            <a:picLocks noChangeAspect="1"/>
          </p:cNvPicPr>
          <p:nvPr/>
        </p:nvPicPr>
        <p:blipFill>
          <a:blip r:embed="rId5"/>
          <a:stretch>
            <a:fillRect/>
          </a:stretch>
        </p:blipFill>
        <p:spPr>
          <a:xfrm>
            <a:off x="6400800" y="1508760"/>
            <a:ext cx="274320" cy="274320"/>
          </a:xfrm>
          <a:prstGeom prst="rect">
            <a:avLst/>
          </a:prstGeom>
        </p:spPr>
      </p:pic>
      <p:sp>
        <p:nvSpPr>
          <p:cNvPr id="16" name="Text 11"/>
          <p:cNvSpPr txBox="1"/>
          <p:nvPr/>
        </p:nvSpPr>
        <p:spPr>
          <a:xfrm>
            <a:off x="6949440" y="1371600"/>
            <a:ext cx="1645920" cy="548640"/>
          </a:xfrm>
          <a:prstGeom prst="rect">
            <a:avLst/>
          </a:prstGeom>
          <a:noFill/>
          <a:ln/>
        </p:spPr>
        <p:txBody>
          <a:bodyPr wrap="square" lIns="0" tIns="0" rIns="0" bIns="0" rtlCol="0" anchor="ctr"/>
          <a:lstStyle/>
          <a:p>
            <a:pPr marL="0" indent="0">
              <a:buNone/>
            </a:pPr>
            <a:r>
              <a:rPr lang="en-US" sz="1800" b="1" dirty="0">
                <a:solidFill>
                  <a:schemeClr val="bg1"/>
                </a:solidFill>
              </a:rPr>
              <a:t>Iteration</a:t>
            </a:r>
            <a:endParaRPr lang="en-US" sz="1800" dirty="0"/>
          </a:p>
        </p:txBody>
      </p:sp>
      <p:sp>
        <p:nvSpPr>
          <p:cNvPr id="17" name="Text 12"/>
          <p:cNvSpPr txBox="1"/>
          <p:nvPr/>
        </p:nvSpPr>
        <p:spPr>
          <a:xfrm>
            <a:off x="6263640" y="2103120"/>
            <a:ext cx="2240280" cy="548640"/>
          </a:xfrm>
          <a:prstGeom prst="rect">
            <a:avLst/>
          </a:prstGeom>
          <a:noFill/>
          <a:ln/>
        </p:spPr>
        <p:txBody>
          <a:bodyPr wrap="square" lIns="0" tIns="0" rIns="0" bIns="0" rtlCol="0" anchor="t"/>
          <a:lstStyle/>
          <a:p>
            <a:pPr marL="0" indent="0">
              <a:buNone/>
            </a:pPr>
            <a:r>
              <a:rPr lang="en-US" sz="1400" dirty="0">
                <a:solidFill>
                  <a:schemeClr val="bg2"/>
                </a:solidFill>
              </a:rPr>
              <a:t>Repeat with loops</a:t>
            </a:r>
            <a:endParaRPr lang="en-US" sz="1400" dirty="0"/>
          </a:p>
        </p:txBody>
      </p:sp>
      <p:sp>
        <p:nvSpPr>
          <p:cNvPr id="18" name="Takeaway card"/>
          <p:cNvSpPr/>
          <p:nvPr/>
        </p:nvSpPr>
        <p:spPr>
          <a:xfrm>
            <a:off x="457200" y="2926080"/>
            <a:ext cx="2606040" cy="1554480"/>
          </a:xfrm>
          <a:prstGeom prst="roundRect">
            <a:avLst>
              <a:gd name="adj" fmla="val 7059"/>
            </a:avLst>
          </a:prstGeom>
          <a:solidFill>
            <a:schemeClr val="tx2"/>
          </a:solidFill>
          <a:ln/>
        </p:spPr>
      </p:sp>
      <p:sp>
        <p:nvSpPr>
          <p:cNvPr id="19" name="Icon circle"/>
          <p:cNvSpPr/>
          <p:nvPr/>
        </p:nvSpPr>
        <p:spPr>
          <a:xfrm>
            <a:off x="640080" y="3108960"/>
            <a:ext cx="548640" cy="548640"/>
          </a:xfrm>
          <a:prstGeom prst="ellipse">
            <a:avLst/>
          </a:prstGeom>
          <a:solidFill>
            <a:schemeClr val="accent5"/>
          </a:solidFill>
          <a:ln/>
        </p:spPr>
      </p:sp>
      <p:pic>
        <p:nvPicPr>
          <p:cNvPr id="20" name="Image 3" descr="FaBox"/>
          <p:cNvPicPr>
            <a:picLocks noChangeAspect="1"/>
          </p:cNvPicPr>
          <p:nvPr/>
        </p:nvPicPr>
        <p:blipFill>
          <a:blip r:embed="rId6"/>
          <a:stretch>
            <a:fillRect/>
          </a:stretch>
        </p:blipFill>
        <p:spPr>
          <a:xfrm>
            <a:off x="777240" y="3246120"/>
            <a:ext cx="274320" cy="274320"/>
          </a:xfrm>
          <a:prstGeom prst="rect">
            <a:avLst/>
          </a:prstGeom>
        </p:spPr>
      </p:pic>
      <p:sp>
        <p:nvSpPr>
          <p:cNvPr id="21" name="Text 15"/>
          <p:cNvSpPr txBox="1"/>
          <p:nvPr/>
        </p:nvSpPr>
        <p:spPr>
          <a:xfrm>
            <a:off x="1325880" y="3108960"/>
            <a:ext cx="1645920" cy="548640"/>
          </a:xfrm>
          <a:prstGeom prst="rect">
            <a:avLst/>
          </a:prstGeom>
          <a:noFill/>
          <a:ln/>
        </p:spPr>
        <p:txBody>
          <a:bodyPr wrap="square" lIns="0" tIns="0" rIns="0" bIns="0" rtlCol="0" anchor="ctr"/>
          <a:lstStyle/>
          <a:p>
            <a:pPr marL="0" indent="0">
              <a:buNone/>
            </a:pPr>
            <a:r>
              <a:rPr lang="en-US" sz="1800" b="1" dirty="0">
                <a:solidFill>
                  <a:schemeClr val="bg1"/>
                </a:solidFill>
              </a:rPr>
              <a:t>Variables</a:t>
            </a:r>
            <a:endParaRPr lang="en-US" sz="1800" dirty="0"/>
          </a:p>
        </p:txBody>
      </p:sp>
      <p:sp>
        <p:nvSpPr>
          <p:cNvPr id="22" name="Text 16"/>
          <p:cNvSpPr txBox="1"/>
          <p:nvPr/>
        </p:nvSpPr>
        <p:spPr>
          <a:xfrm>
            <a:off x="640080" y="3840480"/>
            <a:ext cx="2240280" cy="548640"/>
          </a:xfrm>
          <a:prstGeom prst="rect">
            <a:avLst/>
          </a:prstGeom>
          <a:noFill/>
          <a:ln/>
        </p:spPr>
        <p:txBody>
          <a:bodyPr wrap="square" lIns="0" tIns="0" rIns="0" bIns="0" rtlCol="0" anchor="t"/>
          <a:lstStyle/>
          <a:p>
            <a:pPr marL="0" indent="0">
              <a:buNone/>
            </a:pPr>
            <a:r>
              <a:rPr lang="en-US" sz="1400" dirty="0">
                <a:solidFill>
                  <a:schemeClr val="bg2"/>
                </a:solidFill>
              </a:rPr>
              <a:t>Named containers for data</a:t>
            </a:r>
            <a:endParaRPr lang="en-US" sz="1400" dirty="0"/>
          </a:p>
        </p:txBody>
      </p:sp>
      <p:sp>
        <p:nvSpPr>
          <p:cNvPr id="23" name="Takeaway card"/>
          <p:cNvSpPr/>
          <p:nvPr/>
        </p:nvSpPr>
        <p:spPr>
          <a:xfrm>
            <a:off x="3268980" y="2926080"/>
            <a:ext cx="2606040" cy="1554480"/>
          </a:xfrm>
          <a:prstGeom prst="roundRect">
            <a:avLst>
              <a:gd name="adj" fmla="val 7059"/>
            </a:avLst>
          </a:prstGeom>
          <a:solidFill>
            <a:schemeClr val="tx2"/>
          </a:solidFill>
          <a:ln/>
        </p:spPr>
      </p:sp>
      <p:sp>
        <p:nvSpPr>
          <p:cNvPr id="24" name="Icon circle"/>
          <p:cNvSpPr/>
          <p:nvPr/>
        </p:nvSpPr>
        <p:spPr>
          <a:xfrm>
            <a:off x="3451860" y="3108960"/>
            <a:ext cx="548640" cy="548640"/>
          </a:xfrm>
          <a:prstGeom prst="ellipse">
            <a:avLst/>
          </a:prstGeom>
          <a:solidFill>
            <a:schemeClr val="accent6"/>
          </a:solidFill>
          <a:ln/>
        </p:spPr>
      </p:sp>
      <p:pic>
        <p:nvPicPr>
          <p:cNvPr id="25" name="Image 4" descr="FaCalculator"/>
          <p:cNvPicPr>
            <a:picLocks noChangeAspect="1"/>
          </p:cNvPicPr>
          <p:nvPr/>
        </p:nvPicPr>
        <p:blipFill>
          <a:blip r:embed="rId7"/>
          <a:stretch>
            <a:fillRect/>
          </a:stretch>
        </p:blipFill>
        <p:spPr>
          <a:xfrm>
            <a:off x="3589020" y="3246120"/>
            <a:ext cx="274320" cy="274320"/>
          </a:xfrm>
          <a:prstGeom prst="rect">
            <a:avLst/>
          </a:prstGeom>
        </p:spPr>
      </p:pic>
      <p:sp>
        <p:nvSpPr>
          <p:cNvPr id="26" name="Text 19"/>
          <p:cNvSpPr txBox="1"/>
          <p:nvPr/>
        </p:nvSpPr>
        <p:spPr>
          <a:xfrm>
            <a:off x="4137660" y="3108960"/>
            <a:ext cx="1645920" cy="548640"/>
          </a:xfrm>
          <a:prstGeom prst="rect">
            <a:avLst/>
          </a:prstGeom>
          <a:noFill/>
          <a:ln/>
        </p:spPr>
        <p:txBody>
          <a:bodyPr wrap="square" lIns="0" tIns="0" rIns="0" bIns="0" rtlCol="0" anchor="ctr"/>
          <a:lstStyle/>
          <a:p>
            <a:pPr marL="0" indent="0">
              <a:buNone/>
            </a:pPr>
            <a:r>
              <a:rPr lang="en-US" sz="1800" b="1" dirty="0">
                <a:solidFill>
                  <a:schemeClr val="bg1"/>
                </a:solidFill>
              </a:rPr>
              <a:t>Operators</a:t>
            </a:r>
            <a:endParaRPr lang="en-US" sz="1800" dirty="0"/>
          </a:p>
        </p:txBody>
      </p:sp>
      <p:sp>
        <p:nvSpPr>
          <p:cNvPr id="27" name="Text 20"/>
          <p:cNvSpPr txBox="1"/>
          <p:nvPr/>
        </p:nvSpPr>
        <p:spPr>
          <a:xfrm>
            <a:off x="3451860" y="3840480"/>
            <a:ext cx="2240280" cy="548640"/>
          </a:xfrm>
          <a:prstGeom prst="rect">
            <a:avLst/>
          </a:prstGeom>
          <a:noFill/>
          <a:ln/>
        </p:spPr>
        <p:txBody>
          <a:bodyPr wrap="square" lIns="0" tIns="0" rIns="0" bIns="0" rtlCol="0" anchor="t"/>
          <a:lstStyle/>
          <a:p>
            <a:pPr marL="0" indent="0">
              <a:buNone/>
            </a:pPr>
            <a:r>
              <a:rPr lang="en-US" sz="1400" dirty="0">
                <a:solidFill>
                  <a:schemeClr val="bg2"/>
                </a:solidFill>
              </a:rPr>
              <a:t>Arithmetic and comparison</a:t>
            </a:r>
            <a:endParaRPr lang="en-US" sz="1400" dirty="0"/>
          </a:p>
        </p:txBody>
      </p:sp>
      <p:sp>
        <p:nvSpPr>
          <p:cNvPr id="28" name="Takeaway card"/>
          <p:cNvSpPr/>
          <p:nvPr/>
        </p:nvSpPr>
        <p:spPr>
          <a:xfrm>
            <a:off x="6080760" y="2926080"/>
            <a:ext cx="2606040" cy="1554480"/>
          </a:xfrm>
          <a:prstGeom prst="roundRect">
            <a:avLst>
              <a:gd name="adj" fmla="val 7059"/>
            </a:avLst>
          </a:prstGeom>
          <a:solidFill>
            <a:schemeClr val="tx2"/>
          </a:solidFill>
          <a:ln/>
        </p:spPr>
      </p:sp>
      <p:sp>
        <p:nvSpPr>
          <p:cNvPr id="29" name="Icon circle"/>
          <p:cNvSpPr/>
          <p:nvPr/>
        </p:nvSpPr>
        <p:spPr>
          <a:xfrm>
            <a:off x="6263640" y="3108960"/>
            <a:ext cx="548640" cy="548640"/>
          </a:xfrm>
          <a:prstGeom prst="ellipse">
            <a:avLst/>
          </a:prstGeom>
          <a:solidFill>
            <a:schemeClr val="accent4"/>
          </a:solidFill>
          <a:ln/>
        </p:spPr>
      </p:sp>
      <p:pic>
        <p:nvPicPr>
          <p:cNvPr id="30" name="Image 5" descr="FaDatabase"/>
          <p:cNvPicPr>
            <a:picLocks noChangeAspect="1"/>
          </p:cNvPicPr>
          <p:nvPr/>
        </p:nvPicPr>
        <p:blipFill>
          <a:blip r:embed="rId8"/>
          <a:stretch>
            <a:fillRect/>
          </a:stretch>
        </p:blipFill>
        <p:spPr>
          <a:xfrm>
            <a:off x="6400800" y="3246120"/>
            <a:ext cx="274320" cy="274320"/>
          </a:xfrm>
          <a:prstGeom prst="rect">
            <a:avLst/>
          </a:prstGeom>
        </p:spPr>
      </p:pic>
      <p:sp>
        <p:nvSpPr>
          <p:cNvPr id="31" name="Text 23"/>
          <p:cNvSpPr txBox="1"/>
          <p:nvPr/>
        </p:nvSpPr>
        <p:spPr>
          <a:xfrm>
            <a:off x="6949440" y="3108960"/>
            <a:ext cx="1645920" cy="548640"/>
          </a:xfrm>
          <a:prstGeom prst="rect">
            <a:avLst/>
          </a:prstGeom>
          <a:noFill/>
          <a:ln/>
        </p:spPr>
        <p:txBody>
          <a:bodyPr wrap="square" lIns="0" tIns="0" rIns="0" bIns="0" rtlCol="0" anchor="ctr"/>
          <a:lstStyle/>
          <a:p>
            <a:pPr marL="0" indent="0">
              <a:buNone/>
            </a:pPr>
            <a:r>
              <a:rPr lang="en-US" sz="1800" b="1" dirty="0">
                <a:solidFill>
                  <a:schemeClr val="bg1"/>
                </a:solidFill>
              </a:rPr>
              <a:t>Data types</a:t>
            </a:r>
            <a:endParaRPr lang="en-US" sz="1800" dirty="0"/>
          </a:p>
        </p:txBody>
      </p:sp>
      <p:sp>
        <p:nvSpPr>
          <p:cNvPr id="32" name="Text 24"/>
          <p:cNvSpPr txBox="1"/>
          <p:nvPr/>
        </p:nvSpPr>
        <p:spPr>
          <a:xfrm>
            <a:off x="6263640" y="3840480"/>
            <a:ext cx="2240280" cy="548640"/>
          </a:xfrm>
          <a:prstGeom prst="rect">
            <a:avLst/>
          </a:prstGeom>
          <a:noFill/>
          <a:ln/>
        </p:spPr>
        <p:txBody>
          <a:bodyPr wrap="square" lIns="0" tIns="0" rIns="0" bIns="0" rtlCol="0" anchor="t"/>
          <a:lstStyle/>
          <a:p>
            <a:pPr marL="0" indent="0">
              <a:buNone/>
            </a:pPr>
            <a:r>
              <a:rPr lang="en-US" sz="1400" dirty="0">
                <a:solidFill>
                  <a:schemeClr val="bg2"/>
                </a:solidFill>
              </a:rPr>
              <a:t>Integer, character, string</a:t>
            </a:r>
            <a:endParaRPr lang="en-US" sz="1400" dirty="0"/>
          </a:p>
        </p:txBody>
      </p:sp>
    </p:spTree>
  </p:cSld>
  <p:clrMapOvr>
    <a:masterClrMapping/>
  </p:clrMapOvr>
</p:sld>
</file>

<file path=ppt/theme/theme1.xml><?xml version="1.0" encoding="utf-8"?>
<a:theme xmlns:a="http://schemas.openxmlformats.org/drawingml/2006/main" name="Scratch Coding">
  <a:themeElements>
    <a:clrScheme name="Scratch Coding">
      <a:dk1>
        <a:srgbClr val="1F2A44"/>
      </a:dk1>
      <a:lt1>
        <a:srgbClr val="FFFFFF"/>
      </a:lt1>
      <a:dk2>
        <a:srgbClr val="2B3A67"/>
      </a:dk2>
      <a:lt2>
        <a:srgbClr val="EEF3FF"/>
      </a:lt2>
      <a:accent1>
        <a:srgbClr val="4C97FF"/>
      </a:accent1>
      <a:accent2>
        <a:srgbClr val="FFAB19"/>
      </a:accent2>
      <a:accent3>
        <a:srgbClr val="59C059"/>
      </a:accent3>
      <a:accent4>
        <a:srgbClr val="9966FF"/>
      </a:accent4>
      <a:accent5>
        <a:srgbClr val="FF8C1A"/>
      </a:accent5>
      <a:accent6>
        <a:srgbClr val="FFBF00"/>
      </a:accent6>
      <a:hlink>
        <a:srgbClr val="4C97FF"/>
      </a:hlink>
      <a:folHlink>
        <a:srgbClr val="9966FF"/>
      </a:folHlink>
    </a:clrScheme>
    <a:fontScheme name="Scratch Coding">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Scratch Coding</vt:lpstr>
      <vt:lpstr>1.2 Programming constructs</vt:lpstr>
      <vt:lpstr>What we will learn</vt:lpstr>
      <vt:lpstr>Key words</vt:lpstr>
      <vt:lpstr>Getting started: what do you already know?</vt:lpstr>
      <vt:lpstr>Now try this: snakes and ladders</vt:lpstr>
      <vt:lpstr>Programming constructs</vt:lpstr>
      <vt:lpstr>Sequence: order matters</vt:lpstr>
      <vt:lpstr>Selection: choosing what to run</vt:lpstr>
      <vt:lpstr>Iteration: repeating code</vt:lpstr>
      <vt:lpstr>Activity 1: teach the constructs</vt:lpstr>
      <vt:lpstr>Question 1: why are iterators useful?</vt:lpstr>
      <vt:lpstr>Variables and input variables</vt:lpstr>
      <vt:lpstr>Operators: arithmetic</vt:lpstr>
      <vt:lpstr>Unplugged activity 2: write an algorithm</vt:lpstr>
      <vt:lpstr>Operators: comparison</vt:lpstr>
      <vt:lpstr>Procedures and interaction</vt:lpstr>
      <vt:lpstr>Data types</vt:lpstr>
      <vt:lpstr>Key takeaways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1.2 Programming Constructs</dc:title>
  <dc:subject>PptxGenJS Presentation</dc:subject>
  <dc:creator>PptxGenJS</dc:creator>
  <cp:lastModifiedBy>Habiba Hassan</cp:lastModifiedBy>
  <cp:revision>3</cp:revision>
  <dcterms:created xsi:type="dcterms:W3CDTF">2026-10-13T03:57:43Z</dcterms:created>
  <dcterms:modified xsi:type="dcterms:W3CDTF">2026-10-13T07:02:31Z</dcterms:modified>
</cp:coreProperties>
</file>