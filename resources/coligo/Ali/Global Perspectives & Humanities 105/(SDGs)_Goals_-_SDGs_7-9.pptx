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4" r:id="rId9"/>
    <p:sldId id="263" r:id="rId10"/>
    <p:sldId id="264" r:id="rId11"/>
    <p:sldId id="266" r:id="rId12"/>
    <p:sldId id="267" r:id="rId13"/>
    <p:sldId id="268" r:id="rId14"/>
    <p:sldId id="275" r:id="rId15"/>
    <p:sldId id="269" r:id="rId16"/>
    <p:sldId id="270" r:id="rId17"/>
    <p:sldId id="271" r:id="rId18"/>
    <p:sldId id="272" r:id="rId19"/>
    <p:sldId id="276" r:id="rId20"/>
    <p:sldId id="273"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0" d="100"/>
          <a:sy n="60" d="100"/>
        </p:scale>
        <p:origin x="816"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EAF17-783F-3086-9498-25BCDFAC90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809E7-51EE-4D85-B463-A27542B0F5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F8A82E-254C-AECC-044F-6DFB9BC07223}"/>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5" name="Footer Placeholder 4">
            <a:extLst>
              <a:ext uri="{FF2B5EF4-FFF2-40B4-BE49-F238E27FC236}">
                <a16:creationId xmlns:a16="http://schemas.microsoft.com/office/drawing/2014/main" id="{C66CE13D-3685-E7A7-B1F4-22F578AF0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0BB320-DC0D-31FF-39B0-0D35016ACCB5}"/>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3082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AE38C-3EBB-A97A-5195-D43FB20CEF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103B11-E369-AB69-24FC-25CF5CE384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CD7874-7005-9728-DB77-6B57C8887C6D}"/>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5" name="Footer Placeholder 4">
            <a:extLst>
              <a:ext uri="{FF2B5EF4-FFF2-40B4-BE49-F238E27FC236}">
                <a16:creationId xmlns:a16="http://schemas.microsoft.com/office/drawing/2014/main" id="{0B754DF3-B282-00F1-0136-DEA6F34AFC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C9087-207A-D00A-D119-A649F767B058}"/>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3517596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43CB9-6C6F-1904-4605-A35AD3C4EE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E59373-8B35-6E5E-E848-75C3AA3E09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561BA3-EF22-A3BE-50FA-A791B6609814}"/>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5" name="Footer Placeholder 4">
            <a:extLst>
              <a:ext uri="{FF2B5EF4-FFF2-40B4-BE49-F238E27FC236}">
                <a16:creationId xmlns:a16="http://schemas.microsoft.com/office/drawing/2014/main" id="{0E6C982A-38C1-2B13-2050-1FAF85184F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9C786D-8A85-1349-32D8-ECAE93EAA82B}"/>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2656941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05E97-E52C-B812-547C-E2FD1E8424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4098F4-2CFB-479B-B126-6F95FF46C4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BFD2E4-CE0B-36B0-43D2-7AC3388F97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99D062-355D-63E9-28F6-8EC0EA581E77}"/>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6" name="Footer Placeholder 5">
            <a:extLst>
              <a:ext uri="{FF2B5EF4-FFF2-40B4-BE49-F238E27FC236}">
                <a16:creationId xmlns:a16="http://schemas.microsoft.com/office/drawing/2014/main" id="{C6C742BF-3C04-DB77-7BC9-EFD8B2CF26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4826E5-088C-BF58-28B7-F8DA7D9DBF01}"/>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234303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E1747-2BB9-3503-FCC0-7CCF9F9711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0556DE-AE27-14F1-EC12-0BAE270B09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F8DE2A-18D4-D61B-00FD-259DDC1BB7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860192-9EC7-2A0C-0113-A8BB9EA35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49CA03-90BF-4FA3-C4E3-AC5D904DF8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71CDBE-EC47-8423-DE55-C9C86361A9C6}"/>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8" name="Footer Placeholder 7">
            <a:extLst>
              <a:ext uri="{FF2B5EF4-FFF2-40B4-BE49-F238E27FC236}">
                <a16:creationId xmlns:a16="http://schemas.microsoft.com/office/drawing/2014/main" id="{D5732EBE-31DC-6693-5A51-B8BD64D3D1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E5D59C-7316-349E-55A6-A7D84E997DC5}"/>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2950875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173E6-82B2-CFB1-9702-BBF3917D5C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E42654-6C12-5CE5-AB63-E1E1B6703CC4}"/>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4" name="Footer Placeholder 3">
            <a:extLst>
              <a:ext uri="{FF2B5EF4-FFF2-40B4-BE49-F238E27FC236}">
                <a16:creationId xmlns:a16="http://schemas.microsoft.com/office/drawing/2014/main" id="{669C5713-B008-DD35-3529-2503D223E1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F75030-7C93-0E54-3B12-7BB9DD11B073}"/>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3805911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5B88C9-35B8-6702-00F5-058C6247E79E}"/>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3" name="Footer Placeholder 2">
            <a:extLst>
              <a:ext uri="{FF2B5EF4-FFF2-40B4-BE49-F238E27FC236}">
                <a16:creationId xmlns:a16="http://schemas.microsoft.com/office/drawing/2014/main" id="{3B3785C9-7C0F-9CDD-E7FF-EFABE5AFA9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6E6E29-6425-F6C7-1FD8-F871DDB6E082}"/>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3388470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A6D32-B3B1-7705-0CA8-E7F91769C2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160547-3206-6AE8-F0B9-E7EDB2CEB9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2B7E58-C363-F939-F07D-67603CD41C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1CFA28-99E6-46D3-FCF0-334C75A7A78D}"/>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6" name="Footer Placeholder 5">
            <a:extLst>
              <a:ext uri="{FF2B5EF4-FFF2-40B4-BE49-F238E27FC236}">
                <a16:creationId xmlns:a16="http://schemas.microsoft.com/office/drawing/2014/main" id="{FD748B5C-5D0D-00B6-BB75-F2C5C2FA0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C49EEC-9D4E-5DF8-343B-3C94E96AADB4}"/>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3014785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CA4E2-DEAB-743E-733E-DBDCE197D2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709DBB-F4F5-2BAE-B965-F8A00BDCAE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036D96-245D-6ACE-2FC0-3F463C99A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3A918C-04F6-EE25-0127-8F7786864791}"/>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6" name="Footer Placeholder 5">
            <a:extLst>
              <a:ext uri="{FF2B5EF4-FFF2-40B4-BE49-F238E27FC236}">
                <a16:creationId xmlns:a16="http://schemas.microsoft.com/office/drawing/2014/main" id="{9C324772-25C3-019A-06D2-32B6C026D5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6F3553-1600-D305-8ACD-278A136EA841}"/>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3327848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16B04-491E-76ED-3B09-397F233FEC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8BACE9-835D-C19F-7A0E-E1E9396CE5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2791FE-6FC4-668F-EED2-0F6562AF2FCF}"/>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5" name="Footer Placeholder 4">
            <a:extLst>
              <a:ext uri="{FF2B5EF4-FFF2-40B4-BE49-F238E27FC236}">
                <a16:creationId xmlns:a16="http://schemas.microsoft.com/office/drawing/2014/main" id="{E88CED6A-038D-B0EC-88F7-D14A4337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EF4FEA-55C2-DED1-95F7-5BD29C41F000}"/>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515073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5CD580-7CF0-DE07-F236-DDD79480EA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20120-FA46-2248-4508-302F8C9C6A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888DB6-C6A8-05C9-4F8E-DBE8D54E4AE8}"/>
              </a:ext>
            </a:extLst>
          </p:cNvPr>
          <p:cNvSpPr>
            <a:spLocks noGrp="1"/>
          </p:cNvSpPr>
          <p:nvPr>
            <p:ph type="dt" sz="half" idx="10"/>
          </p:nvPr>
        </p:nvSpPr>
        <p:spPr/>
        <p:txBody>
          <a:bodyPr/>
          <a:lstStyle/>
          <a:p>
            <a:fld id="{C6B08423-990B-40C3-A486-A2783CADA6D1}" type="datetimeFigureOut">
              <a:rPr lang="en-US" smtClean="0"/>
              <a:t>10/29/2026</a:t>
            </a:fld>
            <a:endParaRPr lang="en-US"/>
          </a:p>
        </p:txBody>
      </p:sp>
      <p:sp>
        <p:nvSpPr>
          <p:cNvPr id="5" name="Footer Placeholder 4">
            <a:extLst>
              <a:ext uri="{FF2B5EF4-FFF2-40B4-BE49-F238E27FC236}">
                <a16:creationId xmlns:a16="http://schemas.microsoft.com/office/drawing/2014/main" id="{0B180A3B-5980-7B30-456D-27EB412D3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4853A-998C-D558-6B44-013615603828}"/>
              </a:ext>
            </a:extLst>
          </p:cNvPr>
          <p:cNvSpPr>
            <a:spLocks noGrp="1"/>
          </p:cNvSpPr>
          <p:nvPr>
            <p:ph type="sldNum" sz="quarter" idx="12"/>
          </p:nvPr>
        </p:nvSpPr>
        <p:spPr/>
        <p:txBody>
          <a:bodyPr/>
          <a:lstStyle/>
          <a:p>
            <a:fld id="{4CE28595-8694-4CC5-92E6-C9A9343CD786}" type="slidenum">
              <a:rPr lang="en-US" smtClean="0"/>
              <a:t>‹#›</a:t>
            </a:fld>
            <a:endParaRPr lang="en-US"/>
          </a:p>
        </p:txBody>
      </p:sp>
    </p:spTree>
    <p:extLst>
      <p:ext uri="{BB962C8B-B14F-4D97-AF65-F5344CB8AC3E}">
        <p14:creationId xmlns:p14="http://schemas.microsoft.com/office/powerpoint/2010/main" val="4063069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E48BDD-632F-1271-9042-16B4EC0D16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FFC46A-3F49-E98A-F88A-644AC52D43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48226D-94C0-88E9-E791-9164B6E31A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08423-990B-40C3-A486-A2783CADA6D1}" type="datetimeFigureOut">
              <a:rPr lang="en-US" smtClean="0"/>
              <a:t>10/29/2026</a:t>
            </a:fld>
            <a:endParaRPr lang="en-US"/>
          </a:p>
        </p:txBody>
      </p:sp>
      <p:sp>
        <p:nvSpPr>
          <p:cNvPr id="5" name="Footer Placeholder 4">
            <a:extLst>
              <a:ext uri="{FF2B5EF4-FFF2-40B4-BE49-F238E27FC236}">
                <a16:creationId xmlns:a16="http://schemas.microsoft.com/office/drawing/2014/main" id="{5B1BE79E-25F3-B434-4966-1A6800CB60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2DC2007-74AE-76B0-D8E9-75A57D1CB7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E28595-8694-4CC5-92E6-C9A9343CD786}" type="slidenum">
              <a:rPr lang="en-US" smtClean="0"/>
              <a:t>‹#›</a:t>
            </a:fld>
            <a:endParaRPr lang="en-US"/>
          </a:p>
        </p:txBody>
      </p:sp>
    </p:spTree>
    <p:extLst>
      <p:ext uri="{BB962C8B-B14F-4D97-AF65-F5344CB8AC3E}">
        <p14:creationId xmlns:p14="http://schemas.microsoft.com/office/powerpoint/2010/main" val="2387875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B4F0-42E3-9EF5-5E0E-81817FE9903E}"/>
              </a:ext>
            </a:extLst>
          </p:cNvPr>
          <p:cNvSpPr>
            <a:spLocks noGrp="1"/>
          </p:cNvSpPr>
          <p:nvPr>
            <p:ph type="ctrTitle"/>
          </p:nvPr>
        </p:nvSpPr>
        <p:spPr>
          <a:solidFill>
            <a:schemeClr val="accent2">
              <a:lumMod val="40000"/>
              <a:lumOff val="60000"/>
            </a:schemeClr>
          </a:solidFill>
        </p:spPr>
        <p:txBody>
          <a:bodyPr>
            <a:normAutofit/>
          </a:bodyPr>
          <a:lstStyle/>
          <a:p>
            <a:r>
              <a:rPr lang="en-US" sz="6600" dirty="0"/>
              <a:t>🌍 </a:t>
            </a:r>
            <a:r>
              <a:rPr lang="en-US" sz="8000" b="1" dirty="0"/>
              <a:t>SDGs 7–9: Teaching Guide</a:t>
            </a:r>
          </a:p>
        </p:txBody>
      </p:sp>
      <p:sp>
        <p:nvSpPr>
          <p:cNvPr id="3" name="Subtitle 2">
            <a:extLst>
              <a:ext uri="{FF2B5EF4-FFF2-40B4-BE49-F238E27FC236}">
                <a16:creationId xmlns:a16="http://schemas.microsoft.com/office/drawing/2014/main" id="{8B5E631E-EF23-7408-0901-913D0BA14194}"/>
              </a:ext>
            </a:extLst>
          </p:cNvPr>
          <p:cNvSpPr>
            <a:spLocks noGrp="1"/>
          </p:cNvSpPr>
          <p:nvPr>
            <p:ph type="subTitle" idx="1"/>
          </p:nvPr>
        </p:nvSpPr>
        <p:spPr>
          <a:xfrm>
            <a:off x="1524000" y="4176199"/>
            <a:ext cx="9144000" cy="1655762"/>
          </a:xfrm>
        </p:spPr>
        <p:txBody>
          <a:bodyPr/>
          <a:lstStyle/>
          <a:p>
            <a:r>
              <a:rPr lang="en-US" sz="4800" b="1"/>
              <a:t>MEIS</a:t>
            </a:r>
            <a:endParaRPr lang="en-US" b="1" dirty="0"/>
          </a:p>
        </p:txBody>
      </p:sp>
    </p:spTree>
    <p:extLst>
      <p:ext uri="{BB962C8B-B14F-4D97-AF65-F5344CB8AC3E}">
        <p14:creationId xmlns:p14="http://schemas.microsoft.com/office/powerpoint/2010/main" val="3815286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F1F411-9E48-DD14-215A-808DF5571AE8}"/>
              </a:ext>
            </a:extLst>
          </p:cNvPr>
          <p:cNvSpPr txBox="1"/>
          <p:nvPr/>
        </p:nvSpPr>
        <p:spPr>
          <a:xfrm>
            <a:off x="520995" y="358266"/>
            <a:ext cx="11153554" cy="6247864"/>
          </a:xfrm>
          <a:prstGeom prst="rect">
            <a:avLst/>
          </a:prstGeom>
          <a:noFill/>
        </p:spPr>
        <p:txBody>
          <a:bodyPr wrap="square">
            <a:spAutoFit/>
          </a:bodyPr>
          <a:lstStyle/>
          <a:p>
            <a:pPr algn="ctr"/>
            <a:r>
              <a:rPr lang="en-US" sz="2800" dirty="0"/>
              <a:t>⚡ </a:t>
            </a:r>
            <a:r>
              <a:rPr lang="en-US" sz="2800" b="1" dirty="0"/>
              <a:t>SDG 7 — Affordable and Clean Energy</a:t>
            </a:r>
          </a:p>
          <a:p>
            <a:r>
              <a:rPr lang="en-US" sz="2800" b="1" u="sng" dirty="0"/>
              <a:t>Official Goal:</a:t>
            </a:r>
            <a:r>
              <a:rPr lang="en-US" sz="2800" dirty="0"/>
              <a:t> Ensure access to affordable, reliable, sustainable and modern energy for all.</a:t>
            </a:r>
          </a:p>
          <a:p>
            <a:r>
              <a:rPr lang="en-US" sz="2800" b="1" dirty="0"/>
              <a:t>What does Affordable and Clean Energy mean?</a:t>
            </a:r>
          </a:p>
          <a:p>
            <a:pPr algn="just"/>
            <a:r>
              <a:rPr lang="en-US" sz="2800" dirty="0"/>
              <a:t>	Energy is used in our daily lives to provide electricity, heat, lighting, and power for machines and transportation.</a:t>
            </a:r>
          </a:p>
          <a:p>
            <a:pPr algn="just"/>
            <a:r>
              <a:rPr lang="en-US" sz="2800" dirty="0"/>
              <a:t>	SDG 7 aims to make sure that everyone can access energy that is reliable, affordable, and increasingly produced from clean and sustainable sources.</a:t>
            </a:r>
          </a:p>
          <a:p>
            <a:r>
              <a:rPr lang="en-US" sz="2800" b="1" u="sng" dirty="0"/>
              <a:t>It includes:</a:t>
            </a:r>
          </a:p>
          <a:p>
            <a:pPr marL="457200" indent="-457200">
              <a:buFont typeface="Arial" panose="020B0604020202020204" pitchFamily="34" charset="0"/>
              <a:buChar char="•"/>
            </a:pPr>
            <a:r>
              <a:rPr lang="en-US" sz="2400" b="1" dirty="0">
                <a:solidFill>
                  <a:srgbClr val="0000FF"/>
                </a:solidFill>
              </a:rPr>
              <a:t>Access to electricity.</a:t>
            </a:r>
          </a:p>
          <a:p>
            <a:pPr marL="457200" indent="-457200">
              <a:buFont typeface="Arial" panose="020B0604020202020204" pitchFamily="34" charset="0"/>
              <a:buChar char="•"/>
            </a:pPr>
            <a:r>
              <a:rPr lang="en-US" sz="2400" b="1" dirty="0">
                <a:solidFill>
                  <a:srgbClr val="0000FF"/>
                </a:solidFill>
              </a:rPr>
              <a:t>Affordable energy for homes, schools, and hospitals.</a:t>
            </a:r>
          </a:p>
          <a:p>
            <a:pPr marL="457200" indent="-457200">
              <a:buFont typeface="Arial" panose="020B0604020202020204" pitchFamily="34" charset="0"/>
              <a:buChar char="•"/>
            </a:pPr>
            <a:r>
              <a:rPr lang="en-US" sz="2400" b="1" dirty="0">
                <a:solidFill>
                  <a:srgbClr val="0000FF"/>
                </a:solidFill>
              </a:rPr>
              <a:t>Renewable energy, such as solar and wind power.</a:t>
            </a:r>
          </a:p>
          <a:p>
            <a:pPr marL="457200" indent="-457200">
              <a:buFont typeface="Arial" panose="020B0604020202020204" pitchFamily="34" charset="0"/>
              <a:buChar char="•"/>
            </a:pPr>
            <a:r>
              <a:rPr lang="en-US" sz="2400" b="1" dirty="0">
                <a:solidFill>
                  <a:srgbClr val="0000FF"/>
                </a:solidFill>
              </a:rPr>
              <a:t>Improving energy efficiency.</a:t>
            </a:r>
          </a:p>
          <a:p>
            <a:pPr marL="457200" indent="-457200">
              <a:buFont typeface="Arial" panose="020B0604020202020204" pitchFamily="34" charset="0"/>
              <a:buChar char="•"/>
            </a:pPr>
            <a:r>
              <a:rPr lang="en-US" sz="2400" b="1" dirty="0">
                <a:solidFill>
                  <a:srgbClr val="0000FF"/>
                </a:solidFill>
              </a:rPr>
              <a:t>Reducing pollution caused by energy production.</a:t>
            </a:r>
          </a:p>
        </p:txBody>
      </p:sp>
    </p:spTree>
    <p:extLst>
      <p:ext uri="{BB962C8B-B14F-4D97-AF65-F5344CB8AC3E}">
        <p14:creationId xmlns:p14="http://schemas.microsoft.com/office/powerpoint/2010/main" val="3105493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8B197-0A87-9086-8198-86D1EF3AA4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502DE6-5700-61D5-F7BF-70FD909C47FD}"/>
              </a:ext>
            </a:extLst>
          </p:cNvPr>
          <p:cNvSpPr txBox="1"/>
          <p:nvPr/>
        </p:nvSpPr>
        <p:spPr>
          <a:xfrm>
            <a:off x="520995" y="602824"/>
            <a:ext cx="11153554" cy="5693866"/>
          </a:xfrm>
          <a:prstGeom prst="rect">
            <a:avLst/>
          </a:prstGeom>
          <a:noFill/>
        </p:spPr>
        <p:txBody>
          <a:bodyPr wrap="square">
            <a:spAutoFit/>
          </a:bodyPr>
          <a:lstStyle/>
          <a:p>
            <a:pPr algn="ctr"/>
            <a:r>
              <a:rPr lang="en-US" sz="2800" b="1" dirty="0"/>
              <a:t>Why is clean energy important?</a:t>
            </a:r>
          </a:p>
          <a:p>
            <a:r>
              <a:rPr lang="en-US" sz="2800" b="1" u="sng" dirty="0"/>
              <a:t>Energy helps people to:</a:t>
            </a:r>
          </a:p>
          <a:p>
            <a:pPr marL="457200" indent="-457200">
              <a:buFont typeface="Arial" panose="020B0604020202020204" pitchFamily="34" charset="0"/>
              <a:buChar char="•"/>
            </a:pPr>
            <a:r>
              <a:rPr lang="en-US" sz="2800" b="1" dirty="0">
                <a:solidFill>
                  <a:srgbClr val="0000FF"/>
                </a:solidFill>
              </a:rPr>
              <a:t>Light homes and classrooms.</a:t>
            </a:r>
          </a:p>
          <a:p>
            <a:pPr marL="457200" indent="-457200">
              <a:buFont typeface="Arial" panose="020B0604020202020204" pitchFamily="34" charset="0"/>
              <a:buChar char="•"/>
            </a:pPr>
            <a:r>
              <a:rPr lang="en-US" sz="2800" b="1" dirty="0">
                <a:solidFill>
                  <a:srgbClr val="0000FF"/>
                </a:solidFill>
              </a:rPr>
              <a:t>Cook food and keep food fresh.</a:t>
            </a:r>
          </a:p>
          <a:p>
            <a:pPr marL="457200" indent="-457200">
              <a:buFont typeface="Arial" panose="020B0604020202020204" pitchFamily="34" charset="0"/>
              <a:buChar char="•"/>
            </a:pPr>
            <a:r>
              <a:rPr lang="en-US" sz="2800" b="1" dirty="0">
                <a:solidFill>
                  <a:srgbClr val="0000FF"/>
                </a:solidFill>
              </a:rPr>
              <a:t>Power hospitals and medical equipment.</a:t>
            </a:r>
          </a:p>
          <a:p>
            <a:pPr marL="457200" indent="-457200">
              <a:buFont typeface="Arial" panose="020B0604020202020204" pitchFamily="34" charset="0"/>
              <a:buChar char="•"/>
            </a:pPr>
            <a:r>
              <a:rPr lang="en-US" sz="2800" b="1" dirty="0">
                <a:solidFill>
                  <a:srgbClr val="0000FF"/>
                </a:solidFill>
              </a:rPr>
              <a:t>Use computers and other technology.</a:t>
            </a:r>
          </a:p>
          <a:p>
            <a:pPr marL="457200" indent="-457200">
              <a:buFont typeface="Arial" panose="020B0604020202020204" pitchFamily="34" charset="0"/>
              <a:buChar char="•"/>
            </a:pPr>
            <a:r>
              <a:rPr lang="en-US" sz="2800" b="1" dirty="0">
                <a:solidFill>
                  <a:srgbClr val="0000FF"/>
                </a:solidFill>
              </a:rPr>
              <a:t>Support businesses and transportation.</a:t>
            </a:r>
          </a:p>
          <a:p>
            <a:pPr algn="just"/>
            <a:r>
              <a:rPr lang="en-US" sz="2800" dirty="0"/>
              <a:t>	However, some energy sources release greenhouse gases and contribute to climate change. Renewable energy sources can help reduce these emissions.</a:t>
            </a:r>
          </a:p>
          <a:p>
            <a:r>
              <a:rPr lang="en-US" sz="2800" b="1" u="sng" dirty="0"/>
              <a:t>Important message for students:</a:t>
            </a:r>
          </a:p>
          <a:p>
            <a:pPr algn="just"/>
            <a:r>
              <a:rPr lang="en-US" sz="2800" dirty="0"/>
              <a:t>	Everyone needs reliable energy, and choosing cleaner ways to produce and use energy can help protect our planet.</a:t>
            </a:r>
          </a:p>
        </p:txBody>
      </p:sp>
    </p:spTree>
    <p:extLst>
      <p:ext uri="{BB962C8B-B14F-4D97-AF65-F5344CB8AC3E}">
        <p14:creationId xmlns:p14="http://schemas.microsoft.com/office/powerpoint/2010/main" val="2071955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89DD2-AF90-D6DF-CCDC-CA1F5A1B93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853820-B80B-20A7-38BC-44FB6EBC1BB5}"/>
              </a:ext>
            </a:extLst>
          </p:cNvPr>
          <p:cNvSpPr txBox="1"/>
          <p:nvPr/>
        </p:nvSpPr>
        <p:spPr>
          <a:xfrm>
            <a:off x="520995" y="1155721"/>
            <a:ext cx="11153554" cy="4549835"/>
          </a:xfrm>
          <a:prstGeom prst="rect">
            <a:avLst/>
          </a:prstGeom>
          <a:noFill/>
        </p:spPr>
        <p:txBody>
          <a:bodyPr wrap="square">
            <a:spAutoFit/>
          </a:bodyPr>
          <a:lstStyle/>
          <a:p>
            <a:r>
              <a:rPr lang="en-US" sz="2800" b="1" dirty="0"/>
              <a:t>👧 Years 4–5: Simple discussion</a:t>
            </a:r>
          </a:p>
          <a:p>
            <a:endParaRPr lang="en-US" sz="2800" dirty="0"/>
          </a:p>
          <a:p>
            <a:r>
              <a:rPr lang="en-US" sz="2800" b="1" u="sng" dirty="0"/>
              <a:t>Answer the following:</a:t>
            </a:r>
          </a:p>
          <a:p>
            <a:pPr marL="514350" indent="-514350">
              <a:lnSpc>
                <a:spcPct val="150000"/>
              </a:lnSpc>
              <a:buFont typeface="+mj-lt"/>
              <a:buAutoNum type="arabicPeriod"/>
            </a:pPr>
            <a:r>
              <a:rPr lang="en-US" sz="2800" b="1" dirty="0">
                <a:solidFill>
                  <a:srgbClr val="7030A0"/>
                </a:solidFill>
              </a:rPr>
              <a:t>What do we use electricity for every day?</a:t>
            </a:r>
          </a:p>
          <a:p>
            <a:pPr marL="514350" indent="-514350">
              <a:lnSpc>
                <a:spcPct val="150000"/>
              </a:lnSpc>
              <a:buFont typeface="+mj-lt"/>
              <a:buAutoNum type="arabicPeriod"/>
            </a:pPr>
            <a:r>
              <a:rPr lang="en-US" sz="2800" b="1" dirty="0">
                <a:solidFill>
                  <a:srgbClr val="7030A0"/>
                </a:solidFill>
              </a:rPr>
              <a:t>What would happen if our school had no electricity?</a:t>
            </a:r>
          </a:p>
          <a:p>
            <a:pPr marL="514350" indent="-514350">
              <a:lnSpc>
                <a:spcPct val="150000"/>
              </a:lnSpc>
              <a:buFont typeface="+mj-lt"/>
              <a:buAutoNum type="arabicPeriod"/>
            </a:pPr>
            <a:r>
              <a:rPr lang="en-US" sz="2800" b="1" dirty="0">
                <a:solidFill>
                  <a:srgbClr val="7030A0"/>
                </a:solidFill>
              </a:rPr>
              <a:t>Where does electricity come from?</a:t>
            </a:r>
          </a:p>
          <a:p>
            <a:pPr marL="514350" indent="-514350">
              <a:lnSpc>
                <a:spcPct val="150000"/>
              </a:lnSpc>
              <a:buFont typeface="+mj-lt"/>
              <a:buAutoNum type="arabicPeriod"/>
            </a:pPr>
            <a:r>
              <a:rPr lang="en-US" sz="2800" b="1" dirty="0">
                <a:solidFill>
                  <a:srgbClr val="7030A0"/>
                </a:solidFill>
              </a:rPr>
              <a:t>What are solar panels used for?</a:t>
            </a:r>
          </a:p>
          <a:p>
            <a:pPr marL="514350" indent="-514350">
              <a:lnSpc>
                <a:spcPct val="150000"/>
              </a:lnSpc>
              <a:buFont typeface="+mj-lt"/>
              <a:buAutoNum type="arabicPeriod"/>
            </a:pPr>
            <a:r>
              <a:rPr lang="en-US" sz="2800" b="1" dirty="0">
                <a:solidFill>
                  <a:srgbClr val="7030A0"/>
                </a:solidFill>
              </a:rPr>
              <a:t>How can we save energy at home and at school?</a:t>
            </a:r>
          </a:p>
        </p:txBody>
      </p:sp>
    </p:spTree>
    <p:extLst>
      <p:ext uri="{BB962C8B-B14F-4D97-AF65-F5344CB8AC3E}">
        <p14:creationId xmlns:p14="http://schemas.microsoft.com/office/powerpoint/2010/main" val="3982225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A1C85-362A-D7DE-4866-A5F37A4519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4DB3CE-D2F1-B7F7-AE03-1302D70379D1}"/>
              </a:ext>
            </a:extLst>
          </p:cNvPr>
          <p:cNvSpPr txBox="1"/>
          <p:nvPr/>
        </p:nvSpPr>
        <p:spPr>
          <a:xfrm>
            <a:off x="520995" y="1155716"/>
            <a:ext cx="11153554" cy="4549835"/>
          </a:xfrm>
          <a:prstGeom prst="rect">
            <a:avLst/>
          </a:prstGeom>
          <a:noFill/>
        </p:spPr>
        <p:txBody>
          <a:bodyPr wrap="square">
            <a:spAutoFit/>
          </a:bodyPr>
          <a:lstStyle/>
          <a:p>
            <a:r>
              <a:rPr lang="en-US" sz="2800" b="1" dirty="0"/>
              <a:t>🧑 Years 6–8: Deeper discussion</a:t>
            </a:r>
          </a:p>
          <a:p>
            <a:endParaRPr lang="en-US" sz="2800" dirty="0"/>
          </a:p>
          <a:p>
            <a:r>
              <a:rPr lang="en-US" sz="2800" b="1" u="sng" dirty="0"/>
              <a:t>Answer the following:</a:t>
            </a:r>
          </a:p>
          <a:p>
            <a:pPr>
              <a:lnSpc>
                <a:spcPct val="150000"/>
              </a:lnSpc>
            </a:pPr>
            <a:r>
              <a:rPr lang="en-US" sz="2800" b="1" dirty="0">
                <a:solidFill>
                  <a:srgbClr val="7030A0"/>
                </a:solidFill>
              </a:rPr>
              <a:t>What is the difference between renewable and non-renewable energy?</a:t>
            </a:r>
          </a:p>
          <a:p>
            <a:pPr>
              <a:lnSpc>
                <a:spcPct val="150000"/>
              </a:lnSpc>
            </a:pPr>
            <a:r>
              <a:rPr lang="en-US" sz="2800" b="1" dirty="0">
                <a:solidFill>
                  <a:srgbClr val="7030A0"/>
                </a:solidFill>
              </a:rPr>
              <a:t>Why can some communities struggle to access affordable electricity?</a:t>
            </a:r>
          </a:p>
          <a:p>
            <a:pPr>
              <a:lnSpc>
                <a:spcPct val="150000"/>
              </a:lnSpc>
            </a:pPr>
            <a:r>
              <a:rPr lang="en-US" sz="2800" b="1" dirty="0">
                <a:solidFill>
                  <a:srgbClr val="7030A0"/>
                </a:solidFill>
              </a:rPr>
              <a:t>What are the advantages and disadvantages of solar and wind power?</a:t>
            </a:r>
          </a:p>
          <a:p>
            <a:pPr>
              <a:lnSpc>
                <a:spcPct val="150000"/>
              </a:lnSpc>
            </a:pPr>
            <a:r>
              <a:rPr lang="en-US" sz="2800" b="1" dirty="0">
                <a:solidFill>
                  <a:srgbClr val="7030A0"/>
                </a:solidFill>
              </a:rPr>
              <a:t>How can wasting electricity affect the environment?</a:t>
            </a:r>
          </a:p>
          <a:p>
            <a:pPr>
              <a:lnSpc>
                <a:spcPct val="150000"/>
              </a:lnSpc>
            </a:pPr>
            <a:r>
              <a:rPr lang="en-US" sz="2800" b="1" dirty="0">
                <a:solidFill>
                  <a:srgbClr val="7030A0"/>
                </a:solidFill>
              </a:rPr>
              <a:t>Should schools use more renewable energy? Why or why not?</a:t>
            </a:r>
          </a:p>
        </p:txBody>
      </p:sp>
    </p:spTree>
    <p:extLst>
      <p:ext uri="{BB962C8B-B14F-4D97-AF65-F5344CB8AC3E}">
        <p14:creationId xmlns:p14="http://schemas.microsoft.com/office/powerpoint/2010/main" val="1548659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7A985-16CB-4D3E-6848-2F75A7DC84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2DF459-DD6D-7085-315D-9C007D4586F3}"/>
              </a:ext>
            </a:extLst>
          </p:cNvPr>
          <p:cNvSpPr txBox="1"/>
          <p:nvPr/>
        </p:nvSpPr>
        <p:spPr>
          <a:xfrm>
            <a:off x="520995" y="1038753"/>
            <a:ext cx="11153554" cy="4585871"/>
          </a:xfrm>
          <a:prstGeom prst="rect">
            <a:avLst/>
          </a:prstGeom>
          <a:noFill/>
        </p:spPr>
        <p:txBody>
          <a:bodyPr wrap="square">
            <a:spAutoFit/>
          </a:bodyPr>
          <a:lstStyle/>
          <a:p>
            <a:r>
              <a:rPr lang="en-US" sz="2800" b="1" dirty="0"/>
              <a:t>💡 Classroom activity: Design a Clean-Energy School</a:t>
            </a:r>
          </a:p>
          <a:p>
            <a:r>
              <a:rPr lang="en-US" sz="2000" dirty="0"/>
              <a:t>Students work in groups to design a school that uses energy efficiently.</a:t>
            </a:r>
            <a:endParaRPr lang="en-US" sz="2800" dirty="0"/>
          </a:p>
          <a:p>
            <a:endParaRPr lang="en-US" sz="2800" dirty="0"/>
          </a:p>
          <a:p>
            <a:r>
              <a:rPr lang="en-US" sz="2800" b="1" u="sng" dirty="0"/>
              <a:t>You should consider:</a:t>
            </a:r>
          </a:p>
          <a:p>
            <a:pPr marL="457200" indent="-457200">
              <a:buFont typeface="Arial" panose="020B0604020202020204" pitchFamily="34" charset="0"/>
              <a:buChar char="•"/>
            </a:pPr>
            <a:r>
              <a:rPr lang="en-US" sz="2800" b="1" dirty="0">
                <a:solidFill>
                  <a:srgbClr val="FF0000"/>
                </a:solidFill>
              </a:rPr>
              <a:t>Using sunlight to reduce the need for artificial lighting.</a:t>
            </a:r>
          </a:p>
          <a:p>
            <a:pPr marL="457200" indent="-457200">
              <a:buFont typeface="Arial" panose="020B0604020202020204" pitchFamily="34" charset="0"/>
              <a:buChar char="•"/>
            </a:pPr>
            <a:r>
              <a:rPr lang="en-US" sz="2800" b="1" dirty="0">
                <a:solidFill>
                  <a:srgbClr val="FF0000"/>
                </a:solidFill>
              </a:rPr>
              <a:t>Installing solar panels where suitable.</a:t>
            </a:r>
          </a:p>
          <a:p>
            <a:pPr marL="457200" indent="-457200">
              <a:buFont typeface="Arial" panose="020B0604020202020204" pitchFamily="34" charset="0"/>
              <a:buChar char="•"/>
            </a:pPr>
            <a:r>
              <a:rPr lang="en-US" sz="2800" b="1" dirty="0">
                <a:solidFill>
                  <a:srgbClr val="FF0000"/>
                </a:solidFill>
              </a:rPr>
              <a:t>Switching off unused lights and equipment.</a:t>
            </a:r>
          </a:p>
          <a:p>
            <a:pPr marL="457200" indent="-457200">
              <a:buFont typeface="Arial" panose="020B0604020202020204" pitchFamily="34" charset="0"/>
              <a:buChar char="•"/>
            </a:pPr>
            <a:r>
              <a:rPr lang="en-US" sz="2800" b="1" dirty="0">
                <a:solidFill>
                  <a:srgbClr val="FF0000"/>
                </a:solidFill>
              </a:rPr>
              <a:t>Using energy-efficient appliances.</a:t>
            </a:r>
          </a:p>
          <a:p>
            <a:pPr marL="457200" indent="-457200">
              <a:buFont typeface="Arial" panose="020B0604020202020204" pitchFamily="34" charset="0"/>
              <a:buChar char="•"/>
            </a:pPr>
            <a:r>
              <a:rPr lang="en-US" sz="2800" b="1" dirty="0">
                <a:solidFill>
                  <a:srgbClr val="FF0000"/>
                </a:solidFill>
              </a:rPr>
              <a:t>Raising awareness about energy conservation.</a:t>
            </a:r>
          </a:p>
          <a:p>
            <a:endParaRPr lang="en-US" sz="2800" dirty="0"/>
          </a:p>
          <a:p>
            <a:pPr algn="r"/>
            <a:r>
              <a:rPr lang="en-US" sz="2000" b="1" dirty="0"/>
              <a:t>Each group presents its design and explains how it could save energy and reduce pollution.</a:t>
            </a:r>
          </a:p>
        </p:txBody>
      </p:sp>
    </p:spTree>
    <p:extLst>
      <p:ext uri="{BB962C8B-B14F-4D97-AF65-F5344CB8AC3E}">
        <p14:creationId xmlns:p14="http://schemas.microsoft.com/office/powerpoint/2010/main" val="2343859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3D1DA-9951-CFE4-7167-08C96E0AA34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F88C3A-5DD8-2CA8-9D28-B12140875AA6}"/>
              </a:ext>
            </a:extLst>
          </p:cNvPr>
          <p:cNvSpPr txBox="1"/>
          <p:nvPr/>
        </p:nvSpPr>
        <p:spPr>
          <a:xfrm>
            <a:off x="520995" y="1028131"/>
            <a:ext cx="11153554" cy="4832092"/>
          </a:xfrm>
          <a:prstGeom prst="rect">
            <a:avLst/>
          </a:prstGeom>
          <a:noFill/>
        </p:spPr>
        <p:txBody>
          <a:bodyPr wrap="square">
            <a:spAutoFit/>
          </a:bodyPr>
          <a:lstStyle/>
          <a:p>
            <a:pPr algn="ctr"/>
            <a:r>
              <a:rPr lang="en-US" sz="2800" dirty="0"/>
              <a:t>💼 </a:t>
            </a:r>
            <a:r>
              <a:rPr lang="en-US" sz="2800" b="1" dirty="0"/>
              <a:t>SDG 8 — Decent Work and Economic Growth</a:t>
            </a:r>
          </a:p>
          <a:p>
            <a:endParaRPr lang="en-US" sz="2800" dirty="0"/>
          </a:p>
          <a:p>
            <a:pPr algn="just"/>
            <a:r>
              <a:rPr lang="en-US" sz="2800" b="1" u="sng" dirty="0"/>
              <a:t>Official Goal:</a:t>
            </a:r>
            <a:r>
              <a:rPr lang="en-US" sz="2800" dirty="0"/>
              <a:t> Promote sustained, inclusive and sustainable economic growth, full and productive employment and decent work for all.</a:t>
            </a:r>
          </a:p>
          <a:p>
            <a:endParaRPr lang="en-US" sz="2800" b="1" dirty="0"/>
          </a:p>
          <a:p>
            <a:r>
              <a:rPr lang="en-US" sz="2800" b="1" dirty="0"/>
              <a:t>What does Decent Work and Economic Growth mean?</a:t>
            </a:r>
          </a:p>
          <a:p>
            <a:pPr algn="just"/>
            <a:r>
              <a:rPr lang="en-US" sz="2800" dirty="0"/>
              <a:t>	This goal focuses on helping economies grow in ways that create opportunities, support workers, and improve people's lives.</a:t>
            </a:r>
          </a:p>
          <a:p>
            <a:endParaRPr lang="en-US" sz="2800" dirty="0"/>
          </a:p>
          <a:p>
            <a:pPr algn="just"/>
            <a:r>
              <a:rPr lang="en-US" sz="2800" b="1" dirty="0"/>
              <a:t>	Decent work</a:t>
            </a:r>
            <a:r>
              <a:rPr lang="en-US" sz="2800" dirty="0"/>
              <a:t> means work that respects people's rights, provides fair treatment, offers safe working conditions, and provides fair pay.</a:t>
            </a:r>
          </a:p>
        </p:txBody>
      </p:sp>
    </p:spTree>
    <p:extLst>
      <p:ext uri="{BB962C8B-B14F-4D97-AF65-F5344CB8AC3E}">
        <p14:creationId xmlns:p14="http://schemas.microsoft.com/office/powerpoint/2010/main" val="3608200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764DC-51C2-B0CB-37F3-1E6FF3563F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749FEB-F036-D33C-7E5D-523AD459FDC5}"/>
              </a:ext>
            </a:extLst>
          </p:cNvPr>
          <p:cNvSpPr txBox="1"/>
          <p:nvPr/>
        </p:nvSpPr>
        <p:spPr>
          <a:xfrm>
            <a:off x="520995" y="794210"/>
            <a:ext cx="11153554" cy="5262979"/>
          </a:xfrm>
          <a:prstGeom prst="rect">
            <a:avLst/>
          </a:prstGeom>
          <a:noFill/>
        </p:spPr>
        <p:txBody>
          <a:bodyPr wrap="square">
            <a:spAutoFit/>
          </a:bodyPr>
          <a:lstStyle/>
          <a:p>
            <a:pPr algn="just"/>
            <a:r>
              <a:rPr lang="en-US" sz="2800" b="1" dirty="0"/>
              <a:t>	Economic growth</a:t>
            </a:r>
            <a:r>
              <a:rPr lang="en-US" sz="2800" dirty="0"/>
              <a:t> means an increase in the goods and services produced by an economy over time. Sustainable and inclusive growth aims to benefit people without causing unnecessary harm to society or the environment.</a:t>
            </a:r>
          </a:p>
          <a:p>
            <a:endParaRPr lang="en-US" sz="2800" dirty="0"/>
          </a:p>
          <a:p>
            <a:r>
              <a:rPr lang="en-US" sz="2800" b="1" u="sng" dirty="0"/>
              <a:t>It includes:</a:t>
            </a:r>
          </a:p>
          <a:p>
            <a:pPr marL="457200" indent="-457200">
              <a:buFont typeface="Arial" panose="020B0604020202020204" pitchFamily="34" charset="0"/>
              <a:buChar char="•"/>
            </a:pPr>
            <a:r>
              <a:rPr lang="en-US" sz="2800" b="1" dirty="0">
                <a:solidFill>
                  <a:srgbClr val="0000FF"/>
                </a:solidFill>
              </a:rPr>
              <a:t>Opportunities for people to find work.</a:t>
            </a:r>
          </a:p>
          <a:p>
            <a:pPr marL="457200" indent="-457200">
              <a:buFont typeface="Arial" panose="020B0604020202020204" pitchFamily="34" charset="0"/>
              <a:buChar char="•"/>
            </a:pPr>
            <a:r>
              <a:rPr lang="en-US" sz="2800" b="1" dirty="0">
                <a:solidFill>
                  <a:srgbClr val="0000FF"/>
                </a:solidFill>
              </a:rPr>
              <a:t>Fair wages and safe working conditions.</a:t>
            </a:r>
          </a:p>
          <a:p>
            <a:pPr marL="457200" indent="-457200">
              <a:buFont typeface="Arial" panose="020B0604020202020204" pitchFamily="34" charset="0"/>
              <a:buChar char="•"/>
            </a:pPr>
            <a:r>
              <a:rPr lang="en-US" sz="2800" b="1" dirty="0">
                <a:solidFill>
                  <a:srgbClr val="0000FF"/>
                </a:solidFill>
              </a:rPr>
              <a:t>Protecting workers' rights.</a:t>
            </a:r>
          </a:p>
          <a:p>
            <a:pPr marL="457200" indent="-457200">
              <a:buFont typeface="Arial" panose="020B0604020202020204" pitchFamily="34" charset="0"/>
              <a:buChar char="•"/>
            </a:pPr>
            <a:r>
              <a:rPr lang="en-US" sz="2800" b="1" dirty="0">
                <a:solidFill>
                  <a:srgbClr val="0000FF"/>
                </a:solidFill>
              </a:rPr>
              <a:t>Developing useful skills and training.</a:t>
            </a:r>
          </a:p>
          <a:p>
            <a:pPr marL="457200" indent="-457200">
              <a:buFont typeface="Arial" panose="020B0604020202020204" pitchFamily="34" charset="0"/>
              <a:buChar char="•"/>
            </a:pPr>
            <a:r>
              <a:rPr lang="en-US" sz="2800" b="1" dirty="0">
                <a:solidFill>
                  <a:srgbClr val="0000FF"/>
                </a:solidFill>
              </a:rPr>
              <a:t>Supporting responsible businesses.</a:t>
            </a:r>
          </a:p>
          <a:p>
            <a:pPr marL="457200" indent="-457200">
              <a:buFont typeface="Arial" panose="020B0604020202020204" pitchFamily="34" charset="0"/>
              <a:buChar char="•"/>
            </a:pPr>
            <a:r>
              <a:rPr lang="en-US" sz="2800" b="1" dirty="0">
                <a:solidFill>
                  <a:srgbClr val="0000FF"/>
                </a:solidFill>
              </a:rPr>
              <a:t>Ending child </a:t>
            </a:r>
            <a:r>
              <a:rPr lang="en-US" sz="2800" b="1" dirty="0" err="1">
                <a:solidFill>
                  <a:srgbClr val="0000FF"/>
                </a:solidFill>
              </a:rPr>
              <a:t>labour</a:t>
            </a:r>
            <a:r>
              <a:rPr lang="en-US" sz="2800" b="1" dirty="0">
                <a:solidFill>
                  <a:srgbClr val="0000FF"/>
                </a:solidFill>
              </a:rPr>
              <a:t> and forced </a:t>
            </a:r>
            <a:r>
              <a:rPr lang="en-US" sz="2800" b="1" dirty="0" err="1">
                <a:solidFill>
                  <a:srgbClr val="0000FF"/>
                </a:solidFill>
              </a:rPr>
              <a:t>labour</a:t>
            </a:r>
            <a:r>
              <a:rPr lang="en-US" sz="2800" b="1" dirty="0">
                <a:solidFill>
                  <a:srgbClr val="0000FF"/>
                </a:solidFill>
              </a:rPr>
              <a:t>.</a:t>
            </a:r>
          </a:p>
        </p:txBody>
      </p:sp>
    </p:spTree>
    <p:extLst>
      <p:ext uri="{BB962C8B-B14F-4D97-AF65-F5344CB8AC3E}">
        <p14:creationId xmlns:p14="http://schemas.microsoft.com/office/powerpoint/2010/main" val="1558126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99EEB-50CA-6150-43FE-E44C78C6EF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9AF759-BD15-4D48-47CF-4F5B93452069}"/>
              </a:ext>
            </a:extLst>
          </p:cNvPr>
          <p:cNvSpPr txBox="1"/>
          <p:nvPr/>
        </p:nvSpPr>
        <p:spPr>
          <a:xfrm>
            <a:off x="520995" y="602808"/>
            <a:ext cx="11153554" cy="5693866"/>
          </a:xfrm>
          <a:prstGeom prst="rect">
            <a:avLst/>
          </a:prstGeom>
          <a:noFill/>
        </p:spPr>
        <p:txBody>
          <a:bodyPr wrap="square">
            <a:spAutoFit/>
          </a:bodyPr>
          <a:lstStyle/>
          <a:p>
            <a:pPr algn="ctr"/>
            <a:r>
              <a:rPr lang="en-US" sz="2800" b="1" dirty="0"/>
              <a:t>Why is this goal important?</a:t>
            </a:r>
          </a:p>
          <a:p>
            <a:r>
              <a:rPr lang="en-US" sz="2800" b="1" u="sng" dirty="0"/>
              <a:t>Decent work and sustainable economic growth can help people:</a:t>
            </a:r>
          </a:p>
          <a:p>
            <a:pPr marL="457200" indent="-457200">
              <a:buFont typeface="Arial" panose="020B0604020202020204" pitchFamily="34" charset="0"/>
              <a:buChar char="•"/>
            </a:pPr>
            <a:r>
              <a:rPr lang="en-US" sz="2800" b="1" dirty="0">
                <a:solidFill>
                  <a:srgbClr val="0000FF"/>
                </a:solidFill>
              </a:rPr>
              <a:t>Earn money to meet their needs.</a:t>
            </a:r>
          </a:p>
          <a:p>
            <a:pPr marL="457200" indent="-457200">
              <a:buFont typeface="Arial" panose="020B0604020202020204" pitchFamily="34" charset="0"/>
              <a:buChar char="•"/>
            </a:pPr>
            <a:r>
              <a:rPr lang="en-US" sz="2800" b="1" dirty="0">
                <a:solidFill>
                  <a:srgbClr val="0000FF"/>
                </a:solidFill>
              </a:rPr>
              <a:t>Support their families.</a:t>
            </a:r>
          </a:p>
          <a:p>
            <a:pPr marL="457200" indent="-457200">
              <a:buFont typeface="Arial" panose="020B0604020202020204" pitchFamily="34" charset="0"/>
              <a:buChar char="•"/>
            </a:pPr>
            <a:r>
              <a:rPr lang="en-US" sz="2800" b="1" dirty="0">
                <a:solidFill>
                  <a:srgbClr val="0000FF"/>
                </a:solidFill>
              </a:rPr>
              <a:t>Develop their talents and skills.</a:t>
            </a:r>
          </a:p>
          <a:p>
            <a:pPr marL="457200" indent="-457200">
              <a:buFont typeface="Arial" panose="020B0604020202020204" pitchFamily="34" charset="0"/>
              <a:buChar char="•"/>
            </a:pPr>
            <a:r>
              <a:rPr lang="en-US" sz="2800" b="1" dirty="0">
                <a:solidFill>
                  <a:srgbClr val="0000FF"/>
                </a:solidFill>
              </a:rPr>
              <a:t>Improve their living conditions.</a:t>
            </a:r>
          </a:p>
          <a:p>
            <a:pPr marL="457200" indent="-457200">
              <a:buFont typeface="Arial" panose="020B0604020202020204" pitchFamily="34" charset="0"/>
              <a:buChar char="•"/>
            </a:pPr>
            <a:r>
              <a:rPr lang="en-US" sz="2800" b="1" dirty="0">
                <a:solidFill>
                  <a:srgbClr val="0000FF"/>
                </a:solidFill>
              </a:rPr>
              <a:t>Contribute to their communities.</a:t>
            </a:r>
          </a:p>
          <a:p>
            <a:pPr marL="457200" indent="-457200">
              <a:buFont typeface="Arial" panose="020B0604020202020204" pitchFamily="34" charset="0"/>
              <a:buChar char="•"/>
            </a:pPr>
            <a:r>
              <a:rPr lang="en-US" sz="2800" b="1" dirty="0">
                <a:solidFill>
                  <a:srgbClr val="0000FF"/>
                </a:solidFill>
              </a:rPr>
              <a:t>Build a more stable future.</a:t>
            </a:r>
          </a:p>
          <a:p>
            <a:pPr algn="just"/>
            <a:r>
              <a:rPr lang="en-US" sz="2800" dirty="0"/>
              <a:t>	Economic growth should also consider the environment and whether opportunities are shared fairly.</a:t>
            </a:r>
          </a:p>
          <a:p>
            <a:r>
              <a:rPr lang="en-US" sz="2800" b="1" u="sng" dirty="0"/>
              <a:t>Important message for students:</a:t>
            </a:r>
          </a:p>
          <a:p>
            <a:pPr algn="just"/>
            <a:r>
              <a:rPr lang="en-US" sz="2800" dirty="0"/>
              <a:t>	Everyone deserves dignity and fair treatment at work, and economic growth should create opportunities while protecting people and the planet.</a:t>
            </a:r>
          </a:p>
        </p:txBody>
      </p:sp>
    </p:spTree>
    <p:extLst>
      <p:ext uri="{BB962C8B-B14F-4D97-AF65-F5344CB8AC3E}">
        <p14:creationId xmlns:p14="http://schemas.microsoft.com/office/powerpoint/2010/main" val="1340951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0900C-4DFD-F8C6-A581-41FAC8DB9F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92FD38-D3DB-048A-212F-A8FF075874D9}"/>
              </a:ext>
            </a:extLst>
          </p:cNvPr>
          <p:cNvSpPr txBox="1"/>
          <p:nvPr/>
        </p:nvSpPr>
        <p:spPr>
          <a:xfrm>
            <a:off x="520995" y="1176983"/>
            <a:ext cx="11153554" cy="4549835"/>
          </a:xfrm>
          <a:prstGeom prst="rect">
            <a:avLst/>
          </a:prstGeom>
          <a:noFill/>
        </p:spPr>
        <p:txBody>
          <a:bodyPr wrap="square">
            <a:spAutoFit/>
          </a:bodyPr>
          <a:lstStyle/>
          <a:p>
            <a:r>
              <a:rPr lang="en-US" sz="2800" b="1" dirty="0"/>
              <a:t>👧 Years 4–5: Simple discussion</a:t>
            </a:r>
          </a:p>
          <a:p>
            <a:endParaRPr lang="en-US" sz="2800" dirty="0"/>
          </a:p>
          <a:p>
            <a:r>
              <a:rPr lang="en-US" sz="2800" b="1" u="sng" dirty="0"/>
              <a:t>Answer the following:</a:t>
            </a:r>
          </a:p>
          <a:p>
            <a:pPr>
              <a:lnSpc>
                <a:spcPct val="150000"/>
              </a:lnSpc>
            </a:pPr>
            <a:r>
              <a:rPr lang="en-US" sz="2800" b="1" dirty="0">
                <a:solidFill>
                  <a:srgbClr val="7030A0"/>
                </a:solidFill>
              </a:rPr>
              <a:t>What jobs help our community?</a:t>
            </a:r>
          </a:p>
          <a:p>
            <a:pPr>
              <a:lnSpc>
                <a:spcPct val="150000"/>
              </a:lnSpc>
            </a:pPr>
            <a:r>
              <a:rPr lang="en-US" sz="2800" b="1" dirty="0">
                <a:solidFill>
                  <a:srgbClr val="7030A0"/>
                </a:solidFill>
              </a:rPr>
              <a:t>Why do people work?</a:t>
            </a:r>
          </a:p>
          <a:p>
            <a:pPr>
              <a:lnSpc>
                <a:spcPct val="150000"/>
              </a:lnSpc>
            </a:pPr>
            <a:r>
              <a:rPr lang="en-US" sz="2800" b="1" dirty="0">
                <a:solidFill>
                  <a:srgbClr val="7030A0"/>
                </a:solidFill>
              </a:rPr>
              <a:t>What makes a workplace safe?</a:t>
            </a:r>
          </a:p>
          <a:p>
            <a:pPr>
              <a:lnSpc>
                <a:spcPct val="150000"/>
              </a:lnSpc>
            </a:pPr>
            <a:r>
              <a:rPr lang="en-US" sz="2800" b="1" dirty="0">
                <a:solidFill>
                  <a:srgbClr val="7030A0"/>
                </a:solidFill>
              </a:rPr>
              <a:t>Why should workers be treated fairly?</a:t>
            </a:r>
          </a:p>
          <a:p>
            <a:pPr>
              <a:lnSpc>
                <a:spcPct val="150000"/>
              </a:lnSpc>
            </a:pPr>
            <a:r>
              <a:rPr lang="en-US" sz="2800" b="1" dirty="0">
                <a:solidFill>
                  <a:srgbClr val="7030A0"/>
                </a:solidFill>
              </a:rPr>
              <a:t>What skills might help someone do a job well?</a:t>
            </a:r>
          </a:p>
        </p:txBody>
      </p:sp>
    </p:spTree>
    <p:extLst>
      <p:ext uri="{BB962C8B-B14F-4D97-AF65-F5344CB8AC3E}">
        <p14:creationId xmlns:p14="http://schemas.microsoft.com/office/powerpoint/2010/main" val="563249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B830D-1C05-CBBF-DFC2-C862CF18E5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F31768-683A-D1BC-5730-7CD85F775F8E}"/>
              </a:ext>
            </a:extLst>
          </p:cNvPr>
          <p:cNvSpPr txBox="1"/>
          <p:nvPr/>
        </p:nvSpPr>
        <p:spPr>
          <a:xfrm>
            <a:off x="520995" y="847372"/>
            <a:ext cx="11153554" cy="5196166"/>
          </a:xfrm>
          <a:prstGeom prst="rect">
            <a:avLst/>
          </a:prstGeom>
          <a:noFill/>
        </p:spPr>
        <p:txBody>
          <a:bodyPr wrap="square">
            <a:spAutoFit/>
          </a:bodyPr>
          <a:lstStyle/>
          <a:p>
            <a:r>
              <a:rPr lang="en-US" sz="2800" b="1" dirty="0"/>
              <a:t>🧑 Years 6–8: Deeper discussion</a:t>
            </a:r>
          </a:p>
          <a:p>
            <a:endParaRPr lang="en-US" sz="2800" dirty="0"/>
          </a:p>
          <a:p>
            <a:r>
              <a:rPr lang="en-US" sz="2800" b="1" u="sng" dirty="0"/>
              <a:t>Answer the following:</a:t>
            </a:r>
          </a:p>
          <a:p>
            <a:pPr marL="514350" indent="-514350">
              <a:lnSpc>
                <a:spcPct val="150000"/>
              </a:lnSpc>
              <a:buFont typeface="+mj-lt"/>
              <a:buAutoNum type="arabicPeriod"/>
            </a:pPr>
            <a:r>
              <a:rPr lang="en-US" sz="2800" b="1" dirty="0">
                <a:solidFill>
                  <a:srgbClr val="7030A0"/>
                </a:solidFill>
              </a:rPr>
              <a:t>What is the difference between a job and decent work?</a:t>
            </a:r>
          </a:p>
          <a:p>
            <a:pPr marL="514350" indent="-514350">
              <a:lnSpc>
                <a:spcPct val="150000"/>
              </a:lnSpc>
              <a:buFont typeface="+mj-lt"/>
              <a:buAutoNum type="arabicPeriod"/>
            </a:pPr>
            <a:r>
              <a:rPr lang="en-US" sz="2800" b="1" dirty="0">
                <a:solidFill>
                  <a:srgbClr val="7030A0"/>
                </a:solidFill>
              </a:rPr>
              <a:t>Why are fair wages and safe working conditions important?</a:t>
            </a:r>
          </a:p>
          <a:p>
            <a:pPr marL="514350" indent="-514350">
              <a:lnSpc>
                <a:spcPct val="150000"/>
              </a:lnSpc>
              <a:buFont typeface="+mj-lt"/>
              <a:buAutoNum type="arabicPeriod"/>
            </a:pPr>
            <a:r>
              <a:rPr lang="en-US" sz="2800" b="1" dirty="0">
                <a:solidFill>
                  <a:srgbClr val="7030A0"/>
                </a:solidFill>
              </a:rPr>
              <a:t>How can education and training help people find work?</a:t>
            </a:r>
          </a:p>
          <a:p>
            <a:pPr marL="514350" indent="-514350">
              <a:lnSpc>
                <a:spcPct val="150000"/>
              </a:lnSpc>
              <a:buFont typeface="+mj-lt"/>
              <a:buAutoNum type="arabicPeriod"/>
            </a:pPr>
            <a:r>
              <a:rPr lang="en-US" sz="2800" b="1" dirty="0">
                <a:solidFill>
                  <a:srgbClr val="7030A0"/>
                </a:solidFill>
              </a:rPr>
              <a:t>How can small businesses support local communities?</a:t>
            </a:r>
          </a:p>
          <a:p>
            <a:pPr marL="514350" indent="-514350">
              <a:lnSpc>
                <a:spcPct val="150000"/>
              </a:lnSpc>
              <a:buFont typeface="+mj-lt"/>
              <a:buAutoNum type="arabicPeriod"/>
            </a:pPr>
            <a:r>
              <a:rPr lang="en-US" sz="2800" b="1" dirty="0">
                <a:solidFill>
                  <a:srgbClr val="7030A0"/>
                </a:solidFill>
              </a:rPr>
              <a:t>Can an economy grow while harming the environment? Explain your answer.</a:t>
            </a:r>
          </a:p>
        </p:txBody>
      </p:sp>
    </p:spTree>
    <p:extLst>
      <p:ext uri="{BB962C8B-B14F-4D97-AF65-F5344CB8AC3E}">
        <p14:creationId xmlns:p14="http://schemas.microsoft.com/office/powerpoint/2010/main" val="1328185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6F79-C5F5-8B40-9098-D37500BCBA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BDEF4A-D8DE-CE99-7A81-F2A08A7882AC}"/>
              </a:ext>
            </a:extLst>
          </p:cNvPr>
          <p:cNvSpPr txBox="1"/>
          <p:nvPr/>
        </p:nvSpPr>
        <p:spPr>
          <a:xfrm>
            <a:off x="520995" y="698510"/>
            <a:ext cx="11153554" cy="5509200"/>
          </a:xfrm>
          <a:prstGeom prst="rect">
            <a:avLst/>
          </a:prstGeom>
          <a:noFill/>
        </p:spPr>
        <p:txBody>
          <a:bodyPr wrap="square">
            <a:spAutoFit/>
          </a:bodyPr>
          <a:lstStyle/>
          <a:p>
            <a:pPr algn="ctr"/>
            <a:r>
              <a:rPr lang="en-US" sz="2800" b="1" dirty="0"/>
              <a:t>💡 Classroom activity: Create a Responsible Business</a:t>
            </a:r>
          </a:p>
          <a:p>
            <a:pPr algn="just"/>
            <a:endParaRPr lang="en-US" sz="2000" b="1" dirty="0"/>
          </a:p>
          <a:p>
            <a:pPr algn="just"/>
            <a:r>
              <a:rPr lang="en-US" sz="2000" b="1" dirty="0"/>
              <a:t>Students work in groups to invent a small business, such as a bakery, a recycling service, or an environmentally friendly stationery shop.</a:t>
            </a:r>
            <a:endParaRPr lang="en-US" sz="2800" b="1" dirty="0"/>
          </a:p>
          <a:p>
            <a:endParaRPr lang="en-US" sz="2800" dirty="0"/>
          </a:p>
          <a:p>
            <a:r>
              <a:rPr lang="en-US" sz="2800" b="1" u="sng" dirty="0"/>
              <a:t>Each group decides:</a:t>
            </a:r>
          </a:p>
          <a:p>
            <a:pPr marL="457200" indent="-457200">
              <a:buFont typeface="Arial" panose="020B0604020202020204" pitchFamily="34" charset="0"/>
              <a:buChar char="•"/>
            </a:pPr>
            <a:r>
              <a:rPr lang="en-US" sz="2800" b="1" dirty="0">
                <a:solidFill>
                  <a:srgbClr val="FF0000"/>
                </a:solidFill>
              </a:rPr>
              <a:t>What product or service will the business provide?</a:t>
            </a:r>
          </a:p>
          <a:p>
            <a:pPr marL="457200" indent="-457200">
              <a:buFont typeface="Arial" panose="020B0604020202020204" pitchFamily="34" charset="0"/>
              <a:buChar char="•"/>
            </a:pPr>
            <a:r>
              <a:rPr lang="en-US" sz="2800" b="1" dirty="0">
                <a:solidFill>
                  <a:srgbClr val="FF0000"/>
                </a:solidFill>
              </a:rPr>
              <a:t>Who will its customers be?</a:t>
            </a:r>
          </a:p>
          <a:p>
            <a:pPr marL="457200" indent="-457200">
              <a:buFont typeface="Arial" panose="020B0604020202020204" pitchFamily="34" charset="0"/>
              <a:buChar char="•"/>
            </a:pPr>
            <a:r>
              <a:rPr lang="en-US" sz="2800" b="1" dirty="0">
                <a:solidFill>
                  <a:srgbClr val="FF0000"/>
                </a:solidFill>
              </a:rPr>
              <a:t>What skills will workers need?</a:t>
            </a:r>
          </a:p>
          <a:p>
            <a:pPr marL="457200" indent="-457200">
              <a:buFont typeface="Arial" panose="020B0604020202020204" pitchFamily="34" charset="0"/>
              <a:buChar char="•"/>
            </a:pPr>
            <a:r>
              <a:rPr lang="en-US" sz="2800" b="1" dirty="0">
                <a:solidFill>
                  <a:srgbClr val="FF0000"/>
                </a:solidFill>
              </a:rPr>
              <a:t>How will the business treat its workers fairly?</a:t>
            </a:r>
          </a:p>
          <a:p>
            <a:pPr marL="457200" indent="-457200">
              <a:buFont typeface="Arial" panose="020B0604020202020204" pitchFamily="34" charset="0"/>
              <a:buChar char="•"/>
            </a:pPr>
            <a:r>
              <a:rPr lang="en-US" sz="2800" b="1" dirty="0">
                <a:solidFill>
                  <a:srgbClr val="FF0000"/>
                </a:solidFill>
              </a:rPr>
              <a:t>How will it reduce waste and protect the environment?</a:t>
            </a:r>
          </a:p>
          <a:p>
            <a:endParaRPr lang="en-US" sz="2800" dirty="0"/>
          </a:p>
          <a:p>
            <a:r>
              <a:rPr lang="en-US" sz="2000" b="1" dirty="0"/>
              <a:t>Groups present their business ideas and explain how they would support decent work and responsible economic growth.</a:t>
            </a:r>
          </a:p>
        </p:txBody>
      </p:sp>
    </p:spTree>
    <p:extLst>
      <p:ext uri="{BB962C8B-B14F-4D97-AF65-F5344CB8AC3E}">
        <p14:creationId xmlns:p14="http://schemas.microsoft.com/office/powerpoint/2010/main" val="1196635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DD055-1E7B-FA42-4CAB-E051536FEF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FA6E4C-72AF-6FE0-C31D-768B1C75971A}"/>
              </a:ext>
            </a:extLst>
          </p:cNvPr>
          <p:cNvSpPr txBox="1"/>
          <p:nvPr/>
        </p:nvSpPr>
        <p:spPr>
          <a:xfrm>
            <a:off x="520995" y="166878"/>
            <a:ext cx="11153554" cy="6555641"/>
          </a:xfrm>
          <a:prstGeom prst="rect">
            <a:avLst/>
          </a:prstGeom>
          <a:noFill/>
        </p:spPr>
        <p:txBody>
          <a:bodyPr wrap="square">
            <a:spAutoFit/>
          </a:bodyPr>
          <a:lstStyle/>
          <a:p>
            <a:pPr algn="ctr"/>
            <a:r>
              <a:rPr lang="en-US" sz="2800" b="1" dirty="0"/>
              <a:t>🏗️ SDG 9 — Industry, Innovation and Infrastructure</a:t>
            </a:r>
          </a:p>
          <a:p>
            <a:endParaRPr lang="en-US" sz="2800" b="1" dirty="0"/>
          </a:p>
          <a:p>
            <a:pPr algn="just"/>
            <a:r>
              <a:rPr lang="en-US" sz="2800" b="1" u="sng" dirty="0"/>
              <a:t>Official Goal:</a:t>
            </a:r>
            <a:r>
              <a:rPr lang="en-US" sz="2800" dirty="0"/>
              <a:t> Build resilient infrastructure, promote inclusive and sustainable industrialization and foster innovation.</a:t>
            </a:r>
          </a:p>
          <a:p>
            <a:r>
              <a:rPr lang="en-US" sz="2800" b="1" dirty="0"/>
              <a:t>What does Industry, Innovation and Infrastructure mean?</a:t>
            </a:r>
          </a:p>
          <a:p>
            <a:pPr algn="just"/>
            <a:r>
              <a:rPr lang="en-US" sz="2800" dirty="0"/>
              <a:t>	This goal focuses on building reliable systems, developing better technologies, and creating industries that support people's needs while protecting the environment.</a:t>
            </a:r>
          </a:p>
          <a:p>
            <a:r>
              <a:rPr lang="en-US" sz="2800" b="1" u="sng" dirty="0"/>
              <a:t>Let's understand the three main words:</a:t>
            </a:r>
          </a:p>
          <a:p>
            <a:pPr algn="just"/>
            <a:r>
              <a:rPr lang="en-US" sz="2800" b="1" dirty="0"/>
              <a:t>Infrastructure:</a:t>
            </a:r>
            <a:r>
              <a:rPr lang="en-US" sz="2800" dirty="0"/>
              <a:t> The essential systems and structures people use, such as roads, bridges, electricity networks, water systems, and internet connections.</a:t>
            </a:r>
          </a:p>
          <a:p>
            <a:pPr algn="just"/>
            <a:r>
              <a:rPr lang="en-US" sz="2800" b="1" dirty="0"/>
              <a:t>Industry:</a:t>
            </a:r>
            <a:r>
              <a:rPr lang="en-US" sz="2800" dirty="0"/>
              <a:t> Businesses and factories that produce goods and materials.</a:t>
            </a:r>
          </a:p>
          <a:p>
            <a:pPr algn="just"/>
            <a:r>
              <a:rPr lang="en-US" sz="2800" b="1" dirty="0"/>
              <a:t>Innovation:</a:t>
            </a:r>
            <a:r>
              <a:rPr lang="en-US" sz="2800" dirty="0"/>
              <a:t> Developing new ideas, products, or methods to solve problems or improve people's lives.</a:t>
            </a:r>
          </a:p>
        </p:txBody>
      </p:sp>
    </p:spTree>
    <p:extLst>
      <p:ext uri="{BB962C8B-B14F-4D97-AF65-F5344CB8AC3E}">
        <p14:creationId xmlns:p14="http://schemas.microsoft.com/office/powerpoint/2010/main" val="562980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A9C84-D0BB-7805-BEDF-7ABBC04295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9C0F3F-D218-B1BA-E2AD-2896673AE046}"/>
              </a:ext>
            </a:extLst>
          </p:cNvPr>
          <p:cNvSpPr txBox="1"/>
          <p:nvPr/>
        </p:nvSpPr>
        <p:spPr>
          <a:xfrm>
            <a:off x="520995" y="1889353"/>
            <a:ext cx="11153554" cy="3108543"/>
          </a:xfrm>
          <a:prstGeom prst="rect">
            <a:avLst/>
          </a:prstGeom>
          <a:noFill/>
        </p:spPr>
        <p:txBody>
          <a:bodyPr wrap="square">
            <a:spAutoFit/>
          </a:bodyPr>
          <a:lstStyle/>
          <a:p>
            <a:r>
              <a:rPr lang="en-US" sz="2800" b="1" u="sng" dirty="0"/>
              <a:t>It includes:</a:t>
            </a:r>
          </a:p>
          <a:p>
            <a:pPr marL="457200" indent="-457200">
              <a:buFont typeface="Arial" panose="020B0604020202020204" pitchFamily="34" charset="0"/>
              <a:buChar char="•"/>
            </a:pPr>
            <a:r>
              <a:rPr lang="en-US" sz="2800" b="1" dirty="0">
                <a:solidFill>
                  <a:srgbClr val="0000FF"/>
                </a:solidFill>
              </a:rPr>
              <a:t>Building safe and reliable infrastructure.</a:t>
            </a:r>
          </a:p>
          <a:p>
            <a:pPr marL="457200" indent="-457200">
              <a:buFont typeface="Arial" panose="020B0604020202020204" pitchFamily="34" charset="0"/>
              <a:buChar char="•"/>
            </a:pPr>
            <a:r>
              <a:rPr lang="en-US" sz="2800" b="1" dirty="0">
                <a:solidFill>
                  <a:srgbClr val="0000FF"/>
                </a:solidFill>
              </a:rPr>
              <a:t>Improving access to the internet and technology.</a:t>
            </a:r>
          </a:p>
          <a:p>
            <a:pPr marL="457200" indent="-457200">
              <a:buFont typeface="Arial" panose="020B0604020202020204" pitchFamily="34" charset="0"/>
              <a:buChar char="•"/>
            </a:pPr>
            <a:r>
              <a:rPr lang="en-US" sz="2800" b="1" dirty="0">
                <a:solidFill>
                  <a:srgbClr val="0000FF"/>
                </a:solidFill>
              </a:rPr>
              <a:t>Encouraging scientific research.</a:t>
            </a:r>
          </a:p>
          <a:p>
            <a:pPr marL="457200" indent="-457200">
              <a:buFont typeface="Arial" panose="020B0604020202020204" pitchFamily="34" charset="0"/>
              <a:buChar char="•"/>
            </a:pPr>
            <a:r>
              <a:rPr lang="en-US" sz="2800" b="1" dirty="0">
                <a:solidFill>
                  <a:srgbClr val="0000FF"/>
                </a:solidFill>
              </a:rPr>
              <a:t>Developing new inventions and solutions.</a:t>
            </a:r>
          </a:p>
          <a:p>
            <a:pPr marL="457200" indent="-457200">
              <a:buFont typeface="Arial" panose="020B0604020202020204" pitchFamily="34" charset="0"/>
              <a:buChar char="•"/>
            </a:pPr>
            <a:r>
              <a:rPr lang="en-US" sz="2800" b="1" dirty="0">
                <a:solidFill>
                  <a:srgbClr val="0000FF"/>
                </a:solidFill>
              </a:rPr>
              <a:t>Making factories and industries more sustainable.</a:t>
            </a:r>
          </a:p>
          <a:p>
            <a:pPr marL="457200" indent="-457200">
              <a:buFont typeface="Arial" panose="020B0604020202020204" pitchFamily="34" charset="0"/>
              <a:buChar char="•"/>
            </a:pPr>
            <a:r>
              <a:rPr lang="en-US" sz="2800" b="1" dirty="0">
                <a:solidFill>
                  <a:srgbClr val="0000FF"/>
                </a:solidFill>
              </a:rPr>
              <a:t>Helping communities access useful technologies.</a:t>
            </a:r>
          </a:p>
        </p:txBody>
      </p:sp>
    </p:spTree>
    <p:extLst>
      <p:ext uri="{BB962C8B-B14F-4D97-AF65-F5344CB8AC3E}">
        <p14:creationId xmlns:p14="http://schemas.microsoft.com/office/powerpoint/2010/main" val="3187554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ED7E6-61C2-EEBA-E3B3-CC76AB1EB3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58F7DD-B5BE-0147-1A0E-A1028B6E45CD}"/>
              </a:ext>
            </a:extLst>
          </p:cNvPr>
          <p:cNvSpPr txBox="1"/>
          <p:nvPr/>
        </p:nvSpPr>
        <p:spPr>
          <a:xfrm>
            <a:off x="520995" y="230672"/>
            <a:ext cx="11153554" cy="6432530"/>
          </a:xfrm>
          <a:prstGeom prst="rect">
            <a:avLst/>
          </a:prstGeom>
          <a:noFill/>
        </p:spPr>
        <p:txBody>
          <a:bodyPr wrap="square">
            <a:spAutoFit/>
          </a:bodyPr>
          <a:lstStyle/>
          <a:p>
            <a:pPr algn="ctr"/>
            <a:r>
              <a:rPr lang="en-US" sz="2800" b="1" dirty="0"/>
              <a:t>Why is this goal important?</a:t>
            </a:r>
          </a:p>
          <a:p>
            <a:r>
              <a:rPr lang="en-US" sz="2000" b="1" u="sng" dirty="0"/>
              <a:t>Infrastructure, industry, and innovation help people to:</a:t>
            </a:r>
            <a:endParaRPr lang="en-US" sz="2800" b="1" u="sng" dirty="0"/>
          </a:p>
          <a:p>
            <a:pPr marL="457200" indent="-457200">
              <a:buFont typeface="Arial" panose="020B0604020202020204" pitchFamily="34" charset="0"/>
              <a:buChar char="•"/>
            </a:pPr>
            <a:r>
              <a:rPr lang="en-US" sz="2800" b="1" dirty="0">
                <a:solidFill>
                  <a:srgbClr val="0000FF"/>
                </a:solidFill>
              </a:rPr>
              <a:t>Travel safely and efficiently.</a:t>
            </a:r>
          </a:p>
          <a:p>
            <a:pPr marL="457200" indent="-457200">
              <a:buFont typeface="Arial" panose="020B0604020202020204" pitchFamily="34" charset="0"/>
              <a:buChar char="•"/>
            </a:pPr>
            <a:r>
              <a:rPr lang="en-US" sz="2800" b="1" dirty="0">
                <a:solidFill>
                  <a:srgbClr val="0000FF"/>
                </a:solidFill>
              </a:rPr>
              <a:t>Access schools, hospitals, and essential services.</a:t>
            </a:r>
          </a:p>
          <a:p>
            <a:pPr marL="457200" indent="-457200">
              <a:buFont typeface="Arial" panose="020B0604020202020204" pitchFamily="34" charset="0"/>
              <a:buChar char="•"/>
            </a:pPr>
            <a:r>
              <a:rPr lang="en-US" sz="2800" b="1" dirty="0">
                <a:solidFill>
                  <a:srgbClr val="0000FF"/>
                </a:solidFill>
              </a:rPr>
              <a:t>Communicate through technology.</a:t>
            </a:r>
          </a:p>
          <a:p>
            <a:pPr marL="457200" indent="-457200">
              <a:buFont typeface="Arial" panose="020B0604020202020204" pitchFamily="34" charset="0"/>
              <a:buChar char="•"/>
            </a:pPr>
            <a:r>
              <a:rPr lang="en-US" sz="2800" b="1" dirty="0">
                <a:solidFill>
                  <a:srgbClr val="0000FF"/>
                </a:solidFill>
              </a:rPr>
              <a:t>Produce goods and create jobs.</a:t>
            </a:r>
          </a:p>
          <a:p>
            <a:pPr marL="457200" indent="-457200">
              <a:buFont typeface="Arial" panose="020B0604020202020204" pitchFamily="34" charset="0"/>
              <a:buChar char="•"/>
            </a:pPr>
            <a:r>
              <a:rPr lang="en-US" sz="2800" b="1" dirty="0">
                <a:solidFill>
                  <a:srgbClr val="0000FF"/>
                </a:solidFill>
              </a:rPr>
              <a:t>Solve environmental and social problems.</a:t>
            </a:r>
          </a:p>
          <a:p>
            <a:pPr marL="457200" indent="-457200">
              <a:buFont typeface="Arial" panose="020B0604020202020204" pitchFamily="34" charset="0"/>
              <a:buChar char="•"/>
            </a:pPr>
            <a:r>
              <a:rPr lang="en-US" sz="2800" b="1" dirty="0">
                <a:solidFill>
                  <a:srgbClr val="0000FF"/>
                </a:solidFill>
              </a:rPr>
              <a:t>Improve the quality of life in communities.</a:t>
            </a:r>
          </a:p>
          <a:p>
            <a:pPr algn="just"/>
            <a:r>
              <a:rPr lang="en-US" sz="2800" dirty="0"/>
              <a:t>	However, infrastructure and industrial development should be planned carefully to reduce pollution, protect natural resources, and include people with different needs.</a:t>
            </a:r>
          </a:p>
          <a:p>
            <a:r>
              <a:rPr lang="en-US" sz="2800" b="1" u="sng" dirty="0"/>
              <a:t>Important message for students:</a:t>
            </a:r>
          </a:p>
          <a:p>
            <a:pPr algn="just"/>
            <a:r>
              <a:rPr lang="en-US" sz="2800" dirty="0"/>
              <a:t>	Innovation means finding better ways to solve problems, while sustainable infrastructure and industries help communities develop responsibly.</a:t>
            </a:r>
          </a:p>
        </p:txBody>
      </p:sp>
    </p:spTree>
    <p:extLst>
      <p:ext uri="{BB962C8B-B14F-4D97-AF65-F5344CB8AC3E}">
        <p14:creationId xmlns:p14="http://schemas.microsoft.com/office/powerpoint/2010/main" val="2516676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97A5A-A9C7-D017-6C57-731B0CE9DC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8F5548-BDC4-0988-06F8-D031DBF4E7B6}"/>
              </a:ext>
            </a:extLst>
          </p:cNvPr>
          <p:cNvSpPr txBox="1"/>
          <p:nvPr/>
        </p:nvSpPr>
        <p:spPr>
          <a:xfrm>
            <a:off x="520995" y="1166345"/>
            <a:ext cx="11153554" cy="4549835"/>
          </a:xfrm>
          <a:prstGeom prst="rect">
            <a:avLst/>
          </a:prstGeom>
          <a:noFill/>
        </p:spPr>
        <p:txBody>
          <a:bodyPr wrap="square">
            <a:spAutoFit/>
          </a:bodyPr>
          <a:lstStyle/>
          <a:p>
            <a:r>
              <a:rPr lang="en-US" sz="2800" b="1" dirty="0"/>
              <a:t>👧 Years 4–5: Simple discussion</a:t>
            </a:r>
          </a:p>
          <a:p>
            <a:endParaRPr lang="en-US" sz="2800" dirty="0"/>
          </a:p>
          <a:p>
            <a:r>
              <a:rPr lang="en-US" sz="2800" b="1" u="sng" dirty="0"/>
              <a:t>Answer the following:</a:t>
            </a:r>
          </a:p>
          <a:p>
            <a:pPr marL="514350" indent="-514350">
              <a:lnSpc>
                <a:spcPct val="150000"/>
              </a:lnSpc>
              <a:buFont typeface="+mj-lt"/>
              <a:buAutoNum type="arabicPeriod"/>
            </a:pPr>
            <a:r>
              <a:rPr lang="en-US" sz="2800" b="1" dirty="0">
                <a:solidFill>
                  <a:srgbClr val="7030A0"/>
                </a:solidFill>
              </a:rPr>
              <a:t>What examples of infrastructure can you see in your community?</a:t>
            </a:r>
          </a:p>
          <a:p>
            <a:pPr marL="514350" indent="-514350">
              <a:lnSpc>
                <a:spcPct val="150000"/>
              </a:lnSpc>
              <a:buFont typeface="+mj-lt"/>
              <a:buAutoNum type="arabicPeriod"/>
            </a:pPr>
            <a:r>
              <a:rPr lang="en-US" sz="2800" b="1" dirty="0">
                <a:solidFill>
                  <a:srgbClr val="7030A0"/>
                </a:solidFill>
              </a:rPr>
              <a:t>Why do we need roads, bridges, and internet connections?</a:t>
            </a:r>
          </a:p>
          <a:p>
            <a:pPr marL="514350" indent="-514350">
              <a:lnSpc>
                <a:spcPct val="150000"/>
              </a:lnSpc>
              <a:buFont typeface="+mj-lt"/>
              <a:buAutoNum type="arabicPeriod"/>
            </a:pPr>
            <a:r>
              <a:rPr lang="en-US" sz="2800" b="1" dirty="0">
                <a:solidFill>
                  <a:srgbClr val="7030A0"/>
                </a:solidFill>
              </a:rPr>
              <a:t>What inventions make our lives easier?</a:t>
            </a:r>
          </a:p>
          <a:p>
            <a:pPr marL="514350" indent="-514350">
              <a:lnSpc>
                <a:spcPct val="150000"/>
              </a:lnSpc>
              <a:buFont typeface="+mj-lt"/>
              <a:buAutoNum type="arabicPeriod"/>
            </a:pPr>
            <a:r>
              <a:rPr lang="en-US" sz="2800" b="1" dirty="0">
                <a:solidFill>
                  <a:srgbClr val="7030A0"/>
                </a:solidFill>
              </a:rPr>
              <a:t>How can technology help people?</a:t>
            </a:r>
          </a:p>
          <a:p>
            <a:pPr marL="514350" indent="-514350">
              <a:lnSpc>
                <a:spcPct val="150000"/>
              </a:lnSpc>
              <a:buFont typeface="+mj-lt"/>
              <a:buAutoNum type="arabicPeriod"/>
            </a:pPr>
            <a:r>
              <a:rPr lang="en-US" sz="2800" b="1" dirty="0">
                <a:solidFill>
                  <a:srgbClr val="7030A0"/>
                </a:solidFill>
              </a:rPr>
              <a:t>How could we improve something in our school?</a:t>
            </a:r>
          </a:p>
        </p:txBody>
      </p:sp>
    </p:spTree>
    <p:extLst>
      <p:ext uri="{BB962C8B-B14F-4D97-AF65-F5344CB8AC3E}">
        <p14:creationId xmlns:p14="http://schemas.microsoft.com/office/powerpoint/2010/main" val="1508427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25D03-AEA7-A161-0E9F-362598E318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23BE82-2F64-4DEC-AACC-C134EF198E49}"/>
              </a:ext>
            </a:extLst>
          </p:cNvPr>
          <p:cNvSpPr txBox="1"/>
          <p:nvPr/>
        </p:nvSpPr>
        <p:spPr>
          <a:xfrm>
            <a:off x="520995" y="1155711"/>
            <a:ext cx="11153554" cy="4549835"/>
          </a:xfrm>
          <a:prstGeom prst="rect">
            <a:avLst/>
          </a:prstGeom>
          <a:noFill/>
        </p:spPr>
        <p:txBody>
          <a:bodyPr wrap="square">
            <a:spAutoFit/>
          </a:bodyPr>
          <a:lstStyle/>
          <a:p>
            <a:r>
              <a:rPr lang="en-US" sz="2800" b="1" dirty="0"/>
              <a:t>🧑 Years 6–8: Deeper discussion</a:t>
            </a:r>
          </a:p>
          <a:p>
            <a:endParaRPr lang="en-US" sz="2800" dirty="0"/>
          </a:p>
          <a:p>
            <a:r>
              <a:rPr lang="en-US" sz="2800" b="1" u="sng" dirty="0"/>
              <a:t>Answer the following:</a:t>
            </a:r>
          </a:p>
          <a:p>
            <a:pPr marL="514350" indent="-514350">
              <a:lnSpc>
                <a:spcPct val="150000"/>
              </a:lnSpc>
              <a:buFont typeface="+mj-lt"/>
              <a:buAutoNum type="arabicPeriod"/>
            </a:pPr>
            <a:r>
              <a:rPr lang="en-US" sz="2800" b="1" dirty="0">
                <a:solidFill>
                  <a:srgbClr val="7030A0"/>
                </a:solidFill>
              </a:rPr>
              <a:t>How can innovation help solve global problems?</a:t>
            </a:r>
          </a:p>
          <a:p>
            <a:pPr marL="514350" indent="-514350">
              <a:lnSpc>
                <a:spcPct val="150000"/>
              </a:lnSpc>
              <a:buFont typeface="+mj-lt"/>
              <a:buAutoNum type="arabicPeriod"/>
            </a:pPr>
            <a:r>
              <a:rPr lang="en-US" sz="2800" b="1" dirty="0">
                <a:solidFill>
                  <a:srgbClr val="7030A0"/>
                </a:solidFill>
              </a:rPr>
              <a:t>Why is reliable internet access important for education?</a:t>
            </a:r>
          </a:p>
          <a:p>
            <a:pPr marL="514350" indent="-514350">
              <a:lnSpc>
                <a:spcPct val="150000"/>
              </a:lnSpc>
              <a:buFont typeface="+mj-lt"/>
              <a:buAutoNum type="arabicPeriod"/>
            </a:pPr>
            <a:r>
              <a:rPr lang="en-US" sz="2800" b="1" dirty="0">
                <a:solidFill>
                  <a:srgbClr val="7030A0"/>
                </a:solidFill>
              </a:rPr>
              <a:t>What makes infrastructure resilient?</a:t>
            </a:r>
          </a:p>
          <a:p>
            <a:pPr marL="514350" indent="-514350">
              <a:lnSpc>
                <a:spcPct val="150000"/>
              </a:lnSpc>
              <a:buFont typeface="+mj-lt"/>
              <a:buAutoNum type="arabicPeriod"/>
            </a:pPr>
            <a:r>
              <a:rPr lang="en-US" sz="2800" b="1" dirty="0">
                <a:solidFill>
                  <a:srgbClr val="7030A0"/>
                </a:solidFill>
              </a:rPr>
              <a:t>How can factories reduce pollution and waste?</a:t>
            </a:r>
          </a:p>
          <a:p>
            <a:pPr marL="514350" indent="-514350">
              <a:lnSpc>
                <a:spcPct val="150000"/>
              </a:lnSpc>
              <a:buFont typeface="+mj-lt"/>
              <a:buAutoNum type="arabicPeriod"/>
            </a:pPr>
            <a:r>
              <a:rPr lang="en-US" sz="2800" b="1" dirty="0">
                <a:solidFill>
                  <a:srgbClr val="7030A0"/>
                </a:solidFill>
              </a:rPr>
              <a:t>Should new technologies be available to everyone? Why?</a:t>
            </a:r>
          </a:p>
        </p:txBody>
      </p:sp>
    </p:spTree>
    <p:extLst>
      <p:ext uri="{BB962C8B-B14F-4D97-AF65-F5344CB8AC3E}">
        <p14:creationId xmlns:p14="http://schemas.microsoft.com/office/powerpoint/2010/main" val="3089816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434B3-98ED-798F-99BA-870AA5A313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02B024-9F84-A243-5C72-DCF8048B7E60}"/>
              </a:ext>
            </a:extLst>
          </p:cNvPr>
          <p:cNvSpPr txBox="1"/>
          <p:nvPr/>
        </p:nvSpPr>
        <p:spPr>
          <a:xfrm>
            <a:off x="520995" y="921806"/>
            <a:ext cx="11153554" cy="5016758"/>
          </a:xfrm>
          <a:prstGeom prst="rect">
            <a:avLst/>
          </a:prstGeom>
          <a:noFill/>
        </p:spPr>
        <p:txBody>
          <a:bodyPr wrap="square">
            <a:spAutoFit/>
          </a:bodyPr>
          <a:lstStyle/>
          <a:p>
            <a:pPr algn="ctr"/>
            <a:r>
              <a:rPr lang="en-US" sz="2800" b="1" dirty="0"/>
              <a:t>💡 Classroom activity: Invent to Improve</a:t>
            </a:r>
          </a:p>
          <a:p>
            <a:endParaRPr lang="en-US" sz="2800" dirty="0"/>
          </a:p>
          <a:p>
            <a:r>
              <a:rPr lang="en-US" sz="2000" b="1" dirty="0"/>
              <a:t>Students identify a problem in their school or community and design an invention or improvement to address it.</a:t>
            </a:r>
          </a:p>
          <a:p>
            <a:endParaRPr lang="en-US" sz="2800" dirty="0"/>
          </a:p>
          <a:p>
            <a:r>
              <a:rPr lang="en-US" sz="2800" b="1" u="sng" dirty="0"/>
              <a:t>Possible challenges include:</a:t>
            </a:r>
          </a:p>
          <a:p>
            <a:pPr marL="457200" indent="-457200">
              <a:buFont typeface="Arial" panose="020B0604020202020204" pitchFamily="34" charset="0"/>
              <a:buChar char="•"/>
            </a:pPr>
            <a:r>
              <a:rPr lang="en-US" sz="2800" b="1" dirty="0">
                <a:solidFill>
                  <a:srgbClr val="FF0000"/>
                </a:solidFill>
              </a:rPr>
              <a:t>Reducing plastic waste.</a:t>
            </a:r>
          </a:p>
          <a:p>
            <a:pPr marL="457200" indent="-457200">
              <a:buFont typeface="Arial" panose="020B0604020202020204" pitchFamily="34" charset="0"/>
              <a:buChar char="•"/>
            </a:pPr>
            <a:r>
              <a:rPr lang="en-US" sz="2800" b="1" dirty="0">
                <a:solidFill>
                  <a:srgbClr val="FF0000"/>
                </a:solidFill>
              </a:rPr>
              <a:t>Saving water.</a:t>
            </a:r>
          </a:p>
          <a:p>
            <a:pPr marL="457200" indent="-457200">
              <a:buFont typeface="Arial" panose="020B0604020202020204" pitchFamily="34" charset="0"/>
              <a:buChar char="•"/>
            </a:pPr>
            <a:r>
              <a:rPr lang="en-US" sz="2800" b="1" dirty="0">
                <a:solidFill>
                  <a:srgbClr val="FF0000"/>
                </a:solidFill>
              </a:rPr>
              <a:t>Improving school accessibility.</a:t>
            </a:r>
          </a:p>
          <a:p>
            <a:pPr marL="457200" indent="-457200">
              <a:buFont typeface="Arial" panose="020B0604020202020204" pitchFamily="34" charset="0"/>
              <a:buChar char="•"/>
            </a:pPr>
            <a:r>
              <a:rPr lang="en-US" sz="2800" b="1" dirty="0">
                <a:solidFill>
                  <a:srgbClr val="FF0000"/>
                </a:solidFill>
              </a:rPr>
              <a:t>Reducing electricity use.</a:t>
            </a:r>
          </a:p>
          <a:p>
            <a:pPr marL="457200" indent="-457200">
              <a:buFont typeface="Arial" panose="020B0604020202020204" pitchFamily="34" charset="0"/>
              <a:buChar char="•"/>
            </a:pPr>
            <a:r>
              <a:rPr lang="en-US" sz="2800" b="1" dirty="0">
                <a:solidFill>
                  <a:srgbClr val="FF0000"/>
                </a:solidFill>
              </a:rPr>
              <a:t>Making school transport safer.</a:t>
            </a:r>
          </a:p>
          <a:p>
            <a:pPr marL="457200" indent="-457200">
              <a:buFont typeface="Arial" panose="020B0604020202020204" pitchFamily="34" charset="0"/>
              <a:buChar char="•"/>
            </a:pPr>
            <a:r>
              <a:rPr lang="en-US" sz="2800" b="1" dirty="0">
                <a:solidFill>
                  <a:srgbClr val="FF0000"/>
                </a:solidFill>
              </a:rPr>
              <a:t>Improving access to learning technology.</a:t>
            </a:r>
          </a:p>
        </p:txBody>
      </p:sp>
    </p:spTree>
    <p:extLst>
      <p:ext uri="{BB962C8B-B14F-4D97-AF65-F5344CB8AC3E}">
        <p14:creationId xmlns:p14="http://schemas.microsoft.com/office/powerpoint/2010/main" val="1917144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2AED1-3204-5BAE-6FF0-56BA4BC5C6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DE3CDF-09B8-3084-BBB7-2331411F7B50}"/>
              </a:ext>
            </a:extLst>
          </p:cNvPr>
          <p:cNvSpPr txBox="1"/>
          <p:nvPr/>
        </p:nvSpPr>
        <p:spPr>
          <a:xfrm>
            <a:off x="520995" y="1676719"/>
            <a:ext cx="11153554" cy="3539430"/>
          </a:xfrm>
          <a:prstGeom prst="rect">
            <a:avLst/>
          </a:prstGeom>
          <a:noFill/>
        </p:spPr>
        <p:txBody>
          <a:bodyPr wrap="square">
            <a:spAutoFit/>
          </a:bodyPr>
          <a:lstStyle/>
          <a:p>
            <a:r>
              <a:rPr lang="en-US" sz="2800" b="1" u="sng" dirty="0"/>
              <a:t>Each group prepares a simple drawing or model and explains:</a:t>
            </a:r>
          </a:p>
          <a:p>
            <a:pPr marL="514350" indent="-514350">
              <a:buFont typeface="+mj-lt"/>
              <a:buAutoNum type="arabicPeriod"/>
            </a:pPr>
            <a:r>
              <a:rPr lang="en-US" sz="2800" b="1" dirty="0">
                <a:solidFill>
                  <a:srgbClr val="C00000"/>
                </a:solidFill>
              </a:rPr>
              <a:t>What problem are you trying to solve?</a:t>
            </a:r>
          </a:p>
          <a:p>
            <a:pPr marL="514350" indent="-514350">
              <a:buFont typeface="+mj-lt"/>
              <a:buAutoNum type="arabicPeriod"/>
            </a:pPr>
            <a:r>
              <a:rPr lang="en-US" sz="2800" b="1" dirty="0">
                <a:solidFill>
                  <a:srgbClr val="C00000"/>
                </a:solidFill>
              </a:rPr>
              <a:t>Who will benefit from your idea?</a:t>
            </a:r>
          </a:p>
          <a:p>
            <a:pPr marL="514350" indent="-514350">
              <a:buFont typeface="+mj-lt"/>
              <a:buAutoNum type="arabicPeriod"/>
            </a:pPr>
            <a:r>
              <a:rPr lang="en-US" sz="2800" b="1" dirty="0">
                <a:solidFill>
                  <a:srgbClr val="C00000"/>
                </a:solidFill>
              </a:rPr>
              <a:t>How will your invention or improvement work?</a:t>
            </a:r>
          </a:p>
          <a:p>
            <a:pPr marL="514350" indent="-514350">
              <a:buFont typeface="+mj-lt"/>
              <a:buAutoNum type="arabicPeriod"/>
            </a:pPr>
            <a:r>
              <a:rPr lang="en-US" sz="2800" b="1" dirty="0">
                <a:solidFill>
                  <a:srgbClr val="C00000"/>
                </a:solidFill>
              </a:rPr>
              <a:t>What materials or technology will you need?</a:t>
            </a:r>
          </a:p>
          <a:p>
            <a:pPr marL="514350" indent="-514350">
              <a:buFont typeface="+mj-lt"/>
              <a:buAutoNum type="arabicPeriod"/>
            </a:pPr>
            <a:r>
              <a:rPr lang="en-US" sz="2800" b="1" dirty="0">
                <a:solidFill>
                  <a:srgbClr val="C00000"/>
                </a:solidFill>
              </a:rPr>
              <a:t>How could it help people and protect the environment?</a:t>
            </a:r>
          </a:p>
          <a:p>
            <a:endParaRPr lang="en-US" sz="2800" dirty="0"/>
          </a:p>
          <a:p>
            <a:pPr algn="r"/>
            <a:r>
              <a:rPr lang="en-US" sz="2000" b="1" dirty="0"/>
              <a:t>Groups present their ideas to the class.</a:t>
            </a:r>
            <a:endParaRPr lang="en-US" sz="2800" b="1" dirty="0"/>
          </a:p>
        </p:txBody>
      </p:sp>
    </p:spTree>
    <p:extLst>
      <p:ext uri="{BB962C8B-B14F-4D97-AF65-F5344CB8AC3E}">
        <p14:creationId xmlns:p14="http://schemas.microsoft.com/office/powerpoint/2010/main" val="2021037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88B79-061C-811D-B723-A2153ABB15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C55796-9DAB-6E9D-AB25-4CAF07EEA82E}"/>
              </a:ext>
            </a:extLst>
          </p:cNvPr>
          <p:cNvSpPr txBox="1"/>
          <p:nvPr/>
        </p:nvSpPr>
        <p:spPr>
          <a:xfrm>
            <a:off x="520995" y="156243"/>
            <a:ext cx="11153554" cy="6555641"/>
          </a:xfrm>
          <a:prstGeom prst="rect">
            <a:avLst/>
          </a:prstGeom>
          <a:noFill/>
        </p:spPr>
        <p:txBody>
          <a:bodyPr wrap="square">
            <a:spAutoFit/>
          </a:bodyPr>
          <a:lstStyle/>
          <a:p>
            <a:pPr algn="ctr"/>
            <a:r>
              <a:rPr lang="en-US" sz="2800" b="1" dirty="0"/>
              <a:t>🔗 Connecting SDGs 7–9</a:t>
            </a:r>
          </a:p>
          <a:p>
            <a:endParaRPr lang="en-US" sz="2800" b="1" dirty="0"/>
          </a:p>
          <a:p>
            <a:pPr algn="ctr"/>
            <a:r>
              <a:rPr lang="en-US" sz="2800" b="1" dirty="0">
                <a:solidFill>
                  <a:srgbClr val="C00000"/>
                </a:solidFill>
              </a:rPr>
              <a:t>One of the most important skills in Global Perspectives is understanding that global issues are connected.</a:t>
            </a:r>
          </a:p>
          <a:p>
            <a:r>
              <a:rPr lang="en-US" sz="2800" b="1" dirty="0"/>
              <a:t>⚡ SDG 7 — Affordable and Clean Energy</a:t>
            </a:r>
          </a:p>
          <a:p>
            <a:r>
              <a:rPr lang="en-US" sz="2800" dirty="0"/>
              <a:t>Clean and reliable energy powers homes, schools, hospitals, and businesses.</a:t>
            </a:r>
          </a:p>
          <a:p>
            <a:endParaRPr lang="en-US" sz="2800" b="1" dirty="0"/>
          </a:p>
          <a:p>
            <a:r>
              <a:rPr lang="en-US" sz="2800" b="1" dirty="0"/>
              <a:t>💼 SDG 8 — Decent Work and Economic Growth</a:t>
            </a:r>
          </a:p>
          <a:p>
            <a:r>
              <a:rPr lang="en-US" sz="2800" dirty="0"/>
              <a:t>Reliable energy and good infrastructure can support businesses, create jobs, and improve working conditions.</a:t>
            </a:r>
          </a:p>
          <a:p>
            <a:endParaRPr lang="en-US" sz="2800" b="1" dirty="0"/>
          </a:p>
          <a:p>
            <a:r>
              <a:rPr lang="en-US" sz="2800" b="1" dirty="0"/>
              <a:t>🏗️ SDG 9 — Industry, Innovation and Infrastructure</a:t>
            </a:r>
          </a:p>
          <a:p>
            <a:r>
              <a:rPr lang="en-US" sz="2800" dirty="0"/>
              <a:t>Innovation and sustainable infrastructure can improve energy systems, support businesses, and create new solutions to global challenges.</a:t>
            </a:r>
          </a:p>
        </p:txBody>
      </p:sp>
    </p:spTree>
    <p:extLst>
      <p:ext uri="{BB962C8B-B14F-4D97-AF65-F5344CB8AC3E}">
        <p14:creationId xmlns:p14="http://schemas.microsoft.com/office/powerpoint/2010/main" val="455200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874C8-94E3-3C40-E0B3-5CB9FC2994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88EF53-56DB-75AE-5222-688505759338}"/>
              </a:ext>
            </a:extLst>
          </p:cNvPr>
          <p:cNvSpPr txBox="1"/>
          <p:nvPr/>
        </p:nvSpPr>
        <p:spPr>
          <a:xfrm>
            <a:off x="520995" y="1145065"/>
            <a:ext cx="11153554" cy="4585871"/>
          </a:xfrm>
          <a:prstGeom prst="rect">
            <a:avLst/>
          </a:prstGeom>
          <a:noFill/>
        </p:spPr>
        <p:txBody>
          <a:bodyPr wrap="square">
            <a:spAutoFit/>
          </a:bodyPr>
          <a:lstStyle/>
          <a:p>
            <a:pPr algn="ctr"/>
            <a:r>
              <a:rPr lang="en-US" sz="2800" b="1" dirty="0"/>
              <a:t>🌍 Global Perspectives question</a:t>
            </a:r>
          </a:p>
          <a:p>
            <a:endParaRPr lang="en-US" sz="2800" dirty="0"/>
          </a:p>
          <a:p>
            <a:pPr algn="ctr"/>
            <a:r>
              <a:rPr lang="en-US" sz="2800" b="1" dirty="0">
                <a:solidFill>
                  <a:srgbClr val="FF0000"/>
                </a:solidFill>
              </a:rPr>
              <a:t>How can clean energy, decent work, and innovation work together to improve people's lives?</a:t>
            </a:r>
          </a:p>
          <a:p>
            <a:endParaRPr lang="en-US" sz="2800" dirty="0"/>
          </a:p>
          <a:p>
            <a:endParaRPr lang="en-US" sz="2800" dirty="0"/>
          </a:p>
          <a:p>
            <a:endParaRPr lang="en-US" sz="2800" dirty="0"/>
          </a:p>
          <a:p>
            <a:endParaRPr lang="en-US" sz="2800" dirty="0"/>
          </a:p>
          <a:p>
            <a:endParaRPr lang="en-US" sz="2800" dirty="0"/>
          </a:p>
          <a:p>
            <a:pPr algn="just"/>
            <a:r>
              <a:rPr lang="en-US" sz="2000" b="1" dirty="0"/>
              <a:t>You have to consider different perspectives, such as those of workers, business owners, governments, local communities, and the environment.</a:t>
            </a:r>
          </a:p>
        </p:txBody>
      </p:sp>
    </p:spTree>
    <p:extLst>
      <p:ext uri="{BB962C8B-B14F-4D97-AF65-F5344CB8AC3E}">
        <p14:creationId xmlns:p14="http://schemas.microsoft.com/office/powerpoint/2010/main" val="2461479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2473</TotalTime>
  <Words>1493</Words>
  <Application>Microsoft Office PowerPoint</Application>
  <PresentationFormat>Widescreen</PresentationFormat>
  <Paragraphs>188</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 SDGs 7–9: Teaching Guide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Hatem Mohamed Hassan</dc:creator>
  <cp:lastModifiedBy>Hatem Mohamed Hassan</cp:lastModifiedBy>
  <cp:revision>115</cp:revision>
  <dcterms:created xsi:type="dcterms:W3CDTF">2026-09-10T08:43:43Z</dcterms:created>
  <dcterms:modified xsi:type="dcterms:W3CDTF">2026-10-29T07:27:45Z</dcterms:modified>
</cp:coreProperties>
</file>