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0" d="100"/>
          <a:sy n="60" d="100"/>
        </p:scale>
        <p:origin x="816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EAF17-783F-3086-9498-25BCDFAC90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C809E7-51EE-4D85-B463-A27542B0F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F8A82E-254C-AECC-044F-6DFB9BC07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08423-990B-40C3-A486-A2783CADA6D1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CE13D-3685-E7A7-B1F4-22F578AF0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BB320-DC0D-31FF-39B0-0D35016AC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28595-8694-4CC5-92E6-C9A9343CD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AE38C-3EBB-A97A-5195-D43FB20CE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03B11-E369-AB69-24FC-25CF5CE38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D7874-7005-9728-DB77-6B57C8887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08423-990B-40C3-A486-A2783CADA6D1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54DF3-B282-00F1-0136-DEA6F34AF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C9087-207A-D00A-D119-A649F767B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28595-8694-4CC5-92E6-C9A9343CD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596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43CB9-6C6F-1904-4605-A35AD3C4E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E59373-8B35-6E5E-E848-75C3AA3E09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61BA3-EF22-A3BE-50FA-A791B6609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08423-990B-40C3-A486-A2783CADA6D1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C982A-38C1-2B13-2050-1FAF85184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C786D-8A85-1349-32D8-ECAE93EAA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28595-8694-4CC5-92E6-C9A9343CD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941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05E97-E52C-B812-547C-E2FD1E842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098F4-2CFB-479B-B126-6F95FF46C4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BFD2E4-CE0B-36B0-43D2-7AC3388F97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99D062-355D-63E9-28F6-8EC0EA581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08423-990B-40C3-A486-A2783CADA6D1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C742BF-3C04-DB77-7BC9-EFD8B2CF2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4826E5-088C-BF58-28B7-F8DA7D9D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28595-8694-4CC5-92E6-C9A9343CD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03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E1747-2BB9-3503-FCC0-7CCF9F971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0556DE-AE27-14F1-EC12-0BAE270B09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F8DE2A-18D4-D61B-00FD-259DDC1BB7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860192-9EC7-2A0C-0113-A8BB9EA359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49CA03-90BF-4FA3-C4E3-AC5D904DF8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71CDBE-EC47-8423-DE55-C9C86361A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08423-990B-40C3-A486-A2783CADA6D1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732EBE-31DC-6693-5A51-B8BD64D3D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E5D59C-7316-349E-55A6-A7D84E997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28595-8694-4CC5-92E6-C9A9343CD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875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173E6-82B2-CFB1-9702-BBF3917D5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E42654-6C12-5CE5-AB63-E1E1B6703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08423-990B-40C3-A486-A2783CADA6D1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9C5713-B008-DD35-3529-2503D223E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F75030-7C93-0E54-3B12-7BB9DD11B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28595-8694-4CC5-92E6-C9A9343CD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911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5B88C9-35B8-6702-00F5-058C6247E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08423-990B-40C3-A486-A2783CADA6D1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3785C9-7C0F-9CDD-E7FF-EFABE5AFA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6E6E29-6425-F6C7-1FD8-F871DDB6E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28595-8694-4CC5-92E6-C9A9343CD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470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A6D32-B3B1-7705-0CA8-E7F91769C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60547-3206-6AE8-F0B9-E7EDB2CEB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2B7E58-C363-F939-F07D-67603CD41C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1CFA28-99E6-46D3-FCF0-334C75A7A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08423-990B-40C3-A486-A2783CADA6D1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748B5C-5D0D-00B6-BB75-F2C5C2FA0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C49EEC-9D4E-5DF8-343B-3C94E96AA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28595-8694-4CC5-92E6-C9A9343CD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785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CA4E2-DEAB-743E-733E-DBDCE197D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709DBB-F4F5-2BAE-B965-F8A00BDCAE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036D96-245D-6ACE-2FC0-3F463C99A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3A918C-04F6-EE25-0127-8F7786864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08423-990B-40C3-A486-A2783CADA6D1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324772-25C3-019A-06D2-32B6C026D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6F3553-1600-D305-8ACD-278A136EA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28595-8694-4CC5-92E6-C9A9343CD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848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16B04-491E-76ED-3B09-397F233FE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8BACE9-835D-C19F-7A0E-E1E9396CE5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791FE-6FC4-668F-EED2-0F6562AF2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08423-990B-40C3-A486-A2783CADA6D1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CED6A-038D-B0EC-88F7-D14A43370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F4FEA-55C2-DED1-95F7-5BD29C41F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28595-8694-4CC5-92E6-C9A9343CD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073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5CD580-7CF0-DE07-F236-DDD79480EA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420120-FA46-2248-4508-302F8C9C6A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888DB6-C6A8-05C9-4F8E-DBE8D54E4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08423-990B-40C3-A486-A2783CADA6D1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80A3B-5980-7B30-456D-27EB412D3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4853A-998C-D558-6B44-013615603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28595-8694-4CC5-92E6-C9A9343CD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069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E48BDD-632F-1271-9042-16B4EC0D1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FC46A-3F49-E98A-F88A-644AC52D4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8226D-94C0-88E9-E791-9164B6E31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B08423-990B-40C3-A486-A2783CADA6D1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BE79E-25F3-B434-4966-1A6800CB60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C2007-74AE-76B0-D8E9-75A57D1CB7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E28595-8694-4CC5-92E6-C9A9343CD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875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8B4F0-42E3-9EF5-5E0E-81817FE990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US" sz="6600" dirty="0"/>
              <a:t>🌍 </a:t>
            </a:r>
            <a:r>
              <a:rPr lang="en-US" sz="8000" b="1" dirty="0"/>
              <a:t>SDGs 1–3: Teaching Guide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5E631E-EF23-7408-0901-913D0BA141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76199"/>
            <a:ext cx="9144000" cy="1655762"/>
          </a:xfrm>
        </p:spPr>
        <p:txBody>
          <a:bodyPr/>
          <a:lstStyle/>
          <a:p>
            <a:r>
              <a:rPr lang="en-US" sz="4800" b="1"/>
              <a:t>MEIS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15286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F1F411-9E48-DD14-215A-808DF5571AE8}"/>
              </a:ext>
            </a:extLst>
          </p:cNvPr>
          <p:cNvSpPr txBox="1"/>
          <p:nvPr/>
        </p:nvSpPr>
        <p:spPr>
          <a:xfrm>
            <a:off x="520995" y="358266"/>
            <a:ext cx="11153554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SDG 1 — No Poverty</a:t>
            </a:r>
            <a:endParaRPr lang="en-US" sz="2800" b="1" dirty="0"/>
          </a:p>
          <a:p>
            <a:r>
              <a:rPr lang="en-US" sz="2800" b="1" dirty="0"/>
              <a:t>Official Goal:</a:t>
            </a:r>
            <a:r>
              <a:rPr lang="en-US" sz="2800" dirty="0"/>
              <a:t> </a:t>
            </a:r>
            <a:r>
              <a:rPr lang="en-US" sz="2800" i="1" dirty="0"/>
              <a:t>End poverty in all its forms everywhere.</a:t>
            </a:r>
            <a:endParaRPr lang="en-US" sz="2800" dirty="0"/>
          </a:p>
          <a:p>
            <a:endParaRPr lang="en-US" sz="2800" b="1" dirty="0"/>
          </a:p>
          <a:p>
            <a:r>
              <a:rPr lang="en-US" sz="2800" b="1" dirty="0"/>
              <a:t>What does poverty mean?</a:t>
            </a:r>
          </a:p>
          <a:p>
            <a:r>
              <a:rPr lang="en-US" sz="2800" dirty="0"/>
              <a:t>Poverty means </a:t>
            </a:r>
            <a:r>
              <a:rPr lang="en-US" sz="2800" b="1" dirty="0"/>
              <a:t>not having enough resources to meet basic needs</a:t>
            </a:r>
            <a:r>
              <a:rPr lang="en-US" sz="2800" dirty="0"/>
              <a:t>, such as: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Food and clean water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A safe place to live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Clothing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Healthcare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Education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Opportunities to work and earn money </a:t>
            </a:r>
          </a:p>
          <a:p>
            <a:pPr algn="just"/>
            <a:r>
              <a:rPr lang="en-US" sz="2800" dirty="0"/>
              <a:t>	Poverty doesn’t look the same everywhere. Some people may have difficulty meeting basic needs, while others may have access to some necessities but still struggle financially.</a:t>
            </a:r>
          </a:p>
        </p:txBody>
      </p:sp>
    </p:spTree>
    <p:extLst>
      <p:ext uri="{BB962C8B-B14F-4D97-AF65-F5344CB8AC3E}">
        <p14:creationId xmlns:p14="http://schemas.microsoft.com/office/powerpoint/2010/main" val="3105493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8B197-0A87-9086-8198-86D1EF3AA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502DE6-5700-61D5-F7BF-70FD909C47FD}"/>
              </a:ext>
            </a:extLst>
          </p:cNvPr>
          <p:cNvSpPr txBox="1"/>
          <p:nvPr/>
        </p:nvSpPr>
        <p:spPr>
          <a:xfrm>
            <a:off x="520995" y="772944"/>
            <a:ext cx="11153554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Why is ending poverty important?</a:t>
            </a:r>
            <a:endParaRPr lang="en-US" sz="2800" b="1" dirty="0"/>
          </a:p>
          <a:p>
            <a:endParaRPr lang="en-US" sz="2800" dirty="0"/>
          </a:p>
          <a:p>
            <a:r>
              <a:rPr lang="en-US" sz="2800" b="1" u="sng" dirty="0"/>
              <a:t>Poverty can make it difficult for people to: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go to school regularly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get proper healthcare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have enough nutritious food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find safe housing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find opportunities to improve their lives </a:t>
            </a:r>
          </a:p>
          <a:p>
            <a:endParaRPr lang="en-US" sz="2800" b="1" dirty="0"/>
          </a:p>
          <a:p>
            <a:r>
              <a:rPr lang="en-US" sz="2800" b="1" u="sng" dirty="0"/>
              <a:t>Important message for students:</a:t>
            </a:r>
            <a:endParaRPr lang="en-US" sz="2800" u="sng" dirty="0"/>
          </a:p>
          <a:p>
            <a:pPr algn="just"/>
            <a:r>
              <a:rPr lang="en-US" sz="2800" dirty="0"/>
              <a:t>	Poverty is a global issue, and communities and governments can work together to create opportunities and support people in need.</a:t>
            </a:r>
          </a:p>
        </p:txBody>
      </p:sp>
    </p:spTree>
    <p:extLst>
      <p:ext uri="{BB962C8B-B14F-4D97-AF65-F5344CB8AC3E}">
        <p14:creationId xmlns:p14="http://schemas.microsoft.com/office/powerpoint/2010/main" val="2071955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89DD2-AF90-D6DF-CCDC-CA1F5A1B9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853820-B80B-20A7-38BC-44FB6EBC1BB5}"/>
              </a:ext>
            </a:extLst>
          </p:cNvPr>
          <p:cNvSpPr txBox="1"/>
          <p:nvPr/>
        </p:nvSpPr>
        <p:spPr>
          <a:xfrm>
            <a:off x="520995" y="1495969"/>
            <a:ext cx="11153554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👧 Years 4–5: Simple discussion</a:t>
            </a:r>
          </a:p>
          <a:p>
            <a:endParaRPr lang="en-US" sz="2800" dirty="0"/>
          </a:p>
          <a:p>
            <a:r>
              <a:rPr lang="en-US" sz="2800" b="1" u="sng" dirty="0"/>
              <a:t>Ask students: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What things do people need to live safely and happily?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What is the difference between a </a:t>
            </a:r>
            <a:r>
              <a:rPr lang="en-US" sz="2800" b="1" dirty="0">
                <a:solidFill>
                  <a:srgbClr val="7030A0"/>
                </a:solidFill>
                <a:highlight>
                  <a:srgbClr val="FFFF00"/>
                </a:highlight>
              </a:rPr>
              <a:t>need</a:t>
            </a:r>
            <a:r>
              <a:rPr lang="en-US" sz="2800" b="1" dirty="0">
                <a:solidFill>
                  <a:srgbClr val="7030A0"/>
                </a:solidFill>
              </a:rPr>
              <a:t> and a </a:t>
            </a:r>
            <a:r>
              <a:rPr lang="en-US" sz="2800" b="1" dirty="0">
                <a:solidFill>
                  <a:srgbClr val="7030A0"/>
                </a:solidFill>
                <a:highlight>
                  <a:srgbClr val="FFFF00"/>
                </a:highlight>
              </a:rPr>
              <a:t>want</a:t>
            </a:r>
            <a:r>
              <a:rPr lang="en-US" sz="2800" b="1" dirty="0">
                <a:solidFill>
                  <a:srgbClr val="7030A0"/>
                </a:solidFill>
              </a:rPr>
              <a:t>?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How can a community help someone who needs support?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Why is education important for people's future?</a:t>
            </a:r>
          </a:p>
        </p:txBody>
      </p:sp>
    </p:spTree>
    <p:extLst>
      <p:ext uri="{BB962C8B-B14F-4D97-AF65-F5344CB8AC3E}">
        <p14:creationId xmlns:p14="http://schemas.microsoft.com/office/powerpoint/2010/main" val="3982225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A1C85-362A-D7DE-4866-A5F37A451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4DB3CE-D2F1-B7F7-AE03-1302D70379D1}"/>
              </a:ext>
            </a:extLst>
          </p:cNvPr>
          <p:cNvSpPr txBox="1"/>
          <p:nvPr/>
        </p:nvSpPr>
        <p:spPr>
          <a:xfrm>
            <a:off x="520995" y="1155716"/>
            <a:ext cx="11153554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🧑 </a:t>
            </a:r>
            <a:r>
              <a:rPr lang="en-US" sz="2800" b="1" dirty="0"/>
              <a:t>Years 6–8: Deeper discussion</a:t>
            </a:r>
          </a:p>
          <a:p>
            <a:endParaRPr lang="en-US" sz="2800" dirty="0"/>
          </a:p>
          <a:p>
            <a:r>
              <a:rPr lang="en-US" sz="2800" b="1" u="sng" dirty="0"/>
              <a:t>Ask Students: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What are some possible causes of poverty?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How can education help reduce poverty?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How can governments and communities support people experiencing poverty?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Is poverty only about money? Why or why not?</a:t>
            </a:r>
          </a:p>
        </p:txBody>
      </p:sp>
    </p:spTree>
    <p:extLst>
      <p:ext uri="{BB962C8B-B14F-4D97-AF65-F5344CB8AC3E}">
        <p14:creationId xmlns:p14="http://schemas.microsoft.com/office/powerpoint/2010/main" val="1548659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7A985-16CB-4D3E-6848-2F75A7DC8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2DF459-DD6D-7085-315D-9C007D4586F3}"/>
              </a:ext>
            </a:extLst>
          </p:cNvPr>
          <p:cNvSpPr txBox="1"/>
          <p:nvPr/>
        </p:nvSpPr>
        <p:spPr>
          <a:xfrm>
            <a:off x="520995" y="347638"/>
            <a:ext cx="11153554" cy="6047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💡 Classroom activity: </a:t>
            </a:r>
            <a:r>
              <a:rPr lang="en-US" sz="2800" b="1" dirty="0">
                <a:highlight>
                  <a:srgbClr val="FFFF00"/>
                </a:highlight>
              </a:rPr>
              <a:t>Needs vs Wants</a:t>
            </a:r>
          </a:p>
          <a:p>
            <a:endParaRPr lang="en-US" sz="1100" dirty="0"/>
          </a:p>
          <a:p>
            <a:r>
              <a:rPr lang="en-US" sz="2000" dirty="0"/>
              <a:t>Give students a list of items such as:</a:t>
            </a:r>
            <a:endParaRPr lang="en-US" sz="2800" dirty="0"/>
          </a:p>
          <a:p>
            <a:endParaRPr lang="en-US" sz="2800" b="1" dirty="0"/>
          </a:p>
          <a:p>
            <a:pPr algn="ctr"/>
            <a:r>
              <a:rPr lang="en-US" sz="2800" b="1" dirty="0"/>
              <a:t>food, smartphone, clean water, expensive shoes, healthcare, education, toys, safe housing, internet access.</a:t>
            </a:r>
            <a:endParaRPr lang="en-US" sz="2800" dirty="0"/>
          </a:p>
          <a:p>
            <a:endParaRPr lang="en-US" sz="2800" dirty="0"/>
          </a:p>
          <a:p>
            <a:r>
              <a:rPr lang="en-US" sz="2800" b="1" u="sng" dirty="0"/>
              <a:t>Students sort them into:</a:t>
            </a:r>
          </a:p>
          <a:p>
            <a:endParaRPr lang="en-US" sz="2800" b="1" u="sng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pPr algn="ctr"/>
            <a:r>
              <a:rPr lang="en-US" sz="2000" dirty="0"/>
              <a:t>Then discuss why some answers may be different.</a:t>
            </a:r>
            <a:endParaRPr lang="en-US" sz="2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62E8E8A-2A73-34C3-9A3E-F2F97EBB8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1802009"/>
              </p:ext>
            </p:extLst>
          </p:nvPr>
        </p:nvGraphicFramePr>
        <p:xfrm>
          <a:off x="517452" y="3441613"/>
          <a:ext cx="11153553" cy="22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7851">
                  <a:extLst>
                    <a:ext uri="{9D8B030D-6E8A-4147-A177-3AD203B41FA5}">
                      <a16:colId xmlns:a16="http://schemas.microsoft.com/office/drawing/2014/main" val="788476068"/>
                    </a:ext>
                  </a:extLst>
                </a:gridCol>
                <a:gridCol w="3717851">
                  <a:extLst>
                    <a:ext uri="{9D8B030D-6E8A-4147-A177-3AD203B41FA5}">
                      <a16:colId xmlns:a16="http://schemas.microsoft.com/office/drawing/2014/main" val="2616782971"/>
                    </a:ext>
                  </a:extLst>
                </a:gridCol>
                <a:gridCol w="3717851">
                  <a:extLst>
                    <a:ext uri="{9D8B030D-6E8A-4147-A177-3AD203B41FA5}">
                      <a16:colId xmlns:a16="http://schemas.microsoft.com/office/drawing/2014/main" val="509286438"/>
                    </a:ext>
                  </a:extLst>
                </a:gridCol>
              </a:tblGrid>
              <a:tr h="458864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Basic Needs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Wants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Depends on the Situation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373802"/>
                  </a:ext>
                </a:extLst>
              </a:tr>
              <a:tr h="45886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060136"/>
                  </a:ext>
                </a:extLst>
              </a:tr>
              <a:tr h="45886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9894833"/>
                  </a:ext>
                </a:extLst>
              </a:tr>
              <a:tr h="45886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66957"/>
                  </a:ext>
                </a:extLst>
              </a:tr>
              <a:tr h="45886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5744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3859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3D1DA-9951-CFE4-7167-08C96E0AA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F88C3A-5DD8-2CA8-9D28-B12140875AA6}"/>
              </a:ext>
            </a:extLst>
          </p:cNvPr>
          <p:cNvSpPr txBox="1"/>
          <p:nvPr/>
        </p:nvSpPr>
        <p:spPr>
          <a:xfrm>
            <a:off x="520995" y="337008"/>
            <a:ext cx="11153554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SDG 2 — Zero Hunger</a:t>
            </a:r>
          </a:p>
          <a:p>
            <a:endParaRPr lang="en-US" sz="2800" b="1" dirty="0"/>
          </a:p>
          <a:p>
            <a:r>
              <a:rPr lang="en-US" sz="2800" b="1" dirty="0"/>
              <a:t>Official Goal:</a:t>
            </a:r>
            <a:r>
              <a:rPr lang="en-US" sz="2800" dirty="0"/>
              <a:t> </a:t>
            </a:r>
            <a:r>
              <a:rPr lang="en-US" sz="2800" i="1" dirty="0"/>
              <a:t>End hunger, achieve food security and improved nutrition, and promote sustainable agriculture.</a:t>
            </a:r>
            <a:endParaRPr lang="en-US" sz="2800" dirty="0"/>
          </a:p>
          <a:p>
            <a:endParaRPr lang="en-US" sz="2800" b="1" dirty="0"/>
          </a:p>
          <a:p>
            <a:r>
              <a:rPr lang="en-US" sz="2800" b="1" dirty="0"/>
              <a:t>What does hunger mean?</a:t>
            </a:r>
          </a:p>
          <a:p>
            <a:r>
              <a:rPr lang="en-US" sz="2800" dirty="0"/>
              <a:t>Hunger happens when people </a:t>
            </a:r>
            <a:r>
              <a:rPr lang="en-US" sz="2800" b="1" dirty="0"/>
              <a:t>don’t have enough food to meet their nutritional needs</a:t>
            </a:r>
            <a:r>
              <a:rPr lang="en-US" sz="2800" dirty="0"/>
              <a:t>.</a:t>
            </a:r>
          </a:p>
          <a:p>
            <a:r>
              <a:rPr lang="en-US" sz="2800" b="1" u="sng" dirty="0"/>
              <a:t>But SDG 2 is about more than simply having food. It also includes: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Having enough food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Having nutritious food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Having reliable access to food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Improving nutrition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Supporting sustainable farming </a:t>
            </a:r>
          </a:p>
        </p:txBody>
      </p:sp>
    </p:spTree>
    <p:extLst>
      <p:ext uri="{BB962C8B-B14F-4D97-AF65-F5344CB8AC3E}">
        <p14:creationId xmlns:p14="http://schemas.microsoft.com/office/powerpoint/2010/main" val="3608200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99EEB-50CA-6150-43FE-E44C78C6E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9AF759-BD15-4D48-47CF-4F5B93452069}"/>
              </a:ext>
            </a:extLst>
          </p:cNvPr>
          <p:cNvSpPr txBox="1"/>
          <p:nvPr/>
        </p:nvSpPr>
        <p:spPr>
          <a:xfrm>
            <a:off x="520995" y="1825565"/>
            <a:ext cx="11153554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What is food security?</a:t>
            </a:r>
          </a:p>
          <a:p>
            <a:pPr algn="ctr"/>
            <a:endParaRPr lang="en-US" sz="3200" b="1" dirty="0"/>
          </a:p>
          <a:p>
            <a:pPr algn="just"/>
            <a:r>
              <a:rPr lang="en-US" sz="2800" b="1" dirty="0"/>
              <a:t>Food security</a:t>
            </a:r>
            <a:r>
              <a:rPr lang="en-US" sz="2800" dirty="0"/>
              <a:t> means that people have reliable access to </a:t>
            </a:r>
            <a:r>
              <a:rPr lang="en-US" sz="2800" b="1" dirty="0"/>
              <a:t>enough safe and nutritious food</a:t>
            </a:r>
            <a:r>
              <a:rPr lang="en-US" sz="2800" dirty="0"/>
              <a:t> for a healthy life.</a:t>
            </a:r>
          </a:p>
          <a:p>
            <a:endParaRPr lang="en-US" sz="2800" dirty="0"/>
          </a:p>
          <a:p>
            <a:pPr algn="just"/>
            <a:r>
              <a:rPr lang="en-US" sz="2800" dirty="0"/>
              <a:t>For example, a community may have food available today, but if people can’t reliably access food tomorrow, food security is still a problem.</a:t>
            </a:r>
          </a:p>
        </p:txBody>
      </p:sp>
    </p:spTree>
    <p:extLst>
      <p:ext uri="{BB962C8B-B14F-4D97-AF65-F5344CB8AC3E}">
        <p14:creationId xmlns:p14="http://schemas.microsoft.com/office/powerpoint/2010/main" val="1340951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0900C-4DFD-F8C6-A581-41FAC8DB9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92FD38-D3DB-048A-212F-A8FF075874D9}"/>
              </a:ext>
            </a:extLst>
          </p:cNvPr>
          <p:cNvSpPr txBox="1"/>
          <p:nvPr/>
        </p:nvSpPr>
        <p:spPr>
          <a:xfrm>
            <a:off x="520995" y="996227"/>
            <a:ext cx="1115355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What is sustainable agriculture?</a:t>
            </a:r>
          </a:p>
          <a:p>
            <a:endParaRPr lang="en-US" sz="2800" b="1" dirty="0"/>
          </a:p>
          <a:p>
            <a:pPr algn="just"/>
            <a:r>
              <a:rPr lang="en-US" sz="2800" b="1" dirty="0"/>
              <a:t>Sustainable agriculture</a:t>
            </a:r>
            <a:r>
              <a:rPr lang="en-US" sz="2800" dirty="0"/>
              <a:t> means producing food in ways that protect natural resources and allow food production to continue into the future.</a:t>
            </a:r>
          </a:p>
          <a:p>
            <a:endParaRPr lang="en-US" sz="2800" dirty="0"/>
          </a:p>
          <a:p>
            <a:r>
              <a:rPr lang="en-US" sz="2800" b="1" u="sng" dirty="0"/>
              <a:t>Examples include: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Using water responsibly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Protecting soil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Reducing food waste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Protecting biodiversity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Using farming methods that are better for the environment</a:t>
            </a:r>
          </a:p>
        </p:txBody>
      </p:sp>
    </p:spTree>
    <p:extLst>
      <p:ext uri="{BB962C8B-B14F-4D97-AF65-F5344CB8AC3E}">
        <p14:creationId xmlns:p14="http://schemas.microsoft.com/office/powerpoint/2010/main" val="563249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FF66F-B4D0-D795-CC79-813B2D132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4956FF-343B-4A7C-173E-B6F38C400894}"/>
              </a:ext>
            </a:extLst>
          </p:cNvPr>
          <p:cNvSpPr txBox="1"/>
          <p:nvPr/>
        </p:nvSpPr>
        <p:spPr>
          <a:xfrm>
            <a:off x="520995" y="1166351"/>
            <a:ext cx="11153554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👧 Years 4–5: Simple discussion</a:t>
            </a:r>
          </a:p>
          <a:p>
            <a:endParaRPr lang="en-US" sz="2800" dirty="0"/>
          </a:p>
          <a:p>
            <a:r>
              <a:rPr lang="en-US" sz="2800" b="1" u="sng" dirty="0"/>
              <a:t>Ask Students: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Why do we need food?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What makes a meal nutritious?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Why should we avoid wasting food?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Where does our food come from?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What might happen if crops fail?</a:t>
            </a:r>
          </a:p>
        </p:txBody>
      </p:sp>
    </p:spTree>
    <p:extLst>
      <p:ext uri="{BB962C8B-B14F-4D97-AF65-F5344CB8AC3E}">
        <p14:creationId xmlns:p14="http://schemas.microsoft.com/office/powerpoint/2010/main" val="824945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B830D-1C05-CBBF-DFC2-C862CF18E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F31768-683A-D1BC-5730-7CD85F775F8E}"/>
              </a:ext>
            </a:extLst>
          </p:cNvPr>
          <p:cNvSpPr txBox="1"/>
          <p:nvPr/>
        </p:nvSpPr>
        <p:spPr>
          <a:xfrm>
            <a:off x="520995" y="1155719"/>
            <a:ext cx="11153554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🧑 Years 6–8: Deeper discussion</a:t>
            </a:r>
          </a:p>
          <a:p>
            <a:endParaRPr lang="en-US" sz="2800" dirty="0"/>
          </a:p>
          <a:p>
            <a:r>
              <a:rPr lang="en-US" sz="2800" b="1" u="sng" dirty="0"/>
              <a:t>Ask Students: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What causes hunger around the world?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How can climate change affect farming?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Why is food waste a global problem?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How can technology help farmers?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How can schools help reduce food waste?</a:t>
            </a:r>
          </a:p>
        </p:txBody>
      </p:sp>
    </p:spTree>
    <p:extLst>
      <p:ext uri="{BB962C8B-B14F-4D97-AF65-F5344CB8AC3E}">
        <p14:creationId xmlns:p14="http://schemas.microsoft.com/office/powerpoint/2010/main" val="1328185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66F79-C5F5-8B40-9098-D37500BCB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BDEF4A-D8DE-CE99-7A81-F2A08A7882AC}"/>
              </a:ext>
            </a:extLst>
          </p:cNvPr>
          <p:cNvSpPr txBox="1"/>
          <p:nvPr/>
        </p:nvSpPr>
        <p:spPr>
          <a:xfrm>
            <a:off x="520995" y="996224"/>
            <a:ext cx="1115355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💡 Classroom activity: "From Farm to Table"</a:t>
            </a:r>
          </a:p>
          <a:p>
            <a:endParaRPr lang="en-US" sz="2800" dirty="0"/>
          </a:p>
          <a:p>
            <a:r>
              <a:rPr lang="en-US" sz="2800" dirty="0"/>
              <a:t>Students choose one food—for example, </a:t>
            </a:r>
            <a:r>
              <a:rPr lang="en-US" sz="2800" b="1" dirty="0"/>
              <a:t>bread, rice, tomatoes, or apples</a:t>
            </a:r>
            <a:r>
              <a:rPr lang="en-US" sz="2800" dirty="0"/>
              <a:t>—and investigate:</a:t>
            </a:r>
          </a:p>
          <a:p>
            <a:r>
              <a:rPr lang="en-US" sz="2800" b="1" dirty="0"/>
              <a:t>Farm → Processing → Transportation → Shop → Home</a:t>
            </a:r>
            <a:endParaRPr lang="en-US" sz="2800" dirty="0"/>
          </a:p>
          <a:p>
            <a:endParaRPr lang="en-US" sz="2800" dirty="0"/>
          </a:p>
          <a:p>
            <a:r>
              <a:rPr lang="en-US" sz="2800" b="1" u="sng" dirty="0"/>
              <a:t>They identify: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Who is involved?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What resources are needed?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Where could food be wasted?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How could the process become more sustainable?</a:t>
            </a:r>
          </a:p>
        </p:txBody>
      </p:sp>
    </p:spTree>
    <p:extLst>
      <p:ext uri="{BB962C8B-B14F-4D97-AF65-F5344CB8AC3E}">
        <p14:creationId xmlns:p14="http://schemas.microsoft.com/office/powerpoint/2010/main" val="1196635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DD055-1E7B-FA42-4CAB-E051536FE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FA6E4C-72AF-6FE0-C31D-768B1C75971A}"/>
              </a:ext>
            </a:extLst>
          </p:cNvPr>
          <p:cNvSpPr txBox="1"/>
          <p:nvPr/>
        </p:nvSpPr>
        <p:spPr>
          <a:xfrm>
            <a:off x="520995" y="262575"/>
            <a:ext cx="11153554" cy="6355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SDG 3 — Good Health and Well-being</a:t>
            </a:r>
          </a:p>
          <a:p>
            <a:r>
              <a:rPr lang="en-US" sz="2800" b="1" dirty="0"/>
              <a:t>Official Goal:</a:t>
            </a:r>
            <a:r>
              <a:rPr lang="en-US" sz="2800" dirty="0"/>
              <a:t> </a:t>
            </a:r>
            <a:r>
              <a:rPr lang="en-US" sz="2800" i="1" dirty="0"/>
              <a:t>Ensure healthy lives and promote well-being for all at all ages.</a:t>
            </a:r>
            <a:endParaRPr lang="en-US" sz="2800" dirty="0"/>
          </a:p>
          <a:p>
            <a:r>
              <a:rPr lang="en-US" sz="2800" b="1" dirty="0"/>
              <a:t>What does health mean?</a:t>
            </a:r>
          </a:p>
          <a:p>
            <a:r>
              <a:rPr lang="en-US" sz="2800" dirty="0"/>
              <a:t>Health is not only about </a:t>
            </a:r>
            <a:r>
              <a:rPr lang="en-US" sz="2800" b="1" dirty="0"/>
              <a:t>not being sick</a:t>
            </a:r>
            <a:r>
              <a:rPr lang="en-US" sz="2800" dirty="0"/>
              <a:t>. It also includes our overall </a:t>
            </a:r>
            <a:r>
              <a:rPr lang="en-US" sz="2800" b="1" dirty="0"/>
              <a:t>physical and mental well-being</a:t>
            </a:r>
            <a:r>
              <a:rPr lang="en-US" sz="2800" dirty="0"/>
              <a:t>.</a:t>
            </a:r>
          </a:p>
          <a:p>
            <a:endParaRPr lang="en-US" sz="1400" dirty="0"/>
          </a:p>
          <a:p>
            <a:r>
              <a:rPr lang="en-US" sz="2800" b="1" u="sng" dirty="0"/>
              <a:t>SDG 3 covers areas such as: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Preventing diseases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Access to healthcare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Maternal and child health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Vaccination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Mental health and well-being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Road safety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Reducing harmful substance use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Access to essential medicines and healthcare</a:t>
            </a:r>
          </a:p>
        </p:txBody>
      </p:sp>
    </p:spTree>
    <p:extLst>
      <p:ext uri="{BB962C8B-B14F-4D97-AF65-F5344CB8AC3E}">
        <p14:creationId xmlns:p14="http://schemas.microsoft.com/office/powerpoint/2010/main" val="562980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ED7E6-61C2-EEBA-E3B3-CC76AB1EB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58F7DD-B5BE-0147-1A0E-A1028B6E45CD}"/>
              </a:ext>
            </a:extLst>
          </p:cNvPr>
          <p:cNvSpPr txBox="1"/>
          <p:nvPr/>
        </p:nvSpPr>
        <p:spPr>
          <a:xfrm>
            <a:off x="520995" y="772932"/>
            <a:ext cx="11153554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What is well-being?</a:t>
            </a:r>
          </a:p>
          <a:p>
            <a:endParaRPr lang="en-US" sz="2800" b="1" dirty="0"/>
          </a:p>
          <a:p>
            <a:r>
              <a:rPr lang="en-US" sz="2800" b="1" dirty="0"/>
              <a:t>Well-being</a:t>
            </a:r>
            <a:r>
              <a:rPr lang="en-US" sz="2800" dirty="0"/>
              <a:t> means being able to live a healthy and fulfilling life.</a:t>
            </a:r>
          </a:p>
          <a:p>
            <a:endParaRPr lang="en-US" sz="2800" dirty="0"/>
          </a:p>
          <a:p>
            <a:r>
              <a:rPr lang="en-US" sz="2800" b="1" u="sng" dirty="0"/>
              <a:t>For students, this can include: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Getting enough sleep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Eating nutritious food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Being physically active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Having supportive relationships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Managing stress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Feeling safe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Asking for help when needed</a:t>
            </a:r>
          </a:p>
        </p:txBody>
      </p:sp>
    </p:spTree>
    <p:extLst>
      <p:ext uri="{BB962C8B-B14F-4D97-AF65-F5344CB8AC3E}">
        <p14:creationId xmlns:p14="http://schemas.microsoft.com/office/powerpoint/2010/main" val="25166764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97A5A-A9C7-D017-6C57-731B0CE9D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8F5548-BDC4-0988-06F8-D031DBF4E7B6}"/>
              </a:ext>
            </a:extLst>
          </p:cNvPr>
          <p:cNvSpPr txBox="1"/>
          <p:nvPr/>
        </p:nvSpPr>
        <p:spPr>
          <a:xfrm>
            <a:off x="520995" y="1166345"/>
            <a:ext cx="11153554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👧 Years 4–5: Simple discussion</a:t>
            </a:r>
          </a:p>
          <a:p>
            <a:endParaRPr lang="en-US" sz="2800" dirty="0"/>
          </a:p>
          <a:p>
            <a:r>
              <a:rPr lang="en-US" sz="2800" b="1" u="sng" dirty="0"/>
              <a:t>Ask Students: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What does being healthy mean?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What habits help us stay healthy?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Why is sleep important?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Why should we wash our hands?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Who can help us when we are sick or worried?</a:t>
            </a:r>
          </a:p>
        </p:txBody>
      </p:sp>
    </p:spTree>
    <p:extLst>
      <p:ext uri="{BB962C8B-B14F-4D97-AF65-F5344CB8AC3E}">
        <p14:creationId xmlns:p14="http://schemas.microsoft.com/office/powerpoint/2010/main" val="15084275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25D03-AEA7-A161-0E9F-362598E31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23BE82-2F64-4DEC-AACC-C134EF198E49}"/>
              </a:ext>
            </a:extLst>
          </p:cNvPr>
          <p:cNvSpPr txBox="1"/>
          <p:nvPr/>
        </p:nvSpPr>
        <p:spPr>
          <a:xfrm>
            <a:off x="520995" y="847363"/>
            <a:ext cx="11153554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🧑 Years 6–8: Deeper discussion</a:t>
            </a:r>
          </a:p>
          <a:p>
            <a:endParaRPr lang="en-US" sz="2800" dirty="0"/>
          </a:p>
          <a:p>
            <a:r>
              <a:rPr lang="en-US" sz="2800" b="1" u="sng" dirty="0"/>
              <a:t>Ask Students: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Why don't everyone around the world have equal access to healthcare?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How can governments prevent diseases?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Why is mental well-being important?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How can schools create healthier environments?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What can communities do to improve public health?</a:t>
            </a:r>
          </a:p>
        </p:txBody>
      </p:sp>
    </p:spTree>
    <p:extLst>
      <p:ext uri="{BB962C8B-B14F-4D97-AF65-F5344CB8AC3E}">
        <p14:creationId xmlns:p14="http://schemas.microsoft.com/office/powerpoint/2010/main" val="30898163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434B3-98ED-798F-99BA-870AA5A31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02B024-9F84-A243-5C72-DCF8048B7E60}"/>
              </a:ext>
            </a:extLst>
          </p:cNvPr>
          <p:cNvSpPr txBox="1"/>
          <p:nvPr/>
        </p:nvSpPr>
        <p:spPr>
          <a:xfrm>
            <a:off x="520995" y="432692"/>
            <a:ext cx="1115355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💡 Classroom activity: Healthy School Challenge</a:t>
            </a:r>
          </a:p>
          <a:p>
            <a:r>
              <a:rPr lang="en-US" sz="2400" dirty="0"/>
              <a:t>In groups, students identify ways their school could support health and well-being.</a:t>
            </a:r>
          </a:p>
          <a:p>
            <a:r>
              <a:rPr lang="en-US" sz="2400" b="1" u="sng" dirty="0"/>
              <a:t>For example:</a:t>
            </a:r>
          </a:p>
          <a:p>
            <a:r>
              <a:rPr lang="en-US" sz="2400" b="1" dirty="0">
                <a:highlight>
                  <a:srgbClr val="FFFF00"/>
                </a:highlight>
              </a:rPr>
              <a:t>Physical health</a:t>
            </a:r>
            <a:endParaRPr lang="en-US" sz="2400" dirty="0">
              <a:highlight>
                <a:srgbClr val="FFFF00"/>
              </a:highlight>
            </a:endParaRPr>
          </a:p>
          <a:p>
            <a:r>
              <a:rPr lang="en-US" sz="2400" dirty="0"/>
              <a:t>More opportunities for movement </a:t>
            </a:r>
          </a:p>
          <a:p>
            <a:r>
              <a:rPr lang="en-US" sz="2400" dirty="0"/>
              <a:t>Healthier food choices </a:t>
            </a:r>
          </a:p>
          <a:p>
            <a:r>
              <a:rPr lang="en-US" sz="2400" dirty="0"/>
              <a:t>Clean drinking water </a:t>
            </a:r>
          </a:p>
          <a:p>
            <a:r>
              <a:rPr lang="en-US" sz="2400" b="1" dirty="0">
                <a:highlight>
                  <a:srgbClr val="FFFF00"/>
                </a:highlight>
              </a:rPr>
              <a:t>Mental well-being</a:t>
            </a:r>
            <a:endParaRPr lang="en-US" sz="2400" dirty="0">
              <a:highlight>
                <a:srgbClr val="FFFF00"/>
              </a:highlight>
            </a:endParaRPr>
          </a:p>
          <a:p>
            <a:r>
              <a:rPr lang="en-US" sz="2400" dirty="0"/>
              <a:t>Quiet spaces </a:t>
            </a:r>
          </a:p>
          <a:p>
            <a:r>
              <a:rPr lang="en-US" sz="2400" dirty="0"/>
              <a:t>Positive relationships </a:t>
            </a:r>
          </a:p>
          <a:p>
            <a:r>
              <a:rPr lang="en-US" sz="2400" dirty="0"/>
              <a:t>Opportunities to talk to trusted adults </a:t>
            </a:r>
          </a:p>
          <a:p>
            <a:r>
              <a:rPr lang="en-US" sz="2400" b="1" dirty="0">
                <a:highlight>
                  <a:srgbClr val="FFFF00"/>
                </a:highlight>
              </a:rPr>
              <a:t>Safety</a:t>
            </a:r>
            <a:endParaRPr lang="en-US" sz="2400" dirty="0">
              <a:highlight>
                <a:srgbClr val="FFFF00"/>
              </a:highlight>
            </a:endParaRPr>
          </a:p>
          <a:p>
            <a:r>
              <a:rPr lang="en-US" sz="2400" dirty="0"/>
              <a:t>Road-safety awareness </a:t>
            </a:r>
          </a:p>
          <a:p>
            <a:r>
              <a:rPr lang="en-US" sz="2400" dirty="0"/>
              <a:t>Safe playgrounds </a:t>
            </a:r>
          </a:p>
          <a:p>
            <a:r>
              <a:rPr lang="en-US" sz="2400" dirty="0"/>
              <a:t>Emergency procedures </a:t>
            </a:r>
          </a:p>
          <a:p>
            <a:r>
              <a:rPr lang="en-US" sz="2400" dirty="0"/>
              <a:t>Students then create </a:t>
            </a:r>
            <a:r>
              <a:rPr lang="en-US" sz="2400" b="1" dirty="0"/>
              <a:t>three recommendations for a healthier school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171449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88B79-061C-811D-B723-A2153ABB1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C55796-9DAB-6E9D-AB25-4CAF07EEA82E}"/>
              </a:ext>
            </a:extLst>
          </p:cNvPr>
          <p:cNvSpPr txBox="1"/>
          <p:nvPr/>
        </p:nvSpPr>
        <p:spPr>
          <a:xfrm>
            <a:off x="520995" y="262568"/>
            <a:ext cx="11153554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🔗 Connecting the Three Goals</a:t>
            </a:r>
          </a:p>
          <a:p>
            <a:r>
              <a:rPr lang="en-US" sz="2400" dirty="0"/>
              <a:t>One of the most important ideas in </a:t>
            </a:r>
            <a:r>
              <a:rPr lang="en-US" sz="2400" b="1" dirty="0"/>
              <a:t>Global Perspectives</a:t>
            </a:r>
            <a:r>
              <a:rPr lang="en-US" sz="2400" dirty="0"/>
              <a:t> is that global issues are </a:t>
            </a:r>
            <a:r>
              <a:rPr lang="en-US" sz="2400" b="1" dirty="0"/>
              <a:t>connected</a:t>
            </a:r>
            <a:r>
              <a:rPr lang="en-US" sz="2400" dirty="0"/>
              <a:t>.</a:t>
            </a:r>
          </a:p>
          <a:p>
            <a:r>
              <a:rPr lang="en-US" sz="2400" dirty="0"/>
              <a:t>You can show students this simple connection:</a:t>
            </a:r>
          </a:p>
          <a:p>
            <a:r>
              <a:rPr lang="en-US" sz="2400" b="1" dirty="0">
                <a:highlight>
                  <a:srgbClr val="FFFF00"/>
                </a:highlight>
              </a:rPr>
              <a:t>SDG 1 — No Poverty</a:t>
            </a:r>
            <a:br>
              <a:rPr lang="en-US" sz="2400" dirty="0">
                <a:highlight>
                  <a:srgbClr val="FFFF00"/>
                </a:highlight>
              </a:rPr>
            </a:br>
            <a:r>
              <a:rPr lang="en-US" sz="2400" dirty="0"/>
              <a:t>⬇️</a:t>
            </a:r>
            <a:br>
              <a:rPr lang="en-US" sz="2400" dirty="0"/>
            </a:br>
            <a:r>
              <a:rPr lang="en-US" sz="2400" dirty="0"/>
              <a:t>Poverty can make it harder to access nutritious food and healthcare.</a:t>
            </a:r>
          </a:p>
          <a:p>
            <a:r>
              <a:rPr lang="en-US" sz="2400" b="1" dirty="0">
                <a:highlight>
                  <a:srgbClr val="FFFF00"/>
                </a:highlight>
              </a:rPr>
              <a:t>SDG 2 — Zero Hunger</a:t>
            </a:r>
            <a:br>
              <a:rPr lang="en-US" sz="2400" dirty="0">
                <a:highlight>
                  <a:srgbClr val="FFFF00"/>
                </a:highlight>
              </a:rPr>
            </a:br>
            <a:r>
              <a:rPr lang="en-US" sz="2400" dirty="0"/>
              <a:t>⬇️</a:t>
            </a:r>
            <a:br>
              <a:rPr lang="en-US" sz="2400" dirty="0"/>
            </a:br>
            <a:r>
              <a:rPr lang="en-US" sz="2400" dirty="0"/>
              <a:t>Good nutrition is important for people's health and development.</a:t>
            </a:r>
          </a:p>
          <a:p>
            <a:r>
              <a:rPr lang="en-US" sz="2400" b="1" dirty="0">
                <a:highlight>
                  <a:srgbClr val="FFFF00"/>
                </a:highlight>
              </a:rPr>
              <a:t>SDG 3 — Good Health &amp; Well-being</a:t>
            </a:r>
            <a:br>
              <a:rPr lang="en-US" sz="2400" dirty="0">
                <a:highlight>
                  <a:srgbClr val="FFFF00"/>
                </a:highlight>
              </a:rPr>
            </a:br>
            <a:r>
              <a:rPr lang="en-US" sz="2400" dirty="0"/>
              <a:t>⬇️</a:t>
            </a:r>
            <a:br>
              <a:rPr lang="en-US" sz="2400" dirty="0"/>
            </a:br>
            <a:r>
              <a:rPr lang="en-US" sz="2400" dirty="0"/>
              <a:t>Healthy people have a better opportunity to learn, work, and participate in their communities.</a:t>
            </a:r>
          </a:p>
          <a:p>
            <a:r>
              <a:rPr lang="en-US" sz="2400" b="1" u="sng" dirty="0">
                <a:solidFill>
                  <a:srgbClr val="0000FF"/>
                </a:solidFill>
              </a:rPr>
              <a:t>So, students can understand that:</a:t>
            </a:r>
          </a:p>
          <a:p>
            <a:r>
              <a:rPr lang="en-US" sz="2400" b="1" dirty="0"/>
              <a:t>The SDGs are not separate problems. They are connected goals that require people to work together.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55200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2357</TotalTime>
  <Words>1031</Words>
  <Application>Microsoft Office PowerPoint</Application>
  <PresentationFormat>Widescreen</PresentationFormat>
  <Paragraphs>175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🌍 SDGs 1–3: Teaching Guide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Hatem Mohamed Hassan</dc:creator>
  <cp:lastModifiedBy>Hatem Mohamed Hassan</cp:lastModifiedBy>
  <cp:revision>56</cp:revision>
  <dcterms:created xsi:type="dcterms:W3CDTF">2026-09-10T08:43:43Z</dcterms:created>
  <dcterms:modified xsi:type="dcterms:W3CDTF">2026-09-29T11:51:18Z</dcterms:modified>
</cp:coreProperties>
</file>