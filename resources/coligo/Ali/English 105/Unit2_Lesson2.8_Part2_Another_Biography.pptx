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8e29d4d5-e14b-2ed2-fd31-509ea6b76f70}">
          <p14:sldIdLst>
            <p14:sldId id="256"/>
            <p14:sldId id="257"/>
            <p14:sldId id="258"/>
            <p14:sldId id="259"/>
          </p14:sldIdLst>
        </p14:section>
        <p14:section name="Extra: Another biography" id="{96e47f1a-31ba-9304-3fdd-e2919a1d1d5e}">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Wrap-up" id="{c729cbab-deda-2bac-e88f-6d4b06028730}">
          <p14:sldIdLst>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2.8 Part 2: extra material from another book (pages 26–29 of that book): 'What is a biography?', the biography of Poorna Malavath, 'Go further' tasks and 'Chronological order'. It follows Part 1 (Samantha Cristoforetti, main book). The passage itself is in the other book: these slides contain short quotations, our own summaries and model answers. Flow: starter → features → new words → questions on the text → timeline and direct speech → time connectives → plan and write → exit ticket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Students self-assess against these steps at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recall from Part 1 and Lesson 2.1 (about 3 minutes). Take answers aloud or on mini whiteboards.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accurate answers. Q4: a biography uses full sentences, paragraphs and gives detail; a timeline uses dates and key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'What is a biography?' (other book, page 26). Definition: 'a record of the events in a person's life from the viewpoint of an author'. Biographies are usually about people who have achieved or experienced something extraordinary. Features are listed in 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tick the features in 'Astronaut Samantha Cristoforetti' and find an example of each. Notes: the photograph has no visible caption in the textbook extract; the sections are mostly chronological (education → training → mission → current work →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 stated directly in the text. Implicit = not stated: the reader works it out (infers) from clues. The explanation and examples here are ours. Used in Question 2 on the Poorna Malavath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glossary (other book): 'a school where children live and study'. Contrast: a day school, where children go home each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glossary (other book): 'a school where children live and study'. Contrast: a day school, where children go home each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(other book): 'journey'. Link: Samantha's text has 'Expedition 42/43 on the ISS' – the same word. Spelling: ex-pe-DI-tion.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(other book): 'journey'. Link: Samantha's text has 'Expedition 42/43 on the ISS' – the same word. Spelling: ex-pe-DI-tion.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(other book): 'top'. Synonyms: peak, top. Earlier in the text: 'the peak of Mount Everest'. Antonym: foot (of a mountain).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(other book): 'top'. Synonyms: peak, top. Earlier in the text: 'the peak of Mount Everest'. Antonym: foot (of a mountain).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in our own words of the biography 'Poorna Malavath, the youngest girl to climb Mount Everest' (other book, page 26). Read the full text in the book. Quotation from the text: 'It's not that tall. We can climb it in a day.' She also said it felt 'incredible' and 'a breathtaking adventure'.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(other book). Students answer using explicit (stated) and implicit (inferred) information from the Poorna Malavath text.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She was the youngest girl to climb Mount Everest (explicit). b) Her family were very poor and had no experience of mountain climbing, and she had never seen snow before 2013 (explicit). c) Athletics and climbing – Dr Kumar spotted her talent (explicit). d) Implicit: she is confident, brave and determined; perhaps a little over-confident, because the expedition took 52 days,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Which sentence is implicit information (not stated, worked out from clues)? Answer C. A, B and D are stated directly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Which sentence is implicit information (not stated, worked out from clues)? Answer C. A, B and D are stated directly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(other book): copy and complete the table with examples from the text.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Accept any valid example from the text. a) 'Poorna Malavath was born…', 'her family', 'she grew up'. b) The title and first sentence introduce who she is. c) 10 June 2000; 2013; 25 May 2014; 2017. d) Quotation marks: 'It's not that tall…'; 'incredible'. e) The expedition took 52 days; 21 other climbers. f) 'Malavath on top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(other book): write these events in chronological order. Answer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1 Attended school (residential school); 2 Met Dr Kumar (he spotted her talent there); 3 Joined Operation Everest (his recommendation); 4 Trained in Darjeeling (2013); 5 Selected to climb Mount Everest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5 and 6 (other book). Pairs discuss, then feedback. Model answers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Q5a: clear, in order, paragraphs, dates and facts; easy to follow. Q5b: formal (e.g. 'she was honoured by the Indian Prime Minister'); informal version: 'the Prime Minister gave her a big award, which was brilliant!'. Q5c: the writer admires Malavath: 'youngest', 'incredible', 'breathtaking adventure', 'honoured'.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Accept any reasoned answer using quotes. Challenges: poverty, no experience, leaving home young, competing with 21 others, snow and cold for the first time, a 52-day climb. Personal response will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further 1 (other book): reread and identify what each paragraph is about. Paragraph 1 is the textbook's example. Our model answers for paragraphs 2–5 follow the text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further 2 (other book): complete the timeline. The book says to ESTIMATE some dates because the text does not give them all. Dates marked ~ are estimates; 2013, 25 May 2014 and 2017 come from the text; 2000 is her birth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further 3 (other book): students write questions on cards for Poorna and role-play the answers, noting answers as direct speech. Rules from the book: direct speech records exactly what a person said; the words go between two sets of speech marks; add a full stop to show the sentence has finished. The interview here is IMAGINED (role-play), not real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'Chronological order' (other book, page 29): adverbs and adverbial phrases of time help organise the chronology. Rule from the book: if the sentence starts with a connective (time phrase) add a comma after it. Examples about Samantha are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started (other book, page 29): skim read facts about the Jamaican sprinter Usain Bolt, who holds so many running records that people call him the fastest man on Earth. The book suggests planning with a list, a timeline or cards. Our task: put the facts in chronological order. Answer on the next slide. Ages are converted to years (aged 12 ~ 1998; aged 15 ~ 2002).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order (ages converted to years). 1) born 21 August 1986; 2) first school: Waldensia Primary School; 3) aged 12 (~1998): the school's fastest 100 m runner; 4) 1999: moved to William Knibb Memorial High School; 5) 2001: first medal (silver) at the Jamaican High School Championships; 6) aged 15 (~2002): won the 200 m at the World Junior Championships, Kingston; 7) 2005: leg injuries, new coach Glenn Mills, reached the world top 5; 8) 2007: broke the Jamaican 200 m record. Undated facts (his nickname, being a world and Olympic champion, his parents' shop) go in the introduction or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paragraph using time connectives (comma after each time phrase). Facts come from the 'Usain Bolt facts' table in the other book. Students write their own paragraph from their ordered list, using at least three time connectives.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on time connectives (adverbials of time). Rule from the book: when a sentence starts with a time phrase such as 'After that' or 'Over a number of years', add a comma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on time connectives (adverbials of time). Rule from the book: when a sentence starts with a time phrase such as 'After that' or 'Over a number of years', add a comma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task (our extension from the book's 'Learn' box and the Usain Bolt fact table). Students plan with a list, a timeline or cards, then write 3–4 paragraphs. Success criteria are on the slide. Early finishers add a picture and a caption. Model paragraph earlier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on a sticky note or mini whiteboard. Finish with the traffic-light self-assessment.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accurate answers. Q3: check the time connective is at the start and a comma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homework (20–30 minutes). Tasks 1–3 compulsory; the challenge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Year 5 · Unit 2 · Lesson 2.8 · Part 2 · Another biography</a:t>
            </a:r>
            <a:endParaRPr lang="en-US" sz="1000" dirty="0"/>
          </a:p>
        </p:txBody>
      </p:sp>
      <p:sp>
        <p:nvSpPr>
          <p:cNvPr id="4" name="Text 2"/>
          <p:cNvSpPr/>
          <p:nvPr>
            <p:ph idx="104" type="title" hasCustomPrompt="1"/>
          </p:nvPr>
        </p:nvSpPr>
        <p:spPr>
          <a:xfrm>
            <a:off x="457200" y="274320"/>
            <a:ext cx="694944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NSW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Year 5 · Unit 2 · Lesson 2.8 · Part 2 · Another biography</a:t>
            </a:r>
            <a:endParaRPr lang="en-US" sz="1000" dirty="0"/>
          </a:p>
        </p:txBody>
      </p:sp>
      <p:sp>
        <p:nvSpPr>
          <p:cNvPr id="4" name="Text 2"/>
          <p:cNvSpPr/>
          <p:nvPr>
            <p:ph idx="104" type="title" hasCustomPrompt="1"/>
          </p:nvPr>
        </p:nvSpPr>
        <p:spPr>
          <a:xfrm>
            <a:off x="457200" y="274320"/>
            <a:ext cx="6949440" cy="640080"/>
          </a:xfrm>
          <a:prstGeom prst="rect">
            <a:avLst/>
          </a:prstGeom>
          <a:noFill/>
          <a:ln/>
        </p:spPr>
        <p:txBody>
          <a:bodyPr wrap="square" rtlCol="0"/>
          <a:lstStyle>
            <a:lvl1pPr algn="l" indent="0" marL="0">
              <a:buNone/>
              <a:defRPr lang="en-US" sz="3000" b="1" dirty="0">
                <a:solidFill>
                  <a:schemeClr val="accent5"/>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sson chip"/>
          <p:cNvSpPr/>
          <p:nvPr/>
        </p:nvSpPr>
        <p:spPr>
          <a:xfrm>
            <a:off x="640080" y="594360"/>
            <a:ext cx="356616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640080" y="594360"/>
            <a:ext cx="3566160" cy="347472"/>
          </a:xfrm>
          <a:prstGeom prst="rect">
            <a:avLst/>
          </a:prstGeom>
          <a:noFill/>
          <a:ln/>
        </p:spPr>
        <p:txBody>
          <a:bodyPr wrap="square" lIns="0" tIns="0" rIns="0" bIns="0" rtlCol="0" anchor="ctr"/>
          <a:lstStyle/>
          <a:p>
            <a:pPr algn="ctr" indent="0" marL="0">
              <a:buNone/>
            </a:pPr>
            <a:r>
              <a:rPr lang="en-US" sz="1300" b="1" dirty="0">
                <a:solidFill>
                  <a:schemeClr val="tx1"/>
                </a:solidFill>
              </a:rPr>
              <a:t>YEAR 5 · UNIT 2 · LESSON 2.8 · PART 2</a:t>
            </a:r>
            <a:endParaRPr lang="en-US" sz="1300" dirty="0"/>
          </a:p>
        </p:txBody>
      </p:sp>
      <p:sp>
        <p:nvSpPr>
          <p:cNvPr id="4" name="Text 2"/>
          <p:cNvSpPr txBox="1"/>
          <p:nvPr/>
        </p:nvSpPr>
        <p:spPr>
          <a:xfrm>
            <a:off x="640080" y="1097280"/>
            <a:ext cx="4572000" cy="1371600"/>
          </a:xfrm>
          <a:prstGeom prst="rect">
            <a:avLst/>
          </a:prstGeom>
          <a:noFill/>
          <a:ln/>
        </p:spPr>
        <p:txBody>
          <a:bodyPr wrap="square" lIns="0" tIns="0" rIns="0" bIns="0" rtlCol="0" anchor="t"/>
          <a:lstStyle/>
          <a:p>
            <a:pPr indent="0" marL="0">
              <a:buNone/>
            </a:pPr>
            <a:r>
              <a:rPr lang="en-US" sz="4200" b="1" dirty="0">
                <a:solidFill>
                  <a:schemeClr val="accent5"/>
                </a:solidFill>
                <a:latin typeface="+mj-lt" pitchFamily="34" charset="0"/>
                <a:ea typeface="+mj-lt" pitchFamily="34" charset="-122"/>
                <a:cs typeface="+mj-lt" pitchFamily="34" charset="-120"/>
              </a:rPr>
              <a:t>Another Biography</a:t>
            </a:r>
            <a:endParaRPr lang="en-US" sz="4200" dirty="0"/>
          </a:p>
        </p:txBody>
      </p:sp>
      <p:sp>
        <p:nvSpPr>
          <p:cNvPr id="5" name="Text 3"/>
          <p:cNvSpPr txBox="1"/>
          <p:nvPr/>
        </p:nvSpPr>
        <p:spPr>
          <a:xfrm>
            <a:off x="640080" y="2651760"/>
            <a:ext cx="4389120" cy="822960"/>
          </a:xfrm>
          <a:prstGeom prst="rect">
            <a:avLst/>
          </a:prstGeom>
          <a:noFill/>
          <a:ln/>
        </p:spPr>
        <p:txBody>
          <a:bodyPr wrap="square" lIns="0" tIns="0" rIns="0" bIns="0" rtlCol="0" anchor="t"/>
          <a:lstStyle/>
          <a:p>
            <a:pPr indent="0" marL="0">
              <a:buNone/>
            </a:pPr>
            <a:r>
              <a:rPr lang="en-US" sz="1800" i="1" dirty="0">
                <a:solidFill>
                  <a:schemeClr val="bg1"/>
                </a:solidFill>
              </a:rPr>
              <a:t>Poorna Malavath, chronological order and time connectives</a:t>
            </a:r>
            <a:endParaRPr lang="en-US" sz="1800" dirty="0"/>
          </a:p>
        </p:txBody>
      </p:sp>
      <p:sp>
        <p:nvSpPr>
          <p:cNvPr id="6" name="Objectives panel"/>
          <p:cNvSpPr/>
          <p:nvPr/>
        </p:nvSpPr>
        <p:spPr>
          <a:xfrm>
            <a:off x="5577840" y="868680"/>
            <a:ext cx="3108960" cy="3429000"/>
          </a:xfrm>
          <a:prstGeom prst="roundRect">
            <a:avLst>
              <a:gd name="adj" fmla="val 3529"/>
            </a:avLst>
          </a:prstGeom>
          <a:solidFill>
            <a:schemeClr val="accent4"/>
          </a:solidFill>
          <a:ln w="9525">
            <a:solidFill>
              <a:schemeClr val="accent5"/>
            </a:solidFill>
            <a:prstDash val="solid"/>
          </a:ln>
          <a:effectLst>
            <a:outerShdw sx="100000" sy="100000" kx="0" ky="0" algn="bl" rotWithShape="0" blurRad="76200" dist="25400" dir="5400000">
              <a:srgbClr val="0E1537">
                <a:alpha val="14000"/>
              </a:srgbClr>
            </a:outerShdw>
          </a:effectLst>
        </p:spPr>
      </p:sp>
      <p:sp>
        <p:nvSpPr>
          <p:cNvPr id="7" name="Text 5"/>
          <p:cNvSpPr txBox="1"/>
          <p:nvPr/>
        </p:nvSpPr>
        <p:spPr>
          <a:xfrm>
            <a:off x="5806440" y="1051560"/>
            <a:ext cx="2743200" cy="411480"/>
          </a:xfrm>
          <a:prstGeom prst="rect">
            <a:avLst/>
          </a:prstGeom>
          <a:noFill/>
          <a:ln/>
        </p:spPr>
        <p:txBody>
          <a:bodyPr wrap="square" lIns="0" tIns="0" rIns="0" bIns="0" rtlCol="0" anchor="ctr"/>
          <a:lstStyle/>
          <a:p>
            <a:pPr indent="0" marL="0">
              <a:buNone/>
            </a:pPr>
            <a:r>
              <a:rPr lang="en-US" sz="2000" b="1" dirty="0">
                <a:solidFill>
                  <a:schemeClr val="accent5"/>
                </a:solidFill>
                <a:latin typeface="+mj-lt" pitchFamily="34" charset="0"/>
                <a:ea typeface="+mj-lt" pitchFamily="34" charset="-122"/>
                <a:cs typeface="+mj-lt" pitchFamily="34" charset="-120"/>
              </a:rPr>
              <a:t>We are going to…</a:t>
            </a:r>
            <a:endParaRPr lang="en-US" sz="2000" dirty="0"/>
          </a:p>
        </p:txBody>
      </p:sp>
      <p:sp>
        <p:nvSpPr>
          <p:cNvPr id="8" name="Text 6"/>
          <p:cNvSpPr txBox="1"/>
          <p:nvPr/>
        </p:nvSpPr>
        <p:spPr>
          <a:xfrm>
            <a:off x="5806440" y="1554480"/>
            <a:ext cx="269748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read another biography and find its features</a:t>
            </a:r>
            <a:endParaRPr lang="en-US" sz="1500" dirty="0"/>
          </a:p>
          <a:p>
            <a:pPr marL="342900" indent="-342900">
              <a:spcAft>
                <a:spcPts val="1000"/>
              </a:spcAft>
              <a:buSzPct val="100000"/>
              <a:buChar char="•"/>
            </a:pPr>
            <a:r>
              <a:rPr lang="en-US" sz="1500" dirty="0">
                <a:solidFill>
                  <a:schemeClr val="bg1"/>
                </a:solidFill>
              </a:rPr>
              <a:t>use explicit and implicit information</a:t>
            </a:r>
            <a:endParaRPr lang="en-US" sz="1500" dirty="0"/>
          </a:p>
          <a:p>
            <a:pPr marL="342900" indent="-342900">
              <a:spcAft>
                <a:spcPts val="1000"/>
              </a:spcAft>
              <a:buSzPct val="100000"/>
              <a:buChar char="•"/>
            </a:pPr>
            <a:r>
              <a:rPr lang="en-US" sz="1500" dirty="0">
                <a:solidFill>
                  <a:schemeClr val="bg1"/>
                </a:solidFill>
              </a:rPr>
              <a:t>put events in chronological order</a:t>
            </a:r>
            <a:endParaRPr lang="en-US" sz="1500" dirty="0"/>
          </a:p>
          <a:p>
            <a:pPr marL="342900" indent="-342900">
              <a:spcAft>
                <a:spcPts val="1000"/>
              </a:spcAft>
              <a:buSzPct val="100000"/>
              <a:buChar char="•"/>
            </a:pPr>
            <a:r>
              <a:rPr lang="en-US" sz="1500" dirty="0">
                <a:solidFill>
                  <a:schemeClr val="bg1"/>
                </a:solidFill>
              </a:rPr>
              <a:t>use time connectives to plan and write a biography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Today’s mission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Learning objective: I can use the features of a biography and time connectives to plan and write a biography.</a:t>
            </a:r>
            <a:endParaRPr lang="en-US" sz="1600" dirty="0"/>
          </a:p>
        </p:txBody>
      </p:sp>
      <p:sp>
        <p:nvSpPr>
          <p:cNvPr id="5" name="Row 1"/>
          <p:cNvSpPr/>
          <p:nvPr/>
        </p:nvSpPr>
        <p:spPr>
          <a:xfrm>
            <a:off x="457200" y="1600200"/>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45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00200"/>
            <a:ext cx="7315200" cy="457200"/>
          </a:xfrm>
          <a:prstGeom prst="rect">
            <a:avLst/>
          </a:prstGeom>
          <a:noFill/>
          <a:ln/>
        </p:spPr>
        <p:txBody>
          <a:bodyPr wrap="square" lIns="0" tIns="0" rIns="0" bIns="0" rtlCol="0" anchor="ctr"/>
          <a:lstStyle/>
          <a:p>
            <a:pPr indent="0" marL="0">
              <a:buNone/>
            </a:pPr>
            <a:r>
              <a:rPr lang="en-US" sz="1500" dirty="0">
                <a:solidFill>
                  <a:schemeClr val="tx1"/>
                </a:solidFill>
              </a:rPr>
              <a:t>Remember the features of a biography</a:t>
            </a:r>
            <a:endParaRPr lang="en-US" sz="1500" dirty="0"/>
          </a:p>
        </p:txBody>
      </p:sp>
      <p:sp>
        <p:nvSpPr>
          <p:cNvPr id="9" name="Row 2"/>
          <p:cNvSpPr/>
          <p:nvPr/>
        </p:nvSpPr>
        <p:spPr>
          <a:xfrm>
            <a:off x="457200" y="2167128"/>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94360" y="221284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212848"/>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67128"/>
            <a:ext cx="7315200" cy="457200"/>
          </a:xfrm>
          <a:prstGeom prst="rect">
            <a:avLst/>
          </a:prstGeom>
          <a:noFill/>
          <a:ln/>
        </p:spPr>
        <p:txBody>
          <a:bodyPr wrap="square" lIns="0" tIns="0" rIns="0" bIns="0" rtlCol="0" anchor="ctr"/>
          <a:lstStyle/>
          <a:p>
            <a:pPr indent="0" marL="0">
              <a:buNone/>
            </a:pPr>
            <a:r>
              <a:rPr lang="en-US" sz="1500" dirty="0">
                <a:solidFill>
                  <a:schemeClr val="tx1"/>
                </a:solidFill>
              </a:rPr>
              <a:t>Learn new words: residential school, expedition, summit</a:t>
            </a:r>
            <a:endParaRPr lang="en-US" sz="1500" dirty="0"/>
          </a:p>
        </p:txBody>
      </p:sp>
      <p:sp>
        <p:nvSpPr>
          <p:cNvPr id="13" name="Row 3"/>
          <p:cNvSpPr/>
          <p:nvPr/>
        </p:nvSpPr>
        <p:spPr>
          <a:xfrm>
            <a:off x="457200" y="2734056"/>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594360" y="2779776"/>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2779776"/>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2734056"/>
            <a:ext cx="7315200" cy="457200"/>
          </a:xfrm>
          <a:prstGeom prst="rect">
            <a:avLst/>
          </a:prstGeom>
          <a:noFill/>
          <a:ln/>
        </p:spPr>
        <p:txBody>
          <a:bodyPr wrap="square" lIns="0" tIns="0" rIns="0" bIns="0" rtlCol="0" anchor="ctr"/>
          <a:lstStyle/>
          <a:p>
            <a:pPr indent="0" marL="0">
              <a:buNone/>
            </a:pPr>
            <a:r>
              <a:rPr lang="en-US" sz="1500" dirty="0">
                <a:solidFill>
                  <a:schemeClr val="tx1"/>
                </a:solidFill>
              </a:rPr>
              <a:t>Use explicit and implicit information to answer questions</a:t>
            </a:r>
            <a:endParaRPr lang="en-US" sz="1500" dirty="0"/>
          </a:p>
        </p:txBody>
      </p:sp>
      <p:sp>
        <p:nvSpPr>
          <p:cNvPr id="17" name="Row 4"/>
          <p:cNvSpPr/>
          <p:nvPr/>
        </p:nvSpPr>
        <p:spPr>
          <a:xfrm>
            <a:off x="457200" y="3300984"/>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594360" y="3346704"/>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34670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300984"/>
            <a:ext cx="7315200" cy="457200"/>
          </a:xfrm>
          <a:prstGeom prst="rect">
            <a:avLst/>
          </a:prstGeom>
          <a:noFill/>
          <a:ln/>
        </p:spPr>
        <p:txBody>
          <a:bodyPr wrap="square" lIns="0" tIns="0" rIns="0" bIns="0" rtlCol="0" anchor="ctr"/>
          <a:lstStyle/>
          <a:p>
            <a:pPr indent="0" marL="0">
              <a:buNone/>
            </a:pPr>
            <a:r>
              <a:rPr lang="en-US" sz="1500" dirty="0">
                <a:solidFill>
                  <a:schemeClr val="tx1"/>
                </a:solidFill>
              </a:rPr>
              <a:t>Put events in chronological order and use time connectives</a:t>
            </a:r>
            <a:endParaRPr lang="en-US" sz="1500" dirty="0"/>
          </a:p>
        </p:txBody>
      </p:sp>
      <p:sp>
        <p:nvSpPr>
          <p:cNvPr id="21" name="Row 5"/>
          <p:cNvSpPr/>
          <p:nvPr/>
        </p:nvSpPr>
        <p:spPr>
          <a:xfrm>
            <a:off x="457200" y="3867912"/>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2" name="Badge"/>
          <p:cNvSpPr/>
          <p:nvPr/>
        </p:nvSpPr>
        <p:spPr>
          <a:xfrm>
            <a:off x="594360" y="3913632"/>
            <a:ext cx="365760" cy="365760"/>
          </a:xfrm>
          <a:prstGeom prst="ellipse">
            <a:avLst/>
          </a:prstGeom>
          <a:solidFill>
            <a:schemeClr val="accent5"/>
          </a:solidFill>
          <a:ln w="6350">
            <a:solidFill>
              <a:schemeClr val="accent5"/>
            </a:solidFill>
            <a:prstDash val="solid"/>
          </a:ln>
        </p:spPr>
      </p:sp>
      <p:sp>
        <p:nvSpPr>
          <p:cNvPr id="23" name="Text 20"/>
          <p:cNvSpPr txBox="1"/>
          <p:nvPr/>
        </p:nvSpPr>
        <p:spPr>
          <a:xfrm>
            <a:off x="594360" y="3913632"/>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143000" y="3867912"/>
            <a:ext cx="7315200" cy="457200"/>
          </a:xfrm>
          <a:prstGeom prst="rect">
            <a:avLst/>
          </a:prstGeom>
          <a:noFill/>
          <a:ln/>
        </p:spPr>
        <p:txBody>
          <a:bodyPr wrap="square" lIns="0" tIns="0" rIns="0" bIns="0" rtlCol="0" anchor="ctr"/>
          <a:lstStyle/>
          <a:p>
            <a:pPr indent="0" marL="0">
              <a:buNone/>
            </a:pPr>
            <a:r>
              <a:rPr lang="en-US" sz="1500" dirty="0">
                <a:solidFill>
                  <a:schemeClr val="tx1"/>
                </a:solidFill>
              </a:rPr>
              <a:t>Plan and write a biography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Starter: what do you remember?</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Turn and talk.</a:t>
            </a:r>
            <a:endParaRPr lang="en-US" sz="1600" dirty="0"/>
          </a:p>
        </p:txBody>
      </p:sp>
      <p:sp>
        <p:nvSpPr>
          <p:cNvPr id="5" name="Row 1"/>
          <p:cNvSpPr/>
          <p:nvPr/>
        </p:nvSpPr>
        <p:spPr>
          <a:xfrm>
            <a:off x="457200" y="1463040"/>
            <a:ext cx="822960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594360" y="162306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2306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463040"/>
            <a:ext cx="7315200" cy="685800"/>
          </a:xfrm>
          <a:prstGeom prst="rect">
            <a:avLst/>
          </a:prstGeom>
          <a:noFill/>
          <a:ln/>
        </p:spPr>
        <p:txBody>
          <a:bodyPr wrap="square" lIns="0" tIns="0" rIns="0" bIns="0" rtlCol="0" anchor="ctr"/>
          <a:lstStyle/>
          <a:p>
            <a:pPr indent="0" marL="0">
              <a:buNone/>
            </a:pPr>
            <a:r>
              <a:rPr lang="en-US" sz="1700" dirty="0">
                <a:solidFill>
                  <a:schemeClr val="tx1"/>
                </a:solidFill>
              </a:rPr>
              <a:t>Is a biography written in the first person or the third person?</a:t>
            </a:r>
            <a:endParaRPr lang="en-US" sz="1700" dirty="0"/>
          </a:p>
        </p:txBody>
      </p:sp>
      <p:sp>
        <p:nvSpPr>
          <p:cNvPr id="9" name="Row 2"/>
          <p:cNvSpPr/>
          <p:nvPr/>
        </p:nvSpPr>
        <p:spPr>
          <a:xfrm>
            <a:off x="457200" y="2276856"/>
            <a:ext cx="822960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94360" y="243687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36876"/>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276856"/>
            <a:ext cx="7315200" cy="685800"/>
          </a:xfrm>
          <a:prstGeom prst="rect">
            <a:avLst/>
          </a:prstGeom>
          <a:noFill/>
          <a:ln/>
        </p:spPr>
        <p:txBody>
          <a:bodyPr wrap="square" lIns="0" tIns="0" rIns="0" bIns="0" rtlCol="0" anchor="ctr"/>
          <a:lstStyle/>
          <a:p>
            <a:pPr indent="0" marL="0">
              <a:buNone/>
            </a:pPr>
            <a:r>
              <a:rPr lang="en-US" sz="1700" dirty="0">
                <a:solidFill>
                  <a:schemeClr val="tx1"/>
                </a:solidFill>
              </a:rPr>
              <a:t>Name three third-person pronouns.</a:t>
            </a:r>
            <a:endParaRPr lang="en-US" sz="1700" dirty="0"/>
          </a:p>
        </p:txBody>
      </p:sp>
      <p:sp>
        <p:nvSpPr>
          <p:cNvPr id="13" name="Row 3"/>
          <p:cNvSpPr/>
          <p:nvPr/>
        </p:nvSpPr>
        <p:spPr>
          <a:xfrm>
            <a:off x="457200" y="3090672"/>
            <a:ext cx="822960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594360" y="3250692"/>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3250692"/>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3090672"/>
            <a:ext cx="7315200" cy="685800"/>
          </a:xfrm>
          <a:prstGeom prst="rect">
            <a:avLst/>
          </a:prstGeom>
          <a:noFill/>
          <a:ln/>
        </p:spPr>
        <p:txBody>
          <a:bodyPr wrap="square" lIns="0" tIns="0" rIns="0" bIns="0" rtlCol="0" anchor="ctr"/>
          <a:lstStyle/>
          <a:p>
            <a:pPr indent="0" marL="0">
              <a:buNone/>
            </a:pPr>
            <a:r>
              <a:rPr lang="en-US" sz="1700" dirty="0">
                <a:solidFill>
                  <a:schemeClr val="tx1"/>
                </a:solidFill>
              </a:rPr>
              <a:t>What does ‘chronological order’ mean?</a:t>
            </a:r>
            <a:endParaRPr lang="en-US" sz="1700" dirty="0"/>
          </a:p>
        </p:txBody>
      </p:sp>
      <p:sp>
        <p:nvSpPr>
          <p:cNvPr id="17" name="Row 4"/>
          <p:cNvSpPr/>
          <p:nvPr/>
        </p:nvSpPr>
        <p:spPr>
          <a:xfrm>
            <a:off x="457200" y="3904488"/>
            <a:ext cx="822960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594360" y="4064508"/>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406450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904488"/>
            <a:ext cx="7315200" cy="685800"/>
          </a:xfrm>
          <a:prstGeom prst="rect">
            <a:avLst/>
          </a:prstGeom>
          <a:noFill/>
          <a:ln/>
        </p:spPr>
        <p:txBody>
          <a:bodyPr wrap="square" lIns="0" tIns="0" rIns="0" bIns="0" rtlCol="0" anchor="ctr"/>
          <a:lstStyle/>
          <a:p>
            <a:pPr indent="0" marL="0">
              <a:buNone/>
            </a:pPr>
            <a:r>
              <a:rPr lang="en-US" sz="1700" dirty="0">
                <a:solidFill>
                  <a:schemeClr val="tx1"/>
                </a:solidFill>
              </a:rPr>
              <a:t>How is a biography different from a timeline?</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Starter: possible answers</a:t>
            </a:r>
            <a:endParaRPr lang="en-US" sz="3000" dirty="0"/>
          </a:p>
        </p:txBody>
      </p:sp>
      <p:sp>
        <p:nvSpPr>
          <p:cNvPr id="4" name="Answer 1"/>
          <p:cNvSpPr/>
          <p:nvPr/>
        </p:nvSpPr>
        <p:spPr>
          <a:xfrm>
            <a:off x="457200" y="105156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26873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26873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88720" y="1051560"/>
            <a:ext cx="7315200" cy="845820"/>
          </a:xfrm>
          <a:prstGeom prst="rect">
            <a:avLst/>
          </a:prstGeom>
          <a:noFill/>
          <a:ln/>
        </p:spPr>
        <p:txBody>
          <a:bodyPr wrap="square" lIns="0" tIns="0" rIns="0" bIns="0" rtlCol="0" anchor="ctr"/>
          <a:lstStyle/>
          <a:p>
            <a:pPr indent="0" marL="0">
              <a:buNone/>
            </a:pPr>
            <a:r>
              <a:rPr lang="en-US" sz="1500" dirty="0">
                <a:solidFill>
                  <a:schemeClr val="tx1"/>
                </a:solidFill>
              </a:rPr>
              <a:t>The third person (he, she, they): another person writes about someone’s life.</a:t>
            </a:r>
            <a:endParaRPr lang="en-US" sz="1500" dirty="0"/>
          </a:p>
        </p:txBody>
      </p:sp>
      <p:sp>
        <p:nvSpPr>
          <p:cNvPr id="8" name="Answer 2"/>
          <p:cNvSpPr/>
          <p:nvPr/>
        </p:nvSpPr>
        <p:spPr>
          <a:xfrm>
            <a:off x="457200" y="198882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220599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20599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88720" y="1988820"/>
            <a:ext cx="7315200" cy="845820"/>
          </a:xfrm>
          <a:prstGeom prst="rect">
            <a:avLst/>
          </a:prstGeom>
          <a:noFill/>
          <a:ln/>
        </p:spPr>
        <p:txBody>
          <a:bodyPr wrap="square" lIns="0" tIns="0" rIns="0" bIns="0" rtlCol="0" anchor="ctr"/>
          <a:lstStyle/>
          <a:p>
            <a:pPr indent="0" marL="0">
              <a:buNone/>
            </a:pPr>
            <a:r>
              <a:rPr lang="en-US" sz="1500" dirty="0">
                <a:solidFill>
                  <a:schemeClr val="tx1"/>
                </a:solidFill>
              </a:rPr>
              <a:t>e.g. he, she, they, him, her, them, his, hers, theirs</a:t>
            </a:r>
            <a:endParaRPr lang="en-US" sz="1500" dirty="0"/>
          </a:p>
        </p:txBody>
      </p:sp>
      <p:sp>
        <p:nvSpPr>
          <p:cNvPr id="12" name="Answer 3"/>
          <p:cNvSpPr/>
          <p:nvPr/>
        </p:nvSpPr>
        <p:spPr>
          <a:xfrm>
            <a:off x="457200" y="292608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314325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14325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88720" y="2926080"/>
            <a:ext cx="7315200" cy="845820"/>
          </a:xfrm>
          <a:prstGeom prst="rect">
            <a:avLst/>
          </a:prstGeom>
          <a:noFill/>
          <a:ln/>
        </p:spPr>
        <p:txBody>
          <a:bodyPr wrap="square" lIns="0" tIns="0" rIns="0" bIns="0" rtlCol="0" anchor="ctr"/>
          <a:lstStyle/>
          <a:p>
            <a:pPr indent="0" marL="0">
              <a:buNone/>
            </a:pPr>
            <a:r>
              <a:rPr lang="en-US" sz="1500" dirty="0">
                <a:solidFill>
                  <a:schemeClr val="tx1"/>
                </a:solidFill>
              </a:rPr>
              <a:t>In the order in which the events happened (earliest first).</a:t>
            </a:r>
            <a:endParaRPr lang="en-US" sz="1500" dirty="0"/>
          </a:p>
        </p:txBody>
      </p:sp>
      <p:sp>
        <p:nvSpPr>
          <p:cNvPr id="16" name="Answer 4"/>
          <p:cNvSpPr/>
          <p:nvPr/>
        </p:nvSpPr>
        <p:spPr>
          <a:xfrm>
            <a:off x="457200" y="386334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94360" y="408051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408051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1188720" y="3863340"/>
            <a:ext cx="7315200" cy="845820"/>
          </a:xfrm>
          <a:prstGeom prst="rect">
            <a:avLst/>
          </a:prstGeom>
          <a:noFill/>
          <a:ln/>
        </p:spPr>
        <p:txBody>
          <a:bodyPr wrap="square" lIns="0" tIns="0" rIns="0" bIns="0" rtlCol="0" anchor="ctr"/>
          <a:lstStyle/>
          <a:p>
            <a:pPr indent="0" marL="0">
              <a:buNone/>
            </a:pPr>
            <a:r>
              <a:rPr lang="en-US" sz="1500" dirty="0">
                <a:solidFill>
                  <a:schemeClr val="tx1"/>
                </a:solidFill>
              </a:rPr>
              <a:t>A biography uses full sentences and paragraphs and gives detail; a timeline uses dates and key words only.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What is a biography?</a:t>
            </a:r>
            <a:endParaRPr lang="en-US" sz="3000" dirty="0"/>
          </a:p>
        </p:txBody>
      </p:sp>
      <p:sp>
        <p:nvSpPr>
          <p:cNvPr id="4" name="Definition"/>
          <p:cNvSpPr/>
          <p:nvPr/>
        </p:nvSpPr>
        <p:spPr>
          <a:xfrm>
            <a:off x="457200" y="1005840"/>
            <a:ext cx="8229600" cy="731520"/>
          </a:xfrm>
          <a:prstGeom prst="roundRect">
            <a:avLst>
              <a:gd name="adj" fmla="val 15000"/>
            </a:avLst>
          </a:prstGeom>
          <a:solidFill>
            <a:schemeClr val="accent5"/>
          </a:solidFill>
          <a:ln w="9525">
            <a:solidFill>
              <a:schemeClr val="accent5"/>
            </a:solidFill>
            <a:prstDash val="solid"/>
          </a:ln>
        </p:spPr>
      </p:sp>
      <p:sp>
        <p:nvSpPr>
          <p:cNvPr id="5" name="Text 2"/>
          <p:cNvSpPr txBox="1"/>
          <p:nvPr/>
        </p:nvSpPr>
        <p:spPr>
          <a:xfrm>
            <a:off x="685800" y="1005840"/>
            <a:ext cx="7772400" cy="731520"/>
          </a:xfrm>
          <a:prstGeom prst="rect">
            <a:avLst/>
          </a:prstGeom>
          <a:noFill/>
          <a:ln/>
        </p:spPr>
        <p:txBody>
          <a:bodyPr wrap="square" lIns="0" tIns="0" rIns="0" bIns="0" rtlCol="0" anchor="ctr"/>
          <a:lstStyle/>
          <a:p>
            <a:pPr indent="0" marL="0">
              <a:buNone/>
            </a:pPr>
            <a:r>
              <a:rPr lang="en-US" sz="1700" b="1" dirty="0">
                <a:solidFill>
                  <a:schemeClr val="tx1"/>
                </a:solidFill>
              </a:rPr>
              <a:t>A biography </a:t>
            </a:r>
            <a:pPr indent="0" marL="0">
              <a:buNone/>
            </a:pPr>
            <a:r>
              <a:rPr lang="en-US" sz="1700" dirty="0">
                <a:solidFill>
                  <a:schemeClr val="tx1"/>
                </a:solidFill>
              </a:rPr>
              <a:t>is a record of the events in a person’s life from the viewpoint of an author.</a:t>
            </a:r>
            <a:endParaRPr lang="en-US" sz="1700" dirty="0"/>
          </a:p>
        </p:txBody>
      </p:sp>
      <p:sp>
        <p:nvSpPr>
          <p:cNvPr id="6" name="Feature 1"/>
          <p:cNvSpPr/>
          <p:nvPr/>
        </p:nvSpPr>
        <p:spPr>
          <a:xfrm>
            <a:off x="457200" y="187452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7" name="Badge"/>
          <p:cNvSpPr/>
          <p:nvPr/>
        </p:nvSpPr>
        <p:spPr>
          <a:xfrm>
            <a:off x="548640" y="1965960"/>
            <a:ext cx="365760" cy="365760"/>
          </a:xfrm>
          <a:prstGeom prst="ellipse">
            <a:avLst/>
          </a:prstGeom>
          <a:solidFill>
            <a:schemeClr val="accent1"/>
          </a:solidFill>
          <a:ln w="6350">
            <a:solidFill>
              <a:schemeClr val="accent1"/>
            </a:solidFill>
            <a:prstDash val="solid"/>
          </a:ln>
        </p:spPr>
      </p:sp>
      <p:sp>
        <p:nvSpPr>
          <p:cNvPr id="8" name="Text 5"/>
          <p:cNvSpPr txBox="1"/>
          <p:nvPr/>
        </p:nvSpPr>
        <p:spPr>
          <a:xfrm>
            <a:off x="548640" y="196596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9" name="Text 6"/>
          <p:cNvSpPr txBox="1"/>
          <p:nvPr/>
        </p:nvSpPr>
        <p:spPr>
          <a:xfrm>
            <a:off x="1005840" y="1874520"/>
            <a:ext cx="3383280" cy="548640"/>
          </a:xfrm>
          <a:prstGeom prst="rect">
            <a:avLst/>
          </a:prstGeom>
          <a:noFill/>
          <a:ln/>
        </p:spPr>
        <p:txBody>
          <a:bodyPr wrap="square" lIns="0" tIns="0" rIns="0" bIns="0" rtlCol="0" anchor="ctr"/>
          <a:lstStyle/>
          <a:p>
            <a:pPr indent="0" marL="0">
              <a:buNone/>
            </a:pPr>
            <a:r>
              <a:rPr lang="en-US" sz="1300" dirty="0">
                <a:solidFill>
                  <a:schemeClr val="tx1"/>
                </a:solidFill>
              </a:rPr>
              <a:t>written in the third person (he or she, not I)</a:t>
            </a:r>
            <a:endParaRPr lang="en-US" sz="1300" dirty="0"/>
          </a:p>
        </p:txBody>
      </p:sp>
      <p:sp>
        <p:nvSpPr>
          <p:cNvPr id="10" name="Feature 2"/>
          <p:cNvSpPr/>
          <p:nvPr/>
        </p:nvSpPr>
        <p:spPr>
          <a:xfrm>
            <a:off x="4663440" y="187452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1" name="Badge"/>
          <p:cNvSpPr/>
          <p:nvPr/>
        </p:nvSpPr>
        <p:spPr>
          <a:xfrm>
            <a:off x="4754880" y="1965960"/>
            <a:ext cx="365760" cy="365760"/>
          </a:xfrm>
          <a:prstGeom prst="ellipse">
            <a:avLst/>
          </a:prstGeom>
          <a:solidFill>
            <a:schemeClr val="accent2"/>
          </a:solidFill>
          <a:ln w="6350">
            <a:solidFill>
              <a:schemeClr val="accent2"/>
            </a:solidFill>
            <a:prstDash val="solid"/>
          </a:ln>
        </p:spPr>
      </p:sp>
      <p:sp>
        <p:nvSpPr>
          <p:cNvPr id="12" name="Text 9"/>
          <p:cNvSpPr txBox="1"/>
          <p:nvPr/>
        </p:nvSpPr>
        <p:spPr>
          <a:xfrm>
            <a:off x="4754880" y="196596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5212080" y="1874520"/>
            <a:ext cx="3383280" cy="548640"/>
          </a:xfrm>
          <a:prstGeom prst="rect">
            <a:avLst/>
          </a:prstGeom>
          <a:noFill/>
          <a:ln/>
        </p:spPr>
        <p:txBody>
          <a:bodyPr wrap="square" lIns="0" tIns="0" rIns="0" bIns="0" rtlCol="0" anchor="ctr"/>
          <a:lstStyle/>
          <a:p>
            <a:pPr indent="0" marL="0">
              <a:buNone/>
            </a:pPr>
            <a:r>
              <a:rPr lang="en-US" sz="1300" dirty="0">
                <a:solidFill>
                  <a:schemeClr val="tx1"/>
                </a:solidFill>
              </a:rPr>
              <a:t>an opening statement says who the person is</a:t>
            </a:r>
            <a:endParaRPr lang="en-US" sz="1300" dirty="0"/>
          </a:p>
        </p:txBody>
      </p:sp>
      <p:sp>
        <p:nvSpPr>
          <p:cNvPr id="14" name="Feature 3"/>
          <p:cNvSpPr/>
          <p:nvPr/>
        </p:nvSpPr>
        <p:spPr>
          <a:xfrm>
            <a:off x="457200" y="251460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5" name="Badge"/>
          <p:cNvSpPr/>
          <p:nvPr/>
        </p:nvSpPr>
        <p:spPr>
          <a:xfrm>
            <a:off x="548640" y="2606040"/>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48640" y="260604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05840" y="2514600"/>
            <a:ext cx="3383280" cy="548640"/>
          </a:xfrm>
          <a:prstGeom prst="rect">
            <a:avLst/>
          </a:prstGeom>
          <a:noFill/>
          <a:ln/>
        </p:spPr>
        <p:txBody>
          <a:bodyPr wrap="square" lIns="0" tIns="0" rIns="0" bIns="0" rtlCol="0" anchor="ctr"/>
          <a:lstStyle/>
          <a:p>
            <a:pPr indent="0" marL="0">
              <a:buNone/>
            </a:pPr>
            <a:r>
              <a:rPr lang="en-US" sz="1300" dirty="0">
                <a:solidFill>
                  <a:schemeClr val="tx1"/>
                </a:solidFill>
              </a:rPr>
              <a:t>events in chronological order</a:t>
            </a:r>
            <a:endParaRPr lang="en-US" sz="1300" dirty="0"/>
          </a:p>
        </p:txBody>
      </p:sp>
      <p:sp>
        <p:nvSpPr>
          <p:cNvPr id="18" name="Feature 4"/>
          <p:cNvSpPr/>
          <p:nvPr/>
        </p:nvSpPr>
        <p:spPr>
          <a:xfrm>
            <a:off x="4663440" y="251460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9" name="Badge"/>
          <p:cNvSpPr/>
          <p:nvPr/>
        </p:nvSpPr>
        <p:spPr>
          <a:xfrm>
            <a:off x="4754880" y="2606040"/>
            <a:ext cx="365760" cy="365760"/>
          </a:xfrm>
          <a:prstGeom prst="ellipse">
            <a:avLst/>
          </a:prstGeom>
          <a:solidFill>
            <a:schemeClr val="accent4"/>
          </a:solidFill>
          <a:ln w="6350">
            <a:solidFill>
              <a:schemeClr val="accent4"/>
            </a:solidFill>
            <a:prstDash val="solid"/>
          </a:ln>
        </p:spPr>
      </p:sp>
      <p:sp>
        <p:nvSpPr>
          <p:cNvPr id="20" name="Text 17"/>
          <p:cNvSpPr txBox="1"/>
          <p:nvPr/>
        </p:nvSpPr>
        <p:spPr>
          <a:xfrm>
            <a:off x="4754880" y="260604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1" name="Text 18"/>
          <p:cNvSpPr txBox="1"/>
          <p:nvPr/>
        </p:nvSpPr>
        <p:spPr>
          <a:xfrm>
            <a:off x="5212080" y="2514600"/>
            <a:ext cx="3383280" cy="548640"/>
          </a:xfrm>
          <a:prstGeom prst="rect">
            <a:avLst/>
          </a:prstGeom>
          <a:noFill/>
          <a:ln/>
        </p:spPr>
        <p:txBody>
          <a:bodyPr wrap="square" lIns="0" tIns="0" rIns="0" bIns="0" rtlCol="0" anchor="ctr"/>
          <a:lstStyle/>
          <a:p>
            <a:pPr indent="0" marL="0">
              <a:buNone/>
            </a:pPr>
            <a:r>
              <a:rPr lang="en-US" sz="1300" dirty="0">
                <a:solidFill>
                  <a:schemeClr val="tx1"/>
                </a:solidFill>
              </a:rPr>
              <a:t>dates and facts</a:t>
            </a:r>
            <a:endParaRPr lang="en-US" sz="1300" dirty="0"/>
          </a:p>
        </p:txBody>
      </p:sp>
      <p:sp>
        <p:nvSpPr>
          <p:cNvPr id="22" name="Feature 5"/>
          <p:cNvSpPr/>
          <p:nvPr/>
        </p:nvSpPr>
        <p:spPr>
          <a:xfrm>
            <a:off x="457200" y="315468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3" name="Badge"/>
          <p:cNvSpPr/>
          <p:nvPr/>
        </p:nvSpPr>
        <p:spPr>
          <a:xfrm>
            <a:off x="548640" y="3246120"/>
            <a:ext cx="365760" cy="365760"/>
          </a:xfrm>
          <a:prstGeom prst="ellipse">
            <a:avLst/>
          </a:prstGeom>
          <a:solidFill>
            <a:schemeClr val="accent5"/>
          </a:solidFill>
          <a:ln w="6350">
            <a:solidFill>
              <a:schemeClr val="accent5"/>
            </a:solidFill>
            <a:prstDash val="solid"/>
          </a:ln>
        </p:spPr>
      </p:sp>
      <p:sp>
        <p:nvSpPr>
          <p:cNvPr id="24" name="Text 21"/>
          <p:cNvSpPr txBox="1"/>
          <p:nvPr/>
        </p:nvSpPr>
        <p:spPr>
          <a:xfrm>
            <a:off x="548640" y="32461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5" name="Text 22"/>
          <p:cNvSpPr txBox="1"/>
          <p:nvPr/>
        </p:nvSpPr>
        <p:spPr>
          <a:xfrm>
            <a:off x="1005840" y="3154680"/>
            <a:ext cx="3383280" cy="548640"/>
          </a:xfrm>
          <a:prstGeom prst="rect">
            <a:avLst/>
          </a:prstGeom>
          <a:noFill/>
          <a:ln/>
        </p:spPr>
        <p:txBody>
          <a:bodyPr wrap="square" lIns="0" tIns="0" rIns="0" bIns="0" rtlCol="0" anchor="ctr"/>
          <a:lstStyle/>
          <a:p>
            <a:pPr indent="0" marL="0">
              <a:buNone/>
            </a:pPr>
            <a:r>
              <a:rPr lang="en-US" sz="1300" dirty="0">
                <a:solidFill>
                  <a:schemeClr val="tx1"/>
                </a:solidFill>
              </a:rPr>
              <a:t>paragraphs for different sections of the life</a:t>
            </a:r>
            <a:endParaRPr lang="en-US" sz="1300" dirty="0"/>
          </a:p>
        </p:txBody>
      </p:sp>
      <p:sp>
        <p:nvSpPr>
          <p:cNvPr id="26" name="Feature 6"/>
          <p:cNvSpPr/>
          <p:nvPr/>
        </p:nvSpPr>
        <p:spPr>
          <a:xfrm>
            <a:off x="4663440" y="315468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7" name="Badge"/>
          <p:cNvSpPr/>
          <p:nvPr/>
        </p:nvSpPr>
        <p:spPr>
          <a:xfrm>
            <a:off x="4754880" y="3246120"/>
            <a:ext cx="365760" cy="365760"/>
          </a:xfrm>
          <a:prstGeom prst="ellipse">
            <a:avLst/>
          </a:prstGeom>
          <a:solidFill>
            <a:schemeClr val="accent1"/>
          </a:solidFill>
          <a:ln w="6350">
            <a:solidFill>
              <a:schemeClr val="accent1"/>
            </a:solidFill>
            <a:prstDash val="solid"/>
          </a:ln>
        </p:spPr>
      </p:sp>
      <p:sp>
        <p:nvSpPr>
          <p:cNvPr id="28" name="Text 25"/>
          <p:cNvSpPr txBox="1"/>
          <p:nvPr/>
        </p:nvSpPr>
        <p:spPr>
          <a:xfrm>
            <a:off x="4754880" y="32461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29" name="Text 26"/>
          <p:cNvSpPr txBox="1"/>
          <p:nvPr/>
        </p:nvSpPr>
        <p:spPr>
          <a:xfrm>
            <a:off x="5212080" y="3154680"/>
            <a:ext cx="3383280" cy="548640"/>
          </a:xfrm>
          <a:prstGeom prst="rect">
            <a:avLst/>
          </a:prstGeom>
          <a:noFill/>
          <a:ln/>
        </p:spPr>
        <p:txBody>
          <a:bodyPr wrap="square" lIns="0" tIns="0" rIns="0" bIns="0" rtlCol="0" anchor="ctr"/>
          <a:lstStyle/>
          <a:p>
            <a:pPr indent="0" marL="0">
              <a:buNone/>
            </a:pPr>
            <a:r>
              <a:rPr lang="en-US" sz="1300" dirty="0">
                <a:solidFill>
                  <a:schemeClr val="tx1"/>
                </a:solidFill>
              </a:rPr>
              <a:t>may have pictures and captions</a:t>
            </a:r>
            <a:endParaRPr lang="en-US" sz="1300" dirty="0"/>
          </a:p>
        </p:txBody>
      </p:sp>
      <p:sp>
        <p:nvSpPr>
          <p:cNvPr id="30" name="Feature 7"/>
          <p:cNvSpPr/>
          <p:nvPr/>
        </p:nvSpPr>
        <p:spPr>
          <a:xfrm>
            <a:off x="457200" y="3794760"/>
            <a:ext cx="402336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31" name="Badge"/>
          <p:cNvSpPr/>
          <p:nvPr/>
        </p:nvSpPr>
        <p:spPr>
          <a:xfrm>
            <a:off x="548640" y="3886200"/>
            <a:ext cx="365760" cy="365760"/>
          </a:xfrm>
          <a:prstGeom prst="ellipse">
            <a:avLst/>
          </a:prstGeom>
          <a:solidFill>
            <a:schemeClr val="accent2"/>
          </a:solidFill>
          <a:ln w="6350">
            <a:solidFill>
              <a:schemeClr val="accent2"/>
            </a:solidFill>
            <a:prstDash val="solid"/>
          </a:ln>
        </p:spPr>
      </p:sp>
      <p:sp>
        <p:nvSpPr>
          <p:cNvPr id="32" name="Text 29"/>
          <p:cNvSpPr txBox="1"/>
          <p:nvPr/>
        </p:nvSpPr>
        <p:spPr>
          <a:xfrm>
            <a:off x="548640" y="388620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7</a:t>
            </a:r>
            <a:endParaRPr lang="en-US" sz="1500" dirty="0"/>
          </a:p>
        </p:txBody>
      </p:sp>
      <p:sp>
        <p:nvSpPr>
          <p:cNvPr id="33" name="Text 30"/>
          <p:cNvSpPr txBox="1"/>
          <p:nvPr/>
        </p:nvSpPr>
        <p:spPr>
          <a:xfrm>
            <a:off x="1005840" y="3794760"/>
            <a:ext cx="3383280" cy="548640"/>
          </a:xfrm>
          <a:prstGeom prst="rect">
            <a:avLst/>
          </a:prstGeom>
          <a:noFill/>
          <a:ln/>
        </p:spPr>
        <p:txBody>
          <a:bodyPr wrap="square" lIns="0" tIns="0" rIns="0" bIns="0" rtlCol="0" anchor="ctr"/>
          <a:lstStyle/>
          <a:p>
            <a:pPr indent="0" marL="0">
              <a:buNone/>
            </a:pPr>
            <a:r>
              <a:rPr lang="en-US" sz="1300" dirty="0">
                <a:solidFill>
                  <a:schemeClr val="tx1"/>
                </a:solidFill>
              </a:rPr>
              <a:t>may include comments as direct speech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Features check: Samantha’s biography</a:t>
            </a:r>
            <a:endParaRPr lang="en-US" sz="3000" dirty="0"/>
          </a:p>
        </p:txBody>
      </p:sp>
      <p:sp>
        <p:nvSpPr>
          <p:cNvPr id="4" name="Check 1"/>
          <p:cNvSpPr/>
          <p:nvPr/>
        </p:nvSpPr>
        <p:spPr>
          <a:xfrm>
            <a:off x="457200" y="1005840"/>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Text 2"/>
          <p:cNvSpPr txBox="1"/>
          <p:nvPr/>
        </p:nvSpPr>
        <p:spPr>
          <a:xfrm>
            <a:off x="548640" y="1051560"/>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6" name="Text 3"/>
          <p:cNvSpPr txBox="1"/>
          <p:nvPr/>
        </p:nvSpPr>
        <p:spPr>
          <a:xfrm>
            <a:off x="1051560" y="1005840"/>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Third person</a:t>
            </a:r>
            <a:endParaRPr lang="en-US" sz="1400" dirty="0"/>
          </a:p>
        </p:txBody>
      </p:sp>
      <p:sp>
        <p:nvSpPr>
          <p:cNvPr id="7" name="Text 4"/>
          <p:cNvSpPr txBox="1"/>
          <p:nvPr/>
        </p:nvSpPr>
        <p:spPr>
          <a:xfrm>
            <a:off x="3383280" y="1005840"/>
            <a:ext cx="5120640" cy="457200"/>
          </a:xfrm>
          <a:prstGeom prst="rect">
            <a:avLst/>
          </a:prstGeom>
          <a:noFill/>
          <a:ln/>
        </p:spPr>
        <p:txBody>
          <a:bodyPr wrap="square" lIns="0" tIns="0" rIns="0" bIns="0" rtlCol="0" anchor="ctr"/>
          <a:lstStyle/>
          <a:p>
            <a:pPr indent="0" marL="0">
              <a:buNone/>
            </a:pPr>
            <a:r>
              <a:rPr lang="en-US" sz="1300" dirty="0">
                <a:solidFill>
                  <a:schemeClr val="tx1"/>
                </a:solidFill>
              </a:rPr>
              <a:t>She was born in Milan, Italy.</a:t>
            </a:r>
            <a:endParaRPr lang="en-US" sz="1300" dirty="0"/>
          </a:p>
        </p:txBody>
      </p:sp>
      <p:sp>
        <p:nvSpPr>
          <p:cNvPr id="8" name="Check 2"/>
          <p:cNvSpPr/>
          <p:nvPr/>
        </p:nvSpPr>
        <p:spPr>
          <a:xfrm>
            <a:off x="457200" y="1536192"/>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Text 6"/>
          <p:cNvSpPr txBox="1"/>
          <p:nvPr/>
        </p:nvSpPr>
        <p:spPr>
          <a:xfrm>
            <a:off x="548640" y="1581912"/>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0" name="Text 7"/>
          <p:cNvSpPr txBox="1"/>
          <p:nvPr/>
        </p:nvSpPr>
        <p:spPr>
          <a:xfrm>
            <a:off x="1051560" y="1536192"/>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Opening statement</a:t>
            </a:r>
            <a:endParaRPr lang="en-US" sz="1400" dirty="0"/>
          </a:p>
        </p:txBody>
      </p:sp>
      <p:sp>
        <p:nvSpPr>
          <p:cNvPr id="11" name="Text 8"/>
          <p:cNvSpPr txBox="1"/>
          <p:nvPr/>
        </p:nvSpPr>
        <p:spPr>
          <a:xfrm>
            <a:off x="3383280" y="1536192"/>
            <a:ext cx="5120640" cy="457200"/>
          </a:xfrm>
          <a:prstGeom prst="rect">
            <a:avLst/>
          </a:prstGeom>
          <a:noFill/>
          <a:ln/>
        </p:spPr>
        <p:txBody>
          <a:bodyPr wrap="square" lIns="0" tIns="0" rIns="0" bIns="0" rtlCol="0" anchor="ctr"/>
          <a:lstStyle/>
          <a:p>
            <a:pPr indent="0" marL="0">
              <a:buNone/>
            </a:pPr>
            <a:r>
              <a:rPr lang="en-US" sz="1300" dirty="0">
                <a:solidFill>
                  <a:schemeClr val="tx1"/>
                </a:solidFill>
              </a:rPr>
              <a:t>‘Samantha Cristoforetti is an ESA astronaut.’</a:t>
            </a:r>
            <a:endParaRPr lang="en-US" sz="1300" dirty="0"/>
          </a:p>
        </p:txBody>
      </p:sp>
      <p:sp>
        <p:nvSpPr>
          <p:cNvPr id="12" name="Check 3"/>
          <p:cNvSpPr/>
          <p:nvPr/>
        </p:nvSpPr>
        <p:spPr>
          <a:xfrm>
            <a:off x="457200" y="2066544"/>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Text 10"/>
          <p:cNvSpPr txBox="1"/>
          <p:nvPr/>
        </p:nvSpPr>
        <p:spPr>
          <a:xfrm>
            <a:off x="548640" y="2112264"/>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4" name="Text 11"/>
          <p:cNvSpPr txBox="1"/>
          <p:nvPr/>
        </p:nvSpPr>
        <p:spPr>
          <a:xfrm>
            <a:off x="1051560" y="2066544"/>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Chronological order</a:t>
            </a:r>
            <a:endParaRPr lang="en-US" sz="1400" dirty="0"/>
          </a:p>
        </p:txBody>
      </p:sp>
      <p:sp>
        <p:nvSpPr>
          <p:cNvPr id="15" name="Text 12"/>
          <p:cNvSpPr txBox="1"/>
          <p:nvPr/>
        </p:nvSpPr>
        <p:spPr>
          <a:xfrm>
            <a:off x="3383280" y="2066544"/>
            <a:ext cx="5120640" cy="457200"/>
          </a:xfrm>
          <a:prstGeom prst="rect">
            <a:avLst/>
          </a:prstGeom>
          <a:noFill/>
          <a:ln/>
        </p:spPr>
        <p:txBody>
          <a:bodyPr wrap="square" lIns="0" tIns="0" rIns="0" bIns="0" rtlCol="0" anchor="ctr"/>
          <a:lstStyle/>
          <a:p>
            <a:pPr indent="0" marL="0">
              <a:buNone/>
            </a:pPr>
            <a:r>
              <a:rPr lang="en-US" sz="1300" dirty="0">
                <a:solidFill>
                  <a:schemeClr val="tx1"/>
                </a:solidFill>
              </a:rPr>
              <a:t>2001 → 2009 → 2014 → 2015 → future plans</a:t>
            </a:r>
            <a:endParaRPr lang="en-US" sz="1300" dirty="0"/>
          </a:p>
        </p:txBody>
      </p:sp>
      <p:sp>
        <p:nvSpPr>
          <p:cNvPr id="16" name="Check 4"/>
          <p:cNvSpPr/>
          <p:nvPr/>
        </p:nvSpPr>
        <p:spPr>
          <a:xfrm>
            <a:off x="457200" y="2596896"/>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Text 14"/>
          <p:cNvSpPr txBox="1"/>
          <p:nvPr/>
        </p:nvSpPr>
        <p:spPr>
          <a:xfrm>
            <a:off x="548640" y="2642616"/>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8" name="Text 15"/>
          <p:cNvSpPr txBox="1"/>
          <p:nvPr/>
        </p:nvSpPr>
        <p:spPr>
          <a:xfrm>
            <a:off x="1051560" y="2596896"/>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Dates and facts</a:t>
            </a:r>
            <a:endParaRPr lang="en-US" sz="1400" dirty="0"/>
          </a:p>
        </p:txBody>
      </p:sp>
      <p:sp>
        <p:nvSpPr>
          <p:cNvPr id="19" name="Text 16"/>
          <p:cNvSpPr txBox="1"/>
          <p:nvPr/>
        </p:nvSpPr>
        <p:spPr>
          <a:xfrm>
            <a:off x="3383280" y="2596896"/>
            <a:ext cx="5120640" cy="457200"/>
          </a:xfrm>
          <a:prstGeom prst="rect">
            <a:avLst/>
          </a:prstGeom>
          <a:noFill/>
          <a:ln/>
        </p:spPr>
        <p:txBody>
          <a:bodyPr wrap="square" lIns="0" tIns="0" rIns="0" bIns="0" rtlCol="0" anchor="ctr"/>
          <a:lstStyle/>
          <a:p>
            <a:pPr indent="0" marL="0">
              <a:buNone/>
            </a:pPr>
            <a:r>
              <a:rPr lang="en-US" sz="1300" dirty="0">
                <a:solidFill>
                  <a:schemeClr val="tx1"/>
                </a:solidFill>
              </a:rPr>
              <a:t>26 April 1977 · 200 days in space</a:t>
            </a:r>
            <a:endParaRPr lang="en-US" sz="1300" dirty="0"/>
          </a:p>
        </p:txBody>
      </p:sp>
      <p:sp>
        <p:nvSpPr>
          <p:cNvPr id="20" name="Check 5"/>
          <p:cNvSpPr/>
          <p:nvPr/>
        </p:nvSpPr>
        <p:spPr>
          <a:xfrm>
            <a:off x="457200" y="3127248"/>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Text 18"/>
          <p:cNvSpPr txBox="1"/>
          <p:nvPr/>
        </p:nvSpPr>
        <p:spPr>
          <a:xfrm>
            <a:off x="548640" y="3172968"/>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22" name="Text 19"/>
          <p:cNvSpPr txBox="1"/>
          <p:nvPr/>
        </p:nvSpPr>
        <p:spPr>
          <a:xfrm>
            <a:off x="1051560" y="3127248"/>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Sections</a:t>
            </a:r>
            <a:endParaRPr lang="en-US" sz="1400" dirty="0"/>
          </a:p>
        </p:txBody>
      </p:sp>
      <p:sp>
        <p:nvSpPr>
          <p:cNvPr id="23" name="Text 20"/>
          <p:cNvSpPr txBox="1"/>
          <p:nvPr/>
        </p:nvSpPr>
        <p:spPr>
          <a:xfrm>
            <a:off x="3383280" y="3127248"/>
            <a:ext cx="5120640" cy="457200"/>
          </a:xfrm>
          <a:prstGeom prst="rect">
            <a:avLst/>
          </a:prstGeom>
          <a:noFill/>
          <a:ln/>
        </p:spPr>
        <p:txBody>
          <a:bodyPr wrap="square" lIns="0" tIns="0" rIns="0" bIns="0" rtlCol="0" anchor="ctr"/>
          <a:lstStyle/>
          <a:p>
            <a:pPr indent="0" marL="0">
              <a:buNone/>
            </a:pPr>
            <a:r>
              <a:rPr lang="en-US" sz="1300" dirty="0">
                <a:solidFill>
                  <a:schemeClr val="tx1"/>
                </a:solidFill>
              </a:rPr>
              <a:t>Personal background, Education, Training…</a:t>
            </a:r>
            <a:endParaRPr lang="en-US" sz="1300" dirty="0"/>
          </a:p>
        </p:txBody>
      </p:sp>
      <p:sp>
        <p:nvSpPr>
          <p:cNvPr id="24" name="Check 6"/>
          <p:cNvSpPr/>
          <p:nvPr/>
        </p:nvSpPr>
        <p:spPr>
          <a:xfrm>
            <a:off x="457200" y="3657600"/>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5" name="Text 22"/>
          <p:cNvSpPr txBox="1"/>
          <p:nvPr/>
        </p:nvSpPr>
        <p:spPr>
          <a:xfrm>
            <a:off x="548640" y="3703320"/>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26" name="Text 23"/>
          <p:cNvSpPr txBox="1"/>
          <p:nvPr/>
        </p:nvSpPr>
        <p:spPr>
          <a:xfrm>
            <a:off x="1051560" y="3657600"/>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Pictures</a:t>
            </a:r>
            <a:endParaRPr lang="en-US" sz="1400" dirty="0"/>
          </a:p>
        </p:txBody>
      </p:sp>
      <p:sp>
        <p:nvSpPr>
          <p:cNvPr id="27" name="Text 24"/>
          <p:cNvSpPr txBox="1"/>
          <p:nvPr/>
        </p:nvSpPr>
        <p:spPr>
          <a:xfrm>
            <a:off x="3383280" y="3657600"/>
            <a:ext cx="5120640" cy="457200"/>
          </a:xfrm>
          <a:prstGeom prst="rect">
            <a:avLst/>
          </a:prstGeom>
          <a:noFill/>
          <a:ln/>
        </p:spPr>
        <p:txBody>
          <a:bodyPr wrap="square" lIns="0" tIns="0" rIns="0" bIns="0" rtlCol="0" anchor="ctr"/>
          <a:lstStyle/>
          <a:p>
            <a:pPr indent="0" marL="0">
              <a:buNone/>
            </a:pPr>
            <a:r>
              <a:rPr lang="en-US" sz="1300" dirty="0">
                <a:solidFill>
                  <a:schemeClr val="tx1"/>
                </a:solidFill>
              </a:rPr>
              <a:t>a photograph of Samantha in her flight suit</a:t>
            </a:r>
            <a:endParaRPr lang="en-US" sz="1300" dirty="0"/>
          </a:p>
        </p:txBody>
      </p:sp>
      <p:sp>
        <p:nvSpPr>
          <p:cNvPr id="28" name="Check 7"/>
          <p:cNvSpPr/>
          <p:nvPr/>
        </p:nvSpPr>
        <p:spPr>
          <a:xfrm>
            <a:off x="457200" y="4187952"/>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9" name="Text 26"/>
          <p:cNvSpPr txBox="1"/>
          <p:nvPr/>
        </p:nvSpPr>
        <p:spPr>
          <a:xfrm>
            <a:off x="548640" y="4233672"/>
            <a:ext cx="411480" cy="36576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30" name="Text 27"/>
          <p:cNvSpPr txBox="1"/>
          <p:nvPr/>
        </p:nvSpPr>
        <p:spPr>
          <a:xfrm>
            <a:off x="1051560" y="4187952"/>
            <a:ext cx="2286000" cy="457200"/>
          </a:xfrm>
          <a:prstGeom prst="rect">
            <a:avLst/>
          </a:prstGeom>
          <a:noFill/>
          <a:ln/>
        </p:spPr>
        <p:txBody>
          <a:bodyPr wrap="square" lIns="0" tIns="0" rIns="0" bIns="0" rtlCol="0" anchor="ctr"/>
          <a:lstStyle/>
          <a:p>
            <a:pPr indent="0" marL="0">
              <a:buNone/>
            </a:pPr>
            <a:r>
              <a:rPr lang="en-US" sz="1400" b="1" dirty="0">
                <a:solidFill>
                  <a:schemeClr val="accent4"/>
                </a:solidFill>
              </a:rPr>
              <a:t>Direct speech</a:t>
            </a:r>
            <a:endParaRPr lang="en-US" sz="1400" dirty="0"/>
          </a:p>
        </p:txBody>
      </p:sp>
      <p:sp>
        <p:nvSpPr>
          <p:cNvPr id="31" name="Text 28"/>
          <p:cNvSpPr txBox="1"/>
          <p:nvPr/>
        </p:nvSpPr>
        <p:spPr>
          <a:xfrm>
            <a:off x="3383280" y="4187952"/>
            <a:ext cx="5120640" cy="457200"/>
          </a:xfrm>
          <a:prstGeom prst="rect">
            <a:avLst/>
          </a:prstGeom>
          <a:noFill/>
          <a:ln/>
        </p:spPr>
        <p:txBody>
          <a:bodyPr wrap="square" lIns="0" tIns="0" rIns="0" bIns="0" rtlCol="0" anchor="ctr"/>
          <a:lstStyle/>
          <a:p>
            <a:pPr indent="0" marL="0">
              <a:buNone/>
            </a:pPr>
            <a:r>
              <a:rPr lang="en-US" sz="1300" dirty="0">
                <a:solidFill>
                  <a:schemeClr val="tx1"/>
                </a:solidFill>
              </a:rPr>
              <a:t>‘The sky is not the limit.’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Explicit and implicit information</a:t>
            </a:r>
            <a:endParaRPr lang="en-US" sz="3000" dirty="0"/>
          </a:p>
        </p:txBody>
      </p:sp>
      <p:sp>
        <p:nvSpPr>
          <p:cNvPr id="4" name="EXPLICIT"/>
          <p:cNvSpPr/>
          <p:nvPr/>
        </p:nvSpPr>
        <p:spPr>
          <a:xfrm>
            <a:off x="457200" y="1051560"/>
            <a:ext cx="4023360" cy="2743200"/>
          </a:xfrm>
          <a:prstGeom prst="roundRect">
            <a:avLst>
              <a:gd name="adj" fmla="val 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Header"/>
          <p:cNvSpPr/>
          <p:nvPr/>
        </p:nvSpPr>
        <p:spPr>
          <a:xfrm>
            <a:off x="594360" y="1170432"/>
            <a:ext cx="3749040" cy="502920"/>
          </a:xfrm>
          <a:prstGeom prst="roundRect">
            <a:avLst>
              <a:gd name="adj" fmla="val 18182"/>
            </a:avLst>
          </a:prstGeom>
          <a:solidFill>
            <a:schemeClr val="accent2"/>
          </a:solidFill>
          <a:ln w="6350">
            <a:solidFill>
              <a:schemeClr val="accent2"/>
            </a:solidFill>
            <a:prstDash val="solid"/>
          </a:ln>
        </p:spPr>
      </p:sp>
      <p:sp>
        <p:nvSpPr>
          <p:cNvPr id="6" name="Text 3"/>
          <p:cNvSpPr txBox="1"/>
          <p:nvPr/>
        </p:nvSpPr>
        <p:spPr>
          <a:xfrm>
            <a:off x="594360" y="1170432"/>
            <a:ext cx="374904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EXPLICIT</a:t>
            </a:r>
            <a:endParaRPr lang="en-US" sz="1800" dirty="0"/>
          </a:p>
        </p:txBody>
      </p:sp>
      <p:sp>
        <p:nvSpPr>
          <p:cNvPr id="7" name="Text 4"/>
          <p:cNvSpPr txBox="1"/>
          <p:nvPr/>
        </p:nvSpPr>
        <p:spPr>
          <a:xfrm>
            <a:off x="685800" y="1783080"/>
            <a:ext cx="3566160" cy="365760"/>
          </a:xfrm>
          <a:prstGeom prst="rect">
            <a:avLst/>
          </a:prstGeom>
          <a:noFill/>
          <a:ln/>
        </p:spPr>
        <p:txBody>
          <a:bodyPr wrap="square" lIns="0" tIns="0" rIns="0" bIns="0" rtlCol="0" anchor="ctr"/>
          <a:lstStyle/>
          <a:p>
            <a:pPr indent="0" marL="0">
              <a:buNone/>
            </a:pPr>
            <a:r>
              <a:rPr lang="en-US" sz="1400" i="1" dirty="0">
                <a:solidFill>
                  <a:schemeClr val="tx2"/>
                </a:solidFill>
              </a:rPr>
              <a:t>stated directly in the text</a:t>
            </a:r>
            <a:endParaRPr lang="en-US" sz="1400" dirty="0"/>
          </a:p>
        </p:txBody>
      </p:sp>
      <p:sp>
        <p:nvSpPr>
          <p:cNvPr id="8" name="Example"/>
          <p:cNvSpPr/>
          <p:nvPr/>
        </p:nvSpPr>
        <p:spPr>
          <a:xfrm>
            <a:off x="640080" y="2240280"/>
            <a:ext cx="3657600" cy="731520"/>
          </a:xfrm>
          <a:prstGeom prst="roundRect">
            <a:avLst>
              <a:gd name="adj" fmla="val 15000"/>
            </a:avLst>
          </a:prstGeom>
          <a:solidFill>
            <a:schemeClr val="accent5"/>
          </a:solidFill>
          <a:ln w="9525">
            <a:solidFill>
              <a:schemeClr val="accent5"/>
            </a:solidFill>
            <a:prstDash val="solid"/>
          </a:ln>
        </p:spPr>
      </p:sp>
      <p:sp>
        <p:nvSpPr>
          <p:cNvPr id="9" name="Text 6"/>
          <p:cNvSpPr txBox="1"/>
          <p:nvPr/>
        </p:nvSpPr>
        <p:spPr>
          <a:xfrm>
            <a:off x="731520" y="2240280"/>
            <a:ext cx="3474720" cy="731520"/>
          </a:xfrm>
          <a:prstGeom prst="rect">
            <a:avLst/>
          </a:prstGeom>
          <a:noFill/>
          <a:ln/>
        </p:spPr>
        <p:txBody>
          <a:bodyPr wrap="square" lIns="0" tIns="0" rIns="0" bIns="0" rtlCol="0" anchor="ctr"/>
          <a:lstStyle/>
          <a:p>
            <a:pPr indent="0" marL="0">
              <a:buNone/>
            </a:pPr>
            <a:r>
              <a:rPr lang="en-US" sz="1400" b="1" dirty="0">
                <a:solidFill>
                  <a:schemeClr val="tx1"/>
                </a:solidFill>
              </a:rPr>
              <a:t>“Her family were very poor.”</a:t>
            </a:r>
            <a:endParaRPr lang="en-US" sz="1400" dirty="0"/>
          </a:p>
        </p:txBody>
      </p:sp>
      <p:sp>
        <p:nvSpPr>
          <p:cNvPr id="10" name="Text 7"/>
          <p:cNvSpPr txBox="1"/>
          <p:nvPr/>
        </p:nvSpPr>
        <p:spPr>
          <a:xfrm>
            <a:off x="685800" y="3063240"/>
            <a:ext cx="3566160" cy="640080"/>
          </a:xfrm>
          <a:prstGeom prst="rect">
            <a:avLst/>
          </a:prstGeom>
          <a:noFill/>
          <a:ln/>
        </p:spPr>
        <p:txBody>
          <a:bodyPr wrap="square" lIns="0" tIns="0" rIns="0" bIns="0" rtlCol="0" anchor="t"/>
          <a:lstStyle/>
          <a:p>
            <a:pPr indent="0" marL="0">
              <a:buNone/>
            </a:pPr>
            <a:r>
              <a:rPr lang="en-US" sz="1300" dirty="0">
                <a:solidFill>
                  <a:schemeClr val="tx1"/>
                </a:solidFill>
              </a:rPr>
              <a:t>It is written in the words.</a:t>
            </a:r>
            <a:endParaRPr lang="en-US" sz="1300" dirty="0"/>
          </a:p>
        </p:txBody>
      </p:sp>
      <p:sp>
        <p:nvSpPr>
          <p:cNvPr id="11" name="IMPLICIT"/>
          <p:cNvSpPr/>
          <p:nvPr/>
        </p:nvSpPr>
        <p:spPr>
          <a:xfrm>
            <a:off x="4663440" y="1051560"/>
            <a:ext cx="4023360" cy="2743200"/>
          </a:xfrm>
          <a:prstGeom prst="roundRect">
            <a:avLst>
              <a:gd name="adj" fmla="val 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2" name="Header"/>
          <p:cNvSpPr/>
          <p:nvPr/>
        </p:nvSpPr>
        <p:spPr>
          <a:xfrm>
            <a:off x="4800600" y="1170432"/>
            <a:ext cx="3749040" cy="502920"/>
          </a:xfrm>
          <a:prstGeom prst="roundRect">
            <a:avLst>
              <a:gd name="adj" fmla="val 18182"/>
            </a:avLst>
          </a:prstGeom>
          <a:solidFill>
            <a:schemeClr val="accent3"/>
          </a:solidFill>
          <a:ln w="6350">
            <a:solidFill>
              <a:schemeClr val="accent3"/>
            </a:solidFill>
            <a:prstDash val="solid"/>
          </a:ln>
        </p:spPr>
      </p:sp>
      <p:sp>
        <p:nvSpPr>
          <p:cNvPr id="13" name="Text 10"/>
          <p:cNvSpPr txBox="1"/>
          <p:nvPr/>
        </p:nvSpPr>
        <p:spPr>
          <a:xfrm>
            <a:off x="4800600" y="1170432"/>
            <a:ext cx="374904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IMPLICIT</a:t>
            </a:r>
            <a:endParaRPr lang="en-US" sz="1800" dirty="0"/>
          </a:p>
        </p:txBody>
      </p:sp>
      <p:sp>
        <p:nvSpPr>
          <p:cNvPr id="14" name="Text 11"/>
          <p:cNvSpPr txBox="1"/>
          <p:nvPr/>
        </p:nvSpPr>
        <p:spPr>
          <a:xfrm>
            <a:off x="4892040" y="1783080"/>
            <a:ext cx="3566160" cy="365760"/>
          </a:xfrm>
          <a:prstGeom prst="rect">
            <a:avLst/>
          </a:prstGeom>
          <a:noFill/>
          <a:ln/>
        </p:spPr>
        <p:txBody>
          <a:bodyPr wrap="square" lIns="0" tIns="0" rIns="0" bIns="0" rtlCol="0" anchor="ctr"/>
          <a:lstStyle/>
          <a:p>
            <a:pPr indent="0" marL="0">
              <a:buNone/>
            </a:pPr>
            <a:r>
              <a:rPr lang="en-US" sz="1400" i="1" dirty="0">
                <a:solidFill>
                  <a:schemeClr val="tx2"/>
                </a:solidFill>
              </a:rPr>
              <a:t>not stated: you work it out</a:t>
            </a:r>
            <a:endParaRPr lang="en-US" sz="1400" dirty="0"/>
          </a:p>
        </p:txBody>
      </p:sp>
      <p:sp>
        <p:nvSpPr>
          <p:cNvPr id="15" name="Example"/>
          <p:cNvSpPr/>
          <p:nvPr/>
        </p:nvSpPr>
        <p:spPr>
          <a:xfrm>
            <a:off x="4846320" y="2240280"/>
            <a:ext cx="3657600" cy="731520"/>
          </a:xfrm>
          <a:prstGeom prst="roundRect">
            <a:avLst>
              <a:gd name="adj" fmla="val 15000"/>
            </a:avLst>
          </a:prstGeom>
          <a:solidFill>
            <a:schemeClr val="accent5"/>
          </a:solidFill>
          <a:ln w="9525">
            <a:solidFill>
              <a:schemeClr val="accent5"/>
            </a:solidFill>
            <a:prstDash val="solid"/>
          </a:ln>
        </p:spPr>
      </p:sp>
      <p:sp>
        <p:nvSpPr>
          <p:cNvPr id="16" name="Text 13"/>
          <p:cNvSpPr txBox="1"/>
          <p:nvPr/>
        </p:nvSpPr>
        <p:spPr>
          <a:xfrm>
            <a:off x="4937760" y="2240280"/>
            <a:ext cx="3474720" cy="731520"/>
          </a:xfrm>
          <a:prstGeom prst="rect">
            <a:avLst/>
          </a:prstGeom>
          <a:noFill/>
          <a:ln/>
        </p:spPr>
        <p:txBody>
          <a:bodyPr wrap="square" lIns="0" tIns="0" rIns="0" bIns="0" rtlCol="0" anchor="ctr"/>
          <a:lstStyle/>
          <a:p>
            <a:pPr indent="0" marL="0">
              <a:buNone/>
            </a:pPr>
            <a:r>
              <a:rPr lang="en-US" sz="1400" b="1" dirty="0">
                <a:solidFill>
                  <a:schemeClr val="tx1"/>
                </a:solidFill>
              </a:rPr>
              <a:t>She must have been brave and determined.</a:t>
            </a:r>
            <a:endParaRPr lang="en-US" sz="1400" dirty="0"/>
          </a:p>
        </p:txBody>
      </p:sp>
      <p:sp>
        <p:nvSpPr>
          <p:cNvPr id="17" name="Text 14"/>
          <p:cNvSpPr txBox="1"/>
          <p:nvPr/>
        </p:nvSpPr>
        <p:spPr>
          <a:xfrm>
            <a:off x="4892040" y="3063240"/>
            <a:ext cx="3566160" cy="640080"/>
          </a:xfrm>
          <a:prstGeom prst="rect">
            <a:avLst/>
          </a:prstGeom>
          <a:noFill/>
          <a:ln/>
        </p:spPr>
        <p:txBody>
          <a:bodyPr wrap="square" lIns="0" tIns="0" rIns="0" bIns="0" rtlCol="0" anchor="t"/>
          <a:lstStyle/>
          <a:p>
            <a:pPr indent="0" marL="0">
              <a:buNone/>
            </a:pPr>
            <a:r>
              <a:rPr lang="en-US" sz="1300" dirty="0">
                <a:solidFill>
                  <a:schemeClr val="tx1"/>
                </a:solidFill>
              </a:rPr>
              <a:t>Clue: she left home young and climbed Everest.</a:t>
            </a:r>
            <a:endParaRPr lang="en-US" sz="1300" dirty="0"/>
          </a:p>
        </p:txBody>
      </p:sp>
      <p:sp>
        <p:nvSpPr>
          <p:cNvPr id="18" name="Callout"/>
          <p:cNvSpPr/>
          <p:nvPr/>
        </p:nvSpPr>
        <p:spPr>
          <a:xfrm>
            <a:off x="457200" y="4023360"/>
            <a:ext cx="8229600" cy="502920"/>
          </a:xfrm>
          <a:prstGeom prst="roundRect">
            <a:avLst>
              <a:gd name="adj" fmla="val 21818"/>
            </a:avLst>
          </a:prstGeom>
          <a:solidFill>
            <a:schemeClr val="accent5"/>
          </a:solidFill>
          <a:ln w="9525">
            <a:solidFill>
              <a:schemeClr val="accent5"/>
            </a:solidFill>
            <a:prstDash val="solid"/>
          </a:ln>
        </p:spPr>
      </p:sp>
      <p:sp>
        <p:nvSpPr>
          <p:cNvPr id="19" name="Text 16"/>
          <p:cNvSpPr txBox="1"/>
          <p:nvPr/>
        </p:nvSpPr>
        <p:spPr>
          <a:xfrm>
            <a:off x="640080" y="4023360"/>
            <a:ext cx="7863840" cy="502920"/>
          </a:xfrm>
          <a:prstGeom prst="rect">
            <a:avLst/>
          </a:prstGeom>
          <a:noFill/>
          <a:ln/>
        </p:spPr>
        <p:txBody>
          <a:bodyPr wrap="square" lIns="0" tIns="0" rIns="0" bIns="0" rtlCol="0" anchor="ctr"/>
          <a:lstStyle/>
          <a:p>
            <a:pPr algn="ctr" indent="0" marL="0">
              <a:buNone/>
            </a:pPr>
            <a:r>
              <a:rPr lang="en-US" sz="1600" b="1" dirty="0">
                <a:solidFill>
                  <a:schemeClr val="tx1"/>
                </a:solidFill>
              </a:rPr>
              <a:t>Explicit = read the lines.   Implicit = read between the lines.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Word 1: RESIDENTIAL SCHOOL</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indent="0" marL="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indent="0" marL="0">
              <a:buNone/>
            </a:pPr>
            <a:r>
              <a:rPr lang="en-US" sz="2000" dirty="0">
                <a:solidFill>
                  <a:schemeClr val="tx1"/>
                </a:solidFill>
              </a:rPr>
              <a:t>Malavath left home and attended a </a:t>
            </a:r>
            <a:pPr indent="0" marL="0">
              <a:buNone/>
            </a:pPr>
            <a:r>
              <a:rPr lang="en-US" sz="2000" b="1" u="sng" dirty="0">
                <a:solidFill>
                  <a:schemeClr val="tx1"/>
                </a:solidFill>
              </a:rPr>
              <a:t>residential school</a:t>
            </a:r>
            <a:pPr indent="0" marL="0">
              <a:buNone/>
            </a:pPr>
            <a:r>
              <a:rPr lang="en-US" sz="2000" dirty="0">
                <a:solidFill>
                  <a:schemeClr val="tx1"/>
                </a:solidFill>
              </a:rPr>
              <a: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She left home to go there. Where did she live? What might a residential school be?</a:t>
            </a:r>
            <a:endParaRPr lang="en-US" sz="1400" dirty="0"/>
          </a:p>
          <a:p>
            <a:pPr indent="0" marL="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Use &amp; check: residential school</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Residential school = a school where children live and study.</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A residential school is different from my school because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indent="0" marL="0">
              <a:buNone/>
            </a:pPr>
            <a:r>
              <a:rPr lang="en-US" sz="1400" b="1" dirty="0">
                <a:solidFill>
                  <a:schemeClr val="accent5"/>
                </a:solidFill>
              </a:rPr>
              <a:t>PAIR CHECK → </a:t>
            </a:r>
            <a:pPr indent="0" marL="0">
              <a:buNone/>
            </a:pP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algn="ctr" indent="0" marL="0">
              <a:buNone/>
            </a:pPr>
            <a:r>
              <a:rPr lang="en-US" sz="1500" b="1" dirty="0">
                <a:solidFill>
                  <a:schemeClr val="tx1"/>
                </a:solidFill>
              </a:rPr>
              <a:t>QUICK ANSWER / LOOK FOR: </a:t>
            </a:r>
            <a:pPr algn="ctr" indent="0" marL="0">
              <a:buNone/>
            </a:pPr>
            <a:r>
              <a:rPr lang="en-US" sz="1500" dirty="0">
                <a:solidFill>
                  <a:schemeClr val="tx1"/>
                </a:solidFill>
              </a:rPr>
              <a:t>a school where children live as well as study; they sleep there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Word 2: EXPEDITION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indent="0" marL="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indent="0" marL="0">
              <a:buNone/>
            </a:pPr>
            <a:r>
              <a:rPr lang="en-US" sz="2000" dirty="0">
                <a:solidFill>
                  <a:schemeClr val="tx1"/>
                </a:solidFill>
              </a:rPr>
              <a:t>She had to compete with 21 other climbers to be chosen for the Everest </a:t>
            </a:r>
            <a:pPr indent="0" marL="0">
              <a:buNone/>
            </a:pPr>
            <a:r>
              <a:rPr lang="en-US" sz="2000" b="1" u="sng" dirty="0">
                <a:solidFill>
                  <a:schemeClr val="tx1"/>
                </a:solidFill>
              </a:rPr>
              <a:t>expedition</a:t>
            </a:r>
            <a:pPr indent="0" marL="0">
              <a:buNone/>
            </a:pPr>
            <a:r>
              <a:rPr lang="en-US" sz="2000" dirty="0">
                <a:solidFill>
                  <a:schemeClr val="tx1"/>
                </a:solidFill>
              </a:rPr>
              <a:t> in 2014.</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Everest is very far and very high. What kind of trip is this? What might expedition mean?</a:t>
            </a:r>
            <a:endParaRPr lang="en-US" sz="1400" dirty="0"/>
          </a:p>
          <a:p>
            <a:pPr indent="0" marL="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Use &amp; check: expedition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Expedition = a journey, especially a long one with a special purpose.</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An expedition to ______ would need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indent="0" marL="0">
              <a:buNone/>
            </a:pPr>
            <a:r>
              <a:rPr lang="en-US" sz="1400" b="1" dirty="0">
                <a:solidFill>
                  <a:schemeClr val="accent5"/>
                </a:solidFill>
              </a:rPr>
              <a:t>PAIR CHECK → </a:t>
            </a:r>
            <a:pPr indent="0" marL="0">
              <a:buNone/>
            </a:pP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algn="ctr" indent="0" marL="0">
              <a:buNone/>
            </a:pPr>
            <a:r>
              <a:rPr lang="en-US" sz="1500" b="1" dirty="0">
                <a:solidFill>
                  <a:schemeClr val="tx1"/>
                </a:solidFill>
              </a:rPr>
              <a:t>QUICK ANSWER / LOOK FOR: </a:t>
            </a:r>
            <a:pPr algn="ctr" indent="0" marL="0">
              <a:buNone/>
            </a:pPr>
            <a:r>
              <a:rPr lang="en-US" sz="1500" dirty="0">
                <a:solidFill>
                  <a:schemeClr val="tx1"/>
                </a:solidFill>
              </a:rPr>
              <a:t>a journey for a purpose; e.g. to the Arctic, to climb a mountain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Word 3: SUMMIT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indent="0" marL="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indent="0" marL="0">
              <a:buNone/>
            </a:pPr>
            <a:r>
              <a:rPr lang="en-US" sz="2000" dirty="0">
                <a:solidFill>
                  <a:schemeClr val="tx1"/>
                </a:solidFill>
              </a:rPr>
              <a:t>Malavath reached the </a:t>
            </a:r>
            <a:pPr indent="0" marL="0">
              <a:buNone/>
            </a:pPr>
            <a:r>
              <a:rPr lang="en-US" sz="2000" b="1" u="sng" dirty="0">
                <a:solidFill>
                  <a:schemeClr val="tx1"/>
                </a:solidFill>
              </a:rPr>
              <a:t>summit</a:t>
            </a:r>
            <a:pPr indent="0" marL="0">
              <a:buNone/>
            </a:pPr>
            <a:r>
              <a:rPr lang="en-US" sz="2000" dirty="0">
                <a:solidFill>
                  <a:schemeClr val="tx1"/>
                </a:solidFill>
              </a:rPr>
              <a:t> on 25 May 2014.</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When you climb a mountain, where do you want to arrive? What might summit mean?</a:t>
            </a:r>
            <a:endParaRPr lang="en-US" sz="1400" dirty="0"/>
          </a:p>
          <a:p>
            <a:pPr indent="0" marL="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Use &amp; check: summit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Summit = the top (of a mountain).</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indent="0" marL="0">
              <a:buNone/>
            </a:pPr>
            <a:r>
              <a:rPr lang="en-US" sz="1600" dirty="0">
                <a:solidFill>
                  <a:schemeClr val="tx1"/>
                </a:solidFill>
              </a:rPr>
              <a:t>The climbers reached the summit and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indent="0" marL="0">
              <a:buNone/>
            </a:pPr>
            <a:r>
              <a:rPr lang="en-US" sz="1400" b="1" dirty="0">
                <a:solidFill>
                  <a:schemeClr val="accent5"/>
                </a:solidFill>
              </a:rPr>
              <a:t>PAIR CHECK → </a:t>
            </a:r>
            <a:pPr indent="0" marL="0">
              <a:buNone/>
            </a:pP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algn="ctr" indent="0" marL="0">
              <a:buNone/>
            </a:pPr>
            <a:r>
              <a:rPr lang="en-US" sz="1500" b="1" dirty="0">
                <a:solidFill>
                  <a:schemeClr val="tx1"/>
                </a:solidFill>
              </a:rPr>
              <a:t>QUICK ANSWER / LOOK FOR: </a:t>
            </a:r>
            <a:pPr algn="ctr" indent="0" marL="0">
              <a:buNone/>
            </a:pPr>
            <a:r>
              <a:rPr lang="en-US" sz="1500" dirty="0">
                <a:solidFill>
                  <a:schemeClr val="tx1"/>
                </a:solidFill>
              </a:rPr>
              <a:t>the top of a mountain; e.g. took photographs, planted a flag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Poorna Malavath at a glance</a:t>
            </a:r>
            <a:endParaRPr lang="en-US" sz="3000" dirty="0"/>
          </a:p>
        </p:txBody>
      </p:sp>
      <p:sp>
        <p:nvSpPr>
          <p:cNvPr id="4" name="Event 1"/>
          <p:cNvSpPr/>
          <p:nvPr/>
        </p:nvSpPr>
        <p:spPr>
          <a:xfrm>
            <a:off x="457200" y="1005840"/>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Date tag"/>
          <p:cNvSpPr/>
          <p:nvPr/>
        </p:nvSpPr>
        <p:spPr>
          <a:xfrm>
            <a:off x="548640" y="1088136"/>
            <a:ext cx="1463040" cy="365760"/>
          </a:xfrm>
          <a:prstGeom prst="roundRect">
            <a:avLst>
              <a:gd name="adj" fmla="val 25000"/>
            </a:avLst>
          </a:prstGeom>
          <a:solidFill>
            <a:schemeClr val="accent1"/>
          </a:solidFill>
          <a:ln w="6350">
            <a:solidFill>
              <a:schemeClr val="accent1"/>
            </a:solidFill>
            <a:prstDash val="solid"/>
          </a:ln>
        </p:spPr>
      </p:sp>
      <p:sp>
        <p:nvSpPr>
          <p:cNvPr id="6" name="Text 3"/>
          <p:cNvSpPr txBox="1"/>
          <p:nvPr/>
        </p:nvSpPr>
        <p:spPr>
          <a:xfrm>
            <a:off x="548640" y="1088136"/>
            <a:ext cx="1463040" cy="365760"/>
          </a:xfrm>
          <a:prstGeom prst="rect">
            <a:avLst/>
          </a:prstGeom>
          <a:noFill/>
          <a:ln/>
        </p:spPr>
        <p:txBody>
          <a:bodyPr wrap="square" lIns="0" tIns="0" rIns="0" bIns="0" rtlCol="0" anchor="ctr"/>
          <a:lstStyle/>
          <a:p>
            <a:pPr algn="ctr" indent="0" marL="0">
              <a:buNone/>
            </a:pPr>
            <a:r>
              <a:rPr lang="en-US" sz="1200" b="1" dirty="0">
                <a:solidFill>
                  <a:schemeClr val="tx1"/>
                </a:solidFill>
              </a:rPr>
              <a:t>10 June 2000</a:t>
            </a:r>
            <a:endParaRPr lang="en-US" sz="1200" dirty="0"/>
          </a:p>
        </p:txBody>
      </p:sp>
      <p:sp>
        <p:nvSpPr>
          <p:cNvPr id="7" name="Text 4"/>
          <p:cNvSpPr txBox="1"/>
          <p:nvPr/>
        </p:nvSpPr>
        <p:spPr>
          <a:xfrm>
            <a:off x="2148840" y="1005840"/>
            <a:ext cx="6355080" cy="530352"/>
          </a:xfrm>
          <a:prstGeom prst="rect">
            <a:avLst/>
          </a:prstGeom>
          <a:noFill/>
          <a:ln/>
        </p:spPr>
        <p:txBody>
          <a:bodyPr wrap="square" lIns="0" tIns="0" rIns="0" bIns="0" rtlCol="0" anchor="ctr"/>
          <a:lstStyle/>
          <a:p>
            <a:pPr indent="0" marL="0">
              <a:buNone/>
            </a:pPr>
            <a:r>
              <a:rPr lang="en-US" sz="1200" dirty="0">
                <a:solidFill>
                  <a:schemeClr val="tx1"/>
                </a:solidFill>
              </a:rPr>
              <a:t>Born in a village in Telangana, India. Her family were very poor and had no mountain-climbing experience.</a:t>
            </a:r>
            <a:endParaRPr lang="en-US" sz="1200" dirty="0"/>
          </a:p>
        </p:txBody>
      </p:sp>
      <p:sp>
        <p:nvSpPr>
          <p:cNvPr id="8" name="Event 2"/>
          <p:cNvSpPr/>
          <p:nvPr/>
        </p:nvSpPr>
        <p:spPr>
          <a:xfrm>
            <a:off x="457200" y="1609344"/>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Date tag"/>
          <p:cNvSpPr/>
          <p:nvPr/>
        </p:nvSpPr>
        <p:spPr>
          <a:xfrm>
            <a:off x="548640" y="1691640"/>
            <a:ext cx="1463040" cy="365760"/>
          </a:xfrm>
          <a:prstGeom prst="roundRect">
            <a:avLst>
              <a:gd name="adj" fmla="val 25000"/>
            </a:avLst>
          </a:prstGeom>
          <a:solidFill>
            <a:schemeClr val="accent2"/>
          </a:solidFill>
          <a:ln w="6350">
            <a:solidFill>
              <a:schemeClr val="accent2"/>
            </a:solidFill>
            <a:prstDash val="solid"/>
          </a:ln>
        </p:spPr>
      </p:sp>
      <p:sp>
        <p:nvSpPr>
          <p:cNvPr id="10" name="Text 7"/>
          <p:cNvSpPr txBox="1"/>
          <p:nvPr/>
        </p:nvSpPr>
        <p:spPr>
          <a:xfrm>
            <a:off x="548640" y="1691640"/>
            <a:ext cx="1463040" cy="365760"/>
          </a:xfrm>
          <a:prstGeom prst="rect">
            <a:avLst/>
          </a:prstGeom>
          <a:noFill/>
          <a:ln/>
        </p:spPr>
        <p:txBody>
          <a:bodyPr wrap="square" lIns="0" tIns="0" rIns="0" bIns="0" rtlCol="0" anchor="ctr"/>
          <a:lstStyle/>
          <a:p>
            <a:pPr algn="ctr" indent="0" marL="0">
              <a:buNone/>
            </a:pPr>
            <a:r>
              <a:rPr lang="en-US" sz="1200" b="1" dirty="0">
                <a:solidFill>
                  <a:schemeClr val="tx1"/>
                </a:solidFill>
              </a:rPr>
              <a:t>Early age</a:t>
            </a:r>
            <a:endParaRPr lang="en-US" sz="1200" dirty="0"/>
          </a:p>
        </p:txBody>
      </p:sp>
      <p:sp>
        <p:nvSpPr>
          <p:cNvPr id="11" name="Text 8"/>
          <p:cNvSpPr txBox="1"/>
          <p:nvPr/>
        </p:nvSpPr>
        <p:spPr>
          <a:xfrm>
            <a:off x="2148840" y="1609344"/>
            <a:ext cx="6355080" cy="530352"/>
          </a:xfrm>
          <a:prstGeom prst="rect">
            <a:avLst/>
          </a:prstGeom>
          <a:noFill/>
          <a:ln/>
        </p:spPr>
        <p:txBody>
          <a:bodyPr wrap="square" lIns="0" tIns="0" rIns="0" bIns="0" rtlCol="0" anchor="ctr"/>
          <a:lstStyle/>
          <a:p>
            <a:pPr indent="0" marL="0">
              <a:buNone/>
            </a:pPr>
            <a:r>
              <a:rPr lang="en-US" sz="1200" dirty="0">
                <a:solidFill>
                  <a:schemeClr val="tx1"/>
                </a:solidFill>
              </a:rPr>
              <a:t>Left home for a residential school. Dr Kumar spotted her talent and recommended Operation Everest.</a:t>
            </a:r>
            <a:endParaRPr lang="en-US" sz="1200" dirty="0"/>
          </a:p>
        </p:txBody>
      </p:sp>
      <p:sp>
        <p:nvSpPr>
          <p:cNvPr id="12" name="Event 3"/>
          <p:cNvSpPr/>
          <p:nvPr/>
        </p:nvSpPr>
        <p:spPr>
          <a:xfrm>
            <a:off x="457200" y="2212848"/>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Date tag"/>
          <p:cNvSpPr/>
          <p:nvPr/>
        </p:nvSpPr>
        <p:spPr>
          <a:xfrm>
            <a:off x="548640" y="2295144"/>
            <a:ext cx="1463040" cy="365760"/>
          </a:xfrm>
          <a:prstGeom prst="roundRect">
            <a:avLst>
              <a:gd name="adj" fmla="val 25000"/>
            </a:avLst>
          </a:prstGeom>
          <a:solidFill>
            <a:schemeClr val="accent3"/>
          </a:solidFill>
          <a:ln w="6350">
            <a:solidFill>
              <a:schemeClr val="accent3"/>
            </a:solidFill>
            <a:prstDash val="solid"/>
          </a:ln>
        </p:spPr>
      </p:sp>
      <p:sp>
        <p:nvSpPr>
          <p:cNvPr id="14" name="Text 11"/>
          <p:cNvSpPr txBox="1"/>
          <p:nvPr/>
        </p:nvSpPr>
        <p:spPr>
          <a:xfrm>
            <a:off x="548640" y="2295144"/>
            <a:ext cx="1463040" cy="365760"/>
          </a:xfrm>
          <a:prstGeom prst="rect">
            <a:avLst/>
          </a:prstGeom>
          <a:noFill/>
          <a:ln/>
        </p:spPr>
        <p:txBody>
          <a:bodyPr wrap="square" lIns="0" tIns="0" rIns="0" bIns="0" rtlCol="0" anchor="ctr"/>
          <a:lstStyle/>
          <a:p>
            <a:pPr algn="ctr" indent="0" marL="0">
              <a:buNone/>
            </a:pPr>
            <a:r>
              <a:rPr lang="en-US" sz="1200" b="1" dirty="0">
                <a:solidFill>
                  <a:schemeClr val="tx1"/>
                </a:solidFill>
              </a:rPr>
              <a:t>2013</a:t>
            </a:r>
            <a:endParaRPr lang="en-US" sz="1200" dirty="0"/>
          </a:p>
        </p:txBody>
      </p:sp>
      <p:sp>
        <p:nvSpPr>
          <p:cNvPr id="15" name="Text 12"/>
          <p:cNvSpPr txBox="1"/>
          <p:nvPr/>
        </p:nvSpPr>
        <p:spPr>
          <a:xfrm>
            <a:off x="2148840" y="2212848"/>
            <a:ext cx="6355080" cy="530352"/>
          </a:xfrm>
          <a:prstGeom prst="rect">
            <a:avLst/>
          </a:prstGeom>
          <a:noFill/>
          <a:ln/>
        </p:spPr>
        <p:txBody>
          <a:bodyPr wrap="square" lIns="0" tIns="0" rIns="0" bIns="0" rtlCol="0" anchor="ctr"/>
          <a:lstStyle/>
          <a:p>
            <a:pPr indent="0" marL="0">
              <a:buNone/>
            </a:pPr>
            <a:r>
              <a:rPr lang="en-US" sz="1200" dirty="0">
                <a:solidFill>
                  <a:schemeClr val="tx1"/>
                </a:solidFill>
              </a:rPr>
              <a:t>Sent to train in Darjeeling for eight months. Saw snow for the first time.</a:t>
            </a:r>
            <a:endParaRPr lang="en-US" sz="1200" dirty="0"/>
          </a:p>
        </p:txBody>
      </p:sp>
      <p:sp>
        <p:nvSpPr>
          <p:cNvPr id="16" name="Event 4"/>
          <p:cNvSpPr/>
          <p:nvPr/>
        </p:nvSpPr>
        <p:spPr>
          <a:xfrm>
            <a:off x="457200" y="2816352"/>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Date tag"/>
          <p:cNvSpPr/>
          <p:nvPr/>
        </p:nvSpPr>
        <p:spPr>
          <a:xfrm>
            <a:off x="548640" y="2898648"/>
            <a:ext cx="1463040" cy="365760"/>
          </a:xfrm>
          <a:prstGeom prst="roundRect">
            <a:avLst>
              <a:gd name="adj" fmla="val 25000"/>
            </a:avLst>
          </a:prstGeom>
          <a:solidFill>
            <a:schemeClr val="accent4"/>
          </a:solidFill>
          <a:ln w="6350">
            <a:solidFill>
              <a:schemeClr val="accent4"/>
            </a:solidFill>
            <a:prstDash val="solid"/>
          </a:ln>
        </p:spPr>
      </p:sp>
      <p:sp>
        <p:nvSpPr>
          <p:cNvPr id="18" name="Text 15"/>
          <p:cNvSpPr txBox="1"/>
          <p:nvPr/>
        </p:nvSpPr>
        <p:spPr>
          <a:xfrm>
            <a:off x="548640" y="2898648"/>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2014</a:t>
            </a:r>
            <a:endParaRPr lang="en-US" sz="1200" dirty="0"/>
          </a:p>
        </p:txBody>
      </p:sp>
      <p:sp>
        <p:nvSpPr>
          <p:cNvPr id="19" name="Text 16"/>
          <p:cNvSpPr txBox="1"/>
          <p:nvPr/>
        </p:nvSpPr>
        <p:spPr>
          <a:xfrm>
            <a:off x="2148840" y="2816352"/>
            <a:ext cx="6355080" cy="530352"/>
          </a:xfrm>
          <a:prstGeom prst="rect">
            <a:avLst/>
          </a:prstGeom>
          <a:noFill/>
          <a:ln/>
        </p:spPr>
        <p:txBody>
          <a:bodyPr wrap="square" lIns="0" tIns="0" rIns="0" bIns="0" rtlCol="0" anchor="ctr"/>
          <a:lstStyle/>
          <a:p>
            <a:pPr indent="0" marL="0">
              <a:buNone/>
            </a:pPr>
            <a:r>
              <a:rPr lang="en-US" sz="1200" dirty="0">
                <a:solidFill>
                  <a:schemeClr val="tx1"/>
                </a:solidFill>
              </a:rPr>
              <a:t>Competed with 21 climbers to be chosen. The expedition took 52 days.</a:t>
            </a:r>
            <a:endParaRPr lang="en-US" sz="1200" dirty="0"/>
          </a:p>
        </p:txBody>
      </p:sp>
      <p:sp>
        <p:nvSpPr>
          <p:cNvPr id="20" name="Event 5"/>
          <p:cNvSpPr/>
          <p:nvPr/>
        </p:nvSpPr>
        <p:spPr>
          <a:xfrm>
            <a:off x="457200" y="3419856"/>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Date tag"/>
          <p:cNvSpPr/>
          <p:nvPr/>
        </p:nvSpPr>
        <p:spPr>
          <a:xfrm>
            <a:off x="548640" y="3502152"/>
            <a:ext cx="1463040" cy="365760"/>
          </a:xfrm>
          <a:prstGeom prst="roundRect">
            <a:avLst>
              <a:gd name="adj" fmla="val 25000"/>
            </a:avLst>
          </a:prstGeom>
          <a:solidFill>
            <a:schemeClr val="accent5"/>
          </a:solidFill>
          <a:ln w="6350">
            <a:solidFill>
              <a:schemeClr val="accent5"/>
            </a:solidFill>
            <a:prstDash val="solid"/>
          </a:ln>
        </p:spPr>
      </p:sp>
      <p:sp>
        <p:nvSpPr>
          <p:cNvPr id="22" name="Text 19"/>
          <p:cNvSpPr txBox="1"/>
          <p:nvPr/>
        </p:nvSpPr>
        <p:spPr>
          <a:xfrm>
            <a:off x="548640" y="3502152"/>
            <a:ext cx="1463040" cy="365760"/>
          </a:xfrm>
          <a:prstGeom prst="rect">
            <a:avLst/>
          </a:prstGeom>
          <a:noFill/>
          <a:ln/>
        </p:spPr>
        <p:txBody>
          <a:bodyPr wrap="square" lIns="0" tIns="0" rIns="0" bIns="0" rtlCol="0" anchor="ctr"/>
          <a:lstStyle/>
          <a:p>
            <a:pPr algn="ctr" indent="0" marL="0">
              <a:buNone/>
            </a:pPr>
            <a:r>
              <a:rPr lang="en-US" sz="1200" b="1" dirty="0">
                <a:solidFill>
                  <a:schemeClr val="tx1"/>
                </a:solidFill>
              </a:rPr>
              <a:t>25 May 2014</a:t>
            </a:r>
            <a:endParaRPr lang="en-US" sz="1200" dirty="0"/>
          </a:p>
        </p:txBody>
      </p:sp>
      <p:sp>
        <p:nvSpPr>
          <p:cNvPr id="23" name="Text 20"/>
          <p:cNvSpPr txBox="1"/>
          <p:nvPr/>
        </p:nvSpPr>
        <p:spPr>
          <a:xfrm>
            <a:off x="2148840" y="3419856"/>
            <a:ext cx="6355080" cy="530352"/>
          </a:xfrm>
          <a:prstGeom prst="rect">
            <a:avLst/>
          </a:prstGeom>
          <a:noFill/>
          <a:ln/>
        </p:spPr>
        <p:txBody>
          <a:bodyPr wrap="square" lIns="0" tIns="0" rIns="0" bIns="0" rtlCol="0" anchor="ctr"/>
          <a:lstStyle/>
          <a:p>
            <a:pPr indent="0" marL="0">
              <a:buNone/>
            </a:pPr>
            <a:r>
              <a:rPr lang="en-US" sz="1200" dirty="0">
                <a:solidFill>
                  <a:schemeClr val="tx1"/>
                </a:solidFill>
              </a:rPr>
              <a:t>Reached the summit of Everest, aged 13 years and 11 months.</a:t>
            </a:r>
            <a:endParaRPr lang="en-US" sz="1200" dirty="0"/>
          </a:p>
        </p:txBody>
      </p:sp>
      <p:sp>
        <p:nvSpPr>
          <p:cNvPr id="24" name="Event 6"/>
          <p:cNvSpPr/>
          <p:nvPr/>
        </p:nvSpPr>
        <p:spPr>
          <a:xfrm>
            <a:off x="457200" y="4023360"/>
            <a:ext cx="8229600" cy="530352"/>
          </a:xfrm>
          <a:prstGeom prst="roundRect">
            <a:avLst>
              <a:gd name="adj" fmla="val 2069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5" name="Date tag"/>
          <p:cNvSpPr/>
          <p:nvPr/>
        </p:nvSpPr>
        <p:spPr>
          <a:xfrm>
            <a:off x="548640" y="4105656"/>
            <a:ext cx="1463040" cy="365760"/>
          </a:xfrm>
          <a:prstGeom prst="roundRect">
            <a:avLst>
              <a:gd name="adj" fmla="val 25000"/>
            </a:avLst>
          </a:prstGeom>
          <a:solidFill>
            <a:schemeClr val="accent1"/>
          </a:solidFill>
          <a:ln w="6350">
            <a:solidFill>
              <a:schemeClr val="accent1"/>
            </a:solidFill>
            <a:prstDash val="solid"/>
          </a:ln>
        </p:spPr>
      </p:sp>
      <p:sp>
        <p:nvSpPr>
          <p:cNvPr id="26" name="Text 23"/>
          <p:cNvSpPr txBox="1"/>
          <p:nvPr/>
        </p:nvSpPr>
        <p:spPr>
          <a:xfrm>
            <a:off x="548640" y="4105656"/>
            <a:ext cx="1463040" cy="365760"/>
          </a:xfrm>
          <a:prstGeom prst="rect">
            <a:avLst/>
          </a:prstGeom>
          <a:noFill/>
          <a:ln/>
        </p:spPr>
        <p:txBody>
          <a:bodyPr wrap="square" lIns="0" tIns="0" rIns="0" bIns="0" rtlCol="0" anchor="ctr"/>
          <a:lstStyle/>
          <a:p>
            <a:pPr algn="ctr" indent="0" marL="0">
              <a:buNone/>
            </a:pPr>
            <a:r>
              <a:rPr lang="en-US" sz="1200" b="1" dirty="0">
                <a:solidFill>
                  <a:schemeClr val="tx1"/>
                </a:solidFill>
              </a:rPr>
              <a:t>Later</a:t>
            </a:r>
            <a:endParaRPr lang="en-US" sz="1200" dirty="0"/>
          </a:p>
        </p:txBody>
      </p:sp>
      <p:sp>
        <p:nvSpPr>
          <p:cNvPr id="27" name="Text 24"/>
          <p:cNvSpPr txBox="1"/>
          <p:nvPr/>
        </p:nvSpPr>
        <p:spPr>
          <a:xfrm>
            <a:off x="2148840" y="4023360"/>
            <a:ext cx="6355080" cy="530352"/>
          </a:xfrm>
          <a:prstGeom prst="rect">
            <a:avLst/>
          </a:prstGeom>
          <a:noFill/>
          <a:ln/>
        </p:spPr>
        <p:txBody>
          <a:bodyPr wrap="square" lIns="0" tIns="0" rIns="0" bIns="0" rtlCol="0" anchor="ctr"/>
          <a:lstStyle/>
          <a:p>
            <a:pPr indent="0" marL="0">
              <a:buNone/>
            </a:pPr>
            <a:r>
              <a:rPr lang="en-US" sz="1200" dirty="0">
                <a:solidFill>
                  <a:schemeClr val="tx1"/>
                </a:solidFill>
              </a:rPr>
              <a:t>Honoured by the Indian Prime Minister. A film, ‘Poorna’, was made in 2017.</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Q2: explicit and implicit questions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Answer these questions using implicit and explicit information from the text.</a:t>
            </a:r>
            <a:endParaRPr lang="en-US" sz="1600" dirty="0"/>
          </a:p>
        </p:txBody>
      </p:sp>
      <p:sp>
        <p:nvSpPr>
          <p:cNvPr id="5" name="Question a"/>
          <p:cNvSpPr/>
          <p:nvPr/>
        </p:nvSpPr>
        <p:spPr>
          <a:xfrm>
            <a:off x="457200" y="1463040"/>
            <a:ext cx="8229600" cy="640080"/>
          </a:xfrm>
          <a:prstGeom prst="roundRect">
            <a:avLst>
              <a:gd name="adj" fmla="val 1714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594360" y="1581912"/>
            <a:ext cx="402336" cy="402336"/>
          </a:xfrm>
          <a:prstGeom prst="ellipse">
            <a:avLst/>
          </a:prstGeom>
          <a:solidFill>
            <a:schemeClr val="accent1"/>
          </a:solidFill>
          <a:ln w="6350">
            <a:solidFill>
              <a:schemeClr val="accent1"/>
            </a:solidFill>
            <a:prstDash val="solid"/>
          </a:ln>
        </p:spPr>
      </p:sp>
      <p:sp>
        <p:nvSpPr>
          <p:cNvPr id="7" name="Text 4"/>
          <p:cNvSpPr txBox="1"/>
          <p:nvPr/>
        </p:nvSpPr>
        <p:spPr>
          <a:xfrm>
            <a:off x="594360" y="1581912"/>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188720" y="1463040"/>
            <a:ext cx="7315200" cy="640080"/>
          </a:xfrm>
          <a:prstGeom prst="rect">
            <a:avLst/>
          </a:prstGeom>
          <a:noFill/>
          <a:ln/>
        </p:spPr>
        <p:txBody>
          <a:bodyPr wrap="square" lIns="0" tIns="0" rIns="0" bIns="0" rtlCol="0" anchor="ctr"/>
          <a:lstStyle/>
          <a:p>
            <a:pPr indent="0" marL="0">
              <a:buNone/>
            </a:pPr>
            <a:r>
              <a:rPr lang="en-US" sz="1400" dirty="0">
                <a:solidFill>
                  <a:schemeClr val="tx1"/>
                </a:solidFill>
              </a:rPr>
              <a:t>What is Malavath’s achievement?</a:t>
            </a:r>
            <a:endParaRPr lang="en-US" sz="1400" dirty="0"/>
          </a:p>
        </p:txBody>
      </p:sp>
      <p:sp>
        <p:nvSpPr>
          <p:cNvPr id="9" name="Question b"/>
          <p:cNvSpPr/>
          <p:nvPr/>
        </p:nvSpPr>
        <p:spPr>
          <a:xfrm>
            <a:off x="457200" y="2194560"/>
            <a:ext cx="8229600" cy="640080"/>
          </a:xfrm>
          <a:prstGeom prst="roundRect">
            <a:avLst>
              <a:gd name="adj" fmla="val 1714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94360" y="2313432"/>
            <a:ext cx="402336" cy="402336"/>
          </a:xfrm>
          <a:prstGeom prst="ellipse">
            <a:avLst/>
          </a:prstGeom>
          <a:solidFill>
            <a:schemeClr val="accent2"/>
          </a:solidFill>
          <a:ln w="6350">
            <a:solidFill>
              <a:schemeClr val="accent2"/>
            </a:solidFill>
            <a:prstDash val="solid"/>
          </a:ln>
        </p:spPr>
      </p:sp>
      <p:sp>
        <p:nvSpPr>
          <p:cNvPr id="11" name="Text 8"/>
          <p:cNvSpPr txBox="1"/>
          <p:nvPr/>
        </p:nvSpPr>
        <p:spPr>
          <a:xfrm>
            <a:off x="594360" y="2313432"/>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1188720" y="2194560"/>
            <a:ext cx="7315200" cy="640080"/>
          </a:xfrm>
          <a:prstGeom prst="rect">
            <a:avLst/>
          </a:prstGeom>
          <a:noFill/>
          <a:ln/>
        </p:spPr>
        <p:txBody>
          <a:bodyPr wrap="square" lIns="0" tIns="0" rIns="0" bIns="0" rtlCol="0" anchor="ctr"/>
          <a:lstStyle/>
          <a:p>
            <a:pPr indent="0" marL="0">
              <a:buNone/>
            </a:pPr>
            <a:r>
              <a:rPr lang="en-US" sz="1400" dirty="0">
                <a:solidFill>
                  <a:schemeClr val="tx1"/>
                </a:solidFill>
              </a:rPr>
              <a:t>Why was it unusual that she was selected to train as a mountain climber?</a:t>
            </a:r>
            <a:endParaRPr lang="en-US" sz="1400" dirty="0"/>
          </a:p>
        </p:txBody>
      </p:sp>
      <p:sp>
        <p:nvSpPr>
          <p:cNvPr id="13" name="Question c"/>
          <p:cNvSpPr/>
          <p:nvPr/>
        </p:nvSpPr>
        <p:spPr>
          <a:xfrm>
            <a:off x="457200" y="2926080"/>
            <a:ext cx="8229600" cy="640080"/>
          </a:xfrm>
          <a:prstGeom prst="roundRect">
            <a:avLst>
              <a:gd name="adj" fmla="val 1714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594360" y="3044952"/>
            <a:ext cx="402336" cy="402336"/>
          </a:xfrm>
          <a:prstGeom prst="ellipse">
            <a:avLst/>
          </a:prstGeom>
          <a:solidFill>
            <a:schemeClr val="accent3"/>
          </a:solidFill>
          <a:ln w="6350">
            <a:solidFill>
              <a:schemeClr val="accent3"/>
            </a:solidFill>
            <a:prstDash val="solid"/>
          </a:ln>
        </p:spPr>
      </p:sp>
      <p:sp>
        <p:nvSpPr>
          <p:cNvPr id="15" name="Text 12"/>
          <p:cNvSpPr txBox="1"/>
          <p:nvPr/>
        </p:nvSpPr>
        <p:spPr>
          <a:xfrm>
            <a:off x="594360" y="3044952"/>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188720" y="2926080"/>
            <a:ext cx="7315200" cy="640080"/>
          </a:xfrm>
          <a:prstGeom prst="rect">
            <a:avLst/>
          </a:prstGeom>
          <a:noFill/>
          <a:ln/>
        </p:spPr>
        <p:txBody>
          <a:bodyPr wrap="square" lIns="0" tIns="0" rIns="0" bIns="0" rtlCol="0" anchor="ctr"/>
          <a:lstStyle/>
          <a:p>
            <a:pPr indent="0" marL="0">
              <a:buNone/>
            </a:pPr>
            <a:r>
              <a:rPr lang="en-US" sz="1400" dirty="0">
                <a:solidFill>
                  <a:schemeClr val="tx1"/>
                </a:solidFill>
              </a:rPr>
              <a:t>Which talents made her suitable for mountain climbing?</a:t>
            </a:r>
            <a:endParaRPr lang="en-US" sz="1400" dirty="0"/>
          </a:p>
        </p:txBody>
      </p:sp>
      <p:sp>
        <p:nvSpPr>
          <p:cNvPr id="17" name="Question d"/>
          <p:cNvSpPr/>
          <p:nvPr/>
        </p:nvSpPr>
        <p:spPr>
          <a:xfrm>
            <a:off x="457200" y="3657600"/>
            <a:ext cx="8229600" cy="640080"/>
          </a:xfrm>
          <a:prstGeom prst="roundRect">
            <a:avLst>
              <a:gd name="adj" fmla="val 1714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594360" y="3776472"/>
            <a:ext cx="402336" cy="402336"/>
          </a:xfrm>
          <a:prstGeom prst="ellipse">
            <a:avLst/>
          </a:prstGeom>
          <a:solidFill>
            <a:schemeClr val="accent4"/>
          </a:solidFill>
          <a:ln w="6350">
            <a:solidFill>
              <a:schemeClr val="accent4"/>
            </a:solidFill>
            <a:prstDash val="solid"/>
          </a:ln>
        </p:spPr>
      </p:sp>
      <p:sp>
        <p:nvSpPr>
          <p:cNvPr id="19" name="Text 16"/>
          <p:cNvSpPr txBox="1"/>
          <p:nvPr/>
        </p:nvSpPr>
        <p:spPr>
          <a:xfrm>
            <a:off x="594360" y="377647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188720" y="3657600"/>
            <a:ext cx="7315200" cy="640080"/>
          </a:xfrm>
          <a:prstGeom prst="rect">
            <a:avLst/>
          </a:prstGeom>
          <a:noFill/>
          <a:ln/>
        </p:spPr>
        <p:txBody>
          <a:bodyPr wrap="square" lIns="0" tIns="0" rIns="0" bIns="0" rtlCol="0" anchor="ctr"/>
          <a:lstStyle/>
          <a:p>
            <a:pPr indent="0" marL="0">
              <a:buNone/>
            </a:pPr>
            <a:r>
              <a:rPr lang="en-US" sz="1400" dirty="0">
                <a:solidFill>
                  <a:schemeClr val="tx1"/>
                </a:solidFill>
              </a:rPr>
              <a:t>‘It’s not that tall. We can climb it in a day.’ What do you learn about Malavath’s character from this quotation?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Q2: model answers</a:t>
            </a:r>
            <a:endParaRPr lang="en-US" sz="3000" dirty="0"/>
          </a:p>
        </p:txBody>
      </p:sp>
      <p:sp>
        <p:nvSpPr>
          <p:cNvPr id="4" name="Answer a"/>
          <p:cNvSpPr/>
          <p:nvPr/>
        </p:nvSpPr>
        <p:spPr>
          <a:xfrm>
            <a:off x="457200" y="105156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26873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26873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188720" y="1051560"/>
            <a:ext cx="7315200" cy="845820"/>
          </a:xfrm>
          <a:prstGeom prst="rect">
            <a:avLst/>
          </a:prstGeom>
          <a:noFill/>
          <a:ln/>
        </p:spPr>
        <p:txBody>
          <a:bodyPr wrap="square" lIns="0" tIns="0" rIns="0" bIns="0" rtlCol="0" anchor="ctr"/>
          <a:lstStyle/>
          <a:p>
            <a:pPr indent="0" marL="0">
              <a:buNone/>
            </a:pPr>
            <a:r>
              <a:rPr lang="en-US" sz="1300" b="1" u="sng" dirty="0">
                <a:solidFill>
                  <a:schemeClr val="tx1"/>
                </a:solidFill>
              </a:rPr>
              <a:t>The youngest girl to climb Mount Everest</a:t>
            </a:r>
            <a:pPr indent="0" marL="0">
              <a:buNone/>
            </a:pPr>
            <a:r>
              <a:rPr lang="en-US" sz="1300" dirty="0">
                <a:solidFill>
                  <a:schemeClr val="tx1"/>
                </a:solidFill>
              </a:rPr>
              <a:t> (aged 13 years and 11 months).</a:t>
            </a:r>
            <a:endParaRPr lang="en-US" sz="1300" dirty="0"/>
          </a:p>
        </p:txBody>
      </p:sp>
      <p:sp>
        <p:nvSpPr>
          <p:cNvPr id="8" name="Answer b"/>
          <p:cNvSpPr/>
          <p:nvPr/>
        </p:nvSpPr>
        <p:spPr>
          <a:xfrm>
            <a:off x="457200" y="198882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220599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20599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1" name="Text 8"/>
          <p:cNvSpPr txBox="1"/>
          <p:nvPr/>
        </p:nvSpPr>
        <p:spPr>
          <a:xfrm>
            <a:off x="1188720" y="1988820"/>
            <a:ext cx="7315200" cy="845820"/>
          </a:xfrm>
          <a:prstGeom prst="rect">
            <a:avLst/>
          </a:prstGeom>
          <a:noFill/>
          <a:ln/>
        </p:spPr>
        <p:txBody>
          <a:bodyPr wrap="square" lIns="0" tIns="0" rIns="0" bIns="0" rtlCol="0" anchor="ctr"/>
          <a:lstStyle/>
          <a:p>
            <a:pPr indent="0" marL="0">
              <a:buNone/>
            </a:pPr>
            <a:r>
              <a:rPr lang="en-US" sz="1300" dirty="0">
                <a:solidFill>
                  <a:schemeClr val="tx1"/>
                </a:solidFill>
              </a:rPr>
              <a:t>Her family were very poor and had no experience of mountain climbing. (She had also never seen snow before 2013.)</a:t>
            </a:r>
            <a:endParaRPr lang="en-US" sz="1300" dirty="0"/>
          </a:p>
        </p:txBody>
      </p:sp>
      <p:sp>
        <p:nvSpPr>
          <p:cNvPr id="12" name="Answer c"/>
          <p:cNvSpPr/>
          <p:nvPr/>
        </p:nvSpPr>
        <p:spPr>
          <a:xfrm>
            <a:off x="457200" y="292608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314325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14325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5" name="Text 12"/>
          <p:cNvSpPr txBox="1"/>
          <p:nvPr/>
        </p:nvSpPr>
        <p:spPr>
          <a:xfrm>
            <a:off x="1188720" y="2926080"/>
            <a:ext cx="7315200" cy="845820"/>
          </a:xfrm>
          <a:prstGeom prst="rect">
            <a:avLst/>
          </a:prstGeom>
          <a:noFill/>
          <a:ln/>
        </p:spPr>
        <p:txBody>
          <a:bodyPr wrap="square" lIns="0" tIns="0" rIns="0" bIns="0" rtlCol="0" anchor="ctr"/>
          <a:lstStyle/>
          <a:p>
            <a:pPr indent="0" marL="0">
              <a:buNone/>
            </a:pPr>
            <a:r>
              <a:rPr lang="en-US" sz="1300" dirty="0">
                <a:solidFill>
                  <a:schemeClr val="tx1"/>
                </a:solidFill>
              </a:rPr>
              <a:t>Her talent for athletics and climbing, which Dr Kumar spotted at her residential school.</a:t>
            </a:r>
            <a:endParaRPr lang="en-US" sz="1300" dirty="0"/>
          </a:p>
        </p:txBody>
      </p:sp>
      <p:sp>
        <p:nvSpPr>
          <p:cNvPr id="16" name="Answer d"/>
          <p:cNvSpPr/>
          <p:nvPr/>
        </p:nvSpPr>
        <p:spPr>
          <a:xfrm>
            <a:off x="457200" y="386334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94360" y="408051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408051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19" name="Text 16"/>
          <p:cNvSpPr txBox="1"/>
          <p:nvPr/>
        </p:nvSpPr>
        <p:spPr>
          <a:xfrm>
            <a:off x="1188720" y="3863340"/>
            <a:ext cx="7315200" cy="845820"/>
          </a:xfrm>
          <a:prstGeom prst="rect">
            <a:avLst/>
          </a:prstGeom>
          <a:noFill/>
          <a:ln/>
        </p:spPr>
        <p:txBody>
          <a:bodyPr wrap="square" lIns="0" tIns="0" rIns="0" bIns="0" rtlCol="0" anchor="ctr"/>
          <a:lstStyle/>
          <a:p>
            <a:pPr indent="0" marL="0">
              <a:buNone/>
            </a:pPr>
            <a:r>
              <a:rPr lang="en-US" sz="1300" dirty="0">
                <a:solidFill>
                  <a:schemeClr val="tx1"/>
                </a:solidFill>
              </a:rPr>
              <a:t>Implicit: she is confident, brave and determined (maybe a little over-confident: the climb took 52 days, not one!).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Explicit or implicit?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indent="0" marL="0">
              <a:buNone/>
            </a:pPr>
            <a:r>
              <a:rPr lang="en-US" sz="1500" dirty="0">
                <a:solidFill>
                  <a:schemeClr val="tx1"/>
                </a:solidFill>
              </a:rPr>
              <a:t>Poorna was born on 10 June 2000.</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indent="0" marL="0">
              <a:buNone/>
            </a:pPr>
            <a:r>
              <a:rPr lang="en-US" sz="1500" dirty="0">
                <a:solidFill>
                  <a:schemeClr val="tx1"/>
                </a:solidFill>
              </a:rPr>
              <a:t>Poorna reached the summit on 25 May 2014.</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indent="0" marL="0">
              <a:buNone/>
            </a:pPr>
            <a:r>
              <a:rPr lang="en-US" sz="1500" dirty="0">
                <a:solidFill>
                  <a:schemeClr val="tx1"/>
                </a:solidFill>
              </a:rPr>
              <a:t>Poorna was brave and determined.</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indent="0" marL="0">
              <a:buNone/>
            </a:pPr>
            <a:r>
              <a:rPr lang="en-US" sz="1500" dirty="0">
                <a:solidFill>
                  <a:schemeClr val="tx1"/>
                </a:solidFill>
              </a:rPr>
              <a:t>The expedition took 52 days.</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algn="ctr" indent="0" marL="0">
              <a:buNone/>
            </a:pPr>
            <a:r>
              <a:rPr lang="en-US" sz="1600" b="1" dirty="0">
                <a:solidFill>
                  <a:schemeClr val="tx1"/>
                </a:solidFill>
              </a:rPr>
              <a:t>Think: is it stated in the text, or do you work it out?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Answer: implicit information</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C</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indent="0" marL="0">
              <a:buNone/>
            </a:pPr>
            <a:r>
              <a:rPr lang="en-US" sz="1700" dirty="0">
                <a:solidFill>
                  <a:schemeClr val="tx1"/>
                </a:solidFill>
              </a:rPr>
              <a:t>Poorna was </a:t>
            </a:r>
            <a:pPr indent="0" marL="0">
              <a:buNone/>
            </a:pPr>
            <a:r>
              <a:rPr lang="en-US" sz="1700" b="1" dirty="0">
                <a:solidFill>
                  <a:schemeClr val="tx1"/>
                </a:solidFill>
                <a:highlight>
                  <a:srgbClr val="FFD166"/>
                </a:highlight>
              </a:rPr>
              <a:t>brave and determined</a:t>
            </a:r>
            <a:pPr indent="0" marL="0">
              <a:buNone/>
            </a:pPr>
            <a:r>
              <a:rPr lang="en-US" sz="1700" dirty="0">
                <a:solidFill>
                  <a:schemeClr val="tx1"/>
                </a:solidFill>
              </a:rPr>
              <a:t>.</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indent="0" marL="0">
              <a:buNone/>
            </a:pPr>
            <a:r>
              <a:rPr lang="en-US" sz="1400" i="1" dirty="0">
                <a:solidFill>
                  <a:schemeClr val="accent4"/>
                </a:solidFill>
              </a:rPr>
              <a:t>Implicit: the text never says it; we work it out from clues (leaving home young, climbing Everest).</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indent="0" marL="0">
              <a:buNone/>
            </a:pPr>
            <a:r>
              <a:rPr lang="en-US" sz="1300" dirty="0">
                <a:solidFill>
                  <a:schemeClr val="tx1"/>
                </a:solidFill>
              </a:rPr>
              <a:t>explicit: the date is stated in the text</a:t>
            </a:r>
            <a:endParaRPr lang="en-US" sz="1300" dirty="0"/>
          </a:p>
        </p:txBody>
      </p:sp>
      <p:sp>
        <p:nvSpPr>
          <p:cNvPr id="13" name="Why not B"/>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indent="0" marL="0">
              <a:buNone/>
            </a:pPr>
            <a:r>
              <a:rPr lang="en-US" sz="1300" dirty="0">
                <a:solidFill>
                  <a:schemeClr val="tx1"/>
                </a:solidFill>
              </a:rPr>
              <a:t>explicit: the date is stated in the text</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indent="0" marL="0">
              <a:buNone/>
            </a:pPr>
            <a:r>
              <a:rPr lang="en-US" sz="1300" dirty="0">
                <a:solidFill>
                  <a:schemeClr val="tx1"/>
                </a:solidFill>
              </a:rPr>
              <a:t>explicit: ‘The expedition actually took 52 days’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Q3: features and examples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Find an example from the text for each feature.</a:t>
            </a:r>
            <a:endParaRPr lang="en-US" sz="1600" dirty="0"/>
          </a:p>
        </p:txBody>
      </p:sp>
      <p:sp>
        <p:nvSpPr>
          <p:cNvPr id="5" name="Feature a"/>
          <p:cNvSpPr/>
          <p:nvPr/>
        </p:nvSpPr>
        <p:spPr>
          <a:xfrm>
            <a:off x="457200" y="1417320"/>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548640" y="1472184"/>
            <a:ext cx="347472" cy="347472"/>
          </a:xfrm>
          <a:prstGeom prst="ellipse">
            <a:avLst/>
          </a:prstGeom>
          <a:solidFill>
            <a:schemeClr val="accent1"/>
          </a:solidFill>
          <a:ln w="6350">
            <a:solidFill>
              <a:schemeClr val="accent1"/>
            </a:solidFill>
            <a:prstDash val="solid"/>
          </a:ln>
        </p:spPr>
      </p:sp>
      <p:sp>
        <p:nvSpPr>
          <p:cNvPr id="7" name="Text 4"/>
          <p:cNvSpPr txBox="1"/>
          <p:nvPr/>
        </p:nvSpPr>
        <p:spPr>
          <a:xfrm>
            <a:off x="548640" y="1472184"/>
            <a:ext cx="347472" cy="347472"/>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051560" y="1417320"/>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Written in the third person</a:t>
            </a:r>
            <a:endParaRPr lang="en-US" sz="1500" dirty="0"/>
          </a:p>
        </p:txBody>
      </p:sp>
      <p:sp>
        <p:nvSpPr>
          <p:cNvPr id="9" name="Answer slot"/>
          <p:cNvSpPr/>
          <p:nvPr/>
        </p:nvSpPr>
        <p:spPr>
          <a:xfrm>
            <a:off x="4480560" y="1472184"/>
            <a:ext cx="3931920" cy="347472"/>
          </a:xfrm>
          <a:prstGeom prst="roundRect">
            <a:avLst>
              <a:gd name="adj" fmla="val 21053"/>
            </a:avLst>
          </a:prstGeom>
          <a:solidFill>
            <a:schemeClr val="bg2"/>
          </a:solidFill>
          <a:ln w="12700">
            <a:solidFill>
              <a:schemeClr val="accent4"/>
            </a:solidFill>
            <a:prstDash val="dash"/>
          </a:ln>
        </p:spPr>
      </p:sp>
      <p:sp>
        <p:nvSpPr>
          <p:cNvPr id="10" name="Feature b"/>
          <p:cNvSpPr/>
          <p:nvPr/>
        </p:nvSpPr>
        <p:spPr>
          <a:xfrm>
            <a:off x="457200" y="1947672"/>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1" name="Badge"/>
          <p:cNvSpPr/>
          <p:nvPr/>
        </p:nvSpPr>
        <p:spPr>
          <a:xfrm>
            <a:off x="548640" y="2002536"/>
            <a:ext cx="347472" cy="347472"/>
          </a:xfrm>
          <a:prstGeom prst="ellipse">
            <a:avLst/>
          </a:prstGeom>
          <a:solidFill>
            <a:schemeClr val="accent2"/>
          </a:solidFill>
          <a:ln w="6350">
            <a:solidFill>
              <a:schemeClr val="accent2"/>
            </a:solidFill>
            <a:prstDash val="solid"/>
          </a:ln>
        </p:spPr>
      </p:sp>
      <p:sp>
        <p:nvSpPr>
          <p:cNvPr id="12" name="Text 9"/>
          <p:cNvSpPr txBox="1"/>
          <p:nvPr/>
        </p:nvSpPr>
        <p:spPr>
          <a:xfrm>
            <a:off x="548640" y="2002536"/>
            <a:ext cx="347472" cy="347472"/>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3" name="Text 10"/>
          <p:cNvSpPr txBox="1"/>
          <p:nvPr/>
        </p:nvSpPr>
        <p:spPr>
          <a:xfrm>
            <a:off x="1051560" y="1947672"/>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An opening statement about the person</a:t>
            </a:r>
            <a:endParaRPr lang="en-US" sz="1500" dirty="0"/>
          </a:p>
        </p:txBody>
      </p:sp>
      <p:sp>
        <p:nvSpPr>
          <p:cNvPr id="14" name="Answer slot"/>
          <p:cNvSpPr/>
          <p:nvPr/>
        </p:nvSpPr>
        <p:spPr>
          <a:xfrm>
            <a:off x="4480560" y="2002536"/>
            <a:ext cx="3931920" cy="347472"/>
          </a:xfrm>
          <a:prstGeom prst="roundRect">
            <a:avLst>
              <a:gd name="adj" fmla="val 21053"/>
            </a:avLst>
          </a:prstGeom>
          <a:solidFill>
            <a:schemeClr val="bg2"/>
          </a:solidFill>
          <a:ln w="12700">
            <a:solidFill>
              <a:schemeClr val="accent4"/>
            </a:solidFill>
            <a:prstDash val="dash"/>
          </a:ln>
        </p:spPr>
      </p:sp>
      <p:sp>
        <p:nvSpPr>
          <p:cNvPr id="15" name="Feature c"/>
          <p:cNvSpPr/>
          <p:nvPr/>
        </p:nvSpPr>
        <p:spPr>
          <a:xfrm>
            <a:off x="457200" y="2478024"/>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6" name="Badge"/>
          <p:cNvSpPr/>
          <p:nvPr/>
        </p:nvSpPr>
        <p:spPr>
          <a:xfrm>
            <a:off x="548640" y="2532888"/>
            <a:ext cx="347472" cy="347472"/>
          </a:xfrm>
          <a:prstGeom prst="ellipse">
            <a:avLst/>
          </a:prstGeom>
          <a:solidFill>
            <a:schemeClr val="accent3"/>
          </a:solidFill>
          <a:ln w="6350">
            <a:solidFill>
              <a:schemeClr val="accent3"/>
            </a:solidFill>
            <a:prstDash val="solid"/>
          </a:ln>
        </p:spPr>
      </p:sp>
      <p:sp>
        <p:nvSpPr>
          <p:cNvPr id="17" name="Text 14"/>
          <p:cNvSpPr txBox="1"/>
          <p:nvPr/>
        </p:nvSpPr>
        <p:spPr>
          <a:xfrm>
            <a:off x="548640" y="2532888"/>
            <a:ext cx="347472" cy="347472"/>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8" name="Text 15"/>
          <p:cNvSpPr txBox="1"/>
          <p:nvPr/>
        </p:nvSpPr>
        <p:spPr>
          <a:xfrm>
            <a:off x="1051560" y="2478024"/>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Dates of important events in her life</a:t>
            </a:r>
            <a:endParaRPr lang="en-US" sz="1500" dirty="0"/>
          </a:p>
        </p:txBody>
      </p:sp>
      <p:sp>
        <p:nvSpPr>
          <p:cNvPr id="19" name="Answer slot"/>
          <p:cNvSpPr/>
          <p:nvPr/>
        </p:nvSpPr>
        <p:spPr>
          <a:xfrm>
            <a:off x="4480560" y="2532888"/>
            <a:ext cx="3931920" cy="347472"/>
          </a:xfrm>
          <a:prstGeom prst="roundRect">
            <a:avLst>
              <a:gd name="adj" fmla="val 21053"/>
            </a:avLst>
          </a:prstGeom>
          <a:solidFill>
            <a:schemeClr val="bg2"/>
          </a:solidFill>
          <a:ln w="12700">
            <a:solidFill>
              <a:schemeClr val="accent4"/>
            </a:solidFill>
            <a:prstDash val="dash"/>
          </a:ln>
        </p:spPr>
      </p:sp>
      <p:sp>
        <p:nvSpPr>
          <p:cNvPr id="20" name="Feature d"/>
          <p:cNvSpPr/>
          <p:nvPr/>
        </p:nvSpPr>
        <p:spPr>
          <a:xfrm>
            <a:off x="457200" y="3008376"/>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Badge"/>
          <p:cNvSpPr/>
          <p:nvPr/>
        </p:nvSpPr>
        <p:spPr>
          <a:xfrm>
            <a:off x="548640" y="3063240"/>
            <a:ext cx="347472" cy="347472"/>
          </a:xfrm>
          <a:prstGeom prst="ellipse">
            <a:avLst/>
          </a:prstGeom>
          <a:solidFill>
            <a:schemeClr val="accent4"/>
          </a:solidFill>
          <a:ln w="6350">
            <a:solidFill>
              <a:schemeClr val="accent4"/>
            </a:solidFill>
            <a:prstDash val="solid"/>
          </a:ln>
        </p:spPr>
      </p:sp>
      <p:sp>
        <p:nvSpPr>
          <p:cNvPr id="22" name="Text 19"/>
          <p:cNvSpPr txBox="1"/>
          <p:nvPr/>
        </p:nvSpPr>
        <p:spPr>
          <a:xfrm>
            <a:off x="548640" y="3063240"/>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3" name="Text 20"/>
          <p:cNvSpPr txBox="1"/>
          <p:nvPr/>
        </p:nvSpPr>
        <p:spPr>
          <a:xfrm>
            <a:off x="1051560" y="3008376"/>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Direct speech</a:t>
            </a:r>
            <a:endParaRPr lang="en-US" sz="1500" dirty="0"/>
          </a:p>
        </p:txBody>
      </p:sp>
      <p:sp>
        <p:nvSpPr>
          <p:cNvPr id="24" name="Answer slot"/>
          <p:cNvSpPr/>
          <p:nvPr/>
        </p:nvSpPr>
        <p:spPr>
          <a:xfrm>
            <a:off x="4480560" y="3063240"/>
            <a:ext cx="3931920" cy="347472"/>
          </a:xfrm>
          <a:prstGeom prst="roundRect">
            <a:avLst>
              <a:gd name="adj" fmla="val 21053"/>
            </a:avLst>
          </a:prstGeom>
          <a:solidFill>
            <a:schemeClr val="bg2"/>
          </a:solidFill>
          <a:ln w="12700">
            <a:solidFill>
              <a:schemeClr val="accent4"/>
            </a:solidFill>
            <a:prstDash val="dash"/>
          </a:ln>
        </p:spPr>
      </p:sp>
      <p:sp>
        <p:nvSpPr>
          <p:cNvPr id="25" name="Feature e"/>
          <p:cNvSpPr/>
          <p:nvPr/>
        </p:nvSpPr>
        <p:spPr>
          <a:xfrm>
            <a:off x="457200" y="3538728"/>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6" name="Badge"/>
          <p:cNvSpPr/>
          <p:nvPr/>
        </p:nvSpPr>
        <p:spPr>
          <a:xfrm>
            <a:off x="548640" y="3593592"/>
            <a:ext cx="347472" cy="347472"/>
          </a:xfrm>
          <a:prstGeom prst="ellipse">
            <a:avLst/>
          </a:prstGeom>
          <a:solidFill>
            <a:schemeClr val="accent5"/>
          </a:solidFill>
          <a:ln w="6350">
            <a:solidFill>
              <a:schemeClr val="accent5"/>
            </a:solidFill>
            <a:prstDash val="solid"/>
          </a:ln>
        </p:spPr>
      </p:sp>
      <p:sp>
        <p:nvSpPr>
          <p:cNvPr id="27" name="Text 24"/>
          <p:cNvSpPr txBox="1"/>
          <p:nvPr/>
        </p:nvSpPr>
        <p:spPr>
          <a:xfrm>
            <a:off x="548640" y="3593592"/>
            <a:ext cx="347472" cy="347472"/>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e</a:t>
            </a:r>
            <a:endParaRPr lang="en-US" sz="1500" dirty="0"/>
          </a:p>
        </p:txBody>
      </p:sp>
      <p:sp>
        <p:nvSpPr>
          <p:cNvPr id="28" name="Text 25"/>
          <p:cNvSpPr txBox="1"/>
          <p:nvPr/>
        </p:nvSpPr>
        <p:spPr>
          <a:xfrm>
            <a:off x="1051560" y="3538728"/>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Facts</a:t>
            </a:r>
            <a:endParaRPr lang="en-US" sz="1500" dirty="0"/>
          </a:p>
        </p:txBody>
      </p:sp>
      <p:sp>
        <p:nvSpPr>
          <p:cNvPr id="29" name="Answer slot"/>
          <p:cNvSpPr/>
          <p:nvPr/>
        </p:nvSpPr>
        <p:spPr>
          <a:xfrm>
            <a:off x="4480560" y="3593592"/>
            <a:ext cx="3931920" cy="347472"/>
          </a:xfrm>
          <a:prstGeom prst="roundRect">
            <a:avLst>
              <a:gd name="adj" fmla="val 21053"/>
            </a:avLst>
          </a:prstGeom>
          <a:solidFill>
            <a:schemeClr val="bg2"/>
          </a:solidFill>
          <a:ln w="12700">
            <a:solidFill>
              <a:schemeClr val="accent4"/>
            </a:solidFill>
            <a:prstDash val="dash"/>
          </a:ln>
        </p:spPr>
      </p:sp>
      <p:sp>
        <p:nvSpPr>
          <p:cNvPr id="30" name="Feature f"/>
          <p:cNvSpPr/>
          <p:nvPr/>
        </p:nvSpPr>
        <p:spPr>
          <a:xfrm>
            <a:off x="457200" y="4069080"/>
            <a:ext cx="8229600" cy="457200"/>
          </a:xfrm>
          <a:prstGeom prst="roundRect">
            <a:avLst>
              <a:gd name="adj" fmla="val 24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31" name="Badge"/>
          <p:cNvSpPr/>
          <p:nvPr/>
        </p:nvSpPr>
        <p:spPr>
          <a:xfrm>
            <a:off x="548640" y="4123944"/>
            <a:ext cx="347472" cy="347472"/>
          </a:xfrm>
          <a:prstGeom prst="ellipse">
            <a:avLst/>
          </a:prstGeom>
          <a:solidFill>
            <a:schemeClr val="accent1"/>
          </a:solidFill>
          <a:ln w="6350">
            <a:solidFill>
              <a:schemeClr val="accent1"/>
            </a:solidFill>
            <a:prstDash val="solid"/>
          </a:ln>
        </p:spPr>
      </p:sp>
      <p:sp>
        <p:nvSpPr>
          <p:cNvPr id="32" name="Text 29"/>
          <p:cNvSpPr txBox="1"/>
          <p:nvPr/>
        </p:nvSpPr>
        <p:spPr>
          <a:xfrm>
            <a:off x="548640" y="4123944"/>
            <a:ext cx="347472" cy="347472"/>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f</a:t>
            </a:r>
            <a:endParaRPr lang="en-US" sz="1500" dirty="0"/>
          </a:p>
        </p:txBody>
      </p:sp>
      <p:sp>
        <p:nvSpPr>
          <p:cNvPr id="33" name="Text 30"/>
          <p:cNvSpPr txBox="1"/>
          <p:nvPr/>
        </p:nvSpPr>
        <p:spPr>
          <a:xfrm>
            <a:off x="1051560" y="4069080"/>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Caption</a:t>
            </a:r>
            <a:endParaRPr lang="en-US" sz="1500" dirty="0"/>
          </a:p>
        </p:txBody>
      </p:sp>
      <p:sp>
        <p:nvSpPr>
          <p:cNvPr id="34" name="Answer slot"/>
          <p:cNvSpPr/>
          <p:nvPr/>
        </p:nvSpPr>
        <p:spPr>
          <a:xfrm>
            <a:off x="4480560" y="4123944"/>
            <a:ext cx="3931920" cy="347472"/>
          </a:xfrm>
          <a:prstGeom prst="roundRect">
            <a:avLst>
              <a:gd name="adj" fmla="val 21053"/>
            </a:avLst>
          </a:prstGeom>
          <a:solidFill>
            <a:schemeClr val="bg2"/>
          </a:solidFill>
          <a:ln w="12700">
            <a:solidFill>
              <a:schemeClr val="accent4"/>
            </a:solidFill>
            <a:prstDash val="dash"/>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Q3: model answers</a:t>
            </a:r>
            <a:endParaRPr lang="en-US" sz="3000" dirty="0"/>
          </a:p>
        </p:txBody>
      </p:sp>
      <p:sp>
        <p:nvSpPr>
          <p:cNvPr id="4" name="Answer a"/>
          <p:cNvSpPr/>
          <p:nvPr/>
        </p:nvSpPr>
        <p:spPr>
          <a:xfrm>
            <a:off x="457200" y="105156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11252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11252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188720" y="1051560"/>
            <a:ext cx="7315200" cy="533400"/>
          </a:xfrm>
          <a:prstGeom prst="rect">
            <a:avLst/>
          </a:prstGeom>
          <a:noFill/>
          <a:ln/>
        </p:spPr>
        <p:txBody>
          <a:bodyPr wrap="square" lIns="0" tIns="0" rIns="0" bIns="0" rtlCol="0" anchor="ctr"/>
          <a:lstStyle/>
          <a:p>
            <a:pPr indent="0" marL="0">
              <a:buNone/>
            </a:pPr>
            <a:r>
              <a:rPr lang="en-US" sz="1300" b="1" dirty="0">
                <a:solidFill>
                  <a:schemeClr val="tx1"/>
                </a:solidFill>
                <a:highlight>
                  <a:srgbClr val="FFD166"/>
                </a:highlight>
              </a:rPr>
              <a:t>Poorna Malavath </a:t>
            </a:r>
            <a:pPr indent="0" marL="0">
              <a:buNone/>
            </a:pPr>
            <a:r>
              <a:rPr lang="en-US" sz="1300" dirty="0">
                <a:solidFill>
                  <a:schemeClr val="tx1"/>
                </a:solidFill>
              </a:rPr>
              <a:t>was born… </a:t>
            </a:r>
            <a:pPr indent="0" marL="0">
              <a:buNone/>
            </a:pPr>
            <a:r>
              <a:rPr lang="en-US" sz="1300" b="1" dirty="0">
                <a:solidFill>
                  <a:schemeClr val="tx1"/>
                </a:solidFill>
                <a:highlight>
                  <a:srgbClr val="FFD166"/>
                </a:highlight>
              </a:rPr>
              <a:t>Her</a:t>
            </a:r>
            <a:pPr indent="0" marL="0">
              <a:buNone/>
            </a:pPr>
            <a:r>
              <a:rPr lang="en-US" sz="1300" b="1" dirty="0">
                <a:solidFill>
                  <a:schemeClr val="tx1"/>
                </a:solidFill>
                <a:highlight>
                  <a:srgbClr val="FFD166"/>
                </a:highlight>
              </a:rPr>
              <a:t> family… she</a:t>
            </a:r>
            <a:pPr indent="0" marL="0">
              <a:buNone/>
            </a:pPr>
            <a:r>
              <a:rPr lang="en-US" sz="1300" dirty="0">
                <a:solidFill>
                  <a:schemeClr val="tx1"/>
                </a:solidFill>
              </a:rPr>
              <a:t> grew up…</a:t>
            </a:r>
            <a:endParaRPr lang="en-US" sz="1300" dirty="0"/>
          </a:p>
        </p:txBody>
      </p:sp>
      <p:sp>
        <p:nvSpPr>
          <p:cNvPr id="8" name="Answer b"/>
          <p:cNvSpPr/>
          <p:nvPr/>
        </p:nvSpPr>
        <p:spPr>
          <a:xfrm>
            <a:off x="457200" y="167640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173736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173736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1" name="Text 8"/>
          <p:cNvSpPr txBox="1"/>
          <p:nvPr/>
        </p:nvSpPr>
        <p:spPr>
          <a:xfrm>
            <a:off x="1188720" y="1676400"/>
            <a:ext cx="7315200" cy="533400"/>
          </a:xfrm>
          <a:prstGeom prst="rect">
            <a:avLst/>
          </a:prstGeom>
          <a:noFill/>
          <a:ln/>
        </p:spPr>
        <p:txBody>
          <a:bodyPr wrap="square" lIns="0" tIns="0" rIns="0" bIns="0" rtlCol="0" anchor="ctr"/>
          <a:lstStyle/>
          <a:p>
            <a:pPr indent="0" marL="0">
              <a:buNone/>
            </a:pPr>
            <a:r>
              <a:rPr lang="en-US" sz="1300" dirty="0">
                <a:solidFill>
                  <a:schemeClr val="tx1"/>
                </a:solidFill>
              </a:rPr>
              <a:t>‘Poorna Malavath, the youngest girl to climb Mount Everest’ introduces who she is.</a:t>
            </a:r>
            <a:endParaRPr lang="en-US" sz="1300" dirty="0"/>
          </a:p>
        </p:txBody>
      </p:sp>
      <p:sp>
        <p:nvSpPr>
          <p:cNvPr id="12" name="Answer c"/>
          <p:cNvSpPr/>
          <p:nvPr/>
        </p:nvSpPr>
        <p:spPr>
          <a:xfrm>
            <a:off x="457200" y="230124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236220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236220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5" name="Text 12"/>
          <p:cNvSpPr txBox="1"/>
          <p:nvPr/>
        </p:nvSpPr>
        <p:spPr>
          <a:xfrm>
            <a:off x="1188720" y="2301240"/>
            <a:ext cx="7315200" cy="533400"/>
          </a:xfrm>
          <a:prstGeom prst="rect">
            <a:avLst/>
          </a:prstGeom>
          <a:noFill/>
          <a:ln/>
        </p:spPr>
        <p:txBody>
          <a:bodyPr wrap="square" lIns="0" tIns="0" rIns="0" bIns="0" rtlCol="0" anchor="ctr"/>
          <a:lstStyle/>
          <a:p>
            <a:pPr indent="0" marL="0">
              <a:buNone/>
            </a:pPr>
            <a:r>
              <a:rPr lang="en-US" sz="1300" dirty="0">
                <a:solidFill>
                  <a:schemeClr val="tx1"/>
                </a:solidFill>
              </a:rPr>
              <a:t>10 June 2000 · 2013 · 25 May 2014 · 2017</a:t>
            </a:r>
            <a:endParaRPr lang="en-US" sz="1300" dirty="0"/>
          </a:p>
        </p:txBody>
      </p:sp>
      <p:sp>
        <p:nvSpPr>
          <p:cNvPr id="16" name="Answer d"/>
          <p:cNvSpPr/>
          <p:nvPr/>
        </p:nvSpPr>
        <p:spPr>
          <a:xfrm>
            <a:off x="457200" y="292608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94360" y="298704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29870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19" name="Text 16"/>
          <p:cNvSpPr txBox="1"/>
          <p:nvPr/>
        </p:nvSpPr>
        <p:spPr>
          <a:xfrm>
            <a:off x="1188720" y="2926080"/>
            <a:ext cx="7315200" cy="533400"/>
          </a:xfrm>
          <a:prstGeom prst="rect">
            <a:avLst/>
          </a:prstGeom>
          <a:noFill/>
          <a:ln/>
        </p:spPr>
        <p:txBody>
          <a:bodyPr wrap="square" lIns="0" tIns="0" rIns="0" bIns="0" rtlCol="0" anchor="ctr"/>
          <a:lstStyle/>
          <a:p>
            <a:pPr indent="0" marL="0">
              <a:buNone/>
            </a:pPr>
            <a:r>
              <a:rPr lang="en-US" sz="1300" dirty="0">
                <a:solidFill>
                  <a:schemeClr val="tx1"/>
                </a:solidFill>
              </a:rPr>
              <a:t>‘It’s not that tall. We can climb it in a day.’ · ‘incredible’</a:t>
            </a:r>
            <a:endParaRPr lang="en-US" sz="1300" dirty="0"/>
          </a:p>
        </p:txBody>
      </p:sp>
      <p:sp>
        <p:nvSpPr>
          <p:cNvPr id="20" name="Answer e"/>
          <p:cNvSpPr/>
          <p:nvPr/>
        </p:nvSpPr>
        <p:spPr>
          <a:xfrm>
            <a:off x="457200" y="355092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Badge"/>
          <p:cNvSpPr/>
          <p:nvPr/>
        </p:nvSpPr>
        <p:spPr>
          <a:xfrm>
            <a:off x="594360" y="3611880"/>
            <a:ext cx="411480" cy="411480"/>
          </a:xfrm>
          <a:prstGeom prst="ellipse">
            <a:avLst/>
          </a:prstGeom>
          <a:solidFill>
            <a:schemeClr val="accent5"/>
          </a:solidFill>
          <a:ln w="6350">
            <a:solidFill>
              <a:schemeClr val="accent5"/>
            </a:solidFill>
            <a:prstDash val="solid"/>
          </a:ln>
        </p:spPr>
      </p:sp>
      <p:sp>
        <p:nvSpPr>
          <p:cNvPr id="22" name="Text 19"/>
          <p:cNvSpPr txBox="1"/>
          <p:nvPr/>
        </p:nvSpPr>
        <p:spPr>
          <a:xfrm>
            <a:off x="594360" y="361188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e</a:t>
            </a:r>
            <a:endParaRPr lang="en-US" sz="1500" dirty="0"/>
          </a:p>
        </p:txBody>
      </p:sp>
      <p:sp>
        <p:nvSpPr>
          <p:cNvPr id="23" name="Text 20"/>
          <p:cNvSpPr txBox="1"/>
          <p:nvPr/>
        </p:nvSpPr>
        <p:spPr>
          <a:xfrm>
            <a:off x="1188720" y="3550920"/>
            <a:ext cx="7315200" cy="533400"/>
          </a:xfrm>
          <a:prstGeom prst="rect">
            <a:avLst/>
          </a:prstGeom>
          <a:noFill/>
          <a:ln/>
        </p:spPr>
        <p:txBody>
          <a:bodyPr wrap="square" lIns="0" tIns="0" rIns="0" bIns="0" rtlCol="0" anchor="ctr"/>
          <a:lstStyle/>
          <a:p>
            <a:pPr indent="0" marL="0">
              <a:buNone/>
            </a:pPr>
            <a:r>
              <a:rPr lang="en-US" sz="1300" dirty="0">
                <a:solidFill>
                  <a:schemeClr val="tx1"/>
                </a:solidFill>
              </a:rPr>
              <a:t>The expedition took 52 days. · She competed with 21 other climbers.</a:t>
            </a:r>
            <a:endParaRPr lang="en-US" sz="1300" dirty="0"/>
          </a:p>
        </p:txBody>
      </p:sp>
      <p:sp>
        <p:nvSpPr>
          <p:cNvPr id="24" name="Answer f"/>
          <p:cNvSpPr/>
          <p:nvPr/>
        </p:nvSpPr>
        <p:spPr>
          <a:xfrm>
            <a:off x="457200" y="4175760"/>
            <a:ext cx="8229600" cy="533400"/>
          </a:xfrm>
          <a:prstGeom prst="roundRect">
            <a:avLst>
              <a:gd name="adj" fmla="val 20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5" name="Badge"/>
          <p:cNvSpPr/>
          <p:nvPr/>
        </p:nvSpPr>
        <p:spPr>
          <a:xfrm>
            <a:off x="594360" y="4236720"/>
            <a:ext cx="411480" cy="411480"/>
          </a:xfrm>
          <a:prstGeom prst="ellipse">
            <a:avLst/>
          </a:prstGeom>
          <a:solidFill>
            <a:schemeClr val="accent1"/>
          </a:solidFill>
          <a:ln w="6350">
            <a:solidFill>
              <a:schemeClr val="accent1"/>
            </a:solidFill>
            <a:prstDash val="solid"/>
          </a:ln>
        </p:spPr>
      </p:sp>
      <p:sp>
        <p:nvSpPr>
          <p:cNvPr id="26" name="Text 23"/>
          <p:cNvSpPr txBox="1"/>
          <p:nvPr/>
        </p:nvSpPr>
        <p:spPr>
          <a:xfrm>
            <a:off x="594360" y="423672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f</a:t>
            </a:r>
            <a:endParaRPr lang="en-US" sz="1500" dirty="0"/>
          </a:p>
        </p:txBody>
      </p:sp>
      <p:sp>
        <p:nvSpPr>
          <p:cNvPr id="27" name="Text 24"/>
          <p:cNvSpPr txBox="1"/>
          <p:nvPr/>
        </p:nvSpPr>
        <p:spPr>
          <a:xfrm>
            <a:off x="1188720" y="4175760"/>
            <a:ext cx="7315200" cy="533400"/>
          </a:xfrm>
          <a:prstGeom prst="rect">
            <a:avLst/>
          </a:prstGeom>
          <a:noFill/>
          <a:ln/>
        </p:spPr>
        <p:txBody>
          <a:bodyPr wrap="square" lIns="0" tIns="0" rIns="0" bIns="0" rtlCol="0" anchor="ctr"/>
          <a:lstStyle/>
          <a:p>
            <a:pPr indent="0" marL="0">
              <a:buNone/>
            </a:pPr>
            <a:r>
              <a:rPr lang="en-US" sz="1300" dirty="0">
                <a:solidFill>
                  <a:schemeClr val="tx1"/>
                </a:solidFill>
              </a:rPr>
              <a:t>‘Malavath on top of the world’ (the caption under the photograph)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Q4: chronological order</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Write these events from the text in chronological order.</a:t>
            </a:r>
            <a:endParaRPr lang="en-US" sz="1600" dirty="0"/>
          </a:p>
        </p:txBody>
      </p:sp>
      <p:sp>
        <p:nvSpPr>
          <p:cNvPr id="5" name="Event"/>
          <p:cNvSpPr/>
          <p:nvPr/>
        </p:nvSpPr>
        <p:spPr>
          <a:xfrm>
            <a:off x="457200" y="1508760"/>
            <a:ext cx="2651760" cy="1097280"/>
          </a:xfrm>
          <a:prstGeom prst="roundRect">
            <a:avLst>
              <a:gd name="adj" fmla="val 10000"/>
            </a:avLst>
          </a:prstGeom>
          <a:solidFill>
            <a:schemeClr val="accent1"/>
          </a:solidFill>
          <a:ln w="9525">
            <a:solidFill>
              <a:schemeClr val="accent1"/>
            </a:solidFill>
            <a:prstDash val="solid"/>
          </a:ln>
          <a:effectLst>
            <a:outerShdw sx="100000" sy="100000" kx="0" ky="0" algn="bl" rotWithShape="0" blurRad="76200" dist="25400" dir="5400000">
              <a:srgbClr val="0E1537">
                <a:alpha val="14000"/>
              </a:srgbClr>
            </a:outerShdw>
          </a:effectLst>
        </p:spPr>
      </p:sp>
      <p:sp>
        <p:nvSpPr>
          <p:cNvPr id="6" name="Text 3"/>
          <p:cNvSpPr txBox="1"/>
          <p:nvPr/>
        </p:nvSpPr>
        <p:spPr>
          <a:xfrm>
            <a:off x="594360" y="1508760"/>
            <a:ext cx="2377440" cy="109728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Met Dr Kumar</a:t>
            </a:r>
            <a:endParaRPr lang="en-US" sz="1800" dirty="0"/>
          </a:p>
        </p:txBody>
      </p:sp>
      <p:sp>
        <p:nvSpPr>
          <p:cNvPr id="7" name="Event"/>
          <p:cNvSpPr/>
          <p:nvPr/>
        </p:nvSpPr>
        <p:spPr>
          <a:xfrm>
            <a:off x="3246120" y="1508760"/>
            <a:ext cx="2651760" cy="1097280"/>
          </a:xfrm>
          <a:prstGeom prst="roundRect">
            <a:avLst>
              <a:gd name="adj" fmla="val 10000"/>
            </a:avLst>
          </a:prstGeom>
          <a:solidFill>
            <a:schemeClr val="accent2"/>
          </a:solidFill>
          <a:ln w="9525">
            <a:solidFill>
              <a:schemeClr val="accent2"/>
            </a:solidFill>
            <a:prstDash val="solid"/>
          </a:ln>
          <a:effectLst>
            <a:outerShdw sx="100000" sy="100000" kx="0" ky="0" algn="bl" rotWithShape="0" blurRad="76200" dist="25400" dir="5400000">
              <a:srgbClr val="0E1537">
                <a:alpha val="14000"/>
              </a:srgbClr>
            </a:outerShdw>
          </a:effectLst>
        </p:spPr>
      </p:sp>
      <p:sp>
        <p:nvSpPr>
          <p:cNvPr id="8" name="Text 5"/>
          <p:cNvSpPr txBox="1"/>
          <p:nvPr/>
        </p:nvSpPr>
        <p:spPr>
          <a:xfrm>
            <a:off x="3383280" y="1508760"/>
            <a:ext cx="2377440" cy="109728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Joined Operation Everest</a:t>
            </a:r>
            <a:endParaRPr lang="en-US" sz="1800" dirty="0"/>
          </a:p>
        </p:txBody>
      </p:sp>
      <p:sp>
        <p:nvSpPr>
          <p:cNvPr id="9" name="Event"/>
          <p:cNvSpPr/>
          <p:nvPr/>
        </p:nvSpPr>
        <p:spPr>
          <a:xfrm>
            <a:off x="6035040" y="1508760"/>
            <a:ext cx="2651760" cy="1097280"/>
          </a:xfrm>
          <a:prstGeom prst="roundRect">
            <a:avLst>
              <a:gd name="adj" fmla="val 10000"/>
            </a:avLst>
          </a:prstGeom>
          <a:solidFill>
            <a:schemeClr val="accent3"/>
          </a:solidFill>
          <a:ln w="9525">
            <a:solidFill>
              <a:schemeClr val="accent3"/>
            </a:solidFill>
            <a:prstDash val="solid"/>
          </a:ln>
          <a:effectLst>
            <a:outerShdw sx="100000" sy="100000" kx="0" ky="0" algn="bl" rotWithShape="0" blurRad="76200" dist="25400" dir="5400000">
              <a:srgbClr val="0E1537">
                <a:alpha val="14000"/>
              </a:srgbClr>
            </a:outerShdw>
          </a:effectLst>
        </p:spPr>
      </p:sp>
      <p:sp>
        <p:nvSpPr>
          <p:cNvPr id="10" name="Text 7"/>
          <p:cNvSpPr txBox="1"/>
          <p:nvPr/>
        </p:nvSpPr>
        <p:spPr>
          <a:xfrm>
            <a:off x="6172200" y="1508760"/>
            <a:ext cx="2377440" cy="109728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Attended school</a:t>
            </a:r>
            <a:endParaRPr lang="en-US" sz="1800" dirty="0"/>
          </a:p>
        </p:txBody>
      </p:sp>
      <p:sp>
        <p:nvSpPr>
          <p:cNvPr id="11" name="Event"/>
          <p:cNvSpPr/>
          <p:nvPr/>
        </p:nvSpPr>
        <p:spPr>
          <a:xfrm>
            <a:off x="457200" y="2834640"/>
            <a:ext cx="2651760" cy="1097280"/>
          </a:xfrm>
          <a:prstGeom prst="roundRect">
            <a:avLst>
              <a:gd name="adj" fmla="val 10000"/>
            </a:avLst>
          </a:prstGeom>
          <a:solidFill>
            <a:schemeClr val="accent4"/>
          </a:solidFill>
          <a:ln w="9525">
            <a:solidFill>
              <a:schemeClr val="accent4"/>
            </a:solidFill>
            <a:prstDash val="solid"/>
          </a:ln>
          <a:effectLst>
            <a:outerShdw sx="100000" sy="100000" kx="0" ky="0" algn="bl" rotWithShape="0" blurRad="76200" dist="25400" dir="5400000">
              <a:srgbClr val="0E1537">
                <a:alpha val="14000"/>
              </a:srgbClr>
            </a:outerShdw>
          </a:effectLst>
        </p:spPr>
      </p:sp>
      <p:sp>
        <p:nvSpPr>
          <p:cNvPr id="12" name="Text 9"/>
          <p:cNvSpPr txBox="1"/>
          <p:nvPr/>
        </p:nvSpPr>
        <p:spPr>
          <a:xfrm>
            <a:off x="594360" y="2834640"/>
            <a:ext cx="2377440" cy="109728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Selected to climb Mount Everest</a:t>
            </a:r>
            <a:endParaRPr lang="en-US" sz="1800" dirty="0"/>
          </a:p>
        </p:txBody>
      </p:sp>
      <p:sp>
        <p:nvSpPr>
          <p:cNvPr id="13" name="Event"/>
          <p:cNvSpPr/>
          <p:nvPr/>
        </p:nvSpPr>
        <p:spPr>
          <a:xfrm>
            <a:off x="3246120" y="2834640"/>
            <a:ext cx="2651760" cy="1097280"/>
          </a:xfrm>
          <a:prstGeom prst="roundRect">
            <a:avLst>
              <a:gd name="adj" fmla="val 10000"/>
            </a:avLst>
          </a:prstGeom>
          <a:solidFill>
            <a:schemeClr val="accent5"/>
          </a:solidFill>
          <a:ln w="9525">
            <a:solidFill>
              <a:schemeClr val="accent5"/>
            </a:solidFill>
            <a:prstDash val="solid"/>
          </a:ln>
          <a:effectLst>
            <a:outerShdw sx="100000" sy="100000" kx="0" ky="0" algn="bl" rotWithShape="0" blurRad="76200" dist="25400" dir="5400000">
              <a:srgbClr val="0E1537">
                <a:alpha val="14000"/>
              </a:srgbClr>
            </a:outerShdw>
          </a:effectLst>
        </p:spPr>
      </p:sp>
      <p:sp>
        <p:nvSpPr>
          <p:cNvPr id="14" name="Text 11"/>
          <p:cNvSpPr txBox="1"/>
          <p:nvPr/>
        </p:nvSpPr>
        <p:spPr>
          <a:xfrm>
            <a:off x="3383280" y="2834640"/>
            <a:ext cx="2377440" cy="109728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Trained in Darjeeling</a:t>
            </a:r>
            <a:endParaRPr lang="en-US" sz="1800" dirty="0"/>
          </a:p>
        </p:txBody>
      </p:sp>
      <p:sp>
        <p:nvSpPr>
          <p:cNvPr id="15" name="Callout"/>
          <p:cNvSpPr/>
          <p:nvPr/>
        </p:nvSpPr>
        <p:spPr>
          <a:xfrm>
            <a:off x="457200" y="4206240"/>
            <a:ext cx="8229600" cy="411480"/>
          </a:xfrm>
          <a:prstGeom prst="roundRect">
            <a:avLst>
              <a:gd name="adj" fmla="val 26667"/>
            </a:avLst>
          </a:prstGeom>
          <a:solidFill>
            <a:schemeClr val="accent5"/>
          </a:solidFill>
          <a:ln w="9525">
            <a:solidFill>
              <a:schemeClr val="accent5"/>
            </a:solidFill>
            <a:prstDash val="solid"/>
          </a:ln>
        </p:spPr>
      </p:sp>
      <p:sp>
        <p:nvSpPr>
          <p:cNvPr id="16" name="Text 13"/>
          <p:cNvSpPr txBox="1"/>
          <p:nvPr/>
        </p:nvSpPr>
        <p:spPr>
          <a:xfrm>
            <a:off x="640080" y="4206240"/>
            <a:ext cx="7863840" cy="411480"/>
          </a:xfrm>
          <a:prstGeom prst="rect">
            <a:avLst/>
          </a:prstGeom>
          <a:noFill/>
          <a:ln/>
        </p:spPr>
        <p:txBody>
          <a:bodyPr wrap="square" lIns="0" tIns="0" rIns="0" bIns="0" rtlCol="0" anchor="ctr"/>
          <a:lstStyle/>
          <a:p>
            <a:pPr algn="ctr" indent="0" marL="0">
              <a:buNone/>
            </a:pPr>
            <a:r>
              <a:rPr lang="en-US" sz="1600" b="1" dirty="0">
                <a:solidFill>
                  <a:schemeClr val="tx1"/>
                </a:solidFill>
              </a:rPr>
              <a:t>Think: which came first?  Dr Kumar spotted her talent at school.</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Q4: answer</a:t>
            </a:r>
            <a:endParaRPr lang="en-US" sz="3000" dirty="0"/>
          </a:p>
        </p:txBody>
      </p:sp>
      <p:sp>
        <p:nvSpPr>
          <p:cNvPr id="4" name="Step 1"/>
          <p:cNvSpPr/>
          <p:nvPr/>
        </p:nvSpPr>
        <p:spPr>
          <a:xfrm>
            <a:off x="457200" y="1554480"/>
            <a:ext cx="1554480" cy="1554480"/>
          </a:xfrm>
          <a:prstGeom prst="roundRect">
            <a:avLst>
              <a:gd name="adj" fmla="val 705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960120" y="1664208"/>
            <a:ext cx="548640" cy="548640"/>
          </a:xfrm>
          <a:prstGeom prst="ellipse">
            <a:avLst/>
          </a:prstGeom>
          <a:solidFill>
            <a:schemeClr val="accent1"/>
          </a:solidFill>
          <a:ln w="6350">
            <a:solidFill>
              <a:schemeClr val="accent1"/>
            </a:solidFill>
            <a:prstDash val="solid"/>
          </a:ln>
        </p:spPr>
      </p:sp>
      <p:sp>
        <p:nvSpPr>
          <p:cNvPr id="6" name="Text 3"/>
          <p:cNvSpPr txBox="1"/>
          <p:nvPr/>
        </p:nvSpPr>
        <p:spPr>
          <a:xfrm>
            <a:off x="960120" y="1664208"/>
            <a:ext cx="54864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548640" y="2286000"/>
            <a:ext cx="1371600" cy="777240"/>
          </a:xfrm>
          <a:prstGeom prst="rect">
            <a:avLst/>
          </a:prstGeom>
          <a:noFill/>
          <a:ln/>
        </p:spPr>
        <p:txBody>
          <a:bodyPr wrap="square" lIns="0" tIns="0" rIns="0" bIns="0" rtlCol="0" anchor="ctr"/>
          <a:lstStyle/>
          <a:p>
            <a:pPr algn="ctr" indent="0" marL="0">
              <a:buNone/>
            </a:pPr>
            <a:r>
              <a:rPr lang="en-US" sz="1300" b="1" dirty="0">
                <a:solidFill>
                  <a:schemeClr val="tx1"/>
                </a:solidFill>
              </a:rPr>
              <a:t>Attended school</a:t>
            </a:r>
            <a:endParaRPr lang="en-US" sz="1300" dirty="0"/>
          </a:p>
        </p:txBody>
      </p:sp>
      <p:sp>
        <p:nvSpPr>
          <p:cNvPr id="8" name="Step 2"/>
          <p:cNvSpPr/>
          <p:nvPr/>
        </p:nvSpPr>
        <p:spPr>
          <a:xfrm>
            <a:off x="2121408" y="1554480"/>
            <a:ext cx="1554480" cy="1554480"/>
          </a:xfrm>
          <a:prstGeom prst="roundRect">
            <a:avLst>
              <a:gd name="adj" fmla="val 705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2624328" y="1664208"/>
            <a:ext cx="548640" cy="548640"/>
          </a:xfrm>
          <a:prstGeom prst="ellipse">
            <a:avLst/>
          </a:prstGeom>
          <a:solidFill>
            <a:schemeClr val="accent2"/>
          </a:solidFill>
          <a:ln w="6350">
            <a:solidFill>
              <a:schemeClr val="accent2"/>
            </a:solidFill>
            <a:prstDash val="solid"/>
          </a:ln>
        </p:spPr>
      </p:sp>
      <p:sp>
        <p:nvSpPr>
          <p:cNvPr id="10" name="Text 7"/>
          <p:cNvSpPr txBox="1"/>
          <p:nvPr/>
        </p:nvSpPr>
        <p:spPr>
          <a:xfrm>
            <a:off x="2624328" y="1664208"/>
            <a:ext cx="54864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2212848" y="2286000"/>
            <a:ext cx="1371600" cy="777240"/>
          </a:xfrm>
          <a:prstGeom prst="rect">
            <a:avLst/>
          </a:prstGeom>
          <a:noFill/>
          <a:ln/>
        </p:spPr>
        <p:txBody>
          <a:bodyPr wrap="square" lIns="0" tIns="0" rIns="0" bIns="0" rtlCol="0" anchor="ctr"/>
          <a:lstStyle/>
          <a:p>
            <a:pPr algn="ctr" indent="0" marL="0">
              <a:buNone/>
            </a:pPr>
            <a:r>
              <a:rPr lang="en-US" sz="1300" b="1" dirty="0">
                <a:solidFill>
                  <a:schemeClr val="tx1"/>
                </a:solidFill>
              </a:rPr>
              <a:t>Met Dr Kumar</a:t>
            </a:r>
            <a:endParaRPr lang="en-US" sz="1300" dirty="0"/>
          </a:p>
        </p:txBody>
      </p:sp>
      <p:sp>
        <p:nvSpPr>
          <p:cNvPr id="12" name="Step 3"/>
          <p:cNvSpPr/>
          <p:nvPr/>
        </p:nvSpPr>
        <p:spPr>
          <a:xfrm>
            <a:off x="3785616" y="1554480"/>
            <a:ext cx="1554480" cy="1554480"/>
          </a:xfrm>
          <a:prstGeom prst="roundRect">
            <a:avLst>
              <a:gd name="adj" fmla="val 705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4288536" y="1664208"/>
            <a:ext cx="548640" cy="548640"/>
          </a:xfrm>
          <a:prstGeom prst="ellipse">
            <a:avLst/>
          </a:prstGeom>
          <a:solidFill>
            <a:schemeClr val="accent3"/>
          </a:solidFill>
          <a:ln w="6350">
            <a:solidFill>
              <a:schemeClr val="accent3"/>
            </a:solidFill>
            <a:prstDash val="solid"/>
          </a:ln>
        </p:spPr>
      </p:sp>
      <p:sp>
        <p:nvSpPr>
          <p:cNvPr id="14" name="Text 11"/>
          <p:cNvSpPr txBox="1"/>
          <p:nvPr/>
        </p:nvSpPr>
        <p:spPr>
          <a:xfrm>
            <a:off x="4288536" y="1664208"/>
            <a:ext cx="54864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3877056" y="2286000"/>
            <a:ext cx="1371600" cy="777240"/>
          </a:xfrm>
          <a:prstGeom prst="rect">
            <a:avLst/>
          </a:prstGeom>
          <a:noFill/>
          <a:ln/>
        </p:spPr>
        <p:txBody>
          <a:bodyPr wrap="square" lIns="0" tIns="0" rIns="0" bIns="0" rtlCol="0" anchor="ctr"/>
          <a:lstStyle/>
          <a:p>
            <a:pPr algn="ctr" indent="0" marL="0">
              <a:buNone/>
            </a:pPr>
            <a:r>
              <a:rPr lang="en-US" sz="1300" b="1" dirty="0">
                <a:solidFill>
                  <a:schemeClr val="tx1"/>
                </a:solidFill>
              </a:rPr>
              <a:t>Joined Operation Everest</a:t>
            </a:r>
            <a:endParaRPr lang="en-US" sz="1300" dirty="0"/>
          </a:p>
        </p:txBody>
      </p:sp>
      <p:sp>
        <p:nvSpPr>
          <p:cNvPr id="16" name="Step 4"/>
          <p:cNvSpPr/>
          <p:nvPr/>
        </p:nvSpPr>
        <p:spPr>
          <a:xfrm>
            <a:off x="5449824" y="1554480"/>
            <a:ext cx="1554480" cy="1554480"/>
          </a:xfrm>
          <a:prstGeom prst="roundRect">
            <a:avLst>
              <a:gd name="adj" fmla="val 705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952744" y="1664208"/>
            <a:ext cx="548640" cy="548640"/>
          </a:xfrm>
          <a:prstGeom prst="ellipse">
            <a:avLst/>
          </a:prstGeom>
          <a:solidFill>
            <a:schemeClr val="accent4"/>
          </a:solidFill>
          <a:ln w="6350">
            <a:solidFill>
              <a:schemeClr val="accent4"/>
            </a:solidFill>
            <a:prstDash val="solid"/>
          </a:ln>
        </p:spPr>
      </p:sp>
      <p:sp>
        <p:nvSpPr>
          <p:cNvPr id="18" name="Text 15"/>
          <p:cNvSpPr txBox="1"/>
          <p:nvPr/>
        </p:nvSpPr>
        <p:spPr>
          <a:xfrm>
            <a:off x="5952744" y="1664208"/>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5541264" y="2286000"/>
            <a:ext cx="1371600" cy="777240"/>
          </a:xfrm>
          <a:prstGeom prst="rect">
            <a:avLst/>
          </a:prstGeom>
          <a:noFill/>
          <a:ln/>
        </p:spPr>
        <p:txBody>
          <a:bodyPr wrap="square" lIns="0" tIns="0" rIns="0" bIns="0" rtlCol="0" anchor="ctr"/>
          <a:lstStyle/>
          <a:p>
            <a:pPr algn="ctr" indent="0" marL="0">
              <a:buNone/>
            </a:pPr>
            <a:r>
              <a:rPr lang="en-US" sz="1300" b="1" dirty="0">
                <a:solidFill>
                  <a:schemeClr val="tx1"/>
                </a:solidFill>
              </a:rPr>
              <a:t>Trained in Darjeeling</a:t>
            </a:r>
            <a:endParaRPr lang="en-US" sz="1300" dirty="0"/>
          </a:p>
        </p:txBody>
      </p:sp>
      <p:sp>
        <p:nvSpPr>
          <p:cNvPr id="20" name="Step 5"/>
          <p:cNvSpPr/>
          <p:nvPr/>
        </p:nvSpPr>
        <p:spPr>
          <a:xfrm>
            <a:off x="7114032" y="1554480"/>
            <a:ext cx="1554480" cy="1554480"/>
          </a:xfrm>
          <a:prstGeom prst="roundRect">
            <a:avLst>
              <a:gd name="adj" fmla="val 705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Badge"/>
          <p:cNvSpPr/>
          <p:nvPr/>
        </p:nvSpPr>
        <p:spPr>
          <a:xfrm>
            <a:off x="7616952" y="1664208"/>
            <a:ext cx="548640" cy="548640"/>
          </a:xfrm>
          <a:prstGeom prst="ellipse">
            <a:avLst/>
          </a:prstGeom>
          <a:solidFill>
            <a:schemeClr val="accent5"/>
          </a:solidFill>
          <a:ln w="6350">
            <a:solidFill>
              <a:schemeClr val="accent5"/>
            </a:solidFill>
            <a:prstDash val="solid"/>
          </a:ln>
        </p:spPr>
      </p:sp>
      <p:sp>
        <p:nvSpPr>
          <p:cNvPr id="22" name="Text 19"/>
          <p:cNvSpPr txBox="1"/>
          <p:nvPr/>
        </p:nvSpPr>
        <p:spPr>
          <a:xfrm>
            <a:off x="7616952" y="1664208"/>
            <a:ext cx="54864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7205472" y="2286000"/>
            <a:ext cx="1371600" cy="777240"/>
          </a:xfrm>
          <a:prstGeom prst="rect">
            <a:avLst/>
          </a:prstGeom>
          <a:noFill/>
          <a:ln/>
        </p:spPr>
        <p:txBody>
          <a:bodyPr wrap="square" lIns="0" tIns="0" rIns="0" bIns="0" rtlCol="0" anchor="ctr"/>
          <a:lstStyle/>
          <a:p>
            <a:pPr algn="ctr" indent="0" marL="0">
              <a:buNone/>
            </a:pPr>
            <a:r>
              <a:rPr lang="en-US" sz="1300" b="1" dirty="0">
                <a:solidFill>
                  <a:schemeClr val="tx1"/>
                </a:solidFill>
              </a:rPr>
              <a:t>Selected to climb Mount Everest</a:t>
            </a:r>
            <a:endParaRPr lang="en-US" sz="1300" dirty="0"/>
          </a:p>
        </p:txBody>
      </p:sp>
      <p:sp>
        <p:nvSpPr>
          <p:cNvPr id="24" name="Clue"/>
          <p:cNvSpPr/>
          <p:nvPr/>
        </p:nvSpPr>
        <p:spPr>
          <a:xfrm>
            <a:off x="457200" y="3383280"/>
            <a:ext cx="8229600" cy="822960"/>
          </a:xfrm>
          <a:prstGeom prst="roundRect">
            <a:avLst>
              <a:gd name="adj" fmla="val 13333"/>
            </a:avLst>
          </a:prstGeom>
          <a:solidFill>
            <a:schemeClr val="accent4"/>
          </a:solidFill>
          <a:ln w="9525">
            <a:solidFill>
              <a:schemeClr val="accent4"/>
            </a:solidFill>
            <a:prstDash val="solid"/>
          </a:ln>
        </p:spPr>
      </p:sp>
      <p:sp>
        <p:nvSpPr>
          <p:cNvPr id="25" name="Text 22"/>
          <p:cNvSpPr txBox="1"/>
          <p:nvPr/>
        </p:nvSpPr>
        <p:spPr>
          <a:xfrm>
            <a:off x="731520" y="3383280"/>
            <a:ext cx="7680960" cy="822960"/>
          </a:xfrm>
          <a:prstGeom prst="rect">
            <a:avLst/>
          </a:prstGeom>
          <a:noFill/>
          <a:ln/>
        </p:spPr>
        <p:txBody>
          <a:bodyPr wrap="square" lIns="0" tIns="0" rIns="0" bIns="0" rtlCol="0" anchor="ctr"/>
          <a:lstStyle/>
          <a:p>
            <a:pPr algn="ctr" indent="0" marL="0">
              <a:buNone/>
            </a:pPr>
            <a:r>
              <a:rPr lang="en-US" sz="1700" b="1" dirty="0">
                <a:solidFill>
                  <a:schemeClr val="bg1"/>
                </a:solidFill>
              </a:rPr>
              <a:t>Clue words: ‘At an early age’ → ‘In 2013’ → ‘in 2014’</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Q5 and Q6: discuss with a partner</a:t>
            </a:r>
            <a:endParaRPr lang="en-US" sz="3000" dirty="0"/>
          </a:p>
        </p:txBody>
      </p:sp>
      <p:sp>
        <p:nvSpPr>
          <p:cNvPr id="4" name="Q5a"/>
          <p:cNvSpPr/>
          <p:nvPr/>
        </p:nvSpPr>
        <p:spPr>
          <a:xfrm>
            <a:off x="457200" y="1051560"/>
            <a:ext cx="822960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Label"/>
          <p:cNvSpPr/>
          <p:nvPr/>
        </p:nvSpPr>
        <p:spPr>
          <a:xfrm>
            <a:off x="594360" y="1234440"/>
            <a:ext cx="685800" cy="411480"/>
          </a:xfrm>
          <a:prstGeom prst="roundRect">
            <a:avLst>
              <a:gd name="adj" fmla="val 22222"/>
            </a:avLst>
          </a:prstGeom>
          <a:solidFill>
            <a:schemeClr val="accent1"/>
          </a:solidFill>
          <a:ln w="6350">
            <a:solidFill>
              <a:schemeClr val="accent1"/>
            </a:solidFill>
            <a:prstDash val="solid"/>
          </a:ln>
        </p:spPr>
      </p:sp>
      <p:sp>
        <p:nvSpPr>
          <p:cNvPr id="6" name="Text 3"/>
          <p:cNvSpPr txBox="1"/>
          <p:nvPr/>
        </p:nvSpPr>
        <p:spPr>
          <a:xfrm>
            <a:off x="594360" y="1234440"/>
            <a:ext cx="685800" cy="411480"/>
          </a:xfrm>
          <a:prstGeom prst="rect">
            <a:avLst/>
          </a:prstGeom>
          <a:noFill/>
          <a:ln/>
        </p:spPr>
        <p:txBody>
          <a:bodyPr wrap="square" lIns="0" tIns="0" rIns="0" bIns="0" rtlCol="0" anchor="ctr"/>
          <a:lstStyle/>
          <a:p>
            <a:pPr algn="ctr" indent="0" marL="0">
              <a:buNone/>
            </a:pPr>
            <a:r>
              <a:rPr lang="en-US" sz="1500" b="1" dirty="0">
                <a:solidFill>
                  <a:schemeClr val="tx1"/>
                </a:solidFill>
              </a:rPr>
              <a:t>5a</a:t>
            </a:r>
            <a:endParaRPr lang="en-US" sz="1500" dirty="0"/>
          </a:p>
        </p:txBody>
      </p:sp>
      <p:sp>
        <p:nvSpPr>
          <p:cNvPr id="7" name="Text 4"/>
          <p:cNvSpPr txBox="1"/>
          <p:nvPr/>
        </p:nvSpPr>
        <p:spPr>
          <a:xfrm>
            <a:off x="1463040" y="1051560"/>
            <a:ext cx="7040880" cy="777240"/>
          </a:xfrm>
          <a:prstGeom prst="rect">
            <a:avLst/>
          </a:prstGeom>
          <a:noFill/>
          <a:ln/>
        </p:spPr>
        <p:txBody>
          <a:bodyPr wrap="square" lIns="0" tIns="0" rIns="0" bIns="0" rtlCol="0" anchor="ctr"/>
          <a:lstStyle/>
          <a:p>
            <a:pPr indent="0" marL="0">
              <a:buNone/>
            </a:pPr>
            <a:r>
              <a:rPr lang="en-US" sz="1400" dirty="0">
                <a:solidFill>
                  <a:schemeClr val="tx1"/>
                </a:solidFill>
              </a:rPr>
              <a:t>What makes this a good or bad biography? Is the information presented clearly? Is it easy to read and understand?</a:t>
            </a:r>
            <a:endParaRPr lang="en-US" sz="1400" dirty="0"/>
          </a:p>
        </p:txBody>
      </p:sp>
      <p:sp>
        <p:nvSpPr>
          <p:cNvPr id="8" name="Q5b"/>
          <p:cNvSpPr/>
          <p:nvPr/>
        </p:nvSpPr>
        <p:spPr>
          <a:xfrm>
            <a:off x="457200" y="1947672"/>
            <a:ext cx="822960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Label"/>
          <p:cNvSpPr/>
          <p:nvPr/>
        </p:nvSpPr>
        <p:spPr>
          <a:xfrm>
            <a:off x="594360" y="2130552"/>
            <a:ext cx="685800" cy="411480"/>
          </a:xfrm>
          <a:prstGeom prst="roundRect">
            <a:avLst>
              <a:gd name="adj" fmla="val 22222"/>
            </a:avLst>
          </a:prstGeom>
          <a:solidFill>
            <a:schemeClr val="accent2"/>
          </a:solidFill>
          <a:ln w="6350">
            <a:solidFill>
              <a:schemeClr val="accent2"/>
            </a:solidFill>
            <a:prstDash val="solid"/>
          </a:ln>
        </p:spPr>
      </p:sp>
      <p:sp>
        <p:nvSpPr>
          <p:cNvPr id="10" name="Text 7"/>
          <p:cNvSpPr txBox="1"/>
          <p:nvPr/>
        </p:nvSpPr>
        <p:spPr>
          <a:xfrm>
            <a:off x="594360" y="2130552"/>
            <a:ext cx="685800" cy="411480"/>
          </a:xfrm>
          <a:prstGeom prst="rect">
            <a:avLst/>
          </a:prstGeom>
          <a:noFill/>
          <a:ln/>
        </p:spPr>
        <p:txBody>
          <a:bodyPr wrap="square" lIns="0" tIns="0" rIns="0" bIns="0" rtlCol="0" anchor="ctr"/>
          <a:lstStyle/>
          <a:p>
            <a:pPr algn="ctr" indent="0" marL="0">
              <a:buNone/>
            </a:pPr>
            <a:r>
              <a:rPr lang="en-US" sz="1500" b="1" dirty="0">
                <a:solidFill>
                  <a:schemeClr val="tx1"/>
                </a:solidFill>
              </a:rPr>
              <a:t>5b</a:t>
            </a:r>
            <a:endParaRPr lang="en-US" sz="1500" dirty="0"/>
          </a:p>
        </p:txBody>
      </p:sp>
      <p:sp>
        <p:nvSpPr>
          <p:cNvPr id="11" name="Text 8"/>
          <p:cNvSpPr txBox="1"/>
          <p:nvPr/>
        </p:nvSpPr>
        <p:spPr>
          <a:xfrm>
            <a:off x="1463040" y="1947672"/>
            <a:ext cx="7040880" cy="777240"/>
          </a:xfrm>
          <a:prstGeom prst="rect">
            <a:avLst/>
          </a:prstGeom>
          <a:noFill/>
          <a:ln/>
        </p:spPr>
        <p:txBody>
          <a:bodyPr wrap="square" lIns="0" tIns="0" rIns="0" bIns="0" rtlCol="0" anchor="ctr"/>
          <a:lstStyle/>
          <a:p>
            <a:pPr indent="0" marL="0">
              <a:buNone/>
            </a:pPr>
            <a:r>
              <a:rPr lang="en-US" sz="1400" dirty="0">
                <a:solidFill>
                  <a:schemeClr val="tx1"/>
                </a:solidFill>
              </a:rPr>
              <a:t>Is it written in a formal or an informal style? How would it be different in the opposite style?</a:t>
            </a:r>
            <a:endParaRPr lang="en-US" sz="1400" dirty="0"/>
          </a:p>
        </p:txBody>
      </p:sp>
      <p:sp>
        <p:nvSpPr>
          <p:cNvPr id="12" name="Q5c"/>
          <p:cNvSpPr/>
          <p:nvPr/>
        </p:nvSpPr>
        <p:spPr>
          <a:xfrm>
            <a:off x="457200" y="2843784"/>
            <a:ext cx="822960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Label"/>
          <p:cNvSpPr/>
          <p:nvPr/>
        </p:nvSpPr>
        <p:spPr>
          <a:xfrm>
            <a:off x="594360" y="3026664"/>
            <a:ext cx="685800" cy="411480"/>
          </a:xfrm>
          <a:prstGeom prst="roundRect">
            <a:avLst>
              <a:gd name="adj" fmla="val 22222"/>
            </a:avLst>
          </a:prstGeom>
          <a:solidFill>
            <a:schemeClr val="accent3"/>
          </a:solidFill>
          <a:ln w="6350">
            <a:solidFill>
              <a:schemeClr val="accent3"/>
            </a:solidFill>
            <a:prstDash val="solid"/>
          </a:ln>
        </p:spPr>
      </p:sp>
      <p:sp>
        <p:nvSpPr>
          <p:cNvPr id="14" name="Text 11"/>
          <p:cNvSpPr txBox="1"/>
          <p:nvPr/>
        </p:nvSpPr>
        <p:spPr>
          <a:xfrm>
            <a:off x="594360" y="3026664"/>
            <a:ext cx="685800" cy="411480"/>
          </a:xfrm>
          <a:prstGeom prst="rect">
            <a:avLst/>
          </a:prstGeom>
          <a:noFill/>
          <a:ln/>
        </p:spPr>
        <p:txBody>
          <a:bodyPr wrap="square" lIns="0" tIns="0" rIns="0" bIns="0" rtlCol="0" anchor="ctr"/>
          <a:lstStyle/>
          <a:p>
            <a:pPr algn="ctr" indent="0" marL="0">
              <a:buNone/>
            </a:pPr>
            <a:r>
              <a:rPr lang="en-US" sz="1500" b="1" dirty="0">
                <a:solidFill>
                  <a:schemeClr val="tx1"/>
                </a:solidFill>
              </a:rPr>
              <a:t>5c</a:t>
            </a:r>
            <a:endParaRPr lang="en-US" sz="1500" dirty="0"/>
          </a:p>
        </p:txBody>
      </p:sp>
      <p:sp>
        <p:nvSpPr>
          <p:cNvPr id="15" name="Text 12"/>
          <p:cNvSpPr txBox="1"/>
          <p:nvPr/>
        </p:nvSpPr>
        <p:spPr>
          <a:xfrm>
            <a:off x="1463040" y="2843784"/>
            <a:ext cx="7040880" cy="777240"/>
          </a:xfrm>
          <a:prstGeom prst="rect">
            <a:avLst/>
          </a:prstGeom>
          <a:noFill/>
          <a:ln/>
        </p:spPr>
        <p:txBody>
          <a:bodyPr wrap="square" lIns="0" tIns="0" rIns="0" bIns="0" rtlCol="0" anchor="ctr"/>
          <a:lstStyle/>
          <a:p>
            <a:pPr indent="0" marL="0">
              <a:buNone/>
            </a:pPr>
            <a:r>
              <a:rPr lang="en-US" sz="1400" dirty="0">
                <a:solidFill>
                  <a:schemeClr val="tx1"/>
                </a:solidFill>
              </a:rPr>
              <a:t>Discuss the writer’s viewpoint. How does the writer want you to feel about Malavath?</a:t>
            </a:r>
            <a:endParaRPr lang="en-US" sz="1400" dirty="0"/>
          </a:p>
        </p:txBody>
      </p:sp>
      <p:sp>
        <p:nvSpPr>
          <p:cNvPr id="16" name="Q6"/>
          <p:cNvSpPr/>
          <p:nvPr/>
        </p:nvSpPr>
        <p:spPr>
          <a:xfrm>
            <a:off x="457200" y="3739896"/>
            <a:ext cx="822960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Label"/>
          <p:cNvSpPr/>
          <p:nvPr/>
        </p:nvSpPr>
        <p:spPr>
          <a:xfrm>
            <a:off x="594360" y="3922776"/>
            <a:ext cx="685800" cy="411480"/>
          </a:xfrm>
          <a:prstGeom prst="roundRect">
            <a:avLst>
              <a:gd name="adj" fmla="val 22222"/>
            </a:avLst>
          </a:prstGeom>
          <a:solidFill>
            <a:schemeClr val="accent4"/>
          </a:solidFill>
          <a:ln w="6350">
            <a:solidFill>
              <a:schemeClr val="accent4"/>
            </a:solidFill>
            <a:prstDash val="solid"/>
          </a:ln>
        </p:spPr>
      </p:sp>
      <p:sp>
        <p:nvSpPr>
          <p:cNvPr id="18" name="Text 15"/>
          <p:cNvSpPr txBox="1"/>
          <p:nvPr/>
        </p:nvSpPr>
        <p:spPr>
          <a:xfrm>
            <a:off x="594360" y="3922776"/>
            <a:ext cx="68580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9" name="Text 16"/>
          <p:cNvSpPr txBox="1"/>
          <p:nvPr/>
        </p:nvSpPr>
        <p:spPr>
          <a:xfrm>
            <a:off x="1463040" y="3739896"/>
            <a:ext cx="7040880" cy="777240"/>
          </a:xfrm>
          <a:prstGeom prst="rect">
            <a:avLst/>
          </a:prstGeom>
          <a:noFill/>
          <a:ln/>
        </p:spPr>
        <p:txBody>
          <a:bodyPr wrap="square" lIns="0" tIns="0" rIns="0" bIns="0" rtlCol="0" anchor="ctr"/>
          <a:lstStyle/>
          <a:p>
            <a:pPr indent="0" marL="0">
              <a:buNone/>
            </a:pPr>
            <a:r>
              <a:rPr lang="en-US" sz="1400" dirty="0">
                <a:solidFill>
                  <a:schemeClr val="tx1"/>
                </a:solidFill>
              </a:rPr>
              <a:t>What challenges did Poorna Malavath face? What would you have done in her place? Use quotes from the text.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Q5: model answers</a:t>
            </a:r>
            <a:endParaRPr lang="en-US" sz="3000" dirty="0"/>
          </a:p>
        </p:txBody>
      </p:sp>
      <p:sp>
        <p:nvSpPr>
          <p:cNvPr id="4" name="Answer 5a"/>
          <p:cNvSpPr/>
          <p:nvPr/>
        </p:nvSpPr>
        <p:spPr>
          <a:xfrm>
            <a:off x="457200" y="1051560"/>
            <a:ext cx="8229600" cy="1158240"/>
          </a:xfrm>
          <a:prstGeom prst="roundRect">
            <a:avLst>
              <a:gd name="adj" fmla="val 9474"/>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42494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42494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5a</a:t>
            </a:r>
            <a:endParaRPr lang="en-US" sz="1500" dirty="0"/>
          </a:p>
        </p:txBody>
      </p:sp>
      <p:sp>
        <p:nvSpPr>
          <p:cNvPr id="7" name="Text 4"/>
          <p:cNvSpPr txBox="1"/>
          <p:nvPr/>
        </p:nvSpPr>
        <p:spPr>
          <a:xfrm>
            <a:off x="1188720" y="1051560"/>
            <a:ext cx="7315200" cy="1158240"/>
          </a:xfrm>
          <a:prstGeom prst="rect">
            <a:avLst/>
          </a:prstGeom>
          <a:noFill/>
          <a:ln/>
        </p:spPr>
        <p:txBody>
          <a:bodyPr wrap="square" lIns="0" tIns="0" rIns="0" bIns="0" rtlCol="0" anchor="ctr"/>
          <a:lstStyle/>
          <a:p>
            <a:pPr indent="0" marL="0">
              <a:buNone/>
            </a:pPr>
            <a:r>
              <a:rPr lang="en-US" sz="1400" dirty="0">
                <a:solidFill>
                  <a:schemeClr val="tx1"/>
                </a:solidFill>
              </a:rPr>
              <a:t>A good biography: clear and in time order, with paragraphs, dates and facts that are easy to follow.</a:t>
            </a:r>
            <a:endParaRPr lang="en-US" sz="1400" dirty="0"/>
          </a:p>
        </p:txBody>
      </p:sp>
      <p:sp>
        <p:nvSpPr>
          <p:cNvPr id="8" name="Answer 5b"/>
          <p:cNvSpPr/>
          <p:nvPr/>
        </p:nvSpPr>
        <p:spPr>
          <a:xfrm>
            <a:off x="457200" y="2301240"/>
            <a:ext cx="8229600" cy="1158240"/>
          </a:xfrm>
          <a:prstGeom prst="roundRect">
            <a:avLst>
              <a:gd name="adj" fmla="val 9474"/>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267462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67462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5b</a:t>
            </a:r>
            <a:endParaRPr lang="en-US" sz="1500" dirty="0"/>
          </a:p>
        </p:txBody>
      </p:sp>
      <p:sp>
        <p:nvSpPr>
          <p:cNvPr id="11" name="Text 8"/>
          <p:cNvSpPr txBox="1"/>
          <p:nvPr/>
        </p:nvSpPr>
        <p:spPr>
          <a:xfrm>
            <a:off x="1188720" y="2301240"/>
            <a:ext cx="7315200" cy="1158240"/>
          </a:xfrm>
          <a:prstGeom prst="rect">
            <a:avLst/>
          </a:prstGeom>
          <a:noFill/>
          <a:ln/>
        </p:spPr>
        <p:txBody>
          <a:bodyPr wrap="square" lIns="0" tIns="0" rIns="0" bIns="0" rtlCol="0" anchor="ctr"/>
          <a:lstStyle/>
          <a:p>
            <a:pPr indent="0" marL="0">
              <a:buNone/>
            </a:pPr>
            <a:r>
              <a:rPr lang="en-US" sz="1400" dirty="0">
                <a:solidFill>
                  <a:schemeClr val="tx1"/>
                </a:solidFill>
              </a:rPr>
              <a:t>Formal: ‘she was honoured by the Indian Prime Minister’. Informal version: ‘the Prime Minister gave her a great award!’</a:t>
            </a:r>
            <a:endParaRPr lang="en-US" sz="1400" dirty="0"/>
          </a:p>
        </p:txBody>
      </p:sp>
      <p:sp>
        <p:nvSpPr>
          <p:cNvPr id="12" name="Answer 5c"/>
          <p:cNvSpPr/>
          <p:nvPr/>
        </p:nvSpPr>
        <p:spPr>
          <a:xfrm>
            <a:off x="457200" y="3550920"/>
            <a:ext cx="8229600" cy="1158240"/>
          </a:xfrm>
          <a:prstGeom prst="roundRect">
            <a:avLst>
              <a:gd name="adj" fmla="val 9474"/>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392430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92430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5c</a:t>
            </a:r>
            <a:endParaRPr lang="en-US" sz="1500" dirty="0"/>
          </a:p>
        </p:txBody>
      </p:sp>
      <p:sp>
        <p:nvSpPr>
          <p:cNvPr id="15" name="Text 12"/>
          <p:cNvSpPr txBox="1"/>
          <p:nvPr/>
        </p:nvSpPr>
        <p:spPr>
          <a:xfrm>
            <a:off x="1188720" y="3550920"/>
            <a:ext cx="7315200" cy="1158240"/>
          </a:xfrm>
          <a:prstGeom prst="rect">
            <a:avLst/>
          </a:prstGeom>
          <a:noFill/>
          <a:ln/>
        </p:spPr>
        <p:txBody>
          <a:bodyPr wrap="square" lIns="0" tIns="0" rIns="0" bIns="0" rtlCol="0" anchor="ctr"/>
          <a:lstStyle/>
          <a:p>
            <a:pPr indent="0" marL="0">
              <a:buNone/>
            </a:pPr>
            <a:r>
              <a:rPr lang="en-US" sz="1400" dirty="0">
                <a:solidFill>
                  <a:schemeClr val="tx1"/>
                </a:solidFill>
              </a:rPr>
              <a:t>The writer admires her and wants us to feel inspired: ‘the youngest girl’, ‘incredible’, ‘a breathtaking adventure’.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Q6: model answer with quotes</a:t>
            </a:r>
            <a:endParaRPr lang="en-US" sz="3000" dirty="0"/>
          </a:p>
        </p:txBody>
      </p:sp>
      <p:sp>
        <p:nvSpPr>
          <p:cNvPr id="4" name="Answer 1"/>
          <p:cNvSpPr/>
          <p:nvPr/>
        </p:nvSpPr>
        <p:spPr>
          <a:xfrm>
            <a:off x="457200" y="105156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268730"/>
            <a:ext cx="411480" cy="411480"/>
          </a:xfrm>
          <a:prstGeom prst="ellipse">
            <a:avLst/>
          </a:prstGeom>
          <a:solidFill>
            <a:schemeClr val="accent1"/>
          </a:solidFill>
          <a:ln w="6350">
            <a:solidFill>
              <a:schemeClr val="accent1"/>
            </a:solidFill>
            <a:prstDash val="solid"/>
          </a:ln>
        </p:spPr>
      </p:sp>
      <p:sp>
        <p:nvSpPr>
          <p:cNvPr id="6" name="Text 3"/>
          <p:cNvSpPr txBox="1"/>
          <p:nvPr/>
        </p:nvSpPr>
        <p:spPr>
          <a:xfrm>
            <a:off x="594360" y="126873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88720" y="1051560"/>
            <a:ext cx="7315200" cy="845820"/>
          </a:xfrm>
          <a:prstGeom prst="rect">
            <a:avLst/>
          </a:prstGeom>
          <a:noFill/>
          <a:ln/>
        </p:spPr>
        <p:txBody>
          <a:bodyPr wrap="square" lIns="0" tIns="0" rIns="0" bIns="0" rtlCol="0" anchor="ctr"/>
          <a:lstStyle/>
          <a:p>
            <a:pPr indent="0" marL="0">
              <a:buNone/>
            </a:pPr>
            <a:r>
              <a:rPr lang="en-US" sz="1300" b="1" dirty="0">
                <a:solidFill>
                  <a:schemeClr val="tx1"/>
                </a:solidFill>
                <a:highlight>
                  <a:srgbClr val="FFD166"/>
                </a:highlight>
              </a:rPr>
              <a:t>“Her family were very poor and had no experience of mountain climbing.”</a:t>
            </a:r>
            <a:endParaRPr lang="en-US" sz="1300" dirty="0"/>
          </a:p>
        </p:txBody>
      </p:sp>
      <p:sp>
        <p:nvSpPr>
          <p:cNvPr id="8" name="Answer 2"/>
          <p:cNvSpPr/>
          <p:nvPr/>
        </p:nvSpPr>
        <p:spPr>
          <a:xfrm>
            <a:off x="457200" y="198882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2205990"/>
            <a:ext cx="411480" cy="411480"/>
          </a:xfrm>
          <a:prstGeom prst="ellipse">
            <a:avLst/>
          </a:prstGeom>
          <a:solidFill>
            <a:schemeClr val="accent2"/>
          </a:solidFill>
          <a:ln w="6350">
            <a:solidFill>
              <a:schemeClr val="accent2"/>
            </a:solidFill>
            <a:prstDash val="solid"/>
          </a:ln>
        </p:spPr>
      </p:sp>
      <p:sp>
        <p:nvSpPr>
          <p:cNvPr id="10" name="Text 7"/>
          <p:cNvSpPr txBox="1"/>
          <p:nvPr/>
        </p:nvSpPr>
        <p:spPr>
          <a:xfrm>
            <a:off x="594360" y="220599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88720" y="1988820"/>
            <a:ext cx="7315200" cy="845820"/>
          </a:xfrm>
          <a:prstGeom prst="rect">
            <a:avLst/>
          </a:prstGeom>
          <a:noFill/>
          <a:ln/>
        </p:spPr>
        <p:txBody>
          <a:bodyPr wrap="square" lIns="0" tIns="0" rIns="0" bIns="0" rtlCol="0" anchor="ctr"/>
          <a:lstStyle/>
          <a:p>
            <a:pPr indent="0" marL="0">
              <a:buNone/>
            </a:pPr>
            <a:r>
              <a:rPr lang="en-US" sz="1300" b="1" dirty="0">
                <a:solidFill>
                  <a:schemeClr val="tx1"/>
                </a:solidFill>
                <a:highlight>
                  <a:srgbClr val="FFD166"/>
                </a:highlight>
              </a:rPr>
              <a:t>“Malavath left home and attended a residential school.” </a:t>
            </a:r>
            <a:pPr indent="0" marL="0">
              <a:buNone/>
            </a:pPr>
            <a:r>
              <a:rPr lang="en-US" sz="1300" dirty="0">
                <a:solidFill>
                  <a:schemeClr val="tx1"/>
                </a:solidFill>
              </a:rPr>
              <a:t>(at an early age)</a:t>
            </a:r>
            <a:endParaRPr lang="en-US" sz="1300" dirty="0"/>
          </a:p>
        </p:txBody>
      </p:sp>
      <p:sp>
        <p:nvSpPr>
          <p:cNvPr id="12" name="Answer 3"/>
          <p:cNvSpPr/>
          <p:nvPr/>
        </p:nvSpPr>
        <p:spPr>
          <a:xfrm>
            <a:off x="457200" y="292608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3143250"/>
            <a:ext cx="411480" cy="411480"/>
          </a:xfrm>
          <a:prstGeom prst="ellipse">
            <a:avLst/>
          </a:prstGeom>
          <a:solidFill>
            <a:schemeClr val="accent3"/>
          </a:solidFill>
          <a:ln w="6350">
            <a:solidFill>
              <a:schemeClr val="accent3"/>
            </a:solidFill>
            <a:prstDash val="solid"/>
          </a:ln>
        </p:spPr>
      </p:sp>
      <p:sp>
        <p:nvSpPr>
          <p:cNvPr id="14" name="Text 11"/>
          <p:cNvSpPr txBox="1"/>
          <p:nvPr/>
        </p:nvSpPr>
        <p:spPr>
          <a:xfrm>
            <a:off x="594360" y="3143250"/>
            <a:ext cx="411480" cy="41148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88720" y="2926080"/>
            <a:ext cx="7315200" cy="845820"/>
          </a:xfrm>
          <a:prstGeom prst="rect">
            <a:avLst/>
          </a:prstGeom>
          <a:noFill/>
          <a:ln/>
        </p:spPr>
        <p:txBody>
          <a:bodyPr wrap="square" lIns="0" tIns="0" rIns="0" bIns="0" rtlCol="0" anchor="ctr"/>
          <a:lstStyle/>
          <a:p>
            <a:pPr indent="0" marL="0">
              <a:buNone/>
            </a:pPr>
            <a:r>
              <a:rPr lang="en-US" sz="1300" b="1" dirty="0">
                <a:solidFill>
                  <a:schemeClr val="tx1"/>
                </a:solidFill>
                <a:highlight>
                  <a:srgbClr val="FFD166"/>
                </a:highlight>
              </a:rPr>
              <a:t>“She had to compete with 21 other climbers…”</a:t>
            </a:r>
            <a:pPr indent="0" marL="0">
              <a:buNone/>
            </a:pPr>
            <a:r>
              <a:rPr lang="en-US" sz="1300" dirty="0">
                <a:solidFill>
                  <a:schemeClr val="tx1"/>
                </a:solidFill>
              </a:rPr>
              <a:t> and she “saw snow for the first time in her life”.</a:t>
            </a:r>
            <a:endParaRPr lang="en-US" sz="1300" dirty="0"/>
          </a:p>
        </p:txBody>
      </p:sp>
      <p:sp>
        <p:nvSpPr>
          <p:cNvPr id="16" name="Answer 4"/>
          <p:cNvSpPr/>
          <p:nvPr/>
        </p:nvSpPr>
        <p:spPr>
          <a:xfrm>
            <a:off x="457200" y="3863340"/>
            <a:ext cx="8229600" cy="845820"/>
          </a:xfrm>
          <a:prstGeom prst="roundRect">
            <a:avLst>
              <a:gd name="adj" fmla="val 12973"/>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94360" y="4080510"/>
            <a:ext cx="411480" cy="411480"/>
          </a:xfrm>
          <a:prstGeom prst="ellipse">
            <a:avLst/>
          </a:prstGeom>
          <a:solidFill>
            <a:schemeClr val="accent4"/>
          </a:solidFill>
          <a:ln w="6350">
            <a:solidFill>
              <a:schemeClr val="accent4"/>
            </a:solidFill>
            <a:prstDash val="solid"/>
          </a:ln>
        </p:spPr>
      </p:sp>
      <p:sp>
        <p:nvSpPr>
          <p:cNvPr id="18" name="Text 15"/>
          <p:cNvSpPr txBox="1"/>
          <p:nvPr/>
        </p:nvSpPr>
        <p:spPr>
          <a:xfrm>
            <a:off x="594360" y="408051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1188720" y="3863340"/>
            <a:ext cx="7315200" cy="845820"/>
          </a:xfrm>
          <a:prstGeom prst="rect">
            <a:avLst/>
          </a:prstGeom>
          <a:noFill/>
          <a:ln/>
        </p:spPr>
        <p:txBody>
          <a:bodyPr wrap="square" lIns="0" tIns="0" rIns="0" bIns="0" rtlCol="0" anchor="ctr"/>
          <a:lstStyle/>
          <a:p>
            <a:pPr indent="0" marL="0">
              <a:buNone/>
            </a:pPr>
            <a:r>
              <a:rPr lang="en-US" sz="1300" dirty="0">
                <a:solidFill>
                  <a:schemeClr val="tx1"/>
                </a:solidFill>
              </a:rPr>
              <a:t>In her place I would feel nervous, but I would keep practising and ask my coach for help.</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Go further: the topic of each paragraph</a:t>
            </a:r>
            <a:endParaRPr lang="en-US" sz="3000" dirty="0"/>
          </a:p>
        </p:txBody>
      </p:sp>
      <p:sp>
        <p:nvSpPr>
          <p:cNvPr id="4" name="Paragraph 1"/>
          <p:cNvSpPr/>
          <p:nvPr/>
        </p:nvSpPr>
        <p:spPr>
          <a:xfrm>
            <a:off x="457200" y="1051560"/>
            <a:ext cx="8229600" cy="585216"/>
          </a:xfrm>
          <a:prstGeom prst="roundRect">
            <a:avLst>
              <a:gd name="adj" fmla="val 1875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48640" y="11612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48640" y="1161288"/>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51560"/>
            <a:ext cx="7406640" cy="585216"/>
          </a:xfrm>
          <a:prstGeom prst="rect">
            <a:avLst/>
          </a:prstGeom>
          <a:noFill/>
          <a:ln/>
        </p:spPr>
        <p:txBody>
          <a:bodyPr wrap="square" lIns="0" tIns="0" rIns="0" bIns="0" rtlCol="0" anchor="ctr"/>
          <a:lstStyle/>
          <a:p>
            <a:pPr indent="0" marL="0">
              <a:buNone/>
            </a:pPr>
            <a:r>
              <a:rPr lang="en-US" sz="1400" dirty="0">
                <a:solidFill>
                  <a:schemeClr val="tx1"/>
                </a:solidFill>
              </a:rPr>
              <a:t>It introduces Poorna Malavath and states when she was born.</a:t>
            </a:r>
            <a:endParaRPr lang="en-US" sz="1400" dirty="0"/>
          </a:p>
        </p:txBody>
      </p:sp>
      <p:sp>
        <p:nvSpPr>
          <p:cNvPr id="8" name="Paragraph 2"/>
          <p:cNvSpPr/>
          <p:nvPr/>
        </p:nvSpPr>
        <p:spPr>
          <a:xfrm>
            <a:off x="457200" y="1728216"/>
            <a:ext cx="8229600" cy="585216"/>
          </a:xfrm>
          <a:prstGeom prst="roundRect">
            <a:avLst>
              <a:gd name="adj" fmla="val 1875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48640" y="1837944"/>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48640" y="1837944"/>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097280" y="1728216"/>
            <a:ext cx="7406640" cy="585216"/>
          </a:xfrm>
          <a:prstGeom prst="rect">
            <a:avLst/>
          </a:prstGeom>
          <a:noFill/>
          <a:ln/>
        </p:spPr>
        <p:txBody>
          <a:bodyPr wrap="square" lIns="0" tIns="0" rIns="0" bIns="0" rtlCol="0" anchor="ctr"/>
          <a:lstStyle/>
          <a:p>
            <a:pPr indent="0" marL="0">
              <a:buNone/>
            </a:pPr>
            <a:r>
              <a:rPr lang="en-US" sz="1400" dirty="0">
                <a:solidFill>
                  <a:schemeClr val="tx1"/>
                </a:solidFill>
              </a:rPr>
              <a:t>Her early life: she left home for a residential school, where Dr Kumar spotted her talent.</a:t>
            </a:r>
            <a:endParaRPr lang="en-US" sz="1400" dirty="0"/>
          </a:p>
        </p:txBody>
      </p:sp>
      <p:sp>
        <p:nvSpPr>
          <p:cNvPr id="12" name="Paragraph 3"/>
          <p:cNvSpPr/>
          <p:nvPr/>
        </p:nvSpPr>
        <p:spPr>
          <a:xfrm>
            <a:off x="457200" y="2404872"/>
            <a:ext cx="8229600" cy="585216"/>
          </a:xfrm>
          <a:prstGeom prst="roundRect">
            <a:avLst>
              <a:gd name="adj" fmla="val 1875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48640" y="2514600"/>
            <a:ext cx="365760" cy="365760"/>
          </a:xfrm>
          <a:prstGeom prst="ellipse">
            <a:avLst/>
          </a:prstGeom>
          <a:solidFill>
            <a:schemeClr val="accent3"/>
          </a:solidFill>
          <a:ln w="6350">
            <a:solidFill>
              <a:schemeClr val="accent3"/>
            </a:solidFill>
            <a:prstDash val="solid"/>
          </a:ln>
        </p:spPr>
      </p:sp>
      <p:sp>
        <p:nvSpPr>
          <p:cNvPr id="14" name="Text 11"/>
          <p:cNvSpPr txBox="1"/>
          <p:nvPr/>
        </p:nvSpPr>
        <p:spPr>
          <a:xfrm>
            <a:off x="548640" y="251460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097280" y="2404872"/>
            <a:ext cx="7406640" cy="585216"/>
          </a:xfrm>
          <a:prstGeom prst="rect">
            <a:avLst/>
          </a:prstGeom>
          <a:noFill/>
          <a:ln/>
        </p:spPr>
        <p:txBody>
          <a:bodyPr wrap="square" lIns="0" tIns="0" rIns="0" bIns="0" rtlCol="0" anchor="ctr"/>
          <a:lstStyle/>
          <a:p>
            <a:pPr indent="0" marL="0">
              <a:buNone/>
            </a:pPr>
            <a:r>
              <a:rPr lang="en-US" sz="1400" dirty="0">
                <a:solidFill>
                  <a:schemeClr val="tx1"/>
                </a:solidFill>
              </a:rPr>
              <a:t>Her training in Darjeeling in 2013 and her selection for the 2014 expedition.</a:t>
            </a:r>
            <a:endParaRPr lang="en-US" sz="1400" dirty="0"/>
          </a:p>
        </p:txBody>
      </p:sp>
      <p:sp>
        <p:nvSpPr>
          <p:cNvPr id="16" name="Paragraph 4"/>
          <p:cNvSpPr/>
          <p:nvPr/>
        </p:nvSpPr>
        <p:spPr>
          <a:xfrm>
            <a:off x="457200" y="3081528"/>
            <a:ext cx="8229600" cy="585216"/>
          </a:xfrm>
          <a:prstGeom prst="roundRect">
            <a:avLst>
              <a:gd name="adj" fmla="val 1875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Badge"/>
          <p:cNvSpPr/>
          <p:nvPr/>
        </p:nvSpPr>
        <p:spPr>
          <a:xfrm>
            <a:off x="548640" y="3191256"/>
            <a:ext cx="365760" cy="365760"/>
          </a:xfrm>
          <a:prstGeom prst="ellipse">
            <a:avLst/>
          </a:prstGeom>
          <a:solidFill>
            <a:schemeClr val="accent4"/>
          </a:solidFill>
          <a:ln w="6350">
            <a:solidFill>
              <a:schemeClr val="accent4"/>
            </a:solidFill>
            <a:prstDash val="solid"/>
          </a:ln>
        </p:spPr>
      </p:sp>
      <p:sp>
        <p:nvSpPr>
          <p:cNvPr id="18" name="Text 15"/>
          <p:cNvSpPr txBox="1"/>
          <p:nvPr/>
        </p:nvSpPr>
        <p:spPr>
          <a:xfrm>
            <a:off x="548640" y="31912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1097280" y="3081528"/>
            <a:ext cx="7406640" cy="585216"/>
          </a:xfrm>
          <a:prstGeom prst="rect">
            <a:avLst/>
          </a:prstGeom>
          <a:noFill/>
          <a:ln/>
        </p:spPr>
        <p:txBody>
          <a:bodyPr wrap="square" lIns="0" tIns="0" rIns="0" bIns="0" rtlCol="0" anchor="ctr"/>
          <a:lstStyle/>
          <a:p>
            <a:pPr indent="0" marL="0">
              <a:buNone/>
            </a:pPr>
            <a:r>
              <a:rPr lang="en-US" sz="1400" dirty="0">
                <a:solidFill>
                  <a:schemeClr val="tx1"/>
                </a:solidFill>
              </a:rPr>
              <a:t>The 52-day expedition and her reaching the summit on 25 May 2014.</a:t>
            </a:r>
            <a:endParaRPr lang="en-US" sz="1400" dirty="0"/>
          </a:p>
        </p:txBody>
      </p:sp>
      <p:sp>
        <p:nvSpPr>
          <p:cNvPr id="20" name="Paragraph 5"/>
          <p:cNvSpPr/>
          <p:nvPr/>
        </p:nvSpPr>
        <p:spPr>
          <a:xfrm>
            <a:off x="457200" y="3758184"/>
            <a:ext cx="8229600" cy="585216"/>
          </a:xfrm>
          <a:prstGeom prst="roundRect">
            <a:avLst>
              <a:gd name="adj" fmla="val 1875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Badge"/>
          <p:cNvSpPr/>
          <p:nvPr/>
        </p:nvSpPr>
        <p:spPr>
          <a:xfrm>
            <a:off x="548640" y="3867912"/>
            <a:ext cx="365760" cy="365760"/>
          </a:xfrm>
          <a:prstGeom prst="ellipse">
            <a:avLst/>
          </a:prstGeom>
          <a:solidFill>
            <a:schemeClr val="accent5"/>
          </a:solidFill>
          <a:ln w="6350">
            <a:solidFill>
              <a:schemeClr val="accent5"/>
            </a:solidFill>
            <a:prstDash val="solid"/>
          </a:ln>
        </p:spPr>
      </p:sp>
      <p:sp>
        <p:nvSpPr>
          <p:cNvPr id="22" name="Text 19"/>
          <p:cNvSpPr txBox="1"/>
          <p:nvPr/>
        </p:nvSpPr>
        <p:spPr>
          <a:xfrm>
            <a:off x="548640" y="3867912"/>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1097280" y="3758184"/>
            <a:ext cx="7406640" cy="585216"/>
          </a:xfrm>
          <a:prstGeom prst="rect">
            <a:avLst/>
          </a:prstGeom>
          <a:noFill/>
          <a:ln/>
        </p:spPr>
        <p:txBody>
          <a:bodyPr wrap="square" lIns="0" tIns="0" rIns="0" bIns="0" rtlCol="0" anchor="ctr"/>
          <a:lstStyle/>
          <a:p>
            <a:pPr indent="0" marL="0">
              <a:buNone/>
            </a:pPr>
            <a:r>
              <a:rPr lang="en-US" sz="1400" dirty="0">
                <a:solidFill>
                  <a:schemeClr val="tx1"/>
                </a:solidFill>
              </a:rPr>
              <a:t>What happened after Everest: she was honoured and a film was made.</a:t>
            </a:r>
            <a:endParaRPr lang="en-US" sz="1400" dirty="0"/>
          </a:p>
        </p:txBody>
      </p:sp>
      <p:sp>
        <p:nvSpPr>
          <p:cNvPr id="24" name="Text 21"/>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300" i="1" dirty="0">
                <a:solidFill>
                  <a:schemeClr val="tx2"/>
                </a:solidFill>
              </a:rPr>
              <a:t>Paragraph 1 is the example from the book; 2–5 are model answers.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Go further: Poorna’s timeline</a:t>
            </a:r>
            <a:endParaRPr lang="en-US" sz="3000" dirty="0"/>
          </a:p>
        </p:txBody>
      </p:sp>
      <p:sp>
        <p:nvSpPr>
          <p:cNvPr id="4" name="Timeline line"/>
          <p:cNvSpPr/>
          <p:nvPr/>
        </p:nvSpPr>
        <p:spPr>
          <a:xfrm>
            <a:off x="640080" y="2606040"/>
            <a:ext cx="7863840" cy="0"/>
          </a:xfrm>
          <a:prstGeom prst="line">
            <a:avLst/>
          </a:prstGeom>
          <a:noFill/>
          <a:ln w="38100">
            <a:solidFill>
              <a:schemeClr val="accent4"/>
            </a:solidFill>
            <a:prstDash val="solid"/>
          </a:ln>
        </p:spPr>
      </p:sp>
      <p:sp>
        <p:nvSpPr>
          <p:cNvPr id="5" name="Stem"/>
          <p:cNvSpPr/>
          <p:nvPr/>
        </p:nvSpPr>
        <p:spPr>
          <a:xfrm>
            <a:off x="1325880" y="2148840"/>
            <a:ext cx="0" cy="457200"/>
          </a:xfrm>
          <a:prstGeom prst="line">
            <a:avLst/>
          </a:prstGeom>
          <a:noFill/>
          <a:ln w="19050">
            <a:solidFill>
              <a:schemeClr val="accent4"/>
            </a:solidFill>
            <a:prstDash val="solid"/>
          </a:ln>
        </p:spPr>
      </p:sp>
      <p:sp>
        <p:nvSpPr>
          <p:cNvPr id="6" name="Timeline node"/>
          <p:cNvSpPr/>
          <p:nvPr/>
        </p:nvSpPr>
        <p:spPr>
          <a:xfrm>
            <a:off x="1170432" y="2450592"/>
            <a:ext cx="310896" cy="310896"/>
          </a:xfrm>
          <a:prstGeom prst="ellipse">
            <a:avLst/>
          </a:prstGeom>
          <a:solidFill>
            <a:schemeClr val="accent1"/>
          </a:solidFill>
          <a:ln w="19050">
            <a:solidFill>
              <a:schemeClr val="tx1"/>
            </a:solidFill>
            <a:prstDash val="solid"/>
          </a:ln>
        </p:spPr>
      </p:sp>
      <p:sp>
        <p:nvSpPr>
          <p:cNvPr id="7" name="Event 2000"/>
          <p:cNvSpPr/>
          <p:nvPr/>
        </p:nvSpPr>
        <p:spPr>
          <a:xfrm>
            <a:off x="457200" y="105156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8" name="Text 5"/>
          <p:cNvSpPr txBox="1"/>
          <p:nvPr/>
        </p:nvSpPr>
        <p:spPr>
          <a:xfrm>
            <a:off x="548640" y="109728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2000</a:t>
            </a:r>
            <a:endParaRPr lang="en-US" sz="1600" dirty="0"/>
          </a:p>
        </p:txBody>
      </p:sp>
      <p:sp>
        <p:nvSpPr>
          <p:cNvPr id="9" name="Text 6"/>
          <p:cNvSpPr txBox="1"/>
          <p:nvPr/>
        </p:nvSpPr>
        <p:spPr>
          <a:xfrm>
            <a:off x="548640" y="141732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Born (10 June)</a:t>
            </a:r>
            <a:endParaRPr lang="en-US" sz="1300" dirty="0"/>
          </a:p>
        </p:txBody>
      </p:sp>
      <p:sp>
        <p:nvSpPr>
          <p:cNvPr id="10" name="Stem"/>
          <p:cNvSpPr/>
          <p:nvPr/>
        </p:nvSpPr>
        <p:spPr>
          <a:xfrm>
            <a:off x="2253343" y="2606040"/>
            <a:ext cx="0" cy="411480"/>
          </a:xfrm>
          <a:prstGeom prst="line">
            <a:avLst/>
          </a:prstGeom>
          <a:noFill/>
          <a:ln w="19050">
            <a:solidFill>
              <a:schemeClr val="accent4"/>
            </a:solidFill>
            <a:prstDash val="solid"/>
          </a:ln>
        </p:spPr>
      </p:sp>
      <p:sp>
        <p:nvSpPr>
          <p:cNvPr id="11" name="Timeline node"/>
          <p:cNvSpPr/>
          <p:nvPr/>
        </p:nvSpPr>
        <p:spPr>
          <a:xfrm>
            <a:off x="2097895" y="2450592"/>
            <a:ext cx="310896" cy="310896"/>
          </a:xfrm>
          <a:prstGeom prst="ellipse">
            <a:avLst/>
          </a:prstGeom>
          <a:solidFill>
            <a:schemeClr val="accent2"/>
          </a:solidFill>
          <a:ln w="19050">
            <a:solidFill>
              <a:schemeClr val="tx1"/>
            </a:solidFill>
            <a:prstDash val="solid"/>
          </a:ln>
        </p:spPr>
      </p:sp>
      <p:sp>
        <p:nvSpPr>
          <p:cNvPr id="12" name="Event ~2005"/>
          <p:cNvSpPr/>
          <p:nvPr/>
        </p:nvSpPr>
        <p:spPr>
          <a:xfrm>
            <a:off x="1384663" y="301752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Text 10"/>
          <p:cNvSpPr txBox="1"/>
          <p:nvPr/>
        </p:nvSpPr>
        <p:spPr>
          <a:xfrm>
            <a:off x="1476103" y="306324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~2005</a:t>
            </a:r>
            <a:endParaRPr lang="en-US" sz="1600" dirty="0"/>
          </a:p>
        </p:txBody>
      </p:sp>
      <p:sp>
        <p:nvSpPr>
          <p:cNvPr id="14" name="Text 11"/>
          <p:cNvSpPr txBox="1"/>
          <p:nvPr/>
        </p:nvSpPr>
        <p:spPr>
          <a:xfrm>
            <a:off x="1476103" y="338328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Left home for residential school</a:t>
            </a:r>
            <a:endParaRPr lang="en-US" sz="1300" dirty="0"/>
          </a:p>
        </p:txBody>
      </p:sp>
      <p:sp>
        <p:nvSpPr>
          <p:cNvPr id="15" name="Stem"/>
          <p:cNvSpPr/>
          <p:nvPr/>
        </p:nvSpPr>
        <p:spPr>
          <a:xfrm>
            <a:off x="3180806" y="2148840"/>
            <a:ext cx="0" cy="457200"/>
          </a:xfrm>
          <a:prstGeom prst="line">
            <a:avLst/>
          </a:prstGeom>
          <a:noFill/>
          <a:ln w="19050">
            <a:solidFill>
              <a:schemeClr val="accent4"/>
            </a:solidFill>
            <a:prstDash val="solid"/>
          </a:ln>
        </p:spPr>
      </p:sp>
      <p:sp>
        <p:nvSpPr>
          <p:cNvPr id="16" name="Timeline node"/>
          <p:cNvSpPr/>
          <p:nvPr/>
        </p:nvSpPr>
        <p:spPr>
          <a:xfrm>
            <a:off x="3025358" y="2450592"/>
            <a:ext cx="310896" cy="310896"/>
          </a:xfrm>
          <a:prstGeom prst="ellipse">
            <a:avLst/>
          </a:prstGeom>
          <a:solidFill>
            <a:schemeClr val="accent3"/>
          </a:solidFill>
          <a:ln w="19050">
            <a:solidFill>
              <a:schemeClr val="tx1"/>
            </a:solidFill>
            <a:prstDash val="solid"/>
          </a:ln>
        </p:spPr>
      </p:sp>
      <p:sp>
        <p:nvSpPr>
          <p:cNvPr id="17" name="Event ~2011"/>
          <p:cNvSpPr/>
          <p:nvPr/>
        </p:nvSpPr>
        <p:spPr>
          <a:xfrm>
            <a:off x="2312126" y="105156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Text 15"/>
          <p:cNvSpPr txBox="1"/>
          <p:nvPr/>
        </p:nvSpPr>
        <p:spPr>
          <a:xfrm>
            <a:off x="2403566" y="109728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~2011</a:t>
            </a:r>
            <a:endParaRPr lang="en-US" sz="1600" dirty="0"/>
          </a:p>
        </p:txBody>
      </p:sp>
      <p:sp>
        <p:nvSpPr>
          <p:cNvPr id="19" name="Text 16"/>
          <p:cNvSpPr txBox="1"/>
          <p:nvPr/>
        </p:nvSpPr>
        <p:spPr>
          <a:xfrm>
            <a:off x="2403566" y="141732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Met Dr Kumar; joined Operation Everest</a:t>
            </a:r>
            <a:endParaRPr lang="en-US" sz="1300" dirty="0"/>
          </a:p>
        </p:txBody>
      </p:sp>
      <p:sp>
        <p:nvSpPr>
          <p:cNvPr id="20" name="Stem"/>
          <p:cNvSpPr/>
          <p:nvPr/>
        </p:nvSpPr>
        <p:spPr>
          <a:xfrm>
            <a:off x="4108269" y="2606040"/>
            <a:ext cx="0" cy="411480"/>
          </a:xfrm>
          <a:prstGeom prst="line">
            <a:avLst/>
          </a:prstGeom>
          <a:noFill/>
          <a:ln w="19050">
            <a:solidFill>
              <a:schemeClr val="accent4"/>
            </a:solidFill>
            <a:prstDash val="solid"/>
          </a:ln>
        </p:spPr>
      </p:sp>
      <p:sp>
        <p:nvSpPr>
          <p:cNvPr id="21" name="Timeline node"/>
          <p:cNvSpPr/>
          <p:nvPr/>
        </p:nvSpPr>
        <p:spPr>
          <a:xfrm>
            <a:off x="3952821" y="2450592"/>
            <a:ext cx="310896" cy="310896"/>
          </a:xfrm>
          <a:prstGeom prst="ellipse">
            <a:avLst/>
          </a:prstGeom>
          <a:solidFill>
            <a:schemeClr val="accent4"/>
          </a:solidFill>
          <a:ln w="19050">
            <a:solidFill>
              <a:schemeClr val="tx1"/>
            </a:solidFill>
            <a:prstDash val="solid"/>
          </a:ln>
        </p:spPr>
      </p:sp>
      <p:sp>
        <p:nvSpPr>
          <p:cNvPr id="22" name="Event 2013"/>
          <p:cNvSpPr/>
          <p:nvPr/>
        </p:nvSpPr>
        <p:spPr>
          <a:xfrm>
            <a:off x="3239589" y="301752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3" name="Text 20"/>
          <p:cNvSpPr txBox="1"/>
          <p:nvPr/>
        </p:nvSpPr>
        <p:spPr>
          <a:xfrm>
            <a:off x="3331029" y="306324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2013</a:t>
            </a:r>
            <a:endParaRPr lang="en-US" sz="1600" dirty="0"/>
          </a:p>
        </p:txBody>
      </p:sp>
      <p:sp>
        <p:nvSpPr>
          <p:cNvPr id="24" name="Text 21"/>
          <p:cNvSpPr txBox="1"/>
          <p:nvPr/>
        </p:nvSpPr>
        <p:spPr>
          <a:xfrm>
            <a:off x="3331029" y="338328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Trained in Darjeeling (8 months)</a:t>
            </a:r>
            <a:endParaRPr lang="en-US" sz="1300" dirty="0"/>
          </a:p>
        </p:txBody>
      </p:sp>
      <p:sp>
        <p:nvSpPr>
          <p:cNvPr id="25" name="Stem"/>
          <p:cNvSpPr/>
          <p:nvPr/>
        </p:nvSpPr>
        <p:spPr>
          <a:xfrm>
            <a:off x="5035731" y="2148840"/>
            <a:ext cx="0" cy="457200"/>
          </a:xfrm>
          <a:prstGeom prst="line">
            <a:avLst/>
          </a:prstGeom>
          <a:noFill/>
          <a:ln w="19050">
            <a:solidFill>
              <a:schemeClr val="accent4"/>
            </a:solidFill>
            <a:prstDash val="solid"/>
          </a:ln>
        </p:spPr>
      </p:sp>
      <p:sp>
        <p:nvSpPr>
          <p:cNvPr id="26" name="Timeline node"/>
          <p:cNvSpPr/>
          <p:nvPr/>
        </p:nvSpPr>
        <p:spPr>
          <a:xfrm>
            <a:off x="4880283" y="2450592"/>
            <a:ext cx="310896" cy="310896"/>
          </a:xfrm>
          <a:prstGeom prst="ellipse">
            <a:avLst/>
          </a:prstGeom>
          <a:solidFill>
            <a:schemeClr val="accent5"/>
          </a:solidFill>
          <a:ln w="19050">
            <a:solidFill>
              <a:schemeClr val="tx1"/>
            </a:solidFill>
            <a:prstDash val="solid"/>
          </a:ln>
        </p:spPr>
      </p:sp>
      <p:sp>
        <p:nvSpPr>
          <p:cNvPr id="27" name="Event 2014"/>
          <p:cNvSpPr/>
          <p:nvPr/>
        </p:nvSpPr>
        <p:spPr>
          <a:xfrm>
            <a:off x="4167051" y="105156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8" name="Text 25"/>
          <p:cNvSpPr txBox="1"/>
          <p:nvPr/>
        </p:nvSpPr>
        <p:spPr>
          <a:xfrm>
            <a:off x="4258491" y="109728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2014</a:t>
            </a:r>
            <a:endParaRPr lang="en-US" sz="1600" dirty="0"/>
          </a:p>
        </p:txBody>
      </p:sp>
      <p:sp>
        <p:nvSpPr>
          <p:cNvPr id="29" name="Text 26"/>
          <p:cNvSpPr txBox="1"/>
          <p:nvPr/>
        </p:nvSpPr>
        <p:spPr>
          <a:xfrm>
            <a:off x="4258491" y="141732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Chosen from 21 climbers</a:t>
            </a:r>
            <a:endParaRPr lang="en-US" sz="1300" dirty="0"/>
          </a:p>
        </p:txBody>
      </p:sp>
      <p:sp>
        <p:nvSpPr>
          <p:cNvPr id="30" name="Stem"/>
          <p:cNvSpPr/>
          <p:nvPr/>
        </p:nvSpPr>
        <p:spPr>
          <a:xfrm>
            <a:off x="5963194" y="2606040"/>
            <a:ext cx="0" cy="411480"/>
          </a:xfrm>
          <a:prstGeom prst="line">
            <a:avLst/>
          </a:prstGeom>
          <a:noFill/>
          <a:ln w="19050">
            <a:solidFill>
              <a:schemeClr val="accent4"/>
            </a:solidFill>
            <a:prstDash val="solid"/>
          </a:ln>
        </p:spPr>
      </p:sp>
      <p:sp>
        <p:nvSpPr>
          <p:cNvPr id="31" name="Timeline node"/>
          <p:cNvSpPr/>
          <p:nvPr/>
        </p:nvSpPr>
        <p:spPr>
          <a:xfrm>
            <a:off x="5807746" y="2450592"/>
            <a:ext cx="310896" cy="310896"/>
          </a:xfrm>
          <a:prstGeom prst="ellipse">
            <a:avLst/>
          </a:prstGeom>
          <a:solidFill>
            <a:schemeClr val="accent1"/>
          </a:solidFill>
          <a:ln w="19050">
            <a:solidFill>
              <a:schemeClr val="tx1"/>
            </a:solidFill>
            <a:prstDash val="solid"/>
          </a:ln>
        </p:spPr>
      </p:sp>
      <p:sp>
        <p:nvSpPr>
          <p:cNvPr id="32" name="Event 25 May 2014"/>
          <p:cNvSpPr/>
          <p:nvPr/>
        </p:nvSpPr>
        <p:spPr>
          <a:xfrm>
            <a:off x="5094514" y="301752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33" name="Text 30"/>
          <p:cNvSpPr txBox="1"/>
          <p:nvPr/>
        </p:nvSpPr>
        <p:spPr>
          <a:xfrm>
            <a:off x="5185954" y="306324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25 May 2014</a:t>
            </a:r>
            <a:endParaRPr lang="en-US" sz="1600" dirty="0"/>
          </a:p>
        </p:txBody>
      </p:sp>
      <p:sp>
        <p:nvSpPr>
          <p:cNvPr id="34" name="Text 31"/>
          <p:cNvSpPr txBox="1"/>
          <p:nvPr/>
        </p:nvSpPr>
        <p:spPr>
          <a:xfrm>
            <a:off x="5185954" y="338328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Reached the summit</a:t>
            </a:r>
            <a:endParaRPr lang="en-US" sz="1300" dirty="0"/>
          </a:p>
        </p:txBody>
      </p:sp>
      <p:sp>
        <p:nvSpPr>
          <p:cNvPr id="35" name="Stem"/>
          <p:cNvSpPr/>
          <p:nvPr/>
        </p:nvSpPr>
        <p:spPr>
          <a:xfrm>
            <a:off x="6890657" y="2148840"/>
            <a:ext cx="0" cy="457200"/>
          </a:xfrm>
          <a:prstGeom prst="line">
            <a:avLst/>
          </a:prstGeom>
          <a:noFill/>
          <a:ln w="19050">
            <a:solidFill>
              <a:schemeClr val="accent4"/>
            </a:solidFill>
            <a:prstDash val="solid"/>
          </a:ln>
        </p:spPr>
      </p:sp>
      <p:sp>
        <p:nvSpPr>
          <p:cNvPr id="36" name="Timeline node"/>
          <p:cNvSpPr/>
          <p:nvPr/>
        </p:nvSpPr>
        <p:spPr>
          <a:xfrm>
            <a:off x="6735209" y="2450592"/>
            <a:ext cx="310896" cy="310896"/>
          </a:xfrm>
          <a:prstGeom prst="ellipse">
            <a:avLst/>
          </a:prstGeom>
          <a:solidFill>
            <a:schemeClr val="accent2"/>
          </a:solidFill>
          <a:ln w="19050">
            <a:solidFill>
              <a:schemeClr val="tx1"/>
            </a:solidFill>
            <a:prstDash val="solid"/>
          </a:ln>
        </p:spPr>
      </p:sp>
      <p:sp>
        <p:nvSpPr>
          <p:cNvPr id="37" name="Event ~2014"/>
          <p:cNvSpPr/>
          <p:nvPr/>
        </p:nvSpPr>
        <p:spPr>
          <a:xfrm>
            <a:off x="6021977" y="105156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38" name="Text 35"/>
          <p:cNvSpPr txBox="1"/>
          <p:nvPr/>
        </p:nvSpPr>
        <p:spPr>
          <a:xfrm>
            <a:off x="6113417" y="109728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~2014</a:t>
            </a:r>
            <a:endParaRPr lang="en-US" sz="1600" dirty="0"/>
          </a:p>
        </p:txBody>
      </p:sp>
      <p:sp>
        <p:nvSpPr>
          <p:cNvPr id="39" name="Text 36"/>
          <p:cNvSpPr txBox="1"/>
          <p:nvPr/>
        </p:nvSpPr>
        <p:spPr>
          <a:xfrm>
            <a:off x="6113417" y="141732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Honoured by the Prime Minister</a:t>
            </a:r>
            <a:endParaRPr lang="en-US" sz="1300" dirty="0"/>
          </a:p>
        </p:txBody>
      </p:sp>
      <p:sp>
        <p:nvSpPr>
          <p:cNvPr id="40" name="Stem"/>
          <p:cNvSpPr/>
          <p:nvPr/>
        </p:nvSpPr>
        <p:spPr>
          <a:xfrm>
            <a:off x="7818120" y="2606040"/>
            <a:ext cx="0" cy="411480"/>
          </a:xfrm>
          <a:prstGeom prst="line">
            <a:avLst/>
          </a:prstGeom>
          <a:noFill/>
          <a:ln w="19050">
            <a:solidFill>
              <a:schemeClr val="accent4"/>
            </a:solidFill>
            <a:prstDash val="solid"/>
          </a:ln>
        </p:spPr>
      </p:sp>
      <p:sp>
        <p:nvSpPr>
          <p:cNvPr id="41" name="Timeline node"/>
          <p:cNvSpPr/>
          <p:nvPr/>
        </p:nvSpPr>
        <p:spPr>
          <a:xfrm>
            <a:off x="7662672" y="2450592"/>
            <a:ext cx="310896" cy="310896"/>
          </a:xfrm>
          <a:prstGeom prst="ellipse">
            <a:avLst/>
          </a:prstGeom>
          <a:solidFill>
            <a:schemeClr val="accent3"/>
          </a:solidFill>
          <a:ln w="19050">
            <a:solidFill>
              <a:schemeClr val="tx1"/>
            </a:solidFill>
            <a:prstDash val="solid"/>
          </a:ln>
        </p:spPr>
      </p:sp>
      <p:sp>
        <p:nvSpPr>
          <p:cNvPr id="42" name="Event 2017"/>
          <p:cNvSpPr/>
          <p:nvPr/>
        </p:nvSpPr>
        <p:spPr>
          <a:xfrm>
            <a:off x="6949440" y="3017520"/>
            <a:ext cx="1737360" cy="1097280"/>
          </a:xfrm>
          <a:prstGeom prst="roundRect">
            <a:avLst>
              <a:gd name="adj" fmla="val 1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43" name="Text 40"/>
          <p:cNvSpPr txBox="1"/>
          <p:nvPr/>
        </p:nvSpPr>
        <p:spPr>
          <a:xfrm>
            <a:off x="7040880" y="3063240"/>
            <a:ext cx="1554480" cy="320040"/>
          </a:xfrm>
          <a:prstGeom prst="rect">
            <a:avLst/>
          </a:prstGeom>
          <a:noFill/>
          <a:ln/>
        </p:spPr>
        <p:txBody>
          <a:bodyPr wrap="square" lIns="0" tIns="0" rIns="0" bIns="0" rtlCol="0" anchor="ctr"/>
          <a:lstStyle/>
          <a:p>
            <a:pPr algn="ctr" indent="0" marL="0">
              <a:buNone/>
            </a:pPr>
            <a:r>
              <a:rPr lang="en-US" sz="1600" b="1" dirty="0">
                <a:solidFill>
                  <a:schemeClr val="accent4"/>
                </a:solidFill>
                <a:latin typeface="+mj-lt" pitchFamily="34" charset="0"/>
                <a:ea typeface="+mj-lt" pitchFamily="34" charset="-122"/>
                <a:cs typeface="+mj-lt" pitchFamily="34" charset="-120"/>
              </a:rPr>
              <a:t>2017</a:t>
            </a:r>
            <a:endParaRPr lang="en-US" sz="1600" dirty="0"/>
          </a:p>
        </p:txBody>
      </p:sp>
      <p:sp>
        <p:nvSpPr>
          <p:cNvPr id="44" name="Text 41"/>
          <p:cNvSpPr txBox="1"/>
          <p:nvPr/>
        </p:nvSpPr>
        <p:spPr>
          <a:xfrm>
            <a:off x="7040880" y="3383280"/>
            <a:ext cx="1554480" cy="685800"/>
          </a:xfrm>
          <a:prstGeom prst="rect">
            <a:avLst/>
          </a:prstGeom>
          <a:noFill/>
          <a:ln/>
        </p:spPr>
        <p:txBody>
          <a:bodyPr wrap="square" lIns="0" tIns="0" rIns="0" bIns="0" rtlCol="0" anchor="t"/>
          <a:lstStyle/>
          <a:p>
            <a:pPr algn="ctr" indent="0" marL="0">
              <a:buNone/>
            </a:pPr>
            <a:r>
              <a:rPr lang="en-US" sz="1300" dirty="0">
                <a:solidFill>
                  <a:schemeClr val="tx1"/>
                </a:solidFill>
              </a:rPr>
              <a:t>Film ‘Poorna’ made</a:t>
            </a:r>
            <a:endParaRPr lang="en-US" sz="1300" dirty="0"/>
          </a:p>
        </p:txBody>
      </p:sp>
      <p:sp>
        <p:nvSpPr>
          <p:cNvPr id="45" name="Text 42"/>
          <p:cNvSpPr txBox="1"/>
          <p:nvPr/>
        </p:nvSpPr>
        <p:spPr>
          <a:xfrm>
            <a:off x="457200" y="4526280"/>
            <a:ext cx="8229600" cy="274320"/>
          </a:xfrm>
          <a:prstGeom prst="rect">
            <a:avLst/>
          </a:prstGeom>
          <a:noFill/>
          <a:ln/>
        </p:spPr>
        <p:txBody>
          <a:bodyPr wrap="square" lIns="0" tIns="0" rIns="0" bIns="0" rtlCol="0" anchor="ctr"/>
          <a:lstStyle/>
          <a:p>
            <a:pPr algn="ctr" indent="0" marL="0">
              <a:buNone/>
            </a:pPr>
            <a:r>
              <a:rPr lang="en-US" sz="1300" i="1" dirty="0">
                <a:solidFill>
                  <a:schemeClr val="tx2"/>
                </a:solidFill>
              </a:rPr>
              <a:t>~ = estimated date (the text does not say)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Go further: direct speech</a:t>
            </a:r>
            <a:endParaRPr lang="en-US" sz="3000" dirty="0"/>
          </a:p>
        </p:txBody>
      </p:sp>
      <p:sp>
        <p:nvSpPr>
          <p:cNvPr id="4" name="Rules"/>
          <p:cNvSpPr/>
          <p:nvPr/>
        </p:nvSpPr>
        <p:spPr>
          <a:xfrm>
            <a:off x="457200" y="1005840"/>
            <a:ext cx="4023360" cy="3200400"/>
          </a:xfrm>
          <a:prstGeom prst="roundRect">
            <a:avLst>
              <a:gd name="adj" fmla="val 3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Text 2"/>
          <p:cNvSpPr txBox="1"/>
          <p:nvPr/>
        </p:nvSpPr>
        <p:spPr>
          <a:xfrm>
            <a:off x="640080" y="1097280"/>
            <a:ext cx="3657600" cy="274320"/>
          </a:xfrm>
          <a:prstGeom prst="rect">
            <a:avLst/>
          </a:prstGeom>
          <a:noFill/>
          <a:ln/>
        </p:spPr>
        <p:txBody>
          <a:bodyPr wrap="square" lIns="0" tIns="0" rIns="0" bIns="0" rtlCol="0" anchor="ctr"/>
          <a:lstStyle/>
          <a:p>
            <a:pPr indent="0" marL="0">
              <a:buNone/>
            </a:pPr>
            <a:r>
              <a:rPr lang="en-US" sz="1300" b="1" dirty="0">
                <a:solidFill>
                  <a:schemeClr val="accent4"/>
                </a:solidFill>
              </a:rPr>
              <a:t>DIRECT SPEECH RULES</a:t>
            </a:r>
            <a:endParaRPr lang="en-US" sz="1300" dirty="0"/>
          </a:p>
        </p:txBody>
      </p:sp>
      <p:sp>
        <p:nvSpPr>
          <p:cNvPr id="6" name="Text 3"/>
          <p:cNvSpPr txBox="1"/>
          <p:nvPr/>
        </p:nvSpPr>
        <p:spPr>
          <a:xfrm>
            <a:off x="640080" y="1463040"/>
            <a:ext cx="365760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records exactly what someone said</a:t>
            </a:r>
            <a:endParaRPr lang="en-US" sz="1400" dirty="0"/>
          </a:p>
          <a:p>
            <a:pPr marL="342900" indent="-342900">
              <a:spcAft>
                <a:spcPts val="800"/>
              </a:spcAft>
              <a:buSzPct val="100000"/>
              <a:buChar char="•"/>
            </a:pPr>
            <a:r>
              <a:rPr lang="en-US" sz="1400" dirty="0">
                <a:solidFill>
                  <a:schemeClr val="tx1"/>
                </a:solidFill>
              </a:rPr>
              <a:t>the words go between speech marks: ‘ … ’</a:t>
            </a:r>
            <a:endParaRPr lang="en-US" sz="1400" dirty="0"/>
          </a:p>
          <a:p>
            <a:pPr marL="342900" indent="-342900">
              <a:spcAft>
                <a:spcPts val="800"/>
              </a:spcAft>
              <a:buSzPct val="100000"/>
              <a:buChar char="•"/>
            </a:pPr>
            <a:r>
              <a:rPr lang="en-US" sz="1400" dirty="0">
                <a:solidFill>
                  <a:schemeClr val="tx1"/>
                </a:solidFill>
              </a:rPr>
              <a:t>end with a full stop (or ? or !) inside the speech marks</a:t>
            </a:r>
            <a:endParaRPr lang="en-US" sz="1400" dirty="0"/>
          </a:p>
        </p:txBody>
      </p:sp>
      <p:sp>
        <p:nvSpPr>
          <p:cNvPr id="7" name="Real example"/>
          <p:cNvSpPr/>
          <p:nvPr/>
        </p:nvSpPr>
        <p:spPr>
          <a:xfrm>
            <a:off x="640080" y="3108960"/>
            <a:ext cx="3657600" cy="960120"/>
          </a:xfrm>
          <a:prstGeom prst="roundRect">
            <a:avLst>
              <a:gd name="adj" fmla="val 11429"/>
            </a:avLst>
          </a:prstGeom>
          <a:solidFill>
            <a:schemeClr val="accent5"/>
          </a:solidFill>
          <a:ln w="9525">
            <a:solidFill>
              <a:schemeClr val="accent5"/>
            </a:solidFill>
            <a:prstDash val="solid"/>
          </a:ln>
        </p:spPr>
      </p:sp>
      <p:sp>
        <p:nvSpPr>
          <p:cNvPr id="8" name="Text 5"/>
          <p:cNvSpPr txBox="1"/>
          <p:nvPr/>
        </p:nvSpPr>
        <p:spPr>
          <a:xfrm>
            <a:off x="731520" y="3108960"/>
            <a:ext cx="3474720" cy="960120"/>
          </a:xfrm>
          <a:prstGeom prst="rect">
            <a:avLst/>
          </a:prstGeom>
          <a:noFill/>
          <a:ln/>
        </p:spPr>
        <p:txBody>
          <a:bodyPr wrap="square" lIns="0" tIns="0" rIns="0" bIns="0" rtlCol="0" anchor="ctr"/>
          <a:lstStyle/>
          <a:p>
            <a:pPr indent="0" marL="0">
              <a:buNone/>
            </a:pPr>
            <a:r>
              <a:rPr lang="en-US" sz="1300" b="1" dirty="0">
                <a:solidFill>
                  <a:schemeClr val="tx1"/>
                </a:solidFill>
              </a:rPr>
              <a:t>From the text: </a:t>
            </a:r>
            <a:pPr indent="0" marL="0">
              <a:buNone/>
            </a:pPr>
            <a:r>
              <a:rPr lang="en-US" sz="1300" i="1" dirty="0">
                <a:solidFill>
                  <a:schemeClr val="tx1"/>
                </a:solidFill>
              </a:rPr>
              <a:t>‘It’s not that tall. We can climb it in a day.’</a:t>
            </a:r>
            <a:endParaRPr lang="en-US" sz="1300" dirty="0"/>
          </a:p>
        </p:txBody>
      </p:sp>
      <p:sp>
        <p:nvSpPr>
          <p:cNvPr id="9" name="Interview"/>
          <p:cNvSpPr/>
          <p:nvPr/>
        </p:nvSpPr>
        <p:spPr>
          <a:xfrm>
            <a:off x="4663440" y="1005840"/>
            <a:ext cx="4023360" cy="3200400"/>
          </a:xfrm>
          <a:prstGeom prst="roundRect">
            <a:avLst>
              <a:gd name="adj" fmla="val 3429"/>
            </a:avLst>
          </a:prstGeom>
          <a:solidFill>
            <a:schemeClr val="accent4"/>
          </a:solidFill>
          <a:ln w="9525">
            <a:solidFill>
              <a:schemeClr val="accent4"/>
            </a:solidFill>
            <a:prstDash val="solid"/>
          </a:ln>
        </p:spPr>
      </p:sp>
      <p:sp>
        <p:nvSpPr>
          <p:cNvPr id="10" name="Text 7"/>
          <p:cNvSpPr txBox="1"/>
          <p:nvPr/>
        </p:nvSpPr>
        <p:spPr>
          <a:xfrm>
            <a:off x="4846320" y="1097280"/>
            <a:ext cx="3657600" cy="274320"/>
          </a:xfrm>
          <a:prstGeom prst="rect">
            <a:avLst/>
          </a:prstGeom>
          <a:noFill/>
          <a:ln/>
        </p:spPr>
        <p:txBody>
          <a:bodyPr wrap="square" lIns="0" tIns="0" rIns="0" bIns="0" rtlCol="0" anchor="ctr"/>
          <a:lstStyle/>
          <a:p>
            <a:pPr indent="0" marL="0">
              <a:buNone/>
            </a:pPr>
            <a:r>
              <a:rPr lang="en-US" sz="1300" b="1" dirty="0">
                <a:solidFill>
                  <a:schemeClr val="accent5"/>
                </a:solidFill>
              </a:rPr>
              <a:t>IMAGINED INTERVIEW (ROLE-PLAY)</a:t>
            </a:r>
            <a:endParaRPr lang="en-US" sz="1300" dirty="0"/>
          </a:p>
        </p:txBody>
      </p:sp>
      <p:sp>
        <p:nvSpPr>
          <p:cNvPr id="11" name="Text 8"/>
          <p:cNvSpPr txBox="1"/>
          <p:nvPr/>
        </p:nvSpPr>
        <p:spPr>
          <a:xfrm>
            <a:off x="4846320" y="1463040"/>
            <a:ext cx="3657600" cy="2651760"/>
          </a:xfrm>
          <a:prstGeom prst="rect">
            <a:avLst/>
          </a:prstGeom>
          <a:noFill/>
          <a:ln/>
        </p:spPr>
        <p:txBody>
          <a:bodyPr wrap="square" lIns="0" tIns="0" rIns="0" bIns="0" rtlCol="0" anchor="t"/>
          <a:lstStyle/>
          <a:p>
            <a:pPr indent="0" marL="0">
              <a:buNone/>
            </a:pPr>
            <a:r>
              <a:rPr lang="en-US" sz="1400" b="1" dirty="0">
                <a:solidFill>
                  <a:schemeClr val="bg1"/>
                </a:solidFill>
              </a:rPr>
              <a:t>Q: How did you feel at the summit?</a:t>
            </a:r>
            <a:endParaRPr lang="en-US" sz="1400" dirty="0"/>
          </a:p>
          <a:p>
            <a:pPr indent="0" marL="0">
              <a:buNone/>
            </a:pPr>
            <a:r>
              <a:rPr lang="en-US" sz="1400" i="1" dirty="0">
                <a:solidFill>
                  <a:schemeClr val="bg1"/>
                </a:solidFill>
              </a:rPr>
              <a:t>‘It felt incredible to be on top of the world.’</a:t>
            </a:r>
            <a:endParaRPr lang="en-US" sz="1400" dirty="0"/>
          </a:p>
          <a:p>
            <a:pPr indent="0" marL="0">
              <a:buNone/>
            </a:pPr>
            <a:r>
              <a:rPr lang="en-US" sz="1400" dirty="0">
                <a:solidFill>
                  <a:schemeClr val="bg1"/>
                </a:solidFill>
              </a:rPr>
              <a:t> </a:t>
            </a:r>
            <a:endParaRPr lang="en-US" sz="1400" dirty="0"/>
          </a:p>
          <a:p>
            <a:pPr indent="0" marL="0">
              <a:buNone/>
            </a:pPr>
            <a:r>
              <a:rPr lang="en-US" sz="1400" b="1" dirty="0">
                <a:solidFill>
                  <a:schemeClr val="bg1"/>
                </a:solidFill>
              </a:rPr>
              <a:t>Q: Who helped you most?</a:t>
            </a:r>
            <a:endParaRPr lang="en-US" sz="1400" dirty="0"/>
          </a:p>
          <a:p>
            <a:pPr indent="0" marL="0">
              <a:buNone/>
            </a:pPr>
            <a:r>
              <a:rPr lang="en-US" sz="1400" i="1" dirty="0">
                <a:solidFill>
                  <a:schemeClr val="bg1"/>
                </a:solidFill>
              </a:rPr>
              <a:t>‘My coach helped me to believe in myself.’</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Chronological order: time connectives</a:t>
            </a:r>
            <a:endParaRPr lang="en-US" sz="3000" dirty="0"/>
          </a:p>
        </p:txBody>
      </p:sp>
      <p:sp>
        <p:nvSpPr>
          <p:cNvPr id="4" name="Chip"/>
          <p:cNvSpPr/>
          <p:nvPr/>
        </p:nvSpPr>
        <p:spPr>
          <a:xfrm>
            <a:off x="457200" y="1051560"/>
            <a:ext cx="1965960" cy="411480"/>
          </a:xfrm>
          <a:prstGeom prst="roundRect">
            <a:avLst>
              <a:gd name="adj" fmla="val 26667"/>
            </a:avLst>
          </a:prstGeom>
          <a:solidFill>
            <a:schemeClr val="accent5"/>
          </a:solidFill>
          <a:ln w="6350">
            <a:solidFill>
              <a:schemeClr val="accent5"/>
            </a:solidFill>
            <a:prstDash val="solid"/>
          </a:ln>
        </p:spPr>
      </p:sp>
      <p:sp>
        <p:nvSpPr>
          <p:cNvPr id="5" name="Text 2"/>
          <p:cNvSpPr txBox="1"/>
          <p:nvPr/>
        </p:nvSpPr>
        <p:spPr>
          <a:xfrm>
            <a:off x="457200" y="105156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next</a:t>
            </a:r>
            <a:endParaRPr lang="en-US" sz="1200" dirty="0"/>
          </a:p>
        </p:txBody>
      </p:sp>
      <p:sp>
        <p:nvSpPr>
          <p:cNvPr id="6" name="Chip"/>
          <p:cNvSpPr/>
          <p:nvPr/>
        </p:nvSpPr>
        <p:spPr>
          <a:xfrm>
            <a:off x="2542032" y="1051560"/>
            <a:ext cx="1965960" cy="411480"/>
          </a:xfrm>
          <a:prstGeom prst="roundRect">
            <a:avLst>
              <a:gd name="adj" fmla="val 26667"/>
            </a:avLst>
          </a:prstGeom>
          <a:solidFill>
            <a:schemeClr val="accent5"/>
          </a:solidFill>
          <a:ln w="6350">
            <a:solidFill>
              <a:schemeClr val="accent5"/>
            </a:solidFill>
            <a:prstDash val="solid"/>
          </a:ln>
        </p:spPr>
      </p:sp>
      <p:sp>
        <p:nvSpPr>
          <p:cNvPr id="7" name="Text 4"/>
          <p:cNvSpPr txBox="1"/>
          <p:nvPr/>
        </p:nvSpPr>
        <p:spPr>
          <a:xfrm>
            <a:off x="2542032" y="105156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now</a:t>
            </a:r>
            <a:endParaRPr lang="en-US" sz="1200" dirty="0"/>
          </a:p>
        </p:txBody>
      </p:sp>
      <p:sp>
        <p:nvSpPr>
          <p:cNvPr id="8" name="Chip"/>
          <p:cNvSpPr/>
          <p:nvPr/>
        </p:nvSpPr>
        <p:spPr>
          <a:xfrm>
            <a:off x="4626864" y="1051560"/>
            <a:ext cx="1965960" cy="411480"/>
          </a:xfrm>
          <a:prstGeom prst="roundRect">
            <a:avLst>
              <a:gd name="adj" fmla="val 26667"/>
            </a:avLst>
          </a:prstGeom>
          <a:solidFill>
            <a:schemeClr val="accent5"/>
          </a:solidFill>
          <a:ln w="6350">
            <a:solidFill>
              <a:schemeClr val="accent5"/>
            </a:solidFill>
            <a:prstDash val="solid"/>
          </a:ln>
        </p:spPr>
      </p:sp>
      <p:sp>
        <p:nvSpPr>
          <p:cNvPr id="9" name="Text 6"/>
          <p:cNvSpPr txBox="1"/>
          <p:nvPr/>
        </p:nvSpPr>
        <p:spPr>
          <a:xfrm>
            <a:off x="4626864" y="105156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soon</a:t>
            </a:r>
            <a:endParaRPr lang="en-US" sz="1200" dirty="0"/>
          </a:p>
        </p:txBody>
      </p:sp>
      <p:sp>
        <p:nvSpPr>
          <p:cNvPr id="10" name="Chip"/>
          <p:cNvSpPr/>
          <p:nvPr/>
        </p:nvSpPr>
        <p:spPr>
          <a:xfrm>
            <a:off x="6711696" y="1051560"/>
            <a:ext cx="1965960" cy="411480"/>
          </a:xfrm>
          <a:prstGeom prst="roundRect">
            <a:avLst>
              <a:gd name="adj" fmla="val 26667"/>
            </a:avLst>
          </a:prstGeom>
          <a:solidFill>
            <a:schemeClr val="accent5"/>
          </a:solidFill>
          <a:ln w="6350">
            <a:solidFill>
              <a:schemeClr val="accent5"/>
            </a:solidFill>
            <a:prstDash val="solid"/>
          </a:ln>
        </p:spPr>
      </p:sp>
      <p:sp>
        <p:nvSpPr>
          <p:cNvPr id="11" name="Text 8"/>
          <p:cNvSpPr txBox="1"/>
          <p:nvPr/>
        </p:nvSpPr>
        <p:spPr>
          <a:xfrm>
            <a:off x="6711696" y="105156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afterwards</a:t>
            </a:r>
            <a:endParaRPr lang="en-US" sz="1200" dirty="0"/>
          </a:p>
        </p:txBody>
      </p:sp>
      <p:sp>
        <p:nvSpPr>
          <p:cNvPr id="12" name="Chip"/>
          <p:cNvSpPr/>
          <p:nvPr/>
        </p:nvSpPr>
        <p:spPr>
          <a:xfrm>
            <a:off x="457200" y="1554480"/>
            <a:ext cx="1965960" cy="411480"/>
          </a:xfrm>
          <a:prstGeom prst="roundRect">
            <a:avLst>
              <a:gd name="adj" fmla="val 26667"/>
            </a:avLst>
          </a:prstGeom>
          <a:solidFill>
            <a:schemeClr val="accent5"/>
          </a:solidFill>
          <a:ln w="6350">
            <a:solidFill>
              <a:schemeClr val="accent5"/>
            </a:solidFill>
            <a:prstDash val="solid"/>
          </a:ln>
        </p:spPr>
      </p:sp>
      <p:sp>
        <p:nvSpPr>
          <p:cNvPr id="13" name="Text 10"/>
          <p:cNvSpPr txBox="1"/>
          <p:nvPr/>
        </p:nvSpPr>
        <p:spPr>
          <a:xfrm>
            <a:off x="457200" y="155448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after that</a:t>
            </a:r>
            <a:endParaRPr lang="en-US" sz="1200" dirty="0"/>
          </a:p>
        </p:txBody>
      </p:sp>
      <p:sp>
        <p:nvSpPr>
          <p:cNvPr id="14" name="Chip"/>
          <p:cNvSpPr/>
          <p:nvPr/>
        </p:nvSpPr>
        <p:spPr>
          <a:xfrm>
            <a:off x="2542032" y="1554480"/>
            <a:ext cx="1965960" cy="411480"/>
          </a:xfrm>
          <a:prstGeom prst="roundRect">
            <a:avLst>
              <a:gd name="adj" fmla="val 26667"/>
            </a:avLst>
          </a:prstGeom>
          <a:solidFill>
            <a:schemeClr val="accent5"/>
          </a:solidFill>
          <a:ln w="6350">
            <a:solidFill>
              <a:schemeClr val="accent5"/>
            </a:solidFill>
            <a:prstDash val="solid"/>
          </a:ln>
        </p:spPr>
      </p:sp>
      <p:sp>
        <p:nvSpPr>
          <p:cNvPr id="15" name="Text 12"/>
          <p:cNvSpPr txBox="1"/>
          <p:nvPr/>
        </p:nvSpPr>
        <p:spPr>
          <a:xfrm>
            <a:off x="2542032" y="155448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eventually</a:t>
            </a:r>
            <a:endParaRPr lang="en-US" sz="1200" dirty="0"/>
          </a:p>
        </p:txBody>
      </p:sp>
      <p:sp>
        <p:nvSpPr>
          <p:cNvPr id="16" name="Chip"/>
          <p:cNvSpPr/>
          <p:nvPr/>
        </p:nvSpPr>
        <p:spPr>
          <a:xfrm>
            <a:off x="4626864" y="1554480"/>
            <a:ext cx="1965960" cy="411480"/>
          </a:xfrm>
          <a:prstGeom prst="roundRect">
            <a:avLst>
              <a:gd name="adj" fmla="val 26667"/>
            </a:avLst>
          </a:prstGeom>
          <a:solidFill>
            <a:schemeClr val="accent5"/>
          </a:solidFill>
          <a:ln w="6350">
            <a:solidFill>
              <a:schemeClr val="accent5"/>
            </a:solidFill>
            <a:prstDash val="solid"/>
          </a:ln>
        </p:spPr>
      </p:sp>
      <p:sp>
        <p:nvSpPr>
          <p:cNvPr id="17" name="Text 14"/>
          <p:cNvSpPr txBox="1"/>
          <p:nvPr/>
        </p:nvSpPr>
        <p:spPr>
          <a:xfrm>
            <a:off x="4626864" y="155448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finally</a:t>
            </a:r>
            <a:endParaRPr lang="en-US" sz="1200" dirty="0"/>
          </a:p>
        </p:txBody>
      </p:sp>
      <p:sp>
        <p:nvSpPr>
          <p:cNvPr id="18" name="Chip"/>
          <p:cNvSpPr/>
          <p:nvPr/>
        </p:nvSpPr>
        <p:spPr>
          <a:xfrm>
            <a:off x="6711696" y="1554480"/>
            <a:ext cx="1965960" cy="411480"/>
          </a:xfrm>
          <a:prstGeom prst="roundRect">
            <a:avLst>
              <a:gd name="adj" fmla="val 26667"/>
            </a:avLst>
          </a:prstGeom>
          <a:solidFill>
            <a:schemeClr val="accent5"/>
          </a:solidFill>
          <a:ln w="6350">
            <a:solidFill>
              <a:schemeClr val="accent5"/>
            </a:solidFill>
            <a:prstDash val="solid"/>
          </a:ln>
        </p:spPr>
      </p:sp>
      <p:sp>
        <p:nvSpPr>
          <p:cNvPr id="19" name="Text 16"/>
          <p:cNvSpPr txBox="1"/>
          <p:nvPr/>
        </p:nvSpPr>
        <p:spPr>
          <a:xfrm>
            <a:off x="6711696" y="155448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in the end</a:t>
            </a:r>
            <a:endParaRPr lang="en-US" sz="1200" dirty="0"/>
          </a:p>
        </p:txBody>
      </p:sp>
      <p:sp>
        <p:nvSpPr>
          <p:cNvPr id="20" name="Chip"/>
          <p:cNvSpPr/>
          <p:nvPr/>
        </p:nvSpPr>
        <p:spPr>
          <a:xfrm>
            <a:off x="457200" y="2057400"/>
            <a:ext cx="1965960" cy="411480"/>
          </a:xfrm>
          <a:prstGeom prst="roundRect">
            <a:avLst>
              <a:gd name="adj" fmla="val 26667"/>
            </a:avLst>
          </a:prstGeom>
          <a:solidFill>
            <a:schemeClr val="accent5"/>
          </a:solidFill>
          <a:ln w="6350">
            <a:solidFill>
              <a:schemeClr val="accent5"/>
            </a:solidFill>
            <a:prstDash val="solid"/>
          </a:ln>
        </p:spPr>
      </p:sp>
      <p:sp>
        <p:nvSpPr>
          <p:cNvPr id="21" name="Text 18"/>
          <p:cNvSpPr txBox="1"/>
          <p:nvPr/>
        </p:nvSpPr>
        <p:spPr>
          <a:xfrm>
            <a:off x="457200" y="205740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first</a:t>
            </a:r>
            <a:endParaRPr lang="en-US" sz="1200" dirty="0"/>
          </a:p>
        </p:txBody>
      </p:sp>
      <p:sp>
        <p:nvSpPr>
          <p:cNvPr id="22" name="Chip"/>
          <p:cNvSpPr/>
          <p:nvPr/>
        </p:nvSpPr>
        <p:spPr>
          <a:xfrm>
            <a:off x="2542032" y="2057400"/>
            <a:ext cx="1965960" cy="411480"/>
          </a:xfrm>
          <a:prstGeom prst="roundRect">
            <a:avLst>
              <a:gd name="adj" fmla="val 26667"/>
            </a:avLst>
          </a:prstGeom>
          <a:solidFill>
            <a:schemeClr val="accent5"/>
          </a:solidFill>
          <a:ln w="6350">
            <a:solidFill>
              <a:schemeClr val="accent5"/>
            </a:solidFill>
            <a:prstDash val="solid"/>
          </a:ln>
        </p:spPr>
      </p:sp>
      <p:sp>
        <p:nvSpPr>
          <p:cNvPr id="23" name="Text 20"/>
          <p:cNvSpPr txBox="1"/>
          <p:nvPr/>
        </p:nvSpPr>
        <p:spPr>
          <a:xfrm>
            <a:off x="2542032" y="205740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later on</a:t>
            </a:r>
            <a:endParaRPr lang="en-US" sz="1200" dirty="0"/>
          </a:p>
        </p:txBody>
      </p:sp>
      <p:sp>
        <p:nvSpPr>
          <p:cNvPr id="24" name="Chip"/>
          <p:cNvSpPr/>
          <p:nvPr/>
        </p:nvSpPr>
        <p:spPr>
          <a:xfrm>
            <a:off x="4626864" y="2057400"/>
            <a:ext cx="1965960" cy="411480"/>
          </a:xfrm>
          <a:prstGeom prst="roundRect">
            <a:avLst>
              <a:gd name="adj" fmla="val 26667"/>
            </a:avLst>
          </a:prstGeom>
          <a:solidFill>
            <a:schemeClr val="accent5"/>
          </a:solidFill>
          <a:ln w="6350">
            <a:solidFill>
              <a:schemeClr val="accent5"/>
            </a:solidFill>
            <a:prstDash val="solid"/>
          </a:ln>
        </p:spPr>
      </p:sp>
      <p:sp>
        <p:nvSpPr>
          <p:cNvPr id="25" name="Text 22"/>
          <p:cNvSpPr txBox="1"/>
          <p:nvPr/>
        </p:nvSpPr>
        <p:spPr>
          <a:xfrm>
            <a:off x="4626864" y="205740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during her schooldays</a:t>
            </a:r>
            <a:endParaRPr lang="en-US" sz="1200" dirty="0"/>
          </a:p>
        </p:txBody>
      </p:sp>
      <p:sp>
        <p:nvSpPr>
          <p:cNvPr id="26" name="Chip"/>
          <p:cNvSpPr/>
          <p:nvPr/>
        </p:nvSpPr>
        <p:spPr>
          <a:xfrm>
            <a:off x="6711696" y="2057400"/>
            <a:ext cx="1965960" cy="411480"/>
          </a:xfrm>
          <a:prstGeom prst="roundRect">
            <a:avLst>
              <a:gd name="adj" fmla="val 26667"/>
            </a:avLst>
          </a:prstGeom>
          <a:solidFill>
            <a:schemeClr val="accent5"/>
          </a:solidFill>
          <a:ln w="6350">
            <a:solidFill>
              <a:schemeClr val="accent5"/>
            </a:solidFill>
            <a:prstDash val="solid"/>
          </a:ln>
        </p:spPr>
      </p:sp>
      <p:sp>
        <p:nvSpPr>
          <p:cNvPr id="27" name="Text 24"/>
          <p:cNvSpPr txBox="1"/>
          <p:nvPr/>
        </p:nvSpPr>
        <p:spPr>
          <a:xfrm>
            <a:off x="6711696" y="205740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throughout her childhood</a:t>
            </a:r>
            <a:endParaRPr lang="en-US" sz="1200" dirty="0"/>
          </a:p>
        </p:txBody>
      </p:sp>
      <p:sp>
        <p:nvSpPr>
          <p:cNvPr id="28" name="Chip"/>
          <p:cNvSpPr/>
          <p:nvPr/>
        </p:nvSpPr>
        <p:spPr>
          <a:xfrm>
            <a:off x="457200" y="2560320"/>
            <a:ext cx="1965960" cy="411480"/>
          </a:xfrm>
          <a:prstGeom prst="roundRect">
            <a:avLst>
              <a:gd name="adj" fmla="val 26667"/>
            </a:avLst>
          </a:prstGeom>
          <a:solidFill>
            <a:schemeClr val="accent5"/>
          </a:solidFill>
          <a:ln w="6350">
            <a:solidFill>
              <a:schemeClr val="accent5"/>
            </a:solidFill>
            <a:prstDash val="solid"/>
          </a:ln>
        </p:spPr>
      </p:sp>
      <p:sp>
        <p:nvSpPr>
          <p:cNvPr id="29" name="Text 26"/>
          <p:cNvSpPr txBox="1"/>
          <p:nvPr/>
        </p:nvSpPr>
        <p:spPr>
          <a:xfrm>
            <a:off x="457200" y="256032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over a number of weeks</a:t>
            </a:r>
            <a:endParaRPr lang="en-US" sz="1200" dirty="0"/>
          </a:p>
        </p:txBody>
      </p:sp>
      <p:sp>
        <p:nvSpPr>
          <p:cNvPr id="30" name="Chip"/>
          <p:cNvSpPr/>
          <p:nvPr/>
        </p:nvSpPr>
        <p:spPr>
          <a:xfrm>
            <a:off x="2542032" y="2560320"/>
            <a:ext cx="1965960" cy="411480"/>
          </a:xfrm>
          <a:prstGeom prst="roundRect">
            <a:avLst>
              <a:gd name="adj" fmla="val 26667"/>
            </a:avLst>
          </a:prstGeom>
          <a:solidFill>
            <a:schemeClr val="accent5"/>
          </a:solidFill>
          <a:ln w="6350">
            <a:solidFill>
              <a:schemeClr val="accent5"/>
            </a:solidFill>
            <a:prstDash val="solid"/>
          </a:ln>
        </p:spPr>
      </p:sp>
      <p:sp>
        <p:nvSpPr>
          <p:cNvPr id="31" name="Text 28"/>
          <p:cNvSpPr txBox="1"/>
          <p:nvPr/>
        </p:nvSpPr>
        <p:spPr>
          <a:xfrm>
            <a:off x="2542032" y="2560320"/>
            <a:ext cx="1965960" cy="411480"/>
          </a:xfrm>
          <a:prstGeom prst="rect">
            <a:avLst/>
          </a:prstGeom>
          <a:noFill/>
          <a:ln/>
        </p:spPr>
        <p:txBody>
          <a:bodyPr wrap="square" lIns="0" tIns="0" rIns="0" bIns="0" rtlCol="0" anchor="ctr"/>
          <a:lstStyle/>
          <a:p>
            <a:pPr algn="ctr" indent="0" marL="0">
              <a:buNone/>
            </a:pPr>
            <a:r>
              <a:rPr lang="en-US" sz="1200" b="1" dirty="0">
                <a:solidFill>
                  <a:schemeClr val="tx1"/>
                </a:solidFill>
              </a:rPr>
              <a:t>across a period of time</a:t>
            </a:r>
            <a:endParaRPr lang="en-US" sz="1200" dirty="0"/>
          </a:p>
        </p:txBody>
      </p:sp>
      <p:sp>
        <p:nvSpPr>
          <p:cNvPr id="32" name="Example"/>
          <p:cNvSpPr/>
          <p:nvPr/>
        </p:nvSpPr>
        <p:spPr>
          <a:xfrm>
            <a:off x="457200" y="3108960"/>
            <a:ext cx="8229600" cy="960120"/>
          </a:xfrm>
          <a:prstGeom prst="roundRect">
            <a:avLst>
              <a:gd name="adj" fmla="val 11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33" name="Text 30"/>
          <p:cNvSpPr txBox="1"/>
          <p:nvPr/>
        </p:nvSpPr>
        <p:spPr>
          <a:xfrm>
            <a:off x="640080" y="3136392"/>
            <a:ext cx="2743200" cy="228600"/>
          </a:xfrm>
          <a:prstGeom prst="rect">
            <a:avLst/>
          </a:prstGeom>
          <a:noFill/>
          <a:ln/>
        </p:spPr>
        <p:txBody>
          <a:bodyPr wrap="square" lIns="0" tIns="0" rIns="0" bIns="0" rtlCol="0" anchor="ctr"/>
          <a:lstStyle/>
          <a:p>
            <a:pPr indent="0" marL="0">
              <a:buNone/>
            </a:pPr>
            <a:r>
              <a:rPr lang="en-US" sz="1200" b="1" dirty="0">
                <a:solidFill>
                  <a:schemeClr val="accent4"/>
                </a:solidFill>
              </a:rPr>
              <a:t>EXAMPLE</a:t>
            </a:r>
            <a:endParaRPr lang="en-US" sz="1200" dirty="0"/>
          </a:p>
        </p:txBody>
      </p:sp>
      <p:sp>
        <p:nvSpPr>
          <p:cNvPr id="34" name="Text 31"/>
          <p:cNvSpPr txBox="1"/>
          <p:nvPr/>
        </p:nvSpPr>
        <p:spPr>
          <a:xfrm>
            <a:off x="640080" y="3383280"/>
            <a:ext cx="7863840" cy="640080"/>
          </a:xfrm>
          <a:prstGeom prst="rect">
            <a:avLst/>
          </a:prstGeom>
          <a:noFill/>
          <a:ln/>
        </p:spPr>
        <p:txBody>
          <a:bodyPr wrap="square" lIns="0" tIns="0" rIns="0" bIns="0" rtlCol="0" anchor="t"/>
          <a:lstStyle/>
          <a:p>
            <a:pPr indent="0" marL="0">
              <a:buNone/>
            </a:pPr>
            <a:r>
              <a:rPr lang="en-US" sz="1400" b="1" dirty="0">
                <a:solidFill>
                  <a:schemeClr val="tx1"/>
                </a:solidFill>
                <a:highlight>
                  <a:srgbClr val="FFD166"/>
                </a:highlight>
              </a:rPr>
              <a:t>First</a:t>
            </a:r>
            <a:pPr indent="0" marL="0">
              <a:buNone/>
            </a:pPr>
            <a:r>
              <a:rPr lang="en-US" sz="1400" dirty="0">
                <a:solidFill>
                  <a:schemeClr val="tx1"/>
                </a:solidFill>
              </a:rPr>
              <a:t>, Samantha studied engineering. </a:t>
            </a:r>
            <a:pPr indent="0" marL="0">
              <a:buNone/>
            </a:pPr>
            <a:r>
              <a:rPr lang="en-US" sz="1400" b="1" dirty="0">
                <a:solidFill>
                  <a:schemeClr val="tx1"/>
                </a:solidFill>
                <a:highlight>
                  <a:srgbClr val="FFD166"/>
                </a:highlight>
              </a:rPr>
              <a:t>After that</a:t>
            </a:r>
            <a:pPr indent="0" marL="0">
              <a:buNone/>
            </a:pPr>
            <a:r>
              <a:rPr lang="en-US" sz="1400" dirty="0">
                <a:solidFill>
                  <a:schemeClr val="tx1"/>
                </a:solidFill>
              </a:rPr>
              <a:t>, she joined the Italian Air Force. </a:t>
            </a:r>
            <a:pPr indent="0" marL="0">
              <a:buNone/>
            </a:pPr>
            <a:r>
              <a:rPr lang="en-US" sz="1400" b="1" dirty="0">
                <a:solidFill>
                  <a:schemeClr val="tx1"/>
                </a:solidFill>
                <a:highlight>
                  <a:srgbClr val="FFD166"/>
                </a:highlight>
              </a:rPr>
              <a:t>Three years later</a:t>
            </a:r>
            <a:pPr indent="0" marL="0">
              <a:buNone/>
            </a:pPr>
            <a:r>
              <a:rPr lang="en-US" sz="1400" dirty="0">
                <a:solidFill>
                  <a:schemeClr val="tx1"/>
                </a:solidFill>
              </a:rPr>
              <a:t>, she was assigned to fly on the ISS.</a:t>
            </a:r>
            <a:endParaRPr lang="en-US" sz="1400" dirty="0"/>
          </a:p>
        </p:txBody>
      </p:sp>
      <p:sp>
        <p:nvSpPr>
          <p:cNvPr id="35"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36" name="Text 33"/>
          <p:cNvSpPr txBox="1"/>
          <p:nvPr/>
        </p:nvSpPr>
        <p:spPr>
          <a:xfrm>
            <a:off x="640080" y="4160520"/>
            <a:ext cx="7863840" cy="411480"/>
          </a:xfrm>
          <a:prstGeom prst="rect">
            <a:avLst/>
          </a:prstGeom>
          <a:noFill/>
          <a:ln/>
        </p:spPr>
        <p:txBody>
          <a:bodyPr wrap="square" lIns="0" tIns="0" rIns="0" bIns="0" rtlCol="0" anchor="ctr"/>
          <a:lstStyle/>
          <a:p>
            <a:pPr algn="ctr" indent="0" marL="0">
              <a:buNone/>
            </a:pPr>
            <a:r>
              <a:rPr lang="en-US" sz="1600" b="1" dirty="0">
                <a:solidFill>
                  <a:schemeClr val="tx1"/>
                </a:solidFill>
              </a:rPr>
              <a:t>Comma rule: put a comma after the time phrase at the start of a sentence.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Plan a biography: Usain Bolt facts</a:t>
            </a:r>
            <a:endParaRPr lang="en-US" sz="3000" dirty="0"/>
          </a:p>
        </p:txBody>
      </p:sp>
      <p:sp>
        <p:nvSpPr>
          <p:cNvPr id="4" name="Fact 1"/>
          <p:cNvSpPr/>
          <p:nvPr/>
        </p:nvSpPr>
        <p:spPr>
          <a:xfrm>
            <a:off x="457200" y="105156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Text 2"/>
          <p:cNvSpPr txBox="1"/>
          <p:nvPr/>
        </p:nvSpPr>
        <p:spPr>
          <a:xfrm>
            <a:off x="594360" y="1051560"/>
            <a:ext cx="3749040" cy="685800"/>
          </a:xfrm>
          <a:prstGeom prst="rect">
            <a:avLst/>
          </a:prstGeom>
          <a:noFill/>
          <a:ln/>
        </p:spPr>
        <p:txBody>
          <a:bodyPr wrap="square" lIns="0" tIns="0" rIns="0" bIns="0" rtlCol="0" anchor="ctr"/>
          <a:lstStyle/>
          <a:p>
            <a:pPr indent="0" marL="0">
              <a:buNone/>
            </a:pPr>
            <a:r>
              <a:rPr lang="en-US" sz="1200" dirty="0">
                <a:solidFill>
                  <a:schemeClr val="tx1"/>
                </a:solidFill>
              </a:rPr>
              <a:t>Born: 21 August 1986</a:t>
            </a:r>
            <a:endParaRPr lang="en-US" sz="1200" dirty="0"/>
          </a:p>
        </p:txBody>
      </p:sp>
      <p:sp>
        <p:nvSpPr>
          <p:cNvPr id="6" name="Fact 2"/>
          <p:cNvSpPr/>
          <p:nvPr/>
        </p:nvSpPr>
        <p:spPr>
          <a:xfrm>
            <a:off x="4663440" y="105156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7" name="Text 4"/>
          <p:cNvSpPr txBox="1"/>
          <p:nvPr/>
        </p:nvSpPr>
        <p:spPr>
          <a:xfrm>
            <a:off x="4800600" y="1051560"/>
            <a:ext cx="3749040" cy="685800"/>
          </a:xfrm>
          <a:prstGeom prst="rect">
            <a:avLst/>
          </a:prstGeom>
          <a:noFill/>
          <a:ln/>
        </p:spPr>
        <p:txBody>
          <a:bodyPr wrap="square" lIns="0" tIns="0" rIns="0" bIns="0" rtlCol="0" anchor="ctr"/>
          <a:lstStyle/>
          <a:p>
            <a:pPr indent="0" marL="0">
              <a:buNone/>
            </a:pPr>
            <a:r>
              <a:rPr lang="en-US" sz="1200" dirty="0">
                <a:solidFill>
                  <a:schemeClr val="tx1"/>
                </a:solidFill>
              </a:rPr>
              <a:t>Aged 12: the school’s fastest runner over 100 metres</a:t>
            </a:r>
            <a:endParaRPr lang="en-US" sz="1200" dirty="0"/>
          </a:p>
        </p:txBody>
      </p:sp>
      <p:sp>
        <p:nvSpPr>
          <p:cNvPr id="8" name="Fact 3"/>
          <p:cNvSpPr/>
          <p:nvPr/>
        </p:nvSpPr>
        <p:spPr>
          <a:xfrm>
            <a:off x="457200" y="182880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Text 6"/>
          <p:cNvSpPr txBox="1"/>
          <p:nvPr/>
        </p:nvSpPr>
        <p:spPr>
          <a:xfrm>
            <a:off x="594360" y="1828800"/>
            <a:ext cx="3749040" cy="685800"/>
          </a:xfrm>
          <a:prstGeom prst="rect">
            <a:avLst/>
          </a:prstGeom>
          <a:noFill/>
          <a:ln/>
        </p:spPr>
        <p:txBody>
          <a:bodyPr wrap="square" lIns="0" tIns="0" rIns="0" bIns="0" rtlCol="0" anchor="ctr"/>
          <a:lstStyle/>
          <a:p>
            <a:pPr indent="0" marL="0">
              <a:buNone/>
            </a:pPr>
            <a:r>
              <a:rPr lang="en-US" sz="1200" dirty="0">
                <a:solidFill>
                  <a:schemeClr val="tx1"/>
                </a:solidFill>
              </a:rPr>
              <a:t>1999: moved to William Knibb Memorial High School</a:t>
            </a:r>
            <a:endParaRPr lang="en-US" sz="1200" dirty="0"/>
          </a:p>
        </p:txBody>
      </p:sp>
      <p:sp>
        <p:nvSpPr>
          <p:cNvPr id="10" name="Fact 4"/>
          <p:cNvSpPr/>
          <p:nvPr/>
        </p:nvSpPr>
        <p:spPr>
          <a:xfrm>
            <a:off x="4663440" y="182880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1" name="Text 8"/>
          <p:cNvSpPr txBox="1"/>
          <p:nvPr/>
        </p:nvSpPr>
        <p:spPr>
          <a:xfrm>
            <a:off x="4800600" y="1828800"/>
            <a:ext cx="3749040" cy="685800"/>
          </a:xfrm>
          <a:prstGeom prst="rect">
            <a:avLst/>
          </a:prstGeom>
          <a:noFill/>
          <a:ln/>
        </p:spPr>
        <p:txBody>
          <a:bodyPr wrap="square" lIns="0" tIns="0" rIns="0" bIns="0" rtlCol="0" anchor="ctr"/>
          <a:lstStyle/>
          <a:p>
            <a:pPr indent="0" marL="0">
              <a:buNone/>
            </a:pPr>
            <a:r>
              <a:rPr lang="en-US" sz="1200" dirty="0">
                <a:solidFill>
                  <a:schemeClr val="tx1"/>
                </a:solidFill>
              </a:rPr>
              <a:t>2001: first medal, silver, Jamaican High School Championships</a:t>
            </a:r>
            <a:endParaRPr lang="en-US" sz="1200" dirty="0"/>
          </a:p>
        </p:txBody>
      </p:sp>
      <p:sp>
        <p:nvSpPr>
          <p:cNvPr id="12" name="Fact 5"/>
          <p:cNvSpPr/>
          <p:nvPr/>
        </p:nvSpPr>
        <p:spPr>
          <a:xfrm>
            <a:off x="457200" y="260604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Text 10"/>
          <p:cNvSpPr txBox="1"/>
          <p:nvPr/>
        </p:nvSpPr>
        <p:spPr>
          <a:xfrm>
            <a:off x="594360" y="2606040"/>
            <a:ext cx="3749040" cy="685800"/>
          </a:xfrm>
          <a:prstGeom prst="rect">
            <a:avLst/>
          </a:prstGeom>
          <a:noFill/>
          <a:ln/>
        </p:spPr>
        <p:txBody>
          <a:bodyPr wrap="square" lIns="0" tIns="0" rIns="0" bIns="0" rtlCol="0" anchor="ctr"/>
          <a:lstStyle/>
          <a:p>
            <a:pPr indent="0" marL="0">
              <a:buNone/>
            </a:pPr>
            <a:r>
              <a:rPr lang="en-US" sz="1200" dirty="0">
                <a:solidFill>
                  <a:schemeClr val="tx1"/>
                </a:solidFill>
              </a:rPr>
              <a:t>Aged 15: won the 200 metres at the World Junior Championships in Kingston</a:t>
            </a:r>
            <a:endParaRPr lang="en-US" sz="1200" dirty="0"/>
          </a:p>
        </p:txBody>
      </p:sp>
      <p:sp>
        <p:nvSpPr>
          <p:cNvPr id="14" name="Fact 6"/>
          <p:cNvSpPr/>
          <p:nvPr/>
        </p:nvSpPr>
        <p:spPr>
          <a:xfrm>
            <a:off x="4663440" y="260604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5" name="Text 12"/>
          <p:cNvSpPr txBox="1"/>
          <p:nvPr/>
        </p:nvSpPr>
        <p:spPr>
          <a:xfrm>
            <a:off x="4800600" y="2606040"/>
            <a:ext cx="3749040" cy="685800"/>
          </a:xfrm>
          <a:prstGeom prst="rect">
            <a:avLst/>
          </a:prstGeom>
          <a:noFill/>
          <a:ln/>
        </p:spPr>
        <p:txBody>
          <a:bodyPr wrap="square" lIns="0" tIns="0" rIns="0" bIns="0" rtlCol="0" anchor="ctr"/>
          <a:lstStyle/>
          <a:p>
            <a:pPr indent="0" marL="0">
              <a:buNone/>
            </a:pPr>
            <a:r>
              <a:rPr lang="en-US" sz="1200" dirty="0">
                <a:solidFill>
                  <a:schemeClr val="tx1"/>
                </a:solidFill>
              </a:rPr>
              <a:t>2005: leg injuries; got a new coach, Glenn Mills; reached the world top 5</a:t>
            </a:r>
            <a:endParaRPr lang="en-US" sz="1200" dirty="0"/>
          </a:p>
        </p:txBody>
      </p:sp>
      <p:sp>
        <p:nvSpPr>
          <p:cNvPr id="16" name="Fact 7"/>
          <p:cNvSpPr/>
          <p:nvPr/>
        </p:nvSpPr>
        <p:spPr>
          <a:xfrm>
            <a:off x="457200" y="338328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Text 14"/>
          <p:cNvSpPr txBox="1"/>
          <p:nvPr/>
        </p:nvSpPr>
        <p:spPr>
          <a:xfrm>
            <a:off x="594360" y="3383280"/>
            <a:ext cx="3749040" cy="685800"/>
          </a:xfrm>
          <a:prstGeom prst="rect">
            <a:avLst/>
          </a:prstGeom>
          <a:noFill/>
          <a:ln/>
        </p:spPr>
        <p:txBody>
          <a:bodyPr wrap="square" lIns="0" tIns="0" rIns="0" bIns="0" rtlCol="0" anchor="ctr"/>
          <a:lstStyle/>
          <a:p>
            <a:pPr indent="0" marL="0">
              <a:buNone/>
            </a:pPr>
            <a:r>
              <a:rPr lang="en-US" sz="1200" dirty="0">
                <a:solidFill>
                  <a:schemeClr val="tx1"/>
                </a:solidFill>
              </a:rPr>
              <a:t>2007: broke the Jamaican 200-metre record</a:t>
            </a:r>
            <a:endParaRPr lang="en-US" sz="1200" dirty="0"/>
          </a:p>
        </p:txBody>
      </p:sp>
      <p:sp>
        <p:nvSpPr>
          <p:cNvPr id="18" name="Fact 8"/>
          <p:cNvSpPr/>
          <p:nvPr/>
        </p:nvSpPr>
        <p:spPr>
          <a:xfrm>
            <a:off x="4663440" y="3383280"/>
            <a:ext cx="4023360" cy="685800"/>
          </a:xfrm>
          <a:prstGeom prst="roundRect">
            <a:avLst>
              <a:gd name="adj" fmla="val 16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9" name="Text 16"/>
          <p:cNvSpPr txBox="1"/>
          <p:nvPr/>
        </p:nvSpPr>
        <p:spPr>
          <a:xfrm>
            <a:off x="4800600" y="3383280"/>
            <a:ext cx="3749040" cy="685800"/>
          </a:xfrm>
          <a:prstGeom prst="rect">
            <a:avLst/>
          </a:prstGeom>
          <a:noFill/>
          <a:ln/>
        </p:spPr>
        <p:txBody>
          <a:bodyPr wrap="square" lIns="0" tIns="0" rIns="0" bIns="0" rtlCol="0" anchor="ctr"/>
          <a:lstStyle/>
          <a:p>
            <a:pPr indent="0" marL="0">
              <a:buNone/>
            </a:pPr>
            <a:r>
              <a:rPr lang="en-US" sz="1200" dirty="0">
                <a:solidFill>
                  <a:schemeClr val="tx1"/>
                </a:solidFill>
              </a:rPr>
              <a:t>First school: Waldensia Primary School</a:t>
            </a:r>
            <a:endParaRPr lang="en-US" sz="1200" dirty="0"/>
          </a:p>
        </p:txBody>
      </p:sp>
      <p:sp>
        <p:nvSpPr>
          <p:cNvPr id="20" name="Callout"/>
          <p:cNvSpPr/>
          <p:nvPr/>
        </p:nvSpPr>
        <p:spPr>
          <a:xfrm>
            <a:off x="457200" y="4206240"/>
            <a:ext cx="8229600" cy="411480"/>
          </a:xfrm>
          <a:prstGeom prst="roundRect">
            <a:avLst>
              <a:gd name="adj" fmla="val 26667"/>
            </a:avLst>
          </a:prstGeom>
          <a:solidFill>
            <a:schemeClr val="accent5"/>
          </a:solidFill>
          <a:ln w="9525">
            <a:solidFill>
              <a:schemeClr val="accent5"/>
            </a:solidFill>
            <a:prstDash val="solid"/>
          </a:ln>
        </p:spPr>
      </p:sp>
      <p:sp>
        <p:nvSpPr>
          <p:cNvPr id="21" name="Text 18"/>
          <p:cNvSpPr txBox="1"/>
          <p:nvPr/>
        </p:nvSpPr>
        <p:spPr>
          <a:xfrm>
            <a:off x="640080" y="4206240"/>
            <a:ext cx="7863840" cy="411480"/>
          </a:xfrm>
          <a:prstGeom prst="rect">
            <a:avLst/>
          </a:prstGeom>
          <a:noFill/>
          <a:ln/>
        </p:spPr>
        <p:txBody>
          <a:bodyPr wrap="square" lIns="0" tIns="0" rIns="0" bIns="0" rtlCol="0" anchor="ctr"/>
          <a:lstStyle/>
          <a:p>
            <a:pPr algn="ctr" indent="0" marL="0">
              <a:buNone/>
            </a:pPr>
            <a:r>
              <a:rPr lang="en-US" sz="1600" b="1" dirty="0">
                <a:solidFill>
                  <a:schemeClr val="tx1"/>
                </a:solidFill>
              </a:rPr>
              <a:t>Task: put these facts in chronological order. Which are not dated?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Usain Bolt: chronological order</a:t>
            </a:r>
            <a:endParaRPr lang="en-US" sz="3000" dirty="0"/>
          </a:p>
        </p:txBody>
      </p:sp>
      <p:sp>
        <p:nvSpPr>
          <p:cNvPr id="4" name="Step 1"/>
          <p:cNvSpPr/>
          <p:nvPr/>
        </p:nvSpPr>
        <p:spPr>
          <a:xfrm>
            <a:off x="457200" y="100584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Year"/>
          <p:cNvSpPr/>
          <p:nvPr/>
        </p:nvSpPr>
        <p:spPr>
          <a:xfrm>
            <a:off x="548640" y="1060704"/>
            <a:ext cx="1005840" cy="329184"/>
          </a:xfrm>
          <a:prstGeom prst="roundRect">
            <a:avLst>
              <a:gd name="adj" fmla="val 27778"/>
            </a:avLst>
          </a:prstGeom>
          <a:solidFill>
            <a:schemeClr val="accent1"/>
          </a:solidFill>
          <a:ln w="6350">
            <a:solidFill>
              <a:schemeClr val="accent1"/>
            </a:solidFill>
            <a:prstDash val="solid"/>
          </a:ln>
        </p:spPr>
      </p:sp>
      <p:sp>
        <p:nvSpPr>
          <p:cNvPr id="6" name="Text 3"/>
          <p:cNvSpPr txBox="1"/>
          <p:nvPr/>
        </p:nvSpPr>
        <p:spPr>
          <a:xfrm>
            <a:off x="548640" y="106070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1986</a:t>
            </a:r>
            <a:endParaRPr lang="en-US" sz="1300" dirty="0"/>
          </a:p>
        </p:txBody>
      </p:sp>
      <p:sp>
        <p:nvSpPr>
          <p:cNvPr id="7" name="Text 4"/>
          <p:cNvSpPr txBox="1"/>
          <p:nvPr/>
        </p:nvSpPr>
        <p:spPr>
          <a:xfrm>
            <a:off x="1691640" y="1005840"/>
            <a:ext cx="6766560" cy="438912"/>
          </a:xfrm>
          <a:prstGeom prst="rect">
            <a:avLst/>
          </a:prstGeom>
          <a:noFill/>
          <a:ln/>
        </p:spPr>
        <p:txBody>
          <a:bodyPr wrap="square" lIns="0" tIns="0" rIns="0" bIns="0" rtlCol="0" anchor="ctr"/>
          <a:lstStyle/>
          <a:p>
            <a:pPr indent="0" marL="0">
              <a:buNone/>
            </a:pPr>
            <a:r>
              <a:rPr lang="en-US" sz="1300" dirty="0">
                <a:solidFill>
                  <a:schemeClr val="tx1"/>
                </a:solidFill>
              </a:rPr>
              <a:t>Born (21 August)</a:t>
            </a:r>
            <a:endParaRPr lang="en-US" sz="1300" dirty="0"/>
          </a:p>
        </p:txBody>
      </p:sp>
      <p:sp>
        <p:nvSpPr>
          <p:cNvPr id="8" name="Step 2"/>
          <p:cNvSpPr/>
          <p:nvPr/>
        </p:nvSpPr>
        <p:spPr>
          <a:xfrm>
            <a:off x="457200" y="150876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Year"/>
          <p:cNvSpPr/>
          <p:nvPr/>
        </p:nvSpPr>
        <p:spPr>
          <a:xfrm>
            <a:off x="548640" y="1563624"/>
            <a:ext cx="1005840" cy="329184"/>
          </a:xfrm>
          <a:prstGeom prst="roundRect">
            <a:avLst>
              <a:gd name="adj" fmla="val 27778"/>
            </a:avLst>
          </a:prstGeom>
          <a:solidFill>
            <a:schemeClr val="accent2"/>
          </a:solidFill>
          <a:ln w="6350">
            <a:solidFill>
              <a:schemeClr val="accent2"/>
            </a:solidFill>
            <a:prstDash val="solid"/>
          </a:ln>
        </p:spPr>
      </p:sp>
      <p:sp>
        <p:nvSpPr>
          <p:cNvPr id="10" name="Text 7"/>
          <p:cNvSpPr txBox="1"/>
          <p:nvPr/>
        </p:nvSpPr>
        <p:spPr>
          <a:xfrm>
            <a:off x="548640" y="156362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~1998</a:t>
            </a:r>
            <a:endParaRPr lang="en-US" sz="1300" dirty="0"/>
          </a:p>
        </p:txBody>
      </p:sp>
      <p:sp>
        <p:nvSpPr>
          <p:cNvPr id="11" name="Text 8"/>
          <p:cNvSpPr txBox="1"/>
          <p:nvPr/>
        </p:nvSpPr>
        <p:spPr>
          <a:xfrm>
            <a:off x="1691640" y="1508760"/>
            <a:ext cx="6766560" cy="438912"/>
          </a:xfrm>
          <a:prstGeom prst="rect">
            <a:avLst/>
          </a:prstGeom>
          <a:noFill/>
          <a:ln/>
        </p:spPr>
        <p:txBody>
          <a:bodyPr wrap="square" lIns="0" tIns="0" rIns="0" bIns="0" rtlCol="0" anchor="ctr"/>
          <a:lstStyle/>
          <a:p>
            <a:pPr indent="0" marL="0">
              <a:buNone/>
            </a:pPr>
            <a:r>
              <a:rPr lang="en-US" sz="1300" dirty="0">
                <a:solidFill>
                  <a:schemeClr val="tx1"/>
                </a:solidFill>
              </a:rPr>
              <a:t>Aged 12: school’s fastest 100 m runner</a:t>
            </a:r>
            <a:endParaRPr lang="en-US" sz="1300" dirty="0"/>
          </a:p>
        </p:txBody>
      </p:sp>
      <p:sp>
        <p:nvSpPr>
          <p:cNvPr id="12" name="Step 3"/>
          <p:cNvSpPr/>
          <p:nvPr/>
        </p:nvSpPr>
        <p:spPr>
          <a:xfrm>
            <a:off x="457200" y="201168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Year"/>
          <p:cNvSpPr/>
          <p:nvPr/>
        </p:nvSpPr>
        <p:spPr>
          <a:xfrm>
            <a:off x="548640" y="2066544"/>
            <a:ext cx="1005840" cy="329184"/>
          </a:xfrm>
          <a:prstGeom prst="roundRect">
            <a:avLst>
              <a:gd name="adj" fmla="val 27778"/>
            </a:avLst>
          </a:prstGeom>
          <a:solidFill>
            <a:schemeClr val="accent3"/>
          </a:solidFill>
          <a:ln w="6350">
            <a:solidFill>
              <a:schemeClr val="accent3"/>
            </a:solidFill>
            <a:prstDash val="solid"/>
          </a:ln>
        </p:spPr>
      </p:sp>
      <p:sp>
        <p:nvSpPr>
          <p:cNvPr id="14" name="Text 11"/>
          <p:cNvSpPr txBox="1"/>
          <p:nvPr/>
        </p:nvSpPr>
        <p:spPr>
          <a:xfrm>
            <a:off x="548640" y="206654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1999</a:t>
            </a:r>
            <a:endParaRPr lang="en-US" sz="1300" dirty="0"/>
          </a:p>
        </p:txBody>
      </p:sp>
      <p:sp>
        <p:nvSpPr>
          <p:cNvPr id="15" name="Text 12"/>
          <p:cNvSpPr txBox="1"/>
          <p:nvPr/>
        </p:nvSpPr>
        <p:spPr>
          <a:xfrm>
            <a:off x="1691640" y="2011680"/>
            <a:ext cx="6766560" cy="438912"/>
          </a:xfrm>
          <a:prstGeom prst="rect">
            <a:avLst/>
          </a:prstGeom>
          <a:noFill/>
          <a:ln/>
        </p:spPr>
        <p:txBody>
          <a:bodyPr wrap="square" lIns="0" tIns="0" rIns="0" bIns="0" rtlCol="0" anchor="ctr"/>
          <a:lstStyle/>
          <a:p>
            <a:pPr indent="0" marL="0">
              <a:buNone/>
            </a:pPr>
            <a:r>
              <a:rPr lang="en-US" sz="1300" dirty="0">
                <a:solidFill>
                  <a:schemeClr val="tx1"/>
                </a:solidFill>
              </a:rPr>
              <a:t>Moved to William Knibb Memorial High School</a:t>
            </a:r>
            <a:endParaRPr lang="en-US" sz="1300" dirty="0"/>
          </a:p>
        </p:txBody>
      </p:sp>
      <p:sp>
        <p:nvSpPr>
          <p:cNvPr id="16" name="Step 4"/>
          <p:cNvSpPr/>
          <p:nvPr/>
        </p:nvSpPr>
        <p:spPr>
          <a:xfrm>
            <a:off x="457200" y="251460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7" name="Year"/>
          <p:cNvSpPr/>
          <p:nvPr/>
        </p:nvSpPr>
        <p:spPr>
          <a:xfrm>
            <a:off x="548640" y="2569464"/>
            <a:ext cx="1005840" cy="329184"/>
          </a:xfrm>
          <a:prstGeom prst="roundRect">
            <a:avLst>
              <a:gd name="adj" fmla="val 27778"/>
            </a:avLst>
          </a:prstGeom>
          <a:solidFill>
            <a:schemeClr val="accent4"/>
          </a:solidFill>
          <a:ln w="6350">
            <a:solidFill>
              <a:schemeClr val="accent4"/>
            </a:solidFill>
            <a:prstDash val="solid"/>
          </a:ln>
        </p:spPr>
      </p:sp>
      <p:sp>
        <p:nvSpPr>
          <p:cNvPr id="18" name="Text 15"/>
          <p:cNvSpPr txBox="1"/>
          <p:nvPr/>
        </p:nvSpPr>
        <p:spPr>
          <a:xfrm>
            <a:off x="548640" y="2569464"/>
            <a:ext cx="1005840" cy="329184"/>
          </a:xfrm>
          <a:prstGeom prst="rect">
            <a:avLst/>
          </a:prstGeom>
          <a:noFill/>
          <a:ln/>
        </p:spPr>
        <p:txBody>
          <a:bodyPr wrap="square" lIns="0" tIns="0" rIns="0" bIns="0" rtlCol="0" anchor="ctr"/>
          <a:lstStyle/>
          <a:p>
            <a:pPr algn="ctr" indent="0" marL="0">
              <a:buNone/>
            </a:pPr>
            <a:r>
              <a:rPr lang="en-US" sz="1300" b="1" dirty="0">
                <a:solidFill>
                  <a:schemeClr val="bg1"/>
                </a:solidFill>
              </a:rPr>
              <a:t>2001</a:t>
            </a:r>
            <a:endParaRPr lang="en-US" sz="1300" dirty="0"/>
          </a:p>
        </p:txBody>
      </p:sp>
      <p:sp>
        <p:nvSpPr>
          <p:cNvPr id="19" name="Text 16"/>
          <p:cNvSpPr txBox="1"/>
          <p:nvPr/>
        </p:nvSpPr>
        <p:spPr>
          <a:xfrm>
            <a:off x="1691640" y="2514600"/>
            <a:ext cx="6766560" cy="438912"/>
          </a:xfrm>
          <a:prstGeom prst="rect">
            <a:avLst/>
          </a:prstGeom>
          <a:noFill/>
          <a:ln/>
        </p:spPr>
        <p:txBody>
          <a:bodyPr wrap="square" lIns="0" tIns="0" rIns="0" bIns="0" rtlCol="0" anchor="ctr"/>
          <a:lstStyle/>
          <a:p>
            <a:pPr indent="0" marL="0">
              <a:buNone/>
            </a:pPr>
            <a:r>
              <a:rPr lang="en-US" sz="1300" dirty="0">
                <a:solidFill>
                  <a:schemeClr val="tx1"/>
                </a:solidFill>
              </a:rPr>
              <a:t>First medal: silver</a:t>
            </a:r>
            <a:endParaRPr lang="en-US" sz="1300" dirty="0"/>
          </a:p>
        </p:txBody>
      </p:sp>
      <p:sp>
        <p:nvSpPr>
          <p:cNvPr id="20" name="Step 5"/>
          <p:cNvSpPr/>
          <p:nvPr/>
        </p:nvSpPr>
        <p:spPr>
          <a:xfrm>
            <a:off x="457200" y="301752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1" name="Year"/>
          <p:cNvSpPr/>
          <p:nvPr/>
        </p:nvSpPr>
        <p:spPr>
          <a:xfrm>
            <a:off x="548640" y="3072384"/>
            <a:ext cx="1005840" cy="329184"/>
          </a:xfrm>
          <a:prstGeom prst="roundRect">
            <a:avLst>
              <a:gd name="adj" fmla="val 27778"/>
            </a:avLst>
          </a:prstGeom>
          <a:solidFill>
            <a:schemeClr val="accent5"/>
          </a:solidFill>
          <a:ln w="6350">
            <a:solidFill>
              <a:schemeClr val="accent5"/>
            </a:solidFill>
            <a:prstDash val="solid"/>
          </a:ln>
        </p:spPr>
      </p:sp>
      <p:sp>
        <p:nvSpPr>
          <p:cNvPr id="22" name="Text 19"/>
          <p:cNvSpPr txBox="1"/>
          <p:nvPr/>
        </p:nvSpPr>
        <p:spPr>
          <a:xfrm>
            <a:off x="548640" y="307238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~2002</a:t>
            </a:r>
            <a:endParaRPr lang="en-US" sz="1300" dirty="0"/>
          </a:p>
        </p:txBody>
      </p:sp>
      <p:sp>
        <p:nvSpPr>
          <p:cNvPr id="23" name="Text 20"/>
          <p:cNvSpPr txBox="1"/>
          <p:nvPr/>
        </p:nvSpPr>
        <p:spPr>
          <a:xfrm>
            <a:off x="1691640" y="3017520"/>
            <a:ext cx="6766560" cy="438912"/>
          </a:xfrm>
          <a:prstGeom prst="rect">
            <a:avLst/>
          </a:prstGeom>
          <a:noFill/>
          <a:ln/>
        </p:spPr>
        <p:txBody>
          <a:bodyPr wrap="square" lIns="0" tIns="0" rIns="0" bIns="0" rtlCol="0" anchor="ctr"/>
          <a:lstStyle/>
          <a:p>
            <a:pPr indent="0" marL="0">
              <a:buNone/>
            </a:pPr>
            <a:r>
              <a:rPr lang="en-US" sz="1300" dirty="0">
                <a:solidFill>
                  <a:schemeClr val="tx1"/>
                </a:solidFill>
              </a:rPr>
              <a:t>Aged 15: won the 200 m at the World Junior Championships</a:t>
            </a:r>
            <a:endParaRPr lang="en-US" sz="1300" dirty="0"/>
          </a:p>
        </p:txBody>
      </p:sp>
      <p:sp>
        <p:nvSpPr>
          <p:cNvPr id="24" name="Step 6"/>
          <p:cNvSpPr/>
          <p:nvPr/>
        </p:nvSpPr>
        <p:spPr>
          <a:xfrm>
            <a:off x="457200" y="352044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5" name="Year"/>
          <p:cNvSpPr/>
          <p:nvPr/>
        </p:nvSpPr>
        <p:spPr>
          <a:xfrm>
            <a:off x="548640" y="3575304"/>
            <a:ext cx="1005840" cy="329184"/>
          </a:xfrm>
          <a:prstGeom prst="roundRect">
            <a:avLst>
              <a:gd name="adj" fmla="val 27778"/>
            </a:avLst>
          </a:prstGeom>
          <a:solidFill>
            <a:schemeClr val="accent1"/>
          </a:solidFill>
          <a:ln w="6350">
            <a:solidFill>
              <a:schemeClr val="accent1"/>
            </a:solidFill>
            <a:prstDash val="solid"/>
          </a:ln>
        </p:spPr>
      </p:sp>
      <p:sp>
        <p:nvSpPr>
          <p:cNvPr id="26" name="Text 23"/>
          <p:cNvSpPr txBox="1"/>
          <p:nvPr/>
        </p:nvSpPr>
        <p:spPr>
          <a:xfrm>
            <a:off x="548640" y="357530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2005</a:t>
            </a:r>
            <a:endParaRPr lang="en-US" sz="1300" dirty="0"/>
          </a:p>
        </p:txBody>
      </p:sp>
      <p:sp>
        <p:nvSpPr>
          <p:cNvPr id="27" name="Text 24"/>
          <p:cNvSpPr txBox="1"/>
          <p:nvPr/>
        </p:nvSpPr>
        <p:spPr>
          <a:xfrm>
            <a:off x="1691640" y="3520440"/>
            <a:ext cx="6766560" cy="438912"/>
          </a:xfrm>
          <a:prstGeom prst="rect">
            <a:avLst/>
          </a:prstGeom>
          <a:noFill/>
          <a:ln/>
        </p:spPr>
        <p:txBody>
          <a:bodyPr wrap="square" lIns="0" tIns="0" rIns="0" bIns="0" rtlCol="0" anchor="ctr"/>
          <a:lstStyle/>
          <a:p>
            <a:pPr indent="0" marL="0">
              <a:buNone/>
            </a:pPr>
            <a:r>
              <a:rPr lang="en-US" sz="1300" dirty="0">
                <a:solidFill>
                  <a:schemeClr val="tx1"/>
                </a:solidFill>
              </a:rPr>
              <a:t>Leg injuries; new coach; world top 5</a:t>
            </a:r>
            <a:endParaRPr lang="en-US" sz="1300" dirty="0"/>
          </a:p>
        </p:txBody>
      </p:sp>
      <p:sp>
        <p:nvSpPr>
          <p:cNvPr id="28" name="Step 7"/>
          <p:cNvSpPr/>
          <p:nvPr/>
        </p:nvSpPr>
        <p:spPr>
          <a:xfrm>
            <a:off x="457200" y="4023360"/>
            <a:ext cx="8229600" cy="438912"/>
          </a:xfrm>
          <a:prstGeom prst="roundRect">
            <a:avLst>
              <a:gd name="adj" fmla="val 25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29" name="Year"/>
          <p:cNvSpPr/>
          <p:nvPr/>
        </p:nvSpPr>
        <p:spPr>
          <a:xfrm>
            <a:off x="548640" y="4078224"/>
            <a:ext cx="1005840" cy="329184"/>
          </a:xfrm>
          <a:prstGeom prst="roundRect">
            <a:avLst>
              <a:gd name="adj" fmla="val 27778"/>
            </a:avLst>
          </a:prstGeom>
          <a:solidFill>
            <a:schemeClr val="accent2"/>
          </a:solidFill>
          <a:ln w="6350">
            <a:solidFill>
              <a:schemeClr val="accent2"/>
            </a:solidFill>
            <a:prstDash val="solid"/>
          </a:ln>
        </p:spPr>
      </p:sp>
      <p:sp>
        <p:nvSpPr>
          <p:cNvPr id="30" name="Text 27"/>
          <p:cNvSpPr txBox="1"/>
          <p:nvPr/>
        </p:nvSpPr>
        <p:spPr>
          <a:xfrm>
            <a:off x="548640" y="4078224"/>
            <a:ext cx="1005840" cy="329184"/>
          </a:xfrm>
          <a:prstGeom prst="rect">
            <a:avLst/>
          </a:prstGeom>
          <a:noFill/>
          <a:ln/>
        </p:spPr>
        <p:txBody>
          <a:bodyPr wrap="square" lIns="0" tIns="0" rIns="0" bIns="0" rtlCol="0" anchor="ctr"/>
          <a:lstStyle/>
          <a:p>
            <a:pPr algn="ctr" indent="0" marL="0">
              <a:buNone/>
            </a:pPr>
            <a:r>
              <a:rPr lang="en-US" sz="1300" b="1" dirty="0">
                <a:solidFill>
                  <a:schemeClr val="tx1"/>
                </a:solidFill>
              </a:rPr>
              <a:t>2007</a:t>
            </a:r>
            <a:endParaRPr lang="en-US" sz="1300" dirty="0"/>
          </a:p>
        </p:txBody>
      </p:sp>
      <p:sp>
        <p:nvSpPr>
          <p:cNvPr id="31" name="Text 28"/>
          <p:cNvSpPr txBox="1"/>
          <p:nvPr/>
        </p:nvSpPr>
        <p:spPr>
          <a:xfrm>
            <a:off x="1691640" y="4023360"/>
            <a:ext cx="6766560" cy="438912"/>
          </a:xfrm>
          <a:prstGeom prst="rect">
            <a:avLst/>
          </a:prstGeom>
          <a:noFill/>
          <a:ln/>
        </p:spPr>
        <p:txBody>
          <a:bodyPr wrap="square" lIns="0" tIns="0" rIns="0" bIns="0" rtlCol="0" anchor="ctr"/>
          <a:lstStyle/>
          <a:p>
            <a:pPr indent="0" marL="0">
              <a:buNone/>
            </a:pPr>
            <a:r>
              <a:rPr lang="en-US" sz="1300" dirty="0">
                <a:solidFill>
                  <a:schemeClr val="tx1"/>
                </a:solidFill>
              </a:rPr>
              <a:t>Broke the Jamaican 200 m record</a:t>
            </a:r>
            <a:endParaRPr lang="en-US" sz="1300" dirty="0"/>
          </a:p>
        </p:txBody>
      </p:sp>
      <p:sp>
        <p:nvSpPr>
          <p:cNvPr id="32" name="Text 29"/>
          <p:cNvSpPr txBox="1"/>
          <p:nvPr/>
        </p:nvSpPr>
        <p:spPr>
          <a:xfrm>
            <a:off x="457200" y="4572000"/>
            <a:ext cx="8229600" cy="228600"/>
          </a:xfrm>
          <a:prstGeom prst="rect">
            <a:avLst/>
          </a:prstGeom>
          <a:noFill/>
          <a:ln/>
        </p:spPr>
        <p:txBody>
          <a:bodyPr wrap="square" lIns="0" tIns="0" rIns="0" bIns="0" rtlCol="0" anchor="ctr"/>
          <a:lstStyle/>
          <a:p>
            <a:pPr algn="ctr" indent="0" marL="0">
              <a:buNone/>
            </a:pPr>
            <a:r>
              <a:rPr lang="en-US" sz="1200" i="1" dirty="0">
                <a:solidFill>
                  <a:schemeClr val="accent6"/>
                </a:solidFill>
              </a:rPr>
              <a:t>Undated facts (nickname ‘Lightning Bolt’, world and Olympic champion) go in the opening or the conclusion.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Write it: a model paragraph</a:t>
            </a:r>
            <a:endParaRPr lang="en-US" sz="3000" dirty="0"/>
          </a:p>
        </p:txBody>
      </p:sp>
      <p:sp>
        <p:nvSpPr>
          <p:cNvPr id="4" name="Model paragraph"/>
          <p:cNvSpPr/>
          <p:nvPr/>
        </p:nvSpPr>
        <p:spPr>
          <a:xfrm>
            <a:off x="457200" y="1051560"/>
            <a:ext cx="8229600" cy="2331720"/>
          </a:xfrm>
          <a:prstGeom prst="roundRect">
            <a:avLst>
              <a:gd name="adj" fmla="val 4706"/>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Text 2"/>
          <p:cNvSpPr txBox="1"/>
          <p:nvPr/>
        </p:nvSpPr>
        <p:spPr>
          <a:xfrm>
            <a:off x="640080" y="1115568"/>
            <a:ext cx="3657600" cy="274320"/>
          </a:xfrm>
          <a:prstGeom prst="rect">
            <a:avLst/>
          </a:prstGeom>
          <a:noFill/>
          <a:ln/>
        </p:spPr>
        <p:txBody>
          <a:bodyPr wrap="square" lIns="0" tIns="0" rIns="0" bIns="0" rtlCol="0" anchor="ctr"/>
          <a:lstStyle/>
          <a:p>
            <a:pPr indent="0" marL="0">
              <a:buNone/>
            </a:pPr>
            <a:r>
              <a:rPr lang="en-US" sz="1200" b="1" dirty="0">
                <a:solidFill>
                  <a:schemeClr val="accent4"/>
                </a:solidFill>
              </a:rPr>
              <a:t>MODEL PARAGRAPH</a:t>
            </a:r>
            <a:endParaRPr lang="en-US" sz="1200" dirty="0"/>
          </a:p>
        </p:txBody>
      </p:sp>
      <p:sp>
        <p:nvSpPr>
          <p:cNvPr id="6" name="Text 3"/>
          <p:cNvSpPr txBox="1"/>
          <p:nvPr/>
        </p:nvSpPr>
        <p:spPr>
          <a:xfrm>
            <a:off x="640080" y="1417320"/>
            <a:ext cx="7863840" cy="1920240"/>
          </a:xfrm>
          <a:prstGeom prst="rect">
            <a:avLst/>
          </a:prstGeom>
          <a:noFill/>
          <a:ln/>
        </p:spPr>
        <p:txBody>
          <a:bodyPr wrap="square" lIns="0" tIns="0" rIns="0" bIns="0" rtlCol="0" anchor="t"/>
          <a:lstStyle/>
          <a:p>
            <a:pPr indent="0" marL="0">
              <a:buNone/>
            </a:pPr>
            <a:r>
              <a:rPr lang="en-US" sz="1600" dirty="0">
                <a:solidFill>
                  <a:schemeClr val="tx1"/>
                </a:solidFill>
              </a:rPr>
              <a:t>Usain Bolt was born on 21 August 1986. </a:t>
            </a:r>
            <a:pPr indent="0" marL="0">
              <a:buNone/>
            </a:pPr>
            <a:r>
              <a:rPr lang="en-US" sz="1600" b="1" dirty="0">
                <a:solidFill>
                  <a:schemeClr val="tx1"/>
                </a:solidFill>
                <a:highlight>
                  <a:srgbClr val="FFD166"/>
                </a:highlight>
              </a:rPr>
              <a:t>At the age of 12</a:t>
            </a:r>
            <a:pPr indent="0" marL="0">
              <a:buNone/>
            </a:pPr>
            <a:r>
              <a:rPr lang="en-US" sz="1600" dirty="0">
                <a:solidFill>
                  <a:schemeClr val="tx1"/>
                </a:solidFill>
              </a:rPr>
              <a:t>, he was the fastest runner in his school over 100 metres. </a:t>
            </a:r>
            <a:pPr indent="0" marL="0">
              <a:buNone/>
            </a:pPr>
            <a:r>
              <a:rPr lang="en-US" sz="1600" b="1" dirty="0">
                <a:solidFill>
                  <a:schemeClr val="tx1"/>
                </a:solidFill>
                <a:highlight>
                  <a:srgbClr val="FFD166"/>
                </a:highlight>
              </a:rPr>
              <a:t>In 2001</a:t>
            </a:r>
            <a:pPr indent="0" marL="0">
              <a:buNone/>
            </a:pPr>
            <a:r>
              <a:rPr lang="en-US" sz="1600" dirty="0">
                <a:solidFill>
                  <a:schemeClr val="tx1"/>
                </a:solidFill>
              </a:rPr>
              <a:t>, he won his first medal, a silver. </a:t>
            </a:r>
            <a:pPr indent="0" marL="0">
              <a:buNone/>
            </a:pPr>
            <a:r>
              <a:rPr lang="en-US" sz="1600" b="1" dirty="0">
                <a:solidFill>
                  <a:schemeClr val="tx1"/>
                </a:solidFill>
                <a:highlight>
                  <a:srgbClr val="FFD166"/>
                </a:highlight>
              </a:rPr>
              <a:t>A year later</a:t>
            </a:r>
            <a:pPr indent="0" marL="0">
              <a:buNone/>
            </a:pPr>
            <a:r>
              <a:rPr lang="en-US" sz="1600" dirty="0">
                <a:solidFill>
                  <a:schemeClr val="tx1"/>
                </a:solidFill>
              </a:rPr>
              <a:t>, aged 15, he won the 200 metres at the World Junior Championships. </a:t>
            </a:r>
            <a:pPr indent="0" marL="0">
              <a:buNone/>
            </a:pPr>
            <a:r>
              <a:rPr lang="en-US" sz="1600" b="1" dirty="0">
                <a:solidFill>
                  <a:schemeClr val="tx1"/>
                </a:solidFill>
                <a:highlight>
                  <a:srgbClr val="FFD166"/>
                </a:highlight>
              </a:rPr>
              <a:t>Eventually</a:t>
            </a:r>
            <a:pPr indent="0" marL="0">
              <a:buNone/>
            </a:pPr>
            <a:r>
              <a:rPr lang="en-US" sz="1600" dirty="0">
                <a:solidFill>
                  <a:schemeClr val="tx1"/>
                </a:solidFill>
              </a:rPr>
              <a:t>, he broke the Jamaican 200-metre record in 2007.</a:t>
            </a:r>
            <a:endParaRPr lang="en-US" sz="1600" dirty="0"/>
          </a:p>
        </p:txBody>
      </p:sp>
      <p:sp>
        <p:nvSpPr>
          <p:cNvPr id="7" name="Callout"/>
          <p:cNvSpPr/>
          <p:nvPr/>
        </p:nvSpPr>
        <p:spPr>
          <a:xfrm>
            <a:off x="457200" y="3611880"/>
            <a:ext cx="8229600" cy="502920"/>
          </a:xfrm>
          <a:prstGeom prst="roundRect">
            <a:avLst>
              <a:gd name="adj" fmla="val 21818"/>
            </a:avLst>
          </a:prstGeom>
          <a:solidFill>
            <a:schemeClr val="accent5"/>
          </a:solidFill>
          <a:ln w="9525">
            <a:solidFill>
              <a:schemeClr val="accent5"/>
            </a:solidFill>
            <a:prstDash val="solid"/>
          </a:ln>
        </p:spPr>
      </p:sp>
      <p:sp>
        <p:nvSpPr>
          <p:cNvPr id="8" name="Text 5"/>
          <p:cNvSpPr txBox="1"/>
          <p:nvPr/>
        </p:nvSpPr>
        <p:spPr>
          <a:xfrm>
            <a:off x="640080" y="3611880"/>
            <a:ext cx="7863840" cy="502920"/>
          </a:xfrm>
          <a:prstGeom prst="rect">
            <a:avLst/>
          </a:prstGeom>
          <a:noFill/>
          <a:ln/>
        </p:spPr>
        <p:txBody>
          <a:bodyPr wrap="square" lIns="0" tIns="0" rIns="0" bIns="0" rtlCol="0" anchor="ctr"/>
          <a:lstStyle/>
          <a:p>
            <a:pPr algn="ctr" indent="0" marL="0">
              <a:buNone/>
            </a:pPr>
            <a:r>
              <a:rPr lang="en-US" sz="1600" b="1" dirty="0">
                <a:solidFill>
                  <a:schemeClr val="tx1"/>
                </a:solidFill>
              </a:rPr>
              <a:t>Check: dates in order · time connectives · a comma after each time phrase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Choose the correct punctuation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indent="0" marL="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indent="0" marL="0">
              <a:buNone/>
            </a:pPr>
            <a:r>
              <a:rPr lang="en-US" sz="1500" dirty="0">
                <a:solidFill>
                  <a:schemeClr val="tx1"/>
                </a:solidFill>
              </a:rPr>
              <a:t>Later on she joined Operation Everest.</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indent="0" marL="0">
              <a:buNone/>
            </a:pPr>
            <a:r>
              <a:rPr lang="en-US" sz="1500" dirty="0">
                <a:solidFill>
                  <a:schemeClr val="tx1"/>
                </a:solidFill>
              </a:rPr>
              <a:t>Later on, she joined Operation Everest.</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indent="0" marL="0">
              <a:buNone/>
            </a:pPr>
            <a:r>
              <a:rPr lang="en-US" sz="1500" dirty="0">
                <a:solidFill>
                  <a:schemeClr val="tx1"/>
                </a:solidFill>
              </a:rPr>
              <a:t>Later on she, joined Operation Everest.</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indent="0" marL="0">
              <a:buNone/>
            </a:pPr>
            <a:r>
              <a:rPr lang="en-US" sz="1500" dirty="0">
                <a:solidFill>
                  <a:schemeClr val="tx1"/>
                </a:solidFill>
              </a:rPr>
              <a:t>Later, on she joined Operation Everest.</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algn="ctr" indent="0" marL="0">
              <a:buNone/>
            </a:pPr>
            <a:r>
              <a:rPr lang="en-US" sz="1600" b="1" dirty="0">
                <a:solidFill>
                  <a:schemeClr val="tx1"/>
                </a:solidFill>
              </a:rPr>
              <a:t>Think: where does the comma go after a time phrase?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Answer: the correct punctuation</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B</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indent="0" marL="0">
              <a:buNone/>
            </a:pPr>
            <a:r>
              <a:rPr lang="en-US" sz="1700" b="1" dirty="0">
                <a:solidFill>
                  <a:schemeClr val="tx1"/>
                </a:solidFill>
                <a:highlight>
                  <a:srgbClr val="FFD166"/>
                </a:highlight>
              </a:rPr>
              <a:t>Later on</a:t>
            </a:r>
            <a:pPr indent="0" marL="0">
              <a:buNone/>
            </a:pPr>
            <a:r>
              <a:rPr lang="en-US" sz="1700" dirty="0">
                <a:solidFill>
                  <a:schemeClr val="tx1"/>
                </a:solidFill>
              </a:rPr>
              <a:t>, she joined Operation Everest.</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indent="0" marL="0">
              <a:buNone/>
            </a:pPr>
            <a:r>
              <a:rPr lang="en-US" sz="1400" i="1" dirty="0">
                <a:solidFill>
                  <a:schemeClr val="accent4"/>
                </a:solidFill>
              </a:rPr>
              <a:t>The comma goes after the time phrase at the start of the sentence.</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indent="0" marL="0">
              <a:buNone/>
            </a:pPr>
            <a:r>
              <a:rPr lang="en-US" sz="1300" dirty="0">
                <a:solidFill>
                  <a:schemeClr val="tx1"/>
                </a:solidFill>
              </a:rPr>
              <a:t>no comma after the time phrase</a:t>
            </a:r>
            <a:endParaRPr lang="en-US" sz="1300" dirty="0"/>
          </a:p>
        </p:txBody>
      </p:sp>
      <p:sp>
        <p:nvSpPr>
          <p:cNvPr id="13" name="Why not C"/>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indent="0" marL="0">
              <a:buNone/>
            </a:pPr>
            <a:r>
              <a:rPr lang="en-US" sz="1300" dirty="0">
                <a:solidFill>
                  <a:schemeClr val="tx1"/>
                </a:solidFill>
              </a:rPr>
              <a:t>the comma is in the wrong place</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indent="0" marL="0">
              <a:buNone/>
            </a:pPr>
            <a:r>
              <a:rPr lang="en-US" sz="1300" dirty="0">
                <a:solidFill>
                  <a:schemeClr val="tx1"/>
                </a:solidFill>
              </a:rPr>
              <a:t>the comma splits the time phrase ‘later 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Your turn: plan and write a biography</a:t>
            </a:r>
            <a:endParaRPr lang="en-US" sz="3000" dirty="0"/>
          </a:p>
        </p:txBody>
      </p:sp>
      <p:sp>
        <p:nvSpPr>
          <p:cNvPr id="4" name="Plan"/>
          <p:cNvSpPr/>
          <p:nvPr/>
        </p:nvSpPr>
        <p:spPr>
          <a:xfrm>
            <a:off x="457200" y="1005840"/>
            <a:ext cx="4023360" cy="3200400"/>
          </a:xfrm>
          <a:prstGeom prst="roundRect">
            <a:avLst>
              <a:gd name="adj" fmla="val 3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Text 2"/>
          <p:cNvSpPr txBox="1"/>
          <p:nvPr/>
        </p:nvSpPr>
        <p:spPr>
          <a:xfrm>
            <a:off x="640080" y="1097280"/>
            <a:ext cx="3657600" cy="320040"/>
          </a:xfrm>
          <a:prstGeom prst="rect">
            <a:avLst/>
          </a:prstGeom>
          <a:noFill/>
          <a:ln/>
        </p:spPr>
        <p:txBody>
          <a:bodyPr wrap="square" lIns="0" tIns="0" rIns="0" bIns="0" rtlCol="0" anchor="ctr"/>
          <a:lstStyle/>
          <a:p>
            <a:pPr indent="0" marL="0">
              <a:buNone/>
            </a:pPr>
            <a:r>
              <a:rPr lang="en-US" sz="1500" b="1" dirty="0">
                <a:solidFill>
                  <a:schemeClr val="accent4"/>
                </a:solidFill>
              </a:rPr>
              <a:t>1  PLAN</a:t>
            </a:r>
            <a:endParaRPr lang="en-US" sz="1500" dirty="0"/>
          </a:p>
        </p:txBody>
      </p:sp>
      <p:sp>
        <p:nvSpPr>
          <p:cNvPr id="6" name="Text 3"/>
          <p:cNvSpPr txBox="1"/>
          <p:nvPr/>
        </p:nvSpPr>
        <p:spPr>
          <a:xfrm>
            <a:off x="640080" y="146304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Choose a person (e.g. Usain Bolt, or someone you admire).</a:t>
            </a:r>
            <a:endParaRPr lang="en-US" sz="1400" dirty="0"/>
          </a:p>
          <a:p>
            <a:pPr marL="342900" indent="-342900">
              <a:spcAft>
                <a:spcPts val="800"/>
              </a:spcAft>
              <a:buSzPct val="100000"/>
              <a:buChar char="•"/>
            </a:pPr>
            <a:r>
              <a:rPr lang="en-US" sz="1400" dirty="0">
                <a:solidFill>
                  <a:schemeClr val="tx1"/>
                </a:solidFill>
              </a:rPr>
              <a:t>Plan the events in order: a list, a timeline or cards.</a:t>
            </a:r>
            <a:endParaRPr lang="en-US" sz="1400" dirty="0"/>
          </a:p>
          <a:p>
            <a:pPr marL="342900" indent="-342900">
              <a:spcAft>
                <a:spcPts val="800"/>
              </a:spcAft>
              <a:buSzPct val="100000"/>
              <a:buChar char="•"/>
            </a:pPr>
            <a:r>
              <a:rPr lang="en-US" sz="1400" dirty="0">
                <a:solidFill>
                  <a:schemeClr val="tx1"/>
                </a:solidFill>
              </a:rPr>
              <a:t>Choose time connectives for each paragraph.</a:t>
            </a:r>
            <a:endParaRPr lang="en-US" sz="1400" dirty="0"/>
          </a:p>
        </p:txBody>
      </p:sp>
      <p:sp>
        <p:nvSpPr>
          <p:cNvPr id="7" name="Success criteria"/>
          <p:cNvSpPr/>
          <p:nvPr/>
        </p:nvSpPr>
        <p:spPr>
          <a:xfrm>
            <a:off x="4663440" y="1005840"/>
            <a:ext cx="4023360" cy="3200400"/>
          </a:xfrm>
          <a:prstGeom prst="roundRect">
            <a:avLst>
              <a:gd name="adj" fmla="val 3429"/>
            </a:avLst>
          </a:prstGeom>
          <a:solidFill>
            <a:schemeClr val="accent5"/>
          </a:solidFill>
          <a:ln w="9525">
            <a:solidFill>
              <a:schemeClr val="accent5"/>
            </a:solidFill>
            <a:prstDash val="solid"/>
          </a:ln>
        </p:spPr>
      </p:sp>
      <p:sp>
        <p:nvSpPr>
          <p:cNvPr id="8" name="Text 5"/>
          <p:cNvSpPr txBox="1"/>
          <p:nvPr/>
        </p:nvSpPr>
        <p:spPr>
          <a:xfrm>
            <a:off x="4846320" y="1097280"/>
            <a:ext cx="3657600" cy="320040"/>
          </a:xfrm>
          <a:prstGeom prst="rect">
            <a:avLst/>
          </a:prstGeom>
          <a:noFill/>
          <a:ln/>
        </p:spPr>
        <p:txBody>
          <a:bodyPr wrap="square" lIns="0" tIns="0" rIns="0" bIns="0" rtlCol="0" anchor="ctr"/>
          <a:lstStyle/>
          <a:p>
            <a:pPr indent="0" marL="0">
              <a:buNone/>
            </a:pPr>
            <a:r>
              <a:rPr lang="en-US" sz="1500" b="1" dirty="0">
                <a:solidFill>
                  <a:schemeClr val="tx1"/>
                </a:solidFill>
              </a:rPr>
              <a:t>2  WRITE: CHECK EACH ONE</a:t>
            </a:r>
            <a:endParaRPr lang="en-US" sz="1500" dirty="0"/>
          </a:p>
        </p:txBody>
      </p:sp>
      <p:sp>
        <p:nvSpPr>
          <p:cNvPr id="9" name="Text 6"/>
          <p:cNvSpPr txBox="1"/>
          <p:nvPr/>
        </p:nvSpPr>
        <p:spPr>
          <a:xfrm>
            <a:off x="4846320" y="146304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 opening statement: who the person is</a:t>
            </a:r>
            <a:endParaRPr lang="en-US" sz="1400" dirty="0"/>
          </a:p>
          <a:p>
            <a:pPr marL="342900" indent="-342900">
              <a:spcAft>
                <a:spcPts val="600"/>
              </a:spcAft>
              <a:buSzPct val="100000"/>
              <a:buChar char="•"/>
            </a:pPr>
            <a:r>
              <a:rPr lang="en-US" sz="1400" dirty="0">
                <a:solidFill>
                  <a:schemeClr val="tx1"/>
                </a:solidFill>
              </a:rPr>
              <a:t>third person (he or she, not I)</a:t>
            </a:r>
            <a:endParaRPr lang="en-US" sz="1400" dirty="0"/>
          </a:p>
          <a:p>
            <a:pPr marL="342900" indent="-342900">
              <a:spcAft>
                <a:spcPts val="600"/>
              </a:spcAft>
              <a:buSzPct val="100000"/>
              <a:buChar char="•"/>
            </a:pPr>
            <a:r>
              <a:rPr lang="en-US" sz="1400" dirty="0">
                <a:solidFill>
                  <a:schemeClr val="tx1"/>
                </a:solidFill>
              </a:rPr>
              <a:t>events in chronological order, with dates and facts</a:t>
            </a:r>
            <a:endParaRPr lang="en-US" sz="1400" dirty="0"/>
          </a:p>
          <a:p>
            <a:pPr marL="342900" indent="-342900">
              <a:spcAft>
                <a:spcPts val="600"/>
              </a:spcAft>
              <a:buSzPct val="100000"/>
              <a:buChar char="•"/>
            </a:pPr>
            <a:r>
              <a:rPr lang="en-US" sz="1400" dirty="0">
                <a:solidFill>
                  <a:schemeClr val="tx1"/>
                </a:solidFill>
              </a:rPr>
              <a:t>time connectives, with a comma after them</a:t>
            </a:r>
            <a:endParaRPr lang="en-US" sz="1400" dirty="0"/>
          </a:p>
          <a:p>
            <a:pPr marL="342900" indent="-342900">
              <a:spcAft>
                <a:spcPts val="600"/>
              </a:spcAft>
              <a:buSzPct val="100000"/>
              <a:buChar char="•"/>
            </a:pPr>
            <a:r>
              <a:rPr lang="en-US" sz="1400" dirty="0">
                <a:solidFill>
                  <a:schemeClr val="tx1"/>
                </a:solidFill>
              </a:rPr>
              <a:t>paragraphs for different sections</a:t>
            </a:r>
            <a:endParaRPr lang="en-US" sz="1400" dirty="0"/>
          </a:p>
          <a:p>
            <a:pPr marL="342900" indent="-342900">
              <a:spcAft>
                <a:spcPts val="600"/>
              </a:spcAft>
              <a:buSzPct val="100000"/>
              <a:buChar char="•"/>
            </a:pPr>
            <a:r>
              <a:rPr lang="en-US" sz="1400" dirty="0">
                <a:solidFill>
                  <a:schemeClr val="tx1"/>
                </a:solidFill>
              </a:rPr>
              <a:t>one comment as direct speech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Exit ticket</a:t>
            </a:r>
            <a:endParaRPr lang="en-US" sz="3000" dirty="0"/>
          </a:p>
        </p:txBody>
      </p:sp>
      <p:sp>
        <p:nvSpPr>
          <p:cNvPr id="4" name="Exit question 1"/>
          <p:cNvSpPr/>
          <p:nvPr/>
        </p:nvSpPr>
        <p:spPr>
          <a:xfrm>
            <a:off x="457200" y="1097280"/>
            <a:ext cx="8229600" cy="658368"/>
          </a:xfrm>
          <a:prstGeom prst="roundRect">
            <a:avLst>
              <a:gd name="adj" fmla="val 16667"/>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24358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43584"/>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7406640" cy="658368"/>
          </a:xfrm>
          <a:prstGeom prst="rect">
            <a:avLst/>
          </a:prstGeom>
          <a:noFill/>
          <a:ln/>
        </p:spPr>
        <p:txBody>
          <a:bodyPr wrap="square" lIns="0" tIns="0" rIns="0" bIns="0" rtlCol="0" anchor="ctr"/>
          <a:lstStyle/>
          <a:p>
            <a:pPr indent="0" marL="0">
              <a:buNone/>
            </a:pPr>
            <a:r>
              <a:rPr lang="en-US" sz="1600" dirty="0">
                <a:solidFill>
                  <a:schemeClr val="tx1"/>
                </a:solidFill>
              </a:rPr>
              <a:t>Give two features of a biography.</a:t>
            </a:r>
            <a:endParaRPr lang="en-US" sz="1600" dirty="0"/>
          </a:p>
        </p:txBody>
      </p:sp>
      <p:sp>
        <p:nvSpPr>
          <p:cNvPr id="8" name="Exit question 2"/>
          <p:cNvSpPr/>
          <p:nvPr/>
        </p:nvSpPr>
        <p:spPr>
          <a:xfrm>
            <a:off x="457200" y="1874520"/>
            <a:ext cx="8229600" cy="658368"/>
          </a:xfrm>
          <a:prstGeom prst="roundRect">
            <a:avLst>
              <a:gd name="adj" fmla="val 16667"/>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9" name="Badge"/>
          <p:cNvSpPr/>
          <p:nvPr/>
        </p:nvSpPr>
        <p:spPr>
          <a:xfrm>
            <a:off x="594360" y="2020824"/>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020824"/>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1874520"/>
            <a:ext cx="7406640" cy="658368"/>
          </a:xfrm>
          <a:prstGeom prst="rect">
            <a:avLst/>
          </a:prstGeom>
          <a:noFill/>
          <a:ln/>
        </p:spPr>
        <p:txBody>
          <a:bodyPr wrap="square" lIns="0" tIns="0" rIns="0" bIns="0" rtlCol="0" anchor="ctr"/>
          <a:lstStyle/>
          <a:p>
            <a:pPr indent="0" marL="0">
              <a:buNone/>
            </a:pPr>
            <a:r>
              <a:rPr lang="en-US" sz="1600" dirty="0">
                <a:solidFill>
                  <a:schemeClr val="tx1"/>
                </a:solidFill>
              </a:rPr>
              <a:t>Put in order: Trained in Darjeeling · Attended school · Reached the summit.</a:t>
            </a:r>
            <a:endParaRPr lang="en-US" sz="1600" dirty="0"/>
          </a:p>
        </p:txBody>
      </p:sp>
      <p:sp>
        <p:nvSpPr>
          <p:cNvPr id="12" name="Exit question 3"/>
          <p:cNvSpPr/>
          <p:nvPr/>
        </p:nvSpPr>
        <p:spPr>
          <a:xfrm>
            <a:off x="457200" y="2651760"/>
            <a:ext cx="8229600" cy="658368"/>
          </a:xfrm>
          <a:prstGeom prst="roundRect">
            <a:avLst>
              <a:gd name="adj" fmla="val 16667"/>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3" name="Badge"/>
          <p:cNvSpPr/>
          <p:nvPr/>
        </p:nvSpPr>
        <p:spPr>
          <a:xfrm>
            <a:off x="594360" y="2798064"/>
            <a:ext cx="365760" cy="365760"/>
          </a:xfrm>
          <a:prstGeom prst="ellipse">
            <a:avLst/>
          </a:prstGeom>
          <a:solidFill>
            <a:schemeClr val="accent3"/>
          </a:solidFill>
          <a:ln w="6350">
            <a:solidFill>
              <a:schemeClr val="accent3"/>
            </a:solidFill>
            <a:prstDash val="solid"/>
          </a:ln>
        </p:spPr>
      </p:sp>
      <p:sp>
        <p:nvSpPr>
          <p:cNvPr id="14" name="Text 11"/>
          <p:cNvSpPr txBox="1"/>
          <p:nvPr/>
        </p:nvSpPr>
        <p:spPr>
          <a:xfrm>
            <a:off x="594360" y="2798064"/>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43000" y="2651760"/>
            <a:ext cx="7406640" cy="658368"/>
          </a:xfrm>
          <a:prstGeom prst="rect">
            <a:avLst/>
          </a:prstGeom>
          <a:noFill/>
          <a:ln/>
        </p:spPr>
        <p:txBody>
          <a:bodyPr wrap="square" lIns="0" tIns="0" rIns="0" bIns="0" rtlCol="0" anchor="ctr"/>
          <a:lstStyle/>
          <a:p>
            <a:pPr indent="0" marL="0">
              <a:buNone/>
            </a:pPr>
            <a:r>
              <a:rPr lang="en-US" sz="1600" dirty="0">
                <a:solidFill>
                  <a:schemeClr val="tx1"/>
                </a:solidFill>
              </a:rPr>
              <a:t>Write a sentence with a time connective. Add the comma.</a:t>
            </a:r>
            <a:endParaRPr lang="en-US" sz="1600" dirty="0"/>
          </a:p>
        </p:txBody>
      </p:sp>
      <p:sp>
        <p:nvSpPr>
          <p:cNvPr id="16" name="Text 13"/>
          <p:cNvSpPr txBox="1"/>
          <p:nvPr/>
        </p:nvSpPr>
        <p:spPr>
          <a:xfrm>
            <a:off x="457200" y="3520440"/>
            <a:ext cx="5029200" cy="640080"/>
          </a:xfrm>
          <a:prstGeom prst="rect">
            <a:avLst/>
          </a:prstGeom>
          <a:noFill/>
          <a:ln/>
        </p:spPr>
        <p:txBody>
          <a:bodyPr wrap="square" lIns="0" tIns="0" rIns="0" bIns="0" rtlCol="0" anchor="ctr"/>
          <a:lstStyle/>
          <a:p>
            <a:pPr indent="0" marL="0">
              <a:buNone/>
            </a:pPr>
            <a:r>
              <a:rPr lang="en-US" sz="1700" b="1" dirty="0">
                <a:solidFill>
                  <a:schemeClr val="bg1"/>
                </a:solidFill>
              </a:rPr>
              <a:t>How confident do you feel about chronological order?</a:t>
            </a:r>
            <a:endParaRPr lang="en-US" sz="1700" dirty="0"/>
          </a:p>
        </p:txBody>
      </p:sp>
      <p:sp>
        <p:nvSpPr>
          <p:cNvPr id="17" name="Traffic light"/>
          <p:cNvSpPr/>
          <p:nvPr/>
        </p:nvSpPr>
        <p:spPr>
          <a:xfrm>
            <a:off x="5669280" y="3474720"/>
            <a:ext cx="548640" cy="548640"/>
          </a:xfrm>
          <a:prstGeom prst="ellipse">
            <a:avLst/>
          </a:prstGeom>
          <a:solidFill>
            <a:schemeClr val="accent2"/>
          </a:solidFill>
          <a:ln w="6350">
            <a:solidFill>
              <a:schemeClr val="accent2"/>
            </a:solidFill>
            <a:prstDash val="solid"/>
          </a:ln>
        </p:spPr>
      </p:sp>
      <p:sp>
        <p:nvSpPr>
          <p:cNvPr id="18" name="Text 15"/>
          <p:cNvSpPr txBox="1"/>
          <p:nvPr/>
        </p:nvSpPr>
        <p:spPr>
          <a:xfrm>
            <a:off x="5486400" y="4069080"/>
            <a:ext cx="914400" cy="274320"/>
          </a:xfrm>
          <a:prstGeom prst="rect">
            <a:avLst/>
          </a:prstGeom>
          <a:noFill/>
          <a:ln/>
        </p:spPr>
        <p:txBody>
          <a:bodyPr wrap="square" lIns="0" tIns="0" rIns="0" bIns="0" rtlCol="0" anchor="ctr"/>
          <a:lstStyle/>
          <a:p>
            <a:pPr algn="ctr" indent="0" marL="0">
              <a:buNone/>
            </a:pPr>
            <a:r>
              <a:rPr lang="en-US" sz="1200" dirty="0">
                <a:solidFill>
                  <a:schemeClr val="bg1"/>
                </a:solidFill>
              </a:rPr>
              <a:t>Got it!</a:t>
            </a:r>
            <a:endParaRPr lang="en-US" sz="1200" dirty="0"/>
          </a:p>
        </p:txBody>
      </p:sp>
      <p:sp>
        <p:nvSpPr>
          <p:cNvPr id="19" name="Traffic light"/>
          <p:cNvSpPr/>
          <p:nvPr/>
        </p:nvSpPr>
        <p:spPr>
          <a:xfrm>
            <a:off x="6766560" y="3474720"/>
            <a:ext cx="548640" cy="548640"/>
          </a:xfrm>
          <a:prstGeom prst="ellipse">
            <a:avLst/>
          </a:prstGeom>
          <a:solidFill>
            <a:schemeClr val="accent5"/>
          </a:solidFill>
          <a:ln w="6350">
            <a:solidFill>
              <a:schemeClr val="accent5"/>
            </a:solidFill>
            <a:prstDash val="solid"/>
          </a:ln>
        </p:spPr>
      </p:sp>
      <p:sp>
        <p:nvSpPr>
          <p:cNvPr id="20" name="Text 17"/>
          <p:cNvSpPr txBox="1"/>
          <p:nvPr/>
        </p:nvSpPr>
        <p:spPr>
          <a:xfrm>
            <a:off x="6583680" y="4069080"/>
            <a:ext cx="914400" cy="274320"/>
          </a:xfrm>
          <a:prstGeom prst="rect">
            <a:avLst/>
          </a:prstGeom>
          <a:noFill/>
          <a:ln/>
        </p:spPr>
        <p:txBody>
          <a:bodyPr wrap="square" lIns="0" tIns="0" rIns="0" bIns="0" rtlCol="0" anchor="ctr"/>
          <a:lstStyle/>
          <a:p>
            <a:pPr algn="ctr" indent="0" marL="0">
              <a:buNone/>
            </a:pPr>
            <a:r>
              <a:rPr lang="en-US" sz="1200" dirty="0">
                <a:solidFill>
                  <a:schemeClr val="bg1"/>
                </a:solidFill>
              </a:rPr>
              <a:t>Nearly</a:t>
            </a:r>
            <a:endParaRPr lang="en-US" sz="1200" dirty="0"/>
          </a:p>
        </p:txBody>
      </p:sp>
      <p:sp>
        <p:nvSpPr>
          <p:cNvPr id="21" name="Traffic light"/>
          <p:cNvSpPr/>
          <p:nvPr/>
        </p:nvSpPr>
        <p:spPr>
          <a:xfrm>
            <a:off x="7863840" y="3474720"/>
            <a:ext cx="548640" cy="548640"/>
          </a:xfrm>
          <a:prstGeom prst="ellipse">
            <a:avLst/>
          </a:prstGeom>
          <a:solidFill>
            <a:schemeClr val="accent3"/>
          </a:solidFill>
          <a:ln w="6350">
            <a:solidFill>
              <a:schemeClr val="accent3"/>
            </a:solidFill>
            <a:prstDash val="solid"/>
          </a:ln>
        </p:spPr>
      </p:sp>
      <p:sp>
        <p:nvSpPr>
          <p:cNvPr id="22" name="Text 19"/>
          <p:cNvSpPr txBox="1"/>
          <p:nvPr/>
        </p:nvSpPr>
        <p:spPr>
          <a:xfrm>
            <a:off x="7680960" y="4069080"/>
            <a:ext cx="914400" cy="274320"/>
          </a:xfrm>
          <a:prstGeom prst="rect">
            <a:avLst/>
          </a:prstGeom>
          <a:noFill/>
          <a:ln/>
        </p:spPr>
        <p:txBody>
          <a:bodyPr wrap="square" lIns="0" tIns="0" rIns="0" bIns="0" rtlCol="0" anchor="ctr"/>
          <a:lstStyle/>
          <a:p>
            <a:pPr algn="ctr" indent="0" marL="0">
              <a:buNone/>
            </a:pPr>
            <a:r>
              <a:rPr lang="en-US" sz="1200" dirty="0">
                <a:solidFill>
                  <a:schemeClr val="bg1"/>
                </a:solidFill>
              </a:rPr>
              <a:t>Need help</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accent5"/>
                </a:solidFill>
              </a:rPr>
              <a:t>Model answers: exit ticket</a:t>
            </a:r>
            <a:endParaRPr lang="en-US" sz="3000" dirty="0"/>
          </a:p>
        </p:txBody>
      </p:sp>
      <p:sp>
        <p:nvSpPr>
          <p:cNvPr id="4" name="Exit model 1"/>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3898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389888"/>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2011680" cy="960120"/>
          </a:xfrm>
          <a:prstGeom prst="rect">
            <a:avLst/>
          </a:prstGeom>
          <a:noFill/>
          <a:ln/>
        </p:spPr>
        <p:txBody>
          <a:bodyPr wrap="square" lIns="0" tIns="0" rIns="0" bIns="0" rtlCol="0" anchor="ctr"/>
          <a:lstStyle/>
          <a:p>
            <a:pPr indent="0" marL="0">
              <a:buNone/>
            </a:pPr>
            <a:r>
              <a:rPr lang="en-US" sz="1500" b="1" dirty="0">
                <a:solidFill>
                  <a:schemeClr val="accent4"/>
                </a:solidFill>
              </a:rPr>
              <a:t>Two features</a:t>
            </a:r>
            <a:endParaRPr lang="en-US" sz="1500" dirty="0"/>
          </a:p>
        </p:txBody>
      </p:sp>
      <p:sp>
        <p:nvSpPr>
          <p:cNvPr id="8" name="Text 5"/>
          <p:cNvSpPr txBox="1"/>
          <p:nvPr/>
        </p:nvSpPr>
        <p:spPr>
          <a:xfrm>
            <a:off x="3200400" y="1097280"/>
            <a:ext cx="5303520" cy="960120"/>
          </a:xfrm>
          <a:prstGeom prst="rect">
            <a:avLst/>
          </a:prstGeom>
          <a:noFill/>
          <a:ln/>
        </p:spPr>
        <p:txBody>
          <a:bodyPr wrap="square" lIns="0" tIns="0" rIns="0" bIns="0" rtlCol="0" anchor="ctr"/>
          <a:lstStyle/>
          <a:p>
            <a:pPr indent="0" marL="0">
              <a:buNone/>
            </a:pPr>
            <a:r>
              <a:rPr lang="en-US" sz="1400" dirty="0">
                <a:solidFill>
                  <a:schemeClr val="tx1"/>
                </a:solidFill>
              </a:rPr>
              <a:t>Written in the third person · events in chronological order · dates and facts · paragraphs · a caption · direct speech (any two).</a:t>
            </a:r>
            <a:endParaRPr lang="en-US" sz="1400" dirty="0"/>
          </a:p>
        </p:txBody>
      </p:sp>
      <p:sp>
        <p:nvSpPr>
          <p:cNvPr id="9" name="Exit model 2"/>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94360" y="248716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87168"/>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94560"/>
            <a:ext cx="2011680" cy="960120"/>
          </a:xfrm>
          <a:prstGeom prst="rect">
            <a:avLst/>
          </a:prstGeom>
          <a:noFill/>
          <a:ln/>
        </p:spPr>
        <p:txBody>
          <a:bodyPr wrap="square" lIns="0" tIns="0" rIns="0" bIns="0" rtlCol="0" anchor="ctr"/>
          <a:lstStyle/>
          <a:p>
            <a:pPr indent="0" marL="0">
              <a:buNone/>
            </a:pPr>
            <a:r>
              <a:rPr lang="en-US" sz="1500" b="1" dirty="0">
                <a:solidFill>
                  <a:schemeClr val="accent4"/>
                </a:solidFill>
              </a:rPr>
              <a:t>In order</a:t>
            </a:r>
            <a:endParaRPr lang="en-US" sz="1500" dirty="0"/>
          </a:p>
        </p:txBody>
      </p:sp>
      <p:sp>
        <p:nvSpPr>
          <p:cNvPr id="13" name="Text 10"/>
          <p:cNvSpPr txBox="1"/>
          <p:nvPr/>
        </p:nvSpPr>
        <p:spPr>
          <a:xfrm>
            <a:off x="3200400" y="2194560"/>
            <a:ext cx="5303520" cy="960120"/>
          </a:xfrm>
          <a:prstGeom prst="rect">
            <a:avLst/>
          </a:prstGeom>
          <a:noFill/>
          <a:ln/>
        </p:spPr>
        <p:txBody>
          <a:bodyPr wrap="square" lIns="0" tIns="0" rIns="0" bIns="0" rtlCol="0" anchor="ctr"/>
          <a:lstStyle/>
          <a:p>
            <a:pPr indent="0" marL="0">
              <a:buNone/>
            </a:pPr>
            <a:r>
              <a:rPr lang="en-US" sz="1400" dirty="0">
                <a:solidFill>
                  <a:schemeClr val="tx1"/>
                </a:solidFill>
              </a:rPr>
              <a:t>1 Attended school → 2 Trained in Darjeeling → 3 Reached the summit</a:t>
            </a:r>
            <a:endParaRPr lang="en-US" sz="1400" dirty="0"/>
          </a:p>
        </p:txBody>
      </p:sp>
      <p:sp>
        <p:nvSpPr>
          <p:cNvPr id="14" name="Exit model 3"/>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5" name="Badge"/>
          <p:cNvSpPr/>
          <p:nvPr/>
        </p:nvSpPr>
        <p:spPr>
          <a:xfrm>
            <a:off x="594360" y="3584448"/>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584448"/>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3291840"/>
            <a:ext cx="2011680" cy="960120"/>
          </a:xfrm>
          <a:prstGeom prst="rect">
            <a:avLst/>
          </a:prstGeom>
          <a:noFill/>
          <a:ln/>
        </p:spPr>
        <p:txBody>
          <a:bodyPr wrap="square" lIns="0" tIns="0" rIns="0" bIns="0" rtlCol="0" anchor="ctr"/>
          <a:lstStyle/>
          <a:p>
            <a:pPr indent="0" marL="0">
              <a:buNone/>
            </a:pPr>
            <a:r>
              <a:rPr lang="en-US" sz="1500" b="1" dirty="0">
                <a:solidFill>
                  <a:schemeClr val="accent4"/>
                </a:solidFill>
              </a:rPr>
              <a:t>A sentence</a:t>
            </a:r>
            <a:endParaRPr lang="en-US" sz="1500" dirty="0"/>
          </a:p>
        </p:txBody>
      </p:sp>
      <p:sp>
        <p:nvSpPr>
          <p:cNvPr id="18" name="Text 15"/>
          <p:cNvSpPr txBox="1"/>
          <p:nvPr/>
        </p:nvSpPr>
        <p:spPr>
          <a:xfrm>
            <a:off x="3200400" y="3291840"/>
            <a:ext cx="5303520" cy="960120"/>
          </a:xfrm>
          <a:prstGeom prst="rect">
            <a:avLst/>
          </a:prstGeom>
          <a:noFill/>
          <a:ln/>
        </p:spPr>
        <p:txBody>
          <a:bodyPr wrap="square" lIns="0" tIns="0" rIns="0" bIns="0" rtlCol="0" anchor="ctr"/>
          <a:lstStyle/>
          <a:p>
            <a:pPr indent="0" marL="0">
              <a:buNone/>
            </a:pPr>
            <a:r>
              <a:rPr lang="en-US" sz="1400" dirty="0">
                <a:solidFill>
                  <a:schemeClr val="tx1"/>
                </a:solidFill>
              </a:rPr>
              <a:t>After that, she joined the Italian Air Force.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4"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3000" b="1" dirty="0">
                <a:solidFill>
                  <a:schemeClr val="tx1"/>
                </a:solidFill>
              </a:rPr>
              <a:t>Homework</a:t>
            </a:r>
            <a:endParaRPr lang="en-US" sz="3000" dirty="0"/>
          </a:p>
        </p:txBody>
      </p:sp>
      <p:sp>
        <p:nvSpPr>
          <p:cNvPr id="4" name="Homework task 1"/>
          <p:cNvSpPr/>
          <p:nvPr/>
        </p:nvSpPr>
        <p:spPr>
          <a:xfrm>
            <a:off x="457200" y="1051560"/>
            <a:ext cx="8229600" cy="804672"/>
          </a:xfrm>
          <a:prstGeom prst="roundRect">
            <a:avLst>
              <a:gd name="adj" fmla="val 13636"/>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5" name="Badge"/>
          <p:cNvSpPr/>
          <p:nvPr/>
        </p:nvSpPr>
        <p:spPr>
          <a:xfrm>
            <a:off x="594360" y="1271016"/>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71016"/>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51560"/>
            <a:ext cx="2011680" cy="804672"/>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Write</a:t>
            </a:r>
            <a:endParaRPr lang="en-US" sz="1600" dirty="0"/>
          </a:p>
        </p:txBody>
      </p:sp>
      <p:sp>
        <p:nvSpPr>
          <p:cNvPr id="8" name="Text 5"/>
          <p:cNvSpPr txBox="1"/>
          <p:nvPr/>
        </p:nvSpPr>
        <p:spPr>
          <a:xfrm>
            <a:off x="3154680" y="1051560"/>
            <a:ext cx="5394960" cy="804672"/>
          </a:xfrm>
          <a:prstGeom prst="rect">
            <a:avLst/>
          </a:prstGeom>
          <a:noFill/>
          <a:ln/>
        </p:spPr>
        <p:txBody>
          <a:bodyPr wrap="square" lIns="0" tIns="0" rIns="0" bIns="0" rtlCol="0" anchor="ctr"/>
          <a:lstStyle/>
          <a:p>
            <a:pPr indent="0" marL="0">
              <a:buNone/>
            </a:pPr>
            <a:r>
              <a:rPr lang="en-US" sz="1400" dirty="0">
                <a:solidFill>
                  <a:schemeClr val="tx1"/>
                </a:solidFill>
              </a:rPr>
              <a:t>Finish your biography. Check it against the success criteria.</a:t>
            </a:r>
            <a:endParaRPr lang="en-US" sz="1400" dirty="0"/>
          </a:p>
        </p:txBody>
      </p:sp>
      <p:sp>
        <p:nvSpPr>
          <p:cNvPr id="9" name="Homework task 2"/>
          <p:cNvSpPr/>
          <p:nvPr/>
        </p:nvSpPr>
        <p:spPr>
          <a:xfrm>
            <a:off x="457200" y="1965960"/>
            <a:ext cx="8229600" cy="804672"/>
          </a:xfrm>
          <a:prstGeom prst="roundRect">
            <a:avLst>
              <a:gd name="adj" fmla="val 13636"/>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0" name="Badge"/>
          <p:cNvSpPr/>
          <p:nvPr/>
        </p:nvSpPr>
        <p:spPr>
          <a:xfrm>
            <a:off x="594360" y="218541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185416"/>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1965960"/>
            <a:ext cx="2011680" cy="804672"/>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Time connectives</a:t>
            </a:r>
            <a:endParaRPr lang="en-US" sz="1600" dirty="0"/>
          </a:p>
        </p:txBody>
      </p:sp>
      <p:sp>
        <p:nvSpPr>
          <p:cNvPr id="13" name="Text 10"/>
          <p:cNvSpPr txBox="1"/>
          <p:nvPr/>
        </p:nvSpPr>
        <p:spPr>
          <a:xfrm>
            <a:off x="3154680" y="1965960"/>
            <a:ext cx="5394960" cy="804672"/>
          </a:xfrm>
          <a:prstGeom prst="rect">
            <a:avLst/>
          </a:prstGeom>
          <a:noFill/>
          <a:ln/>
        </p:spPr>
        <p:txBody>
          <a:bodyPr wrap="square" lIns="0" tIns="0" rIns="0" bIns="0" rtlCol="0" anchor="ctr"/>
          <a:lstStyle/>
          <a:p>
            <a:pPr indent="0" marL="0">
              <a:buNone/>
            </a:pPr>
            <a:r>
              <a:rPr lang="en-US" sz="1400" dirty="0">
                <a:solidFill>
                  <a:schemeClr val="tx1"/>
                </a:solidFill>
              </a:rPr>
              <a:t>Write five sentences about a person’s life, each starting with a different time connective. Add the commas.</a:t>
            </a:r>
            <a:endParaRPr lang="en-US" sz="1400" dirty="0"/>
          </a:p>
        </p:txBody>
      </p:sp>
      <p:sp>
        <p:nvSpPr>
          <p:cNvPr id="14" name="Homework task 3"/>
          <p:cNvSpPr/>
          <p:nvPr/>
        </p:nvSpPr>
        <p:spPr>
          <a:xfrm>
            <a:off x="457200" y="2880360"/>
            <a:ext cx="8229600" cy="804672"/>
          </a:xfrm>
          <a:prstGeom prst="roundRect">
            <a:avLst>
              <a:gd name="adj" fmla="val 13636"/>
            </a:avLst>
          </a:prstGeom>
          <a:solidFill>
            <a:schemeClr val="bg1"/>
          </a:solidFill>
          <a:ln w="9525">
            <a:solidFill>
              <a:schemeClr val="bg1"/>
            </a:solidFill>
            <a:prstDash val="solid"/>
          </a:ln>
          <a:effectLst>
            <a:outerShdw sx="100000" sy="100000" kx="0" ky="0" algn="bl" rotWithShape="0" blurRad="76200" dist="25400" dir="5400000">
              <a:srgbClr val="0E1537">
                <a:alpha val="14000"/>
              </a:srgbClr>
            </a:outerShdw>
          </a:effectLst>
        </p:spPr>
      </p:sp>
      <p:sp>
        <p:nvSpPr>
          <p:cNvPr id="15" name="Badge"/>
          <p:cNvSpPr/>
          <p:nvPr/>
        </p:nvSpPr>
        <p:spPr>
          <a:xfrm>
            <a:off x="594360" y="3099816"/>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099816"/>
            <a:ext cx="3657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2880360"/>
            <a:ext cx="2011680" cy="804672"/>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Words</a:t>
            </a:r>
            <a:endParaRPr lang="en-US" sz="1600" dirty="0"/>
          </a:p>
        </p:txBody>
      </p:sp>
      <p:sp>
        <p:nvSpPr>
          <p:cNvPr id="18" name="Text 15"/>
          <p:cNvSpPr txBox="1"/>
          <p:nvPr/>
        </p:nvSpPr>
        <p:spPr>
          <a:xfrm>
            <a:off x="3154680" y="2880360"/>
            <a:ext cx="5394960" cy="804672"/>
          </a:xfrm>
          <a:prstGeom prst="rect">
            <a:avLst/>
          </a:prstGeom>
          <a:noFill/>
          <a:ln/>
        </p:spPr>
        <p:txBody>
          <a:bodyPr wrap="square" lIns="0" tIns="0" rIns="0" bIns="0" rtlCol="0" anchor="ctr"/>
          <a:lstStyle/>
          <a:p>
            <a:pPr indent="0" marL="0">
              <a:buNone/>
            </a:pPr>
            <a:r>
              <a:rPr lang="en-US" sz="1400" dirty="0">
                <a:solidFill>
                  <a:schemeClr val="tx1"/>
                </a:solidFill>
              </a:rPr>
              <a:t>Learn residential school, expedition and summit. Write one sentence for each.</a:t>
            </a:r>
            <a:endParaRPr lang="en-US" sz="1400" dirty="0"/>
          </a:p>
        </p:txBody>
      </p:sp>
      <p:sp>
        <p:nvSpPr>
          <p:cNvPr id="19" name="Challenge"/>
          <p:cNvSpPr/>
          <p:nvPr/>
        </p:nvSpPr>
        <p:spPr>
          <a:xfrm>
            <a:off x="457200" y="3886200"/>
            <a:ext cx="8229600" cy="731520"/>
          </a:xfrm>
          <a:prstGeom prst="roundRect">
            <a:avLst>
              <a:gd name="adj" fmla="val 15000"/>
            </a:avLst>
          </a:prstGeom>
          <a:solidFill>
            <a:schemeClr val="accent5"/>
          </a:solidFill>
          <a:ln w="9525">
            <a:solidFill>
              <a:schemeClr val="accent5"/>
            </a:solidFill>
            <a:prstDash val="solid"/>
          </a:ln>
        </p:spPr>
      </p:sp>
      <p:sp>
        <p:nvSpPr>
          <p:cNvPr id="20" name="Text 17"/>
          <p:cNvSpPr txBox="1"/>
          <p:nvPr/>
        </p:nvSpPr>
        <p:spPr>
          <a:xfrm>
            <a:off x="640080" y="3886200"/>
            <a:ext cx="7863840" cy="731520"/>
          </a:xfrm>
          <a:prstGeom prst="rect">
            <a:avLst/>
          </a:prstGeom>
          <a:noFill/>
          <a:ln/>
        </p:spPr>
        <p:txBody>
          <a:bodyPr wrap="square" lIns="0" tIns="0" rIns="0" bIns="0" rtlCol="0" anchor="ctr"/>
          <a:lstStyle/>
          <a:p>
            <a:pPr indent="0" marL="0">
              <a:buNone/>
            </a:pPr>
            <a:r>
              <a:rPr lang="en-US" sz="1400" b="1" dirty="0">
                <a:solidFill>
                  <a:schemeClr val="tx1"/>
                </a:solidFill>
              </a:rPr>
              <a:t>CHALLENGE: </a:t>
            </a:r>
            <a:pPr indent="0" marL="0">
              <a:buNone/>
            </a:pPr>
            <a:r>
              <a:rPr lang="en-US" sz="1400" dirty="0">
                <a:solidFill>
                  <a:schemeClr val="tx1"/>
                </a:solidFill>
              </a:rPr>
              <a:t>Interview a family member about their life. Write three questions and their answers as direct speech.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Space Explorers">
  <a:themeElements>
    <a:clrScheme name="Space Explorers">
      <a:dk1>
        <a:srgbClr val="0E1537"/>
      </a:dk1>
      <a:lt1>
        <a:srgbClr val="FFFFFF"/>
      </a:lt1>
      <a:dk2>
        <a:srgbClr val="3A3F85"/>
      </a:dk2>
      <a:lt2>
        <a:srgbClr val="F1F3FF"/>
      </a:lt2>
      <a:accent1>
        <a:srgbClr val="FF8A3D"/>
      </a:accent1>
      <a:accent2>
        <a:srgbClr val="2EC4B6"/>
      </a:accent2>
      <a:accent3>
        <a:srgbClr val="FF6B8B"/>
      </a:accent3>
      <a:accent4>
        <a:srgbClr val="7B5CE0"/>
      </a:accent4>
      <a:accent5>
        <a:srgbClr val="FFD166"/>
      </a:accent5>
      <a:accent6>
        <a:srgbClr val="4CC9F0"/>
      </a:accent6>
      <a:hlink>
        <a:srgbClr val="4CC9F0"/>
      </a:hlink>
      <a:folHlink>
        <a:srgbClr val="7B5CE0"/>
      </a:folHlink>
    </a:clrScheme>
    <a:fontScheme name="Space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Another Biography – Year 5 Unit 2 Lesson 2.8 Part 2</dc:title>
  <dc:subject>PptxGenJS Presentation</dc:subject>
  <dc:creator>Year 5 English</dc:creator>
  <cp:lastModifiedBy>Year 5 English</cp:lastModifiedBy>
  <cp:revision>1</cp:revision>
  <dcterms:created xsi:type="dcterms:W3CDTF">2026-10-26T04:23:41Z</dcterms:created>
  <dcterms:modified xsi:type="dcterms:W3CDTF">2026-10-26T04:23:41Z</dcterms:modified>
</cp:coreProperties>
</file>