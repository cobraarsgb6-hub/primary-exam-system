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2922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D9A441"/>
          </a:solidFill>
          <a:ln/>
        </p:spPr>
      </p:sp>
      <p:sp>
        <p:nvSpPr>
          <p:cNvPr id="3" name="Shape 1"/>
          <p:cNvSpPr/>
          <p:nvPr/>
        </p:nvSpPr>
        <p:spPr>
          <a:xfrm>
            <a:off x="8412480" y="914400"/>
            <a:ext cx="3108960" cy="3108960"/>
          </a:xfrm>
          <a:prstGeom prst="ellipse">
            <a:avLst/>
          </a:prstGeom>
          <a:solidFill>
            <a:srgbClr val="2B4257"/>
          </a:solidFill>
          <a:ln/>
        </p:spPr>
      </p:sp>
      <p:sp>
        <p:nvSpPr>
          <p:cNvPr id="4" name="Text 2"/>
          <p:cNvSpPr txBox="1"/>
          <p:nvPr/>
        </p:nvSpPr>
        <p:spPr>
          <a:xfrm>
            <a:off x="8412480" y="914400"/>
            <a:ext cx="3108960" cy="3108960"/>
          </a:xfrm>
          <a:prstGeom prst="rect">
            <a:avLst/>
          </a:prstGeom>
          <a:noFill/>
          <a:ln/>
        </p:spPr>
        <p:txBody>
          <a:bodyPr wrap="square" lIns="0" tIns="0" rIns="0" bIns="0" rtlCol="0" anchor="ctr"/>
          <a:lstStyle/>
          <a:p>
            <a:pPr marL="0" indent="0" algn="ctr">
              <a:buNone/>
            </a:pPr>
            <a:r>
              <a:rPr lang="en-US" sz="9600" dirty="0">
                <a:solidFill>
                  <a:srgbClr val="000000"/>
                </a:solidFill>
              </a:rPr>
              <a:t>🕵️</a:t>
            </a:r>
            <a:endParaRPr lang="en-US" sz="9600" dirty="0"/>
          </a:p>
        </p:txBody>
      </p:sp>
      <p:sp>
        <p:nvSpPr>
          <p:cNvPr id="5" name="Text 3"/>
          <p:cNvSpPr txBox="1"/>
          <p:nvPr/>
        </p:nvSpPr>
        <p:spPr>
          <a:xfrm>
            <a:off x="731520" y="822960"/>
            <a:ext cx="73152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FABLE DETECTIVES</a:t>
            </a:r>
            <a:endParaRPr lang="en-US" sz="4400" dirty="0"/>
          </a:p>
        </p:txBody>
      </p:sp>
      <p:sp>
        <p:nvSpPr>
          <p:cNvPr id="6" name="Text 4"/>
          <p:cNvSpPr txBox="1"/>
          <p:nvPr/>
        </p:nvSpPr>
        <p:spPr>
          <a:xfrm>
            <a:off x="731520" y="1737360"/>
            <a:ext cx="7315200" cy="822960"/>
          </a:xfrm>
          <a:prstGeom prst="rect">
            <a:avLst/>
          </a:prstGeom>
          <a:noFill/>
          <a:ln/>
        </p:spPr>
        <p:txBody>
          <a:bodyPr wrap="square" lIns="0" tIns="0" rIns="0" bIns="0" rtlCol="0" anchor="t"/>
          <a:lstStyle/>
          <a:p>
            <a:pPr marL="0" indent="0">
              <a:buNone/>
            </a:pPr>
            <a:r>
              <a:rPr lang="en-US" sz="2200" b="1" dirty="0">
                <a:solidFill>
                  <a:srgbClr val="D9A441"/>
                </a:solidFill>
                <a:latin typeface="Calibri" pitchFamily="34" charset="0"/>
                <a:ea typeface="Calibri" pitchFamily="34" charset="-122"/>
                <a:cs typeface="Calibri" pitchFamily="34" charset="-120"/>
              </a:rPr>
              <a:t>Case File 1 · Animals Who Act Like People</a:t>
            </a:r>
            <a:endParaRPr lang="en-US" sz="2200" dirty="0"/>
          </a:p>
        </p:txBody>
      </p:sp>
      <p:sp>
        <p:nvSpPr>
          <p:cNvPr id="7" name="Text 5"/>
          <p:cNvSpPr txBox="1"/>
          <p:nvPr/>
        </p:nvSpPr>
        <p:spPr>
          <a:xfrm>
            <a:off x="731520" y="2651760"/>
            <a:ext cx="7315200" cy="320040"/>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Story Features 1.3 · </a:t>
            </a:r>
            <a:endParaRPr lang="en-US" sz="1400" dirty="0"/>
          </a:p>
        </p:txBody>
      </p:sp>
      <p:sp>
        <p:nvSpPr>
          <p:cNvPr id="8" name="Shape 6"/>
          <p:cNvSpPr/>
          <p:nvPr/>
        </p:nvSpPr>
        <p:spPr>
          <a:xfrm>
            <a:off x="731520" y="3291840"/>
            <a:ext cx="2331720" cy="1097280"/>
          </a:xfrm>
          <a:prstGeom prst="roundRect">
            <a:avLst>
              <a:gd name="adj" fmla="val 8333"/>
            </a:avLst>
          </a:prstGeom>
          <a:solidFill>
            <a:srgbClr val="FFFFFF"/>
          </a:solidFill>
          <a:ln/>
        </p:spPr>
      </p:sp>
      <p:sp>
        <p:nvSpPr>
          <p:cNvPr id="9" name="Shape 7"/>
          <p:cNvSpPr/>
          <p:nvPr/>
        </p:nvSpPr>
        <p:spPr>
          <a:xfrm>
            <a:off x="731520" y="3383280"/>
            <a:ext cx="64008" cy="914400"/>
          </a:xfrm>
          <a:prstGeom prst="rect">
            <a:avLst/>
          </a:prstGeom>
          <a:solidFill>
            <a:srgbClr val="C0674F"/>
          </a:solidFill>
          <a:ln/>
        </p:spPr>
      </p:sp>
      <p:sp>
        <p:nvSpPr>
          <p:cNvPr id="10" name="Text 8"/>
          <p:cNvSpPr txBox="1"/>
          <p:nvPr/>
        </p:nvSpPr>
        <p:spPr>
          <a:xfrm>
            <a:off x="914400" y="3291840"/>
            <a:ext cx="2057400" cy="1097280"/>
          </a:xfrm>
          <a:prstGeom prst="rect">
            <a:avLst/>
          </a:prstGeom>
          <a:noFill/>
          <a:ln/>
        </p:spPr>
        <p:txBody>
          <a:bodyPr wrap="square" lIns="0" tIns="0" rIns="0" bIns="0" rtlCol="0" anchor="ctr"/>
          <a:lstStyle/>
          <a:p>
            <a:pPr marL="0" indent="0">
              <a:buNone/>
            </a:pPr>
            <a:r>
              <a:rPr lang="en-US" sz="1400" b="1" dirty="0">
                <a:solidFill>
                  <a:srgbClr val="C0674F"/>
                </a:solidFill>
                <a:latin typeface="Calibri" pitchFamily="34" charset="0"/>
                <a:ea typeface="Calibri" pitchFamily="34" charset="-122"/>
                <a:cs typeface="Calibri" pitchFamily="34" charset="-120"/>
              </a:rPr>
              <a:t>I DO</a:t>
            </a:r>
            <a:endParaRPr lang="en-US" sz="1400" dirty="0"/>
          </a:p>
          <a:p>
            <a:pPr marL="0" indent="0">
              <a:buNone/>
            </a:pPr>
            <a:r>
              <a:rPr lang="en-US" sz="1600" dirty="0">
                <a:solidFill>
                  <a:srgbClr val="1B2A38"/>
                </a:solidFill>
                <a:latin typeface="Calibri" pitchFamily="34" charset="0"/>
                <a:ea typeface="Calibri" pitchFamily="34" charset="-122"/>
                <a:cs typeface="Calibri" pitchFamily="34" charset="-120"/>
              </a:rPr>
              <a:t>Watch the detective</a:t>
            </a:r>
            <a:endParaRPr lang="en-US" sz="1400" dirty="0"/>
          </a:p>
        </p:txBody>
      </p:sp>
      <p:sp>
        <p:nvSpPr>
          <p:cNvPr id="11" name="Shape 9"/>
          <p:cNvSpPr/>
          <p:nvPr/>
        </p:nvSpPr>
        <p:spPr>
          <a:xfrm>
            <a:off x="3246120" y="3291840"/>
            <a:ext cx="2331720" cy="1097280"/>
          </a:xfrm>
          <a:prstGeom prst="roundRect">
            <a:avLst>
              <a:gd name="adj" fmla="val 8333"/>
            </a:avLst>
          </a:prstGeom>
          <a:solidFill>
            <a:srgbClr val="FFFFFF"/>
          </a:solidFill>
          <a:ln/>
        </p:spPr>
      </p:sp>
      <p:sp>
        <p:nvSpPr>
          <p:cNvPr id="12" name="Shape 10"/>
          <p:cNvSpPr/>
          <p:nvPr/>
        </p:nvSpPr>
        <p:spPr>
          <a:xfrm>
            <a:off x="3246120" y="3383280"/>
            <a:ext cx="64008" cy="914400"/>
          </a:xfrm>
          <a:prstGeom prst="rect">
            <a:avLst/>
          </a:prstGeom>
          <a:solidFill>
            <a:srgbClr val="4F7CA0"/>
          </a:solidFill>
          <a:ln/>
        </p:spPr>
      </p:sp>
      <p:sp>
        <p:nvSpPr>
          <p:cNvPr id="13" name="Text 11"/>
          <p:cNvSpPr txBox="1"/>
          <p:nvPr/>
        </p:nvSpPr>
        <p:spPr>
          <a:xfrm>
            <a:off x="3429000" y="3291840"/>
            <a:ext cx="2057400" cy="1097280"/>
          </a:xfrm>
          <a:prstGeom prst="rect">
            <a:avLst/>
          </a:prstGeom>
          <a:noFill/>
          <a:ln/>
        </p:spPr>
        <p:txBody>
          <a:bodyPr wrap="square" lIns="0" tIns="0" rIns="0" bIns="0" rtlCol="0" anchor="ctr"/>
          <a:lstStyle/>
          <a:p>
            <a:pPr marL="0" indent="0">
              <a:buNone/>
            </a:pPr>
            <a:r>
              <a:rPr lang="en-US" sz="1400" b="1" dirty="0">
                <a:solidFill>
                  <a:srgbClr val="4F7CA0"/>
                </a:solidFill>
                <a:latin typeface="Calibri" pitchFamily="34" charset="0"/>
                <a:ea typeface="Calibri" pitchFamily="34" charset="-122"/>
                <a:cs typeface="Calibri" pitchFamily="34" charset="-120"/>
              </a:rPr>
              <a:t>WE DO</a:t>
            </a:r>
            <a:endParaRPr lang="en-US" sz="1400" dirty="0"/>
          </a:p>
          <a:p>
            <a:pPr marL="0" indent="0">
              <a:buNone/>
            </a:pPr>
            <a:r>
              <a:rPr lang="en-US" sz="1600" dirty="0">
                <a:solidFill>
                  <a:srgbClr val="1B2A38"/>
                </a:solidFill>
                <a:latin typeface="Calibri" pitchFamily="34" charset="0"/>
                <a:ea typeface="Calibri" pitchFamily="34" charset="-122"/>
                <a:cs typeface="Calibri" pitchFamily="34" charset="-120"/>
              </a:rPr>
              <a:t>Team up on the clues</a:t>
            </a:r>
            <a:endParaRPr lang="en-US" sz="1400" dirty="0"/>
          </a:p>
        </p:txBody>
      </p:sp>
      <p:sp>
        <p:nvSpPr>
          <p:cNvPr id="14" name="Shape 12"/>
          <p:cNvSpPr/>
          <p:nvPr/>
        </p:nvSpPr>
        <p:spPr>
          <a:xfrm>
            <a:off x="5760720" y="3291840"/>
            <a:ext cx="2331720" cy="1097280"/>
          </a:xfrm>
          <a:prstGeom prst="roundRect">
            <a:avLst>
              <a:gd name="adj" fmla="val 8333"/>
            </a:avLst>
          </a:prstGeom>
          <a:solidFill>
            <a:srgbClr val="FFFFFF"/>
          </a:solidFill>
          <a:ln/>
        </p:spPr>
      </p:sp>
      <p:sp>
        <p:nvSpPr>
          <p:cNvPr id="15" name="Shape 13"/>
          <p:cNvSpPr/>
          <p:nvPr/>
        </p:nvSpPr>
        <p:spPr>
          <a:xfrm>
            <a:off x="5760720" y="3383280"/>
            <a:ext cx="64008" cy="914400"/>
          </a:xfrm>
          <a:prstGeom prst="rect">
            <a:avLst/>
          </a:prstGeom>
          <a:solidFill>
            <a:srgbClr val="4E7D5B"/>
          </a:solidFill>
          <a:ln/>
        </p:spPr>
      </p:sp>
      <p:sp>
        <p:nvSpPr>
          <p:cNvPr id="16" name="Text 14"/>
          <p:cNvSpPr txBox="1"/>
          <p:nvPr/>
        </p:nvSpPr>
        <p:spPr>
          <a:xfrm>
            <a:off x="5943600" y="3291840"/>
            <a:ext cx="2057400" cy="1097280"/>
          </a:xfrm>
          <a:prstGeom prst="rect">
            <a:avLst/>
          </a:prstGeom>
          <a:noFill/>
          <a:ln/>
        </p:spPr>
        <p:txBody>
          <a:bodyPr wrap="square" lIns="0" tIns="0" rIns="0" bIns="0" rtlCol="0" anchor="ctr"/>
          <a:lstStyle/>
          <a:p>
            <a:pPr marL="0" indent="0">
              <a:buNone/>
            </a:pPr>
            <a:r>
              <a:rPr lang="en-US" sz="1400" b="1" dirty="0">
                <a:solidFill>
                  <a:srgbClr val="4E7D5B"/>
                </a:solidFill>
                <a:latin typeface="Calibri" pitchFamily="34" charset="0"/>
                <a:ea typeface="Calibri" pitchFamily="34" charset="-122"/>
                <a:cs typeface="Calibri" pitchFamily="34" charset="-120"/>
              </a:rPr>
              <a:t>YOU DO</a:t>
            </a:r>
            <a:endParaRPr lang="en-US" sz="1400" dirty="0"/>
          </a:p>
          <a:p>
            <a:pPr marL="0" indent="0">
              <a:buNone/>
            </a:pPr>
            <a:r>
              <a:rPr lang="en-US" sz="1600" dirty="0">
                <a:solidFill>
                  <a:srgbClr val="1B2A38"/>
                </a:solidFill>
                <a:latin typeface="Calibri" pitchFamily="34" charset="0"/>
                <a:ea typeface="Calibri" pitchFamily="34" charset="-122"/>
                <a:cs typeface="Calibri" pitchFamily="34" charset="-120"/>
              </a:rPr>
              <a:t>Solve it solo</a:t>
            </a:r>
            <a:endParaRPr lang="en-US" sz="1400" dirty="0"/>
          </a:p>
        </p:txBody>
      </p:sp>
      <p:sp>
        <p:nvSpPr>
          <p:cNvPr id="17" name="Text 15"/>
          <p:cNvSpPr txBox="1"/>
          <p:nvPr/>
        </p:nvSpPr>
        <p:spPr>
          <a:xfrm>
            <a:off x="731520" y="4892040"/>
            <a:ext cx="10515600" cy="1097280"/>
          </a:xfrm>
          <a:prstGeom prst="rect">
            <a:avLst/>
          </a:prstGeom>
          <a:noFill/>
          <a:ln/>
        </p:spPr>
        <p:txBody>
          <a:bodyPr wrap="square" lIns="0" tIns="0" rIns="0" bIns="0" rtlCol="0" anchor="t"/>
          <a:lstStyle/>
          <a:p>
            <a:pPr marL="0" indent="0">
              <a:buNone/>
            </a:pPr>
            <a:r>
              <a:rPr lang="en-US" sz="1200" b="1" dirty="0">
                <a:solidFill>
                  <a:srgbClr val="D9A441"/>
                </a:solidFill>
                <a:latin typeface="Calibri" pitchFamily="34" charset="0"/>
                <a:ea typeface="Calibri" pitchFamily="34" charset="-122"/>
                <a:cs typeface="Calibri" pitchFamily="34" charset="-120"/>
              </a:rPr>
              <a:t>TODAY'S BIG QUESTION</a:t>
            </a:r>
            <a:endParaRPr lang="en-US" sz="1200" dirty="0"/>
          </a:p>
          <a:p>
            <a:pPr marL="0" indent="0">
              <a:buNone/>
            </a:pPr>
            <a:r>
              <a:rPr lang="en-US" sz="2000" b="1" dirty="0">
                <a:solidFill>
                  <a:srgbClr val="FFFFFF"/>
                </a:solidFill>
                <a:latin typeface="Calibri" pitchFamily="34" charset="0"/>
                <a:ea typeface="Calibri" pitchFamily="34" charset="-122"/>
                <a:cs typeface="Calibri" pitchFamily="34" charset="-120"/>
              </a:rPr>
              <a:t>How do writers turn animals into people, and what does that tell us about their characters?</a:t>
            </a:r>
            <a:endParaRPr lang="en-US" sz="1200"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CASE FILE 1 · LESSON MAP · 80 MINUTES</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PLAN</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Today's Learning Journey 🗺️</a:t>
            </a:r>
            <a:endParaRPr lang="en-US" sz="3200" dirty="0"/>
          </a:p>
        </p:txBody>
      </p:sp>
      <p:sp>
        <p:nvSpPr>
          <p:cNvPr id="7" name="Shape 5"/>
          <p:cNvSpPr/>
          <p:nvPr/>
        </p:nvSpPr>
        <p:spPr>
          <a:xfrm>
            <a:off x="1216152" y="1463040"/>
            <a:ext cx="548640" cy="548640"/>
          </a:xfrm>
          <a:prstGeom prst="ellipse">
            <a:avLst/>
          </a:prstGeom>
          <a:solidFill>
            <a:srgbClr val="4E7D5B"/>
          </a:solidFill>
          <a:ln/>
        </p:spPr>
      </p:sp>
      <p:sp>
        <p:nvSpPr>
          <p:cNvPr id="8" name="Text 6"/>
          <p:cNvSpPr txBox="1"/>
          <p:nvPr/>
        </p:nvSpPr>
        <p:spPr>
          <a:xfrm>
            <a:off x="1216152"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Shape 7"/>
          <p:cNvSpPr/>
          <p:nvPr/>
        </p:nvSpPr>
        <p:spPr>
          <a:xfrm>
            <a:off x="2496312" y="3680460"/>
            <a:ext cx="283464" cy="274320"/>
          </a:xfrm>
          <a:prstGeom prst="rightArrow">
            <a:avLst/>
          </a:prstGeom>
          <a:solidFill>
            <a:srgbClr val="D9A441"/>
          </a:solidFill>
          <a:ln/>
        </p:spPr>
      </p:sp>
      <p:sp>
        <p:nvSpPr>
          <p:cNvPr id="10" name="Shape 8"/>
          <p:cNvSpPr/>
          <p:nvPr/>
        </p:nvSpPr>
        <p:spPr>
          <a:xfrm>
            <a:off x="548640"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548640" y="2286000"/>
            <a:ext cx="64008" cy="3063240"/>
          </a:xfrm>
          <a:prstGeom prst="rect">
            <a:avLst/>
          </a:prstGeom>
          <a:solidFill>
            <a:srgbClr val="4E7D5B"/>
          </a:solidFill>
          <a:ln/>
        </p:spPr>
      </p:sp>
      <p:sp>
        <p:nvSpPr>
          <p:cNvPr id="12" name="Text 10"/>
          <p:cNvSpPr txBox="1"/>
          <p:nvPr/>
        </p:nvSpPr>
        <p:spPr>
          <a:xfrm>
            <a:off x="777240"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10 MIN · WARM-UP</a:t>
            </a:r>
            <a:endParaRPr lang="en-US" sz="1400" dirty="0"/>
          </a:p>
          <a:p>
            <a:pPr marL="0" indent="0">
              <a:spcAft>
                <a:spcPts val="500"/>
              </a:spcAft>
              <a:buNone/>
            </a:pPr>
            <a:r>
              <a:rPr lang="en-US" sz="2323" dirty="0">
                <a:solidFill>
                  <a:srgbClr val="1B2A38"/>
                </a:solidFill>
                <a:latin typeface="Calibri" pitchFamily="34" charset="0"/>
                <a:ea typeface="Calibri" pitchFamily="34" charset="-122"/>
                <a:cs typeface="Calibri" pitchFamily="34" charset="-120"/>
              </a:rPr>
              <a:t>Guess the animal</a:t>
            </a:r>
            <a:endParaRPr lang="en-US" sz="1400" dirty="0"/>
          </a:p>
        </p:txBody>
      </p:sp>
      <p:sp>
        <p:nvSpPr>
          <p:cNvPr id="13" name="Shape 11"/>
          <p:cNvSpPr/>
          <p:nvPr/>
        </p:nvSpPr>
        <p:spPr>
          <a:xfrm>
            <a:off x="3511296" y="1463040"/>
            <a:ext cx="548640" cy="548640"/>
          </a:xfrm>
          <a:prstGeom prst="ellipse">
            <a:avLst/>
          </a:prstGeom>
          <a:solidFill>
            <a:srgbClr val="4F7CA0"/>
          </a:solidFill>
          <a:ln/>
        </p:spPr>
      </p:sp>
      <p:sp>
        <p:nvSpPr>
          <p:cNvPr id="14" name="Text 12"/>
          <p:cNvSpPr txBox="1"/>
          <p:nvPr/>
        </p:nvSpPr>
        <p:spPr>
          <a:xfrm>
            <a:off x="3511296"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Shape 13"/>
          <p:cNvSpPr/>
          <p:nvPr/>
        </p:nvSpPr>
        <p:spPr>
          <a:xfrm>
            <a:off x="4791456" y="3680460"/>
            <a:ext cx="283464" cy="274320"/>
          </a:xfrm>
          <a:prstGeom prst="rightArrow">
            <a:avLst/>
          </a:prstGeom>
          <a:solidFill>
            <a:srgbClr val="D9A441"/>
          </a:solidFill>
          <a:ln/>
        </p:spPr>
      </p:sp>
      <p:sp>
        <p:nvSpPr>
          <p:cNvPr id="16" name="Shape 14"/>
          <p:cNvSpPr/>
          <p:nvPr/>
        </p:nvSpPr>
        <p:spPr>
          <a:xfrm>
            <a:off x="2843784"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2843784" y="2286000"/>
            <a:ext cx="64008" cy="3063240"/>
          </a:xfrm>
          <a:prstGeom prst="rect">
            <a:avLst/>
          </a:prstGeom>
          <a:solidFill>
            <a:srgbClr val="4F7CA0"/>
          </a:solidFill>
          <a:ln/>
        </p:spPr>
      </p:sp>
      <p:sp>
        <p:nvSpPr>
          <p:cNvPr id="18" name="Text 16"/>
          <p:cNvSpPr txBox="1"/>
          <p:nvPr/>
        </p:nvSpPr>
        <p:spPr>
          <a:xfrm>
            <a:off x="3072384"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F7CA0"/>
                </a:solidFill>
                <a:latin typeface="Calibri" pitchFamily="34" charset="0"/>
                <a:ea typeface="Calibri" pitchFamily="34" charset="-122"/>
                <a:cs typeface="Calibri" pitchFamily="34" charset="-120"/>
              </a:rPr>
              <a:t>12 MIN · I DO</a:t>
            </a:r>
            <a:endParaRPr lang="en-US" sz="1400" dirty="0"/>
          </a:p>
          <a:p>
            <a:pPr marL="0" indent="0">
              <a:spcAft>
                <a:spcPts val="500"/>
              </a:spcAft>
              <a:buNone/>
            </a:pPr>
            <a:r>
              <a:rPr lang="en-US" sz="2323" dirty="0">
                <a:solidFill>
                  <a:srgbClr val="1B2A38"/>
                </a:solidFill>
                <a:latin typeface="Calibri" pitchFamily="34" charset="0"/>
                <a:ea typeface="Calibri" pitchFamily="34" charset="-122"/>
                <a:cs typeface="Calibri" pitchFamily="34" charset="-120"/>
              </a:rPr>
              <a:t>Teacher models anthropomorphism and stereotypes</a:t>
            </a:r>
            <a:endParaRPr lang="en-US" sz="1400" dirty="0"/>
          </a:p>
        </p:txBody>
      </p:sp>
      <p:sp>
        <p:nvSpPr>
          <p:cNvPr id="19" name="Shape 17"/>
          <p:cNvSpPr/>
          <p:nvPr/>
        </p:nvSpPr>
        <p:spPr>
          <a:xfrm>
            <a:off x="5806440" y="1463040"/>
            <a:ext cx="548640" cy="548640"/>
          </a:xfrm>
          <a:prstGeom prst="ellipse">
            <a:avLst/>
          </a:prstGeom>
          <a:solidFill>
            <a:srgbClr val="C0674F"/>
          </a:solidFill>
          <a:ln/>
        </p:spPr>
      </p:sp>
      <p:sp>
        <p:nvSpPr>
          <p:cNvPr id="20" name="Text 18"/>
          <p:cNvSpPr txBox="1"/>
          <p:nvPr/>
        </p:nvSpPr>
        <p:spPr>
          <a:xfrm>
            <a:off x="5806440"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Shape 19"/>
          <p:cNvSpPr/>
          <p:nvPr/>
        </p:nvSpPr>
        <p:spPr>
          <a:xfrm>
            <a:off x="7086600" y="3680460"/>
            <a:ext cx="283464" cy="274320"/>
          </a:xfrm>
          <a:prstGeom prst="rightArrow">
            <a:avLst/>
          </a:prstGeom>
          <a:solidFill>
            <a:srgbClr val="D9A441"/>
          </a:solidFill>
          <a:ln/>
        </p:spPr>
      </p:sp>
      <p:sp>
        <p:nvSpPr>
          <p:cNvPr id="22" name="Shape 20"/>
          <p:cNvSpPr/>
          <p:nvPr/>
        </p:nvSpPr>
        <p:spPr>
          <a:xfrm>
            <a:off x="5138928"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23" name="Shape 21"/>
          <p:cNvSpPr/>
          <p:nvPr/>
        </p:nvSpPr>
        <p:spPr>
          <a:xfrm>
            <a:off x="5138928" y="2286000"/>
            <a:ext cx="64008" cy="3063240"/>
          </a:xfrm>
          <a:prstGeom prst="rect">
            <a:avLst/>
          </a:prstGeom>
          <a:solidFill>
            <a:srgbClr val="C0674F"/>
          </a:solidFill>
          <a:ln/>
        </p:spPr>
      </p:sp>
      <p:sp>
        <p:nvSpPr>
          <p:cNvPr id="24" name="Text 22"/>
          <p:cNvSpPr txBox="1"/>
          <p:nvPr/>
        </p:nvSpPr>
        <p:spPr>
          <a:xfrm>
            <a:off x="5367528"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C0674F"/>
                </a:solidFill>
                <a:latin typeface="Calibri" pitchFamily="34" charset="0"/>
                <a:ea typeface="Calibri" pitchFamily="34" charset="-122"/>
                <a:cs typeface="Calibri" pitchFamily="34" charset="-120"/>
              </a:rPr>
              <a:t>20 MIN · WE DO</a:t>
            </a:r>
            <a:endParaRPr lang="en-US" sz="1400" dirty="0"/>
          </a:p>
          <a:p>
            <a:pPr marL="0" indent="0">
              <a:spcAft>
                <a:spcPts val="500"/>
              </a:spcAft>
              <a:buNone/>
            </a:pPr>
            <a:r>
              <a:rPr lang="en-US" sz="2323" dirty="0">
                <a:solidFill>
                  <a:srgbClr val="1B2A38"/>
                </a:solidFill>
                <a:latin typeface="Calibri" pitchFamily="34" charset="0"/>
                <a:ea typeface="Calibri" pitchFamily="34" charset="-122"/>
                <a:cs typeface="Calibri" pitchFamily="34" charset="-120"/>
              </a:rPr>
              <a:t>Stations, lists and a fact-file face-off</a:t>
            </a:r>
            <a:endParaRPr lang="en-US" sz="1400" dirty="0"/>
          </a:p>
        </p:txBody>
      </p:sp>
      <p:sp>
        <p:nvSpPr>
          <p:cNvPr id="25" name="Shape 23"/>
          <p:cNvSpPr/>
          <p:nvPr/>
        </p:nvSpPr>
        <p:spPr>
          <a:xfrm>
            <a:off x="8101584" y="1463040"/>
            <a:ext cx="548640" cy="548640"/>
          </a:xfrm>
          <a:prstGeom prst="ellipse">
            <a:avLst/>
          </a:prstGeom>
          <a:solidFill>
            <a:srgbClr val="D9A441"/>
          </a:solidFill>
          <a:ln/>
        </p:spPr>
      </p:sp>
      <p:sp>
        <p:nvSpPr>
          <p:cNvPr id="26" name="Text 24"/>
          <p:cNvSpPr txBox="1"/>
          <p:nvPr/>
        </p:nvSpPr>
        <p:spPr>
          <a:xfrm>
            <a:off x="8101584" y="1463040"/>
            <a:ext cx="548640" cy="548640"/>
          </a:xfrm>
          <a:prstGeom prst="rect">
            <a:avLst/>
          </a:prstGeom>
          <a:noFill/>
          <a:ln/>
        </p:spPr>
        <p:txBody>
          <a:bodyPr wrap="square" lIns="0" tIns="0" rIns="0" bIns="0" rtlCol="0" anchor="ctr"/>
          <a:lstStyle/>
          <a:p>
            <a:pPr marL="0" indent="0" algn="ctr">
              <a:buNone/>
            </a:pPr>
            <a:r>
              <a:rPr lang="en-US" sz="2200" b="1" dirty="0">
                <a:solidFill>
                  <a:srgbClr val="1B2A38"/>
                </a:solidFill>
                <a:latin typeface="Calibri" pitchFamily="34" charset="0"/>
                <a:ea typeface="Calibri" pitchFamily="34" charset="-122"/>
                <a:cs typeface="Calibri" pitchFamily="34" charset="-120"/>
              </a:rPr>
              <a:t>4</a:t>
            </a:r>
            <a:endParaRPr lang="en-US" sz="2200" dirty="0"/>
          </a:p>
        </p:txBody>
      </p:sp>
      <p:sp>
        <p:nvSpPr>
          <p:cNvPr id="27" name="Shape 25"/>
          <p:cNvSpPr/>
          <p:nvPr/>
        </p:nvSpPr>
        <p:spPr>
          <a:xfrm>
            <a:off x="9381744" y="3680460"/>
            <a:ext cx="283464" cy="274320"/>
          </a:xfrm>
          <a:prstGeom prst="rightArrow">
            <a:avLst/>
          </a:prstGeom>
          <a:solidFill>
            <a:srgbClr val="D9A441"/>
          </a:solidFill>
          <a:ln/>
        </p:spPr>
      </p:sp>
      <p:sp>
        <p:nvSpPr>
          <p:cNvPr id="28" name="Shape 26"/>
          <p:cNvSpPr/>
          <p:nvPr/>
        </p:nvSpPr>
        <p:spPr>
          <a:xfrm>
            <a:off x="7434072"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29" name="Shape 27"/>
          <p:cNvSpPr/>
          <p:nvPr/>
        </p:nvSpPr>
        <p:spPr>
          <a:xfrm>
            <a:off x="7434072" y="2286000"/>
            <a:ext cx="64008" cy="3063240"/>
          </a:xfrm>
          <a:prstGeom prst="rect">
            <a:avLst/>
          </a:prstGeom>
          <a:solidFill>
            <a:srgbClr val="D9A441"/>
          </a:solidFill>
          <a:ln/>
        </p:spPr>
      </p:sp>
      <p:sp>
        <p:nvSpPr>
          <p:cNvPr id="30" name="Text 28"/>
          <p:cNvSpPr txBox="1"/>
          <p:nvPr/>
        </p:nvSpPr>
        <p:spPr>
          <a:xfrm>
            <a:off x="7662672"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9A6F12"/>
                </a:solidFill>
                <a:latin typeface="Calibri" pitchFamily="34" charset="0"/>
                <a:ea typeface="Calibri" pitchFamily="34" charset="-122"/>
                <a:cs typeface="Calibri" pitchFamily="34" charset="-120"/>
              </a:rPr>
              <a:t>25 MIN · YOU DO</a:t>
            </a:r>
            <a:endParaRPr lang="en-US" sz="1400" dirty="0"/>
          </a:p>
          <a:p>
            <a:pPr marL="0" indent="0">
              <a:spcAft>
                <a:spcPts val="500"/>
              </a:spcAft>
              <a:buNone/>
            </a:pPr>
            <a:r>
              <a:rPr lang="en-US" sz="2323" dirty="0">
                <a:solidFill>
                  <a:srgbClr val="1B2A38"/>
                </a:solidFill>
                <a:latin typeface="Calibri" pitchFamily="34" charset="0"/>
                <a:ea typeface="Calibri" pitchFamily="34" charset="-122"/>
                <a:cs typeface="Calibri" pitchFamily="34" charset="-120"/>
              </a:rPr>
              <a:t>Sort traits, then write about Ant and Grasshopper</a:t>
            </a:r>
            <a:endParaRPr lang="en-US" sz="1400" dirty="0"/>
          </a:p>
        </p:txBody>
      </p:sp>
      <p:sp>
        <p:nvSpPr>
          <p:cNvPr id="31" name="Shape 29"/>
          <p:cNvSpPr/>
          <p:nvPr/>
        </p:nvSpPr>
        <p:spPr>
          <a:xfrm>
            <a:off x="10396728" y="1463040"/>
            <a:ext cx="548640" cy="548640"/>
          </a:xfrm>
          <a:prstGeom prst="ellipse">
            <a:avLst/>
          </a:prstGeom>
          <a:solidFill>
            <a:srgbClr val="4E7D5B"/>
          </a:solidFill>
          <a:ln/>
        </p:spPr>
      </p:sp>
      <p:sp>
        <p:nvSpPr>
          <p:cNvPr id="32" name="Text 30"/>
          <p:cNvSpPr txBox="1"/>
          <p:nvPr/>
        </p:nvSpPr>
        <p:spPr>
          <a:xfrm>
            <a:off x="10396728"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3" name="Shape 31"/>
          <p:cNvSpPr/>
          <p:nvPr/>
        </p:nvSpPr>
        <p:spPr>
          <a:xfrm>
            <a:off x="9729216"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34" name="Shape 32"/>
          <p:cNvSpPr/>
          <p:nvPr/>
        </p:nvSpPr>
        <p:spPr>
          <a:xfrm>
            <a:off x="9729216" y="2286000"/>
            <a:ext cx="64008" cy="3063240"/>
          </a:xfrm>
          <a:prstGeom prst="rect">
            <a:avLst/>
          </a:prstGeom>
          <a:solidFill>
            <a:srgbClr val="4E7D5B"/>
          </a:solidFill>
          <a:ln/>
        </p:spPr>
      </p:sp>
      <p:sp>
        <p:nvSpPr>
          <p:cNvPr id="35" name="Text 33"/>
          <p:cNvSpPr txBox="1"/>
          <p:nvPr/>
        </p:nvSpPr>
        <p:spPr>
          <a:xfrm>
            <a:off x="9957816"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13 MIN · PLENARY</a:t>
            </a:r>
            <a:endParaRPr lang="en-US" sz="1400" dirty="0"/>
          </a:p>
          <a:p>
            <a:pPr marL="0" indent="0">
              <a:spcAft>
                <a:spcPts val="500"/>
              </a:spcAft>
              <a:buNone/>
            </a:pPr>
            <a:r>
              <a:rPr lang="en-US" sz="2323" dirty="0">
                <a:solidFill>
                  <a:srgbClr val="1B2A38"/>
                </a:solidFill>
                <a:latin typeface="Calibri" pitchFamily="34" charset="0"/>
                <a:ea typeface="Calibri" pitchFamily="34" charset="-122"/>
                <a:cs typeface="Calibri" pitchFamily="34" charset="-120"/>
              </a:rPr>
              <a:t>Hot seat and exit ticket</a:t>
            </a:r>
            <a:endParaRPr lang="en-US" sz="1400" dirty="0"/>
          </a:p>
        </p:txBody>
      </p:sp>
      <p:sp>
        <p:nvSpPr>
          <p:cNvPr id="36" name="Text 34"/>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SUCCESS CRITERION</a:t>
            </a:r>
            <a:endParaRPr lang="en-US" sz="1100" dirty="0"/>
          </a:p>
        </p:txBody>
      </p:sp>
      <p:sp>
        <p:nvSpPr>
          <p:cNvPr id="37" name="Text 35"/>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I can explain anthropomorphism and stereotypes, and describe a character using evidence.</a:t>
            </a:r>
            <a:endParaRPr lang="en-US" sz="1600" dirty="0"/>
          </a:p>
        </p:txBody>
      </p:sp>
      <p:sp>
        <p:nvSpPr>
          <p:cNvPr id="38" name="Text 36"/>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MAP</a:t>
            </a:r>
            <a:endParaRPr lang="en-US" sz="1200" dirty="0"/>
          </a:p>
        </p:txBody>
      </p:sp>
      <p:sp>
        <p:nvSpPr>
          <p:cNvPr id="39" name="Text 37"/>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40" name="Text 38"/>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9A441"/>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FILE 1 · 0–10 MIN · WARM-UP</a:t>
            </a:r>
            <a:endParaRPr lang="en-US" sz="1100" dirty="0"/>
          </a:p>
        </p:txBody>
      </p:sp>
      <p:sp>
        <p:nvSpPr>
          <p:cNvPr id="4" name="Shape 2"/>
          <p:cNvSpPr/>
          <p:nvPr/>
        </p:nvSpPr>
        <p:spPr>
          <a:xfrm>
            <a:off x="10424160" y="256032"/>
            <a:ext cx="1280160" cy="310896"/>
          </a:xfrm>
          <a:prstGeom prst="roundRect">
            <a:avLst>
              <a:gd name="adj" fmla="val 50000"/>
            </a:avLst>
          </a:prstGeom>
          <a:solidFill>
            <a:srgbClr val="D9A441"/>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1B2A38"/>
                </a:solidFill>
                <a:latin typeface="Calibri" pitchFamily="34" charset="0"/>
                <a:ea typeface="Calibri" pitchFamily="34" charset="-122"/>
                <a:cs typeface="Calibri" pitchFamily="34" charset="-120"/>
              </a:rPr>
              <a:t>WARM-UP</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Guess the Animal! 🎯</a:t>
            </a:r>
            <a:endParaRPr lang="en-US" sz="3200" dirty="0"/>
          </a:p>
        </p:txBody>
      </p:sp>
      <p:sp>
        <p:nvSpPr>
          <p:cNvPr id="7" name="Shape 5"/>
          <p:cNvSpPr/>
          <p:nvPr/>
        </p:nvSpPr>
        <p:spPr>
          <a:xfrm rot="-120000">
            <a:off x="548640" y="1463040"/>
            <a:ext cx="5417820" cy="1897380"/>
          </a:xfrm>
          <a:prstGeom prst="rect">
            <a:avLst/>
          </a:prstGeom>
          <a:solidFill>
            <a:srgbClr val="FFF3B0"/>
          </a:solidFill>
          <a:ln/>
          <a:effectLst>
            <a:outerShdw blurRad="76200" dist="25400" dir="5400000" algn="bl" rotWithShape="0">
              <a:srgbClr val="000000">
                <a:alpha val="14000"/>
              </a:srgbClr>
            </a:outerShdw>
          </a:effectLst>
        </p:spPr>
      </p:sp>
      <p:sp>
        <p:nvSpPr>
          <p:cNvPr id="8" name="Shape 6"/>
          <p:cNvSpPr/>
          <p:nvPr/>
        </p:nvSpPr>
        <p:spPr>
          <a:xfrm>
            <a:off x="3156966" y="1371600"/>
            <a:ext cx="201168" cy="201168"/>
          </a:xfrm>
          <a:prstGeom prst="ellipse">
            <a:avLst/>
          </a:prstGeom>
          <a:solidFill>
            <a:srgbClr val="C0674F"/>
          </a:solidFill>
          <a:ln/>
        </p:spPr>
      </p:sp>
      <p:sp>
        <p:nvSpPr>
          <p:cNvPr id="9" name="Text 7"/>
          <p:cNvSpPr txBox="1"/>
          <p:nvPr/>
        </p:nvSpPr>
        <p:spPr>
          <a:xfrm rot="-120000">
            <a:off x="685800" y="1463040"/>
            <a:ext cx="514350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Clue 1</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I plod along slowly, but I never give up.</a:t>
            </a:r>
            <a:endParaRPr lang="en-US" sz="1700" dirty="0"/>
          </a:p>
        </p:txBody>
      </p:sp>
      <p:sp>
        <p:nvSpPr>
          <p:cNvPr id="10" name="Shape 8"/>
          <p:cNvSpPr/>
          <p:nvPr/>
        </p:nvSpPr>
        <p:spPr>
          <a:xfrm rot="90000">
            <a:off x="6195060" y="1463040"/>
            <a:ext cx="5417820" cy="1897380"/>
          </a:xfrm>
          <a:prstGeom prst="rect">
            <a:avLst/>
          </a:prstGeom>
          <a:solidFill>
            <a:srgbClr val="D5EEDD"/>
          </a:solidFill>
          <a:ln/>
          <a:effectLst>
            <a:outerShdw blurRad="76200" dist="25400" dir="5400000" algn="bl" rotWithShape="0">
              <a:srgbClr val="000000">
                <a:alpha val="14000"/>
              </a:srgbClr>
            </a:outerShdw>
          </a:effectLst>
        </p:spPr>
      </p:sp>
      <p:sp>
        <p:nvSpPr>
          <p:cNvPr id="11" name="Shape 9"/>
          <p:cNvSpPr/>
          <p:nvPr/>
        </p:nvSpPr>
        <p:spPr>
          <a:xfrm>
            <a:off x="8803386" y="1371600"/>
            <a:ext cx="201168" cy="201168"/>
          </a:xfrm>
          <a:prstGeom prst="ellipse">
            <a:avLst/>
          </a:prstGeom>
          <a:solidFill>
            <a:srgbClr val="C0674F"/>
          </a:solidFill>
          <a:ln/>
        </p:spPr>
      </p:sp>
      <p:sp>
        <p:nvSpPr>
          <p:cNvPr id="12" name="Text 10"/>
          <p:cNvSpPr txBox="1"/>
          <p:nvPr/>
        </p:nvSpPr>
        <p:spPr>
          <a:xfrm rot="90000">
            <a:off x="6332220" y="1463040"/>
            <a:ext cx="514350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Clue 2</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I zoom off fast, then take a nap.</a:t>
            </a:r>
            <a:endParaRPr lang="en-US" sz="1700" dirty="0"/>
          </a:p>
        </p:txBody>
      </p:sp>
      <p:sp>
        <p:nvSpPr>
          <p:cNvPr id="13" name="Shape 11"/>
          <p:cNvSpPr/>
          <p:nvPr/>
        </p:nvSpPr>
        <p:spPr>
          <a:xfrm rot="-60000">
            <a:off x="548640" y="3589020"/>
            <a:ext cx="5417820" cy="1897380"/>
          </a:xfrm>
          <a:prstGeom prst="rect">
            <a:avLst/>
          </a:prstGeom>
          <a:solidFill>
            <a:srgbClr val="FAD9CF"/>
          </a:solidFill>
          <a:ln/>
          <a:effectLst>
            <a:outerShdw blurRad="76200" dist="25400" dir="5400000" algn="bl" rotWithShape="0">
              <a:srgbClr val="000000">
                <a:alpha val="14000"/>
              </a:srgbClr>
            </a:outerShdw>
          </a:effectLst>
        </p:spPr>
      </p:sp>
      <p:sp>
        <p:nvSpPr>
          <p:cNvPr id="14" name="Shape 12"/>
          <p:cNvSpPr/>
          <p:nvPr/>
        </p:nvSpPr>
        <p:spPr>
          <a:xfrm>
            <a:off x="3156966" y="3497580"/>
            <a:ext cx="201168" cy="201168"/>
          </a:xfrm>
          <a:prstGeom prst="ellipse">
            <a:avLst/>
          </a:prstGeom>
          <a:solidFill>
            <a:srgbClr val="C0674F"/>
          </a:solidFill>
          <a:ln/>
        </p:spPr>
      </p:sp>
      <p:sp>
        <p:nvSpPr>
          <p:cNvPr id="15" name="Text 13"/>
          <p:cNvSpPr txBox="1"/>
          <p:nvPr/>
        </p:nvSpPr>
        <p:spPr>
          <a:xfrm rot="-60000">
            <a:off x="685800" y="3589020"/>
            <a:ext cx="514350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Clue 3</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I buzz all day and never stop working.</a:t>
            </a:r>
            <a:endParaRPr lang="en-US" sz="1700" dirty="0"/>
          </a:p>
        </p:txBody>
      </p:sp>
      <p:sp>
        <p:nvSpPr>
          <p:cNvPr id="16" name="Shape 14"/>
          <p:cNvSpPr/>
          <p:nvPr/>
        </p:nvSpPr>
        <p:spPr>
          <a:xfrm rot="120000">
            <a:off x="6195060" y="3589020"/>
            <a:ext cx="5417820" cy="1897380"/>
          </a:xfrm>
          <a:prstGeom prst="rect">
            <a:avLst/>
          </a:prstGeom>
          <a:solidFill>
            <a:srgbClr val="D3E4F4"/>
          </a:solidFill>
          <a:ln/>
          <a:effectLst>
            <a:outerShdw blurRad="76200" dist="25400" dir="5400000" algn="bl" rotWithShape="0">
              <a:srgbClr val="000000">
                <a:alpha val="14000"/>
              </a:srgbClr>
            </a:outerShdw>
          </a:effectLst>
        </p:spPr>
      </p:sp>
      <p:sp>
        <p:nvSpPr>
          <p:cNvPr id="17" name="Shape 15"/>
          <p:cNvSpPr/>
          <p:nvPr/>
        </p:nvSpPr>
        <p:spPr>
          <a:xfrm>
            <a:off x="8803386" y="3497580"/>
            <a:ext cx="201168" cy="201168"/>
          </a:xfrm>
          <a:prstGeom prst="ellipse">
            <a:avLst/>
          </a:prstGeom>
          <a:solidFill>
            <a:srgbClr val="C0674F"/>
          </a:solidFill>
          <a:ln/>
        </p:spPr>
      </p:sp>
      <p:sp>
        <p:nvSpPr>
          <p:cNvPr id="18" name="Text 16"/>
          <p:cNvSpPr txBox="1"/>
          <p:nvPr/>
        </p:nvSpPr>
        <p:spPr>
          <a:xfrm rot="120000">
            <a:off x="6332220" y="3589020"/>
            <a:ext cx="514350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Clue 4</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I follow the crowd, wherever it goes.</a:t>
            </a:r>
            <a:endParaRPr lang="en-US" sz="1700" dirty="0"/>
          </a:p>
        </p:txBody>
      </p:sp>
      <p:sp>
        <p:nvSpPr>
          <p:cNvPr id="19" name="Text 17"/>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20" name="Text 18"/>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Listen to each clue. Act it out, then guess the animal!</a:t>
            </a:r>
            <a:endParaRPr lang="en-US" sz="1600" dirty="0"/>
          </a:p>
        </p:txBody>
      </p:sp>
      <p:sp>
        <p:nvSpPr>
          <p:cNvPr id="21" name="Text 1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2" name="Text 2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23" name="Text 2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REVEAL AFTER STUDENTS ANSWER · WARM-UP</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WARM-UP</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Guess the Animal: Answers</a:t>
            </a:r>
            <a:endParaRPr lang="en-US" sz="3200" dirty="0"/>
          </a:p>
        </p:txBody>
      </p:sp>
      <p:sp>
        <p:nvSpPr>
          <p:cNvPr id="7" name="Shape 5"/>
          <p:cNvSpPr/>
          <p:nvPr/>
        </p:nvSpPr>
        <p:spPr>
          <a:xfrm>
            <a:off x="548640" y="1463040"/>
            <a:ext cx="2594610" cy="4023360"/>
          </a:xfrm>
          <a:prstGeom prst="roundRect">
            <a:avLst>
              <a:gd name="adj" fmla="val 4229"/>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222885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 TORTOISE</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Slow, steady, patient</a:t>
            </a:r>
            <a:endParaRPr lang="en-US" sz="1400" dirty="0"/>
          </a:p>
        </p:txBody>
      </p:sp>
      <p:sp>
        <p:nvSpPr>
          <p:cNvPr id="10" name="Shape 8"/>
          <p:cNvSpPr/>
          <p:nvPr/>
        </p:nvSpPr>
        <p:spPr>
          <a:xfrm>
            <a:off x="3371850" y="1463040"/>
            <a:ext cx="2594610" cy="4023360"/>
          </a:xfrm>
          <a:prstGeom prst="roundRect">
            <a:avLst>
              <a:gd name="adj" fmla="val 4229"/>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3371850" y="1600200"/>
            <a:ext cx="64008" cy="3749040"/>
          </a:xfrm>
          <a:prstGeom prst="rect">
            <a:avLst/>
          </a:prstGeom>
          <a:solidFill>
            <a:srgbClr val="4E7D5B"/>
          </a:solidFill>
          <a:ln/>
        </p:spPr>
      </p:sp>
      <p:sp>
        <p:nvSpPr>
          <p:cNvPr id="12" name="Text 10"/>
          <p:cNvSpPr txBox="1"/>
          <p:nvPr/>
        </p:nvSpPr>
        <p:spPr>
          <a:xfrm>
            <a:off x="3600450" y="1463040"/>
            <a:ext cx="222885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 HARE</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Fast, boastful, lazy</a:t>
            </a:r>
            <a:endParaRPr lang="en-US" sz="1400" dirty="0"/>
          </a:p>
        </p:txBody>
      </p:sp>
      <p:sp>
        <p:nvSpPr>
          <p:cNvPr id="13" name="Shape 11"/>
          <p:cNvSpPr/>
          <p:nvPr/>
        </p:nvSpPr>
        <p:spPr>
          <a:xfrm>
            <a:off x="6195060" y="1463040"/>
            <a:ext cx="2594610" cy="4023360"/>
          </a:xfrm>
          <a:prstGeom prst="roundRect">
            <a:avLst>
              <a:gd name="adj" fmla="val 4229"/>
            </a:avLst>
          </a:prstGeom>
          <a:solidFill>
            <a:srgbClr val="FFFFFF"/>
          </a:solidFill>
          <a:ln/>
          <a:effectLst>
            <a:outerShdw blurRad="76200" dist="25400" dir="5400000" algn="bl" rotWithShape="0">
              <a:srgbClr val="000000">
                <a:alpha val="14000"/>
              </a:srgbClr>
            </a:outerShdw>
          </a:effectLst>
        </p:spPr>
      </p:sp>
      <p:sp>
        <p:nvSpPr>
          <p:cNvPr id="14" name="Shape 12"/>
          <p:cNvSpPr/>
          <p:nvPr/>
        </p:nvSpPr>
        <p:spPr>
          <a:xfrm>
            <a:off x="6195060" y="1600200"/>
            <a:ext cx="64008" cy="3749040"/>
          </a:xfrm>
          <a:prstGeom prst="rect">
            <a:avLst/>
          </a:prstGeom>
          <a:solidFill>
            <a:srgbClr val="4E7D5B"/>
          </a:solidFill>
          <a:ln/>
        </p:spPr>
      </p:sp>
      <p:sp>
        <p:nvSpPr>
          <p:cNvPr id="15" name="Text 13"/>
          <p:cNvSpPr txBox="1"/>
          <p:nvPr/>
        </p:nvSpPr>
        <p:spPr>
          <a:xfrm>
            <a:off x="6423660" y="1463040"/>
            <a:ext cx="222885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 BEE</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Busy, hard-working</a:t>
            </a:r>
            <a:endParaRPr lang="en-US" sz="1400" dirty="0"/>
          </a:p>
        </p:txBody>
      </p:sp>
      <p:sp>
        <p:nvSpPr>
          <p:cNvPr id="16" name="Shape 14"/>
          <p:cNvSpPr/>
          <p:nvPr/>
        </p:nvSpPr>
        <p:spPr>
          <a:xfrm>
            <a:off x="9018270" y="1463040"/>
            <a:ext cx="2594610" cy="4023360"/>
          </a:xfrm>
          <a:prstGeom prst="roundRect">
            <a:avLst>
              <a:gd name="adj" fmla="val 4229"/>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9018270" y="1600200"/>
            <a:ext cx="64008" cy="3749040"/>
          </a:xfrm>
          <a:prstGeom prst="rect">
            <a:avLst/>
          </a:prstGeom>
          <a:solidFill>
            <a:srgbClr val="4E7D5B"/>
          </a:solidFill>
          <a:ln/>
        </p:spPr>
      </p:sp>
      <p:sp>
        <p:nvSpPr>
          <p:cNvPr id="18" name="Text 16"/>
          <p:cNvSpPr txBox="1"/>
          <p:nvPr/>
        </p:nvSpPr>
        <p:spPr>
          <a:xfrm>
            <a:off x="9246870" y="1463040"/>
            <a:ext cx="222885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 SHEEP</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Follows the crowd</a:t>
            </a:r>
            <a:endParaRPr lang="en-US" sz="1400" dirty="0"/>
          </a:p>
        </p:txBody>
      </p:sp>
      <p:sp>
        <p:nvSpPr>
          <p:cNvPr id="19" name="Text 17"/>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TIP</a:t>
            </a:r>
            <a:endParaRPr lang="en-US" sz="1100" dirty="0"/>
          </a:p>
        </p:txBody>
      </p:sp>
      <p:sp>
        <p:nvSpPr>
          <p:cNvPr id="20" name="Text 18"/>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2400" b="1" dirty="0">
                <a:solidFill>
                  <a:srgbClr val="1B2A38"/>
                </a:solidFill>
                <a:latin typeface="Calibri" pitchFamily="34" charset="0"/>
                <a:ea typeface="Calibri" pitchFamily="34" charset="-122"/>
                <a:cs typeface="Calibri" pitchFamily="34" charset="-120"/>
              </a:rPr>
              <a:t>Did real animals talk or wear clothes?                                                   No! We gave them human traits. That is today's big idea.</a:t>
            </a:r>
            <a:endParaRPr lang="en-US" sz="2400" dirty="0"/>
          </a:p>
        </p:txBody>
      </p:sp>
      <p:sp>
        <p:nvSpPr>
          <p:cNvPr id="21" name="Text 1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22" name="Text 2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23" name="Text 2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CASE FILE 1 · 10–22 MIN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Read the Fable: Ant &amp; Grasshopper 🔎</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10698480" cy="4023360"/>
          </a:xfrm>
          <a:prstGeom prst="rect">
            <a:avLst/>
          </a:prstGeom>
          <a:noFill/>
          <a:ln/>
        </p:spPr>
        <p:txBody>
          <a:bodyPr wrap="square" lIns="1905" tIns="0" rIns="635" bIns="1270" rtlCol="0" anchor="t"/>
          <a:lstStyle/>
          <a:p>
            <a:pPr marL="0" indent="0">
              <a:spcAft>
                <a:spcPts val="500"/>
              </a:spcAft>
              <a:buNone/>
            </a:pPr>
            <a:r>
              <a:rPr lang="en-US" sz="2400" b="1" dirty="0">
                <a:solidFill>
                  <a:srgbClr val="4E7D5B"/>
                </a:solidFill>
                <a:latin typeface="Calibri" pitchFamily="34" charset="0"/>
                <a:ea typeface="Calibri" pitchFamily="34" charset="-122"/>
                <a:cs typeface="Calibri" pitchFamily="34" charset="-120"/>
              </a:rPr>
              <a:t>ANT AND GRASSHOPPER · SHORT RETELLING </a:t>
            </a:r>
            <a:r>
              <a:rPr lang="en-US" sz="2600" dirty="0">
                <a:solidFill>
                  <a:srgbClr val="1B2A38"/>
                </a:solidFill>
                <a:latin typeface="Calibri" pitchFamily="34" charset="0"/>
                <a:ea typeface="Calibri" pitchFamily="34" charset="-122"/>
                <a:cs typeface="Calibri" pitchFamily="34" charset="-120"/>
              </a:rPr>
              <a:t>All summer long, Grasshopper sang and played in the sunny grass. “Why work?” he laughed. Ant hurried past with grain for her nest. “Winter is coming,” she said. “You should store food too.” Grasshopper only shrugged. When the snow came, his song was gone and his stomach was empty. Shivering, he knocked on Ant’s door and begged for food.</a:t>
            </a:r>
            <a:endParaRPr lang="en-US" sz="1400" dirty="0"/>
          </a:p>
        </p:txBody>
      </p:sp>
      <p:sp>
        <p:nvSpPr>
          <p:cNvPr id="10" name="Text 8"/>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WATCH THE DETECTIVE</a:t>
            </a:r>
            <a:endParaRPr lang="en-US" sz="1100" dirty="0"/>
          </a:p>
        </p:txBody>
      </p:sp>
      <p:sp>
        <p:nvSpPr>
          <p:cNvPr id="11" name="Text 9"/>
          <p:cNvSpPr txBox="1"/>
          <p:nvPr/>
        </p:nvSpPr>
        <p:spPr>
          <a:xfrm>
            <a:off x="1611737" y="5394960"/>
            <a:ext cx="9726823" cy="548640"/>
          </a:xfrm>
          <a:prstGeom prst="rect">
            <a:avLst/>
          </a:prstGeom>
          <a:noFill/>
          <a:ln/>
        </p:spPr>
        <p:txBody>
          <a:bodyPr wrap="square" lIns="0" tIns="0" rIns="0" bIns="0" rtlCol="0" anchor="ctr"/>
          <a:lstStyle/>
          <a:p>
            <a:pPr marL="0" indent="0">
              <a:buNone/>
            </a:pPr>
            <a:r>
              <a:rPr lang="en-US" sz="2800" b="1" dirty="0">
                <a:solidFill>
                  <a:srgbClr val="1B2A38"/>
                </a:solidFill>
                <a:latin typeface="Calibri" pitchFamily="34" charset="0"/>
                <a:ea typeface="Calibri" pitchFamily="34" charset="-122"/>
                <a:cs typeface="Calibri" pitchFamily="34" charset="-120"/>
              </a:rPr>
              <a:t>Listen for the words and actions that make them act like people.</a:t>
            </a:r>
            <a:endParaRPr lang="en-US" sz="2800" dirty="0"/>
          </a:p>
        </p:txBody>
      </p:sp>
      <p:sp>
        <p:nvSpPr>
          <p:cNvPr id="12" name="Text 10"/>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MODEL</a:t>
            </a:r>
            <a:endParaRPr lang="en-US" sz="1200" dirty="0"/>
          </a:p>
        </p:txBody>
      </p:sp>
      <p:sp>
        <p:nvSpPr>
          <p:cNvPr id="13" name="Text 11"/>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4" name="Text 12"/>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CASE FILE 1 · 10–22 MIN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Word Detective: Anthropomorphism 🔎</a:t>
            </a:r>
            <a:endParaRPr lang="en-US" sz="3200" dirty="0"/>
          </a:p>
        </p:txBody>
      </p:sp>
      <p:sp>
        <p:nvSpPr>
          <p:cNvPr id="7" name="Shape 5"/>
          <p:cNvSpPr/>
          <p:nvPr/>
        </p:nvSpPr>
        <p:spPr>
          <a:xfrm>
            <a:off x="54864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3169920" cy="4023360"/>
          </a:xfrm>
          <a:prstGeom prst="rect">
            <a:avLst/>
          </a:prstGeom>
          <a:noFill/>
          <a:ln/>
        </p:spPr>
        <p:txBody>
          <a:bodyPr wrap="square" lIns="1905" tIns="0" rIns="635" bIns="1270" rtlCol="0" anchor="t"/>
          <a:lstStyle/>
          <a:p>
            <a:pPr marL="0" indent="0">
              <a:spcAft>
                <a:spcPts val="500"/>
              </a:spcAft>
              <a:buNone/>
            </a:pPr>
            <a:r>
              <a:rPr lang="en-US" sz="2400" b="1" dirty="0">
                <a:solidFill>
                  <a:srgbClr val="4E7D5B"/>
                </a:solidFill>
                <a:latin typeface="Calibri" pitchFamily="34" charset="0"/>
                <a:ea typeface="Calibri" pitchFamily="34" charset="-122"/>
                <a:cs typeface="Calibri" pitchFamily="34" charset="-120"/>
              </a:rPr>
              <a:t>ANTHROPOS</a:t>
            </a:r>
            <a:endParaRPr lang="en-US" sz="20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means "</a:t>
            </a:r>
            <a:r>
              <a:rPr lang="en-US" sz="2600" b="1" dirty="0">
                <a:solidFill>
                  <a:srgbClr val="1B2A38"/>
                </a:solidFill>
                <a:latin typeface="Calibri" pitchFamily="34" charset="0"/>
                <a:ea typeface="Calibri" pitchFamily="34" charset="-122"/>
                <a:cs typeface="Calibri" pitchFamily="34" charset="-120"/>
              </a:rPr>
              <a:t>human</a:t>
            </a:r>
            <a:r>
              <a:rPr lang="en-US" sz="2600" dirty="0">
                <a:solidFill>
                  <a:srgbClr val="1B2A38"/>
                </a:solidFill>
                <a:latin typeface="Calibri" pitchFamily="34" charset="0"/>
                <a:ea typeface="Calibri" pitchFamily="34" charset="-122"/>
                <a:cs typeface="Calibri" pitchFamily="34" charset="-120"/>
              </a:rPr>
              <a:t>" in Ancient Greek</a:t>
            </a:r>
            <a:endParaRPr lang="en-US" sz="1400" dirty="0"/>
          </a:p>
        </p:txBody>
      </p:sp>
      <p:sp>
        <p:nvSpPr>
          <p:cNvPr id="10" name="Shape 8"/>
          <p:cNvSpPr/>
          <p:nvPr/>
        </p:nvSpPr>
        <p:spPr>
          <a:xfrm>
            <a:off x="431292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4312920" y="1600200"/>
            <a:ext cx="64008" cy="3749040"/>
          </a:xfrm>
          <a:prstGeom prst="rect">
            <a:avLst/>
          </a:prstGeom>
          <a:solidFill>
            <a:srgbClr val="4F7CA0"/>
          </a:solidFill>
          <a:ln/>
        </p:spPr>
      </p:sp>
      <p:sp>
        <p:nvSpPr>
          <p:cNvPr id="12" name="Text 10"/>
          <p:cNvSpPr txBox="1"/>
          <p:nvPr/>
        </p:nvSpPr>
        <p:spPr>
          <a:xfrm>
            <a:off x="4541520" y="1463040"/>
            <a:ext cx="3169920" cy="4023360"/>
          </a:xfrm>
          <a:prstGeom prst="rect">
            <a:avLst/>
          </a:prstGeom>
          <a:noFill/>
          <a:ln/>
        </p:spPr>
        <p:txBody>
          <a:bodyPr wrap="square" lIns="1905" tIns="0" rIns="635" bIns="1270" rtlCol="0" anchor="t"/>
          <a:lstStyle/>
          <a:p>
            <a:pPr marL="0" indent="0">
              <a:spcAft>
                <a:spcPts val="500"/>
              </a:spcAft>
              <a:buNone/>
            </a:pPr>
            <a:r>
              <a:rPr lang="en-US" sz="2400" b="1" dirty="0">
                <a:solidFill>
                  <a:srgbClr val="4F7CA0"/>
                </a:solidFill>
                <a:latin typeface="Calibri" pitchFamily="34" charset="0"/>
                <a:ea typeface="Calibri" pitchFamily="34" charset="-122"/>
                <a:cs typeface="Calibri" pitchFamily="34" charset="-120"/>
              </a:rPr>
              <a:t>MORPH</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means "</a:t>
            </a:r>
            <a:r>
              <a:rPr lang="en-US" sz="2600" b="1" dirty="0">
                <a:solidFill>
                  <a:srgbClr val="1B2A38"/>
                </a:solidFill>
                <a:latin typeface="Calibri" pitchFamily="34" charset="0"/>
                <a:ea typeface="Calibri" pitchFamily="34" charset="-122"/>
                <a:cs typeface="Calibri" pitchFamily="34" charset="-120"/>
              </a:rPr>
              <a:t>shape</a:t>
            </a:r>
            <a:r>
              <a:rPr lang="en-US" sz="2600" dirty="0">
                <a:solidFill>
                  <a:srgbClr val="1B2A38"/>
                </a:solidFill>
                <a:latin typeface="Calibri" pitchFamily="34" charset="0"/>
                <a:ea typeface="Calibri" pitchFamily="34" charset="-122"/>
                <a:cs typeface="Calibri" pitchFamily="34" charset="-120"/>
              </a:rPr>
              <a:t>" or "form"</a:t>
            </a:r>
            <a:endParaRPr lang="en-US" sz="1400" dirty="0"/>
          </a:p>
        </p:txBody>
      </p:sp>
      <p:sp>
        <p:nvSpPr>
          <p:cNvPr id="13" name="Shape 11"/>
          <p:cNvSpPr/>
          <p:nvPr/>
        </p:nvSpPr>
        <p:spPr>
          <a:xfrm>
            <a:off x="807720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4" name="Shape 12"/>
          <p:cNvSpPr/>
          <p:nvPr/>
        </p:nvSpPr>
        <p:spPr>
          <a:xfrm>
            <a:off x="8077200" y="1600200"/>
            <a:ext cx="64008" cy="3749040"/>
          </a:xfrm>
          <a:prstGeom prst="rect">
            <a:avLst/>
          </a:prstGeom>
          <a:solidFill>
            <a:srgbClr val="C0674F"/>
          </a:solidFill>
          <a:ln/>
        </p:spPr>
      </p:sp>
      <p:sp>
        <p:nvSpPr>
          <p:cNvPr id="15" name="Text 13"/>
          <p:cNvSpPr txBox="1"/>
          <p:nvPr/>
        </p:nvSpPr>
        <p:spPr>
          <a:xfrm>
            <a:off x="8305800" y="1463040"/>
            <a:ext cx="3169920" cy="4023360"/>
          </a:xfrm>
          <a:prstGeom prst="rect">
            <a:avLst/>
          </a:prstGeom>
          <a:noFill/>
          <a:ln/>
        </p:spPr>
        <p:txBody>
          <a:bodyPr wrap="square" lIns="1905" tIns="0" rIns="635" bIns="1270" rtlCol="0" anchor="t"/>
          <a:lstStyle/>
          <a:p>
            <a:pPr marL="0" indent="0">
              <a:spcAft>
                <a:spcPts val="500"/>
              </a:spcAft>
              <a:buNone/>
            </a:pPr>
            <a:r>
              <a:rPr lang="en-US" sz="2400" b="1" dirty="0">
                <a:solidFill>
                  <a:srgbClr val="C0674F"/>
                </a:solidFill>
                <a:latin typeface="Calibri" pitchFamily="34" charset="0"/>
                <a:ea typeface="Calibri" pitchFamily="34" charset="-122"/>
                <a:cs typeface="Calibri" pitchFamily="34" charset="-120"/>
              </a:rPr>
              <a:t>TOGETHER</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Giving animals human characteristics in stories or pictures</a:t>
            </a:r>
            <a:endParaRPr lang="en-US" sz="1400" dirty="0"/>
          </a:p>
        </p:txBody>
      </p:sp>
      <p:sp>
        <p:nvSpPr>
          <p:cNvPr id="16" name="Text 14"/>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WATCH THE DETECTIVE</a:t>
            </a:r>
            <a:endParaRPr lang="en-US" sz="1100" dirty="0"/>
          </a:p>
        </p:txBody>
      </p:sp>
      <p:sp>
        <p:nvSpPr>
          <p:cNvPr id="17" name="Text 15"/>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Watch me split the word, then say it with me: an-thro-po-MOR-phism!</a:t>
            </a:r>
            <a:endParaRPr lang="en-US" sz="1600" dirty="0"/>
          </a:p>
        </p:txBody>
      </p:sp>
      <p:sp>
        <p:nvSpPr>
          <p:cNvPr id="18" name="Text 16"/>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MODEL</a:t>
            </a:r>
            <a:endParaRPr lang="en-US" sz="1200" dirty="0"/>
          </a:p>
        </p:txBody>
      </p:sp>
      <p:sp>
        <p:nvSpPr>
          <p:cNvPr id="19" name="Text 17"/>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 MONDAY</a:t>
            </a:r>
            <a:endParaRPr lang="en-US" sz="900" dirty="0"/>
          </a:p>
        </p:txBody>
      </p:sp>
      <p:sp>
        <p:nvSpPr>
          <p:cNvPr id="20" name="Text 18"/>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CASE FILE 1 · 10–22 MIN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Think-Aloud: What Is a Stereotype? 🔎</a:t>
            </a:r>
            <a:endParaRPr lang="en-US" sz="3200" dirty="0"/>
          </a:p>
        </p:txBody>
      </p:sp>
      <p:sp>
        <p:nvSpPr>
          <p:cNvPr id="7" name="Shape 5"/>
          <p:cNvSpPr/>
          <p:nvPr/>
        </p:nvSpPr>
        <p:spPr>
          <a:xfrm>
            <a:off x="1503045" y="1463040"/>
            <a:ext cx="548640" cy="548640"/>
          </a:xfrm>
          <a:prstGeom prst="ellipse">
            <a:avLst/>
          </a:prstGeom>
          <a:solidFill>
            <a:srgbClr val="4E7D5B"/>
          </a:solidFill>
          <a:ln/>
        </p:spPr>
      </p:sp>
      <p:sp>
        <p:nvSpPr>
          <p:cNvPr id="8" name="Text 6"/>
          <p:cNvSpPr txBox="1"/>
          <p:nvPr/>
        </p:nvSpPr>
        <p:spPr>
          <a:xfrm>
            <a:off x="1503045"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Shape 7"/>
          <p:cNvSpPr/>
          <p:nvPr/>
        </p:nvSpPr>
        <p:spPr>
          <a:xfrm>
            <a:off x="3070098" y="3680460"/>
            <a:ext cx="283464" cy="274320"/>
          </a:xfrm>
          <a:prstGeom prst="rightArrow">
            <a:avLst/>
          </a:prstGeom>
          <a:solidFill>
            <a:srgbClr val="D9A441"/>
          </a:solidFill>
          <a:ln/>
        </p:spPr>
      </p:sp>
      <p:sp>
        <p:nvSpPr>
          <p:cNvPr id="10" name="Shape 8"/>
          <p:cNvSpPr/>
          <p:nvPr/>
        </p:nvSpPr>
        <p:spPr>
          <a:xfrm>
            <a:off x="548640" y="2148840"/>
            <a:ext cx="2457450" cy="3337560"/>
          </a:xfrm>
          <a:prstGeom prst="roundRect">
            <a:avLst>
              <a:gd name="adj" fmla="val 4465"/>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548640" y="2286000"/>
            <a:ext cx="64008" cy="3063240"/>
          </a:xfrm>
          <a:prstGeom prst="rect">
            <a:avLst/>
          </a:prstGeom>
          <a:solidFill>
            <a:srgbClr val="4E7D5B"/>
          </a:solidFill>
          <a:ln/>
        </p:spPr>
      </p:sp>
      <p:sp>
        <p:nvSpPr>
          <p:cNvPr id="12" name="Text 10"/>
          <p:cNvSpPr txBox="1"/>
          <p:nvPr/>
        </p:nvSpPr>
        <p:spPr>
          <a:xfrm>
            <a:off x="777240" y="2148840"/>
            <a:ext cx="209169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1 · LOOK</a:t>
            </a:r>
            <a:endParaRPr lang="en-US" sz="1400" dirty="0"/>
          </a:p>
          <a:p>
            <a:pPr marL="0" indent="0">
              <a:spcAft>
                <a:spcPts val="500"/>
              </a:spcAft>
              <a:buNone/>
            </a:pPr>
            <a:r>
              <a:rPr lang="en-US" sz="2427" dirty="0">
                <a:solidFill>
                  <a:srgbClr val="1B2A38"/>
                </a:solidFill>
                <a:latin typeface="Calibri" pitchFamily="34" charset="0"/>
                <a:ea typeface="Calibri" pitchFamily="34" charset="-122"/>
                <a:cs typeface="Calibri" pitchFamily="34" charset="-120"/>
              </a:rPr>
              <a:t>In stories, the tortoise is slow and never quits.</a:t>
            </a:r>
            <a:endParaRPr lang="en-US" sz="1400" dirty="0"/>
          </a:p>
        </p:txBody>
      </p:sp>
      <p:sp>
        <p:nvSpPr>
          <p:cNvPr id="13" name="Shape 11"/>
          <p:cNvSpPr/>
          <p:nvPr/>
        </p:nvSpPr>
        <p:spPr>
          <a:xfrm>
            <a:off x="4371975" y="1463040"/>
            <a:ext cx="548640" cy="548640"/>
          </a:xfrm>
          <a:prstGeom prst="ellipse">
            <a:avLst/>
          </a:prstGeom>
          <a:solidFill>
            <a:srgbClr val="4F7CA0"/>
          </a:solidFill>
          <a:ln/>
        </p:spPr>
      </p:sp>
      <p:sp>
        <p:nvSpPr>
          <p:cNvPr id="14" name="Text 12"/>
          <p:cNvSpPr txBox="1"/>
          <p:nvPr/>
        </p:nvSpPr>
        <p:spPr>
          <a:xfrm>
            <a:off x="4371975"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Shape 13"/>
          <p:cNvSpPr/>
          <p:nvPr/>
        </p:nvSpPr>
        <p:spPr>
          <a:xfrm>
            <a:off x="5939028" y="3680460"/>
            <a:ext cx="283464" cy="274320"/>
          </a:xfrm>
          <a:prstGeom prst="rightArrow">
            <a:avLst/>
          </a:prstGeom>
          <a:solidFill>
            <a:srgbClr val="D9A441"/>
          </a:solidFill>
          <a:ln/>
        </p:spPr>
      </p:sp>
      <p:sp>
        <p:nvSpPr>
          <p:cNvPr id="16" name="Shape 14"/>
          <p:cNvSpPr/>
          <p:nvPr/>
        </p:nvSpPr>
        <p:spPr>
          <a:xfrm>
            <a:off x="3417570" y="2148840"/>
            <a:ext cx="2457450" cy="3337560"/>
          </a:xfrm>
          <a:prstGeom prst="roundRect">
            <a:avLst>
              <a:gd name="adj" fmla="val 4465"/>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3417570" y="2286000"/>
            <a:ext cx="64008" cy="3063240"/>
          </a:xfrm>
          <a:prstGeom prst="rect">
            <a:avLst/>
          </a:prstGeom>
          <a:solidFill>
            <a:srgbClr val="4F7CA0"/>
          </a:solidFill>
          <a:ln/>
        </p:spPr>
      </p:sp>
      <p:sp>
        <p:nvSpPr>
          <p:cNvPr id="18" name="Text 16"/>
          <p:cNvSpPr txBox="1"/>
          <p:nvPr/>
        </p:nvSpPr>
        <p:spPr>
          <a:xfrm>
            <a:off x="3646170" y="2148840"/>
            <a:ext cx="209169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F7CA0"/>
                </a:solidFill>
                <a:latin typeface="Calibri" pitchFamily="34" charset="0"/>
                <a:ea typeface="Calibri" pitchFamily="34" charset="-122"/>
                <a:cs typeface="Calibri" pitchFamily="34" charset="-120"/>
              </a:rPr>
              <a:t>2 · NAME IT</a:t>
            </a:r>
            <a:endParaRPr lang="en-US" sz="1400" dirty="0"/>
          </a:p>
          <a:p>
            <a:pPr marL="0" indent="0">
              <a:spcAft>
                <a:spcPts val="500"/>
              </a:spcAft>
              <a:buNone/>
            </a:pPr>
            <a:r>
              <a:rPr lang="en-US" sz="2427" b="1" dirty="0">
                <a:solidFill>
                  <a:srgbClr val="1B2A38"/>
                </a:solidFill>
                <a:latin typeface="Calibri" pitchFamily="34" charset="0"/>
                <a:ea typeface="Calibri" pitchFamily="34" charset="-122"/>
                <a:cs typeface="Calibri" pitchFamily="34" charset="-120"/>
              </a:rPr>
              <a:t>Stereotype</a:t>
            </a:r>
            <a:r>
              <a:rPr lang="en-US" sz="2427" dirty="0">
                <a:solidFill>
                  <a:srgbClr val="1B2A38"/>
                </a:solidFill>
                <a:latin typeface="Calibri" pitchFamily="34" charset="0"/>
                <a:ea typeface="Calibri" pitchFamily="34" charset="-122"/>
                <a:cs typeface="Calibri" pitchFamily="34" charset="-120"/>
              </a:rPr>
              <a:t>:              the typical traits linked to a type of character.</a:t>
            </a:r>
            <a:endParaRPr lang="en-US" sz="1400" dirty="0"/>
          </a:p>
        </p:txBody>
      </p:sp>
      <p:sp>
        <p:nvSpPr>
          <p:cNvPr id="19" name="Shape 17"/>
          <p:cNvSpPr/>
          <p:nvPr/>
        </p:nvSpPr>
        <p:spPr>
          <a:xfrm>
            <a:off x="7240905" y="1463040"/>
            <a:ext cx="548640" cy="548640"/>
          </a:xfrm>
          <a:prstGeom prst="ellipse">
            <a:avLst/>
          </a:prstGeom>
          <a:solidFill>
            <a:srgbClr val="C0674F"/>
          </a:solidFill>
          <a:ln/>
        </p:spPr>
      </p:sp>
      <p:sp>
        <p:nvSpPr>
          <p:cNvPr id="20" name="Text 18"/>
          <p:cNvSpPr txBox="1"/>
          <p:nvPr/>
        </p:nvSpPr>
        <p:spPr>
          <a:xfrm>
            <a:off x="7240905"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Shape 19"/>
          <p:cNvSpPr/>
          <p:nvPr/>
        </p:nvSpPr>
        <p:spPr>
          <a:xfrm>
            <a:off x="8807958" y="3680460"/>
            <a:ext cx="283464" cy="274320"/>
          </a:xfrm>
          <a:prstGeom prst="rightArrow">
            <a:avLst/>
          </a:prstGeom>
          <a:solidFill>
            <a:srgbClr val="D9A441"/>
          </a:solidFill>
          <a:ln/>
        </p:spPr>
      </p:sp>
      <p:sp>
        <p:nvSpPr>
          <p:cNvPr id="22" name="Shape 20"/>
          <p:cNvSpPr/>
          <p:nvPr/>
        </p:nvSpPr>
        <p:spPr>
          <a:xfrm>
            <a:off x="6286500" y="2148840"/>
            <a:ext cx="2457450" cy="3337560"/>
          </a:xfrm>
          <a:prstGeom prst="roundRect">
            <a:avLst>
              <a:gd name="adj" fmla="val 4465"/>
            </a:avLst>
          </a:prstGeom>
          <a:solidFill>
            <a:srgbClr val="FFFFFF"/>
          </a:solidFill>
          <a:ln/>
          <a:effectLst>
            <a:outerShdw blurRad="76200" dist="25400" dir="5400000" algn="bl" rotWithShape="0">
              <a:srgbClr val="000000">
                <a:alpha val="14000"/>
              </a:srgbClr>
            </a:outerShdw>
          </a:effectLst>
        </p:spPr>
      </p:sp>
      <p:sp>
        <p:nvSpPr>
          <p:cNvPr id="23" name="Shape 21"/>
          <p:cNvSpPr/>
          <p:nvPr/>
        </p:nvSpPr>
        <p:spPr>
          <a:xfrm>
            <a:off x="6286500" y="2286000"/>
            <a:ext cx="64008" cy="3063240"/>
          </a:xfrm>
          <a:prstGeom prst="rect">
            <a:avLst/>
          </a:prstGeom>
          <a:solidFill>
            <a:srgbClr val="C0674F"/>
          </a:solidFill>
          <a:ln/>
        </p:spPr>
      </p:sp>
      <p:sp>
        <p:nvSpPr>
          <p:cNvPr id="24" name="Text 22"/>
          <p:cNvSpPr txBox="1"/>
          <p:nvPr/>
        </p:nvSpPr>
        <p:spPr>
          <a:xfrm>
            <a:off x="6515100" y="2148840"/>
            <a:ext cx="209169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C0674F"/>
                </a:solidFill>
                <a:latin typeface="Calibri" pitchFamily="34" charset="0"/>
                <a:ea typeface="Calibri" pitchFamily="34" charset="-122"/>
                <a:cs typeface="Calibri" pitchFamily="34" charset="-120"/>
              </a:rPr>
              <a:t>3 · TEST IT</a:t>
            </a:r>
            <a:endParaRPr lang="en-US" sz="1400" dirty="0"/>
          </a:p>
          <a:p>
            <a:pPr marL="0" indent="0">
              <a:spcAft>
                <a:spcPts val="500"/>
              </a:spcAft>
              <a:buNone/>
            </a:pPr>
            <a:r>
              <a:rPr lang="en-US" sz="2427" dirty="0">
                <a:solidFill>
                  <a:srgbClr val="1B2A38"/>
                </a:solidFill>
                <a:latin typeface="Calibri" pitchFamily="34" charset="0"/>
                <a:ea typeface="Calibri" pitchFamily="34" charset="-122"/>
                <a:cs typeface="Calibri" pitchFamily="34" charset="-120"/>
              </a:rPr>
              <a:t>Real tortoises are slow, but they do not think like wise people.</a:t>
            </a:r>
            <a:endParaRPr lang="en-US" sz="1400" dirty="0"/>
          </a:p>
        </p:txBody>
      </p:sp>
      <p:sp>
        <p:nvSpPr>
          <p:cNvPr id="25" name="Shape 23"/>
          <p:cNvSpPr/>
          <p:nvPr/>
        </p:nvSpPr>
        <p:spPr>
          <a:xfrm>
            <a:off x="10109835" y="1463040"/>
            <a:ext cx="548640" cy="548640"/>
          </a:xfrm>
          <a:prstGeom prst="ellipse">
            <a:avLst/>
          </a:prstGeom>
          <a:solidFill>
            <a:srgbClr val="D9A441"/>
          </a:solidFill>
          <a:ln/>
        </p:spPr>
      </p:sp>
      <p:sp>
        <p:nvSpPr>
          <p:cNvPr id="26" name="Text 24"/>
          <p:cNvSpPr txBox="1"/>
          <p:nvPr/>
        </p:nvSpPr>
        <p:spPr>
          <a:xfrm>
            <a:off x="10109835" y="1463040"/>
            <a:ext cx="548640" cy="548640"/>
          </a:xfrm>
          <a:prstGeom prst="rect">
            <a:avLst/>
          </a:prstGeom>
          <a:noFill/>
          <a:ln/>
        </p:spPr>
        <p:txBody>
          <a:bodyPr wrap="square" lIns="0" tIns="0" rIns="0" bIns="0" rtlCol="0" anchor="ctr"/>
          <a:lstStyle/>
          <a:p>
            <a:pPr marL="0" indent="0" algn="ctr">
              <a:buNone/>
            </a:pPr>
            <a:r>
              <a:rPr lang="en-US" sz="2200" b="1" dirty="0">
                <a:solidFill>
                  <a:srgbClr val="1B2A38"/>
                </a:solidFill>
                <a:latin typeface="Calibri" pitchFamily="34" charset="0"/>
                <a:ea typeface="Calibri" pitchFamily="34" charset="-122"/>
                <a:cs typeface="Calibri" pitchFamily="34" charset="-120"/>
              </a:rPr>
              <a:t>4</a:t>
            </a:r>
            <a:endParaRPr lang="en-US" sz="2200" dirty="0"/>
          </a:p>
        </p:txBody>
      </p:sp>
      <p:sp>
        <p:nvSpPr>
          <p:cNvPr id="27" name="Shape 25"/>
          <p:cNvSpPr/>
          <p:nvPr/>
        </p:nvSpPr>
        <p:spPr>
          <a:xfrm>
            <a:off x="9155430" y="2148840"/>
            <a:ext cx="2457450" cy="3337560"/>
          </a:xfrm>
          <a:prstGeom prst="roundRect">
            <a:avLst>
              <a:gd name="adj" fmla="val 4465"/>
            </a:avLst>
          </a:prstGeom>
          <a:solidFill>
            <a:srgbClr val="FFFFFF"/>
          </a:solidFill>
          <a:ln/>
          <a:effectLst>
            <a:outerShdw blurRad="76200" dist="25400" dir="5400000" algn="bl" rotWithShape="0">
              <a:srgbClr val="000000">
                <a:alpha val="14000"/>
              </a:srgbClr>
            </a:outerShdw>
          </a:effectLst>
        </p:spPr>
      </p:sp>
      <p:sp>
        <p:nvSpPr>
          <p:cNvPr id="28" name="Shape 26"/>
          <p:cNvSpPr/>
          <p:nvPr/>
        </p:nvSpPr>
        <p:spPr>
          <a:xfrm>
            <a:off x="9155430" y="2286000"/>
            <a:ext cx="64008" cy="3063240"/>
          </a:xfrm>
          <a:prstGeom prst="rect">
            <a:avLst/>
          </a:prstGeom>
          <a:solidFill>
            <a:srgbClr val="D9A441"/>
          </a:solidFill>
          <a:ln/>
        </p:spPr>
      </p:sp>
      <p:sp>
        <p:nvSpPr>
          <p:cNvPr id="29" name="Text 27"/>
          <p:cNvSpPr txBox="1"/>
          <p:nvPr/>
        </p:nvSpPr>
        <p:spPr>
          <a:xfrm>
            <a:off x="9265072" y="2148840"/>
            <a:ext cx="2347807" cy="3337560"/>
          </a:xfrm>
          <a:prstGeom prst="rect">
            <a:avLst/>
          </a:prstGeom>
          <a:noFill/>
          <a:ln/>
        </p:spPr>
        <p:txBody>
          <a:bodyPr wrap="square" lIns="1905" tIns="0" rIns="635" bIns="1270" rtlCol="0" anchor="t"/>
          <a:lstStyle/>
          <a:p>
            <a:pPr marL="0" indent="0">
              <a:spcAft>
                <a:spcPts val="500"/>
              </a:spcAft>
              <a:buNone/>
            </a:pPr>
            <a:r>
              <a:rPr lang="en-US" sz="1400" b="1" dirty="0">
                <a:solidFill>
                  <a:srgbClr val="9A6F12"/>
                </a:solidFill>
                <a:latin typeface="Calibri" pitchFamily="34" charset="0"/>
                <a:ea typeface="Calibri" pitchFamily="34" charset="-122"/>
                <a:cs typeface="Calibri" pitchFamily="34" charset="-120"/>
              </a:rPr>
              <a:t>4 · REMEMBER</a:t>
            </a:r>
            <a:endParaRPr lang="en-US" sz="1400" dirty="0"/>
          </a:p>
          <a:p>
            <a:pPr marL="0" indent="0">
              <a:spcAft>
                <a:spcPts val="500"/>
              </a:spcAft>
              <a:buNone/>
            </a:pPr>
            <a:r>
              <a:rPr lang="en-US" sz="2427" b="1" dirty="0">
                <a:solidFill>
                  <a:srgbClr val="1B2A38"/>
                </a:solidFill>
                <a:latin typeface="Calibri" pitchFamily="34" charset="0"/>
                <a:ea typeface="Calibri" pitchFamily="34" charset="-122"/>
                <a:cs typeface="Calibri" pitchFamily="34" charset="-120"/>
              </a:rPr>
              <a:t>Stereotypes</a:t>
            </a:r>
            <a:r>
              <a:rPr lang="en-US" sz="2427" dirty="0">
                <a:solidFill>
                  <a:srgbClr val="1B2A38"/>
                </a:solidFill>
                <a:latin typeface="Calibri" pitchFamily="34" charset="0"/>
                <a:ea typeface="Calibri" pitchFamily="34" charset="-122"/>
                <a:cs typeface="Calibri" pitchFamily="34" charset="-120"/>
              </a:rPr>
              <a:t> are writers’ shortcuts.                  They are not always true.</a:t>
            </a:r>
            <a:endParaRPr lang="en-US" sz="1400" dirty="0"/>
          </a:p>
        </p:txBody>
      </p:sp>
      <p:sp>
        <p:nvSpPr>
          <p:cNvPr id="30" name="Text 28"/>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WATCH THE DETECTIVE</a:t>
            </a:r>
            <a:endParaRPr lang="en-US" sz="1100" dirty="0"/>
          </a:p>
        </p:txBody>
      </p:sp>
      <p:sp>
        <p:nvSpPr>
          <p:cNvPr id="31" name="Text 29"/>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I say: "I see... I think... because..."</a:t>
            </a:r>
            <a:endParaRPr lang="en-US" sz="1600" dirty="0"/>
          </a:p>
        </p:txBody>
      </p:sp>
      <p:sp>
        <p:nvSpPr>
          <p:cNvPr id="32" name="Text 30"/>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MODEL</a:t>
            </a:r>
            <a:endParaRPr lang="en-US" sz="1200" dirty="0"/>
          </a:p>
        </p:txBody>
      </p:sp>
      <p:sp>
        <p:nvSpPr>
          <p:cNvPr id="33" name="Text 31"/>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 MONDAY</a:t>
            </a:r>
            <a:endParaRPr lang="en-US" sz="900" dirty="0"/>
          </a:p>
        </p:txBody>
      </p:sp>
      <p:sp>
        <p:nvSpPr>
          <p:cNvPr id="34" name="Text 32"/>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CASE FILE 1 · 22–42 MIN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Stereotype Stations 🧩</a:t>
            </a:r>
            <a:endParaRPr lang="en-US" sz="3200" dirty="0"/>
          </a:p>
        </p:txBody>
      </p:sp>
      <p:sp>
        <p:nvSpPr>
          <p:cNvPr id="7" name="Shape 5"/>
          <p:cNvSpPr/>
          <p:nvPr/>
        </p:nvSpPr>
        <p:spPr>
          <a:xfrm rot="-120000">
            <a:off x="548640" y="1463040"/>
            <a:ext cx="2594610" cy="1897380"/>
          </a:xfrm>
          <a:prstGeom prst="rect">
            <a:avLst/>
          </a:prstGeom>
          <a:solidFill>
            <a:srgbClr val="FFF3B0"/>
          </a:solidFill>
          <a:ln/>
          <a:effectLst>
            <a:outerShdw blurRad="76200" dist="25400" dir="5400000" algn="bl" rotWithShape="0">
              <a:srgbClr val="000000">
                <a:alpha val="14000"/>
              </a:srgbClr>
            </a:outerShdw>
          </a:effectLst>
        </p:spPr>
      </p:sp>
      <p:sp>
        <p:nvSpPr>
          <p:cNvPr id="8" name="Shape 6"/>
          <p:cNvSpPr/>
          <p:nvPr/>
        </p:nvSpPr>
        <p:spPr>
          <a:xfrm>
            <a:off x="1745361" y="1371600"/>
            <a:ext cx="201168" cy="201168"/>
          </a:xfrm>
          <a:prstGeom prst="ellipse">
            <a:avLst/>
          </a:prstGeom>
          <a:solidFill>
            <a:srgbClr val="C0674F"/>
          </a:solidFill>
          <a:ln/>
        </p:spPr>
      </p:sp>
      <p:sp>
        <p:nvSpPr>
          <p:cNvPr id="9" name="Text 7"/>
          <p:cNvSpPr txBox="1"/>
          <p:nvPr/>
        </p:nvSpPr>
        <p:spPr>
          <a:xfrm rot="-120000">
            <a:off x="685800" y="146304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Rat</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Trait?</a:t>
            </a:r>
            <a:endParaRPr lang="en-US" sz="1700" dirty="0"/>
          </a:p>
        </p:txBody>
      </p:sp>
      <p:sp>
        <p:nvSpPr>
          <p:cNvPr id="10" name="Shape 8"/>
          <p:cNvSpPr/>
          <p:nvPr/>
        </p:nvSpPr>
        <p:spPr>
          <a:xfrm rot="90000">
            <a:off x="3371850" y="1463040"/>
            <a:ext cx="2594610" cy="1897380"/>
          </a:xfrm>
          <a:prstGeom prst="rect">
            <a:avLst/>
          </a:prstGeom>
          <a:solidFill>
            <a:srgbClr val="D5EEDD"/>
          </a:solidFill>
          <a:ln/>
          <a:effectLst>
            <a:outerShdw blurRad="76200" dist="25400" dir="5400000" algn="bl" rotWithShape="0">
              <a:srgbClr val="000000">
                <a:alpha val="14000"/>
              </a:srgbClr>
            </a:outerShdw>
          </a:effectLst>
        </p:spPr>
      </p:sp>
      <p:sp>
        <p:nvSpPr>
          <p:cNvPr id="11" name="Shape 9"/>
          <p:cNvSpPr/>
          <p:nvPr/>
        </p:nvSpPr>
        <p:spPr>
          <a:xfrm>
            <a:off x="4568571" y="1371600"/>
            <a:ext cx="201168" cy="201168"/>
          </a:xfrm>
          <a:prstGeom prst="ellipse">
            <a:avLst/>
          </a:prstGeom>
          <a:solidFill>
            <a:srgbClr val="C0674F"/>
          </a:solidFill>
          <a:ln/>
        </p:spPr>
      </p:sp>
      <p:sp>
        <p:nvSpPr>
          <p:cNvPr id="12" name="Text 10"/>
          <p:cNvSpPr txBox="1"/>
          <p:nvPr/>
        </p:nvSpPr>
        <p:spPr>
          <a:xfrm rot="90000">
            <a:off x="3509010" y="146304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Bull</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Trait?</a:t>
            </a:r>
            <a:endParaRPr lang="en-US" sz="1700" dirty="0"/>
          </a:p>
        </p:txBody>
      </p:sp>
      <p:sp>
        <p:nvSpPr>
          <p:cNvPr id="13" name="Shape 11"/>
          <p:cNvSpPr/>
          <p:nvPr/>
        </p:nvSpPr>
        <p:spPr>
          <a:xfrm rot="-60000">
            <a:off x="6195060" y="1463040"/>
            <a:ext cx="2594610" cy="1897380"/>
          </a:xfrm>
          <a:prstGeom prst="rect">
            <a:avLst/>
          </a:prstGeom>
          <a:solidFill>
            <a:srgbClr val="FAD9CF"/>
          </a:solidFill>
          <a:ln/>
          <a:effectLst>
            <a:outerShdw blurRad="76200" dist="25400" dir="5400000" algn="bl" rotWithShape="0">
              <a:srgbClr val="000000">
                <a:alpha val="14000"/>
              </a:srgbClr>
            </a:outerShdw>
          </a:effectLst>
        </p:spPr>
      </p:sp>
      <p:sp>
        <p:nvSpPr>
          <p:cNvPr id="14" name="Shape 12"/>
          <p:cNvSpPr/>
          <p:nvPr/>
        </p:nvSpPr>
        <p:spPr>
          <a:xfrm>
            <a:off x="7391781" y="1371600"/>
            <a:ext cx="201168" cy="201168"/>
          </a:xfrm>
          <a:prstGeom prst="ellipse">
            <a:avLst/>
          </a:prstGeom>
          <a:solidFill>
            <a:srgbClr val="C0674F"/>
          </a:solidFill>
          <a:ln/>
        </p:spPr>
      </p:sp>
      <p:sp>
        <p:nvSpPr>
          <p:cNvPr id="15" name="Text 13"/>
          <p:cNvSpPr txBox="1"/>
          <p:nvPr/>
        </p:nvSpPr>
        <p:spPr>
          <a:xfrm rot="-60000">
            <a:off x="6332220" y="146304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Hare</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Trait?</a:t>
            </a:r>
            <a:endParaRPr lang="en-US" sz="1700" dirty="0"/>
          </a:p>
        </p:txBody>
      </p:sp>
      <p:sp>
        <p:nvSpPr>
          <p:cNvPr id="16" name="Shape 14"/>
          <p:cNvSpPr/>
          <p:nvPr/>
        </p:nvSpPr>
        <p:spPr>
          <a:xfrm rot="120000">
            <a:off x="9018270" y="1463040"/>
            <a:ext cx="2594610" cy="1897380"/>
          </a:xfrm>
          <a:prstGeom prst="rect">
            <a:avLst/>
          </a:prstGeom>
          <a:solidFill>
            <a:srgbClr val="D3E4F4"/>
          </a:solidFill>
          <a:ln/>
          <a:effectLst>
            <a:outerShdw blurRad="76200" dist="25400" dir="5400000" algn="bl" rotWithShape="0">
              <a:srgbClr val="000000">
                <a:alpha val="14000"/>
              </a:srgbClr>
            </a:outerShdw>
          </a:effectLst>
        </p:spPr>
      </p:sp>
      <p:sp>
        <p:nvSpPr>
          <p:cNvPr id="17" name="Shape 15"/>
          <p:cNvSpPr/>
          <p:nvPr/>
        </p:nvSpPr>
        <p:spPr>
          <a:xfrm>
            <a:off x="10214991" y="1371600"/>
            <a:ext cx="201168" cy="201168"/>
          </a:xfrm>
          <a:prstGeom prst="ellipse">
            <a:avLst/>
          </a:prstGeom>
          <a:solidFill>
            <a:srgbClr val="C0674F"/>
          </a:solidFill>
          <a:ln/>
        </p:spPr>
      </p:sp>
      <p:sp>
        <p:nvSpPr>
          <p:cNvPr id="18" name="Text 16"/>
          <p:cNvSpPr txBox="1"/>
          <p:nvPr/>
        </p:nvSpPr>
        <p:spPr>
          <a:xfrm rot="120000">
            <a:off x="9155430" y="146304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Dolphin</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Trait?</a:t>
            </a:r>
            <a:endParaRPr lang="en-US" sz="1700" dirty="0"/>
          </a:p>
        </p:txBody>
      </p:sp>
      <p:sp>
        <p:nvSpPr>
          <p:cNvPr id="19" name="Shape 17"/>
          <p:cNvSpPr/>
          <p:nvPr/>
        </p:nvSpPr>
        <p:spPr>
          <a:xfrm rot="-120000">
            <a:off x="548640" y="3589020"/>
            <a:ext cx="2594610" cy="1897380"/>
          </a:xfrm>
          <a:prstGeom prst="rect">
            <a:avLst/>
          </a:prstGeom>
          <a:solidFill>
            <a:srgbClr val="FFF3B0"/>
          </a:solidFill>
          <a:ln/>
          <a:effectLst>
            <a:outerShdw blurRad="76200" dist="25400" dir="5400000" algn="bl" rotWithShape="0">
              <a:srgbClr val="000000">
                <a:alpha val="14000"/>
              </a:srgbClr>
            </a:outerShdw>
          </a:effectLst>
        </p:spPr>
      </p:sp>
      <p:sp>
        <p:nvSpPr>
          <p:cNvPr id="20" name="Shape 18"/>
          <p:cNvSpPr/>
          <p:nvPr/>
        </p:nvSpPr>
        <p:spPr>
          <a:xfrm>
            <a:off x="1745361" y="3497580"/>
            <a:ext cx="201168" cy="201168"/>
          </a:xfrm>
          <a:prstGeom prst="ellipse">
            <a:avLst/>
          </a:prstGeom>
          <a:solidFill>
            <a:srgbClr val="C0674F"/>
          </a:solidFill>
          <a:ln/>
        </p:spPr>
      </p:sp>
      <p:sp>
        <p:nvSpPr>
          <p:cNvPr id="21" name="Text 19"/>
          <p:cNvSpPr txBox="1"/>
          <p:nvPr/>
        </p:nvSpPr>
        <p:spPr>
          <a:xfrm rot="-120000">
            <a:off x="685800" y="358902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Monkey</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Trait?</a:t>
            </a:r>
            <a:endParaRPr lang="en-US" sz="1700" dirty="0"/>
          </a:p>
        </p:txBody>
      </p:sp>
      <p:sp>
        <p:nvSpPr>
          <p:cNvPr id="22" name="Shape 20"/>
          <p:cNvSpPr/>
          <p:nvPr/>
        </p:nvSpPr>
        <p:spPr>
          <a:xfrm rot="90000">
            <a:off x="3371850" y="3589020"/>
            <a:ext cx="2594610" cy="1897380"/>
          </a:xfrm>
          <a:prstGeom prst="rect">
            <a:avLst/>
          </a:prstGeom>
          <a:solidFill>
            <a:srgbClr val="D5EEDD"/>
          </a:solidFill>
          <a:ln/>
          <a:effectLst>
            <a:outerShdw blurRad="76200" dist="25400" dir="5400000" algn="bl" rotWithShape="0">
              <a:srgbClr val="000000">
                <a:alpha val="14000"/>
              </a:srgbClr>
            </a:outerShdw>
          </a:effectLst>
        </p:spPr>
      </p:sp>
      <p:sp>
        <p:nvSpPr>
          <p:cNvPr id="23" name="Shape 21"/>
          <p:cNvSpPr/>
          <p:nvPr/>
        </p:nvSpPr>
        <p:spPr>
          <a:xfrm>
            <a:off x="4568571" y="3497580"/>
            <a:ext cx="201168" cy="201168"/>
          </a:xfrm>
          <a:prstGeom prst="ellipse">
            <a:avLst/>
          </a:prstGeom>
          <a:solidFill>
            <a:srgbClr val="C0674F"/>
          </a:solidFill>
          <a:ln/>
        </p:spPr>
      </p:sp>
      <p:sp>
        <p:nvSpPr>
          <p:cNvPr id="24" name="Text 22"/>
          <p:cNvSpPr txBox="1"/>
          <p:nvPr/>
        </p:nvSpPr>
        <p:spPr>
          <a:xfrm rot="90000">
            <a:off x="3509010" y="358902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Sheep</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Trait?</a:t>
            </a:r>
            <a:endParaRPr lang="en-US" sz="1700" dirty="0"/>
          </a:p>
        </p:txBody>
      </p:sp>
      <p:sp>
        <p:nvSpPr>
          <p:cNvPr id="25" name="Shape 23"/>
          <p:cNvSpPr/>
          <p:nvPr/>
        </p:nvSpPr>
        <p:spPr>
          <a:xfrm rot="-60000">
            <a:off x="6195060" y="3589020"/>
            <a:ext cx="2594610" cy="1897380"/>
          </a:xfrm>
          <a:prstGeom prst="rect">
            <a:avLst/>
          </a:prstGeom>
          <a:solidFill>
            <a:srgbClr val="FAD9CF"/>
          </a:solidFill>
          <a:ln/>
          <a:effectLst>
            <a:outerShdw blurRad="76200" dist="25400" dir="5400000" algn="bl" rotWithShape="0">
              <a:srgbClr val="000000">
                <a:alpha val="14000"/>
              </a:srgbClr>
            </a:outerShdw>
          </a:effectLst>
        </p:spPr>
      </p:sp>
      <p:sp>
        <p:nvSpPr>
          <p:cNvPr id="26" name="Shape 24"/>
          <p:cNvSpPr/>
          <p:nvPr/>
        </p:nvSpPr>
        <p:spPr>
          <a:xfrm>
            <a:off x="7391781" y="3497580"/>
            <a:ext cx="201168" cy="201168"/>
          </a:xfrm>
          <a:prstGeom prst="ellipse">
            <a:avLst/>
          </a:prstGeom>
          <a:solidFill>
            <a:srgbClr val="C0674F"/>
          </a:solidFill>
          <a:ln/>
        </p:spPr>
      </p:sp>
      <p:sp>
        <p:nvSpPr>
          <p:cNvPr id="27" name="Text 25"/>
          <p:cNvSpPr txBox="1"/>
          <p:nvPr/>
        </p:nvSpPr>
        <p:spPr>
          <a:xfrm rot="-60000">
            <a:off x="6332220" y="358902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Bee</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Trait?</a:t>
            </a:r>
            <a:endParaRPr lang="en-US" sz="1700" dirty="0"/>
          </a:p>
        </p:txBody>
      </p:sp>
      <p:sp>
        <p:nvSpPr>
          <p:cNvPr id="28" name="Shape 26"/>
          <p:cNvSpPr/>
          <p:nvPr/>
        </p:nvSpPr>
        <p:spPr>
          <a:xfrm rot="120000">
            <a:off x="9018270" y="3589020"/>
            <a:ext cx="2594610" cy="1897380"/>
          </a:xfrm>
          <a:prstGeom prst="rect">
            <a:avLst/>
          </a:prstGeom>
          <a:solidFill>
            <a:srgbClr val="D3E4F4"/>
          </a:solidFill>
          <a:ln/>
          <a:effectLst>
            <a:outerShdw blurRad="76200" dist="25400" dir="5400000" algn="bl" rotWithShape="0">
              <a:srgbClr val="000000">
                <a:alpha val="14000"/>
              </a:srgbClr>
            </a:outerShdw>
          </a:effectLst>
        </p:spPr>
      </p:sp>
      <p:sp>
        <p:nvSpPr>
          <p:cNvPr id="29" name="Shape 27"/>
          <p:cNvSpPr/>
          <p:nvPr/>
        </p:nvSpPr>
        <p:spPr>
          <a:xfrm>
            <a:off x="10214991" y="3497580"/>
            <a:ext cx="201168" cy="201168"/>
          </a:xfrm>
          <a:prstGeom prst="ellipse">
            <a:avLst/>
          </a:prstGeom>
          <a:solidFill>
            <a:srgbClr val="C0674F"/>
          </a:solidFill>
          <a:ln/>
        </p:spPr>
      </p:sp>
      <p:sp>
        <p:nvSpPr>
          <p:cNvPr id="30" name="Text 28"/>
          <p:cNvSpPr txBox="1"/>
          <p:nvPr/>
        </p:nvSpPr>
        <p:spPr>
          <a:xfrm rot="120000">
            <a:off x="9155430" y="358902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Tortoise</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Trait?</a:t>
            </a:r>
            <a:endParaRPr lang="en-US" sz="1700" dirty="0"/>
          </a:p>
        </p:txBody>
      </p:sp>
      <p:sp>
        <p:nvSpPr>
          <p:cNvPr id="31" name="Text 29"/>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32" name="Text 30"/>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Pairs rotate. Add ONE new human trait to each animal's sticky note.</a:t>
            </a:r>
            <a:endParaRPr lang="en-US" sz="1600" dirty="0"/>
          </a:p>
        </p:txBody>
      </p:sp>
      <p:sp>
        <p:nvSpPr>
          <p:cNvPr id="33" name="Text 31"/>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34" name="Text 3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 MONDAY</a:t>
            </a:r>
            <a:endParaRPr lang="en-US" sz="900" dirty="0"/>
          </a:p>
        </p:txBody>
      </p:sp>
      <p:sp>
        <p:nvSpPr>
          <p:cNvPr id="35" name="Text 33"/>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Stereotype Stations: Typical Traits</a:t>
            </a:r>
            <a:endParaRPr lang="en-US" sz="3200" dirty="0"/>
          </a:p>
        </p:txBody>
      </p:sp>
      <p:sp>
        <p:nvSpPr>
          <p:cNvPr id="7" name="Shape 5"/>
          <p:cNvSpPr/>
          <p:nvPr/>
        </p:nvSpPr>
        <p:spPr>
          <a:xfrm rot="-120000">
            <a:off x="548640" y="1463040"/>
            <a:ext cx="2594610" cy="1897380"/>
          </a:xfrm>
          <a:prstGeom prst="rect">
            <a:avLst/>
          </a:prstGeom>
          <a:solidFill>
            <a:srgbClr val="FFF3B0"/>
          </a:solidFill>
          <a:ln/>
          <a:effectLst>
            <a:outerShdw blurRad="76200" dist="25400" dir="5400000" algn="bl" rotWithShape="0">
              <a:srgbClr val="000000">
                <a:alpha val="14000"/>
              </a:srgbClr>
            </a:outerShdw>
          </a:effectLst>
        </p:spPr>
      </p:sp>
      <p:sp>
        <p:nvSpPr>
          <p:cNvPr id="8" name="Shape 6"/>
          <p:cNvSpPr/>
          <p:nvPr/>
        </p:nvSpPr>
        <p:spPr>
          <a:xfrm>
            <a:off x="1745361" y="1371600"/>
            <a:ext cx="201168" cy="201168"/>
          </a:xfrm>
          <a:prstGeom prst="ellipse">
            <a:avLst/>
          </a:prstGeom>
          <a:solidFill>
            <a:srgbClr val="C0674F"/>
          </a:solidFill>
          <a:ln/>
        </p:spPr>
      </p:sp>
      <p:sp>
        <p:nvSpPr>
          <p:cNvPr id="9" name="Text 7"/>
          <p:cNvSpPr txBox="1"/>
          <p:nvPr/>
        </p:nvSpPr>
        <p:spPr>
          <a:xfrm rot="-120000">
            <a:off x="685800" y="146304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Rat</a:t>
            </a:r>
            <a:endParaRPr lang="en-US" sz="1700" dirty="0"/>
          </a:p>
          <a:p>
            <a:pPr marL="0" indent="0">
              <a:spcAft>
                <a:spcPts val="500"/>
              </a:spcAft>
              <a:buNone/>
            </a:pPr>
            <a:r>
              <a:rPr lang="en-US" sz="2418" dirty="0">
                <a:solidFill>
                  <a:srgbClr val="1B2A38"/>
                </a:solidFill>
                <a:latin typeface="Calibri" pitchFamily="34" charset="0"/>
                <a:ea typeface="Calibri" pitchFamily="34" charset="-122"/>
                <a:cs typeface="Calibri" pitchFamily="34" charset="-120"/>
              </a:rPr>
              <a:t>Sneaky, dishonest</a:t>
            </a:r>
            <a:endParaRPr lang="en-US" sz="1700" dirty="0"/>
          </a:p>
        </p:txBody>
      </p:sp>
      <p:sp>
        <p:nvSpPr>
          <p:cNvPr id="10" name="Shape 8"/>
          <p:cNvSpPr/>
          <p:nvPr/>
        </p:nvSpPr>
        <p:spPr>
          <a:xfrm rot="90000">
            <a:off x="3371850" y="1463040"/>
            <a:ext cx="2594610" cy="1897380"/>
          </a:xfrm>
          <a:prstGeom prst="rect">
            <a:avLst/>
          </a:prstGeom>
          <a:solidFill>
            <a:srgbClr val="D5EEDD"/>
          </a:solidFill>
          <a:ln/>
          <a:effectLst>
            <a:outerShdw blurRad="76200" dist="25400" dir="5400000" algn="bl" rotWithShape="0">
              <a:srgbClr val="000000">
                <a:alpha val="14000"/>
              </a:srgbClr>
            </a:outerShdw>
          </a:effectLst>
        </p:spPr>
      </p:sp>
      <p:sp>
        <p:nvSpPr>
          <p:cNvPr id="11" name="Shape 9"/>
          <p:cNvSpPr/>
          <p:nvPr/>
        </p:nvSpPr>
        <p:spPr>
          <a:xfrm>
            <a:off x="4568571" y="1371600"/>
            <a:ext cx="201168" cy="201168"/>
          </a:xfrm>
          <a:prstGeom prst="ellipse">
            <a:avLst/>
          </a:prstGeom>
          <a:solidFill>
            <a:srgbClr val="C0674F"/>
          </a:solidFill>
          <a:ln/>
        </p:spPr>
      </p:sp>
      <p:sp>
        <p:nvSpPr>
          <p:cNvPr id="12" name="Text 10"/>
          <p:cNvSpPr txBox="1"/>
          <p:nvPr/>
        </p:nvSpPr>
        <p:spPr>
          <a:xfrm rot="90000">
            <a:off x="3509010" y="146304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Bull</a:t>
            </a:r>
            <a:endParaRPr lang="en-US" sz="1700" dirty="0"/>
          </a:p>
          <a:p>
            <a:pPr marL="0" indent="0">
              <a:spcAft>
                <a:spcPts val="500"/>
              </a:spcAft>
              <a:buNone/>
            </a:pPr>
            <a:r>
              <a:rPr lang="en-US" sz="2418" dirty="0">
                <a:solidFill>
                  <a:srgbClr val="1B2A38"/>
                </a:solidFill>
                <a:latin typeface="Calibri" pitchFamily="34" charset="0"/>
                <a:ea typeface="Calibri" pitchFamily="34" charset="-122"/>
                <a:cs typeface="Calibri" pitchFamily="34" charset="-120"/>
              </a:rPr>
              <a:t>Strong, stubborn, angry</a:t>
            </a:r>
            <a:endParaRPr lang="en-US" sz="1700" dirty="0"/>
          </a:p>
        </p:txBody>
      </p:sp>
      <p:sp>
        <p:nvSpPr>
          <p:cNvPr id="13" name="Shape 11"/>
          <p:cNvSpPr/>
          <p:nvPr/>
        </p:nvSpPr>
        <p:spPr>
          <a:xfrm rot="-60000">
            <a:off x="6195060" y="1463040"/>
            <a:ext cx="2594610" cy="1897380"/>
          </a:xfrm>
          <a:prstGeom prst="rect">
            <a:avLst/>
          </a:prstGeom>
          <a:solidFill>
            <a:srgbClr val="FAD9CF"/>
          </a:solidFill>
          <a:ln/>
          <a:effectLst>
            <a:outerShdw blurRad="76200" dist="25400" dir="5400000" algn="bl" rotWithShape="0">
              <a:srgbClr val="000000">
                <a:alpha val="14000"/>
              </a:srgbClr>
            </a:outerShdw>
          </a:effectLst>
        </p:spPr>
      </p:sp>
      <p:sp>
        <p:nvSpPr>
          <p:cNvPr id="14" name="Shape 12"/>
          <p:cNvSpPr/>
          <p:nvPr/>
        </p:nvSpPr>
        <p:spPr>
          <a:xfrm>
            <a:off x="7391781" y="1371600"/>
            <a:ext cx="201168" cy="201168"/>
          </a:xfrm>
          <a:prstGeom prst="ellipse">
            <a:avLst/>
          </a:prstGeom>
          <a:solidFill>
            <a:srgbClr val="C0674F"/>
          </a:solidFill>
          <a:ln/>
        </p:spPr>
      </p:sp>
      <p:sp>
        <p:nvSpPr>
          <p:cNvPr id="15" name="Text 13"/>
          <p:cNvSpPr txBox="1"/>
          <p:nvPr/>
        </p:nvSpPr>
        <p:spPr>
          <a:xfrm rot="-60000">
            <a:off x="6332220" y="146304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Hare</a:t>
            </a:r>
            <a:endParaRPr lang="en-US" sz="1700" dirty="0"/>
          </a:p>
          <a:p>
            <a:pPr marL="0" indent="0">
              <a:spcAft>
                <a:spcPts val="500"/>
              </a:spcAft>
              <a:buNone/>
            </a:pPr>
            <a:r>
              <a:rPr lang="en-US" sz="2418" dirty="0">
                <a:solidFill>
                  <a:srgbClr val="1B2A38"/>
                </a:solidFill>
                <a:latin typeface="Calibri" pitchFamily="34" charset="0"/>
                <a:ea typeface="Calibri" pitchFamily="34" charset="-122"/>
                <a:cs typeface="Calibri" pitchFamily="34" charset="-120"/>
              </a:rPr>
              <a:t>Fast, boastful</a:t>
            </a:r>
            <a:endParaRPr lang="en-US" sz="1700" dirty="0"/>
          </a:p>
        </p:txBody>
      </p:sp>
      <p:sp>
        <p:nvSpPr>
          <p:cNvPr id="16" name="Shape 14"/>
          <p:cNvSpPr/>
          <p:nvPr/>
        </p:nvSpPr>
        <p:spPr>
          <a:xfrm rot="120000">
            <a:off x="9018270" y="1463040"/>
            <a:ext cx="2594610" cy="1897380"/>
          </a:xfrm>
          <a:prstGeom prst="rect">
            <a:avLst/>
          </a:prstGeom>
          <a:solidFill>
            <a:srgbClr val="D3E4F4"/>
          </a:solidFill>
          <a:ln/>
          <a:effectLst>
            <a:outerShdw blurRad="76200" dist="25400" dir="5400000" algn="bl" rotWithShape="0">
              <a:srgbClr val="000000">
                <a:alpha val="14000"/>
              </a:srgbClr>
            </a:outerShdw>
          </a:effectLst>
        </p:spPr>
      </p:sp>
      <p:sp>
        <p:nvSpPr>
          <p:cNvPr id="17" name="Shape 15"/>
          <p:cNvSpPr/>
          <p:nvPr/>
        </p:nvSpPr>
        <p:spPr>
          <a:xfrm>
            <a:off x="10214991" y="1371600"/>
            <a:ext cx="201168" cy="201168"/>
          </a:xfrm>
          <a:prstGeom prst="ellipse">
            <a:avLst/>
          </a:prstGeom>
          <a:solidFill>
            <a:srgbClr val="C0674F"/>
          </a:solidFill>
          <a:ln/>
        </p:spPr>
      </p:sp>
      <p:sp>
        <p:nvSpPr>
          <p:cNvPr id="18" name="Text 16"/>
          <p:cNvSpPr txBox="1"/>
          <p:nvPr/>
        </p:nvSpPr>
        <p:spPr>
          <a:xfrm rot="120000">
            <a:off x="9155430" y="146304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Dolphin</a:t>
            </a:r>
            <a:endParaRPr lang="en-US" sz="1700" dirty="0"/>
          </a:p>
          <a:p>
            <a:pPr marL="0" indent="0">
              <a:spcAft>
                <a:spcPts val="500"/>
              </a:spcAft>
              <a:buNone/>
            </a:pPr>
            <a:r>
              <a:rPr lang="en-US" sz="2418" dirty="0">
                <a:solidFill>
                  <a:srgbClr val="1B2A38"/>
                </a:solidFill>
                <a:latin typeface="Calibri" pitchFamily="34" charset="0"/>
                <a:ea typeface="Calibri" pitchFamily="34" charset="-122"/>
                <a:cs typeface="Calibri" pitchFamily="34" charset="-120"/>
              </a:rPr>
              <a:t>Clever, friendly, playful</a:t>
            </a:r>
            <a:endParaRPr lang="en-US" sz="1700" dirty="0"/>
          </a:p>
        </p:txBody>
      </p:sp>
      <p:sp>
        <p:nvSpPr>
          <p:cNvPr id="19" name="Shape 17"/>
          <p:cNvSpPr/>
          <p:nvPr/>
        </p:nvSpPr>
        <p:spPr>
          <a:xfrm rot="-120000">
            <a:off x="548640" y="3589020"/>
            <a:ext cx="2594610" cy="1897380"/>
          </a:xfrm>
          <a:prstGeom prst="rect">
            <a:avLst/>
          </a:prstGeom>
          <a:solidFill>
            <a:srgbClr val="FFF3B0"/>
          </a:solidFill>
          <a:ln/>
          <a:effectLst>
            <a:outerShdw blurRad="76200" dist="25400" dir="5400000" algn="bl" rotWithShape="0">
              <a:srgbClr val="000000">
                <a:alpha val="14000"/>
              </a:srgbClr>
            </a:outerShdw>
          </a:effectLst>
        </p:spPr>
      </p:sp>
      <p:sp>
        <p:nvSpPr>
          <p:cNvPr id="20" name="Shape 18"/>
          <p:cNvSpPr/>
          <p:nvPr/>
        </p:nvSpPr>
        <p:spPr>
          <a:xfrm>
            <a:off x="1745361" y="3497580"/>
            <a:ext cx="201168" cy="201168"/>
          </a:xfrm>
          <a:prstGeom prst="ellipse">
            <a:avLst/>
          </a:prstGeom>
          <a:solidFill>
            <a:srgbClr val="C0674F"/>
          </a:solidFill>
          <a:ln/>
        </p:spPr>
      </p:sp>
      <p:sp>
        <p:nvSpPr>
          <p:cNvPr id="21" name="Text 19"/>
          <p:cNvSpPr txBox="1"/>
          <p:nvPr/>
        </p:nvSpPr>
        <p:spPr>
          <a:xfrm rot="-120000">
            <a:off x="685800" y="358902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Monkey</a:t>
            </a:r>
            <a:endParaRPr lang="en-US" sz="1700" dirty="0"/>
          </a:p>
          <a:p>
            <a:pPr marL="0" indent="0">
              <a:spcAft>
                <a:spcPts val="500"/>
              </a:spcAft>
              <a:buNone/>
            </a:pPr>
            <a:r>
              <a:rPr lang="en-US" sz="2418" dirty="0">
                <a:solidFill>
                  <a:srgbClr val="1B2A38"/>
                </a:solidFill>
                <a:latin typeface="Calibri" pitchFamily="34" charset="0"/>
                <a:ea typeface="Calibri" pitchFamily="34" charset="-122"/>
                <a:cs typeface="Calibri" pitchFamily="34" charset="-120"/>
              </a:rPr>
              <a:t>Cheeky, mischievous</a:t>
            </a:r>
            <a:endParaRPr lang="en-US" sz="1700" dirty="0"/>
          </a:p>
        </p:txBody>
      </p:sp>
      <p:sp>
        <p:nvSpPr>
          <p:cNvPr id="22" name="Shape 20"/>
          <p:cNvSpPr/>
          <p:nvPr/>
        </p:nvSpPr>
        <p:spPr>
          <a:xfrm rot="90000">
            <a:off x="3371850" y="3589020"/>
            <a:ext cx="2594610" cy="1897380"/>
          </a:xfrm>
          <a:prstGeom prst="rect">
            <a:avLst/>
          </a:prstGeom>
          <a:solidFill>
            <a:srgbClr val="D5EEDD"/>
          </a:solidFill>
          <a:ln/>
          <a:effectLst>
            <a:outerShdw blurRad="76200" dist="25400" dir="5400000" algn="bl" rotWithShape="0">
              <a:srgbClr val="000000">
                <a:alpha val="14000"/>
              </a:srgbClr>
            </a:outerShdw>
          </a:effectLst>
        </p:spPr>
      </p:sp>
      <p:sp>
        <p:nvSpPr>
          <p:cNvPr id="23" name="Shape 21"/>
          <p:cNvSpPr/>
          <p:nvPr/>
        </p:nvSpPr>
        <p:spPr>
          <a:xfrm>
            <a:off x="4568571" y="3497580"/>
            <a:ext cx="201168" cy="201168"/>
          </a:xfrm>
          <a:prstGeom prst="ellipse">
            <a:avLst/>
          </a:prstGeom>
          <a:solidFill>
            <a:srgbClr val="C0674F"/>
          </a:solidFill>
          <a:ln/>
        </p:spPr>
      </p:sp>
      <p:sp>
        <p:nvSpPr>
          <p:cNvPr id="24" name="Text 22"/>
          <p:cNvSpPr txBox="1"/>
          <p:nvPr/>
        </p:nvSpPr>
        <p:spPr>
          <a:xfrm rot="90000">
            <a:off x="3509010" y="358902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Sheep</a:t>
            </a:r>
            <a:endParaRPr lang="en-US" sz="1700" dirty="0"/>
          </a:p>
          <a:p>
            <a:pPr marL="0" indent="0">
              <a:spcAft>
                <a:spcPts val="500"/>
              </a:spcAft>
              <a:buNone/>
            </a:pPr>
            <a:r>
              <a:rPr lang="en-US" sz="2418" dirty="0">
                <a:solidFill>
                  <a:srgbClr val="1B2A38"/>
                </a:solidFill>
                <a:latin typeface="Calibri" pitchFamily="34" charset="0"/>
                <a:ea typeface="Calibri" pitchFamily="34" charset="-122"/>
                <a:cs typeface="Calibri" pitchFamily="34" charset="-120"/>
              </a:rPr>
              <a:t>Timid, follows the crowd</a:t>
            </a:r>
            <a:endParaRPr lang="en-US" sz="1700" dirty="0"/>
          </a:p>
        </p:txBody>
      </p:sp>
      <p:sp>
        <p:nvSpPr>
          <p:cNvPr id="25" name="Shape 23"/>
          <p:cNvSpPr/>
          <p:nvPr/>
        </p:nvSpPr>
        <p:spPr>
          <a:xfrm rot="-60000">
            <a:off x="6195060" y="3589020"/>
            <a:ext cx="2594610" cy="1897380"/>
          </a:xfrm>
          <a:prstGeom prst="rect">
            <a:avLst/>
          </a:prstGeom>
          <a:solidFill>
            <a:srgbClr val="FAD9CF"/>
          </a:solidFill>
          <a:ln/>
          <a:effectLst>
            <a:outerShdw blurRad="76200" dist="25400" dir="5400000" algn="bl" rotWithShape="0">
              <a:srgbClr val="000000">
                <a:alpha val="14000"/>
              </a:srgbClr>
            </a:outerShdw>
          </a:effectLst>
        </p:spPr>
      </p:sp>
      <p:sp>
        <p:nvSpPr>
          <p:cNvPr id="26" name="Shape 24"/>
          <p:cNvSpPr/>
          <p:nvPr/>
        </p:nvSpPr>
        <p:spPr>
          <a:xfrm>
            <a:off x="7391781" y="3497580"/>
            <a:ext cx="201168" cy="201168"/>
          </a:xfrm>
          <a:prstGeom prst="ellipse">
            <a:avLst/>
          </a:prstGeom>
          <a:solidFill>
            <a:srgbClr val="C0674F"/>
          </a:solidFill>
          <a:ln/>
        </p:spPr>
      </p:sp>
      <p:sp>
        <p:nvSpPr>
          <p:cNvPr id="27" name="Text 25"/>
          <p:cNvSpPr txBox="1"/>
          <p:nvPr/>
        </p:nvSpPr>
        <p:spPr>
          <a:xfrm rot="-60000">
            <a:off x="6332220" y="358902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Bee</a:t>
            </a:r>
            <a:endParaRPr lang="en-US" sz="1700" dirty="0"/>
          </a:p>
          <a:p>
            <a:pPr marL="0" indent="0">
              <a:spcAft>
                <a:spcPts val="500"/>
              </a:spcAft>
              <a:buNone/>
            </a:pPr>
            <a:r>
              <a:rPr lang="en-US" sz="2418" dirty="0">
                <a:solidFill>
                  <a:srgbClr val="1B2A38"/>
                </a:solidFill>
                <a:latin typeface="Calibri" pitchFamily="34" charset="0"/>
                <a:ea typeface="Calibri" pitchFamily="34" charset="-122"/>
                <a:cs typeface="Calibri" pitchFamily="34" charset="-120"/>
              </a:rPr>
              <a:t>Busy, hard-working</a:t>
            </a:r>
            <a:endParaRPr lang="en-US" sz="1700" dirty="0"/>
          </a:p>
        </p:txBody>
      </p:sp>
      <p:sp>
        <p:nvSpPr>
          <p:cNvPr id="28" name="Shape 26"/>
          <p:cNvSpPr/>
          <p:nvPr/>
        </p:nvSpPr>
        <p:spPr>
          <a:xfrm rot="120000">
            <a:off x="9018270" y="3589020"/>
            <a:ext cx="2594610" cy="1897380"/>
          </a:xfrm>
          <a:prstGeom prst="rect">
            <a:avLst/>
          </a:prstGeom>
          <a:solidFill>
            <a:srgbClr val="D3E4F4"/>
          </a:solidFill>
          <a:ln/>
          <a:effectLst>
            <a:outerShdw blurRad="76200" dist="25400" dir="5400000" algn="bl" rotWithShape="0">
              <a:srgbClr val="000000">
                <a:alpha val="14000"/>
              </a:srgbClr>
            </a:outerShdw>
          </a:effectLst>
        </p:spPr>
      </p:sp>
      <p:sp>
        <p:nvSpPr>
          <p:cNvPr id="29" name="Shape 27"/>
          <p:cNvSpPr/>
          <p:nvPr/>
        </p:nvSpPr>
        <p:spPr>
          <a:xfrm>
            <a:off x="10214991" y="3497580"/>
            <a:ext cx="201168" cy="201168"/>
          </a:xfrm>
          <a:prstGeom prst="ellipse">
            <a:avLst/>
          </a:prstGeom>
          <a:solidFill>
            <a:srgbClr val="C0674F"/>
          </a:solidFill>
          <a:ln/>
        </p:spPr>
      </p:sp>
      <p:sp>
        <p:nvSpPr>
          <p:cNvPr id="30" name="Text 28"/>
          <p:cNvSpPr txBox="1"/>
          <p:nvPr/>
        </p:nvSpPr>
        <p:spPr>
          <a:xfrm rot="120000">
            <a:off x="9155430" y="3589020"/>
            <a:ext cx="2320290" cy="18973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 Tortoise</a:t>
            </a:r>
            <a:endParaRPr lang="en-US" sz="1700" dirty="0"/>
          </a:p>
          <a:p>
            <a:pPr marL="0" indent="0">
              <a:spcAft>
                <a:spcPts val="500"/>
              </a:spcAft>
              <a:buNone/>
            </a:pPr>
            <a:r>
              <a:rPr lang="en-US" sz="2418" dirty="0">
                <a:solidFill>
                  <a:srgbClr val="1B2A38"/>
                </a:solidFill>
                <a:latin typeface="Calibri" pitchFamily="34" charset="0"/>
                <a:ea typeface="Calibri" pitchFamily="34" charset="-122"/>
                <a:cs typeface="Calibri" pitchFamily="34" charset="-120"/>
              </a:rPr>
              <a:t>Slow, patient, wise</a:t>
            </a:r>
            <a:endParaRPr lang="en-US" sz="1700" dirty="0"/>
          </a:p>
        </p:txBody>
      </p:sp>
      <p:sp>
        <p:nvSpPr>
          <p:cNvPr id="31" name="Text 29"/>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TIP</a:t>
            </a:r>
            <a:endParaRPr lang="en-US" sz="1100" dirty="0"/>
          </a:p>
        </p:txBody>
      </p:sp>
      <p:sp>
        <p:nvSpPr>
          <p:cNvPr id="32" name="Text 30"/>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Compare with your stations. Which traits are positive? Which are negative?</a:t>
            </a:r>
            <a:endParaRPr lang="en-US" sz="1600" dirty="0"/>
          </a:p>
        </p:txBody>
      </p:sp>
      <p:sp>
        <p:nvSpPr>
          <p:cNvPr id="33" name="Text 31"/>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34" name="Text 3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 MONDAY</a:t>
            </a:r>
            <a:endParaRPr lang="en-US" sz="900" dirty="0"/>
          </a:p>
        </p:txBody>
      </p:sp>
      <p:sp>
        <p:nvSpPr>
          <p:cNvPr id="35" name="Text 33"/>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CASE FILE 1 · 22–42 MIN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Human Behaviour Detectives 🧩</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Ant</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How does Ant act like a person? Think, pair, share: list 3 things.</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F7CA0"/>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Grasshopper</a:t>
            </a:r>
            <a:endParaRPr lang="en-US" sz="1600" dirty="0"/>
          </a:p>
        </p:txBody>
      </p:sp>
      <p:sp>
        <p:nvSpPr>
          <p:cNvPr id="14" name="Text 12"/>
          <p:cNvSpPr txBox="1"/>
          <p:nvPr/>
        </p:nvSpPr>
        <p:spPr>
          <a:xfrm>
            <a:off x="6155037" y="2011680"/>
            <a:ext cx="5814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How does Grasshopper act like a person?</a:t>
            </a:r>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List 3 things.</a:t>
            </a:r>
            <a:endParaRPr lang="en-US" sz="2600" dirty="0"/>
          </a:p>
        </p:txBody>
      </p:sp>
      <p:sp>
        <p:nvSpPr>
          <p:cNvPr id="15" name="Text 13"/>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16" name="Text 14"/>
          <p:cNvSpPr txBox="1"/>
          <p:nvPr/>
        </p:nvSpPr>
        <p:spPr>
          <a:xfrm>
            <a:off x="2194559" y="5600700"/>
            <a:ext cx="8897881" cy="548640"/>
          </a:xfrm>
          <a:prstGeom prst="rect">
            <a:avLst/>
          </a:prstGeom>
          <a:noFill/>
          <a:ln/>
        </p:spPr>
        <p:txBody>
          <a:bodyPr wrap="square" lIns="0" tIns="0" rIns="0" bIns="0" rtlCol="0" anchor="ctr"/>
          <a:lstStyle/>
          <a:p>
            <a:pPr marL="0" indent="0">
              <a:buNone/>
            </a:pPr>
            <a:r>
              <a:rPr lang="en-US" sz="2400" b="1" dirty="0">
                <a:solidFill>
                  <a:srgbClr val="1B2A38"/>
                </a:solidFill>
                <a:latin typeface="Calibri" pitchFamily="34" charset="0"/>
                <a:ea typeface="Calibri" pitchFamily="34" charset="-122"/>
                <a:cs typeface="Calibri" pitchFamily="34" charset="-120"/>
              </a:rPr>
              <a:t>Real insects do not plan, lecture or beg. So what is going on?</a:t>
            </a:r>
            <a:endParaRPr lang="en-US" sz="2400" dirty="0"/>
          </a:p>
        </p:txBody>
      </p:sp>
      <p:sp>
        <p:nvSpPr>
          <p:cNvPr id="17" name="Text 15"/>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 MONDAY</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Detective Findings</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Ant</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Works all summer · plans ahead · stores food                                                         · speaks seriously · warns others</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Grasshopper</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Sings and plays · relaxes                                     · lives for today                                                   · asks for help when hungry</a:t>
            </a:r>
            <a:endParaRPr lang="en-US" sz="2600" dirty="0"/>
          </a:p>
        </p:txBody>
      </p:sp>
      <p:sp>
        <p:nvSpPr>
          <p:cNvPr id="15" name="Text 13"/>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TIP</a:t>
            </a:r>
            <a:endParaRPr lang="en-US" sz="1100" dirty="0"/>
          </a:p>
        </p:txBody>
      </p:sp>
      <p:sp>
        <p:nvSpPr>
          <p:cNvPr id="16" name="Text 14"/>
          <p:cNvSpPr txBox="1"/>
          <p:nvPr/>
        </p:nvSpPr>
        <p:spPr>
          <a:xfrm>
            <a:off x="2758582" y="5684235"/>
            <a:ext cx="7589520" cy="548640"/>
          </a:xfrm>
          <a:prstGeom prst="rect">
            <a:avLst/>
          </a:prstGeom>
          <a:noFill/>
          <a:ln/>
        </p:spPr>
        <p:txBody>
          <a:bodyPr wrap="square" lIns="0" tIns="0" rIns="0" bIns="0" rtlCol="0" anchor="ctr"/>
          <a:lstStyle/>
          <a:p>
            <a:pPr marL="0" indent="0">
              <a:buNone/>
            </a:pPr>
            <a:r>
              <a:rPr lang="en-US" sz="2400" b="1" dirty="0">
                <a:solidFill>
                  <a:srgbClr val="1B2A38"/>
                </a:solidFill>
                <a:latin typeface="Calibri" pitchFamily="34" charset="0"/>
                <a:ea typeface="Calibri" pitchFamily="34" charset="-122"/>
                <a:cs typeface="Calibri" pitchFamily="34" charset="-120"/>
              </a:rPr>
              <a:t>Every one of these is a human behaviour. </a:t>
            </a:r>
          </a:p>
          <a:p>
            <a:pPr marL="0" indent="0">
              <a:buNone/>
            </a:pPr>
            <a:r>
              <a:rPr lang="en-US" sz="2400" b="1" dirty="0">
                <a:solidFill>
                  <a:srgbClr val="1B2A38"/>
                </a:solidFill>
                <a:latin typeface="Calibri" pitchFamily="34" charset="0"/>
                <a:ea typeface="Calibri" pitchFamily="34" charset="-122"/>
                <a:cs typeface="Calibri" pitchFamily="34" charset="-120"/>
              </a:rPr>
              <a:t>That is anthropomorphism!</a:t>
            </a:r>
            <a:endParaRPr lang="en-US" sz="2400" dirty="0"/>
          </a:p>
        </p:txBody>
      </p:sp>
      <p:sp>
        <p:nvSpPr>
          <p:cNvPr id="17" name="Text 15"/>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CASE FILE 1 · 22–42 MIN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Fact-File Face-Off 🧩</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Fact file A</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Lives almost anywhere except extremely cold places</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Lives alone</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Eats grasses, leaves, cereal crops</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Does not usually survive winter</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F7CA0"/>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Fact file B</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Lives almost anywhere</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Lives in colonies</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Eats most things: insects, meat, fats, sugary foods</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Lives a few months to a few years</a:t>
            </a:r>
            <a:endParaRPr lang="en-US" sz="2600" dirty="0"/>
          </a:p>
        </p:txBody>
      </p:sp>
      <p:sp>
        <p:nvSpPr>
          <p:cNvPr id="15" name="Text 13"/>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16" name="Text 14"/>
          <p:cNvSpPr txBox="1"/>
          <p:nvPr/>
        </p:nvSpPr>
        <p:spPr>
          <a:xfrm>
            <a:off x="2739683" y="5760720"/>
            <a:ext cx="7589520" cy="548640"/>
          </a:xfrm>
          <a:prstGeom prst="rect">
            <a:avLst/>
          </a:prstGeom>
          <a:noFill/>
          <a:ln/>
        </p:spPr>
        <p:txBody>
          <a:bodyPr wrap="square" lIns="0" tIns="0" rIns="0" bIns="0" rtlCol="0" anchor="ctr"/>
          <a:lstStyle/>
          <a:p>
            <a:pPr marL="0" indent="0">
              <a:buNone/>
            </a:pPr>
            <a:r>
              <a:rPr lang="en-US" sz="3200" b="1" dirty="0">
                <a:solidFill>
                  <a:srgbClr val="1B2A38"/>
                </a:solidFill>
                <a:latin typeface="Calibri" pitchFamily="34" charset="0"/>
                <a:ea typeface="Calibri" pitchFamily="34" charset="-122"/>
                <a:cs typeface="Calibri" pitchFamily="34" charset="-120"/>
              </a:rPr>
              <a:t>Which file is Ant? Which is Grasshopper? </a:t>
            </a:r>
          </a:p>
          <a:p>
            <a:pPr marL="0" indent="0">
              <a:buNone/>
            </a:pPr>
            <a:r>
              <a:rPr lang="en-US" sz="3200" b="1" dirty="0">
                <a:solidFill>
                  <a:srgbClr val="1B2A38"/>
                </a:solidFill>
                <a:latin typeface="Calibri" pitchFamily="34" charset="0"/>
                <a:ea typeface="Calibri" pitchFamily="34" charset="-122"/>
                <a:cs typeface="Calibri" pitchFamily="34" charset="-120"/>
              </a:rPr>
              <a:t>Do the facts match their personalities?</a:t>
            </a:r>
            <a:endParaRPr lang="en-US" sz="3200" dirty="0"/>
          </a:p>
        </p:txBody>
      </p:sp>
      <p:sp>
        <p:nvSpPr>
          <p:cNvPr id="17" name="Text 15"/>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Fact-File Answers</a:t>
            </a:r>
            <a:endParaRPr lang="en-US" sz="3200" dirty="0"/>
          </a:p>
        </p:txBody>
      </p:sp>
      <p:sp>
        <p:nvSpPr>
          <p:cNvPr id="7" name="Shape 5"/>
          <p:cNvSpPr/>
          <p:nvPr/>
        </p:nvSpPr>
        <p:spPr>
          <a:xfrm>
            <a:off x="54864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3535680" cy="548640"/>
          </a:xfrm>
          <a:prstGeom prst="round2SameRect">
            <a:avLst/>
          </a:prstGeom>
          <a:solidFill>
            <a:srgbClr val="4E7D5B"/>
          </a:solidFill>
          <a:ln/>
        </p:spPr>
      </p:sp>
      <p:sp>
        <p:nvSpPr>
          <p:cNvPr id="9" name="Text 7"/>
          <p:cNvSpPr txBox="1"/>
          <p:nvPr/>
        </p:nvSpPr>
        <p:spPr>
          <a:xfrm>
            <a:off x="731520" y="1463040"/>
            <a:ext cx="326136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 Grasshopper</a:t>
            </a:r>
            <a:endParaRPr lang="en-US" sz="1600" dirty="0"/>
          </a:p>
        </p:txBody>
      </p:sp>
      <p:sp>
        <p:nvSpPr>
          <p:cNvPr id="10" name="Text 8"/>
          <p:cNvSpPr txBox="1"/>
          <p:nvPr/>
        </p:nvSpPr>
        <p:spPr>
          <a:xfrm>
            <a:off x="731520" y="2103120"/>
            <a:ext cx="316992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Lives alone, plant-eater, rarely survives winter</a:t>
            </a:r>
            <a:endParaRPr lang="en-US" sz="2600" dirty="0"/>
          </a:p>
        </p:txBody>
      </p:sp>
      <p:sp>
        <p:nvSpPr>
          <p:cNvPr id="11" name="Shape 9"/>
          <p:cNvSpPr/>
          <p:nvPr/>
        </p:nvSpPr>
        <p:spPr>
          <a:xfrm>
            <a:off x="431292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4312920" y="1463040"/>
            <a:ext cx="3535680" cy="548640"/>
          </a:xfrm>
          <a:prstGeom prst="round2SameRect">
            <a:avLst/>
          </a:prstGeom>
          <a:solidFill>
            <a:srgbClr val="4E7D5B"/>
          </a:solidFill>
          <a:ln/>
        </p:spPr>
      </p:sp>
      <p:sp>
        <p:nvSpPr>
          <p:cNvPr id="13" name="Text 11"/>
          <p:cNvSpPr txBox="1"/>
          <p:nvPr/>
        </p:nvSpPr>
        <p:spPr>
          <a:xfrm>
            <a:off x="4495800" y="1463040"/>
            <a:ext cx="326136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 = Ant</a:t>
            </a:r>
            <a:endParaRPr lang="en-US" sz="1600" dirty="0"/>
          </a:p>
        </p:txBody>
      </p:sp>
      <p:sp>
        <p:nvSpPr>
          <p:cNvPr id="14" name="Text 12"/>
          <p:cNvSpPr txBox="1"/>
          <p:nvPr/>
        </p:nvSpPr>
        <p:spPr>
          <a:xfrm>
            <a:off x="4495800" y="2103120"/>
            <a:ext cx="316992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Lives in colonies, eats almost anything</a:t>
            </a:r>
            <a:endParaRPr lang="en-US" sz="2600" dirty="0"/>
          </a:p>
        </p:txBody>
      </p:sp>
      <p:sp>
        <p:nvSpPr>
          <p:cNvPr id="15" name="Shape 13"/>
          <p:cNvSpPr/>
          <p:nvPr/>
        </p:nvSpPr>
        <p:spPr>
          <a:xfrm>
            <a:off x="807720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6" name="Shape 14"/>
          <p:cNvSpPr/>
          <p:nvPr/>
        </p:nvSpPr>
        <p:spPr>
          <a:xfrm>
            <a:off x="8077200" y="1463040"/>
            <a:ext cx="3535680" cy="548640"/>
          </a:xfrm>
          <a:prstGeom prst="round2SameRect">
            <a:avLst/>
          </a:prstGeom>
          <a:solidFill>
            <a:srgbClr val="4E7D5B"/>
          </a:solidFill>
          <a:ln/>
        </p:spPr>
      </p:sp>
      <p:sp>
        <p:nvSpPr>
          <p:cNvPr id="17" name="Text 15"/>
          <p:cNvSpPr txBox="1"/>
          <p:nvPr/>
        </p:nvSpPr>
        <p:spPr>
          <a:xfrm>
            <a:off x="8260080" y="1463040"/>
            <a:ext cx="326136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Do they match?</a:t>
            </a:r>
            <a:endParaRPr lang="en-US" sz="1600" dirty="0"/>
          </a:p>
        </p:txBody>
      </p:sp>
      <p:sp>
        <p:nvSpPr>
          <p:cNvPr id="18" name="Text 16"/>
          <p:cNvSpPr txBox="1"/>
          <p:nvPr/>
        </p:nvSpPr>
        <p:spPr>
          <a:xfrm>
            <a:off x="8260080" y="2103120"/>
            <a:ext cx="316992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Yes! Ants really work as a team. Grasshoppers really struggle in winter.</a:t>
            </a:r>
            <a:endParaRPr lang="en-US" sz="2600" dirty="0"/>
          </a:p>
        </p:txBody>
      </p:sp>
      <p:sp>
        <p:nvSpPr>
          <p:cNvPr id="19" name="Text 17"/>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TIP</a:t>
            </a:r>
            <a:endParaRPr lang="en-US" sz="1100" dirty="0"/>
          </a:p>
        </p:txBody>
      </p:sp>
      <p:sp>
        <p:nvSpPr>
          <p:cNvPr id="20" name="Text 18"/>
          <p:cNvSpPr txBox="1"/>
          <p:nvPr/>
        </p:nvSpPr>
        <p:spPr>
          <a:xfrm>
            <a:off x="1754452" y="5428502"/>
            <a:ext cx="9675548" cy="548640"/>
          </a:xfrm>
          <a:prstGeom prst="rect">
            <a:avLst/>
          </a:prstGeom>
          <a:noFill/>
          <a:ln/>
        </p:spPr>
        <p:txBody>
          <a:bodyPr wrap="square" lIns="0" tIns="0" rIns="0" bIns="0" rtlCol="0" anchor="ctr"/>
          <a:lstStyle/>
          <a:p>
            <a:pPr marL="0" indent="0">
              <a:buNone/>
            </a:pPr>
            <a:r>
              <a:rPr lang="en-US" sz="2800" b="1" dirty="0">
                <a:solidFill>
                  <a:srgbClr val="1B2A38"/>
                </a:solidFill>
                <a:latin typeface="Calibri" pitchFamily="34" charset="0"/>
                <a:ea typeface="Calibri" pitchFamily="34" charset="-122"/>
                <a:cs typeface="Calibri" pitchFamily="34" charset="-120"/>
              </a:rPr>
              <a:t>The writer kept some real facts and added human personalities.</a:t>
            </a:r>
            <a:endParaRPr lang="en-US" sz="2800" dirty="0"/>
          </a:p>
        </p:txBody>
      </p:sp>
      <p:sp>
        <p:nvSpPr>
          <p:cNvPr id="21" name="Text 1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22" name="Text 2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23" name="Text 2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42–67 MIN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Adjective Sort ✏️</a:t>
            </a:r>
            <a:endParaRPr lang="en-US" sz="3200" dirty="0"/>
          </a:p>
        </p:txBody>
      </p:sp>
      <p:sp>
        <p:nvSpPr>
          <p:cNvPr id="7" name="Shape 5"/>
          <p:cNvSpPr/>
          <p:nvPr/>
        </p:nvSpPr>
        <p:spPr>
          <a:xfrm>
            <a:off x="548640" y="1463040"/>
            <a:ext cx="1106424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1623060"/>
          </a:xfrm>
          <a:prstGeom prst="rect">
            <a:avLst/>
          </a:prstGeom>
          <a:solidFill>
            <a:srgbClr val="4E7D5B"/>
          </a:solidFill>
          <a:ln/>
        </p:spPr>
      </p:sp>
      <p:sp>
        <p:nvSpPr>
          <p:cNvPr id="9" name="Text 7"/>
          <p:cNvSpPr txBox="1"/>
          <p:nvPr/>
        </p:nvSpPr>
        <p:spPr>
          <a:xfrm>
            <a:off x="777240" y="1463040"/>
            <a:ext cx="10698480" cy="1897380"/>
          </a:xfrm>
          <a:prstGeom prst="rect">
            <a:avLst/>
          </a:prstGeom>
          <a:noFill/>
          <a:ln/>
        </p:spPr>
        <p:txBody>
          <a:bodyPr wrap="square" lIns="1905" tIns="0" rIns="635" bIns="1270" rtlCol="0" anchor="t"/>
          <a:lstStyle/>
          <a:p>
            <a:pPr marL="0" indent="0">
              <a:spcAft>
                <a:spcPts val="500"/>
              </a:spcAft>
              <a:buNone/>
            </a:pPr>
            <a:r>
              <a:rPr lang="en-US" sz="2400" b="1" dirty="0">
                <a:solidFill>
                  <a:srgbClr val="4E7D5B"/>
                </a:solidFill>
                <a:latin typeface="Calibri" pitchFamily="34" charset="0"/>
                <a:ea typeface="Calibri" pitchFamily="34" charset="-122"/>
                <a:cs typeface="Calibri" pitchFamily="34" charset="-120"/>
              </a:rPr>
              <a:t>WORD BANK</a:t>
            </a:r>
            <a:endParaRPr lang="en-US" sz="2400" dirty="0"/>
          </a:p>
          <a:p>
            <a:pPr marL="0" indent="0">
              <a:spcAft>
                <a:spcPts val="500"/>
              </a:spcAft>
              <a:buNone/>
            </a:pPr>
            <a:r>
              <a:rPr lang="en-US" sz="2800" dirty="0">
                <a:solidFill>
                  <a:srgbClr val="1B2A38"/>
                </a:solidFill>
                <a:latin typeface="Calibri" pitchFamily="34" charset="0"/>
                <a:ea typeface="Calibri" pitchFamily="34" charset="-122"/>
                <a:cs typeface="Calibri" pitchFamily="34" charset="-120"/>
              </a:rPr>
              <a:t>practical · hard-working · optimistic · dull · happy-go-lucky · thoughtless · fun-loving · chirpy · sensible · </a:t>
            </a:r>
            <a:r>
              <a:rPr lang="en-US" sz="2800" b="1" dirty="0">
                <a:solidFill>
                  <a:srgbClr val="1B2A38"/>
                </a:solidFill>
                <a:latin typeface="Calibri" pitchFamily="34" charset="0"/>
                <a:ea typeface="Calibri" pitchFamily="34" charset="-122"/>
                <a:cs typeface="Calibri" pitchFamily="34" charset="-120"/>
              </a:rPr>
              <a:t>prudent</a:t>
            </a:r>
            <a:r>
              <a:rPr lang="en-US" sz="2800" dirty="0">
                <a:solidFill>
                  <a:srgbClr val="1B2A38"/>
                </a:solidFill>
                <a:latin typeface="Calibri" pitchFamily="34" charset="0"/>
                <a:ea typeface="Calibri" pitchFamily="34" charset="-122"/>
                <a:cs typeface="Calibri" pitchFamily="34" charset="-120"/>
              </a:rPr>
              <a:t> · irresponsible · cheerful · bossy · cheery · serious · </a:t>
            </a:r>
            <a:r>
              <a:rPr lang="en-US" sz="2800" b="1" dirty="0">
                <a:solidFill>
                  <a:srgbClr val="1B2A38"/>
                </a:solidFill>
                <a:latin typeface="Calibri" pitchFamily="34" charset="0"/>
                <a:ea typeface="Calibri" pitchFamily="34" charset="-122"/>
                <a:cs typeface="Calibri" pitchFamily="34" charset="-120"/>
              </a:rPr>
              <a:t>worthy</a:t>
            </a:r>
            <a:r>
              <a:rPr lang="en-US" sz="2800" dirty="0">
                <a:solidFill>
                  <a:srgbClr val="1B2A38"/>
                </a:solidFill>
                <a:latin typeface="Calibri" pitchFamily="34" charset="0"/>
                <a:ea typeface="Calibri" pitchFamily="34" charset="-122"/>
                <a:cs typeface="Calibri" pitchFamily="34" charset="-120"/>
              </a:rPr>
              <a:t> · unkind · down-to-earth · </a:t>
            </a:r>
            <a:r>
              <a:rPr lang="en-US" sz="2800" b="1" dirty="0">
                <a:solidFill>
                  <a:srgbClr val="1B2A38"/>
                </a:solidFill>
                <a:latin typeface="Calibri" pitchFamily="34" charset="0"/>
                <a:ea typeface="Calibri" pitchFamily="34" charset="-122"/>
                <a:cs typeface="Calibri" pitchFamily="34" charset="-120"/>
              </a:rPr>
              <a:t>feckless</a:t>
            </a:r>
            <a:endParaRPr lang="en-US" b="1" dirty="0"/>
          </a:p>
        </p:txBody>
      </p:sp>
      <p:sp>
        <p:nvSpPr>
          <p:cNvPr id="10" name="Shape 8"/>
          <p:cNvSpPr/>
          <p:nvPr/>
        </p:nvSpPr>
        <p:spPr>
          <a:xfrm>
            <a:off x="548640" y="3589020"/>
            <a:ext cx="1106424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548640" y="3726180"/>
            <a:ext cx="64008" cy="1623060"/>
          </a:xfrm>
          <a:prstGeom prst="rect">
            <a:avLst/>
          </a:prstGeom>
          <a:solidFill>
            <a:srgbClr val="4F7CA0"/>
          </a:solidFill>
          <a:ln/>
        </p:spPr>
      </p:sp>
      <p:sp>
        <p:nvSpPr>
          <p:cNvPr id="12" name="Text 10"/>
          <p:cNvSpPr txBox="1"/>
          <p:nvPr/>
        </p:nvSpPr>
        <p:spPr>
          <a:xfrm>
            <a:off x="777240" y="3589020"/>
            <a:ext cx="10698480" cy="1897380"/>
          </a:xfrm>
          <a:prstGeom prst="rect">
            <a:avLst/>
          </a:prstGeom>
          <a:noFill/>
          <a:ln/>
        </p:spPr>
        <p:txBody>
          <a:bodyPr wrap="square" lIns="1905" tIns="0" rIns="635" bIns="1270" rtlCol="0" anchor="t"/>
          <a:lstStyle/>
          <a:p>
            <a:pPr marL="0" indent="0">
              <a:spcAft>
                <a:spcPts val="500"/>
              </a:spcAft>
              <a:buNone/>
            </a:pPr>
            <a:r>
              <a:rPr lang="en-US" sz="2400" b="1" dirty="0">
                <a:solidFill>
                  <a:srgbClr val="4F7CA0"/>
                </a:solidFill>
                <a:latin typeface="Calibri" pitchFamily="34" charset="0"/>
                <a:ea typeface="Calibri" pitchFamily="34" charset="-122"/>
                <a:cs typeface="Calibri" pitchFamily="34" charset="-120"/>
              </a:rPr>
              <a:t>GLOSSARY</a:t>
            </a:r>
            <a:endParaRPr lang="en-US" sz="2400" dirty="0"/>
          </a:p>
          <a:p>
            <a:pPr marL="0" indent="0">
              <a:spcAft>
                <a:spcPts val="500"/>
              </a:spcAft>
              <a:buNone/>
            </a:pPr>
            <a:r>
              <a:rPr lang="en-US" sz="2800" b="1" dirty="0">
                <a:solidFill>
                  <a:srgbClr val="1B2A38"/>
                </a:solidFill>
                <a:latin typeface="Calibri" pitchFamily="34" charset="0"/>
                <a:ea typeface="Calibri" pitchFamily="34" charset="-122"/>
                <a:cs typeface="Calibri" pitchFamily="34" charset="-120"/>
              </a:rPr>
              <a:t>prudent</a:t>
            </a:r>
            <a:r>
              <a:rPr lang="en-US" sz="2800" dirty="0">
                <a:solidFill>
                  <a:srgbClr val="1B2A38"/>
                </a:solidFill>
                <a:latin typeface="Calibri" pitchFamily="34" charset="0"/>
                <a:ea typeface="Calibri" pitchFamily="34" charset="-122"/>
                <a:cs typeface="Calibri" pitchFamily="34" charset="-120"/>
              </a:rPr>
              <a:t>: careful, avoiding risks ·</a:t>
            </a:r>
          </a:p>
          <a:p>
            <a:pPr marL="0" indent="0">
              <a:spcAft>
                <a:spcPts val="500"/>
              </a:spcAft>
              <a:buNone/>
            </a:pPr>
            <a:r>
              <a:rPr lang="en-US" sz="2800" b="1" dirty="0">
                <a:solidFill>
                  <a:srgbClr val="1B2A38"/>
                </a:solidFill>
                <a:latin typeface="Calibri" pitchFamily="34" charset="0"/>
                <a:ea typeface="Calibri" pitchFamily="34" charset="-122"/>
                <a:cs typeface="Calibri" pitchFamily="34" charset="-120"/>
              </a:rPr>
              <a:t>feckless</a:t>
            </a:r>
            <a:r>
              <a:rPr lang="en-US" sz="2800" dirty="0">
                <a:solidFill>
                  <a:srgbClr val="1B2A38"/>
                </a:solidFill>
                <a:latin typeface="Calibri" pitchFamily="34" charset="0"/>
                <a:ea typeface="Calibri" pitchFamily="34" charset="-122"/>
                <a:cs typeface="Calibri" pitchFamily="34" charset="-120"/>
              </a:rPr>
              <a:t>: careless and irresponsible</a:t>
            </a:r>
          </a:p>
          <a:p>
            <a:pPr>
              <a:spcAft>
                <a:spcPts val="500"/>
              </a:spcAft>
            </a:pPr>
            <a:r>
              <a:rPr lang="en-US" sz="2800" b="1" dirty="0">
                <a:solidFill>
                  <a:srgbClr val="1B2A38"/>
                </a:solidFill>
                <a:latin typeface="Calibri" pitchFamily="34" charset="0"/>
                <a:ea typeface="Calibri" pitchFamily="34" charset="-122"/>
                <a:cs typeface="Calibri" pitchFamily="34" charset="-120"/>
              </a:rPr>
              <a:t>worthy</a:t>
            </a:r>
            <a:r>
              <a:rPr lang="en-US" sz="2800" dirty="0">
                <a:solidFill>
                  <a:srgbClr val="1B2A38"/>
                </a:solidFill>
                <a:latin typeface="Calibri" pitchFamily="34" charset="0"/>
                <a:ea typeface="Calibri" pitchFamily="34" charset="-122"/>
                <a:cs typeface="Calibri" pitchFamily="34" charset="-120"/>
              </a:rPr>
              <a:t>: deserving respect or support ·</a:t>
            </a:r>
          </a:p>
          <a:p>
            <a:pPr marL="0" indent="0">
              <a:spcAft>
                <a:spcPts val="500"/>
              </a:spcAft>
              <a:buNone/>
            </a:pPr>
            <a:endParaRPr lang="en-US" dirty="0"/>
          </a:p>
        </p:txBody>
      </p:sp>
      <p:sp>
        <p:nvSpPr>
          <p:cNvPr id="13" name="Text 11"/>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14" name="Text 12"/>
          <p:cNvSpPr txBox="1"/>
          <p:nvPr/>
        </p:nvSpPr>
        <p:spPr>
          <a:xfrm>
            <a:off x="2194560" y="5852160"/>
            <a:ext cx="8872244" cy="548640"/>
          </a:xfrm>
          <a:prstGeom prst="rect">
            <a:avLst/>
          </a:prstGeom>
          <a:noFill/>
          <a:ln/>
        </p:spPr>
        <p:txBody>
          <a:bodyPr wrap="square" lIns="0" tIns="0" rIns="0" bIns="0" rtlCol="0" anchor="ctr"/>
          <a:lstStyle/>
          <a:p>
            <a:pPr marL="0" indent="0">
              <a:buNone/>
            </a:pPr>
            <a:r>
              <a:rPr lang="en-US" sz="2800" b="1" dirty="0">
                <a:solidFill>
                  <a:srgbClr val="1B2A38"/>
                </a:solidFill>
                <a:latin typeface="Calibri" pitchFamily="34" charset="0"/>
                <a:ea typeface="Calibri" pitchFamily="34" charset="-122"/>
                <a:cs typeface="Calibri" pitchFamily="34" charset="-120"/>
              </a:rPr>
              <a:t>Sort the words into an Ant list and a Grasshopper list. </a:t>
            </a:r>
          </a:p>
          <a:p>
            <a:pPr marL="0" indent="0">
              <a:buNone/>
            </a:pPr>
            <a:r>
              <a:rPr lang="en-US" sz="2800" b="1" dirty="0">
                <a:solidFill>
                  <a:srgbClr val="1B2A38"/>
                </a:solidFill>
                <a:latin typeface="Calibri" pitchFamily="34" charset="0"/>
                <a:ea typeface="Calibri" pitchFamily="34" charset="-122"/>
                <a:cs typeface="Calibri" pitchFamily="34" charset="-120"/>
              </a:rPr>
              <a:t>Find evidence for your top two.</a:t>
            </a:r>
            <a:endParaRPr lang="en-US" sz="28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16" name="Text 14"/>
          <p:cNvSpPr txBox="1"/>
          <p:nvPr/>
        </p:nvSpPr>
        <p:spPr>
          <a:xfrm>
            <a:off x="548640" y="658368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REVEAL AFTER STUDENTS ANSWER · YOU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Adjective Sort: Answers</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Ant</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practical · hard-working · sensible · prudent · serious · down-to-earth · worthy</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Grasshopper</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thoughtless · optimistic · </a:t>
            </a:r>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happy-go-lucky · fun-loving · chirpy · irresponsible · cheerful · cheery · feckless</a:t>
            </a:r>
            <a:endParaRPr lang="en-US" sz="2600" dirty="0"/>
          </a:p>
        </p:txBody>
      </p:sp>
      <p:sp>
        <p:nvSpPr>
          <p:cNvPr id="15" name="Text 13"/>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TIP</a:t>
            </a:r>
            <a:endParaRPr lang="en-US" sz="1100" dirty="0"/>
          </a:p>
        </p:txBody>
      </p:sp>
      <p:sp>
        <p:nvSpPr>
          <p:cNvPr id="16" name="Text 14"/>
          <p:cNvSpPr txBox="1"/>
          <p:nvPr/>
        </p:nvSpPr>
        <p:spPr>
          <a:xfrm>
            <a:off x="1805726" y="5440680"/>
            <a:ext cx="9624274" cy="548640"/>
          </a:xfrm>
          <a:prstGeom prst="rect">
            <a:avLst/>
          </a:prstGeom>
          <a:noFill/>
          <a:ln/>
        </p:spPr>
        <p:txBody>
          <a:bodyPr wrap="square" lIns="0" tIns="0" rIns="0" bIns="0" rtlCol="0" anchor="ctr"/>
          <a:lstStyle/>
          <a:p>
            <a:pPr marL="0" indent="0">
              <a:buNone/>
            </a:pPr>
            <a:r>
              <a:rPr lang="en-US" sz="2400" b="1" dirty="0">
                <a:solidFill>
                  <a:srgbClr val="1B2A38"/>
                </a:solidFill>
                <a:latin typeface="Calibri" pitchFamily="34" charset="0"/>
                <a:ea typeface="Calibri" pitchFamily="34" charset="-122"/>
                <a:cs typeface="Calibri" pitchFamily="34" charset="-120"/>
              </a:rPr>
              <a:t>Opinion words (dull, bossy, unkind) can go on either list if you explain why!</a:t>
            </a:r>
            <a:endParaRPr lang="en-US" sz="2400" dirty="0"/>
          </a:p>
        </p:txBody>
      </p:sp>
      <p:sp>
        <p:nvSpPr>
          <p:cNvPr id="17" name="Text 15"/>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42–67 MIN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Write: Two Personalities ✏️</a:t>
            </a:r>
            <a:endParaRPr lang="en-US" sz="3200" dirty="0"/>
          </a:p>
        </p:txBody>
      </p:sp>
      <p:sp>
        <p:nvSpPr>
          <p:cNvPr id="7" name="Shape 5"/>
          <p:cNvSpPr/>
          <p:nvPr/>
        </p:nvSpPr>
        <p:spPr>
          <a:xfrm>
            <a:off x="54864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316992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YOUR TASK</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Write two short paragraphs:                                 one on Ant,                             one on Grasshopper.                         Show how each speaks and acts.</a:t>
            </a:r>
            <a:endParaRPr lang="en-US" sz="1400" dirty="0"/>
          </a:p>
        </p:txBody>
      </p:sp>
      <p:sp>
        <p:nvSpPr>
          <p:cNvPr id="10" name="Shape 8"/>
          <p:cNvSpPr/>
          <p:nvPr/>
        </p:nvSpPr>
        <p:spPr>
          <a:xfrm>
            <a:off x="431292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4312920" y="1600200"/>
            <a:ext cx="64008" cy="3749040"/>
          </a:xfrm>
          <a:prstGeom prst="rect">
            <a:avLst/>
          </a:prstGeom>
          <a:solidFill>
            <a:srgbClr val="4F7CA0"/>
          </a:solidFill>
          <a:ln/>
        </p:spPr>
      </p:sp>
      <p:sp>
        <p:nvSpPr>
          <p:cNvPr id="12" name="Text 10"/>
          <p:cNvSpPr txBox="1"/>
          <p:nvPr/>
        </p:nvSpPr>
        <p:spPr>
          <a:xfrm>
            <a:off x="4541520" y="1463040"/>
            <a:ext cx="316992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F7CA0"/>
                </a:solidFill>
                <a:latin typeface="Calibri" pitchFamily="34" charset="0"/>
                <a:ea typeface="Calibri" pitchFamily="34" charset="-122"/>
                <a:cs typeface="Calibri" pitchFamily="34" charset="-120"/>
              </a:rPr>
              <a:t>MUST INCLUDE</a:t>
            </a:r>
            <a:endParaRPr lang="en-US" sz="1400" dirty="0"/>
          </a:p>
          <a:p>
            <a:pPr marL="0" indent="0">
              <a:spcAft>
                <a:spcPts val="500"/>
              </a:spcAft>
              <a:buNone/>
            </a:pPr>
            <a:r>
              <a:rPr lang="en-US" sz="2000" dirty="0">
                <a:solidFill>
                  <a:srgbClr val="1B2A38"/>
                </a:solidFill>
                <a:latin typeface="Calibri" pitchFamily="34" charset="0"/>
                <a:ea typeface="Calibri" pitchFamily="34" charset="-122"/>
                <a:cs typeface="Calibri" pitchFamily="34" charset="-120"/>
              </a:rPr>
              <a:t>Two traits each                                     </a:t>
            </a:r>
            <a:r>
              <a:rPr lang="en-US" sz="2600" dirty="0">
                <a:solidFill>
                  <a:srgbClr val="1B2A38"/>
                </a:solidFill>
                <a:latin typeface="Calibri" pitchFamily="34" charset="0"/>
                <a:ea typeface="Calibri" pitchFamily="34" charset="-122"/>
                <a:cs typeface="Calibri" pitchFamily="34" charset="-120"/>
              </a:rPr>
              <a:t>· </a:t>
            </a:r>
            <a:r>
              <a:rPr lang="en-US" sz="2000" dirty="0">
                <a:solidFill>
                  <a:srgbClr val="1B2A38"/>
                </a:solidFill>
                <a:latin typeface="Calibri" pitchFamily="34" charset="0"/>
                <a:ea typeface="Calibri" pitchFamily="34" charset="-122"/>
                <a:cs typeface="Calibri" pitchFamily="34" charset="-120"/>
              </a:rPr>
              <a:t>an example from the text                                           </a:t>
            </a:r>
            <a:r>
              <a:rPr lang="en-US" sz="2600" dirty="0">
                <a:solidFill>
                  <a:srgbClr val="1B2A38"/>
                </a:solidFill>
                <a:latin typeface="Calibri" pitchFamily="34" charset="0"/>
                <a:ea typeface="Calibri" pitchFamily="34" charset="-122"/>
                <a:cs typeface="Calibri" pitchFamily="34" charset="-120"/>
              </a:rPr>
              <a:t>· </a:t>
            </a:r>
            <a:r>
              <a:rPr lang="en-US" dirty="0">
                <a:solidFill>
                  <a:srgbClr val="1B2A38"/>
                </a:solidFill>
                <a:latin typeface="Calibri" pitchFamily="34" charset="0"/>
                <a:ea typeface="Calibri" pitchFamily="34" charset="-122"/>
                <a:cs typeface="Calibri" pitchFamily="34" charset="-120"/>
              </a:rPr>
              <a:t>what each thinks of the other</a:t>
            </a:r>
            <a:endParaRPr lang="en-US" sz="1400" dirty="0"/>
          </a:p>
        </p:txBody>
      </p:sp>
      <p:sp>
        <p:nvSpPr>
          <p:cNvPr id="13" name="Shape 11"/>
          <p:cNvSpPr/>
          <p:nvPr/>
        </p:nvSpPr>
        <p:spPr>
          <a:xfrm>
            <a:off x="807720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4" name="Shape 12"/>
          <p:cNvSpPr/>
          <p:nvPr/>
        </p:nvSpPr>
        <p:spPr>
          <a:xfrm>
            <a:off x="8077200" y="1600200"/>
            <a:ext cx="64008" cy="3749040"/>
          </a:xfrm>
          <a:prstGeom prst="rect">
            <a:avLst/>
          </a:prstGeom>
          <a:solidFill>
            <a:srgbClr val="C0674F"/>
          </a:solidFill>
          <a:ln/>
        </p:spPr>
      </p:sp>
      <p:sp>
        <p:nvSpPr>
          <p:cNvPr id="15" name="Text 13"/>
          <p:cNvSpPr txBox="1"/>
          <p:nvPr/>
        </p:nvSpPr>
        <p:spPr>
          <a:xfrm>
            <a:off x="8305800" y="1463040"/>
            <a:ext cx="316992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C0674F"/>
                </a:solidFill>
                <a:latin typeface="Calibri" pitchFamily="34" charset="0"/>
                <a:ea typeface="Calibri" pitchFamily="34" charset="-122"/>
                <a:cs typeface="Calibri" pitchFamily="34" charset="-120"/>
              </a:rPr>
              <a:t>SENTENCE STARTERS</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Ant is ___ because ___.</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This shows ___.</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Grasshopper probably thinks Ant is ___ because ___.</a:t>
            </a:r>
            <a:endParaRPr lang="en-US" sz="1400" dirty="0"/>
          </a:p>
        </p:txBody>
      </p:sp>
      <p:sp>
        <p:nvSpPr>
          <p:cNvPr id="16" name="Text 1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SOLO</a:t>
            </a:r>
            <a:endParaRPr lang="en-US" sz="1200" dirty="0"/>
          </a:p>
        </p:txBody>
      </p:sp>
      <p:sp>
        <p:nvSpPr>
          <p:cNvPr id="17" name="Text 1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8" name="Text 1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42–67 MIN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Choose Your Challenge ✏️</a:t>
            </a:r>
            <a:endParaRPr lang="en-US" sz="3200" dirty="0"/>
          </a:p>
        </p:txBody>
      </p:sp>
      <p:sp>
        <p:nvSpPr>
          <p:cNvPr id="7" name="Shape 5"/>
          <p:cNvSpPr/>
          <p:nvPr/>
        </p:nvSpPr>
        <p:spPr>
          <a:xfrm>
            <a:off x="54864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3535680" cy="548640"/>
          </a:xfrm>
          <a:prstGeom prst="round2SameRect">
            <a:avLst/>
          </a:prstGeom>
          <a:solidFill>
            <a:srgbClr val="4E7D5B"/>
          </a:solidFill>
          <a:ln/>
        </p:spPr>
      </p:sp>
      <p:sp>
        <p:nvSpPr>
          <p:cNvPr id="9" name="Text 7"/>
          <p:cNvSpPr txBox="1"/>
          <p:nvPr/>
        </p:nvSpPr>
        <p:spPr>
          <a:xfrm>
            <a:off x="731520" y="1463040"/>
            <a:ext cx="326136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Support</a:t>
            </a:r>
            <a:endParaRPr lang="en-US" sz="1600" dirty="0"/>
          </a:p>
        </p:txBody>
      </p:sp>
      <p:sp>
        <p:nvSpPr>
          <p:cNvPr id="10" name="Text 8"/>
          <p:cNvSpPr txBox="1"/>
          <p:nvPr/>
        </p:nvSpPr>
        <p:spPr>
          <a:xfrm>
            <a:off x="731520" y="2103120"/>
            <a:ext cx="3169920" cy="3291840"/>
          </a:xfrm>
          <a:prstGeom prst="rect">
            <a:avLst/>
          </a:prstGeom>
          <a:noFill/>
          <a:ln/>
        </p:spPr>
        <p:txBody>
          <a:bodyPr wrap="square" lIns="0" tIns="0" rIns="0" bIns="0" rtlCol="0" anchor="t"/>
          <a:lstStyle/>
          <a:p>
            <a:pPr marL="0" indent="0">
              <a:spcAft>
                <a:spcPts val="500"/>
              </a:spcAft>
              <a:buNone/>
            </a:pPr>
            <a:r>
              <a:rPr lang="en-US" sz="2408" dirty="0">
                <a:solidFill>
                  <a:srgbClr val="1B2A38"/>
                </a:solidFill>
                <a:latin typeface="Calibri" pitchFamily="34" charset="0"/>
                <a:ea typeface="Calibri" pitchFamily="34" charset="-122"/>
                <a:cs typeface="Calibri" pitchFamily="34" charset="-120"/>
              </a:rPr>
              <a:t>“Ant is ___ because ___. This shows ___.”</a:t>
            </a:r>
            <a:endParaRPr lang="en-US" sz="2408" dirty="0"/>
          </a:p>
          <a:p>
            <a:pPr marL="0" indent="0">
              <a:spcAft>
                <a:spcPts val="500"/>
              </a:spcAft>
              <a:buNone/>
            </a:pPr>
            <a:r>
              <a:rPr lang="en-US" sz="2408" b="1" dirty="0">
                <a:solidFill>
                  <a:srgbClr val="1B2A38"/>
                </a:solidFill>
                <a:latin typeface="Calibri" pitchFamily="34" charset="0"/>
                <a:ea typeface="Calibri" pitchFamily="34" charset="-122"/>
                <a:cs typeface="Calibri" pitchFamily="34" charset="-120"/>
              </a:rPr>
              <a:t>Word bank:                                 </a:t>
            </a:r>
            <a:r>
              <a:rPr lang="en-US" sz="2408" dirty="0">
                <a:solidFill>
                  <a:srgbClr val="1B2A38"/>
                </a:solidFill>
                <a:latin typeface="Calibri" pitchFamily="34" charset="0"/>
                <a:ea typeface="Calibri" pitchFamily="34" charset="-122"/>
                <a:cs typeface="Calibri" pitchFamily="34" charset="-120"/>
              </a:rPr>
              <a:t>hard-working · prudent · serious · thoughtless · cheerful</a:t>
            </a:r>
            <a:endParaRPr lang="en-US" sz="2408" dirty="0"/>
          </a:p>
        </p:txBody>
      </p:sp>
      <p:sp>
        <p:nvSpPr>
          <p:cNvPr id="11" name="Shape 9"/>
          <p:cNvSpPr/>
          <p:nvPr/>
        </p:nvSpPr>
        <p:spPr>
          <a:xfrm>
            <a:off x="431292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4312920" y="1463040"/>
            <a:ext cx="3535680" cy="548640"/>
          </a:xfrm>
          <a:prstGeom prst="round2SameRect">
            <a:avLst/>
          </a:prstGeom>
          <a:solidFill>
            <a:srgbClr val="4F7CA0"/>
          </a:solidFill>
          <a:ln/>
        </p:spPr>
      </p:sp>
      <p:sp>
        <p:nvSpPr>
          <p:cNvPr id="13" name="Text 11"/>
          <p:cNvSpPr txBox="1"/>
          <p:nvPr/>
        </p:nvSpPr>
        <p:spPr>
          <a:xfrm>
            <a:off x="4495800" y="1463040"/>
            <a:ext cx="326136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Core</a:t>
            </a:r>
            <a:endParaRPr lang="en-US" sz="1600" dirty="0"/>
          </a:p>
        </p:txBody>
      </p:sp>
      <p:sp>
        <p:nvSpPr>
          <p:cNvPr id="14" name="Text 12"/>
          <p:cNvSpPr txBox="1"/>
          <p:nvPr/>
        </p:nvSpPr>
        <p:spPr>
          <a:xfrm>
            <a:off x="4495800" y="2103120"/>
            <a:ext cx="3169920" cy="3291840"/>
          </a:xfrm>
          <a:prstGeom prst="rect">
            <a:avLst/>
          </a:prstGeom>
          <a:noFill/>
          <a:ln/>
        </p:spPr>
        <p:txBody>
          <a:bodyPr wrap="square" lIns="0" tIns="0" rIns="0" bIns="0" rtlCol="0" anchor="t"/>
          <a:lstStyle/>
          <a:p>
            <a:pPr marL="0" indent="0">
              <a:spcAft>
                <a:spcPts val="500"/>
              </a:spcAft>
              <a:buNone/>
            </a:pPr>
            <a:r>
              <a:rPr lang="en-US" sz="2408" dirty="0">
                <a:solidFill>
                  <a:srgbClr val="1B2A38"/>
                </a:solidFill>
                <a:latin typeface="Calibri" pitchFamily="34" charset="0"/>
                <a:ea typeface="Calibri" pitchFamily="34" charset="-122"/>
                <a:cs typeface="Calibri" pitchFamily="34" charset="-120"/>
              </a:rPr>
              <a:t>Write 3–4 sentences per character:                                 trait, evidence, explanation, and what each thinks of the other.</a:t>
            </a:r>
            <a:endParaRPr lang="en-US" sz="2408" dirty="0"/>
          </a:p>
        </p:txBody>
      </p:sp>
      <p:sp>
        <p:nvSpPr>
          <p:cNvPr id="15" name="Shape 13"/>
          <p:cNvSpPr/>
          <p:nvPr/>
        </p:nvSpPr>
        <p:spPr>
          <a:xfrm>
            <a:off x="807720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6" name="Shape 14"/>
          <p:cNvSpPr/>
          <p:nvPr/>
        </p:nvSpPr>
        <p:spPr>
          <a:xfrm>
            <a:off x="8077200" y="1463040"/>
            <a:ext cx="3535680" cy="548640"/>
          </a:xfrm>
          <a:prstGeom prst="round2SameRect">
            <a:avLst/>
          </a:prstGeom>
          <a:solidFill>
            <a:srgbClr val="C0674F"/>
          </a:solidFill>
          <a:ln/>
        </p:spPr>
      </p:sp>
      <p:sp>
        <p:nvSpPr>
          <p:cNvPr id="17" name="Text 15"/>
          <p:cNvSpPr txBox="1"/>
          <p:nvPr/>
        </p:nvSpPr>
        <p:spPr>
          <a:xfrm>
            <a:off x="8260080" y="1463040"/>
            <a:ext cx="326136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Extension</a:t>
            </a:r>
            <a:endParaRPr lang="en-US" sz="1600" dirty="0"/>
          </a:p>
        </p:txBody>
      </p:sp>
      <p:sp>
        <p:nvSpPr>
          <p:cNvPr id="18" name="Text 16"/>
          <p:cNvSpPr txBox="1"/>
          <p:nvPr/>
        </p:nvSpPr>
        <p:spPr>
          <a:xfrm>
            <a:off x="8260080" y="2103120"/>
            <a:ext cx="3169920" cy="3291840"/>
          </a:xfrm>
          <a:prstGeom prst="rect">
            <a:avLst/>
          </a:prstGeom>
          <a:noFill/>
          <a:ln/>
        </p:spPr>
        <p:txBody>
          <a:bodyPr wrap="square" lIns="0" tIns="0" rIns="0" bIns="0" rtlCol="0" anchor="t"/>
          <a:lstStyle/>
          <a:p>
            <a:pPr marL="0" indent="0">
              <a:spcAft>
                <a:spcPts val="500"/>
              </a:spcAft>
              <a:buNone/>
            </a:pPr>
            <a:r>
              <a:rPr lang="en-US" sz="2408" dirty="0">
                <a:solidFill>
                  <a:srgbClr val="1B2A38"/>
                </a:solidFill>
                <a:latin typeface="Calibri" pitchFamily="34" charset="0"/>
                <a:ea typeface="Calibri" pitchFamily="34" charset="-122"/>
                <a:cs typeface="Calibri" pitchFamily="34" charset="-120"/>
              </a:rPr>
              <a:t>Write a developed response AND decide: which character is more like a real insect?                           Use TWO facts from the fact files.</a:t>
            </a:r>
            <a:endParaRPr lang="en-US" sz="2408" dirty="0"/>
          </a:p>
        </p:txBody>
      </p:sp>
      <p:sp>
        <p:nvSpPr>
          <p:cNvPr id="19" name="Text 17"/>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YOUR MISSION</a:t>
            </a:r>
            <a:endParaRPr lang="en-US" sz="1100" dirty="0"/>
          </a:p>
        </p:txBody>
      </p:sp>
      <p:sp>
        <p:nvSpPr>
          <p:cNvPr id="20" name="Text 18"/>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2400" b="1" dirty="0">
                <a:solidFill>
                  <a:srgbClr val="1B2A38"/>
                </a:solidFill>
                <a:latin typeface="Calibri" pitchFamily="34" charset="0"/>
                <a:ea typeface="Calibri" pitchFamily="34" charset="-122"/>
                <a:cs typeface="Calibri" pitchFamily="34" charset="-120"/>
              </a:rPr>
              <a:t>Pick the box that stretches you, and use your own words.</a:t>
            </a:r>
            <a:endParaRPr lang="en-US" sz="2400" dirty="0"/>
          </a:p>
        </p:txBody>
      </p:sp>
      <p:sp>
        <p:nvSpPr>
          <p:cNvPr id="21" name="Text 1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SOLO</a:t>
            </a:r>
            <a:endParaRPr lang="en-US" sz="1200" dirty="0"/>
          </a:p>
        </p:txBody>
      </p:sp>
      <p:sp>
        <p:nvSpPr>
          <p:cNvPr id="22" name="Text 2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23" name="Text 2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REVEAL AFTER STUDENTS ANSWER · YOU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Model Paragraphs</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Model</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1952" dirty="0">
                <a:solidFill>
                  <a:srgbClr val="1B2A38"/>
                </a:solidFill>
                <a:latin typeface="Calibri" pitchFamily="34" charset="0"/>
                <a:ea typeface="Calibri" pitchFamily="34" charset="-122"/>
                <a:cs typeface="Calibri" pitchFamily="34" charset="-120"/>
              </a:rPr>
              <a:t>Ant is hard-working and prudent. She carries grain all summer, which shows she plans for winter. She probably thinks Grasshopper is thoughtless because he only sings.</a:t>
            </a:r>
            <a:endParaRPr lang="en-US" sz="1952" dirty="0"/>
          </a:p>
          <a:p>
            <a:pPr marL="0" indent="0">
              <a:spcAft>
                <a:spcPts val="500"/>
              </a:spcAft>
              <a:buNone/>
            </a:pPr>
            <a:endParaRPr lang="en-US" sz="1952" dirty="0"/>
          </a:p>
          <a:p>
            <a:pPr marL="0" indent="0">
              <a:spcAft>
                <a:spcPts val="500"/>
              </a:spcAft>
              <a:buNone/>
            </a:pPr>
            <a:r>
              <a:rPr lang="en-US" sz="1952" dirty="0">
                <a:solidFill>
                  <a:srgbClr val="1B2A38"/>
                </a:solidFill>
                <a:latin typeface="Calibri" pitchFamily="34" charset="0"/>
                <a:ea typeface="Calibri" pitchFamily="34" charset="-122"/>
                <a:cs typeface="Calibri" pitchFamily="34" charset="-120"/>
              </a:rPr>
              <a:t>Grasshopper is cheerful but irresponsible. He plays instead of storing food, which shows he lives only for today. He may think Ant is too serious.</a:t>
            </a:r>
            <a:endParaRPr lang="en-US" sz="1952"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Why it works</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1952" dirty="0">
                <a:solidFill>
                  <a:srgbClr val="1B2A38"/>
                </a:solidFill>
                <a:latin typeface="Calibri" pitchFamily="34" charset="0"/>
                <a:ea typeface="Calibri" pitchFamily="34" charset="-122"/>
                <a:cs typeface="Calibri" pitchFamily="34" charset="-120"/>
              </a:rPr>
              <a:t>✓ Two traits</a:t>
            </a:r>
            <a:endParaRPr lang="en-US" sz="1952" dirty="0"/>
          </a:p>
          <a:p>
            <a:pPr marL="0" indent="0">
              <a:spcAft>
                <a:spcPts val="500"/>
              </a:spcAft>
              <a:buNone/>
            </a:pPr>
            <a:r>
              <a:rPr lang="en-US" sz="1952" dirty="0">
                <a:solidFill>
                  <a:srgbClr val="1B2A38"/>
                </a:solidFill>
                <a:latin typeface="Calibri" pitchFamily="34" charset="0"/>
                <a:ea typeface="Calibri" pitchFamily="34" charset="-122"/>
                <a:cs typeface="Calibri" pitchFamily="34" charset="-120"/>
              </a:rPr>
              <a:t>✓ Evidence from the story</a:t>
            </a:r>
            <a:endParaRPr lang="en-US" sz="1952" dirty="0"/>
          </a:p>
          <a:p>
            <a:pPr marL="0" indent="0">
              <a:spcAft>
                <a:spcPts val="500"/>
              </a:spcAft>
              <a:buNone/>
            </a:pPr>
            <a:r>
              <a:rPr lang="en-US" sz="1952" dirty="0">
                <a:solidFill>
                  <a:srgbClr val="1B2A38"/>
                </a:solidFill>
                <a:latin typeface="Calibri" pitchFamily="34" charset="0"/>
                <a:ea typeface="Calibri" pitchFamily="34" charset="-122"/>
                <a:cs typeface="Calibri" pitchFamily="34" charset="-120"/>
              </a:rPr>
              <a:t>✓ Explanation (“which shows”)</a:t>
            </a:r>
            <a:endParaRPr lang="en-US" sz="1952" dirty="0"/>
          </a:p>
          <a:p>
            <a:pPr marL="0" indent="0">
              <a:spcAft>
                <a:spcPts val="500"/>
              </a:spcAft>
              <a:buNone/>
            </a:pPr>
            <a:r>
              <a:rPr lang="en-US" sz="1952" dirty="0">
                <a:solidFill>
                  <a:srgbClr val="1B2A38"/>
                </a:solidFill>
                <a:latin typeface="Calibri" pitchFamily="34" charset="0"/>
                <a:ea typeface="Calibri" pitchFamily="34" charset="-122"/>
                <a:cs typeface="Calibri" pitchFamily="34" charset="-120"/>
              </a:rPr>
              <a:t>✓ What each thinks of the other</a:t>
            </a:r>
            <a:endParaRPr lang="en-US" sz="1952" dirty="0"/>
          </a:p>
        </p:txBody>
      </p:sp>
      <p:sp>
        <p:nvSpPr>
          <p:cNvPr id="15" name="Text 13"/>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TIP</a:t>
            </a:r>
            <a:endParaRPr lang="en-US" sz="1100" dirty="0"/>
          </a:p>
        </p:txBody>
      </p:sp>
      <p:sp>
        <p:nvSpPr>
          <p:cNvPr id="16" name="Text 14"/>
          <p:cNvSpPr txBox="1"/>
          <p:nvPr/>
        </p:nvSpPr>
        <p:spPr>
          <a:xfrm>
            <a:off x="2980773" y="5715000"/>
            <a:ext cx="7589520" cy="548640"/>
          </a:xfrm>
          <a:prstGeom prst="rect">
            <a:avLst/>
          </a:prstGeom>
          <a:noFill/>
          <a:ln/>
        </p:spPr>
        <p:txBody>
          <a:bodyPr wrap="square" lIns="0" tIns="0" rIns="0" bIns="0" rtlCol="0" anchor="ctr"/>
          <a:lstStyle/>
          <a:p>
            <a:pPr marL="0" indent="0">
              <a:buNone/>
            </a:pPr>
            <a:r>
              <a:rPr lang="en-US" sz="2800" b="1" dirty="0">
                <a:solidFill>
                  <a:srgbClr val="1B2A38"/>
                </a:solidFill>
                <a:latin typeface="Calibri" pitchFamily="34" charset="0"/>
                <a:ea typeface="Calibri" pitchFamily="34" charset="-122"/>
                <a:cs typeface="Calibri" pitchFamily="34" charset="-120"/>
              </a:rPr>
              <a:t>Copy the structure, not the exact words.</a:t>
            </a:r>
            <a:endParaRPr lang="en-US" sz="2800" dirty="0"/>
          </a:p>
        </p:txBody>
      </p:sp>
      <p:sp>
        <p:nvSpPr>
          <p:cNvPr id="17" name="Text 15"/>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42–67 MIN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Edit Like a Writer ✏️</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505206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CONTENT CHECK</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two clear traits per character</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evidence from the story</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an explanation with “this shows”</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what each thinks of the other</a:t>
            </a:r>
            <a:endParaRPr lang="en-US" sz="1400" dirty="0"/>
          </a:p>
        </p:txBody>
      </p:sp>
      <p:sp>
        <p:nvSpPr>
          <p:cNvPr id="10" name="Shape 8"/>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6195060" y="1600200"/>
            <a:ext cx="64008" cy="3749040"/>
          </a:xfrm>
          <a:prstGeom prst="rect">
            <a:avLst/>
          </a:prstGeom>
          <a:solidFill>
            <a:srgbClr val="4F7CA0"/>
          </a:solidFill>
          <a:ln/>
        </p:spPr>
      </p:sp>
      <p:sp>
        <p:nvSpPr>
          <p:cNvPr id="12" name="Text 10"/>
          <p:cNvSpPr txBox="1"/>
          <p:nvPr/>
        </p:nvSpPr>
        <p:spPr>
          <a:xfrm>
            <a:off x="6423660" y="1463040"/>
            <a:ext cx="505206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F7CA0"/>
                </a:solidFill>
                <a:latin typeface="Calibri" pitchFamily="34" charset="0"/>
                <a:ea typeface="Calibri" pitchFamily="34" charset="-122"/>
                <a:cs typeface="Calibri" pitchFamily="34" charset="-120"/>
              </a:rPr>
              <a:t>SENTENCE CONTROL</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capital letters</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full stops</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complete sentences</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joining words: because, but, so</a:t>
            </a:r>
            <a:endParaRPr lang="en-US" sz="1400" dirty="0"/>
          </a:p>
        </p:txBody>
      </p:sp>
      <p:sp>
        <p:nvSpPr>
          <p:cNvPr id="13" name="Text 11"/>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YOUR MISSION</a:t>
            </a:r>
            <a:endParaRPr lang="en-US" sz="1100" dirty="0"/>
          </a:p>
        </p:txBody>
      </p:sp>
      <p:sp>
        <p:nvSpPr>
          <p:cNvPr id="14" name="Text 12"/>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Fix ONE thing before you hand in.</a:t>
            </a:r>
            <a:endParaRPr lang="en-US" sz="1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SOLO</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B2A38"/>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1B2A38"/>
                </a:solidFill>
                <a:latin typeface="Calibri" pitchFamily="34" charset="0"/>
                <a:ea typeface="Calibri" pitchFamily="34" charset="-122"/>
                <a:cs typeface="Calibri" pitchFamily="34" charset="-120"/>
              </a:rPr>
              <a:t>CASE FILE 1 · 67–80 MIN · PLENARY + EXIT TICKET</a:t>
            </a:r>
            <a:endParaRPr lang="en-US" sz="1100" dirty="0"/>
          </a:p>
        </p:txBody>
      </p:sp>
      <p:sp>
        <p:nvSpPr>
          <p:cNvPr id="4" name="Shape 2"/>
          <p:cNvSpPr/>
          <p:nvPr/>
        </p:nvSpPr>
        <p:spPr>
          <a:xfrm>
            <a:off x="10424160" y="256032"/>
            <a:ext cx="1280160" cy="310896"/>
          </a:xfrm>
          <a:prstGeom prst="roundRect">
            <a:avLst>
              <a:gd name="adj" fmla="val 50000"/>
            </a:avLst>
          </a:prstGeom>
          <a:solidFill>
            <a:srgbClr val="1B2A38"/>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Hot Seat: Meet the Characters 🏁</a:t>
            </a:r>
            <a:endParaRPr lang="en-US" sz="3200" dirty="0"/>
          </a:p>
        </p:txBody>
      </p:sp>
      <p:sp>
        <p:nvSpPr>
          <p:cNvPr id="7" name="Shape 5"/>
          <p:cNvSpPr/>
          <p:nvPr/>
        </p:nvSpPr>
        <p:spPr>
          <a:xfrm>
            <a:off x="548640" y="1463040"/>
            <a:ext cx="3535680" cy="3657600"/>
          </a:xfrm>
          <a:prstGeom prst="wedgeRoundRectCallout">
            <a:avLst/>
          </a:prstGeom>
          <a:solidFill>
            <a:srgbClr val="D5EEDD"/>
          </a:solidFill>
          <a:ln w="25400">
            <a:solidFill>
              <a:srgbClr val="4E7D5B"/>
            </a:solidFill>
            <a:prstDash val="solid"/>
          </a:ln>
        </p:spPr>
      </p:sp>
      <p:sp>
        <p:nvSpPr>
          <p:cNvPr id="8" name="Text 6"/>
          <p:cNvSpPr txBox="1"/>
          <p:nvPr/>
        </p:nvSpPr>
        <p:spPr>
          <a:xfrm>
            <a:off x="731520" y="1572768"/>
            <a:ext cx="3169920" cy="352044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Volunteer</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Sits as Ant or Grasshopper and stays in character.</a:t>
            </a:r>
            <a:endParaRPr lang="en-US" sz="1700" dirty="0"/>
          </a:p>
        </p:txBody>
      </p:sp>
      <p:sp>
        <p:nvSpPr>
          <p:cNvPr id="9" name="Shape 7"/>
          <p:cNvSpPr/>
          <p:nvPr/>
        </p:nvSpPr>
        <p:spPr>
          <a:xfrm>
            <a:off x="4312920" y="1463040"/>
            <a:ext cx="3535680" cy="3657600"/>
          </a:xfrm>
          <a:prstGeom prst="wedgeRoundRectCallout">
            <a:avLst/>
          </a:prstGeom>
          <a:solidFill>
            <a:srgbClr val="FAD9CF"/>
          </a:solidFill>
          <a:ln w="25400">
            <a:solidFill>
              <a:srgbClr val="4F7CA0"/>
            </a:solidFill>
            <a:prstDash val="solid"/>
          </a:ln>
        </p:spPr>
      </p:sp>
      <p:sp>
        <p:nvSpPr>
          <p:cNvPr id="10" name="Text 8"/>
          <p:cNvSpPr txBox="1"/>
          <p:nvPr/>
        </p:nvSpPr>
        <p:spPr>
          <a:xfrm>
            <a:off x="4384705" y="1586484"/>
            <a:ext cx="3973082" cy="352044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Class asks</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"Why did you not store food?"                                      · "Why are you so serious?"</a:t>
            </a:r>
            <a:endParaRPr lang="en-US" sz="1700" dirty="0"/>
          </a:p>
        </p:txBody>
      </p:sp>
      <p:sp>
        <p:nvSpPr>
          <p:cNvPr id="11" name="Shape 9"/>
          <p:cNvSpPr/>
          <p:nvPr/>
        </p:nvSpPr>
        <p:spPr>
          <a:xfrm>
            <a:off x="8077200" y="1463040"/>
            <a:ext cx="3535680" cy="3657600"/>
          </a:xfrm>
          <a:prstGeom prst="wedgeRoundRectCallout">
            <a:avLst/>
          </a:prstGeom>
          <a:solidFill>
            <a:srgbClr val="D3E4F4"/>
          </a:solidFill>
          <a:ln w="25400">
            <a:solidFill>
              <a:srgbClr val="C0674F"/>
            </a:solidFill>
            <a:prstDash val="solid"/>
          </a:ln>
        </p:spPr>
      </p:sp>
      <p:sp>
        <p:nvSpPr>
          <p:cNvPr id="12" name="Text 10"/>
          <p:cNvSpPr txBox="1"/>
          <p:nvPr/>
        </p:nvSpPr>
        <p:spPr>
          <a:xfrm>
            <a:off x="8260080" y="1572768"/>
            <a:ext cx="3169920" cy="352044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Answer with traits</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Use an adjective from today's word bank in every answer.</a:t>
            </a:r>
            <a:endParaRPr lang="en-US" sz="1700" dirty="0"/>
          </a:p>
        </p:txBody>
      </p:sp>
      <p:sp>
        <p:nvSpPr>
          <p:cNvPr id="13" name="Text 11"/>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CHECK</a:t>
            </a:r>
            <a:endParaRPr lang="en-US" sz="1200" dirty="0"/>
          </a:p>
        </p:txBody>
      </p:sp>
      <p:sp>
        <p:nvSpPr>
          <p:cNvPr id="14" name="Text 1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15" name="Text 13"/>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B2A38"/>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1B2A38"/>
                </a:solidFill>
                <a:latin typeface="Calibri" pitchFamily="34" charset="0"/>
                <a:ea typeface="Calibri" pitchFamily="34" charset="-122"/>
                <a:cs typeface="Calibri" pitchFamily="34" charset="-120"/>
              </a:rPr>
              <a:t>CASE FILE 1 · 67–80 MIN · PLENARY + EXIT TICKET</a:t>
            </a:r>
            <a:endParaRPr lang="en-US" sz="1100" dirty="0"/>
          </a:p>
        </p:txBody>
      </p:sp>
      <p:sp>
        <p:nvSpPr>
          <p:cNvPr id="4" name="Shape 2"/>
          <p:cNvSpPr/>
          <p:nvPr/>
        </p:nvSpPr>
        <p:spPr>
          <a:xfrm>
            <a:off x="10424160" y="256032"/>
            <a:ext cx="1280160" cy="310896"/>
          </a:xfrm>
          <a:prstGeom prst="roundRect">
            <a:avLst>
              <a:gd name="adj" fmla="val 50000"/>
            </a:avLst>
          </a:prstGeom>
          <a:solidFill>
            <a:srgbClr val="1B2A38"/>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Exit Ticket 🏁</a:t>
            </a:r>
            <a:endParaRPr lang="en-US" sz="3200" dirty="0"/>
          </a:p>
        </p:txBody>
      </p:sp>
      <p:sp>
        <p:nvSpPr>
          <p:cNvPr id="7" name="Shape 5"/>
          <p:cNvSpPr/>
          <p:nvPr/>
        </p:nvSpPr>
        <p:spPr>
          <a:xfrm rot="-120000">
            <a:off x="548640" y="1463040"/>
            <a:ext cx="3535680" cy="4023360"/>
          </a:xfrm>
          <a:prstGeom prst="rect">
            <a:avLst/>
          </a:prstGeom>
          <a:solidFill>
            <a:srgbClr val="FFF3B0"/>
          </a:solidFill>
          <a:ln/>
          <a:effectLst>
            <a:outerShdw blurRad="76200" dist="25400" dir="5400000" algn="bl" rotWithShape="0">
              <a:srgbClr val="000000">
                <a:alpha val="14000"/>
              </a:srgbClr>
            </a:outerShdw>
          </a:effectLst>
        </p:spPr>
      </p:sp>
      <p:sp>
        <p:nvSpPr>
          <p:cNvPr id="8" name="Shape 6"/>
          <p:cNvSpPr/>
          <p:nvPr/>
        </p:nvSpPr>
        <p:spPr>
          <a:xfrm>
            <a:off x="2215896" y="1371600"/>
            <a:ext cx="201168" cy="201168"/>
          </a:xfrm>
          <a:prstGeom prst="ellipse">
            <a:avLst/>
          </a:prstGeom>
          <a:solidFill>
            <a:srgbClr val="C0674F"/>
          </a:solidFill>
          <a:ln/>
        </p:spPr>
      </p:sp>
      <p:sp>
        <p:nvSpPr>
          <p:cNvPr id="9" name="Text 7"/>
          <p:cNvSpPr txBox="1"/>
          <p:nvPr/>
        </p:nvSpPr>
        <p:spPr>
          <a:xfrm rot="-120000">
            <a:off x="685800" y="1463040"/>
            <a:ext cx="326136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Q1</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What does anthropomorphism mean?</a:t>
            </a:r>
            <a:endParaRPr lang="en-US" sz="1700" dirty="0"/>
          </a:p>
        </p:txBody>
      </p:sp>
      <p:sp>
        <p:nvSpPr>
          <p:cNvPr id="10" name="Shape 8"/>
          <p:cNvSpPr/>
          <p:nvPr/>
        </p:nvSpPr>
        <p:spPr>
          <a:xfrm rot="90000">
            <a:off x="4312920" y="1463040"/>
            <a:ext cx="3535680" cy="4023360"/>
          </a:xfrm>
          <a:prstGeom prst="rect">
            <a:avLst/>
          </a:prstGeom>
          <a:solidFill>
            <a:srgbClr val="D5EEDD"/>
          </a:solidFill>
          <a:ln/>
          <a:effectLst>
            <a:outerShdw blurRad="76200" dist="25400" dir="5400000" algn="bl" rotWithShape="0">
              <a:srgbClr val="000000">
                <a:alpha val="14000"/>
              </a:srgbClr>
            </a:outerShdw>
          </a:effectLst>
        </p:spPr>
      </p:sp>
      <p:sp>
        <p:nvSpPr>
          <p:cNvPr id="11" name="Shape 9"/>
          <p:cNvSpPr/>
          <p:nvPr/>
        </p:nvSpPr>
        <p:spPr>
          <a:xfrm>
            <a:off x="5980176" y="1371600"/>
            <a:ext cx="201168" cy="201168"/>
          </a:xfrm>
          <a:prstGeom prst="ellipse">
            <a:avLst/>
          </a:prstGeom>
          <a:solidFill>
            <a:srgbClr val="C0674F"/>
          </a:solidFill>
          <a:ln/>
        </p:spPr>
      </p:sp>
      <p:sp>
        <p:nvSpPr>
          <p:cNvPr id="12" name="Text 10"/>
          <p:cNvSpPr txBox="1"/>
          <p:nvPr/>
        </p:nvSpPr>
        <p:spPr>
          <a:xfrm rot="90000">
            <a:off x="4450080" y="1463040"/>
            <a:ext cx="326136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Q2</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Give one animal stereotype and the trait it shows.</a:t>
            </a:r>
            <a:endParaRPr lang="en-US" sz="1700" dirty="0"/>
          </a:p>
        </p:txBody>
      </p:sp>
      <p:sp>
        <p:nvSpPr>
          <p:cNvPr id="13" name="Shape 11"/>
          <p:cNvSpPr/>
          <p:nvPr/>
        </p:nvSpPr>
        <p:spPr>
          <a:xfrm rot="-60000">
            <a:off x="8077200" y="1463040"/>
            <a:ext cx="3535680" cy="4023360"/>
          </a:xfrm>
          <a:prstGeom prst="rect">
            <a:avLst/>
          </a:prstGeom>
          <a:solidFill>
            <a:srgbClr val="FAD9CF"/>
          </a:solidFill>
          <a:ln/>
          <a:effectLst>
            <a:outerShdw blurRad="76200" dist="25400" dir="5400000" algn="bl" rotWithShape="0">
              <a:srgbClr val="000000">
                <a:alpha val="14000"/>
              </a:srgbClr>
            </a:outerShdw>
          </a:effectLst>
        </p:spPr>
      </p:sp>
      <p:sp>
        <p:nvSpPr>
          <p:cNvPr id="14" name="Shape 12"/>
          <p:cNvSpPr/>
          <p:nvPr/>
        </p:nvSpPr>
        <p:spPr>
          <a:xfrm>
            <a:off x="9744456" y="1371600"/>
            <a:ext cx="201168" cy="201168"/>
          </a:xfrm>
          <a:prstGeom prst="ellipse">
            <a:avLst/>
          </a:prstGeom>
          <a:solidFill>
            <a:srgbClr val="C0674F"/>
          </a:solidFill>
          <a:ln/>
        </p:spPr>
      </p:sp>
      <p:sp>
        <p:nvSpPr>
          <p:cNvPr id="15" name="Text 13"/>
          <p:cNvSpPr txBox="1"/>
          <p:nvPr/>
        </p:nvSpPr>
        <p:spPr>
          <a:xfrm rot="-60000">
            <a:off x="8214360" y="1463040"/>
            <a:ext cx="326136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Q3</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Name one trait of Ant and give evidence.</a:t>
            </a:r>
            <a:endParaRPr lang="en-US" sz="1700" dirty="0"/>
          </a:p>
        </p:txBody>
      </p:sp>
      <p:sp>
        <p:nvSpPr>
          <p:cNvPr id="16" name="Text 14"/>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17" name="Text 15"/>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Answer on your slip. Then we will self-mark!</a:t>
            </a:r>
            <a:endParaRPr lang="en-US" sz="1600" dirty="0"/>
          </a:p>
        </p:txBody>
      </p:sp>
      <p:sp>
        <p:nvSpPr>
          <p:cNvPr id="18" name="Text 16"/>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19" name="Text 17"/>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20" name="Text 18"/>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CASE FILE 1 · REVEAL AFTER STUDENTS ANSWER · CHECK</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Exit Ticket: Answers</a:t>
            </a:r>
            <a:endParaRPr lang="en-US" sz="3200" dirty="0"/>
          </a:p>
        </p:txBody>
      </p:sp>
      <p:sp>
        <p:nvSpPr>
          <p:cNvPr id="7" name="Shape 5"/>
          <p:cNvSpPr/>
          <p:nvPr/>
        </p:nvSpPr>
        <p:spPr>
          <a:xfrm>
            <a:off x="54864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316992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A1</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Giving human characteristics to animals in stories or pictures.</a:t>
            </a:r>
            <a:endParaRPr lang="en-US" sz="1400" dirty="0"/>
          </a:p>
        </p:txBody>
      </p:sp>
      <p:sp>
        <p:nvSpPr>
          <p:cNvPr id="10" name="Shape 8"/>
          <p:cNvSpPr/>
          <p:nvPr/>
        </p:nvSpPr>
        <p:spPr>
          <a:xfrm>
            <a:off x="431292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4312920" y="1600200"/>
            <a:ext cx="64008" cy="3749040"/>
          </a:xfrm>
          <a:prstGeom prst="rect">
            <a:avLst/>
          </a:prstGeom>
          <a:solidFill>
            <a:srgbClr val="4E7D5B"/>
          </a:solidFill>
          <a:ln/>
        </p:spPr>
      </p:sp>
      <p:sp>
        <p:nvSpPr>
          <p:cNvPr id="12" name="Text 10"/>
          <p:cNvSpPr txBox="1"/>
          <p:nvPr/>
        </p:nvSpPr>
        <p:spPr>
          <a:xfrm>
            <a:off x="4541520" y="1463040"/>
            <a:ext cx="316992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A2</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Example: tortoise = slow and patient; hare = fast and boastful.</a:t>
            </a:r>
            <a:endParaRPr lang="en-US" sz="1400" dirty="0"/>
          </a:p>
        </p:txBody>
      </p:sp>
      <p:sp>
        <p:nvSpPr>
          <p:cNvPr id="13" name="Shape 11"/>
          <p:cNvSpPr/>
          <p:nvPr/>
        </p:nvSpPr>
        <p:spPr>
          <a:xfrm>
            <a:off x="8077200" y="1463040"/>
            <a:ext cx="3535680" cy="4023360"/>
          </a:xfrm>
          <a:prstGeom prst="roundRect">
            <a:avLst>
              <a:gd name="adj" fmla="val 3103"/>
            </a:avLst>
          </a:prstGeom>
          <a:solidFill>
            <a:srgbClr val="FFFFFF"/>
          </a:solidFill>
          <a:ln/>
          <a:effectLst>
            <a:outerShdw blurRad="76200" dist="25400" dir="5400000" algn="bl" rotWithShape="0">
              <a:srgbClr val="000000">
                <a:alpha val="14000"/>
              </a:srgbClr>
            </a:outerShdw>
          </a:effectLst>
        </p:spPr>
      </p:sp>
      <p:sp>
        <p:nvSpPr>
          <p:cNvPr id="14" name="Shape 12"/>
          <p:cNvSpPr/>
          <p:nvPr/>
        </p:nvSpPr>
        <p:spPr>
          <a:xfrm>
            <a:off x="8077200" y="1600200"/>
            <a:ext cx="64008" cy="3749040"/>
          </a:xfrm>
          <a:prstGeom prst="rect">
            <a:avLst/>
          </a:prstGeom>
          <a:solidFill>
            <a:srgbClr val="4E7D5B"/>
          </a:solidFill>
          <a:ln/>
        </p:spPr>
      </p:sp>
      <p:sp>
        <p:nvSpPr>
          <p:cNvPr id="15" name="Text 13"/>
          <p:cNvSpPr txBox="1"/>
          <p:nvPr/>
        </p:nvSpPr>
        <p:spPr>
          <a:xfrm>
            <a:off x="8305800" y="1463040"/>
            <a:ext cx="316992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A3</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Example: Ant is hard-working because he collects food all summer.</a:t>
            </a:r>
            <a:endParaRPr lang="en-US" sz="1400" dirty="0"/>
          </a:p>
        </p:txBody>
      </p:sp>
      <p:sp>
        <p:nvSpPr>
          <p:cNvPr id="16" name="Text 14"/>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TIP</a:t>
            </a:r>
            <a:endParaRPr lang="en-US" sz="1100" dirty="0"/>
          </a:p>
        </p:txBody>
      </p:sp>
      <p:sp>
        <p:nvSpPr>
          <p:cNvPr id="17" name="Text 15"/>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Next: how do fables teach us a lesson?</a:t>
            </a:r>
            <a:endParaRPr lang="en-US" sz="1600" dirty="0"/>
          </a:p>
        </p:txBody>
      </p:sp>
      <p:sp>
        <p:nvSpPr>
          <p:cNvPr id="18" name="Text 16"/>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9" name="Text 17"/>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5 · UNIT 1 · STORY FEATURES 1.3 ·</a:t>
            </a:r>
            <a:endParaRPr lang="en-US" sz="900" dirty="0"/>
          </a:p>
        </p:txBody>
      </p:sp>
      <p:sp>
        <p:nvSpPr>
          <p:cNvPr id="20" name="Text 18"/>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2015</Words>
  <Application>Microsoft Office PowerPoint</Application>
  <PresentationFormat>Widescreen</PresentationFormat>
  <Paragraphs>373</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Story Features 1.3</dc:title>
  <dc:subject>PptxGenJS Presentation</dc:subject>
  <dc:creator>PptxGenJS</dc:creator>
  <cp:lastModifiedBy>pc</cp:lastModifiedBy>
  <cp:revision>2</cp:revision>
  <dcterms:created xsi:type="dcterms:W3CDTF">2026-09-29T10:21:31Z</dcterms:created>
  <dcterms:modified xsi:type="dcterms:W3CDTF">2026-09-29T21:09:29Z</dcterms:modified>
</cp:coreProperties>
</file>