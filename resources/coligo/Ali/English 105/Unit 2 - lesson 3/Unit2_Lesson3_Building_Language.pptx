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5E17549-5338-086B-7078-6F75B137B697}">
          <p14:sldIdLst>
            <p14:sldId id="256"/>
            <p14:sldId id="257"/>
            <p14:sldId id="258"/>
            <p14:sldId id="259"/>
          </p14:sldIdLst>
        </p14:section>
        <p14:section name="Part 1: Adverbials" id="{F7001DC5-26FB-9D1F-B8E4-7FC0C96988D2}">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 name="Part 2: Prefixes" id="{B219FA05-65FF-780D-C62E-61F965F98413}">
          <p14:sldIdLst>
            <p14:sldId id="282"/>
            <p14:sldId id="283"/>
            <p14:sldId id="284"/>
            <p14:sldId id="285"/>
            <p14:sldId id="286"/>
            <p14:sldId id="287"/>
            <p14:sldId id="288"/>
            <p14:sldId id="289"/>
            <p14:sldId id="290"/>
          </p14:sldIdLst>
        </p14:section>
        <p14:section name="Review" id="{DEBD178F-89B6-1B0A-0B3F-F241663AEF0A}">
          <p14:sldIdLst>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6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351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 Lesson 3 (textbook 2.3 'Building language', pages 51–52). This lesson builds on 2.1 'A brief history of space' and the timeline and compound sentences from 2.2. Flow: Getting started (about 7 min) → Part 1 adverbials: teach and check (about 20 min), then Activities 1a–1d (about 30 min) → Part 2 prefixes (about 15 min) → edit, exit ticket and homework (about 8 min). Curriculum link: Weeks 5–6 sentence variety, adverbials and paragraph cohesion; diagnostic priority sentence control and idea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Pupils can self-assess against these five steps at the end of the lesson (traffic lights on the exit ticket).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minutes: 2 minutes pair talk, 3 minutes feedback, 2 minutes reveal. Textbook 'Getting started' task 1. Model one example first: 'First of all, I woke up at six.' Prompt with the sentence frame. Listen for pupils who join everything with 'and then': they will need the word bank later. The prefix question from the textbook (pre-, tri-, un-, auto-) is saved for Part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Accept any accurate sentence. Draw out the answer to the think-and-share question: these words tell us WHEN things happened or HOW they went. Say: these words and phrases are called adverbials, and today we learn to use them on purpose.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takes about 50 minutes: teach and check (about 20), then Activities 1a to 1d (about 30). Pupils meet the key word, learn the five types, and practise placing adverbials at the start and end of sentences before writing.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ad-VER-bee-ul. Notice the word 'verb' inside it: an adverbial adds detail about the verb. Show the context sentence on the board. Ask: which words tell us when? Does that group of words have a verb in it? Take two or three guesses before revealing the definition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complete the sentence frame orally with a partner. A pupil who only repeats the teacher model has not shown understanding; ask: how do you know 'at dawn' is an adverbial and not a verb? Look for: it tells us when, and it has no verb.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Adverb = a single word that describes or modifies a verb, an adjective or another adverb. Adverbial = a group of words without a verb that does the job of an adverb (also called an adverbial phrase). Both add detail. Do not spend more than 3 minutes: the sorting practice later is where understanding is built. If asked about 'very slowly': 'very' is an adverb modifying 'slowly', and the pair together can be treated as an adverbial.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Language focus: time (when?), place (where?), manner (how or why?), quantity (how much?), quality (to what extent?). Teach time, place and manner first because they are used in the activities; mention quantity and quality so pupils know the names. Ask for a quick oral example of each about space. If pupils confuse time and place ('in the museum' and 'in 1969'), ask the question each time: when, or where?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sentence aloud. For each, ask the question: when? or where? Pupils point out that the adverbial can move: 'Finally, astronauts walked on the moon.' or 'Astronauts finally walked on the moon.'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Manner answers how or why. Quantity answers how much. Quality answers to what extent. Quantity and quality are named for recognition only; pupils are not expected to write them today. Ask: which of these adverbials could move to the start of the sentence? (manner often can; quantity and quality usually stay near the verb or adjective.)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with a think-aloud, revealing one row at a time (cover the lower rows with paper, or write the first sentence on the board and add to it). For each addition ask: which question does this answer? Point out that the sentence is still correct at every stage; adverbials add detail, they do not repair a sentence. Link to relevance: every adverbial should add something the reader needs.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meaning stays the same, but the emphasis changes: starting with 'In 1969' puts the time first, which suits a timeline. Ask pupils to say the last prompt aloud with a partner. Answer: 'The ISS was ready at last.' This is a sentence-control check: note names of pupils who drop the comma after a fronted adverbial.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quick checks. Pupils show thumbs up or down. 1: correct. 2: missing the comma after the adverbial at the start. 3: a comma is not needed before an adverbial at the end. Ask pupils to give the rule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Ask pupils to find the adverbial in each option and say which question it answers before they choose. Answer: 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'In 1957' answers when. A is manner (single adverb), C is place, D is manner.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comma goes after the adverbial at the start and nowhere else.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Common error: pupils put commas wherever they would pause when reading aloud. Remind them: the comma marks the end of the adverbial, not a pause.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 1a (about 6 minutes). Sentences are from 'A brief history of space' in session 2.1. Pairs underline the adverbial in each, then find two more in the text. Circulate: pupils who underline the whole sentence need reteaching: the adverbial is only the group of words that answers 'when?'.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In 1957 · On 12 April 1961 · In 1963 · On 20 July 1969. Each answers 'when?' and each is followed by a comma because it starts the sentence. More examples in the text: In 129 BCE, In 1543, In 1576, In the early 1600s, In 1609, In 1704, In 1926, In 1946, On 12 April 1961, In 1971, In 1983, In 1986, In 1991, In 1995, In 2000, In 2003, In 2012, In 2019.</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 1b (about 12 minutes). Collect these as evidence of organised notes becoming controlled writing. Support: give a sentence frame and the first two dates filled in on the timeline. Stretch: join two events with a FANBOYS connective from session 2.2. Sit with the group who mislabelled types in the earlier check.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model aloud once, then ask pupils to spot the adverbials of time and say what question each answers. Check: events in date order; a different adverbial of time in each sentence; a comma after each adverbial at the start. Pupils should not copy the model; they use their own timeline.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 1c. Pupils write the type on mini-whiteboards and hold them up on 'show me'. Spend about 8 minutes. Teacher check: if more than a third of the class mislabel two or more, run one more quick round with new sentences, using the question words, before the writing task.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time (when?). 2 quality (to what extent?): it compares the telescope with others; note that it modifies the telescope, so accept quantity or quality if the pupil explains why. 3 time. 4 place. 5 manner (how?). Give pupils two minutes to argue number 2 before revealing.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 1d (about 8 minutes). Pupils write one sentence with an adverbial of place and one with manner. Check the adverbial adds detail and sits correctly: a common error is splitting the verb from its object ('launched quickly the rocket'). Early finishers swap and label each other's adverbials.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sentences. Check: the adverbial adds detail; a comma follows an adverbial at the start; the sentence makes sense when read aloud. Challenge model: 'After years of practice, the astronaut walked on the moon, and she felt proud.'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takes about 15 minutes. Vocabulary routine: meet the prefix, work out the meaning from words they know, define it, use it in a sentence, then return to it at the exit ticket.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PREE-fix. A prefix is a group of letters added to the start of a word that changes its meaning. Use the getting-started prefixes: pre-, tri-, un-, auto-. Let pupils predict from known words (preview, triangle, unhappy, automatic) before you reveal. Many root words come from Greek or Latin.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complete the frame with a partner. Example: 'The prefix tele- means from afar, so television means pictures from afar.' Look for a correct link between the prefix meaning and the whole word.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 2a (about 4 minutes). Pupils draw lines or write pairs in their books. Give one anchor word each if needed: automatic, biology, astronaut, telephone, triangle, cosmos.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 by oneself · bio- = life · astro- = from space · tele- = from afar · tri- = three · cosmic- = of the universe.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 2b (about 4 minutes). Note for the teacher: the fifth word in the textbook sample looks like a misprint ('csomo'); this slide uses 'cosmonaut', a word from the 2.1 glossary. Pupils guess first, then check in a dictionary.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autobiography: auto (by oneself) + bio (life) + graphy (writing): a life story written by oneself. triennial: tri (three) + annual: happening every three years. astrodome: astro (space) + dome: a dome for viewing space. teletext: tele (from afar) + text: text sent from afar to a television screen. cosmonaut: cosmo (universe) + naut (sailor): a Soviet astronaut (see the 2.1 glossary).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tasks 2c and 2d (about 3 minutes). Pupils use a dictionary, add words to the spelling log and highlight the difficult letter group, as the textbook asks. Sentences must show the meaning in context, not just use the word.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sentence that shows the meaning. Check the sentence explains or demonstrates the prefix meaning (for example 'tele' = far away).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Pupils edit in a different coloured pen so the improvement is visible. Partner feedback follows the fable-lesson pattern: one strength and one improvement. Listen for a comma after an adverbial at the end of a sentence; correct this gently by reading it aloud. Collect the paragraphs as evidence for sentence control.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hand this in as they leave (about 3 minutes). Finish with the traffic-light self-assessment. Sort the tickets into three piles to decide the next step (see the model answers).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an adverbial of time at the start with a comma, for example 'In 1969, astronauts walked on the moon.' 2: manner (how). 3: from afar, for example television, telephone, telescope. Next-step decision: all correct → move on to the blog lessons, using adverbials as a tool. Question 1 wrong → reteach fronted adverbials with five quick sentences at the start of the next lesson. Question 2 wrong → reteach the question words when, where and how.</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blogs and informal language (session 2.4). Tasks 1 and 2 are compulsory; task 3 and the challenge are optional.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1F3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rtlCol="0"/>
          <a:lstStyle>
            <a:lvl1pPr marL="0" indent="0" algn="l">
              <a:buNone/>
              <a:defRPr lang="en-US" sz="2800" b="1" dirty="0">
                <a:solidFill>
                  <a:srgbClr val="0E1537"/>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rtlCol="0"/>
          <a:lstStyle>
            <a:lvl1pPr marL="0" indent="0" algn="l">
              <a:buNone/>
              <a:defRPr lang="en-US" sz="1300" i="1" dirty="0">
                <a:solidFill>
                  <a:srgbClr val="3A3F85"/>
                </a:solidFill>
                <a:latin typeface="Calibri" pitchFamily="34" charset="0"/>
                <a:ea typeface="Calibri" pitchFamily="34" charset="-122"/>
                <a:cs typeface="Calibri" pitchFamily="34" charset="-120"/>
              </a:defRPr>
            </a:lvl1pPr>
          </a:lstStyle>
          <a:p>
            <a:pPr marL="0" indent="0" algn="l">
              <a:buNone/>
            </a:pPr>
            <a:endParaRPr lang="en-US" sz="1300" dirty="0"/>
          </a:p>
        </p:txBody>
      </p:sp>
      <p:sp>
        <p:nvSpPr>
          <p:cNvPr id="4"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rgbClr val="3A3F85"/>
                </a:solidFill>
                <a:latin typeface="Calibri" pitchFamily="34" charset="0"/>
                <a:ea typeface="Calibri" pitchFamily="34" charset="-122"/>
                <a:cs typeface="Calibri" pitchFamily="34" charset="-120"/>
              </a:rPr>
              <a:t>Year 5 · Unit 2 · Lesson 3 · Building language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NSWER">
    <p:bg>
      <p:bgPr>
        <a:solidFill>
          <a:srgbClr val="0E153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rtlCol="0"/>
          <a:lstStyle>
            <a:lvl1pPr marL="0" indent="0" algn="l">
              <a:buNone/>
              <a:defRPr lang="en-US" sz="2800" b="1" dirty="0">
                <a:solidFill>
                  <a:srgbClr val="FFD166"/>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rtlCol="0"/>
          <a:lstStyle>
            <a:lvl1pPr marL="0" indent="0" algn="l">
              <a:buNone/>
              <a:defRPr lang="en-US" sz="1300" i="1" dirty="0">
                <a:solidFill>
                  <a:srgbClr val="CFD4FF"/>
                </a:solidFill>
                <a:latin typeface="Calibri" pitchFamily="34" charset="0"/>
                <a:ea typeface="Calibri" pitchFamily="34" charset="-122"/>
                <a:cs typeface="Calibri" pitchFamily="34" charset="-120"/>
              </a:defRPr>
            </a:lvl1pPr>
          </a:lstStyle>
          <a:p>
            <a:pPr marL="0" indent="0" algn="l">
              <a:buNone/>
            </a:pPr>
            <a:endParaRPr lang="en-US" sz="1300" dirty="0"/>
          </a:p>
        </p:txBody>
      </p:sp>
      <p:sp>
        <p:nvSpPr>
          <p:cNvPr id="4"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rgbClr val="9AA3E0"/>
                </a:solidFill>
                <a:latin typeface="Calibri" pitchFamily="34" charset="0"/>
                <a:ea typeface="Calibri" pitchFamily="34" charset="-122"/>
                <a:cs typeface="Calibri" pitchFamily="34" charset="-120"/>
              </a:rPr>
              <a:t>Year 5 · Unit 2 · Lesson 3 · Building language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E153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828800"/>
            <a:ext cx="4754880" cy="822960"/>
          </a:xfrm>
          <a:prstGeom prst="rect">
            <a:avLst/>
          </a:prstGeom>
          <a:noFill/>
          <a:ln/>
        </p:spPr>
        <p:txBody>
          <a:bodyPr wrap="square" rtlCol="0"/>
          <a:lstStyle>
            <a:lvl1pPr marL="0" indent="0" algn="l">
              <a:buNone/>
              <a:defRPr lang="en-US" sz="4000" b="1" dirty="0">
                <a:solidFill>
                  <a:srgbClr val="FFD166"/>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457200" y="2697480"/>
            <a:ext cx="4754880" cy="411480"/>
          </a:xfrm>
          <a:prstGeom prst="rect">
            <a:avLst/>
          </a:prstGeom>
          <a:noFill/>
          <a:ln/>
        </p:spPr>
        <p:txBody>
          <a:bodyPr wrap="square" rtlCol="0"/>
          <a:lstStyle>
            <a:lvl1pPr marL="0" indent="0" algn="l">
              <a:buNone/>
              <a:defRPr lang="en-US" sz="1800" i="1" dirty="0">
                <a:solidFill>
                  <a:srgbClr val="FFFFFF"/>
                </a:solidFill>
                <a:latin typeface="Calibri" pitchFamily="34" charset="0"/>
                <a:ea typeface="Calibri" pitchFamily="34" charset="-122"/>
                <a:cs typeface="Calibri" pitchFamily="34" charset="-120"/>
              </a:defRPr>
            </a:lvl1pPr>
          </a:lstStyle>
          <a:p>
            <a:pPr marL="0" indent="0" algn="l">
              <a:buNone/>
            </a:pPr>
            <a:endParaRPr lang="en-US" sz="1800" dirty="0"/>
          </a:p>
        </p:txBody>
      </p:sp>
      <p:sp>
        <p:nvSpPr>
          <p:cNvPr id="4"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rgbClr val="9AA3E0"/>
                </a:solidFill>
                <a:latin typeface="Calibri" pitchFamily="34" charset="0"/>
                <a:ea typeface="Calibri" pitchFamily="34" charset="-122"/>
                <a:cs typeface="Calibri" pitchFamily="34" charset="-120"/>
              </a:rPr>
              <a:t>Year 5 · Unit 2 · Lesson 3 · Building language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0E153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828800"/>
            <a:ext cx="7315200" cy="822960"/>
          </a:xfrm>
          <a:prstGeom prst="rect">
            <a:avLst/>
          </a:prstGeom>
          <a:noFill/>
          <a:ln/>
        </p:spPr>
        <p:txBody>
          <a:bodyPr wrap="square" rtlCol="0"/>
          <a:lstStyle>
            <a:lvl1pPr marL="0" indent="0" algn="l">
              <a:buNone/>
              <a:defRPr lang="en-US" sz="4000" b="1" dirty="0">
                <a:solidFill>
                  <a:srgbClr val="FFD166"/>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457200" y="2697480"/>
            <a:ext cx="8229600" cy="411480"/>
          </a:xfrm>
          <a:prstGeom prst="rect">
            <a:avLst/>
          </a:prstGeom>
          <a:noFill/>
          <a:ln/>
        </p:spPr>
        <p:txBody>
          <a:bodyPr wrap="square" rtlCol="0"/>
          <a:lstStyle>
            <a:lvl1pPr marL="0" indent="0" algn="l">
              <a:buNone/>
              <a:defRPr lang="en-US" sz="1800" i="1" dirty="0">
                <a:solidFill>
                  <a:srgbClr val="CFD4FF"/>
                </a:solidFill>
                <a:latin typeface="Calibri" pitchFamily="34" charset="0"/>
                <a:ea typeface="Calibri" pitchFamily="34" charset="-122"/>
                <a:cs typeface="Calibri" pitchFamily="34" charset="-120"/>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828800"/>
            <a:ext cx="4754880" cy="822960"/>
          </a:xfrm>
          <a:prstGeom prst="rect">
            <a:avLst/>
          </a:prstGeom>
          <a:noFill/>
          <a:ln/>
        </p:spPr>
        <p:txBody>
          <a:bodyPr wrap="square" lIns="0" tIns="0" rIns="0" bIns="0" rtlCol="0" anchor="t"/>
          <a:lstStyle/>
          <a:p>
            <a:pPr marL="0" indent="0" algn="l">
              <a:buNone/>
            </a:pPr>
            <a:r>
              <a:rPr lang="en-US" sz="4000" b="1" dirty="0">
                <a:solidFill>
                  <a:srgbClr val="FFD166"/>
                </a:solidFill>
                <a:latin typeface="Cambria" pitchFamily="34" charset="0"/>
                <a:ea typeface="Cambria" pitchFamily="34" charset="-122"/>
                <a:cs typeface="Cambria" pitchFamily="34" charset="-120"/>
              </a:rPr>
              <a:t>Building Language</a:t>
            </a:r>
            <a:endParaRPr lang="en-US" sz="4000" dirty="0"/>
          </a:p>
        </p:txBody>
      </p:sp>
      <p:sp>
        <p:nvSpPr>
          <p:cNvPr id="3" name="Text 0"/>
          <p:cNvSpPr>
            <a:spLocks noGrp="1"/>
          </p:cNvSpPr>
          <p:nvPr>
            <p:ph type="body" idx="101" hasCustomPrompt="1"/>
          </p:nvPr>
        </p:nvSpPr>
        <p:spPr>
          <a:xfrm>
            <a:off x="457200" y="2697480"/>
            <a:ext cx="4754880" cy="411480"/>
          </a:xfrm>
          <a:prstGeom prst="rect">
            <a:avLst/>
          </a:prstGeom>
          <a:noFill/>
          <a:ln/>
        </p:spPr>
        <p:txBody>
          <a:bodyPr wrap="square" lIns="0" tIns="0" rIns="0" bIns="0" rtlCol="0" anchor="t"/>
          <a:lstStyle/>
          <a:p>
            <a:pPr marL="0" indent="0" algn="l">
              <a:buNone/>
            </a:pPr>
            <a:r>
              <a:rPr lang="en-US" sz="1800" i="1" dirty="0">
                <a:solidFill>
                  <a:srgbClr val="FFFFFF"/>
                </a:solidFill>
                <a:latin typeface="Calibri" pitchFamily="34" charset="0"/>
                <a:ea typeface="Calibri" pitchFamily="34" charset="-122"/>
                <a:cs typeface="Calibri" pitchFamily="34" charset="-120"/>
              </a:rPr>
              <a:t>Adverbials and prefixes</a:t>
            </a:r>
            <a:endParaRPr lang="en-US" sz="1800" dirty="0"/>
          </a:p>
        </p:txBody>
      </p:sp>
      <p:sp>
        <p:nvSpPr>
          <p:cNvPr id="5" name="Shape 2"/>
          <p:cNvSpPr/>
          <p:nvPr/>
        </p:nvSpPr>
        <p:spPr>
          <a:xfrm>
            <a:off x="457200" y="502920"/>
            <a:ext cx="2468880" cy="292608"/>
          </a:xfrm>
          <a:prstGeom prst="roundRect">
            <a:avLst>
              <a:gd name="adj" fmla="val 50000"/>
            </a:avLst>
          </a:prstGeom>
          <a:solidFill>
            <a:srgbClr val="FF8A3D"/>
          </a:solidFill>
          <a:ln w="6350">
            <a:solidFill>
              <a:srgbClr val="FF8A3D"/>
            </a:solidFill>
            <a:prstDash val="solid"/>
          </a:ln>
        </p:spPr>
      </p:sp>
      <p:sp>
        <p:nvSpPr>
          <p:cNvPr id="6" name="Text 3"/>
          <p:cNvSpPr txBox="1"/>
          <p:nvPr/>
        </p:nvSpPr>
        <p:spPr>
          <a:xfrm>
            <a:off x="457200" y="502920"/>
            <a:ext cx="2468880" cy="292608"/>
          </a:xfrm>
          <a:prstGeom prst="rect">
            <a:avLst/>
          </a:prstGeom>
          <a:noFill/>
          <a:ln/>
        </p:spPr>
        <p:txBody>
          <a:bodyPr wrap="square" lIns="0" tIns="0" rIns="0" bIns="0" rtlCol="0" anchor="ctr"/>
          <a:lstStyle/>
          <a:p>
            <a:pPr marL="0" indent="0" algn="ctr">
              <a:buNone/>
            </a:pPr>
            <a:r>
              <a:rPr lang="en-US" sz="1200" b="1" dirty="0">
                <a:solidFill>
                  <a:srgbClr val="0E1537"/>
                </a:solidFill>
                <a:latin typeface="Calibri" pitchFamily="34" charset="0"/>
                <a:ea typeface="Calibri" pitchFamily="34" charset="-122"/>
                <a:cs typeface="Calibri" pitchFamily="34" charset="-120"/>
              </a:rPr>
              <a:t>YEAR 5 · UNIT 2 · LESSON 3</a:t>
            </a:r>
            <a:endParaRPr lang="en-US" sz="1200" dirty="0"/>
          </a:p>
        </p:txBody>
      </p:sp>
      <p:sp>
        <p:nvSpPr>
          <p:cNvPr id="7" name="Shape 4"/>
          <p:cNvSpPr/>
          <p:nvPr/>
        </p:nvSpPr>
        <p:spPr>
          <a:xfrm>
            <a:off x="5394960" y="731520"/>
            <a:ext cx="3291840" cy="3108960"/>
          </a:xfrm>
          <a:prstGeom prst="roundRect">
            <a:avLst>
              <a:gd name="adj" fmla="val 3529"/>
            </a:avLst>
          </a:prstGeom>
          <a:solidFill>
            <a:srgbClr val="7B5CE0"/>
          </a:solidFill>
          <a:ln w="6350">
            <a:solidFill>
              <a:srgbClr val="7B5CE0"/>
            </a:solidFill>
            <a:prstDash val="solid"/>
          </a:ln>
        </p:spPr>
      </p:sp>
      <p:sp>
        <p:nvSpPr>
          <p:cNvPr id="8" name="Text 5"/>
          <p:cNvSpPr txBox="1"/>
          <p:nvPr/>
        </p:nvSpPr>
        <p:spPr>
          <a:xfrm>
            <a:off x="5623560" y="914400"/>
            <a:ext cx="2834640" cy="365760"/>
          </a:xfrm>
          <a:prstGeom prst="rect">
            <a:avLst/>
          </a:prstGeom>
          <a:noFill/>
          <a:ln/>
        </p:spPr>
        <p:txBody>
          <a:bodyPr wrap="square" lIns="0" tIns="0" rIns="0" bIns="0" rtlCol="0" anchor="t"/>
          <a:lstStyle/>
          <a:p>
            <a:pPr marL="0" indent="0">
              <a:buNone/>
            </a:pPr>
            <a:r>
              <a:rPr lang="en-US" sz="2000" b="1" dirty="0">
                <a:solidFill>
                  <a:srgbClr val="FFD166"/>
                </a:solidFill>
                <a:latin typeface="Cambria" pitchFamily="34" charset="0"/>
                <a:ea typeface="Cambria" pitchFamily="34" charset="-122"/>
                <a:cs typeface="Cambria" pitchFamily="34" charset="-120"/>
              </a:rPr>
              <a:t>We are going to…</a:t>
            </a:r>
            <a:endParaRPr lang="en-US" sz="2000" dirty="0"/>
          </a:p>
        </p:txBody>
      </p:sp>
      <p:sp>
        <p:nvSpPr>
          <p:cNvPr id="9" name="Text 6"/>
          <p:cNvSpPr txBox="1"/>
          <p:nvPr/>
        </p:nvSpPr>
        <p:spPr>
          <a:xfrm>
            <a:off x="5623560" y="1417320"/>
            <a:ext cx="283464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use adverbials of time, place and manner</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start or end a sentence with an adverbial</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work out words built with prefixes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Today’s mission</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Learning objective: I can use adverbials in sentences and work out the meaning of words with prefixes.</a:t>
            </a:r>
            <a:endParaRPr lang="en-US" sz="1300" dirty="0"/>
          </a:p>
        </p:txBody>
      </p:sp>
      <p:sp>
        <p:nvSpPr>
          <p:cNvPr id="5" name="Shape 2"/>
          <p:cNvSpPr/>
          <p:nvPr/>
        </p:nvSpPr>
        <p:spPr>
          <a:xfrm>
            <a:off x="457200" y="1417320"/>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517904"/>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517904"/>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417320"/>
            <a:ext cx="740664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Describe your day using time words</a:t>
            </a:r>
            <a:endParaRPr lang="en-US" sz="1600" dirty="0"/>
          </a:p>
        </p:txBody>
      </p:sp>
      <p:sp>
        <p:nvSpPr>
          <p:cNvPr id="9" name="Shape 6"/>
          <p:cNvSpPr/>
          <p:nvPr/>
        </p:nvSpPr>
        <p:spPr>
          <a:xfrm>
            <a:off x="457200" y="2039112"/>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139696"/>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139696"/>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2039112"/>
            <a:ext cx="740664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Learn the key word: adverbial</a:t>
            </a:r>
            <a:endParaRPr lang="en-US" sz="1600" dirty="0"/>
          </a:p>
        </p:txBody>
      </p:sp>
      <p:sp>
        <p:nvSpPr>
          <p:cNvPr id="13" name="Shape 10"/>
          <p:cNvSpPr/>
          <p:nvPr/>
        </p:nvSpPr>
        <p:spPr>
          <a:xfrm>
            <a:off x="457200" y="2660904"/>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761488"/>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276148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660904"/>
            <a:ext cx="740664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Name five types of adverbial</a:t>
            </a:r>
            <a:endParaRPr lang="en-US" sz="1600" dirty="0"/>
          </a:p>
        </p:txBody>
      </p:sp>
      <p:sp>
        <p:nvSpPr>
          <p:cNvPr id="17" name="Shape 14"/>
          <p:cNvSpPr/>
          <p:nvPr/>
        </p:nvSpPr>
        <p:spPr>
          <a:xfrm>
            <a:off x="457200" y="3282696"/>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383280"/>
            <a:ext cx="329184" cy="329184"/>
          </a:xfrm>
          <a:prstGeom prst="ellipse">
            <a:avLst/>
          </a:prstGeom>
          <a:solidFill>
            <a:srgbClr val="7B5CE0"/>
          </a:solidFill>
          <a:ln w="6350">
            <a:solidFill>
              <a:srgbClr val="7B5CE0"/>
            </a:solidFill>
            <a:prstDash val="solid"/>
          </a:ln>
        </p:spPr>
      </p:sp>
      <p:sp>
        <p:nvSpPr>
          <p:cNvPr id="19" name="Text 16"/>
          <p:cNvSpPr txBox="1"/>
          <p:nvPr/>
        </p:nvSpPr>
        <p:spPr>
          <a:xfrm>
            <a:off x="594360" y="338328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097280" y="3282696"/>
            <a:ext cx="740664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Use adverbials in sentences about space</a:t>
            </a:r>
            <a:endParaRPr lang="en-US" sz="1600" dirty="0"/>
          </a:p>
        </p:txBody>
      </p:sp>
      <p:sp>
        <p:nvSpPr>
          <p:cNvPr id="21" name="Shape 18"/>
          <p:cNvSpPr/>
          <p:nvPr/>
        </p:nvSpPr>
        <p:spPr>
          <a:xfrm>
            <a:off x="457200" y="3904488"/>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22" name="Shape 19"/>
          <p:cNvSpPr/>
          <p:nvPr/>
        </p:nvSpPr>
        <p:spPr>
          <a:xfrm>
            <a:off x="594360" y="4005072"/>
            <a:ext cx="329184" cy="329184"/>
          </a:xfrm>
          <a:prstGeom prst="ellipse">
            <a:avLst/>
          </a:prstGeom>
          <a:solidFill>
            <a:srgbClr val="FFD166"/>
          </a:solidFill>
          <a:ln w="6350">
            <a:solidFill>
              <a:srgbClr val="FFD166"/>
            </a:solidFill>
            <a:prstDash val="solid"/>
          </a:ln>
        </p:spPr>
      </p:sp>
      <p:sp>
        <p:nvSpPr>
          <p:cNvPr id="23" name="Text 20"/>
          <p:cNvSpPr txBox="1"/>
          <p:nvPr/>
        </p:nvSpPr>
        <p:spPr>
          <a:xfrm>
            <a:off x="594360" y="400507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5</a:t>
            </a:r>
            <a:endParaRPr lang="en-US" sz="1400" dirty="0"/>
          </a:p>
        </p:txBody>
      </p:sp>
      <p:sp>
        <p:nvSpPr>
          <p:cNvPr id="24" name="Text 21"/>
          <p:cNvSpPr txBox="1"/>
          <p:nvPr/>
        </p:nvSpPr>
        <p:spPr>
          <a:xfrm>
            <a:off x="1097280" y="3904488"/>
            <a:ext cx="740664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Work out words with prefixes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Getting started: describe your day</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Work in pairs. Describe your day so far using these words.</a:t>
            </a:r>
            <a:endParaRPr lang="en-US" sz="1300" dirty="0"/>
          </a:p>
        </p:txBody>
      </p:sp>
      <p:sp>
        <p:nvSpPr>
          <p:cNvPr id="5" name="Shape 2"/>
          <p:cNvSpPr/>
          <p:nvPr/>
        </p:nvSpPr>
        <p:spPr>
          <a:xfrm>
            <a:off x="457200" y="1463040"/>
            <a:ext cx="2560320" cy="914400"/>
          </a:xfrm>
          <a:prstGeom prst="roundRect">
            <a:avLst>
              <a:gd name="adj" fmla="val 10000"/>
            </a:avLst>
          </a:prstGeom>
          <a:solidFill>
            <a:srgbClr val="FF8A3D"/>
          </a:solidFill>
          <a:ln w="6350">
            <a:solidFill>
              <a:srgbClr val="FF8A3D"/>
            </a:solidFill>
            <a:prstDash val="solid"/>
          </a:ln>
        </p:spPr>
      </p:sp>
      <p:sp>
        <p:nvSpPr>
          <p:cNvPr id="6" name="Text 3"/>
          <p:cNvSpPr txBox="1"/>
          <p:nvPr/>
        </p:nvSpPr>
        <p:spPr>
          <a:xfrm>
            <a:off x="548640" y="1463040"/>
            <a:ext cx="2377440" cy="914400"/>
          </a:xfrm>
          <a:prstGeom prst="rect">
            <a:avLst/>
          </a:prstGeom>
          <a:noFill/>
          <a:ln/>
        </p:spPr>
        <p:txBody>
          <a:bodyPr wrap="square" lIns="0" tIns="0" rIns="0" bIns="0" rtlCol="0" anchor="ctr"/>
          <a:lstStyle/>
          <a:p>
            <a:pPr marL="0" indent="0" algn="ctr">
              <a:buNone/>
            </a:pPr>
            <a:r>
              <a:rPr lang="en-US" sz="2600" b="1" dirty="0">
                <a:solidFill>
                  <a:srgbClr val="0E1537"/>
                </a:solidFill>
                <a:latin typeface="Cambria" pitchFamily="34" charset="0"/>
                <a:ea typeface="Cambria" pitchFamily="34" charset="-122"/>
                <a:cs typeface="Cambria" pitchFamily="34" charset="-120"/>
              </a:rPr>
              <a:t>First of all</a:t>
            </a:r>
            <a:endParaRPr lang="en-US" sz="2600" dirty="0"/>
          </a:p>
        </p:txBody>
      </p:sp>
      <p:sp>
        <p:nvSpPr>
          <p:cNvPr id="7" name="Shape 4"/>
          <p:cNvSpPr/>
          <p:nvPr/>
        </p:nvSpPr>
        <p:spPr>
          <a:xfrm>
            <a:off x="3291840" y="1463040"/>
            <a:ext cx="2560320" cy="914400"/>
          </a:xfrm>
          <a:prstGeom prst="roundRect">
            <a:avLst>
              <a:gd name="adj" fmla="val 10000"/>
            </a:avLst>
          </a:prstGeom>
          <a:solidFill>
            <a:srgbClr val="2EC4B6"/>
          </a:solidFill>
          <a:ln w="6350">
            <a:solidFill>
              <a:srgbClr val="2EC4B6"/>
            </a:solidFill>
            <a:prstDash val="solid"/>
          </a:ln>
        </p:spPr>
      </p:sp>
      <p:sp>
        <p:nvSpPr>
          <p:cNvPr id="8" name="Text 5"/>
          <p:cNvSpPr txBox="1"/>
          <p:nvPr/>
        </p:nvSpPr>
        <p:spPr>
          <a:xfrm>
            <a:off x="3383280" y="1463040"/>
            <a:ext cx="2377440" cy="914400"/>
          </a:xfrm>
          <a:prstGeom prst="rect">
            <a:avLst/>
          </a:prstGeom>
          <a:noFill/>
          <a:ln/>
        </p:spPr>
        <p:txBody>
          <a:bodyPr wrap="square" lIns="0" tIns="0" rIns="0" bIns="0" rtlCol="0" anchor="ctr"/>
          <a:lstStyle/>
          <a:p>
            <a:pPr marL="0" indent="0" algn="ctr">
              <a:buNone/>
            </a:pPr>
            <a:r>
              <a:rPr lang="en-US" sz="2600" b="1" dirty="0">
                <a:solidFill>
                  <a:srgbClr val="0E1537"/>
                </a:solidFill>
                <a:latin typeface="Cambria" pitchFamily="34" charset="0"/>
                <a:ea typeface="Cambria" pitchFamily="34" charset="-122"/>
                <a:cs typeface="Cambria" pitchFamily="34" charset="-120"/>
              </a:rPr>
              <a:t>Thereafter</a:t>
            </a:r>
            <a:endParaRPr lang="en-US" sz="2600" dirty="0"/>
          </a:p>
        </p:txBody>
      </p:sp>
      <p:sp>
        <p:nvSpPr>
          <p:cNvPr id="9" name="Shape 6"/>
          <p:cNvSpPr/>
          <p:nvPr/>
        </p:nvSpPr>
        <p:spPr>
          <a:xfrm>
            <a:off x="6126480" y="1463040"/>
            <a:ext cx="2560320" cy="914400"/>
          </a:xfrm>
          <a:prstGeom prst="roundRect">
            <a:avLst>
              <a:gd name="adj" fmla="val 10000"/>
            </a:avLst>
          </a:prstGeom>
          <a:solidFill>
            <a:srgbClr val="FF6B8B"/>
          </a:solidFill>
          <a:ln w="6350">
            <a:solidFill>
              <a:srgbClr val="FF6B8B"/>
            </a:solidFill>
            <a:prstDash val="solid"/>
          </a:ln>
        </p:spPr>
      </p:sp>
      <p:sp>
        <p:nvSpPr>
          <p:cNvPr id="10" name="Text 7"/>
          <p:cNvSpPr txBox="1"/>
          <p:nvPr/>
        </p:nvSpPr>
        <p:spPr>
          <a:xfrm>
            <a:off x="6217920" y="1463040"/>
            <a:ext cx="2377440" cy="914400"/>
          </a:xfrm>
          <a:prstGeom prst="rect">
            <a:avLst/>
          </a:prstGeom>
          <a:noFill/>
          <a:ln/>
        </p:spPr>
        <p:txBody>
          <a:bodyPr wrap="square" lIns="0" tIns="0" rIns="0" bIns="0" rtlCol="0" anchor="ctr"/>
          <a:lstStyle/>
          <a:p>
            <a:pPr marL="0" indent="0" algn="ctr">
              <a:buNone/>
            </a:pPr>
            <a:r>
              <a:rPr lang="en-US" sz="2600" b="1" dirty="0">
                <a:solidFill>
                  <a:srgbClr val="0E1537"/>
                </a:solidFill>
                <a:latin typeface="Cambria" pitchFamily="34" charset="0"/>
                <a:ea typeface="Cambria" pitchFamily="34" charset="-122"/>
                <a:cs typeface="Cambria" pitchFamily="34" charset="-120"/>
              </a:rPr>
              <a:t>Fortunately</a:t>
            </a:r>
            <a:endParaRPr lang="en-US" sz="2600" dirty="0"/>
          </a:p>
        </p:txBody>
      </p:sp>
      <p:sp>
        <p:nvSpPr>
          <p:cNvPr id="11" name="Shape 8"/>
          <p:cNvSpPr/>
          <p:nvPr/>
        </p:nvSpPr>
        <p:spPr>
          <a:xfrm>
            <a:off x="457200" y="2651760"/>
            <a:ext cx="8229600" cy="548640"/>
          </a:xfrm>
          <a:prstGeom prst="roundRect">
            <a:avLst>
              <a:gd name="adj" fmla="val 13333"/>
            </a:avLst>
          </a:prstGeom>
          <a:solidFill>
            <a:srgbClr val="FFD166"/>
          </a:solidFill>
          <a:ln w="6350">
            <a:solidFill>
              <a:srgbClr val="FFD166"/>
            </a:solidFill>
            <a:prstDash val="solid"/>
          </a:ln>
        </p:spPr>
      </p:sp>
      <p:sp>
        <p:nvSpPr>
          <p:cNvPr id="12" name="Text 9"/>
          <p:cNvSpPr txBox="1"/>
          <p:nvPr/>
        </p:nvSpPr>
        <p:spPr>
          <a:xfrm>
            <a:off x="640080" y="2651760"/>
            <a:ext cx="7863840" cy="548640"/>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Try: ‘First of all, I ______. Thereafter, I ______. Fortunately, ______.’</a:t>
            </a:r>
            <a:endParaRPr lang="en-US" sz="1600" dirty="0"/>
          </a:p>
        </p:txBody>
      </p:sp>
      <p:sp>
        <p:nvSpPr>
          <p:cNvPr id="13" name="Shape 10"/>
          <p:cNvSpPr/>
          <p:nvPr/>
        </p:nvSpPr>
        <p:spPr>
          <a:xfrm>
            <a:off x="457200" y="3429000"/>
            <a:ext cx="8229600" cy="868680"/>
          </a:xfrm>
          <a:prstGeom prst="roundRect">
            <a:avLst>
              <a:gd name="adj" fmla="val 842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Text 11"/>
          <p:cNvSpPr txBox="1"/>
          <p:nvPr/>
        </p:nvSpPr>
        <p:spPr>
          <a:xfrm>
            <a:off x="685800" y="3429000"/>
            <a:ext cx="7772400" cy="86868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Think and share: what do these three words and phrases tell the listener?</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Getting started: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Accept any accurate sentence that fits the word.</a:t>
            </a:r>
            <a:endParaRPr lang="en-US" sz="1300" dirty="0"/>
          </a:p>
        </p:txBody>
      </p:sp>
      <p:sp>
        <p:nvSpPr>
          <p:cNvPr id="5" name="Shape 2"/>
          <p:cNvSpPr/>
          <p:nvPr/>
        </p:nvSpPr>
        <p:spPr>
          <a:xfrm>
            <a:off x="457200" y="141732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527048"/>
            <a:ext cx="1737360" cy="420624"/>
          </a:xfrm>
          <a:prstGeom prst="roundRect">
            <a:avLst>
              <a:gd name="adj" fmla="val 21739"/>
            </a:avLst>
          </a:prstGeom>
          <a:solidFill>
            <a:srgbClr val="FF8A3D"/>
          </a:solidFill>
          <a:ln w="6350">
            <a:solidFill>
              <a:srgbClr val="FF8A3D"/>
            </a:solidFill>
            <a:prstDash val="solid"/>
          </a:ln>
        </p:spPr>
      </p:sp>
      <p:sp>
        <p:nvSpPr>
          <p:cNvPr id="7" name="Text 4"/>
          <p:cNvSpPr txBox="1"/>
          <p:nvPr/>
        </p:nvSpPr>
        <p:spPr>
          <a:xfrm>
            <a:off x="685800" y="1527048"/>
            <a:ext cx="1554480" cy="42062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First of all</a:t>
            </a:r>
            <a:endParaRPr lang="en-US" sz="1400" dirty="0"/>
          </a:p>
        </p:txBody>
      </p:sp>
      <p:sp>
        <p:nvSpPr>
          <p:cNvPr id="8" name="Text 5"/>
          <p:cNvSpPr txBox="1"/>
          <p:nvPr/>
        </p:nvSpPr>
        <p:spPr>
          <a:xfrm>
            <a:off x="2560320" y="1417320"/>
            <a:ext cx="5760720" cy="640080"/>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First of all, I woke up and ate breakfast.</a:t>
            </a:r>
            <a:endParaRPr lang="en-US" sz="1600" dirty="0"/>
          </a:p>
        </p:txBody>
      </p:sp>
      <p:sp>
        <p:nvSpPr>
          <p:cNvPr id="9" name="Shape 6"/>
          <p:cNvSpPr/>
          <p:nvPr/>
        </p:nvSpPr>
        <p:spPr>
          <a:xfrm>
            <a:off x="457200" y="219456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304288"/>
            <a:ext cx="1737360" cy="420624"/>
          </a:xfrm>
          <a:prstGeom prst="roundRect">
            <a:avLst>
              <a:gd name="adj" fmla="val 21739"/>
            </a:avLst>
          </a:prstGeom>
          <a:solidFill>
            <a:srgbClr val="2EC4B6"/>
          </a:solidFill>
          <a:ln w="6350">
            <a:solidFill>
              <a:srgbClr val="2EC4B6"/>
            </a:solidFill>
            <a:prstDash val="solid"/>
          </a:ln>
        </p:spPr>
      </p:sp>
      <p:sp>
        <p:nvSpPr>
          <p:cNvPr id="11" name="Text 8"/>
          <p:cNvSpPr txBox="1"/>
          <p:nvPr/>
        </p:nvSpPr>
        <p:spPr>
          <a:xfrm>
            <a:off x="685800" y="2304288"/>
            <a:ext cx="1554480" cy="42062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Thereafter</a:t>
            </a:r>
            <a:endParaRPr lang="en-US" sz="1400" dirty="0"/>
          </a:p>
        </p:txBody>
      </p:sp>
      <p:sp>
        <p:nvSpPr>
          <p:cNvPr id="12" name="Text 9"/>
          <p:cNvSpPr txBox="1"/>
          <p:nvPr/>
        </p:nvSpPr>
        <p:spPr>
          <a:xfrm>
            <a:off x="2560320" y="2194560"/>
            <a:ext cx="5760720" cy="640080"/>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Thereafter, I packed my bag and caught the bus.</a:t>
            </a:r>
            <a:endParaRPr lang="en-US" sz="1600" dirty="0"/>
          </a:p>
        </p:txBody>
      </p:sp>
      <p:sp>
        <p:nvSpPr>
          <p:cNvPr id="13" name="Shape 10"/>
          <p:cNvSpPr/>
          <p:nvPr/>
        </p:nvSpPr>
        <p:spPr>
          <a:xfrm>
            <a:off x="457200" y="297180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3081528"/>
            <a:ext cx="1737360" cy="420624"/>
          </a:xfrm>
          <a:prstGeom prst="roundRect">
            <a:avLst>
              <a:gd name="adj" fmla="val 21739"/>
            </a:avLst>
          </a:prstGeom>
          <a:solidFill>
            <a:srgbClr val="FF6B8B"/>
          </a:solidFill>
          <a:ln w="6350">
            <a:solidFill>
              <a:srgbClr val="FF6B8B"/>
            </a:solidFill>
            <a:prstDash val="solid"/>
          </a:ln>
        </p:spPr>
      </p:sp>
      <p:sp>
        <p:nvSpPr>
          <p:cNvPr id="15" name="Text 12"/>
          <p:cNvSpPr txBox="1"/>
          <p:nvPr/>
        </p:nvSpPr>
        <p:spPr>
          <a:xfrm>
            <a:off x="685800" y="3081528"/>
            <a:ext cx="1554480" cy="42062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Fortunately</a:t>
            </a:r>
            <a:endParaRPr lang="en-US" sz="1400" dirty="0"/>
          </a:p>
        </p:txBody>
      </p:sp>
      <p:sp>
        <p:nvSpPr>
          <p:cNvPr id="16" name="Text 13"/>
          <p:cNvSpPr txBox="1"/>
          <p:nvPr/>
        </p:nvSpPr>
        <p:spPr>
          <a:xfrm>
            <a:off x="2560320" y="2971800"/>
            <a:ext cx="5760720" cy="640080"/>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Fortunately, I arrived before the bell.</a:t>
            </a:r>
            <a:endParaRPr lang="en-US" sz="1600" dirty="0"/>
          </a:p>
        </p:txBody>
      </p:sp>
      <p:sp>
        <p:nvSpPr>
          <p:cNvPr id="17" name="Shape 14"/>
          <p:cNvSpPr/>
          <p:nvPr/>
        </p:nvSpPr>
        <p:spPr>
          <a:xfrm>
            <a:off x="457200" y="3840480"/>
            <a:ext cx="8229600" cy="640080"/>
          </a:xfrm>
          <a:prstGeom prst="roundRect">
            <a:avLst>
              <a:gd name="adj" fmla="val 11429"/>
            </a:avLst>
          </a:prstGeom>
          <a:solidFill>
            <a:srgbClr val="FFD166"/>
          </a:solidFill>
          <a:ln w="6350">
            <a:solidFill>
              <a:srgbClr val="FFD166"/>
            </a:solidFill>
            <a:prstDash val="solid"/>
          </a:ln>
        </p:spPr>
      </p:sp>
      <p:sp>
        <p:nvSpPr>
          <p:cNvPr id="18" name="Text 15"/>
          <p:cNvSpPr txBox="1"/>
          <p:nvPr/>
        </p:nvSpPr>
        <p:spPr>
          <a:xfrm>
            <a:off x="640080" y="3840480"/>
            <a:ext cx="7863840" cy="640080"/>
          </a:xfrm>
          <a:prstGeom prst="rect">
            <a:avLst/>
          </a:prstGeom>
          <a:noFill/>
          <a:ln/>
        </p:spPr>
        <p:txBody>
          <a:bodyPr wrap="square" lIns="0" tIns="0" rIns="0" bIns="0" rtlCol="0" anchor="ctr"/>
          <a:lstStyle/>
          <a:p>
            <a:pPr marL="0" indent="0">
              <a:buNone/>
            </a:pPr>
            <a:r>
              <a:rPr lang="en-US" sz="1500" b="1" dirty="0">
                <a:solidFill>
                  <a:srgbClr val="0E1537"/>
                </a:solidFill>
                <a:latin typeface="Calibri" pitchFamily="34" charset="0"/>
                <a:ea typeface="Calibri" pitchFamily="34" charset="-122"/>
                <a:cs typeface="Calibri" pitchFamily="34" charset="-120"/>
              </a:rPr>
              <a:t>These words tell us when things happened or how things went. They are adverbials.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828800"/>
            <a:ext cx="7315200" cy="822960"/>
          </a:xfrm>
          <a:prstGeom prst="rect">
            <a:avLst/>
          </a:prstGeom>
          <a:noFill/>
          <a:ln/>
        </p:spPr>
        <p:txBody>
          <a:bodyPr wrap="square" lIns="0" tIns="0" rIns="0" bIns="0" rtlCol="0" anchor="t"/>
          <a:lstStyle/>
          <a:p>
            <a:pPr marL="0" indent="0" algn="l">
              <a:buNone/>
            </a:pPr>
            <a:r>
              <a:rPr lang="en-US" sz="4000" b="1" dirty="0">
                <a:solidFill>
                  <a:srgbClr val="FFD166"/>
                </a:solidFill>
                <a:latin typeface="Cambria" pitchFamily="34" charset="0"/>
                <a:ea typeface="Cambria" pitchFamily="34" charset="-122"/>
                <a:cs typeface="Cambria" pitchFamily="34" charset="-120"/>
              </a:rPr>
              <a:t>Adverbs and adverbials</a:t>
            </a:r>
            <a:endParaRPr lang="en-US" sz="4000" dirty="0"/>
          </a:p>
        </p:txBody>
      </p:sp>
      <p:sp>
        <p:nvSpPr>
          <p:cNvPr id="3" name="Text 0"/>
          <p:cNvSpPr>
            <a:spLocks noGrp="1"/>
          </p:cNvSpPr>
          <p:nvPr>
            <p:ph type="body" idx="101" hasCustomPrompt="1"/>
          </p:nvPr>
        </p:nvSpPr>
        <p:spPr>
          <a:xfrm>
            <a:off x="457200" y="2697480"/>
            <a:ext cx="8229600" cy="411480"/>
          </a:xfrm>
          <a:prstGeom prst="rect">
            <a:avLst/>
          </a:prstGeom>
          <a:noFill/>
          <a:ln/>
        </p:spPr>
        <p:txBody>
          <a:bodyPr wrap="square" lIns="0" tIns="0" rIns="0" bIns="0" rtlCol="0" anchor="t"/>
          <a:lstStyle/>
          <a:p>
            <a:pPr marL="0" indent="0" algn="l">
              <a:buNone/>
            </a:pPr>
            <a:r>
              <a:rPr lang="en-US" sz="1800" i="1" dirty="0">
                <a:solidFill>
                  <a:srgbClr val="CFD4FF"/>
                </a:solidFill>
                <a:latin typeface="Calibri" pitchFamily="34" charset="0"/>
                <a:ea typeface="Calibri" pitchFamily="34" charset="-122"/>
                <a:cs typeface="Calibri" pitchFamily="34" charset="-120"/>
              </a:rPr>
              <a:t>Language focus · Activities 1a to 1d</a:t>
            </a:r>
            <a:endParaRPr lang="en-US" sz="1800" dirty="0"/>
          </a:p>
        </p:txBody>
      </p:sp>
      <p:sp>
        <p:nvSpPr>
          <p:cNvPr id="5" name="Shape 2"/>
          <p:cNvSpPr/>
          <p:nvPr/>
        </p:nvSpPr>
        <p:spPr>
          <a:xfrm>
            <a:off x="457200" y="1280160"/>
            <a:ext cx="1188720" cy="292608"/>
          </a:xfrm>
          <a:prstGeom prst="roundRect">
            <a:avLst>
              <a:gd name="adj" fmla="val 50000"/>
            </a:avLst>
          </a:prstGeom>
          <a:solidFill>
            <a:srgbClr val="FF8A3D"/>
          </a:solidFill>
          <a:ln w="6350">
            <a:solidFill>
              <a:srgbClr val="FF8A3D"/>
            </a:solidFill>
            <a:prstDash val="solid"/>
          </a:ln>
        </p:spPr>
      </p:sp>
      <p:sp>
        <p:nvSpPr>
          <p:cNvPr id="6" name="Text 3"/>
          <p:cNvSpPr txBox="1"/>
          <p:nvPr/>
        </p:nvSpPr>
        <p:spPr>
          <a:xfrm>
            <a:off x="457200" y="1280160"/>
            <a:ext cx="1188720" cy="292608"/>
          </a:xfrm>
          <a:prstGeom prst="rect">
            <a:avLst/>
          </a:prstGeom>
          <a:noFill/>
          <a:ln/>
        </p:spPr>
        <p:txBody>
          <a:bodyPr wrap="square" lIns="0" tIns="0" rIns="0" bIns="0" rtlCol="0" anchor="ctr"/>
          <a:lstStyle/>
          <a:p>
            <a:pPr marL="0" indent="0" algn="ctr">
              <a:buNone/>
            </a:pPr>
            <a:r>
              <a:rPr lang="en-US" sz="1200" b="1" dirty="0">
                <a:solidFill>
                  <a:srgbClr val="0E1537"/>
                </a:solidFill>
                <a:latin typeface="Calibri" pitchFamily="34" charset="0"/>
                <a:ea typeface="Calibri" pitchFamily="34" charset="-122"/>
                <a:cs typeface="Calibri" pitchFamily="34" charset="-120"/>
              </a:rPr>
              <a:t>PART 1</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Word 1: ADVERBIAL</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Teacher routine: say it → pupils repeat → context clue → predict → reveal meaning.</a:t>
            </a:r>
            <a:endParaRPr lang="en-US" sz="1300" dirty="0"/>
          </a:p>
        </p:txBody>
      </p:sp>
      <p:sp>
        <p:nvSpPr>
          <p:cNvPr id="5" name="Shape 2"/>
          <p:cNvSpPr/>
          <p:nvPr/>
        </p:nvSpPr>
        <p:spPr>
          <a:xfrm>
            <a:off x="457200" y="1371600"/>
            <a:ext cx="8229600" cy="731520"/>
          </a:xfrm>
          <a:prstGeom prst="roundRect">
            <a:avLst>
              <a:gd name="adj" fmla="val 10000"/>
            </a:avLst>
          </a:prstGeom>
          <a:solidFill>
            <a:srgbClr val="FFD166"/>
          </a:solidFill>
          <a:ln w="6350">
            <a:solidFill>
              <a:srgbClr val="FFD166"/>
            </a:solidFill>
            <a:prstDash val="solid"/>
          </a:ln>
        </p:spPr>
      </p:sp>
      <p:sp>
        <p:nvSpPr>
          <p:cNvPr id="6" name="Text 3"/>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2200" b="1" dirty="0">
                <a:solidFill>
                  <a:srgbClr val="0E1537"/>
                </a:solidFill>
                <a:latin typeface="Cambria" pitchFamily="34" charset="0"/>
                <a:ea typeface="Cambria" pitchFamily="34" charset="-122"/>
                <a:cs typeface="Cambria" pitchFamily="34" charset="-120"/>
              </a:rPr>
              <a:t>In 1969</a:t>
            </a:r>
            <a:r>
              <a:rPr lang="en-US" sz="2200" dirty="0">
                <a:solidFill>
                  <a:srgbClr val="0E1537"/>
                </a:solidFill>
                <a:latin typeface="Cambria" pitchFamily="34" charset="0"/>
                <a:ea typeface="Cambria" pitchFamily="34" charset="-122"/>
                <a:cs typeface="Cambria" pitchFamily="34" charset="-120"/>
              </a:rPr>
              <a:t>, astronauts walked on the moon.</a:t>
            </a:r>
            <a:endParaRPr lang="en-US" sz="2200" dirty="0"/>
          </a:p>
        </p:txBody>
      </p:sp>
      <p:sp>
        <p:nvSpPr>
          <p:cNvPr id="7" name="Shape 4"/>
          <p:cNvSpPr/>
          <p:nvPr/>
        </p:nvSpPr>
        <p:spPr>
          <a:xfrm>
            <a:off x="457200" y="2377440"/>
            <a:ext cx="4023360" cy="2103120"/>
          </a:xfrm>
          <a:prstGeom prst="roundRect">
            <a:avLst>
              <a:gd name="adj" fmla="val 3478"/>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8" name="Shape 5"/>
          <p:cNvSpPr/>
          <p:nvPr/>
        </p:nvSpPr>
        <p:spPr>
          <a:xfrm>
            <a:off x="640080" y="2514600"/>
            <a:ext cx="365760" cy="365760"/>
          </a:xfrm>
          <a:prstGeom prst="ellipse">
            <a:avLst/>
          </a:prstGeom>
          <a:solidFill>
            <a:srgbClr val="2EC4B6"/>
          </a:solidFill>
          <a:ln w="6350">
            <a:solidFill>
              <a:srgbClr val="2EC4B6"/>
            </a:solidFill>
            <a:prstDash val="solid"/>
          </a:ln>
        </p:spPr>
      </p:sp>
      <p:sp>
        <p:nvSpPr>
          <p:cNvPr id="9" name="Text 6"/>
          <p:cNvSpPr txBox="1"/>
          <p:nvPr/>
        </p:nvSpPr>
        <p:spPr>
          <a:xfrm>
            <a:off x="640080" y="2514600"/>
            <a:ext cx="365760" cy="36576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1143000" y="2514600"/>
            <a:ext cx="2743200" cy="36576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HEAR &amp; SAY</a:t>
            </a:r>
            <a:endParaRPr lang="en-US" sz="1400" dirty="0"/>
          </a:p>
        </p:txBody>
      </p:sp>
      <p:sp>
        <p:nvSpPr>
          <p:cNvPr id="11" name="Text 8"/>
          <p:cNvSpPr txBox="1"/>
          <p:nvPr/>
        </p:nvSpPr>
        <p:spPr>
          <a:xfrm>
            <a:off x="685800" y="301752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Teacher says the word twice.</a:t>
            </a:r>
            <a:endParaRPr lang="en-US" sz="1400" dirty="0"/>
          </a:p>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Pupils repeat it twice.</a:t>
            </a:r>
            <a:endParaRPr lang="en-US" sz="1400" dirty="0"/>
          </a:p>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Ask: what do you notice inside the word?</a:t>
            </a:r>
            <a:endParaRPr lang="en-US" sz="1400" dirty="0"/>
          </a:p>
        </p:txBody>
      </p:sp>
      <p:sp>
        <p:nvSpPr>
          <p:cNvPr id="12" name="Shape 9"/>
          <p:cNvSpPr/>
          <p:nvPr/>
        </p:nvSpPr>
        <p:spPr>
          <a:xfrm>
            <a:off x="4663440" y="2377440"/>
            <a:ext cx="4023360" cy="2103120"/>
          </a:xfrm>
          <a:prstGeom prst="roundRect">
            <a:avLst>
              <a:gd name="adj" fmla="val 3478"/>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3" name="Shape 10"/>
          <p:cNvSpPr/>
          <p:nvPr/>
        </p:nvSpPr>
        <p:spPr>
          <a:xfrm>
            <a:off x="4846320" y="2514600"/>
            <a:ext cx="365760" cy="365760"/>
          </a:xfrm>
          <a:prstGeom prst="ellipse">
            <a:avLst/>
          </a:prstGeom>
          <a:solidFill>
            <a:srgbClr val="FF8A3D"/>
          </a:solidFill>
          <a:ln w="6350">
            <a:solidFill>
              <a:srgbClr val="FF8A3D"/>
            </a:solidFill>
            <a:prstDash val="solid"/>
          </a:ln>
        </p:spPr>
      </p:sp>
      <p:sp>
        <p:nvSpPr>
          <p:cNvPr id="14" name="Text 11"/>
          <p:cNvSpPr txBox="1"/>
          <p:nvPr/>
        </p:nvSpPr>
        <p:spPr>
          <a:xfrm>
            <a:off x="4846320" y="2514600"/>
            <a:ext cx="365760" cy="36576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5" name="Text 12"/>
          <p:cNvSpPr txBox="1"/>
          <p:nvPr/>
        </p:nvSpPr>
        <p:spPr>
          <a:xfrm>
            <a:off x="5349240" y="2514600"/>
            <a:ext cx="2743200" cy="36576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DISCOVER</a:t>
            </a:r>
            <a:endParaRPr lang="en-US" sz="1400" dirty="0"/>
          </a:p>
        </p:txBody>
      </p:sp>
      <p:sp>
        <p:nvSpPr>
          <p:cNvPr id="16" name="Text 13"/>
          <p:cNvSpPr txBox="1"/>
          <p:nvPr/>
        </p:nvSpPr>
        <p:spPr>
          <a:xfrm>
            <a:off x="4892040" y="3017520"/>
            <a:ext cx="3566160" cy="914400"/>
          </a:xfrm>
          <a:prstGeom prst="rect">
            <a:avLst/>
          </a:prstGeom>
          <a:noFill/>
          <a:ln/>
        </p:spPr>
        <p:txBody>
          <a:bodyPr wrap="square" lIns="0" tIns="0" rIns="0" bIns="0" rtlCol="0" anchor="t"/>
          <a:lstStyle/>
          <a:p>
            <a:pPr marL="0" indent="0">
              <a:buNone/>
            </a:pPr>
            <a:r>
              <a:rPr lang="en-US" sz="1400" dirty="0">
                <a:solidFill>
                  <a:srgbClr val="0E1537"/>
                </a:solidFill>
                <a:latin typeface="Calibri" pitchFamily="34" charset="0"/>
                <a:ea typeface="Calibri" pitchFamily="34" charset="-122"/>
                <a:cs typeface="Calibri" pitchFamily="34" charset="-120"/>
              </a:rPr>
              <a:t>The sentence starts with a group of words that tells us when. Does that group have a verb in it?</a:t>
            </a:r>
            <a:endParaRPr lang="en-US" sz="1400" dirty="0"/>
          </a:p>
        </p:txBody>
      </p:sp>
      <p:sp>
        <p:nvSpPr>
          <p:cNvPr id="17" name="Text 14"/>
          <p:cNvSpPr txBox="1"/>
          <p:nvPr/>
        </p:nvSpPr>
        <p:spPr>
          <a:xfrm>
            <a:off x="4892040" y="3977640"/>
            <a:ext cx="3566160" cy="365760"/>
          </a:xfrm>
          <a:prstGeom prst="rect">
            <a:avLst/>
          </a:prstGeom>
          <a:noFill/>
          <a:ln/>
        </p:spPr>
        <p:txBody>
          <a:bodyPr wrap="square" lIns="0" tIns="0" rIns="0" bIns="0" rtlCol="0" anchor="t"/>
          <a:lstStyle/>
          <a:p>
            <a:pPr marL="0" indent="0">
              <a:buNone/>
            </a:pPr>
            <a:r>
              <a:rPr lang="en-US" sz="1300" i="1" dirty="0">
                <a:solidFill>
                  <a:srgbClr val="3A3F85"/>
                </a:solidFill>
                <a:latin typeface="Calibri" pitchFamily="34" charset="0"/>
                <a:ea typeface="Calibri" pitchFamily="34" charset="-122"/>
                <a:cs typeface="Calibri" pitchFamily="34" charset="-120"/>
              </a:rPr>
              <a:t>Take 2–3 guesses before revealing.</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Use &amp; check: adverbial</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Now pupils must prove they understand the word.</a:t>
            </a:r>
            <a:endParaRPr lang="en-US" sz="1300" dirty="0"/>
          </a:p>
        </p:txBody>
      </p:sp>
      <p:sp>
        <p:nvSpPr>
          <p:cNvPr id="5" name="Shape 2"/>
          <p:cNvSpPr/>
          <p:nvPr/>
        </p:nvSpPr>
        <p:spPr>
          <a:xfrm>
            <a:off x="457200" y="1371600"/>
            <a:ext cx="4023360" cy="1554480"/>
          </a:xfrm>
          <a:prstGeom prst="roundRect">
            <a:avLst>
              <a:gd name="adj" fmla="val 470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40080" y="1463040"/>
            <a:ext cx="3657600" cy="274320"/>
          </a:xfrm>
          <a:prstGeom prst="rect">
            <a:avLst/>
          </a:prstGeom>
          <a:noFill/>
          <a:ln/>
        </p:spPr>
        <p:txBody>
          <a:bodyPr wrap="square" lIns="0" tIns="0" rIns="0" bIns="0" rtlCol="0" anchor="t"/>
          <a:lstStyle/>
          <a:p>
            <a:pPr marL="0" indent="0">
              <a:buNone/>
            </a:pPr>
            <a:r>
              <a:rPr lang="en-US" sz="1100" b="1" dirty="0">
                <a:solidFill>
                  <a:srgbClr val="3A3F85"/>
                </a:solidFill>
                <a:latin typeface="Calibri" pitchFamily="34" charset="0"/>
                <a:ea typeface="Calibri" pitchFamily="34" charset="-122"/>
                <a:cs typeface="Calibri" pitchFamily="34" charset="-120"/>
              </a:rPr>
              <a:t>TEACHER MODEL</a:t>
            </a:r>
            <a:endParaRPr lang="en-US" sz="1100" dirty="0"/>
          </a:p>
        </p:txBody>
      </p:sp>
      <p:sp>
        <p:nvSpPr>
          <p:cNvPr id="7" name="Text 4"/>
          <p:cNvSpPr txBox="1"/>
          <p:nvPr/>
        </p:nvSpPr>
        <p:spPr>
          <a:xfrm>
            <a:off x="640080" y="1783080"/>
            <a:ext cx="3657600" cy="1097280"/>
          </a:xfrm>
          <a:prstGeom prst="rect">
            <a:avLst/>
          </a:prstGeom>
          <a:noFill/>
          <a:ln/>
        </p:spPr>
        <p:txBody>
          <a:bodyPr wrap="square" lIns="0" tIns="0" rIns="0" bIns="0" rtlCol="0" anchor="t"/>
          <a:lstStyle/>
          <a:p>
            <a:pPr marL="0" indent="0">
              <a:buNone/>
            </a:pPr>
            <a:r>
              <a:rPr lang="en-US" sz="1400" dirty="0">
                <a:solidFill>
                  <a:srgbClr val="0E1537"/>
                </a:solidFill>
                <a:latin typeface="Calibri" pitchFamily="34" charset="0"/>
                <a:ea typeface="Calibri" pitchFamily="34" charset="-122"/>
                <a:cs typeface="Calibri" pitchFamily="34" charset="-120"/>
              </a:rPr>
              <a:t>An adverbial is a group of words, without a verb, that adds detail about time, place or manner.</a:t>
            </a:r>
            <a:endParaRPr lang="en-US" sz="1400" dirty="0"/>
          </a:p>
        </p:txBody>
      </p:sp>
      <p:sp>
        <p:nvSpPr>
          <p:cNvPr id="8" name="Shape 5"/>
          <p:cNvSpPr/>
          <p:nvPr/>
        </p:nvSpPr>
        <p:spPr>
          <a:xfrm>
            <a:off x="4663440" y="1371600"/>
            <a:ext cx="4023360" cy="1554480"/>
          </a:xfrm>
          <a:prstGeom prst="roundRect">
            <a:avLst>
              <a:gd name="adj" fmla="val 470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9" name="Text 6"/>
          <p:cNvSpPr txBox="1"/>
          <p:nvPr/>
        </p:nvSpPr>
        <p:spPr>
          <a:xfrm>
            <a:off x="4846320" y="1463040"/>
            <a:ext cx="3657600" cy="274320"/>
          </a:xfrm>
          <a:prstGeom prst="rect">
            <a:avLst/>
          </a:prstGeom>
          <a:noFill/>
          <a:ln/>
        </p:spPr>
        <p:txBody>
          <a:bodyPr wrap="square" lIns="0" tIns="0" rIns="0" bIns="0" rtlCol="0" anchor="t"/>
          <a:lstStyle/>
          <a:p>
            <a:pPr marL="0" indent="0">
              <a:buNone/>
            </a:pPr>
            <a:r>
              <a:rPr lang="en-US" sz="1100" b="1" dirty="0">
                <a:solidFill>
                  <a:srgbClr val="3A3F85"/>
                </a:solidFill>
                <a:latin typeface="Calibri" pitchFamily="34" charset="0"/>
                <a:ea typeface="Calibri" pitchFamily="34" charset="-122"/>
                <a:cs typeface="Calibri" pitchFamily="34" charset="-120"/>
              </a:rPr>
              <a:t>STUDENT USE</a:t>
            </a:r>
            <a:endParaRPr lang="en-US" sz="1100" dirty="0"/>
          </a:p>
        </p:txBody>
      </p:sp>
      <p:sp>
        <p:nvSpPr>
          <p:cNvPr id="10" name="Text 7"/>
          <p:cNvSpPr txBox="1"/>
          <p:nvPr/>
        </p:nvSpPr>
        <p:spPr>
          <a:xfrm>
            <a:off x="4846320" y="1783080"/>
            <a:ext cx="3657600" cy="109728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In my sentence, ______ is an adverbial. It tells us ______.</a:t>
            </a:r>
            <a:endParaRPr lang="en-US" sz="1500" dirty="0"/>
          </a:p>
        </p:txBody>
      </p:sp>
      <p:sp>
        <p:nvSpPr>
          <p:cNvPr id="11" name="Shape 8"/>
          <p:cNvSpPr/>
          <p:nvPr/>
        </p:nvSpPr>
        <p:spPr>
          <a:xfrm>
            <a:off x="457200" y="3154680"/>
            <a:ext cx="8229600" cy="640080"/>
          </a:xfrm>
          <a:prstGeom prst="roundRect">
            <a:avLst>
              <a:gd name="adj" fmla="val 11429"/>
            </a:avLst>
          </a:prstGeom>
          <a:solidFill>
            <a:srgbClr val="7B5CE0"/>
          </a:solidFill>
          <a:ln w="6350">
            <a:solidFill>
              <a:srgbClr val="7B5CE0"/>
            </a:solidFill>
            <a:prstDash val="solid"/>
          </a:ln>
        </p:spPr>
      </p:sp>
      <p:sp>
        <p:nvSpPr>
          <p:cNvPr id="12" name="Text 9"/>
          <p:cNvSpPr txBox="1"/>
          <p:nvPr/>
        </p:nvSpPr>
        <p:spPr>
          <a:xfrm>
            <a:off x="640080" y="3154680"/>
            <a:ext cx="7863840" cy="6400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PAIR CHECK → Your partner explains why the group of words fits. A sentence that only copies the model is not enough.</a:t>
            </a:r>
            <a:endParaRPr lang="en-US" sz="1300" dirty="0"/>
          </a:p>
        </p:txBody>
      </p:sp>
      <p:sp>
        <p:nvSpPr>
          <p:cNvPr id="13" name="Shape 10"/>
          <p:cNvSpPr/>
          <p:nvPr/>
        </p:nvSpPr>
        <p:spPr>
          <a:xfrm>
            <a:off x="457200" y="3931920"/>
            <a:ext cx="8229600" cy="548640"/>
          </a:xfrm>
          <a:prstGeom prst="roundRect">
            <a:avLst>
              <a:gd name="adj" fmla="val 13333"/>
            </a:avLst>
          </a:prstGeom>
          <a:solidFill>
            <a:srgbClr val="FFD166"/>
          </a:solidFill>
          <a:ln w="6350">
            <a:solidFill>
              <a:srgbClr val="FFD166"/>
            </a:solidFill>
            <a:prstDash val="solid"/>
          </a:ln>
        </p:spPr>
      </p:sp>
      <p:sp>
        <p:nvSpPr>
          <p:cNvPr id="14" name="Text 11"/>
          <p:cNvSpPr txBox="1"/>
          <p:nvPr/>
        </p:nvSpPr>
        <p:spPr>
          <a:xfrm>
            <a:off x="640080" y="3931920"/>
            <a:ext cx="7863840" cy="548640"/>
          </a:xfrm>
          <a:prstGeom prst="rect">
            <a:avLst/>
          </a:prstGeom>
          <a:noFill/>
          <a:ln/>
        </p:spPr>
        <p:txBody>
          <a:bodyPr wrap="square" lIns="0" tIns="0" rIns="0" bIns="0" rtlCol="0" anchor="ctr"/>
          <a:lstStyle/>
          <a:p>
            <a:pPr marL="0" indent="0">
              <a:buNone/>
            </a:pPr>
            <a:r>
              <a:rPr lang="en-US" sz="1300" b="1" dirty="0">
                <a:solidFill>
                  <a:srgbClr val="0E1537"/>
                </a:solidFill>
                <a:latin typeface="Calibri" pitchFamily="34" charset="0"/>
                <a:ea typeface="Calibri" pitchFamily="34" charset="-122"/>
                <a:cs typeface="Calibri" pitchFamily="34" charset="-120"/>
              </a:rPr>
              <a:t>QUICK ANSWER / LOOK FOR: ‘at dawn’ tells us when, and it has no verb.</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Language focus: adverb or adverbial?</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Textbook page 51. Read the Language focus box together.</a:t>
            </a:r>
            <a:endParaRPr lang="en-US" sz="1300" dirty="0"/>
          </a:p>
        </p:txBody>
      </p:sp>
      <p:sp>
        <p:nvSpPr>
          <p:cNvPr id="5" name="Shape 2"/>
          <p:cNvSpPr/>
          <p:nvPr/>
        </p:nvSpPr>
        <p:spPr>
          <a:xfrm>
            <a:off x="457200" y="1371600"/>
            <a:ext cx="4023360" cy="2468880"/>
          </a:xfrm>
          <a:prstGeom prst="roundRect">
            <a:avLst>
              <a:gd name="adj" fmla="val 296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85800" y="1508760"/>
            <a:ext cx="3657600" cy="365760"/>
          </a:xfrm>
          <a:prstGeom prst="rect">
            <a:avLst/>
          </a:prstGeom>
          <a:noFill/>
          <a:ln/>
        </p:spPr>
        <p:txBody>
          <a:bodyPr wrap="square" lIns="0" tIns="0" rIns="0" bIns="0" rtlCol="0" anchor="t"/>
          <a:lstStyle/>
          <a:p>
            <a:pPr marL="0" indent="0">
              <a:buNone/>
            </a:pPr>
            <a:r>
              <a:rPr lang="en-US" sz="2000" b="1" dirty="0">
                <a:solidFill>
                  <a:srgbClr val="2EC4B6"/>
                </a:solidFill>
                <a:latin typeface="Cambria" pitchFamily="34" charset="0"/>
                <a:ea typeface="Cambria" pitchFamily="34" charset="-122"/>
                <a:cs typeface="Cambria" pitchFamily="34" charset="-120"/>
              </a:rPr>
              <a:t>An adverb…</a:t>
            </a:r>
            <a:endParaRPr lang="en-US" sz="2000" dirty="0"/>
          </a:p>
        </p:txBody>
      </p:sp>
      <p:sp>
        <p:nvSpPr>
          <p:cNvPr id="7" name="Text 4"/>
          <p:cNvSpPr txBox="1"/>
          <p:nvPr/>
        </p:nvSpPr>
        <p:spPr>
          <a:xfrm>
            <a:off x="685800" y="1965960"/>
            <a:ext cx="3566160" cy="822960"/>
          </a:xfrm>
          <a:prstGeom prst="rect">
            <a:avLst/>
          </a:prstGeom>
          <a:noFill/>
          <a:ln/>
        </p:spPr>
        <p:txBody>
          <a:bodyPr wrap="square" lIns="0" tIns="0" rIns="0" bIns="0" rtlCol="0" anchor="t"/>
          <a:lstStyle/>
          <a:p>
            <a:pPr marL="0" indent="0">
              <a:buNone/>
            </a:pPr>
            <a:r>
              <a:rPr lang="en-US" sz="1400" dirty="0">
                <a:solidFill>
                  <a:srgbClr val="0E1537"/>
                </a:solidFill>
                <a:latin typeface="Calibri" pitchFamily="34" charset="0"/>
                <a:ea typeface="Calibri" pitchFamily="34" charset="-122"/>
                <a:cs typeface="Calibri" pitchFamily="34" charset="-120"/>
              </a:rPr>
              <a:t>is one word that describes or modifies a verb, an adjective or another adverb.</a:t>
            </a:r>
            <a:endParaRPr lang="en-US" sz="1400" dirty="0"/>
          </a:p>
        </p:txBody>
      </p:sp>
      <p:sp>
        <p:nvSpPr>
          <p:cNvPr id="8" name="Text 5"/>
          <p:cNvSpPr txBox="1"/>
          <p:nvPr/>
        </p:nvSpPr>
        <p:spPr>
          <a:xfrm>
            <a:off x="685800" y="2926080"/>
            <a:ext cx="3566160" cy="365760"/>
          </a:xfrm>
          <a:prstGeom prst="rect">
            <a:avLst/>
          </a:prstGeom>
          <a:noFill/>
          <a:ln/>
        </p:spPr>
        <p:txBody>
          <a:bodyPr wrap="square" lIns="0" tIns="0" rIns="0" bIns="0" rtlCol="0" anchor="t"/>
          <a:lstStyle/>
          <a:p>
            <a:pPr marL="0" indent="0">
              <a:buNone/>
            </a:pPr>
            <a:r>
              <a:rPr lang="en-US" sz="1600" b="1" i="1" dirty="0">
                <a:solidFill>
                  <a:srgbClr val="0E1537"/>
                </a:solidFill>
                <a:latin typeface="Calibri" pitchFamily="34" charset="0"/>
                <a:ea typeface="Calibri" pitchFamily="34" charset="-122"/>
                <a:cs typeface="Calibri" pitchFamily="34" charset="-120"/>
              </a:rPr>
              <a:t>quickly · finally · bravely</a:t>
            </a:r>
            <a:endParaRPr lang="en-US" sz="1600" dirty="0"/>
          </a:p>
        </p:txBody>
      </p:sp>
      <p:sp>
        <p:nvSpPr>
          <p:cNvPr id="9" name="Shape 6"/>
          <p:cNvSpPr/>
          <p:nvPr/>
        </p:nvSpPr>
        <p:spPr>
          <a:xfrm>
            <a:off x="4663440" y="1371600"/>
            <a:ext cx="4023360" cy="2468880"/>
          </a:xfrm>
          <a:prstGeom prst="roundRect">
            <a:avLst>
              <a:gd name="adj" fmla="val 296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Text 7"/>
          <p:cNvSpPr txBox="1"/>
          <p:nvPr/>
        </p:nvSpPr>
        <p:spPr>
          <a:xfrm>
            <a:off x="4892040" y="1508760"/>
            <a:ext cx="3657600" cy="365760"/>
          </a:xfrm>
          <a:prstGeom prst="rect">
            <a:avLst/>
          </a:prstGeom>
          <a:noFill/>
          <a:ln/>
        </p:spPr>
        <p:txBody>
          <a:bodyPr wrap="square" lIns="0" tIns="0" rIns="0" bIns="0" rtlCol="0" anchor="t"/>
          <a:lstStyle/>
          <a:p>
            <a:pPr marL="0" indent="0">
              <a:buNone/>
            </a:pPr>
            <a:r>
              <a:rPr lang="en-US" sz="2000" b="1" dirty="0">
                <a:solidFill>
                  <a:srgbClr val="FF8A3D"/>
                </a:solidFill>
                <a:latin typeface="Cambria" pitchFamily="34" charset="0"/>
                <a:ea typeface="Cambria" pitchFamily="34" charset="-122"/>
                <a:cs typeface="Cambria" pitchFamily="34" charset="-120"/>
              </a:rPr>
              <a:t>An adverbial…</a:t>
            </a:r>
            <a:endParaRPr lang="en-US" sz="2000" dirty="0"/>
          </a:p>
        </p:txBody>
      </p:sp>
      <p:sp>
        <p:nvSpPr>
          <p:cNvPr id="11" name="Text 8"/>
          <p:cNvSpPr txBox="1"/>
          <p:nvPr/>
        </p:nvSpPr>
        <p:spPr>
          <a:xfrm>
            <a:off x="4892040" y="1965960"/>
            <a:ext cx="3566160" cy="822960"/>
          </a:xfrm>
          <a:prstGeom prst="rect">
            <a:avLst/>
          </a:prstGeom>
          <a:noFill/>
          <a:ln/>
        </p:spPr>
        <p:txBody>
          <a:bodyPr wrap="square" lIns="0" tIns="0" rIns="0" bIns="0" rtlCol="0" anchor="t"/>
          <a:lstStyle/>
          <a:p>
            <a:pPr marL="0" indent="0">
              <a:buNone/>
            </a:pPr>
            <a:r>
              <a:rPr lang="en-US" sz="1400" dirty="0">
                <a:solidFill>
                  <a:srgbClr val="0E1537"/>
                </a:solidFill>
                <a:latin typeface="Calibri" pitchFamily="34" charset="0"/>
                <a:ea typeface="Calibri" pitchFamily="34" charset="-122"/>
                <a:cs typeface="Calibri" pitchFamily="34" charset="-120"/>
              </a:rPr>
              <a:t>is a group of words without a verb that acts as an adverb.</a:t>
            </a:r>
            <a:endParaRPr lang="en-US" sz="1400" dirty="0"/>
          </a:p>
        </p:txBody>
      </p:sp>
      <p:sp>
        <p:nvSpPr>
          <p:cNvPr id="12" name="Text 9"/>
          <p:cNvSpPr txBox="1"/>
          <p:nvPr/>
        </p:nvSpPr>
        <p:spPr>
          <a:xfrm>
            <a:off x="4892040" y="2926080"/>
            <a:ext cx="3566160" cy="731520"/>
          </a:xfrm>
          <a:prstGeom prst="rect">
            <a:avLst/>
          </a:prstGeom>
          <a:noFill/>
          <a:ln/>
        </p:spPr>
        <p:txBody>
          <a:bodyPr wrap="square" lIns="0" tIns="0" rIns="0" bIns="0" rtlCol="0" anchor="t"/>
          <a:lstStyle/>
          <a:p>
            <a:pPr marL="0" indent="0">
              <a:buNone/>
            </a:pPr>
            <a:r>
              <a:rPr lang="en-US" sz="1600" b="1" i="1" dirty="0">
                <a:solidFill>
                  <a:srgbClr val="0E1537"/>
                </a:solidFill>
                <a:latin typeface="Calibri" pitchFamily="34" charset="0"/>
                <a:ea typeface="Calibri" pitchFamily="34" charset="-122"/>
                <a:cs typeface="Calibri" pitchFamily="34" charset="-120"/>
              </a:rPr>
              <a:t>in 1969 · on the moon · with great effort</a:t>
            </a:r>
            <a:endParaRPr lang="en-US" sz="1600" dirty="0"/>
          </a:p>
        </p:txBody>
      </p:sp>
      <p:sp>
        <p:nvSpPr>
          <p:cNvPr id="13" name="Shape 10"/>
          <p:cNvSpPr/>
          <p:nvPr/>
        </p:nvSpPr>
        <p:spPr>
          <a:xfrm>
            <a:off x="457200" y="4023360"/>
            <a:ext cx="8229600" cy="457200"/>
          </a:xfrm>
          <a:prstGeom prst="roundRect">
            <a:avLst>
              <a:gd name="adj" fmla="val 16000"/>
            </a:avLst>
          </a:prstGeom>
          <a:solidFill>
            <a:srgbClr val="7B5CE0"/>
          </a:solidFill>
          <a:ln w="6350">
            <a:solidFill>
              <a:srgbClr val="7B5CE0"/>
            </a:solidFill>
            <a:prstDash val="solid"/>
          </a:ln>
        </p:spPr>
      </p:sp>
      <p:sp>
        <p:nvSpPr>
          <p:cNvPr id="14" name="Text 11"/>
          <p:cNvSpPr txBox="1"/>
          <p:nvPr/>
        </p:nvSpPr>
        <p:spPr>
          <a:xfrm>
            <a:off x="640080" y="4023360"/>
            <a:ext cx="7863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Both add detail. They answer a question about the verb.</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Five types of adverbial</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They add detail and answer a question.</a:t>
            </a:r>
            <a:endParaRPr lang="en-US" sz="1300" dirty="0"/>
          </a:p>
        </p:txBody>
      </p:sp>
      <p:sp>
        <p:nvSpPr>
          <p:cNvPr id="5" name="Shape 2"/>
          <p:cNvSpPr/>
          <p:nvPr/>
        </p:nvSpPr>
        <p:spPr>
          <a:xfrm>
            <a:off x="457200" y="1417320"/>
            <a:ext cx="2560320" cy="1188720"/>
          </a:xfrm>
          <a:prstGeom prst="roundRect">
            <a:avLst>
              <a:gd name="adj" fmla="val 7692"/>
            </a:avLst>
          </a:prstGeom>
          <a:solidFill>
            <a:srgbClr val="FF8A3D"/>
          </a:solidFill>
          <a:ln w="6350">
            <a:solidFill>
              <a:srgbClr val="FF8A3D"/>
            </a:solidFill>
            <a:prstDash val="solid"/>
          </a:ln>
        </p:spPr>
      </p:sp>
      <p:sp>
        <p:nvSpPr>
          <p:cNvPr id="6" name="Text 3"/>
          <p:cNvSpPr txBox="1"/>
          <p:nvPr/>
        </p:nvSpPr>
        <p:spPr>
          <a:xfrm>
            <a:off x="548640" y="1417320"/>
            <a:ext cx="2377440" cy="118872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Time</a:t>
            </a:r>
            <a:endParaRPr lang="en-US" sz="2200" dirty="0"/>
          </a:p>
          <a:p>
            <a:pPr marL="0" indent="0" algn="ctr">
              <a:buNone/>
            </a:pPr>
            <a:r>
              <a:rPr lang="en-US" sz="2200" b="1" dirty="0">
                <a:solidFill>
                  <a:srgbClr val="0E1537"/>
                </a:solidFill>
                <a:latin typeface="Cambria" pitchFamily="34" charset="0"/>
                <a:ea typeface="Cambria" pitchFamily="34" charset="-122"/>
                <a:cs typeface="Cambria" pitchFamily="34" charset="-120"/>
              </a:rPr>
              <a:t>when?</a:t>
            </a:r>
            <a:endParaRPr lang="en-US" sz="2200" dirty="0"/>
          </a:p>
        </p:txBody>
      </p:sp>
      <p:sp>
        <p:nvSpPr>
          <p:cNvPr id="7" name="Shape 4"/>
          <p:cNvSpPr/>
          <p:nvPr/>
        </p:nvSpPr>
        <p:spPr>
          <a:xfrm>
            <a:off x="3291840" y="1417320"/>
            <a:ext cx="2560320" cy="1188720"/>
          </a:xfrm>
          <a:prstGeom prst="roundRect">
            <a:avLst>
              <a:gd name="adj" fmla="val 7692"/>
            </a:avLst>
          </a:prstGeom>
          <a:solidFill>
            <a:srgbClr val="2EC4B6"/>
          </a:solidFill>
          <a:ln w="6350">
            <a:solidFill>
              <a:srgbClr val="2EC4B6"/>
            </a:solidFill>
            <a:prstDash val="solid"/>
          </a:ln>
        </p:spPr>
      </p:sp>
      <p:sp>
        <p:nvSpPr>
          <p:cNvPr id="8" name="Text 5"/>
          <p:cNvSpPr txBox="1"/>
          <p:nvPr/>
        </p:nvSpPr>
        <p:spPr>
          <a:xfrm>
            <a:off x="3383280" y="1417320"/>
            <a:ext cx="2377440" cy="118872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Place</a:t>
            </a:r>
            <a:endParaRPr lang="en-US" sz="2200" dirty="0"/>
          </a:p>
          <a:p>
            <a:pPr marL="0" indent="0" algn="ctr">
              <a:buNone/>
            </a:pPr>
            <a:r>
              <a:rPr lang="en-US" sz="2200" b="1" dirty="0">
                <a:solidFill>
                  <a:srgbClr val="0E1537"/>
                </a:solidFill>
                <a:latin typeface="Cambria" pitchFamily="34" charset="0"/>
                <a:ea typeface="Cambria" pitchFamily="34" charset="-122"/>
                <a:cs typeface="Cambria" pitchFamily="34" charset="-120"/>
              </a:rPr>
              <a:t>where?</a:t>
            </a:r>
            <a:endParaRPr lang="en-US" sz="2200" dirty="0"/>
          </a:p>
        </p:txBody>
      </p:sp>
      <p:sp>
        <p:nvSpPr>
          <p:cNvPr id="9" name="Shape 6"/>
          <p:cNvSpPr/>
          <p:nvPr/>
        </p:nvSpPr>
        <p:spPr>
          <a:xfrm>
            <a:off x="6126480" y="1417320"/>
            <a:ext cx="2560320" cy="1188720"/>
          </a:xfrm>
          <a:prstGeom prst="roundRect">
            <a:avLst>
              <a:gd name="adj" fmla="val 7692"/>
            </a:avLst>
          </a:prstGeom>
          <a:solidFill>
            <a:srgbClr val="FF6B8B"/>
          </a:solidFill>
          <a:ln w="6350">
            <a:solidFill>
              <a:srgbClr val="FF6B8B"/>
            </a:solidFill>
            <a:prstDash val="solid"/>
          </a:ln>
        </p:spPr>
      </p:sp>
      <p:sp>
        <p:nvSpPr>
          <p:cNvPr id="10" name="Text 7"/>
          <p:cNvSpPr txBox="1"/>
          <p:nvPr/>
        </p:nvSpPr>
        <p:spPr>
          <a:xfrm>
            <a:off x="6217920" y="1417320"/>
            <a:ext cx="2377440" cy="118872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Manner</a:t>
            </a:r>
            <a:endParaRPr lang="en-US" sz="2200" dirty="0"/>
          </a:p>
          <a:p>
            <a:pPr marL="0" indent="0" algn="ctr">
              <a:buNone/>
            </a:pPr>
            <a:r>
              <a:rPr lang="en-US" sz="2200" b="1" dirty="0">
                <a:solidFill>
                  <a:srgbClr val="0E1537"/>
                </a:solidFill>
                <a:latin typeface="Cambria" pitchFamily="34" charset="0"/>
                <a:ea typeface="Cambria" pitchFamily="34" charset="-122"/>
                <a:cs typeface="Cambria" pitchFamily="34" charset="-120"/>
              </a:rPr>
              <a:t>how or why?</a:t>
            </a:r>
            <a:endParaRPr lang="en-US" sz="2200" dirty="0"/>
          </a:p>
        </p:txBody>
      </p:sp>
      <p:sp>
        <p:nvSpPr>
          <p:cNvPr id="11" name="Shape 8"/>
          <p:cNvSpPr/>
          <p:nvPr/>
        </p:nvSpPr>
        <p:spPr>
          <a:xfrm>
            <a:off x="457200" y="2788920"/>
            <a:ext cx="2560320" cy="1188720"/>
          </a:xfrm>
          <a:prstGeom prst="roundRect">
            <a:avLst>
              <a:gd name="adj" fmla="val 7692"/>
            </a:avLst>
          </a:prstGeom>
          <a:solidFill>
            <a:srgbClr val="7B5CE0"/>
          </a:solidFill>
          <a:ln w="6350">
            <a:solidFill>
              <a:srgbClr val="7B5CE0"/>
            </a:solidFill>
            <a:prstDash val="solid"/>
          </a:ln>
        </p:spPr>
      </p:sp>
      <p:sp>
        <p:nvSpPr>
          <p:cNvPr id="12" name="Text 9"/>
          <p:cNvSpPr txBox="1"/>
          <p:nvPr/>
        </p:nvSpPr>
        <p:spPr>
          <a:xfrm>
            <a:off x="548640" y="2788920"/>
            <a:ext cx="2377440" cy="11887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Quantity</a:t>
            </a:r>
            <a:endParaRPr lang="en-US" sz="2200" dirty="0"/>
          </a:p>
          <a:p>
            <a:pPr marL="0" indent="0" algn="ctr">
              <a:buNone/>
            </a:pPr>
            <a:r>
              <a:rPr lang="en-US" sz="2200" b="1" dirty="0">
                <a:solidFill>
                  <a:srgbClr val="FFFFFF"/>
                </a:solidFill>
                <a:latin typeface="Cambria" pitchFamily="34" charset="0"/>
                <a:ea typeface="Cambria" pitchFamily="34" charset="-122"/>
                <a:cs typeface="Cambria" pitchFamily="34" charset="-120"/>
              </a:rPr>
              <a:t>how much?</a:t>
            </a:r>
            <a:endParaRPr lang="en-US" sz="2200" dirty="0"/>
          </a:p>
        </p:txBody>
      </p:sp>
      <p:sp>
        <p:nvSpPr>
          <p:cNvPr id="13" name="Shape 10"/>
          <p:cNvSpPr/>
          <p:nvPr/>
        </p:nvSpPr>
        <p:spPr>
          <a:xfrm>
            <a:off x="3291840" y="2788920"/>
            <a:ext cx="2560320" cy="1188720"/>
          </a:xfrm>
          <a:prstGeom prst="roundRect">
            <a:avLst>
              <a:gd name="adj" fmla="val 7692"/>
            </a:avLst>
          </a:prstGeom>
          <a:solidFill>
            <a:srgbClr val="4CC9F0"/>
          </a:solidFill>
          <a:ln w="6350">
            <a:solidFill>
              <a:srgbClr val="4CC9F0"/>
            </a:solidFill>
            <a:prstDash val="solid"/>
          </a:ln>
        </p:spPr>
      </p:sp>
      <p:sp>
        <p:nvSpPr>
          <p:cNvPr id="14" name="Text 11"/>
          <p:cNvSpPr txBox="1"/>
          <p:nvPr/>
        </p:nvSpPr>
        <p:spPr>
          <a:xfrm>
            <a:off x="3383280" y="2788920"/>
            <a:ext cx="2377440" cy="118872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Quality</a:t>
            </a:r>
            <a:endParaRPr lang="en-US" sz="2200" dirty="0"/>
          </a:p>
          <a:p>
            <a:pPr marL="0" indent="0" algn="ctr">
              <a:buNone/>
            </a:pPr>
            <a:r>
              <a:rPr lang="en-US" sz="2200" b="1" dirty="0">
                <a:solidFill>
                  <a:srgbClr val="0E1537"/>
                </a:solidFill>
                <a:latin typeface="Cambria" pitchFamily="34" charset="0"/>
                <a:ea typeface="Cambria" pitchFamily="34" charset="-122"/>
                <a:cs typeface="Cambria" pitchFamily="34" charset="-120"/>
              </a:rPr>
              <a:t>to what extent?</a:t>
            </a:r>
            <a:endParaRPr lang="en-US" sz="2200" dirty="0"/>
          </a:p>
        </p:txBody>
      </p:sp>
      <p:sp>
        <p:nvSpPr>
          <p:cNvPr id="15" name="Shape 12"/>
          <p:cNvSpPr/>
          <p:nvPr/>
        </p:nvSpPr>
        <p:spPr>
          <a:xfrm>
            <a:off x="6126480" y="2788920"/>
            <a:ext cx="2560320" cy="1188720"/>
          </a:xfrm>
          <a:prstGeom prst="roundRect">
            <a:avLst>
              <a:gd name="adj" fmla="val 6154"/>
            </a:avLst>
          </a:prstGeom>
          <a:solidFill>
            <a:srgbClr val="FFD166"/>
          </a:solidFill>
          <a:ln w="6350">
            <a:solidFill>
              <a:srgbClr val="FFD166"/>
            </a:solidFill>
            <a:prstDash val="solid"/>
          </a:ln>
        </p:spPr>
      </p:sp>
      <p:sp>
        <p:nvSpPr>
          <p:cNvPr id="16" name="Text 13"/>
          <p:cNvSpPr txBox="1"/>
          <p:nvPr/>
        </p:nvSpPr>
        <p:spPr>
          <a:xfrm>
            <a:off x="6309360" y="2788920"/>
            <a:ext cx="2194560" cy="118872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Today we focus on time, place and manner.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Types in action (1 of 2)</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Time and place. The adverbial is highlighted.</a:t>
            </a:r>
            <a:endParaRPr lang="en-US" sz="1300" dirty="0"/>
          </a:p>
        </p:txBody>
      </p:sp>
      <p:sp>
        <p:nvSpPr>
          <p:cNvPr id="5" name="Shape 2"/>
          <p:cNvSpPr/>
          <p:nvPr/>
        </p:nvSpPr>
        <p:spPr>
          <a:xfrm>
            <a:off x="457200" y="1371600"/>
            <a:ext cx="4023360" cy="3017520"/>
          </a:xfrm>
          <a:prstGeom prst="roundRect">
            <a:avLst>
              <a:gd name="adj" fmla="val 2424"/>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640080" y="1508760"/>
            <a:ext cx="1463040" cy="411480"/>
          </a:xfrm>
          <a:prstGeom prst="roundRect">
            <a:avLst>
              <a:gd name="adj" fmla="val 22222"/>
            </a:avLst>
          </a:prstGeom>
          <a:solidFill>
            <a:srgbClr val="FF8A3D"/>
          </a:solidFill>
          <a:ln w="6350">
            <a:solidFill>
              <a:srgbClr val="FF8A3D"/>
            </a:solidFill>
            <a:prstDash val="solid"/>
          </a:ln>
        </p:spPr>
      </p:sp>
      <p:sp>
        <p:nvSpPr>
          <p:cNvPr id="7" name="Text 4"/>
          <p:cNvSpPr txBox="1"/>
          <p:nvPr/>
        </p:nvSpPr>
        <p:spPr>
          <a:xfrm>
            <a:off x="731520" y="1508760"/>
            <a:ext cx="1280160" cy="411480"/>
          </a:xfrm>
          <a:prstGeom prst="rect">
            <a:avLst/>
          </a:prstGeom>
          <a:noFill/>
          <a:ln/>
        </p:spPr>
        <p:txBody>
          <a:bodyPr wrap="square" lIns="0" tIns="0" rIns="0" bIns="0" rtlCol="0" anchor="ctr"/>
          <a:lstStyle/>
          <a:p>
            <a:pPr marL="0" indent="0" algn="ctr">
              <a:buNone/>
            </a:pPr>
            <a:r>
              <a:rPr lang="en-US" sz="1300" b="1" dirty="0">
                <a:solidFill>
                  <a:srgbClr val="0E1537"/>
                </a:solidFill>
                <a:latin typeface="Cambria" pitchFamily="34" charset="0"/>
                <a:ea typeface="Cambria" pitchFamily="34" charset="-122"/>
                <a:cs typeface="Cambria" pitchFamily="34" charset="-120"/>
              </a:rPr>
              <a:t>TIME · when?</a:t>
            </a:r>
            <a:endParaRPr lang="en-US" sz="1300" dirty="0"/>
          </a:p>
        </p:txBody>
      </p:sp>
      <p:sp>
        <p:nvSpPr>
          <p:cNvPr id="8" name="Text 5"/>
          <p:cNvSpPr txBox="1"/>
          <p:nvPr/>
        </p:nvSpPr>
        <p:spPr>
          <a:xfrm>
            <a:off x="685800" y="2148840"/>
            <a:ext cx="3566160" cy="640080"/>
          </a:xfrm>
          <a:prstGeom prst="rect">
            <a:avLst/>
          </a:prstGeom>
          <a:noFill/>
          <a:ln/>
        </p:spPr>
        <p:txBody>
          <a:bodyPr wrap="square" lIns="0" tIns="0" rIns="0" bIns="0" rtlCol="0" anchor="t"/>
          <a:lstStyle/>
          <a:p>
            <a:pPr marL="0" indent="0">
              <a:buNone/>
            </a:pPr>
            <a:r>
              <a:rPr lang="en-US" sz="1600" b="1" dirty="0">
                <a:solidFill>
                  <a:srgbClr val="7B5CE0"/>
                </a:solidFill>
                <a:latin typeface="Calibri" pitchFamily="34" charset="0"/>
                <a:ea typeface="Calibri" pitchFamily="34" charset="-122"/>
                <a:cs typeface="Calibri" pitchFamily="34" charset="-120"/>
              </a:rPr>
              <a:t>In 1609</a:t>
            </a:r>
            <a:r>
              <a:rPr lang="en-US" sz="1600" dirty="0">
                <a:solidFill>
                  <a:srgbClr val="0E1537"/>
                </a:solidFill>
                <a:latin typeface="Calibri" pitchFamily="34" charset="0"/>
                <a:ea typeface="Calibri" pitchFamily="34" charset="-122"/>
                <a:cs typeface="Calibri" pitchFamily="34" charset="-120"/>
              </a:rPr>
              <a:t>, Galileo built the first telescope.</a:t>
            </a:r>
            <a:endParaRPr lang="en-US" sz="1600" dirty="0"/>
          </a:p>
        </p:txBody>
      </p:sp>
      <p:sp>
        <p:nvSpPr>
          <p:cNvPr id="9" name="Text 6"/>
          <p:cNvSpPr txBox="1"/>
          <p:nvPr/>
        </p:nvSpPr>
        <p:spPr>
          <a:xfrm>
            <a:off x="685800" y="2880360"/>
            <a:ext cx="3566160" cy="640080"/>
          </a:xfrm>
          <a:prstGeom prst="rect">
            <a:avLst/>
          </a:prstGeom>
          <a:noFill/>
          <a:ln/>
        </p:spPr>
        <p:txBody>
          <a:bodyPr wrap="square" lIns="0" tIns="0" rIns="0" bIns="0" rtlCol="0" anchor="t"/>
          <a:lstStyle/>
          <a:p>
            <a:pPr marL="0" indent="0">
              <a:buNone/>
            </a:pPr>
            <a:r>
              <a:rPr lang="en-US" sz="1600" b="1" dirty="0">
                <a:solidFill>
                  <a:srgbClr val="7B5CE0"/>
                </a:solidFill>
                <a:latin typeface="Calibri" pitchFamily="34" charset="0"/>
                <a:ea typeface="Calibri" pitchFamily="34" charset="-122"/>
                <a:cs typeface="Calibri" pitchFamily="34" charset="-120"/>
              </a:rPr>
              <a:t>Finally</a:t>
            </a:r>
            <a:r>
              <a:rPr lang="en-US" sz="1600" dirty="0">
                <a:solidFill>
                  <a:srgbClr val="0E1537"/>
                </a:solidFill>
                <a:latin typeface="Calibri" pitchFamily="34" charset="0"/>
                <a:ea typeface="Calibri" pitchFamily="34" charset="-122"/>
                <a:cs typeface="Calibri" pitchFamily="34" charset="-120"/>
              </a:rPr>
              <a:t>, astronauts walked on the moon.</a:t>
            </a:r>
            <a:endParaRPr lang="en-US" sz="1600" dirty="0"/>
          </a:p>
        </p:txBody>
      </p:sp>
      <p:sp>
        <p:nvSpPr>
          <p:cNvPr id="10" name="Text 7"/>
          <p:cNvSpPr txBox="1"/>
          <p:nvPr/>
        </p:nvSpPr>
        <p:spPr>
          <a:xfrm>
            <a:off x="685800" y="3611880"/>
            <a:ext cx="3566160" cy="640080"/>
          </a:xfrm>
          <a:prstGeom prst="rect">
            <a:avLst/>
          </a:prstGeom>
          <a:noFill/>
          <a:ln/>
        </p:spPr>
        <p:txBody>
          <a:bodyPr wrap="square" lIns="0" tIns="0" rIns="0" bIns="0" rtlCol="0" anchor="t"/>
          <a:lstStyle/>
          <a:p>
            <a:pPr marL="0" indent="0">
              <a:buNone/>
            </a:pPr>
            <a:r>
              <a:rPr lang="en-US" sz="1600" b="1" dirty="0">
                <a:solidFill>
                  <a:srgbClr val="7B5CE0"/>
                </a:solidFill>
                <a:latin typeface="Calibri" pitchFamily="34" charset="0"/>
                <a:ea typeface="Calibri" pitchFamily="34" charset="-122"/>
                <a:cs typeface="Calibri" pitchFamily="34" charset="-120"/>
              </a:rPr>
              <a:t>Many years later</a:t>
            </a:r>
            <a:r>
              <a:rPr lang="en-US" sz="1600" dirty="0">
                <a:solidFill>
                  <a:srgbClr val="0E1537"/>
                </a:solidFill>
                <a:latin typeface="Calibri" pitchFamily="34" charset="0"/>
                <a:ea typeface="Calibri" pitchFamily="34" charset="-122"/>
                <a:cs typeface="Calibri" pitchFamily="34" charset="-120"/>
              </a:rPr>
              <a:t>, the ISS was ready.</a:t>
            </a:r>
            <a:endParaRPr lang="en-US" sz="1600" dirty="0"/>
          </a:p>
        </p:txBody>
      </p:sp>
      <p:sp>
        <p:nvSpPr>
          <p:cNvPr id="11" name="Shape 8"/>
          <p:cNvSpPr/>
          <p:nvPr/>
        </p:nvSpPr>
        <p:spPr>
          <a:xfrm>
            <a:off x="4663440" y="1371600"/>
            <a:ext cx="4023360" cy="3017520"/>
          </a:xfrm>
          <a:prstGeom prst="roundRect">
            <a:avLst>
              <a:gd name="adj" fmla="val 2424"/>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2" name="Shape 9"/>
          <p:cNvSpPr/>
          <p:nvPr/>
        </p:nvSpPr>
        <p:spPr>
          <a:xfrm>
            <a:off x="4846320" y="1508760"/>
            <a:ext cx="1554480" cy="411480"/>
          </a:xfrm>
          <a:prstGeom prst="roundRect">
            <a:avLst>
              <a:gd name="adj" fmla="val 22222"/>
            </a:avLst>
          </a:prstGeom>
          <a:solidFill>
            <a:srgbClr val="2EC4B6"/>
          </a:solidFill>
          <a:ln w="6350">
            <a:solidFill>
              <a:srgbClr val="2EC4B6"/>
            </a:solidFill>
            <a:prstDash val="solid"/>
          </a:ln>
        </p:spPr>
      </p:sp>
      <p:sp>
        <p:nvSpPr>
          <p:cNvPr id="13" name="Text 10"/>
          <p:cNvSpPr txBox="1"/>
          <p:nvPr/>
        </p:nvSpPr>
        <p:spPr>
          <a:xfrm>
            <a:off x="4937760" y="1508760"/>
            <a:ext cx="1371600" cy="411480"/>
          </a:xfrm>
          <a:prstGeom prst="rect">
            <a:avLst/>
          </a:prstGeom>
          <a:noFill/>
          <a:ln/>
        </p:spPr>
        <p:txBody>
          <a:bodyPr wrap="square" lIns="0" tIns="0" rIns="0" bIns="0" rtlCol="0" anchor="ctr"/>
          <a:lstStyle/>
          <a:p>
            <a:pPr marL="0" indent="0" algn="ctr">
              <a:buNone/>
            </a:pPr>
            <a:r>
              <a:rPr lang="en-US" sz="1300" b="1" dirty="0">
                <a:solidFill>
                  <a:srgbClr val="0E1537"/>
                </a:solidFill>
                <a:latin typeface="Cambria" pitchFamily="34" charset="0"/>
                <a:ea typeface="Cambria" pitchFamily="34" charset="-122"/>
                <a:cs typeface="Cambria" pitchFamily="34" charset="-120"/>
              </a:rPr>
              <a:t>PLACE · where?</a:t>
            </a:r>
            <a:endParaRPr lang="en-US" sz="1300" dirty="0"/>
          </a:p>
        </p:txBody>
      </p:sp>
      <p:sp>
        <p:nvSpPr>
          <p:cNvPr id="14" name="Text 11"/>
          <p:cNvSpPr txBox="1"/>
          <p:nvPr/>
        </p:nvSpPr>
        <p:spPr>
          <a:xfrm>
            <a:off x="4892040" y="2148840"/>
            <a:ext cx="3566160" cy="640080"/>
          </a:xfrm>
          <a:prstGeom prst="rect">
            <a:avLst/>
          </a:prstGeom>
          <a:noFill/>
          <a:ln/>
        </p:spPr>
        <p:txBody>
          <a:bodyPr wrap="square" lIns="0" tIns="0" rIns="0" bIns="0" rtlCol="0" anchor="t"/>
          <a:lstStyle/>
          <a:p>
            <a:pPr marL="0" indent="0">
              <a:buNone/>
            </a:pPr>
            <a:r>
              <a:rPr lang="en-US" sz="1600" dirty="0">
                <a:solidFill>
                  <a:srgbClr val="0E1537"/>
                </a:solidFill>
                <a:latin typeface="Calibri" pitchFamily="34" charset="0"/>
                <a:ea typeface="Calibri" pitchFamily="34" charset="-122"/>
                <a:cs typeface="Calibri" pitchFamily="34" charset="-120"/>
              </a:rPr>
              <a:t>The first astronauts landed </a:t>
            </a:r>
            <a:r>
              <a:rPr lang="en-US" sz="1600" b="1" dirty="0">
                <a:solidFill>
                  <a:srgbClr val="7B5CE0"/>
                </a:solidFill>
                <a:latin typeface="Calibri" pitchFamily="34" charset="0"/>
                <a:ea typeface="Calibri" pitchFamily="34" charset="-122"/>
                <a:cs typeface="Calibri" pitchFamily="34" charset="-120"/>
              </a:rPr>
              <a:t>on the moon</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15" name="Text 12"/>
          <p:cNvSpPr txBox="1"/>
          <p:nvPr/>
        </p:nvSpPr>
        <p:spPr>
          <a:xfrm>
            <a:off x="4892040" y="2880360"/>
            <a:ext cx="3566160" cy="640080"/>
          </a:xfrm>
          <a:prstGeom prst="rect">
            <a:avLst/>
          </a:prstGeom>
          <a:noFill/>
          <a:ln/>
        </p:spPr>
        <p:txBody>
          <a:bodyPr wrap="square" lIns="0" tIns="0" rIns="0" bIns="0" rtlCol="0" anchor="t"/>
          <a:lstStyle/>
          <a:p>
            <a:pPr marL="0" indent="0">
              <a:buNone/>
            </a:pPr>
            <a:r>
              <a:rPr lang="en-US" sz="1600" dirty="0">
                <a:solidFill>
                  <a:srgbClr val="0E1537"/>
                </a:solidFill>
                <a:latin typeface="Calibri" pitchFamily="34" charset="0"/>
                <a:ea typeface="Calibri" pitchFamily="34" charset="-122"/>
                <a:cs typeface="Calibri" pitchFamily="34" charset="-120"/>
              </a:rPr>
              <a:t>The satellite orbits </a:t>
            </a:r>
            <a:r>
              <a:rPr lang="en-US" sz="1600" b="1" dirty="0">
                <a:solidFill>
                  <a:srgbClr val="7B5CE0"/>
                </a:solidFill>
                <a:latin typeface="Calibri" pitchFamily="34" charset="0"/>
                <a:ea typeface="Calibri" pitchFamily="34" charset="-122"/>
                <a:cs typeface="Calibri" pitchFamily="34" charset="-120"/>
              </a:rPr>
              <a:t>above the Earth</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16" name="Text 13"/>
          <p:cNvSpPr txBox="1"/>
          <p:nvPr/>
        </p:nvSpPr>
        <p:spPr>
          <a:xfrm>
            <a:off x="4892040" y="3611880"/>
            <a:ext cx="3566160" cy="640080"/>
          </a:xfrm>
          <a:prstGeom prst="rect">
            <a:avLst/>
          </a:prstGeom>
          <a:noFill/>
          <a:ln/>
        </p:spPr>
        <p:txBody>
          <a:bodyPr wrap="square" lIns="0" tIns="0" rIns="0" bIns="0" rtlCol="0" anchor="t"/>
          <a:lstStyle/>
          <a:p>
            <a:pPr marL="0" indent="0">
              <a:buNone/>
            </a:pPr>
            <a:r>
              <a:rPr lang="en-US" sz="1600" dirty="0">
                <a:solidFill>
                  <a:srgbClr val="0E1537"/>
                </a:solidFill>
                <a:latin typeface="Calibri" pitchFamily="34" charset="0"/>
                <a:ea typeface="Calibri" pitchFamily="34" charset="-122"/>
                <a:cs typeface="Calibri" pitchFamily="34" charset="-120"/>
              </a:rPr>
              <a:t>Astronauts live </a:t>
            </a:r>
            <a:r>
              <a:rPr lang="en-US" sz="1600" b="1" dirty="0">
                <a:solidFill>
                  <a:srgbClr val="7B5CE0"/>
                </a:solidFill>
                <a:latin typeface="Calibri" pitchFamily="34" charset="0"/>
                <a:ea typeface="Calibri" pitchFamily="34" charset="-122"/>
                <a:cs typeface="Calibri" pitchFamily="34" charset="-120"/>
              </a:rPr>
              <a:t>on the ISS</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Types in action (2 of 2)</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Manner, quantity and quality.</a:t>
            </a:r>
            <a:endParaRPr lang="en-US" sz="1300" dirty="0"/>
          </a:p>
        </p:txBody>
      </p:sp>
      <p:sp>
        <p:nvSpPr>
          <p:cNvPr id="5" name="Shape 2"/>
          <p:cNvSpPr/>
          <p:nvPr/>
        </p:nvSpPr>
        <p:spPr>
          <a:xfrm>
            <a:off x="457200" y="1371600"/>
            <a:ext cx="2560320" cy="3017520"/>
          </a:xfrm>
          <a:prstGeom prst="roundRect">
            <a:avLst>
              <a:gd name="adj" fmla="val 2857"/>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508760"/>
            <a:ext cx="2286000" cy="411480"/>
          </a:xfrm>
          <a:prstGeom prst="roundRect">
            <a:avLst>
              <a:gd name="adj" fmla="val 22222"/>
            </a:avLst>
          </a:prstGeom>
          <a:solidFill>
            <a:srgbClr val="FF6B8B"/>
          </a:solidFill>
          <a:ln w="6350">
            <a:solidFill>
              <a:srgbClr val="FF6B8B"/>
            </a:solidFill>
            <a:prstDash val="solid"/>
          </a:ln>
        </p:spPr>
      </p:sp>
      <p:sp>
        <p:nvSpPr>
          <p:cNvPr id="7" name="Text 4"/>
          <p:cNvSpPr txBox="1"/>
          <p:nvPr/>
        </p:nvSpPr>
        <p:spPr>
          <a:xfrm>
            <a:off x="685800" y="1508760"/>
            <a:ext cx="2103120" cy="411480"/>
          </a:xfrm>
          <a:prstGeom prst="rect">
            <a:avLst/>
          </a:prstGeom>
          <a:noFill/>
          <a:ln/>
        </p:spPr>
        <p:txBody>
          <a:bodyPr wrap="square" lIns="0" tIns="0" rIns="0" bIns="0" rtlCol="0" anchor="ctr"/>
          <a:lstStyle/>
          <a:p>
            <a:pPr marL="0" indent="0" algn="ctr">
              <a:buNone/>
            </a:pPr>
            <a:r>
              <a:rPr lang="en-US" sz="1200" b="1" dirty="0">
                <a:solidFill>
                  <a:srgbClr val="0E1537"/>
                </a:solidFill>
                <a:latin typeface="Cambria" pitchFamily="34" charset="0"/>
                <a:ea typeface="Cambria" pitchFamily="34" charset="-122"/>
                <a:cs typeface="Cambria" pitchFamily="34" charset="-120"/>
              </a:rPr>
              <a:t>MANNER · how?</a:t>
            </a:r>
            <a:endParaRPr lang="en-US" sz="1200" dirty="0"/>
          </a:p>
        </p:txBody>
      </p:sp>
      <p:sp>
        <p:nvSpPr>
          <p:cNvPr id="8" name="Text 5"/>
          <p:cNvSpPr txBox="1"/>
          <p:nvPr/>
        </p:nvSpPr>
        <p:spPr>
          <a:xfrm>
            <a:off x="640080" y="2148840"/>
            <a:ext cx="2240280" cy="914400"/>
          </a:xfrm>
          <a:prstGeom prst="rect">
            <a:avLst/>
          </a:prstGeom>
          <a:noFill/>
          <a:ln/>
        </p:spPr>
        <p:txBody>
          <a:bodyPr wrap="square" lIns="0" tIns="0" rIns="0" bIns="0" rtlCol="0" anchor="t"/>
          <a:lstStyle/>
          <a:p>
            <a:pPr marL="0" indent="0">
              <a:buNone/>
            </a:pPr>
            <a:r>
              <a:rPr lang="en-US" sz="1500" b="1" dirty="0">
                <a:solidFill>
                  <a:srgbClr val="7B5CE0"/>
                </a:solidFill>
                <a:latin typeface="Calibri" pitchFamily="34" charset="0"/>
                <a:ea typeface="Calibri" pitchFamily="34" charset="-122"/>
                <a:cs typeface="Calibri" pitchFamily="34" charset="-120"/>
              </a:rPr>
              <a:t>With great effort</a:t>
            </a:r>
            <a:r>
              <a:rPr lang="en-US" sz="1500" dirty="0">
                <a:solidFill>
                  <a:srgbClr val="0E1537"/>
                </a:solidFill>
                <a:latin typeface="Calibri" pitchFamily="34" charset="0"/>
                <a:ea typeface="Calibri" pitchFamily="34" charset="-122"/>
                <a:cs typeface="Calibri" pitchFamily="34" charset="-120"/>
              </a:rPr>
              <a:t>, they succeeded.</a:t>
            </a:r>
            <a:endParaRPr lang="en-US" sz="1500" dirty="0"/>
          </a:p>
        </p:txBody>
      </p:sp>
      <p:sp>
        <p:nvSpPr>
          <p:cNvPr id="9" name="Text 6"/>
          <p:cNvSpPr txBox="1"/>
          <p:nvPr/>
        </p:nvSpPr>
        <p:spPr>
          <a:xfrm>
            <a:off x="640080" y="3246120"/>
            <a:ext cx="2240280" cy="91440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The crew opened the hatch </a:t>
            </a:r>
            <a:r>
              <a:rPr lang="en-US" sz="1500" b="1" dirty="0">
                <a:solidFill>
                  <a:srgbClr val="7B5CE0"/>
                </a:solidFill>
                <a:latin typeface="Calibri" pitchFamily="34" charset="0"/>
                <a:ea typeface="Calibri" pitchFamily="34" charset="-122"/>
                <a:cs typeface="Calibri" pitchFamily="34" charset="-120"/>
              </a:rPr>
              <a:t>carefully</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3291840" y="1371600"/>
            <a:ext cx="2560320" cy="3017520"/>
          </a:xfrm>
          <a:prstGeom prst="roundRect">
            <a:avLst>
              <a:gd name="adj" fmla="val 2857"/>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1" name="Shape 8"/>
          <p:cNvSpPr/>
          <p:nvPr/>
        </p:nvSpPr>
        <p:spPr>
          <a:xfrm>
            <a:off x="3429000" y="1508760"/>
            <a:ext cx="2286000" cy="411480"/>
          </a:xfrm>
          <a:prstGeom prst="roundRect">
            <a:avLst>
              <a:gd name="adj" fmla="val 22222"/>
            </a:avLst>
          </a:prstGeom>
          <a:solidFill>
            <a:srgbClr val="7B5CE0"/>
          </a:solidFill>
          <a:ln w="6350">
            <a:solidFill>
              <a:srgbClr val="7B5CE0"/>
            </a:solidFill>
            <a:prstDash val="solid"/>
          </a:ln>
        </p:spPr>
      </p:sp>
      <p:sp>
        <p:nvSpPr>
          <p:cNvPr id="12" name="Text 9"/>
          <p:cNvSpPr txBox="1"/>
          <p:nvPr/>
        </p:nvSpPr>
        <p:spPr>
          <a:xfrm>
            <a:off x="3520440" y="1508760"/>
            <a:ext cx="21031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QUANTITY · how much?</a:t>
            </a:r>
            <a:endParaRPr lang="en-US" sz="1200" dirty="0"/>
          </a:p>
        </p:txBody>
      </p:sp>
      <p:sp>
        <p:nvSpPr>
          <p:cNvPr id="13" name="Text 10"/>
          <p:cNvSpPr txBox="1"/>
          <p:nvPr/>
        </p:nvSpPr>
        <p:spPr>
          <a:xfrm>
            <a:off x="3474720" y="2148840"/>
            <a:ext cx="2240280" cy="91440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Astronauts exercise </a:t>
            </a:r>
            <a:r>
              <a:rPr lang="en-US" sz="1500" b="1" dirty="0">
                <a:solidFill>
                  <a:srgbClr val="7B5CE0"/>
                </a:solidFill>
                <a:latin typeface="Calibri" pitchFamily="34" charset="0"/>
                <a:ea typeface="Calibri" pitchFamily="34" charset="-122"/>
                <a:cs typeface="Calibri" pitchFamily="34" charset="-120"/>
              </a:rPr>
              <a:t>a lot</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14" name="Text 11"/>
          <p:cNvSpPr txBox="1"/>
          <p:nvPr/>
        </p:nvSpPr>
        <p:spPr>
          <a:xfrm>
            <a:off x="3474720" y="3246120"/>
            <a:ext cx="2240280" cy="91440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The crew slept </a:t>
            </a:r>
            <a:r>
              <a:rPr lang="en-US" sz="1500" b="1" dirty="0">
                <a:solidFill>
                  <a:srgbClr val="7B5CE0"/>
                </a:solidFill>
                <a:latin typeface="Calibri" pitchFamily="34" charset="0"/>
                <a:ea typeface="Calibri" pitchFamily="34" charset="-122"/>
                <a:cs typeface="Calibri" pitchFamily="34" charset="-120"/>
              </a:rPr>
              <a:t>very little</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15" name="Shape 12"/>
          <p:cNvSpPr/>
          <p:nvPr/>
        </p:nvSpPr>
        <p:spPr>
          <a:xfrm>
            <a:off x="6126480" y="1371600"/>
            <a:ext cx="2560320" cy="3017520"/>
          </a:xfrm>
          <a:prstGeom prst="roundRect">
            <a:avLst>
              <a:gd name="adj" fmla="val 2857"/>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6" name="Shape 13"/>
          <p:cNvSpPr/>
          <p:nvPr/>
        </p:nvSpPr>
        <p:spPr>
          <a:xfrm>
            <a:off x="6263640" y="1508760"/>
            <a:ext cx="2286000" cy="411480"/>
          </a:xfrm>
          <a:prstGeom prst="roundRect">
            <a:avLst>
              <a:gd name="adj" fmla="val 22222"/>
            </a:avLst>
          </a:prstGeom>
          <a:solidFill>
            <a:srgbClr val="4CC9F0"/>
          </a:solidFill>
          <a:ln w="6350">
            <a:solidFill>
              <a:srgbClr val="4CC9F0"/>
            </a:solidFill>
            <a:prstDash val="solid"/>
          </a:ln>
        </p:spPr>
      </p:sp>
      <p:sp>
        <p:nvSpPr>
          <p:cNvPr id="17" name="Text 14"/>
          <p:cNvSpPr txBox="1"/>
          <p:nvPr/>
        </p:nvSpPr>
        <p:spPr>
          <a:xfrm>
            <a:off x="6355080" y="1508760"/>
            <a:ext cx="2103120" cy="411480"/>
          </a:xfrm>
          <a:prstGeom prst="rect">
            <a:avLst/>
          </a:prstGeom>
          <a:noFill/>
          <a:ln/>
        </p:spPr>
        <p:txBody>
          <a:bodyPr wrap="square" lIns="0" tIns="0" rIns="0" bIns="0" rtlCol="0" anchor="ctr"/>
          <a:lstStyle/>
          <a:p>
            <a:pPr marL="0" indent="0" algn="ctr">
              <a:buNone/>
            </a:pPr>
            <a:r>
              <a:rPr lang="en-US" sz="1200" b="1" dirty="0">
                <a:solidFill>
                  <a:srgbClr val="0E1537"/>
                </a:solidFill>
                <a:latin typeface="Cambria" pitchFamily="34" charset="0"/>
                <a:ea typeface="Cambria" pitchFamily="34" charset="-122"/>
                <a:cs typeface="Cambria" pitchFamily="34" charset="-120"/>
              </a:rPr>
              <a:t>QUALITY · what extent?</a:t>
            </a:r>
            <a:endParaRPr lang="en-US" sz="1200" dirty="0"/>
          </a:p>
        </p:txBody>
      </p:sp>
      <p:sp>
        <p:nvSpPr>
          <p:cNvPr id="18" name="Text 15"/>
          <p:cNvSpPr txBox="1"/>
          <p:nvPr/>
        </p:nvSpPr>
        <p:spPr>
          <a:xfrm>
            <a:off x="6309360" y="2148840"/>
            <a:ext cx="2240280" cy="91440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The ISS was </a:t>
            </a:r>
            <a:r>
              <a:rPr lang="en-US" sz="1500" b="1" dirty="0">
                <a:solidFill>
                  <a:srgbClr val="7B5CE0"/>
                </a:solidFill>
                <a:latin typeface="Calibri" pitchFamily="34" charset="0"/>
                <a:ea typeface="Calibri" pitchFamily="34" charset="-122"/>
                <a:cs typeface="Calibri" pitchFamily="34" charset="-120"/>
              </a:rPr>
              <a:t>almost finished</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19" name="Text 16"/>
          <p:cNvSpPr txBox="1"/>
          <p:nvPr/>
        </p:nvSpPr>
        <p:spPr>
          <a:xfrm>
            <a:off x="6309360" y="3246120"/>
            <a:ext cx="2240280" cy="91440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The telescope worked </a:t>
            </a:r>
            <a:r>
              <a:rPr lang="en-US" sz="1500" b="1" dirty="0">
                <a:solidFill>
                  <a:srgbClr val="7B5CE0"/>
                </a:solidFill>
                <a:latin typeface="Calibri" pitchFamily="34" charset="0"/>
                <a:ea typeface="Calibri" pitchFamily="34" charset="-122"/>
                <a:cs typeface="Calibri" pitchFamily="34" charset="-120"/>
              </a:rPr>
              <a:t>extremely well</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Build a sentence step by step</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Each new piece answers a question.</a:t>
            </a:r>
            <a:endParaRPr lang="en-US" sz="1300" dirty="0"/>
          </a:p>
        </p:txBody>
      </p:sp>
      <p:sp>
        <p:nvSpPr>
          <p:cNvPr id="5" name="Shape 2"/>
          <p:cNvSpPr/>
          <p:nvPr/>
        </p:nvSpPr>
        <p:spPr>
          <a:xfrm>
            <a:off x="457200" y="141732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527048"/>
            <a:ext cx="1371600" cy="420624"/>
          </a:xfrm>
          <a:prstGeom prst="roundRect">
            <a:avLst>
              <a:gd name="adj" fmla="val 21739"/>
            </a:avLst>
          </a:prstGeom>
          <a:solidFill>
            <a:srgbClr val="3A3F85"/>
          </a:solidFill>
          <a:ln w="6350">
            <a:solidFill>
              <a:srgbClr val="3A3F85"/>
            </a:solidFill>
            <a:prstDash val="solid"/>
          </a:ln>
        </p:spPr>
      </p:sp>
      <p:sp>
        <p:nvSpPr>
          <p:cNvPr id="7" name="Text 4"/>
          <p:cNvSpPr txBox="1"/>
          <p:nvPr/>
        </p:nvSpPr>
        <p:spPr>
          <a:xfrm>
            <a:off x="685800" y="1527048"/>
            <a:ext cx="118872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Start</a:t>
            </a:r>
            <a:endParaRPr lang="en-US" sz="1400" dirty="0"/>
          </a:p>
        </p:txBody>
      </p:sp>
      <p:sp>
        <p:nvSpPr>
          <p:cNvPr id="8" name="Text 5"/>
          <p:cNvSpPr txBox="1"/>
          <p:nvPr/>
        </p:nvSpPr>
        <p:spPr>
          <a:xfrm>
            <a:off x="2194560" y="1417320"/>
            <a:ext cx="6309360" cy="64008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The astronauts landed.</a:t>
            </a:r>
            <a:endParaRPr lang="en-US" sz="1800" dirty="0"/>
          </a:p>
        </p:txBody>
      </p:sp>
      <p:sp>
        <p:nvSpPr>
          <p:cNvPr id="9" name="Shape 6"/>
          <p:cNvSpPr/>
          <p:nvPr/>
        </p:nvSpPr>
        <p:spPr>
          <a:xfrm>
            <a:off x="457200" y="219456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304288"/>
            <a:ext cx="1371600" cy="420624"/>
          </a:xfrm>
          <a:prstGeom prst="roundRect">
            <a:avLst>
              <a:gd name="adj" fmla="val 21739"/>
            </a:avLst>
          </a:prstGeom>
          <a:solidFill>
            <a:srgbClr val="2EC4B6"/>
          </a:solidFill>
          <a:ln w="6350">
            <a:solidFill>
              <a:srgbClr val="2EC4B6"/>
            </a:solidFill>
            <a:prstDash val="solid"/>
          </a:ln>
        </p:spPr>
      </p:sp>
      <p:sp>
        <p:nvSpPr>
          <p:cNvPr id="11" name="Text 8"/>
          <p:cNvSpPr txBox="1"/>
          <p:nvPr/>
        </p:nvSpPr>
        <p:spPr>
          <a:xfrm>
            <a:off x="685800" y="2304288"/>
            <a:ext cx="1188720" cy="42062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 place</a:t>
            </a:r>
            <a:endParaRPr lang="en-US" sz="1400" dirty="0"/>
          </a:p>
        </p:txBody>
      </p:sp>
      <p:sp>
        <p:nvSpPr>
          <p:cNvPr id="12" name="Text 9"/>
          <p:cNvSpPr txBox="1"/>
          <p:nvPr/>
        </p:nvSpPr>
        <p:spPr>
          <a:xfrm>
            <a:off x="2194560" y="2194560"/>
            <a:ext cx="6309360" cy="64008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The astronauts landed </a:t>
            </a:r>
            <a:r>
              <a:rPr lang="en-US" sz="1800" b="1" dirty="0">
                <a:solidFill>
                  <a:srgbClr val="7B5CE0"/>
                </a:solidFill>
                <a:latin typeface="Calibri" pitchFamily="34" charset="0"/>
                <a:ea typeface="Calibri" pitchFamily="34" charset="-122"/>
                <a:cs typeface="Calibri" pitchFamily="34" charset="-120"/>
              </a:rPr>
              <a:t>on the moon</a:t>
            </a:r>
            <a:r>
              <a:rPr lang="en-US" sz="1800" dirty="0">
                <a:solidFill>
                  <a:srgbClr val="0E1537"/>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457200" y="297180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3081528"/>
            <a:ext cx="1371600" cy="420624"/>
          </a:xfrm>
          <a:prstGeom prst="roundRect">
            <a:avLst>
              <a:gd name="adj" fmla="val 21739"/>
            </a:avLst>
          </a:prstGeom>
          <a:solidFill>
            <a:srgbClr val="FF8A3D"/>
          </a:solidFill>
          <a:ln w="6350">
            <a:solidFill>
              <a:srgbClr val="FF8A3D"/>
            </a:solidFill>
            <a:prstDash val="solid"/>
          </a:ln>
        </p:spPr>
      </p:sp>
      <p:sp>
        <p:nvSpPr>
          <p:cNvPr id="15" name="Text 12"/>
          <p:cNvSpPr txBox="1"/>
          <p:nvPr/>
        </p:nvSpPr>
        <p:spPr>
          <a:xfrm>
            <a:off x="685800" y="3081528"/>
            <a:ext cx="1188720" cy="42062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 time</a:t>
            </a:r>
            <a:endParaRPr lang="en-US" sz="1400" dirty="0"/>
          </a:p>
        </p:txBody>
      </p:sp>
      <p:sp>
        <p:nvSpPr>
          <p:cNvPr id="16" name="Text 13"/>
          <p:cNvSpPr txBox="1"/>
          <p:nvPr/>
        </p:nvSpPr>
        <p:spPr>
          <a:xfrm>
            <a:off x="2194560" y="2971800"/>
            <a:ext cx="6309360" cy="640080"/>
          </a:xfrm>
          <a:prstGeom prst="rect">
            <a:avLst/>
          </a:prstGeom>
          <a:noFill/>
          <a:ln/>
        </p:spPr>
        <p:txBody>
          <a:bodyPr wrap="square" lIns="0" tIns="0" rIns="0" bIns="0" rtlCol="0" anchor="ctr"/>
          <a:lstStyle/>
          <a:p>
            <a:pPr marL="0" indent="0">
              <a:buNone/>
            </a:pPr>
            <a:r>
              <a:rPr lang="en-US" sz="1800" b="1" dirty="0">
                <a:solidFill>
                  <a:srgbClr val="7B5CE0"/>
                </a:solidFill>
                <a:latin typeface="Calibri" pitchFamily="34" charset="0"/>
                <a:ea typeface="Calibri" pitchFamily="34" charset="-122"/>
                <a:cs typeface="Calibri" pitchFamily="34" charset="-120"/>
              </a:rPr>
              <a:t>In 1969</a:t>
            </a:r>
            <a:r>
              <a:rPr lang="en-US" sz="1800" dirty="0">
                <a:solidFill>
                  <a:srgbClr val="0E1537"/>
                </a:solidFill>
                <a:latin typeface="Calibri" pitchFamily="34" charset="0"/>
                <a:ea typeface="Calibri" pitchFamily="34" charset="-122"/>
                <a:cs typeface="Calibri" pitchFamily="34" charset="-120"/>
              </a:rPr>
              <a:t>, the astronauts landed on the moon.</a:t>
            </a:r>
            <a:endParaRPr lang="en-US" sz="1800" dirty="0"/>
          </a:p>
        </p:txBody>
      </p:sp>
      <p:sp>
        <p:nvSpPr>
          <p:cNvPr id="17" name="Shape 14"/>
          <p:cNvSpPr/>
          <p:nvPr/>
        </p:nvSpPr>
        <p:spPr>
          <a:xfrm>
            <a:off x="457200" y="374904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858768"/>
            <a:ext cx="1371600" cy="420624"/>
          </a:xfrm>
          <a:prstGeom prst="roundRect">
            <a:avLst>
              <a:gd name="adj" fmla="val 21739"/>
            </a:avLst>
          </a:prstGeom>
          <a:solidFill>
            <a:srgbClr val="FF6B8B"/>
          </a:solidFill>
          <a:ln w="6350">
            <a:solidFill>
              <a:srgbClr val="FF6B8B"/>
            </a:solidFill>
            <a:prstDash val="solid"/>
          </a:ln>
        </p:spPr>
      </p:sp>
      <p:sp>
        <p:nvSpPr>
          <p:cNvPr id="19" name="Text 16"/>
          <p:cNvSpPr txBox="1"/>
          <p:nvPr/>
        </p:nvSpPr>
        <p:spPr>
          <a:xfrm>
            <a:off x="685800" y="3858768"/>
            <a:ext cx="1188720" cy="42062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 manner</a:t>
            </a:r>
            <a:endParaRPr lang="en-US" sz="1400" dirty="0"/>
          </a:p>
        </p:txBody>
      </p:sp>
      <p:sp>
        <p:nvSpPr>
          <p:cNvPr id="20" name="Text 17"/>
          <p:cNvSpPr txBox="1"/>
          <p:nvPr/>
        </p:nvSpPr>
        <p:spPr>
          <a:xfrm>
            <a:off x="2194560" y="3749040"/>
            <a:ext cx="6309360" cy="64008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In 1969, the astronauts landed </a:t>
            </a:r>
            <a:r>
              <a:rPr lang="en-US" sz="1800" b="1" dirty="0">
                <a:solidFill>
                  <a:srgbClr val="7B5CE0"/>
                </a:solidFill>
                <a:latin typeface="Calibri" pitchFamily="34" charset="0"/>
                <a:ea typeface="Calibri" pitchFamily="34" charset="-122"/>
                <a:cs typeface="Calibri" pitchFamily="34" charset="-120"/>
              </a:rPr>
              <a:t>safely</a:t>
            </a:r>
            <a:r>
              <a:rPr lang="en-US" sz="1800" dirty="0">
                <a:solidFill>
                  <a:srgbClr val="0E1537"/>
                </a:solidFill>
                <a:latin typeface="Calibri" pitchFamily="34" charset="0"/>
                <a:ea typeface="Calibri" pitchFamily="34" charset="-122"/>
                <a:cs typeface="Calibri" pitchFamily="34" charset="-120"/>
              </a:rPr>
              <a:t> on the moon.</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Move the adverbial</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Textbook writing tip: you can start or end a sentence with an adverbial.</a:t>
            </a:r>
            <a:endParaRPr lang="en-US" sz="1300" dirty="0"/>
          </a:p>
        </p:txBody>
      </p:sp>
      <p:sp>
        <p:nvSpPr>
          <p:cNvPr id="5" name="Shape 2"/>
          <p:cNvSpPr/>
          <p:nvPr/>
        </p:nvSpPr>
        <p:spPr>
          <a:xfrm>
            <a:off x="457200" y="1371600"/>
            <a:ext cx="4023360" cy="1737360"/>
          </a:xfrm>
          <a:prstGeom prst="roundRect">
            <a:avLst>
              <a:gd name="adj" fmla="val 42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40080" y="1463040"/>
            <a:ext cx="3657600" cy="274320"/>
          </a:xfrm>
          <a:prstGeom prst="rect">
            <a:avLst/>
          </a:prstGeom>
          <a:noFill/>
          <a:ln/>
        </p:spPr>
        <p:txBody>
          <a:bodyPr wrap="square" lIns="0" tIns="0" rIns="0" bIns="0" rtlCol="0" anchor="t"/>
          <a:lstStyle/>
          <a:p>
            <a:pPr marL="0" indent="0">
              <a:buNone/>
            </a:pPr>
            <a:r>
              <a:rPr lang="en-US" sz="1200" b="1" dirty="0">
                <a:solidFill>
                  <a:srgbClr val="3A3F85"/>
                </a:solidFill>
                <a:latin typeface="Calibri" pitchFamily="34" charset="0"/>
                <a:ea typeface="Calibri" pitchFamily="34" charset="-122"/>
                <a:cs typeface="Calibri" pitchFamily="34" charset="-120"/>
              </a:rPr>
              <a:t>AT THE START</a:t>
            </a:r>
            <a:endParaRPr lang="en-US" sz="1200" dirty="0"/>
          </a:p>
        </p:txBody>
      </p:sp>
      <p:sp>
        <p:nvSpPr>
          <p:cNvPr id="7" name="Text 4"/>
          <p:cNvSpPr txBox="1"/>
          <p:nvPr/>
        </p:nvSpPr>
        <p:spPr>
          <a:xfrm>
            <a:off x="640080" y="1828800"/>
            <a:ext cx="3657600" cy="731520"/>
          </a:xfrm>
          <a:prstGeom prst="rect">
            <a:avLst/>
          </a:prstGeom>
          <a:noFill/>
          <a:ln/>
        </p:spPr>
        <p:txBody>
          <a:bodyPr wrap="square" lIns="0" tIns="0" rIns="0" bIns="0" rtlCol="0" anchor="t"/>
          <a:lstStyle/>
          <a:p>
            <a:pPr marL="0" indent="0">
              <a:buNone/>
            </a:pPr>
            <a:r>
              <a:rPr lang="en-US" sz="1800" b="1" dirty="0">
                <a:solidFill>
                  <a:srgbClr val="FF8A3D"/>
                </a:solidFill>
                <a:latin typeface="Calibri" pitchFamily="34" charset="0"/>
                <a:ea typeface="Calibri" pitchFamily="34" charset="-122"/>
                <a:cs typeface="Calibri" pitchFamily="34" charset="-120"/>
              </a:rPr>
              <a:t>In 1969,</a:t>
            </a:r>
            <a:r>
              <a:rPr lang="en-US" sz="1800" dirty="0">
                <a:solidFill>
                  <a:srgbClr val="0E1537"/>
                </a:solidFill>
                <a:latin typeface="Calibri" pitchFamily="34" charset="0"/>
                <a:ea typeface="Calibri" pitchFamily="34" charset="-122"/>
                <a:cs typeface="Calibri" pitchFamily="34" charset="-120"/>
              </a:rPr>
              <a:t> astronauts walked on the moon.</a:t>
            </a:r>
            <a:endParaRPr lang="en-US" sz="1800" dirty="0"/>
          </a:p>
        </p:txBody>
      </p:sp>
      <p:sp>
        <p:nvSpPr>
          <p:cNvPr id="8" name="Text 5"/>
          <p:cNvSpPr txBox="1"/>
          <p:nvPr/>
        </p:nvSpPr>
        <p:spPr>
          <a:xfrm>
            <a:off x="640080" y="2606040"/>
            <a:ext cx="3657600" cy="365760"/>
          </a:xfrm>
          <a:prstGeom prst="rect">
            <a:avLst/>
          </a:prstGeom>
          <a:noFill/>
          <a:ln/>
        </p:spPr>
        <p:txBody>
          <a:bodyPr wrap="square" lIns="0" tIns="0" rIns="0" bIns="0" rtlCol="0" anchor="t"/>
          <a:lstStyle/>
          <a:p>
            <a:pPr marL="0" indent="0">
              <a:buNone/>
            </a:pPr>
            <a:r>
              <a:rPr lang="en-US" sz="1400" i="1" dirty="0">
                <a:solidFill>
                  <a:srgbClr val="3A3F85"/>
                </a:solidFill>
                <a:latin typeface="Calibri" pitchFamily="34" charset="0"/>
                <a:ea typeface="Calibri" pitchFamily="34" charset="-122"/>
                <a:cs typeface="Calibri" pitchFamily="34" charset="-120"/>
              </a:rPr>
              <a:t>Add a comma after it.</a:t>
            </a:r>
            <a:endParaRPr lang="en-US" sz="1400" dirty="0"/>
          </a:p>
        </p:txBody>
      </p:sp>
      <p:sp>
        <p:nvSpPr>
          <p:cNvPr id="9" name="Shape 6"/>
          <p:cNvSpPr/>
          <p:nvPr/>
        </p:nvSpPr>
        <p:spPr>
          <a:xfrm>
            <a:off x="4663440" y="1371600"/>
            <a:ext cx="4023360" cy="1737360"/>
          </a:xfrm>
          <a:prstGeom prst="roundRect">
            <a:avLst>
              <a:gd name="adj" fmla="val 42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Text 7"/>
          <p:cNvSpPr txBox="1"/>
          <p:nvPr/>
        </p:nvSpPr>
        <p:spPr>
          <a:xfrm>
            <a:off x="4846320" y="1463040"/>
            <a:ext cx="3657600" cy="274320"/>
          </a:xfrm>
          <a:prstGeom prst="rect">
            <a:avLst/>
          </a:prstGeom>
          <a:noFill/>
          <a:ln/>
        </p:spPr>
        <p:txBody>
          <a:bodyPr wrap="square" lIns="0" tIns="0" rIns="0" bIns="0" rtlCol="0" anchor="t"/>
          <a:lstStyle/>
          <a:p>
            <a:pPr marL="0" indent="0">
              <a:buNone/>
            </a:pPr>
            <a:r>
              <a:rPr lang="en-US" sz="1200" b="1" dirty="0">
                <a:solidFill>
                  <a:srgbClr val="3A3F85"/>
                </a:solidFill>
                <a:latin typeface="Calibri" pitchFamily="34" charset="0"/>
                <a:ea typeface="Calibri" pitchFamily="34" charset="-122"/>
                <a:cs typeface="Calibri" pitchFamily="34" charset="-120"/>
              </a:rPr>
              <a:t>AT THE END</a:t>
            </a:r>
            <a:endParaRPr lang="en-US" sz="1200" dirty="0"/>
          </a:p>
        </p:txBody>
      </p:sp>
      <p:sp>
        <p:nvSpPr>
          <p:cNvPr id="11" name="Text 8"/>
          <p:cNvSpPr txBox="1"/>
          <p:nvPr/>
        </p:nvSpPr>
        <p:spPr>
          <a:xfrm>
            <a:off x="4846320" y="1828800"/>
            <a:ext cx="3657600" cy="731520"/>
          </a:xfrm>
          <a:prstGeom prst="rect">
            <a:avLst/>
          </a:prstGeom>
          <a:noFill/>
          <a:ln/>
        </p:spPr>
        <p:txBody>
          <a:bodyPr wrap="square" lIns="0" tIns="0" rIns="0" bIns="0" rtlCol="0" anchor="t"/>
          <a:lstStyle/>
          <a:p>
            <a:pPr marL="0" indent="0">
              <a:buNone/>
            </a:pPr>
            <a:r>
              <a:rPr lang="en-US" sz="1800" dirty="0">
                <a:solidFill>
                  <a:srgbClr val="0E1537"/>
                </a:solidFill>
                <a:latin typeface="Calibri" pitchFamily="34" charset="0"/>
                <a:ea typeface="Calibri" pitchFamily="34" charset="-122"/>
                <a:cs typeface="Calibri" pitchFamily="34" charset="-120"/>
              </a:rPr>
              <a:t>Astronauts walked on the moon </a:t>
            </a:r>
            <a:r>
              <a:rPr lang="en-US" sz="1800" b="1" dirty="0">
                <a:solidFill>
                  <a:srgbClr val="7B5CE0"/>
                </a:solidFill>
                <a:latin typeface="Calibri" pitchFamily="34" charset="0"/>
                <a:ea typeface="Calibri" pitchFamily="34" charset="-122"/>
                <a:cs typeface="Calibri" pitchFamily="34" charset="-120"/>
              </a:rPr>
              <a:t>in 1969</a:t>
            </a:r>
            <a:r>
              <a:rPr lang="en-US" sz="1800" dirty="0">
                <a:solidFill>
                  <a:srgbClr val="0E1537"/>
                </a:solidFill>
                <a:latin typeface="Calibri" pitchFamily="34" charset="0"/>
                <a:ea typeface="Calibri" pitchFamily="34" charset="-122"/>
                <a:cs typeface="Calibri" pitchFamily="34" charset="-120"/>
              </a:rPr>
              <a:t>.</a:t>
            </a:r>
            <a:endParaRPr lang="en-US" sz="1800" dirty="0"/>
          </a:p>
        </p:txBody>
      </p:sp>
      <p:sp>
        <p:nvSpPr>
          <p:cNvPr id="12" name="Text 9"/>
          <p:cNvSpPr txBox="1"/>
          <p:nvPr/>
        </p:nvSpPr>
        <p:spPr>
          <a:xfrm>
            <a:off x="4846320" y="2606040"/>
            <a:ext cx="3657600" cy="365760"/>
          </a:xfrm>
          <a:prstGeom prst="rect">
            <a:avLst/>
          </a:prstGeom>
          <a:noFill/>
          <a:ln/>
        </p:spPr>
        <p:txBody>
          <a:bodyPr wrap="square" lIns="0" tIns="0" rIns="0" bIns="0" rtlCol="0" anchor="t"/>
          <a:lstStyle/>
          <a:p>
            <a:pPr marL="0" indent="0">
              <a:buNone/>
            </a:pPr>
            <a:r>
              <a:rPr lang="en-US" sz="1400" i="1" dirty="0">
                <a:solidFill>
                  <a:srgbClr val="3A3F85"/>
                </a:solidFill>
                <a:latin typeface="Calibri" pitchFamily="34" charset="0"/>
                <a:ea typeface="Calibri" pitchFamily="34" charset="-122"/>
                <a:cs typeface="Calibri" pitchFamily="34" charset="-120"/>
              </a:rPr>
              <a:t>Usually no comma needed.</a:t>
            </a:r>
            <a:endParaRPr lang="en-US" sz="1400" dirty="0"/>
          </a:p>
        </p:txBody>
      </p:sp>
      <p:sp>
        <p:nvSpPr>
          <p:cNvPr id="13" name="Shape 10"/>
          <p:cNvSpPr/>
          <p:nvPr/>
        </p:nvSpPr>
        <p:spPr>
          <a:xfrm>
            <a:off x="457200" y="3337560"/>
            <a:ext cx="8229600" cy="502920"/>
          </a:xfrm>
          <a:prstGeom prst="roundRect">
            <a:avLst>
              <a:gd name="adj" fmla="val 14545"/>
            </a:avLst>
          </a:prstGeom>
          <a:solidFill>
            <a:srgbClr val="FFD166"/>
          </a:solidFill>
          <a:ln w="6350">
            <a:solidFill>
              <a:srgbClr val="FFD166"/>
            </a:solidFill>
            <a:prstDash val="solid"/>
          </a:ln>
        </p:spPr>
      </p:sp>
      <p:sp>
        <p:nvSpPr>
          <p:cNvPr id="14" name="Text 11"/>
          <p:cNvSpPr txBox="1"/>
          <p:nvPr/>
        </p:nvSpPr>
        <p:spPr>
          <a:xfrm>
            <a:off x="640080" y="3337560"/>
            <a:ext cx="7863840" cy="502920"/>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Say it another way: ‘At last, the ISS was ready.’</a:t>
            </a:r>
            <a:endParaRPr lang="en-US" sz="1600" dirty="0"/>
          </a:p>
        </p:txBody>
      </p:sp>
      <p:sp>
        <p:nvSpPr>
          <p:cNvPr id="15" name="Shape 12"/>
          <p:cNvSpPr/>
          <p:nvPr/>
        </p:nvSpPr>
        <p:spPr>
          <a:xfrm>
            <a:off x="457200" y="3977640"/>
            <a:ext cx="8229600" cy="502920"/>
          </a:xfrm>
          <a:prstGeom prst="roundRect">
            <a:avLst>
              <a:gd name="adj" fmla="val 14545"/>
            </a:avLst>
          </a:prstGeom>
          <a:solidFill>
            <a:srgbClr val="7B5CE0"/>
          </a:solidFill>
          <a:ln w="6350">
            <a:solidFill>
              <a:srgbClr val="7B5CE0"/>
            </a:solidFill>
            <a:prstDash val="solid"/>
          </a:ln>
        </p:spPr>
      </p:sp>
      <p:sp>
        <p:nvSpPr>
          <p:cNvPr id="16" name="Text 13"/>
          <p:cNvSpPr txBox="1"/>
          <p:nvPr/>
        </p:nvSpPr>
        <p:spPr>
          <a:xfrm>
            <a:off x="640080" y="397764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PAIR CHECK → Where did the comma go? Why?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Careful: the comma</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Is the sentence punctuated correctly?</a:t>
            </a:r>
            <a:endParaRPr lang="en-US" sz="1300" dirty="0"/>
          </a:p>
        </p:txBody>
      </p:sp>
      <p:sp>
        <p:nvSpPr>
          <p:cNvPr id="5" name="Shape 2"/>
          <p:cNvSpPr/>
          <p:nvPr/>
        </p:nvSpPr>
        <p:spPr>
          <a:xfrm>
            <a:off x="457200" y="1417320"/>
            <a:ext cx="8229600" cy="731520"/>
          </a:xfrm>
          <a:prstGeom prst="roundRect">
            <a:avLst>
              <a:gd name="adj" fmla="val 10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85800" y="1417320"/>
            <a:ext cx="5394960" cy="73152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In 1969, astronauts walked on the moon.</a:t>
            </a:r>
            <a:endParaRPr lang="en-US" sz="1800" dirty="0"/>
          </a:p>
        </p:txBody>
      </p:sp>
      <p:sp>
        <p:nvSpPr>
          <p:cNvPr id="7" name="Shape 4"/>
          <p:cNvSpPr/>
          <p:nvPr/>
        </p:nvSpPr>
        <p:spPr>
          <a:xfrm>
            <a:off x="6309360" y="1554480"/>
            <a:ext cx="2194560" cy="457200"/>
          </a:xfrm>
          <a:prstGeom prst="roundRect">
            <a:avLst>
              <a:gd name="adj" fmla="val 20000"/>
            </a:avLst>
          </a:prstGeom>
          <a:solidFill>
            <a:srgbClr val="2EC4B6"/>
          </a:solidFill>
          <a:ln w="6350">
            <a:solidFill>
              <a:srgbClr val="2EC4B6"/>
            </a:solidFill>
            <a:prstDash val="solid"/>
          </a:ln>
        </p:spPr>
      </p:sp>
      <p:sp>
        <p:nvSpPr>
          <p:cNvPr id="8" name="Text 5"/>
          <p:cNvSpPr txBox="1"/>
          <p:nvPr/>
        </p:nvSpPr>
        <p:spPr>
          <a:xfrm>
            <a:off x="6400800" y="1554480"/>
            <a:ext cx="2011680" cy="45720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Correct</a:t>
            </a:r>
            <a:endParaRPr lang="en-US" sz="1400" dirty="0"/>
          </a:p>
        </p:txBody>
      </p:sp>
      <p:sp>
        <p:nvSpPr>
          <p:cNvPr id="9" name="Shape 6"/>
          <p:cNvSpPr/>
          <p:nvPr/>
        </p:nvSpPr>
        <p:spPr>
          <a:xfrm>
            <a:off x="457200" y="2286000"/>
            <a:ext cx="8229600" cy="731520"/>
          </a:xfrm>
          <a:prstGeom prst="roundRect">
            <a:avLst>
              <a:gd name="adj" fmla="val 10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Text 7"/>
          <p:cNvSpPr txBox="1"/>
          <p:nvPr/>
        </p:nvSpPr>
        <p:spPr>
          <a:xfrm>
            <a:off x="685800" y="2286000"/>
            <a:ext cx="5394960" cy="73152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In 1969 astronauts walked on the moon.</a:t>
            </a:r>
            <a:endParaRPr lang="en-US" sz="1800" dirty="0"/>
          </a:p>
        </p:txBody>
      </p:sp>
      <p:sp>
        <p:nvSpPr>
          <p:cNvPr id="11" name="Shape 8"/>
          <p:cNvSpPr/>
          <p:nvPr/>
        </p:nvSpPr>
        <p:spPr>
          <a:xfrm>
            <a:off x="6309360" y="2423160"/>
            <a:ext cx="2194560" cy="457200"/>
          </a:xfrm>
          <a:prstGeom prst="roundRect">
            <a:avLst>
              <a:gd name="adj" fmla="val 20000"/>
            </a:avLst>
          </a:prstGeom>
          <a:solidFill>
            <a:srgbClr val="FF6B8B"/>
          </a:solidFill>
          <a:ln w="6350">
            <a:solidFill>
              <a:srgbClr val="FF6B8B"/>
            </a:solidFill>
            <a:prstDash val="solid"/>
          </a:ln>
        </p:spPr>
      </p:sp>
      <p:sp>
        <p:nvSpPr>
          <p:cNvPr id="12" name="Text 9"/>
          <p:cNvSpPr txBox="1"/>
          <p:nvPr/>
        </p:nvSpPr>
        <p:spPr>
          <a:xfrm>
            <a:off x="6400800" y="2423160"/>
            <a:ext cx="2011680" cy="45720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Comma missing</a:t>
            </a:r>
            <a:endParaRPr lang="en-US" sz="1400" dirty="0"/>
          </a:p>
        </p:txBody>
      </p:sp>
      <p:sp>
        <p:nvSpPr>
          <p:cNvPr id="13" name="Shape 10"/>
          <p:cNvSpPr/>
          <p:nvPr/>
        </p:nvSpPr>
        <p:spPr>
          <a:xfrm>
            <a:off x="457200" y="3154680"/>
            <a:ext cx="8229600" cy="731520"/>
          </a:xfrm>
          <a:prstGeom prst="roundRect">
            <a:avLst>
              <a:gd name="adj" fmla="val 10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Text 11"/>
          <p:cNvSpPr txBox="1"/>
          <p:nvPr/>
        </p:nvSpPr>
        <p:spPr>
          <a:xfrm>
            <a:off x="685800" y="3154680"/>
            <a:ext cx="5394960" cy="731520"/>
          </a:xfrm>
          <a:prstGeom prst="rect">
            <a:avLst/>
          </a:prstGeom>
          <a:noFill/>
          <a:ln/>
        </p:spPr>
        <p:txBody>
          <a:bodyPr wrap="square" lIns="0" tIns="0" rIns="0" bIns="0" rtlCol="0" anchor="ctr"/>
          <a:lstStyle/>
          <a:p>
            <a:pPr marL="0" indent="0">
              <a:buNone/>
            </a:pPr>
            <a:r>
              <a:rPr lang="en-US" sz="1800" dirty="0">
                <a:solidFill>
                  <a:srgbClr val="0E1537"/>
                </a:solidFill>
                <a:latin typeface="Calibri" pitchFamily="34" charset="0"/>
                <a:ea typeface="Calibri" pitchFamily="34" charset="-122"/>
                <a:cs typeface="Calibri" pitchFamily="34" charset="-120"/>
              </a:rPr>
              <a:t>Astronauts walked on the moon, in 1969.</a:t>
            </a:r>
            <a:endParaRPr lang="en-US" sz="1800" dirty="0"/>
          </a:p>
        </p:txBody>
      </p:sp>
      <p:sp>
        <p:nvSpPr>
          <p:cNvPr id="15" name="Shape 12"/>
          <p:cNvSpPr/>
          <p:nvPr/>
        </p:nvSpPr>
        <p:spPr>
          <a:xfrm>
            <a:off x="6309360" y="3291840"/>
            <a:ext cx="2194560" cy="457200"/>
          </a:xfrm>
          <a:prstGeom prst="roundRect">
            <a:avLst>
              <a:gd name="adj" fmla="val 20000"/>
            </a:avLst>
          </a:prstGeom>
          <a:solidFill>
            <a:srgbClr val="FF6B8B"/>
          </a:solidFill>
          <a:ln w="6350">
            <a:solidFill>
              <a:srgbClr val="FF6B8B"/>
            </a:solidFill>
            <a:prstDash val="solid"/>
          </a:ln>
        </p:spPr>
      </p:sp>
      <p:sp>
        <p:nvSpPr>
          <p:cNvPr id="16" name="Text 13"/>
          <p:cNvSpPr txBox="1"/>
          <p:nvPr/>
        </p:nvSpPr>
        <p:spPr>
          <a:xfrm>
            <a:off x="6400800" y="3291840"/>
            <a:ext cx="2011680" cy="45720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Comma not needed</a:t>
            </a:r>
            <a:endParaRPr lang="en-US" sz="1400" dirty="0"/>
          </a:p>
        </p:txBody>
      </p:sp>
      <p:sp>
        <p:nvSpPr>
          <p:cNvPr id="17" name="Shape 14"/>
          <p:cNvSpPr/>
          <p:nvPr/>
        </p:nvSpPr>
        <p:spPr>
          <a:xfrm>
            <a:off x="457200" y="4069080"/>
            <a:ext cx="8229600" cy="457200"/>
          </a:xfrm>
          <a:prstGeom prst="roundRect">
            <a:avLst>
              <a:gd name="adj" fmla="val 16000"/>
            </a:avLst>
          </a:prstGeom>
          <a:solidFill>
            <a:srgbClr val="FFD166"/>
          </a:solidFill>
          <a:ln w="6350">
            <a:solidFill>
              <a:srgbClr val="FFD166"/>
            </a:solidFill>
            <a:prstDash val="solid"/>
          </a:ln>
        </p:spPr>
      </p:sp>
      <p:sp>
        <p:nvSpPr>
          <p:cNvPr id="18" name="Text 15"/>
          <p:cNvSpPr txBox="1"/>
          <p:nvPr/>
        </p:nvSpPr>
        <p:spPr>
          <a:xfrm>
            <a:off x="640080" y="4069080"/>
            <a:ext cx="7863840" cy="457200"/>
          </a:xfrm>
          <a:prstGeom prst="rect">
            <a:avLst/>
          </a:prstGeom>
          <a:noFill/>
          <a:ln/>
        </p:spPr>
        <p:txBody>
          <a:bodyPr wrap="square" lIns="0" tIns="0" rIns="0" bIns="0" rtlCol="0" anchor="ctr"/>
          <a:lstStyle/>
          <a:p>
            <a:pPr marL="0" indent="0">
              <a:buNone/>
            </a:pPr>
            <a:r>
              <a:rPr lang="en-US" sz="1500" b="1" dirty="0">
                <a:solidFill>
                  <a:srgbClr val="0E1537"/>
                </a:solidFill>
                <a:latin typeface="Calibri" pitchFamily="34" charset="0"/>
                <a:ea typeface="Calibri" pitchFamily="34" charset="-122"/>
                <a:cs typeface="Calibri" pitchFamily="34" charset="-120"/>
              </a:rPr>
              <a:t>Rule: adverbial at the start → comma after it.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Choose the adverbial of time</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Choose the correct answer.</a:t>
            </a:r>
            <a:endParaRPr lang="en-US" sz="1300" dirty="0"/>
          </a:p>
        </p:txBody>
      </p:sp>
      <p:sp>
        <p:nvSpPr>
          <p:cNvPr id="5" name="Text 2"/>
          <p:cNvSpPr txBox="1"/>
          <p:nvPr/>
        </p:nvSpPr>
        <p:spPr>
          <a:xfrm>
            <a:off x="457200" y="1325880"/>
            <a:ext cx="8229600" cy="365760"/>
          </a:xfrm>
          <a:prstGeom prst="rect">
            <a:avLst/>
          </a:prstGeom>
          <a:noFill/>
          <a:ln/>
        </p:spPr>
        <p:txBody>
          <a:bodyPr wrap="square" lIns="0" tIns="0" rIns="0" bIns="0" rtlCol="0" anchor="t"/>
          <a:lstStyle/>
          <a:p>
            <a:pPr marL="0" indent="0">
              <a:buNone/>
            </a:pPr>
            <a:r>
              <a:rPr lang="en-US" sz="1800" b="1" dirty="0">
                <a:solidFill>
                  <a:srgbClr val="0E1537"/>
                </a:solidFill>
                <a:latin typeface="Calibri" pitchFamily="34" charset="0"/>
                <a:ea typeface="Calibri" pitchFamily="34" charset="-122"/>
                <a:cs typeface="Calibri" pitchFamily="34" charset="-120"/>
              </a:rPr>
              <a:t>Which sentence has an adverbial of time?</a:t>
            </a:r>
            <a:endParaRPr lang="en-US" sz="1800" dirty="0"/>
          </a:p>
        </p:txBody>
      </p:sp>
      <p:sp>
        <p:nvSpPr>
          <p:cNvPr id="6" name="Shape 3"/>
          <p:cNvSpPr/>
          <p:nvPr/>
        </p:nvSpPr>
        <p:spPr>
          <a:xfrm>
            <a:off x="457200" y="182880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7" name="Shape 4"/>
          <p:cNvSpPr/>
          <p:nvPr/>
        </p:nvSpPr>
        <p:spPr>
          <a:xfrm>
            <a:off x="594360" y="2103120"/>
            <a:ext cx="411480" cy="411480"/>
          </a:xfrm>
          <a:prstGeom prst="ellipse">
            <a:avLst/>
          </a:prstGeom>
          <a:solidFill>
            <a:srgbClr val="FF8A3D"/>
          </a:solidFill>
          <a:ln w="6350">
            <a:solidFill>
              <a:srgbClr val="FF8A3D"/>
            </a:solidFill>
            <a:prstDash val="solid"/>
          </a:ln>
        </p:spPr>
      </p:sp>
      <p:sp>
        <p:nvSpPr>
          <p:cNvPr id="8" name="Text 5"/>
          <p:cNvSpPr txBox="1"/>
          <p:nvPr/>
        </p:nvSpPr>
        <p:spPr>
          <a:xfrm>
            <a:off x="594360" y="2103120"/>
            <a:ext cx="411480" cy="4114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A</a:t>
            </a:r>
            <a:endParaRPr lang="en-US" sz="1400" dirty="0"/>
          </a:p>
        </p:txBody>
      </p:sp>
      <p:sp>
        <p:nvSpPr>
          <p:cNvPr id="9" name="Text 6"/>
          <p:cNvSpPr txBox="1"/>
          <p:nvPr/>
        </p:nvSpPr>
        <p:spPr>
          <a:xfrm>
            <a:off x="1143000" y="182880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The rocket launched quickly.</a:t>
            </a:r>
            <a:endParaRPr lang="en-US" sz="1500" dirty="0"/>
          </a:p>
        </p:txBody>
      </p:sp>
      <p:sp>
        <p:nvSpPr>
          <p:cNvPr id="10" name="Shape 7"/>
          <p:cNvSpPr/>
          <p:nvPr/>
        </p:nvSpPr>
        <p:spPr>
          <a:xfrm>
            <a:off x="4663440" y="182880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1" name="Shape 8"/>
          <p:cNvSpPr/>
          <p:nvPr/>
        </p:nvSpPr>
        <p:spPr>
          <a:xfrm>
            <a:off x="4800600" y="2103120"/>
            <a:ext cx="411480" cy="411480"/>
          </a:xfrm>
          <a:prstGeom prst="ellipse">
            <a:avLst/>
          </a:prstGeom>
          <a:solidFill>
            <a:srgbClr val="2EC4B6"/>
          </a:solidFill>
          <a:ln w="6350">
            <a:solidFill>
              <a:srgbClr val="2EC4B6"/>
            </a:solidFill>
            <a:prstDash val="solid"/>
          </a:ln>
        </p:spPr>
      </p:sp>
      <p:sp>
        <p:nvSpPr>
          <p:cNvPr id="12" name="Text 9"/>
          <p:cNvSpPr txBox="1"/>
          <p:nvPr/>
        </p:nvSpPr>
        <p:spPr>
          <a:xfrm>
            <a:off x="4800600" y="2103120"/>
            <a:ext cx="411480" cy="4114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B</a:t>
            </a:r>
            <a:endParaRPr lang="en-US" sz="1400" dirty="0"/>
          </a:p>
        </p:txBody>
      </p:sp>
      <p:sp>
        <p:nvSpPr>
          <p:cNvPr id="13" name="Text 10"/>
          <p:cNvSpPr txBox="1"/>
          <p:nvPr/>
        </p:nvSpPr>
        <p:spPr>
          <a:xfrm>
            <a:off x="5349240" y="182880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In 1957, the USSR launched Sputnik I.</a:t>
            </a:r>
            <a:endParaRPr lang="en-US" sz="1500" dirty="0"/>
          </a:p>
        </p:txBody>
      </p:sp>
      <p:sp>
        <p:nvSpPr>
          <p:cNvPr id="14" name="Shape 11"/>
          <p:cNvSpPr/>
          <p:nvPr/>
        </p:nvSpPr>
        <p:spPr>
          <a:xfrm>
            <a:off x="457200" y="292608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5" name="Shape 12"/>
          <p:cNvSpPr/>
          <p:nvPr/>
        </p:nvSpPr>
        <p:spPr>
          <a:xfrm>
            <a:off x="594360" y="3200400"/>
            <a:ext cx="411480" cy="411480"/>
          </a:xfrm>
          <a:prstGeom prst="ellipse">
            <a:avLst/>
          </a:prstGeom>
          <a:solidFill>
            <a:srgbClr val="FF6B8B"/>
          </a:solidFill>
          <a:ln w="6350">
            <a:solidFill>
              <a:srgbClr val="FF6B8B"/>
            </a:solidFill>
            <a:prstDash val="solid"/>
          </a:ln>
        </p:spPr>
      </p:sp>
      <p:sp>
        <p:nvSpPr>
          <p:cNvPr id="16" name="Text 13"/>
          <p:cNvSpPr txBox="1"/>
          <p:nvPr/>
        </p:nvSpPr>
        <p:spPr>
          <a:xfrm>
            <a:off x="594360" y="3200400"/>
            <a:ext cx="411480" cy="4114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C</a:t>
            </a:r>
            <a:endParaRPr lang="en-US" sz="1400" dirty="0"/>
          </a:p>
        </p:txBody>
      </p:sp>
      <p:sp>
        <p:nvSpPr>
          <p:cNvPr id="17" name="Text 14"/>
          <p:cNvSpPr txBox="1"/>
          <p:nvPr/>
        </p:nvSpPr>
        <p:spPr>
          <a:xfrm>
            <a:off x="1143000" y="292608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The satellite orbits above the Earth.</a:t>
            </a:r>
            <a:endParaRPr lang="en-US" sz="1500" dirty="0"/>
          </a:p>
        </p:txBody>
      </p:sp>
      <p:sp>
        <p:nvSpPr>
          <p:cNvPr id="18" name="Shape 15"/>
          <p:cNvSpPr/>
          <p:nvPr/>
        </p:nvSpPr>
        <p:spPr>
          <a:xfrm>
            <a:off x="4663440" y="292608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9" name="Shape 16"/>
          <p:cNvSpPr/>
          <p:nvPr/>
        </p:nvSpPr>
        <p:spPr>
          <a:xfrm>
            <a:off x="4800600" y="3200400"/>
            <a:ext cx="411480" cy="411480"/>
          </a:xfrm>
          <a:prstGeom prst="ellipse">
            <a:avLst/>
          </a:prstGeom>
          <a:solidFill>
            <a:srgbClr val="7B5CE0"/>
          </a:solidFill>
          <a:ln w="6350">
            <a:solidFill>
              <a:srgbClr val="7B5CE0"/>
            </a:solidFill>
            <a:prstDash val="solid"/>
          </a:ln>
        </p:spPr>
      </p:sp>
      <p:sp>
        <p:nvSpPr>
          <p:cNvPr id="20" name="Text 17"/>
          <p:cNvSpPr txBox="1"/>
          <p:nvPr/>
        </p:nvSpPr>
        <p:spPr>
          <a:xfrm>
            <a:off x="4800600" y="3200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21" name="Text 18"/>
          <p:cNvSpPr txBox="1"/>
          <p:nvPr/>
        </p:nvSpPr>
        <p:spPr>
          <a:xfrm>
            <a:off x="5349240" y="292608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With great care, the crew opened the hatch.</a:t>
            </a:r>
            <a:endParaRPr lang="en-US" sz="1500" dirty="0"/>
          </a:p>
        </p:txBody>
      </p:sp>
      <p:sp>
        <p:nvSpPr>
          <p:cNvPr id="22" name="Shape 19"/>
          <p:cNvSpPr/>
          <p:nvPr/>
        </p:nvSpPr>
        <p:spPr>
          <a:xfrm>
            <a:off x="457200" y="4069080"/>
            <a:ext cx="8229600" cy="457200"/>
          </a:xfrm>
          <a:prstGeom prst="roundRect">
            <a:avLst>
              <a:gd name="adj" fmla="val 16000"/>
            </a:avLst>
          </a:prstGeom>
          <a:solidFill>
            <a:srgbClr val="FFD166"/>
          </a:solidFill>
          <a:ln w="6350">
            <a:solidFill>
              <a:srgbClr val="FFD166"/>
            </a:solidFill>
            <a:prstDash val="solid"/>
          </a:ln>
        </p:spPr>
      </p:sp>
      <p:sp>
        <p:nvSpPr>
          <p:cNvPr id="23" name="Text 20"/>
          <p:cNvSpPr txBox="1"/>
          <p:nvPr/>
        </p:nvSpPr>
        <p:spPr>
          <a:xfrm>
            <a:off x="640080" y="4069080"/>
            <a:ext cx="7863840" cy="45720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Think: which part answers the question ‘when?’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Answer: the adverbial of time</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Answer B</a:t>
            </a:r>
            <a:endParaRPr lang="en-US" sz="1300" dirty="0"/>
          </a:p>
        </p:txBody>
      </p:sp>
      <p:sp>
        <p:nvSpPr>
          <p:cNvPr id="5" name="Shape 2"/>
          <p:cNvSpPr/>
          <p:nvPr/>
        </p:nvSpPr>
        <p:spPr>
          <a:xfrm>
            <a:off x="457200" y="1371600"/>
            <a:ext cx="8229600" cy="868680"/>
          </a:xfrm>
          <a:prstGeom prst="roundRect">
            <a:avLst>
              <a:gd name="adj" fmla="val 842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640080" y="1572768"/>
            <a:ext cx="457200" cy="457200"/>
          </a:xfrm>
          <a:prstGeom prst="ellipse">
            <a:avLst/>
          </a:prstGeom>
          <a:solidFill>
            <a:srgbClr val="2EC4B6"/>
          </a:solidFill>
          <a:ln w="6350">
            <a:solidFill>
              <a:srgbClr val="2EC4B6"/>
            </a:solidFill>
            <a:prstDash val="solid"/>
          </a:ln>
        </p:spPr>
      </p:sp>
      <p:sp>
        <p:nvSpPr>
          <p:cNvPr id="7" name="Text 4"/>
          <p:cNvSpPr txBox="1"/>
          <p:nvPr/>
        </p:nvSpPr>
        <p:spPr>
          <a:xfrm>
            <a:off x="640080" y="1572768"/>
            <a:ext cx="457200" cy="45720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B</a:t>
            </a:r>
            <a:endParaRPr lang="en-US" sz="2000" dirty="0"/>
          </a:p>
        </p:txBody>
      </p:sp>
      <p:sp>
        <p:nvSpPr>
          <p:cNvPr id="8" name="Text 5"/>
          <p:cNvSpPr txBox="1"/>
          <p:nvPr/>
        </p:nvSpPr>
        <p:spPr>
          <a:xfrm>
            <a:off x="1325880" y="1371600"/>
            <a:ext cx="7132320" cy="868680"/>
          </a:xfrm>
          <a:prstGeom prst="rect">
            <a:avLst/>
          </a:prstGeom>
          <a:noFill/>
          <a:ln/>
        </p:spPr>
        <p:txBody>
          <a:bodyPr wrap="square" lIns="0" tIns="0" rIns="0" bIns="0" rtlCol="0" anchor="ctr"/>
          <a:lstStyle/>
          <a:p>
            <a:pPr marL="0" indent="0">
              <a:buNone/>
            </a:pPr>
            <a:r>
              <a:rPr lang="en-US" sz="1700" b="1" dirty="0">
                <a:solidFill>
                  <a:srgbClr val="0E1537"/>
                </a:solidFill>
                <a:latin typeface="Calibri" pitchFamily="34" charset="0"/>
                <a:ea typeface="Calibri" pitchFamily="34" charset="-122"/>
                <a:cs typeface="Calibri" pitchFamily="34" charset="-120"/>
              </a:rPr>
              <a:t>In 1957, the USSR launched Sputnik I.</a:t>
            </a:r>
            <a:endParaRPr lang="en-US" sz="1700" dirty="0"/>
          </a:p>
        </p:txBody>
      </p:sp>
      <p:sp>
        <p:nvSpPr>
          <p:cNvPr id="9" name="Shape 6"/>
          <p:cNvSpPr/>
          <p:nvPr/>
        </p:nvSpPr>
        <p:spPr>
          <a:xfrm>
            <a:off x="457200" y="2423160"/>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Text 7"/>
          <p:cNvSpPr txBox="1"/>
          <p:nvPr/>
        </p:nvSpPr>
        <p:spPr>
          <a:xfrm>
            <a:off x="640080" y="2423160"/>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A</a:t>
            </a:r>
            <a:endParaRPr lang="en-US" sz="1400" dirty="0"/>
          </a:p>
        </p:txBody>
      </p:sp>
      <p:sp>
        <p:nvSpPr>
          <p:cNvPr id="11" name="Text 8"/>
          <p:cNvSpPr txBox="1"/>
          <p:nvPr/>
        </p:nvSpPr>
        <p:spPr>
          <a:xfrm>
            <a:off x="1097280" y="2423160"/>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‘quickly’ tells us how: manner (and it is a single adverb).</a:t>
            </a:r>
            <a:endParaRPr lang="en-US" sz="1400" dirty="0"/>
          </a:p>
        </p:txBody>
      </p:sp>
      <p:sp>
        <p:nvSpPr>
          <p:cNvPr id="12" name="Shape 9"/>
          <p:cNvSpPr/>
          <p:nvPr/>
        </p:nvSpPr>
        <p:spPr>
          <a:xfrm>
            <a:off x="457200" y="2990088"/>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3" name="Text 10"/>
          <p:cNvSpPr txBox="1"/>
          <p:nvPr/>
        </p:nvSpPr>
        <p:spPr>
          <a:xfrm>
            <a:off x="640080" y="2990088"/>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1097280" y="2990088"/>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‘In 1957’ tells us when: time.</a:t>
            </a:r>
            <a:endParaRPr lang="en-US" sz="1400" dirty="0"/>
          </a:p>
        </p:txBody>
      </p:sp>
      <p:sp>
        <p:nvSpPr>
          <p:cNvPr id="15" name="Shape 12"/>
          <p:cNvSpPr/>
          <p:nvPr/>
        </p:nvSpPr>
        <p:spPr>
          <a:xfrm>
            <a:off x="457200" y="3557016"/>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6" name="Text 13"/>
          <p:cNvSpPr txBox="1"/>
          <p:nvPr/>
        </p:nvSpPr>
        <p:spPr>
          <a:xfrm>
            <a:off x="640080" y="3557016"/>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C</a:t>
            </a:r>
            <a:endParaRPr lang="en-US" sz="1400" dirty="0"/>
          </a:p>
        </p:txBody>
      </p:sp>
      <p:sp>
        <p:nvSpPr>
          <p:cNvPr id="17" name="Text 14"/>
          <p:cNvSpPr txBox="1"/>
          <p:nvPr/>
        </p:nvSpPr>
        <p:spPr>
          <a:xfrm>
            <a:off x="1097280" y="3557016"/>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‘above the Earth’ tells us where: place.</a:t>
            </a:r>
            <a:endParaRPr lang="en-US" sz="1400" dirty="0"/>
          </a:p>
        </p:txBody>
      </p:sp>
      <p:sp>
        <p:nvSpPr>
          <p:cNvPr id="18" name="Shape 15"/>
          <p:cNvSpPr/>
          <p:nvPr/>
        </p:nvSpPr>
        <p:spPr>
          <a:xfrm>
            <a:off x="457200" y="4123944"/>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9" name="Text 16"/>
          <p:cNvSpPr txBox="1"/>
          <p:nvPr/>
        </p:nvSpPr>
        <p:spPr>
          <a:xfrm>
            <a:off x="640080" y="4123944"/>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D</a:t>
            </a:r>
            <a:endParaRPr lang="en-US" sz="1400" dirty="0"/>
          </a:p>
        </p:txBody>
      </p:sp>
      <p:sp>
        <p:nvSpPr>
          <p:cNvPr id="20" name="Text 17"/>
          <p:cNvSpPr txBox="1"/>
          <p:nvPr/>
        </p:nvSpPr>
        <p:spPr>
          <a:xfrm>
            <a:off x="1097280" y="4123944"/>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‘With great care’ tells us how: manner.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Choose the correct punctuation</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Choose the correct answer.</a:t>
            </a:r>
            <a:endParaRPr lang="en-US" sz="1300" dirty="0"/>
          </a:p>
        </p:txBody>
      </p:sp>
      <p:sp>
        <p:nvSpPr>
          <p:cNvPr id="5" name="Text 2"/>
          <p:cNvSpPr txBox="1"/>
          <p:nvPr/>
        </p:nvSpPr>
        <p:spPr>
          <a:xfrm>
            <a:off x="457200" y="1325880"/>
            <a:ext cx="8229600" cy="365760"/>
          </a:xfrm>
          <a:prstGeom prst="rect">
            <a:avLst/>
          </a:prstGeom>
          <a:noFill/>
          <a:ln/>
        </p:spPr>
        <p:txBody>
          <a:bodyPr wrap="square" lIns="0" tIns="0" rIns="0" bIns="0" rtlCol="0" anchor="t"/>
          <a:lstStyle/>
          <a:p>
            <a:pPr marL="0" indent="0">
              <a:buNone/>
            </a:pPr>
            <a:r>
              <a:rPr lang="en-US" sz="1800" b="1" dirty="0">
                <a:solidFill>
                  <a:srgbClr val="0E1537"/>
                </a:solidFill>
                <a:latin typeface="Calibri" pitchFamily="34" charset="0"/>
                <a:ea typeface="Calibri" pitchFamily="34" charset="-122"/>
                <a:cs typeface="Calibri" pitchFamily="34" charset="-120"/>
              </a:rPr>
              <a:t>Which sentence is punctuated correctly?</a:t>
            </a:r>
            <a:endParaRPr lang="en-US" sz="1800" dirty="0"/>
          </a:p>
        </p:txBody>
      </p:sp>
      <p:sp>
        <p:nvSpPr>
          <p:cNvPr id="6" name="Shape 3"/>
          <p:cNvSpPr/>
          <p:nvPr/>
        </p:nvSpPr>
        <p:spPr>
          <a:xfrm>
            <a:off x="457200" y="182880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7" name="Shape 4"/>
          <p:cNvSpPr/>
          <p:nvPr/>
        </p:nvSpPr>
        <p:spPr>
          <a:xfrm>
            <a:off x="594360" y="2103120"/>
            <a:ext cx="411480" cy="411480"/>
          </a:xfrm>
          <a:prstGeom prst="ellipse">
            <a:avLst/>
          </a:prstGeom>
          <a:solidFill>
            <a:srgbClr val="FF8A3D"/>
          </a:solidFill>
          <a:ln w="6350">
            <a:solidFill>
              <a:srgbClr val="FF8A3D"/>
            </a:solidFill>
            <a:prstDash val="solid"/>
          </a:ln>
        </p:spPr>
      </p:sp>
      <p:sp>
        <p:nvSpPr>
          <p:cNvPr id="8" name="Text 5"/>
          <p:cNvSpPr txBox="1"/>
          <p:nvPr/>
        </p:nvSpPr>
        <p:spPr>
          <a:xfrm>
            <a:off x="594360" y="2103120"/>
            <a:ext cx="411480" cy="4114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A</a:t>
            </a:r>
            <a:endParaRPr lang="en-US" sz="1400" dirty="0"/>
          </a:p>
        </p:txBody>
      </p:sp>
      <p:sp>
        <p:nvSpPr>
          <p:cNvPr id="9" name="Text 6"/>
          <p:cNvSpPr txBox="1"/>
          <p:nvPr/>
        </p:nvSpPr>
        <p:spPr>
          <a:xfrm>
            <a:off x="1143000" y="182880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At last the ISS was ready.</a:t>
            </a:r>
            <a:endParaRPr lang="en-US" sz="1500" dirty="0"/>
          </a:p>
        </p:txBody>
      </p:sp>
      <p:sp>
        <p:nvSpPr>
          <p:cNvPr id="10" name="Shape 7"/>
          <p:cNvSpPr/>
          <p:nvPr/>
        </p:nvSpPr>
        <p:spPr>
          <a:xfrm>
            <a:off x="4663440" y="182880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1" name="Shape 8"/>
          <p:cNvSpPr/>
          <p:nvPr/>
        </p:nvSpPr>
        <p:spPr>
          <a:xfrm>
            <a:off x="4800600" y="2103120"/>
            <a:ext cx="411480" cy="411480"/>
          </a:xfrm>
          <a:prstGeom prst="ellipse">
            <a:avLst/>
          </a:prstGeom>
          <a:solidFill>
            <a:srgbClr val="2EC4B6"/>
          </a:solidFill>
          <a:ln w="6350">
            <a:solidFill>
              <a:srgbClr val="2EC4B6"/>
            </a:solidFill>
            <a:prstDash val="solid"/>
          </a:ln>
        </p:spPr>
      </p:sp>
      <p:sp>
        <p:nvSpPr>
          <p:cNvPr id="12" name="Text 9"/>
          <p:cNvSpPr txBox="1"/>
          <p:nvPr/>
        </p:nvSpPr>
        <p:spPr>
          <a:xfrm>
            <a:off x="4800600" y="2103120"/>
            <a:ext cx="411480" cy="4114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B</a:t>
            </a:r>
            <a:endParaRPr lang="en-US" sz="1400" dirty="0"/>
          </a:p>
        </p:txBody>
      </p:sp>
      <p:sp>
        <p:nvSpPr>
          <p:cNvPr id="13" name="Text 10"/>
          <p:cNvSpPr txBox="1"/>
          <p:nvPr/>
        </p:nvSpPr>
        <p:spPr>
          <a:xfrm>
            <a:off x="5349240" y="182880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At last, the ISS was ready.</a:t>
            </a:r>
            <a:endParaRPr lang="en-US" sz="1500" dirty="0"/>
          </a:p>
        </p:txBody>
      </p:sp>
      <p:sp>
        <p:nvSpPr>
          <p:cNvPr id="14" name="Shape 11"/>
          <p:cNvSpPr/>
          <p:nvPr/>
        </p:nvSpPr>
        <p:spPr>
          <a:xfrm>
            <a:off x="457200" y="292608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5" name="Shape 12"/>
          <p:cNvSpPr/>
          <p:nvPr/>
        </p:nvSpPr>
        <p:spPr>
          <a:xfrm>
            <a:off x="594360" y="3200400"/>
            <a:ext cx="411480" cy="411480"/>
          </a:xfrm>
          <a:prstGeom prst="ellipse">
            <a:avLst/>
          </a:prstGeom>
          <a:solidFill>
            <a:srgbClr val="FF6B8B"/>
          </a:solidFill>
          <a:ln w="6350">
            <a:solidFill>
              <a:srgbClr val="FF6B8B"/>
            </a:solidFill>
            <a:prstDash val="solid"/>
          </a:ln>
        </p:spPr>
      </p:sp>
      <p:sp>
        <p:nvSpPr>
          <p:cNvPr id="16" name="Text 13"/>
          <p:cNvSpPr txBox="1"/>
          <p:nvPr/>
        </p:nvSpPr>
        <p:spPr>
          <a:xfrm>
            <a:off x="594360" y="3200400"/>
            <a:ext cx="411480" cy="4114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C</a:t>
            </a:r>
            <a:endParaRPr lang="en-US" sz="1400" dirty="0"/>
          </a:p>
        </p:txBody>
      </p:sp>
      <p:sp>
        <p:nvSpPr>
          <p:cNvPr id="17" name="Text 14"/>
          <p:cNvSpPr txBox="1"/>
          <p:nvPr/>
        </p:nvSpPr>
        <p:spPr>
          <a:xfrm>
            <a:off x="1143000" y="292608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At last, the ISS, was ready.</a:t>
            </a:r>
            <a:endParaRPr lang="en-US" sz="1500" dirty="0"/>
          </a:p>
        </p:txBody>
      </p:sp>
      <p:sp>
        <p:nvSpPr>
          <p:cNvPr id="18" name="Shape 15"/>
          <p:cNvSpPr/>
          <p:nvPr/>
        </p:nvSpPr>
        <p:spPr>
          <a:xfrm>
            <a:off x="4663440" y="2926080"/>
            <a:ext cx="4023360" cy="960120"/>
          </a:xfrm>
          <a:prstGeom prst="roundRect">
            <a:avLst>
              <a:gd name="adj" fmla="val 761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9" name="Shape 16"/>
          <p:cNvSpPr/>
          <p:nvPr/>
        </p:nvSpPr>
        <p:spPr>
          <a:xfrm>
            <a:off x="4800600" y="3200400"/>
            <a:ext cx="411480" cy="411480"/>
          </a:xfrm>
          <a:prstGeom prst="ellipse">
            <a:avLst/>
          </a:prstGeom>
          <a:solidFill>
            <a:srgbClr val="7B5CE0"/>
          </a:solidFill>
          <a:ln w="6350">
            <a:solidFill>
              <a:srgbClr val="7B5CE0"/>
            </a:solidFill>
            <a:prstDash val="solid"/>
          </a:ln>
        </p:spPr>
      </p:sp>
      <p:sp>
        <p:nvSpPr>
          <p:cNvPr id="20" name="Text 17"/>
          <p:cNvSpPr txBox="1"/>
          <p:nvPr/>
        </p:nvSpPr>
        <p:spPr>
          <a:xfrm>
            <a:off x="4800600" y="3200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21" name="Text 18"/>
          <p:cNvSpPr txBox="1"/>
          <p:nvPr/>
        </p:nvSpPr>
        <p:spPr>
          <a:xfrm>
            <a:off x="5349240" y="2926080"/>
            <a:ext cx="3200400" cy="9601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At last, the, ISS was ready.</a:t>
            </a:r>
            <a:endParaRPr lang="en-US" sz="1500" dirty="0"/>
          </a:p>
        </p:txBody>
      </p:sp>
      <p:sp>
        <p:nvSpPr>
          <p:cNvPr id="22" name="Shape 19"/>
          <p:cNvSpPr/>
          <p:nvPr/>
        </p:nvSpPr>
        <p:spPr>
          <a:xfrm>
            <a:off x="457200" y="4069080"/>
            <a:ext cx="8229600" cy="457200"/>
          </a:xfrm>
          <a:prstGeom prst="roundRect">
            <a:avLst>
              <a:gd name="adj" fmla="val 16000"/>
            </a:avLst>
          </a:prstGeom>
          <a:solidFill>
            <a:srgbClr val="FFD166"/>
          </a:solidFill>
          <a:ln w="6350">
            <a:solidFill>
              <a:srgbClr val="FFD166"/>
            </a:solidFill>
            <a:prstDash val="solid"/>
          </a:ln>
        </p:spPr>
      </p:sp>
      <p:sp>
        <p:nvSpPr>
          <p:cNvPr id="23" name="Text 20"/>
          <p:cNvSpPr txBox="1"/>
          <p:nvPr/>
        </p:nvSpPr>
        <p:spPr>
          <a:xfrm>
            <a:off x="640080" y="4069080"/>
            <a:ext cx="7863840" cy="45720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Think: where does the adverbial end?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Answer: the correct punctuation</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Answer B</a:t>
            </a:r>
            <a:endParaRPr lang="en-US" sz="1300" dirty="0"/>
          </a:p>
        </p:txBody>
      </p:sp>
      <p:sp>
        <p:nvSpPr>
          <p:cNvPr id="5" name="Shape 2"/>
          <p:cNvSpPr/>
          <p:nvPr/>
        </p:nvSpPr>
        <p:spPr>
          <a:xfrm>
            <a:off x="457200" y="1371600"/>
            <a:ext cx="8229600" cy="868680"/>
          </a:xfrm>
          <a:prstGeom prst="roundRect">
            <a:avLst>
              <a:gd name="adj" fmla="val 842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640080" y="1572768"/>
            <a:ext cx="457200" cy="457200"/>
          </a:xfrm>
          <a:prstGeom prst="ellipse">
            <a:avLst/>
          </a:prstGeom>
          <a:solidFill>
            <a:srgbClr val="2EC4B6"/>
          </a:solidFill>
          <a:ln w="6350">
            <a:solidFill>
              <a:srgbClr val="2EC4B6"/>
            </a:solidFill>
            <a:prstDash val="solid"/>
          </a:ln>
        </p:spPr>
      </p:sp>
      <p:sp>
        <p:nvSpPr>
          <p:cNvPr id="7" name="Text 4"/>
          <p:cNvSpPr txBox="1"/>
          <p:nvPr/>
        </p:nvSpPr>
        <p:spPr>
          <a:xfrm>
            <a:off x="640080" y="1572768"/>
            <a:ext cx="457200" cy="45720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B</a:t>
            </a:r>
            <a:endParaRPr lang="en-US" sz="2000" dirty="0"/>
          </a:p>
        </p:txBody>
      </p:sp>
      <p:sp>
        <p:nvSpPr>
          <p:cNvPr id="8" name="Text 5"/>
          <p:cNvSpPr txBox="1"/>
          <p:nvPr/>
        </p:nvSpPr>
        <p:spPr>
          <a:xfrm>
            <a:off x="1325880" y="1371600"/>
            <a:ext cx="7132320" cy="868680"/>
          </a:xfrm>
          <a:prstGeom prst="rect">
            <a:avLst/>
          </a:prstGeom>
          <a:noFill/>
          <a:ln/>
        </p:spPr>
        <p:txBody>
          <a:bodyPr wrap="square" lIns="0" tIns="0" rIns="0" bIns="0" rtlCol="0" anchor="ctr"/>
          <a:lstStyle/>
          <a:p>
            <a:pPr marL="0" indent="0">
              <a:buNone/>
            </a:pPr>
            <a:r>
              <a:rPr lang="en-US" sz="1700" b="1" dirty="0">
                <a:solidFill>
                  <a:srgbClr val="0E1537"/>
                </a:solidFill>
                <a:latin typeface="Calibri" pitchFamily="34" charset="0"/>
                <a:ea typeface="Calibri" pitchFamily="34" charset="-122"/>
                <a:cs typeface="Calibri" pitchFamily="34" charset="-120"/>
              </a:rPr>
              <a:t>At last, the ISS was ready.</a:t>
            </a:r>
            <a:endParaRPr lang="en-US" sz="1700" dirty="0"/>
          </a:p>
        </p:txBody>
      </p:sp>
      <p:sp>
        <p:nvSpPr>
          <p:cNvPr id="9" name="Shape 6"/>
          <p:cNvSpPr/>
          <p:nvPr/>
        </p:nvSpPr>
        <p:spPr>
          <a:xfrm>
            <a:off x="457200" y="2423160"/>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Text 7"/>
          <p:cNvSpPr txBox="1"/>
          <p:nvPr/>
        </p:nvSpPr>
        <p:spPr>
          <a:xfrm>
            <a:off x="640080" y="2423160"/>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A</a:t>
            </a:r>
            <a:endParaRPr lang="en-US" sz="1400" dirty="0"/>
          </a:p>
        </p:txBody>
      </p:sp>
      <p:sp>
        <p:nvSpPr>
          <p:cNvPr id="11" name="Text 8"/>
          <p:cNvSpPr txBox="1"/>
          <p:nvPr/>
        </p:nvSpPr>
        <p:spPr>
          <a:xfrm>
            <a:off x="1097280" y="2423160"/>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no comma after the adverbial at the start.</a:t>
            </a:r>
            <a:endParaRPr lang="en-US" sz="1400" dirty="0"/>
          </a:p>
        </p:txBody>
      </p:sp>
      <p:sp>
        <p:nvSpPr>
          <p:cNvPr id="12" name="Shape 9"/>
          <p:cNvSpPr/>
          <p:nvPr/>
        </p:nvSpPr>
        <p:spPr>
          <a:xfrm>
            <a:off x="457200" y="2990088"/>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3" name="Text 10"/>
          <p:cNvSpPr txBox="1"/>
          <p:nvPr/>
        </p:nvSpPr>
        <p:spPr>
          <a:xfrm>
            <a:off x="640080" y="2990088"/>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1097280" y="2990088"/>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one comma, straight after ‘At last’.</a:t>
            </a:r>
            <a:endParaRPr lang="en-US" sz="1400" dirty="0"/>
          </a:p>
        </p:txBody>
      </p:sp>
      <p:sp>
        <p:nvSpPr>
          <p:cNvPr id="15" name="Shape 12"/>
          <p:cNvSpPr/>
          <p:nvPr/>
        </p:nvSpPr>
        <p:spPr>
          <a:xfrm>
            <a:off x="457200" y="3557016"/>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6" name="Text 13"/>
          <p:cNvSpPr txBox="1"/>
          <p:nvPr/>
        </p:nvSpPr>
        <p:spPr>
          <a:xfrm>
            <a:off x="640080" y="3557016"/>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C</a:t>
            </a:r>
            <a:endParaRPr lang="en-US" sz="1400" dirty="0"/>
          </a:p>
        </p:txBody>
      </p:sp>
      <p:sp>
        <p:nvSpPr>
          <p:cNvPr id="17" name="Text 14"/>
          <p:cNvSpPr txBox="1"/>
          <p:nvPr/>
        </p:nvSpPr>
        <p:spPr>
          <a:xfrm>
            <a:off x="1097280" y="3557016"/>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an extra comma splits the subject from its verb.</a:t>
            </a:r>
            <a:endParaRPr lang="en-US" sz="1400" dirty="0"/>
          </a:p>
        </p:txBody>
      </p:sp>
      <p:sp>
        <p:nvSpPr>
          <p:cNvPr id="18" name="Shape 15"/>
          <p:cNvSpPr/>
          <p:nvPr/>
        </p:nvSpPr>
        <p:spPr>
          <a:xfrm>
            <a:off x="457200" y="4123944"/>
            <a:ext cx="8229600" cy="475488"/>
          </a:xfrm>
          <a:prstGeom prst="roundRect">
            <a:avLst>
              <a:gd name="adj" fmla="val 1538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9" name="Text 16"/>
          <p:cNvSpPr txBox="1"/>
          <p:nvPr/>
        </p:nvSpPr>
        <p:spPr>
          <a:xfrm>
            <a:off x="640080" y="4123944"/>
            <a:ext cx="365760" cy="475488"/>
          </a:xfrm>
          <a:prstGeom prst="rect">
            <a:avLst/>
          </a:prstGeom>
          <a:noFill/>
          <a:ln/>
        </p:spPr>
        <p:txBody>
          <a:bodyPr wrap="square" lIns="0" tIns="0" rIns="0" bIns="0" rtlCol="0" anchor="ctr"/>
          <a:lstStyle/>
          <a:p>
            <a:pPr marL="0" indent="0">
              <a:buNone/>
            </a:pPr>
            <a:r>
              <a:rPr lang="en-US" sz="1400" b="1" dirty="0">
                <a:solidFill>
                  <a:srgbClr val="3A3F85"/>
                </a:solidFill>
                <a:latin typeface="Calibri" pitchFamily="34" charset="0"/>
                <a:ea typeface="Calibri" pitchFamily="34" charset="-122"/>
                <a:cs typeface="Calibri" pitchFamily="34" charset="-120"/>
              </a:rPr>
              <a:t>D</a:t>
            </a:r>
            <a:endParaRPr lang="en-US" sz="1400" dirty="0"/>
          </a:p>
        </p:txBody>
      </p:sp>
      <p:sp>
        <p:nvSpPr>
          <p:cNvPr id="20" name="Text 17"/>
          <p:cNvSpPr txBox="1"/>
          <p:nvPr/>
        </p:nvSpPr>
        <p:spPr>
          <a:xfrm>
            <a:off x="1097280" y="4123944"/>
            <a:ext cx="7315200" cy="47548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a comma between two words that belong together.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1a: find the adverbials of time</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Activity 1a. Work with a partner. Underline each adverbial of time.</a:t>
            </a:r>
            <a:endParaRPr lang="en-US" sz="1300" dirty="0"/>
          </a:p>
        </p:txBody>
      </p:sp>
      <p:sp>
        <p:nvSpPr>
          <p:cNvPr id="5" name="Shape 2"/>
          <p:cNvSpPr/>
          <p:nvPr/>
        </p:nvSpPr>
        <p:spPr>
          <a:xfrm>
            <a:off x="457200" y="137160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90472"/>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49047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371600"/>
            <a:ext cx="7406640" cy="56692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In 1957, the USSR launched the first artificial satellite, Sputnik I, into space.</a:t>
            </a:r>
            <a:endParaRPr lang="en-US" sz="1400" dirty="0"/>
          </a:p>
        </p:txBody>
      </p:sp>
      <p:sp>
        <p:nvSpPr>
          <p:cNvPr id="9" name="Shape 6"/>
          <p:cNvSpPr/>
          <p:nvPr/>
        </p:nvSpPr>
        <p:spPr>
          <a:xfrm>
            <a:off x="457200" y="201168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130552"/>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13055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2011680"/>
            <a:ext cx="7406640" cy="56692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On 12 April 1961, Russian cosmonaut Yuri Gagarin became the first person in space.</a:t>
            </a:r>
            <a:endParaRPr lang="en-US" sz="1400" dirty="0"/>
          </a:p>
        </p:txBody>
      </p:sp>
      <p:sp>
        <p:nvSpPr>
          <p:cNvPr id="13" name="Shape 10"/>
          <p:cNvSpPr/>
          <p:nvPr/>
        </p:nvSpPr>
        <p:spPr>
          <a:xfrm>
            <a:off x="457200" y="265176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770632"/>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277063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651760"/>
            <a:ext cx="7406640" cy="56692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In 1963, the first woman in space was Russian cosmonaut Valentina Tereshkova.</a:t>
            </a:r>
            <a:endParaRPr lang="en-US" sz="1400" dirty="0"/>
          </a:p>
        </p:txBody>
      </p:sp>
      <p:sp>
        <p:nvSpPr>
          <p:cNvPr id="17" name="Shape 14"/>
          <p:cNvSpPr/>
          <p:nvPr/>
        </p:nvSpPr>
        <p:spPr>
          <a:xfrm>
            <a:off x="457200" y="329184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410712"/>
            <a:ext cx="329184" cy="329184"/>
          </a:xfrm>
          <a:prstGeom prst="ellipse">
            <a:avLst/>
          </a:prstGeom>
          <a:solidFill>
            <a:srgbClr val="7B5CE0"/>
          </a:solidFill>
          <a:ln w="6350">
            <a:solidFill>
              <a:srgbClr val="7B5CE0"/>
            </a:solidFill>
            <a:prstDash val="solid"/>
          </a:ln>
        </p:spPr>
      </p:sp>
      <p:sp>
        <p:nvSpPr>
          <p:cNvPr id="19" name="Text 16"/>
          <p:cNvSpPr txBox="1"/>
          <p:nvPr/>
        </p:nvSpPr>
        <p:spPr>
          <a:xfrm>
            <a:off x="594360" y="341071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097280" y="3291840"/>
            <a:ext cx="7406640" cy="566928"/>
          </a:xfrm>
          <a:prstGeom prst="rect">
            <a:avLst/>
          </a:prstGeom>
          <a:noFill/>
          <a:ln/>
        </p:spPr>
        <p:txBody>
          <a:bodyPr wrap="square" lIns="0" tIns="0" rIns="0" bIns="0" rtlCol="0" anchor="ctr"/>
          <a:lstStyle/>
          <a:p>
            <a:pPr marL="0" indent="0">
              <a:buNone/>
            </a:pPr>
            <a:r>
              <a:rPr lang="en-US" sz="1400" dirty="0">
                <a:solidFill>
                  <a:srgbClr val="0E1537"/>
                </a:solidFill>
                <a:latin typeface="Calibri" pitchFamily="34" charset="0"/>
                <a:ea typeface="Calibri" pitchFamily="34" charset="-122"/>
                <a:cs typeface="Calibri" pitchFamily="34" charset="-120"/>
              </a:rPr>
              <a:t>On 20 July 1969, American astronauts Neil Armstrong and Buzz Aldrin became the first people to walk on the moon.</a:t>
            </a:r>
            <a:endParaRPr lang="en-US" sz="1400" dirty="0"/>
          </a:p>
        </p:txBody>
      </p:sp>
      <p:sp>
        <p:nvSpPr>
          <p:cNvPr id="21" name="Shape 18"/>
          <p:cNvSpPr/>
          <p:nvPr/>
        </p:nvSpPr>
        <p:spPr>
          <a:xfrm>
            <a:off x="457200" y="4114800"/>
            <a:ext cx="8229600" cy="457200"/>
          </a:xfrm>
          <a:prstGeom prst="roundRect">
            <a:avLst>
              <a:gd name="adj" fmla="val 16000"/>
            </a:avLst>
          </a:prstGeom>
          <a:solidFill>
            <a:srgbClr val="FFD166"/>
          </a:solidFill>
          <a:ln w="6350">
            <a:solidFill>
              <a:srgbClr val="FFD166"/>
            </a:solidFill>
            <a:prstDash val="solid"/>
          </a:ln>
        </p:spPr>
      </p:sp>
      <p:sp>
        <p:nvSpPr>
          <p:cNvPr id="22" name="Text 19"/>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Challenge: find two more adverbials of time in the text from session 2.1.</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1a: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The adverbial of time is highlighted.</a:t>
            </a:r>
            <a:endParaRPr lang="en-US" sz="1300" dirty="0"/>
          </a:p>
        </p:txBody>
      </p:sp>
      <p:sp>
        <p:nvSpPr>
          <p:cNvPr id="5" name="Shape 2"/>
          <p:cNvSpPr/>
          <p:nvPr/>
        </p:nvSpPr>
        <p:spPr>
          <a:xfrm>
            <a:off x="457200" y="137160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90472"/>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49047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371600"/>
            <a:ext cx="7406640" cy="566928"/>
          </a:xfrm>
          <a:prstGeom prst="rect">
            <a:avLst/>
          </a:prstGeom>
          <a:noFill/>
          <a:ln/>
        </p:spPr>
        <p:txBody>
          <a:bodyPr wrap="square" lIns="0" tIns="0" rIns="0" bIns="0" rtlCol="0" anchor="ctr"/>
          <a:lstStyle/>
          <a:p>
            <a:pPr marL="0" indent="0">
              <a:buNone/>
            </a:pPr>
            <a:r>
              <a:rPr lang="en-US" sz="1400" b="1" dirty="0">
                <a:solidFill>
                  <a:srgbClr val="7B5CE0"/>
                </a:solidFill>
                <a:latin typeface="Calibri" pitchFamily="34" charset="0"/>
                <a:ea typeface="Calibri" pitchFamily="34" charset="-122"/>
                <a:cs typeface="Calibri" pitchFamily="34" charset="-120"/>
              </a:rPr>
              <a:t>In 1957,</a:t>
            </a:r>
            <a:r>
              <a:rPr lang="en-US" sz="1400" dirty="0">
                <a:solidFill>
                  <a:srgbClr val="0E1537"/>
                </a:solidFill>
                <a:latin typeface="Calibri" pitchFamily="34" charset="0"/>
                <a:ea typeface="Calibri" pitchFamily="34" charset="-122"/>
                <a:cs typeface="Calibri" pitchFamily="34" charset="-120"/>
              </a:rPr>
              <a:t> the USSR launched the first artificial satellite, Sputnik I, into space.</a:t>
            </a:r>
            <a:endParaRPr lang="en-US" sz="1400" dirty="0"/>
          </a:p>
        </p:txBody>
      </p:sp>
      <p:sp>
        <p:nvSpPr>
          <p:cNvPr id="9" name="Shape 6"/>
          <p:cNvSpPr/>
          <p:nvPr/>
        </p:nvSpPr>
        <p:spPr>
          <a:xfrm>
            <a:off x="457200" y="201168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130552"/>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13055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2011680"/>
            <a:ext cx="7406640" cy="566928"/>
          </a:xfrm>
          <a:prstGeom prst="rect">
            <a:avLst/>
          </a:prstGeom>
          <a:noFill/>
          <a:ln/>
        </p:spPr>
        <p:txBody>
          <a:bodyPr wrap="square" lIns="0" tIns="0" rIns="0" bIns="0" rtlCol="0" anchor="ctr"/>
          <a:lstStyle/>
          <a:p>
            <a:pPr marL="0" indent="0">
              <a:buNone/>
            </a:pPr>
            <a:r>
              <a:rPr lang="en-US" sz="1400" b="1" dirty="0">
                <a:solidFill>
                  <a:srgbClr val="7B5CE0"/>
                </a:solidFill>
                <a:latin typeface="Calibri" pitchFamily="34" charset="0"/>
                <a:ea typeface="Calibri" pitchFamily="34" charset="-122"/>
                <a:cs typeface="Calibri" pitchFamily="34" charset="-120"/>
              </a:rPr>
              <a:t>On 12 April 1961,</a:t>
            </a:r>
            <a:r>
              <a:rPr lang="en-US" sz="1400" dirty="0">
                <a:solidFill>
                  <a:srgbClr val="0E1537"/>
                </a:solidFill>
                <a:latin typeface="Calibri" pitchFamily="34" charset="0"/>
                <a:ea typeface="Calibri" pitchFamily="34" charset="-122"/>
                <a:cs typeface="Calibri" pitchFamily="34" charset="-120"/>
              </a:rPr>
              <a:t> Russian cosmonaut Yuri Gagarin became the first person in space.</a:t>
            </a:r>
            <a:endParaRPr lang="en-US" sz="1400" dirty="0"/>
          </a:p>
        </p:txBody>
      </p:sp>
      <p:sp>
        <p:nvSpPr>
          <p:cNvPr id="13" name="Shape 10"/>
          <p:cNvSpPr/>
          <p:nvPr/>
        </p:nvSpPr>
        <p:spPr>
          <a:xfrm>
            <a:off x="457200" y="265176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770632"/>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277063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651760"/>
            <a:ext cx="7406640" cy="566928"/>
          </a:xfrm>
          <a:prstGeom prst="rect">
            <a:avLst/>
          </a:prstGeom>
          <a:noFill/>
          <a:ln/>
        </p:spPr>
        <p:txBody>
          <a:bodyPr wrap="square" lIns="0" tIns="0" rIns="0" bIns="0" rtlCol="0" anchor="ctr"/>
          <a:lstStyle/>
          <a:p>
            <a:pPr marL="0" indent="0">
              <a:buNone/>
            </a:pPr>
            <a:r>
              <a:rPr lang="en-US" sz="1400" b="1" dirty="0">
                <a:solidFill>
                  <a:srgbClr val="7B5CE0"/>
                </a:solidFill>
                <a:latin typeface="Calibri" pitchFamily="34" charset="0"/>
                <a:ea typeface="Calibri" pitchFamily="34" charset="-122"/>
                <a:cs typeface="Calibri" pitchFamily="34" charset="-120"/>
              </a:rPr>
              <a:t>In 1963,</a:t>
            </a:r>
            <a:r>
              <a:rPr lang="en-US" sz="1400" dirty="0">
                <a:solidFill>
                  <a:srgbClr val="0E1537"/>
                </a:solidFill>
                <a:latin typeface="Calibri" pitchFamily="34" charset="0"/>
                <a:ea typeface="Calibri" pitchFamily="34" charset="-122"/>
                <a:cs typeface="Calibri" pitchFamily="34" charset="-120"/>
              </a:rPr>
              <a:t> the first woman in space was Russian cosmonaut Valentina Tereshkova.</a:t>
            </a:r>
            <a:endParaRPr lang="en-US" sz="1400" dirty="0"/>
          </a:p>
        </p:txBody>
      </p:sp>
      <p:sp>
        <p:nvSpPr>
          <p:cNvPr id="17" name="Shape 14"/>
          <p:cNvSpPr/>
          <p:nvPr/>
        </p:nvSpPr>
        <p:spPr>
          <a:xfrm>
            <a:off x="457200" y="3291840"/>
            <a:ext cx="8229600" cy="566928"/>
          </a:xfrm>
          <a:prstGeom prst="roundRect">
            <a:avLst>
              <a:gd name="adj" fmla="val 1290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410712"/>
            <a:ext cx="329184" cy="329184"/>
          </a:xfrm>
          <a:prstGeom prst="ellipse">
            <a:avLst/>
          </a:prstGeom>
          <a:solidFill>
            <a:srgbClr val="7B5CE0"/>
          </a:solidFill>
          <a:ln w="6350">
            <a:solidFill>
              <a:srgbClr val="7B5CE0"/>
            </a:solidFill>
            <a:prstDash val="solid"/>
          </a:ln>
        </p:spPr>
      </p:sp>
      <p:sp>
        <p:nvSpPr>
          <p:cNvPr id="19" name="Text 16"/>
          <p:cNvSpPr txBox="1"/>
          <p:nvPr/>
        </p:nvSpPr>
        <p:spPr>
          <a:xfrm>
            <a:off x="594360" y="341071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097280" y="3291840"/>
            <a:ext cx="7406640" cy="566928"/>
          </a:xfrm>
          <a:prstGeom prst="rect">
            <a:avLst/>
          </a:prstGeom>
          <a:noFill/>
          <a:ln/>
        </p:spPr>
        <p:txBody>
          <a:bodyPr wrap="square" lIns="0" tIns="0" rIns="0" bIns="0" rtlCol="0" anchor="ctr"/>
          <a:lstStyle/>
          <a:p>
            <a:pPr marL="0" indent="0">
              <a:buNone/>
            </a:pPr>
            <a:r>
              <a:rPr lang="en-US" sz="1400" b="1" dirty="0">
                <a:solidFill>
                  <a:srgbClr val="7B5CE0"/>
                </a:solidFill>
                <a:latin typeface="Calibri" pitchFamily="34" charset="0"/>
                <a:ea typeface="Calibri" pitchFamily="34" charset="-122"/>
                <a:cs typeface="Calibri" pitchFamily="34" charset="-120"/>
              </a:rPr>
              <a:t>On 20 July 1969,</a:t>
            </a:r>
            <a:r>
              <a:rPr lang="en-US" sz="1400" dirty="0">
                <a:solidFill>
                  <a:srgbClr val="0E1537"/>
                </a:solidFill>
                <a:latin typeface="Calibri" pitchFamily="34" charset="0"/>
                <a:ea typeface="Calibri" pitchFamily="34" charset="-122"/>
                <a:cs typeface="Calibri" pitchFamily="34" charset="-120"/>
              </a:rPr>
              <a:t> American astronauts Neil Armstrong and Buzz Aldrin became the first people to walk on the moon.</a:t>
            </a:r>
            <a:endParaRPr lang="en-US" sz="1400" dirty="0"/>
          </a:p>
        </p:txBody>
      </p:sp>
      <p:sp>
        <p:nvSpPr>
          <p:cNvPr id="21" name="Shape 18"/>
          <p:cNvSpPr/>
          <p:nvPr/>
        </p:nvSpPr>
        <p:spPr>
          <a:xfrm>
            <a:off x="457200" y="4114800"/>
            <a:ext cx="8229600" cy="457200"/>
          </a:xfrm>
          <a:prstGeom prst="roundRect">
            <a:avLst>
              <a:gd name="adj" fmla="val 16000"/>
            </a:avLst>
          </a:prstGeom>
          <a:solidFill>
            <a:srgbClr val="FFD166"/>
          </a:solidFill>
          <a:ln w="6350">
            <a:solidFill>
              <a:srgbClr val="FFD166"/>
            </a:solidFill>
            <a:prstDash val="solid"/>
          </a:ln>
        </p:spPr>
      </p:sp>
      <p:sp>
        <p:nvSpPr>
          <p:cNvPr id="22" name="Text 19"/>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More in the text: In 129 BCE, In 1543, In 1609, In 1926, In 1971, In 2000</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1b: write five sentences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Activity 1b. Use your timeline from session 2.2. Write in chronological order.</a:t>
            </a:r>
            <a:endParaRPr lang="en-US" sz="1300" dirty="0"/>
          </a:p>
        </p:txBody>
      </p:sp>
      <p:sp>
        <p:nvSpPr>
          <p:cNvPr id="5" name="Shape 2"/>
          <p:cNvSpPr/>
          <p:nvPr/>
        </p:nvSpPr>
        <p:spPr>
          <a:xfrm>
            <a:off x="457200" y="1417320"/>
            <a:ext cx="2560320" cy="640080"/>
          </a:xfrm>
          <a:prstGeom prst="roundRect">
            <a:avLst>
              <a:gd name="adj" fmla="val 14286"/>
            </a:avLst>
          </a:prstGeom>
          <a:solidFill>
            <a:srgbClr val="FF8A3D"/>
          </a:solidFill>
          <a:ln w="6350">
            <a:solidFill>
              <a:srgbClr val="FF8A3D"/>
            </a:solidFill>
            <a:prstDash val="solid"/>
          </a:ln>
        </p:spPr>
      </p:sp>
      <p:sp>
        <p:nvSpPr>
          <p:cNvPr id="6" name="Text 3"/>
          <p:cNvSpPr txBox="1"/>
          <p:nvPr/>
        </p:nvSpPr>
        <p:spPr>
          <a:xfrm>
            <a:off x="548640" y="1417320"/>
            <a:ext cx="2377440" cy="640080"/>
          </a:xfrm>
          <a:prstGeom prst="rect">
            <a:avLst/>
          </a:prstGeom>
          <a:noFill/>
          <a:ln/>
        </p:spPr>
        <p:txBody>
          <a:bodyPr wrap="square" lIns="0" tIns="0" rIns="0" bIns="0" rtlCol="0" anchor="ctr"/>
          <a:lstStyle/>
          <a:p>
            <a:pPr marL="0" indent="0" algn="ctr">
              <a:buNone/>
            </a:pPr>
            <a:r>
              <a:rPr lang="en-US" sz="1800" b="1" dirty="0">
                <a:solidFill>
                  <a:srgbClr val="0E1537"/>
                </a:solidFill>
                <a:latin typeface="Cambria" pitchFamily="34" charset="0"/>
                <a:ea typeface="Cambria" pitchFamily="34" charset="-122"/>
                <a:cs typeface="Cambria" pitchFamily="34" charset="-120"/>
              </a:rPr>
              <a:t>long before</a:t>
            </a:r>
            <a:endParaRPr lang="en-US" sz="1800" dirty="0"/>
          </a:p>
        </p:txBody>
      </p:sp>
      <p:sp>
        <p:nvSpPr>
          <p:cNvPr id="7" name="Shape 4"/>
          <p:cNvSpPr/>
          <p:nvPr/>
        </p:nvSpPr>
        <p:spPr>
          <a:xfrm>
            <a:off x="3291840" y="1417320"/>
            <a:ext cx="2560320" cy="640080"/>
          </a:xfrm>
          <a:prstGeom prst="roundRect">
            <a:avLst>
              <a:gd name="adj" fmla="val 14286"/>
            </a:avLst>
          </a:prstGeom>
          <a:solidFill>
            <a:srgbClr val="2EC4B6"/>
          </a:solidFill>
          <a:ln w="6350">
            <a:solidFill>
              <a:srgbClr val="2EC4B6"/>
            </a:solidFill>
            <a:prstDash val="solid"/>
          </a:ln>
        </p:spPr>
      </p:sp>
      <p:sp>
        <p:nvSpPr>
          <p:cNvPr id="8" name="Text 5"/>
          <p:cNvSpPr txBox="1"/>
          <p:nvPr/>
        </p:nvSpPr>
        <p:spPr>
          <a:xfrm>
            <a:off x="3383280" y="1417320"/>
            <a:ext cx="2377440" cy="640080"/>
          </a:xfrm>
          <a:prstGeom prst="rect">
            <a:avLst/>
          </a:prstGeom>
          <a:noFill/>
          <a:ln/>
        </p:spPr>
        <p:txBody>
          <a:bodyPr wrap="square" lIns="0" tIns="0" rIns="0" bIns="0" rtlCol="0" anchor="ctr"/>
          <a:lstStyle/>
          <a:p>
            <a:pPr marL="0" indent="0" algn="ctr">
              <a:buNone/>
            </a:pPr>
            <a:r>
              <a:rPr lang="en-US" sz="1800" b="1" dirty="0">
                <a:solidFill>
                  <a:srgbClr val="0E1537"/>
                </a:solidFill>
                <a:latin typeface="Cambria" pitchFamily="34" charset="0"/>
                <a:ea typeface="Cambria" pitchFamily="34" charset="-122"/>
                <a:cs typeface="Cambria" pitchFamily="34" charset="-120"/>
              </a:rPr>
              <a:t>for the first time</a:t>
            </a:r>
            <a:endParaRPr lang="en-US" sz="1800" dirty="0"/>
          </a:p>
        </p:txBody>
      </p:sp>
      <p:sp>
        <p:nvSpPr>
          <p:cNvPr id="9" name="Shape 6"/>
          <p:cNvSpPr/>
          <p:nvPr/>
        </p:nvSpPr>
        <p:spPr>
          <a:xfrm>
            <a:off x="6126480" y="1417320"/>
            <a:ext cx="2560320" cy="640080"/>
          </a:xfrm>
          <a:prstGeom prst="roundRect">
            <a:avLst>
              <a:gd name="adj" fmla="val 14286"/>
            </a:avLst>
          </a:prstGeom>
          <a:solidFill>
            <a:srgbClr val="FF6B8B"/>
          </a:solidFill>
          <a:ln w="6350">
            <a:solidFill>
              <a:srgbClr val="FF6B8B"/>
            </a:solidFill>
            <a:prstDash val="solid"/>
          </a:ln>
        </p:spPr>
      </p:sp>
      <p:sp>
        <p:nvSpPr>
          <p:cNvPr id="10" name="Text 7"/>
          <p:cNvSpPr txBox="1"/>
          <p:nvPr/>
        </p:nvSpPr>
        <p:spPr>
          <a:xfrm>
            <a:off x="6217920" y="1417320"/>
            <a:ext cx="2377440" cy="640080"/>
          </a:xfrm>
          <a:prstGeom prst="rect">
            <a:avLst/>
          </a:prstGeom>
          <a:noFill/>
          <a:ln/>
        </p:spPr>
        <p:txBody>
          <a:bodyPr wrap="square" lIns="0" tIns="0" rIns="0" bIns="0" rtlCol="0" anchor="ctr"/>
          <a:lstStyle/>
          <a:p>
            <a:pPr marL="0" indent="0" algn="ctr">
              <a:buNone/>
            </a:pPr>
            <a:r>
              <a:rPr lang="en-US" sz="1800" b="1" dirty="0">
                <a:solidFill>
                  <a:srgbClr val="0E1537"/>
                </a:solidFill>
                <a:latin typeface="Cambria" pitchFamily="34" charset="0"/>
                <a:ea typeface="Cambria" pitchFamily="34" charset="-122"/>
                <a:cs typeface="Cambria" pitchFamily="34" charset="-120"/>
              </a:rPr>
              <a:t>eventually</a:t>
            </a:r>
            <a:endParaRPr lang="en-US" sz="1800" dirty="0"/>
          </a:p>
        </p:txBody>
      </p:sp>
      <p:sp>
        <p:nvSpPr>
          <p:cNvPr id="11" name="Shape 8"/>
          <p:cNvSpPr/>
          <p:nvPr/>
        </p:nvSpPr>
        <p:spPr>
          <a:xfrm>
            <a:off x="457200" y="2194560"/>
            <a:ext cx="2560320" cy="640080"/>
          </a:xfrm>
          <a:prstGeom prst="roundRect">
            <a:avLst>
              <a:gd name="adj" fmla="val 14286"/>
            </a:avLst>
          </a:prstGeom>
          <a:solidFill>
            <a:srgbClr val="7B5CE0"/>
          </a:solidFill>
          <a:ln w="6350">
            <a:solidFill>
              <a:srgbClr val="7B5CE0"/>
            </a:solidFill>
            <a:prstDash val="solid"/>
          </a:ln>
        </p:spPr>
      </p:sp>
      <p:sp>
        <p:nvSpPr>
          <p:cNvPr id="12" name="Text 9"/>
          <p:cNvSpPr txBox="1"/>
          <p:nvPr/>
        </p:nvSpPr>
        <p:spPr>
          <a:xfrm>
            <a:off x="548640" y="2194560"/>
            <a:ext cx="23774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many years later</a:t>
            </a:r>
            <a:endParaRPr lang="en-US" sz="1800" dirty="0"/>
          </a:p>
        </p:txBody>
      </p:sp>
      <p:sp>
        <p:nvSpPr>
          <p:cNvPr id="13" name="Shape 10"/>
          <p:cNvSpPr/>
          <p:nvPr/>
        </p:nvSpPr>
        <p:spPr>
          <a:xfrm>
            <a:off x="3291840" y="2194560"/>
            <a:ext cx="2560320" cy="640080"/>
          </a:xfrm>
          <a:prstGeom prst="roundRect">
            <a:avLst>
              <a:gd name="adj" fmla="val 14286"/>
            </a:avLst>
          </a:prstGeom>
          <a:solidFill>
            <a:srgbClr val="FFD166"/>
          </a:solidFill>
          <a:ln w="6350">
            <a:solidFill>
              <a:srgbClr val="FFD166"/>
            </a:solidFill>
            <a:prstDash val="solid"/>
          </a:ln>
        </p:spPr>
      </p:sp>
      <p:sp>
        <p:nvSpPr>
          <p:cNvPr id="14" name="Text 11"/>
          <p:cNvSpPr txBox="1"/>
          <p:nvPr/>
        </p:nvSpPr>
        <p:spPr>
          <a:xfrm>
            <a:off x="3383280" y="2194560"/>
            <a:ext cx="2377440" cy="640080"/>
          </a:xfrm>
          <a:prstGeom prst="rect">
            <a:avLst/>
          </a:prstGeom>
          <a:noFill/>
          <a:ln/>
        </p:spPr>
        <p:txBody>
          <a:bodyPr wrap="square" lIns="0" tIns="0" rIns="0" bIns="0" rtlCol="0" anchor="ctr"/>
          <a:lstStyle/>
          <a:p>
            <a:pPr marL="0" indent="0" algn="ctr">
              <a:buNone/>
            </a:pPr>
            <a:r>
              <a:rPr lang="en-US" sz="1800" b="1" dirty="0">
                <a:solidFill>
                  <a:srgbClr val="0E1537"/>
                </a:solidFill>
                <a:latin typeface="Cambria" pitchFamily="34" charset="0"/>
                <a:ea typeface="Cambria" pitchFamily="34" charset="-122"/>
                <a:cs typeface="Cambria" pitchFamily="34" charset="-120"/>
              </a:rPr>
              <a:t>in 1969</a:t>
            </a:r>
            <a:endParaRPr lang="en-US" sz="1800" dirty="0"/>
          </a:p>
        </p:txBody>
      </p:sp>
      <p:sp>
        <p:nvSpPr>
          <p:cNvPr id="15" name="Shape 12"/>
          <p:cNvSpPr/>
          <p:nvPr/>
        </p:nvSpPr>
        <p:spPr>
          <a:xfrm>
            <a:off x="6126480" y="2194560"/>
            <a:ext cx="2560320" cy="640080"/>
          </a:xfrm>
          <a:prstGeom prst="roundRect">
            <a:avLst>
              <a:gd name="adj" fmla="val 14286"/>
            </a:avLst>
          </a:prstGeom>
          <a:solidFill>
            <a:srgbClr val="FF8A3D"/>
          </a:solidFill>
          <a:ln w="6350">
            <a:solidFill>
              <a:srgbClr val="FF8A3D"/>
            </a:solidFill>
            <a:prstDash val="solid"/>
          </a:ln>
        </p:spPr>
      </p:sp>
      <p:sp>
        <p:nvSpPr>
          <p:cNvPr id="16" name="Text 13"/>
          <p:cNvSpPr txBox="1"/>
          <p:nvPr/>
        </p:nvSpPr>
        <p:spPr>
          <a:xfrm>
            <a:off x="6217920" y="2194560"/>
            <a:ext cx="2377440" cy="640080"/>
          </a:xfrm>
          <a:prstGeom prst="rect">
            <a:avLst/>
          </a:prstGeom>
          <a:noFill/>
          <a:ln/>
        </p:spPr>
        <p:txBody>
          <a:bodyPr wrap="square" lIns="0" tIns="0" rIns="0" bIns="0" rtlCol="0" anchor="ctr"/>
          <a:lstStyle/>
          <a:p>
            <a:pPr marL="0" indent="0" algn="ctr">
              <a:buNone/>
            </a:pPr>
            <a:r>
              <a:rPr lang="en-US" sz="1800" b="1" dirty="0">
                <a:solidFill>
                  <a:srgbClr val="0E1537"/>
                </a:solidFill>
                <a:latin typeface="Cambria" pitchFamily="34" charset="0"/>
                <a:ea typeface="Cambria" pitchFamily="34" charset="-122"/>
                <a:cs typeface="Cambria" pitchFamily="34" charset="-120"/>
              </a:rPr>
              <a:t>finally</a:t>
            </a:r>
            <a:endParaRPr lang="en-US" sz="1800" dirty="0"/>
          </a:p>
        </p:txBody>
      </p:sp>
      <p:sp>
        <p:nvSpPr>
          <p:cNvPr id="17" name="Shape 14"/>
          <p:cNvSpPr/>
          <p:nvPr/>
        </p:nvSpPr>
        <p:spPr>
          <a:xfrm>
            <a:off x="457200" y="3063240"/>
            <a:ext cx="8229600" cy="1417320"/>
          </a:xfrm>
          <a:prstGeom prst="roundRect">
            <a:avLst>
              <a:gd name="adj" fmla="val 516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Text 15"/>
          <p:cNvSpPr txBox="1"/>
          <p:nvPr/>
        </p:nvSpPr>
        <p:spPr>
          <a:xfrm>
            <a:off x="685800" y="3154680"/>
            <a:ext cx="4572000" cy="274320"/>
          </a:xfrm>
          <a:prstGeom prst="rect">
            <a:avLst/>
          </a:prstGeom>
          <a:noFill/>
          <a:ln/>
        </p:spPr>
        <p:txBody>
          <a:bodyPr wrap="square" lIns="0" tIns="0" rIns="0" bIns="0" rtlCol="0" anchor="t"/>
          <a:lstStyle/>
          <a:p>
            <a:pPr marL="0" indent="0">
              <a:buNone/>
            </a:pPr>
            <a:r>
              <a:rPr lang="en-US" sz="1100" b="1" dirty="0">
                <a:solidFill>
                  <a:srgbClr val="3A3F85"/>
                </a:solidFill>
                <a:latin typeface="Calibri" pitchFamily="34" charset="0"/>
                <a:ea typeface="Calibri" pitchFamily="34" charset="-122"/>
                <a:cs typeface="Calibri" pitchFamily="34" charset="-120"/>
              </a:rPr>
              <a:t>SUCCESS CRITERIA</a:t>
            </a:r>
            <a:endParaRPr lang="en-US" sz="1100" dirty="0"/>
          </a:p>
        </p:txBody>
      </p:sp>
      <p:sp>
        <p:nvSpPr>
          <p:cNvPr id="19" name="Text 16"/>
          <p:cNvSpPr txBox="1"/>
          <p:nvPr/>
        </p:nvSpPr>
        <p:spPr>
          <a:xfrm>
            <a:off x="685800" y="3474720"/>
            <a:ext cx="777240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0E1537"/>
                </a:solidFill>
                <a:latin typeface="Calibri" pitchFamily="34" charset="0"/>
                <a:ea typeface="Calibri" pitchFamily="34" charset="-122"/>
                <a:cs typeface="Calibri" pitchFamily="34" charset="-120"/>
              </a:rPr>
              <a:t>Events are in date order.</a:t>
            </a:r>
            <a:endParaRPr lang="en-US" sz="1400" dirty="0"/>
          </a:p>
          <a:p>
            <a:pPr marL="342900" indent="-342900">
              <a:spcAft>
                <a:spcPts val="400"/>
              </a:spcAft>
              <a:buSzPct val="100000"/>
              <a:buChar char="•"/>
            </a:pPr>
            <a:r>
              <a:rPr lang="en-US" sz="1400" dirty="0">
                <a:solidFill>
                  <a:srgbClr val="0E1537"/>
                </a:solidFill>
                <a:latin typeface="Calibri" pitchFamily="34" charset="0"/>
                <a:ea typeface="Calibri" pitchFamily="34" charset="-122"/>
                <a:cs typeface="Calibri" pitchFamily="34" charset="-120"/>
              </a:rPr>
              <a:t>A comma follows each adverbial at the start.</a:t>
            </a:r>
            <a:endParaRPr lang="en-US" sz="1400" dirty="0"/>
          </a:p>
          <a:p>
            <a:pPr marL="342900" indent="-342900">
              <a:spcAft>
                <a:spcPts val="400"/>
              </a:spcAft>
              <a:buSzPct val="100000"/>
              <a:buChar char="•"/>
            </a:pPr>
            <a:r>
              <a:rPr lang="en-US" sz="1400" dirty="0">
                <a:solidFill>
                  <a:srgbClr val="0E1537"/>
                </a:solidFill>
                <a:latin typeface="Calibri" pitchFamily="34" charset="0"/>
                <a:ea typeface="Calibri" pitchFamily="34" charset="-122"/>
                <a:cs typeface="Calibri" pitchFamily="34" charset="-120"/>
              </a:rPr>
              <a:t>Each sentence has a capital letter and a full stop.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1b: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Pupils’ versions will vary. Check the three success criteria.</a:t>
            </a:r>
            <a:endParaRPr lang="en-US" sz="1300" dirty="0"/>
          </a:p>
        </p:txBody>
      </p:sp>
      <p:sp>
        <p:nvSpPr>
          <p:cNvPr id="5" name="Shape 2"/>
          <p:cNvSpPr/>
          <p:nvPr/>
        </p:nvSpPr>
        <p:spPr>
          <a:xfrm>
            <a:off x="457200" y="1371600"/>
            <a:ext cx="5577840" cy="3108960"/>
          </a:xfrm>
          <a:prstGeom prst="roundRect">
            <a:avLst>
              <a:gd name="adj" fmla="val 235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85800" y="1508760"/>
            <a:ext cx="5120640" cy="2834640"/>
          </a:xfrm>
          <a:prstGeom prst="rect">
            <a:avLst/>
          </a:prstGeom>
          <a:noFill/>
          <a:ln/>
        </p:spPr>
        <p:txBody>
          <a:bodyPr wrap="square" lIns="0" tIns="0" rIns="0" bIns="0" rtlCol="0" anchor="t"/>
          <a:lstStyle/>
          <a:p>
            <a:pPr marL="0" indent="0">
              <a:lnSpc>
                <a:spcPct val="125000"/>
              </a:lnSpc>
              <a:buNone/>
            </a:pPr>
            <a:r>
              <a:rPr lang="en-US" sz="1700" b="1" dirty="0">
                <a:solidFill>
                  <a:srgbClr val="7B5CE0"/>
                </a:solidFill>
                <a:latin typeface="Calibri" pitchFamily="34" charset="0"/>
                <a:ea typeface="Calibri" pitchFamily="34" charset="-122"/>
                <a:cs typeface="Calibri" pitchFamily="34" charset="-120"/>
              </a:rPr>
              <a:t>Long before</a:t>
            </a:r>
            <a:r>
              <a:rPr lang="en-US" sz="1700" dirty="0">
                <a:solidFill>
                  <a:srgbClr val="0E1537"/>
                </a:solidFill>
                <a:latin typeface="Calibri" pitchFamily="34" charset="0"/>
                <a:ea typeface="Calibri" pitchFamily="34" charset="-122"/>
                <a:cs typeface="Calibri" pitchFamily="34" charset="-120"/>
              </a:rPr>
              <a:t> telescopes, early astronomers watched the stars with the naked eye. </a:t>
            </a:r>
            <a:r>
              <a:rPr lang="en-US" sz="1700" b="1" dirty="0">
                <a:solidFill>
                  <a:srgbClr val="7B5CE0"/>
                </a:solidFill>
                <a:latin typeface="Calibri" pitchFamily="34" charset="0"/>
                <a:ea typeface="Calibri" pitchFamily="34" charset="-122"/>
                <a:cs typeface="Calibri" pitchFamily="34" charset="-120"/>
              </a:rPr>
              <a:t>In 1609,</a:t>
            </a:r>
            <a:r>
              <a:rPr lang="en-US" sz="1700" dirty="0">
                <a:solidFill>
                  <a:srgbClr val="0E1537"/>
                </a:solidFill>
                <a:latin typeface="Calibri" pitchFamily="34" charset="0"/>
                <a:ea typeface="Calibri" pitchFamily="34" charset="-122"/>
                <a:cs typeface="Calibri" pitchFamily="34" charset="-120"/>
              </a:rPr>
              <a:t> Galileo built the first telescope. </a:t>
            </a:r>
            <a:r>
              <a:rPr lang="en-US" sz="1700" b="1" dirty="0">
                <a:solidFill>
                  <a:srgbClr val="7B5CE0"/>
                </a:solidFill>
                <a:latin typeface="Calibri" pitchFamily="34" charset="0"/>
                <a:ea typeface="Calibri" pitchFamily="34" charset="-122"/>
                <a:cs typeface="Calibri" pitchFamily="34" charset="-120"/>
              </a:rPr>
              <a:t>Many years later,</a:t>
            </a:r>
            <a:r>
              <a:rPr lang="en-US" sz="1700" dirty="0">
                <a:solidFill>
                  <a:srgbClr val="0E1537"/>
                </a:solidFill>
                <a:latin typeface="Calibri" pitchFamily="34" charset="0"/>
                <a:ea typeface="Calibri" pitchFamily="34" charset="-122"/>
                <a:cs typeface="Calibri" pitchFamily="34" charset="-120"/>
              </a:rPr>
              <a:t> the USSR launched the first satellite, Sputnik I. </a:t>
            </a:r>
            <a:r>
              <a:rPr lang="en-US" sz="1700" b="1" dirty="0">
                <a:solidFill>
                  <a:srgbClr val="7B5CE0"/>
                </a:solidFill>
                <a:latin typeface="Calibri" pitchFamily="34" charset="0"/>
                <a:ea typeface="Calibri" pitchFamily="34" charset="-122"/>
                <a:cs typeface="Calibri" pitchFamily="34" charset="-120"/>
              </a:rPr>
              <a:t>For the first time,</a:t>
            </a:r>
            <a:r>
              <a:rPr lang="en-US" sz="1700" dirty="0">
                <a:solidFill>
                  <a:srgbClr val="0E1537"/>
                </a:solidFill>
                <a:latin typeface="Calibri" pitchFamily="34" charset="0"/>
                <a:ea typeface="Calibri" pitchFamily="34" charset="-122"/>
                <a:cs typeface="Calibri" pitchFamily="34" charset="-120"/>
              </a:rPr>
              <a:t> a person travelled into space in 1961. </a:t>
            </a:r>
            <a:r>
              <a:rPr lang="en-US" sz="1700" b="1" dirty="0">
                <a:solidFill>
                  <a:srgbClr val="7B5CE0"/>
                </a:solidFill>
                <a:latin typeface="Calibri" pitchFamily="34" charset="0"/>
                <a:ea typeface="Calibri" pitchFamily="34" charset="-122"/>
                <a:cs typeface="Calibri" pitchFamily="34" charset="-120"/>
              </a:rPr>
              <a:t>Finally,</a:t>
            </a:r>
            <a:r>
              <a:rPr lang="en-US" sz="1700" dirty="0">
                <a:solidFill>
                  <a:srgbClr val="0E1537"/>
                </a:solidFill>
                <a:latin typeface="Calibri" pitchFamily="34" charset="0"/>
                <a:ea typeface="Calibri" pitchFamily="34" charset="-122"/>
                <a:cs typeface="Calibri" pitchFamily="34" charset="-120"/>
              </a:rPr>
              <a:t> astronauts walked on the moon in 1969.</a:t>
            </a:r>
            <a:endParaRPr lang="en-US" sz="1700" dirty="0"/>
          </a:p>
        </p:txBody>
      </p:sp>
      <p:sp>
        <p:nvSpPr>
          <p:cNvPr id="7" name="Shape 4"/>
          <p:cNvSpPr/>
          <p:nvPr/>
        </p:nvSpPr>
        <p:spPr>
          <a:xfrm>
            <a:off x="6217920" y="1371600"/>
            <a:ext cx="2468880" cy="3108960"/>
          </a:xfrm>
          <a:prstGeom prst="roundRect">
            <a:avLst>
              <a:gd name="adj" fmla="val 296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8" name="Text 5"/>
          <p:cNvSpPr txBox="1"/>
          <p:nvPr/>
        </p:nvSpPr>
        <p:spPr>
          <a:xfrm>
            <a:off x="6400800" y="1508760"/>
            <a:ext cx="2194560" cy="365760"/>
          </a:xfrm>
          <a:prstGeom prst="rect">
            <a:avLst/>
          </a:prstGeom>
          <a:noFill/>
          <a:ln/>
        </p:spPr>
        <p:txBody>
          <a:bodyPr wrap="square" lIns="0" tIns="0" rIns="0" bIns="0" rtlCol="0" anchor="t"/>
          <a:lstStyle/>
          <a:p>
            <a:pPr marL="0" indent="0">
              <a:buNone/>
            </a:pPr>
            <a:r>
              <a:rPr lang="en-US" sz="1600" b="1" dirty="0">
                <a:solidFill>
                  <a:srgbClr val="2EC4B6"/>
                </a:solidFill>
                <a:latin typeface="Cambria" pitchFamily="34" charset="0"/>
                <a:ea typeface="Cambria" pitchFamily="34" charset="-122"/>
                <a:cs typeface="Cambria" pitchFamily="34" charset="-120"/>
              </a:rPr>
              <a:t>Why it works</a:t>
            </a:r>
            <a:endParaRPr lang="en-US" sz="1600" dirty="0"/>
          </a:p>
        </p:txBody>
      </p:sp>
      <p:sp>
        <p:nvSpPr>
          <p:cNvPr id="9" name="Text 6"/>
          <p:cNvSpPr txBox="1"/>
          <p:nvPr/>
        </p:nvSpPr>
        <p:spPr>
          <a:xfrm>
            <a:off x="6400800" y="1965960"/>
            <a:ext cx="21488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Events are in date order.</a:t>
            </a:r>
            <a:endParaRPr lang="en-US" sz="1400" dirty="0"/>
          </a:p>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A different adverbial of time each time.</a:t>
            </a:r>
            <a:endParaRPr lang="en-US" sz="1400" dirty="0"/>
          </a:p>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Commas after adverbials at the start.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1c: name the type</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Activity 1c. Say what type of adverbial is underlined: time, place, manner, quantity or quality.</a:t>
            </a:r>
            <a:endParaRPr lang="en-US" sz="1300" dirty="0"/>
          </a:p>
        </p:txBody>
      </p:sp>
      <p:sp>
        <p:nvSpPr>
          <p:cNvPr id="5" name="Shape 2"/>
          <p:cNvSpPr/>
          <p:nvPr/>
        </p:nvSpPr>
        <p:spPr>
          <a:xfrm>
            <a:off x="457200" y="1371600"/>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72184"/>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472184"/>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371600"/>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The first star catalogue was completed </a:t>
            </a:r>
            <a:r>
              <a:rPr lang="en-US" sz="1500" b="1" dirty="0">
                <a:solidFill>
                  <a:srgbClr val="7B5CE0"/>
                </a:solidFill>
                <a:latin typeface="Calibri" pitchFamily="34" charset="0"/>
                <a:ea typeface="Calibri" pitchFamily="34" charset="-122"/>
                <a:cs typeface="Calibri" pitchFamily="34" charset="-120"/>
              </a:rPr>
              <a:t>in 129 BCE</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9" name="Shape 6"/>
          <p:cNvSpPr/>
          <p:nvPr/>
        </p:nvSpPr>
        <p:spPr>
          <a:xfrm>
            <a:off x="457200" y="1993392"/>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093976"/>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093976"/>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1993392"/>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Isaac Newton invented a telescope </a:t>
            </a:r>
            <a:r>
              <a:rPr lang="en-US" sz="1500" b="1" dirty="0">
                <a:solidFill>
                  <a:srgbClr val="7B5CE0"/>
                </a:solidFill>
                <a:latin typeface="Calibri" pitchFamily="34" charset="0"/>
                <a:ea typeface="Calibri" pitchFamily="34" charset="-122"/>
                <a:cs typeface="Calibri" pitchFamily="34" charset="-120"/>
              </a:rPr>
              <a:t>more powerful than the rest</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13" name="Shape 10"/>
          <p:cNvSpPr/>
          <p:nvPr/>
        </p:nvSpPr>
        <p:spPr>
          <a:xfrm>
            <a:off x="457200" y="2615184"/>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715768"/>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271576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615184"/>
            <a:ext cx="7406640" cy="530352"/>
          </a:xfrm>
          <a:prstGeom prst="rect">
            <a:avLst/>
          </a:prstGeom>
          <a:noFill/>
          <a:ln/>
        </p:spPr>
        <p:txBody>
          <a:bodyPr wrap="square" lIns="0" tIns="0" rIns="0" bIns="0" rtlCol="0" anchor="ctr"/>
          <a:lstStyle/>
          <a:p>
            <a:pPr marL="0" indent="0">
              <a:buNone/>
            </a:pPr>
            <a:r>
              <a:rPr lang="en-US" sz="1500" b="1" dirty="0">
                <a:solidFill>
                  <a:srgbClr val="7B5CE0"/>
                </a:solidFill>
                <a:latin typeface="Calibri" pitchFamily="34" charset="0"/>
                <a:ea typeface="Calibri" pitchFamily="34" charset="-122"/>
                <a:cs typeface="Calibri" pitchFamily="34" charset="-120"/>
              </a:rPr>
              <a:t>At last</a:t>
            </a:r>
            <a:r>
              <a:rPr lang="en-US" sz="1500" dirty="0">
                <a:solidFill>
                  <a:srgbClr val="0E1537"/>
                </a:solidFill>
                <a:latin typeface="Calibri" pitchFamily="34" charset="0"/>
                <a:ea typeface="Calibri" pitchFamily="34" charset="-122"/>
                <a:cs typeface="Calibri" pitchFamily="34" charset="-120"/>
              </a:rPr>
              <a:t>, the ISS was ready.</a:t>
            </a:r>
            <a:endParaRPr lang="en-US" sz="1500" dirty="0"/>
          </a:p>
        </p:txBody>
      </p:sp>
      <p:sp>
        <p:nvSpPr>
          <p:cNvPr id="17" name="Shape 14"/>
          <p:cNvSpPr/>
          <p:nvPr/>
        </p:nvSpPr>
        <p:spPr>
          <a:xfrm>
            <a:off x="457200" y="3236976"/>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337560"/>
            <a:ext cx="329184" cy="329184"/>
          </a:xfrm>
          <a:prstGeom prst="ellipse">
            <a:avLst/>
          </a:prstGeom>
          <a:solidFill>
            <a:srgbClr val="7B5CE0"/>
          </a:solidFill>
          <a:ln w="6350">
            <a:solidFill>
              <a:srgbClr val="7B5CE0"/>
            </a:solidFill>
            <a:prstDash val="solid"/>
          </a:ln>
        </p:spPr>
      </p:sp>
      <p:sp>
        <p:nvSpPr>
          <p:cNvPr id="19" name="Text 16"/>
          <p:cNvSpPr txBox="1"/>
          <p:nvPr/>
        </p:nvSpPr>
        <p:spPr>
          <a:xfrm>
            <a:off x="5943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097280" y="3236976"/>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The first astronauts landed </a:t>
            </a:r>
            <a:r>
              <a:rPr lang="en-US" sz="1500" b="1" dirty="0">
                <a:solidFill>
                  <a:srgbClr val="7B5CE0"/>
                </a:solidFill>
                <a:latin typeface="Calibri" pitchFamily="34" charset="0"/>
                <a:ea typeface="Calibri" pitchFamily="34" charset="-122"/>
                <a:cs typeface="Calibri" pitchFamily="34" charset="-120"/>
              </a:rPr>
              <a:t>on the moon</a:t>
            </a:r>
            <a:r>
              <a:rPr lang="en-US" sz="1500" dirty="0">
                <a:solidFill>
                  <a:srgbClr val="0E1537"/>
                </a:solidFill>
                <a:latin typeface="Calibri" pitchFamily="34" charset="0"/>
                <a:ea typeface="Calibri" pitchFamily="34" charset="-122"/>
                <a:cs typeface="Calibri" pitchFamily="34" charset="-120"/>
              </a:rPr>
              <a:t>.</a:t>
            </a:r>
            <a:endParaRPr lang="en-US" sz="1500" dirty="0"/>
          </a:p>
        </p:txBody>
      </p:sp>
      <p:sp>
        <p:nvSpPr>
          <p:cNvPr id="21" name="Shape 18"/>
          <p:cNvSpPr/>
          <p:nvPr/>
        </p:nvSpPr>
        <p:spPr>
          <a:xfrm>
            <a:off x="457200" y="3858768"/>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22" name="Shape 19"/>
          <p:cNvSpPr/>
          <p:nvPr/>
        </p:nvSpPr>
        <p:spPr>
          <a:xfrm>
            <a:off x="594360" y="3959352"/>
            <a:ext cx="329184" cy="329184"/>
          </a:xfrm>
          <a:prstGeom prst="ellipse">
            <a:avLst/>
          </a:prstGeom>
          <a:solidFill>
            <a:srgbClr val="FFD166"/>
          </a:solidFill>
          <a:ln w="6350">
            <a:solidFill>
              <a:srgbClr val="FFD166"/>
            </a:solidFill>
            <a:prstDash val="solid"/>
          </a:ln>
        </p:spPr>
      </p:sp>
      <p:sp>
        <p:nvSpPr>
          <p:cNvPr id="23" name="Text 20"/>
          <p:cNvSpPr txBox="1"/>
          <p:nvPr/>
        </p:nvSpPr>
        <p:spPr>
          <a:xfrm>
            <a:off x="594360" y="395935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5</a:t>
            </a:r>
            <a:endParaRPr lang="en-US" sz="1400" dirty="0"/>
          </a:p>
        </p:txBody>
      </p:sp>
      <p:sp>
        <p:nvSpPr>
          <p:cNvPr id="24" name="Text 21"/>
          <p:cNvSpPr txBox="1"/>
          <p:nvPr/>
        </p:nvSpPr>
        <p:spPr>
          <a:xfrm>
            <a:off x="1097280" y="3858768"/>
            <a:ext cx="7406640" cy="530352"/>
          </a:xfrm>
          <a:prstGeom prst="rect">
            <a:avLst/>
          </a:prstGeom>
          <a:noFill/>
          <a:ln/>
        </p:spPr>
        <p:txBody>
          <a:bodyPr wrap="square" lIns="0" tIns="0" rIns="0" bIns="0" rtlCol="0" anchor="ctr"/>
          <a:lstStyle/>
          <a:p>
            <a:pPr marL="0" indent="0">
              <a:buNone/>
            </a:pPr>
            <a:r>
              <a:rPr lang="en-US" sz="1500" b="1" dirty="0">
                <a:solidFill>
                  <a:srgbClr val="7B5CE0"/>
                </a:solidFill>
                <a:latin typeface="Calibri" pitchFamily="34" charset="0"/>
                <a:ea typeface="Calibri" pitchFamily="34" charset="-122"/>
                <a:cs typeface="Calibri" pitchFamily="34" charset="-120"/>
              </a:rPr>
              <a:t>With great effort</a:t>
            </a:r>
            <a:r>
              <a:rPr lang="en-US" sz="1500" dirty="0">
                <a:solidFill>
                  <a:srgbClr val="0E1537"/>
                </a:solidFill>
                <a:latin typeface="Calibri" pitchFamily="34" charset="0"/>
                <a:ea typeface="Calibri" pitchFamily="34" charset="-122"/>
                <a:cs typeface="Calibri" pitchFamily="34" charset="-120"/>
              </a:rPr>
              <a:t>, they succeeded.</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1c: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Say which question each adverbial answers.</a:t>
            </a:r>
            <a:endParaRPr lang="en-US" sz="1300" dirty="0"/>
          </a:p>
        </p:txBody>
      </p:sp>
      <p:sp>
        <p:nvSpPr>
          <p:cNvPr id="5" name="Shape 2"/>
          <p:cNvSpPr/>
          <p:nvPr/>
        </p:nvSpPr>
        <p:spPr>
          <a:xfrm>
            <a:off x="457200" y="1371600"/>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85800" y="1371600"/>
            <a:ext cx="4206240" cy="530352"/>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in 129 BCE</a:t>
            </a:r>
            <a:endParaRPr lang="en-US" sz="1600" dirty="0"/>
          </a:p>
        </p:txBody>
      </p:sp>
      <p:sp>
        <p:nvSpPr>
          <p:cNvPr id="7" name="Shape 4"/>
          <p:cNvSpPr/>
          <p:nvPr/>
        </p:nvSpPr>
        <p:spPr>
          <a:xfrm>
            <a:off x="5029200" y="1435608"/>
            <a:ext cx="3474720" cy="402336"/>
          </a:xfrm>
          <a:prstGeom prst="roundRect">
            <a:avLst>
              <a:gd name="adj" fmla="val 22727"/>
            </a:avLst>
          </a:prstGeom>
          <a:solidFill>
            <a:srgbClr val="FF8A3D"/>
          </a:solidFill>
          <a:ln w="6350">
            <a:solidFill>
              <a:srgbClr val="FF8A3D"/>
            </a:solidFill>
            <a:prstDash val="solid"/>
          </a:ln>
        </p:spPr>
      </p:sp>
      <p:sp>
        <p:nvSpPr>
          <p:cNvPr id="8" name="Text 5"/>
          <p:cNvSpPr txBox="1"/>
          <p:nvPr/>
        </p:nvSpPr>
        <p:spPr>
          <a:xfrm>
            <a:off x="5120640" y="1435608"/>
            <a:ext cx="3291840"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time · when?</a:t>
            </a:r>
            <a:endParaRPr lang="en-US" sz="1400" dirty="0"/>
          </a:p>
        </p:txBody>
      </p:sp>
      <p:sp>
        <p:nvSpPr>
          <p:cNvPr id="9" name="Shape 6"/>
          <p:cNvSpPr/>
          <p:nvPr/>
        </p:nvSpPr>
        <p:spPr>
          <a:xfrm>
            <a:off x="457200" y="1993392"/>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Text 7"/>
          <p:cNvSpPr txBox="1"/>
          <p:nvPr/>
        </p:nvSpPr>
        <p:spPr>
          <a:xfrm>
            <a:off x="685800" y="1993392"/>
            <a:ext cx="4206240" cy="530352"/>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more powerful than the rest</a:t>
            </a:r>
            <a:endParaRPr lang="en-US" sz="1600" dirty="0"/>
          </a:p>
        </p:txBody>
      </p:sp>
      <p:sp>
        <p:nvSpPr>
          <p:cNvPr id="11" name="Shape 8"/>
          <p:cNvSpPr/>
          <p:nvPr/>
        </p:nvSpPr>
        <p:spPr>
          <a:xfrm>
            <a:off x="5029200" y="2057400"/>
            <a:ext cx="3474720" cy="402336"/>
          </a:xfrm>
          <a:prstGeom prst="roundRect">
            <a:avLst>
              <a:gd name="adj" fmla="val 22727"/>
            </a:avLst>
          </a:prstGeom>
          <a:solidFill>
            <a:srgbClr val="4CC9F0"/>
          </a:solidFill>
          <a:ln w="6350">
            <a:solidFill>
              <a:srgbClr val="4CC9F0"/>
            </a:solidFill>
            <a:prstDash val="solid"/>
          </a:ln>
        </p:spPr>
      </p:sp>
      <p:sp>
        <p:nvSpPr>
          <p:cNvPr id="12" name="Text 9"/>
          <p:cNvSpPr txBox="1"/>
          <p:nvPr/>
        </p:nvSpPr>
        <p:spPr>
          <a:xfrm>
            <a:off x="5120640" y="2057400"/>
            <a:ext cx="3291840"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quality · to what extent?</a:t>
            </a:r>
            <a:endParaRPr lang="en-US" sz="1400" dirty="0"/>
          </a:p>
        </p:txBody>
      </p:sp>
      <p:sp>
        <p:nvSpPr>
          <p:cNvPr id="13" name="Shape 10"/>
          <p:cNvSpPr/>
          <p:nvPr/>
        </p:nvSpPr>
        <p:spPr>
          <a:xfrm>
            <a:off x="457200" y="2615184"/>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Text 11"/>
          <p:cNvSpPr txBox="1"/>
          <p:nvPr/>
        </p:nvSpPr>
        <p:spPr>
          <a:xfrm>
            <a:off x="685800" y="2615184"/>
            <a:ext cx="4206240" cy="530352"/>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At last</a:t>
            </a:r>
            <a:endParaRPr lang="en-US" sz="1600" dirty="0"/>
          </a:p>
        </p:txBody>
      </p:sp>
      <p:sp>
        <p:nvSpPr>
          <p:cNvPr id="15" name="Shape 12"/>
          <p:cNvSpPr/>
          <p:nvPr/>
        </p:nvSpPr>
        <p:spPr>
          <a:xfrm>
            <a:off x="5029200" y="2679192"/>
            <a:ext cx="3474720" cy="402336"/>
          </a:xfrm>
          <a:prstGeom prst="roundRect">
            <a:avLst>
              <a:gd name="adj" fmla="val 22727"/>
            </a:avLst>
          </a:prstGeom>
          <a:solidFill>
            <a:srgbClr val="FF8A3D"/>
          </a:solidFill>
          <a:ln w="6350">
            <a:solidFill>
              <a:srgbClr val="FF8A3D"/>
            </a:solidFill>
            <a:prstDash val="solid"/>
          </a:ln>
        </p:spPr>
      </p:sp>
      <p:sp>
        <p:nvSpPr>
          <p:cNvPr id="16" name="Text 13"/>
          <p:cNvSpPr txBox="1"/>
          <p:nvPr/>
        </p:nvSpPr>
        <p:spPr>
          <a:xfrm>
            <a:off x="5120640" y="2679192"/>
            <a:ext cx="3291840"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time · when?</a:t>
            </a:r>
            <a:endParaRPr lang="en-US" sz="1400" dirty="0"/>
          </a:p>
        </p:txBody>
      </p:sp>
      <p:sp>
        <p:nvSpPr>
          <p:cNvPr id="17" name="Shape 14"/>
          <p:cNvSpPr/>
          <p:nvPr/>
        </p:nvSpPr>
        <p:spPr>
          <a:xfrm>
            <a:off x="457200" y="3236976"/>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Text 15"/>
          <p:cNvSpPr txBox="1"/>
          <p:nvPr/>
        </p:nvSpPr>
        <p:spPr>
          <a:xfrm>
            <a:off x="685800" y="3236976"/>
            <a:ext cx="4206240" cy="530352"/>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on the moon</a:t>
            </a:r>
            <a:endParaRPr lang="en-US" sz="1600" dirty="0"/>
          </a:p>
        </p:txBody>
      </p:sp>
      <p:sp>
        <p:nvSpPr>
          <p:cNvPr id="19" name="Shape 16"/>
          <p:cNvSpPr/>
          <p:nvPr/>
        </p:nvSpPr>
        <p:spPr>
          <a:xfrm>
            <a:off x="5029200" y="3300984"/>
            <a:ext cx="3474720" cy="402336"/>
          </a:xfrm>
          <a:prstGeom prst="roundRect">
            <a:avLst>
              <a:gd name="adj" fmla="val 22727"/>
            </a:avLst>
          </a:prstGeom>
          <a:solidFill>
            <a:srgbClr val="2EC4B6"/>
          </a:solidFill>
          <a:ln w="6350">
            <a:solidFill>
              <a:srgbClr val="2EC4B6"/>
            </a:solidFill>
            <a:prstDash val="solid"/>
          </a:ln>
        </p:spPr>
      </p:sp>
      <p:sp>
        <p:nvSpPr>
          <p:cNvPr id="20" name="Text 17"/>
          <p:cNvSpPr txBox="1"/>
          <p:nvPr/>
        </p:nvSpPr>
        <p:spPr>
          <a:xfrm>
            <a:off x="5120640" y="3300984"/>
            <a:ext cx="3291840"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place · where?</a:t>
            </a:r>
            <a:endParaRPr lang="en-US" sz="1400" dirty="0"/>
          </a:p>
        </p:txBody>
      </p:sp>
      <p:sp>
        <p:nvSpPr>
          <p:cNvPr id="21" name="Shape 18"/>
          <p:cNvSpPr/>
          <p:nvPr/>
        </p:nvSpPr>
        <p:spPr>
          <a:xfrm>
            <a:off x="457200" y="3858768"/>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22" name="Text 19"/>
          <p:cNvSpPr txBox="1"/>
          <p:nvPr/>
        </p:nvSpPr>
        <p:spPr>
          <a:xfrm>
            <a:off x="685800" y="3858768"/>
            <a:ext cx="4206240" cy="530352"/>
          </a:xfrm>
          <a:prstGeom prst="rect">
            <a:avLst/>
          </a:prstGeom>
          <a:noFill/>
          <a:ln/>
        </p:spPr>
        <p:txBody>
          <a:bodyPr wrap="square" lIns="0" tIns="0" rIns="0" bIns="0" rtlCol="0" anchor="ctr"/>
          <a:lstStyle/>
          <a:p>
            <a:pPr marL="0" indent="0">
              <a:buNone/>
            </a:pPr>
            <a:r>
              <a:rPr lang="en-US" sz="1600" b="1" dirty="0">
                <a:solidFill>
                  <a:srgbClr val="0E1537"/>
                </a:solidFill>
                <a:latin typeface="Calibri" pitchFamily="34" charset="0"/>
                <a:ea typeface="Calibri" pitchFamily="34" charset="-122"/>
                <a:cs typeface="Calibri" pitchFamily="34" charset="-120"/>
              </a:rPr>
              <a:t>With great effort</a:t>
            </a:r>
            <a:endParaRPr lang="en-US" sz="1600" dirty="0"/>
          </a:p>
        </p:txBody>
      </p:sp>
      <p:sp>
        <p:nvSpPr>
          <p:cNvPr id="23" name="Shape 20"/>
          <p:cNvSpPr/>
          <p:nvPr/>
        </p:nvSpPr>
        <p:spPr>
          <a:xfrm>
            <a:off x="5029200" y="3922776"/>
            <a:ext cx="3474720" cy="402336"/>
          </a:xfrm>
          <a:prstGeom prst="roundRect">
            <a:avLst>
              <a:gd name="adj" fmla="val 22727"/>
            </a:avLst>
          </a:prstGeom>
          <a:solidFill>
            <a:srgbClr val="FF6B8B"/>
          </a:solidFill>
          <a:ln w="6350">
            <a:solidFill>
              <a:srgbClr val="FF6B8B"/>
            </a:solidFill>
            <a:prstDash val="solid"/>
          </a:ln>
        </p:spPr>
      </p:sp>
      <p:sp>
        <p:nvSpPr>
          <p:cNvPr id="24" name="Text 21"/>
          <p:cNvSpPr txBox="1"/>
          <p:nvPr/>
        </p:nvSpPr>
        <p:spPr>
          <a:xfrm>
            <a:off x="5120640" y="3922776"/>
            <a:ext cx="3291840"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manner · how?</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1d: write place and manner</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Activity 1d. Write two of your own sentences.</a:t>
            </a:r>
            <a:endParaRPr lang="en-US" sz="1300" dirty="0"/>
          </a:p>
        </p:txBody>
      </p:sp>
      <p:sp>
        <p:nvSpPr>
          <p:cNvPr id="5" name="Shape 2"/>
          <p:cNvSpPr/>
          <p:nvPr/>
        </p:nvSpPr>
        <p:spPr>
          <a:xfrm>
            <a:off x="457200" y="1371600"/>
            <a:ext cx="4023360" cy="1554480"/>
          </a:xfrm>
          <a:prstGeom prst="roundRect">
            <a:avLst>
              <a:gd name="adj" fmla="val 470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640080" y="1481328"/>
            <a:ext cx="1371600" cy="365760"/>
          </a:xfrm>
          <a:prstGeom prst="roundRect">
            <a:avLst>
              <a:gd name="adj" fmla="val 25000"/>
            </a:avLst>
          </a:prstGeom>
          <a:solidFill>
            <a:srgbClr val="2EC4B6"/>
          </a:solidFill>
          <a:ln w="6350">
            <a:solidFill>
              <a:srgbClr val="2EC4B6"/>
            </a:solidFill>
            <a:prstDash val="solid"/>
          </a:ln>
        </p:spPr>
      </p:sp>
      <p:sp>
        <p:nvSpPr>
          <p:cNvPr id="7" name="Text 4"/>
          <p:cNvSpPr txBox="1"/>
          <p:nvPr/>
        </p:nvSpPr>
        <p:spPr>
          <a:xfrm>
            <a:off x="731520" y="1481328"/>
            <a:ext cx="1188720" cy="36576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PLACE</a:t>
            </a:r>
            <a:endParaRPr lang="en-US" sz="1400" dirty="0"/>
          </a:p>
        </p:txBody>
      </p:sp>
      <p:sp>
        <p:nvSpPr>
          <p:cNvPr id="8" name="Text 5"/>
          <p:cNvSpPr txBox="1"/>
          <p:nvPr/>
        </p:nvSpPr>
        <p:spPr>
          <a:xfrm>
            <a:off x="685800" y="2011680"/>
            <a:ext cx="3566160" cy="822960"/>
          </a:xfrm>
          <a:prstGeom prst="rect">
            <a:avLst/>
          </a:prstGeom>
          <a:noFill/>
          <a:ln/>
        </p:spPr>
        <p:txBody>
          <a:bodyPr wrap="square" lIns="0" tIns="0" rIns="0" bIns="0" rtlCol="0" anchor="t"/>
          <a:lstStyle/>
          <a:p>
            <a:pPr marL="0" indent="0">
              <a:buNone/>
            </a:pPr>
            <a:r>
              <a:rPr lang="en-US" sz="1600" dirty="0">
                <a:solidFill>
                  <a:srgbClr val="0E1537"/>
                </a:solidFill>
                <a:latin typeface="Calibri" pitchFamily="34" charset="0"/>
                <a:ea typeface="Calibri" pitchFamily="34" charset="-122"/>
                <a:cs typeface="Calibri" pitchFamily="34" charset="-120"/>
              </a:rPr>
              <a:t>The satellite orbited </a:t>
            </a:r>
            <a:r>
              <a:rPr lang="en-US" sz="1600" b="1" dirty="0">
                <a:solidFill>
                  <a:srgbClr val="7B5CE0"/>
                </a:solidFill>
                <a:latin typeface="Calibri" pitchFamily="34" charset="0"/>
                <a:ea typeface="Calibri" pitchFamily="34" charset="-122"/>
                <a:cs typeface="Calibri" pitchFamily="34" charset="-120"/>
              </a:rPr>
              <a:t>above the Earth</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9" name="Shape 6"/>
          <p:cNvSpPr/>
          <p:nvPr/>
        </p:nvSpPr>
        <p:spPr>
          <a:xfrm>
            <a:off x="4663440" y="1371600"/>
            <a:ext cx="4023360" cy="1554480"/>
          </a:xfrm>
          <a:prstGeom prst="roundRect">
            <a:avLst>
              <a:gd name="adj" fmla="val 470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4846320" y="1481328"/>
            <a:ext cx="1371600" cy="365760"/>
          </a:xfrm>
          <a:prstGeom prst="roundRect">
            <a:avLst>
              <a:gd name="adj" fmla="val 25000"/>
            </a:avLst>
          </a:prstGeom>
          <a:solidFill>
            <a:srgbClr val="FF6B8B"/>
          </a:solidFill>
          <a:ln w="6350">
            <a:solidFill>
              <a:srgbClr val="FF6B8B"/>
            </a:solidFill>
            <a:prstDash val="solid"/>
          </a:ln>
        </p:spPr>
      </p:sp>
      <p:sp>
        <p:nvSpPr>
          <p:cNvPr id="11" name="Text 8"/>
          <p:cNvSpPr txBox="1"/>
          <p:nvPr/>
        </p:nvSpPr>
        <p:spPr>
          <a:xfrm>
            <a:off x="4937760" y="1481328"/>
            <a:ext cx="1188720" cy="36576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MANNER</a:t>
            </a:r>
            <a:endParaRPr lang="en-US" sz="1400" dirty="0"/>
          </a:p>
        </p:txBody>
      </p:sp>
      <p:sp>
        <p:nvSpPr>
          <p:cNvPr id="12" name="Text 9"/>
          <p:cNvSpPr txBox="1"/>
          <p:nvPr/>
        </p:nvSpPr>
        <p:spPr>
          <a:xfrm>
            <a:off x="4892040" y="2011680"/>
            <a:ext cx="3566160" cy="822960"/>
          </a:xfrm>
          <a:prstGeom prst="rect">
            <a:avLst/>
          </a:prstGeom>
          <a:noFill/>
          <a:ln/>
        </p:spPr>
        <p:txBody>
          <a:bodyPr wrap="square" lIns="0" tIns="0" rIns="0" bIns="0" rtlCol="0" anchor="t"/>
          <a:lstStyle/>
          <a:p>
            <a:pPr marL="0" indent="0">
              <a:buNone/>
            </a:pPr>
            <a:r>
              <a:rPr lang="en-US" sz="1600" b="1" dirty="0">
                <a:solidFill>
                  <a:srgbClr val="7B5CE0"/>
                </a:solidFill>
                <a:latin typeface="Calibri" pitchFamily="34" charset="0"/>
                <a:ea typeface="Calibri" pitchFamily="34" charset="-122"/>
                <a:cs typeface="Calibri" pitchFamily="34" charset="-120"/>
              </a:rPr>
              <a:t>With great care</a:t>
            </a:r>
            <a:r>
              <a:rPr lang="en-US" sz="1600" dirty="0">
                <a:solidFill>
                  <a:srgbClr val="0E1537"/>
                </a:solidFill>
                <a:latin typeface="Calibri" pitchFamily="34" charset="0"/>
                <a:ea typeface="Calibri" pitchFamily="34" charset="-122"/>
                <a:cs typeface="Calibri" pitchFamily="34" charset="-120"/>
              </a:rPr>
              <a:t>, the crew opened the hatch.</a:t>
            </a:r>
            <a:endParaRPr lang="en-US" sz="1600" dirty="0"/>
          </a:p>
        </p:txBody>
      </p:sp>
      <p:sp>
        <p:nvSpPr>
          <p:cNvPr id="13" name="Shape 10"/>
          <p:cNvSpPr/>
          <p:nvPr/>
        </p:nvSpPr>
        <p:spPr>
          <a:xfrm>
            <a:off x="457200" y="3154680"/>
            <a:ext cx="8229600" cy="548640"/>
          </a:xfrm>
          <a:prstGeom prst="roundRect">
            <a:avLst>
              <a:gd name="adj" fmla="val 13333"/>
            </a:avLst>
          </a:prstGeom>
          <a:solidFill>
            <a:srgbClr val="FFD166"/>
          </a:solidFill>
          <a:ln w="6350">
            <a:solidFill>
              <a:srgbClr val="FFD166"/>
            </a:solidFill>
            <a:prstDash val="solid"/>
          </a:ln>
        </p:spPr>
      </p:sp>
      <p:sp>
        <p:nvSpPr>
          <p:cNvPr id="14" name="Text 11"/>
          <p:cNvSpPr txBox="1"/>
          <p:nvPr/>
        </p:nvSpPr>
        <p:spPr>
          <a:xfrm>
            <a:off x="640080" y="3154680"/>
            <a:ext cx="7863840" cy="54864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Ideas: on the moon · above the Earth · inside the station · bravely · with great care</a:t>
            </a:r>
            <a:endParaRPr lang="en-US" sz="1400" dirty="0"/>
          </a:p>
        </p:txBody>
      </p:sp>
      <p:sp>
        <p:nvSpPr>
          <p:cNvPr id="15" name="Shape 12"/>
          <p:cNvSpPr/>
          <p:nvPr/>
        </p:nvSpPr>
        <p:spPr>
          <a:xfrm>
            <a:off x="457200" y="3886200"/>
            <a:ext cx="8229600" cy="594360"/>
          </a:xfrm>
          <a:prstGeom prst="roundRect">
            <a:avLst>
              <a:gd name="adj" fmla="val 12308"/>
            </a:avLst>
          </a:prstGeom>
          <a:solidFill>
            <a:srgbClr val="7B5CE0"/>
          </a:solidFill>
          <a:ln w="6350">
            <a:solidFill>
              <a:srgbClr val="7B5CE0"/>
            </a:solidFill>
            <a:prstDash val="solid"/>
          </a:ln>
        </p:spPr>
      </p:sp>
      <p:sp>
        <p:nvSpPr>
          <p:cNvPr id="16" name="Text 13"/>
          <p:cNvSpPr txBox="1"/>
          <p:nvPr/>
        </p:nvSpPr>
        <p:spPr>
          <a:xfrm>
            <a:off x="640080" y="3886200"/>
            <a:ext cx="7863840" cy="5943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CHALLENGE → Start one sentence with an adverbial and join two ideas with a FANBOYS connective.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1d: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Pupils’ versions will vary.</a:t>
            </a:r>
            <a:endParaRPr lang="en-US" sz="1300" dirty="0"/>
          </a:p>
        </p:txBody>
      </p:sp>
      <p:sp>
        <p:nvSpPr>
          <p:cNvPr id="5" name="Shape 2"/>
          <p:cNvSpPr/>
          <p:nvPr/>
        </p:nvSpPr>
        <p:spPr>
          <a:xfrm>
            <a:off x="457200" y="1371600"/>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35608"/>
            <a:ext cx="1280160" cy="402336"/>
          </a:xfrm>
          <a:prstGeom prst="roundRect">
            <a:avLst>
              <a:gd name="adj" fmla="val 22727"/>
            </a:avLst>
          </a:prstGeom>
          <a:solidFill>
            <a:srgbClr val="2EC4B6"/>
          </a:solidFill>
          <a:ln w="6350">
            <a:solidFill>
              <a:srgbClr val="2EC4B6"/>
            </a:solidFill>
            <a:prstDash val="solid"/>
          </a:ln>
        </p:spPr>
      </p:sp>
      <p:sp>
        <p:nvSpPr>
          <p:cNvPr id="7" name="Text 4"/>
          <p:cNvSpPr txBox="1"/>
          <p:nvPr/>
        </p:nvSpPr>
        <p:spPr>
          <a:xfrm>
            <a:off x="685800" y="1435608"/>
            <a:ext cx="1097280" cy="402336"/>
          </a:xfrm>
          <a:prstGeom prst="rect">
            <a:avLst/>
          </a:prstGeom>
          <a:noFill/>
          <a:ln/>
        </p:spPr>
        <p:txBody>
          <a:bodyPr wrap="square" lIns="0" tIns="0" rIns="0" bIns="0" rtlCol="0" anchor="ctr"/>
          <a:lstStyle/>
          <a:p>
            <a:pPr marL="0" indent="0" algn="ctr">
              <a:buNone/>
            </a:pPr>
            <a:r>
              <a:rPr lang="en-US" sz="1300" b="1" dirty="0">
                <a:solidFill>
                  <a:srgbClr val="0E1537"/>
                </a:solidFill>
                <a:latin typeface="Cambria" pitchFamily="34" charset="0"/>
                <a:ea typeface="Cambria" pitchFamily="34" charset="-122"/>
                <a:cs typeface="Cambria" pitchFamily="34" charset="-120"/>
              </a:rPr>
              <a:t>Place</a:t>
            </a:r>
            <a:endParaRPr lang="en-US" sz="1300" dirty="0"/>
          </a:p>
        </p:txBody>
      </p:sp>
      <p:sp>
        <p:nvSpPr>
          <p:cNvPr id="8" name="Text 5"/>
          <p:cNvSpPr txBox="1"/>
          <p:nvPr/>
        </p:nvSpPr>
        <p:spPr>
          <a:xfrm>
            <a:off x="2103120" y="1371600"/>
            <a:ext cx="630936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Astronauts work </a:t>
            </a:r>
            <a:r>
              <a:rPr lang="en-US" sz="1600" b="1" dirty="0">
                <a:solidFill>
                  <a:srgbClr val="7B5CE0"/>
                </a:solidFill>
                <a:latin typeface="Calibri" pitchFamily="34" charset="0"/>
                <a:ea typeface="Calibri" pitchFamily="34" charset="-122"/>
                <a:cs typeface="Calibri" pitchFamily="34" charset="-120"/>
              </a:rPr>
              <a:t>inside the space station</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9" name="Shape 6"/>
          <p:cNvSpPr/>
          <p:nvPr/>
        </p:nvSpPr>
        <p:spPr>
          <a:xfrm>
            <a:off x="457200" y="1993392"/>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057400"/>
            <a:ext cx="1280160" cy="402336"/>
          </a:xfrm>
          <a:prstGeom prst="roundRect">
            <a:avLst>
              <a:gd name="adj" fmla="val 22727"/>
            </a:avLst>
          </a:prstGeom>
          <a:solidFill>
            <a:srgbClr val="2EC4B6"/>
          </a:solidFill>
          <a:ln w="6350">
            <a:solidFill>
              <a:srgbClr val="2EC4B6"/>
            </a:solidFill>
            <a:prstDash val="solid"/>
          </a:ln>
        </p:spPr>
      </p:sp>
      <p:sp>
        <p:nvSpPr>
          <p:cNvPr id="11" name="Text 8"/>
          <p:cNvSpPr txBox="1"/>
          <p:nvPr/>
        </p:nvSpPr>
        <p:spPr>
          <a:xfrm>
            <a:off x="685800" y="2057400"/>
            <a:ext cx="1097280" cy="402336"/>
          </a:xfrm>
          <a:prstGeom prst="rect">
            <a:avLst/>
          </a:prstGeom>
          <a:noFill/>
          <a:ln/>
        </p:spPr>
        <p:txBody>
          <a:bodyPr wrap="square" lIns="0" tIns="0" rIns="0" bIns="0" rtlCol="0" anchor="ctr"/>
          <a:lstStyle/>
          <a:p>
            <a:pPr marL="0" indent="0" algn="ctr">
              <a:buNone/>
            </a:pPr>
            <a:r>
              <a:rPr lang="en-US" sz="1300" b="1" dirty="0">
                <a:solidFill>
                  <a:srgbClr val="0E1537"/>
                </a:solidFill>
                <a:latin typeface="Cambria" pitchFamily="34" charset="0"/>
                <a:ea typeface="Cambria" pitchFamily="34" charset="-122"/>
                <a:cs typeface="Cambria" pitchFamily="34" charset="-120"/>
              </a:rPr>
              <a:t>Place</a:t>
            </a:r>
            <a:endParaRPr lang="en-US" sz="1300" dirty="0"/>
          </a:p>
        </p:txBody>
      </p:sp>
      <p:sp>
        <p:nvSpPr>
          <p:cNvPr id="12" name="Text 9"/>
          <p:cNvSpPr txBox="1"/>
          <p:nvPr/>
        </p:nvSpPr>
        <p:spPr>
          <a:xfrm>
            <a:off x="2103120" y="1993392"/>
            <a:ext cx="630936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The satellite orbited </a:t>
            </a:r>
            <a:r>
              <a:rPr lang="en-US" sz="1600" b="1" dirty="0">
                <a:solidFill>
                  <a:srgbClr val="7B5CE0"/>
                </a:solidFill>
                <a:latin typeface="Calibri" pitchFamily="34" charset="0"/>
                <a:ea typeface="Calibri" pitchFamily="34" charset="-122"/>
                <a:cs typeface="Calibri" pitchFamily="34" charset="-120"/>
              </a:rPr>
              <a:t>above the Earth</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13" name="Shape 10"/>
          <p:cNvSpPr/>
          <p:nvPr/>
        </p:nvSpPr>
        <p:spPr>
          <a:xfrm>
            <a:off x="457200" y="2615184"/>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679192"/>
            <a:ext cx="1280160" cy="402336"/>
          </a:xfrm>
          <a:prstGeom prst="roundRect">
            <a:avLst>
              <a:gd name="adj" fmla="val 22727"/>
            </a:avLst>
          </a:prstGeom>
          <a:solidFill>
            <a:srgbClr val="FF6B8B"/>
          </a:solidFill>
          <a:ln w="6350">
            <a:solidFill>
              <a:srgbClr val="FF6B8B"/>
            </a:solidFill>
            <a:prstDash val="solid"/>
          </a:ln>
        </p:spPr>
      </p:sp>
      <p:sp>
        <p:nvSpPr>
          <p:cNvPr id="15" name="Text 12"/>
          <p:cNvSpPr txBox="1"/>
          <p:nvPr/>
        </p:nvSpPr>
        <p:spPr>
          <a:xfrm>
            <a:off x="685800" y="2679192"/>
            <a:ext cx="1097280" cy="402336"/>
          </a:xfrm>
          <a:prstGeom prst="rect">
            <a:avLst/>
          </a:prstGeom>
          <a:noFill/>
          <a:ln/>
        </p:spPr>
        <p:txBody>
          <a:bodyPr wrap="square" lIns="0" tIns="0" rIns="0" bIns="0" rtlCol="0" anchor="ctr"/>
          <a:lstStyle/>
          <a:p>
            <a:pPr marL="0" indent="0" algn="ctr">
              <a:buNone/>
            </a:pPr>
            <a:r>
              <a:rPr lang="en-US" sz="1300" b="1" dirty="0">
                <a:solidFill>
                  <a:srgbClr val="0E1537"/>
                </a:solidFill>
                <a:latin typeface="Cambria" pitchFamily="34" charset="0"/>
                <a:ea typeface="Cambria" pitchFamily="34" charset="-122"/>
                <a:cs typeface="Cambria" pitchFamily="34" charset="-120"/>
              </a:rPr>
              <a:t>Manner</a:t>
            </a:r>
            <a:endParaRPr lang="en-US" sz="1300" dirty="0"/>
          </a:p>
        </p:txBody>
      </p:sp>
      <p:sp>
        <p:nvSpPr>
          <p:cNvPr id="16" name="Text 13"/>
          <p:cNvSpPr txBox="1"/>
          <p:nvPr/>
        </p:nvSpPr>
        <p:spPr>
          <a:xfrm>
            <a:off x="2103120" y="2615184"/>
            <a:ext cx="6309360" cy="530352"/>
          </a:xfrm>
          <a:prstGeom prst="rect">
            <a:avLst/>
          </a:prstGeom>
          <a:noFill/>
          <a:ln/>
        </p:spPr>
        <p:txBody>
          <a:bodyPr wrap="square" lIns="0" tIns="0" rIns="0" bIns="0" rtlCol="0" anchor="ctr"/>
          <a:lstStyle/>
          <a:p>
            <a:pPr marL="0" indent="0">
              <a:buNone/>
            </a:pPr>
            <a:r>
              <a:rPr lang="en-US" sz="1600" b="1" dirty="0">
                <a:solidFill>
                  <a:srgbClr val="7B5CE0"/>
                </a:solidFill>
                <a:latin typeface="Calibri" pitchFamily="34" charset="0"/>
                <a:ea typeface="Calibri" pitchFamily="34" charset="-122"/>
                <a:cs typeface="Calibri" pitchFamily="34" charset="-120"/>
              </a:rPr>
              <a:t>With great care</a:t>
            </a:r>
            <a:r>
              <a:rPr lang="en-US" sz="1600" dirty="0">
                <a:solidFill>
                  <a:srgbClr val="0E1537"/>
                </a:solidFill>
                <a:latin typeface="Calibri" pitchFamily="34" charset="0"/>
                <a:ea typeface="Calibri" pitchFamily="34" charset="-122"/>
                <a:cs typeface="Calibri" pitchFamily="34" charset="-120"/>
              </a:rPr>
              <a:t>, the crew opened the hatch.</a:t>
            </a:r>
            <a:endParaRPr lang="en-US" sz="1600" dirty="0"/>
          </a:p>
        </p:txBody>
      </p:sp>
      <p:sp>
        <p:nvSpPr>
          <p:cNvPr id="17" name="Shape 14"/>
          <p:cNvSpPr/>
          <p:nvPr/>
        </p:nvSpPr>
        <p:spPr>
          <a:xfrm>
            <a:off x="457200" y="3236976"/>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300984"/>
            <a:ext cx="1280160" cy="402336"/>
          </a:xfrm>
          <a:prstGeom prst="roundRect">
            <a:avLst>
              <a:gd name="adj" fmla="val 22727"/>
            </a:avLst>
          </a:prstGeom>
          <a:solidFill>
            <a:srgbClr val="FF6B8B"/>
          </a:solidFill>
          <a:ln w="6350">
            <a:solidFill>
              <a:srgbClr val="FF6B8B"/>
            </a:solidFill>
            <a:prstDash val="solid"/>
          </a:ln>
        </p:spPr>
      </p:sp>
      <p:sp>
        <p:nvSpPr>
          <p:cNvPr id="19" name="Text 16"/>
          <p:cNvSpPr txBox="1"/>
          <p:nvPr/>
        </p:nvSpPr>
        <p:spPr>
          <a:xfrm>
            <a:off x="685800" y="3300984"/>
            <a:ext cx="1097280" cy="402336"/>
          </a:xfrm>
          <a:prstGeom prst="rect">
            <a:avLst/>
          </a:prstGeom>
          <a:noFill/>
          <a:ln/>
        </p:spPr>
        <p:txBody>
          <a:bodyPr wrap="square" lIns="0" tIns="0" rIns="0" bIns="0" rtlCol="0" anchor="ctr"/>
          <a:lstStyle/>
          <a:p>
            <a:pPr marL="0" indent="0" algn="ctr">
              <a:buNone/>
            </a:pPr>
            <a:r>
              <a:rPr lang="en-US" sz="1300" b="1" dirty="0">
                <a:solidFill>
                  <a:srgbClr val="0E1537"/>
                </a:solidFill>
                <a:latin typeface="Cambria" pitchFamily="34" charset="0"/>
                <a:ea typeface="Cambria" pitchFamily="34" charset="-122"/>
                <a:cs typeface="Cambria" pitchFamily="34" charset="-120"/>
              </a:rPr>
              <a:t>Manner</a:t>
            </a:r>
            <a:endParaRPr lang="en-US" sz="1300" dirty="0"/>
          </a:p>
        </p:txBody>
      </p:sp>
      <p:sp>
        <p:nvSpPr>
          <p:cNvPr id="20" name="Text 17"/>
          <p:cNvSpPr txBox="1"/>
          <p:nvPr/>
        </p:nvSpPr>
        <p:spPr>
          <a:xfrm>
            <a:off x="2103120" y="3236976"/>
            <a:ext cx="6309360" cy="530352"/>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The astronaut waved </a:t>
            </a:r>
            <a:r>
              <a:rPr lang="en-US" sz="1600" b="1" dirty="0">
                <a:solidFill>
                  <a:srgbClr val="7B5CE0"/>
                </a:solidFill>
                <a:latin typeface="Calibri" pitchFamily="34" charset="0"/>
                <a:ea typeface="Calibri" pitchFamily="34" charset="-122"/>
                <a:cs typeface="Calibri" pitchFamily="34" charset="-120"/>
              </a:rPr>
              <a:t>happily</a:t>
            </a:r>
            <a:r>
              <a:rPr lang="en-US" sz="1600" dirty="0">
                <a:solidFill>
                  <a:srgbClr val="0E1537"/>
                </a:solidFill>
                <a:latin typeface="Calibri" pitchFamily="34" charset="0"/>
                <a:ea typeface="Calibri" pitchFamily="34" charset="-122"/>
                <a:cs typeface="Calibri" pitchFamily="34" charset="-120"/>
              </a:rPr>
              <a:t>.</a:t>
            </a:r>
            <a:endParaRPr lang="en-US" sz="1600" dirty="0"/>
          </a:p>
        </p:txBody>
      </p:sp>
      <p:sp>
        <p:nvSpPr>
          <p:cNvPr id="21" name="Shape 18"/>
          <p:cNvSpPr/>
          <p:nvPr/>
        </p:nvSpPr>
        <p:spPr>
          <a:xfrm>
            <a:off x="457200" y="3931920"/>
            <a:ext cx="8229600" cy="594360"/>
          </a:xfrm>
          <a:prstGeom prst="roundRect">
            <a:avLst>
              <a:gd name="adj" fmla="val 12308"/>
            </a:avLst>
          </a:prstGeom>
          <a:solidFill>
            <a:srgbClr val="FFD166"/>
          </a:solidFill>
          <a:ln w="6350">
            <a:solidFill>
              <a:srgbClr val="FFD166"/>
            </a:solidFill>
            <a:prstDash val="solid"/>
          </a:ln>
        </p:spPr>
      </p:sp>
      <p:sp>
        <p:nvSpPr>
          <p:cNvPr id="22" name="Text 19"/>
          <p:cNvSpPr txBox="1"/>
          <p:nvPr/>
        </p:nvSpPr>
        <p:spPr>
          <a:xfrm>
            <a:off x="640080" y="3931920"/>
            <a:ext cx="7863840" cy="59436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Challenge: After years of practice, the astronaut walked on the moon, and she felt proud.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828800"/>
            <a:ext cx="7315200" cy="822960"/>
          </a:xfrm>
          <a:prstGeom prst="rect">
            <a:avLst/>
          </a:prstGeom>
          <a:noFill/>
          <a:ln/>
        </p:spPr>
        <p:txBody>
          <a:bodyPr wrap="square" lIns="0" tIns="0" rIns="0" bIns="0" rtlCol="0" anchor="t"/>
          <a:lstStyle/>
          <a:p>
            <a:pPr marL="0" indent="0" algn="l">
              <a:buNone/>
            </a:pPr>
            <a:r>
              <a:rPr lang="en-US" sz="4000" b="1" dirty="0">
                <a:solidFill>
                  <a:srgbClr val="FFD166"/>
                </a:solidFill>
                <a:latin typeface="Cambria" pitchFamily="34" charset="0"/>
                <a:ea typeface="Cambria" pitchFamily="34" charset="-122"/>
                <a:cs typeface="Cambria" pitchFamily="34" charset="-120"/>
              </a:rPr>
              <a:t>Prefixes</a:t>
            </a:r>
            <a:endParaRPr lang="en-US" sz="4000" dirty="0"/>
          </a:p>
        </p:txBody>
      </p:sp>
      <p:sp>
        <p:nvSpPr>
          <p:cNvPr id="3" name="Text 0"/>
          <p:cNvSpPr>
            <a:spLocks noGrp="1"/>
          </p:cNvSpPr>
          <p:nvPr>
            <p:ph type="body" idx="101" hasCustomPrompt="1"/>
          </p:nvPr>
        </p:nvSpPr>
        <p:spPr>
          <a:xfrm>
            <a:off x="457200" y="2697480"/>
            <a:ext cx="8229600" cy="411480"/>
          </a:xfrm>
          <a:prstGeom prst="rect">
            <a:avLst/>
          </a:prstGeom>
          <a:noFill/>
          <a:ln/>
        </p:spPr>
        <p:txBody>
          <a:bodyPr wrap="square" lIns="0" tIns="0" rIns="0" bIns="0" rtlCol="0" anchor="t"/>
          <a:lstStyle/>
          <a:p>
            <a:pPr marL="0" indent="0" algn="l">
              <a:buNone/>
            </a:pPr>
            <a:r>
              <a:rPr lang="en-US" sz="1800" i="1" dirty="0">
                <a:solidFill>
                  <a:srgbClr val="CFD4FF"/>
                </a:solidFill>
                <a:latin typeface="Calibri" pitchFamily="34" charset="0"/>
                <a:ea typeface="Calibri" pitchFamily="34" charset="-122"/>
                <a:cs typeface="Calibri" pitchFamily="34" charset="-120"/>
              </a:rPr>
              <a:t>Build words · Activities 2a to 2d</a:t>
            </a:r>
            <a:endParaRPr lang="en-US" sz="1800" dirty="0"/>
          </a:p>
        </p:txBody>
      </p:sp>
      <p:sp>
        <p:nvSpPr>
          <p:cNvPr id="5" name="Shape 2"/>
          <p:cNvSpPr/>
          <p:nvPr/>
        </p:nvSpPr>
        <p:spPr>
          <a:xfrm>
            <a:off x="457200" y="1280160"/>
            <a:ext cx="1188720" cy="292608"/>
          </a:xfrm>
          <a:prstGeom prst="roundRect">
            <a:avLst>
              <a:gd name="adj" fmla="val 50000"/>
            </a:avLst>
          </a:prstGeom>
          <a:solidFill>
            <a:srgbClr val="FF8A3D"/>
          </a:solidFill>
          <a:ln w="6350">
            <a:solidFill>
              <a:srgbClr val="FF8A3D"/>
            </a:solidFill>
            <a:prstDash val="solid"/>
          </a:ln>
        </p:spPr>
      </p:sp>
      <p:sp>
        <p:nvSpPr>
          <p:cNvPr id="6" name="Text 3"/>
          <p:cNvSpPr txBox="1"/>
          <p:nvPr/>
        </p:nvSpPr>
        <p:spPr>
          <a:xfrm>
            <a:off x="457200" y="1280160"/>
            <a:ext cx="1188720" cy="292608"/>
          </a:xfrm>
          <a:prstGeom prst="rect">
            <a:avLst/>
          </a:prstGeom>
          <a:noFill/>
          <a:ln/>
        </p:spPr>
        <p:txBody>
          <a:bodyPr wrap="square" lIns="0" tIns="0" rIns="0" bIns="0" rtlCol="0" anchor="ctr"/>
          <a:lstStyle/>
          <a:p>
            <a:pPr marL="0" indent="0" algn="ctr">
              <a:buNone/>
            </a:pPr>
            <a:r>
              <a:rPr lang="en-US" sz="1200" b="1" dirty="0">
                <a:solidFill>
                  <a:srgbClr val="0E1537"/>
                </a:solidFill>
                <a:latin typeface="Calibri" pitchFamily="34" charset="0"/>
                <a:ea typeface="Calibri" pitchFamily="34" charset="-122"/>
                <a:cs typeface="Calibri" pitchFamily="34" charset="-120"/>
              </a:rPr>
              <a:t>PART 2</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Word 2: PREFIX</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Teacher routine: say it → pupils repeat → context clue → predict → reveal meaning.</a:t>
            </a:r>
            <a:endParaRPr lang="en-US" sz="1300" dirty="0"/>
          </a:p>
        </p:txBody>
      </p:sp>
      <p:sp>
        <p:nvSpPr>
          <p:cNvPr id="5" name="Shape 2"/>
          <p:cNvSpPr/>
          <p:nvPr/>
        </p:nvSpPr>
        <p:spPr>
          <a:xfrm>
            <a:off x="457200" y="1371600"/>
            <a:ext cx="8229600" cy="731520"/>
          </a:xfrm>
          <a:prstGeom prst="roundRect">
            <a:avLst>
              <a:gd name="adj" fmla="val 10000"/>
            </a:avLst>
          </a:prstGeom>
          <a:solidFill>
            <a:srgbClr val="FFD166"/>
          </a:solidFill>
          <a:ln w="6350">
            <a:solidFill>
              <a:srgbClr val="FFD166"/>
            </a:solidFill>
            <a:prstDash val="solid"/>
          </a:ln>
        </p:spPr>
      </p:sp>
      <p:sp>
        <p:nvSpPr>
          <p:cNvPr id="6" name="Text 3"/>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2200" b="1" dirty="0">
                <a:solidFill>
                  <a:srgbClr val="0E1537"/>
                </a:solidFill>
                <a:latin typeface="Cambria" pitchFamily="34" charset="0"/>
                <a:ea typeface="Cambria" pitchFamily="34" charset="-122"/>
                <a:cs typeface="Cambria" pitchFamily="34" charset="-120"/>
              </a:rPr>
              <a:t>un</a:t>
            </a:r>
            <a:r>
              <a:rPr lang="en-US" sz="2200" dirty="0">
                <a:solidFill>
                  <a:srgbClr val="0E1537"/>
                </a:solidFill>
                <a:latin typeface="Cambria" pitchFamily="34" charset="0"/>
                <a:ea typeface="Cambria" pitchFamily="34" charset="-122"/>
                <a:cs typeface="Cambria" pitchFamily="34" charset="-120"/>
              </a:rPr>
              <a:t>happy · </a:t>
            </a:r>
            <a:r>
              <a:rPr lang="en-US" sz="2200" b="1" dirty="0">
                <a:solidFill>
                  <a:srgbClr val="0E1537"/>
                </a:solidFill>
                <a:latin typeface="Cambria" pitchFamily="34" charset="0"/>
                <a:ea typeface="Cambria" pitchFamily="34" charset="-122"/>
                <a:cs typeface="Cambria" pitchFamily="34" charset="-120"/>
              </a:rPr>
              <a:t>tri</a:t>
            </a:r>
            <a:r>
              <a:rPr lang="en-US" sz="2200" dirty="0">
                <a:solidFill>
                  <a:srgbClr val="0E1537"/>
                </a:solidFill>
                <a:latin typeface="Cambria" pitchFamily="34" charset="0"/>
                <a:ea typeface="Cambria" pitchFamily="34" charset="-122"/>
                <a:cs typeface="Cambria" pitchFamily="34" charset="-120"/>
              </a:rPr>
              <a:t>angle · </a:t>
            </a:r>
            <a:r>
              <a:rPr lang="en-US" sz="2200" b="1" dirty="0">
                <a:solidFill>
                  <a:srgbClr val="0E1537"/>
                </a:solidFill>
                <a:latin typeface="Cambria" pitchFamily="34" charset="0"/>
                <a:ea typeface="Cambria" pitchFamily="34" charset="-122"/>
                <a:cs typeface="Cambria" pitchFamily="34" charset="-120"/>
              </a:rPr>
              <a:t>pre</a:t>
            </a:r>
            <a:r>
              <a:rPr lang="en-US" sz="2200" dirty="0">
                <a:solidFill>
                  <a:srgbClr val="0E1537"/>
                </a:solidFill>
                <a:latin typeface="Cambria" pitchFamily="34" charset="0"/>
                <a:ea typeface="Cambria" pitchFamily="34" charset="-122"/>
                <a:cs typeface="Cambria" pitchFamily="34" charset="-120"/>
              </a:rPr>
              <a:t>view · </a:t>
            </a:r>
            <a:r>
              <a:rPr lang="en-US" sz="2200" b="1" dirty="0">
                <a:solidFill>
                  <a:srgbClr val="0E1537"/>
                </a:solidFill>
                <a:latin typeface="Cambria" pitchFamily="34" charset="0"/>
                <a:ea typeface="Cambria" pitchFamily="34" charset="-122"/>
                <a:cs typeface="Cambria" pitchFamily="34" charset="-120"/>
              </a:rPr>
              <a:t>auto</a:t>
            </a:r>
            <a:r>
              <a:rPr lang="en-US" sz="2200" dirty="0">
                <a:solidFill>
                  <a:srgbClr val="0E1537"/>
                </a:solidFill>
                <a:latin typeface="Cambria" pitchFamily="34" charset="0"/>
                <a:ea typeface="Cambria" pitchFamily="34" charset="-122"/>
                <a:cs typeface="Cambria" pitchFamily="34" charset="-120"/>
              </a:rPr>
              <a:t>matic</a:t>
            </a:r>
            <a:endParaRPr lang="en-US" sz="2200" dirty="0"/>
          </a:p>
        </p:txBody>
      </p:sp>
      <p:sp>
        <p:nvSpPr>
          <p:cNvPr id="7" name="Shape 4"/>
          <p:cNvSpPr/>
          <p:nvPr/>
        </p:nvSpPr>
        <p:spPr>
          <a:xfrm>
            <a:off x="457200" y="2377440"/>
            <a:ext cx="4023360" cy="2103120"/>
          </a:xfrm>
          <a:prstGeom prst="roundRect">
            <a:avLst>
              <a:gd name="adj" fmla="val 3478"/>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8" name="Shape 5"/>
          <p:cNvSpPr/>
          <p:nvPr/>
        </p:nvSpPr>
        <p:spPr>
          <a:xfrm>
            <a:off x="640080" y="2514600"/>
            <a:ext cx="365760" cy="365760"/>
          </a:xfrm>
          <a:prstGeom prst="ellipse">
            <a:avLst/>
          </a:prstGeom>
          <a:solidFill>
            <a:srgbClr val="2EC4B6"/>
          </a:solidFill>
          <a:ln w="6350">
            <a:solidFill>
              <a:srgbClr val="2EC4B6"/>
            </a:solidFill>
            <a:prstDash val="solid"/>
          </a:ln>
        </p:spPr>
      </p:sp>
      <p:sp>
        <p:nvSpPr>
          <p:cNvPr id="9" name="Text 6"/>
          <p:cNvSpPr txBox="1"/>
          <p:nvPr/>
        </p:nvSpPr>
        <p:spPr>
          <a:xfrm>
            <a:off x="640080" y="2514600"/>
            <a:ext cx="365760" cy="36576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1143000" y="2514600"/>
            <a:ext cx="2743200" cy="36576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HEAR &amp; SAY</a:t>
            </a:r>
            <a:endParaRPr lang="en-US" sz="1400" dirty="0"/>
          </a:p>
        </p:txBody>
      </p:sp>
      <p:sp>
        <p:nvSpPr>
          <p:cNvPr id="11" name="Text 8"/>
          <p:cNvSpPr txBox="1"/>
          <p:nvPr/>
        </p:nvSpPr>
        <p:spPr>
          <a:xfrm>
            <a:off x="685800" y="301752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Teacher says PREE-fix twice.</a:t>
            </a:r>
            <a:endParaRPr lang="en-US" sz="1400" dirty="0"/>
          </a:p>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Pupils repeat it twice.</a:t>
            </a:r>
            <a:endParaRPr lang="en-US" sz="1400" dirty="0"/>
          </a:p>
          <a:p>
            <a:pPr marL="342900" indent="-342900">
              <a:spcAft>
                <a:spcPts val="600"/>
              </a:spcAft>
              <a:buSzPct val="100000"/>
              <a:buChar char="•"/>
            </a:pPr>
            <a:r>
              <a:rPr lang="en-US" sz="1400" dirty="0">
                <a:solidFill>
                  <a:srgbClr val="0E1537"/>
                </a:solidFill>
                <a:latin typeface="Calibri" pitchFamily="34" charset="0"/>
                <a:ea typeface="Calibri" pitchFamily="34" charset="-122"/>
                <a:cs typeface="Calibri" pitchFamily="34" charset="-120"/>
              </a:rPr>
              <a:t>Ask: what do you notice about the highlighted letters?</a:t>
            </a:r>
            <a:endParaRPr lang="en-US" sz="1400" dirty="0"/>
          </a:p>
        </p:txBody>
      </p:sp>
      <p:sp>
        <p:nvSpPr>
          <p:cNvPr id="12" name="Shape 9"/>
          <p:cNvSpPr/>
          <p:nvPr/>
        </p:nvSpPr>
        <p:spPr>
          <a:xfrm>
            <a:off x="4663440" y="2377440"/>
            <a:ext cx="4023360" cy="2103120"/>
          </a:xfrm>
          <a:prstGeom prst="roundRect">
            <a:avLst>
              <a:gd name="adj" fmla="val 3478"/>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3" name="Shape 10"/>
          <p:cNvSpPr/>
          <p:nvPr/>
        </p:nvSpPr>
        <p:spPr>
          <a:xfrm>
            <a:off x="4846320" y="2514600"/>
            <a:ext cx="365760" cy="365760"/>
          </a:xfrm>
          <a:prstGeom prst="ellipse">
            <a:avLst/>
          </a:prstGeom>
          <a:solidFill>
            <a:srgbClr val="FF8A3D"/>
          </a:solidFill>
          <a:ln w="6350">
            <a:solidFill>
              <a:srgbClr val="FF8A3D"/>
            </a:solidFill>
            <a:prstDash val="solid"/>
          </a:ln>
        </p:spPr>
      </p:sp>
      <p:sp>
        <p:nvSpPr>
          <p:cNvPr id="14" name="Text 11"/>
          <p:cNvSpPr txBox="1"/>
          <p:nvPr/>
        </p:nvSpPr>
        <p:spPr>
          <a:xfrm>
            <a:off x="4846320" y="2514600"/>
            <a:ext cx="365760" cy="36576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5" name="Text 12"/>
          <p:cNvSpPr txBox="1"/>
          <p:nvPr/>
        </p:nvSpPr>
        <p:spPr>
          <a:xfrm>
            <a:off x="5349240" y="2514600"/>
            <a:ext cx="2743200" cy="36576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DISCOVER</a:t>
            </a:r>
            <a:endParaRPr lang="en-US" sz="1400" dirty="0"/>
          </a:p>
        </p:txBody>
      </p:sp>
      <p:sp>
        <p:nvSpPr>
          <p:cNvPr id="16" name="Text 13"/>
          <p:cNvSpPr txBox="1"/>
          <p:nvPr/>
        </p:nvSpPr>
        <p:spPr>
          <a:xfrm>
            <a:off x="4892040" y="3017520"/>
            <a:ext cx="3566160" cy="914400"/>
          </a:xfrm>
          <a:prstGeom prst="rect">
            <a:avLst/>
          </a:prstGeom>
          <a:noFill/>
          <a:ln/>
        </p:spPr>
        <p:txBody>
          <a:bodyPr wrap="square" lIns="0" tIns="0" rIns="0" bIns="0" rtlCol="0" anchor="t"/>
          <a:lstStyle/>
          <a:p>
            <a:pPr marL="0" indent="0">
              <a:buNone/>
            </a:pPr>
            <a:r>
              <a:rPr lang="en-US" sz="1400" dirty="0">
                <a:solidFill>
                  <a:srgbClr val="0E1537"/>
                </a:solidFill>
                <a:latin typeface="Calibri" pitchFamily="34" charset="0"/>
                <a:ea typeface="Calibri" pitchFamily="34" charset="-122"/>
                <a:cs typeface="Calibri" pitchFamily="34" charset="-120"/>
              </a:rPr>
              <a:t>Each prefix sits at the start of the word. What do you think tri- means in ‘triangle’?</a:t>
            </a:r>
            <a:endParaRPr lang="en-US" sz="1400" dirty="0"/>
          </a:p>
        </p:txBody>
      </p:sp>
      <p:sp>
        <p:nvSpPr>
          <p:cNvPr id="17" name="Text 14"/>
          <p:cNvSpPr txBox="1"/>
          <p:nvPr/>
        </p:nvSpPr>
        <p:spPr>
          <a:xfrm>
            <a:off x="4892040" y="3977640"/>
            <a:ext cx="3566160" cy="365760"/>
          </a:xfrm>
          <a:prstGeom prst="rect">
            <a:avLst/>
          </a:prstGeom>
          <a:noFill/>
          <a:ln/>
        </p:spPr>
        <p:txBody>
          <a:bodyPr wrap="square" lIns="0" tIns="0" rIns="0" bIns="0" rtlCol="0" anchor="t"/>
          <a:lstStyle/>
          <a:p>
            <a:pPr marL="0" indent="0">
              <a:buNone/>
            </a:pPr>
            <a:r>
              <a:rPr lang="en-US" sz="1300" i="1" dirty="0">
                <a:solidFill>
                  <a:srgbClr val="3A3F85"/>
                </a:solidFill>
                <a:latin typeface="Calibri" pitchFamily="34" charset="0"/>
                <a:ea typeface="Calibri" pitchFamily="34" charset="-122"/>
                <a:cs typeface="Calibri" pitchFamily="34" charset="-120"/>
              </a:rPr>
              <a:t>Take 2–3 guesses before revealing.</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Use &amp; check: prefix</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Now pupils must prove they understand the word.</a:t>
            </a:r>
            <a:endParaRPr lang="en-US" sz="1300" dirty="0"/>
          </a:p>
        </p:txBody>
      </p:sp>
      <p:sp>
        <p:nvSpPr>
          <p:cNvPr id="5" name="Shape 2"/>
          <p:cNvSpPr/>
          <p:nvPr/>
        </p:nvSpPr>
        <p:spPr>
          <a:xfrm>
            <a:off x="457200" y="1371600"/>
            <a:ext cx="4023360" cy="1554480"/>
          </a:xfrm>
          <a:prstGeom prst="roundRect">
            <a:avLst>
              <a:gd name="adj" fmla="val 470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40080" y="1463040"/>
            <a:ext cx="3657600" cy="274320"/>
          </a:xfrm>
          <a:prstGeom prst="rect">
            <a:avLst/>
          </a:prstGeom>
          <a:noFill/>
          <a:ln/>
        </p:spPr>
        <p:txBody>
          <a:bodyPr wrap="square" lIns="0" tIns="0" rIns="0" bIns="0" rtlCol="0" anchor="t"/>
          <a:lstStyle/>
          <a:p>
            <a:pPr marL="0" indent="0">
              <a:buNone/>
            </a:pPr>
            <a:r>
              <a:rPr lang="en-US" sz="1100" b="1" dirty="0">
                <a:solidFill>
                  <a:srgbClr val="3A3F85"/>
                </a:solidFill>
                <a:latin typeface="Calibri" pitchFamily="34" charset="0"/>
                <a:ea typeface="Calibri" pitchFamily="34" charset="-122"/>
                <a:cs typeface="Calibri" pitchFamily="34" charset="-120"/>
              </a:rPr>
              <a:t>TEACHER MODEL</a:t>
            </a:r>
            <a:endParaRPr lang="en-US" sz="1100" dirty="0"/>
          </a:p>
        </p:txBody>
      </p:sp>
      <p:sp>
        <p:nvSpPr>
          <p:cNvPr id="7" name="Text 4"/>
          <p:cNvSpPr txBox="1"/>
          <p:nvPr/>
        </p:nvSpPr>
        <p:spPr>
          <a:xfrm>
            <a:off x="640080" y="1783080"/>
            <a:ext cx="3657600" cy="1097280"/>
          </a:xfrm>
          <a:prstGeom prst="rect">
            <a:avLst/>
          </a:prstGeom>
          <a:noFill/>
          <a:ln/>
        </p:spPr>
        <p:txBody>
          <a:bodyPr wrap="square" lIns="0" tIns="0" rIns="0" bIns="0" rtlCol="0" anchor="t"/>
          <a:lstStyle/>
          <a:p>
            <a:pPr marL="0" indent="0">
              <a:buNone/>
            </a:pPr>
            <a:r>
              <a:rPr lang="en-US" sz="1400" dirty="0">
                <a:solidFill>
                  <a:srgbClr val="0E1537"/>
                </a:solidFill>
                <a:latin typeface="Calibri" pitchFamily="34" charset="0"/>
                <a:ea typeface="Calibri" pitchFamily="34" charset="-122"/>
                <a:cs typeface="Calibri" pitchFamily="34" charset="-120"/>
              </a:rPr>
              <a:t>A prefix goes at the start of a word and changes its meaning: tri- means three, so a triangle has three sides.</a:t>
            </a:r>
            <a:endParaRPr lang="en-US" sz="1400" dirty="0"/>
          </a:p>
        </p:txBody>
      </p:sp>
      <p:sp>
        <p:nvSpPr>
          <p:cNvPr id="8" name="Shape 5"/>
          <p:cNvSpPr/>
          <p:nvPr/>
        </p:nvSpPr>
        <p:spPr>
          <a:xfrm>
            <a:off x="4663440" y="1371600"/>
            <a:ext cx="4023360" cy="1554480"/>
          </a:xfrm>
          <a:prstGeom prst="roundRect">
            <a:avLst>
              <a:gd name="adj" fmla="val 470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9" name="Text 6"/>
          <p:cNvSpPr txBox="1"/>
          <p:nvPr/>
        </p:nvSpPr>
        <p:spPr>
          <a:xfrm>
            <a:off x="4846320" y="1463040"/>
            <a:ext cx="3657600" cy="274320"/>
          </a:xfrm>
          <a:prstGeom prst="rect">
            <a:avLst/>
          </a:prstGeom>
          <a:noFill/>
          <a:ln/>
        </p:spPr>
        <p:txBody>
          <a:bodyPr wrap="square" lIns="0" tIns="0" rIns="0" bIns="0" rtlCol="0" anchor="t"/>
          <a:lstStyle/>
          <a:p>
            <a:pPr marL="0" indent="0">
              <a:buNone/>
            </a:pPr>
            <a:r>
              <a:rPr lang="en-US" sz="1100" b="1" dirty="0">
                <a:solidFill>
                  <a:srgbClr val="3A3F85"/>
                </a:solidFill>
                <a:latin typeface="Calibri" pitchFamily="34" charset="0"/>
                <a:ea typeface="Calibri" pitchFamily="34" charset="-122"/>
                <a:cs typeface="Calibri" pitchFamily="34" charset="-120"/>
              </a:rPr>
              <a:t>STUDENT USE</a:t>
            </a:r>
            <a:endParaRPr lang="en-US" sz="1100" dirty="0"/>
          </a:p>
        </p:txBody>
      </p:sp>
      <p:sp>
        <p:nvSpPr>
          <p:cNvPr id="10" name="Text 7"/>
          <p:cNvSpPr txBox="1"/>
          <p:nvPr/>
        </p:nvSpPr>
        <p:spPr>
          <a:xfrm>
            <a:off x="4846320" y="1783080"/>
            <a:ext cx="3657600" cy="1097280"/>
          </a:xfrm>
          <a:prstGeom prst="rect">
            <a:avLst/>
          </a:prstGeom>
          <a:noFill/>
          <a:ln/>
        </p:spPr>
        <p:txBody>
          <a:bodyPr wrap="square" lIns="0" tIns="0" rIns="0" bIns="0" rtlCol="0" anchor="t"/>
          <a:lstStyle/>
          <a:p>
            <a:pPr marL="0" indent="0">
              <a:buNone/>
            </a:pPr>
            <a:r>
              <a:rPr lang="en-US" sz="1500" dirty="0">
                <a:solidFill>
                  <a:srgbClr val="0E1537"/>
                </a:solidFill>
                <a:latin typeface="Calibri" pitchFamily="34" charset="0"/>
                <a:ea typeface="Calibri" pitchFamily="34" charset="-122"/>
                <a:cs typeface="Calibri" pitchFamily="34" charset="-120"/>
              </a:rPr>
              <a:t>The prefix ______ means ______, so ______ means ______.</a:t>
            </a:r>
            <a:endParaRPr lang="en-US" sz="1500" dirty="0"/>
          </a:p>
        </p:txBody>
      </p:sp>
      <p:sp>
        <p:nvSpPr>
          <p:cNvPr id="11" name="Shape 8"/>
          <p:cNvSpPr/>
          <p:nvPr/>
        </p:nvSpPr>
        <p:spPr>
          <a:xfrm>
            <a:off x="457200" y="3154680"/>
            <a:ext cx="8229600" cy="640080"/>
          </a:xfrm>
          <a:prstGeom prst="roundRect">
            <a:avLst>
              <a:gd name="adj" fmla="val 11429"/>
            </a:avLst>
          </a:prstGeom>
          <a:solidFill>
            <a:srgbClr val="7B5CE0"/>
          </a:solidFill>
          <a:ln w="6350">
            <a:solidFill>
              <a:srgbClr val="7B5CE0"/>
            </a:solidFill>
            <a:prstDash val="solid"/>
          </a:ln>
        </p:spPr>
      </p:sp>
      <p:sp>
        <p:nvSpPr>
          <p:cNvPr id="12" name="Text 9"/>
          <p:cNvSpPr txBox="1"/>
          <p:nvPr/>
        </p:nvSpPr>
        <p:spPr>
          <a:xfrm>
            <a:off x="640080" y="3154680"/>
            <a:ext cx="7863840" cy="6400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PAIR CHECK → Your partner explains how the prefix helps. Copying the model is not enough.</a:t>
            </a:r>
            <a:endParaRPr lang="en-US" sz="1300" dirty="0"/>
          </a:p>
        </p:txBody>
      </p:sp>
      <p:sp>
        <p:nvSpPr>
          <p:cNvPr id="13" name="Shape 10"/>
          <p:cNvSpPr/>
          <p:nvPr/>
        </p:nvSpPr>
        <p:spPr>
          <a:xfrm>
            <a:off x="457200" y="3931920"/>
            <a:ext cx="8229600" cy="548640"/>
          </a:xfrm>
          <a:prstGeom prst="roundRect">
            <a:avLst>
              <a:gd name="adj" fmla="val 13333"/>
            </a:avLst>
          </a:prstGeom>
          <a:solidFill>
            <a:srgbClr val="FFD166"/>
          </a:solidFill>
          <a:ln w="6350">
            <a:solidFill>
              <a:srgbClr val="FFD166"/>
            </a:solidFill>
            <a:prstDash val="solid"/>
          </a:ln>
        </p:spPr>
      </p:sp>
      <p:sp>
        <p:nvSpPr>
          <p:cNvPr id="14" name="Text 11"/>
          <p:cNvSpPr txBox="1"/>
          <p:nvPr/>
        </p:nvSpPr>
        <p:spPr>
          <a:xfrm>
            <a:off x="640080" y="3931920"/>
            <a:ext cx="7863840" cy="548640"/>
          </a:xfrm>
          <a:prstGeom prst="rect">
            <a:avLst/>
          </a:prstGeom>
          <a:noFill/>
          <a:ln/>
        </p:spPr>
        <p:txBody>
          <a:bodyPr wrap="square" lIns="0" tIns="0" rIns="0" bIns="0" rtlCol="0" anchor="ctr"/>
          <a:lstStyle/>
          <a:p>
            <a:pPr marL="0" indent="0">
              <a:buNone/>
            </a:pPr>
            <a:r>
              <a:rPr lang="en-US" sz="1300" b="1" dirty="0">
                <a:solidFill>
                  <a:srgbClr val="0E1537"/>
                </a:solidFill>
                <a:latin typeface="Calibri" pitchFamily="34" charset="0"/>
                <a:ea typeface="Calibri" pitchFamily="34" charset="-122"/>
                <a:cs typeface="Calibri" pitchFamily="34" charset="-120"/>
              </a:rPr>
              <a:t>QUICK ANSWER / LOOK FOR: tele- = from afar, so television = pictures from afar.</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2a: match the prefixes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Activity 2a. In groups, work out what each prefix means.</a:t>
            </a:r>
            <a:endParaRPr lang="en-US" sz="1300" dirty="0"/>
          </a:p>
        </p:txBody>
      </p:sp>
      <p:sp>
        <p:nvSpPr>
          <p:cNvPr id="5" name="Shape 2"/>
          <p:cNvSpPr/>
          <p:nvPr/>
        </p:nvSpPr>
        <p:spPr>
          <a:xfrm>
            <a:off x="457200" y="1417320"/>
            <a:ext cx="1188720" cy="731520"/>
          </a:xfrm>
          <a:prstGeom prst="roundRect">
            <a:avLst>
              <a:gd name="adj" fmla="val 12500"/>
            </a:avLst>
          </a:prstGeom>
          <a:solidFill>
            <a:srgbClr val="FF8A3D"/>
          </a:solidFill>
          <a:ln w="6350">
            <a:solidFill>
              <a:srgbClr val="FF8A3D"/>
            </a:solidFill>
            <a:prstDash val="solid"/>
          </a:ln>
        </p:spPr>
      </p:sp>
      <p:sp>
        <p:nvSpPr>
          <p:cNvPr id="6" name="Text 3"/>
          <p:cNvSpPr txBox="1"/>
          <p:nvPr/>
        </p:nvSpPr>
        <p:spPr>
          <a:xfrm>
            <a:off x="548640" y="1417320"/>
            <a:ext cx="1005840" cy="73152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auto-</a:t>
            </a:r>
            <a:endParaRPr lang="en-US" sz="2000" dirty="0"/>
          </a:p>
        </p:txBody>
      </p:sp>
      <p:sp>
        <p:nvSpPr>
          <p:cNvPr id="7" name="Shape 4"/>
          <p:cNvSpPr/>
          <p:nvPr/>
        </p:nvSpPr>
        <p:spPr>
          <a:xfrm>
            <a:off x="1783080" y="1417320"/>
            <a:ext cx="1188720" cy="731520"/>
          </a:xfrm>
          <a:prstGeom prst="roundRect">
            <a:avLst>
              <a:gd name="adj" fmla="val 12500"/>
            </a:avLst>
          </a:prstGeom>
          <a:solidFill>
            <a:srgbClr val="FF8A3D"/>
          </a:solidFill>
          <a:ln w="6350">
            <a:solidFill>
              <a:srgbClr val="FF8A3D"/>
            </a:solidFill>
            <a:prstDash val="solid"/>
          </a:ln>
        </p:spPr>
      </p:sp>
      <p:sp>
        <p:nvSpPr>
          <p:cNvPr id="8" name="Text 5"/>
          <p:cNvSpPr txBox="1"/>
          <p:nvPr/>
        </p:nvSpPr>
        <p:spPr>
          <a:xfrm>
            <a:off x="1874520" y="1417320"/>
            <a:ext cx="1005840" cy="73152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bio-</a:t>
            </a:r>
            <a:endParaRPr lang="en-US" sz="2000" dirty="0"/>
          </a:p>
        </p:txBody>
      </p:sp>
      <p:sp>
        <p:nvSpPr>
          <p:cNvPr id="9" name="Shape 6"/>
          <p:cNvSpPr/>
          <p:nvPr/>
        </p:nvSpPr>
        <p:spPr>
          <a:xfrm>
            <a:off x="3108960" y="1417320"/>
            <a:ext cx="1188720" cy="731520"/>
          </a:xfrm>
          <a:prstGeom prst="roundRect">
            <a:avLst>
              <a:gd name="adj" fmla="val 12500"/>
            </a:avLst>
          </a:prstGeom>
          <a:solidFill>
            <a:srgbClr val="FF8A3D"/>
          </a:solidFill>
          <a:ln w="6350">
            <a:solidFill>
              <a:srgbClr val="FF8A3D"/>
            </a:solidFill>
            <a:prstDash val="solid"/>
          </a:ln>
        </p:spPr>
      </p:sp>
      <p:sp>
        <p:nvSpPr>
          <p:cNvPr id="10" name="Text 7"/>
          <p:cNvSpPr txBox="1"/>
          <p:nvPr/>
        </p:nvSpPr>
        <p:spPr>
          <a:xfrm>
            <a:off x="3200400" y="1417320"/>
            <a:ext cx="1005840" cy="73152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astro-</a:t>
            </a:r>
            <a:endParaRPr lang="en-US" sz="2000" dirty="0"/>
          </a:p>
        </p:txBody>
      </p:sp>
      <p:sp>
        <p:nvSpPr>
          <p:cNvPr id="11" name="Shape 8"/>
          <p:cNvSpPr/>
          <p:nvPr/>
        </p:nvSpPr>
        <p:spPr>
          <a:xfrm>
            <a:off x="457200" y="2286000"/>
            <a:ext cx="1188720" cy="731520"/>
          </a:xfrm>
          <a:prstGeom prst="roundRect">
            <a:avLst>
              <a:gd name="adj" fmla="val 12500"/>
            </a:avLst>
          </a:prstGeom>
          <a:solidFill>
            <a:srgbClr val="FF8A3D"/>
          </a:solidFill>
          <a:ln w="6350">
            <a:solidFill>
              <a:srgbClr val="FF8A3D"/>
            </a:solidFill>
            <a:prstDash val="solid"/>
          </a:ln>
        </p:spPr>
      </p:sp>
      <p:sp>
        <p:nvSpPr>
          <p:cNvPr id="12" name="Text 9"/>
          <p:cNvSpPr txBox="1"/>
          <p:nvPr/>
        </p:nvSpPr>
        <p:spPr>
          <a:xfrm>
            <a:off x="548640" y="2286000"/>
            <a:ext cx="1005840" cy="73152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tele-</a:t>
            </a:r>
            <a:endParaRPr lang="en-US" sz="2000" dirty="0"/>
          </a:p>
        </p:txBody>
      </p:sp>
      <p:sp>
        <p:nvSpPr>
          <p:cNvPr id="13" name="Shape 10"/>
          <p:cNvSpPr/>
          <p:nvPr/>
        </p:nvSpPr>
        <p:spPr>
          <a:xfrm>
            <a:off x="1783080" y="2286000"/>
            <a:ext cx="1188720" cy="731520"/>
          </a:xfrm>
          <a:prstGeom prst="roundRect">
            <a:avLst>
              <a:gd name="adj" fmla="val 12500"/>
            </a:avLst>
          </a:prstGeom>
          <a:solidFill>
            <a:srgbClr val="FF8A3D"/>
          </a:solidFill>
          <a:ln w="6350">
            <a:solidFill>
              <a:srgbClr val="FF8A3D"/>
            </a:solidFill>
            <a:prstDash val="solid"/>
          </a:ln>
        </p:spPr>
      </p:sp>
      <p:sp>
        <p:nvSpPr>
          <p:cNvPr id="14" name="Text 11"/>
          <p:cNvSpPr txBox="1"/>
          <p:nvPr/>
        </p:nvSpPr>
        <p:spPr>
          <a:xfrm>
            <a:off x="1874520" y="2286000"/>
            <a:ext cx="1005840" cy="73152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tri-</a:t>
            </a:r>
            <a:endParaRPr lang="en-US" sz="2000" dirty="0"/>
          </a:p>
        </p:txBody>
      </p:sp>
      <p:sp>
        <p:nvSpPr>
          <p:cNvPr id="15" name="Shape 12"/>
          <p:cNvSpPr/>
          <p:nvPr/>
        </p:nvSpPr>
        <p:spPr>
          <a:xfrm>
            <a:off x="3108960" y="2286000"/>
            <a:ext cx="1188720" cy="731520"/>
          </a:xfrm>
          <a:prstGeom prst="roundRect">
            <a:avLst>
              <a:gd name="adj" fmla="val 12500"/>
            </a:avLst>
          </a:prstGeom>
          <a:solidFill>
            <a:srgbClr val="FF8A3D"/>
          </a:solidFill>
          <a:ln w="6350">
            <a:solidFill>
              <a:srgbClr val="FF8A3D"/>
            </a:solidFill>
            <a:prstDash val="solid"/>
          </a:ln>
        </p:spPr>
      </p:sp>
      <p:sp>
        <p:nvSpPr>
          <p:cNvPr id="16" name="Text 13"/>
          <p:cNvSpPr txBox="1"/>
          <p:nvPr/>
        </p:nvSpPr>
        <p:spPr>
          <a:xfrm>
            <a:off x="3200400" y="2286000"/>
            <a:ext cx="1005840" cy="73152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cosmic-</a:t>
            </a:r>
            <a:endParaRPr lang="en-US" sz="2000" dirty="0"/>
          </a:p>
        </p:txBody>
      </p:sp>
      <p:sp>
        <p:nvSpPr>
          <p:cNvPr id="17" name="Shape 14"/>
          <p:cNvSpPr/>
          <p:nvPr/>
        </p:nvSpPr>
        <p:spPr>
          <a:xfrm>
            <a:off x="4754880" y="1417320"/>
            <a:ext cx="1188720" cy="731520"/>
          </a:xfrm>
          <a:prstGeom prst="roundRect">
            <a:avLst>
              <a:gd name="adj" fmla="val 12500"/>
            </a:avLst>
          </a:prstGeom>
          <a:solidFill>
            <a:srgbClr val="2EC4B6"/>
          </a:solidFill>
          <a:ln w="6350">
            <a:solidFill>
              <a:srgbClr val="2EC4B6"/>
            </a:solidFill>
            <a:prstDash val="solid"/>
          </a:ln>
        </p:spPr>
      </p:sp>
      <p:sp>
        <p:nvSpPr>
          <p:cNvPr id="18" name="Text 15"/>
          <p:cNvSpPr txBox="1"/>
          <p:nvPr/>
        </p:nvSpPr>
        <p:spPr>
          <a:xfrm>
            <a:off x="4846320" y="1417320"/>
            <a:ext cx="1005840" cy="73152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three</a:t>
            </a:r>
            <a:endParaRPr lang="en-US" sz="1400" dirty="0"/>
          </a:p>
        </p:txBody>
      </p:sp>
      <p:sp>
        <p:nvSpPr>
          <p:cNvPr id="19" name="Shape 16"/>
          <p:cNvSpPr/>
          <p:nvPr/>
        </p:nvSpPr>
        <p:spPr>
          <a:xfrm>
            <a:off x="6080760" y="1417320"/>
            <a:ext cx="1188720" cy="731520"/>
          </a:xfrm>
          <a:prstGeom prst="roundRect">
            <a:avLst>
              <a:gd name="adj" fmla="val 12500"/>
            </a:avLst>
          </a:prstGeom>
          <a:solidFill>
            <a:srgbClr val="2EC4B6"/>
          </a:solidFill>
          <a:ln w="6350">
            <a:solidFill>
              <a:srgbClr val="2EC4B6"/>
            </a:solidFill>
            <a:prstDash val="solid"/>
          </a:ln>
        </p:spPr>
      </p:sp>
      <p:sp>
        <p:nvSpPr>
          <p:cNvPr id="20" name="Text 17"/>
          <p:cNvSpPr txBox="1"/>
          <p:nvPr/>
        </p:nvSpPr>
        <p:spPr>
          <a:xfrm>
            <a:off x="6172200" y="1417320"/>
            <a:ext cx="1005840" cy="73152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of the universe</a:t>
            </a:r>
            <a:endParaRPr lang="en-US" sz="1400" dirty="0"/>
          </a:p>
        </p:txBody>
      </p:sp>
      <p:sp>
        <p:nvSpPr>
          <p:cNvPr id="21" name="Shape 18"/>
          <p:cNvSpPr/>
          <p:nvPr/>
        </p:nvSpPr>
        <p:spPr>
          <a:xfrm>
            <a:off x="7406640" y="1417320"/>
            <a:ext cx="1188720" cy="731520"/>
          </a:xfrm>
          <a:prstGeom prst="roundRect">
            <a:avLst>
              <a:gd name="adj" fmla="val 12500"/>
            </a:avLst>
          </a:prstGeom>
          <a:solidFill>
            <a:srgbClr val="2EC4B6"/>
          </a:solidFill>
          <a:ln w="6350">
            <a:solidFill>
              <a:srgbClr val="2EC4B6"/>
            </a:solidFill>
            <a:prstDash val="solid"/>
          </a:ln>
        </p:spPr>
      </p:sp>
      <p:sp>
        <p:nvSpPr>
          <p:cNvPr id="22" name="Text 19"/>
          <p:cNvSpPr txBox="1"/>
          <p:nvPr/>
        </p:nvSpPr>
        <p:spPr>
          <a:xfrm>
            <a:off x="7498080" y="1417320"/>
            <a:ext cx="1005840" cy="73152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from afar</a:t>
            </a:r>
            <a:endParaRPr lang="en-US" sz="1400" dirty="0"/>
          </a:p>
        </p:txBody>
      </p:sp>
      <p:sp>
        <p:nvSpPr>
          <p:cNvPr id="23" name="Shape 20"/>
          <p:cNvSpPr/>
          <p:nvPr/>
        </p:nvSpPr>
        <p:spPr>
          <a:xfrm>
            <a:off x="4754880" y="2286000"/>
            <a:ext cx="1188720" cy="731520"/>
          </a:xfrm>
          <a:prstGeom prst="roundRect">
            <a:avLst>
              <a:gd name="adj" fmla="val 12500"/>
            </a:avLst>
          </a:prstGeom>
          <a:solidFill>
            <a:srgbClr val="2EC4B6"/>
          </a:solidFill>
          <a:ln w="6350">
            <a:solidFill>
              <a:srgbClr val="2EC4B6"/>
            </a:solidFill>
            <a:prstDash val="solid"/>
          </a:ln>
        </p:spPr>
      </p:sp>
      <p:sp>
        <p:nvSpPr>
          <p:cNvPr id="24" name="Text 21"/>
          <p:cNvSpPr txBox="1"/>
          <p:nvPr/>
        </p:nvSpPr>
        <p:spPr>
          <a:xfrm>
            <a:off x="4846320" y="2286000"/>
            <a:ext cx="1005840" cy="73152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by oneself</a:t>
            </a:r>
            <a:endParaRPr lang="en-US" sz="1400" dirty="0"/>
          </a:p>
        </p:txBody>
      </p:sp>
      <p:sp>
        <p:nvSpPr>
          <p:cNvPr id="25" name="Shape 22"/>
          <p:cNvSpPr/>
          <p:nvPr/>
        </p:nvSpPr>
        <p:spPr>
          <a:xfrm>
            <a:off x="6080760" y="2286000"/>
            <a:ext cx="1188720" cy="731520"/>
          </a:xfrm>
          <a:prstGeom prst="roundRect">
            <a:avLst>
              <a:gd name="adj" fmla="val 12500"/>
            </a:avLst>
          </a:prstGeom>
          <a:solidFill>
            <a:srgbClr val="2EC4B6"/>
          </a:solidFill>
          <a:ln w="6350">
            <a:solidFill>
              <a:srgbClr val="2EC4B6"/>
            </a:solidFill>
            <a:prstDash val="solid"/>
          </a:ln>
        </p:spPr>
      </p:sp>
      <p:sp>
        <p:nvSpPr>
          <p:cNvPr id="26" name="Text 23"/>
          <p:cNvSpPr txBox="1"/>
          <p:nvPr/>
        </p:nvSpPr>
        <p:spPr>
          <a:xfrm>
            <a:off x="6172200" y="2286000"/>
            <a:ext cx="1005840" cy="73152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life</a:t>
            </a:r>
            <a:endParaRPr lang="en-US" sz="1400" dirty="0"/>
          </a:p>
        </p:txBody>
      </p:sp>
      <p:sp>
        <p:nvSpPr>
          <p:cNvPr id="27" name="Shape 24"/>
          <p:cNvSpPr/>
          <p:nvPr/>
        </p:nvSpPr>
        <p:spPr>
          <a:xfrm>
            <a:off x="7406640" y="2286000"/>
            <a:ext cx="1188720" cy="731520"/>
          </a:xfrm>
          <a:prstGeom prst="roundRect">
            <a:avLst>
              <a:gd name="adj" fmla="val 12500"/>
            </a:avLst>
          </a:prstGeom>
          <a:solidFill>
            <a:srgbClr val="2EC4B6"/>
          </a:solidFill>
          <a:ln w="6350">
            <a:solidFill>
              <a:srgbClr val="2EC4B6"/>
            </a:solidFill>
            <a:prstDash val="solid"/>
          </a:ln>
        </p:spPr>
      </p:sp>
      <p:sp>
        <p:nvSpPr>
          <p:cNvPr id="28" name="Text 25"/>
          <p:cNvSpPr txBox="1"/>
          <p:nvPr/>
        </p:nvSpPr>
        <p:spPr>
          <a:xfrm>
            <a:off x="7498080" y="2286000"/>
            <a:ext cx="1005840" cy="73152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from space</a:t>
            </a:r>
            <a:endParaRPr lang="en-US" sz="1400" dirty="0"/>
          </a:p>
        </p:txBody>
      </p:sp>
      <p:sp>
        <p:nvSpPr>
          <p:cNvPr id="29" name="Shape 26"/>
          <p:cNvSpPr/>
          <p:nvPr/>
        </p:nvSpPr>
        <p:spPr>
          <a:xfrm>
            <a:off x="457200" y="3291840"/>
            <a:ext cx="8229600" cy="502920"/>
          </a:xfrm>
          <a:prstGeom prst="roundRect">
            <a:avLst>
              <a:gd name="adj" fmla="val 14545"/>
            </a:avLst>
          </a:prstGeom>
          <a:solidFill>
            <a:srgbClr val="FFD166"/>
          </a:solidFill>
          <a:ln w="6350">
            <a:solidFill>
              <a:srgbClr val="FFD166"/>
            </a:solidFill>
            <a:prstDash val="solid"/>
          </a:ln>
        </p:spPr>
      </p:sp>
      <p:sp>
        <p:nvSpPr>
          <p:cNvPr id="30" name="Text 27"/>
          <p:cNvSpPr txBox="1"/>
          <p:nvPr/>
        </p:nvSpPr>
        <p:spPr>
          <a:xfrm>
            <a:off x="640080" y="3291840"/>
            <a:ext cx="7863840" cy="502920"/>
          </a:xfrm>
          <a:prstGeom prst="rect">
            <a:avLst/>
          </a:prstGeom>
          <a:noFill/>
          <a:ln/>
        </p:spPr>
        <p:txBody>
          <a:bodyPr wrap="square" lIns="0" tIns="0" rIns="0" bIns="0" rtlCol="0" anchor="ctr"/>
          <a:lstStyle/>
          <a:p>
            <a:pPr marL="0" indent="0">
              <a:buNone/>
            </a:pPr>
            <a:r>
              <a:rPr lang="en-US" sz="1500" b="1" dirty="0">
                <a:solidFill>
                  <a:srgbClr val="0E1537"/>
                </a:solidFill>
                <a:latin typeface="Calibri" pitchFamily="34" charset="0"/>
                <a:ea typeface="Calibri" pitchFamily="34" charset="-122"/>
                <a:cs typeface="Calibri" pitchFamily="34" charset="-120"/>
              </a:rPr>
              <a:t>Many root words come from other languages, like Greek or Latin.</a:t>
            </a:r>
            <a:endParaRPr lang="en-US" sz="1500" dirty="0"/>
          </a:p>
        </p:txBody>
      </p:sp>
      <p:sp>
        <p:nvSpPr>
          <p:cNvPr id="31" name="Text 28"/>
          <p:cNvSpPr txBox="1"/>
          <p:nvPr/>
        </p:nvSpPr>
        <p:spPr>
          <a:xfrm>
            <a:off x="457200" y="4023360"/>
            <a:ext cx="3657600" cy="274320"/>
          </a:xfrm>
          <a:prstGeom prst="rect">
            <a:avLst/>
          </a:prstGeom>
          <a:noFill/>
          <a:ln/>
        </p:spPr>
        <p:txBody>
          <a:bodyPr wrap="square" lIns="0" tIns="0" rIns="0" bIns="0" rtlCol="0" anchor="t"/>
          <a:lstStyle/>
          <a:p>
            <a:pPr marL="0" indent="0">
              <a:buNone/>
            </a:pPr>
            <a:r>
              <a:rPr lang="en-US" sz="1200" i="1" dirty="0">
                <a:solidFill>
                  <a:srgbClr val="3A3F85"/>
                </a:solidFill>
                <a:latin typeface="Calibri" pitchFamily="34" charset="0"/>
                <a:ea typeface="Calibri" pitchFamily="34" charset="-122"/>
                <a:cs typeface="Calibri" pitchFamily="34" charset="-120"/>
              </a:rPr>
              <a:t>Prefixes</a:t>
            </a:r>
            <a:endParaRPr lang="en-US" sz="1200" dirty="0"/>
          </a:p>
        </p:txBody>
      </p:sp>
      <p:sp>
        <p:nvSpPr>
          <p:cNvPr id="32" name="Text 29"/>
          <p:cNvSpPr txBox="1"/>
          <p:nvPr/>
        </p:nvSpPr>
        <p:spPr>
          <a:xfrm>
            <a:off x="4754880" y="4023360"/>
            <a:ext cx="3657600" cy="274320"/>
          </a:xfrm>
          <a:prstGeom prst="rect">
            <a:avLst/>
          </a:prstGeom>
          <a:noFill/>
          <a:ln/>
        </p:spPr>
        <p:txBody>
          <a:bodyPr wrap="square" lIns="0" tIns="0" rIns="0" bIns="0" rtlCol="0" anchor="t"/>
          <a:lstStyle/>
          <a:p>
            <a:pPr marL="0" indent="0">
              <a:buNone/>
            </a:pPr>
            <a:r>
              <a:rPr lang="en-US" sz="1200" i="1" dirty="0">
                <a:solidFill>
                  <a:srgbClr val="3A3F85"/>
                </a:solidFill>
                <a:latin typeface="Calibri" pitchFamily="34" charset="0"/>
                <a:ea typeface="Calibri" pitchFamily="34" charset="-122"/>
                <a:cs typeface="Calibri" pitchFamily="34" charset="-120"/>
              </a:rPr>
              <a:t>Meanings</a:t>
            </a:r>
            <a:endParaRPr lang="en-US" sz="12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2a: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Match the prefix to its meaning.</a:t>
            </a:r>
            <a:endParaRPr lang="en-US" sz="1300" dirty="0"/>
          </a:p>
        </p:txBody>
      </p:sp>
      <p:sp>
        <p:nvSpPr>
          <p:cNvPr id="5" name="Shape 2"/>
          <p:cNvSpPr/>
          <p:nvPr/>
        </p:nvSpPr>
        <p:spPr>
          <a:xfrm>
            <a:off x="457200" y="1371600"/>
            <a:ext cx="4023360" cy="914400"/>
          </a:xfrm>
          <a:prstGeom prst="roundRect">
            <a:avLst>
              <a:gd name="adj" fmla="val 8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554480"/>
            <a:ext cx="1371600" cy="548640"/>
          </a:xfrm>
          <a:prstGeom prst="roundRect">
            <a:avLst>
              <a:gd name="adj" fmla="val 16667"/>
            </a:avLst>
          </a:prstGeom>
          <a:solidFill>
            <a:srgbClr val="FF8A3D"/>
          </a:solidFill>
          <a:ln w="6350">
            <a:solidFill>
              <a:srgbClr val="FF8A3D"/>
            </a:solidFill>
            <a:prstDash val="solid"/>
          </a:ln>
        </p:spPr>
      </p:sp>
      <p:sp>
        <p:nvSpPr>
          <p:cNvPr id="7" name="Text 4"/>
          <p:cNvSpPr txBox="1"/>
          <p:nvPr/>
        </p:nvSpPr>
        <p:spPr>
          <a:xfrm>
            <a:off x="685800" y="1554480"/>
            <a:ext cx="1188720" cy="54864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auto-</a:t>
            </a:r>
            <a:endParaRPr lang="en-US" sz="2000" dirty="0"/>
          </a:p>
        </p:txBody>
      </p:sp>
      <p:sp>
        <p:nvSpPr>
          <p:cNvPr id="8" name="Text 5"/>
          <p:cNvSpPr txBox="1"/>
          <p:nvPr/>
        </p:nvSpPr>
        <p:spPr>
          <a:xfrm>
            <a:off x="2148840" y="1371600"/>
            <a:ext cx="2194560" cy="914400"/>
          </a:xfrm>
          <a:prstGeom prst="rect">
            <a:avLst/>
          </a:prstGeom>
          <a:noFill/>
          <a:ln/>
        </p:spPr>
        <p:txBody>
          <a:bodyPr wrap="square" lIns="0" tIns="0" rIns="0" bIns="0" rtlCol="0" anchor="ctr"/>
          <a:lstStyle/>
          <a:p>
            <a:pPr marL="0" indent="0">
              <a:buNone/>
            </a:pPr>
            <a:r>
              <a:rPr lang="en-US" sz="1800" b="1" dirty="0">
                <a:solidFill>
                  <a:srgbClr val="0E1537"/>
                </a:solidFill>
                <a:latin typeface="Calibri" pitchFamily="34" charset="0"/>
                <a:ea typeface="Calibri" pitchFamily="34" charset="-122"/>
                <a:cs typeface="Calibri" pitchFamily="34" charset="-120"/>
              </a:rPr>
              <a:t>by oneself</a:t>
            </a:r>
            <a:endParaRPr lang="en-US" sz="1800" dirty="0"/>
          </a:p>
        </p:txBody>
      </p:sp>
      <p:sp>
        <p:nvSpPr>
          <p:cNvPr id="9" name="Shape 6"/>
          <p:cNvSpPr/>
          <p:nvPr/>
        </p:nvSpPr>
        <p:spPr>
          <a:xfrm>
            <a:off x="4663440" y="1371600"/>
            <a:ext cx="4023360" cy="914400"/>
          </a:xfrm>
          <a:prstGeom prst="roundRect">
            <a:avLst>
              <a:gd name="adj" fmla="val 8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4800600" y="1554480"/>
            <a:ext cx="1371600" cy="548640"/>
          </a:xfrm>
          <a:prstGeom prst="roundRect">
            <a:avLst>
              <a:gd name="adj" fmla="val 16667"/>
            </a:avLst>
          </a:prstGeom>
          <a:solidFill>
            <a:srgbClr val="2EC4B6"/>
          </a:solidFill>
          <a:ln w="6350">
            <a:solidFill>
              <a:srgbClr val="2EC4B6"/>
            </a:solidFill>
            <a:prstDash val="solid"/>
          </a:ln>
        </p:spPr>
      </p:sp>
      <p:sp>
        <p:nvSpPr>
          <p:cNvPr id="11" name="Text 8"/>
          <p:cNvSpPr txBox="1"/>
          <p:nvPr/>
        </p:nvSpPr>
        <p:spPr>
          <a:xfrm>
            <a:off x="4892040" y="1554480"/>
            <a:ext cx="1188720" cy="54864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bio-</a:t>
            </a:r>
            <a:endParaRPr lang="en-US" sz="2000" dirty="0"/>
          </a:p>
        </p:txBody>
      </p:sp>
      <p:sp>
        <p:nvSpPr>
          <p:cNvPr id="12" name="Text 9"/>
          <p:cNvSpPr txBox="1"/>
          <p:nvPr/>
        </p:nvSpPr>
        <p:spPr>
          <a:xfrm>
            <a:off x="6355080" y="1371600"/>
            <a:ext cx="2194560" cy="914400"/>
          </a:xfrm>
          <a:prstGeom prst="rect">
            <a:avLst/>
          </a:prstGeom>
          <a:noFill/>
          <a:ln/>
        </p:spPr>
        <p:txBody>
          <a:bodyPr wrap="square" lIns="0" tIns="0" rIns="0" bIns="0" rtlCol="0" anchor="ctr"/>
          <a:lstStyle/>
          <a:p>
            <a:pPr marL="0" indent="0">
              <a:buNone/>
            </a:pPr>
            <a:r>
              <a:rPr lang="en-US" sz="1800" b="1" dirty="0">
                <a:solidFill>
                  <a:srgbClr val="0E1537"/>
                </a:solidFill>
                <a:latin typeface="Calibri" pitchFamily="34" charset="0"/>
                <a:ea typeface="Calibri" pitchFamily="34" charset="-122"/>
                <a:cs typeface="Calibri" pitchFamily="34" charset="-120"/>
              </a:rPr>
              <a:t>life</a:t>
            </a:r>
            <a:endParaRPr lang="en-US" sz="1800" dirty="0"/>
          </a:p>
        </p:txBody>
      </p:sp>
      <p:sp>
        <p:nvSpPr>
          <p:cNvPr id="13" name="Shape 10"/>
          <p:cNvSpPr/>
          <p:nvPr/>
        </p:nvSpPr>
        <p:spPr>
          <a:xfrm>
            <a:off x="457200" y="2423160"/>
            <a:ext cx="4023360" cy="914400"/>
          </a:xfrm>
          <a:prstGeom prst="roundRect">
            <a:avLst>
              <a:gd name="adj" fmla="val 8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606040"/>
            <a:ext cx="1371600" cy="548640"/>
          </a:xfrm>
          <a:prstGeom prst="roundRect">
            <a:avLst>
              <a:gd name="adj" fmla="val 16667"/>
            </a:avLst>
          </a:prstGeom>
          <a:solidFill>
            <a:srgbClr val="FF6B8B"/>
          </a:solidFill>
          <a:ln w="6350">
            <a:solidFill>
              <a:srgbClr val="FF6B8B"/>
            </a:solidFill>
            <a:prstDash val="solid"/>
          </a:ln>
        </p:spPr>
      </p:sp>
      <p:sp>
        <p:nvSpPr>
          <p:cNvPr id="15" name="Text 12"/>
          <p:cNvSpPr txBox="1"/>
          <p:nvPr/>
        </p:nvSpPr>
        <p:spPr>
          <a:xfrm>
            <a:off x="685800" y="2606040"/>
            <a:ext cx="1188720" cy="54864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astro-</a:t>
            </a:r>
            <a:endParaRPr lang="en-US" sz="2000" dirty="0"/>
          </a:p>
        </p:txBody>
      </p:sp>
      <p:sp>
        <p:nvSpPr>
          <p:cNvPr id="16" name="Text 13"/>
          <p:cNvSpPr txBox="1"/>
          <p:nvPr/>
        </p:nvSpPr>
        <p:spPr>
          <a:xfrm>
            <a:off x="2148840" y="2423160"/>
            <a:ext cx="2194560" cy="914400"/>
          </a:xfrm>
          <a:prstGeom prst="rect">
            <a:avLst/>
          </a:prstGeom>
          <a:noFill/>
          <a:ln/>
        </p:spPr>
        <p:txBody>
          <a:bodyPr wrap="square" lIns="0" tIns="0" rIns="0" bIns="0" rtlCol="0" anchor="ctr"/>
          <a:lstStyle/>
          <a:p>
            <a:pPr marL="0" indent="0">
              <a:buNone/>
            </a:pPr>
            <a:r>
              <a:rPr lang="en-US" sz="1800" b="1" dirty="0">
                <a:solidFill>
                  <a:srgbClr val="0E1537"/>
                </a:solidFill>
                <a:latin typeface="Calibri" pitchFamily="34" charset="0"/>
                <a:ea typeface="Calibri" pitchFamily="34" charset="-122"/>
                <a:cs typeface="Calibri" pitchFamily="34" charset="-120"/>
              </a:rPr>
              <a:t>from space</a:t>
            </a:r>
            <a:endParaRPr lang="en-US" sz="1800" dirty="0"/>
          </a:p>
        </p:txBody>
      </p:sp>
      <p:sp>
        <p:nvSpPr>
          <p:cNvPr id="17" name="Shape 14"/>
          <p:cNvSpPr/>
          <p:nvPr/>
        </p:nvSpPr>
        <p:spPr>
          <a:xfrm>
            <a:off x="4663440" y="2423160"/>
            <a:ext cx="4023360" cy="914400"/>
          </a:xfrm>
          <a:prstGeom prst="roundRect">
            <a:avLst>
              <a:gd name="adj" fmla="val 8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4800600" y="2606040"/>
            <a:ext cx="1371600" cy="548640"/>
          </a:xfrm>
          <a:prstGeom prst="roundRect">
            <a:avLst>
              <a:gd name="adj" fmla="val 16667"/>
            </a:avLst>
          </a:prstGeom>
          <a:solidFill>
            <a:srgbClr val="7B5CE0"/>
          </a:solidFill>
          <a:ln w="6350">
            <a:solidFill>
              <a:srgbClr val="7B5CE0"/>
            </a:solidFill>
            <a:prstDash val="solid"/>
          </a:ln>
        </p:spPr>
      </p:sp>
      <p:sp>
        <p:nvSpPr>
          <p:cNvPr id="19" name="Text 16"/>
          <p:cNvSpPr txBox="1"/>
          <p:nvPr/>
        </p:nvSpPr>
        <p:spPr>
          <a:xfrm>
            <a:off x="4892040" y="2606040"/>
            <a:ext cx="11887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tele-</a:t>
            </a:r>
            <a:endParaRPr lang="en-US" sz="2000" dirty="0"/>
          </a:p>
        </p:txBody>
      </p:sp>
      <p:sp>
        <p:nvSpPr>
          <p:cNvPr id="20" name="Text 17"/>
          <p:cNvSpPr txBox="1"/>
          <p:nvPr/>
        </p:nvSpPr>
        <p:spPr>
          <a:xfrm>
            <a:off x="6355080" y="2423160"/>
            <a:ext cx="2194560" cy="914400"/>
          </a:xfrm>
          <a:prstGeom prst="rect">
            <a:avLst/>
          </a:prstGeom>
          <a:noFill/>
          <a:ln/>
        </p:spPr>
        <p:txBody>
          <a:bodyPr wrap="square" lIns="0" tIns="0" rIns="0" bIns="0" rtlCol="0" anchor="ctr"/>
          <a:lstStyle/>
          <a:p>
            <a:pPr marL="0" indent="0">
              <a:buNone/>
            </a:pPr>
            <a:r>
              <a:rPr lang="en-US" sz="1800" b="1" dirty="0">
                <a:solidFill>
                  <a:srgbClr val="0E1537"/>
                </a:solidFill>
                <a:latin typeface="Calibri" pitchFamily="34" charset="0"/>
                <a:ea typeface="Calibri" pitchFamily="34" charset="-122"/>
                <a:cs typeface="Calibri" pitchFamily="34" charset="-120"/>
              </a:rPr>
              <a:t>from afar</a:t>
            </a:r>
            <a:endParaRPr lang="en-US" sz="1800" dirty="0"/>
          </a:p>
        </p:txBody>
      </p:sp>
      <p:sp>
        <p:nvSpPr>
          <p:cNvPr id="21" name="Shape 18"/>
          <p:cNvSpPr/>
          <p:nvPr/>
        </p:nvSpPr>
        <p:spPr>
          <a:xfrm>
            <a:off x="457200" y="3474720"/>
            <a:ext cx="4023360" cy="914400"/>
          </a:xfrm>
          <a:prstGeom prst="roundRect">
            <a:avLst>
              <a:gd name="adj" fmla="val 8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22" name="Shape 19"/>
          <p:cNvSpPr/>
          <p:nvPr/>
        </p:nvSpPr>
        <p:spPr>
          <a:xfrm>
            <a:off x="594360" y="3657600"/>
            <a:ext cx="1371600" cy="548640"/>
          </a:xfrm>
          <a:prstGeom prst="roundRect">
            <a:avLst>
              <a:gd name="adj" fmla="val 16667"/>
            </a:avLst>
          </a:prstGeom>
          <a:solidFill>
            <a:srgbClr val="FFD166"/>
          </a:solidFill>
          <a:ln w="6350">
            <a:solidFill>
              <a:srgbClr val="FFD166"/>
            </a:solidFill>
            <a:prstDash val="solid"/>
          </a:ln>
        </p:spPr>
      </p:sp>
      <p:sp>
        <p:nvSpPr>
          <p:cNvPr id="23" name="Text 20"/>
          <p:cNvSpPr txBox="1"/>
          <p:nvPr/>
        </p:nvSpPr>
        <p:spPr>
          <a:xfrm>
            <a:off x="685800" y="3657600"/>
            <a:ext cx="1188720" cy="54864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tri-</a:t>
            </a:r>
            <a:endParaRPr lang="en-US" sz="2000" dirty="0"/>
          </a:p>
        </p:txBody>
      </p:sp>
      <p:sp>
        <p:nvSpPr>
          <p:cNvPr id="24" name="Text 21"/>
          <p:cNvSpPr txBox="1"/>
          <p:nvPr/>
        </p:nvSpPr>
        <p:spPr>
          <a:xfrm>
            <a:off x="2148840" y="3474720"/>
            <a:ext cx="2194560" cy="914400"/>
          </a:xfrm>
          <a:prstGeom prst="rect">
            <a:avLst/>
          </a:prstGeom>
          <a:noFill/>
          <a:ln/>
        </p:spPr>
        <p:txBody>
          <a:bodyPr wrap="square" lIns="0" tIns="0" rIns="0" bIns="0" rtlCol="0" anchor="ctr"/>
          <a:lstStyle/>
          <a:p>
            <a:pPr marL="0" indent="0">
              <a:buNone/>
            </a:pPr>
            <a:r>
              <a:rPr lang="en-US" sz="1800" b="1" dirty="0">
                <a:solidFill>
                  <a:srgbClr val="0E1537"/>
                </a:solidFill>
                <a:latin typeface="Calibri" pitchFamily="34" charset="0"/>
                <a:ea typeface="Calibri" pitchFamily="34" charset="-122"/>
                <a:cs typeface="Calibri" pitchFamily="34" charset="-120"/>
              </a:rPr>
              <a:t>three</a:t>
            </a:r>
            <a:endParaRPr lang="en-US" sz="1800" dirty="0"/>
          </a:p>
        </p:txBody>
      </p:sp>
      <p:sp>
        <p:nvSpPr>
          <p:cNvPr id="25" name="Shape 22"/>
          <p:cNvSpPr/>
          <p:nvPr/>
        </p:nvSpPr>
        <p:spPr>
          <a:xfrm>
            <a:off x="4663440" y="3474720"/>
            <a:ext cx="4023360" cy="914400"/>
          </a:xfrm>
          <a:prstGeom prst="roundRect">
            <a:avLst>
              <a:gd name="adj" fmla="val 8000"/>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26" name="Shape 23"/>
          <p:cNvSpPr/>
          <p:nvPr/>
        </p:nvSpPr>
        <p:spPr>
          <a:xfrm>
            <a:off x="4800600" y="3657600"/>
            <a:ext cx="1371600" cy="548640"/>
          </a:xfrm>
          <a:prstGeom prst="roundRect">
            <a:avLst>
              <a:gd name="adj" fmla="val 16667"/>
            </a:avLst>
          </a:prstGeom>
          <a:solidFill>
            <a:srgbClr val="FF8A3D"/>
          </a:solidFill>
          <a:ln w="6350">
            <a:solidFill>
              <a:srgbClr val="FF8A3D"/>
            </a:solidFill>
            <a:prstDash val="solid"/>
          </a:ln>
        </p:spPr>
      </p:sp>
      <p:sp>
        <p:nvSpPr>
          <p:cNvPr id="27" name="Text 24"/>
          <p:cNvSpPr txBox="1"/>
          <p:nvPr/>
        </p:nvSpPr>
        <p:spPr>
          <a:xfrm>
            <a:off x="4892040" y="3657600"/>
            <a:ext cx="1188720" cy="548640"/>
          </a:xfrm>
          <a:prstGeom prst="rect">
            <a:avLst/>
          </a:prstGeom>
          <a:noFill/>
          <a:ln/>
        </p:spPr>
        <p:txBody>
          <a:bodyPr wrap="square" lIns="0" tIns="0" rIns="0" bIns="0" rtlCol="0" anchor="ctr"/>
          <a:lstStyle/>
          <a:p>
            <a:pPr marL="0" indent="0" algn="ctr">
              <a:buNone/>
            </a:pPr>
            <a:r>
              <a:rPr lang="en-US" sz="2000" b="1" dirty="0">
                <a:solidFill>
                  <a:srgbClr val="0E1537"/>
                </a:solidFill>
                <a:latin typeface="Cambria" pitchFamily="34" charset="0"/>
                <a:ea typeface="Cambria" pitchFamily="34" charset="-122"/>
                <a:cs typeface="Cambria" pitchFamily="34" charset="-120"/>
              </a:rPr>
              <a:t>cosmic-</a:t>
            </a:r>
            <a:endParaRPr lang="en-US" sz="2000" dirty="0"/>
          </a:p>
        </p:txBody>
      </p:sp>
      <p:sp>
        <p:nvSpPr>
          <p:cNvPr id="28" name="Text 25"/>
          <p:cNvSpPr txBox="1"/>
          <p:nvPr/>
        </p:nvSpPr>
        <p:spPr>
          <a:xfrm>
            <a:off x="6355080" y="3474720"/>
            <a:ext cx="2194560" cy="914400"/>
          </a:xfrm>
          <a:prstGeom prst="rect">
            <a:avLst/>
          </a:prstGeom>
          <a:noFill/>
          <a:ln/>
        </p:spPr>
        <p:txBody>
          <a:bodyPr wrap="square" lIns="0" tIns="0" rIns="0" bIns="0" rtlCol="0" anchor="ctr"/>
          <a:lstStyle/>
          <a:p>
            <a:pPr marL="0" indent="0">
              <a:buNone/>
            </a:pPr>
            <a:r>
              <a:rPr lang="en-US" sz="1800" b="1" dirty="0">
                <a:solidFill>
                  <a:srgbClr val="0E1537"/>
                </a:solidFill>
                <a:latin typeface="Calibri" pitchFamily="34" charset="0"/>
                <a:ea typeface="Calibri" pitchFamily="34" charset="-122"/>
                <a:cs typeface="Calibri" pitchFamily="34" charset="-120"/>
              </a:rPr>
              <a:t>of the universe</a:t>
            </a:r>
            <a:endParaRPr lang="en-US" sz="18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2b: work out the word</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Activity 2b. Use the prefix meanings to decide what each word means.</a:t>
            </a:r>
            <a:endParaRPr lang="en-US" sz="1300" dirty="0"/>
          </a:p>
        </p:txBody>
      </p:sp>
      <p:sp>
        <p:nvSpPr>
          <p:cNvPr id="5" name="Shape 2"/>
          <p:cNvSpPr/>
          <p:nvPr/>
        </p:nvSpPr>
        <p:spPr>
          <a:xfrm>
            <a:off x="457200" y="1417320"/>
            <a:ext cx="2560320" cy="777240"/>
          </a:xfrm>
          <a:prstGeom prst="roundRect">
            <a:avLst>
              <a:gd name="adj" fmla="val 11765"/>
            </a:avLst>
          </a:prstGeom>
          <a:solidFill>
            <a:srgbClr val="FF8A3D"/>
          </a:solidFill>
          <a:ln w="6350">
            <a:solidFill>
              <a:srgbClr val="FF8A3D"/>
            </a:solidFill>
            <a:prstDash val="solid"/>
          </a:ln>
        </p:spPr>
      </p:sp>
      <p:sp>
        <p:nvSpPr>
          <p:cNvPr id="6" name="Text 3"/>
          <p:cNvSpPr txBox="1"/>
          <p:nvPr/>
        </p:nvSpPr>
        <p:spPr>
          <a:xfrm>
            <a:off x="548640" y="1417320"/>
            <a:ext cx="2377440" cy="77724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autobiography</a:t>
            </a:r>
            <a:endParaRPr lang="en-US" sz="2200" dirty="0"/>
          </a:p>
        </p:txBody>
      </p:sp>
      <p:sp>
        <p:nvSpPr>
          <p:cNvPr id="7" name="Shape 4"/>
          <p:cNvSpPr/>
          <p:nvPr/>
        </p:nvSpPr>
        <p:spPr>
          <a:xfrm>
            <a:off x="3291840" y="1417320"/>
            <a:ext cx="2560320" cy="777240"/>
          </a:xfrm>
          <a:prstGeom prst="roundRect">
            <a:avLst>
              <a:gd name="adj" fmla="val 11765"/>
            </a:avLst>
          </a:prstGeom>
          <a:solidFill>
            <a:srgbClr val="2EC4B6"/>
          </a:solidFill>
          <a:ln w="6350">
            <a:solidFill>
              <a:srgbClr val="2EC4B6"/>
            </a:solidFill>
            <a:prstDash val="solid"/>
          </a:ln>
        </p:spPr>
      </p:sp>
      <p:sp>
        <p:nvSpPr>
          <p:cNvPr id="8" name="Text 5"/>
          <p:cNvSpPr txBox="1"/>
          <p:nvPr/>
        </p:nvSpPr>
        <p:spPr>
          <a:xfrm>
            <a:off x="3383280" y="1417320"/>
            <a:ext cx="2377440" cy="77724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triennial</a:t>
            </a:r>
            <a:endParaRPr lang="en-US" sz="2200" dirty="0"/>
          </a:p>
        </p:txBody>
      </p:sp>
      <p:sp>
        <p:nvSpPr>
          <p:cNvPr id="9" name="Shape 6"/>
          <p:cNvSpPr/>
          <p:nvPr/>
        </p:nvSpPr>
        <p:spPr>
          <a:xfrm>
            <a:off x="6126480" y="1417320"/>
            <a:ext cx="2560320" cy="777240"/>
          </a:xfrm>
          <a:prstGeom prst="roundRect">
            <a:avLst>
              <a:gd name="adj" fmla="val 11765"/>
            </a:avLst>
          </a:prstGeom>
          <a:solidFill>
            <a:srgbClr val="FF6B8B"/>
          </a:solidFill>
          <a:ln w="6350">
            <a:solidFill>
              <a:srgbClr val="FF6B8B"/>
            </a:solidFill>
            <a:prstDash val="solid"/>
          </a:ln>
        </p:spPr>
      </p:sp>
      <p:sp>
        <p:nvSpPr>
          <p:cNvPr id="10" name="Text 7"/>
          <p:cNvSpPr txBox="1"/>
          <p:nvPr/>
        </p:nvSpPr>
        <p:spPr>
          <a:xfrm>
            <a:off x="6217920" y="1417320"/>
            <a:ext cx="2377440" cy="77724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astrodome</a:t>
            </a:r>
            <a:endParaRPr lang="en-US" sz="2200" dirty="0"/>
          </a:p>
        </p:txBody>
      </p:sp>
      <p:sp>
        <p:nvSpPr>
          <p:cNvPr id="11" name="Shape 8"/>
          <p:cNvSpPr/>
          <p:nvPr/>
        </p:nvSpPr>
        <p:spPr>
          <a:xfrm>
            <a:off x="457200" y="2377440"/>
            <a:ext cx="2560320" cy="777240"/>
          </a:xfrm>
          <a:prstGeom prst="roundRect">
            <a:avLst>
              <a:gd name="adj" fmla="val 11765"/>
            </a:avLst>
          </a:prstGeom>
          <a:solidFill>
            <a:srgbClr val="7B5CE0"/>
          </a:solidFill>
          <a:ln w="6350">
            <a:solidFill>
              <a:srgbClr val="7B5CE0"/>
            </a:solidFill>
            <a:prstDash val="solid"/>
          </a:ln>
        </p:spPr>
      </p:sp>
      <p:sp>
        <p:nvSpPr>
          <p:cNvPr id="12" name="Text 9"/>
          <p:cNvSpPr txBox="1"/>
          <p:nvPr/>
        </p:nvSpPr>
        <p:spPr>
          <a:xfrm>
            <a:off x="548640" y="2377440"/>
            <a:ext cx="237744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teletext</a:t>
            </a:r>
            <a:endParaRPr lang="en-US" sz="2200" dirty="0"/>
          </a:p>
        </p:txBody>
      </p:sp>
      <p:sp>
        <p:nvSpPr>
          <p:cNvPr id="13" name="Shape 10"/>
          <p:cNvSpPr/>
          <p:nvPr/>
        </p:nvSpPr>
        <p:spPr>
          <a:xfrm>
            <a:off x="3291840" y="2377440"/>
            <a:ext cx="2560320" cy="777240"/>
          </a:xfrm>
          <a:prstGeom prst="roundRect">
            <a:avLst>
              <a:gd name="adj" fmla="val 11765"/>
            </a:avLst>
          </a:prstGeom>
          <a:solidFill>
            <a:srgbClr val="FFD166"/>
          </a:solidFill>
          <a:ln w="6350">
            <a:solidFill>
              <a:srgbClr val="FFD166"/>
            </a:solidFill>
            <a:prstDash val="solid"/>
          </a:ln>
        </p:spPr>
      </p:sp>
      <p:sp>
        <p:nvSpPr>
          <p:cNvPr id="14" name="Text 11"/>
          <p:cNvSpPr txBox="1"/>
          <p:nvPr/>
        </p:nvSpPr>
        <p:spPr>
          <a:xfrm>
            <a:off x="3383280" y="2377440"/>
            <a:ext cx="2377440" cy="777240"/>
          </a:xfrm>
          <a:prstGeom prst="rect">
            <a:avLst/>
          </a:prstGeom>
          <a:noFill/>
          <a:ln/>
        </p:spPr>
        <p:txBody>
          <a:bodyPr wrap="square" lIns="0" tIns="0" rIns="0" bIns="0" rtlCol="0" anchor="ctr"/>
          <a:lstStyle/>
          <a:p>
            <a:pPr marL="0" indent="0" algn="ctr">
              <a:buNone/>
            </a:pPr>
            <a:r>
              <a:rPr lang="en-US" sz="2200" b="1" dirty="0">
                <a:solidFill>
                  <a:srgbClr val="0E1537"/>
                </a:solidFill>
                <a:latin typeface="Cambria" pitchFamily="34" charset="0"/>
                <a:ea typeface="Cambria" pitchFamily="34" charset="-122"/>
                <a:cs typeface="Cambria" pitchFamily="34" charset="-120"/>
              </a:rPr>
              <a:t>cosmonaut</a:t>
            </a:r>
            <a:endParaRPr lang="en-US" sz="2200" dirty="0"/>
          </a:p>
        </p:txBody>
      </p:sp>
      <p:sp>
        <p:nvSpPr>
          <p:cNvPr id="15" name="Shape 12"/>
          <p:cNvSpPr/>
          <p:nvPr/>
        </p:nvSpPr>
        <p:spPr>
          <a:xfrm>
            <a:off x="457200" y="3429000"/>
            <a:ext cx="8229600" cy="1051560"/>
          </a:xfrm>
          <a:prstGeom prst="roundRect">
            <a:avLst>
              <a:gd name="adj" fmla="val 6957"/>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6" name="Text 13"/>
          <p:cNvSpPr txBox="1"/>
          <p:nvPr/>
        </p:nvSpPr>
        <p:spPr>
          <a:xfrm>
            <a:off x="685800" y="3429000"/>
            <a:ext cx="7772400" cy="1051560"/>
          </a:xfrm>
          <a:prstGeom prst="rect">
            <a:avLst/>
          </a:prstGeom>
          <a:noFill/>
          <a:ln/>
        </p:spPr>
        <p:txBody>
          <a:bodyPr wrap="square" lIns="0" tIns="0" rIns="0" bIns="0" rtlCol="0" anchor="ctr"/>
          <a:lstStyle/>
          <a:p>
            <a:pPr marL="0" indent="0">
              <a:buNone/>
            </a:pPr>
            <a:r>
              <a:rPr lang="en-US" sz="1600" dirty="0">
                <a:solidFill>
                  <a:srgbClr val="0E1537"/>
                </a:solidFill>
                <a:latin typeface="Calibri" pitchFamily="34" charset="0"/>
                <a:ea typeface="Calibri" pitchFamily="34" charset="-122"/>
                <a:cs typeface="Calibri" pitchFamily="34" charset="-120"/>
              </a:rPr>
              <a:t>1. Find the prefix. What does it mean?   2. Guess the word.   3. Check in a dictionary.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2b: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Likely meanings. Accept sensible explanations.</a:t>
            </a:r>
            <a:endParaRPr lang="en-US" sz="1300" dirty="0"/>
          </a:p>
        </p:txBody>
      </p:sp>
      <p:sp>
        <p:nvSpPr>
          <p:cNvPr id="5" name="Shape 2"/>
          <p:cNvSpPr/>
          <p:nvPr/>
        </p:nvSpPr>
        <p:spPr>
          <a:xfrm>
            <a:off x="457200" y="1371600"/>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Text 3"/>
          <p:cNvSpPr txBox="1"/>
          <p:nvPr/>
        </p:nvSpPr>
        <p:spPr>
          <a:xfrm>
            <a:off x="685800" y="1371600"/>
            <a:ext cx="2377440" cy="530352"/>
          </a:xfrm>
          <a:prstGeom prst="rect">
            <a:avLst/>
          </a:prstGeom>
          <a:noFill/>
          <a:ln/>
        </p:spPr>
        <p:txBody>
          <a:bodyPr wrap="square" lIns="0" tIns="0" rIns="0" bIns="0" rtlCol="0" anchor="ctr"/>
          <a:lstStyle/>
          <a:p>
            <a:pPr marL="0" indent="0">
              <a:buNone/>
            </a:pPr>
            <a:r>
              <a:rPr lang="en-US" sz="1600" b="1" dirty="0">
                <a:solidFill>
                  <a:srgbClr val="7B5CE0"/>
                </a:solidFill>
                <a:latin typeface="Calibri" pitchFamily="34" charset="0"/>
                <a:ea typeface="Calibri" pitchFamily="34" charset="-122"/>
                <a:cs typeface="Calibri" pitchFamily="34" charset="-120"/>
              </a:rPr>
              <a:t>autobiography</a:t>
            </a:r>
            <a:endParaRPr lang="en-US" sz="1600" dirty="0"/>
          </a:p>
        </p:txBody>
      </p:sp>
      <p:sp>
        <p:nvSpPr>
          <p:cNvPr id="7" name="Text 4"/>
          <p:cNvSpPr txBox="1"/>
          <p:nvPr/>
        </p:nvSpPr>
        <p:spPr>
          <a:xfrm>
            <a:off x="3200400" y="1371600"/>
            <a:ext cx="521208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 life story written by the person themselves</a:t>
            </a:r>
            <a:endParaRPr lang="en-US" sz="1500" dirty="0"/>
          </a:p>
        </p:txBody>
      </p:sp>
      <p:sp>
        <p:nvSpPr>
          <p:cNvPr id="8" name="Shape 5"/>
          <p:cNvSpPr/>
          <p:nvPr/>
        </p:nvSpPr>
        <p:spPr>
          <a:xfrm>
            <a:off x="457200" y="1993392"/>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9" name="Text 6"/>
          <p:cNvSpPr txBox="1"/>
          <p:nvPr/>
        </p:nvSpPr>
        <p:spPr>
          <a:xfrm>
            <a:off x="685800" y="1993392"/>
            <a:ext cx="2377440" cy="530352"/>
          </a:xfrm>
          <a:prstGeom prst="rect">
            <a:avLst/>
          </a:prstGeom>
          <a:noFill/>
          <a:ln/>
        </p:spPr>
        <p:txBody>
          <a:bodyPr wrap="square" lIns="0" tIns="0" rIns="0" bIns="0" rtlCol="0" anchor="ctr"/>
          <a:lstStyle/>
          <a:p>
            <a:pPr marL="0" indent="0">
              <a:buNone/>
            </a:pPr>
            <a:r>
              <a:rPr lang="en-US" sz="1600" b="1" dirty="0">
                <a:solidFill>
                  <a:srgbClr val="7B5CE0"/>
                </a:solidFill>
                <a:latin typeface="Calibri" pitchFamily="34" charset="0"/>
                <a:ea typeface="Calibri" pitchFamily="34" charset="-122"/>
                <a:cs typeface="Calibri" pitchFamily="34" charset="-120"/>
              </a:rPr>
              <a:t>triennial</a:t>
            </a:r>
            <a:endParaRPr lang="en-US" sz="1600" dirty="0"/>
          </a:p>
        </p:txBody>
      </p:sp>
      <p:sp>
        <p:nvSpPr>
          <p:cNvPr id="10" name="Text 7"/>
          <p:cNvSpPr txBox="1"/>
          <p:nvPr/>
        </p:nvSpPr>
        <p:spPr>
          <a:xfrm>
            <a:off x="3200400" y="1993392"/>
            <a:ext cx="521208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happening every three years</a:t>
            </a:r>
            <a:endParaRPr lang="en-US" sz="1500" dirty="0"/>
          </a:p>
        </p:txBody>
      </p:sp>
      <p:sp>
        <p:nvSpPr>
          <p:cNvPr id="11" name="Shape 8"/>
          <p:cNvSpPr/>
          <p:nvPr/>
        </p:nvSpPr>
        <p:spPr>
          <a:xfrm>
            <a:off x="457200" y="2615184"/>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2" name="Text 9"/>
          <p:cNvSpPr txBox="1"/>
          <p:nvPr/>
        </p:nvSpPr>
        <p:spPr>
          <a:xfrm>
            <a:off x="685800" y="2615184"/>
            <a:ext cx="2377440" cy="530352"/>
          </a:xfrm>
          <a:prstGeom prst="rect">
            <a:avLst/>
          </a:prstGeom>
          <a:noFill/>
          <a:ln/>
        </p:spPr>
        <p:txBody>
          <a:bodyPr wrap="square" lIns="0" tIns="0" rIns="0" bIns="0" rtlCol="0" anchor="ctr"/>
          <a:lstStyle/>
          <a:p>
            <a:pPr marL="0" indent="0">
              <a:buNone/>
            </a:pPr>
            <a:r>
              <a:rPr lang="en-US" sz="1600" b="1" dirty="0">
                <a:solidFill>
                  <a:srgbClr val="7B5CE0"/>
                </a:solidFill>
                <a:latin typeface="Calibri" pitchFamily="34" charset="0"/>
                <a:ea typeface="Calibri" pitchFamily="34" charset="-122"/>
                <a:cs typeface="Calibri" pitchFamily="34" charset="-120"/>
              </a:rPr>
              <a:t>astrodome</a:t>
            </a:r>
            <a:endParaRPr lang="en-US" sz="1600" dirty="0"/>
          </a:p>
        </p:txBody>
      </p:sp>
      <p:sp>
        <p:nvSpPr>
          <p:cNvPr id="13" name="Text 10"/>
          <p:cNvSpPr txBox="1"/>
          <p:nvPr/>
        </p:nvSpPr>
        <p:spPr>
          <a:xfrm>
            <a:off x="3200400" y="2615184"/>
            <a:ext cx="521208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 dome for looking at space</a:t>
            </a:r>
            <a:endParaRPr lang="en-US" sz="1500" dirty="0"/>
          </a:p>
        </p:txBody>
      </p:sp>
      <p:sp>
        <p:nvSpPr>
          <p:cNvPr id="14" name="Shape 11"/>
          <p:cNvSpPr/>
          <p:nvPr/>
        </p:nvSpPr>
        <p:spPr>
          <a:xfrm>
            <a:off x="457200" y="3236976"/>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5" name="Text 12"/>
          <p:cNvSpPr txBox="1"/>
          <p:nvPr/>
        </p:nvSpPr>
        <p:spPr>
          <a:xfrm>
            <a:off x="685800" y="3236976"/>
            <a:ext cx="2377440" cy="530352"/>
          </a:xfrm>
          <a:prstGeom prst="rect">
            <a:avLst/>
          </a:prstGeom>
          <a:noFill/>
          <a:ln/>
        </p:spPr>
        <p:txBody>
          <a:bodyPr wrap="square" lIns="0" tIns="0" rIns="0" bIns="0" rtlCol="0" anchor="ctr"/>
          <a:lstStyle/>
          <a:p>
            <a:pPr marL="0" indent="0">
              <a:buNone/>
            </a:pPr>
            <a:r>
              <a:rPr lang="en-US" sz="1600" b="1" dirty="0">
                <a:solidFill>
                  <a:srgbClr val="7B5CE0"/>
                </a:solidFill>
                <a:latin typeface="Calibri" pitchFamily="34" charset="0"/>
                <a:ea typeface="Calibri" pitchFamily="34" charset="-122"/>
                <a:cs typeface="Calibri" pitchFamily="34" charset="-120"/>
              </a:rPr>
              <a:t>teletext</a:t>
            </a:r>
            <a:endParaRPr lang="en-US" sz="1600" dirty="0"/>
          </a:p>
        </p:txBody>
      </p:sp>
      <p:sp>
        <p:nvSpPr>
          <p:cNvPr id="16" name="Text 13"/>
          <p:cNvSpPr txBox="1"/>
          <p:nvPr/>
        </p:nvSpPr>
        <p:spPr>
          <a:xfrm>
            <a:off x="3200400" y="3236976"/>
            <a:ext cx="521208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text sent from afar to a TV screen</a:t>
            </a:r>
            <a:endParaRPr lang="en-US" sz="1500" dirty="0"/>
          </a:p>
        </p:txBody>
      </p:sp>
      <p:sp>
        <p:nvSpPr>
          <p:cNvPr id="17" name="Shape 14"/>
          <p:cNvSpPr/>
          <p:nvPr/>
        </p:nvSpPr>
        <p:spPr>
          <a:xfrm>
            <a:off x="457200" y="3858768"/>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Text 15"/>
          <p:cNvSpPr txBox="1"/>
          <p:nvPr/>
        </p:nvSpPr>
        <p:spPr>
          <a:xfrm>
            <a:off x="685800" y="3858768"/>
            <a:ext cx="2377440" cy="530352"/>
          </a:xfrm>
          <a:prstGeom prst="rect">
            <a:avLst/>
          </a:prstGeom>
          <a:noFill/>
          <a:ln/>
        </p:spPr>
        <p:txBody>
          <a:bodyPr wrap="square" lIns="0" tIns="0" rIns="0" bIns="0" rtlCol="0" anchor="ctr"/>
          <a:lstStyle/>
          <a:p>
            <a:pPr marL="0" indent="0">
              <a:buNone/>
            </a:pPr>
            <a:r>
              <a:rPr lang="en-US" sz="1600" b="1" dirty="0">
                <a:solidFill>
                  <a:srgbClr val="7B5CE0"/>
                </a:solidFill>
                <a:latin typeface="Calibri" pitchFamily="34" charset="0"/>
                <a:ea typeface="Calibri" pitchFamily="34" charset="-122"/>
                <a:cs typeface="Calibri" pitchFamily="34" charset="-120"/>
              </a:rPr>
              <a:t>cosmonaut</a:t>
            </a:r>
            <a:endParaRPr lang="en-US" sz="1600" dirty="0"/>
          </a:p>
        </p:txBody>
      </p:sp>
      <p:sp>
        <p:nvSpPr>
          <p:cNvPr id="19" name="Text 16"/>
          <p:cNvSpPr txBox="1"/>
          <p:nvPr/>
        </p:nvSpPr>
        <p:spPr>
          <a:xfrm>
            <a:off x="3200400" y="3858768"/>
            <a:ext cx="521208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 Soviet astronaut (space traveller)</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2c and 2d: find and use new words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Look for other words with these prefixes. Write a sentence for each.</a:t>
            </a:r>
            <a:endParaRPr lang="en-US" sz="1300" dirty="0"/>
          </a:p>
        </p:txBody>
      </p:sp>
      <p:sp>
        <p:nvSpPr>
          <p:cNvPr id="5" name="Shape 2"/>
          <p:cNvSpPr/>
          <p:nvPr/>
        </p:nvSpPr>
        <p:spPr>
          <a:xfrm>
            <a:off x="457200" y="1417320"/>
            <a:ext cx="1554480" cy="640080"/>
          </a:xfrm>
          <a:prstGeom prst="roundRect">
            <a:avLst>
              <a:gd name="adj" fmla="val 14286"/>
            </a:avLst>
          </a:prstGeom>
          <a:solidFill>
            <a:srgbClr val="FF8A3D"/>
          </a:solidFill>
          <a:ln w="6350">
            <a:solidFill>
              <a:srgbClr val="FF8A3D"/>
            </a:solidFill>
            <a:prstDash val="solid"/>
          </a:ln>
        </p:spPr>
      </p:sp>
      <p:sp>
        <p:nvSpPr>
          <p:cNvPr id="6" name="Text 3"/>
          <p:cNvSpPr txBox="1"/>
          <p:nvPr/>
        </p:nvSpPr>
        <p:spPr>
          <a:xfrm>
            <a:off x="548640" y="1417320"/>
            <a:ext cx="1371600" cy="6400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telescope</a:t>
            </a:r>
            <a:endParaRPr lang="en-US" sz="1400" dirty="0"/>
          </a:p>
        </p:txBody>
      </p:sp>
      <p:sp>
        <p:nvSpPr>
          <p:cNvPr id="7" name="Shape 4"/>
          <p:cNvSpPr/>
          <p:nvPr/>
        </p:nvSpPr>
        <p:spPr>
          <a:xfrm>
            <a:off x="2121408" y="1417320"/>
            <a:ext cx="1554480" cy="640080"/>
          </a:xfrm>
          <a:prstGeom prst="roundRect">
            <a:avLst>
              <a:gd name="adj" fmla="val 14286"/>
            </a:avLst>
          </a:prstGeom>
          <a:solidFill>
            <a:srgbClr val="2EC4B6"/>
          </a:solidFill>
          <a:ln w="6350">
            <a:solidFill>
              <a:srgbClr val="2EC4B6"/>
            </a:solidFill>
            <a:prstDash val="solid"/>
          </a:ln>
        </p:spPr>
      </p:sp>
      <p:sp>
        <p:nvSpPr>
          <p:cNvPr id="8" name="Text 5"/>
          <p:cNvSpPr txBox="1"/>
          <p:nvPr/>
        </p:nvSpPr>
        <p:spPr>
          <a:xfrm>
            <a:off x="2212848" y="1417320"/>
            <a:ext cx="1371600" cy="6400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biology</a:t>
            </a:r>
            <a:endParaRPr lang="en-US" sz="1400" dirty="0"/>
          </a:p>
        </p:txBody>
      </p:sp>
      <p:sp>
        <p:nvSpPr>
          <p:cNvPr id="9" name="Shape 6"/>
          <p:cNvSpPr/>
          <p:nvPr/>
        </p:nvSpPr>
        <p:spPr>
          <a:xfrm>
            <a:off x="3785616" y="1417320"/>
            <a:ext cx="1554480" cy="640080"/>
          </a:xfrm>
          <a:prstGeom prst="roundRect">
            <a:avLst>
              <a:gd name="adj" fmla="val 14286"/>
            </a:avLst>
          </a:prstGeom>
          <a:solidFill>
            <a:srgbClr val="FF6B8B"/>
          </a:solidFill>
          <a:ln w="6350">
            <a:solidFill>
              <a:srgbClr val="FF6B8B"/>
            </a:solidFill>
            <a:prstDash val="solid"/>
          </a:ln>
        </p:spPr>
      </p:sp>
      <p:sp>
        <p:nvSpPr>
          <p:cNvPr id="10" name="Text 7"/>
          <p:cNvSpPr txBox="1"/>
          <p:nvPr/>
        </p:nvSpPr>
        <p:spPr>
          <a:xfrm>
            <a:off x="3877056" y="1417320"/>
            <a:ext cx="1371600" cy="6400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tricycle</a:t>
            </a:r>
            <a:endParaRPr lang="en-US" sz="1400" dirty="0"/>
          </a:p>
        </p:txBody>
      </p:sp>
      <p:sp>
        <p:nvSpPr>
          <p:cNvPr id="11" name="Shape 8"/>
          <p:cNvSpPr/>
          <p:nvPr/>
        </p:nvSpPr>
        <p:spPr>
          <a:xfrm>
            <a:off x="5449824" y="1417320"/>
            <a:ext cx="1554480" cy="640080"/>
          </a:xfrm>
          <a:prstGeom prst="roundRect">
            <a:avLst>
              <a:gd name="adj" fmla="val 14286"/>
            </a:avLst>
          </a:prstGeom>
          <a:solidFill>
            <a:srgbClr val="7B5CE0"/>
          </a:solidFill>
          <a:ln w="6350">
            <a:solidFill>
              <a:srgbClr val="7B5CE0"/>
            </a:solidFill>
            <a:prstDash val="solid"/>
          </a:ln>
        </p:spPr>
      </p:sp>
      <p:sp>
        <p:nvSpPr>
          <p:cNvPr id="12" name="Text 9"/>
          <p:cNvSpPr txBox="1"/>
          <p:nvPr/>
        </p:nvSpPr>
        <p:spPr>
          <a:xfrm>
            <a:off x="5541264" y="1417320"/>
            <a:ext cx="137160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automatic</a:t>
            </a:r>
            <a:endParaRPr lang="en-US" sz="1400" dirty="0"/>
          </a:p>
        </p:txBody>
      </p:sp>
      <p:sp>
        <p:nvSpPr>
          <p:cNvPr id="13" name="Shape 10"/>
          <p:cNvSpPr/>
          <p:nvPr/>
        </p:nvSpPr>
        <p:spPr>
          <a:xfrm>
            <a:off x="7114032" y="1417320"/>
            <a:ext cx="1554480" cy="640080"/>
          </a:xfrm>
          <a:prstGeom prst="roundRect">
            <a:avLst>
              <a:gd name="adj" fmla="val 14286"/>
            </a:avLst>
          </a:prstGeom>
          <a:solidFill>
            <a:srgbClr val="FFD166"/>
          </a:solidFill>
          <a:ln w="6350">
            <a:solidFill>
              <a:srgbClr val="FFD166"/>
            </a:solidFill>
            <a:prstDash val="solid"/>
          </a:ln>
        </p:spPr>
      </p:sp>
      <p:sp>
        <p:nvSpPr>
          <p:cNvPr id="14" name="Text 11"/>
          <p:cNvSpPr txBox="1"/>
          <p:nvPr/>
        </p:nvSpPr>
        <p:spPr>
          <a:xfrm>
            <a:off x="7205472" y="1417320"/>
            <a:ext cx="1371600" cy="640080"/>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astronaut</a:t>
            </a:r>
            <a:endParaRPr lang="en-US" sz="1400" dirty="0"/>
          </a:p>
        </p:txBody>
      </p:sp>
      <p:sp>
        <p:nvSpPr>
          <p:cNvPr id="15" name="Shape 12"/>
          <p:cNvSpPr/>
          <p:nvPr/>
        </p:nvSpPr>
        <p:spPr>
          <a:xfrm>
            <a:off x="457200" y="2331720"/>
            <a:ext cx="8229600" cy="1234440"/>
          </a:xfrm>
          <a:prstGeom prst="roundRect">
            <a:avLst>
              <a:gd name="adj" fmla="val 5926"/>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6" name="Text 13"/>
          <p:cNvSpPr txBox="1"/>
          <p:nvPr/>
        </p:nvSpPr>
        <p:spPr>
          <a:xfrm>
            <a:off x="685800" y="2423160"/>
            <a:ext cx="7772400" cy="274320"/>
          </a:xfrm>
          <a:prstGeom prst="rect">
            <a:avLst/>
          </a:prstGeom>
          <a:noFill/>
          <a:ln/>
        </p:spPr>
        <p:txBody>
          <a:bodyPr wrap="square" lIns="0" tIns="0" rIns="0" bIns="0" rtlCol="0" anchor="t"/>
          <a:lstStyle/>
          <a:p>
            <a:pPr marL="0" indent="0">
              <a:buNone/>
            </a:pPr>
            <a:r>
              <a:rPr lang="en-US" sz="1100" b="1" dirty="0">
                <a:solidFill>
                  <a:srgbClr val="3A3F85"/>
                </a:solidFill>
                <a:latin typeface="Calibri" pitchFamily="34" charset="0"/>
                <a:ea typeface="Calibri" pitchFamily="34" charset="-122"/>
                <a:cs typeface="Calibri" pitchFamily="34" charset="-120"/>
              </a:rPr>
              <a:t>WRITE A SENTENCE THAT SHOWS THE MEANING</a:t>
            </a:r>
            <a:endParaRPr lang="en-US" sz="1100" dirty="0"/>
          </a:p>
        </p:txBody>
      </p:sp>
      <p:sp>
        <p:nvSpPr>
          <p:cNvPr id="17" name="Text 14"/>
          <p:cNvSpPr txBox="1"/>
          <p:nvPr/>
        </p:nvSpPr>
        <p:spPr>
          <a:xfrm>
            <a:off x="685800" y="2788920"/>
            <a:ext cx="7772400" cy="640080"/>
          </a:xfrm>
          <a:prstGeom prst="rect">
            <a:avLst/>
          </a:prstGeom>
          <a:noFill/>
          <a:ln/>
        </p:spPr>
        <p:txBody>
          <a:bodyPr wrap="square" lIns="0" tIns="0" rIns="0" bIns="0" rtlCol="0" anchor="t"/>
          <a:lstStyle/>
          <a:p>
            <a:pPr marL="0" indent="0">
              <a:buNone/>
            </a:pPr>
            <a:r>
              <a:rPr lang="en-US" sz="1800" i="1" dirty="0">
                <a:solidFill>
                  <a:srgbClr val="0E1537"/>
                </a:solidFill>
                <a:latin typeface="Calibri" pitchFamily="34" charset="0"/>
                <a:ea typeface="Calibri" pitchFamily="34" charset="-122"/>
                <a:cs typeface="Calibri" pitchFamily="34" charset="-120"/>
              </a:rPr>
              <a:t>A tricycle has three wheels, so it is easy to balance.</a:t>
            </a:r>
            <a:endParaRPr lang="en-US" sz="1800" dirty="0"/>
          </a:p>
        </p:txBody>
      </p:sp>
      <p:sp>
        <p:nvSpPr>
          <p:cNvPr id="18" name="Shape 15"/>
          <p:cNvSpPr/>
          <p:nvPr/>
        </p:nvSpPr>
        <p:spPr>
          <a:xfrm>
            <a:off x="457200" y="3749040"/>
            <a:ext cx="8229600" cy="731520"/>
          </a:xfrm>
          <a:prstGeom prst="roundRect">
            <a:avLst>
              <a:gd name="adj" fmla="val 10000"/>
            </a:avLst>
          </a:prstGeom>
          <a:solidFill>
            <a:srgbClr val="7B5CE0"/>
          </a:solidFill>
          <a:ln w="6350">
            <a:solidFill>
              <a:srgbClr val="7B5CE0"/>
            </a:solidFill>
            <a:prstDash val="solid"/>
          </a:ln>
        </p:spPr>
      </p:sp>
      <p:sp>
        <p:nvSpPr>
          <p:cNvPr id="19" name="Text 16"/>
          <p:cNvSpPr txBox="1"/>
          <p:nvPr/>
        </p:nvSpPr>
        <p:spPr>
          <a:xfrm>
            <a:off x="640080" y="3749040"/>
            <a:ext cx="786384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SPELLING LOG → Add each new word. Highlight the difficult letter group.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2c and 2d: model answers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Pupils’ sentences will vary.</a:t>
            </a:r>
            <a:endParaRPr lang="en-US" sz="1300" dirty="0"/>
          </a:p>
        </p:txBody>
      </p:sp>
      <p:sp>
        <p:nvSpPr>
          <p:cNvPr id="5" name="Shape 2"/>
          <p:cNvSpPr/>
          <p:nvPr/>
        </p:nvSpPr>
        <p:spPr>
          <a:xfrm>
            <a:off x="457200" y="1371600"/>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72184"/>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472184"/>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371600"/>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The </a:t>
            </a:r>
            <a:r>
              <a:rPr lang="en-US" sz="1500" b="1" dirty="0">
                <a:solidFill>
                  <a:srgbClr val="7B5CE0"/>
                </a:solidFill>
                <a:latin typeface="Calibri" pitchFamily="34" charset="0"/>
                <a:ea typeface="Calibri" pitchFamily="34" charset="-122"/>
                <a:cs typeface="Calibri" pitchFamily="34" charset="-120"/>
              </a:rPr>
              <a:t>tele</a:t>
            </a:r>
            <a:r>
              <a:rPr lang="en-US" sz="1500" dirty="0">
                <a:solidFill>
                  <a:srgbClr val="0E1537"/>
                </a:solidFill>
                <a:latin typeface="Calibri" pitchFamily="34" charset="0"/>
                <a:ea typeface="Calibri" pitchFamily="34" charset="-122"/>
                <a:cs typeface="Calibri" pitchFamily="34" charset="-120"/>
              </a:rPr>
              <a:t>scope helps us see stars that are far away.</a:t>
            </a:r>
            <a:endParaRPr lang="en-US" sz="1500" dirty="0"/>
          </a:p>
        </p:txBody>
      </p:sp>
      <p:sp>
        <p:nvSpPr>
          <p:cNvPr id="9" name="Shape 6"/>
          <p:cNvSpPr/>
          <p:nvPr/>
        </p:nvSpPr>
        <p:spPr>
          <a:xfrm>
            <a:off x="457200" y="1993392"/>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093976"/>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093976"/>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1993392"/>
            <a:ext cx="7406640" cy="530352"/>
          </a:xfrm>
          <a:prstGeom prst="rect">
            <a:avLst/>
          </a:prstGeom>
          <a:noFill/>
          <a:ln/>
        </p:spPr>
        <p:txBody>
          <a:bodyPr wrap="square" lIns="0" tIns="0" rIns="0" bIns="0" rtlCol="0" anchor="ctr"/>
          <a:lstStyle/>
          <a:p>
            <a:pPr marL="0" indent="0">
              <a:buNone/>
            </a:pPr>
            <a:r>
              <a:rPr lang="en-US" sz="1500" b="1" dirty="0">
                <a:solidFill>
                  <a:srgbClr val="7B5CE0"/>
                </a:solidFill>
                <a:latin typeface="Calibri" pitchFamily="34" charset="0"/>
                <a:ea typeface="Calibri" pitchFamily="34" charset="-122"/>
                <a:cs typeface="Calibri" pitchFamily="34" charset="-120"/>
              </a:rPr>
              <a:t>Bio</a:t>
            </a:r>
            <a:r>
              <a:rPr lang="en-US" sz="1500" dirty="0">
                <a:solidFill>
                  <a:srgbClr val="0E1537"/>
                </a:solidFill>
                <a:latin typeface="Calibri" pitchFamily="34" charset="0"/>
                <a:ea typeface="Calibri" pitchFamily="34" charset="-122"/>
                <a:cs typeface="Calibri" pitchFamily="34" charset="-120"/>
              </a:rPr>
              <a:t>logy is the study of life.</a:t>
            </a:r>
            <a:endParaRPr lang="en-US" sz="1500" dirty="0"/>
          </a:p>
        </p:txBody>
      </p:sp>
      <p:sp>
        <p:nvSpPr>
          <p:cNvPr id="13" name="Shape 10"/>
          <p:cNvSpPr/>
          <p:nvPr/>
        </p:nvSpPr>
        <p:spPr>
          <a:xfrm>
            <a:off x="457200" y="2615184"/>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715768"/>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271576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615184"/>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 </a:t>
            </a:r>
            <a:r>
              <a:rPr lang="en-US" sz="1500" b="1" dirty="0">
                <a:solidFill>
                  <a:srgbClr val="7B5CE0"/>
                </a:solidFill>
                <a:latin typeface="Calibri" pitchFamily="34" charset="0"/>
                <a:ea typeface="Calibri" pitchFamily="34" charset="-122"/>
                <a:cs typeface="Calibri" pitchFamily="34" charset="-120"/>
              </a:rPr>
              <a:t>tri</a:t>
            </a:r>
            <a:r>
              <a:rPr lang="en-US" sz="1500" dirty="0">
                <a:solidFill>
                  <a:srgbClr val="0E1537"/>
                </a:solidFill>
                <a:latin typeface="Calibri" pitchFamily="34" charset="0"/>
                <a:ea typeface="Calibri" pitchFamily="34" charset="-122"/>
                <a:cs typeface="Calibri" pitchFamily="34" charset="-120"/>
              </a:rPr>
              <a:t>cycle has three wheels.</a:t>
            </a:r>
            <a:endParaRPr lang="en-US" sz="1500" dirty="0"/>
          </a:p>
        </p:txBody>
      </p:sp>
      <p:sp>
        <p:nvSpPr>
          <p:cNvPr id="17" name="Shape 14"/>
          <p:cNvSpPr/>
          <p:nvPr/>
        </p:nvSpPr>
        <p:spPr>
          <a:xfrm>
            <a:off x="457200" y="3236976"/>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337560"/>
            <a:ext cx="329184" cy="329184"/>
          </a:xfrm>
          <a:prstGeom prst="ellipse">
            <a:avLst/>
          </a:prstGeom>
          <a:solidFill>
            <a:srgbClr val="7B5CE0"/>
          </a:solidFill>
          <a:ln w="6350">
            <a:solidFill>
              <a:srgbClr val="7B5CE0"/>
            </a:solidFill>
            <a:prstDash val="solid"/>
          </a:ln>
        </p:spPr>
      </p:sp>
      <p:sp>
        <p:nvSpPr>
          <p:cNvPr id="19" name="Text 16"/>
          <p:cNvSpPr txBox="1"/>
          <p:nvPr/>
        </p:nvSpPr>
        <p:spPr>
          <a:xfrm>
            <a:off x="5943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097280" y="3236976"/>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The door is </a:t>
            </a:r>
            <a:r>
              <a:rPr lang="en-US" sz="1500" b="1" dirty="0">
                <a:solidFill>
                  <a:srgbClr val="7B5CE0"/>
                </a:solidFill>
                <a:latin typeface="Calibri" pitchFamily="34" charset="0"/>
                <a:ea typeface="Calibri" pitchFamily="34" charset="-122"/>
                <a:cs typeface="Calibri" pitchFamily="34" charset="-120"/>
              </a:rPr>
              <a:t>auto</a:t>
            </a:r>
            <a:r>
              <a:rPr lang="en-US" sz="1500" dirty="0">
                <a:solidFill>
                  <a:srgbClr val="0E1537"/>
                </a:solidFill>
                <a:latin typeface="Calibri" pitchFamily="34" charset="0"/>
                <a:ea typeface="Calibri" pitchFamily="34" charset="-122"/>
                <a:cs typeface="Calibri" pitchFamily="34" charset="-120"/>
              </a:rPr>
              <a:t>matic: it opens by itself.</a:t>
            </a:r>
            <a:endParaRPr lang="en-US" sz="1500" dirty="0"/>
          </a:p>
        </p:txBody>
      </p:sp>
      <p:sp>
        <p:nvSpPr>
          <p:cNvPr id="21" name="Shape 18"/>
          <p:cNvSpPr/>
          <p:nvPr/>
        </p:nvSpPr>
        <p:spPr>
          <a:xfrm>
            <a:off x="457200" y="3858768"/>
            <a:ext cx="8229600" cy="530352"/>
          </a:xfrm>
          <a:prstGeom prst="roundRect">
            <a:avLst>
              <a:gd name="adj" fmla="val 13793"/>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22" name="Shape 19"/>
          <p:cNvSpPr/>
          <p:nvPr/>
        </p:nvSpPr>
        <p:spPr>
          <a:xfrm>
            <a:off x="594360" y="3959352"/>
            <a:ext cx="329184" cy="329184"/>
          </a:xfrm>
          <a:prstGeom prst="ellipse">
            <a:avLst/>
          </a:prstGeom>
          <a:solidFill>
            <a:srgbClr val="FFD166"/>
          </a:solidFill>
          <a:ln w="6350">
            <a:solidFill>
              <a:srgbClr val="FFD166"/>
            </a:solidFill>
            <a:prstDash val="solid"/>
          </a:ln>
        </p:spPr>
      </p:sp>
      <p:sp>
        <p:nvSpPr>
          <p:cNvPr id="23" name="Text 20"/>
          <p:cNvSpPr txBox="1"/>
          <p:nvPr/>
        </p:nvSpPr>
        <p:spPr>
          <a:xfrm>
            <a:off x="594360" y="3959352"/>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5</a:t>
            </a:r>
            <a:endParaRPr lang="en-US" sz="1400" dirty="0"/>
          </a:p>
        </p:txBody>
      </p:sp>
      <p:sp>
        <p:nvSpPr>
          <p:cNvPr id="24" name="Text 21"/>
          <p:cNvSpPr txBox="1"/>
          <p:nvPr/>
        </p:nvSpPr>
        <p:spPr>
          <a:xfrm>
            <a:off x="1097280" y="3858768"/>
            <a:ext cx="7406640" cy="530352"/>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An </a:t>
            </a:r>
            <a:r>
              <a:rPr lang="en-US" sz="1500" b="1" dirty="0">
                <a:solidFill>
                  <a:srgbClr val="7B5CE0"/>
                </a:solidFill>
                <a:latin typeface="Calibri" pitchFamily="34" charset="0"/>
                <a:ea typeface="Calibri" pitchFamily="34" charset="-122"/>
                <a:cs typeface="Calibri" pitchFamily="34" charset="-120"/>
              </a:rPr>
              <a:t>astro</a:t>
            </a:r>
            <a:r>
              <a:rPr lang="en-US" sz="1500" dirty="0">
                <a:solidFill>
                  <a:srgbClr val="0E1537"/>
                </a:solidFill>
                <a:latin typeface="Calibri" pitchFamily="34" charset="0"/>
                <a:ea typeface="Calibri" pitchFamily="34" charset="-122"/>
                <a:cs typeface="Calibri" pitchFamily="34" charset="-120"/>
              </a:rPr>
              <a:t>naut travels in space.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Edit your sentences</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Check your paragraph, then swap with a partner.</a:t>
            </a:r>
            <a:endParaRPr lang="en-US" sz="1300" dirty="0"/>
          </a:p>
        </p:txBody>
      </p:sp>
      <p:sp>
        <p:nvSpPr>
          <p:cNvPr id="5" name="Shape 2"/>
          <p:cNvSpPr/>
          <p:nvPr/>
        </p:nvSpPr>
        <p:spPr>
          <a:xfrm>
            <a:off x="457200" y="1371600"/>
            <a:ext cx="8229600" cy="502920"/>
          </a:xfrm>
          <a:prstGeom prst="roundRect">
            <a:avLst>
              <a:gd name="adj" fmla="val 1454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58468"/>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45846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371600"/>
            <a:ext cx="7406640" cy="5029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Underline every adverbial.</a:t>
            </a:r>
            <a:endParaRPr lang="en-US" sz="1500" dirty="0"/>
          </a:p>
        </p:txBody>
      </p:sp>
      <p:sp>
        <p:nvSpPr>
          <p:cNvPr id="9" name="Shape 6"/>
          <p:cNvSpPr/>
          <p:nvPr/>
        </p:nvSpPr>
        <p:spPr>
          <a:xfrm>
            <a:off x="457200" y="1965960"/>
            <a:ext cx="8229600" cy="502920"/>
          </a:xfrm>
          <a:prstGeom prst="roundRect">
            <a:avLst>
              <a:gd name="adj" fmla="val 1454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052828"/>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05282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1965960"/>
            <a:ext cx="7406640" cy="5029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Write T, P or M above each one.</a:t>
            </a:r>
            <a:endParaRPr lang="en-US" sz="1500" dirty="0"/>
          </a:p>
        </p:txBody>
      </p:sp>
      <p:sp>
        <p:nvSpPr>
          <p:cNvPr id="13" name="Shape 10"/>
          <p:cNvSpPr/>
          <p:nvPr/>
        </p:nvSpPr>
        <p:spPr>
          <a:xfrm>
            <a:off x="457200" y="2560320"/>
            <a:ext cx="8229600" cy="502920"/>
          </a:xfrm>
          <a:prstGeom prst="roundRect">
            <a:avLst>
              <a:gd name="adj" fmla="val 1454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2647188"/>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264718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560320"/>
            <a:ext cx="7406640" cy="5029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Check the comma after an adverbial at the start.</a:t>
            </a:r>
            <a:endParaRPr lang="en-US" sz="1500" dirty="0"/>
          </a:p>
        </p:txBody>
      </p:sp>
      <p:sp>
        <p:nvSpPr>
          <p:cNvPr id="17" name="Shape 14"/>
          <p:cNvSpPr/>
          <p:nvPr/>
        </p:nvSpPr>
        <p:spPr>
          <a:xfrm>
            <a:off x="457200" y="3154680"/>
            <a:ext cx="8229600" cy="502920"/>
          </a:xfrm>
          <a:prstGeom prst="roundRect">
            <a:avLst>
              <a:gd name="adj" fmla="val 14545"/>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8" name="Shape 15"/>
          <p:cNvSpPr/>
          <p:nvPr/>
        </p:nvSpPr>
        <p:spPr>
          <a:xfrm>
            <a:off x="594360" y="3241548"/>
            <a:ext cx="329184" cy="329184"/>
          </a:xfrm>
          <a:prstGeom prst="ellipse">
            <a:avLst/>
          </a:prstGeom>
          <a:solidFill>
            <a:srgbClr val="7B5CE0"/>
          </a:solidFill>
          <a:ln w="6350">
            <a:solidFill>
              <a:srgbClr val="7B5CE0"/>
            </a:solidFill>
            <a:prstDash val="solid"/>
          </a:ln>
        </p:spPr>
      </p:sp>
      <p:sp>
        <p:nvSpPr>
          <p:cNvPr id="19" name="Text 16"/>
          <p:cNvSpPr txBox="1"/>
          <p:nvPr/>
        </p:nvSpPr>
        <p:spPr>
          <a:xfrm>
            <a:off x="594360" y="324154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097280" y="3154680"/>
            <a:ext cx="7406640" cy="50292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Check capital letters and full stops.</a:t>
            </a:r>
            <a:endParaRPr lang="en-US" sz="1500" dirty="0"/>
          </a:p>
        </p:txBody>
      </p:sp>
      <p:sp>
        <p:nvSpPr>
          <p:cNvPr id="21" name="Shape 18"/>
          <p:cNvSpPr/>
          <p:nvPr/>
        </p:nvSpPr>
        <p:spPr>
          <a:xfrm>
            <a:off x="457200" y="3794760"/>
            <a:ext cx="8229600" cy="731520"/>
          </a:xfrm>
          <a:prstGeom prst="roundRect">
            <a:avLst>
              <a:gd name="adj" fmla="val 10000"/>
            </a:avLst>
          </a:prstGeom>
          <a:solidFill>
            <a:srgbClr val="FFD166"/>
          </a:solidFill>
          <a:ln w="6350">
            <a:solidFill>
              <a:srgbClr val="FFD166"/>
            </a:solidFill>
            <a:prstDash val="solid"/>
          </a:ln>
        </p:spPr>
      </p:sp>
      <p:sp>
        <p:nvSpPr>
          <p:cNvPr id="22" name="Text 19"/>
          <p:cNvSpPr txBox="1"/>
          <p:nvPr/>
        </p:nvSpPr>
        <p:spPr>
          <a:xfrm>
            <a:off x="640080" y="3794760"/>
            <a:ext cx="7863840" cy="73152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Swap with a partner. One strength: ‘Your sentence … works because …’  One improvement: ‘You could add … to show …’</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Exit ticket</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Answer on a sticky note or mini whiteboard.</a:t>
            </a:r>
            <a:endParaRPr lang="en-US" sz="1300" dirty="0"/>
          </a:p>
        </p:txBody>
      </p:sp>
      <p:sp>
        <p:nvSpPr>
          <p:cNvPr id="5" name="Shape 2"/>
          <p:cNvSpPr/>
          <p:nvPr/>
        </p:nvSpPr>
        <p:spPr>
          <a:xfrm>
            <a:off x="457200" y="1371600"/>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527048"/>
            <a:ext cx="329184" cy="329184"/>
          </a:xfrm>
          <a:prstGeom prst="ellipse">
            <a:avLst/>
          </a:prstGeom>
          <a:solidFill>
            <a:srgbClr val="FF8A3D"/>
          </a:solidFill>
          <a:ln w="6350">
            <a:solidFill>
              <a:srgbClr val="FF8A3D"/>
            </a:solidFill>
            <a:prstDash val="solid"/>
          </a:ln>
        </p:spPr>
      </p:sp>
      <p:sp>
        <p:nvSpPr>
          <p:cNvPr id="7" name="Text 4"/>
          <p:cNvSpPr txBox="1"/>
          <p:nvPr/>
        </p:nvSpPr>
        <p:spPr>
          <a:xfrm>
            <a:off x="594360" y="1527048"/>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097280" y="1371600"/>
            <a:ext cx="7406640" cy="64008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Write a sentence that starts with an adverbial of time. Underline it and add the comma.</a:t>
            </a:r>
            <a:endParaRPr lang="en-US" sz="1500" dirty="0"/>
          </a:p>
        </p:txBody>
      </p:sp>
      <p:sp>
        <p:nvSpPr>
          <p:cNvPr id="9" name="Shape 6"/>
          <p:cNvSpPr/>
          <p:nvPr/>
        </p:nvSpPr>
        <p:spPr>
          <a:xfrm>
            <a:off x="457200" y="2121408"/>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276856"/>
            <a:ext cx="329184" cy="329184"/>
          </a:xfrm>
          <a:prstGeom prst="ellipse">
            <a:avLst/>
          </a:prstGeom>
          <a:solidFill>
            <a:srgbClr val="2EC4B6"/>
          </a:solidFill>
          <a:ln w="6350">
            <a:solidFill>
              <a:srgbClr val="2EC4B6"/>
            </a:solidFill>
            <a:prstDash val="solid"/>
          </a:ln>
        </p:spPr>
      </p:sp>
      <p:sp>
        <p:nvSpPr>
          <p:cNvPr id="11" name="Text 8"/>
          <p:cNvSpPr txBox="1"/>
          <p:nvPr/>
        </p:nvSpPr>
        <p:spPr>
          <a:xfrm>
            <a:off x="594360" y="2276856"/>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097280" y="2121408"/>
            <a:ext cx="7406640" cy="64008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What type of adverbial is ‘with great effort’?</a:t>
            </a:r>
            <a:endParaRPr lang="en-US" sz="1500" dirty="0"/>
          </a:p>
        </p:txBody>
      </p:sp>
      <p:sp>
        <p:nvSpPr>
          <p:cNvPr id="13" name="Shape 10"/>
          <p:cNvSpPr/>
          <p:nvPr/>
        </p:nvSpPr>
        <p:spPr>
          <a:xfrm>
            <a:off x="457200" y="2871216"/>
            <a:ext cx="8229600" cy="640080"/>
          </a:xfrm>
          <a:prstGeom prst="roundRect">
            <a:avLst>
              <a:gd name="adj" fmla="val 11429"/>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3026664"/>
            <a:ext cx="329184" cy="329184"/>
          </a:xfrm>
          <a:prstGeom prst="ellipse">
            <a:avLst/>
          </a:prstGeom>
          <a:solidFill>
            <a:srgbClr val="FF6B8B"/>
          </a:solidFill>
          <a:ln w="6350">
            <a:solidFill>
              <a:srgbClr val="FF6B8B"/>
            </a:solidFill>
            <a:prstDash val="solid"/>
          </a:ln>
        </p:spPr>
      </p:sp>
      <p:sp>
        <p:nvSpPr>
          <p:cNvPr id="15" name="Text 12"/>
          <p:cNvSpPr txBox="1"/>
          <p:nvPr/>
        </p:nvSpPr>
        <p:spPr>
          <a:xfrm>
            <a:off x="594360" y="3026664"/>
            <a:ext cx="329184" cy="329184"/>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097280" y="2871216"/>
            <a:ext cx="7406640" cy="640080"/>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What does the prefix tele- mean? Write one word that uses it.</a:t>
            </a:r>
            <a:endParaRPr lang="en-US" sz="1500" dirty="0"/>
          </a:p>
        </p:txBody>
      </p:sp>
      <p:sp>
        <p:nvSpPr>
          <p:cNvPr id="17" name="Text 14"/>
          <p:cNvSpPr txBox="1"/>
          <p:nvPr/>
        </p:nvSpPr>
        <p:spPr>
          <a:xfrm>
            <a:off x="457200" y="3794760"/>
            <a:ext cx="420624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How confident do you feel about adverbials?</a:t>
            </a:r>
            <a:endParaRPr lang="en-US" sz="1500" dirty="0"/>
          </a:p>
        </p:txBody>
      </p:sp>
      <p:sp>
        <p:nvSpPr>
          <p:cNvPr id="18" name="Shape 15"/>
          <p:cNvSpPr/>
          <p:nvPr/>
        </p:nvSpPr>
        <p:spPr>
          <a:xfrm>
            <a:off x="4937760" y="3657600"/>
            <a:ext cx="548640" cy="548640"/>
          </a:xfrm>
          <a:prstGeom prst="ellipse">
            <a:avLst/>
          </a:prstGeom>
          <a:solidFill>
            <a:srgbClr val="2EC4B6"/>
          </a:solidFill>
          <a:ln w="6350">
            <a:solidFill>
              <a:srgbClr val="2EC4B6"/>
            </a:solidFill>
            <a:prstDash val="solid"/>
          </a:ln>
        </p:spPr>
      </p:sp>
      <p:sp>
        <p:nvSpPr>
          <p:cNvPr id="19" name="Text 16"/>
          <p:cNvSpPr txBox="1"/>
          <p:nvPr/>
        </p:nvSpPr>
        <p:spPr>
          <a:xfrm>
            <a:off x="4754880" y="4251960"/>
            <a:ext cx="914400" cy="2743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Got it!</a:t>
            </a:r>
            <a:endParaRPr lang="en-US" sz="1200" dirty="0"/>
          </a:p>
        </p:txBody>
      </p:sp>
      <p:sp>
        <p:nvSpPr>
          <p:cNvPr id="20" name="Shape 17"/>
          <p:cNvSpPr/>
          <p:nvPr/>
        </p:nvSpPr>
        <p:spPr>
          <a:xfrm>
            <a:off x="6217920" y="3657600"/>
            <a:ext cx="548640" cy="548640"/>
          </a:xfrm>
          <a:prstGeom prst="ellipse">
            <a:avLst/>
          </a:prstGeom>
          <a:solidFill>
            <a:srgbClr val="FFD166"/>
          </a:solidFill>
          <a:ln w="6350">
            <a:solidFill>
              <a:srgbClr val="FFD166"/>
            </a:solidFill>
            <a:prstDash val="solid"/>
          </a:ln>
        </p:spPr>
      </p:sp>
      <p:sp>
        <p:nvSpPr>
          <p:cNvPr id="21" name="Text 18"/>
          <p:cNvSpPr txBox="1"/>
          <p:nvPr/>
        </p:nvSpPr>
        <p:spPr>
          <a:xfrm>
            <a:off x="6035040" y="4251960"/>
            <a:ext cx="914400" cy="2743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Nearly</a:t>
            </a:r>
            <a:endParaRPr lang="en-US" sz="1200" dirty="0"/>
          </a:p>
        </p:txBody>
      </p:sp>
      <p:sp>
        <p:nvSpPr>
          <p:cNvPr id="22" name="Shape 19"/>
          <p:cNvSpPr/>
          <p:nvPr/>
        </p:nvSpPr>
        <p:spPr>
          <a:xfrm>
            <a:off x="7498080" y="3657600"/>
            <a:ext cx="548640" cy="548640"/>
          </a:xfrm>
          <a:prstGeom prst="ellipse">
            <a:avLst/>
          </a:prstGeom>
          <a:solidFill>
            <a:srgbClr val="FF6B8B"/>
          </a:solidFill>
          <a:ln w="6350">
            <a:solidFill>
              <a:srgbClr val="FF6B8B"/>
            </a:solidFill>
            <a:prstDash val="solid"/>
          </a:ln>
        </p:spPr>
      </p:sp>
      <p:sp>
        <p:nvSpPr>
          <p:cNvPr id="23" name="Text 20"/>
          <p:cNvSpPr txBox="1"/>
          <p:nvPr/>
        </p:nvSpPr>
        <p:spPr>
          <a:xfrm>
            <a:off x="7315200" y="4251960"/>
            <a:ext cx="914400" cy="2743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Need help</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FFD166"/>
                </a:solidFill>
                <a:latin typeface="Cambria" pitchFamily="34" charset="0"/>
                <a:ea typeface="Cambria" pitchFamily="34" charset="-122"/>
                <a:cs typeface="Cambria" pitchFamily="34" charset="-120"/>
              </a:rPr>
              <a:t>Model answers: exit ticket</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CFD4FF"/>
                </a:solidFill>
                <a:latin typeface="Calibri" pitchFamily="34" charset="0"/>
                <a:ea typeface="Calibri" pitchFamily="34" charset="-122"/>
                <a:cs typeface="Calibri" pitchFamily="34" charset="-120"/>
              </a:rPr>
              <a:t>Accept any accurate answers.</a:t>
            </a:r>
            <a:endParaRPr lang="en-US" sz="1300" dirty="0"/>
          </a:p>
        </p:txBody>
      </p:sp>
      <p:sp>
        <p:nvSpPr>
          <p:cNvPr id="5" name="Shape 2"/>
          <p:cNvSpPr/>
          <p:nvPr/>
        </p:nvSpPr>
        <p:spPr>
          <a:xfrm>
            <a:off x="457200" y="1371600"/>
            <a:ext cx="8229600" cy="658368"/>
          </a:xfrm>
          <a:prstGeom prst="roundRect">
            <a:avLst>
              <a:gd name="adj" fmla="val 111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99616"/>
            <a:ext cx="402336" cy="402336"/>
          </a:xfrm>
          <a:prstGeom prst="ellipse">
            <a:avLst/>
          </a:prstGeom>
          <a:solidFill>
            <a:srgbClr val="FF8A3D"/>
          </a:solidFill>
          <a:ln w="6350">
            <a:solidFill>
              <a:srgbClr val="FF8A3D"/>
            </a:solidFill>
            <a:prstDash val="solid"/>
          </a:ln>
        </p:spPr>
      </p:sp>
      <p:sp>
        <p:nvSpPr>
          <p:cNvPr id="7" name="Text 4"/>
          <p:cNvSpPr txBox="1"/>
          <p:nvPr/>
        </p:nvSpPr>
        <p:spPr>
          <a:xfrm>
            <a:off x="594360" y="1499616"/>
            <a:ext cx="402336"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188720" y="1371600"/>
            <a:ext cx="7223760" cy="658368"/>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In 1969, astronauts walked on the moon. (adverbial of time at the start, comma after it)</a:t>
            </a:r>
            <a:endParaRPr lang="en-US" sz="1500" dirty="0"/>
          </a:p>
        </p:txBody>
      </p:sp>
      <p:sp>
        <p:nvSpPr>
          <p:cNvPr id="9" name="Shape 6"/>
          <p:cNvSpPr/>
          <p:nvPr/>
        </p:nvSpPr>
        <p:spPr>
          <a:xfrm>
            <a:off x="457200" y="2148840"/>
            <a:ext cx="8229600" cy="658368"/>
          </a:xfrm>
          <a:prstGeom prst="roundRect">
            <a:avLst>
              <a:gd name="adj" fmla="val 111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0" name="Shape 7"/>
          <p:cNvSpPr/>
          <p:nvPr/>
        </p:nvSpPr>
        <p:spPr>
          <a:xfrm>
            <a:off x="594360" y="2276856"/>
            <a:ext cx="402336" cy="402336"/>
          </a:xfrm>
          <a:prstGeom prst="ellipse">
            <a:avLst/>
          </a:prstGeom>
          <a:solidFill>
            <a:srgbClr val="2EC4B6"/>
          </a:solidFill>
          <a:ln w="6350">
            <a:solidFill>
              <a:srgbClr val="2EC4B6"/>
            </a:solidFill>
            <a:prstDash val="solid"/>
          </a:ln>
        </p:spPr>
      </p:sp>
      <p:sp>
        <p:nvSpPr>
          <p:cNvPr id="11" name="Text 8"/>
          <p:cNvSpPr txBox="1"/>
          <p:nvPr/>
        </p:nvSpPr>
        <p:spPr>
          <a:xfrm>
            <a:off x="594360" y="2276856"/>
            <a:ext cx="402336"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1188720" y="2148840"/>
            <a:ext cx="7223760" cy="658368"/>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Manner: it tells us how they succeeded.</a:t>
            </a:r>
            <a:endParaRPr lang="en-US" sz="1500" dirty="0"/>
          </a:p>
        </p:txBody>
      </p:sp>
      <p:sp>
        <p:nvSpPr>
          <p:cNvPr id="13" name="Shape 10"/>
          <p:cNvSpPr/>
          <p:nvPr/>
        </p:nvSpPr>
        <p:spPr>
          <a:xfrm>
            <a:off x="457200" y="2926080"/>
            <a:ext cx="8229600" cy="658368"/>
          </a:xfrm>
          <a:prstGeom prst="roundRect">
            <a:avLst>
              <a:gd name="adj" fmla="val 111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4" name="Shape 11"/>
          <p:cNvSpPr/>
          <p:nvPr/>
        </p:nvSpPr>
        <p:spPr>
          <a:xfrm>
            <a:off x="594360" y="3054096"/>
            <a:ext cx="402336" cy="402336"/>
          </a:xfrm>
          <a:prstGeom prst="ellipse">
            <a:avLst/>
          </a:prstGeom>
          <a:solidFill>
            <a:srgbClr val="FF6B8B"/>
          </a:solidFill>
          <a:ln w="6350">
            <a:solidFill>
              <a:srgbClr val="FF6B8B"/>
            </a:solidFill>
            <a:prstDash val="solid"/>
          </a:ln>
        </p:spPr>
      </p:sp>
      <p:sp>
        <p:nvSpPr>
          <p:cNvPr id="15" name="Text 12"/>
          <p:cNvSpPr txBox="1"/>
          <p:nvPr/>
        </p:nvSpPr>
        <p:spPr>
          <a:xfrm>
            <a:off x="594360" y="3054096"/>
            <a:ext cx="402336"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1188720" y="2926080"/>
            <a:ext cx="7223760" cy="658368"/>
          </a:xfrm>
          <a:prstGeom prst="rect">
            <a:avLst/>
          </a:prstGeom>
          <a:noFill/>
          <a:ln/>
        </p:spPr>
        <p:txBody>
          <a:bodyPr wrap="square" lIns="0" tIns="0" rIns="0" bIns="0" rtlCol="0" anchor="ctr"/>
          <a:lstStyle/>
          <a:p>
            <a:pPr marL="0" indent="0">
              <a:buNone/>
            </a:pPr>
            <a:r>
              <a:rPr lang="en-US" sz="1500" dirty="0">
                <a:solidFill>
                  <a:srgbClr val="0E1537"/>
                </a:solidFill>
                <a:latin typeface="Calibri" pitchFamily="34" charset="0"/>
                <a:ea typeface="Calibri" pitchFamily="34" charset="-122"/>
                <a:cs typeface="Calibri" pitchFamily="34" charset="-120"/>
              </a:rPr>
              <a:t>From afar, as in television, telephone or telescope.</a:t>
            </a:r>
            <a:endParaRPr lang="en-US" sz="1500" dirty="0"/>
          </a:p>
        </p:txBody>
      </p:sp>
      <p:sp>
        <p:nvSpPr>
          <p:cNvPr id="17" name="Shape 14"/>
          <p:cNvSpPr/>
          <p:nvPr/>
        </p:nvSpPr>
        <p:spPr>
          <a:xfrm>
            <a:off x="457200" y="3840480"/>
            <a:ext cx="8229600" cy="594360"/>
          </a:xfrm>
          <a:prstGeom prst="roundRect">
            <a:avLst>
              <a:gd name="adj" fmla="val 12308"/>
            </a:avLst>
          </a:prstGeom>
          <a:solidFill>
            <a:srgbClr val="FFD166"/>
          </a:solidFill>
          <a:ln w="6350">
            <a:solidFill>
              <a:srgbClr val="FFD166"/>
            </a:solidFill>
            <a:prstDash val="solid"/>
          </a:ln>
        </p:spPr>
      </p:sp>
      <p:sp>
        <p:nvSpPr>
          <p:cNvPr id="18" name="Text 15"/>
          <p:cNvSpPr txBox="1"/>
          <p:nvPr/>
        </p:nvSpPr>
        <p:spPr>
          <a:xfrm>
            <a:off x="640080" y="3840480"/>
            <a:ext cx="7863840" cy="594360"/>
          </a:xfrm>
          <a:prstGeom prst="rect">
            <a:avLst/>
          </a:prstGeom>
          <a:noFill/>
          <a:ln/>
        </p:spPr>
        <p:txBody>
          <a:bodyPr wrap="square" lIns="0" tIns="0" rIns="0" bIns="0" rtlCol="0" anchor="ctr"/>
          <a:lstStyle/>
          <a:p>
            <a:pPr marL="0" indent="0">
              <a:buNone/>
            </a:pPr>
            <a:r>
              <a:rPr lang="en-US" sz="1400" b="1" dirty="0">
                <a:solidFill>
                  <a:srgbClr val="0E1537"/>
                </a:solidFill>
                <a:latin typeface="Calibri" pitchFamily="34" charset="0"/>
                <a:ea typeface="Calibri" pitchFamily="34" charset="-122"/>
                <a:cs typeface="Calibri" pitchFamily="34" charset="-120"/>
              </a:rPr>
              <a:t>Q1 wrong → reteach the comma. Q2 wrong → reteach when, where, how.</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E0"/>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t"/>
          <a:lstStyle/>
          <a:p>
            <a:pPr marL="0" indent="0" algn="l">
              <a:buNone/>
            </a:pPr>
            <a:r>
              <a:rPr lang="en-US" sz="2800" b="1" dirty="0">
                <a:solidFill>
                  <a:srgbClr val="0E1537"/>
                </a:solidFill>
                <a:latin typeface="Cambria" pitchFamily="34" charset="0"/>
                <a:ea typeface="Cambria" pitchFamily="34" charset="-122"/>
                <a:cs typeface="Cambria" pitchFamily="34" charset="-120"/>
              </a:rPr>
              <a:t>Homework</a:t>
            </a:r>
            <a:endParaRPr lang="en-US" sz="2800" dirty="0"/>
          </a:p>
        </p:txBody>
      </p:sp>
      <p:sp>
        <p:nvSpPr>
          <p:cNvPr id="3" name="Text 0"/>
          <p:cNvSpPr>
            <a:spLocks noGrp="1"/>
          </p:cNvSpPr>
          <p:nvPr>
            <p:ph type="body" idx="101" hasCustomPrompt="1"/>
          </p:nvPr>
        </p:nvSpPr>
        <p:spPr>
          <a:xfrm>
            <a:off x="457200" y="868680"/>
            <a:ext cx="8229600" cy="411480"/>
          </a:xfrm>
          <a:prstGeom prst="rect">
            <a:avLst/>
          </a:prstGeom>
          <a:noFill/>
          <a:ln/>
        </p:spPr>
        <p:txBody>
          <a:bodyPr wrap="square" lIns="0" tIns="0" rIns="0" bIns="0" rtlCol="0" anchor="t"/>
          <a:lstStyle/>
          <a:p>
            <a:pPr marL="0" indent="0" algn="l">
              <a:buNone/>
            </a:pPr>
            <a:r>
              <a:rPr lang="en-US" sz="1300" i="1" dirty="0">
                <a:solidFill>
                  <a:srgbClr val="3A3F85"/>
                </a:solidFill>
                <a:latin typeface="Calibri" pitchFamily="34" charset="0"/>
                <a:ea typeface="Calibri" pitchFamily="34" charset="-122"/>
                <a:cs typeface="Calibri" pitchFamily="34" charset="-120"/>
              </a:rPr>
              <a:t>Suggested homework (about 20–30 minutes). Tasks 1 and 2 are compulsory; the challenge is optional.</a:t>
            </a:r>
            <a:endParaRPr lang="en-US" sz="1300" dirty="0"/>
          </a:p>
        </p:txBody>
      </p:sp>
      <p:sp>
        <p:nvSpPr>
          <p:cNvPr id="5" name="Shape 2"/>
          <p:cNvSpPr/>
          <p:nvPr/>
        </p:nvSpPr>
        <p:spPr>
          <a:xfrm>
            <a:off x="457200" y="1371600"/>
            <a:ext cx="8229600" cy="658368"/>
          </a:xfrm>
          <a:prstGeom prst="roundRect">
            <a:avLst>
              <a:gd name="adj" fmla="val 111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6" name="Shape 3"/>
          <p:cNvSpPr/>
          <p:nvPr/>
        </p:nvSpPr>
        <p:spPr>
          <a:xfrm>
            <a:off x="594360" y="1499616"/>
            <a:ext cx="402336" cy="402336"/>
          </a:xfrm>
          <a:prstGeom prst="ellipse">
            <a:avLst/>
          </a:prstGeom>
          <a:solidFill>
            <a:srgbClr val="FF8A3D"/>
          </a:solidFill>
          <a:ln w="6350">
            <a:solidFill>
              <a:srgbClr val="FF8A3D"/>
            </a:solidFill>
            <a:prstDash val="solid"/>
          </a:ln>
        </p:spPr>
      </p:sp>
      <p:sp>
        <p:nvSpPr>
          <p:cNvPr id="7" name="Text 4"/>
          <p:cNvSpPr txBox="1"/>
          <p:nvPr/>
        </p:nvSpPr>
        <p:spPr>
          <a:xfrm>
            <a:off x="594360" y="1499616"/>
            <a:ext cx="402336"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1188720" y="1371600"/>
            <a:ext cx="1645920" cy="658368"/>
          </a:xfrm>
          <a:prstGeom prst="rect">
            <a:avLst/>
          </a:prstGeom>
          <a:noFill/>
          <a:ln/>
        </p:spPr>
        <p:txBody>
          <a:bodyPr wrap="square" lIns="0" tIns="0" rIns="0" bIns="0" rtlCol="0" anchor="ctr"/>
          <a:lstStyle/>
          <a:p>
            <a:pPr marL="0" indent="0">
              <a:buNone/>
            </a:pPr>
            <a:r>
              <a:rPr lang="en-US" sz="1500" b="1" dirty="0">
                <a:solidFill>
                  <a:srgbClr val="0E1537"/>
                </a:solidFill>
                <a:latin typeface="Calibri" pitchFamily="34" charset="0"/>
                <a:ea typeface="Calibri" pitchFamily="34" charset="-122"/>
                <a:cs typeface="Calibri" pitchFamily="34" charset="-120"/>
              </a:rPr>
              <a:t>Adverbials</a:t>
            </a:r>
            <a:endParaRPr lang="en-US" sz="1500" dirty="0"/>
          </a:p>
        </p:txBody>
      </p:sp>
      <p:sp>
        <p:nvSpPr>
          <p:cNvPr id="9" name="Text 6"/>
          <p:cNvSpPr txBox="1"/>
          <p:nvPr/>
        </p:nvSpPr>
        <p:spPr>
          <a:xfrm>
            <a:off x="2926080" y="1371600"/>
            <a:ext cx="5486400" cy="658368"/>
          </a:xfrm>
          <a:prstGeom prst="rect">
            <a:avLst/>
          </a:prstGeom>
          <a:noFill/>
          <a:ln/>
        </p:spPr>
        <p:txBody>
          <a:bodyPr wrap="square" lIns="0" tIns="0" rIns="0" bIns="0" rtlCol="0" anchor="ctr"/>
          <a:lstStyle/>
          <a:p>
            <a:pPr marL="0" indent="0">
              <a:buNone/>
            </a:pPr>
            <a:r>
              <a:rPr lang="en-US" sz="1300" dirty="0">
                <a:solidFill>
                  <a:srgbClr val="0E1537"/>
                </a:solidFill>
                <a:latin typeface="Calibri" pitchFamily="34" charset="0"/>
                <a:ea typeface="Calibri" pitchFamily="34" charset="-122"/>
                <a:cs typeface="Calibri" pitchFamily="34" charset="-120"/>
              </a:rPr>
              <a:t>Write five sentences about your weekend. Use time, place and manner. Label each adverbial and check the commas.</a:t>
            </a:r>
            <a:endParaRPr lang="en-US" sz="1300" dirty="0"/>
          </a:p>
        </p:txBody>
      </p:sp>
      <p:sp>
        <p:nvSpPr>
          <p:cNvPr id="10" name="Shape 7"/>
          <p:cNvSpPr/>
          <p:nvPr/>
        </p:nvSpPr>
        <p:spPr>
          <a:xfrm>
            <a:off x="457200" y="2148840"/>
            <a:ext cx="8229600" cy="658368"/>
          </a:xfrm>
          <a:prstGeom prst="roundRect">
            <a:avLst>
              <a:gd name="adj" fmla="val 111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1" name="Shape 8"/>
          <p:cNvSpPr/>
          <p:nvPr/>
        </p:nvSpPr>
        <p:spPr>
          <a:xfrm>
            <a:off x="594360" y="2276856"/>
            <a:ext cx="402336" cy="402336"/>
          </a:xfrm>
          <a:prstGeom prst="ellipse">
            <a:avLst/>
          </a:prstGeom>
          <a:solidFill>
            <a:srgbClr val="2EC4B6"/>
          </a:solidFill>
          <a:ln w="6350">
            <a:solidFill>
              <a:srgbClr val="2EC4B6"/>
            </a:solidFill>
            <a:prstDash val="solid"/>
          </a:ln>
        </p:spPr>
      </p:sp>
      <p:sp>
        <p:nvSpPr>
          <p:cNvPr id="12" name="Text 9"/>
          <p:cNvSpPr txBox="1"/>
          <p:nvPr/>
        </p:nvSpPr>
        <p:spPr>
          <a:xfrm>
            <a:off x="594360" y="2276856"/>
            <a:ext cx="402336"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1188720" y="2148840"/>
            <a:ext cx="1645920" cy="658368"/>
          </a:xfrm>
          <a:prstGeom prst="rect">
            <a:avLst/>
          </a:prstGeom>
          <a:noFill/>
          <a:ln/>
        </p:spPr>
        <p:txBody>
          <a:bodyPr wrap="square" lIns="0" tIns="0" rIns="0" bIns="0" rtlCol="0" anchor="ctr"/>
          <a:lstStyle/>
          <a:p>
            <a:pPr marL="0" indent="0">
              <a:buNone/>
            </a:pPr>
            <a:r>
              <a:rPr lang="en-US" sz="1500" b="1" dirty="0">
                <a:solidFill>
                  <a:srgbClr val="0E1537"/>
                </a:solidFill>
                <a:latin typeface="Calibri" pitchFamily="34" charset="0"/>
                <a:ea typeface="Calibri" pitchFamily="34" charset="-122"/>
                <a:cs typeface="Calibri" pitchFamily="34" charset="-120"/>
              </a:rPr>
              <a:t>Prefixes</a:t>
            </a:r>
            <a:endParaRPr lang="en-US" sz="1500" dirty="0"/>
          </a:p>
        </p:txBody>
      </p:sp>
      <p:sp>
        <p:nvSpPr>
          <p:cNvPr id="14" name="Text 11"/>
          <p:cNvSpPr txBox="1"/>
          <p:nvPr/>
        </p:nvSpPr>
        <p:spPr>
          <a:xfrm>
            <a:off x="2926080" y="2148840"/>
            <a:ext cx="5486400" cy="658368"/>
          </a:xfrm>
          <a:prstGeom prst="rect">
            <a:avLst/>
          </a:prstGeom>
          <a:noFill/>
          <a:ln/>
        </p:spPr>
        <p:txBody>
          <a:bodyPr wrap="square" lIns="0" tIns="0" rIns="0" bIns="0" rtlCol="0" anchor="ctr"/>
          <a:lstStyle/>
          <a:p>
            <a:pPr marL="0" indent="0">
              <a:buNone/>
            </a:pPr>
            <a:r>
              <a:rPr lang="en-US" sz="1300" dirty="0">
                <a:solidFill>
                  <a:srgbClr val="0E1537"/>
                </a:solidFill>
                <a:latin typeface="Calibri" pitchFamily="34" charset="0"/>
                <a:ea typeface="Calibri" pitchFamily="34" charset="-122"/>
                <a:cs typeface="Calibri" pitchFamily="34" charset="-120"/>
              </a:rPr>
              <a:t>Find five more words with auto-, bio-, astro-, tele-, tri- or cosmic-. Write each in a sentence that shows its meaning.</a:t>
            </a:r>
            <a:endParaRPr lang="en-US" sz="1300" dirty="0"/>
          </a:p>
        </p:txBody>
      </p:sp>
      <p:sp>
        <p:nvSpPr>
          <p:cNvPr id="15" name="Shape 12"/>
          <p:cNvSpPr/>
          <p:nvPr/>
        </p:nvSpPr>
        <p:spPr>
          <a:xfrm>
            <a:off x="457200" y="2926080"/>
            <a:ext cx="8229600" cy="658368"/>
          </a:xfrm>
          <a:prstGeom prst="roundRect">
            <a:avLst>
              <a:gd name="adj" fmla="val 11111"/>
            </a:avLst>
          </a:prstGeom>
          <a:solidFill>
            <a:srgbClr val="FFFFFF"/>
          </a:solidFill>
          <a:ln w="9525">
            <a:solidFill>
              <a:srgbClr val="DDE1F5"/>
            </a:solidFill>
            <a:prstDash val="solid"/>
          </a:ln>
          <a:effectLst>
            <a:outerShdw blurRad="50800" dist="19050" dir="5400000" algn="bl" rotWithShape="0">
              <a:srgbClr val="000000">
                <a:alpha val="12000"/>
              </a:srgbClr>
            </a:outerShdw>
          </a:effectLst>
        </p:spPr>
      </p:sp>
      <p:sp>
        <p:nvSpPr>
          <p:cNvPr id="16" name="Shape 13"/>
          <p:cNvSpPr/>
          <p:nvPr/>
        </p:nvSpPr>
        <p:spPr>
          <a:xfrm>
            <a:off x="594360" y="3054096"/>
            <a:ext cx="402336" cy="402336"/>
          </a:xfrm>
          <a:prstGeom prst="ellipse">
            <a:avLst/>
          </a:prstGeom>
          <a:solidFill>
            <a:srgbClr val="FF6B8B"/>
          </a:solidFill>
          <a:ln w="6350">
            <a:solidFill>
              <a:srgbClr val="FF6B8B"/>
            </a:solidFill>
            <a:prstDash val="solid"/>
          </a:ln>
        </p:spPr>
      </p:sp>
      <p:sp>
        <p:nvSpPr>
          <p:cNvPr id="17" name="Text 14"/>
          <p:cNvSpPr txBox="1"/>
          <p:nvPr/>
        </p:nvSpPr>
        <p:spPr>
          <a:xfrm>
            <a:off x="594360" y="3054096"/>
            <a:ext cx="402336" cy="402336"/>
          </a:xfrm>
          <a:prstGeom prst="rect">
            <a:avLst/>
          </a:prstGeom>
          <a:noFill/>
          <a:ln/>
        </p:spPr>
        <p:txBody>
          <a:bodyPr wrap="square" lIns="0" tIns="0" rIns="0" bIns="0" rtlCol="0" anchor="ctr"/>
          <a:lstStyle/>
          <a:p>
            <a:pPr marL="0" indent="0" algn="ctr">
              <a:buNone/>
            </a:pPr>
            <a:r>
              <a:rPr lang="en-US" sz="1400" b="1" dirty="0">
                <a:solidFill>
                  <a:srgbClr val="0E1537"/>
                </a:solidFill>
                <a:latin typeface="Cambria" pitchFamily="34" charset="0"/>
                <a:ea typeface="Cambria" pitchFamily="34" charset="-122"/>
                <a:cs typeface="Cambria" pitchFamily="34" charset="-120"/>
              </a:rPr>
              <a:t>3</a:t>
            </a:r>
            <a:endParaRPr lang="en-US" sz="1400" dirty="0"/>
          </a:p>
        </p:txBody>
      </p:sp>
      <p:sp>
        <p:nvSpPr>
          <p:cNvPr id="18" name="Text 15"/>
          <p:cNvSpPr txBox="1"/>
          <p:nvPr/>
        </p:nvSpPr>
        <p:spPr>
          <a:xfrm>
            <a:off x="1188720" y="2926080"/>
            <a:ext cx="1645920" cy="658368"/>
          </a:xfrm>
          <a:prstGeom prst="rect">
            <a:avLst/>
          </a:prstGeom>
          <a:noFill/>
          <a:ln/>
        </p:spPr>
        <p:txBody>
          <a:bodyPr wrap="square" lIns="0" tIns="0" rIns="0" bIns="0" rtlCol="0" anchor="ctr"/>
          <a:lstStyle/>
          <a:p>
            <a:pPr marL="0" indent="0">
              <a:buNone/>
            </a:pPr>
            <a:r>
              <a:rPr lang="en-US" sz="1500" b="1" dirty="0">
                <a:solidFill>
                  <a:srgbClr val="0E1537"/>
                </a:solidFill>
                <a:latin typeface="Calibri" pitchFamily="34" charset="0"/>
                <a:ea typeface="Calibri" pitchFamily="34" charset="-122"/>
                <a:cs typeface="Calibri" pitchFamily="34" charset="-120"/>
              </a:rPr>
              <a:t>Spelling log</a:t>
            </a:r>
            <a:endParaRPr lang="en-US" sz="1500" dirty="0"/>
          </a:p>
        </p:txBody>
      </p:sp>
      <p:sp>
        <p:nvSpPr>
          <p:cNvPr id="19" name="Text 16"/>
          <p:cNvSpPr txBox="1"/>
          <p:nvPr/>
        </p:nvSpPr>
        <p:spPr>
          <a:xfrm>
            <a:off x="2926080" y="2926080"/>
            <a:ext cx="5486400" cy="658368"/>
          </a:xfrm>
          <a:prstGeom prst="rect">
            <a:avLst/>
          </a:prstGeom>
          <a:noFill/>
          <a:ln/>
        </p:spPr>
        <p:txBody>
          <a:bodyPr wrap="square" lIns="0" tIns="0" rIns="0" bIns="0" rtlCol="0" anchor="ctr"/>
          <a:lstStyle/>
          <a:p>
            <a:pPr marL="0" indent="0">
              <a:buNone/>
            </a:pPr>
            <a:r>
              <a:rPr lang="en-US" sz="1300" dirty="0">
                <a:solidFill>
                  <a:srgbClr val="0E1537"/>
                </a:solidFill>
                <a:latin typeface="Calibri" pitchFamily="34" charset="0"/>
                <a:ea typeface="Calibri" pitchFamily="34" charset="-122"/>
                <a:cs typeface="Calibri" pitchFamily="34" charset="-120"/>
              </a:rPr>
              <a:t>Add today’s prefix words to your spelling log. Highlight the difficult letter group.</a:t>
            </a:r>
            <a:endParaRPr lang="en-US" sz="1300" dirty="0"/>
          </a:p>
        </p:txBody>
      </p:sp>
      <p:sp>
        <p:nvSpPr>
          <p:cNvPr id="20" name="Shape 17"/>
          <p:cNvSpPr/>
          <p:nvPr/>
        </p:nvSpPr>
        <p:spPr>
          <a:xfrm>
            <a:off x="457200" y="3794760"/>
            <a:ext cx="8229600" cy="685800"/>
          </a:xfrm>
          <a:prstGeom prst="roundRect">
            <a:avLst>
              <a:gd name="adj" fmla="val 10667"/>
            </a:avLst>
          </a:prstGeom>
          <a:solidFill>
            <a:srgbClr val="FFD166"/>
          </a:solidFill>
          <a:ln w="6350">
            <a:solidFill>
              <a:srgbClr val="FFD166"/>
            </a:solidFill>
            <a:prstDash val="solid"/>
          </a:ln>
        </p:spPr>
      </p:sp>
      <p:sp>
        <p:nvSpPr>
          <p:cNvPr id="21" name="Text 18"/>
          <p:cNvSpPr txBox="1"/>
          <p:nvPr/>
        </p:nvSpPr>
        <p:spPr>
          <a:xfrm>
            <a:off x="640080" y="3794760"/>
            <a:ext cx="7863840" cy="685800"/>
          </a:xfrm>
          <a:prstGeom prst="rect">
            <a:avLst/>
          </a:prstGeom>
          <a:noFill/>
          <a:ln/>
        </p:spPr>
        <p:txBody>
          <a:bodyPr wrap="square" lIns="0" tIns="0" rIns="0" bIns="0" rtlCol="0" anchor="ctr"/>
          <a:lstStyle/>
          <a:p>
            <a:pPr marL="0" indent="0">
              <a:buNone/>
            </a:pPr>
            <a:r>
              <a:rPr lang="en-US" sz="1300" b="1" dirty="0">
                <a:solidFill>
                  <a:srgbClr val="0E1537"/>
                </a:solidFill>
                <a:latin typeface="Calibri" pitchFamily="34" charset="0"/>
                <a:ea typeface="Calibri" pitchFamily="34" charset="-122"/>
                <a:cs typeface="Calibri" pitchFamily="34" charset="-120"/>
              </a:rPr>
              <a:t>CHALLENGE: Write a short paragraph, ‘A day on the ISS’, with one adverbial of each type: time, place, manner, quantity and quality.</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A3F85"/>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sld>
</file>

<file path=ppt/theme/theme1.xml><?xml version="1.0" encoding="utf-8"?>
<a:theme xmlns:a="http://schemas.openxmlformats.org/drawingml/2006/main" name="Year 5 Lesson">
  <a:themeElements>
    <a:clrScheme name="Year 5 Lesson">
      <a:dk1>
        <a:srgbClr val="0E1537"/>
      </a:dk1>
      <a:lt1>
        <a:srgbClr val="FFFFFF"/>
      </a:lt1>
      <a:dk2>
        <a:srgbClr val="3A3F85"/>
      </a:dk2>
      <a:lt2>
        <a:srgbClr val="F1F3FF"/>
      </a:lt2>
      <a:accent1>
        <a:srgbClr val="7B5CE0"/>
      </a:accent1>
      <a:accent2>
        <a:srgbClr val="2EC4B6"/>
      </a:accent2>
      <a:accent3>
        <a:srgbClr val="FF8A3D"/>
      </a:accent3>
      <a:accent4>
        <a:srgbClr val="FF6B8B"/>
      </a:accent4>
      <a:accent5>
        <a:srgbClr val="FFD166"/>
      </a:accent5>
      <a:accent6>
        <a:srgbClr val="4CC9F0"/>
      </a:accent6>
      <a:hlink>
        <a:srgbClr val="7B5CE0"/>
      </a:hlink>
      <a:folHlink>
        <a:srgbClr val="3A3F85"/>
      </a:folHlink>
    </a:clrScheme>
    <a:fontScheme name="Year 5 Les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4788</Words>
  <Application>Microsoft Office PowerPoint</Application>
  <PresentationFormat>On-screen Show (16:9)</PresentationFormat>
  <Paragraphs>519</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Cambria</vt:lpstr>
      <vt:lpstr>Year 5 Lesson</vt:lpstr>
      <vt:lpstr>Building Language</vt:lpstr>
      <vt:lpstr>Today’s mission</vt:lpstr>
      <vt:lpstr>Getting started: describe your day</vt:lpstr>
      <vt:lpstr>Getting started: model answers</vt:lpstr>
      <vt:lpstr>Adverbs and adverbials</vt:lpstr>
      <vt:lpstr>Word 1: ADVERBIAL</vt:lpstr>
      <vt:lpstr>Use &amp; check: adverbial</vt:lpstr>
      <vt:lpstr>Language focus: adverb or adverbial?</vt:lpstr>
      <vt:lpstr>Five types of adverbial</vt:lpstr>
      <vt:lpstr>Types in action (1 of 2)</vt:lpstr>
      <vt:lpstr>Types in action (2 of 2)</vt:lpstr>
      <vt:lpstr>Build a sentence step by step</vt:lpstr>
      <vt:lpstr>Move the adverbial</vt:lpstr>
      <vt:lpstr>Careful: the comma</vt:lpstr>
      <vt:lpstr>Choose the adverbial of time</vt:lpstr>
      <vt:lpstr>Answer: the adverbial of time</vt:lpstr>
      <vt:lpstr>Choose the correct punctuation</vt:lpstr>
      <vt:lpstr>Answer: the correct punctuation</vt:lpstr>
      <vt:lpstr>1a: find the adverbials of time</vt:lpstr>
      <vt:lpstr>1a: model answers</vt:lpstr>
      <vt:lpstr>1b: write five sentences</vt:lpstr>
      <vt:lpstr>1b: model answers</vt:lpstr>
      <vt:lpstr>1c: name the type</vt:lpstr>
      <vt:lpstr>1c: model answers</vt:lpstr>
      <vt:lpstr>1d: write place and manner</vt:lpstr>
      <vt:lpstr>1d: model answers</vt:lpstr>
      <vt:lpstr>Prefixes</vt:lpstr>
      <vt:lpstr>Word 2: PREFIX</vt:lpstr>
      <vt:lpstr>Use &amp; check: prefix</vt:lpstr>
      <vt:lpstr>2a: match the prefixes</vt:lpstr>
      <vt:lpstr>2a: model answers</vt:lpstr>
      <vt:lpstr>2b: work out the word</vt:lpstr>
      <vt:lpstr>2b: model answers</vt:lpstr>
      <vt:lpstr>2c and 2d: find and use new words</vt:lpstr>
      <vt:lpstr>2c and 2d: model answers</vt:lpstr>
      <vt:lpstr>Edit your sentences</vt:lpstr>
      <vt:lpstr>Exit ticket</vt:lpstr>
      <vt:lpstr>Model answers: exit ticket</vt:lpstr>
      <vt:lpstr>Homework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5 Unit 2 Lesson 3 - Building Language</dc:title>
  <dc:subject>PptxGenJS Presentation</dc:subject>
  <dc:creator>PptxGenJS</dc:creator>
  <cp:lastModifiedBy>Rozan Zakaria@meis-eg.com</cp:lastModifiedBy>
  <cp:revision>1</cp:revision>
  <dcterms:created xsi:type="dcterms:W3CDTF">2026-10-20T10:18:52Z</dcterms:created>
  <dcterms:modified xsi:type="dcterms:W3CDTF">2026-10-20T09:18:56Z</dcterms:modified>
</cp:coreProperties>
</file>