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56" r:id="rId2"/>
    <p:sldId id="257" r:id="rId3"/>
    <p:sldId id="258" r:id="rId4"/>
    <p:sldId id="259" r:id="rId5"/>
    <p:sldId id="288" r:id="rId6"/>
    <p:sldId id="282" r:id="rId7"/>
    <p:sldId id="260" r:id="rId8"/>
    <p:sldId id="261" r:id="rId9"/>
    <p:sldId id="283" r:id="rId10"/>
    <p:sldId id="291" r:id="rId11"/>
    <p:sldId id="292" r:id="rId12"/>
    <p:sldId id="262" r:id="rId13"/>
    <p:sldId id="278" r:id="rId14"/>
    <p:sldId id="264" r:id="rId15"/>
    <p:sldId id="279" r:id="rId16"/>
    <p:sldId id="280" r:id="rId17"/>
    <p:sldId id="266" r:id="rId18"/>
    <p:sldId id="267" r:id="rId19"/>
    <p:sldId id="268" r:id="rId20"/>
    <p:sldId id="269" r:id="rId21"/>
    <p:sldId id="270" r:id="rId22"/>
    <p:sldId id="281" r:id="rId23"/>
    <p:sldId id="271" r:id="rId24"/>
    <p:sldId id="272" r:id="rId25"/>
    <p:sldId id="273" r:id="rId26"/>
    <p:sldId id="274" r:id="rId27"/>
    <p:sldId id="275" r:id="rId28"/>
    <p:sldId id="276"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6" d="100"/>
          <a:sy n="106" d="100"/>
        </p:scale>
        <p:origin x="756"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4ED047E-96AA-4CB1-9525-C1D08F5DF7B0}" type="datetimeFigureOut">
              <a:rPr lang="en-US" smtClean="0"/>
              <a:t>24/09/2026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7061E5-1ACD-4B5A-A6AF-E890078193FB}" type="slidenum">
              <a:rPr lang="en-US" smtClean="0"/>
              <a:t>‹#›</a:t>
            </a:fld>
            <a:endParaRPr lang="en-US"/>
          </a:p>
        </p:txBody>
      </p:sp>
    </p:spTree>
    <p:extLst>
      <p:ext uri="{BB962C8B-B14F-4D97-AF65-F5344CB8AC3E}">
        <p14:creationId xmlns:p14="http://schemas.microsoft.com/office/powerpoint/2010/main" val="38726337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37061E5-1ACD-4B5A-A6AF-E890078193FB}" type="slidenum">
              <a:rPr lang="en-US" smtClean="0"/>
              <a:t>8</a:t>
            </a:fld>
            <a:endParaRPr lang="en-US"/>
          </a:p>
        </p:txBody>
      </p:sp>
    </p:spTree>
    <p:extLst>
      <p:ext uri="{BB962C8B-B14F-4D97-AF65-F5344CB8AC3E}">
        <p14:creationId xmlns:p14="http://schemas.microsoft.com/office/powerpoint/2010/main" val="19094168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37061E5-1ACD-4B5A-A6AF-E890078193FB}" type="slidenum">
              <a:rPr lang="en-US" smtClean="0"/>
              <a:t>23</a:t>
            </a:fld>
            <a:endParaRPr lang="en-US"/>
          </a:p>
        </p:txBody>
      </p:sp>
    </p:spTree>
    <p:extLst>
      <p:ext uri="{BB962C8B-B14F-4D97-AF65-F5344CB8AC3E}">
        <p14:creationId xmlns:p14="http://schemas.microsoft.com/office/powerpoint/2010/main" val="28956040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24/09/2026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24/09/2026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24/09/2026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24/09/2026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24/09/2026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24/09/2026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24/09/2026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24/09/2026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24/09/2026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24/09/2026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24/09/2026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24/09/2026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F5340"/>
        </a:solidFill>
        <a:effectLst/>
      </p:bgPr>
    </p:bg>
    <p:spTree>
      <p:nvGrpSpPr>
        <p:cNvPr id="1" name=""/>
        <p:cNvGrpSpPr/>
        <p:nvPr/>
      </p:nvGrpSpPr>
      <p:grpSpPr>
        <a:xfrm>
          <a:off x="0" y="0"/>
          <a:ext cx="0" cy="0"/>
          <a:chOff x="0" y="0"/>
          <a:chExt cx="0" cy="0"/>
        </a:xfrm>
      </p:grpSpPr>
      <p:sp>
        <p:nvSpPr>
          <p:cNvPr id="2" name="Oval 1"/>
          <p:cNvSpPr/>
          <p:nvPr/>
        </p:nvSpPr>
        <p:spPr>
          <a:xfrm>
            <a:off x="-640080" y="-548640"/>
            <a:ext cx="2743200" cy="2743200"/>
          </a:xfrm>
          <a:prstGeom prst="ellipse">
            <a:avLst/>
          </a:prstGeom>
          <a:solidFill>
            <a:srgbClr val="3A7757"/>
          </a:solidFill>
          <a:ln>
            <a:solidFill>
              <a:srgbClr val="3A77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9966960" y="5212080"/>
            <a:ext cx="2926080" cy="2926080"/>
          </a:xfrm>
          <a:prstGeom prst="ellipse">
            <a:avLst/>
          </a:prstGeom>
          <a:solidFill>
            <a:srgbClr val="F4BE41"/>
          </a:solidFill>
          <a:ln>
            <a:solidFill>
              <a:srgbClr val="F4BE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0469880" y="5468112"/>
            <a:ext cx="1371600" cy="1371600"/>
          </a:xfrm>
          <a:prstGeom prst="ellipse">
            <a:avLst/>
          </a:prstGeom>
          <a:solidFill>
            <a:srgbClr val="DD6952"/>
          </a:solidFill>
          <a:ln>
            <a:solidFill>
              <a:srgbClr val="DD69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594360"/>
            <a:ext cx="3657600" cy="320040"/>
          </a:xfrm>
          <a:prstGeom prst="rect">
            <a:avLst/>
          </a:prstGeom>
          <a:noFill/>
        </p:spPr>
        <p:txBody>
          <a:bodyPr wrap="square" lIns="27432" tIns="27432" rIns="27432" bIns="27432" anchor="t">
            <a:spAutoFit/>
          </a:bodyPr>
          <a:lstStyle/>
          <a:p>
            <a:pPr algn="l">
              <a:lnSpc>
                <a:spcPct val="100000"/>
              </a:lnSpc>
            </a:pPr>
            <a:r>
              <a:rPr sz="1200" b="1">
                <a:solidFill>
                  <a:srgbClr val="F4BE41"/>
                </a:solidFill>
                <a:latin typeface="Aptos"/>
              </a:rPr>
              <a:t>YEAR 5 • UNIT 1</a:t>
            </a:r>
          </a:p>
        </p:txBody>
      </p:sp>
      <p:sp>
        <p:nvSpPr>
          <p:cNvPr id="6" name="TextBox 5"/>
          <p:cNvSpPr txBox="1"/>
          <p:nvPr/>
        </p:nvSpPr>
        <p:spPr>
          <a:xfrm>
            <a:off x="685800" y="1078992"/>
            <a:ext cx="6583680" cy="1371600"/>
          </a:xfrm>
          <a:prstGeom prst="rect">
            <a:avLst/>
          </a:prstGeom>
          <a:noFill/>
        </p:spPr>
        <p:txBody>
          <a:bodyPr wrap="square" lIns="27432" tIns="27432" rIns="27432" bIns="27432" anchor="t">
            <a:spAutoFit/>
          </a:bodyPr>
          <a:lstStyle/>
          <a:p>
            <a:pPr algn="l">
              <a:lnSpc>
                <a:spcPct val="100000"/>
              </a:lnSpc>
            </a:pPr>
            <a:r>
              <a:rPr sz="3400" b="1">
                <a:solidFill>
                  <a:srgbClr val="FFFFFF"/>
                </a:solidFill>
                <a:latin typeface="Aptos Display"/>
              </a:rPr>
              <a:t>THERE'S A LESSON
IN THAT</a:t>
            </a:r>
          </a:p>
        </p:txBody>
      </p:sp>
      <p:sp>
        <p:nvSpPr>
          <p:cNvPr id="7" name="TextBox 6"/>
          <p:cNvSpPr txBox="1"/>
          <p:nvPr/>
        </p:nvSpPr>
        <p:spPr>
          <a:xfrm>
            <a:off x="713232" y="2651760"/>
            <a:ext cx="1828800" cy="365760"/>
          </a:xfrm>
          <a:prstGeom prst="rect">
            <a:avLst/>
          </a:prstGeom>
          <a:noFill/>
        </p:spPr>
        <p:txBody>
          <a:bodyPr wrap="square" lIns="27432" tIns="27432" rIns="27432" bIns="27432" anchor="t">
            <a:spAutoFit/>
          </a:bodyPr>
          <a:lstStyle/>
          <a:p>
            <a:pPr algn="l">
              <a:lnSpc>
                <a:spcPct val="100000"/>
              </a:lnSpc>
            </a:pPr>
            <a:r>
              <a:rPr sz="1600" b="1">
                <a:solidFill>
                  <a:srgbClr val="FFF4CD"/>
                </a:solidFill>
                <a:latin typeface="Aptos"/>
              </a:rPr>
              <a:t>Lesson 1.1</a:t>
            </a:r>
          </a:p>
        </p:txBody>
      </p:sp>
      <p:sp>
        <p:nvSpPr>
          <p:cNvPr id="8" name="TextBox 7"/>
          <p:cNvSpPr txBox="1"/>
          <p:nvPr/>
        </p:nvSpPr>
        <p:spPr>
          <a:xfrm>
            <a:off x="713232" y="3063240"/>
            <a:ext cx="5943600" cy="502920"/>
          </a:xfrm>
          <a:prstGeom prst="rect">
            <a:avLst/>
          </a:prstGeom>
          <a:noFill/>
        </p:spPr>
        <p:txBody>
          <a:bodyPr wrap="square" lIns="27432" tIns="27432" rIns="27432" bIns="27432" anchor="t">
            <a:spAutoFit/>
          </a:bodyPr>
          <a:lstStyle/>
          <a:p>
            <a:pPr algn="l">
              <a:lnSpc>
                <a:spcPct val="100000"/>
              </a:lnSpc>
            </a:pPr>
            <a:r>
              <a:rPr sz="2400" b="1">
                <a:solidFill>
                  <a:srgbClr val="FFFFFF"/>
                </a:solidFill>
                <a:latin typeface="Aptos Display"/>
              </a:rPr>
              <a:t>READ A STORY BY AESOP</a:t>
            </a:r>
          </a:p>
        </p:txBody>
      </p:sp>
      <p:sp>
        <p:nvSpPr>
          <p:cNvPr id="9" name="TextBox 8"/>
          <p:cNvSpPr txBox="1"/>
          <p:nvPr/>
        </p:nvSpPr>
        <p:spPr>
          <a:xfrm>
            <a:off x="713232" y="3657600"/>
            <a:ext cx="5943600" cy="411480"/>
          </a:xfrm>
          <a:prstGeom prst="rect">
            <a:avLst/>
          </a:prstGeom>
          <a:noFill/>
        </p:spPr>
        <p:txBody>
          <a:bodyPr wrap="square" lIns="27432" tIns="27432" rIns="27432" bIns="27432" anchor="t">
            <a:spAutoFit/>
          </a:bodyPr>
          <a:lstStyle/>
          <a:p>
            <a:pPr algn="l">
              <a:lnSpc>
                <a:spcPct val="100000"/>
              </a:lnSpc>
            </a:pPr>
            <a:r>
              <a:rPr sz="1800" b="1">
                <a:solidFill>
                  <a:srgbClr val="FFF4CD"/>
                </a:solidFill>
                <a:latin typeface="Aptos"/>
              </a:rPr>
              <a:t>THE ANT &amp; THE GRASSHOPPER</a:t>
            </a:r>
          </a:p>
        </p:txBody>
      </p:sp>
      <p:sp>
        <p:nvSpPr>
          <p:cNvPr id="10" name="Oval 9"/>
          <p:cNvSpPr/>
          <p:nvPr/>
        </p:nvSpPr>
        <p:spPr>
          <a:xfrm>
            <a:off x="7406640" y="2439162"/>
            <a:ext cx="578358" cy="578358"/>
          </a:xfrm>
          <a:prstGeom prst="ellipse">
            <a:avLst/>
          </a:prstGeom>
          <a:solidFill>
            <a:srgbClr val="262B2A"/>
          </a:solidFill>
          <a:ln>
            <a:solidFill>
              <a:srgbClr val="262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7911388" y="2302459"/>
            <a:ext cx="757123" cy="757123"/>
          </a:xfrm>
          <a:prstGeom prst="ellipse">
            <a:avLst/>
          </a:prstGeom>
          <a:solidFill>
            <a:srgbClr val="262B2A"/>
          </a:solidFill>
          <a:ln>
            <a:solidFill>
              <a:srgbClr val="262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8542324" y="2407615"/>
            <a:ext cx="578358" cy="578358"/>
          </a:xfrm>
          <a:prstGeom prst="ellipse">
            <a:avLst/>
          </a:prstGeom>
          <a:solidFill>
            <a:srgbClr val="262B2A"/>
          </a:solidFill>
          <a:ln>
            <a:solidFill>
              <a:srgbClr val="262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8857792" y="2481224"/>
            <a:ext cx="73609" cy="73609"/>
          </a:xfrm>
          <a:prstGeom prst="ellipse">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rot="1500000">
            <a:off x="7806232" y="2334006"/>
            <a:ext cx="336499" cy="42062"/>
          </a:xfrm>
          <a:prstGeom prst="rect">
            <a:avLst/>
          </a:prstGeom>
          <a:solidFill>
            <a:srgbClr val="262B2A"/>
          </a:solidFill>
          <a:ln>
            <a:solidFill>
              <a:srgbClr val="262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rot="1500000">
            <a:off x="7984998" y="2155240"/>
            <a:ext cx="336499" cy="42062"/>
          </a:xfrm>
          <a:prstGeom prst="rect">
            <a:avLst/>
          </a:prstGeom>
          <a:solidFill>
            <a:srgbClr val="262B2A"/>
          </a:solidFill>
          <a:ln>
            <a:solidFill>
              <a:srgbClr val="262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rot="20100000">
            <a:off x="8121700" y="2933395"/>
            <a:ext cx="336499" cy="42062"/>
          </a:xfrm>
          <a:prstGeom prst="rect">
            <a:avLst/>
          </a:prstGeom>
          <a:solidFill>
            <a:srgbClr val="262B2A"/>
          </a:solidFill>
          <a:ln>
            <a:solidFill>
              <a:srgbClr val="262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rot="1500000">
            <a:off x="8374075" y="2134209"/>
            <a:ext cx="336499" cy="42062"/>
          </a:xfrm>
          <a:prstGeom prst="rect">
            <a:avLst/>
          </a:prstGeom>
          <a:solidFill>
            <a:srgbClr val="262B2A"/>
          </a:solidFill>
          <a:ln>
            <a:solidFill>
              <a:srgbClr val="262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rot="20100000">
            <a:off x="8510778" y="2964941"/>
            <a:ext cx="336499" cy="42062"/>
          </a:xfrm>
          <a:prstGeom prst="rect">
            <a:avLst/>
          </a:prstGeom>
          <a:solidFill>
            <a:srgbClr val="262B2A"/>
          </a:solidFill>
          <a:ln>
            <a:solidFill>
              <a:srgbClr val="262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rot="1500000">
            <a:off x="8721090" y="2281428"/>
            <a:ext cx="336499" cy="42062"/>
          </a:xfrm>
          <a:prstGeom prst="rect">
            <a:avLst/>
          </a:prstGeom>
          <a:solidFill>
            <a:srgbClr val="262B2A"/>
          </a:solidFill>
          <a:ln>
            <a:solidFill>
              <a:srgbClr val="262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rot="20100000">
            <a:off x="8752636" y="2312974"/>
            <a:ext cx="357530" cy="36804"/>
          </a:xfrm>
          <a:prstGeom prst="rect">
            <a:avLst/>
          </a:prstGeom>
          <a:solidFill>
            <a:srgbClr val="262B2A"/>
          </a:solidFill>
          <a:ln>
            <a:solidFill>
              <a:srgbClr val="262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rot="1200000">
            <a:off x="8899855" y="2312974"/>
            <a:ext cx="357530" cy="36804"/>
          </a:xfrm>
          <a:prstGeom prst="rect">
            <a:avLst/>
          </a:prstGeom>
          <a:solidFill>
            <a:srgbClr val="262B2A"/>
          </a:solidFill>
          <a:ln>
            <a:solidFill>
              <a:srgbClr val="262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8828532" y="3881628"/>
            <a:ext cx="603504" cy="603504"/>
          </a:xfrm>
          <a:prstGeom prst="ellipse">
            <a:avLst/>
          </a:prstGeom>
          <a:solidFill>
            <a:srgbClr val="3A7757"/>
          </a:solidFill>
          <a:ln>
            <a:solidFill>
              <a:srgbClr val="3A77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9281160" y="3730752"/>
            <a:ext cx="804672" cy="804672"/>
          </a:xfrm>
          <a:prstGeom prst="ellipse">
            <a:avLst/>
          </a:prstGeom>
          <a:solidFill>
            <a:srgbClr val="3A7757"/>
          </a:solidFill>
          <a:ln>
            <a:solidFill>
              <a:srgbClr val="3A77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9884664" y="3861511"/>
            <a:ext cx="523036" cy="523036"/>
          </a:xfrm>
          <a:prstGeom prst="ellipse">
            <a:avLst/>
          </a:prstGeom>
          <a:solidFill>
            <a:srgbClr val="3A7757"/>
          </a:solidFill>
          <a:ln>
            <a:solidFill>
              <a:srgbClr val="3A77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rot="1500000">
            <a:off x="9281160" y="3630168"/>
            <a:ext cx="502920" cy="45262"/>
          </a:xfrm>
          <a:prstGeom prst="rect">
            <a:avLst/>
          </a:prstGeom>
          <a:solidFill>
            <a:srgbClr val="3A7757"/>
          </a:solidFill>
          <a:ln>
            <a:solidFill>
              <a:srgbClr val="3A77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rot="20100000">
            <a:off x="9432036" y="4434840"/>
            <a:ext cx="502920" cy="45262"/>
          </a:xfrm>
          <a:prstGeom prst="rect">
            <a:avLst/>
          </a:prstGeom>
          <a:solidFill>
            <a:srgbClr val="3A7757"/>
          </a:solidFill>
          <a:ln>
            <a:solidFill>
              <a:srgbClr val="3A77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rot="20400000">
            <a:off x="9683496" y="3610051"/>
            <a:ext cx="502920" cy="45262"/>
          </a:xfrm>
          <a:prstGeom prst="rect">
            <a:avLst/>
          </a:prstGeom>
          <a:solidFill>
            <a:srgbClr val="3A7757"/>
          </a:solidFill>
          <a:ln>
            <a:solidFill>
              <a:srgbClr val="3A77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rot="1500000">
            <a:off x="9784080" y="4485132"/>
            <a:ext cx="502920" cy="45262"/>
          </a:xfrm>
          <a:prstGeom prst="rect">
            <a:avLst/>
          </a:prstGeom>
          <a:solidFill>
            <a:srgbClr val="3A7757"/>
          </a:solidFill>
          <a:ln>
            <a:solidFill>
              <a:srgbClr val="3A77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rot="600000">
            <a:off x="10035540" y="3710635"/>
            <a:ext cx="502920" cy="45262"/>
          </a:xfrm>
          <a:prstGeom prst="rect">
            <a:avLst/>
          </a:prstGeom>
          <a:solidFill>
            <a:srgbClr val="3A7757"/>
          </a:solidFill>
          <a:ln>
            <a:solidFill>
              <a:srgbClr val="3A77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rot="21000000">
            <a:off x="10065715" y="4384548"/>
            <a:ext cx="502920" cy="45262"/>
          </a:xfrm>
          <a:prstGeom prst="rect">
            <a:avLst/>
          </a:prstGeom>
          <a:solidFill>
            <a:srgbClr val="3A7757"/>
          </a:solidFill>
          <a:ln>
            <a:solidFill>
              <a:srgbClr val="3A77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rot="19800000">
            <a:off x="10136124" y="3811219"/>
            <a:ext cx="362102" cy="35204"/>
          </a:xfrm>
          <a:prstGeom prst="rect">
            <a:avLst/>
          </a:prstGeom>
          <a:solidFill>
            <a:srgbClr val="3A7757"/>
          </a:solidFill>
          <a:ln>
            <a:solidFill>
              <a:srgbClr val="3A77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rot="1200000">
            <a:off x="10266883" y="3811219"/>
            <a:ext cx="362102" cy="35204"/>
          </a:xfrm>
          <a:prstGeom prst="rect">
            <a:avLst/>
          </a:prstGeom>
          <a:solidFill>
            <a:srgbClr val="3A7757"/>
          </a:solidFill>
          <a:ln>
            <a:solidFill>
              <a:srgbClr val="3A77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315200" y="4800600"/>
            <a:ext cx="3749039" cy="457200"/>
          </a:xfrm>
          <a:prstGeom prst="rect">
            <a:avLst/>
          </a:prstGeom>
          <a:noFill/>
        </p:spPr>
        <p:txBody>
          <a:bodyPr wrap="square" lIns="27432" tIns="27432" rIns="27432" bIns="27432" anchor="t">
            <a:spAutoFit/>
          </a:bodyPr>
          <a:lstStyle/>
          <a:p>
            <a:pPr algn="ctr">
              <a:lnSpc>
                <a:spcPct val="100000"/>
              </a:lnSpc>
            </a:pPr>
            <a:r>
              <a:rPr sz="2200" b="1">
                <a:solidFill>
                  <a:srgbClr val="FFFFFF"/>
                </a:solidFill>
                <a:latin typeface="Aptos"/>
              </a:rPr>
              <a:t>STORY DETECTIVES</a:t>
            </a:r>
          </a:p>
        </p:txBody>
      </p:sp>
      <p:sp>
        <p:nvSpPr>
          <p:cNvPr id="34" name="TextBox 33"/>
          <p:cNvSpPr txBox="1"/>
          <p:nvPr/>
        </p:nvSpPr>
        <p:spPr>
          <a:xfrm>
            <a:off x="6949440" y="5303520"/>
            <a:ext cx="4480560" cy="594360"/>
          </a:xfrm>
          <a:prstGeom prst="rect">
            <a:avLst/>
          </a:prstGeom>
          <a:noFill/>
        </p:spPr>
        <p:txBody>
          <a:bodyPr wrap="square" lIns="27432" tIns="27432" rIns="27432" bIns="27432" anchor="t">
            <a:spAutoFit/>
          </a:bodyPr>
          <a:lstStyle/>
          <a:p>
            <a:pPr algn="ctr">
              <a:lnSpc>
                <a:spcPct val="100000"/>
              </a:lnSpc>
            </a:pPr>
            <a:r>
              <a:rPr sz="1300" b="0">
                <a:solidFill>
                  <a:srgbClr val="FFFFFF"/>
                </a:solidFill>
                <a:latin typeface="Aptos"/>
              </a:rPr>
              <a:t>Find the clues • prove your ideas • discover the moral</a:t>
            </a:r>
          </a:p>
        </p:txBody>
      </p:sp>
      <p:sp>
        <p:nvSpPr>
          <p:cNvPr id="35" name="TextBox 34"/>
          <p:cNvSpPr txBox="1"/>
          <p:nvPr/>
        </p:nvSpPr>
        <p:spPr>
          <a:xfrm>
            <a:off x="621792" y="6519672"/>
            <a:ext cx="6400800" cy="182880"/>
          </a:xfrm>
          <a:prstGeom prst="rect">
            <a:avLst/>
          </a:prstGeom>
          <a:noFill/>
        </p:spPr>
        <p:txBody>
          <a:bodyPr wrap="square" lIns="27432" tIns="27432" rIns="27432" bIns="27432" anchor="t">
            <a:spAutoFit/>
          </a:bodyPr>
          <a:lstStyle/>
          <a:p>
            <a:pPr algn="l">
              <a:lnSpc>
                <a:spcPct val="100000"/>
              </a:lnSpc>
            </a:pPr>
            <a:r>
              <a:rPr sz="800" b="1">
                <a:solidFill>
                  <a:srgbClr val="666C67"/>
                </a:solidFill>
                <a:latin typeface="Aptos"/>
              </a:rPr>
              <a:t>CAMBRIDGE PRIMARY ENGLISH 5 • UNIT 1</a:t>
            </a:r>
          </a:p>
        </p:txBody>
      </p:sp>
      <p:sp>
        <p:nvSpPr>
          <p:cNvPr id="36" name="Oval 35"/>
          <p:cNvSpPr/>
          <p:nvPr/>
        </p:nvSpPr>
        <p:spPr>
          <a:xfrm>
            <a:off x="11201400" y="6510528"/>
            <a:ext cx="91440" cy="91440"/>
          </a:xfrm>
          <a:prstGeom prst="ellipse">
            <a:avLst/>
          </a:prstGeom>
          <a:solidFill>
            <a:srgbClr val="F4BE41"/>
          </a:solidFill>
          <a:ln>
            <a:solidFill>
              <a:srgbClr val="F4BE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11402568" y="6510528"/>
            <a:ext cx="91440" cy="91440"/>
          </a:xfrm>
          <a:prstGeom prst="ellipse">
            <a:avLst/>
          </a:prstGeom>
          <a:solidFill>
            <a:srgbClr val="DD6952"/>
          </a:solidFill>
          <a:ln>
            <a:solidFill>
              <a:srgbClr val="DD69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11603736" y="6510528"/>
            <a:ext cx="91440" cy="91440"/>
          </a:xfrm>
          <a:prstGeom prst="ellipse">
            <a:avLst/>
          </a:prstGeom>
          <a:solidFill>
            <a:srgbClr val="3A7757"/>
          </a:solidFill>
          <a:ln>
            <a:solidFill>
              <a:srgbClr val="3A77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7EF"/>
        </a:solidFill>
        <a:effectLst/>
      </p:bgPr>
    </p:bg>
    <p:spTree>
      <p:nvGrpSpPr>
        <p:cNvPr id="1" name=""/>
        <p:cNvGrpSpPr/>
        <p:nvPr/>
      </p:nvGrpSpPr>
      <p:grpSpPr>
        <a:xfrm>
          <a:off x="0" y="0"/>
          <a:ext cx="0" cy="0"/>
          <a:chOff x="0" y="0"/>
          <a:chExt cx="0" cy="0"/>
        </a:xfrm>
      </p:grpSpPr>
      <p:sp>
        <p:nvSpPr>
          <p:cNvPr id="2" name="TextBox 1"/>
          <p:cNvSpPr txBox="1"/>
          <p:nvPr/>
        </p:nvSpPr>
        <p:spPr>
          <a:xfrm>
            <a:off x="594360" y="292608"/>
            <a:ext cx="3657600" cy="256032"/>
          </a:xfrm>
          <a:prstGeom prst="rect">
            <a:avLst/>
          </a:prstGeom>
          <a:noFill/>
        </p:spPr>
        <p:txBody>
          <a:bodyPr wrap="square" lIns="27432" tIns="27432" rIns="27432" bIns="27432" anchor="t">
            <a:spAutoFit/>
          </a:bodyPr>
          <a:lstStyle/>
          <a:p>
            <a:pPr algn="l">
              <a:lnSpc>
                <a:spcPct val="100000"/>
              </a:lnSpc>
            </a:pPr>
            <a:r>
              <a:rPr sz="1000" b="1">
                <a:solidFill>
                  <a:srgbClr val="3A7757"/>
                </a:solidFill>
                <a:latin typeface="Aptos"/>
              </a:rPr>
              <a:t>TODAY'S MISSION</a:t>
            </a:r>
          </a:p>
        </p:txBody>
      </p:sp>
      <p:sp>
        <p:nvSpPr>
          <p:cNvPr id="3" name="TextBox 2"/>
          <p:cNvSpPr txBox="1"/>
          <p:nvPr/>
        </p:nvSpPr>
        <p:spPr>
          <a:xfrm>
            <a:off x="594360" y="603504"/>
            <a:ext cx="10515600" cy="640080"/>
          </a:xfrm>
          <a:prstGeom prst="rect">
            <a:avLst/>
          </a:prstGeom>
          <a:noFill/>
        </p:spPr>
        <p:txBody>
          <a:bodyPr wrap="square" lIns="27432" tIns="27432" rIns="27432" bIns="27432" anchor="t">
            <a:spAutoFit/>
          </a:bodyPr>
          <a:lstStyle/>
          <a:p>
            <a:pPr algn="l">
              <a:lnSpc>
                <a:spcPct val="100000"/>
              </a:lnSpc>
            </a:pPr>
            <a:r>
              <a:t>What are we learning — and what will we prove?</a:t>
            </a:r>
          </a:p>
        </p:txBody>
      </p:sp>
      <p:sp>
        <p:nvSpPr>
          <p:cNvPr id="4" name="Oval 3"/>
          <p:cNvSpPr/>
          <p:nvPr/>
        </p:nvSpPr>
        <p:spPr>
          <a:xfrm>
            <a:off x="11155680" y="320040"/>
            <a:ext cx="438912" cy="438912"/>
          </a:xfrm>
          <a:prstGeom prst="ellipse">
            <a:avLst/>
          </a:prstGeom>
          <a:solidFill>
            <a:srgbClr val="1F5340"/>
          </a:solidFill>
          <a:ln>
            <a:solidFill>
              <a:srgbClr val="1F53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155680" y="356616"/>
            <a:ext cx="438912" cy="310896"/>
          </a:xfrm>
          <a:prstGeom prst="rect">
            <a:avLst/>
          </a:prstGeom>
          <a:noFill/>
        </p:spPr>
        <p:txBody>
          <a:bodyPr wrap="square" lIns="27432" tIns="27432" rIns="27432" bIns="27432" anchor="ctr">
            <a:spAutoFit/>
          </a:bodyPr>
          <a:lstStyle/>
          <a:p>
            <a:pPr algn="ctr">
              <a:lnSpc>
                <a:spcPct val="100000"/>
              </a:lnSpc>
            </a:pPr>
            <a:r>
              <a:t>2</a:t>
            </a:r>
          </a:p>
        </p:txBody>
      </p:sp>
      <p:sp>
        <p:nvSpPr>
          <p:cNvPr id="6" name="Rectangle 5"/>
          <p:cNvSpPr/>
          <p:nvPr/>
        </p:nvSpPr>
        <p:spPr>
          <a:xfrm>
            <a:off x="594360" y="1353312"/>
            <a:ext cx="914400" cy="64008"/>
          </a:xfrm>
          <a:prstGeom prst="rect">
            <a:avLst/>
          </a:prstGeom>
          <a:solidFill>
            <a:srgbClr val="F4BE41"/>
          </a:solidFill>
          <a:ln>
            <a:solidFill>
              <a:srgbClr val="F4BE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85800" y="1691640"/>
            <a:ext cx="3474720" cy="1874519"/>
          </a:xfrm>
          <a:prstGeom prst="roundRect">
            <a:avLst/>
          </a:prstGeom>
          <a:solidFill>
            <a:srgbClr val="E1EFE4"/>
          </a:solidFill>
          <a:ln w="15240">
            <a:solidFill>
              <a:srgbClr val="E1E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85800" y="1691640"/>
            <a:ext cx="73152" cy="1874519"/>
          </a:xfrm>
          <a:prstGeom prst="rect">
            <a:avLst/>
          </a:prstGeom>
          <a:solidFill>
            <a:srgbClr val="3A7757"/>
          </a:solidFill>
          <a:ln>
            <a:solidFill>
              <a:srgbClr val="3A77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86968" y="1856232"/>
            <a:ext cx="3108960" cy="320040"/>
          </a:xfrm>
          <a:prstGeom prst="rect">
            <a:avLst/>
          </a:prstGeom>
          <a:noFill/>
        </p:spPr>
        <p:txBody>
          <a:bodyPr wrap="square" lIns="27432" tIns="27432" rIns="27432" bIns="27432" anchor="t">
            <a:spAutoFit/>
          </a:bodyPr>
          <a:lstStyle/>
          <a:p>
            <a:pPr algn="l">
              <a:lnSpc>
                <a:spcPct val="100000"/>
              </a:lnSpc>
            </a:pPr>
            <a:r>
              <a:rPr sz="1600" b="1">
                <a:solidFill>
                  <a:srgbClr val="1F5340"/>
                </a:solidFill>
                <a:latin typeface="Aptos Display"/>
              </a:rPr>
              <a:t>1 • SPOT</a:t>
            </a:r>
          </a:p>
        </p:txBody>
      </p:sp>
      <p:sp>
        <p:nvSpPr>
          <p:cNvPr id="10" name="TextBox 9"/>
          <p:cNvSpPr txBox="1"/>
          <p:nvPr/>
        </p:nvSpPr>
        <p:spPr>
          <a:xfrm>
            <a:off x="886968" y="2286000"/>
            <a:ext cx="3108960" cy="1124712"/>
          </a:xfrm>
          <a:prstGeom prst="rect">
            <a:avLst/>
          </a:prstGeom>
          <a:noFill/>
        </p:spPr>
        <p:txBody>
          <a:bodyPr wrap="square" lIns="27432" tIns="27432" rIns="27432" bIns="27432" anchor="t">
            <a:spAutoFit/>
          </a:bodyPr>
          <a:lstStyle/>
          <a:p>
            <a:pPr algn="l">
              <a:lnSpc>
                <a:spcPct val="100000"/>
              </a:lnSpc>
            </a:pPr>
            <a:r>
              <a:t>Identify key fable features and explain what they reveal about the story.</a:t>
            </a:r>
          </a:p>
        </p:txBody>
      </p:sp>
      <p:sp>
        <p:nvSpPr>
          <p:cNvPr id="11" name="Rounded Rectangle 10"/>
          <p:cNvSpPr/>
          <p:nvPr/>
        </p:nvSpPr>
        <p:spPr>
          <a:xfrm>
            <a:off x="4370832" y="1691640"/>
            <a:ext cx="3474720" cy="1874519"/>
          </a:xfrm>
          <a:prstGeom prst="roundRect">
            <a:avLst/>
          </a:prstGeom>
          <a:solidFill>
            <a:srgbClr val="FFF4CD"/>
          </a:solidFill>
          <a:ln w="15240">
            <a:solidFill>
              <a:srgbClr val="FFF4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370832" y="1691640"/>
            <a:ext cx="73152" cy="1874519"/>
          </a:xfrm>
          <a:prstGeom prst="rect">
            <a:avLst/>
          </a:prstGeom>
          <a:solidFill>
            <a:srgbClr val="F4BE41"/>
          </a:solidFill>
          <a:ln>
            <a:solidFill>
              <a:srgbClr val="F4BE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72000" y="1856232"/>
            <a:ext cx="3108960" cy="320040"/>
          </a:xfrm>
          <a:prstGeom prst="rect">
            <a:avLst/>
          </a:prstGeom>
          <a:noFill/>
        </p:spPr>
        <p:txBody>
          <a:bodyPr wrap="square" lIns="27432" tIns="27432" rIns="27432" bIns="27432" anchor="t">
            <a:spAutoFit/>
          </a:bodyPr>
          <a:lstStyle/>
          <a:p>
            <a:pPr algn="l">
              <a:lnSpc>
                <a:spcPct val="100000"/>
              </a:lnSpc>
            </a:pPr>
            <a:r>
              <a:rPr sz="1600" b="1">
                <a:solidFill>
                  <a:srgbClr val="1F5340"/>
                </a:solidFill>
                <a:latin typeface="Aptos Display"/>
              </a:rPr>
              <a:t>2 • PROVE</a:t>
            </a:r>
          </a:p>
        </p:txBody>
      </p:sp>
      <p:sp>
        <p:nvSpPr>
          <p:cNvPr id="14" name="TextBox 13"/>
          <p:cNvSpPr txBox="1"/>
          <p:nvPr/>
        </p:nvSpPr>
        <p:spPr>
          <a:xfrm>
            <a:off x="4572000" y="2286000"/>
            <a:ext cx="3108960" cy="1124712"/>
          </a:xfrm>
          <a:prstGeom prst="rect">
            <a:avLst/>
          </a:prstGeom>
          <a:noFill/>
        </p:spPr>
        <p:txBody>
          <a:bodyPr wrap="square" lIns="27432" tIns="27432" rIns="27432" bIns="27432" anchor="t">
            <a:spAutoFit/>
          </a:bodyPr>
          <a:lstStyle/>
          <a:p>
            <a:pPr algn="l">
              <a:lnSpc>
                <a:spcPct val="100000"/>
              </a:lnSpc>
            </a:pPr>
            <a:r>
              <a:t>Use accurate textual evidence to infer a character trait and explain what the evidence shows.</a:t>
            </a:r>
          </a:p>
        </p:txBody>
      </p:sp>
      <p:sp>
        <p:nvSpPr>
          <p:cNvPr id="15" name="Rounded Rectangle 14"/>
          <p:cNvSpPr/>
          <p:nvPr/>
        </p:nvSpPr>
        <p:spPr>
          <a:xfrm>
            <a:off x="8065008" y="1691640"/>
            <a:ext cx="3429000" cy="1874519"/>
          </a:xfrm>
          <a:prstGeom prst="roundRect">
            <a:avLst/>
          </a:prstGeom>
          <a:solidFill>
            <a:srgbClr val="F9E2DC"/>
          </a:solidFill>
          <a:ln w="15240">
            <a:solidFill>
              <a:srgbClr val="F9E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065008" y="1691640"/>
            <a:ext cx="73152" cy="1874519"/>
          </a:xfrm>
          <a:prstGeom prst="rect">
            <a:avLst/>
          </a:prstGeom>
          <a:solidFill>
            <a:srgbClr val="DD6952"/>
          </a:solidFill>
          <a:ln>
            <a:solidFill>
              <a:srgbClr val="DD69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66176" y="1856232"/>
            <a:ext cx="3063240" cy="320040"/>
          </a:xfrm>
          <a:prstGeom prst="rect">
            <a:avLst/>
          </a:prstGeom>
          <a:noFill/>
        </p:spPr>
        <p:txBody>
          <a:bodyPr wrap="square" lIns="27432" tIns="27432" rIns="27432" bIns="27432" anchor="t">
            <a:spAutoFit/>
          </a:bodyPr>
          <a:lstStyle/>
          <a:p>
            <a:pPr algn="l">
              <a:lnSpc>
                <a:spcPct val="100000"/>
              </a:lnSpc>
            </a:pPr>
            <a:r>
              <a:rPr sz="1600" b="1">
                <a:solidFill>
                  <a:srgbClr val="1F5340"/>
                </a:solidFill>
                <a:latin typeface="Aptos Display"/>
              </a:rPr>
              <a:t>3 • BUILD</a:t>
            </a:r>
          </a:p>
        </p:txBody>
      </p:sp>
      <p:sp>
        <p:nvSpPr>
          <p:cNvPr id="18" name="TextBox 17"/>
          <p:cNvSpPr txBox="1"/>
          <p:nvPr/>
        </p:nvSpPr>
        <p:spPr>
          <a:xfrm>
            <a:off x="8266176" y="2286000"/>
            <a:ext cx="3063240" cy="1124712"/>
          </a:xfrm>
          <a:prstGeom prst="rect">
            <a:avLst/>
          </a:prstGeom>
          <a:noFill/>
        </p:spPr>
        <p:txBody>
          <a:bodyPr wrap="square" lIns="27432" tIns="27432" rIns="27432" bIns="27432" anchor="t">
            <a:spAutoFit/>
          </a:bodyPr>
          <a:lstStyle/>
          <a:p>
            <a:pPr algn="l">
              <a:lnSpc>
                <a:spcPct val="100000"/>
              </a:lnSpc>
            </a:pPr>
            <a:r>
              <a:t>Write 3 connected sentences using POINT → EVIDENCE → EXPLANATION.</a:t>
            </a:r>
          </a:p>
        </p:txBody>
      </p:sp>
      <p:sp>
        <p:nvSpPr>
          <p:cNvPr id="19" name="Rounded Rectangle 18"/>
          <p:cNvSpPr/>
          <p:nvPr/>
        </p:nvSpPr>
        <p:spPr>
          <a:xfrm>
            <a:off x="914400" y="3977639"/>
            <a:ext cx="10287000" cy="1417320"/>
          </a:xfrm>
          <a:prstGeom prst="roundRect">
            <a:avLst/>
          </a:prstGeom>
          <a:solidFill>
            <a:srgbClr val="FFFFFF"/>
          </a:solidFill>
          <a:ln w="1524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143000" y="4224528"/>
            <a:ext cx="2103120" cy="274320"/>
          </a:xfrm>
          <a:prstGeom prst="rect">
            <a:avLst/>
          </a:prstGeom>
          <a:noFill/>
        </p:spPr>
        <p:txBody>
          <a:bodyPr wrap="square" lIns="27432" tIns="27432" rIns="27432" bIns="27432" anchor="t">
            <a:spAutoFit/>
          </a:bodyPr>
          <a:lstStyle/>
          <a:p>
            <a:pPr algn="l">
              <a:lnSpc>
                <a:spcPct val="100000"/>
              </a:lnSpc>
            </a:pPr>
            <a:r>
              <a:rPr sz="1200" b="1">
                <a:solidFill>
                  <a:srgbClr val="3A7757"/>
                </a:solidFill>
                <a:latin typeface="Aptos"/>
              </a:rPr>
              <a:t>SUCCESS CRITERIA</a:t>
            </a:r>
          </a:p>
        </p:txBody>
      </p:sp>
      <p:sp>
        <p:nvSpPr>
          <p:cNvPr id="21" name="TextBox 20"/>
          <p:cNvSpPr txBox="1"/>
          <p:nvPr/>
        </p:nvSpPr>
        <p:spPr>
          <a:xfrm>
            <a:off x="2788920" y="4069080"/>
            <a:ext cx="7863840" cy="1051560"/>
          </a:xfrm>
          <a:prstGeom prst="rect">
            <a:avLst/>
          </a:prstGeom>
          <a:noFill/>
        </p:spPr>
        <p:txBody>
          <a:bodyPr wrap="square" lIns="18288" rIns="18288">
            <a:spAutoFit/>
          </a:bodyPr>
          <a:lstStyle/>
          <a:p>
            <a:pPr>
              <a:spcAft>
                <a:spcPts val="400"/>
              </a:spcAft>
              <a:defRPr sz="1700">
                <a:solidFill>
                  <a:srgbClr val="262B2A"/>
                </a:solidFill>
                <a:latin typeface="Aptos"/>
              </a:defRPr>
            </a:pPr>
            <a:r>
              <a:t>• I can identify key features of a fable.</a:t>
            </a:r>
            <a:br/>
            <a:r>
              <a:t>• I can choose evidence that proves my idea.</a:t>
            </a:r>
            <a:br/>
            <a:r>
              <a:t>• I can explain what the evidence shows.</a:t>
            </a:r>
            <a:br/>
            <a:r>
              <a:t>• I can edit my response independently.</a:t>
            </a:r>
          </a:p>
        </p:txBody>
      </p:sp>
      <p:sp>
        <p:nvSpPr>
          <p:cNvPr id="22" name="TextBox 21"/>
          <p:cNvSpPr txBox="1"/>
          <p:nvPr/>
        </p:nvSpPr>
        <p:spPr>
          <a:xfrm>
            <a:off x="621792" y="6519672"/>
            <a:ext cx="6400800" cy="182880"/>
          </a:xfrm>
          <a:prstGeom prst="rect">
            <a:avLst/>
          </a:prstGeom>
          <a:noFill/>
        </p:spPr>
        <p:txBody>
          <a:bodyPr wrap="square" lIns="27432" tIns="27432" rIns="27432" bIns="27432" anchor="t">
            <a:spAutoFit/>
          </a:bodyPr>
          <a:lstStyle/>
          <a:p>
            <a:pPr algn="l">
              <a:lnSpc>
                <a:spcPct val="100000"/>
              </a:lnSpc>
            </a:pPr>
            <a:r>
              <a:rPr sz="800" b="1">
                <a:solidFill>
                  <a:srgbClr val="666C67"/>
                </a:solidFill>
                <a:latin typeface="Aptos"/>
              </a:rPr>
              <a:t>YEAR 5 • UNIT 1 • THE ANT &amp; THE GRASSHOPPER</a:t>
            </a:r>
          </a:p>
        </p:txBody>
      </p:sp>
      <p:sp>
        <p:nvSpPr>
          <p:cNvPr id="23" name="Oval 22"/>
          <p:cNvSpPr/>
          <p:nvPr/>
        </p:nvSpPr>
        <p:spPr>
          <a:xfrm>
            <a:off x="11201400" y="6510528"/>
            <a:ext cx="91440" cy="91440"/>
          </a:xfrm>
          <a:prstGeom prst="ellipse">
            <a:avLst/>
          </a:prstGeom>
          <a:solidFill>
            <a:srgbClr val="F4BE41"/>
          </a:solidFill>
          <a:ln>
            <a:solidFill>
              <a:srgbClr val="F4BE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11402568" y="6510528"/>
            <a:ext cx="91440" cy="91440"/>
          </a:xfrm>
          <a:prstGeom prst="ellipse">
            <a:avLst/>
          </a:prstGeom>
          <a:solidFill>
            <a:srgbClr val="DD6952"/>
          </a:solidFill>
          <a:ln>
            <a:solidFill>
              <a:srgbClr val="DD69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11603736" y="6510528"/>
            <a:ext cx="91440" cy="91440"/>
          </a:xfrm>
          <a:prstGeom prst="ellipse">
            <a:avLst/>
          </a:prstGeom>
          <a:solidFill>
            <a:srgbClr val="3A7757"/>
          </a:solidFill>
          <a:ln>
            <a:solidFill>
              <a:srgbClr val="3A77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10378440" y="6053328"/>
            <a:ext cx="1188720" cy="384048"/>
          </a:xfrm>
          <a:prstGeom prst="roundRect">
            <a:avLst/>
          </a:prstGeom>
          <a:solidFill>
            <a:srgbClr val="FFF4CD"/>
          </a:solidFill>
          <a:ln w="15240">
            <a:solidFill>
              <a:srgbClr val="FFF4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0424160" y="6099048"/>
            <a:ext cx="1097280" cy="274320"/>
          </a:xfrm>
          <a:prstGeom prst="rect">
            <a:avLst/>
          </a:prstGeom>
          <a:noFill/>
        </p:spPr>
        <p:txBody>
          <a:bodyPr wrap="square" lIns="27432" tIns="27432" rIns="27432" bIns="27432" anchor="ctr">
            <a:spAutoFit/>
          </a:bodyPr>
          <a:lstStyle/>
          <a:p>
            <a:pPr algn="ctr">
              <a:lnSpc>
                <a:spcPct val="100000"/>
              </a:lnSpc>
            </a:pPr>
            <a:r>
              <a:rPr sz="1100" b="1">
                <a:solidFill>
                  <a:srgbClr val="1F5340"/>
                </a:solidFill>
                <a:latin typeface="Aptos"/>
              </a:rPr>
              <a:t>⏱ 2 min</a:t>
            </a:r>
          </a:p>
        </p:txBody>
      </p:sp>
      <p:sp>
        <p:nvSpPr>
          <p:cNvPr id="28" name="Rounded Rectangle 27"/>
          <p:cNvSpPr/>
          <p:nvPr/>
        </p:nvSpPr>
        <p:spPr>
          <a:xfrm>
            <a:off x="685800" y="5138928"/>
            <a:ext cx="9326880" cy="384048"/>
          </a:xfrm>
          <a:prstGeom prst="roundRect">
            <a:avLst/>
          </a:prstGeom>
          <a:solidFill>
            <a:srgbClr val="FFF8E7"/>
          </a:solidFill>
          <a:ln>
            <a:solidFill>
              <a:srgbClr val="E8C76A"/>
            </a:solidFill>
          </a:ln>
        </p:spPr>
        <p:style>
          <a:lnRef idx="1">
            <a:schemeClr val="accent1"/>
          </a:lnRef>
          <a:fillRef idx="3">
            <a:schemeClr val="accent1"/>
          </a:fillRef>
          <a:effectRef idx="2">
            <a:schemeClr val="accent1"/>
          </a:effectRef>
          <a:fontRef idx="minor">
            <a:schemeClr val="lt1"/>
          </a:fontRef>
        </p:style>
        <p:txBody>
          <a:bodyPr lIns="109728" tIns="73152" rIns="109728" bIns="73152" rtlCol="0" anchor="ctr"/>
          <a:lstStyle/>
          <a:p>
            <a:pPr algn="l"/>
            <a:r>
              <a:rPr sz="900" b="1">
                <a:solidFill>
                  <a:srgbClr val="7F6000"/>
                </a:solidFill>
                <a:latin typeface="Aptos"/>
              </a:rPr>
              <a:t>MODEL CHECK → Ask students to identify the P, E and EX aloud. Then ask: “Could I remove the explanation and still prove my point?”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7EF"/>
        </a:solidFill>
        <a:effectLst/>
      </p:bgPr>
    </p:bg>
    <p:spTree>
      <p:nvGrpSpPr>
        <p:cNvPr id="1" name=""/>
        <p:cNvGrpSpPr/>
        <p:nvPr/>
      </p:nvGrpSpPr>
      <p:grpSpPr>
        <a:xfrm>
          <a:off x="0" y="0"/>
          <a:ext cx="0" cy="0"/>
          <a:chOff x="0" y="0"/>
          <a:chExt cx="0" cy="0"/>
        </a:xfrm>
      </p:grpSpPr>
      <p:sp>
        <p:nvSpPr>
          <p:cNvPr id="2" name="TextBox 1"/>
          <p:cNvSpPr txBox="1"/>
          <p:nvPr/>
        </p:nvSpPr>
        <p:spPr>
          <a:xfrm>
            <a:off x="594360" y="292608"/>
            <a:ext cx="3657600" cy="256032"/>
          </a:xfrm>
          <a:prstGeom prst="rect">
            <a:avLst/>
          </a:prstGeom>
          <a:noFill/>
        </p:spPr>
        <p:txBody>
          <a:bodyPr wrap="square" lIns="27432" tIns="27432" rIns="27432" bIns="27432" anchor="t">
            <a:spAutoFit/>
          </a:bodyPr>
          <a:lstStyle/>
          <a:p>
            <a:pPr algn="l">
              <a:lnSpc>
                <a:spcPct val="100000"/>
              </a:lnSpc>
            </a:pPr>
            <a:r>
              <a:t>COLD START • 4 MINUTES</a:t>
            </a:r>
          </a:p>
        </p:txBody>
      </p:sp>
      <p:sp>
        <p:nvSpPr>
          <p:cNvPr id="3" name="TextBox 2"/>
          <p:cNvSpPr txBox="1"/>
          <p:nvPr/>
        </p:nvSpPr>
        <p:spPr>
          <a:xfrm>
            <a:off x="594360" y="603504"/>
            <a:ext cx="10515600" cy="640080"/>
          </a:xfrm>
          <a:prstGeom prst="rect">
            <a:avLst/>
          </a:prstGeom>
          <a:noFill/>
        </p:spPr>
        <p:txBody>
          <a:bodyPr wrap="square" lIns="27432" tIns="27432" rIns="27432" bIns="27432" anchor="t">
            <a:spAutoFit/>
          </a:bodyPr>
          <a:lstStyle/>
          <a:p>
            <a:pPr algn="l">
              <a:lnSpc>
                <a:spcPct val="100000"/>
              </a:lnSpc>
            </a:pPr>
            <a:r>
              <a:t>Independent Baseline: Show What You Can Do</a:t>
            </a:r>
          </a:p>
        </p:txBody>
      </p:sp>
      <p:sp>
        <p:nvSpPr>
          <p:cNvPr id="4" name="Oval 3"/>
          <p:cNvSpPr/>
          <p:nvPr/>
        </p:nvSpPr>
        <p:spPr>
          <a:xfrm>
            <a:off x="11155680" y="320040"/>
            <a:ext cx="438912" cy="438912"/>
          </a:xfrm>
          <a:prstGeom prst="ellipse">
            <a:avLst/>
          </a:prstGeom>
          <a:solidFill>
            <a:srgbClr val="1F5340"/>
          </a:solidFill>
          <a:ln>
            <a:solidFill>
              <a:srgbClr val="1F53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155680" y="356616"/>
            <a:ext cx="438912" cy="310896"/>
          </a:xfrm>
          <a:prstGeom prst="rect">
            <a:avLst/>
          </a:prstGeom>
          <a:noFill/>
        </p:spPr>
        <p:txBody>
          <a:bodyPr wrap="square" lIns="27432" tIns="27432" rIns="27432" bIns="27432" anchor="ctr">
            <a:spAutoFit/>
          </a:bodyPr>
          <a:lstStyle/>
          <a:p>
            <a:pPr algn="ctr">
              <a:lnSpc>
                <a:spcPct val="100000"/>
              </a:lnSpc>
            </a:pPr>
            <a:r>
              <a:t>3</a:t>
            </a:r>
          </a:p>
        </p:txBody>
      </p:sp>
      <p:sp>
        <p:nvSpPr>
          <p:cNvPr id="6" name="Rectangle 5"/>
          <p:cNvSpPr/>
          <p:nvPr/>
        </p:nvSpPr>
        <p:spPr>
          <a:xfrm>
            <a:off x="594360" y="1353312"/>
            <a:ext cx="914400" cy="64008"/>
          </a:xfrm>
          <a:prstGeom prst="rect">
            <a:avLst/>
          </a:prstGeom>
          <a:solidFill>
            <a:srgbClr val="F4BE41"/>
          </a:solidFill>
          <a:ln>
            <a:solidFill>
              <a:srgbClr val="F4BE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70560" y="1755648"/>
            <a:ext cx="5303520" cy="4498848"/>
          </a:xfrm>
          <a:prstGeom prst="roundRect">
            <a:avLst/>
          </a:prstGeom>
          <a:solidFill>
            <a:srgbClr val="FFFFFF"/>
          </a:solidFill>
          <a:ln w="1524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143000" y="2766060"/>
            <a:ext cx="754380" cy="754380"/>
          </a:xfrm>
          <a:prstGeom prst="ellipse">
            <a:avLst/>
          </a:prstGeom>
          <a:solidFill>
            <a:srgbClr val="262B2A"/>
          </a:solidFill>
          <a:ln>
            <a:solidFill>
              <a:srgbClr val="262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801368" y="2587752"/>
            <a:ext cx="987552" cy="987552"/>
          </a:xfrm>
          <a:prstGeom prst="ellipse">
            <a:avLst/>
          </a:prstGeom>
          <a:solidFill>
            <a:srgbClr val="262B2A"/>
          </a:solidFill>
          <a:ln>
            <a:solidFill>
              <a:srgbClr val="262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0" name="Oval 9"/>
          <p:cNvSpPr/>
          <p:nvPr/>
        </p:nvSpPr>
        <p:spPr>
          <a:xfrm>
            <a:off x="2651924" y="2635844"/>
            <a:ext cx="754380" cy="754380"/>
          </a:xfrm>
          <a:prstGeom prst="ellipse">
            <a:avLst/>
          </a:prstGeom>
          <a:solidFill>
            <a:srgbClr val="262B2A"/>
          </a:solidFill>
          <a:ln>
            <a:solidFill>
              <a:srgbClr val="262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3035808" y="2820924"/>
            <a:ext cx="96012" cy="96012"/>
          </a:xfrm>
          <a:prstGeom prst="ellipse">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rot="1500000">
            <a:off x="1664208" y="2628900"/>
            <a:ext cx="438912" cy="54864"/>
          </a:xfrm>
          <a:prstGeom prst="rect">
            <a:avLst/>
          </a:prstGeom>
          <a:solidFill>
            <a:srgbClr val="262B2A"/>
          </a:solidFill>
          <a:ln>
            <a:solidFill>
              <a:srgbClr val="262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rot="1500000">
            <a:off x="1897380" y="2395728"/>
            <a:ext cx="438912" cy="54864"/>
          </a:xfrm>
          <a:prstGeom prst="rect">
            <a:avLst/>
          </a:prstGeom>
          <a:solidFill>
            <a:srgbClr val="262B2A"/>
          </a:solidFill>
          <a:ln>
            <a:solidFill>
              <a:srgbClr val="262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rot="20100000">
            <a:off x="2075688" y="3410712"/>
            <a:ext cx="438912" cy="54864"/>
          </a:xfrm>
          <a:prstGeom prst="rect">
            <a:avLst/>
          </a:prstGeom>
          <a:solidFill>
            <a:srgbClr val="262B2A"/>
          </a:solidFill>
          <a:ln>
            <a:solidFill>
              <a:srgbClr val="262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rot="1500000">
            <a:off x="2404872" y="2368296"/>
            <a:ext cx="438912" cy="54864"/>
          </a:xfrm>
          <a:prstGeom prst="rect">
            <a:avLst/>
          </a:prstGeom>
          <a:solidFill>
            <a:srgbClr val="262B2A"/>
          </a:solidFill>
          <a:ln>
            <a:solidFill>
              <a:srgbClr val="262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rot="20100000">
            <a:off x="2583180" y="3451860"/>
            <a:ext cx="438912" cy="54864"/>
          </a:xfrm>
          <a:prstGeom prst="rect">
            <a:avLst/>
          </a:prstGeom>
          <a:solidFill>
            <a:srgbClr val="262B2A"/>
          </a:solidFill>
          <a:ln>
            <a:solidFill>
              <a:srgbClr val="262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rot="1500000">
            <a:off x="2857500" y="2560320"/>
            <a:ext cx="438912" cy="54864"/>
          </a:xfrm>
          <a:prstGeom prst="rect">
            <a:avLst/>
          </a:prstGeom>
          <a:solidFill>
            <a:srgbClr val="262B2A"/>
          </a:solidFill>
          <a:ln>
            <a:solidFill>
              <a:srgbClr val="262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rot="20100000">
            <a:off x="2898648" y="2601468"/>
            <a:ext cx="466344" cy="48006"/>
          </a:xfrm>
          <a:prstGeom prst="rect">
            <a:avLst/>
          </a:prstGeom>
          <a:solidFill>
            <a:srgbClr val="262B2A"/>
          </a:solidFill>
          <a:ln>
            <a:solidFill>
              <a:srgbClr val="262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rot="1200000">
            <a:off x="3090672" y="2601468"/>
            <a:ext cx="466344" cy="48006"/>
          </a:xfrm>
          <a:prstGeom prst="rect">
            <a:avLst/>
          </a:prstGeom>
          <a:solidFill>
            <a:srgbClr val="262B2A"/>
          </a:solidFill>
          <a:ln>
            <a:solidFill>
              <a:srgbClr val="262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3216402" y="3435858"/>
            <a:ext cx="740664" cy="740664"/>
          </a:xfrm>
          <a:prstGeom prst="ellipse">
            <a:avLst/>
          </a:prstGeom>
          <a:solidFill>
            <a:srgbClr val="3A7757"/>
          </a:solidFill>
          <a:ln>
            <a:solidFill>
              <a:srgbClr val="3A77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3771900" y="3250691"/>
            <a:ext cx="987552" cy="987552"/>
          </a:xfrm>
          <a:prstGeom prst="ellipse">
            <a:avLst/>
          </a:prstGeom>
          <a:solidFill>
            <a:srgbClr val="3A7757"/>
          </a:solidFill>
          <a:ln>
            <a:solidFill>
              <a:srgbClr val="3A77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4512564" y="3411169"/>
            <a:ext cx="641908" cy="641908"/>
          </a:xfrm>
          <a:prstGeom prst="ellipse">
            <a:avLst/>
          </a:prstGeom>
          <a:solidFill>
            <a:srgbClr val="3A7757"/>
          </a:solidFill>
          <a:ln>
            <a:solidFill>
              <a:srgbClr val="3A77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rot="1500000">
            <a:off x="3771900" y="3127248"/>
            <a:ext cx="617220" cy="55549"/>
          </a:xfrm>
          <a:prstGeom prst="rect">
            <a:avLst/>
          </a:prstGeom>
          <a:solidFill>
            <a:srgbClr val="3A7757"/>
          </a:solidFill>
          <a:ln>
            <a:solidFill>
              <a:srgbClr val="3A77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rot="20100000">
            <a:off x="3957066" y="4114800"/>
            <a:ext cx="617220" cy="55549"/>
          </a:xfrm>
          <a:prstGeom prst="rect">
            <a:avLst/>
          </a:prstGeom>
          <a:solidFill>
            <a:srgbClr val="3A7757"/>
          </a:solidFill>
          <a:ln>
            <a:solidFill>
              <a:srgbClr val="3A77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rot="20400000">
            <a:off x="4265676" y="3102559"/>
            <a:ext cx="617220" cy="55549"/>
          </a:xfrm>
          <a:prstGeom prst="rect">
            <a:avLst/>
          </a:prstGeom>
          <a:solidFill>
            <a:srgbClr val="3A7757"/>
          </a:solidFill>
          <a:ln>
            <a:solidFill>
              <a:srgbClr val="3A77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rot="1500000">
            <a:off x="4389120" y="4176522"/>
            <a:ext cx="617220" cy="55549"/>
          </a:xfrm>
          <a:prstGeom prst="rect">
            <a:avLst/>
          </a:prstGeom>
          <a:solidFill>
            <a:srgbClr val="3A7757"/>
          </a:solidFill>
          <a:ln>
            <a:solidFill>
              <a:srgbClr val="3A77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rot="600000">
            <a:off x="4697730" y="3226003"/>
            <a:ext cx="617220" cy="55549"/>
          </a:xfrm>
          <a:prstGeom prst="rect">
            <a:avLst/>
          </a:prstGeom>
          <a:solidFill>
            <a:srgbClr val="3A7757"/>
          </a:solidFill>
          <a:ln>
            <a:solidFill>
              <a:srgbClr val="3A77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rot="21000000">
            <a:off x="4734763" y="4053078"/>
            <a:ext cx="617220" cy="55549"/>
          </a:xfrm>
          <a:prstGeom prst="rect">
            <a:avLst/>
          </a:prstGeom>
          <a:solidFill>
            <a:srgbClr val="3A7757"/>
          </a:solidFill>
          <a:ln>
            <a:solidFill>
              <a:srgbClr val="3A77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rot="19800000">
            <a:off x="4821174" y="3349447"/>
            <a:ext cx="444398" cy="43205"/>
          </a:xfrm>
          <a:prstGeom prst="rect">
            <a:avLst/>
          </a:prstGeom>
          <a:solidFill>
            <a:srgbClr val="3A7757"/>
          </a:solidFill>
          <a:ln>
            <a:solidFill>
              <a:srgbClr val="3A77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rot="1200000">
            <a:off x="4981651" y="3349447"/>
            <a:ext cx="444398" cy="43205"/>
          </a:xfrm>
          <a:prstGeom prst="rect">
            <a:avLst/>
          </a:prstGeom>
          <a:solidFill>
            <a:srgbClr val="3A7757"/>
          </a:solidFill>
          <a:ln>
            <a:solidFill>
              <a:srgbClr val="3A77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74253" y="4480491"/>
            <a:ext cx="4754880" cy="609398"/>
          </a:xfrm>
          <a:prstGeom prst="rect">
            <a:avLst/>
          </a:prstGeom>
          <a:noFill/>
        </p:spPr>
        <p:txBody>
          <a:bodyPr wrap="square" lIns="27432" tIns="27432" rIns="27432" bIns="27432" anchor="t">
            <a:spAutoFit/>
          </a:bodyPr>
          <a:lstStyle/>
          <a:p>
            <a:pPr algn="ctr">
              <a:lnSpc>
                <a:spcPct val="100000"/>
              </a:lnSpc>
            </a:pPr>
            <a:r>
              <a:rPr dirty="0"/>
              <a:t>Read the short clue below. </a:t>
            </a:r>
            <a:endParaRPr lang="en-US" dirty="0"/>
          </a:p>
          <a:p>
            <a:pPr algn="ctr">
              <a:lnSpc>
                <a:spcPct val="100000"/>
              </a:lnSpc>
            </a:pPr>
            <a:r>
              <a:rPr dirty="0"/>
              <a:t>Work independently — no partner talk yet.</a:t>
            </a:r>
          </a:p>
        </p:txBody>
      </p:sp>
      <p:sp>
        <p:nvSpPr>
          <p:cNvPr id="32" name="TextBox 31"/>
          <p:cNvSpPr txBox="1"/>
          <p:nvPr/>
        </p:nvSpPr>
        <p:spPr>
          <a:xfrm>
            <a:off x="914400" y="5148135"/>
            <a:ext cx="4663440" cy="731520"/>
          </a:xfrm>
          <a:prstGeom prst="rect">
            <a:avLst/>
          </a:prstGeom>
          <a:noFill/>
        </p:spPr>
        <p:txBody>
          <a:bodyPr wrap="square" lIns="27432" tIns="27432" rIns="27432" bIns="27432" anchor="t">
            <a:spAutoFit/>
          </a:bodyPr>
          <a:lstStyle/>
          <a:p>
            <a:pPr algn="ctr">
              <a:lnSpc>
                <a:spcPct val="100000"/>
              </a:lnSpc>
            </a:pPr>
            <a:r>
              <a:rPr dirty="0"/>
              <a:t>“The Ant carried food to her nest and stored it carefully. The Grasshopper spent the warm days singing and playing.”</a:t>
            </a:r>
          </a:p>
        </p:txBody>
      </p:sp>
      <p:sp>
        <p:nvSpPr>
          <p:cNvPr id="33" name="Rounded Rectangle 32"/>
          <p:cNvSpPr/>
          <p:nvPr/>
        </p:nvSpPr>
        <p:spPr>
          <a:xfrm>
            <a:off x="6217922" y="512064"/>
            <a:ext cx="5257800" cy="4251960"/>
          </a:xfrm>
          <a:prstGeom prst="roundRect">
            <a:avLst/>
          </a:prstGeom>
          <a:solidFill>
            <a:srgbClr val="FFF4CD"/>
          </a:solidFill>
          <a:ln w="15240">
            <a:solidFill>
              <a:srgbClr val="FFF4CD"/>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r>
              <a:rPr lang="en-US" b="1">
                <a:solidFill>
                  <a:srgbClr val="1F5340"/>
                </a:solidFill>
                <a:latin typeface="Aptos"/>
              </a:rPr>
              <a:t>PAIR → THINK → PREDICT</a:t>
            </a:r>
            <a:endParaRPr lang="en-US" b="1" dirty="0">
              <a:solidFill>
                <a:srgbClr val="1F5340"/>
              </a:solidFill>
              <a:latin typeface="Aptos"/>
            </a:endParaRPr>
          </a:p>
        </p:txBody>
      </p:sp>
      <p:sp>
        <p:nvSpPr>
          <p:cNvPr id="34" name="TextBox 33"/>
          <p:cNvSpPr txBox="1"/>
          <p:nvPr/>
        </p:nvSpPr>
        <p:spPr>
          <a:xfrm>
            <a:off x="6560820" y="799658"/>
            <a:ext cx="4572000" cy="320040"/>
          </a:xfrm>
          <a:prstGeom prst="rect">
            <a:avLst/>
          </a:prstGeom>
          <a:noFill/>
        </p:spPr>
        <p:txBody>
          <a:bodyPr wrap="square" lIns="27432" tIns="27432" rIns="27432" bIns="27432" anchor="t">
            <a:spAutoFit/>
          </a:bodyPr>
          <a:lstStyle/>
          <a:p>
            <a:pPr algn="ctr">
              <a:lnSpc>
                <a:spcPct val="100000"/>
              </a:lnSpc>
            </a:pPr>
            <a:r>
              <a:rPr dirty="0"/>
              <a:t>WRITE — WITHOUT HELP</a:t>
            </a:r>
          </a:p>
        </p:txBody>
      </p:sp>
      <p:sp>
        <p:nvSpPr>
          <p:cNvPr id="35" name="TextBox 34"/>
          <p:cNvSpPr txBox="1"/>
          <p:nvPr/>
        </p:nvSpPr>
        <p:spPr>
          <a:xfrm>
            <a:off x="6986016" y="1389070"/>
            <a:ext cx="4389120" cy="411480"/>
          </a:xfrm>
          <a:prstGeom prst="rect">
            <a:avLst/>
          </a:prstGeom>
          <a:noFill/>
        </p:spPr>
        <p:txBody>
          <a:bodyPr wrap="square" lIns="27432" tIns="27432" rIns="27432" bIns="27432" anchor="t">
            <a:spAutoFit/>
          </a:bodyPr>
          <a:lstStyle/>
          <a:p>
            <a:pPr algn="ctr">
              <a:lnSpc>
                <a:spcPct val="100000"/>
              </a:lnSpc>
            </a:pPr>
            <a:r>
              <a:rPr dirty="0"/>
              <a:t>1. What can you infer about the Ant?</a:t>
            </a:r>
            <a:br>
              <a:rPr dirty="0"/>
            </a:br>
            <a:r>
              <a:rPr dirty="0"/>
              <a:t>2. What evidence proves your idea?</a:t>
            </a:r>
            <a:br>
              <a:rPr dirty="0"/>
            </a:br>
            <a:r>
              <a:rPr dirty="0"/>
              <a:t>3. What do you predict may happen later?</a:t>
            </a:r>
          </a:p>
        </p:txBody>
      </p:sp>
      <p:sp>
        <p:nvSpPr>
          <p:cNvPr id="36" name="Rounded Rectangle 35"/>
          <p:cNvSpPr/>
          <p:nvPr/>
        </p:nvSpPr>
        <p:spPr>
          <a:xfrm>
            <a:off x="7185906" y="2360353"/>
            <a:ext cx="3977639" cy="914400"/>
          </a:xfrm>
          <a:prstGeom prst="roundRect">
            <a:avLst/>
          </a:prstGeom>
          <a:solidFill>
            <a:srgbClr val="FFFFFF"/>
          </a:solidFill>
          <a:ln w="1524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7437120" y="2459096"/>
            <a:ext cx="3611880" cy="609398"/>
          </a:xfrm>
          <a:prstGeom prst="rect">
            <a:avLst/>
          </a:prstGeom>
          <a:noFill/>
        </p:spPr>
        <p:txBody>
          <a:bodyPr wrap="square" lIns="27432" tIns="27432" rIns="27432" bIns="27432" anchor="t">
            <a:spAutoFit/>
          </a:bodyPr>
          <a:lstStyle/>
          <a:p>
            <a:pPr algn="ctr">
              <a:lnSpc>
                <a:spcPct val="100000"/>
              </a:lnSpc>
            </a:pPr>
            <a:r>
              <a:rPr dirty="0"/>
              <a:t>Answer in complete sentences.</a:t>
            </a:r>
            <a:endParaRPr lang="en-US" dirty="0"/>
          </a:p>
          <a:p>
            <a:pPr algn="ctr">
              <a:lnSpc>
                <a:spcPct val="100000"/>
              </a:lnSpc>
            </a:pPr>
            <a:r>
              <a:rPr dirty="0"/>
              <a:t> Use a clue from the text.</a:t>
            </a:r>
          </a:p>
        </p:txBody>
      </p:sp>
      <p:sp>
        <p:nvSpPr>
          <p:cNvPr id="39" name="TextBox 38"/>
          <p:cNvSpPr txBox="1"/>
          <p:nvPr/>
        </p:nvSpPr>
        <p:spPr>
          <a:xfrm>
            <a:off x="621792" y="6519672"/>
            <a:ext cx="6400800" cy="182880"/>
          </a:xfrm>
          <a:prstGeom prst="rect">
            <a:avLst/>
          </a:prstGeom>
          <a:noFill/>
        </p:spPr>
        <p:txBody>
          <a:bodyPr wrap="square" lIns="27432" tIns="27432" rIns="27432" bIns="27432" anchor="t">
            <a:spAutoFit/>
          </a:bodyPr>
          <a:lstStyle/>
          <a:p>
            <a:pPr algn="l">
              <a:lnSpc>
                <a:spcPct val="100000"/>
              </a:lnSpc>
            </a:pPr>
            <a:r>
              <a:rPr sz="800" b="1">
                <a:solidFill>
                  <a:srgbClr val="666C67"/>
                </a:solidFill>
                <a:latin typeface="Aptos"/>
              </a:rPr>
              <a:t>YEAR 5 • UNIT 1 • THE ANT &amp; THE GRASSHOPPER</a:t>
            </a:r>
          </a:p>
        </p:txBody>
      </p:sp>
      <p:sp>
        <p:nvSpPr>
          <p:cNvPr id="40" name="Oval 39"/>
          <p:cNvSpPr/>
          <p:nvPr/>
        </p:nvSpPr>
        <p:spPr>
          <a:xfrm>
            <a:off x="11201400" y="6510528"/>
            <a:ext cx="91440" cy="91440"/>
          </a:xfrm>
          <a:prstGeom prst="ellipse">
            <a:avLst/>
          </a:prstGeom>
          <a:solidFill>
            <a:srgbClr val="F4BE41"/>
          </a:solidFill>
          <a:ln>
            <a:solidFill>
              <a:srgbClr val="F4BE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11402568" y="6510528"/>
            <a:ext cx="91440" cy="91440"/>
          </a:xfrm>
          <a:prstGeom prst="ellipse">
            <a:avLst/>
          </a:prstGeom>
          <a:solidFill>
            <a:srgbClr val="DD6952"/>
          </a:solidFill>
          <a:ln>
            <a:solidFill>
              <a:srgbClr val="DD69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11603736" y="6510528"/>
            <a:ext cx="91440" cy="91440"/>
          </a:xfrm>
          <a:prstGeom prst="ellipse">
            <a:avLst/>
          </a:prstGeom>
          <a:solidFill>
            <a:srgbClr val="3A7757"/>
          </a:solidFill>
          <a:ln>
            <a:solidFill>
              <a:srgbClr val="3A77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ounded Rectangle 42"/>
          <p:cNvSpPr/>
          <p:nvPr/>
        </p:nvSpPr>
        <p:spPr>
          <a:xfrm>
            <a:off x="10378440" y="6053328"/>
            <a:ext cx="1188720" cy="384048"/>
          </a:xfrm>
          <a:prstGeom prst="roundRect">
            <a:avLst/>
          </a:prstGeom>
          <a:solidFill>
            <a:srgbClr val="FFF4CD"/>
          </a:solidFill>
          <a:ln w="15240">
            <a:solidFill>
              <a:srgbClr val="FFF4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10424160" y="6099048"/>
            <a:ext cx="1097280" cy="274320"/>
          </a:xfrm>
          <a:prstGeom prst="rect">
            <a:avLst/>
          </a:prstGeom>
          <a:noFill/>
        </p:spPr>
        <p:txBody>
          <a:bodyPr wrap="square" lIns="27432" tIns="27432" rIns="27432" bIns="27432" anchor="ctr">
            <a:spAutoFit/>
          </a:bodyPr>
          <a:lstStyle/>
          <a:p>
            <a:pPr algn="ctr">
              <a:lnSpc>
                <a:spcPct val="100000"/>
              </a:lnSpc>
            </a:pPr>
            <a:r>
              <a:t>⏱ 4 min</a:t>
            </a:r>
          </a:p>
        </p:txBody>
      </p:sp>
      <p:sp>
        <p:nvSpPr>
          <p:cNvPr id="46" name="TextBox 45">
            <a:extLst>
              <a:ext uri="{FF2B5EF4-FFF2-40B4-BE49-F238E27FC236}">
                <a16:creationId xmlns:a16="http://schemas.microsoft.com/office/drawing/2014/main" id="{12DED9AD-3540-1241-61BC-2A17EBFCADB9}"/>
              </a:ext>
            </a:extLst>
          </p:cNvPr>
          <p:cNvSpPr txBox="1"/>
          <p:nvPr/>
        </p:nvSpPr>
        <p:spPr>
          <a:xfrm>
            <a:off x="6876288" y="3429000"/>
            <a:ext cx="4572000" cy="320040"/>
          </a:xfrm>
          <a:prstGeom prst="rect">
            <a:avLst/>
          </a:prstGeom>
          <a:noFill/>
        </p:spPr>
        <p:txBody>
          <a:bodyPr wrap="square" lIns="27432" tIns="27432" rIns="27432" bIns="27432" anchor="t">
            <a:spAutoFit/>
          </a:bodyPr>
          <a:lstStyle/>
          <a:p>
            <a:pPr algn="ctr">
              <a:lnSpc>
                <a:spcPct val="100000"/>
              </a:lnSpc>
            </a:pPr>
            <a:r>
              <a:rPr sz="1600" b="1" dirty="0">
                <a:solidFill>
                  <a:srgbClr val="1F5340"/>
                </a:solidFill>
                <a:latin typeface="Aptos"/>
              </a:rPr>
              <a:t>PAIR → THINK → PREDICT</a:t>
            </a:r>
          </a:p>
        </p:txBody>
      </p:sp>
      <p:sp>
        <p:nvSpPr>
          <p:cNvPr id="52" name="Rounded Rectangle 35">
            <a:extLst>
              <a:ext uri="{FF2B5EF4-FFF2-40B4-BE49-F238E27FC236}">
                <a16:creationId xmlns:a16="http://schemas.microsoft.com/office/drawing/2014/main" id="{E8923374-69B3-476E-FE70-43CDEB077D67}"/>
              </a:ext>
            </a:extLst>
          </p:cNvPr>
          <p:cNvSpPr/>
          <p:nvPr/>
        </p:nvSpPr>
        <p:spPr>
          <a:xfrm>
            <a:off x="7172356" y="3804425"/>
            <a:ext cx="3977639" cy="806958"/>
          </a:xfrm>
          <a:prstGeom prst="roundRect">
            <a:avLst/>
          </a:prstGeom>
          <a:solidFill>
            <a:srgbClr val="FFFFFF"/>
          </a:solidFill>
          <a:ln w="1524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r>
              <a:rPr lang="en-US" b="1">
                <a:solidFill>
                  <a:srgbClr val="1F5340"/>
                </a:solidFill>
                <a:latin typeface="Aptos"/>
              </a:rPr>
              <a:t>I predict __________
because __________.</a:t>
            </a:r>
            <a:endParaRPr lang="en-US" b="1" dirty="0">
              <a:solidFill>
                <a:srgbClr val="1F5340"/>
              </a:solidFill>
              <a:latin typeface="Apto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7EF"/>
        </a:solidFill>
        <a:effectLst/>
      </p:bgPr>
    </p:bg>
    <p:spTree>
      <p:nvGrpSpPr>
        <p:cNvPr id="1" name=""/>
        <p:cNvGrpSpPr/>
        <p:nvPr/>
      </p:nvGrpSpPr>
      <p:grpSpPr>
        <a:xfrm>
          <a:off x="0" y="0"/>
          <a:ext cx="0" cy="0"/>
          <a:chOff x="0" y="0"/>
          <a:chExt cx="0" cy="0"/>
        </a:xfrm>
      </p:grpSpPr>
      <p:sp>
        <p:nvSpPr>
          <p:cNvPr id="2" name="TextBox 1"/>
          <p:cNvSpPr txBox="1"/>
          <p:nvPr/>
        </p:nvSpPr>
        <p:spPr>
          <a:xfrm>
            <a:off x="594360" y="292608"/>
            <a:ext cx="3657600" cy="256032"/>
          </a:xfrm>
          <a:prstGeom prst="rect">
            <a:avLst/>
          </a:prstGeom>
          <a:noFill/>
        </p:spPr>
        <p:txBody>
          <a:bodyPr wrap="square" lIns="27432" tIns="27432" rIns="27432" bIns="27432" anchor="t">
            <a:spAutoFit/>
          </a:bodyPr>
          <a:lstStyle/>
          <a:p>
            <a:pPr algn="l">
              <a:lnSpc>
                <a:spcPct val="100000"/>
              </a:lnSpc>
            </a:pPr>
            <a:r>
              <a:rPr sz="1000" b="1">
                <a:solidFill>
                  <a:srgbClr val="3A7757"/>
                </a:solidFill>
                <a:latin typeface="Aptos"/>
              </a:rPr>
              <a:t>ACTIVATE PRIOR KNOWLEDGE</a:t>
            </a:r>
          </a:p>
        </p:txBody>
      </p:sp>
      <p:sp>
        <p:nvSpPr>
          <p:cNvPr id="3" name="TextBox 2"/>
          <p:cNvSpPr txBox="1"/>
          <p:nvPr/>
        </p:nvSpPr>
        <p:spPr>
          <a:xfrm>
            <a:off x="594360" y="603504"/>
            <a:ext cx="10515600" cy="640080"/>
          </a:xfrm>
          <a:prstGeom prst="rect">
            <a:avLst/>
          </a:prstGeom>
          <a:noFill/>
        </p:spPr>
        <p:txBody>
          <a:bodyPr wrap="square" lIns="27432" tIns="27432" rIns="27432" bIns="27432" anchor="t">
            <a:spAutoFit/>
          </a:bodyPr>
          <a:lstStyle/>
          <a:p>
            <a:pPr algn="l">
              <a:lnSpc>
                <a:spcPct val="100000"/>
              </a:lnSpc>
            </a:pPr>
            <a:r>
              <a:rPr sz="2800" b="1">
                <a:solidFill>
                  <a:srgbClr val="1F5340"/>
                </a:solidFill>
                <a:latin typeface="Aptos Display"/>
              </a:rPr>
              <a:t>What is a fable?</a:t>
            </a:r>
          </a:p>
        </p:txBody>
      </p:sp>
      <p:sp>
        <p:nvSpPr>
          <p:cNvPr id="4" name="Oval 3"/>
          <p:cNvSpPr/>
          <p:nvPr/>
        </p:nvSpPr>
        <p:spPr>
          <a:xfrm>
            <a:off x="11155680" y="320040"/>
            <a:ext cx="438912" cy="438912"/>
          </a:xfrm>
          <a:prstGeom prst="ellipse">
            <a:avLst/>
          </a:prstGeom>
          <a:solidFill>
            <a:srgbClr val="1F5340"/>
          </a:solidFill>
          <a:ln>
            <a:solidFill>
              <a:srgbClr val="1F53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155680" y="356616"/>
            <a:ext cx="438912" cy="310896"/>
          </a:xfrm>
          <a:prstGeom prst="rect">
            <a:avLst/>
          </a:prstGeom>
          <a:noFill/>
        </p:spPr>
        <p:txBody>
          <a:bodyPr wrap="square" lIns="27432" tIns="27432" rIns="27432" bIns="27432" anchor="ctr">
            <a:spAutoFit/>
          </a:bodyPr>
          <a:lstStyle/>
          <a:p>
            <a:pPr algn="ctr">
              <a:lnSpc>
                <a:spcPct val="100000"/>
              </a:lnSpc>
            </a:pPr>
            <a:r>
              <a:t>4</a:t>
            </a:r>
          </a:p>
        </p:txBody>
      </p:sp>
      <p:sp>
        <p:nvSpPr>
          <p:cNvPr id="6" name="Rectangle 5"/>
          <p:cNvSpPr/>
          <p:nvPr/>
        </p:nvSpPr>
        <p:spPr>
          <a:xfrm>
            <a:off x="594360" y="1353312"/>
            <a:ext cx="914400" cy="64008"/>
          </a:xfrm>
          <a:prstGeom prst="rect">
            <a:avLst/>
          </a:prstGeom>
          <a:solidFill>
            <a:srgbClr val="F4BE41"/>
          </a:solidFill>
          <a:ln>
            <a:solidFill>
              <a:srgbClr val="F4BE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1664208"/>
            <a:ext cx="10698480" cy="594360"/>
          </a:xfrm>
          <a:prstGeom prst="rect">
            <a:avLst/>
          </a:prstGeom>
          <a:noFill/>
        </p:spPr>
        <p:txBody>
          <a:bodyPr wrap="square" lIns="27432" tIns="27432" rIns="27432" bIns="27432" anchor="t">
            <a:spAutoFit/>
          </a:bodyPr>
          <a:lstStyle/>
          <a:p>
            <a:pPr algn="ctr">
              <a:lnSpc>
                <a:spcPct val="100000"/>
              </a:lnSpc>
            </a:pPr>
            <a:r>
              <a:rPr sz="2500" b="1">
                <a:solidFill>
                  <a:srgbClr val="1F5340"/>
                </a:solidFill>
                <a:latin typeface="Aptos"/>
              </a:rPr>
              <a:t>A FABLE is a short story that teaches a lesson or moral.</a:t>
            </a:r>
          </a:p>
        </p:txBody>
      </p:sp>
      <p:sp>
        <p:nvSpPr>
          <p:cNvPr id="8" name="Rounded Rectangle 7"/>
          <p:cNvSpPr/>
          <p:nvPr/>
        </p:nvSpPr>
        <p:spPr>
          <a:xfrm>
            <a:off x="777240" y="2606040"/>
            <a:ext cx="3383280" cy="1508760"/>
          </a:xfrm>
          <a:prstGeom prst="roundRect">
            <a:avLst/>
          </a:prstGeom>
          <a:solidFill>
            <a:srgbClr val="E1EFE4"/>
          </a:solidFill>
          <a:ln w="15240">
            <a:solidFill>
              <a:srgbClr val="E1E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60120" y="2852928"/>
            <a:ext cx="3017520" cy="292608"/>
          </a:xfrm>
          <a:prstGeom prst="rect">
            <a:avLst/>
          </a:prstGeom>
          <a:noFill/>
        </p:spPr>
        <p:txBody>
          <a:bodyPr wrap="square" lIns="27432" tIns="27432" rIns="27432" bIns="27432" anchor="t">
            <a:spAutoFit/>
          </a:bodyPr>
          <a:lstStyle/>
          <a:p>
            <a:pPr algn="ctr">
              <a:lnSpc>
                <a:spcPct val="100000"/>
              </a:lnSpc>
            </a:pPr>
            <a:r>
              <a:rPr sz="1500" b="1">
                <a:solidFill>
                  <a:srgbClr val="1F5340"/>
                </a:solidFill>
                <a:latin typeface="Aptos"/>
              </a:rPr>
              <a:t>CHARACTERS</a:t>
            </a:r>
          </a:p>
        </p:txBody>
      </p:sp>
      <p:sp>
        <p:nvSpPr>
          <p:cNvPr id="10" name="TextBox 9"/>
          <p:cNvSpPr txBox="1"/>
          <p:nvPr/>
        </p:nvSpPr>
        <p:spPr>
          <a:xfrm>
            <a:off x="1033271" y="3310128"/>
            <a:ext cx="2880360" cy="670953"/>
          </a:xfrm>
          <a:prstGeom prst="rect">
            <a:avLst/>
          </a:prstGeom>
          <a:noFill/>
        </p:spPr>
        <p:txBody>
          <a:bodyPr wrap="square" lIns="27432" tIns="27432" rIns="27432" bIns="27432" anchor="t">
            <a:spAutoFit/>
          </a:bodyPr>
          <a:lstStyle/>
          <a:p>
            <a:pPr algn="ctr">
              <a:lnSpc>
                <a:spcPct val="100000"/>
              </a:lnSpc>
            </a:pPr>
            <a:r>
              <a:rPr sz="2000" b="0" dirty="0">
                <a:solidFill>
                  <a:srgbClr val="262B2A"/>
                </a:solidFill>
                <a:latin typeface="Aptos"/>
              </a:rPr>
              <a:t>often animals with human qualities</a:t>
            </a:r>
          </a:p>
        </p:txBody>
      </p:sp>
      <p:sp>
        <p:nvSpPr>
          <p:cNvPr id="11" name="Rounded Rectangle 10"/>
          <p:cNvSpPr/>
          <p:nvPr/>
        </p:nvSpPr>
        <p:spPr>
          <a:xfrm>
            <a:off x="4526279" y="2606040"/>
            <a:ext cx="3383280" cy="1508760"/>
          </a:xfrm>
          <a:prstGeom prst="roundRect">
            <a:avLst/>
          </a:prstGeom>
          <a:solidFill>
            <a:srgbClr val="F9E2DC"/>
          </a:solidFill>
          <a:ln w="15240">
            <a:solidFill>
              <a:srgbClr val="F9E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709159" y="2852928"/>
            <a:ext cx="3017520" cy="292608"/>
          </a:xfrm>
          <a:prstGeom prst="rect">
            <a:avLst/>
          </a:prstGeom>
          <a:noFill/>
        </p:spPr>
        <p:txBody>
          <a:bodyPr wrap="square" lIns="27432" tIns="27432" rIns="27432" bIns="27432" anchor="t">
            <a:spAutoFit/>
          </a:bodyPr>
          <a:lstStyle/>
          <a:p>
            <a:pPr algn="ctr">
              <a:lnSpc>
                <a:spcPct val="100000"/>
              </a:lnSpc>
            </a:pPr>
            <a:r>
              <a:rPr sz="1500" b="1">
                <a:solidFill>
                  <a:srgbClr val="1F5340"/>
                </a:solidFill>
                <a:latin typeface="Aptos"/>
              </a:rPr>
              <a:t>PROBLEM</a:t>
            </a:r>
          </a:p>
        </p:txBody>
      </p:sp>
      <p:sp>
        <p:nvSpPr>
          <p:cNvPr id="13" name="TextBox 12"/>
          <p:cNvSpPr txBox="1"/>
          <p:nvPr/>
        </p:nvSpPr>
        <p:spPr>
          <a:xfrm>
            <a:off x="4782312" y="3310128"/>
            <a:ext cx="2880360" cy="670953"/>
          </a:xfrm>
          <a:prstGeom prst="rect">
            <a:avLst/>
          </a:prstGeom>
          <a:noFill/>
        </p:spPr>
        <p:txBody>
          <a:bodyPr wrap="square" lIns="27432" tIns="27432" rIns="27432" bIns="27432" anchor="t">
            <a:spAutoFit/>
          </a:bodyPr>
          <a:lstStyle/>
          <a:p>
            <a:pPr algn="ctr">
              <a:lnSpc>
                <a:spcPct val="100000"/>
              </a:lnSpc>
            </a:pPr>
            <a:r>
              <a:rPr sz="2000" b="0" dirty="0">
                <a:solidFill>
                  <a:srgbClr val="262B2A"/>
                </a:solidFill>
                <a:latin typeface="Aptos"/>
              </a:rPr>
              <a:t>something goes wrong or must be solved</a:t>
            </a:r>
          </a:p>
        </p:txBody>
      </p:sp>
      <p:sp>
        <p:nvSpPr>
          <p:cNvPr id="14" name="Rounded Rectangle 13"/>
          <p:cNvSpPr/>
          <p:nvPr/>
        </p:nvSpPr>
        <p:spPr>
          <a:xfrm>
            <a:off x="8275319" y="2606040"/>
            <a:ext cx="3383280" cy="1508760"/>
          </a:xfrm>
          <a:prstGeom prst="roundRect">
            <a:avLst/>
          </a:prstGeom>
          <a:solidFill>
            <a:srgbClr val="FFF4CD"/>
          </a:solidFill>
          <a:ln w="15240">
            <a:solidFill>
              <a:srgbClr val="FFF4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458199" y="2852928"/>
            <a:ext cx="3017520" cy="292608"/>
          </a:xfrm>
          <a:prstGeom prst="rect">
            <a:avLst/>
          </a:prstGeom>
          <a:noFill/>
        </p:spPr>
        <p:txBody>
          <a:bodyPr wrap="square" lIns="27432" tIns="27432" rIns="27432" bIns="27432" anchor="t">
            <a:spAutoFit/>
          </a:bodyPr>
          <a:lstStyle/>
          <a:p>
            <a:pPr algn="ctr">
              <a:lnSpc>
                <a:spcPct val="100000"/>
              </a:lnSpc>
            </a:pPr>
            <a:r>
              <a:rPr sz="1500" b="1">
                <a:solidFill>
                  <a:srgbClr val="1F5340"/>
                </a:solidFill>
                <a:latin typeface="Aptos"/>
              </a:rPr>
              <a:t>MORAL</a:t>
            </a:r>
          </a:p>
        </p:txBody>
      </p:sp>
      <p:sp>
        <p:nvSpPr>
          <p:cNvPr id="16" name="TextBox 15"/>
          <p:cNvSpPr txBox="1"/>
          <p:nvPr/>
        </p:nvSpPr>
        <p:spPr>
          <a:xfrm>
            <a:off x="8531351" y="3310128"/>
            <a:ext cx="2880360" cy="670953"/>
          </a:xfrm>
          <a:prstGeom prst="rect">
            <a:avLst/>
          </a:prstGeom>
          <a:noFill/>
        </p:spPr>
        <p:txBody>
          <a:bodyPr wrap="square" lIns="27432" tIns="27432" rIns="27432" bIns="27432" anchor="t">
            <a:spAutoFit/>
          </a:bodyPr>
          <a:lstStyle/>
          <a:p>
            <a:pPr algn="ctr">
              <a:lnSpc>
                <a:spcPct val="100000"/>
              </a:lnSpc>
            </a:pPr>
            <a:r>
              <a:rPr sz="2000" b="0" dirty="0">
                <a:solidFill>
                  <a:srgbClr val="262B2A"/>
                </a:solidFill>
                <a:latin typeface="Aptos"/>
              </a:rPr>
              <a:t>the lesson the reader can learn</a:t>
            </a:r>
          </a:p>
        </p:txBody>
      </p:sp>
      <p:sp>
        <p:nvSpPr>
          <p:cNvPr id="17" name="Rounded Rectangle 16"/>
          <p:cNvSpPr/>
          <p:nvPr/>
        </p:nvSpPr>
        <p:spPr>
          <a:xfrm>
            <a:off x="1828800" y="4526280"/>
            <a:ext cx="8503920" cy="914400"/>
          </a:xfrm>
          <a:prstGeom prst="roundRect">
            <a:avLst/>
          </a:prstGeom>
          <a:solidFill>
            <a:srgbClr val="FFFFFF"/>
          </a:solidFill>
          <a:ln w="1524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405550" y="4526280"/>
            <a:ext cx="8046720" cy="886397"/>
          </a:xfrm>
          <a:prstGeom prst="rect">
            <a:avLst/>
          </a:prstGeom>
          <a:noFill/>
        </p:spPr>
        <p:txBody>
          <a:bodyPr wrap="square" lIns="27432" tIns="27432" rIns="27432" bIns="27432" anchor="t">
            <a:spAutoFit/>
          </a:bodyPr>
          <a:lstStyle/>
          <a:p>
            <a:pPr algn="ctr">
              <a:lnSpc>
                <a:spcPct val="100000"/>
              </a:lnSpc>
            </a:pPr>
            <a:r>
              <a:rPr b="1" dirty="0"/>
              <a:t>TURN &amp; TALK: </a:t>
            </a:r>
            <a:endParaRPr lang="en-US" b="1" dirty="0"/>
          </a:p>
          <a:p>
            <a:pPr algn="ctr">
              <a:lnSpc>
                <a:spcPct val="100000"/>
              </a:lnSpc>
            </a:pPr>
            <a:r>
              <a:rPr b="1" dirty="0"/>
              <a:t>Which feature of a fable helps us learn the lesson?</a:t>
            </a:r>
            <a:endParaRPr lang="en-US" b="1" dirty="0"/>
          </a:p>
          <a:p>
            <a:pPr algn="ctr">
              <a:lnSpc>
                <a:spcPct val="100000"/>
              </a:lnSpc>
            </a:pPr>
            <a:endParaRPr dirty="0"/>
          </a:p>
        </p:txBody>
      </p:sp>
      <p:sp>
        <p:nvSpPr>
          <p:cNvPr id="19" name="TextBox 18"/>
          <p:cNvSpPr txBox="1"/>
          <p:nvPr/>
        </p:nvSpPr>
        <p:spPr>
          <a:xfrm>
            <a:off x="621792" y="6519672"/>
            <a:ext cx="6400800" cy="182880"/>
          </a:xfrm>
          <a:prstGeom prst="rect">
            <a:avLst/>
          </a:prstGeom>
          <a:noFill/>
        </p:spPr>
        <p:txBody>
          <a:bodyPr wrap="square" lIns="27432" tIns="27432" rIns="27432" bIns="27432" anchor="t">
            <a:spAutoFit/>
          </a:bodyPr>
          <a:lstStyle/>
          <a:p>
            <a:pPr algn="l">
              <a:lnSpc>
                <a:spcPct val="100000"/>
              </a:lnSpc>
            </a:pPr>
            <a:r>
              <a:rPr sz="800" b="1">
                <a:solidFill>
                  <a:srgbClr val="666C67"/>
                </a:solidFill>
                <a:latin typeface="Aptos"/>
              </a:rPr>
              <a:t>YEAR 5 • UNIT 1 • THE ANT &amp; THE GRASSHOPPER</a:t>
            </a:r>
          </a:p>
        </p:txBody>
      </p:sp>
      <p:sp>
        <p:nvSpPr>
          <p:cNvPr id="20" name="Oval 19"/>
          <p:cNvSpPr/>
          <p:nvPr/>
        </p:nvSpPr>
        <p:spPr>
          <a:xfrm>
            <a:off x="11201400" y="6510528"/>
            <a:ext cx="91440" cy="91440"/>
          </a:xfrm>
          <a:prstGeom prst="ellipse">
            <a:avLst/>
          </a:prstGeom>
          <a:solidFill>
            <a:srgbClr val="F4BE41"/>
          </a:solidFill>
          <a:ln>
            <a:solidFill>
              <a:srgbClr val="F4BE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11402568" y="6510528"/>
            <a:ext cx="91440" cy="91440"/>
          </a:xfrm>
          <a:prstGeom prst="ellipse">
            <a:avLst/>
          </a:prstGeom>
          <a:solidFill>
            <a:srgbClr val="DD6952"/>
          </a:solidFill>
          <a:ln>
            <a:solidFill>
              <a:srgbClr val="DD69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11603736" y="6510528"/>
            <a:ext cx="91440" cy="91440"/>
          </a:xfrm>
          <a:prstGeom prst="ellipse">
            <a:avLst/>
          </a:prstGeom>
          <a:solidFill>
            <a:srgbClr val="3A7757"/>
          </a:solidFill>
          <a:ln>
            <a:solidFill>
              <a:srgbClr val="3A77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10378440" y="6053328"/>
            <a:ext cx="1188720" cy="384048"/>
          </a:xfrm>
          <a:prstGeom prst="roundRect">
            <a:avLst/>
          </a:prstGeom>
          <a:solidFill>
            <a:srgbClr val="FFF4CD"/>
          </a:solidFill>
          <a:ln w="15240">
            <a:solidFill>
              <a:srgbClr val="FFF4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424160" y="6099048"/>
            <a:ext cx="1097280" cy="274320"/>
          </a:xfrm>
          <a:prstGeom prst="rect">
            <a:avLst/>
          </a:prstGeom>
          <a:noFill/>
        </p:spPr>
        <p:txBody>
          <a:bodyPr wrap="square" lIns="27432" tIns="27432" rIns="27432" bIns="27432" anchor="ctr">
            <a:spAutoFit/>
          </a:bodyPr>
          <a:lstStyle/>
          <a:p>
            <a:pPr algn="ctr">
              <a:lnSpc>
                <a:spcPct val="100000"/>
              </a:lnSpc>
            </a:pPr>
            <a:r>
              <a:t>⏱ 2 min</a:t>
            </a:r>
          </a:p>
        </p:txBody>
      </p:sp>
      <p:sp>
        <p:nvSpPr>
          <p:cNvPr id="26" name="TextBox 25">
            <a:extLst>
              <a:ext uri="{FF2B5EF4-FFF2-40B4-BE49-F238E27FC236}">
                <a16:creationId xmlns:a16="http://schemas.microsoft.com/office/drawing/2014/main" id="{CDFEA48C-6F7D-D1EA-8792-3EA8E2506F14}"/>
              </a:ext>
            </a:extLst>
          </p:cNvPr>
          <p:cNvSpPr txBox="1"/>
          <p:nvPr/>
        </p:nvSpPr>
        <p:spPr>
          <a:xfrm>
            <a:off x="1405550" y="5077255"/>
            <a:ext cx="8046720" cy="332399"/>
          </a:xfrm>
          <a:prstGeom prst="rect">
            <a:avLst/>
          </a:prstGeom>
          <a:noFill/>
        </p:spPr>
        <p:txBody>
          <a:bodyPr wrap="square" lIns="27432" tIns="27432" rIns="27432" bIns="27432" anchor="t">
            <a:spAutoFit/>
          </a:bodyPr>
          <a:lstStyle/>
          <a:p>
            <a:pPr algn="ctr">
              <a:lnSpc>
                <a:spcPct val="100000"/>
              </a:lnSpc>
            </a:pPr>
            <a:r>
              <a:rPr sz="1800" b="1" dirty="0">
                <a:solidFill>
                  <a:srgbClr val="262B2A"/>
                </a:solidFill>
                <a:latin typeface="Aptos"/>
              </a:rPr>
              <a:t> Why might animals be used to teach a lesson?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914400"/>
            <a:ext cx="10332720" cy="914400"/>
          </a:xfrm>
          <a:prstGeom prst="rect">
            <a:avLst/>
          </a:prstGeom>
          <a:noFill/>
        </p:spPr>
        <p:txBody>
          <a:bodyPr wrap="none">
            <a:spAutoFit/>
          </a:bodyPr>
          <a:lstStyle/>
          <a:p>
            <a:pPr algn="ctr">
              <a:defRPr sz="3000" b="1">
                <a:solidFill>
                  <a:srgbClr val="57842D"/>
                </a:solidFill>
              </a:defRPr>
            </a:pPr>
            <a:r>
              <a:t>📚 FABLE FACT FILE</a:t>
            </a:r>
          </a:p>
        </p:txBody>
      </p:sp>
      <p:sp>
        <p:nvSpPr>
          <p:cNvPr id="3" name="TextBox 2"/>
          <p:cNvSpPr txBox="1"/>
          <p:nvPr/>
        </p:nvSpPr>
        <p:spPr>
          <a:xfrm>
            <a:off x="3003636" y="1828800"/>
            <a:ext cx="6154250" cy="523220"/>
          </a:xfrm>
          <a:prstGeom prst="rect">
            <a:avLst/>
          </a:prstGeom>
          <a:noFill/>
        </p:spPr>
        <p:txBody>
          <a:bodyPr wrap="none">
            <a:spAutoFit/>
          </a:bodyPr>
          <a:lstStyle/>
          <a:p>
            <a:pPr algn="ctr">
              <a:defRPr sz="1800">
                <a:solidFill>
                  <a:srgbClr val="464646"/>
                </a:solidFill>
              </a:defRPr>
            </a:pPr>
            <a:r>
              <a:rPr sz="2800" dirty="0"/>
              <a:t>Your quick guide to understanding fables</a:t>
            </a:r>
          </a:p>
        </p:txBody>
      </p:sp>
      <p:sp>
        <p:nvSpPr>
          <p:cNvPr id="4" name="Rounded Rectangle 3"/>
          <p:cNvSpPr/>
          <p:nvPr/>
        </p:nvSpPr>
        <p:spPr>
          <a:xfrm>
            <a:off x="640080" y="2743200"/>
            <a:ext cx="5303520" cy="2468880"/>
          </a:xfrm>
          <a:prstGeom prst="roundRect">
            <a:avLst/>
          </a:prstGeom>
          <a:solidFill>
            <a:srgbClr val="FFFFFF"/>
          </a:solidFill>
          <a:ln w="19050">
            <a:solidFill>
              <a:srgbClr val="7CAA3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7CAA3F"/>
                </a:solidFill>
              </a:defRPr>
            </a:pPr>
            <a:r>
              <a:rPr sz="2000" dirty="0"/>
              <a:t>WHAT IS A FABLE?</a:t>
            </a:r>
          </a:p>
          <a:p>
            <a:pPr>
              <a:defRPr sz="1400">
                <a:solidFill>
                  <a:srgbClr val="373737"/>
                </a:solidFill>
              </a:defRPr>
            </a:pPr>
            <a:r>
              <a:rPr sz="2000" dirty="0"/>
              <a:t>A fable is a short story that teaches a lesson or moral.</a:t>
            </a:r>
            <a:br>
              <a:rPr sz="2000" dirty="0"/>
            </a:br>
            <a:br>
              <a:rPr sz="2000" dirty="0"/>
            </a:br>
            <a:r>
              <a:rPr sz="2000" dirty="0"/>
              <a:t>Animals often act like people: they can speak, think, make choices and show human traits.</a:t>
            </a:r>
          </a:p>
        </p:txBody>
      </p:sp>
      <p:sp>
        <p:nvSpPr>
          <p:cNvPr id="5" name="Rounded Rectangle 4"/>
          <p:cNvSpPr/>
          <p:nvPr/>
        </p:nvSpPr>
        <p:spPr>
          <a:xfrm>
            <a:off x="6217920" y="2743200"/>
            <a:ext cx="5303520" cy="2468880"/>
          </a:xfrm>
          <a:prstGeom prst="roundRect">
            <a:avLst/>
          </a:prstGeom>
          <a:solidFill>
            <a:srgbClr val="FFFFFF"/>
          </a:solidFill>
          <a:ln w="19050">
            <a:solidFill>
              <a:srgbClr val="EB852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EB852C"/>
                </a:solidFill>
              </a:defRPr>
            </a:pPr>
            <a:r>
              <a:rPr sz="2000" dirty="0"/>
              <a:t>WHY ARE ANIMALS USED?</a:t>
            </a:r>
          </a:p>
          <a:p>
            <a:pPr>
              <a:defRPr sz="1400">
                <a:solidFill>
                  <a:srgbClr val="373737"/>
                </a:solidFill>
              </a:defRPr>
            </a:pPr>
            <a:r>
              <a:rPr sz="2000" dirty="0"/>
              <a:t>Animals can represent human qualities and </a:t>
            </a:r>
            <a:r>
              <a:rPr sz="2000" dirty="0" err="1"/>
              <a:t>behaviours</a:t>
            </a:r>
            <a:r>
              <a:rPr sz="2000" dirty="0"/>
              <a:t>.</a:t>
            </a:r>
            <a:br>
              <a:rPr sz="2000" dirty="0"/>
            </a:br>
            <a:br>
              <a:rPr sz="2000" dirty="0"/>
            </a:br>
            <a:r>
              <a:rPr sz="2000" dirty="0"/>
              <a:t>This makes the lesson simple, memorable and easier for the reader.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83488" y="457200"/>
            <a:ext cx="5594544" cy="584775"/>
          </a:xfrm>
          <a:prstGeom prst="rect">
            <a:avLst/>
          </a:prstGeom>
          <a:noFill/>
        </p:spPr>
        <p:txBody>
          <a:bodyPr wrap="none">
            <a:spAutoFit/>
          </a:bodyPr>
          <a:lstStyle/>
          <a:p>
            <a:pPr algn="ctr">
              <a:defRPr sz="3000" b="1">
                <a:solidFill>
                  <a:srgbClr val="57842D"/>
                </a:solidFill>
              </a:defRPr>
            </a:pPr>
            <a:r>
              <a:rPr sz="3200" dirty="0"/>
              <a:t>🔎 THE 6 FEATURES OF A FABLE</a:t>
            </a:r>
          </a:p>
        </p:txBody>
      </p:sp>
      <p:sp>
        <p:nvSpPr>
          <p:cNvPr id="3" name="TextBox 2"/>
          <p:cNvSpPr txBox="1"/>
          <p:nvPr/>
        </p:nvSpPr>
        <p:spPr>
          <a:xfrm>
            <a:off x="2750361" y="1211580"/>
            <a:ext cx="6660798" cy="461665"/>
          </a:xfrm>
          <a:prstGeom prst="rect">
            <a:avLst/>
          </a:prstGeom>
          <a:noFill/>
        </p:spPr>
        <p:txBody>
          <a:bodyPr wrap="none">
            <a:spAutoFit/>
          </a:bodyPr>
          <a:lstStyle/>
          <a:p>
            <a:pPr algn="ctr">
              <a:defRPr sz="1800">
                <a:solidFill>
                  <a:srgbClr val="464646"/>
                </a:solidFill>
              </a:defRPr>
            </a:pPr>
            <a:r>
              <a:rPr sz="2400" dirty="0"/>
              <a:t>Use these features as your Fable Detective checklist</a:t>
            </a:r>
          </a:p>
        </p:txBody>
      </p:sp>
      <p:sp>
        <p:nvSpPr>
          <p:cNvPr id="4" name="Rounded Rectangle 3"/>
          <p:cNvSpPr/>
          <p:nvPr/>
        </p:nvSpPr>
        <p:spPr>
          <a:xfrm>
            <a:off x="594360" y="2057400"/>
            <a:ext cx="3063240" cy="1600200"/>
          </a:xfrm>
          <a:prstGeom prst="roundRect">
            <a:avLst/>
          </a:prstGeom>
          <a:solidFill>
            <a:srgbClr val="FFFFFF"/>
          </a:solidFill>
          <a:ln w="19050">
            <a:solidFill>
              <a:srgbClr val="7CAA3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7CAA3F"/>
                </a:solidFill>
              </a:defRPr>
            </a:pPr>
            <a:r>
              <a:rPr sz="2400" dirty="0"/>
              <a:t>🐜 1. Characters</a:t>
            </a:r>
          </a:p>
          <a:p>
            <a:pPr>
              <a:defRPr sz="1400">
                <a:solidFill>
                  <a:srgbClr val="373737"/>
                </a:solidFill>
              </a:defRPr>
            </a:pPr>
            <a:r>
              <a:rPr sz="2400" dirty="0"/>
              <a:t>Animals often behave like people and show human traits</a:t>
            </a:r>
            <a:r>
              <a:rPr dirty="0"/>
              <a:t>.</a:t>
            </a:r>
          </a:p>
        </p:txBody>
      </p:sp>
      <p:sp>
        <p:nvSpPr>
          <p:cNvPr id="5" name="Rounded Rectangle 4"/>
          <p:cNvSpPr/>
          <p:nvPr/>
        </p:nvSpPr>
        <p:spPr>
          <a:xfrm>
            <a:off x="3977639" y="2071062"/>
            <a:ext cx="3063240" cy="1600200"/>
          </a:xfrm>
          <a:prstGeom prst="roundRect">
            <a:avLst/>
          </a:prstGeom>
          <a:solidFill>
            <a:srgbClr val="FFFFFF"/>
          </a:solidFill>
          <a:ln w="19050">
            <a:solidFill>
              <a:srgbClr val="7CAA3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7CAA3F"/>
                </a:solidFill>
              </a:defRPr>
            </a:pPr>
            <a:r>
              <a:rPr sz="2400" dirty="0"/>
              <a:t>⚠️ 2. A Problem</a:t>
            </a:r>
          </a:p>
          <a:p>
            <a:pPr>
              <a:defRPr sz="1400">
                <a:solidFill>
                  <a:srgbClr val="373737"/>
                </a:solidFill>
              </a:defRPr>
            </a:pPr>
            <a:r>
              <a:rPr sz="2400" dirty="0"/>
              <a:t>A challenge or conflict gives the story a purpose</a:t>
            </a:r>
            <a:r>
              <a:rPr sz="2000" dirty="0"/>
              <a:t>.</a:t>
            </a:r>
          </a:p>
        </p:txBody>
      </p:sp>
      <p:sp>
        <p:nvSpPr>
          <p:cNvPr id="6" name="Rounded Rectangle 5"/>
          <p:cNvSpPr/>
          <p:nvPr/>
        </p:nvSpPr>
        <p:spPr>
          <a:xfrm>
            <a:off x="7360920" y="2057400"/>
            <a:ext cx="3908442" cy="1600200"/>
          </a:xfrm>
          <a:prstGeom prst="roundRect">
            <a:avLst/>
          </a:prstGeom>
          <a:solidFill>
            <a:srgbClr val="FFFFFF"/>
          </a:solidFill>
          <a:ln w="19050">
            <a:solidFill>
              <a:srgbClr val="7CAA3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7CAA3F"/>
                </a:solidFill>
              </a:defRPr>
            </a:pPr>
            <a:r>
              <a:rPr sz="2400" dirty="0"/>
              <a:t>🎯 3. Choices</a:t>
            </a:r>
          </a:p>
          <a:p>
            <a:pPr>
              <a:defRPr sz="1400">
                <a:solidFill>
                  <a:srgbClr val="373737"/>
                </a:solidFill>
              </a:defRPr>
            </a:pPr>
            <a:r>
              <a:rPr sz="2400" dirty="0"/>
              <a:t>Characters make decisions; their choices affect what happens next.</a:t>
            </a:r>
          </a:p>
        </p:txBody>
      </p:sp>
      <p:sp>
        <p:nvSpPr>
          <p:cNvPr id="7" name="Rounded Rectangle 6"/>
          <p:cNvSpPr/>
          <p:nvPr/>
        </p:nvSpPr>
        <p:spPr>
          <a:xfrm>
            <a:off x="594360" y="4069080"/>
            <a:ext cx="3063240" cy="1600200"/>
          </a:xfrm>
          <a:prstGeom prst="roundRect">
            <a:avLst/>
          </a:prstGeom>
          <a:solidFill>
            <a:srgbClr val="FFFFFF"/>
          </a:solidFill>
          <a:ln w="19050">
            <a:solidFill>
              <a:srgbClr val="7CAA3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7CAA3F"/>
                </a:solidFill>
              </a:defRPr>
            </a:pPr>
            <a:r>
              <a:rPr sz="2400" dirty="0"/>
              <a:t>🔗 4. Cause → Consequence</a:t>
            </a:r>
          </a:p>
          <a:p>
            <a:pPr>
              <a:defRPr sz="1400">
                <a:solidFill>
                  <a:srgbClr val="373737"/>
                </a:solidFill>
              </a:defRPr>
            </a:pPr>
            <a:r>
              <a:rPr sz="2400" dirty="0"/>
              <a:t>An action or choice leads to a result.</a:t>
            </a:r>
          </a:p>
        </p:txBody>
      </p:sp>
      <p:sp>
        <p:nvSpPr>
          <p:cNvPr id="8" name="Rounded Rectangle 7"/>
          <p:cNvSpPr/>
          <p:nvPr/>
        </p:nvSpPr>
        <p:spPr>
          <a:xfrm>
            <a:off x="3977639" y="4069080"/>
            <a:ext cx="3063240" cy="1600200"/>
          </a:xfrm>
          <a:prstGeom prst="roundRect">
            <a:avLst/>
          </a:prstGeom>
          <a:solidFill>
            <a:srgbClr val="FFFFFF"/>
          </a:solidFill>
          <a:ln w="19050">
            <a:solidFill>
              <a:srgbClr val="7CAA3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7CAA3F"/>
                </a:solidFill>
              </a:defRPr>
            </a:pPr>
            <a:r>
              <a:rPr sz="2400" dirty="0"/>
              <a:t>💡 5. Moral</a:t>
            </a:r>
          </a:p>
          <a:p>
            <a:pPr>
              <a:defRPr sz="1400">
                <a:solidFill>
                  <a:srgbClr val="373737"/>
                </a:solidFill>
              </a:defRPr>
            </a:pPr>
            <a:r>
              <a:rPr sz="2400" dirty="0"/>
              <a:t>The story teaches a lesson about </a:t>
            </a:r>
            <a:r>
              <a:rPr sz="2400" dirty="0" err="1"/>
              <a:t>behaviour</a:t>
            </a:r>
            <a:r>
              <a:rPr sz="2400" dirty="0"/>
              <a:t> or life.</a:t>
            </a:r>
          </a:p>
        </p:txBody>
      </p:sp>
      <p:sp>
        <p:nvSpPr>
          <p:cNvPr id="9" name="Rounded Rectangle 8"/>
          <p:cNvSpPr/>
          <p:nvPr/>
        </p:nvSpPr>
        <p:spPr>
          <a:xfrm>
            <a:off x="7249709" y="4072787"/>
            <a:ext cx="4143221" cy="1600200"/>
          </a:xfrm>
          <a:prstGeom prst="roundRect">
            <a:avLst/>
          </a:prstGeom>
          <a:solidFill>
            <a:srgbClr val="FFFFFF"/>
          </a:solidFill>
          <a:ln w="19050">
            <a:solidFill>
              <a:srgbClr val="7CAA3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7CAA3F"/>
                </a:solidFill>
              </a:defRPr>
            </a:pPr>
            <a:r>
              <a:rPr sz="2400" dirty="0"/>
              <a:t>🧠 6. Human Traits</a:t>
            </a:r>
          </a:p>
          <a:p>
            <a:pPr>
              <a:defRPr sz="1400">
                <a:solidFill>
                  <a:srgbClr val="373737"/>
                </a:solidFill>
              </a:defRPr>
            </a:pPr>
            <a:r>
              <a:rPr sz="2400" dirty="0"/>
              <a:t>Characters can represent qualities such as hard work, carelessness or responsibility.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7EF"/>
        </a:solidFill>
        <a:effectLst/>
      </p:bgPr>
    </p:bg>
    <p:spTree>
      <p:nvGrpSpPr>
        <p:cNvPr id="1" name=""/>
        <p:cNvGrpSpPr/>
        <p:nvPr/>
      </p:nvGrpSpPr>
      <p:grpSpPr>
        <a:xfrm>
          <a:off x="0" y="0"/>
          <a:ext cx="0" cy="0"/>
          <a:chOff x="0" y="0"/>
          <a:chExt cx="0" cy="0"/>
        </a:xfrm>
      </p:grpSpPr>
      <p:sp>
        <p:nvSpPr>
          <p:cNvPr id="2" name="TextBox 1"/>
          <p:cNvSpPr txBox="1"/>
          <p:nvPr/>
        </p:nvSpPr>
        <p:spPr>
          <a:xfrm>
            <a:off x="594360" y="292608"/>
            <a:ext cx="3657600" cy="256032"/>
          </a:xfrm>
          <a:prstGeom prst="rect">
            <a:avLst/>
          </a:prstGeom>
          <a:noFill/>
        </p:spPr>
        <p:txBody>
          <a:bodyPr wrap="square" lIns="27432" tIns="27432" rIns="27432" bIns="27432" anchor="t">
            <a:spAutoFit/>
          </a:bodyPr>
          <a:lstStyle/>
          <a:p>
            <a:pPr algn="l">
              <a:lnSpc>
                <a:spcPct val="100000"/>
              </a:lnSpc>
            </a:pPr>
            <a:r>
              <a:rPr sz="1000" b="1">
                <a:solidFill>
                  <a:srgbClr val="3A7757"/>
                </a:solidFill>
                <a:latin typeface="Aptos"/>
              </a:rPr>
              <a:t>READ • LISTEN • NOTICE</a:t>
            </a:r>
          </a:p>
        </p:txBody>
      </p:sp>
      <p:sp>
        <p:nvSpPr>
          <p:cNvPr id="3" name="TextBox 2"/>
          <p:cNvSpPr txBox="1"/>
          <p:nvPr/>
        </p:nvSpPr>
        <p:spPr>
          <a:xfrm>
            <a:off x="594360" y="603504"/>
            <a:ext cx="10515600" cy="640080"/>
          </a:xfrm>
          <a:prstGeom prst="rect">
            <a:avLst/>
          </a:prstGeom>
          <a:noFill/>
        </p:spPr>
        <p:txBody>
          <a:bodyPr wrap="square" lIns="27432" tIns="27432" rIns="27432" bIns="27432" anchor="t">
            <a:spAutoFit/>
          </a:bodyPr>
          <a:lstStyle/>
          <a:p>
            <a:pPr algn="l">
              <a:lnSpc>
                <a:spcPct val="100000"/>
              </a:lnSpc>
            </a:pPr>
            <a:r>
              <a:rPr sz="2800" b="1">
                <a:solidFill>
                  <a:srgbClr val="1F5340"/>
                </a:solidFill>
                <a:latin typeface="Aptos Display"/>
              </a:rPr>
              <a:t>The Ant &amp; the Grasshopper — Part 1</a:t>
            </a:r>
          </a:p>
        </p:txBody>
      </p:sp>
      <p:sp>
        <p:nvSpPr>
          <p:cNvPr id="4" name="Oval 3"/>
          <p:cNvSpPr/>
          <p:nvPr/>
        </p:nvSpPr>
        <p:spPr>
          <a:xfrm>
            <a:off x="11155680" y="320040"/>
            <a:ext cx="438912" cy="438912"/>
          </a:xfrm>
          <a:prstGeom prst="ellipse">
            <a:avLst/>
          </a:prstGeom>
          <a:solidFill>
            <a:srgbClr val="1F5340"/>
          </a:solidFill>
          <a:ln>
            <a:solidFill>
              <a:srgbClr val="1F53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155680" y="356616"/>
            <a:ext cx="438912" cy="310896"/>
          </a:xfrm>
          <a:prstGeom prst="rect">
            <a:avLst/>
          </a:prstGeom>
          <a:noFill/>
        </p:spPr>
        <p:txBody>
          <a:bodyPr wrap="square" lIns="27432" tIns="27432" rIns="27432" bIns="27432" anchor="ctr">
            <a:spAutoFit/>
          </a:bodyPr>
          <a:lstStyle/>
          <a:p>
            <a:pPr algn="ctr">
              <a:lnSpc>
                <a:spcPct val="100000"/>
              </a:lnSpc>
            </a:pPr>
            <a:r>
              <a:t>5</a:t>
            </a:r>
          </a:p>
        </p:txBody>
      </p:sp>
      <p:sp>
        <p:nvSpPr>
          <p:cNvPr id="6" name="Rectangle 5"/>
          <p:cNvSpPr/>
          <p:nvPr/>
        </p:nvSpPr>
        <p:spPr>
          <a:xfrm>
            <a:off x="594360" y="1353312"/>
            <a:ext cx="914400" cy="64008"/>
          </a:xfrm>
          <a:prstGeom prst="rect">
            <a:avLst/>
          </a:prstGeom>
          <a:solidFill>
            <a:srgbClr val="F4BE41"/>
          </a:solidFill>
          <a:ln>
            <a:solidFill>
              <a:srgbClr val="F4BE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77240" y="1572768"/>
            <a:ext cx="3474720" cy="384048"/>
          </a:xfrm>
          <a:prstGeom prst="roundRect">
            <a:avLst/>
          </a:prstGeom>
          <a:solidFill>
            <a:srgbClr val="E1EFE4"/>
          </a:solidFill>
          <a:ln w="15240">
            <a:solidFill>
              <a:srgbClr val="E1E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1632269"/>
            <a:ext cx="4093072" cy="301621"/>
          </a:xfrm>
          <a:prstGeom prst="rect">
            <a:avLst/>
          </a:prstGeom>
          <a:noFill/>
        </p:spPr>
        <p:txBody>
          <a:bodyPr wrap="square" lIns="27432" tIns="27432" rIns="27432" bIns="27432" anchor="ctr">
            <a:spAutoFit/>
          </a:bodyPr>
          <a:lstStyle/>
          <a:p>
            <a:pPr algn="ctr">
              <a:lnSpc>
                <a:spcPct val="100000"/>
              </a:lnSpc>
            </a:pPr>
            <a:r>
              <a:rPr sz="1600" b="1" dirty="0">
                <a:solidFill>
                  <a:srgbClr val="1F5340"/>
                </a:solidFill>
                <a:latin typeface="Aptos"/>
              </a:rPr>
              <a:t>FIRST READ: Listen only. No writing yet.</a:t>
            </a:r>
          </a:p>
        </p:txBody>
      </p:sp>
      <p:sp>
        <p:nvSpPr>
          <p:cNvPr id="9" name="Rounded Rectangle 8"/>
          <p:cNvSpPr/>
          <p:nvPr/>
        </p:nvSpPr>
        <p:spPr>
          <a:xfrm>
            <a:off x="395415" y="2148840"/>
            <a:ext cx="11796585" cy="3520440"/>
          </a:xfrm>
          <a:prstGeom prst="roundRect">
            <a:avLst/>
          </a:prstGeom>
          <a:solidFill>
            <a:srgbClr val="FFFFFF"/>
          </a:solidFill>
          <a:ln w="1524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94270" y="2340864"/>
            <a:ext cx="11697730" cy="3010055"/>
          </a:xfrm>
          <a:prstGeom prst="rect">
            <a:avLst/>
          </a:prstGeom>
          <a:noFill/>
        </p:spPr>
        <p:txBody>
          <a:bodyPr wrap="square" lIns="27432" tIns="27432" rIns="27432" bIns="27432" anchor="t">
            <a:spAutoFit/>
          </a:bodyPr>
          <a:lstStyle/>
          <a:p>
            <a:pPr algn="l">
              <a:lnSpc>
                <a:spcPct val="100000"/>
              </a:lnSpc>
            </a:pPr>
            <a:r>
              <a:rPr sz="2400" b="0" dirty="0">
                <a:solidFill>
                  <a:srgbClr val="262B2A"/>
                </a:solidFill>
                <a:latin typeface="Aptos"/>
              </a:rPr>
              <a:t>During the warm summer months, an Ant worked from morning until evening. She carried </a:t>
            </a:r>
            <a:r>
              <a:rPr sz="2400" b="1" dirty="0">
                <a:solidFill>
                  <a:srgbClr val="262B2A"/>
                </a:solidFill>
                <a:latin typeface="Aptos"/>
              </a:rPr>
              <a:t>grains</a:t>
            </a:r>
            <a:r>
              <a:rPr sz="2400" b="0" dirty="0">
                <a:solidFill>
                  <a:srgbClr val="262B2A"/>
                </a:solidFill>
                <a:latin typeface="Aptos"/>
              </a:rPr>
              <a:t> back to her nest and </a:t>
            </a:r>
            <a:r>
              <a:rPr sz="2400" b="1" dirty="0">
                <a:solidFill>
                  <a:srgbClr val="262B2A"/>
                </a:solidFill>
                <a:latin typeface="Aptos"/>
              </a:rPr>
              <a:t>stored</a:t>
            </a:r>
            <a:r>
              <a:rPr sz="2400" b="0" dirty="0">
                <a:solidFill>
                  <a:srgbClr val="262B2A"/>
                </a:solidFill>
                <a:latin typeface="Aptos"/>
              </a:rPr>
              <a:t> them carefully. Nearby, a Grasshopper sang, danced and enjoyed the sunshine.
“Why are you working so hard?” he asked.
“Winter will come,” replied the Ant. “I want to make sure I have enough food.”
The Grasshopper laughed. “There is plenty of time. Come and enjoy the summer!”</a:t>
            </a:r>
          </a:p>
        </p:txBody>
      </p:sp>
      <p:sp>
        <p:nvSpPr>
          <p:cNvPr id="11" name="TextBox 10"/>
          <p:cNvSpPr txBox="1"/>
          <p:nvPr/>
        </p:nvSpPr>
        <p:spPr>
          <a:xfrm>
            <a:off x="1005840" y="6079152"/>
            <a:ext cx="9875520" cy="332399"/>
          </a:xfrm>
          <a:prstGeom prst="rect">
            <a:avLst/>
          </a:prstGeom>
          <a:noFill/>
        </p:spPr>
        <p:txBody>
          <a:bodyPr wrap="square" lIns="27432" tIns="27432" rIns="27432" bIns="27432" anchor="t">
            <a:spAutoFit/>
          </a:bodyPr>
          <a:lstStyle/>
          <a:p>
            <a:pPr algn="ctr">
              <a:lnSpc>
                <a:spcPct val="100000"/>
              </a:lnSpc>
            </a:pPr>
            <a:r>
              <a:rPr dirty="0"/>
              <a:t>👀 </a:t>
            </a:r>
            <a:r>
              <a:rPr b="1" dirty="0"/>
              <a:t>NOTICE</a:t>
            </a:r>
            <a:r>
              <a:rPr dirty="0"/>
              <a:t>: grains • stored • prepare — use the sentence to work out the meaning.</a:t>
            </a:r>
          </a:p>
        </p:txBody>
      </p:sp>
      <p:sp>
        <p:nvSpPr>
          <p:cNvPr id="12" name="TextBox 11"/>
          <p:cNvSpPr txBox="1"/>
          <p:nvPr/>
        </p:nvSpPr>
        <p:spPr>
          <a:xfrm>
            <a:off x="621792" y="6519672"/>
            <a:ext cx="6400800" cy="182880"/>
          </a:xfrm>
          <a:prstGeom prst="rect">
            <a:avLst/>
          </a:prstGeom>
          <a:noFill/>
        </p:spPr>
        <p:txBody>
          <a:bodyPr wrap="square" lIns="27432" tIns="27432" rIns="27432" bIns="27432" anchor="t">
            <a:spAutoFit/>
          </a:bodyPr>
          <a:lstStyle/>
          <a:p>
            <a:pPr algn="l">
              <a:lnSpc>
                <a:spcPct val="100000"/>
              </a:lnSpc>
            </a:pPr>
            <a:r>
              <a:rPr sz="800" b="1">
                <a:solidFill>
                  <a:srgbClr val="666C67"/>
                </a:solidFill>
                <a:latin typeface="Aptos"/>
              </a:rPr>
              <a:t>YEAR 5 • UNIT 1 • THE ANT &amp; THE GRASSHOPPER</a:t>
            </a:r>
          </a:p>
        </p:txBody>
      </p:sp>
      <p:sp>
        <p:nvSpPr>
          <p:cNvPr id="13" name="Oval 12"/>
          <p:cNvSpPr/>
          <p:nvPr/>
        </p:nvSpPr>
        <p:spPr>
          <a:xfrm>
            <a:off x="11201400" y="6510528"/>
            <a:ext cx="91440" cy="91440"/>
          </a:xfrm>
          <a:prstGeom prst="ellipse">
            <a:avLst/>
          </a:prstGeom>
          <a:solidFill>
            <a:srgbClr val="F4BE41"/>
          </a:solidFill>
          <a:ln>
            <a:solidFill>
              <a:srgbClr val="F4BE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11402568" y="6510528"/>
            <a:ext cx="91440" cy="91440"/>
          </a:xfrm>
          <a:prstGeom prst="ellipse">
            <a:avLst/>
          </a:prstGeom>
          <a:solidFill>
            <a:srgbClr val="DD6952"/>
          </a:solidFill>
          <a:ln>
            <a:solidFill>
              <a:srgbClr val="DD69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1603736" y="6510528"/>
            <a:ext cx="91440" cy="91440"/>
          </a:xfrm>
          <a:prstGeom prst="ellipse">
            <a:avLst/>
          </a:prstGeom>
          <a:solidFill>
            <a:srgbClr val="3A7757"/>
          </a:solidFill>
          <a:ln>
            <a:solidFill>
              <a:srgbClr val="3A77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10378440" y="6053328"/>
            <a:ext cx="1188720" cy="384048"/>
          </a:xfrm>
          <a:prstGeom prst="roundRect">
            <a:avLst/>
          </a:prstGeom>
          <a:solidFill>
            <a:srgbClr val="FFF4CD"/>
          </a:solidFill>
          <a:ln w="15240">
            <a:solidFill>
              <a:srgbClr val="FFF4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424160" y="6099048"/>
            <a:ext cx="1097280" cy="274320"/>
          </a:xfrm>
          <a:prstGeom prst="rect">
            <a:avLst/>
          </a:prstGeom>
          <a:noFill/>
        </p:spPr>
        <p:txBody>
          <a:bodyPr wrap="square" lIns="27432" tIns="27432" rIns="27432" bIns="27432" anchor="ctr">
            <a:spAutoFit/>
          </a:bodyPr>
          <a:lstStyle/>
          <a:p>
            <a:pPr algn="ctr">
              <a:lnSpc>
                <a:spcPct val="100000"/>
              </a:lnSpc>
            </a:pPr>
            <a:r>
              <a:t>⏱ 4 min</a:t>
            </a:r>
          </a:p>
        </p:txBody>
      </p:sp>
      <p:sp>
        <p:nvSpPr>
          <p:cNvPr id="19" name="TextBox 18">
            <a:extLst>
              <a:ext uri="{FF2B5EF4-FFF2-40B4-BE49-F238E27FC236}">
                <a16:creationId xmlns:a16="http://schemas.microsoft.com/office/drawing/2014/main" id="{22A4C0DF-4810-8EFA-5689-18185B31A0CC}"/>
              </a:ext>
            </a:extLst>
          </p:cNvPr>
          <p:cNvSpPr txBox="1"/>
          <p:nvPr/>
        </p:nvSpPr>
        <p:spPr>
          <a:xfrm>
            <a:off x="2514600" y="5716489"/>
            <a:ext cx="6097508" cy="307777"/>
          </a:xfrm>
          <a:prstGeom prst="rect">
            <a:avLst/>
          </a:prstGeom>
          <a:noFill/>
        </p:spPr>
        <p:txBody>
          <a:bodyPr wrap="square">
            <a:spAutoFit/>
          </a:bodyPr>
          <a:lstStyle/>
          <a:p>
            <a:pPr algn="ctr">
              <a:lnSpc>
                <a:spcPct val="100000"/>
              </a:lnSpc>
            </a:pPr>
            <a:r>
              <a:rPr lang="en-US" sz="1400" b="1" dirty="0">
                <a:solidFill>
                  <a:srgbClr val="DD6952"/>
                </a:solidFill>
                <a:latin typeface="Aptos"/>
              </a:rPr>
              <a:t>👂 Listen for: WHAT do they do? WHY do they do it?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7EF"/>
        </a:solidFill>
        <a:effectLst/>
      </p:bgPr>
    </p:bg>
    <p:spTree>
      <p:nvGrpSpPr>
        <p:cNvPr id="1" name=""/>
        <p:cNvGrpSpPr/>
        <p:nvPr/>
      </p:nvGrpSpPr>
      <p:grpSpPr>
        <a:xfrm>
          <a:off x="0" y="0"/>
          <a:ext cx="0" cy="0"/>
          <a:chOff x="0" y="0"/>
          <a:chExt cx="0" cy="0"/>
        </a:xfrm>
      </p:grpSpPr>
      <p:sp>
        <p:nvSpPr>
          <p:cNvPr id="2" name="TextBox 1"/>
          <p:cNvSpPr txBox="1"/>
          <p:nvPr/>
        </p:nvSpPr>
        <p:spPr>
          <a:xfrm>
            <a:off x="594360" y="292608"/>
            <a:ext cx="3657600" cy="256032"/>
          </a:xfrm>
          <a:prstGeom prst="rect">
            <a:avLst/>
          </a:prstGeom>
          <a:noFill/>
        </p:spPr>
        <p:txBody>
          <a:bodyPr wrap="square" lIns="27432" tIns="27432" rIns="27432" bIns="27432" anchor="t">
            <a:spAutoFit/>
          </a:bodyPr>
          <a:lstStyle/>
          <a:p>
            <a:pPr algn="l">
              <a:lnSpc>
                <a:spcPct val="100000"/>
              </a:lnSpc>
            </a:pPr>
            <a:r>
              <a:rPr sz="1000" b="1">
                <a:solidFill>
                  <a:srgbClr val="3A7757"/>
                </a:solidFill>
                <a:latin typeface="Aptos"/>
              </a:rPr>
              <a:t>READ • LISTEN • NOTICE</a:t>
            </a:r>
          </a:p>
        </p:txBody>
      </p:sp>
      <p:sp>
        <p:nvSpPr>
          <p:cNvPr id="3" name="TextBox 2"/>
          <p:cNvSpPr txBox="1"/>
          <p:nvPr/>
        </p:nvSpPr>
        <p:spPr>
          <a:xfrm>
            <a:off x="594360" y="603504"/>
            <a:ext cx="10515600" cy="640080"/>
          </a:xfrm>
          <a:prstGeom prst="rect">
            <a:avLst/>
          </a:prstGeom>
          <a:noFill/>
        </p:spPr>
        <p:txBody>
          <a:bodyPr wrap="square" lIns="27432" tIns="27432" rIns="27432" bIns="27432" anchor="t">
            <a:spAutoFit/>
          </a:bodyPr>
          <a:lstStyle/>
          <a:p>
            <a:pPr algn="l">
              <a:lnSpc>
                <a:spcPct val="100000"/>
              </a:lnSpc>
            </a:pPr>
            <a:r>
              <a:rPr sz="2800" b="1">
                <a:solidFill>
                  <a:srgbClr val="1F5340"/>
                </a:solidFill>
                <a:latin typeface="Aptos Display"/>
              </a:rPr>
              <a:t>The Ant &amp; the Grasshopper — Part 2</a:t>
            </a:r>
          </a:p>
        </p:txBody>
      </p:sp>
      <p:sp>
        <p:nvSpPr>
          <p:cNvPr id="4" name="Oval 3"/>
          <p:cNvSpPr/>
          <p:nvPr/>
        </p:nvSpPr>
        <p:spPr>
          <a:xfrm>
            <a:off x="11155680" y="320040"/>
            <a:ext cx="438912" cy="438912"/>
          </a:xfrm>
          <a:prstGeom prst="ellipse">
            <a:avLst/>
          </a:prstGeom>
          <a:solidFill>
            <a:srgbClr val="1F5340"/>
          </a:solidFill>
          <a:ln>
            <a:solidFill>
              <a:srgbClr val="1F53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155680" y="356616"/>
            <a:ext cx="438912" cy="310896"/>
          </a:xfrm>
          <a:prstGeom prst="rect">
            <a:avLst/>
          </a:prstGeom>
          <a:noFill/>
        </p:spPr>
        <p:txBody>
          <a:bodyPr wrap="square" lIns="27432" tIns="27432" rIns="27432" bIns="27432" anchor="ctr">
            <a:spAutoFit/>
          </a:bodyPr>
          <a:lstStyle/>
          <a:p>
            <a:pPr algn="ctr">
              <a:lnSpc>
                <a:spcPct val="100000"/>
              </a:lnSpc>
            </a:pPr>
            <a:r>
              <a:t>6</a:t>
            </a:r>
          </a:p>
        </p:txBody>
      </p:sp>
      <p:sp>
        <p:nvSpPr>
          <p:cNvPr id="6" name="Rectangle 5"/>
          <p:cNvSpPr/>
          <p:nvPr/>
        </p:nvSpPr>
        <p:spPr>
          <a:xfrm>
            <a:off x="594360" y="1353312"/>
            <a:ext cx="914400" cy="64008"/>
          </a:xfrm>
          <a:prstGeom prst="rect">
            <a:avLst/>
          </a:prstGeom>
          <a:solidFill>
            <a:srgbClr val="F4BE41"/>
          </a:solidFill>
          <a:ln>
            <a:solidFill>
              <a:srgbClr val="F4BE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77240" y="1572768"/>
            <a:ext cx="10652760" cy="4251960"/>
          </a:xfrm>
          <a:prstGeom prst="roundRect">
            <a:avLst/>
          </a:prstGeom>
          <a:solidFill>
            <a:srgbClr val="FFFFFF"/>
          </a:solidFill>
          <a:ln w="1524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1874519"/>
            <a:ext cx="10789920" cy="3010055"/>
          </a:xfrm>
          <a:prstGeom prst="rect">
            <a:avLst/>
          </a:prstGeom>
          <a:noFill/>
        </p:spPr>
        <p:txBody>
          <a:bodyPr wrap="square" lIns="27432" tIns="27432" rIns="27432" bIns="27432" anchor="t">
            <a:spAutoFit/>
          </a:bodyPr>
          <a:lstStyle/>
          <a:p>
            <a:pPr algn="l">
              <a:lnSpc>
                <a:spcPct val="100000"/>
              </a:lnSpc>
            </a:pPr>
            <a:r>
              <a:rPr sz="2400" b="0" dirty="0">
                <a:solidFill>
                  <a:srgbClr val="262B2A"/>
                </a:solidFill>
                <a:latin typeface="Aptos"/>
              </a:rPr>
              <a:t>The Ant continued working.
Weeks passed. The weather became cold and the fields were covered with frost. The Grasshopper searched for food, but he could not find enough. Hungry and tired, he remembered the Ant.
The Ant had food because she had </a:t>
            </a:r>
            <a:r>
              <a:rPr sz="2400" b="1" dirty="0">
                <a:solidFill>
                  <a:srgbClr val="262B2A"/>
                </a:solidFill>
                <a:latin typeface="Aptos"/>
              </a:rPr>
              <a:t>prepared</a:t>
            </a:r>
            <a:r>
              <a:rPr sz="2400" b="0" dirty="0">
                <a:solidFill>
                  <a:srgbClr val="262B2A"/>
                </a:solidFill>
                <a:latin typeface="Aptos"/>
              </a:rPr>
              <a:t> for winter. The Grasshopper had nothing because he had spent the summer playing instead of preparing.</a:t>
            </a:r>
          </a:p>
        </p:txBody>
      </p:sp>
      <p:sp>
        <p:nvSpPr>
          <p:cNvPr id="9" name="Rounded Rectangle 8"/>
          <p:cNvSpPr/>
          <p:nvPr/>
        </p:nvSpPr>
        <p:spPr>
          <a:xfrm>
            <a:off x="2034540" y="5258103"/>
            <a:ext cx="8138160" cy="594360"/>
          </a:xfrm>
          <a:prstGeom prst="roundRect">
            <a:avLst/>
          </a:prstGeom>
          <a:solidFill>
            <a:srgbClr val="FFF4CD"/>
          </a:solidFill>
          <a:ln w="15240">
            <a:solidFill>
              <a:srgbClr val="FFF4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240280" y="5206077"/>
            <a:ext cx="7680960" cy="424732"/>
          </a:xfrm>
          <a:prstGeom prst="rect">
            <a:avLst/>
          </a:prstGeom>
          <a:noFill/>
        </p:spPr>
        <p:txBody>
          <a:bodyPr wrap="square" lIns="27432" tIns="27432" rIns="27432" bIns="27432" anchor="t">
            <a:spAutoFit/>
          </a:bodyPr>
          <a:lstStyle/>
          <a:p>
            <a:pPr algn="ctr">
              <a:lnSpc>
                <a:spcPct val="100000"/>
              </a:lnSpc>
            </a:pPr>
            <a:r>
              <a:rPr sz="2400" b="1" dirty="0"/>
              <a:t>STOP</a:t>
            </a:r>
            <a:r>
              <a:rPr sz="2400" dirty="0"/>
              <a:t>: What changed? What caused the problem? </a:t>
            </a:r>
            <a:endParaRPr lang="en-US" sz="2400" dirty="0"/>
          </a:p>
        </p:txBody>
      </p:sp>
      <p:sp>
        <p:nvSpPr>
          <p:cNvPr id="11" name="TextBox 10"/>
          <p:cNvSpPr txBox="1"/>
          <p:nvPr/>
        </p:nvSpPr>
        <p:spPr>
          <a:xfrm>
            <a:off x="621792" y="6519672"/>
            <a:ext cx="6400800" cy="182880"/>
          </a:xfrm>
          <a:prstGeom prst="rect">
            <a:avLst/>
          </a:prstGeom>
          <a:noFill/>
        </p:spPr>
        <p:txBody>
          <a:bodyPr wrap="square" lIns="27432" tIns="27432" rIns="27432" bIns="27432" anchor="t">
            <a:spAutoFit/>
          </a:bodyPr>
          <a:lstStyle/>
          <a:p>
            <a:pPr algn="l">
              <a:lnSpc>
                <a:spcPct val="100000"/>
              </a:lnSpc>
            </a:pPr>
            <a:r>
              <a:rPr sz="800" b="1">
                <a:solidFill>
                  <a:srgbClr val="666C67"/>
                </a:solidFill>
                <a:latin typeface="Aptos"/>
              </a:rPr>
              <a:t>YEAR 5 • UNIT 1 • THE ANT &amp; THE GRASSHOPPER</a:t>
            </a:r>
          </a:p>
        </p:txBody>
      </p:sp>
      <p:sp>
        <p:nvSpPr>
          <p:cNvPr id="12" name="Oval 11"/>
          <p:cNvSpPr/>
          <p:nvPr/>
        </p:nvSpPr>
        <p:spPr>
          <a:xfrm>
            <a:off x="11201400" y="6510528"/>
            <a:ext cx="91440" cy="91440"/>
          </a:xfrm>
          <a:prstGeom prst="ellipse">
            <a:avLst/>
          </a:prstGeom>
          <a:solidFill>
            <a:srgbClr val="F4BE41"/>
          </a:solidFill>
          <a:ln>
            <a:solidFill>
              <a:srgbClr val="F4BE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11402568" y="6510528"/>
            <a:ext cx="91440" cy="91440"/>
          </a:xfrm>
          <a:prstGeom prst="ellipse">
            <a:avLst/>
          </a:prstGeom>
          <a:solidFill>
            <a:srgbClr val="DD6952"/>
          </a:solidFill>
          <a:ln>
            <a:solidFill>
              <a:srgbClr val="DD69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11603736" y="6510528"/>
            <a:ext cx="91440" cy="91440"/>
          </a:xfrm>
          <a:prstGeom prst="ellipse">
            <a:avLst/>
          </a:prstGeom>
          <a:solidFill>
            <a:srgbClr val="3A7757"/>
          </a:solidFill>
          <a:ln>
            <a:solidFill>
              <a:srgbClr val="3A77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10378440" y="6053328"/>
            <a:ext cx="1188720" cy="384048"/>
          </a:xfrm>
          <a:prstGeom prst="roundRect">
            <a:avLst/>
          </a:prstGeom>
          <a:solidFill>
            <a:srgbClr val="FFF4CD"/>
          </a:solidFill>
          <a:ln w="15240">
            <a:solidFill>
              <a:srgbClr val="FFF4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424160" y="6099048"/>
            <a:ext cx="1097280" cy="274320"/>
          </a:xfrm>
          <a:prstGeom prst="rect">
            <a:avLst/>
          </a:prstGeom>
          <a:noFill/>
        </p:spPr>
        <p:txBody>
          <a:bodyPr wrap="square" lIns="27432" tIns="27432" rIns="27432" bIns="27432" anchor="ctr">
            <a:spAutoFit/>
          </a:bodyPr>
          <a:lstStyle/>
          <a:p>
            <a:pPr algn="ctr">
              <a:lnSpc>
                <a:spcPct val="100000"/>
              </a:lnSpc>
            </a:pPr>
            <a:r>
              <a:t>⏱ 3 min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16534F1-7A26-5205-0E9D-7DB393EFC39B}"/>
              </a:ext>
            </a:extLst>
          </p:cNvPr>
          <p:cNvSpPr>
            <a:spLocks noChangeArrowheads="1"/>
          </p:cNvSpPr>
          <p:nvPr/>
        </p:nvSpPr>
        <p:spPr bwMode="auto">
          <a:xfrm>
            <a:off x="0" y="1295105"/>
            <a:ext cx="12192000" cy="3724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Arial" panose="020B0604020202020204" pitchFamily="34" charset="0"/>
              </a:rPr>
              <a:t>STOP: What changed?</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Arial" panose="020B0604020202020204" pitchFamily="34" charset="0"/>
              </a:rPr>
              <a:t>The situation changed because</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a:ln>
                  <a:noFill/>
                </a:ln>
                <a:solidFill>
                  <a:schemeClr val="tx1"/>
                </a:solidFill>
                <a:effectLst/>
                <a:latin typeface="Arial" panose="020B0604020202020204" pitchFamily="34" charset="0"/>
              </a:rPr>
              <a:t>the character made a choice that led to a different outcome</a:t>
            </a:r>
            <a:r>
              <a:rPr kumimoji="0" lang="en-US" altLang="en-US" sz="20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Arial" panose="020B0604020202020204" pitchFamily="34" charset="0"/>
              </a:rPr>
              <a:t>What caused the problem?</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Arial" panose="020B0604020202020204" pitchFamily="34" charset="0"/>
              </a:rPr>
              <a:t>The Grasshopper did not prepare for winter because he spent his time singing and enjoying himself instead of working and storing food.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Arial" panose="020B0604020202020204" pitchFamily="34" charset="0"/>
              </a:rPr>
              <a:t>Which word helps you understand the consequence?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Arial" panose="020B0604020202020204" pitchFamily="34" charset="0"/>
              </a:rPr>
              <a:t>The key word is </a:t>
            </a:r>
            <a:r>
              <a:rPr kumimoji="0" lang="en-US" altLang="en-US" sz="2400" b="1" i="0" u="none" strike="noStrike" cap="none" normalizeH="0" baseline="0" dirty="0">
                <a:ln>
                  <a:noFill/>
                </a:ln>
                <a:solidFill>
                  <a:schemeClr val="tx1"/>
                </a:solidFill>
                <a:effectLst/>
                <a:latin typeface="Arial" panose="020B0604020202020204" pitchFamily="34" charset="0"/>
              </a:rPr>
              <a:t>“so.”</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843885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691032-5C3C-FA41-DFB4-4A1423095E6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E414768-23CC-F578-922A-AB0DE50A0402}"/>
              </a:ext>
            </a:extLst>
          </p:cNvPr>
          <p:cNvSpPr txBox="1"/>
          <p:nvPr/>
        </p:nvSpPr>
        <p:spPr>
          <a:xfrm>
            <a:off x="868679" y="298539"/>
            <a:ext cx="10332720" cy="914400"/>
          </a:xfrm>
          <a:prstGeom prst="rect">
            <a:avLst/>
          </a:prstGeom>
          <a:noFill/>
        </p:spPr>
        <p:txBody>
          <a:bodyPr wrap="none">
            <a:spAutoFit/>
          </a:bodyPr>
          <a:lstStyle/>
          <a:p>
            <a:pPr algn="ctr">
              <a:defRPr sz="3000" b="1">
                <a:solidFill>
                  <a:srgbClr val="57842D"/>
                </a:solidFill>
              </a:defRPr>
            </a:pPr>
            <a:r>
              <a:rPr dirty="0"/>
              <a:t>🐜 APPLY IT: THE ANT &amp; THE GRASSHOPPER</a:t>
            </a:r>
          </a:p>
        </p:txBody>
      </p:sp>
      <p:sp>
        <p:nvSpPr>
          <p:cNvPr id="3" name="TextBox 2">
            <a:extLst>
              <a:ext uri="{FF2B5EF4-FFF2-40B4-BE49-F238E27FC236}">
                <a16:creationId xmlns:a16="http://schemas.microsoft.com/office/drawing/2014/main" id="{4B2145B0-3131-2A2C-E3D5-8480F66701C8}"/>
              </a:ext>
            </a:extLst>
          </p:cNvPr>
          <p:cNvSpPr txBox="1"/>
          <p:nvPr/>
        </p:nvSpPr>
        <p:spPr>
          <a:xfrm>
            <a:off x="3443581" y="1048347"/>
            <a:ext cx="5061001" cy="523220"/>
          </a:xfrm>
          <a:prstGeom prst="rect">
            <a:avLst/>
          </a:prstGeom>
          <a:noFill/>
        </p:spPr>
        <p:txBody>
          <a:bodyPr wrap="none">
            <a:spAutoFit/>
          </a:bodyPr>
          <a:lstStyle/>
          <a:p>
            <a:pPr algn="ctr">
              <a:defRPr sz="1800">
                <a:solidFill>
                  <a:srgbClr val="464646"/>
                </a:solidFill>
              </a:defRPr>
            </a:pPr>
            <a:r>
              <a:rPr sz="2800" dirty="0"/>
              <a:t>Find the fable features in the text</a:t>
            </a:r>
          </a:p>
        </p:txBody>
      </p:sp>
      <p:sp>
        <p:nvSpPr>
          <p:cNvPr id="4" name="Rounded Rectangle 3">
            <a:extLst>
              <a:ext uri="{FF2B5EF4-FFF2-40B4-BE49-F238E27FC236}">
                <a16:creationId xmlns:a16="http://schemas.microsoft.com/office/drawing/2014/main" id="{34AB0E41-FED0-B1DE-21BE-58DDD2011E40}"/>
              </a:ext>
            </a:extLst>
          </p:cNvPr>
          <p:cNvSpPr/>
          <p:nvPr/>
        </p:nvSpPr>
        <p:spPr>
          <a:xfrm>
            <a:off x="685800" y="2011680"/>
            <a:ext cx="2423160" cy="502920"/>
          </a:xfrm>
          <a:prstGeom prst="roundRect">
            <a:avLst/>
          </a:prstGeom>
          <a:solidFill>
            <a:srgbClr val="7CAA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rPr sz="3200" dirty="0"/>
              <a:t>Characters</a:t>
            </a:r>
          </a:p>
        </p:txBody>
      </p:sp>
      <p:sp>
        <p:nvSpPr>
          <p:cNvPr id="5" name="Rounded Rectangle 4">
            <a:extLst>
              <a:ext uri="{FF2B5EF4-FFF2-40B4-BE49-F238E27FC236}">
                <a16:creationId xmlns:a16="http://schemas.microsoft.com/office/drawing/2014/main" id="{D3267C97-EC02-816F-D0CC-35864B23B006}"/>
              </a:ext>
            </a:extLst>
          </p:cNvPr>
          <p:cNvSpPr/>
          <p:nvPr/>
        </p:nvSpPr>
        <p:spPr>
          <a:xfrm>
            <a:off x="3246120" y="2011680"/>
            <a:ext cx="7955279" cy="502920"/>
          </a:xfrm>
          <a:prstGeom prst="roundRect">
            <a:avLst/>
          </a:prstGeom>
          <a:solidFill>
            <a:srgbClr val="FFFFFF"/>
          </a:solidFill>
          <a:ln>
            <a:solidFill>
              <a:srgbClr val="D2D2D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373737"/>
                </a:solidFill>
              </a:defRPr>
            </a:pPr>
            <a:r>
              <a:rPr sz="2800" dirty="0"/>
              <a:t>Ant + Grasshopper</a:t>
            </a:r>
          </a:p>
        </p:txBody>
      </p:sp>
      <p:sp>
        <p:nvSpPr>
          <p:cNvPr id="6" name="Rounded Rectangle 5">
            <a:extLst>
              <a:ext uri="{FF2B5EF4-FFF2-40B4-BE49-F238E27FC236}">
                <a16:creationId xmlns:a16="http://schemas.microsoft.com/office/drawing/2014/main" id="{CB4ACE70-DC4C-CBCD-DF1C-8E00103EC6A2}"/>
              </a:ext>
            </a:extLst>
          </p:cNvPr>
          <p:cNvSpPr/>
          <p:nvPr/>
        </p:nvSpPr>
        <p:spPr>
          <a:xfrm>
            <a:off x="685800" y="2670048"/>
            <a:ext cx="2423160" cy="502920"/>
          </a:xfrm>
          <a:prstGeom prst="roundRect">
            <a:avLst/>
          </a:prstGeom>
          <a:solidFill>
            <a:srgbClr val="7CAA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rPr sz="2400" dirty="0"/>
              <a:t>Character traits</a:t>
            </a:r>
          </a:p>
        </p:txBody>
      </p:sp>
      <p:sp>
        <p:nvSpPr>
          <p:cNvPr id="7" name="Rounded Rectangle 6">
            <a:extLst>
              <a:ext uri="{FF2B5EF4-FFF2-40B4-BE49-F238E27FC236}">
                <a16:creationId xmlns:a16="http://schemas.microsoft.com/office/drawing/2014/main" id="{D03473EE-D89E-A2B1-E192-9EA921F8B744}"/>
              </a:ext>
            </a:extLst>
          </p:cNvPr>
          <p:cNvSpPr/>
          <p:nvPr/>
        </p:nvSpPr>
        <p:spPr>
          <a:xfrm>
            <a:off x="3246120" y="2670048"/>
            <a:ext cx="8159166" cy="502920"/>
          </a:xfrm>
          <a:prstGeom prst="roundRect">
            <a:avLst/>
          </a:prstGeom>
          <a:solidFill>
            <a:srgbClr val="FFFFFF"/>
          </a:solidFill>
          <a:ln>
            <a:solidFill>
              <a:srgbClr val="D2D2D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373737"/>
                </a:solidFill>
              </a:defRPr>
            </a:pPr>
            <a:r>
              <a:rPr sz="2000" dirty="0"/>
              <a:t>Ant: industrious / responsible / prepared</a:t>
            </a:r>
            <a:br>
              <a:rPr sz="2000" dirty="0"/>
            </a:br>
            <a:r>
              <a:rPr sz="2000" dirty="0"/>
              <a:t>Grasshopper: careless / unprepared</a:t>
            </a:r>
          </a:p>
        </p:txBody>
      </p:sp>
      <p:sp>
        <p:nvSpPr>
          <p:cNvPr id="8" name="Rounded Rectangle 7">
            <a:extLst>
              <a:ext uri="{FF2B5EF4-FFF2-40B4-BE49-F238E27FC236}">
                <a16:creationId xmlns:a16="http://schemas.microsoft.com/office/drawing/2014/main" id="{6A37A236-24BC-351C-B293-F426166D3303}"/>
              </a:ext>
            </a:extLst>
          </p:cNvPr>
          <p:cNvSpPr/>
          <p:nvPr/>
        </p:nvSpPr>
        <p:spPr>
          <a:xfrm>
            <a:off x="685800" y="3328416"/>
            <a:ext cx="2423160" cy="502920"/>
          </a:xfrm>
          <a:prstGeom prst="roundRect">
            <a:avLst/>
          </a:prstGeom>
          <a:solidFill>
            <a:srgbClr val="7CAA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rPr sz="3200" dirty="0"/>
              <a:t>Problem</a:t>
            </a:r>
          </a:p>
        </p:txBody>
      </p:sp>
      <p:sp>
        <p:nvSpPr>
          <p:cNvPr id="9" name="Rounded Rectangle 8">
            <a:extLst>
              <a:ext uri="{FF2B5EF4-FFF2-40B4-BE49-F238E27FC236}">
                <a16:creationId xmlns:a16="http://schemas.microsoft.com/office/drawing/2014/main" id="{AC578064-1395-2304-FF7D-C247A1525B0C}"/>
              </a:ext>
            </a:extLst>
          </p:cNvPr>
          <p:cNvSpPr/>
          <p:nvPr/>
        </p:nvSpPr>
        <p:spPr>
          <a:xfrm>
            <a:off x="3246120" y="3328416"/>
            <a:ext cx="7955279" cy="502920"/>
          </a:xfrm>
          <a:prstGeom prst="roundRect">
            <a:avLst/>
          </a:prstGeom>
          <a:solidFill>
            <a:srgbClr val="FFFFFF"/>
          </a:solidFill>
          <a:ln>
            <a:solidFill>
              <a:srgbClr val="D2D2D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373737"/>
                </a:solidFill>
              </a:defRPr>
            </a:pPr>
            <a:r>
              <a:rPr sz="2400" dirty="0"/>
              <a:t>Winter arrives and the Grasshopper has no food or shelter.</a:t>
            </a:r>
          </a:p>
        </p:txBody>
      </p:sp>
      <p:sp>
        <p:nvSpPr>
          <p:cNvPr id="10" name="Rounded Rectangle 9">
            <a:extLst>
              <a:ext uri="{FF2B5EF4-FFF2-40B4-BE49-F238E27FC236}">
                <a16:creationId xmlns:a16="http://schemas.microsoft.com/office/drawing/2014/main" id="{953711B2-D66E-DFFF-87DE-1C9934966456}"/>
              </a:ext>
            </a:extLst>
          </p:cNvPr>
          <p:cNvSpPr/>
          <p:nvPr/>
        </p:nvSpPr>
        <p:spPr>
          <a:xfrm>
            <a:off x="685800" y="3986784"/>
            <a:ext cx="2423160" cy="502920"/>
          </a:xfrm>
          <a:prstGeom prst="roundRect">
            <a:avLst/>
          </a:prstGeom>
          <a:solidFill>
            <a:srgbClr val="7CAA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rPr sz="2800" dirty="0"/>
              <a:t>Choice</a:t>
            </a:r>
          </a:p>
        </p:txBody>
      </p:sp>
      <p:sp>
        <p:nvSpPr>
          <p:cNvPr id="11" name="Rounded Rectangle 10">
            <a:extLst>
              <a:ext uri="{FF2B5EF4-FFF2-40B4-BE49-F238E27FC236}">
                <a16:creationId xmlns:a16="http://schemas.microsoft.com/office/drawing/2014/main" id="{9B7441DB-151C-B406-7E74-3684D096F143}"/>
              </a:ext>
            </a:extLst>
          </p:cNvPr>
          <p:cNvSpPr/>
          <p:nvPr/>
        </p:nvSpPr>
        <p:spPr>
          <a:xfrm>
            <a:off x="3246120" y="3986784"/>
            <a:ext cx="7955279" cy="502920"/>
          </a:xfrm>
          <a:prstGeom prst="roundRect">
            <a:avLst/>
          </a:prstGeom>
          <a:solidFill>
            <a:srgbClr val="FFFFFF"/>
          </a:solidFill>
          <a:ln>
            <a:solidFill>
              <a:srgbClr val="D2D2D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373737"/>
                </a:solidFill>
              </a:defRPr>
            </a:pPr>
            <a:r>
              <a:rPr sz="2000" dirty="0"/>
              <a:t>The Grasshopper chooses to spend summer singing instead of preparing.</a:t>
            </a:r>
          </a:p>
        </p:txBody>
      </p:sp>
      <p:sp>
        <p:nvSpPr>
          <p:cNvPr id="12" name="Rounded Rectangle 11">
            <a:extLst>
              <a:ext uri="{FF2B5EF4-FFF2-40B4-BE49-F238E27FC236}">
                <a16:creationId xmlns:a16="http://schemas.microsoft.com/office/drawing/2014/main" id="{19BE7E72-85CE-D411-BE34-3C56800E12D3}"/>
              </a:ext>
            </a:extLst>
          </p:cNvPr>
          <p:cNvSpPr/>
          <p:nvPr/>
        </p:nvSpPr>
        <p:spPr>
          <a:xfrm>
            <a:off x="685800" y="4645152"/>
            <a:ext cx="2423160" cy="502920"/>
          </a:xfrm>
          <a:prstGeom prst="roundRect">
            <a:avLst/>
          </a:prstGeom>
          <a:solidFill>
            <a:srgbClr val="7CAA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rPr sz="2800" dirty="0"/>
              <a:t>Consequence</a:t>
            </a:r>
          </a:p>
        </p:txBody>
      </p:sp>
      <p:sp>
        <p:nvSpPr>
          <p:cNvPr id="13" name="Rounded Rectangle 12">
            <a:extLst>
              <a:ext uri="{FF2B5EF4-FFF2-40B4-BE49-F238E27FC236}">
                <a16:creationId xmlns:a16="http://schemas.microsoft.com/office/drawing/2014/main" id="{288D8E10-0DFD-D669-28AD-263341514055}"/>
              </a:ext>
            </a:extLst>
          </p:cNvPr>
          <p:cNvSpPr/>
          <p:nvPr/>
        </p:nvSpPr>
        <p:spPr>
          <a:xfrm>
            <a:off x="3246120" y="4645152"/>
            <a:ext cx="7955279" cy="502920"/>
          </a:xfrm>
          <a:prstGeom prst="roundRect">
            <a:avLst/>
          </a:prstGeom>
          <a:solidFill>
            <a:srgbClr val="FFFFFF"/>
          </a:solidFill>
          <a:ln>
            <a:solidFill>
              <a:srgbClr val="D2D2D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373737"/>
                </a:solidFill>
              </a:defRPr>
            </a:pPr>
            <a:r>
              <a:rPr sz="2000" dirty="0"/>
              <a:t>He has no sustenance when winter comes.</a:t>
            </a:r>
          </a:p>
        </p:txBody>
      </p:sp>
      <p:sp>
        <p:nvSpPr>
          <p:cNvPr id="14" name="Rounded Rectangle 13">
            <a:extLst>
              <a:ext uri="{FF2B5EF4-FFF2-40B4-BE49-F238E27FC236}">
                <a16:creationId xmlns:a16="http://schemas.microsoft.com/office/drawing/2014/main" id="{AFECF71E-0353-2B33-F3DA-2B8535D9C7F7}"/>
              </a:ext>
            </a:extLst>
          </p:cNvPr>
          <p:cNvSpPr/>
          <p:nvPr/>
        </p:nvSpPr>
        <p:spPr>
          <a:xfrm>
            <a:off x="685800" y="5303520"/>
            <a:ext cx="2423160" cy="502920"/>
          </a:xfrm>
          <a:prstGeom prst="roundRect">
            <a:avLst/>
          </a:prstGeom>
          <a:solidFill>
            <a:srgbClr val="7CAA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rPr sz="2800" dirty="0"/>
              <a:t>Moral</a:t>
            </a:r>
          </a:p>
        </p:txBody>
      </p:sp>
      <p:sp>
        <p:nvSpPr>
          <p:cNvPr id="15" name="Rounded Rectangle 14">
            <a:extLst>
              <a:ext uri="{FF2B5EF4-FFF2-40B4-BE49-F238E27FC236}">
                <a16:creationId xmlns:a16="http://schemas.microsoft.com/office/drawing/2014/main" id="{FDA66416-0AAE-E11B-966E-38EAE5FB08AE}"/>
              </a:ext>
            </a:extLst>
          </p:cNvPr>
          <p:cNvSpPr/>
          <p:nvPr/>
        </p:nvSpPr>
        <p:spPr>
          <a:xfrm>
            <a:off x="3246120" y="5303520"/>
            <a:ext cx="7955279" cy="502920"/>
          </a:xfrm>
          <a:prstGeom prst="roundRect">
            <a:avLst/>
          </a:prstGeom>
          <a:solidFill>
            <a:srgbClr val="FFFFFF"/>
          </a:solidFill>
          <a:ln>
            <a:solidFill>
              <a:srgbClr val="D2D2D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373737"/>
                </a:solidFill>
              </a:defRPr>
            </a:pPr>
            <a:r>
              <a:rPr sz="2000" dirty="0"/>
              <a:t>Prepare for the future; choices have consequences.</a:t>
            </a:r>
          </a:p>
        </p:txBody>
      </p:sp>
    </p:spTree>
    <p:extLst>
      <p:ext uri="{BB962C8B-B14F-4D97-AF65-F5344CB8AC3E}">
        <p14:creationId xmlns:p14="http://schemas.microsoft.com/office/powerpoint/2010/main" val="404139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868A0F-8729-5AC9-722A-46BD5D97B2A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6080B16-4207-351B-CC0B-03E72264AD1C}"/>
              </a:ext>
            </a:extLst>
          </p:cNvPr>
          <p:cNvSpPr txBox="1"/>
          <p:nvPr/>
        </p:nvSpPr>
        <p:spPr>
          <a:xfrm>
            <a:off x="636642" y="365281"/>
            <a:ext cx="10332720" cy="914400"/>
          </a:xfrm>
          <a:prstGeom prst="rect">
            <a:avLst/>
          </a:prstGeom>
          <a:noFill/>
        </p:spPr>
        <p:txBody>
          <a:bodyPr wrap="none">
            <a:spAutoFit/>
          </a:bodyPr>
          <a:lstStyle/>
          <a:p>
            <a:pPr algn="ctr">
              <a:defRPr sz="3000" b="1">
                <a:solidFill>
                  <a:srgbClr val="57842D"/>
                </a:solidFill>
              </a:defRPr>
            </a:pPr>
            <a:r>
              <a:rPr dirty="0"/>
              <a:t>🕵️ FABLE DETECTIVE CHECKLIST</a:t>
            </a:r>
          </a:p>
        </p:txBody>
      </p:sp>
      <p:sp>
        <p:nvSpPr>
          <p:cNvPr id="3" name="TextBox 2">
            <a:extLst>
              <a:ext uri="{FF2B5EF4-FFF2-40B4-BE49-F238E27FC236}">
                <a16:creationId xmlns:a16="http://schemas.microsoft.com/office/drawing/2014/main" id="{2D295790-2E1C-C3BA-0E1E-E9C45F930786}"/>
              </a:ext>
            </a:extLst>
          </p:cNvPr>
          <p:cNvSpPr txBox="1"/>
          <p:nvPr/>
        </p:nvSpPr>
        <p:spPr>
          <a:xfrm>
            <a:off x="3358701" y="1184015"/>
            <a:ext cx="5444118" cy="461665"/>
          </a:xfrm>
          <a:prstGeom prst="rect">
            <a:avLst/>
          </a:prstGeom>
          <a:noFill/>
        </p:spPr>
        <p:txBody>
          <a:bodyPr wrap="none">
            <a:spAutoFit/>
          </a:bodyPr>
          <a:lstStyle/>
          <a:p>
            <a:pPr algn="ctr">
              <a:defRPr sz="1800">
                <a:solidFill>
                  <a:srgbClr val="464646"/>
                </a:solidFill>
              </a:defRPr>
            </a:pPr>
            <a:r>
              <a:rPr sz="2400" dirty="0"/>
              <a:t>Use the checklist when you read any fable</a:t>
            </a:r>
          </a:p>
        </p:txBody>
      </p:sp>
      <p:sp>
        <p:nvSpPr>
          <p:cNvPr id="4" name="Rounded Rectangle 3">
            <a:extLst>
              <a:ext uri="{FF2B5EF4-FFF2-40B4-BE49-F238E27FC236}">
                <a16:creationId xmlns:a16="http://schemas.microsoft.com/office/drawing/2014/main" id="{F117EDE1-C06C-0BD1-97B1-32945838AA23}"/>
              </a:ext>
            </a:extLst>
          </p:cNvPr>
          <p:cNvSpPr/>
          <p:nvPr/>
        </p:nvSpPr>
        <p:spPr>
          <a:xfrm>
            <a:off x="914400" y="2011681"/>
            <a:ext cx="4663440" cy="3931920"/>
          </a:xfrm>
          <a:prstGeom prst="roundRect">
            <a:avLst/>
          </a:prstGeom>
          <a:solidFill>
            <a:srgbClr val="FFFFFF"/>
          </a:solidFill>
          <a:ln>
            <a:solidFill>
              <a:srgbClr val="7CAA3F"/>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900"/>
              </a:spcAft>
              <a:defRPr sz="1700"/>
            </a:pPr>
            <a:r>
              <a:rPr sz="2000" dirty="0">
                <a:solidFill>
                  <a:schemeClr val="tx1"/>
                </a:solidFill>
              </a:rPr>
              <a:t>☐ Who are the characters?</a:t>
            </a:r>
          </a:p>
          <a:p>
            <a:pPr>
              <a:spcAft>
                <a:spcPts val="900"/>
              </a:spcAft>
              <a:defRPr sz="1700"/>
            </a:pPr>
            <a:r>
              <a:rPr sz="2000" dirty="0">
                <a:solidFill>
                  <a:schemeClr val="tx1"/>
                </a:solidFill>
              </a:rPr>
              <a:t>☐ What traits do they show?</a:t>
            </a:r>
          </a:p>
          <a:p>
            <a:pPr>
              <a:spcAft>
                <a:spcPts val="900"/>
              </a:spcAft>
              <a:defRPr sz="1700"/>
            </a:pPr>
            <a:r>
              <a:rPr sz="2000" dirty="0">
                <a:solidFill>
                  <a:schemeClr val="tx1"/>
                </a:solidFill>
              </a:rPr>
              <a:t>☐ What problem happens?</a:t>
            </a:r>
          </a:p>
          <a:p>
            <a:pPr>
              <a:spcAft>
                <a:spcPts val="900"/>
              </a:spcAft>
              <a:defRPr sz="1700"/>
            </a:pPr>
            <a:r>
              <a:rPr sz="2000" dirty="0">
                <a:solidFill>
                  <a:schemeClr val="tx1"/>
                </a:solidFill>
              </a:rPr>
              <a:t>☐ What choice causes the problem?</a:t>
            </a:r>
          </a:p>
          <a:p>
            <a:pPr>
              <a:spcAft>
                <a:spcPts val="900"/>
              </a:spcAft>
              <a:defRPr sz="1700"/>
            </a:pPr>
            <a:r>
              <a:rPr sz="2000" dirty="0">
                <a:solidFill>
                  <a:schemeClr val="tx1"/>
                </a:solidFill>
              </a:rPr>
              <a:t>☐ What is the consequence?</a:t>
            </a:r>
          </a:p>
          <a:p>
            <a:pPr>
              <a:spcAft>
                <a:spcPts val="900"/>
              </a:spcAft>
              <a:defRPr sz="1700"/>
            </a:pPr>
            <a:r>
              <a:rPr sz="2000" dirty="0">
                <a:solidFill>
                  <a:schemeClr val="tx1"/>
                </a:solidFill>
              </a:rPr>
              <a:t>☐ What evidence proves your idea?</a:t>
            </a:r>
          </a:p>
          <a:p>
            <a:pPr>
              <a:spcAft>
                <a:spcPts val="900"/>
              </a:spcAft>
              <a:defRPr sz="1700"/>
            </a:pPr>
            <a:r>
              <a:rPr sz="2000" dirty="0">
                <a:solidFill>
                  <a:schemeClr val="tx1"/>
                </a:solidFill>
              </a:rPr>
              <a:t>☐ What is the moral?</a:t>
            </a:r>
          </a:p>
        </p:txBody>
      </p:sp>
      <p:sp>
        <p:nvSpPr>
          <p:cNvPr id="5" name="Rounded Rectangle 4">
            <a:extLst>
              <a:ext uri="{FF2B5EF4-FFF2-40B4-BE49-F238E27FC236}">
                <a16:creationId xmlns:a16="http://schemas.microsoft.com/office/drawing/2014/main" id="{683709BD-6EFF-CB12-B0CD-7DDF9065F669}"/>
              </a:ext>
            </a:extLst>
          </p:cNvPr>
          <p:cNvSpPr/>
          <p:nvPr/>
        </p:nvSpPr>
        <p:spPr>
          <a:xfrm>
            <a:off x="5989320" y="2011680"/>
            <a:ext cx="5761956" cy="3840480"/>
          </a:xfrm>
          <a:prstGeom prst="roundRect">
            <a:avLst/>
          </a:prstGeom>
          <a:solidFill>
            <a:srgbClr val="FFF7E9"/>
          </a:solidFill>
          <a:ln>
            <a:solidFill>
              <a:srgbClr val="EB852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EB852C"/>
                </a:solidFill>
              </a:defRPr>
            </a:pPr>
            <a:r>
              <a:rPr sz="2400" dirty="0"/>
              <a:t>⭐ GOLDEN RULE</a:t>
            </a:r>
          </a:p>
          <a:p>
            <a:pPr>
              <a:defRPr sz="1800" b="1"/>
            </a:pPr>
            <a:r>
              <a:rPr sz="2400" dirty="0">
                <a:solidFill>
                  <a:schemeClr val="tx1"/>
                </a:solidFill>
              </a:rPr>
              <a:t>Don't just tell me what happened.</a:t>
            </a:r>
          </a:p>
          <a:p>
            <a:pPr>
              <a:defRPr sz="2100" b="1">
                <a:solidFill>
                  <a:srgbClr val="57842D"/>
                </a:solidFill>
              </a:defRPr>
            </a:pPr>
            <a:r>
              <a:rPr sz="2400" dirty="0"/>
              <a:t>Tell me what it shows.</a:t>
            </a:r>
          </a:p>
          <a:p>
            <a:br>
              <a:rPr sz="2400" dirty="0">
                <a:solidFill>
                  <a:schemeClr val="tx1"/>
                </a:solidFill>
              </a:rPr>
            </a:br>
            <a:r>
              <a:rPr sz="2400" b="1" dirty="0">
                <a:solidFill>
                  <a:schemeClr val="tx1"/>
                </a:solidFill>
              </a:rPr>
              <a:t>Example</a:t>
            </a:r>
            <a:r>
              <a:rPr sz="2400" dirty="0">
                <a:solidFill>
                  <a:schemeClr val="tx1"/>
                </a:solidFill>
              </a:rPr>
              <a:t>:</a:t>
            </a:r>
            <a:br>
              <a:rPr sz="2400" dirty="0">
                <a:solidFill>
                  <a:schemeClr val="tx1"/>
                </a:solidFill>
              </a:rPr>
            </a:br>
            <a:r>
              <a:rPr sz="2400" dirty="0">
                <a:solidFill>
                  <a:schemeClr val="tx1"/>
                </a:solidFill>
              </a:rPr>
              <a:t>The Ant is industrious because she repeatedly gathers and stores food for winter. This shows that she is responsible and prepared.</a:t>
            </a:r>
          </a:p>
        </p:txBody>
      </p:sp>
    </p:spTree>
    <p:extLst>
      <p:ext uri="{BB962C8B-B14F-4D97-AF65-F5344CB8AC3E}">
        <p14:creationId xmlns:p14="http://schemas.microsoft.com/office/powerpoint/2010/main" val="1455549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AF7EF"/>
        </a:solidFill>
        <a:effectLst/>
      </p:bgPr>
    </p:bg>
    <p:spTree>
      <p:nvGrpSpPr>
        <p:cNvPr id="1" name=""/>
        <p:cNvGrpSpPr/>
        <p:nvPr/>
      </p:nvGrpSpPr>
      <p:grpSpPr>
        <a:xfrm>
          <a:off x="0" y="0"/>
          <a:ext cx="0" cy="0"/>
          <a:chOff x="0" y="0"/>
          <a:chExt cx="0" cy="0"/>
        </a:xfrm>
      </p:grpSpPr>
      <p:sp>
        <p:nvSpPr>
          <p:cNvPr id="2" name="TextBox 1"/>
          <p:cNvSpPr txBox="1"/>
          <p:nvPr/>
        </p:nvSpPr>
        <p:spPr>
          <a:xfrm>
            <a:off x="594360" y="292608"/>
            <a:ext cx="3657600" cy="256032"/>
          </a:xfrm>
          <a:prstGeom prst="rect">
            <a:avLst/>
          </a:prstGeom>
          <a:noFill/>
        </p:spPr>
        <p:txBody>
          <a:bodyPr wrap="square" lIns="27432" tIns="27432" rIns="27432" bIns="27432" anchor="t">
            <a:spAutoFit/>
          </a:bodyPr>
          <a:lstStyle/>
          <a:p>
            <a:pPr algn="l">
              <a:lnSpc>
                <a:spcPct val="100000"/>
              </a:lnSpc>
            </a:pPr>
            <a:r>
              <a:rPr sz="1000" b="1">
                <a:solidFill>
                  <a:srgbClr val="3A7757"/>
                </a:solidFill>
                <a:latin typeface="Aptos"/>
              </a:rPr>
              <a:t>THINK-ALOUD</a:t>
            </a:r>
          </a:p>
        </p:txBody>
      </p:sp>
      <p:sp>
        <p:nvSpPr>
          <p:cNvPr id="3" name="TextBox 2"/>
          <p:cNvSpPr txBox="1"/>
          <p:nvPr/>
        </p:nvSpPr>
        <p:spPr>
          <a:xfrm>
            <a:off x="594360" y="603504"/>
            <a:ext cx="10515600" cy="640080"/>
          </a:xfrm>
          <a:prstGeom prst="rect">
            <a:avLst/>
          </a:prstGeom>
          <a:noFill/>
        </p:spPr>
        <p:txBody>
          <a:bodyPr wrap="square" lIns="27432" tIns="27432" rIns="27432" bIns="27432" anchor="t">
            <a:spAutoFit/>
          </a:bodyPr>
          <a:lstStyle/>
          <a:p>
            <a:pPr algn="l">
              <a:lnSpc>
                <a:spcPct val="100000"/>
              </a:lnSpc>
            </a:pPr>
            <a:r>
              <a:rPr sz="2800" b="1">
                <a:solidFill>
                  <a:srgbClr val="1F5340"/>
                </a:solidFill>
                <a:latin typeface="Aptos Display"/>
              </a:rPr>
              <a:t>How do readers infer?</a:t>
            </a:r>
          </a:p>
        </p:txBody>
      </p:sp>
      <p:sp>
        <p:nvSpPr>
          <p:cNvPr id="4" name="Oval 3"/>
          <p:cNvSpPr/>
          <p:nvPr/>
        </p:nvSpPr>
        <p:spPr>
          <a:xfrm>
            <a:off x="11155680" y="320040"/>
            <a:ext cx="438912" cy="438912"/>
          </a:xfrm>
          <a:prstGeom prst="ellipse">
            <a:avLst/>
          </a:prstGeom>
          <a:solidFill>
            <a:srgbClr val="1F5340"/>
          </a:solidFill>
          <a:ln>
            <a:solidFill>
              <a:srgbClr val="1F53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155680" y="356616"/>
            <a:ext cx="438912" cy="310896"/>
          </a:xfrm>
          <a:prstGeom prst="rect">
            <a:avLst/>
          </a:prstGeom>
          <a:noFill/>
        </p:spPr>
        <p:txBody>
          <a:bodyPr wrap="square" lIns="27432" tIns="27432" rIns="27432" bIns="27432" anchor="ctr">
            <a:spAutoFit/>
          </a:bodyPr>
          <a:lstStyle/>
          <a:p>
            <a:pPr algn="ctr">
              <a:lnSpc>
                <a:spcPct val="100000"/>
              </a:lnSpc>
            </a:pPr>
            <a:r>
              <a:t>8</a:t>
            </a:r>
          </a:p>
        </p:txBody>
      </p:sp>
      <p:sp>
        <p:nvSpPr>
          <p:cNvPr id="6" name="Rectangle 5"/>
          <p:cNvSpPr/>
          <p:nvPr/>
        </p:nvSpPr>
        <p:spPr>
          <a:xfrm>
            <a:off x="594360" y="1353312"/>
            <a:ext cx="914400" cy="64008"/>
          </a:xfrm>
          <a:prstGeom prst="rect">
            <a:avLst/>
          </a:prstGeom>
          <a:solidFill>
            <a:srgbClr val="F4BE41"/>
          </a:solidFill>
          <a:ln>
            <a:solidFill>
              <a:srgbClr val="F4BE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600200"/>
            <a:ext cx="10789920" cy="457200"/>
          </a:xfrm>
          <a:prstGeom prst="rect">
            <a:avLst/>
          </a:prstGeom>
          <a:noFill/>
        </p:spPr>
        <p:txBody>
          <a:bodyPr wrap="square" lIns="27432" tIns="27432" rIns="27432" bIns="27432" anchor="t">
            <a:spAutoFit/>
          </a:bodyPr>
          <a:lstStyle/>
          <a:p>
            <a:pPr algn="ctr">
              <a:lnSpc>
                <a:spcPct val="100000"/>
              </a:lnSpc>
            </a:pPr>
            <a:r>
              <a:rPr sz="2100" b="1">
                <a:solidFill>
                  <a:srgbClr val="1F5340"/>
                </a:solidFill>
                <a:latin typeface="Aptos"/>
              </a:rPr>
              <a:t>We do NOT just guess. We use a clue + our thinking.</a:t>
            </a:r>
          </a:p>
        </p:txBody>
      </p:sp>
      <p:sp>
        <p:nvSpPr>
          <p:cNvPr id="8" name="Rounded Rectangle 7"/>
          <p:cNvSpPr/>
          <p:nvPr/>
        </p:nvSpPr>
        <p:spPr>
          <a:xfrm>
            <a:off x="822960" y="2331720"/>
            <a:ext cx="3063240" cy="2148840"/>
          </a:xfrm>
          <a:prstGeom prst="roundRect">
            <a:avLst/>
          </a:prstGeom>
          <a:solidFill>
            <a:srgbClr val="E1EFE4"/>
          </a:solidFill>
          <a:ln w="15240">
            <a:solidFill>
              <a:srgbClr val="E1E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822960" y="2331720"/>
            <a:ext cx="73152" cy="2148840"/>
          </a:xfrm>
          <a:prstGeom prst="rect">
            <a:avLst/>
          </a:prstGeom>
          <a:solidFill>
            <a:srgbClr val="3A7757"/>
          </a:solidFill>
          <a:ln>
            <a:solidFill>
              <a:srgbClr val="3A77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24128" y="2496312"/>
            <a:ext cx="2697480" cy="320040"/>
          </a:xfrm>
          <a:prstGeom prst="rect">
            <a:avLst/>
          </a:prstGeom>
          <a:noFill/>
        </p:spPr>
        <p:txBody>
          <a:bodyPr wrap="square" lIns="27432" tIns="27432" rIns="27432" bIns="27432" anchor="t">
            <a:spAutoFit/>
          </a:bodyPr>
          <a:lstStyle/>
          <a:p>
            <a:pPr algn="l">
              <a:lnSpc>
                <a:spcPct val="100000"/>
              </a:lnSpc>
            </a:pPr>
            <a:r>
              <a:rPr sz="1600" b="1">
                <a:solidFill>
                  <a:srgbClr val="1F5340"/>
                </a:solidFill>
                <a:latin typeface="Aptos Display"/>
              </a:rPr>
              <a:t>CLUE</a:t>
            </a:r>
          </a:p>
        </p:txBody>
      </p:sp>
      <p:sp>
        <p:nvSpPr>
          <p:cNvPr id="11" name="TextBox 10"/>
          <p:cNvSpPr txBox="1"/>
          <p:nvPr/>
        </p:nvSpPr>
        <p:spPr>
          <a:xfrm>
            <a:off x="1024128" y="2926079"/>
            <a:ext cx="2697480" cy="1532727"/>
          </a:xfrm>
          <a:prstGeom prst="rect">
            <a:avLst/>
          </a:prstGeom>
          <a:noFill/>
        </p:spPr>
        <p:txBody>
          <a:bodyPr wrap="square" lIns="27432" tIns="27432" rIns="27432" bIns="27432" anchor="t">
            <a:spAutoFit/>
          </a:bodyPr>
          <a:lstStyle/>
          <a:p>
            <a:pPr algn="l">
              <a:lnSpc>
                <a:spcPct val="100000"/>
              </a:lnSpc>
            </a:pPr>
            <a:r>
              <a:rPr sz="2400" b="0" dirty="0">
                <a:solidFill>
                  <a:srgbClr val="262B2A"/>
                </a:solidFill>
                <a:latin typeface="Aptos"/>
              </a:rPr>
              <a:t>“She carried grains back to her nest and stored them carefully.”</a:t>
            </a:r>
          </a:p>
        </p:txBody>
      </p:sp>
      <p:sp>
        <p:nvSpPr>
          <p:cNvPr id="12" name="Rounded Rectangle 11"/>
          <p:cNvSpPr/>
          <p:nvPr/>
        </p:nvSpPr>
        <p:spPr>
          <a:xfrm>
            <a:off x="4526280" y="2331720"/>
            <a:ext cx="3063240" cy="2148840"/>
          </a:xfrm>
          <a:prstGeom prst="roundRect">
            <a:avLst/>
          </a:prstGeom>
          <a:solidFill>
            <a:srgbClr val="FFF4CD"/>
          </a:solidFill>
          <a:ln w="15240">
            <a:solidFill>
              <a:srgbClr val="FFF4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526280" y="2331720"/>
            <a:ext cx="73152" cy="2148840"/>
          </a:xfrm>
          <a:prstGeom prst="rect">
            <a:avLst/>
          </a:prstGeom>
          <a:solidFill>
            <a:srgbClr val="F4BE41"/>
          </a:solidFill>
          <a:ln>
            <a:solidFill>
              <a:srgbClr val="F4BE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727448" y="2496312"/>
            <a:ext cx="2697480" cy="320040"/>
          </a:xfrm>
          <a:prstGeom prst="rect">
            <a:avLst/>
          </a:prstGeom>
          <a:noFill/>
        </p:spPr>
        <p:txBody>
          <a:bodyPr wrap="square" lIns="27432" tIns="27432" rIns="27432" bIns="27432" anchor="t">
            <a:spAutoFit/>
          </a:bodyPr>
          <a:lstStyle/>
          <a:p>
            <a:pPr algn="l">
              <a:lnSpc>
                <a:spcPct val="100000"/>
              </a:lnSpc>
            </a:pPr>
            <a:r>
              <a:rPr sz="1600" b="1">
                <a:solidFill>
                  <a:srgbClr val="1F5340"/>
                </a:solidFill>
                <a:latin typeface="Aptos Display"/>
              </a:rPr>
              <a:t>INFERENCE</a:t>
            </a:r>
          </a:p>
        </p:txBody>
      </p:sp>
      <p:sp>
        <p:nvSpPr>
          <p:cNvPr id="15" name="TextBox 14"/>
          <p:cNvSpPr txBox="1"/>
          <p:nvPr/>
        </p:nvSpPr>
        <p:spPr>
          <a:xfrm>
            <a:off x="4727448" y="2926079"/>
            <a:ext cx="2697480" cy="1163395"/>
          </a:xfrm>
          <a:prstGeom prst="rect">
            <a:avLst/>
          </a:prstGeom>
          <a:noFill/>
        </p:spPr>
        <p:txBody>
          <a:bodyPr wrap="square" lIns="27432" tIns="27432" rIns="27432" bIns="27432" anchor="t">
            <a:spAutoFit/>
          </a:bodyPr>
          <a:lstStyle/>
          <a:p>
            <a:pPr algn="l">
              <a:lnSpc>
                <a:spcPct val="100000"/>
              </a:lnSpc>
            </a:pPr>
            <a:r>
              <a:rPr sz="2400" b="0" dirty="0">
                <a:solidFill>
                  <a:srgbClr val="262B2A"/>
                </a:solidFill>
                <a:latin typeface="Aptos"/>
              </a:rPr>
              <a:t>The Ant is responsible and prepared.</a:t>
            </a:r>
          </a:p>
        </p:txBody>
      </p:sp>
      <p:sp>
        <p:nvSpPr>
          <p:cNvPr id="16" name="Rounded Rectangle 15"/>
          <p:cNvSpPr/>
          <p:nvPr/>
        </p:nvSpPr>
        <p:spPr>
          <a:xfrm>
            <a:off x="8229600" y="2331720"/>
            <a:ext cx="3063240" cy="2148840"/>
          </a:xfrm>
          <a:prstGeom prst="roundRect">
            <a:avLst/>
          </a:prstGeom>
          <a:solidFill>
            <a:srgbClr val="F9E2DC"/>
          </a:solidFill>
          <a:ln w="15240">
            <a:solidFill>
              <a:srgbClr val="F9E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229600" y="2331720"/>
            <a:ext cx="73152" cy="2148840"/>
          </a:xfrm>
          <a:prstGeom prst="rect">
            <a:avLst/>
          </a:prstGeom>
          <a:solidFill>
            <a:srgbClr val="DD6952"/>
          </a:solidFill>
          <a:ln>
            <a:solidFill>
              <a:srgbClr val="DD69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430768" y="2496312"/>
            <a:ext cx="2697480" cy="320040"/>
          </a:xfrm>
          <a:prstGeom prst="rect">
            <a:avLst/>
          </a:prstGeom>
          <a:noFill/>
        </p:spPr>
        <p:txBody>
          <a:bodyPr wrap="square" lIns="27432" tIns="27432" rIns="27432" bIns="27432" anchor="t">
            <a:spAutoFit/>
          </a:bodyPr>
          <a:lstStyle/>
          <a:p>
            <a:pPr algn="l">
              <a:lnSpc>
                <a:spcPct val="100000"/>
              </a:lnSpc>
            </a:pPr>
            <a:r>
              <a:rPr sz="1600" b="1">
                <a:solidFill>
                  <a:srgbClr val="1F5340"/>
                </a:solidFill>
                <a:latin typeface="Aptos Display"/>
              </a:rPr>
              <a:t>EXPLANATION</a:t>
            </a:r>
          </a:p>
        </p:txBody>
      </p:sp>
      <p:sp>
        <p:nvSpPr>
          <p:cNvPr id="19" name="TextBox 18"/>
          <p:cNvSpPr txBox="1"/>
          <p:nvPr/>
        </p:nvSpPr>
        <p:spPr>
          <a:xfrm>
            <a:off x="8430768" y="2926079"/>
            <a:ext cx="2697480" cy="1532727"/>
          </a:xfrm>
          <a:prstGeom prst="rect">
            <a:avLst/>
          </a:prstGeom>
          <a:noFill/>
        </p:spPr>
        <p:txBody>
          <a:bodyPr wrap="square" lIns="27432" tIns="27432" rIns="27432" bIns="27432" anchor="t">
            <a:spAutoFit/>
          </a:bodyPr>
          <a:lstStyle/>
          <a:p>
            <a:pPr algn="l">
              <a:lnSpc>
                <a:spcPct val="100000"/>
              </a:lnSpc>
            </a:pPr>
            <a:r>
              <a:rPr sz="2400" b="0" dirty="0">
                <a:solidFill>
                  <a:srgbClr val="262B2A"/>
                </a:solidFill>
                <a:latin typeface="Aptos"/>
              </a:rPr>
              <a:t>Her actions show that she thinks ahead and prepares for winter.</a:t>
            </a:r>
          </a:p>
        </p:txBody>
      </p:sp>
      <p:sp>
        <p:nvSpPr>
          <p:cNvPr id="20" name="TextBox 19"/>
          <p:cNvSpPr txBox="1"/>
          <p:nvPr/>
        </p:nvSpPr>
        <p:spPr>
          <a:xfrm>
            <a:off x="0" y="4992624"/>
            <a:ext cx="1828800" cy="274320"/>
          </a:xfrm>
          <a:prstGeom prst="rect">
            <a:avLst/>
          </a:prstGeom>
          <a:noFill/>
        </p:spPr>
        <p:txBody>
          <a:bodyPr wrap="square" lIns="27432" tIns="27432" rIns="27432" bIns="27432" anchor="t">
            <a:spAutoFit/>
          </a:bodyPr>
          <a:lstStyle/>
          <a:p>
            <a:pPr algn="l">
              <a:lnSpc>
                <a:spcPct val="100000"/>
              </a:lnSpc>
            </a:pPr>
            <a:r>
              <a:rPr sz="1300" b="1" dirty="0">
                <a:solidFill>
                  <a:srgbClr val="666C67"/>
                </a:solidFill>
                <a:latin typeface="Aptos"/>
              </a:rPr>
              <a:t>Teacher think-aloud:</a:t>
            </a:r>
          </a:p>
        </p:txBody>
      </p:sp>
      <p:sp>
        <p:nvSpPr>
          <p:cNvPr id="21" name="TextBox 20"/>
          <p:cNvSpPr txBox="1"/>
          <p:nvPr/>
        </p:nvSpPr>
        <p:spPr>
          <a:xfrm>
            <a:off x="1979088" y="4929114"/>
            <a:ext cx="8869680" cy="332399"/>
          </a:xfrm>
          <a:prstGeom prst="rect">
            <a:avLst/>
          </a:prstGeom>
          <a:noFill/>
        </p:spPr>
        <p:txBody>
          <a:bodyPr wrap="square" lIns="27432" tIns="27432" rIns="27432" bIns="27432" anchor="t">
            <a:spAutoFit/>
          </a:bodyPr>
          <a:lstStyle/>
          <a:p>
            <a:pPr algn="l">
              <a:lnSpc>
                <a:spcPct val="100000"/>
              </a:lnSpc>
            </a:pPr>
            <a:r>
              <a:rPr b="1" dirty="0">
                <a:solidFill>
                  <a:srgbClr val="262B2A"/>
                </a:solidFill>
                <a:latin typeface="Aptos"/>
              </a:rPr>
              <a:t>“I can infer she is responsible because I have evidence of what she actually does.”</a:t>
            </a:r>
          </a:p>
        </p:txBody>
      </p:sp>
      <p:sp>
        <p:nvSpPr>
          <p:cNvPr id="22" name="TextBox 21"/>
          <p:cNvSpPr txBox="1"/>
          <p:nvPr/>
        </p:nvSpPr>
        <p:spPr>
          <a:xfrm>
            <a:off x="621792" y="6519672"/>
            <a:ext cx="6400800" cy="182880"/>
          </a:xfrm>
          <a:prstGeom prst="rect">
            <a:avLst/>
          </a:prstGeom>
          <a:noFill/>
        </p:spPr>
        <p:txBody>
          <a:bodyPr wrap="square" lIns="27432" tIns="27432" rIns="27432" bIns="27432" anchor="t">
            <a:spAutoFit/>
          </a:bodyPr>
          <a:lstStyle/>
          <a:p>
            <a:pPr algn="l">
              <a:lnSpc>
                <a:spcPct val="100000"/>
              </a:lnSpc>
            </a:pPr>
            <a:r>
              <a:rPr sz="800" b="1">
                <a:solidFill>
                  <a:srgbClr val="666C67"/>
                </a:solidFill>
                <a:latin typeface="Aptos"/>
              </a:rPr>
              <a:t>YEAR 5 • UNIT 1 • THE ANT &amp; THE GRASSHOPPER</a:t>
            </a:r>
          </a:p>
        </p:txBody>
      </p:sp>
      <p:sp>
        <p:nvSpPr>
          <p:cNvPr id="23" name="Oval 22"/>
          <p:cNvSpPr/>
          <p:nvPr/>
        </p:nvSpPr>
        <p:spPr>
          <a:xfrm>
            <a:off x="11201400" y="6510528"/>
            <a:ext cx="91440" cy="91440"/>
          </a:xfrm>
          <a:prstGeom prst="ellipse">
            <a:avLst/>
          </a:prstGeom>
          <a:solidFill>
            <a:srgbClr val="F4BE41"/>
          </a:solidFill>
          <a:ln>
            <a:solidFill>
              <a:srgbClr val="F4BE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11402568" y="6510528"/>
            <a:ext cx="91440" cy="91440"/>
          </a:xfrm>
          <a:prstGeom prst="ellipse">
            <a:avLst/>
          </a:prstGeom>
          <a:solidFill>
            <a:srgbClr val="DD6952"/>
          </a:solidFill>
          <a:ln>
            <a:solidFill>
              <a:srgbClr val="DD69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11603736" y="6510528"/>
            <a:ext cx="91440" cy="91440"/>
          </a:xfrm>
          <a:prstGeom prst="ellipse">
            <a:avLst/>
          </a:prstGeom>
          <a:solidFill>
            <a:srgbClr val="3A7757"/>
          </a:solidFill>
          <a:ln>
            <a:solidFill>
              <a:srgbClr val="3A77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10378440" y="6053328"/>
            <a:ext cx="1188720" cy="384048"/>
          </a:xfrm>
          <a:prstGeom prst="roundRect">
            <a:avLst/>
          </a:prstGeom>
          <a:solidFill>
            <a:srgbClr val="FFF4CD"/>
          </a:solidFill>
          <a:ln w="15240">
            <a:solidFill>
              <a:srgbClr val="FFF4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0424160" y="6099048"/>
            <a:ext cx="1097280" cy="274320"/>
          </a:xfrm>
          <a:prstGeom prst="rect">
            <a:avLst/>
          </a:prstGeom>
          <a:noFill/>
        </p:spPr>
        <p:txBody>
          <a:bodyPr wrap="square" lIns="27432" tIns="27432" rIns="27432" bIns="27432" anchor="ctr">
            <a:spAutoFit/>
          </a:bodyPr>
          <a:lstStyle/>
          <a:p>
            <a:pPr algn="ctr">
              <a:lnSpc>
                <a:spcPct val="100000"/>
              </a:lnSpc>
            </a:pPr>
            <a:r>
              <a:t>⏱ 3 min</a:t>
            </a:r>
          </a:p>
        </p:txBody>
      </p:sp>
      <p:sp>
        <p:nvSpPr>
          <p:cNvPr id="28" name="Rounded Rectangle 27"/>
          <p:cNvSpPr/>
          <p:nvPr/>
        </p:nvSpPr>
        <p:spPr>
          <a:xfrm>
            <a:off x="1024128" y="5486400"/>
            <a:ext cx="9326880" cy="768096"/>
          </a:xfrm>
          <a:prstGeom prst="roundRect">
            <a:avLst/>
          </a:prstGeom>
          <a:solidFill>
            <a:srgbClr val="FFF8E7"/>
          </a:solidFill>
          <a:ln>
            <a:solidFill>
              <a:srgbClr val="E8C76A"/>
            </a:solidFill>
          </a:ln>
        </p:spPr>
        <p:style>
          <a:lnRef idx="1">
            <a:schemeClr val="accent1"/>
          </a:lnRef>
          <a:fillRef idx="3">
            <a:schemeClr val="accent1"/>
          </a:fillRef>
          <a:effectRef idx="2">
            <a:schemeClr val="accent1"/>
          </a:effectRef>
          <a:fontRef idx="minor">
            <a:schemeClr val="lt1"/>
          </a:fontRef>
        </p:style>
        <p:txBody>
          <a:bodyPr lIns="109728" tIns="73152" rIns="109728" bIns="73152" rtlCol="0" anchor="ctr"/>
          <a:lstStyle/>
          <a:p>
            <a:pPr algn="l"/>
            <a:r>
              <a:rPr b="1" dirty="0">
                <a:solidFill>
                  <a:srgbClr val="7F6000"/>
                </a:solidFill>
                <a:latin typeface="Aptos"/>
              </a:rPr>
              <a:t>FORMATIVE CHECK → </a:t>
            </a:r>
            <a:endParaRPr lang="en-US" b="1" dirty="0">
              <a:solidFill>
                <a:srgbClr val="7F6000"/>
              </a:solidFill>
              <a:latin typeface="Aptos"/>
            </a:endParaRPr>
          </a:p>
          <a:p>
            <a:pPr algn="l"/>
            <a:r>
              <a:rPr b="1" dirty="0">
                <a:solidFill>
                  <a:srgbClr val="7F6000"/>
                </a:solidFill>
                <a:latin typeface="Aptos"/>
              </a:rPr>
              <a:t>“Which exact words prove the Ant is responsible?”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92608"/>
            <a:ext cx="3657600" cy="256032"/>
          </a:xfrm>
          <a:prstGeom prst="rect">
            <a:avLst/>
          </a:prstGeom>
          <a:noFill/>
        </p:spPr>
        <p:txBody>
          <a:bodyPr wrap="square" lIns="27432" tIns="27432" rIns="27432" bIns="27432" anchor="t">
            <a:spAutoFit/>
          </a:bodyPr>
          <a:lstStyle/>
          <a:p>
            <a:pPr algn="l">
              <a:lnSpc>
                <a:spcPct val="100000"/>
              </a:lnSpc>
            </a:pPr>
            <a:r>
              <a:rPr sz="1000" b="1">
                <a:solidFill>
                  <a:srgbClr val="3A7757"/>
                </a:solidFill>
                <a:latin typeface="Aptos"/>
              </a:rPr>
              <a:t>CREATIVE ACTIVITY 1</a:t>
            </a:r>
          </a:p>
        </p:txBody>
      </p:sp>
      <p:sp>
        <p:nvSpPr>
          <p:cNvPr id="3" name="TextBox 2"/>
          <p:cNvSpPr txBox="1"/>
          <p:nvPr/>
        </p:nvSpPr>
        <p:spPr>
          <a:xfrm>
            <a:off x="594360" y="603504"/>
            <a:ext cx="10515600" cy="640080"/>
          </a:xfrm>
          <a:prstGeom prst="rect">
            <a:avLst/>
          </a:prstGeom>
          <a:noFill/>
        </p:spPr>
        <p:txBody>
          <a:bodyPr wrap="square" lIns="27432" tIns="27432" rIns="27432" bIns="27432" anchor="t">
            <a:spAutoFit/>
          </a:bodyPr>
          <a:lstStyle/>
          <a:p>
            <a:pPr algn="l">
              <a:lnSpc>
                <a:spcPct val="100000"/>
              </a:lnSpc>
            </a:pPr>
            <a:r>
              <a:rPr sz="2800" b="1">
                <a:solidFill>
                  <a:srgbClr val="1F5340"/>
                </a:solidFill>
                <a:latin typeface="Aptos Display"/>
              </a:rPr>
              <a:t>Fable Detective Agency</a:t>
            </a:r>
          </a:p>
        </p:txBody>
      </p:sp>
      <p:sp>
        <p:nvSpPr>
          <p:cNvPr id="4" name="Oval 3"/>
          <p:cNvSpPr/>
          <p:nvPr/>
        </p:nvSpPr>
        <p:spPr>
          <a:xfrm>
            <a:off x="11155680" y="320040"/>
            <a:ext cx="438912" cy="438912"/>
          </a:xfrm>
          <a:prstGeom prst="ellipse">
            <a:avLst/>
          </a:prstGeom>
          <a:solidFill>
            <a:srgbClr val="1F5340"/>
          </a:solidFill>
          <a:ln>
            <a:solidFill>
              <a:srgbClr val="1F53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155680" y="356616"/>
            <a:ext cx="438912" cy="310896"/>
          </a:xfrm>
          <a:prstGeom prst="rect">
            <a:avLst/>
          </a:prstGeom>
          <a:noFill/>
        </p:spPr>
        <p:txBody>
          <a:bodyPr wrap="square" lIns="27432" tIns="27432" rIns="27432" bIns="27432" anchor="ctr">
            <a:spAutoFit/>
          </a:bodyPr>
          <a:lstStyle/>
          <a:p>
            <a:pPr algn="ctr">
              <a:lnSpc>
                <a:spcPct val="100000"/>
              </a:lnSpc>
            </a:pPr>
            <a:r>
              <a:rPr sz="1000" b="1">
                <a:solidFill>
                  <a:srgbClr val="FFFFFF"/>
                </a:solidFill>
                <a:latin typeface="Aptos"/>
              </a:rPr>
              <a:t>8</a:t>
            </a:r>
          </a:p>
        </p:txBody>
      </p:sp>
      <p:sp>
        <p:nvSpPr>
          <p:cNvPr id="6" name="Rectangle 5"/>
          <p:cNvSpPr/>
          <p:nvPr/>
        </p:nvSpPr>
        <p:spPr>
          <a:xfrm>
            <a:off x="594360" y="1353312"/>
            <a:ext cx="914400" cy="64008"/>
          </a:xfrm>
          <a:prstGeom prst="rect">
            <a:avLst/>
          </a:prstGeom>
          <a:solidFill>
            <a:srgbClr val="F4BE41"/>
          </a:solidFill>
          <a:ln>
            <a:solidFill>
              <a:srgbClr val="F4BE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600200"/>
            <a:ext cx="1828800" cy="320040"/>
          </a:xfrm>
          <a:prstGeom prst="rect">
            <a:avLst/>
          </a:prstGeom>
          <a:noFill/>
        </p:spPr>
        <p:txBody>
          <a:bodyPr wrap="square" lIns="27432" tIns="27432" rIns="27432" bIns="27432" anchor="t">
            <a:spAutoFit/>
          </a:bodyPr>
          <a:lstStyle/>
          <a:p>
            <a:pPr algn="l">
              <a:lnSpc>
                <a:spcPct val="100000"/>
              </a:lnSpc>
            </a:pPr>
            <a:r>
              <a:rPr sz="1500" b="1">
                <a:solidFill>
                  <a:srgbClr val="DD6952"/>
                </a:solidFill>
                <a:latin typeface="Aptos"/>
              </a:rPr>
              <a:t>TEAM MISSION</a:t>
            </a:r>
          </a:p>
        </p:txBody>
      </p:sp>
      <p:sp>
        <p:nvSpPr>
          <p:cNvPr id="8" name="TextBox 7"/>
          <p:cNvSpPr txBox="1"/>
          <p:nvPr/>
        </p:nvSpPr>
        <p:spPr>
          <a:xfrm>
            <a:off x="2103119" y="1189226"/>
            <a:ext cx="9875519" cy="1409617"/>
          </a:xfrm>
          <a:prstGeom prst="rect">
            <a:avLst/>
          </a:prstGeom>
          <a:noFill/>
        </p:spPr>
        <p:txBody>
          <a:bodyPr wrap="square" lIns="27432" tIns="27432" rIns="27432" bIns="27432" anchor="t">
            <a:spAutoFit/>
          </a:bodyPr>
          <a:lstStyle/>
          <a:p>
            <a:r>
              <a:rPr sz="2200" b="1" dirty="0">
                <a:solidFill>
                  <a:srgbClr val="1F5340"/>
                </a:solidFill>
                <a:latin typeface="Aptos"/>
              </a:rPr>
              <a:t>Sort the evidence. Build the strongest case.</a:t>
            </a:r>
            <a:endParaRPr lang="en-US" sz="2200" b="1" dirty="0">
              <a:solidFill>
                <a:srgbClr val="1F5340"/>
              </a:solidFill>
              <a:latin typeface="Aptos"/>
            </a:endParaRPr>
          </a:p>
          <a:p>
            <a:r>
              <a:rPr lang="en-US" sz="2400" dirty="0"/>
              <a:t> </a:t>
            </a:r>
            <a:r>
              <a:rPr lang="en-US" dirty="0"/>
              <a:t>Groups of </a:t>
            </a:r>
            <a:r>
              <a:rPr lang="en-US" b="1" dirty="0"/>
              <a:t>3–4 students</a:t>
            </a:r>
            <a:r>
              <a:rPr lang="en-US" dirty="0"/>
              <a:t>.</a:t>
            </a:r>
          </a:p>
          <a:p>
            <a:r>
              <a:rPr lang="en-US" dirty="0"/>
              <a:t>Give each group </a:t>
            </a:r>
            <a:r>
              <a:rPr lang="en-US" b="1" dirty="0"/>
              <a:t>four cards</a:t>
            </a:r>
            <a:endParaRPr lang="en-US" dirty="0"/>
          </a:p>
          <a:p>
            <a:pPr algn="l">
              <a:lnSpc>
                <a:spcPct val="100000"/>
              </a:lnSpc>
            </a:pPr>
            <a:endParaRPr sz="2200" b="1" dirty="0">
              <a:solidFill>
                <a:srgbClr val="1F5340"/>
              </a:solidFill>
              <a:latin typeface="Aptos"/>
            </a:endParaRPr>
          </a:p>
        </p:txBody>
      </p:sp>
      <p:sp>
        <p:nvSpPr>
          <p:cNvPr id="9" name="Rounded Rectangle 8"/>
          <p:cNvSpPr/>
          <p:nvPr/>
        </p:nvSpPr>
        <p:spPr>
          <a:xfrm>
            <a:off x="685800" y="2331720"/>
            <a:ext cx="5257800" cy="850392"/>
          </a:xfrm>
          <a:prstGeom prst="roundRect">
            <a:avLst/>
          </a:prstGeom>
          <a:solidFill>
            <a:srgbClr val="FFFFFF"/>
          </a:solidFill>
          <a:ln w="1524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868680" y="2560320"/>
            <a:ext cx="566928" cy="566928"/>
          </a:xfrm>
          <a:prstGeom prst="ellipse">
            <a:avLst/>
          </a:prstGeom>
          <a:solidFill>
            <a:srgbClr val="F4BE41"/>
          </a:solidFill>
          <a:ln>
            <a:solidFill>
              <a:srgbClr val="F4BE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670048"/>
            <a:ext cx="566928" cy="228600"/>
          </a:xfrm>
          <a:prstGeom prst="rect">
            <a:avLst/>
          </a:prstGeom>
          <a:noFill/>
        </p:spPr>
        <p:txBody>
          <a:bodyPr wrap="square" lIns="27432" tIns="27432" rIns="27432" bIns="27432" anchor="t">
            <a:spAutoFit/>
          </a:bodyPr>
          <a:lstStyle/>
          <a:p>
            <a:pPr algn="ctr">
              <a:lnSpc>
                <a:spcPct val="100000"/>
              </a:lnSpc>
            </a:pPr>
            <a:r>
              <a:rPr sz="1300" b="1">
                <a:solidFill>
                  <a:srgbClr val="1F5340"/>
                </a:solidFill>
                <a:latin typeface="Aptos"/>
              </a:rPr>
              <a:t>A</a:t>
            </a:r>
          </a:p>
        </p:txBody>
      </p:sp>
      <p:sp>
        <p:nvSpPr>
          <p:cNvPr id="12" name="TextBox 11"/>
          <p:cNvSpPr txBox="1"/>
          <p:nvPr/>
        </p:nvSpPr>
        <p:spPr>
          <a:xfrm>
            <a:off x="1600200" y="2496312"/>
            <a:ext cx="4069080" cy="566928"/>
          </a:xfrm>
          <a:prstGeom prst="rect">
            <a:avLst/>
          </a:prstGeom>
          <a:noFill/>
        </p:spPr>
        <p:txBody>
          <a:bodyPr wrap="square" lIns="27432" tIns="27432" rIns="27432" bIns="27432" anchor="t">
            <a:spAutoFit/>
          </a:bodyPr>
          <a:lstStyle/>
          <a:p>
            <a:pPr algn="l">
              <a:lnSpc>
                <a:spcPct val="100000"/>
              </a:lnSpc>
            </a:pPr>
            <a:r>
              <a:rPr sz="1600" b="1">
                <a:solidFill>
                  <a:srgbClr val="262B2A"/>
                </a:solidFill>
                <a:latin typeface="Aptos"/>
              </a:rPr>
              <a:t>She carried grains back to her nest.</a:t>
            </a:r>
          </a:p>
        </p:txBody>
      </p:sp>
      <p:sp>
        <p:nvSpPr>
          <p:cNvPr id="15" name="Rounded Rectangle 14"/>
          <p:cNvSpPr/>
          <p:nvPr/>
        </p:nvSpPr>
        <p:spPr>
          <a:xfrm>
            <a:off x="6309360" y="2331720"/>
            <a:ext cx="5257800" cy="886967"/>
          </a:xfrm>
          <a:prstGeom prst="roundRect">
            <a:avLst/>
          </a:prstGeom>
          <a:solidFill>
            <a:srgbClr val="FFFFFF"/>
          </a:solidFill>
          <a:ln w="1524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6492240" y="2560320"/>
            <a:ext cx="566928" cy="566928"/>
          </a:xfrm>
          <a:prstGeom prst="ellipse">
            <a:avLst/>
          </a:prstGeom>
          <a:solidFill>
            <a:srgbClr val="F4BE41"/>
          </a:solidFill>
          <a:ln>
            <a:solidFill>
              <a:srgbClr val="F4BE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92240" y="2670048"/>
            <a:ext cx="566928" cy="228600"/>
          </a:xfrm>
          <a:prstGeom prst="rect">
            <a:avLst/>
          </a:prstGeom>
          <a:noFill/>
        </p:spPr>
        <p:txBody>
          <a:bodyPr wrap="square" lIns="27432" tIns="27432" rIns="27432" bIns="27432" anchor="t">
            <a:spAutoFit/>
          </a:bodyPr>
          <a:lstStyle/>
          <a:p>
            <a:pPr algn="ctr">
              <a:lnSpc>
                <a:spcPct val="100000"/>
              </a:lnSpc>
            </a:pPr>
            <a:r>
              <a:rPr sz="1300" b="1">
                <a:solidFill>
                  <a:srgbClr val="1F5340"/>
                </a:solidFill>
                <a:latin typeface="Aptos"/>
              </a:rPr>
              <a:t>B</a:t>
            </a:r>
          </a:p>
        </p:txBody>
      </p:sp>
      <p:sp>
        <p:nvSpPr>
          <p:cNvPr id="18" name="TextBox 17"/>
          <p:cNvSpPr txBox="1"/>
          <p:nvPr/>
        </p:nvSpPr>
        <p:spPr>
          <a:xfrm>
            <a:off x="7223760" y="2496312"/>
            <a:ext cx="4069080" cy="566928"/>
          </a:xfrm>
          <a:prstGeom prst="rect">
            <a:avLst/>
          </a:prstGeom>
          <a:noFill/>
        </p:spPr>
        <p:txBody>
          <a:bodyPr wrap="square" lIns="27432" tIns="27432" rIns="27432" bIns="27432" anchor="t">
            <a:spAutoFit/>
          </a:bodyPr>
          <a:lstStyle/>
          <a:p>
            <a:pPr algn="l">
              <a:lnSpc>
                <a:spcPct val="100000"/>
              </a:lnSpc>
            </a:pPr>
            <a:r>
              <a:rPr sz="1600" b="1">
                <a:solidFill>
                  <a:srgbClr val="262B2A"/>
                </a:solidFill>
                <a:latin typeface="Aptos"/>
              </a:rPr>
              <a:t>The Grasshopper sang, danced and enjoyed the sunshine.</a:t>
            </a:r>
          </a:p>
        </p:txBody>
      </p:sp>
      <p:sp>
        <p:nvSpPr>
          <p:cNvPr id="21" name="Rounded Rectangle 20"/>
          <p:cNvSpPr/>
          <p:nvPr/>
        </p:nvSpPr>
        <p:spPr>
          <a:xfrm>
            <a:off x="685800" y="3840480"/>
            <a:ext cx="5257800" cy="714535"/>
          </a:xfrm>
          <a:prstGeom prst="roundRect">
            <a:avLst/>
          </a:prstGeom>
          <a:solidFill>
            <a:srgbClr val="FFFFFF"/>
          </a:solidFill>
          <a:ln w="1524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Step 3 — Sort the clues</a:t>
            </a:r>
            <a:endParaRPr/>
          </a:p>
        </p:txBody>
      </p:sp>
      <p:sp>
        <p:nvSpPr>
          <p:cNvPr id="22" name="Oval 21"/>
          <p:cNvSpPr/>
          <p:nvPr/>
        </p:nvSpPr>
        <p:spPr>
          <a:xfrm>
            <a:off x="868680" y="3901938"/>
            <a:ext cx="566928" cy="566928"/>
          </a:xfrm>
          <a:prstGeom prst="ellipse">
            <a:avLst/>
          </a:prstGeom>
          <a:solidFill>
            <a:srgbClr val="F4BE41"/>
          </a:solidFill>
          <a:ln>
            <a:solidFill>
              <a:srgbClr val="F4BE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68680" y="4131749"/>
            <a:ext cx="566928" cy="228600"/>
          </a:xfrm>
          <a:prstGeom prst="rect">
            <a:avLst/>
          </a:prstGeom>
          <a:noFill/>
        </p:spPr>
        <p:txBody>
          <a:bodyPr wrap="square" lIns="27432" tIns="27432" rIns="27432" bIns="27432" anchor="t">
            <a:spAutoFit/>
          </a:bodyPr>
          <a:lstStyle/>
          <a:p>
            <a:pPr algn="ctr">
              <a:lnSpc>
                <a:spcPct val="100000"/>
              </a:lnSpc>
            </a:pPr>
            <a:r>
              <a:rPr sz="1300" b="1">
                <a:solidFill>
                  <a:srgbClr val="1F5340"/>
                </a:solidFill>
                <a:latin typeface="Aptos"/>
              </a:rPr>
              <a:t>C</a:t>
            </a:r>
          </a:p>
        </p:txBody>
      </p:sp>
      <p:sp>
        <p:nvSpPr>
          <p:cNvPr id="24" name="TextBox 23"/>
          <p:cNvSpPr txBox="1"/>
          <p:nvPr/>
        </p:nvSpPr>
        <p:spPr>
          <a:xfrm>
            <a:off x="1600200" y="4005071"/>
            <a:ext cx="4069080" cy="566928"/>
          </a:xfrm>
          <a:prstGeom prst="rect">
            <a:avLst/>
          </a:prstGeom>
          <a:noFill/>
        </p:spPr>
        <p:txBody>
          <a:bodyPr wrap="square" lIns="27432" tIns="27432" rIns="27432" bIns="27432" anchor="t">
            <a:spAutoFit/>
          </a:bodyPr>
          <a:lstStyle/>
          <a:p>
            <a:pPr algn="l">
              <a:lnSpc>
                <a:spcPct val="100000"/>
              </a:lnSpc>
            </a:pPr>
            <a:r>
              <a:rPr sz="1600" b="1">
                <a:solidFill>
                  <a:srgbClr val="262B2A"/>
                </a:solidFill>
                <a:latin typeface="Aptos"/>
              </a:rPr>
              <a:t>“Winter will come.”</a:t>
            </a:r>
          </a:p>
        </p:txBody>
      </p:sp>
      <p:sp>
        <p:nvSpPr>
          <p:cNvPr id="27" name="Rounded Rectangle 26"/>
          <p:cNvSpPr/>
          <p:nvPr/>
        </p:nvSpPr>
        <p:spPr>
          <a:xfrm>
            <a:off x="6309360" y="3840480"/>
            <a:ext cx="5257800" cy="679746"/>
          </a:xfrm>
          <a:prstGeom prst="roundRect">
            <a:avLst/>
          </a:prstGeom>
          <a:solidFill>
            <a:srgbClr val="FFFFFF"/>
          </a:solidFill>
          <a:ln w="1524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6473950" y="3855224"/>
            <a:ext cx="566928" cy="566928"/>
          </a:xfrm>
          <a:prstGeom prst="ellipse">
            <a:avLst/>
          </a:prstGeom>
          <a:solidFill>
            <a:srgbClr val="F4BE41"/>
          </a:solidFill>
          <a:ln>
            <a:solidFill>
              <a:srgbClr val="F4BE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92240" y="4178807"/>
            <a:ext cx="566928" cy="228600"/>
          </a:xfrm>
          <a:prstGeom prst="rect">
            <a:avLst/>
          </a:prstGeom>
          <a:noFill/>
        </p:spPr>
        <p:txBody>
          <a:bodyPr wrap="square" lIns="27432" tIns="27432" rIns="27432" bIns="27432" anchor="t">
            <a:spAutoFit/>
          </a:bodyPr>
          <a:lstStyle/>
          <a:p>
            <a:pPr algn="ctr">
              <a:lnSpc>
                <a:spcPct val="100000"/>
              </a:lnSpc>
            </a:pPr>
            <a:r>
              <a:rPr sz="1300" b="1">
                <a:solidFill>
                  <a:srgbClr val="1F5340"/>
                </a:solidFill>
                <a:latin typeface="Aptos"/>
              </a:rPr>
              <a:t>D</a:t>
            </a:r>
          </a:p>
        </p:txBody>
      </p:sp>
      <p:sp>
        <p:nvSpPr>
          <p:cNvPr id="30" name="TextBox 29"/>
          <p:cNvSpPr txBox="1"/>
          <p:nvPr/>
        </p:nvSpPr>
        <p:spPr>
          <a:xfrm>
            <a:off x="7223760" y="4005071"/>
            <a:ext cx="4069080" cy="566928"/>
          </a:xfrm>
          <a:prstGeom prst="rect">
            <a:avLst/>
          </a:prstGeom>
          <a:noFill/>
        </p:spPr>
        <p:txBody>
          <a:bodyPr wrap="square" lIns="27432" tIns="27432" rIns="27432" bIns="27432" anchor="t">
            <a:spAutoFit/>
          </a:bodyPr>
          <a:lstStyle/>
          <a:p>
            <a:pPr algn="l">
              <a:lnSpc>
                <a:spcPct val="100000"/>
              </a:lnSpc>
            </a:pPr>
            <a:r>
              <a:rPr sz="1600" b="1">
                <a:solidFill>
                  <a:srgbClr val="262B2A"/>
                </a:solidFill>
                <a:latin typeface="Aptos"/>
              </a:rPr>
              <a:t>He could not find enough food.</a:t>
            </a:r>
          </a:p>
        </p:txBody>
      </p:sp>
      <p:sp>
        <p:nvSpPr>
          <p:cNvPr id="33" name="Rounded Rectangle 32"/>
          <p:cNvSpPr/>
          <p:nvPr/>
        </p:nvSpPr>
        <p:spPr>
          <a:xfrm>
            <a:off x="90082" y="5910747"/>
            <a:ext cx="9875520" cy="465950"/>
          </a:xfrm>
          <a:prstGeom prst="roundRect">
            <a:avLst/>
          </a:prstGeom>
          <a:solidFill>
            <a:srgbClr val="FFF4CD"/>
          </a:solidFill>
          <a:ln w="15240">
            <a:solidFill>
              <a:srgbClr val="FFF4CD"/>
            </a:solidFill>
          </a:ln>
        </p:spPr>
        <p:style>
          <a:lnRef idx="1">
            <a:schemeClr val="accent1"/>
          </a:lnRef>
          <a:fillRef idx="3">
            <a:schemeClr val="accent1"/>
          </a:fillRef>
          <a:effectRef idx="2">
            <a:schemeClr val="accent1"/>
          </a:effectRef>
          <a:fontRef idx="minor">
            <a:schemeClr val="lt1"/>
          </a:fontRef>
        </p:style>
        <p:txBody>
          <a:bodyPr rtlCol="0" anchor="ctr"/>
          <a:lstStyle/>
          <a:p>
            <a:r>
              <a:rPr lang="en-US" b="1" dirty="0">
                <a:solidFill>
                  <a:schemeClr val="tx1"/>
                </a:solidFill>
              </a:rPr>
              <a:t>Step 4 — PROVE IT</a:t>
            </a:r>
          </a:p>
          <a:p>
            <a:r>
              <a:rPr lang="en-US" dirty="0">
                <a:solidFill>
                  <a:schemeClr val="tx1"/>
                </a:solidFill>
              </a:rPr>
              <a:t>“The Ant is __________ because __________.”</a:t>
            </a:r>
          </a:p>
          <a:p>
            <a:r>
              <a:rPr lang="en-US" dirty="0">
                <a:solidFill>
                  <a:schemeClr val="tx1"/>
                </a:solidFill>
              </a:rPr>
              <a:t>“The Grasshopper is __________ because __________.”</a:t>
            </a:r>
            <a:endParaRPr lang="en-US" b="1" dirty="0">
              <a:solidFill>
                <a:schemeClr val="tx1"/>
              </a:solidFill>
            </a:endParaRPr>
          </a:p>
          <a:p>
            <a:endParaRPr lang="en-US" b="1" dirty="0">
              <a:solidFill>
                <a:schemeClr val="tx1"/>
              </a:solidFill>
            </a:endParaRPr>
          </a:p>
        </p:txBody>
      </p:sp>
      <p:sp>
        <p:nvSpPr>
          <p:cNvPr id="35" name="TextBox 34"/>
          <p:cNvSpPr txBox="1"/>
          <p:nvPr/>
        </p:nvSpPr>
        <p:spPr>
          <a:xfrm>
            <a:off x="621792" y="6519672"/>
            <a:ext cx="6400800" cy="182880"/>
          </a:xfrm>
          <a:prstGeom prst="rect">
            <a:avLst/>
          </a:prstGeom>
          <a:noFill/>
        </p:spPr>
        <p:txBody>
          <a:bodyPr wrap="square" lIns="27432" tIns="27432" rIns="27432" bIns="27432" anchor="t">
            <a:spAutoFit/>
          </a:bodyPr>
          <a:lstStyle/>
          <a:p>
            <a:pPr algn="l">
              <a:lnSpc>
                <a:spcPct val="100000"/>
              </a:lnSpc>
            </a:pPr>
            <a:r>
              <a:rPr sz="800" b="1">
                <a:solidFill>
                  <a:srgbClr val="666C67"/>
                </a:solidFill>
                <a:latin typeface="Aptos"/>
              </a:rPr>
              <a:t>YEAR 5 • UNIT 1 • THE ANT &amp; THE GRASSHOPPER</a:t>
            </a:r>
          </a:p>
        </p:txBody>
      </p:sp>
      <p:sp>
        <p:nvSpPr>
          <p:cNvPr id="36" name="Oval 35"/>
          <p:cNvSpPr/>
          <p:nvPr/>
        </p:nvSpPr>
        <p:spPr>
          <a:xfrm>
            <a:off x="11201400" y="6510528"/>
            <a:ext cx="91440" cy="91440"/>
          </a:xfrm>
          <a:prstGeom prst="ellipse">
            <a:avLst/>
          </a:prstGeom>
          <a:solidFill>
            <a:srgbClr val="F4BE41"/>
          </a:solidFill>
          <a:ln>
            <a:solidFill>
              <a:srgbClr val="F4BE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11402568" y="6510528"/>
            <a:ext cx="91440" cy="91440"/>
          </a:xfrm>
          <a:prstGeom prst="ellipse">
            <a:avLst/>
          </a:prstGeom>
          <a:solidFill>
            <a:srgbClr val="DD6952"/>
          </a:solidFill>
          <a:ln>
            <a:solidFill>
              <a:srgbClr val="DD69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11603736" y="6510528"/>
            <a:ext cx="91440" cy="91440"/>
          </a:xfrm>
          <a:prstGeom prst="ellipse">
            <a:avLst/>
          </a:prstGeom>
          <a:solidFill>
            <a:srgbClr val="3A7757"/>
          </a:solidFill>
          <a:ln>
            <a:solidFill>
              <a:srgbClr val="3A77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ounded Rectangle 38"/>
          <p:cNvSpPr/>
          <p:nvPr/>
        </p:nvSpPr>
        <p:spPr>
          <a:xfrm>
            <a:off x="10378440" y="6053328"/>
            <a:ext cx="1188720" cy="384048"/>
          </a:xfrm>
          <a:prstGeom prst="roundRect">
            <a:avLst/>
          </a:prstGeom>
          <a:solidFill>
            <a:srgbClr val="FFF4CD"/>
          </a:solidFill>
          <a:ln w="15240">
            <a:solidFill>
              <a:srgbClr val="FFF4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10424160" y="6099048"/>
            <a:ext cx="1097280" cy="274320"/>
          </a:xfrm>
          <a:prstGeom prst="rect">
            <a:avLst/>
          </a:prstGeom>
          <a:noFill/>
        </p:spPr>
        <p:txBody>
          <a:bodyPr wrap="square" lIns="27432" tIns="27432" rIns="27432" bIns="27432" anchor="ctr">
            <a:spAutoFit/>
          </a:bodyPr>
          <a:lstStyle/>
          <a:p>
            <a:pPr algn="ctr">
              <a:lnSpc>
                <a:spcPct val="100000"/>
              </a:lnSpc>
            </a:pPr>
            <a:r>
              <a:rPr sz="1100" b="1">
                <a:solidFill>
                  <a:srgbClr val="1F5340"/>
                </a:solidFill>
                <a:latin typeface="Aptos"/>
              </a:rPr>
              <a:t>⏱ 10 min</a:t>
            </a:r>
          </a:p>
        </p:txBody>
      </p:sp>
      <p:sp>
        <p:nvSpPr>
          <p:cNvPr id="43" name="TextBox 42">
            <a:extLst>
              <a:ext uri="{FF2B5EF4-FFF2-40B4-BE49-F238E27FC236}">
                <a16:creationId xmlns:a16="http://schemas.microsoft.com/office/drawing/2014/main" id="{18812A6D-79D3-7118-8C33-61F136F1C4DB}"/>
              </a:ext>
            </a:extLst>
          </p:cNvPr>
          <p:cNvSpPr txBox="1"/>
          <p:nvPr/>
        </p:nvSpPr>
        <p:spPr>
          <a:xfrm>
            <a:off x="210312" y="4803689"/>
            <a:ext cx="6097508" cy="646331"/>
          </a:xfrm>
          <a:prstGeom prst="rect">
            <a:avLst/>
          </a:prstGeom>
          <a:noFill/>
        </p:spPr>
        <p:txBody>
          <a:bodyPr wrap="square">
            <a:spAutoFit/>
          </a:bodyPr>
          <a:lstStyle/>
          <a:p>
            <a:pPr>
              <a:buNone/>
            </a:pPr>
            <a:r>
              <a:rPr lang="en-US" b="1"/>
              <a:t>Step 2 — Students read all four cards</a:t>
            </a:r>
          </a:p>
          <a:p>
            <a:pPr>
              <a:buNone/>
            </a:pPr>
            <a:r>
              <a:rPr lang="en-US"/>
              <a:t>“Which character does this clue tell us about?”</a:t>
            </a:r>
            <a:endParaRPr lang="en-US" dirty="0"/>
          </a:p>
        </p:txBody>
      </p:sp>
      <p:sp>
        <p:nvSpPr>
          <p:cNvPr id="45" name="TextBox 44">
            <a:extLst>
              <a:ext uri="{FF2B5EF4-FFF2-40B4-BE49-F238E27FC236}">
                <a16:creationId xmlns:a16="http://schemas.microsoft.com/office/drawing/2014/main" id="{9ADEF747-D7D3-2C9B-F929-2618460B24C0}"/>
              </a:ext>
            </a:extLst>
          </p:cNvPr>
          <p:cNvSpPr txBox="1"/>
          <p:nvPr/>
        </p:nvSpPr>
        <p:spPr>
          <a:xfrm>
            <a:off x="5666262" y="4928616"/>
            <a:ext cx="6400800" cy="369332"/>
          </a:xfrm>
          <a:prstGeom prst="rect">
            <a:avLst/>
          </a:prstGeom>
          <a:noFill/>
        </p:spPr>
        <p:txBody>
          <a:bodyPr wrap="square">
            <a:spAutoFit/>
          </a:bodyPr>
          <a:lstStyle/>
          <a:p>
            <a:r>
              <a:rPr lang="en-US" dirty="0"/>
              <a:t>What does the evidence tell us about a character?</a:t>
            </a:r>
          </a:p>
        </p:txBody>
      </p:sp>
      <p:sp>
        <p:nvSpPr>
          <p:cNvPr id="47" name="TextBox 46">
            <a:extLst>
              <a:ext uri="{FF2B5EF4-FFF2-40B4-BE49-F238E27FC236}">
                <a16:creationId xmlns:a16="http://schemas.microsoft.com/office/drawing/2014/main" id="{15119757-EF0B-80BD-DD30-32199111B38F}"/>
              </a:ext>
            </a:extLst>
          </p:cNvPr>
          <p:cNvSpPr txBox="1"/>
          <p:nvPr/>
        </p:nvSpPr>
        <p:spPr>
          <a:xfrm>
            <a:off x="5666262" y="5190023"/>
            <a:ext cx="6691718" cy="369332"/>
          </a:xfrm>
          <a:prstGeom prst="rect">
            <a:avLst/>
          </a:prstGeom>
          <a:noFill/>
        </p:spPr>
        <p:txBody>
          <a:bodyPr wrap="square">
            <a:spAutoFit/>
          </a:bodyPr>
          <a:lstStyle/>
          <a:p>
            <a:r>
              <a:rPr lang="en-US" dirty="0"/>
              <a:t>Which sentence gives us an important warning about what is coming?</a:t>
            </a:r>
          </a:p>
        </p:txBody>
      </p:sp>
      <p:sp>
        <p:nvSpPr>
          <p:cNvPr id="49" name="TextBox 48">
            <a:extLst>
              <a:ext uri="{FF2B5EF4-FFF2-40B4-BE49-F238E27FC236}">
                <a16:creationId xmlns:a16="http://schemas.microsoft.com/office/drawing/2014/main" id="{D8E639DC-C612-CBC1-2F4A-8EF44DE504B1}"/>
              </a:ext>
            </a:extLst>
          </p:cNvPr>
          <p:cNvSpPr txBox="1"/>
          <p:nvPr/>
        </p:nvSpPr>
        <p:spPr>
          <a:xfrm>
            <a:off x="5690330" y="5438697"/>
            <a:ext cx="6495860" cy="369332"/>
          </a:xfrm>
          <a:prstGeom prst="rect">
            <a:avLst/>
          </a:prstGeom>
          <a:noFill/>
        </p:spPr>
        <p:txBody>
          <a:bodyPr wrap="square">
            <a:spAutoFit/>
          </a:bodyPr>
          <a:lstStyle/>
          <a:p>
            <a:pPr>
              <a:buNone/>
            </a:pPr>
            <a:r>
              <a:rPr lang="en-US" dirty="0"/>
              <a:t>Which sentence shows the problem in the story?</a:t>
            </a:r>
          </a:p>
        </p:txBody>
      </p:sp>
      <p:sp>
        <p:nvSpPr>
          <p:cNvPr id="51" name="TextBox 50">
            <a:extLst>
              <a:ext uri="{FF2B5EF4-FFF2-40B4-BE49-F238E27FC236}">
                <a16:creationId xmlns:a16="http://schemas.microsoft.com/office/drawing/2014/main" id="{A35B16A0-EEF7-D7B9-B3AD-CDB3DF5D1B57}"/>
              </a:ext>
            </a:extLst>
          </p:cNvPr>
          <p:cNvSpPr txBox="1"/>
          <p:nvPr/>
        </p:nvSpPr>
        <p:spPr>
          <a:xfrm>
            <a:off x="5666262" y="4712484"/>
            <a:ext cx="6495860" cy="369332"/>
          </a:xfrm>
          <a:prstGeom prst="rect">
            <a:avLst/>
          </a:prstGeom>
          <a:noFill/>
        </p:spPr>
        <p:txBody>
          <a:bodyPr wrap="square">
            <a:spAutoFit/>
          </a:bodyPr>
          <a:lstStyle/>
          <a:p>
            <a:r>
              <a:rPr lang="en-US" b="1" dirty="0"/>
              <a:t>Step 3 — Sort the clues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92608"/>
            <a:ext cx="3657600" cy="256032"/>
          </a:xfrm>
          <a:prstGeom prst="rect">
            <a:avLst/>
          </a:prstGeom>
          <a:noFill/>
        </p:spPr>
        <p:txBody>
          <a:bodyPr wrap="square" lIns="27432" tIns="27432" rIns="27432" bIns="27432" anchor="t">
            <a:spAutoFit/>
          </a:bodyPr>
          <a:lstStyle/>
          <a:p>
            <a:pPr algn="l">
              <a:lnSpc>
                <a:spcPct val="100000"/>
              </a:lnSpc>
            </a:pPr>
            <a:r>
              <a:rPr sz="1000" b="1">
                <a:solidFill>
                  <a:srgbClr val="3A7757"/>
                </a:solidFill>
                <a:latin typeface="Aptos"/>
              </a:rPr>
              <a:t>DETECTIVE DEBRIEF</a:t>
            </a:r>
          </a:p>
        </p:txBody>
      </p:sp>
      <p:sp>
        <p:nvSpPr>
          <p:cNvPr id="3" name="TextBox 2"/>
          <p:cNvSpPr txBox="1"/>
          <p:nvPr/>
        </p:nvSpPr>
        <p:spPr>
          <a:xfrm>
            <a:off x="594360" y="603504"/>
            <a:ext cx="10515600" cy="640080"/>
          </a:xfrm>
          <a:prstGeom prst="rect">
            <a:avLst/>
          </a:prstGeom>
          <a:noFill/>
        </p:spPr>
        <p:txBody>
          <a:bodyPr wrap="square" lIns="27432" tIns="27432" rIns="27432" bIns="27432" anchor="t">
            <a:spAutoFit/>
          </a:bodyPr>
          <a:lstStyle/>
          <a:p>
            <a:pPr algn="l">
              <a:lnSpc>
                <a:spcPct val="100000"/>
              </a:lnSpc>
            </a:pPr>
            <a:r>
              <a:rPr sz="2800" b="1">
                <a:solidFill>
                  <a:srgbClr val="1F5340"/>
                </a:solidFill>
                <a:latin typeface="Aptos Display"/>
              </a:rPr>
              <a:t>Character Evidence Grid</a:t>
            </a:r>
          </a:p>
        </p:txBody>
      </p:sp>
      <p:sp>
        <p:nvSpPr>
          <p:cNvPr id="4" name="Oval 3"/>
          <p:cNvSpPr/>
          <p:nvPr/>
        </p:nvSpPr>
        <p:spPr>
          <a:xfrm>
            <a:off x="11155680" y="320040"/>
            <a:ext cx="438912" cy="438912"/>
          </a:xfrm>
          <a:prstGeom prst="ellipse">
            <a:avLst/>
          </a:prstGeom>
          <a:solidFill>
            <a:srgbClr val="1F5340"/>
          </a:solidFill>
          <a:ln>
            <a:solidFill>
              <a:srgbClr val="1F53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155680" y="356616"/>
            <a:ext cx="438912" cy="310896"/>
          </a:xfrm>
          <a:prstGeom prst="rect">
            <a:avLst/>
          </a:prstGeom>
          <a:noFill/>
        </p:spPr>
        <p:txBody>
          <a:bodyPr wrap="square" lIns="27432" tIns="27432" rIns="27432" bIns="27432" anchor="ctr">
            <a:spAutoFit/>
          </a:bodyPr>
          <a:lstStyle/>
          <a:p>
            <a:pPr algn="ctr">
              <a:lnSpc>
                <a:spcPct val="100000"/>
              </a:lnSpc>
            </a:pPr>
            <a:r>
              <a:rPr sz="1000" b="1">
                <a:solidFill>
                  <a:srgbClr val="FFFFFF"/>
                </a:solidFill>
                <a:latin typeface="Aptos"/>
              </a:rPr>
              <a:t>9</a:t>
            </a:r>
          </a:p>
        </p:txBody>
      </p:sp>
      <p:sp>
        <p:nvSpPr>
          <p:cNvPr id="6" name="Rectangle 5"/>
          <p:cNvSpPr/>
          <p:nvPr/>
        </p:nvSpPr>
        <p:spPr>
          <a:xfrm>
            <a:off x="594360" y="1353312"/>
            <a:ext cx="914400" cy="64008"/>
          </a:xfrm>
          <a:prstGeom prst="rect">
            <a:avLst/>
          </a:prstGeom>
          <a:solidFill>
            <a:srgbClr val="F4BE41"/>
          </a:solidFill>
          <a:ln>
            <a:solidFill>
              <a:srgbClr val="F4BE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40080" y="1691640"/>
            <a:ext cx="2606040" cy="658368"/>
          </a:xfrm>
          <a:prstGeom prst="roundRect">
            <a:avLst/>
          </a:prstGeom>
          <a:solidFill>
            <a:srgbClr val="1F5340"/>
          </a:solidFill>
          <a:ln w="15240">
            <a:solidFill>
              <a:srgbClr val="1F53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9808" y="1847088"/>
            <a:ext cx="2377440" cy="256032"/>
          </a:xfrm>
          <a:prstGeom prst="rect">
            <a:avLst/>
          </a:prstGeom>
          <a:noFill/>
        </p:spPr>
        <p:txBody>
          <a:bodyPr wrap="square" lIns="27432" tIns="27432" rIns="27432" bIns="27432" anchor="t">
            <a:spAutoFit/>
          </a:bodyPr>
          <a:lstStyle/>
          <a:p>
            <a:pPr algn="ctr">
              <a:lnSpc>
                <a:spcPct val="100000"/>
              </a:lnSpc>
            </a:pPr>
            <a:r>
              <a:rPr sz="1200" b="1">
                <a:solidFill>
                  <a:srgbClr val="FFFFFF"/>
                </a:solidFill>
                <a:latin typeface="Aptos"/>
              </a:rPr>
              <a:t>CHARACTER</a:t>
            </a:r>
          </a:p>
        </p:txBody>
      </p:sp>
      <p:sp>
        <p:nvSpPr>
          <p:cNvPr id="9" name="Rounded Rectangle 8"/>
          <p:cNvSpPr/>
          <p:nvPr/>
        </p:nvSpPr>
        <p:spPr>
          <a:xfrm>
            <a:off x="3429000" y="1691640"/>
            <a:ext cx="2606040" cy="658368"/>
          </a:xfrm>
          <a:prstGeom prst="roundRect">
            <a:avLst/>
          </a:prstGeom>
          <a:solidFill>
            <a:srgbClr val="1F5340"/>
          </a:solidFill>
          <a:ln w="15240">
            <a:solidFill>
              <a:srgbClr val="1F53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538727" y="1847088"/>
            <a:ext cx="2377440" cy="256032"/>
          </a:xfrm>
          <a:prstGeom prst="rect">
            <a:avLst/>
          </a:prstGeom>
          <a:noFill/>
        </p:spPr>
        <p:txBody>
          <a:bodyPr wrap="square" lIns="27432" tIns="27432" rIns="27432" bIns="27432" anchor="t">
            <a:spAutoFit/>
          </a:bodyPr>
          <a:lstStyle/>
          <a:p>
            <a:pPr algn="ctr">
              <a:lnSpc>
                <a:spcPct val="100000"/>
              </a:lnSpc>
            </a:pPr>
            <a:r>
              <a:rPr sz="1200" b="1">
                <a:solidFill>
                  <a:srgbClr val="FFFFFF"/>
                </a:solidFill>
                <a:latin typeface="Aptos"/>
              </a:rPr>
              <a:t>WHAT THEY DO</a:t>
            </a:r>
          </a:p>
        </p:txBody>
      </p:sp>
      <p:sp>
        <p:nvSpPr>
          <p:cNvPr id="11" name="Rounded Rectangle 10"/>
          <p:cNvSpPr/>
          <p:nvPr/>
        </p:nvSpPr>
        <p:spPr>
          <a:xfrm>
            <a:off x="6217920" y="1691640"/>
            <a:ext cx="2606040" cy="658368"/>
          </a:xfrm>
          <a:prstGeom prst="roundRect">
            <a:avLst/>
          </a:prstGeom>
          <a:solidFill>
            <a:srgbClr val="1F5340"/>
          </a:solidFill>
          <a:ln w="15240">
            <a:solidFill>
              <a:srgbClr val="1F53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327648" y="1847088"/>
            <a:ext cx="2377440" cy="256032"/>
          </a:xfrm>
          <a:prstGeom prst="rect">
            <a:avLst/>
          </a:prstGeom>
          <a:noFill/>
        </p:spPr>
        <p:txBody>
          <a:bodyPr wrap="square" lIns="27432" tIns="27432" rIns="27432" bIns="27432" anchor="t">
            <a:spAutoFit/>
          </a:bodyPr>
          <a:lstStyle/>
          <a:p>
            <a:pPr algn="ctr">
              <a:lnSpc>
                <a:spcPct val="100000"/>
              </a:lnSpc>
            </a:pPr>
            <a:r>
              <a:rPr sz="1200" b="1">
                <a:solidFill>
                  <a:srgbClr val="FFFFFF"/>
                </a:solidFill>
                <a:latin typeface="Aptos"/>
              </a:rPr>
              <a:t>WHAT THIS SHOWS</a:t>
            </a:r>
          </a:p>
        </p:txBody>
      </p:sp>
      <p:sp>
        <p:nvSpPr>
          <p:cNvPr id="13" name="Rounded Rectangle 12"/>
          <p:cNvSpPr/>
          <p:nvPr/>
        </p:nvSpPr>
        <p:spPr>
          <a:xfrm>
            <a:off x="9006839" y="1691640"/>
            <a:ext cx="2606040" cy="658368"/>
          </a:xfrm>
          <a:prstGeom prst="roundRect">
            <a:avLst/>
          </a:prstGeom>
          <a:solidFill>
            <a:srgbClr val="1F5340"/>
          </a:solidFill>
          <a:ln w="15240">
            <a:solidFill>
              <a:srgbClr val="1F53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116567" y="1847088"/>
            <a:ext cx="2377440" cy="256032"/>
          </a:xfrm>
          <a:prstGeom prst="rect">
            <a:avLst/>
          </a:prstGeom>
          <a:noFill/>
        </p:spPr>
        <p:txBody>
          <a:bodyPr wrap="square" lIns="27432" tIns="27432" rIns="27432" bIns="27432" anchor="t">
            <a:spAutoFit/>
          </a:bodyPr>
          <a:lstStyle/>
          <a:p>
            <a:pPr algn="ctr">
              <a:lnSpc>
                <a:spcPct val="100000"/>
              </a:lnSpc>
            </a:pPr>
            <a:r>
              <a:rPr sz="1200" b="1">
                <a:solidFill>
                  <a:srgbClr val="FFFFFF"/>
                </a:solidFill>
                <a:latin typeface="Aptos"/>
              </a:rPr>
              <a:t>EVIDENCE</a:t>
            </a:r>
          </a:p>
        </p:txBody>
      </p:sp>
      <p:sp>
        <p:nvSpPr>
          <p:cNvPr id="15" name="Rounded Rectangle 14"/>
          <p:cNvSpPr/>
          <p:nvPr/>
        </p:nvSpPr>
        <p:spPr>
          <a:xfrm>
            <a:off x="640080" y="2450592"/>
            <a:ext cx="2606040" cy="932688"/>
          </a:xfrm>
          <a:prstGeom prst="roundRect">
            <a:avLst/>
          </a:prstGeom>
          <a:solidFill>
            <a:srgbClr val="E1EFE4"/>
          </a:solidFill>
          <a:ln w="15240">
            <a:solidFill>
              <a:srgbClr val="E1E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86384" y="2673793"/>
            <a:ext cx="2286000" cy="486287"/>
          </a:xfrm>
          <a:prstGeom prst="rect">
            <a:avLst/>
          </a:prstGeom>
          <a:noFill/>
        </p:spPr>
        <p:txBody>
          <a:bodyPr wrap="square" lIns="27432" tIns="27432" rIns="27432" bIns="27432" anchor="ctr">
            <a:spAutoFit/>
          </a:bodyPr>
          <a:lstStyle/>
          <a:p>
            <a:pPr algn="ctr">
              <a:lnSpc>
                <a:spcPct val="100000"/>
              </a:lnSpc>
            </a:pPr>
            <a:r>
              <a:rPr sz="2800" b="1" dirty="0">
                <a:solidFill>
                  <a:srgbClr val="262B2A"/>
                </a:solidFill>
                <a:latin typeface="Aptos"/>
              </a:rPr>
              <a:t>ANT</a:t>
            </a:r>
            <a:endParaRPr sz="1400" b="1" dirty="0">
              <a:solidFill>
                <a:srgbClr val="262B2A"/>
              </a:solidFill>
              <a:latin typeface="Aptos"/>
            </a:endParaRPr>
          </a:p>
        </p:txBody>
      </p:sp>
      <p:sp>
        <p:nvSpPr>
          <p:cNvPr id="17" name="Rounded Rectangle 16"/>
          <p:cNvSpPr/>
          <p:nvPr/>
        </p:nvSpPr>
        <p:spPr>
          <a:xfrm>
            <a:off x="3429000" y="2450592"/>
            <a:ext cx="2606040" cy="932688"/>
          </a:xfrm>
          <a:prstGeom prst="roundRect">
            <a:avLst/>
          </a:prstGeom>
          <a:solidFill>
            <a:srgbClr val="FFFFFF"/>
          </a:solidFill>
          <a:ln w="1524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575303" y="2735348"/>
            <a:ext cx="2286000" cy="363176"/>
          </a:xfrm>
          <a:prstGeom prst="rect">
            <a:avLst/>
          </a:prstGeom>
          <a:noFill/>
        </p:spPr>
        <p:txBody>
          <a:bodyPr wrap="square" lIns="27432" tIns="27432" rIns="27432" bIns="27432" anchor="ctr">
            <a:spAutoFit/>
          </a:bodyPr>
          <a:lstStyle/>
          <a:p>
            <a:pPr algn="ctr">
              <a:lnSpc>
                <a:spcPct val="100000"/>
              </a:lnSpc>
            </a:pPr>
            <a:r>
              <a:rPr sz="2000" b="0" dirty="0">
                <a:solidFill>
                  <a:srgbClr val="262B2A"/>
                </a:solidFill>
                <a:latin typeface="Aptos"/>
              </a:rPr>
              <a:t>Works + stores food</a:t>
            </a:r>
          </a:p>
        </p:txBody>
      </p:sp>
      <p:sp>
        <p:nvSpPr>
          <p:cNvPr id="19" name="Rounded Rectangle 18"/>
          <p:cNvSpPr/>
          <p:nvPr/>
        </p:nvSpPr>
        <p:spPr>
          <a:xfrm>
            <a:off x="6217920" y="2450592"/>
            <a:ext cx="2606040" cy="932688"/>
          </a:xfrm>
          <a:prstGeom prst="roundRect">
            <a:avLst/>
          </a:prstGeom>
          <a:solidFill>
            <a:srgbClr val="FFF4CD"/>
          </a:solidFill>
          <a:ln w="15240">
            <a:solidFill>
              <a:srgbClr val="FFF4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364224" y="2581460"/>
            <a:ext cx="2286000" cy="670953"/>
          </a:xfrm>
          <a:prstGeom prst="rect">
            <a:avLst/>
          </a:prstGeom>
          <a:noFill/>
        </p:spPr>
        <p:txBody>
          <a:bodyPr wrap="square" lIns="27432" tIns="27432" rIns="27432" bIns="27432" anchor="ctr">
            <a:spAutoFit/>
          </a:bodyPr>
          <a:lstStyle/>
          <a:p>
            <a:pPr algn="ctr">
              <a:lnSpc>
                <a:spcPct val="100000"/>
              </a:lnSpc>
            </a:pPr>
            <a:r>
              <a:rPr sz="2000" b="0" dirty="0">
                <a:solidFill>
                  <a:srgbClr val="262B2A"/>
                </a:solidFill>
                <a:latin typeface="Aptos"/>
              </a:rPr>
              <a:t>Responsible / prepared</a:t>
            </a:r>
          </a:p>
        </p:txBody>
      </p:sp>
      <p:sp>
        <p:nvSpPr>
          <p:cNvPr id="21" name="Rounded Rectangle 20"/>
          <p:cNvSpPr/>
          <p:nvPr/>
        </p:nvSpPr>
        <p:spPr>
          <a:xfrm>
            <a:off x="9006839" y="2450592"/>
            <a:ext cx="2606040" cy="932688"/>
          </a:xfrm>
          <a:prstGeom prst="roundRect">
            <a:avLst/>
          </a:prstGeom>
          <a:solidFill>
            <a:srgbClr val="F9E2DC"/>
          </a:solidFill>
          <a:ln w="15240">
            <a:solidFill>
              <a:srgbClr val="F9E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153143" y="2581460"/>
            <a:ext cx="2286000" cy="670953"/>
          </a:xfrm>
          <a:prstGeom prst="rect">
            <a:avLst/>
          </a:prstGeom>
          <a:noFill/>
        </p:spPr>
        <p:txBody>
          <a:bodyPr wrap="square" lIns="27432" tIns="27432" rIns="27432" bIns="27432" anchor="ctr">
            <a:spAutoFit/>
          </a:bodyPr>
          <a:lstStyle/>
          <a:p>
            <a:pPr algn="ctr">
              <a:lnSpc>
                <a:spcPct val="100000"/>
              </a:lnSpc>
            </a:pPr>
            <a:r>
              <a:rPr sz="2000" b="0" dirty="0">
                <a:solidFill>
                  <a:srgbClr val="262B2A"/>
                </a:solidFill>
                <a:latin typeface="Aptos"/>
              </a:rPr>
              <a:t>“stored them carefully”</a:t>
            </a:r>
          </a:p>
        </p:txBody>
      </p:sp>
      <p:sp>
        <p:nvSpPr>
          <p:cNvPr id="23" name="Rounded Rectangle 22"/>
          <p:cNvSpPr/>
          <p:nvPr/>
        </p:nvSpPr>
        <p:spPr>
          <a:xfrm>
            <a:off x="640080" y="3593592"/>
            <a:ext cx="2606040" cy="932688"/>
          </a:xfrm>
          <a:prstGeom prst="roundRect">
            <a:avLst/>
          </a:prstGeom>
          <a:solidFill>
            <a:srgbClr val="E1EFE4"/>
          </a:solidFill>
          <a:ln w="15240">
            <a:solidFill>
              <a:srgbClr val="E1E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86384" y="3847570"/>
            <a:ext cx="2286000" cy="424732"/>
          </a:xfrm>
          <a:prstGeom prst="rect">
            <a:avLst/>
          </a:prstGeom>
          <a:noFill/>
        </p:spPr>
        <p:txBody>
          <a:bodyPr wrap="square" lIns="27432" tIns="27432" rIns="27432" bIns="27432" anchor="ctr">
            <a:spAutoFit/>
          </a:bodyPr>
          <a:lstStyle/>
          <a:p>
            <a:pPr algn="ctr">
              <a:lnSpc>
                <a:spcPct val="100000"/>
              </a:lnSpc>
            </a:pPr>
            <a:r>
              <a:rPr sz="2400" b="1" dirty="0">
                <a:solidFill>
                  <a:srgbClr val="262B2A"/>
                </a:solidFill>
                <a:latin typeface="Aptos"/>
              </a:rPr>
              <a:t>GRASSHOPPER</a:t>
            </a:r>
          </a:p>
        </p:txBody>
      </p:sp>
      <p:sp>
        <p:nvSpPr>
          <p:cNvPr id="25" name="Rounded Rectangle 24"/>
          <p:cNvSpPr/>
          <p:nvPr/>
        </p:nvSpPr>
        <p:spPr>
          <a:xfrm>
            <a:off x="3429000" y="3593592"/>
            <a:ext cx="2606040" cy="932688"/>
          </a:xfrm>
          <a:prstGeom prst="roundRect">
            <a:avLst/>
          </a:prstGeom>
          <a:solidFill>
            <a:srgbClr val="FFFFFF"/>
          </a:solidFill>
          <a:ln w="1524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575303" y="3878348"/>
            <a:ext cx="2286000" cy="363176"/>
          </a:xfrm>
          <a:prstGeom prst="rect">
            <a:avLst/>
          </a:prstGeom>
          <a:noFill/>
        </p:spPr>
        <p:txBody>
          <a:bodyPr wrap="square" lIns="27432" tIns="27432" rIns="27432" bIns="27432" anchor="ctr">
            <a:spAutoFit/>
          </a:bodyPr>
          <a:lstStyle/>
          <a:p>
            <a:pPr algn="ctr">
              <a:lnSpc>
                <a:spcPct val="100000"/>
              </a:lnSpc>
            </a:pPr>
            <a:r>
              <a:rPr sz="2000" b="0" dirty="0">
                <a:solidFill>
                  <a:srgbClr val="262B2A"/>
                </a:solidFill>
                <a:latin typeface="Aptos"/>
              </a:rPr>
              <a:t>Sings + plays</a:t>
            </a:r>
          </a:p>
        </p:txBody>
      </p:sp>
      <p:sp>
        <p:nvSpPr>
          <p:cNvPr id="27" name="Rounded Rectangle 26"/>
          <p:cNvSpPr/>
          <p:nvPr/>
        </p:nvSpPr>
        <p:spPr>
          <a:xfrm>
            <a:off x="6217920" y="3593592"/>
            <a:ext cx="2606040" cy="932688"/>
          </a:xfrm>
          <a:prstGeom prst="roundRect">
            <a:avLst/>
          </a:prstGeom>
          <a:solidFill>
            <a:srgbClr val="FFF4CD"/>
          </a:solidFill>
          <a:ln w="15240">
            <a:solidFill>
              <a:srgbClr val="FFF4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364224" y="3724459"/>
            <a:ext cx="2286000" cy="670953"/>
          </a:xfrm>
          <a:prstGeom prst="rect">
            <a:avLst/>
          </a:prstGeom>
          <a:noFill/>
        </p:spPr>
        <p:txBody>
          <a:bodyPr wrap="square" lIns="27432" tIns="27432" rIns="27432" bIns="27432" anchor="ctr">
            <a:spAutoFit/>
          </a:bodyPr>
          <a:lstStyle/>
          <a:p>
            <a:pPr algn="ctr">
              <a:lnSpc>
                <a:spcPct val="100000"/>
              </a:lnSpc>
            </a:pPr>
            <a:r>
              <a:rPr sz="2000" b="0" dirty="0">
                <a:solidFill>
                  <a:srgbClr val="262B2A"/>
                </a:solidFill>
                <a:latin typeface="Aptos"/>
              </a:rPr>
              <a:t>Careless / unprepared</a:t>
            </a:r>
          </a:p>
        </p:txBody>
      </p:sp>
      <p:sp>
        <p:nvSpPr>
          <p:cNvPr id="29" name="Rounded Rectangle 28"/>
          <p:cNvSpPr/>
          <p:nvPr/>
        </p:nvSpPr>
        <p:spPr>
          <a:xfrm>
            <a:off x="9006839" y="3593592"/>
            <a:ext cx="2606040" cy="932688"/>
          </a:xfrm>
          <a:prstGeom prst="roundRect">
            <a:avLst/>
          </a:prstGeom>
          <a:solidFill>
            <a:srgbClr val="F9E2DC"/>
          </a:solidFill>
          <a:ln w="15240">
            <a:solidFill>
              <a:srgbClr val="F9E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153143" y="3724460"/>
            <a:ext cx="2286000" cy="670953"/>
          </a:xfrm>
          <a:prstGeom prst="rect">
            <a:avLst/>
          </a:prstGeom>
          <a:noFill/>
        </p:spPr>
        <p:txBody>
          <a:bodyPr wrap="square" lIns="27432" tIns="27432" rIns="27432" bIns="27432" anchor="ctr">
            <a:spAutoFit/>
          </a:bodyPr>
          <a:lstStyle/>
          <a:p>
            <a:pPr algn="ctr">
              <a:lnSpc>
                <a:spcPct val="100000"/>
              </a:lnSpc>
            </a:pPr>
            <a:r>
              <a:rPr sz="2000" b="0" dirty="0">
                <a:solidFill>
                  <a:srgbClr val="262B2A"/>
                </a:solidFill>
                <a:latin typeface="Aptos"/>
              </a:rPr>
              <a:t>“spent the summer playing”</a:t>
            </a:r>
          </a:p>
        </p:txBody>
      </p:sp>
      <p:sp>
        <p:nvSpPr>
          <p:cNvPr id="31" name="Rounded Rectangle 30"/>
          <p:cNvSpPr/>
          <p:nvPr/>
        </p:nvSpPr>
        <p:spPr>
          <a:xfrm>
            <a:off x="1051560" y="5074920"/>
            <a:ext cx="10058400" cy="822960"/>
          </a:xfrm>
          <a:prstGeom prst="roundRect">
            <a:avLst/>
          </a:prstGeom>
          <a:solidFill>
            <a:srgbClr val="FFFFFF"/>
          </a:solidFill>
          <a:ln w="1524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325880" y="5321808"/>
            <a:ext cx="9509760" cy="320040"/>
          </a:xfrm>
          <a:prstGeom prst="rect">
            <a:avLst/>
          </a:prstGeom>
          <a:noFill/>
        </p:spPr>
        <p:txBody>
          <a:bodyPr wrap="square" lIns="27432" tIns="27432" rIns="27432" bIns="27432" anchor="t">
            <a:spAutoFit/>
          </a:bodyPr>
          <a:lstStyle/>
          <a:p>
            <a:pPr algn="ctr">
              <a:lnSpc>
                <a:spcPct val="100000"/>
              </a:lnSpc>
            </a:pPr>
            <a:r>
              <a:rPr sz="1700" b="1">
                <a:solidFill>
                  <a:srgbClr val="DD6952"/>
                </a:solidFill>
                <a:latin typeface="Aptos"/>
              </a:rPr>
              <a:t>YOUR TURN: Add ONE piece of evidence the teacher has not used.</a:t>
            </a:r>
          </a:p>
        </p:txBody>
      </p:sp>
      <p:sp>
        <p:nvSpPr>
          <p:cNvPr id="33" name="TextBox 32"/>
          <p:cNvSpPr txBox="1"/>
          <p:nvPr/>
        </p:nvSpPr>
        <p:spPr>
          <a:xfrm>
            <a:off x="621792" y="6519672"/>
            <a:ext cx="6400800" cy="182880"/>
          </a:xfrm>
          <a:prstGeom prst="rect">
            <a:avLst/>
          </a:prstGeom>
          <a:noFill/>
        </p:spPr>
        <p:txBody>
          <a:bodyPr wrap="square" lIns="27432" tIns="27432" rIns="27432" bIns="27432" anchor="t">
            <a:spAutoFit/>
          </a:bodyPr>
          <a:lstStyle/>
          <a:p>
            <a:pPr algn="l">
              <a:lnSpc>
                <a:spcPct val="100000"/>
              </a:lnSpc>
            </a:pPr>
            <a:r>
              <a:rPr sz="800" b="1">
                <a:solidFill>
                  <a:srgbClr val="666C67"/>
                </a:solidFill>
                <a:latin typeface="Aptos"/>
              </a:rPr>
              <a:t>YEAR 5 • UNIT 1 • THE ANT &amp; THE GRASSHOPPER</a:t>
            </a:r>
          </a:p>
        </p:txBody>
      </p:sp>
      <p:sp>
        <p:nvSpPr>
          <p:cNvPr id="34" name="Oval 33"/>
          <p:cNvSpPr/>
          <p:nvPr/>
        </p:nvSpPr>
        <p:spPr>
          <a:xfrm>
            <a:off x="11201400" y="6510528"/>
            <a:ext cx="91440" cy="91440"/>
          </a:xfrm>
          <a:prstGeom prst="ellipse">
            <a:avLst/>
          </a:prstGeom>
          <a:solidFill>
            <a:srgbClr val="F4BE41"/>
          </a:solidFill>
          <a:ln>
            <a:solidFill>
              <a:srgbClr val="F4BE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11402568" y="6510528"/>
            <a:ext cx="91440" cy="91440"/>
          </a:xfrm>
          <a:prstGeom prst="ellipse">
            <a:avLst/>
          </a:prstGeom>
          <a:solidFill>
            <a:srgbClr val="DD6952"/>
          </a:solidFill>
          <a:ln>
            <a:solidFill>
              <a:srgbClr val="DD69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11603736" y="6510528"/>
            <a:ext cx="91440" cy="91440"/>
          </a:xfrm>
          <a:prstGeom prst="ellipse">
            <a:avLst/>
          </a:prstGeom>
          <a:solidFill>
            <a:srgbClr val="3A7757"/>
          </a:solidFill>
          <a:ln>
            <a:solidFill>
              <a:srgbClr val="3A77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ounded Rectangle 36"/>
          <p:cNvSpPr/>
          <p:nvPr/>
        </p:nvSpPr>
        <p:spPr>
          <a:xfrm>
            <a:off x="10378440" y="6053328"/>
            <a:ext cx="1188720" cy="384048"/>
          </a:xfrm>
          <a:prstGeom prst="roundRect">
            <a:avLst/>
          </a:prstGeom>
          <a:solidFill>
            <a:srgbClr val="FFF4CD"/>
          </a:solidFill>
          <a:ln w="15240">
            <a:solidFill>
              <a:srgbClr val="FFF4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0424160" y="6099048"/>
            <a:ext cx="1097280" cy="274320"/>
          </a:xfrm>
          <a:prstGeom prst="rect">
            <a:avLst/>
          </a:prstGeom>
          <a:noFill/>
        </p:spPr>
        <p:txBody>
          <a:bodyPr wrap="square" lIns="27432" tIns="27432" rIns="27432" bIns="27432" anchor="ctr">
            <a:spAutoFit/>
          </a:bodyPr>
          <a:lstStyle/>
          <a:p>
            <a:pPr algn="ctr">
              <a:lnSpc>
                <a:spcPct val="100000"/>
              </a:lnSpc>
            </a:pPr>
            <a:r>
              <a:rPr sz="1100" b="1">
                <a:solidFill>
                  <a:srgbClr val="1F5340"/>
                </a:solidFill>
                <a:latin typeface="Aptos"/>
              </a:rPr>
              <a:t>⏱ 5 min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92608"/>
            <a:ext cx="3657600" cy="256032"/>
          </a:xfrm>
          <a:prstGeom prst="rect">
            <a:avLst/>
          </a:prstGeom>
          <a:noFill/>
        </p:spPr>
        <p:txBody>
          <a:bodyPr wrap="square" lIns="27432" tIns="27432" rIns="27432" bIns="27432" anchor="t">
            <a:spAutoFit/>
          </a:bodyPr>
          <a:lstStyle/>
          <a:p>
            <a:pPr algn="l">
              <a:lnSpc>
                <a:spcPct val="100000"/>
              </a:lnSpc>
            </a:pPr>
            <a:r>
              <a:rPr sz="1000" b="1">
                <a:solidFill>
                  <a:srgbClr val="3A7757"/>
                </a:solidFill>
                <a:latin typeface="Aptos"/>
              </a:rPr>
              <a:t>CREATIVE ACTIVITY 2</a:t>
            </a:r>
          </a:p>
        </p:txBody>
      </p:sp>
      <p:sp>
        <p:nvSpPr>
          <p:cNvPr id="3" name="TextBox 2"/>
          <p:cNvSpPr txBox="1"/>
          <p:nvPr/>
        </p:nvSpPr>
        <p:spPr>
          <a:xfrm>
            <a:off x="594360" y="603504"/>
            <a:ext cx="10515600" cy="640080"/>
          </a:xfrm>
          <a:prstGeom prst="rect">
            <a:avLst/>
          </a:prstGeom>
          <a:noFill/>
        </p:spPr>
        <p:txBody>
          <a:bodyPr wrap="square" lIns="27432" tIns="27432" rIns="27432" bIns="27432" anchor="t">
            <a:spAutoFit/>
          </a:bodyPr>
          <a:lstStyle/>
          <a:p>
            <a:pPr algn="l">
              <a:lnSpc>
                <a:spcPct val="100000"/>
              </a:lnSpc>
            </a:pPr>
            <a:r>
              <a:rPr sz="2800" b="1">
                <a:solidFill>
                  <a:srgbClr val="1F5340"/>
                </a:solidFill>
                <a:latin typeface="Aptos Display"/>
              </a:rPr>
              <a:t>Freeze-Frame Story</a:t>
            </a:r>
          </a:p>
        </p:txBody>
      </p:sp>
      <p:sp>
        <p:nvSpPr>
          <p:cNvPr id="4" name="Oval 3"/>
          <p:cNvSpPr/>
          <p:nvPr/>
        </p:nvSpPr>
        <p:spPr>
          <a:xfrm>
            <a:off x="11155680" y="320040"/>
            <a:ext cx="438912" cy="438912"/>
          </a:xfrm>
          <a:prstGeom prst="ellipse">
            <a:avLst/>
          </a:prstGeom>
          <a:solidFill>
            <a:srgbClr val="1F5340"/>
          </a:solidFill>
          <a:ln>
            <a:solidFill>
              <a:srgbClr val="1F53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155680" y="356616"/>
            <a:ext cx="438912" cy="310896"/>
          </a:xfrm>
          <a:prstGeom prst="rect">
            <a:avLst/>
          </a:prstGeom>
          <a:noFill/>
        </p:spPr>
        <p:txBody>
          <a:bodyPr wrap="square" lIns="27432" tIns="27432" rIns="27432" bIns="27432" anchor="ctr">
            <a:spAutoFit/>
          </a:bodyPr>
          <a:lstStyle/>
          <a:p>
            <a:pPr algn="ctr">
              <a:lnSpc>
                <a:spcPct val="100000"/>
              </a:lnSpc>
            </a:pPr>
            <a:r>
              <a:rPr sz="1000" b="1">
                <a:solidFill>
                  <a:srgbClr val="FFFFFF"/>
                </a:solidFill>
                <a:latin typeface="Aptos"/>
              </a:rPr>
              <a:t>10</a:t>
            </a:r>
          </a:p>
        </p:txBody>
      </p:sp>
      <p:sp>
        <p:nvSpPr>
          <p:cNvPr id="6" name="Rectangle 5"/>
          <p:cNvSpPr/>
          <p:nvPr/>
        </p:nvSpPr>
        <p:spPr>
          <a:xfrm>
            <a:off x="594360" y="1353312"/>
            <a:ext cx="914400" cy="64008"/>
          </a:xfrm>
          <a:prstGeom prst="rect">
            <a:avLst/>
          </a:prstGeom>
          <a:solidFill>
            <a:srgbClr val="F4BE41"/>
          </a:solidFill>
          <a:ln>
            <a:solidFill>
              <a:srgbClr val="F4BE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1600200"/>
            <a:ext cx="10607040" cy="424732"/>
          </a:xfrm>
          <a:prstGeom prst="rect">
            <a:avLst/>
          </a:prstGeom>
          <a:noFill/>
        </p:spPr>
        <p:txBody>
          <a:bodyPr wrap="square" lIns="27432" tIns="27432" rIns="27432" bIns="27432" anchor="t">
            <a:spAutoFit/>
          </a:bodyPr>
          <a:lstStyle/>
          <a:p>
            <a:pPr algn="ctr">
              <a:lnSpc>
                <a:spcPct val="100000"/>
              </a:lnSpc>
            </a:pPr>
            <a:r>
              <a:rPr sz="2100" b="1" dirty="0">
                <a:solidFill>
                  <a:srgbClr val="1F5340"/>
                </a:solidFill>
                <a:latin typeface="Aptos"/>
              </a:rPr>
              <a:t>In groups, </a:t>
            </a:r>
            <a:r>
              <a:rPr lang="en-US" sz="2400" b="1" dirty="0"/>
              <a:t>Create 4 frozen pictures from the story.</a:t>
            </a:r>
            <a:endParaRPr sz="2100" b="1" dirty="0">
              <a:solidFill>
                <a:srgbClr val="1F5340"/>
              </a:solidFill>
              <a:latin typeface="Aptos"/>
            </a:endParaRPr>
          </a:p>
        </p:txBody>
      </p:sp>
      <p:sp>
        <p:nvSpPr>
          <p:cNvPr id="8" name="Rounded Rectangle 7"/>
          <p:cNvSpPr/>
          <p:nvPr/>
        </p:nvSpPr>
        <p:spPr>
          <a:xfrm>
            <a:off x="594360" y="2240280"/>
            <a:ext cx="2606040" cy="2240280"/>
          </a:xfrm>
          <a:prstGeom prst="roundRect">
            <a:avLst/>
          </a:prstGeom>
          <a:solidFill>
            <a:srgbClr val="E1EFE4"/>
          </a:solidFill>
          <a:ln w="15240">
            <a:solidFill>
              <a:srgbClr val="E1EFE4"/>
            </a:solidFill>
          </a:ln>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b="1" dirty="0"/>
              <a:t>. </a:t>
            </a:r>
          </a:p>
          <a:p>
            <a:pPr>
              <a:buNone/>
            </a:pPr>
            <a:endParaRPr lang="en-US" b="1" dirty="0">
              <a:solidFill>
                <a:schemeClr val="tx1"/>
              </a:solidFill>
            </a:endParaRPr>
          </a:p>
          <a:p>
            <a:pPr>
              <a:buNone/>
            </a:pPr>
            <a:r>
              <a:rPr lang="en-US" b="1" dirty="0">
                <a:solidFill>
                  <a:schemeClr val="tx1"/>
                </a:solidFill>
              </a:rPr>
              <a:t>WORK</a:t>
            </a:r>
            <a:r>
              <a:rPr lang="en-US" dirty="0">
                <a:solidFill>
                  <a:schemeClr val="tx1"/>
                </a:solidFill>
              </a:rPr>
              <a:t> 🐜</a:t>
            </a:r>
            <a:br>
              <a:rPr lang="en-US" dirty="0">
                <a:solidFill>
                  <a:schemeClr val="tx1"/>
                </a:solidFill>
              </a:rPr>
            </a:br>
            <a:r>
              <a:rPr lang="en-US" dirty="0">
                <a:solidFill>
                  <a:schemeClr val="tx1"/>
                </a:solidFill>
              </a:rPr>
              <a:t>Show the Ant preparing for winter</a:t>
            </a:r>
            <a:r>
              <a:rPr lang="en-US" dirty="0"/>
              <a:t>.</a:t>
            </a:r>
          </a:p>
        </p:txBody>
      </p:sp>
      <p:sp>
        <p:nvSpPr>
          <p:cNvPr id="9" name="Oval 8"/>
          <p:cNvSpPr/>
          <p:nvPr/>
        </p:nvSpPr>
        <p:spPr>
          <a:xfrm>
            <a:off x="1527048" y="2487168"/>
            <a:ext cx="658368" cy="658368"/>
          </a:xfrm>
          <a:prstGeom prst="ellipse">
            <a:avLst/>
          </a:prstGeom>
          <a:solidFill>
            <a:srgbClr val="F4BE41"/>
          </a:solidFill>
          <a:ln>
            <a:solidFill>
              <a:srgbClr val="F4BE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527048" y="2624328"/>
            <a:ext cx="658368" cy="228600"/>
          </a:xfrm>
          <a:prstGeom prst="rect">
            <a:avLst/>
          </a:prstGeom>
          <a:noFill/>
        </p:spPr>
        <p:txBody>
          <a:bodyPr wrap="square" lIns="27432" tIns="27432" rIns="27432" bIns="27432" anchor="t">
            <a:spAutoFit/>
          </a:bodyPr>
          <a:lstStyle/>
          <a:p>
            <a:pPr algn="ctr">
              <a:lnSpc>
                <a:spcPct val="100000"/>
              </a:lnSpc>
            </a:pPr>
            <a:r>
              <a:rPr sz="1400" b="1" dirty="0">
                <a:solidFill>
                  <a:srgbClr val="FFFFFF"/>
                </a:solidFill>
                <a:latin typeface="Aptos"/>
              </a:rPr>
              <a:t>1</a:t>
            </a:r>
          </a:p>
        </p:txBody>
      </p:sp>
      <p:sp>
        <p:nvSpPr>
          <p:cNvPr id="13" name="Rounded Rectangle 12"/>
          <p:cNvSpPr/>
          <p:nvPr/>
        </p:nvSpPr>
        <p:spPr>
          <a:xfrm>
            <a:off x="3474720" y="2240280"/>
            <a:ext cx="2606040" cy="2240280"/>
          </a:xfrm>
          <a:prstGeom prst="roundRect">
            <a:avLst/>
          </a:prstGeom>
          <a:solidFill>
            <a:srgbClr val="FFF4CD"/>
          </a:solidFill>
          <a:ln w="15240">
            <a:solidFill>
              <a:srgbClr val="FFF4CD"/>
            </a:solidFill>
          </a:ln>
        </p:spPr>
        <p:style>
          <a:lnRef idx="1">
            <a:schemeClr val="accent1"/>
          </a:lnRef>
          <a:fillRef idx="3">
            <a:schemeClr val="accent1"/>
          </a:fillRef>
          <a:effectRef idx="2">
            <a:schemeClr val="accent1"/>
          </a:effectRef>
          <a:fontRef idx="minor">
            <a:schemeClr val="lt1"/>
          </a:fontRef>
        </p:style>
        <p:txBody>
          <a:bodyPr rtlCol="0" anchor="ctr"/>
          <a:lstStyle/>
          <a:p>
            <a:pPr>
              <a:buNone/>
            </a:pPr>
            <a:endParaRPr lang="en-US" b="1" dirty="0"/>
          </a:p>
          <a:p>
            <a:pPr>
              <a:buNone/>
            </a:pPr>
            <a:endParaRPr lang="en-US" b="1" dirty="0"/>
          </a:p>
          <a:p>
            <a:pPr>
              <a:buNone/>
            </a:pPr>
            <a:r>
              <a:rPr lang="en-US" b="1" dirty="0">
                <a:solidFill>
                  <a:schemeClr val="tx1"/>
                </a:solidFill>
              </a:rPr>
              <a:t>2. PLAY</a:t>
            </a:r>
            <a:r>
              <a:rPr lang="en-US" dirty="0">
                <a:solidFill>
                  <a:schemeClr val="tx1"/>
                </a:solidFill>
              </a:rPr>
              <a:t> 🦗</a:t>
            </a:r>
            <a:br>
              <a:rPr lang="en-US" dirty="0">
                <a:solidFill>
                  <a:schemeClr val="tx1"/>
                </a:solidFill>
              </a:rPr>
            </a:br>
            <a:r>
              <a:rPr lang="en-US" dirty="0">
                <a:solidFill>
                  <a:schemeClr val="tx1"/>
                </a:solidFill>
              </a:rPr>
              <a:t>Show the Grasshopper enjoying summer.</a:t>
            </a:r>
          </a:p>
        </p:txBody>
      </p:sp>
      <p:sp>
        <p:nvSpPr>
          <p:cNvPr id="14" name="Oval 13"/>
          <p:cNvSpPr/>
          <p:nvPr/>
        </p:nvSpPr>
        <p:spPr>
          <a:xfrm>
            <a:off x="4407408" y="2487168"/>
            <a:ext cx="658368" cy="658368"/>
          </a:xfrm>
          <a:prstGeom prst="ellipse">
            <a:avLst/>
          </a:prstGeom>
          <a:solidFill>
            <a:srgbClr val="F4BE41"/>
          </a:solidFill>
          <a:ln>
            <a:solidFill>
              <a:srgbClr val="F4BE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407408" y="2624328"/>
            <a:ext cx="658368" cy="228600"/>
          </a:xfrm>
          <a:prstGeom prst="rect">
            <a:avLst/>
          </a:prstGeom>
          <a:noFill/>
        </p:spPr>
        <p:txBody>
          <a:bodyPr wrap="square" lIns="27432" tIns="27432" rIns="27432" bIns="27432" anchor="t">
            <a:spAutoFit/>
          </a:bodyPr>
          <a:lstStyle/>
          <a:p>
            <a:pPr algn="ctr">
              <a:lnSpc>
                <a:spcPct val="100000"/>
              </a:lnSpc>
            </a:pPr>
            <a:r>
              <a:rPr sz="1400" b="1">
                <a:solidFill>
                  <a:srgbClr val="FFFFFF"/>
                </a:solidFill>
                <a:latin typeface="Aptos"/>
              </a:rPr>
              <a:t>2</a:t>
            </a:r>
          </a:p>
        </p:txBody>
      </p:sp>
      <p:sp>
        <p:nvSpPr>
          <p:cNvPr id="18" name="Rounded Rectangle 17"/>
          <p:cNvSpPr/>
          <p:nvPr/>
        </p:nvSpPr>
        <p:spPr>
          <a:xfrm>
            <a:off x="6355080" y="2240280"/>
            <a:ext cx="2606040" cy="2240280"/>
          </a:xfrm>
          <a:prstGeom prst="roundRect">
            <a:avLst/>
          </a:prstGeom>
          <a:solidFill>
            <a:srgbClr val="F9E2DC"/>
          </a:solidFill>
          <a:ln w="15240">
            <a:solidFill>
              <a:srgbClr val="F9E2DC"/>
            </a:solidFill>
          </a:ln>
        </p:spPr>
        <p:style>
          <a:lnRef idx="1">
            <a:schemeClr val="accent1"/>
          </a:lnRef>
          <a:fillRef idx="3">
            <a:schemeClr val="accent1"/>
          </a:fillRef>
          <a:effectRef idx="2">
            <a:schemeClr val="accent1"/>
          </a:effectRef>
          <a:fontRef idx="minor">
            <a:schemeClr val="lt1"/>
          </a:fontRef>
        </p:style>
        <p:txBody>
          <a:bodyPr rtlCol="0" anchor="ctr"/>
          <a:lstStyle/>
          <a:p>
            <a:pPr>
              <a:buNone/>
            </a:pPr>
            <a:endParaRPr lang="en-US" b="1" dirty="0"/>
          </a:p>
          <a:p>
            <a:pPr>
              <a:buNone/>
            </a:pPr>
            <a:endParaRPr lang="en-US" b="1" dirty="0"/>
          </a:p>
          <a:p>
            <a:pPr>
              <a:buNone/>
            </a:pPr>
            <a:r>
              <a:rPr lang="en-US" b="1" dirty="0">
                <a:solidFill>
                  <a:schemeClr val="tx1"/>
                </a:solidFill>
              </a:rPr>
              <a:t>3. PROBLEM</a:t>
            </a:r>
            <a:r>
              <a:rPr lang="en-US" dirty="0">
                <a:solidFill>
                  <a:schemeClr val="tx1"/>
                </a:solidFill>
              </a:rPr>
              <a:t> ❄️</a:t>
            </a:r>
            <a:br>
              <a:rPr lang="en-US" dirty="0">
                <a:solidFill>
                  <a:schemeClr val="tx1"/>
                </a:solidFill>
              </a:rPr>
            </a:br>
            <a:r>
              <a:rPr lang="en-US" dirty="0">
                <a:solidFill>
                  <a:schemeClr val="tx1"/>
                </a:solidFill>
              </a:rPr>
              <a:t>Show the Grasshopper when winter arrives.</a:t>
            </a:r>
          </a:p>
        </p:txBody>
      </p:sp>
      <p:sp>
        <p:nvSpPr>
          <p:cNvPr id="19" name="Oval 18"/>
          <p:cNvSpPr/>
          <p:nvPr/>
        </p:nvSpPr>
        <p:spPr>
          <a:xfrm>
            <a:off x="7287768" y="2487168"/>
            <a:ext cx="658368" cy="658368"/>
          </a:xfrm>
          <a:prstGeom prst="ellipse">
            <a:avLst/>
          </a:prstGeom>
          <a:solidFill>
            <a:srgbClr val="3A7757"/>
          </a:solidFill>
          <a:ln>
            <a:solidFill>
              <a:srgbClr val="3A77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287768" y="2624328"/>
            <a:ext cx="658368" cy="228600"/>
          </a:xfrm>
          <a:prstGeom prst="rect">
            <a:avLst/>
          </a:prstGeom>
          <a:noFill/>
        </p:spPr>
        <p:txBody>
          <a:bodyPr wrap="square" lIns="27432" tIns="27432" rIns="27432" bIns="27432" anchor="t">
            <a:spAutoFit/>
          </a:bodyPr>
          <a:lstStyle/>
          <a:p>
            <a:pPr algn="ctr">
              <a:lnSpc>
                <a:spcPct val="100000"/>
              </a:lnSpc>
            </a:pPr>
            <a:r>
              <a:rPr sz="1400" b="1">
                <a:solidFill>
                  <a:srgbClr val="FFFFFF"/>
                </a:solidFill>
                <a:latin typeface="Aptos"/>
              </a:rPr>
              <a:t>3</a:t>
            </a:r>
          </a:p>
        </p:txBody>
      </p:sp>
      <p:sp>
        <p:nvSpPr>
          <p:cNvPr id="23" name="Rounded Rectangle 22"/>
          <p:cNvSpPr/>
          <p:nvPr/>
        </p:nvSpPr>
        <p:spPr>
          <a:xfrm>
            <a:off x="9235440" y="2240280"/>
            <a:ext cx="2606040" cy="2240280"/>
          </a:xfrm>
          <a:prstGeom prst="roundRect">
            <a:avLst/>
          </a:prstGeom>
          <a:solidFill>
            <a:srgbClr val="E1EFE4"/>
          </a:solidFill>
          <a:ln w="15240">
            <a:solidFill>
              <a:srgbClr val="E1EFE4"/>
            </a:solidFill>
          </a:ln>
        </p:spPr>
        <p:style>
          <a:lnRef idx="1">
            <a:schemeClr val="accent1"/>
          </a:lnRef>
          <a:fillRef idx="3">
            <a:schemeClr val="accent1"/>
          </a:fillRef>
          <a:effectRef idx="2">
            <a:schemeClr val="accent1"/>
          </a:effectRef>
          <a:fontRef idx="minor">
            <a:schemeClr val="lt1"/>
          </a:fontRef>
        </p:style>
        <p:txBody>
          <a:bodyPr rtlCol="0" anchor="ctr"/>
          <a:lstStyle/>
          <a:p>
            <a:pPr>
              <a:buNone/>
            </a:pPr>
            <a:endParaRPr lang="en-US" b="1" dirty="0"/>
          </a:p>
          <a:p>
            <a:pPr>
              <a:buNone/>
            </a:pPr>
            <a:endParaRPr lang="en-US" b="1" dirty="0"/>
          </a:p>
          <a:p>
            <a:pPr>
              <a:buNone/>
            </a:pPr>
            <a:endParaRPr lang="en-US" b="1" dirty="0"/>
          </a:p>
          <a:p>
            <a:pPr>
              <a:buNone/>
            </a:pPr>
            <a:r>
              <a:rPr lang="en-US" b="1" dirty="0">
                <a:solidFill>
                  <a:schemeClr val="tx1"/>
                </a:solidFill>
              </a:rPr>
              <a:t>4. CONSEQUENCE</a:t>
            </a:r>
            <a:r>
              <a:rPr lang="en-US" dirty="0">
                <a:solidFill>
                  <a:schemeClr val="tx1"/>
                </a:solidFill>
              </a:rPr>
              <a:t> 🍞</a:t>
            </a:r>
            <a:br>
              <a:rPr lang="en-US" dirty="0">
                <a:solidFill>
                  <a:schemeClr val="tx1"/>
                </a:solidFill>
              </a:rPr>
            </a:br>
            <a:r>
              <a:rPr lang="en-US" dirty="0">
                <a:solidFill>
                  <a:schemeClr val="tx1"/>
                </a:solidFill>
              </a:rPr>
              <a:t>Show what happens because they made different choices.</a:t>
            </a:r>
          </a:p>
        </p:txBody>
      </p:sp>
      <p:sp>
        <p:nvSpPr>
          <p:cNvPr id="24" name="Oval 23"/>
          <p:cNvSpPr/>
          <p:nvPr/>
        </p:nvSpPr>
        <p:spPr>
          <a:xfrm>
            <a:off x="10168128" y="2487168"/>
            <a:ext cx="658368" cy="658368"/>
          </a:xfrm>
          <a:prstGeom prst="ellipse">
            <a:avLst/>
          </a:prstGeom>
          <a:solidFill>
            <a:srgbClr val="3A7757"/>
          </a:solidFill>
          <a:ln>
            <a:solidFill>
              <a:srgbClr val="3A77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0168128" y="2624328"/>
            <a:ext cx="658368" cy="228600"/>
          </a:xfrm>
          <a:prstGeom prst="rect">
            <a:avLst/>
          </a:prstGeom>
          <a:noFill/>
        </p:spPr>
        <p:txBody>
          <a:bodyPr wrap="square" lIns="27432" tIns="27432" rIns="27432" bIns="27432" anchor="t">
            <a:spAutoFit/>
          </a:bodyPr>
          <a:lstStyle/>
          <a:p>
            <a:pPr algn="ctr">
              <a:lnSpc>
                <a:spcPct val="100000"/>
              </a:lnSpc>
            </a:pPr>
            <a:r>
              <a:rPr sz="1400" b="1">
                <a:solidFill>
                  <a:srgbClr val="FFFFFF"/>
                </a:solidFill>
                <a:latin typeface="Aptos"/>
              </a:rPr>
              <a:t>4</a:t>
            </a:r>
          </a:p>
        </p:txBody>
      </p:sp>
      <p:sp>
        <p:nvSpPr>
          <p:cNvPr id="28" name="Rounded Rectangle 27"/>
          <p:cNvSpPr/>
          <p:nvPr/>
        </p:nvSpPr>
        <p:spPr>
          <a:xfrm>
            <a:off x="0" y="5111681"/>
            <a:ext cx="12192000" cy="1411444"/>
          </a:xfrm>
          <a:prstGeom prst="roundRect">
            <a:avLst/>
          </a:prstGeom>
          <a:solidFill>
            <a:srgbClr val="FFFFFF"/>
          </a:solidFill>
          <a:ln w="1524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0" y="4994194"/>
            <a:ext cx="5382656" cy="578620"/>
          </a:xfrm>
          <a:prstGeom prst="rect">
            <a:avLst/>
          </a:prstGeom>
          <a:noFill/>
        </p:spPr>
        <p:txBody>
          <a:bodyPr wrap="square" lIns="27432" tIns="27432" rIns="27432" bIns="27432" anchor="t">
            <a:spAutoFit/>
          </a:bodyPr>
          <a:lstStyle/>
          <a:p>
            <a:pPr algn="ctr">
              <a:lnSpc>
                <a:spcPct val="100000"/>
              </a:lnSpc>
            </a:pPr>
            <a:endParaRPr lang="en-US" sz="1700" b="1" dirty="0">
              <a:solidFill>
                <a:srgbClr val="DD6952"/>
              </a:solidFill>
              <a:latin typeface="Aptos"/>
            </a:endParaRPr>
          </a:p>
          <a:p>
            <a:pPr algn="ctr">
              <a:lnSpc>
                <a:spcPct val="100000"/>
              </a:lnSpc>
            </a:pPr>
            <a:r>
              <a:rPr sz="1700" b="1" dirty="0">
                <a:solidFill>
                  <a:srgbClr val="DD6952"/>
                </a:solidFill>
                <a:latin typeface="Aptos"/>
              </a:rPr>
              <a:t>CHALLENGE: Add a feeling + </a:t>
            </a:r>
            <a:r>
              <a:rPr lang="en-US" sz="1700" b="1" dirty="0">
                <a:solidFill>
                  <a:srgbClr val="DD6952"/>
                </a:solidFill>
                <a:latin typeface="Aptos"/>
              </a:rPr>
              <a:t>explain WHY</a:t>
            </a:r>
            <a:r>
              <a:rPr sz="1700" b="1" dirty="0">
                <a:solidFill>
                  <a:srgbClr val="DD6952"/>
                </a:solidFill>
                <a:latin typeface="Aptos"/>
              </a:rPr>
              <a:t>.</a:t>
            </a:r>
          </a:p>
        </p:txBody>
      </p:sp>
      <p:sp>
        <p:nvSpPr>
          <p:cNvPr id="30" name="TextBox 29"/>
          <p:cNvSpPr txBox="1"/>
          <p:nvPr/>
        </p:nvSpPr>
        <p:spPr>
          <a:xfrm>
            <a:off x="40288" y="5187446"/>
            <a:ext cx="12366581" cy="1286506"/>
          </a:xfrm>
          <a:prstGeom prst="rect">
            <a:avLst/>
          </a:prstGeom>
          <a:noFill/>
        </p:spPr>
        <p:txBody>
          <a:bodyPr wrap="square" lIns="27432" tIns="27432" rIns="27432" bIns="27432" anchor="t">
            <a:spAutoFit/>
          </a:bodyPr>
          <a:lstStyle/>
          <a:p>
            <a:pPr>
              <a:lnSpc>
                <a:spcPct val="100000"/>
              </a:lnSpc>
            </a:pPr>
            <a:endParaRPr lang="en-US" sz="2800" b="1" dirty="0">
              <a:solidFill>
                <a:srgbClr val="262B2A"/>
              </a:solidFill>
              <a:latin typeface="Aptos"/>
            </a:endParaRPr>
          </a:p>
          <a:p>
            <a:pPr>
              <a:lnSpc>
                <a:spcPct val="100000"/>
              </a:lnSpc>
            </a:pPr>
            <a:r>
              <a:rPr sz="2800" b="1" dirty="0">
                <a:solidFill>
                  <a:srgbClr val="262B2A"/>
                </a:solidFill>
                <a:latin typeface="Aptos"/>
              </a:rPr>
              <a:t>Example</a:t>
            </a:r>
            <a:r>
              <a:rPr sz="2800" b="0" dirty="0">
                <a:solidFill>
                  <a:srgbClr val="262B2A"/>
                </a:solidFill>
                <a:latin typeface="Aptos"/>
              </a:rPr>
              <a:t>: </a:t>
            </a:r>
            <a:endParaRPr lang="en-US" sz="2800" b="0" dirty="0">
              <a:solidFill>
                <a:srgbClr val="262B2A"/>
              </a:solidFill>
              <a:latin typeface="Aptos"/>
            </a:endParaRPr>
          </a:p>
          <a:p>
            <a:pPr algn="ctr">
              <a:lnSpc>
                <a:spcPct val="100000"/>
              </a:lnSpc>
            </a:pPr>
            <a:r>
              <a:rPr sz="2400" b="0" dirty="0">
                <a:solidFill>
                  <a:srgbClr val="262B2A"/>
                </a:solidFill>
                <a:latin typeface="Aptos"/>
              </a:rPr>
              <a:t>“Winter arrived, so the Grasshopper felt worried because he had not prepared.”</a:t>
            </a:r>
          </a:p>
        </p:txBody>
      </p:sp>
      <p:sp>
        <p:nvSpPr>
          <p:cNvPr id="31" name="TextBox 30"/>
          <p:cNvSpPr txBox="1"/>
          <p:nvPr/>
        </p:nvSpPr>
        <p:spPr>
          <a:xfrm>
            <a:off x="621792" y="6519672"/>
            <a:ext cx="6400800" cy="182880"/>
          </a:xfrm>
          <a:prstGeom prst="rect">
            <a:avLst/>
          </a:prstGeom>
          <a:noFill/>
        </p:spPr>
        <p:txBody>
          <a:bodyPr wrap="square" lIns="27432" tIns="27432" rIns="27432" bIns="27432" anchor="t">
            <a:spAutoFit/>
          </a:bodyPr>
          <a:lstStyle/>
          <a:p>
            <a:pPr algn="l">
              <a:lnSpc>
                <a:spcPct val="100000"/>
              </a:lnSpc>
            </a:pPr>
            <a:r>
              <a:rPr sz="800" b="1">
                <a:solidFill>
                  <a:srgbClr val="666C67"/>
                </a:solidFill>
                <a:latin typeface="Aptos"/>
              </a:rPr>
              <a:t>YEAR 5 • UNIT 1 • THE ANT &amp; THE GRASSHOPPER</a:t>
            </a:r>
          </a:p>
        </p:txBody>
      </p:sp>
      <p:sp>
        <p:nvSpPr>
          <p:cNvPr id="32" name="Oval 31"/>
          <p:cNvSpPr/>
          <p:nvPr/>
        </p:nvSpPr>
        <p:spPr>
          <a:xfrm>
            <a:off x="11201400" y="6510528"/>
            <a:ext cx="91440" cy="91440"/>
          </a:xfrm>
          <a:prstGeom prst="ellipse">
            <a:avLst/>
          </a:prstGeom>
          <a:solidFill>
            <a:srgbClr val="F4BE41"/>
          </a:solidFill>
          <a:ln>
            <a:solidFill>
              <a:srgbClr val="F4BE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11402568" y="6510528"/>
            <a:ext cx="91440" cy="91440"/>
          </a:xfrm>
          <a:prstGeom prst="ellipse">
            <a:avLst/>
          </a:prstGeom>
          <a:solidFill>
            <a:srgbClr val="DD6952"/>
          </a:solidFill>
          <a:ln>
            <a:solidFill>
              <a:srgbClr val="DD69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11603736" y="6510528"/>
            <a:ext cx="91440" cy="91440"/>
          </a:xfrm>
          <a:prstGeom prst="ellipse">
            <a:avLst/>
          </a:prstGeom>
          <a:solidFill>
            <a:srgbClr val="3A7757"/>
          </a:solidFill>
          <a:ln>
            <a:solidFill>
              <a:srgbClr val="3A77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6050280" y="181574"/>
            <a:ext cx="1188720" cy="384048"/>
          </a:xfrm>
          <a:prstGeom prst="roundRect">
            <a:avLst/>
          </a:prstGeom>
          <a:solidFill>
            <a:srgbClr val="FFF4CD"/>
          </a:solidFill>
          <a:ln w="15240">
            <a:solidFill>
              <a:srgbClr val="FFF4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6" name="TextBox 35"/>
          <p:cNvSpPr txBox="1"/>
          <p:nvPr/>
        </p:nvSpPr>
        <p:spPr>
          <a:xfrm>
            <a:off x="6096000" y="280838"/>
            <a:ext cx="1097280" cy="274320"/>
          </a:xfrm>
          <a:prstGeom prst="rect">
            <a:avLst/>
          </a:prstGeom>
          <a:noFill/>
        </p:spPr>
        <p:txBody>
          <a:bodyPr wrap="square" lIns="27432" tIns="27432" rIns="27432" bIns="27432" anchor="ctr">
            <a:spAutoFit/>
          </a:bodyPr>
          <a:lstStyle/>
          <a:p>
            <a:pPr algn="ctr">
              <a:lnSpc>
                <a:spcPct val="100000"/>
              </a:lnSpc>
            </a:pPr>
            <a:r>
              <a:rPr sz="1100" b="1">
                <a:solidFill>
                  <a:srgbClr val="1F5340"/>
                </a:solidFill>
                <a:latin typeface="Aptos"/>
              </a:rPr>
              <a:t>⏱ 10 min</a:t>
            </a:r>
          </a:p>
        </p:txBody>
      </p:sp>
      <p:sp>
        <p:nvSpPr>
          <p:cNvPr id="40" name="TextBox 39">
            <a:extLst>
              <a:ext uri="{FF2B5EF4-FFF2-40B4-BE49-F238E27FC236}">
                <a16:creationId xmlns:a16="http://schemas.microsoft.com/office/drawing/2014/main" id="{CAD3066F-0D06-FB4F-AEBC-A25547934AB2}"/>
              </a:ext>
            </a:extLst>
          </p:cNvPr>
          <p:cNvSpPr txBox="1"/>
          <p:nvPr/>
        </p:nvSpPr>
        <p:spPr>
          <a:xfrm>
            <a:off x="40288" y="4449371"/>
            <a:ext cx="6314792" cy="646331"/>
          </a:xfrm>
          <a:prstGeom prst="rect">
            <a:avLst/>
          </a:prstGeom>
          <a:noFill/>
        </p:spPr>
        <p:txBody>
          <a:bodyPr wrap="square">
            <a:spAutoFit/>
          </a:bodyPr>
          <a:lstStyle/>
          <a:p>
            <a:pPr>
              <a:buNone/>
            </a:pPr>
            <a:r>
              <a:rPr lang="en-US" sz="1800" b="1" dirty="0"/>
              <a:t>After every freeze:</a:t>
            </a:r>
            <a:br>
              <a:rPr lang="en-US" sz="1800" dirty="0"/>
            </a:br>
            <a:r>
              <a:rPr lang="en-US" sz="1800" b="1" dirty="0"/>
              <a:t>SAY ONE COMPLETE SENTENCE.</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1F878A8-A4EE-C661-92D9-9C666D10B6BE}"/>
              </a:ext>
            </a:extLst>
          </p:cNvPr>
          <p:cNvSpPr txBox="1"/>
          <p:nvPr/>
        </p:nvSpPr>
        <p:spPr>
          <a:xfrm>
            <a:off x="0" y="219048"/>
            <a:ext cx="12192000" cy="6247864"/>
          </a:xfrm>
          <a:prstGeom prst="rect">
            <a:avLst/>
          </a:prstGeom>
          <a:noFill/>
        </p:spPr>
        <p:txBody>
          <a:bodyPr wrap="square">
            <a:spAutoFit/>
          </a:bodyPr>
          <a:lstStyle/>
          <a:p>
            <a:pPr>
              <a:buNone/>
            </a:pPr>
            <a:r>
              <a:rPr lang="en-US" sz="1600" b="1" dirty="0"/>
              <a:t>Step 1 – Give groups 2 minutes to prepare.</a:t>
            </a:r>
            <a:endParaRPr lang="en-US" sz="1600" dirty="0"/>
          </a:p>
          <a:p>
            <a:pPr>
              <a:buNone/>
            </a:pPr>
            <a:r>
              <a:rPr lang="en-US" sz="1600" dirty="0"/>
              <a:t>“You are going to become a photograph. When I say FREEZE, your whole group must stop moving and show one moment from the story.”</a:t>
            </a:r>
          </a:p>
          <a:p>
            <a:pPr>
              <a:buNone/>
            </a:pPr>
            <a:endParaRPr lang="en-US" sz="1600" b="1" dirty="0"/>
          </a:p>
          <a:p>
            <a:pPr>
              <a:buNone/>
            </a:pPr>
            <a:r>
              <a:rPr lang="en-US" sz="1600" b="1" dirty="0"/>
              <a:t>Step 2 – Call out Scene 1 </a:t>
            </a:r>
            <a:r>
              <a:rPr lang="en-US" sz="1600" dirty="0"/>
              <a:t>“</a:t>
            </a:r>
            <a:r>
              <a:rPr lang="en-US" sz="1600" b="1" dirty="0"/>
              <a:t>SUMMER! The Ant is working. FREEZE!</a:t>
            </a:r>
            <a:r>
              <a:rPr lang="en-US" sz="1600" dirty="0"/>
              <a:t>”</a:t>
            </a:r>
          </a:p>
          <a:p>
            <a:pPr>
              <a:buNone/>
            </a:pPr>
            <a:r>
              <a:rPr lang="en-US" sz="1600" dirty="0"/>
              <a:t>Students create the scene.</a:t>
            </a:r>
          </a:p>
          <a:p>
            <a:pPr marL="342900" lvl="0" indent="-342900">
              <a:buFont typeface="Arial" panose="020B0604020202020204" pitchFamily="34" charset="0"/>
              <a:buChar char="•"/>
            </a:pPr>
            <a:r>
              <a:rPr lang="en-US" sz="1600" dirty="0"/>
              <a:t>“What can we see?” </a:t>
            </a:r>
          </a:p>
          <a:p>
            <a:pPr marL="342900" lvl="0" indent="-342900">
              <a:buFont typeface="Arial" panose="020B0604020202020204" pitchFamily="34" charset="0"/>
              <a:buChar char="•"/>
            </a:pPr>
            <a:r>
              <a:rPr lang="en-US" sz="1600" dirty="0"/>
              <a:t>“What is the Ant doing?” </a:t>
            </a:r>
          </a:p>
          <a:p>
            <a:pPr marL="342900" lvl="0" indent="-342900">
              <a:buFont typeface="Arial" panose="020B0604020202020204" pitchFamily="34" charset="0"/>
              <a:buChar char="•"/>
            </a:pPr>
            <a:r>
              <a:rPr lang="en-US" sz="1600" dirty="0"/>
              <a:t>“What does this tell us about her?” </a:t>
            </a:r>
          </a:p>
          <a:p>
            <a:pPr>
              <a:buNone/>
            </a:pPr>
            <a:r>
              <a:rPr lang="en-US" sz="1600" dirty="0"/>
              <a:t>Expected idea: “The Ant is hardworking because she is collecting and storing food.”</a:t>
            </a:r>
          </a:p>
          <a:p>
            <a:pPr>
              <a:buNone/>
            </a:pPr>
            <a:endParaRPr lang="en-US" sz="1600" b="1" dirty="0"/>
          </a:p>
          <a:p>
            <a:pPr>
              <a:buNone/>
            </a:pPr>
            <a:r>
              <a:rPr lang="en-US" sz="1600" b="1" dirty="0"/>
              <a:t>Step 3 – Scene 2 </a:t>
            </a:r>
            <a:r>
              <a:rPr lang="en-US" sz="1600" dirty="0"/>
              <a:t>“</a:t>
            </a:r>
            <a:r>
              <a:rPr lang="en-US" sz="1600" b="1" dirty="0"/>
              <a:t>SUMMER! The Grasshopper is playing. FREEZE!</a:t>
            </a:r>
            <a:r>
              <a:rPr lang="en-US" sz="1600" dirty="0"/>
              <a:t>”</a:t>
            </a:r>
          </a:p>
          <a:p>
            <a:pPr marL="342900" lvl="0" indent="-342900">
              <a:buFont typeface="Arial" panose="020B0604020202020204" pitchFamily="34" charset="0"/>
              <a:buChar char="•"/>
            </a:pPr>
            <a:r>
              <a:rPr lang="en-US" sz="1600" dirty="0"/>
              <a:t>“What is the Grasshopper doing?” </a:t>
            </a:r>
          </a:p>
          <a:p>
            <a:pPr marL="342900" lvl="0" indent="-342900">
              <a:buFont typeface="Arial" panose="020B0604020202020204" pitchFamily="34" charset="0"/>
              <a:buChar char="•"/>
            </a:pPr>
            <a:r>
              <a:rPr lang="en-US" sz="1600" dirty="0"/>
              <a:t>“Is he preparing?” </a:t>
            </a:r>
          </a:p>
          <a:p>
            <a:pPr marL="342900" lvl="0" indent="-342900">
              <a:buFont typeface="Arial" panose="020B0604020202020204" pitchFamily="34" charset="0"/>
              <a:buChar char="•"/>
            </a:pPr>
            <a:r>
              <a:rPr lang="en-US" sz="1600" dirty="0"/>
              <a:t>“What might happen later?” </a:t>
            </a:r>
          </a:p>
          <a:p>
            <a:pPr>
              <a:buNone/>
            </a:pPr>
            <a:r>
              <a:rPr lang="en-US" sz="1600" dirty="0"/>
              <a:t>Expected: “The Grasshopper is careless because he spends his time playing instead of preparing.”</a:t>
            </a:r>
          </a:p>
          <a:p>
            <a:pPr>
              <a:buNone/>
            </a:pPr>
            <a:endParaRPr lang="en-US" sz="1600" b="1" dirty="0"/>
          </a:p>
          <a:p>
            <a:pPr>
              <a:buNone/>
            </a:pPr>
            <a:r>
              <a:rPr lang="en-US" sz="1600" b="1" dirty="0"/>
              <a:t>Step 4 – Scene 3 </a:t>
            </a:r>
            <a:r>
              <a:rPr lang="en-US" sz="1600" dirty="0"/>
              <a:t>“</a:t>
            </a:r>
            <a:r>
              <a:rPr lang="en-US" sz="1600" b="1" dirty="0"/>
              <a:t>WINTER HAS ARRIVED! FREEZE!</a:t>
            </a:r>
            <a:r>
              <a:rPr lang="en-US" sz="1600" dirty="0"/>
              <a:t>”</a:t>
            </a:r>
          </a:p>
          <a:p>
            <a:pPr>
              <a:buNone/>
            </a:pPr>
            <a:r>
              <a:rPr lang="en-US" sz="1600" dirty="0"/>
              <a:t>The Grasshopper should look cold, worried and hungry.</a:t>
            </a:r>
          </a:p>
          <a:p>
            <a:pPr>
              <a:buNone/>
            </a:pPr>
            <a:r>
              <a:rPr lang="en-US" sz="1600" dirty="0"/>
              <a:t>“What caused this problem?”</a:t>
            </a:r>
          </a:p>
          <a:p>
            <a:pPr>
              <a:buNone/>
            </a:pPr>
            <a:r>
              <a:rPr lang="en-US" sz="1600" dirty="0"/>
              <a:t>Students should connect the events: “The Grasshopper is hungry because he did not prepare for winter.”</a:t>
            </a:r>
          </a:p>
          <a:p>
            <a:pPr>
              <a:buNone/>
            </a:pPr>
            <a:endParaRPr lang="en-US" sz="1600" b="1" dirty="0"/>
          </a:p>
          <a:p>
            <a:pPr>
              <a:buNone/>
            </a:pPr>
            <a:r>
              <a:rPr lang="en-US" sz="1600" b="1" dirty="0"/>
              <a:t>Step 5 – Scene 4 </a:t>
            </a:r>
            <a:r>
              <a:rPr lang="en-US" sz="1600" dirty="0"/>
              <a:t>“</a:t>
            </a:r>
            <a:r>
              <a:rPr lang="en-US" sz="1600" b="1" dirty="0"/>
              <a:t>SHOW THE CONSEQUENCE! FREEZE!</a:t>
            </a:r>
            <a:r>
              <a:rPr lang="en-US" sz="1600" dirty="0"/>
              <a:t>”</a:t>
            </a:r>
          </a:p>
          <a:p>
            <a:pPr>
              <a:buNone/>
            </a:pPr>
            <a:r>
              <a:rPr lang="en-US" sz="1600" dirty="0"/>
              <a:t>The Ant has food. The Grasshopper does not.</a:t>
            </a:r>
          </a:p>
          <a:p>
            <a:pPr>
              <a:buNone/>
            </a:pPr>
            <a:r>
              <a:rPr lang="en-US" sz="1600" dirty="0"/>
              <a:t>“Why is the Ant okay but the Grasshopper is not?”</a:t>
            </a:r>
          </a:p>
          <a:p>
            <a:pPr>
              <a:buNone/>
            </a:pPr>
            <a:r>
              <a:rPr lang="en-US" sz="1600" dirty="0"/>
              <a:t>Expected: “The Ant prepared for winter, so she had food.”</a:t>
            </a:r>
          </a:p>
        </p:txBody>
      </p:sp>
    </p:spTree>
    <p:extLst>
      <p:ext uri="{BB962C8B-B14F-4D97-AF65-F5344CB8AC3E}">
        <p14:creationId xmlns:p14="http://schemas.microsoft.com/office/powerpoint/2010/main" val="17521939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92608"/>
            <a:ext cx="3657600" cy="256032"/>
          </a:xfrm>
          <a:prstGeom prst="rect">
            <a:avLst/>
          </a:prstGeom>
          <a:noFill/>
        </p:spPr>
        <p:txBody>
          <a:bodyPr wrap="square" lIns="27432" tIns="27432" rIns="27432" bIns="27432" anchor="t">
            <a:spAutoFit/>
          </a:bodyPr>
          <a:lstStyle/>
          <a:p>
            <a:pPr algn="l">
              <a:lnSpc>
                <a:spcPct val="100000"/>
              </a:lnSpc>
            </a:pPr>
            <a:r>
              <a:rPr sz="1000" b="1">
                <a:solidFill>
                  <a:srgbClr val="3A7757"/>
                </a:solidFill>
                <a:latin typeface="Aptos"/>
              </a:rPr>
              <a:t>STORY STRUCTURE</a:t>
            </a:r>
          </a:p>
        </p:txBody>
      </p:sp>
      <p:sp>
        <p:nvSpPr>
          <p:cNvPr id="3" name="TextBox 2"/>
          <p:cNvSpPr txBox="1"/>
          <p:nvPr/>
        </p:nvSpPr>
        <p:spPr>
          <a:xfrm>
            <a:off x="594360" y="603504"/>
            <a:ext cx="10515600" cy="640080"/>
          </a:xfrm>
          <a:prstGeom prst="rect">
            <a:avLst/>
          </a:prstGeom>
          <a:noFill/>
        </p:spPr>
        <p:txBody>
          <a:bodyPr wrap="square" lIns="27432" tIns="27432" rIns="27432" bIns="27432" anchor="t">
            <a:spAutoFit/>
          </a:bodyPr>
          <a:lstStyle/>
          <a:p>
            <a:pPr algn="l">
              <a:lnSpc>
                <a:spcPct val="100000"/>
              </a:lnSpc>
            </a:pPr>
            <a:r>
              <a:rPr sz="2800" b="1">
                <a:solidFill>
                  <a:srgbClr val="1F5340"/>
                </a:solidFill>
                <a:latin typeface="Aptos Display"/>
              </a:rPr>
              <a:t>Build the story mountain</a:t>
            </a:r>
          </a:p>
        </p:txBody>
      </p:sp>
      <p:sp>
        <p:nvSpPr>
          <p:cNvPr id="4" name="Oval 3"/>
          <p:cNvSpPr/>
          <p:nvPr/>
        </p:nvSpPr>
        <p:spPr>
          <a:xfrm>
            <a:off x="11155680" y="320040"/>
            <a:ext cx="438912" cy="438912"/>
          </a:xfrm>
          <a:prstGeom prst="ellipse">
            <a:avLst/>
          </a:prstGeom>
          <a:solidFill>
            <a:srgbClr val="1F5340"/>
          </a:solidFill>
          <a:ln>
            <a:solidFill>
              <a:srgbClr val="1F53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155680" y="356616"/>
            <a:ext cx="438912" cy="310896"/>
          </a:xfrm>
          <a:prstGeom prst="rect">
            <a:avLst/>
          </a:prstGeom>
          <a:noFill/>
        </p:spPr>
        <p:txBody>
          <a:bodyPr wrap="square" lIns="27432" tIns="27432" rIns="27432" bIns="27432" anchor="ctr">
            <a:spAutoFit/>
          </a:bodyPr>
          <a:lstStyle/>
          <a:p>
            <a:pPr algn="ctr">
              <a:lnSpc>
                <a:spcPct val="100000"/>
              </a:lnSpc>
            </a:pPr>
            <a:r>
              <a:rPr sz="1000" b="1">
                <a:solidFill>
                  <a:srgbClr val="FFFFFF"/>
                </a:solidFill>
                <a:latin typeface="Aptos"/>
              </a:rPr>
              <a:t>11</a:t>
            </a:r>
          </a:p>
        </p:txBody>
      </p:sp>
      <p:sp>
        <p:nvSpPr>
          <p:cNvPr id="6" name="Rectangle 5"/>
          <p:cNvSpPr/>
          <p:nvPr/>
        </p:nvSpPr>
        <p:spPr>
          <a:xfrm>
            <a:off x="594360" y="1353312"/>
            <a:ext cx="914400" cy="64008"/>
          </a:xfrm>
          <a:prstGeom prst="rect">
            <a:avLst/>
          </a:prstGeom>
          <a:solidFill>
            <a:srgbClr val="F4BE41"/>
          </a:solidFill>
          <a:ln>
            <a:solidFill>
              <a:srgbClr val="F4BE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40080" y="4343400"/>
            <a:ext cx="2514600" cy="1051560"/>
          </a:xfrm>
          <a:prstGeom prst="roundRect">
            <a:avLst/>
          </a:prstGeom>
          <a:solidFill>
            <a:srgbClr val="E1EFE4"/>
          </a:solidFill>
          <a:ln w="15240">
            <a:solidFill>
              <a:srgbClr val="E1E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4507992"/>
            <a:ext cx="2240280" cy="256032"/>
          </a:xfrm>
          <a:prstGeom prst="rect">
            <a:avLst/>
          </a:prstGeom>
          <a:noFill/>
        </p:spPr>
        <p:txBody>
          <a:bodyPr wrap="square" lIns="27432" tIns="27432" rIns="27432" bIns="27432" anchor="t">
            <a:spAutoFit/>
          </a:bodyPr>
          <a:lstStyle/>
          <a:p>
            <a:pPr algn="ctr">
              <a:lnSpc>
                <a:spcPct val="100000"/>
              </a:lnSpc>
            </a:pPr>
            <a:r>
              <a:rPr sz="1200" b="1">
                <a:solidFill>
                  <a:srgbClr val="1F5340"/>
                </a:solidFill>
                <a:latin typeface="Aptos"/>
              </a:rPr>
              <a:t>BEGINNING</a:t>
            </a:r>
          </a:p>
        </p:txBody>
      </p:sp>
      <p:sp>
        <p:nvSpPr>
          <p:cNvPr id="9" name="TextBox 8"/>
          <p:cNvSpPr txBox="1"/>
          <p:nvPr/>
        </p:nvSpPr>
        <p:spPr>
          <a:xfrm>
            <a:off x="597439" y="4775340"/>
            <a:ext cx="2514599" cy="670953"/>
          </a:xfrm>
          <a:prstGeom prst="rect">
            <a:avLst/>
          </a:prstGeom>
          <a:noFill/>
        </p:spPr>
        <p:txBody>
          <a:bodyPr wrap="square" lIns="27432" tIns="27432" rIns="27432" bIns="27432" anchor="t">
            <a:spAutoFit/>
          </a:bodyPr>
          <a:lstStyle/>
          <a:p>
            <a:pPr algn="ctr">
              <a:lnSpc>
                <a:spcPct val="100000"/>
              </a:lnSpc>
            </a:pPr>
            <a:r>
              <a:rPr sz="2000" b="0" dirty="0">
                <a:solidFill>
                  <a:srgbClr val="262B2A"/>
                </a:solidFill>
                <a:latin typeface="Aptos"/>
              </a:rPr>
              <a:t>Summer • Ant works </a:t>
            </a:r>
            <a:endParaRPr lang="en-US" sz="2000" b="0" dirty="0">
              <a:solidFill>
                <a:srgbClr val="262B2A"/>
              </a:solidFill>
              <a:latin typeface="Aptos"/>
            </a:endParaRPr>
          </a:p>
          <a:p>
            <a:pPr algn="ctr">
              <a:lnSpc>
                <a:spcPct val="100000"/>
              </a:lnSpc>
            </a:pPr>
            <a:r>
              <a:rPr sz="2000" b="0" dirty="0">
                <a:solidFill>
                  <a:srgbClr val="262B2A"/>
                </a:solidFill>
                <a:latin typeface="Aptos"/>
              </a:rPr>
              <a:t>• Grasshopper plays</a:t>
            </a:r>
          </a:p>
        </p:txBody>
      </p:sp>
      <p:sp>
        <p:nvSpPr>
          <p:cNvPr id="10" name="Rounded Rectangle 9"/>
          <p:cNvSpPr/>
          <p:nvPr/>
        </p:nvSpPr>
        <p:spPr>
          <a:xfrm>
            <a:off x="3474720" y="4206240"/>
            <a:ext cx="2514600" cy="1188719"/>
          </a:xfrm>
          <a:prstGeom prst="roundRect">
            <a:avLst/>
          </a:prstGeom>
          <a:solidFill>
            <a:srgbClr val="F9E2DC"/>
          </a:solidFill>
          <a:ln w="15240">
            <a:solidFill>
              <a:srgbClr val="F9E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11879" y="4370832"/>
            <a:ext cx="2240280" cy="256032"/>
          </a:xfrm>
          <a:prstGeom prst="rect">
            <a:avLst/>
          </a:prstGeom>
          <a:noFill/>
        </p:spPr>
        <p:txBody>
          <a:bodyPr wrap="square" lIns="27432" tIns="27432" rIns="27432" bIns="27432" anchor="t">
            <a:spAutoFit/>
          </a:bodyPr>
          <a:lstStyle/>
          <a:p>
            <a:pPr algn="ctr">
              <a:lnSpc>
                <a:spcPct val="100000"/>
              </a:lnSpc>
            </a:pPr>
            <a:r>
              <a:rPr sz="1200" b="1">
                <a:solidFill>
                  <a:srgbClr val="1F5340"/>
                </a:solidFill>
                <a:latin typeface="Aptos"/>
              </a:rPr>
              <a:t>PROBLEM</a:t>
            </a:r>
          </a:p>
        </p:txBody>
      </p:sp>
      <p:sp>
        <p:nvSpPr>
          <p:cNvPr id="12" name="TextBox 11"/>
          <p:cNvSpPr txBox="1"/>
          <p:nvPr/>
        </p:nvSpPr>
        <p:spPr>
          <a:xfrm>
            <a:off x="3465576" y="4688419"/>
            <a:ext cx="2651760" cy="609398"/>
          </a:xfrm>
          <a:prstGeom prst="rect">
            <a:avLst/>
          </a:prstGeom>
          <a:noFill/>
        </p:spPr>
        <p:txBody>
          <a:bodyPr wrap="square" lIns="27432" tIns="27432" rIns="27432" bIns="27432" anchor="t">
            <a:spAutoFit/>
          </a:bodyPr>
          <a:lstStyle/>
          <a:p>
            <a:pPr algn="ctr">
              <a:lnSpc>
                <a:spcPct val="100000"/>
              </a:lnSpc>
            </a:pPr>
            <a:r>
              <a:rPr b="0" dirty="0">
                <a:solidFill>
                  <a:srgbClr val="262B2A"/>
                </a:solidFill>
                <a:latin typeface="Aptos"/>
              </a:rPr>
              <a:t>Winter arrives • Grasshopper has no food</a:t>
            </a:r>
          </a:p>
        </p:txBody>
      </p:sp>
      <p:sp>
        <p:nvSpPr>
          <p:cNvPr id="13" name="Rounded Rectangle 12"/>
          <p:cNvSpPr/>
          <p:nvPr/>
        </p:nvSpPr>
        <p:spPr>
          <a:xfrm>
            <a:off x="6309360" y="4069080"/>
            <a:ext cx="2514600" cy="1325880"/>
          </a:xfrm>
          <a:prstGeom prst="roundRect">
            <a:avLst/>
          </a:prstGeom>
          <a:solidFill>
            <a:srgbClr val="FFF4CD"/>
          </a:solidFill>
          <a:ln w="15240">
            <a:solidFill>
              <a:srgbClr val="FFF4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46520" y="4233672"/>
            <a:ext cx="2240280" cy="256032"/>
          </a:xfrm>
          <a:prstGeom prst="rect">
            <a:avLst/>
          </a:prstGeom>
          <a:noFill/>
        </p:spPr>
        <p:txBody>
          <a:bodyPr wrap="square" lIns="27432" tIns="27432" rIns="27432" bIns="27432" anchor="t">
            <a:spAutoFit/>
          </a:bodyPr>
          <a:lstStyle/>
          <a:p>
            <a:pPr algn="ctr">
              <a:lnSpc>
                <a:spcPct val="100000"/>
              </a:lnSpc>
            </a:pPr>
            <a:r>
              <a:rPr sz="1200" b="1">
                <a:solidFill>
                  <a:srgbClr val="1F5340"/>
                </a:solidFill>
                <a:latin typeface="Aptos"/>
              </a:rPr>
              <a:t>CONSEQUENCE</a:t>
            </a:r>
          </a:p>
        </p:txBody>
      </p:sp>
      <p:sp>
        <p:nvSpPr>
          <p:cNvPr id="15" name="TextBox 14"/>
          <p:cNvSpPr txBox="1"/>
          <p:nvPr/>
        </p:nvSpPr>
        <p:spPr>
          <a:xfrm>
            <a:off x="6282516" y="4626864"/>
            <a:ext cx="2633472" cy="670953"/>
          </a:xfrm>
          <a:prstGeom prst="rect">
            <a:avLst/>
          </a:prstGeom>
          <a:noFill/>
        </p:spPr>
        <p:txBody>
          <a:bodyPr wrap="square" lIns="27432" tIns="27432" rIns="27432" bIns="27432" anchor="t">
            <a:spAutoFit/>
          </a:bodyPr>
          <a:lstStyle/>
          <a:p>
            <a:pPr algn="ctr">
              <a:lnSpc>
                <a:spcPct val="100000"/>
              </a:lnSpc>
            </a:pPr>
            <a:r>
              <a:rPr sz="2000" b="0" dirty="0">
                <a:solidFill>
                  <a:srgbClr val="262B2A"/>
                </a:solidFill>
                <a:latin typeface="Aptos"/>
              </a:rPr>
              <a:t>Grasshopper is hungry • Ant has prepared</a:t>
            </a:r>
          </a:p>
        </p:txBody>
      </p:sp>
      <p:sp>
        <p:nvSpPr>
          <p:cNvPr id="16" name="Rounded Rectangle 15"/>
          <p:cNvSpPr/>
          <p:nvPr/>
        </p:nvSpPr>
        <p:spPr>
          <a:xfrm>
            <a:off x="9144000" y="3931920"/>
            <a:ext cx="2514600" cy="1463039"/>
          </a:xfrm>
          <a:prstGeom prst="roundRect">
            <a:avLst/>
          </a:prstGeom>
          <a:solidFill>
            <a:srgbClr val="FFFFFF"/>
          </a:solidFill>
          <a:ln w="1524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281160" y="4096512"/>
            <a:ext cx="2240280" cy="256032"/>
          </a:xfrm>
          <a:prstGeom prst="rect">
            <a:avLst/>
          </a:prstGeom>
          <a:noFill/>
        </p:spPr>
        <p:txBody>
          <a:bodyPr wrap="square" lIns="27432" tIns="27432" rIns="27432" bIns="27432" anchor="t">
            <a:spAutoFit/>
          </a:bodyPr>
          <a:lstStyle/>
          <a:p>
            <a:pPr algn="ctr">
              <a:lnSpc>
                <a:spcPct val="100000"/>
              </a:lnSpc>
            </a:pPr>
            <a:r>
              <a:rPr sz="1200" b="1">
                <a:solidFill>
                  <a:srgbClr val="1F5340"/>
                </a:solidFill>
                <a:latin typeface="Aptos"/>
              </a:rPr>
              <a:t>LESSON</a:t>
            </a:r>
          </a:p>
        </p:txBody>
      </p:sp>
      <p:sp>
        <p:nvSpPr>
          <p:cNvPr id="18" name="TextBox 17"/>
          <p:cNvSpPr txBox="1"/>
          <p:nvPr/>
        </p:nvSpPr>
        <p:spPr>
          <a:xfrm>
            <a:off x="9134856" y="4581159"/>
            <a:ext cx="2514600" cy="794064"/>
          </a:xfrm>
          <a:prstGeom prst="rect">
            <a:avLst/>
          </a:prstGeom>
          <a:noFill/>
        </p:spPr>
        <p:txBody>
          <a:bodyPr wrap="square" lIns="27432" tIns="27432" rIns="27432" bIns="27432" anchor="t">
            <a:spAutoFit/>
          </a:bodyPr>
          <a:lstStyle/>
          <a:p>
            <a:pPr algn="ctr">
              <a:lnSpc>
                <a:spcPct val="100000"/>
              </a:lnSpc>
            </a:pPr>
            <a:r>
              <a:rPr sz="2400" b="0" dirty="0">
                <a:solidFill>
                  <a:srgbClr val="262B2A"/>
                </a:solidFill>
                <a:latin typeface="Aptos"/>
              </a:rPr>
              <a:t>Our choices have consequences</a:t>
            </a:r>
          </a:p>
        </p:txBody>
      </p:sp>
      <p:sp>
        <p:nvSpPr>
          <p:cNvPr id="19" name="TextBox 18"/>
          <p:cNvSpPr txBox="1"/>
          <p:nvPr/>
        </p:nvSpPr>
        <p:spPr>
          <a:xfrm>
            <a:off x="3154680" y="4251960"/>
            <a:ext cx="457200" cy="365760"/>
          </a:xfrm>
          <a:prstGeom prst="rect">
            <a:avLst/>
          </a:prstGeom>
          <a:noFill/>
        </p:spPr>
        <p:txBody>
          <a:bodyPr wrap="square" lIns="27432" tIns="27432" rIns="27432" bIns="27432" anchor="t">
            <a:spAutoFit/>
          </a:bodyPr>
          <a:lstStyle/>
          <a:p>
            <a:pPr algn="ctr">
              <a:lnSpc>
                <a:spcPct val="100000"/>
              </a:lnSpc>
            </a:pPr>
            <a:r>
              <a:rPr sz="2400" b="1">
                <a:solidFill>
                  <a:srgbClr val="DD6952"/>
                </a:solidFill>
                <a:latin typeface="Aptos"/>
              </a:rPr>
              <a:t>→</a:t>
            </a:r>
          </a:p>
        </p:txBody>
      </p:sp>
      <p:sp>
        <p:nvSpPr>
          <p:cNvPr id="20" name="TextBox 19"/>
          <p:cNvSpPr txBox="1"/>
          <p:nvPr/>
        </p:nvSpPr>
        <p:spPr>
          <a:xfrm>
            <a:off x="5989320" y="4251960"/>
            <a:ext cx="457200" cy="365760"/>
          </a:xfrm>
          <a:prstGeom prst="rect">
            <a:avLst/>
          </a:prstGeom>
          <a:noFill/>
        </p:spPr>
        <p:txBody>
          <a:bodyPr wrap="square" lIns="27432" tIns="27432" rIns="27432" bIns="27432" anchor="t">
            <a:spAutoFit/>
          </a:bodyPr>
          <a:lstStyle/>
          <a:p>
            <a:pPr algn="ctr">
              <a:lnSpc>
                <a:spcPct val="100000"/>
              </a:lnSpc>
            </a:pPr>
            <a:r>
              <a:rPr sz="2400" b="1">
                <a:solidFill>
                  <a:srgbClr val="DD6952"/>
                </a:solidFill>
                <a:latin typeface="Aptos"/>
              </a:rPr>
              <a:t>→</a:t>
            </a:r>
          </a:p>
        </p:txBody>
      </p:sp>
      <p:sp>
        <p:nvSpPr>
          <p:cNvPr id="21" name="TextBox 20"/>
          <p:cNvSpPr txBox="1"/>
          <p:nvPr/>
        </p:nvSpPr>
        <p:spPr>
          <a:xfrm>
            <a:off x="8823960" y="4251960"/>
            <a:ext cx="457200" cy="365760"/>
          </a:xfrm>
          <a:prstGeom prst="rect">
            <a:avLst/>
          </a:prstGeom>
          <a:noFill/>
        </p:spPr>
        <p:txBody>
          <a:bodyPr wrap="square" lIns="27432" tIns="27432" rIns="27432" bIns="27432" anchor="t">
            <a:spAutoFit/>
          </a:bodyPr>
          <a:lstStyle/>
          <a:p>
            <a:pPr algn="ctr">
              <a:lnSpc>
                <a:spcPct val="100000"/>
              </a:lnSpc>
            </a:pPr>
            <a:r>
              <a:rPr sz="2400" b="1">
                <a:solidFill>
                  <a:srgbClr val="DD6952"/>
                </a:solidFill>
                <a:latin typeface="Aptos"/>
              </a:rPr>
              <a:t>→</a:t>
            </a:r>
          </a:p>
        </p:txBody>
      </p:sp>
      <p:sp>
        <p:nvSpPr>
          <p:cNvPr id="22" name="TextBox 21"/>
          <p:cNvSpPr txBox="1"/>
          <p:nvPr/>
        </p:nvSpPr>
        <p:spPr>
          <a:xfrm>
            <a:off x="1188720" y="1645920"/>
            <a:ext cx="9784080" cy="457200"/>
          </a:xfrm>
          <a:prstGeom prst="rect">
            <a:avLst/>
          </a:prstGeom>
          <a:noFill/>
        </p:spPr>
        <p:txBody>
          <a:bodyPr wrap="square" lIns="27432" tIns="27432" rIns="27432" bIns="27432" anchor="t">
            <a:spAutoFit/>
          </a:bodyPr>
          <a:lstStyle/>
          <a:p>
            <a:pPr algn="ctr">
              <a:lnSpc>
                <a:spcPct val="100000"/>
              </a:lnSpc>
            </a:pPr>
            <a:r>
              <a:rPr sz="2300" b="1">
                <a:solidFill>
                  <a:srgbClr val="1F5340"/>
                </a:solidFill>
                <a:latin typeface="Aptos"/>
              </a:rPr>
              <a:t>Say the story aloud in order before you write.</a:t>
            </a:r>
          </a:p>
        </p:txBody>
      </p:sp>
      <p:sp>
        <p:nvSpPr>
          <p:cNvPr id="23" name="TextBox 22"/>
          <p:cNvSpPr txBox="1"/>
          <p:nvPr/>
        </p:nvSpPr>
        <p:spPr>
          <a:xfrm>
            <a:off x="621792" y="6519672"/>
            <a:ext cx="6400800" cy="182880"/>
          </a:xfrm>
          <a:prstGeom prst="rect">
            <a:avLst/>
          </a:prstGeom>
          <a:noFill/>
        </p:spPr>
        <p:txBody>
          <a:bodyPr wrap="square" lIns="27432" tIns="27432" rIns="27432" bIns="27432" anchor="t">
            <a:spAutoFit/>
          </a:bodyPr>
          <a:lstStyle/>
          <a:p>
            <a:pPr algn="l">
              <a:lnSpc>
                <a:spcPct val="100000"/>
              </a:lnSpc>
            </a:pPr>
            <a:r>
              <a:rPr sz="800" b="1">
                <a:solidFill>
                  <a:srgbClr val="666C67"/>
                </a:solidFill>
                <a:latin typeface="Aptos"/>
              </a:rPr>
              <a:t>YEAR 5 • UNIT 1 • THE ANT &amp; THE GRASSHOPPER</a:t>
            </a:r>
          </a:p>
        </p:txBody>
      </p:sp>
      <p:sp>
        <p:nvSpPr>
          <p:cNvPr id="24" name="Oval 23"/>
          <p:cNvSpPr/>
          <p:nvPr/>
        </p:nvSpPr>
        <p:spPr>
          <a:xfrm>
            <a:off x="11201400" y="6510528"/>
            <a:ext cx="91440" cy="91440"/>
          </a:xfrm>
          <a:prstGeom prst="ellipse">
            <a:avLst/>
          </a:prstGeom>
          <a:solidFill>
            <a:srgbClr val="F4BE41"/>
          </a:solidFill>
          <a:ln>
            <a:solidFill>
              <a:srgbClr val="F4BE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11402568" y="6510528"/>
            <a:ext cx="91440" cy="91440"/>
          </a:xfrm>
          <a:prstGeom prst="ellipse">
            <a:avLst/>
          </a:prstGeom>
          <a:solidFill>
            <a:srgbClr val="DD6952"/>
          </a:solidFill>
          <a:ln>
            <a:solidFill>
              <a:srgbClr val="DD69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11603736" y="6510528"/>
            <a:ext cx="91440" cy="91440"/>
          </a:xfrm>
          <a:prstGeom prst="ellipse">
            <a:avLst/>
          </a:prstGeom>
          <a:solidFill>
            <a:srgbClr val="3A7757"/>
          </a:solidFill>
          <a:ln>
            <a:solidFill>
              <a:srgbClr val="3A77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10378440" y="6053328"/>
            <a:ext cx="1188720" cy="384048"/>
          </a:xfrm>
          <a:prstGeom prst="roundRect">
            <a:avLst/>
          </a:prstGeom>
          <a:solidFill>
            <a:srgbClr val="FFF4CD"/>
          </a:solidFill>
          <a:ln w="15240">
            <a:solidFill>
              <a:srgbClr val="FFF4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424160" y="6099048"/>
            <a:ext cx="1097280" cy="274320"/>
          </a:xfrm>
          <a:prstGeom prst="rect">
            <a:avLst/>
          </a:prstGeom>
          <a:noFill/>
        </p:spPr>
        <p:txBody>
          <a:bodyPr wrap="square" lIns="27432" tIns="27432" rIns="27432" bIns="27432" anchor="ctr">
            <a:spAutoFit/>
          </a:bodyPr>
          <a:lstStyle/>
          <a:p>
            <a:pPr algn="ctr">
              <a:lnSpc>
                <a:spcPct val="100000"/>
              </a:lnSpc>
            </a:pPr>
            <a:r>
              <a:rPr sz="1100" b="1">
                <a:solidFill>
                  <a:srgbClr val="1F5340"/>
                </a:solidFill>
                <a:latin typeface="Aptos"/>
              </a:rPr>
              <a:t>⏱ 5 min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AF7EF"/>
        </a:solidFill>
        <a:effectLst/>
      </p:bgPr>
    </p:bg>
    <p:spTree>
      <p:nvGrpSpPr>
        <p:cNvPr id="1" name=""/>
        <p:cNvGrpSpPr/>
        <p:nvPr/>
      </p:nvGrpSpPr>
      <p:grpSpPr>
        <a:xfrm>
          <a:off x="0" y="0"/>
          <a:ext cx="0" cy="0"/>
          <a:chOff x="0" y="0"/>
          <a:chExt cx="0" cy="0"/>
        </a:xfrm>
      </p:grpSpPr>
      <p:sp>
        <p:nvSpPr>
          <p:cNvPr id="2" name="TextBox 1"/>
          <p:cNvSpPr txBox="1"/>
          <p:nvPr/>
        </p:nvSpPr>
        <p:spPr>
          <a:xfrm>
            <a:off x="594360" y="292608"/>
            <a:ext cx="3657600" cy="256032"/>
          </a:xfrm>
          <a:prstGeom prst="rect">
            <a:avLst/>
          </a:prstGeom>
          <a:noFill/>
        </p:spPr>
        <p:txBody>
          <a:bodyPr wrap="square" lIns="27432" tIns="27432" rIns="27432" bIns="27432" anchor="t">
            <a:spAutoFit/>
          </a:bodyPr>
          <a:lstStyle/>
          <a:p>
            <a:pPr algn="l">
              <a:lnSpc>
                <a:spcPct val="100000"/>
              </a:lnSpc>
            </a:pPr>
            <a:r>
              <a:rPr sz="1000" b="1">
                <a:solidFill>
                  <a:srgbClr val="3A7757"/>
                </a:solidFill>
                <a:latin typeface="Aptos"/>
              </a:rPr>
              <a:t>THE BIG IDEA</a:t>
            </a:r>
          </a:p>
        </p:txBody>
      </p:sp>
      <p:sp>
        <p:nvSpPr>
          <p:cNvPr id="3" name="TextBox 2"/>
          <p:cNvSpPr txBox="1"/>
          <p:nvPr/>
        </p:nvSpPr>
        <p:spPr>
          <a:xfrm>
            <a:off x="594360" y="603504"/>
            <a:ext cx="10515600" cy="640080"/>
          </a:xfrm>
          <a:prstGeom prst="rect">
            <a:avLst/>
          </a:prstGeom>
          <a:noFill/>
        </p:spPr>
        <p:txBody>
          <a:bodyPr wrap="square" lIns="27432" tIns="27432" rIns="27432" bIns="27432" anchor="t">
            <a:spAutoFit/>
          </a:bodyPr>
          <a:lstStyle/>
          <a:p>
            <a:pPr algn="l">
              <a:lnSpc>
                <a:spcPct val="100000"/>
              </a:lnSpc>
            </a:pPr>
            <a:r>
              <a:rPr sz="2800" b="1">
                <a:solidFill>
                  <a:srgbClr val="1F5340"/>
                </a:solidFill>
                <a:latin typeface="Aptos Display"/>
              </a:rPr>
              <a:t>What is the moral?</a:t>
            </a:r>
          </a:p>
        </p:txBody>
      </p:sp>
      <p:sp>
        <p:nvSpPr>
          <p:cNvPr id="4" name="Oval 3"/>
          <p:cNvSpPr/>
          <p:nvPr/>
        </p:nvSpPr>
        <p:spPr>
          <a:xfrm>
            <a:off x="11155680" y="320040"/>
            <a:ext cx="438912" cy="438912"/>
          </a:xfrm>
          <a:prstGeom prst="ellipse">
            <a:avLst/>
          </a:prstGeom>
          <a:solidFill>
            <a:srgbClr val="1F5340"/>
          </a:solidFill>
          <a:ln>
            <a:solidFill>
              <a:srgbClr val="1F53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155680" y="356616"/>
            <a:ext cx="438912" cy="310896"/>
          </a:xfrm>
          <a:prstGeom prst="rect">
            <a:avLst/>
          </a:prstGeom>
          <a:noFill/>
        </p:spPr>
        <p:txBody>
          <a:bodyPr wrap="square" lIns="27432" tIns="27432" rIns="27432" bIns="27432" anchor="ctr">
            <a:spAutoFit/>
          </a:bodyPr>
          <a:lstStyle/>
          <a:p>
            <a:pPr algn="ctr">
              <a:lnSpc>
                <a:spcPct val="100000"/>
              </a:lnSpc>
            </a:pPr>
            <a:r>
              <a:t>13</a:t>
            </a:r>
          </a:p>
        </p:txBody>
      </p:sp>
      <p:sp>
        <p:nvSpPr>
          <p:cNvPr id="6" name="Rectangle 5"/>
          <p:cNvSpPr/>
          <p:nvPr/>
        </p:nvSpPr>
        <p:spPr>
          <a:xfrm>
            <a:off x="594360" y="1353312"/>
            <a:ext cx="914400" cy="64008"/>
          </a:xfrm>
          <a:prstGeom prst="rect">
            <a:avLst/>
          </a:prstGeom>
          <a:solidFill>
            <a:srgbClr val="F4BE41"/>
          </a:solidFill>
          <a:ln>
            <a:solidFill>
              <a:srgbClr val="F4BE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645920"/>
            <a:ext cx="10698480" cy="457200"/>
          </a:xfrm>
          <a:prstGeom prst="rect">
            <a:avLst/>
          </a:prstGeom>
          <a:noFill/>
        </p:spPr>
        <p:txBody>
          <a:bodyPr wrap="square" lIns="27432" tIns="27432" rIns="27432" bIns="27432" anchor="t">
            <a:spAutoFit/>
          </a:bodyPr>
          <a:lstStyle/>
          <a:p>
            <a:pPr algn="ctr">
              <a:lnSpc>
                <a:spcPct val="100000"/>
              </a:lnSpc>
            </a:pPr>
            <a:r>
              <a:rPr sz="2300" b="1">
                <a:solidFill>
                  <a:srgbClr val="1F5340"/>
                </a:solidFill>
                <a:latin typeface="Aptos"/>
              </a:rPr>
              <a:t>A moral is the lesson a reader can learn from the story.</a:t>
            </a:r>
          </a:p>
        </p:txBody>
      </p:sp>
      <p:sp>
        <p:nvSpPr>
          <p:cNvPr id="8" name="Rounded Rectangle 7"/>
          <p:cNvSpPr/>
          <p:nvPr/>
        </p:nvSpPr>
        <p:spPr>
          <a:xfrm>
            <a:off x="822960" y="2514600"/>
            <a:ext cx="3246120" cy="1828800"/>
          </a:xfrm>
          <a:prstGeom prst="roundRect">
            <a:avLst/>
          </a:prstGeom>
          <a:solidFill>
            <a:srgbClr val="E1EFE4"/>
          </a:solidFill>
          <a:ln w="15240">
            <a:solidFill>
              <a:srgbClr val="E1E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822960" y="2514600"/>
            <a:ext cx="73152" cy="1828800"/>
          </a:xfrm>
          <a:prstGeom prst="rect">
            <a:avLst/>
          </a:prstGeom>
          <a:solidFill>
            <a:srgbClr val="3A7757"/>
          </a:solidFill>
          <a:ln>
            <a:solidFill>
              <a:srgbClr val="3A77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24128" y="2679192"/>
            <a:ext cx="2880360" cy="320040"/>
          </a:xfrm>
          <a:prstGeom prst="rect">
            <a:avLst/>
          </a:prstGeom>
          <a:noFill/>
        </p:spPr>
        <p:txBody>
          <a:bodyPr wrap="square" lIns="27432" tIns="27432" rIns="27432" bIns="27432" anchor="t">
            <a:spAutoFit/>
          </a:bodyPr>
          <a:lstStyle/>
          <a:p>
            <a:pPr algn="l">
              <a:lnSpc>
                <a:spcPct val="100000"/>
              </a:lnSpc>
            </a:pPr>
            <a:r>
              <a:rPr sz="1600" b="1">
                <a:solidFill>
                  <a:srgbClr val="1F5340"/>
                </a:solidFill>
                <a:latin typeface="Aptos Display"/>
              </a:rPr>
              <a:t>CHOICE</a:t>
            </a:r>
          </a:p>
        </p:txBody>
      </p:sp>
      <p:sp>
        <p:nvSpPr>
          <p:cNvPr id="11" name="TextBox 10"/>
          <p:cNvSpPr txBox="1"/>
          <p:nvPr/>
        </p:nvSpPr>
        <p:spPr>
          <a:xfrm>
            <a:off x="1024128" y="3108960"/>
            <a:ext cx="2880360" cy="1163395"/>
          </a:xfrm>
          <a:prstGeom prst="rect">
            <a:avLst/>
          </a:prstGeom>
          <a:noFill/>
        </p:spPr>
        <p:txBody>
          <a:bodyPr wrap="square" lIns="27432" tIns="27432" rIns="27432" bIns="27432" anchor="t">
            <a:spAutoFit/>
          </a:bodyPr>
          <a:lstStyle/>
          <a:p>
            <a:pPr algn="l">
              <a:lnSpc>
                <a:spcPct val="100000"/>
              </a:lnSpc>
            </a:pPr>
            <a:r>
              <a:rPr sz="2400" b="0" dirty="0">
                <a:solidFill>
                  <a:srgbClr val="262B2A"/>
                </a:solidFill>
                <a:latin typeface="Aptos"/>
              </a:rPr>
              <a:t>The Ant prepared.
The Grasshopper did not.</a:t>
            </a:r>
          </a:p>
        </p:txBody>
      </p:sp>
      <p:sp>
        <p:nvSpPr>
          <p:cNvPr id="12" name="Rounded Rectangle 11"/>
          <p:cNvSpPr/>
          <p:nvPr/>
        </p:nvSpPr>
        <p:spPr>
          <a:xfrm>
            <a:off x="4480560" y="2514600"/>
            <a:ext cx="3246120" cy="1828800"/>
          </a:xfrm>
          <a:prstGeom prst="roundRect">
            <a:avLst/>
          </a:prstGeom>
          <a:solidFill>
            <a:srgbClr val="F9E2DC"/>
          </a:solidFill>
          <a:ln w="15240">
            <a:solidFill>
              <a:srgbClr val="F9E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480560" y="2514600"/>
            <a:ext cx="73152" cy="1828800"/>
          </a:xfrm>
          <a:prstGeom prst="rect">
            <a:avLst/>
          </a:prstGeom>
          <a:solidFill>
            <a:srgbClr val="DD6952"/>
          </a:solidFill>
          <a:ln>
            <a:solidFill>
              <a:srgbClr val="DD69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681728" y="2679192"/>
            <a:ext cx="2880360" cy="320040"/>
          </a:xfrm>
          <a:prstGeom prst="rect">
            <a:avLst/>
          </a:prstGeom>
          <a:noFill/>
        </p:spPr>
        <p:txBody>
          <a:bodyPr wrap="square" lIns="27432" tIns="27432" rIns="27432" bIns="27432" anchor="t">
            <a:spAutoFit/>
          </a:bodyPr>
          <a:lstStyle/>
          <a:p>
            <a:pPr algn="l">
              <a:lnSpc>
                <a:spcPct val="100000"/>
              </a:lnSpc>
            </a:pPr>
            <a:r>
              <a:rPr sz="1600" b="1">
                <a:solidFill>
                  <a:srgbClr val="1F5340"/>
                </a:solidFill>
                <a:latin typeface="Aptos Display"/>
              </a:rPr>
              <a:t>CONSEQUENCE</a:t>
            </a:r>
          </a:p>
        </p:txBody>
      </p:sp>
      <p:sp>
        <p:nvSpPr>
          <p:cNvPr id="15" name="TextBox 14"/>
          <p:cNvSpPr txBox="1"/>
          <p:nvPr/>
        </p:nvSpPr>
        <p:spPr>
          <a:xfrm>
            <a:off x="4681728" y="3108960"/>
            <a:ext cx="2880360" cy="1163395"/>
          </a:xfrm>
          <a:prstGeom prst="rect">
            <a:avLst/>
          </a:prstGeom>
          <a:noFill/>
        </p:spPr>
        <p:txBody>
          <a:bodyPr wrap="square" lIns="27432" tIns="27432" rIns="27432" bIns="27432" anchor="t">
            <a:spAutoFit/>
          </a:bodyPr>
          <a:lstStyle/>
          <a:p>
            <a:pPr algn="l">
              <a:lnSpc>
                <a:spcPct val="100000"/>
              </a:lnSpc>
            </a:pPr>
            <a:r>
              <a:rPr sz="2400" b="0" dirty="0">
                <a:solidFill>
                  <a:srgbClr val="262B2A"/>
                </a:solidFill>
                <a:latin typeface="Aptos"/>
              </a:rPr>
              <a:t>The Ant had food.
The Grasshopper was hungry.</a:t>
            </a:r>
          </a:p>
        </p:txBody>
      </p:sp>
      <p:sp>
        <p:nvSpPr>
          <p:cNvPr id="16" name="Rounded Rectangle 15"/>
          <p:cNvSpPr/>
          <p:nvPr/>
        </p:nvSpPr>
        <p:spPr>
          <a:xfrm>
            <a:off x="8138160" y="2514600"/>
            <a:ext cx="3246120" cy="1828800"/>
          </a:xfrm>
          <a:prstGeom prst="roundRect">
            <a:avLst/>
          </a:prstGeom>
          <a:solidFill>
            <a:srgbClr val="FFF4CD"/>
          </a:solidFill>
          <a:ln w="15240">
            <a:solidFill>
              <a:srgbClr val="FFF4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138160" y="2514600"/>
            <a:ext cx="73152" cy="1828800"/>
          </a:xfrm>
          <a:prstGeom prst="rect">
            <a:avLst/>
          </a:prstGeom>
          <a:solidFill>
            <a:srgbClr val="F4BE41"/>
          </a:solidFill>
          <a:ln>
            <a:solidFill>
              <a:srgbClr val="F4BE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339328" y="2679192"/>
            <a:ext cx="2880360" cy="320040"/>
          </a:xfrm>
          <a:prstGeom prst="rect">
            <a:avLst/>
          </a:prstGeom>
          <a:noFill/>
        </p:spPr>
        <p:txBody>
          <a:bodyPr wrap="square" lIns="27432" tIns="27432" rIns="27432" bIns="27432" anchor="t">
            <a:spAutoFit/>
          </a:bodyPr>
          <a:lstStyle/>
          <a:p>
            <a:pPr algn="l">
              <a:lnSpc>
                <a:spcPct val="100000"/>
              </a:lnSpc>
            </a:pPr>
            <a:r>
              <a:rPr sz="1600" b="1">
                <a:solidFill>
                  <a:srgbClr val="1F5340"/>
                </a:solidFill>
                <a:latin typeface="Aptos Display"/>
              </a:rPr>
              <a:t>LESSON</a:t>
            </a:r>
          </a:p>
        </p:txBody>
      </p:sp>
      <p:sp>
        <p:nvSpPr>
          <p:cNvPr id="19" name="TextBox 18"/>
          <p:cNvSpPr txBox="1"/>
          <p:nvPr/>
        </p:nvSpPr>
        <p:spPr>
          <a:xfrm>
            <a:off x="8339328" y="3108960"/>
            <a:ext cx="2880360" cy="978729"/>
          </a:xfrm>
          <a:prstGeom prst="rect">
            <a:avLst/>
          </a:prstGeom>
          <a:noFill/>
        </p:spPr>
        <p:txBody>
          <a:bodyPr wrap="square" lIns="27432" tIns="27432" rIns="27432" bIns="27432" anchor="t">
            <a:spAutoFit/>
          </a:bodyPr>
          <a:lstStyle/>
          <a:p>
            <a:pPr algn="l">
              <a:lnSpc>
                <a:spcPct val="100000"/>
              </a:lnSpc>
            </a:pPr>
            <a:r>
              <a:rPr sz="2000" b="0" dirty="0">
                <a:solidFill>
                  <a:srgbClr val="262B2A"/>
                </a:solidFill>
                <a:latin typeface="Aptos"/>
              </a:rPr>
              <a:t>Preparation matters.
Choices have consequences.</a:t>
            </a:r>
          </a:p>
        </p:txBody>
      </p:sp>
      <p:sp>
        <p:nvSpPr>
          <p:cNvPr id="20" name="Rounded Rectangle 19"/>
          <p:cNvSpPr/>
          <p:nvPr/>
        </p:nvSpPr>
        <p:spPr>
          <a:xfrm>
            <a:off x="1143000" y="4800600"/>
            <a:ext cx="9921240" cy="822960"/>
          </a:xfrm>
          <a:prstGeom prst="roundRect">
            <a:avLst/>
          </a:prstGeom>
          <a:solidFill>
            <a:srgbClr val="FFFFFF"/>
          </a:solidFill>
          <a:ln w="1524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371600" y="5029200"/>
            <a:ext cx="9464040" cy="320040"/>
          </a:xfrm>
          <a:prstGeom prst="rect">
            <a:avLst/>
          </a:prstGeom>
          <a:noFill/>
        </p:spPr>
        <p:txBody>
          <a:bodyPr wrap="square" lIns="27432" tIns="27432" rIns="27432" bIns="27432" anchor="t">
            <a:spAutoFit/>
          </a:bodyPr>
          <a:lstStyle/>
          <a:p>
            <a:pPr algn="ctr">
              <a:lnSpc>
                <a:spcPct val="100000"/>
              </a:lnSpc>
            </a:pPr>
            <a:r>
              <a:t>TURN &amp; TALK: Which moral is strongest — and which event proves it?</a:t>
            </a:r>
          </a:p>
        </p:txBody>
      </p:sp>
      <p:sp>
        <p:nvSpPr>
          <p:cNvPr id="22" name="TextBox 21"/>
          <p:cNvSpPr txBox="1"/>
          <p:nvPr/>
        </p:nvSpPr>
        <p:spPr>
          <a:xfrm>
            <a:off x="621792" y="6519672"/>
            <a:ext cx="6400800" cy="182880"/>
          </a:xfrm>
          <a:prstGeom prst="rect">
            <a:avLst/>
          </a:prstGeom>
          <a:noFill/>
        </p:spPr>
        <p:txBody>
          <a:bodyPr wrap="square" lIns="27432" tIns="27432" rIns="27432" bIns="27432" anchor="t">
            <a:spAutoFit/>
          </a:bodyPr>
          <a:lstStyle/>
          <a:p>
            <a:pPr algn="l">
              <a:lnSpc>
                <a:spcPct val="100000"/>
              </a:lnSpc>
            </a:pPr>
            <a:r>
              <a:rPr sz="800" b="1">
                <a:solidFill>
                  <a:srgbClr val="666C67"/>
                </a:solidFill>
                <a:latin typeface="Aptos"/>
              </a:rPr>
              <a:t>YEAR 5 • UNIT 1 • THE ANT &amp; THE GRASSHOPPER</a:t>
            </a:r>
          </a:p>
        </p:txBody>
      </p:sp>
      <p:sp>
        <p:nvSpPr>
          <p:cNvPr id="23" name="Oval 22"/>
          <p:cNvSpPr/>
          <p:nvPr/>
        </p:nvSpPr>
        <p:spPr>
          <a:xfrm>
            <a:off x="11201400" y="6510528"/>
            <a:ext cx="91440" cy="91440"/>
          </a:xfrm>
          <a:prstGeom prst="ellipse">
            <a:avLst/>
          </a:prstGeom>
          <a:solidFill>
            <a:srgbClr val="F4BE41"/>
          </a:solidFill>
          <a:ln>
            <a:solidFill>
              <a:srgbClr val="F4BE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11402568" y="6510528"/>
            <a:ext cx="91440" cy="91440"/>
          </a:xfrm>
          <a:prstGeom prst="ellipse">
            <a:avLst/>
          </a:prstGeom>
          <a:solidFill>
            <a:srgbClr val="DD6952"/>
          </a:solidFill>
          <a:ln>
            <a:solidFill>
              <a:srgbClr val="DD69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11603736" y="6510528"/>
            <a:ext cx="91440" cy="91440"/>
          </a:xfrm>
          <a:prstGeom prst="ellipse">
            <a:avLst/>
          </a:prstGeom>
          <a:solidFill>
            <a:srgbClr val="3A7757"/>
          </a:solidFill>
          <a:ln>
            <a:solidFill>
              <a:srgbClr val="3A77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10378440" y="6053328"/>
            <a:ext cx="1188720" cy="384048"/>
          </a:xfrm>
          <a:prstGeom prst="roundRect">
            <a:avLst/>
          </a:prstGeom>
          <a:solidFill>
            <a:srgbClr val="FFF4CD"/>
          </a:solidFill>
          <a:ln w="15240">
            <a:solidFill>
              <a:srgbClr val="FFF4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0424160" y="6099048"/>
            <a:ext cx="1097280" cy="274320"/>
          </a:xfrm>
          <a:prstGeom prst="rect">
            <a:avLst/>
          </a:prstGeom>
          <a:noFill/>
        </p:spPr>
        <p:txBody>
          <a:bodyPr wrap="square" lIns="27432" tIns="27432" rIns="27432" bIns="27432" anchor="ctr">
            <a:spAutoFit/>
          </a:bodyPr>
          <a:lstStyle/>
          <a:p>
            <a:pPr algn="ctr">
              <a:lnSpc>
                <a:spcPct val="100000"/>
              </a:lnSpc>
            </a:pPr>
            <a:r>
              <a:t>⏱ 2 min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AF7EF"/>
        </a:solidFill>
        <a:effectLst/>
      </p:bgPr>
    </p:bg>
    <p:spTree>
      <p:nvGrpSpPr>
        <p:cNvPr id="1" name=""/>
        <p:cNvGrpSpPr/>
        <p:nvPr/>
      </p:nvGrpSpPr>
      <p:grpSpPr>
        <a:xfrm>
          <a:off x="0" y="0"/>
          <a:ext cx="0" cy="0"/>
          <a:chOff x="0" y="0"/>
          <a:chExt cx="0" cy="0"/>
        </a:xfrm>
      </p:grpSpPr>
      <p:sp>
        <p:nvSpPr>
          <p:cNvPr id="2" name="TextBox 1"/>
          <p:cNvSpPr txBox="1"/>
          <p:nvPr/>
        </p:nvSpPr>
        <p:spPr>
          <a:xfrm>
            <a:off x="594360" y="292608"/>
            <a:ext cx="3657600" cy="256032"/>
          </a:xfrm>
          <a:prstGeom prst="rect">
            <a:avLst/>
          </a:prstGeom>
          <a:noFill/>
        </p:spPr>
        <p:txBody>
          <a:bodyPr wrap="square" lIns="27432" tIns="27432" rIns="27432" bIns="27432" anchor="t">
            <a:spAutoFit/>
          </a:bodyPr>
          <a:lstStyle/>
          <a:p>
            <a:pPr algn="l">
              <a:lnSpc>
                <a:spcPct val="100000"/>
              </a:lnSpc>
            </a:pPr>
            <a:r>
              <a:rPr sz="1000" b="1">
                <a:solidFill>
                  <a:srgbClr val="3A7757"/>
                </a:solidFill>
                <a:latin typeface="Aptos"/>
              </a:rPr>
              <a:t>TEACHER MODEL</a:t>
            </a:r>
          </a:p>
        </p:txBody>
      </p:sp>
      <p:sp>
        <p:nvSpPr>
          <p:cNvPr id="3" name="TextBox 2"/>
          <p:cNvSpPr txBox="1"/>
          <p:nvPr/>
        </p:nvSpPr>
        <p:spPr>
          <a:xfrm>
            <a:off x="594360" y="603504"/>
            <a:ext cx="10515600" cy="640080"/>
          </a:xfrm>
          <a:prstGeom prst="rect">
            <a:avLst/>
          </a:prstGeom>
          <a:noFill/>
        </p:spPr>
        <p:txBody>
          <a:bodyPr wrap="square" lIns="27432" tIns="27432" rIns="27432" bIns="27432" anchor="t">
            <a:spAutoFit/>
          </a:bodyPr>
          <a:lstStyle/>
          <a:p>
            <a:pPr algn="l">
              <a:lnSpc>
                <a:spcPct val="100000"/>
              </a:lnSpc>
            </a:pPr>
            <a:r>
              <a:rPr sz="2800" b="1">
                <a:solidFill>
                  <a:srgbClr val="1F5340"/>
                </a:solidFill>
                <a:latin typeface="Aptos Display"/>
              </a:rPr>
              <a:t>POINT → EVIDENCE → EXPLANATION</a:t>
            </a:r>
          </a:p>
        </p:txBody>
      </p:sp>
      <p:sp>
        <p:nvSpPr>
          <p:cNvPr id="4" name="Oval 3"/>
          <p:cNvSpPr/>
          <p:nvPr/>
        </p:nvSpPr>
        <p:spPr>
          <a:xfrm>
            <a:off x="11155680" y="320040"/>
            <a:ext cx="438912" cy="438912"/>
          </a:xfrm>
          <a:prstGeom prst="ellipse">
            <a:avLst/>
          </a:prstGeom>
          <a:solidFill>
            <a:srgbClr val="1F5340"/>
          </a:solidFill>
          <a:ln>
            <a:solidFill>
              <a:srgbClr val="1F53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155680" y="356616"/>
            <a:ext cx="438912" cy="310896"/>
          </a:xfrm>
          <a:prstGeom prst="rect">
            <a:avLst/>
          </a:prstGeom>
          <a:noFill/>
        </p:spPr>
        <p:txBody>
          <a:bodyPr wrap="square" lIns="27432" tIns="27432" rIns="27432" bIns="27432" anchor="ctr">
            <a:spAutoFit/>
          </a:bodyPr>
          <a:lstStyle/>
          <a:p>
            <a:pPr algn="ctr">
              <a:lnSpc>
                <a:spcPct val="100000"/>
              </a:lnSpc>
            </a:pPr>
            <a:r>
              <a:t>14</a:t>
            </a:r>
          </a:p>
        </p:txBody>
      </p:sp>
      <p:sp>
        <p:nvSpPr>
          <p:cNvPr id="6" name="Rectangle 5"/>
          <p:cNvSpPr/>
          <p:nvPr/>
        </p:nvSpPr>
        <p:spPr>
          <a:xfrm>
            <a:off x="594360" y="1353312"/>
            <a:ext cx="914400" cy="64008"/>
          </a:xfrm>
          <a:prstGeom prst="rect">
            <a:avLst/>
          </a:prstGeom>
          <a:solidFill>
            <a:srgbClr val="F4BE41"/>
          </a:solidFill>
          <a:ln>
            <a:solidFill>
              <a:srgbClr val="F4BE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389752" y="1737360"/>
            <a:ext cx="1576208" cy="384048"/>
          </a:xfrm>
          <a:prstGeom prst="roundRect">
            <a:avLst/>
          </a:prstGeom>
          <a:solidFill>
            <a:srgbClr val="E1EFE4"/>
          </a:solidFill>
          <a:ln w="15240">
            <a:solidFill>
              <a:srgbClr val="E1E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79462" y="1725980"/>
            <a:ext cx="996787" cy="424732"/>
          </a:xfrm>
          <a:prstGeom prst="rect">
            <a:avLst/>
          </a:prstGeom>
          <a:noFill/>
        </p:spPr>
        <p:txBody>
          <a:bodyPr wrap="square" lIns="27432" tIns="27432" rIns="27432" bIns="27432" anchor="ctr">
            <a:spAutoFit/>
          </a:bodyPr>
          <a:lstStyle/>
          <a:p>
            <a:pPr algn="ctr">
              <a:lnSpc>
                <a:spcPct val="100000"/>
              </a:lnSpc>
            </a:pPr>
            <a:r>
              <a:rPr sz="2400" b="1" dirty="0">
                <a:solidFill>
                  <a:srgbClr val="1F5340"/>
                </a:solidFill>
                <a:latin typeface="Aptos"/>
              </a:rPr>
              <a:t>POINT</a:t>
            </a:r>
          </a:p>
        </p:txBody>
      </p:sp>
      <p:sp>
        <p:nvSpPr>
          <p:cNvPr id="9" name="TextBox 8"/>
          <p:cNvSpPr txBox="1"/>
          <p:nvPr/>
        </p:nvSpPr>
        <p:spPr>
          <a:xfrm>
            <a:off x="2148840" y="1737360"/>
            <a:ext cx="8778240" cy="384048"/>
          </a:xfrm>
          <a:prstGeom prst="rect">
            <a:avLst/>
          </a:prstGeom>
          <a:noFill/>
        </p:spPr>
        <p:txBody>
          <a:bodyPr wrap="square" lIns="27432" tIns="27432" rIns="27432" bIns="27432" anchor="t">
            <a:spAutoFit/>
          </a:bodyPr>
          <a:lstStyle/>
          <a:p>
            <a:pPr algn="l">
              <a:lnSpc>
                <a:spcPct val="100000"/>
              </a:lnSpc>
            </a:pPr>
            <a:r>
              <a:rPr sz="2200" b="1">
                <a:solidFill>
                  <a:srgbClr val="262B2A"/>
                </a:solidFill>
                <a:latin typeface="Aptos"/>
              </a:rPr>
              <a:t>The Ant is responsible.</a:t>
            </a:r>
          </a:p>
        </p:txBody>
      </p:sp>
      <p:sp>
        <p:nvSpPr>
          <p:cNvPr id="10" name="Rounded Rectangle 9"/>
          <p:cNvSpPr/>
          <p:nvPr/>
        </p:nvSpPr>
        <p:spPr>
          <a:xfrm>
            <a:off x="389752" y="2606040"/>
            <a:ext cx="1576208" cy="384048"/>
          </a:xfrm>
          <a:prstGeom prst="roundRect">
            <a:avLst/>
          </a:prstGeom>
          <a:solidFill>
            <a:srgbClr val="FFF4CD"/>
          </a:solidFill>
          <a:ln w="15240">
            <a:solidFill>
              <a:srgbClr val="FFF4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44032" y="2607333"/>
            <a:ext cx="1576208" cy="363176"/>
          </a:xfrm>
          <a:prstGeom prst="rect">
            <a:avLst/>
          </a:prstGeom>
          <a:noFill/>
        </p:spPr>
        <p:txBody>
          <a:bodyPr wrap="square" lIns="27432" tIns="27432" rIns="27432" bIns="27432" anchor="ctr">
            <a:spAutoFit/>
          </a:bodyPr>
          <a:lstStyle/>
          <a:p>
            <a:pPr algn="ctr">
              <a:lnSpc>
                <a:spcPct val="100000"/>
              </a:lnSpc>
            </a:pPr>
            <a:r>
              <a:rPr sz="2000" b="1" dirty="0">
                <a:solidFill>
                  <a:srgbClr val="1F5340"/>
                </a:solidFill>
                <a:latin typeface="Aptos"/>
              </a:rPr>
              <a:t>EVIDENCE</a:t>
            </a:r>
          </a:p>
        </p:txBody>
      </p:sp>
      <p:sp>
        <p:nvSpPr>
          <p:cNvPr id="12" name="TextBox 11"/>
          <p:cNvSpPr txBox="1"/>
          <p:nvPr/>
        </p:nvSpPr>
        <p:spPr>
          <a:xfrm>
            <a:off x="2148840" y="2542032"/>
            <a:ext cx="8778240" cy="685800"/>
          </a:xfrm>
          <a:prstGeom prst="rect">
            <a:avLst/>
          </a:prstGeom>
          <a:noFill/>
        </p:spPr>
        <p:txBody>
          <a:bodyPr wrap="square" lIns="27432" tIns="27432" rIns="27432" bIns="27432" anchor="t">
            <a:spAutoFit/>
          </a:bodyPr>
          <a:lstStyle/>
          <a:p>
            <a:pPr algn="l">
              <a:lnSpc>
                <a:spcPct val="100000"/>
              </a:lnSpc>
            </a:pPr>
            <a:r>
              <a:rPr sz="2000" b="1">
                <a:solidFill>
                  <a:srgbClr val="262B2A"/>
                </a:solidFill>
                <a:latin typeface="Aptos"/>
              </a:rPr>
              <a:t>In the story, she carried food back to her nest and stored it carefully.</a:t>
            </a:r>
          </a:p>
        </p:txBody>
      </p:sp>
      <p:sp>
        <p:nvSpPr>
          <p:cNvPr id="13" name="Rounded Rectangle 12"/>
          <p:cNvSpPr/>
          <p:nvPr/>
        </p:nvSpPr>
        <p:spPr>
          <a:xfrm>
            <a:off x="344032" y="3657600"/>
            <a:ext cx="1621928" cy="384048"/>
          </a:xfrm>
          <a:prstGeom prst="roundRect">
            <a:avLst/>
          </a:prstGeom>
          <a:solidFill>
            <a:srgbClr val="F9E2DC"/>
          </a:solidFill>
          <a:ln w="15240">
            <a:solidFill>
              <a:srgbClr val="F9E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44032" y="3674281"/>
            <a:ext cx="1576208" cy="332399"/>
          </a:xfrm>
          <a:prstGeom prst="rect">
            <a:avLst/>
          </a:prstGeom>
          <a:noFill/>
        </p:spPr>
        <p:txBody>
          <a:bodyPr wrap="square" lIns="27432" tIns="27432" rIns="27432" bIns="27432" anchor="ctr">
            <a:spAutoFit/>
          </a:bodyPr>
          <a:lstStyle/>
          <a:p>
            <a:pPr algn="ctr">
              <a:lnSpc>
                <a:spcPct val="100000"/>
              </a:lnSpc>
            </a:pPr>
            <a:r>
              <a:rPr b="1" dirty="0">
                <a:solidFill>
                  <a:srgbClr val="1F5340"/>
                </a:solidFill>
                <a:latin typeface="Aptos"/>
              </a:rPr>
              <a:t>EXPLANATION</a:t>
            </a:r>
          </a:p>
        </p:txBody>
      </p:sp>
      <p:sp>
        <p:nvSpPr>
          <p:cNvPr id="15" name="TextBox 14"/>
          <p:cNvSpPr txBox="1"/>
          <p:nvPr/>
        </p:nvSpPr>
        <p:spPr>
          <a:xfrm>
            <a:off x="2148840" y="3611880"/>
            <a:ext cx="8778240" cy="594360"/>
          </a:xfrm>
          <a:prstGeom prst="rect">
            <a:avLst/>
          </a:prstGeom>
          <a:noFill/>
        </p:spPr>
        <p:txBody>
          <a:bodyPr wrap="square" lIns="27432" tIns="27432" rIns="27432" bIns="27432" anchor="t">
            <a:spAutoFit/>
          </a:bodyPr>
          <a:lstStyle/>
          <a:p>
            <a:pPr algn="l">
              <a:lnSpc>
                <a:spcPct val="100000"/>
              </a:lnSpc>
            </a:pPr>
            <a:r>
              <a:rPr sz="2000" b="1">
                <a:solidFill>
                  <a:srgbClr val="262B2A"/>
                </a:solidFill>
                <a:latin typeface="Aptos"/>
              </a:rPr>
              <a:t>This shows that she thinks ahead and prepares for winter.</a:t>
            </a:r>
          </a:p>
        </p:txBody>
      </p:sp>
      <p:sp>
        <p:nvSpPr>
          <p:cNvPr id="16" name="Rounded Rectangle 15"/>
          <p:cNvSpPr/>
          <p:nvPr/>
        </p:nvSpPr>
        <p:spPr>
          <a:xfrm>
            <a:off x="1005840" y="4800600"/>
            <a:ext cx="10058400" cy="868680"/>
          </a:xfrm>
          <a:prstGeom prst="roundRect">
            <a:avLst/>
          </a:prstGeom>
          <a:solidFill>
            <a:srgbClr val="1F5340"/>
          </a:solidFill>
          <a:ln w="15240">
            <a:solidFill>
              <a:srgbClr val="1F53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51560" y="5020520"/>
            <a:ext cx="10012680" cy="424732"/>
          </a:xfrm>
          <a:prstGeom prst="rect">
            <a:avLst/>
          </a:prstGeom>
          <a:noFill/>
        </p:spPr>
        <p:txBody>
          <a:bodyPr wrap="square" lIns="27432" tIns="27432" rIns="27432" bIns="27432" anchor="t">
            <a:spAutoFit/>
          </a:bodyPr>
          <a:lstStyle/>
          <a:p>
            <a:pPr algn="ctr">
              <a:lnSpc>
                <a:spcPct val="100000"/>
              </a:lnSpc>
            </a:pPr>
            <a:r>
              <a:rPr sz="2400" b="1" dirty="0">
                <a:solidFill>
                  <a:srgbClr val="FFFFFF"/>
                </a:solidFill>
                <a:latin typeface="Aptos"/>
              </a:rPr>
              <a:t>A strong answer does MORE than name a character trait — it PROVES it.</a:t>
            </a:r>
          </a:p>
        </p:txBody>
      </p:sp>
      <p:sp>
        <p:nvSpPr>
          <p:cNvPr id="18" name="TextBox 17"/>
          <p:cNvSpPr txBox="1"/>
          <p:nvPr/>
        </p:nvSpPr>
        <p:spPr>
          <a:xfrm>
            <a:off x="621792" y="6519672"/>
            <a:ext cx="6400800" cy="182880"/>
          </a:xfrm>
          <a:prstGeom prst="rect">
            <a:avLst/>
          </a:prstGeom>
          <a:noFill/>
        </p:spPr>
        <p:txBody>
          <a:bodyPr wrap="square" lIns="27432" tIns="27432" rIns="27432" bIns="27432" anchor="t">
            <a:spAutoFit/>
          </a:bodyPr>
          <a:lstStyle/>
          <a:p>
            <a:pPr algn="l">
              <a:lnSpc>
                <a:spcPct val="100000"/>
              </a:lnSpc>
            </a:pPr>
            <a:r>
              <a:rPr sz="800" b="1">
                <a:solidFill>
                  <a:srgbClr val="666C67"/>
                </a:solidFill>
                <a:latin typeface="Aptos"/>
              </a:rPr>
              <a:t>YEAR 5 • UNIT 1 • THE ANT &amp; THE GRASSHOPPER</a:t>
            </a:r>
          </a:p>
        </p:txBody>
      </p:sp>
      <p:sp>
        <p:nvSpPr>
          <p:cNvPr id="19" name="Oval 18"/>
          <p:cNvSpPr/>
          <p:nvPr/>
        </p:nvSpPr>
        <p:spPr>
          <a:xfrm>
            <a:off x="11201400" y="6510528"/>
            <a:ext cx="91440" cy="91440"/>
          </a:xfrm>
          <a:prstGeom prst="ellipse">
            <a:avLst/>
          </a:prstGeom>
          <a:solidFill>
            <a:srgbClr val="F4BE41"/>
          </a:solidFill>
          <a:ln>
            <a:solidFill>
              <a:srgbClr val="F4BE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11402568" y="6510528"/>
            <a:ext cx="91440" cy="91440"/>
          </a:xfrm>
          <a:prstGeom prst="ellipse">
            <a:avLst/>
          </a:prstGeom>
          <a:solidFill>
            <a:srgbClr val="DD6952"/>
          </a:solidFill>
          <a:ln>
            <a:solidFill>
              <a:srgbClr val="DD69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11603736" y="6510528"/>
            <a:ext cx="91440" cy="91440"/>
          </a:xfrm>
          <a:prstGeom prst="ellipse">
            <a:avLst/>
          </a:prstGeom>
          <a:solidFill>
            <a:srgbClr val="3A7757"/>
          </a:solidFill>
          <a:ln>
            <a:solidFill>
              <a:srgbClr val="3A77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10378440" y="6053328"/>
            <a:ext cx="1188720" cy="384048"/>
          </a:xfrm>
          <a:prstGeom prst="roundRect">
            <a:avLst/>
          </a:prstGeom>
          <a:solidFill>
            <a:srgbClr val="FFF4CD"/>
          </a:solidFill>
          <a:ln w="15240">
            <a:solidFill>
              <a:srgbClr val="FFF4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424160" y="6099048"/>
            <a:ext cx="1097280" cy="274320"/>
          </a:xfrm>
          <a:prstGeom prst="rect">
            <a:avLst/>
          </a:prstGeom>
          <a:noFill/>
        </p:spPr>
        <p:txBody>
          <a:bodyPr wrap="square" lIns="27432" tIns="27432" rIns="27432" bIns="27432" anchor="ctr">
            <a:spAutoFit/>
          </a:bodyPr>
          <a:lstStyle/>
          <a:p>
            <a:pPr algn="ctr">
              <a:lnSpc>
                <a:spcPct val="100000"/>
              </a:lnSpc>
            </a:pPr>
            <a:r>
              <a:rPr sz="1100" b="1">
                <a:solidFill>
                  <a:srgbClr val="1F5340"/>
                </a:solidFill>
                <a:latin typeface="Aptos"/>
              </a:rPr>
              <a:t>⏱ 5 min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AF7EF"/>
        </a:solidFill>
        <a:effectLst/>
      </p:bgPr>
    </p:bg>
    <p:spTree>
      <p:nvGrpSpPr>
        <p:cNvPr id="1" name=""/>
        <p:cNvGrpSpPr/>
        <p:nvPr/>
      </p:nvGrpSpPr>
      <p:grpSpPr>
        <a:xfrm>
          <a:off x="0" y="0"/>
          <a:ext cx="0" cy="0"/>
          <a:chOff x="0" y="0"/>
          <a:chExt cx="0" cy="0"/>
        </a:xfrm>
      </p:grpSpPr>
      <p:sp>
        <p:nvSpPr>
          <p:cNvPr id="2" name="TextBox 1"/>
          <p:cNvSpPr txBox="1"/>
          <p:nvPr/>
        </p:nvSpPr>
        <p:spPr>
          <a:xfrm>
            <a:off x="594360" y="292608"/>
            <a:ext cx="3657600" cy="256032"/>
          </a:xfrm>
          <a:prstGeom prst="rect">
            <a:avLst/>
          </a:prstGeom>
          <a:noFill/>
        </p:spPr>
        <p:txBody>
          <a:bodyPr wrap="square" lIns="27432" tIns="27432" rIns="27432" bIns="27432" anchor="t">
            <a:spAutoFit/>
          </a:bodyPr>
          <a:lstStyle/>
          <a:p>
            <a:pPr algn="l">
              <a:lnSpc>
                <a:spcPct val="100000"/>
              </a:lnSpc>
            </a:pPr>
            <a:r>
              <a:rPr sz="1000" b="1">
                <a:solidFill>
                  <a:srgbClr val="3A7757"/>
                </a:solidFill>
                <a:latin typeface="Aptos"/>
              </a:rPr>
              <a:t>GUIDED PRACTICE</a:t>
            </a:r>
          </a:p>
        </p:txBody>
      </p:sp>
      <p:sp>
        <p:nvSpPr>
          <p:cNvPr id="3" name="TextBox 2"/>
          <p:cNvSpPr txBox="1"/>
          <p:nvPr/>
        </p:nvSpPr>
        <p:spPr>
          <a:xfrm>
            <a:off x="594360" y="603504"/>
            <a:ext cx="10515600" cy="640080"/>
          </a:xfrm>
          <a:prstGeom prst="rect">
            <a:avLst/>
          </a:prstGeom>
          <a:noFill/>
        </p:spPr>
        <p:txBody>
          <a:bodyPr wrap="square" lIns="27432" tIns="27432" rIns="27432" bIns="27432" anchor="t">
            <a:spAutoFit/>
          </a:bodyPr>
          <a:lstStyle/>
          <a:p>
            <a:pPr algn="l">
              <a:lnSpc>
                <a:spcPct val="100000"/>
              </a:lnSpc>
            </a:pPr>
            <a:r>
              <a:rPr sz="2800" b="1">
                <a:solidFill>
                  <a:srgbClr val="1F5340"/>
                </a:solidFill>
                <a:latin typeface="Aptos Display"/>
              </a:rPr>
              <a:t>Prove it! 🕵️</a:t>
            </a:r>
          </a:p>
        </p:txBody>
      </p:sp>
      <p:sp>
        <p:nvSpPr>
          <p:cNvPr id="4" name="Oval 3"/>
          <p:cNvSpPr/>
          <p:nvPr/>
        </p:nvSpPr>
        <p:spPr>
          <a:xfrm>
            <a:off x="11155680" y="320040"/>
            <a:ext cx="438912" cy="438912"/>
          </a:xfrm>
          <a:prstGeom prst="ellipse">
            <a:avLst/>
          </a:prstGeom>
          <a:solidFill>
            <a:srgbClr val="1F5340"/>
          </a:solidFill>
          <a:ln>
            <a:solidFill>
              <a:srgbClr val="1F53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155680" y="356616"/>
            <a:ext cx="438912" cy="310896"/>
          </a:xfrm>
          <a:prstGeom prst="rect">
            <a:avLst/>
          </a:prstGeom>
          <a:noFill/>
        </p:spPr>
        <p:txBody>
          <a:bodyPr wrap="square" lIns="27432" tIns="27432" rIns="27432" bIns="27432" anchor="ctr">
            <a:spAutoFit/>
          </a:bodyPr>
          <a:lstStyle/>
          <a:p>
            <a:pPr algn="ctr">
              <a:lnSpc>
                <a:spcPct val="100000"/>
              </a:lnSpc>
            </a:pPr>
            <a:r>
              <a:t>15</a:t>
            </a:r>
          </a:p>
        </p:txBody>
      </p:sp>
      <p:sp>
        <p:nvSpPr>
          <p:cNvPr id="6" name="Rectangle 5"/>
          <p:cNvSpPr/>
          <p:nvPr/>
        </p:nvSpPr>
        <p:spPr>
          <a:xfrm>
            <a:off x="594360" y="1353312"/>
            <a:ext cx="914400" cy="64008"/>
          </a:xfrm>
          <a:prstGeom prst="rect">
            <a:avLst/>
          </a:prstGeom>
          <a:solidFill>
            <a:srgbClr val="F4BE41"/>
          </a:solidFill>
          <a:ln>
            <a:solidFill>
              <a:srgbClr val="F4BE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58951" y="1809946"/>
            <a:ext cx="10607040" cy="411480"/>
          </a:xfrm>
          <a:prstGeom prst="rect">
            <a:avLst/>
          </a:prstGeom>
          <a:noFill/>
        </p:spPr>
        <p:txBody>
          <a:bodyPr wrap="square" lIns="27432" tIns="27432" rIns="27432" bIns="27432" anchor="t">
            <a:spAutoFit/>
          </a:bodyPr>
          <a:lstStyle/>
          <a:p>
            <a:pPr algn="ctr">
              <a:lnSpc>
                <a:spcPct val="100000"/>
              </a:lnSpc>
            </a:pPr>
            <a:r>
              <a:rPr sz="2100" b="1" dirty="0">
                <a:solidFill>
                  <a:srgbClr val="1F5340"/>
                </a:solidFill>
                <a:latin typeface="Aptos"/>
              </a:rPr>
              <a:t>Choose ONE character. Build your response.</a:t>
            </a:r>
          </a:p>
        </p:txBody>
      </p:sp>
      <p:sp>
        <p:nvSpPr>
          <p:cNvPr id="8" name="Rounded Rectangle 7"/>
          <p:cNvSpPr/>
          <p:nvPr/>
        </p:nvSpPr>
        <p:spPr>
          <a:xfrm>
            <a:off x="777240" y="2331720"/>
            <a:ext cx="3383280" cy="1737360"/>
          </a:xfrm>
          <a:prstGeom prst="roundRect">
            <a:avLst/>
          </a:prstGeom>
          <a:solidFill>
            <a:srgbClr val="E1EFE4"/>
          </a:solidFill>
          <a:ln w="15240">
            <a:solidFill>
              <a:srgbClr val="E1E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60120" y="2606040"/>
            <a:ext cx="3017520" cy="274320"/>
          </a:xfrm>
          <a:prstGeom prst="rect">
            <a:avLst/>
          </a:prstGeom>
          <a:noFill/>
        </p:spPr>
        <p:txBody>
          <a:bodyPr wrap="square" lIns="27432" tIns="27432" rIns="27432" bIns="27432" anchor="t">
            <a:spAutoFit/>
          </a:bodyPr>
          <a:lstStyle/>
          <a:p>
            <a:pPr algn="ctr">
              <a:lnSpc>
                <a:spcPct val="100000"/>
              </a:lnSpc>
            </a:pPr>
            <a:r>
              <a:rPr sz="1400" b="1">
                <a:solidFill>
                  <a:srgbClr val="3A7757"/>
                </a:solidFill>
                <a:latin typeface="Aptos"/>
              </a:rPr>
              <a:t>POINT</a:t>
            </a:r>
          </a:p>
        </p:txBody>
      </p:sp>
      <p:sp>
        <p:nvSpPr>
          <p:cNvPr id="10" name="TextBox 9"/>
          <p:cNvSpPr txBox="1"/>
          <p:nvPr/>
        </p:nvSpPr>
        <p:spPr>
          <a:xfrm>
            <a:off x="1033271" y="3127248"/>
            <a:ext cx="2834640" cy="594360"/>
          </a:xfrm>
          <a:prstGeom prst="rect">
            <a:avLst/>
          </a:prstGeom>
          <a:noFill/>
        </p:spPr>
        <p:txBody>
          <a:bodyPr wrap="square" lIns="27432" tIns="27432" rIns="27432" bIns="27432" anchor="t">
            <a:spAutoFit/>
          </a:bodyPr>
          <a:lstStyle/>
          <a:p>
            <a:pPr algn="ctr">
              <a:lnSpc>
                <a:spcPct val="100000"/>
              </a:lnSpc>
            </a:pPr>
            <a:r>
              <a:rPr sz="1900" b="1">
                <a:solidFill>
                  <a:srgbClr val="262B2A"/>
                </a:solidFill>
                <a:latin typeface="Aptos"/>
              </a:rPr>
              <a:t>The ______ is ______.</a:t>
            </a:r>
          </a:p>
        </p:txBody>
      </p:sp>
      <p:sp>
        <p:nvSpPr>
          <p:cNvPr id="11" name="Rounded Rectangle 10"/>
          <p:cNvSpPr/>
          <p:nvPr/>
        </p:nvSpPr>
        <p:spPr>
          <a:xfrm>
            <a:off x="4526279" y="2331720"/>
            <a:ext cx="3383280" cy="1737360"/>
          </a:xfrm>
          <a:prstGeom prst="roundRect">
            <a:avLst/>
          </a:prstGeom>
          <a:solidFill>
            <a:srgbClr val="FFF4CD"/>
          </a:solidFill>
          <a:ln w="15240">
            <a:solidFill>
              <a:srgbClr val="FFF4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709159" y="2606040"/>
            <a:ext cx="3017520" cy="274320"/>
          </a:xfrm>
          <a:prstGeom prst="rect">
            <a:avLst/>
          </a:prstGeom>
          <a:noFill/>
        </p:spPr>
        <p:txBody>
          <a:bodyPr wrap="square" lIns="27432" tIns="27432" rIns="27432" bIns="27432" anchor="t">
            <a:spAutoFit/>
          </a:bodyPr>
          <a:lstStyle/>
          <a:p>
            <a:pPr algn="ctr">
              <a:lnSpc>
                <a:spcPct val="100000"/>
              </a:lnSpc>
            </a:pPr>
            <a:r>
              <a:rPr sz="1400" b="1">
                <a:solidFill>
                  <a:srgbClr val="F4BE41"/>
                </a:solidFill>
                <a:latin typeface="Aptos"/>
              </a:rPr>
              <a:t>EVIDENCE</a:t>
            </a:r>
          </a:p>
        </p:txBody>
      </p:sp>
      <p:sp>
        <p:nvSpPr>
          <p:cNvPr id="13" name="TextBox 12"/>
          <p:cNvSpPr txBox="1"/>
          <p:nvPr/>
        </p:nvSpPr>
        <p:spPr>
          <a:xfrm>
            <a:off x="4782312" y="3127248"/>
            <a:ext cx="2834640" cy="594360"/>
          </a:xfrm>
          <a:prstGeom prst="rect">
            <a:avLst/>
          </a:prstGeom>
          <a:noFill/>
        </p:spPr>
        <p:txBody>
          <a:bodyPr wrap="square" lIns="27432" tIns="27432" rIns="27432" bIns="27432" anchor="t">
            <a:spAutoFit/>
          </a:bodyPr>
          <a:lstStyle/>
          <a:p>
            <a:pPr algn="ctr">
              <a:lnSpc>
                <a:spcPct val="100000"/>
              </a:lnSpc>
            </a:pPr>
            <a:r>
              <a:rPr sz="1900" b="1">
                <a:solidFill>
                  <a:srgbClr val="262B2A"/>
                </a:solidFill>
                <a:latin typeface="Aptos"/>
              </a:rPr>
              <a:t>In the story, ______.</a:t>
            </a:r>
          </a:p>
        </p:txBody>
      </p:sp>
      <p:sp>
        <p:nvSpPr>
          <p:cNvPr id="14" name="Rounded Rectangle 13"/>
          <p:cNvSpPr/>
          <p:nvPr/>
        </p:nvSpPr>
        <p:spPr>
          <a:xfrm>
            <a:off x="8275319" y="2331720"/>
            <a:ext cx="3383280" cy="1737360"/>
          </a:xfrm>
          <a:prstGeom prst="roundRect">
            <a:avLst/>
          </a:prstGeom>
          <a:solidFill>
            <a:srgbClr val="F9E2DC"/>
          </a:solidFill>
          <a:ln w="15240">
            <a:solidFill>
              <a:srgbClr val="F9E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458199" y="2606040"/>
            <a:ext cx="3017520" cy="274320"/>
          </a:xfrm>
          <a:prstGeom prst="rect">
            <a:avLst/>
          </a:prstGeom>
          <a:noFill/>
        </p:spPr>
        <p:txBody>
          <a:bodyPr wrap="square" lIns="27432" tIns="27432" rIns="27432" bIns="27432" anchor="t">
            <a:spAutoFit/>
          </a:bodyPr>
          <a:lstStyle/>
          <a:p>
            <a:pPr algn="ctr">
              <a:lnSpc>
                <a:spcPct val="100000"/>
              </a:lnSpc>
            </a:pPr>
            <a:r>
              <a:rPr sz="1400" b="1">
                <a:solidFill>
                  <a:srgbClr val="DD6952"/>
                </a:solidFill>
                <a:latin typeface="Aptos"/>
              </a:rPr>
              <a:t>EXPLANATION</a:t>
            </a:r>
          </a:p>
        </p:txBody>
      </p:sp>
      <p:sp>
        <p:nvSpPr>
          <p:cNvPr id="16" name="TextBox 15"/>
          <p:cNvSpPr txBox="1"/>
          <p:nvPr/>
        </p:nvSpPr>
        <p:spPr>
          <a:xfrm>
            <a:off x="8531351" y="3127248"/>
            <a:ext cx="2834640" cy="594360"/>
          </a:xfrm>
          <a:prstGeom prst="rect">
            <a:avLst/>
          </a:prstGeom>
          <a:noFill/>
        </p:spPr>
        <p:txBody>
          <a:bodyPr wrap="square" lIns="27432" tIns="27432" rIns="27432" bIns="27432" anchor="t">
            <a:spAutoFit/>
          </a:bodyPr>
          <a:lstStyle/>
          <a:p>
            <a:pPr algn="ctr">
              <a:lnSpc>
                <a:spcPct val="100000"/>
              </a:lnSpc>
            </a:pPr>
            <a:r>
              <a:rPr sz="1900" b="1">
                <a:solidFill>
                  <a:srgbClr val="262B2A"/>
                </a:solidFill>
                <a:latin typeface="Aptos"/>
              </a:rPr>
              <a:t>This shows ______.</a:t>
            </a:r>
          </a:p>
        </p:txBody>
      </p:sp>
      <p:sp>
        <p:nvSpPr>
          <p:cNvPr id="17" name="Rounded Rectangle 16"/>
          <p:cNvSpPr/>
          <p:nvPr/>
        </p:nvSpPr>
        <p:spPr>
          <a:xfrm>
            <a:off x="1325880" y="4526280"/>
            <a:ext cx="9555480" cy="1911096"/>
          </a:xfrm>
          <a:prstGeom prst="roundRect">
            <a:avLst/>
          </a:prstGeom>
          <a:solidFill>
            <a:srgbClr val="FFFFFF"/>
          </a:solidFill>
          <a:ln w="1524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371599" y="4585716"/>
            <a:ext cx="6675119" cy="1440394"/>
          </a:xfrm>
          <a:prstGeom prst="rect">
            <a:avLst/>
          </a:prstGeom>
          <a:noFill/>
        </p:spPr>
        <p:txBody>
          <a:bodyPr wrap="square" lIns="27432" tIns="27432" rIns="27432" bIns="27432" anchor="t">
            <a:spAutoFit/>
          </a:bodyPr>
          <a:lstStyle/>
          <a:p>
            <a:pPr algn="l">
              <a:lnSpc>
                <a:spcPct val="100000"/>
              </a:lnSpc>
            </a:pPr>
            <a:r>
              <a:rPr b="1" dirty="0"/>
              <a:t>PARTNER CHECK</a:t>
            </a:r>
            <a:endParaRPr lang="en-US" b="1" dirty="0"/>
          </a:p>
          <a:p>
            <a:pPr algn="l">
              <a:lnSpc>
                <a:spcPct val="100000"/>
              </a:lnSpc>
            </a:pPr>
            <a:br>
              <a:rPr b="1" dirty="0"/>
            </a:br>
            <a:r>
              <a:rPr b="1" dirty="0"/>
              <a:t>1. Where is</a:t>
            </a:r>
            <a:r>
              <a:rPr lang="en-US" b="1" dirty="0"/>
              <a:t> </a:t>
            </a:r>
            <a:r>
              <a:rPr b="1" dirty="0"/>
              <a:t>your evidence?</a:t>
            </a:r>
            <a:br>
              <a:rPr b="1" dirty="0"/>
            </a:br>
            <a:r>
              <a:rPr b="1" dirty="0"/>
              <a:t>2. What does it show?</a:t>
            </a:r>
            <a:br>
              <a:rPr b="1" dirty="0"/>
            </a:br>
            <a:r>
              <a:rPr b="1" dirty="0"/>
              <a:t>3. Is the explanation connected to the evidence?</a:t>
            </a:r>
          </a:p>
        </p:txBody>
      </p:sp>
      <p:sp>
        <p:nvSpPr>
          <p:cNvPr id="20" name="TextBox 19"/>
          <p:cNvSpPr txBox="1"/>
          <p:nvPr/>
        </p:nvSpPr>
        <p:spPr>
          <a:xfrm>
            <a:off x="621792" y="6519672"/>
            <a:ext cx="6400800" cy="182880"/>
          </a:xfrm>
          <a:prstGeom prst="rect">
            <a:avLst/>
          </a:prstGeom>
          <a:noFill/>
        </p:spPr>
        <p:txBody>
          <a:bodyPr wrap="square" lIns="27432" tIns="27432" rIns="27432" bIns="27432" anchor="t">
            <a:spAutoFit/>
          </a:bodyPr>
          <a:lstStyle/>
          <a:p>
            <a:pPr algn="l">
              <a:lnSpc>
                <a:spcPct val="100000"/>
              </a:lnSpc>
            </a:pPr>
            <a:r>
              <a:rPr sz="800" b="1">
                <a:solidFill>
                  <a:srgbClr val="666C67"/>
                </a:solidFill>
                <a:latin typeface="Aptos"/>
              </a:rPr>
              <a:t>YEAR 5 • UNIT 1 • THE ANT &amp; THE GRASSHOPPER</a:t>
            </a:r>
          </a:p>
        </p:txBody>
      </p:sp>
      <p:sp>
        <p:nvSpPr>
          <p:cNvPr id="21" name="Oval 20"/>
          <p:cNvSpPr/>
          <p:nvPr/>
        </p:nvSpPr>
        <p:spPr>
          <a:xfrm>
            <a:off x="11201400" y="6510528"/>
            <a:ext cx="91440" cy="91440"/>
          </a:xfrm>
          <a:prstGeom prst="ellipse">
            <a:avLst/>
          </a:prstGeom>
          <a:solidFill>
            <a:srgbClr val="F4BE41"/>
          </a:solidFill>
          <a:ln>
            <a:solidFill>
              <a:srgbClr val="F4BE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11402568" y="6510528"/>
            <a:ext cx="91440" cy="91440"/>
          </a:xfrm>
          <a:prstGeom prst="ellipse">
            <a:avLst/>
          </a:prstGeom>
          <a:solidFill>
            <a:srgbClr val="DD6952"/>
          </a:solidFill>
          <a:ln>
            <a:solidFill>
              <a:srgbClr val="DD69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11603736" y="6510528"/>
            <a:ext cx="91440" cy="91440"/>
          </a:xfrm>
          <a:prstGeom prst="ellipse">
            <a:avLst/>
          </a:prstGeom>
          <a:solidFill>
            <a:srgbClr val="3A7757"/>
          </a:solidFill>
          <a:ln>
            <a:solidFill>
              <a:srgbClr val="3A77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10378440" y="6053328"/>
            <a:ext cx="1188720" cy="384048"/>
          </a:xfrm>
          <a:prstGeom prst="roundRect">
            <a:avLst/>
          </a:prstGeom>
          <a:solidFill>
            <a:srgbClr val="FFF4CD"/>
          </a:solidFill>
          <a:ln w="15240">
            <a:solidFill>
              <a:srgbClr val="FFF4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0424160" y="6099048"/>
            <a:ext cx="1097280" cy="274320"/>
          </a:xfrm>
          <a:prstGeom prst="rect">
            <a:avLst/>
          </a:prstGeom>
          <a:noFill/>
        </p:spPr>
        <p:txBody>
          <a:bodyPr wrap="square" lIns="27432" tIns="27432" rIns="27432" bIns="27432" anchor="ctr">
            <a:spAutoFit/>
          </a:bodyPr>
          <a:lstStyle/>
          <a:p>
            <a:pPr algn="ctr">
              <a:lnSpc>
                <a:spcPct val="100000"/>
              </a:lnSpc>
            </a:pPr>
            <a:r>
              <a:t>⏱ 5 min</a:t>
            </a:r>
          </a:p>
        </p:txBody>
      </p:sp>
      <p:sp>
        <p:nvSpPr>
          <p:cNvPr id="26" name="Rounded Rectangle 25"/>
          <p:cNvSpPr/>
          <p:nvPr/>
        </p:nvSpPr>
        <p:spPr>
          <a:xfrm>
            <a:off x="1805940" y="1121255"/>
            <a:ext cx="9326880" cy="640080"/>
          </a:xfrm>
          <a:prstGeom prst="roundRect">
            <a:avLst/>
          </a:prstGeom>
          <a:solidFill>
            <a:srgbClr val="FFF8E7"/>
          </a:solidFill>
          <a:ln>
            <a:solidFill>
              <a:srgbClr val="E8C76A"/>
            </a:solidFill>
          </a:ln>
        </p:spPr>
        <p:style>
          <a:lnRef idx="1">
            <a:schemeClr val="accent1"/>
          </a:lnRef>
          <a:fillRef idx="3">
            <a:schemeClr val="accent1"/>
          </a:fillRef>
          <a:effectRef idx="2">
            <a:schemeClr val="accent1"/>
          </a:effectRef>
          <a:fontRef idx="minor">
            <a:schemeClr val="lt1"/>
          </a:fontRef>
        </p:style>
        <p:txBody>
          <a:bodyPr lIns="109728" tIns="73152" rIns="109728" bIns="73152" rtlCol="0" anchor="ctr"/>
          <a:lstStyle/>
          <a:p>
            <a:pPr algn="l"/>
            <a:r>
              <a:rPr b="1" dirty="0">
                <a:solidFill>
                  <a:srgbClr val="7F6000"/>
                </a:solidFill>
                <a:latin typeface="Aptos"/>
              </a:rPr>
              <a:t>RELEASE DECISION → Students ready to work independently have a complete </a:t>
            </a:r>
            <a:r>
              <a:rPr lang="en-US" b="1" dirty="0">
                <a:solidFill>
                  <a:srgbClr val="7F6000"/>
                </a:solidFill>
                <a:latin typeface="Aptos"/>
              </a:rPr>
              <a:t>                    </a:t>
            </a:r>
            <a:r>
              <a:rPr b="1" dirty="0">
                <a:solidFill>
                  <a:srgbClr val="7F6000"/>
                </a:solidFill>
                <a:latin typeface="Aptos"/>
              </a:rPr>
              <a:t>P</a:t>
            </a:r>
            <a:r>
              <a:rPr lang="en-US" b="1" dirty="0">
                <a:solidFill>
                  <a:srgbClr val="7F6000"/>
                </a:solidFill>
                <a:latin typeface="Aptos"/>
              </a:rPr>
              <a:t> </a:t>
            </a:r>
            <a:r>
              <a:rPr b="1" dirty="0">
                <a:solidFill>
                  <a:srgbClr val="7F6000"/>
                </a:solidFill>
                <a:latin typeface="Aptos"/>
              </a:rPr>
              <a:t>→</a:t>
            </a:r>
            <a:r>
              <a:rPr lang="en-US" b="1" dirty="0">
                <a:solidFill>
                  <a:srgbClr val="7F6000"/>
                </a:solidFill>
                <a:latin typeface="Aptos"/>
              </a:rPr>
              <a:t> </a:t>
            </a:r>
            <a:r>
              <a:rPr b="1" dirty="0">
                <a:solidFill>
                  <a:srgbClr val="7F6000"/>
                </a:solidFill>
                <a:latin typeface="Aptos"/>
              </a:rPr>
              <a:t>E</a:t>
            </a:r>
            <a:r>
              <a:rPr lang="en-US" b="1" dirty="0">
                <a:solidFill>
                  <a:srgbClr val="7F6000"/>
                </a:solidFill>
                <a:latin typeface="Aptos"/>
              </a:rPr>
              <a:t> </a:t>
            </a:r>
            <a:r>
              <a:rPr b="1" dirty="0">
                <a:solidFill>
                  <a:srgbClr val="7F6000"/>
                </a:solidFill>
                <a:latin typeface="Aptos"/>
              </a:rPr>
              <a:t>→</a:t>
            </a:r>
            <a:r>
              <a:rPr lang="en-US" b="1" dirty="0">
                <a:solidFill>
                  <a:srgbClr val="7F6000"/>
                </a:solidFill>
                <a:latin typeface="Aptos"/>
              </a:rPr>
              <a:t> </a:t>
            </a:r>
            <a:r>
              <a:rPr b="1" dirty="0">
                <a:solidFill>
                  <a:srgbClr val="7F6000"/>
                </a:solidFill>
                <a:latin typeface="Aptos"/>
              </a:rPr>
              <a:t>Explanation orally. Others receive the sentence frame and evidence card.</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AF7EF"/>
        </a:solidFill>
        <a:effectLst/>
      </p:bgPr>
    </p:bg>
    <p:spTree>
      <p:nvGrpSpPr>
        <p:cNvPr id="1" name=""/>
        <p:cNvGrpSpPr/>
        <p:nvPr/>
      </p:nvGrpSpPr>
      <p:grpSpPr>
        <a:xfrm>
          <a:off x="0" y="0"/>
          <a:ext cx="0" cy="0"/>
          <a:chOff x="0" y="0"/>
          <a:chExt cx="0" cy="0"/>
        </a:xfrm>
      </p:grpSpPr>
      <p:sp>
        <p:nvSpPr>
          <p:cNvPr id="2" name="TextBox 1"/>
          <p:cNvSpPr txBox="1"/>
          <p:nvPr/>
        </p:nvSpPr>
        <p:spPr>
          <a:xfrm>
            <a:off x="594360" y="292608"/>
            <a:ext cx="3657600" cy="256032"/>
          </a:xfrm>
          <a:prstGeom prst="rect">
            <a:avLst/>
          </a:prstGeom>
          <a:noFill/>
        </p:spPr>
        <p:txBody>
          <a:bodyPr wrap="square" lIns="27432" tIns="27432" rIns="27432" bIns="27432" anchor="t">
            <a:spAutoFit/>
          </a:bodyPr>
          <a:lstStyle/>
          <a:p>
            <a:pPr algn="l">
              <a:lnSpc>
                <a:spcPct val="100000"/>
              </a:lnSpc>
            </a:pPr>
            <a:r>
              <a:rPr sz="1000" b="1">
                <a:solidFill>
                  <a:srgbClr val="3A7757"/>
                </a:solidFill>
                <a:latin typeface="Aptos"/>
              </a:rPr>
              <a:t>INDEPENDENT WRITING</a:t>
            </a:r>
          </a:p>
        </p:txBody>
      </p:sp>
      <p:sp>
        <p:nvSpPr>
          <p:cNvPr id="3" name="TextBox 2"/>
          <p:cNvSpPr txBox="1"/>
          <p:nvPr/>
        </p:nvSpPr>
        <p:spPr>
          <a:xfrm>
            <a:off x="594360" y="603504"/>
            <a:ext cx="10515600" cy="640080"/>
          </a:xfrm>
          <a:prstGeom prst="rect">
            <a:avLst/>
          </a:prstGeom>
          <a:noFill/>
        </p:spPr>
        <p:txBody>
          <a:bodyPr wrap="square" lIns="27432" tIns="27432" rIns="27432" bIns="27432" anchor="t">
            <a:spAutoFit/>
          </a:bodyPr>
          <a:lstStyle/>
          <a:p>
            <a:pPr algn="l">
              <a:lnSpc>
                <a:spcPct val="100000"/>
              </a:lnSpc>
            </a:pPr>
            <a:r>
              <a:rPr sz="2800" b="1" dirty="0">
                <a:solidFill>
                  <a:srgbClr val="1F5340"/>
                </a:solidFill>
                <a:latin typeface="Aptos Display"/>
              </a:rPr>
              <a:t>Your turn: Build a developed response</a:t>
            </a:r>
          </a:p>
        </p:txBody>
      </p:sp>
      <p:sp>
        <p:nvSpPr>
          <p:cNvPr id="4" name="Oval 3"/>
          <p:cNvSpPr/>
          <p:nvPr/>
        </p:nvSpPr>
        <p:spPr>
          <a:xfrm>
            <a:off x="11155680" y="320040"/>
            <a:ext cx="438912" cy="438912"/>
          </a:xfrm>
          <a:prstGeom prst="ellipse">
            <a:avLst/>
          </a:prstGeom>
          <a:solidFill>
            <a:srgbClr val="1F5340"/>
          </a:solidFill>
          <a:ln>
            <a:solidFill>
              <a:srgbClr val="1F53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155680" y="356616"/>
            <a:ext cx="438912" cy="310896"/>
          </a:xfrm>
          <a:prstGeom prst="rect">
            <a:avLst/>
          </a:prstGeom>
          <a:noFill/>
        </p:spPr>
        <p:txBody>
          <a:bodyPr wrap="square" lIns="27432" tIns="27432" rIns="27432" bIns="27432" anchor="ctr">
            <a:spAutoFit/>
          </a:bodyPr>
          <a:lstStyle/>
          <a:p>
            <a:pPr algn="ctr">
              <a:lnSpc>
                <a:spcPct val="100000"/>
              </a:lnSpc>
            </a:pPr>
            <a:r>
              <a:t>16</a:t>
            </a:r>
          </a:p>
        </p:txBody>
      </p:sp>
      <p:sp>
        <p:nvSpPr>
          <p:cNvPr id="6" name="Rectangle 5"/>
          <p:cNvSpPr/>
          <p:nvPr/>
        </p:nvSpPr>
        <p:spPr>
          <a:xfrm>
            <a:off x="594360" y="1353312"/>
            <a:ext cx="914400" cy="64008"/>
          </a:xfrm>
          <a:prstGeom prst="rect">
            <a:avLst/>
          </a:prstGeom>
          <a:solidFill>
            <a:srgbClr val="F4BE41"/>
          </a:solidFill>
          <a:ln>
            <a:solidFill>
              <a:srgbClr val="F4BE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85800" y="1600200"/>
            <a:ext cx="5349240" cy="4343400"/>
          </a:xfrm>
          <a:prstGeom prst="roundRect">
            <a:avLst/>
          </a:prstGeom>
          <a:solidFill>
            <a:srgbClr val="FFFFFF"/>
          </a:solidFill>
          <a:ln w="1524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1828800"/>
            <a:ext cx="1828800" cy="274320"/>
          </a:xfrm>
          <a:prstGeom prst="rect">
            <a:avLst/>
          </a:prstGeom>
          <a:noFill/>
        </p:spPr>
        <p:txBody>
          <a:bodyPr wrap="square" lIns="27432" tIns="27432" rIns="27432" bIns="27432" anchor="t">
            <a:spAutoFit/>
          </a:bodyPr>
          <a:lstStyle/>
          <a:p>
            <a:pPr algn="l">
              <a:lnSpc>
                <a:spcPct val="100000"/>
              </a:lnSpc>
            </a:pPr>
            <a:r>
              <a:rPr sz="1400" b="1">
                <a:solidFill>
                  <a:srgbClr val="DD6952"/>
                </a:solidFill>
                <a:latin typeface="Aptos"/>
              </a:rPr>
              <a:t>CORE TASK</a:t>
            </a:r>
          </a:p>
        </p:txBody>
      </p:sp>
      <p:sp>
        <p:nvSpPr>
          <p:cNvPr id="9" name="TextBox 8"/>
          <p:cNvSpPr txBox="1"/>
          <p:nvPr/>
        </p:nvSpPr>
        <p:spPr>
          <a:xfrm>
            <a:off x="914400" y="2240280"/>
            <a:ext cx="4754880" cy="685800"/>
          </a:xfrm>
          <a:prstGeom prst="rect">
            <a:avLst/>
          </a:prstGeom>
          <a:noFill/>
        </p:spPr>
        <p:txBody>
          <a:bodyPr wrap="square" lIns="27432" tIns="27432" rIns="27432" bIns="27432" anchor="t">
            <a:spAutoFit/>
          </a:bodyPr>
          <a:lstStyle/>
          <a:p>
            <a:pPr algn="l">
              <a:lnSpc>
                <a:spcPct val="100000"/>
              </a:lnSpc>
            </a:pPr>
            <a:r>
              <a:rPr sz="2200" b="1">
                <a:solidFill>
                  <a:srgbClr val="1F5340"/>
                </a:solidFill>
                <a:latin typeface="Aptos"/>
              </a:rPr>
              <a:t>Write 3 connected sentences about the Ant OR the Grasshopper.</a:t>
            </a:r>
          </a:p>
        </p:txBody>
      </p:sp>
      <p:sp>
        <p:nvSpPr>
          <p:cNvPr id="10" name="TextBox 9"/>
          <p:cNvSpPr txBox="1"/>
          <p:nvPr/>
        </p:nvSpPr>
        <p:spPr>
          <a:xfrm>
            <a:off x="879544" y="3063240"/>
            <a:ext cx="914400" cy="274320"/>
          </a:xfrm>
          <a:prstGeom prst="rect">
            <a:avLst/>
          </a:prstGeom>
          <a:noFill/>
        </p:spPr>
        <p:txBody>
          <a:bodyPr wrap="square" lIns="27432" tIns="27432" rIns="27432" bIns="27432" anchor="t">
            <a:spAutoFit/>
          </a:bodyPr>
          <a:lstStyle/>
          <a:p>
            <a:pPr algn="l">
              <a:lnSpc>
                <a:spcPct val="100000"/>
              </a:lnSpc>
            </a:pPr>
            <a:r>
              <a:rPr sz="1500" b="1" dirty="0">
                <a:solidFill>
                  <a:srgbClr val="666C67"/>
                </a:solidFill>
                <a:latin typeface="Aptos"/>
              </a:rPr>
              <a:t>Use:</a:t>
            </a:r>
          </a:p>
        </p:txBody>
      </p:sp>
      <p:sp>
        <p:nvSpPr>
          <p:cNvPr id="11" name="TextBox 10"/>
          <p:cNvSpPr txBox="1"/>
          <p:nvPr/>
        </p:nvSpPr>
        <p:spPr>
          <a:xfrm>
            <a:off x="731520" y="3409368"/>
            <a:ext cx="4937760" cy="1118255"/>
          </a:xfrm>
          <a:prstGeom prst="rect">
            <a:avLst/>
          </a:prstGeom>
          <a:noFill/>
        </p:spPr>
        <p:txBody>
          <a:bodyPr wrap="square" lIns="18288" rIns="18288">
            <a:spAutoFit/>
          </a:bodyPr>
          <a:lstStyle/>
          <a:p>
            <a:pPr>
              <a:spcAft>
                <a:spcPts val="400"/>
              </a:spcAft>
              <a:defRPr sz="1600">
                <a:solidFill>
                  <a:srgbClr val="262B2A"/>
                </a:solidFill>
                <a:latin typeface="Aptos"/>
              </a:defRPr>
            </a:pPr>
            <a:r>
              <a:rPr sz="2000" dirty="0"/>
              <a:t>• a clear character trait</a:t>
            </a:r>
          </a:p>
          <a:p>
            <a:pPr>
              <a:spcAft>
                <a:spcPts val="400"/>
              </a:spcAft>
              <a:defRPr sz="1600">
                <a:solidFill>
                  <a:srgbClr val="262B2A"/>
                </a:solidFill>
                <a:latin typeface="Aptos"/>
              </a:defRPr>
            </a:pPr>
            <a:r>
              <a:rPr sz="2000" dirty="0"/>
              <a:t>• one accurate piece of evidence</a:t>
            </a:r>
          </a:p>
          <a:p>
            <a:pPr>
              <a:spcAft>
                <a:spcPts val="400"/>
              </a:spcAft>
              <a:defRPr sz="1600">
                <a:solidFill>
                  <a:srgbClr val="262B2A"/>
                </a:solidFill>
                <a:latin typeface="Aptos"/>
              </a:defRPr>
            </a:pPr>
            <a:r>
              <a:rPr sz="2000" dirty="0"/>
              <a:t>• an explanation of what the evidence shows</a:t>
            </a:r>
          </a:p>
        </p:txBody>
      </p:sp>
      <p:sp>
        <p:nvSpPr>
          <p:cNvPr id="12" name="TextBox 11"/>
          <p:cNvSpPr txBox="1"/>
          <p:nvPr/>
        </p:nvSpPr>
        <p:spPr>
          <a:xfrm>
            <a:off x="914400" y="4718304"/>
            <a:ext cx="4572000" cy="1163395"/>
          </a:xfrm>
          <a:prstGeom prst="rect">
            <a:avLst/>
          </a:prstGeom>
          <a:noFill/>
        </p:spPr>
        <p:txBody>
          <a:bodyPr wrap="square" lIns="27432" tIns="27432" rIns="27432" bIns="27432" anchor="t">
            <a:spAutoFit/>
          </a:bodyPr>
          <a:lstStyle/>
          <a:p>
            <a:pPr algn="ctr">
              <a:lnSpc>
                <a:spcPct val="100000"/>
              </a:lnSpc>
            </a:pPr>
            <a:r>
              <a:rPr b="1" dirty="0"/>
              <a:t>INDEPENDENT EVIDENCE </a:t>
            </a:r>
            <a:endParaRPr lang="en-US" b="1" dirty="0"/>
          </a:p>
          <a:p>
            <a:pPr algn="ctr">
              <a:lnSpc>
                <a:spcPct val="100000"/>
              </a:lnSpc>
            </a:pPr>
            <a:endParaRPr lang="en-US" dirty="0"/>
          </a:p>
          <a:p>
            <a:pPr algn="ctr">
              <a:lnSpc>
                <a:spcPct val="100000"/>
              </a:lnSpc>
            </a:pPr>
            <a:r>
              <a:rPr dirty="0"/>
              <a:t>• No sentence-by-sentence teacher rewriting</a:t>
            </a:r>
            <a:br>
              <a:rPr dirty="0"/>
            </a:br>
            <a:r>
              <a:rPr dirty="0"/>
              <a:t>STOP → READ → CHECK</a:t>
            </a:r>
          </a:p>
        </p:txBody>
      </p:sp>
      <p:sp>
        <p:nvSpPr>
          <p:cNvPr id="13" name="Rounded Rectangle 12"/>
          <p:cNvSpPr/>
          <p:nvPr/>
        </p:nvSpPr>
        <p:spPr>
          <a:xfrm>
            <a:off x="6309360" y="1600200"/>
            <a:ext cx="5212080" cy="4343400"/>
          </a:xfrm>
          <a:prstGeom prst="roundRect">
            <a:avLst/>
          </a:prstGeom>
          <a:solidFill>
            <a:srgbClr val="E1EFE4"/>
          </a:solidFill>
          <a:ln w="15240">
            <a:solidFill>
              <a:srgbClr val="E1E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583680" y="1847088"/>
            <a:ext cx="1828800" cy="274320"/>
          </a:xfrm>
          <a:prstGeom prst="rect">
            <a:avLst/>
          </a:prstGeom>
          <a:noFill/>
        </p:spPr>
        <p:txBody>
          <a:bodyPr wrap="square" lIns="27432" tIns="27432" rIns="27432" bIns="27432" anchor="t">
            <a:spAutoFit/>
          </a:bodyPr>
          <a:lstStyle/>
          <a:p>
            <a:pPr algn="l">
              <a:lnSpc>
                <a:spcPct val="100000"/>
              </a:lnSpc>
            </a:pPr>
            <a:r>
              <a:rPr sz="1400" b="1">
                <a:solidFill>
                  <a:srgbClr val="3A7757"/>
                </a:solidFill>
                <a:latin typeface="Aptos"/>
              </a:rPr>
              <a:t>CHALLENGE</a:t>
            </a:r>
          </a:p>
        </p:txBody>
      </p:sp>
      <p:sp>
        <p:nvSpPr>
          <p:cNvPr id="15" name="TextBox 14"/>
          <p:cNvSpPr txBox="1"/>
          <p:nvPr/>
        </p:nvSpPr>
        <p:spPr>
          <a:xfrm>
            <a:off x="6583680" y="2286000"/>
            <a:ext cx="4480560" cy="365760"/>
          </a:xfrm>
          <a:prstGeom prst="rect">
            <a:avLst/>
          </a:prstGeom>
          <a:noFill/>
        </p:spPr>
        <p:txBody>
          <a:bodyPr wrap="square" lIns="27432" tIns="27432" rIns="27432" bIns="27432" anchor="t">
            <a:spAutoFit/>
          </a:bodyPr>
          <a:lstStyle/>
          <a:p>
            <a:pPr algn="l">
              <a:lnSpc>
                <a:spcPct val="100000"/>
              </a:lnSpc>
            </a:pPr>
            <a:r>
              <a:rPr sz="2100" b="1">
                <a:solidFill>
                  <a:srgbClr val="1F5340"/>
                </a:solidFill>
                <a:latin typeface="Aptos"/>
              </a:rPr>
              <a:t>Add the consequence.</a:t>
            </a:r>
          </a:p>
        </p:txBody>
      </p:sp>
      <p:sp>
        <p:nvSpPr>
          <p:cNvPr id="16" name="TextBox 15"/>
          <p:cNvSpPr txBox="1"/>
          <p:nvPr/>
        </p:nvSpPr>
        <p:spPr>
          <a:xfrm>
            <a:off x="6583680" y="2880360"/>
            <a:ext cx="4480560" cy="411480"/>
          </a:xfrm>
          <a:prstGeom prst="rect">
            <a:avLst/>
          </a:prstGeom>
          <a:noFill/>
        </p:spPr>
        <p:txBody>
          <a:bodyPr wrap="square" lIns="27432" tIns="27432" rIns="27432" bIns="27432" anchor="t">
            <a:spAutoFit/>
          </a:bodyPr>
          <a:lstStyle/>
          <a:p>
            <a:pPr algn="ctr">
              <a:lnSpc>
                <a:spcPct val="100000"/>
              </a:lnSpc>
            </a:pPr>
            <a:r>
              <a:rPr sz="1900" b="1">
                <a:solidFill>
                  <a:srgbClr val="262B2A"/>
                </a:solidFill>
                <a:latin typeface="Aptos"/>
              </a:rPr>
              <a:t>“This matters because ______.”</a:t>
            </a:r>
          </a:p>
        </p:txBody>
      </p:sp>
      <p:sp>
        <p:nvSpPr>
          <p:cNvPr id="17" name="TextBox 16"/>
          <p:cNvSpPr txBox="1"/>
          <p:nvPr/>
        </p:nvSpPr>
        <p:spPr>
          <a:xfrm>
            <a:off x="8458200" y="3703320"/>
            <a:ext cx="731520" cy="274320"/>
          </a:xfrm>
          <a:prstGeom prst="rect">
            <a:avLst/>
          </a:prstGeom>
          <a:noFill/>
        </p:spPr>
        <p:txBody>
          <a:bodyPr wrap="square" lIns="27432" tIns="27432" rIns="27432" bIns="27432" anchor="t">
            <a:spAutoFit/>
          </a:bodyPr>
          <a:lstStyle/>
          <a:p>
            <a:pPr algn="ctr">
              <a:lnSpc>
                <a:spcPct val="100000"/>
              </a:lnSpc>
            </a:pPr>
            <a:r>
              <a:rPr sz="1200" b="1">
                <a:solidFill>
                  <a:srgbClr val="666C67"/>
                </a:solidFill>
                <a:latin typeface="Aptos"/>
              </a:rPr>
              <a:t>OR</a:t>
            </a:r>
          </a:p>
        </p:txBody>
      </p:sp>
      <p:sp>
        <p:nvSpPr>
          <p:cNvPr id="18" name="TextBox 17"/>
          <p:cNvSpPr txBox="1"/>
          <p:nvPr/>
        </p:nvSpPr>
        <p:spPr>
          <a:xfrm>
            <a:off x="6720840" y="4160520"/>
            <a:ext cx="4389120" cy="670953"/>
          </a:xfrm>
          <a:prstGeom prst="rect">
            <a:avLst/>
          </a:prstGeom>
          <a:noFill/>
        </p:spPr>
        <p:txBody>
          <a:bodyPr wrap="square" lIns="27432" tIns="27432" rIns="27432" bIns="27432" anchor="t">
            <a:spAutoFit/>
          </a:bodyPr>
          <a:lstStyle/>
          <a:p>
            <a:pPr algn="ctr">
              <a:lnSpc>
                <a:spcPct val="100000"/>
              </a:lnSpc>
            </a:pPr>
            <a:r>
              <a:rPr sz="2000" b="0" dirty="0">
                <a:solidFill>
                  <a:srgbClr val="262B2A"/>
                </a:solidFill>
                <a:latin typeface="Aptos"/>
              </a:rPr>
              <a:t>Add a second piece of evidence and explain why it strengthens your idea.</a:t>
            </a:r>
          </a:p>
        </p:txBody>
      </p:sp>
      <p:sp>
        <p:nvSpPr>
          <p:cNvPr id="19" name="TextBox 18"/>
          <p:cNvSpPr txBox="1"/>
          <p:nvPr/>
        </p:nvSpPr>
        <p:spPr>
          <a:xfrm>
            <a:off x="621792" y="6519672"/>
            <a:ext cx="6400800" cy="182880"/>
          </a:xfrm>
          <a:prstGeom prst="rect">
            <a:avLst/>
          </a:prstGeom>
          <a:noFill/>
        </p:spPr>
        <p:txBody>
          <a:bodyPr wrap="square" lIns="27432" tIns="27432" rIns="27432" bIns="27432" anchor="t">
            <a:spAutoFit/>
          </a:bodyPr>
          <a:lstStyle/>
          <a:p>
            <a:pPr algn="l">
              <a:lnSpc>
                <a:spcPct val="100000"/>
              </a:lnSpc>
            </a:pPr>
            <a:r>
              <a:rPr sz="800" b="1">
                <a:solidFill>
                  <a:srgbClr val="666C67"/>
                </a:solidFill>
                <a:latin typeface="Aptos"/>
              </a:rPr>
              <a:t>YEAR 5 • UNIT 1 • THE ANT &amp; THE GRASSHOPPER</a:t>
            </a:r>
          </a:p>
        </p:txBody>
      </p:sp>
      <p:sp>
        <p:nvSpPr>
          <p:cNvPr id="20" name="Oval 19"/>
          <p:cNvSpPr/>
          <p:nvPr/>
        </p:nvSpPr>
        <p:spPr>
          <a:xfrm>
            <a:off x="11201400" y="6510528"/>
            <a:ext cx="91440" cy="91440"/>
          </a:xfrm>
          <a:prstGeom prst="ellipse">
            <a:avLst/>
          </a:prstGeom>
          <a:solidFill>
            <a:srgbClr val="F4BE41"/>
          </a:solidFill>
          <a:ln>
            <a:solidFill>
              <a:srgbClr val="F4BE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11402568" y="6510528"/>
            <a:ext cx="91440" cy="91440"/>
          </a:xfrm>
          <a:prstGeom prst="ellipse">
            <a:avLst/>
          </a:prstGeom>
          <a:solidFill>
            <a:srgbClr val="DD6952"/>
          </a:solidFill>
          <a:ln>
            <a:solidFill>
              <a:srgbClr val="DD69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11603736" y="6510528"/>
            <a:ext cx="91440" cy="91440"/>
          </a:xfrm>
          <a:prstGeom prst="ellipse">
            <a:avLst/>
          </a:prstGeom>
          <a:solidFill>
            <a:srgbClr val="3A7757"/>
          </a:solidFill>
          <a:ln>
            <a:solidFill>
              <a:srgbClr val="3A77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10378440" y="6053328"/>
            <a:ext cx="1188720" cy="384048"/>
          </a:xfrm>
          <a:prstGeom prst="roundRect">
            <a:avLst/>
          </a:prstGeom>
          <a:solidFill>
            <a:srgbClr val="FFF4CD"/>
          </a:solidFill>
          <a:ln w="15240">
            <a:solidFill>
              <a:srgbClr val="FFF4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424160" y="6099048"/>
            <a:ext cx="1097280" cy="274320"/>
          </a:xfrm>
          <a:prstGeom prst="rect">
            <a:avLst/>
          </a:prstGeom>
          <a:noFill/>
        </p:spPr>
        <p:txBody>
          <a:bodyPr wrap="square" lIns="27432" tIns="27432" rIns="27432" bIns="27432" anchor="ctr">
            <a:spAutoFit/>
          </a:bodyPr>
          <a:lstStyle/>
          <a:p>
            <a:pPr algn="ctr">
              <a:lnSpc>
                <a:spcPct val="100000"/>
              </a:lnSpc>
            </a:pPr>
            <a:r>
              <a:t>⏱ 8 min</a:t>
            </a:r>
          </a:p>
        </p:txBody>
      </p:sp>
      <p:sp>
        <p:nvSpPr>
          <p:cNvPr id="25" name="Rounded Rectangle 24"/>
          <p:cNvSpPr/>
          <p:nvPr/>
        </p:nvSpPr>
        <p:spPr>
          <a:xfrm>
            <a:off x="914400" y="6126480"/>
            <a:ext cx="9326880" cy="384048"/>
          </a:xfrm>
          <a:prstGeom prst="roundRect">
            <a:avLst/>
          </a:prstGeom>
          <a:solidFill>
            <a:srgbClr val="FFF8E7"/>
          </a:solidFill>
          <a:ln>
            <a:solidFill>
              <a:srgbClr val="E8C76A"/>
            </a:solidFill>
          </a:ln>
        </p:spPr>
        <p:style>
          <a:lnRef idx="1">
            <a:schemeClr val="accent1"/>
          </a:lnRef>
          <a:fillRef idx="3">
            <a:schemeClr val="accent1"/>
          </a:fillRef>
          <a:effectRef idx="2">
            <a:schemeClr val="accent1"/>
          </a:effectRef>
          <a:fontRef idx="minor">
            <a:schemeClr val="lt1"/>
          </a:fontRef>
        </p:style>
        <p:txBody>
          <a:bodyPr lIns="109728" tIns="73152" rIns="109728" bIns="73152" rtlCol="0" anchor="ctr"/>
          <a:lstStyle/>
          <a:p>
            <a:pPr algn="l"/>
            <a:r>
              <a:rPr sz="900" b="1">
                <a:solidFill>
                  <a:srgbClr val="7F6000"/>
                </a:solidFill>
                <a:latin typeface="Aptos"/>
              </a:rPr>
              <a:t>ASSESS → Collect this sample. Record: task fulfilment • accurate evidence • explanation • sentence control. Use the pattern to plan the next lesson.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AA45B24-E6B6-5091-BF3E-7FBA0FB6B0E1}"/>
              </a:ext>
            </a:extLst>
          </p:cNvPr>
          <p:cNvSpPr txBox="1"/>
          <p:nvPr/>
        </p:nvSpPr>
        <p:spPr>
          <a:xfrm>
            <a:off x="88271" y="82504"/>
            <a:ext cx="11916623" cy="1200329"/>
          </a:xfrm>
          <a:prstGeom prst="rect">
            <a:avLst/>
          </a:prstGeom>
          <a:noFill/>
        </p:spPr>
        <p:txBody>
          <a:bodyPr wrap="square">
            <a:spAutoFit/>
          </a:bodyPr>
          <a:lstStyle/>
          <a:p>
            <a:pPr>
              <a:buNone/>
            </a:pPr>
            <a:r>
              <a:rPr lang="en-US" b="1" dirty="0"/>
              <a:t>Model answer — Ant</a:t>
            </a:r>
          </a:p>
          <a:p>
            <a:pPr>
              <a:buNone/>
            </a:pPr>
            <a:r>
              <a:rPr lang="en-US" b="1" dirty="0"/>
              <a:t>The Ant is responsible and prepared. In the story, she carries grains back to her nest and stores them carefully because she knows that winter will come. This shows that she thinks ahead and prepares for problems before they happen. </a:t>
            </a:r>
          </a:p>
          <a:p>
            <a:pPr>
              <a:buNone/>
            </a:pPr>
            <a:r>
              <a:rPr lang="en-US" b="1" dirty="0"/>
              <a:t>This matters because she has enough food when winter arrives.</a:t>
            </a:r>
            <a:endParaRPr lang="en-US" dirty="0"/>
          </a:p>
        </p:txBody>
      </p:sp>
      <p:sp>
        <p:nvSpPr>
          <p:cNvPr id="5" name="TextBox 4">
            <a:extLst>
              <a:ext uri="{FF2B5EF4-FFF2-40B4-BE49-F238E27FC236}">
                <a16:creationId xmlns:a16="http://schemas.microsoft.com/office/drawing/2014/main" id="{AD488809-482D-0034-74F4-387A742E51EB}"/>
              </a:ext>
            </a:extLst>
          </p:cNvPr>
          <p:cNvSpPr txBox="1"/>
          <p:nvPr/>
        </p:nvSpPr>
        <p:spPr>
          <a:xfrm>
            <a:off x="88271" y="1287452"/>
            <a:ext cx="8494413" cy="1477328"/>
          </a:xfrm>
          <a:prstGeom prst="rect">
            <a:avLst/>
          </a:prstGeom>
          <a:noFill/>
        </p:spPr>
        <p:txBody>
          <a:bodyPr wrap="square">
            <a:spAutoFit/>
          </a:bodyPr>
          <a:lstStyle/>
          <a:p>
            <a:endParaRPr lang="en-US" b="1" dirty="0"/>
          </a:p>
          <a:p>
            <a:r>
              <a:rPr lang="en-US" b="1" dirty="0"/>
              <a:t>POINT:</a:t>
            </a:r>
            <a:r>
              <a:rPr lang="en-US" dirty="0"/>
              <a:t> The Ant is responsible and prepared.</a:t>
            </a:r>
            <a:br>
              <a:rPr lang="en-US" dirty="0"/>
            </a:br>
            <a:r>
              <a:rPr lang="en-US" b="1" dirty="0"/>
              <a:t>EVIDENCE:</a:t>
            </a:r>
            <a:r>
              <a:rPr lang="en-US" dirty="0"/>
              <a:t> She carries grains back to her nest and stores them carefully.</a:t>
            </a:r>
            <a:br>
              <a:rPr lang="en-US" dirty="0"/>
            </a:br>
            <a:r>
              <a:rPr lang="en-US" b="1" dirty="0"/>
              <a:t>EXPLANATION:</a:t>
            </a:r>
            <a:r>
              <a:rPr lang="en-US" dirty="0"/>
              <a:t> This shows that she thinks ahead and prepares for problems.</a:t>
            </a:r>
            <a:br>
              <a:rPr lang="en-US" dirty="0"/>
            </a:br>
            <a:r>
              <a:rPr lang="en-US" b="1" dirty="0"/>
              <a:t>CONSEQUENCE:</a:t>
            </a:r>
            <a:r>
              <a:rPr lang="en-US" dirty="0"/>
              <a:t> This matters because she has enough food when winter arrives.</a:t>
            </a:r>
          </a:p>
        </p:txBody>
      </p:sp>
      <p:sp>
        <p:nvSpPr>
          <p:cNvPr id="7" name="TextBox 6">
            <a:extLst>
              <a:ext uri="{FF2B5EF4-FFF2-40B4-BE49-F238E27FC236}">
                <a16:creationId xmlns:a16="http://schemas.microsoft.com/office/drawing/2014/main" id="{D3D6EAC6-0238-F71B-6A6D-2A8CCA858398}"/>
              </a:ext>
            </a:extLst>
          </p:cNvPr>
          <p:cNvSpPr txBox="1"/>
          <p:nvPr/>
        </p:nvSpPr>
        <p:spPr>
          <a:xfrm>
            <a:off x="0" y="3456408"/>
            <a:ext cx="11055414" cy="2862322"/>
          </a:xfrm>
          <a:prstGeom prst="rect">
            <a:avLst/>
          </a:prstGeom>
          <a:noFill/>
        </p:spPr>
        <p:txBody>
          <a:bodyPr wrap="square">
            <a:spAutoFit/>
          </a:bodyPr>
          <a:lstStyle/>
          <a:p>
            <a:pPr>
              <a:buNone/>
            </a:pPr>
            <a:r>
              <a:rPr lang="en-US" b="1" dirty="0"/>
              <a:t>Model answer — Grasshopper</a:t>
            </a:r>
          </a:p>
          <a:p>
            <a:pPr>
              <a:buNone/>
            </a:pPr>
            <a:r>
              <a:rPr lang="en-US" b="1" dirty="0"/>
              <a:t>The Grasshopper is careless and unprepared. In the story, he spends the summer singing, dancing and enjoying the sunshine instead of preparing for winter. This shows that he does not think about the consequences of his choices. This matters because when winter arrives, he cannot find enough food.</a:t>
            </a:r>
            <a:endParaRPr lang="en-US" dirty="0"/>
          </a:p>
          <a:p>
            <a:pPr>
              <a:buNone/>
            </a:pPr>
            <a:endParaRPr lang="en-US" b="1" dirty="0"/>
          </a:p>
          <a:p>
            <a:pPr>
              <a:buNone/>
            </a:pPr>
            <a:endParaRPr lang="en-US" b="1" dirty="0"/>
          </a:p>
          <a:p>
            <a:pPr>
              <a:buNone/>
            </a:pPr>
            <a:r>
              <a:rPr lang="en-US" b="1" dirty="0"/>
              <a:t>POINT:</a:t>
            </a:r>
            <a:r>
              <a:rPr lang="en-US" dirty="0"/>
              <a:t> The Grasshopper is careless and unprepared.</a:t>
            </a:r>
            <a:br>
              <a:rPr lang="en-US" dirty="0"/>
            </a:br>
            <a:r>
              <a:rPr lang="en-US" b="1" dirty="0"/>
              <a:t>EVIDENCE:</a:t>
            </a:r>
            <a:r>
              <a:rPr lang="en-US" dirty="0"/>
              <a:t> He spends the summer singing, dancing and enjoying the sunshine.</a:t>
            </a:r>
            <a:br>
              <a:rPr lang="en-US" dirty="0"/>
            </a:br>
            <a:r>
              <a:rPr lang="en-US" b="1" dirty="0"/>
              <a:t>EXPLANATION:</a:t>
            </a:r>
            <a:r>
              <a:rPr lang="en-US" dirty="0"/>
              <a:t> This shows that he does not think about the consequences of his choices.</a:t>
            </a:r>
            <a:br>
              <a:rPr lang="en-US" dirty="0"/>
            </a:br>
            <a:r>
              <a:rPr lang="en-US" b="1" dirty="0"/>
              <a:t>CONSEQUENCE:</a:t>
            </a:r>
            <a:r>
              <a:rPr lang="en-US" dirty="0"/>
              <a:t> This matters because he cannot find enough food in winter.</a:t>
            </a:r>
          </a:p>
        </p:txBody>
      </p:sp>
    </p:spTree>
    <p:extLst>
      <p:ext uri="{BB962C8B-B14F-4D97-AF65-F5344CB8AC3E}">
        <p14:creationId xmlns:p14="http://schemas.microsoft.com/office/powerpoint/2010/main" val="31633099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AF7EF"/>
        </a:solidFill>
        <a:effectLst/>
      </p:bgPr>
    </p:bg>
    <p:spTree>
      <p:nvGrpSpPr>
        <p:cNvPr id="1" name=""/>
        <p:cNvGrpSpPr/>
        <p:nvPr/>
      </p:nvGrpSpPr>
      <p:grpSpPr>
        <a:xfrm>
          <a:off x="0" y="0"/>
          <a:ext cx="0" cy="0"/>
          <a:chOff x="0" y="0"/>
          <a:chExt cx="0" cy="0"/>
        </a:xfrm>
      </p:grpSpPr>
      <p:sp>
        <p:nvSpPr>
          <p:cNvPr id="2" name="TextBox 1"/>
          <p:cNvSpPr txBox="1"/>
          <p:nvPr/>
        </p:nvSpPr>
        <p:spPr>
          <a:xfrm>
            <a:off x="594360" y="292608"/>
            <a:ext cx="3657600" cy="256032"/>
          </a:xfrm>
          <a:prstGeom prst="rect">
            <a:avLst/>
          </a:prstGeom>
          <a:noFill/>
        </p:spPr>
        <p:txBody>
          <a:bodyPr wrap="square" lIns="27432" tIns="27432" rIns="27432" bIns="27432" anchor="t">
            <a:spAutoFit/>
          </a:bodyPr>
          <a:lstStyle/>
          <a:p>
            <a:pPr algn="l">
              <a:lnSpc>
                <a:spcPct val="100000"/>
              </a:lnSpc>
            </a:pPr>
            <a:r>
              <a:rPr sz="1000" b="1">
                <a:solidFill>
                  <a:srgbClr val="3A7757"/>
                </a:solidFill>
                <a:latin typeface="Aptos"/>
              </a:rPr>
              <a:t>EDIT LIKE A WRITER</a:t>
            </a:r>
          </a:p>
        </p:txBody>
      </p:sp>
      <p:sp>
        <p:nvSpPr>
          <p:cNvPr id="3" name="TextBox 2"/>
          <p:cNvSpPr txBox="1"/>
          <p:nvPr/>
        </p:nvSpPr>
        <p:spPr>
          <a:xfrm>
            <a:off x="594360" y="603504"/>
            <a:ext cx="10515600" cy="640080"/>
          </a:xfrm>
          <a:prstGeom prst="rect">
            <a:avLst/>
          </a:prstGeom>
          <a:noFill/>
        </p:spPr>
        <p:txBody>
          <a:bodyPr wrap="square" lIns="27432" tIns="27432" rIns="27432" bIns="27432" anchor="t">
            <a:spAutoFit/>
          </a:bodyPr>
          <a:lstStyle/>
          <a:p>
            <a:pPr algn="l">
              <a:lnSpc>
                <a:spcPct val="100000"/>
              </a:lnSpc>
            </a:pPr>
            <a:r>
              <a:rPr sz="2800" b="1">
                <a:solidFill>
                  <a:srgbClr val="1F5340"/>
                </a:solidFill>
                <a:latin typeface="Aptos Display"/>
              </a:rPr>
              <a:t>Capital • Full stop • Evidence • Explanation</a:t>
            </a:r>
          </a:p>
        </p:txBody>
      </p:sp>
      <p:sp>
        <p:nvSpPr>
          <p:cNvPr id="4" name="Oval 3"/>
          <p:cNvSpPr/>
          <p:nvPr/>
        </p:nvSpPr>
        <p:spPr>
          <a:xfrm>
            <a:off x="11155680" y="320040"/>
            <a:ext cx="438912" cy="438912"/>
          </a:xfrm>
          <a:prstGeom prst="ellipse">
            <a:avLst/>
          </a:prstGeom>
          <a:solidFill>
            <a:srgbClr val="1F5340"/>
          </a:solidFill>
          <a:ln>
            <a:solidFill>
              <a:srgbClr val="1F53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155680" y="356616"/>
            <a:ext cx="438912" cy="310896"/>
          </a:xfrm>
          <a:prstGeom prst="rect">
            <a:avLst/>
          </a:prstGeom>
          <a:noFill/>
        </p:spPr>
        <p:txBody>
          <a:bodyPr wrap="square" lIns="27432" tIns="27432" rIns="27432" bIns="27432" anchor="ctr">
            <a:spAutoFit/>
          </a:bodyPr>
          <a:lstStyle/>
          <a:p>
            <a:pPr algn="ctr">
              <a:lnSpc>
                <a:spcPct val="100000"/>
              </a:lnSpc>
            </a:pPr>
            <a:r>
              <a:t>17</a:t>
            </a:r>
          </a:p>
        </p:txBody>
      </p:sp>
      <p:sp>
        <p:nvSpPr>
          <p:cNvPr id="6" name="Rectangle 5"/>
          <p:cNvSpPr/>
          <p:nvPr/>
        </p:nvSpPr>
        <p:spPr>
          <a:xfrm>
            <a:off x="594360" y="1353312"/>
            <a:ext cx="914400" cy="64008"/>
          </a:xfrm>
          <a:prstGeom prst="rect">
            <a:avLst/>
          </a:prstGeom>
          <a:solidFill>
            <a:srgbClr val="F4BE41"/>
          </a:solidFill>
          <a:ln>
            <a:solidFill>
              <a:srgbClr val="F4BE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1272540" y="1545336"/>
            <a:ext cx="9646920" cy="487055"/>
          </a:xfrm>
          <a:prstGeom prst="roundRect">
            <a:avLst/>
          </a:prstGeom>
          <a:solidFill>
            <a:srgbClr val="E1EFE4"/>
          </a:solidFill>
          <a:ln w="15240">
            <a:solidFill>
              <a:srgbClr val="E1E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508760" y="1555838"/>
            <a:ext cx="457200" cy="457200"/>
          </a:xfrm>
          <a:prstGeom prst="ellipse">
            <a:avLst/>
          </a:prstGeom>
          <a:solidFill>
            <a:srgbClr val="3A7757"/>
          </a:solidFill>
          <a:ln>
            <a:solidFill>
              <a:srgbClr val="3A77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508760" y="1667513"/>
            <a:ext cx="457200" cy="182880"/>
          </a:xfrm>
          <a:prstGeom prst="rect">
            <a:avLst/>
          </a:prstGeom>
          <a:noFill/>
        </p:spPr>
        <p:txBody>
          <a:bodyPr wrap="square" lIns="27432" tIns="27432" rIns="27432" bIns="27432" anchor="t">
            <a:spAutoFit/>
          </a:bodyPr>
          <a:lstStyle/>
          <a:p>
            <a:pPr algn="ctr">
              <a:lnSpc>
                <a:spcPct val="100000"/>
              </a:lnSpc>
            </a:pPr>
            <a:r>
              <a:rPr sz="1300" b="1">
                <a:solidFill>
                  <a:srgbClr val="FFFFFF"/>
                </a:solidFill>
                <a:latin typeface="Aptos"/>
              </a:rPr>
              <a:t>✓</a:t>
            </a:r>
          </a:p>
        </p:txBody>
      </p:sp>
      <p:sp>
        <p:nvSpPr>
          <p:cNvPr id="10" name="TextBox 9"/>
          <p:cNvSpPr txBox="1"/>
          <p:nvPr/>
        </p:nvSpPr>
        <p:spPr>
          <a:xfrm>
            <a:off x="2202180" y="1667513"/>
            <a:ext cx="8229600" cy="274320"/>
          </a:xfrm>
          <a:prstGeom prst="rect">
            <a:avLst/>
          </a:prstGeom>
          <a:noFill/>
        </p:spPr>
        <p:txBody>
          <a:bodyPr wrap="square" lIns="27432" tIns="27432" rIns="27432" bIns="27432" anchor="t">
            <a:spAutoFit/>
          </a:bodyPr>
          <a:lstStyle/>
          <a:p>
            <a:pPr algn="l">
              <a:lnSpc>
                <a:spcPct val="100000"/>
              </a:lnSpc>
            </a:pPr>
            <a:r>
              <a:rPr sz="1800" b="1" dirty="0">
                <a:solidFill>
                  <a:srgbClr val="262B2A"/>
                </a:solidFill>
                <a:latin typeface="Aptos"/>
              </a:rPr>
              <a:t>Capital letter at the beginning.</a:t>
            </a:r>
          </a:p>
        </p:txBody>
      </p:sp>
      <p:sp>
        <p:nvSpPr>
          <p:cNvPr id="11" name="Rounded Rectangle 10"/>
          <p:cNvSpPr/>
          <p:nvPr/>
        </p:nvSpPr>
        <p:spPr>
          <a:xfrm>
            <a:off x="1257300" y="2353064"/>
            <a:ext cx="9646920" cy="469377"/>
          </a:xfrm>
          <a:prstGeom prst="roundRect">
            <a:avLst/>
          </a:prstGeom>
          <a:solidFill>
            <a:srgbClr val="FFF4CD"/>
          </a:solidFill>
          <a:ln w="15240">
            <a:solidFill>
              <a:srgbClr val="FFF4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1508760" y="2390070"/>
            <a:ext cx="457200" cy="457200"/>
          </a:xfrm>
          <a:prstGeom prst="ellipse">
            <a:avLst/>
          </a:prstGeom>
          <a:solidFill>
            <a:srgbClr val="F4BE41"/>
          </a:solidFill>
          <a:ln>
            <a:solidFill>
              <a:srgbClr val="F4BE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508760" y="2561044"/>
            <a:ext cx="457200" cy="182880"/>
          </a:xfrm>
          <a:prstGeom prst="rect">
            <a:avLst/>
          </a:prstGeom>
          <a:noFill/>
        </p:spPr>
        <p:txBody>
          <a:bodyPr wrap="square" lIns="27432" tIns="27432" rIns="27432" bIns="27432" anchor="t">
            <a:spAutoFit/>
          </a:bodyPr>
          <a:lstStyle/>
          <a:p>
            <a:pPr algn="ctr">
              <a:lnSpc>
                <a:spcPct val="100000"/>
              </a:lnSpc>
            </a:pPr>
            <a:r>
              <a:rPr sz="1300" b="1" dirty="0">
                <a:solidFill>
                  <a:srgbClr val="FFFFFF"/>
                </a:solidFill>
                <a:latin typeface="Aptos"/>
              </a:rPr>
              <a:t>✓</a:t>
            </a:r>
          </a:p>
        </p:txBody>
      </p:sp>
      <p:sp>
        <p:nvSpPr>
          <p:cNvPr id="14" name="TextBox 13"/>
          <p:cNvSpPr txBox="1"/>
          <p:nvPr/>
        </p:nvSpPr>
        <p:spPr>
          <a:xfrm>
            <a:off x="2148840" y="2407521"/>
            <a:ext cx="8229600" cy="274320"/>
          </a:xfrm>
          <a:prstGeom prst="rect">
            <a:avLst/>
          </a:prstGeom>
          <a:noFill/>
        </p:spPr>
        <p:txBody>
          <a:bodyPr wrap="square" lIns="27432" tIns="27432" rIns="27432" bIns="27432" anchor="t">
            <a:spAutoFit/>
          </a:bodyPr>
          <a:lstStyle/>
          <a:p>
            <a:pPr algn="l">
              <a:lnSpc>
                <a:spcPct val="100000"/>
              </a:lnSpc>
            </a:pPr>
            <a:r>
              <a:rPr sz="1800" b="1" dirty="0">
                <a:solidFill>
                  <a:srgbClr val="262B2A"/>
                </a:solidFill>
                <a:latin typeface="Aptos"/>
              </a:rPr>
              <a:t>Full stop at the end.</a:t>
            </a:r>
          </a:p>
        </p:txBody>
      </p:sp>
      <p:sp>
        <p:nvSpPr>
          <p:cNvPr id="15" name="Rounded Rectangle 14"/>
          <p:cNvSpPr/>
          <p:nvPr/>
        </p:nvSpPr>
        <p:spPr>
          <a:xfrm>
            <a:off x="1234440" y="3026312"/>
            <a:ext cx="9646920" cy="495339"/>
          </a:xfrm>
          <a:prstGeom prst="roundRect">
            <a:avLst/>
          </a:prstGeom>
          <a:solidFill>
            <a:srgbClr val="F9E2DC"/>
          </a:solidFill>
          <a:ln w="15240">
            <a:solidFill>
              <a:srgbClr val="F9E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1472546" y="3097201"/>
            <a:ext cx="457200" cy="457200"/>
          </a:xfrm>
          <a:prstGeom prst="ellipse">
            <a:avLst/>
          </a:prstGeom>
          <a:solidFill>
            <a:srgbClr val="DD6952"/>
          </a:solidFill>
          <a:ln>
            <a:solidFill>
              <a:srgbClr val="DD69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508760" y="3268822"/>
            <a:ext cx="457200" cy="182880"/>
          </a:xfrm>
          <a:prstGeom prst="rect">
            <a:avLst/>
          </a:prstGeom>
          <a:noFill/>
        </p:spPr>
        <p:txBody>
          <a:bodyPr wrap="square" lIns="27432" tIns="27432" rIns="27432" bIns="27432" anchor="t">
            <a:spAutoFit/>
          </a:bodyPr>
          <a:lstStyle/>
          <a:p>
            <a:pPr algn="ctr">
              <a:lnSpc>
                <a:spcPct val="100000"/>
              </a:lnSpc>
            </a:pPr>
            <a:r>
              <a:rPr sz="1300" b="1" dirty="0">
                <a:solidFill>
                  <a:srgbClr val="FFFFFF"/>
                </a:solidFill>
                <a:latin typeface="Aptos"/>
              </a:rPr>
              <a:t>✓</a:t>
            </a:r>
          </a:p>
        </p:txBody>
      </p:sp>
      <p:sp>
        <p:nvSpPr>
          <p:cNvPr id="18" name="TextBox 17"/>
          <p:cNvSpPr txBox="1"/>
          <p:nvPr/>
        </p:nvSpPr>
        <p:spPr>
          <a:xfrm>
            <a:off x="2103120" y="3158979"/>
            <a:ext cx="8229600" cy="274320"/>
          </a:xfrm>
          <a:prstGeom prst="rect">
            <a:avLst/>
          </a:prstGeom>
          <a:noFill/>
        </p:spPr>
        <p:txBody>
          <a:bodyPr wrap="square" lIns="27432" tIns="27432" rIns="27432" bIns="27432" anchor="t">
            <a:spAutoFit/>
          </a:bodyPr>
          <a:lstStyle/>
          <a:p>
            <a:pPr algn="l">
              <a:lnSpc>
                <a:spcPct val="100000"/>
              </a:lnSpc>
            </a:pPr>
            <a:r>
              <a:rPr sz="1800" b="1" dirty="0">
                <a:solidFill>
                  <a:srgbClr val="262B2A"/>
                </a:solidFill>
                <a:latin typeface="Aptos"/>
              </a:rPr>
              <a:t>My evidence comes from the story.</a:t>
            </a:r>
          </a:p>
        </p:txBody>
      </p:sp>
      <p:sp>
        <p:nvSpPr>
          <p:cNvPr id="19" name="Rounded Rectangle 18"/>
          <p:cNvSpPr/>
          <p:nvPr/>
        </p:nvSpPr>
        <p:spPr>
          <a:xfrm>
            <a:off x="1234440" y="3909468"/>
            <a:ext cx="9646920" cy="449912"/>
          </a:xfrm>
          <a:prstGeom prst="roundRect">
            <a:avLst/>
          </a:prstGeom>
          <a:solidFill>
            <a:srgbClr val="FFFFFF"/>
          </a:solidFill>
          <a:ln w="1524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1508760" y="3902180"/>
            <a:ext cx="457200" cy="457200"/>
          </a:xfrm>
          <a:prstGeom prst="ellipse">
            <a:avLst/>
          </a:prstGeom>
          <a:solidFill>
            <a:srgbClr val="1F5340"/>
          </a:solidFill>
          <a:ln>
            <a:solidFill>
              <a:srgbClr val="1F53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1" name="TextBox 20"/>
          <p:cNvSpPr txBox="1"/>
          <p:nvPr/>
        </p:nvSpPr>
        <p:spPr>
          <a:xfrm>
            <a:off x="1508760" y="4065145"/>
            <a:ext cx="457200" cy="182880"/>
          </a:xfrm>
          <a:prstGeom prst="rect">
            <a:avLst/>
          </a:prstGeom>
          <a:noFill/>
        </p:spPr>
        <p:txBody>
          <a:bodyPr wrap="square" lIns="27432" tIns="27432" rIns="27432" bIns="27432" anchor="t">
            <a:spAutoFit/>
          </a:bodyPr>
          <a:lstStyle/>
          <a:p>
            <a:pPr algn="ctr">
              <a:lnSpc>
                <a:spcPct val="100000"/>
              </a:lnSpc>
            </a:pPr>
            <a:r>
              <a:rPr sz="1300" b="1" dirty="0">
                <a:solidFill>
                  <a:srgbClr val="FFFFFF"/>
                </a:solidFill>
                <a:latin typeface="Aptos"/>
              </a:rPr>
              <a:t>✓</a:t>
            </a:r>
          </a:p>
        </p:txBody>
      </p:sp>
      <p:sp>
        <p:nvSpPr>
          <p:cNvPr id="22" name="TextBox 21"/>
          <p:cNvSpPr txBox="1"/>
          <p:nvPr/>
        </p:nvSpPr>
        <p:spPr>
          <a:xfrm>
            <a:off x="2194560" y="3979904"/>
            <a:ext cx="8229600" cy="274320"/>
          </a:xfrm>
          <a:prstGeom prst="rect">
            <a:avLst/>
          </a:prstGeom>
          <a:noFill/>
        </p:spPr>
        <p:txBody>
          <a:bodyPr wrap="square" lIns="27432" tIns="27432" rIns="27432" bIns="27432" anchor="t">
            <a:spAutoFit/>
          </a:bodyPr>
          <a:lstStyle/>
          <a:p>
            <a:pPr algn="l">
              <a:lnSpc>
                <a:spcPct val="100000"/>
              </a:lnSpc>
            </a:pPr>
            <a:r>
              <a:rPr sz="1800" b="1" dirty="0">
                <a:solidFill>
                  <a:srgbClr val="262B2A"/>
                </a:solidFill>
                <a:latin typeface="Aptos"/>
              </a:rPr>
              <a:t>I explained what the evidence shows.</a:t>
            </a:r>
          </a:p>
        </p:txBody>
      </p:sp>
      <p:sp>
        <p:nvSpPr>
          <p:cNvPr id="23" name="Rounded Rectangle 22"/>
          <p:cNvSpPr/>
          <p:nvPr/>
        </p:nvSpPr>
        <p:spPr>
          <a:xfrm>
            <a:off x="1828800" y="5491087"/>
            <a:ext cx="8503920" cy="813816"/>
          </a:xfrm>
          <a:prstGeom prst="roundRect">
            <a:avLst/>
          </a:prstGeom>
          <a:solidFill>
            <a:srgbClr val="1F5340"/>
          </a:solidFill>
          <a:ln w="15240">
            <a:solidFill>
              <a:srgbClr val="1F53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011680" y="5561016"/>
            <a:ext cx="8138160" cy="794064"/>
          </a:xfrm>
          <a:prstGeom prst="rect">
            <a:avLst/>
          </a:prstGeom>
          <a:noFill/>
        </p:spPr>
        <p:txBody>
          <a:bodyPr wrap="square" lIns="27432" tIns="27432" rIns="27432" bIns="27432" anchor="t">
            <a:spAutoFit/>
          </a:bodyPr>
          <a:lstStyle/>
          <a:p>
            <a:pPr algn="ctr">
              <a:lnSpc>
                <a:spcPct val="100000"/>
              </a:lnSpc>
            </a:pPr>
            <a:r>
              <a:rPr sz="2400" dirty="0">
                <a:solidFill>
                  <a:schemeClr val="bg1"/>
                </a:solidFill>
              </a:rPr>
              <a:t>Fix ONE thing before you hand it in.</a:t>
            </a:r>
            <a:br>
              <a:rPr sz="2400" dirty="0">
                <a:solidFill>
                  <a:schemeClr val="bg1"/>
                </a:solidFill>
              </a:rPr>
            </a:br>
            <a:r>
              <a:rPr sz="2400" dirty="0">
                <a:solidFill>
                  <a:schemeClr val="bg1"/>
                </a:solidFill>
              </a:rPr>
              <a:t>Then read your response once more for meaning + relevance.</a:t>
            </a:r>
          </a:p>
        </p:txBody>
      </p:sp>
      <p:sp>
        <p:nvSpPr>
          <p:cNvPr id="25" name="TextBox 24"/>
          <p:cNvSpPr txBox="1"/>
          <p:nvPr/>
        </p:nvSpPr>
        <p:spPr>
          <a:xfrm>
            <a:off x="621792" y="6519672"/>
            <a:ext cx="6400800" cy="182880"/>
          </a:xfrm>
          <a:prstGeom prst="rect">
            <a:avLst/>
          </a:prstGeom>
          <a:noFill/>
        </p:spPr>
        <p:txBody>
          <a:bodyPr wrap="square" lIns="27432" tIns="27432" rIns="27432" bIns="27432" anchor="t">
            <a:spAutoFit/>
          </a:bodyPr>
          <a:lstStyle/>
          <a:p>
            <a:pPr algn="l">
              <a:lnSpc>
                <a:spcPct val="100000"/>
              </a:lnSpc>
            </a:pPr>
            <a:r>
              <a:rPr sz="800" b="1">
                <a:solidFill>
                  <a:srgbClr val="666C67"/>
                </a:solidFill>
                <a:latin typeface="Aptos"/>
              </a:rPr>
              <a:t>YEAR 5 • UNIT 1 • THE ANT &amp; THE GRASSHOPPER</a:t>
            </a:r>
          </a:p>
        </p:txBody>
      </p:sp>
      <p:sp>
        <p:nvSpPr>
          <p:cNvPr id="26" name="Oval 25"/>
          <p:cNvSpPr/>
          <p:nvPr/>
        </p:nvSpPr>
        <p:spPr>
          <a:xfrm>
            <a:off x="11201400" y="6510528"/>
            <a:ext cx="91440" cy="91440"/>
          </a:xfrm>
          <a:prstGeom prst="ellipse">
            <a:avLst/>
          </a:prstGeom>
          <a:solidFill>
            <a:srgbClr val="F4BE41"/>
          </a:solidFill>
          <a:ln>
            <a:solidFill>
              <a:srgbClr val="F4BE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11402568" y="6510528"/>
            <a:ext cx="91440" cy="91440"/>
          </a:xfrm>
          <a:prstGeom prst="ellipse">
            <a:avLst/>
          </a:prstGeom>
          <a:solidFill>
            <a:srgbClr val="DD6952"/>
          </a:solidFill>
          <a:ln>
            <a:solidFill>
              <a:srgbClr val="DD69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11603736" y="6510528"/>
            <a:ext cx="91440" cy="91440"/>
          </a:xfrm>
          <a:prstGeom prst="ellipse">
            <a:avLst/>
          </a:prstGeom>
          <a:solidFill>
            <a:srgbClr val="3A7757"/>
          </a:solidFill>
          <a:ln>
            <a:solidFill>
              <a:srgbClr val="3A77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10378440" y="6053328"/>
            <a:ext cx="1188720" cy="384048"/>
          </a:xfrm>
          <a:prstGeom prst="roundRect">
            <a:avLst/>
          </a:prstGeom>
          <a:solidFill>
            <a:srgbClr val="FFF4CD"/>
          </a:solidFill>
          <a:ln w="15240">
            <a:solidFill>
              <a:srgbClr val="FFF4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0424160" y="6099048"/>
            <a:ext cx="1097280" cy="274320"/>
          </a:xfrm>
          <a:prstGeom prst="rect">
            <a:avLst/>
          </a:prstGeom>
          <a:noFill/>
        </p:spPr>
        <p:txBody>
          <a:bodyPr wrap="square" lIns="27432" tIns="27432" rIns="27432" bIns="27432" anchor="ctr">
            <a:spAutoFit/>
          </a:bodyPr>
          <a:lstStyle/>
          <a:p>
            <a:pPr algn="ctr">
              <a:lnSpc>
                <a:spcPct val="100000"/>
              </a:lnSpc>
            </a:pPr>
            <a:r>
              <a:t>⏱ 3 min</a:t>
            </a:r>
          </a:p>
        </p:txBody>
      </p:sp>
      <p:sp>
        <p:nvSpPr>
          <p:cNvPr id="31" name="Rounded Rectangle 30"/>
          <p:cNvSpPr/>
          <p:nvPr/>
        </p:nvSpPr>
        <p:spPr>
          <a:xfrm>
            <a:off x="685800" y="4533116"/>
            <a:ext cx="10515600" cy="856402"/>
          </a:xfrm>
          <a:prstGeom prst="roundRect">
            <a:avLst/>
          </a:prstGeom>
          <a:solidFill>
            <a:srgbClr val="FFF8E7"/>
          </a:solidFill>
          <a:ln>
            <a:solidFill>
              <a:srgbClr val="E8C76A"/>
            </a:solidFill>
          </a:ln>
        </p:spPr>
        <p:style>
          <a:lnRef idx="1">
            <a:schemeClr val="accent1"/>
          </a:lnRef>
          <a:fillRef idx="3">
            <a:schemeClr val="accent1"/>
          </a:fillRef>
          <a:effectRef idx="2">
            <a:schemeClr val="accent1"/>
          </a:effectRef>
          <a:fontRef idx="minor">
            <a:schemeClr val="lt1"/>
          </a:fontRef>
        </p:style>
        <p:txBody>
          <a:bodyPr lIns="109728" tIns="73152" rIns="109728" bIns="73152" rtlCol="0" anchor="ctr"/>
          <a:lstStyle/>
          <a:p>
            <a:pPr algn="l"/>
            <a:r>
              <a:rPr sz="1600" b="1" dirty="0">
                <a:solidFill>
                  <a:srgbClr val="7F6000"/>
                </a:solidFill>
                <a:latin typeface="Aptos"/>
              </a:rPr>
              <a:t>EDITING IS EVIDENCE →</a:t>
            </a:r>
            <a:endParaRPr lang="en-US" sz="1600" b="1" dirty="0">
              <a:solidFill>
                <a:srgbClr val="7F6000"/>
              </a:solidFill>
              <a:latin typeface="Aptos"/>
            </a:endParaRPr>
          </a:p>
          <a:p>
            <a:pPr algn="l"/>
            <a:r>
              <a:rPr sz="1600" b="1" dirty="0">
                <a:solidFill>
                  <a:srgbClr val="7F6000"/>
                </a:solidFill>
                <a:latin typeface="Aptos"/>
              </a:rPr>
              <a:t> Teacher notes whether students can identify and repair their own error without being told the exact answer.</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92608"/>
            <a:ext cx="3657600" cy="256032"/>
          </a:xfrm>
          <a:prstGeom prst="rect">
            <a:avLst/>
          </a:prstGeom>
          <a:noFill/>
        </p:spPr>
        <p:txBody>
          <a:bodyPr wrap="square" lIns="27432" tIns="27432" rIns="27432" bIns="27432" anchor="t">
            <a:spAutoFit/>
          </a:bodyPr>
          <a:lstStyle/>
          <a:p>
            <a:pPr algn="l">
              <a:lnSpc>
                <a:spcPct val="100000"/>
              </a:lnSpc>
            </a:pPr>
            <a:r>
              <a:rPr sz="1000" b="1">
                <a:solidFill>
                  <a:srgbClr val="3A7757"/>
                </a:solidFill>
                <a:latin typeface="Aptos"/>
              </a:rPr>
              <a:t>PLENARY</a:t>
            </a:r>
          </a:p>
        </p:txBody>
      </p:sp>
      <p:sp>
        <p:nvSpPr>
          <p:cNvPr id="3" name="TextBox 2"/>
          <p:cNvSpPr txBox="1"/>
          <p:nvPr/>
        </p:nvSpPr>
        <p:spPr>
          <a:xfrm>
            <a:off x="594360" y="603504"/>
            <a:ext cx="10515600" cy="640080"/>
          </a:xfrm>
          <a:prstGeom prst="rect">
            <a:avLst/>
          </a:prstGeom>
          <a:noFill/>
        </p:spPr>
        <p:txBody>
          <a:bodyPr wrap="square" lIns="27432" tIns="27432" rIns="27432" bIns="27432" anchor="t">
            <a:spAutoFit/>
          </a:bodyPr>
          <a:lstStyle/>
          <a:p>
            <a:pPr algn="l">
              <a:lnSpc>
                <a:spcPct val="100000"/>
              </a:lnSpc>
            </a:pPr>
            <a:r>
              <a:rPr sz="2800" b="1" dirty="0">
                <a:solidFill>
                  <a:srgbClr val="1F5340"/>
                </a:solidFill>
                <a:latin typeface="Aptos Display"/>
              </a:rPr>
              <a:t>Moral Court ⚖️</a:t>
            </a:r>
          </a:p>
        </p:txBody>
      </p:sp>
      <p:sp>
        <p:nvSpPr>
          <p:cNvPr id="4" name="Oval 3"/>
          <p:cNvSpPr/>
          <p:nvPr/>
        </p:nvSpPr>
        <p:spPr>
          <a:xfrm>
            <a:off x="11155680" y="320040"/>
            <a:ext cx="438912" cy="438912"/>
          </a:xfrm>
          <a:prstGeom prst="ellipse">
            <a:avLst/>
          </a:prstGeom>
          <a:solidFill>
            <a:srgbClr val="1F5340"/>
          </a:solidFill>
          <a:ln>
            <a:solidFill>
              <a:srgbClr val="1F53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155680" y="356616"/>
            <a:ext cx="438912" cy="310896"/>
          </a:xfrm>
          <a:prstGeom prst="rect">
            <a:avLst/>
          </a:prstGeom>
          <a:noFill/>
        </p:spPr>
        <p:txBody>
          <a:bodyPr wrap="square" lIns="27432" tIns="27432" rIns="27432" bIns="27432" anchor="ctr">
            <a:spAutoFit/>
          </a:bodyPr>
          <a:lstStyle/>
          <a:p>
            <a:pPr algn="ctr">
              <a:lnSpc>
                <a:spcPct val="100000"/>
              </a:lnSpc>
            </a:pPr>
            <a:r>
              <a:rPr sz="1000" b="1">
                <a:solidFill>
                  <a:srgbClr val="FFFFFF"/>
                </a:solidFill>
                <a:latin typeface="Aptos"/>
              </a:rPr>
              <a:t>17</a:t>
            </a:r>
          </a:p>
        </p:txBody>
      </p:sp>
      <p:sp>
        <p:nvSpPr>
          <p:cNvPr id="6" name="Rectangle 5"/>
          <p:cNvSpPr/>
          <p:nvPr/>
        </p:nvSpPr>
        <p:spPr>
          <a:xfrm>
            <a:off x="594360" y="1353312"/>
            <a:ext cx="914400" cy="64008"/>
          </a:xfrm>
          <a:prstGeom prst="rect">
            <a:avLst/>
          </a:prstGeom>
          <a:solidFill>
            <a:srgbClr val="F4BE41"/>
          </a:solidFill>
          <a:ln>
            <a:solidFill>
              <a:srgbClr val="F4BE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6610" y="717391"/>
            <a:ext cx="10515600" cy="424732"/>
          </a:xfrm>
          <a:prstGeom prst="rect">
            <a:avLst/>
          </a:prstGeom>
          <a:noFill/>
        </p:spPr>
        <p:txBody>
          <a:bodyPr wrap="square" lIns="27432" tIns="27432" rIns="27432" bIns="27432" anchor="t">
            <a:spAutoFit/>
          </a:bodyPr>
          <a:lstStyle/>
          <a:p>
            <a:pPr algn="ctr">
              <a:lnSpc>
                <a:spcPct val="100000"/>
              </a:lnSpc>
            </a:pPr>
            <a:r>
              <a:rPr sz="2400" b="1" dirty="0">
                <a:solidFill>
                  <a:srgbClr val="DD6952"/>
                </a:solidFill>
                <a:latin typeface="Aptos"/>
              </a:rPr>
              <a:t>“The Grasshopper should NOT be blamed.”</a:t>
            </a:r>
          </a:p>
        </p:txBody>
      </p:sp>
      <p:sp>
        <p:nvSpPr>
          <p:cNvPr id="8" name="Rounded Rectangle 7"/>
          <p:cNvSpPr/>
          <p:nvPr/>
        </p:nvSpPr>
        <p:spPr>
          <a:xfrm>
            <a:off x="542311" y="2018834"/>
            <a:ext cx="5531669" cy="1965960"/>
          </a:xfrm>
          <a:prstGeom prst="roundRect">
            <a:avLst/>
          </a:prstGeom>
          <a:solidFill>
            <a:srgbClr val="E1EFE4"/>
          </a:solidFill>
          <a:ln w="15240">
            <a:solidFill>
              <a:srgbClr val="E1E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“You are the jury. You must decide whether the Grasshopper is responsible for being hungry in winter. But you cannot just give your opinion—you must prove your answer using evidence from the story.”</a:t>
            </a:r>
            <a:endParaRPr dirty="0">
              <a:solidFill>
                <a:schemeClr val="tx1"/>
              </a:solidFill>
            </a:endParaRPr>
          </a:p>
        </p:txBody>
      </p:sp>
      <p:sp>
        <p:nvSpPr>
          <p:cNvPr id="11" name="Rounded Rectangle 10"/>
          <p:cNvSpPr/>
          <p:nvPr/>
        </p:nvSpPr>
        <p:spPr>
          <a:xfrm>
            <a:off x="3451046" y="4220752"/>
            <a:ext cx="5074920" cy="1965960"/>
          </a:xfrm>
          <a:prstGeom prst="roundRect">
            <a:avLst/>
          </a:prstGeom>
          <a:solidFill>
            <a:srgbClr val="FFF4CD"/>
          </a:solidFill>
          <a:ln w="15240">
            <a:solidFill>
              <a:srgbClr val="FFF4CD"/>
            </a:solidFill>
          </a:ln>
        </p:spPr>
        <p:style>
          <a:lnRef idx="1">
            <a:schemeClr val="accent1"/>
          </a:lnRef>
          <a:fillRef idx="3">
            <a:schemeClr val="accent1"/>
          </a:fillRef>
          <a:effectRef idx="2">
            <a:schemeClr val="accent1"/>
          </a:effectRef>
          <a:fontRef idx="minor">
            <a:schemeClr val="lt1"/>
          </a:fontRef>
        </p:style>
        <p:txBody>
          <a:bodyPr rtlCol="0" anchor="ctr"/>
          <a:lstStyle/>
          <a:p>
            <a:r>
              <a:rPr lang="en-US" b="1" dirty="0">
                <a:solidFill>
                  <a:schemeClr val="tx1"/>
                </a:solidFill>
              </a:rPr>
              <a:t>COMPLETE THE CHAIN</a:t>
            </a:r>
          </a:p>
          <a:p>
            <a:r>
              <a:rPr lang="en-US" b="1" dirty="0">
                <a:solidFill>
                  <a:schemeClr val="tx1"/>
                </a:solidFill>
              </a:rPr>
              <a:t>The Grasshopper chose to __________.</a:t>
            </a:r>
            <a:br>
              <a:rPr lang="en-US" dirty="0">
                <a:solidFill>
                  <a:schemeClr val="tx1"/>
                </a:solidFill>
              </a:rPr>
            </a:br>
            <a:r>
              <a:rPr lang="en-US" dirty="0">
                <a:solidFill>
                  <a:schemeClr val="tx1"/>
                </a:solidFill>
              </a:rPr>
              <a:t>↓</a:t>
            </a:r>
            <a:br>
              <a:rPr lang="en-US" dirty="0">
                <a:solidFill>
                  <a:schemeClr val="tx1"/>
                </a:solidFill>
              </a:rPr>
            </a:br>
            <a:r>
              <a:rPr lang="en-US" b="1" dirty="0">
                <a:solidFill>
                  <a:schemeClr val="tx1"/>
                </a:solidFill>
              </a:rPr>
              <a:t>This caused __________.</a:t>
            </a:r>
            <a:br>
              <a:rPr lang="en-US" dirty="0">
                <a:solidFill>
                  <a:schemeClr val="tx1"/>
                </a:solidFill>
              </a:rPr>
            </a:br>
            <a:r>
              <a:rPr lang="en-US" dirty="0">
                <a:solidFill>
                  <a:schemeClr val="tx1"/>
                </a:solidFill>
              </a:rPr>
              <a:t>↓</a:t>
            </a:r>
            <a:br>
              <a:rPr lang="en-US" dirty="0">
                <a:solidFill>
                  <a:schemeClr val="tx1"/>
                </a:solidFill>
              </a:rPr>
            </a:br>
            <a:r>
              <a:rPr lang="en-US" b="1" dirty="0">
                <a:solidFill>
                  <a:schemeClr val="tx1"/>
                </a:solidFill>
              </a:rPr>
              <a:t>Therefore, the story teaches us __________.</a:t>
            </a:r>
            <a:endParaRPr lang="en-US" dirty="0">
              <a:solidFill>
                <a:schemeClr val="tx1"/>
              </a:solidFill>
            </a:endParaRPr>
          </a:p>
        </p:txBody>
      </p:sp>
      <p:sp>
        <p:nvSpPr>
          <p:cNvPr id="14" name="Rounded Rectangle 13"/>
          <p:cNvSpPr/>
          <p:nvPr/>
        </p:nvSpPr>
        <p:spPr>
          <a:xfrm>
            <a:off x="6310764" y="2024811"/>
            <a:ext cx="5211446" cy="1991949"/>
          </a:xfrm>
          <a:prstGeom prst="roundRect">
            <a:avLst/>
          </a:prstGeom>
          <a:solidFill>
            <a:srgbClr val="FFFFFF"/>
          </a:solidFill>
          <a:ln w="1524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5" name="TextBox 14"/>
          <p:cNvSpPr txBox="1"/>
          <p:nvPr/>
        </p:nvSpPr>
        <p:spPr>
          <a:xfrm>
            <a:off x="6342888" y="2346075"/>
            <a:ext cx="5105400" cy="1040285"/>
          </a:xfrm>
          <a:prstGeom prst="rect">
            <a:avLst/>
          </a:prstGeom>
          <a:noFill/>
        </p:spPr>
        <p:txBody>
          <a:bodyPr wrap="square" lIns="27432" tIns="27432" rIns="27432" bIns="27432" anchor="t">
            <a:spAutoFit/>
          </a:bodyPr>
          <a:lstStyle/>
          <a:p>
            <a:pPr>
              <a:lnSpc>
                <a:spcPct val="100000"/>
              </a:lnSpc>
            </a:pPr>
            <a:r>
              <a:rPr lang="en-US" sz="1600" b="1" dirty="0"/>
              <a:t>1. VOTE</a:t>
            </a:r>
            <a:r>
              <a:rPr lang="en-US" sz="1600" dirty="0"/>
              <a:t> — YES or NO</a:t>
            </a:r>
            <a:br>
              <a:rPr lang="en-US" sz="1600" dirty="0"/>
            </a:br>
            <a:r>
              <a:rPr lang="en-US" sz="1600" b="1" dirty="0"/>
              <a:t>2. PROVE IT</a:t>
            </a:r>
            <a:r>
              <a:rPr lang="en-US" sz="1600" dirty="0"/>
              <a:t> — Give evidence from the story.</a:t>
            </a:r>
            <a:br>
              <a:rPr lang="en-US" sz="1600" dirty="0"/>
            </a:br>
            <a:r>
              <a:rPr lang="en-US" sz="1600" b="1" dirty="0"/>
              <a:t>3. EXPLAIN IT</a:t>
            </a:r>
            <a:r>
              <a:rPr lang="en-US" sz="1600" dirty="0"/>
              <a:t> — What does the evidence show?</a:t>
            </a:r>
            <a:br>
              <a:rPr lang="en-US" sz="1600" dirty="0"/>
            </a:br>
            <a:r>
              <a:rPr lang="en-US" sz="1600" b="1" dirty="0"/>
              <a:t>4. CONSEQUENCE</a:t>
            </a:r>
            <a:r>
              <a:rPr lang="en-US" sz="1600" dirty="0"/>
              <a:t> — What happened because of his choice?</a:t>
            </a:r>
            <a:endParaRPr lang="en-US" sz="1600" b="1" dirty="0">
              <a:solidFill>
                <a:srgbClr val="262B2A"/>
              </a:solidFill>
              <a:latin typeface="Aptos"/>
            </a:endParaRPr>
          </a:p>
        </p:txBody>
      </p:sp>
      <p:sp>
        <p:nvSpPr>
          <p:cNvPr id="16" name="TextBox 15"/>
          <p:cNvSpPr txBox="1"/>
          <p:nvPr/>
        </p:nvSpPr>
        <p:spPr>
          <a:xfrm>
            <a:off x="621792" y="6519672"/>
            <a:ext cx="6400800" cy="182880"/>
          </a:xfrm>
          <a:prstGeom prst="rect">
            <a:avLst/>
          </a:prstGeom>
          <a:noFill/>
        </p:spPr>
        <p:txBody>
          <a:bodyPr wrap="square" lIns="27432" tIns="27432" rIns="27432" bIns="27432" anchor="t">
            <a:spAutoFit/>
          </a:bodyPr>
          <a:lstStyle/>
          <a:p>
            <a:pPr algn="l">
              <a:lnSpc>
                <a:spcPct val="100000"/>
              </a:lnSpc>
            </a:pPr>
            <a:r>
              <a:rPr sz="800" b="1">
                <a:solidFill>
                  <a:srgbClr val="666C67"/>
                </a:solidFill>
                <a:latin typeface="Aptos"/>
              </a:rPr>
              <a:t>YEAR 5 • UNIT 1 • THE ANT &amp; THE GRASSHOPPER</a:t>
            </a:r>
          </a:p>
        </p:txBody>
      </p:sp>
      <p:sp>
        <p:nvSpPr>
          <p:cNvPr id="17" name="Oval 16"/>
          <p:cNvSpPr/>
          <p:nvPr/>
        </p:nvSpPr>
        <p:spPr>
          <a:xfrm>
            <a:off x="11201400" y="6510528"/>
            <a:ext cx="91440" cy="91440"/>
          </a:xfrm>
          <a:prstGeom prst="ellipse">
            <a:avLst/>
          </a:prstGeom>
          <a:solidFill>
            <a:srgbClr val="F4BE41"/>
          </a:solidFill>
          <a:ln>
            <a:solidFill>
              <a:srgbClr val="F4BE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11402568" y="6510528"/>
            <a:ext cx="91440" cy="91440"/>
          </a:xfrm>
          <a:prstGeom prst="ellipse">
            <a:avLst/>
          </a:prstGeom>
          <a:solidFill>
            <a:srgbClr val="DD6952"/>
          </a:solidFill>
          <a:ln>
            <a:solidFill>
              <a:srgbClr val="DD69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11603736" y="6510528"/>
            <a:ext cx="91440" cy="91440"/>
          </a:xfrm>
          <a:prstGeom prst="ellipse">
            <a:avLst/>
          </a:prstGeom>
          <a:solidFill>
            <a:srgbClr val="3A7757"/>
          </a:solidFill>
          <a:ln>
            <a:solidFill>
              <a:srgbClr val="3A77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10378440" y="6053328"/>
            <a:ext cx="1188720" cy="384048"/>
          </a:xfrm>
          <a:prstGeom prst="roundRect">
            <a:avLst/>
          </a:prstGeom>
          <a:solidFill>
            <a:srgbClr val="FFF4CD"/>
          </a:solidFill>
          <a:ln w="15240">
            <a:solidFill>
              <a:srgbClr val="FFF4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0424160" y="6099048"/>
            <a:ext cx="1097280" cy="274320"/>
          </a:xfrm>
          <a:prstGeom prst="rect">
            <a:avLst/>
          </a:prstGeom>
          <a:noFill/>
        </p:spPr>
        <p:txBody>
          <a:bodyPr wrap="square" lIns="27432" tIns="27432" rIns="27432" bIns="27432" anchor="ctr">
            <a:spAutoFit/>
          </a:bodyPr>
          <a:lstStyle/>
          <a:p>
            <a:pPr algn="ctr">
              <a:lnSpc>
                <a:spcPct val="100000"/>
              </a:lnSpc>
            </a:pPr>
            <a:r>
              <a:rPr sz="1100" b="1">
                <a:solidFill>
                  <a:srgbClr val="1F5340"/>
                </a:solidFill>
                <a:latin typeface="Aptos"/>
              </a:rPr>
              <a:t>⏱ 5 min</a:t>
            </a:r>
          </a:p>
        </p:txBody>
      </p:sp>
      <p:sp>
        <p:nvSpPr>
          <p:cNvPr id="23" name="TextBox 22">
            <a:extLst>
              <a:ext uri="{FF2B5EF4-FFF2-40B4-BE49-F238E27FC236}">
                <a16:creationId xmlns:a16="http://schemas.microsoft.com/office/drawing/2014/main" id="{809691F6-E60E-7DD2-EBE9-3ADA57CB787D}"/>
              </a:ext>
            </a:extLst>
          </p:cNvPr>
          <p:cNvSpPr txBox="1"/>
          <p:nvPr/>
        </p:nvSpPr>
        <p:spPr>
          <a:xfrm>
            <a:off x="1842592" y="1411962"/>
            <a:ext cx="9532544" cy="461665"/>
          </a:xfrm>
          <a:prstGeom prst="rect">
            <a:avLst/>
          </a:prstGeom>
          <a:noFill/>
        </p:spPr>
        <p:txBody>
          <a:bodyPr wrap="square">
            <a:spAutoFit/>
          </a:bodyPr>
          <a:lstStyle/>
          <a:p>
            <a:r>
              <a:rPr lang="en-US" sz="2400" b="1" dirty="0"/>
              <a:t>CASE OF THE DAY: Was the Grasshopper responsible for what happened?</a:t>
            </a:r>
            <a:endParaRPr lang="en-US" sz="2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1F5340"/>
        </a:solidFill>
        <a:effectLst/>
      </p:bgPr>
    </p:bg>
    <p:spTree>
      <p:nvGrpSpPr>
        <p:cNvPr id="1" name=""/>
        <p:cNvGrpSpPr/>
        <p:nvPr/>
      </p:nvGrpSpPr>
      <p:grpSpPr>
        <a:xfrm>
          <a:off x="0" y="0"/>
          <a:ext cx="0" cy="0"/>
          <a:chOff x="0" y="0"/>
          <a:chExt cx="0" cy="0"/>
        </a:xfrm>
      </p:grpSpPr>
      <p:sp>
        <p:nvSpPr>
          <p:cNvPr id="2" name="TextBox 1"/>
          <p:cNvSpPr txBox="1"/>
          <p:nvPr/>
        </p:nvSpPr>
        <p:spPr>
          <a:xfrm>
            <a:off x="731520" y="502920"/>
            <a:ext cx="1828800" cy="274320"/>
          </a:xfrm>
          <a:prstGeom prst="rect">
            <a:avLst/>
          </a:prstGeom>
          <a:noFill/>
        </p:spPr>
        <p:txBody>
          <a:bodyPr wrap="square" lIns="27432" tIns="27432" rIns="27432" bIns="27432" anchor="t">
            <a:spAutoFit/>
          </a:bodyPr>
          <a:lstStyle/>
          <a:p>
            <a:pPr algn="l">
              <a:lnSpc>
                <a:spcPct val="100000"/>
              </a:lnSpc>
            </a:pPr>
            <a:r>
              <a:rPr sz="1200" b="1">
                <a:solidFill>
                  <a:srgbClr val="F4BE41"/>
                </a:solidFill>
                <a:latin typeface="Aptos"/>
              </a:rPr>
              <a:t>EXIT TICKET</a:t>
            </a:r>
          </a:p>
        </p:txBody>
      </p:sp>
      <p:sp>
        <p:nvSpPr>
          <p:cNvPr id="3" name="TextBox 2"/>
          <p:cNvSpPr txBox="1"/>
          <p:nvPr/>
        </p:nvSpPr>
        <p:spPr>
          <a:xfrm>
            <a:off x="731520" y="960120"/>
            <a:ext cx="10607040" cy="640080"/>
          </a:xfrm>
          <a:prstGeom prst="rect">
            <a:avLst/>
          </a:prstGeom>
          <a:noFill/>
        </p:spPr>
        <p:txBody>
          <a:bodyPr wrap="square" lIns="27432" tIns="27432" rIns="27432" bIns="27432" anchor="t">
            <a:spAutoFit/>
          </a:bodyPr>
          <a:lstStyle/>
          <a:p>
            <a:pPr algn="ctr">
              <a:lnSpc>
                <a:spcPct val="100000"/>
              </a:lnSpc>
            </a:pPr>
            <a:r>
              <a:rPr sz="3100" b="1">
                <a:solidFill>
                  <a:srgbClr val="FFFFFF"/>
                </a:solidFill>
                <a:latin typeface="Aptos Display"/>
              </a:rPr>
              <a:t>What did the fable teach you?</a:t>
            </a:r>
          </a:p>
        </p:txBody>
      </p:sp>
      <p:sp>
        <p:nvSpPr>
          <p:cNvPr id="4" name="Rounded Rectangle 3"/>
          <p:cNvSpPr/>
          <p:nvPr/>
        </p:nvSpPr>
        <p:spPr>
          <a:xfrm>
            <a:off x="914400" y="1874519"/>
            <a:ext cx="10332720" cy="3291840"/>
          </a:xfrm>
          <a:prstGeom prst="roundRect">
            <a:avLst/>
          </a:prstGeom>
          <a:solidFill>
            <a:srgbClr val="FFFFFF"/>
          </a:solidFill>
          <a:ln w="1524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325880" y="2240280"/>
            <a:ext cx="9509760" cy="411480"/>
          </a:xfrm>
          <a:prstGeom prst="rect">
            <a:avLst/>
          </a:prstGeom>
          <a:noFill/>
        </p:spPr>
        <p:txBody>
          <a:bodyPr wrap="square" lIns="27432" tIns="27432" rIns="27432" bIns="27432" anchor="t">
            <a:spAutoFit/>
          </a:bodyPr>
          <a:lstStyle/>
          <a:p>
            <a:pPr algn="l">
              <a:lnSpc>
                <a:spcPct val="100000"/>
              </a:lnSpc>
            </a:pPr>
            <a:r>
              <a:rPr sz="2000" b="1">
                <a:solidFill>
                  <a:srgbClr val="262B2A"/>
                </a:solidFill>
                <a:latin typeface="Aptos"/>
              </a:rPr>
              <a:t>1. The moral is: ______________________________________</a:t>
            </a:r>
          </a:p>
        </p:txBody>
      </p:sp>
      <p:sp>
        <p:nvSpPr>
          <p:cNvPr id="6" name="TextBox 5"/>
          <p:cNvSpPr txBox="1"/>
          <p:nvPr/>
        </p:nvSpPr>
        <p:spPr>
          <a:xfrm>
            <a:off x="1325880" y="2907792"/>
            <a:ext cx="9509760" cy="411480"/>
          </a:xfrm>
          <a:prstGeom prst="rect">
            <a:avLst/>
          </a:prstGeom>
          <a:noFill/>
        </p:spPr>
        <p:txBody>
          <a:bodyPr wrap="square" lIns="27432" tIns="27432" rIns="27432" bIns="27432" anchor="t">
            <a:spAutoFit/>
          </a:bodyPr>
          <a:lstStyle/>
          <a:p>
            <a:pPr algn="l">
              <a:lnSpc>
                <a:spcPct val="100000"/>
              </a:lnSpc>
            </a:pPr>
            <a:r>
              <a:rPr sz="2000" b="1">
                <a:solidFill>
                  <a:srgbClr val="262B2A"/>
                </a:solidFill>
                <a:latin typeface="Aptos"/>
              </a:rPr>
              <a:t>2. Evidence from the story: ____________________________</a:t>
            </a:r>
          </a:p>
        </p:txBody>
      </p:sp>
      <p:sp>
        <p:nvSpPr>
          <p:cNvPr id="7" name="TextBox 6"/>
          <p:cNvSpPr txBox="1"/>
          <p:nvPr/>
        </p:nvSpPr>
        <p:spPr>
          <a:xfrm>
            <a:off x="1325880" y="3575304"/>
            <a:ext cx="9509760" cy="411480"/>
          </a:xfrm>
          <a:prstGeom prst="rect">
            <a:avLst/>
          </a:prstGeom>
          <a:noFill/>
        </p:spPr>
        <p:txBody>
          <a:bodyPr wrap="square" lIns="27432" tIns="27432" rIns="27432" bIns="27432" anchor="t">
            <a:spAutoFit/>
          </a:bodyPr>
          <a:lstStyle/>
          <a:p>
            <a:pPr algn="l">
              <a:lnSpc>
                <a:spcPct val="100000"/>
              </a:lnSpc>
            </a:pPr>
            <a:r>
              <a:rPr sz="2000" b="1">
                <a:solidFill>
                  <a:srgbClr val="262B2A"/>
                </a:solidFill>
                <a:latin typeface="Aptos"/>
              </a:rPr>
              <a:t>3. The character is __________ because ________________.</a:t>
            </a:r>
          </a:p>
        </p:txBody>
      </p:sp>
      <p:sp>
        <p:nvSpPr>
          <p:cNvPr id="8" name="TextBox 7"/>
          <p:cNvSpPr txBox="1"/>
          <p:nvPr/>
        </p:nvSpPr>
        <p:spPr>
          <a:xfrm>
            <a:off x="1325880" y="4242816"/>
            <a:ext cx="9509760" cy="411480"/>
          </a:xfrm>
          <a:prstGeom prst="rect">
            <a:avLst/>
          </a:prstGeom>
          <a:noFill/>
        </p:spPr>
        <p:txBody>
          <a:bodyPr wrap="square" lIns="27432" tIns="27432" rIns="27432" bIns="27432" anchor="t">
            <a:spAutoFit/>
          </a:bodyPr>
          <a:lstStyle/>
          <a:p>
            <a:pPr algn="l">
              <a:lnSpc>
                <a:spcPct val="100000"/>
              </a:lnSpc>
            </a:pPr>
            <a:r>
              <a:rPr sz="2000" b="1">
                <a:solidFill>
                  <a:srgbClr val="262B2A"/>
                </a:solidFill>
                <a:latin typeface="Aptos"/>
              </a:rPr>
              <a:t>4. One thing I learned about fables: ____________________</a:t>
            </a:r>
          </a:p>
        </p:txBody>
      </p:sp>
      <p:sp>
        <p:nvSpPr>
          <p:cNvPr id="9" name="Rounded Rectangle 8"/>
          <p:cNvSpPr/>
          <p:nvPr/>
        </p:nvSpPr>
        <p:spPr>
          <a:xfrm>
            <a:off x="2880360" y="5532120"/>
            <a:ext cx="6400800" cy="566928"/>
          </a:xfrm>
          <a:prstGeom prst="roundRect">
            <a:avLst/>
          </a:prstGeom>
          <a:solidFill>
            <a:srgbClr val="F4BE41"/>
          </a:solidFill>
          <a:ln w="15240">
            <a:solidFill>
              <a:srgbClr val="F4BE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078480" y="5699962"/>
            <a:ext cx="6035040" cy="609398"/>
          </a:xfrm>
          <a:prstGeom prst="rect">
            <a:avLst/>
          </a:prstGeom>
          <a:noFill/>
        </p:spPr>
        <p:txBody>
          <a:bodyPr wrap="square" lIns="27432" tIns="27432" rIns="27432" bIns="27432" anchor="t">
            <a:spAutoFit/>
          </a:bodyPr>
          <a:lstStyle/>
          <a:p>
            <a:pPr algn="ctr">
              <a:lnSpc>
                <a:spcPct val="100000"/>
              </a:lnSpc>
            </a:pPr>
            <a:r>
              <a:rPr dirty="0"/>
              <a:t>HAND IT IN • SHOW WHAT YOU KNOW</a:t>
            </a:r>
            <a:br>
              <a:rPr dirty="0"/>
            </a:br>
            <a:endParaRPr dirty="0"/>
          </a:p>
        </p:txBody>
      </p:sp>
      <p:sp>
        <p:nvSpPr>
          <p:cNvPr id="11" name="TextBox 10"/>
          <p:cNvSpPr txBox="1"/>
          <p:nvPr/>
        </p:nvSpPr>
        <p:spPr>
          <a:xfrm>
            <a:off x="621792" y="6519672"/>
            <a:ext cx="6400800" cy="182880"/>
          </a:xfrm>
          <a:prstGeom prst="rect">
            <a:avLst/>
          </a:prstGeom>
          <a:noFill/>
        </p:spPr>
        <p:txBody>
          <a:bodyPr wrap="square" lIns="27432" tIns="27432" rIns="27432" bIns="27432" anchor="t">
            <a:spAutoFit/>
          </a:bodyPr>
          <a:lstStyle/>
          <a:p>
            <a:pPr algn="l">
              <a:lnSpc>
                <a:spcPct val="100000"/>
              </a:lnSpc>
            </a:pPr>
            <a:r>
              <a:rPr sz="800" b="1">
                <a:solidFill>
                  <a:srgbClr val="666C67"/>
                </a:solidFill>
                <a:latin typeface="Aptos"/>
              </a:rPr>
              <a:t>YEAR 5 • UNIT 1 • EXIT TICKET</a:t>
            </a:r>
          </a:p>
        </p:txBody>
      </p:sp>
      <p:sp>
        <p:nvSpPr>
          <p:cNvPr id="12" name="Oval 11"/>
          <p:cNvSpPr/>
          <p:nvPr/>
        </p:nvSpPr>
        <p:spPr>
          <a:xfrm>
            <a:off x="11201400" y="6510528"/>
            <a:ext cx="91440" cy="91440"/>
          </a:xfrm>
          <a:prstGeom prst="ellipse">
            <a:avLst/>
          </a:prstGeom>
          <a:solidFill>
            <a:srgbClr val="F4BE41"/>
          </a:solidFill>
          <a:ln>
            <a:solidFill>
              <a:srgbClr val="F4BE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11402568" y="6510528"/>
            <a:ext cx="91440" cy="91440"/>
          </a:xfrm>
          <a:prstGeom prst="ellipse">
            <a:avLst/>
          </a:prstGeom>
          <a:solidFill>
            <a:srgbClr val="DD6952"/>
          </a:solidFill>
          <a:ln>
            <a:solidFill>
              <a:srgbClr val="DD69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11603736" y="6510528"/>
            <a:ext cx="91440" cy="91440"/>
          </a:xfrm>
          <a:prstGeom prst="ellipse">
            <a:avLst/>
          </a:prstGeom>
          <a:solidFill>
            <a:srgbClr val="3A7757"/>
          </a:solidFill>
          <a:ln>
            <a:solidFill>
              <a:srgbClr val="3A77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AF7EF"/>
        </a:solidFill>
        <a:effectLst/>
      </p:bgPr>
    </p:bg>
    <p:spTree>
      <p:nvGrpSpPr>
        <p:cNvPr id="1" name=""/>
        <p:cNvGrpSpPr/>
        <p:nvPr/>
      </p:nvGrpSpPr>
      <p:grpSpPr>
        <a:xfrm>
          <a:off x="0" y="0"/>
          <a:ext cx="0" cy="0"/>
          <a:chOff x="0" y="0"/>
          <a:chExt cx="0" cy="0"/>
        </a:xfrm>
      </p:grpSpPr>
      <p:sp>
        <p:nvSpPr>
          <p:cNvPr id="2" name="TextBox 1"/>
          <p:cNvSpPr txBox="1"/>
          <p:nvPr/>
        </p:nvSpPr>
        <p:spPr>
          <a:xfrm>
            <a:off x="594360" y="292608"/>
            <a:ext cx="3657600" cy="256032"/>
          </a:xfrm>
          <a:prstGeom prst="rect">
            <a:avLst/>
          </a:prstGeom>
          <a:noFill/>
        </p:spPr>
        <p:txBody>
          <a:bodyPr wrap="square" lIns="27432" tIns="27432" rIns="27432" bIns="27432" anchor="t">
            <a:spAutoFit/>
          </a:bodyPr>
          <a:lstStyle/>
          <a:p>
            <a:pPr algn="l">
              <a:lnSpc>
                <a:spcPct val="100000"/>
              </a:lnSpc>
            </a:pPr>
            <a:r>
              <a:rPr sz="1000" b="1">
                <a:solidFill>
                  <a:srgbClr val="3A7757"/>
                </a:solidFill>
                <a:latin typeface="Aptos"/>
              </a:rPr>
              <a:t>TEACHER ONLY</a:t>
            </a:r>
          </a:p>
        </p:txBody>
      </p:sp>
      <p:sp>
        <p:nvSpPr>
          <p:cNvPr id="3" name="TextBox 2"/>
          <p:cNvSpPr txBox="1"/>
          <p:nvPr/>
        </p:nvSpPr>
        <p:spPr>
          <a:xfrm>
            <a:off x="594360" y="603504"/>
            <a:ext cx="10515600" cy="640080"/>
          </a:xfrm>
          <a:prstGeom prst="rect">
            <a:avLst/>
          </a:prstGeom>
          <a:noFill/>
        </p:spPr>
        <p:txBody>
          <a:bodyPr wrap="square" lIns="27432" tIns="27432" rIns="27432" bIns="27432" anchor="t">
            <a:spAutoFit/>
          </a:bodyPr>
          <a:lstStyle/>
          <a:p>
            <a:pPr algn="l">
              <a:lnSpc>
                <a:spcPct val="100000"/>
              </a:lnSpc>
            </a:pPr>
            <a:r>
              <a:rPr sz="2800" b="1">
                <a:solidFill>
                  <a:srgbClr val="1F5340"/>
                </a:solidFill>
                <a:latin typeface="Aptos Display"/>
              </a:rPr>
              <a:t>Answer &amp; look-fors</a:t>
            </a:r>
          </a:p>
        </p:txBody>
      </p:sp>
      <p:sp>
        <p:nvSpPr>
          <p:cNvPr id="4" name="Oval 3"/>
          <p:cNvSpPr/>
          <p:nvPr/>
        </p:nvSpPr>
        <p:spPr>
          <a:xfrm>
            <a:off x="11155680" y="320040"/>
            <a:ext cx="438912" cy="438912"/>
          </a:xfrm>
          <a:prstGeom prst="ellipse">
            <a:avLst/>
          </a:prstGeom>
          <a:solidFill>
            <a:srgbClr val="1F5340"/>
          </a:solidFill>
          <a:ln>
            <a:solidFill>
              <a:srgbClr val="1F53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155680" y="356616"/>
            <a:ext cx="438912" cy="310896"/>
          </a:xfrm>
          <a:prstGeom prst="rect">
            <a:avLst/>
          </a:prstGeom>
          <a:noFill/>
        </p:spPr>
        <p:txBody>
          <a:bodyPr wrap="square" lIns="27432" tIns="27432" rIns="27432" bIns="27432" anchor="ctr">
            <a:spAutoFit/>
          </a:bodyPr>
          <a:lstStyle/>
          <a:p>
            <a:pPr algn="ctr">
              <a:lnSpc>
                <a:spcPct val="100000"/>
              </a:lnSpc>
            </a:pPr>
            <a:r>
              <a:t>20</a:t>
            </a:r>
          </a:p>
        </p:txBody>
      </p:sp>
      <p:sp>
        <p:nvSpPr>
          <p:cNvPr id="6" name="Rectangle 5"/>
          <p:cNvSpPr/>
          <p:nvPr/>
        </p:nvSpPr>
        <p:spPr>
          <a:xfrm>
            <a:off x="594360" y="1353312"/>
            <a:ext cx="914400" cy="64008"/>
          </a:xfrm>
          <a:prstGeom prst="rect">
            <a:avLst/>
          </a:prstGeom>
          <a:solidFill>
            <a:srgbClr val="F4BE41"/>
          </a:solidFill>
          <a:ln>
            <a:solidFill>
              <a:srgbClr val="F4BE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85800" y="1600200"/>
            <a:ext cx="5349240" cy="1600200"/>
          </a:xfrm>
          <a:prstGeom prst="roundRect">
            <a:avLst/>
          </a:prstGeom>
          <a:solidFill>
            <a:srgbClr val="E1EFE4"/>
          </a:solidFill>
          <a:ln w="15240">
            <a:solidFill>
              <a:srgbClr val="E1E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85800" y="1600200"/>
            <a:ext cx="73152" cy="1600200"/>
          </a:xfrm>
          <a:prstGeom prst="rect">
            <a:avLst/>
          </a:prstGeom>
          <a:solidFill>
            <a:srgbClr val="3A7757"/>
          </a:solidFill>
          <a:ln>
            <a:solidFill>
              <a:srgbClr val="3A77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86968" y="1764792"/>
            <a:ext cx="4983479" cy="320040"/>
          </a:xfrm>
          <a:prstGeom prst="rect">
            <a:avLst/>
          </a:prstGeom>
          <a:noFill/>
        </p:spPr>
        <p:txBody>
          <a:bodyPr wrap="square" lIns="27432" tIns="27432" rIns="27432" bIns="27432" anchor="t">
            <a:spAutoFit/>
          </a:bodyPr>
          <a:lstStyle/>
          <a:p>
            <a:pPr algn="l">
              <a:lnSpc>
                <a:spcPct val="100000"/>
              </a:lnSpc>
            </a:pPr>
            <a:r>
              <a:rPr sz="1500" b="1">
                <a:solidFill>
                  <a:srgbClr val="1F5340"/>
                </a:solidFill>
                <a:latin typeface="Aptos Display"/>
              </a:rPr>
              <a:t>DETECTIVE ACTIVITY</a:t>
            </a:r>
          </a:p>
        </p:txBody>
      </p:sp>
      <p:sp>
        <p:nvSpPr>
          <p:cNvPr id="10" name="TextBox 9"/>
          <p:cNvSpPr txBox="1"/>
          <p:nvPr/>
        </p:nvSpPr>
        <p:spPr>
          <a:xfrm>
            <a:off x="886968" y="2194560"/>
            <a:ext cx="4983479" cy="850392"/>
          </a:xfrm>
          <a:prstGeom prst="rect">
            <a:avLst/>
          </a:prstGeom>
          <a:noFill/>
        </p:spPr>
        <p:txBody>
          <a:bodyPr wrap="square" lIns="27432" tIns="27432" rIns="27432" bIns="27432" anchor="t">
            <a:spAutoFit/>
          </a:bodyPr>
          <a:lstStyle/>
          <a:p>
            <a:pPr algn="l">
              <a:lnSpc>
                <a:spcPct val="100000"/>
              </a:lnSpc>
            </a:pPr>
            <a:r>
              <a:rPr sz="1500" b="0">
                <a:solidFill>
                  <a:srgbClr val="262B2A"/>
                </a:solidFill>
                <a:latin typeface="Aptos"/>
              </a:rPr>
              <a:t>A = Ant character evidence
B = Grasshopper character evidence
C = warning / clue to the moral
D = problem / consequence</a:t>
            </a:r>
          </a:p>
        </p:txBody>
      </p:sp>
      <p:sp>
        <p:nvSpPr>
          <p:cNvPr id="11" name="Rounded Rectangle 10"/>
          <p:cNvSpPr/>
          <p:nvPr/>
        </p:nvSpPr>
        <p:spPr>
          <a:xfrm>
            <a:off x="6172200" y="1600200"/>
            <a:ext cx="5349240" cy="1600200"/>
          </a:xfrm>
          <a:prstGeom prst="roundRect">
            <a:avLst/>
          </a:prstGeom>
          <a:solidFill>
            <a:srgbClr val="FFF4CD"/>
          </a:solidFill>
          <a:ln w="15240">
            <a:solidFill>
              <a:srgbClr val="FFF4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172200" y="1600200"/>
            <a:ext cx="73152" cy="1600200"/>
          </a:xfrm>
          <a:prstGeom prst="rect">
            <a:avLst/>
          </a:prstGeom>
          <a:solidFill>
            <a:srgbClr val="F4BE41"/>
          </a:solidFill>
          <a:ln>
            <a:solidFill>
              <a:srgbClr val="F4BE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73368" y="1764792"/>
            <a:ext cx="4983479" cy="320040"/>
          </a:xfrm>
          <a:prstGeom prst="rect">
            <a:avLst/>
          </a:prstGeom>
          <a:noFill/>
        </p:spPr>
        <p:txBody>
          <a:bodyPr wrap="square" lIns="27432" tIns="27432" rIns="27432" bIns="27432" anchor="t">
            <a:spAutoFit/>
          </a:bodyPr>
          <a:lstStyle/>
          <a:p>
            <a:pPr algn="l">
              <a:lnSpc>
                <a:spcPct val="100000"/>
              </a:lnSpc>
            </a:pPr>
            <a:r>
              <a:rPr sz="1500" b="1">
                <a:solidFill>
                  <a:srgbClr val="1F5340"/>
                </a:solidFill>
                <a:latin typeface="Aptos Display"/>
              </a:rPr>
              <a:t>CHARACTER INFERENCES</a:t>
            </a:r>
          </a:p>
        </p:txBody>
      </p:sp>
      <p:sp>
        <p:nvSpPr>
          <p:cNvPr id="14" name="TextBox 13"/>
          <p:cNvSpPr txBox="1"/>
          <p:nvPr/>
        </p:nvSpPr>
        <p:spPr>
          <a:xfrm>
            <a:off x="6373368" y="2194560"/>
            <a:ext cx="4983479" cy="850392"/>
          </a:xfrm>
          <a:prstGeom prst="rect">
            <a:avLst/>
          </a:prstGeom>
          <a:noFill/>
        </p:spPr>
        <p:txBody>
          <a:bodyPr wrap="square" lIns="27432" tIns="27432" rIns="27432" bIns="27432" anchor="t">
            <a:spAutoFit/>
          </a:bodyPr>
          <a:lstStyle/>
          <a:p>
            <a:pPr algn="l">
              <a:lnSpc>
                <a:spcPct val="100000"/>
              </a:lnSpc>
            </a:pPr>
            <a:r>
              <a:rPr sz="1500" b="0">
                <a:solidFill>
                  <a:srgbClr val="262B2A"/>
                </a:solidFill>
                <a:latin typeface="Aptos"/>
              </a:rPr>
              <a:t>Ant: responsible, hardworking, prepared
Grasshopper: careless, unprepared, short-sighted</a:t>
            </a:r>
          </a:p>
        </p:txBody>
      </p:sp>
      <p:sp>
        <p:nvSpPr>
          <p:cNvPr id="15" name="Rounded Rectangle 14"/>
          <p:cNvSpPr/>
          <p:nvPr/>
        </p:nvSpPr>
        <p:spPr>
          <a:xfrm>
            <a:off x="685800" y="3520440"/>
            <a:ext cx="5349240" cy="1600200"/>
          </a:xfrm>
          <a:prstGeom prst="roundRect">
            <a:avLst/>
          </a:prstGeom>
          <a:solidFill>
            <a:srgbClr val="F9E2DC"/>
          </a:solidFill>
          <a:ln w="15240">
            <a:solidFill>
              <a:srgbClr val="F9E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85800" y="3520440"/>
            <a:ext cx="73152" cy="1600200"/>
          </a:xfrm>
          <a:prstGeom prst="rect">
            <a:avLst/>
          </a:prstGeom>
          <a:solidFill>
            <a:srgbClr val="DD6952"/>
          </a:solidFill>
          <a:ln>
            <a:solidFill>
              <a:srgbClr val="DD69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86968" y="3685032"/>
            <a:ext cx="4983479" cy="320040"/>
          </a:xfrm>
          <a:prstGeom prst="rect">
            <a:avLst/>
          </a:prstGeom>
          <a:noFill/>
        </p:spPr>
        <p:txBody>
          <a:bodyPr wrap="square" lIns="27432" tIns="27432" rIns="27432" bIns="27432" anchor="t">
            <a:spAutoFit/>
          </a:bodyPr>
          <a:lstStyle/>
          <a:p>
            <a:pPr algn="l">
              <a:lnSpc>
                <a:spcPct val="100000"/>
              </a:lnSpc>
            </a:pPr>
            <a:r>
              <a:rPr sz="1500" b="1">
                <a:solidFill>
                  <a:srgbClr val="1F5340"/>
                </a:solidFill>
                <a:latin typeface="Aptos Display"/>
              </a:rPr>
              <a:t>MORAL</a:t>
            </a:r>
          </a:p>
        </p:txBody>
      </p:sp>
      <p:sp>
        <p:nvSpPr>
          <p:cNvPr id="18" name="TextBox 17"/>
          <p:cNvSpPr txBox="1"/>
          <p:nvPr/>
        </p:nvSpPr>
        <p:spPr>
          <a:xfrm>
            <a:off x="886968" y="4114800"/>
            <a:ext cx="4983479" cy="850392"/>
          </a:xfrm>
          <a:prstGeom prst="rect">
            <a:avLst/>
          </a:prstGeom>
          <a:noFill/>
        </p:spPr>
        <p:txBody>
          <a:bodyPr wrap="square" lIns="27432" tIns="27432" rIns="27432" bIns="27432" anchor="t">
            <a:spAutoFit/>
          </a:bodyPr>
          <a:lstStyle/>
          <a:p>
            <a:pPr algn="l">
              <a:lnSpc>
                <a:spcPct val="100000"/>
              </a:lnSpc>
            </a:pPr>
            <a:r>
              <a:rPr sz="1500" b="0">
                <a:solidFill>
                  <a:srgbClr val="262B2A"/>
                </a:solidFill>
                <a:latin typeface="Aptos"/>
              </a:rPr>
              <a:t>Accept: “Prepare for the future.”
Accept: “Our choices have consequences.”
Require supporting evidence.</a:t>
            </a:r>
          </a:p>
        </p:txBody>
      </p:sp>
      <p:sp>
        <p:nvSpPr>
          <p:cNvPr id="19" name="Rounded Rectangle 18"/>
          <p:cNvSpPr/>
          <p:nvPr/>
        </p:nvSpPr>
        <p:spPr>
          <a:xfrm>
            <a:off x="6172200" y="3520440"/>
            <a:ext cx="5349240" cy="1600200"/>
          </a:xfrm>
          <a:prstGeom prst="roundRect">
            <a:avLst/>
          </a:prstGeom>
          <a:solidFill>
            <a:srgbClr val="FFFFFF"/>
          </a:solidFill>
          <a:ln w="1524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172200" y="3520440"/>
            <a:ext cx="73152" cy="1600200"/>
          </a:xfrm>
          <a:prstGeom prst="rect">
            <a:avLst/>
          </a:prstGeom>
          <a:solidFill>
            <a:srgbClr val="1F5340"/>
          </a:solidFill>
          <a:ln>
            <a:solidFill>
              <a:srgbClr val="1F53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373368" y="3685032"/>
            <a:ext cx="4983479" cy="320040"/>
          </a:xfrm>
          <a:prstGeom prst="rect">
            <a:avLst/>
          </a:prstGeom>
          <a:noFill/>
        </p:spPr>
        <p:txBody>
          <a:bodyPr wrap="square" lIns="27432" tIns="27432" rIns="27432" bIns="27432" anchor="t">
            <a:spAutoFit/>
          </a:bodyPr>
          <a:lstStyle/>
          <a:p>
            <a:pPr algn="l">
              <a:lnSpc>
                <a:spcPct val="100000"/>
              </a:lnSpc>
            </a:pPr>
            <a:r>
              <a:rPr sz="1500" b="1">
                <a:solidFill>
                  <a:srgbClr val="1F5340"/>
                </a:solidFill>
                <a:latin typeface="Aptos Display"/>
              </a:rPr>
              <a:t>WRITING LOOK-FORS</a:t>
            </a:r>
          </a:p>
        </p:txBody>
      </p:sp>
      <p:sp>
        <p:nvSpPr>
          <p:cNvPr id="22" name="TextBox 21"/>
          <p:cNvSpPr txBox="1"/>
          <p:nvPr/>
        </p:nvSpPr>
        <p:spPr>
          <a:xfrm>
            <a:off x="6373368" y="4114800"/>
            <a:ext cx="4983479" cy="850392"/>
          </a:xfrm>
          <a:prstGeom prst="rect">
            <a:avLst/>
          </a:prstGeom>
          <a:noFill/>
        </p:spPr>
        <p:txBody>
          <a:bodyPr wrap="square" lIns="27432" tIns="27432" rIns="27432" bIns="27432" anchor="t">
            <a:spAutoFit/>
          </a:bodyPr>
          <a:lstStyle/>
          <a:p>
            <a:pPr algn="l">
              <a:lnSpc>
                <a:spcPct val="100000"/>
              </a:lnSpc>
            </a:pPr>
            <a:r>
              <a:rPr sz="1500" b="0">
                <a:solidFill>
                  <a:srgbClr val="262B2A"/>
                </a:solidFill>
                <a:latin typeface="Aptos"/>
              </a:rPr>
              <a:t>✓ complete sentences
✓ accurate evidence
✓ trait + evidence + explanation
✓ capital + full stop</a:t>
            </a:r>
          </a:p>
        </p:txBody>
      </p:sp>
      <p:sp>
        <p:nvSpPr>
          <p:cNvPr id="24" name="TextBox 23"/>
          <p:cNvSpPr txBox="1"/>
          <p:nvPr/>
        </p:nvSpPr>
        <p:spPr>
          <a:xfrm>
            <a:off x="938784" y="5274730"/>
            <a:ext cx="10354056" cy="1163395"/>
          </a:xfrm>
          <a:prstGeom prst="rect">
            <a:avLst/>
          </a:prstGeom>
          <a:noFill/>
        </p:spPr>
        <p:txBody>
          <a:bodyPr wrap="square" lIns="27432" tIns="27432" rIns="27432" bIns="27432" anchor="t">
            <a:spAutoFit/>
          </a:bodyPr>
          <a:lstStyle/>
          <a:p>
            <a:pPr algn="ctr">
              <a:lnSpc>
                <a:spcPct val="100000"/>
              </a:lnSpc>
            </a:pPr>
            <a:r>
              <a:rPr dirty="0">
                <a:highlight>
                  <a:srgbClr val="FFFF00"/>
                </a:highlight>
              </a:rPr>
              <a:t>Do not reward length alone: reward relevance, accuracy, development and control.</a:t>
            </a:r>
            <a:br>
              <a:rPr dirty="0"/>
            </a:br>
            <a:r>
              <a:rPr b="1" dirty="0"/>
              <a:t>DECISION RULE: </a:t>
            </a:r>
            <a:r>
              <a:rPr dirty="0"/>
              <a:t>If evidence is inaccurate → reteach evidence selection. </a:t>
            </a:r>
            <a:endParaRPr lang="en-US" dirty="0"/>
          </a:p>
          <a:p>
            <a:pPr algn="ctr">
              <a:lnSpc>
                <a:spcPct val="100000"/>
              </a:lnSpc>
            </a:pPr>
            <a:r>
              <a:rPr dirty="0"/>
              <a:t>If explanation is missing → reteach evidence → what it shows.</a:t>
            </a:r>
            <a:endParaRPr lang="en-US" dirty="0"/>
          </a:p>
          <a:p>
            <a:pPr algn="ctr">
              <a:lnSpc>
                <a:spcPct val="100000"/>
              </a:lnSpc>
            </a:pPr>
            <a:r>
              <a:rPr dirty="0"/>
              <a:t> If sentence control is weak → provide sentence-level support while maintaining the same thinking task.</a:t>
            </a:r>
          </a:p>
        </p:txBody>
      </p:sp>
      <p:sp>
        <p:nvSpPr>
          <p:cNvPr id="25" name="TextBox 24"/>
          <p:cNvSpPr txBox="1"/>
          <p:nvPr/>
        </p:nvSpPr>
        <p:spPr>
          <a:xfrm>
            <a:off x="621792" y="6519672"/>
            <a:ext cx="6400800" cy="182880"/>
          </a:xfrm>
          <a:prstGeom prst="rect">
            <a:avLst/>
          </a:prstGeom>
          <a:noFill/>
        </p:spPr>
        <p:txBody>
          <a:bodyPr wrap="square" lIns="27432" tIns="27432" rIns="27432" bIns="27432" anchor="t">
            <a:spAutoFit/>
          </a:bodyPr>
          <a:lstStyle/>
          <a:p>
            <a:pPr algn="l">
              <a:lnSpc>
                <a:spcPct val="100000"/>
              </a:lnSpc>
            </a:pPr>
            <a:r>
              <a:rPr sz="800" b="1">
                <a:solidFill>
                  <a:srgbClr val="666C67"/>
                </a:solidFill>
                <a:latin typeface="Aptos"/>
              </a:rPr>
              <a:t>YEAR 5 • UNIT 1 • THE ANT &amp; THE GRASSHOPPER</a:t>
            </a:r>
          </a:p>
        </p:txBody>
      </p:sp>
      <p:sp>
        <p:nvSpPr>
          <p:cNvPr id="26" name="Oval 25"/>
          <p:cNvSpPr/>
          <p:nvPr/>
        </p:nvSpPr>
        <p:spPr>
          <a:xfrm>
            <a:off x="11201400" y="6510528"/>
            <a:ext cx="91440" cy="91440"/>
          </a:xfrm>
          <a:prstGeom prst="ellipse">
            <a:avLst/>
          </a:prstGeom>
          <a:solidFill>
            <a:srgbClr val="F4BE41"/>
          </a:solidFill>
          <a:ln>
            <a:solidFill>
              <a:srgbClr val="F4BE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11402568" y="6510528"/>
            <a:ext cx="91440" cy="91440"/>
          </a:xfrm>
          <a:prstGeom prst="ellipse">
            <a:avLst/>
          </a:prstGeom>
          <a:solidFill>
            <a:srgbClr val="DD6952"/>
          </a:solidFill>
          <a:ln>
            <a:solidFill>
              <a:srgbClr val="DD69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11603736" y="6510528"/>
            <a:ext cx="91440" cy="91440"/>
          </a:xfrm>
          <a:prstGeom prst="ellipse">
            <a:avLst/>
          </a:prstGeom>
          <a:solidFill>
            <a:srgbClr val="3A7757"/>
          </a:solidFill>
          <a:ln>
            <a:solidFill>
              <a:srgbClr val="3A77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AF7EF"/>
        </a:solidFill>
        <a:effectLst/>
      </p:bgPr>
    </p:bg>
    <p:spTree>
      <p:nvGrpSpPr>
        <p:cNvPr id="1" name=""/>
        <p:cNvGrpSpPr/>
        <p:nvPr/>
      </p:nvGrpSpPr>
      <p:grpSpPr>
        <a:xfrm>
          <a:off x="0" y="0"/>
          <a:ext cx="0" cy="0"/>
          <a:chOff x="0" y="0"/>
          <a:chExt cx="0" cy="0"/>
        </a:xfrm>
      </p:grpSpPr>
      <p:sp>
        <p:nvSpPr>
          <p:cNvPr id="2" name="TextBox 1"/>
          <p:cNvSpPr txBox="1"/>
          <p:nvPr/>
        </p:nvSpPr>
        <p:spPr>
          <a:xfrm>
            <a:off x="594360" y="292608"/>
            <a:ext cx="3657600" cy="256032"/>
          </a:xfrm>
          <a:prstGeom prst="rect">
            <a:avLst/>
          </a:prstGeom>
          <a:noFill/>
        </p:spPr>
        <p:txBody>
          <a:bodyPr wrap="square" lIns="27432" tIns="27432" rIns="27432" bIns="27432" anchor="t">
            <a:spAutoFit/>
          </a:bodyPr>
          <a:lstStyle/>
          <a:p>
            <a:pPr algn="l">
              <a:lnSpc>
                <a:spcPct val="100000"/>
              </a:lnSpc>
            </a:pPr>
            <a:r>
              <a:rPr sz="1000" b="1">
                <a:solidFill>
                  <a:srgbClr val="3A7757"/>
                </a:solidFill>
                <a:latin typeface="Aptos"/>
              </a:rPr>
              <a:t>TEACHER TOOLKIT</a:t>
            </a:r>
          </a:p>
        </p:txBody>
      </p:sp>
      <p:sp>
        <p:nvSpPr>
          <p:cNvPr id="3" name="TextBox 2"/>
          <p:cNvSpPr txBox="1"/>
          <p:nvPr/>
        </p:nvSpPr>
        <p:spPr>
          <a:xfrm>
            <a:off x="594360" y="603504"/>
            <a:ext cx="10515600" cy="640080"/>
          </a:xfrm>
          <a:prstGeom prst="rect">
            <a:avLst/>
          </a:prstGeom>
          <a:noFill/>
        </p:spPr>
        <p:txBody>
          <a:bodyPr wrap="square" lIns="27432" tIns="27432" rIns="27432" bIns="27432" anchor="t">
            <a:spAutoFit/>
          </a:bodyPr>
          <a:lstStyle/>
          <a:p>
            <a:pPr algn="l">
              <a:lnSpc>
                <a:spcPct val="100000"/>
              </a:lnSpc>
            </a:pPr>
            <a:r>
              <a:rPr sz="2800" b="1">
                <a:solidFill>
                  <a:srgbClr val="1F5340"/>
                </a:solidFill>
                <a:latin typeface="Aptos Display"/>
              </a:rPr>
              <a:t>Differentiation for this class</a:t>
            </a:r>
          </a:p>
        </p:txBody>
      </p:sp>
      <p:sp>
        <p:nvSpPr>
          <p:cNvPr id="4" name="Oval 3"/>
          <p:cNvSpPr/>
          <p:nvPr/>
        </p:nvSpPr>
        <p:spPr>
          <a:xfrm>
            <a:off x="11155680" y="320040"/>
            <a:ext cx="438912" cy="438912"/>
          </a:xfrm>
          <a:prstGeom prst="ellipse">
            <a:avLst/>
          </a:prstGeom>
          <a:solidFill>
            <a:srgbClr val="1F5340"/>
          </a:solidFill>
          <a:ln>
            <a:solidFill>
              <a:srgbClr val="1F53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155680" y="356616"/>
            <a:ext cx="438912" cy="310896"/>
          </a:xfrm>
          <a:prstGeom prst="rect">
            <a:avLst/>
          </a:prstGeom>
          <a:noFill/>
        </p:spPr>
        <p:txBody>
          <a:bodyPr wrap="square" lIns="27432" tIns="27432" rIns="27432" bIns="27432" anchor="ctr">
            <a:spAutoFit/>
          </a:bodyPr>
          <a:lstStyle/>
          <a:p>
            <a:pPr algn="ctr">
              <a:lnSpc>
                <a:spcPct val="100000"/>
              </a:lnSpc>
            </a:pPr>
            <a:r>
              <a:t>21</a:t>
            </a:r>
          </a:p>
        </p:txBody>
      </p:sp>
      <p:sp>
        <p:nvSpPr>
          <p:cNvPr id="6" name="Rectangle 5"/>
          <p:cNvSpPr/>
          <p:nvPr/>
        </p:nvSpPr>
        <p:spPr>
          <a:xfrm>
            <a:off x="594360" y="1353312"/>
            <a:ext cx="914400" cy="64008"/>
          </a:xfrm>
          <a:prstGeom prst="rect">
            <a:avLst/>
          </a:prstGeom>
          <a:solidFill>
            <a:srgbClr val="F4BE41"/>
          </a:solidFill>
          <a:ln>
            <a:solidFill>
              <a:srgbClr val="F4BE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94360" y="1600200"/>
            <a:ext cx="3611880" cy="3520440"/>
          </a:xfrm>
          <a:prstGeom prst="roundRect">
            <a:avLst/>
          </a:prstGeom>
          <a:solidFill>
            <a:srgbClr val="F9E2DC"/>
          </a:solidFill>
          <a:ln w="15240">
            <a:solidFill>
              <a:srgbClr val="F9E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94360" y="1600200"/>
            <a:ext cx="73152" cy="3520440"/>
          </a:xfrm>
          <a:prstGeom prst="rect">
            <a:avLst/>
          </a:prstGeom>
          <a:solidFill>
            <a:srgbClr val="DD6952"/>
          </a:solidFill>
          <a:ln>
            <a:solidFill>
              <a:srgbClr val="DD69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95528" y="1764792"/>
            <a:ext cx="3246120" cy="320040"/>
          </a:xfrm>
          <a:prstGeom prst="rect">
            <a:avLst/>
          </a:prstGeom>
          <a:noFill/>
        </p:spPr>
        <p:txBody>
          <a:bodyPr wrap="square" lIns="27432" tIns="27432" rIns="27432" bIns="27432" anchor="t">
            <a:spAutoFit/>
          </a:bodyPr>
          <a:lstStyle/>
          <a:p>
            <a:pPr algn="l">
              <a:lnSpc>
                <a:spcPct val="100000"/>
              </a:lnSpc>
            </a:pPr>
            <a:r>
              <a:rPr sz="1500" b="1">
                <a:solidFill>
                  <a:srgbClr val="1F5340"/>
                </a:solidFill>
                <a:latin typeface="Aptos Display"/>
              </a:rPr>
              <a:t>FOUNDATION</a:t>
            </a:r>
          </a:p>
        </p:txBody>
      </p:sp>
      <p:sp>
        <p:nvSpPr>
          <p:cNvPr id="10" name="TextBox 9"/>
          <p:cNvSpPr txBox="1"/>
          <p:nvPr/>
        </p:nvSpPr>
        <p:spPr>
          <a:xfrm>
            <a:off x="795528" y="2194560"/>
            <a:ext cx="3410712" cy="2209836"/>
          </a:xfrm>
          <a:prstGeom prst="rect">
            <a:avLst/>
          </a:prstGeom>
          <a:noFill/>
        </p:spPr>
        <p:txBody>
          <a:bodyPr wrap="square" lIns="27432" tIns="27432" rIns="27432" bIns="27432" anchor="t">
            <a:spAutoFit/>
          </a:bodyPr>
          <a:lstStyle/>
          <a:p>
            <a:pPr algn="l">
              <a:lnSpc>
                <a:spcPct val="100000"/>
              </a:lnSpc>
            </a:pPr>
            <a:r>
              <a:rPr sz="2000" b="0" dirty="0">
                <a:solidFill>
                  <a:srgbClr val="262B2A"/>
                </a:solidFill>
                <a:latin typeface="Aptos"/>
              </a:rPr>
              <a:t>Kinan • Mahmoud • Hamza
• Oral rehearsal first
• Picture/word bank
• “The ___ is ___ because ___.”
• Check sentence boundaries
• Keep evidence cards visible</a:t>
            </a:r>
          </a:p>
        </p:txBody>
      </p:sp>
      <p:sp>
        <p:nvSpPr>
          <p:cNvPr id="11" name="Rounded Rectangle 10"/>
          <p:cNvSpPr/>
          <p:nvPr/>
        </p:nvSpPr>
        <p:spPr>
          <a:xfrm>
            <a:off x="4297680" y="1600200"/>
            <a:ext cx="3611880" cy="3520440"/>
          </a:xfrm>
          <a:prstGeom prst="roundRect">
            <a:avLst/>
          </a:prstGeom>
          <a:solidFill>
            <a:srgbClr val="FFF4CD"/>
          </a:solidFill>
          <a:ln w="15240">
            <a:solidFill>
              <a:srgbClr val="FFF4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297680" y="1600200"/>
            <a:ext cx="73152" cy="3520440"/>
          </a:xfrm>
          <a:prstGeom prst="rect">
            <a:avLst/>
          </a:prstGeom>
          <a:solidFill>
            <a:srgbClr val="F4BE41"/>
          </a:solidFill>
          <a:ln>
            <a:solidFill>
              <a:srgbClr val="F4BE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498848" y="1764792"/>
            <a:ext cx="3246120" cy="320040"/>
          </a:xfrm>
          <a:prstGeom prst="rect">
            <a:avLst/>
          </a:prstGeom>
          <a:noFill/>
        </p:spPr>
        <p:txBody>
          <a:bodyPr wrap="square" lIns="27432" tIns="27432" rIns="27432" bIns="27432" anchor="t">
            <a:spAutoFit/>
          </a:bodyPr>
          <a:lstStyle/>
          <a:p>
            <a:pPr algn="l">
              <a:lnSpc>
                <a:spcPct val="100000"/>
              </a:lnSpc>
            </a:pPr>
            <a:r>
              <a:rPr sz="1500" b="1">
                <a:solidFill>
                  <a:srgbClr val="1F5340"/>
                </a:solidFill>
                <a:latin typeface="Aptos Display"/>
              </a:rPr>
              <a:t>DEVELOPING</a:t>
            </a:r>
          </a:p>
        </p:txBody>
      </p:sp>
      <p:sp>
        <p:nvSpPr>
          <p:cNvPr id="14" name="TextBox 13"/>
          <p:cNvSpPr txBox="1"/>
          <p:nvPr/>
        </p:nvSpPr>
        <p:spPr>
          <a:xfrm>
            <a:off x="4425696" y="2194560"/>
            <a:ext cx="3611880" cy="2209836"/>
          </a:xfrm>
          <a:prstGeom prst="rect">
            <a:avLst/>
          </a:prstGeom>
          <a:noFill/>
        </p:spPr>
        <p:txBody>
          <a:bodyPr wrap="square" lIns="27432" tIns="27432" rIns="27432" bIns="27432" anchor="t">
            <a:spAutoFit/>
          </a:bodyPr>
          <a:lstStyle/>
          <a:p>
            <a:pPr algn="l">
              <a:lnSpc>
                <a:spcPct val="100000"/>
              </a:lnSpc>
            </a:pPr>
            <a:r>
              <a:rPr sz="2000" b="0" dirty="0">
                <a:solidFill>
                  <a:srgbClr val="262B2A"/>
                </a:solidFill>
                <a:latin typeface="Aptos"/>
              </a:rPr>
              <a:t>Noor • Joud • Joud Al Fatih
• Choose evidence independently
• Ask: “How does this prove it?”
• Require relevance
• Build full P → E → E response</a:t>
            </a:r>
          </a:p>
        </p:txBody>
      </p:sp>
      <p:sp>
        <p:nvSpPr>
          <p:cNvPr id="15" name="Rounded Rectangle 14"/>
          <p:cNvSpPr/>
          <p:nvPr/>
        </p:nvSpPr>
        <p:spPr>
          <a:xfrm>
            <a:off x="8001000" y="1600200"/>
            <a:ext cx="3611880" cy="3520440"/>
          </a:xfrm>
          <a:prstGeom prst="roundRect">
            <a:avLst/>
          </a:prstGeom>
          <a:solidFill>
            <a:srgbClr val="E1EFE4"/>
          </a:solidFill>
          <a:ln w="15240">
            <a:solidFill>
              <a:srgbClr val="E1E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001000" y="1600200"/>
            <a:ext cx="73152" cy="3520440"/>
          </a:xfrm>
          <a:prstGeom prst="rect">
            <a:avLst/>
          </a:prstGeom>
          <a:solidFill>
            <a:srgbClr val="3A7757"/>
          </a:solidFill>
          <a:ln>
            <a:solidFill>
              <a:srgbClr val="3A77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02168" y="1764792"/>
            <a:ext cx="3246120" cy="320040"/>
          </a:xfrm>
          <a:prstGeom prst="rect">
            <a:avLst/>
          </a:prstGeom>
          <a:noFill/>
        </p:spPr>
        <p:txBody>
          <a:bodyPr wrap="square" lIns="27432" tIns="27432" rIns="27432" bIns="27432" anchor="t">
            <a:spAutoFit/>
          </a:bodyPr>
          <a:lstStyle/>
          <a:p>
            <a:pPr algn="l">
              <a:lnSpc>
                <a:spcPct val="100000"/>
              </a:lnSpc>
            </a:pPr>
            <a:r>
              <a:rPr sz="1500" b="1">
                <a:solidFill>
                  <a:srgbClr val="1F5340"/>
                </a:solidFill>
                <a:latin typeface="Aptos Display"/>
              </a:rPr>
              <a:t>MORE INDEPENDENT</a:t>
            </a:r>
          </a:p>
        </p:txBody>
      </p:sp>
      <p:sp>
        <p:nvSpPr>
          <p:cNvPr id="18" name="TextBox 17"/>
          <p:cNvSpPr txBox="1"/>
          <p:nvPr/>
        </p:nvSpPr>
        <p:spPr>
          <a:xfrm>
            <a:off x="8147304" y="2161515"/>
            <a:ext cx="3502152" cy="1902059"/>
          </a:xfrm>
          <a:prstGeom prst="rect">
            <a:avLst/>
          </a:prstGeom>
          <a:noFill/>
        </p:spPr>
        <p:txBody>
          <a:bodyPr wrap="square" lIns="27432" tIns="27432" rIns="27432" bIns="27432" anchor="t">
            <a:spAutoFit/>
          </a:bodyPr>
          <a:lstStyle/>
          <a:p>
            <a:pPr algn="l">
              <a:lnSpc>
                <a:spcPct val="100000"/>
              </a:lnSpc>
            </a:pPr>
            <a:r>
              <a:rPr sz="2000" b="0" dirty="0">
                <a:solidFill>
                  <a:srgbClr val="262B2A"/>
                </a:solidFill>
                <a:latin typeface="Aptos"/>
              </a:rPr>
              <a:t>Mai • Habiba
• Precise character vocabulary
• Second evidence/detail
• Deeper explanation
• Self-edit independently</a:t>
            </a:r>
          </a:p>
        </p:txBody>
      </p:sp>
      <p:sp>
        <p:nvSpPr>
          <p:cNvPr id="19" name="Rounded Rectangle 18"/>
          <p:cNvSpPr/>
          <p:nvPr/>
        </p:nvSpPr>
        <p:spPr>
          <a:xfrm>
            <a:off x="1188720" y="5440680"/>
            <a:ext cx="9784080" cy="530352"/>
          </a:xfrm>
          <a:prstGeom prst="roundRect">
            <a:avLst/>
          </a:prstGeom>
          <a:solidFill>
            <a:srgbClr val="FFFFFF"/>
          </a:solidFill>
          <a:ln w="1524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417320" y="5371321"/>
            <a:ext cx="9326880" cy="609398"/>
          </a:xfrm>
          <a:prstGeom prst="rect">
            <a:avLst/>
          </a:prstGeom>
          <a:noFill/>
        </p:spPr>
        <p:txBody>
          <a:bodyPr wrap="square" lIns="27432" tIns="27432" rIns="27432" bIns="27432" anchor="t">
            <a:spAutoFit/>
          </a:bodyPr>
          <a:lstStyle/>
          <a:p>
            <a:pPr algn="ctr">
              <a:lnSpc>
                <a:spcPct val="100000"/>
              </a:lnSpc>
            </a:pPr>
            <a:r>
              <a:rPr b="1" dirty="0">
                <a:solidFill>
                  <a:srgbClr val="262B2A"/>
                </a:solidFill>
                <a:latin typeface="Aptos"/>
              </a:rPr>
              <a:t>Teacher prompts: </a:t>
            </a:r>
            <a:endParaRPr lang="en-US" b="1" dirty="0">
              <a:solidFill>
                <a:srgbClr val="262B2A"/>
              </a:solidFill>
              <a:latin typeface="Aptos"/>
            </a:endParaRPr>
          </a:p>
          <a:p>
            <a:pPr algn="ctr">
              <a:lnSpc>
                <a:spcPct val="100000"/>
              </a:lnSpc>
            </a:pPr>
            <a:r>
              <a:rPr b="1" dirty="0">
                <a:solidFill>
                  <a:srgbClr val="262B2A"/>
                </a:solidFill>
                <a:latin typeface="Aptos"/>
              </a:rPr>
              <a:t>“Where is your evidence?” • “What does it show?” • “What happened because of that?”</a:t>
            </a:r>
          </a:p>
        </p:txBody>
      </p:sp>
      <p:sp>
        <p:nvSpPr>
          <p:cNvPr id="21" name="TextBox 20"/>
          <p:cNvSpPr txBox="1"/>
          <p:nvPr/>
        </p:nvSpPr>
        <p:spPr>
          <a:xfrm>
            <a:off x="621792" y="6519672"/>
            <a:ext cx="6400800" cy="182880"/>
          </a:xfrm>
          <a:prstGeom prst="rect">
            <a:avLst/>
          </a:prstGeom>
          <a:noFill/>
        </p:spPr>
        <p:txBody>
          <a:bodyPr wrap="square" lIns="27432" tIns="27432" rIns="27432" bIns="27432" anchor="t">
            <a:spAutoFit/>
          </a:bodyPr>
          <a:lstStyle/>
          <a:p>
            <a:pPr algn="l">
              <a:lnSpc>
                <a:spcPct val="100000"/>
              </a:lnSpc>
            </a:pPr>
            <a:r>
              <a:rPr sz="800" b="1">
                <a:solidFill>
                  <a:srgbClr val="666C67"/>
                </a:solidFill>
                <a:latin typeface="Aptos"/>
              </a:rPr>
              <a:t>YEAR 5 • UNIT 1 • THE ANT &amp; THE GRASSHOPPER</a:t>
            </a:r>
          </a:p>
        </p:txBody>
      </p:sp>
      <p:sp>
        <p:nvSpPr>
          <p:cNvPr id="22" name="Oval 21"/>
          <p:cNvSpPr/>
          <p:nvPr/>
        </p:nvSpPr>
        <p:spPr>
          <a:xfrm>
            <a:off x="11201400" y="6510528"/>
            <a:ext cx="91440" cy="91440"/>
          </a:xfrm>
          <a:prstGeom prst="ellipse">
            <a:avLst/>
          </a:prstGeom>
          <a:solidFill>
            <a:srgbClr val="F4BE41"/>
          </a:solidFill>
          <a:ln>
            <a:solidFill>
              <a:srgbClr val="F4BE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11402568" y="6510528"/>
            <a:ext cx="91440" cy="91440"/>
          </a:xfrm>
          <a:prstGeom prst="ellipse">
            <a:avLst/>
          </a:prstGeom>
          <a:solidFill>
            <a:srgbClr val="DD6952"/>
          </a:solidFill>
          <a:ln>
            <a:solidFill>
              <a:srgbClr val="DD69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11603736" y="6510528"/>
            <a:ext cx="91440" cy="91440"/>
          </a:xfrm>
          <a:prstGeom prst="ellipse">
            <a:avLst/>
          </a:prstGeom>
          <a:solidFill>
            <a:srgbClr val="3A7757"/>
          </a:solidFill>
          <a:ln>
            <a:solidFill>
              <a:srgbClr val="3A77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AF7EF"/>
        </a:solidFill>
        <a:effectLst/>
      </p:bgPr>
    </p:bg>
    <p:spTree>
      <p:nvGrpSpPr>
        <p:cNvPr id="1" name=""/>
        <p:cNvGrpSpPr/>
        <p:nvPr/>
      </p:nvGrpSpPr>
      <p:grpSpPr>
        <a:xfrm>
          <a:off x="0" y="0"/>
          <a:ext cx="0" cy="0"/>
          <a:chOff x="0" y="0"/>
          <a:chExt cx="0" cy="0"/>
        </a:xfrm>
      </p:grpSpPr>
      <p:sp>
        <p:nvSpPr>
          <p:cNvPr id="2" name="TextBox 1"/>
          <p:cNvSpPr txBox="1"/>
          <p:nvPr/>
        </p:nvSpPr>
        <p:spPr>
          <a:xfrm>
            <a:off x="594360" y="292608"/>
            <a:ext cx="3657600" cy="256032"/>
          </a:xfrm>
          <a:prstGeom prst="rect">
            <a:avLst/>
          </a:prstGeom>
          <a:noFill/>
        </p:spPr>
        <p:txBody>
          <a:bodyPr wrap="square" lIns="27432" tIns="27432" rIns="27432" bIns="27432" anchor="t">
            <a:spAutoFit/>
          </a:bodyPr>
          <a:lstStyle/>
          <a:p>
            <a:pPr algn="l">
              <a:lnSpc>
                <a:spcPct val="100000"/>
              </a:lnSpc>
            </a:pPr>
            <a:r>
              <a:rPr sz="1000" b="1">
                <a:solidFill>
                  <a:srgbClr val="3A7757"/>
                </a:solidFill>
                <a:latin typeface="Aptos"/>
              </a:rPr>
              <a:t>TEACHER AT A GLANCE</a:t>
            </a:r>
          </a:p>
        </p:txBody>
      </p:sp>
      <p:sp>
        <p:nvSpPr>
          <p:cNvPr id="3" name="TextBox 2"/>
          <p:cNvSpPr txBox="1"/>
          <p:nvPr/>
        </p:nvSpPr>
        <p:spPr>
          <a:xfrm>
            <a:off x="594360" y="603504"/>
            <a:ext cx="10515600" cy="640080"/>
          </a:xfrm>
          <a:prstGeom prst="rect">
            <a:avLst/>
          </a:prstGeom>
          <a:noFill/>
        </p:spPr>
        <p:txBody>
          <a:bodyPr wrap="square" lIns="27432" tIns="27432" rIns="27432" bIns="27432" anchor="t">
            <a:spAutoFit/>
          </a:bodyPr>
          <a:lstStyle/>
          <a:p>
            <a:pPr algn="l">
              <a:lnSpc>
                <a:spcPct val="100000"/>
              </a:lnSpc>
            </a:pPr>
            <a:r>
              <a:rPr sz="2800" b="1">
                <a:solidFill>
                  <a:srgbClr val="1F5340"/>
                </a:solidFill>
                <a:latin typeface="Aptos Display"/>
              </a:rPr>
              <a:t>60-minute lesson flow</a:t>
            </a:r>
          </a:p>
        </p:txBody>
      </p:sp>
      <p:sp>
        <p:nvSpPr>
          <p:cNvPr id="4" name="Oval 3"/>
          <p:cNvSpPr/>
          <p:nvPr/>
        </p:nvSpPr>
        <p:spPr>
          <a:xfrm>
            <a:off x="11155680" y="320040"/>
            <a:ext cx="438912" cy="438912"/>
          </a:xfrm>
          <a:prstGeom prst="ellipse">
            <a:avLst/>
          </a:prstGeom>
          <a:solidFill>
            <a:srgbClr val="1F5340"/>
          </a:solidFill>
          <a:ln>
            <a:solidFill>
              <a:srgbClr val="1F53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155680" y="356616"/>
            <a:ext cx="438912" cy="310896"/>
          </a:xfrm>
          <a:prstGeom prst="rect">
            <a:avLst/>
          </a:prstGeom>
          <a:noFill/>
        </p:spPr>
        <p:txBody>
          <a:bodyPr wrap="square" lIns="27432" tIns="27432" rIns="27432" bIns="27432" anchor="ctr">
            <a:spAutoFit/>
          </a:bodyPr>
          <a:lstStyle/>
          <a:p>
            <a:pPr algn="ctr">
              <a:lnSpc>
                <a:spcPct val="100000"/>
              </a:lnSpc>
            </a:pPr>
            <a:r>
              <a:t>22</a:t>
            </a:r>
          </a:p>
        </p:txBody>
      </p:sp>
      <p:sp>
        <p:nvSpPr>
          <p:cNvPr id="6" name="Rectangle 5"/>
          <p:cNvSpPr/>
          <p:nvPr/>
        </p:nvSpPr>
        <p:spPr>
          <a:xfrm>
            <a:off x="594360" y="1353312"/>
            <a:ext cx="914400" cy="64008"/>
          </a:xfrm>
          <a:prstGeom prst="rect">
            <a:avLst/>
          </a:prstGeom>
          <a:solidFill>
            <a:srgbClr val="F4BE41"/>
          </a:solidFill>
          <a:ln>
            <a:solidFill>
              <a:srgbClr val="F4BE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40080" y="1691640"/>
            <a:ext cx="2560320" cy="1508760"/>
          </a:xfrm>
          <a:prstGeom prst="roundRect">
            <a:avLst/>
          </a:prstGeom>
          <a:solidFill>
            <a:srgbClr val="FFFFFF"/>
          </a:solidFill>
          <a:ln w="1524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04671" y="1837944"/>
            <a:ext cx="868680" cy="384048"/>
          </a:xfrm>
          <a:prstGeom prst="roundRect">
            <a:avLst/>
          </a:prstGeom>
          <a:solidFill>
            <a:srgbClr val="FFF4CD"/>
          </a:solidFill>
          <a:ln w="15240">
            <a:solidFill>
              <a:srgbClr val="FFF4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50392" y="1883664"/>
            <a:ext cx="777240" cy="274320"/>
          </a:xfrm>
          <a:prstGeom prst="rect">
            <a:avLst/>
          </a:prstGeom>
          <a:noFill/>
        </p:spPr>
        <p:txBody>
          <a:bodyPr wrap="square" lIns="27432" tIns="27432" rIns="27432" bIns="27432" anchor="ctr">
            <a:spAutoFit/>
          </a:bodyPr>
          <a:lstStyle/>
          <a:p>
            <a:pPr algn="ctr">
              <a:lnSpc>
                <a:spcPct val="100000"/>
              </a:lnSpc>
            </a:pPr>
            <a:r>
              <a:t>0–4</a:t>
            </a:r>
          </a:p>
        </p:txBody>
      </p:sp>
      <p:sp>
        <p:nvSpPr>
          <p:cNvPr id="10" name="TextBox 9"/>
          <p:cNvSpPr txBox="1"/>
          <p:nvPr/>
        </p:nvSpPr>
        <p:spPr>
          <a:xfrm>
            <a:off x="804671" y="2350008"/>
            <a:ext cx="2194560" cy="274320"/>
          </a:xfrm>
          <a:prstGeom prst="rect">
            <a:avLst/>
          </a:prstGeom>
          <a:noFill/>
        </p:spPr>
        <p:txBody>
          <a:bodyPr wrap="square" lIns="27432" tIns="27432" rIns="27432" bIns="27432" anchor="t">
            <a:spAutoFit/>
          </a:bodyPr>
          <a:lstStyle/>
          <a:p>
            <a:pPr algn="ctr">
              <a:lnSpc>
                <a:spcPct val="100000"/>
              </a:lnSpc>
            </a:pPr>
            <a:r>
              <a:t>COLD START</a:t>
            </a:r>
          </a:p>
        </p:txBody>
      </p:sp>
      <p:sp>
        <p:nvSpPr>
          <p:cNvPr id="11" name="TextBox 10"/>
          <p:cNvSpPr txBox="1"/>
          <p:nvPr/>
        </p:nvSpPr>
        <p:spPr>
          <a:xfrm>
            <a:off x="868680" y="2679192"/>
            <a:ext cx="2103120" cy="347472"/>
          </a:xfrm>
          <a:prstGeom prst="rect">
            <a:avLst/>
          </a:prstGeom>
          <a:noFill/>
        </p:spPr>
        <p:txBody>
          <a:bodyPr wrap="square" lIns="27432" tIns="27432" rIns="27432" bIns="27432" anchor="t">
            <a:spAutoFit/>
          </a:bodyPr>
          <a:lstStyle/>
          <a:p>
            <a:pPr algn="ctr">
              <a:lnSpc>
                <a:spcPct val="100000"/>
              </a:lnSpc>
            </a:pPr>
            <a:r>
              <a:t>Independent baseline</a:t>
            </a:r>
          </a:p>
        </p:txBody>
      </p:sp>
      <p:sp>
        <p:nvSpPr>
          <p:cNvPr id="12" name="Rounded Rectangle 11"/>
          <p:cNvSpPr/>
          <p:nvPr/>
        </p:nvSpPr>
        <p:spPr>
          <a:xfrm>
            <a:off x="3520439" y="1691640"/>
            <a:ext cx="2560320" cy="1508760"/>
          </a:xfrm>
          <a:prstGeom prst="roundRect">
            <a:avLst/>
          </a:prstGeom>
          <a:solidFill>
            <a:srgbClr val="FFFFFF"/>
          </a:solidFill>
          <a:ln w="1524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3685031" y="1837944"/>
            <a:ext cx="868680" cy="384048"/>
          </a:xfrm>
          <a:prstGeom prst="roundRect">
            <a:avLst/>
          </a:prstGeom>
          <a:solidFill>
            <a:srgbClr val="FFF4CD"/>
          </a:solidFill>
          <a:ln w="15240">
            <a:solidFill>
              <a:srgbClr val="FFF4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730751" y="1883664"/>
            <a:ext cx="777240" cy="274320"/>
          </a:xfrm>
          <a:prstGeom prst="rect">
            <a:avLst/>
          </a:prstGeom>
          <a:noFill/>
        </p:spPr>
        <p:txBody>
          <a:bodyPr wrap="square" lIns="27432" tIns="27432" rIns="27432" bIns="27432" anchor="ctr">
            <a:spAutoFit/>
          </a:bodyPr>
          <a:lstStyle/>
          <a:p>
            <a:pPr algn="ctr">
              <a:lnSpc>
                <a:spcPct val="100000"/>
              </a:lnSpc>
            </a:pPr>
            <a:r>
              <a:t>4–6</a:t>
            </a:r>
          </a:p>
        </p:txBody>
      </p:sp>
      <p:sp>
        <p:nvSpPr>
          <p:cNvPr id="15" name="TextBox 14"/>
          <p:cNvSpPr txBox="1"/>
          <p:nvPr/>
        </p:nvSpPr>
        <p:spPr>
          <a:xfrm>
            <a:off x="3685031" y="2350008"/>
            <a:ext cx="2194560" cy="274320"/>
          </a:xfrm>
          <a:prstGeom prst="rect">
            <a:avLst/>
          </a:prstGeom>
          <a:noFill/>
        </p:spPr>
        <p:txBody>
          <a:bodyPr wrap="square" lIns="27432" tIns="27432" rIns="27432" bIns="27432" anchor="t">
            <a:spAutoFit/>
          </a:bodyPr>
          <a:lstStyle/>
          <a:p>
            <a:pPr algn="ctr">
              <a:lnSpc>
                <a:spcPct val="100000"/>
              </a:lnSpc>
            </a:pPr>
            <a:r>
              <a:t>ACTIVATE</a:t>
            </a:r>
          </a:p>
        </p:txBody>
      </p:sp>
      <p:sp>
        <p:nvSpPr>
          <p:cNvPr id="16" name="TextBox 15"/>
          <p:cNvSpPr txBox="1"/>
          <p:nvPr/>
        </p:nvSpPr>
        <p:spPr>
          <a:xfrm>
            <a:off x="3749039" y="2679192"/>
            <a:ext cx="2103120" cy="347472"/>
          </a:xfrm>
          <a:prstGeom prst="rect">
            <a:avLst/>
          </a:prstGeom>
          <a:noFill/>
        </p:spPr>
        <p:txBody>
          <a:bodyPr wrap="square" lIns="27432" tIns="27432" rIns="27432" bIns="27432" anchor="t">
            <a:spAutoFit/>
          </a:bodyPr>
          <a:lstStyle/>
          <a:p>
            <a:pPr algn="ctr">
              <a:lnSpc>
                <a:spcPct val="100000"/>
              </a:lnSpc>
            </a:pPr>
            <a:r>
              <a:t>Purpose + features</a:t>
            </a:r>
          </a:p>
        </p:txBody>
      </p:sp>
      <p:sp>
        <p:nvSpPr>
          <p:cNvPr id="17" name="Rounded Rectangle 16"/>
          <p:cNvSpPr/>
          <p:nvPr/>
        </p:nvSpPr>
        <p:spPr>
          <a:xfrm>
            <a:off x="6400800" y="1691640"/>
            <a:ext cx="2560320" cy="1508760"/>
          </a:xfrm>
          <a:prstGeom prst="roundRect">
            <a:avLst/>
          </a:prstGeom>
          <a:solidFill>
            <a:srgbClr val="FFFFFF"/>
          </a:solidFill>
          <a:ln w="1524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6565392" y="1837944"/>
            <a:ext cx="868680" cy="384048"/>
          </a:xfrm>
          <a:prstGeom prst="roundRect">
            <a:avLst/>
          </a:prstGeom>
          <a:solidFill>
            <a:srgbClr val="FFF4CD"/>
          </a:solidFill>
          <a:ln w="15240">
            <a:solidFill>
              <a:srgbClr val="FFF4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611112" y="1883664"/>
            <a:ext cx="777240" cy="274320"/>
          </a:xfrm>
          <a:prstGeom prst="rect">
            <a:avLst/>
          </a:prstGeom>
          <a:noFill/>
        </p:spPr>
        <p:txBody>
          <a:bodyPr wrap="square" lIns="27432" tIns="27432" rIns="27432" bIns="27432" anchor="ctr">
            <a:spAutoFit/>
          </a:bodyPr>
          <a:lstStyle/>
          <a:p>
            <a:pPr algn="ctr">
              <a:lnSpc>
                <a:spcPct val="100000"/>
              </a:lnSpc>
            </a:pPr>
            <a:r>
              <a:t>6–13</a:t>
            </a:r>
          </a:p>
        </p:txBody>
      </p:sp>
      <p:sp>
        <p:nvSpPr>
          <p:cNvPr id="20" name="TextBox 19"/>
          <p:cNvSpPr txBox="1"/>
          <p:nvPr/>
        </p:nvSpPr>
        <p:spPr>
          <a:xfrm>
            <a:off x="6565392" y="2350008"/>
            <a:ext cx="2194560" cy="274320"/>
          </a:xfrm>
          <a:prstGeom prst="rect">
            <a:avLst/>
          </a:prstGeom>
          <a:noFill/>
        </p:spPr>
        <p:txBody>
          <a:bodyPr wrap="square" lIns="27432" tIns="27432" rIns="27432" bIns="27432" anchor="t">
            <a:spAutoFit/>
          </a:bodyPr>
          <a:lstStyle/>
          <a:p>
            <a:pPr algn="ctr">
              <a:lnSpc>
                <a:spcPct val="100000"/>
              </a:lnSpc>
            </a:pPr>
            <a:r>
              <a:t>READ</a:t>
            </a:r>
          </a:p>
        </p:txBody>
      </p:sp>
      <p:sp>
        <p:nvSpPr>
          <p:cNvPr id="21" name="TextBox 20"/>
          <p:cNvSpPr txBox="1"/>
          <p:nvPr/>
        </p:nvSpPr>
        <p:spPr>
          <a:xfrm>
            <a:off x="6629400" y="2679192"/>
            <a:ext cx="2103120" cy="347472"/>
          </a:xfrm>
          <a:prstGeom prst="rect">
            <a:avLst/>
          </a:prstGeom>
          <a:noFill/>
        </p:spPr>
        <p:txBody>
          <a:bodyPr wrap="square" lIns="27432" tIns="27432" rIns="27432" bIns="27432" anchor="t">
            <a:spAutoFit/>
          </a:bodyPr>
          <a:lstStyle/>
          <a:p>
            <a:pPr algn="ctr">
              <a:lnSpc>
                <a:spcPct val="100000"/>
              </a:lnSpc>
            </a:pPr>
            <a:r>
              <a:t>Read Parts 1–2</a:t>
            </a:r>
          </a:p>
        </p:txBody>
      </p:sp>
      <p:sp>
        <p:nvSpPr>
          <p:cNvPr id="22" name="Rounded Rectangle 21"/>
          <p:cNvSpPr/>
          <p:nvPr/>
        </p:nvSpPr>
        <p:spPr>
          <a:xfrm>
            <a:off x="9281159" y="1691640"/>
            <a:ext cx="2560320" cy="1508760"/>
          </a:xfrm>
          <a:prstGeom prst="roundRect">
            <a:avLst/>
          </a:prstGeom>
          <a:solidFill>
            <a:srgbClr val="FFFFFF"/>
          </a:solidFill>
          <a:ln w="1524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9445751" y="1837944"/>
            <a:ext cx="868680" cy="384048"/>
          </a:xfrm>
          <a:prstGeom prst="roundRect">
            <a:avLst/>
          </a:prstGeom>
          <a:solidFill>
            <a:srgbClr val="FFF4CD"/>
          </a:solidFill>
          <a:ln w="15240">
            <a:solidFill>
              <a:srgbClr val="FFF4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491472" y="1883664"/>
            <a:ext cx="777240" cy="274320"/>
          </a:xfrm>
          <a:prstGeom prst="rect">
            <a:avLst/>
          </a:prstGeom>
          <a:noFill/>
        </p:spPr>
        <p:txBody>
          <a:bodyPr wrap="square" lIns="27432" tIns="27432" rIns="27432" bIns="27432" anchor="ctr">
            <a:spAutoFit/>
          </a:bodyPr>
          <a:lstStyle/>
          <a:p>
            <a:pPr algn="ctr">
              <a:lnSpc>
                <a:spcPct val="100000"/>
              </a:lnSpc>
            </a:pPr>
            <a:r>
              <a:t>13–16</a:t>
            </a:r>
          </a:p>
        </p:txBody>
      </p:sp>
      <p:sp>
        <p:nvSpPr>
          <p:cNvPr id="25" name="TextBox 24"/>
          <p:cNvSpPr txBox="1"/>
          <p:nvPr/>
        </p:nvSpPr>
        <p:spPr>
          <a:xfrm>
            <a:off x="9445751" y="2350008"/>
            <a:ext cx="2194560" cy="274320"/>
          </a:xfrm>
          <a:prstGeom prst="rect">
            <a:avLst/>
          </a:prstGeom>
          <a:noFill/>
        </p:spPr>
        <p:txBody>
          <a:bodyPr wrap="square" lIns="27432" tIns="27432" rIns="27432" bIns="27432" anchor="t">
            <a:spAutoFit/>
          </a:bodyPr>
          <a:lstStyle/>
          <a:p>
            <a:pPr algn="ctr">
              <a:lnSpc>
                <a:spcPct val="100000"/>
              </a:lnSpc>
            </a:pPr>
            <a:r>
              <a:t>VOCAB + INFER</a:t>
            </a:r>
          </a:p>
        </p:txBody>
      </p:sp>
      <p:sp>
        <p:nvSpPr>
          <p:cNvPr id="26" name="TextBox 25"/>
          <p:cNvSpPr txBox="1"/>
          <p:nvPr/>
        </p:nvSpPr>
        <p:spPr>
          <a:xfrm>
            <a:off x="9509759" y="2679192"/>
            <a:ext cx="2103120" cy="347472"/>
          </a:xfrm>
          <a:prstGeom prst="rect">
            <a:avLst/>
          </a:prstGeom>
          <a:noFill/>
        </p:spPr>
        <p:txBody>
          <a:bodyPr wrap="square" lIns="27432" tIns="27432" rIns="27432" bIns="27432" anchor="t">
            <a:spAutoFit/>
          </a:bodyPr>
          <a:lstStyle/>
          <a:p>
            <a:pPr algn="ctr">
              <a:lnSpc>
                <a:spcPct val="100000"/>
              </a:lnSpc>
            </a:pPr>
            <a:r>
              <a:t>Vocabulary + inference</a:t>
            </a:r>
          </a:p>
        </p:txBody>
      </p:sp>
      <p:sp>
        <p:nvSpPr>
          <p:cNvPr id="27" name="Rounded Rectangle 26"/>
          <p:cNvSpPr/>
          <p:nvPr/>
        </p:nvSpPr>
        <p:spPr>
          <a:xfrm>
            <a:off x="640080" y="3657600"/>
            <a:ext cx="2560320" cy="1508760"/>
          </a:xfrm>
          <a:prstGeom prst="roundRect">
            <a:avLst/>
          </a:prstGeom>
          <a:solidFill>
            <a:srgbClr val="FFFFFF"/>
          </a:solidFill>
          <a:ln w="1524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804671" y="3803904"/>
            <a:ext cx="868680" cy="384048"/>
          </a:xfrm>
          <a:prstGeom prst="roundRect">
            <a:avLst/>
          </a:prstGeom>
          <a:solidFill>
            <a:srgbClr val="FFF4CD"/>
          </a:solidFill>
          <a:ln w="15240">
            <a:solidFill>
              <a:srgbClr val="FFF4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50392" y="3849624"/>
            <a:ext cx="777240" cy="274320"/>
          </a:xfrm>
          <a:prstGeom prst="rect">
            <a:avLst/>
          </a:prstGeom>
          <a:noFill/>
        </p:spPr>
        <p:txBody>
          <a:bodyPr wrap="square" lIns="27432" tIns="27432" rIns="27432" bIns="27432" anchor="ctr">
            <a:spAutoFit/>
          </a:bodyPr>
          <a:lstStyle/>
          <a:p>
            <a:pPr algn="ctr">
              <a:lnSpc>
                <a:spcPct val="100000"/>
              </a:lnSpc>
            </a:pPr>
            <a:r>
              <a:t>16–26</a:t>
            </a:r>
          </a:p>
        </p:txBody>
      </p:sp>
      <p:sp>
        <p:nvSpPr>
          <p:cNvPr id="30" name="TextBox 29"/>
          <p:cNvSpPr txBox="1"/>
          <p:nvPr/>
        </p:nvSpPr>
        <p:spPr>
          <a:xfrm>
            <a:off x="804671" y="4315968"/>
            <a:ext cx="2194560" cy="274320"/>
          </a:xfrm>
          <a:prstGeom prst="rect">
            <a:avLst/>
          </a:prstGeom>
          <a:noFill/>
        </p:spPr>
        <p:txBody>
          <a:bodyPr wrap="square" lIns="27432" tIns="27432" rIns="27432" bIns="27432" anchor="t">
            <a:spAutoFit/>
          </a:bodyPr>
          <a:lstStyle/>
          <a:p>
            <a:pPr algn="ctr">
              <a:lnSpc>
                <a:spcPct val="100000"/>
              </a:lnSpc>
            </a:pPr>
            <a:r>
              <a:t>DETECTIVE + FREEZE</a:t>
            </a:r>
          </a:p>
        </p:txBody>
      </p:sp>
      <p:sp>
        <p:nvSpPr>
          <p:cNvPr id="31" name="TextBox 30"/>
          <p:cNvSpPr txBox="1"/>
          <p:nvPr/>
        </p:nvSpPr>
        <p:spPr>
          <a:xfrm>
            <a:off x="868680" y="4645152"/>
            <a:ext cx="2103120" cy="347472"/>
          </a:xfrm>
          <a:prstGeom prst="rect">
            <a:avLst/>
          </a:prstGeom>
          <a:noFill/>
        </p:spPr>
        <p:txBody>
          <a:bodyPr wrap="square" lIns="27432" tIns="27432" rIns="27432" bIns="27432" anchor="t">
            <a:spAutoFit/>
          </a:bodyPr>
          <a:lstStyle/>
          <a:p>
            <a:pPr algn="ctr">
              <a:lnSpc>
                <a:spcPct val="100000"/>
              </a:lnSpc>
            </a:pPr>
            <a:r>
              <a:t>Evidence + character</a:t>
            </a:r>
          </a:p>
        </p:txBody>
      </p:sp>
      <p:sp>
        <p:nvSpPr>
          <p:cNvPr id="32" name="Rounded Rectangle 31"/>
          <p:cNvSpPr/>
          <p:nvPr/>
        </p:nvSpPr>
        <p:spPr>
          <a:xfrm>
            <a:off x="3520439" y="3657600"/>
            <a:ext cx="2560320" cy="1508760"/>
          </a:xfrm>
          <a:prstGeom prst="roundRect">
            <a:avLst/>
          </a:prstGeom>
          <a:solidFill>
            <a:srgbClr val="FFFFFF"/>
          </a:solidFill>
          <a:ln w="1524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3685031" y="3803904"/>
            <a:ext cx="868680" cy="384048"/>
          </a:xfrm>
          <a:prstGeom prst="roundRect">
            <a:avLst/>
          </a:prstGeom>
          <a:solidFill>
            <a:srgbClr val="FFF4CD"/>
          </a:solidFill>
          <a:ln w="15240">
            <a:solidFill>
              <a:srgbClr val="FFF4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730751" y="3849624"/>
            <a:ext cx="777240" cy="274320"/>
          </a:xfrm>
          <a:prstGeom prst="rect">
            <a:avLst/>
          </a:prstGeom>
          <a:noFill/>
        </p:spPr>
        <p:txBody>
          <a:bodyPr wrap="square" lIns="27432" tIns="27432" rIns="27432" bIns="27432" anchor="ctr">
            <a:spAutoFit/>
          </a:bodyPr>
          <a:lstStyle/>
          <a:p>
            <a:pPr algn="ctr">
              <a:lnSpc>
                <a:spcPct val="100000"/>
              </a:lnSpc>
            </a:pPr>
            <a:r>
              <a:t>26–34</a:t>
            </a:r>
          </a:p>
        </p:txBody>
      </p:sp>
      <p:sp>
        <p:nvSpPr>
          <p:cNvPr id="35" name="TextBox 34"/>
          <p:cNvSpPr txBox="1"/>
          <p:nvPr/>
        </p:nvSpPr>
        <p:spPr>
          <a:xfrm>
            <a:off x="3685031" y="4315968"/>
            <a:ext cx="2194560" cy="274320"/>
          </a:xfrm>
          <a:prstGeom prst="rect">
            <a:avLst/>
          </a:prstGeom>
          <a:noFill/>
        </p:spPr>
        <p:txBody>
          <a:bodyPr wrap="square" lIns="27432" tIns="27432" rIns="27432" bIns="27432" anchor="t">
            <a:spAutoFit/>
          </a:bodyPr>
          <a:lstStyle/>
          <a:p>
            <a:pPr algn="ctr">
              <a:lnSpc>
                <a:spcPct val="100000"/>
              </a:lnSpc>
            </a:pPr>
            <a:r>
              <a:t>MODEL + GUIDED</a:t>
            </a:r>
          </a:p>
        </p:txBody>
      </p:sp>
      <p:sp>
        <p:nvSpPr>
          <p:cNvPr id="36" name="TextBox 35"/>
          <p:cNvSpPr txBox="1"/>
          <p:nvPr/>
        </p:nvSpPr>
        <p:spPr>
          <a:xfrm>
            <a:off x="3749039" y="4645152"/>
            <a:ext cx="2103120" cy="347472"/>
          </a:xfrm>
          <a:prstGeom prst="rect">
            <a:avLst/>
          </a:prstGeom>
          <a:noFill/>
        </p:spPr>
        <p:txBody>
          <a:bodyPr wrap="square" lIns="27432" tIns="27432" rIns="27432" bIns="27432" anchor="t">
            <a:spAutoFit/>
          </a:bodyPr>
          <a:lstStyle/>
          <a:p>
            <a:pPr algn="ctr">
              <a:lnSpc>
                <a:spcPct val="100000"/>
              </a:lnSpc>
            </a:pPr>
            <a:r>
              <a:t>Teach + rehearse</a:t>
            </a:r>
          </a:p>
        </p:txBody>
      </p:sp>
      <p:sp>
        <p:nvSpPr>
          <p:cNvPr id="37" name="Rounded Rectangle 36"/>
          <p:cNvSpPr/>
          <p:nvPr/>
        </p:nvSpPr>
        <p:spPr>
          <a:xfrm>
            <a:off x="6400800" y="3657600"/>
            <a:ext cx="2560320" cy="1508760"/>
          </a:xfrm>
          <a:prstGeom prst="roundRect">
            <a:avLst/>
          </a:prstGeom>
          <a:solidFill>
            <a:srgbClr val="FFFFFF"/>
          </a:solidFill>
          <a:ln w="1524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ounded Rectangle 37"/>
          <p:cNvSpPr/>
          <p:nvPr/>
        </p:nvSpPr>
        <p:spPr>
          <a:xfrm>
            <a:off x="6565392" y="3803904"/>
            <a:ext cx="868680" cy="384048"/>
          </a:xfrm>
          <a:prstGeom prst="roundRect">
            <a:avLst/>
          </a:prstGeom>
          <a:solidFill>
            <a:srgbClr val="FFF4CD"/>
          </a:solidFill>
          <a:ln w="15240">
            <a:solidFill>
              <a:srgbClr val="FFF4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611112" y="3849624"/>
            <a:ext cx="777240" cy="274320"/>
          </a:xfrm>
          <a:prstGeom prst="rect">
            <a:avLst/>
          </a:prstGeom>
          <a:noFill/>
        </p:spPr>
        <p:txBody>
          <a:bodyPr wrap="square" lIns="27432" tIns="27432" rIns="27432" bIns="27432" anchor="ctr">
            <a:spAutoFit/>
          </a:bodyPr>
          <a:lstStyle/>
          <a:p>
            <a:pPr algn="ctr">
              <a:lnSpc>
                <a:spcPct val="100000"/>
              </a:lnSpc>
            </a:pPr>
            <a:r>
              <a:t>34–42</a:t>
            </a:r>
          </a:p>
        </p:txBody>
      </p:sp>
      <p:sp>
        <p:nvSpPr>
          <p:cNvPr id="40" name="TextBox 39"/>
          <p:cNvSpPr txBox="1"/>
          <p:nvPr/>
        </p:nvSpPr>
        <p:spPr>
          <a:xfrm>
            <a:off x="6565392" y="4315968"/>
            <a:ext cx="2194560" cy="274320"/>
          </a:xfrm>
          <a:prstGeom prst="rect">
            <a:avLst/>
          </a:prstGeom>
          <a:noFill/>
        </p:spPr>
        <p:txBody>
          <a:bodyPr wrap="square" lIns="27432" tIns="27432" rIns="27432" bIns="27432" anchor="t">
            <a:spAutoFit/>
          </a:bodyPr>
          <a:lstStyle/>
          <a:p>
            <a:pPr algn="ctr">
              <a:lnSpc>
                <a:spcPct val="100000"/>
              </a:lnSpc>
            </a:pPr>
            <a:r>
              <a:t>INDEPENDENT WRITE</a:t>
            </a:r>
          </a:p>
        </p:txBody>
      </p:sp>
      <p:sp>
        <p:nvSpPr>
          <p:cNvPr id="41" name="TextBox 40"/>
          <p:cNvSpPr txBox="1"/>
          <p:nvPr/>
        </p:nvSpPr>
        <p:spPr>
          <a:xfrm>
            <a:off x="6629400" y="4645152"/>
            <a:ext cx="2103120" cy="347472"/>
          </a:xfrm>
          <a:prstGeom prst="rect">
            <a:avLst/>
          </a:prstGeom>
          <a:noFill/>
        </p:spPr>
        <p:txBody>
          <a:bodyPr wrap="square" lIns="27432" tIns="27432" rIns="27432" bIns="27432" anchor="t">
            <a:spAutoFit/>
          </a:bodyPr>
          <a:lstStyle/>
          <a:p>
            <a:pPr algn="ctr">
              <a:lnSpc>
                <a:spcPct val="100000"/>
              </a:lnSpc>
            </a:pPr>
            <a:r>
              <a:t>Independent writing</a:t>
            </a:r>
          </a:p>
        </p:txBody>
      </p:sp>
      <p:sp>
        <p:nvSpPr>
          <p:cNvPr id="42" name="Rounded Rectangle 41"/>
          <p:cNvSpPr/>
          <p:nvPr/>
        </p:nvSpPr>
        <p:spPr>
          <a:xfrm>
            <a:off x="9281159" y="3657600"/>
            <a:ext cx="2560320" cy="1508760"/>
          </a:xfrm>
          <a:prstGeom prst="roundRect">
            <a:avLst/>
          </a:prstGeom>
          <a:solidFill>
            <a:srgbClr val="FFFFFF"/>
          </a:solidFill>
          <a:ln w="1524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ounded Rectangle 42"/>
          <p:cNvSpPr/>
          <p:nvPr/>
        </p:nvSpPr>
        <p:spPr>
          <a:xfrm>
            <a:off x="9445751" y="3803904"/>
            <a:ext cx="868680" cy="384048"/>
          </a:xfrm>
          <a:prstGeom prst="roundRect">
            <a:avLst/>
          </a:prstGeom>
          <a:solidFill>
            <a:srgbClr val="FFF4CD"/>
          </a:solidFill>
          <a:ln w="15240">
            <a:solidFill>
              <a:srgbClr val="FFF4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9491472" y="3849624"/>
            <a:ext cx="777240" cy="274320"/>
          </a:xfrm>
          <a:prstGeom prst="rect">
            <a:avLst/>
          </a:prstGeom>
          <a:noFill/>
        </p:spPr>
        <p:txBody>
          <a:bodyPr wrap="square" lIns="27432" tIns="27432" rIns="27432" bIns="27432" anchor="ctr">
            <a:spAutoFit/>
          </a:bodyPr>
          <a:lstStyle/>
          <a:p>
            <a:pPr algn="ctr">
              <a:lnSpc>
                <a:spcPct val="100000"/>
              </a:lnSpc>
            </a:pPr>
            <a:r>
              <a:t>42–60</a:t>
            </a:r>
          </a:p>
        </p:txBody>
      </p:sp>
      <p:sp>
        <p:nvSpPr>
          <p:cNvPr id="45" name="TextBox 44"/>
          <p:cNvSpPr txBox="1"/>
          <p:nvPr/>
        </p:nvSpPr>
        <p:spPr>
          <a:xfrm>
            <a:off x="9445751" y="4315968"/>
            <a:ext cx="2194560" cy="274320"/>
          </a:xfrm>
          <a:prstGeom prst="rect">
            <a:avLst/>
          </a:prstGeom>
          <a:noFill/>
        </p:spPr>
        <p:txBody>
          <a:bodyPr wrap="square" lIns="27432" tIns="27432" rIns="27432" bIns="27432" anchor="t">
            <a:spAutoFit/>
          </a:bodyPr>
          <a:lstStyle/>
          <a:p>
            <a:pPr algn="ctr">
              <a:lnSpc>
                <a:spcPct val="100000"/>
              </a:lnSpc>
            </a:pPr>
            <a:r>
              <a:t>EDIT + PLENARY + EXIT</a:t>
            </a:r>
          </a:p>
        </p:txBody>
      </p:sp>
      <p:sp>
        <p:nvSpPr>
          <p:cNvPr id="46" name="TextBox 45"/>
          <p:cNvSpPr txBox="1"/>
          <p:nvPr/>
        </p:nvSpPr>
        <p:spPr>
          <a:xfrm>
            <a:off x="9509759" y="4645152"/>
            <a:ext cx="2103120" cy="347472"/>
          </a:xfrm>
          <a:prstGeom prst="rect">
            <a:avLst/>
          </a:prstGeom>
          <a:noFill/>
        </p:spPr>
        <p:txBody>
          <a:bodyPr wrap="square" lIns="27432" tIns="27432" rIns="27432" bIns="27432" anchor="t">
            <a:spAutoFit/>
          </a:bodyPr>
          <a:lstStyle/>
          <a:p>
            <a:pPr algn="ctr">
              <a:lnSpc>
                <a:spcPct val="100000"/>
              </a:lnSpc>
            </a:pPr>
            <a:r>
              <a:t>Edit + exit evidence</a:t>
            </a:r>
          </a:p>
        </p:txBody>
      </p:sp>
      <p:sp>
        <p:nvSpPr>
          <p:cNvPr id="47" name="Rounded Rectangle 46"/>
          <p:cNvSpPr/>
          <p:nvPr/>
        </p:nvSpPr>
        <p:spPr>
          <a:xfrm>
            <a:off x="1143000" y="5669280"/>
            <a:ext cx="9875520" cy="438912"/>
          </a:xfrm>
          <a:prstGeom prst="roundRect">
            <a:avLst/>
          </a:prstGeom>
          <a:solidFill>
            <a:srgbClr val="1F5340"/>
          </a:solidFill>
          <a:ln w="15240">
            <a:solidFill>
              <a:srgbClr val="1F53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1325880" y="5760720"/>
            <a:ext cx="9509760" cy="332399"/>
          </a:xfrm>
          <a:prstGeom prst="rect">
            <a:avLst/>
          </a:prstGeom>
          <a:noFill/>
        </p:spPr>
        <p:txBody>
          <a:bodyPr wrap="square" lIns="27432" tIns="27432" rIns="27432" bIns="27432" anchor="t">
            <a:spAutoFit/>
          </a:bodyPr>
          <a:lstStyle/>
          <a:p>
            <a:pPr algn="ctr">
              <a:lnSpc>
                <a:spcPct val="100000"/>
              </a:lnSpc>
            </a:pPr>
            <a:r>
              <a:rPr b="1" dirty="0">
                <a:solidFill>
                  <a:schemeClr val="bg1"/>
                </a:solidFill>
              </a:rPr>
              <a:t>CORE HABIT: COLD START → NOTICE → PROVE → BUILD → WRITE → EDIT → REFLECT</a:t>
            </a:r>
          </a:p>
        </p:txBody>
      </p:sp>
      <p:sp>
        <p:nvSpPr>
          <p:cNvPr id="49" name="TextBox 48"/>
          <p:cNvSpPr txBox="1"/>
          <p:nvPr/>
        </p:nvSpPr>
        <p:spPr>
          <a:xfrm>
            <a:off x="621792" y="6519672"/>
            <a:ext cx="6400800" cy="182880"/>
          </a:xfrm>
          <a:prstGeom prst="rect">
            <a:avLst/>
          </a:prstGeom>
          <a:noFill/>
        </p:spPr>
        <p:txBody>
          <a:bodyPr wrap="square" lIns="27432" tIns="27432" rIns="27432" bIns="27432" anchor="t">
            <a:spAutoFit/>
          </a:bodyPr>
          <a:lstStyle/>
          <a:p>
            <a:pPr algn="l">
              <a:lnSpc>
                <a:spcPct val="100000"/>
              </a:lnSpc>
            </a:pPr>
            <a:r>
              <a:rPr sz="800" b="1">
                <a:solidFill>
                  <a:srgbClr val="666C67"/>
                </a:solidFill>
                <a:latin typeface="Aptos"/>
              </a:rPr>
              <a:t>YEAR 5 • UNIT 1 • THE ANT &amp; THE GRASSHOPPER</a:t>
            </a:r>
          </a:p>
        </p:txBody>
      </p:sp>
      <p:sp>
        <p:nvSpPr>
          <p:cNvPr id="50" name="Oval 49"/>
          <p:cNvSpPr/>
          <p:nvPr/>
        </p:nvSpPr>
        <p:spPr>
          <a:xfrm>
            <a:off x="11201400" y="6510528"/>
            <a:ext cx="91440" cy="91440"/>
          </a:xfrm>
          <a:prstGeom prst="ellipse">
            <a:avLst/>
          </a:prstGeom>
          <a:solidFill>
            <a:srgbClr val="F4BE41"/>
          </a:solidFill>
          <a:ln>
            <a:solidFill>
              <a:srgbClr val="F4BE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11402568" y="6510528"/>
            <a:ext cx="91440" cy="91440"/>
          </a:xfrm>
          <a:prstGeom prst="ellipse">
            <a:avLst/>
          </a:prstGeom>
          <a:solidFill>
            <a:srgbClr val="DD6952"/>
          </a:solidFill>
          <a:ln>
            <a:solidFill>
              <a:srgbClr val="DD69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11603736" y="6510528"/>
            <a:ext cx="91440" cy="91440"/>
          </a:xfrm>
          <a:prstGeom prst="ellipse">
            <a:avLst/>
          </a:prstGeom>
          <a:solidFill>
            <a:srgbClr val="3A7757"/>
          </a:solidFill>
          <a:ln>
            <a:solidFill>
              <a:srgbClr val="3A77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376</TotalTime>
  <Words>3159</Words>
  <Application>Microsoft Office PowerPoint</Application>
  <PresentationFormat>Widescreen</PresentationFormat>
  <Paragraphs>419</Paragraphs>
  <Slides>28</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pc</dc:creator>
  <cp:keywords/>
  <dc:description>generated using python-pptx</dc:description>
  <cp:lastModifiedBy>pc</cp:lastModifiedBy>
  <cp:revision>12</cp:revision>
  <dcterms:created xsi:type="dcterms:W3CDTF">2013-01-27T09:14:16Z</dcterms:created>
  <dcterms:modified xsi:type="dcterms:W3CDTF">2026-09-24T18:55:51Z</dcterms:modified>
  <cp:category/>
</cp:coreProperties>
</file>