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91" r:id="rId2"/>
    <p:sldId id="292" r:id="rId3"/>
    <p:sldId id="293" r:id="rId4"/>
    <p:sldId id="294" r:id="rId5"/>
    <p:sldId id="295" r:id="rId6"/>
    <p:sldId id="324" r:id="rId7"/>
    <p:sldId id="296" r:id="rId8"/>
    <p:sldId id="297" r:id="rId9"/>
    <p:sldId id="298" r:id="rId10"/>
    <p:sldId id="299" r:id="rId11"/>
    <p:sldId id="301" r:id="rId12"/>
    <p:sldId id="302" r:id="rId13"/>
    <p:sldId id="303" r:id="rId14"/>
    <p:sldId id="304" r:id="rId15"/>
    <p:sldId id="305" r:id="rId16"/>
    <p:sldId id="307" r:id="rId17"/>
    <p:sldId id="308" r:id="rId18"/>
    <p:sldId id="309" r:id="rId19"/>
    <p:sldId id="310" r:id="rId20"/>
    <p:sldId id="325" r:id="rId21"/>
    <p:sldId id="311" r:id="rId22"/>
    <p:sldId id="312" r:id="rId23"/>
    <p:sldId id="313" r:id="rId24"/>
    <p:sldId id="314" r:id="rId25"/>
    <p:sldId id="315" r:id="rId26"/>
    <p:sldId id="316" r:id="rId27"/>
    <p:sldId id="317" r:id="rId28"/>
    <p:sldId id="318" r:id="rId29"/>
    <p:sldId id="319" r:id="rId30"/>
    <p:sldId id="320" r:id="rId31"/>
    <p:sldId id="321" r:id="rId32"/>
    <p:sldId id="323" r:id="rId34"/>
    <p:sldId id="322"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unch" id="{0F345F55-05E8-725A-F178-55754B95666C}">
          <p14:sldIdLst>
            <p14:sldId id="291"/>
            <p14:sldId id="292"/>
            <p14:sldId id="293"/>
            <p14:sldId id="294"/>
            <p14:sldId id="295"/>
            <p14:sldId id="324"/>
            <p14:sldId id="296"/>
            <p14:sldId id="297"/>
            <p14:sldId id="298"/>
            <p14:sldId id="299"/>
            <p14:sldId id="301"/>
            <p14:sldId id="302"/>
            <p14:sldId id="303"/>
            <p14:sldId id="304"/>
            <p14:sldId id="305"/>
            <p14:sldId id="307"/>
            <p14:sldId id="308"/>
            <p14:sldId id="309"/>
            <p14:sldId id="310"/>
            <p14:sldId id="325"/>
            <p14:sldId id="311"/>
            <p14:sldId id="312"/>
            <p14:sldId id="313"/>
            <p14:sldId id="314"/>
            <p14:sldId id="315"/>
            <p14:sldId id="316"/>
            <p14:sldId id="317"/>
            <p14:sldId id="318"/>
            <p14:sldId id="319"/>
            <p14:sldId id="320"/>
            <p14:sldId id="321"/>
            <p14:sldId id="322"/>
            <p14:sldId id="323"/>
          </p14:sldIdLst>
        </p14:section>
        <p14:section name="Learn" id="{1C3300E5-F3B9-37A4-FA36-245D1780FCDD}">
          <p14:sldIdLst/>
        </p14:section>
        <p14:section name="Write Paragraph 1" id="{36E73697-2596-E3E3-D238-627956C0E03C}">
          <p14:sldIdLst/>
        </p14:section>
        <p14:section name="Write Paragraph 2" id="{4B013D21-DC36-3C8C-20C0-99473A730F12}">
          <p14:sldIdLst/>
        </p14:section>
        <p14:section name="Improve and Reflect" id="{EEB457F7-0DFA-3E3D-0E3F-97E3731D58F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3.xml"/><Relationship Id="rId34" Type="http://schemas.openxmlformats.org/officeDocument/2006/relationships/slide" Target="slides/slide32.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657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TIMING IS A GUIDE, NOT A SCRIPT. Do not rush the core teaching (result link, change, moral frames) just to keep to the minutes. Protect: the three-part structure with the model, the teaching of the change and the moral, and the 18 minutes of independent writing. Save time first by shortening repeated answer discussions (slide 9, sharing whiteboards, the cause-and-effect answers). Give extra time to whichever step shows a misunderstanding, using the 3 minute buffer, then finishing proofreading at home or moving the partner read-aloud to the start of the next lesson. LESSON TIMING (80 min) Intro and outcome 1 | Quick recap of Paragraph 3 (slides 3 and 4) 1 | Three parts + model 4 | Result links to choice 2 | Cause and effect words 2 | Plan the result 2 | Show the change 2 | What is a moral 2 | Moral frames 2 | Moral fit + whiteboard 4 | I write / we write 4 | Paths + success criteria 3 | INDEPENDENT WRITING: PARAGRAPH 4 18 | Check 2 | FINISH THE WHOLE DRAFT 8 | Read-aloud tips 1 | READ ALOUD TO A PARTNER 9 | Self-assess 2 | Plenary 3 | Exit ticket 3 | Homework 2 | Buffer 3.</a:t>
            </a:r>
          </a:p>
          <a:p>
            <a:r>
              <a:t>Single story chain throughout: Geoffrey chooses to sing, Auntie Anthea stops to listen, she lets him go, and Geoffrey realises his talent helped him escape but did not provide food. The separate answer slides for the cause-and-effect and moral whiteboards were removed; answers are in those slides' notes to protect the 18-minute writing block. Main model throughout: Geoffrey and Auntie Anthea. Paragraph 4 structure: result, change, moral.</a:t>
            </a:r>
          </a:p>
          <a:p>
            <a:r>
              <a:t>SHARED SUCCESS CRITERIA for every pupil on every path: (1) the result happens because of the choice; (2) the character changes: they do, feel or realise something because of the result; (3) the moral fits the story. Description and dialogue are an extension for pupils who are ready. They are a secondary goal today, not a new skill competing with the result and the moral. Reading the whole fable aloud is the finishing routine.</a:t>
            </a:r>
          </a:p>
          <a:p/>
          <a:p>
            <a:r>
              <a:t>BEFORE THE LESSON: pupils need their Paragraphs 1 to 3 draft (Lesson 3 homework). Ask them to bring it, check at the start that every pupil has it open, and give a spare sheet or the story map to anyone who forgot, so Paragraph 4 can follow their own Paragraph 3 choice.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Read the outcome. Each card is something children will do today, and the same three ideas (result, change, moral) are the success criteria for every path. Reading aloud comes at the end as polish.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Recap the chain. Today we finish it: the result, the change and the moral (the lesson), then the whole fable is read aloud. Both come from the choice in Paragraph 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A quick reminder, not a check or an editing task. Say what we wrote in Paragraph 3, in order: a meeting that followed the problem, a line of dialogue, a reaction that showed a feeling, a choice that showed the trait, and an ending that stopped before the result. Ask pupils to say their choice in one line to a partner: 'Because my character is ___, they ___.' That sentence is what the result in Paragraph 4 must follow from. Listen for any choice that does not show the trait, and note those pupils to help while they write. No reading aloud, no fixing now.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This is the structure for the whole lesson: result, change, moral. Make the thinking visible with three questions pupils can answer aloud before writing: Result (what happens because of the character's choice?), Change (what does the character do, feel or realise as a result?), Moral (what general lesson can the reader learn from this?). Each answer grows out of the previous one: the change comes from the result, and the moral comes from the change. Within the change, there are two jobs. Teach the structure as four jobs: (1) Result: what happens because of the choice? (2) Development: what happens next and how does the character react? (3) Realisation: what does the character understand or feel? (4) Moral: what lesson can readers take? Development and realisation form the "change" and can be combined in one sentence, so pupils write one coherent consequence rather than four separate events. Say each part aloud and have children say the order back. In our fable, the moral comes last.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Read aloud. Colour code with the class: result (orange), change (purple), moral (green). Ask: which word tells us the result happened because of the choice? (because: the song was so beautiful that she sat down and listened). Before reading, revisit the chain on the previous slide: trait (dreamy: dreams but does not prepare), choice (sings instead of running away), result (the song saves him, but he is still hungry), change, moral. Singing helps him escape; it does not solve his real problem. Point out that the moral grows from the trait (dreamy, unprepared) and from the result (he is still hungry).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1.5 min. The first success criterion: the result happens BECAUSE of the choice. Compare the two results. 'Geoffrey went home' could follow any choice. Anthea listening only makes sense because he sang. Partner talk, then take answers.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30 seconds. Do not re-discuss every answer: only go back to the answer pupils got wrong. Take responses, then tick. Key idea: if you could swap the choice for a different one and the result still made sense, the result is not linked.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Three ways to join the choice to the result. Read each example aloud and have children point at the choice and the result in each. Possible answers (take orally, no separate answer slide): Geoffrey sang, so Auntie Anthea stopped to listen. / Because Geoffrey sang so softly, Auntie Anthea sat down and listened. / Geoffrey sang. As a result, Auntie Anthea let him go. Whiteboard: children finish 'Geoffrey sang, so ___' (2 min).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plan their own result on whiteboards. Redirect any random event (a storm, a new character) by asking: does this happen because of the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The change is the short step between the result and the moral. The change grows out of the result: ask what Geoffrey does, feels or realises because Auntie Anthea let him go but gave him no food. It shows how the character reacts and what they now understand (development and realisation may be one sentence), so the moral feels earned. Partner talk only. Check understanding before moving on: ask 3 or 4 pupils to say "Because ___ happened, Geoffrey realised ___." If many cannot, model one more example and take the time from the whiteboard sharing later, not from this step.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A moral is a general lesson for everyone, not a summary of what happened to one character. In our fable a moral expresses a general lesson, and may be advice or a general truth; avoiding names is a convention that makes it apply to everyone. Partner talk: who is the moral for? (everyone who reads the fable). Notice the moral is in the present tense and has no character names.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Frames give every child a way in. Read each frame and its Geoffrey example aloud. Children choose the frame that fits their story best. In our fable, we avoid character names so the lesson applies to everyone. Check: ask pupils to say aloud which frame they will use and why. If they are unsure, do one more example with the class before the whiteboard step.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Possible morals for Geoffrey (take orally, no separate answer slide): Dreams are wonderful, but they do not fill an empty stomach. / A dreamer who does not prepare may go hungry. / Prepare for winter, or your dreams may not save you. Each grows from the trait (dreamy, unprepared) and the result. 3 min. Pupils explain why the moral fits by finishing "It fits because ___", referring to what Geoffrey realised whiteboards. The second success criterion: the moral fits the story. It must grow from the trait (dreamy), the choice (singing) and the result (still hungry). 'Do not talk to strangers' is advice, but it does not come from this story. Children write a moral for Geoffrey's fable using one frame.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Gradual release: I write the result, thinking aloud and using because, so or as a result. We write the change and the moral. You write your own: the longest part of the lesson.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4 min total. TEACHER: write the left box live, thinking aloud: link the result to the choice with so, because or as a result. CLASS: complete the right box on whiteboards. Check the change shows a feeling or realisation, and that the moral avoids names, states a general lesson, and fits the trait. Example change: 'Geoffrey tiptoed away, hungry, and realised that his song had saved him but could not feed him.' Moral: Dreamers should still prepare, or they may go hungry.'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Say clearly: the three paths are the same goal with different amounts of help. Nobody is working on an easier target. Everyone must meet the shared criteria: (1) a result that happens because of the choice; (2) a change in the character (what they do, feel or realise); (3) a moral that fits the story. Trail = a sentence frame to get there; Ridge = write it from the story map in your own words, 3 to 5 sentences; Summit = only when the core is secure, add a line of speech or some description while keeping the link from choice to result. Description and dialogue are an extension, not a requirement.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Each model meets the success criteria. Ask children to find the result, the change and the moral in each. In the Summit model check the speech punctuation aloud.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These three criteria are the same for every pupil on every path: the result happens because of the choice, the character changes, and the moral fits. Use them while writing, in the check, in the partner read-aloud, the self-assessment and the plenary. Read them aloud and ask what each would look like in Geoffrey's fable. Reading aloud and dialogue punctuation are the finishing routine, not new targets. TEACHER: use these criteria for conferencing while the class writes.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18 MINUTES OF PROTECTED INDEPENDENT WRITING. No whole-class interruptions. Whiteboards away. Use the three success criteria for quiet conferencing: (1) is the result clearly because of the choice? (2) is the moral a general lesson that avoids names, and does it fit the trait? Pupils should be able to answer the three questions (result, change, moral) and say how each grows from the one before. Make the structure visible: sentence 1 result, sentence 2 what happens next, sentence 3 the realisation or feeling, sentence 4 the moral. Sentences 2 and 3 (development and realisation) may be joined into one sentence, so the paragraph stays within 3 to 5 sentences; students who need support may also use frames. Note names for the plenary and for the 3/2/1 self-assessment. Keep Geoffrey's model and the path models on display. Timing is flexible: if most pupils are still writing at 18 minutes, extend by up to 3 minutes from the buffer and the whole-draft proofreading. Early finishers: write a second moral using a different frame.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read quietly and fix ONE thing using the first two criteria. Ask them to point at the word that links the result to the choice and to cross out any names in the moral (a convention for our fable).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8 MINUTES, silent. Children put Paragraphs 1 to 4 together in order and read the whole fable quietly, fixing what they find. Look for: the trait and character staying the same, each paragraph leading to the next, and dialogue punctuation using the rules on the speech slide (reporting clause first: comma before the opening inverted commas; dialogue first: comma inside the closing inverted commas when the sentence continues; a complete spoken sentence followed by a separate action ends with a full stop inside). Prioritise: order and trait first, then links between paragraphs, speech, then full stops. This is the finishing routine, a secondary check after the Paragraph 4 criteria. Children who finish early swap to proofread a different part of their own draft.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Quick model: read the first sentence of Geoffrey's Paragraph 3 flat, then with expression. Ask what changed. Remind children to pause before the moral so the audience notices it.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9 min. Four minutes each plus a minute for talk, or groups of three if preferred. The listener says whether the result is because of the choice and whether the moral fits, using the sentence stems. Circulate and listen to a few readings; note strong fables to share. Teacher can also use this time to assess against the three criteria.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score each criterion 3, 2 or 1 and write a next target. Criteria: Result: 3 = clearly follows from the choice and uses a link word; 2 = related but link weak; 1 = unconnected. Change: 3 = a clear feeling or realisation that grows from the result; 2 = a change that is not linked to the result; 1 = no change shown. Moral: 3 = general lesson that avoids names, fits the trait and result; 2 = a lesson but generic or contains names; 1 = a summary or does not fit. TEACHER ASSESSMENT (record separately on your tracker): coherence of the result and choice; the change; moral quality. Read-aloud and dialogue punctuation are a secondary note: story sequence (paragraphs in order, trait kept) and punctuation. Note which one skill to teach next.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discussion. Show an imperfect Paragraph 4. Children find one problem for each criterion (result not linked, moral does not fit, speech punctuation) and say how to fix them. Then reveal the answers, showing the corrected dialogue in full: “You may go,” said Auntie Anthea.</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Read the corrected line aloud with the class, pointing at the capital Y, the comma inside the closing inverted commas, and the full stop. Accept any sensible rewrite of the other two. Praise children who explain WHY, using because. Then ask them to apply the same three checks to their own fable.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3 min. Written responses in books, collected as evidence. Look for the word 'because' linking choice and result, a clear idea of what makes a moral fit, and a specific read-aloud improvement.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Read the model responses, then collect books.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HOMEWORK PART 2 (about 20 minutes). After reading aloud, children write their whole fable (Paragraphs 1 to 4) neatly as one piece, making the change they planned and improving their weakest paragraph with the listener's feedback. Children may use Geoffrey and Auntie Anthea only if they need a model; the expectation is their own fable. Collect and mark with the same 3/2/1 criteria (result, change, moral). Done by two nights if needed: reading aloud and feedback first, final copy second.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HOMEWORK PART 1 (about 10 minutes). Children read their finished fable aloud to someone at home, pausing before the moral, and ask whether the moral fits. They write down what the listener said and the one change they will make. This gives them a real audience and real feedback to use in part 2.</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Secondary goal only. Dialogue is not a new skill today: it is for pupils who already have the core (result, change, moral), and it supports the read-aloud check. Compare the three examples: in the first the speech verb comes before the speech; in the second (dialogue first, as taught in Lesson 3) it comes after; in the third there is no speech verb, just a separate action sentence. Point out what happens to the comma each time. Do not ask pupils to put the speech verb in one fixed place. The third card, speech then action, is an optional extra for pupils who are ready. It was not taught in Lesson 3, so do not teach it to the whole class.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a:p>
        </p:txBody>
      </p:sp>
      <p:sp>
        <p:nvSpPr>
          <p:cNvPr id="3" name="Text 1"/>
          <p:cNvSpPr>
            <a:spLocks noGrp="1"/>
          </p:cNvSpPr>
          <p:nvPr>
            <p:ph type="title" idx="101" hasCustomPrompt="1"/>
          </p:nvPr>
        </p:nvSpPr>
        <p:spPr>
          <a:xfrm>
            <a:off x="640080" y="1143000"/>
            <a:ext cx="5120640" cy="128016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4" name="Text 1"/>
          <p:cNvSpPr>
            <a:spLocks noGrp="1"/>
          </p:cNvSpPr>
          <p:nvPr>
            <p:ph type="body" idx="102" hasCustomPrompt="1"/>
          </p:nvPr>
        </p:nvSpPr>
        <p:spPr>
          <a:xfrm>
            <a:off x="640080" y="2560320"/>
            <a:ext cx="4846320" cy="82296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a:p>
        </p:txBody>
      </p:sp>
      <p:sp>
        <p:nvSpPr>
          <p:cNvPr id="3" name="Text 1"/>
          <p:cNvSpPr>
            <a:spLocks noGrp="1"/>
          </p:cNvSpPr>
          <p:nvPr>
            <p:ph type="title" idx="101" hasCustomPrompt="1"/>
          </p:nvPr>
        </p:nvSpPr>
        <p:spPr>
          <a:xfrm>
            <a:off x="822960" y="1737360"/>
            <a:ext cx="5303520" cy="11887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4" name="Text 1"/>
          <p:cNvSpPr>
            <a:spLocks noGrp="1"/>
          </p:cNvSpPr>
          <p:nvPr>
            <p:ph type="body" idx="102" hasCustomPrompt="1"/>
          </p:nvPr>
        </p:nvSpPr>
        <p:spPr>
          <a:xfrm>
            <a:off x="822960" y="3063240"/>
            <a:ext cx="4937760" cy="54864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4" name="Shape 1"/>
          <p:cNvSpPr/>
          <p:nvPr/>
        </p:nvSpPr>
        <p:spPr>
          <a:xfrm>
            <a:off x="1234440" y="4754880"/>
            <a:ext cx="822960" cy="219456"/>
          </a:xfrm>
          <a:prstGeom prst="rect">
            <a:avLst/>
          </a:prstGeom>
          <a:solidFill>
            <a:schemeClr val="accent1"/>
          </a:solidFill>
          <a:ln w="9525">
            <a:solidFill>
              <a:schemeClr val="accent1"/>
            </a:solidFill>
            <a:prstDash val="solid"/>
          </a:ln>
        </p:spPr>
        <p:txBody>
          <a:bodyPr/>
          <a:lstStyle/>
          <a:p>
            <a:endParaRPr/>
          </a:p>
        </p:txBody>
      </p:sp>
      <p:sp>
        <p:nvSpPr>
          <p:cNvPr id="5" name="Text 2"/>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6" name="Shape 3"/>
          <p:cNvSpPr/>
          <p:nvPr/>
        </p:nvSpPr>
        <p:spPr>
          <a:xfrm>
            <a:off x="2121408" y="4754880"/>
            <a:ext cx="731520" cy="219456"/>
          </a:xfrm>
          <a:prstGeom prst="rect">
            <a:avLst/>
          </a:prstGeom>
          <a:solidFill>
            <a:schemeClr val="accent1"/>
          </a:solidFill>
          <a:ln w="9525">
            <a:solidFill>
              <a:schemeClr val="accent1"/>
            </a:solidFill>
            <a:prstDash val="solid"/>
          </a:ln>
        </p:spPr>
        <p:txBody>
          <a:bodyPr/>
          <a:lstStyle/>
          <a:p>
            <a:endParaRPr/>
          </a:p>
        </p:txBody>
      </p:sp>
      <p:sp>
        <p:nvSpPr>
          <p:cNvPr id="7" name="Text 4"/>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8" name="Shape 5"/>
          <p:cNvSpPr/>
          <p:nvPr/>
        </p:nvSpPr>
        <p:spPr>
          <a:xfrm>
            <a:off x="2916936" y="4754880"/>
            <a:ext cx="640080" cy="219456"/>
          </a:xfrm>
          <a:prstGeom prst="rect">
            <a:avLst/>
          </a:prstGeom>
          <a:solidFill>
            <a:schemeClr val="accent1"/>
          </a:solidFill>
          <a:ln w="9525">
            <a:solidFill>
              <a:schemeClr val="accent1"/>
            </a:solidFill>
            <a:prstDash val="solid"/>
          </a:ln>
        </p:spPr>
        <p:txBody>
          <a:bodyPr/>
          <a:lstStyle/>
          <a:p>
            <a:endParaRPr/>
          </a:p>
        </p:txBody>
      </p:sp>
      <p:sp>
        <p:nvSpPr>
          <p:cNvPr id="9" name="Text 6"/>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Choice</a:t>
            </a:r>
            <a:endParaRPr lang="en-US" sz="1000" dirty="0"/>
          </a:p>
        </p:txBody>
      </p:sp>
      <p:sp>
        <p:nvSpPr>
          <p:cNvPr id="10" name="Shape 7"/>
          <p:cNvSpPr/>
          <p:nvPr/>
        </p:nvSpPr>
        <p:spPr>
          <a:xfrm>
            <a:off x="3621024" y="4754880"/>
            <a:ext cx="960120" cy="219456"/>
          </a:xfrm>
          <a:prstGeom prst="rect">
            <a:avLst/>
          </a:prstGeom>
          <a:solidFill>
            <a:schemeClr val="accent1"/>
          </a:solidFill>
          <a:ln w="9525">
            <a:solidFill>
              <a:schemeClr val="accent1"/>
            </a:solidFill>
            <a:prstDash val="solid"/>
          </a:ln>
        </p:spPr>
        <p:txBody>
          <a:bodyPr/>
          <a:lstStyle/>
          <a:p>
            <a:endParaRPr/>
          </a:p>
        </p:txBody>
      </p:sp>
      <p:sp>
        <p:nvSpPr>
          <p:cNvPr id="11" name="Text 8"/>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bg1"/>
                </a:solidFill>
              </a:rPr>
              <a:t>Consequence</a:t>
            </a:r>
            <a:endParaRPr lang="en-US" sz="1000" dirty="0"/>
          </a:p>
        </p:txBody>
      </p:sp>
      <p:sp>
        <p:nvSpPr>
          <p:cNvPr id="12" name="Shape 9"/>
          <p:cNvSpPr/>
          <p:nvPr/>
        </p:nvSpPr>
        <p:spPr>
          <a:xfrm>
            <a:off x="4645152" y="4754880"/>
            <a:ext cx="640080" cy="219456"/>
          </a:xfrm>
          <a:prstGeom prst="rect">
            <a:avLst/>
          </a:prstGeom>
          <a:solidFill>
            <a:schemeClr val="accent1"/>
          </a:solidFill>
          <a:ln w="9525">
            <a:solidFill>
              <a:schemeClr val="accent1"/>
            </a:solidFill>
            <a:prstDash val="solid"/>
          </a:ln>
        </p:spPr>
        <p:txBody>
          <a:bodyPr/>
          <a:lstStyle/>
          <a:p>
            <a:endParaRPr/>
          </a:p>
        </p:txBody>
      </p:sp>
      <p:sp>
        <p:nvSpPr>
          <p:cNvPr id="13" name="Text 10"/>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TI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txBody>
          <a:bodyPr/>
          <a:lstStyle/>
          <a:p>
            <a:endParaRPr/>
          </a:p>
        </p:txBody>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1"/>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5" name="Shape 2"/>
          <p:cNvSpPr/>
          <p:nvPr/>
        </p:nvSpPr>
        <p:spPr>
          <a:xfrm>
            <a:off x="1234440" y="4754880"/>
            <a:ext cx="822960" cy="219456"/>
          </a:xfrm>
          <a:prstGeom prst="rect">
            <a:avLst/>
          </a:prstGeom>
          <a:solidFill>
            <a:schemeClr val="accent1"/>
          </a:solidFill>
          <a:ln w="9525">
            <a:solidFill>
              <a:schemeClr val="accent1"/>
            </a:solidFill>
            <a:prstDash val="solid"/>
          </a:ln>
        </p:spPr>
        <p:txBody>
          <a:bodyPr/>
          <a:lstStyle/>
          <a:p>
            <a:endParaRPr/>
          </a:p>
        </p:txBody>
      </p:sp>
      <p:sp>
        <p:nvSpPr>
          <p:cNvPr id="6" name="Text 3"/>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7" name="Shape 4"/>
          <p:cNvSpPr/>
          <p:nvPr/>
        </p:nvSpPr>
        <p:spPr>
          <a:xfrm>
            <a:off x="2121408" y="4754880"/>
            <a:ext cx="731520" cy="219456"/>
          </a:xfrm>
          <a:prstGeom prst="rect">
            <a:avLst/>
          </a:prstGeom>
          <a:solidFill>
            <a:schemeClr val="accent1"/>
          </a:solidFill>
          <a:ln w="9525">
            <a:solidFill>
              <a:schemeClr val="accent1"/>
            </a:solidFill>
            <a:prstDash val="solid"/>
          </a:ln>
        </p:spPr>
        <p:txBody>
          <a:bodyPr/>
          <a:lstStyle/>
          <a:p>
            <a:endParaRPr/>
          </a:p>
        </p:txBody>
      </p:sp>
      <p:sp>
        <p:nvSpPr>
          <p:cNvPr id="8" name="Text 5"/>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9" name="Shape 6"/>
          <p:cNvSpPr/>
          <p:nvPr/>
        </p:nvSpPr>
        <p:spPr>
          <a:xfrm>
            <a:off x="2916936" y="4754880"/>
            <a:ext cx="640080" cy="219456"/>
          </a:xfrm>
          <a:prstGeom prst="rect">
            <a:avLst/>
          </a:prstGeom>
          <a:solidFill>
            <a:schemeClr val="accent1"/>
          </a:solidFill>
          <a:ln w="9525">
            <a:solidFill>
              <a:schemeClr val="accent1"/>
            </a:solidFill>
            <a:prstDash val="solid"/>
          </a:ln>
        </p:spPr>
        <p:txBody>
          <a:bodyPr/>
          <a:lstStyle/>
          <a:p>
            <a:endParaRPr/>
          </a:p>
        </p:txBody>
      </p:sp>
      <p:sp>
        <p:nvSpPr>
          <p:cNvPr id="10" name="Text 7"/>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Choice</a:t>
            </a:r>
            <a:endParaRPr lang="en-US" sz="1000" dirty="0"/>
          </a:p>
        </p:txBody>
      </p:sp>
      <p:sp>
        <p:nvSpPr>
          <p:cNvPr id="11" name="Shape 8"/>
          <p:cNvSpPr/>
          <p:nvPr/>
        </p:nvSpPr>
        <p:spPr>
          <a:xfrm>
            <a:off x="3621024" y="4754880"/>
            <a:ext cx="960120" cy="219456"/>
          </a:xfrm>
          <a:prstGeom prst="rect">
            <a:avLst/>
          </a:prstGeom>
          <a:solidFill>
            <a:schemeClr val="accent1"/>
          </a:solidFill>
          <a:ln w="9525">
            <a:solidFill>
              <a:schemeClr val="accent1"/>
            </a:solidFill>
            <a:prstDash val="solid"/>
          </a:ln>
        </p:spPr>
        <p:txBody>
          <a:bodyPr/>
          <a:lstStyle/>
          <a:p>
            <a:endParaRPr/>
          </a:p>
        </p:txBody>
      </p:sp>
      <p:sp>
        <p:nvSpPr>
          <p:cNvPr id="12" name="Text 9"/>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bg1"/>
                </a:solidFill>
              </a:rPr>
              <a:t>Consequence</a:t>
            </a:r>
            <a:endParaRPr lang="en-US" sz="1000" dirty="0"/>
          </a:p>
        </p:txBody>
      </p:sp>
      <p:sp>
        <p:nvSpPr>
          <p:cNvPr id="13" name="Shape 10"/>
          <p:cNvSpPr/>
          <p:nvPr/>
        </p:nvSpPr>
        <p:spPr>
          <a:xfrm>
            <a:off x="4645152" y="4754880"/>
            <a:ext cx="640080" cy="219456"/>
          </a:xfrm>
          <a:prstGeom prst="rect">
            <a:avLst/>
          </a:prstGeom>
          <a:solidFill>
            <a:schemeClr val="accent1"/>
          </a:solidFill>
          <a:ln w="9525">
            <a:solidFill>
              <a:schemeClr val="accent1"/>
            </a:solidFill>
            <a:prstDash val="solid"/>
          </a:ln>
        </p:spPr>
        <p:txBody>
          <a:bodyPr/>
          <a:lstStyle/>
          <a:p>
            <a:endParaRPr/>
          </a:p>
        </p:txBody>
      </p:sp>
      <p:sp>
        <p:nvSpPr>
          <p:cNvPr id="14" name="Text 11"/>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a:p>
        </p:txBody>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notesSlide" Target="../notesSlides/notes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 hill"/>
          <p:cNvSpPr/>
          <p:nvPr/>
        </p:nvSpPr>
        <p:spPr>
          <a:xfrm>
            <a:off x="-1828800" y="3611880"/>
            <a:ext cx="7863840" cy="3291840"/>
          </a:xfrm>
          <a:prstGeom prst="ellipse">
            <a:avLst/>
          </a:prstGeom>
          <a:solidFill>
            <a:schemeClr val="accent3"/>
          </a:solidFill>
          <a:ln/>
        </p:spPr>
        <p:txBody>
          <a:bodyPr/>
          <a:lstStyle/>
          <a:p>
            <a:endParaRPr/>
          </a:p>
        </p:txBody>
      </p:sp>
      <p:sp>
        <p:nvSpPr>
          <p:cNvPr id="3" name="Front hill"/>
          <p:cNvSpPr/>
          <p:nvPr/>
        </p:nvSpPr>
        <p:spPr>
          <a:xfrm>
            <a:off x="3108960" y="3977640"/>
            <a:ext cx="7680960" cy="2926080"/>
          </a:xfrm>
          <a:prstGeom prst="ellipse">
            <a:avLst/>
          </a:prstGeom>
          <a:solidFill>
            <a:schemeClr val="tx1"/>
          </a:solidFill>
          <a:ln/>
        </p:spPr>
        <p:txBody>
          <a:bodyPr/>
          <a:lstStyle/>
          <a:p>
            <a:endParaRPr/>
          </a:p>
        </p:txBody>
      </p:sp>
      <p:sp>
        <p:nvSpPr>
          <p:cNvPr id="4" name="Gold ring"/>
          <p:cNvSpPr/>
          <p:nvPr/>
        </p:nvSpPr>
        <p:spPr>
          <a:xfrm>
            <a:off x="5806440" y="868680"/>
            <a:ext cx="2743200" cy="2743200"/>
          </a:xfrm>
          <a:prstGeom prst="ellipse">
            <a:avLst/>
          </a:prstGeom>
          <a:solidFill>
            <a:schemeClr val="accent2"/>
          </a:solidFill>
          <a:ln/>
        </p:spPr>
        <p:txBody>
          <a:bodyPr/>
          <a:lstStyle/>
          <a:p>
            <a:endParaRPr/>
          </a:p>
        </p:txBody>
      </p:sp>
      <p:sp>
        <p:nvSpPr>
          <p:cNvPr id="5" name="Fox circle"/>
          <p:cNvSpPr/>
          <p:nvPr/>
        </p:nvSpPr>
        <p:spPr>
          <a:xfrm>
            <a:off x="5961888" y="1024128"/>
            <a:ext cx="2432304" cy="2432304"/>
          </a:xfrm>
          <a:prstGeom prst="ellipse">
            <a:avLst/>
          </a:prstGeom>
          <a:solidFill>
            <a:schemeClr val="accent1"/>
          </a:solidFill>
          <a:ln/>
        </p:spPr>
        <p:txBody>
          <a:bodyPr/>
          <a:lstStyle/>
          <a:p>
            <a:endParaRPr/>
          </a:p>
        </p:txBody>
      </p:sp>
      <p:pic>
        <p:nvPicPr>
          <p:cNvPr id="6" name="Image 0" descr="Fox"/>
          <p:cNvPicPr>
            <a:picLocks noChangeAspect="1"/>
          </p:cNvPicPr>
          <p:nvPr/>
        </p:nvPicPr>
        <p:blipFill>
          <a:blip r:embed="rId3"/>
          <a:stretch>
            <a:fillRect/>
          </a:stretch>
        </p:blipFill>
        <p:spPr>
          <a:xfrm>
            <a:off x="6355080" y="1417320"/>
            <a:ext cx="1645920" cy="1645920"/>
          </a:xfrm>
          <a:prstGeom prst="rect">
            <a:avLst/>
          </a:prstGeom>
        </p:spPr>
      </p:pic>
      <p:sp>
        <p:nvSpPr>
          <p:cNvPr id="7" name="Chip 1"/>
          <p:cNvSpPr/>
          <p:nvPr/>
        </p:nvSpPr>
        <p:spPr>
          <a:xfrm>
            <a:off x="640080" y="502920"/>
            <a:ext cx="3566160" cy="329184"/>
          </a:xfrm>
          <a:prstGeom prst="roundRect">
            <a:avLst>
              <a:gd name="adj" fmla="val 50000"/>
            </a:avLst>
          </a:prstGeom>
          <a:solidFill>
            <a:schemeClr val="accent2"/>
          </a:solidFill>
          <a:ln/>
        </p:spPr>
        <p:txBody>
          <a:bodyPr/>
          <a:lstStyle/>
          <a:p>
            <a:endParaRPr/>
          </a:p>
        </p:txBody>
      </p:sp>
      <p:sp>
        <p:nvSpPr>
          <p:cNvPr id="8" name="Text 5"/>
          <p:cNvSpPr txBox="1"/>
          <p:nvPr/>
        </p:nvSpPr>
        <p:spPr>
          <a:xfrm>
            <a:off x="640080" y="502920"/>
            <a:ext cx="3566160" cy="329184"/>
          </a:xfrm>
          <a:prstGeom prst="rect">
            <a:avLst/>
          </a:prstGeom>
          <a:noFill/>
          <a:ln/>
        </p:spPr>
        <p:txBody>
          <a:bodyPr wrap="square" lIns="0" tIns="0" rIns="0" bIns="0" rtlCol="0" anchor="ctr"/>
          <a:lstStyle/>
          <a:p>
            <a:pPr marL="0" indent="0" algn="ctr">
              <a:buNone/>
            </a:pPr>
            <a:r>
              <a:rPr lang="en-US" sz="1100" b="1" dirty="0">
                <a:solidFill>
                  <a:schemeClr val="tx2"/>
                </a:solidFill>
              </a:rPr>
              <a:t>YEAR 5  ·  WRITING  ·  LESSON 4  ·  80 MIN</a:t>
            </a:r>
            <a:endParaRPr lang="en-US" sz="1100" dirty="0"/>
          </a:p>
        </p:txBody>
      </p:sp>
      <p:sp>
        <p:nvSpPr>
          <p:cNvPr id="9" name="Text 1"/>
          <p:cNvSpPr>
            <a:spLocks noGrp="1"/>
          </p:cNvSpPr>
          <p:nvPr>
            <p:ph type="title" idx="101" hasCustomPrompt="1"/>
          </p:nvPr>
        </p:nvSpPr>
        <p:spPr>
          <a:xfrm>
            <a:off x="640080" y="1143000"/>
            <a:ext cx="5120640" cy="1280160"/>
          </a:xfrm>
          <a:prstGeom prst="rect">
            <a:avLst/>
          </a:prstGeom>
          <a:noFill/>
          <a:ln/>
        </p:spPr>
        <p:txBody>
          <a:bodyPr wrap="square" lIns="0" tIns="0" rIns="0" bIns="0" rtlCol="0" anchor="b"/>
          <a:lstStyle/>
          <a:p>
            <a:pPr marL="0" indent="0" algn="l">
              <a:buNone/>
            </a:pPr>
            <a:r>
              <a:rPr lang="en-US" sz="5000" b="1" dirty="0">
                <a:solidFill>
                  <a:schemeClr val="bg1"/>
                </a:solidFill>
              </a:rPr>
              <a:t>Write a Fable</a:t>
            </a:r>
            <a:endParaRPr lang="en-US" sz="5000" dirty="0"/>
          </a:p>
        </p:txBody>
      </p:sp>
      <p:sp>
        <p:nvSpPr>
          <p:cNvPr id="10" name="Text 1"/>
          <p:cNvSpPr>
            <a:spLocks noGrp="1"/>
          </p:cNvSpPr>
          <p:nvPr>
            <p:ph type="body" idx="102" hasCustomPrompt="1"/>
          </p:nvPr>
        </p:nvSpPr>
        <p:spPr>
          <a:xfrm>
            <a:off x="640080" y="2560320"/>
            <a:ext cx="4846320" cy="822960"/>
          </a:xfrm>
          <a:prstGeom prst="rect">
            <a:avLst/>
          </a:prstGeom>
          <a:noFill/>
          <a:ln/>
        </p:spPr>
        <p:txBody>
          <a:bodyPr wrap="square" lIns="0" tIns="0" rIns="0" bIns="0" rtlCol="0" anchor="t"/>
          <a:lstStyle/>
          <a:p>
            <a:pPr marL="0" indent="0" algn="l">
              <a:buNone/>
            </a:pPr>
            <a:r>
              <a:rPr lang="en-US" sz="2000" dirty="0">
                <a:solidFill>
                  <a:schemeClr val="accent2"/>
                </a:solidFill>
              </a:rPr>
              <a:t>Paragraph 4: the result, then the moral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Today’s outcome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
        <p:nvSpPr>
          <p:cNvPr id="26" name="Outcome banner"/>
          <p:cNvSpPr/>
          <p:nvPr/>
        </p:nvSpPr>
        <p:spPr>
          <a:xfrm>
            <a:off x="457200" y="1188720"/>
            <a:ext cx="8229600" cy="731520"/>
          </a:xfrm>
          <a:prstGeom prst="roundRect">
            <a:avLst>
              <a:gd name="adj" fmla="val 1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188720"/>
            <a:ext cx="7772400" cy="731520"/>
          </a:xfrm>
          <a:prstGeom prst="rect">
            <a:avLst/>
          </a:prstGeom>
          <a:noFill/>
        </p:spPr>
        <p:txBody>
          <a:bodyPr wrap="square" lIns="0" tIns="0" rIns="0" bIns="0" anchor="ctr">
            <a:spAutoFit/>
          </a:bodyPr>
          <a:lstStyle/>
          <a:p>
            <a:pPr algn="l"/>
            <a:r>
              <a:rPr sz="1800" b="1" i="0">
                <a:solidFill>
                  <a:schemeClr val="accent2"/>
                </a:solidFill>
                <a:latin typeface="Cambria"/>
                <a:ea typeface="Cambria"/>
                <a:cs typeface="Cambria"/>
              </a:rPr>
              <a:t>By the end of the lesson, </a:t>
            </a:r>
            <a:r>
              <a:rPr sz="1800" b="1" i="0">
                <a:solidFill>
                  <a:schemeClr val="bg1"/>
                </a:solidFill>
                <a:latin typeface="Cambria"/>
                <a:ea typeface="Cambria"/>
                <a:cs typeface="Cambria"/>
              </a:rPr>
              <a:t>I will have written a 3–5 sentence Paragraph 4 with a result, a change and a moral. Then I will read my fable aloud.</a:t>
            </a:r>
          </a:p>
        </p:txBody>
      </p:sp>
      <p:sp>
        <p:nvSpPr>
          <p:cNvPr id="28" name="Card"/>
          <p:cNvSpPr/>
          <p:nvPr/>
        </p:nvSpPr>
        <p:spPr>
          <a:xfrm>
            <a:off x="457200" y="2194560"/>
            <a:ext cx="2624328" cy="219456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adge"/>
          <p:cNvSpPr/>
          <p:nvPr/>
        </p:nvSpPr>
        <p:spPr>
          <a:xfrm>
            <a:off x="621792" y="233172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on" descr="image14.png"/>
          <p:cNvPicPr>
            <a:picLocks noChangeAspect="1"/>
          </p:cNvPicPr>
          <p:nvPr/>
        </p:nvPicPr>
        <p:blipFill>
          <a:blip r:embed="rId4"/>
          <a:stretch>
            <a:fillRect/>
          </a:stretch>
        </p:blipFill>
        <p:spPr>
          <a:xfrm>
            <a:off x="749350" y="2459278"/>
            <a:ext cx="311810" cy="311810"/>
          </a:xfrm>
          <a:prstGeom prst="rect">
            <a:avLst/>
          </a:prstGeom>
        </p:spPr>
      </p:pic>
      <p:sp>
        <p:nvSpPr>
          <p:cNvPr id="31" name="Text"/>
          <p:cNvSpPr txBox="1"/>
          <p:nvPr/>
        </p:nvSpPr>
        <p:spPr>
          <a:xfrm>
            <a:off x="1325880" y="2331720"/>
            <a:ext cx="1645920" cy="566928"/>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Result</a:t>
            </a:r>
          </a:p>
        </p:txBody>
      </p:sp>
      <p:sp>
        <p:nvSpPr>
          <p:cNvPr id="32" name="Text"/>
          <p:cNvSpPr txBox="1"/>
          <p:nvPr/>
        </p:nvSpPr>
        <p:spPr>
          <a:xfrm>
            <a:off x="621792" y="3063240"/>
            <a:ext cx="2286000" cy="1234440"/>
          </a:xfrm>
          <a:prstGeom prst="rect">
            <a:avLst/>
          </a:prstGeom>
          <a:noFill/>
        </p:spPr>
        <p:txBody>
          <a:bodyPr wrap="square" lIns="0" tIns="0" rIns="0" bIns="0" anchor="t">
            <a:spAutoFit/>
          </a:bodyPr>
          <a:lstStyle/>
          <a:p>
            <a:pPr algn="l"/>
            <a:r>
              <a:rPr sz="1500" b="0" i="0">
                <a:solidFill>
                  <a:schemeClr val="tx1"/>
                </a:solidFill>
              </a:rPr>
              <a:t>I can show what happens because of my character’s choice.</a:t>
            </a:r>
          </a:p>
        </p:txBody>
      </p:sp>
      <p:sp>
        <p:nvSpPr>
          <p:cNvPr id="33" name="Card"/>
          <p:cNvSpPr/>
          <p:nvPr/>
        </p:nvSpPr>
        <p:spPr>
          <a:xfrm>
            <a:off x="3259836" y="2194560"/>
            <a:ext cx="2624328" cy="219456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adge"/>
          <p:cNvSpPr/>
          <p:nvPr/>
        </p:nvSpPr>
        <p:spPr>
          <a:xfrm>
            <a:off x="3424428" y="2331720"/>
            <a:ext cx="566928" cy="56692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descr="image10.png"/>
          <p:cNvPicPr>
            <a:picLocks noChangeAspect="1"/>
          </p:cNvPicPr>
          <p:nvPr/>
        </p:nvPicPr>
        <p:blipFill>
          <a:blip r:embed="rId5"/>
          <a:stretch>
            <a:fillRect/>
          </a:stretch>
        </p:blipFill>
        <p:spPr>
          <a:xfrm>
            <a:off x="3551986" y="2459278"/>
            <a:ext cx="311810" cy="311810"/>
          </a:xfrm>
          <a:prstGeom prst="rect">
            <a:avLst/>
          </a:prstGeom>
        </p:spPr>
      </p:pic>
      <p:sp>
        <p:nvSpPr>
          <p:cNvPr id="36" name="Text"/>
          <p:cNvSpPr txBox="1"/>
          <p:nvPr/>
        </p:nvSpPr>
        <p:spPr>
          <a:xfrm>
            <a:off x="4128515" y="2331720"/>
            <a:ext cx="1645920" cy="566928"/>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Change</a:t>
            </a:r>
          </a:p>
        </p:txBody>
      </p:sp>
      <p:sp>
        <p:nvSpPr>
          <p:cNvPr id="37" name="Text"/>
          <p:cNvSpPr txBox="1"/>
          <p:nvPr/>
        </p:nvSpPr>
        <p:spPr>
          <a:xfrm>
            <a:off x="3424428" y="3063240"/>
            <a:ext cx="2286000" cy="1234440"/>
          </a:xfrm>
          <a:prstGeom prst="rect">
            <a:avLst/>
          </a:prstGeom>
          <a:noFill/>
        </p:spPr>
        <p:txBody>
          <a:bodyPr wrap="square" lIns="0" tIns="0" rIns="0" bIns="0" anchor="t">
            <a:spAutoFit/>
          </a:bodyPr>
          <a:lstStyle/>
          <a:p>
            <a:pPr algn="l"/>
            <a:r>
              <a:rPr sz="1500" b="0" i="0">
                <a:solidFill>
                  <a:schemeClr val="tx1"/>
                </a:solidFill>
              </a:rPr>
              <a:t>I can show how my character changes because of the result.</a:t>
            </a:r>
          </a:p>
        </p:txBody>
      </p:sp>
      <p:sp>
        <p:nvSpPr>
          <p:cNvPr id="38" name="Card"/>
          <p:cNvSpPr/>
          <p:nvPr/>
        </p:nvSpPr>
        <p:spPr>
          <a:xfrm>
            <a:off x="6062472" y="2194560"/>
            <a:ext cx="2624328" cy="219456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dge"/>
          <p:cNvSpPr/>
          <p:nvPr/>
        </p:nvSpPr>
        <p:spPr>
          <a:xfrm>
            <a:off x="6227064" y="2331720"/>
            <a:ext cx="566928" cy="56692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descr="image12.png"/>
          <p:cNvPicPr>
            <a:picLocks noChangeAspect="1"/>
          </p:cNvPicPr>
          <p:nvPr/>
        </p:nvPicPr>
        <p:blipFill>
          <a:blip r:embed="rId6"/>
          <a:stretch>
            <a:fillRect/>
          </a:stretch>
        </p:blipFill>
        <p:spPr>
          <a:xfrm>
            <a:off x="6354622" y="2459278"/>
            <a:ext cx="311810" cy="311810"/>
          </a:xfrm>
          <a:prstGeom prst="rect">
            <a:avLst/>
          </a:prstGeom>
        </p:spPr>
      </p:pic>
      <p:sp>
        <p:nvSpPr>
          <p:cNvPr id="41" name="Text"/>
          <p:cNvSpPr txBox="1"/>
          <p:nvPr/>
        </p:nvSpPr>
        <p:spPr>
          <a:xfrm>
            <a:off x="6931152" y="2331720"/>
            <a:ext cx="1645920" cy="566928"/>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Moral</a:t>
            </a:r>
          </a:p>
        </p:txBody>
      </p:sp>
      <p:sp>
        <p:nvSpPr>
          <p:cNvPr id="42" name="Text"/>
          <p:cNvSpPr txBox="1"/>
          <p:nvPr/>
        </p:nvSpPr>
        <p:spPr>
          <a:xfrm>
            <a:off x="6227064" y="3063240"/>
            <a:ext cx="2286000" cy="1234440"/>
          </a:xfrm>
          <a:prstGeom prst="rect">
            <a:avLst/>
          </a:prstGeom>
          <a:noFill/>
        </p:spPr>
        <p:txBody>
          <a:bodyPr wrap="square" lIns="0" tIns="0" rIns="0" bIns="0" anchor="t">
            <a:spAutoFit/>
          </a:bodyPr>
          <a:lstStyle/>
          <a:p>
            <a:pPr algn="l"/>
            <a:r>
              <a:rPr sz="1500" b="0" i="0">
                <a:solidFill>
                  <a:schemeClr val="tx1"/>
                </a:solidFill>
              </a:rPr>
              <a:t>I can end with advice that fits my story.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Our fable chain</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6.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
        <p:nvSpPr>
          <p:cNvPr id="26" name="Card"/>
          <p:cNvSpPr/>
          <p:nvPr/>
        </p:nvSpPr>
        <p:spPr>
          <a:xfrm>
            <a:off x="457200"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813815" y="13258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6.png"/>
          <p:cNvPicPr>
            <a:picLocks noChangeAspect="1"/>
          </p:cNvPicPr>
          <p:nvPr/>
        </p:nvPicPr>
        <p:blipFill>
          <a:blip r:embed="rId3"/>
          <a:stretch>
            <a:fillRect/>
          </a:stretch>
        </p:blipFill>
        <p:spPr>
          <a:xfrm>
            <a:off x="937259" y="1449324"/>
            <a:ext cx="301752" cy="301752"/>
          </a:xfrm>
          <a:prstGeom prst="rect">
            <a:avLst/>
          </a:prstGeom>
        </p:spPr>
      </p:pic>
      <p:sp>
        <p:nvSpPr>
          <p:cNvPr id="29" name="Text"/>
          <p:cNvSpPr txBox="1"/>
          <p:nvPr/>
        </p:nvSpPr>
        <p:spPr>
          <a:xfrm>
            <a:off x="493776"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Character</a:t>
            </a:r>
          </a:p>
        </p:txBody>
      </p:sp>
      <p:sp>
        <p:nvSpPr>
          <p:cNvPr id="30" name="Text"/>
          <p:cNvSpPr txBox="1"/>
          <p:nvPr/>
        </p:nvSpPr>
        <p:spPr>
          <a:xfrm>
            <a:off x="548640" y="2377440"/>
            <a:ext cx="1078992" cy="868680"/>
          </a:xfrm>
          <a:prstGeom prst="rect">
            <a:avLst/>
          </a:prstGeom>
          <a:noFill/>
        </p:spPr>
        <p:txBody>
          <a:bodyPr wrap="square" lIns="0" tIns="0" rIns="0" bIns="0" anchor="t">
            <a:spAutoFit/>
          </a:bodyPr>
          <a:lstStyle/>
          <a:p>
            <a:pPr algn="ctr"/>
            <a:r>
              <a:rPr sz="1300" b="0" i="0">
                <a:solidFill>
                  <a:schemeClr val="tx1"/>
                </a:solidFill>
              </a:rPr>
              <a:t>Who is it?</a:t>
            </a:r>
          </a:p>
        </p:txBody>
      </p:sp>
      <p:sp>
        <p:nvSpPr>
          <p:cNvPr id="31" name="Card"/>
          <p:cNvSpPr/>
          <p:nvPr/>
        </p:nvSpPr>
        <p:spPr>
          <a:xfrm>
            <a:off x="1850745"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2207361" y="1325880"/>
            <a:ext cx="548640" cy="54864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7.png"/>
          <p:cNvPicPr>
            <a:picLocks noChangeAspect="1"/>
          </p:cNvPicPr>
          <p:nvPr/>
        </p:nvPicPr>
        <p:blipFill>
          <a:blip r:embed="rId4"/>
          <a:stretch>
            <a:fillRect/>
          </a:stretch>
        </p:blipFill>
        <p:spPr>
          <a:xfrm>
            <a:off x="2330805" y="1449324"/>
            <a:ext cx="301752" cy="301752"/>
          </a:xfrm>
          <a:prstGeom prst="rect">
            <a:avLst/>
          </a:prstGeom>
        </p:spPr>
      </p:pic>
      <p:sp>
        <p:nvSpPr>
          <p:cNvPr id="34" name="Text"/>
          <p:cNvSpPr txBox="1"/>
          <p:nvPr/>
        </p:nvSpPr>
        <p:spPr>
          <a:xfrm>
            <a:off x="1887321"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Trait</a:t>
            </a:r>
          </a:p>
        </p:txBody>
      </p:sp>
      <p:sp>
        <p:nvSpPr>
          <p:cNvPr id="35" name="Text"/>
          <p:cNvSpPr txBox="1"/>
          <p:nvPr/>
        </p:nvSpPr>
        <p:spPr>
          <a:xfrm>
            <a:off x="1942185" y="2377440"/>
            <a:ext cx="1078992" cy="868680"/>
          </a:xfrm>
          <a:prstGeom prst="rect">
            <a:avLst/>
          </a:prstGeom>
          <a:noFill/>
        </p:spPr>
        <p:txBody>
          <a:bodyPr wrap="square" lIns="0" tIns="0" rIns="0" bIns="0" anchor="t">
            <a:spAutoFit/>
          </a:bodyPr>
          <a:lstStyle/>
          <a:p>
            <a:pPr algn="ctr"/>
            <a:r>
              <a:rPr sz="1300" b="0" i="0">
                <a:solidFill>
                  <a:schemeClr val="tx1"/>
                </a:solidFill>
              </a:rPr>
              <a:t>What are they like?</a:t>
            </a:r>
          </a:p>
        </p:txBody>
      </p:sp>
      <p:sp>
        <p:nvSpPr>
          <p:cNvPr id="36" name="Card"/>
          <p:cNvSpPr/>
          <p:nvPr/>
        </p:nvSpPr>
        <p:spPr>
          <a:xfrm>
            <a:off x="3244291"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3600907" y="1325880"/>
            <a:ext cx="548640" cy="54864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8.png"/>
          <p:cNvPicPr>
            <a:picLocks noChangeAspect="1"/>
          </p:cNvPicPr>
          <p:nvPr/>
        </p:nvPicPr>
        <p:blipFill>
          <a:blip r:embed="rId5"/>
          <a:stretch>
            <a:fillRect/>
          </a:stretch>
        </p:blipFill>
        <p:spPr>
          <a:xfrm>
            <a:off x="3724351" y="1449324"/>
            <a:ext cx="301752" cy="301752"/>
          </a:xfrm>
          <a:prstGeom prst="rect">
            <a:avLst/>
          </a:prstGeom>
        </p:spPr>
      </p:pic>
      <p:sp>
        <p:nvSpPr>
          <p:cNvPr id="39" name="Text"/>
          <p:cNvSpPr txBox="1"/>
          <p:nvPr/>
        </p:nvSpPr>
        <p:spPr>
          <a:xfrm>
            <a:off x="3280867"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Problem</a:t>
            </a:r>
          </a:p>
        </p:txBody>
      </p:sp>
      <p:sp>
        <p:nvSpPr>
          <p:cNvPr id="40" name="Text"/>
          <p:cNvSpPr txBox="1"/>
          <p:nvPr/>
        </p:nvSpPr>
        <p:spPr>
          <a:xfrm>
            <a:off x="3335731" y="2377440"/>
            <a:ext cx="1078992" cy="868680"/>
          </a:xfrm>
          <a:prstGeom prst="rect">
            <a:avLst/>
          </a:prstGeom>
          <a:noFill/>
        </p:spPr>
        <p:txBody>
          <a:bodyPr wrap="square" lIns="0" tIns="0" rIns="0" bIns="0" anchor="t">
            <a:spAutoFit/>
          </a:bodyPr>
          <a:lstStyle/>
          <a:p>
            <a:pPr algn="ctr"/>
            <a:r>
              <a:rPr sz="1300" b="0" i="0">
                <a:solidFill>
                  <a:schemeClr val="tx1"/>
                </a:solidFill>
              </a:rPr>
              <a:t>What goes wrong?</a:t>
            </a:r>
          </a:p>
        </p:txBody>
      </p:sp>
      <p:sp>
        <p:nvSpPr>
          <p:cNvPr id="41" name="Card"/>
          <p:cNvSpPr/>
          <p:nvPr/>
        </p:nvSpPr>
        <p:spPr>
          <a:xfrm>
            <a:off x="4637836"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dge"/>
          <p:cNvSpPr/>
          <p:nvPr/>
        </p:nvSpPr>
        <p:spPr>
          <a:xfrm>
            <a:off x="4994452" y="1325880"/>
            <a:ext cx="548640" cy="54864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Icon" descr="image4.png"/>
          <p:cNvPicPr>
            <a:picLocks noChangeAspect="1"/>
          </p:cNvPicPr>
          <p:nvPr/>
        </p:nvPicPr>
        <p:blipFill>
          <a:blip r:embed="rId6"/>
          <a:stretch>
            <a:fillRect/>
          </a:stretch>
        </p:blipFill>
        <p:spPr>
          <a:xfrm>
            <a:off x="5117896" y="1449324"/>
            <a:ext cx="301752" cy="301752"/>
          </a:xfrm>
          <a:prstGeom prst="rect">
            <a:avLst/>
          </a:prstGeom>
        </p:spPr>
      </p:pic>
      <p:sp>
        <p:nvSpPr>
          <p:cNvPr id="44" name="Text"/>
          <p:cNvSpPr txBox="1"/>
          <p:nvPr/>
        </p:nvSpPr>
        <p:spPr>
          <a:xfrm>
            <a:off x="4674412"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Choice</a:t>
            </a:r>
          </a:p>
        </p:txBody>
      </p:sp>
      <p:sp>
        <p:nvSpPr>
          <p:cNvPr id="45" name="Text"/>
          <p:cNvSpPr txBox="1"/>
          <p:nvPr/>
        </p:nvSpPr>
        <p:spPr>
          <a:xfrm>
            <a:off x="4729276" y="2377440"/>
            <a:ext cx="1078992" cy="868680"/>
          </a:xfrm>
          <a:prstGeom prst="rect">
            <a:avLst/>
          </a:prstGeom>
          <a:noFill/>
        </p:spPr>
        <p:txBody>
          <a:bodyPr wrap="square" lIns="0" tIns="0" rIns="0" bIns="0" anchor="t">
            <a:spAutoFit/>
          </a:bodyPr>
          <a:lstStyle/>
          <a:p>
            <a:pPr algn="ctr"/>
            <a:r>
              <a:rPr sz="1300" b="0" i="0">
                <a:solidFill>
                  <a:schemeClr val="tx1"/>
                </a:solidFill>
              </a:rPr>
              <a:t>What do they do?</a:t>
            </a:r>
          </a:p>
        </p:txBody>
      </p:sp>
      <p:sp>
        <p:nvSpPr>
          <p:cNvPr id="46" name="Card"/>
          <p:cNvSpPr/>
          <p:nvPr/>
        </p:nvSpPr>
        <p:spPr>
          <a:xfrm>
            <a:off x="6031382" y="1188720"/>
            <a:ext cx="1261872" cy="2194560"/>
          </a:xfrm>
          <a:prstGeom prst="roundRect">
            <a:avLst>
              <a:gd name="adj" fmla="val 7000"/>
            </a:avLst>
          </a:prstGeom>
          <a:solidFill>
            <a:schemeClr val="bg2"/>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Badge"/>
          <p:cNvSpPr/>
          <p:nvPr/>
        </p:nvSpPr>
        <p:spPr>
          <a:xfrm>
            <a:off x="6387998" y="132588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Icon" descr="image14.png"/>
          <p:cNvPicPr>
            <a:picLocks noChangeAspect="1"/>
          </p:cNvPicPr>
          <p:nvPr/>
        </p:nvPicPr>
        <p:blipFill>
          <a:blip r:embed="rId7"/>
          <a:stretch>
            <a:fillRect/>
          </a:stretch>
        </p:blipFill>
        <p:spPr>
          <a:xfrm>
            <a:off x="6511442" y="1449324"/>
            <a:ext cx="301752" cy="301752"/>
          </a:xfrm>
          <a:prstGeom prst="rect">
            <a:avLst/>
          </a:prstGeom>
        </p:spPr>
      </p:pic>
      <p:sp>
        <p:nvSpPr>
          <p:cNvPr id="49" name="Text"/>
          <p:cNvSpPr txBox="1"/>
          <p:nvPr/>
        </p:nvSpPr>
        <p:spPr>
          <a:xfrm>
            <a:off x="6067958"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Result</a:t>
            </a:r>
          </a:p>
        </p:txBody>
      </p:sp>
      <p:sp>
        <p:nvSpPr>
          <p:cNvPr id="50" name="Text"/>
          <p:cNvSpPr txBox="1"/>
          <p:nvPr/>
        </p:nvSpPr>
        <p:spPr>
          <a:xfrm>
            <a:off x="6122822" y="2377440"/>
            <a:ext cx="1078992" cy="868680"/>
          </a:xfrm>
          <a:prstGeom prst="rect">
            <a:avLst/>
          </a:prstGeom>
          <a:noFill/>
        </p:spPr>
        <p:txBody>
          <a:bodyPr wrap="square" lIns="0" tIns="0" rIns="0" bIns="0" anchor="t">
            <a:spAutoFit/>
          </a:bodyPr>
          <a:lstStyle/>
          <a:p>
            <a:pPr algn="ctr"/>
            <a:r>
              <a:rPr sz="1300" b="0" i="0">
                <a:solidFill>
                  <a:schemeClr val="tx1"/>
                </a:solidFill>
              </a:rPr>
              <a:t>What happens because of it?</a:t>
            </a:r>
          </a:p>
        </p:txBody>
      </p:sp>
      <p:sp>
        <p:nvSpPr>
          <p:cNvPr id="51" name="Card"/>
          <p:cNvSpPr/>
          <p:nvPr/>
        </p:nvSpPr>
        <p:spPr>
          <a:xfrm>
            <a:off x="7424927" y="1188720"/>
            <a:ext cx="1261872" cy="2194560"/>
          </a:xfrm>
          <a:prstGeom prst="roundRect">
            <a:avLst>
              <a:gd name="adj" fmla="val 7000"/>
            </a:avLst>
          </a:prstGeom>
          <a:solidFill>
            <a:schemeClr val="bg2"/>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adge"/>
          <p:cNvSpPr/>
          <p:nvPr/>
        </p:nvSpPr>
        <p:spPr>
          <a:xfrm>
            <a:off x="7781543" y="132588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Icon" descr="image10.png"/>
          <p:cNvPicPr>
            <a:picLocks noChangeAspect="1"/>
          </p:cNvPicPr>
          <p:nvPr/>
        </p:nvPicPr>
        <p:blipFill>
          <a:blip r:embed="rId8"/>
          <a:stretch>
            <a:fillRect/>
          </a:stretch>
        </p:blipFill>
        <p:spPr>
          <a:xfrm>
            <a:off x="7904988" y="1449324"/>
            <a:ext cx="301752" cy="301752"/>
          </a:xfrm>
          <a:prstGeom prst="rect">
            <a:avLst/>
          </a:prstGeom>
        </p:spPr>
      </p:pic>
      <p:sp>
        <p:nvSpPr>
          <p:cNvPr id="54" name="Text"/>
          <p:cNvSpPr txBox="1"/>
          <p:nvPr/>
        </p:nvSpPr>
        <p:spPr>
          <a:xfrm>
            <a:off x="7461503"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Moral</a:t>
            </a:r>
          </a:p>
        </p:txBody>
      </p:sp>
      <p:sp>
        <p:nvSpPr>
          <p:cNvPr id="55" name="Text"/>
          <p:cNvSpPr txBox="1"/>
          <p:nvPr/>
        </p:nvSpPr>
        <p:spPr>
          <a:xfrm>
            <a:off x="7516367" y="2377440"/>
            <a:ext cx="1078992" cy="868680"/>
          </a:xfrm>
          <a:prstGeom prst="rect">
            <a:avLst/>
          </a:prstGeom>
          <a:noFill/>
        </p:spPr>
        <p:txBody>
          <a:bodyPr wrap="square" lIns="0" tIns="0" rIns="0" bIns="0" anchor="t">
            <a:spAutoFit/>
          </a:bodyPr>
          <a:lstStyle/>
          <a:p>
            <a:pPr algn="ctr"/>
            <a:r>
              <a:rPr sz="1300" b="0" i="0">
                <a:solidFill>
                  <a:schemeClr val="tx1"/>
                </a:solidFill>
              </a:rPr>
              <a:t>What do we learn?</a:t>
            </a:r>
          </a:p>
        </p:txBody>
      </p:sp>
      <p:sp>
        <p:nvSpPr>
          <p:cNvPr id="56" name="Banner"/>
          <p:cNvSpPr/>
          <p:nvPr/>
        </p:nvSpPr>
        <p:spPr>
          <a:xfrm>
            <a:off x="457200" y="361188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Banner text"/>
          <p:cNvSpPr txBox="1"/>
          <p:nvPr/>
        </p:nvSpPr>
        <p:spPr>
          <a:xfrm>
            <a:off x="640080" y="3611880"/>
            <a:ext cx="7863840" cy="502920"/>
          </a:xfrm>
          <a:prstGeom prst="rect">
            <a:avLst/>
          </a:prstGeom>
          <a:noFill/>
        </p:spPr>
        <p:txBody>
          <a:bodyPr wrap="square" lIns="0" tIns="0" rIns="0" bIns="0" anchor="ctr">
            <a:spAutoFit/>
          </a:bodyPr>
          <a:lstStyle/>
          <a:p>
            <a:pPr algn="l"/>
            <a:r>
              <a:rPr sz="1600" b="1" i="0">
                <a:solidFill>
                  <a:schemeClr val="accent1"/>
                </a:solidFill>
              </a:rPr>
              <a:t>Today: </a:t>
            </a:r>
            <a:r>
              <a:rPr sz="1600" b="1" i="0">
                <a:solidFill>
                  <a:schemeClr val="tx2"/>
                </a:solidFill>
              </a:rPr>
              <a:t>the result, the change and the moral. Then the whole fable is read aloud.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Quick recap: Paragraph 3</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In Paragraph 3, we wrote…</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ck text"/>
          <p:cNvSpPr txBox="1"/>
          <p:nvPr/>
        </p:nvSpPr>
        <p:spPr>
          <a:xfrm>
            <a:off x="1097280" y="1764792"/>
            <a:ext cx="4160520" cy="384048"/>
          </a:xfrm>
          <a:prstGeom prst="rect">
            <a:avLst/>
          </a:prstGeom>
          <a:noFill/>
        </p:spPr>
        <p:txBody>
          <a:bodyPr wrap="square" lIns="0" tIns="0" rIns="0" bIns="0" anchor="ctr">
            <a:spAutoFit/>
          </a:bodyPr>
          <a:lstStyle/>
          <a:p>
            <a:pPr algn="l"/>
            <a:r>
              <a:rPr sz="1400" b="0" i="0">
                <a:solidFill>
                  <a:schemeClr val="tx1"/>
                </a:solidFill>
              </a:rPr>
              <a:t>a meeting that followed the problem</a:t>
            </a:r>
          </a:p>
        </p:txBody>
      </p:sp>
      <p:sp>
        <p:nvSpPr>
          <p:cNvPr id="30" name="Checkbox"/>
          <p:cNvSpPr/>
          <p:nvPr/>
        </p:nvSpPr>
        <p:spPr>
          <a:xfrm>
            <a:off x="685800" y="27432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ck text"/>
          <p:cNvSpPr txBox="1"/>
          <p:nvPr/>
        </p:nvSpPr>
        <p:spPr>
          <a:xfrm>
            <a:off x="1097280" y="2679192"/>
            <a:ext cx="4160520" cy="384048"/>
          </a:xfrm>
          <a:prstGeom prst="rect">
            <a:avLst/>
          </a:prstGeom>
          <a:noFill/>
        </p:spPr>
        <p:txBody>
          <a:bodyPr wrap="square" lIns="0" tIns="0" rIns="0" bIns="0" anchor="ctr">
            <a:spAutoFit/>
          </a:bodyPr>
          <a:lstStyle/>
          <a:p>
            <a:pPr algn="l"/>
            <a:r>
              <a:rPr sz="1400" b="0" i="0">
                <a:solidFill>
                  <a:schemeClr val="tx1"/>
                </a:solidFill>
              </a:rPr>
              <a:t>a reaction that showed a feeling</a:t>
            </a:r>
          </a:p>
        </p:txBody>
      </p:sp>
      <p:sp>
        <p:nvSpPr>
          <p:cNvPr id="32" name="Checkbox"/>
          <p:cNvSpPr/>
          <p:nvPr/>
        </p:nvSpPr>
        <p:spPr>
          <a:xfrm>
            <a:off x="685800" y="3200400"/>
            <a:ext cx="256032" cy="256032"/>
          </a:xfrm>
          <a:prstGeom prst="roundRect">
            <a:avLst>
              <a:gd name="adj" fmla="val 20000"/>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ck text"/>
          <p:cNvSpPr txBox="1"/>
          <p:nvPr/>
        </p:nvSpPr>
        <p:spPr>
          <a:xfrm>
            <a:off x="1097280" y="3136392"/>
            <a:ext cx="4160520" cy="384048"/>
          </a:xfrm>
          <a:prstGeom prst="rect">
            <a:avLst/>
          </a:prstGeom>
          <a:noFill/>
        </p:spPr>
        <p:txBody>
          <a:bodyPr wrap="square" lIns="0" tIns="0" rIns="0" bIns="0" anchor="ctr">
            <a:spAutoFit/>
          </a:bodyPr>
          <a:lstStyle/>
          <a:p>
            <a:pPr algn="l"/>
            <a:r>
              <a:rPr sz="1400" b="1" i="0">
                <a:solidFill>
                  <a:schemeClr val="accent6"/>
                </a:solidFill>
              </a:rPr>
              <a:t>a choice that showed the trait</a:t>
            </a:r>
          </a:p>
        </p:txBody>
      </p:sp>
      <p:sp>
        <p:nvSpPr>
          <p:cNvPr id="34" name="Checkbox"/>
          <p:cNvSpPr/>
          <p:nvPr/>
        </p:nvSpPr>
        <p:spPr>
          <a:xfrm>
            <a:off x="685800" y="36576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ck text"/>
          <p:cNvSpPr txBox="1"/>
          <p:nvPr/>
        </p:nvSpPr>
        <p:spPr>
          <a:xfrm>
            <a:off x="1097280" y="3593592"/>
            <a:ext cx="4160520" cy="384048"/>
          </a:xfrm>
          <a:prstGeom prst="rect">
            <a:avLst/>
          </a:prstGeom>
          <a:noFill/>
        </p:spPr>
        <p:txBody>
          <a:bodyPr wrap="square" lIns="0" tIns="0" rIns="0" bIns="0" anchor="ctr">
            <a:spAutoFit/>
          </a:bodyPr>
          <a:lstStyle/>
          <a:p>
            <a:pPr algn="l"/>
            <a:r>
              <a:rPr sz="1400" b="0" i="0">
                <a:solidFill>
                  <a:schemeClr val="tx1"/>
                </a:solidFill>
              </a:rPr>
              <a:t>an ending that stopped before the result</a:t>
            </a:r>
          </a:p>
        </p:txBody>
      </p:sp>
      <p:sp>
        <p:nvSpPr>
          <p:cNvPr id="38" name="Timer card"/>
          <p:cNvSpPr/>
          <p:nvPr/>
        </p:nvSpPr>
        <p:spPr>
          <a:xfrm>
            <a:off x="5669280" y="1188720"/>
            <a:ext cx="3017520" cy="3337560"/>
          </a:xfrm>
          <a:prstGeom prst="roundRect">
            <a:avLst>
              <a:gd name="adj" fmla="val 4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1</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Say your choice in one line: “Because my character is ___, they ___.” Today we write what happens next.</a:t>
            </a:r>
          </a:p>
        </p:txBody>
      </p:sp>
      <p:sp>
        <p:nvSpPr>
          <p:cNvPr id="60" name="Checkbox"/>
          <p:cNvSpPr/>
          <p:nvPr/>
        </p:nvSpPr>
        <p:spPr>
          <a:xfrm>
            <a:off x="685800" y="2286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Check text"/>
          <p:cNvSpPr txBox="1"/>
          <p:nvPr/>
        </p:nvSpPr>
        <p:spPr>
          <a:xfrm>
            <a:off x="1097280" y="2221992"/>
            <a:ext cx="4160520" cy="384048"/>
          </a:xfrm>
          <a:prstGeom prst="rect">
            <a:avLst/>
          </a:prstGeom>
          <a:noFill/>
        </p:spPr>
        <p:txBody>
          <a:bodyPr wrap="square" lIns="0" tIns="0" rIns="0" bIns="0" anchor="ctr">
            <a:spAutoFit/>
          </a:bodyPr>
          <a:lstStyle/>
          <a:p>
            <a:pPr algn="l"/>
            <a:r>
              <a:rPr sz="1400" b="0" i="0">
                <a:solidFill>
                  <a:schemeClr val="tx1"/>
                </a:solidFill>
              </a:rPr>
              <a:t>a line of dialogue that showed what someone wanted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Three parts of Paragraph 4</a:t>
            </a:r>
          </a:p>
        </p:txBody>
      </p:sp>
      <p:sp>
        <p:nvSpPr>
          <p:cNvPr id="3" name="Badge"/>
          <p:cNvSpPr/>
          <p:nvPr/>
        </p:nvSpPr>
        <p:spPr>
          <a:xfrm>
            <a:off x="7955279" y="274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
        <p:nvSpPr>
          <p:cNvPr id="26" name="Card"/>
          <p:cNvSpPr/>
          <p:nvPr/>
        </p:nvSpPr>
        <p:spPr>
          <a:xfrm>
            <a:off x="457200" y="1188720"/>
            <a:ext cx="2624328"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298448"/>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4.png"/>
          <p:cNvPicPr>
            <a:picLocks noChangeAspect="1"/>
          </p:cNvPicPr>
          <p:nvPr/>
        </p:nvPicPr>
        <p:blipFill>
          <a:blip r:embed="rId4"/>
          <a:stretch>
            <a:fillRect/>
          </a:stretch>
        </p:blipFill>
        <p:spPr>
          <a:xfrm>
            <a:off x="1588312" y="1446580"/>
            <a:ext cx="362102" cy="362102"/>
          </a:xfrm>
          <a:prstGeom prst="rect">
            <a:avLst/>
          </a:prstGeom>
        </p:spPr>
      </p:pic>
      <p:sp>
        <p:nvSpPr>
          <p:cNvPr id="29" name="Text"/>
          <p:cNvSpPr txBox="1"/>
          <p:nvPr/>
        </p:nvSpPr>
        <p:spPr>
          <a:xfrm>
            <a:off x="502920" y="2057400"/>
            <a:ext cx="253288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1  Result</a:t>
            </a:r>
          </a:p>
        </p:txBody>
      </p:sp>
      <p:sp>
        <p:nvSpPr>
          <p:cNvPr id="30" name="Text"/>
          <p:cNvSpPr txBox="1"/>
          <p:nvPr/>
        </p:nvSpPr>
        <p:spPr>
          <a:xfrm>
            <a:off x="640080" y="2487168"/>
            <a:ext cx="2258568" cy="914400"/>
          </a:xfrm>
          <a:prstGeom prst="rect">
            <a:avLst/>
          </a:prstGeom>
          <a:noFill/>
        </p:spPr>
        <p:txBody>
          <a:bodyPr wrap="square" lIns="0" tIns="0" rIns="0" bIns="0" anchor="t">
            <a:spAutoFit/>
          </a:bodyPr>
          <a:lstStyle/>
          <a:p>
            <a:pPr algn="ctr"/>
            <a:r>
              <a:rPr sz="1500" b="0" i="0">
                <a:solidFill>
                  <a:schemeClr val="tx1"/>
                </a:solidFill>
              </a:rPr>
              <a:t>What happens because of the character’s choice?</a:t>
            </a:r>
          </a:p>
        </p:txBody>
      </p:sp>
      <p:sp>
        <p:nvSpPr>
          <p:cNvPr id="31" name="Chevron"/>
          <p:cNvSpPr/>
          <p:nvPr/>
        </p:nvSpPr>
        <p:spPr>
          <a:xfrm>
            <a:off x="3108960" y="2148840"/>
            <a:ext cx="146304" cy="365760"/>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ard"/>
          <p:cNvSpPr/>
          <p:nvPr/>
        </p:nvSpPr>
        <p:spPr>
          <a:xfrm>
            <a:off x="3264408" y="1188720"/>
            <a:ext cx="2624328"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adge"/>
          <p:cNvSpPr/>
          <p:nvPr/>
        </p:nvSpPr>
        <p:spPr>
          <a:xfrm>
            <a:off x="4247388" y="1298448"/>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descr="image8.png"/>
          <p:cNvPicPr>
            <a:picLocks noChangeAspect="1"/>
          </p:cNvPicPr>
          <p:nvPr/>
        </p:nvPicPr>
        <p:blipFill>
          <a:blip r:embed="rId5"/>
          <a:stretch>
            <a:fillRect/>
          </a:stretch>
        </p:blipFill>
        <p:spPr>
          <a:xfrm>
            <a:off x="4395520" y="1446580"/>
            <a:ext cx="362102" cy="362102"/>
          </a:xfrm>
          <a:prstGeom prst="rect">
            <a:avLst/>
          </a:prstGeom>
        </p:spPr>
      </p:pic>
      <p:sp>
        <p:nvSpPr>
          <p:cNvPr id="35" name="Text"/>
          <p:cNvSpPr txBox="1"/>
          <p:nvPr/>
        </p:nvSpPr>
        <p:spPr>
          <a:xfrm>
            <a:off x="3310127" y="2057400"/>
            <a:ext cx="253288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2  Change</a:t>
            </a:r>
          </a:p>
        </p:txBody>
      </p:sp>
      <p:sp>
        <p:nvSpPr>
          <p:cNvPr id="36" name="Text"/>
          <p:cNvSpPr txBox="1"/>
          <p:nvPr/>
        </p:nvSpPr>
        <p:spPr>
          <a:xfrm>
            <a:off x="3447288" y="2487168"/>
            <a:ext cx="2258568" cy="914400"/>
          </a:xfrm>
          <a:prstGeom prst="rect">
            <a:avLst/>
          </a:prstGeom>
          <a:noFill/>
        </p:spPr>
        <p:txBody>
          <a:bodyPr wrap="square" lIns="0" tIns="0" rIns="0" bIns="0" anchor="t">
            <a:spAutoFit/>
          </a:bodyPr>
          <a:lstStyle/>
          <a:p>
            <a:pPr algn="ctr"/>
            <a:r>
              <a:rPr sz="1500" b="0" i="0">
                <a:solidFill>
                  <a:schemeClr val="tx1"/>
                </a:solidFill>
              </a:rPr>
              <a:t>What does the character do, feel or realise as a result?</a:t>
            </a:r>
          </a:p>
        </p:txBody>
      </p:sp>
      <p:sp>
        <p:nvSpPr>
          <p:cNvPr id="37" name="Chevron"/>
          <p:cNvSpPr/>
          <p:nvPr/>
        </p:nvSpPr>
        <p:spPr>
          <a:xfrm>
            <a:off x="5916168" y="2148840"/>
            <a:ext cx="146304" cy="365760"/>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ard"/>
          <p:cNvSpPr/>
          <p:nvPr/>
        </p:nvSpPr>
        <p:spPr>
          <a:xfrm>
            <a:off x="6071616" y="1188720"/>
            <a:ext cx="2624328"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dge"/>
          <p:cNvSpPr/>
          <p:nvPr/>
        </p:nvSpPr>
        <p:spPr>
          <a:xfrm>
            <a:off x="7054596" y="1298448"/>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descr="image10.png"/>
          <p:cNvPicPr>
            <a:picLocks noChangeAspect="1"/>
          </p:cNvPicPr>
          <p:nvPr/>
        </p:nvPicPr>
        <p:blipFill>
          <a:blip r:embed="rId6"/>
          <a:stretch>
            <a:fillRect/>
          </a:stretch>
        </p:blipFill>
        <p:spPr>
          <a:xfrm>
            <a:off x="7202728" y="1446580"/>
            <a:ext cx="362102" cy="362102"/>
          </a:xfrm>
          <a:prstGeom prst="rect">
            <a:avLst/>
          </a:prstGeom>
        </p:spPr>
      </p:pic>
      <p:sp>
        <p:nvSpPr>
          <p:cNvPr id="41" name="Text"/>
          <p:cNvSpPr txBox="1"/>
          <p:nvPr/>
        </p:nvSpPr>
        <p:spPr>
          <a:xfrm>
            <a:off x="6117336" y="2057400"/>
            <a:ext cx="253288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3  Moral</a:t>
            </a:r>
          </a:p>
        </p:txBody>
      </p:sp>
      <p:sp>
        <p:nvSpPr>
          <p:cNvPr id="42" name="Text"/>
          <p:cNvSpPr txBox="1"/>
          <p:nvPr/>
        </p:nvSpPr>
        <p:spPr>
          <a:xfrm>
            <a:off x="6254496" y="2487168"/>
            <a:ext cx="2258568" cy="914400"/>
          </a:xfrm>
          <a:prstGeom prst="rect">
            <a:avLst/>
          </a:prstGeom>
          <a:noFill/>
        </p:spPr>
        <p:txBody>
          <a:bodyPr wrap="square" lIns="0" tIns="0" rIns="0" bIns="0" anchor="t">
            <a:spAutoFit/>
          </a:bodyPr>
          <a:lstStyle/>
          <a:p>
            <a:pPr algn="ctr"/>
            <a:r>
              <a:rPr sz="1500" b="0" i="0">
                <a:solidFill>
                  <a:schemeClr val="tx1"/>
                </a:solidFill>
              </a:rPr>
              <a:t>What general lesson can the reader learn from this?</a:t>
            </a:r>
          </a:p>
        </p:txBody>
      </p:sp>
      <p:sp>
        <p:nvSpPr>
          <p:cNvPr id="43" name="Banner"/>
          <p:cNvSpPr/>
          <p:nvPr/>
        </p:nvSpPr>
        <p:spPr>
          <a:xfrm>
            <a:off x="457200" y="361188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Banner text"/>
          <p:cNvSpPr txBox="1"/>
          <p:nvPr/>
        </p:nvSpPr>
        <p:spPr>
          <a:xfrm>
            <a:off x="640080" y="3611880"/>
            <a:ext cx="7863840" cy="502920"/>
          </a:xfrm>
          <a:prstGeom prst="rect">
            <a:avLst/>
          </a:prstGeom>
          <a:noFill/>
        </p:spPr>
        <p:txBody>
          <a:bodyPr wrap="square" lIns="0" tIns="0" rIns="0" bIns="0" anchor="ctr">
            <a:spAutoFit/>
          </a:bodyPr>
          <a:lstStyle/>
          <a:p>
            <a:pPr algn="l"/>
            <a:r>
              <a:rPr sz="1600" b="1" i="0">
                <a:solidFill>
                  <a:schemeClr val="tx2"/>
                </a:solidFill>
              </a:rPr>
              <a:t>Each part grows from the one before: choice → result → change → moral.</a:t>
            </a:r>
          </a:p>
        </p:txBody>
      </p:sp>
      <p:sp>
        <p:nvSpPr>
          <p:cNvPr id="45" name="Banner"/>
          <p:cNvSpPr/>
          <p:nvPr/>
        </p:nvSpPr>
        <p:spPr>
          <a:xfrm>
            <a:off x="457200" y="4160520"/>
            <a:ext cx="8229600" cy="36576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Banner text"/>
          <p:cNvSpPr txBox="1"/>
          <p:nvPr/>
        </p:nvSpPr>
        <p:spPr>
          <a:xfrm>
            <a:off x="640080" y="4160520"/>
            <a:ext cx="7863840" cy="365760"/>
          </a:xfrm>
          <a:prstGeom prst="rect">
            <a:avLst/>
          </a:prstGeom>
          <a:noFill/>
        </p:spPr>
        <p:txBody>
          <a:bodyPr wrap="square" lIns="0" tIns="0" rIns="0" bIns="0" anchor="ctr">
            <a:spAutoFit/>
          </a:bodyPr>
          <a:lstStyle/>
          <a:p>
            <a:pPr algn="l"/>
            <a:r>
              <a:rPr sz="1400" b="1" i="0">
                <a:solidFill>
                  <a:schemeClr val="bg1"/>
                </a:solidFill>
              </a:rPr>
              <a:t>In our fable: 3 to 5 sentences, with the moral last.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Geoffrey’s chain: choice to moral</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6.png"/>
          <p:cNvPicPr>
            <a:picLocks noChangeAspect="1"/>
          </p:cNvPicPr>
          <p:nvPr/>
        </p:nvPicPr>
        <p:blipFill>
          <a:blip r:embed="rId2"/>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
        <p:nvSpPr>
          <p:cNvPr id="26" name="Card"/>
          <p:cNvSpPr/>
          <p:nvPr/>
        </p:nvSpPr>
        <p:spPr>
          <a:xfrm>
            <a:off x="457200"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813815" y="13258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6.png"/>
          <p:cNvPicPr>
            <a:picLocks noChangeAspect="1"/>
          </p:cNvPicPr>
          <p:nvPr/>
        </p:nvPicPr>
        <p:blipFill>
          <a:blip r:embed="rId2"/>
          <a:stretch>
            <a:fillRect/>
          </a:stretch>
        </p:blipFill>
        <p:spPr>
          <a:xfrm>
            <a:off x="937259" y="1449324"/>
            <a:ext cx="301752" cy="301752"/>
          </a:xfrm>
          <a:prstGeom prst="rect">
            <a:avLst/>
          </a:prstGeom>
        </p:spPr>
      </p:pic>
      <p:sp>
        <p:nvSpPr>
          <p:cNvPr id="29" name="Text"/>
          <p:cNvSpPr txBox="1"/>
          <p:nvPr/>
        </p:nvSpPr>
        <p:spPr>
          <a:xfrm>
            <a:off x="493776"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Trait</a:t>
            </a:r>
          </a:p>
        </p:txBody>
      </p:sp>
      <p:sp>
        <p:nvSpPr>
          <p:cNvPr id="30" name="Text"/>
          <p:cNvSpPr txBox="1"/>
          <p:nvPr/>
        </p:nvSpPr>
        <p:spPr>
          <a:xfrm>
            <a:off x="548640" y="2377440"/>
            <a:ext cx="1078992" cy="868680"/>
          </a:xfrm>
          <a:prstGeom prst="rect">
            <a:avLst/>
          </a:prstGeom>
          <a:noFill/>
        </p:spPr>
        <p:txBody>
          <a:bodyPr wrap="square" lIns="0" tIns="0" rIns="0" bIns="0" anchor="t">
            <a:spAutoFit/>
          </a:bodyPr>
          <a:lstStyle/>
          <a:p>
            <a:pPr algn="ctr"/>
            <a:r>
              <a:rPr sz="1300" b="0" i="0">
                <a:solidFill>
                  <a:schemeClr val="tx1"/>
                </a:solidFill>
              </a:rPr>
              <a:t>Dreams but does not prepare</a:t>
            </a:r>
          </a:p>
        </p:txBody>
      </p:sp>
      <p:sp>
        <p:nvSpPr>
          <p:cNvPr id="31" name="Card"/>
          <p:cNvSpPr/>
          <p:nvPr/>
        </p:nvSpPr>
        <p:spPr>
          <a:xfrm>
            <a:off x="1850745"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2207361" y="1325880"/>
            <a:ext cx="548640" cy="54864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7.png"/>
          <p:cNvPicPr>
            <a:picLocks noChangeAspect="1"/>
          </p:cNvPicPr>
          <p:nvPr/>
        </p:nvPicPr>
        <p:blipFill>
          <a:blip r:embed="rId3"/>
          <a:stretch>
            <a:fillRect/>
          </a:stretch>
        </p:blipFill>
        <p:spPr>
          <a:xfrm>
            <a:off x="2330805" y="1449324"/>
            <a:ext cx="301752" cy="301752"/>
          </a:xfrm>
          <a:prstGeom prst="rect">
            <a:avLst/>
          </a:prstGeom>
        </p:spPr>
      </p:pic>
      <p:sp>
        <p:nvSpPr>
          <p:cNvPr id="34" name="Text"/>
          <p:cNvSpPr txBox="1"/>
          <p:nvPr/>
        </p:nvSpPr>
        <p:spPr>
          <a:xfrm>
            <a:off x="1887321"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Problem</a:t>
            </a:r>
          </a:p>
        </p:txBody>
      </p:sp>
      <p:sp>
        <p:nvSpPr>
          <p:cNvPr id="35" name="Text"/>
          <p:cNvSpPr txBox="1"/>
          <p:nvPr/>
        </p:nvSpPr>
        <p:spPr>
          <a:xfrm>
            <a:off x="1942185" y="2377440"/>
            <a:ext cx="1078992" cy="868680"/>
          </a:xfrm>
          <a:prstGeom prst="rect">
            <a:avLst/>
          </a:prstGeom>
          <a:noFill/>
        </p:spPr>
        <p:txBody>
          <a:bodyPr wrap="square" lIns="0" tIns="0" rIns="0" bIns="0" anchor="t">
            <a:spAutoFit/>
          </a:bodyPr>
          <a:lstStyle/>
          <a:p>
            <a:pPr algn="ctr"/>
            <a:r>
              <a:rPr sz="1300" b="0" i="0">
                <a:solidFill>
                  <a:schemeClr val="tx1"/>
                </a:solidFill>
              </a:rPr>
              <a:t>No winter food, and Auntie Anthea blocks his path</a:t>
            </a:r>
          </a:p>
        </p:txBody>
      </p:sp>
      <p:sp>
        <p:nvSpPr>
          <p:cNvPr id="36" name="Card"/>
          <p:cNvSpPr/>
          <p:nvPr/>
        </p:nvSpPr>
        <p:spPr>
          <a:xfrm>
            <a:off x="3244291"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3600907" y="1325880"/>
            <a:ext cx="548640" cy="54864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8.png"/>
          <p:cNvPicPr>
            <a:picLocks noChangeAspect="1"/>
          </p:cNvPicPr>
          <p:nvPr/>
        </p:nvPicPr>
        <p:blipFill>
          <a:blip r:embed="rId4"/>
          <a:stretch>
            <a:fillRect/>
          </a:stretch>
        </p:blipFill>
        <p:spPr>
          <a:xfrm>
            <a:off x="3724351" y="1449324"/>
            <a:ext cx="301752" cy="301752"/>
          </a:xfrm>
          <a:prstGeom prst="rect">
            <a:avLst/>
          </a:prstGeom>
        </p:spPr>
      </p:pic>
      <p:sp>
        <p:nvSpPr>
          <p:cNvPr id="39" name="Text"/>
          <p:cNvSpPr txBox="1"/>
          <p:nvPr/>
        </p:nvSpPr>
        <p:spPr>
          <a:xfrm>
            <a:off x="3280867"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Choice</a:t>
            </a:r>
          </a:p>
        </p:txBody>
      </p:sp>
      <p:sp>
        <p:nvSpPr>
          <p:cNvPr id="40" name="Text"/>
          <p:cNvSpPr txBox="1"/>
          <p:nvPr/>
        </p:nvSpPr>
        <p:spPr>
          <a:xfrm>
            <a:off x="3335731" y="2377440"/>
            <a:ext cx="1078992" cy="868680"/>
          </a:xfrm>
          <a:prstGeom prst="rect">
            <a:avLst/>
          </a:prstGeom>
          <a:noFill/>
        </p:spPr>
        <p:txBody>
          <a:bodyPr wrap="square" lIns="0" tIns="0" rIns="0" bIns="0" anchor="t">
            <a:spAutoFit/>
          </a:bodyPr>
          <a:lstStyle/>
          <a:p>
            <a:pPr algn="ctr"/>
            <a:r>
              <a:rPr sz="1300" b="0" i="0">
                <a:solidFill>
                  <a:schemeClr val="tx1"/>
                </a:solidFill>
              </a:rPr>
              <a:t>He sings instead of running away</a:t>
            </a:r>
          </a:p>
        </p:txBody>
      </p:sp>
      <p:sp>
        <p:nvSpPr>
          <p:cNvPr id="41" name="Card"/>
          <p:cNvSpPr/>
          <p:nvPr/>
        </p:nvSpPr>
        <p:spPr>
          <a:xfrm>
            <a:off x="4637836"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dge"/>
          <p:cNvSpPr/>
          <p:nvPr/>
        </p:nvSpPr>
        <p:spPr>
          <a:xfrm>
            <a:off x="4994452" y="1325880"/>
            <a:ext cx="548640" cy="54864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Icon" descr="image4.png"/>
          <p:cNvPicPr>
            <a:picLocks noChangeAspect="1"/>
          </p:cNvPicPr>
          <p:nvPr/>
        </p:nvPicPr>
        <p:blipFill>
          <a:blip r:embed="rId5"/>
          <a:stretch>
            <a:fillRect/>
          </a:stretch>
        </p:blipFill>
        <p:spPr>
          <a:xfrm>
            <a:off x="5117896" y="1449324"/>
            <a:ext cx="301752" cy="301752"/>
          </a:xfrm>
          <a:prstGeom prst="rect">
            <a:avLst/>
          </a:prstGeom>
        </p:spPr>
      </p:pic>
      <p:sp>
        <p:nvSpPr>
          <p:cNvPr id="44" name="Text"/>
          <p:cNvSpPr txBox="1"/>
          <p:nvPr/>
        </p:nvSpPr>
        <p:spPr>
          <a:xfrm>
            <a:off x="4674412"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Result</a:t>
            </a:r>
          </a:p>
        </p:txBody>
      </p:sp>
      <p:sp>
        <p:nvSpPr>
          <p:cNvPr id="45" name="Text"/>
          <p:cNvSpPr txBox="1"/>
          <p:nvPr/>
        </p:nvSpPr>
        <p:spPr>
          <a:xfrm>
            <a:off x="4729276" y="2377440"/>
            <a:ext cx="1078992" cy="868680"/>
          </a:xfrm>
          <a:prstGeom prst="rect">
            <a:avLst/>
          </a:prstGeom>
          <a:noFill/>
        </p:spPr>
        <p:txBody>
          <a:bodyPr wrap="square" lIns="0" tIns="0" rIns="0" bIns="0" anchor="t">
            <a:spAutoFit/>
          </a:bodyPr>
          <a:lstStyle/>
          <a:p>
            <a:pPr algn="ctr"/>
            <a:r>
              <a:rPr sz="1300" b="0" i="0">
                <a:solidFill>
                  <a:schemeClr val="tx1"/>
                </a:solidFill>
              </a:rPr>
              <a:t>Auntie Anthea listens and lets him go</a:t>
            </a:r>
          </a:p>
        </p:txBody>
      </p:sp>
      <p:sp>
        <p:nvSpPr>
          <p:cNvPr id="46" name="Card"/>
          <p:cNvSpPr/>
          <p:nvPr/>
        </p:nvSpPr>
        <p:spPr>
          <a:xfrm>
            <a:off x="6031382" y="1188720"/>
            <a:ext cx="1261872" cy="2194560"/>
          </a:xfrm>
          <a:prstGeom prst="roundRect">
            <a:avLst>
              <a:gd name="adj" fmla="val 7000"/>
            </a:avLst>
          </a:prstGeom>
          <a:solidFill>
            <a:schemeClr val="bg2"/>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Badge"/>
          <p:cNvSpPr/>
          <p:nvPr/>
        </p:nvSpPr>
        <p:spPr>
          <a:xfrm>
            <a:off x="6387998" y="132588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Icon" descr="image14.png"/>
          <p:cNvPicPr>
            <a:picLocks noChangeAspect="1"/>
          </p:cNvPicPr>
          <p:nvPr/>
        </p:nvPicPr>
        <p:blipFill>
          <a:blip r:embed="rId6"/>
          <a:stretch>
            <a:fillRect/>
          </a:stretch>
        </p:blipFill>
        <p:spPr>
          <a:xfrm>
            <a:off x="6511442" y="1449324"/>
            <a:ext cx="301752" cy="301752"/>
          </a:xfrm>
          <a:prstGeom prst="rect">
            <a:avLst/>
          </a:prstGeom>
        </p:spPr>
      </p:pic>
      <p:sp>
        <p:nvSpPr>
          <p:cNvPr id="49" name="Text"/>
          <p:cNvSpPr txBox="1"/>
          <p:nvPr/>
        </p:nvSpPr>
        <p:spPr>
          <a:xfrm>
            <a:off x="6067958"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Change</a:t>
            </a:r>
          </a:p>
        </p:txBody>
      </p:sp>
      <p:sp>
        <p:nvSpPr>
          <p:cNvPr id="50" name="Text"/>
          <p:cNvSpPr txBox="1"/>
          <p:nvPr/>
        </p:nvSpPr>
        <p:spPr>
          <a:xfrm>
            <a:off x="6122822" y="2377440"/>
            <a:ext cx="1078992" cy="868680"/>
          </a:xfrm>
          <a:prstGeom prst="rect">
            <a:avLst/>
          </a:prstGeom>
          <a:noFill/>
        </p:spPr>
        <p:txBody>
          <a:bodyPr wrap="square" lIns="0" tIns="0" rIns="0" bIns="0" anchor="t">
            <a:spAutoFit/>
          </a:bodyPr>
          <a:lstStyle/>
          <a:p>
            <a:pPr algn="ctr"/>
            <a:r>
              <a:rPr sz="1300" b="0" i="0">
                <a:solidFill>
                  <a:schemeClr val="tx1"/>
                </a:solidFill>
              </a:rPr>
              <a:t>He realises his song saved him but gave no food</a:t>
            </a:r>
          </a:p>
        </p:txBody>
      </p:sp>
      <p:sp>
        <p:nvSpPr>
          <p:cNvPr id="51" name="Card"/>
          <p:cNvSpPr/>
          <p:nvPr/>
        </p:nvSpPr>
        <p:spPr>
          <a:xfrm>
            <a:off x="7424927" y="1188720"/>
            <a:ext cx="1261872" cy="2194560"/>
          </a:xfrm>
          <a:prstGeom prst="roundRect">
            <a:avLst>
              <a:gd name="adj" fmla="val 7000"/>
            </a:avLst>
          </a:prstGeom>
          <a:solidFill>
            <a:schemeClr val="bg2"/>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adge"/>
          <p:cNvSpPr/>
          <p:nvPr/>
        </p:nvSpPr>
        <p:spPr>
          <a:xfrm>
            <a:off x="7781543" y="132588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Icon" descr="image10.png"/>
          <p:cNvPicPr>
            <a:picLocks noChangeAspect="1"/>
          </p:cNvPicPr>
          <p:nvPr/>
        </p:nvPicPr>
        <p:blipFill>
          <a:blip r:embed="rId7"/>
          <a:stretch>
            <a:fillRect/>
          </a:stretch>
        </p:blipFill>
        <p:spPr>
          <a:xfrm>
            <a:off x="7904988" y="1449324"/>
            <a:ext cx="301752" cy="301752"/>
          </a:xfrm>
          <a:prstGeom prst="rect">
            <a:avLst/>
          </a:prstGeom>
        </p:spPr>
      </p:pic>
      <p:sp>
        <p:nvSpPr>
          <p:cNvPr id="54" name="Text"/>
          <p:cNvSpPr txBox="1"/>
          <p:nvPr/>
        </p:nvSpPr>
        <p:spPr>
          <a:xfrm>
            <a:off x="7461503"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Moral</a:t>
            </a:r>
          </a:p>
        </p:txBody>
      </p:sp>
      <p:sp>
        <p:nvSpPr>
          <p:cNvPr id="55" name="Text"/>
          <p:cNvSpPr txBox="1"/>
          <p:nvPr/>
        </p:nvSpPr>
        <p:spPr>
          <a:xfrm>
            <a:off x="7516367" y="2377440"/>
            <a:ext cx="1078992" cy="868680"/>
          </a:xfrm>
          <a:prstGeom prst="rect">
            <a:avLst/>
          </a:prstGeom>
          <a:noFill/>
        </p:spPr>
        <p:txBody>
          <a:bodyPr wrap="square" lIns="0" tIns="0" rIns="0" bIns="0" anchor="t">
            <a:spAutoFit/>
          </a:bodyPr>
          <a:lstStyle/>
          <a:p>
            <a:pPr algn="ctr"/>
            <a:r>
              <a:rPr sz="1300" b="0" i="0">
                <a:solidFill>
                  <a:schemeClr val="tx1"/>
                </a:solidFill>
              </a:rPr>
              <a:t>Dreams are valuable, but preparation matters too</a:t>
            </a:r>
          </a:p>
        </p:txBody>
      </p:sp>
      <p:sp>
        <p:nvSpPr>
          <p:cNvPr id="56" name="Banner"/>
          <p:cNvSpPr/>
          <p:nvPr/>
        </p:nvSpPr>
        <p:spPr>
          <a:xfrm>
            <a:off x="457200" y="361188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Banner text"/>
          <p:cNvSpPr txBox="1"/>
          <p:nvPr/>
        </p:nvSpPr>
        <p:spPr>
          <a:xfrm>
            <a:off x="640080" y="3611880"/>
            <a:ext cx="7863840" cy="502920"/>
          </a:xfrm>
          <a:prstGeom prst="rect">
            <a:avLst/>
          </a:prstGeom>
          <a:noFill/>
        </p:spPr>
        <p:txBody>
          <a:bodyPr wrap="square" lIns="0" tIns="0" rIns="0" bIns="0" anchor="ctr">
            <a:spAutoFit/>
          </a:bodyPr>
          <a:lstStyle/>
          <a:p>
            <a:pPr algn="l"/>
            <a:r>
              <a:rPr sz="1600" b="1" i="0">
                <a:solidFill>
                  <a:schemeClr val="accent1"/>
                </a:solidFill>
              </a:rPr>
              <a:t>Key idea: </a:t>
            </a:r>
            <a:r>
              <a:rPr sz="1600" b="1" i="0">
                <a:solidFill>
                  <a:schemeClr val="tx2"/>
                </a:solidFill>
              </a:rPr>
              <a:t>singing helps Geoffrey escape, but it does not solve his real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Model: Geoffrey’s Paragraph 4</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
        <p:nvSpPr>
          <p:cNvPr id="26" name="Card"/>
          <p:cNvSpPr/>
          <p:nvPr/>
        </p:nvSpPr>
        <p:spPr>
          <a:xfrm>
            <a:off x="457200" y="1188720"/>
            <a:ext cx="548640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325880"/>
            <a:ext cx="5029200" cy="3063240"/>
          </a:xfrm>
          <a:prstGeom prst="rect">
            <a:avLst/>
          </a:prstGeom>
          <a:noFill/>
        </p:spPr>
        <p:txBody>
          <a:bodyPr wrap="square" lIns="0" tIns="0" rIns="0" bIns="0" anchor="ctr">
            <a:spAutoFit/>
          </a:bodyPr>
          <a:lstStyle/>
          <a:p>
            <a:pPr algn="l"/>
            <a:r>
              <a:rPr sz="1700" b="1" i="0">
                <a:solidFill>
                  <a:schemeClr val="accent1"/>
                </a:solidFill>
                <a:latin typeface="Cambria"/>
                <a:ea typeface="Cambria"/>
                <a:cs typeface="Cambria"/>
              </a:rPr>
              <a:t>Because Geoffrey’s song was so beautiful, Auntie Anthea sat down on the cold stone and listened until the last note faded. Then she wiped her eye and let him go. </a:t>
            </a:r>
            <a:r>
              <a:rPr sz="1700" b="1" i="0">
                <a:solidFill>
                  <a:schemeClr val="accent5"/>
                </a:solidFill>
                <a:latin typeface="Cambria"/>
                <a:ea typeface="Cambria"/>
                <a:cs typeface="Cambria"/>
              </a:rPr>
              <a:t>Geoffrey tiptoed away, shivering and hungry, and at last he understood that his song had saved him but could not fill his stomach. </a:t>
            </a:r>
            <a:r>
              <a:rPr sz="1700" b="1" i="0">
                <a:solidFill>
                  <a:schemeClr val="accent3"/>
                </a:solidFill>
                <a:latin typeface="Cambria"/>
                <a:ea typeface="Cambria"/>
                <a:cs typeface="Cambria"/>
              </a:rPr>
              <a:t>Moral: Dreams are wonderful, but a dreamer who does not prepare may go hungry.</a:t>
            </a:r>
          </a:p>
        </p:txBody>
      </p:sp>
      <p:sp>
        <p:nvSpPr>
          <p:cNvPr id="28" name="Key dot"/>
          <p:cNvSpPr/>
          <p:nvPr/>
        </p:nvSpPr>
        <p:spPr>
          <a:xfrm>
            <a:off x="6172200" y="1426464"/>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6492240" y="1371600"/>
            <a:ext cx="2194560" cy="274320"/>
          </a:xfrm>
          <a:prstGeom prst="rect">
            <a:avLst/>
          </a:prstGeom>
          <a:noFill/>
        </p:spPr>
        <p:txBody>
          <a:bodyPr wrap="square" lIns="0" tIns="0" rIns="0" bIns="0" anchor="t">
            <a:spAutoFit/>
          </a:bodyPr>
          <a:lstStyle/>
          <a:p>
            <a:pPr algn="l"/>
            <a:r>
              <a:rPr sz="1500" b="1" i="0">
                <a:solidFill>
                  <a:schemeClr val="tx2"/>
                </a:solidFill>
              </a:rPr>
              <a:t>1  Result</a:t>
            </a:r>
          </a:p>
        </p:txBody>
      </p:sp>
      <p:sp>
        <p:nvSpPr>
          <p:cNvPr id="30" name="Text"/>
          <p:cNvSpPr txBox="1"/>
          <p:nvPr/>
        </p:nvSpPr>
        <p:spPr>
          <a:xfrm>
            <a:off x="6492240" y="1645920"/>
            <a:ext cx="2194560" cy="548640"/>
          </a:xfrm>
          <a:prstGeom prst="rect">
            <a:avLst/>
          </a:prstGeom>
          <a:noFill/>
        </p:spPr>
        <p:txBody>
          <a:bodyPr wrap="square" lIns="0" tIns="0" rIns="0" bIns="0" anchor="t">
            <a:spAutoFit/>
          </a:bodyPr>
          <a:lstStyle/>
          <a:p>
            <a:pPr algn="l"/>
            <a:r>
              <a:rPr sz="1300" b="0" i="0">
                <a:solidFill>
                  <a:schemeClr val="tx1"/>
                </a:solidFill>
              </a:rPr>
              <a:t>Auntie Anthea listens and lets him go</a:t>
            </a:r>
          </a:p>
        </p:txBody>
      </p:sp>
      <p:sp>
        <p:nvSpPr>
          <p:cNvPr id="31" name="Key dot"/>
          <p:cNvSpPr/>
          <p:nvPr/>
        </p:nvSpPr>
        <p:spPr>
          <a:xfrm>
            <a:off x="6172200" y="2386584"/>
            <a:ext cx="182880" cy="1828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92240" y="2331720"/>
            <a:ext cx="2194560" cy="274320"/>
          </a:xfrm>
          <a:prstGeom prst="rect">
            <a:avLst/>
          </a:prstGeom>
          <a:noFill/>
        </p:spPr>
        <p:txBody>
          <a:bodyPr wrap="square" lIns="0" tIns="0" rIns="0" bIns="0" anchor="t">
            <a:spAutoFit/>
          </a:bodyPr>
          <a:lstStyle/>
          <a:p>
            <a:pPr algn="l"/>
            <a:r>
              <a:rPr sz="1500" b="1" i="0">
                <a:solidFill>
                  <a:schemeClr val="tx2"/>
                </a:solidFill>
              </a:rPr>
              <a:t>2  Change</a:t>
            </a:r>
          </a:p>
        </p:txBody>
      </p:sp>
      <p:sp>
        <p:nvSpPr>
          <p:cNvPr id="33" name="Text"/>
          <p:cNvSpPr txBox="1"/>
          <p:nvPr/>
        </p:nvSpPr>
        <p:spPr>
          <a:xfrm>
            <a:off x="6492240" y="2606039"/>
            <a:ext cx="2194560" cy="548640"/>
          </a:xfrm>
          <a:prstGeom prst="rect">
            <a:avLst/>
          </a:prstGeom>
          <a:noFill/>
        </p:spPr>
        <p:txBody>
          <a:bodyPr wrap="square" lIns="0" tIns="0" rIns="0" bIns="0" anchor="t">
            <a:spAutoFit/>
          </a:bodyPr>
          <a:lstStyle/>
          <a:p>
            <a:pPr algn="l"/>
            <a:r>
              <a:rPr sz="1300" b="0" i="0">
                <a:solidFill>
                  <a:schemeClr val="tx1"/>
                </a:solidFill>
              </a:rPr>
              <a:t>He realises his song saved him but gave no food</a:t>
            </a:r>
          </a:p>
        </p:txBody>
      </p:sp>
      <p:sp>
        <p:nvSpPr>
          <p:cNvPr id="34" name="Key dot"/>
          <p:cNvSpPr/>
          <p:nvPr/>
        </p:nvSpPr>
        <p:spPr>
          <a:xfrm>
            <a:off x="6172200" y="3346704"/>
            <a:ext cx="182880" cy="1828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6492240" y="3291840"/>
            <a:ext cx="2194560" cy="274320"/>
          </a:xfrm>
          <a:prstGeom prst="rect">
            <a:avLst/>
          </a:prstGeom>
          <a:noFill/>
        </p:spPr>
        <p:txBody>
          <a:bodyPr wrap="square" lIns="0" tIns="0" rIns="0" bIns="0" anchor="t">
            <a:spAutoFit/>
          </a:bodyPr>
          <a:lstStyle/>
          <a:p>
            <a:pPr algn="l"/>
            <a:r>
              <a:rPr sz="1500" b="1" i="0">
                <a:solidFill>
                  <a:schemeClr val="tx2"/>
                </a:solidFill>
              </a:rPr>
              <a:t>3  Moral</a:t>
            </a:r>
          </a:p>
        </p:txBody>
      </p:sp>
      <p:sp>
        <p:nvSpPr>
          <p:cNvPr id="36" name="Text"/>
          <p:cNvSpPr txBox="1"/>
          <p:nvPr/>
        </p:nvSpPr>
        <p:spPr>
          <a:xfrm>
            <a:off x="6492240" y="3566160"/>
            <a:ext cx="2194560" cy="548640"/>
          </a:xfrm>
          <a:prstGeom prst="rect">
            <a:avLst/>
          </a:prstGeom>
          <a:noFill/>
        </p:spPr>
        <p:txBody>
          <a:bodyPr wrap="square" lIns="0" tIns="0" rIns="0" bIns="0" anchor="t">
            <a:spAutoFit/>
          </a:bodyPr>
          <a:lstStyle/>
          <a:p>
            <a:pPr algn="l"/>
            <a:r>
              <a:rPr sz="1300" b="0" i="0">
                <a:solidFill>
                  <a:schemeClr val="tx1"/>
                </a:solidFill>
              </a:rPr>
              <a:t>Dreams matter, but so does preparing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Link the result to the choice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NOT LINKED</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400" b="1" i="0" dirty="0">
                <a:solidFill>
                  <a:schemeClr val="tx1"/>
                </a:solidFill>
                <a:latin typeface="Cambria"/>
                <a:ea typeface="Cambria"/>
                <a:cs typeface="Cambria"/>
              </a:rPr>
              <a:t>Geoffrey went home.</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LINKED TO THE CHOICE</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500" b="1" i="0">
                <a:solidFill>
                  <a:schemeClr val="tx1"/>
                </a:solidFill>
                <a:latin typeface="Cambria"/>
                <a:ea typeface="Cambria"/>
                <a:cs typeface="Cambria"/>
              </a:rPr>
              <a:t>Auntie Anthea sat down on the cold stone and listened until the last note faded. Then she wiped her eye and let him go.</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A result happens because of the choice. Ask: what happens next because of what he did?</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Partner talk: </a:t>
            </a:r>
            <a:r>
              <a:rPr sz="1600" b="1" i="0">
                <a:solidFill>
                  <a:schemeClr val="bg1"/>
                </a:solidFill>
              </a:rPr>
              <a:t>which result needs Geoffrey’s singing? How do you know?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2700" b="1" i="0">
                <a:solidFill>
                  <a:schemeClr val="tx2"/>
                </a:solidFill>
              </a:rPr>
              <a:t>Answers: the result and the choice</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500" b="1" i="0">
                <a:solidFill>
                  <a:schemeClr val="tx1"/>
                </a:solidFill>
              </a:rPr>
              <a:t>“Listened until the last note faded”  </a:t>
            </a:r>
            <a:r>
              <a:rPr sz="1500" b="0" i="0">
                <a:solidFill>
                  <a:schemeClr val="tx1"/>
                </a:solidFill>
              </a:rPr>
              <a:t>Her action is caused by his song.</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500" b="1" i="0">
                <a:solidFill>
                  <a:schemeClr val="tx1"/>
                </a:solidFill>
              </a:rPr>
              <a:t>“Let him go”  </a:t>
            </a:r>
            <a:r>
              <a:rPr sz="1500" b="0" i="0">
                <a:solidFill>
                  <a:schemeClr val="tx1"/>
                </a:solidFill>
              </a:rPr>
              <a:t>Because of his song, she changes her mind about eating him.</a:t>
            </a:r>
          </a:p>
        </p:txBody>
      </p:sp>
      <p:sp>
        <p:nvSpPr>
          <p:cNvPr id="34" name="Row"/>
          <p:cNvSpPr/>
          <p:nvPr/>
        </p:nvSpPr>
        <p:spPr>
          <a:xfrm>
            <a:off x="457200" y="2889504"/>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0906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163824"/>
            <a:ext cx="182880" cy="182880"/>
          </a:xfrm>
          <a:prstGeom prst="rect">
            <a:avLst/>
          </a:prstGeom>
        </p:spPr>
      </p:pic>
      <p:sp>
        <p:nvSpPr>
          <p:cNvPr id="37" name="Row text"/>
          <p:cNvSpPr txBox="1"/>
          <p:nvPr/>
        </p:nvSpPr>
        <p:spPr>
          <a:xfrm>
            <a:off x="1143000" y="2889504"/>
            <a:ext cx="7360920" cy="731520"/>
          </a:xfrm>
          <a:prstGeom prst="rect">
            <a:avLst/>
          </a:prstGeom>
          <a:noFill/>
        </p:spPr>
        <p:txBody>
          <a:bodyPr wrap="square" lIns="0" tIns="0" rIns="0" bIns="0" anchor="ctr">
            <a:spAutoFit/>
          </a:bodyPr>
          <a:lstStyle/>
          <a:p>
            <a:pPr algn="l"/>
            <a:r>
              <a:rPr sz="1500" b="1" i="0">
                <a:solidFill>
                  <a:schemeClr val="tx1"/>
                </a:solidFill>
              </a:rPr>
              <a:t>“Geoffrey went home”  </a:t>
            </a:r>
            <a:r>
              <a:rPr sz="1500" b="0" i="0">
                <a:solidFill>
                  <a:schemeClr val="tx1"/>
                </a:solidFill>
              </a:rPr>
              <a:t>This could follow any choice. It is not linked.</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The result happens because of the choice. That is why it matters.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Show cause and effect</a:t>
            </a:r>
          </a:p>
        </p:txBody>
      </p:sp>
      <p:sp>
        <p:nvSpPr>
          <p:cNvPr id="3" name="Badge"/>
          <p:cNvSpPr/>
          <p:nvPr/>
        </p:nvSpPr>
        <p:spPr>
          <a:xfrm>
            <a:off x="7955279" y="274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
        <p:nvSpPr>
          <p:cNvPr id="26" name="Card"/>
          <p:cNvSpPr/>
          <p:nvPr/>
        </p:nvSpPr>
        <p:spPr>
          <a:xfrm>
            <a:off x="457200" y="1188720"/>
            <a:ext cx="2624328" cy="23774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8.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because</a:t>
            </a:r>
          </a:p>
        </p:txBody>
      </p:sp>
      <p:sp>
        <p:nvSpPr>
          <p:cNvPr id="30" name="Text"/>
          <p:cNvSpPr txBox="1"/>
          <p:nvPr/>
        </p:nvSpPr>
        <p:spPr>
          <a:xfrm>
            <a:off x="621792" y="2532888"/>
            <a:ext cx="2295144" cy="941832"/>
          </a:xfrm>
          <a:prstGeom prst="rect">
            <a:avLst/>
          </a:prstGeom>
          <a:noFill/>
        </p:spPr>
        <p:txBody>
          <a:bodyPr wrap="square" lIns="0" tIns="0" rIns="0" bIns="0" anchor="t">
            <a:spAutoFit/>
          </a:bodyPr>
          <a:lstStyle/>
          <a:p>
            <a:pPr algn="ctr"/>
            <a:r>
              <a:rPr sz="1500" b="0" i="0">
                <a:solidFill>
                  <a:schemeClr val="tx1"/>
                </a:solidFill>
              </a:rPr>
              <a:t>Auntie Anthea listened because his song was so beautiful.</a:t>
            </a:r>
          </a:p>
        </p:txBody>
      </p:sp>
      <p:sp>
        <p:nvSpPr>
          <p:cNvPr id="31" name="Card"/>
          <p:cNvSpPr/>
          <p:nvPr/>
        </p:nvSpPr>
        <p:spPr>
          <a:xfrm>
            <a:off x="3259836" y="1188720"/>
            <a:ext cx="2624328" cy="23774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4.png"/>
          <p:cNvPicPr>
            <a:picLocks noChangeAspect="1"/>
          </p:cNvPicPr>
          <p:nvPr/>
        </p:nvPicPr>
        <p:blipFill>
          <a:blip r:embed="rId3"/>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so</a:t>
            </a:r>
          </a:p>
        </p:txBody>
      </p:sp>
      <p:sp>
        <p:nvSpPr>
          <p:cNvPr id="35" name="Text"/>
          <p:cNvSpPr txBox="1"/>
          <p:nvPr/>
        </p:nvSpPr>
        <p:spPr>
          <a:xfrm>
            <a:off x="3424428" y="2532888"/>
            <a:ext cx="2295144" cy="941832"/>
          </a:xfrm>
          <a:prstGeom prst="rect">
            <a:avLst/>
          </a:prstGeom>
          <a:noFill/>
        </p:spPr>
        <p:txBody>
          <a:bodyPr wrap="square" lIns="0" tIns="0" rIns="0" bIns="0" anchor="t">
            <a:spAutoFit/>
          </a:bodyPr>
          <a:lstStyle/>
          <a:p>
            <a:pPr algn="ctr"/>
            <a:r>
              <a:rPr sz="1500" b="0" i="0">
                <a:solidFill>
                  <a:schemeClr val="tx1"/>
                </a:solidFill>
              </a:rPr>
              <a:t>Geoffrey sang, so Auntie Anthea sat down to listen.</a:t>
            </a:r>
          </a:p>
        </p:txBody>
      </p:sp>
      <p:sp>
        <p:nvSpPr>
          <p:cNvPr id="36" name="Card"/>
          <p:cNvSpPr/>
          <p:nvPr/>
        </p:nvSpPr>
        <p:spPr>
          <a:xfrm>
            <a:off x="6062472" y="1188720"/>
            <a:ext cx="2624328" cy="23774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4.png"/>
          <p:cNvPicPr>
            <a:picLocks noChangeAspect="1"/>
          </p:cNvPicPr>
          <p:nvPr/>
        </p:nvPicPr>
        <p:blipFill>
          <a:blip r:embed="rId5"/>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as a result</a:t>
            </a:r>
          </a:p>
        </p:txBody>
      </p:sp>
      <p:sp>
        <p:nvSpPr>
          <p:cNvPr id="40" name="Text"/>
          <p:cNvSpPr txBox="1"/>
          <p:nvPr/>
        </p:nvSpPr>
        <p:spPr>
          <a:xfrm>
            <a:off x="6227064" y="2532888"/>
            <a:ext cx="2295144" cy="941832"/>
          </a:xfrm>
          <a:prstGeom prst="rect">
            <a:avLst/>
          </a:prstGeom>
          <a:noFill/>
        </p:spPr>
        <p:txBody>
          <a:bodyPr wrap="square" lIns="0" tIns="0" rIns="0" bIns="0" anchor="t">
            <a:spAutoFit/>
          </a:bodyPr>
          <a:lstStyle/>
          <a:p>
            <a:pPr algn="ctr"/>
            <a:r>
              <a:rPr sz="1500" b="0" i="0">
                <a:solidFill>
                  <a:schemeClr val="tx1"/>
                </a:solidFill>
              </a:rPr>
              <a:t>Geoffrey sang. As a result, Auntie Anthea let him go.</a:t>
            </a:r>
          </a:p>
        </p:txBody>
      </p:sp>
      <p:sp>
        <p:nvSpPr>
          <p:cNvPr id="41" name="Banner"/>
          <p:cNvSpPr/>
          <p:nvPr/>
        </p:nvSpPr>
        <p:spPr>
          <a:xfrm>
            <a:off x="457200" y="3749039"/>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3749039"/>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Geoffrey sang, so ____________. 2 minutes.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dirty="0">
                <a:solidFill>
                  <a:schemeClr val="tx2"/>
                </a:solidFill>
              </a:rPr>
              <a:t>Plan your result</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
        <p:nvSpPr>
          <p:cNvPr id="26" name="Card"/>
          <p:cNvSpPr/>
          <p:nvPr/>
        </p:nvSpPr>
        <p:spPr>
          <a:xfrm>
            <a:off x="457200" y="1188720"/>
            <a:ext cx="3657600" cy="2011680"/>
          </a:xfrm>
          <a:prstGeom prst="roundRect">
            <a:avLst>
              <a:gd name="adj" fmla="val 5500"/>
            </a:avLst>
          </a:prstGeom>
          <a:solidFill>
            <a:schemeClr val="accent1">
              <a:alpha val="12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YOUR TURN</a:t>
            </a:r>
          </a:p>
        </p:txBody>
      </p:sp>
      <p:sp>
        <p:nvSpPr>
          <p:cNvPr id="29" name="Text"/>
          <p:cNvSpPr txBox="1"/>
          <p:nvPr/>
        </p:nvSpPr>
        <p:spPr>
          <a:xfrm>
            <a:off x="640080" y="1737360"/>
            <a:ext cx="3291840" cy="1371600"/>
          </a:xfrm>
          <a:prstGeom prst="rect">
            <a:avLst/>
          </a:prstGeom>
          <a:noFill/>
        </p:spPr>
        <p:txBody>
          <a:bodyPr wrap="square" lIns="0" tIns="0" rIns="0" bIns="0" anchor="ctr">
            <a:spAutoFit/>
          </a:bodyPr>
          <a:lstStyle/>
          <a:p>
            <a:pPr algn="l"/>
            <a:r>
              <a:rPr sz="1900" b="1" i="0">
                <a:solidFill>
                  <a:schemeClr val="tx1"/>
                </a:solidFill>
                <a:latin typeface="Cambria"/>
                <a:ea typeface="Cambria"/>
                <a:cs typeface="Cambria"/>
              </a:rPr>
              <a:t>What happens because of my character’s choice?</a:t>
            </a:r>
          </a:p>
        </p:txBody>
      </p:sp>
      <p:sp>
        <p:nvSpPr>
          <p:cNvPr id="30" name="Card"/>
          <p:cNvSpPr/>
          <p:nvPr/>
        </p:nvSpPr>
        <p:spPr>
          <a:xfrm>
            <a:off x="5029200" y="1188720"/>
            <a:ext cx="3657600" cy="2011680"/>
          </a:xfrm>
          <a:prstGeom prst="roundRect">
            <a:avLst>
              <a:gd name="adj" fmla="val 5500"/>
            </a:avLst>
          </a:prstGeom>
          <a:solidFill>
            <a:schemeClr val="accent4">
              <a:alpha val="12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46304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463040" cy="292608"/>
          </a:xfrm>
          <a:prstGeom prst="rect">
            <a:avLst/>
          </a:prstGeom>
          <a:noFill/>
        </p:spPr>
        <p:txBody>
          <a:bodyPr wrap="square" lIns="0" tIns="0" rIns="0" bIns="0" anchor="ctr">
            <a:spAutoFit/>
          </a:bodyPr>
          <a:lstStyle/>
          <a:p>
            <a:pPr algn="ctr"/>
            <a:r>
              <a:rPr sz="1200" b="1" i="0">
                <a:solidFill>
                  <a:schemeClr val="bg1"/>
                </a:solidFill>
              </a:rPr>
              <a:t>THINK FIRST</a:t>
            </a:r>
          </a:p>
        </p:txBody>
      </p:sp>
      <p:sp>
        <p:nvSpPr>
          <p:cNvPr id="33" name="Text"/>
          <p:cNvSpPr txBox="1"/>
          <p:nvPr/>
        </p:nvSpPr>
        <p:spPr>
          <a:xfrm>
            <a:off x="5212080" y="2030745"/>
            <a:ext cx="3291840" cy="784830"/>
          </a:xfrm>
          <a:prstGeom prst="rect">
            <a:avLst/>
          </a:prstGeom>
          <a:noFill/>
        </p:spPr>
        <p:txBody>
          <a:bodyPr wrap="square" lIns="0" tIns="0" rIns="0" bIns="0" anchor="ctr">
            <a:spAutoFit/>
          </a:bodyPr>
          <a:lstStyle/>
          <a:p>
            <a:pPr algn="l"/>
            <a:r>
              <a:rPr sz="1700" b="1" i="0" dirty="0">
                <a:solidFill>
                  <a:schemeClr val="tx1"/>
                </a:solidFill>
                <a:latin typeface="Cambria"/>
                <a:ea typeface="Cambria"/>
                <a:cs typeface="Cambria"/>
              </a:rPr>
              <a:t>What was my choice? </a:t>
            </a:r>
            <a:endParaRPr lang="en-US" sz="1700" b="1" i="0" dirty="0">
              <a:solidFill>
                <a:schemeClr val="tx1"/>
              </a:solidFill>
              <a:latin typeface="Cambria"/>
              <a:ea typeface="Cambria"/>
              <a:cs typeface="Cambria"/>
            </a:endParaRPr>
          </a:p>
          <a:p>
            <a:pPr algn="l"/>
            <a:r>
              <a:rPr sz="1700" b="1" i="0" dirty="0">
                <a:solidFill>
                  <a:schemeClr val="tx1"/>
                </a:solidFill>
                <a:latin typeface="Cambria"/>
                <a:ea typeface="Cambria"/>
                <a:cs typeface="Cambria"/>
              </a:rPr>
              <a:t>Is the result good or bad for my character? Why?</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The result must happen because of the choice.</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write two ideas. Show your partner. 2 minutes.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Show the change</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8.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TELL</a:t>
            </a:r>
          </a:p>
        </p:txBody>
      </p:sp>
      <p:sp>
        <p:nvSpPr>
          <p:cNvPr id="29" name="Left text"/>
          <p:cNvSpPr txBox="1"/>
          <p:nvPr/>
        </p:nvSpPr>
        <p:spPr>
          <a:xfrm>
            <a:off x="548640" y="1920240"/>
            <a:ext cx="3474720" cy="338554"/>
          </a:xfrm>
          <a:prstGeom prst="rect">
            <a:avLst/>
          </a:prstGeom>
          <a:noFill/>
        </p:spPr>
        <p:txBody>
          <a:bodyPr wrap="square" lIns="0" tIns="0" rIns="0" bIns="0" anchor="ctr">
            <a:spAutoFit/>
          </a:bodyPr>
          <a:lstStyle/>
          <a:p>
            <a:pPr algn="l"/>
            <a:r>
              <a:rPr sz="2200" b="1" i="0">
                <a:solidFill>
                  <a:schemeClr val="tx1"/>
                </a:solidFill>
                <a:latin typeface="Cambria"/>
                <a:ea typeface="Cambria"/>
                <a:cs typeface="Cambria"/>
              </a:rPr>
              <a:t>Geoffrey learned a lesson.</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SHOW</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500" b="1" i="0">
                <a:solidFill>
                  <a:schemeClr val="tx1"/>
                </a:solidFill>
                <a:latin typeface="Cambria"/>
                <a:ea typeface="Cambria"/>
                <a:cs typeface="Cambria"/>
              </a:rPr>
              <a:t>Geoffrey tiptoed away, shivering and hungry, and at last he understood that his song had saved him but could not fill his stomach.</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The change grows from the result: what he does, feels or realises because of it.</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Partner talk: </a:t>
            </a:r>
            <a:r>
              <a:rPr sz="1600" b="1" i="0">
                <a:solidFill>
                  <a:schemeClr val="bg1"/>
                </a:solidFill>
              </a:rPr>
              <a:t>which part of the result makes Geoffrey realise this?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What is a moral?</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0.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NOT A MORAL</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000" b="1" i="0">
                <a:solidFill>
                  <a:schemeClr val="tx1"/>
                </a:solidFill>
                <a:latin typeface="Cambria"/>
                <a:ea typeface="Cambria"/>
                <a:cs typeface="Cambria"/>
              </a:rPr>
              <a:t>Geoffrey sang and Auntie Anthea let him go.</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A MORAL</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700" b="1" i="0">
                <a:solidFill>
                  <a:schemeClr val="tx1"/>
                </a:solidFill>
                <a:latin typeface="Cambria"/>
                <a:ea typeface="Cambria"/>
                <a:cs typeface="Cambria"/>
              </a:rPr>
              <a:t>Dreams are wonderful, but a dreamer who does not prepare may go hungry.</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In our fable, a moral is a general lesson for everyone, not only the character.</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Partner talk: </a:t>
            </a:r>
            <a:r>
              <a:rPr sz="1600" b="1" i="0">
                <a:solidFill>
                  <a:schemeClr val="bg1"/>
                </a:solidFill>
              </a:rPr>
              <a:t>who is the moral for? How can you tell?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Three moral frames</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0.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
        <p:nvSpPr>
          <p:cNvPr id="26" name="Card"/>
          <p:cNvSpPr/>
          <p:nvPr/>
        </p:nvSpPr>
        <p:spPr>
          <a:xfrm>
            <a:off x="457200"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5.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Do ___, or ___.</a:t>
            </a:r>
          </a:p>
        </p:txBody>
      </p:sp>
      <p:sp>
        <p:nvSpPr>
          <p:cNvPr id="30" name="Text"/>
          <p:cNvSpPr txBox="1"/>
          <p:nvPr/>
        </p:nvSpPr>
        <p:spPr>
          <a:xfrm>
            <a:off x="621792" y="2532888"/>
            <a:ext cx="2295144" cy="1170431"/>
          </a:xfrm>
          <a:prstGeom prst="rect">
            <a:avLst/>
          </a:prstGeom>
          <a:noFill/>
        </p:spPr>
        <p:txBody>
          <a:bodyPr wrap="square" lIns="0" tIns="0" rIns="0" bIns="0" anchor="t">
            <a:spAutoFit/>
          </a:bodyPr>
          <a:lstStyle/>
          <a:p>
            <a:pPr algn="ctr"/>
            <a:r>
              <a:rPr sz="1500" b="0" i="0">
                <a:solidFill>
                  <a:schemeClr val="tx1"/>
                </a:solidFill>
              </a:rPr>
              <a:t>Prepare for winter, or you may go hungry.</a:t>
            </a:r>
          </a:p>
        </p:txBody>
      </p:sp>
      <p:sp>
        <p:nvSpPr>
          <p:cNvPr id="31" name="Card"/>
          <p:cNvSpPr/>
          <p:nvPr/>
        </p:nvSpPr>
        <p:spPr>
          <a:xfrm>
            <a:off x="3259836"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7.png"/>
          <p:cNvPicPr>
            <a:picLocks noChangeAspect="1"/>
          </p:cNvPicPr>
          <p:nvPr/>
        </p:nvPicPr>
        <p:blipFill>
          <a:blip r:embed="rId5"/>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A ___ who ___ may ___.</a:t>
            </a:r>
          </a:p>
        </p:txBody>
      </p:sp>
      <p:sp>
        <p:nvSpPr>
          <p:cNvPr id="35" name="Text"/>
          <p:cNvSpPr txBox="1"/>
          <p:nvPr/>
        </p:nvSpPr>
        <p:spPr>
          <a:xfrm>
            <a:off x="3424428" y="2532888"/>
            <a:ext cx="2295144" cy="1170431"/>
          </a:xfrm>
          <a:prstGeom prst="rect">
            <a:avLst/>
          </a:prstGeom>
          <a:noFill/>
        </p:spPr>
        <p:txBody>
          <a:bodyPr wrap="square" lIns="0" tIns="0" rIns="0" bIns="0" anchor="t">
            <a:spAutoFit/>
          </a:bodyPr>
          <a:lstStyle/>
          <a:p>
            <a:pPr algn="ctr"/>
            <a:r>
              <a:rPr sz="1500" b="0" i="0">
                <a:solidFill>
                  <a:schemeClr val="tx1"/>
                </a:solidFill>
              </a:rPr>
              <a:t>A dreamer who does not prepare may go hungry.</a:t>
            </a:r>
          </a:p>
        </p:txBody>
      </p:sp>
      <p:sp>
        <p:nvSpPr>
          <p:cNvPr id="36" name="Card"/>
          <p:cNvSpPr/>
          <p:nvPr/>
        </p:nvSpPr>
        <p:spPr>
          <a:xfrm>
            <a:off x="6062472"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9.png"/>
          <p:cNvPicPr>
            <a:picLocks noChangeAspect="1"/>
          </p:cNvPicPr>
          <p:nvPr/>
        </p:nvPicPr>
        <p:blipFill>
          <a:blip r:embed="rId6"/>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___, but ___.</a:t>
            </a:r>
          </a:p>
        </p:txBody>
      </p:sp>
      <p:sp>
        <p:nvSpPr>
          <p:cNvPr id="40" name="Text"/>
          <p:cNvSpPr txBox="1"/>
          <p:nvPr/>
        </p:nvSpPr>
        <p:spPr>
          <a:xfrm>
            <a:off x="6227064" y="2532888"/>
            <a:ext cx="2295144" cy="1170431"/>
          </a:xfrm>
          <a:prstGeom prst="rect">
            <a:avLst/>
          </a:prstGeom>
          <a:noFill/>
        </p:spPr>
        <p:txBody>
          <a:bodyPr wrap="square" lIns="0" tIns="0" rIns="0" bIns="0" anchor="t">
            <a:spAutoFit/>
          </a:bodyPr>
          <a:lstStyle/>
          <a:p>
            <a:pPr algn="ctr"/>
            <a:r>
              <a:rPr sz="1500" b="0" i="0">
                <a:solidFill>
                  <a:schemeClr val="tx1"/>
                </a:solidFill>
              </a:rPr>
              <a:t>Dreams are wonderful, but they do not fill a stomach.</a:t>
            </a:r>
          </a:p>
        </p:txBody>
      </p:sp>
      <p:sp>
        <p:nvSpPr>
          <p:cNvPr id="41"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In our fable, we avoid names so the lesson applies to everyone.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Does the moral fit?</a:t>
            </a:r>
          </a:p>
        </p:txBody>
      </p:sp>
      <p:sp>
        <p:nvSpPr>
          <p:cNvPr id="3" name="Badge"/>
          <p:cNvSpPr/>
          <p:nvPr/>
        </p:nvSpPr>
        <p:spPr>
          <a:xfrm>
            <a:off x="7955279" y="274320"/>
            <a:ext cx="731520" cy="73152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9.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DOES NOT FIT</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200" b="1" i="0">
                <a:solidFill>
                  <a:schemeClr val="tx1"/>
                </a:solidFill>
                <a:latin typeface="Cambria"/>
                <a:ea typeface="Cambria"/>
                <a:cs typeface="Cambria"/>
              </a:rPr>
              <a:t>Do not talk to strangers.</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FITS THE STORY</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700" b="1" i="0">
                <a:solidFill>
                  <a:schemeClr val="tx1"/>
                </a:solidFill>
                <a:latin typeface="Cambria"/>
                <a:ea typeface="Cambria"/>
                <a:cs typeface="Cambria"/>
              </a:rPr>
              <a:t>Dreams are wonderful, but a dreamer who does not prepare may go hungry.</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A moral fits when it grows from what the character realised.</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write a moral using one frame. Finish: “It fits because ___.” 3 minutes.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I write, we write, you write</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
        <p:nvSpPr>
          <p:cNvPr id="26" name="Card"/>
          <p:cNvSpPr/>
          <p:nvPr/>
        </p:nvSpPr>
        <p:spPr>
          <a:xfrm>
            <a:off x="457200"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5.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I write</a:t>
            </a:r>
          </a:p>
        </p:txBody>
      </p:sp>
      <p:sp>
        <p:nvSpPr>
          <p:cNvPr id="30" name="Text"/>
          <p:cNvSpPr txBox="1"/>
          <p:nvPr/>
        </p:nvSpPr>
        <p:spPr>
          <a:xfrm>
            <a:off x="621792" y="2532888"/>
            <a:ext cx="2295144" cy="1170431"/>
          </a:xfrm>
          <a:prstGeom prst="rect">
            <a:avLst/>
          </a:prstGeom>
          <a:noFill/>
        </p:spPr>
        <p:txBody>
          <a:bodyPr wrap="square" lIns="0" tIns="0" rIns="0" bIns="0" anchor="t">
            <a:spAutoFit/>
          </a:bodyPr>
          <a:lstStyle/>
          <a:p>
            <a:pPr algn="ctr"/>
            <a:r>
              <a:rPr sz="1400" b="0" i="0">
                <a:solidFill>
                  <a:schemeClr val="tx1"/>
                </a:solidFill>
              </a:rPr>
              <a:t>I write the result. I think aloud.</a:t>
            </a:r>
          </a:p>
        </p:txBody>
      </p:sp>
      <p:sp>
        <p:nvSpPr>
          <p:cNvPr id="31" name="Card"/>
          <p:cNvSpPr/>
          <p:nvPr/>
        </p:nvSpPr>
        <p:spPr>
          <a:xfrm>
            <a:off x="3259836"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5.png"/>
          <p:cNvPicPr>
            <a:picLocks noChangeAspect="1"/>
          </p:cNvPicPr>
          <p:nvPr/>
        </p:nvPicPr>
        <p:blipFill>
          <a:blip r:embed="rId3"/>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We write</a:t>
            </a:r>
          </a:p>
        </p:txBody>
      </p:sp>
      <p:sp>
        <p:nvSpPr>
          <p:cNvPr id="35" name="Text"/>
          <p:cNvSpPr txBox="1"/>
          <p:nvPr/>
        </p:nvSpPr>
        <p:spPr>
          <a:xfrm>
            <a:off x="3424428" y="2532888"/>
            <a:ext cx="2295144" cy="1170431"/>
          </a:xfrm>
          <a:prstGeom prst="rect">
            <a:avLst/>
          </a:prstGeom>
          <a:noFill/>
        </p:spPr>
        <p:txBody>
          <a:bodyPr wrap="square" lIns="0" tIns="0" rIns="0" bIns="0" anchor="t">
            <a:spAutoFit/>
          </a:bodyPr>
          <a:lstStyle/>
          <a:p>
            <a:pPr algn="ctr"/>
            <a:r>
              <a:rPr sz="1400" b="0" i="0">
                <a:solidFill>
                  <a:schemeClr val="tx1"/>
                </a:solidFill>
              </a:rPr>
              <a:t>You write the change and the moral on your whiteboards. We choose the best.</a:t>
            </a:r>
          </a:p>
        </p:txBody>
      </p:sp>
      <p:sp>
        <p:nvSpPr>
          <p:cNvPr id="36" name="Card"/>
          <p:cNvSpPr/>
          <p:nvPr/>
        </p:nvSpPr>
        <p:spPr>
          <a:xfrm>
            <a:off x="6062472"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6.png"/>
          <p:cNvPicPr>
            <a:picLocks noChangeAspect="1"/>
          </p:cNvPicPr>
          <p:nvPr/>
        </p:nvPicPr>
        <p:blipFill>
          <a:blip r:embed="rId5"/>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You write</a:t>
            </a:r>
          </a:p>
        </p:txBody>
      </p:sp>
      <p:sp>
        <p:nvSpPr>
          <p:cNvPr id="40" name="Text"/>
          <p:cNvSpPr txBox="1"/>
          <p:nvPr/>
        </p:nvSpPr>
        <p:spPr>
          <a:xfrm>
            <a:off x="6227064" y="2532888"/>
            <a:ext cx="2295144" cy="1170431"/>
          </a:xfrm>
          <a:prstGeom prst="rect">
            <a:avLst/>
          </a:prstGeom>
          <a:noFill/>
        </p:spPr>
        <p:txBody>
          <a:bodyPr wrap="square" lIns="0" tIns="0" rIns="0" bIns="0" anchor="t">
            <a:spAutoFit/>
          </a:bodyPr>
          <a:lstStyle/>
          <a:p>
            <a:pPr algn="ctr"/>
            <a:r>
              <a:rPr sz="1400" b="0" i="0">
                <a:solidFill>
                  <a:schemeClr val="tx1"/>
                </a:solidFill>
              </a:rPr>
              <a:t>You write your own Paragraph 4 using your story map. This is the longest part.</a:t>
            </a:r>
          </a:p>
        </p:txBody>
      </p:sp>
      <p:sp>
        <p:nvSpPr>
          <p:cNvPr id="41"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Watch me. Help me. Then you try.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shared writing</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
        <p:nvSpPr>
          <p:cNvPr id="26" name="Card"/>
          <p:cNvSpPr/>
          <p:nvPr/>
        </p:nvSpPr>
        <p:spPr>
          <a:xfrm>
            <a:off x="457200" y="1188720"/>
            <a:ext cx="3657600" cy="2194560"/>
          </a:xfrm>
          <a:prstGeom prst="roundRect">
            <a:avLst>
              <a:gd name="adj" fmla="val 50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07592"/>
            <a:ext cx="164592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07592"/>
            <a:ext cx="1645920" cy="292608"/>
          </a:xfrm>
          <a:prstGeom prst="rect">
            <a:avLst/>
          </a:prstGeom>
          <a:noFill/>
        </p:spPr>
        <p:txBody>
          <a:bodyPr wrap="square" lIns="0" tIns="0" rIns="0" bIns="0" anchor="ctr">
            <a:spAutoFit/>
          </a:bodyPr>
          <a:lstStyle/>
          <a:p>
            <a:pPr algn="ctr"/>
            <a:r>
              <a:rPr sz="1100" b="1" i="0">
                <a:solidFill>
                  <a:schemeClr val="bg1"/>
                </a:solidFill>
              </a:rPr>
              <a:t>I WRITE: RESULT</a:t>
            </a:r>
          </a:p>
        </p:txBody>
      </p:sp>
      <p:sp>
        <p:nvSpPr>
          <p:cNvPr id="29" name="Text"/>
          <p:cNvSpPr txBox="1"/>
          <p:nvPr/>
        </p:nvSpPr>
        <p:spPr>
          <a:xfrm>
            <a:off x="640080" y="1691640"/>
            <a:ext cx="3291840" cy="1645920"/>
          </a:xfrm>
          <a:prstGeom prst="rect">
            <a:avLst/>
          </a:prstGeom>
          <a:noFill/>
        </p:spPr>
        <p:txBody>
          <a:bodyPr wrap="square" lIns="0" tIns="0" rIns="0" bIns="0" anchor="ctr">
            <a:spAutoFit/>
          </a:bodyPr>
          <a:lstStyle/>
          <a:p>
            <a:pPr algn="l"/>
            <a:r>
              <a:rPr sz="1400" b="1" i="0">
                <a:solidFill>
                  <a:schemeClr val="tx1"/>
                </a:solidFill>
                <a:latin typeface="Cambria"/>
                <a:ea typeface="Cambria"/>
                <a:cs typeface="Cambria"/>
              </a:rPr>
              <a:t>Geoffrey’s song drifted across the frosty field, so Auntie Anthea sat down and listened. When the music ended, she sighed and let him go.</a:t>
            </a:r>
          </a:p>
        </p:txBody>
      </p:sp>
      <p:sp>
        <p:nvSpPr>
          <p:cNvPr id="30" name="Card"/>
          <p:cNvSpPr/>
          <p:nvPr/>
        </p:nvSpPr>
        <p:spPr>
          <a:xfrm>
            <a:off x="5029200" y="1188720"/>
            <a:ext cx="3657600" cy="2194560"/>
          </a:xfrm>
          <a:prstGeom prst="roundRect">
            <a:avLst>
              <a:gd name="adj" fmla="val 5000"/>
            </a:avLst>
          </a:prstGeom>
          <a:solidFill>
            <a:schemeClr val="accent4">
              <a:alpha val="12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07592"/>
            <a:ext cx="256032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07592"/>
            <a:ext cx="2560320" cy="292608"/>
          </a:xfrm>
          <a:prstGeom prst="rect">
            <a:avLst/>
          </a:prstGeom>
          <a:noFill/>
        </p:spPr>
        <p:txBody>
          <a:bodyPr wrap="square" lIns="0" tIns="0" rIns="0" bIns="0" anchor="ctr">
            <a:spAutoFit/>
          </a:bodyPr>
          <a:lstStyle/>
          <a:p>
            <a:pPr algn="ctr"/>
            <a:r>
              <a:rPr sz="1100" b="1" i="0">
                <a:solidFill>
                  <a:schemeClr val="bg1"/>
                </a:solidFill>
              </a:rPr>
              <a:t>WE WRITE: CHANGE + MORAL</a:t>
            </a:r>
          </a:p>
        </p:txBody>
      </p:sp>
      <p:sp>
        <p:nvSpPr>
          <p:cNvPr id="33" name="Text"/>
          <p:cNvSpPr txBox="1"/>
          <p:nvPr/>
        </p:nvSpPr>
        <p:spPr>
          <a:xfrm>
            <a:off x="5212080" y="2268379"/>
            <a:ext cx="3291840" cy="492443"/>
          </a:xfrm>
          <a:prstGeom prst="rect">
            <a:avLst/>
          </a:prstGeom>
          <a:noFill/>
        </p:spPr>
        <p:txBody>
          <a:bodyPr wrap="square" lIns="0" tIns="0" rIns="0" bIns="0" anchor="ctr">
            <a:spAutoFit/>
          </a:bodyPr>
          <a:lstStyle/>
          <a:p>
            <a:pPr algn="l"/>
            <a:r>
              <a:rPr sz="1600" b="1" i="0" dirty="0">
                <a:solidFill>
                  <a:schemeClr val="tx1"/>
                </a:solidFill>
                <a:latin typeface="Cambria"/>
                <a:ea typeface="Cambria"/>
                <a:cs typeface="Cambria"/>
              </a:rPr>
              <a:t>Geoffrey ____________. </a:t>
            </a:r>
            <a:endParaRPr lang="en-US" sz="1600" b="1" i="0" dirty="0">
              <a:solidFill>
                <a:schemeClr val="tx1"/>
              </a:solidFill>
              <a:latin typeface="Cambria"/>
              <a:ea typeface="Cambria"/>
              <a:cs typeface="Cambria"/>
            </a:endParaRPr>
          </a:p>
          <a:p>
            <a:pPr algn="l"/>
            <a:r>
              <a:rPr sz="1600" b="1" i="0" dirty="0">
                <a:solidFill>
                  <a:schemeClr val="tx1"/>
                </a:solidFill>
                <a:latin typeface="Cambria"/>
                <a:ea typeface="Cambria"/>
                <a:cs typeface="Cambria"/>
              </a:rPr>
              <a:t>Moral: ____________.</a:t>
            </a:r>
          </a:p>
        </p:txBody>
      </p:sp>
      <p:sp>
        <p:nvSpPr>
          <p:cNvPr id="34" name="Arrow"/>
          <p:cNvSpPr/>
          <p:nvPr/>
        </p:nvSpPr>
        <p:spPr>
          <a:xfrm>
            <a:off x="4224528" y="201168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566160"/>
            <a:ext cx="8229600" cy="54864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566160"/>
            <a:ext cx="7863840" cy="548640"/>
          </a:xfrm>
          <a:prstGeom prst="rect">
            <a:avLst/>
          </a:prstGeom>
          <a:noFill/>
        </p:spPr>
        <p:txBody>
          <a:bodyPr wrap="square" lIns="0" tIns="0" rIns="0" bIns="0" anchor="ctr">
            <a:spAutoFit/>
          </a:bodyPr>
          <a:lstStyle/>
          <a:p>
            <a:pPr algn="l"/>
            <a:r>
              <a:rPr sz="1400" b="1" i="0">
                <a:solidFill>
                  <a:schemeClr val="tx2"/>
                </a:solidFill>
              </a:rPr>
              <a:t>Check: result because of the choice? Moral is a general lesson that avoids names? Does it fit the trait?</a:t>
            </a:r>
          </a:p>
        </p:txBody>
      </p:sp>
      <p:sp>
        <p:nvSpPr>
          <p:cNvPr id="37" name="Banner"/>
          <p:cNvSpPr/>
          <p:nvPr/>
        </p:nvSpPr>
        <p:spPr>
          <a:xfrm>
            <a:off x="457200" y="4206240"/>
            <a:ext cx="8229600" cy="36576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206240"/>
            <a:ext cx="7863840" cy="365760"/>
          </a:xfrm>
          <a:prstGeom prst="rect">
            <a:avLst/>
          </a:prstGeom>
          <a:noFill/>
        </p:spPr>
        <p:txBody>
          <a:bodyPr wrap="square" lIns="0" tIns="0" rIns="0" bIns="0" anchor="ctr">
            <a:spAutoFit/>
          </a:bodyPr>
          <a:lstStyle/>
          <a:p>
            <a:pPr algn="l"/>
            <a:r>
              <a:rPr sz="1400" b="1" i="0">
                <a:solidFill>
                  <a:schemeClr val="accent2"/>
                </a:solidFill>
              </a:rPr>
              <a:t>Whiteboard: </a:t>
            </a:r>
            <a:r>
              <a:rPr sz="1400" b="1" i="0">
                <a:solidFill>
                  <a:schemeClr val="bg1"/>
                </a:solidFill>
              </a:rPr>
              <a:t>write the change and the moral. 3 minutes.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Choose your path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7.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
        <p:nvSpPr>
          <p:cNvPr id="26" name="Card"/>
          <p:cNvSpPr/>
          <p:nvPr/>
        </p:nvSpPr>
        <p:spPr>
          <a:xfrm>
            <a:off x="457200"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8.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Trail: extra support</a:t>
            </a:r>
          </a:p>
        </p:txBody>
      </p:sp>
      <p:sp>
        <p:nvSpPr>
          <p:cNvPr id="30" name="Text"/>
          <p:cNvSpPr txBox="1"/>
          <p:nvPr/>
        </p:nvSpPr>
        <p:spPr>
          <a:xfrm>
            <a:off x="621792" y="2532888"/>
            <a:ext cx="2295144" cy="1400000"/>
          </a:xfrm>
          <a:prstGeom prst="rect">
            <a:avLst/>
          </a:prstGeom>
          <a:noFill/>
        </p:spPr>
        <p:txBody>
          <a:bodyPr wrap="square" lIns="0" tIns="0" rIns="0" bIns="0" anchor="t">
            <a:spAutoFit/>
          </a:bodyPr>
          <a:lstStyle/>
          <a:p>
            <a:pPr algn="ctr"/>
            <a:r>
              <a:rPr sz="1500" b="0" i="0" dirty="0">
                <a:solidFill>
                  <a:schemeClr val="tx1"/>
                </a:solidFill>
              </a:rPr>
              <a:t>Same goal, extra help</a:t>
            </a:r>
          </a:p>
          <a:p>
            <a:pPr algn="ctr"/>
            <a:r>
              <a:rPr sz="1500" b="0" i="0" dirty="0">
                <a:solidFill>
                  <a:schemeClr val="tx1"/>
                </a:solidFill>
              </a:rPr>
              <a:t>Use the frame: Because my character ___, ___. My character ___. Moral: ___, or ___.</a:t>
            </a:r>
          </a:p>
        </p:txBody>
      </p:sp>
      <p:sp>
        <p:nvSpPr>
          <p:cNvPr id="31" name="Card"/>
          <p:cNvSpPr/>
          <p:nvPr/>
        </p:nvSpPr>
        <p:spPr>
          <a:xfrm>
            <a:off x="3259836"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7.png"/>
          <p:cNvPicPr>
            <a:picLocks noChangeAspect="1"/>
          </p:cNvPicPr>
          <p:nvPr/>
        </p:nvPicPr>
        <p:blipFill>
          <a:blip r:embed="rId3"/>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Ridge: independent</a:t>
            </a:r>
          </a:p>
        </p:txBody>
      </p:sp>
      <p:sp>
        <p:nvSpPr>
          <p:cNvPr id="35" name="Text"/>
          <p:cNvSpPr txBox="1"/>
          <p:nvPr/>
        </p:nvSpPr>
        <p:spPr>
          <a:xfrm>
            <a:off x="3424428" y="2532888"/>
            <a:ext cx="2295144" cy="1400000"/>
          </a:xfrm>
          <a:prstGeom prst="rect">
            <a:avLst/>
          </a:prstGeom>
          <a:noFill/>
        </p:spPr>
        <p:txBody>
          <a:bodyPr wrap="square" lIns="0" tIns="0" rIns="0" bIns="0" anchor="t">
            <a:spAutoFit/>
          </a:bodyPr>
          <a:lstStyle/>
          <a:p>
            <a:pPr algn="ctr"/>
            <a:r>
              <a:rPr sz="1500" b="0" i="0" dirty="0">
                <a:solidFill>
                  <a:schemeClr val="tx1"/>
                </a:solidFill>
              </a:rPr>
              <a:t>Same goal, in your own words: 3 to 5 sentences</a:t>
            </a:r>
          </a:p>
          <a:p>
            <a:pPr algn="ctr"/>
            <a:r>
              <a:rPr sz="1500" b="0" i="0" dirty="0">
                <a:solidFill>
                  <a:schemeClr val="tx1"/>
                </a:solidFill>
              </a:rPr>
              <a:t>Use your story map.</a:t>
            </a:r>
            <a:endParaRPr lang="en-US" sz="1500" b="0" i="0" dirty="0">
              <a:solidFill>
                <a:schemeClr val="tx1"/>
              </a:solidFill>
            </a:endParaRPr>
          </a:p>
          <a:p>
            <a:pPr algn="ctr"/>
            <a:r>
              <a:rPr sz="1500" b="0" i="0" dirty="0">
                <a:solidFill>
                  <a:schemeClr val="tx1"/>
                </a:solidFill>
              </a:rPr>
              <a:t> Include the result, the change and the moral.</a:t>
            </a:r>
          </a:p>
        </p:txBody>
      </p:sp>
      <p:sp>
        <p:nvSpPr>
          <p:cNvPr id="36" name="Card"/>
          <p:cNvSpPr/>
          <p:nvPr/>
        </p:nvSpPr>
        <p:spPr>
          <a:xfrm>
            <a:off x="6062472"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9.png"/>
          <p:cNvPicPr>
            <a:picLocks noChangeAspect="1"/>
          </p:cNvPicPr>
          <p:nvPr/>
        </p:nvPicPr>
        <p:blipFill>
          <a:blip r:embed="rId5"/>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Summit: stretch</a:t>
            </a:r>
          </a:p>
        </p:txBody>
      </p:sp>
      <p:sp>
        <p:nvSpPr>
          <p:cNvPr id="40" name="Text"/>
          <p:cNvSpPr txBox="1"/>
          <p:nvPr/>
        </p:nvSpPr>
        <p:spPr>
          <a:xfrm>
            <a:off x="6227064" y="2532888"/>
            <a:ext cx="2295144" cy="1400000"/>
          </a:xfrm>
          <a:prstGeom prst="rect">
            <a:avLst/>
          </a:prstGeom>
          <a:noFill/>
        </p:spPr>
        <p:txBody>
          <a:bodyPr wrap="square" lIns="0" tIns="0" rIns="0" bIns="0" anchor="t">
            <a:spAutoFit/>
          </a:bodyPr>
          <a:lstStyle/>
          <a:p>
            <a:pPr algn="ctr"/>
            <a:r>
              <a:rPr sz="1500" b="0" i="0">
                <a:solidFill>
                  <a:schemeClr val="tx1"/>
                </a:solidFill>
              </a:rPr>
              <a:t>Same goal, then an extra</a:t>
            </a:r>
          </a:p>
          <a:p>
            <a:pPr algn="ctr"/>
            <a:r>
              <a:rPr sz="1500" b="0" i="0">
                <a:solidFill>
                  <a:schemeClr val="tx1"/>
                </a:solidFill>
              </a:rPr>
              <a:t>Only when your result, change and moral are secure: add a line of speech or some description.</a:t>
            </a:r>
          </a:p>
        </p:txBody>
      </p:sp>
      <p:sp>
        <p:nvSpPr>
          <p:cNvPr id="41" name="Banner"/>
          <p:cNvSpPr/>
          <p:nvPr/>
        </p:nvSpPr>
        <p:spPr>
          <a:xfrm>
            <a:off x="457200" y="416052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160520"/>
            <a:ext cx="7863840" cy="502920"/>
          </a:xfrm>
          <a:prstGeom prst="rect">
            <a:avLst/>
          </a:prstGeom>
          <a:noFill/>
        </p:spPr>
        <p:txBody>
          <a:bodyPr wrap="square" lIns="0" tIns="0" rIns="0" bIns="0" anchor="ctr">
            <a:spAutoFit/>
          </a:bodyPr>
          <a:lstStyle/>
          <a:p>
            <a:pPr algn="l"/>
            <a:r>
              <a:rPr sz="1400" b="1" i="0">
                <a:solidFill>
                  <a:schemeClr val="accent2"/>
                </a:solidFill>
              </a:rPr>
              <a:t>Same goal for everyone: </a:t>
            </a:r>
            <a:r>
              <a:rPr sz="1400" b="1" i="0">
                <a:solidFill>
                  <a:schemeClr val="bg1"/>
                </a:solidFill>
              </a:rPr>
              <a:t>a result linked to the choice, a change in the character, and a moral that fits.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the three paths</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7.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19</a:t>
            </a:fld>
            <a:endParaRPr lang="en-US"/>
          </a:p>
        </p:txBody>
      </p:sp>
      <p:sp>
        <p:nvSpPr>
          <p:cNvPr id="26" name="Card"/>
          <p:cNvSpPr/>
          <p:nvPr/>
        </p:nvSpPr>
        <p:spPr>
          <a:xfrm>
            <a:off x="457200"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594360" y="1298448"/>
            <a:ext cx="502920" cy="5029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8.png"/>
          <p:cNvPicPr>
            <a:picLocks noChangeAspect="1"/>
          </p:cNvPicPr>
          <p:nvPr/>
        </p:nvPicPr>
        <p:blipFill>
          <a:blip r:embed="rId4"/>
          <a:stretch>
            <a:fillRect/>
          </a:stretch>
        </p:blipFill>
        <p:spPr>
          <a:xfrm>
            <a:off x="707517" y="1411604"/>
            <a:ext cx="276606" cy="276606"/>
          </a:xfrm>
          <a:prstGeom prst="rect">
            <a:avLst/>
          </a:prstGeom>
        </p:spPr>
      </p:pic>
      <p:sp>
        <p:nvSpPr>
          <p:cNvPr id="29" name="Text"/>
          <p:cNvSpPr txBox="1"/>
          <p:nvPr/>
        </p:nvSpPr>
        <p:spPr>
          <a:xfrm>
            <a:off x="1234440"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Trail</a:t>
            </a:r>
          </a:p>
        </p:txBody>
      </p:sp>
      <p:sp>
        <p:nvSpPr>
          <p:cNvPr id="30" name="Text"/>
          <p:cNvSpPr txBox="1"/>
          <p:nvPr/>
        </p:nvSpPr>
        <p:spPr>
          <a:xfrm>
            <a:off x="621792" y="1920240"/>
            <a:ext cx="2331720" cy="2560320"/>
          </a:xfrm>
          <a:prstGeom prst="rect">
            <a:avLst/>
          </a:prstGeom>
          <a:noFill/>
        </p:spPr>
        <p:txBody>
          <a:bodyPr wrap="square" lIns="0" tIns="0" rIns="0" bIns="0" anchor="t">
            <a:spAutoFit/>
          </a:bodyPr>
          <a:lstStyle/>
          <a:p>
            <a:pPr algn="l"/>
            <a:r>
              <a:rPr sz="1250" b="0" i="0">
                <a:solidFill>
                  <a:schemeClr val="tx1"/>
                </a:solidFill>
                <a:latin typeface="Cambria"/>
                <a:ea typeface="Cambria"/>
                <a:cs typeface="Cambria"/>
              </a:rPr>
              <a:t>Because Geoffrey sang, Auntie Anthea listened and let him go. Geoffrey realised that his song had saved him but not fed him. Moral: Prepare for winter, or you may go hungry.</a:t>
            </a:r>
          </a:p>
        </p:txBody>
      </p:sp>
      <p:sp>
        <p:nvSpPr>
          <p:cNvPr id="31" name="Card"/>
          <p:cNvSpPr/>
          <p:nvPr/>
        </p:nvSpPr>
        <p:spPr>
          <a:xfrm>
            <a:off x="3259836"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3396996" y="1298448"/>
            <a:ext cx="502920" cy="5029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7.png"/>
          <p:cNvPicPr>
            <a:picLocks noChangeAspect="1"/>
          </p:cNvPicPr>
          <p:nvPr/>
        </p:nvPicPr>
        <p:blipFill>
          <a:blip r:embed="rId3"/>
          <a:stretch>
            <a:fillRect/>
          </a:stretch>
        </p:blipFill>
        <p:spPr>
          <a:xfrm>
            <a:off x="3510152" y="1411604"/>
            <a:ext cx="276606" cy="276606"/>
          </a:xfrm>
          <a:prstGeom prst="rect">
            <a:avLst/>
          </a:prstGeom>
        </p:spPr>
      </p:pic>
      <p:sp>
        <p:nvSpPr>
          <p:cNvPr id="34" name="Text"/>
          <p:cNvSpPr txBox="1"/>
          <p:nvPr/>
        </p:nvSpPr>
        <p:spPr>
          <a:xfrm>
            <a:off x="4037076"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Ridge</a:t>
            </a:r>
          </a:p>
        </p:txBody>
      </p:sp>
      <p:sp>
        <p:nvSpPr>
          <p:cNvPr id="35" name="Text"/>
          <p:cNvSpPr txBox="1"/>
          <p:nvPr/>
        </p:nvSpPr>
        <p:spPr>
          <a:xfrm>
            <a:off x="3424428" y="1920240"/>
            <a:ext cx="2331720" cy="2560320"/>
          </a:xfrm>
          <a:prstGeom prst="rect">
            <a:avLst/>
          </a:prstGeom>
          <a:noFill/>
        </p:spPr>
        <p:txBody>
          <a:bodyPr wrap="square" lIns="0" tIns="0" rIns="0" bIns="0" anchor="t">
            <a:spAutoFit/>
          </a:bodyPr>
          <a:lstStyle/>
          <a:p>
            <a:pPr algn="l"/>
            <a:r>
              <a:rPr sz="1250" b="0" i="0">
                <a:solidFill>
                  <a:schemeClr val="tx1"/>
                </a:solidFill>
                <a:latin typeface="Cambria"/>
                <a:ea typeface="Cambria"/>
                <a:cs typeface="Cambria"/>
              </a:rPr>
              <a:t>Because Geoffrey’s song was so beautiful, Auntie Anthea sat down on the cold stone and listened until the last note faded. Then she wiped her eye and let him go. Geoffrey tiptoed away, shivering and hungry, and at last he understood that his song had saved him but could not fill his stomach. Moral: Dreams are wonderful, but a dreamer who does not prepare may go hungry.</a:t>
            </a:r>
          </a:p>
        </p:txBody>
      </p:sp>
      <p:sp>
        <p:nvSpPr>
          <p:cNvPr id="36" name="Card"/>
          <p:cNvSpPr/>
          <p:nvPr/>
        </p:nvSpPr>
        <p:spPr>
          <a:xfrm>
            <a:off x="6062472"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6199632" y="1298448"/>
            <a:ext cx="502920" cy="5029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9.png"/>
          <p:cNvPicPr>
            <a:picLocks noChangeAspect="1"/>
          </p:cNvPicPr>
          <p:nvPr/>
        </p:nvPicPr>
        <p:blipFill>
          <a:blip r:embed="rId5"/>
          <a:stretch>
            <a:fillRect/>
          </a:stretch>
        </p:blipFill>
        <p:spPr>
          <a:xfrm>
            <a:off x="6312789" y="1411604"/>
            <a:ext cx="276606" cy="276606"/>
          </a:xfrm>
          <a:prstGeom prst="rect">
            <a:avLst/>
          </a:prstGeom>
        </p:spPr>
      </p:pic>
      <p:sp>
        <p:nvSpPr>
          <p:cNvPr id="39" name="Text"/>
          <p:cNvSpPr txBox="1"/>
          <p:nvPr/>
        </p:nvSpPr>
        <p:spPr>
          <a:xfrm>
            <a:off x="6839712"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Summit</a:t>
            </a:r>
          </a:p>
        </p:txBody>
      </p:sp>
      <p:sp>
        <p:nvSpPr>
          <p:cNvPr id="40" name="Text"/>
          <p:cNvSpPr txBox="1"/>
          <p:nvPr/>
        </p:nvSpPr>
        <p:spPr>
          <a:xfrm>
            <a:off x="6227064" y="1920240"/>
            <a:ext cx="2331720" cy="2560320"/>
          </a:xfrm>
          <a:prstGeom prst="rect">
            <a:avLst/>
          </a:prstGeom>
          <a:noFill/>
        </p:spPr>
        <p:txBody>
          <a:bodyPr wrap="square" lIns="0" tIns="0" rIns="0" bIns="0" anchor="t">
            <a:spAutoFit/>
          </a:bodyPr>
          <a:lstStyle/>
          <a:p>
            <a:pPr algn="l"/>
            <a:r>
              <a:rPr sz="1250" b="0" i="0">
                <a:solidFill>
                  <a:schemeClr val="tx1"/>
                </a:solidFill>
                <a:latin typeface="Cambria"/>
                <a:ea typeface="Cambria"/>
                <a:cs typeface="Cambria"/>
              </a:rPr>
              <a:t>Because Geoffrey’s song was so beautiful, Auntie Anthea sat down on the cold stone and listened until the last note faded. “Run along, little one,” she sighed. Geoffrey tiptoed away, shivering and hungry, and at last he understood that his song had saved him but could not fill his stomach. Moral: Dreams are wonderful, but a dreamer who does not prepare may go hungry.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Punctuate speech correctly</a:t>
            </a:r>
          </a:p>
        </p:txBody>
      </p:sp>
      <p:sp>
        <p:nvSpPr>
          <p:cNvPr id="3" name="Badge"/>
          <p:cNvSpPr/>
          <p:nvPr/>
        </p:nvSpPr>
        <p:spPr>
          <a:xfrm>
            <a:off x="7955279" y="274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2"/>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20</a:t>
            </a:fld>
            <a:endParaRPr lang="en-US"/>
          </a:p>
        </p:txBody>
      </p:sp>
      <p:sp>
        <p:nvSpPr>
          <p:cNvPr id="26" name="Card"/>
          <p:cNvSpPr/>
          <p:nvPr/>
        </p:nvSpPr>
        <p:spPr>
          <a:xfrm>
            <a:off x="457200" y="1188720"/>
            <a:ext cx="2624328" cy="28346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8.png"/>
          <p:cNvPicPr>
            <a:picLocks noChangeAspect="1"/>
          </p:cNvPicPr>
          <p:nvPr/>
        </p:nvPicPr>
        <p:blipFill>
          <a:blip r:embed="rId3"/>
          <a:stretch>
            <a:fillRect/>
          </a:stretch>
        </p:blipFill>
        <p:spPr>
          <a:xfrm>
            <a:off x="1588312" y="1474012"/>
            <a:ext cx="362102" cy="362102"/>
          </a:xfrm>
          <a:prstGeom prst="rect">
            <a:avLst/>
          </a:prstGeom>
        </p:spPr>
      </p:pic>
      <p:sp>
        <p:nvSpPr>
          <p:cNvPr id="29" name="Text"/>
          <p:cNvSpPr txBox="1"/>
          <p:nvPr/>
        </p:nvSpPr>
        <p:spPr>
          <a:xfrm>
            <a:off x="457200" y="2104679"/>
            <a:ext cx="2551176" cy="307777"/>
          </a:xfrm>
          <a:prstGeom prst="rect">
            <a:avLst/>
          </a:prstGeom>
          <a:noFill/>
        </p:spPr>
        <p:txBody>
          <a:bodyPr wrap="square" lIns="0" tIns="0" rIns="0" bIns="0" anchor="ctr">
            <a:spAutoFit/>
          </a:bodyPr>
          <a:lstStyle/>
          <a:p>
            <a:pPr algn="ctr"/>
            <a:r>
              <a:rPr sz="2000" b="1" i="0" dirty="0">
                <a:solidFill>
                  <a:schemeClr val="tx2"/>
                </a:solidFill>
                <a:latin typeface="Cambria"/>
                <a:ea typeface="Cambria"/>
                <a:cs typeface="Cambria"/>
              </a:rPr>
              <a:t>Reporting clause first</a:t>
            </a:r>
          </a:p>
        </p:txBody>
      </p:sp>
      <p:sp>
        <p:nvSpPr>
          <p:cNvPr id="30" name="Text"/>
          <p:cNvSpPr txBox="1"/>
          <p:nvPr/>
        </p:nvSpPr>
        <p:spPr>
          <a:xfrm>
            <a:off x="621792" y="2532888"/>
            <a:ext cx="2295144" cy="1371600"/>
          </a:xfrm>
          <a:prstGeom prst="rect">
            <a:avLst/>
          </a:prstGeom>
          <a:noFill/>
        </p:spPr>
        <p:txBody>
          <a:bodyPr wrap="square" lIns="0" tIns="0" rIns="0" bIns="0" anchor="t">
            <a:spAutoFit/>
          </a:bodyPr>
          <a:lstStyle/>
          <a:p>
            <a:pPr algn="ctr"/>
            <a:r>
              <a:rPr sz="1400" b="1" i="0">
                <a:solidFill>
                  <a:schemeClr val="tx1"/>
                </a:solidFill>
              </a:rPr>
              <a:t>Geoffrey whispered, “I am still hungry.”</a:t>
            </a:r>
          </a:p>
          <a:p>
            <a:pPr algn="ctr">
              <a:spcBef>
                <a:spcPts val="600"/>
              </a:spcBef>
            </a:pPr>
            <a:r>
              <a:rPr sz="1300" b="0" i="0">
                <a:solidFill>
                  <a:schemeClr val="tx1"/>
                </a:solidFill>
              </a:rPr>
              <a:t>Comma before the opening inverted commas. Capital letter. End mark inside the closing ones.</a:t>
            </a:r>
          </a:p>
        </p:txBody>
      </p:sp>
      <p:sp>
        <p:nvSpPr>
          <p:cNvPr id="31" name="Card"/>
          <p:cNvSpPr/>
          <p:nvPr/>
        </p:nvSpPr>
        <p:spPr>
          <a:xfrm>
            <a:off x="3259836" y="1188720"/>
            <a:ext cx="2624328" cy="28346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4.png"/>
          <p:cNvPicPr>
            <a:picLocks noChangeAspect="1"/>
          </p:cNvPicPr>
          <p:nvPr/>
        </p:nvPicPr>
        <p:blipFill>
          <a:blip r:embed="rId2"/>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Dialogue first</a:t>
            </a:r>
          </a:p>
        </p:txBody>
      </p:sp>
      <p:sp>
        <p:nvSpPr>
          <p:cNvPr id="35" name="Text"/>
          <p:cNvSpPr txBox="1"/>
          <p:nvPr/>
        </p:nvSpPr>
        <p:spPr>
          <a:xfrm>
            <a:off x="3424428" y="2532888"/>
            <a:ext cx="2295144" cy="1371600"/>
          </a:xfrm>
          <a:prstGeom prst="rect">
            <a:avLst/>
          </a:prstGeom>
          <a:noFill/>
        </p:spPr>
        <p:txBody>
          <a:bodyPr wrap="square" lIns="0" tIns="0" rIns="0" bIns="0" anchor="t">
            <a:spAutoFit/>
          </a:bodyPr>
          <a:lstStyle/>
          <a:p>
            <a:pPr algn="ctr"/>
            <a:r>
              <a:rPr sz="1400" b="1" i="0">
                <a:solidFill>
                  <a:schemeClr val="tx1"/>
                </a:solidFill>
              </a:rPr>
              <a:t>“I am still hungry,” whispered Geoffrey.</a:t>
            </a:r>
          </a:p>
          <a:p>
            <a:pPr algn="ctr">
              <a:spcBef>
                <a:spcPts val="600"/>
              </a:spcBef>
            </a:pPr>
            <a:r>
              <a:rPr sz="1300" b="0" i="0">
                <a:solidFill>
                  <a:schemeClr val="tx1"/>
                </a:solidFill>
              </a:rPr>
              <a:t>Comma inside the closing inverted commas, because the sentence carries on.</a:t>
            </a:r>
          </a:p>
        </p:txBody>
      </p:sp>
      <p:sp>
        <p:nvSpPr>
          <p:cNvPr id="36" name="Card"/>
          <p:cNvSpPr/>
          <p:nvPr/>
        </p:nvSpPr>
        <p:spPr>
          <a:xfrm>
            <a:off x="6062472" y="1188720"/>
            <a:ext cx="2624328" cy="28346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4.png"/>
          <p:cNvPicPr>
            <a:picLocks noChangeAspect="1"/>
          </p:cNvPicPr>
          <p:nvPr/>
        </p:nvPicPr>
        <p:blipFill>
          <a:blip r:embed="rId4"/>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Optional extra</a:t>
            </a:r>
          </a:p>
        </p:txBody>
      </p:sp>
      <p:sp>
        <p:nvSpPr>
          <p:cNvPr id="40" name="Text"/>
          <p:cNvSpPr txBox="1"/>
          <p:nvPr/>
        </p:nvSpPr>
        <p:spPr>
          <a:xfrm>
            <a:off x="6227064" y="2532888"/>
            <a:ext cx="2295144" cy="1371600"/>
          </a:xfrm>
          <a:prstGeom prst="rect">
            <a:avLst/>
          </a:prstGeom>
          <a:noFill/>
        </p:spPr>
        <p:txBody>
          <a:bodyPr wrap="square" lIns="0" tIns="0" rIns="0" bIns="0" anchor="t">
            <a:spAutoFit/>
          </a:bodyPr>
          <a:lstStyle/>
          <a:p>
            <a:pPr algn="ctr"/>
            <a:r>
              <a:rPr sz="1400" b="1" i="0">
                <a:solidFill>
                  <a:schemeClr val="tx1"/>
                </a:solidFill>
              </a:rPr>
              <a:t>“I am still hungry.” Geoffrey rubbed his stomach.</a:t>
            </a:r>
          </a:p>
          <a:p>
            <a:pPr algn="ctr">
              <a:spcBef>
                <a:spcPts val="600"/>
              </a:spcBef>
            </a:pPr>
            <a:r>
              <a:rPr sz="1300" b="0" i="0">
                <a:solidFill>
                  <a:schemeClr val="tx1"/>
                </a:solidFill>
              </a:rPr>
              <a:t>Full stop inside the closing inverted commas. The action is a new sentence.</a:t>
            </a:r>
          </a:p>
        </p:txBody>
      </p:sp>
      <p:sp>
        <p:nvSpPr>
          <p:cNvPr id="41" name="Banner"/>
          <p:cNvSpPr/>
          <p:nvPr/>
        </p:nvSpPr>
        <p:spPr>
          <a:xfrm>
            <a:off x="457200" y="416052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160520"/>
            <a:ext cx="7863840" cy="502920"/>
          </a:xfrm>
          <a:prstGeom prst="rect">
            <a:avLst/>
          </a:prstGeom>
          <a:noFill/>
        </p:spPr>
        <p:txBody>
          <a:bodyPr wrap="square" lIns="0" tIns="0" rIns="0" bIns="0" anchor="ctr">
            <a:spAutoFit/>
          </a:bodyPr>
          <a:lstStyle/>
          <a:p>
            <a:pPr algn="l"/>
            <a:r>
              <a:rPr sz="1400" b="1" i="0">
                <a:solidFill>
                  <a:schemeClr val="accent2"/>
                </a:solidFill>
              </a:rPr>
              <a:t>Rule: </a:t>
            </a:r>
            <a:r>
              <a:rPr sz="1400" b="1" i="0">
                <a:solidFill>
                  <a:schemeClr val="bg1"/>
                </a:solidFill>
              </a:rPr>
              <a:t>the speech verb (said, replied, whispered) can come before or after the speech, or be left out. Its place depends on the sentence.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Success criteria</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21</a:t>
            </a:fld>
            <a:endParaRPr lang="en-US"/>
          </a:p>
        </p:txBody>
      </p:sp>
      <p:sp>
        <p:nvSpPr>
          <p:cNvPr id="26" name="Row"/>
          <p:cNvSpPr/>
          <p:nvPr/>
        </p:nvSpPr>
        <p:spPr>
          <a:xfrm>
            <a:off x="457200" y="1188720"/>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640080" y="1371600"/>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371600"/>
            <a:ext cx="420624" cy="420624"/>
          </a:xfrm>
          <a:prstGeom prst="rect">
            <a:avLst/>
          </a:prstGeom>
          <a:noFill/>
        </p:spPr>
        <p:txBody>
          <a:bodyPr wrap="square" lIns="0" tIns="0" rIns="0" bIns="0" anchor="ctr">
            <a:spAutoFit/>
          </a:bodyPr>
          <a:lstStyle/>
          <a:p>
            <a:pPr algn="ctr"/>
            <a:r>
              <a:rPr sz="1800" b="1" i="0">
                <a:solidFill>
                  <a:schemeClr val="bg1"/>
                </a:solidFill>
              </a:rPr>
              <a:t>1</a:t>
            </a:r>
          </a:p>
        </p:txBody>
      </p:sp>
      <p:sp>
        <p:nvSpPr>
          <p:cNvPr id="29" name="Text"/>
          <p:cNvSpPr txBox="1"/>
          <p:nvPr/>
        </p:nvSpPr>
        <p:spPr>
          <a:xfrm>
            <a:off x="1280160" y="1243584"/>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The result happens because of my choice.</a:t>
            </a:r>
          </a:p>
        </p:txBody>
      </p:sp>
      <p:sp>
        <p:nvSpPr>
          <p:cNvPr id="30" name="Text"/>
          <p:cNvSpPr txBox="1"/>
          <p:nvPr/>
        </p:nvSpPr>
        <p:spPr>
          <a:xfrm>
            <a:off x="1280160" y="1591056"/>
            <a:ext cx="7315200" cy="365760"/>
          </a:xfrm>
          <a:prstGeom prst="rect">
            <a:avLst/>
          </a:prstGeom>
          <a:noFill/>
        </p:spPr>
        <p:txBody>
          <a:bodyPr wrap="square" lIns="0" tIns="0" rIns="0" bIns="0" anchor="t">
            <a:spAutoFit/>
          </a:bodyPr>
          <a:lstStyle/>
          <a:p>
            <a:pPr algn="l"/>
            <a:r>
              <a:rPr sz="1300" b="0" i="0">
                <a:solidFill>
                  <a:schemeClr val="tx1"/>
                </a:solidFill>
              </a:rPr>
              <a:t>I can find because, so or as a result, and the result could only follow from this choice.</a:t>
            </a:r>
          </a:p>
        </p:txBody>
      </p:sp>
      <p:sp>
        <p:nvSpPr>
          <p:cNvPr id="31" name="Row"/>
          <p:cNvSpPr/>
          <p:nvPr/>
        </p:nvSpPr>
        <p:spPr>
          <a:xfrm>
            <a:off x="457200" y="2084832"/>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640080" y="2267712"/>
            <a:ext cx="420624" cy="42062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640080" y="2267712"/>
            <a:ext cx="420624" cy="420624"/>
          </a:xfrm>
          <a:prstGeom prst="rect">
            <a:avLst/>
          </a:prstGeom>
          <a:noFill/>
        </p:spPr>
        <p:txBody>
          <a:bodyPr wrap="square" lIns="0" tIns="0" rIns="0" bIns="0" anchor="ctr">
            <a:spAutoFit/>
          </a:bodyPr>
          <a:lstStyle/>
          <a:p>
            <a:pPr algn="ctr"/>
            <a:r>
              <a:rPr sz="1800" b="1" i="0">
                <a:solidFill>
                  <a:schemeClr val="bg1"/>
                </a:solidFill>
              </a:rPr>
              <a:t>2</a:t>
            </a:r>
          </a:p>
        </p:txBody>
      </p:sp>
      <p:sp>
        <p:nvSpPr>
          <p:cNvPr id="34" name="Text"/>
          <p:cNvSpPr txBox="1"/>
          <p:nvPr/>
        </p:nvSpPr>
        <p:spPr>
          <a:xfrm>
            <a:off x="1280160" y="2139696"/>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My character changes.</a:t>
            </a:r>
          </a:p>
        </p:txBody>
      </p:sp>
      <p:sp>
        <p:nvSpPr>
          <p:cNvPr id="35" name="Text"/>
          <p:cNvSpPr txBox="1"/>
          <p:nvPr/>
        </p:nvSpPr>
        <p:spPr>
          <a:xfrm>
            <a:off x="1280160" y="2487168"/>
            <a:ext cx="7315200" cy="365760"/>
          </a:xfrm>
          <a:prstGeom prst="rect">
            <a:avLst/>
          </a:prstGeom>
          <a:noFill/>
        </p:spPr>
        <p:txBody>
          <a:bodyPr wrap="square" lIns="0" tIns="0" rIns="0" bIns="0" anchor="t">
            <a:spAutoFit/>
          </a:bodyPr>
          <a:lstStyle/>
          <a:p>
            <a:pPr algn="l"/>
            <a:r>
              <a:rPr sz="1300" b="0" i="0">
                <a:solidFill>
                  <a:schemeClr val="tx1"/>
                </a:solidFill>
              </a:rPr>
              <a:t>They do, feel or realise something because of the result. I can point to the sentence that shows it.</a:t>
            </a:r>
          </a:p>
        </p:txBody>
      </p:sp>
      <p:sp>
        <p:nvSpPr>
          <p:cNvPr id="36" name="Row"/>
          <p:cNvSpPr/>
          <p:nvPr/>
        </p:nvSpPr>
        <p:spPr>
          <a:xfrm>
            <a:off x="457200" y="2980944"/>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640080" y="3163824"/>
            <a:ext cx="420624" cy="42062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640080" y="3163824"/>
            <a:ext cx="420624" cy="420624"/>
          </a:xfrm>
          <a:prstGeom prst="rect">
            <a:avLst/>
          </a:prstGeom>
          <a:noFill/>
        </p:spPr>
        <p:txBody>
          <a:bodyPr wrap="square" lIns="0" tIns="0" rIns="0" bIns="0" anchor="ctr">
            <a:spAutoFit/>
          </a:bodyPr>
          <a:lstStyle/>
          <a:p>
            <a:pPr algn="ctr"/>
            <a:r>
              <a:rPr sz="1800" b="1" i="0">
                <a:solidFill>
                  <a:schemeClr val="bg1"/>
                </a:solidFill>
              </a:rPr>
              <a:t>3</a:t>
            </a:r>
          </a:p>
        </p:txBody>
      </p:sp>
      <p:sp>
        <p:nvSpPr>
          <p:cNvPr id="39" name="Text"/>
          <p:cNvSpPr txBox="1"/>
          <p:nvPr/>
        </p:nvSpPr>
        <p:spPr>
          <a:xfrm>
            <a:off x="1280160" y="3035808"/>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My moral fits my story.</a:t>
            </a:r>
          </a:p>
        </p:txBody>
      </p:sp>
      <p:sp>
        <p:nvSpPr>
          <p:cNvPr id="40" name="Text"/>
          <p:cNvSpPr txBox="1"/>
          <p:nvPr/>
        </p:nvSpPr>
        <p:spPr>
          <a:xfrm>
            <a:off x="1280160" y="3383279"/>
            <a:ext cx="7315200" cy="365760"/>
          </a:xfrm>
          <a:prstGeom prst="rect">
            <a:avLst/>
          </a:prstGeom>
          <a:noFill/>
        </p:spPr>
        <p:txBody>
          <a:bodyPr wrap="square" lIns="0" tIns="0" rIns="0" bIns="0" anchor="t">
            <a:spAutoFit/>
          </a:bodyPr>
          <a:lstStyle/>
          <a:p>
            <a:pPr algn="l"/>
            <a:r>
              <a:rPr sz="1300" b="0" i="0">
                <a:solidFill>
                  <a:schemeClr val="tx1"/>
                </a:solidFill>
              </a:rPr>
              <a:t>It is a general lesson that avoids names. I can say why it fits: it grows from what my character realised.</a:t>
            </a:r>
          </a:p>
        </p:txBody>
      </p:sp>
      <p:sp>
        <p:nvSpPr>
          <p:cNvPr id="41" name="Banner"/>
          <p:cNvSpPr/>
          <p:nvPr/>
        </p:nvSpPr>
        <p:spPr>
          <a:xfrm>
            <a:off x="457200" y="3977639"/>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3977639"/>
            <a:ext cx="7863840" cy="502920"/>
          </a:xfrm>
          <a:prstGeom prst="rect">
            <a:avLst/>
          </a:prstGeom>
          <a:noFill/>
        </p:spPr>
        <p:txBody>
          <a:bodyPr wrap="square" lIns="0" tIns="0" rIns="0" bIns="0" anchor="ctr">
            <a:spAutoFit/>
          </a:bodyPr>
          <a:lstStyle/>
          <a:p>
            <a:pPr algn="l"/>
            <a:r>
              <a:rPr sz="1600" b="1" i="0">
                <a:solidFill>
                  <a:schemeClr val="tx2"/>
                </a:solidFill>
              </a:rPr>
              <a:t>Result → change → moral. Speech and reading aloud come after, as polish.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Write Paragraph 4</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0.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My Paragraph 4: 3 to 5 sentences</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ck text"/>
          <p:cNvSpPr txBox="1"/>
          <p:nvPr/>
        </p:nvSpPr>
        <p:spPr>
          <a:xfrm>
            <a:off x="1097280" y="1764792"/>
            <a:ext cx="4160520" cy="384048"/>
          </a:xfrm>
          <a:prstGeom prst="rect">
            <a:avLst/>
          </a:prstGeom>
          <a:noFill/>
        </p:spPr>
        <p:txBody>
          <a:bodyPr wrap="square" lIns="0" tIns="0" rIns="0" bIns="0" anchor="ctr">
            <a:spAutoFit/>
          </a:bodyPr>
          <a:lstStyle/>
          <a:p>
            <a:pPr algn="l"/>
            <a:r>
              <a:rPr sz="1400" b="0" i="0">
                <a:solidFill>
                  <a:schemeClr val="tx1"/>
                </a:solidFill>
              </a:rPr>
              <a:t>1  Result: what happens because of the choice?</a:t>
            </a:r>
          </a:p>
        </p:txBody>
      </p:sp>
      <p:sp>
        <p:nvSpPr>
          <p:cNvPr id="30" name="Checkbox"/>
          <p:cNvSpPr/>
          <p:nvPr/>
        </p:nvSpPr>
        <p:spPr>
          <a:xfrm>
            <a:off x="685800" y="2286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ck text"/>
          <p:cNvSpPr txBox="1"/>
          <p:nvPr/>
        </p:nvSpPr>
        <p:spPr>
          <a:xfrm>
            <a:off x="1097280" y="2221992"/>
            <a:ext cx="4160520" cy="384048"/>
          </a:xfrm>
          <a:prstGeom prst="rect">
            <a:avLst/>
          </a:prstGeom>
          <a:noFill/>
        </p:spPr>
        <p:txBody>
          <a:bodyPr wrap="square" lIns="0" tIns="0" rIns="0" bIns="0" anchor="ctr">
            <a:spAutoFit/>
          </a:bodyPr>
          <a:lstStyle/>
          <a:p>
            <a:pPr algn="l"/>
            <a:r>
              <a:rPr sz="1400" b="0" i="0">
                <a:solidFill>
                  <a:schemeClr val="tx1"/>
                </a:solidFill>
              </a:rPr>
              <a:t>2  Change: what do they do, feel or realise?</a:t>
            </a:r>
          </a:p>
        </p:txBody>
      </p:sp>
      <p:sp>
        <p:nvSpPr>
          <p:cNvPr id="32" name="Checkbox"/>
          <p:cNvSpPr/>
          <p:nvPr/>
        </p:nvSpPr>
        <p:spPr>
          <a:xfrm>
            <a:off x="685800" y="27432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ck text"/>
          <p:cNvSpPr txBox="1"/>
          <p:nvPr/>
        </p:nvSpPr>
        <p:spPr>
          <a:xfrm>
            <a:off x="1097280" y="2679192"/>
            <a:ext cx="4160520" cy="384048"/>
          </a:xfrm>
          <a:prstGeom prst="rect">
            <a:avLst/>
          </a:prstGeom>
          <a:noFill/>
        </p:spPr>
        <p:txBody>
          <a:bodyPr wrap="square" lIns="0" tIns="0" rIns="0" bIns="0" anchor="ctr">
            <a:spAutoFit/>
          </a:bodyPr>
          <a:lstStyle/>
          <a:p>
            <a:pPr algn="l"/>
            <a:r>
              <a:rPr sz="1400" b="0" i="0">
                <a:solidFill>
                  <a:schemeClr val="tx1"/>
                </a:solidFill>
              </a:rPr>
              <a:t>3  Moral: what general lesson can readers learn?</a:t>
            </a:r>
          </a:p>
        </p:txBody>
      </p:sp>
      <p:sp>
        <p:nvSpPr>
          <p:cNvPr id="34" name="Checkbox"/>
          <p:cNvSpPr/>
          <p:nvPr/>
        </p:nvSpPr>
        <p:spPr>
          <a:xfrm>
            <a:off x="685800" y="32004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ck text"/>
          <p:cNvSpPr txBox="1"/>
          <p:nvPr/>
        </p:nvSpPr>
        <p:spPr>
          <a:xfrm>
            <a:off x="1097280" y="3136392"/>
            <a:ext cx="4160520" cy="384048"/>
          </a:xfrm>
          <a:prstGeom prst="rect">
            <a:avLst/>
          </a:prstGeom>
          <a:noFill/>
        </p:spPr>
        <p:txBody>
          <a:bodyPr wrap="square" lIns="0" tIns="0" rIns="0" bIns="0" anchor="ctr">
            <a:spAutoFit/>
          </a:bodyPr>
          <a:lstStyle/>
          <a:p>
            <a:pPr algn="l"/>
            <a:r>
              <a:rPr sz="1400" b="0" i="0">
                <a:solidFill>
                  <a:schemeClr val="tx1"/>
                </a:solidFill>
              </a:rPr>
              <a:t>Each part grows from the one before</a:t>
            </a:r>
          </a:p>
        </p:txBody>
      </p:sp>
      <p:sp>
        <p:nvSpPr>
          <p:cNvPr id="36" name="Checkbox"/>
          <p:cNvSpPr/>
          <p:nvPr/>
        </p:nvSpPr>
        <p:spPr>
          <a:xfrm>
            <a:off x="685800" y="36576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heck text"/>
          <p:cNvSpPr txBox="1"/>
          <p:nvPr/>
        </p:nvSpPr>
        <p:spPr>
          <a:xfrm>
            <a:off x="1097280" y="3593592"/>
            <a:ext cx="4160520" cy="384048"/>
          </a:xfrm>
          <a:prstGeom prst="rect">
            <a:avLst/>
          </a:prstGeom>
          <a:noFill/>
        </p:spPr>
        <p:txBody>
          <a:bodyPr wrap="square" lIns="0" tIns="0" rIns="0" bIns="0" anchor="ctr">
            <a:spAutoFit/>
          </a:bodyPr>
          <a:lstStyle/>
          <a:p>
            <a:pPr algn="l"/>
            <a:r>
              <a:rPr sz="1400" b="0" i="0">
                <a:solidFill>
                  <a:schemeClr val="tx1"/>
                </a:solidFill>
              </a:rPr>
              <a:t>Change can be 1 or 2 sentences, or use a frame</a:t>
            </a:r>
          </a:p>
        </p:txBody>
      </p:sp>
      <p:sp>
        <p:nvSpPr>
          <p:cNvPr id="38" name="Timer card"/>
          <p:cNvSpPr/>
          <p:nvPr/>
        </p:nvSpPr>
        <p:spPr>
          <a:xfrm>
            <a:off x="5669280" y="1188720"/>
            <a:ext cx="3017520" cy="3337560"/>
          </a:xfrm>
          <a:prstGeom prst="roundRect">
            <a:avLst>
              <a:gd name="adj" fmla="val 4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18</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Quiet writing. Use your story map and Geoffrey’s model. In our fable, the moral comes last.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Stop: check Paragraph 4</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23</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Read it quietly</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1097280" y="1746504"/>
            <a:ext cx="4160520" cy="457200"/>
          </a:xfrm>
          <a:prstGeom prst="rect">
            <a:avLst/>
          </a:prstGeom>
          <a:noFill/>
        </p:spPr>
        <p:txBody>
          <a:bodyPr wrap="square" lIns="0" tIns="0" rIns="0" bIns="0" anchor="ctr">
            <a:spAutoFit/>
          </a:bodyPr>
          <a:lstStyle/>
          <a:p>
            <a:pPr algn="l"/>
            <a:r>
              <a:rPr sz="1400" b="0" i="0">
                <a:solidFill>
                  <a:schemeClr val="tx1"/>
                </a:solidFill>
              </a:rPr>
              <a:t>Does my result happen because of my choice?</a:t>
            </a:r>
          </a:p>
        </p:txBody>
      </p:sp>
      <p:sp>
        <p:nvSpPr>
          <p:cNvPr id="30" name="Checkbox"/>
          <p:cNvSpPr/>
          <p:nvPr/>
        </p:nvSpPr>
        <p:spPr>
          <a:xfrm>
            <a:off x="685800" y="2359151"/>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1097280" y="2276856"/>
            <a:ext cx="4160520" cy="457200"/>
          </a:xfrm>
          <a:prstGeom prst="rect">
            <a:avLst/>
          </a:prstGeom>
          <a:noFill/>
        </p:spPr>
        <p:txBody>
          <a:bodyPr wrap="square" lIns="0" tIns="0" rIns="0" bIns="0" anchor="ctr">
            <a:spAutoFit/>
          </a:bodyPr>
          <a:lstStyle/>
          <a:p>
            <a:pPr algn="l"/>
            <a:r>
              <a:rPr sz="1400" b="0" i="0">
                <a:solidFill>
                  <a:schemeClr val="tx1"/>
                </a:solidFill>
              </a:rPr>
              <a:t>Can I point to because, so or as a result?</a:t>
            </a:r>
          </a:p>
        </p:txBody>
      </p:sp>
      <p:sp>
        <p:nvSpPr>
          <p:cNvPr id="32" name="Checkbox"/>
          <p:cNvSpPr/>
          <p:nvPr/>
        </p:nvSpPr>
        <p:spPr>
          <a:xfrm>
            <a:off x="685800" y="2889503"/>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1097280" y="2807208"/>
            <a:ext cx="4160520" cy="457200"/>
          </a:xfrm>
          <a:prstGeom prst="rect">
            <a:avLst/>
          </a:prstGeom>
          <a:noFill/>
        </p:spPr>
        <p:txBody>
          <a:bodyPr wrap="square" lIns="0" tIns="0" rIns="0" bIns="0" anchor="ctr">
            <a:spAutoFit/>
          </a:bodyPr>
          <a:lstStyle/>
          <a:p>
            <a:pPr algn="l"/>
            <a:r>
              <a:rPr sz="1400" b="0" i="0">
                <a:solidFill>
                  <a:schemeClr val="tx1"/>
                </a:solidFill>
              </a:rPr>
              <a:t>Is my moral a general lesson that avoids names?</a:t>
            </a:r>
          </a:p>
        </p:txBody>
      </p:sp>
      <p:sp>
        <p:nvSpPr>
          <p:cNvPr id="34" name="Checkbox"/>
          <p:cNvSpPr/>
          <p:nvPr/>
        </p:nvSpPr>
        <p:spPr>
          <a:xfrm>
            <a:off x="685800" y="3419855"/>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1097280" y="3337559"/>
            <a:ext cx="4160520" cy="457200"/>
          </a:xfrm>
          <a:prstGeom prst="rect">
            <a:avLst/>
          </a:prstGeom>
          <a:noFill/>
        </p:spPr>
        <p:txBody>
          <a:bodyPr wrap="square" lIns="0" tIns="0" rIns="0" bIns="0" anchor="ctr">
            <a:spAutoFit/>
          </a:bodyPr>
          <a:lstStyle/>
          <a:p>
            <a:pPr algn="l"/>
            <a:r>
              <a:rPr sz="1400" b="0" i="0">
                <a:solidFill>
                  <a:schemeClr val="tx1"/>
                </a:solidFill>
              </a:rPr>
              <a:t>Can I say why my moral fits, using my change?</a:t>
            </a:r>
          </a:p>
        </p:txBody>
      </p:sp>
      <p:sp>
        <p:nvSpPr>
          <p:cNvPr id="36" name="Checkbox"/>
          <p:cNvSpPr/>
          <p:nvPr/>
        </p:nvSpPr>
        <p:spPr>
          <a:xfrm>
            <a:off x="685800" y="3950207"/>
            <a:ext cx="256032" cy="256032"/>
          </a:xfrm>
          <a:prstGeom prst="roundRect">
            <a:avLst>
              <a:gd name="adj" fmla="val 20000"/>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p:cNvSpPr txBox="1"/>
          <p:nvPr/>
        </p:nvSpPr>
        <p:spPr>
          <a:xfrm>
            <a:off x="1097280" y="3867911"/>
            <a:ext cx="4160520" cy="457200"/>
          </a:xfrm>
          <a:prstGeom prst="rect">
            <a:avLst/>
          </a:prstGeom>
          <a:noFill/>
        </p:spPr>
        <p:txBody>
          <a:bodyPr wrap="square" lIns="0" tIns="0" rIns="0" bIns="0" anchor="ctr">
            <a:spAutoFit/>
          </a:bodyPr>
          <a:lstStyle/>
          <a:p>
            <a:pPr algn="l"/>
            <a:r>
              <a:rPr sz="1400" b="1" i="0">
                <a:solidFill>
                  <a:schemeClr val="accent6"/>
                </a:solidFill>
              </a:rPr>
              <a:t>Does my fable end with the moral?</a:t>
            </a:r>
          </a:p>
        </p:txBody>
      </p:sp>
      <p:sp>
        <p:nvSpPr>
          <p:cNvPr id="38" name="Timer card"/>
          <p:cNvSpPr/>
          <p:nvPr/>
        </p:nvSpPr>
        <p:spPr>
          <a:xfrm>
            <a:off x="5669280" y="1188720"/>
            <a:ext cx="3017520" cy="33375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2</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Fix ONE thing.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Finish the whole draft</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24</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Read the whole fable: work down the list</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ck text"/>
          <p:cNvSpPr txBox="1"/>
          <p:nvPr/>
        </p:nvSpPr>
        <p:spPr>
          <a:xfrm>
            <a:off x="1097280" y="1764792"/>
            <a:ext cx="4160520" cy="384048"/>
          </a:xfrm>
          <a:prstGeom prst="rect">
            <a:avLst/>
          </a:prstGeom>
          <a:noFill/>
        </p:spPr>
        <p:txBody>
          <a:bodyPr wrap="square" lIns="0" tIns="0" rIns="0" bIns="0" anchor="ctr">
            <a:spAutoFit/>
          </a:bodyPr>
          <a:lstStyle/>
          <a:p>
            <a:pPr algn="l"/>
            <a:r>
              <a:rPr sz="1400" b="0" i="0">
                <a:solidFill>
                  <a:schemeClr val="tx1"/>
                </a:solidFill>
              </a:rPr>
              <a:t>1  Paragraphs 1 to 4 are in order</a:t>
            </a:r>
          </a:p>
        </p:txBody>
      </p:sp>
      <p:sp>
        <p:nvSpPr>
          <p:cNvPr id="30" name="Checkbox"/>
          <p:cNvSpPr/>
          <p:nvPr/>
        </p:nvSpPr>
        <p:spPr>
          <a:xfrm>
            <a:off x="685800" y="2286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ck text"/>
          <p:cNvSpPr txBox="1"/>
          <p:nvPr/>
        </p:nvSpPr>
        <p:spPr>
          <a:xfrm>
            <a:off x="1097280" y="2221992"/>
            <a:ext cx="4160520" cy="384048"/>
          </a:xfrm>
          <a:prstGeom prst="rect">
            <a:avLst/>
          </a:prstGeom>
          <a:noFill/>
        </p:spPr>
        <p:txBody>
          <a:bodyPr wrap="square" lIns="0" tIns="0" rIns="0" bIns="0" anchor="ctr">
            <a:spAutoFit/>
          </a:bodyPr>
          <a:lstStyle/>
          <a:p>
            <a:pPr algn="l"/>
            <a:r>
              <a:rPr sz="1400" b="0" i="0">
                <a:solidFill>
                  <a:schemeClr val="tx1"/>
                </a:solidFill>
              </a:rPr>
              <a:t>2  My character and trait stay the same</a:t>
            </a:r>
          </a:p>
        </p:txBody>
      </p:sp>
      <p:sp>
        <p:nvSpPr>
          <p:cNvPr id="32" name="Checkbox"/>
          <p:cNvSpPr/>
          <p:nvPr/>
        </p:nvSpPr>
        <p:spPr>
          <a:xfrm>
            <a:off x="685800" y="27432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ck text"/>
          <p:cNvSpPr txBox="1"/>
          <p:nvPr/>
        </p:nvSpPr>
        <p:spPr>
          <a:xfrm>
            <a:off x="1097280" y="2679192"/>
            <a:ext cx="4160520" cy="384048"/>
          </a:xfrm>
          <a:prstGeom prst="rect">
            <a:avLst/>
          </a:prstGeom>
          <a:noFill/>
        </p:spPr>
        <p:txBody>
          <a:bodyPr wrap="square" lIns="0" tIns="0" rIns="0" bIns="0" anchor="ctr">
            <a:spAutoFit/>
          </a:bodyPr>
          <a:lstStyle/>
          <a:p>
            <a:pPr algn="l"/>
            <a:r>
              <a:rPr sz="1400" b="0" i="0">
                <a:solidFill>
                  <a:schemeClr val="tx1"/>
                </a:solidFill>
              </a:rPr>
              <a:t>3  Each paragraph leads to the next</a:t>
            </a:r>
          </a:p>
        </p:txBody>
      </p:sp>
      <p:sp>
        <p:nvSpPr>
          <p:cNvPr id="34" name="Checkbox"/>
          <p:cNvSpPr/>
          <p:nvPr/>
        </p:nvSpPr>
        <p:spPr>
          <a:xfrm>
            <a:off x="685800" y="32004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ck text"/>
          <p:cNvSpPr txBox="1"/>
          <p:nvPr/>
        </p:nvSpPr>
        <p:spPr>
          <a:xfrm>
            <a:off x="1097280" y="3136392"/>
            <a:ext cx="4160520" cy="384048"/>
          </a:xfrm>
          <a:prstGeom prst="rect">
            <a:avLst/>
          </a:prstGeom>
          <a:noFill/>
        </p:spPr>
        <p:txBody>
          <a:bodyPr wrap="square" lIns="0" tIns="0" rIns="0" bIns="0" anchor="ctr">
            <a:spAutoFit/>
          </a:bodyPr>
          <a:lstStyle/>
          <a:p>
            <a:pPr algn="l"/>
            <a:r>
              <a:rPr sz="1400" b="0" i="0">
                <a:solidFill>
                  <a:schemeClr val="tx1"/>
                </a:solidFill>
              </a:rPr>
              <a:t>4  Speech is punctuated correctly</a:t>
            </a:r>
          </a:p>
        </p:txBody>
      </p:sp>
      <p:sp>
        <p:nvSpPr>
          <p:cNvPr id="36" name="Checkbox"/>
          <p:cNvSpPr/>
          <p:nvPr/>
        </p:nvSpPr>
        <p:spPr>
          <a:xfrm>
            <a:off x="685800" y="36576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heck text"/>
          <p:cNvSpPr txBox="1"/>
          <p:nvPr/>
        </p:nvSpPr>
        <p:spPr>
          <a:xfrm>
            <a:off x="1097280" y="3593592"/>
            <a:ext cx="4160520" cy="384048"/>
          </a:xfrm>
          <a:prstGeom prst="rect">
            <a:avLst/>
          </a:prstGeom>
          <a:noFill/>
        </p:spPr>
        <p:txBody>
          <a:bodyPr wrap="square" lIns="0" tIns="0" rIns="0" bIns="0" anchor="ctr">
            <a:spAutoFit/>
          </a:bodyPr>
          <a:lstStyle/>
          <a:p>
            <a:pPr algn="l"/>
            <a:r>
              <a:rPr sz="1400" b="0" i="0">
                <a:solidFill>
                  <a:schemeClr val="tx1"/>
                </a:solidFill>
              </a:rPr>
              <a:t>5  Full stops and capitals are in place</a:t>
            </a:r>
          </a:p>
        </p:txBody>
      </p:sp>
      <p:sp>
        <p:nvSpPr>
          <p:cNvPr id="38" name="Timer card"/>
          <p:cNvSpPr/>
          <p:nvPr/>
        </p:nvSpPr>
        <p:spPr>
          <a:xfrm>
            <a:off x="5669280" y="1188720"/>
            <a:ext cx="3017520" cy="3337560"/>
          </a:xfrm>
          <a:prstGeom prst="roundRect">
            <a:avLst>
              <a:gd name="adj" fmla="val 4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8</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Read quietly. Fix the top problems first, at least THREE things. Use a coloured pen.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Read aloud like a storyteller</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25</a:t>
            </a:fld>
            <a:endParaRPr lang="en-US"/>
          </a:p>
        </p:txBody>
      </p:sp>
      <p:sp>
        <p:nvSpPr>
          <p:cNvPr id="26" name="Card"/>
          <p:cNvSpPr/>
          <p:nvPr/>
        </p:nvSpPr>
        <p:spPr>
          <a:xfrm>
            <a:off x="457200"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4.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Pace</a:t>
            </a:r>
          </a:p>
        </p:txBody>
      </p:sp>
      <p:sp>
        <p:nvSpPr>
          <p:cNvPr id="30" name="Text"/>
          <p:cNvSpPr txBox="1"/>
          <p:nvPr/>
        </p:nvSpPr>
        <p:spPr>
          <a:xfrm>
            <a:off x="621792" y="2532888"/>
            <a:ext cx="2295144" cy="1170431"/>
          </a:xfrm>
          <a:prstGeom prst="rect">
            <a:avLst/>
          </a:prstGeom>
          <a:noFill/>
        </p:spPr>
        <p:txBody>
          <a:bodyPr wrap="square" lIns="0" tIns="0" rIns="0" bIns="0" anchor="t">
            <a:spAutoFit/>
          </a:bodyPr>
          <a:lstStyle/>
          <a:p>
            <a:pPr algn="ctr"/>
            <a:r>
              <a:rPr sz="1500" b="0" i="0">
                <a:solidFill>
                  <a:schemeClr val="tx1"/>
                </a:solidFill>
              </a:rPr>
              <a:t>Slow down at full stops. Take a breath at commas.</a:t>
            </a:r>
          </a:p>
        </p:txBody>
      </p:sp>
      <p:sp>
        <p:nvSpPr>
          <p:cNvPr id="31" name="Card"/>
          <p:cNvSpPr/>
          <p:nvPr/>
        </p:nvSpPr>
        <p:spPr>
          <a:xfrm>
            <a:off x="3259836"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7.png"/>
          <p:cNvPicPr>
            <a:picLocks noChangeAspect="1"/>
          </p:cNvPicPr>
          <p:nvPr/>
        </p:nvPicPr>
        <p:blipFill>
          <a:blip r:embed="rId5"/>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Voice</a:t>
            </a:r>
          </a:p>
        </p:txBody>
      </p:sp>
      <p:sp>
        <p:nvSpPr>
          <p:cNvPr id="35" name="Text"/>
          <p:cNvSpPr txBox="1"/>
          <p:nvPr/>
        </p:nvSpPr>
        <p:spPr>
          <a:xfrm>
            <a:off x="3424428" y="2532888"/>
            <a:ext cx="2295144" cy="1170431"/>
          </a:xfrm>
          <a:prstGeom prst="rect">
            <a:avLst/>
          </a:prstGeom>
          <a:noFill/>
        </p:spPr>
        <p:txBody>
          <a:bodyPr wrap="square" lIns="0" tIns="0" rIns="0" bIns="0" anchor="t">
            <a:spAutoFit/>
          </a:bodyPr>
          <a:lstStyle/>
          <a:p>
            <a:pPr algn="ctr"/>
            <a:r>
              <a:rPr sz="1500" b="0" i="0">
                <a:solidFill>
                  <a:schemeClr val="tx1"/>
                </a:solidFill>
              </a:rPr>
              <a:t>Change your voice for each speaker. Show the feeling.</a:t>
            </a:r>
          </a:p>
        </p:txBody>
      </p:sp>
      <p:sp>
        <p:nvSpPr>
          <p:cNvPr id="36" name="Card"/>
          <p:cNvSpPr/>
          <p:nvPr/>
        </p:nvSpPr>
        <p:spPr>
          <a:xfrm>
            <a:off x="6062472"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0.png"/>
          <p:cNvPicPr>
            <a:picLocks noChangeAspect="1"/>
          </p:cNvPicPr>
          <p:nvPr/>
        </p:nvPicPr>
        <p:blipFill>
          <a:blip r:embed="rId6"/>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2000" b="1" i="0">
                <a:solidFill>
                  <a:schemeClr val="tx2"/>
                </a:solidFill>
                <a:latin typeface="Cambria"/>
                <a:ea typeface="Cambria"/>
                <a:cs typeface="Cambria"/>
              </a:rPr>
              <a:t>Pause</a:t>
            </a:r>
          </a:p>
        </p:txBody>
      </p:sp>
      <p:sp>
        <p:nvSpPr>
          <p:cNvPr id="40" name="Text"/>
          <p:cNvSpPr txBox="1"/>
          <p:nvPr/>
        </p:nvSpPr>
        <p:spPr>
          <a:xfrm>
            <a:off x="6227064" y="2532888"/>
            <a:ext cx="2295144" cy="1170431"/>
          </a:xfrm>
          <a:prstGeom prst="rect">
            <a:avLst/>
          </a:prstGeom>
          <a:noFill/>
        </p:spPr>
        <p:txBody>
          <a:bodyPr wrap="square" lIns="0" tIns="0" rIns="0" bIns="0" anchor="t">
            <a:spAutoFit/>
          </a:bodyPr>
          <a:lstStyle/>
          <a:p>
            <a:pPr algn="ctr"/>
            <a:r>
              <a:rPr sz="1500" b="0" i="0">
                <a:solidFill>
                  <a:schemeClr val="tx1"/>
                </a:solidFill>
              </a:rPr>
              <a:t>Pause before the moral. Say it slowly and clearly.</a:t>
            </a:r>
          </a:p>
        </p:txBody>
      </p:sp>
      <p:sp>
        <p:nvSpPr>
          <p:cNvPr id="41"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Your listener hears the story. Help them follow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Read it to a partner</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26</a:t>
            </a:fld>
            <a:endParaRPr lang="en-US"/>
          </a:p>
        </p:txBody>
      </p:sp>
      <p:sp>
        <p:nvSpPr>
          <p:cNvPr id="26" name="Card"/>
          <p:cNvSpPr/>
          <p:nvPr/>
        </p:nvSpPr>
        <p:spPr>
          <a:xfrm>
            <a:off x="457200" y="1188720"/>
            <a:ext cx="52120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75488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Listener, listen for…</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1097280" y="1728216"/>
            <a:ext cx="4389120" cy="566928"/>
          </a:xfrm>
          <a:prstGeom prst="rect">
            <a:avLst/>
          </a:prstGeom>
          <a:noFill/>
        </p:spPr>
        <p:txBody>
          <a:bodyPr wrap="square" lIns="0" tIns="0" rIns="0" bIns="0" anchor="t">
            <a:spAutoFit/>
          </a:bodyPr>
          <a:lstStyle/>
          <a:p>
            <a:pPr algn="l"/>
            <a:r>
              <a:rPr sz="1400" b="0" i="0">
                <a:solidFill>
                  <a:schemeClr val="tx1"/>
                </a:solidFill>
              </a:rPr>
              <a:t>A result that happens because of the choice</a:t>
            </a:r>
          </a:p>
        </p:txBody>
      </p:sp>
      <p:sp>
        <p:nvSpPr>
          <p:cNvPr id="30" name="Checkbox"/>
          <p:cNvSpPr/>
          <p:nvPr/>
        </p:nvSpPr>
        <p:spPr>
          <a:xfrm>
            <a:off x="685800" y="246887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1097280" y="2368296"/>
            <a:ext cx="4389120" cy="566928"/>
          </a:xfrm>
          <a:prstGeom prst="rect">
            <a:avLst/>
          </a:prstGeom>
          <a:noFill/>
        </p:spPr>
        <p:txBody>
          <a:bodyPr wrap="square" lIns="0" tIns="0" rIns="0" bIns="0" anchor="t">
            <a:spAutoFit/>
          </a:bodyPr>
          <a:lstStyle/>
          <a:p>
            <a:pPr algn="l"/>
            <a:r>
              <a:rPr sz="1400" b="0" i="0">
                <a:solidFill>
                  <a:schemeClr val="tx1"/>
                </a:solidFill>
              </a:rPr>
              <a:t>A moral that fits the story</a:t>
            </a:r>
          </a:p>
        </p:txBody>
      </p:sp>
      <p:sp>
        <p:nvSpPr>
          <p:cNvPr id="32" name="Checkbox"/>
          <p:cNvSpPr/>
          <p:nvPr/>
        </p:nvSpPr>
        <p:spPr>
          <a:xfrm>
            <a:off x="685800" y="310895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1097280" y="3008375"/>
            <a:ext cx="4389120" cy="566928"/>
          </a:xfrm>
          <a:prstGeom prst="rect">
            <a:avLst/>
          </a:prstGeom>
          <a:noFill/>
        </p:spPr>
        <p:txBody>
          <a:bodyPr wrap="square" lIns="0" tIns="0" rIns="0" bIns="0" anchor="t">
            <a:spAutoFit/>
          </a:bodyPr>
          <a:lstStyle/>
          <a:p>
            <a:pPr algn="l"/>
            <a:r>
              <a:rPr sz="1400" b="0" i="0">
                <a:solidFill>
                  <a:schemeClr val="tx1"/>
                </a:solidFill>
              </a:rPr>
              <a:t>A fable that is easy to follow</a:t>
            </a:r>
          </a:p>
        </p:txBody>
      </p:sp>
      <p:sp>
        <p:nvSpPr>
          <p:cNvPr id="34" name="Checkbox"/>
          <p:cNvSpPr/>
          <p:nvPr/>
        </p:nvSpPr>
        <p:spPr>
          <a:xfrm>
            <a:off x="685800" y="374903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1097280" y="3648456"/>
            <a:ext cx="4389120" cy="566928"/>
          </a:xfrm>
          <a:prstGeom prst="rect">
            <a:avLst/>
          </a:prstGeom>
          <a:noFill/>
        </p:spPr>
        <p:txBody>
          <a:bodyPr wrap="square" lIns="0" tIns="0" rIns="0" bIns="0" anchor="t">
            <a:spAutoFit/>
          </a:bodyPr>
          <a:lstStyle/>
          <a:p>
            <a:pPr algn="l"/>
            <a:r>
              <a:rPr sz="1400" b="0" i="0">
                <a:solidFill>
                  <a:schemeClr val="tx1"/>
                </a:solidFill>
              </a:rPr>
              <a:t>One thing to make even better</a:t>
            </a:r>
          </a:p>
        </p:txBody>
      </p:sp>
      <p:sp>
        <p:nvSpPr>
          <p:cNvPr id="36" name="Note card"/>
          <p:cNvSpPr/>
          <p:nvPr/>
        </p:nvSpPr>
        <p:spPr>
          <a:xfrm>
            <a:off x="5897880" y="1188720"/>
            <a:ext cx="2788920" cy="3337560"/>
          </a:xfrm>
          <a:prstGeom prst="roundRect">
            <a:avLst>
              <a:gd name="adj" fmla="val 4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p:cNvSpPr txBox="1"/>
          <p:nvPr/>
        </p:nvSpPr>
        <p:spPr>
          <a:xfrm>
            <a:off x="6080760" y="1371600"/>
            <a:ext cx="2423160" cy="3017520"/>
          </a:xfrm>
          <a:prstGeom prst="rect">
            <a:avLst/>
          </a:prstGeom>
          <a:noFill/>
        </p:spPr>
        <p:txBody>
          <a:bodyPr wrap="square" lIns="0" tIns="0" rIns="0" bIns="0" anchor="t">
            <a:spAutoFit/>
          </a:bodyPr>
          <a:lstStyle/>
          <a:p>
            <a:pPr algn="l">
              <a:spcAft>
                <a:spcPts val="1000"/>
              </a:spcAft>
            </a:pPr>
            <a:r>
              <a:rPr sz="1600" b="1" i="0">
                <a:solidFill>
                  <a:schemeClr val="tx2"/>
                </a:solidFill>
              </a:rPr>
              <a:t>Two stars and a wish</a:t>
            </a:r>
          </a:p>
          <a:p>
            <a:pPr algn="l">
              <a:spcAft>
                <a:spcPts val="1000"/>
              </a:spcAft>
            </a:pPr>
            <a:r>
              <a:rPr sz="1600" b="0" i="1">
                <a:solidFill>
                  <a:schemeClr val="tx1"/>
                </a:solidFill>
              </a:rPr>
              <a:t>“I liked…”</a:t>
            </a:r>
          </a:p>
          <a:p>
            <a:pPr algn="l">
              <a:spcAft>
                <a:spcPts val="1000"/>
              </a:spcAft>
            </a:pPr>
            <a:r>
              <a:rPr sz="1600" b="0" i="1">
                <a:solidFill>
                  <a:schemeClr val="tx1"/>
                </a:solidFill>
              </a:rPr>
              <a:t>“Your moral fits because…”</a:t>
            </a:r>
          </a:p>
          <a:p>
            <a:pPr algn="l">
              <a:spcAft>
                <a:spcPts val="1000"/>
              </a:spcAft>
            </a:pPr>
            <a:r>
              <a:rPr sz="1600" b="0" i="1">
                <a:solidFill>
                  <a:schemeClr val="tx1"/>
                </a:solidFill>
              </a:rPr>
              <a:t>“A wish: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How did you do?</a:t>
            </a:r>
          </a:p>
        </p:txBody>
      </p:sp>
      <p:sp>
        <p:nvSpPr>
          <p:cNvPr id="3" name="Badge"/>
          <p:cNvSpPr/>
          <p:nvPr/>
        </p:nvSpPr>
        <p:spPr>
          <a:xfrm>
            <a:off x="7955279" y="274320"/>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6.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27</a:t>
            </a:fld>
            <a:endParaRPr lang="en-US"/>
          </a:p>
        </p:txBody>
      </p:sp>
      <p:sp>
        <p:nvSpPr>
          <p:cNvPr id="26" name="Card"/>
          <p:cNvSpPr/>
          <p:nvPr/>
        </p:nvSpPr>
        <p:spPr>
          <a:xfrm>
            <a:off x="457200"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298448"/>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4.png"/>
          <p:cNvPicPr>
            <a:picLocks noChangeAspect="1"/>
          </p:cNvPicPr>
          <p:nvPr/>
        </p:nvPicPr>
        <p:blipFill>
          <a:blip r:embed="rId4"/>
          <a:stretch>
            <a:fillRect/>
          </a:stretch>
        </p:blipFill>
        <p:spPr>
          <a:xfrm>
            <a:off x="1588312" y="1446580"/>
            <a:ext cx="362102" cy="362102"/>
          </a:xfrm>
          <a:prstGeom prst="rect">
            <a:avLst/>
          </a:prstGeom>
        </p:spPr>
      </p:pic>
      <p:sp>
        <p:nvSpPr>
          <p:cNvPr id="29" name="Text"/>
          <p:cNvSpPr txBox="1"/>
          <p:nvPr/>
        </p:nvSpPr>
        <p:spPr>
          <a:xfrm>
            <a:off x="548640"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Result</a:t>
            </a:r>
          </a:p>
        </p:txBody>
      </p:sp>
      <p:sp>
        <p:nvSpPr>
          <p:cNvPr id="30" name="Text"/>
          <p:cNvSpPr txBox="1"/>
          <p:nvPr/>
        </p:nvSpPr>
        <p:spPr>
          <a:xfrm>
            <a:off x="640080" y="2468880"/>
            <a:ext cx="2286000" cy="1188720"/>
          </a:xfrm>
          <a:prstGeom prst="rect">
            <a:avLst/>
          </a:prstGeom>
          <a:noFill/>
        </p:spPr>
        <p:txBody>
          <a:bodyPr wrap="square" lIns="0" tIns="0" rIns="0" bIns="0" anchor="t">
            <a:spAutoFit/>
          </a:bodyPr>
          <a:lstStyle/>
          <a:p>
            <a:pPr algn="l">
              <a:spcAft>
                <a:spcPts val="400"/>
              </a:spcAft>
            </a:pPr>
            <a:r>
              <a:rPr sz="1300" b="1" i="0">
                <a:solidFill>
                  <a:schemeClr val="accent1"/>
                </a:solidFill>
              </a:rPr>
              <a:t>3</a:t>
            </a:r>
            <a:r>
              <a:rPr sz="1300" b="0" i="0">
                <a:solidFill>
                  <a:schemeClr val="tx1"/>
                </a:solidFill>
              </a:rPr>
              <a:t>  It happens because of my choice.</a:t>
            </a:r>
          </a:p>
          <a:p>
            <a:pPr algn="l">
              <a:spcAft>
                <a:spcPts val="400"/>
              </a:spcAft>
            </a:pPr>
            <a:r>
              <a:rPr sz="1300" b="1" i="0">
                <a:solidFill>
                  <a:schemeClr val="accent1"/>
                </a:solidFill>
              </a:rPr>
              <a:t>2</a:t>
            </a:r>
            <a:r>
              <a:rPr sz="1300" b="0" i="0">
                <a:solidFill>
                  <a:schemeClr val="tx1"/>
                </a:solidFill>
              </a:rPr>
              <a:t>  It is related, but the link is weak.</a:t>
            </a:r>
          </a:p>
          <a:p>
            <a:pPr algn="l">
              <a:spcAft>
                <a:spcPts val="400"/>
              </a:spcAft>
            </a:pPr>
            <a:r>
              <a:rPr sz="1300" b="1" i="0">
                <a:solidFill>
                  <a:schemeClr val="accent1"/>
                </a:solidFill>
              </a:rPr>
              <a:t>1</a:t>
            </a:r>
            <a:r>
              <a:rPr sz="1300" b="0" i="0">
                <a:solidFill>
                  <a:schemeClr val="tx1"/>
                </a:solidFill>
              </a:rPr>
              <a:t>  It is not linked yet.</a:t>
            </a:r>
          </a:p>
        </p:txBody>
      </p:sp>
      <p:sp>
        <p:nvSpPr>
          <p:cNvPr id="31" name="Card"/>
          <p:cNvSpPr/>
          <p:nvPr/>
        </p:nvSpPr>
        <p:spPr>
          <a:xfrm>
            <a:off x="3259836"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298448"/>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0.png"/>
          <p:cNvPicPr>
            <a:picLocks noChangeAspect="1"/>
          </p:cNvPicPr>
          <p:nvPr/>
        </p:nvPicPr>
        <p:blipFill>
          <a:blip r:embed="rId5"/>
          <a:stretch>
            <a:fillRect/>
          </a:stretch>
        </p:blipFill>
        <p:spPr>
          <a:xfrm>
            <a:off x="4390948" y="1446580"/>
            <a:ext cx="362102" cy="362102"/>
          </a:xfrm>
          <a:prstGeom prst="rect">
            <a:avLst/>
          </a:prstGeom>
        </p:spPr>
      </p:pic>
      <p:sp>
        <p:nvSpPr>
          <p:cNvPr id="34" name="Text"/>
          <p:cNvSpPr txBox="1"/>
          <p:nvPr/>
        </p:nvSpPr>
        <p:spPr>
          <a:xfrm>
            <a:off x="3351276"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Change</a:t>
            </a:r>
          </a:p>
        </p:txBody>
      </p:sp>
      <p:sp>
        <p:nvSpPr>
          <p:cNvPr id="35" name="Text"/>
          <p:cNvSpPr txBox="1"/>
          <p:nvPr/>
        </p:nvSpPr>
        <p:spPr>
          <a:xfrm>
            <a:off x="3442716" y="2468880"/>
            <a:ext cx="2286000" cy="1188720"/>
          </a:xfrm>
          <a:prstGeom prst="rect">
            <a:avLst/>
          </a:prstGeom>
          <a:noFill/>
        </p:spPr>
        <p:txBody>
          <a:bodyPr wrap="square" lIns="0" tIns="0" rIns="0" bIns="0" anchor="t">
            <a:spAutoFit/>
          </a:bodyPr>
          <a:lstStyle/>
          <a:p>
            <a:pPr algn="l">
              <a:spcAft>
                <a:spcPts val="400"/>
              </a:spcAft>
            </a:pPr>
            <a:r>
              <a:rPr sz="1300" b="1" i="0">
                <a:solidFill>
                  <a:schemeClr val="accent3"/>
                </a:solidFill>
              </a:rPr>
              <a:t>3</a:t>
            </a:r>
            <a:r>
              <a:rPr sz="1300" b="0" i="0">
                <a:solidFill>
                  <a:schemeClr val="tx1"/>
                </a:solidFill>
              </a:rPr>
              <a:t>  A clear feeling or realisation from the result.</a:t>
            </a:r>
          </a:p>
          <a:p>
            <a:pPr algn="l">
              <a:spcAft>
                <a:spcPts val="400"/>
              </a:spcAft>
            </a:pPr>
            <a:r>
              <a:rPr sz="1300" b="1" i="0">
                <a:solidFill>
                  <a:schemeClr val="accent3"/>
                </a:solidFill>
              </a:rPr>
              <a:t>2</a:t>
            </a:r>
            <a:r>
              <a:rPr sz="1300" b="0" i="0">
                <a:solidFill>
                  <a:schemeClr val="tx1"/>
                </a:solidFill>
              </a:rPr>
              <a:t>  A change, but it is not linked to the result.</a:t>
            </a:r>
          </a:p>
          <a:p>
            <a:pPr algn="l">
              <a:spcAft>
                <a:spcPts val="400"/>
              </a:spcAft>
            </a:pPr>
            <a:r>
              <a:rPr sz="1300" b="1" i="0">
                <a:solidFill>
                  <a:schemeClr val="accent3"/>
                </a:solidFill>
              </a:rPr>
              <a:t>1</a:t>
            </a:r>
            <a:r>
              <a:rPr sz="1300" b="0" i="0">
                <a:solidFill>
                  <a:schemeClr val="tx1"/>
                </a:solidFill>
              </a:rPr>
              <a:t>  No change shown yet.</a:t>
            </a:r>
          </a:p>
        </p:txBody>
      </p:sp>
      <p:sp>
        <p:nvSpPr>
          <p:cNvPr id="36" name="Card"/>
          <p:cNvSpPr/>
          <p:nvPr/>
        </p:nvSpPr>
        <p:spPr>
          <a:xfrm>
            <a:off x="6062472"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2" y="1298448"/>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2.png"/>
          <p:cNvPicPr>
            <a:picLocks noChangeAspect="1"/>
          </p:cNvPicPr>
          <p:nvPr/>
        </p:nvPicPr>
        <p:blipFill>
          <a:blip r:embed="rId6"/>
          <a:stretch>
            <a:fillRect/>
          </a:stretch>
        </p:blipFill>
        <p:spPr>
          <a:xfrm>
            <a:off x="7193584" y="1446580"/>
            <a:ext cx="362102" cy="362102"/>
          </a:xfrm>
          <a:prstGeom prst="rect">
            <a:avLst/>
          </a:prstGeom>
        </p:spPr>
      </p:pic>
      <p:sp>
        <p:nvSpPr>
          <p:cNvPr id="39" name="Text"/>
          <p:cNvSpPr txBox="1"/>
          <p:nvPr/>
        </p:nvSpPr>
        <p:spPr>
          <a:xfrm>
            <a:off x="6153912"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Moral</a:t>
            </a:r>
          </a:p>
        </p:txBody>
      </p:sp>
      <p:sp>
        <p:nvSpPr>
          <p:cNvPr id="40" name="Text"/>
          <p:cNvSpPr txBox="1"/>
          <p:nvPr/>
        </p:nvSpPr>
        <p:spPr>
          <a:xfrm>
            <a:off x="6245352" y="2468880"/>
            <a:ext cx="2286000" cy="1188720"/>
          </a:xfrm>
          <a:prstGeom prst="rect">
            <a:avLst/>
          </a:prstGeom>
          <a:noFill/>
        </p:spPr>
        <p:txBody>
          <a:bodyPr wrap="square" lIns="0" tIns="0" rIns="0" bIns="0" anchor="t">
            <a:spAutoFit/>
          </a:bodyPr>
          <a:lstStyle/>
          <a:p>
            <a:pPr algn="l">
              <a:spcAft>
                <a:spcPts val="400"/>
              </a:spcAft>
            </a:pPr>
            <a:r>
              <a:rPr sz="1300" b="1" i="0">
                <a:solidFill>
                  <a:schemeClr val="accent4"/>
                </a:solidFill>
              </a:rPr>
              <a:t>3</a:t>
            </a:r>
            <a:r>
              <a:rPr sz="1300" b="0" i="0">
                <a:solidFill>
                  <a:schemeClr val="tx1"/>
                </a:solidFill>
              </a:rPr>
              <a:t>  Advice that fits my story.</a:t>
            </a:r>
          </a:p>
          <a:p>
            <a:pPr algn="l">
              <a:spcAft>
                <a:spcPts val="400"/>
              </a:spcAft>
            </a:pPr>
            <a:r>
              <a:rPr sz="1300" b="1" i="0">
                <a:solidFill>
                  <a:schemeClr val="accent4"/>
                </a:solidFill>
              </a:rPr>
              <a:t>2</a:t>
            </a:r>
            <a:r>
              <a:rPr sz="1300" b="0" i="0">
                <a:solidFill>
                  <a:schemeClr val="tx1"/>
                </a:solidFill>
              </a:rPr>
              <a:t>  Advice, but it could fit any story.</a:t>
            </a:r>
          </a:p>
          <a:p>
            <a:pPr algn="l">
              <a:spcAft>
                <a:spcPts val="400"/>
              </a:spcAft>
            </a:pPr>
            <a:r>
              <a:rPr sz="1300" b="1" i="0">
                <a:solidFill>
                  <a:schemeClr val="accent4"/>
                </a:solidFill>
              </a:rPr>
              <a:t>1</a:t>
            </a:r>
            <a:r>
              <a:rPr sz="1300" b="0" i="0">
                <a:solidFill>
                  <a:schemeClr val="tx1"/>
                </a:solidFill>
              </a:rPr>
              <a:t>  It is a summary or does not fit.</a:t>
            </a:r>
          </a:p>
        </p:txBody>
      </p:sp>
      <p:sp>
        <p:nvSpPr>
          <p:cNvPr id="41" name="Banner"/>
          <p:cNvSpPr/>
          <p:nvPr/>
        </p:nvSpPr>
        <p:spPr>
          <a:xfrm>
            <a:off x="457200" y="3886200"/>
            <a:ext cx="8229600" cy="594360"/>
          </a:xfrm>
          <a:prstGeom prst="roundRect">
            <a:avLst>
              <a:gd name="adj" fmla="val 2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3886200"/>
            <a:ext cx="7863840" cy="594360"/>
          </a:xfrm>
          <a:prstGeom prst="rect">
            <a:avLst/>
          </a:prstGeom>
          <a:noFill/>
        </p:spPr>
        <p:txBody>
          <a:bodyPr wrap="square" lIns="0" tIns="0" rIns="0" bIns="0" anchor="ctr">
            <a:spAutoFit/>
          </a:bodyPr>
          <a:lstStyle/>
          <a:p>
            <a:pPr algn="l"/>
            <a:r>
              <a:rPr sz="1500" b="1" i="0">
                <a:solidFill>
                  <a:schemeClr val="bg1"/>
                </a:solidFill>
              </a:rPr>
              <a:t>Score each row 3, 2 or 1. My next target: I need to improve ____________.</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Plenary: mark the ending</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28</a:t>
            </a:fld>
            <a:endParaRPr lang="en-US"/>
          </a:p>
        </p:txBody>
      </p:sp>
      <p:sp>
        <p:nvSpPr>
          <p:cNvPr id="26" name="Card"/>
          <p:cNvSpPr/>
          <p:nvPr/>
        </p:nvSpPr>
        <p:spPr>
          <a:xfrm>
            <a:off x="457200" y="1188720"/>
            <a:ext cx="47548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98448"/>
            <a:ext cx="4297680" cy="365760"/>
          </a:xfrm>
          <a:prstGeom prst="rect">
            <a:avLst/>
          </a:prstGeom>
          <a:noFill/>
        </p:spPr>
        <p:txBody>
          <a:bodyPr wrap="square" lIns="0" tIns="0" rIns="0" bIns="0" anchor="ctr">
            <a:spAutoFit/>
          </a:bodyPr>
          <a:lstStyle/>
          <a:p>
            <a:pPr algn="l"/>
            <a:r>
              <a:rPr sz="1700" b="1" i="0">
                <a:solidFill>
                  <a:schemeClr val="accent1"/>
                </a:solidFill>
                <a:latin typeface="Cambria"/>
                <a:ea typeface="Cambria"/>
                <a:cs typeface="Cambria"/>
              </a:rPr>
              <a:t>Geoffrey’s Paragraph 4</a:t>
            </a:r>
          </a:p>
        </p:txBody>
      </p:sp>
      <p:sp>
        <p:nvSpPr>
          <p:cNvPr id="28" name="Text"/>
          <p:cNvSpPr txBox="1"/>
          <p:nvPr/>
        </p:nvSpPr>
        <p:spPr>
          <a:xfrm>
            <a:off x="685800" y="1783080"/>
            <a:ext cx="4297680" cy="2651760"/>
          </a:xfrm>
          <a:prstGeom prst="rect">
            <a:avLst/>
          </a:prstGeom>
          <a:noFill/>
        </p:spPr>
        <p:txBody>
          <a:bodyPr wrap="square" lIns="0" tIns="0" rIns="0" bIns="0" anchor="t">
            <a:spAutoFit/>
          </a:bodyPr>
          <a:lstStyle/>
          <a:p>
            <a:pPr algn="l"/>
            <a:r>
              <a:rPr sz="1900" b="0" i="0">
                <a:solidFill>
                  <a:schemeClr val="tx1"/>
                </a:solidFill>
                <a:latin typeface="Cambria"/>
                <a:ea typeface="Cambria"/>
                <a:cs typeface="Cambria"/>
              </a:rPr>
              <a:t>Next week, it rained. “you may go”, said Auntie Anthea. Moral: Always wear a coat.</a:t>
            </a:r>
          </a:p>
        </p:txBody>
      </p:sp>
      <p:sp>
        <p:nvSpPr>
          <p:cNvPr id="29" name="Row"/>
          <p:cNvSpPr/>
          <p:nvPr/>
        </p:nvSpPr>
        <p:spPr>
          <a:xfrm>
            <a:off x="5394960" y="1188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Number badge"/>
          <p:cNvSpPr/>
          <p:nvPr/>
        </p:nvSpPr>
        <p:spPr>
          <a:xfrm>
            <a:off x="5532120" y="150876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5532120" y="150876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32" name="Text"/>
          <p:cNvSpPr txBox="1"/>
          <p:nvPr/>
        </p:nvSpPr>
        <p:spPr>
          <a:xfrm>
            <a:off x="6035040" y="1188720"/>
            <a:ext cx="2560320" cy="1005840"/>
          </a:xfrm>
          <a:prstGeom prst="rect">
            <a:avLst/>
          </a:prstGeom>
          <a:noFill/>
        </p:spPr>
        <p:txBody>
          <a:bodyPr wrap="square" lIns="0" tIns="0" rIns="0" bIns="0" anchor="ctr">
            <a:spAutoFit/>
          </a:bodyPr>
          <a:lstStyle/>
          <a:p>
            <a:pPr algn="l"/>
            <a:r>
              <a:rPr sz="1400" b="1" i="0">
                <a:solidFill>
                  <a:schemeClr val="tx1"/>
                </a:solidFill>
              </a:rPr>
              <a:t>Does the result happen because of the choice?</a:t>
            </a:r>
          </a:p>
        </p:txBody>
      </p:sp>
      <p:sp>
        <p:nvSpPr>
          <p:cNvPr id="33" name="Row"/>
          <p:cNvSpPr/>
          <p:nvPr/>
        </p:nvSpPr>
        <p:spPr>
          <a:xfrm>
            <a:off x="5394960" y="2331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Number badge"/>
          <p:cNvSpPr/>
          <p:nvPr/>
        </p:nvSpPr>
        <p:spPr>
          <a:xfrm>
            <a:off x="5532120" y="2651760"/>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5532120" y="265176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6" name="Text"/>
          <p:cNvSpPr txBox="1"/>
          <p:nvPr/>
        </p:nvSpPr>
        <p:spPr>
          <a:xfrm>
            <a:off x="6035040" y="2331720"/>
            <a:ext cx="2560320" cy="1005840"/>
          </a:xfrm>
          <a:prstGeom prst="rect">
            <a:avLst/>
          </a:prstGeom>
          <a:noFill/>
        </p:spPr>
        <p:txBody>
          <a:bodyPr wrap="square" lIns="0" tIns="0" rIns="0" bIns="0" anchor="ctr">
            <a:spAutoFit/>
          </a:bodyPr>
          <a:lstStyle/>
          <a:p>
            <a:pPr algn="l"/>
            <a:r>
              <a:rPr sz="1400" b="1" i="0">
                <a:solidFill>
                  <a:schemeClr val="tx1"/>
                </a:solidFill>
              </a:rPr>
              <a:t>Does the moral fit the story?</a:t>
            </a:r>
          </a:p>
        </p:txBody>
      </p:sp>
      <p:sp>
        <p:nvSpPr>
          <p:cNvPr id="37" name="Row"/>
          <p:cNvSpPr/>
          <p:nvPr/>
        </p:nvSpPr>
        <p:spPr>
          <a:xfrm>
            <a:off x="5394960" y="3474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Number badge"/>
          <p:cNvSpPr/>
          <p:nvPr/>
        </p:nvSpPr>
        <p:spPr>
          <a:xfrm>
            <a:off x="5532120" y="3794759"/>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532120" y="3794759"/>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40" name="Text"/>
          <p:cNvSpPr txBox="1"/>
          <p:nvPr/>
        </p:nvSpPr>
        <p:spPr>
          <a:xfrm>
            <a:off x="6035040" y="3474720"/>
            <a:ext cx="2560320" cy="1005840"/>
          </a:xfrm>
          <a:prstGeom prst="rect">
            <a:avLst/>
          </a:prstGeom>
          <a:noFill/>
        </p:spPr>
        <p:txBody>
          <a:bodyPr wrap="square" lIns="0" tIns="0" rIns="0" bIns="0" anchor="ctr">
            <a:spAutoFit/>
          </a:bodyPr>
          <a:lstStyle/>
          <a:p>
            <a:pPr algn="l"/>
            <a:r>
              <a:rPr sz="1400" b="1" i="0">
                <a:solidFill>
                  <a:schemeClr val="tx1"/>
                </a:solidFill>
              </a:rPr>
              <a:t>Is the dialogue punctuated correctly?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Answers: mark the ending</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29</a:t>
            </a:fld>
            <a:endParaRPr lang="en-US"/>
          </a:p>
        </p:txBody>
      </p:sp>
      <p:sp>
        <p:nvSpPr>
          <p:cNvPr id="26" name="Row"/>
          <p:cNvSpPr/>
          <p:nvPr/>
        </p:nvSpPr>
        <p:spPr>
          <a:xfrm>
            <a:off x="457200" y="118872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41274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85900"/>
            <a:ext cx="182880" cy="182880"/>
          </a:xfrm>
          <a:prstGeom prst="rect">
            <a:avLst/>
          </a:prstGeom>
        </p:spPr>
      </p:pic>
      <p:sp>
        <p:nvSpPr>
          <p:cNvPr id="29" name="Row text"/>
          <p:cNvSpPr txBox="1"/>
          <p:nvPr/>
        </p:nvSpPr>
        <p:spPr>
          <a:xfrm>
            <a:off x="1143000" y="1188720"/>
            <a:ext cx="7360920" cy="777240"/>
          </a:xfrm>
          <a:prstGeom prst="rect">
            <a:avLst/>
          </a:prstGeom>
          <a:noFill/>
        </p:spPr>
        <p:txBody>
          <a:bodyPr wrap="square" lIns="0" tIns="0" rIns="0" bIns="0" anchor="ctr">
            <a:spAutoFit/>
          </a:bodyPr>
          <a:lstStyle/>
          <a:p>
            <a:pPr algn="l"/>
            <a:r>
              <a:rPr sz="1350" b="1" i="0">
                <a:solidFill>
                  <a:schemeClr val="tx1"/>
                </a:solidFill>
              </a:rPr>
              <a:t>Result:  </a:t>
            </a:r>
            <a:r>
              <a:rPr sz="1350" b="0" i="0">
                <a:solidFill>
                  <a:schemeClr val="tx1"/>
                </a:solidFill>
              </a:rPr>
              <a:t>Rain has nothing to do with the singing. Try “Auntie Anthea listened until the last note faded, so she let him go.”</a:t>
            </a:r>
          </a:p>
        </p:txBody>
      </p:sp>
      <p:sp>
        <p:nvSpPr>
          <p:cNvPr id="30" name="Row"/>
          <p:cNvSpPr/>
          <p:nvPr/>
        </p:nvSpPr>
        <p:spPr>
          <a:xfrm>
            <a:off x="457200" y="2084832"/>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30886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82012"/>
            <a:ext cx="182880" cy="182880"/>
          </a:xfrm>
          <a:prstGeom prst="rect">
            <a:avLst/>
          </a:prstGeom>
        </p:spPr>
      </p:pic>
      <p:sp>
        <p:nvSpPr>
          <p:cNvPr id="33" name="Row text"/>
          <p:cNvSpPr txBox="1"/>
          <p:nvPr/>
        </p:nvSpPr>
        <p:spPr>
          <a:xfrm>
            <a:off x="1143000" y="2084832"/>
            <a:ext cx="7360920" cy="777240"/>
          </a:xfrm>
          <a:prstGeom prst="rect">
            <a:avLst/>
          </a:prstGeom>
          <a:noFill/>
        </p:spPr>
        <p:txBody>
          <a:bodyPr wrap="square" lIns="0" tIns="0" rIns="0" bIns="0" anchor="ctr">
            <a:spAutoFit/>
          </a:bodyPr>
          <a:lstStyle/>
          <a:p>
            <a:pPr algn="l"/>
            <a:r>
              <a:rPr sz="1350" b="1" i="0">
                <a:solidFill>
                  <a:schemeClr val="tx1"/>
                </a:solidFill>
              </a:rPr>
              <a:t>Moral:  </a:t>
            </a:r>
            <a:r>
              <a:rPr sz="1350" b="0" i="0">
                <a:solidFill>
                  <a:schemeClr val="tx1"/>
                </a:solidFill>
              </a:rPr>
              <a:t>“Always wear a coat” does not come from this story. Try “Dreams are wonderful, but a dreamer who does not prepare may go hungry.”</a:t>
            </a:r>
          </a:p>
        </p:txBody>
      </p:sp>
      <p:sp>
        <p:nvSpPr>
          <p:cNvPr id="34" name="Row"/>
          <p:cNvSpPr/>
          <p:nvPr/>
        </p:nvSpPr>
        <p:spPr>
          <a:xfrm>
            <a:off x="457200" y="2980944"/>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2049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278124"/>
            <a:ext cx="182880" cy="182880"/>
          </a:xfrm>
          <a:prstGeom prst="rect">
            <a:avLst/>
          </a:prstGeom>
        </p:spPr>
      </p:pic>
      <p:sp>
        <p:nvSpPr>
          <p:cNvPr id="37" name="Row text"/>
          <p:cNvSpPr txBox="1"/>
          <p:nvPr/>
        </p:nvSpPr>
        <p:spPr>
          <a:xfrm>
            <a:off x="1143000" y="2980944"/>
            <a:ext cx="7360920" cy="777240"/>
          </a:xfrm>
          <a:prstGeom prst="rect">
            <a:avLst/>
          </a:prstGeom>
          <a:noFill/>
        </p:spPr>
        <p:txBody>
          <a:bodyPr wrap="square" lIns="0" tIns="0" rIns="0" bIns="0" anchor="ctr">
            <a:spAutoFit/>
          </a:bodyPr>
          <a:lstStyle/>
          <a:p>
            <a:pPr algn="l"/>
            <a:r>
              <a:rPr sz="1350" b="1" i="0">
                <a:solidFill>
                  <a:schemeClr val="tx1"/>
                </a:solidFill>
              </a:rPr>
              <a:t>Dialogue:  </a:t>
            </a:r>
            <a:r>
              <a:rPr sz="1350" b="0" i="0">
                <a:solidFill>
                  <a:schemeClr val="tx1"/>
                </a:solidFill>
                <a:latin typeface="Cambria"/>
                <a:ea typeface="Cambria"/>
                <a:cs typeface="Cambria"/>
              </a:rPr>
              <a:t>Not “you may go”, said Auntie Anthea. But “You may go,” said Auntie Anthea. Capital Y; the comma goes inside the closing inverted commas because the sentence carries on; the full stop ends the sentence.</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Use the same three checks on your own fable.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Exit ticket</a:t>
            </a:r>
          </a:p>
        </p:txBody>
      </p:sp>
      <p:sp>
        <p:nvSpPr>
          <p:cNvPr id="3" name="Badge"/>
          <p:cNvSpPr/>
          <p:nvPr/>
        </p:nvSpPr>
        <p:spPr>
          <a:xfrm>
            <a:off x="7955279" y="274320"/>
            <a:ext cx="731520" cy="73152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30</a:t>
            </a:fld>
            <a:endParaRPr lang="en-US"/>
          </a:p>
        </p:txBody>
      </p:sp>
      <p:sp>
        <p:nvSpPr>
          <p:cNvPr id="26" name="Row"/>
          <p:cNvSpPr/>
          <p:nvPr/>
        </p:nvSpPr>
        <p:spPr>
          <a:xfrm>
            <a:off x="457200" y="118872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umber badge"/>
          <p:cNvSpPr/>
          <p:nvPr/>
        </p:nvSpPr>
        <p:spPr>
          <a:xfrm>
            <a:off x="640080" y="139446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39446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29" name="Row text"/>
          <p:cNvSpPr txBox="1"/>
          <p:nvPr/>
        </p:nvSpPr>
        <p:spPr>
          <a:xfrm>
            <a:off x="1188720" y="1188720"/>
            <a:ext cx="7315200" cy="777240"/>
          </a:xfrm>
          <a:prstGeom prst="rect">
            <a:avLst/>
          </a:prstGeom>
          <a:noFill/>
        </p:spPr>
        <p:txBody>
          <a:bodyPr wrap="square" lIns="0" tIns="0" rIns="0" bIns="0" anchor="ctr">
            <a:spAutoFit/>
          </a:bodyPr>
          <a:lstStyle/>
          <a:p>
            <a:pPr algn="l"/>
            <a:r>
              <a:rPr sz="1800" b="1" i="0">
                <a:solidFill>
                  <a:schemeClr val="tx1"/>
                </a:solidFill>
              </a:rPr>
              <a:t>A result follows from a choice because ______.</a:t>
            </a:r>
          </a:p>
        </p:txBody>
      </p:sp>
      <p:sp>
        <p:nvSpPr>
          <p:cNvPr id="30" name="Row"/>
          <p:cNvSpPr/>
          <p:nvPr/>
        </p:nvSpPr>
        <p:spPr>
          <a:xfrm>
            <a:off x="457200" y="214884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umber badge"/>
          <p:cNvSpPr/>
          <p:nvPr/>
        </p:nvSpPr>
        <p:spPr>
          <a:xfrm>
            <a:off x="640080" y="2354580"/>
            <a:ext cx="365760" cy="36576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0080" y="235458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3" name="Row text"/>
          <p:cNvSpPr txBox="1"/>
          <p:nvPr/>
        </p:nvSpPr>
        <p:spPr>
          <a:xfrm>
            <a:off x="1188720" y="2148840"/>
            <a:ext cx="7315200" cy="777240"/>
          </a:xfrm>
          <a:prstGeom prst="rect">
            <a:avLst/>
          </a:prstGeom>
          <a:noFill/>
        </p:spPr>
        <p:txBody>
          <a:bodyPr wrap="square" lIns="0" tIns="0" rIns="0" bIns="0" anchor="ctr">
            <a:spAutoFit/>
          </a:bodyPr>
          <a:lstStyle/>
          <a:p>
            <a:pPr algn="l"/>
            <a:r>
              <a:rPr sz="1800" b="1" i="0">
                <a:solidFill>
                  <a:schemeClr val="tx1"/>
                </a:solidFill>
              </a:rPr>
              <a:t>A good moral is ______.</a:t>
            </a:r>
          </a:p>
        </p:txBody>
      </p:sp>
      <p:sp>
        <p:nvSpPr>
          <p:cNvPr id="34" name="Row"/>
          <p:cNvSpPr/>
          <p:nvPr/>
        </p:nvSpPr>
        <p:spPr>
          <a:xfrm>
            <a:off x="457200" y="310896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umber badge"/>
          <p:cNvSpPr/>
          <p:nvPr/>
        </p:nvSpPr>
        <p:spPr>
          <a:xfrm>
            <a:off x="640080" y="3314700"/>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640080" y="3314700"/>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37" name="Row text"/>
          <p:cNvSpPr txBox="1"/>
          <p:nvPr/>
        </p:nvSpPr>
        <p:spPr>
          <a:xfrm>
            <a:off x="1188720" y="3108960"/>
            <a:ext cx="7315200" cy="777240"/>
          </a:xfrm>
          <a:prstGeom prst="rect">
            <a:avLst/>
          </a:prstGeom>
          <a:noFill/>
        </p:spPr>
        <p:txBody>
          <a:bodyPr wrap="square" lIns="0" tIns="0" rIns="0" bIns="0" anchor="ctr">
            <a:spAutoFit/>
          </a:bodyPr>
          <a:lstStyle/>
          <a:p>
            <a:pPr algn="l"/>
            <a:r>
              <a:rPr sz="1800" b="1" i="0">
                <a:solidFill>
                  <a:schemeClr val="tx1"/>
                </a:solidFill>
              </a:rPr>
              <a:t>When I read my fable aloud, I noticed ______.</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exit ticket</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31</a:t>
            </a:fld>
            <a:endParaRPr lang="en-US"/>
          </a:p>
        </p:txBody>
      </p:sp>
      <p:sp>
        <p:nvSpPr>
          <p:cNvPr id="26" name="Row"/>
          <p:cNvSpPr/>
          <p:nvPr/>
        </p:nvSpPr>
        <p:spPr>
          <a:xfrm>
            <a:off x="457200" y="1188720"/>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45846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531619"/>
            <a:ext cx="182880" cy="182880"/>
          </a:xfrm>
          <a:prstGeom prst="rect">
            <a:avLst/>
          </a:prstGeom>
        </p:spPr>
      </p:pic>
      <p:sp>
        <p:nvSpPr>
          <p:cNvPr id="29" name="Row text"/>
          <p:cNvSpPr txBox="1"/>
          <p:nvPr/>
        </p:nvSpPr>
        <p:spPr>
          <a:xfrm>
            <a:off x="1143000" y="1188720"/>
            <a:ext cx="7360920" cy="868680"/>
          </a:xfrm>
          <a:prstGeom prst="rect">
            <a:avLst/>
          </a:prstGeom>
          <a:noFill/>
        </p:spPr>
        <p:txBody>
          <a:bodyPr wrap="square" lIns="0" tIns="0" rIns="0" bIns="0" anchor="ctr">
            <a:spAutoFit/>
          </a:bodyPr>
          <a:lstStyle/>
          <a:p>
            <a:pPr algn="l"/>
            <a:r>
              <a:rPr sz="1400" b="0" i="0">
                <a:solidFill>
                  <a:schemeClr val="tx1"/>
                </a:solidFill>
              </a:rPr>
              <a:t>A result follows from a choice because it happens as a direct effect of what the character did. Geoffrey sang, so Auntie Anthea listened.</a:t>
            </a:r>
          </a:p>
        </p:txBody>
      </p:sp>
      <p:sp>
        <p:nvSpPr>
          <p:cNvPr id="30" name="Row"/>
          <p:cNvSpPr/>
          <p:nvPr/>
        </p:nvSpPr>
        <p:spPr>
          <a:xfrm>
            <a:off x="457200" y="2176272"/>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44602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519172"/>
            <a:ext cx="182880" cy="182880"/>
          </a:xfrm>
          <a:prstGeom prst="rect">
            <a:avLst/>
          </a:prstGeom>
        </p:spPr>
      </p:pic>
      <p:sp>
        <p:nvSpPr>
          <p:cNvPr id="33" name="Row text"/>
          <p:cNvSpPr txBox="1"/>
          <p:nvPr/>
        </p:nvSpPr>
        <p:spPr>
          <a:xfrm>
            <a:off x="1143000" y="2176272"/>
            <a:ext cx="7360920" cy="868680"/>
          </a:xfrm>
          <a:prstGeom prst="rect">
            <a:avLst/>
          </a:prstGeom>
          <a:noFill/>
        </p:spPr>
        <p:txBody>
          <a:bodyPr wrap="square" lIns="0" tIns="0" rIns="0" bIns="0" anchor="ctr">
            <a:spAutoFit/>
          </a:bodyPr>
          <a:lstStyle/>
          <a:p>
            <a:pPr algn="l"/>
            <a:r>
              <a:rPr sz="1400" b="0" i="0">
                <a:solidFill>
                  <a:schemeClr val="tx1"/>
                </a:solidFill>
              </a:rPr>
              <a:t>A good moral is a general lesson that grows from the trait and the result. In our fable, it avoids names.</a:t>
            </a:r>
          </a:p>
        </p:txBody>
      </p:sp>
      <p:sp>
        <p:nvSpPr>
          <p:cNvPr id="34" name="Row"/>
          <p:cNvSpPr/>
          <p:nvPr/>
        </p:nvSpPr>
        <p:spPr>
          <a:xfrm>
            <a:off x="457200" y="3163824"/>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4335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506724"/>
            <a:ext cx="182880" cy="182880"/>
          </a:xfrm>
          <a:prstGeom prst="rect">
            <a:avLst/>
          </a:prstGeom>
        </p:spPr>
      </p:pic>
      <p:sp>
        <p:nvSpPr>
          <p:cNvPr id="37" name="Row text"/>
          <p:cNvSpPr txBox="1"/>
          <p:nvPr/>
        </p:nvSpPr>
        <p:spPr>
          <a:xfrm>
            <a:off x="1143000" y="3163824"/>
            <a:ext cx="7360920" cy="868680"/>
          </a:xfrm>
          <a:prstGeom prst="rect">
            <a:avLst/>
          </a:prstGeom>
          <a:noFill/>
        </p:spPr>
        <p:txBody>
          <a:bodyPr wrap="square" lIns="0" tIns="0" rIns="0" bIns="0" anchor="ctr">
            <a:spAutoFit/>
          </a:bodyPr>
          <a:lstStyle/>
          <a:p>
            <a:pPr algn="l"/>
            <a:r>
              <a:rPr sz="1400" b="0" i="0">
                <a:solidFill>
                  <a:schemeClr val="tx1"/>
                </a:solidFill>
              </a:rPr>
              <a:t>When I read my fable aloud, I noticed that I needed a comma before the opening inverted commas.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Homework: read it aloud</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33</a:t>
            </a:fld>
            <a:endParaRPr lang="en-US"/>
          </a:p>
        </p:txBody>
      </p:sp>
      <p:sp>
        <p:nvSpPr>
          <p:cNvPr id="26" name="Row"/>
          <p:cNvSpPr/>
          <p:nvPr/>
        </p:nvSpPr>
        <p:spPr>
          <a:xfrm>
            <a:off x="457200" y="118872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umber badge"/>
          <p:cNvSpPr/>
          <p:nvPr/>
        </p:nvSpPr>
        <p:spPr>
          <a:xfrm>
            <a:off x="640080" y="141732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41732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29" name="Row text"/>
          <p:cNvSpPr txBox="1"/>
          <p:nvPr/>
        </p:nvSpPr>
        <p:spPr>
          <a:xfrm>
            <a:off x="1188720" y="1188720"/>
            <a:ext cx="7315200" cy="822960"/>
          </a:xfrm>
          <a:prstGeom prst="rect">
            <a:avLst/>
          </a:prstGeom>
          <a:noFill/>
        </p:spPr>
        <p:txBody>
          <a:bodyPr wrap="square" lIns="0" tIns="0" rIns="0" bIns="0" anchor="ctr">
            <a:spAutoFit/>
          </a:bodyPr>
          <a:lstStyle/>
          <a:p>
            <a:pPr algn="l"/>
            <a:r>
              <a:rPr sz="1500" b="1" i="0">
                <a:solidFill>
                  <a:schemeClr val="tx1"/>
                </a:solidFill>
              </a:rPr>
              <a:t>Read your whole fable aloud to someone at home. Pause before the moral.</a:t>
            </a:r>
          </a:p>
        </p:txBody>
      </p:sp>
      <p:sp>
        <p:nvSpPr>
          <p:cNvPr id="30" name="Row"/>
          <p:cNvSpPr/>
          <p:nvPr/>
        </p:nvSpPr>
        <p:spPr>
          <a:xfrm>
            <a:off x="457200" y="219456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umber badge"/>
          <p:cNvSpPr/>
          <p:nvPr/>
        </p:nvSpPr>
        <p:spPr>
          <a:xfrm>
            <a:off x="640080" y="2423160"/>
            <a:ext cx="365760" cy="36576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0080" y="242316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3" name="Row text"/>
          <p:cNvSpPr txBox="1"/>
          <p:nvPr/>
        </p:nvSpPr>
        <p:spPr>
          <a:xfrm>
            <a:off x="1188720" y="2194560"/>
            <a:ext cx="7315200" cy="822960"/>
          </a:xfrm>
          <a:prstGeom prst="rect">
            <a:avLst/>
          </a:prstGeom>
          <a:noFill/>
        </p:spPr>
        <p:txBody>
          <a:bodyPr wrap="square" lIns="0" tIns="0" rIns="0" bIns="0" anchor="ctr">
            <a:spAutoFit/>
          </a:bodyPr>
          <a:lstStyle/>
          <a:p>
            <a:pPr algn="l"/>
            <a:r>
              <a:rPr sz="1500" b="1" i="0">
                <a:solidFill>
                  <a:schemeClr val="tx1"/>
                </a:solidFill>
              </a:rPr>
              <a:t>Ask: “Does my moral fit my story? Why?” Write down what they said.</a:t>
            </a:r>
          </a:p>
        </p:txBody>
      </p:sp>
      <p:sp>
        <p:nvSpPr>
          <p:cNvPr id="34" name="Row"/>
          <p:cNvSpPr/>
          <p:nvPr/>
        </p:nvSpPr>
        <p:spPr>
          <a:xfrm>
            <a:off x="457200" y="320040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umber badge"/>
          <p:cNvSpPr/>
          <p:nvPr/>
        </p:nvSpPr>
        <p:spPr>
          <a:xfrm>
            <a:off x="640080" y="3429000"/>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640080" y="3429000"/>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37" name="Row text"/>
          <p:cNvSpPr txBox="1"/>
          <p:nvPr/>
        </p:nvSpPr>
        <p:spPr>
          <a:xfrm>
            <a:off x="1188720" y="3200400"/>
            <a:ext cx="7315200" cy="822960"/>
          </a:xfrm>
          <a:prstGeom prst="rect">
            <a:avLst/>
          </a:prstGeom>
          <a:noFill/>
        </p:spPr>
        <p:txBody>
          <a:bodyPr wrap="square" lIns="0" tIns="0" rIns="0" bIns="0" anchor="ctr">
            <a:spAutoFit/>
          </a:bodyPr>
          <a:lstStyle/>
          <a:p>
            <a:pPr algn="l"/>
            <a:r>
              <a:rPr sz="1500" b="1" i="0">
                <a:solidFill>
                  <a:schemeClr val="tx1"/>
                </a:solidFill>
              </a:rPr>
              <a:t>Write one change you will make to improve your fable. You will make it in your final copy.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Homework: write your final fable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32</a:t>
            </a:fld>
            <a:endParaRPr lang="en-US"/>
          </a:p>
        </p:txBody>
      </p:sp>
      <p:sp>
        <p:nvSpPr>
          <p:cNvPr id="26" name="Card"/>
          <p:cNvSpPr/>
          <p:nvPr/>
        </p:nvSpPr>
        <p:spPr>
          <a:xfrm>
            <a:off x="457200" y="1188720"/>
            <a:ext cx="52120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75488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Write your whole fable neatly</a:t>
            </a:r>
          </a:p>
        </p:txBody>
      </p:sp>
      <p:sp>
        <p:nvSpPr>
          <p:cNvPr id="28" name="Text"/>
          <p:cNvSpPr txBox="1"/>
          <p:nvPr/>
        </p:nvSpPr>
        <p:spPr>
          <a:xfrm>
            <a:off x="685800" y="1691640"/>
            <a:ext cx="4754880" cy="594360"/>
          </a:xfrm>
          <a:prstGeom prst="rect">
            <a:avLst/>
          </a:prstGeom>
          <a:noFill/>
        </p:spPr>
        <p:txBody>
          <a:bodyPr wrap="square" lIns="0" tIns="0" rIns="0" bIns="0" anchor="t">
            <a:spAutoFit/>
          </a:bodyPr>
          <a:lstStyle/>
          <a:p>
            <a:pPr algn="l"/>
            <a:r>
              <a:rPr sz="1400" b="0" i="0">
                <a:solidFill>
                  <a:schemeClr val="tx1"/>
                </a:solidFill>
              </a:rPr>
              <a:t>Paragraphs 1 to 4, one fable. Use your feedback.</a:t>
            </a:r>
          </a:p>
        </p:txBody>
      </p:sp>
      <p:sp>
        <p:nvSpPr>
          <p:cNvPr id="29" name="Checkbox"/>
          <p:cNvSpPr/>
          <p:nvPr/>
        </p:nvSpPr>
        <p:spPr>
          <a:xfrm>
            <a:off x="685800" y="233172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
          <p:cNvSpPr txBox="1"/>
          <p:nvPr/>
        </p:nvSpPr>
        <p:spPr>
          <a:xfrm>
            <a:off x="1097280" y="2267712"/>
            <a:ext cx="4389120" cy="384048"/>
          </a:xfrm>
          <a:prstGeom prst="rect">
            <a:avLst/>
          </a:prstGeom>
          <a:noFill/>
        </p:spPr>
        <p:txBody>
          <a:bodyPr wrap="square" lIns="0" tIns="0" rIns="0" bIns="0" anchor="ctr">
            <a:spAutoFit/>
          </a:bodyPr>
          <a:lstStyle/>
          <a:p>
            <a:pPr algn="l"/>
            <a:r>
              <a:rPr sz="1400" b="0" i="0">
                <a:solidFill>
                  <a:schemeClr val="tx1"/>
                </a:solidFill>
              </a:rPr>
              <a:t>Paragraphs 1 to 4 are in order, in one fable</a:t>
            </a:r>
          </a:p>
        </p:txBody>
      </p:sp>
      <p:sp>
        <p:nvSpPr>
          <p:cNvPr id="31" name="Checkbox"/>
          <p:cNvSpPr/>
          <p:nvPr/>
        </p:nvSpPr>
        <p:spPr>
          <a:xfrm>
            <a:off x="685800" y="278892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1097280" y="2724912"/>
            <a:ext cx="4389120" cy="384048"/>
          </a:xfrm>
          <a:prstGeom prst="rect">
            <a:avLst/>
          </a:prstGeom>
          <a:noFill/>
        </p:spPr>
        <p:txBody>
          <a:bodyPr wrap="square" lIns="0" tIns="0" rIns="0" bIns="0" anchor="ctr">
            <a:spAutoFit/>
          </a:bodyPr>
          <a:lstStyle/>
          <a:p>
            <a:pPr algn="l"/>
            <a:r>
              <a:rPr sz="1400" b="0" i="0">
                <a:solidFill>
                  <a:schemeClr val="tx1"/>
                </a:solidFill>
              </a:rPr>
              <a:t>I made my change and improved my weakest paragraph</a:t>
            </a:r>
          </a:p>
        </p:txBody>
      </p:sp>
      <p:sp>
        <p:nvSpPr>
          <p:cNvPr id="33" name="Checkbox"/>
          <p:cNvSpPr/>
          <p:nvPr/>
        </p:nvSpPr>
        <p:spPr>
          <a:xfrm>
            <a:off x="685800" y="324612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
          <p:cNvSpPr txBox="1"/>
          <p:nvPr/>
        </p:nvSpPr>
        <p:spPr>
          <a:xfrm>
            <a:off x="1097280" y="3182112"/>
            <a:ext cx="4389120" cy="384048"/>
          </a:xfrm>
          <a:prstGeom prst="rect">
            <a:avLst/>
          </a:prstGeom>
          <a:noFill/>
        </p:spPr>
        <p:txBody>
          <a:bodyPr wrap="square" lIns="0" tIns="0" rIns="0" bIns="0" anchor="ctr">
            <a:spAutoFit/>
          </a:bodyPr>
          <a:lstStyle/>
          <a:p>
            <a:pPr algn="l"/>
            <a:r>
              <a:rPr sz="1400" b="0" i="0">
                <a:solidFill>
                  <a:schemeClr val="tx1"/>
                </a:solidFill>
              </a:rPr>
              <a:t>My result happens because of my choice. My moral fits.</a:t>
            </a:r>
          </a:p>
        </p:txBody>
      </p:sp>
      <p:sp>
        <p:nvSpPr>
          <p:cNvPr id="35" name="Checkbox"/>
          <p:cNvSpPr/>
          <p:nvPr/>
        </p:nvSpPr>
        <p:spPr>
          <a:xfrm>
            <a:off x="685800" y="370332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1097280" y="3639312"/>
            <a:ext cx="4389120" cy="384048"/>
          </a:xfrm>
          <a:prstGeom prst="rect">
            <a:avLst/>
          </a:prstGeom>
          <a:noFill/>
        </p:spPr>
        <p:txBody>
          <a:bodyPr wrap="square" lIns="0" tIns="0" rIns="0" bIns="0" anchor="ctr">
            <a:spAutoFit/>
          </a:bodyPr>
          <a:lstStyle/>
          <a:p>
            <a:pPr algn="l"/>
            <a:r>
              <a:rPr sz="1400" b="0" i="0">
                <a:solidFill>
                  <a:schemeClr val="tx1"/>
                </a:solidFill>
              </a:rPr>
              <a:t>My speech is punctuated correctly</a:t>
            </a:r>
          </a:p>
        </p:txBody>
      </p:sp>
      <p:sp>
        <p:nvSpPr>
          <p:cNvPr id="37" name="Note card"/>
          <p:cNvSpPr/>
          <p:nvPr/>
        </p:nvSpPr>
        <p:spPr>
          <a:xfrm>
            <a:off x="5897880" y="1188720"/>
            <a:ext cx="2788920" cy="3337560"/>
          </a:xfrm>
          <a:prstGeom prst="roundRect">
            <a:avLst>
              <a:gd name="adj" fmla="val 4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5897880" y="1371600"/>
            <a:ext cx="2788920" cy="914400"/>
          </a:xfrm>
          <a:prstGeom prst="rect">
            <a:avLst/>
          </a:prstGeom>
          <a:noFill/>
        </p:spPr>
        <p:txBody>
          <a:bodyPr wrap="square" lIns="0" tIns="0" rIns="0" bIns="0" anchor="ctr">
            <a:spAutoFit/>
          </a:bodyPr>
          <a:lstStyle/>
          <a:p>
            <a:pPr algn="ctr"/>
            <a:r>
              <a:rPr sz="6000" b="1" i="0">
                <a:solidFill>
                  <a:schemeClr val="bg1"/>
                </a:solidFill>
                <a:latin typeface="Cambria"/>
                <a:ea typeface="Cambria"/>
                <a:cs typeface="Cambria"/>
              </a:rPr>
              <a:t>20</a:t>
            </a:r>
          </a:p>
        </p:txBody>
      </p:sp>
      <p:sp>
        <p:nvSpPr>
          <p:cNvPr id="39" name="Text"/>
          <p:cNvSpPr txBox="1"/>
          <p:nvPr/>
        </p:nvSpPr>
        <p:spPr>
          <a:xfrm>
            <a:off x="6080760" y="2286000"/>
            <a:ext cx="24231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0" name="Text"/>
          <p:cNvSpPr txBox="1"/>
          <p:nvPr/>
        </p:nvSpPr>
        <p:spPr>
          <a:xfrm>
            <a:off x="6080760" y="2743200"/>
            <a:ext cx="2423160" cy="1645920"/>
          </a:xfrm>
          <a:prstGeom prst="rect">
            <a:avLst/>
          </a:prstGeom>
          <a:noFill/>
        </p:spPr>
        <p:txBody>
          <a:bodyPr wrap="square" lIns="0" tIns="0" rIns="0" bIns="0" anchor="t">
            <a:spAutoFit/>
          </a:bodyPr>
          <a:lstStyle/>
          <a:p>
            <a:pPr algn="ctr"/>
            <a:r>
              <a:rPr sz="1400" b="0" i="0">
                <a:solidFill>
                  <a:schemeClr val="bg1"/>
                </a:solidFill>
              </a:rPr>
              <a:t>Underline your link word. Circle any names to remove from your moral.</a:t>
            </a:r>
          </a:p>
        </p:txBody>
      </p:sp>
    </p:spTree>
  </p:cSld>
  <p:clrMapOvr>
    <a:masterClrMapping/>
  </p:clrMapOvr>
</p:sld>
</file>

<file path=ppt/theme/theme1.xml><?xml version="1.0" encoding="utf-8"?>
<a:theme xmlns:a="http://schemas.openxmlformats.org/drawingml/2006/main" name="Woodland Fable">
  <a:themeElements>
    <a:clrScheme name="Woodland Fable">
      <a:dk1>
        <a:srgbClr val="22302A"/>
      </a:dk1>
      <a:lt1>
        <a:srgbClr val="FFFFFF"/>
      </a:lt1>
      <a:dk2>
        <a:srgbClr val="1B4332"/>
      </a:dk2>
      <a:lt2>
        <a:srgbClr val="EAF3E4"/>
      </a:lt2>
      <a:accent1>
        <a:srgbClr val="E0561F"/>
      </a:accent1>
      <a:accent2>
        <a:srgbClr val="F4B942"/>
      </a:accent2>
      <a:accent3>
        <a:srgbClr val="2D6A4F"/>
      </a:accent3>
      <a:accent4>
        <a:srgbClr val="2A7AB0"/>
      </a:accent4>
      <a:accent5>
        <a:srgbClr val="7B4FA3"/>
      </a:accent5>
      <a:accent6>
        <a:srgbClr val="C9304A"/>
      </a:accent6>
      <a:hlink>
        <a:srgbClr val="2A7AB0"/>
      </a:hlink>
      <a:folHlink>
        <a:srgbClr val="7B4FA3"/>
      </a:folHlink>
    </a:clrScheme>
    <a:fontScheme name="Woodland Fa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5033</Words>
  <Application>Microsoft Office PowerPoint</Application>
  <PresentationFormat>On-screen Show (16:9)</PresentationFormat>
  <Paragraphs>348</Paragraphs>
  <Slides>33</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Woodland Fable</vt:lpstr>
      <vt:lpstr>Write a Fable</vt:lpstr>
      <vt:lpstr>Today’s outcome</vt:lpstr>
      <vt:lpstr>Our fable chain</vt:lpstr>
      <vt:lpstr>Check Paragraph 3</vt:lpstr>
      <vt:lpstr>Three parts of Paragraph 4</vt:lpstr>
      <vt:lpstr>Geoffrey’s chain: choice to moral</vt:lpstr>
      <vt:lpstr>Model: Geoffrey’s Paragraph 4</vt:lpstr>
      <vt:lpstr>Link the result to the choice</vt:lpstr>
      <vt:lpstr>Answers: the result and the choice</vt:lpstr>
      <vt:lpstr>Show cause and effect</vt:lpstr>
      <vt:lpstr>Plan your result</vt:lpstr>
      <vt:lpstr>Show the change</vt:lpstr>
      <vt:lpstr>What is a moral?</vt:lpstr>
      <vt:lpstr>Three moral frames</vt:lpstr>
      <vt:lpstr>Does the moral fit?</vt:lpstr>
      <vt:lpstr>I write, we write, you write</vt:lpstr>
      <vt:lpstr>Model: shared writing</vt:lpstr>
      <vt:lpstr>Choose your path</vt:lpstr>
      <vt:lpstr>Model: the three paths</vt:lpstr>
      <vt:lpstr>Punctuate speech correctly</vt:lpstr>
      <vt:lpstr>Success criteria</vt:lpstr>
      <vt:lpstr>Write Paragraph 4</vt:lpstr>
      <vt:lpstr>Stop: check Paragraph 4</vt:lpstr>
      <vt:lpstr>Finish the whole draft</vt:lpstr>
      <vt:lpstr>Read aloud like a storyteller</vt:lpstr>
      <vt:lpstr>Read it to a partner</vt:lpstr>
      <vt:lpstr>How did you do?</vt:lpstr>
      <vt:lpstr>Plenary: mark the ending</vt:lpstr>
      <vt:lpstr>Answers: mark the ending</vt:lpstr>
      <vt:lpstr>Exit ticket</vt:lpstr>
      <vt:lpstr>Model: exit ticket</vt:lpstr>
      <vt:lpstr>Homework: write it again</vt:lpstr>
      <vt:lpstr>Homework: read it aloud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Fable Writing - Session 1: Write the Beginning + Problem</dc:title>
  <dc:subject>Year 5 Writing - Fables</dc:subject>
  <dc:creator>PptxGenJS</dc:creator>
  <cp:lastModifiedBy>pc</cp:lastModifiedBy>
  <cp:revision>6</cp:revision>
  <dcterms:created xsi:type="dcterms:W3CDTF">2026-10-06T19:30:39Z</dcterms:created>
  <dcterms:modified xsi:type="dcterms:W3CDTF">2026-10-09T23:38:08Z</dcterms:modified>
</cp:coreProperties>
</file>