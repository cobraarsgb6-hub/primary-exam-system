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3" r:id="rId19"/>
    <p:sldId id="284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7" r:id="rId30"/>
    <p:sldId id="289" r:id="rId31"/>
    <p:sldId id="288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21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 total, slides 1-2) Read the big question. Say: today we plan our own fable.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goals together. Pupils say what 'I can' means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 for slides 1-7.(7 min, slides 3-5) Starter. Read the crow fable. Ask: what did she learn? Take 2-3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lesson. Point to the chain: trait, choice,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under the icons. Pupils say the six parts back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min, slides 6-7) Pupils vote A or B and explain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caused the problem in each story?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(9 min, slides 8-10) Pupils choose an animal, trait and place from the word bank and write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foxes. Ask which gives the best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Link: a weakness can start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 min, slides 11-13) Pupils write their trait and a problem it could cause in their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A, B or C. Ask: which comes from being impatient?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B. Say: the problem comes from the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 min) Read the squirrel example with 'so' between the boxes. Pupils write their own sentence. Check: is the result because of the choice?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 min, slides 15-17) Pupils read the example, then think about what the reader should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A, B or C. Ask which lesson matches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C. A and B are too big and do not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min, slides 28-29) Quick check. Pupils choose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B. Link it to trait, choice and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for slides 18-21.(5 min, slides 18-19) Pupils write one short sentence for each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fable from the book: Gentle Geoffrey (session 1.6). Link each row to the story pupils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 min, slides 20-22) Explain events: things that happen,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story map for Geoffrey. Ask: how does each box lead to the next?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fill in their own story map in their book. Circulate and check the events are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Leave on screen for pupils who need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sentences for Geoffrey. Leave on screen for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task: leave on screen while pupils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min.(4 min) Partners swap books. One tick and one idea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min, slides 32-33) Exit ticket: collect one sentence from each pupil.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D063-8FE5-04E8-96FC-1A231AE2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3A1BB-5F74-6834-1ADA-55C5197CD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C66A9-C488-5FAA-A112-DCC2EB204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min, slides 32-33) Exit ticket: collect one sentence from each pupil.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8B07-E5C1-1DDE-FDBB-789D10E2B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52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Plenary: take two answers using the sentence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Plan a Fable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7D2FE"/>
                </a:solidFill>
              </a:rPr>
              <a:t>Year 5 · Today we will plan our own fable!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8346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2" y="3007462"/>
            <a:ext cx="477317" cy="47731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2103120" y="283464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942" y="3007462"/>
            <a:ext cx="477317" cy="47731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288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Trait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4" name="Shape 9"/>
          <p:cNvSpPr/>
          <p:nvPr/>
        </p:nvSpPr>
        <p:spPr>
          <a:xfrm>
            <a:off x="3474720" y="2834640"/>
            <a:ext cx="822960" cy="8229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542" y="3007462"/>
            <a:ext cx="477317" cy="47731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004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Shape 12"/>
          <p:cNvSpPr/>
          <p:nvPr/>
        </p:nvSpPr>
        <p:spPr>
          <a:xfrm>
            <a:off x="4846320" y="2834640"/>
            <a:ext cx="822960" cy="8229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142" y="3007462"/>
            <a:ext cx="477317" cy="47731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5720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Choice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669280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Shape 15"/>
          <p:cNvSpPr/>
          <p:nvPr/>
        </p:nvSpPr>
        <p:spPr>
          <a:xfrm>
            <a:off x="6217920" y="283464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742" y="3007462"/>
            <a:ext cx="477317" cy="47731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436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7040880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26" name="Shape 18"/>
          <p:cNvSpPr/>
          <p:nvPr/>
        </p:nvSpPr>
        <p:spPr>
          <a:xfrm>
            <a:off x="7589520" y="283464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342" y="3007462"/>
            <a:ext cx="477317" cy="47731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3152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LEARNING GOALS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doing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6250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87452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Today I will...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688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Make an animal character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Give them a problem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Show what happens next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Choose a lesson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Plan my fable in order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6250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87452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 can...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4688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Show what my character is like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Give a problem that fits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Show a choice and its result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Write a lesson that fits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B4B"/>
                </a:solidFill>
              </a:rPr>
              <a:t>Make a clear plan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STARTER · THE FABLE MACHINE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lesson could this fable teach?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Talk to your partner: what should the crow learn?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64592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64592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164592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64592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careless crow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7200" y="2152498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152498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2152498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2152498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wants to build her nest fast.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57200" y="2659075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659075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2659075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Choice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651760" y="2659075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uses weak twigs.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57200" y="3165653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3165653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2920" y="3165653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651760" y="3165653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wind knocks the nest down.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457200" y="367223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7200" y="367223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367223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2651760" y="367223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??? What did she learn? ???</a:t>
            </a:r>
            <a:endParaRPr lang="en-US" sz="18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possible lesson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509778"/>
          </a:xfrm>
          <a:prstGeom prst="roundRect">
            <a:avLst>
              <a:gd name="adj" fmla="val 287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509778"/>
          </a:xfrm>
          <a:prstGeom prst="roundRect">
            <a:avLst>
              <a:gd name="adj" fmla="val 287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Take care at the start. It saves bigger problems later.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329434"/>
            <a:ext cx="8229600" cy="509778"/>
          </a:xfrm>
          <a:prstGeom prst="roundRect">
            <a:avLst>
              <a:gd name="adj" fmla="val 287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329434"/>
            <a:ext cx="1828800" cy="509778"/>
          </a:xfrm>
          <a:prstGeom prst="roundRect">
            <a:avLst>
              <a:gd name="adj" fmla="val 287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329434"/>
            <a:ext cx="17373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329434"/>
            <a:ext cx="60350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crow is careless.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2967228"/>
            <a:ext cx="8229600" cy="509778"/>
          </a:xfrm>
          <a:prstGeom prst="roundRect">
            <a:avLst>
              <a:gd name="adj" fmla="val 287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967228"/>
            <a:ext cx="1828800" cy="509778"/>
          </a:xfrm>
          <a:prstGeom prst="roundRect">
            <a:avLst>
              <a:gd name="adj" fmla="val 287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67228"/>
            <a:ext cx="17373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Choice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2967228"/>
            <a:ext cx="60350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So she uses weak twigs.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3605022"/>
            <a:ext cx="8229600" cy="509778"/>
          </a:xfrm>
          <a:prstGeom prst="roundRect">
            <a:avLst>
              <a:gd name="adj" fmla="val 287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605022"/>
            <a:ext cx="1828800" cy="509778"/>
          </a:xfrm>
          <a:prstGeom prst="roundRect">
            <a:avLst>
              <a:gd name="adj" fmla="val 287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3605022"/>
            <a:ext cx="173736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3605022"/>
            <a:ext cx="603504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So the nest falls down.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The lesson comes from what the character does.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THE 6 PARTS OF A FABLE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fable has 6 parts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" y="169164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3" y="1874063"/>
            <a:ext cx="503834" cy="5038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Character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Who is it?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5773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</a:rPr>
              <a:t>›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2080260" y="1691640"/>
            <a:ext cx="868680" cy="868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683" y="1874063"/>
            <a:ext cx="503834" cy="5038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Trait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8745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What are they like?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9489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</a:rPr>
              <a:t>›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3451860" y="1691640"/>
            <a:ext cx="868680" cy="8686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283" y="1874063"/>
            <a:ext cx="503834" cy="50383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2004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Problem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2461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What goes wrong?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3205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Shape 16"/>
          <p:cNvSpPr/>
          <p:nvPr/>
        </p:nvSpPr>
        <p:spPr>
          <a:xfrm>
            <a:off x="4823460" y="1691640"/>
            <a:ext cx="868680" cy="86868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883" y="1874063"/>
            <a:ext cx="503834" cy="50383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720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Choice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6177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What do they do?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6921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</a:rPr>
              <a:t>›</a:t>
            </a:r>
            <a:endParaRPr lang="en-US" sz="2600" dirty="0"/>
          </a:p>
        </p:txBody>
      </p:sp>
      <p:sp>
        <p:nvSpPr>
          <p:cNvPr id="27" name="Shape 20"/>
          <p:cNvSpPr/>
          <p:nvPr/>
        </p:nvSpPr>
        <p:spPr>
          <a:xfrm>
            <a:off x="6195060" y="1691640"/>
            <a:ext cx="868680" cy="8686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483" y="1874063"/>
            <a:ext cx="503834" cy="50383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9436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9893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What happens because of it?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70637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</a:rPr>
              <a:t>›</a:t>
            </a:r>
            <a:endParaRPr lang="en-US" sz="2600" dirty="0"/>
          </a:p>
        </p:txBody>
      </p:sp>
      <p:sp>
        <p:nvSpPr>
          <p:cNvPr id="32" name="Shape 24"/>
          <p:cNvSpPr/>
          <p:nvPr/>
        </p:nvSpPr>
        <p:spPr>
          <a:xfrm>
            <a:off x="7566660" y="1691640"/>
            <a:ext cx="868680" cy="868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083" y="1874063"/>
            <a:ext cx="503834" cy="50383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1520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Lesson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360920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What do we learn?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</a:rPr>
              <a:t>Each part leads to the next one. Do not pick them separately!</a:t>
            </a:r>
            <a:endParaRPr lang="en-US" sz="2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story is stronger?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103120"/>
            <a:ext cx="3977640" cy="1920240"/>
          </a:xfrm>
          <a:prstGeom prst="roundRect">
            <a:avLst>
              <a:gd name="adj" fmla="val 952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rabbit is in a hurry. A storm breaks the bridge. She learns to be careful.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2103120"/>
            <a:ext cx="3977640" cy="1920240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8346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 rabbit is in a hurry. She ignores a warning sign and jumps on a weak branch. It breaks. She needs help.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4224528"/>
            <a:ext cx="8229600" cy="5303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2245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Which rabbit caused her own problem?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B is stronger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Story 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storm is bad luck. The rabbit did nothing wrong.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642616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642616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6426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Story 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6426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ignored the warning, so she got into trouble.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A character trait should lead to what they 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1 · MAKE YOUR CHARACTER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animal, trait and place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00200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00200"/>
            <a:ext cx="1600200" cy="658368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002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  Animal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1728216"/>
            <a:ext cx="658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94560" y="172821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fox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944368" y="1728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44368" y="1728216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rabbit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68496" y="17282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68496" y="1728216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turtle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92624" y="1728216"/>
            <a:ext cx="658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92624" y="172821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owl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42432" y="1728216"/>
            <a:ext cx="7498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42432" y="172821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lion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83680" y="1728216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17282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squirrel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7200" y="2368296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368296"/>
            <a:ext cx="1600200" cy="658368"/>
          </a:xfrm>
          <a:prstGeom prst="roundRect">
            <a:avLst>
              <a:gd name="adj" fmla="val 1944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36829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  Trait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194560" y="2496312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2496312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proud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127248" y="2496312"/>
            <a:ext cx="7498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127248" y="24963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kind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968496" y="2496312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68496" y="2496312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greedy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992624" y="2496312"/>
            <a:ext cx="7498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92624" y="24963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lazy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833872" y="2496312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33872" y="2496312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brave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766560" y="2496312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66560" y="249631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careless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57200" y="3136392"/>
            <a:ext cx="8229600" cy="658368"/>
          </a:xfrm>
          <a:prstGeom prst="roundRect">
            <a:avLst>
              <a:gd name="adj" fmla="val 1944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" y="3136392"/>
            <a:ext cx="1600200" cy="658368"/>
          </a:xfrm>
          <a:prstGeom prst="roundRect">
            <a:avLst>
              <a:gd name="adj" fmla="val 1944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31363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  Place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2194560" y="3264408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94560" y="326440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forest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3218688" y="3264408"/>
            <a:ext cx="8412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218688" y="326440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river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4151376" y="3264408"/>
            <a:ext cx="7498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151376" y="326440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farm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4992624" y="3264408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992624" y="326440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mountain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6199632" y="3264408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199632" y="326440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garden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7223760" y="3264408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223760" y="326440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market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457200" y="4005072"/>
            <a:ext cx="8229600" cy="749808"/>
          </a:xfrm>
          <a:prstGeom prst="roundRect">
            <a:avLst>
              <a:gd name="adj" fmla="val 3658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31520" y="4005072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Write: My character is a ______. He/she is ______. He/she lives in a ______.</a:t>
            </a:r>
            <a:endParaRPr lang="en-US" sz="16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MAKE YOUR CHARACTER INTERESTING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fox is the best?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74320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8803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Weak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37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My fox is clever.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1840" y="219456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FEF9C3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3317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Better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7889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My fox is clever, so she solves problems.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2560320" cy="246888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7830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2402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My fox is clever, but she thinks she is always right.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8229600" cy="53035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2245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Which fox gives you a better story? Tell your partner why.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character a weakness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722376"/>
          </a:xfrm>
          <a:prstGeom prst="roundRect">
            <a:avLst>
              <a:gd name="adj" fmla="val 202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Strength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fox is clever.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542032"/>
            <a:ext cx="8229600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42032"/>
            <a:ext cx="1828800" cy="722376"/>
          </a:xfrm>
          <a:prstGeom prst="roundRect">
            <a:avLst>
              <a:gd name="adj" fmla="val 202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542032"/>
            <a:ext cx="1737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Weakness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542032"/>
            <a:ext cx="6035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thinks she is always right.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3392424"/>
            <a:ext cx="8229600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392424"/>
            <a:ext cx="1828800" cy="722376"/>
          </a:xfrm>
          <a:prstGeom prst="roundRect">
            <a:avLst>
              <a:gd name="adj" fmla="val 202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92424"/>
            <a:ext cx="1737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3392424"/>
            <a:ext cx="6035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ignores good advice.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A weakness can start the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2 · FIND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could the trait cause?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Write in your book. The problem must come from the trait.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45920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645920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Example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1645920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Proud lion → will not listen to small animals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279142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279142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2279142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My animal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2279142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__________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912364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912364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912364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My trait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2912364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__________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545586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545586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3545586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3545586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__________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problem fits best?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7D2FE"/>
                </a:solidFill>
              </a:rPr>
              <a:t>An impatient rabbit (she hates waiting)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48840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15798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She loses her hat.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843784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8529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84378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She will not wait and takes a dangerous shortcut.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54787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387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She finds a carrot.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4224528"/>
            <a:ext cx="8229600" cy="5303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245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Which one comes from being impatient?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fits best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Impatient means she hates waiting.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642616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642616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6426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6426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takes the shortcut. That is a real problem!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A good problem comes from what the character is like.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3 · CHOICE AND RESULT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and result: what happens?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B5563"/>
                </a:solidFill>
              </a:rPr>
              <a:t>EXAMPLE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TRAIT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Selfish squirrel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1874520"/>
            <a:ext cx="617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</a:rPr>
              <a:t>so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06140" y="187452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4330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B4B"/>
                </a:solidFill>
              </a:rPr>
              <a:t>CHOICE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4330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She takes ALL the food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737860" y="1874520"/>
            <a:ext cx="6172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</a:rPr>
              <a:t>so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355080" y="187452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CONSEQUENCE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 winter, nobody helps her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3429000"/>
            <a:ext cx="8229600" cy="640080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YOUR TURN: Because my character is ______, he/she ______. So ______.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57200" y="4224528"/>
            <a:ext cx="8229600" cy="53035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2245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Does the result happen BECAUSE of the choice?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4 · CHOOSE THE LESSON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the reader learn?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lesson says what the character learned.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45920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645920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1645920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fox ignores good advice.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279142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279142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2279142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2279142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She makes a mistake.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912364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912364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912364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2912364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Listen to good advice to avoid mistakes.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545586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545586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3545586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Not this!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3545586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"Be good." That is too big.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lesson is best?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7D2FE"/>
                </a:solidFill>
              </a:rPr>
              <a:t>A proud elephant refuses help and struggles alone.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48840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15798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Always be nice.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843784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8529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84378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Being proud is bad.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54787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387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Don't let pride stop you asking for help.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is best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It matches the story: proud, no help, struggles.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642616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642616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6426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and 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6426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Too big. They do not match this story.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The lesson must match what happened in the story.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lesson?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7D2FE"/>
                </a:solidFill>
              </a:rPr>
              <a:t>Greedy fox → takes all the food → nobody trusts him → he needs help</a:t>
            </a:r>
            <a:endParaRPr lang="en-US" sz="1800" b="1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148840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15798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57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Food is yummy.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843784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8529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84378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Being greedy can lose your friends.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3448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54787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387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Foxes are clever.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</a:rPr>
              <a:t>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is the best lesson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Why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691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fox was greedy, so others stopped trusting him.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642616"/>
            <a:ext cx="82296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642616"/>
            <a:ext cx="1828800" cy="82296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6426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26426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It matches the story from start to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F7D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5 · YOUR FABLE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your ideas together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Write one short sentence for each part.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645920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645920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1645920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645920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My character is a ______ (animal).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7200" y="2279142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279142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2279142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2279142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He/she is ______.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57200" y="2912364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912364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2912364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651760" y="2912364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problem is ______.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57200" y="3545586"/>
            <a:ext cx="8229600" cy="523494"/>
          </a:xfrm>
          <a:prstGeom prst="roundRect">
            <a:avLst>
              <a:gd name="adj" fmla="val 244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3545586"/>
            <a:ext cx="2011680" cy="523494"/>
          </a:xfrm>
          <a:prstGeom prst="roundRect">
            <a:avLst>
              <a:gd name="adj" fmla="val 2445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2920" y="3545586"/>
            <a:ext cx="192024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651760" y="3545586"/>
            <a:ext cx="58521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The lesson is ______.</a:t>
            </a:r>
            <a:endParaRPr lang="en-US" sz="18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MODEL FABLE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Gentle Geoffrey (from your book)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Source: Auntie Anthea and Gentle Geoffrey, session 1.6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4592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64592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164592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Geoffrey, a grasshopper who loves music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152498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152498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2152498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2152498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Dreamy: head in the clouds, never plans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659075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659075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659075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Choice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2659075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He sings all summer and stores no food.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165653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65653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3165653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3165653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Winter comes. He is weak, hungry and homeless.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57200" y="367223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67223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367223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367223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Plan ahead. Use your talents to help others.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NOW PUT IT IN ORDER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events of your 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Beginning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56232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56232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55264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55264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Event 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54296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54296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Event 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53328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</a:rPr>
              <a:t>Big choice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52360" y="1828800"/>
            <a:ext cx="1234440" cy="9144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B4B"/>
                </a:solidFill>
              </a:rPr>
              <a:t>Events are the things that happen in the story. Each event makes the problem bigger.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MODEL STORY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Gentle Geoffrey: story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Look at how each box leads to the next one.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Beginning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Geoffrey, a grasshopper, in summer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004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He is dreamy and never plans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Event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He sings and stores no food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6656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28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Event 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7628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Weak and hungry, he meets Anthea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Big choice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</a:rPr>
              <a:t>He offers to sing for his supper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56032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7004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67004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Anthea sees he is useful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66344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7316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Ending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7316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He gets a warm home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76656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7628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7628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Plan ahead and share your talents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ACTIVITY 6 · PLAN YOUR FABLE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fill in YOUR story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Write in your book. Keep your events in order.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Beginning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Who? Where?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004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goes wrong?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Event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happens first?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66560" y="160020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288" y="1673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Event 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7628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happens next?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</a:rPr>
              <a:t>Big choice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</a:rPr>
              <a:t>What does he/she decide?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56032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7004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67004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happens because of it?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66344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7316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Ending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7316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does he/she learn?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766560" y="2880360"/>
            <a:ext cx="1920240" cy="1143000"/>
          </a:xfrm>
          <a:prstGeom prst="roundRect">
            <a:avLst>
              <a:gd name="adj" fmla="val 128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76288" y="295351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76288" y="32918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do we learn?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NEED HELP?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these sentences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Example: First, she ignores the sign. Then she takes the shortcut.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688897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6888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645920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My character is a ______ who lives in ______.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152498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195474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1954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152498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He/she is ______.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659075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270205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702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659075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First, ______. Then, ______.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165653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20863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2086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165653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Because he/she is ______, he/she ______.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57200" y="367223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15207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7152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3672230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So ______. The lesson is ______.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MODEL · GENTLE GEOFFREY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using the sentences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7190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6002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My character is a </a:t>
            </a:r>
            <a:r>
              <a:rPr lang="en-US" sz="1600" b="1" dirty="0">
                <a:solidFill>
                  <a:srgbClr val="6D28D9"/>
                </a:solidFill>
              </a:rPr>
              <a:t>grasshopper</a:t>
            </a:r>
            <a:r>
              <a:rPr lang="en-US" sz="1600" dirty="0">
                <a:solidFill>
                  <a:srgbClr val="1E1B4B"/>
                </a:solidFill>
              </a:rPr>
              <a:t> who lives in </a:t>
            </a:r>
            <a:r>
              <a:rPr lang="en-US" sz="1600" b="1" dirty="0">
                <a:solidFill>
                  <a:srgbClr val="6D28D9"/>
                </a:solidFill>
              </a:rPr>
              <a:t>a field</a:t>
            </a:r>
            <a:r>
              <a:rPr lang="en-US" sz="1600" dirty="0">
                <a:solidFill>
                  <a:srgbClr val="1E1B4B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331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2128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He is </a:t>
            </a:r>
            <a:r>
              <a:rPr lang="en-US" sz="1600" b="1" dirty="0">
                <a:solidFill>
                  <a:srgbClr val="6D28D9"/>
                </a:solidFill>
              </a:rPr>
              <a:t>dreamy</a:t>
            </a:r>
            <a:r>
              <a:rPr lang="en-US" sz="1600" dirty="0">
                <a:solidFill>
                  <a:srgbClr val="1E1B4B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82549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First, </a:t>
            </a:r>
            <a:r>
              <a:rPr lang="en-US" sz="1600" b="1" dirty="0">
                <a:solidFill>
                  <a:srgbClr val="6D28D9"/>
                </a:solidFill>
              </a:rPr>
              <a:t>he sings all summer and stores no food</a:t>
            </a:r>
            <a:r>
              <a:rPr lang="en-US" sz="1600" dirty="0">
                <a:solidFill>
                  <a:srgbClr val="1E1B4B"/>
                </a:solidFill>
              </a:rPr>
              <a:t>. Then, </a:t>
            </a:r>
            <a:r>
              <a:rPr lang="en-US" sz="1600" b="1" dirty="0">
                <a:solidFill>
                  <a:srgbClr val="6D28D9"/>
                </a:solidFill>
              </a:rPr>
              <a:t>winter comes and he is weak and hungry</a:t>
            </a:r>
            <a:r>
              <a:rPr lang="en-US" sz="1600" dirty="0">
                <a:solidFill>
                  <a:srgbClr val="1E1B4B"/>
                </a:solidFill>
              </a:rPr>
              <a:t>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3557016"/>
            <a:ext cx="310896" cy="31089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4381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Because he is </a:t>
            </a:r>
            <a:r>
              <a:rPr lang="en-US" sz="1600" b="1" dirty="0">
                <a:solidFill>
                  <a:srgbClr val="6D28D9"/>
                </a:solidFill>
              </a:rPr>
              <a:t>dreamy</a:t>
            </a:r>
            <a:r>
              <a:rPr lang="en-US" sz="1600" dirty="0">
                <a:solidFill>
                  <a:srgbClr val="1E1B4B"/>
                </a:solidFill>
              </a:rPr>
              <a:t>, he </a:t>
            </a:r>
            <a:r>
              <a:rPr lang="en-US" sz="1600" b="1" dirty="0">
                <a:solidFill>
                  <a:srgbClr val="6D28D9"/>
                </a:solidFill>
              </a:rPr>
              <a:t>does not prepare for winter</a:t>
            </a:r>
            <a:r>
              <a:rPr lang="en-US" sz="1600" dirty="0">
                <a:solidFill>
                  <a:srgbClr val="1E1B4B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" y="4169664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40507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B4B"/>
                </a:solidFill>
              </a:rPr>
              <a:t>So, </a:t>
            </a:r>
            <a:r>
              <a:rPr lang="en-US" sz="1600" b="1" dirty="0">
                <a:solidFill>
                  <a:srgbClr val="6D28D9"/>
                </a:solidFill>
              </a:rPr>
              <a:t>Anthea wants to eat him, but he offers to sing for his supper</a:t>
            </a:r>
            <a:r>
              <a:rPr lang="en-US" sz="1600" dirty="0">
                <a:solidFill>
                  <a:srgbClr val="1E1B4B"/>
                </a:solidFill>
              </a:rPr>
              <a:t>. The lesson is </a:t>
            </a:r>
            <a:r>
              <a:rPr lang="en-US" sz="1600" b="1" dirty="0">
                <a:solidFill>
                  <a:srgbClr val="6D28D9"/>
                </a:solidFill>
              </a:rPr>
              <a:t>plan ahead and use your talents to help others</a:t>
            </a:r>
            <a:r>
              <a:rPr lang="en-US" sz="1600" dirty="0">
                <a:solidFill>
                  <a:srgbClr val="1E1B4B"/>
                </a:solidFill>
              </a:rPr>
              <a:t>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YOUR PLAN MUST HAVE...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plan has all of this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Challenge: show the trait in more than one event.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688897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6888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645920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character and where they live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152498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19547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1954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152498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clear trait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2659075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270205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702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659075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problem that comes from the trait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165653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20863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2086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165653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Three events in order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57200" y="367223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15207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7152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3672230"/>
            <a:ext cx="73152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choice, a result and a lesson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PARTNER CHECK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a fable detective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Swap books. Give one tick and one idea to improve.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64592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64592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164592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164592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Can you see what they are like?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7200" y="2152498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152498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2152498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2152498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Does it come from their trait?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57200" y="2659075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659075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2659075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Choice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651760" y="2659075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Does the character decide something?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57200" y="3165653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3165653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2920" y="3165653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651760" y="3165653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Is it a result of that choice?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457200" y="3672230"/>
            <a:ext cx="8229600" cy="396850"/>
          </a:xfrm>
          <a:prstGeom prst="roundRect">
            <a:avLst>
              <a:gd name="adj" fmla="val 322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7200" y="3672230"/>
            <a:ext cx="2011680" cy="396850"/>
          </a:xfrm>
          <a:prstGeom prst="roundRect">
            <a:avLst>
              <a:gd name="adj" fmla="val 3225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3672230"/>
            <a:ext cx="192024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2651760" y="3672230"/>
            <a:ext cx="58521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Does it match the story?</a:t>
            </a:r>
            <a:endParaRPr lang="en-US" sz="18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ONE sentence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4592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4592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6459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164592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A fable needs a lesson because ______.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46888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4688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4688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My character's trait causes ______.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29184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918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2918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32918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B4B"/>
                </a:solidFill>
              </a:rPr>
              <a:t>My lesson is ______ because ______.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6BE7-700C-0994-6269-EA4F3AF3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84D4A2-3D84-3FC5-F5A0-B9167352E242}"/>
              </a:ext>
            </a:extLst>
          </p:cNvPr>
          <p:cNvSpPr/>
          <p:nvPr/>
        </p:nvSpPr>
        <p:spPr>
          <a:xfrm>
            <a:off x="457200" y="2926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870710-64E9-9400-7065-D16BB7426D82}"/>
              </a:ext>
            </a:extLst>
          </p:cNvPr>
          <p:cNvSpPr txBox="1"/>
          <p:nvPr/>
        </p:nvSpPr>
        <p:spPr>
          <a:xfrm>
            <a:off x="457200" y="292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EXIT TICKET- Answers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8AE43B-E868-1D9B-2E45-12BD2355636F}"/>
              </a:ext>
            </a:extLst>
          </p:cNvPr>
          <p:cNvSpPr txBox="1"/>
          <p:nvPr/>
        </p:nvSpPr>
        <p:spPr>
          <a:xfrm>
            <a:off x="457200" y="685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ONE sentence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33D47B-6BD7-0102-B0C1-2465D1464728}"/>
              </a:ext>
            </a:extLst>
          </p:cNvPr>
          <p:cNvSpPr/>
          <p:nvPr/>
        </p:nvSpPr>
        <p:spPr>
          <a:xfrm>
            <a:off x="7680960" y="274320"/>
            <a:ext cx="1143000" cy="1143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D3F729E-4E0A-452C-5FA8-29F75EC3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514350"/>
            <a:ext cx="662940" cy="66294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3108C14F-5EAD-62DF-C7E4-C6C2C9425AE7}"/>
              </a:ext>
            </a:extLst>
          </p:cNvPr>
          <p:cNvSpPr/>
          <p:nvPr/>
        </p:nvSpPr>
        <p:spPr>
          <a:xfrm>
            <a:off x="457200" y="164592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63D5D0A-4598-CAFA-D112-0909DF78EDAA}"/>
              </a:ext>
            </a:extLst>
          </p:cNvPr>
          <p:cNvSpPr/>
          <p:nvPr/>
        </p:nvSpPr>
        <p:spPr>
          <a:xfrm>
            <a:off x="457200" y="164592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23FAF6B-6DE4-F340-B93A-000838254E32}"/>
              </a:ext>
            </a:extLst>
          </p:cNvPr>
          <p:cNvSpPr txBox="1"/>
          <p:nvPr/>
        </p:nvSpPr>
        <p:spPr>
          <a:xfrm>
            <a:off x="502920" y="16459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1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9E0AE9E-8440-0FEB-7E9F-703CEFC2C3A8}"/>
              </a:ext>
            </a:extLst>
          </p:cNvPr>
          <p:cNvSpPr txBox="1"/>
          <p:nvPr/>
        </p:nvSpPr>
        <p:spPr>
          <a:xfrm>
            <a:off x="2651760" y="164592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1E1B4B"/>
                </a:solidFill>
              </a:rPr>
              <a:t>A fable needs a lesson </a:t>
            </a:r>
            <a:r>
              <a:rPr lang="en-US" sz="1800" b="1" dirty="0">
                <a:solidFill>
                  <a:srgbClr val="1E1B4B"/>
                </a:solidFill>
              </a:rPr>
              <a:t>because </a:t>
            </a:r>
            <a:r>
              <a:rPr lang="en-US" b="1" dirty="0"/>
              <a:t>it teaches the reader what they should learn from the character's actions and choices.</a:t>
            </a:r>
            <a:r>
              <a:rPr lang="en-US" sz="1800" b="1" dirty="0">
                <a:solidFill>
                  <a:srgbClr val="1E1B4B"/>
                </a:solidFill>
              </a:rPr>
              <a:t> </a:t>
            </a:r>
            <a:endParaRPr lang="en-US" sz="1800" b="1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4ACC4E6-DBB0-D442-5CF0-E8BA71C257ED}"/>
              </a:ext>
            </a:extLst>
          </p:cNvPr>
          <p:cNvSpPr/>
          <p:nvPr/>
        </p:nvSpPr>
        <p:spPr>
          <a:xfrm>
            <a:off x="457200" y="246888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57B4B7A-F587-028C-806C-BF38B58A3E75}"/>
              </a:ext>
            </a:extLst>
          </p:cNvPr>
          <p:cNvSpPr/>
          <p:nvPr/>
        </p:nvSpPr>
        <p:spPr>
          <a:xfrm>
            <a:off x="457200" y="246888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033A63C-455E-2433-6E86-911E3F5230BD}"/>
              </a:ext>
            </a:extLst>
          </p:cNvPr>
          <p:cNvSpPr txBox="1"/>
          <p:nvPr/>
        </p:nvSpPr>
        <p:spPr>
          <a:xfrm>
            <a:off x="502920" y="24688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2</a:t>
            </a:r>
            <a:endParaRPr lang="en-US" sz="1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030DEF-8018-233A-519D-827013B13A49}"/>
              </a:ext>
            </a:extLst>
          </p:cNvPr>
          <p:cNvSpPr txBox="1"/>
          <p:nvPr/>
        </p:nvSpPr>
        <p:spPr>
          <a:xfrm>
            <a:off x="2651760" y="24688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1E1B4B"/>
                </a:solidFill>
              </a:rPr>
              <a:t>My character's trait </a:t>
            </a:r>
            <a:r>
              <a:rPr lang="en-US" sz="1800" b="1" dirty="0">
                <a:solidFill>
                  <a:srgbClr val="1E1B4B"/>
                </a:solidFill>
              </a:rPr>
              <a:t>causes </a:t>
            </a:r>
            <a:r>
              <a:rPr lang="en-US" b="1" dirty="0"/>
              <a:t>the problem because it affects the choices he or she makes.</a:t>
            </a:r>
            <a:endParaRPr lang="en-US" sz="1800" b="1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604C351-899A-56D4-78C8-2DABD02E8B97}"/>
              </a:ext>
            </a:extLst>
          </p:cNvPr>
          <p:cNvSpPr/>
          <p:nvPr/>
        </p:nvSpPr>
        <p:spPr>
          <a:xfrm>
            <a:off x="457200" y="3291840"/>
            <a:ext cx="8229600" cy="713232"/>
          </a:xfrm>
          <a:prstGeom prst="roundRect">
            <a:avLst>
              <a:gd name="adj" fmla="val 179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C50418B-21CD-4BFF-D63C-12F1DF2ECAA1}"/>
              </a:ext>
            </a:extLst>
          </p:cNvPr>
          <p:cNvSpPr/>
          <p:nvPr/>
        </p:nvSpPr>
        <p:spPr>
          <a:xfrm>
            <a:off x="457200" y="3291840"/>
            <a:ext cx="2011680" cy="713232"/>
          </a:xfrm>
          <a:prstGeom prst="roundRect">
            <a:avLst>
              <a:gd name="adj" fmla="val 1794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EBE14E7-F3BC-50DD-6CF7-42B6401064C6}"/>
              </a:ext>
            </a:extLst>
          </p:cNvPr>
          <p:cNvSpPr txBox="1"/>
          <p:nvPr/>
        </p:nvSpPr>
        <p:spPr>
          <a:xfrm>
            <a:off x="502920" y="32918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Sentence 3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18A9E75-A48E-57BB-E0F5-122453A5DFF0}"/>
              </a:ext>
            </a:extLst>
          </p:cNvPr>
          <p:cNvSpPr txBox="1"/>
          <p:nvPr/>
        </p:nvSpPr>
        <p:spPr>
          <a:xfrm>
            <a:off x="2651760" y="32918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1E1B4B"/>
                </a:solidFill>
              </a:rPr>
              <a:t>My lesson is </a:t>
            </a:r>
            <a:r>
              <a:rPr lang="en-US" dirty="0"/>
              <a:t>to </a:t>
            </a:r>
            <a:r>
              <a:rPr lang="en-US" b="1" dirty="0"/>
              <a:t>think carefully before making a choice because our choices can have consequences.</a:t>
            </a:r>
            <a:r>
              <a:rPr lang="en-US" sz="1800" b="1" dirty="0">
                <a:solidFill>
                  <a:srgbClr val="1E1B4B"/>
                </a:solidFill>
              </a:rPr>
              <a:t> </a:t>
            </a:r>
            <a:endParaRPr lang="en-US" sz="1800" b="1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8AF54C7-14CE-7078-426B-499A46C07C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81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7D2FE"/>
                </a:solidFill>
              </a:rPr>
              <a:t>Why must the lesson match what happens in the story?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457200"/>
            <a:ext cx="1143000" cy="11430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69723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6517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2" y="2824582"/>
            <a:ext cx="477317" cy="47731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Character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2103120" y="265176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942" y="2824582"/>
            <a:ext cx="477317" cy="47731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288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Trait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4" name="Shape 9"/>
          <p:cNvSpPr/>
          <p:nvPr/>
        </p:nvSpPr>
        <p:spPr>
          <a:xfrm>
            <a:off x="3474720" y="2651760"/>
            <a:ext cx="822960" cy="8229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542" y="2824582"/>
            <a:ext cx="477317" cy="47731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004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Shape 12"/>
          <p:cNvSpPr/>
          <p:nvPr/>
        </p:nvSpPr>
        <p:spPr>
          <a:xfrm>
            <a:off x="4846320" y="2651760"/>
            <a:ext cx="822960" cy="8229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142" y="2824582"/>
            <a:ext cx="477317" cy="47731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5720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Choice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66928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Shape 15"/>
          <p:cNvSpPr/>
          <p:nvPr/>
        </p:nvSpPr>
        <p:spPr>
          <a:xfrm>
            <a:off x="6217920" y="265176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742" y="2824582"/>
            <a:ext cx="477317" cy="47731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436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Consequence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704088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›</a:t>
            </a:r>
            <a:endParaRPr lang="en-US" sz="2600" dirty="0"/>
          </a:p>
        </p:txBody>
      </p:sp>
      <p:sp>
        <p:nvSpPr>
          <p:cNvPr id="26" name="Shape 18"/>
          <p:cNvSpPr/>
          <p:nvPr/>
        </p:nvSpPr>
        <p:spPr>
          <a:xfrm>
            <a:off x="7589520" y="265176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342" y="2824582"/>
            <a:ext cx="477317" cy="47731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3152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ble Storybook">
  <a:themeElements>
    <a:clrScheme name="Fable Storybook">
      <a:dk1>
        <a:srgbClr val="1E1B4B"/>
      </a:dk1>
      <a:lt1>
        <a:srgbClr val="FFFFFF"/>
      </a:lt1>
      <a:dk2>
        <a:srgbClr val="1E1B4B"/>
      </a:dk2>
      <a:lt2>
        <a:srgbClr val="EEF2FF"/>
      </a:lt2>
      <a:accent1>
        <a:srgbClr val="0D9488"/>
      </a:accent1>
      <a:accent2>
        <a:srgbClr val="7C3AED"/>
      </a:accent2>
      <a:accent3>
        <a:srgbClr val="EA580C"/>
      </a:accent3>
      <a:accent4>
        <a:srgbClr val="EAB308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Fable Story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2148</Words>
  <Application>Microsoft Office PowerPoint</Application>
  <PresentationFormat>On-screen Show (16:9)</PresentationFormat>
  <Paragraphs>450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Fable Storybook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5 Unit 1: Create &amp; Plan a Fable</dc:title>
  <dc:subject>PptxGenJS Presentation</dc:subject>
  <dc:creator>PptxGenJS</dc:creator>
  <cp:lastModifiedBy>Rozan Zakaria@meis-eg.com</cp:lastModifiedBy>
  <cp:revision>3</cp:revision>
  <dcterms:created xsi:type="dcterms:W3CDTF">2026-10-06T07:20:10Z</dcterms:created>
  <dcterms:modified xsi:type="dcterms:W3CDTF">2026-10-06T08:31:08Z</dcterms:modified>
</cp:coreProperties>
</file>