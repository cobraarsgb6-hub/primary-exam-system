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2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914400"/>
            <a:ext cx="1280160" cy="1280160"/>
          </a:xfrm>
          <a:prstGeom prst="ellipse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61320" y="1508760"/>
            <a:ext cx="685800" cy="1417320"/>
          </a:xfrm>
          <a:prstGeom prst="ellipse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23960" y="1828800"/>
            <a:ext cx="731520" cy="1280160"/>
          </a:xfrm>
          <a:prstGeom prst="ellipse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12680" y="2057400"/>
            <a:ext cx="228600" cy="822960"/>
          </a:xfrm>
          <a:prstGeom prst="ellipse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795527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🐘 THE ELEPHANT</a:t>
            </a:r>
            <a:br/>
            <a:r>
              <a:rPr sz="3400" b="1">
                <a:solidFill>
                  <a:srgbClr val="FFFFFF"/>
                </a:solidFill>
                <a:latin typeface="Aptos"/>
              </a:rPr>
              <a:t>FABLE DETECTIVES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1306"/>
            <a:ext cx="71323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E0AD49"/>
                </a:solidFill>
                <a:latin typeface="Aptos"/>
              </a:rPr>
              <a:t>Year 5 • Unit 1 • Second-session transfer lesson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83280"/>
            <a:ext cx="3246120" cy="12344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383280"/>
            <a:ext cx="73152" cy="123444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52044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6"/>
                </a:solidFill>
                <a:latin typeface="Aptos"/>
              </a:rPr>
              <a:t>FIND THE CLUES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841869"/>
            <a:ext cx="2862072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1E1E"/>
                </a:solidFill>
                <a:latin typeface="Aptos"/>
              </a:rPr>
              <a:t>Trait • evidence • consequence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383280"/>
            <a:ext cx="3246120" cy="12344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0520" y="3383280"/>
            <a:ext cx="73152" cy="123444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688" y="352044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6"/>
                </a:solidFill>
                <a:latin typeface="Aptos"/>
              </a:rPr>
              <a:t>FOLLOW THE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3913632"/>
            <a:ext cx="286207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1E1E"/>
                </a:solidFill>
                <a:latin typeface="Aptos"/>
              </a:rPr>
              <a:t>Action → result → change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83280"/>
            <a:ext cx="3246120" cy="12344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3383280"/>
            <a:ext cx="73152" cy="123444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36408" y="352044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6"/>
                </a:solidFill>
                <a:latin typeface="Aptos"/>
              </a:rPr>
              <a:t>COMPARE THE FABLES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3913632"/>
            <a:ext cx="32461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1E1E"/>
                </a:solidFill>
                <a:latin typeface="Aptos"/>
              </a:rPr>
              <a:t>Same skill • different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0AD49"/>
                </a:solidFill>
                <a:latin typeface="Aptos"/>
              </a:rPr>
              <a:t>TODAY'S BIG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13248"/>
            <a:ext cx="9692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What can we learn from the Elephant's choices — and how is this similar to Ant &amp; Grasshopper?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AD49"/>
                </a:solidFill>
                <a:latin typeface="Aptos"/>
              </a:rPr>
              <a:t>STARTER • 0–7 MIN • THINK → PAIR →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Fable or Not?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3474720" cy="320040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73152" cy="32004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6916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84832"/>
            <a:ext cx="3090672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A fox tricks another animal.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At the end, we learn a lesson about being honest.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474720" cy="320040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73152" cy="320040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6916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084832"/>
            <a:ext cx="3090672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A boy describes what he did at school yesterday.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There is no lesson.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54480"/>
            <a:ext cx="3474720" cy="320040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554480"/>
            <a:ext cx="73152" cy="3200400"/>
          </a:xfrm>
          <a:prstGeom prst="rect">
            <a:avLst/>
          </a:prstGeom>
          <a:solidFill>
            <a:srgbClr val="C4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6916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84832"/>
            <a:ext cx="3090672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Two friends discuss their </a:t>
            </a:r>
            <a:r>
              <a:rPr sz="2400" b="0" dirty="0" err="1">
                <a:solidFill>
                  <a:srgbClr val="1E1E1E"/>
                </a:solidFill>
                <a:latin typeface="Aptos"/>
              </a:rPr>
              <a:t>favourite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 game.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Nothing changes and there is no lesson.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AD49"/>
                </a:solidFill>
                <a:latin typeface="Aptos"/>
              </a:rPr>
              <a:t>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10912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2B36"/>
                </a:solidFill>
                <a:latin typeface="Aptos"/>
              </a:rPr>
              <a:t>Which one is most like a fable — A, B or C? Why?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77073"/>
                </a:solidFill>
                <a:latin typeface="Aptos"/>
              </a:rPr>
              <a:t>STARTER • ONE QUESTION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REVEAL AFTER STUDENTS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Starter •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33832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73152" cy="338328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60020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B36"/>
                </a:solidFill>
                <a:latin typeface="Aptos"/>
              </a:rPr>
              <a:t>✅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93392"/>
            <a:ext cx="10314432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E1E1E"/>
                </a:solidFill>
                <a:latin typeface="Aptos"/>
              </a:rPr>
              <a:t>A is most like a fable.</a:t>
            </a:r>
            <a:br/>
            <a:br/>
            <a:r>
              <a:rPr sz="2200" b="0">
                <a:solidFill>
                  <a:srgbClr val="1E1E1E"/>
                </a:solidFill>
                <a:latin typeface="Aptos"/>
              </a:rPr>
              <a:t>Why? It has an animal character, a problem/action, a result and a lesson. B and C do not clearly teach a moral.</a:t>
            </a:r>
            <a:br/>
            <a:br/>
            <a:r>
              <a:rPr sz="2200" b="0">
                <a:solidFill>
                  <a:srgbClr val="1E1E1E"/>
                </a:solidFill>
                <a:latin typeface="Aptos"/>
              </a:rPr>
              <a:t>Use the text to prove your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663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AD49"/>
                </a:solidFill>
                <a:latin typeface="Aptos"/>
              </a:rPr>
              <a:t>KEY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074920"/>
            <a:ext cx="9326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B36"/>
                </a:solidFill>
                <a:latin typeface="Aptos"/>
              </a:rPr>
              <a:t>A fable is not just an animal story — the events lead us toward a lesson or moral.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AD49"/>
                </a:solidFill>
                <a:latin typeface="Aptos"/>
              </a:rPr>
              <a:t>7–10 MIN • TRANSFER THE SKILLS YOU ALREADY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Today's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846320" cy="41605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416052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55448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YOU ALREADY 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47672"/>
            <a:ext cx="4462272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1E1E"/>
                </a:solidFill>
                <a:latin typeface="Aptos"/>
              </a:rPr>
              <a:t>✓ Fable features</a:t>
            </a:r>
            <a:br/>
            <a:r>
              <a:rPr sz="2000" b="0">
                <a:solidFill>
                  <a:srgbClr val="1E1E1E"/>
                </a:solidFill>
                <a:latin typeface="Aptos"/>
              </a:rPr>
              <a:t>✓ Vocabulary</a:t>
            </a:r>
            <a:br/>
            <a:r>
              <a:rPr sz="2000" b="0">
                <a:solidFill>
                  <a:srgbClr val="1E1E1E"/>
                </a:solidFill>
                <a:latin typeface="Aptos"/>
              </a:rPr>
              <a:t>✓ Trait + evidence</a:t>
            </a:r>
            <a:br/>
            <a:r>
              <a:rPr sz="2000" b="0">
                <a:solidFill>
                  <a:srgbClr val="1E1E1E"/>
                </a:solidFill>
                <a:latin typeface="Aptos"/>
              </a:rPr>
              <a:t>✓ Consequence</a:t>
            </a:r>
            <a:br/>
            <a:r>
              <a:rPr sz="2000" b="0">
                <a:solidFill>
                  <a:srgbClr val="1E1E1E"/>
                </a:solidFill>
                <a:latin typeface="Aptos"/>
              </a:rPr>
              <a:t>✓ Moral</a:t>
            </a:r>
            <a:br/>
            <a:r>
              <a:rPr sz="2000" b="0">
                <a:solidFill>
                  <a:srgbClr val="1E1E1E"/>
                </a:solidFill>
                <a:latin typeface="Aptos"/>
              </a:rPr>
              <a:t>✓ Writing about them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5760720" cy="41605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73152" cy="416052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61888" y="15544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1947672"/>
            <a:ext cx="5376672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ptos"/>
              </a:rPr>
              <a:t>🐘 Read a new fable</a:t>
            </a:r>
            <a:br/>
            <a:br/>
            <a:r>
              <a:rPr sz="1800" b="0">
                <a:solidFill>
                  <a:srgbClr val="1E1E1E"/>
                </a:solidFill>
                <a:latin typeface="Aptos"/>
              </a:rPr>
              <a:t>↓</a:t>
            </a:r>
            <a:br/>
            <a:br/>
            <a:r>
              <a:rPr sz="1800" b="0">
                <a:solidFill>
                  <a:srgbClr val="1E1E1E"/>
                </a:solidFill>
                <a:latin typeface="Aptos"/>
              </a:rPr>
              <a:t>Follow the Elephant's choices</a:t>
            </a:r>
            <a:br/>
            <a:br/>
            <a:r>
              <a:rPr sz="1800" b="0">
                <a:solidFill>
                  <a:srgbClr val="1E1E1E"/>
                </a:solidFill>
                <a:latin typeface="Aptos"/>
              </a:rPr>
              <a:t>↓</a:t>
            </a:r>
            <a:br/>
            <a:br/>
            <a:r>
              <a:rPr sz="1800" b="0">
                <a:solidFill>
                  <a:srgbClr val="1E1E1E"/>
                </a:solidFill>
                <a:latin typeface="Aptos"/>
              </a:rPr>
              <a:t>Explain the lesson</a:t>
            </a:r>
            <a:br/>
            <a:br/>
            <a:r>
              <a:rPr sz="1800" b="0">
                <a:solidFill>
                  <a:srgbClr val="1E1E1E"/>
                </a:solidFill>
                <a:latin typeface="Aptos"/>
              </a:rPr>
              <a:t>↓</a:t>
            </a:r>
            <a:br/>
            <a:br/>
            <a:r>
              <a:rPr sz="1800" b="0">
                <a:solidFill>
                  <a:srgbClr val="1E1E1E"/>
                </a:solidFill>
                <a:latin typeface="Aptos"/>
              </a:rPr>
              <a:t>Compare it with Ant &amp; Grasshopper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760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AD49"/>
                </a:solidFill>
                <a:latin typeface="Aptos"/>
              </a:rPr>
              <a:t>SUCCESS CRITERION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650992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I can use details from the Elephant fable and compare its message with another fable.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53809A"/>
                </a:solidFill>
                <a:latin typeface="Aptos"/>
              </a:rPr>
              <a:t>10–18 MIN • TEACHER READ-ALOUD + STUDENTS TRACK THE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Read the Elephant Fable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216" y="10927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rgbClr val="1C2B36"/>
                </a:solidFill>
                <a:latin typeface="Aptos"/>
              </a:rPr>
              <a:t>THE ELEPHANT AND THE TEASING 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4188"/>
            <a:ext cx="10835640" cy="4439411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5687" y="1584542"/>
            <a:ext cx="12045696" cy="47705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1E1E"/>
                </a:solidFill>
                <a:latin typeface="Aptos"/>
              </a:rPr>
              <a:t>An elephant lived near a busy forest path. He was strong, but he was also calm and patient.</a:t>
            </a:r>
            <a:br>
              <a:rPr sz="1600" dirty="0"/>
            </a:br>
            <a:br>
              <a:rPr sz="1600" dirty="0"/>
            </a:br>
            <a:r>
              <a:rPr sz="1600" b="0" dirty="0">
                <a:solidFill>
                  <a:srgbClr val="1E1E1E"/>
                </a:solidFill>
                <a:latin typeface="Aptos"/>
              </a:rPr>
              <a:t>One morning, a small ant began teasing him. “You are so slow!” she laughed. The elephant took a slow breath and continued walking.</a:t>
            </a:r>
            <a:br>
              <a:rPr sz="1600" dirty="0"/>
            </a:br>
            <a:br>
              <a:rPr sz="1600" dirty="0"/>
            </a:br>
            <a:r>
              <a:rPr sz="1600" b="0" dirty="0">
                <a:solidFill>
                  <a:srgbClr val="1E1E1E"/>
                </a:solidFill>
                <a:latin typeface="Aptos"/>
              </a:rPr>
              <a:t>The ant followed him. “You are still slow!” she called again.</a:t>
            </a:r>
            <a:br>
              <a:rPr sz="1600" dirty="0"/>
            </a:br>
            <a:br>
              <a:rPr sz="1600" dirty="0"/>
            </a:br>
            <a:r>
              <a:rPr sz="1600" b="0" dirty="0">
                <a:solidFill>
                  <a:srgbClr val="1E1E1E"/>
                </a:solidFill>
                <a:latin typeface="Aptos"/>
              </a:rPr>
              <a:t>The elephant stopped. “I have been patient,” he said calmly, “but your teasing is not kind.”</a:t>
            </a:r>
            <a:br>
              <a:rPr sz="1600" dirty="0"/>
            </a:br>
            <a:br>
              <a:rPr sz="1600" dirty="0"/>
            </a:br>
            <a:r>
              <a:rPr sz="1600" b="0" dirty="0">
                <a:solidFill>
                  <a:srgbClr val="1E1E1E"/>
                </a:solidFill>
                <a:latin typeface="Aptos"/>
              </a:rPr>
              <a:t>The ant looked at him. She had not expected such a calm answer.</a:t>
            </a:r>
            <a:br>
              <a:rPr sz="1600" dirty="0"/>
            </a:br>
            <a:br>
              <a:rPr sz="1600" dirty="0"/>
            </a:br>
            <a:r>
              <a:rPr sz="1600" b="0" dirty="0">
                <a:solidFill>
                  <a:srgbClr val="1E1E1E"/>
                </a:solidFill>
                <a:latin typeface="Aptos"/>
              </a:rPr>
              <a:t>“I was only joking,” she said.</a:t>
            </a:r>
            <a:br>
              <a:rPr sz="1600" dirty="0"/>
            </a:br>
            <a:br>
              <a:rPr sz="1600" dirty="0"/>
            </a:br>
            <a:r>
              <a:rPr sz="1600" b="0" dirty="0">
                <a:solidFill>
                  <a:srgbClr val="1E1E1E"/>
                </a:solidFill>
                <a:latin typeface="Aptos"/>
              </a:rPr>
              <a:t>“Jokes should not hurt someone,” replied the elephant.</a:t>
            </a:r>
            <a:br>
              <a:rPr sz="1600" dirty="0"/>
            </a:br>
            <a:br>
              <a:rPr sz="1600" dirty="0"/>
            </a:br>
            <a:r>
              <a:rPr sz="1600" b="0" dirty="0">
                <a:solidFill>
                  <a:srgbClr val="1E1E1E"/>
                </a:solidFill>
                <a:latin typeface="Aptos"/>
              </a:rPr>
              <a:t>The ant thought about his words. She </a:t>
            </a:r>
            <a:r>
              <a:rPr sz="1600" b="0" dirty="0" err="1">
                <a:solidFill>
                  <a:srgbClr val="1E1E1E"/>
                </a:solidFill>
                <a:latin typeface="Aptos"/>
              </a:rPr>
              <a:t>realised</a:t>
            </a:r>
            <a:r>
              <a:rPr sz="1600" b="0" dirty="0">
                <a:solidFill>
                  <a:srgbClr val="1E1E1E"/>
                </a:solidFill>
                <a:latin typeface="Aptos"/>
              </a:rPr>
              <a:t> that she had continued teasing even after seeing that it was upsetting him.</a:t>
            </a:r>
            <a:br>
              <a:rPr sz="1600" dirty="0"/>
            </a:br>
            <a:br>
              <a:rPr sz="1600" dirty="0"/>
            </a:br>
            <a:r>
              <a:rPr sz="1600" b="0" dirty="0">
                <a:solidFill>
                  <a:srgbClr val="1E1E1E"/>
                </a:solidFill>
                <a:latin typeface="Aptos"/>
              </a:rPr>
              <a:t>“I am sorry,” she said. “I will be more careful with my words.”</a:t>
            </a:r>
            <a:br>
              <a:rPr sz="1600" dirty="0"/>
            </a:br>
            <a:br>
              <a:rPr sz="1600" dirty="0"/>
            </a:br>
            <a:r>
              <a:rPr sz="1600" b="0" dirty="0">
                <a:solidFill>
                  <a:srgbClr val="1E1E1E"/>
                </a:solidFill>
                <a:latin typeface="Aptos"/>
              </a:rPr>
              <a:t>The elephant smiled and continued along the path. The ant walked quietly beside him.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AD49"/>
                </a:solidFill>
                <a:latin typeface="Aptos"/>
              </a:rPr>
              <a:t>18–22 MIN • CHOOSE THE BEST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Quick Check: What Changed?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2B36"/>
                </a:solidFill>
                <a:latin typeface="Aptos"/>
              </a:rPr>
              <a:t>What changed by the end of the fable?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10515600" cy="7772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057400"/>
            <a:ext cx="73152" cy="777240"/>
          </a:xfrm>
          <a:prstGeom prst="rect">
            <a:avLst/>
          </a:prstGeom>
          <a:solidFill>
            <a:srgbClr val="C4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219456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36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60210"/>
            <a:ext cx="1013155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1E1E"/>
                </a:solidFill>
                <a:latin typeface="Aptos"/>
              </a:rPr>
              <a:t>The elephant became angry.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63240"/>
            <a:ext cx="10515600" cy="10058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063240"/>
            <a:ext cx="73152" cy="100584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320040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36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146089"/>
            <a:ext cx="1013155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The ant understood that her words could hurt others and changed her </a:t>
            </a:r>
            <a:r>
              <a:rPr sz="2400" b="0" dirty="0" err="1">
                <a:solidFill>
                  <a:srgbClr val="1E1E1E"/>
                </a:solidFill>
                <a:latin typeface="Aptos"/>
              </a:rPr>
              <a:t>behaviour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97680"/>
            <a:ext cx="10515600" cy="7772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297680"/>
            <a:ext cx="73152" cy="77724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443484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36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3208" y="4377479"/>
            <a:ext cx="1013155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The elephant left the forest.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AD49"/>
                </a:solidFill>
                <a:latin typeface="Aptos"/>
              </a:rPr>
              <a:t>PROVE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367528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Find the sentence in the fable that proves your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REVEAL AFTER STUDENTS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Quick Check •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356616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73152" cy="356616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60020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B36"/>
                </a:solidFill>
                <a:latin typeface="Aptos"/>
              </a:rPr>
              <a:t>✅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93392"/>
            <a:ext cx="10314432" cy="29854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E1E1E"/>
                </a:solidFill>
                <a:latin typeface="Aptos"/>
              </a:rPr>
              <a:t>The ant understands that her words can hurt others and changes her </a:t>
            </a:r>
            <a:r>
              <a:rPr sz="2800" b="0" dirty="0" err="1">
                <a:solidFill>
                  <a:srgbClr val="1E1E1E"/>
                </a:solidFill>
                <a:latin typeface="Aptos"/>
              </a:rPr>
              <a:t>behaviour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.</a:t>
            </a:r>
            <a:br>
              <a:rPr sz="2400" dirty="0"/>
            </a:br>
            <a:br>
              <a:rPr sz="24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At the end she </a:t>
            </a:r>
            <a:r>
              <a:rPr sz="2800" b="0" dirty="0" err="1">
                <a:solidFill>
                  <a:srgbClr val="1E1E1E"/>
                </a:solidFill>
                <a:latin typeface="Aptos"/>
              </a:rPr>
              <a:t>apologises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 and says she will be more careful with her words. That is a clear change.</a:t>
            </a:r>
            <a:br>
              <a:rPr sz="2400" dirty="0"/>
            </a:br>
            <a:br>
              <a:rPr sz="24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Use evidence from the fable to prove your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AD49"/>
                </a:solidFill>
                <a:latin typeface="Aptos"/>
              </a:rPr>
              <a:t>22–32 MIN • PAIRS • MATCH +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Activity 1: What Does the Elephant's Action Show?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94960" cy="42062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73152" cy="420624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6"/>
                </a:solidFill>
                <a:latin typeface="Aptos"/>
              </a:rPr>
              <a:t>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47672"/>
            <a:ext cx="5010912" cy="2677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1. He takes a slow breath.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2. He continues walking instead of reacting angrily.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3. He calmly tells the ant that the teasing is not kind.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4. He smiles and continues along the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94960" cy="42062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73152" cy="420624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6"/>
                </a:solidFill>
                <a:latin typeface="Aptos"/>
              </a:rPr>
              <a:t>WHAT DOES IT SHOW?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7" y="2179380"/>
            <a:ext cx="6220663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A. He communicates calmly.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B. He is patient / self-controlled.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C. He does not want a fight.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D. He stays calm after the problem is solved.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AD49"/>
                </a:solidFill>
                <a:latin typeface="Aptos"/>
              </a:rPr>
              <a:t>YOUR 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3640" y="5687568"/>
            <a:ext cx="932688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C2B36"/>
                </a:solidFill>
                <a:latin typeface="Aptos"/>
              </a:rPr>
              <a:t>Match 1–4 to A–D. Then explain one match: </a:t>
            </a:r>
            <a:endParaRPr lang="en-US" sz="2400" b="1" dirty="0">
              <a:solidFill>
                <a:srgbClr val="1C2B36"/>
              </a:solidFill>
              <a:latin typeface="Aptos"/>
            </a:endParaRPr>
          </a:p>
          <a:p>
            <a:pPr algn="l"/>
            <a:r>
              <a:rPr sz="2400" b="1" dirty="0">
                <a:solidFill>
                  <a:srgbClr val="1C2B36"/>
                </a:solidFill>
                <a:latin typeface="Aptos"/>
              </a:rPr>
              <a:t>“This shows ______ because ______.”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REVEAL AFTER STUDENTS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Activity 1 •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840480" cy="411480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41148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54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MATCHES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47672"/>
            <a:ext cx="3456432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1E1E1E"/>
                </a:solidFill>
                <a:latin typeface="Aptos"/>
              </a:rPr>
              <a:t>1 → B</a:t>
            </a:r>
            <a:br/>
            <a:r>
              <a:rPr sz="2600" b="0">
                <a:solidFill>
                  <a:srgbClr val="1E1E1E"/>
                </a:solidFill>
                <a:latin typeface="Aptos"/>
              </a:rPr>
              <a:t>2 → C</a:t>
            </a:r>
            <a:br/>
            <a:r>
              <a:rPr sz="2600" b="0">
                <a:solidFill>
                  <a:srgbClr val="1E1E1E"/>
                </a:solidFill>
                <a:latin typeface="Aptos"/>
              </a:rPr>
              <a:t>3 → A</a:t>
            </a:r>
            <a:br/>
            <a:r>
              <a:rPr sz="2600" b="0">
                <a:solidFill>
                  <a:srgbClr val="1E1E1E"/>
                </a:solidFill>
                <a:latin typeface="Aptos"/>
              </a:rPr>
              <a:t>4 → 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19" y="1417320"/>
            <a:ext cx="7345375" cy="411480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46320" y="1417320"/>
            <a:ext cx="73152" cy="411480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47488" y="155448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WHY?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947672"/>
            <a:ext cx="6839712" cy="26161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E1E1E"/>
                </a:solidFill>
                <a:latin typeface="Aptos"/>
              </a:rPr>
              <a:t>The elephant's actions give evidence for the ideas. “Patient” is not just a label — the slow breath and calm response prove it.</a:t>
            </a:r>
            <a:br>
              <a:rPr sz="2400" dirty="0"/>
            </a:br>
            <a:br>
              <a:rPr sz="24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Use evidence from the fable to prove your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AD49"/>
                </a:solidFill>
                <a:latin typeface="Aptos"/>
              </a:rPr>
              <a:t>32–40 MIN • GROUPS • PUT THE CHAIN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Activity 2: Follow the Consequence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438912" cy="438912"/>
          </a:xfrm>
          <a:prstGeom prst="ellipse">
            <a:avLst/>
          </a:prstGeom>
          <a:solidFill>
            <a:srgbClr val="C4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B36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1965960" cy="137160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423160"/>
            <a:ext cx="73152" cy="1371600"/>
          </a:xfrm>
          <a:prstGeom prst="rect">
            <a:avLst/>
          </a:prstGeom>
          <a:solidFill>
            <a:srgbClr val="C4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56032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B36"/>
                </a:solidFill>
                <a:latin typeface="Aptos"/>
              </a:rPr>
              <a:t>EVENT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953512"/>
            <a:ext cx="158191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Ant teases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7432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77073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2907791" y="1828800"/>
            <a:ext cx="438912" cy="438912"/>
          </a:xfrm>
          <a:prstGeom prst="ellipse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07791" y="1847088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B36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2071" y="2423160"/>
            <a:ext cx="1965960" cy="181719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62071" y="2423160"/>
            <a:ext cx="73152" cy="13716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63239" y="256032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B36"/>
                </a:solidFill>
                <a:latin typeface="Aptos"/>
              </a:rPr>
              <a:t>EVENT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38" y="2953512"/>
            <a:ext cx="2066543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Elephant stays calm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1" y="27432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77073"/>
                </a:solidFill>
                <a:latin typeface="Aptos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5175504" y="1828800"/>
            <a:ext cx="438912" cy="438912"/>
          </a:xfrm>
          <a:prstGeom prst="ellipse">
            <a:avLst/>
          </a:prstGeom>
          <a:solidFill>
            <a:srgbClr val="C4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75504" y="1847088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B36"/>
                </a:solidFill>
                <a:latin typeface="Aptos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9784" y="2423160"/>
            <a:ext cx="1965960" cy="181719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29784" y="2423160"/>
            <a:ext cx="73152" cy="1371600"/>
          </a:xfrm>
          <a:prstGeom prst="rect">
            <a:avLst/>
          </a:prstGeom>
          <a:solidFill>
            <a:srgbClr val="C4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30952" y="256032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B36"/>
                </a:solidFill>
                <a:latin typeface="Aptos"/>
              </a:rPr>
              <a:t>EVENT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2953512"/>
            <a:ext cx="158191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Teasing continues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27432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77073"/>
                </a:solidFill>
                <a:latin typeface="Aptos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7443215" y="1828800"/>
            <a:ext cx="438912" cy="438912"/>
          </a:xfrm>
          <a:prstGeom prst="ellipse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43215" y="1847088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B36"/>
                </a:solidFill>
                <a:latin typeface="Aptos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97495" y="2423159"/>
            <a:ext cx="1965960" cy="1817191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97495" y="2423160"/>
            <a:ext cx="73152" cy="137160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98663" y="256032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B36"/>
                </a:solidFill>
                <a:latin typeface="Aptos"/>
              </a:rPr>
              <a:t>EVENT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98663" y="2953512"/>
            <a:ext cx="163677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Elephant speaks calmly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3455" y="27432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77073"/>
                </a:solidFill>
                <a:latin typeface="Aptos"/>
              </a:rPr>
              <a:t>→</a:t>
            </a:r>
          </a:p>
        </p:txBody>
      </p:sp>
      <p:sp>
        <p:nvSpPr>
          <p:cNvPr id="36" name="Oval 35"/>
          <p:cNvSpPr/>
          <p:nvPr/>
        </p:nvSpPr>
        <p:spPr>
          <a:xfrm>
            <a:off x="9710928" y="1828800"/>
            <a:ext cx="438912" cy="438912"/>
          </a:xfrm>
          <a:prstGeom prst="ellipse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10928" y="1847088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B36"/>
                </a:solidFill>
                <a:latin typeface="Aptos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65208" y="2423160"/>
            <a:ext cx="2267711" cy="137160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665208" y="2423160"/>
            <a:ext cx="73152" cy="13716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66376" y="256032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B36"/>
                </a:solidFill>
                <a:latin typeface="Aptos"/>
              </a:rPr>
              <a:t>EVENT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66376" y="2953512"/>
            <a:ext cx="201167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Ant reflects + </a:t>
            </a:r>
            <a:r>
              <a:rPr sz="2400" b="0" dirty="0" err="1">
                <a:solidFill>
                  <a:srgbClr val="1E1E1E"/>
                </a:solidFill>
                <a:latin typeface="Aptos"/>
              </a:rPr>
              <a:t>apologises</a:t>
            </a:r>
            <a:endParaRPr sz="2400" b="0" dirty="0">
              <a:solidFill>
                <a:srgbClr val="1E1E1E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31520" y="470916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AD49"/>
                </a:solidFill>
                <a:latin typeface="Aptos"/>
              </a:rPr>
              <a:t>QUESTION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459943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2B36"/>
                </a:solidFill>
                <a:latin typeface="Aptos"/>
              </a:rPr>
              <a:t>Which event causes the ant to change?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577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77073"/>
                </a:solidFill>
                <a:latin typeface="Aptos"/>
              </a:rPr>
              <a:t>ACTIVITY 2 • CAUSE → CONSEQUENCE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REVEAL AFTER STUDENTS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Activity 2 •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698480" cy="3749039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3749039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5448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B36"/>
                </a:solidFill>
                <a:latin typeface="Aptos"/>
              </a:rPr>
              <a:t>CAUSE → CONSEQUENCE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47672"/>
            <a:ext cx="10314432" cy="29854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E1E1E"/>
                </a:solidFill>
                <a:latin typeface="Aptos"/>
              </a:rPr>
              <a:t>The Elephant's calm but clear response causes the ant to think about her </a:t>
            </a:r>
            <a:r>
              <a:rPr sz="2800" b="0" dirty="0" err="1">
                <a:solidFill>
                  <a:srgbClr val="1E1E1E"/>
                </a:solidFill>
                <a:latin typeface="Aptos"/>
              </a:rPr>
              <a:t>behaviour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 and </a:t>
            </a:r>
            <a:r>
              <a:rPr sz="2800" b="0" dirty="0" err="1">
                <a:solidFill>
                  <a:srgbClr val="1E1E1E"/>
                </a:solidFill>
                <a:latin typeface="Aptos"/>
              </a:rPr>
              <a:t>apologise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.</a:t>
            </a:r>
            <a:br>
              <a:rPr sz="2400" dirty="0"/>
            </a:br>
            <a:br>
              <a:rPr sz="24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WHY? He does not insult her or shout. His words make her </a:t>
            </a:r>
            <a:r>
              <a:rPr sz="2800" b="0" dirty="0" err="1">
                <a:solidFill>
                  <a:srgbClr val="1E1E1E"/>
                </a:solidFill>
                <a:latin typeface="Aptos"/>
              </a:rPr>
              <a:t>realise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 that her teasing is hurting someone.</a:t>
            </a:r>
            <a:br>
              <a:rPr sz="2400" dirty="0"/>
            </a:br>
            <a:br>
              <a:rPr sz="24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Use evidence from the fable to prove your answer.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809A"/>
                </a:solidFill>
                <a:latin typeface="Aptos"/>
              </a:rPr>
              <a:t>USE THE SAME DETECTIVE ROUTINE ON TWO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Transfer Lab • Compare Two Fables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49240" cy="43891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73152" cy="438912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6304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6"/>
                </a:solidFill>
                <a:latin typeface="Aptos"/>
              </a:rPr>
              <a:t>🐜 ANT &amp; GRASSHOPPER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56232"/>
            <a:ext cx="4965192" cy="3730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1E1E"/>
                </a:solidFill>
                <a:latin typeface="Aptos"/>
              </a:rPr>
              <a:t>Choice: __________________</a:t>
            </a:r>
            <a:br/>
            <a:br/>
            <a:r>
              <a:rPr sz="1900" b="0">
                <a:solidFill>
                  <a:srgbClr val="1E1E1E"/>
                </a:solidFill>
                <a:latin typeface="Aptos"/>
              </a:rPr>
              <a:t>Consequence: __________________</a:t>
            </a:r>
            <a:br/>
            <a:br/>
            <a:r>
              <a:rPr sz="1900" b="0">
                <a:solidFill>
                  <a:srgbClr val="1E1E1E"/>
                </a:solidFill>
                <a:latin typeface="Aptos"/>
              </a:rPr>
              <a:t>Lesson: __________________</a:t>
            </a:r>
            <a:br/>
            <a:br/>
            <a:r>
              <a:rPr sz="1900" b="0">
                <a:solidFill>
                  <a:srgbClr val="1E1E1E"/>
                </a:solidFill>
                <a:latin typeface="Aptos"/>
              </a:rPr>
              <a:t>Evidence: __________________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49240" cy="43891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73152" cy="438912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46304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6"/>
                </a:solidFill>
                <a:latin typeface="Aptos"/>
              </a:rPr>
              <a:t>🐘 ELEPHANT FABLE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56232"/>
            <a:ext cx="4965192" cy="3730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1E1E"/>
                </a:solidFill>
                <a:latin typeface="Aptos"/>
              </a:rPr>
              <a:t>Choice: __________________</a:t>
            </a:r>
            <a:br/>
            <a:br/>
            <a:r>
              <a:rPr sz="1900" b="0">
                <a:solidFill>
                  <a:srgbClr val="1E1E1E"/>
                </a:solidFill>
                <a:latin typeface="Aptos"/>
              </a:rPr>
              <a:t>Consequence: __________________</a:t>
            </a:r>
            <a:br/>
            <a:br/>
            <a:r>
              <a:rPr sz="1900" b="0">
                <a:solidFill>
                  <a:srgbClr val="1E1E1E"/>
                </a:solidFill>
                <a:latin typeface="Aptos"/>
              </a:rPr>
              <a:t>Lesson: __________________</a:t>
            </a:r>
            <a:br/>
            <a:br/>
            <a:r>
              <a:rPr sz="1900" b="0">
                <a:solidFill>
                  <a:srgbClr val="1E1E1E"/>
                </a:solidFill>
                <a:latin typeface="Aptos"/>
              </a:rPr>
              <a:t>Evidence: 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AD49"/>
                </a:solidFill>
                <a:latin typeface="Aptos"/>
              </a:rPr>
              <a:t>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696712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Find one similarity + one difference. Explain WHY.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809A"/>
                </a:solidFill>
                <a:latin typeface="Aptos"/>
              </a:rPr>
              <a:t>40–53 MIN • PAIRS • COMPARE ANT &amp; GRASSHOPPER + ELEPHANT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Activity 3: Transfer Lab — Two Fables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49240" cy="44348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73152" cy="443484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6304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6"/>
                </a:solidFill>
                <a:latin typeface="Aptos"/>
              </a:rPr>
              <a:t>🐜 ANT &amp; GRASSHOPPER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56232"/>
            <a:ext cx="4965192" cy="29854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E1E1E"/>
                </a:solidFill>
                <a:latin typeface="Aptos"/>
              </a:rPr>
              <a:t>CHARACTER</a:t>
            </a:r>
            <a:r>
              <a:rPr sz="2000" b="0" dirty="0">
                <a:solidFill>
                  <a:srgbClr val="1E1E1E"/>
                </a:solidFill>
                <a:latin typeface="Aptos"/>
              </a:rPr>
              <a:t> </a:t>
            </a:r>
            <a:r>
              <a:rPr sz="2000" b="1" dirty="0">
                <a:solidFill>
                  <a:srgbClr val="1E1E1E"/>
                </a:solidFill>
                <a:latin typeface="Aptos"/>
              </a:rPr>
              <a:t>CHOICE</a:t>
            </a: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The grasshopper does not prepare for the future.</a:t>
            </a:r>
            <a:br>
              <a:rPr sz="2400" dirty="0"/>
            </a:br>
            <a:br>
              <a:rPr sz="2400" dirty="0"/>
            </a:br>
            <a:r>
              <a:rPr sz="2000" b="1" dirty="0">
                <a:solidFill>
                  <a:srgbClr val="1E1E1E"/>
                </a:solidFill>
                <a:latin typeface="Aptos"/>
              </a:rPr>
              <a:t>CONSEQUENCE</a:t>
            </a: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He has no food when winter comes.</a:t>
            </a:r>
            <a:br>
              <a:rPr sz="2400" dirty="0"/>
            </a:br>
            <a:br>
              <a:rPr sz="2400" dirty="0"/>
            </a:br>
            <a:r>
              <a:rPr sz="2000" b="1" dirty="0">
                <a:solidFill>
                  <a:srgbClr val="1E1E1E"/>
                </a:solidFill>
                <a:latin typeface="Aptos"/>
              </a:rPr>
              <a:t>LESSON</a:t>
            </a: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Preparation matters.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49240" cy="44348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73152" cy="443484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46304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6"/>
                </a:solidFill>
                <a:latin typeface="Aptos"/>
              </a:rPr>
              <a:t>🐘 ELEPHANT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56232"/>
            <a:ext cx="4965192" cy="29854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E1E1E"/>
                </a:solidFill>
                <a:latin typeface="Aptos"/>
              </a:rPr>
              <a:t>CHARACTER</a:t>
            </a:r>
            <a:r>
              <a:rPr sz="2000" b="0" dirty="0">
                <a:solidFill>
                  <a:srgbClr val="1E1E1E"/>
                </a:solidFill>
                <a:latin typeface="Aptos"/>
              </a:rPr>
              <a:t> </a:t>
            </a:r>
            <a:r>
              <a:rPr sz="2000" b="1" dirty="0">
                <a:solidFill>
                  <a:srgbClr val="1E1E1E"/>
                </a:solidFill>
                <a:latin typeface="Aptos"/>
              </a:rPr>
              <a:t>CHOICE</a:t>
            </a: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The elephant stays calm and speaks up.</a:t>
            </a:r>
            <a:br>
              <a:rPr sz="2400" dirty="0"/>
            </a:br>
            <a:br>
              <a:rPr sz="2400" dirty="0"/>
            </a:br>
            <a:r>
              <a:rPr sz="2000" b="1" dirty="0">
                <a:solidFill>
                  <a:srgbClr val="1E1E1E"/>
                </a:solidFill>
                <a:latin typeface="Aptos"/>
              </a:rPr>
              <a:t>CONSEQUENCE</a:t>
            </a: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The ant </a:t>
            </a:r>
            <a:r>
              <a:rPr sz="2000" b="0" dirty="0" err="1">
                <a:solidFill>
                  <a:srgbClr val="1E1E1E"/>
                </a:solidFill>
                <a:latin typeface="Aptos"/>
              </a:rPr>
              <a:t>realises</a:t>
            </a:r>
            <a:r>
              <a:rPr sz="2000" b="0" dirty="0">
                <a:solidFill>
                  <a:srgbClr val="1E1E1E"/>
                </a:solidFill>
                <a:latin typeface="Aptos"/>
              </a:rPr>
              <a:t> her teasing hurts and </a:t>
            </a:r>
            <a:r>
              <a:rPr sz="2000" b="0" dirty="0" err="1">
                <a:solidFill>
                  <a:srgbClr val="1E1E1E"/>
                </a:solidFill>
                <a:latin typeface="Aptos"/>
              </a:rPr>
              <a:t>apologises</a:t>
            </a:r>
            <a:r>
              <a:rPr sz="2000" b="0" dirty="0">
                <a:solidFill>
                  <a:srgbClr val="1E1E1E"/>
                </a:solidFill>
                <a:latin typeface="Aptos"/>
              </a:rPr>
              <a:t>.</a:t>
            </a:r>
            <a:br>
              <a:rPr sz="2400" dirty="0"/>
            </a:br>
            <a:br>
              <a:rPr sz="2400" dirty="0"/>
            </a:br>
            <a:r>
              <a:rPr sz="2000" b="1" dirty="0">
                <a:solidFill>
                  <a:srgbClr val="1E1E1E"/>
                </a:solidFill>
                <a:latin typeface="Aptos"/>
              </a:rPr>
              <a:t>LESSON</a:t>
            </a: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Think about how your actions affect others.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7044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AD49"/>
                </a:solidFill>
                <a:latin typeface="Aptos"/>
              </a:rPr>
              <a:t>YOUR 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6003036"/>
            <a:ext cx="9235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B36"/>
                </a:solidFill>
                <a:latin typeface="Aptos"/>
              </a:rPr>
              <a:t>Find: 1 similarity + 1 difference.  “Both fables ______, but ______.” Use one detail from EACH fable.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REVEAL AFTER STUDENTS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Transfer Lab • Possible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525780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73152" cy="429768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0876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SIMILARITY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01952"/>
            <a:ext cx="487375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Both fables show that choices have consequences.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57800" cy="42976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73152" cy="429768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50876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01952"/>
            <a:ext cx="4873752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Ant &amp; Grasshopper is about preparing for the future; the Elephant fable is about how our words and actions affect others.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AD49"/>
                </a:solidFill>
                <a:latin typeface="Aptos"/>
              </a:rPr>
              <a:t>WHY?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650992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36"/>
                </a:solidFill>
                <a:latin typeface="Aptos"/>
              </a:rPr>
              <a:t>Both stories use a character's choice to create a consequence and communicate a lesson. The lessons are different, so the fables are not “the same”.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AD49"/>
                </a:solidFill>
                <a:latin typeface="Aptos"/>
              </a:rPr>
              <a:t>53–60 MIN • PAIR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Activity 4: Which Character Choice Is Wiser?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57800" cy="320040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3200400"/>
          </a:xfrm>
          <a:prstGeom prst="rect">
            <a:avLst/>
          </a:prstGeom>
          <a:solidFill>
            <a:srgbClr val="C4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55448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6"/>
                </a:solidFill>
                <a:latin typeface="Aptos"/>
              </a:rPr>
              <a:t>CHOICE 1 • GRASSHOPPER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47672"/>
            <a:ext cx="4873752" cy="1508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The grasshopper chooses to enjoy the present instead of preparing.</a:t>
            </a:r>
            <a:br>
              <a:rPr sz="2000" dirty="0"/>
            </a:br>
            <a:br>
              <a:rPr sz="20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Was this a wise choice?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57800" cy="320040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73152" cy="32004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55448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6"/>
                </a:solidFill>
                <a:latin typeface="Aptos"/>
              </a:rPr>
              <a:t>CHOICE 2 • ELEPHANT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947672"/>
            <a:ext cx="4873752" cy="18774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The elephant chooses to stay calm and speak clearly when teasing continues.</a:t>
            </a:r>
            <a:br>
              <a:rPr sz="2000" dirty="0"/>
            </a:br>
            <a:br>
              <a:rPr sz="20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Was this a wise choice?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29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AD49"/>
                </a:solidFill>
                <a:latin typeface="Aptos"/>
              </a:rPr>
              <a:t>JUSTIFY, DON'T GUESS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919472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2B36"/>
                </a:solidFill>
                <a:latin typeface="Aptos"/>
              </a:rPr>
              <a:t>Use: “I think ___ because ___.”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REVEAL AFTER STUDENTS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Discussion • Model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1460480" cy="402336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402336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5448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C2B36"/>
                </a:solidFill>
                <a:latin typeface="Aptos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7" y="1947672"/>
            <a:ext cx="11259007" cy="341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E1E1E"/>
                </a:solidFill>
                <a:latin typeface="Aptos"/>
              </a:rPr>
              <a:t>Both choices teach us something, but the Elephant's choice is wiser for solving a conflict because he stays calm and communicates clearly.</a:t>
            </a:r>
            <a:br>
              <a:rPr sz="2400" dirty="0"/>
            </a:br>
            <a:br>
              <a:rPr sz="24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WHY? The Elephant's response leads to reflection and an apology. The Grasshopper's choice leads to a problem later because he did not prepare.</a:t>
            </a:r>
            <a:br>
              <a:rPr sz="2400" dirty="0"/>
            </a:br>
            <a:br>
              <a:rPr sz="24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Use evidence from both fables.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809A"/>
                </a:solidFill>
                <a:latin typeface="Aptos"/>
              </a:rPr>
              <a:t>60–67 MIN • TEACHER MODELS; STUDENTS HELP COMPLETE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Shared Writing: Build the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44200" cy="10972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86868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378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6"/>
                </a:solidFill>
                <a:latin typeface="Aptos"/>
              </a:rPr>
              <a:t>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2"/>
            <a:ext cx="103601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E1E1E"/>
                </a:solidFill>
                <a:latin typeface="Aptos"/>
              </a:rPr>
              <a:t>Both fables show that characters' choices have consequences.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23160"/>
            <a:ext cx="5166360" cy="14173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423160"/>
            <a:ext cx="73152" cy="141732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56032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6"/>
                </a:solidFill>
                <a:latin typeface="Aptos"/>
              </a:rPr>
              <a:t>ELEPHANT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953512"/>
            <a:ext cx="478231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He stays calm and speaks clearly, so the ant reflects and </a:t>
            </a:r>
            <a:r>
              <a:rPr sz="2400" b="0" dirty="0" err="1">
                <a:solidFill>
                  <a:srgbClr val="1E1E1E"/>
                </a:solidFill>
                <a:latin typeface="Aptos"/>
              </a:rPr>
              <a:t>apologises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23160"/>
            <a:ext cx="5166360" cy="14173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2423160"/>
            <a:ext cx="73152" cy="141732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8" y="256032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6"/>
                </a:solidFill>
                <a:latin typeface="Aptos"/>
              </a:rPr>
              <a:t>ANT &amp; GRASSHOPPER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953512"/>
            <a:ext cx="478231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The grasshopper does not prepare, so he has no food later.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799" y="4251960"/>
            <a:ext cx="11304727" cy="114300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4251960"/>
            <a:ext cx="73152" cy="1143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389120"/>
            <a:ext cx="10378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6"/>
                </a:solidFill>
                <a:latin typeface="Aptos"/>
              </a:rPr>
              <a:t>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7" y="4782312"/>
            <a:ext cx="1130472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E1E1E"/>
                </a:solidFill>
                <a:latin typeface="Aptos"/>
              </a:rPr>
              <a:t>Both stories show that choices matter, but they teach different lessons.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77073"/>
                </a:solidFill>
                <a:latin typeface="Aptos"/>
              </a:rPr>
              <a:t>MODEL • COMPARE WITH EVIDENCE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REVEAL AFTER STUDENTS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Shared Model •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698480" cy="50749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73152" cy="438912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46304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6"/>
                </a:solidFill>
                <a:latin typeface="Aptos"/>
              </a:rPr>
              <a:t>MODEL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1783" y="1783080"/>
            <a:ext cx="10314432" cy="44012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E1E1E"/>
                </a:solidFill>
                <a:latin typeface="Aptos"/>
              </a:rPr>
              <a:t>Both fables show that choices have consequences. The Elephant stays calm and speaks clearly, so the ant reflects and </a:t>
            </a:r>
            <a:r>
              <a:rPr sz="2800" b="0" dirty="0" err="1">
                <a:solidFill>
                  <a:srgbClr val="1E1E1E"/>
                </a:solidFill>
                <a:latin typeface="Aptos"/>
              </a:rPr>
              <a:t>apologises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. In Ant &amp; Grasshopper, the grasshopper does not prepare, so he has no food later. Both stories show that choices matter, but they teach different lessons.</a:t>
            </a:r>
            <a:br>
              <a:rPr sz="2800" dirty="0"/>
            </a:b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WHY IT WORKS</a:t>
            </a: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The comparison uses one accurate detail from each fable and then explains the similarity and difference. Students can copy the structure, not the exact wording.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AD49"/>
                </a:solidFill>
                <a:latin typeface="Aptos"/>
              </a:rPr>
              <a:t>69–76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Activity 5 • Independent 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3566160" cy="44348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73152" cy="443484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63040"/>
            <a:ext cx="32004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C2B36"/>
                </a:solidFill>
                <a:latin typeface="Aptos"/>
              </a:rPr>
              <a:t>🟢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56232"/>
            <a:ext cx="3410712" cy="34778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“The elephant is ___ because ___. This shows ___. This causes ___, which teaches us ___.”</a:t>
            </a:r>
            <a:br>
              <a:rPr sz="2800" dirty="0"/>
            </a:br>
            <a:br>
              <a:rPr sz="28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Word bank:</a:t>
            </a:r>
            <a:br>
              <a:rPr sz="28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patient • self-controlled • teasing • </a:t>
            </a:r>
            <a:r>
              <a:rPr sz="2400" b="0" dirty="0" err="1">
                <a:solidFill>
                  <a:srgbClr val="1E1E1E"/>
                </a:solidFill>
                <a:latin typeface="Aptos"/>
              </a:rPr>
              <a:t>apologise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 • consequence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566160" cy="44348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73152" cy="443484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463040"/>
            <a:ext cx="32004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C2B36"/>
                </a:solidFill>
                <a:latin typeface="Aptos"/>
              </a:rPr>
              <a:t>🟡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56232"/>
            <a:ext cx="3182112" cy="3785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Write 3–4 connected sentences.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trait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evidence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explanation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consequence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lesson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Use your own wording.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25880"/>
            <a:ext cx="3566160" cy="443484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73152" cy="443484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7" y="1463040"/>
            <a:ext cx="32004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C2B36"/>
                </a:solidFill>
                <a:latin typeface="Aptos"/>
              </a:rPr>
              <a:t>🔵 EXTENSION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7" y="1856232"/>
            <a:ext cx="3182112" cy="341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Write a developed response AND decide:</a:t>
            </a:r>
            <a:br>
              <a:rPr sz="2400" dirty="0"/>
            </a:br>
            <a:br>
              <a:rPr sz="2400" dirty="0"/>
            </a:br>
            <a:r>
              <a:rPr sz="2400" b="1" dirty="0">
                <a:solidFill>
                  <a:srgbClr val="1E1E1E"/>
                </a:solidFill>
                <a:latin typeface="Aptos"/>
              </a:rPr>
              <a:t>Which is stronger: 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patient or self-controlled?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Use TWO details to justify your judgement.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AD49"/>
                </a:solidFill>
                <a:latin typeface="Aptos"/>
              </a:rPr>
              <a:t>76–78 MIN • STOP → READ →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Edit Like a Fable Writer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212080" cy="43891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73152" cy="438912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463040"/>
            <a:ext cx="48463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C2B36"/>
                </a:solidFill>
                <a:latin typeface="Aptos"/>
              </a:rPr>
              <a:t>CONTENT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856232"/>
            <a:ext cx="4828032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☐ clear trait</a:t>
            </a:r>
            <a:br>
              <a:rPr sz="20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accurate evidence</a:t>
            </a:r>
            <a:br>
              <a:rPr sz="20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explanation</a:t>
            </a:r>
            <a:br>
              <a:rPr sz="20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consequence</a:t>
            </a:r>
            <a:br>
              <a:rPr sz="20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lesson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212080" cy="43891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73152" cy="438912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463040"/>
            <a:ext cx="48463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C2B36"/>
                </a:solidFill>
                <a:latin typeface="Aptos"/>
              </a:rPr>
              <a:t>SENTENCE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56232"/>
            <a:ext cx="4828032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☐ capital</a:t>
            </a:r>
            <a:br>
              <a:rPr sz="20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full stop</a:t>
            </a:r>
            <a:br>
              <a:rPr sz="20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complete sentences</a:t>
            </a:r>
            <a:br>
              <a:rPr sz="20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connected ideas</a:t>
            </a:r>
            <a:br>
              <a:rPr sz="20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☐ explanation matches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AD49"/>
                </a:solidFill>
                <a:latin typeface="Aptos"/>
              </a:rPr>
              <a:t>FINAL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74243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C2B36"/>
                </a:solidFill>
                <a:latin typeface="Aptos"/>
              </a:rPr>
              <a:t>Fix ONE thing before you submit.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LOOK FOR THE STRUCTURE, NOT JUST THE WORDING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Model Answer • Reveal After 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1605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16052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6"/>
                </a:solidFill>
                <a:latin typeface="Aptos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2"/>
            <a:ext cx="10405872" cy="3539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dirty="0">
                <a:solidFill>
                  <a:srgbClr val="1E1E1E"/>
                </a:solidFill>
                <a:latin typeface="Aptos"/>
              </a:rPr>
              <a:t>The elephant is patient and self-controlled because he ignores the ant’s teasing at first and takes a slow breath. However, he eventually speaks up when the teasing continues, which causes the ant to </a:t>
            </a:r>
            <a:r>
              <a:rPr sz="3200" b="0" dirty="0" err="1">
                <a:solidFill>
                  <a:srgbClr val="1E1E1E"/>
                </a:solidFill>
                <a:latin typeface="Aptos"/>
              </a:rPr>
              <a:t>realise</a:t>
            </a:r>
            <a:r>
              <a:rPr sz="3200" b="0" dirty="0">
                <a:solidFill>
                  <a:srgbClr val="1E1E1E"/>
                </a:solidFill>
                <a:latin typeface="Aptos"/>
              </a:rPr>
              <a:t> that her actions have hurt someone. This teaches us that we should think about how our actions affect others and speak calmly when something is wrong.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C2B36"/>
                </a:solidFill>
                <a:latin typeface="Aptos"/>
              </a:rPr>
              <a:t>TRAIT ✓   EVIDENCE ✓   EXPLANATION ✓   CONSEQUENCE ✓   LESSON 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809A"/>
                </a:solidFill>
                <a:latin typeface="Aptos"/>
              </a:rPr>
              <a:t>CHECK YOUR UNDERSTANDING • FABLE DETECTIVE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Main Book Connection 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5262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400997"/>
            <a:ext cx="10405872" cy="45243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You have just investigated The Elephant Who Lost His Patience.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Now let’s connect your learning to the MAIN BOOK.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Think back to the story: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• What problem did the Elephant face?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• What did he do when the problem continued?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• What did the Ant </a:t>
            </a:r>
            <a:r>
              <a:rPr sz="2400" b="0" dirty="0" err="1">
                <a:solidFill>
                  <a:srgbClr val="1E1E1E"/>
                </a:solidFill>
                <a:latin typeface="Aptos"/>
              </a:rPr>
              <a:t>realise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?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• What lesson can we learn?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TURN &amp; TALK — 1 minute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PROBLEM → ACTION → CONSEQUENCE → LESSON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AD49"/>
                </a:solidFill>
                <a:latin typeface="Aptos"/>
              </a:rPr>
              <a:t>CHECK YOUR UNDERSTANDING • FABLE DETECTIVE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5262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2"/>
            <a:ext cx="10405872" cy="3539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E1E1E"/>
                </a:solidFill>
                <a:latin typeface="Aptos"/>
              </a:rPr>
              <a:t>Why did the Elephant finally speak to the Ant?</a:t>
            </a:r>
            <a:br>
              <a:rPr sz="2800" dirty="0"/>
            </a:b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A. He wanted to frighten the Ant.</a:t>
            </a: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B. He wanted to finish his journey quickly.</a:t>
            </a: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C. He </a:t>
            </a:r>
            <a:r>
              <a:rPr sz="2800" b="0" dirty="0" err="1">
                <a:solidFill>
                  <a:srgbClr val="1E1E1E"/>
                </a:solidFill>
                <a:latin typeface="Aptos"/>
              </a:rPr>
              <a:t>realised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 that the teasing had gone too far.</a:t>
            </a: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D. He wanted the Ant to carry the fruit.</a:t>
            </a:r>
            <a:br>
              <a:rPr sz="2800" dirty="0"/>
            </a:br>
            <a:br>
              <a:rPr sz="2800" dirty="0"/>
            </a:br>
            <a:r>
              <a:rPr sz="2800" b="1" dirty="0">
                <a:solidFill>
                  <a:srgbClr val="1E1E1E"/>
                </a:solidFill>
                <a:latin typeface="Aptos"/>
              </a:rPr>
              <a:t>Think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: What happened before he spoke?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CHECK YOUR UNDERSTANDING • FABLE DETECTIVE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6323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C2B36"/>
                </a:solidFill>
                <a:latin typeface="Aptos"/>
              </a:rPr>
              <a:t>Answer + Evidence 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20068"/>
            <a:ext cx="10789920" cy="5456426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061392"/>
            <a:ext cx="10405872" cy="52629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E1E1E"/>
                </a:solidFill>
                <a:latin typeface="Aptos"/>
              </a:rPr>
              <a:t>Correct answer: C</a:t>
            </a:r>
            <a:br>
              <a:rPr sz="2800" dirty="0"/>
            </a:b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He </a:t>
            </a:r>
            <a:r>
              <a:rPr sz="2800" b="0" dirty="0" err="1">
                <a:solidFill>
                  <a:srgbClr val="1E1E1E"/>
                </a:solidFill>
                <a:latin typeface="Aptos"/>
              </a:rPr>
              <a:t>realised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 that the teasing had gone too far.</a:t>
            </a:r>
            <a:br>
              <a:rPr sz="2800" dirty="0"/>
            </a:b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Evidence from the story:</a:t>
            </a: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The Elephant had first stayed calm, but the Ant continued hiding his path markers, copying his voice and making him confused. He then decided to speak up.</a:t>
            </a:r>
            <a:br>
              <a:rPr sz="2800" dirty="0"/>
            </a:br>
            <a:br>
              <a:rPr sz="2800" dirty="0"/>
            </a:br>
            <a:r>
              <a:rPr sz="2800" b="1" dirty="0">
                <a:solidFill>
                  <a:srgbClr val="1E1E1E"/>
                </a:solidFill>
                <a:latin typeface="Aptos"/>
              </a:rPr>
              <a:t>Fable Detective Skill:</a:t>
            </a:r>
            <a:endParaRPr lang="en-US" sz="2800" b="1" dirty="0">
              <a:solidFill>
                <a:srgbClr val="1E1E1E"/>
              </a:solidFill>
              <a:latin typeface="Aptos"/>
            </a:endParaRPr>
          </a:p>
          <a:p>
            <a:pPr algn="l"/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ACTION → CONSEQUENCE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989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27E63"/>
                </a:solidFill>
                <a:latin typeface="Aptos"/>
              </a:rPr>
              <a:t>EVIDENCE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809A"/>
                </a:solidFill>
                <a:latin typeface="Aptos"/>
              </a:rPr>
              <a:t>CHECK YOUR UNDERSTANDING • FABLE DETECTIVE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Find the Evidence 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5262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463040"/>
            <a:ext cx="10405872" cy="44012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E1E1E"/>
                </a:solidFill>
                <a:latin typeface="Aptos"/>
              </a:rPr>
              <a:t>What shows that the Elephant was patient?</a:t>
            </a:r>
            <a:br>
              <a:rPr sz="2800" dirty="0"/>
            </a:b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Find ONE exact detail from the story.</a:t>
            </a:r>
            <a:br>
              <a:rPr sz="2800" dirty="0"/>
            </a:b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A. “The ant began to tease him.”</a:t>
            </a: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B. “He took a slow breath and continued walking.”</a:t>
            </a: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C. “The ant looked down.”</a:t>
            </a: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D. “She </a:t>
            </a:r>
            <a:r>
              <a:rPr sz="2800" b="0" dirty="0" err="1">
                <a:solidFill>
                  <a:srgbClr val="1E1E1E"/>
                </a:solidFill>
                <a:latin typeface="Aptos"/>
              </a:rPr>
              <a:t>apologised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.”</a:t>
            </a:r>
            <a:br>
              <a:rPr sz="2800" dirty="0"/>
            </a:br>
            <a:br>
              <a:rPr sz="2800" dirty="0"/>
            </a:br>
            <a:r>
              <a:rPr sz="2800" b="1" dirty="0">
                <a:solidFill>
                  <a:srgbClr val="1E1E1E"/>
                </a:solidFill>
                <a:latin typeface="Aptos"/>
              </a:rPr>
              <a:t>Challenge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: What does your evidence show about his </a:t>
            </a:r>
            <a:r>
              <a:rPr sz="2800" b="0" dirty="0" err="1">
                <a:solidFill>
                  <a:srgbClr val="1E1E1E"/>
                </a:solidFill>
                <a:latin typeface="Aptos"/>
              </a:rPr>
              <a:t>behaviour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989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3809A"/>
                </a:solidFill>
                <a:latin typeface="Aptos"/>
              </a:rPr>
              <a:t>PROOF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CHECK YOUR UNDERSTANDING • FABLE DETECTIVE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Answer + Explanation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5262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2"/>
            <a:ext cx="10405872" cy="39703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E1E1E"/>
                </a:solidFill>
                <a:latin typeface="Aptos"/>
              </a:rPr>
              <a:t>Possible answer:</a:t>
            </a: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“He took a slow breath and continued walking.”</a:t>
            </a:r>
            <a:br>
              <a:rPr sz="2800" dirty="0"/>
            </a:b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This shows that the Elephant did not become angry immediately. He controlled his reaction and continued walking.</a:t>
            </a:r>
            <a:br>
              <a:rPr sz="2800" dirty="0"/>
            </a:b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Fable Detective Skill:</a:t>
            </a:r>
            <a:endParaRPr lang="en-US" sz="2800" b="0" dirty="0">
              <a:solidFill>
                <a:srgbClr val="1E1E1E"/>
              </a:solidFill>
              <a:latin typeface="Aptos"/>
            </a:endParaRPr>
          </a:p>
          <a:p>
            <a:pPr algn="l"/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EVIDENCE →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989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27E63"/>
                </a:solidFill>
                <a:latin typeface="Aptos"/>
              </a:rPr>
              <a:t>EXPLAIN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AD49"/>
                </a:solidFill>
                <a:latin typeface="Aptos"/>
              </a:rPr>
              <a:t>CHECK YOUR UNDERSTANDING • FABLE DETECTIVE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Action → Consequence 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5262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389888"/>
            <a:ext cx="10405872" cy="45243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Complete the chain: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The Ant kept teasing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The problem became __________.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The Elephant spoke calmly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The Ant </a:t>
            </a:r>
            <a:r>
              <a:rPr sz="2400" b="0" dirty="0" err="1">
                <a:solidFill>
                  <a:srgbClr val="1E1E1E"/>
                </a:solidFill>
                <a:latin typeface="Aptos"/>
              </a:rPr>
              <a:t>realised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 that ____________________.</a:t>
            </a:r>
            <a:br>
              <a:rPr sz="2400" dirty="0"/>
            </a:br>
            <a:br>
              <a:rPr sz="2400" dirty="0"/>
            </a:br>
            <a:r>
              <a:rPr sz="2400" b="1" dirty="0">
                <a:solidFill>
                  <a:srgbClr val="1E1E1E"/>
                </a:solidFill>
                <a:latin typeface="Aptos"/>
              </a:rPr>
              <a:t>Word Bank: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worse | her actions had hurt someone | funny | 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989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0AD49"/>
                </a:solidFill>
                <a:latin typeface="Aptos"/>
              </a:rPr>
              <a:t>CHAIN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CHECK YOUR UNDERSTANDING • FABLE DETECTIVE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5262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581894"/>
            <a:ext cx="10405872" cy="415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The Ant kept teasing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The problem became worse.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The Elephant spoke calmly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The Ant </a:t>
            </a:r>
            <a:r>
              <a:rPr sz="2400" b="0" dirty="0" err="1">
                <a:solidFill>
                  <a:srgbClr val="1E1E1E"/>
                </a:solidFill>
                <a:latin typeface="Aptos"/>
              </a:rPr>
              <a:t>realised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 that her actions had hurt someone.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What does this teach us?</a:t>
            </a:r>
            <a:endParaRPr lang="en-US" sz="2400" b="0" dirty="0">
              <a:solidFill>
                <a:srgbClr val="1E1E1E"/>
              </a:solidFill>
              <a:latin typeface="Aptos"/>
            </a:endParaRPr>
          </a:p>
          <a:p>
            <a:pPr algn="l"/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Our actions can have consequences for other people.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989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27E63"/>
                </a:solidFill>
                <a:latin typeface="Aptos"/>
              </a:rPr>
              <a:t>RESULT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AD49"/>
                </a:solidFill>
                <a:latin typeface="Aptos"/>
              </a:rPr>
              <a:t>CHECK YOUR UNDERSTANDING • FABLE DETECTIVE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What Is the Lesson? 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5262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2"/>
            <a:ext cx="10405872" cy="3785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Which lesson best fits the fable?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A. Small animals are always troublesome.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B. You should never joke with anyone.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C. A joke stops being funny when someone is no longer enjoying it.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D. Staying calm means never speaking up.</a:t>
            </a:r>
            <a:br>
              <a:rPr sz="2400" dirty="0"/>
            </a:br>
            <a:br>
              <a:rPr sz="2400" dirty="0"/>
            </a:br>
            <a:r>
              <a:rPr sz="2400" b="1" dirty="0">
                <a:solidFill>
                  <a:srgbClr val="1E1E1E"/>
                </a:solidFill>
                <a:latin typeface="Aptos"/>
              </a:rPr>
              <a:t>Explain your choice:</a:t>
            </a:r>
            <a:endParaRPr lang="en-US" sz="2400" b="1" dirty="0">
              <a:solidFill>
                <a:srgbClr val="1E1E1E"/>
              </a:solidFill>
              <a:latin typeface="Aptos"/>
            </a:endParaRPr>
          </a:p>
          <a:p>
            <a:pPr algn="l"/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“I chose ___ because __________________.”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989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E0AD49"/>
                </a:solidFill>
                <a:latin typeface="Aptos"/>
              </a:rPr>
              <a:t>MORAL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CHECK YOUR UNDERSTANDING • FABLE DETECTIVE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Correct Answer: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5262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2"/>
            <a:ext cx="10405872" cy="3539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dirty="0">
                <a:solidFill>
                  <a:srgbClr val="1E1E1E"/>
                </a:solidFill>
                <a:latin typeface="Aptos"/>
              </a:rPr>
              <a:t>A joke stops being funny when someone is no longer enjoying it.</a:t>
            </a:r>
            <a:br>
              <a:rPr sz="2800" dirty="0"/>
            </a:br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The Elephant explains that teasing can hurt others. The Ant understands her mistake and changes her </a:t>
            </a:r>
            <a:r>
              <a:rPr sz="2800" b="0" dirty="0" err="1">
                <a:solidFill>
                  <a:srgbClr val="1E1E1E"/>
                </a:solidFill>
                <a:latin typeface="Aptos"/>
              </a:rPr>
              <a:t>behaviour</a:t>
            </a:r>
            <a:r>
              <a:rPr sz="2800" b="0" dirty="0">
                <a:solidFill>
                  <a:srgbClr val="1E1E1E"/>
                </a:solidFill>
                <a:latin typeface="Aptos"/>
              </a:rPr>
              <a:t>.</a:t>
            </a:r>
            <a:br>
              <a:rPr sz="2800" dirty="0"/>
            </a:br>
            <a:br>
              <a:rPr sz="2800" dirty="0"/>
            </a:br>
            <a:r>
              <a:rPr sz="2800" b="1" dirty="0">
                <a:solidFill>
                  <a:srgbClr val="1E1E1E"/>
                </a:solidFill>
                <a:latin typeface="Aptos"/>
              </a:rPr>
              <a:t>Fable Detective Skill:</a:t>
            </a:r>
            <a:endParaRPr lang="en-US" sz="2800" b="1" dirty="0">
              <a:solidFill>
                <a:srgbClr val="1E1E1E"/>
              </a:solidFill>
              <a:latin typeface="Aptos"/>
            </a:endParaRPr>
          </a:p>
          <a:p>
            <a:pPr algn="l"/>
            <a:br>
              <a:rPr sz="2800" dirty="0"/>
            </a:br>
            <a:r>
              <a:rPr sz="2800" b="0" dirty="0">
                <a:solidFill>
                  <a:srgbClr val="1E1E1E"/>
                </a:solidFill>
                <a:latin typeface="Aptos"/>
              </a:rPr>
              <a:t>LESSON ←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989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27E63"/>
                </a:solidFill>
                <a:latin typeface="Aptos"/>
              </a:rPr>
              <a:t>EVIDENCE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809A"/>
                </a:solidFill>
                <a:latin typeface="Aptos"/>
              </a:rPr>
              <a:t>CHECK YOUR UNDERSTANDING • FABLE DETECTIVE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C2B36"/>
                </a:solidFill>
                <a:latin typeface="Aptos"/>
              </a:rPr>
              <a:t>Connect the Skills 🕵️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14400"/>
            <a:ext cx="10789920" cy="57607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6792" y="1086863"/>
            <a:ext cx="11062581" cy="5632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Our Fable Detective Formula</a:t>
            </a:r>
            <a:br>
              <a:rPr sz="2400" dirty="0"/>
            </a:b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CHARACTER TRAIT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EVIDENCE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EXPLANATION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CONSEQUENCE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↓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LESSON / MORAL</a:t>
            </a:r>
            <a:br>
              <a:rPr sz="2400" dirty="0"/>
            </a:br>
            <a:br>
              <a:rPr sz="2400" dirty="0"/>
            </a:br>
            <a:r>
              <a:rPr sz="2400" b="1" dirty="0">
                <a:solidFill>
                  <a:srgbClr val="1E1E1E"/>
                </a:solidFill>
                <a:latin typeface="Aptos"/>
              </a:rPr>
              <a:t>Remember: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Don’t just tell me what happened.</a:t>
            </a:r>
            <a:br>
              <a:rPr sz="24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PROVE IT with evidence and EXPLAIN it</a:t>
            </a:r>
            <a:r>
              <a:rPr sz="1800" b="0" dirty="0">
                <a:solidFill>
                  <a:srgbClr val="1E1E1E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989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3809A"/>
                </a:solidFill>
                <a:latin typeface="Aptos"/>
              </a:rPr>
              <a:t>ROUTINE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CHECK YOUR UNDERSTANDING • FABLE DETECTIVE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52628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52628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50751"/>
            <a:ext cx="11729437" cy="3785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E1E1E"/>
                </a:solidFill>
                <a:latin typeface="Aptos"/>
              </a:rPr>
              <a:t>Trait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: The Elephant is patient.</a:t>
            </a:r>
            <a:br>
              <a:rPr sz="2400" dirty="0"/>
            </a:br>
            <a:br>
              <a:rPr sz="2400" dirty="0"/>
            </a:br>
            <a:r>
              <a:rPr sz="2400" b="1" dirty="0">
                <a:solidFill>
                  <a:srgbClr val="1E1E1E"/>
                </a:solidFill>
                <a:latin typeface="Aptos"/>
              </a:rPr>
              <a:t>Evidence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: “He took a slow breath and continued walking.”</a:t>
            </a:r>
            <a:br>
              <a:rPr sz="2400" dirty="0"/>
            </a:br>
            <a:br>
              <a:rPr sz="2400" dirty="0"/>
            </a:br>
            <a:r>
              <a:rPr sz="2400" b="1" dirty="0">
                <a:solidFill>
                  <a:srgbClr val="1E1E1E"/>
                </a:solidFill>
                <a:latin typeface="Aptos"/>
              </a:rPr>
              <a:t>Explanation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: This shows that he controlled his reaction instead of becoming angry immediately.</a:t>
            </a:r>
            <a:br>
              <a:rPr sz="2400" dirty="0"/>
            </a:br>
            <a:br>
              <a:rPr sz="2400" dirty="0"/>
            </a:br>
            <a:r>
              <a:rPr sz="2400" b="1" dirty="0">
                <a:solidFill>
                  <a:srgbClr val="1E1E1E"/>
                </a:solidFill>
                <a:latin typeface="Aptos"/>
              </a:rPr>
              <a:t>Consequence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: When the teasing continued, he calmly explained the problem.</a:t>
            </a:r>
            <a:br>
              <a:rPr sz="2400" dirty="0"/>
            </a:br>
            <a:br>
              <a:rPr sz="2400" dirty="0"/>
            </a:br>
            <a:r>
              <a:rPr sz="2400" b="1" dirty="0">
                <a:solidFill>
                  <a:srgbClr val="1E1E1E"/>
                </a:solidFill>
                <a:latin typeface="Aptos"/>
              </a:rPr>
              <a:t>Lesson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: We can stay calm while still speaking up when someone's </a:t>
            </a:r>
            <a:r>
              <a:rPr sz="2400" b="0" dirty="0" err="1">
                <a:solidFill>
                  <a:srgbClr val="1E1E1E"/>
                </a:solidFill>
                <a:latin typeface="Aptos"/>
              </a:rPr>
              <a:t>behaviour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 hurts 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989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27E63"/>
                </a:solidFill>
                <a:latin typeface="Aptos"/>
              </a:rPr>
              <a:t>MODEL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7E63"/>
                </a:solidFill>
                <a:latin typeface="Aptos"/>
              </a:rPr>
              <a:t>78–80 MIN •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Exit Ticket • Transfer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34340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34340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6"/>
                </a:solidFill>
                <a:latin typeface="Aptos"/>
              </a:rPr>
              <a:t>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2"/>
            <a:ext cx="10405872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1E1E1E"/>
                </a:solidFill>
                <a:latin typeface="Aptos"/>
              </a:rPr>
              <a:t>The character’s action __________________ caused __________________.</a:t>
            </a:r>
            <a:br/>
            <a:br/>
            <a:r>
              <a:rPr sz="2300" b="0">
                <a:solidFill>
                  <a:srgbClr val="1E1E1E"/>
                </a:solidFill>
                <a:latin typeface="Aptos"/>
              </a:rPr>
              <a:t>This helps us understand the lesson because ____________________________.</a:t>
            </a:r>
            <a:br/>
            <a:br/>
            <a:r>
              <a:rPr sz="2300" b="0">
                <a:solidFill>
                  <a:srgbClr val="1E1E1E"/>
                </a:solidFill>
                <a:latin typeface="Aptos"/>
              </a:rPr>
              <a:t>BONUS: One skill I transferred from Ant &amp; Grasshopper was __________________.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C2B36"/>
                </a:solidFill>
                <a:latin typeface="Aptos"/>
              </a:rPr>
              <a:t>Hand it in — this is your evidence of independent transfer.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3809A"/>
                </a:solidFill>
                <a:latin typeface="Aptos"/>
              </a:rPr>
              <a:t>MODEL / POSSIBLE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Exit Ticket • Transfer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48056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448056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6"/>
                </a:solidFill>
                <a:latin typeface="Aptos"/>
              </a:rPr>
              <a:t>POSSIBLE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2"/>
            <a:ext cx="10405872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E1E1E"/>
                </a:solidFill>
                <a:latin typeface="Aptos"/>
              </a:rPr>
              <a:t>The character’s action caused the ant to realise that her teasing was hurtful and apologise.</a:t>
            </a:r>
            <a:br/>
            <a:br/>
            <a:r>
              <a:rPr sz="2100" b="0">
                <a:solidFill>
                  <a:srgbClr val="1E1E1E"/>
                </a:solidFill>
                <a:latin typeface="Aptos"/>
              </a:rPr>
              <a:t>This helps us understand the lesson because it shows us how our actions can affect other people.</a:t>
            </a:r>
            <a:br/>
            <a:br/>
            <a:r>
              <a:rPr sz="2100" b="0">
                <a:solidFill>
                  <a:srgbClr val="1E1E1E"/>
                </a:solidFill>
                <a:latin typeface="Aptos"/>
              </a:rPr>
              <a:t>One skill I transferred from Ant &amp; Grasshopper was finding a character’s trait and supporting it with evidence.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AD49"/>
                </a:solidFill>
                <a:latin typeface="Aptos"/>
              </a:rPr>
              <a:t>USE THE WRITING + EXIT TICKET TO PLAN THE NEXT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6"/>
                </a:solidFill>
                <a:latin typeface="Aptos"/>
              </a:rPr>
              <a:t>Teacher Quick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7955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77073"/>
                </a:solidFill>
                <a:latin typeface="Aptos"/>
              </a:rPr>
              <a:t>YEAR 5 • UNIT 1 • FABLE DETECTIVES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77073"/>
                </a:solidFill>
                <a:latin typeface="Aptos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3566160" cy="43891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73152" cy="4389120"/>
          </a:xfrm>
          <a:prstGeom prst="rect">
            <a:avLst/>
          </a:prstGeom>
          <a:solidFill>
            <a:srgbClr val="52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63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36"/>
                </a:solidFill>
                <a:latin typeface="Aptos"/>
              </a:rPr>
              <a:t>🟢 SUPPORT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56232"/>
            <a:ext cx="3182112" cy="29854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1E1E"/>
                </a:solidFill>
                <a:latin typeface="Aptos"/>
              </a:rPr>
              <a:t>Student mainly retells or gives opinions.</a:t>
            </a:r>
            <a:br>
              <a:rPr sz="2400" dirty="0"/>
            </a:b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NEXT:</a:t>
            </a: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Evidence selection + sentence frame.</a:t>
            </a:r>
            <a:br>
              <a:rPr sz="2400" dirty="0"/>
            </a:b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Prompt:</a:t>
            </a: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“Where is your proof?”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566160" cy="43891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73152" cy="4389120"/>
          </a:xfrm>
          <a:prstGeom prst="rect">
            <a:avLst/>
          </a:prstGeom>
          <a:solidFill>
            <a:srgbClr val="E0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463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36"/>
                </a:solidFill>
                <a:latin typeface="Aptos"/>
              </a:rPr>
              <a:t>🟡 DEVELOPING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56232"/>
            <a:ext cx="3182112" cy="26161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1E1E"/>
                </a:solidFill>
                <a:latin typeface="Aptos"/>
              </a:rPr>
              <a:t>Trait/evidence present but explanation or consequence is thin.</a:t>
            </a:r>
            <a:br>
              <a:rPr sz="2400" dirty="0"/>
            </a:b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NEXT:</a:t>
            </a: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“What does it show?”</a:t>
            </a:r>
            <a:br>
              <a:rPr sz="2400" dirty="0"/>
            </a:br>
            <a:r>
              <a:rPr sz="2000" b="0" dirty="0">
                <a:solidFill>
                  <a:srgbClr val="1E1E1E"/>
                </a:solidFill>
                <a:latin typeface="Aptos"/>
              </a:rPr>
              <a:t>“What happened because of that?”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25880"/>
            <a:ext cx="3566160" cy="4389120"/>
          </a:xfrm>
          <a:prstGeom prst="roundRect">
            <a:avLst/>
          </a:prstGeom>
          <a:solidFill>
            <a:srgbClr val="FFFCF6"/>
          </a:solidFill>
          <a:ln>
            <a:solidFill>
              <a:srgbClr val="E1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73152" cy="4389120"/>
          </a:xfrm>
          <a:prstGeom prst="rect">
            <a:avLst/>
          </a:prstGeom>
          <a:solidFill>
            <a:srgbClr val="53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463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B36"/>
                </a:solidFill>
                <a:latin typeface="Aptos"/>
              </a:rPr>
              <a:t>🔵 SECURE / EXTENSION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856232"/>
            <a:ext cx="3182112" cy="34778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E1E1E"/>
                </a:solidFill>
                <a:latin typeface="Aptos"/>
              </a:rPr>
              <a:t>Trait + evidence + consequence + lesson accurate and explained.</a:t>
            </a:r>
            <a:br>
              <a:rPr sz="2800" dirty="0"/>
            </a:br>
            <a:br>
              <a:rPr sz="2800" dirty="0"/>
            </a:br>
            <a:r>
              <a:rPr sz="2400" b="1" dirty="0">
                <a:solidFill>
                  <a:srgbClr val="1E1E1E"/>
                </a:solidFill>
                <a:latin typeface="Aptos"/>
              </a:rPr>
              <a:t>NEXT</a:t>
            </a:r>
            <a:r>
              <a:rPr sz="2400" b="0" dirty="0">
                <a:solidFill>
                  <a:srgbClr val="1E1E1E"/>
                </a:solidFill>
                <a:latin typeface="Aptos"/>
              </a:rPr>
              <a:t>:</a:t>
            </a:r>
            <a:br>
              <a:rPr sz="2800" dirty="0"/>
            </a:br>
            <a:r>
              <a:rPr sz="2400" b="0" dirty="0">
                <a:solidFill>
                  <a:srgbClr val="1E1E1E"/>
                </a:solidFill>
                <a:latin typeface="Aptos"/>
              </a:rPr>
              <a:t>Comparison, judgement and precision.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3128</Words>
  <Application>Microsoft Office PowerPoint</Application>
  <PresentationFormat>Widescreen</PresentationFormat>
  <Paragraphs>303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Rozan Zakaria@meis-eg.com</dc:creator>
  <cp:keywords/>
  <dc:description>generated using python-pptx</dc:description>
  <cp:lastModifiedBy>Rozan Zakaria@meis-eg.com</cp:lastModifiedBy>
  <cp:revision>2</cp:revision>
  <dcterms:created xsi:type="dcterms:W3CDTF">2013-01-27T09:14:16Z</dcterms:created>
  <dcterms:modified xsi:type="dcterms:W3CDTF">2026-09-27T08:39:11Z</dcterms:modified>
  <cp:category/>
</cp:coreProperties>
</file>