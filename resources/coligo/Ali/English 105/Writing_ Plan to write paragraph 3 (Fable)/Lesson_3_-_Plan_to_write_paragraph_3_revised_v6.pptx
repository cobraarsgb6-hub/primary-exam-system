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91" r:id="rId2"/>
    <p:sldId id="292" r:id="rId3"/>
    <p:sldId id="330" r:id="rId46"/>
    <p:sldId id="329" r:id="rId45"/>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7" r:id="rId38"/>
    <p:sldId id="328" r:id="rId39"/>
    <p:sldId id="326"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unch" id="{0F345F55-05E8-725A-F178-55754B95666C}">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Lst>
        </p14:section>
        <p14:section name="Learn" id="{1C3300E5-F3B9-37A4-FA36-245D1780FCDD}">
          <p14:sldIdLst/>
        </p14:section>
        <p14:section name="Write Paragraph 1" id="{36E73697-2596-E3E3-D238-627956C0E03C}">
          <p14:sldIdLst/>
        </p14:section>
        <p14:section name="Write Paragraph 2" id="{4B013D21-DC36-3C8C-20C0-99473A730F12}">
          <p14:sldIdLst/>
        </p14:section>
        <p14:section name="Improve and Reflect" id="{EEB457F7-0DFA-3E3D-0E3F-97E3731D58F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40.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4.xml"/><Relationship Id="rId4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657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TIMING IS A GUIDE, NOT A SCRIPT. Do not rush the core teaching just to keep to the minutes. If the class needs longer, use the 4 minute buffer first on the dialogue punctuation teaching and fixing the dialogue, then on the planning steps. Shorten repeated answer discussions (the answer slides) before shortening teaching. LESSON TIMING (80 min)</a:t>
            </a:r>
          </a:p>
          <a:p>
            <a:r>
              <a:t>Intro and outcome 2 | Homework answers (slides 3 and 4) 2 | Quick recap of Paragraphs 1-2 (slides 5 and 6) 1 | Four parts + model 4 | Meeting links to problem 4 | Dialogue 3 | Punctuation teaching 5 | Fix the dialogue 3 | Reaction and choice 4 | I write / we write 4 | Paths + success criteria 2 | INDEPENDENT WRITING 22 | Check 2 | Partner edit 4 | Upgrade 3 | Self-assess 2 | Plenary 4 | Exit ticket 3 | Homework 2 | Buffer 4.</a:t>
            </a:r>
          </a:p>
          <a:p>
            <a:r>
              <a:t>Main model throughout: Geoffrey and Auntie Anthea. The writing structure is meeting, dialogue, reaction, choice.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Read the outcome. Point out that each card is one part of Paragraph 3 (meeting, dialogue, reaction, choice) and that the three success criteria used to check, edit and self-assess come from these cards.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Recap the chain. Today is Paragraph 3: meeting, dialogue, reaction and choice. The meeting that starts it must grow out of the problem from Paragraph 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A quick reminder, not a check or an editing task. Say what we wrote in Paragraphs 1 and 2: a trait shown by what the character does, because or so linking the trait to the problem, a problem that came from the trait, an Event 1 that made it worse, and an ending that stopped before the big choice. Ask pupils to say their problem in one line to a partner: 'My character is ___, so ___.' This sentence is what Paragraph 3's meeting must connect to. Listen for any problem that does not clearly come from the trait, and note those pupils to help while they write. No reading aloud, no fixing now.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This is the structure for the whole lesson and for the success criteria: meeting, dialogue, reaction, choice. Say each part aloud and have children say the order back. The paragraph stops before the result.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Read aloud. Colour code with the class: meeting (orange), dialogue (blue), reaction (purple), choice (green). Ask: which sentence tells us Geoffrey's trait without naming it? Point out that the meeting uses his problem: he is weak and shivering.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The first success criterion: the meeting must connect to the problem from Paragraph 2. Compare the two meetings. A butterfly could appear in any story. Anthea works because Geoffrey is weak and cannot escape. Whiteboard: children underline the words that link the meeting to the problem.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Take responses, then tick. The key idea: Anthea is dangerous BECAUSE Geoffrey is weak. The meeting follows from the problem.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plan their own meeting on whiteboards. Look for ideas that grow from their own Paragraph 2 problem. Redirect any random arrival (a butterfly, a stranger from nowhere) by asking: how does this make the problem harder?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Telling versus showing through speech. Whiteboard: children write a different line Anthea could say, showing she is hungry or sly. Keep the punctuation simple for now; we teach it explicitly next.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Share two or three of the children's lines too. Notice: each line sounds sly without the word sly. We will check every punctuation mark in the next slides.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Both are correct; the words are the same, only the order changes. Colour code: blue = the spoken words, orange = the reporting clause. KEEP TERMINOLOGY LIGHT: say the term once, then attach it straight away to the questions Who spoke? and What did they say?. Children say the name of each pattern back.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Teach the four checks one at a time, pointing at each mark. KEY POINTS: (1) the first spoken word has a capital letter; (2) the comma is inside the closing inverted commas and takes the place of the full stop; (3) the reporting clause begins with a lowercase letter, unless it begins with a name; (4) the full stop ends the whole sentence, outside the marks. With a question mark or exclamation mark there is no comma.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KEY POINTS: (1) the sentence begins with a capital letter as normal; (2) the comma comes after the reporting clause, BEFORE the opening inverted commas; (3) the spoken words start with a capital letter; (4) the end mark of the speech sits inside the closing inverted commas and also ends the whole sentence. With a question mark or exclamation mark it is the same: it stays inside, and there is no second full stop.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This slide makes the distinction explicit. INSIDE the closing inverted commas = the punctuation that ends the spoken words (a comma, full stop, question mark or exclamation mark). OUTSIDE = the comma that separates a reporting clause from the opening inverted commas, and the full stop that ends the whole sentence after a reporting clause. Ask: where does each comma sit, and why?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3 min whiteboards. Children fix both sentences. Reporting clause first for sentence 1; dialogue first for sentence 2. Insist on all four checks: capital letter, inverted commas, end mark or comma inside, comma separating. Show boards, then reveal the next slide.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Reveal. Point to each mark in turn and have children name the rule. Ask why there is no comma after 'lost' in sentence 2 (the question mark does the job).</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The reaction is the short step between the dialogue and the choice. It shows how the character feels or moves, so the choice that follows feels earned. Whiteboard: children write a different reaction for Geoffrey without using the word scared.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The final success criterion: the choice reveals the established trait (Geoffrey is dreamy). Partner talk, then take answers.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Link the choice to the trait using because or so. Geoffrey is dreamy, so he sang instead of running away.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Gradual release: I write the meeting and the dialogue, thinking aloud (using 'because' and 'so' links to the problem). We write the reaction and the choice together. You write your own: the longest part of the lesson.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4 min total. TEACHER: write the left box live, thinking aloud: link to the problem ('cold and dizzy with hunger'), then the dialogue using dialogue first, checking all four punctuation marks. CLASS: complete the right box on whiteboards. Check that the reaction shows a feeling and that the choice shows he is dreamy. Example: 'Geoffrey’s legs trembled. Instead of running, he gazed at the pale moon and hummed a little tune.'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Children choose the support that stretches them. Trail = sentence frame; Ridge = four parts from the story map; Summit = a second line of dialogue using BOTH patterns. All paths must meet the three success criteria. Say clearly: the three paths are the same goal with different amounts of help, not different targets. Everyone aims for the same success criteria (meeting linked to the problem, dialogue punctuated correctly, choice that reveals the trait). Trail = extra support with a sentence frame; Ridge = write it independently from the story map; Summit = stretch, a second line of dialogue using both patterns.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Each model meets all three criteria. Ask children to find the meeting, the dialogue, the reaction and the choice in each.</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These three criteria are used throughout: while writing, in the check, the partner edit, the self-assessment and the plenary. Read them aloud and have children say what each would look like in Geoffrey's paragraph. TEACHER: use them for conferencing while the class writes.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22 MINUTES OF PROTECTED INDEPENDENT WRITING. No whole-class interruptions. Whiteboards away. Remind once at the start that the paragraph stops before the result. Use the three success criteria for quiet conferencing: (1) does the meeting connect to the problem? (2) is every spoken sentence punctuated correctly? (3) does the choice reveal the trait? Note names for the plenary and for the 3/2/1 self-assessment. Keep Geoffrey's model and the path models on display.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read quietly and fix ONE thing using the three criteria. Check actual punctuation by finger: point to each inverted comma and each comma.</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4 min. Partners swap books and look for the three criteria. They give one tick and one idea (sentence stems on the right). Encourage them to circle the capital letters and underline the end marks inside the closing inverted commas.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3 min. Whiteboards, then children upgrade ONE line in their own writing and re-check the punctuation. Upgrade options: a speech verb, a feeling, or an action.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Check each model's punctuation aloud: capital letter, inverted commas, comma or end mark inside the closing ”, and the comma before the opening “ when the reporting clause comes first.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2 min. Children score each criterion 3, 2 or 1 and write a next target. TEACHER ASSESSMENT: use the same scale. Meeting: 3 = clearly follows from the problem; 2 = new character or event but link is weak; 1 = unconnected. Dialogue: 3 = all punctuation correct (capital letter, inverted commas, end mark or comma inside, comma before the opening inverted commas when the reporting clause comes first); 2 = one error; 1 = two or more errors. Choice: 3 = could only belong to this character; 2 = fits but generic; 1 = does not show the trait.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4 min. Show an imperfect Geoffrey paragraph. Children find one problem for each criterion (meeting not linked, punctuation errors, choice not from the trait) and discuss how to fix them. Then reveal the answers.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Accept any sensible rewrite. Praise children who name the problem the meeting should link to (weak, hungry and cold).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3 min. Written responses in books, collected as evidence. Look for: the word 'because' linking choice to trait, and an accurate punctuation rule.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Read the model responses, then collect books.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SUPPORT for homework. Give the Trail frames to pupils who need extra help; the goal is the same for everyone. Use these frames for Paragraphs 1, 2 and 3. Pupils replace each blank with their own ideas from their story map, then check the draft against the checklist on the previous slide.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OWN FABLE: every pupil continues their own fable (their own character and trait from their story map), not Geoffrey and Auntie Anthea. Geoffrey is only the class model. HOMEWORK, about 30 minutes in total (2 min in lesson to set it). Pupils write their fable so far, Paragraphs 1 to 3, as one flowing draft, continuing their own story map and the same character and trait. Paragraphs 1 and 2 come from Lesson 2: copy them out and improve ONE thing in each (use your feedback). Paragraph 3 is today's writing, improved, or written again with a different meeting if they prefer. The draft stops before the result: Lesson 4 writes Paragraph 4 (result, change, moral). Suggest splitting it over two nights: Paragraphs 1 and 2 first, then Paragraph 3. Collect and mark with the same 3/2/1 criteria. Support for pupils who need it: the Trail frame on the last slide.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Show this when setting the homework. These are the lesson's three success criteria plus the because / so link from Lesson 2 and the rule to stop before the result. Pupils tick each box in their book after reading their draft. Remind them: speech punctuation by finger (capital letter, inverted commas, comma or end mark inside the closing inverted commas).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Pupils mark their own answers to the Bruno homework. Read the answers aloud, then ask who found one hard. For the problem, say the because / so sentence aloud with the class. This is also a quick link to today: a problem that comes from the trait.</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1 min. Pupils mark their own answers to the Maya homework. Accept any sensible trait (proud, overconfident, arrogant) and any moral that fits, such as: Listen to good advice, or pride may bring you down. Praise pupils who explain WHY it was not bad luck: Maya was warned and chose not to listen. Challenge question: share one or two openings that show a greedy character without the word greedy.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640080" y="1143000"/>
            <a:ext cx="5120640" cy="128016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4" name="Text 1"/>
          <p:cNvSpPr>
            <a:spLocks noGrp="1"/>
          </p:cNvSpPr>
          <p:nvPr>
            <p:ph type="body" idx="102" hasCustomPrompt="1"/>
          </p:nvPr>
        </p:nvSpPr>
        <p:spPr>
          <a:xfrm>
            <a:off x="640080" y="2560320"/>
            <a:ext cx="4846320" cy="82296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822960" y="1737360"/>
            <a:ext cx="5303520" cy="11887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4" name="Text 1"/>
          <p:cNvSpPr>
            <a:spLocks noGrp="1"/>
          </p:cNvSpPr>
          <p:nvPr>
            <p:ph type="body" idx="102" hasCustomPrompt="1"/>
          </p:nvPr>
        </p:nvSpPr>
        <p:spPr>
          <a:xfrm>
            <a:off x="822960" y="3063240"/>
            <a:ext cx="4937760" cy="54864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4" name="Shape 1"/>
          <p:cNvSpPr/>
          <p:nvPr/>
        </p:nvSpPr>
        <p:spPr>
          <a:xfrm>
            <a:off x="1234440" y="4754880"/>
            <a:ext cx="822960" cy="219456"/>
          </a:xfrm>
          <a:prstGeom prst="rect">
            <a:avLst/>
          </a:prstGeom>
          <a:solidFill>
            <a:schemeClr val="accent1"/>
          </a:solidFill>
          <a:ln w="9525">
            <a:solidFill>
              <a:schemeClr val="accent1"/>
            </a:solidFill>
            <a:prstDash val="solid"/>
          </a:ln>
        </p:spPr>
        <p:txBody>
          <a:bodyPr/>
          <a:lstStyle/>
          <a:p>
            <a:endParaRPr/>
          </a:p>
        </p:txBody>
      </p:sp>
      <p:sp>
        <p:nvSpPr>
          <p:cNvPr id="5" name="Text 2"/>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6" name="Shape 3"/>
          <p:cNvSpPr/>
          <p:nvPr/>
        </p:nvSpPr>
        <p:spPr>
          <a:xfrm>
            <a:off x="2121408" y="4754880"/>
            <a:ext cx="731520" cy="219456"/>
          </a:xfrm>
          <a:prstGeom prst="rect">
            <a:avLst/>
          </a:prstGeom>
          <a:solidFill>
            <a:schemeClr val="accent1"/>
          </a:solidFill>
          <a:ln w="9525">
            <a:solidFill>
              <a:schemeClr val="accent1"/>
            </a:solidFill>
            <a:prstDash val="solid"/>
          </a:ln>
        </p:spPr>
        <p:txBody>
          <a:bodyPr/>
          <a:lstStyle/>
          <a:p>
            <a:endParaRPr/>
          </a:p>
        </p:txBody>
      </p:sp>
      <p:sp>
        <p:nvSpPr>
          <p:cNvPr id="7" name="Text 4"/>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8" name="Shape 5"/>
          <p:cNvSpPr/>
          <p:nvPr/>
        </p:nvSpPr>
        <p:spPr>
          <a:xfrm>
            <a:off x="2916936" y="4754880"/>
            <a:ext cx="640080" cy="219456"/>
          </a:xfrm>
          <a:prstGeom prst="rect">
            <a:avLst/>
          </a:prstGeom>
          <a:solidFill>
            <a:schemeClr val="accent1"/>
          </a:solidFill>
          <a:ln w="9525">
            <a:solidFill>
              <a:schemeClr val="accent1"/>
            </a:solidFill>
            <a:prstDash val="solid"/>
          </a:ln>
        </p:spPr>
        <p:txBody>
          <a:bodyPr/>
          <a:lstStyle/>
          <a:p>
            <a:endParaRPr/>
          </a:p>
        </p:txBody>
      </p:sp>
      <p:sp>
        <p:nvSpPr>
          <p:cNvPr id="9" name="Text 6"/>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Choice</a:t>
            </a:r>
            <a:endParaRPr lang="en-US" sz="1000" dirty="0"/>
          </a:p>
        </p:txBody>
      </p:sp>
      <p:sp>
        <p:nvSpPr>
          <p:cNvPr id="10" name="Shape 7"/>
          <p:cNvSpPr/>
          <p:nvPr/>
        </p:nvSpPr>
        <p:spPr>
          <a:xfrm>
            <a:off x="3621024" y="4754880"/>
            <a:ext cx="960120" cy="219456"/>
          </a:xfrm>
          <a:prstGeom prst="rect">
            <a:avLst/>
          </a:prstGeom>
          <a:solidFill>
            <a:schemeClr val="bg2"/>
          </a:solidFill>
          <a:ln w="9525">
            <a:solidFill>
              <a:schemeClr val="accent3"/>
            </a:solidFill>
            <a:prstDash val="solid"/>
          </a:ln>
        </p:spPr>
      </p:sp>
      <p:sp>
        <p:nvSpPr>
          <p:cNvPr id="11" name="Text 8"/>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accent3"/>
                </a:solidFill>
              </a:rPr>
              <a:t>Consequence</a:t>
            </a:r>
            <a:endParaRPr lang="en-US" sz="1000" dirty="0"/>
          </a:p>
        </p:txBody>
      </p:sp>
      <p:sp>
        <p:nvSpPr>
          <p:cNvPr id="12" name="Shape 9"/>
          <p:cNvSpPr/>
          <p:nvPr/>
        </p:nvSpPr>
        <p:spPr>
          <a:xfrm>
            <a:off x="4645152" y="4754880"/>
            <a:ext cx="640080" cy="219456"/>
          </a:xfrm>
          <a:prstGeom prst="rect">
            <a:avLst/>
          </a:prstGeom>
          <a:solidFill>
            <a:schemeClr val="bg2"/>
          </a:solidFill>
          <a:ln w="9525">
            <a:solidFill>
              <a:schemeClr val="accent3"/>
            </a:solidFill>
            <a:prstDash val="solid"/>
          </a:ln>
        </p:spPr>
      </p:sp>
      <p:sp>
        <p:nvSpPr>
          <p:cNvPr id="13" name="Text 10"/>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TI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2"/>
          </a:solidFill>
          <a:ln/>
        </p:spPr>
        <p:txBody>
          <a:bodyPr/>
          <a:lstStyle/>
          <a:p>
            <a:endParaRPr/>
          </a:p>
        </p:txBody>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1"/>
          <p:cNvSpPr txBox="1"/>
          <p:nvPr/>
        </p:nvSpPr>
        <p:spPr>
          <a:xfrm>
            <a:off x="457200" y="4754880"/>
            <a:ext cx="731520" cy="219456"/>
          </a:xfrm>
          <a:prstGeom prst="rect">
            <a:avLst/>
          </a:prstGeom>
          <a:noFill/>
          <a:ln/>
        </p:spPr>
        <p:txBody>
          <a:bodyPr wrap="square" lIns="0" tIns="0" rIns="0" bIns="0" rtlCol="0" anchor="ctr"/>
          <a:lstStyle/>
          <a:p>
            <a:pPr marL="0" indent="0">
              <a:buNone/>
            </a:pPr>
            <a:r>
              <a:rPr lang="en-US" sz="1000" b="1" dirty="0">
                <a:solidFill>
                  <a:schemeClr val="accent3"/>
                </a:solidFill>
              </a:rPr>
              <a:t>Story path</a:t>
            </a:r>
            <a:endParaRPr lang="en-US" sz="1000" dirty="0"/>
          </a:p>
        </p:txBody>
      </p:sp>
      <p:sp>
        <p:nvSpPr>
          <p:cNvPr id="5" name="Shape 2"/>
          <p:cNvSpPr/>
          <p:nvPr/>
        </p:nvSpPr>
        <p:spPr>
          <a:xfrm>
            <a:off x="1234440" y="4754880"/>
            <a:ext cx="822960" cy="219456"/>
          </a:xfrm>
          <a:prstGeom prst="rect">
            <a:avLst/>
          </a:prstGeom>
          <a:solidFill>
            <a:schemeClr val="accent1"/>
          </a:solidFill>
          <a:ln w="9525">
            <a:solidFill>
              <a:schemeClr val="accent1"/>
            </a:solidFill>
            <a:prstDash val="solid"/>
          </a:ln>
        </p:spPr>
        <p:txBody>
          <a:bodyPr/>
          <a:lstStyle/>
          <a:p>
            <a:endParaRPr/>
          </a:p>
        </p:txBody>
      </p:sp>
      <p:sp>
        <p:nvSpPr>
          <p:cNvPr id="6" name="Text 3"/>
          <p:cNvSpPr txBox="1"/>
          <p:nvPr/>
        </p:nvSpPr>
        <p:spPr>
          <a:xfrm>
            <a:off x="1234440" y="4754880"/>
            <a:ext cx="822960" cy="219456"/>
          </a:xfrm>
          <a:prstGeom prst="rect">
            <a:avLst/>
          </a:prstGeom>
          <a:noFill/>
          <a:ln/>
        </p:spPr>
        <p:txBody>
          <a:bodyPr wrap="square" lIns="0" tIns="0" rIns="0" bIns="0" rtlCol="0" anchor="ctr"/>
          <a:lstStyle/>
          <a:p>
            <a:pPr marL="0" indent="0" algn="ctr">
              <a:buNone/>
            </a:pPr>
            <a:r>
              <a:rPr lang="en-US" sz="1000" b="1" dirty="0">
                <a:solidFill>
                  <a:schemeClr val="bg1"/>
                </a:solidFill>
              </a:rPr>
              <a:t>Beginning</a:t>
            </a:r>
            <a:endParaRPr lang="en-US" sz="1000" dirty="0"/>
          </a:p>
        </p:txBody>
      </p:sp>
      <p:sp>
        <p:nvSpPr>
          <p:cNvPr id="7" name="Shape 4"/>
          <p:cNvSpPr/>
          <p:nvPr/>
        </p:nvSpPr>
        <p:spPr>
          <a:xfrm>
            <a:off x="2121408" y="4754880"/>
            <a:ext cx="731520" cy="219456"/>
          </a:xfrm>
          <a:prstGeom prst="rect">
            <a:avLst/>
          </a:prstGeom>
          <a:solidFill>
            <a:schemeClr val="accent1"/>
          </a:solidFill>
          <a:ln w="9525">
            <a:solidFill>
              <a:schemeClr val="accent1"/>
            </a:solidFill>
            <a:prstDash val="solid"/>
          </a:ln>
        </p:spPr>
        <p:txBody>
          <a:bodyPr/>
          <a:lstStyle/>
          <a:p>
            <a:endParaRPr/>
          </a:p>
        </p:txBody>
      </p:sp>
      <p:sp>
        <p:nvSpPr>
          <p:cNvPr id="8" name="Text 5"/>
          <p:cNvSpPr txBox="1"/>
          <p:nvPr/>
        </p:nvSpPr>
        <p:spPr>
          <a:xfrm>
            <a:off x="2121408" y="4754880"/>
            <a:ext cx="731520" cy="219456"/>
          </a:xfrm>
          <a:prstGeom prst="rect">
            <a:avLst/>
          </a:prstGeom>
          <a:noFill/>
          <a:ln/>
        </p:spPr>
        <p:txBody>
          <a:bodyPr wrap="square" lIns="0" tIns="0" rIns="0" bIns="0" rtlCol="0" anchor="ctr"/>
          <a:lstStyle/>
          <a:p>
            <a:pPr marL="0" indent="0" algn="ctr">
              <a:buNone/>
            </a:pPr>
            <a:r>
              <a:rPr lang="en-US" sz="1000" b="1" dirty="0">
                <a:solidFill>
                  <a:schemeClr val="bg1"/>
                </a:solidFill>
              </a:rPr>
              <a:t>Problem</a:t>
            </a:r>
            <a:endParaRPr lang="en-US" sz="1000" dirty="0"/>
          </a:p>
        </p:txBody>
      </p:sp>
      <p:sp>
        <p:nvSpPr>
          <p:cNvPr id="9" name="Shape 6"/>
          <p:cNvSpPr/>
          <p:nvPr/>
        </p:nvSpPr>
        <p:spPr>
          <a:xfrm>
            <a:off x="2916936" y="4754880"/>
            <a:ext cx="640080" cy="219456"/>
          </a:xfrm>
          <a:prstGeom prst="rect">
            <a:avLst/>
          </a:prstGeom>
          <a:solidFill>
            <a:schemeClr val="accent1"/>
          </a:solidFill>
          <a:ln w="9525">
            <a:solidFill>
              <a:schemeClr val="accent1"/>
            </a:solidFill>
            <a:prstDash val="solid"/>
          </a:ln>
        </p:spPr>
        <p:txBody>
          <a:bodyPr/>
          <a:lstStyle/>
          <a:p>
            <a:endParaRPr/>
          </a:p>
        </p:txBody>
      </p:sp>
      <p:sp>
        <p:nvSpPr>
          <p:cNvPr id="10" name="Text 7"/>
          <p:cNvSpPr txBox="1"/>
          <p:nvPr/>
        </p:nvSpPr>
        <p:spPr>
          <a:xfrm>
            <a:off x="2916936" y="4754880"/>
            <a:ext cx="640080" cy="219456"/>
          </a:xfrm>
          <a:prstGeom prst="rect">
            <a:avLst/>
          </a:prstGeom>
          <a:noFill/>
          <a:ln/>
        </p:spPr>
        <p:txBody>
          <a:bodyPr wrap="square" lIns="0" tIns="0" rIns="0" bIns="0" rtlCol="0" anchor="ctr"/>
          <a:lstStyle/>
          <a:p>
            <a:pPr marL="0" indent="0" algn="ctr">
              <a:buNone/>
            </a:pPr>
            <a:r>
              <a:rPr lang="en-US" sz="1000" b="1" dirty="0">
                <a:solidFill>
                  <a:schemeClr val="bg1"/>
                </a:solidFill>
              </a:rPr>
              <a:t>Choice</a:t>
            </a:r>
            <a:endParaRPr lang="en-US" sz="1000" dirty="0"/>
          </a:p>
        </p:txBody>
      </p:sp>
      <p:sp>
        <p:nvSpPr>
          <p:cNvPr id="11" name="Shape 8"/>
          <p:cNvSpPr/>
          <p:nvPr/>
        </p:nvSpPr>
        <p:spPr>
          <a:xfrm>
            <a:off x="3621024" y="4754880"/>
            <a:ext cx="960120" cy="219456"/>
          </a:xfrm>
          <a:prstGeom prst="rect">
            <a:avLst/>
          </a:prstGeom>
          <a:solidFill>
            <a:schemeClr val="bg2"/>
          </a:solidFill>
          <a:ln w="9525">
            <a:solidFill>
              <a:schemeClr val="accent3"/>
            </a:solidFill>
            <a:prstDash val="solid"/>
          </a:ln>
        </p:spPr>
      </p:sp>
      <p:sp>
        <p:nvSpPr>
          <p:cNvPr id="12" name="Text 9"/>
          <p:cNvSpPr txBox="1"/>
          <p:nvPr/>
        </p:nvSpPr>
        <p:spPr>
          <a:xfrm>
            <a:off x="3621024" y="4754880"/>
            <a:ext cx="960120" cy="219456"/>
          </a:xfrm>
          <a:prstGeom prst="rect">
            <a:avLst/>
          </a:prstGeom>
          <a:noFill/>
          <a:ln/>
        </p:spPr>
        <p:txBody>
          <a:bodyPr wrap="square" lIns="0" tIns="0" rIns="0" bIns="0" rtlCol="0" anchor="ctr"/>
          <a:lstStyle/>
          <a:p>
            <a:pPr marL="0" indent="0" algn="ctr">
              <a:buNone/>
            </a:pPr>
            <a:r>
              <a:rPr lang="en-US" sz="1000" b="1" dirty="0">
                <a:solidFill>
                  <a:schemeClr val="accent3"/>
                </a:solidFill>
              </a:rPr>
              <a:t>Consequence</a:t>
            </a:r>
            <a:endParaRPr lang="en-US" sz="1000" dirty="0"/>
          </a:p>
        </p:txBody>
      </p:sp>
      <p:sp>
        <p:nvSpPr>
          <p:cNvPr id="13" name="Shape 10"/>
          <p:cNvSpPr/>
          <p:nvPr/>
        </p:nvSpPr>
        <p:spPr>
          <a:xfrm>
            <a:off x="4645152" y="4754880"/>
            <a:ext cx="640080" cy="219456"/>
          </a:xfrm>
          <a:prstGeom prst="rect">
            <a:avLst/>
          </a:prstGeom>
          <a:solidFill>
            <a:schemeClr val="bg2"/>
          </a:solidFill>
          <a:ln w="9525">
            <a:solidFill>
              <a:schemeClr val="accent3"/>
            </a:solidFill>
            <a:prstDash val="solid"/>
          </a:ln>
        </p:spPr>
      </p:sp>
      <p:sp>
        <p:nvSpPr>
          <p:cNvPr id="14" name="Text 11"/>
          <p:cNvSpPr txBox="1"/>
          <p:nvPr/>
        </p:nvSpPr>
        <p:spPr>
          <a:xfrm>
            <a:off x="4645152" y="4754880"/>
            <a:ext cx="640080" cy="219456"/>
          </a:xfrm>
          <a:prstGeom prst="rect">
            <a:avLst/>
          </a:prstGeom>
          <a:noFill/>
          <a:ln/>
        </p:spPr>
        <p:txBody>
          <a:bodyPr wrap="square" lIns="0" tIns="0" rIns="0" bIns="0" rtlCol="0" anchor="ctr"/>
          <a:lstStyle/>
          <a:p>
            <a:pPr marL="0" indent="0" algn="ctr">
              <a:buNone/>
            </a:pPr>
            <a:r>
              <a:rPr lang="en-US" sz="1000" b="1" dirty="0">
                <a:solidFill>
                  <a:schemeClr val="accent3"/>
                </a:solidFill>
              </a:rPr>
              <a:t>Moral</a:t>
            </a:r>
            <a:endParaRPr lang="en-US" sz="10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274320"/>
            <a:ext cx="722376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 hill"/>
          <p:cNvSpPr/>
          <p:nvPr/>
        </p:nvSpPr>
        <p:spPr>
          <a:xfrm>
            <a:off x="-1828800" y="3611880"/>
            <a:ext cx="7863840" cy="3291840"/>
          </a:xfrm>
          <a:prstGeom prst="ellipse">
            <a:avLst/>
          </a:prstGeom>
          <a:solidFill>
            <a:schemeClr val="accent3"/>
          </a:solidFill>
          <a:ln/>
        </p:spPr>
        <p:txBody>
          <a:bodyPr/>
          <a:lstStyle/>
          <a:p>
            <a:endParaRPr/>
          </a:p>
        </p:txBody>
      </p:sp>
      <p:sp>
        <p:nvSpPr>
          <p:cNvPr id="3" name="Front hill"/>
          <p:cNvSpPr/>
          <p:nvPr/>
        </p:nvSpPr>
        <p:spPr>
          <a:xfrm>
            <a:off x="3108960" y="3977640"/>
            <a:ext cx="7680960" cy="2926080"/>
          </a:xfrm>
          <a:prstGeom prst="ellipse">
            <a:avLst/>
          </a:prstGeom>
          <a:solidFill>
            <a:schemeClr val="tx1"/>
          </a:solidFill>
          <a:ln/>
        </p:spPr>
        <p:txBody>
          <a:bodyPr/>
          <a:lstStyle/>
          <a:p>
            <a:endParaRPr/>
          </a:p>
        </p:txBody>
      </p:sp>
      <p:sp>
        <p:nvSpPr>
          <p:cNvPr id="4" name="Gold ring"/>
          <p:cNvSpPr/>
          <p:nvPr/>
        </p:nvSpPr>
        <p:spPr>
          <a:xfrm>
            <a:off x="5806440" y="868680"/>
            <a:ext cx="2743200" cy="2743200"/>
          </a:xfrm>
          <a:prstGeom prst="ellipse">
            <a:avLst/>
          </a:prstGeom>
          <a:solidFill>
            <a:schemeClr val="accent2"/>
          </a:solidFill>
          <a:ln/>
        </p:spPr>
        <p:txBody>
          <a:bodyPr/>
          <a:lstStyle/>
          <a:p>
            <a:endParaRPr/>
          </a:p>
        </p:txBody>
      </p:sp>
      <p:sp>
        <p:nvSpPr>
          <p:cNvPr id="5" name="Fox circle"/>
          <p:cNvSpPr/>
          <p:nvPr/>
        </p:nvSpPr>
        <p:spPr>
          <a:xfrm>
            <a:off x="5961888" y="1024128"/>
            <a:ext cx="2432304" cy="2432304"/>
          </a:xfrm>
          <a:prstGeom prst="ellipse">
            <a:avLst/>
          </a:prstGeom>
          <a:solidFill>
            <a:schemeClr val="accent1"/>
          </a:solidFill>
          <a:ln/>
        </p:spPr>
        <p:txBody>
          <a:bodyPr/>
          <a:lstStyle/>
          <a:p>
            <a:endParaRPr/>
          </a:p>
        </p:txBody>
      </p:sp>
      <p:pic>
        <p:nvPicPr>
          <p:cNvPr id="6" name="Image 0" descr="Fox"/>
          <p:cNvPicPr>
            <a:picLocks noChangeAspect="1"/>
          </p:cNvPicPr>
          <p:nvPr/>
        </p:nvPicPr>
        <p:blipFill>
          <a:blip r:embed="rId3"/>
          <a:stretch>
            <a:fillRect/>
          </a:stretch>
        </p:blipFill>
        <p:spPr>
          <a:xfrm>
            <a:off x="6355080" y="1417320"/>
            <a:ext cx="1645920" cy="1645920"/>
          </a:xfrm>
          <a:prstGeom prst="rect">
            <a:avLst/>
          </a:prstGeom>
        </p:spPr>
      </p:pic>
      <p:sp>
        <p:nvSpPr>
          <p:cNvPr id="7" name="Chip 1"/>
          <p:cNvSpPr/>
          <p:nvPr/>
        </p:nvSpPr>
        <p:spPr>
          <a:xfrm>
            <a:off x="640080" y="502920"/>
            <a:ext cx="3566160" cy="329184"/>
          </a:xfrm>
          <a:prstGeom prst="roundRect">
            <a:avLst>
              <a:gd name="adj" fmla="val 50000"/>
            </a:avLst>
          </a:prstGeom>
          <a:solidFill>
            <a:schemeClr val="accent2"/>
          </a:solidFill>
          <a:ln/>
        </p:spPr>
        <p:txBody>
          <a:bodyPr/>
          <a:lstStyle/>
          <a:p>
            <a:endParaRPr/>
          </a:p>
        </p:txBody>
      </p:sp>
      <p:sp>
        <p:nvSpPr>
          <p:cNvPr id="8" name="Text 5"/>
          <p:cNvSpPr txBox="1"/>
          <p:nvPr/>
        </p:nvSpPr>
        <p:spPr>
          <a:xfrm>
            <a:off x="640080" y="502920"/>
            <a:ext cx="3566160" cy="329184"/>
          </a:xfrm>
          <a:prstGeom prst="rect">
            <a:avLst/>
          </a:prstGeom>
          <a:noFill/>
          <a:ln/>
        </p:spPr>
        <p:txBody>
          <a:bodyPr wrap="square" lIns="0" tIns="0" rIns="0" bIns="0" rtlCol="0" anchor="ctr"/>
          <a:lstStyle/>
          <a:p>
            <a:pPr marL="0" indent="0" algn="ctr">
              <a:buNone/>
            </a:pPr>
            <a:r>
              <a:rPr lang="en-US" sz="1100" b="1" dirty="0">
                <a:solidFill>
                  <a:schemeClr val="tx2"/>
                </a:solidFill>
              </a:rPr>
              <a:t>YEAR 5  ·  WRITING  ·  LESSON 3  ·  80 MIN</a:t>
            </a:r>
            <a:endParaRPr lang="en-US" sz="1100" dirty="0"/>
          </a:p>
        </p:txBody>
      </p:sp>
      <p:sp>
        <p:nvSpPr>
          <p:cNvPr id="9" name="Text 1"/>
          <p:cNvSpPr>
            <a:spLocks noGrp="1"/>
          </p:cNvSpPr>
          <p:nvPr>
            <p:ph type="title" idx="101" hasCustomPrompt="1"/>
          </p:nvPr>
        </p:nvSpPr>
        <p:spPr>
          <a:xfrm>
            <a:off x="640080" y="1143000"/>
            <a:ext cx="5120640" cy="1280160"/>
          </a:xfrm>
          <a:prstGeom prst="rect">
            <a:avLst/>
          </a:prstGeom>
          <a:noFill/>
          <a:ln/>
        </p:spPr>
        <p:txBody>
          <a:bodyPr wrap="square" lIns="0" tIns="0" rIns="0" bIns="0" rtlCol="0" anchor="b"/>
          <a:lstStyle/>
          <a:p>
            <a:pPr marL="0" indent="0" algn="l">
              <a:buNone/>
            </a:pPr>
            <a:r>
              <a:rPr lang="en-US" sz="5000" b="1" dirty="0">
                <a:solidFill>
                  <a:schemeClr val="bg1"/>
                </a:solidFill>
              </a:rPr>
              <a:t>Write a Fable</a:t>
            </a:r>
            <a:endParaRPr lang="en-US" sz="5000" dirty="0"/>
          </a:p>
        </p:txBody>
      </p:sp>
      <p:sp>
        <p:nvSpPr>
          <p:cNvPr id="10" name="Text 1"/>
          <p:cNvSpPr>
            <a:spLocks noGrp="1"/>
          </p:cNvSpPr>
          <p:nvPr>
            <p:ph type="body" idx="102" hasCustomPrompt="1"/>
          </p:nvPr>
        </p:nvSpPr>
        <p:spPr>
          <a:xfrm>
            <a:off x="640080" y="2560320"/>
            <a:ext cx="4846320" cy="822960"/>
          </a:xfrm>
          <a:prstGeom prst="rect">
            <a:avLst/>
          </a:prstGeom>
          <a:noFill/>
          <a:ln/>
        </p:spPr>
        <p:txBody>
          <a:bodyPr wrap="square" lIns="0" tIns="0" rIns="0" bIns="0" rtlCol="0" anchor="t"/>
          <a:lstStyle/>
          <a:p>
            <a:pPr marL="0" indent="0" algn="l">
              <a:buNone/>
            </a:pPr>
            <a:r>
              <a:rPr lang="en-US" sz="2000" dirty="0">
                <a:solidFill>
                  <a:schemeClr val="accent2"/>
                </a:solidFill>
              </a:rPr>
              <a:t>Paragraph 3: meeting, dialogue, reaction and choice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Today’s outcome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
        <p:nvSpPr>
          <p:cNvPr id="26" name="Outcome banner"/>
          <p:cNvSpPr/>
          <p:nvPr/>
        </p:nvSpPr>
        <p:spPr>
          <a:xfrm>
            <a:off x="457200" y="1188720"/>
            <a:ext cx="8229600" cy="731520"/>
          </a:xfrm>
          <a:prstGeom prst="roundRect">
            <a:avLst>
              <a:gd name="adj" fmla="val 1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188720"/>
            <a:ext cx="7772400" cy="731520"/>
          </a:xfrm>
          <a:prstGeom prst="rect">
            <a:avLst/>
          </a:prstGeom>
          <a:noFill/>
        </p:spPr>
        <p:txBody>
          <a:bodyPr wrap="square" lIns="0" tIns="0" rIns="0" bIns="0" anchor="ctr">
            <a:spAutoFit/>
          </a:bodyPr>
          <a:lstStyle/>
          <a:p>
            <a:pPr algn="l"/>
            <a:r>
              <a:rPr sz="1900" b="1" i="0">
                <a:solidFill>
                  <a:schemeClr val="accent2"/>
                </a:solidFill>
                <a:latin typeface="Cambria"/>
                <a:ea typeface="Cambria"/>
                <a:cs typeface="Cambria"/>
              </a:rPr>
              <a:t>By the end of the lesson, </a:t>
            </a:r>
            <a:r>
              <a:rPr sz="1900" b="1" i="0">
                <a:solidFill>
                  <a:schemeClr val="bg1"/>
                </a:solidFill>
                <a:latin typeface="Cambria"/>
                <a:ea typeface="Cambria"/>
                <a:cs typeface="Cambria"/>
              </a:rPr>
              <a:t>I will have written a 4–6 sentence Paragraph 3 with a meeting, dialogue, reaction and choice.</a:t>
            </a:r>
          </a:p>
        </p:txBody>
      </p:sp>
      <p:sp>
        <p:nvSpPr>
          <p:cNvPr id="28" name="Card"/>
          <p:cNvSpPr/>
          <p:nvPr/>
        </p:nvSpPr>
        <p:spPr>
          <a:xfrm>
            <a:off x="457200" y="2194560"/>
            <a:ext cx="1920240" cy="2194560"/>
          </a:xfrm>
          <a:prstGeom prst="roundRect">
            <a:avLst>
              <a:gd name="adj" fmla="val 6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adge"/>
          <p:cNvSpPr/>
          <p:nvPr/>
        </p:nvSpPr>
        <p:spPr>
          <a:xfrm>
            <a:off x="1088136" y="2304288"/>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on" descr="image3.png"/>
          <p:cNvPicPr>
            <a:picLocks noChangeAspect="1"/>
          </p:cNvPicPr>
          <p:nvPr/>
        </p:nvPicPr>
        <p:blipFill>
          <a:blip r:embed="rId4"/>
          <a:stretch>
            <a:fillRect/>
          </a:stretch>
        </p:blipFill>
        <p:spPr>
          <a:xfrm>
            <a:off x="1236268" y="2452420"/>
            <a:ext cx="362102" cy="362102"/>
          </a:xfrm>
          <a:prstGeom prst="rect">
            <a:avLst/>
          </a:prstGeom>
        </p:spPr>
      </p:pic>
      <p:sp>
        <p:nvSpPr>
          <p:cNvPr id="31" name="Text"/>
          <p:cNvSpPr txBox="1"/>
          <p:nvPr/>
        </p:nvSpPr>
        <p:spPr>
          <a:xfrm>
            <a:off x="502920" y="301752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1  Meeting</a:t>
            </a:r>
          </a:p>
        </p:txBody>
      </p:sp>
      <p:sp>
        <p:nvSpPr>
          <p:cNvPr id="32" name="Text"/>
          <p:cNvSpPr txBox="1"/>
          <p:nvPr/>
        </p:nvSpPr>
        <p:spPr>
          <a:xfrm>
            <a:off x="594360" y="3456432"/>
            <a:ext cx="1645920" cy="914400"/>
          </a:xfrm>
          <a:prstGeom prst="rect">
            <a:avLst/>
          </a:prstGeom>
          <a:noFill/>
        </p:spPr>
        <p:txBody>
          <a:bodyPr wrap="square" lIns="0" tIns="0" rIns="0" bIns="0" anchor="t">
            <a:spAutoFit/>
          </a:bodyPr>
          <a:lstStyle/>
          <a:p>
            <a:pPr algn="ctr"/>
            <a:r>
              <a:rPr sz="1300" b="0" i="0">
                <a:solidFill>
                  <a:schemeClr val="tx1"/>
                </a:solidFill>
              </a:rPr>
              <a:t>I can bring in someone or something that connects to my character’s problem.</a:t>
            </a:r>
          </a:p>
        </p:txBody>
      </p:sp>
      <p:sp>
        <p:nvSpPr>
          <p:cNvPr id="33" name="Card"/>
          <p:cNvSpPr/>
          <p:nvPr/>
        </p:nvSpPr>
        <p:spPr>
          <a:xfrm>
            <a:off x="2560320" y="2194560"/>
            <a:ext cx="1920240" cy="2194560"/>
          </a:xfrm>
          <a:prstGeom prst="roundRect">
            <a:avLst>
              <a:gd name="adj" fmla="val 6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adge"/>
          <p:cNvSpPr/>
          <p:nvPr/>
        </p:nvSpPr>
        <p:spPr>
          <a:xfrm>
            <a:off x="3191256" y="2304288"/>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Icon" descr="image5.png"/>
          <p:cNvPicPr>
            <a:picLocks noChangeAspect="1"/>
          </p:cNvPicPr>
          <p:nvPr/>
        </p:nvPicPr>
        <p:blipFill>
          <a:blip r:embed="rId5"/>
          <a:stretch>
            <a:fillRect/>
          </a:stretch>
        </p:blipFill>
        <p:spPr>
          <a:xfrm>
            <a:off x="3339388" y="2452420"/>
            <a:ext cx="362102" cy="362102"/>
          </a:xfrm>
          <a:prstGeom prst="rect">
            <a:avLst/>
          </a:prstGeom>
        </p:spPr>
      </p:pic>
      <p:sp>
        <p:nvSpPr>
          <p:cNvPr id="36" name="Text"/>
          <p:cNvSpPr txBox="1"/>
          <p:nvPr/>
        </p:nvSpPr>
        <p:spPr>
          <a:xfrm>
            <a:off x="2606039" y="301752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2  Dialogue</a:t>
            </a:r>
          </a:p>
        </p:txBody>
      </p:sp>
      <p:sp>
        <p:nvSpPr>
          <p:cNvPr id="37" name="Text"/>
          <p:cNvSpPr txBox="1"/>
          <p:nvPr/>
        </p:nvSpPr>
        <p:spPr>
          <a:xfrm>
            <a:off x="2697479" y="3456432"/>
            <a:ext cx="1645920" cy="914400"/>
          </a:xfrm>
          <a:prstGeom prst="rect">
            <a:avLst/>
          </a:prstGeom>
          <a:noFill/>
        </p:spPr>
        <p:txBody>
          <a:bodyPr wrap="square" lIns="0" tIns="0" rIns="0" bIns="0" anchor="t">
            <a:spAutoFit/>
          </a:bodyPr>
          <a:lstStyle/>
          <a:p>
            <a:pPr algn="ctr"/>
            <a:r>
              <a:rPr sz="1300" b="0" i="0">
                <a:solidFill>
                  <a:schemeClr val="tx1"/>
                </a:solidFill>
              </a:rPr>
              <a:t>I can write a line of speech with the right punctuation.</a:t>
            </a:r>
          </a:p>
        </p:txBody>
      </p:sp>
      <p:sp>
        <p:nvSpPr>
          <p:cNvPr id="38" name="Card"/>
          <p:cNvSpPr/>
          <p:nvPr/>
        </p:nvSpPr>
        <p:spPr>
          <a:xfrm>
            <a:off x="4663440" y="2194560"/>
            <a:ext cx="1920240" cy="2194560"/>
          </a:xfrm>
          <a:prstGeom prst="roundRect">
            <a:avLst>
              <a:gd name="adj" fmla="val 6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dge"/>
          <p:cNvSpPr/>
          <p:nvPr/>
        </p:nvSpPr>
        <p:spPr>
          <a:xfrm>
            <a:off x="5294375" y="2304288"/>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descr="image8.png"/>
          <p:cNvPicPr>
            <a:picLocks noChangeAspect="1"/>
          </p:cNvPicPr>
          <p:nvPr/>
        </p:nvPicPr>
        <p:blipFill>
          <a:blip r:embed="rId6"/>
          <a:stretch>
            <a:fillRect/>
          </a:stretch>
        </p:blipFill>
        <p:spPr>
          <a:xfrm>
            <a:off x="5442508" y="2452420"/>
            <a:ext cx="362102" cy="362102"/>
          </a:xfrm>
          <a:prstGeom prst="rect">
            <a:avLst/>
          </a:prstGeom>
        </p:spPr>
      </p:pic>
      <p:sp>
        <p:nvSpPr>
          <p:cNvPr id="41" name="Text"/>
          <p:cNvSpPr txBox="1"/>
          <p:nvPr/>
        </p:nvSpPr>
        <p:spPr>
          <a:xfrm>
            <a:off x="4709159" y="301752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3  Reaction</a:t>
            </a:r>
          </a:p>
        </p:txBody>
      </p:sp>
      <p:sp>
        <p:nvSpPr>
          <p:cNvPr id="42" name="Text"/>
          <p:cNvSpPr txBox="1"/>
          <p:nvPr/>
        </p:nvSpPr>
        <p:spPr>
          <a:xfrm>
            <a:off x="4800600" y="3456432"/>
            <a:ext cx="1645920" cy="914400"/>
          </a:xfrm>
          <a:prstGeom prst="rect">
            <a:avLst/>
          </a:prstGeom>
          <a:noFill/>
        </p:spPr>
        <p:txBody>
          <a:bodyPr wrap="square" lIns="0" tIns="0" rIns="0" bIns="0" anchor="t">
            <a:spAutoFit/>
          </a:bodyPr>
          <a:lstStyle/>
          <a:p>
            <a:pPr algn="ctr"/>
            <a:r>
              <a:rPr sz="1300" b="0" i="0">
                <a:solidFill>
                  <a:schemeClr val="tx1"/>
                </a:solidFill>
              </a:rPr>
              <a:t>I can show how my character feels or moves.</a:t>
            </a:r>
          </a:p>
        </p:txBody>
      </p:sp>
      <p:sp>
        <p:nvSpPr>
          <p:cNvPr id="43" name="Card"/>
          <p:cNvSpPr/>
          <p:nvPr/>
        </p:nvSpPr>
        <p:spPr>
          <a:xfrm>
            <a:off x="6766559" y="2194560"/>
            <a:ext cx="1920240" cy="2194560"/>
          </a:xfrm>
          <a:prstGeom prst="roundRect">
            <a:avLst>
              <a:gd name="adj" fmla="val 6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Badge"/>
          <p:cNvSpPr/>
          <p:nvPr/>
        </p:nvSpPr>
        <p:spPr>
          <a:xfrm>
            <a:off x="7397496" y="2304288"/>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Icon" descr="image19.png"/>
          <p:cNvPicPr>
            <a:picLocks noChangeAspect="1"/>
          </p:cNvPicPr>
          <p:nvPr/>
        </p:nvPicPr>
        <p:blipFill>
          <a:blip r:embed="rId7"/>
          <a:stretch>
            <a:fillRect/>
          </a:stretch>
        </p:blipFill>
        <p:spPr>
          <a:xfrm>
            <a:off x="7545628" y="2452420"/>
            <a:ext cx="362102" cy="362102"/>
          </a:xfrm>
          <a:prstGeom prst="rect">
            <a:avLst/>
          </a:prstGeom>
        </p:spPr>
      </p:pic>
      <p:sp>
        <p:nvSpPr>
          <p:cNvPr id="46" name="Text"/>
          <p:cNvSpPr txBox="1"/>
          <p:nvPr/>
        </p:nvSpPr>
        <p:spPr>
          <a:xfrm>
            <a:off x="6812279" y="301752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4  Choice</a:t>
            </a:r>
          </a:p>
        </p:txBody>
      </p:sp>
      <p:sp>
        <p:nvSpPr>
          <p:cNvPr id="47" name="Text"/>
          <p:cNvSpPr txBox="1"/>
          <p:nvPr/>
        </p:nvSpPr>
        <p:spPr>
          <a:xfrm>
            <a:off x="6903720" y="3456432"/>
            <a:ext cx="1645920" cy="914400"/>
          </a:xfrm>
          <a:prstGeom prst="rect">
            <a:avLst/>
          </a:prstGeom>
          <a:noFill/>
        </p:spPr>
        <p:txBody>
          <a:bodyPr wrap="square" lIns="0" tIns="0" rIns="0" bIns="0" anchor="t">
            <a:spAutoFit/>
          </a:bodyPr>
          <a:lstStyle/>
          <a:p>
            <a:pPr algn="ctr"/>
            <a:r>
              <a:rPr sz="1300" b="0" i="0">
                <a:solidFill>
                  <a:schemeClr val="tx1"/>
                </a:solidFill>
              </a:rPr>
              <a:t>I can show the trait by the choice my character makes.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Homework answers: Bruno</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33</a:t>
            </a:fld>
            <a:endParaRPr lang="en-US"/>
          </a:p>
        </p:txBody>
      </p:sp>
      <p:sp>
        <p:nvSpPr>
          <p:cNvPr id="26" name="Row"/>
          <p:cNvSpPr/>
          <p:nvPr/>
        </p:nvSpPr>
        <p:spPr>
          <a:xfrm>
            <a:off x="457200" y="118872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41274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85900"/>
            <a:ext cx="182880" cy="182880"/>
          </a:xfrm>
          <a:prstGeom prst="rect">
            <a:avLst/>
          </a:prstGeom>
        </p:spPr>
      </p:pic>
      <p:sp>
        <p:nvSpPr>
          <p:cNvPr id="29" name="Row text"/>
          <p:cNvSpPr txBox="1"/>
          <p:nvPr/>
        </p:nvSpPr>
        <p:spPr>
          <a:xfrm>
            <a:off x="1143000" y="1188720"/>
            <a:ext cx="7360920" cy="777240"/>
          </a:xfrm>
          <a:prstGeom prst="rect">
            <a:avLst/>
          </a:prstGeom>
          <a:noFill/>
        </p:spPr>
        <p:txBody>
          <a:bodyPr wrap="square" lIns="0" tIns="0" rIns="0" bIns="0" anchor="ctr">
            <a:spAutoFit/>
          </a:bodyPr>
          <a:lstStyle/>
          <a:p>
            <a:pPr algn="l"/>
            <a:r>
              <a:rPr sz="1400" b="1" i="0">
                <a:solidFill>
                  <a:schemeClr val="tx1"/>
                </a:solidFill>
              </a:rPr>
              <a:t>Trait:  </a:t>
            </a:r>
            <a:r>
              <a:rPr sz="1400" b="0" i="0">
                <a:solidFill>
                  <a:schemeClr val="tx1"/>
                </a:solidFill>
              </a:rPr>
              <a:t>Stubborn. He shook his horns and said “I know best.” He walked onto the old bridge.</a:t>
            </a:r>
          </a:p>
        </p:txBody>
      </p:sp>
      <p:sp>
        <p:nvSpPr>
          <p:cNvPr id="30" name="Row"/>
          <p:cNvSpPr/>
          <p:nvPr/>
        </p:nvSpPr>
        <p:spPr>
          <a:xfrm>
            <a:off x="457200" y="2084832"/>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30886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82012"/>
            <a:ext cx="182880" cy="182880"/>
          </a:xfrm>
          <a:prstGeom prst="rect">
            <a:avLst/>
          </a:prstGeom>
        </p:spPr>
      </p:pic>
      <p:sp>
        <p:nvSpPr>
          <p:cNvPr id="33" name="Row text"/>
          <p:cNvSpPr txBox="1"/>
          <p:nvPr/>
        </p:nvSpPr>
        <p:spPr>
          <a:xfrm>
            <a:off x="1143000" y="2084832"/>
            <a:ext cx="7360920" cy="777240"/>
          </a:xfrm>
          <a:prstGeom prst="rect">
            <a:avLst/>
          </a:prstGeom>
          <a:noFill/>
        </p:spPr>
        <p:txBody>
          <a:bodyPr wrap="square" lIns="0" tIns="0" rIns="0" bIns="0" anchor="ctr">
            <a:spAutoFit/>
          </a:bodyPr>
          <a:lstStyle/>
          <a:p>
            <a:pPr algn="l"/>
            <a:r>
              <a:rPr sz="1400" b="1" i="0">
                <a:solidFill>
                  <a:schemeClr val="tx1"/>
                </a:solidFill>
              </a:rPr>
              <a:t>Problem:  </a:t>
            </a:r>
            <a:r>
              <a:rPr sz="1400" b="0" i="0">
                <a:solidFill>
                  <a:schemeClr val="tx1"/>
                </a:solidFill>
                <a:latin typeface="Cambria"/>
                <a:ea typeface="Cambria"/>
                <a:cs typeface="Cambria"/>
              </a:rPr>
              <a:t>Because Bruno was stubborn, he ignored the shepherd’s warning. So the old bridge broke and he fell into the river.</a:t>
            </a:r>
          </a:p>
        </p:txBody>
      </p:sp>
      <p:sp>
        <p:nvSpPr>
          <p:cNvPr id="34" name="Row"/>
          <p:cNvSpPr/>
          <p:nvPr/>
        </p:nvSpPr>
        <p:spPr>
          <a:xfrm>
            <a:off x="457200" y="2980944"/>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2049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278124"/>
            <a:ext cx="182880" cy="182880"/>
          </a:xfrm>
          <a:prstGeom prst="rect">
            <a:avLst/>
          </a:prstGeom>
        </p:spPr>
      </p:pic>
      <p:sp>
        <p:nvSpPr>
          <p:cNvPr id="37" name="Row text"/>
          <p:cNvSpPr txBox="1"/>
          <p:nvPr/>
        </p:nvSpPr>
        <p:spPr>
          <a:xfrm>
            <a:off x="1143000" y="2980944"/>
            <a:ext cx="7360920" cy="777240"/>
          </a:xfrm>
          <a:prstGeom prst="rect">
            <a:avLst/>
          </a:prstGeom>
          <a:noFill/>
        </p:spPr>
        <p:txBody>
          <a:bodyPr wrap="square" lIns="0" tIns="0" rIns="0" bIns="0" anchor="ctr">
            <a:spAutoFit/>
          </a:bodyPr>
          <a:lstStyle/>
          <a:p>
            <a:pPr algn="l"/>
            <a:r>
              <a:rPr sz="1400" b="1" i="0">
                <a:solidFill>
                  <a:schemeClr val="tx1"/>
                </a:solidFill>
              </a:rPr>
              <a:t>Moral:  </a:t>
            </a:r>
            <a:r>
              <a:rPr sz="1400" b="0" i="0">
                <a:solidFill>
                  <a:schemeClr val="tx1"/>
                </a:solidFill>
              </a:rPr>
              <a:t>Listen to good advice, or you may get into trouble. It matches: he ignored advice and got hurt.</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Mark your own answers. Fix anything you missed.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Homework answers: Maya</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33</a:t>
            </a:fld>
            <a:endParaRPr lang="en-US"/>
          </a:p>
        </p:txBody>
      </p:sp>
      <p:sp>
        <p:nvSpPr>
          <p:cNvPr id="26" name="Row"/>
          <p:cNvSpPr/>
          <p:nvPr/>
        </p:nvSpPr>
        <p:spPr>
          <a:xfrm>
            <a:off x="457200" y="1188720"/>
            <a:ext cx="8229600" cy="62000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3412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07280"/>
            <a:ext cx="182880" cy="182880"/>
          </a:xfrm>
          <a:prstGeom prst="rect">
            <a:avLst/>
          </a:prstGeom>
        </p:spPr>
      </p:pic>
      <p:sp>
        <p:nvSpPr>
          <p:cNvPr id="29" name="Row text"/>
          <p:cNvSpPr txBox="1"/>
          <p:nvPr/>
        </p:nvSpPr>
        <p:spPr>
          <a:xfrm>
            <a:off x="1143000" y="1188720"/>
            <a:ext cx="7360920" cy="620000"/>
          </a:xfrm>
          <a:prstGeom prst="rect">
            <a:avLst/>
          </a:prstGeom>
          <a:noFill/>
        </p:spPr>
        <p:txBody>
          <a:bodyPr wrap="square" lIns="0" tIns="0" rIns="0" bIns="0" anchor="ctr">
            <a:spAutoFit/>
          </a:bodyPr>
          <a:lstStyle/>
          <a:p>
            <a:pPr algn="l"/>
            <a:r>
              <a:rPr sz="1400" b="1" i="0">
                <a:solidFill>
                  <a:schemeClr val="tx1"/>
                </a:solidFill>
              </a:rPr>
              <a:t>Trait:  </a:t>
            </a:r>
            <a:r>
              <a:rPr sz="1400" b="0" i="0">
                <a:solidFill>
                  <a:schemeClr val="tx1"/>
                </a:solidFill>
              </a:rPr>
              <a:t>Proud and overconfident. She boasted “I am the cleverest bird alive” and said she did not need to check the sky.</a:t>
            </a:r>
          </a:p>
        </p:txBody>
      </p:sp>
      <p:sp>
        <p:nvSpPr>
          <p:cNvPr id="30" name="Row"/>
          <p:cNvSpPr/>
          <p:nvPr/>
        </p:nvSpPr>
        <p:spPr>
          <a:xfrm>
            <a:off x="457200" y="1878720"/>
            <a:ext cx="8229600" cy="62000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02412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097280"/>
            <a:ext cx="182880" cy="182880"/>
          </a:xfrm>
          <a:prstGeom prst="rect">
            <a:avLst/>
          </a:prstGeom>
        </p:spPr>
      </p:pic>
      <p:sp>
        <p:nvSpPr>
          <p:cNvPr id="33" name="Row text"/>
          <p:cNvSpPr txBox="1"/>
          <p:nvPr/>
        </p:nvSpPr>
        <p:spPr>
          <a:xfrm>
            <a:off x="1143000" y="1878720"/>
            <a:ext cx="7360920" cy="620000"/>
          </a:xfrm>
          <a:prstGeom prst="rect">
            <a:avLst/>
          </a:prstGeom>
          <a:noFill/>
        </p:spPr>
        <p:txBody>
          <a:bodyPr wrap="square" lIns="0" tIns="0" rIns="0" bIns="0" anchor="ctr">
            <a:spAutoFit/>
          </a:bodyPr>
          <a:lstStyle/>
          <a:p>
            <a:pPr algn="l"/>
            <a:r>
              <a:rPr sz="1400" b="1" i="0">
                <a:solidFill>
                  <a:schemeClr val="tx1"/>
                </a:solidFill>
              </a:rPr>
              <a:t>Problem:  </a:t>
            </a:r>
            <a:r>
              <a:rPr sz="1400" b="0" i="0">
                <a:solidFill>
                  <a:schemeClr val="tx1"/>
                </a:solidFill>
                <a:latin typeface="Cambria"/>
                <a:ea typeface="Cambria"/>
                <a:cs typeface="Cambria"/>
              </a:rPr>
              <a:t>Because Maya was overconfident, she ignored the owl’s advice and did not look at the clouds. So the storm caught her. It was not bad luck: she was warned.</a:t>
            </a:r>
          </a:p>
        </p:txBody>
      </p:sp>
      <p:sp>
        <p:nvSpPr>
          <p:cNvPr id="34" name="Row"/>
          <p:cNvSpPr/>
          <p:nvPr/>
        </p:nvSpPr>
        <p:spPr>
          <a:xfrm>
            <a:off x="457200" y="2568720"/>
            <a:ext cx="8229600" cy="62000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271412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2787280"/>
            <a:ext cx="182880" cy="182880"/>
          </a:xfrm>
          <a:prstGeom prst="rect">
            <a:avLst/>
          </a:prstGeom>
        </p:spPr>
      </p:pic>
      <p:sp>
        <p:nvSpPr>
          <p:cNvPr id="37" name="Row text"/>
          <p:cNvSpPr txBox="1"/>
          <p:nvPr/>
        </p:nvSpPr>
        <p:spPr>
          <a:xfrm>
            <a:off x="1143000" y="2568720"/>
            <a:ext cx="7360920" cy="620000"/>
          </a:xfrm>
          <a:prstGeom prst="rect">
            <a:avLst/>
          </a:prstGeom>
          <a:noFill/>
        </p:spPr>
        <p:txBody>
          <a:bodyPr wrap="square" lIns="0" tIns="0" rIns="0" bIns="0" anchor="ctr">
            <a:spAutoFit/>
          </a:bodyPr>
          <a:lstStyle/>
          <a:p>
            <a:pPr algn="l"/>
            <a:r>
              <a:rPr sz="1400" b="1" i="0">
                <a:solidFill>
                  <a:schemeClr val="tx1"/>
                </a:solidFill>
              </a:rPr>
              <a:t>Choice:  </a:t>
            </a:r>
            <a:r>
              <a:rPr sz="1400" b="0" i="0">
                <a:solidFill>
                  <a:schemeClr val="tx1"/>
                </a:solidFill>
              </a:rPr>
              <a:t>She raced the swallows while dark clouds were gathering. She could have checked the sky, listened to the owl, or waited for better weather.</a:t>
            </a:r>
          </a:p>
        </p:txBody>
      </p:sp>
      <p:sp>
        <p:nvSpPr>
          <p:cNvPr id="38" name="Banner"/>
          <p:cNvSpPr/>
          <p:nvPr/>
        </p:nvSpPr>
        <p:spPr>
          <a:xfrm>
            <a:off x="457200" y="4160520"/>
            <a:ext cx="8229600" cy="45720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160520"/>
            <a:ext cx="7863840" cy="457200"/>
          </a:xfrm>
          <a:prstGeom prst="rect">
            <a:avLst/>
          </a:prstGeom>
          <a:noFill/>
        </p:spPr>
        <p:txBody>
          <a:bodyPr wrap="square" lIns="0" tIns="0" rIns="0" bIns="0" anchor="ctr">
            <a:spAutoFit/>
          </a:bodyPr>
          <a:lstStyle/>
          <a:p>
            <a:pPr algn="l"/>
            <a:r>
              <a:rPr sz="1600" b="1" i="0">
                <a:solidFill>
                  <a:schemeClr val="bg1"/>
                </a:solidFill>
              </a:rPr>
              <a:t>Mark your own answers. Fix anything you missed.</a:t>
            </a:r>
          </a:p>
        </p:txBody>
      </p:sp>
      <p:sp>
        <p:nvSpPr>
          <p:cNvPr id="70" name="Row"/>
          <p:cNvSpPr/>
          <p:nvPr/>
        </p:nvSpPr>
        <p:spPr>
          <a:xfrm>
            <a:off x="457200" y="3258720"/>
            <a:ext cx="8229600" cy="62000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ick badge"/>
          <p:cNvSpPr/>
          <p:nvPr/>
        </p:nvSpPr>
        <p:spPr>
          <a:xfrm>
            <a:off x="640080" y="340412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Icon" descr="image13.png"/>
          <p:cNvPicPr>
            <a:picLocks noChangeAspect="1"/>
          </p:cNvPicPr>
          <p:nvPr/>
        </p:nvPicPr>
        <p:blipFill>
          <a:blip r:embed="rId3"/>
          <a:stretch>
            <a:fillRect/>
          </a:stretch>
        </p:blipFill>
        <p:spPr>
          <a:xfrm>
            <a:off x="713232" y="3477280"/>
            <a:ext cx="182880" cy="182880"/>
          </a:xfrm>
          <a:prstGeom prst="rect">
            <a:avLst/>
          </a:prstGeom>
        </p:spPr>
      </p:pic>
      <p:sp>
        <p:nvSpPr>
          <p:cNvPr id="73" name="Row text"/>
          <p:cNvSpPr txBox="1"/>
          <p:nvPr/>
        </p:nvSpPr>
        <p:spPr>
          <a:xfrm>
            <a:off x="1143000" y="3258720"/>
            <a:ext cx="7360920" cy="620000"/>
          </a:xfrm>
          <a:prstGeom prst="rect">
            <a:avLst/>
          </a:prstGeom>
          <a:noFill/>
        </p:spPr>
        <p:txBody>
          <a:bodyPr wrap="square" lIns="0" tIns="0" rIns="0" bIns="0" anchor="ctr">
            <a:spAutoFit/>
          </a:bodyPr>
          <a:lstStyle/>
          <a:p>
            <a:pPr algn="l"/>
            <a:r>
              <a:rPr sz="1400" b="1" i="0">
                <a:solidFill>
                  <a:schemeClr val="tx1"/>
                </a:solidFill>
              </a:rPr>
              <a:t>Moral:  </a:t>
            </a:r>
            <a:r>
              <a:rPr sz="1400" b="0" i="0">
                <a:solidFill>
                  <a:schemeClr val="tx1"/>
                </a:solidFill>
              </a:rPr>
              <a:t>Any sensible version, for example: Listen to good advice, or pride may bring you down. It is shown when she says “I should have listened.”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Our fable chain</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6.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
        <p:nvSpPr>
          <p:cNvPr id="26" name="Card"/>
          <p:cNvSpPr/>
          <p:nvPr/>
        </p:nvSpPr>
        <p:spPr>
          <a:xfrm>
            <a:off x="457200"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813815" y="13258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6.png"/>
          <p:cNvPicPr>
            <a:picLocks noChangeAspect="1"/>
          </p:cNvPicPr>
          <p:nvPr/>
        </p:nvPicPr>
        <p:blipFill>
          <a:blip r:embed="rId3"/>
          <a:stretch>
            <a:fillRect/>
          </a:stretch>
        </p:blipFill>
        <p:spPr>
          <a:xfrm>
            <a:off x="937259" y="1449324"/>
            <a:ext cx="301752" cy="301752"/>
          </a:xfrm>
          <a:prstGeom prst="rect">
            <a:avLst/>
          </a:prstGeom>
        </p:spPr>
      </p:pic>
      <p:sp>
        <p:nvSpPr>
          <p:cNvPr id="29" name="Text"/>
          <p:cNvSpPr txBox="1"/>
          <p:nvPr/>
        </p:nvSpPr>
        <p:spPr>
          <a:xfrm>
            <a:off x="493776"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Character</a:t>
            </a:r>
          </a:p>
        </p:txBody>
      </p:sp>
      <p:sp>
        <p:nvSpPr>
          <p:cNvPr id="30" name="Text"/>
          <p:cNvSpPr txBox="1"/>
          <p:nvPr/>
        </p:nvSpPr>
        <p:spPr>
          <a:xfrm>
            <a:off x="548640" y="2377440"/>
            <a:ext cx="1078992" cy="868680"/>
          </a:xfrm>
          <a:prstGeom prst="rect">
            <a:avLst/>
          </a:prstGeom>
          <a:noFill/>
        </p:spPr>
        <p:txBody>
          <a:bodyPr wrap="square" lIns="0" tIns="0" rIns="0" bIns="0" anchor="t">
            <a:spAutoFit/>
          </a:bodyPr>
          <a:lstStyle/>
          <a:p>
            <a:pPr algn="ctr"/>
            <a:r>
              <a:rPr sz="1300" b="0" i="0">
                <a:solidFill>
                  <a:schemeClr val="tx1"/>
                </a:solidFill>
              </a:rPr>
              <a:t>Who is it?</a:t>
            </a:r>
          </a:p>
        </p:txBody>
      </p:sp>
      <p:sp>
        <p:nvSpPr>
          <p:cNvPr id="31" name="Card"/>
          <p:cNvSpPr/>
          <p:nvPr/>
        </p:nvSpPr>
        <p:spPr>
          <a:xfrm>
            <a:off x="1850745"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2207361" y="1325880"/>
            <a:ext cx="548640" cy="54864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7.png"/>
          <p:cNvPicPr>
            <a:picLocks noChangeAspect="1"/>
          </p:cNvPicPr>
          <p:nvPr/>
        </p:nvPicPr>
        <p:blipFill>
          <a:blip r:embed="rId4"/>
          <a:stretch>
            <a:fillRect/>
          </a:stretch>
        </p:blipFill>
        <p:spPr>
          <a:xfrm>
            <a:off x="2330805" y="1449324"/>
            <a:ext cx="301752" cy="301752"/>
          </a:xfrm>
          <a:prstGeom prst="rect">
            <a:avLst/>
          </a:prstGeom>
        </p:spPr>
      </p:pic>
      <p:sp>
        <p:nvSpPr>
          <p:cNvPr id="34" name="Text"/>
          <p:cNvSpPr txBox="1"/>
          <p:nvPr/>
        </p:nvSpPr>
        <p:spPr>
          <a:xfrm>
            <a:off x="1887321"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Trait</a:t>
            </a:r>
          </a:p>
        </p:txBody>
      </p:sp>
      <p:sp>
        <p:nvSpPr>
          <p:cNvPr id="35" name="Text"/>
          <p:cNvSpPr txBox="1"/>
          <p:nvPr/>
        </p:nvSpPr>
        <p:spPr>
          <a:xfrm>
            <a:off x="1942185" y="2377440"/>
            <a:ext cx="1078992" cy="868680"/>
          </a:xfrm>
          <a:prstGeom prst="rect">
            <a:avLst/>
          </a:prstGeom>
          <a:noFill/>
        </p:spPr>
        <p:txBody>
          <a:bodyPr wrap="square" lIns="0" tIns="0" rIns="0" bIns="0" anchor="t">
            <a:spAutoFit/>
          </a:bodyPr>
          <a:lstStyle/>
          <a:p>
            <a:pPr algn="ctr"/>
            <a:r>
              <a:rPr sz="1300" b="0" i="0">
                <a:solidFill>
                  <a:schemeClr val="tx1"/>
                </a:solidFill>
              </a:rPr>
              <a:t>What are they like?</a:t>
            </a:r>
          </a:p>
        </p:txBody>
      </p:sp>
      <p:sp>
        <p:nvSpPr>
          <p:cNvPr id="36" name="Card"/>
          <p:cNvSpPr/>
          <p:nvPr/>
        </p:nvSpPr>
        <p:spPr>
          <a:xfrm>
            <a:off x="3244291"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3600907" y="1325880"/>
            <a:ext cx="548640" cy="54864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8.png"/>
          <p:cNvPicPr>
            <a:picLocks noChangeAspect="1"/>
          </p:cNvPicPr>
          <p:nvPr/>
        </p:nvPicPr>
        <p:blipFill>
          <a:blip r:embed="rId5"/>
          <a:stretch>
            <a:fillRect/>
          </a:stretch>
        </p:blipFill>
        <p:spPr>
          <a:xfrm>
            <a:off x="3724351" y="1449324"/>
            <a:ext cx="301752" cy="301752"/>
          </a:xfrm>
          <a:prstGeom prst="rect">
            <a:avLst/>
          </a:prstGeom>
        </p:spPr>
      </p:pic>
      <p:sp>
        <p:nvSpPr>
          <p:cNvPr id="39" name="Text"/>
          <p:cNvSpPr txBox="1"/>
          <p:nvPr/>
        </p:nvSpPr>
        <p:spPr>
          <a:xfrm>
            <a:off x="3280867"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Problem</a:t>
            </a:r>
          </a:p>
        </p:txBody>
      </p:sp>
      <p:sp>
        <p:nvSpPr>
          <p:cNvPr id="40" name="Text"/>
          <p:cNvSpPr txBox="1"/>
          <p:nvPr/>
        </p:nvSpPr>
        <p:spPr>
          <a:xfrm>
            <a:off x="3335731" y="2377440"/>
            <a:ext cx="1078992" cy="868680"/>
          </a:xfrm>
          <a:prstGeom prst="rect">
            <a:avLst/>
          </a:prstGeom>
          <a:noFill/>
        </p:spPr>
        <p:txBody>
          <a:bodyPr wrap="square" lIns="0" tIns="0" rIns="0" bIns="0" anchor="t">
            <a:spAutoFit/>
          </a:bodyPr>
          <a:lstStyle/>
          <a:p>
            <a:pPr algn="ctr"/>
            <a:r>
              <a:rPr sz="1300" b="0" i="0">
                <a:solidFill>
                  <a:schemeClr val="tx1"/>
                </a:solidFill>
              </a:rPr>
              <a:t>What goes wrong?</a:t>
            </a:r>
          </a:p>
        </p:txBody>
      </p:sp>
      <p:sp>
        <p:nvSpPr>
          <p:cNvPr id="41" name="Card"/>
          <p:cNvSpPr/>
          <p:nvPr/>
        </p:nvSpPr>
        <p:spPr>
          <a:xfrm>
            <a:off x="4637836" y="1188720"/>
            <a:ext cx="1261872" cy="2194560"/>
          </a:xfrm>
          <a:prstGeom prst="roundRect">
            <a:avLst>
              <a:gd name="adj" fmla="val 7000"/>
            </a:avLst>
          </a:prstGeom>
          <a:solidFill>
            <a:schemeClr val="bg2"/>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dge"/>
          <p:cNvSpPr/>
          <p:nvPr/>
        </p:nvSpPr>
        <p:spPr>
          <a:xfrm>
            <a:off x="4994452" y="1325880"/>
            <a:ext cx="548640" cy="54864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Icon" descr="image4.png"/>
          <p:cNvPicPr>
            <a:picLocks noChangeAspect="1"/>
          </p:cNvPicPr>
          <p:nvPr/>
        </p:nvPicPr>
        <p:blipFill>
          <a:blip r:embed="rId6"/>
          <a:stretch>
            <a:fillRect/>
          </a:stretch>
        </p:blipFill>
        <p:spPr>
          <a:xfrm>
            <a:off x="5117896" y="1449324"/>
            <a:ext cx="301752" cy="301752"/>
          </a:xfrm>
          <a:prstGeom prst="rect">
            <a:avLst/>
          </a:prstGeom>
        </p:spPr>
      </p:pic>
      <p:sp>
        <p:nvSpPr>
          <p:cNvPr id="44" name="Text"/>
          <p:cNvSpPr txBox="1"/>
          <p:nvPr/>
        </p:nvSpPr>
        <p:spPr>
          <a:xfrm>
            <a:off x="4674412"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Choice</a:t>
            </a:r>
          </a:p>
        </p:txBody>
      </p:sp>
      <p:sp>
        <p:nvSpPr>
          <p:cNvPr id="45" name="Text"/>
          <p:cNvSpPr txBox="1"/>
          <p:nvPr/>
        </p:nvSpPr>
        <p:spPr>
          <a:xfrm>
            <a:off x="4729276" y="2377440"/>
            <a:ext cx="1078992" cy="868680"/>
          </a:xfrm>
          <a:prstGeom prst="rect">
            <a:avLst/>
          </a:prstGeom>
          <a:noFill/>
        </p:spPr>
        <p:txBody>
          <a:bodyPr wrap="square" lIns="0" tIns="0" rIns="0" bIns="0" anchor="t">
            <a:spAutoFit/>
          </a:bodyPr>
          <a:lstStyle/>
          <a:p>
            <a:pPr algn="ctr"/>
            <a:r>
              <a:rPr sz="1300" b="0" i="0">
                <a:solidFill>
                  <a:schemeClr val="tx1"/>
                </a:solidFill>
              </a:rPr>
              <a:t>What do they do?</a:t>
            </a:r>
          </a:p>
        </p:txBody>
      </p:sp>
      <p:sp>
        <p:nvSpPr>
          <p:cNvPr id="46" name="Card"/>
          <p:cNvSpPr/>
          <p:nvPr/>
        </p:nvSpPr>
        <p:spPr>
          <a:xfrm>
            <a:off x="6031382"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Badge"/>
          <p:cNvSpPr/>
          <p:nvPr/>
        </p:nvSpPr>
        <p:spPr>
          <a:xfrm>
            <a:off x="6387998" y="132588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Icon" descr="image14.png"/>
          <p:cNvPicPr>
            <a:picLocks noChangeAspect="1"/>
          </p:cNvPicPr>
          <p:nvPr/>
        </p:nvPicPr>
        <p:blipFill>
          <a:blip r:embed="rId7"/>
          <a:stretch>
            <a:fillRect/>
          </a:stretch>
        </p:blipFill>
        <p:spPr>
          <a:xfrm>
            <a:off x="6511442" y="1449324"/>
            <a:ext cx="301752" cy="301752"/>
          </a:xfrm>
          <a:prstGeom prst="rect">
            <a:avLst/>
          </a:prstGeom>
        </p:spPr>
      </p:pic>
      <p:sp>
        <p:nvSpPr>
          <p:cNvPr id="49" name="Text"/>
          <p:cNvSpPr txBox="1"/>
          <p:nvPr/>
        </p:nvSpPr>
        <p:spPr>
          <a:xfrm>
            <a:off x="6067958"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Result</a:t>
            </a:r>
          </a:p>
        </p:txBody>
      </p:sp>
      <p:sp>
        <p:nvSpPr>
          <p:cNvPr id="50" name="Text"/>
          <p:cNvSpPr txBox="1"/>
          <p:nvPr/>
        </p:nvSpPr>
        <p:spPr>
          <a:xfrm>
            <a:off x="6122822" y="2377440"/>
            <a:ext cx="1078992" cy="868680"/>
          </a:xfrm>
          <a:prstGeom prst="rect">
            <a:avLst/>
          </a:prstGeom>
          <a:noFill/>
        </p:spPr>
        <p:txBody>
          <a:bodyPr wrap="square" lIns="0" tIns="0" rIns="0" bIns="0" anchor="t">
            <a:spAutoFit/>
          </a:bodyPr>
          <a:lstStyle/>
          <a:p>
            <a:pPr algn="ctr"/>
            <a:r>
              <a:rPr sz="1300" b="0" i="0">
                <a:solidFill>
                  <a:schemeClr val="tx1"/>
                </a:solidFill>
              </a:rPr>
              <a:t>What happens because of it?</a:t>
            </a:r>
          </a:p>
        </p:txBody>
      </p:sp>
      <p:sp>
        <p:nvSpPr>
          <p:cNvPr id="51" name="Card"/>
          <p:cNvSpPr/>
          <p:nvPr/>
        </p:nvSpPr>
        <p:spPr>
          <a:xfrm>
            <a:off x="7424927" y="1188720"/>
            <a:ext cx="1261872" cy="219456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adge"/>
          <p:cNvSpPr/>
          <p:nvPr/>
        </p:nvSpPr>
        <p:spPr>
          <a:xfrm>
            <a:off x="7781543" y="1325880"/>
            <a:ext cx="548640" cy="54864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Icon" descr="image10.png"/>
          <p:cNvPicPr>
            <a:picLocks noChangeAspect="1"/>
          </p:cNvPicPr>
          <p:nvPr/>
        </p:nvPicPr>
        <p:blipFill>
          <a:blip r:embed="rId8"/>
          <a:stretch>
            <a:fillRect/>
          </a:stretch>
        </p:blipFill>
        <p:spPr>
          <a:xfrm>
            <a:off x="7904988" y="1449324"/>
            <a:ext cx="301752" cy="301752"/>
          </a:xfrm>
          <a:prstGeom prst="rect">
            <a:avLst/>
          </a:prstGeom>
        </p:spPr>
      </p:pic>
      <p:sp>
        <p:nvSpPr>
          <p:cNvPr id="54" name="Text"/>
          <p:cNvSpPr txBox="1"/>
          <p:nvPr/>
        </p:nvSpPr>
        <p:spPr>
          <a:xfrm>
            <a:off x="7461503" y="1965960"/>
            <a:ext cx="1188719" cy="365760"/>
          </a:xfrm>
          <a:prstGeom prst="rect">
            <a:avLst/>
          </a:prstGeom>
          <a:noFill/>
        </p:spPr>
        <p:txBody>
          <a:bodyPr wrap="square" lIns="0" tIns="0" rIns="0" bIns="0" anchor="ctr">
            <a:spAutoFit/>
          </a:bodyPr>
          <a:lstStyle/>
          <a:p>
            <a:pPr algn="ctr"/>
            <a:r>
              <a:rPr sz="1500" b="1" i="0">
                <a:solidFill>
                  <a:schemeClr val="tx2"/>
                </a:solidFill>
                <a:latin typeface="Cambria"/>
                <a:ea typeface="Cambria"/>
                <a:cs typeface="Cambria"/>
              </a:rPr>
              <a:t>Moral</a:t>
            </a:r>
          </a:p>
        </p:txBody>
      </p:sp>
      <p:sp>
        <p:nvSpPr>
          <p:cNvPr id="55" name="Text"/>
          <p:cNvSpPr txBox="1"/>
          <p:nvPr/>
        </p:nvSpPr>
        <p:spPr>
          <a:xfrm>
            <a:off x="7516367" y="2377440"/>
            <a:ext cx="1078992" cy="868680"/>
          </a:xfrm>
          <a:prstGeom prst="rect">
            <a:avLst/>
          </a:prstGeom>
          <a:noFill/>
        </p:spPr>
        <p:txBody>
          <a:bodyPr wrap="square" lIns="0" tIns="0" rIns="0" bIns="0" anchor="t">
            <a:spAutoFit/>
          </a:bodyPr>
          <a:lstStyle/>
          <a:p>
            <a:pPr algn="ctr"/>
            <a:r>
              <a:rPr sz="1300" b="0" i="0">
                <a:solidFill>
                  <a:schemeClr val="tx1"/>
                </a:solidFill>
              </a:rPr>
              <a:t>What do we learn?</a:t>
            </a:r>
          </a:p>
        </p:txBody>
      </p:sp>
      <p:sp>
        <p:nvSpPr>
          <p:cNvPr id="56" name="Banner"/>
          <p:cNvSpPr/>
          <p:nvPr/>
        </p:nvSpPr>
        <p:spPr>
          <a:xfrm>
            <a:off x="457200" y="361188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Banner text"/>
          <p:cNvSpPr txBox="1"/>
          <p:nvPr/>
        </p:nvSpPr>
        <p:spPr>
          <a:xfrm>
            <a:off x="640080" y="3611880"/>
            <a:ext cx="7863840" cy="502920"/>
          </a:xfrm>
          <a:prstGeom prst="rect">
            <a:avLst/>
          </a:prstGeom>
          <a:noFill/>
        </p:spPr>
        <p:txBody>
          <a:bodyPr wrap="square" lIns="0" tIns="0" rIns="0" bIns="0" anchor="ctr">
            <a:spAutoFit/>
          </a:bodyPr>
          <a:lstStyle/>
          <a:p>
            <a:pPr algn="l"/>
            <a:r>
              <a:rPr sz="1600" b="1" i="0">
                <a:solidFill>
                  <a:schemeClr val="accent1"/>
                </a:solidFill>
              </a:rPr>
              <a:t>Today: </a:t>
            </a:r>
            <a:r>
              <a:rPr sz="1600" b="1" i="0">
                <a:solidFill>
                  <a:schemeClr val="tx2"/>
                </a:solidFill>
              </a:rPr>
              <a:t>meeting, dialogue, reaction, choice. It all follows from the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Quick recap: Paragraphs 1 and 2</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In Paragraphs 1 and 2, we wrote…</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ck text"/>
          <p:cNvSpPr txBox="1"/>
          <p:nvPr/>
        </p:nvSpPr>
        <p:spPr>
          <a:xfrm>
            <a:off x="1097280" y="1764792"/>
            <a:ext cx="4160520" cy="384048"/>
          </a:xfrm>
          <a:prstGeom prst="rect">
            <a:avLst/>
          </a:prstGeom>
          <a:noFill/>
        </p:spPr>
        <p:txBody>
          <a:bodyPr wrap="square" lIns="0" tIns="0" rIns="0" bIns="0" anchor="ctr">
            <a:spAutoFit/>
          </a:bodyPr>
          <a:lstStyle/>
          <a:p>
            <a:pPr algn="l"/>
            <a:r>
              <a:rPr sz="1400" b="0" i="0">
                <a:solidFill>
                  <a:schemeClr val="tx1"/>
                </a:solidFill>
              </a:rPr>
              <a:t>a trait shown by what the character does</a:t>
            </a:r>
          </a:p>
        </p:txBody>
      </p:sp>
      <p:sp>
        <p:nvSpPr>
          <p:cNvPr id="30" name="Checkbox"/>
          <p:cNvSpPr/>
          <p:nvPr/>
        </p:nvSpPr>
        <p:spPr>
          <a:xfrm>
            <a:off x="685800" y="2286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ck text"/>
          <p:cNvSpPr txBox="1"/>
          <p:nvPr/>
        </p:nvSpPr>
        <p:spPr>
          <a:xfrm>
            <a:off x="1097280" y="2221992"/>
            <a:ext cx="4160520" cy="384048"/>
          </a:xfrm>
          <a:prstGeom prst="rect">
            <a:avLst/>
          </a:prstGeom>
          <a:noFill/>
        </p:spPr>
        <p:txBody>
          <a:bodyPr wrap="square" lIns="0" tIns="0" rIns="0" bIns="0" anchor="ctr">
            <a:spAutoFit/>
          </a:bodyPr>
          <a:lstStyle/>
          <a:p>
            <a:pPr algn="l"/>
            <a:r>
              <a:rPr sz="1400" b="0" i="0">
                <a:solidFill>
                  <a:schemeClr val="tx1"/>
                </a:solidFill>
              </a:rPr>
              <a:t>because or so, linking the trait to the problem</a:t>
            </a:r>
          </a:p>
        </p:txBody>
      </p:sp>
      <p:sp>
        <p:nvSpPr>
          <p:cNvPr id="32" name="Checkbox"/>
          <p:cNvSpPr/>
          <p:nvPr/>
        </p:nvSpPr>
        <p:spPr>
          <a:xfrm>
            <a:off x="685800" y="2743200"/>
            <a:ext cx="256032" cy="256032"/>
          </a:xfrm>
          <a:prstGeom prst="roundRect">
            <a:avLst>
              <a:gd name="adj" fmla="val 20000"/>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ck text"/>
          <p:cNvSpPr txBox="1"/>
          <p:nvPr/>
        </p:nvSpPr>
        <p:spPr>
          <a:xfrm>
            <a:off x="1097280" y="2679192"/>
            <a:ext cx="4160520" cy="384048"/>
          </a:xfrm>
          <a:prstGeom prst="rect">
            <a:avLst/>
          </a:prstGeom>
          <a:noFill/>
        </p:spPr>
        <p:txBody>
          <a:bodyPr wrap="square" lIns="0" tIns="0" rIns="0" bIns="0" anchor="ctr">
            <a:spAutoFit/>
          </a:bodyPr>
          <a:lstStyle/>
          <a:p>
            <a:pPr algn="l"/>
            <a:r>
              <a:rPr sz="1400" b="1" i="0">
                <a:solidFill>
                  <a:schemeClr val="accent6"/>
                </a:solidFill>
              </a:rPr>
              <a:t>a problem that came from the trait</a:t>
            </a:r>
          </a:p>
        </p:txBody>
      </p:sp>
      <p:sp>
        <p:nvSpPr>
          <p:cNvPr id="34" name="Checkbox"/>
          <p:cNvSpPr/>
          <p:nvPr/>
        </p:nvSpPr>
        <p:spPr>
          <a:xfrm>
            <a:off x="685800" y="32004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ck text"/>
          <p:cNvSpPr txBox="1"/>
          <p:nvPr/>
        </p:nvSpPr>
        <p:spPr>
          <a:xfrm>
            <a:off x="1097280" y="3136392"/>
            <a:ext cx="4160520" cy="384048"/>
          </a:xfrm>
          <a:prstGeom prst="rect">
            <a:avLst/>
          </a:prstGeom>
          <a:noFill/>
        </p:spPr>
        <p:txBody>
          <a:bodyPr wrap="square" lIns="0" tIns="0" rIns="0" bIns="0" anchor="ctr">
            <a:spAutoFit/>
          </a:bodyPr>
          <a:lstStyle/>
          <a:p>
            <a:pPr algn="l"/>
            <a:r>
              <a:rPr sz="1400" b="0" i="0">
                <a:solidFill>
                  <a:schemeClr val="tx1"/>
                </a:solidFill>
              </a:rPr>
              <a:t>an Event 1 that made it worse</a:t>
            </a:r>
          </a:p>
        </p:txBody>
      </p:sp>
      <p:sp>
        <p:nvSpPr>
          <p:cNvPr id="36" name="Checkbox"/>
          <p:cNvSpPr/>
          <p:nvPr/>
        </p:nvSpPr>
        <p:spPr>
          <a:xfrm>
            <a:off x="685800" y="36576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heck text"/>
          <p:cNvSpPr txBox="1"/>
          <p:nvPr/>
        </p:nvSpPr>
        <p:spPr>
          <a:xfrm>
            <a:off x="1097280" y="3593592"/>
            <a:ext cx="4160520" cy="384048"/>
          </a:xfrm>
          <a:prstGeom prst="rect">
            <a:avLst/>
          </a:prstGeom>
          <a:noFill/>
        </p:spPr>
        <p:txBody>
          <a:bodyPr wrap="square" lIns="0" tIns="0" rIns="0" bIns="0" anchor="ctr">
            <a:spAutoFit/>
          </a:bodyPr>
          <a:lstStyle/>
          <a:p>
            <a:pPr algn="l"/>
            <a:r>
              <a:rPr sz="1400" b="0" i="0">
                <a:solidFill>
                  <a:schemeClr val="tx1"/>
                </a:solidFill>
              </a:rPr>
              <a:t>an ending that stopped before the big choice</a:t>
            </a:r>
          </a:p>
        </p:txBody>
      </p:sp>
      <p:sp>
        <p:nvSpPr>
          <p:cNvPr id="38" name="Timer card"/>
          <p:cNvSpPr/>
          <p:nvPr/>
        </p:nvSpPr>
        <p:spPr>
          <a:xfrm>
            <a:off x="5669280" y="1188720"/>
            <a:ext cx="3017520" cy="3337560"/>
          </a:xfrm>
          <a:prstGeom prst="roundRect">
            <a:avLst>
              <a:gd name="adj" fmla="val 4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1</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Say your problem in one line: “My character is ___, so ___.” Today someone arrives to make it harder.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Four parts of Paragraph 3</a:t>
            </a:r>
          </a:p>
        </p:txBody>
      </p:sp>
      <p:sp>
        <p:nvSpPr>
          <p:cNvPr id="3" name="Badge"/>
          <p:cNvSpPr/>
          <p:nvPr/>
        </p:nvSpPr>
        <p:spPr>
          <a:xfrm>
            <a:off x="7955279" y="274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5</a:t>
            </a:fld>
            <a:endParaRPr lang="en-US"/>
          </a:p>
        </p:txBody>
      </p:sp>
      <p:sp>
        <p:nvSpPr>
          <p:cNvPr id="26" name="Card"/>
          <p:cNvSpPr/>
          <p:nvPr/>
        </p:nvSpPr>
        <p:spPr>
          <a:xfrm>
            <a:off x="457200" y="1188720"/>
            <a:ext cx="192024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088136" y="1298448"/>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3.png"/>
          <p:cNvPicPr>
            <a:picLocks noChangeAspect="1"/>
          </p:cNvPicPr>
          <p:nvPr/>
        </p:nvPicPr>
        <p:blipFill>
          <a:blip r:embed="rId4"/>
          <a:stretch>
            <a:fillRect/>
          </a:stretch>
        </p:blipFill>
        <p:spPr>
          <a:xfrm>
            <a:off x="1236268" y="1446580"/>
            <a:ext cx="362102" cy="362102"/>
          </a:xfrm>
          <a:prstGeom prst="rect">
            <a:avLst/>
          </a:prstGeom>
        </p:spPr>
      </p:pic>
      <p:sp>
        <p:nvSpPr>
          <p:cNvPr id="29" name="Text"/>
          <p:cNvSpPr txBox="1"/>
          <p:nvPr/>
        </p:nvSpPr>
        <p:spPr>
          <a:xfrm>
            <a:off x="502920" y="205740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1  Meeting</a:t>
            </a:r>
          </a:p>
        </p:txBody>
      </p:sp>
      <p:sp>
        <p:nvSpPr>
          <p:cNvPr id="30" name="Text"/>
          <p:cNvSpPr txBox="1"/>
          <p:nvPr/>
        </p:nvSpPr>
        <p:spPr>
          <a:xfrm>
            <a:off x="594360" y="2468880"/>
            <a:ext cx="1645920" cy="914400"/>
          </a:xfrm>
          <a:prstGeom prst="rect">
            <a:avLst/>
          </a:prstGeom>
          <a:noFill/>
        </p:spPr>
        <p:txBody>
          <a:bodyPr wrap="square" lIns="0" tIns="0" rIns="0" bIns="0" anchor="t">
            <a:spAutoFit/>
          </a:bodyPr>
          <a:lstStyle/>
          <a:p>
            <a:pPr algn="ctr"/>
            <a:r>
              <a:rPr sz="1400" b="0" i="0">
                <a:solidFill>
                  <a:schemeClr val="tx1"/>
                </a:solidFill>
              </a:rPr>
              <a:t>Someone or something arrives because of the problem.</a:t>
            </a:r>
          </a:p>
        </p:txBody>
      </p:sp>
      <p:sp>
        <p:nvSpPr>
          <p:cNvPr id="31" name="Chevron"/>
          <p:cNvSpPr/>
          <p:nvPr/>
        </p:nvSpPr>
        <p:spPr>
          <a:xfrm>
            <a:off x="2395728" y="2148840"/>
            <a:ext cx="146304" cy="365760"/>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ard"/>
          <p:cNvSpPr/>
          <p:nvPr/>
        </p:nvSpPr>
        <p:spPr>
          <a:xfrm>
            <a:off x="2560320" y="1188720"/>
            <a:ext cx="192024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adge"/>
          <p:cNvSpPr/>
          <p:nvPr/>
        </p:nvSpPr>
        <p:spPr>
          <a:xfrm>
            <a:off x="3191256" y="1298448"/>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on" descr="image5.png"/>
          <p:cNvPicPr>
            <a:picLocks noChangeAspect="1"/>
          </p:cNvPicPr>
          <p:nvPr/>
        </p:nvPicPr>
        <p:blipFill>
          <a:blip r:embed="rId5"/>
          <a:stretch>
            <a:fillRect/>
          </a:stretch>
        </p:blipFill>
        <p:spPr>
          <a:xfrm>
            <a:off x="3339388" y="1446580"/>
            <a:ext cx="362102" cy="362102"/>
          </a:xfrm>
          <a:prstGeom prst="rect">
            <a:avLst/>
          </a:prstGeom>
        </p:spPr>
      </p:pic>
      <p:sp>
        <p:nvSpPr>
          <p:cNvPr id="35" name="Text"/>
          <p:cNvSpPr txBox="1"/>
          <p:nvPr/>
        </p:nvSpPr>
        <p:spPr>
          <a:xfrm>
            <a:off x="2606039" y="205740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2  Dialogue</a:t>
            </a:r>
          </a:p>
        </p:txBody>
      </p:sp>
      <p:sp>
        <p:nvSpPr>
          <p:cNvPr id="36" name="Text"/>
          <p:cNvSpPr txBox="1"/>
          <p:nvPr/>
        </p:nvSpPr>
        <p:spPr>
          <a:xfrm>
            <a:off x="2697479" y="2468880"/>
            <a:ext cx="1645920" cy="914400"/>
          </a:xfrm>
          <a:prstGeom prst="rect">
            <a:avLst/>
          </a:prstGeom>
          <a:noFill/>
        </p:spPr>
        <p:txBody>
          <a:bodyPr wrap="square" lIns="0" tIns="0" rIns="0" bIns="0" anchor="t">
            <a:spAutoFit/>
          </a:bodyPr>
          <a:lstStyle/>
          <a:p>
            <a:pPr algn="ctr"/>
            <a:r>
              <a:rPr sz="1400" b="0" i="0">
                <a:solidFill>
                  <a:schemeClr val="tx1"/>
                </a:solidFill>
              </a:rPr>
              <a:t>One line of speech shows what they want.</a:t>
            </a:r>
          </a:p>
        </p:txBody>
      </p:sp>
      <p:sp>
        <p:nvSpPr>
          <p:cNvPr id="37" name="Chevron"/>
          <p:cNvSpPr/>
          <p:nvPr/>
        </p:nvSpPr>
        <p:spPr>
          <a:xfrm>
            <a:off x="4498848" y="2148840"/>
            <a:ext cx="146304" cy="365760"/>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ard"/>
          <p:cNvSpPr/>
          <p:nvPr/>
        </p:nvSpPr>
        <p:spPr>
          <a:xfrm>
            <a:off x="4663440" y="1188720"/>
            <a:ext cx="192024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dge"/>
          <p:cNvSpPr/>
          <p:nvPr/>
        </p:nvSpPr>
        <p:spPr>
          <a:xfrm>
            <a:off x="5294375" y="1298448"/>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on" descr="image8.png"/>
          <p:cNvPicPr>
            <a:picLocks noChangeAspect="1"/>
          </p:cNvPicPr>
          <p:nvPr/>
        </p:nvPicPr>
        <p:blipFill>
          <a:blip r:embed="rId6"/>
          <a:stretch>
            <a:fillRect/>
          </a:stretch>
        </p:blipFill>
        <p:spPr>
          <a:xfrm>
            <a:off x="5442508" y="1446580"/>
            <a:ext cx="362102" cy="362102"/>
          </a:xfrm>
          <a:prstGeom prst="rect">
            <a:avLst/>
          </a:prstGeom>
        </p:spPr>
      </p:pic>
      <p:sp>
        <p:nvSpPr>
          <p:cNvPr id="41" name="Text"/>
          <p:cNvSpPr txBox="1"/>
          <p:nvPr/>
        </p:nvSpPr>
        <p:spPr>
          <a:xfrm>
            <a:off x="4709159" y="205740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3  Reaction</a:t>
            </a:r>
          </a:p>
        </p:txBody>
      </p:sp>
      <p:sp>
        <p:nvSpPr>
          <p:cNvPr id="42" name="Text"/>
          <p:cNvSpPr txBox="1"/>
          <p:nvPr/>
        </p:nvSpPr>
        <p:spPr>
          <a:xfrm>
            <a:off x="4800600" y="2468880"/>
            <a:ext cx="1645920" cy="914400"/>
          </a:xfrm>
          <a:prstGeom prst="rect">
            <a:avLst/>
          </a:prstGeom>
          <a:noFill/>
        </p:spPr>
        <p:txBody>
          <a:bodyPr wrap="square" lIns="0" tIns="0" rIns="0" bIns="0" anchor="t">
            <a:spAutoFit/>
          </a:bodyPr>
          <a:lstStyle/>
          <a:p>
            <a:pPr algn="ctr"/>
            <a:r>
              <a:rPr sz="1400" b="0" i="0">
                <a:solidFill>
                  <a:schemeClr val="tx1"/>
                </a:solidFill>
              </a:rPr>
              <a:t>Show how your character feels or moves.</a:t>
            </a:r>
          </a:p>
        </p:txBody>
      </p:sp>
      <p:sp>
        <p:nvSpPr>
          <p:cNvPr id="43" name="Chevron"/>
          <p:cNvSpPr/>
          <p:nvPr/>
        </p:nvSpPr>
        <p:spPr>
          <a:xfrm>
            <a:off x="6601968" y="2148840"/>
            <a:ext cx="146304" cy="365760"/>
          </a:xfrm>
          <a:prstGeom prst="chevr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ard"/>
          <p:cNvSpPr/>
          <p:nvPr/>
        </p:nvSpPr>
        <p:spPr>
          <a:xfrm>
            <a:off x="6766559" y="1188720"/>
            <a:ext cx="1920240" cy="2240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Badge"/>
          <p:cNvSpPr/>
          <p:nvPr/>
        </p:nvSpPr>
        <p:spPr>
          <a:xfrm>
            <a:off x="7397496" y="1298448"/>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Icon" descr="image19.png"/>
          <p:cNvPicPr>
            <a:picLocks noChangeAspect="1"/>
          </p:cNvPicPr>
          <p:nvPr/>
        </p:nvPicPr>
        <p:blipFill>
          <a:blip r:embed="rId7"/>
          <a:stretch>
            <a:fillRect/>
          </a:stretch>
        </p:blipFill>
        <p:spPr>
          <a:xfrm>
            <a:off x="7545628" y="1446580"/>
            <a:ext cx="362102" cy="362102"/>
          </a:xfrm>
          <a:prstGeom prst="rect">
            <a:avLst/>
          </a:prstGeom>
        </p:spPr>
      </p:pic>
      <p:sp>
        <p:nvSpPr>
          <p:cNvPr id="47" name="Text"/>
          <p:cNvSpPr txBox="1"/>
          <p:nvPr/>
        </p:nvSpPr>
        <p:spPr>
          <a:xfrm>
            <a:off x="6812279" y="2057400"/>
            <a:ext cx="1828800" cy="365760"/>
          </a:xfrm>
          <a:prstGeom prst="rect">
            <a:avLst/>
          </a:prstGeom>
          <a:noFill/>
        </p:spPr>
        <p:txBody>
          <a:bodyPr wrap="square" lIns="0" tIns="0" rIns="0" bIns="0" anchor="ctr">
            <a:spAutoFit/>
          </a:bodyPr>
          <a:lstStyle/>
          <a:p>
            <a:pPr algn="ctr"/>
            <a:r>
              <a:rPr sz="1800" b="1" i="0">
                <a:solidFill>
                  <a:schemeClr val="tx2"/>
                </a:solidFill>
                <a:latin typeface="Cambria"/>
                <a:ea typeface="Cambria"/>
                <a:cs typeface="Cambria"/>
              </a:rPr>
              <a:t>4  Choice</a:t>
            </a:r>
          </a:p>
        </p:txBody>
      </p:sp>
      <p:sp>
        <p:nvSpPr>
          <p:cNvPr id="48" name="Text"/>
          <p:cNvSpPr txBox="1"/>
          <p:nvPr/>
        </p:nvSpPr>
        <p:spPr>
          <a:xfrm>
            <a:off x="6903720" y="2468880"/>
            <a:ext cx="1645920" cy="914400"/>
          </a:xfrm>
          <a:prstGeom prst="rect">
            <a:avLst/>
          </a:prstGeom>
          <a:noFill/>
        </p:spPr>
        <p:txBody>
          <a:bodyPr wrap="square" lIns="0" tIns="0" rIns="0" bIns="0" anchor="t">
            <a:spAutoFit/>
          </a:bodyPr>
          <a:lstStyle/>
          <a:p>
            <a:pPr algn="ctr"/>
            <a:r>
              <a:rPr sz="1400" b="0" i="0">
                <a:solidFill>
                  <a:schemeClr val="tx1"/>
                </a:solidFill>
              </a:rPr>
              <a:t>What they do shows the trait.</a:t>
            </a:r>
          </a:p>
        </p:txBody>
      </p:sp>
      <p:sp>
        <p:nvSpPr>
          <p:cNvPr id="49" name="Banner"/>
          <p:cNvSpPr/>
          <p:nvPr/>
        </p:nvSpPr>
        <p:spPr>
          <a:xfrm>
            <a:off x="457200" y="361188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Banner text"/>
          <p:cNvSpPr txBox="1"/>
          <p:nvPr/>
        </p:nvSpPr>
        <p:spPr>
          <a:xfrm>
            <a:off x="640080" y="3611880"/>
            <a:ext cx="7863840" cy="502920"/>
          </a:xfrm>
          <a:prstGeom prst="rect">
            <a:avLst/>
          </a:prstGeom>
          <a:noFill/>
        </p:spPr>
        <p:txBody>
          <a:bodyPr wrap="square" lIns="0" tIns="0" rIns="0" bIns="0" anchor="ctr">
            <a:spAutoFit/>
          </a:bodyPr>
          <a:lstStyle/>
          <a:p>
            <a:pPr algn="l"/>
            <a:r>
              <a:rPr sz="1600" b="1" i="0">
                <a:solidFill>
                  <a:schemeClr val="tx2"/>
                </a:solidFill>
              </a:rPr>
              <a:t>Meeting → dialogue → reaction → choice that reveals the trait.</a:t>
            </a:r>
          </a:p>
        </p:txBody>
      </p:sp>
      <p:sp>
        <p:nvSpPr>
          <p:cNvPr id="51" name="Banner"/>
          <p:cNvSpPr/>
          <p:nvPr/>
        </p:nvSpPr>
        <p:spPr>
          <a:xfrm>
            <a:off x="457200" y="4160520"/>
            <a:ext cx="8229600" cy="36576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Banner text"/>
          <p:cNvSpPr txBox="1"/>
          <p:nvPr/>
        </p:nvSpPr>
        <p:spPr>
          <a:xfrm>
            <a:off x="640080" y="4160520"/>
            <a:ext cx="7863840" cy="365760"/>
          </a:xfrm>
          <a:prstGeom prst="rect">
            <a:avLst/>
          </a:prstGeom>
          <a:noFill/>
        </p:spPr>
        <p:txBody>
          <a:bodyPr wrap="square" lIns="0" tIns="0" rIns="0" bIns="0" anchor="ctr">
            <a:spAutoFit/>
          </a:bodyPr>
          <a:lstStyle/>
          <a:p>
            <a:pPr algn="l"/>
            <a:r>
              <a:rPr sz="1400" b="1" i="0">
                <a:solidFill>
                  <a:schemeClr val="bg1"/>
                </a:solidFill>
              </a:rPr>
              <a:t>4 to 6 sentences. Stop before the result.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Model: Geoffrey’s paragraph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
        <p:nvSpPr>
          <p:cNvPr id="26" name="Card"/>
          <p:cNvSpPr/>
          <p:nvPr/>
        </p:nvSpPr>
        <p:spPr>
          <a:xfrm>
            <a:off x="457200" y="1188720"/>
            <a:ext cx="548640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325880"/>
            <a:ext cx="5029200" cy="3063240"/>
          </a:xfrm>
          <a:prstGeom prst="rect">
            <a:avLst/>
          </a:prstGeom>
          <a:noFill/>
        </p:spPr>
        <p:txBody>
          <a:bodyPr wrap="square" lIns="0" tIns="0" rIns="0" bIns="0" anchor="ctr">
            <a:spAutoFit/>
          </a:bodyPr>
          <a:lstStyle/>
          <a:p>
            <a:pPr algn="l"/>
            <a:r>
              <a:rPr sz="1700" b="1" i="0">
                <a:solidFill>
                  <a:schemeClr val="accent1"/>
                </a:solidFill>
                <a:latin typeface="Cambria"/>
                <a:ea typeface="Cambria"/>
                <a:cs typeface="Cambria"/>
              </a:rPr>
              <a:t>Weak and shivering, Geoffrey stumbled across the frosty field. Suddenly, Auntie Anthea stepped out from behind a stone and licked her lips. </a:t>
            </a:r>
            <a:r>
              <a:rPr sz="1700" b="1" i="0">
                <a:solidFill>
                  <a:schemeClr val="accent4"/>
                </a:solidFill>
                <a:latin typeface="Cambria"/>
                <a:ea typeface="Cambria"/>
                <a:cs typeface="Cambria"/>
              </a:rPr>
              <a:t>“You look like a tasty supper,” said Auntie Anthea. </a:t>
            </a:r>
            <a:r>
              <a:rPr sz="1700" b="1" i="0">
                <a:solidFill>
                  <a:schemeClr val="accent5"/>
                </a:solidFill>
                <a:latin typeface="Cambria"/>
                <a:ea typeface="Cambria"/>
                <a:cs typeface="Cambria"/>
              </a:rPr>
              <a:t>Geoffrey’s knees shook. </a:t>
            </a:r>
            <a:r>
              <a:rPr sz="1700" b="1" i="0">
                <a:solidFill>
                  <a:schemeClr val="accent3"/>
                </a:solidFill>
                <a:latin typeface="Cambria"/>
                <a:ea typeface="Cambria"/>
                <a:cs typeface="Cambria"/>
              </a:rPr>
              <a:t>Instead of running, he closed his eyes and began to sing, as if he were far away in a dream.</a:t>
            </a:r>
          </a:p>
        </p:txBody>
      </p:sp>
      <p:sp>
        <p:nvSpPr>
          <p:cNvPr id="28" name="Key dot"/>
          <p:cNvSpPr/>
          <p:nvPr/>
        </p:nvSpPr>
        <p:spPr>
          <a:xfrm>
            <a:off x="6172200" y="1335024"/>
            <a:ext cx="182880" cy="1828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6492240" y="1280160"/>
            <a:ext cx="2194560" cy="274320"/>
          </a:xfrm>
          <a:prstGeom prst="rect">
            <a:avLst/>
          </a:prstGeom>
          <a:noFill/>
        </p:spPr>
        <p:txBody>
          <a:bodyPr wrap="square" lIns="0" tIns="0" rIns="0" bIns="0" anchor="t">
            <a:spAutoFit/>
          </a:bodyPr>
          <a:lstStyle/>
          <a:p>
            <a:pPr algn="l"/>
            <a:r>
              <a:rPr sz="1500" b="1" i="0">
                <a:solidFill>
                  <a:schemeClr val="tx2"/>
                </a:solidFill>
              </a:rPr>
              <a:t>1  Meeting</a:t>
            </a:r>
          </a:p>
        </p:txBody>
      </p:sp>
      <p:sp>
        <p:nvSpPr>
          <p:cNvPr id="30" name="Text"/>
          <p:cNvSpPr txBox="1"/>
          <p:nvPr/>
        </p:nvSpPr>
        <p:spPr>
          <a:xfrm>
            <a:off x="6492240" y="1554480"/>
            <a:ext cx="2194560" cy="457200"/>
          </a:xfrm>
          <a:prstGeom prst="rect">
            <a:avLst/>
          </a:prstGeom>
          <a:noFill/>
        </p:spPr>
        <p:txBody>
          <a:bodyPr wrap="square" lIns="0" tIns="0" rIns="0" bIns="0" anchor="t">
            <a:spAutoFit/>
          </a:bodyPr>
          <a:lstStyle/>
          <a:p>
            <a:pPr algn="l"/>
            <a:r>
              <a:rPr sz="1300" b="0" i="0">
                <a:solidFill>
                  <a:schemeClr val="tx1"/>
                </a:solidFill>
              </a:rPr>
              <a:t>Links to his problem: weak and cold</a:t>
            </a:r>
          </a:p>
        </p:txBody>
      </p:sp>
      <p:sp>
        <p:nvSpPr>
          <p:cNvPr id="31" name="Key dot"/>
          <p:cNvSpPr/>
          <p:nvPr/>
        </p:nvSpPr>
        <p:spPr>
          <a:xfrm>
            <a:off x="6172200" y="2157984"/>
            <a:ext cx="182880" cy="18288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92240" y="2103120"/>
            <a:ext cx="2194560" cy="274320"/>
          </a:xfrm>
          <a:prstGeom prst="rect">
            <a:avLst/>
          </a:prstGeom>
          <a:noFill/>
        </p:spPr>
        <p:txBody>
          <a:bodyPr wrap="square" lIns="0" tIns="0" rIns="0" bIns="0" anchor="t">
            <a:spAutoFit/>
          </a:bodyPr>
          <a:lstStyle/>
          <a:p>
            <a:pPr algn="l"/>
            <a:r>
              <a:rPr sz="1500" b="1" i="0">
                <a:solidFill>
                  <a:schemeClr val="tx2"/>
                </a:solidFill>
              </a:rPr>
              <a:t>2  Dialogue</a:t>
            </a:r>
          </a:p>
        </p:txBody>
      </p:sp>
      <p:sp>
        <p:nvSpPr>
          <p:cNvPr id="33" name="Text"/>
          <p:cNvSpPr txBox="1"/>
          <p:nvPr/>
        </p:nvSpPr>
        <p:spPr>
          <a:xfrm>
            <a:off x="6492240" y="2377439"/>
            <a:ext cx="2194560" cy="457200"/>
          </a:xfrm>
          <a:prstGeom prst="rect">
            <a:avLst/>
          </a:prstGeom>
          <a:noFill/>
        </p:spPr>
        <p:txBody>
          <a:bodyPr wrap="square" lIns="0" tIns="0" rIns="0" bIns="0" anchor="t">
            <a:spAutoFit/>
          </a:bodyPr>
          <a:lstStyle/>
          <a:p>
            <a:pPr algn="l"/>
            <a:r>
              <a:rPr sz="1300" b="0" i="0">
                <a:solidFill>
                  <a:schemeClr val="tx1"/>
                </a:solidFill>
              </a:rPr>
              <a:t>Shows what Anthea wants</a:t>
            </a:r>
          </a:p>
        </p:txBody>
      </p:sp>
      <p:sp>
        <p:nvSpPr>
          <p:cNvPr id="34" name="Key dot"/>
          <p:cNvSpPr/>
          <p:nvPr/>
        </p:nvSpPr>
        <p:spPr>
          <a:xfrm>
            <a:off x="6172200" y="2980944"/>
            <a:ext cx="182880" cy="18288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6492240" y="2926080"/>
            <a:ext cx="2194560" cy="274320"/>
          </a:xfrm>
          <a:prstGeom prst="rect">
            <a:avLst/>
          </a:prstGeom>
          <a:noFill/>
        </p:spPr>
        <p:txBody>
          <a:bodyPr wrap="square" lIns="0" tIns="0" rIns="0" bIns="0" anchor="t">
            <a:spAutoFit/>
          </a:bodyPr>
          <a:lstStyle/>
          <a:p>
            <a:pPr algn="l"/>
            <a:r>
              <a:rPr sz="1500" b="1" i="0">
                <a:solidFill>
                  <a:schemeClr val="tx2"/>
                </a:solidFill>
              </a:rPr>
              <a:t>3  Reaction</a:t>
            </a:r>
          </a:p>
        </p:txBody>
      </p:sp>
      <p:sp>
        <p:nvSpPr>
          <p:cNvPr id="36" name="Text"/>
          <p:cNvSpPr txBox="1"/>
          <p:nvPr/>
        </p:nvSpPr>
        <p:spPr>
          <a:xfrm>
            <a:off x="6492240" y="3200400"/>
            <a:ext cx="2194560" cy="457200"/>
          </a:xfrm>
          <a:prstGeom prst="rect">
            <a:avLst/>
          </a:prstGeom>
          <a:noFill/>
        </p:spPr>
        <p:txBody>
          <a:bodyPr wrap="square" lIns="0" tIns="0" rIns="0" bIns="0" anchor="t">
            <a:spAutoFit/>
          </a:bodyPr>
          <a:lstStyle/>
          <a:p>
            <a:pPr algn="l"/>
            <a:r>
              <a:rPr sz="1300" b="0" i="0">
                <a:solidFill>
                  <a:schemeClr val="tx1"/>
                </a:solidFill>
              </a:rPr>
              <a:t>Shows how he feels</a:t>
            </a:r>
          </a:p>
        </p:txBody>
      </p:sp>
      <p:sp>
        <p:nvSpPr>
          <p:cNvPr id="37" name="Key dot"/>
          <p:cNvSpPr/>
          <p:nvPr/>
        </p:nvSpPr>
        <p:spPr>
          <a:xfrm>
            <a:off x="6172200" y="3803903"/>
            <a:ext cx="182880" cy="1828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6492240" y="3749039"/>
            <a:ext cx="2194560" cy="274320"/>
          </a:xfrm>
          <a:prstGeom prst="rect">
            <a:avLst/>
          </a:prstGeom>
          <a:noFill/>
        </p:spPr>
        <p:txBody>
          <a:bodyPr wrap="square" lIns="0" tIns="0" rIns="0" bIns="0" anchor="t">
            <a:spAutoFit/>
          </a:bodyPr>
          <a:lstStyle/>
          <a:p>
            <a:pPr algn="l"/>
            <a:r>
              <a:rPr sz="1500" b="1" i="0">
                <a:solidFill>
                  <a:schemeClr val="tx2"/>
                </a:solidFill>
              </a:rPr>
              <a:t>4  Choice</a:t>
            </a:r>
          </a:p>
        </p:txBody>
      </p:sp>
      <p:sp>
        <p:nvSpPr>
          <p:cNvPr id="39" name="Text"/>
          <p:cNvSpPr txBox="1"/>
          <p:nvPr/>
        </p:nvSpPr>
        <p:spPr>
          <a:xfrm>
            <a:off x="6492240" y="4023359"/>
            <a:ext cx="2194560" cy="457200"/>
          </a:xfrm>
          <a:prstGeom prst="rect">
            <a:avLst/>
          </a:prstGeom>
          <a:noFill/>
        </p:spPr>
        <p:txBody>
          <a:bodyPr wrap="square" lIns="0" tIns="0" rIns="0" bIns="0" anchor="t">
            <a:spAutoFit/>
          </a:bodyPr>
          <a:lstStyle/>
          <a:p>
            <a:pPr algn="l"/>
            <a:r>
              <a:rPr sz="1300" b="0" i="0">
                <a:solidFill>
                  <a:schemeClr val="tx1"/>
                </a:solidFill>
              </a:rPr>
              <a:t>Shows he is dreamy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Link meeting to problem</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NOT LINKED</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000" b="1" i="0">
                <a:solidFill>
                  <a:schemeClr val="tx1"/>
                </a:solidFill>
                <a:latin typeface="Cambria"/>
                <a:ea typeface="Cambria"/>
                <a:cs typeface="Cambria"/>
              </a:rPr>
              <a:t>One sunny day, Geoffrey saw a butterfly.</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LINKED TO THE PROBLEM</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500" b="1" i="0">
                <a:solidFill>
                  <a:schemeClr val="tx1"/>
                </a:solidFill>
                <a:latin typeface="Cambria"/>
                <a:ea typeface="Cambria"/>
                <a:cs typeface="Cambria"/>
              </a:rPr>
              <a:t>Weak and shivering, Geoffrey stumbled across the frosty field. Suddenly, Auntie Anthea stepped out from behind a stone and licked her lips.</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A meeting grows out of the problem. It makes things harder for the character.</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which words link the meeting to Geoffrey’s problem?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Answers: the linking words</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8</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500" b="1" i="0">
                <a:solidFill>
                  <a:schemeClr val="tx1"/>
                </a:solidFill>
              </a:rPr>
              <a:t>“Weak and shivering”  </a:t>
            </a:r>
            <a:r>
              <a:rPr sz="1500" b="0" i="0">
                <a:solidFill>
                  <a:schemeClr val="tx1"/>
                </a:solidFill>
              </a:rPr>
              <a:t>His problem has left him with no strength to escape.</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500" b="1" i="0">
                <a:solidFill>
                  <a:schemeClr val="tx1"/>
                </a:solidFill>
              </a:rPr>
              <a:t>“Frosty field”  </a:t>
            </a:r>
            <a:r>
              <a:rPr sz="1500" b="0" i="0">
                <a:solidFill>
                  <a:schemeClr val="tx1"/>
                </a:solidFill>
              </a:rPr>
              <a:t>He is cold, tired and out in the open.</a:t>
            </a:r>
          </a:p>
        </p:txBody>
      </p:sp>
      <p:sp>
        <p:nvSpPr>
          <p:cNvPr id="34" name="Row"/>
          <p:cNvSpPr/>
          <p:nvPr/>
        </p:nvSpPr>
        <p:spPr>
          <a:xfrm>
            <a:off x="457200" y="2889504"/>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0906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163824"/>
            <a:ext cx="182880" cy="182880"/>
          </a:xfrm>
          <a:prstGeom prst="rect">
            <a:avLst/>
          </a:prstGeom>
        </p:spPr>
      </p:pic>
      <p:sp>
        <p:nvSpPr>
          <p:cNvPr id="37" name="Row text"/>
          <p:cNvSpPr txBox="1"/>
          <p:nvPr/>
        </p:nvSpPr>
        <p:spPr>
          <a:xfrm>
            <a:off x="1143000" y="2889504"/>
            <a:ext cx="7360920" cy="731520"/>
          </a:xfrm>
          <a:prstGeom prst="rect">
            <a:avLst/>
          </a:prstGeom>
          <a:noFill/>
        </p:spPr>
        <p:txBody>
          <a:bodyPr wrap="square" lIns="0" tIns="0" rIns="0" bIns="0" anchor="ctr">
            <a:spAutoFit/>
          </a:bodyPr>
          <a:lstStyle/>
          <a:p>
            <a:pPr algn="l"/>
            <a:r>
              <a:rPr sz="1500" b="1" i="0">
                <a:solidFill>
                  <a:schemeClr val="tx1"/>
                </a:solidFill>
              </a:rPr>
              <a:t>“Licked her lips”  </a:t>
            </a:r>
            <a:r>
              <a:rPr sz="1500" b="0" i="0">
                <a:solidFill>
                  <a:schemeClr val="tx1"/>
                </a:solidFill>
              </a:rPr>
              <a:t>Anthea is hungry, and Geoffrey is easy to catch.</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The meeting follows from the problem. That is why it matters.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Plan your meeting</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4.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
        <p:nvSpPr>
          <p:cNvPr id="26" name="Card"/>
          <p:cNvSpPr/>
          <p:nvPr/>
        </p:nvSpPr>
        <p:spPr>
          <a:xfrm>
            <a:off x="457200" y="1188720"/>
            <a:ext cx="3657600" cy="2011680"/>
          </a:xfrm>
          <a:prstGeom prst="roundRect">
            <a:avLst>
              <a:gd name="adj" fmla="val 5500"/>
            </a:avLst>
          </a:prstGeom>
          <a:solidFill>
            <a:schemeClr val="accent1">
              <a:alpha val="12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YOUR TURN</a:t>
            </a:r>
          </a:p>
        </p:txBody>
      </p:sp>
      <p:sp>
        <p:nvSpPr>
          <p:cNvPr id="29" name="Text"/>
          <p:cNvSpPr txBox="1"/>
          <p:nvPr/>
        </p:nvSpPr>
        <p:spPr>
          <a:xfrm>
            <a:off x="640080" y="1737360"/>
            <a:ext cx="3291840" cy="1371600"/>
          </a:xfrm>
          <a:prstGeom prst="rect">
            <a:avLst/>
          </a:prstGeom>
          <a:noFill/>
        </p:spPr>
        <p:txBody>
          <a:bodyPr wrap="square" lIns="0" tIns="0" rIns="0" bIns="0" anchor="ctr">
            <a:spAutoFit/>
          </a:bodyPr>
          <a:lstStyle/>
          <a:p>
            <a:pPr algn="l"/>
            <a:r>
              <a:rPr sz="1900" b="1" i="0">
                <a:solidFill>
                  <a:schemeClr val="tx1"/>
                </a:solidFill>
                <a:latin typeface="Cambria"/>
                <a:ea typeface="Cambria"/>
                <a:cs typeface="Cambria"/>
              </a:rPr>
              <a:t>Who or what could my character meet because of the problem?</a:t>
            </a:r>
          </a:p>
        </p:txBody>
      </p:sp>
      <p:sp>
        <p:nvSpPr>
          <p:cNvPr id="30" name="Card"/>
          <p:cNvSpPr/>
          <p:nvPr/>
        </p:nvSpPr>
        <p:spPr>
          <a:xfrm>
            <a:off x="5029200" y="1188720"/>
            <a:ext cx="3657600" cy="2011680"/>
          </a:xfrm>
          <a:prstGeom prst="roundRect">
            <a:avLst>
              <a:gd name="adj" fmla="val 5500"/>
            </a:avLst>
          </a:prstGeom>
          <a:solidFill>
            <a:schemeClr val="accent4">
              <a:alpha val="12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46304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463040" cy="292608"/>
          </a:xfrm>
          <a:prstGeom prst="rect">
            <a:avLst/>
          </a:prstGeom>
          <a:noFill/>
        </p:spPr>
        <p:txBody>
          <a:bodyPr wrap="square" lIns="0" tIns="0" rIns="0" bIns="0" anchor="ctr">
            <a:spAutoFit/>
          </a:bodyPr>
          <a:lstStyle/>
          <a:p>
            <a:pPr algn="ctr"/>
            <a:r>
              <a:rPr sz="1200" b="1" i="0">
                <a:solidFill>
                  <a:schemeClr val="bg1"/>
                </a:solidFill>
              </a:rPr>
              <a:t>THINK FIRST</a:t>
            </a:r>
          </a:p>
        </p:txBody>
      </p:sp>
      <p:sp>
        <p:nvSpPr>
          <p:cNvPr id="33" name="Text"/>
          <p:cNvSpPr txBox="1"/>
          <p:nvPr/>
        </p:nvSpPr>
        <p:spPr>
          <a:xfrm>
            <a:off x="5212080" y="1737360"/>
            <a:ext cx="3291840" cy="1371600"/>
          </a:xfrm>
          <a:prstGeom prst="rect">
            <a:avLst/>
          </a:prstGeom>
          <a:noFill/>
        </p:spPr>
        <p:txBody>
          <a:bodyPr wrap="square" lIns="0" tIns="0" rIns="0" bIns="0" anchor="ctr">
            <a:spAutoFit/>
          </a:bodyPr>
          <a:lstStyle/>
          <a:p>
            <a:pPr algn="l"/>
            <a:r>
              <a:rPr sz="1700" b="1" i="0">
                <a:solidFill>
                  <a:schemeClr val="tx1"/>
                </a:solidFill>
                <a:latin typeface="Cambria"/>
                <a:ea typeface="Cambria"/>
                <a:cs typeface="Cambria"/>
              </a:rPr>
              <a:t>What is my problem? How could someone or something make it harder?</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The meeting must follow from the problem.</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write two ideas. Show your partner. 2 minutes.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Add a line of dialogue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TELL</a:t>
            </a:r>
          </a:p>
        </p:txBody>
      </p:sp>
      <p:sp>
        <p:nvSpPr>
          <p:cNvPr id="29" name="Left text"/>
          <p:cNvSpPr txBox="1"/>
          <p:nvPr/>
        </p:nvSpPr>
        <p:spPr>
          <a:xfrm>
            <a:off x="457200" y="2148840"/>
            <a:ext cx="3828158" cy="369332"/>
          </a:xfrm>
          <a:prstGeom prst="rect">
            <a:avLst/>
          </a:prstGeom>
          <a:noFill/>
        </p:spPr>
        <p:txBody>
          <a:bodyPr wrap="square" lIns="0" tIns="0" rIns="0" bIns="0" anchor="ctr">
            <a:spAutoFit/>
          </a:bodyPr>
          <a:lstStyle/>
          <a:p>
            <a:pPr algn="l"/>
            <a:r>
              <a:rPr sz="2400" b="1" i="0" dirty="0">
                <a:solidFill>
                  <a:schemeClr val="tx1"/>
                </a:solidFill>
                <a:latin typeface="Cambria"/>
                <a:ea typeface="Cambria"/>
                <a:cs typeface="Cambria"/>
              </a:rPr>
              <a:t>Auntie Anthea was hungry.</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SHOW</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900" b="1" i="0">
                <a:solidFill>
                  <a:schemeClr val="tx1"/>
                </a:solidFill>
                <a:latin typeface="Cambria"/>
                <a:ea typeface="Cambria"/>
                <a:cs typeface="Cambria"/>
              </a:rPr>
              <a:t>“You look like a tasty supper,” said Auntie Anthea.</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Dialogue shows what a character wants, feels or thinks.</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write a different line Auntie Anthea could say.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Answers: Anthea speaks</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“Come a little closer, my dear,” purred Auntie Anthea.</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Auntie Anthea whispered, “You are just in time for dinner.”</a:t>
            </a:r>
          </a:p>
        </p:txBody>
      </p:sp>
      <p:sp>
        <p:nvSpPr>
          <p:cNvPr id="34" name="Row"/>
          <p:cNvSpPr/>
          <p:nvPr/>
        </p:nvSpPr>
        <p:spPr>
          <a:xfrm>
            <a:off x="457200" y="2889504"/>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0906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163824"/>
            <a:ext cx="182880" cy="182880"/>
          </a:xfrm>
          <a:prstGeom prst="rect">
            <a:avLst/>
          </a:prstGeom>
        </p:spPr>
      </p:pic>
      <p:sp>
        <p:nvSpPr>
          <p:cNvPr id="37" name="Row text"/>
          <p:cNvSpPr txBox="1"/>
          <p:nvPr/>
        </p:nvSpPr>
        <p:spPr>
          <a:xfrm>
            <a:off x="1143000" y="2889504"/>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“Where are you going, little one?” asked Auntie Anthea.</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The words sound sly. We do not need the word sly.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Two ways to write dialogue</a:t>
            </a:r>
          </a:p>
        </p:txBody>
      </p:sp>
      <p:sp>
        <p:nvSpPr>
          <p:cNvPr id="3" name="Badge"/>
          <p:cNvSpPr/>
          <p:nvPr/>
        </p:nvSpPr>
        <p:spPr>
          <a:xfrm>
            <a:off x="7955279" y="274320"/>
            <a:ext cx="731520" cy="7315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
        <p:nvSpPr>
          <p:cNvPr id="26" name="Card"/>
          <p:cNvSpPr/>
          <p:nvPr/>
        </p:nvSpPr>
        <p:spPr>
          <a:xfrm>
            <a:off x="457200" y="1188720"/>
            <a:ext cx="4023360" cy="2377440"/>
          </a:xfrm>
          <a:prstGeom prst="roundRect">
            <a:avLst>
              <a:gd name="adj" fmla="val 5000"/>
            </a:avLst>
          </a:prstGeom>
          <a:solidFill>
            <a:schemeClr val="accent4">
              <a:alpha val="10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201168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2011680" cy="292608"/>
          </a:xfrm>
          <a:prstGeom prst="rect">
            <a:avLst/>
          </a:prstGeom>
          <a:noFill/>
        </p:spPr>
        <p:txBody>
          <a:bodyPr wrap="square" lIns="0" tIns="0" rIns="0" bIns="0" anchor="ctr">
            <a:spAutoFit/>
          </a:bodyPr>
          <a:lstStyle/>
          <a:p>
            <a:pPr algn="ctr"/>
            <a:r>
              <a:rPr sz="1200" b="1" i="0">
                <a:solidFill>
                  <a:schemeClr val="bg1"/>
                </a:solidFill>
              </a:rPr>
              <a:t>DIALOGUE FIRST</a:t>
            </a:r>
          </a:p>
        </p:txBody>
      </p:sp>
      <p:sp>
        <p:nvSpPr>
          <p:cNvPr id="29" name="Text"/>
          <p:cNvSpPr txBox="1"/>
          <p:nvPr/>
        </p:nvSpPr>
        <p:spPr>
          <a:xfrm>
            <a:off x="640080" y="1737360"/>
            <a:ext cx="3657600" cy="1188720"/>
          </a:xfrm>
          <a:prstGeom prst="rect">
            <a:avLst/>
          </a:prstGeom>
          <a:noFill/>
        </p:spPr>
        <p:txBody>
          <a:bodyPr wrap="square" lIns="0" tIns="0" rIns="0" bIns="0" anchor="ctr">
            <a:spAutoFit/>
          </a:bodyPr>
          <a:lstStyle/>
          <a:p>
            <a:pPr algn="l"/>
            <a:r>
              <a:rPr sz="2100" b="1" i="0">
                <a:solidFill>
                  <a:schemeClr val="accent4"/>
                </a:solidFill>
                <a:latin typeface="Cambria"/>
                <a:ea typeface="Cambria"/>
                <a:cs typeface="Cambria"/>
              </a:rPr>
              <a:t>“You look like a tasty supper,” </a:t>
            </a:r>
            <a:r>
              <a:rPr sz="2100" b="1" i="0">
                <a:solidFill>
                  <a:schemeClr val="accent1"/>
                </a:solidFill>
                <a:latin typeface="Cambria"/>
                <a:ea typeface="Cambria"/>
                <a:cs typeface="Cambria"/>
              </a:rPr>
              <a:t>said Auntie Anthea.</a:t>
            </a:r>
          </a:p>
        </p:txBody>
      </p:sp>
      <p:sp>
        <p:nvSpPr>
          <p:cNvPr id="30" name="Text"/>
          <p:cNvSpPr txBox="1"/>
          <p:nvPr/>
        </p:nvSpPr>
        <p:spPr>
          <a:xfrm>
            <a:off x="640080" y="3017520"/>
            <a:ext cx="3657600" cy="411480"/>
          </a:xfrm>
          <a:prstGeom prst="rect">
            <a:avLst/>
          </a:prstGeom>
          <a:noFill/>
        </p:spPr>
        <p:txBody>
          <a:bodyPr wrap="square" lIns="0" tIns="0" rIns="0" bIns="0" anchor="ctr">
            <a:spAutoFit/>
          </a:bodyPr>
          <a:lstStyle/>
          <a:p>
            <a:pPr algn="l"/>
            <a:r>
              <a:rPr sz="1500" b="1" i="0">
                <a:solidFill>
                  <a:schemeClr val="accent4"/>
                </a:solidFill>
              </a:rPr>
              <a:t>What did they say? </a:t>
            </a:r>
            <a:r>
              <a:rPr sz="1500" b="1" i="0">
                <a:solidFill>
                  <a:schemeClr val="tx1"/>
                </a:solidFill>
              </a:rPr>
              <a:t>+ </a:t>
            </a:r>
            <a:r>
              <a:rPr sz="1500" b="1" i="0">
                <a:solidFill>
                  <a:schemeClr val="accent1"/>
                </a:solidFill>
              </a:rPr>
              <a:t>Who spoke?</a:t>
            </a:r>
          </a:p>
        </p:txBody>
      </p:sp>
      <p:sp>
        <p:nvSpPr>
          <p:cNvPr id="31" name="Card"/>
          <p:cNvSpPr/>
          <p:nvPr/>
        </p:nvSpPr>
        <p:spPr>
          <a:xfrm>
            <a:off x="4663440" y="1188720"/>
            <a:ext cx="4023360" cy="2377440"/>
          </a:xfrm>
          <a:prstGeom prst="roundRect">
            <a:avLst>
              <a:gd name="adj" fmla="val 5000"/>
            </a:avLst>
          </a:prstGeom>
          <a:solidFill>
            <a:schemeClr val="accent1">
              <a:alpha val="1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p:cNvSpPr/>
          <p:nvPr/>
        </p:nvSpPr>
        <p:spPr>
          <a:xfrm>
            <a:off x="4846320" y="1325880"/>
            <a:ext cx="2743200"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ip text"/>
          <p:cNvSpPr txBox="1"/>
          <p:nvPr/>
        </p:nvSpPr>
        <p:spPr>
          <a:xfrm>
            <a:off x="4846320" y="1325880"/>
            <a:ext cx="2743200" cy="292608"/>
          </a:xfrm>
          <a:prstGeom prst="rect">
            <a:avLst/>
          </a:prstGeom>
          <a:noFill/>
        </p:spPr>
        <p:txBody>
          <a:bodyPr wrap="square" lIns="0" tIns="0" rIns="0" bIns="0" anchor="ctr">
            <a:spAutoFit/>
          </a:bodyPr>
          <a:lstStyle/>
          <a:p>
            <a:pPr algn="ctr"/>
            <a:r>
              <a:rPr sz="1200" b="1" i="0">
                <a:solidFill>
                  <a:schemeClr val="bg1"/>
                </a:solidFill>
              </a:rPr>
              <a:t>REPORTING CLAUSE FIRST</a:t>
            </a:r>
          </a:p>
        </p:txBody>
      </p:sp>
      <p:sp>
        <p:nvSpPr>
          <p:cNvPr id="34" name="Text"/>
          <p:cNvSpPr txBox="1"/>
          <p:nvPr/>
        </p:nvSpPr>
        <p:spPr>
          <a:xfrm>
            <a:off x="4846320" y="1737360"/>
            <a:ext cx="3657600" cy="1188720"/>
          </a:xfrm>
          <a:prstGeom prst="rect">
            <a:avLst/>
          </a:prstGeom>
          <a:noFill/>
        </p:spPr>
        <p:txBody>
          <a:bodyPr wrap="square" lIns="0" tIns="0" rIns="0" bIns="0" anchor="ctr">
            <a:spAutoFit/>
          </a:bodyPr>
          <a:lstStyle/>
          <a:p>
            <a:pPr algn="l"/>
            <a:r>
              <a:rPr sz="2100" b="1" i="0">
                <a:solidFill>
                  <a:schemeClr val="accent1"/>
                </a:solidFill>
                <a:latin typeface="Cambria"/>
                <a:ea typeface="Cambria"/>
                <a:cs typeface="Cambria"/>
              </a:rPr>
              <a:t>Auntie Anthea said, </a:t>
            </a:r>
            <a:r>
              <a:rPr sz="2100" b="1" i="0">
                <a:solidFill>
                  <a:schemeClr val="accent4"/>
                </a:solidFill>
                <a:latin typeface="Cambria"/>
                <a:ea typeface="Cambria"/>
                <a:cs typeface="Cambria"/>
              </a:rPr>
              <a:t>“You look like a tasty supper.”</a:t>
            </a:r>
          </a:p>
        </p:txBody>
      </p:sp>
      <p:sp>
        <p:nvSpPr>
          <p:cNvPr id="35" name="Text"/>
          <p:cNvSpPr txBox="1"/>
          <p:nvPr/>
        </p:nvSpPr>
        <p:spPr>
          <a:xfrm>
            <a:off x="4846320" y="3017520"/>
            <a:ext cx="3657600" cy="411480"/>
          </a:xfrm>
          <a:prstGeom prst="rect">
            <a:avLst/>
          </a:prstGeom>
          <a:noFill/>
        </p:spPr>
        <p:txBody>
          <a:bodyPr wrap="square" lIns="0" tIns="0" rIns="0" bIns="0" anchor="ctr">
            <a:spAutoFit/>
          </a:bodyPr>
          <a:lstStyle/>
          <a:p>
            <a:pPr algn="l"/>
            <a:r>
              <a:rPr sz="1500" b="1" i="0">
                <a:solidFill>
                  <a:schemeClr val="accent1"/>
                </a:solidFill>
              </a:rPr>
              <a:t>Who spoke? </a:t>
            </a:r>
            <a:r>
              <a:rPr sz="1500" b="1" i="0">
                <a:solidFill>
                  <a:schemeClr val="tx1"/>
                </a:solidFill>
              </a:rPr>
              <a:t>+ </a:t>
            </a:r>
            <a:r>
              <a:rPr sz="1500" b="1" i="0">
                <a:solidFill>
                  <a:schemeClr val="accent4"/>
                </a:solidFill>
              </a:rPr>
              <a:t>What did they say?</a:t>
            </a:r>
          </a:p>
        </p:txBody>
      </p:sp>
      <p:sp>
        <p:nvSpPr>
          <p:cNvPr id="36" name="Banner"/>
          <p:cNvSpPr/>
          <p:nvPr/>
        </p:nvSpPr>
        <p:spPr>
          <a:xfrm>
            <a:off x="457200" y="3749039"/>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nner text"/>
          <p:cNvSpPr txBox="1"/>
          <p:nvPr/>
        </p:nvSpPr>
        <p:spPr>
          <a:xfrm>
            <a:off x="640080" y="3749039"/>
            <a:ext cx="7863840" cy="502920"/>
          </a:xfrm>
          <a:prstGeom prst="rect">
            <a:avLst/>
          </a:prstGeom>
          <a:noFill/>
        </p:spPr>
        <p:txBody>
          <a:bodyPr wrap="square" lIns="0" tIns="0" rIns="0" bIns="0" anchor="ctr">
            <a:spAutoFit/>
          </a:bodyPr>
          <a:lstStyle/>
          <a:p>
            <a:pPr algn="l"/>
            <a:r>
              <a:rPr sz="1600" b="1" i="0">
                <a:solidFill>
                  <a:schemeClr val="tx2"/>
                </a:solidFill>
              </a:rPr>
              <a:t>Same words. Same speaker. Only the order changes.</a:t>
            </a:r>
          </a:p>
        </p:txBody>
      </p:sp>
      <p:sp>
        <p:nvSpPr>
          <p:cNvPr id="38" name="Banner"/>
          <p:cNvSpPr/>
          <p:nvPr/>
        </p:nvSpPr>
        <p:spPr>
          <a:xfrm>
            <a:off x="457200" y="4297680"/>
            <a:ext cx="8229600" cy="2743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297680"/>
            <a:ext cx="7863840" cy="274320"/>
          </a:xfrm>
          <a:prstGeom prst="rect">
            <a:avLst/>
          </a:prstGeom>
          <a:noFill/>
        </p:spPr>
        <p:txBody>
          <a:bodyPr wrap="square" lIns="0" tIns="0" rIns="0" bIns="0" anchor="ctr">
            <a:spAutoFit/>
          </a:bodyPr>
          <a:lstStyle/>
          <a:p>
            <a:pPr algn="l"/>
            <a:r>
              <a:rPr sz="1300" b="1" i="0">
                <a:solidFill>
                  <a:schemeClr val="accent2"/>
                </a:solidFill>
              </a:rPr>
              <a:t>Blue</a:t>
            </a:r>
            <a:r>
              <a:rPr sz="1300" b="1" i="0">
                <a:solidFill>
                  <a:schemeClr val="bg1"/>
                </a:solidFill>
              </a:rPr>
              <a:t> = what they said    </a:t>
            </a:r>
            <a:r>
              <a:rPr sz="1300" b="1" i="0">
                <a:solidFill>
                  <a:schemeClr val="accent2"/>
                </a:solidFill>
              </a:rPr>
              <a:t>Orange</a:t>
            </a:r>
            <a:r>
              <a:rPr sz="1300" b="1" i="0">
                <a:solidFill>
                  <a:schemeClr val="bg1"/>
                </a:solidFill>
              </a:rPr>
              <a:t> = who spoke (the reporting clause)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Dialogue first</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13</a:t>
            </a:fld>
            <a:endParaRPr lang="en-US"/>
          </a:p>
        </p:txBody>
      </p:sp>
      <p:sp>
        <p:nvSpPr>
          <p:cNvPr id="26" name="Card"/>
          <p:cNvSpPr/>
          <p:nvPr/>
        </p:nvSpPr>
        <p:spPr>
          <a:xfrm>
            <a:off x="457200" y="1188720"/>
            <a:ext cx="8229600" cy="86868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40080" y="1188720"/>
            <a:ext cx="7863840" cy="868680"/>
          </a:xfrm>
          <a:prstGeom prst="rect">
            <a:avLst/>
          </a:prstGeom>
          <a:noFill/>
        </p:spPr>
        <p:txBody>
          <a:bodyPr wrap="square" lIns="0" tIns="0" rIns="0" bIns="0" anchor="ctr">
            <a:spAutoFit/>
          </a:bodyPr>
          <a:lstStyle/>
          <a:p>
            <a:pPr algn="ctr"/>
            <a:r>
              <a:rPr sz="2600" b="1" i="0">
                <a:solidFill>
                  <a:schemeClr val="accent4"/>
                </a:solidFill>
                <a:latin typeface="Cambria"/>
                <a:ea typeface="Cambria"/>
                <a:cs typeface="Cambria"/>
              </a:rPr>
              <a:t>“You look like a tasty supper,” </a:t>
            </a:r>
            <a:r>
              <a:rPr sz="2600" b="1" i="0">
                <a:solidFill>
                  <a:schemeClr val="accent1"/>
                </a:solidFill>
                <a:latin typeface="Cambria"/>
                <a:ea typeface="Cambria"/>
                <a:cs typeface="Cambria"/>
              </a:rPr>
              <a:t>said Auntie Anthea.</a:t>
            </a:r>
          </a:p>
        </p:txBody>
      </p:sp>
      <p:sp>
        <p:nvSpPr>
          <p:cNvPr id="28" name="Number badge"/>
          <p:cNvSpPr/>
          <p:nvPr/>
        </p:nvSpPr>
        <p:spPr>
          <a:xfrm>
            <a:off x="502920" y="2221991"/>
            <a:ext cx="329184" cy="32918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502920" y="2221991"/>
            <a:ext cx="329184" cy="329184"/>
          </a:xfrm>
          <a:prstGeom prst="rect">
            <a:avLst/>
          </a:prstGeom>
          <a:noFill/>
        </p:spPr>
        <p:txBody>
          <a:bodyPr wrap="square" lIns="0" tIns="0" rIns="0" bIns="0" anchor="ctr">
            <a:spAutoFit/>
          </a:bodyPr>
          <a:lstStyle/>
          <a:p>
            <a:pPr algn="ctr"/>
            <a:r>
              <a:rPr sz="1400" b="1" i="0">
                <a:solidFill>
                  <a:schemeClr val="bg1"/>
                </a:solidFill>
              </a:rPr>
              <a:t>1</a:t>
            </a:r>
          </a:p>
        </p:txBody>
      </p:sp>
      <p:sp>
        <p:nvSpPr>
          <p:cNvPr id="30" name="Text"/>
          <p:cNvSpPr txBox="1"/>
          <p:nvPr/>
        </p:nvSpPr>
        <p:spPr>
          <a:xfrm>
            <a:off x="960120" y="2194560"/>
            <a:ext cx="7680960" cy="384048"/>
          </a:xfrm>
          <a:prstGeom prst="rect">
            <a:avLst/>
          </a:prstGeom>
          <a:noFill/>
        </p:spPr>
        <p:txBody>
          <a:bodyPr wrap="square" lIns="0" tIns="0" rIns="0" bIns="0" anchor="ctr">
            <a:spAutoFit/>
          </a:bodyPr>
          <a:lstStyle/>
          <a:p>
            <a:pPr algn="l"/>
            <a:r>
              <a:rPr sz="1500" b="0" i="0">
                <a:solidFill>
                  <a:schemeClr val="tx1"/>
                </a:solidFill>
              </a:rPr>
              <a:t>Open with “ and a </a:t>
            </a:r>
            <a:r>
              <a:rPr sz="1500" b="1" i="0">
                <a:solidFill>
                  <a:schemeClr val="tx1"/>
                </a:solidFill>
              </a:rPr>
              <a:t>capital letter</a:t>
            </a:r>
            <a:r>
              <a:rPr sz="1500" b="0" i="0">
                <a:solidFill>
                  <a:schemeClr val="tx1"/>
                </a:solidFill>
              </a:rPr>
              <a:t> for the first spoken word.</a:t>
            </a:r>
          </a:p>
        </p:txBody>
      </p:sp>
      <p:sp>
        <p:nvSpPr>
          <p:cNvPr id="31" name="Number badge"/>
          <p:cNvSpPr/>
          <p:nvPr/>
        </p:nvSpPr>
        <p:spPr>
          <a:xfrm>
            <a:off x="502920" y="2642615"/>
            <a:ext cx="329184" cy="32918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502920" y="2642615"/>
            <a:ext cx="329184" cy="329184"/>
          </a:xfrm>
          <a:prstGeom prst="rect">
            <a:avLst/>
          </a:prstGeom>
          <a:noFill/>
        </p:spPr>
        <p:txBody>
          <a:bodyPr wrap="square" lIns="0" tIns="0" rIns="0" bIns="0" anchor="ctr">
            <a:spAutoFit/>
          </a:bodyPr>
          <a:lstStyle/>
          <a:p>
            <a:pPr algn="ctr"/>
            <a:r>
              <a:rPr sz="1400" b="1" i="0">
                <a:solidFill>
                  <a:schemeClr val="bg1"/>
                </a:solidFill>
              </a:rPr>
              <a:t>2</a:t>
            </a:r>
          </a:p>
        </p:txBody>
      </p:sp>
      <p:sp>
        <p:nvSpPr>
          <p:cNvPr id="33" name="Text"/>
          <p:cNvSpPr txBox="1"/>
          <p:nvPr/>
        </p:nvSpPr>
        <p:spPr>
          <a:xfrm>
            <a:off x="960120" y="2615184"/>
            <a:ext cx="7680960" cy="384048"/>
          </a:xfrm>
          <a:prstGeom prst="rect">
            <a:avLst/>
          </a:prstGeom>
          <a:noFill/>
        </p:spPr>
        <p:txBody>
          <a:bodyPr wrap="square" lIns="0" tIns="0" rIns="0" bIns="0" anchor="ctr">
            <a:spAutoFit/>
          </a:bodyPr>
          <a:lstStyle/>
          <a:p>
            <a:pPr algn="l"/>
            <a:r>
              <a:rPr sz="1500" b="0" i="0">
                <a:solidFill>
                  <a:schemeClr val="tx1"/>
                </a:solidFill>
              </a:rPr>
              <a:t>The </a:t>
            </a:r>
            <a:r>
              <a:rPr sz="1500" b="1" i="0">
                <a:solidFill>
                  <a:schemeClr val="tx1"/>
                </a:solidFill>
              </a:rPr>
              <a:t>comma goes inside</a:t>
            </a:r>
            <a:r>
              <a:rPr sz="1500" b="0" i="0">
                <a:solidFill>
                  <a:schemeClr val="tx1"/>
                </a:solidFill>
              </a:rPr>
              <a:t> the closing ”. It takes the place of the full stop.</a:t>
            </a:r>
          </a:p>
        </p:txBody>
      </p:sp>
      <p:sp>
        <p:nvSpPr>
          <p:cNvPr id="34" name="Number badge"/>
          <p:cNvSpPr/>
          <p:nvPr/>
        </p:nvSpPr>
        <p:spPr>
          <a:xfrm>
            <a:off x="502920" y="3063239"/>
            <a:ext cx="329184" cy="32918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502920" y="3063239"/>
            <a:ext cx="329184" cy="329184"/>
          </a:xfrm>
          <a:prstGeom prst="rect">
            <a:avLst/>
          </a:prstGeom>
          <a:noFill/>
        </p:spPr>
        <p:txBody>
          <a:bodyPr wrap="square" lIns="0" tIns="0" rIns="0" bIns="0" anchor="ctr">
            <a:spAutoFit/>
          </a:bodyPr>
          <a:lstStyle/>
          <a:p>
            <a:pPr algn="ctr"/>
            <a:r>
              <a:rPr sz="1400" b="1" i="0">
                <a:solidFill>
                  <a:schemeClr val="bg1"/>
                </a:solidFill>
              </a:rPr>
              <a:t>3</a:t>
            </a:r>
          </a:p>
        </p:txBody>
      </p:sp>
      <p:sp>
        <p:nvSpPr>
          <p:cNvPr id="36" name="Text"/>
          <p:cNvSpPr txBox="1"/>
          <p:nvPr/>
        </p:nvSpPr>
        <p:spPr>
          <a:xfrm>
            <a:off x="960120" y="3035808"/>
            <a:ext cx="7680960" cy="384048"/>
          </a:xfrm>
          <a:prstGeom prst="rect">
            <a:avLst/>
          </a:prstGeom>
          <a:noFill/>
        </p:spPr>
        <p:txBody>
          <a:bodyPr wrap="square" lIns="0" tIns="0" rIns="0" bIns="0" anchor="ctr">
            <a:spAutoFit/>
          </a:bodyPr>
          <a:lstStyle/>
          <a:p>
            <a:pPr algn="l"/>
            <a:r>
              <a:rPr sz="1500" b="0" i="0">
                <a:solidFill>
                  <a:schemeClr val="tx1"/>
                </a:solidFill>
              </a:rPr>
              <a:t>Who spoke (the reporting clause) starts with a </a:t>
            </a:r>
            <a:r>
              <a:rPr sz="1500" b="1" i="0">
                <a:solidFill>
                  <a:schemeClr val="tx1"/>
                </a:solidFill>
              </a:rPr>
              <a:t>small letter</a:t>
            </a:r>
            <a:r>
              <a:rPr sz="1500" b="0" i="0">
                <a:solidFill>
                  <a:schemeClr val="tx1"/>
                </a:solidFill>
              </a:rPr>
              <a:t>. Names keep capitals.</a:t>
            </a:r>
          </a:p>
        </p:txBody>
      </p:sp>
      <p:sp>
        <p:nvSpPr>
          <p:cNvPr id="37" name="Number badge"/>
          <p:cNvSpPr/>
          <p:nvPr/>
        </p:nvSpPr>
        <p:spPr>
          <a:xfrm>
            <a:off x="502920" y="3483863"/>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502920" y="3483863"/>
            <a:ext cx="329184" cy="329184"/>
          </a:xfrm>
          <a:prstGeom prst="rect">
            <a:avLst/>
          </a:prstGeom>
          <a:noFill/>
        </p:spPr>
        <p:txBody>
          <a:bodyPr wrap="square" lIns="0" tIns="0" rIns="0" bIns="0" anchor="ctr">
            <a:spAutoFit/>
          </a:bodyPr>
          <a:lstStyle/>
          <a:p>
            <a:pPr algn="ctr"/>
            <a:r>
              <a:rPr sz="1400" b="1" i="0">
                <a:solidFill>
                  <a:schemeClr val="bg1"/>
                </a:solidFill>
              </a:rPr>
              <a:t>4</a:t>
            </a:r>
          </a:p>
        </p:txBody>
      </p:sp>
      <p:sp>
        <p:nvSpPr>
          <p:cNvPr id="39" name="Text"/>
          <p:cNvSpPr txBox="1"/>
          <p:nvPr/>
        </p:nvSpPr>
        <p:spPr>
          <a:xfrm>
            <a:off x="960120" y="3456432"/>
            <a:ext cx="7680960" cy="384048"/>
          </a:xfrm>
          <a:prstGeom prst="rect">
            <a:avLst/>
          </a:prstGeom>
          <a:noFill/>
        </p:spPr>
        <p:txBody>
          <a:bodyPr wrap="square" lIns="0" tIns="0" rIns="0" bIns="0" anchor="ctr">
            <a:spAutoFit/>
          </a:bodyPr>
          <a:lstStyle/>
          <a:p>
            <a:pPr algn="l"/>
            <a:r>
              <a:rPr sz="1500" b="0" i="0">
                <a:solidFill>
                  <a:schemeClr val="tx1"/>
                </a:solidFill>
              </a:rPr>
              <a:t>A </a:t>
            </a:r>
            <a:r>
              <a:rPr sz="1500" b="1" i="0">
                <a:solidFill>
                  <a:schemeClr val="tx1"/>
                </a:solidFill>
              </a:rPr>
              <a:t>full stop</a:t>
            </a:r>
            <a:r>
              <a:rPr sz="1500" b="0" i="0">
                <a:solidFill>
                  <a:schemeClr val="tx1"/>
                </a:solidFill>
              </a:rPr>
              <a:t> ends the whole sentence, after who spoke.</a:t>
            </a:r>
          </a:p>
        </p:txBody>
      </p:sp>
      <p:sp>
        <p:nvSpPr>
          <p:cNvPr id="40" name="Banner"/>
          <p:cNvSpPr/>
          <p:nvPr/>
        </p:nvSpPr>
        <p:spPr>
          <a:xfrm>
            <a:off x="457200" y="402336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anner text"/>
          <p:cNvSpPr txBox="1"/>
          <p:nvPr/>
        </p:nvSpPr>
        <p:spPr>
          <a:xfrm>
            <a:off x="640080" y="4023360"/>
            <a:ext cx="7863840" cy="502920"/>
          </a:xfrm>
          <a:prstGeom prst="rect">
            <a:avLst/>
          </a:prstGeom>
          <a:noFill/>
        </p:spPr>
        <p:txBody>
          <a:bodyPr wrap="square" lIns="0" tIns="0" rIns="0" bIns="0" anchor="ctr">
            <a:spAutoFit/>
          </a:bodyPr>
          <a:lstStyle/>
          <a:p>
            <a:pPr algn="l"/>
            <a:r>
              <a:rPr sz="1500" b="1" i="0">
                <a:solidFill>
                  <a:schemeClr val="tx2"/>
                </a:solidFill>
              </a:rPr>
              <a:t>With ? or !, keep it and drop the comma:  </a:t>
            </a:r>
            <a:r>
              <a:rPr sz="1500" b="1" i="0">
                <a:solidFill>
                  <a:schemeClr val="tx2"/>
                </a:solidFill>
                <a:latin typeface="Cambria"/>
                <a:ea typeface="Cambria"/>
                <a:cs typeface="Cambria"/>
              </a:rPr>
              <a:t>“Where are you going?” asked Auntie Anthea.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Reporting clause first</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
        <p:nvSpPr>
          <p:cNvPr id="26" name="Card"/>
          <p:cNvSpPr/>
          <p:nvPr/>
        </p:nvSpPr>
        <p:spPr>
          <a:xfrm>
            <a:off x="457200" y="1188720"/>
            <a:ext cx="8229600" cy="86868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40080" y="1188720"/>
            <a:ext cx="7863840" cy="868680"/>
          </a:xfrm>
          <a:prstGeom prst="rect">
            <a:avLst/>
          </a:prstGeom>
          <a:noFill/>
        </p:spPr>
        <p:txBody>
          <a:bodyPr wrap="square" lIns="0" tIns="0" rIns="0" bIns="0" anchor="ctr">
            <a:spAutoFit/>
          </a:bodyPr>
          <a:lstStyle/>
          <a:p>
            <a:pPr algn="ctr"/>
            <a:r>
              <a:rPr sz="2600" b="1" i="0">
                <a:solidFill>
                  <a:schemeClr val="accent1"/>
                </a:solidFill>
                <a:latin typeface="Cambria"/>
                <a:ea typeface="Cambria"/>
                <a:cs typeface="Cambria"/>
              </a:rPr>
              <a:t>Auntie Anthea said, </a:t>
            </a:r>
            <a:r>
              <a:rPr sz="2600" b="1" i="0">
                <a:solidFill>
                  <a:schemeClr val="accent4"/>
                </a:solidFill>
                <a:latin typeface="Cambria"/>
                <a:ea typeface="Cambria"/>
                <a:cs typeface="Cambria"/>
              </a:rPr>
              <a:t>“You look like a tasty supper.”</a:t>
            </a:r>
          </a:p>
        </p:txBody>
      </p:sp>
      <p:sp>
        <p:nvSpPr>
          <p:cNvPr id="28" name="Number badge"/>
          <p:cNvSpPr/>
          <p:nvPr/>
        </p:nvSpPr>
        <p:spPr>
          <a:xfrm>
            <a:off x="502920" y="2221991"/>
            <a:ext cx="329184" cy="32918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502920" y="2221991"/>
            <a:ext cx="329184" cy="329184"/>
          </a:xfrm>
          <a:prstGeom prst="rect">
            <a:avLst/>
          </a:prstGeom>
          <a:noFill/>
        </p:spPr>
        <p:txBody>
          <a:bodyPr wrap="square" lIns="0" tIns="0" rIns="0" bIns="0" anchor="ctr">
            <a:spAutoFit/>
          </a:bodyPr>
          <a:lstStyle/>
          <a:p>
            <a:pPr algn="ctr"/>
            <a:r>
              <a:rPr sz="1400" b="1" i="0">
                <a:solidFill>
                  <a:schemeClr val="bg1"/>
                </a:solidFill>
              </a:rPr>
              <a:t>1</a:t>
            </a:r>
          </a:p>
        </p:txBody>
      </p:sp>
      <p:sp>
        <p:nvSpPr>
          <p:cNvPr id="30" name="Text"/>
          <p:cNvSpPr txBox="1"/>
          <p:nvPr/>
        </p:nvSpPr>
        <p:spPr>
          <a:xfrm>
            <a:off x="960120" y="2194560"/>
            <a:ext cx="7680960" cy="384048"/>
          </a:xfrm>
          <a:prstGeom prst="rect">
            <a:avLst/>
          </a:prstGeom>
          <a:noFill/>
        </p:spPr>
        <p:txBody>
          <a:bodyPr wrap="square" lIns="0" tIns="0" rIns="0" bIns="0" anchor="ctr">
            <a:spAutoFit/>
          </a:bodyPr>
          <a:lstStyle/>
          <a:p>
            <a:pPr algn="l"/>
            <a:r>
              <a:rPr sz="1500" b="0" i="0">
                <a:solidFill>
                  <a:schemeClr val="tx1"/>
                </a:solidFill>
              </a:rPr>
              <a:t>Start with a </a:t>
            </a:r>
            <a:r>
              <a:rPr sz="1500" b="1" i="0">
                <a:solidFill>
                  <a:schemeClr val="tx1"/>
                </a:solidFill>
              </a:rPr>
              <a:t>capital letter</a:t>
            </a:r>
            <a:r>
              <a:rPr sz="1500" b="0" i="0">
                <a:solidFill>
                  <a:schemeClr val="tx1"/>
                </a:solidFill>
              </a:rPr>
              <a:t>, as in any sentence.</a:t>
            </a:r>
          </a:p>
        </p:txBody>
      </p:sp>
      <p:sp>
        <p:nvSpPr>
          <p:cNvPr id="31" name="Number badge"/>
          <p:cNvSpPr/>
          <p:nvPr/>
        </p:nvSpPr>
        <p:spPr>
          <a:xfrm>
            <a:off x="502920" y="2642615"/>
            <a:ext cx="329184" cy="32918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502920" y="2642615"/>
            <a:ext cx="329184" cy="329184"/>
          </a:xfrm>
          <a:prstGeom prst="rect">
            <a:avLst/>
          </a:prstGeom>
          <a:noFill/>
        </p:spPr>
        <p:txBody>
          <a:bodyPr wrap="square" lIns="0" tIns="0" rIns="0" bIns="0" anchor="ctr">
            <a:spAutoFit/>
          </a:bodyPr>
          <a:lstStyle/>
          <a:p>
            <a:pPr algn="ctr"/>
            <a:r>
              <a:rPr sz="1400" b="1" i="0">
                <a:solidFill>
                  <a:schemeClr val="bg1"/>
                </a:solidFill>
              </a:rPr>
              <a:t>2</a:t>
            </a:r>
          </a:p>
        </p:txBody>
      </p:sp>
      <p:sp>
        <p:nvSpPr>
          <p:cNvPr id="33" name="Text"/>
          <p:cNvSpPr txBox="1"/>
          <p:nvPr/>
        </p:nvSpPr>
        <p:spPr>
          <a:xfrm>
            <a:off x="960120" y="2615184"/>
            <a:ext cx="7680960" cy="384048"/>
          </a:xfrm>
          <a:prstGeom prst="rect">
            <a:avLst/>
          </a:prstGeom>
          <a:noFill/>
        </p:spPr>
        <p:txBody>
          <a:bodyPr wrap="square" lIns="0" tIns="0" rIns="0" bIns="0" anchor="ctr">
            <a:spAutoFit/>
          </a:bodyPr>
          <a:lstStyle/>
          <a:p>
            <a:pPr algn="l"/>
            <a:r>
              <a:rPr sz="1500" b="0" i="0">
                <a:solidFill>
                  <a:schemeClr val="tx1"/>
                </a:solidFill>
              </a:rPr>
              <a:t>A </a:t>
            </a:r>
            <a:r>
              <a:rPr sz="1500" b="1" i="0">
                <a:solidFill>
                  <a:schemeClr val="tx1"/>
                </a:solidFill>
              </a:rPr>
              <a:t>comma after said</a:t>
            </a:r>
            <a:r>
              <a:rPr sz="1500" b="0" i="0">
                <a:solidFill>
                  <a:schemeClr val="tx1"/>
                </a:solidFill>
              </a:rPr>
              <a:t> separates who spoke (the reporting clause) from what they said.</a:t>
            </a:r>
          </a:p>
        </p:txBody>
      </p:sp>
      <p:sp>
        <p:nvSpPr>
          <p:cNvPr id="34" name="Number badge"/>
          <p:cNvSpPr/>
          <p:nvPr/>
        </p:nvSpPr>
        <p:spPr>
          <a:xfrm>
            <a:off x="502920" y="3063239"/>
            <a:ext cx="329184" cy="32918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502920" y="3063239"/>
            <a:ext cx="329184" cy="329184"/>
          </a:xfrm>
          <a:prstGeom prst="rect">
            <a:avLst/>
          </a:prstGeom>
          <a:noFill/>
        </p:spPr>
        <p:txBody>
          <a:bodyPr wrap="square" lIns="0" tIns="0" rIns="0" bIns="0" anchor="ctr">
            <a:spAutoFit/>
          </a:bodyPr>
          <a:lstStyle/>
          <a:p>
            <a:pPr algn="ctr"/>
            <a:r>
              <a:rPr sz="1400" b="1" i="0">
                <a:solidFill>
                  <a:schemeClr val="bg1"/>
                </a:solidFill>
              </a:rPr>
              <a:t>3</a:t>
            </a:r>
          </a:p>
        </p:txBody>
      </p:sp>
      <p:sp>
        <p:nvSpPr>
          <p:cNvPr id="36" name="Text"/>
          <p:cNvSpPr txBox="1"/>
          <p:nvPr/>
        </p:nvSpPr>
        <p:spPr>
          <a:xfrm>
            <a:off x="960120" y="3035808"/>
            <a:ext cx="7680960" cy="384048"/>
          </a:xfrm>
          <a:prstGeom prst="rect">
            <a:avLst/>
          </a:prstGeom>
          <a:noFill/>
        </p:spPr>
        <p:txBody>
          <a:bodyPr wrap="square" lIns="0" tIns="0" rIns="0" bIns="0" anchor="ctr">
            <a:spAutoFit/>
          </a:bodyPr>
          <a:lstStyle/>
          <a:p>
            <a:pPr algn="l"/>
            <a:r>
              <a:rPr sz="1500" b="0" i="0">
                <a:solidFill>
                  <a:schemeClr val="tx1"/>
                </a:solidFill>
              </a:rPr>
              <a:t>Open with “ and a </a:t>
            </a:r>
            <a:r>
              <a:rPr sz="1500" b="1" i="0">
                <a:solidFill>
                  <a:schemeClr val="tx1"/>
                </a:solidFill>
              </a:rPr>
              <a:t>capital letter</a:t>
            </a:r>
            <a:r>
              <a:rPr sz="1500" b="0" i="0">
                <a:solidFill>
                  <a:schemeClr val="tx1"/>
                </a:solidFill>
              </a:rPr>
              <a:t> for the first spoken word.</a:t>
            </a:r>
          </a:p>
        </p:txBody>
      </p:sp>
      <p:sp>
        <p:nvSpPr>
          <p:cNvPr id="37" name="Number badge"/>
          <p:cNvSpPr/>
          <p:nvPr/>
        </p:nvSpPr>
        <p:spPr>
          <a:xfrm>
            <a:off x="502920" y="3483863"/>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502920" y="3483863"/>
            <a:ext cx="329184" cy="329184"/>
          </a:xfrm>
          <a:prstGeom prst="rect">
            <a:avLst/>
          </a:prstGeom>
          <a:noFill/>
        </p:spPr>
        <p:txBody>
          <a:bodyPr wrap="square" lIns="0" tIns="0" rIns="0" bIns="0" anchor="ctr">
            <a:spAutoFit/>
          </a:bodyPr>
          <a:lstStyle/>
          <a:p>
            <a:pPr algn="ctr"/>
            <a:r>
              <a:rPr sz="1400" b="1" i="0">
                <a:solidFill>
                  <a:schemeClr val="bg1"/>
                </a:solidFill>
              </a:rPr>
              <a:t>4</a:t>
            </a:r>
          </a:p>
        </p:txBody>
      </p:sp>
      <p:sp>
        <p:nvSpPr>
          <p:cNvPr id="39" name="Text"/>
          <p:cNvSpPr txBox="1"/>
          <p:nvPr/>
        </p:nvSpPr>
        <p:spPr>
          <a:xfrm>
            <a:off x="960120" y="3456432"/>
            <a:ext cx="7680960" cy="384048"/>
          </a:xfrm>
          <a:prstGeom prst="rect">
            <a:avLst/>
          </a:prstGeom>
          <a:noFill/>
        </p:spPr>
        <p:txBody>
          <a:bodyPr wrap="square" lIns="0" tIns="0" rIns="0" bIns="0" anchor="ctr">
            <a:spAutoFit/>
          </a:bodyPr>
          <a:lstStyle/>
          <a:p>
            <a:pPr algn="l"/>
            <a:r>
              <a:rPr sz="1500" b="0" i="0">
                <a:solidFill>
                  <a:schemeClr val="tx1"/>
                </a:solidFill>
              </a:rPr>
              <a:t>The end mark ( . ? ! ) goes </a:t>
            </a:r>
            <a:r>
              <a:rPr sz="1500" b="1" i="0">
                <a:solidFill>
                  <a:schemeClr val="tx1"/>
                </a:solidFill>
              </a:rPr>
              <a:t>inside</a:t>
            </a:r>
            <a:r>
              <a:rPr sz="1500" b="0" i="0">
                <a:solidFill>
                  <a:schemeClr val="tx1"/>
                </a:solidFill>
              </a:rPr>
              <a:t> the closing ”. It ends the whole sentence.</a:t>
            </a:r>
          </a:p>
        </p:txBody>
      </p:sp>
      <p:sp>
        <p:nvSpPr>
          <p:cNvPr id="40" name="Banner"/>
          <p:cNvSpPr/>
          <p:nvPr/>
        </p:nvSpPr>
        <p:spPr>
          <a:xfrm>
            <a:off x="457200" y="402336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Banner text"/>
          <p:cNvSpPr txBox="1"/>
          <p:nvPr/>
        </p:nvSpPr>
        <p:spPr>
          <a:xfrm>
            <a:off x="640080" y="4023360"/>
            <a:ext cx="7863840" cy="502920"/>
          </a:xfrm>
          <a:prstGeom prst="rect">
            <a:avLst/>
          </a:prstGeom>
          <a:noFill/>
        </p:spPr>
        <p:txBody>
          <a:bodyPr wrap="square" lIns="0" tIns="0" rIns="0" bIns="0" anchor="ctr">
            <a:spAutoFit/>
          </a:bodyPr>
          <a:lstStyle/>
          <a:p>
            <a:pPr algn="l"/>
            <a:r>
              <a:rPr sz="1500" b="1" i="0">
                <a:solidFill>
                  <a:schemeClr val="tx2"/>
                </a:solidFill>
              </a:rPr>
              <a:t>With a question:  </a:t>
            </a:r>
            <a:r>
              <a:rPr sz="1500" b="1" i="0">
                <a:solidFill>
                  <a:schemeClr val="tx2"/>
                </a:solidFill>
                <a:latin typeface="Cambria"/>
                <a:ea typeface="Cambria"/>
                <a:cs typeface="Cambria"/>
              </a:rPr>
              <a:t>Auntie Anthea asked, “Where are you going?”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dirty="0">
                <a:solidFill>
                  <a:schemeClr val="tx2"/>
                </a:solidFill>
              </a:rPr>
              <a:t>Which punctuation goes where?</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9.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
        <p:nvSpPr>
          <p:cNvPr id="26" name="Card"/>
          <p:cNvSpPr/>
          <p:nvPr/>
        </p:nvSpPr>
        <p:spPr>
          <a:xfrm>
            <a:off x="457200" y="1188720"/>
            <a:ext cx="4023360" cy="2514600"/>
          </a:xfrm>
          <a:prstGeom prst="roundRect">
            <a:avLst>
              <a:gd name="adj" fmla="val 5000"/>
            </a:avLst>
          </a:prstGeom>
          <a:solidFill>
            <a:schemeClr val="accent4">
              <a:alpha val="10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256032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2560320" cy="292608"/>
          </a:xfrm>
          <a:prstGeom prst="rect">
            <a:avLst/>
          </a:prstGeom>
          <a:noFill/>
        </p:spPr>
        <p:txBody>
          <a:bodyPr wrap="square" lIns="0" tIns="0" rIns="0" bIns="0" anchor="ctr">
            <a:spAutoFit/>
          </a:bodyPr>
          <a:lstStyle/>
          <a:p>
            <a:pPr algn="ctr"/>
            <a:r>
              <a:rPr sz="1100" b="1" i="0">
                <a:solidFill>
                  <a:schemeClr val="bg1"/>
                </a:solidFill>
              </a:rPr>
              <a:t>INSIDE THE SPOKEN WORDS</a:t>
            </a:r>
          </a:p>
        </p:txBody>
      </p:sp>
      <p:sp>
        <p:nvSpPr>
          <p:cNvPr id="29" name="Text"/>
          <p:cNvSpPr txBox="1"/>
          <p:nvPr/>
        </p:nvSpPr>
        <p:spPr>
          <a:xfrm>
            <a:off x="640080" y="1737360"/>
            <a:ext cx="3657600" cy="777240"/>
          </a:xfrm>
          <a:prstGeom prst="rect">
            <a:avLst/>
          </a:prstGeom>
          <a:noFill/>
        </p:spPr>
        <p:txBody>
          <a:bodyPr wrap="square" lIns="0" tIns="0" rIns="0" bIns="0" anchor="t">
            <a:spAutoFit/>
          </a:bodyPr>
          <a:lstStyle/>
          <a:p>
            <a:pPr algn="l"/>
            <a:r>
              <a:rPr sz="1500" b="1" i="0" dirty="0">
                <a:solidFill>
                  <a:schemeClr val="tx1"/>
                </a:solidFill>
              </a:rPr>
              <a:t>The mark that ends the speech goes inside the closing ”.</a:t>
            </a:r>
          </a:p>
        </p:txBody>
      </p:sp>
      <p:sp>
        <p:nvSpPr>
          <p:cNvPr id="30" name="Text"/>
          <p:cNvSpPr txBox="1"/>
          <p:nvPr/>
        </p:nvSpPr>
        <p:spPr>
          <a:xfrm>
            <a:off x="640080" y="2514600"/>
            <a:ext cx="3657600" cy="1143000"/>
          </a:xfrm>
          <a:prstGeom prst="rect">
            <a:avLst/>
          </a:prstGeom>
          <a:noFill/>
        </p:spPr>
        <p:txBody>
          <a:bodyPr wrap="square" lIns="0" tIns="0" rIns="0" bIns="0" anchor="t">
            <a:spAutoFit/>
          </a:bodyPr>
          <a:lstStyle/>
          <a:p>
            <a:pPr algn="l">
              <a:spcAft>
                <a:spcPts val="400"/>
              </a:spcAft>
            </a:pPr>
            <a:r>
              <a:rPr sz="1500" b="1" i="0">
                <a:solidFill>
                  <a:schemeClr val="accent4"/>
                </a:solidFill>
                <a:latin typeface="Cambria"/>
                <a:ea typeface="Cambria"/>
                <a:cs typeface="Cambria"/>
              </a:rPr>
              <a:t>supper,”  </a:t>
            </a:r>
            <a:r>
              <a:rPr sz="1500" b="0" i="0">
                <a:solidFill>
                  <a:schemeClr val="tx1"/>
                </a:solidFill>
                <a:latin typeface="Cambria"/>
                <a:ea typeface="Cambria"/>
                <a:cs typeface="Cambria"/>
              </a:rPr>
              <a:t>said Auntie Anthea.</a:t>
            </a:r>
          </a:p>
          <a:p>
            <a:pPr algn="l">
              <a:spcAft>
                <a:spcPts val="400"/>
              </a:spcAft>
            </a:pPr>
            <a:r>
              <a:rPr sz="1500" b="1" i="0">
                <a:solidFill>
                  <a:schemeClr val="accent4"/>
                </a:solidFill>
                <a:latin typeface="Cambria"/>
                <a:ea typeface="Cambria"/>
                <a:cs typeface="Cambria"/>
              </a:rPr>
              <a:t>supper.”  </a:t>
            </a:r>
            <a:r>
              <a:rPr sz="1500" b="0" i="0">
                <a:solidFill>
                  <a:schemeClr val="tx1"/>
                </a:solidFill>
                <a:latin typeface="Cambria"/>
                <a:ea typeface="Cambria"/>
                <a:cs typeface="Cambria"/>
              </a:rPr>
              <a:t>(speech ends the sentence)</a:t>
            </a:r>
          </a:p>
          <a:p>
            <a:pPr algn="l">
              <a:spcAft>
                <a:spcPts val="400"/>
              </a:spcAft>
            </a:pPr>
            <a:r>
              <a:rPr sz="1500" b="1" i="0">
                <a:solidFill>
                  <a:schemeClr val="accent4"/>
                </a:solidFill>
                <a:latin typeface="Cambria"/>
                <a:ea typeface="Cambria"/>
                <a:cs typeface="Cambria"/>
              </a:rPr>
              <a:t>lost?”  </a:t>
            </a:r>
            <a:r>
              <a:rPr sz="1500" b="0" i="0">
                <a:solidFill>
                  <a:schemeClr val="tx1"/>
                </a:solidFill>
                <a:latin typeface="Cambria"/>
                <a:ea typeface="Cambria"/>
                <a:cs typeface="Cambria"/>
              </a:rPr>
              <a:t>asked Auntie Anthea.</a:t>
            </a:r>
          </a:p>
        </p:txBody>
      </p:sp>
      <p:sp>
        <p:nvSpPr>
          <p:cNvPr id="31" name="Card"/>
          <p:cNvSpPr/>
          <p:nvPr/>
        </p:nvSpPr>
        <p:spPr>
          <a:xfrm>
            <a:off x="4663440" y="1188720"/>
            <a:ext cx="4023360" cy="2514600"/>
          </a:xfrm>
          <a:prstGeom prst="roundRect">
            <a:avLst>
              <a:gd name="adj" fmla="val 5000"/>
            </a:avLst>
          </a:prstGeom>
          <a:solidFill>
            <a:schemeClr val="accent1">
              <a:alpha val="1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p:cNvSpPr/>
          <p:nvPr/>
        </p:nvSpPr>
        <p:spPr>
          <a:xfrm>
            <a:off x="4846320" y="1325880"/>
            <a:ext cx="3108960" cy="29260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ip text"/>
          <p:cNvSpPr txBox="1"/>
          <p:nvPr/>
        </p:nvSpPr>
        <p:spPr>
          <a:xfrm>
            <a:off x="4846320" y="1325880"/>
            <a:ext cx="3108960" cy="292608"/>
          </a:xfrm>
          <a:prstGeom prst="rect">
            <a:avLst/>
          </a:prstGeom>
          <a:noFill/>
        </p:spPr>
        <p:txBody>
          <a:bodyPr wrap="square" lIns="0" tIns="0" rIns="0" bIns="0" anchor="ctr">
            <a:spAutoFit/>
          </a:bodyPr>
          <a:lstStyle/>
          <a:p>
            <a:pPr algn="ctr"/>
            <a:r>
              <a:rPr sz="1100" b="1" i="0">
                <a:solidFill>
                  <a:schemeClr val="bg1"/>
                </a:solidFill>
              </a:rPr>
              <a:t>SEPARATING FROM THE CLAUSE</a:t>
            </a:r>
          </a:p>
        </p:txBody>
      </p:sp>
      <p:sp>
        <p:nvSpPr>
          <p:cNvPr id="34" name="Text"/>
          <p:cNvSpPr txBox="1"/>
          <p:nvPr/>
        </p:nvSpPr>
        <p:spPr>
          <a:xfrm>
            <a:off x="4846320" y="1737360"/>
            <a:ext cx="3657600" cy="777240"/>
          </a:xfrm>
          <a:prstGeom prst="rect">
            <a:avLst/>
          </a:prstGeom>
          <a:noFill/>
        </p:spPr>
        <p:txBody>
          <a:bodyPr wrap="square" lIns="0" tIns="0" rIns="0" bIns="0" anchor="t">
            <a:spAutoFit/>
          </a:bodyPr>
          <a:lstStyle/>
          <a:p>
            <a:pPr algn="l"/>
            <a:r>
              <a:rPr sz="1500" b="1" i="0">
                <a:solidFill>
                  <a:schemeClr val="tx1"/>
                </a:solidFill>
              </a:rPr>
              <a:t>When who spoke (the reporting clause) comes first, a comma separates it. It sits before the opening “.</a:t>
            </a:r>
          </a:p>
        </p:txBody>
      </p:sp>
      <p:sp>
        <p:nvSpPr>
          <p:cNvPr id="35" name="Text"/>
          <p:cNvSpPr txBox="1"/>
          <p:nvPr/>
        </p:nvSpPr>
        <p:spPr>
          <a:xfrm>
            <a:off x="4846320" y="2514600"/>
            <a:ext cx="3657600" cy="1143000"/>
          </a:xfrm>
          <a:prstGeom prst="rect">
            <a:avLst/>
          </a:prstGeom>
          <a:noFill/>
        </p:spPr>
        <p:txBody>
          <a:bodyPr wrap="square" lIns="0" tIns="0" rIns="0" bIns="0" anchor="t">
            <a:spAutoFit/>
          </a:bodyPr>
          <a:lstStyle/>
          <a:p>
            <a:pPr algn="l">
              <a:spcAft>
                <a:spcPts val="400"/>
              </a:spcAft>
            </a:pPr>
            <a:r>
              <a:rPr sz="1500" b="0" i="0">
                <a:solidFill>
                  <a:schemeClr val="tx1"/>
                </a:solidFill>
                <a:latin typeface="Cambria"/>
                <a:ea typeface="Cambria"/>
                <a:cs typeface="Cambria"/>
              </a:rPr>
              <a:t>Auntie Anthea said</a:t>
            </a:r>
            <a:r>
              <a:rPr sz="1500" b="1" i="0">
                <a:solidFill>
                  <a:schemeClr val="accent1"/>
                </a:solidFill>
                <a:latin typeface="Cambria"/>
                <a:ea typeface="Cambria"/>
                <a:cs typeface="Cambria"/>
              </a:rPr>
              <a:t>,</a:t>
            </a:r>
            <a:r>
              <a:rPr sz="1500" b="0" i="0">
                <a:solidFill>
                  <a:schemeClr val="tx1"/>
                </a:solidFill>
                <a:latin typeface="Cambria"/>
                <a:ea typeface="Cambria"/>
                <a:cs typeface="Cambria"/>
              </a:rPr>
              <a:t> “You look…</a:t>
            </a:r>
          </a:p>
          <a:p>
            <a:pPr algn="l">
              <a:spcAft>
                <a:spcPts val="400"/>
              </a:spcAft>
            </a:pPr>
            <a:r>
              <a:rPr sz="1500" b="0" i="0">
                <a:solidFill>
                  <a:schemeClr val="tx1"/>
                </a:solidFill>
                <a:latin typeface="Cambria"/>
                <a:ea typeface="Cambria"/>
                <a:cs typeface="Cambria"/>
              </a:rPr>
              <a:t>Auntie Anthea asked</a:t>
            </a:r>
            <a:r>
              <a:rPr sz="1500" b="1" i="0">
                <a:solidFill>
                  <a:schemeClr val="accent1"/>
                </a:solidFill>
                <a:latin typeface="Cambria"/>
                <a:ea typeface="Cambria"/>
                <a:cs typeface="Cambria"/>
              </a:rPr>
              <a:t>,</a:t>
            </a:r>
            <a:r>
              <a:rPr sz="1500" b="0" i="0">
                <a:solidFill>
                  <a:schemeClr val="tx1"/>
                </a:solidFill>
                <a:latin typeface="Cambria"/>
                <a:ea typeface="Cambria"/>
                <a:cs typeface="Cambria"/>
              </a:rPr>
              <a:t> “Where are…</a:t>
            </a:r>
          </a:p>
          <a:p>
            <a:pPr algn="l">
              <a:spcAft>
                <a:spcPts val="400"/>
              </a:spcAft>
            </a:pPr>
            <a:r>
              <a:rPr sz="1300" b="0" i="1">
                <a:solidFill>
                  <a:schemeClr val="tx1"/>
                </a:solidFill>
                <a:latin typeface="Calibri"/>
                <a:ea typeface="Calibri"/>
                <a:cs typeface="Calibri"/>
              </a:rPr>
              <a:t>Dialogue first needs no extra comma: the one inside ” already does the job.</a:t>
            </a:r>
          </a:p>
        </p:txBody>
      </p:sp>
      <p:sp>
        <p:nvSpPr>
          <p:cNvPr id="36" name="Banner"/>
          <p:cNvSpPr/>
          <p:nvPr/>
        </p:nvSpPr>
        <p:spPr>
          <a:xfrm>
            <a:off x="457200" y="3886200"/>
            <a:ext cx="8229600" cy="54864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nner text"/>
          <p:cNvSpPr txBox="1"/>
          <p:nvPr/>
        </p:nvSpPr>
        <p:spPr>
          <a:xfrm>
            <a:off x="640080" y="3886200"/>
            <a:ext cx="7863840" cy="548640"/>
          </a:xfrm>
          <a:prstGeom prst="rect">
            <a:avLst/>
          </a:prstGeom>
          <a:noFill/>
        </p:spPr>
        <p:txBody>
          <a:bodyPr wrap="square" lIns="0" tIns="0" rIns="0" bIns="0" anchor="ctr">
            <a:spAutoFit/>
          </a:bodyPr>
          <a:lstStyle/>
          <a:p>
            <a:pPr algn="l"/>
            <a:r>
              <a:rPr sz="1500" b="1" i="0">
                <a:solidFill>
                  <a:schemeClr val="tx2"/>
                </a:solidFill>
              </a:rPr>
              <a:t>Inside ” = the speech’s own punctuation. Before “ = the comma that separates the clause.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Fix the dialogue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16</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WRONG</a:t>
            </a:r>
          </a:p>
        </p:txBody>
      </p:sp>
      <p:sp>
        <p:nvSpPr>
          <p:cNvPr id="29" name="Text"/>
          <p:cNvSpPr txBox="1"/>
          <p:nvPr/>
        </p:nvSpPr>
        <p:spPr>
          <a:xfrm>
            <a:off x="640080" y="1737360"/>
            <a:ext cx="3291840" cy="1371600"/>
          </a:xfrm>
          <a:prstGeom prst="rect">
            <a:avLst/>
          </a:prstGeom>
          <a:noFill/>
        </p:spPr>
        <p:txBody>
          <a:bodyPr wrap="square" lIns="0" tIns="0" rIns="0" bIns="0" anchor="ctr">
            <a:spAutoFit/>
          </a:bodyPr>
          <a:lstStyle/>
          <a:p>
            <a:pPr algn="l">
              <a:spcAft>
                <a:spcPts val="800"/>
              </a:spcAft>
            </a:pPr>
            <a:r>
              <a:rPr sz="1600" b="1" i="0">
                <a:solidFill>
                  <a:schemeClr val="tx1"/>
                </a:solidFill>
                <a:latin typeface="Cambria"/>
                <a:ea typeface="Cambria"/>
                <a:cs typeface="Cambria"/>
              </a:rPr>
              <a:t>auntie anthea said you look like a tasty supper</a:t>
            </a:r>
          </a:p>
          <a:p>
            <a:pPr algn="l">
              <a:spcAft>
                <a:spcPts val="800"/>
              </a:spcAft>
            </a:pPr>
            <a:r>
              <a:rPr sz="1600" b="1" i="0">
                <a:solidFill>
                  <a:schemeClr val="tx1"/>
                </a:solidFill>
                <a:latin typeface="Cambria"/>
                <a:ea typeface="Cambria"/>
                <a:cs typeface="Cambria"/>
              </a:rPr>
              <a:t>are you lost asked auntie anthea</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46304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463040" cy="292608"/>
          </a:xfrm>
          <a:prstGeom prst="rect">
            <a:avLst/>
          </a:prstGeom>
          <a:noFill/>
        </p:spPr>
        <p:txBody>
          <a:bodyPr wrap="square" lIns="0" tIns="0" rIns="0" bIns="0" anchor="ctr">
            <a:spAutoFit/>
          </a:bodyPr>
          <a:lstStyle/>
          <a:p>
            <a:pPr algn="ctr"/>
            <a:r>
              <a:rPr sz="1200" b="1" i="0">
                <a:solidFill>
                  <a:schemeClr val="bg1"/>
                </a:solidFill>
              </a:rPr>
              <a:t>FIX IT</a:t>
            </a:r>
          </a:p>
        </p:txBody>
      </p:sp>
      <p:sp>
        <p:nvSpPr>
          <p:cNvPr id="33" name="Text"/>
          <p:cNvSpPr txBox="1"/>
          <p:nvPr/>
        </p:nvSpPr>
        <p:spPr>
          <a:xfrm>
            <a:off x="5212080" y="1737360"/>
            <a:ext cx="3291840" cy="1371600"/>
          </a:xfrm>
          <a:prstGeom prst="rect">
            <a:avLst/>
          </a:prstGeom>
          <a:noFill/>
        </p:spPr>
        <p:txBody>
          <a:bodyPr wrap="square" lIns="0" tIns="0" rIns="0" bIns="0" anchor="ctr">
            <a:spAutoFit/>
          </a:bodyPr>
          <a:lstStyle/>
          <a:p>
            <a:pPr algn="l">
              <a:spcAft>
                <a:spcPts val="800"/>
              </a:spcAft>
            </a:pPr>
            <a:r>
              <a:rPr sz="1500" b="1" i="0">
                <a:solidFill>
                  <a:schemeClr val="tx1"/>
                </a:solidFill>
                <a:latin typeface="Cambria"/>
                <a:ea typeface="Cambria"/>
                <a:cs typeface="Cambria"/>
              </a:rPr>
              <a:t>1  Auntie Anthea said, “__________.”</a:t>
            </a:r>
          </a:p>
          <a:p>
            <a:pPr algn="l">
              <a:spcAft>
                <a:spcPts val="800"/>
              </a:spcAft>
            </a:pPr>
            <a:r>
              <a:rPr sz="1500" b="1" i="0">
                <a:solidFill>
                  <a:schemeClr val="tx1"/>
                </a:solidFill>
                <a:latin typeface="Cambria"/>
                <a:ea typeface="Cambria"/>
                <a:cs typeface="Cambria"/>
              </a:rPr>
              <a:t>2  “__________?” asked Auntie Anthea.</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Check: capital letters, inverted commas, end marks and commas.</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fix both sentences. 3 minutes.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fix the dialogue</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800" b="1" i="0">
                <a:solidFill>
                  <a:schemeClr val="tx1"/>
                </a:solidFill>
                <a:latin typeface="Cambria"/>
                <a:ea typeface="Cambria"/>
                <a:cs typeface="Cambria"/>
              </a:rPr>
              <a:t>Auntie Anthea said, “You look like a tasty supper.”</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800" b="1" i="0">
                <a:solidFill>
                  <a:schemeClr val="tx1"/>
                </a:solidFill>
                <a:latin typeface="Cambria"/>
                <a:ea typeface="Cambria"/>
                <a:cs typeface="Cambria"/>
              </a:rPr>
              <a:t>“Are you lost?” asked Auntie Anthea.</a:t>
            </a:r>
          </a:p>
        </p:txBody>
      </p:sp>
      <p:sp>
        <p:nvSpPr>
          <p:cNvPr id="34" name="Text"/>
          <p:cNvSpPr txBox="1"/>
          <p:nvPr/>
        </p:nvSpPr>
        <p:spPr>
          <a:xfrm>
            <a:off x="457200" y="2880360"/>
            <a:ext cx="8229600" cy="914400"/>
          </a:xfrm>
          <a:prstGeom prst="rect">
            <a:avLst/>
          </a:prstGeom>
          <a:noFill/>
        </p:spPr>
        <p:txBody>
          <a:bodyPr wrap="square" lIns="0" tIns="0" rIns="0" bIns="0" anchor="t">
            <a:spAutoFit/>
          </a:bodyPr>
          <a:lstStyle/>
          <a:p>
            <a:pPr algn="l">
              <a:spcAft>
                <a:spcPts val="600"/>
              </a:spcAft>
            </a:pPr>
            <a:r>
              <a:rPr sz="1500" b="1" i="0">
                <a:solidFill>
                  <a:schemeClr val="accent1"/>
                </a:solidFill>
              </a:rPr>
              <a:t>1  </a:t>
            </a:r>
            <a:r>
              <a:rPr sz="1500" b="0" i="0">
                <a:solidFill>
                  <a:schemeClr val="tx1"/>
                </a:solidFill>
              </a:rPr>
              <a:t>Comma after said. Capital letter inside the “. End mark inside the ”.</a:t>
            </a:r>
          </a:p>
          <a:p>
            <a:pPr algn="l">
              <a:spcAft>
                <a:spcPts val="600"/>
              </a:spcAft>
            </a:pPr>
            <a:r>
              <a:rPr sz="1500" b="1" i="0">
                <a:solidFill>
                  <a:schemeClr val="accent1"/>
                </a:solidFill>
              </a:rPr>
              <a:t>2  </a:t>
            </a:r>
            <a:r>
              <a:rPr sz="1500" b="0" i="0">
                <a:solidFill>
                  <a:schemeClr val="tx1"/>
                </a:solidFill>
              </a:rPr>
              <a:t>The question mark sits inside the ”. No comma is needed. “asked” has a small letter.</a:t>
            </a:r>
          </a:p>
        </p:txBody>
      </p:sp>
      <p:sp>
        <p:nvSpPr>
          <p:cNvPr id="35"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Both are correct. Check the capital letter, the marks and the commas.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Show the reaction</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8.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TELL</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400" b="1" i="0">
                <a:solidFill>
                  <a:schemeClr val="tx1"/>
                </a:solidFill>
                <a:latin typeface="Cambria"/>
                <a:ea typeface="Cambria"/>
                <a:cs typeface="Cambria"/>
              </a:rPr>
              <a:t>Geoffrey was scared.</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SHOW</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2400" b="1" i="0">
                <a:solidFill>
                  <a:schemeClr val="tx1"/>
                </a:solidFill>
                <a:latin typeface="Cambria"/>
                <a:ea typeface="Cambria"/>
                <a:cs typeface="Cambria"/>
              </a:rPr>
              <a:t>Geoffrey’s knees shook.</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A reaction shows how the character feels before the choice.</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Whiteboard: </a:t>
            </a:r>
            <a:r>
              <a:rPr sz="1600" b="1" i="0">
                <a:solidFill>
                  <a:schemeClr val="bg1"/>
                </a:solidFill>
              </a:rPr>
              <a:t>write another reaction. Do not use the word scared.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Weak choice or the trait?</a:t>
            </a:r>
          </a:p>
        </p:txBody>
      </p:sp>
      <p:sp>
        <p:nvSpPr>
          <p:cNvPr id="3" name="Badge"/>
          <p:cNvSpPr/>
          <p:nvPr/>
        </p:nvSpPr>
        <p:spPr>
          <a:xfrm>
            <a:off x="7955279" y="274320"/>
            <a:ext cx="731520" cy="73152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9.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19</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WEAK CHOICE</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400" b="1" i="0">
                <a:solidFill>
                  <a:schemeClr val="tx1"/>
                </a:solidFill>
                <a:latin typeface="Cambria"/>
                <a:ea typeface="Cambria"/>
                <a:cs typeface="Cambria"/>
              </a:rPr>
              <a:t>Geoffrey ran away.</a:t>
            </a:r>
          </a:p>
        </p:txBody>
      </p:sp>
      <p:sp>
        <p:nvSpPr>
          <p:cNvPr id="30" name="Card"/>
          <p:cNvSpPr/>
          <p:nvPr/>
        </p:nvSpPr>
        <p:spPr>
          <a:xfrm>
            <a:off x="5029200" y="1188720"/>
            <a:ext cx="3657600" cy="2011680"/>
          </a:xfrm>
          <a:prstGeom prst="roundRect">
            <a:avLst>
              <a:gd name="adj" fmla="val 5500"/>
            </a:avLst>
          </a:prstGeom>
          <a:solidFill>
            <a:schemeClr val="accent3">
              <a:alpha val="12000"/>
            </a:schemeClr>
          </a:solid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FROM THE TRAIT</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1600" b="1" i="0">
                <a:solidFill>
                  <a:schemeClr val="tx1"/>
                </a:solidFill>
                <a:latin typeface="Cambria"/>
                <a:ea typeface="Cambria"/>
                <a:cs typeface="Cambria"/>
              </a:rPr>
              <a:t>Instead of running, he closed his eyes and began to sing, as if he were far away in a dream.</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A strong choice could only belong to this character.</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Partner talk: </a:t>
            </a:r>
            <a:r>
              <a:rPr sz="1600" b="1" i="0">
                <a:solidFill>
                  <a:schemeClr val="bg1"/>
                </a:solidFill>
              </a:rPr>
              <a:t>which choice shows Geoffrey is dreamy? Why?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Answer: from the trait</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20</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500" b="1" i="0">
                <a:solidFill>
                  <a:schemeClr val="tx1"/>
                </a:solidFill>
              </a:rPr>
              <a:t>Stronger:  </a:t>
            </a:r>
            <a:r>
              <a:rPr sz="1500" b="0" i="0">
                <a:solidFill>
                  <a:schemeClr val="tx1"/>
                </a:solidFill>
              </a:rPr>
              <a:t>Singing shows Geoffrey is lost in a dream, even when he is in danger.</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500" b="1" i="0">
                <a:solidFill>
                  <a:schemeClr val="tx1"/>
                </a:solidFill>
              </a:rPr>
              <a:t>Weaker:  </a:t>
            </a:r>
            <a:r>
              <a:rPr sz="1500" b="0" i="0">
                <a:solidFill>
                  <a:schemeClr val="tx1"/>
                </a:solidFill>
              </a:rPr>
              <a:t>Running away could be any character. It tells us nothing about Geoffrey.</a:t>
            </a:r>
          </a:p>
        </p:txBody>
      </p:sp>
      <p:sp>
        <p:nvSpPr>
          <p:cNvPr id="34" name="Row"/>
          <p:cNvSpPr/>
          <p:nvPr/>
        </p:nvSpPr>
        <p:spPr>
          <a:xfrm>
            <a:off x="457200" y="2889504"/>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0906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163824"/>
            <a:ext cx="182880" cy="182880"/>
          </a:xfrm>
          <a:prstGeom prst="rect">
            <a:avLst/>
          </a:prstGeom>
        </p:spPr>
      </p:pic>
      <p:sp>
        <p:nvSpPr>
          <p:cNvPr id="37" name="Row text"/>
          <p:cNvSpPr txBox="1"/>
          <p:nvPr/>
        </p:nvSpPr>
        <p:spPr>
          <a:xfrm>
            <a:off x="1143000" y="2889504"/>
            <a:ext cx="7360920" cy="731520"/>
          </a:xfrm>
          <a:prstGeom prst="rect">
            <a:avLst/>
          </a:prstGeom>
          <a:noFill/>
        </p:spPr>
        <p:txBody>
          <a:bodyPr wrap="square" lIns="0" tIns="0" rIns="0" bIns="0" anchor="ctr">
            <a:spAutoFit/>
          </a:bodyPr>
          <a:lstStyle/>
          <a:p>
            <a:pPr algn="l"/>
            <a:r>
              <a:rPr sz="1500" b="1" i="0">
                <a:solidFill>
                  <a:schemeClr val="tx1"/>
                </a:solidFill>
              </a:rPr>
              <a:t>Link it:  </a:t>
            </a:r>
            <a:r>
              <a:rPr sz="1500" b="0" i="0">
                <a:solidFill>
                  <a:schemeClr val="tx1"/>
                </a:solidFill>
              </a:rPr>
              <a:t>Geoffrey is dreamy, so he sang instead of running away.</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The choice reveals the trait.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I write, we write, you write</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21</a:t>
            </a:fld>
            <a:endParaRPr lang="en-US"/>
          </a:p>
        </p:txBody>
      </p:sp>
      <p:sp>
        <p:nvSpPr>
          <p:cNvPr id="26" name="Card"/>
          <p:cNvSpPr/>
          <p:nvPr/>
        </p:nvSpPr>
        <p:spPr>
          <a:xfrm>
            <a:off x="457200"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5.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I write</a:t>
            </a:r>
          </a:p>
        </p:txBody>
      </p:sp>
      <p:sp>
        <p:nvSpPr>
          <p:cNvPr id="30" name="Text"/>
          <p:cNvSpPr txBox="1"/>
          <p:nvPr/>
        </p:nvSpPr>
        <p:spPr>
          <a:xfrm>
            <a:off x="621792" y="2532888"/>
            <a:ext cx="2295144" cy="1170431"/>
          </a:xfrm>
          <a:prstGeom prst="rect">
            <a:avLst/>
          </a:prstGeom>
          <a:noFill/>
        </p:spPr>
        <p:txBody>
          <a:bodyPr wrap="square" lIns="0" tIns="0" rIns="0" bIns="0" anchor="t">
            <a:spAutoFit/>
          </a:bodyPr>
          <a:lstStyle/>
          <a:p>
            <a:pPr algn="ctr"/>
            <a:r>
              <a:rPr sz="1400" b="0" i="0">
                <a:solidFill>
                  <a:schemeClr val="tx1"/>
                </a:solidFill>
              </a:rPr>
              <a:t>I write the meeting and the dialogue. I think aloud.</a:t>
            </a:r>
          </a:p>
        </p:txBody>
      </p:sp>
      <p:sp>
        <p:nvSpPr>
          <p:cNvPr id="31" name="Card"/>
          <p:cNvSpPr/>
          <p:nvPr/>
        </p:nvSpPr>
        <p:spPr>
          <a:xfrm>
            <a:off x="3259836"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5.png"/>
          <p:cNvPicPr>
            <a:picLocks noChangeAspect="1"/>
          </p:cNvPicPr>
          <p:nvPr/>
        </p:nvPicPr>
        <p:blipFill>
          <a:blip r:embed="rId3"/>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We write</a:t>
            </a:r>
          </a:p>
        </p:txBody>
      </p:sp>
      <p:sp>
        <p:nvSpPr>
          <p:cNvPr id="35" name="Text"/>
          <p:cNvSpPr txBox="1"/>
          <p:nvPr/>
        </p:nvSpPr>
        <p:spPr>
          <a:xfrm>
            <a:off x="3424428" y="2532888"/>
            <a:ext cx="2295144" cy="1170431"/>
          </a:xfrm>
          <a:prstGeom prst="rect">
            <a:avLst/>
          </a:prstGeom>
          <a:noFill/>
        </p:spPr>
        <p:txBody>
          <a:bodyPr wrap="square" lIns="0" tIns="0" rIns="0" bIns="0" anchor="t">
            <a:spAutoFit/>
          </a:bodyPr>
          <a:lstStyle/>
          <a:p>
            <a:pPr algn="ctr"/>
            <a:r>
              <a:rPr sz="1400" b="0" i="0">
                <a:solidFill>
                  <a:schemeClr val="tx1"/>
                </a:solidFill>
              </a:rPr>
              <a:t>You write the reaction and the choice on your whiteboards. We choose the best.</a:t>
            </a:r>
          </a:p>
        </p:txBody>
      </p:sp>
      <p:sp>
        <p:nvSpPr>
          <p:cNvPr id="36" name="Card"/>
          <p:cNvSpPr/>
          <p:nvPr/>
        </p:nvSpPr>
        <p:spPr>
          <a:xfrm>
            <a:off x="6062472" y="1188720"/>
            <a:ext cx="2624328" cy="2606040"/>
          </a:xfrm>
          <a:prstGeom prst="roundRect">
            <a:avLst>
              <a:gd name="adj" fmla="val 55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6.png"/>
          <p:cNvPicPr>
            <a:picLocks noChangeAspect="1"/>
          </p:cNvPicPr>
          <p:nvPr/>
        </p:nvPicPr>
        <p:blipFill>
          <a:blip r:embed="rId5"/>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You write</a:t>
            </a:r>
          </a:p>
        </p:txBody>
      </p:sp>
      <p:sp>
        <p:nvSpPr>
          <p:cNvPr id="40" name="Text"/>
          <p:cNvSpPr txBox="1"/>
          <p:nvPr/>
        </p:nvSpPr>
        <p:spPr>
          <a:xfrm>
            <a:off x="6227064" y="2532888"/>
            <a:ext cx="2295144" cy="1170431"/>
          </a:xfrm>
          <a:prstGeom prst="rect">
            <a:avLst/>
          </a:prstGeom>
          <a:noFill/>
        </p:spPr>
        <p:txBody>
          <a:bodyPr wrap="square" lIns="0" tIns="0" rIns="0" bIns="0" anchor="t">
            <a:spAutoFit/>
          </a:bodyPr>
          <a:lstStyle/>
          <a:p>
            <a:pPr algn="ctr"/>
            <a:r>
              <a:rPr sz="1400" b="0" i="0">
                <a:solidFill>
                  <a:schemeClr val="tx1"/>
                </a:solidFill>
              </a:rPr>
              <a:t>You write your own Paragraph 3 using your story map. This is the longest part.</a:t>
            </a:r>
          </a:p>
        </p:txBody>
      </p:sp>
      <p:sp>
        <p:nvSpPr>
          <p:cNvPr id="41"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Watch me. Help me. Then you try.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shared writing</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
        <p:nvSpPr>
          <p:cNvPr id="26" name="Card"/>
          <p:cNvSpPr/>
          <p:nvPr/>
        </p:nvSpPr>
        <p:spPr>
          <a:xfrm>
            <a:off x="457200" y="1188720"/>
            <a:ext cx="3657600" cy="2194560"/>
          </a:xfrm>
          <a:prstGeom prst="roundRect">
            <a:avLst>
              <a:gd name="adj" fmla="val 50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07592"/>
            <a:ext cx="23774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07592"/>
            <a:ext cx="2377440" cy="292608"/>
          </a:xfrm>
          <a:prstGeom prst="rect">
            <a:avLst/>
          </a:prstGeom>
          <a:noFill/>
        </p:spPr>
        <p:txBody>
          <a:bodyPr wrap="square" lIns="0" tIns="0" rIns="0" bIns="0" anchor="ctr">
            <a:spAutoFit/>
          </a:bodyPr>
          <a:lstStyle/>
          <a:p>
            <a:pPr algn="ctr"/>
            <a:r>
              <a:rPr sz="1000" b="1" i="0">
                <a:solidFill>
                  <a:schemeClr val="bg1"/>
                </a:solidFill>
              </a:rPr>
              <a:t>I WRITE: MEETING + DIALOGUE</a:t>
            </a:r>
          </a:p>
        </p:txBody>
      </p:sp>
      <p:sp>
        <p:nvSpPr>
          <p:cNvPr id="29" name="Text"/>
          <p:cNvSpPr txBox="1"/>
          <p:nvPr/>
        </p:nvSpPr>
        <p:spPr>
          <a:xfrm>
            <a:off x="640080" y="1691640"/>
            <a:ext cx="3291840" cy="1645920"/>
          </a:xfrm>
          <a:prstGeom prst="rect">
            <a:avLst/>
          </a:prstGeom>
          <a:noFill/>
        </p:spPr>
        <p:txBody>
          <a:bodyPr wrap="square" lIns="0" tIns="0" rIns="0" bIns="0" anchor="ctr">
            <a:spAutoFit/>
          </a:bodyPr>
          <a:lstStyle/>
          <a:p>
            <a:pPr algn="l"/>
            <a:r>
              <a:rPr sz="1400" b="1" i="0">
                <a:solidFill>
                  <a:schemeClr val="tx1"/>
                </a:solidFill>
                <a:latin typeface="Cambria"/>
                <a:ea typeface="Cambria"/>
                <a:cs typeface="Cambria"/>
              </a:rPr>
              <a:t>Cold and dizzy with hunger, Geoffrey drifted across the frosty field. Suddenly, Auntie Anthea blocked his path. “Where are you going, little one?” she asked.</a:t>
            </a:r>
          </a:p>
        </p:txBody>
      </p:sp>
      <p:sp>
        <p:nvSpPr>
          <p:cNvPr id="30" name="Card"/>
          <p:cNvSpPr/>
          <p:nvPr/>
        </p:nvSpPr>
        <p:spPr>
          <a:xfrm>
            <a:off x="5029200" y="1188720"/>
            <a:ext cx="3657600" cy="2194560"/>
          </a:xfrm>
          <a:prstGeom prst="roundRect">
            <a:avLst>
              <a:gd name="adj" fmla="val 5000"/>
            </a:avLst>
          </a:prstGeom>
          <a:solidFill>
            <a:schemeClr val="accent4">
              <a:alpha val="12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07592"/>
            <a:ext cx="256032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07592"/>
            <a:ext cx="2560320" cy="292608"/>
          </a:xfrm>
          <a:prstGeom prst="rect">
            <a:avLst/>
          </a:prstGeom>
          <a:noFill/>
        </p:spPr>
        <p:txBody>
          <a:bodyPr wrap="square" lIns="0" tIns="0" rIns="0" bIns="0" anchor="ctr">
            <a:spAutoFit/>
          </a:bodyPr>
          <a:lstStyle/>
          <a:p>
            <a:pPr algn="ctr"/>
            <a:r>
              <a:rPr sz="1000" b="1" i="0">
                <a:solidFill>
                  <a:schemeClr val="bg1"/>
                </a:solidFill>
              </a:rPr>
              <a:t>WE WRITE: REACTION + CHOICE</a:t>
            </a:r>
          </a:p>
        </p:txBody>
      </p:sp>
      <p:sp>
        <p:nvSpPr>
          <p:cNvPr id="33" name="Text"/>
          <p:cNvSpPr txBox="1"/>
          <p:nvPr/>
        </p:nvSpPr>
        <p:spPr>
          <a:xfrm>
            <a:off x="5212080" y="1691640"/>
            <a:ext cx="3291840" cy="1645920"/>
          </a:xfrm>
          <a:prstGeom prst="rect">
            <a:avLst/>
          </a:prstGeom>
          <a:noFill/>
        </p:spPr>
        <p:txBody>
          <a:bodyPr wrap="square" lIns="0" tIns="0" rIns="0" bIns="0" anchor="ctr">
            <a:spAutoFit/>
          </a:bodyPr>
          <a:lstStyle/>
          <a:p>
            <a:pPr algn="l"/>
            <a:r>
              <a:rPr sz="1600" b="1" i="0">
                <a:solidFill>
                  <a:schemeClr val="tx1"/>
                </a:solidFill>
                <a:latin typeface="Cambria"/>
                <a:ea typeface="Cambria"/>
                <a:cs typeface="Cambria"/>
              </a:rPr>
              <a:t>Geoffrey’s ____________. Instead of running, he ____________.</a:t>
            </a:r>
          </a:p>
        </p:txBody>
      </p:sp>
      <p:sp>
        <p:nvSpPr>
          <p:cNvPr id="34" name="Arrow"/>
          <p:cNvSpPr/>
          <p:nvPr/>
        </p:nvSpPr>
        <p:spPr>
          <a:xfrm>
            <a:off x="4224528" y="201168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566160"/>
            <a:ext cx="8229600" cy="54864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566160"/>
            <a:ext cx="7863840" cy="548640"/>
          </a:xfrm>
          <a:prstGeom prst="rect">
            <a:avLst/>
          </a:prstGeom>
          <a:noFill/>
        </p:spPr>
        <p:txBody>
          <a:bodyPr wrap="square" lIns="0" tIns="0" rIns="0" bIns="0" anchor="ctr">
            <a:spAutoFit/>
          </a:bodyPr>
          <a:lstStyle/>
          <a:p>
            <a:pPr algn="l"/>
            <a:r>
              <a:rPr sz="1400" b="1" i="0">
                <a:solidFill>
                  <a:schemeClr val="tx2"/>
                </a:solidFill>
              </a:rPr>
              <a:t>Check: does it follow the problem? Is the punctuation right? Does the choice show he is dreamy?</a:t>
            </a:r>
          </a:p>
        </p:txBody>
      </p:sp>
      <p:sp>
        <p:nvSpPr>
          <p:cNvPr id="37" name="Banner"/>
          <p:cNvSpPr/>
          <p:nvPr/>
        </p:nvSpPr>
        <p:spPr>
          <a:xfrm>
            <a:off x="457200" y="4206240"/>
            <a:ext cx="8229600" cy="36576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206240"/>
            <a:ext cx="7863840" cy="365760"/>
          </a:xfrm>
          <a:prstGeom prst="rect">
            <a:avLst/>
          </a:prstGeom>
          <a:noFill/>
        </p:spPr>
        <p:txBody>
          <a:bodyPr wrap="square" lIns="0" tIns="0" rIns="0" bIns="0" anchor="ctr">
            <a:spAutoFit/>
          </a:bodyPr>
          <a:lstStyle/>
          <a:p>
            <a:pPr algn="l"/>
            <a:r>
              <a:rPr sz="1400" b="1" i="0">
                <a:solidFill>
                  <a:schemeClr val="accent2"/>
                </a:solidFill>
              </a:rPr>
              <a:t>Whiteboard: </a:t>
            </a:r>
            <a:r>
              <a:rPr sz="1400" b="1" i="0">
                <a:solidFill>
                  <a:schemeClr val="bg1"/>
                </a:solidFill>
              </a:rPr>
              <a:t>complete the reaction and the choice. 3 minutes.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Choose your path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7.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23</a:t>
            </a:fld>
            <a:endParaRPr lang="en-US"/>
          </a:p>
        </p:txBody>
      </p:sp>
      <p:sp>
        <p:nvSpPr>
          <p:cNvPr id="26" name="Card"/>
          <p:cNvSpPr/>
          <p:nvPr/>
        </p:nvSpPr>
        <p:spPr>
          <a:xfrm>
            <a:off x="457200"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325880"/>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8.png"/>
          <p:cNvPicPr>
            <a:picLocks noChangeAspect="1"/>
          </p:cNvPicPr>
          <p:nvPr/>
        </p:nvPicPr>
        <p:blipFill>
          <a:blip r:embed="rId4"/>
          <a:stretch>
            <a:fillRect/>
          </a:stretch>
        </p:blipFill>
        <p:spPr>
          <a:xfrm>
            <a:off x="1588312" y="1474012"/>
            <a:ext cx="362102" cy="362102"/>
          </a:xfrm>
          <a:prstGeom prst="rect">
            <a:avLst/>
          </a:prstGeom>
        </p:spPr>
      </p:pic>
      <p:sp>
        <p:nvSpPr>
          <p:cNvPr id="29" name="Text"/>
          <p:cNvSpPr txBox="1"/>
          <p:nvPr/>
        </p:nvSpPr>
        <p:spPr>
          <a:xfrm>
            <a:off x="530352"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Trail: extra support</a:t>
            </a:r>
          </a:p>
        </p:txBody>
      </p:sp>
      <p:sp>
        <p:nvSpPr>
          <p:cNvPr id="30" name="Text"/>
          <p:cNvSpPr txBox="1"/>
          <p:nvPr/>
        </p:nvSpPr>
        <p:spPr>
          <a:xfrm>
            <a:off x="457200" y="2523614"/>
            <a:ext cx="2638044" cy="1384995"/>
          </a:xfrm>
          <a:prstGeom prst="rect">
            <a:avLst/>
          </a:prstGeom>
          <a:noFill/>
        </p:spPr>
        <p:txBody>
          <a:bodyPr wrap="square" lIns="0" tIns="0" rIns="0" bIns="0" anchor="t">
            <a:spAutoFit/>
          </a:bodyPr>
          <a:lstStyle/>
          <a:p>
            <a:pPr algn="ctr"/>
            <a:r>
              <a:rPr sz="1500" b="0" i="0" dirty="0">
                <a:solidFill>
                  <a:schemeClr val="tx1"/>
                </a:solidFill>
              </a:rPr>
              <a:t>Sentence frame</a:t>
            </a:r>
          </a:p>
          <a:p>
            <a:pPr algn="ctr"/>
            <a:r>
              <a:rPr sz="1500" b="0" i="0" dirty="0">
                <a:solidFill>
                  <a:schemeClr val="tx1"/>
                </a:solidFill>
              </a:rPr>
              <a:t>Weak and ___, my character met ___.</a:t>
            </a:r>
            <a:endParaRPr lang="en-US" sz="1500" b="0" i="0" dirty="0">
              <a:solidFill>
                <a:schemeClr val="tx1"/>
              </a:solidFill>
            </a:endParaRPr>
          </a:p>
          <a:p>
            <a:pPr algn="ctr"/>
            <a:r>
              <a:rPr sz="1500" b="0" i="0" dirty="0">
                <a:solidFill>
                  <a:schemeClr val="tx1"/>
                </a:solidFill>
              </a:rPr>
              <a:t> “___,” said ___. </a:t>
            </a:r>
            <a:endParaRPr lang="en-US" sz="1500" b="0" i="0" dirty="0">
              <a:solidFill>
                <a:schemeClr val="tx1"/>
              </a:solidFill>
            </a:endParaRPr>
          </a:p>
          <a:p>
            <a:pPr algn="ctr"/>
            <a:r>
              <a:rPr sz="1500" b="0" i="0" dirty="0">
                <a:solidFill>
                  <a:schemeClr val="tx1"/>
                </a:solidFill>
              </a:rPr>
              <a:t>My character ___. Instead of ___, he or she ___.</a:t>
            </a:r>
          </a:p>
        </p:txBody>
      </p:sp>
      <p:sp>
        <p:nvSpPr>
          <p:cNvPr id="31" name="Card"/>
          <p:cNvSpPr/>
          <p:nvPr/>
        </p:nvSpPr>
        <p:spPr>
          <a:xfrm>
            <a:off x="3259836"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325880"/>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7.png"/>
          <p:cNvPicPr>
            <a:picLocks noChangeAspect="1"/>
          </p:cNvPicPr>
          <p:nvPr/>
        </p:nvPicPr>
        <p:blipFill>
          <a:blip r:embed="rId3"/>
          <a:stretch>
            <a:fillRect/>
          </a:stretch>
        </p:blipFill>
        <p:spPr>
          <a:xfrm>
            <a:off x="4390948" y="1474012"/>
            <a:ext cx="362102" cy="362102"/>
          </a:xfrm>
          <a:prstGeom prst="rect">
            <a:avLst/>
          </a:prstGeom>
        </p:spPr>
      </p:pic>
      <p:sp>
        <p:nvSpPr>
          <p:cNvPr id="34" name="Text"/>
          <p:cNvSpPr txBox="1"/>
          <p:nvPr/>
        </p:nvSpPr>
        <p:spPr>
          <a:xfrm>
            <a:off x="3332988"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Ridge: independent</a:t>
            </a:r>
          </a:p>
        </p:txBody>
      </p:sp>
      <p:sp>
        <p:nvSpPr>
          <p:cNvPr id="35" name="Text"/>
          <p:cNvSpPr txBox="1"/>
          <p:nvPr/>
        </p:nvSpPr>
        <p:spPr>
          <a:xfrm>
            <a:off x="3424428" y="2532888"/>
            <a:ext cx="2295144" cy="1154162"/>
          </a:xfrm>
          <a:prstGeom prst="rect">
            <a:avLst/>
          </a:prstGeom>
          <a:noFill/>
        </p:spPr>
        <p:txBody>
          <a:bodyPr wrap="square" lIns="0" tIns="0" rIns="0" bIns="0" anchor="t">
            <a:spAutoFit/>
          </a:bodyPr>
          <a:lstStyle/>
          <a:p>
            <a:pPr algn="ctr"/>
            <a:r>
              <a:rPr sz="1500" b="0" i="0" dirty="0">
                <a:solidFill>
                  <a:schemeClr val="tx1"/>
                </a:solidFill>
              </a:rPr>
              <a:t>Four parts</a:t>
            </a:r>
          </a:p>
          <a:p>
            <a:pPr algn="ctr"/>
            <a:r>
              <a:rPr sz="1500" b="0" i="0" dirty="0">
                <a:solidFill>
                  <a:schemeClr val="tx1"/>
                </a:solidFill>
              </a:rPr>
              <a:t>Use your story map. </a:t>
            </a:r>
            <a:endParaRPr lang="en-US" sz="1500" b="0" i="0" dirty="0">
              <a:solidFill>
                <a:schemeClr val="tx1"/>
              </a:solidFill>
            </a:endParaRPr>
          </a:p>
          <a:p>
            <a:pPr algn="ctr"/>
            <a:r>
              <a:rPr sz="1500" b="0" i="0" dirty="0">
                <a:solidFill>
                  <a:schemeClr val="tx1"/>
                </a:solidFill>
              </a:rPr>
              <a:t>Write the meeting, the dialogue, the reaction and the choice.</a:t>
            </a:r>
          </a:p>
        </p:txBody>
      </p:sp>
      <p:sp>
        <p:nvSpPr>
          <p:cNvPr id="36" name="Card"/>
          <p:cNvSpPr/>
          <p:nvPr/>
        </p:nvSpPr>
        <p:spPr>
          <a:xfrm>
            <a:off x="6062472" y="1188720"/>
            <a:ext cx="2624328" cy="2834640"/>
          </a:xfrm>
          <a:prstGeom prst="roundRect">
            <a:avLst>
              <a:gd name="adj" fmla="val 55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1" y="1325880"/>
            <a:ext cx="658368" cy="65836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9.png"/>
          <p:cNvPicPr>
            <a:picLocks noChangeAspect="1"/>
          </p:cNvPicPr>
          <p:nvPr/>
        </p:nvPicPr>
        <p:blipFill>
          <a:blip r:embed="rId5"/>
          <a:stretch>
            <a:fillRect/>
          </a:stretch>
        </p:blipFill>
        <p:spPr>
          <a:xfrm>
            <a:off x="7193584" y="1474012"/>
            <a:ext cx="362102" cy="362102"/>
          </a:xfrm>
          <a:prstGeom prst="rect">
            <a:avLst/>
          </a:prstGeom>
        </p:spPr>
      </p:pic>
      <p:sp>
        <p:nvSpPr>
          <p:cNvPr id="39" name="Text"/>
          <p:cNvSpPr txBox="1"/>
          <p:nvPr/>
        </p:nvSpPr>
        <p:spPr>
          <a:xfrm>
            <a:off x="6135624" y="2075688"/>
            <a:ext cx="2478024"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Summit: stretch</a:t>
            </a:r>
          </a:p>
        </p:txBody>
      </p:sp>
      <p:sp>
        <p:nvSpPr>
          <p:cNvPr id="40" name="Text"/>
          <p:cNvSpPr txBox="1"/>
          <p:nvPr/>
        </p:nvSpPr>
        <p:spPr>
          <a:xfrm>
            <a:off x="6062471" y="2532888"/>
            <a:ext cx="2624327" cy="1154162"/>
          </a:xfrm>
          <a:prstGeom prst="rect">
            <a:avLst/>
          </a:prstGeom>
          <a:noFill/>
        </p:spPr>
        <p:txBody>
          <a:bodyPr wrap="square" lIns="0" tIns="0" rIns="0" bIns="0" anchor="t">
            <a:spAutoFit/>
          </a:bodyPr>
          <a:lstStyle/>
          <a:p>
            <a:pPr algn="ctr"/>
            <a:r>
              <a:rPr sz="1500" b="0" i="0" dirty="0">
                <a:solidFill>
                  <a:schemeClr val="tx1"/>
                </a:solidFill>
              </a:rPr>
              <a:t>Two patterns</a:t>
            </a:r>
          </a:p>
          <a:p>
            <a:pPr algn="ctr"/>
            <a:r>
              <a:rPr sz="1500" b="0" i="0" dirty="0">
                <a:solidFill>
                  <a:schemeClr val="tx1"/>
                </a:solidFill>
              </a:rPr>
              <a:t>Add a second line of dialogue. Use dialogue first once and who spoke (the reporting clause) first once.</a:t>
            </a:r>
          </a:p>
        </p:txBody>
      </p:sp>
      <p:sp>
        <p:nvSpPr>
          <p:cNvPr id="41" name="Banner"/>
          <p:cNvSpPr/>
          <p:nvPr/>
        </p:nvSpPr>
        <p:spPr>
          <a:xfrm>
            <a:off x="457200" y="416052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4160520"/>
            <a:ext cx="7863840" cy="502920"/>
          </a:xfrm>
          <a:prstGeom prst="rect">
            <a:avLst/>
          </a:prstGeom>
          <a:noFill/>
        </p:spPr>
        <p:txBody>
          <a:bodyPr wrap="square" lIns="0" tIns="0" rIns="0" bIns="0" anchor="ctr">
            <a:spAutoFit/>
          </a:bodyPr>
          <a:lstStyle/>
          <a:p>
            <a:pPr algn="l"/>
            <a:r>
              <a:rPr sz="1400" b="1" i="0">
                <a:solidFill>
                  <a:schemeClr val="tx2"/>
                </a:solidFill>
              </a:rPr>
              <a:t>Same goal for everyone: a meeting linked to the problem, correct dialogue punctuation, and a choice that shows the trait.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the three paths</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7.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24</a:t>
            </a:fld>
            <a:endParaRPr lang="en-US"/>
          </a:p>
        </p:txBody>
      </p:sp>
      <p:sp>
        <p:nvSpPr>
          <p:cNvPr id="26" name="Card"/>
          <p:cNvSpPr/>
          <p:nvPr/>
        </p:nvSpPr>
        <p:spPr>
          <a:xfrm>
            <a:off x="457200"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594360" y="1298448"/>
            <a:ext cx="502920" cy="50292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8.png"/>
          <p:cNvPicPr>
            <a:picLocks noChangeAspect="1"/>
          </p:cNvPicPr>
          <p:nvPr/>
        </p:nvPicPr>
        <p:blipFill>
          <a:blip r:embed="rId4"/>
          <a:stretch>
            <a:fillRect/>
          </a:stretch>
        </p:blipFill>
        <p:spPr>
          <a:xfrm>
            <a:off x="707517" y="1411604"/>
            <a:ext cx="276606" cy="276606"/>
          </a:xfrm>
          <a:prstGeom prst="rect">
            <a:avLst/>
          </a:prstGeom>
        </p:spPr>
      </p:pic>
      <p:sp>
        <p:nvSpPr>
          <p:cNvPr id="29" name="Text"/>
          <p:cNvSpPr txBox="1"/>
          <p:nvPr/>
        </p:nvSpPr>
        <p:spPr>
          <a:xfrm>
            <a:off x="1234440"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Trail</a:t>
            </a:r>
          </a:p>
        </p:txBody>
      </p:sp>
      <p:sp>
        <p:nvSpPr>
          <p:cNvPr id="30" name="Text"/>
          <p:cNvSpPr txBox="1"/>
          <p:nvPr/>
        </p:nvSpPr>
        <p:spPr>
          <a:xfrm>
            <a:off x="621792" y="1920240"/>
            <a:ext cx="2331720" cy="2560320"/>
          </a:xfrm>
          <a:prstGeom prst="rect">
            <a:avLst/>
          </a:prstGeom>
          <a:noFill/>
        </p:spPr>
        <p:txBody>
          <a:bodyPr wrap="square" lIns="0" tIns="0" rIns="0" bIns="0" anchor="t">
            <a:spAutoFit/>
          </a:bodyPr>
          <a:lstStyle/>
          <a:p>
            <a:pPr algn="l"/>
            <a:r>
              <a:rPr sz="1400" b="0" i="0">
                <a:solidFill>
                  <a:schemeClr val="tx1"/>
                </a:solidFill>
                <a:latin typeface="Cambria"/>
                <a:ea typeface="Cambria"/>
                <a:cs typeface="Cambria"/>
              </a:rPr>
              <a:t>Weak and cold, Geoffrey met Auntie Anthea. “You look like a tasty supper,” said Auntie Anthea. Geoffrey’s knees shook. Instead of running, he sang.</a:t>
            </a:r>
          </a:p>
        </p:txBody>
      </p:sp>
      <p:sp>
        <p:nvSpPr>
          <p:cNvPr id="31" name="Card"/>
          <p:cNvSpPr/>
          <p:nvPr/>
        </p:nvSpPr>
        <p:spPr>
          <a:xfrm>
            <a:off x="3259836"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3396996" y="1298448"/>
            <a:ext cx="502920" cy="5029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17.png"/>
          <p:cNvPicPr>
            <a:picLocks noChangeAspect="1"/>
          </p:cNvPicPr>
          <p:nvPr/>
        </p:nvPicPr>
        <p:blipFill>
          <a:blip r:embed="rId3"/>
          <a:stretch>
            <a:fillRect/>
          </a:stretch>
        </p:blipFill>
        <p:spPr>
          <a:xfrm>
            <a:off x="3510152" y="1411604"/>
            <a:ext cx="276606" cy="276606"/>
          </a:xfrm>
          <a:prstGeom prst="rect">
            <a:avLst/>
          </a:prstGeom>
        </p:spPr>
      </p:pic>
      <p:sp>
        <p:nvSpPr>
          <p:cNvPr id="34" name="Text"/>
          <p:cNvSpPr txBox="1"/>
          <p:nvPr/>
        </p:nvSpPr>
        <p:spPr>
          <a:xfrm>
            <a:off x="4037076"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Ridge</a:t>
            </a:r>
          </a:p>
        </p:txBody>
      </p:sp>
      <p:sp>
        <p:nvSpPr>
          <p:cNvPr id="35" name="Text"/>
          <p:cNvSpPr txBox="1"/>
          <p:nvPr/>
        </p:nvSpPr>
        <p:spPr>
          <a:xfrm>
            <a:off x="3424428" y="1920240"/>
            <a:ext cx="2331720" cy="2560320"/>
          </a:xfrm>
          <a:prstGeom prst="rect">
            <a:avLst/>
          </a:prstGeom>
          <a:noFill/>
        </p:spPr>
        <p:txBody>
          <a:bodyPr wrap="square" lIns="0" tIns="0" rIns="0" bIns="0" anchor="t">
            <a:spAutoFit/>
          </a:bodyPr>
          <a:lstStyle/>
          <a:p>
            <a:pPr algn="l"/>
            <a:r>
              <a:rPr sz="1400" b="0" i="0">
                <a:solidFill>
                  <a:schemeClr val="tx1"/>
                </a:solidFill>
                <a:latin typeface="Cambria"/>
                <a:ea typeface="Cambria"/>
                <a:cs typeface="Cambria"/>
              </a:rPr>
              <a:t>Weak and shivering, Geoffrey stumbled across the frosty field. Suddenly, Auntie Anthea stepped out from behind a stone. “You look like a tasty supper,” she said. Geoffrey’s knees shook. Instead of running, he closed his eyes and began to sing.</a:t>
            </a:r>
          </a:p>
        </p:txBody>
      </p:sp>
      <p:sp>
        <p:nvSpPr>
          <p:cNvPr id="36" name="Card"/>
          <p:cNvSpPr/>
          <p:nvPr/>
        </p:nvSpPr>
        <p:spPr>
          <a:xfrm>
            <a:off x="6062472" y="1188720"/>
            <a:ext cx="2624328" cy="3337560"/>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6199632" y="1298448"/>
            <a:ext cx="502920" cy="5029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9.png"/>
          <p:cNvPicPr>
            <a:picLocks noChangeAspect="1"/>
          </p:cNvPicPr>
          <p:nvPr/>
        </p:nvPicPr>
        <p:blipFill>
          <a:blip r:embed="rId5"/>
          <a:stretch>
            <a:fillRect/>
          </a:stretch>
        </p:blipFill>
        <p:spPr>
          <a:xfrm>
            <a:off x="6312789" y="1411604"/>
            <a:ext cx="276606" cy="276606"/>
          </a:xfrm>
          <a:prstGeom prst="rect">
            <a:avLst/>
          </a:prstGeom>
        </p:spPr>
      </p:pic>
      <p:sp>
        <p:nvSpPr>
          <p:cNvPr id="39" name="Text"/>
          <p:cNvSpPr txBox="1"/>
          <p:nvPr/>
        </p:nvSpPr>
        <p:spPr>
          <a:xfrm>
            <a:off x="6839712" y="1298448"/>
            <a:ext cx="1737360" cy="502920"/>
          </a:xfrm>
          <a:prstGeom prst="rect">
            <a:avLst/>
          </a:prstGeom>
          <a:noFill/>
        </p:spPr>
        <p:txBody>
          <a:bodyPr wrap="square" lIns="0" tIns="0" rIns="0" bIns="0" anchor="ctr">
            <a:spAutoFit/>
          </a:bodyPr>
          <a:lstStyle/>
          <a:p>
            <a:pPr algn="l"/>
            <a:r>
              <a:rPr sz="1800" b="1" i="0">
                <a:solidFill>
                  <a:schemeClr val="tx2"/>
                </a:solidFill>
                <a:latin typeface="Cambria"/>
                <a:ea typeface="Cambria"/>
                <a:cs typeface="Cambria"/>
              </a:rPr>
              <a:t>The Summit</a:t>
            </a:r>
          </a:p>
        </p:txBody>
      </p:sp>
      <p:sp>
        <p:nvSpPr>
          <p:cNvPr id="40" name="Text"/>
          <p:cNvSpPr txBox="1"/>
          <p:nvPr/>
        </p:nvSpPr>
        <p:spPr>
          <a:xfrm>
            <a:off x="6227064" y="1920240"/>
            <a:ext cx="2331720" cy="2560320"/>
          </a:xfrm>
          <a:prstGeom prst="rect">
            <a:avLst/>
          </a:prstGeom>
          <a:noFill/>
        </p:spPr>
        <p:txBody>
          <a:bodyPr wrap="square" lIns="0" tIns="0" rIns="0" bIns="0" anchor="t">
            <a:spAutoFit/>
          </a:bodyPr>
          <a:lstStyle/>
          <a:p>
            <a:pPr algn="l"/>
            <a:r>
              <a:rPr sz="1400" b="0" i="0">
                <a:solidFill>
                  <a:schemeClr val="tx1"/>
                </a:solidFill>
                <a:latin typeface="Cambria"/>
                <a:ea typeface="Cambria"/>
                <a:cs typeface="Cambria"/>
              </a:rPr>
              <a:t>Weak and shivering, Geoffrey stumbled across the frosty field. Suddenly, Auntie Anthea stepped out from behind a stone. Auntie Anthea said, “You look like a tasty supper.” Geoffrey’s knees shook. Instead of running, he closed his eyes. “May I sing for my supper?” he whispered.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Success criteria</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25</a:t>
            </a:fld>
            <a:endParaRPr lang="en-US"/>
          </a:p>
        </p:txBody>
      </p:sp>
      <p:sp>
        <p:nvSpPr>
          <p:cNvPr id="26" name="Row"/>
          <p:cNvSpPr/>
          <p:nvPr/>
        </p:nvSpPr>
        <p:spPr>
          <a:xfrm>
            <a:off x="457200" y="1188720"/>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640080" y="1371600"/>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371600"/>
            <a:ext cx="420624" cy="420624"/>
          </a:xfrm>
          <a:prstGeom prst="rect">
            <a:avLst/>
          </a:prstGeom>
          <a:noFill/>
        </p:spPr>
        <p:txBody>
          <a:bodyPr wrap="square" lIns="0" tIns="0" rIns="0" bIns="0" anchor="ctr">
            <a:spAutoFit/>
          </a:bodyPr>
          <a:lstStyle/>
          <a:p>
            <a:pPr algn="ctr"/>
            <a:r>
              <a:rPr sz="1800" b="1" i="0">
                <a:solidFill>
                  <a:schemeClr val="bg1"/>
                </a:solidFill>
              </a:rPr>
              <a:t>1</a:t>
            </a:r>
          </a:p>
        </p:txBody>
      </p:sp>
      <p:sp>
        <p:nvSpPr>
          <p:cNvPr id="29" name="Text"/>
          <p:cNvSpPr txBox="1"/>
          <p:nvPr/>
        </p:nvSpPr>
        <p:spPr>
          <a:xfrm>
            <a:off x="1280160" y="1243584"/>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The meeting connects to my problem.</a:t>
            </a:r>
          </a:p>
        </p:txBody>
      </p:sp>
      <p:sp>
        <p:nvSpPr>
          <p:cNvPr id="30" name="Text"/>
          <p:cNvSpPr txBox="1"/>
          <p:nvPr/>
        </p:nvSpPr>
        <p:spPr>
          <a:xfrm>
            <a:off x="1280160" y="1591056"/>
            <a:ext cx="7315200" cy="365760"/>
          </a:xfrm>
          <a:prstGeom prst="rect">
            <a:avLst/>
          </a:prstGeom>
          <a:noFill/>
        </p:spPr>
        <p:txBody>
          <a:bodyPr wrap="square" lIns="0" tIns="0" rIns="0" bIns="0" anchor="t">
            <a:spAutoFit/>
          </a:bodyPr>
          <a:lstStyle/>
          <a:p>
            <a:pPr algn="l"/>
            <a:r>
              <a:rPr sz="1300" b="0" i="0">
                <a:solidFill>
                  <a:schemeClr val="tx1"/>
                </a:solidFill>
              </a:rPr>
              <a:t>It follows from Paragraph 2 and makes things harder for my character.</a:t>
            </a:r>
          </a:p>
        </p:txBody>
      </p:sp>
      <p:sp>
        <p:nvSpPr>
          <p:cNvPr id="31" name="Row"/>
          <p:cNvSpPr/>
          <p:nvPr/>
        </p:nvSpPr>
        <p:spPr>
          <a:xfrm>
            <a:off x="457200" y="2084832"/>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640080" y="2267712"/>
            <a:ext cx="420624" cy="42062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640080" y="2267712"/>
            <a:ext cx="420624" cy="420624"/>
          </a:xfrm>
          <a:prstGeom prst="rect">
            <a:avLst/>
          </a:prstGeom>
          <a:noFill/>
        </p:spPr>
        <p:txBody>
          <a:bodyPr wrap="square" lIns="0" tIns="0" rIns="0" bIns="0" anchor="ctr">
            <a:spAutoFit/>
          </a:bodyPr>
          <a:lstStyle/>
          <a:p>
            <a:pPr algn="ctr"/>
            <a:r>
              <a:rPr sz="1800" b="1" i="0">
                <a:solidFill>
                  <a:schemeClr val="bg1"/>
                </a:solidFill>
              </a:rPr>
              <a:t>2</a:t>
            </a:r>
          </a:p>
        </p:txBody>
      </p:sp>
      <p:sp>
        <p:nvSpPr>
          <p:cNvPr id="34" name="Text"/>
          <p:cNvSpPr txBox="1"/>
          <p:nvPr/>
        </p:nvSpPr>
        <p:spPr>
          <a:xfrm>
            <a:off x="1280160" y="2139696"/>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My dialogue is punctuated correctly.</a:t>
            </a:r>
          </a:p>
        </p:txBody>
      </p:sp>
      <p:sp>
        <p:nvSpPr>
          <p:cNvPr id="35" name="Text"/>
          <p:cNvSpPr txBox="1"/>
          <p:nvPr/>
        </p:nvSpPr>
        <p:spPr>
          <a:xfrm>
            <a:off x="1280160" y="2487168"/>
            <a:ext cx="7315200" cy="365760"/>
          </a:xfrm>
          <a:prstGeom prst="rect">
            <a:avLst/>
          </a:prstGeom>
          <a:noFill/>
        </p:spPr>
        <p:txBody>
          <a:bodyPr wrap="square" lIns="0" tIns="0" rIns="0" bIns="0" anchor="t">
            <a:spAutoFit/>
          </a:bodyPr>
          <a:lstStyle/>
          <a:p>
            <a:pPr algn="l"/>
            <a:r>
              <a:rPr sz="1300" b="0" i="0">
                <a:solidFill>
                  <a:schemeClr val="tx1"/>
                </a:solidFill>
              </a:rPr>
              <a:t>Capital letter, “ ”, end mark or comma inside the closing ”, comma before “ if who spoke comes first.</a:t>
            </a:r>
          </a:p>
        </p:txBody>
      </p:sp>
      <p:sp>
        <p:nvSpPr>
          <p:cNvPr id="36" name="Row"/>
          <p:cNvSpPr/>
          <p:nvPr/>
        </p:nvSpPr>
        <p:spPr>
          <a:xfrm>
            <a:off x="457200" y="2980944"/>
            <a:ext cx="8229600" cy="786384"/>
          </a:xfrm>
          <a:prstGeom prst="roundRect">
            <a:avLst>
              <a:gd name="adj" fmla="val 1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640080" y="3163824"/>
            <a:ext cx="420624" cy="42062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640080" y="3163824"/>
            <a:ext cx="420624" cy="420624"/>
          </a:xfrm>
          <a:prstGeom prst="rect">
            <a:avLst/>
          </a:prstGeom>
          <a:noFill/>
        </p:spPr>
        <p:txBody>
          <a:bodyPr wrap="square" lIns="0" tIns="0" rIns="0" bIns="0" anchor="ctr">
            <a:spAutoFit/>
          </a:bodyPr>
          <a:lstStyle/>
          <a:p>
            <a:pPr algn="ctr"/>
            <a:r>
              <a:rPr sz="1800" b="1" i="0">
                <a:solidFill>
                  <a:schemeClr val="bg1"/>
                </a:solidFill>
              </a:rPr>
              <a:t>3</a:t>
            </a:r>
          </a:p>
        </p:txBody>
      </p:sp>
      <p:sp>
        <p:nvSpPr>
          <p:cNvPr id="39" name="Text"/>
          <p:cNvSpPr txBox="1"/>
          <p:nvPr/>
        </p:nvSpPr>
        <p:spPr>
          <a:xfrm>
            <a:off x="1280160" y="3035808"/>
            <a:ext cx="7315200" cy="329184"/>
          </a:xfrm>
          <a:prstGeom prst="rect">
            <a:avLst/>
          </a:prstGeom>
          <a:noFill/>
        </p:spPr>
        <p:txBody>
          <a:bodyPr wrap="square" lIns="0" tIns="0" rIns="0" bIns="0" anchor="ctr">
            <a:spAutoFit/>
          </a:bodyPr>
          <a:lstStyle/>
          <a:p>
            <a:pPr algn="l"/>
            <a:r>
              <a:rPr sz="1700" b="1" i="0">
                <a:solidFill>
                  <a:schemeClr val="tx2"/>
                </a:solidFill>
                <a:latin typeface="Cambria"/>
                <a:ea typeface="Cambria"/>
                <a:cs typeface="Cambria"/>
              </a:rPr>
              <a:t>My choice reveals the trait.</a:t>
            </a:r>
          </a:p>
        </p:txBody>
      </p:sp>
      <p:sp>
        <p:nvSpPr>
          <p:cNvPr id="40" name="Text"/>
          <p:cNvSpPr txBox="1"/>
          <p:nvPr/>
        </p:nvSpPr>
        <p:spPr>
          <a:xfrm>
            <a:off x="1280160" y="3383279"/>
            <a:ext cx="7315200" cy="365760"/>
          </a:xfrm>
          <a:prstGeom prst="rect">
            <a:avLst/>
          </a:prstGeom>
          <a:noFill/>
        </p:spPr>
        <p:txBody>
          <a:bodyPr wrap="square" lIns="0" tIns="0" rIns="0" bIns="0" anchor="t">
            <a:spAutoFit/>
          </a:bodyPr>
          <a:lstStyle/>
          <a:p>
            <a:pPr algn="l"/>
            <a:r>
              <a:rPr sz="1300" b="0" i="0">
                <a:solidFill>
                  <a:schemeClr val="tx1"/>
                </a:solidFill>
              </a:rPr>
              <a:t>It is what only this character would do. Stop before the result.</a:t>
            </a:r>
          </a:p>
        </p:txBody>
      </p:sp>
      <p:sp>
        <p:nvSpPr>
          <p:cNvPr id="41" name="Banner"/>
          <p:cNvSpPr/>
          <p:nvPr/>
        </p:nvSpPr>
        <p:spPr>
          <a:xfrm>
            <a:off x="457200" y="3977639"/>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3977639"/>
            <a:ext cx="7863840" cy="502920"/>
          </a:xfrm>
          <a:prstGeom prst="rect">
            <a:avLst/>
          </a:prstGeom>
          <a:noFill/>
        </p:spPr>
        <p:txBody>
          <a:bodyPr wrap="square" lIns="0" tIns="0" rIns="0" bIns="0" anchor="ctr">
            <a:spAutoFit/>
          </a:bodyPr>
          <a:lstStyle/>
          <a:p>
            <a:pPr algn="l"/>
            <a:r>
              <a:rPr sz="1600" b="1" i="0">
                <a:solidFill>
                  <a:schemeClr val="tx2"/>
                </a:solidFill>
              </a:rPr>
              <a:t>Meeting → dialogue → reaction → choice. 4 to 6 sentences.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Write Paragraph 3</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0.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26</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My Paragraph 3</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ck text"/>
          <p:cNvSpPr txBox="1"/>
          <p:nvPr/>
        </p:nvSpPr>
        <p:spPr>
          <a:xfrm>
            <a:off x="1097280" y="1764792"/>
            <a:ext cx="4160520" cy="384048"/>
          </a:xfrm>
          <a:prstGeom prst="rect">
            <a:avLst/>
          </a:prstGeom>
          <a:noFill/>
        </p:spPr>
        <p:txBody>
          <a:bodyPr wrap="square" lIns="0" tIns="0" rIns="0" bIns="0" anchor="ctr">
            <a:spAutoFit/>
          </a:bodyPr>
          <a:lstStyle/>
          <a:p>
            <a:pPr algn="l"/>
            <a:r>
              <a:rPr sz="1400" b="0" i="0">
                <a:solidFill>
                  <a:schemeClr val="tx1"/>
                </a:solidFill>
              </a:rPr>
              <a:t>A meeting that follows from my problem</a:t>
            </a:r>
          </a:p>
        </p:txBody>
      </p:sp>
      <p:sp>
        <p:nvSpPr>
          <p:cNvPr id="30" name="Checkbox"/>
          <p:cNvSpPr/>
          <p:nvPr/>
        </p:nvSpPr>
        <p:spPr>
          <a:xfrm>
            <a:off x="685800" y="2286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ck text"/>
          <p:cNvSpPr txBox="1"/>
          <p:nvPr/>
        </p:nvSpPr>
        <p:spPr>
          <a:xfrm>
            <a:off x="1097280" y="2221992"/>
            <a:ext cx="4160520" cy="384048"/>
          </a:xfrm>
          <a:prstGeom prst="rect">
            <a:avLst/>
          </a:prstGeom>
          <a:noFill/>
        </p:spPr>
        <p:txBody>
          <a:bodyPr wrap="square" lIns="0" tIns="0" rIns="0" bIns="0" anchor="ctr">
            <a:spAutoFit/>
          </a:bodyPr>
          <a:lstStyle/>
          <a:p>
            <a:pPr algn="l"/>
            <a:r>
              <a:rPr sz="1400" b="0" i="0">
                <a:solidFill>
                  <a:schemeClr val="tx1"/>
                </a:solidFill>
              </a:rPr>
              <a:t>Dialogue punctuated correctly</a:t>
            </a:r>
          </a:p>
        </p:txBody>
      </p:sp>
      <p:sp>
        <p:nvSpPr>
          <p:cNvPr id="32" name="Checkbox"/>
          <p:cNvSpPr/>
          <p:nvPr/>
        </p:nvSpPr>
        <p:spPr>
          <a:xfrm>
            <a:off x="685800" y="27432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ck text"/>
          <p:cNvSpPr txBox="1"/>
          <p:nvPr/>
        </p:nvSpPr>
        <p:spPr>
          <a:xfrm>
            <a:off x="1097280" y="2679192"/>
            <a:ext cx="4160520" cy="384048"/>
          </a:xfrm>
          <a:prstGeom prst="rect">
            <a:avLst/>
          </a:prstGeom>
          <a:noFill/>
        </p:spPr>
        <p:txBody>
          <a:bodyPr wrap="square" lIns="0" tIns="0" rIns="0" bIns="0" anchor="ctr">
            <a:spAutoFit/>
          </a:bodyPr>
          <a:lstStyle/>
          <a:p>
            <a:pPr algn="l"/>
            <a:r>
              <a:rPr sz="1400" b="0" i="0">
                <a:solidFill>
                  <a:schemeClr val="tx1"/>
                </a:solidFill>
              </a:rPr>
              <a:t>A reaction that shows a feeling</a:t>
            </a:r>
          </a:p>
        </p:txBody>
      </p:sp>
      <p:sp>
        <p:nvSpPr>
          <p:cNvPr id="34" name="Checkbox"/>
          <p:cNvSpPr/>
          <p:nvPr/>
        </p:nvSpPr>
        <p:spPr>
          <a:xfrm>
            <a:off x="685800" y="32004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ck text"/>
          <p:cNvSpPr txBox="1"/>
          <p:nvPr/>
        </p:nvSpPr>
        <p:spPr>
          <a:xfrm>
            <a:off x="1097280" y="3136392"/>
            <a:ext cx="4160520" cy="384048"/>
          </a:xfrm>
          <a:prstGeom prst="rect">
            <a:avLst/>
          </a:prstGeom>
          <a:noFill/>
        </p:spPr>
        <p:txBody>
          <a:bodyPr wrap="square" lIns="0" tIns="0" rIns="0" bIns="0" anchor="ctr">
            <a:spAutoFit/>
          </a:bodyPr>
          <a:lstStyle/>
          <a:p>
            <a:pPr algn="l"/>
            <a:r>
              <a:rPr sz="1400" b="0" i="0">
                <a:solidFill>
                  <a:schemeClr val="tx1"/>
                </a:solidFill>
              </a:rPr>
              <a:t>A choice that shows the trait</a:t>
            </a:r>
          </a:p>
        </p:txBody>
      </p:sp>
      <p:sp>
        <p:nvSpPr>
          <p:cNvPr id="36" name="Checkbox"/>
          <p:cNvSpPr/>
          <p:nvPr/>
        </p:nvSpPr>
        <p:spPr>
          <a:xfrm>
            <a:off x="685800" y="36576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heck text"/>
          <p:cNvSpPr txBox="1"/>
          <p:nvPr/>
        </p:nvSpPr>
        <p:spPr>
          <a:xfrm>
            <a:off x="1097280" y="3593592"/>
            <a:ext cx="4160520" cy="384048"/>
          </a:xfrm>
          <a:prstGeom prst="rect">
            <a:avLst/>
          </a:prstGeom>
          <a:noFill/>
        </p:spPr>
        <p:txBody>
          <a:bodyPr wrap="square" lIns="0" tIns="0" rIns="0" bIns="0" anchor="ctr">
            <a:spAutoFit/>
          </a:bodyPr>
          <a:lstStyle/>
          <a:p>
            <a:pPr algn="l"/>
            <a:r>
              <a:rPr sz="1400" b="0" i="0">
                <a:solidFill>
                  <a:schemeClr val="tx1"/>
                </a:solidFill>
              </a:rPr>
              <a:t>4 to 6 sentences</a:t>
            </a:r>
          </a:p>
        </p:txBody>
      </p:sp>
      <p:sp>
        <p:nvSpPr>
          <p:cNvPr id="38" name="Timer card"/>
          <p:cNvSpPr/>
          <p:nvPr/>
        </p:nvSpPr>
        <p:spPr>
          <a:xfrm>
            <a:off x="5669280" y="1188720"/>
            <a:ext cx="3017520" cy="3337560"/>
          </a:xfrm>
          <a:prstGeom prst="roundRect">
            <a:avLst>
              <a:gd name="adj" fmla="val 4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22</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Quiet writing. Use your story map and Geoffrey’s model. Do not write the result yet.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Stop: check your paragraph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27</a:t>
            </a:fld>
            <a:endParaRPr lang="en-US"/>
          </a:p>
        </p:txBody>
      </p:sp>
      <p:sp>
        <p:nvSpPr>
          <p:cNvPr id="26" name="Card"/>
          <p:cNvSpPr/>
          <p:nvPr/>
        </p:nvSpPr>
        <p:spPr>
          <a:xfrm>
            <a:off x="457200" y="1188720"/>
            <a:ext cx="493776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48056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Read it quietly</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1097280" y="1746504"/>
            <a:ext cx="4160520" cy="457200"/>
          </a:xfrm>
          <a:prstGeom prst="rect">
            <a:avLst/>
          </a:prstGeom>
          <a:noFill/>
        </p:spPr>
        <p:txBody>
          <a:bodyPr wrap="square" lIns="0" tIns="0" rIns="0" bIns="0" anchor="ctr">
            <a:spAutoFit/>
          </a:bodyPr>
          <a:lstStyle/>
          <a:p>
            <a:pPr algn="l"/>
            <a:r>
              <a:rPr sz="1400" b="0" i="0">
                <a:solidFill>
                  <a:schemeClr val="tx1"/>
                </a:solidFill>
              </a:rPr>
              <a:t>Does my meeting follow from my problem?</a:t>
            </a:r>
          </a:p>
        </p:txBody>
      </p:sp>
      <p:sp>
        <p:nvSpPr>
          <p:cNvPr id="30" name="Checkbox"/>
          <p:cNvSpPr/>
          <p:nvPr/>
        </p:nvSpPr>
        <p:spPr>
          <a:xfrm>
            <a:off x="685800" y="2359151"/>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1097280" y="2276856"/>
            <a:ext cx="4160520" cy="457200"/>
          </a:xfrm>
          <a:prstGeom prst="rect">
            <a:avLst/>
          </a:prstGeom>
          <a:noFill/>
        </p:spPr>
        <p:txBody>
          <a:bodyPr wrap="square" lIns="0" tIns="0" rIns="0" bIns="0" anchor="ctr">
            <a:spAutoFit/>
          </a:bodyPr>
          <a:lstStyle/>
          <a:p>
            <a:pPr algn="l"/>
            <a:r>
              <a:rPr sz="1400" b="0" i="0">
                <a:solidFill>
                  <a:schemeClr val="tx1"/>
                </a:solidFill>
              </a:rPr>
              <a:t>Do spoken sentences start with a capital letter?</a:t>
            </a:r>
          </a:p>
        </p:txBody>
      </p:sp>
      <p:sp>
        <p:nvSpPr>
          <p:cNvPr id="32" name="Checkbox"/>
          <p:cNvSpPr/>
          <p:nvPr/>
        </p:nvSpPr>
        <p:spPr>
          <a:xfrm>
            <a:off x="685800" y="2889503"/>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1097280" y="2807208"/>
            <a:ext cx="4160520" cy="457200"/>
          </a:xfrm>
          <a:prstGeom prst="rect">
            <a:avLst/>
          </a:prstGeom>
          <a:noFill/>
        </p:spPr>
        <p:txBody>
          <a:bodyPr wrap="square" lIns="0" tIns="0" rIns="0" bIns="0" anchor="ctr">
            <a:spAutoFit/>
          </a:bodyPr>
          <a:lstStyle/>
          <a:p>
            <a:pPr algn="l"/>
            <a:r>
              <a:rPr sz="1400" b="0" i="0">
                <a:solidFill>
                  <a:schemeClr val="tx1"/>
                </a:solidFill>
              </a:rPr>
              <a:t>Are my “ ” and end marks or commas correct?</a:t>
            </a:r>
          </a:p>
        </p:txBody>
      </p:sp>
      <p:sp>
        <p:nvSpPr>
          <p:cNvPr id="34" name="Checkbox"/>
          <p:cNvSpPr/>
          <p:nvPr/>
        </p:nvSpPr>
        <p:spPr>
          <a:xfrm>
            <a:off x="685800" y="3419855"/>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1097280" y="3337559"/>
            <a:ext cx="4160520" cy="457200"/>
          </a:xfrm>
          <a:prstGeom prst="rect">
            <a:avLst/>
          </a:prstGeom>
          <a:noFill/>
        </p:spPr>
        <p:txBody>
          <a:bodyPr wrap="square" lIns="0" tIns="0" rIns="0" bIns="0" anchor="ctr">
            <a:spAutoFit/>
          </a:bodyPr>
          <a:lstStyle/>
          <a:p>
            <a:pPr algn="l"/>
            <a:r>
              <a:rPr sz="1400" b="0" i="0">
                <a:solidFill>
                  <a:schemeClr val="tx1"/>
                </a:solidFill>
              </a:rPr>
              <a:t>Does my choice show the trait?</a:t>
            </a:r>
          </a:p>
        </p:txBody>
      </p:sp>
      <p:sp>
        <p:nvSpPr>
          <p:cNvPr id="36" name="Checkbox"/>
          <p:cNvSpPr/>
          <p:nvPr/>
        </p:nvSpPr>
        <p:spPr>
          <a:xfrm>
            <a:off x="685800" y="3950207"/>
            <a:ext cx="256032" cy="256032"/>
          </a:xfrm>
          <a:prstGeom prst="roundRect">
            <a:avLst>
              <a:gd name="adj" fmla="val 20000"/>
            </a:avLst>
          </a:prstGeom>
          <a:solidFill>
            <a:schemeClr val="bg1"/>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p:cNvSpPr txBox="1"/>
          <p:nvPr/>
        </p:nvSpPr>
        <p:spPr>
          <a:xfrm>
            <a:off x="1097280" y="3867911"/>
            <a:ext cx="4160520" cy="457200"/>
          </a:xfrm>
          <a:prstGeom prst="rect">
            <a:avLst/>
          </a:prstGeom>
          <a:noFill/>
        </p:spPr>
        <p:txBody>
          <a:bodyPr wrap="square" lIns="0" tIns="0" rIns="0" bIns="0" anchor="ctr">
            <a:spAutoFit/>
          </a:bodyPr>
          <a:lstStyle/>
          <a:p>
            <a:pPr algn="l"/>
            <a:r>
              <a:rPr sz="1400" b="1" i="0">
                <a:solidFill>
                  <a:schemeClr val="accent6"/>
                </a:solidFill>
              </a:rPr>
              <a:t>Did I stop before the result?</a:t>
            </a:r>
          </a:p>
        </p:txBody>
      </p:sp>
      <p:sp>
        <p:nvSpPr>
          <p:cNvPr id="38" name="Timer card"/>
          <p:cNvSpPr/>
          <p:nvPr/>
        </p:nvSpPr>
        <p:spPr>
          <a:xfrm>
            <a:off x="5669280" y="1188720"/>
            <a:ext cx="3017520" cy="33375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669280" y="1371600"/>
            <a:ext cx="3017520" cy="1188720"/>
          </a:xfrm>
          <a:prstGeom prst="rect">
            <a:avLst/>
          </a:prstGeom>
          <a:noFill/>
        </p:spPr>
        <p:txBody>
          <a:bodyPr wrap="square" lIns="0" tIns="0" rIns="0" bIns="0" anchor="ctr">
            <a:spAutoFit/>
          </a:bodyPr>
          <a:lstStyle/>
          <a:p>
            <a:pPr algn="ctr"/>
            <a:r>
              <a:rPr sz="7200" b="1" i="0">
                <a:solidFill>
                  <a:schemeClr val="bg1"/>
                </a:solidFill>
                <a:latin typeface="Cambria"/>
                <a:ea typeface="Cambria"/>
                <a:cs typeface="Cambria"/>
              </a:rPr>
              <a:t>2</a:t>
            </a:r>
          </a:p>
        </p:txBody>
      </p:sp>
      <p:sp>
        <p:nvSpPr>
          <p:cNvPr id="40" name="Text"/>
          <p:cNvSpPr txBox="1"/>
          <p:nvPr/>
        </p:nvSpPr>
        <p:spPr>
          <a:xfrm>
            <a:off x="5852160" y="2606040"/>
            <a:ext cx="26517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1" name="Text"/>
          <p:cNvSpPr txBox="1"/>
          <p:nvPr/>
        </p:nvSpPr>
        <p:spPr>
          <a:xfrm>
            <a:off x="5852160" y="3017520"/>
            <a:ext cx="2651760" cy="1371600"/>
          </a:xfrm>
          <a:prstGeom prst="rect">
            <a:avLst/>
          </a:prstGeom>
          <a:noFill/>
        </p:spPr>
        <p:txBody>
          <a:bodyPr wrap="square" lIns="0" tIns="0" rIns="0" bIns="0" anchor="t">
            <a:spAutoFit/>
          </a:bodyPr>
          <a:lstStyle/>
          <a:p>
            <a:pPr algn="ctr"/>
            <a:r>
              <a:rPr sz="1500" b="0" i="0">
                <a:solidFill>
                  <a:schemeClr val="bg1"/>
                </a:solidFill>
              </a:rPr>
              <a:t>Fix ONE thing.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Edit with a partner</a:t>
            </a:r>
          </a:p>
        </p:txBody>
      </p:sp>
      <p:sp>
        <p:nvSpPr>
          <p:cNvPr id="3" name="Badge"/>
          <p:cNvSpPr/>
          <p:nvPr/>
        </p:nvSpPr>
        <p:spPr>
          <a:xfrm>
            <a:off x="7955279" y="274320"/>
            <a:ext cx="731520" cy="73152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1.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28</a:t>
            </a:fld>
            <a:endParaRPr lang="en-US"/>
          </a:p>
        </p:txBody>
      </p:sp>
      <p:sp>
        <p:nvSpPr>
          <p:cNvPr id="26" name="Card"/>
          <p:cNvSpPr/>
          <p:nvPr/>
        </p:nvSpPr>
        <p:spPr>
          <a:xfrm>
            <a:off x="457200" y="1188720"/>
            <a:ext cx="52120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75488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Swap books. Find…</a:t>
            </a:r>
          </a:p>
        </p:txBody>
      </p:sp>
      <p:sp>
        <p:nvSpPr>
          <p:cNvPr id="28" name="Checkbox"/>
          <p:cNvSpPr/>
          <p:nvPr/>
        </p:nvSpPr>
        <p:spPr>
          <a:xfrm>
            <a:off x="685800" y="18288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p:cNvSpPr txBox="1"/>
          <p:nvPr/>
        </p:nvSpPr>
        <p:spPr>
          <a:xfrm>
            <a:off x="1097280" y="1728216"/>
            <a:ext cx="4389120" cy="566928"/>
          </a:xfrm>
          <a:prstGeom prst="rect">
            <a:avLst/>
          </a:prstGeom>
          <a:noFill/>
        </p:spPr>
        <p:txBody>
          <a:bodyPr wrap="square" lIns="0" tIns="0" rIns="0" bIns="0" anchor="t">
            <a:spAutoFit/>
          </a:bodyPr>
          <a:lstStyle/>
          <a:p>
            <a:pPr algn="l"/>
            <a:r>
              <a:rPr sz="1400" b="0" i="0">
                <a:solidFill>
                  <a:schemeClr val="tx1"/>
                </a:solidFill>
              </a:rPr>
              <a:t>A meeting that follows the problem</a:t>
            </a:r>
          </a:p>
        </p:txBody>
      </p:sp>
      <p:sp>
        <p:nvSpPr>
          <p:cNvPr id="30" name="Checkbox"/>
          <p:cNvSpPr/>
          <p:nvPr/>
        </p:nvSpPr>
        <p:spPr>
          <a:xfrm>
            <a:off x="685800" y="246887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1097280" y="2368296"/>
            <a:ext cx="4389120" cy="566928"/>
          </a:xfrm>
          <a:prstGeom prst="rect">
            <a:avLst/>
          </a:prstGeom>
          <a:noFill/>
        </p:spPr>
        <p:txBody>
          <a:bodyPr wrap="square" lIns="0" tIns="0" rIns="0" bIns="0" anchor="t">
            <a:spAutoFit/>
          </a:bodyPr>
          <a:lstStyle/>
          <a:p>
            <a:pPr algn="l"/>
            <a:r>
              <a:rPr sz="1400" b="0" i="0">
                <a:solidFill>
                  <a:schemeClr val="tx1"/>
                </a:solidFill>
              </a:rPr>
              <a:t>Dialogue punctuated correctly: capital letter, “ ”, comma or end mark</a:t>
            </a:r>
          </a:p>
        </p:txBody>
      </p:sp>
      <p:sp>
        <p:nvSpPr>
          <p:cNvPr id="32" name="Checkbox"/>
          <p:cNvSpPr/>
          <p:nvPr/>
        </p:nvSpPr>
        <p:spPr>
          <a:xfrm>
            <a:off x="685800" y="310895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p:cNvSpPr txBox="1"/>
          <p:nvPr/>
        </p:nvSpPr>
        <p:spPr>
          <a:xfrm>
            <a:off x="1097280" y="3008375"/>
            <a:ext cx="4389120" cy="566928"/>
          </a:xfrm>
          <a:prstGeom prst="rect">
            <a:avLst/>
          </a:prstGeom>
          <a:noFill/>
        </p:spPr>
        <p:txBody>
          <a:bodyPr wrap="square" lIns="0" tIns="0" rIns="0" bIns="0" anchor="t">
            <a:spAutoFit/>
          </a:bodyPr>
          <a:lstStyle/>
          <a:p>
            <a:pPr algn="l"/>
            <a:r>
              <a:rPr sz="1400" b="0" i="0">
                <a:solidFill>
                  <a:schemeClr val="tx1"/>
                </a:solidFill>
              </a:rPr>
              <a:t>A choice that shows the trait</a:t>
            </a:r>
          </a:p>
        </p:txBody>
      </p:sp>
      <p:sp>
        <p:nvSpPr>
          <p:cNvPr id="34" name="Checkbox"/>
          <p:cNvSpPr/>
          <p:nvPr/>
        </p:nvSpPr>
        <p:spPr>
          <a:xfrm>
            <a:off x="685800" y="3749039"/>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1097280" y="3648456"/>
            <a:ext cx="4389120" cy="566928"/>
          </a:xfrm>
          <a:prstGeom prst="rect">
            <a:avLst/>
          </a:prstGeom>
          <a:noFill/>
        </p:spPr>
        <p:txBody>
          <a:bodyPr wrap="square" lIns="0" tIns="0" rIns="0" bIns="0" anchor="t">
            <a:spAutoFit/>
          </a:bodyPr>
          <a:lstStyle/>
          <a:p>
            <a:pPr algn="l"/>
            <a:r>
              <a:rPr sz="1400" b="0" i="0">
                <a:solidFill>
                  <a:schemeClr val="tx1"/>
                </a:solidFill>
              </a:rPr>
              <a:t>One line to upgrade</a:t>
            </a:r>
          </a:p>
        </p:txBody>
      </p:sp>
      <p:sp>
        <p:nvSpPr>
          <p:cNvPr id="36" name="Note card"/>
          <p:cNvSpPr/>
          <p:nvPr/>
        </p:nvSpPr>
        <p:spPr>
          <a:xfrm>
            <a:off x="5897880" y="1188720"/>
            <a:ext cx="2788920" cy="3337560"/>
          </a:xfrm>
          <a:prstGeom prst="roundRect">
            <a:avLst>
              <a:gd name="adj" fmla="val 4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p:cNvSpPr txBox="1"/>
          <p:nvPr/>
        </p:nvSpPr>
        <p:spPr>
          <a:xfrm>
            <a:off x="6080760" y="1371600"/>
            <a:ext cx="2423160" cy="3017520"/>
          </a:xfrm>
          <a:prstGeom prst="rect">
            <a:avLst/>
          </a:prstGeom>
          <a:noFill/>
        </p:spPr>
        <p:txBody>
          <a:bodyPr wrap="square" lIns="0" tIns="0" rIns="0" bIns="0" anchor="t">
            <a:spAutoFit/>
          </a:bodyPr>
          <a:lstStyle/>
          <a:p>
            <a:pPr algn="l">
              <a:spcAft>
                <a:spcPts val="1200"/>
              </a:spcAft>
            </a:pPr>
            <a:r>
              <a:rPr sz="1700" b="1" i="0">
                <a:solidFill>
                  <a:schemeClr val="tx2"/>
                </a:solidFill>
              </a:rPr>
              <a:t>Give one tick and one idea.</a:t>
            </a:r>
          </a:p>
          <a:p>
            <a:pPr algn="l">
              <a:spcAft>
                <a:spcPts val="1200"/>
              </a:spcAft>
            </a:pPr>
            <a:r>
              <a:rPr sz="1700" b="0" i="1">
                <a:solidFill>
                  <a:schemeClr val="tx1"/>
                </a:solidFill>
              </a:rPr>
              <a:t>“I like…”</a:t>
            </a:r>
          </a:p>
          <a:p>
            <a:pPr algn="l">
              <a:spcAft>
                <a:spcPts val="1200"/>
              </a:spcAft>
            </a:pPr>
            <a:r>
              <a:rPr sz="1700" b="0" i="1">
                <a:solidFill>
                  <a:schemeClr val="tx1"/>
                </a:solidFill>
              </a:rPr>
              <a:t>“You could add…”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Upgrade the dialogue</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29</a:t>
            </a:fld>
            <a:endParaRPr lang="en-US"/>
          </a:p>
        </p:txBody>
      </p:sp>
      <p:sp>
        <p:nvSpPr>
          <p:cNvPr id="26" name="Card"/>
          <p:cNvSpPr/>
          <p:nvPr/>
        </p:nvSpPr>
        <p:spPr>
          <a:xfrm>
            <a:off x="457200" y="1188720"/>
            <a:ext cx="3657600" cy="2011680"/>
          </a:xfrm>
          <a:prstGeom prst="roundRect">
            <a:avLst>
              <a:gd name="adj" fmla="val 5500"/>
            </a:avLst>
          </a:prstGeom>
          <a:solidFill>
            <a:schemeClr val="accent6">
              <a:alpha val="12000"/>
            </a:schemeClr>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ip"/>
          <p:cNvSpPr/>
          <p:nvPr/>
        </p:nvSpPr>
        <p:spPr>
          <a:xfrm>
            <a:off x="640080" y="1325880"/>
            <a:ext cx="1463040" cy="292608"/>
          </a:xfrm>
          <a:prstGeom prst="roundRect">
            <a:avLst>
              <a:gd name="adj" fmla="val 5000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ip text"/>
          <p:cNvSpPr txBox="1"/>
          <p:nvPr/>
        </p:nvSpPr>
        <p:spPr>
          <a:xfrm>
            <a:off x="640080" y="1325880"/>
            <a:ext cx="1463040" cy="292608"/>
          </a:xfrm>
          <a:prstGeom prst="rect">
            <a:avLst/>
          </a:prstGeom>
          <a:noFill/>
        </p:spPr>
        <p:txBody>
          <a:bodyPr wrap="square" lIns="0" tIns="0" rIns="0" bIns="0" anchor="ctr">
            <a:spAutoFit/>
          </a:bodyPr>
          <a:lstStyle/>
          <a:p>
            <a:pPr algn="ctr"/>
            <a:r>
              <a:rPr sz="1200" b="1" i="0">
                <a:solidFill>
                  <a:schemeClr val="bg1"/>
                </a:solidFill>
              </a:rPr>
              <a:t>UPGRADE THIS</a:t>
            </a:r>
          </a:p>
        </p:txBody>
      </p:sp>
      <p:sp>
        <p:nvSpPr>
          <p:cNvPr id="29" name="Left text"/>
          <p:cNvSpPr txBox="1"/>
          <p:nvPr/>
        </p:nvSpPr>
        <p:spPr>
          <a:xfrm>
            <a:off x="640080" y="1737360"/>
            <a:ext cx="3291840" cy="1371600"/>
          </a:xfrm>
          <a:prstGeom prst="rect">
            <a:avLst/>
          </a:prstGeom>
          <a:noFill/>
        </p:spPr>
        <p:txBody>
          <a:bodyPr wrap="square" lIns="0" tIns="0" rIns="0" bIns="0" anchor="ctr">
            <a:spAutoFit/>
          </a:bodyPr>
          <a:lstStyle/>
          <a:p>
            <a:pPr algn="l"/>
            <a:r>
              <a:rPr sz="2200" b="1" i="0">
                <a:solidFill>
                  <a:schemeClr val="tx1"/>
                </a:solidFill>
                <a:latin typeface="Cambria"/>
                <a:ea typeface="Cambria"/>
                <a:cs typeface="Cambria"/>
              </a:rPr>
              <a:t>“Come here,” said Auntie Anthea.</a:t>
            </a:r>
          </a:p>
        </p:txBody>
      </p:sp>
      <p:sp>
        <p:nvSpPr>
          <p:cNvPr id="30" name="Card"/>
          <p:cNvSpPr/>
          <p:nvPr/>
        </p:nvSpPr>
        <p:spPr>
          <a:xfrm>
            <a:off x="5029200" y="1188720"/>
            <a:ext cx="3657600" cy="2011680"/>
          </a:xfrm>
          <a:prstGeom prst="roundRect">
            <a:avLst>
              <a:gd name="adj" fmla="val 5500"/>
            </a:avLst>
          </a:prstGeom>
          <a:solidFill>
            <a:schemeClr val="accent4">
              <a:alpha val="12000"/>
            </a:schemeClr>
          </a:solidFill>
          <a:ln w="1587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ip"/>
          <p:cNvSpPr/>
          <p:nvPr/>
        </p:nvSpPr>
        <p:spPr>
          <a:xfrm>
            <a:off x="5212080" y="1325880"/>
            <a:ext cx="1737360" cy="292608"/>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ip text"/>
          <p:cNvSpPr txBox="1"/>
          <p:nvPr/>
        </p:nvSpPr>
        <p:spPr>
          <a:xfrm>
            <a:off x="5212080" y="1325880"/>
            <a:ext cx="1737360" cy="292608"/>
          </a:xfrm>
          <a:prstGeom prst="rect">
            <a:avLst/>
          </a:prstGeom>
          <a:noFill/>
        </p:spPr>
        <p:txBody>
          <a:bodyPr wrap="square" lIns="0" tIns="0" rIns="0" bIns="0" anchor="ctr">
            <a:spAutoFit/>
          </a:bodyPr>
          <a:lstStyle/>
          <a:p>
            <a:pPr algn="ctr"/>
            <a:r>
              <a:rPr sz="1200" b="1" i="0">
                <a:solidFill>
                  <a:schemeClr val="bg1"/>
                </a:solidFill>
              </a:rPr>
              <a:t>USE</a:t>
            </a:r>
          </a:p>
        </p:txBody>
      </p:sp>
      <p:sp>
        <p:nvSpPr>
          <p:cNvPr id="33" name="Right text"/>
          <p:cNvSpPr txBox="1"/>
          <p:nvPr/>
        </p:nvSpPr>
        <p:spPr>
          <a:xfrm>
            <a:off x="5212080" y="1737360"/>
            <a:ext cx="3291840" cy="1371600"/>
          </a:xfrm>
          <a:prstGeom prst="rect">
            <a:avLst/>
          </a:prstGeom>
          <a:noFill/>
        </p:spPr>
        <p:txBody>
          <a:bodyPr wrap="square" lIns="0" tIns="0" rIns="0" bIns="0" anchor="ctr">
            <a:spAutoFit/>
          </a:bodyPr>
          <a:lstStyle/>
          <a:p>
            <a:pPr algn="l"/>
            <a:r>
              <a:rPr sz="2000" b="1" i="0">
                <a:solidFill>
                  <a:schemeClr val="tx1"/>
                </a:solidFill>
                <a:latin typeface="Cambria"/>
                <a:ea typeface="Cambria"/>
                <a:cs typeface="Cambria"/>
              </a:rPr>
              <a:t>a speech verb, a feeling, or an action.</a:t>
            </a:r>
          </a:p>
        </p:txBody>
      </p:sp>
      <p:sp>
        <p:nvSpPr>
          <p:cNvPr id="34" name="Arrow"/>
          <p:cNvSpPr/>
          <p:nvPr/>
        </p:nvSpPr>
        <p:spPr>
          <a:xfrm>
            <a:off x="4224528" y="1920240"/>
            <a:ext cx="694944" cy="4572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anner"/>
          <p:cNvSpPr/>
          <p:nvPr/>
        </p:nvSpPr>
        <p:spPr>
          <a:xfrm>
            <a:off x="457200" y="3429000"/>
            <a:ext cx="8229600" cy="502920"/>
          </a:xfrm>
          <a:prstGeom prst="roundRect">
            <a:avLst>
              <a:gd name="adj" fmla="val 2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Banner text"/>
          <p:cNvSpPr txBox="1"/>
          <p:nvPr/>
        </p:nvSpPr>
        <p:spPr>
          <a:xfrm>
            <a:off x="640080" y="3429000"/>
            <a:ext cx="7863840" cy="502920"/>
          </a:xfrm>
          <a:prstGeom prst="rect">
            <a:avLst/>
          </a:prstGeom>
          <a:noFill/>
        </p:spPr>
        <p:txBody>
          <a:bodyPr wrap="square" lIns="0" tIns="0" rIns="0" bIns="0" anchor="ctr">
            <a:spAutoFit/>
          </a:bodyPr>
          <a:lstStyle/>
          <a:p>
            <a:pPr algn="l"/>
            <a:r>
              <a:rPr sz="1600" b="1" i="0">
                <a:solidFill>
                  <a:schemeClr val="tx2"/>
                </a:solidFill>
              </a:rPr>
              <a:t>Rewrite the line on your whiteboard. Check the punctuation. 2 minutes.</a:t>
            </a:r>
          </a:p>
        </p:txBody>
      </p:sp>
      <p:sp>
        <p:nvSpPr>
          <p:cNvPr id="37"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accent2"/>
                </a:solidFill>
              </a:rPr>
              <a:t>Challenge: </a:t>
            </a:r>
            <a:r>
              <a:rPr sz="1600" b="1" i="0">
                <a:solidFill>
                  <a:schemeClr val="bg1"/>
                </a:solidFill>
              </a:rPr>
              <a:t>improve ONE line in your own writing. Check the punctuation.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upgraded dialogue</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30</a:t>
            </a:fld>
            <a:endParaRPr lang="en-US"/>
          </a:p>
        </p:txBody>
      </p:sp>
      <p:sp>
        <p:nvSpPr>
          <p:cNvPr id="26" name="Row"/>
          <p:cNvSpPr/>
          <p:nvPr/>
        </p:nvSpPr>
        <p:spPr>
          <a:xfrm>
            <a:off x="457200" y="1188720"/>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38988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63040"/>
            <a:ext cx="182880" cy="182880"/>
          </a:xfrm>
          <a:prstGeom prst="rect">
            <a:avLst/>
          </a:prstGeom>
        </p:spPr>
      </p:pic>
      <p:sp>
        <p:nvSpPr>
          <p:cNvPr id="29" name="Row text"/>
          <p:cNvSpPr txBox="1"/>
          <p:nvPr/>
        </p:nvSpPr>
        <p:spPr>
          <a:xfrm>
            <a:off x="1143000" y="1188720"/>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“Come closer, little one,” purred Auntie Anthea, licking her lips.</a:t>
            </a:r>
          </a:p>
        </p:txBody>
      </p:sp>
      <p:sp>
        <p:nvSpPr>
          <p:cNvPr id="30" name="Row"/>
          <p:cNvSpPr/>
          <p:nvPr/>
        </p:nvSpPr>
        <p:spPr>
          <a:xfrm>
            <a:off x="457200" y="2039112"/>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24028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13432"/>
            <a:ext cx="182880" cy="182880"/>
          </a:xfrm>
          <a:prstGeom prst="rect">
            <a:avLst/>
          </a:prstGeom>
        </p:spPr>
      </p:pic>
      <p:sp>
        <p:nvSpPr>
          <p:cNvPr id="33" name="Row text"/>
          <p:cNvSpPr txBox="1"/>
          <p:nvPr/>
        </p:nvSpPr>
        <p:spPr>
          <a:xfrm>
            <a:off x="1143000" y="2039112"/>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Auntie Anthea grinned, “Come closer, little one.”</a:t>
            </a:r>
          </a:p>
        </p:txBody>
      </p:sp>
      <p:sp>
        <p:nvSpPr>
          <p:cNvPr id="34" name="Row"/>
          <p:cNvSpPr/>
          <p:nvPr/>
        </p:nvSpPr>
        <p:spPr>
          <a:xfrm>
            <a:off x="457200" y="2889504"/>
            <a:ext cx="8229600" cy="73152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0906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163824"/>
            <a:ext cx="182880" cy="182880"/>
          </a:xfrm>
          <a:prstGeom prst="rect">
            <a:avLst/>
          </a:prstGeom>
        </p:spPr>
      </p:pic>
      <p:sp>
        <p:nvSpPr>
          <p:cNvPr id="37" name="Row text"/>
          <p:cNvSpPr txBox="1"/>
          <p:nvPr/>
        </p:nvSpPr>
        <p:spPr>
          <a:xfrm>
            <a:off x="1143000" y="2889504"/>
            <a:ext cx="7360920" cy="731520"/>
          </a:xfrm>
          <a:prstGeom prst="rect">
            <a:avLst/>
          </a:prstGeom>
          <a:noFill/>
        </p:spPr>
        <p:txBody>
          <a:bodyPr wrap="square" lIns="0" tIns="0" rIns="0" bIns="0" anchor="ctr">
            <a:spAutoFit/>
          </a:bodyPr>
          <a:lstStyle/>
          <a:p>
            <a:pPr algn="l"/>
            <a:r>
              <a:rPr sz="1600" b="0" i="0">
                <a:solidFill>
                  <a:schemeClr val="tx1"/>
                </a:solidFill>
                <a:latin typeface="Cambria"/>
                <a:ea typeface="Cambria"/>
                <a:cs typeface="Cambria"/>
              </a:rPr>
              <a:t>“Come closer!” hissed Auntie Anthea as she crept across the frost.</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A speech verb, a feeling and an action make dialogue better.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1"/>
          </p:nvPr>
        </p:nvSpPr>
        <p:spPr/>
        <p:txBody>
          <a:bodyPr/>
          <a:lstStyle/>
          <a:p>
            <a:r>
              <a:rPr sz="3400" b="1" i="0">
                <a:solidFill>
                  <a:schemeClr val="tx2"/>
                </a:solidFill>
              </a:rPr>
              <a:t>How did you do?</a:t>
            </a:r>
          </a:p>
        </p:txBody>
      </p:sp>
      <p:sp>
        <p:nvSpPr>
          <p:cNvPr id="3" name="Badge"/>
          <p:cNvSpPr/>
          <p:nvPr/>
        </p:nvSpPr>
        <p:spPr>
          <a:xfrm>
            <a:off x="7955279" y="274320"/>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6.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31</a:t>
            </a:fld>
            <a:endParaRPr lang="en-US"/>
          </a:p>
        </p:txBody>
      </p:sp>
      <p:sp>
        <p:nvSpPr>
          <p:cNvPr id="26" name="Card"/>
          <p:cNvSpPr/>
          <p:nvPr/>
        </p:nvSpPr>
        <p:spPr>
          <a:xfrm>
            <a:off x="457200"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Badge"/>
          <p:cNvSpPr/>
          <p:nvPr/>
        </p:nvSpPr>
        <p:spPr>
          <a:xfrm>
            <a:off x="1440180" y="1298448"/>
            <a:ext cx="658368" cy="65836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3.png"/>
          <p:cNvPicPr>
            <a:picLocks noChangeAspect="1"/>
          </p:cNvPicPr>
          <p:nvPr/>
        </p:nvPicPr>
        <p:blipFill>
          <a:blip r:embed="rId4"/>
          <a:stretch>
            <a:fillRect/>
          </a:stretch>
        </p:blipFill>
        <p:spPr>
          <a:xfrm>
            <a:off x="1588312" y="1446580"/>
            <a:ext cx="362102" cy="362102"/>
          </a:xfrm>
          <a:prstGeom prst="rect">
            <a:avLst/>
          </a:prstGeom>
        </p:spPr>
      </p:pic>
      <p:sp>
        <p:nvSpPr>
          <p:cNvPr id="29" name="Text"/>
          <p:cNvSpPr txBox="1"/>
          <p:nvPr/>
        </p:nvSpPr>
        <p:spPr>
          <a:xfrm>
            <a:off x="548640"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Meeting</a:t>
            </a:r>
          </a:p>
        </p:txBody>
      </p:sp>
      <p:sp>
        <p:nvSpPr>
          <p:cNvPr id="30" name="Text"/>
          <p:cNvSpPr txBox="1"/>
          <p:nvPr/>
        </p:nvSpPr>
        <p:spPr>
          <a:xfrm>
            <a:off x="640080" y="2468880"/>
            <a:ext cx="2286000" cy="1188720"/>
          </a:xfrm>
          <a:prstGeom prst="rect">
            <a:avLst/>
          </a:prstGeom>
          <a:noFill/>
        </p:spPr>
        <p:txBody>
          <a:bodyPr wrap="square" lIns="0" tIns="0" rIns="0" bIns="0" anchor="t">
            <a:spAutoFit/>
          </a:bodyPr>
          <a:lstStyle/>
          <a:p>
            <a:pPr algn="l">
              <a:spcAft>
                <a:spcPts val="500"/>
              </a:spcAft>
            </a:pPr>
            <a:r>
              <a:rPr sz="1400" b="1" i="0">
                <a:solidFill>
                  <a:schemeClr val="accent1"/>
                </a:solidFill>
              </a:rPr>
              <a:t>3</a:t>
            </a:r>
            <a:r>
              <a:rPr sz="1400" b="0" i="0">
                <a:solidFill>
                  <a:schemeClr val="tx1"/>
                </a:solidFill>
              </a:rPr>
              <a:t>  It follows from my problem.</a:t>
            </a:r>
          </a:p>
          <a:p>
            <a:pPr algn="l">
              <a:spcAft>
                <a:spcPts val="500"/>
              </a:spcAft>
            </a:pPr>
            <a:r>
              <a:rPr sz="1400" b="1" i="0">
                <a:solidFill>
                  <a:schemeClr val="accent1"/>
                </a:solidFill>
              </a:rPr>
              <a:t>2</a:t>
            </a:r>
            <a:r>
              <a:rPr sz="1400" b="0" i="0">
                <a:solidFill>
                  <a:schemeClr val="tx1"/>
                </a:solidFill>
              </a:rPr>
              <a:t>  It is new, but the link is weak.</a:t>
            </a:r>
          </a:p>
          <a:p>
            <a:pPr algn="l">
              <a:spcAft>
                <a:spcPts val="500"/>
              </a:spcAft>
            </a:pPr>
            <a:r>
              <a:rPr sz="1400" b="1" i="0">
                <a:solidFill>
                  <a:schemeClr val="accent1"/>
                </a:solidFill>
              </a:rPr>
              <a:t>1</a:t>
            </a:r>
            <a:r>
              <a:rPr sz="1400" b="0" i="0">
                <a:solidFill>
                  <a:schemeClr val="tx1"/>
                </a:solidFill>
              </a:rPr>
              <a:t>  It is not linked yet.</a:t>
            </a:r>
          </a:p>
        </p:txBody>
      </p:sp>
      <p:sp>
        <p:nvSpPr>
          <p:cNvPr id="31" name="Card"/>
          <p:cNvSpPr/>
          <p:nvPr/>
        </p:nvSpPr>
        <p:spPr>
          <a:xfrm>
            <a:off x="3259836"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Badge"/>
          <p:cNvSpPr/>
          <p:nvPr/>
        </p:nvSpPr>
        <p:spPr>
          <a:xfrm>
            <a:off x="4242816" y="1298448"/>
            <a:ext cx="658368" cy="65836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Icon" descr="image5.png"/>
          <p:cNvPicPr>
            <a:picLocks noChangeAspect="1"/>
          </p:cNvPicPr>
          <p:nvPr/>
        </p:nvPicPr>
        <p:blipFill>
          <a:blip r:embed="rId5"/>
          <a:stretch>
            <a:fillRect/>
          </a:stretch>
        </p:blipFill>
        <p:spPr>
          <a:xfrm>
            <a:off x="4390948" y="1446580"/>
            <a:ext cx="362102" cy="362102"/>
          </a:xfrm>
          <a:prstGeom prst="rect">
            <a:avLst/>
          </a:prstGeom>
        </p:spPr>
      </p:pic>
      <p:sp>
        <p:nvSpPr>
          <p:cNvPr id="34" name="Text"/>
          <p:cNvSpPr txBox="1"/>
          <p:nvPr/>
        </p:nvSpPr>
        <p:spPr>
          <a:xfrm>
            <a:off x="3351276"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Dialogue</a:t>
            </a:r>
          </a:p>
        </p:txBody>
      </p:sp>
      <p:sp>
        <p:nvSpPr>
          <p:cNvPr id="35" name="Text"/>
          <p:cNvSpPr txBox="1"/>
          <p:nvPr/>
        </p:nvSpPr>
        <p:spPr>
          <a:xfrm>
            <a:off x="3442716" y="2468880"/>
            <a:ext cx="2286000" cy="1188720"/>
          </a:xfrm>
          <a:prstGeom prst="rect">
            <a:avLst/>
          </a:prstGeom>
          <a:noFill/>
        </p:spPr>
        <p:txBody>
          <a:bodyPr wrap="square" lIns="0" tIns="0" rIns="0" bIns="0" anchor="t">
            <a:spAutoFit/>
          </a:bodyPr>
          <a:lstStyle/>
          <a:p>
            <a:pPr algn="l">
              <a:spcAft>
                <a:spcPts val="500"/>
              </a:spcAft>
            </a:pPr>
            <a:r>
              <a:rPr sz="1400" b="1" i="0">
                <a:solidFill>
                  <a:schemeClr val="accent4"/>
                </a:solidFill>
              </a:rPr>
              <a:t>3</a:t>
            </a:r>
            <a:r>
              <a:rPr sz="1400" b="0" i="0">
                <a:solidFill>
                  <a:schemeClr val="tx1"/>
                </a:solidFill>
              </a:rPr>
              <a:t>  All my punctuation is correct.</a:t>
            </a:r>
          </a:p>
          <a:p>
            <a:pPr algn="l">
              <a:spcAft>
                <a:spcPts val="500"/>
              </a:spcAft>
            </a:pPr>
            <a:r>
              <a:rPr sz="1400" b="1" i="0">
                <a:solidFill>
                  <a:schemeClr val="accent4"/>
                </a:solidFill>
              </a:rPr>
              <a:t>2</a:t>
            </a:r>
            <a:r>
              <a:rPr sz="1400" b="0" i="0">
                <a:solidFill>
                  <a:schemeClr val="tx1"/>
                </a:solidFill>
              </a:rPr>
              <a:t>  I made one mistake.</a:t>
            </a:r>
          </a:p>
          <a:p>
            <a:pPr algn="l">
              <a:spcAft>
                <a:spcPts val="500"/>
              </a:spcAft>
            </a:pPr>
            <a:r>
              <a:rPr sz="1400" b="1" i="0">
                <a:solidFill>
                  <a:schemeClr val="accent4"/>
                </a:solidFill>
              </a:rPr>
              <a:t>1</a:t>
            </a:r>
            <a:r>
              <a:rPr sz="1400" b="0" i="0">
                <a:solidFill>
                  <a:schemeClr val="tx1"/>
                </a:solidFill>
              </a:rPr>
              <a:t>  I made two or more.</a:t>
            </a:r>
          </a:p>
        </p:txBody>
      </p:sp>
      <p:sp>
        <p:nvSpPr>
          <p:cNvPr id="36" name="Card"/>
          <p:cNvSpPr/>
          <p:nvPr/>
        </p:nvSpPr>
        <p:spPr>
          <a:xfrm>
            <a:off x="6062472" y="1188720"/>
            <a:ext cx="2624328" cy="2514600"/>
          </a:xfrm>
          <a:prstGeom prst="roundRect">
            <a:avLst>
              <a:gd name="adj" fmla="val 5000"/>
            </a:avLst>
          </a:prstGeom>
          <a:solidFill>
            <a:schemeClr val="bg1"/>
          </a:solidFill>
          <a:ln w="63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Badge"/>
          <p:cNvSpPr/>
          <p:nvPr/>
        </p:nvSpPr>
        <p:spPr>
          <a:xfrm>
            <a:off x="7045452" y="1298448"/>
            <a:ext cx="658368" cy="65836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Icon" descr="image19.png"/>
          <p:cNvPicPr>
            <a:picLocks noChangeAspect="1"/>
          </p:cNvPicPr>
          <p:nvPr/>
        </p:nvPicPr>
        <p:blipFill>
          <a:blip r:embed="rId6"/>
          <a:stretch>
            <a:fillRect/>
          </a:stretch>
        </p:blipFill>
        <p:spPr>
          <a:xfrm>
            <a:off x="7193584" y="1446580"/>
            <a:ext cx="362102" cy="362102"/>
          </a:xfrm>
          <a:prstGeom prst="rect">
            <a:avLst/>
          </a:prstGeom>
        </p:spPr>
      </p:pic>
      <p:sp>
        <p:nvSpPr>
          <p:cNvPr id="39" name="Text"/>
          <p:cNvSpPr txBox="1"/>
          <p:nvPr/>
        </p:nvSpPr>
        <p:spPr>
          <a:xfrm>
            <a:off x="6153912" y="2011680"/>
            <a:ext cx="2441448" cy="365760"/>
          </a:xfrm>
          <a:prstGeom prst="rect">
            <a:avLst/>
          </a:prstGeom>
          <a:noFill/>
        </p:spPr>
        <p:txBody>
          <a:bodyPr wrap="square" lIns="0" tIns="0" rIns="0" bIns="0" anchor="ctr">
            <a:spAutoFit/>
          </a:bodyPr>
          <a:lstStyle/>
          <a:p>
            <a:pPr algn="ctr"/>
            <a:r>
              <a:rPr sz="1900" b="1" i="0">
                <a:solidFill>
                  <a:schemeClr val="tx2"/>
                </a:solidFill>
                <a:latin typeface="Cambria"/>
                <a:ea typeface="Cambria"/>
                <a:cs typeface="Cambria"/>
              </a:rPr>
              <a:t>Choice</a:t>
            </a:r>
          </a:p>
        </p:txBody>
      </p:sp>
      <p:sp>
        <p:nvSpPr>
          <p:cNvPr id="40" name="Text"/>
          <p:cNvSpPr txBox="1"/>
          <p:nvPr/>
        </p:nvSpPr>
        <p:spPr>
          <a:xfrm>
            <a:off x="6245352" y="2468880"/>
            <a:ext cx="2286000" cy="1188720"/>
          </a:xfrm>
          <a:prstGeom prst="rect">
            <a:avLst/>
          </a:prstGeom>
          <a:noFill/>
        </p:spPr>
        <p:txBody>
          <a:bodyPr wrap="square" lIns="0" tIns="0" rIns="0" bIns="0" anchor="t">
            <a:spAutoFit/>
          </a:bodyPr>
          <a:lstStyle/>
          <a:p>
            <a:pPr algn="l">
              <a:spcAft>
                <a:spcPts val="500"/>
              </a:spcAft>
            </a:pPr>
            <a:r>
              <a:rPr sz="1400" b="1" i="0">
                <a:solidFill>
                  <a:schemeClr val="accent3"/>
                </a:solidFill>
              </a:rPr>
              <a:t>3</a:t>
            </a:r>
            <a:r>
              <a:rPr sz="1400" b="0" i="0">
                <a:solidFill>
                  <a:schemeClr val="tx1"/>
                </a:solidFill>
              </a:rPr>
              <a:t>  Only this character would do it.</a:t>
            </a:r>
          </a:p>
          <a:p>
            <a:pPr algn="l">
              <a:spcAft>
                <a:spcPts val="500"/>
              </a:spcAft>
            </a:pPr>
            <a:r>
              <a:rPr sz="1400" b="1" i="0">
                <a:solidFill>
                  <a:schemeClr val="accent3"/>
                </a:solidFill>
              </a:rPr>
              <a:t>2</a:t>
            </a:r>
            <a:r>
              <a:rPr sz="1400" b="0" i="0">
                <a:solidFill>
                  <a:schemeClr val="tx1"/>
                </a:solidFill>
              </a:rPr>
              <a:t>  It fits, but could be anyone.</a:t>
            </a:r>
          </a:p>
          <a:p>
            <a:pPr algn="l">
              <a:spcAft>
                <a:spcPts val="500"/>
              </a:spcAft>
            </a:pPr>
            <a:r>
              <a:rPr sz="1400" b="1" i="0">
                <a:solidFill>
                  <a:schemeClr val="accent3"/>
                </a:solidFill>
              </a:rPr>
              <a:t>1</a:t>
            </a:r>
            <a:r>
              <a:rPr sz="1400" b="0" i="0">
                <a:solidFill>
                  <a:schemeClr val="tx1"/>
                </a:solidFill>
              </a:rPr>
              <a:t>  It does not show the trait.</a:t>
            </a:r>
          </a:p>
        </p:txBody>
      </p:sp>
      <p:sp>
        <p:nvSpPr>
          <p:cNvPr id="41" name="Banner"/>
          <p:cNvSpPr/>
          <p:nvPr/>
        </p:nvSpPr>
        <p:spPr>
          <a:xfrm>
            <a:off x="457200" y="3886200"/>
            <a:ext cx="8229600" cy="594360"/>
          </a:xfrm>
          <a:prstGeom prst="roundRect">
            <a:avLst>
              <a:gd name="adj" fmla="val 2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anner text"/>
          <p:cNvSpPr txBox="1"/>
          <p:nvPr/>
        </p:nvSpPr>
        <p:spPr>
          <a:xfrm>
            <a:off x="640080" y="3886200"/>
            <a:ext cx="7863840" cy="594360"/>
          </a:xfrm>
          <a:prstGeom prst="rect">
            <a:avLst/>
          </a:prstGeom>
          <a:noFill/>
        </p:spPr>
        <p:txBody>
          <a:bodyPr wrap="square" lIns="0" tIns="0" rIns="0" bIns="0" anchor="ctr">
            <a:spAutoFit/>
          </a:bodyPr>
          <a:lstStyle/>
          <a:p>
            <a:pPr algn="l"/>
            <a:r>
              <a:rPr sz="1500" b="1" i="0">
                <a:solidFill>
                  <a:schemeClr val="bg1"/>
                </a:solidFill>
              </a:rPr>
              <a:t>Score each row 3, 2 or 1. My next target: I need to improve ____________.</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Plenary: mark the paragraph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32</a:t>
            </a:fld>
            <a:endParaRPr lang="en-US"/>
          </a:p>
        </p:txBody>
      </p:sp>
      <p:sp>
        <p:nvSpPr>
          <p:cNvPr id="26" name="Card"/>
          <p:cNvSpPr/>
          <p:nvPr/>
        </p:nvSpPr>
        <p:spPr>
          <a:xfrm>
            <a:off x="457200" y="1188720"/>
            <a:ext cx="47548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98448"/>
            <a:ext cx="4297680" cy="365760"/>
          </a:xfrm>
          <a:prstGeom prst="rect">
            <a:avLst/>
          </a:prstGeom>
          <a:noFill/>
        </p:spPr>
        <p:txBody>
          <a:bodyPr wrap="square" lIns="0" tIns="0" rIns="0" bIns="0" anchor="ctr">
            <a:spAutoFit/>
          </a:bodyPr>
          <a:lstStyle/>
          <a:p>
            <a:pPr algn="l"/>
            <a:r>
              <a:rPr sz="1700" b="1" i="0">
                <a:solidFill>
                  <a:schemeClr val="accent1"/>
                </a:solidFill>
                <a:latin typeface="Cambria"/>
                <a:ea typeface="Cambria"/>
                <a:cs typeface="Cambria"/>
              </a:rPr>
              <a:t>Geoffrey’s Paragraph 3</a:t>
            </a:r>
          </a:p>
        </p:txBody>
      </p:sp>
      <p:sp>
        <p:nvSpPr>
          <p:cNvPr id="28" name="Text"/>
          <p:cNvSpPr txBox="1"/>
          <p:nvPr/>
        </p:nvSpPr>
        <p:spPr>
          <a:xfrm>
            <a:off x="457200" y="1783080"/>
            <a:ext cx="4526280" cy="877163"/>
          </a:xfrm>
          <a:prstGeom prst="rect">
            <a:avLst/>
          </a:prstGeom>
          <a:noFill/>
        </p:spPr>
        <p:txBody>
          <a:bodyPr wrap="square" lIns="0" tIns="0" rIns="0" bIns="0" anchor="t">
            <a:spAutoFit/>
          </a:bodyPr>
          <a:lstStyle/>
          <a:p>
            <a:pPr algn="l"/>
            <a:r>
              <a:rPr sz="1900" b="0" i="0" dirty="0">
                <a:solidFill>
                  <a:schemeClr val="tx1"/>
                </a:solidFill>
                <a:latin typeface="Cambria"/>
                <a:ea typeface="Cambria"/>
                <a:cs typeface="Cambria"/>
              </a:rPr>
              <a:t>One sunny day, Geoffrey met Auntie Anthea. “you look like a tasty supper”, she said. Geoffrey ran away.</a:t>
            </a:r>
          </a:p>
        </p:txBody>
      </p:sp>
      <p:sp>
        <p:nvSpPr>
          <p:cNvPr id="29" name="Row"/>
          <p:cNvSpPr/>
          <p:nvPr/>
        </p:nvSpPr>
        <p:spPr>
          <a:xfrm>
            <a:off x="5394960" y="1188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Number badge"/>
          <p:cNvSpPr/>
          <p:nvPr/>
        </p:nvSpPr>
        <p:spPr>
          <a:xfrm>
            <a:off x="5532120" y="150876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p:cNvSpPr txBox="1"/>
          <p:nvPr/>
        </p:nvSpPr>
        <p:spPr>
          <a:xfrm>
            <a:off x="5532120" y="150876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32" name="Text"/>
          <p:cNvSpPr txBox="1"/>
          <p:nvPr/>
        </p:nvSpPr>
        <p:spPr>
          <a:xfrm>
            <a:off x="6035040" y="1188720"/>
            <a:ext cx="2560320" cy="1005840"/>
          </a:xfrm>
          <a:prstGeom prst="rect">
            <a:avLst/>
          </a:prstGeom>
          <a:noFill/>
        </p:spPr>
        <p:txBody>
          <a:bodyPr wrap="square" lIns="0" tIns="0" rIns="0" bIns="0" anchor="ctr">
            <a:spAutoFit/>
          </a:bodyPr>
          <a:lstStyle/>
          <a:p>
            <a:pPr algn="l"/>
            <a:r>
              <a:rPr sz="1400" b="1" i="0">
                <a:solidFill>
                  <a:schemeClr val="tx1"/>
                </a:solidFill>
              </a:rPr>
              <a:t>Does the meeting follow from the problem?</a:t>
            </a:r>
          </a:p>
        </p:txBody>
      </p:sp>
      <p:sp>
        <p:nvSpPr>
          <p:cNvPr id="33" name="Row"/>
          <p:cNvSpPr/>
          <p:nvPr/>
        </p:nvSpPr>
        <p:spPr>
          <a:xfrm>
            <a:off x="5394960" y="2331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Number badge"/>
          <p:cNvSpPr/>
          <p:nvPr/>
        </p:nvSpPr>
        <p:spPr>
          <a:xfrm>
            <a:off x="5532120" y="2651760"/>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p:cNvSpPr txBox="1"/>
          <p:nvPr/>
        </p:nvSpPr>
        <p:spPr>
          <a:xfrm>
            <a:off x="5532120" y="265176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6" name="Text"/>
          <p:cNvSpPr txBox="1"/>
          <p:nvPr/>
        </p:nvSpPr>
        <p:spPr>
          <a:xfrm>
            <a:off x="6035040" y="2331720"/>
            <a:ext cx="2560320" cy="1005840"/>
          </a:xfrm>
          <a:prstGeom prst="rect">
            <a:avLst/>
          </a:prstGeom>
          <a:noFill/>
        </p:spPr>
        <p:txBody>
          <a:bodyPr wrap="square" lIns="0" tIns="0" rIns="0" bIns="0" anchor="ctr">
            <a:spAutoFit/>
          </a:bodyPr>
          <a:lstStyle/>
          <a:p>
            <a:pPr algn="l"/>
            <a:r>
              <a:rPr sz="1400" b="1" i="0" dirty="0">
                <a:solidFill>
                  <a:schemeClr val="tx1"/>
                </a:solidFill>
              </a:rPr>
              <a:t>Is the dialogue punctuated correctly?</a:t>
            </a:r>
          </a:p>
        </p:txBody>
      </p:sp>
      <p:sp>
        <p:nvSpPr>
          <p:cNvPr id="37" name="Row"/>
          <p:cNvSpPr/>
          <p:nvPr/>
        </p:nvSpPr>
        <p:spPr>
          <a:xfrm>
            <a:off x="5394960" y="3474720"/>
            <a:ext cx="3291840" cy="100584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Number badge"/>
          <p:cNvSpPr/>
          <p:nvPr/>
        </p:nvSpPr>
        <p:spPr>
          <a:xfrm>
            <a:off x="5532120" y="3794759"/>
            <a:ext cx="365760" cy="36576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cNvSpPr txBox="1"/>
          <p:nvPr/>
        </p:nvSpPr>
        <p:spPr>
          <a:xfrm>
            <a:off x="5532120" y="3794759"/>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40" name="Text"/>
          <p:cNvSpPr txBox="1"/>
          <p:nvPr/>
        </p:nvSpPr>
        <p:spPr>
          <a:xfrm>
            <a:off x="6035040" y="3474720"/>
            <a:ext cx="2560320" cy="1005840"/>
          </a:xfrm>
          <a:prstGeom prst="rect">
            <a:avLst/>
          </a:prstGeom>
          <a:noFill/>
        </p:spPr>
        <p:txBody>
          <a:bodyPr wrap="square" lIns="0" tIns="0" rIns="0" bIns="0" anchor="ctr">
            <a:spAutoFit/>
          </a:bodyPr>
          <a:lstStyle/>
          <a:p>
            <a:pPr algn="l"/>
            <a:r>
              <a:rPr sz="1400" b="1" i="0">
                <a:solidFill>
                  <a:schemeClr val="tx1"/>
                </a:solidFill>
              </a:rPr>
              <a:t>Does the choice reveal the trait?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Answers: mark the paragraph</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33</a:t>
            </a:fld>
            <a:endParaRPr lang="en-US"/>
          </a:p>
        </p:txBody>
      </p:sp>
      <p:sp>
        <p:nvSpPr>
          <p:cNvPr id="26" name="Row"/>
          <p:cNvSpPr/>
          <p:nvPr/>
        </p:nvSpPr>
        <p:spPr>
          <a:xfrm>
            <a:off x="457200" y="118872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41274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485900"/>
            <a:ext cx="182880" cy="182880"/>
          </a:xfrm>
          <a:prstGeom prst="rect">
            <a:avLst/>
          </a:prstGeom>
        </p:spPr>
      </p:pic>
      <p:sp>
        <p:nvSpPr>
          <p:cNvPr id="29" name="Row text"/>
          <p:cNvSpPr txBox="1"/>
          <p:nvPr/>
        </p:nvSpPr>
        <p:spPr>
          <a:xfrm>
            <a:off x="1143000" y="1188720"/>
            <a:ext cx="7360920" cy="777240"/>
          </a:xfrm>
          <a:prstGeom prst="rect">
            <a:avLst/>
          </a:prstGeom>
          <a:noFill/>
        </p:spPr>
        <p:txBody>
          <a:bodyPr wrap="square" lIns="0" tIns="0" rIns="0" bIns="0" anchor="ctr">
            <a:spAutoFit/>
          </a:bodyPr>
          <a:lstStyle/>
          <a:p>
            <a:pPr algn="l"/>
            <a:r>
              <a:rPr sz="1400" b="1" i="0">
                <a:solidFill>
                  <a:schemeClr val="tx1"/>
                </a:solidFill>
              </a:rPr>
              <a:t>Meeting:  </a:t>
            </a:r>
            <a:r>
              <a:rPr sz="1400" b="0" i="0">
                <a:solidFill>
                  <a:schemeClr val="tx1"/>
                </a:solidFill>
              </a:rPr>
              <a:t>“One sunny day” has no link to the problem. Try “Weak and shivering, Geoffrey met Auntie Anthea.”</a:t>
            </a:r>
          </a:p>
        </p:txBody>
      </p:sp>
      <p:sp>
        <p:nvSpPr>
          <p:cNvPr id="30" name="Row"/>
          <p:cNvSpPr/>
          <p:nvPr/>
        </p:nvSpPr>
        <p:spPr>
          <a:xfrm>
            <a:off x="457200" y="2084832"/>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30886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382012"/>
            <a:ext cx="182880" cy="182880"/>
          </a:xfrm>
          <a:prstGeom prst="rect">
            <a:avLst/>
          </a:prstGeom>
        </p:spPr>
      </p:pic>
      <p:sp>
        <p:nvSpPr>
          <p:cNvPr id="33" name="Row text"/>
          <p:cNvSpPr txBox="1"/>
          <p:nvPr/>
        </p:nvSpPr>
        <p:spPr>
          <a:xfrm>
            <a:off x="1143000" y="2084832"/>
            <a:ext cx="7360920" cy="777240"/>
          </a:xfrm>
          <a:prstGeom prst="rect">
            <a:avLst/>
          </a:prstGeom>
          <a:noFill/>
        </p:spPr>
        <p:txBody>
          <a:bodyPr wrap="square" lIns="0" tIns="0" rIns="0" bIns="0" anchor="ctr">
            <a:spAutoFit/>
          </a:bodyPr>
          <a:lstStyle/>
          <a:p>
            <a:pPr algn="l"/>
            <a:r>
              <a:rPr sz="1400" b="1" i="0">
                <a:solidFill>
                  <a:schemeClr val="tx1"/>
                </a:solidFill>
              </a:rPr>
              <a:t>Dialogue:  </a:t>
            </a:r>
            <a:r>
              <a:rPr sz="1400" b="0" i="0">
                <a:solidFill>
                  <a:schemeClr val="tx1"/>
                </a:solidFill>
                <a:latin typeface="Cambria"/>
                <a:ea typeface="Cambria"/>
                <a:cs typeface="Cambria"/>
              </a:rPr>
              <a:t>“You look like a tasty supper,” she said.  (capital Y, comma inside ”)</a:t>
            </a:r>
          </a:p>
        </p:txBody>
      </p:sp>
      <p:sp>
        <p:nvSpPr>
          <p:cNvPr id="34" name="Row"/>
          <p:cNvSpPr/>
          <p:nvPr/>
        </p:nvSpPr>
        <p:spPr>
          <a:xfrm>
            <a:off x="457200" y="2980944"/>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2049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278124"/>
            <a:ext cx="182880" cy="182880"/>
          </a:xfrm>
          <a:prstGeom prst="rect">
            <a:avLst/>
          </a:prstGeom>
        </p:spPr>
      </p:pic>
      <p:sp>
        <p:nvSpPr>
          <p:cNvPr id="37" name="Row text"/>
          <p:cNvSpPr txBox="1"/>
          <p:nvPr/>
        </p:nvSpPr>
        <p:spPr>
          <a:xfrm>
            <a:off x="1143000" y="2980944"/>
            <a:ext cx="7360920" cy="777240"/>
          </a:xfrm>
          <a:prstGeom prst="rect">
            <a:avLst/>
          </a:prstGeom>
          <a:noFill/>
        </p:spPr>
        <p:txBody>
          <a:bodyPr wrap="square" lIns="0" tIns="0" rIns="0" bIns="0" anchor="ctr">
            <a:spAutoFit/>
          </a:bodyPr>
          <a:lstStyle/>
          <a:p>
            <a:pPr algn="l"/>
            <a:r>
              <a:rPr sz="1400" b="1" i="0">
                <a:solidFill>
                  <a:schemeClr val="tx1"/>
                </a:solidFill>
              </a:rPr>
              <a:t>Choice:  </a:t>
            </a:r>
            <a:r>
              <a:rPr sz="1400" b="0" i="0">
                <a:solidFill>
                  <a:schemeClr val="tx1"/>
                </a:solidFill>
              </a:rPr>
              <a:t>Running away could be anyone. Try “Instead of running, he closed his eyes and began to sing.”</a:t>
            </a:r>
          </a:p>
        </p:txBody>
      </p:sp>
      <p:sp>
        <p:nvSpPr>
          <p:cNvPr id="38" name="Banner"/>
          <p:cNvSpPr/>
          <p:nvPr/>
        </p:nvSpPr>
        <p:spPr>
          <a:xfrm>
            <a:off x="457200" y="4023360"/>
            <a:ext cx="8229600" cy="502920"/>
          </a:xfrm>
          <a:prstGeom prst="roundRect">
            <a:avLst>
              <a:gd name="adj" fmla="val 2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anner text"/>
          <p:cNvSpPr txBox="1"/>
          <p:nvPr/>
        </p:nvSpPr>
        <p:spPr>
          <a:xfrm>
            <a:off x="640080" y="4023360"/>
            <a:ext cx="7863840" cy="502920"/>
          </a:xfrm>
          <a:prstGeom prst="rect">
            <a:avLst/>
          </a:prstGeom>
          <a:noFill/>
        </p:spPr>
        <p:txBody>
          <a:bodyPr wrap="square" lIns="0" tIns="0" rIns="0" bIns="0" anchor="ctr">
            <a:spAutoFit/>
          </a:bodyPr>
          <a:lstStyle/>
          <a:p>
            <a:pPr algn="l"/>
            <a:r>
              <a:rPr sz="1600" b="1" i="0">
                <a:solidFill>
                  <a:schemeClr val="bg1"/>
                </a:solidFill>
              </a:rPr>
              <a:t>Use the three criteria to check your own paragraph in the same way.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Exit ticket</a:t>
            </a:r>
          </a:p>
        </p:txBody>
      </p:sp>
      <p:sp>
        <p:nvSpPr>
          <p:cNvPr id="3" name="Badge"/>
          <p:cNvSpPr/>
          <p:nvPr/>
        </p:nvSpPr>
        <p:spPr>
          <a:xfrm>
            <a:off x="7955279" y="274320"/>
            <a:ext cx="731520" cy="73152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34</a:t>
            </a:fld>
            <a:endParaRPr lang="en-US"/>
          </a:p>
        </p:txBody>
      </p:sp>
      <p:sp>
        <p:nvSpPr>
          <p:cNvPr id="26" name="Row"/>
          <p:cNvSpPr/>
          <p:nvPr/>
        </p:nvSpPr>
        <p:spPr>
          <a:xfrm>
            <a:off x="457200" y="118872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umber badge"/>
          <p:cNvSpPr/>
          <p:nvPr/>
        </p:nvSpPr>
        <p:spPr>
          <a:xfrm>
            <a:off x="640080" y="139446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39446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29" name="Row text"/>
          <p:cNvSpPr txBox="1"/>
          <p:nvPr/>
        </p:nvSpPr>
        <p:spPr>
          <a:xfrm>
            <a:off x="1188720" y="1188720"/>
            <a:ext cx="7315200" cy="777240"/>
          </a:xfrm>
          <a:prstGeom prst="rect">
            <a:avLst/>
          </a:prstGeom>
          <a:noFill/>
        </p:spPr>
        <p:txBody>
          <a:bodyPr wrap="square" lIns="0" tIns="0" rIns="0" bIns="0" anchor="ctr">
            <a:spAutoFit/>
          </a:bodyPr>
          <a:lstStyle/>
          <a:p>
            <a:pPr algn="l"/>
            <a:r>
              <a:rPr sz="1800" b="1" i="0">
                <a:solidFill>
                  <a:schemeClr val="tx1"/>
                </a:solidFill>
              </a:rPr>
              <a:t>A choice can show a trait because ______.</a:t>
            </a:r>
          </a:p>
        </p:txBody>
      </p:sp>
      <p:sp>
        <p:nvSpPr>
          <p:cNvPr id="30" name="Row"/>
          <p:cNvSpPr/>
          <p:nvPr/>
        </p:nvSpPr>
        <p:spPr>
          <a:xfrm>
            <a:off x="457200" y="214884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umber badge"/>
          <p:cNvSpPr/>
          <p:nvPr/>
        </p:nvSpPr>
        <p:spPr>
          <a:xfrm>
            <a:off x="640080" y="2354580"/>
            <a:ext cx="365760" cy="36576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0080" y="235458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3" name="Row text"/>
          <p:cNvSpPr txBox="1"/>
          <p:nvPr/>
        </p:nvSpPr>
        <p:spPr>
          <a:xfrm>
            <a:off x="1188720" y="2148840"/>
            <a:ext cx="7315200" cy="777240"/>
          </a:xfrm>
          <a:prstGeom prst="rect">
            <a:avLst/>
          </a:prstGeom>
          <a:noFill/>
        </p:spPr>
        <p:txBody>
          <a:bodyPr wrap="square" lIns="0" tIns="0" rIns="0" bIns="0" anchor="ctr">
            <a:spAutoFit/>
          </a:bodyPr>
          <a:lstStyle/>
          <a:p>
            <a:pPr algn="l"/>
            <a:r>
              <a:rPr sz="1800" b="1" i="0">
                <a:solidFill>
                  <a:schemeClr val="tx1"/>
                </a:solidFill>
              </a:rPr>
              <a:t>One punctuation rule I will remember is ______.</a:t>
            </a:r>
          </a:p>
        </p:txBody>
      </p:sp>
      <p:sp>
        <p:nvSpPr>
          <p:cNvPr id="34" name="Row"/>
          <p:cNvSpPr/>
          <p:nvPr/>
        </p:nvSpPr>
        <p:spPr>
          <a:xfrm>
            <a:off x="457200" y="3108960"/>
            <a:ext cx="8229600" cy="77724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umber badge"/>
          <p:cNvSpPr/>
          <p:nvPr/>
        </p:nvSpPr>
        <p:spPr>
          <a:xfrm>
            <a:off x="640080" y="3314700"/>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640080" y="3314700"/>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37" name="Row text"/>
          <p:cNvSpPr txBox="1"/>
          <p:nvPr/>
        </p:nvSpPr>
        <p:spPr>
          <a:xfrm>
            <a:off x="1188720" y="3108960"/>
            <a:ext cx="7315200" cy="777240"/>
          </a:xfrm>
          <a:prstGeom prst="rect">
            <a:avLst/>
          </a:prstGeom>
          <a:noFill/>
        </p:spPr>
        <p:txBody>
          <a:bodyPr wrap="square" lIns="0" tIns="0" rIns="0" bIns="0" anchor="ctr">
            <a:spAutoFit/>
          </a:bodyPr>
          <a:lstStyle/>
          <a:p>
            <a:pPr algn="l"/>
            <a:r>
              <a:rPr sz="1800" b="1" i="0">
                <a:solidFill>
                  <a:schemeClr val="tx1"/>
                </a:solidFill>
              </a:rPr>
              <a:t>The part I found tricky was ______.</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Model: exit ticket</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3.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35</a:t>
            </a:fld>
            <a:endParaRPr lang="en-US"/>
          </a:p>
        </p:txBody>
      </p:sp>
      <p:sp>
        <p:nvSpPr>
          <p:cNvPr id="26" name="Row"/>
          <p:cNvSpPr/>
          <p:nvPr/>
        </p:nvSpPr>
        <p:spPr>
          <a:xfrm>
            <a:off x="457200" y="1188720"/>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ick badge"/>
          <p:cNvSpPr/>
          <p:nvPr/>
        </p:nvSpPr>
        <p:spPr>
          <a:xfrm>
            <a:off x="640080" y="1458468"/>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on" descr="image13.png"/>
          <p:cNvPicPr>
            <a:picLocks noChangeAspect="1"/>
          </p:cNvPicPr>
          <p:nvPr/>
        </p:nvPicPr>
        <p:blipFill>
          <a:blip r:embed="rId3"/>
          <a:stretch>
            <a:fillRect/>
          </a:stretch>
        </p:blipFill>
        <p:spPr>
          <a:xfrm>
            <a:off x="713232" y="1531619"/>
            <a:ext cx="182880" cy="182880"/>
          </a:xfrm>
          <a:prstGeom prst="rect">
            <a:avLst/>
          </a:prstGeom>
        </p:spPr>
      </p:pic>
      <p:sp>
        <p:nvSpPr>
          <p:cNvPr id="29" name="Row text"/>
          <p:cNvSpPr txBox="1"/>
          <p:nvPr/>
        </p:nvSpPr>
        <p:spPr>
          <a:xfrm>
            <a:off x="1143000" y="1188720"/>
            <a:ext cx="7360920" cy="868680"/>
          </a:xfrm>
          <a:prstGeom prst="rect">
            <a:avLst/>
          </a:prstGeom>
          <a:noFill/>
        </p:spPr>
        <p:txBody>
          <a:bodyPr wrap="square" lIns="0" tIns="0" rIns="0" bIns="0" anchor="ctr">
            <a:spAutoFit/>
          </a:bodyPr>
          <a:lstStyle/>
          <a:p>
            <a:pPr algn="l"/>
            <a:r>
              <a:rPr sz="1400" b="0" i="0">
                <a:solidFill>
                  <a:schemeClr val="tx1"/>
                </a:solidFill>
              </a:rPr>
              <a:t>A choice can show a trait because it shows what the character does when tested. Geoffrey was dreamy, so he sang instead of running away.</a:t>
            </a:r>
          </a:p>
        </p:txBody>
      </p:sp>
      <p:sp>
        <p:nvSpPr>
          <p:cNvPr id="30" name="Row"/>
          <p:cNvSpPr/>
          <p:nvPr/>
        </p:nvSpPr>
        <p:spPr>
          <a:xfrm>
            <a:off x="457200" y="2176272"/>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ick badge"/>
          <p:cNvSpPr/>
          <p:nvPr/>
        </p:nvSpPr>
        <p:spPr>
          <a:xfrm>
            <a:off x="640080" y="2446020"/>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on" descr="image13.png"/>
          <p:cNvPicPr>
            <a:picLocks noChangeAspect="1"/>
          </p:cNvPicPr>
          <p:nvPr/>
        </p:nvPicPr>
        <p:blipFill>
          <a:blip r:embed="rId3"/>
          <a:stretch>
            <a:fillRect/>
          </a:stretch>
        </p:blipFill>
        <p:spPr>
          <a:xfrm>
            <a:off x="713232" y="2519172"/>
            <a:ext cx="182880" cy="182880"/>
          </a:xfrm>
          <a:prstGeom prst="rect">
            <a:avLst/>
          </a:prstGeom>
        </p:spPr>
      </p:pic>
      <p:sp>
        <p:nvSpPr>
          <p:cNvPr id="33" name="Row text"/>
          <p:cNvSpPr txBox="1"/>
          <p:nvPr/>
        </p:nvSpPr>
        <p:spPr>
          <a:xfrm>
            <a:off x="1143000" y="2176272"/>
            <a:ext cx="7360920" cy="868680"/>
          </a:xfrm>
          <a:prstGeom prst="rect">
            <a:avLst/>
          </a:prstGeom>
          <a:noFill/>
        </p:spPr>
        <p:txBody>
          <a:bodyPr wrap="square" lIns="0" tIns="0" rIns="0" bIns="0" anchor="ctr">
            <a:spAutoFit/>
          </a:bodyPr>
          <a:lstStyle/>
          <a:p>
            <a:pPr algn="l"/>
            <a:r>
              <a:rPr sz="1400" b="0" i="0">
                <a:solidFill>
                  <a:schemeClr val="tx1"/>
                </a:solidFill>
              </a:rPr>
              <a:t>The comma goes inside the closing inverted commas when the dialogue comes first: </a:t>
            </a:r>
            <a:r>
              <a:rPr sz="1400" b="1" i="0">
                <a:solidFill>
                  <a:schemeClr val="tx1"/>
                </a:solidFill>
                <a:latin typeface="Cambria"/>
                <a:ea typeface="Cambria"/>
                <a:cs typeface="Cambria"/>
              </a:rPr>
              <a:t>“You look like a tasty supper,” said Auntie Anthea.</a:t>
            </a:r>
          </a:p>
        </p:txBody>
      </p:sp>
      <p:sp>
        <p:nvSpPr>
          <p:cNvPr id="34" name="Row"/>
          <p:cNvSpPr/>
          <p:nvPr/>
        </p:nvSpPr>
        <p:spPr>
          <a:xfrm>
            <a:off x="457200" y="3163824"/>
            <a:ext cx="8229600" cy="86868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ick badge"/>
          <p:cNvSpPr/>
          <p:nvPr/>
        </p:nvSpPr>
        <p:spPr>
          <a:xfrm>
            <a:off x="640080" y="3433572"/>
            <a:ext cx="329184" cy="329184"/>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on" descr="image13.png"/>
          <p:cNvPicPr>
            <a:picLocks noChangeAspect="1"/>
          </p:cNvPicPr>
          <p:nvPr/>
        </p:nvPicPr>
        <p:blipFill>
          <a:blip r:embed="rId3"/>
          <a:stretch>
            <a:fillRect/>
          </a:stretch>
        </p:blipFill>
        <p:spPr>
          <a:xfrm>
            <a:off x="713232" y="3506724"/>
            <a:ext cx="182880" cy="182880"/>
          </a:xfrm>
          <a:prstGeom prst="rect">
            <a:avLst/>
          </a:prstGeom>
        </p:spPr>
      </p:pic>
      <p:sp>
        <p:nvSpPr>
          <p:cNvPr id="37" name="Row text"/>
          <p:cNvSpPr txBox="1"/>
          <p:nvPr/>
        </p:nvSpPr>
        <p:spPr>
          <a:xfrm>
            <a:off x="1143000" y="3163824"/>
            <a:ext cx="7360920" cy="868680"/>
          </a:xfrm>
          <a:prstGeom prst="rect">
            <a:avLst/>
          </a:prstGeom>
          <a:noFill/>
        </p:spPr>
        <p:txBody>
          <a:bodyPr wrap="square" lIns="0" tIns="0" rIns="0" bIns="0" anchor="ctr">
            <a:spAutoFit/>
          </a:bodyPr>
          <a:lstStyle/>
          <a:p>
            <a:pPr algn="l"/>
            <a:r>
              <a:rPr sz="1400" b="0" i="0">
                <a:solidFill>
                  <a:schemeClr val="tx1"/>
                </a:solidFill>
              </a:rPr>
              <a:t>The part I found tricky was remembering the comma before the opening inverted commas.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000" b="1" i="0">
                <a:solidFill>
                  <a:schemeClr val="tx2"/>
                </a:solidFill>
              </a:rPr>
              <a:t>Homework: write Paragraphs 1 to 3</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5.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37</a:t>
            </a:fld>
            <a:endParaRPr lang="en-US"/>
          </a:p>
        </p:txBody>
      </p:sp>
      <p:sp>
        <p:nvSpPr>
          <p:cNvPr id="26" name="Row"/>
          <p:cNvSpPr/>
          <p:nvPr/>
        </p:nvSpPr>
        <p:spPr>
          <a:xfrm>
            <a:off x="457200" y="118872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umber badge"/>
          <p:cNvSpPr/>
          <p:nvPr/>
        </p:nvSpPr>
        <p:spPr>
          <a:xfrm>
            <a:off x="640080" y="141732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
          <p:cNvSpPr txBox="1"/>
          <p:nvPr/>
        </p:nvSpPr>
        <p:spPr>
          <a:xfrm>
            <a:off x="640080" y="1417320"/>
            <a:ext cx="365760" cy="365760"/>
          </a:xfrm>
          <a:prstGeom prst="rect">
            <a:avLst/>
          </a:prstGeom>
          <a:noFill/>
        </p:spPr>
        <p:txBody>
          <a:bodyPr wrap="square" lIns="0" tIns="0" rIns="0" bIns="0" anchor="ctr">
            <a:spAutoFit/>
          </a:bodyPr>
          <a:lstStyle/>
          <a:p>
            <a:pPr algn="ctr"/>
            <a:r>
              <a:rPr sz="1500" b="1" i="0">
                <a:solidFill>
                  <a:schemeClr val="bg1"/>
                </a:solidFill>
              </a:rPr>
              <a:t>1</a:t>
            </a:r>
          </a:p>
        </p:txBody>
      </p:sp>
      <p:sp>
        <p:nvSpPr>
          <p:cNvPr id="29" name="Row text"/>
          <p:cNvSpPr txBox="1"/>
          <p:nvPr/>
        </p:nvSpPr>
        <p:spPr>
          <a:xfrm>
            <a:off x="1188720" y="1188720"/>
            <a:ext cx="7315200" cy="822960"/>
          </a:xfrm>
          <a:prstGeom prst="rect">
            <a:avLst/>
          </a:prstGeom>
          <a:noFill/>
        </p:spPr>
        <p:txBody>
          <a:bodyPr wrap="square" lIns="0" tIns="0" rIns="0" bIns="0" anchor="ctr">
            <a:spAutoFit/>
          </a:bodyPr>
          <a:lstStyle/>
          <a:p>
            <a:pPr algn="l"/>
            <a:r>
              <a:rPr sz="1500" b="1" i="0">
                <a:solidFill>
                  <a:schemeClr val="tx1"/>
                </a:solidFill>
              </a:rPr>
              <a:t>Paragraph 1: </a:t>
            </a:r>
            <a:r>
              <a:rPr sz="1500" b="0" i="0">
                <a:solidFill>
                  <a:schemeClr val="tx1"/>
                </a:solidFill>
              </a:rPr>
              <a:t>the character, the place and the trait shown by what they DO. Improve your Lesson 2 draft.</a:t>
            </a:r>
          </a:p>
        </p:txBody>
      </p:sp>
      <p:sp>
        <p:nvSpPr>
          <p:cNvPr id="30" name="Row"/>
          <p:cNvSpPr/>
          <p:nvPr/>
        </p:nvSpPr>
        <p:spPr>
          <a:xfrm>
            <a:off x="457200" y="219456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Number badge"/>
          <p:cNvSpPr/>
          <p:nvPr/>
        </p:nvSpPr>
        <p:spPr>
          <a:xfrm>
            <a:off x="640080" y="2423160"/>
            <a:ext cx="365760" cy="36576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640080" y="2423160"/>
            <a:ext cx="365760" cy="365760"/>
          </a:xfrm>
          <a:prstGeom prst="rect">
            <a:avLst/>
          </a:prstGeom>
          <a:noFill/>
        </p:spPr>
        <p:txBody>
          <a:bodyPr wrap="square" lIns="0" tIns="0" rIns="0" bIns="0" anchor="ctr">
            <a:spAutoFit/>
          </a:bodyPr>
          <a:lstStyle/>
          <a:p>
            <a:pPr algn="ctr"/>
            <a:r>
              <a:rPr sz="1500" b="1" i="0">
                <a:solidFill>
                  <a:schemeClr val="bg1"/>
                </a:solidFill>
              </a:rPr>
              <a:t>2</a:t>
            </a:r>
          </a:p>
        </p:txBody>
      </p:sp>
      <p:sp>
        <p:nvSpPr>
          <p:cNvPr id="33" name="Row text"/>
          <p:cNvSpPr txBox="1"/>
          <p:nvPr/>
        </p:nvSpPr>
        <p:spPr>
          <a:xfrm>
            <a:off x="1188720" y="2194560"/>
            <a:ext cx="7315200" cy="822960"/>
          </a:xfrm>
          <a:prstGeom prst="rect">
            <a:avLst/>
          </a:prstGeom>
          <a:noFill/>
        </p:spPr>
        <p:txBody>
          <a:bodyPr wrap="square" lIns="0" tIns="0" rIns="0" bIns="0" anchor="ctr">
            <a:spAutoFit/>
          </a:bodyPr>
          <a:lstStyle/>
          <a:p>
            <a:pPr algn="l"/>
            <a:r>
              <a:rPr sz="1500" b="1" i="0">
                <a:solidFill>
                  <a:schemeClr val="tx1"/>
                </a:solidFill>
              </a:rPr>
              <a:t>Paragraph 2: </a:t>
            </a:r>
            <a:r>
              <a:rPr sz="1500" b="0" i="0">
                <a:solidFill>
                  <a:schemeClr val="tx1"/>
                </a:solidFill>
              </a:rPr>
              <a:t>start with your because / so sentence, then the problem and Event 1. Improve your Lesson 2 draft.</a:t>
            </a:r>
          </a:p>
        </p:txBody>
      </p:sp>
      <p:sp>
        <p:nvSpPr>
          <p:cNvPr id="34" name="Row"/>
          <p:cNvSpPr/>
          <p:nvPr/>
        </p:nvSpPr>
        <p:spPr>
          <a:xfrm>
            <a:off x="457200" y="3200400"/>
            <a:ext cx="8229600" cy="822960"/>
          </a:xfrm>
          <a:prstGeom prst="roundRect">
            <a:avLst>
              <a:gd name="adj" fmla="val 1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Number badge"/>
          <p:cNvSpPr/>
          <p:nvPr/>
        </p:nvSpPr>
        <p:spPr>
          <a:xfrm>
            <a:off x="640080" y="3429000"/>
            <a:ext cx="365760" cy="36576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640080" y="3429000"/>
            <a:ext cx="365760" cy="365760"/>
          </a:xfrm>
          <a:prstGeom prst="rect">
            <a:avLst/>
          </a:prstGeom>
          <a:noFill/>
        </p:spPr>
        <p:txBody>
          <a:bodyPr wrap="square" lIns="0" tIns="0" rIns="0" bIns="0" anchor="ctr">
            <a:spAutoFit/>
          </a:bodyPr>
          <a:lstStyle/>
          <a:p>
            <a:pPr algn="ctr"/>
            <a:r>
              <a:rPr sz="1500" b="1" i="0">
                <a:solidFill>
                  <a:schemeClr val="bg1"/>
                </a:solidFill>
              </a:rPr>
              <a:t>3</a:t>
            </a:r>
          </a:p>
        </p:txBody>
      </p:sp>
      <p:sp>
        <p:nvSpPr>
          <p:cNvPr id="37" name="Row text"/>
          <p:cNvSpPr txBox="1"/>
          <p:nvPr/>
        </p:nvSpPr>
        <p:spPr>
          <a:xfrm>
            <a:off x="1188720" y="3200400"/>
            <a:ext cx="7315200" cy="822960"/>
          </a:xfrm>
          <a:prstGeom prst="rect">
            <a:avLst/>
          </a:prstGeom>
          <a:noFill/>
        </p:spPr>
        <p:txBody>
          <a:bodyPr wrap="square" lIns="0" tIns="0" rIns="0" bIns="0" anchor="ctr">
            <a:spAutoFit/>
          </a:bodyPr>
          <a:lstStyle/>
          <a:p>
            <a:pPr algn="l"/>
            <a:r>
              <a:rPr sz="1500" b="1" i="0">
                <a:solidFill>
                  <a:schemeClr val="tx1"/>
                </a:solidFill>
              </a:rPr>
              <a:t>Paragraph 3: </a:t>
            </a:r>
            <a:r>
              <a:rPr sz="1500" b="0" i="0">
                <a:solidFill>
                  <a:schemeClr val="tx1"/>
                </a:solidFill>
              </a:rPr>
              <a:t>meeting, dialogue, reaction and choice. Improve today’s, or try a new meeting. Stop before the result.</a:t>
            </a:r>
          </a:p>
        </p:txBody>
      </p:sp>
      <p:sp>
        <p:nvSpPr>
          <p:cNvPr id="38" name="Own fable note"/>
          <p:cNvSpPr txBox="1"/>
          <p:nvPr/>
        </p:nvSpPr>
        <p:spPr>
          <a:xfrm>
            <a:off x="457200" y="4160520"/>
            <a:ext cx="8229600" cy="420000"/>
          </a:xfrm>
          <a:prstGeom prst="rect">
            <a:avLst/>
          </a:prstGeom>
          <a:noFill/>
        </p:spPr>
        <p:txBody>
          <a:bodyPr wrap="square" lIns="0" tIns="0" rIns="0" bIns="0" anchor="ctr">
            <a:spAutoFit/>
          </a:bodyPr>
          <a:lstStyle/>
          <a:p>
            <a:pPr algn="ctr"/>
            <a:r>
              <a:rPr sz="1500" b="1" i="0">
                <a:solidFill>
                  <a:schemeClr val="tx1"/>
                </a:solidFill>
              </a:rPr>
              <a:t>Your own fable: </a:t>
            </a:r>
            <a:r>
              <a:rPr sz="1500" b="0" i="0">
                <a:solidFill>
                  <a:schemeClr val="tx1"/>
                </a:solidFill>
              </a:rPr>
              <a:t>use the character and trait from your own story map. Not Geoffrey.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Homework: check your draft</a:t>
            </a:r>
          </a:p>
        </p:txBody>
      </p:sp>
      <p:sp>
        <p:nvSpPr>
          <p:cNvPr id="3" name="Badge"/>
          <p:cNvSpPr/>
          <p:nvPr/>
        </p:nvSpPr>
        <p:spPr>
          <a:xfrm>
            <a:off x="7955279" y="274320"/>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38</a:t>
            </a:fld>
            <a:endParaRPr lang="en-US"/>
          </a:p>
        </p:txBody>
      </p:sp>
      <p:sp>
        <p:nvSpPr>
          <p:cNvPr id="26" name="Card"/>
          <p:cNvSpPr/>
          <p:nvPr/>
        </p:nvSpPr>
        <p:spPr>
          <a:xfrm>
            <a:off x="457200" y="1188720"/>
            <a:ext cx="521208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80160"/>
            <a:ext cx="4754880" cy="365760"/>
          </a:xfrm>
          <a:prstGeom prst="rect">
            <a:avLst/>
          </a:prstGeom>
          <a:noFill/>
        </p:spPr>
        <p:txBody>
          <a:bodyPr wrap="square" lIns="0" tIns="0" rIns="0" bIns="0" anchor="ctr">
            <a:spAutoFit/>
          </a:bodyPr>
          <a:lstStyle/>
          <a:p>
            <a:pPr algn="l"/>
            <a:r>
              <a:rPr sz="1900" b="1" i="0">
                <a:solidFill>
                  <a:schemeClr val="tx2"/>
                </a:solidFill>
                <a:latin typeface="Cambria"/>
                <a:ea typeface="Cambria"/>
                <a:cs typeface="Cambria"/>
              </a:rPr>
              <a:t>My fable: Paragraphs 1 to 3</a:t>
            </a:r>
          </a:p>
        </p:txBody>
      </p:sp>
      <p:sp>
        <p:nvSpPr>
          <p:cNvPr id="28" name="Text"/>
          <p:cNvSpPr txBox="1"/>
          <p:nvPr/>
        </p:nvSpPr>
        <p:spPr>
          <a:xfrm>
            <a:off x="685800" y="1691640"/>
            <a:ext cx="4754880" cy="594360"/>
          </a:xfrm>
          <a:prstGeom prst="rect">
            <a:avLst/>
          </a:prstGeom>
          <a:noFill/>
        </p:spPr>
        <p:txBody>
          <a:bodyPr wrap="square" lIns="0" tIns="0" rIns="0" bIns="0" anchor="t">
            <a:spAutoFit/>
          </a:bodyPr>
          <a:lstStyle/>
          <a:p>
            <a:pPr algn="l"/>
            <a:r>
              <a:rPr sz="1400" b="0" i="0">
                <a:solidFill>
                  <a:schemeClr val="tx1"/>
                </a:solidFill>
              </a:rPr>
              <a:t>Tick each box when you have checked it.</a:t>
            </a:r>
          </a:p>
        </p:txBody>
      </p:sp>
      <p:sp>
        <p:nvSpPr>
          <p:cNvPr id="29" name="Checkbox"/>
          <p:cNvSpPr/>
          <p:nvPr/>
        </p:nvSpPr>
        <p:spPr>
          <a:xfrm>
            <a:off x="685800" y="2240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
          <p:cNvSpPr txBox="1"/>
          <p:nvPr/>
        </p:nvSpPr>
        <p:spPr>
          <a:xfrm>
            <a:off x="1097280" y="2175992"/>
            <a:ext cx="4389120" cy="384048"/>
          </a:xfrm>
          <a:prstGeom prst="rect">
            <a:avLst/>
          </a:prstGeom>
          <a:noFill/>
        </p:spPr>
        <p:txBody>
          <a:bodyPr wrap="square" lIns="0" tIns="0" rIns="0" bIns="0" anchor="ctr">
            <a:spAutoFit/>
          </a:bodyPr>
          <a:lstStyle/>
          <a:p>
            <a:pPr algn="l"/>
            <a:r>
              <a:rPr sz="1400" b="0" i="0">
                <a:solidFill>
                  <a:schemeClr val="tx1"/>
                </a:solidFill>
              </a:rPr>
              <a:t>My trait is shown by what my character does</a:t>
            </a:r>
          </a:p>
        </p:txBody>
      </p:sp>
      <p:sp>
        <p:nvSpPr>
          <p:cNvPr id="31" name="Checkbox"/>
          <p:cNvSpPr/>
          <p:nvPr/>
        </p:nvSpPr>
        <p:spPr>
          <a:xfrm>
            <a:off x="685800" y="2670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p:cNvSpPr txBox="1"/>
          <p:nvPr/>
        </p:nvSpPr>
        <p:spPr>
          <a:xfrm>
            <a:off x="1097280" y="2605992"/>
            <a:ext cx="4389120" cy="384048"/>
          </a:xfrm>
          <a:prstGeom prst="rect">
            <a:avLst/>
          </a:prstGeom>
          <a:noFill/>
        </p:spPr>
        <p:txBody>
          <a:bodyPr wrap="square" lIns="0" tIns="0" rIns="0" bIns="0" anchor="ctr">
            <a:spAutoFit/>
          </a:bodyPr>
          <a:lstStyle/>
          <a:p>
            <a:pPr algn="l"/>
            <a:r>
              <a:rPr sz="1400" b="0" i="0">
                <a:solidFill>
                  <a:schemeClr val="tx1"/>
                </a:solidFill>
              </a:rPr>
              <a:t>I used because or so to link my trait to my problem</a:t>
            </a:r>
          </a:p>
        </p:txBody>
      </p:sp>
      <p:sp>
        <p:nvSpPr>
          <p:cNvPr id="33" name="Checkbox"/>
          <p:cNvSpPr/>
          <p:nvPr/>
        </p:nvSpPr>
        <p:spPr>
          <a:xfrm>
            <a:off x="685800" y="3100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
          <p:cNvSpPr txBox="1"/>
          <p:nvPr/>
        </p:nvSpPr>
        <p:spPr>
          <a:xfrm>
            <a:off x="1097280" y="3035992"/>
            <a:ext cx="4389120" cy="384048"/>
          </a:xfrm>
          <a:prstGeom prst="rect">
            <a:avLst/>
          </a:prstGeom>
          <a:noFill/>
        </p:spPr>
        <p:txBody>
          <a:bodyPr wrap="square" lIns="0" tIns="0" rIns="0" bIns="0" anchor="ctr">
            <a:spAutoFit/>
          </a:bodyPr>
          <a:lstStyle/>
          <a:p>
            <a:pPr algn="l"/>
            <a:r>
              <a:rPr sz="1400" b="0" i="0">
                <a:solidFill>
                  <a:schemeClr val="tx1"/>
                </a:solidFill>
              </a:rPr>
              <a:t>My meeting follows from my problem</a:t>
            </a:r>
          </a:p>
        </p:txBody>
      </p:sp>
      <p:sp>
        <p:nvSpPr>
          <p:cNvPr id="35" name="Checkbox"/>
          <p:cNvSpPr/>
          <p:nvPr/>
        </p:nvSpPr>
        <p:spPr>
          <a:xfrm>
            <a:off x="685800" y="3530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heckbox"/>
          <p:cNvSpPr/>
          <p:nvPr/>
        </p:nvSpPr>
        <p:spPr>
          <a:xfrm>
            <a:off x="685800" y="3960000"/>
            <a:ext cx="256032" cy="256032"/>
          </a:xfrm>
          <a:prstGeom prst="roundRect">
            <a:avLst>
              <a:gd name="adj" fmla="val 20000"/>
            </a:avLst>
          </a:prstGeom>
          <a:solidFill>
            <a:schemeClr val="bg1"/>
          </a:solidFill>
          <a:ln w="254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p:cNvSpPr txBox="1"/>
          <p:nvPr/>
        </p:nvSpPr>
        <p:spPr>
          <a:xfrm>
            <a:off x="1097280" y="3465992"/>
            <a:ext cx="4389120" cy="384048"/>
          </a:xfrm>
          <a:prstGeom prst="rect">
            <a:avLst/>
          </a:prstGeom>
          <a:noFill/>
        </p:spPr>
        <p:txBody>
          <a:bodyPr wrap="square" lIns="0" tIns="0" rIns="0" bIns="0" anchor="ctr">
            <a:spAutoFit/>
          </a:bodyPr>
          <a:lstStyle/>
          <a:p>
            <a:pPr algn="l"/>
            <a:r>
              <a:rPr sz="1400" b="0" i="0">
                <a:solidFill>
                  <a:schemeClr val="tx1"/>
                </a:solidFill>
              </a:rPr>
              <a:t>My dialogue is punctuated correctly</a:t>
            </a:r>
          </a:p>
        </p:txBody>
      </p:sp>
      <p:sp>
        <p:nvSpPr>
          <p:cNvPr id="42" name="Text"/>
          <p:cNvSpPr txBox="1"/>
          <p:nvPr/>
        </p:nvSpPr>
        <p:spPr>
          <a:xfrm>
            <a:off x="1097280" y="3895992"/>
            <a:ext cx="4389120" cy="384048"/>
          </a:xfrm>
          <a:prstGeom prst="rect">
            <a:avLst/>
          </a:prstGeom>
          <a:noFill/>
        </p:spPr>
        <p:txBody>
          <a:bodyPr wrap="square" lIns="0" tIns="0" rIns="0" bIns="0" anchor="ctr">
            <a:spAutoFit/>
          </a:bodyPr>
          <a:lstStyle/>
          <a:p>
            <a:pPr algn="l"/>
            <a:r>
              <a:rPr sz="1400" b="0" i="0">
                <a:solidFill>
                  <a:schemeClr val="tx1"/>
                </a:solidFill>
              </a:rPr>
              <a:t>My choice shows the trait. I stopped before the result.</a:t>
            </a:r>
          </a:p>
        </p:txBody>
      </p:sp>
      <p:sp>
        <p:nvSpPr>
          <p:cNvPr id="37" name="Note card"/>
          <p:cNvSpPr/>
          <p:nvPr/>
        </p:nvSpPr>
        <p:spPr>
          <a:xfrm>
            <a:off x="5897880" y="1188720"/>
            <a:ext cx="2788920" cy="3337560"/>
          </a:xfrm>
          <a:prstGeom prst="roundRect">
            <a:avLst>
              <a:gd name="adj" fmla="val 4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p:cNvSpPr txBox="1"/>
          <p:nvPr/>
        </p:nvSpPr>
        <p:spPr>
          <a:xfrm>
            <a:off x="5897880" y="1371600"/>
            <a:ext cx="2788920" cy="914400"/>
          </a:xfrm>
          <a:prstGeom prst="rect">
            <a:avLst/>
          </a:prstGeom>
          <a:noFill/>
        </p:spPr>
        <p:txBody>
          <a:bodyPr wrap="square" lIns="0" tIns="0" rIns="0" bIns="0" anchor="ctr">
            <a:spAutoFit/>
          </a:bodyPr>
          <a:lstStyle/>
          <a:p>
            <a:pPr algn="ctr"/>
            <a:r>
              <a:rPr sz="6000" b="1" i="0">
                <a:solidFill>
                  <a:schemeClr val="bg1"/>
                </a:solidFill>
                <a:latin typeface="Cambria"/>
                <a:ea typeface="Cambria"/>
                <a:cs typeface="Cambria"/>
              </a:rPr>
              <a:t>30</a:t>
            </a:r>
          </a:p>
        </p:txBody>
      </p:sp>
      <p:sp>
        <p:nvSpPr>
          <p:cNvPr id="39" name="Text"/>
          <p:cNvSpPr txBox="1"/>
          <p:nvPr/>
        </p:nvSpPr>
        <p:spPr>
          <a:xfrm>
            <a:off x="6080760" y="2286000"/>
            <a:ext cx="2423160" cy="365760"/>
          </a:xfrm>
          <a:prstGeom prst="rect">
            <a:avLst/>
          </a:prstGeom>
          <a:noFill/>
        </p:spPr>
        <p:txBody>
          <a:bodyPr wrap="square" lIns="0" tIns="0" rIns="0" bIns="0" anchor="ctr">
            <a:spAutoFit/>
          </a:bodyPr>
          <a:lstStyle/>
          <a:p>
            <a:pPr algn="ctr"/>
            <a:r>
              <a:rPr sz="1800" b="1" i="0">
                <a:solidFill>
                  <a:schemeClr val="bg1"/>
                </a:solidFill>
              </a:rPr>
              <a:t>minutes</a:t>
            </a:r>
          </a:p>
        </p:txBody>
      </p:sp>
      <p:sp>
        <p:nvSpPr>
          <p:cNvPr id="40" name="Text"/>
          <p:cNvSpPr txBox="1"/>
          <p:nvPr/>
        </p:nvSpPr>
        <p:spPr>
          <a:xfrm>
            <a:off x="6080760" y="2743200"/>
            <a:ext cx="2423160" cy="1645920"/>
          </a:xfrm>
          <a:prstGeom prst="rect">
            <a:avLst/>
          </a:prstGeom>
          <a:noFill/>
        </p:spPr>
        <p:txBody>
          <a:bodyPr wrap="square" lIns="0" tIns="0" rIns="0" bIns="0" anchor="t">
            <a:spAutoFit/>
          </a:bodyPr>
          <a:lstStyle/>
          <a:p>
            <a:pPr algn="ctr"/>
            <a:r>
              <a:rPr sz="1400" b="0" i="0">
                <a:solidFill>
                  <a:schemeClr val="bg1"/>
                </a:solidFill>
              </a:rPr>
              <a:t>Split it over two nights if you like. Underline each spoken sentence.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sz="3400" b="1" i="0">
                <a:solidFill>
                  <a:schemeClr val="tx2"/>
                </a:solidFill>
              </a:rPr>
              <a:t>Need help? Use the Trail frame</a:t>
            </a:r>
          </a:p>
        </p:txBody>
      </p:sp>
      <p:sp>
        <p:nvSpPr>
          <p:cNvPr id="3" name="Badge"/>
          <p:cNvSpPr/>
          <p:nvPr/>
        </p:nvSpPr>
        <p:spPr>
          <a:xfrm>
            <a:off x="7955279" y="274320"/>
            <a:ext cx="731520" cy="73152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Icon" descr="image12.png"/>
          <p:cNvPicPr>
            <a:picLocks noChangeAspect="1"/>
          </p:cNvPicPr>
          <p:nvPr/>
        </p:nvPicPr>
        <p:blipFill>
          <a:blip r:embed="rId3"/>
          <a:stretch>
            <a:fillRect/>
          </a:stretch>
        </p:blipFill>
        <p:spPr>
          <a:xfrm>
            <a:off x="8119871" y="438911"/>
            <a:ext cx="402336" cy="402336"/>
          </a:xfrm>
          <a:prstGeom prst="rect">
            <a:avLst/>
          </a:prstGeom>
        </p:spPr>
      </p:pic>
      <p:sp>
        <p:nvSpPr>
          <p:cNvPr id="25" name="Slide Number Placeholder 0"/>
          <p:cNvSpPr>
            <a:spLocks noGrp="1"/>
          </p:cNvSpPr>
          <p:nvPr>
            <p:ph type="sldNum" sz="quarter" idx="4294967295"/>
          </p:nvPr>
        </p:nvSpPr>
        <p:spPr>
          <a:xfrm>
            <a:off x="8229600" y="4754880"/>
            <a:ext cx="457200" cy="219456"/>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defRPr>
            </a:lvl1pPr>
          </a:lstStyle>
          <a:p>
            <a:pPr algn="r"/>
            <a:fld id="{F7021451-1387-4CA6-816F-3879F97B5CBC}" type="slidenum">
              <a:rPr lang="en-US" b="0"/>
              <a:t>36</a:t>
            </a:fld>
            <a:endParaRPr lang="en-US"/>
          </a:p>
        </p:txBody>
      </p:sp>
      <p:sp>
        <p:nvSpPr>
          <p:cNvPr id="26" name="Card"/>
          <p:cNvSpPr/>
          <p:nvPr/>
        </p:nvSpPr>
        <p:spPr>
          <a:xfrm>
            <a:off x="457200" y="1188720"/>
            <a:ext cx="8229600" cy="3337560"/>
          </a:xfrm>
          <a:prstGeom prst="roundRect">
            <a:avLst>
              <a:gd name="adj" fmla="val 4000"/>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p:cNvSpPr txBox="1"/>
          <p:nvPr/>
        </p:nvSpPr>
        <p:spPr>
          <a:xfrm>
            <a:off x="685800" y="1261872"/>
            <a:ext cx="7772400" cy="274320"/>
          </a:xfrm>
          <a:prstGeom prst="rect">
            <a:avLst/>
          </a:prstGeom>
          <a:noFill/>
        </p:spPr>
        <p:txBody>
          <a:bodyPr wrap="square" lIns="0" tIns="0" rIns="0" bIns="0" anchor="ctr">
            <a:spAutoFit/>
          </a:bodyPr>
          <a:lstStyle/>
          <a:p>
            <a:pPr algn="l"/>
            <a:r>
              <a:rPr sz="1400" b="1" i="0">
                <a:solidFill>
                  <a:schemeClr val="accent1"/>
                </a:solidFill>
                <a:latin typeface="Cambria"/>
                <a:ea typeface="Cambria"/>
                <a:cs typeface="Cambria"/>
              </a:rPr>
              <a:t>Trail: sentence frames (same goal, extra help)</a:t>
            </a:r>
          </a:p>
        </p:txBody>
      </p:sp>
      <p:sp>
        <p:nvSpPr>
          <p:cNvPr id="28" name="Text"/>
          <p:cNvSpPr txBox="1"/>
          <p:nvPr/>
        </p:nvSpPr>
        <p:spPr>
          <a:xfrm>
            <a:off x="685800" y="1600200"/>
            <a:ext cx="7772400" cy="2834640"/>
          </a:xfrm>
          <a:prstGeom prst="rect">
            <a:avLst/>
          </a:prstGeom>
          <a:noFill/>
        </p:spPr>
        <p:txBody>
          <a:bodyPr wrap="square" lIns="0" tIns="0" rIns="0" bIns="0" anchor="t">
            <a:spAutoFit/>
          </a:bodyPr>
          <a:lstStyle/>
          <a:p>
            <a:pPr algn="l">
              <a:spcAft>
                <a:spcPts val="1800"/>
              </a:spcAft>
            </a:pPr>
            <a:r>
              <a:rPr sz="1800" b="1" i="0">
                <a:solidFill>
                  <a:schemeClr val="tx1"/>
                </a:solidFill>
              </a:rPr>
              <a:t>Paragraph 1: </a:t>
            </a:r>
            <a:r>
              <a:rPr sz="1800" b="0" i="0">
                <a:solidFill>
                  <a:schemeClr val="tx1"/>
                </a:solidFill>
              </a:rPr>
              <a:t>My character is a ___ who lives in ___. He or she is ___. First, he or she ___.</a:t>
            </a:r>
          </a:p>
          <a:p>
            <a:pPr algn="l">
              <a:spcAft>
                <a:spcPts val="1800"/>
              </a:spcAft>
            </a:pPr>
            <a:r>
              <a:rPr sz="1800" b="1" i="0">
                <a:solidFill>
                  <a:schemeClr val="tx1"/>
                </a:solidFill>
              </a:rPr>
              <a:t>Paragraph 2: </a:t>
            </a:r>
            <a:r>
              <a:rPr sz="1800" b="0" i="0">
                <a:solidFill>
                  <a:schemeClr val="tx1"/>
                </a:solidFill>
              </a:rPr>
              <a:t>Because my character is ___, he or she ___. So ___. Then ___.</a:t>
            </a:r>
          </a:p>
          <a:p>
            <a:pPr algn="l">
              <a:spcAft>
                <a:spcPts val="1800"/>
              </a:spcAft>
            </a:pPr>
            <a:r>
              <a:rPr sz="1800" b="1" i="0">
                <a:solidFill>
                  <a:schemeClr val="tx1"/>
                </a:solidFill>
              </a:rPr>
              <a:t>Paragraph 3: </a:t>
            </a:r>
            <a:r>
              <a:rPr sz="1800" b="0" i="0">
                <a:solidFill>
                  <a:schemeClr val="tx1"/>
                </a:solidFill>
              </a:rPr>
              <a:t>Weak and ___, my character met ___. “___,” said ___. My character ___. Instead of ___, he or she ___.</a:t>
            </a:r>
          </a:p>
        </p:txBody>
      </p:sp>
    </p:spTree>
  </p:cSld>
  <p:clrMapOvr>
    <a:masterClrMapping/>
  </p:clrMapOvr>
</p:sld>
</file>

<file path=ppt/theme/theme1.xml><?xml version="1.0" encoding="utf-8"?>
<a:theme xmlns:a="http://schemas.openxmlformats.org/drawingml/2006/main" name="Woodland Fable">
  <a:themeElements>
    <a:clrScheme name="Woodland Fable">
      <a:dk1>
        <a:srgbClr val="22302A"/>
      </a:dk1>
      <a:lt1>
        <a:srgbClr val="FFFFFF"/>
      </a:lt1>
      <a:dk2>
        <a:srgbClr val="1B4332"/>
      </a:dk2>
      <a:lt2>
        <a:srgbClr val="EAF3E4"/>
      </a:lt2>
      <a:accent1>
        <a:srgbClr val="E0561F"/>
      </a:accent1>
      <a:accent2>
        <a:srgbClr val="F4B942"/>
      </a:accent2>
      <a:accent3>
        <a:srgbClr val="2D6A4F"/>
      </a:accent3>
      <a:accent4>
        <a:srgbClr val="2A7AB0"/>
      </a:accent4>
      <a:accent5>
        <a:srgbClr val="7B4FA3"/>
      </a:accent5>
      <a:accent6>
        <a:srgbClr val="C9304A"/>
      </a:accent6>
      <a:hlink>
        <a:srgbClr val="2A7AB0"/>
      </a:hlink>
      <a:folHlink>
        <a:srgbClr val="7B4FA3"/>
      </a:folHlink>
    </a:clrScheme>
    <a:fontScheme name="Woodland Fab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4664</Words>
  <Application>Microsoft Office PowerPoint</Application>
  <PresentationFormat>On-screen Show (16:9)</PresentationFormat>
  <Paragraphs>392</Paragraphs>
  <Slides>38</Slides>
  <Notes>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Cambria</vt:lpstr>
      <vt:lpstr>Woodland Fable</vt:lpstr>
      <vt:lpstr>Write a Fable</vt:lpstr>
      <vt:lpstr>Today’s outcome</vt:lpstr>
      <vt:lpstr>Our fable chain</vt:lpstr>
      <vt:lpstr>Check Paragraphs 1 and 2</vt:lpstr>
      <vt:lpstr>Four parts of Paragraph 3</vt:lpstr>
      <vt:lpstr>Model: Geoffrey’s paragraph</vt:lpstr>
      <vt:lpstr>Link meeting to problem</vt:lpstr>
      <vt:lpstr>Answers: the linking words</vt:lpstr>
      <vt:lpstr>Plan your meeting</vt:lpstr>
      <vt:lpstr>Add a line of dialogue</vt:lpstr>
      <vt:lpstr>Answers: Anthea speaks</vt:lpstr>
      <vt:lpstr>Two ways to write dialogue</vt:lpstr>
      <vt:lpstr>Dialogue first</vt:lpstr>
      <vt:lpstr>Reporting clause first</vt:lpstr>
      <vt:lpstr>Which punctuation goes where?</vt:lpstr>
      <vt:lpstr>Fix the dialogue</vt:lpstr>
      <vt:lpstr>Model: fix the dialogue</vt:lpstr>
      <vt:lpstr>Show the reaction</vt:lpstr>
      <vt:lpstr>Weak choice or the trait?</vt:lpstr>
      <vt:lpstr>Answer: from the trait</vt:lpstr>
      <vt:lpstr>I write, we write, you write</vt:lpstr>
      <vt:lpstr>Model: shared writing</vt:lpstr>
      <vt:lpstr>Choose your path</vt:lpstr>
      <vt:lpstr>Model: the three paths</vt:lpstr>
      <vt:lpstr>Success criteria</vt:lpstr>
      <vt:lpstr>Write Paragraph 3</vt:lpstr>
      <vt:lpstr>Stop: check your paragraph</vt:lpstr>
      <vt:lpstr>Edit with a partner</vt:lpstr>
      <vt:lpstr>Upgrade the dialogue</vt:lpstr>
      <vt:lpstr>Model: upgraded dialogue</vt:lpstr>
      <vt:lpstr>How did you do?</vt:lpstr>
      <vt:lpstr>Plenary: mark the paragraph</vt:lpstr>
      <vt:lpstr>Answers: mark the paragraph</vt:lpstr>
      <vt:lpstr>Exit ticket</vt:lpstr>
      <vt:lpstr>Model: exit ticket</vt:lpstr>
      <vt:lpstr>Homework: read the fable</vt:lpstr>
      <vt:lpstr>Homework: answer in your book</vt:lpstr>
      <vt:lpstr>Homework: write it again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Fable Writing - Session 1: Write the Beginning + Problem</dc:title>
  <dc:subject>Year 5 Writing - Fables</dc:subject>
  <dc:creator>PptxGenJS</dc:creator>
  <cp:lastModifiedBy>pc</cp:lastModifiedBy>
  <cp:revision>6</cp:revision>
  <dcterms:created xsi:type="dcterms:W3CDTF">2026-10-06T19:30:39Z</dcterms:created>
  <dcterms:modified xsi:type="dcterms:W3CDTF">2026-10-09T22:16:03Z</dcterms:modified>
</cp:coreProperties>
</file>